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R層は再取得で上書きされる。C層は git 追跡の jsonl が正本なので再fetchでも保全される。</a:t>
            </a:r>
          </a:p>
          <a:p/>
          <a:p>
            <a:r>
              <a:t>_class: zone-flow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別では legacy_marker 284,238・endpoint_matching 59,694・nominatim 13,867・p03_db 10,934。</a:t>
            </a:r>
          </a:p>
          <a:p/>
          <a:p>
            <a:r>
              <a:t>_class: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56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SQLite・GeoJSON・JSONL・CSV の実物を開いて見る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521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All-Japan-Grid のデータは何でできているか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00">
                <a:solidFill>
                  <a:srgbClr val="D9E5E7"/>
                </a:solidFill>
                <a:latin typeface="Avenir Next"/>
                <a:ea typeface="Hiragino Sans"/>
                <a:cs typeface="Hiragino Sans"/>
              </a:rPr>
              <a:t>2026-09-02 / 正典 built v4 @ 7322310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見ていくもの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35331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2333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全体の3層構造（R層・D層・正典）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33092"/>
            <a:ext cx="11057839" cy="9525"/>
          </a:xfrm>
          <a:prstGeom prst="rect">
            <a:avLst/>
          </a:prstGeom>
          <a:solidFill>
            <a:srgbClr val="D9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4579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14579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2333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grid.db の中身（テーブルと実データ）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25572"/>
            <a:ext cx="11057839" cy="9525"/>
          </a:xfrm>
          <a:prstGeom prst="rect">
            <a:avLst/>
          </a:prstGeom>
          <a:solidFill>
            <a:srgbClr val="D9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93827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293827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2333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正典 all.json の1ノード・1エッジ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9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73075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373075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2333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出典必須DB（JSONL）— 引用が無い値は入れない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510532"/>
            <a:ext cx="11057839" cy="9525"/>
          </a:xfrm>
          <a:prstGeom prst="rect">
            <a:avLst/>
          </a:prstGeom>
          <a:solidFill>
            <a:srgbClr val="D9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52323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05</a:t>
            </a:r>
          </a:p>
        </p:txBody>
      </p:sp>
      <p:sp>
        <p:nvSpPr>
          <p:cNvPr id="16" name="agenda:item:4"/>
          <p:cNvSpPr txBox="1"/>
          <p:nvPr/>
        </p:nvSpPr>
        <p:spPr>
          <a:xfrm>
            <a:off x="1572768" y="452323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2333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公開している CSV / GeoJSON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303012"/>
            <a:ext cx="11057839" cy="9525"/>
          </a:xfrm>
          <a:prstGeom prst="rect">
            <a:avLst/>
          </a:prstGeom>
          <a:solidFill>
            <a:srgbClr val="D9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31571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06</a:t>
            </a:r>
          </a:p>
        </p:txBody>
      </p:sp>
      <p:sp>
        <p:nvSpPr>
          <p:cNvPr id="19" name="agenda:item:5"/>
          <p:cNvSpPr txBox="1"/>
          <p:nvPr/>
        </p:nvSpPr>
        <p:spPr>
          <a:xfrm>
            <a:off x="1572768" y="531571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2333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外部データ（再配布できないもの）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データは3層に分かれている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grid.db（SQLite・134 MB）のテーブル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83290" y="2419477"/>
          <a:ext cx="8625114" cy="2622550"/>
        </p:xfrm>
        <a:graphic>
          <a:graphicData uri="http://schemas.openxmlformats.org/drawingml/2006/table">
            <a:tbl>
              <a:tblPr/>
              <a:tblGrid>
                <a:gridCol w="2083631"/>
                <a:gridCol w="996492"/>
                <a:gridCol w="5544991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テーブル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行数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何が入っているか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raw_features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66,465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OSM の生地物（送電線 40,087・発電所 19,138・変電所 7,240）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enrichments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383,157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名前・運用者・容量などの補正値と、その出典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snapshots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153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いつ・どの地域を・どこから取ったかの記録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measured_line_stats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705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東電が公表する線路別潮流の実測（中央値・95%点）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measured_bus_loads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1,222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変電所バンクの実測需要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measured_area_stats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69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OCCTO のエリア需給実績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2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data/grid.db・2026-09-02 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raw_features は「OSM の生タグそのまま」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3044952"/>
            <a:ext cx="11057839" cy="1371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0128" y="3184652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728" y="3184652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7328" y="3184652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928" y="3432048"/>
            <a:ext cx="10549839" cy="832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defRPr sz="1300">
                <a:solidFill>
                  <a:srgbClr val="CDD6F4"/>
                </a:solidFill>
                <a:latin typeface="SF Mono"/>
                <a:ea typeface="Hiragino Sans"/>
                <a:cs typeface="Hiragino Sans"/>
              </a:defRPr>
            </a:pPr>
            <a:r>
              <a:t>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タグは埋まっているとは限らない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892552"/>
            <a:ext cx="11057839" cy="167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名前も電圧もある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</a:t>
            </a:r>
            <a:r>
              <a:rPr sz="1600">
                <a:solidFill>
                  <a:srgbClr val="028090"/>
                </a:solidFill>
                <a:latin typeface="SF Mono"/>
                <a:ea typeface="Hiragino Sans"/>
                <a:cs typeface="Hiragino Sans"/>
              </a:rPr>
              <a:t> {"cables":"3","circuits":"1", "name":"西日本北小松線", "power":"line","voltage":"77000"} </a:t>
            </a: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 回線数まで書いてある良い例。</a:t>
            </a:r>
          </a:p>
          <a:p>
            <a:pPr>
              <a:spcBef>
                <a:spcPts val="600"/>
              </a:spcBef>
              <a:defRPr sz="16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`power=line` しかない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</a:t>
            </a:r>
            <a:r>
              <a:rPr sz="1600">
                <a:solidFill>
                  <a:srgbClr val="028090"/>
                </a:solidFill>
                <a:latin typeface="SF Mono"/>
                <a:ea typeface="Hiragino Sans"/>
                <a:cs typeface="Hiragino Sans"/>
              </a:rPr>
              <a:t> {"power":"line", "osm_id":1002033255} </a:t>
            </a: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 名前も電圧も回線数も無い。 </a:t>
            </a:r>
            <a:r>
              <a:rPr sz="16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この欠落を埋めるのが C 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enrichments は「補正値 ＋ その出典」の1行1事実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3044952"/>
            <a:ext cx="11057839" cy="1371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0128" y="3184652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728" y="3184652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7328" y="3184652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928" y="3432048"/>
            <a:ext cx="10549839" cy="832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defRPr sz="1300">
                <a:solidFill>
                  <a:srgbClr val="CDD6F4"/>
                </a:solidFill>
                <a:latin typeface="SF Mono"/>
                <a:ea typeface="Hiragino Sans"/>
                <a:cs typeface="Hiragino Sans"/>
              </a:defRPr>
            </a:pPr>
            <a:r>
              <a:t>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measured_* は「実測との突合せ」に使う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83290" y="2981452"/>
          <a:ext cx="8625114" cy="1498600"/>
        </p:xfrm>
        <a:graphic>
          <a:graphicData uri="http://schemas.openxmlformats.org/drawingml/2006/table">
            <a:tbl>
              <a:tblPr/>
              <a:tblGrid>
                <a:gridCol w="954122"/>
                <a:gridCol w="1453029"/>
                <a:gridCol w="1503879"/>
                <a:gridCol w="1008583"/>
                <a:gridCol w="1008583"/>
                <a:gridCol w="2696918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region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line_key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source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q50_mw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p95_mw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window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tokyo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港北線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tepco_jisseki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900.0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2,420.0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2024/04/01〜2025/03/31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tokyo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世田谷線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tepco_jisseki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180.0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328.1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同上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tokyo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豊洲永代橋線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tepco_jisseki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200.0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420.0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同上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2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東京電力PG 潮流実績 FY2024 / OCCTO 公表システム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正典 all.json — ノードは9つのキーしか持たない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3044952"/>
            <a:ext cx="11057839" cy="1371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0128" y="3184652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728" y="3184652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7328" y="3184652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928" y="3432048"/>
            <a:ext cx="10549839" cy="832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defRPr sz="1300">
                <a:solidFill>
                  <a:srgbClr val="CDD6F4"/>
                </a:solidFill>
                <a:latin typeface="SF Mono"/>
                <a:ea typeface="Hiragino Sans"/>
                <a:cs typeface="Hiragino Sans"/>
              </a:defRPr>
            </a:pPr>
            <a:r>
              <a:t>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枝は「どこからどこへ・何 kV・何回線」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3044952"/>
            <a:ext cx="11057839" cy="1371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0128" y="3184652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728" y="3184652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7328" y="3184652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928" y="3432048"/>
            <a:ext cx="10549839" cy="832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defRPr sz="1300">
                <a:solidFill>
                  <a:srgbClr val="CDD6F4"/>
                </a:solidFill>
                <a:latin typeface="SF Mono"/>
                <a:ea typeface="Hiragino Sans"/>
                <a:cs typeface="Hiragino Sans"/>
              </a:defRPr>
            </a:pPr>
            <a:r>
              <a:t>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出典必須DB — 引用が無い値はモデルに入れない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3044952"/>
            <a:ext cx="11057839" cy="1371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0128" y="3184652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728" y="3184652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7328" y="3184652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928" y="3432048"/>
            <a:ext cx="10549839" cy="832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defRPr sz="1300">
                <a:solidFill>
                  <a:srgbClr val="CDD6F4"/>
                </a:solidFill>
                <a:latin typeface="SF Mono"/>
                <a:ea typeface="Hiragino Sans"/>
                <a:cs typeface="Hiragino Sans"/>
              </a:defRPr>
            </a:pPr>
            <a:r>
              <a:t>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今日追加した回線数の台帳も同じ様式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3044952"/>
            <a:ext cx="11057839" cy="1371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0128" y="3184652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728" y="3184652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7328" y="3184652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928" y="3432048"/>
            <a:ext cx="10549839" cy="832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defRPr sz="1300">
                <a:solidFill>
                  <a:srgbClr val="CDD6F4"/>
                </a:solidFill>
                <a:latin typeface="SF Mono"/>
                <a:ea typeface="Hiragino Sans"/>
                <a:cs typeface="Hiragino Sans"/>
              </a:defRPr>
            </a:pPr>
            <a:r>
              <a:t>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公開している CSV は「解析の入力に使える形」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14752"/>
            <a:ext cx="11057839" cy="203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枝の表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``` row,element,element_id,name, from_ppc_bus,to_ppc_bus,kv, capacity_mva,x_pu,is_bridge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1,line,1,那覇高安線; 那覇小禄線, 25,0,66.0,137.18,4e-05,0 ``` 感度行列と対で配る。</a:t>
            </a:r>
          </a:p>
          <a:p>
            <a:pPr>
              <a:spcBef>
                <a:spcPts val="600"/>
              </a:spcBef>
              <a:defRPr sz="16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バスの表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``` col,pp_bus,built_node_id, kv,lat,lon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0,0,okinawa_jct_26.1993: 127.6699:66,66.0, 26.19928,127.66986 ``</a:t>
            </a:r>
            <a:r>
              <a:rPr sz="1600">
                <a:solidFill>
                  <a:srgbClr val="028090"/>
                </a:solidFill>
                <a:latin typeface="SF Mono"/>
                <a:ea typeface="Hiragino Sans"/>
                <a:cs typeface="Hiragino Sans"/>
              </a:rPr>
              <a:t> </a:t>
            </a: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built_node_id` で正典に戻れる。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GeoJSON は地図がそのまま読める形で配る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83290" y="2981452"/>
          <a:ext cx="8625114" cy="1498600"/>
        </p:xfrm>
        <a:graphic>
          <a:graphicData uri="http://schemas.openxmlformats.org/drawingml/2006/table">
            <a:tbl>
              <a:tblPr/>
              <a:tblGrid>
                <a:gridCol w="2694971"/>
                <a:gridCol w="881633"/>
                <a:gridCol w="5048510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ファイル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地物数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主なプロパティ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lines_all.geojson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40,087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_display_name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 </a:t>
                      </a:r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_voltage_kv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 </a:t>
                      </a:r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_region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subs_all.geojson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7,240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同上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plants_all.geojson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19,138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fuel_type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 </a:t>
                      </a:r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capacity_mw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 </a:t>
                      </a:r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capacity_mw_sourced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2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docs/data/・GitHub Pages が直接読んでいる実ファイル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299208"/>
            <a:ext cx="914400" cy="31750"/>
          </a:xfrm>
          <a:prstGeom prst="rect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55240"/>
            <a:ext cx="9997135" cy="1838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440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rPr>
              <a:t>再配布できない外部データは、値ではなく「比」だけを持ち出す。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外部の公表データの扱い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65552"/>
            <a:ext cx="11057839" cy="193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手元には置く（git 管理外）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</a:t>
            </a:r>
            <a:r>
              <a:rPr sz="1600">
                <a:solidFill>
                  <a:srgbClr val="028090"/>
                </a:solidFill>
                <a:latin typeface="SF Mono"/>
                <a:ea typeface="Hiragino Sans"/>
                <a:cs typeface="Hiragino Sans"/>
              </a:rPr>
              <a:t> 送電線No, 送電線名, 電圧（kV）, 回線数, 設備容量, 運用容量値(MW), 運用容量制約要因, 潮流正方向, 予想潮流値（MW）, 空容量（MW） </a:t>
            </a: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</a:t>
            </a:r>
            <a:r>
              <a:rPr sz="1600">
                <a:solidFill>
                  <a:srgbClr val="028090"/>
                </a:solidFill>
                <a:latin typeface="SF Mono"/>
                <a:ea typeface="Hiragino Sans"/>
                <a:cs typeface="Hiragino Sans"/>
              </a:rPr>
              <a:t> 各社が公表する空容量一覧。 </a:t>
            </a: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data/external/` に置き、コミットしない。</a:t>
            </a:r>
          </a:p>
          <a:p>
            <a:pPr>
              <a:spcBef>
                <a:spcPts val="600"/>
              </a:spcBef>
              <a:defRPr sz="16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公開するのは無次元の比だけ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</a:t>
            </a:r>
            <a:r>
              <a:rPr sz="1600">
                <a:solidFill>
                  <a:srgbClr val="028090"/>
                </a:solidFill>
                <a:latin typeface="SF Mono"/>
                <a:ea typeface="Hiragino Sans"/>
                <a:cs typeface="Hiragino Sans"/>
              </a:rPr>
              <a:t>yaml 154: {median_factor: 0.679, n_areas: 2, spread: 0.001} 500: {median_factor: 0.593, n_areas: 4, spread: 0.585} </a:t>
            </a:r>
            <a:r>
              <a:rPr sz="16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`` 「理論容量は運用容量の約2倍」という 較正係数。値そのものは出さない。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どこを見れば何が分かるか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83290" y="2606802"/>
          <a:ext cx="8625114" cy="2247900"/>
        </p:xfrm>
        <a:graphic>
          <a:graphicData uri="http://schemas.openxmlformats.org/drawingml/2006/table">
            <a:tbl>
              <a:tblPr/>
              <a:tblGrid>
                <a:gridCol w="2971234"/>
                <a:gridCol w="5653880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知りたいこと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見るファイル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045660"/>
                      </a:solidFill>
                      <a:prstDash val="solid"/>
                    </a:lnB>
                    <a:lnT w="15875" cap="flat" cmpd="sng" algn="ctr">
                      <a:solidFill>
                        <a:srgbClr val="04566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何がどこにあるか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docs/data/*.geojson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計算に使う網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docs/data/built/all.json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その値の根拠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data/*_sources.jsonl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（</a:t>
                      </a:r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quote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 必須）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入っている仮定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docs/MODEL_INTERVENTIONS.md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（#1〜#45）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2E7E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090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実測との一致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grid.db</a:t>
                      </a:r>
                      <a:r>
                        <a:rPr sz="1400">
                          <a:solidFill>
                            <a:srgbClr val="12333A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 の </a:t>
                      </a:r>
                      <a:r>
                        <a:rPr sz="1400">
                          <a:solidFill>
                            <a:srgbClr val="028090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measured_*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04566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56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以上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D9E5E7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docs/DATA_DICTIONARY.md に全フィールドの定義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