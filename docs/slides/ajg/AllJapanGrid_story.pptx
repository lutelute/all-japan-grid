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30秒。右の図は本プロジェクトの実出力（全国の電圧クラス別送電網）。「地図はある、モデルが無い」だけ言って次へ。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30秒黙って見せてから一言。「素材はただの線。ここから解ける系統までが本発表」。数字はbuilt正典の実測。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論文（ieee-openaccess）§I の構図そのまま。日本だけ赤。下段で OSM に橋を架けると宣言。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3層（線・変電所・発電所）を見せて、下2枚で線引き。「捏造ゼロ」はここで一度だけ宣言し、以後は行動で見せる。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この1枚が地図。以降のスライドは左上バッジ（幕色つき）で現在地を示す。斜体の問いの連鎖だけ読み上げる。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論文 §III–VI をこの1枚に圧縮。「電気パラメータは合成＝推定と明記」を図の緑ブロックを指して言う。87%は補完の欠損削減率（論文値）。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数値は論文 Table I / II。本文の 8,164 は誤記（同論文の表合計は 6,962）で、この版から 6,962 に統一している。限界の明記が第3幕への伏線。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この枚の主張は右の赤枠。「標準対応しました」ではなく「標準が検証器になった」。5つのバグはどれも自前レンダラだけなら気づけない。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左下の衛星3連画像は v1.1 の比較タブ（衛星写真で位置を目視検証）。右図は自慢の1枚だが、次の幕でこれを自分で疑いにいく。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プロジェクトの転回点。8枚目の全国AC図を自分で解体した話。「結果を悪くする訂正」の一文をゆっくり。ここが第5幕の『完全性を主張せず測定する』の源流。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デバッグ譚として一番話せる枚。「+5.7%が訂正」の反直感を丁寧に。方法論文書は osm_grid_pitfalls_methodology_2026-07-10.md。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第3幕の規律が開示データにも適用される、が主題。「開示があるから正しい」ではなく開示も証拠ゲートを通す（EGGC）。UC訂正は開示容量と突き合わせて初めて見えた。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静的データセットが「動く系統の観測器」になった枚。39–129 MWの一致幅は検証時点の実測。デモできるならここで flow_map を開く。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7,239 は構造DBのサイト数で、第1幕の 6,962（データセットfeature・v1.2測定）とは定義が違う — 聞かれたら即答する。深掘りは姉妹デッキへ誘導。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AGCを知らない聴衆向けの1枚。「電気は貯められない」から始める。次の枚で実際に事故らせる。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2018年9月6日の実話(北海道ブラックアウト)から入る。「あの構図が、地図から作ったモデルで出る」。動特性は典型値の構造実証、プラント粒度=ユニットN-1の上界、は聞かれたら答える。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「動揺がないのが違和感」への回答。UFLSの3段が1.6/2.0/2.7秒に入るのが拡大で見える。AGC100の話が出たら『これはAGC-54。Nは任意で、東なら数百機』。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west はDC断面初期化(フルACは不成立が正典)と断面ごとに開示。542=53+182+302+5。「AGC100?」→「これはAGC-542」。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「夜が危ない」の古典を、地図から作ったモデルが自力で言い直す枚。3:08の一致は構図の一致(モデルは同日のUC断面・実事故は2018/9/6)と断ってから言う。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ここは喋らず30秒流す。止め絵になる環境ではPDF版の1コマ目が出るので「動画はGIF参照」と言う。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年表（S4）の5幕がそのまま5層に堆積している、という視覚的な回収。層の色＝幕の色。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各原則が生まれた事件と対応：①=v1.8証拠閉包 ②=v1.5介入台帳 ③=v1.5東AC解体 ④=v1.8 issue#49。下帯の一文がこのデッキの結論。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論文カードの※は正直に残す（既知の宿題を隠さない — それ自体がこのプロジェクトの流儀）。質疑へ。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gif"/><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gif"/><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fig_national_all.png">    </p:cNvPr>
          <p:cNvPicPr>
            <a:picLocks noChangeAspect="1"/>
          </p:cNvPicPr>
          <p:nvPr/>
        </p:nvPicPr>
        <p:blipFill>
          <a:blip r:embed="rId1"/>
          <a:stretch>
            <a:fillRect/>
          </a:stretch>
        </p:blipFill>
        <p:spPr>
          <a:xfrm>
            <a:off x="7223760" y="320040"/>
            <a:ext cx="4663440" cy="5998464"/>
          </a:xfrm>
          <a:prstGeom prst="rect">
            <a:avLst/>
          </a:prstGeom>
        </p:spPr>
      </p:pic>
      <p:sp>
        <p:nvSpPr>
          <p:cNvPr id="3" name="Text 0"/>
          <p:cNvSpPr/>
          <p:nvPr/>
        </p:nvSpPr>
        <p:spPr>
          <a:xfrm>
            <a:off x="7223760" y="6355080"/>
            <a:ext cx="4663440" cy="274320"/>
          </a:xfrm>
          <a:prstGeom prst="rect">
            <a:avLst/>
          </a:prstGeom>
          <a:noFill/>
          <a:ln/>
        </p:spPr>
        <p:txBody>
          <a:bodyPr wrap="square" lIns="0" tIns="0" rIns="0" bIns="0" rtlCol="0" anchor="ctr"/>
          <a:lstStyle/>
          <a:p>
            <a:pPr indent="0" marL="0">
              <a:buNone/>
            </a:pPr>
            <a:r>
              <a:rPr lang="en-US" sz="850" dirty="0">
                <a:solidFill>
                  <a:srgbClr val="55555F"/>
                </a:solidFill>
                <a:latin typeface="Hiragino Sans" pitchFamily="34" charset="0"/>
                <a:ea typeface="Hiragino Sans" pitchFamily="34" charset="-122"/>
                <a:cs typeface="Hiragino Sans" pitchFamily="34" charset="-120"/>
              </a:rPr>
              <a:t>出典: 本プロジェクトの実出力（OSM © OpenStreetMap contributors, ODbL）</a:t>
            </a:r>
            <a:endParaRPr lang="en-US" sz="850" dirty="0"/>
          </a:p>
        </p:txBody>
      </p:sp>
      <p:sp>
        <p:nvSpPr>
          <p:cNvPr id="4" name="Text 1"/>
          <p:cNvSpPr/>
          <p:nvPr/>
        </p:nvSpPr>
        <p:spPr>
          <a:xfrm>
            <a:off x="685800" y="914400"/>
            <a:ext cx="6035040" cy="292608"/>
          </a:xfrm>
          <a:prstGeom prst="rect">
            <a:avLst/>
          </a:prstGeom>
          <a:noFill/>
          <a:ln/>
        </p:spPr>
        <p:txBody>
          <a:bodyPr wrap="square" lIns="0" tIns="0" rIns="0" bIns="0" rtlCol="0" anchor="ctr"/>
          <a:lstStyle/>
          <a:p>
            <a:pPr indent="0" marL="0">
              <a:buNone/>
            </a:pPr>
            <a:r>
              <a:rPr lang="en-US" sz="1150" b="1" spc="200" kern="0" dirty="0">
                <a:solidFill>
                  <a:srgbClr val="1E2761"/>
                </a:solidFill>
                <a:latin typeface="Helvetica Neue" pitchFamily="34" charset="0"/>
                <a:ea typeface="Helvetica Neue" pitchFamily="34" charset="-122"/>
                <a:cs typeface="Helvetica Neue" pitchFamily="34" charset="-120"/>
              </a:rPr>
              <a:t>ALL-JAPAN-GRID  /  2026-03 → 2026-08</a:t>
            </a:r>
            <a:endParaRPr lang="en-US" sz="1150" dirty="0"/>
          </a:p>
        </p:txBody>
      </p:sp>
      <p:sp>
        <p:nvSpPr>
          <p:cNvPr id="5" name="Text 2"/>
          <p:cNvSpPr/>
          <p:nvPr/>
        </p:nvSpPr>
        <p:spPr>
          <a:xfrm>
            <a:off x="640080" y="1371600"/>
            <a:ext cx="6309360" cy="1828800"/>
          </a:xfrm>
          <a:prstGeom prst="rect">
            <a:avLst/>
          </a:prstGeom>
          <a:noFill/>
          <a:ln/>
        </p:spPr>
        <p:txBody>
          <a:bodyPr wrap="square" lIns="0" tIns="0" rIns="0" bIns="0" rtlCol="0" anchor="ctr"/>
          <a:lstStyle/>
          <a:p>
            <a:pPr indent="0" marL="0">
              <a:lnSpc>
                <a:spcPts val="5200"/>
              </a:lnSpc>
              <a:buNone/>
            </a:pPr>
            <a:r>
              <a:rPr lang="en-US" sz="3600" b="1" dirty="0">
                <a:solidFill>
                  <a:srgbClr val="1A1A1A"/>
                </a:solidFill>
                <a:latin typeface="Hiragino Sans" pitchFamily="34" charset="0"/>
                <a:ea typeface="Hiragino Sans" pitchFamily="34" charset="-122"/>
                <a:cs typeface="Hiragino Sans" pitchFamily="34" charset="-120"/>
              </a:rPr>
              <a:t>OSMから、日本全国の</a:t>
            </a:r>
            <a:endParaRPr lang="en-US" sz="3600" dirty="0"/>
          </a:p>
          <a:p>
            <a:pPr indent="0" marL="0">
              <a:lnSpc>
                <a:spcPts val="5200"/>
              </a:lnSpc>
              <a:buNone/>
            </a:pPr>
            <a:r>
              <a:rPr lang="en-US" sz="3600" b="1" dirty="0">
                <a:solidFill>
                  <a:srgbClr val="1A1A1A"/>
                </a:solidFill>
                <a:latin typeface="Hiragino Sans" pitchFamily="34" charset="0"/>
                <a:ea typeface="Hiragino Sans" pitchFamily="34" charset="-122"/>
                <a:cs typeface="Hiragino Sans" pitchFamily="34" charset="-120"/>
              </a:rPr>
              <a:t>送電網モデルを作る</a:t>
            </a:r>
            <a:endParaRPr lang="en-US" sz="3600" dirty="0"/>
          </a:p>
        </p:txBody>
      </p:sp>
      <p:sp>
        <p:nvSpPr>
          <p:cNvPr id="6" name="Text 3"/>
          <p:cNvSpPr/>
          <p:nvPr/>
        </p:nvSpPr>
        <p:spPr>
          <a:xfrm>
            <a:off x="685800" y="3291840"/>
            <a:ext cx="6126480" cy="411480"/>
          </a:xfrm>
          <a:prstGeom prst="rect">
            <a:avLst/>
          </a:prstGeom>
          <a:noFill/>
          <a:ln/>
        </p:spPr>
        <p:txBody>
          <a:bodyPr wrap="square" lIns="0" tIns="0" rIns="0" bIns="0" rtlCol="0" anchor="ctr"/>
          <a:lstStyle/>
          <a:p>
            <a:pPr indent="0" marL="0">
              <a:buNone/>
            </a:pPr>
            <a:r>
              <a:rPr lang="en-US" sz="1700" dirty="0">
                <a:solidFill>
                  <a:srgbClr val="1A1A1A"/>
                </a:solidFill>
                <a:latin typeface="Hiragino Sans" pitchFamily="34" charset="0"/>
                <a:ea typeface="Hiragino Sans" pitchFamily="34" charset="-122"/>
                <a:cs typeface="Hiragino Sans" pitchFamily="34" charset="-120"/>
              </a:rPr>
              <a:t>— 6ヶ月・1,021コミット・10リリースの記録</a:t>
            </a:r>
            <a:endParaRPr lang="en-US" sz="1700" dirty="0"/>
          </a:p>
        </p:txBody>
      </p:sp>
      <p:sp>
        <p:nvSpPr>
          <p:cNvPr id="7" name="Text 4"/>
          <p:cNvSpPr/>
          <p:nvPr/>
        </p:nvSpPr>
        <p:spPr>
          <a:xfrm>
            <a:off x="685800" y="3977640"/>
            <a:ext cx="6126480" cy="640080"/>
          </a:xfrm>
          <a:prstGeom prst="rect">
            <a:avLst/>
          </a:prstGeom>
          <a:noFill/>
          <a:ln/>
        </p:spPr>
        <p:txBody>
          <a:bodyPr wrap="square" lIns="0" tIns="0" rIns="0" bIns="0" rtlCol="0" anchor="ctr"/>
          <a:lstStyle/>
          <a:p>
            <a:pPr indent="0" marL="0">
              <a:lnSpc>
                <a:spcPts val="1700"/>
              </a:lnSpc>
              <a:buNone/>
            </a:pPr>
            <a:r>
              <a:rPr lang="en-US" sz="1250" i="1" dirty="0">
                <a:solidFill>
                  <a:srgbClr val="1E2761"/>
                </a:solidFill>
                <a:latin typeface="Helvetica Neue" pitchFamily="34" charset="0"/>
                <a:ea typeface="Helvetica Neue" pitchFamily="34" charset="-122"/>
                <a:cs typeface="Helvetica Neue" pitchFamily="34" charset="-120"/>
              </a:rPr>
              <a:t>All-Japan-Grid: Automated Extraction of Japan's Nationwide</a:t>
            </a:r>
            <a:endParaRPr lang="en-US" sz="1250" dirty="0"/>
          </a:p>
          <a:p>
            <a:pPr indent="0" marL="0">
              <a:lnSpc>
                <a:spcPts val="1700"/>
              </a:lnSpc>
              <a:buNone/>
            </a:pPr>
            <a:r>
              <a:rPr lang="en-US" sz="1250" i="1" dirty="0">
                <a:solidFill>
                  <a:srgbClr val="1E2761"/>
                </a:solidFill>
                <a:latin typeface="Helvetica Neue" pitchFamily="34" charset="0"/>
                <a:ea typeface="Helvetica Neue" pitchFamily="34" charset="-122"/>
                <a:cs typeface="Helvetica Neue" pitchFamily="34" charset="-120"/>
              </a:rPr>
              <a:t>Transmission Grid Topology from OpenStreetMap</a:t>
            </a:r>
            <a:endParaRPr lang="en-US" sz="1250" dirty="0"/>
          </a:p>
        </p:txBody>
      </p:sp>
      <p:sp>
        <p:nvSpPr>
          <p:cNvPr id="8" name="Text 5"/>
          <p:cNvSpPr/>
          <p:nvPr/>
        </p:nvSpPr>
        <p:spPr>
          <a:xfrm>
            <a:off x="685800" y="4800600"/>
            <a:ext cx="6126480" cy="548640"/>
          </a:xfrm>
          <a:prstGeom prst="rect">
            <a:avLst/>
          </a:prstGeom>
          <a:noFill/>
          <a:ln/>
        </p:spPr>
        <p:txBody>
          <a:bodyPr wrap="square" lIns="0" tIns="0" rIns="0" bIns="0" rtlCol="0" anchor="ctr"/>
          <a:lstStyle/>
          <a:p>
            <a:pPr indent="0" marL="0">
              <a:lnSpc>
                <a:spcPts val="1600"/>
              </a:lnSpc>
              <a:buNone/>
            </a:pPr>
            <a:r>
              <a:rPr lang="en-US" sz="1150" dirty="0">
                <a:solidFill>
                  <a:srgbClr val="55555F"/>
                </a:solidFill>
                <a:latin typeface="Hiragino Sans" pitchFamily="34" charset="0"/>
                <a:ea typeface="Hiragino Sans" pitchFamily="34" charset="-122"/>
                <a:cs typeface="Hiragino Sans" pitchFamily="34" charset="-120"/>
              </a:rPr>
              <a:t>Ryuto Shigenobu — University of Fukui,</a:t>
            </a:r>
            <a:endParaRPr lang="en-US" sz="1150" dirty="0"/>
          </a:p>
          <a:p>
            <a:pPr indent="0" marL="0">
              <a:lnSpc>
                <a:spcPts val="1600"/>
              </a:lnSpc>
              <a:buNone/>
            </a:pPr>
            <a:r>
              <a:rPr lang="en-US" sz="1150" dirty="0">
                <a:solidFill>
                  <a:srgbClr val="55555F"/>
                </a:solidFill>
                <a:latin typeface="Hiragino Sans" pitchFamily="34" charset="0"/>
                <a:ea typeface="Hiragino Sans" pitchFamily="34" charset="-122"/>
                <a:cs typeface="Hiragino Sans" pitchFamily="34" charset="-120"/>
              </a:rPr>
              <a:t>Dept. of Electrical, Electronic and Computer Engineering</a:t>
            </a:r>
            <a:endParaRPr lang="en-US" sz="1150" dirty="0"/>
          </a:p>
        </p:txBody>
      </p:sp>
      <p:sp>
        <p:nvSpPr>
          <p:cNvPr id="9" name="Text 6"/>
          <p:cNvSpPr/>
          <p:nvPr/>
        </p:nvSpPr>
        <p:spPr>
          <a:xfrm>
            <a:off x="685800" y="5577840"/>
            <a:ext cx="6126480" cy="365760"/>
          </a:xfrm>
          <a:prstGeom prst="rect">
            <a:avLst/>
          </a:prstGeom>
          <a:noFill/>
          <a:ln/>
        </p:spPr>
        <p:txBody>
          <a:bodyPr wrap="square" lIns="0" tIns="0" rIns="0" bIns="0" rtlCol="0" anchor="ctr"/>
          <a:lstStyle/>
          <a:p>
            <a:pPr indent="0" marL="0">
              <a:buNone/>
            </a:pPr>
            <a:r>
              <a:rPr lang="en-US" sz="1450" b="1" dirty="0">
                <a:solidFill>
                  <a:srgbClr val="1A1A1A"/>
                </a:solidFill>
                <a:latin typeface="Hiragino Sans" pitchFamily="34" charset="0"/>
                <a:ea typeface="Hiragino Sans" pitchFamily="34" charset="-122"/>
                <a:cs typeface="Hiragino Sans" pitchFamily="34" charset="-120"/>
              </a:rPr>
              <a:t>地図はある。モデルが無い。だから作った。</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D1A"/>
        </a:solidFill>
      </p:bgPr>
    </p:bg>
    <p:spTree>
      <p:nvGrpSpPr>
        <p:cNvPr id="1" name=""/>
        <p:cNvGrpSpPr/>
        <p:nvPr/>
      </p:nvGrpSpPr>
      <p:grpSpPr>
        <a:xfrm>
          <a:off x="0" y="0"/>
          <a:ext cx="0" cy="0"/>
          <a:chOff x="0" y="0"/>
          <a:chExt cx="0" cy="0"/>
        </a:xfrm>
      </p:grpSpPr>
      <p:pic>
        <p:nvPicPr>
          <p:cNvPr id="2" name="Image 0" descr="assets/hero_gri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640080" y="685800"/>
            <a:ext cx="6583680" cy="685800"/>
          </a:xfrm>
          <a:prstGeom prst="rect">
            <a:avLst/>
          </a:prstGeom>
          <a:noFill/>
          <a:ln/>
        </p:spPr>
        <p:txBody>
          <a:bodyPr wrap="square" lIns="0" tIns="0" rIns="0" bIns="0" rtlCol="0" anchor="ctr"/>
          <a:lstStyle/>
          <a:p>
            <a:pPr indent="0" marL="0">
              <a:buNone/>
            </a:pPr>
            <a:r>
              <a:rPr lang="en-US" sz="3400" b="1" dirty="0">
                <a:solidFill>
                  <a:srgbClr val="FFFFFF"/>
                </a:solidFill>
                <a:latin typeface="Hiragino Sans" pitchFamily="34" charset="0"/>
                <a:ea typeface="Hiragino Sans" pitchFamily="34" charset="-122"/>
                <a:cs typeface="Hiragino Sans" pitchFamily="34" charset="-120"/>
              </a:rPr>
              <a:t>これが、出来上がったもの。</a:t>
            </a:r>
            <a:endParaRPr lang="en-US" sz="3400" dirty="0"/>
          </a:p>
        </p:txBody>
      </p:sp>
      <p:sp>
        <p:nvSpPr>
          <p:cNvPr id="4" name="Text 1"/>
          <p:cNvSpPr/>
          <p:nvPr/>
        </p:nvSpPr>
        <p:spPr>
          <a:xfrm>
            <a:off x="658368" y="1508760"/>
            <a:ext cx="6217920" cy="868680"/>
          </a:xfrm>
          <a:prstGeom prst="rect">
            <a:avLst/>
          </a:prstGeom>
          <a:noFill/>
          <a:ln/>
        </p:spPr>
        <p:txBody>
          <a:bodyPr wrap="square" lIns="0" tIns="0" rIns="0" bIns="0" rtlCol="0" anchor="ctr"/>
          <a:lstStyle/>
          <a:p>
            <a:pPr indent="0" marL="0">
              <a:lnSpc>
                <a:spcPts val="2200"/>
              </a:lnSpc>
              <a:buNone/>
            </a:pPr>
            <a:r>
              <a:rPr lang="en-US" sz="1450" dirty="0">
                <a:solidFill>
                  <a:srgbClr val="C8CDD8"/>
                </a:solidFill>
                <a:latin typeface="Hiragino Sans" pitchFamily="34" charset="0"/>
                <a:ea typeface="Hiragino Sans" pitchFamily="34" charset="-122"/>
                <a:cs typeface="Hiragino Sans" pitchFamily="34" charset="-120"/>
              </a:rPr>
              <a:t>OpenStreetMapに描かれた「線」から復元した、日本全国の送電系統。</a:t>
            </a:r>
            <a:endParaRPr lang="en-US" sz="1450" dirty="0"/>
          </a:p>
          <a:p>
            <a:pPr indent="0" marL="0">
              <a:lnSpc>
                <a:spcPts val="2200"/>
              </a:lnSpc>
              <a:buNone/>
            </a:pPr>
            <a:r>
              <a:rPr lang="en-US" sz="1450" dirty="0">
                <a:solidFill>
                  <a:srgbClr val="C8CDD8"/>
                </a:solidFill>
                <a:latin typeface="Hiragino Sans" pitchFamily="34" charset="0"/>
                <a:ea typeface="Hiragino Sans" pitchFamily="34" charset="-122"/>
                <a:cs typeface="Hiragino Sans" pitchFamily="34" charset="-120"/>
              </a:rPr>
              <a:t>電圧階級つき・4同期島 — そのままUC・潮流・周波数制御まで解ける。</a:t>
            </a:r>
            <a:endParaRPr lang="en-US" sz="1450" dirty="0"/>
          </a:p>
        </p:txBody>
      </p:sp>
      <p:pic>
        <p:nvPicPr>
          <p:cNvPr id="5" name="Image 1" descr="assets/hero_grid_raw.png">    </p:cNvPr>
          <p:cNvPicPr>
            <a:picLocks noChangeAspect="1"/>
          </p:cNvPicPr>
          <p:nvPr/>
        </p:nvPicPr>
        <p:blipFill>
          <a:blip r:embed="rId2"/>
          <a:stretch>
            <a:fillRect/>
          </a:stretch>
        </p:blipFill>
        <p:spPr>
          <a:xfrm>
            <a:off x="658368" y="2743200"/>
            <a:ext cx="2743200" cy="1545336"/>
          </a:xfrm>
          <a:prstGeom prst="rect">
            <a:avLst/>
          </a:prstGeom>
        </p:spPr>
      </p:pic>
      <p:sp>
        <p:nvSpPr>
          <p:cNvPr id="6" name="Shape 2"/>
          <p:cNvSpPr/>
          <p:nvPr/>
        </p:nvSpPr>
        <p:spPr>
          <a:xfrm>
            <a:off x="658368" y="2743200"/>
            <a:ext cx="2743200" cy="1545336"/>
          </a:xfrm>
          <a:prstGeom prst="rect">
            <a:avLst/>
          </a:prstGeom>
          <a:ln w="12700">
            <a:solidFill>
              <a:srgbClr val="3A4266"/>
            </a:solidFill>
            <a:prstDash val="solid"/>
          </a:ln>
        </p:spPr>
      </p:sp>
      <p:sp>
        <p:nvSpPr>
          <p:cNvPr id="7" name="Text 3"/>
          <p:cNvSpPr/>
          <p:nvPr/>
        </p:nvSpPr>
        <p:spPr>
          <a:xfrm>
            <a:off x="658368" y="4343400"/>
            <a:ext cx="3291840" cy="548640"/>
          </a:xfrm>
          <a:prstGeom prst="rect">
            <a:avLst/>
          </a:prstGeom>
          <a:noFill/>
          <a:ln/>
        </p:spPr>
        <p:txBody>
          <a:bodyPr wrap="square" lIns="0" tIns="0" rIns="0" bIns="0" rtlCol="0" anchor="ctr"/>
          <a:lstStyle/>
          <a:p>
            <a:pPr indent="0" marL="0">
              <a:lnSpc>
                <a:spcPts val="1400"/>
              </a:lnSpc>
              <a:buNone/>
            </a:pPr>
            <a:r>
              <a:rPr lang="en-US" sz="1050" dirty="0">
                <a:solidFill>
                  <a:srgbClr val="8E96B8"/>
                </a:solidFill>
                <a:latin typeface="Hiragino Sans" pitchFamily="34" charset="0"/>
                <a:ea typeface="Hiragino Sans" pitchFamily="34" charset="-122"/>
                <a:cs typeface="Hiragino Sans" pitchFamily="34" charset="-120"/>
              </a:rPr>
              <a:t>素材はこれ — OSMの power=line/cable 40,077本の</a:t>
            </a:r>
            <a:endParaRPr lang="en-US" sz="1050" dirty="0"/>
          </a:p>
          <a:p>
            <a:pPr indent="0" marL="0">
              <a:lnSpc>
                <a:spcPts val="1400"/>
              </a:lnSpc>
              <a:buNone/>
            </a:pPr>
            <a:r>
              <a:rPr lang="en-US" sz="1050" dirty="0">
                <a:solidFill>
                  <a:srgbClr val="8E96B8"/>
                </a:solidFill>
                <a:latin typeface="Hiragino Sans" pitchFamily="34" charset="0"/>
                <a:ea typeface="Hiragino Sans" pitchFamily="34" charset="-122"/>
                <a:cs typeface="Hiragino Sans" pitchFamily="34" charset="-120"/>
              </a:rPr>
              <a:t>「ただの線」(同構図・装飾なし)</a:t>
            </a:r>
            <a:endParaRPr lang="en-US" sz="1050" dirty="0"/>
          </a:p>
        </p:txBody>
      </p:sp>
      <p:sp>
        <p:nvSpPr>
          <p:cNvPr id="8" name="Shape 4"/>
          <p:cNvSpPr/>
          <p:nvPr/>
        </p:nvSpPr>
        <p:spPr>
          <a:xfrm>
            <a:off x="3749040" y="2916936"/>
            <a:ext cx="274320" cy="54864"/>
          </a:xfrm>
          <a:prstGeom prst="rect">
            <a:avLst/>
          </a:prstGeom>
          <a:solidFill>
            <a:srgbClr val="FF3B30"/>
          </a:solidFill>
          <a:ln/>
        </p:spPr>
      </p:sp>
      <p:sp>
        <p:nvSpPr>
          <p:cNvPr id="9" name="Text 5"/>
          <p:cNvSpPr/>
          <p:nvPr/>
        </p:nvSpPr>
        <p:spPr>
          <a:xfrm>
            <a:off x="4114800" y="2852928"/>
            <a:ext cx="1463040" cy="237744"/>
          </a:xfrm>
          <a:prstGeom prst="rect">
            <a:avLst/>
          </a:prstGeom>
          <a:noFill/>
          <a:ln/>
        </p:spPr>
        <p:txBody>
          <a:bodyPr wrap="square" lIns="0" tIns="0" rIns="0" bIns="0" rtlCol="0" anchor="ctr"/>
          <a:lstStyle/>
          <a:p>
            <a:pPr indent="0" marL="0">
              <a:buNone/>
            </a:pPr>
            <a:r>
              <a:rPr lang="en-US" sz="1000" dirty="0">
                <a:solidFill>
                  <a:srgbClr val="C8CDD8"/>
                </a:solidFill>
                <a:latin typeface="Helvetica Neue" pitchFamily="34" charset="0"/>
                <a:ea typeface="Helvetica Neue" pitchFamily="34" charset="-122"/>
                <a:cs typeface="Helvetica Neue" pitchFamily="34" charset="-120"/>
              </a:rPr>
              <a:t>500 kV級</a:t>
            </a:r>
            <a:endParaRPr lang="en-US" sz="1000" dirty="0"/>
          </a:p>
        </p:txBody>
      </p:sp>
      <p:sp>
        <p:nvSpPr>
          <p:cNvPr id="10" name="Shape 6"/>
          <p:cNvSpPr/>
          <p:nvPr/>
        </p:nvSpPr>
        <p:spPr>
          <a:xfrm>
            <a:off x="3749040" y="3191256"/>
            <a:ext cx="274320" cy="54864"/>
          </a:xfrm>
          <a:prstGeom prst="rect">
            <a:avLst/>
          </a:prstGeom>
          <a:solidFill>
            <a:srgbClr val="FF9500"/>
          </a:solidFill>
          <a:ln/>
        </p:spPr>
      </p:sp>
      <p:sp>
        <p:nvSpPr>
          <p:cNvPr id="11" name="Text 7"/>
          <p:cNvSpPr/>
          <p:nvPr/>
        </p:nvSpPr>
        <p:spPr>
          <a:xfrm>
            <a:off x="4114800" y="3127248"/>
            <a:ext cx="1463040" cy="237744"/>
          </a:xfrm>
          <a:prstGeom prst="rect">
            <a:avLst/>
          </a:prstGeom>
          <a:noFill/>
          <a:ln/>
        </p:spPr>
        <p:txBody>
          <a:bodyPr wrap="square" lIns="0" tIns="0" rIns="0" bIns="0" rtlCol="0" anchor="ctr"/>
          <a:lstStyle/>
          <a:p>
            <a:pPr indent="0" marL="0">
              <a:buNone/>
            </a:pPr>
            <a:r>
              <a:rPr lang="en-US" sz="1000" dirty="0">
                <a:solidFill>
                  <a:srgbClr val="C8CDD8"/>
                </a:solidFill>
                <a:latin typeface="Helvetica Neue" pitchFamily="34" charset="0"/>
                <a:ea typeface="Helvetica Neue" pitchFamily="34" charset="-122"/>
                <a:cs typeface="Helvetica Neue" pitchFamily="34" charset="-120"/>
              </a:rPr>
              <a:t>275 kV級</a:t>
            </a:r>
            <a:endParaRPr lang="en-US" sz="1000" dirty="0"/>
          </a:p>
        </p:txBody>
      </p:sp>
      <p:sp>
        <p:nvSpPr>
          <p:cNvPr id="12" name="Shape 8"/>
          <p:cNvSpPr/>
          <p:nvPr/>
        </p:nvSpPr>
        <p:spPr>
          <a:xfrm>
            <a:off x="3749040" y="3465576"/>
            <a:ext cx="274320" cy="54864"/>
          </a:xfrm>
          <a:prstGeom prst="rect">
            <a:avLst/>
          </a:prstGeom>
          <a:solidFill>
            <a:srgbClr val="BF5AF2"/>
          </a:solidFill>
          <a:ln/>
        </p:spPr>
      </p:sp>
      <p:sp>
        <p:nvSpPr>
          <p:cNvPr id="13" name="Text 9"/>
          <p:cNvSpPr/>
          <p:nvPr/>
        </p:nvSpPr>
        <p:spPr>
          <a:xfrm>
            <a:off x="4114800" y="3401568"/>
            <a:ext cx="1463040" cy="237744"/>
          </a:xfrm>
          <a:prstGeom prst="rect">
            <a:avLst/>
          </a:prstGeom>
          <a:noFill/>
          <a:ln/>
        </p:spPr>
        <p:txBody>
          <a:bodyPr wrap="square" lIns="0" tIns="0" rIns="0" bIns="0" rtlCol="0" anchor="ctr"/>
          <a:lstStyle/>
          <a:p>
            <a:pPr indent="0" marL="0">
              <a:buNone/>
            </a:pPr>
            <a:r>
              <a:rPr lang="en-US" sz="1000" dirty="0">
                <a:solidFill>
                  <a:srgbClr val="C8CDD8"/>
                </a:solidFill>
                <a:latin typeface="Helvetica Neue" pitchFamily="34" charset="0"/>
                <a:ea typeface="Helvetica Neue" pitchFamily="34" charset="-122"/>
                <a:cs typeface="Helvetica Neue" pitchFamily="34" charset="-120"/>
              </a:rPr>
              <a:t>154/187</a:t>
            </a:r>
            <a:endParaRPr lang="en-US" sz="1000" dirty="0"/>
          </a:p>
        </p:txBody>
      </p:sp>
      <p:sp>
        <p:nvSpPr>
          <p:cNvPr id="14" name="Shape 10"/>
          <p:cNvSpPr/>
          <p:nvPr/>
        </p:nvSpPr>
        <p:spPr>
          <a:xfrm>
            <a:off x="3749040" y="3739896"/>
            <a:ext cx="274320" cy="54864"/>
          </a:xfrm>
          <a:prstGeom prst="rect">
            <a:avLst/>
          </a:prstGeom>
          <a:solidFill>
            <a:srgbClr val="34C759"/>
          </a:solidFill>
          <a:ln/>
        </p:spPr>
      </p:sp>
      <p:sp>
        <p:nvSpPr>
          <p:cNvPr id="15" name="Text 11"/>
          <p:cNvSpPr/>
          <p:nvPr/>
        </p:nvSpPr>
        <p:spPr>
          <a:xfrm>
            <a:off x="4114800" y="3675888"/>
            <a:ext cx="1463040" cy="237744"/>
          </a:xfrm>
          <a:prstGeom prst="rect">
            <a:avLst/>
          </a:prstGeom>
          <a:noFill/>
          <a:ln/>
        </p:spPr>
        <p:txBody>
          <a:bodyPr wrap="square" lIns="0" tIns="0" rIns="0" bIns="0" rtlCol="0" anchor="ctr"/>
          <a:lstStyle/>
          <a:p>
            <a:pPr indent="0" marL="0">
              <a:buNone/>
            </a:pPr>
            <a:r>
              <a:rPr lang="en-US" sz="1000" dirty="0">
                <a:solidFill>
                  <a:srgbClr val="C8CDD8"/>
                </a:solidFill>
                <a:latin typeface="Helvetica Neue" pitchFamily="34" charset="0"/>
                <a:ea typeface="Helvetica Neue" pitchFamily="34" charset="-122"/>
                <a:cs typeface="Helvetica Neue" pitchFamily="34" charset="-120"/>
              </a:rPr>
              <a:t>110 kV級</a:t>
            </a:r>
            <a:endParaRPr lang="en-US" sz="1000" dirty="0"/>
          </a:p>
        </p:txBody>
      </p:sp>
      <p:sp>
        <p:nvSpPr>
          <p:cNvPr id="16" name="Shape 12"/>
          <p:cNvSpPr/>
          <p:nvPr/>
        </p:nvSpPr>
        <p:spPr>
          <a:xfrm>
            <a:off x="3749040" y="4014216"/>
            <a:ext cx="274320" cy="54864"/>
          </a:xfrm>
          <a:prstGeom prst="rect">
            <a:avLst/>
          </a:prstGeom>
          <a:solidFill>
            <a:srgbClr val="32ADE6"/>
          </a:solidFill>
          <a:ln/>
        </p:spPr>
      </p:sp>
      <p:sp>
        <p:nvSpPr>
          <p:cNvPr id="17" name="Text 13"/>
          <p:cNvSpPr/>
          <p:nvPr/>
        </p:nvSpPr>
        <p:spPr>
          <a:xfrm>
            <a:off x="4114800" y="3950208"/>
            <a:ext cx="1463040" cy="237744"/>
          </a:xfrm>
          <a:prstGeom prst="rect">
            <a:avLst/>
          </a:prstGeom>
          <a:noFill/>
          <a:ln/>
        </p:spPr>
        <p:txBody>
          <a:bodyPr wrap="square" lIns="0" tIns="0" rIns="0" bIns="0" rtlCol="0" anchor="ctr"/>
          <a:lstStyle/>
          <a:p>
            <a:pPr indent="0" marL="0">
              <a:buNone/>
            </a:pPr>
            <a:r>
              <a:rPr lang="en-US" sz="1000" dirty="0">
                <a:solidFill>
                  <a:srgbClr val="C8CDD8"/>
                </a:solidFill>
                <a:latin typeface="Helvetica Neue" pitchFamily="34" charset="0"/>
                <a:ea typeface="Helvetica Neue" pitchFamily="34" charset="-122"/>
                <a:cs typeface="Helvetica Neue" pitchFamily="34" charset="-120"/>
              </a:rPr>
              <a:t>66/77 kV</a:t>
            </a:r>
            <a:endParaRPr lang="en-US" sz="1000" dirty="0"/>
          </a:p>
        </p:txBody>
      </p:sp>
      <p:sp>
        <p:nvSpPr>
          <p:cNvPr id="18" name="Text 14"/>
          <p:cNvSpPr/>
          <p:nvPr/>
        </p:nvSpPr>
        <p:spPr>
          <a:xfrm>
            <a:off x="2514600" y="6473952"/>
            <a:ext cx="9144000" cy="274320"/>
          </a:xfrm>
          <a:prstGeom prst="rect">
            <a:avLst/>
          </a:prstGeom>
          <a:noFill/>
          <a:ln/>
        </p:spPr>
        <p:txBody>
          <a:bodyPr wrap="square" lIns="0" tIns="0" rIns="0" bIns="0" rtlCol="0" anchor="ctr"/>
          <a:lstStyle/>
          <a:p>
            <a:pPr indent="0" marL="0">
              <a:buNone/>
            </a:pPr>
            <a:r>
              <a:rPr lang="en-US" sz="1000" dirty="0">
                <a:solidFill>
                  <a:srgbClr val="5A648F"/>
                </a:solidFill>
                <a:latin typeface="Hiragino Sans" pitchFamily="34" charset="0"/>
                <a:ea typeface="Hiragino Sans" pitchFamily="34" charset="-122"/>
                <a:cs typeface="Hiragino Sans" pitchFamily="34" charset="-120"/>
              </a:rPr>
              <a:t>built正典 v1.8: 実線形19,895枝 / ノード17,745(うち変電所9,139) — 全要素がOSM実体か出典つき介入に遡れる</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1E2761"/>
          </a:solidFill>
          <a:ln/>
        </p:spPr>
      </p:sp>
      <p:sp>
        <p:nvSpPr>
          <p:cNvPr id="3" name="Text 1"/>
          <p:cNvSpPr/>
          <p:nvPr/>
        </p:nvSpPr>
        <p:spPr>
          <a:xfrm>
            <a:off x="621792" y="347472"/>
            <a:ext cx="19202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Hiragino Sans" pitchFamily="34" charset="0"/>
                <a:ea typeface="Hiragino Sans" pitchFamily="34" charset="-122"/>
                <a:cs typeface="Hiragino Sans" pitchFamily="34" charset="-120"/>
              </a:rPr>
              <a:t>序</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indent="0" marL="0">
              <a:buNone/>
            </a:pPr>
            <a:r>
              <a:rPr lang="en-US" sz="2100" b="1" dirty="0">
                <a:solidFill>
                  <a:srgbClr val="1A1A1A"/>
                </a:solidFill>
                <a:latin typeface="Hiragino Sans" pitchFamily="34" charset="0"/>
                <a:ea typeface="Hiragino Sans" pitchFamily="34" charset="-122"/>
                <a:cs typeface="Hiragino Sans" pitchFamily="34" charset="-120"/>
              </a:rPr>
              <a:t>日本には、公開のバスレベル系統モデルが無い</a:t>
            </a:r>
            <a:endParaRPr lang="en-US" sz="2100" dirty="0"/>
          </a:p>
        </p:txBody>
      </p:sp>
      <p:sp>
        <p:nvSpPr>
          <p:cNvPr id="5" name="Shape 3"/>
          <p:cNvSpPr/>
          <p:nvPr/>
        </p:nvSpPr>
        <p:spPr>
          <a:xfrm>
            <a:off x="822960" y="1234440"/>
            <a:ext cx="10607040" cy="1005840"/>
          </a:xfrm>
          <a:prstGeom prst="roundRect">
            <a:avLst>
              <a:gd name="adj" fmla="val 5455"/>
            </a:avLst>
          </a:prstGeom>
          <a:solidFill>
            <a:srgbClr val="F4F4F6"/>
          </a:solidFill>
          <a:ln/>
        </p:spPr>
      </p:sp>
      <p:sp>
        <p:nvSpPr>
          <p:cNvPr id="6" name="Text 4"/>
          <p:cNvSpPr/>
          <p:nvPr/>
        </p:nvSpPr>
        <p:spPr>
          <a:xfrm>
            <a:off x="1097280" y="1344168"/>
            <a:ext cx="1371600" cy="365760"/>
          </a:xfrm>
          <a:prstGeom prst="rect">
            <a:avLst/>
          </a:prstGeom>
          <a:noFill/>
          <a:ln/>
        </p:spPr>
        <p:txBody>
          <a:bodyPr wrap="square" lIns="0" tIns="0" rIns="0" bIns="0" rtlCol="0" anchor="ctr"/>
          <a:lstStyle/>
          <a:p>
            <a:pPr indent="0" marL="0">
              <a:buNone/>
            </a:pPr>
            <a:r>
              <a:rPr lang="en-US" sz="1500" b="1" dirty="0">
                <a:solidFill>
                  <a:srgbClr val="2E7D32"/>
                </a:solidFill>
                <a:latin typeface="Hiragino Sans" pitchFamily="34" charset="0"/>
                <a:ea typeface="Hiragino Sans" pitchFamily="34" charset="-122"/>
                <a:cs typeface="Hiragino Sans" pitchFamily="34" charset="-120"/>
              </a:rPr>
              <a:t>米国</a:t>
            </a:r>
            <a:endParaRPr lang="en-US" sz="1500" dirty="0"/>
          </a:p>
        </p:txBody>
      </p:sp>
      <p:sp>
        <p:nvSpPr>
          <p:cNvPr id="7" name="Text 5"/>
          <p:cNvSpPr/>
          <p:nvPr/>
        </p:nvSpPr>
        <p:spPr>
          <a:xfrm>
            <a:off x="1097280" y="1764792"/>
            <a:ext cx="2011680" cy="320040"/>
          </a:xfrm>
          <a:prstGeom prst="rect">
            <a:avLst/>
          </a:prstGeom>
          <a:noFill/>
          <a:ln/>
        </p:spPr>
        <p:txBody>
          <a:bodyPr wrap="square" lIns="0" tIns="0" rIns="0" bIns="0" rtlCol="0" anchor="ctr"/>
          <a:lstStyle/>
          <a:p>
            <a:pPr indent="0" marL="0">
              <a:buNone/>
            </a:pPr>
            <a:r>
              <a:rPr lang="en-US" sz="1150" dirty="0">
                <a:solidFill>
                  <a:srgbClr val="55555F"/>
                </a:solidFill>
                <a:latin typeface="Helvetica Neue" pitchFamily="34" charset="0"/>
                <a:ea typeface="Helvetica Neue" pitchFamily="34" charset="-122"/>
                <a:cs typeface="Helvetica Neue" pitchFamily="34" charset="-120"/>
              </a:rPr>
              <a:t>FERC Form 715</a:t>
            </a:r>
            <a:endParaRPr lang="en-US" sz="1150" dirty="0"/>
          </a:p>
        </p:txBody>
      </p:sp>
      <p:sp>
        <p:nvSpPr>
          <p:cNvPr id="8" name="Text 6"/>
          <p:cNvSpPr/>
          <p:nvPr/>
        </p:nvSpPr>
        <p:spPr>
          <a:xfrm>
            <a:off x="3291840" y="1234440"/>
            <a:ext cx="7863840" cy="1005840"/>
          </a:xfrm>
          <a:prstGeom prst="rect">
            <a:avLst/>
          </a:prstGeom>
          <a:noFill/>
          <a:ln/>
        </p:spPr>
        <p:txBody>
          <a:bodyPr wrap="square" lIns="0" tIns="0" rIns="0" bIns="0" rtlCol="0" anchor="ctr"/>
          <a:lstStyle/>
          <a:p>
            <a:pPr indent="0" marL="0">
              <a:buNone/>
            </a:pPr>
            <a:r>
              <a:rPr lang="en-US" sz="1300" dirty="0">
                <a:solidFill>
                  <a:srgbClr val="1A1A1A"/>
                </a:solidFill>
                <a:latin typeface="Hiragino Sans" pitchFamily="34" charset="0"/>
                <a:ea typeface="Hiragino Sans" pitchFamily="34" charset="-122"/>
                <a:cs typeface="Hiragino Sans" pitchFamily="34" charset="-120"/>
              </a:rPr>
              <a:t>ネットワークモデルの開示義務。バスレベルで研究利用できる</a:t>
            </a:r>
            <a:endParaRPr lang="en-US" sz="1300" dirty="0"/>
          </a:p>
        </p:txBody>
      </p:sp>
      <p:sp>
        <p:nvSpPr>
          <p:cNvPr id="9" name="Shape 7"/>
          <p:cNvSpPr/>
          <p:nvPr/>
        </p:nvSpPr>
        <p:spPr>
          <a:xfrm>
            <a:off x="822960" y="2377440"/>
            <a:ext cx="10607040" cy="1005840"/>
          </a:xfrm>
          <a:prstGeom prst="roundRect">
            <a:avLst>
              <a:gd name="adj" fmla="val 5455"/>
            </a:avLst>
          </a:prstGeom>
          <a:solidFill>
            <a:srgbClr val="F4F4F6"/>
          </a:solidFill>
          <a:ln/>
        </p:spPr>
      </p:sp>
      <p:sp>
        <p:nvSpPr>
          <p:cNvPr id="10" name="Text 8"/>
          <p:cNvSpPr/>
          <p:nvPr/>
        </p:nvSpPr>
        <p:spPr>
          <a:xfrm>
            <a:off x="1097280" y="2487168"/>
            <a:ext cx="1371600" cy="365760"/>
          </a:xfrm>
          <a:prstGeom prst="rect">
            <a:avLst/>
          </a:prstGeom>
          <a:noFill/>
          <a:ln/>
        </p:spPr>
        <p:txBody>
          <a:bodyPr wrap="square" lIns="0" tIns="0" rIns="0" bIns="0" rtlCol="0" anchor="ctr"/>
          <a:lstStyle/>
          <a:p>
            <a:pPr indent="0" marL="0">
              <a:buNone/>
            </a:pPr>
            <a:r>
              <a:rPr lang="en-US" sz="1500" b="1" dirty="0">
                <a:solidFill>
                  <a:srgbClr val="2E7D32"/>
                </a:solidFill>
                <a:latin typeface="Hiragino Sans" pitchFamily="34" charset="0"/>
                <a:ea typeface="Hiragino Sans" pitchFamily="34" charset="-122"/>
                <a:cs typeface="Hiragino Sans" pitchFamily="34" charset="-120"/>
              </a:rPr>
              <a:t>欧州</a:t>
            </a:r>
            <a:endParaRPr lang="en-US" sz="1500" dirty="0"/>
          </a:p>
        </p:txBody>
      </p:sp>
      <p:sp>
        <p:nvSpPr>
          <p:cNvPr id="11" name="Text 9"/>
          <p:cNvSpPr/>
          <p:nvPr/>
        </p:nvSpPr>
        <p:spPr>
          <a:xfrm>
            <a:off x="1097280" y="2907792"/>
            <a:ext cx="2011680" cy="320040"/>
          </a:xfrm>
          <a:prstGeom prst="rect">
            <a:avLst/>
          </a:prstGeom>
          <a:noFill/>
          <a:ln/>
        </p:spPr>
        <p:txBody>
          <a:bodyPr wrap="square" lIns="0" tIns="0" rIns="0" bIns="0" rtlCol="0" anchor="ctr"/>
          <a:lstStyle/>
          <a:p>
            <a:pPr indent="0" marL="0">
              <a:buNone/>
            </a:pPr>
            <a:r>
              <a:rPr lang="en-US" sz="1150" dirty="0">
                <a:solidFill>
                  <a:srgbClr val="55555F"/>
                </a:solidFill>
                <a:latin typeface="Helvetica Neue" pitchFamily="34" charset="0"/>
                <a:ea typeface="Helvetica Neue" pitchFamily="34" charset="-122"/>
                <a:cs typeface="Helvetica Neue" pitchFamily="34" charset="-120"/>
              </a:rPr>
              <a:t>ENTSO-E</a:t>
            </a:r>
            <a:endParaRPr lang="en-US" sz="1150" dirty="0"/>
          </a:p>
        </p:txBody>
      </p:sp>
      <p:sp>
        <p:nvSpPr>
          <p:cNvPr id="12" name="Text 10"/>
          <p:cNvSpPr/>
          <p:nvPr/>
        </p:nvSpPr>
        <p:spPr>
          <a:xfrm>
            <a:off x="3291840" y="2377440"/>
            <a:ext cx="7863840" cy="1005840"/>
          </a:xfrm>
          <a:prstGeom prst="rect">
            <a:avLst/>
          </a:prstGeom>
          <a:noFill/>
          <a:ln/>
        </p:spPr>
        <p:txBody>
          <a:bodyPr wrap="square" lIns="0" tIns="0" rIns="0" bIns="0" rtlCol="0" anchor="ctr"/>
          <a:lstStyle/>
          <a:p>
            <a:pPr indent="0" marL="0">
              <a:buNone/>
            </a:pPr>
            <a:r>
              <a:rPr lang="en-US" sz="1300" dirty="0">
                <a:solidFill>
                  <a:srgbClr val="1A1A1A"/>
                </a:solidFill>
                <a:latin typeface="Hiragino Sans" pitchFamily="34" charset="0"/>
                <a:ea typeface="Hiragino Sans" pitchFamily="34" charset="-122"/>
                <a:cs typeface="Hiragino Sans" pitchFamily="34" charset="-120"/>
              </a:rPr>
              <a:t>透明性プラットフォーム＋PyPSA-Eur等の公開モデル群</a:t>
            </a:r>
            <a:endParaRPr lang="en-US" sz="1300" dirty="0"/>
          </a:p>
        </p:txBody>
      </p:sp>
      <p:sp>
        <p:nvSpPr>
          <p:cNvPr id="13" name="Shape 11"/>
          <p:cNvSpPr/>
          <p:nvPr/>
        </p:nvSpPr>
        <p:spPr>
          <a:xfrm>
            <a:off x="822960" y="3520440"/>
            <a:ext cx="10607040" cy="1005840"/>
          </a:xfrm>
          <a:prstGeom prst="roundRect">
            <a:avLst>
              <a:gd name="adj" fmla="val 5455"/>
            </a:avLst>
          </a:prstGeom>
          <a:solidFill>
            <a:srgbClr val="F4F4F6"/>
          </a:solidFill>
          <a:ln/>
        </p:spPr>
      </p:sp>
      <p:sp>
        <p:nvSpPr>
          <p:cNvPr id="14" name="Text 12"/>
          <p:cNvSpPr/>
          <p:nvPr/>
        </p:nvSpPr>
        <p:spPr>
          <a:xfrm>
            <a:off x="1097280" y="3630168"/>
            <a:ext cx="1371600" cy="365760"/>
          </a:xfrm>
          <a:prstGeom prst="rect">
            <a:avLst/>
          </a:prstGeom>
          <a:noFill/>
          <a:ln/>
        </p:spPr>
        <p:txBody>
          <a:bodyPr wrap="square" lIns="0" tIns="0" rIns="0" bIns="0" rtlCol="0" anchor="ctr"/>
          <a:lstStyle/>
          <a:p>
            <a:pPr indent="0" marL="0">
              <a:buNone/>
            </a:pPr>
            <a:r>
              <a:rPr lang="en-US" sz="1500" b="1" dirty="0">
                <a:solidFill>
                  <a:srgbClr val="C62828"/>
                </a:solidFill>
                <a:latin typeface="Hiragino Sans" pitchFamily="34" charset="0"/>
                <a:ea typeface="Hiragino Sans" pitchFamily="34" charset="-122"/>
                <a:cs typeface="Hiragino Sans" pitchFamily="34" charset="-120"/>
              </a:rPr>
              <a:t>日本</a:t>
            </a:r>
            <a:endParaRPr lang="en-US" sz="1500" dirty="0"/>
          </a:p>
        </p:txBody>
      </p:sp>
      <p:sp>
        <p:nvSpPr>
          <p:cNvPr id="15" name="Text 13"/>
          <p:cNvSpPr/>
          <p:nvPr/>
        </p:nvSpPr>
        <p:spPr>
          <a:xfrm>
            <a:off x="1097280" y="4050792"/>
            <a:ext cx="2011680" cy="320040"/>
          </a:xfrm>
          <a:prstGeom prst="rect">
            <a:avLst/>
          </a:prstGeom>
          <a:noFill/>
          <a:ln/>
        </p:spPr>
        <p:txBody>
          <a:bodyPr wrap="square" lIns="0" tIns="0" rIns="0" bIns="0" rtlCol="0" anchor="ctr"/>
          <a:lstStyle/>
          <a:p>
            <a:pPr indent="0" marL="0">
              <a:buNone/>
            </a:pPr>
            <a:r>
              <a:rPr lang="en-US" sz="1150" dirty="0">
                <a:solidFill>
                  <a:srgbClr val="55555F"/>
                </a:solidFill>
                <a:latin typeface="Helvetica Neue" pitchFamily="34" charset="0"/>
                <a:ea typeface="Helvetica Neue" pitchFamily="34" charset="-122"/>
                <a:cs typeface="Helvetica Neue" pitchFamily="34" charset="-120"/>
              </a:rPr>
              <a:t>OCCTO 公表</a:t>
            </a:r>
            <a:endParaRPr lang="en-US" sz="1150" dirty="0"/>
          </a:p>
        </p:txBody>
      </p:sp>
      <p:sp>
        <p:nvSpPr>
          <p:cNvPr id="16" name="Text 14"/>
          <p:cNvSpPr/>
          <p:nvPr/>
        </p:nvSpPr>
        <p:spPr>
          <a:xfrm>
            <a:off x="3291840" y="3520440"/>
            <a:ext cx="7863840" cy="1005840"/>
          </a:xfrm>
          <a:prstGeom prst="rect">
            <a:avLst/>
          </a:prstGeom>
          <a:noFill/>
          <a:ln/>
        </p:spPr>
        <p:txBody>
          <a:bodyPr wrap="square" lIns="0" tIns="0" rIns="0" bIns="0" rtlCol="0" anchor="ctr"/>
          <a:lstStyle/>
          <a:p>
            <a:pPr indent="0" marL="0">
              <a:buNone/>
            </a:pPr>
            <a:r>
              <a:rPr lang="en-US" sz="1300" dirty="0">
                <a:solidFill>
                  <a:srgbClr val="1A1A1A"/>
                </a:solidFill>
                <a:latin typeface="Hiragino Sans" pitchFamily="34" charset="0"/>
                <a:ea typeface="Hiragino Sans" pitchFamily="34" charset="-122"/>
                <a:cs typeface="Hiragino Sans" pitchFamily="34" charset="-120"/>
              </a:rPr>
              <a:t>連系線容量・需給計画のみ。インピーダンス・変圧器・ノード需要は事業者内部</a:t>
            </a:r>
            <a:endParaRPr lang="en-US" sz="1300" dirty="0"/>
          </a:p>
        </p:txBody>
      </p:sp>
      <p:sp>
        <p:nvSpPr>
          <p:cNvPr id="17" name="Shape 15"/>
          <p:cNvSpPr/>
          <p:nvPr/>
        </p:nvSpPr>
        <p:spPr>
          <a:xfrm>
            <a:off x="822960" y="4892040"/>
            <a:ext cx="10607040" cy="1051560"/>
          </a:xfrm>
          <a:prstGeom prst="roundRect">
            <a:avLst>
              <a:gd name="adj" fmla="val 5217"/>
            </a:avLst>
          </a:prstGeom>
          <a:solidFill>
            <a:srgbClr val="1E2761"/>
          </a:solidFill>
          <a:ln/>
        </p:spPr>
      </p:sp>
      <p:sp>
        <p:nvSpPr>
          <p:cNvPr id="18" name="Text 16"/>
          <p:cNvSpPr/>
          <p:nvPr/>
        </p:nvSpPr>
        <p:spPr>
          <a:xfrm>
            <a:off x="1097280" y="4892040"/>
            <a:ext cx="10058400" cy="1051560"/>
          </a:xfrm>
          <a:prstGeom prst="rect">
            <a:avLst/>
          </a:prstGeom>
          <a:noFill/>
          <a:ln/>
        </p:spPr>
        <p:txBody>
          <a:bodyPr wrap="square" lIns="0" tIns="0" rIns="0" bIns="0" rtlCol="0" anchor="ctr"/>
          <a:lstStyle/>
          <a:p>
            <a:pPr indent="0" marL="0">
              <a:lnSpc>
                <a:spcPts val="2000"/>
              </a:lnSpc>
              <a:buNone/>
            </a:pPr>
            <a:r>
              <a:rPr lang="en-US" sz="1350" b="1" dirty="0">
                <a:solidFill>
                  <a:srgbClr val="FFFFFF"/>
                </a:solidFill>
                <a:latin typeface="Hiragino Sans" pitchFamily="34" charset="0"/>
                <a:ea typeface="Hiragino Sans" pitchFamily="34" charset="-122"/>
                <a:cs typeface="Hiragino Sans" pitchFamily="34" charset="-120"/>
              </a:rPr>
              <a:t>一方で OpenStreetMap には、変電所の位置・送電線の経路・発電所が「地理」としては写っている。</a:t>
            </a:r>
            <a:endParaRPr lang="en-US" sz="1350" dirty="0"/>
          </a:p>
          <a:p>
            <a:pPr indent="0" marL="0">
              <a:lnSpc>
                <a:spcPts val="2000"/>
              </a:lnSpc>
              <a:buNone/>
            </a:pPr>
            <a:r>
              <a:rPr lang="en-US" sz="1350" b="1" dirty="0">
                <a:solidFill>
                  <a:srgbClr val="FFFFFF"/>
                </a:solidFill>
                <a:latin typeface="Hiragino Sans" pitchFamily="34" charset="0"/>
                <a:ea typeface="Hiragino Sans" pitchFamily="34" charset="-122"/>
                <a:cs typeface="Hiragino Sans" pitchFamily="34" charset="-120"/>
              </a:rPr>
              <a:t>地理トポロジから系統モデルへ — このギャップを埋めるのが本プロジェクト。</a:t>
            </a:r>
            <a:endParaRPr lang="en-US" sz="1350" dirty="0"/>
          </a:p>
        </p:txBody>
      </p:sp>
      <p:sp>
        <p:nvSpPr>
          <p:cNvPr id="19" name="Text 17"/>
          <p:cNvSpPr/>
          <p:nvPr/>
        </p:nvSpPr>
        <p:spPr>
          <a:xfrm>
            <a:off x="640080" y="6510528"/>
            <a:ext cx="5486400" cy="256032"/>
          </a:xfrm>
          <a:prstGeom prst="rect">
            <a:avLst/>
          </a:prstGeom>
          <a:noFill/>
          <a:ln/>
        </p:spPr>
        <p:txBody>
          <a:bodyPr wrap="square" lIns="0" tIns="0" rIns="0" bIns="0" rtlCol="0" anchor="ctr"/>
          <a:lstStyle/>
          <a:p>
            <a:pPr indent="0" marL="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20" name="Text 18"/>
          <p:cNvSpPr/>
          <p:nvPr/>
        </p:nvSpPr>
        <p:spPr>
          <a:xfrm>
            <a:off x="9692640" y="6510528"/>
            <a:ext cx="1463040" cy="256032"/>
          </a:xfrm>
          <a:prstGeom prst="rect">
            <a:avLst/>
          </a:prstGeom>
          <a:noFill/>
          <a:ln/>
        </p:spPr>
        <p:txBody>
          <a:bodyPr wrap="square" lIns="0" tIns="0" rIns="0" bIns="0" rtlCol="0" anchor="ctr"/>
          <a:lstStyle/>
          <a:p>
            <a:pPr algn="r" indent="0" marL="0">
              <a:buNone/>
            </a:pPr>
            <a:r>
              <a:rPr lang="en-US" sz="900" dirty="0">
                <a:solidFill>
                  <a:srgbClr val="55555F"/>
                </a:solidFill>
                <a:latin typeface="Helvetica Neue" pitchFamily="34" charset="0"/>
                <a:ea typeface="Helvetica Neue" pitchFamily="34" charset="-122"/>
                <a:cs typeface="Helvetica Neue" pitchFamily="34" charset="-120"/>
              </a:rPr>
              <a:t>1:00</a:t>
            </a:r>
            <a:endParaRPr lang="en-US" sz="900" dirty="0"/>
          </a:p>
        </p:txBody>
      </p:sp>
      <p:sp>
        <p:nvSpPr>
          <p:cNvPr id="21" name="Text 19"/>
          <p:cNvSpPr/>
          <p:nvPr/>
        </p:nvSpPr>
        <p:spPr>
          <a:xfrm>
            <a:off x="11338560" y="6510528"/>
            <a:ext cx="457200" cy="256032"/>
          </a:xfrm>
          <a:prstGeom prst="rect">
            <a:avLst/>
          </a:prstGeom>
          <a:noFill/>
          <a:ln/>
        </p:spPr>
        <p:txBody>
          <a:bodyPr wrap="square" lIns="0" tIns="0" rIns="0" bIns="0" rtlCol="0" anchor="ctr"/>
          <a:lstStyle/>
          <a:p>
            <a:pPr algn="r" indent="0" marL="0">
              <a:buNone/>
            </a:pPr>
            <a:r>
              <a:rPr lang="en-US" sz="1000" dirty="0">
                <a:solidFill>
                  <a:srgbClr val="55555F"/>
                </a:solidFill>
                <a:latin typeface="Helvetica Neue" pitchFamily="34" charset="0"/>
                <a:ea typeface="Helvetica Neue" pitchFamily="34" charset="-122"/>
                <a:cs typeface="Helvetica Neue"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1E2761"/>
          </a:solidFill>
          <a:ln/>
        </p:spPr>
      </p:sp>
      <p:sp>
        <p:nvSpPr>
          <p:cNvPr id="3" name="Text 1"/>
          <p:cNvSpPr/>
          <p:nvPr/>
        </p:nvSpPr>
        <p:spPr>
          <a:xfrm>
            <a:off x="621792" y="347472"/>
            <a:ext cx="19202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Hiragino Sans" pitchFamily="34" charset="0"/>
                <a:ea typeface="Hiragino Sans" pitchFamily="34" charset="-122"/>
                <a:cs typeface="Hiragino Sans" pitchFamily="34" charset="-120"/>
              </a:rPr>
              <a:t>序</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indent="0" marL="0">
              <a:buNone/>
            </a:pPr>
            <a:r>
              <a:rPr lang="en-US" sz="2100" b="1" dirty="0">
                <a:solidFill>
                  <a:srgbClr val="1A1A1A"/>
                </a:solidFill>
                <a:latin typeface="Hiragino Sans" pitchFamily="34" charset="0"/>
                <a:ea typeface="Hiragino Sans" pitchFamily="34" charset="-122"/>
                <a:cs typeface="Hiragino Sans" pitchFamily="34" charset="-120"/>
              </a:rPr>
              <a:t>OSMが持つもの・持たないもの — そして最初に置いた原則</a:t>
            </a:r>
            <a:endParaRPr lang="en-US" sz="2100" dirty="0"/>
          </a:p>
        </p:txBody>
      </p:sp>
      <p:pic>
        <p:nvPicPr>
          <p:cNvPr id="5" name="Image 0" descr="assets/fig_layer_combined.png">    </p:cNvPr>
          <p:cNvPicPr>
            <a:picLocks noChangeAspect="1"/>
          </p:cNvPicPr>
          <p:nvPr/>
        </p:nvPicPr>
        <p:blipFill>
          <a:blip r:embed="rId1"/>
          <a:stretch>
            <a:fillRect/>
          </a:stretch>
        </p:blipFill>
        <p:spPr>
          <a:xfrm>
            <a:off x="822960" y="1097280"/>
            <a:ext cx="10607040" cy="3749040"/>
          </a:xfrm>
          <a:prstGeom prst="rect">
            <a:avLst/>
          </a:prstGeom>
        </p:spPr>
      </p:pic>
      <p:sp>
        <p:nvSpPr>
          <p:cNvPr id="6" name="Shape 3"/>
          <p:cNvSpPr/>
          <p:nvPr/>
        </p:nvSpPr>
        <p:spPr>
          <a:xfrm>
            <a:off x="822960" y="4983480"/>
            <a:ext cx="5120640" cy="1234440"/>
          </a:xfrm>
          <a:prstGeom prst="roundRect">
            <a:avLst>
              <a:gd name="adj" fmla="val 4444"/>
            </a:avLst>
          </a:prstGeom>
          <a:solidFill>
            <a:srgbClr val="F4F4F6"/>
          </a:solidFill>
          <a:ln/>
        </p:spPr>
      </p:sp>
      <p:sp>
        <p:nvSpPr>
          <p:cNvPr id="7" name="Shape 4"/>
          <p:cNvSpPr/>
          <p:nvPr/>
        </p:nvSpPr>
        <p:spPr>
          <a:xfrm>
            <a:off x="1024128" y="5202936"/>
            <a:ext cx="128016" cy="128016"/>
          </a:xfrm>
          <a:prstGeom prst="rect">
            <a:avLst/>
          </a:prstGeom>
          <a:solidFill>
            <a:srgbClr val="2E7D32"/>
          </a:solidFill>
          <a:ln/>
        </p:spPr>
      </p:sp>
      <p:sp>
        <p:nvSpPr>
          <p:cNvPr id="8" name="Text 5"/>
          <p:cNvSpPr/>
          <p:nvPr/>
        </p:nvSpPr>
        <p:spPr>
          <a:xfrm>
            <a:off x="1234440" y="5093208"/>
            <a:ext cx="4663440" cy="320040"/>
          </a:xfrm>
          <a:prstGeom prst="rect">
            <a:avLst/>
          </a:prstGeom>
          <a:noFill/>
          <a:ln/>
        </p:spPr>
        <p:txBody>
          <a:bodyPr wrap="square" lIns="0" tIns="0" rIns="0" bIns="0" rtlCol="0" anchor="ctr"/>
          <a:lstStyle/>
          <a:p>
            <a:pPr indent="0" marL="0">
              <a:buNone/>
            </a:pPr>
            <a:r>
              <a:rPr lang="en-US" sz="1200" b="1" dirty="0">
                <a:solidFill>
                  <a:srgbClr val="1A1A1A"/>
                </a:solidFill>
                <a:latin typeface="Hiragino Sans" pitchFamily="34" charset="0"/>
                <a:ea typeface="Hiragino Sans" pitchFamily="34" charset="-122"/>
                <a:cs typeface="Hiragino Sans" pitchFamily="34" charset="-120"/>
              </a:rPr>
              <a:t>OSMにあるもの（地理トポロジ）</a:t>
            </a:r>
            <a:endParaRPr lang="en-US" sz="1200" dirty="0"/>
          </a:p>
        </p:txBody>
      </p:sp>
      <p:sp>
        <p:nvSpPr>
          <p:cNvPr id="9" name="Text 6"/>
          <p:cNvSpPr/>
          <p:nvPr/>
        </p:nvSpPr>
        <p:spPr>
          <a:xfrm>
            <a:off x="1051560" y="5440680"/>
            <a:ext cx="4663440" cy="667512"/>
          </a:xfrm>
          <a:prstGeom prst="rect">
            <a:avLst/>
          </a:prstGeom>
          <a:noFill/>
          <a:ln/>
        </p:spPr>
        <p:txBody>
          <a:bodyPr wrap="square" lIns="0" tIns="0" rIns="0" bIns="0" rtlCol="0" anchor="t"/>
          <a:lstStyle/>
          <a:p>
            <a:pPr indent="0" marL="0">
              <a:lnSpc>
                <a:spcPts val="1500"/>
              </a:lnSpc>
              <a:buNone/>
            </a:pPr>
            <a:r>
              <a:rPr lang="en-US" sz="1000" dirty="0">
                <a:solidFill>
                  <a:srgbClr val="55555F"/>
                </a:solidFill>
                <a:latin typeface="Hiragino Sans" pitchFamily="34" charset="0"/>
                <a:ea typeface="Hiragino Sans" pitchFamily="34" charset="-122"/>
                <a:cs typeface="Hiragino Sans" pitchFamily="34" charset="-120"/>
              </a:rPr>
              <a:t>位置・経路・電圧タグ・回線数タグ・運用者名。</a:t>
            </a:r>
            <a:endParaRPr lang="en-US" sz="1000" dirty="0"/>
          </a:p>
          <a:p>
            <a:pPr indent="0" marL="0">
              <a:lnSpc>
                <a:spcPts val="1500"/>
              </a:lnSpc>
              <a:buNone/>
            </a:pPr>
            <a:r>
              <a:rPr lang="en-US" sz="1000" dirty="0">
                <a:solidFill>
                  <a:srgbClr val="55555F"/>
                </a:solidFill>
                <a:latin typeface="Hiragino Sans" pitchFamily="34" charset="0"/>
                <a:ea typeface="Hiragino Sans" pitchFamily="34" charset="-122"/>
                <a:cs typeface="Hiragino Sans" pitchFamily="34" charset="-120"/>
              </a:rPr>
              <a:t>「どこに何があり、空間的にどう繋がるか」</a:t>
            </a:r>
            <a:endParaRPr lang="en-US" sz="1000" dirty="0"/>
          </a:p>
        </p:txBody>
      </p:sp>
      <p:sp>
        <p:nvSpPr>
          <p:cNvPr id="10" name="Shape 7"/>
          <p:cNvSpPr/>
          <p:nvPr/>
        </p:nvSpPr>
        <p:spPr>
          <a:xfrm>
            <a:off x="6309360" y="4983480"/>
            <a:ext cx="5120640" cy="1234440"/>
          </a:xfrm>
          <a:prstGeom prst="roundRect">
            <a:avLst>
              <a:gd name="adj" fmla="val 4444"/>
            </a:avLst>
          </a:prstGeom>
          <a:solidFill>
            <a:srgbClr val="F4F4F6"/>
          </a:solidFill>
          <a:ln/>
        </p:spPr>
      </p:sp>
      <p:sp>
        <p:nvSpPr>
          <p:cNvPr id="11" name="Shape 8"/>
          <p:cNvSpPr/>
          <p:nvPr/>
        </p:nvSpPr>
        <p:spPr>
          <a:xfrm>
            <a:off x="6510528" y="5202936"/>
            <a:ext cx="128016" cy="128016"/>
          </a:xfrm>
          <a:prstGeom prst="rect">
            <a:avLst/>
          </a:prstGeom>
          <a:solidFill>
            <a:srgbClr val="C62828"/>
          </a:solidFill>
          <a:ln/>
        </p:spPr>
      </p:sp>
      <p:sp>
        <p:nvSpPr>
          <p:cNvPr id="12" name="Text 9"/>
          <p:cNvSpPr/>
          <p:nvPr/>
        </p:nvSpPr>
        <p:spPr>
          <a:xfrm>
            <a:off x="6720840" y="5093208"/>
            <a:ext cx="4663440" cy="320040"/>
          </a:xfrm>
          <a:prstGeom prst="rect">
            <a:avLst/>
          </a:prstGeom>
          <a:noFill/>
          <a:ln/>
        </p:spPr>
        <p:txBody>
          <a:bodyPr wrap="square" lIns="0" tIns="0" rIns="0" bIns="0" rtlCol="0" anchor="ctr"/>
          <a:lstStyle/>
          <a:p>
            <a:pPr indent="0" marL="0">
              <a:buNone/>
            </a:pPr>
            <a:r>
              <a:rPr lang="en-US" sz="1200" b="1" dirty="0">
                <a:solidFill>
                  <a:srgbClr val="1A1A1A"/>
                </a:solidFill>
                <a:latin typeface="Hiragino Sans" pitchFamily="34" charset="0"/>
                <a:ea typeface="Hiragino Sans" pitchFamily="34" charset="-122"/>
                <a:cs typeface="Hiragino Sans" pitchFamily="34" charset="-120"/>
              </a:rPr>
              <a:t>OSMに無いもの（電気）</a:t>
            </a:r>
            <a:endParaRPr lang="en-US" sz="1200" dirty="0"/>
          </a:p>
        </p:txBody>
      </p:sp>
      <p:sp>
        <p:nvSpPr>
          <p:cNvPr id="13" name="Text 10"/>
          <p:cNvSpPr/>
          <p:nvPr/>
        </p:nvSpPr>
        <p:spPr>
          <a:xfrm>
            <a:off x="6537960" y="5440680"/>
            <a:ext cx="4663440" cy="667512"/>
          </a:xfrm>
          <a:prstGeom prst="rect">
            <a:avLst/>
          </a:prstGeom>
          <a:noFill/>
          <a:ln/>
        </p:spPr>
        <p:txBody>
          <a:bodyPr wrap="square" lIns="0" tIns="0" rIns="0" bIns="0" rtlCol="0" anchor="t"/>
          <a:lstStyle/>
          <a:p>
            <a:pPr indent="0" marL="0">
              <a:lnSpc>
                <a:spcPts val="1500"/>
              </a:lnSpc>
              <a:buNone/>
            </a:pPr>
            <a:r>
              <a:rPr lang="en-US" sz="1000" dirty="0">
                <a:solidFill>
                  <a:srgbClr val="55555F"/>
                </a:solidFill>
                <a:latin typeface="Hiragino Sans" pitchFamily="34" charset="0"/>
                <a:ea typeface="Hiragino Sans" pitchFamily="34" charset="-122"/>
                <a:cs typeface="Hiragino Sans" pitchFamily="34" charset="-120"/>
              </a:rPr>
              <a:t>インピーダンス・変圧器特性・ノード需要。</a:t>
            </a:r>
            <a:endParaRPr lang="en-US" sz="1000" dirty="0"/>
          </a:p>
          <a:p>
            <a:pPr indent="0" marL="0">
              <a:lnSpc>
                <a:spcPts val="1500"/>
              </a:lnSpc>
              <a:buNone/>
            </a:pPr>
            <a:r>
              <a:rPr lang="en-US" sz="1000" dirty="0">
                <a:solidFill>
                  <a:srgbClr val="55555F"/>
                </a:solidFill>
                <a:latin typeface="Hiragino Sans" pitchFamily="34" charset="0"/>
                <a:ea typeface="Hiragino Sans" pitchFamily="34" charset="-122"/>
                <a:cs typeface="Hiragino Sans" pitchFamily="34" charset="-120"/>
              </a:rPr>
              <a:t>→ 無いものは推定と明記して分離保持する（捏造ゼロ）</a:t>
            </a:r>
            <a:endParaRPr lang="en-US" sz="1000" dirty="0"/>
          </a:p>
        </p:txBody>
      </p:sp>
      <p:sp>
        <p:nvSpPr>
          <p:cNvPr id="14" name="Text 11"/>
          <p:cNvSpPr/>
          <p:nvPr/>
        </p:nvSpPr>
        <p:spPr>
          <a:xfrm>
            <a:off x="640080" y="6510528"/>
            <a:ext cx="5486400" cy="256032"/>
          </a:xfrm>
          <a:prstGeom prst="rect">
            <a:avLst/>
          </a:prstGeom>
          <a:noFill/>
          <a:ln/>
        </p:spPr>
        <p:txBody>
          <a:bodyPr wrap="square" lIns="0" tIns="0" rIns="0" bIns="0" rtlCol="0" anchor="ctr"/>
          <a:lstStyle/>
          <a:p>
            <a:pPr indent="0" marL="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15" name="Text 12"/>
          <p:cNvSpPr/>
          <p:nvPr/>
        </p:nvSpPr>
        <p:spPr>
          <a:xfrm>
            <a:off x="9692640" y="6510528"/>
            <a:ext cx="1463040" cy="256032"/>
          </a:xfrm>
          <a:prstGeom prst="rect">
            <a:avLst/>
          </a:prstGeom>
          <a:noFill/>
          <a:ln/>
        </p:spPr>
        <p:txBody>
          <a:bodyPr wrap="square" lIns="0" tIns="0" rIns="0" bIns="0" rtlCol="0" anchor="ctr"/>
          <a:lstStyle/>
          <a:p>
            <a:pPr algn="r" indent="0" marL="0">
              <a:buNone/>
            </a:pPr>
            <a:r>
              <a:rPr lang="en-US" sz="900" dirty="0">
                <a:solidFill>
                  <a:srgbClr val="55555F"/>
                </a:solidFill>
                <a:latin typeface="Helvetica Neue" pitchFamily="34" charset="0"/>
                <a:ea typeface="Helvetica Neue" pitchFamily="34" charset="-122"/>
                <a:cs typeface="Helvetica Neue" pitchFamily="34" charset="-120"/>
              </a:rPr>
              <a:t>1:00</a:t>
            </a:r>
            <a:endParaRPr lang="en-US" sz="900" dirty="0"/>
          </a:p>
        </p:txBody>
      </p:sp>
      <p:sp>
        <p:nvSpPr>
          <p:cNvPr id="16" name="Text 13"/>
          <p:cNvSpPr/>
          <p:nvPr/>
        </p:nvSpPr>
        <p:spPr>
          <a:xfrm>
            <a:off x="11338560" y="6510528"/>
            <a:ext cx="457200" cy="256032"/>
          </a:xfrm>
          <a:prstGeom prst="rect">
            <a:avLst/>
          </a:prstGeom>
          <a:noFill/>
          <a:ln/>
        </p:spPr>
        <p:txBody>
          <a:bodyPr wrap="square" lIns="0" tIns="0" rIns="0" bIns="0" rtlCol="0" anchor="ctr"/>
          <a:lstStyle/>
          <a:p>
            <a:pPr algn="r" indent="0" marL="0">
              <a:buNone/>
            </a:pPr>
            <a:r>
              <a:rPr lang="en-US" sz="1000" dirty="0">
                <a:solidFill>
                  <a:srgbClr val="55555F"/>
                </a:solidFill>
                <a:latin typeface="Helvetica Neue" pitchFamily="34" charset="0"/>
                <a:ea typeface="Helvetica Neue" pitchFamily="34" charset="-122"/>
                <a:cs typeface="Helvetica Neue"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1E2761"/>
          </a:solidFill>
          <a:ln/>
        </p:spPr>
      </p:sp>
      <p:sp>
        <p:nvSpPr>
          <p:cNvPr id="3" name="Text 1"/>
          <p:cNvSpPr/>
          <p:nvPr/>
        </p:nvSpPr>
        <p:spPr>
          <a:xfrm>
            <a:off x="621792" y="347472"/>
            <a:ext cx="19202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Hiragino Sans" pitchFamily="34" charset="0"/>
                <a:ea typeface="Hiragino Sans" pitchFamily="34" charset="-122"/>
                <a:cs typeface="Hiragino Sans" pitchFamily="34" charset="-120"/>
              </a:rPr>
              <a:t>序</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indent="0" marL="0">
              <a:buNone/>
            </a:pPr>
            <a:r>
              <a:rPr lang="en-US" sz="2100" b="1" dirty="0">
                <a:solidFill>
                  <a:srgbClr val="1A1A1A"/>
                </a:solidFill>
                <a:latin typeface="Hiragino Sans" pitchFamily="34" charset="0"/>
                <a:ea typeface="Hiragino Sans" pitchFamily="34" charset="-122"/>
                <a:cs typeface="Hiragino Sans" pitchFamily="34" charset="-120"/>
              </a:rPr>
              <a:t>6ヶ月の道筋：5幕 — 各幕は前の幕が露わにした問いに答える</a:t>
            </a:r>
            <a:endParaRPr lang="en-US" sz="2100" dirty="0"/>
          </a:p>
        </p:txBody>
      </p:sp>
      <p:sp>
        <p:nvSpPr>
          <p:cNvPr id="5" name="Shape 3"/>
          <p:cNvSpPr/>
          <p:nvPr/>
        </p:nvSpPr>
        <p:spPr>
          <a:xfrm>
            <a:off x="658368" y="1234440"/>
            <a:ext cx="2084832" cy="2880360"/>
          </a:xfrm>
          <a:prstGeom prst="roundRect">
            <a:avLst>
              <a:gd name="adj" fmla="val 3070"/>
            </a:avLst>
          </a:prstGeom>
          <a:solidFill>
            <a:srgbClr val="F4F4F6"/>
          </a:solidFill>
          <a:ln/>
        </p:spPr>
      </p:sp>
      <p:sp>
        <p:nvSpPr>
          <p:cNvPr id="6" name="Shape 4"/>
          <p:cNvSpPr/>
          <p:nvPr/>
        </p:nvSpPr>
        <p:spPr>
          <a:xfrm>
            <a:off x="658368" y="1234440"/>
            <a:ext cx="2084832" cy="109728"/>
          </a:xfrm>
          <a:prstGeom prst="rect">
            <a:avLst/>
          </a:prstGeom>
          <a:solidFill>
            <a:srgbClr val="9A9AA6"/>
          </a:solidFill>
          <a:ln/>
        </p:spPr>
      </p:sp>
      <p:sp>
        <p:nvSpPr>
          <p:cNvPr id="7" name="Text 5"/>
          <p:cNvSpPr/>
          <p:nvPr/>
        </p:nvSpPr>
        <p:spPr>
          <a:xfrm>
            <a:off x="795528" y="1444752"/>
            <a:ext cx="1828800" cy="274320"/>
          </a:xfrm>
          <a:prstGeom prst="rect">
            <a:avLst/>
          </a:prstGeom>
          <a:noFill/>
          <a:ln/>
        </p:spPr>
        <p:txBody>
          <a:bodyPr wrap="square" lIns="0" tIns="0" rIns="0" bIns="0" rtlCol="0" anchor="ctr"/>
          <a:lstStyle/>
          <a:p>
            <a:pPr indent="0" marL="0">
              <a:buNone/>
            </a:pPr>
            <a:r>
              <a:rPr lang="en-US" sz="1050" b="1" dirty="0">
                <a:solidFill>
                  <a:srgbClr val="55555F"/>
                </a:solidFill>
                <a:latin typeface="Helvetica Neue" pitchFamily="34" charset="0"/>
                <a:ea typeface="Helvetica Neue" pitchFamily="34" charset="-122"/>
                <a:cs typeface="Helvetica Neue" pitchFamily="34" charset="-120"/>
              </a:rPr>
              <a:t>第1幕　v1.0</a:t>
            </a:r>
            <a:endParaRPr lang="en-US" sz="1050" dirty="0"/>
          </a:p>
        </p:txBody>
      </p:sp>
      <p:sp>
        <p:nvSpPr>
          <p:cNvPr id="8" name="Text 6"/>
          <p:cNvSpPr/>
          <p:nvPr/>
        </p:nvSpPr>
        <p:spPr>
          <a:xfrm>
            <a:off x="795528" y="1737360"/>
            <a:ext cx="1828800" cy="777240"/>
          </a:xfrm>
          <a:prstGeom prst="rect">
            <a:avLst/>
          </a:prstGeom>
          <a:noFill/>
          <a:ln/>
        </p:spPr>
        <p:txBody>
          <a:bodyPr wrap="square" lIns="0" tIns="0" rIns="0" bIns="0" rtlCol="0" anchor="ctr"/>
          <a:lstStyle/>
          <a:p>
            <a:pPr indent="0" marL="0">
              <a:lnSpc>
                <a:spcPts val="1900"/>
              </a:lnSpc>
              <a:buNone/>
            </a:pPr>
            <a:r>
              <a:rPr lang="en-US" sz="1450" b="1" dirty="0">
                <a:solidFill>
                  <a:srgbClr val="1A1A1A"/>
                </a:solidFill>
                <a:latin typeface="Hiragino Sans" pitchFamily="34" charset="0"/>
                <a:ea typeface="Hiragino Sans" pitchFamily="34" charset="-122"/>
                <a:cs typeface="Hiragino Sans" pitchFamily="34" charset="-120"/>
              </a:rPr>
              <a:t>地理を掘る</a:t>
            </a:r>
            <a:endParaRPr lang="en-US" sz="1450" dirty="0"/>
          </a:p>
        </p:txBody>
      </p:sp>
      <p:sp>
        <p:nvSpPr>
          <p:cNvPr id="9" name="Text 7"/>
          <p:cNvSpPr/>
          <p:nvPr/>
        </p:nvSpPr>
        <p:spPr>
          <a:xfrm>
            <a:off x="795528" y="2606040"/>
            <a:ext cx="1828800" cy="822960"/>
          </a:xfrm>
          <a:prstGeom prst="rect">
            <a:avLst/>
          </a:prstGeom>
          <a:noFill/>
          <a:ln/>
        </p:spPr>
        <p:txBody>
          <a:bodyPr wrap="square" lIns="0" tIns="0" rIns="0" bIns="0" rtlCol="0" anchor="ctr"/>
          <a:lstStyle/>
          <a:p>
            <a:pPr indent="0" marL="0">
              <a:lnSpc>
                <a:spcPts val="1400"/>
              </a:lnSpc>
              <a:buNone/>
            </a:pPr>
            <a:r>
              <a:rPr lang="en-US" sz="1000" dirty="0">
                <a:solidFill>
                  <a:srgbClr val="55555F"/>
                </a:solidFill>
                <a:latin typeface="Hiragino Sans" pitchFamily="34" charset="0"/>
                <a:ea typeface="Hiragino Sans" pitchFamily="34" charset="-122"/>
                <a:cs typeface="Hiragino Sans" pitchFamily="34" charset="-120"/>
              </a:rPr>
              <a:t>OSM抽出・7段補完・UC/PF一式</a:t>
            </a:r>
            <a:endParaRPr lang="en-US" sz="1000" dirty="0"/>
          </a:p>
        </p:txBody>
      </p:sp>
      <p:sp>
        <p:nvSpPr>
          <p:cNvPr id="10" name="Text 8"/>
          <p:cNvSpPr/>
          <p:nvPr/>
        </p:nvSpPr>
        <p:spPr>
          <a:xfrm>
            <a:off x="795528" y="3520440"/>
            <a:ext cx="1828800" cy="548640"/>
          </a:xfrm>
          <a:prstGeom prst="rect">
            <a:avLst/>
          </a:prstGeom>
          <a:noFill/>
          <a:ln/>
        </p:spPr>
        <p:txBody>
          <a:bodyPr wrap="square" lIns="0" tIns="0" rIns="0" bIns="0" rtlCol="0" anchor="ctr"/>
          <a:lstStyle/>
          <a:p>
            <a:pPr indent="0" marL="0">
              <a:lnSpc>
                <a:spcPts val="1300"/>
              </a:lnSpc>
              <a:buNone/>
            </a:pPr>
            <a:r>
              <a:rPr lang="en-US" sz="950" i="1" dirty="0">
                <a:solidFill>
                  <a:srgbClr val="1E2761"/>
                </a:solidFill>
                <a:latin typeface="Hiragino Sans" pitchFamily="34" charset="0"/>
                <a:ea typeface="Hiragino Sans" pitchFamily="34" charset="-122"/>
                <a:cs typeface="Hiragino Sans" pitchFamily="34" charset="-120"/>
              </a:rPr>
              <a:t>「地図はある」→ モデルにした</a:t>
            </a:r>
            <a:endParaRPr lang="en-US" sz="950" dirty="0"/>
          </a:p>
        </p:txBody>
      </p:sp>
      <p:sp>
        <p:nvSpPr>
          <p:cNvPr id="11" name="Shape 9"/>
          <p:cNvSpPr/>
          <p:nvPr/>
        </p:nvSpPr>
        <p:spPr>
          <a:xfrm>
            <a:off x="2871216" y="1234440"/>
            <a:ext cx="2084832" cy="2880360"/>
          </a:xfrm>
          <a:prstGeom prst="roundRect">
            <a:avLst>
              <a:gd name="adj" fmla="val 3070"/>
            </a:avLst>
          </a:prstGeom>
          <a:solidFill>
            <a:srgbClr val="F4F4F6"/>
          </a:solidFill>
          <a:ln/>
        </p:spPr>
      </p:sp>
      <p:sp>
        <p:nvSpPr>
          <p:cNvPr id="12" name="Shape 10"/>
          <p:cNvSpPr/>
          <p:nvPr/>
        </p:nvSpPr>
        <p:spPr>
          <a:xfrm>
            <a:off x="2871216" y="1234440"/>
            <a:ext cx="2084832" cy="109728"/>
          </a:xfrm>
          <a:prstGeom prst="rect">
            <a:avLst/>
          </a:prstGeom>
          <a:solidFill>
            <a:srgbClr val="17BECF"/>
          </a:solidFill>
          <a:ln/>
        </p:spPr>
      </p:sp>
      <p:sp>
        <p:nvSpPr>
          <p:cNvPr id="13" name="Text 11"/>
          <p:cNvSpPr/>
          <p:nvPr/>
        </p:nvSpPr>
        <p:spPr>
          <a:xfrm>
            <a:off x="3008376" y="1444752"/>
            <a:ext cx="1828800" cy="274320"/>
          </a:xfrm>
          <a:prstGeom prst="rect">
            <a:avLst/>
          </a:prstGeom>
          <a:noFill/>
          <a:ln/>
        </p:spPr>
        <p:txBody>
          <a:bodyPr wrap="square" lIns="0" tIns="0" rIns="0" bIns="0" rtlCol="0" anchor="ctr"/>
          <a:lstStyle/>
          <a:p>
            <a:pPr indent="0" marL="0">
              <a:buNone/>
            </a:pPr>
            <a:r>
              <a:rPr lang="en-US" sz="1050" b="1" dirty="0">
                <a:solidFill>
                  <a:srgbClr val="55555F"/>
                </a:solidFill>
                <a:latin typeface="Helvetica Neue" pitchFamily="34" charset="0"/>
                <a:ea typeface="Helvetica Neue" pitchFamily="34" charset="-122"/>
                <a:cs typeface="Helvetica Neue" pitchFamily="34" charset="-120"/>
              </a:rPr>
              <a:t>第2幕　v1.1–1.4</a:t>
            </a:r>
            <a:endParaRPr lang="en-US" sz="1050" dirty="0"/>
          </a:p>
        </p:txBody>
      </p:sp>
      <p:sp>
        <p:nvSpPr>
          <p:cNvPr id="14" name="Text 12"/>
          <p:cNvSpPr/>
          <p:nvPr/>
        </p:nvSpPr>
        <p:spPr>
          <a:xfrm>
            <a:off x="3008376" y="1737360"/>
            <a:ext cx="1828800" cy="777240"/>
          </a:xfrm>
          <a:prstGeom prst="rect">
            <a:avLst/>
          </a:prstGeom>
          <a:noFill/>
          <a:ln/>
        </p:spPr>
        <p:txBody>
          <a:bodyPr wrap="square" lIns="0" tIns="0" rIns="0" bIns="0" rtlCol="0" anchor="ctr"/>
          <a:lstStyle/>
          <a:p>
            <a:pPr indent="0" marL="0">
              <a:lnSpc>
                <a:spcPts val="1900"/>
              </a:lnSpc>
              <a:buNone/>
            </a:pPr>
            <a:r>
              <a:rPr lang="en-US" sz="1450" b="1" dirty="0">
                <a:solidFill>
                  <a:srgbClr val="1A1A1A"/>
                </a:solidFill>
                <a:latin typeface="Hiragino Sans" pitchFamily="34" charset="0"/>
                <a:ea typeface="Hiragino Sans" pitchFamily="34" charset="-122"/>
                <a:cs typeface="Hiragino Sans" pitchFamily="34" charset="-120"/>
              </a:rPr>
              <a:t>電気にして</a:t>
            </a:r>
            <a:endParaRPr lang="en-US" sz="1450" dirty="0"/>
          </a:p>
          <a:p>
            <a:pPr indent="0" marL="0">
              <a:lnSpc>
                <a:spcPts val="1900"/>
              </a:lnSpc>
              <a:buNone/>
            </a:pPr>
            <a:r>
              <a:rPr lang="en-US" sz="1450" b="1" dirty="0">
                <a:solidFill>
                  <a:srgbClr val="1A1A1A"/>
                </a:solidFill>
                <a:latin typeface="Hiragino Sans" pitchFamily="34" charset="0"/>
                <a:ea typeface="Hiragino Sans" pitchFamily="34" charset="-122"/>
                <a:cs typeface="Hiragino Sans" pitchFamily="34" charset="-120"/>
              </a:rPr>
              <a:t>標準で渡す</a:t>
            </a:r>
            <a:endParaRPr lang="en-US" sz="1450" dirty="0"/>
          </a:p>
        </p:txBody>
      </p:sp>
      <p:sp>
        <p:nvSpPr>
          <p:cNvPr id="15" name="Text 13"/>
          <p:cNvSpPr/>
          <p:nvPr/>
        </p:nvSpPr>
        <p:spPr>
          <a:xfrm>
            <a:off x="3008376" y="2606040"/>
            <a:ext cx="1828800" cy="822960"/>
          </a:xfrm>
          <a:prstGeom prst="rect">
            <a:avLst/>
          </a:prstGeom>
          <a:noFill/>
          <a:ln/>
        </p:spPr>
        <p:txBody>
          <a:bodyPr wrap="square" lIns="0" tIns="0" rIns="0" bIns="0" rtlCol="0" anchor="ctr"/>
          <a:lstStyle/>
          <a:p>
            <a:pPr indent="0" marL="0">
              <a:lnSpc>
                <a:spcPts val="1400"/>
              </a:lnSpc>
              <a:buNone/>
            </a:pPr>
            <a:r>
              <a:rPr lang="en-US" sz="1000" dirty="0">
                <a:solidFill>
                  <a:srgbClr val="55555F"/>
                </a:solidFill>
                <a:latin typeface="Hiragino Sans" pitchFamily="34" charset="0"/>
                <a:ea typeface="Hiragino Sans" pitchFamily="34" charset="-122"/>
                <a:cs typeface="Hiragino Sans" pitchFamily="34" charset="-120"/>
              </a:rPr>
              <a:t>CIM/CGMES・統一DB・全10地域AC</a:t>
            </a:r>
            <a:endParaRPr lang="en-US" sz="1000" dirty="0"/>
          </a:p>
        </p:txBody>
      </p:sp>
      <p:sp>
        <p:nvSpPr>
          <p:cNvPr id="16" name="Text 14"/>
          <p:cNvSpPr/>
          <p:nvPr/>
        </p:nvSpPr>
        <p:spPr>
          <a:xfrm>
            <a:off x="3008376" y="3520440"/>
            <a:ext cx="1828800" cy="548640"/>
          </a:xfrm>
          <a:prstGeom prst="rect">
            <a:avLst/>
          </a:prstGeom>
          <a:noFill/>
          <a:ln/>
        </p:spPr>
        <p:txBody>
          <a:bodyPr wrap="square" lIns="0" tIns="0" rIns="0" bIns="0" rtlCol="0" anchor="ctr"/>
          <a:lstStyle/>
          <a:p>
            <a:pPr indent="0" marL="0">
              <a:lnSpc>
                <a:spcPts val="1300"/>
              </a:lnSpc>
              <a:buNone/>
            </a:pPr>
            <a:r>
              <a:rPr lang="en-US" sz="950" i="1" dirty="0">
                <a:solidFill>
                  <a:srgbClr val="1E2761"/>
                </a:solidFill>
                <a:latin typeface="Hiragino Sans" pitchFamily="34" charset="0"/>
                <a:ea typeface="Hiragino Sans" pitchFamily="34" charset="-122"/>
                <a:cs typeface="Hiragino Sans" pitchFamily="34" charset="-120"/>
              </a:rPr>
              <a:t>作れた → 解けるのか？</a:t>
            </a:r>
            <a:endParaRPr lang="en-US" sz="950" dirty="0"/>
          </a:p>
        </p:txBody>
      </p:sp>
      <p:sp>
        <p:nvSpPr>
          <p:cNvPr id="17" name="Shape 15"/>
          <p:cNvSpPr/>
          <p:nvPr/>
        </p:nvSpPr>
        <p:spPr>
          <a:xfrm>
            <a:off x="5084064" y="1234440"/>
            <a:ext cx="2084832" cy="2880360"/>
          </a:xfrm>
          <a:prstGeom prst="roundRect">
            <a:avLst>
              <a:gd name="adj" fmla="val 3070"/>
            </a:avLst>
          </a:prstGeom>
          <a:solidFill>
            <a:srgbClr val="F4F4F6"/>
          </a:solidFill>
          <a:ln/>
        </p:spPr>
      </p:sp>
      <p:sp>
        <p:nvSpPr>
          <p:cNvPr id="18" name="Shape 16"/>
          <p:cNvSpPr/>
          <p:nvPr/>
        </p:nvSpPr>
        <p:spPr>
          <a:xfrm>
            <a:off x="5084064" y="1234440"/>
            <a:ext cx="2084832" cy="109728"/>
          </a:xfrm>
          <a:prstGeom prst="rect">
            <a:avLst/>
          </a:prstGeom>
          <a:solidFill>
            <a:srgbClr val="9467BD"/>
          </a:solidFill>
          <a:ln/>
        </p:spPr>
      </p:sp>
      <p:sp>
        <p:nvSpPr>
          <p:cNvPr id="19" name="Text 17"/>
          <p:cNvSpPr/>
          <p:nvPr/>
        </p:nvSpPr>
        <p:spPr>
          <a:xfrm>
            <a:off x="5221224" y="1444752"/>
            <a:ext cx="1828800" cy="274320"/>
          </a:xfrm>
          <a:prstGeom prst="rect">
            <a:avLst/>
          </a:prstGeom>
          <a:noFill/>
          <a:ln/>
        </p:spPr>
        <p:txBody>
          <a:bodyPr wrap="square" lIns="0" tIns="0" rIns="0" bIns="0" rtlCol="0" anchor="ctr"/>
          <a:lstStyle/>
          <a:p>
            <a:pPr indent="0" marL="0">
              <a:buNone/>
            </a:pPr>
            <a:r>
              <a:rPr lang="en-US" sz="1050" b="1" dirty="0">
                <a:solidFill>
                  <a:srgbClr val="55555F"/>
                </a:solidFill>
                <a:latin typeface="Helvetica Neue" pitchFamily="34" charset="0"/>
                <a:ea typeface="Helvetica Neue" pitchFamily="34" charset="-122"/>
                <a:cs typeface="Helvetica Neue" pitchFamily="34" charset="-120"/>
              </a:rPr>
              <a:t>第3幕　v1.5–1.6</a:t>
            </a:r>
            <a:endParaRPr lang="en-US" sz="1050" dirty="0"/>
          </a:p>
        </p:txBody>
      </p:sp>
      <p:sp>
        <p:nvSpPr>
          <p:cNvPr id="20" name="Text 18"/>
          <p:cNvSpPr/>
          <p:nvPr/>
        </p:nvSpPr>
        <p:spPr>
          <a:xfrm>
            <a:off x="5221224" y="1737360"/>
            <a:ext cx="1828800" cy="777240"/>
          </a:xfrm>
          <a:prstGeom prst="rect">
            <a:avLst/>
          </a:prstGeom>
          <a:noFill/>
          <a:ln/>
        </p:spPr>
        <p:txBody>
          <a:bodyPr wrap="square" lIns="0" tIns="0" rIns="0" bIns="0" rtlCol="0" anchor="ctr"/>
          <a:lstStyle/>
          <a:p>
            <a:pPr indent="0" marL="0">
              <a:lnSpc>
                <a:spcPts val="1900"/>
              </a:lnSpc>
              <a:buNone/>
            </a:pPr>
            <a:r>
              <a:rPr lang="en-US" sz="1450" b="1" dirty="0">
                <a:solidFill>
                  <a:srgbClr val="1A1A1A"/>
                </a:solidFill>
                <a:latin typeface="Hiragino Sans" pitchFamily="34" charset="0"/>
                <a:ea typeface="Hiragino Sans" pitchFamily="34" charset="-122"/>
                <a:cs typeface="Hiragino Sans" pitchFamily="34" charset="-120"/>
              </a:rPr>
              <a:t>誠実さを</a:t>
            </a:r>
            <a:endParaRPr lang="en-US" sz="1450" dirty="0"/>
          </a:p>
          <a:p>
            <a:pPr indent="0" marL="0">
              <a:lnSpc>
                <a:spcPts val="1900"/>
              </a:lnSpc>
              <a:buNone/>
            </a:pPr>
            <a:r>
              <a:rPr lang="en-US" sz="1450" b="1" dirty="0">
                <a:solidFill>
                  <a:srgbClr val="1A1A1A"/>
                </a:solidFill>
                <a:latin typeface="Hiragino Sans" pitchFamily="34" charset="0"/>
                <a:ea typeface="Hiragino Sans" pitchFamily="34" charset="-122"/>
                <a:cs typeface="Hiragino Sans" pitchFamily="34" charset="-120"/>
              </a:rPr>
              <a:t>制度にする</a:t>
            </a:r>
            <a:endParaRPr lang="en-US" sz="1450" dirty="0"/>
          </a:p>
        </p:txBody>
      </p:sp>
      <p:sp>
        <p:nvSpPr>
          <p:cNvPr id="21" name="Text 19"/>
          <p:cNvSpPr/>
          <p:nvPr/>
        </p:nvSpPr>
        <p:spPr>
          <a:xfrm>
            <a:off x="5221224" y="2606040"/>
            <a:ext cx="1828800" cy="822960"/>
          </a:xfrm>
          <a:prstGeom prst="rect">
            <a:avLst/>
          </a:prstGeom>
          <a:noFill/>
          <a:ln/>
        </p:spPr>
        <p:txBody>
          <a:bodyPr wrap="square" lIns="0" tIns="0" rIns="0" bIns="0" rtlCol="0" anchor="ctr"/>
          <a:lstStyle/>
          <a:p>
            <a:pPr indent="0" marL="0">
              <a:lnSpc>
                <a:spcPts val="1400"/>
              </a:lnSpc>
              <a:buNone/>
            </a:pPr>
            <a:r>
              <a:rPr lang="en-US" sz="1000" dirty="0">
                <a:solidFill>
                  <a:srgbClr val="55555F"/>
                </a:solidFill>
                <a:latin typeface="Hiragino Sans" pitchFamily="34" charset="0"/>
                <a:ea typeface="Hiragino Sans" pitchFamily="34" charset="-122"/>
                <a:cs typeface="Hiragino Sans" pitchFamily="34" charset="-120"/>
              </a:rPr>
              <a:t>介入台帳・fake-AC検出・二重抽出根治</a:t>
            </a:r>
            <a:endParaRPr lang="en-US" sz="1000" dirty="0"/>
          </a:p>
        </p:txBody>
      </p:sp>
      <p:sp>
        <p:nvSpPr>
          <p:cNvPr id="22" name="Text 20"/>
          <p:cNvSpPr/>
          <p:nvPr/>
        </p:nvSpPr>
        <p:spPr>
          <a:xfrm>
            <a:off x="5221224" y="3520440"/>
            <a:ext cx="1828800" cy="548640"/>
          </a:xfrm>
          <a:prstGeom prst="rect">
            <a:avLst/>
          </a:prstGeom>
          <a:noFill/>
          <a:ln/>
        </p:spPr>
        <p:txBody>
          <a:bodyPr wrap="square" lIns="0" tIns="0" rIns="0" bIns="0" rtlCol="0" anchor="ctr"/>
          <a:lstStyle/>
          <a:p>
            <a:pPr indent="0" marL="0">
              <a:lnSpc>
                <a:spcPts val="1300"/>
              </a:lnSpc>
              <a:buNone/>
            </a:pPr>
            <a:r>
              <a:rPr lang="en-US" sz="950" i="1" dirty="0">
                <a:solidFill>
                  <a:srgbClr val="1E2761"/>
                </a:solidFill>
                <a:latin typeface="Hiragino Sans" pitchFamily="34" charset="0"/>
                <a:ea typeface="Hiragino Sans" pitchFamily="34" charset="-122"/>
                <a:cs typeface="Hiragino Sans" pitchFamily="34" charset="-120"/>
              </a:rPr>
              <a:t>解けた → 本当か？</a:t>
            </a:r>
            <a:endParaRPr lang="en-US" sz="950" dirty="0"/>
          </a:p>
        </p:txBody>
      </p:sp>
      <p:sp>
        <p:nvSpPr>
          <p:cNvPr id="23" name="Shape 21"/>
          <p:cNvSpPr/>
          <p:nvPr/>
        </p:nvSpPr>
        <p:spPr>
          <a:xfrm>
            <a:off x="7296912" y="1234440"/>
            <a:ext cx="2084832" cy="2880360"/>
          </a:xfrm>
          <a:prstGeom prst="roundRect">
            <a:avLst>
              <a:gd name="adj" fmla="val 3070"/>
            </a:avLst>
          </a:prstGeom>
          <a:solidFill>
            <a:srgbClr val="F4F4F6"/>
          </a:solidFill>
          <a:ln/>
        </p:spPr>
      </p:sp>
      <p:sp>
        <p:nvSpPr>
          <p:cNvPr id="24" name="Shape 22"/>
          <p:cNvSpPr/>
          <p:nvPr/>
        </p:nvSpPr>
        <p:spPr>
          <a:xfrm>
            <a:off x="7296912" y="1234440"/>
            <a:ext cx="2084832" cy="109728"/>
          </a:xfrm>
          <a:prstGeom prst="rect">
            <a:avLst/>
          </a:prstGeom>
          <a:solidFill>
            <a:srgbClr val="FF7F0E"/>
          </a:solidFill>
          <a:ln/>
        </p:spPr>
      </p:sp>
      <p:sp>
        <p:nvSpPr>
          <p:cNvPr id="25" name="Text 23"/>
          <p:cNvSpPr/>
          <p:nvPr/>
        </p:nvSpPr>
        <p:spPr>
          <a:xfrm>
            <a:off x="7434072" y="1444752"/>
            <a:ext cx="1828800" cy="274320"/>
          </a:xfrm>
          <a:prstGeom prst="rect">
            <a:avLst/>
          </a:prstGeom>
          <a:noFill/>
          <a:ln/>
        </p:spPr>
        <p:txBody>
          <a:bodyPr wrap="square" lIns="0" tIns="0" rIns="0" bIns="0" rtlCol="0" anchor="ctr"/>
          <a:lstStyle/>
          <a:p>
            <a:pPr indent="0" marL="0">
              <a:buNone/>
            </a:pPr>
            <a:r>
              <a:rPr lang="en-US" sz="1050" b="1" dirty="0">
                <a:solidFill>
                  <a:srgbClr val="55555F"/>
                </a:solidFill>
                <a:latin typeface="Helvetica Neue" pitchFamily="34" charset="0"/>
                <a:ea typeface="Helvetica Neue" pitchFamily="34" charset="-122"/>
                <a:cs typeface="Helvetica Neue" pitchFamily="34" charset="-120"/>
              </a:rPr>
              <a:t>第4幕　v1.7</a:t>
            </a:r>
            <a:endParaRPr lang="en-US" sz="1050" dirty="0"/>
          </a:p>
        </p:txBody>
      </p:sp>
      <p:sp>
        <p:nvSpPr>
          <p:cNvPr id="26" name="Text 24"/>
          <p:cNvSpPr/>
          <p:nvPr/>
        </p:nvSpPr>
        <p:spPr>
          <a:xfrm>
            <a:off x="7434072" y="1737360"/>
            <a:ext cx="1828800" cy="777240"/>
          </a:xfrm>
          <a:prstGeom prst="rect">
            <a:avLst/>
          </a:prstGeom>
          <a:noFill/>
          <a:ln/>
        </p:spPr>
        <p:txBody>
          <a:bodyPr wrap="square" lIns="0" tIns="0" rIns="0" bIns="0" rtlCol="0" anchor="ctr"/>
          <a:lstStyle/>
          <a:p>
            <a:pPr indent="0" marL="0">
              <a:lnSpc>
                <a:spcPts val="1900"/>
              </a:lnSpc>
              <a:buNone/>
            </a:pPr>
            <a:r>
              <a:rPr lang="en-US" sz="1450" b="1" dirty="0">
                <a:solidFill>
                  <a:srgbClr val="1A1A1A"/>
                </a:solidFill>
                <a:latin typeface="Hiragino Sans" pitchFamily="34" charset="0"/>
                <a:ea typeface="Hiragino Sans" pitchFamily="34" charset="-122"/>
                <a:cs typeface="Hiragino Sans" pitchFamily="34" charset="-120"/>
              </a:rPr>
              <a:t>公式開示と</a:t>
            </a:r>
            <a:endParaRPr lang="en-US" sz="1450" dirty="0"/>
          </a:p>
          <a:p>
            <a:pPr indent="0" marL="0">
              <a:lnSpc>
                <a:spcPts val="1900"/>
              </a:lnSpc>
              <a:buNone/>
            </a:pPr>
            <a:r>
              <a:rPr lang="en-US" sz="1450" b="1" dirty="0">
                <a:solidFill>
                  <a:srgbClr val="1A1A1A"/>
                </a:solidFill>
                <a:latin typeface="Hiragino Sans" pitchFamily="34" charset="0"/>
                <a:ea typeface="Hiragino Sans" pitchFamily="34" charset="-122"/>
                <a:cs typeface="Hiragino Sans" pitchFamily="34" charset="-120"/>
              </a:rPr>
              <a:t>接続する</a:t>
            </a:r>
            <a:endParaRPr lang="en-US" sz="1450" dirty="0"/>
          </a:p>
        </p:txBody>
      </p:sp>
      <p:sp>
        <p:nvSpPr>
          <p:cNvPr id="27" name="Text 25"/>
          <p:cNvSpPr/>
          <p:nvPr/>
        </p:nvSpPr>
        <p:spPr>
          <a:xfrm>
            <a:off x="7434072" y="2606040"/>
            <a:ext cx="1828800" cy="822960"/>
          </a:xfrm>
          <a:prstGeom prst="rect">
            <a:avLst/>
          </a:prstGeom>
          <a:noFill/>
          <a:ln/>
        </p:spPr>
        <p:txBody>
          <a:bodyPr wrap="square" lIns="0" tIns="0" rIns="0" bIns="0" rtlCol="0" anchor="ctr"/>
          <a:lstStyle/>
          <a:p>
            <a:pPr indent="0" marL="0">
              <a:lnSpc>
                <a:spcPts val="1400"/>
              </a:lnSpc>
              <a:buNone/>
            </a:pPr>
            <a:r>
              <a:rPr lang="en-US" sz="1000" dirty="0">
                <a:solidFill>
                  <a:srgbClr val="55555F"/>
                </a:solidFill>
                <a:latin typeface="Hiragino Sans" pitchFamily="34" charset="0"/>
                <a:ea typeface="Hiragino Sans" pitchFamily="34" charset="-122"/>
                <a:cs typeface="Hiragino Sans" pitchFamily="34" charset="-120"/>
              </a:rPr>
              <a:t>様式5・OCCTO容量・実測突合</a:t>
            </a:r>
            <a:endParaRPr lang="en-US" sz="1000" dirty="0"/>
          </a:p>
        </p:txBody>
      </p:sp>
      <p:sp>
        <p:nvSpPr>
          <p:cNvPr id="28" name="Text 26"/>
          <p:cNvSpPr/>
          <p:nvPr/>
        </p:nvSpPr>
        <p:spPr>
          <a:xfrm>
            <a:off x="7434072" y="3520440"/>
            <a:ext cx="1828800" cy="548640"/>
          </a:xfrm>
          <a:prstGeom prst="rect">
            <a:avLst/>
          </a:prstGeom>
          <a:noFill/>
          <a:ln/>
        </p:spPr>
        <p:txBody>
          <a:bodyPr wrap="square" lIns="0" tIns="0" rIns="0" bIns="0" rtlCol="0" anchor="ctr"/>
          <a:lstStyle/>
          <a:p>
            <a:pPr indent="0" marL="0">
              <a:lnSpc>
                <a:spcPts val="1300"/>
              </a:lnSpc>
              <a:buNone/>
            </a:pPr>
            <a:r>
              <a:rPr lang="en-US" sz="950" i="1" dirty="0">
                <a:solidFill>
                  <a:srgbClr val="1E2761"/>
                </a:solidFill>
                <a:latin typeface="Hiragino Sans" pitchFamily="34" charset="0"/>
                <a:ea typeface="Hiragino Sans" pitchFamily="34" charset="-122"/>
                <a:cs typeface="Hiragino Sans" pitchFamily="34" charset="-120"/>
              </a:rPr>
              <a:t>正した → 現実と合うか？</a:t>
            </a:r>
            <a:endParaRPr lang="en-US" sz="950" dirty="0"/>
          </a:p>
        </p:txBody>
      </p:sp>
      <p:sp>
        <p:nvSpPr>
          <p:cNvPr id="29" name="Shape 27"/>
          <p:cNvSpPr/>
          <p:nvPr/>
        </p:nvSpPr>
        <p:spPr>
          <a:xfrm>
            <a:off x="9509760" y="1234440"/>
            <a:ext cx="2084832" cy="2880360"/>
          </a:xfrm>
          <a:prstGeom prst="roundRect">
            <a:avLst>
              <a:gd name="adj" fmla="val 3070"/>
            </a:avLst>
          </a:prstGeom>
          <a:solidFill>
            <a:srgbClr val="F4F4F6"/>
          </a:solidFill>
          <a:ln/>
        </p:spPr>
      </p:sp>
      <p:sp>
        <p:nvSpPr>
          <p:cNvPr id="30" name="Shape 28"/>
          <p:cNvSpPr/>
          <p:nvPr/>
        </p:nvSpPr>
        <p:spPr>
          <a:xfrm>
            <a:off x="9509760" y="1234440"/>
            <a:ext cx="2084832" cy="109728"/>
          </a:xfrm>
          <a:prstGeom prst="rect">
            <a:avLst/>
          </a:prstGeom>
          <a:solidFill>
            <a:srgbClr val="D62728"/>
          </a:solidFill>
          <a:ln/>
        </p:spPr>
      </p:sp>
      <p:sp>
        <p:nvSpPr>
          <p:cNvPr id="31" name="Text 29"/>
          <p:cNvSpPr/>
          <p:nvPr/>
        </p:nvSpPr>
        <p:spPr>
          <a:xfrm>
            <a:off x="9646920" y="1444752"/>
            <a:ext cx="1828800" cy="274320"/>
          </a:xfrm>
          <a:prstGeom prst="rect">
            <a:avLst/>
          </a:prstGeom>
          <a:noFill/>
          <a:ln/>
        </p:spPr>
        <p:txBody>
          <a:bodyPr wrap="square" lIns="0" tIns="0" rIns="0" bIns="0" rtlCol="0" anchor="ctr"/>
          <a:lstStyle/>
          <a:p>
            <a:pPr indent="0" marL="0">
              <a:buNone/>
            </a:pPr>
            <a:r>
              <a:rPr lang="en-US" sz="1050" b="1" dirty="0">
                <a:solidFill>
                  <a:srgbClr val="55555F"/>
                </a:solidFill>
                <a:latin typeface="Helvetica Neue" pitchFamily="34" charset="0"/>
                <a:ea typeface="Helvetica Neue" pitchFamily="34" charset="-122"/>
                <a:cs typeface="Helvetica Neue" pitchFamily="34" charset="-120"/>
              </a:rPr>
              <a:t>第5幕　v1.8</a:t>
            </a:r>
            <a:endParaRPr lang="en-US" sz="1050" dirty="0"/>
          </a:p>
        </p:txBody>
      </p:sp>
      <p:sp>
        <p:nvSpPr>
          <p:cNvPr id="32" name="Text 30"/>
          <p:cNvSpPr/>
          <p:nvPr/>
        </p:nvSpPr>
        <p:spPr>
          <a:xfrm>
            <a:off x="9646920" y="1737360"/>
            <a:ext cx="1828800" cy="777240"/>
          </a:xfrm>
          <a:prstGeom prst="rect">
            <a:avLst/>
          </a:prstGeom>
          <a:noFill/>
          <a:ln/>
        </p:spPr>
        <p:txBody>
          <a:bodyPr wrap="square" lIns="0" tIns="0" rIns="0" bIns="0" rtlCol="0" anchor="ctr"/>
          <a:lstStyle/>
          <a:p>
            <a:pPr indent="0" marL="0">
              <a:lnSpc>
                <a:spcPts val="1900"/>
              </a:lnSpc>
              <a:buNone/>
            </a:pPr>
            <a:r>
              <a:rPr lang="en-US" sz="1450" b="1" dirty="0">
                <a:solidFill>
                  <a:srgbClr val="1A1A1A"/>
                </a:solidFill>
                <a:latin typeface="Hiragino Sans" pitchFamily="34" charset="0"/>
                <a:ea typeface="Hiragino Sans" pitchFamily="34" charset="-122"/>
                <a:cs typeface="Hiragino Sans" pitchFamily="34" charset="-120"/>
              </a:rPr>
              <a:t>変電所の</a:t>
            </a:r>
            <a:endParaRPr lang="en-US" sz="1450" dirty="0"/>
          </a:p>
          <a:p>
            <a:pPr indent="0" marL="0">
              <a:lnSpc>
                <a:spcPts val="1900"/>
              </a:lnSpc>
              <a:buNone/>
            </a:pPr>
            <a:r>
              <a:rPr lang="en-US" sz="1450" b="1" dirty="0">
                <a:solidFill>
                  <a:srgbClr val="1A1A1A"/>
                </a:solidFill>
                <a:latin typeface="Hiragino Sans" pitchFamily="34" charset="0"/>
                <a:ea typeface="Hiragino Sans" pitchFamily="34" charset="-122"/>
                <a:cs typeface="Hiragino Sans" pitchFamily="34" charset="-120"/>
              </a:rPr>
              <a:t>中へ</a:t>
            </a:r>
            <a:endParaRPr lang="en-US" sz="1450" dirty="0"/>
          </a:p>
        </p:txBody>
      </p:sp>
      <p:sp>
        <p:nvSpPr>
          <p:cNvPr id="33" name="Text 31"/>
          <p:cNvSpPr/>
          <p:nvPr/>
        </p:nvSpPr>
        <p:spPr>
          <a:xfrm>
            <a:off x="9646920" y="2606040"/>
            <a:ext cx="1828800" cy="822960"/>
          </a:xfrm>
          <a:prstGeom prst="rect">
            <a:avLst/>
          </a:prstGeom>
          <a:noFill/>
          <a:ln/>
        </p:spPr>
        <p:txBody>
          <a:bodyPr wrap="square" lIns="0" tIns="0" rIns="0" bIns="0" rtlCol="0" anchor="ctr"/>
          <a:lstStyle/>
          <a:p>
            <a:pPr indent="0" marL="0">
              <a:lnSpc>
                <a:spcPts val="1400"/>
              </a:lnSpc>
              <a:buNone/>
            </a:pPr>
            <a:r>
              <a:rPr lang="en-US" sz="1000" dirty="0">
                <a:solidFill>
                  <a:srgbClr val="55555F"/>
                </a:solidFill>
                <a:latin typeface="Hiragino Sans" pitchFamily="34" charset="0"/>
                <a:ea typeface="Hiragino Sans" pitchFamily="34" charset="-122"/>
                <a:cs typeface="Hiragino Sans" pitchFamily="34" charset="-120"/>
              </a:rPr>
              <a:t>SubSLD法・実証ペア図・node-breaker</a:t>
            </a:r>
            <a:endParaRPr lang="en-US" sz="1000" dirty="0"/>
          </a:p>
        </p:txBody>
      </p:sp>
      <p:sp>
        <p:nvSpPr>
          <p:cNvPr id="34" name="Text 32"/>
          <p:cNvSpPr/>
          <p:nvPr/>
        </p:nvSpPr>
        <p:spPr>
          <a:xfrm>
            <a:off x="9646920" y="3520440"/>
            <a:ext cx="1828800" cy="548640"/>
          </a:xfrm>
          <a:prstGeom prst="rect">
            <a:avLst/>
          </a:prstGeom>
          <a:noFill/>
          <a:ln/>
        </p:spPr>
        <p:txBody>
          <a:bodyPr wrap="square" lIns="0" tIns="0" rIns="0" bIns="0" rtlCol="0" anchor="ctr"/>
          <a:lstStyle/>
          <a:p>
            <a:pPr indent="0" marL="0">
              <a:lnSpc>
                <a:spcPts val="1300"/>
              </a:lnSpc>
              <a:buNone/>
            </a:pPr>
            <a:r>
              <a:rPr lang="en-US" sz="950" i="1" dirty="0">
                <a:solidFill>
                  <a:srgbClr val="1E2761"/>
                </a:solidFill>
                <a:latin typeface="Hiragino Sans" pitchFamily="34" charset="0"/>
                <a:ea typeface="Hiragino Sans" pitchFamily="34" charset="-122"/>
                <a:cs typeface="Hiragino Sans" pitchFamily="34" charset="-120"/>
              </a:rPr>
              <a:t>網はできた → 最後の暗箱へ</a:t>
            </a:r>
            <a:endParaRPr lang="en-US" sz="950" dirty="0"/>
          </a:p>
        </p:txBody>
      </p:sp>
      <p:sp>
        <p:nvSpPr>
          <p:cNvPr id="35" name="Shape 33"/>
          <p:cNvSpPr/>
          <p:nvPr/>
        </p:nvSpPr>
        <p:spPr>
          <a:xfrm>
            <a:off x="822960" y="4892040"/>
            <a:ext cx="10515600" cy="0"/>
          </a:xfrm>
          <a:prstGeom prst="line">
            <a:avLst/>
          </a:prstGeom>
          <a:noFill/>
          <a:ln w="19050">
            <a:solidFill>
              <a:srgbClr val="1A1A1A"/>
            </a:solidFill>
            <a:prstDash val="solid"/>
          </a:ln>
        </p:spPr>
      </p:sp>
      <p:sp>
        <p:nvSpPr>
          <p:cNvPr id="36" name="Shape 34"/>
          <p:cNvSpPr/>
          <p:nvPr/>
        </p:nvSpPr>
        <p:spPr>
          <a:xfrm>
            <a:off x="822960" y="4837176"/>
            <a:ext cx="0" cy="109728"/>
          </a:xfrm>
          <a:prstGeom prst="line">
            <a:avLst/>
          </a:prstGeom>
          <a:noFill/>
          <a:ln w="12700">
            <a:solidFill>
              <a:srgbClr val="55555F"/>
            </a:solidFill>
            <a:prstDash val="solid"/>
          </a:ln>
        </p:spPr>
      </p:sp>
      <p:sp>
        <p:nvSpPr>
          <p:cNvPr id="37" name="Text 35"/>
          <p:cNvSpPr/>
          <p:nvPr/>
        </p:nvSpPr>
        <p:spPr>
          <a:xfrm>
            <a:off x="548640" y="5020056"/>
            <a:ext cx="731520" cy="228600"/>
          </a:xfrm>
          <a:prstGeom prst="rect">
            <a:avLst/>
          </a:prstGeom>
          <a:noFill/>
          <a:ln/>
        </p:spPr>
        <p:txBody>
          <a:bodyPr wrap="square" lIns="0" tIns="0" rIns="0" bIns="0" rtlCol="0" anchor="ctr"/>
          <a:lstStyle/>
          <a:p>
            <a:pPr indent="0" marL="0">
              <a:buNone/>
            </a:pPr>
            <a:r>
              <a:rPr lang="en-US" sz="950" dirty="0">
                <a:solidFill>
                  <a:srgbClr val="55555F"/>
                </a:solidFill>
                <a:latin typeface="Hiragino Sans" pitchFamily="34" charset="0"/>
                <a:ea typeface="Hiragino Sans" pitchFamily="34" charset="-122"/>
                <a:cs typeface="Hiragino Sans" pitchFamily="34" charset="-120"/>
              </a:rPr>
              <a:t>3月</a:t>
            </a:r>
            <a:endParaRPr lang="en-US" sz="950" dirty="0"/>
          </a:p>
        </p:txBody>
      </p:sp>
      <p:sp>
        <p:nvSpPr>
          <p:cNvPr id="38" name="Shape 36"/>
          <p:cNvSpPr/>
          <p:nvPr/>
        </p:nvSpPr>
        <p:spPr>
          <a:xfrm>
            <a:off x="2594610" y="4837176"/>
            <a:ext cx="0" cy="109728"/>
          </a:xfrm>
          <a:prstGeom prst="line">
            <a:avLst/>
          </a:prstGeom>
          <a:noFill/>
          <a:ln w="12700">
            <a:solidFill>
              <a:srgbClr val="55555F"/>
            </a:solidFill>
            <a:prstDash val="solid"/>
          </a:ln>
        </p:spPr>
      </p:sp>
      <p:sp>
        <p:nvSpPr>
          <p:cNvPr id="39" name="Text 37"/>
          <p:cNvSpPr/>
          <p:nvPr/>
        </p:nvSpPr>
        <p:spPr>
          <a:xfrm>
            <a:off x="2320290" y="5020056"/>
            <a:ext cx="731520" cy="228600"/>
          </a:xfrm>
          <a:prstGeom prst="rect">
            <a:avLst/>
          </a:prstGeom>
          <a:noFill/>
          <a:ln/>
        </p:spPr>
        <p:txBody>
          <a:bodyPr wrap="square" lIns="0" tIns="0" rIns="0" bIns="0" rtlCol="0" anchor="ctr"/>
          <a:lstStyle/>
          <a:p>
            <a:pPr indent="0" marL="0">
              <a:buNone/>
            </a:pPr>
            <a:r>
              <a:rPr lang="en-US" sz="950" dirty="0">
                <a:solidFill>
                  <a:srgbClr val="55555F"/>
                </a:solidFill>
                <a:latin typeface="Hiragino Sans" pitchFamily="34" charset="0"/>
                <a:ea typeface="Hiragino Sans" pitchFamily="34" charset="-122"/>
                <a:cs typeface="Hiragino Sans" pitchFamily="34" charset="-120"/>
              </a:rPr>
              <a:t>4月</a:t>
            </a:r>
            <a:endParaRPr lang="en-US" sz="950" dirty="0"/>
          </a:p>
        </p:txBody>
      </p:sp>
      <p:sp>
        <p:nvSpPr>
          <p:cNvPr id="40" name="Shape 38"/>
          <p:cNvSpPr/>
          <p:nvPr/>
        </p:nvSpPr>
        <p:spPr>
          <a:xfrm>
            <a:off x="4366260" y="4837176"/>
            <a:ext cx="0" cy="109728"/>
          </a:xfrm>
          <a:prstGeom prst="line">
            <a:avLst/>
          </a:prstGeom>
          <a:noFill/>
          <a:ln w="12700">
            <a:solidFill>
              <a:srgbClr val="55555F"/>
            </a:solidFill>
            <a:prstDash val="solid"/>
          </a:ln>
        </p:spPr>
      </p:sp>
      <p:sp>
        <p:nvSpPr>
          <p:cNvPr id="41" name="Text 39"/>
          <p:cNvSpPr/>
          <p:nvPr/>
        </p:nvSpPr>
        <p:spPr>
          <a:xfrm>
            <a:off x="4091940" y="5020056"/>
            <a:ext cx="731520" cy="228600"/>
          </a:xfrm>
          <a:prstGeom prst="rect">
            <a:avLst/>
          </a:prstGeom>
          <a:noFill/>
          <a:ln/>
        </p:spPr>
        <p:txBody>
          <a:bodyPr wrap="square" lIns="0" tIns="0" rIns="0" bIns="0" rtlCol="0" anchor="ctr"/>
          <a:lstStyle/>
          <a:p>
            <a:pPr indent="0" marL="0">
              <a:buNone/>
            </a:pPr>
            <a:r>
              <a:rPr lang="en-US" sz="950" dirty="0">
                <a:solidFill>
                  <a:srgbClr val="55555F"/>
                </a:solidFill>
                <a:latin typeface="Hiragino Sans" pitchFamily="34" charset="0"/>
                <a:ea typeface="Hiragino Sans" pitchFamily="34" charset="-122"/>
                <a:cs typeface="Hiragino Sans" pitchFamily="34" charset="-120"/>
              </a:rPr>
              <a:t>5月</a:t>
            </a:r>
            <a:endParaRPr lang="en-US" sz="950" dirty="0"/>
          </a:p>
        </p:txBody>
      </p:sp>
      <p:sp>
        <p:nvSpPr>
          <p:cNvPr id="42" name="Shape 40"/>
          <p:cNvSpPr/>
          <p:nvPr/>
        </p:nvSpPr>
        <p:spPr>
          <a:xfrm>
            <a:off x="6137910" y="4837176"/>
            <a:ext cx="0" cy="109728"/>
          </a:xfrm>
          <a:prstGeom prst="line">
            <a:avLst/>
          </a:prstGeom>
          <a:noFill/>
          <a:ln w="12700">
            <a:solidFill>
              <a:srgbClr val="55555F"/>
            </a:solidFill>
            <a:prstDash val="solid"/>
          </a:ln>
        </p:spPr>
      </p:sp>
      <p:sp>
        <p:nvSpPr>
          <p:cNvPr id="43" name="Text 41"/>
          <p:cNvSpPr/>
          <p:nvPr/>
        </p:nvSpPr>
        <p:spPr>
          <a:xfrm>
            <a:off x="5863590" y="5020056"/>
            <a:ext cx="731520" cy="228600"/>
          </a:xfrm>
          <a:prstGeom prst="rect">
            <a:avLst/>
          </a:prstGeom>
          <a:noFill/>
          <a:ln/>
        </p:spPr>
        <p:txBody>
          <a:bodyPr wrap="square" lIns="0" tIns="0" rIns="0" bIns="0" rtlCol="0" anchor="ctr"/>
          <a:lstStyle/>
          <a:p>
            <a:pPr indent="0" marL="0">
              <a:buNone/>
            </a:pPr>
            <a:r>
              <a:rPr lang="en-US" sz="950" dirty="0">
                <a:solidFill>
                  <a:srgbClr val="55555F"/>
                </a:solidFill>
                <a:latin typeface="Hiragino Sans" pitchFamily="34" charset="0"/>
                <a:ea typeface="Hiragino Sans" pitchFamily="34" charset="-122"/>
                <a:cs typeface="Hiragino Sans" pitchFamily="34" charset="-120"/>
              </a:rPr>
              <a:t>6月</a:t>
            </a:r>
            <a:endParaRPr lang="en-US" sz="950" dirty="0"/>
          </a:p>
        </p:txBody>
      </p:sp>
      <p:sp>
        <p:nvSpPr>
          <p:cNvPr id="44" name="Shape 42"/>
          <p:cNvSpPr/>
          <p:nvPr/>
        </p:nvSpPr>
        <p:spPr>
          <a:xfrm>
            <a:off x="7909560" y="4837176"/>
            <a:ext cx="0" cy="109728"/>
          </a:xfrm>
          <a:prstGeom prst="line">
            <a:avLst/>
          </a:prstGeom>
          <a:noFill/>
          <a:ln w="12700">
            <a:solidFill>
              <a:srgbClr val="55555F"/>
            </a:solidFill>
            <a:prstDash val="solid"/>
          </a:ln>
        </p:spPr>
      </p:sp>
      <p:sp>
        <p:nvSpPr>
          <p:cNvPr id="45" name="Text 43"/>
          <p:cNvSpPr/>
          <p:nvPr/>
        </p:nvSpPr>
        <p:spPr>
          <a:xfrm>
            <a:off x="7635240" y="5020056"/>
            <a:ext cx="731520" cy="228600"/>
          </a:xfrm>
          <a:prstGeom prst="rect">
            <a:avLst/>
          </a:prstGeom>
          <a:noFill/>
          <a:ln/>
        </p:spPr>
        <p:txBody>
          <a:bodyPr wrap="square" lIns="0" tIns="0" rIns="0" bIns="0" rtlCol="0" anchor="ctr"/>
          <a:lstStyle/>
          <a:p>
            <a:pPr indent="0" marL="0">
              <a:buNone/>
            </a:pPr>
            <a:r>
              <a:rPr lang="en-US" sz="950" dirty="0">
                <a:solidFill>
                  <a:srgbClr val="55555F"/>
                </a:solidFill>
                <a:latin typeface="Hiragino Sans" pitchFamily="34" charset="0"/>
                <a:ea typeface="Hiragino Sans" pitchFamily="34" charset="-122"/>
                <a:cs typeface="Hiragino Sans" pitchFamily="34" charset="-120"/>
              </a:rPr>
              <a:t>7月</a:t>
            </a:r>
            <a:endParaRPr lang="en-US" sz="950" dirty="0"/>
          </a:p>
        </p:txBody>
      </p:sp>
      <p:sp>
        <p:nvSpPr>
          <p:cNvPr id="46" name="Shape 44"/>
          <p:cNvSpPr/>
          <p:nvPr/>
        </p:nvSpPr>
        <p:spPr>
          <a:xfrm>
            <a:off x="9681210" y="4837176"/>
            <a:ext cx="0" cy="109728"/>
          </a:xfrm>
          <a:prstGeom prst="line">
            <a:avLst/>
          </a:prstGeom>
          <a:noFill/>
          <a:ln w="12700">
            <a:solidFill>
              <a:srgbClr val="55555F"/>
            </a:solidFill>
            <a:prstDash val="solid"/>
          </a:ln>
        </p:spPr>
      </p:sp>
      <p:sp>
        <p:nvSpPr>
          <p:cNvPr id="47" name="Text 45"/>
          <p:cNvSpPr/>
          <p:nvPr/>
        </p:nvSpPr>
        <p:spPr>
          <a:xfrm>
            <a:off x="9406890" y="5020056"/>
            <a:ext cx="731520" cy="228600"/>
          </a:xfrm>
          <a:prstGeom prst="rect">
            <a:avLst/>
          </a:prstGeom>
          <a:noFill/>
          <a:ln/>
        </p:spPr>
        <p:txBody>
          <a:bodyPr wrap="square" lIns="0" tIns="0" rIns="0" bIns="0" rtlCol="0" anchor="ctr"/>
          <a:lstStyle/>
          <a:p>
            <a:pPr indent="0" marL="0">
              <a:buNone/>
            </a:pPr>
            <a:r>
              <a:rPr lang="en-US" sz="950" dirty="0">
                <a:solidFill>
                  <a:srgbClr val="55555F"/>
                </a:solidFill>
                <a:latin typeface="Hiragino Sans" pitchFamily="34" charset="0"/>
                <a:ea typeface="Hiragino Sans" pitchFamily="34" charset="-122"/>
                <a:cs typeface="Hiragino Sans" pitchFamily="34" charset="-120"/>
              </a:rPr>
              <a:t>8月</a:t>
            </a:r>
            <a:endParaRPr lang="en-US" sz="950" dirty="0"/>
          </a:p>
        </p:txBody>
      </p:sp>
      <p:sp>
        <p:nvSpPr>
          <p:cNvPr id="48" name="Shape 46"/>
          <p:cNvSpPr/>
          <p:nvPr/>
        </p:nvSpPr>
        <p:spPr>
          <a:xfrm>
            <a:off x="944118" y="4841748"/>
            <a:ext cx="100584" cy="100584"/>
          </a:xfrm>
          <a:prstGeom prst="ellipse">
            <a:avLst/>
          </a:prstGeom>
          <a:solidFill>
            <a:srgbClr val="9A9AA6"/>
          </a:solidFill>
          <a:ln/>
        </p:spPr>
      </p:sp>
      <p:sp>
        <p:nvSpPr>
          <p:cNvPr id="49" name="Shape 47"/>
          <p:cNvSpPr/>
          <p:nvPr/>
        </p:nvSpPr>
        <p:spPr>
          <a:xfrm>
            <a:off x="6144768" y="4841748"/>
            <a:ext cx="100584" cy="100584"/>
          </a:xfrm>
          <a:prstGeom prst="ellipse">
            <a:avLst/>
          </a:prstGeom>
          <a:solidFill>
            <a:srgbClr val="17BECF"/>
          </a:solidFill>
          <a:ln/>
        </p:spPr>
      </p:sp>
      <p:sp>
        <p:nvSpPr>
          <p:cNvPr id="50" name="Shape 48"/>
          <p:cNvSpPr/>
          <p:nvPr/>
        </p:nvSpPr>
        <p:spPr>
          <a:xfrm>
            <a:off x="6430518" y="4841748"/>
            <a:ext cx="100584" cy="100584"/>
          </a:xfrm>
          <a:prstGeom prst="ellipse">
            <a:avLst/>
          </a:prstGeom>
          <a:solidFill>
            <a:srgbClr val="17BECF"/>
          </a:solidFill>
          <a:ln/>
        </p:spPr>
      </p:sp>
      <p:sp>
        <p:nvSpPr>
          <p:cNvPr id="51" name="Shape 49"/>
          <p:cNvSpPr/>
          <p:nvPr/>
        </p:nvSpPr>
        <p:spPr>
          <a:xfrm>
            <a:off x="6487668" y="4841748"/>
            <a:ext cx="100584" cy="100584"/>
          </a:xfrm>
          <a:prstGeom prst="ellipse">
            <a:avLst/>
          </a:prstGeom>
          <a:solidFill>
            <a:srgbClr val="17BECF"/>
          </a:solidFill>
          <a:ln/>
        </p:spPr>
      </p:sp>
      <p:sp>
        <p:nvSpPr>
          <p:cNvPr id="52" name="Shape 50"/>
          <p:cNvSpPr/>
          <p:nvPr/>
        </p:nvSpPr>
        <p:spPr>
          <a:xfrm>
            <a:off x="6601968" y="4841748"/>
            <a:ext cx="100584" cy="100584"/>
          </a:xfrm>
          <a:prstGeom prst="ellipse">
            <a:avLst/>
          </a:prstGeom>
          <a:solidFill>
            <a:srgbClr val="17BECF"/>
          </a:solidFill>
          <a:ln/>
        </p:spPr>
      </p:sp>
      <p:sp>
        <p:nvSpPr>
          <p:cNvPr id="53" name="Shape 51"/>
          <p:cNvSpPr/>
          <p:nvPr/>
        </p:nvSpPr>
        <p:spPr>
          <a:xfrm>
            <a:off x="8202168" y="4841748"/>
            <a:ext cx="100584" cy="100584"/>
          </a:xfrm>
          <a:prstGeom prst="ellipse">
            <a:avLst/>
          </a:prstGeom>
          <a:solidFill>
            <a:srgbClr val="9467BD"/>
          </a:solidFill>
          <a:ln/>
        </p:spPr>
      </p:sp>
      <p:sp>
        <p:nvSpPr>
          <p:cNvPr id="54" name="Shape 52"/>
          <p:cNvSpPr/>
          <p:nvPr/>
        </p:nvSpPr>
        <p:spPr>
          <a:xfrm>
            <a:off x="8259318" y="4841748"/>
            <a:ext cx="100584" cy="100584"/>
          </a:xfrm>
          <a:prstGeom prst="ellipse">
            <a:avLst/>
          </a:prstGeom>
          <a:solidFill>
            <a:srgbClr val="9467BD"/>
          </a:solidFill>
          <a:ln/>
        </p:spPr>
      </p:sp>
      <p:sp>
        <p:nvSpPr>
          <p:cNvPr id="55" name="Shape 53"/>
          <p:cNvSpPr/>
          <p:nvPr/>
        </p:nvSpPr>
        <p:spPr>
          <a:xfrm>
            <a:off x="10602468" y="4841748"/>
            <a:ext cx="100584" cy="100584"/>
          </a:xfrm>
          <a:prstGeom prst="ellipse">
            <a:avLst/>
          </a:prstGeom>
          <a:solidFill>
            <a:srgbClr val="FF7F0E"/>
          </a:solidFill>
          <a:ln/>
        </p:spPr>
      </p:sp>
      <p:sp>
        <p:nvSpPr>
          <p:cNvPr id="56" name="Shape 54"/>
          <p:cNvSpPr/>
          <p:nvPr/>
        </p:nvSpPr>
        <p:spPr>
          <a:xfrm>
            <a:off x="11002518" y="4841748"/>
            <a:ext cx="100584" cy="100584"/>
          </a:xfrm>
          <a:prstGeom prst="ellipse">
            <a:avLst/>
          </a:prstGeom>
          <a:solidFill>
            <a:srgbClr val="D62728"/>
          </a:solidFill>
          <a:ln/>
        </p:spPr>
      </p:sp>
      <p:sp>
        <p:nvSpPr>
          <p:cNvPr id="57" name="Text 55"/>
          <p:cNvSpPr/>
          <p:nvPr/>
        </p:nvSpPr>
        <p:spPr>
          <a:xfrm>
            <a:off x="491490" y="4480560"/>
            <a:ext cx="1005840" cy="237744"/>
          </a:xfrm>
          <a:prstGeom prst="rect">
            <a:avLst/>
          </a:prstGeom>
          <a:noFill/>
          <a:ln/>
        </p:spPr>
        <p:txBody>
          <a:bodyPr wrap="square" lIns="0" tIns="0" rIns="0" bIns="0" rtlCol="0" anchor="ctr"/>
          <a:lstStyle/>
          <a:p>
            <a:pPr algn="ctr" indent="0" marL="0">
              <a:buNone/>
            </a:pPr>
            <a:r>
              <a:rPr lang="en-US" sz="900" dirty="0">
                <a:solidFill>
                  <a:srgbClr val="1A1A1A"/>
                </a:solidFill>
                <a:latin typeface="Helvetica Neue" pitchFamily="34" charset="0"/>
                <a:ea typeface="Helvetica Neue" pitchFamily="34" charset="-122"/>
                <a:cs typeface="Helvetica Neue" pitchFamily="34" charset="-120"/>
              </a:rPr>
              <a:t>v1.0.0</a:t>
            </a:r>
            <a:endParaRPr lang="en-US" sz="900" dirty="0"/>
          </a:p>
        </p:txBody>
      </p:sp>
      <p:sp>
        <p:nvSpPr>
          <p:cNvPr id="58" name="Text 56"/>
          <p:cNvSpPr/>
          <p:nvPr/>
        </p:nvSpPr>
        <p:spPr>
          <a:xfrm>
            <a:off x="5920740" y="4480560"/>
            <a:ext cx="1005840" cy="237744"/>
          </a:xfrm>
          <a:prstGeom prst="rect">
            <a:avLst/>
          </a:prstGeom>
          <a:noFill/>
          <a:ln/>
        </p:spPr>
        <p:txBody>
          <a:bodyPr wrap="square" lIns="0" tIns="0" rIns="0" bIns="0" rtlCol="0" anchor="ctr"/>
          <a:lstStyle/>
          <a:p>
            <a:pPr algn="ctr" indent="0" marL="0">
              <a:buNone/>
            </a:pPr>
            <a:r>
              <a:rPr lang="en-US" sz="900" dirty="0">
                <a:solidFill>
                  <a:srgbClr val="1A1A1A"/>
                </a:solidFill>
                <a:latin typeface="Helvetica Neue" pitchFamily="34" charset="0"/>
                <a:ea typeface="Helvetica Neue" pitchFamily="34" charset="-122"/>
                <a:cs typeface="Helvetica Neue" pitchFamily="34" charset="-120"/>
              </a:rPr>
              <a:t>v1.1–1.4</a:t>
            </a:r>
            <a:endParaRPr lang="en-US" sz="900" dirty="0"/>
          </a:p>
        </p:txBody>
      </p:sp>
      <p:sp>
        <p:nvSpPr>
          <p:cNvPr id="59" name="Text 57"/>
          <p:cNvSpPr/>
          <p:nvPr/>
        </p:nvSpPr>
        <p:spPr>
          <a:xfrm>
            <a:off x="7778115" y="4480560"/>
            <a:ext cx="1005840" cy="237744"/>
          </a:xfrm>
          <a:prstGeom prst="rect">
            <a:avLst/>
          </a:prstGeom>
          <a:noFill/>
          <a:ln/>
        </p:spPr>
        <p:txBody>
          <a:bodyPr wrap="square" lIns="0" tIns="0" rIns="0" bIns="0" rtlCol="0" anchor="ctr"/>
          <a:lstStyle/>
          <a:p>
            <a:pPr algn="ctr" indent="0" marL="0">
              <a:buNone/>
            </a:pPr>
            <a:r>
              <a:rPr lang="en-US" sz="900" dirty="0">
                <a:solidFill>
                  <a:srgbClr val="1A1A1A"/>
                </a:solidFill>
                <a:latin typeface="Helvetica Neue" pitchFamily="34" charset="0"/>
                <a:ea typeface="Helvetica Neue" pitchFamily="34" charset="-122"/>
                <a:cs typeface="Helvetica Neue" pitchFamily="34" charset="-120"/>
              </a:rPr>
              <a:t>v1.5–1.6</a:t>
            </a:r>
            <a:endParaRPr lang="en-US" sz="900" dirty="0"/>
          </a:p>
        </p:txBody>
      </p:sp>
      <p:sp>
        <p:nvSpPr>
          <p:cNvPr id="60" name="Text 58"/>
          <p:cNvSpPr/>
          <p:nvPr/>
        </p:nvSpPr>
        <p:spPr>
          <a:xfrm>
            <a:off x="10149840" y="4480560"/>
            <a:ext cx="1005840" cy="237744"/>
          </a:xfrm>
          <a:prstGeom prst="rect">
            <a:avLst/>
          </a:prstGeom>
          <a:noFill/>
          <a:ln/>
        </p:spPr>
        <p:txBody>
          <a:bodyPr wrap="square" lIns="0" tIns="0" rIns="0" bIns="0" rtlCol="0" anchor="ctr"/>
          <a:lstStyle/>
          <a:p>
            <a:pPr algn="ctr" indent="0" marL="0">
              <a:buNone/>
            </a:pPr>
            <a:r>
              <a:rPr lang="en-US" sz="900" dirty="0">
                <a:solidFill>
                  <a:srgbClr val="1A1A1A"/>
                </a:solidFill>
                <a:latin typeface="Helvetica Neue" pitchFamily="34" charset="0"/>
                <a:ea typeface="Helvetica Neue" pitchFamily="34" charset="-122"/>
                <a:cs typeface="Helvetica Neue" pitchFamily="34" charset="-120"/>
              </a:rPr>
              <a:t>v1.7.0</a:t>
            </a:r>
            <a:endParaRPr lang="en-US" sz="900" dirty="0"/>
          </a:p>
        </p:txBody>
      </p:sp>
      <p:sp>
        <p:nvSpPr>
          <p:cNvPr id="61" name="Text 59"/>
          <p:cNvSpPr/>
          <p:nvPr/>
        </p:nvSpPr>
        <p:spPr>
          <a:xfrm>
            <a:off x="10549890" y="4480560"/>
            <a:ext cx="1005840" cy="237744"/>
          </a:xfrm>
          <a:prstGeom prst="rect">
            <a:avLst/>
          </a:prstGeom>
          <a:noFill/>
          <a:ln/>
        </p:spPr>
        <p:txBody>
          <a:bodyPr wrap="square" lIns="0" tIns="0" rIns="0" bIns="0" rtlCol="0" anchor="ctr"/>
          <a:lstStyle/>
          <a:p>
            <a:pPr algn="ctr" indent="0" marL="0">
              <a:buNone/>
            </a:pPr>
            <a:r>
              <a:rPr lang="en-US" sz="900" dirty="0">
                <a:solidFill>
                  <a:srgbClr val="1A1A1A"/>
                </a:solidFill>
                <a:latin typeface="Helvetica Neue" pitchFamily="34" charset="0"/>
                <a:ea typeface="Helvetica Neue" pitchFamily="34" charset="-122"/>
                <a:cs typeface="Helvetica Neue" pitchFamily="34" charset="-120"/>
              </a:rPr>
              <a:t>v1.8.0</a:t>
            </a:r>
            <a:endParaRPr lang="en-US" sz="900" dirty="0"/>
          </a:p>
        </p:txBody>
      </p:sp>
      <p:sp>
        <p:nvSpPr>
          <p:cNvPr id="62" name="Text 60"/>
          <p:cNvSpPr/>
          <p:nvPr/>
        </p:nvSpPr>
        <p:spPr>
          <a:xfrm>
            <a:off x="822960" y="5623560"/>
            <a:ext cx="10515600" cy="274320"/>
          </a:xfrm>
          <a:prstGeom prst="rect">
            <a:avLst/>
          </a:prstGeom>
          <a:noFill/>
          <a:ln/>
        </p:spPr>
        <p:txBody>
          <a:bodyPr wrap="square" lIns="0" tIns="0" rIns="0" bIns="0" rtlCol="0" anchor="ctr"/>
          <a:lstStyle/>
          <a:p>
            <a:pPr indent="0" marL="0">
              <a:buNone/>
            </a:pPr>
            <a:r>
              <a:rPr lang="en-US" sz="1050" dirty="0">
                <a:solidFill>
                  <a:srgbClr val="55555F"/>
                </a:solidFill>
                <a:latin typeface="Hiragino Sans" pitchFamily="34" charset="0"/>
                <a:ea typeface="Hiragino Sans" pitchFamily="34" charset="-122"/>
                <a:cs typeface="Hiragino Sans" pitchFamily="34" charset="-120"/>
              </a:rPr>
              <a:t>6月上旬に5連リリース（v1.1.0〜v1.4.0）— 標準化と解ける化の集中期</a:t>
            </a:r>
            <a:endParaRPr lang="en-US" sz="1050" dirty="0"/>
          </a:p>
        </p:txBody>
      </p:sp>
      <p:sp>
        <p:nvSpPr>
          <p:cNvPr id="63" name="Text 61"/>
          <p:cNvSpPr/>
          <p:nvPr/>
        </p:nvSpPr>
        <p:spPr>
          <a:xfrm>
            <a:off x="640080" y="6510528"/>
            <a:ext cx="5486400" cy="256032"/>
          </a:xfrm>
          <a:prstGeom prst="rect">
            <a:avLst/>
          </a:prstGeom>
          <a:noFill/>
          <a:ln/>
        </p:spPr>
        <p:txBody>
          <a:bodyPr wrap="square" lIns="0" tIns="0" rIns="0" bIns="0" rtlCol="0" anchor="ctr"/>
          <a:lstStyle/>
          <a:p>
            <a:pPr indent="0" marL="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64" name="Text 62"/>
          <p:cNvSpPr/>
          <p:nvPr/>
        </p:nvSpPr>
        <p:spPr>
          <a:xfrm>
            <a:off x="9692640" y="6510528"/>
            <a:ext cx="1463040" cy="256032"/>
          </a:xfrm>
          <a:prstGeom prst="rect">
            <a:avLst/>
          </a:prstGeom>
          <a:noFill/>
          <a:ln/>
        </p:spPr>
        <p:txBody>
          <a:bodyPr wrap="square" lIns="0" tIns="0" rIns="0" bIns="0" rtlCol="0" anchor="ctr"/>
          <a:lstStyle/>
          <a:p>
            <a:pPr algn="r" indent="0" marL="0">
              <a:buNone/>
            </a:pPr>
            <a:r>
              <a:rPr lang="en-US" sz="900" dirty="0">
                <a:solidFill>
                  <a:srgbClr val="55555F"/>
                </a:solidFill>
                <a:latin typeface="Helvetica Neue" pitchFamily="34" charset="0"/>
                <a:ea typeface="Helvetica Neue" pitchFamily="34" charset="-122"/>
                <a:cs typeface="Helvetica Neue" pitchFamily="34" charset="-120"/>
              </a:rPr>
              <a:t>1:00</a:t>
            </a:r>
            <a:endParaRPr lang="en-US" sz="900" dirty="0"/>
          </a:p>
        </p:txBody>
      </p:sp>
      <p:sp>
        <p:nvSpPr>
          <p:cNvPr id="65" name="Text 63"/>
          <p:cNvSpPr/>
          <p:nvPr/>
        </p:nvSpPr>
        <p:spPr>
          <a:xfrm>
            <a:off x="11338560" y="6510528"/>
            <a:ext cx="457200" cy="256032"/>
          </a:xfrm>
          <a:prstGeom prst="rect">
            <a:avLst/>
          </a:prstGeom>
          <a:noFill/>
          <a:ln/>
        </p:spPr>
        <p:txBody>
          <a:bodyPr wrap="square" lIns="0" tIns="0" rIns="0" bIns="0" rtlCol="0" anchor="ctr"/>
          <a:lstStyle/>
          <a:p>
            <a:pPr algn="r" indent="0" marL="0">
              <a:buNone/>
            </a:pPr>
            <a:r>
              <a:rPr lang="en-US" sz="1000" dirty="0">
                <a:solidFill>
                  <a:srgbClr val="55555F"/>
                </a:solidFill>
                <a:latin typeface="Helvetica Neue" pitchFamily="34" charset="0"/>
                <a:ea typeface="Helvetica Neue" pitchFamily="34" charset="-122"/>
                <a:cs typeface="Helvetica Neue"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9A9AA6"/>
          </a:solidFill>
          <a:ln/>
        </p:spPr>
      </p:sp>
      <p:sp>
        <p:nvSpPr>
          <p:cNvPr id="3" name="Text 1"/>
          <p:cNvSpPr/>
          <p:nvPr/>
        </p:nvSpPr>
        <p:spPr>
          <a:xfrm>
            <a:off x="621792" y="347472"/>
            <a:ext cx="19202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Hiragino Sans" pitchFamily="34" charset="0"/>
                <a:ea typeface="Hiragino Sans" pitchFamily="34" charset="-122"/>
                <a:cs typeface="Hiragino Sans" pitchFamily="34" charset="-120"/>
              </a:rPr>
              <a:t>第1幕 v1.0</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indent="0" marL="0">
              <a:buNone/>
            </a:pPr>
            <a:r>
              <a:rPr lang="en-US" sz="2100" b="1" dirty="0">
                <a:solidFill>
                  <a:srgbClr val="1A1A1A"/>
                </a:solidFill>
                <a:latin typeface="Hiragino Sans" pitchFamily="34" charset="0"/>
                <a:ea typeface="Hiragino Sans" pitchFamily="34" charset="-122"/>
                <a:cs typeface="Hiragino Sans" pitchFamily="34" charset="-120"/>
              </a:rPr>
              <a:t>地理を掘る：抽出から解析まで、最初から一本のパイプライン</a:t>
            </a:r>
            <a:endParaRPr lang="en-US" sz="2100" dirty="0"/>
          </a:p>
        </p:txBody>
      </p:sp>
      <p:pic>
        <p:nvPicPr>
          <p:cNvPr id="5" name="Image 0" descr="assets/fig_pipeline_flow.png">    </p:cNvPr>
          <p:cNvPicPr>
            <a:picLocks noChangeAspect="1"/>
          </p:cNvPicPr>
          <p:nvPr/>
        </p:nvPicPr>
        <p:blipFill>
          <a:blip r:embed="rId1"/>
          <a:stretch>
            <a:fillRect/>
          </a:stretch>
        </p:blipFill>
        <p:spPr>
          <a:xfrm>
            <a:off x="566928" y="1188720"/>
            <a:ext cx="11064240" cy="4590288"/>
          </a:xfrm>
          <a:prstGeom prst="rect">
            <a:avLst/>
          </a:prstGeom>
        </p:spPr>
      </p:pic>
      <p:sp>
        <p:nvSpPr>
          <p:cNvPr id="6" name="Text 3"/>
          <p:cNvSpPr/>
          <p:nvPr/>
        </p:nvSpPr>
        <p:spPr>
          <a:xfrm>
            <a:off x="822960" y="5852160"/>
            <a:ext cx="10607040" cy="502920"/>
          </a:xfrm>
          <a:prstGeom prst="rect">
            <a:avLst/>
          </a:prstGeom>
          <a:noFill/>
          <a:ln/>
        </p:spPr>
        <p:txBody>
          <a:bodyPr wrap="square" lIns="0" tIns="0" rIns="0" bIns="0" rtlCol="0" anchor="ctr"/>
          <a:lstStyle/>
          <a:p>
            <a:pPr indent="0" marL="0">
              <a:lnSpc>
                <a:spcPts val="1600"/>
              </a:lnSpc>
              <a:buNone/>
            </a:pPr>
            <a:r>
              <a:rPr lang="en-US" sz="1150" dirty="0">
                <a:solidFill>
                  <a:srgbClr val="1A1A1A"/>
                </a:solidFill>
                <a:latin typeface="Hiragino Sans" pitchFamily="34" charset="0"/>
                <a:ea typeface="Hiragino Sans" pitchFamily="34" charset="-122"/>
                <a:cs typeface="Hiragino Sans" pitchFamily="34" charset="-120"/>
              </a:rPr>
              <a:t>Overpassタイル分割抽出 → 7段の属性補完（Nominatim / MLIT P03、欠損87%削減）→ Haversine端点マッチング → 電圧クラス別の合成パラメータ → pandapower / MATPOWER / Ybus / UC</a:t>
            </a:r>
            <a:endParaRPr lang="en-US" sz="1150" dirty="0"/>
          </a:p>
        </p:txBody>
      </p:sp>
      <p:sp>
        <p:nvSpPr>
          <p:cNvPr id="7" name="Text 4"/>
          <p:cNvSpPr/>
          <p:nvPr/>
        </p:nvSpPr>
        <p:spPr>
          <a:xfrm>
            <a:off x="640080" y="6510528"/>
            <a:ext cx="5486400" cy="256032"/>
          </a:xfrm>
          <a:prstGeom prst="rect">
            <a:avLst/>
          </a:prstGeom>
          <a:noFill/>
          <a:ln/>
        </p:spPr>
        <p:txBody>
          <a:bodyPr wrap="square" lIns="0" tIns="0" rIns="0" bIns="0" rtlCol="0" anchor="ctr"/>
          <a:lstStyle/>
          <a:p>
            <a:pPr indent="0" marL="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8" name="Text 5"/>
          <p:cNvSpPr/>
          <p:nvPr/>
        </p:nvSpPr>
        <p:spPr>
          <a:xfrm>
            <a:off x="9692640" y="6510528"/>
            <a:ext cx="1463040" cy="256032"/>
          </a:xfrm>
          <a:prstGeom prst="rect">
            <a:avLst/>
          </a:prstGeom>
          <a:noFill/>
          <a:ln/>
        </p:spPr>
        <p:txBody>
          <a:bodyPr wrap="square" lIns="0" tIns="0" rIns="0" bIns="0" rtlCol="0" anchor="ctr"/>
          <a:lstStyle/>
          <a:p>
            <a:pPr algn="r" indent="0" marL="0">
              <a:buNone/>
            </a:pPr>
            <a:r>
              <a:rPr lang="en-US" sz="900" dirty="0">
                <a:solidFill>
                  <a:srgbClr val="55555F"/>
                </a:solidFill>
                <a:latin typeface="Helvetica Neue" pitchFamily="34" charset="0"/>
                <a:ea typeface="Helvetica Neue" pitchFamily="34" charset="-122"/>
                <a:cs typeface="Helvetica Neue" pitchFamily="34" charset="-120"/>
              </a:rPr>
              <a:t>1:30</a:t>
            </a:r>
            <a:endParaRPr lang="en-US" sz="900" dirty="0"/>
          </a:p>
        </p:txBody>
      </p:sp>
      <p:sp>
        <p:nvSpPr>
          <p:cNvPr id="9" name="Text 6"/>
          <p:cNvSpPr/>
          <p:nvPr/>
        </p:nvSpPr>
        <p:spPr>
          <a:xfrm>
            <a:off x="11338560" y="6510528"/>
            <a:ext cx="457200" cy="256032"/>
          </a:xfrm>
          <a:prstGeom prst="rect">
            <a:avLst/>
          </a:prstGeom>
          <a:noFill/>
          <a:ln/>
        </p:spPr>
        <p:txBody>
          <a:bodyPr wrap="square" lIns="0" tIns="0" rIns="0" bIns="0" rtlCol="0" anchor="ctr"/>
          <a:lstStyle/>
          <a:p>
            <a:pPr algn="r" indent="0" marL="0">
              <a:buNone/>
            </a:pPr>
            <a:r>
              <a:rPr lang="en-US" sz="1000" dirty="0">
                <a:solidFill>
                  <a:srgbClr val="55555F"/>
                </a:solidFill>
                <a:latin typeface="Helvetica Neue" pitchFamily="34" charset="0"/>
                <a:ea typeface="Helvetica Neue" pitchFamily="34" charset="-122"/>
                <a:cs typeface="Helvetica Neue"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9A9AA6"/>
          </a:solidFill>
          <a:ln/>
        </p:spPr>
      </p:sp>
      <p:sp>
        <p:nvSpPr>
          <p:cNvPr id="3" name="Text 1"/>
          <p:cNvSpPr/>
          <p:nvPr/>
        </p:nvSpPr>
        <p:spPr>
          <a:xfrm>
            <a:off x="621792" y="347472"/>
            <a:ext cx="19202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Hiragino Sans" pitchFamily="34" charset="0"/>
                <a:ea typeface="Hiragino Sans" pitchFamily="34" charset="-122"/>
                <a:cs typeface="Hiragino Sans" pitchFamily="34" charset="-120"/>
              </a:rPr>
              <a:t>第1幕 v1.0</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indent="0" marL="0">
              <a:buNone/>
            </a:pPr>
            <a:r>
              <a:rPr lang="en-US" sz="2100" b="1" dirty="0">
                <a:solidFill>
                  <a:srgbClr val="1A1A1A"/>
                </a:solidFill>
                <a:latin typeface="Hiragino Sans" pitchFamily="34" charset="0"/>
                <a:ea typeface="Hiragino Sans" pitchFamily="34" charset="-122"/>
                <a:cs typeface="Hiragino Sans" pitchFamily="34" charset="-120"/>
              </a:rPr>
              <a:t>初版で出た数字：全国10地域・50/60 Hz を1つのデータセットに</a:t>
            </a:r>
            <a:endParaRPr lang="en-US" sz="2100" dirty="0"/>
          </a:p>
        </p:txBody>
      </p:sp>
      <p:sp>
        <p:nvSpPr>
          <p:cNvPr id="5" name="Shape 3"/>
          <p:cNvSpPr/>
          <p:nvPr/>
        </p:nvSpPr>
        <p:spPr>
          <a:xfrm>
            <a:off x="822960" y="1234440"/>
            <a:ext cx="2514600" cy="1143000"/>
          </a:xfrm>
          <a:prstGeom prst="roundRect">
            <a:avLst>
              <a:gd name="adj" fmla="val 4800"/>
            </a:avLst>
          </a:prstGeom>
          <a:solidFill>
            <a:srgbClr val="F4F4F6"/>
          </a:solidFill>
          <a:ln/>
        </p:spPr>
      </p:sp>
      <p:sp>
        <p:nvSpPr>
          <p:cNvPr id="6" name="Text 4"/>
          <p:cNvSpPr/>
          <p:nvPr/>
        </p:nvSpPr>
        <p:spPr>
          <a:xfrm>
            <a:off x="822960" y="1307592"/>
            <a:ext cx="2514600" cy="502920"/>
          </a:xfrm>
          <a:prstGeom prst="rect">
            <a:avLst/>
          </a:prstGeom>
          <a:noFill/>
          <a:ln/>
        </p:spPr>
        <p:txBody>
          <a:bodyPr wrap="square" lIns="0" tIns="0" rIns="0" bIns="0" rtlCol="0" anchor="ctr"/>
          <a:lstStyle/>
          <a:p>
            <a:pPr algn="ctr" indent="0" marL="0">
              <a:buNone/>
            </a:pPr>
            <a:r>
              <a:rPr lang="en-US" sz="2600" b="1" dirty="0">
                <a:solidFill>
                  <a:srgbClr val="1A1A1A"/>
                </a:solidFill>
                <a:latin typeface="Helvetica Neue" pitchFamily="34" charset="0"/>
                <a:ea typeface="Helvetica Neue" pitchFamily="34" charset="-122"/>
                <a:cs typeface="Helvetica Neue" pitchFamily="34" charset="-120"/>
              </a:rPr>
              <a:t>6,962</a:t>
            </a:r>
            <a:endParaRPr lang="en-US" sz="2600" dirty="0"/>
          </a:p>
        </p:txBody>
      </p:sp>
      <p:sp>
        <p:nvSpPr>
          <p:cNvPr id="7" name="Text 5"/>
          <p:cNvSpPr/>
          <p:nvPr/>
        </p:nvSpPr>
        <p:spPr>
          <a:xfrm>
            <a:off x="914400" y="1810512"/>
            <a:ext cx="2331720" cy="310896"/>
          </a:xfrm>
          <a:prstGeom prst="rect">
            <a:avLst/>
          </a:prstGeom>
          <a:noFill/>
          <a:ln/>
        </p:spPr>
        <p:txBody>
          <a:bodyPr wrap="square" lIns="0" tIns="0" rIns="0" bIns="0" rtlCol="0" anchor="ctr"/>
          <a:lstStyle/>
          <a:p>
            <a:pPr algn="ctr" indent="0" marL="0">
              <a:buNone/>
            </a:pPr>
            <a:r>
              <a:rPr lang="en-US" sz="1050" dirty="0">
                <a:solidFill>
                  <a:srgbClr val="1A1A1A"/>
                </a:solidFill>
                <a:latin typeface="Hiragino Sans" pitchFamily="34" charset="0"/>
                <a:ea typeface="Hiragino Sans" pitchFamily="34" charset="-122"/>
                <a:cs typeface="Hiragino Sans" pitchFamily="34" charset="-120"/>
              </a:rPr>
              <a:t>変電所 feature</a:t>
            </a:r>
            <a:endParaRPr lang="en-US" sz="1050" dirty="0"/>
          </a:p>
        </p:txBody>
      </p:sp>
      <p:sp>
        <p:nvSpPr>
          <p:cNvPr id="8" name="Text 6"/>
          <p:cNvSpPr/>
          <p:nvPr/>
        </p:nvSpPr>
        <p:spPr>
          <a:xfrm>
            <a:off x="914400" y="2103120"/>
            <a:ext cx="2331720" cy="237744"/>
          </a:xfrm>
          <a:prstGeom prst="rect">
            <a:avLst/>
          </a:prstGeom>
          <a:noFill/>
          <a:ln/>
        </p:spPr>
        <p:txBody>
          <a:bodyPr wrap="square" lIns="0" tIns="0" rIns="0" bIns="0" rtlCol="0" anchor="ctr"/>
          <a:lstStyle/>
          <a:p>
            <a:pPr algn="ctr" indent="0" marL="0">
              <a:buNone/>
            </a:pPr>
            <a:r>
              <a:rPr lang="en-US" sz="850" dirty="0">
                <a:solidFill>
                  <a:srgbClr val="55555F"/>
                </a:solidFill>
                <a:latin typeface="Hiragino Sans" pitchFamily="34" charset="0"/>
                <a:ea typeface="Hiragino Sans" pitchFamily="34" charset="-122"/>
                <a:cs typeface="Hiragino Sans" pitchFamily="34" charset="-120"/>
              </a:rPr>
              <a:t>測定 v1.2 で確定</a:t>
            </a:r>
            <a:endParaRPr lang="en-US" sz="850" dirty="0"/>
          </a:p>
        </p:txBody>
      </p:sp>
      <p:sp>
        <p:nvSpPr>
          <p:cNvPr id="9" name="Shape 7"/>
          <p:cNvSpPr/>
          <p:nvPr/>
        </p:nvSpPr>
        <p:spPr>
          <a:xfrm>
            <a:off x="3520440" y="1234440"/>
            <a:ext cx="2514600" cy="1143000"/>
          </a:xfrm>
          <a:prstGeom prst="roundRect">
            <a:avLst>
              <a:gd name="adj" fmla="val 4800"/>
            </a:avLst>
          </a:prstGeom>
          <a:solidFill>
            <a:srgbClr val="F4F4F6"/>
          </a:solidFill>
          <a:ln/>
        </p:spPr>
      </p:sp>
      <p:sp>
        <p:nvSpPr>
          <p:cNvPr id="10" name="Text 8"/>
          <p:cNvSpPr/>
          <p:nvPr/>
        </p:nvSpPr>
        <p:spPr>
          <a:xfrm>
            <a:off x="3520440" y="1307592"/>
            <a:ext cx="2514600" cy="502920"/>
          </a:xfrm>
          <a:prstGeom prst="rect">
            <a:avLst/>
          </a:prstGeom>
          <a:noFill/>
          <a:ln/>
        </p:spPr>
        <p:txBody>
          <a:bodyPr wrap="square" lIns="0" tIns="0" rIns="0" bIns="0" rtlCol="0" anchor="ctr"/>
          <a:lstStyle/>
          <a:p>
            <a:pPr algn="ctr" indent="0" marL="0">
              <a:buNone/>
            </a:pPr>
            <a:r>
              <a:rPr lang="en-US" sz="2600" b="1" dirty="0">
                <a:solidFill>
                  <a:srgbClr val="1A1A1A"/>
                </a:solidFill>
                <a:latin typeface="Helvetica Neue" pitchFamily="34" charset="0"/>
                <a:ea typeface="Helvetica Neue" pitchFamily="34" charset="-122"/>
                <a:cs typeface="Helvetica Neue" pitchFamily="34" charset="-120"/>
              </a:rPr>
              <a:t>40,077</a:t>
            </a:r>
            <a:endParaRPr lang="en-US" sz="2600" dirty="0"/>
          </a:p>
        </p:txBody>
      </p:sp>
      <p:sp>
        <p:nvSpPr>
          <p:cNvPr id="11" name="Text 9"/>
          <p:cNvSpPr/>
          <p:nvPr/>
        </p:nvSpPr>
        <p:spPr>
          <a:xfrm>
            <a:off x="3611880" y="1810512"/>
            <a:ext cx="2331720" cy="310896"/>
          </a:xfrm>
          <a:prstGeom prst="rect">
            <a:avLst/>
          </a:prstGeom>
          <a:noFill/>
          <a:ln/>
        </p:spPr>
        <p:txBody>
          <a:bodyPr wrap="square" lIns="0" tIns="0" rIns="0" bIns="0" rtlCol="0" anchor="ctr"/>
          <a:lstStyle/>
          <a:p>
            <a:pPr algn="ctr" indent="0" marL="0">
              <a:buNone/>
            </a:pPr>
            <a:r>
              <a:rPr lang="en-US" sz="1050" dirty="0">
                <a:solidFill>
                  <a:srgbClr val="1A1A1A"/>
                </a:solidFill>
                <a:latin typeface="Hiragino Sans" pitchFamily="34" charset="0"/>
                <a:ea typeface="Hiragino Sans" pitchFamily="34" charset="-122"/>
                <a:cs typeface="Hiragino Sans" pitchFamily="34" charset="-120"/>
              </a:rPr>
              <a:t>送電線</a:t>
            </a:r>
            <a:endParaRPr lang="en-US" sz="1050" dirty="0"/>
          </a:p>
        </p:txBody>
      </p:sp>
      <p:sp>
        <p:nvSpPr>
          <p:cNvPr id="12" name="Text 10"/>
          <p:cNvSpPr/>
          <p:nvPr/>
        </p:nvSpPr>
        <p:spPr>
          <a:xfrm>
            <a:off x="3611880" y="2103120"/>
            <a:ext cx="2331720" cy="237744"/>
          </a:xfrm>
          <a:prstGeom prst="rect">
            <a:avLst/>
          </a:prstGeom>
          <a:noFill/>
          <a:ln/>
        </p:spPr>
        <p:txBody>
          <a:bodyPr wrap="square" lIns="0" tIns="0" rIns="0" bIns="0" rtlCol="0" anchor="ctr"/>
          <a:lstStyle/>
          <a:p>
            <a:pPr algn="ctr" indent="0" marL="0">
              <a:buNone/>
            </a:pPr>
            <a:r>
              <a:rPr lang="en-US" sz="850" dirty="0">
                <a:solidFill>
                  <a:srgbClr val="55555F"/>
                </a:solidFill>
                <a:latin typeface="Hiragino Sans" pitchFamily="34" charset="0"/>
                <a:ea typeface="Hiragino Sans" pitchFamily="34" charset="-122"/>
                <a:cs typeface="Hiragino Sans" pitchFamily="34" charset="-120"/>
              </a:rPr>
              <a:t>測定 v1.2 で確定</a:t>
            </a:r>
            <a:endParaRPr lang="en-US" sz="850" dirty="0"/>
          </a:p>
        </p:txBody>
      </p:sp>
      <p:sp>
        <p:nvSpPr>
          <p:cNvPr id="13" name="Shape 11"/>
          <p:cNvSpPr/>
          <p:nvPr/>
        </p:nvSpPr>
        <p:spPr>
          <a:xfrm>
            <a:off x="6217920" y="1234440"/>
            <a:ext cx="2514600" cy="1143000"/>
          </a:xfrm>
          <a:prstGeom prst="roundRect">
            <a:avLst>
              <a:gd name="adj" fmla="val 4800"/>
            </a:avLst>
          </a:prstGeom>
          <a:solidFill>
            <a:srgbClr val="F4F4F6"/>
          </a:solidFill>
          <a:ln/>
        </p:spPr>
      </p:sp>
      <p:sp>
        <p:nvSpPr>
          <p:cNvPr id="14" name="Text 12"/>
          <p:cNvSpPr/>
          <p:nvPr/>
        </p:nvSpPr>
        <p:spPr>
          <a:xfrm>
            <a:off x="6217920" y="1307592"/>
            <a:ext cx="2514600" cy="502920"/>
          </a:xfrm>
          <a:prstGeom prst="rect">
            <a:avLst/>
          </a:prstGeom>
          <a:noFill/>
          <a:ln/>
        </p:spPr>
        <p:txBody>
          <a:bodyPr wrap="square" lIns="0" tIns="0" rIns="0" bIns="0" rtlCol="0" anchor="ctr"/>
          <a:lstStyle/>
          <a:p>
            <a:pPr algn="ctr" indent="0" marL="0">
              <a:buNone/>
            </a:pPr>
            <a:r>
              <a:rPr lang="en-US" sz="2600" b="1" dirty="0">
                <a:solidFill>
                  <a:srgbClr val="1A1A1A"/>
                </a:solidFill>
                <a:latin typeface="Helvetica Neue" pitchFamily="34" charset="0"/>
                <a:ea typeface="Helvetica Neue" pitchFamily="34" charset="-122"/>
                <a:cs typeface="Helvetica Neue" pitchFamily="34" charset="-120"/>
              </a:rPr>
              <a:t>19,138</a:t>
            </a:r>
            <a:endParaRPr lang="en-US" sz="2600" dirty="0"/>
          </a:p>
        </p:txBody>
      </p:sp>
      <p:sp>
        <p:nvSpPr>
          <p:cNvPr id="15" name="Text 13"/>
          <p:cNvSpPr/>
          <p:nvPr/>
        </p:nvSpPr>
        <p:spPr>
          <a:xfrm>
            <a:off x="6309360" y="1810512"/>
            <a:ext cx="2331720" cy="310896"/>
          </a:xfrm>
          <a:prstGeom prst="rect">
            <a:avLst/>
          </a:prstGeom>
          <a:noFill/>
          <a:ln/>
        </p:spPr>
        <p:txBody>
          <a:bodyPr wrap="square" lIns="0" tIns="0" rIns="0" bIns="0" rtlCol="0" anchor="ctr"/>
          <a:lstStyle/>
          <a:p>
            <a:pPr algn="ctr" indent="0" marL="0">
              <a:buNone/>
            </a:pPr>
            <a:r>
              <a:rPr lang="en-US" sz="1050" dirty="0">
                <a:solidFill>
                  <a:srgbClr val="1A1A1A"/>
                </a:solidFill>
                <a:latin typeface="Hiragino Sans" pitchFamily="34" charset="0"/>
                <a:ea typeface="Hiragino Sans" pitchFamily="34" charset="-122"/>
                <a:cs typeface="Hiragino Sans" pitchFamily="34" charset="-120"/>
              </a:rPr>
              <a:t>発電所</a:t>
            </a:r>
            <a:endParaRPr lang="en-US" sz="1050" dirty="0"/>
          </a:p>
        </p:txBody>
      </p:sp>
      <p:sp>
        <p:nvSpPr>
          <p:cNvPr id="16" name="Text 14"/>
          <p:cNvSpPr/>
          <p:nvPr/>
        </p:nvSpPr>
        <p:spPr>
          <a:xfrm>
            <a:off x="6309360" y="2103120"/>
            <a:ext cx="2331720" cy="237744"/>
          </a:xfrm>
          <a:prstGeom prst="rect">
            <a:avLst/>
          </a:prstGeom>
          <a:noFill/>
          <a:ln/>
        </p:spPr>
        <p:txBody>
          <a:bodyPr wrap="square" lIns="0" tIns="0" rIns="0" bIns="0" rtlCol="0" anchor="ctr"/>
          <a:lstStyle/>
          <a:p>
            <a:pPr algn="ctr" indent="0" marL="0">
              <a:buNone/>
            </a:pPr>
            <a:r>
              <a:rPr lang="en-US" sz="850" dirty="0">
                <a:solidFill>
                  <a:srgbClr val="55555F"/>
                </a:solidFill>
                <a:latin typeface="Hiragino Sans" pitchFamily="34" charset="0"/>
                <a:ea typeface="Hiragino Sans" pitchFamily="34" charset="-122"/>
                <a:cs typeface="Hiragino Sans" pitchFamily="34" charset="-120"/>
              </a:rPr>
              <a:t>測定 v1.2 で確定</a:t>
            </a:r>
            <a:endParaRPr lang="en-US" sz="850" dirty="0"/>
          </a:p>
        </p:txBody>
      </p:sp>
      <p:sp>
        <p:nvSpPr>
          <p:cNvPr id="17" name="Shape 15"/>
          <p:cNvSpPr/>
          <p:nvPr/>
        </p:nvSpPr>
        <p:spPr>
          <a:xfrm>
            <a:off x="8915400" y="1234440"/>
            <a:ext cx="2514600" cy="1143000"/>
          </a:xfrm>
          <a:prstGeom prst="roundRect">
            <a:avLst>
              <a:gd name="adj" fmla="val 4800"/>
            </a:avLst>
          </a:prstGeom>
          <a:solidFill>
            <a:srgbClr val="F4F4F6"/>
          </a:solidFill>
          <a:ln/>
        </p:spPr>
      </p:sp>
      <p:sp>
        <p:nvSpPr>
          <p:cNvPr id="18" name="Text 16"/>
          <p:cNvSpPr/>
          <p:nvPr/>
        </p:nvSpPr>
        <p:spPr>
          <a:xfrm>
            <a:off x="8915400" y="1307592"/>
            <a:ext cx="2514600" cy="502920"/>
          </a:xfrm>
          <a:prstGeom prst="rect">
            <a:avLst/>
          </a:prstGeom>
          <a:noFill/>
          <a:ln/>
        </p:spPr>
        <p:txBody>
          <a:bodyPr wrap="square" lIns="0" tIns="0" rIns="0" bIns="0" rtlCol="0" anchor="ctr"/>
          <a:lstStyle/>
          <a:p>
            <a:pPr algn="ctr" indent="0" marL="0">
              <a:buNone/>
            </a:pPr>
            <a:r>
              <a:rPr lang="en-US" sz="2600" b="1" dirty="0">
                <a:solidFill>
                  <a:srgbClr val="1E2761"/>
                </a:solidFill>
                <a:latin typeface="Helvetica Neue" pitchFamily="34" charset="0"/>
                <a:ea typeface="Helvetica Neue" pitchFamily="34" charset="-122"/>
                <a:cs typeface="Helvetica Neue" pitchFamily="34" charset="-120"/>
              </a:rPr>
              <a:t>10 / 10</a:t>
            </a:r>
            <a:endParaRPr lang="en-US" sz="2600" dirty="0"/>
          </a:p>
        </p:txBody>
      </p:sp>
      <p:sp>
        <p:nvSpPr>
          <p:cNvPr id="19" name="Text 17"/>
          <p:cNvSpPr/>
          <p:nvPr/>
        </p:nvSpPr>
        <p:spPr>
          <a:xfrm>
            <a:off x="9006840" y="1810512"/>
            <a:ext cx="2331720" cy="310896"/>
          </a:xfrm>
          <a:prstGeom prst="rect">
            <a:avLst/>
          </a:prstGeom>
          <a:noFill/>
          <a:ln/>
        </p:spPr>
        <p:txBody>
          <a:bodyPr wrap="square" lIns="0" tIns="0" rIns="0" bIns="0" rtlCol="0" anchor="ctr"/>
          <a:lstStyle/>
          <a:p>
            <a:pPr algn="ctr" indent="0" marL="0">
              <a:buNone/>
            </a:pPr>
            <a:r>
              <a:rPr lang="en-US" sz="1050" dirty="0">
                <a:solidFill>
                  <a:srgbClr val="1A1A1A"/>
                </a:solidFill>
                <a:latin typeface="Hiragino Sans" pitchFamily="34" charset="0"/>
                <a:ea typeface="Hiragino Sans" pitchFamily="34" charset="-122"/>
                <a:cs typeface="Hiragino Sans" pitchFamily="34" charset="-120"/>
              </a:rPr>
              <a:t>地域（50/60 Hz 両系統）</a:t>
            </a:r>
            <a:endParaRPr lang="en-US" sz="1050" dirty="0"/>
          </a:p>
        </p:txBody>
      </p:sp>
      <p:sp>
        <p:nvSpPr>
          <p:cNvPr id="20" name="Text 18"/>
          <p:cNvSpPr/>
          <p:nvPr/>
        </p:nvSpPr>
        <p:spPr>
          <a:xfrm>
            <a:off x="9006840" y="2103120"/>
            <a:ext cx="2331720" cy="237744"/>
          </a:xfrm>
          <a:prstGeom prst="rect">
            <a:avLst/>
          </a:prstGeom>
          <a:noFill/>
          <a:ln/>
        </p:spPr>
        <p:txBody>
          <a:bodyPr wrap="square" lIns="0" tIns="0" rIns="0" bIns="0" rtlCol="0" anchor="ctr"/>
          <a:lstStyle/>
          <a:p>
            <a:pPr algn="ctr" indent="0" marL="0">
              <a:buNone/>
            </a:pPr>
            <a:r>
              <a:rPr lang="en-US" sz="850" dirty="0">
                <a:solidFill>
                  <a:srgbClr val="55555F"/>
                </a:solidFill>
                <a:latin typeface="Hiragino Sans" pitchFamily="34" charset="0"/>
                <a:ea typeface="Hiragino Sans" pitchFamily="34" charset="-122"/>
                <a:cs typeface="Hiragino Sans" pitchFamily="34" charset="-120"/>
              </a:rPr>
              <a:t>v1.0.0</a:t>
            </a:r>
            <a:endParaRPr lang="en-US" sz="850" dirty="0"/>
          </a:p>
        </p:txBody>
      </p:sp>
      <p:sp>
        <p:nvSpPr>
          <p:cNvPr id="21" name="Shape 19"/>
          <p:cNvSpPr/>
          <p:nvPr/>
        </p:nvSpPr>
        <p:spPr>
          <a:xfrm>
            <a:off x="822960" y="2743200"/>
            <a:ext cx="10607040" cy="2286000"/>
          </a:xfrm>
          <a:prstGeom prst="roundRect">
            <a:avLst>
              <a:gd name="adj" fmla="val 2400"/>
            </a:avLst>
          </a:prstGeom>
          <a:solidFill>
            <a:srgbClr val="FFFFFF"/>
          </a:solidFill>
          <a:ln w="15240">
            <a:solidFill>
              <a:srgbClr val="1E2761"/>
            </a:solidFill>
            <a:prstDash val="solid"/>
          </a:ln>
        </p:spPr>
      </p:sp>
      <p:sp>
        <p:nvSpPr>
          <p:cNvPr id="22" name="Text 20"/>
          <p:cNvSpPr/>
          <p:nvPr/>
        </p:nvSpPr>
        <p:spPr>
          <a:xfrm>
            <a:off x="1051560" y="2880360"/>
            <a:ext cx="10058400" cy="292608"/>
          </a:xfrm>
          <a:prstGeom prst="rect">
            <a:avLst/>
          </a:prstGeom>
          <a:noFill/>
          <a:ln/>
        </p:spPr>
        <p:txBody>
          <a:bodyPr wrap="square" lIns="0" tIns="0" rIns="0" bIns="0" rtlCol="0" anchor="ctr"/>
          <a:lstStyle/>
          <a:p>
            <a:pPr indent="0" marL="0">
              <a:buNone/>
            </a:pPr>
            <a:r>
              <a:rPr lang="en-US" sz="1350" b="1" dirty="0">
                <a:solidFill>
                  <a:srgbClr val="1E2761"/>
                </a:solidFill>
                <a:latin typeface="Hiragino Sans" pitchFamily="34" charset="0"/>
                <a:ea typeface="Hiragino Sans" pitchFamily="34" charset="-122"/>
                <a:cs typeface="Hiragino Sans" pitchFamily="34" charset="-120"/>
              </a:rPr>
              <a:t>全国ユニットコミットメント（757機・10地域・24時間・MILP）</a:t>
            </a:r>
            <a:endParaRPr lang="en-US" sz="13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1051560" y="3291840"/>
          <a:ext cx="7498080" cy="1463040"/>
        </p:xfrm>
        <a:graphic>
          <a:graphicData uri="http://schemas.openxmlformats.org/drawingml/2006/table">
            <a:tbl>
              <a:tblPr/>
              <a:tblGrid>
                <a:gridCol w="3840480"/>
                <a:gridCol w="2011680"/>
                <a:gridCol w="1645920"/>
              </a:tblGrid>
              <a:tr h="487680">
                <a:tc>
                  <a:txBody>
                    <a:bodyPr/>
                    <a:lstStyle/>
                    <a:p>
                      <a:pPr indent="0" marL="0">
                        <a:buNone/>
                      </a:pPr>
                      <a:r>
                        <a:rPr lang="en-US" sz="1250" dirty="0">
                          <a:solidFill>
                            <a:srgbClr val="1A1A1A"/>
                          </a:solidFill>
                          <a:latin typeface="Hiragino Sans" pitchFamily="34" charset="0"/>
                          <a:ea typeface="Hiragino Sans" pitchFamily="34" charset="-122"/>
                          <a:cs typeface="Hiragino Sans" pitchFamily="34" charset="-120"/>
                        </a:rPr>
                        <a:t>銅板（連系線制約なし）</a:t>
                      </a:r>
                      <a:endParaRPr lang="en-US" sz="1250" dirty="0">
                        <a:latin typeface="Hiragino Sans" charset="0"/>
                        <a:ea typeface="Hiragino Sans" charset="0"/>
                        <a:cs typeface="Hiragino Sans" charset="0"/>
                      </a:endParaRPr>
                    </a:p>
                  </a:txBody>
                  <a:tcPr marL="54864" marR="54864" marT="54864" marB="54864">
                    <a:lnL w="9525" cap="flat" cmpd="sng" algn="ctr">
                      <a:solidFill>
                        <a:srgbClr val="DDDDE2"/>
                      </a:solidFill>
                      <a:prstDash val="solid"/>
                      <a:round/>
                      <a:headEnd type="none" w="med" len="med"/>
                      <a:tailEnd type="none" w="med" len="med"/>
                    </a:lnL>
                    <a:lnR w="9525" cap="flat" cmpd="sng" algn="ctr">
                      <a:solidFill>
                        <a:srgbClr val="DDDDE2"/>
                      </a:solidFill>
                      <a:prstDash val="solid"/>
                      <a:round/>
                      <a:headEnd type="none" w="med" len="med"/>
                      <a:tailEnd type="none" w="med" len="med"/>
                    </a:lnR>
                    <a:lnT w="9525" cap="flat" cmpd="sng" algn="ctr">
                      <a:solidFill>
                        <a:srgbClr val="DDDDE2"/>
                      </a:solidFill>
                      <a:prstDash val="solid"/>
                      <a:round/>
                      <a:headEnd type="none" w="med" len="med"/>
                      <a:tailEnd type="none" w="med" len="med"/>
                    </a:lnT>
                    <a:lnB w="9525" cap="flat" cmpd="sng" algn="ctr">
                      <a:solidFill>
                        <a:srgbClr val="DDDDE2"/>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Hiragino Sans" pitchFamily="34" charset="0"/>
                          <a:ea typeface="Hiragino Sans" pitchFamily="34" charset="-122"/>
                          <a:cs typeface="Hiragino Sans" pitchFamily="34" charset="-120"/>
                        </a:rPr>
                        <a:t>7.65 兆円</a:t>
                      </a:r>
                      <a:endParaRPr lang="en-US" sz="1250" dirty="0">
                        <a:latin typeface="Hiragino Sans" charset="0"/>
                        <a:ea typeface="Hiragino Sans" charset="0"/>
                        <a:cs typeface="Hiragino Sans" charset="0"/>
                      </a:endParaRPr>
                    </a:p>
                  </a:txBody>
                  <a:tcPr marL="54864" marR="54864" marT="54864" marB="54864">
                    <a:lnL w="9525" cap="flat" cmpd="sng" algn="ctr">
                      <a:solidFill>
                        <a:srgbClr val="DDDDE2"/>
                      </a:solidFill>
                      <a:prstDash val="solid"/>
                      <a:round/>
                      <a:headEnd type="none" w="med" len="med"/>
                      <a:tailEnd type="none" w="med" len="med"/>
                    </a:lnL>
                    <a:lnR w="9525" cap="flat" cmpd="sng" algn="ctr">
                      <a:solidFill>
                        <a:srgbClr val="DDDDE2"/>
                      </a:solidFill>
                      <a:prstDash val="solid"/>
                      <a:round/>
                      <a:headEnd type="none" w="med" len="med"/>
                      <a:tailEnd type="none" w="med" len="med"/>
                    </a:lnR>
                    <a:lnT w="9525" cap="flat" cmpd="sng" algn="ctr">
                      <a:solidFill>
                        <a:srgbClr val="DDDDE2"/>
                      </a:solidFill>
                      <a:prstDash val="solid"/>
                      <a:round/>
                      <a:headEnd type="none" w="med" len="med"/>
                      <a:tailEnd type="none" w="med" len="med"/>
                    </a:lnT>
                    <a:lnB w="9525" cap="flat" cmpd="sng" algn="ctr">
                      <a:solidFill>
                        <a:srgbClr val="DDDDE2"/>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Hiragino Sans" pitchFamily="34" charset="0"/>
                          <a:ea typeface="Hiragino Sans" pitchFamily="34" charset="-122"/>
                          <a:cs typeface="Hiragino Sans" pitchFamily="34" charset="-120"/>
                        </a:rPr>
                        <a:t>9.28 s</a:t>
                      </a:r>
                      <a:endParaRPr lang="en-US" sz="1250" dirty="0">
                        <a:latin typeface="Hiragino Sans" charset="0"/>
                        <a:ea typeface="Hiragino Sans" charset="0"/>
                        <a:cs typeface="Hiragino Sans" charset="0"/>
                      </a:endParaRPr>
                    </a:p>
                  </a:txBody>
                  <a:tcPr marL="54864" marR="54864" marT="54864" marB="54864">
                    <a:lnL w="9525" cap="flat" cmpd="sng" algn="ctr">
                      <a:solidFill>
                        <a:srgbClr val="DDDDE2"/>
                      </a:solidFill>
                      <a:prstDash val="solid"/>
                      <a:round/>
                      <a:headEnd type="none" w="med" len="med"/>
                      <a:tailEnd type="none" w="med" len="med"/>
                    </a:lnL>
                    <a:lnR w="9525" cap="flat" cmpd="sng" algn="ctr">
                      <a:solidFill>
                        <a:srgbClr val="DDDDE2"/>
                      </a:solidFill>
                      <a:prstDash val="solid"/>
                      <a:round/>
                      <a:headEnd type="none" w="med" len="med"/>
                      <a:tailEnd type="none" w="med" len="med"/>
                    </a:lnR>
                    <a:lnT w="9525" cap="flat" cmpd="sng" algn="ctr">
                      <a:solidFill>
                        <a:srgbClr val="DDDDE2"/>
                      </a:solidFill>
                      <a:prstDash val="solid"/>
                      <a:round/>
                      <a:headEnd type="none" w="med" len="med"/>
                      <a:tailEnd type="none" w="med" len="med"/>
                    </a:lnT>
                    <a:lnB w="9525" cap="flat" cmpd="sng" algn="ctr">
                      <a:solidFill>
                        <a:srgbClr val="DDDDE2"/>
                      </a:solidFill>
                      <a:prstDash val="solid"/>
                      <a:round/>
                      <a:headEnd type="none" w="med" len="med"/>
                      <a:tailEnd type="none" w="med" len="med"/>
                    </a:lnB>
                    <a:solidFill>
                      <a:srgbClr val="FFFFFF"/>
                    </a:solidFill>
                  </a:tcPr>
                </a:tc>
              </a:tr>
              <a:tr h="487680">
                <a:tc>
                  <a:txBody>
                    <a:bodyPr/>
                    <a:lstStyle/>
                    <a:p>
                      <a:pPr indent="0" marL="0">
                        <a:buNone/>
                      </a:pPr>
                      <a:r>
                        <a:rPr lang="en-US" sz="1250" dirty="0">
                          <a:solidFill>
                            <a:srgbClr val="1A1A1A"/>
                          </a:solidFill>
                          <a:latin typeface="Hiragino Sans" pitchFamily="34" charset="0"/>
                          <a:ea typeface="Hiragino Sans" pitchFamily="34" charset="-122"/>
                          <a:cs typeface="Hiragino Sans" pitchFamily="34" charset="-120"/>
                        </a:rPr>
                        <a:t>連系線制約あり</a:t>
                      </a:r>
                      <a:endParaRPr lang="en-US" sz="1250" dirty="0">
                        <a:latin typeface="Hiragino Sans" charset="0"/>
                        <a:ea typeface="Hiragino Sans" charset="0"/>
                        <a:cs typeface="Hiragino Sans" charset="0"/>
                      </a:endParaRPr>
                    </a:p>
                  </a:txBody>
                  <a:tcPr marL="54864" marR="54864" marT="54864" marB="54864">
                    <a:lnL w="9525" cap="flat" cmpd="sng" algn="ctr">
                      <a:solidFill>
                        <a:srgbClr val="DDDDE2"/>
                      </a:solidFill>
                      <a:prstDash val="solid"/>
                      <a:round/>
                      <a:headEnd type="none" w="med" len="med"/>
                      <a:tailEnd type="none" w="med" len="med"/>
                    </a:lnL>
                    <a:lnR w="9525" cap="flat" cmpd="sng" algn="ctr">
                      <a:solidFill>
                        <a:srgbClr val="DDDDE2"/>
                      </a:solidFill>
                      <a:prstDash val="solid"/>
                      <a:round/>
                      <a:headEnd type="none" w="med" len="med"/>
                      <a:tailEnd type="none" w="med" len="med"/>
                    </a:lnR>
                    <a:lnT w="9525" cap="flat" cmpd="sng" algn="ctr">
                      <a:solidFill>
                        <a:srgbClr val="DDDDE2"/>
                      </a:solidFill>
                      <a:prstDash val="solid"/>
                      <a:round/>
                      <a:headEnd type="none" w="med" len="med"/>
                      <a:tailEnd type="none" w="med" len="med"/>
                    </a:lnT>
                    <a:lnB w="9525" cap="flat" cmpd="sng" algn="ctr">
                      <a:solidFill>
                        <a:srgbClr val="DDDDE2"/>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Hiragino Sans" pitchFamily="34" charset="0"/>
                          <a:ea typeface="Hiragino Sans" pitchFamily="34" charset="-122"/>
                          <a:cs typeface="Hiragino Sans" pitchFamily="34" charset="-120"/>
                        </a:rPr>
                        <a:t>7.76 兆円</a:t>
                      </a:r>
                      <a:endParaRPr lang="en-US" sz="1250" dirty="0">
                        <a:latin typeface="Hiragino Sans" charset="0"/>
                        <a:ea typeface="Hiragino Sans" charset="0"/>
                        <a:cs typeface="Hiragino Sans" charset="0"/>
                      </a:endParaRPr>
                    </a:p>
                  </a:txBody>
                  <a:tcPr marL="54864" marR="54864" marT="54864" marB="54864">
                    <a:lnL w="9525" cap="flat" cmpd="sng" algn="ctr">
                      <a:solidFill>
                        <a:srgbClr val="DDDDE2"/>
                      </a:solidFill>
                      <a:prstDash val="solid"/>
                      <a:round/>
                      <a:headEnd type="none" w="med" len="med"/>
                      <a:tailEnd type="none" w="med" len="med"/>
                    </a:lnL>
                    <a:lnR w="9525" cap="flat" cmpd="sng" algn="ctr">
                      <a:solidFill>
                        <a:srgbClr val="DDDDE2"/>
                      </a:solidFill>
                      <a:prstDash val="solid"/>
                      <a:round/>
                      <a:headEnd type="none" w="med" len="med"/>
                      <a:tailEnd type="none" w="med" len="med"/>
                    </a:lnR>
                    <a:lnT w="9525" cap="flat" cmpd="sng" algn="ctr">
                      <a:solidFill>
                        <a:srgbClr val="DDDDE2"/>
                      </a:solidFill>
                      <a:prstDash val="solid"/>
                      <a:round/>
                      <a:headEnd type="none" w="med" len="med"/>
                      <a:tailEnd type="none" w="med" len="med"/>
                    </a:lnT>
                    <a:lnB w="9525" cap="flat" cmpd="sng" algn="ctr">
                      <a:solidFill>
                        <a:srgbClr val="DDDDE2"/>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Hiragino Sans" pitchFamily="34" charset="0"/>
                          <a:ea typeface="Hiragino Sans" pitchFamily="34" charset="-122"/>
                          <a:cs typeface="Hiragino Sans" pitchFamily="34" charset="-120"/>
                        </a:rPr>
                        <a:t>8.72 s</a:t>
                      </a:r>
                      <a:endParaRPr lang="en-US" sz="1250" dirty="0">
                        <a:latin typeface="Hiragino Sans" charset="0"/>
                        <a:ea typeface="Hiragino Sans" charset="0"/>
                        <a:cs typeface="Hiragino Sans" charset="0"/>
                      </a:endParaRPr>
                    </a:p>
                  </a:txBody>
                  <a:tcPr marL="54864" marR="54864" marT="54864" marB="54864">
                    <a:lnL w="9525" cap="flat" cmpd="sng" algn="ctr">
                      <a:solidFill>
                        <a:srgbClr val="DDDDE2"/>
                      </a:solidFill>
                      <a:prstDash val="solid"/>
                      <a:round/>
                      <a:headEnd type="none" w="med" len="med"/>
                      <a:tailEnd type="none" w="med" len="med"/>
                    </a:lnL>
                    <a:lnR w="9525" cap="flat" cmpd="sng" algn="ctr">
                      <a:solidFill>
                        <a:srgbClr val="DDDDE2"/>
                      </a:solidFill>
                      <a:prstDash val="solid"/>
                      <a:round/>
                      <a:headEnd type="none" w="med" len="med"/>
                      <a:tailEnd type="none" w="med" len="med"/>
                    </a:lnR>
                    <a:lnT w="9525" cap="flat" cmpd="sng" algn="ctr">
                      <a:solidFill>
                        <a:srgbClr val="DDDDE2"/>
                      </a:solidFill>
                      <a:prstDash val="solid"/>
                      <a:round/>
                      <a:headEnd type="none" w="med" len="med"/>
                      <a:tailEnd type="none" w="med" len="med"/>
                    </a:lnT>
                    <a:lnB w="9525" cap="flat" cmpd="sng" algn="ctr">
                      <a:solidFill>
                        <a:srgbClr val="DDDDE2"/>
                      </a:solidFill>
                      <a:prstDash val="solid"/>
                      <a:round/>
                      <a:headEnd type="none" w="med" len="med"/>
                      <a:tailEnd type="none" w="med" len="med"/>
                    </a:lnB>
                    <a:solidFill>
                      <a:srgbClr val="FFFFFF"/>
                    </a:solidFill>
                  </a:tcPr>
                </a:tc>
              </a:tr>
              <a:tr h="487680">
                <a:tc>
                  <a:txBody>
                    <a:bodyPr/>
                    <a:lstStyle/>
                    <a:p>
                      <a:pPr indent="0" marL="0">
                        <a:buNone/>
                      </a:pPr>
                      <a:r>
                        <a:rPr lang="en-US" sz="1250" dirty="0">
                          <a:solidFill>
                            <a:srgbClr val="1A1A1A"/>
                          </a:solidFill>
                          <a:latin typeface="Hiragino Sans" pitchFamily="34" charset="0"/>
                          <a:ea typeface="Hiragino Sans" pitchFamily="34" charset="-122"/>
                          <a:cs typeface="Hiragino Sans" pitchFamily="34" charset="-120"/>
                        </a:rPr>
                        <a:t>混雑コストプレミアム</a:t>
                      </a:r>
                      <a:endParaRPr lang="en-US" sz="1250" dirty="0">
                        <a:latin typeface="Hiragino Sans" charset="0"/>
                        <a:ea typeface="Hiragino Sans" charset="0"/>
                        <a:cs typeface="Hiragino Sans" charset="0"/>
                      </a:endParaRPr>
                    </a:p>
                  </a:txBody>
                  <a:tcPr marL="54864" marR="54864" marT="54864" marB="54864">
                    <a:lnL w="9525" cap="flat" cmpd="sng" algn="ctr">
                      <a:solidFill>
                        <a:srgbClr val="DDDDE2"/>
                      </a:solidFill>
                      <a:prstDash val="solid"/>
                      <a:round/>
                      <a:headEnd type="none" w="med" len="med"/>
                      <a:tailEnd type="none" w="med" len="med"/>
                    </a:lnL>
                    <a:lnR w="9525" cap="flat" cmpd="sng" algn="ctr">
                      <a:solidFill>
                        <a:srgbClr val="DDDDE2"/>
                      </a:solidFill>
                      <a:prstDash val="solid"/>
                      <a:round/>
                      <a:headEnd type="none" w="med" len="med"/>
                      <a:tailEnd type="none" w="med" len="med"/>
                    </a:lnR>
                    <a:lnT w="9525" cap="flat" cmpd="sng" algn="ctr">
                      <a:solidFill>
                        <a:srgbClr val="DDDDE2"/>
                      </a:solidFill>
                      <a:prstDash val="solid"/>
                      <a:round/>
                      <a:headEnd type="none" w="med" len="med"/>
                      <a:tailEnd type="none" w="med" len="med"/>
                    </a:lnT>
                    <a:lnB w="9525" cap="flat" cmpd="sng" algn="ctr">
                      <a:solidFill>
                        <a:srgbClr val="DDDDE2"/>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Hiragino Sans" pitchFamily="34" charset="0"/>
                          <a:ea typeface="Hiragino Sans" pitchFamily="34" charset="-122"/>
                          <a:cs typeface="Hiragino Sans" pitchFamily="34" charset="-120"/>
                        </a:rPr>
                        <a:t>+1.40 %</a:t>
                      </a:r>
                      <a:endParaRPr lang="en-US" sz="1250" dirty="0">
                        <a:latin typeface="Hiragino Sans" charset="0"/>
                        <a:ea typeface="Hiragino Sans" charset="0"/>
                        <a:cs typeface="Hiragino Sans" charset="0"/>
                      </a:endParaRPr>
                    </a:p>
                  </a:txBody>
                  <a:tcPr marL="54864" marR="54864" marT="54864" marB="54864">
                    <a:lnL w="9525" cap="flat" cmpd="sng" algn="ctr">
                      <a:solidFill>
                        <a:srgbClr val="DDDDE2"/>
                      </a:solidFill>
                      <a:prstDash val="solid"/>
                      <a:round/>
                      <a:headEnd type="none" w="med" len="med"/>
                      <a:tailEnd type="none" w="med" len="med"/>
                    </a:lnL>
                    <a:lnR w="9525" cap="flat" cmpd="sng" algn="ctr">
                      <a:solidFill>
                        <a:srgbClr val="DDDDE2"/>
                      </a:solidFill>
                      <a:prstDash val="solid"/>
                      <a:round/>
                      <a:headEnd type="none" w="med" len="med"/>
                      <a:tailEnd type="none" w="med" len="med"/>
                    </a:lnR>
                    <a:lnT w="9525" cap="flat" cmpd="sng" algn="ctr">
                      <a:solidFill>
                        <a:srgbClr val="DDDDE2"/>
                      </a:solidFill>
                      <a:prstDash val="solid"/>
                      <a:round/>
                      <a:headEnd type="none" w="med" len="med"/>
                      <a:tailEnd type="none" w="med" len="med"/>
                    </a:lnT>
                    <a:lnB w="9525" cap="flat" cmpd="sng" algn="ctr">
                      <a:solidFill>
                        <a:srgbClr val="DDDDE2"/>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Hiragino Sans" pitchFamily="34" charset="0"/>
                          <a:ea typeface="Hiragino Sans" pitchFamily="34" charset="-122"/>
                          <a:cs typeface="Hiragino Sans" pitchFamily="34" charset="-120"/>
                        </a:rPr>
                        <a:t>—</a:t>
                      </a:r>
                      <a:endParaRPr lang="en-US" sz="1250" dirty="0">
                        <a:latin typeface="Hiragino Sans" charset="0"/>
                        <a:ea typeface="Hiragino Sans" charset="0"/>
                        <a:cs typeface="Hiragino Sans" charset="0"/>
                      </a:endParaRPr>
                    </a:p>
                  </a:txBody>
                  <a:tcPr marL="54864" marR="54864" marT="54864" marB="54864">
                    <a:lnL w="9525" cap="flat" cmpd="sng" algn="ctr">
                      <a:solidFill>
                        <a:srgbClr val="DDDDE2"/>
                      </a:solidFill>
                      <a:prstDash val="solid"/>
                      <a:round/>
                      <a:headEnd type="none" w="med" len="med"/>
                      <a:tailEnd type="none" w="med" len="med"/>
                    </a:lnL>
                    <a:lnR w="9525" cap="flat" cmpd="sng" algn="ctr">
                      <a:solidFill>
                        <a:srgbClr val="DDDDE2"/>
                      </a:solidFill>
                      <a:prstDash val="solid"/>
                      <a:round/>
                      <a:headEnd type="none" w="med" len="med"/>
                      <a:tailEnd type="none" w="med" len="med"/>
                    </a:lnR>
                    <a:lnT w="9525" cap="flat" cmpd="sng" algn="ctr">
                      <a:solidFill>
                        <a:srgbClr val="DDDDE2"/>
                      </a:solidFill>
                      <a:prstDash val="solid"/>
                      <a:round/>
                      <a:headEnd type="none" w="med" len="med"/>
                      <a:tailEnd type="none" w="med" len="med"/>
                    </a:lnT>
                    <a:lnB w="9525" cap="flat" cmpd="sng" algn="ctr">
                      <a:solidFill>
                        <a:srgbClr val="DDDDE2"/>
                      </a:solidFill>
                      <a:prstDash val="solid"/>
                      <a:round/>
                      <a:headEnd type="none" w="med" len="med"/>
                      <a:tailEnd type="none" w="med" len="med"/>
                    </a:lnB>
                    <a:solidFill>
                      <a:srgbClr val="FFFFFF"/>
                    </a:solidFill>
                  </a:tcPr>
                </a:tc>
              </a:tr>
            </a:tbl>
          </a:graphicData>
        </a:graphic>
      </p:graphicFrame>
      <p:sp>
        <p:nvSpPr>
          <p:cNvPr id="24" name="Text 21"/>
          <p:cNvSpPr/>
          <p:nvPr/>
        </p:nvSpPr>
        <p:spPr>
          <a:xfrm>
            <a:off x="8778240" y="3383280"/>
            <a:ext cx="2514600" cy="1280160"/>
          </a:xfrm>
          <a:prstGeom prst="rect">
            <a:avLst/>
          </a:prstGeom>
          <a:noFill/>
          <a:ln/>
        </p:spPr>
        <p:txBody>
          <a:bodyPr wrap="square" lIns="0" tIns="0" rIns="0" bIns="0" rtlCol="0" anchor="ctr"/>
          <a:lstStyle/>
          <a:p>
            <a:pPr indent="0" marL="0">
              <a:lnSpc>
                <a:spcPts val="1600"/>
              </a:lnSpc>
              <a:buNone/>
            </a:pPr>
            <a:r>
              <a:rPr lang="en-US" sz="1100" dirty="0">
                <a:solidFill>
                  <a:srgbClr val="55555F"/>
                </a:solidFill>
                <a:latin typeface="Hiragino Sans" pitchFamily="34" charset="0"/>
                <a:ea typeface="Hiragino Sans" pitchFamily="34" charset="-122"/>
                <a:cs typeface="Hiragino Sans" pitchFamily="34" charset="-120"/>
              </a:rPr>
              <a:t>最適解まで 10 秒未満。</a:t>
            </a:r>
            <a:endParaRPr lang="en-US" sz="1100" dirty="0"/>
          </a:p>
          <a:p>
            <a:pPr indent="0" marL="0">
              <a:lnSpc>
                <a:spcPts val="1600"/>
              </a:lnSpc>
              <a:buNone/>
            </a:pPr>
            <a:r>
              <a:rPr lang="en-US" sz="1100" dirty="0">
                <a:solidFill>
                  <a:srgbClr val="55555F"/>
                </a:solidFill>
                <a:latin typeface="Hiragino Sans" pitchFamily="34" charset="0"/>
                <a:ea typeface="Hiragino Sans" pitchFamily="34" charset="-122"/>
                <a:cs typeface="Hiragino Sans" pitchFamily="34" charset="-120"/>
              </a:rPr>
              <a:t>9連系線すべてがピーク需要時に利用率 100 %。</a:t>
            </a:r>
            <a:endParaRPr lang="en-US" sz="1100" dirty="0"/>
          </a:p>
        </p:txBody>
      </p:sp>
      <p:sp>
        <p:nvSpPr>
          <p:cNvPr id="25" name="Text 22"/>
          <p:cNvSpPr/>
          <p:nvPr/>
        </p:nvSpPr>
        <p:spPr>
          <a:xfrm>
            <a:off x="822960" y="5303520"/>
            <a:ext cx="10607040" cy="548640"/>
          </a:xfrm>
          <a:prstGeom prst="rect">
            <a:avLst/>
          </a:prstGeom>
          <a:noFill/>
          <a:ln/>
        </p:spPr>
        <p:txBody>
          <a:bodyPr wrap="square" lIns="0" tIns="0" rIns="0" bIns="0" rtlCol="0" anchor="ctr"/>
          <a:lstStyle/>
          <a:p>
            <a:pPr indent="0" marL="0">
              <a:lnSpc>
                <a:spcPts val="1700"/>
              </a:lnSpc>
              <a:buNone/>
            </a:pPr>
            <a:r>
              <a:rPr lang="en-US" sz="1200" dirty="0">
                <a:solidFill>
                  <a:srgbClr val="C62828"/>
                </a:solidFill>
                <a:latin typeface="Hiragino Sans" pitchFamily="34" charset="0"/>
                <a:ea typeface="Hiragino Sans" pitchFamily="34" charset="-122"/>
                <a:cs typeface="Hiragino Sans" pitchFamily="34" charset="-120"/>
              </a:rPr>
              <a:t>限界も初版から明記：インピーダンスは合成推定・端点マッチング誤接続 ~2–3 %・運用計画には使えない（研究・教育用）。</a:t>
            </a:r>
            <a:endParaRPr lang="en-US" sz="1200" dirty="0"/>
          </a:p>
        </p:txBody>
      </p:sp>
      <p:sp>
        <p:nvSpPr>
          <p:cNvPr id="26" name="Text 23"/>
          <p:cNvSpPr/>
          <p:nvPr/>
        </p:nvSpPr>
        <p:spPr>
          <a:xfrm>
            <a:off x="640080" y="6510528"/>
            <a:ext cx="5486400" cy="256032"/>
          </a:xfrm>
          <a:prstGeom prst="rect">
            <a:avLst/>
          </a:prstGeom>
          <a:noFill/>
          <a:ln/>
        </p:spPr>
        <p:txBody>
          <a:bodyPr wrap="square" lIns="0" tIns="0" rIns="0" bIns="0" rtlCol="0" anchor="ctr"/>
          <a:lstStyle/>
          <a:p>
            <a:pPr indent="0" marL="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27" name="Text 24"/>
          <p:cNvSpPr/>
          <p:nvPr/>
        </p:nvSpPr>
        <p:spPr>
          <a:xfrm>
            <a:off x="9692640" y="6510528"/>
            <a:ext cx="1463040" cy="256032"/>
          </a:xfrm>
          <a:prstGeom prst="rect">
            <a:avLst/>
          </a:prstGeom>
          <a:noFill/>
          <a:ln/>
        </p:spPr>
        <p:txBody>
          <a:bodyPr wrap="square" lIns="0" tIns="0" rIns="0" bIns="0" rtlCol="0" anchor="ctr"/>
          <a:lstStyle/>
          <a:p>
            <a:pPr algn="r" indent="0" marL="0">
              <a:buNone/>
            </a:pPr>
            <a:r>
              <a:rPr lang="en-US" sz="900" dirty="0">
                <a:solidFill>
                  <a:srgbClr val="55555F"/>
                </a:solidFill>
                <a:latin typeface="Helvetica Neue" pitchFamily="34" charset="0"/>
                <a:ea typeface="Helvetica Neue" pitchFamily="34" charset="-122"/>
                <a:cs typeface="Helvetica Neue" pitchFamily="34" charset="-120"/>
              </a:rPr>
              <a:t>1:30</a:t>
            </a:r>
            <a:endParaRPr lang="en-US" sz="900" dirty="0"/>
          </a:p>
        </p:txBody>
      </p:sp>
      <p:sp>
        <p:nvSpPr>
          <p:cNvPr id="28" name="Text 25"/>
          <p:cNvSpPr/>
          <p:nvPr/>
        </p:nvSpPr>
        <p:spPr>
          <a:xfrm>
            <a:off x="11338560" y="6510528"/>
            <a:ext cx="457200" cy="256032"/>
          </a:xfrm>
          <a:prstGeom prst="rect">
            <a:avLst/>
          </a:prstGeom>
          <a:noFill/>
          <a:ln/>
        </p:spPr>
        <p:txBody>
          <a:bodyPr wrap="square" lIns="0" tIns="0" rIns="0" bIns="0" rtlCol="0" anchor="ctr"/>
          <a:lstStyle/>
          <a:p>
            <a:pPr algn="r" indent="0" marL="0">
              <a:buNone/>
            </a:pPr>
            <a:r>
              <a:rPr lang="en-US" sz="1000" dirty="0">
                <a:solidFill>
                  <a:srgbClr val="55555F"/>
                </a:solidFill>
                <a:latin typeface="Helvetica Neue" pitchFamily="34" charset="0"/>
                <a:ea typeface="Helvetica Neue" pitchFamily="34" charset="-122"/>
                <a:cs typeface="Helvetica Neue"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17BECF"/>
          </a:solidFill>
          <a:ln/>
        </p:spPr>
      </p:sp>
      <p:sp>
        <p:nvSpPr>
          <p:cNvPr id="3" name="Text 1"/>
          <p:cNvSpPr/>
          <p:nvPr/>
        </p:nvSpPr>
        <p:spPr>
          <a:xfrm>
            <a:off x="621792" y="347472"/>
            <a:ext cx="19202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Hiragino Sans" pitchFamily="34" charset="0"/>
                <a:ea typeface="Hiragino Sans" pitchFamily="34" charset="-122"/>
                <a:cs typeface="Hiragino Sans" pitchFamily="34" charset="-120"/>
              </a:rPr>
              <a:t>第2幕 v1.2</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indent="0" marL="0">
              <a:buNone/>
            </a:pPr>
            <a:r>
              <a:rPr lang="en-US" sz="2100" b="1" dirty="0">
                <a:solidFill>
                  <a:srgbClr val="1A1A1A"/>
                </a:solidFill>
                <a:latin typeface="Hiragino Sans" pitchFamily="34" charset="0"/>
                <a:ea typeface="Hiragino Sans" pitchFamily="34" charset="-122"/>
                <a:cs typeface="Hiragino Sans" pitchFamily="34" charset="-120"/>
              </a:rPr>
              <a:t>標準で渡す：CIM/CGMES は輸出先ではなく検証器だった</a:t>
            </a:r>
            <a:endParaRPr lang="en-US" sz="2100" dirty="0"/>
          </a:p>
        </p:txBody>
      </p:sp>
      <p:sp>
        <p:nvSpPr>
          <p:cNvPr id="5" name="Shape 3"/>
          <p:cNvSpPr/>
          <p:nvPr/>
        </p:nvSpPr>
        <p:spPr>
          <a:xfrm>
            <a:off x="822960" y="1188720"/>
            <a:ext cx="5120640" cy="1554480"/>
          </a:xfrm>
          <a:prstGeom prst="roundRect">
            <a:avLst>
              <a:gd name="adj" fmla="val 3529"/>
            </a:avLst>
          </a:prstGeom>
          <a:solidFill>
            <a:srgbClr val="F4F4F6"/>
          </a:solidFill>
          <a:ln/>
        </p:spPr>
      </p:sp>
      <p:sp>
        <p:nvSpPr>
          <p:cNvPr id="6" name="Shape 4"/>
          <p:cNvSpPr/>
          <p:nvPr/>
        </p:nvSpPr>
        <p:spPr>
          <a:xfrm>
            <a:off x="1024128" y="1408176"/>
            <a:ext cx="128016" cy="128016"/>
          </a:xfrm>
          <a:prstGeom prst="rect">
            <a:avLst/>
          </a:prstGeom>
          <a:solidFill>
            <a:srgbClr val="17BECF"/>
          </a:solidFill>
          <a:ln/>
        </p:spPr>
      </p:sp>
      <p:sp>
        <p:nvSpPr>
          <p:cNvPr id="7" name="Text 5"/>
          <p:cNvSpPr/>
          <p:nvPr/>
        </p:nvSpPr>
        <p:spPr>
          <a:xfrm>
            <a:off x="1234440" y="1298448"/>
            <a:ext cx="4663440" cy="320040"/>
          </a:xfrm>
          <a:prstGeom prst="rect">
            <a:avLst/>
          </a:prstGeom>
          <a:noFill/>
          <a:ln/>
        </p:spPr>
        <p:txBody>
          <a:bodyPr wrap="square" lIns="0" tIns="0" rIns="0" bIns="0" rtlCol="0" anchor="ctr"/>
          <a:lstStyle/>
          <a:p>
            <a:pPr indent="0" marL="0">
              <a:buNone/>
            </a:pPr>
            <a:r>
              <a:rPr lang="en-US" sz="1250" b="1" dirty="0">
                <a:solidFill>
                  <a:srgbClr val="1A1A1A"/>
                </a:solidFill>
                <a:latin typeface="Hiragino Sans" pitchFamily="34" charset="0"/>
                <a:ea typeface="Hiragino Sans" pitchFamily="34" charset="-122"/>
                <a:cs typeface="Hiragino Sans" pitchFamily="34" charset="-120"/>
              </a:rPr>
              <a:t>IEC 61970 CIM (CGMES 2.4.15) 書き出し</a:t>
            </a:r>
            <a:endParaRPr lang="en-US" sz="1250" dirty="0"/>
          </a:p>
        </p:txBody>
      </p:sp>
      <p:sp>
        <p:nvSpPr>
          <p:cNvPr id="8" name="Text 6"/>
          <p:cNvSpPr/>
          <p:nvPr/>
        </p:nvSpPr>
        <p:spPr>
          <a:xfrm>
            <a:off x="1051560" y="1645920"/>
            <a:ext cx="4663440" cy="987552"/>
          </a:xfrm>
          <a:prstGeom prst="rect">
            <a:avLst/>
          </a:prstGeom>
          <a:noFill/>
          <a:ln/>
        </p:spPr>
        <p:txBody>
          <a:bodyPr wrap="square" lIns="0" tIns="0" rIns="0" bIns="0" rtlCol="0" anchor="t"/>
          <a:lstStyle/>
          <a:p>
            <a:pPr indent="0" marL="0">
              <a:lnSpc>
                <a:spcPts val="1500"/>
              </a:lnSpc>
              <a:buNone/>
            </a:pPr>
            <a:r>
              <a:rPr lang="en-US" sz="1050" dirty="0">
                <a:solidFill>
                  <a:srgbClr val="55555F"/>
                </a:solidFill>
                <a:latin typeface="Hiragino Sans" pitchFamily="34" charset="0"/>
                <a:ea typeface="Hiragino Sans" pitchFamily="34" charset="-122"/>
                <a:cs typeface="Hiragino Sans" pitchFamily="34" charset="-120"/>
              </a:rPr>
              <a:t>EQ + GL の全10地域。決定的 UUIDv5 mRID・dangling参照 0。</a:t>
            </a:r>
            <a:endParaRPr lang="en-US" sz="1050" dirty="0"/>
          </a:p>
          <a:p>
            <a:pPr indent="0" marL="0">
              <a:lnSpc>
                <a:spcPts val="1500"/>
              </a:lnSpc>
              <a:buNone/>
            </a:pPr>
            <a:r>
              <a:rPr lang="en-US" sz="1050" dirty="0">
                <a:solidFill>
                  <a:srgbClr val="55555F"/>
                </a:solidFill>
                <a:latin typeface="Hiragino Sans" pitchFamily="34" charset="0"/>
                <a:ea typeface="Hiragino Sans" pitchFamily="34" charset="-122"/>
                <a:cs typeface="Hiragino Sans" pitchFamily="34" charset="-120"/>
              </a:rPr>
              <a:t>独立実装 pandapower cim2pp で読み戻して検証</a:t>
            </a:r>
            <a:endParaRPr lang="en-US" sz="1050" dirty="0"/>
          </a:p>
        </p:txBody>
      </p:sp>
      <p:sp>
        <p:nvSpPr>
          <p:cNvPr id="9" name="Shape 7"/>
          <p:cNvSpPr/>
          <p:nvPr/>
        </p:nvSpPr>
        <p:spPr>
          <a:xfrm>
            <a:off x="822960" y="2880360"/>
            <a:ext cx="5120640" cy="1554480"/>
          </a:xfrm>
          <a:prstGeom prst="roundRect">
            <a:avLst>
              <a:gd name="adj" fmla="val 3529"/>
            </a:avLst>
          </a:prstGeom>
          <a:solidFill>
            <a:srgbClr val="F4F4F6"/>
          </a:solidFill>
          <a:ln/>
        </p:spPr>
      </p:sp>
      <p:sp>
        <p:nvSpPr>
          <p:cNvPr id="10" name="Shape 8"/>
          <p:cNvSpPr/>
          <p:nvPr/>
        </p:nvSpPr>
        <p:spPr>
          <a:xfrm>
            <a:off x="1024128" y="3099816"/>
            <a:ext cx="128016" cy="128016"/>
          </a:xfrm>
          <a:prstGeom prst="rect">
            <a:avLst/>
          </a:prstGeom>
          <a:solidFill>
            <a:srgbClr val="17BECF"/>
          </a:solidFill>
          <a:ln/>
        </p:spPr>
      </p:sp>
      <p:sp>
        <p:nvSpPr>
          <p:cNvPr id="11" name="Text 9"/>
          <p:cNvSpPr/>
          <p:nvPr/>
        </p:nvSpPr>
        <p:spPr>
          <a:xfrm>
            <a:off x="1234440" y="2990088"/>
            <a:ext cx="4663440" cy="320040"/>
          </a:xfrm>
          <a:prstGeom prst="rect">
            <a:avLst/>
          </a:prstGeom>
          <a:noFill/>
          <a:ln/>
        </p:spPr>
        <p:txBody>
          <a:bodyPr wrap="square" lIns="0" tIns="0" rIns="0" bIns="0" rtlCol="0" anchor="ctr"/>
          <a:lstStyle/>
          <a:p>
            <a:pPr indent="0" marL="0">
              <a:buNone/>
            </a:pPr>
            <a:r>
              <a:rPr lang="en-US" sz="1250" b="1" dirty="0">
                <a:solidFill>
                  <a:srgbClr val="1A1A1A"/>
                </a:solidFill>
                <a:latin typeface="Hiragino Sans" pitchFamily="34" charset="0"/>
                <a:ea typeface="Hiragino Sans" pitchFamily="34" charset="-122"/>
                <a:cs typeface="Hiragino Sans" pitchFamily="34" charset="-120"/>
              </a:rPr>
              <a:t>Level-2：解ける潮流ケース</a:t>
            </a:r>
            <a:endParaRPr lang="en-US" sz="1250" dirty="0"/>
          </a:p>
        </p:txBody>
      </p:sp>
      <p:sp>
        <p:nvSpPr>
          <p:cNvPr id="12" name="Text 10"/>
          <p:cNvSpPr/>
          <p:nvPr/>
        </p:nvSpPr>
        <p:spPr>
          <a:xfrm>
            <a:off x="1051560" y="3337560"/>
            <a:ext cx="4663440" cy="987552"/>
          </a:xfrm>
          <a:prstGeom prst="rect">
            <a:avLst/>
          </a:prstGeom>
          <a:noFill/>
          <a:ln/>
        </p:spPr>
        <p:txBody>
          <a:bodyPr wrap="square" lIns="0" tIns="0" rIns="0" bIns="0" rtlCol="0" anchor="t"/>
          <a:lstStyle/>
          <a:p>
            <a:pPr indent="0" marL="0">
              <a:lnSpc>
                <a:spcPts val="1500"/>
              </a:lnSpc>
              <a:buNone/>
            </a:pPr>
            <a:r>
              <a:rPr lang="en-US" sz="1050" dirty="0">
                <a:solidFill>
                  <a:srgbClr val="55555F"/>
                </a:solidFill>
                <a:latin typeface="Hiragino Sans" pitchFamily="34" charset="0"/>
                <a:ea typeface="Hiragino Sans" pitchFamily="34" charset="-122"/>
                <a:cs typeface="Hiragino Sans" pitchFamily="34" charset="-120"/>
              </a:rPr>
              <a:t>EQ/TP/SSH/SV。cim2pp ラウンドトリップ後に runpp が収束</a:t>
            </a:r>
            <a:endParaRPr lang="en-US" sz="1050" dirty="0"/>
          </a:p>
          <a:p>
            <a:pPr indent="0" marL="0">
              <a:lnSpc>
                <a:spcPts val="1500"/>
              </a:lnSpc>
              <a:buNone/>
            </a:pPr>
            <a:r>
              <a:rPr lang="en-US" sz="1050" dirty="0">
                <a:solidFill>
                  <a:srgbClr val="55555F"/>
                </a:solidFill>
                <a:latin typeface="Hiragino Sans" pitchFamily="34" charset="0"/>
                <a:ea typeface="Hiragino Sans" pitchFamily="34" charset="-122"/>
                <a:cs typeface="Hiragino Sans" pitchFamily="34" charset="-120"/>
              </a:rPr>
              <a:t>（初出 okinawa 81母線 → 境界セット整備で全10地域）</a:t>
            </a:r>
            <a:endParaRPr lang="en-US" sz="1050" dirty="0"/>
          </a:p>
        </p:txBody>
      </p:sp>
      <p:sp>
        <p:nvSpPr>
          <p:cNvPr id="13" name="Shape 11"/>
          <p:cNvSpPr/>
          <p:nvPr/>
        </p:nvSpPr>
        <p:spPr>
          <a:xfrm>
            <a:off x="822960" y="4572000"/>
            <a:ext cx="5120640" cy="1554480"/>
          </a:xfrm>
          <a:prstGeom prst="roundRect">
            <a:avLst>
              <a:gd name="adj" fmla="val 3529"/>
            </a:avLst>
          </a:prstGeom>
          <a:solidFill>
            <a:srgbClr val="F4F4F6"/>
          </a:solidFill>
          <a:ln/>
        </p:spPr>
      </p:sp>
      <p:sp>
        <p:nvSpPr>
          <p:cNvPr id="14" name="Shape 12"/>
          <p:cNvSpPr/>
          <p:nvPr/>
        </p:nvSpPr>
        <p:spPr>
          <a:xfrm>
            <a:off x="1024128" y="4791456"/>
            <a:ext cx="128016" cy="128016"/>
          </a:xfrm>
          <a:prstGeom prst="rect">
            <a:avLst/>
          </a:prstGeom>
          <a:solidFill>
            <a:srgbClr val="17BECF"/>
          </a:solidFill>
          <a:ln/>
        </p:spPr>
      </p:sp>
      <p:sp>
        <p:nvSpPr>
          <p:cNvPr id="15" name="Text 13"/>
          <p:cNvSpPr/>
          <p:nvPr/>
        </p:nvSpPr>
        <p:spPr>
          <a:xfrm>
            <a:off x="1234440" y="4681728"/>
            <a:ext cx="4663440" cy="320040"/>
          </a:xfrm>
          <a:prstGeom prst="rect">
            <a:avLst/>
          </a:prstGeom>
          <a:noFill/>
          <a:ln/>
        </p:spPr>
        <p:txBody>
          <a:bodyPr wrap="square" lIns="0" tIns="0" rIns="0" bIns="0" rtlCol="0" anchor="ctr"/>
          <a:lstStyle/>
          <a:p>
            <a:pPr indent="0" marL="0">
              <a:buNone/>
            </a:pPr>
            <a:r>
              <a:rPr lang="en-US" sz="1250" b="1" dirty="0">
                <a:solidFill>
                  <a:srgbClr val="1A1A1A"/>
                </a:solidFill>
                <a:latin typeface="Hiragino Sans" pitchFamily="34" charset="0"/>
                <a:ea typeface="Hiragino Sans" pitchFamily="34" charset="-122"/>
                <a:cs typeface="Hiragino Sans" pitchFamily="34" charset="-120"/>
              </a:rPr>
              <a:t>統一DB（R/C/D 3層・SQLite）</a:t>
            </a:r>
            <a:endParaRPr lang="en-US" sz="1250" dirty="0"/>
          </a:p>
        </p:txBody>
      </p:sp>
      <p:sp>
        <p:nvSpPr>
          <p:cNvPr id="16" name="Text 14"/>
          <p:cNvSpPr/>
          <p:nvPr/>
        </p:nvSpPr>
        <p:spPr>
          <a:xfrm>
            <a:off x="1051560" y="5029200"/>
            <a:ext cx="4663440" cy="987552"/>
          </a:xfrm>
          <a:prstGeom prst="rect">
            <a:avLst/>
          </a:prstGeom>
          <a:noFill/>
          <a:ln/>
        </p:spPr>
        <p:txBody>
          <a:bodyPr wrap="square" lIns="0" tIns="0" rIns="0" bIns="0" rtlCol="0" anchor="t"/>
          <a:lstStyle/>
          <a:p>
            <a:pPr indent="0" marL="0">
              <a:lnSpc>
                <a:spcPts val="1500"/>
              </a:lnSpc>
              <a:buNone/>
            </a:pPr>
            <a:r>
              <a:rPr lang="en-US" sz="1050" dirty="0">
                <a:solidFill>
                  <a:srgbClr val="55555F"/>
                </a:solidFill>
                <a:latin typeface="Hiragino Sans" pitchFamily="34" charset="0"/>
                <a:ea typeface="Hiragino Sans" pitchFamily="34" charset="-122"/>
                <a:cs typeface="Hiragino Sans" pitchFamily="34" charset="-120"/>
              </a:rPr>
              <a:t>生feature（不変）/ キュレーション / 導出を分離。232,139行の</a:t>
            </a:r>
            <a:endParaRPr lang="en-US" sz="1050" dirty="0"/>
          </a:p>
          <a:p>
            <a:pPr indent="0" marL="0">
              <a:lnSpc>
                <a:spcPts val="1500"/>
              </a:lnSpc>
              <a:buNone/>
            </a:pPr>
            <a:r>
              <a:rPr lang="en-US" sz="1050" dirty="0">
                <a:solidFill>
                  <a:srgbClr val="55555F"/>
                </a:solidFill>
                <a:latin typeface="Hiragino Sans" pitchFamily="34" charset="0"/>
                <a:ea typeface="Hiragino Sans" pitchFamily="34" charset="-122"/>
                <a:cs typeface="Hiragino Sans" pitchFamily="34" charset="-120"/>
              </a:rPr>
              <a:t>人手修正が OSM 再取得を生き延びる — 出所つきで</a:t>
            </a:r>
            <a:endParaRPr lang="en-US" sz="1050" dirty="0"/>
          </a:p>
        </p:txBody>
      </p:sp>
      <p:sp>
        <p:nvSpPr>
          <p:cNvPr id="17" name="Shape 15"/>
          <p:cNvSpPr/>
          <p:nvPr/>
        </p:nvSpPr>
        <p:spPr>
          <a:xfrm>
            <a:off x="6309360" y="1188720"/>
            <a:ext cx="5120640" cy="4937760"/>
          </a:xfrm>
          <a:prstGeom prst="roundRect">
            <a:avLst>
              <a:gd name="adj" fmla="val 1111"/>
            </a:avLst>
          </a:prstGeom>
          <a:solidFill>
            <a:srgbClr val="FFF3F3"/>
          </a:solidFill>
          <a:ln w="13970">
            <a:solidFill>
              <a:srgbClr val="C62828"/>
            </a:solidFill>
            <a:prstDash val="solid"/>
          </a:ln>
        </p:spPr>
      </p:sp>
      <p:sp>
        <p:nvSpPr>
          <p:cNvPr id="18" name="Text 16"/>
          <p:cNvSpPr/>
          <p:nvPr/>
        </p:nvSpPr>
        <p:spPr>
          <a:xfrm>
            <a:off x="6537960" y="1325880"/>
            <a:ext cx="4663440" cy="502920"/>
          </a:xfrm>
          <a:prstGeom prst="rect">
            <a:avLst/>
          </a:prstGeom>
          <a:noFill/>
          <a:ln/>
        </p:spPr>
        <p:txBody>
          <a:bodyPr wrap="square" lIns="0" tIns="0" rIns="0" bIns="0" rtlCol="0" anchor="ctr"/>
          <a:lstStyle/>
          <a:p>
            <a:pPr indent="0" marL="0">
              <a:buNone/>
            </a:pPr>
            <a:r>
              <a:rPr lang="en-US" sz="1300" b="1" dirty="0">
                <a:solidFill>
                  <a:srgbClr val="C62828"/>
                </a:solidFill>
                <a:latin typeface="Hiragino Sans" pitchFamily="34" charset="0"/>
                <a:ea typeface="Hiragino Sans" pitchFamily="34" charset="-122"/>
                <a:cs typeface="Hiragino Sans" pitchFamily="34" charset="-120"/>
              </a:rPr>
              <a:t>ラウンドトリップ検証が捕まえた電気的バグ（v1.2.1）</a:t>
            </a:r>
            <a:endParaRPr lang="en-US" sz="1300" dirty="0"/>
          </a:p>
        </p:txBody>
      </p:sp>
      <p:sp>
        <p:nvSpPr>
          <p:cNvPr id="19" name="Text 17"/>
          <p:cNvSpPr/>
          <p:nvPr/>
        </p:nvSpPr>
        <p:spPr>
          <a:xfrm>
            <a:off x="6537960" y="1920240"/>
            <a:ext cx="4709160" cy="3291840"/>
          </a:xfrm>
          <a:prstGeom prst="rect">
            <a:avLst/>
          </a:prstGeom>
          <a:noFill/>
          <a:ln/>
        </p:spPr>
        <p:txBody>
          <a:bodyPr wrap="square" lIns="0" tIns="0" rIns="0" bIns="0" rtlCol="0" anchor="t"/>
          <a:lstStyle/>
          <a:p>
            <a:pPr marL="152400" indent="-152400">
              <a:lnSpc>
                <a:spcPts val="1600"/>
              </a:lnSpc>
              <a:buSzPct val="100000"/>
              <a:buChar char="•"/>
            </a:pPr>
            <a:r>
              <a:rPr lang="en-US" sz="1150" dirty="0">
                <a:solidFill>
                  <a:srgbClr val="1A1A1A"/>
                </a:solidFill>
                <a:latin typeface="Hiragino Sans" pitchFamily="34" charset="0"/>
                <a:ea typeface="Hiragino Sans" pitchFamily="34" charset="-122"/>
                <a:cs typeface="Hiragino Sans" pitchFamily="34" charset="-120"/>
              </a:rPr>
              <a:t>並列回線・変圧器バンクのインピーダンスが最大4倍（束等価を書かず素の値を出していた）</a:t>
            </a:r>
            <a:endParaRPr lang="en-US" sz="1150" dirty="0"/>
          </a:p>
          <a:p>
            <a:pPr marL="152400" indent="-152400">
              <a:lnSpc>
                <a:spcPts val="1600"/>
              </a:lnSpc>
              <a:buSzPct val="100000"/>
              <a:buChar char="•"/>
            </a:pPr>
            <a:r>
              <a:rPr lang="en-US" sz="1150" dirty="0">
                <a:solidFill>
                  <a:srgbClr val="1A1A1A"/>
                </a:solidFill>
                <a:latin typeface="Hiragino Sans" pitchFamily="34" charset="0"/>
                <a:ea typeface="Hiragino Sans" pitchFamily="34" charset="-122"/>
                <a:cs typeface="Hiragino Sans" pitchFamily="34" charset="-120"/>
              </a:rPr>
              <a:t>Conductor.length がメートルのまま → km と解釈され1000倍で往復</a:t>
            </a:r>
            <a:endParaRPr lang="en-US" sz="1150" dirty="0"/>
          </a:p>
          <a:p>
            <a:pPr marL="152400" indent="-152400">
              <a:lnSpc>
                <a:spcPts val="1600"/>
              </a:lnSpc>
              <a:buSzPct val="100000"/>
              <a:buChar char="•"/>
            </a:pPr>
            <a:r>
              <a:rPr lang="en-US" sz="1150" dirty="0">
                <a:solidFill>
                  <a:srgbClr val="1A1A1A"/>
                </a:solidFill>
                <a:latin typeface="Hiragino Sans" pitchFamily="34" charset="0"/>
                <a:ea typeface="Hiragino Sans" pitchFamily="34" charset="-122"/>
                <a:cs typeface="Hiragino Sans" pitchFamily="34" charset="-120"/>
              </a:rPr>
              <a:t>in_service が落ち、停止線・停止負荷がインポートで再充電</a:t>
            </a:r>
            <a:endParaRPr lang="en-US" sz="1150" dirty="0"/>
          </a:p>
          <a:p>
            <a:pPr marL="152400" indent="-152400">
              <a:lnSpc>
                <a:spcPts val="1600"/>
              </a:lnSpc>
              <a:buSzPct val="100000"/>
              <a:buChar char="•"/>
            </a:pPr>
            <a:r>
              <a:rPr lang="en-US" sz="1150" dirty="0">
                <a:solidFill>
                  <a:srgbClr val="1A1A1A"/>
                </a:solidFill>
                <a:latin typeface="Hiragino Sans" pitchFamily="34" charset="0"/>
                <a:ea typeface="Hiragino Sans" pitchFamily="34" charset="-122"/>
                <a:cs typeface="Hiragino Sans" pitchFamily="34" charset="-120"/>
              </a:rPr>
              <a:t>需要スケール版が発電3.5倍のまま出荷、slack が72%を吸収（→ load×1.05 に再配分）</a:t>
            </a:r>
            <a:endParaRPr lang="en-US" sz="1150" dirty="0"/>
          </a:p>
          <a:p>
            <a:pPr marL="152400" indent="-152400">
              <a:lnSpc>
                <a:spcPts val="1600"/>
              </a:lnSpc>
              <a:buSzPct val="100000"/>
              <a:buChar char="•"/>
            </a:pPr>
            <a:r>
              <a:rPr lang="en-US" sz="1150" dirty="0">
                <a:solidFill>
                  <a:srgbClr val="1A1A1A"/>
                </a:solidFill>
                <a:latin typeface="Hiragino Sans" pitchFamily="34" charset="0"/>
                <a:ea typeface="Hiragino Sans" pitchFamily="34" charset="-122"/>
                <a:cs typeface="Hiragino Sans" pitchFamily="34" charset="-120"/>
              </a:rPr>
              <a:t>『native収束』を名乗っていた2地域は、バグ入り往復が偶然収束していただけ</a:t>
            </a:r>
            <a:endParaRPr lang="en-US" sz="1150" dirty="0"/>
          </a:p>
        </p:txBody>
      </p:sp>
      <p:sp>
        <p:nvSpPr>
          <p:cNvPr id="20" name="Text 18"/>
          <p:cNvSpPr/>
          <p:nvPr/>
        </p:nvSpPr>
        <p:spPr>
          <a:xfrm>
            <a:off x="6537960" y="5257800"/>
            <a:ext cx="4709160" cy="731520"/>
          </a:xfrm>
          <a:prstGeom prst="rect">
            <a:avLst/>
          </a:prstGeom>
          <a:noFill/>
          <a:ln/>
        </p:spPr>
        <p:txBody>
          <a:bodyPr wrap="square" lIns="0" tIns="0" rIns="0" bIns="0" rtlCol="0" anchor="ctr"/>
          <a:lstStyle/>
          <a:p>
            <a:pPr indent="0" marL="0">
              <a:lnSpc>
                <a:spcPts val="1600"/>
              </a:lnSpc>
              <a:buNone/>
            </a:pPr>
            <a:r>
              <a:rPr lang="en-US" sz="1150" b="1" dirty="0">
                <a:solidFill>
                  <a:srgbClr val="1E2761"/>
                </a:solidFill>
                <a:latin typeface="Hiragino Sans" pitchFamily="34" charset="0"/>
                <a:ea typeface="Hiragino Sans" pitchFamily="34" charset="-122"/>
                <a:cs typeface="Hiragino Sans" pitchFamily="34" charset="-120"/>
              </a:rPr>
              <a:t>→ 修正後は vm差 &lt; 1e-4 pu の電気的同一性を回帰テストで固定。</a:t>
            </a:r>
            <a:endParaRPr lang="en-US" sz="1150" dirty="0"/>
          </a:p>
          <a:p>
            <a:pPr indent="0" marL="0">
              <a:lnSpc>
                <a:spcPts val="1600"/>
              </a:lnSpc>
              <a:buNone/>
            </a:pPr>
            <a:r>
              <a:rPr lang="en-US" sz="1150" b="1" dirty="0">
                <a:solidFill>
                  <a:srgbClr val="1E2761"/>
                </a:solidFill>
                <a:latin typeface="Hiragino Sans" pitchFamily="34" charset="0"/>
                <a:ea typeface="Hiragino Sans" pitchFamily="34" charset="-122"/>
                <a:cs typeface="Hiragino Sans" pitchFamily="34" charset="-120"/>
              </a:rPr>
              <a:t>標準に書き出せる＝独立実装に読ませて突き合わせられる、ということ。</a:t>
            </a:r>
            <a:endParaRPr lang="en-US" sz="1150" dirty="0"/>
          </a:p>
        </p:txBody>
      </p:sp>
      <p:sp>
        <p:nvSpPr>
          <p:cNvPr id="21" name="Text 19"/>
          <p:cNvSpPr/>
          <p:nvPr/>
        </p:nvSpPr>
        <p:spPr>
          <a:xfrm>
            <a:off x="640080" y="6510528"/>
            <a:ext cx="5486400" cy="256032"/>
          </a:xfrm>
          <a:prstGeom prst="rect">
            <a:avLst/>
          </a:prstGeom>
          <a:noFill/>
          <a:ln/>
        </p:spPr>
        <p:txBody>
          <a:bodyPr wrap="square" lIns="0" tIns="0" rIns="0" bIns="0" rtlCol="0" anchor="ctr"/>
          <a:lstStyle/>
          <a:p>
            <a:pPr indent="0" marL="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22" name="Text 20"/>
          <p:cNvSpPr/>
          <p:nvPr/>
        </p:nvSpPr>
        <p:spPr>
          <a:xfrm>
            <a:off x="9692640" y="6510528"/>
            <a:ext cx="1463040" cy="256032"/>
          </a:xfrm>
          <a:prstGeom prst="rect">
            <a:avLst/>
          </a:prstGeom>
          <a:noFill/>
          <a:ln/>
        </p:spPr>
        <p:txBody>
          <a:bodyPr wrap="square" lIns="0" tIns="0" rIns="0" bIns="0" rtlCol="0" anchor="ctr"/>
          <a:lstStyle/>
          <a:p>
            <a:pPr algn="r" indent="0" marL="0">
              <a:buNone/>
            </a:pPr>
            <a:r>
              <a:rPr lang="en-US" sz="900" dirty="0">
                <a:solidFill>
                  <a:srgbClr val="55555F"/>
                </a:solidFill>
                <a:latin typeface="Helvetica Neue" pitchFamily="34" charset="0"/>
                <a:ea typeface="Helvetica Neue" pitchFamily="34" charset="-122"/>
                <a:cs typeface="Helvetica Neue" pitchFamily="34" charset="-120"/>
              </a:rPr>
              <a:t>1:30</a:t>
            </a:r>
            <a:endParaRPr lang="en-US" sz="900" dirty="0"/>
          </a:p>
        </p:txBody>
      </p:sp>
      <p:sp>
        <p:nvSpPr>
          <p:cNvPr id="23" name="Text 21"/>
          <p:cNvSpPr/>
          <p:nvPr/>
        </p:nvSpPr>
        <p:spPr>
          <a:xfrm>
            <a:off x="11338560" y="6510528"/>
            <a:ext cx="457200" cy="256032"/>
          </a:xfrm>
          <a:prstGeom prst="rect">
            <a:avLst/>
          </a:prstGeom>
          <a:noFill/>
          <a:ln/>
        </p:spPr>
        <p:txBody>
          <a:bodyPr wrap="square" lIns="0" tIns="0" rIns="0" bIns="0" rtlCol="0" anchor="ctr"/>
          <a:lstStyle/>
          <a:p>
            <a:pPr algn="r" indent="0" marL="0">
              <a:buNone/>
            </a:pPr>
            <a:r>
              <a:rPr lang="en-US" sz="1000" dirty="0">
                <a:solidFill>
                  <a:srgbClr val="55555F"/>
                </a:solidFill>
                <a:latin typeface="Helvetica Neue" pitchFamily="34" charset="0"/>
                <a:ea typeface="Helvetica Neue" pitchFamily="34" charset="-122"/>
                <a:cs typeface="Helvetica Neue"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17BECF"/>
          </a:solidFill>
          <a:ln/>
        </p:spPr>
      </p:sp>
      <p:sp>
        <p:nvSpPr>
          <p:cNvPr id="3" name="Text 1"/>
          <p:cNvSpPr/>
          <p:nvPr/>
        </p:nvSpPr>
        <p:spPr>
          <a:xfrm>
            <a:off x="621792" y="347472"/>
            <a:ext cx="19202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Hiragino Sans" pitchFamily="34" charset="0"/>
                <a:ea typeface="Hiragino Sans" pitchFamily="34" charset="-122"/>
                <a:cs typeface="Hiragino Sans" pitchFamily="34" charset="-120"/>
              </a:rPr>
              <a:t>第2幕 v1.3–1.4</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indent="0" marL="0">
              <a:buNone/>
            </a:pPr>
            <a:r>
              <a:rPr lang="en-US" sz="2100" b="1" dirty="0">
                <a:solidFill>
                  <a:srgbClr val="1A1A1A"/>
                </a:solidFill>
                <a:latin typeface="Hiragino Sans" pitchFamily="34" charset="0"/>
                <a:ea typeface="Hiragino Sans" pitchFamily="34" charset="-122"/>
                <a:cs typeface="Hiragino Sans" pitchFamily="34" charset="-120"/>
              </a:rPr>
              <a:t>解ける化：トポロジのバグを潰したら 10/10 地域が解けた</a:t>
            </a:r>
            <a:endParaRPr lang="en-US" sz="2100" dirty="0"/>
          </a:p>
        </p:txBody>
      </p:sp>
      <p:sp>
        <p:nvSpPr>
          <p:cNvPr id="5" name="Shape 3"/>
          <p:cNvSpPr/>
          <p:nvPr/>
        </p:nvSpPr>
        <p:spPr>
          <a:xfrm>
            <a:off x="822960" y="1188720"/>
            <a:ext cx="5669280" cy="1280160"/>
          </a:xfrm>
          <a:prstGeom prst="roundRect">
            <a:avLst>
              <a:gd name="adj" fmla="val 4286"/>
            </a:avLst>
          </a:prstGeom>
          <a:solidFill>
            <a:srgbClr val="F4F4F6"/>
          </a:solidFill>
          <a:ln/>
        </p:spPr>
      </p:sp>
      <p:sp>
        <p:nvSpPr>
          <p:cNvPr id="6" name="Shape 4"/>
          <p:cNvSpPr/>
          <p:nvPr/>
        </p:nvSpPr>
        <p:spPr>
          <a:xfrm>
            <a:off x="1024128" y="1408176"/>
            <a:ext cx="128016" cy="128016"/>
          </a:xfrm>
          <a:prstGeom prst="rect">
            <a:avLst/>
          </a:prstGeom>
          <a:solidFill>
            <a:srgbClr val="17BECF"/>
          </a:solidFill>
          <a:ln/>
        </p:spPr>
      </p:sp>
      <p:sp>
        <p:nvSpPr>
          <p:cNvPr id="7" name="Text 5"/>
          <p:cNvSpPr/>
          <p:nvPr/>
        </p:nvSpPr>
        <p:spPr>
          <a:xfrm>
            <a:off x="1234440" y="1298448"/>
            <a:ext cx="5212080" cy="320040"/>
          </a:xfrm>
          <a:prstGeom prst="rect">
            <a:avLst/>
          </a:prstGeom>
          <a:noFill/>
          <a:ln/>
        </p:spPr>
        <p:txBody>
          <a:bodyPr wrap="square" lIns="0" tIns="0" rIns="0" bIns="0" rtlCol="0" anchor="ctr"/>
          <a:lstStyle/>
          <a:p>
            <a:pPr indent="0" marL="0">
              <a:buNone/>
            </a:pPr>
            <a:r>
              <a:rPr lang="en-US" sz="1200" b="1" dirty="0">
                <a:solidFill>
                  <a:srgbClr val="1A1A1A"/>
                </a:solidFill>
                <a:latin typeface="Hiragino Sans" pitchFamily="34" charset="0"/>
                <a:ea typeface="Hiragino Sans" pitchFamily="34" charset="-122"/>
                <a:cs typeface="Hiragino Sans" pitchFamily="34" charset="-120"/>
              </a:rPr>
              <a:t>並列回線の数え方（v1.3）</a:t>
            </a:r>
            <a:endParaRPr lang="en-US" sz="1200" dirty="0"/>
          </a:p>
        </p:txBody>
      </p:sp>
      <p:sp>
        <p:nvSpPr>
          <p:cNvPr id="8" name="Text 6"/>
          <p:cNvSpPr/>
          <p:nvPr/>
        </p:nvSpPr>
        <p:spPr>
          <a:xfrm>
            <a:off x="1051560" y="1645920"/>
            <a:ext cx="5212080" cy="713232"/>
          </a:xfrm>
          <a:prstGeom prst="rect">
            <a:avLst/>
          </a:prstGeom>
          <a:noFill/>
          <a:ln/>
        </p:spPr>
        <p:txBody>
          <a:bodyPr wrap="square" lIns="0" tIns="0" rIns="0" bIns="0" rtlCol="0" anchor="t"/>
          <a:lstStyle/>
          <a:p>
            <a:pPr indent="0" marL="0">
              <a:lnSpc>
                <a:spcPts val="1500"/>
              </a:lnSpc>
              <a:buNone/>
            </a:pPr>
            <a:r>
              <a:rPr lang="en-US" sz="1000" dirty="0">
                <a:solidFill>
                  <a:srgbClr val="55555F"/>
                </a:solidFill>
                <a:latin typeface="Hiragino Sans" pitchFamily="34" charset="0"/>
                <a:ea typeface="Hiragino Sans" pitchFamily="34" charset="-122"/>
                <a:cs typeface="Hiragino Sans" pitchFamily="34" charset="-120"/>
              </a:rPr>
              <a:t>1本のwayがノード対をジグザグに跨ぐと並列数が水増しされていた。</a:t>
            </a:r>
            <a:endParaRPr lang="en-US" sz="1000" dirty="0"/>
          </a:p>
          <a:p>
            <a:pPr indent="0" marL="0">
              <a:lnSpc>
                <a:spcPts val="1500"/>
              </a:lnSpc>
              <a:buNone/>
            </a:pPr>
            <a:r>
              <a:rPr lang="en-US" sz="1000" dirty="0">
                <a:solidFill>
                  <a:srgbClr val="55555F"/>
                </a:solidFill>
                <a:latin typeface="Hiragino Sans" pitchFamily="34" charset="0"/>
                <a:ea typeface="Hiragino Sans" pitchFamily="34" charset="-122"/>
                <a:cs typeface="Hiragino Sans" pitchFamily="34" charset="-120"/>
              </a:rPr>
              <a:t>次数2連鎖の縮約が回線多重度を1にリセットするのも修正 → 同鉄塔2回線の容量が戻る</a:t>
            </a:r>
            <a:endParaRPr lang="en-US" sz="1000" dirty="0"/>
          </a:p>
        </p:txBody>
      </p:sp>
      <p:sp>
        <p:nvSpPr>
          <p:cNvPr id="9" name="Shape 7"/>
          <p:cNvSpPr/>
          <p:nvPr/>
        </p:nvSpPr>
        <p:spPr>
          <a:xfrm>
            <a:off x="822960" y="2578608"/>
            <a:ext cx="5669280" cy="1280160"/>
          </a:xfrm>
          <a:prstGeom prst="roundRect">
            <a:avLst>
              <a:gd name="adj" fmla="val 4286"/>
            </a:avLst>
          </a:prstGeom>
          <a:solidFill>
            <a:srgbClr val="F4F4F6"/>
          </a:solidFill>
          <a:ln/>
        </p:spPr>
      </p:sp>
      <p:sp>
        <p:nvSpPr>
          <p:cNvPr id="10" name="Shape 8"/>
          <p:cNvSpPr/>
          <p:nvPr/>
        </p:nvSpPr>
        <p:spPr>
          <a:xfrm>
            <a:off x="1024128" y="2798064"/>
            <a:ext cx="128016" cy="128016"/>
          </a:xfrm>
          <a:prstGeom prst="rect">
            <a:avLst/>
          </a:prstGeom>
          <a:solidFill>
            <a:srgbClr val="17BECF"/>
          </a:solidFill>
          <a:ln/>
        </p:spPr>
      </p:sp>
      <p:sp>
        <p:nvSpPr>
          <p:cNvPr id="11" name="Text 9"/>
          <p:cNvSpPr/>
          <p:nvPr/>
        </p:nvSpPr>
        <p:spPr>
          <a:xfrm>
            <a:off x="1234440" y="2688336"/>
            <a:ext cx="5212080" cy="320040"/>
          </a:xfrm>
          <a:prstGeom prst="rect">
            <a:avLst/>
          </a:prstGeom>
          <a:noFill/>
          <a:ln/>
        </p:spPr>
        <p:txBody>
          <a:bodyPr wrap="square" lIns="0" tIns="0" rIns="0" bIns="0" rtlCol="0" anchor="ctr"/>
          <a:lstStyle/>
          <a:p>
            <a:pPr indent="0" marL="0">
              <a:buNone/>
            </a:pPr>
            <a:r>
              <a:rPr lang="en-US" sz="1200" b="1" dirty="0">
                <a:solidFill>
                  <a:srgbClr val="1A1A1A"/>
                </a:solidFill>
                <a:latin typeface="Hiragino Sans" pitchFamily="34" charset="0"/>
                <a:ea typeface="Hiragino Sans" pitchFamily="34" charset="-122"/>
                <a:cs typeface="Hiragino Sans" pitchFamily="34" charset="-120"/>
              </a:rPr>
              <a:t>電圧タグ解釈の統一（v1.3）</a:t>
            </a:r>
            <a:endParaRPr lang="en-US" sz="1200" dirty="0"/>
          </a:p>
        </p:txBody>
      </p:sp>
      <p:sp>
        <p:nvSpPr>
          <p:cNvPr id="12" name="Text 10"/>
          <p:cNvSpPr/>
          <p:nvPr/>
        </p:nvSpPr>
        <p:spPr>
          <a:xfrm>
            <a:off x="1051560" y="3035808"/>
            <a:ext cx="5212080" cy="713232"/>
          </a:xfrm>
          <a:prstGeom prst="rect">
            <a:avLst/>
          </a:prstGeom>
          <a:noFill/>
          <a:ln/>
        </p:spPr>
        <p:txBody>
          <a:bodyPr wrap="square" lIns="0" tIns="0" rIns="0" bIns="0" rtlCol="0" anchor="t"/>
          <a:lstStyle/>
          <a:p>
            <a:pPr indent="0" marL="0">
              <a:lnSpc>
                <a:spcPts val="1500"/>
              </a:lnSpc>
              <a:buNone/>
            </a:pPr>
            <a:r>
              <a:rPr lang="en-US" sz="1000" dirty="0">
                <a:solidFill>
                  <a:srgbClr val="55555F"/>
                </a:solidFill>
                <a:latin typeface="Hiragino Sans" pitchFamily="34" charset="0"/>
                <a:ea typeface="Hiragino Sans" pitchFamily="34" charset="-122"/>
                <a:cs typeface="Hiragino Sans" pitchFamily="34" charset="-120"/>
              </a:rPr>
              <a:t>"66000;154000" は最高階級154 kVに解決、"," は値区切り</a:t>
            </a:r>
            <a:endParaRPr lang="en-US" sz="1000" dirty="0"/>
          </a:p>
          <a:p>
            <a:pPr indent="0" marL="0">
              <a:lnSpc>
                <a:spcPts val="1500"/>
              </a:lnSpc>
              <a:buNone/>
            </a:pPr>
            <a:r>
              <a:rPr lang="en-US" sz="1000" dirty="0">
                <a:solidFill>
                  <a:srgbClr val="55555F"/>
                </a:solidFill>
                <a:latin typeface="Hiragino Sans" pitchFamily="34" charset="0"/>
                <a:ea typeface="Hiragino Sans" pitchFamily="34" charset="-122"/>
                <a:cs typeface="Hiragino Sans" pitchFamily="34" charset="-120"/>
              </a:rPr>
              <a:t>（"77000,6600" → 770006.6 kV という連結事故を根絶）。6実装2意味論 → 1実装</a:t>
            </a:r>
            <a:endParaRPr lang="en-US" sz="1000" dirty="0"/>
          </a:p>
        </p:txBody>
      </p:sp>
      <p:sp>
        <p:nvSpPr>
          <p:cNvPr id="13" name="Shape 11"/>
          <p:cNvSpPr/>
          <p:nvPr/>
        </p:nvSpPr>
        <p:spPr>
          <a:xfrm>
            <a:off x="822960" y="3968496"/>
            <a:ext cx="5669280" cy="1280160"/>
          </a:xfrm>
          <a:prstGeom prst="roundRect">
            <a:avLst>
              <a:gd name="adj" fmla="val 4286"/>
            </a:avLst>
          </a:prstGeom>
          <a:solidFill>
            <a:srgbClr val="F4F4F6"/>
          </a:solidFill>
          <a:ln/>
        </p:spPr>
      </p:sp>
      <p:sp>
        <p:nvSpPr>
          <p:cNvPr id="14" name="Shape 12"/>
          <p:cNvSpPr/>
          <p:nvPr/>
        </p:nvSpPr>
        <p:spPr>
          <a:xfrm>
            <a:off x="1024128" y="4187952"/>
            <a:ext cx="128016" cy="128016"/>
          </a:xfrm>
          <a:prstGeom prst="rect">
            <a:avLst/>
          </a:prstGeom>
          <a:solidFill>
            <a:srgbClr val="2E7D32"/>
          </a:solidFill>
          <a:ln/>
        </p:spPr>
      </p:sp>
      <p:sp>
        <p:nvSpPr>
          <p:cNvPr id="15" name="Text 13"/>
          <p:cNvSpPr/>
          <p:nvPr/>
        </p:nvSpPr>
        <p:spPr>
          <a:xfrm>
            <a:off x="1234440" y="4078224"/>
            <a:ext cx="5212080" cy="320040"/>
          </a:xfrm>
          <a:prstGeom prst="rect">
            <a:avLst/>
          </a:prstGeom>
          <a:noFill/>
          <a:ln/>
        </p:spPr>
        <p:txBody>
          <a:bodyPr wrap="square" lIns="0" tIns="0" rIns="0" bIns="0" rtlCol="0" anchor="ctr"/>
          <a:lstStyle/>
          <a:p>
            <a:pPr indent="0" marL="0">
              <a:buNone/>
            </a:pPr>
            <a:r>
              <a:rPr lang="en-US" sz="1200" b="1" dirty="0">
                <a:solidFill>
                  <a:srgbClr val="1A1A1A"/>
                </a:solidFill>
                <a:latin typeface="Hiragino Sans" pitchFamily="34" charset="0"/>
                <a:ea typeface="Hiragino Sans" pitchFamily="34" charset="-122"/>
                <a:cs typeface="Hiragino Sans" pitchFamily="34" charset="-120"/>
              </a:rPr>
              <a:t>実データとの外部検証（v1.4）</a:t>
            </a:r>
            <a:endParaRPr lang="en-US" sz="1200" dirty="0"/>
          </a:p>
        </p:txBody>
      </p:sp>
      <p:sp>
        <p:nvSpPr>
          <p:cNvPr id="16" name="Text 14"/>
          <p:cNvSpPr/>
          <p:nvPr/>
        </p:nvSpPr>
        <p:spPr>
          <a:xfrm>
            <a:off x="1051560" y="4425696"/>
            <a:ext cx="5212080" cy="713232"/>
          </a:xfrm>
          <a:prstGeom prst="rect">
            <a:avLst/>
          </a:prstGeom>
          <a:noFill/>
          <a:ln/>
        </p:spPr>
        <p:txBody>
          <a:bodyPr wrap="square" lIns="0" tIns="0" rIns="0" bIns="0" rtlCol="0" anchor="t"/>
          <a:lstStyle/>
          <a:p>
            <a:pPr indent="0" marL="0">
              <a:lnSpc>
                <a:spcPts val="1500"/>
              </a:lnSpc>
              <a:buNone/>
            </a:pPr>
            <a:r>
              <a:rPr lang="en-US" sz="1000" dirty="0">
                <a:solidFill>
                  <a:srgbClr val="55555F"/>
                </a:solidFill>
                <a:latin typeface="Hiragino Sans" pitchFamily="34" charset="0"/>
                <a:ea typeface="Hiragino Sans" pitchFamily="34" charset="-122"/>
                <a:cs typeface="Hiragino Sans" pitchFamily="34" charset="-120"/>
              </a:rPr>
              <a:t>東電の線別潮流と回廊利用率の順位相関、関西の開示線名と照合</a:t>
            </a:r>
            <a:endParaRPr lang="en-US" sz="1000" dirty="0"/>
          </a:p>
          <a:p>
            <a:pPr indent="0" marL="0">
              <a:lnSpc>
                <a:spcPts val="1500"/>
              </a:lnSpc>
              <a:buNone/>
            </a:pPr>
            <a:r>
              <a:rPr lang="en-US" sz="1000" dirty="0">
                <a:solidFill>
                  <a:srgbClr val="55555F"/>
                </a:solidFill>
                <a:latin typeface="Hiragino Sans" pitchFamily="34" charset="0"/>
                <a:ea typeface="Hiragino Sans" pitchFamily="34" charset="-122"/>
                <a:cs typeface="Hiragino Sans" pitchFamily="34" charset="-120"/>
              </a:rPr>
              <a:t>（≥154 kV 幹線38本で97%一致）— スコアカードをJSONで同梱</a:t>
            </a:r>
            <a:endParaRPr lang="en-US" sz="1000" dirty="0"/>
          </a:p>
        </p:txBody>
      </p:sp>
      <p:pic>
        <p:nvPicPr>
          <p:cNvPr id="17" name="Image 0" descr="assets/fig_satellite_validation.png">    </p:cNvPr>
          <p:cNvPicPr>
            <a:picLocks noChangeAspect="1"/>
          </p:cNvPicPr>
          <p:nvPr/>
        </p:nvPicPr>
        <p:blipFill>
          <a:blip r:embed="rId1"/>
          <a:srcRect l="0" r="0" t="0" b="0"/>
          <a:stretch/>
        </p:blipFill>
        <p:spPr>
          <a:xfrm>
            <a:off x="822960" y="5376672"/>
            <a:ext cx="5669280" cy="1042416"/>
          </a:xfrm>
          <a:prstGeom prst="rect">
            <a:avLst/>
          </a:prstGeom>
        </p:spPr>
      </p:pic>
      <p:sp>
        <p:nvSpPr>
          <p:cNvPr id="18" name="Shape 15"/>
          <p:cNvSpPr/>
          <p:nvPr/>
        </p:nvSpPr>
        <p:spPr>
          <a:xfrm>
            <a:off x="822960" y="6144768"/>
            <a:ext cx="5669280" cy="274320"/>
          </a:xfrm>
          <a:prstGeom prst="rect">
            <a:avLst/>
          </a:prstGeom>
          <a:solidFill>
            <a:srgbClr val="000000">
              <a:alpha val="55000"/>
            </a:srgbClr>
          </a:solidFill>
          <a:ln/>
        </p:spPr>
      </p:sp>
      <p:sp>
        <p:nvSpPr>
          <p:cNvPr id="19" name="Text 16"/>
          <p:cNvSpPr/>
          <p:nvPr/>
        </p:nvSpPr>
        <p:spPr>
          <a:xfrm>
            <a:off x="914400" y="6144768"/>
            <a:ext cx="5486400" cy="274320"/>
          </a:xfrm>
          <a:prstGeom prst="rect">
            <a:avLst/>
          </a:prstGeom>
          <a:noFill/>
          <a:ln/>
        </p:spPr>
        <p:txBody>
          <a:bodyPr wrap="square" lIns="0" tIns="0" rIns="0" bIns="0" rtlCol="0" anchor="ctr"/>
          <a:lstStyle/>
          <a:p>
            <a:pPr indent="0" marL="0">
              <a:buNone/>
            </a:pPr>
            <a:r>
              <a:rPr lang="en-US" sz="850" dirty="0">
                <a:solidFill>
                  <a:srgbClr val="FFFFFF"/>
                </a:solidFill>
                <a:latin typeface="Hiragino Sans" pitchFamily="34" charset="0"/>
                <a:ea typeface="Hiragino Sans" pitchFamily="34" charset="-122"/>
                <a:cs typeface="Hiragino Sans" pitchFamily="34" charset="-120"/>
              </a:rPr>
              <a:t>v1.1 比較タブ：衛星写真上で位置を目視検証（左から鹿島・火力構内・変電所）</a:t>
            </a:r>
            <a:endParaRPr lang="en-US" sz="850" dirty="0"/>
          </a:p>
        </p:txBody>
      </p:sp>
      <p:pic>
        <p:nvPicPr>
          <p:cNvPr id="20" name="Image 1" descr="assets/fig_cim_national_pf.png">    </p:cNvPr>
          <p:cNvPicPr>
            <a:picLocks noChangeAspect="1"/>
          </p:cNvPicPr>
          <p:nvPr/>
        </p:nvPicPr>
        <p:blipFill>
          <a:blip r:embed="rId2"/>
          <a:stretch>
            <a:fillRect/>
          </a:stretch>
        </p:blipFill>
        <p:spPr>
          <a:xfrm>
            <a:off x="6903720" y="1234440"/>
            <a:ext cx="4709160" cy="4636008"/>
          </a:xfrm>
          <a:prstGeom prst="rect">
            <a:avLst/>
          </a:prstGeom>
        </p:spPr>
      </p:pic>
      <p:sp>
        <p:nvSpPr>
          <p:cNvPr id="21" name="Text 17"/>
          <p:cNvSpPr/>
          <p:nvPr/>
        </p:nvSpPr>
        <p:spPr>
          <a:xfrm>
            <a:off x="6720840" y="5943600"/>
            <a:ext cx="4846320" cy="457200"/>
          </a:xfrm>
          <a:prstGeom prst="rect">
            <a:avLst/>
          </a:prstGeom>
          <a:noFill/>
          <a:ln/>
        </p:spPr>
        <p:txBody>
          <a:bodyPr wrap="square" lIns="0" tIns="0" rIns="0" bIns="0" rtlCol="0" anchor="ctr"/>
          <a:lstStyle/>
          <a:p>
            <a:pPr indent="0" marL="0">
              <a:lnSpc>
                <a:spcPts val="1400"/>
              </a:lnSpc>
              <a:buNone/>
            </a:pPr>
            <a:r>
              <a:rPr lang="en-US" sz="1050" dirty="0">
                <a:solidFill>
                  <a:srgbClr val="55555F"/>
                </a:solidFill>
                <a:latin typeface="Hiragino Sans" pitchFamily="34" charset="0"/>
                <a:ea typeface="Hiragino Sans" pitchFamily="34" charset="-122"/>
                <a:cs typeface="Hiragino Sans" pitchFamily="34" charset="-120"/>
              </a:rPr>
              <a:t>全国ACPF：14,647母線・10/10地域が解けた（v1.4, CGMES往復後の実測図）</a:t>
            </a:r>
            <a:endParaRPr lang="en-US" sz="1050" dirty="0"/>
          </a:p>
        </p:txBody>
      </p:sp>
      <p:sp>
        <p:nvSpPr>
          <p:cNvPr id="22" name="Text 18"/>
          <p:cNvSpPr/>
          <p:nvPr/>
        </p:nvSpPr>
        <p:spPr>
          <a:xfrm>
            <a:off x="640080" y="6510528"/>
            <a:ext cx="5486400" cy="256032"/>
          </a:xfrm>
          <a:prstGeom prst="rect">
            <a:avLst/>
          </a:prstGeom>
          <a:noFill/>
          <a:ln/>
        </p:spPr>
        <p:txBody>
          <a:bodyPr wrap="square" lIns="0" tIns="0" rIns="0" bIns="0" rtlCol="0" anchor="ctr"/>
          <a:lstStyle/>
          <a:p>
            <a:pPr indent="0" marL="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23" name="Text 19"/>
          <p:cNvSpPr/>
          <p:nvPr/>
        </p:nvSpPr>
        <p:spPr>
          <a:xfrm>
            <a:off x="9692640" y="6510528"/>
            <a:ext cx="1463040" cy="256032"/>
          </a:xfrm>
          <a:prstGeom prst="rect">
            <a:avLst/>
          </a:prstGeom>
          <a:noFill/>
          <a:ln/>
        </p:spPr>
        <p:txBody>
          <a:bodyPr wrap="square" lIns="0" tIns="0" rIns="0" bIns="0" rtlCol="0" anchor="ctr"/>
          <a:lstStyle/>
          <a:p>
            <a:pPr algn="r" indent="0" marL="0">
              <a:buNone/>
            </a:pPr>
            <a:r>
              <a:rPr lang="en-US" sz="900" dirty="0">
                <a:solidFill>
                  <a:srgbClr val="55555F"/>
                </a:solidFill>
                <a:latin typeface="Helvetica Neue" pitchFamily="34" charset="0"/>
                <a:ea typeface="Helvetica Neue" pitchFamily="34" charset="-122"/>
                <a:cs typeface="Helvetica Neue" pitchFamily="34" charset="-120"/>
              </a:rPr>
              <a:t>1:30</a:t>
            </a:r>
            <a:endParaRPr lang="en-US" sz="900" dirty="0"/>
          </a:p>
        </p:txBody>
      </p:sp>
      <p:sp>
        <p:nvSpPr>
          <p:cNvPr id="24" name="Text 20"/>
          <p:cNvSpPr/>
          <p:nvPr/>
        </p:nvSpPr>
        <p:spPr>
          <a:xfrm>
            <a:off x="11338560" y="6510528"/>
            <a:ext cx="457200" cy="256032"/>
          </a:xfrm>
          <a:prstGeom prst="rect">
            <a:avLst/>
          </a:prstGeom>
          <a:noFill/>
          <a:ln/>
        </p:spPr>
        <p:txBody>
          <a:bodyPr wrap="square" lIns="0" tIns="0" rIns="0" bIns="0" rtlCol="0" anchor="ctr"/>
          <a:lstStyle/>
          <a:p>
            <a:pPr algn="r" indent="0" marL="0">
              <a:buNone/>
            </a:pPr>
            <a:r>
              <a:rPr lang="en-US" sz="1000" dirty="0">
                <a:solidFill>
                  <a:srgbClr val="55555F"/>
                </a:solidFill>
                <a:latin typeface="Helvetica Neue" pitchFamily="34" charset="0"/>
                <a:ea typeface="Helvetica Neue" pitchFamily="34" charset="-122"/>
                <a:cs typeface="Helvetica Neue"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9467BD"/>
          </a:solidFill>
          <a:ln/>
        </p:spPr>
      </p:sp>
      <p:sp>
        <p:nvSpPr>
          <p:cNvPr id="3" name="Text 1"/>
          <p:cNvSpPr/>
          <p:nvPr/>
        </p:nvSpPr>
        <p:spPr>
          <a:xfrm>
            <a:off x="621792" y="347472"/>
            <a:ext cx="19202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Hiragino Sans" pitchFamily="34" charset="0"/>
                <a:ea typeface="Hiragino Sans" pitchFamily="34" charset="-122"/>
                <a:cs typeface="Hiragino Sans" pitchFamily="34" charset="-120"/>
              </a:rPr>
              <a:t>第3幕 v1.5</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indent="0" marL="0">
              <a:buNone/>
            </a:pPr>
            <a:r>
              <a:rPr lang="en-US" sz="2100" b="1" dirty="0">
                <a:solidFill>
                  <a:srgbClr val="1A1A1A"/>
                </a:solidFill>
                <a:latin typeface="Hiragino Sans" pitchFamily="34" charset="0"/>
                <a:ea typeface="Hiragino Sans" pitchFamily="34" charset="-122"/>
                <a:cs typeface="Hiragino Sans" pitchFamily="34" charset="-120"/>
              </a:rPr>
              <a:t>収束は正しさではない — 誠実さを仕組みに変えた</a:t>
            </a:r>
            <a:endParaRPr lang="en-US" sz="2100" dirty="0"/>
          </a:p>
        </p:txBody>
      </p:sp>
      <p:sp>
        <p:nvSpPr>
          <p:cNvPr id="5" name="Shape 3"/>
          <p:cNvSpPr/>
          <p:nvPr/>
        </p:nvSpPr>
        <p:spPr>
          <a:xfrm>
            <a:off x="822960" y="1143000"/>
            <a:ext cx="10607040" cy="914400"/>
          </a:xfrm>
          <a:prstGeom prst="roundRect">
            <a:avLst>
              <a:gd name="adj" fmla="val 6000"/>
            </a:avLst>
          </a:prstGeom>
          <a:solidFill>
            <a:srgbClr val="1E2761"/>
          </a:solidFill>
          <a:ln/>
        </p:spPr>
      </p:sp>
      <p:sp>
        <p:nvSpPr>
          <p:cNvPr id="6" name="Text 4"/>
          <p:cNvSpPr/>
          <p:nvPr/>
        </p:nvSpPr>
        <p:spPr>
          <a:xfrm>
            <a:off x="1097280" y="1143000"/>
            <a:ext cx="10058400" cy="914400"/>
          </a:xfrm>
          <a:prstGeom prst="rect">
            <a:avLst/>
          </a:prstGeom>
          <a:noFill/>
          <a:ln/>
        </p:spPr>
        <p:txBody>
          <a:bodyPr wrap="square" lIns="0" tIns="0" rIns="0" bIns="0" rtlCol="0" anchor="ctr"/>
          <a:lstStyle/>
          <a:p>
            <a:pPr indent="0" marL="0">
              <a:buNone/>
            </a:pPr>
            <a:r>
              <a:rPr lang="en-US" sz="1450" b="1" dirty="0">
                <a:solidFill>
                  <a:srgbClr val="FFFFFF"/>
                </a:solidFill>
                <a:latin typeface="Hiragino Sans" pitchFamily="34" charset="0"/>
                <a:ea typeface="Hiragino Sans" pitchFamily="34" charset="-122"/>
                <a:cs typeface="Hiragino Sans" pitchFamily="34" charset="-120"/>
              </a:rPr>
              <a:t>モデルを「繋がって・解けて・完全に」見せる機構は19個あった。ひとつずつ台帳に載せ、OFFスイッチを付けた。</a:t>
            </a:r>
            <a:endParaRPr lang="en-US" sz="1450" dirty="0"/>
          </a:p>
        </p:txBody>
      </p:sp>
      <p:sp>
        <p:nvSpPr>
          <p:cNvPr id="7" name="Shape 5"/>
          <p:cNvSpPr/>
          <p:nvPr/>
        </p:nvSpPr>
        <p:spPr>
          <a:xfrm>
            <a:off x="822960" y="2286000"/>
            <a:ext cx="5120640" cy="1463040"/>
          </a:xfrm>
          <a:prstGeom prst="roundRect">
            <a:avLst>
              <a:gd name="adj" fmla="val 3750"/>
            </a:avLst>
          </a:prstGeom>
          <a:solidFill>
            <a:srgbClr val="F4F4F6"/>
          </a:solidFill>
          <a:ln/>
        </p:spPr>
      </p:sp>
      <p:sp>
        <p:nvSpPr>
          <p:cNvPr id="8" name="Shape 6"/>
          <p:cNvSpPr/>
          <p:nvPr/>
        </p:nvSpPr>
        <p:spPr>
          <a:xfrm>
            <a:off x="1024128" y="2505456"/>
            <a:ext cx="128016" cy="128016"/>
          </a:xfrm>
          <a:prstGeom prst="rect">
            <a:avLst/>
          </a:prstGeom>
          <a:solidFill>
            <a:srgbClr val="9467BD"/>
          </a:solidFill>
          <a:ln/>
        </p:spPr>
      </p:sp>
      <p:sp>
        <p:nvSpPr>
          <p:cNvPr id="9" name="Text 7"/>
          <p:cNvSpPr/>
          <p:nvPr/>
        </p:nvSpPr>
        <p:spPr>
          <a:xfrm>
            <a:off x="1234440" y="2395728"/>
            <a:ext cx="4663440" cy="320040"/>
          </a:xfrm>
          <a:prstGeom prst="rect">
            <a:avLst/>
          </a:prstGeom>
          <a:noFill/>
          <a:ln/>
        </p:spPr>
        <p:txBody>
          <a:bodyPr wrap="square" lIns="0" tIns="0" rIns="0" bIns="0" rtlCol="0" anchor="ctr"/>
          <a:lstStyle/>
          <a:p>
            <a:pPr indent="0" marL="0">
              <a:buNone/>
            </a:pPr>
            <a:r>
              <a:rPr lang="en-US" sz="1200" b="1" dirty="0">
                <a:solidFill>
                  <a:srgbClr val="1A1A1A"/>
                </a:solidFill>
                <a:latin typeface="Hiragino Sans" pitchFamily="34" charset="0"/>
                <a:ea typeface="Hiragino Sans" pitchFamily="34" charset="-122"/>
                <a:cs typeface="Hiragino Sans" pitchFamily="34" charset="-120"/>
              </a:rPr>
              <a:t>介入台帳 MODEL_INTERVENTIONS.md</a:t>
            </a:r>
            <a:endParaRPr lang="en-US" sz="1200" dirty="0"/>
          </a:p>
        </p:txBody>
      </p:sp>
      <p:sp>
        <p:nvSpPr>
          <p:cNvPr id="10" name="Text 8"/>
          <p:cNvSpPr/>
          <p:nvPr/>
        </p:nvSpPr>
        <p:spPr>
          <a:xfrm>
            <a:off x="1051560" y="2743200"/>
            <a:ext cx="4663440" cy="896112"/>
          </a:xfrm>
          <a:prstGeom prst="rect">
            <a:avLst/>
          </a:prstGeom>
          <a:noFill/>
          <a:ln/>
        </p:spPr>
        <p:txBody>
          <a:bodyPr wrap="square" lIns="0" tIns="0" rIns="0" bIns="0" rtlCol="0" anchor="t"/>
          <a:lstStyle/>
          <a:p>
            <a:pPr indent="0" marL="0">
              <a:lnSpc>
                <a:spcPts val="1500"/>
              </a:lnSpc>
              <a:buNone/>
            </a:pPr>
            <a:r>
              <a:rPr lang="en-US" sz="1000" dirty="0">
                <a:solidFill>
                  <a:srgbClr val="55555F"/>
                </a:solidFill>
                <a:latin typeface="Hiragino Sans" pitchFamily="34" charset="0"/>
                <a:ea typeface="Hiragino Sans" pitchFamily="34" charset="-122"/>
                <a:cs typeface="Hiragino Sans" pitchFamily="34" charset="-120"/>
              </a:rPr>
              <a:t>最近傍発電機接続・合成需要配分・既定容量・成分別slack・</a:t>
            </a:r>
            <a:endParaRPr lang="en-US" sz="1000" dirty="0"/>
          </a:p>
          <a:p>
            <a:pPr indent="0" marL="0">
              <a:lnSpc>
                <a:spcPts val="1500"/>
              </a:lnSpc>
              <a:buNone/>
            </a:pPr>
            <a:r>
              <a:rPr lang="en-US" sz="1000" dirty="0">
                <a:solidFill>
                  <a:srgbClr val="55555F"/>
                </a:solidFill>
                <a:latin typeface="Hiragino Sans" pitchFamily="34" charset="0"/>
                <a:ea typeface="Hiragino Sans" pitchFamily="34" charset="-122"/>
                <a:cs typeface="Hiragino Sans" pitchFamily="34" charset="-120"/>
              </a:rPr>
              <a:t>刈り込み梯子…19機構すべてに根拠・台帳・OFFスイッチ</a:t>
            </a:r>
            <a:endParaRPr lang="en-US" sz="1000" dirty="0"/>
          </a:p>
        </p:txBody>
      </p:sp>
      <p:sp>
        <p:nvSpPr>
          <p:cNvPr id="11" name="Shape 9"/>
          <p:cNvSpPr/>
          <p:nvPr/>
        </p:nvSpPr>
        <p:spPr>
          <a:xfrm>
            <a:off x="822960" y="3886200"/>
            <a:ext cx="5120640" cy="1463040"/>
          </a:xfrm>
          <a:prstGeom prst="roundRect">
            <a:avLst>
              <a:gd name="adj" fmla="val 3750"/>
            </a:avLst>
          </a:prstGeom>
          <a:solidFill>
            <a:srgbClr val="F4F4F6"/>
          </a:solidFill>
          <a:ln/>
        </p:spPr>
      </p:sp>
      <p:sp>
        <p:nvSpPr>
          <p:cNvPr id="12" name="Shape 10"/>
          <p:cNvSpPr/>
          <p:nvPr/>
        </p:nvSpPr>
        <p:spPr>
          <a:xfrm>
            <a:off x="1024128" y="4105656"/>
            <a:ext cx="128016" cy="128016"/>
          </a:xfrm>
          <a:prstGeom prst="rect">
            <a:avLst/>
          </a:prstGeom>
          <a:solidFill>
            <a:srgbClr val="9467BD"/>
          </a:solidFill>
          <a:ln/>
        </p:spPr>
      </p:sp>
      <p:sp>
        <p:nvSpPr>
          <p:cNvPr id="13" name="Text 11"/>
          <p:cNvSpPr/>
          <p:nvPr/>
        </p:nvSpPr>
        <p:spPr>
          <a:xfrm>
            <a:off x="1234440" y="3995928"/>
            <a:ext cx="4663440" cy="320040"/>
          </a:xfrm>
          <a:prstGeom prst="rect">
            <a:avLst/>
          </a:prstGeom>
          <a:noFill/>
          <a:ln/>
        </p:spPr>
        <p:txBody>
          <a:bodyPr wrap="square" lIns="0" tIns="0" rIns="0" bIns="0" rtlCol="0" anchor="ctr"/>
          <a:lstStyle/>
          <a:p>
            <a:pPr indent="0" marL="0">
              <a:buNone/>
            </a:pPr>
            <a:r>
              <a:rPr lang="en-US" sz="1200" b="1" dirty="0">
                <a:solidFill>
                  <a:srgbClr val="1A1A1A"/>
                </a:solidFill>
                <a:latin typeface="Hiragino Sans" pitchFamily="34" charset="0"/>
                <a:ea typeface="Hiragino Sans" pitchFamily="34" charset="-122"/>
                <a:cs typeface="Hiragino Sans" pitchFamily="34" charset="-120"/>
              </a:rPr>
              <a:t>fake-AC ガード</a:t>
            </a:r>
            <a:endParaRPr lang="en-US" sz="1200" dirty="0"/>
          </a:p>
        </p:txBody>
      </p:sp>
      <p:sp>
        <p:nvSpPr>
          <p:cNvPr id="14" name="Text 12"/>
          <p:cNvSpPr/>
          <p:nvPr/>
        </p:nvSpPr>
        <p:spPr>
          <a:xfrm>
            <a:off x="1051560" y="4343400"/>
            <a:ext cx="4663440" cy="896112"/>
          </a:xfrm>
          <a:prstGeom prst="rect">
            <a:avLst/>
          </a:prstGeom>
          <a:noFill/>
          <a:ln/>
        </p:spPr>
        <p:txBody>
          <a:bodyPr wrap="square" lIns="0" tIns="0" rIns="0" bIns="0" rtlCol="0" anchor="t"/>
          <a:lstStyle/>
          <a:p>
            <a:pPr indent="0" marL="0">
              <a:lnSpc>
                <a:spcPts val="1500"/>
              </a:lnSpc>
              <a:buNone/>
            </a:pPr>
            <a:r>
              <a:rPr lang="en-US" sz="1000" dirty="0">
                <a:solidFill>
                  <a:srgbClr val="55555F"/>
                </a:solidFill>
                <a:latin typeface="Hiragino Sans" pitchFamily="34" charset="0"/>
                <a:ea typeface="Hiragino Sans" pitchFamily="34" charset="-122"/>
                <a:cs typeface="Hiragino Sans" pitchFamily="34" charset="-120"/>
              </a:rPr>
              <a:t>AC解は解前需要の95%以上を給電していなければ無効。</a:t>
            </a:r>
            <a:endParaRPr lang="en-US" sz="1000" dirty="0"/>
          </a:p>
          <a:p>
            <a:pPr indent="0" marL="0">
              <a:lnSpc>
                <a:spcPts val="1500"/>
              </a:lnSpc>
              <a:buNone/>
            </a:pPr>
            <a:r>
              <a:rPr lang="en-US" sz="1000" dirty="0">
                <a:solidFill>
                  <a:srgbClr val="55555F"/>
                </a:solidFill>
                <a:latin typeface="Hiragino Sans" pitchFamily="34" charset="0"/>
                <a:ea typeface="Hiragino Sans" pitchFamily="34" charset="-122"/>
                <a:cs typeface="Hiragino Sans" pitchFamily="34" charset="-120"/>
              </a:rPr>
              <a:t>served_frac を全結果JSONに同梱 — 収束≠正しさ</a:t>
            </a:r>
            <a:endParaRPr lang="en-US" sz="1000" dirty="0"/>
          </a:p>
        </p:txBody>
      </p:sp>
      <p:sp>
        <p:nvSpPr>
          <p:cNvPr id="15" name="Shape 13"/>
          <p:cNvSpPr/>
          <p:nvPr/>
        </p:nvSpPr>
        <p:spPr>
          <a:xfrm>
            <a:off x="6309360" y="2286000"/>
            <a:ext cx="5120640" cy="3063240"/>
          </a:xfrm>
          <a:prstGeom prst="roundRect">
            <a:avLst>
              <a:gd name="adj" fmla="val 1791"/>
            </a:avLst>
          </a:prstGeom>
          <a:solidFill>
            <a:srgbClr val="FFF3F3"/>
          </a:solidFill>
          <a:ln w="13970">
            <a:solidFill>
              <a:srgbClr val="C62828"/>
            </a:solidFill>
            <a:prstDash val="solid"/>
          </a:ln>
        </p:spPr>
      </p:sp>
      <p:sp>
        <p:nvSpPr>
          <p:cNvPr id="16" name="Text 14"/>
          <p:cNvSpPr/>
          <p:nvPr/>
        </p:nvSpPr>
        <p:spPr>
          <a:xfrm>
            <a:off x="6537960" y="2423160"/>
            <a:ext cx="4663440" cy="292608"/>
          </a:xfrm>
          <a:prstGeom prst="rect">
            <a:avLst/>
          </a:prstGeom>
          <a:noFill/>
          <a:ln/>
        </p:spPr>
        <p:txBody>
          <a:bodyPr wrap="square" lIns="0" tIns="0" rIns="0" bIns="0" rtlCol="0" anchor="ctr"/>
          <a:lstStyle/>
          <a:p>
            <a:pPr indent="0" marL="0">
              <a:buNone/>
            </a:pPr>
            <a:r>
              <a:rPr lang="en-US" sz="1300" b="1" dirty="0">
                <a:solidFill>
                  <a:srgbClr val="C62828"/>
                </a:solidFill>
                <a:latin typeface="Hiragino Sans" pitchFamily="34" charset="0"/>
                <a:ea typeface="Hiragino Sans" pitchFamily="34" charset="-122"/>
                <a:cs typeface="Hiragino Sans" pitchFamily="34" charset="-120"/>
              </a:rPr>
              <a:t>一番痛かった再解釈：東日本フルAC</a:t>
            </a:r>
            <a:endParaRPr lang="en-US" sz="1300" dirty="0"/>
          </a:p>
        </p:txBody>
      </p:sp>
      <p:sp>
        <p:nvSpPr>
          <p:cNvPr id="17" name="Text 15"/>
          <p:cNvSpPr/>
          <p:nvPr/>
        </p:nvSpPr>
        <p:spPr>
          <a:xfrm>
            <a:off x="6537960" y="2788920"/>
            <a:ext cx="4709160" cy="2103120"/>
          </a:xfrm>
          <a:prstGeom prst="rect">
            <a:avLst/>
          </a:prstGeom>
          <a:noFill/>
          <a:ln/>
        </p:spPr>
        <p:txBody>
          <a:bodyPr wrap="square" lIns="0" tIns="0" rIns="0" bIns="0" rtlCol="0" anchor="ctr"/>
          <a:lstStyle/>
          <a:p>
            <a:pPr indent="0" marL="0">
              <a:lnSpc>
                <a:spcPts val="1700"/>
              </a:lnSpc>
              <a:buNone/>
            </a:pPr>
            <a:r>
              <a:rPr lang="en-US" sz="1150" dirty="0">
                <a:solidFill>
                  <a:srgbClr val="1A1A1A"/>
                </a:solidFill>
                <a:latin typeface="Hiragino Sans" pitchFamily="34" charset="0"/>
                <a:ea typeface="Hiragino Sans" pitchFamily="34" charset="-122"/>
                <a:cs typeface="Hiragino Sans" pitchFamily="34" charset="-120"/>
              </a:rPr>
              <a:t>誇っていた「フルAC 99.0 % 給電」を7変種プローブで解体したら、bboxで誤配置された需要地理の上に立っていた。正直な地理ではフルACは解けない — dc_fallback と正直に報告する側に倒した。</a:t>
            </a:r>
            <a:endParaRPr lang="en-US" sz="1150" dirty="0"/>
          </a:p>
          <a:p>
            <a:pPr indent="0" marL="0">
              <a:lnSpc>
                <a:spcPts val="1700"/>
              </a:lnSpc>
              <a:buNone/>
            </a:pPr>
            <a:endParaRPr lang="en-US" sz="1150" dirty="0"/>
          </a:p>
          <a:p>
            <a:pPr indent="0" marL="0">
              <a:lnSpc>
                <a:spcPts val="1700"/>
              </a:lnSpc>
              <a:buNone/>
            </a:pPr>
            <a:r>
              <a:rPr lang="en-US" sz="1150" dirty="0">
                <a:solidFill>
                  <a:srgbClr val="1A1A1A"/>
                </a:solidFill>
                <a:latin typeface="Hiragino Sans" pitchFamily="34" charset="0"/>
                <a:ea typeface="Hiragino Sans" pitchFamily="34" charset="-122"/>
                <a:cs typeface="Hiragino Sans" pitchFamily="34" charset="-120"/>
              </a:rPr>
              <a:t>途中「復活した」と見えた解も、飛騨回廊に偶然2.3 GWのバラストを置く重み付けバグだった。出荷前に棄却。</a:t>
            </a:r>
            <a:endParaRPr lang="en-US" sz="1150" dirty="0"/>
          </a:p>
        </p:txBody>
      </p:sp>
      <p:sp>
        <p:nvSpPr>
          <p:cNvPr id="18" name="Text 16"/>
          <p:cNvSpPr/>
          <p:nvPr/>
        </p:nvSpPr>
        <p:spPr>
          <a:xfrm>
            <a:off x="6537960" y="4892040"/>
            <a:ext cx="4709160" cy="365760"/>
          </a:xfrm>
          <a:prstGeom prst="rect">
            <a:avLst/>
          </a:prstGeom>
          <a:noFill/>
          <a:ln/>
        </p:spPr>
        <p:txBody>
          <a:bodyPr wrap="square" lIns="0" tIns="0" rIns="0" bIns="0" rtlCol="0" anchor="ctr"/>
          <a:lstStyle/>
          <a:p>
            <a:pPr indent="0" marL="0">
              <a:buNone/>
            </a:pPr>
            <a:r>
              <a:rPr lang="en-US" sz="1150" b="1" dirty="0">
                <a:solidFill>
                  <a:srgbClr val="1E2761"/>
                </a:solidFill>
                <a:latin typeface="Hiragino Sans" pitchFamily="34" charset="0"/>
                <a:ea typeface="Hiragino Sans" pitchFamily="34" charset="-122"/>
                <a:cs typeface="Hiragino Sans" pitchFamily="34" charset="-120"/>
              </a:rPr>
              <a:t>結果を良くする変更より、結果を悪くする訂正の方が価値がある。</a:t>
            </a:r>
            <a:endParaRPr lang="en-US" sz="1150" dirty="0"/>
          </a:p>
        </p:txBody>
      </p:sp>
      <p:sp>
        <p:nvSpPr>
          <p:cNvPr id="19" name="Text 17"/>
          <p:cNvSpPr/>
          <p:nvPr/>
        </p:nvSpPr>
        <p:spPr>
          <a:xfrm>
            <a:off x="822960" y="5532120"/>
            <a:ext cx="10607040" cy="548640"/>
          </a:xfrm>
          <a:prstGeom prst="rect">
            <a:avLst/>
          </a:prstGeom>
          <a:noFill/>
          <a:ln/>
        </p:spPr>
        <p:txBody>
          <a:bodyPr wrap="square" lIns="0" tIns="0" rIns="0" bIns="0" rtlCol="0" anchor="ctr"/>
          <a:lstStyle/>
          <a:p>
            <a:pPr indent="0" marL="0">
              <a:lnSpc>
                <a:spcPts val="1600"/>
              </a:lnSpc>
              <a:buNone/>
            </a:pPr>
            <a:r>
              <a:rPr lang="en-US" sz="1150" dirty="0">
                <a:solidFill>
                  <a:srgbClr val="55555F"/>
                </a:solidFill>
                <a:latin typeface="Hiragino Sans" pitchFamily="34" charset="0"/>
                <a:ea typeface="Hiragino Sans" pitchFamily="34" charset="-122"/>
                <a:cs typeface="Hiragino Sans" pitchFamily="34" charset="-120"/>
              </a:rPr>
              <a:t>あわせて v1.5 で配布基盤も整備：自己完結バンドル（SHA256 MANIFEST）・pandapower/MATLAB両チュートリアルを実ダウンロード→新環境E2Eで検証してから公開。</a:t>
            </a:r>
            <a:endParaRPr lang="en-US" sz="1150" dirty="0"/>
          </a:p>
        </p:txBody>
      </p:sp>
      <p:sp>
        <p:nvSpPr>
          <p:cNvPr id="20" name="Text 18"/>
          <p:cNvSpPr/>
          <p:nvPr/>
        </p:nvSpPr>
        <p:spPr>
          <a:xfrm>
            <a:off x="640080" y="6510528"/>
            <a:ext cx="5486400" cy="256032"/>
          </a:xfrm>
          <a:prstGeom prst="rect">
            <a:avLst/>
          </a:prstGeom>
          <a:noFill/>
          <a:ln/>
        </p:spPr>
        <p:txBody>
          <a:bodyPr wrap="square" lIns="0" tIns="0" rIns="0" bIns="0" rtlCol="0" anchor="ctr"/>
          <a:lstStyle/>
          <a:p>
            <a:pPr indent="0" marL="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21" name="Text 19"/>
          <p:cNvSpPr/>
          <p:nvPr/>
        </p:nvSpPr>
        <p:spPr>
          <a:xfrm>
            <a:off x="9692640" y="6510528"/>
            <a:ext cx="1463040" cy="256032"/>
          </a:xfrm>
          <a:prstGeom prst="rect">
            <a:avLst/>
          </a:prstGeom>
          <a:noFill/>
          <a:ln/>
        </p:spPr>
        <p:txBody>
          <a:bodyPr wrap="square" lIns="0" tIns="0" rIns="0" bIns="0" rtlCol="0" anchor="ctr"/>
          <a:lstStyle/>
          <a:p>
            <a:pPr algn="r" indent="0" marL="0">
              <a:buNone/>
            </a:pPr>
            <a:r>
              <a:rPr lang="en-US" sz="900" dirty="0">
                <a:solidFill>
                  <a:srgbClr val="55555F"/>
                </a:solidFill>
                <a:latin typeface="Helvetica Neue" pitchFamily="34" charset="0"/>
                <a:ea typeface="Helvetica Neue" pitchFamily="34" charset="-122"/>
                <a:cs typeface="Helvetica Neue" pitchFamily="34" charset="-120"/>
              </a:rPr>
              <a:t>2:00</a:t>
            </a:r>
            <a:endParaRPr lang="en-US" sz="900" dirty="0"/>
          </a:p>
        </p:txBody>
      </p:sp>
      <p:sp>
        <p:nvSpPr>
          <p:cNvPr id="22" name="Text 20"/>
          <p:cNvSpPr/>
          <p:nvPr/>
        </p:nvSpPr>
        <p:spPr>
          <a:xfrm>
            <a:off x="11338560" y="6510528"/>
            <a:ext cx="457200" cy="256032"/>
          </a:xfrm>
          <a:prstGeom prst="rect">
            <a:avLst/>
          </a:prstGeom>
          <a:noFill/>
          <a:ln/>
        </p:spPr>
        <p:txBody>
          <a:bodyPr wrap="square" lIns="0" tIns="0" rIns="0" bIns="0" rtlCol="0" anchor="ctr"/>
          <a:lstStyle/>
          <a:p>
            <a:pPr algn="r" indent="0" marL="0">
              <a:buNone/>
            </a:pPr>
            <a:r>
              <a:rPr lang="en-US" sz="1000" dirty="0">
                <a:solidFill>
                  <a:srgbClr val="55555F"/>
                </a:solidFill>
                <a:latin typeface="Helvetica Neue" pitchFamily="34" charset="0"/>
                <a:ea typeface="Helvetica Neue" pitchFamily="34" charset="-122"/>
                <a:cs typeface="Helvetica Neue"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9467BD"/>
          </a:solidFill>
          <a:ln/>
        </p:spPr>
      </p:sp>
      <p:sp>
        <p:nvSpPr>
          <p:cNvPr id="3" name="Text 1"/>
          <p:cNvSpPr/>
          <p:nvPr/>
        </p:nvSpPr>
        <p:spPr>
          <a:xfrm>
            <a:off x="621792" y="347472"/>
            <a:ext cx="19202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Hiragino Sans" pitchFamily="34" charset="0"/>
                <a:ea typeface="Hiragino Sans" pitchFamily="34" charset="-122"/>
                <a:cs typeface="Hiragino Sans" pitchFamily="34" charset="-120"/>
              </a:rPr>
              <a:t>第3幕 v1.6</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indent="0" marL="0">
              <a:buNone/>
            </a:pPr>
            <a:r>
              <a:rPr lang="en-US" sz="2100" b="1" dirty="0">
                <a:solidFill>
                  <a:srgbClr val="1A1A1A"/>
                </a:solidFill>
                <a:latin typeface="Hiragino Sans" pitchFamily="34" charset="0"/>
                <a:ea typeface="Hiragino Sans" pitchFamily="34" charset="-122"/>
                <a:cs typeface="Hiragino Sans" pitchFamily="34" charset="-120"/>
              </a:rPr>
              <a:t>西日本 2,531成分の謎：バグは1つ、見え方は3つ</a:t>
            </a:r>
            <a:endParaRPr lang="en-US" sz="2100" dirty="0"/>
          </a:p>
        </p:txBody>
      </p:sp>
      <p:sp>
        <p:nvSpPr>
          <p:cNvPr id="5" name="Shape 3"/>
          <p:cNvSpPr/>
          <p:nvPr/>
        </p:nvSpPr>
        <p:spPr>
          <a:xfrm>
            <a:off x="822960" y="1188720"/>
            <a:ext cx="3383280" cy="1417320"/>
          </a:xfrm>
          <a:prstGeom prst="roundRect">
            <a:avLst>
              <a:gd name="adj" fmla="val 3871"/>
            </a:avLst>
          </a:prstGeom>
          <a:solidFill>
            <a:srgbClr val="F4F4F6"/>
          </a:solidFill>
          <a:ln/>
        </p:spPr>
      </p:sp>
      <p:sp>
        <p:nvSpPr>
          <p:cNvPr id="6" name="Text 4"/>
          <p:cNvSpPr/>
          <p:nvPr/>
        </p:nvSpPr>
        <p:spPr>
          <a:xfrm>
            <a:off x="1005840" y="1298448"/>
            <a:ext cx="3017520" cy="274320"/>
          </a:xfrm>
          <a:prstGeom prst="rect">
            <a:avLst/>
          </a:prstGeom>
          <a:noFill/>
          <a:ln/>
        </p:spPr>
        <p:txBody>
          <a:bodyPr wrap="square" lIns="0" tIns="0" rIns="0" bIns="0" rtlCol="0" anchor="ctr"/>
          <a:lstStyle/>
          <a:p>
            <a:pPr indent="0" marL="0">
              <a:buNone/>
            </a:pPr>
            <a:r>
              <a:rPr lang="en-US" sz="1250" b="1" dirty="0">
                <a:solidFill>
                  <a:srgbClr val="C62828"/>
                </a:solidFill>
                <a:latin typeface="Hiragino Sans" pitchFamily="34" charset="0"/>
                <a:ea typeface="Hiragino Sans" pitchFamily="34" charset="-122"/>
                <a:cs typeface="Hiragino Sans" pitchFamily="34" charset="-120"/>
              </a:rPr>
              <a:t>観測</a:t>
            </a:r>
            <a:endParaRPr lang="en-US" sz="1250" dirty="0"/>
          </a:p>
        </p:txBody>
      </p:sp>
      <p:sp>
        <p:nvSpPr>
          <p:cNvPr id="7" name="Text 5"/>
          <p:cNvSpPr/>
          <p:nvPr/>
        </p:nvSpPr>
        <p:spPr>
          <a:xfrm>
            <a:off x="1005840" y="1609344"/>
            <a:ext cx="3063240" cy="914400"/>
          </a:xfrm>
          <a:prstGeom prst="rect">
            <a:avLst/>
          </a:prstGeom>
          <a:noFill/>
          <a:ln/>
        </p:spPr>
        <p:txBody>
          <a:bodyPr wrap="square" lIns="0" tIns="0" rIns="0" bIns="0" rtlCol="0" anchor="ctr"/>
          <a:lstStyle/>
          <a:p>
            <a:pPr indent="0" marL="0">
              <a:lnSpc>
                <a:spcPts val="1500"/>
              </a:lnSpc>
              <a:buNone/>
            </a:pPr>
            <a:r>
              <a:rPr lang="en-US" sz="1050" dirty="0">
                <a:solidFill>
                  <a:srgbClr val="1A1A1A"/>
                </a:solidFill>
                <a:latin typeface="Hiragino Sans" pitchFamily="34" charset="0"/>
                <a:ea typeface="Hiragino Sans" pitchFamily="34" charset="-122"/>
                <a:cs typeface="Hiragino Sans" pitchFamily="34" charset="-120"/>
              </a:rPr>
              <a:t>西日本が2,531の連結成分に割れる</a:t>
            </a:r>
            <a:endParaRPr lang="en-US" sz="1050" dirty="0"/>
          </a:p>
          <a:p>
            <a:pPr indent="0" marL="0">
              <a:lnSpc>
                <a:spcPts val="1500"/>
              </a:lnSpc>
              <a:buNone/>
            </a:pPr>
            <a:r>
              <a:rPr lang="en-US" sz="1050" dirty="0">
                <a:solidFill>
                  <a:srgbClr val="1A1A1A"/>
                </a:solidFill>
                <a:latin typeface="Hiragino Sans" pitchFamily="34" charset="0"/>
                <a:ea typeface="Hiragino Sans" pitchFamily="34" charset="-122"/>
                <a:cs typeface="Hiragino Sans" pitchFamily="34" charset="-120"/>
              </a:rPr>
              <a:t>東西で損失が不自然に小さい</a:t>
            </a:r>
            <a:endParaRPr lang="en-US" sz="1050" dirty="0"/>
          </a:p>
        </p:txBody>
      </p:sp>
      <p:sp>
        <p:nvSpPr>
          <p:cNvPr id="8" name="Text 6"/>
          <p:cNvSpPr/>
          <p:nvPr/>
        </p:nvSpPr>
        <p:spPr>
          <a:xfrm>
            <a:off x="4187952" y="1691640"/>
            <a:ext cx="320040" cy="365760"/>
          </a:xfrm>
          <a:prstGeom prst="rect">
            <a:avLst/>
          </a:prstGeom>
          <a:noFill/>
          <a:ln/>
        </p:spPr>
        <p:txBody>
          <a:bodyPr wrap="square" lIns="0" tIns="0" rIns="0" bIns="0" rtlCol="0" anchor="ctr"/>
          <a:lstStyle/>
          <a:p>
            <a:pPr indent="0" marL="0">
              <a:buNone/>
            </a:pPr>
            <a:r>
              <a:rPr lang="en-US" sz="1800" b="1" dirty="0">
                <a:solidFill>
                  <a:srgbClr val="55555F"/>
                </a:solidFill>
                <a:latin typeface="Helvetica Neue" pitchFamily="34" charset="0"/>
                <a:ea typeface="Helvetica Neue" pitchFamily="34" charset="-122"/>
                <a:cs typeface="Helvetica Neue" pitchFamily="34" charset="-120"/>
              </a:rPr>
              <a:t>→</a:t>
            </a:r>
            <a:endParaRPr lang="en-US" sz="1800" dirty="0"/>
          </a:p>
        </p:txBody>
      </p:sp>
      <p:sp>
        <p:nvSpPr>
          <p:cNvPr id="9" name="Shape 7"/>
          <p:cNvSpPr/>
          <p:nvPr/>
        </p:nvSpPr>
        <p:spPr>
          <a:xfrm>
            <a:off x="4480560" y="1188720"/>
            <a:ext cx="3383280" cy="1417320"/>
          </a:xfrm>
          <a:prstGeom prst="roundRect">
            <a:avLst>
              <a:gd name="adj" fmla="val 3871"/>
            </a:avLst>
          </a:prstGeom>
          <a:solidFill>
            <a:srgbClr val="F4F4F6"/>
          </a:solidFill>
          <a:ln/>
        </p:spPr>
      </p:sp>
      <p:sp>
        <p:nvSpPr>
          <p:cNvPr id="10" name="Text 8"/>
          <p:cNvSpPr/>
          <p:nvPr/>
        </p:nvSpPr>
        <p:spPr>
          <a:xfrm>
            <a:off x="4663440" y="1298448"/>
            <a:ext cx="3017520" cy="274320"/>
          </a:xfrm>
          <a:prstGeom prst="rect">
            <a:avLst/>
          </a:prstGeom>
          <a:noFill/>
          <a:ln/>
        </p:spPr>
        <p:txBody>
          <a:bodyPr wrap="square" lIns="0" tIns="0" rIns="0" bIns="0" rtlCol="0" anchor="ctr"/>
          <a:lstStyle/>
          <a:p>
            <a:pPr indent="0" marL="0">
              <a:buNone/>
            </a:pPr>
            <a:r>
              <a:rPr lang="en-US" sz="1250" b="1" dirty="0">
                <a:solidFill>
                  <a:srgbClr val="1E2761"/>
                </a:solidFill>
                <a:latin typeface="Hiragino Sans" pitchFamily="34" charset="0"/>
                <a:ea typeface="Hiragino Sans" pitchFamily="34" charset="-122"/>
                <a:cs typeface="Hiragino Sans" pitchFamily="34" charset="-120"/>
              </a:rPr>
              <a:t>根因</a:t>
            </a:r>
            <a:endParaRPr lang="en-US" sz="1250" dirty="0"/>
          </a:p>
        </p:txBody>
      </p:sp>
      <p:sp>
        <p:nvSpPr>
          <p:cNvPr id="11" name="Text 9"/>
          <p:cNvSpPr/>
          <p:nvPr/>
        </p:nvSpPr>
        <p:spPr>
          <a:xfrm>
            <a:off x="4663440" y="1609344"/>
            <a:ext cx="3063240" cy="914400"/>
          </a:xfrm>
          <a:prstGeom prst="rect">
            <a:avLst/>
          </a:prstGeom>
          <a:noFill/>
          <a:ln/>
        </p:spPr>
        <p:txBody>
          <a:bodyPr wrap="square" lIns="0" tIns="0" rIns="0" bIns="0" rtlCol="0" anchor="ctr"/>
          <a:lstStyle/>
          <a:p>
            <a:pPr indent="0" marL="0">
              <a:lnSpc>
                <a:spcPts val="1500"/>
              </a:lnSpc>
              <a:buNone/>
            </a:pPr>
            <a:r>
              <a:rPr lang="en-US" sz="1050" dirty="0">
                <a:solidFill>
                  <a:srgbClr val="1A1A1A"/>
                </a:solidFill>
                <a:latin typeface="Hiragino Sans" pitchFamily="34" charset="0"/>
                <a:ea typeface="Hiragino Sans" pitchFamily="34" charset="-122"/>
                <a:cs typeface="Hiragino Sans" pitchFamily="34" charset="-120"/>
              </a:rPr>
              <a:t>地域bboxの重なりが同一設備を二重登録</a:t>
            </a:r>
            <a:endParaRPr lang="en-US" sz="1050" dirty="0"/>
          </a:p>
          <a:p>
            <a:pPr indent="0" marL="0">
              <a:lnSpc>
                <a:spcPts val="1500"/>
              </a:lnSpc>
              <a:buNone/>
            </a:pPr>
            <a:r>
              <a:rPr lang="en-US" sz="1050" dirty="0">
                <a:solidFill>
                  <a:srgbClr val="1A1A1A"/>
                </a:solidFill>
                <a:latin typeface="Hiragino Sans" pitchFamily="34" charset="0"/>
                <a:ea typeface="Hiragino Sans" pitchFamily="34" charset="-122"/>
                <a:cs typeface="Hiragino Sans" pitchFamily="34" charset="-120"/>
              </a:rPr>
              <a:t>（同じosm_idが隣接2地域の抽出に載る）</a:t>
            </a:r>
            <a:endParaRPr lang="en-US" sz="1050" dirty="0"/>
          </a:p>
        </p:txBody>
      </p:sp>
      <p:sp>
        <p:nvSpPr>
          <p:cNvPr id="12" name="Text 10"/>
          <p:cNvSpPr/>
          <p:nvPr/>
        </p:nvSpPr>
        <p:spPr>
          <a:xfrm>
            <a:off x="7845552" y="1691640"/>
            <a:ext cx="320040" cy="365760"/>
          </a:xfrm>
          <a:prstGeom prst="rect">
            <a:avLst/>
          </a:prstGeom>
          <a:noFill/>
          <a:ln/>
        </p:spPr>
        <p:txBody>
          <a:bodyPr wrap="square" lIns="0" tIns="0" rIns="0" bIns="0" rtlCol="0" anchor="ctr"/>
          <a:lstStyle/>
          <a:p>
            <a:pPr indent="0" marL="0">
              <a:buNone/>
            </a:pPr>
            <a:r>
              <a:rPr lang="en-US" sz="1800" b="1" dirty="0">
                <a:solidFill>
                  <a:srgbClr val="55555F"/>
                </a:solidFill>
                <a:latin typeface="Helvetica Neue" pitchFamily="34" charset="0"/>
                <a:ea typeface="Helvetica Neue" pitchFamily="34" charset="-122"/>
                <a:cs typeface="Helvetica Neue" pitchFamily="34" charset="-120"/>
              </a:rPr>
              <a:t>→</a:t>
            </a:r>
            <a:endParaRPr lang="en-US" sz="1800" dirty="0"/>
          </a:p>
        </p:txBody>
      </p:sp>
      <p:sp>
        <p:nvSpPr>
          <p:cNvPr id="13" name="Shape 11"/>
          <p:cNvSpPr/>
          <p:nvPr/>
        </p:nvSpPr>
        <p:spPr>
          <a:xfrm>
            <a:off x="8138160" y="1188720"/>
            <a:ext cx="3383280" cy="1417320"/>
          </a:xfrm>
          <a:prstGeom prst="roundRect">
            <a:avLst>
              <a:gd name="adj" fmla="val 3871"/>
            </a:avLst>
          </a:prstGeom>
          <a:solidFill>
            <a:srgbClr val="F4F4F6"/>
          </a:solidFill>
          <a:ln/>
        </p:spPr>
      </p:sp>
      <p:sp>
        <p:nvSpPr>
          <p:cNvPr id="14" name="Text 12"/>
          <p:cNvSpPr/>
          <p:nvPr/>
        </p:nvSpPr>
        <p:spPr>
          <a:xfrm>
            <a:off x="8321040" y="1298448"/>
            <a:ext cx="3017520" cy="274320"/>
          </a:xfrm>
          <a:prstGeom prst="rect">
            <a:avLst/>
          </a:prstGeom>
          <a:noFill/>
          <a:ln/>
        </p:spPr>
        <p:txBody>
          <a:bodyPr wrap="square" lIns="0" tIns="0" rIns="0" bIns="0" rtlCol="0" anchor="ctr"/>
          <a:lstStyle/>
          <a:p>
            <a:pPr indent="0" marL="0">
              <a:buNone/>
            </a:pPr>
            <a:r>
              <a:rPr lang="en-US" sz="1250" b="1" dirty="0">
                <a:solidFill>
                  <a:srgbClr val="2E7D32"/>
                </a:solidFill>
                <a:latin typeface="Hiragino Sans" pitchFamily="34" charset="0"/>
                <a:ea typeface="Hiragino Sans" pitchFamily="34" charset="-122"/>
                <a:cs typeface="Hiragino Sans" pitchFamily="34" charset="-120"/>
              </a:rPr>
              <a:t>処置</a:t>
            </a:r>
            <a:endParaRPr lang="en-US" sz="1250" dirty="0"/>
          </a:p>
        </p:txBody>
      </p:sp>
      <p:sp>
        <p:nvSpPr>
          <p:cNvPr id="15" name="Text 13"/>
          <p:cNvSpPr/>
          <p:nvPr/>
        </p:nvSpPr>
        <p:spPr>
          <a:xfrm>
            <a:off x="8321040" y="1609344"/>
            <a:ext cx="3063240" cy="914400"/>
          </a:xfrm>
          <a:prstGeom prst="rect">
            <a:avLst/>
          </a:prstGeom>
          <a:noFill/>
          <a:ln/>
        </p:spPr>
        <p:txBody>
          <a:bodyPr wrap="square" lIns="0" tIns="0" rIns="0" bIns="0" rtlCol="0" anchor="ctr"/>
          <a:lstStyle/>
          <a:p>
            <a:pPr indent="0" marL="0">
              <a:lnSpc>
                <a:spcPts val="1500"/>
              </a:lnSpc>
              <a:buNone/>
            </a:pPr>
            <a:r>
              <a:rPr lang="en-US" sz="1050" dirty="0">
                <a:solidFill>
                  <a:srgbClr val="1A1A1A"/>
                </a:solidFill>
                <a:latin typeface="Hiragino Sans" pitchFamily="34" charset="0"/>
                <a:ea typeface="Hiragino Sans" pitchFamily="34" charset="-122"/>
                <a:cs typeface="Hiragino Sans" pitchFamily="34" charset="-120"/>
              </a:rPr>
              <a:t>座標+電圧の同一ノード・同経路の同一枝を統合</a:t>
            </a:r>
            <a:endParaRPr lang="en-US" sz="1050" dirty="0"/>
          </a:p>
          <a:p>
            <a:pPr indent="0" marL="0">
              <a:lnSpc>
                <a:spcPts val="1500"/>
              </a:lnSpc>
              <a:buNone/>
            </a:pPr>
            <a:r>
              <a:rPr lang="en-US" sz="1050" dirty="0">
                <a:solidFill>
                  <a:srgbClr val="1A1A1A"/>
                </a:solidFill>
                <a:latin typeface="Hiragino Sans" pitchFamily="34" charset="0"/>
                <a:ea typeface="Hiragino Sans" pitchFamily="34" charset="-122"/>
                <a:cs typeface="Hiragino Sans" pitchFamily="34" charset="-120"/>
              </a:rPr>
              <a:t>（実並列回線 par&gt;1 の8,898本は無傷）</a:t>
            </a:r>
            <a:endParaRPr lang="en-US" sz="1050" dirty="0"/>
          </a:p>
        </p:txBody>
      </p:sp>
      <p:sp>
        <p:nvSpPr>
          <p:cNvPr id="16" name="Shape 14"/>
          <p:cNvSpPr/>
          <p:nvPr/>
        </p:nvSpPr>
        <p:spPr>
          <a:xfrm>
            <a:off x="822960" y="2880360"/>
            <a:ext cx="3383280" cy="1143000"/>
          </a:xfrm>
          <a:prstGeom prst="roundRect">
            <a:avLst>
              <a:gd name="adj" fmla="val 4800"/>
            </a:avLst>
          </a:prstGeom>
          <a:solidFill>
            <a:srgbClr val="F4F4F6"/>
          </a:solidFill>
          <a:ln/>
        </p:spPr>
      </p:sp>
      <p:sp>
        <p:nvSpPr>
          <p:cNvPr id="17" name="Text 15"/>
          <p:cNvSpPr/>
          <p:nvPr/>
        </p:nvSpPr>
        <p:spPr>
          <a:xfrm>
            <a:off x="822960" y="2953512"/>
            <a:ext cx="3383280" cy="502920"/>
          </a:xfrm>
          <a:prstGeom prst="rect">
            <a:avLst/>
          </a:prstGeom>
          <a:noFill/>
          <a:ln/>
        </p:spPr>
        <p:txBody>
          <a:bodyPr wrap="square" lIns="0" tIns="0" rIns="0" bIns="0" rtlCol="0" anchor="ctr"/>
          <a:lstStyle/>
          <a:p>
            <a:pPr algn="ctr" indent="0" marL="0">
              <a:buNone/>
            </a:pPr>
            <a:r>
              <a:rPr lang="en-US" sz="2600" b="1" dirty="0">
                <a:solidFill>
                  <a:srgbClr val="1E2761"/>
                </a:solidFill>
                <a:latin typeface="Helvetica Neue" pitchFamily="34" charset="0"/>
                <a:ea typeface="Helvetica Neue" pitchFamily="34" charset="-122"/>
                <a:cs typeface="Helvetica Neue" pitchFamily="34" charset="-120"/>
              </a:rPr>
              <a:t>2,531 → 544</a:t>
            </a:r>
            <a:endParaRPr lang="en-US" sz="2600" dirty="0"/>
          </a:p>
        </p:txBody>
      </p:sp>
      <p:sp>
        <p:nvSpPr>
          <p:cNvPr id="18" name="Text 16"/>
          <p:cNvSpPr/>
          <p:nvPr/>
        </p:nvSpPr>
        <p:spPr>
          <a:xfrm>
            <a:off x="914400" y="3456432"/>
            <a:ext cx="3200400" cy="310896"/>
          </a:xfrm>
          <a:prstGeom prst="rect">
            <a:avLst/>
          </a:prstGeom>
          <a:noFill/>
          <a:ln/>
        </p:spPr>
        <p:txBody>
          <a:bodyPr wrap="square" lIns="0" tIns="0" rIns="0" bIns="0" rtlCol="0" anchor="ctr"/>
          <a:lstStyle/>
          <a:p>
            <a:pPr algn="ctr" indent="0" marL="0">
              <a:buNone/>
            </a:pPr>
            <a:r>
              <a:rPr lang="en-US" sz="1050" dirty="0">
                <a:solidFill>
                  <a:srgbClr val="1A1A1A"/>
                </a:solidFill>
                <a:latin typeface="Hiragino Sans" pitchFamily="34" charset="0"/>
                <a:ea typeface="Hiragino Sans" pitchFamily="34" charset="-122"/>
                <a:cs typeface="Hiragino Sans" pitchFamily="34" charset="-120"/>
              </a:rPr>
              <a:t>西日本の連結成分数</a:t>
            </a:r>
            <a:endParaRPr lang="en-US" sz="1050" dirty="0"/>
          </a:p>
        </p:txBody>
      </p:sp>
      <p:sp>
        <p:nvSpPr>
          <p:cNvPr id="19" name="Text 17"/>
          <p:cNvSpPr/>
          <p:nvPr/>
        </p:nvSpPr>
        <p:spPr>
          <a:xfrm>
            <a:off x="914400" y="3749040"/>
            <a:ext cx="3200400" cy="237744"/>
          </a:xfrm>
          <a:prstGeom prst="rect">
            <a:avLst/>
          </a:prstGeom>
          <a:noFill/>
          <a:ln/>
        </p:spPr>
        <p:txBody>
          <a:bodyPr wrap="square" lIns="0" tIns="0" rIns="0" bIns="0" rtlCol="0" anchor="ctr"/>
          <a:lstStyle/>
          <a:p>
            <a:pPr algn="ctr" indent="0" marL="0">
              <a:buNone/>
            </a:pPr>
            <a:r>
              <a:rPr lang="en-US" sz="850" dirty="0">
                <a:solidFill>
                  <a:srgbClr val="55555F"/>
                </a:solidFill>
                <a:latin typeface="Hiragino Sans" pitchFamily="34" charset="0"/>
                <a:ea typeface="Hiragino Sans" pitchFamily="34" charset="-122"/>
                <a:cs typeface="Hiragino Sans" pitchFamily="34" charset="-120"/>
              </a:rPr>
              <a:t>v1.6 dedup 前→後</a:t>
            </a:r>
            <a:endParaRPr lang="en-US" sz="850" dirty="0"/>
          </a:p>
        </p:txBody>
      </p:sp>
      <p:sp>
        <p:nvSpPr>
          <p:cNvPr id="20" name="Shape 18"/>
          <p:cNvSpPr/>
          <p:nvPr/>
        </p:nvSpPr>
        <p:spPr>
          <a:xfrm>
            <a:off x="4434840" y="2880360"/>
            <a:ext cx="3383280" cy="1143000"/>
          </a:xfrm>
          <a:prstGeom prst="roundRect">
            <a:avLst>
              <a:gd name="adj" fmla="val 4800"/>
            </a:avLst>
          </a:prstGeom>
          <a:solidFill>
            <a:srgbClr val="F4F4F6"/>
          </a:solidFill>
          <a:ln/>
        </p:spPr>
      </p:sp>
      <p:sp>
        <p:nvSpPr>
          <p:cNvPr id="21" name="Text 19"/>
          <p:cNvSpPr/>
          <p:nvPr/>
        </p:nvSpPr>
        <p:spPr>
          <a:xfrm>
            <a:off x="4434840" y="2953512"/>
            <a:ext cx="3383280" cy="502920"/>
          </a:xfrm>
          <a:prstGeom prst="rect">
            <a:avLst/>
          </a:prstGeom>
          <a:noFill/>
          <a:ln/>
        </p:spPr>
        <p:txBody>
          <a:bodyPr wrap="square" lIns="0" tIns="0" rIns="0" bIns="0" rtlCol="0" anchor="ctr"/>
          <a:lstStyle/>
          <a:p>
            <a:pPr algn="ctr" indent="0" marL="0">
              <a:buNone/>
            </a:pPr>
            <a:r>
              <a:rPr lang="en-US" sz="2600" b="1" dirty="0">
                <a:solidFill>
                  <a:srgbClr val="1E2761"/>
                </a:solidFill>
                <a:latin typeface="Helvetica Neue" pitchFamily="34" charset="0"/>
                <a:ea typeface="Helvetica Neue" pitchFamily="34" charset="-122"/>
                <a:cs typeface="Helvetica Neue" pitchFamily="34" charset="-120"/>
              </a:rPr>
              <a:t>9,793 → 8,353</a:t>
            </a:r>
            <a:endParaRPr lang="en-US" sz="2600" dirty="0"/>
          </a:p>
        </p:txBody>
      </p:sp>
      <p:sp>
        <p:nvSpPr>
          <p:cNvPr id="22" name="Text 20"/>
          <p:cNvSpPr/>
          <p:nvPr/>
        </p:nvSpPr>
        <p:spPr>
          <a:xfrm>
            <a:off x="4526280" y="3456432"/>
            <a:ext cx="3200400" cy="310896"/>
          </a:xfrm>
          <a:prstGeom prst="rect">
            <a:avLst/>
          </a:prstGeom>
          <a:noFill/>
          <a:ln/>
        </p:spPr>
        <p:txBody>
          <a:bodyPr wrap="square" lIns="0" tIns="0" rIns="0" bIns="0" rtlCol="0" anchor="ctr"/>
          <a:lstStyle/>
          <a:p>
            <a:pPr algn="ctr" indent="0" marL="0">
              <a:buNone/>
            </a:pPr>
            <a:r>
              <a:rPr lang="en-US" sz="1050" dirty="0">
                <a:solidFill>
                  <a:srgbClr val="1A1A1A"/>
                </a:solidFill>
                <a:latin typeface="Hiragino Sans" pitchFamily="34" charset="0"/>
                <a:ea typeface="Hiragino Sans" pitchFamily="34" charset="-122"/>
                <a:cs typeface="Hiragino Sans" pitchFamily="34" charset="-120"/>
              </a:rPr>
              <a:t>西日本の線数（二重計上の解消）</a:t>
            </a:r>
            <a:endParaRPr lang="en-US" sz="1050" dirty="0"/>
          </a:p>
        </p:txBody>
      </p:sp>
      <p:sp>
        <p:nvSpPr>
          <p:cNvPr id="23" name="Text 21"/>
          <p:cNvSpPr/>
          <p:nvPr/>
        </p:nvSpPr>
        <p:spPr>
          <a:xfrm>
            <a:off x="4526280" y="3749040"/>
            <a:ext cx="3200400" cy="237744"/>
          </a:xfrm>
          <a:prstGeom prst="rect">
            <a:avLst/>
          </a:prstGeom>
          <a:noFill/>
          <a:ln/>
        </p:spPr>
        <p:txBody>
          <a:bodyPr wrap="square" lIns="0" tIns="0" rIns="0" bIns="0" rtlCol="0" anchor="ctr"/>
          <a:lstStyle/>
          <a:p>
            <a:pPr algn="ctr" indent="0" marL="0">
              <a:buNone/>
            </a:pPr>
            <a:r>
              <a:rPr lang="en-US" sz="850" dirty="0">
                <a:solidFill>
                  <a:srgbClr val="55555F"/>
                </a:solidFill>
                <a:latin typeface="Hiragino Sans" pitchFamily="34" charset="0"/>
                <a:ea typeface="Hiragino Sans" pitchFamily="34" charset="-122"/>
                <a:cs typeface="Hiragino Sans" pitchFamily="34" charset="-120"/>
              </a:rPr>
              <a:t>v1.6 dedup 前→後</a:t>
            </a:r>
            <a:endParaRPr lang="en-US" sz="850" dirty="0"/>
          </a:p>
        </p:txBody>
      </p:sp>
      <p:sp>
        <p:nvSpPr>
          <p:cNvPr id="24" name="Shape 22"/>
          <p:cNvSpPr/>
          <p:nvPr/>
        </p:nvSpPr>
        <p:spPr>
          <a:xfrm>
            <a:off x="8046720" y="2880360"/>
            <a:ext cx="3383280" cy="1143000"/>
          </a:xfrm>
          <a:prstGeom prst="roundRect">
            <a:avLst>
              <a:gd name="adj" fmla="val 4800"/>
            </a:avLst>
          </a:prstGeom>
          <a:solidFill>
            <a:srgbClr val="F4F4F6"/>
          </a:solidFill>
          <a:ln/>
        </p:spPr>
      </p:sp>
      <p:sp>
        <p:nvSpPr>
          <p:cNvPr id="25" name="Text 23"/>
          <p:cNvSpPr/>
          <p:nvPr/>
        </p:nvSpPr>
        <p:spPr>
          <a:xfrm>
            <a:off x="8046720" y="2953512"/>
            <a:ext cx="3383280" cy="502920"/>
          </a:xfrm>
          <a:prstGeom prst="rect">
            <a:avLst/>
          </a:prstGeom>
          <a:noFill/>
          <a:ln/>
        </p:spPr>
        <p:txBody>
          <a:bodyPr wrap="square" lIns="0" tIns="0" rIns="0" bIns="0" rtlCol="0" anchor="ctr"/>
          <a:lstStyle/>
          <a:p>
            <a:pPr algn="ctr" indent="0" marL="0">
              <a:buNone/>
            </a:pPr>
            <a:r>
              <a:rPr lang="en-US" sz="2600" b="1" dirty="0">
                <a:solidFill>
                  <a:srgbClr val="C62828"/>
                </a:solidFill>
                <a:latin typeface="Helvetica Neue" pitchFamily="34" charset="0"/>
                <a:ea typeface="Helvetica Neue" pitchFamily="34" charset="-122"/>
                <a:cs typeface="Helvetica Neue" pitchFamily="34" charset="-120"/>
              </a:rPr>
              <a:t>+5.7 %</a:t>
            </a:r>
            <a:endParaRPr lang="en-US" sz="2600" dirty="0"/>
          </a:p>
        </p:txBody>
      </p:sp>
      <p:sp>
        <p:nvSpPr>
          <p:cNvPr id="26" name="Text 24"/>
          <p:cNvSpPr/>
          <p:nvPr/>
        </p:nvSpPr>
        <p:spPr>
          <a:xfrm>
            <a:off x="8138160" y="3456432"/>
            <a:ext cx="3200400" cy="310896"/>
          </a:xfrm>
          <a:prstGeom prst="rect">
            <a:avLst/>
          </a:prstGeom>
          <a:noFill/>
          <a:ln/>
        </p:spPr>
        <p:txBody>
          <a:bodyPr wrap="square" lIns="0" tIns="0" rIns="0" bIns="0" rtlCol="0" anchor="ctr"/>
          <a:lstStyle/>
          <a:p>
            <a:pPr algn="ctr" indent="0" marL="0">
              <a:buNone/>
            </a:pPr>
            <a:r>
              <a:rPr lang="en-US" sz="1050" dirty="0">
                <a:solidFill>
                  <a:srgbClr val="1A1A1A"/>
                </a:solidFill>
                <a:latin typeface="Hiragino Sans" pitchFamily="34" charset="0"/>
                <a:ea typeface="Hiragino Sans" pitchFamily="34" charset="-122"/>
                <a:cs typeface="Hiragino Sans" pitchFamily="34" charset="-120"/>
              </a:rPr>
              <a:t>東日本AC損失（増える＝正しくなる）</a:t>
            </a:r>
            <a:endParaRPr lang="en-US" sz="1050" dirty="0"/>
          </a:p>
        </p:txBody>
      </p:sp>
      <p:sp>
        <p:nvSpPr>
          <p:cNvPr id="27" name="Text 25"/>
          <p:cNvSpPr/>
          <p:nvPr/>
        </p:nvSpPr>
        <p:spPr>
          <a:xfrm>
            <a:off x="8138160" y="3749040"/>
            <a:ext cx="3200400" cy="237744"/>
          </a:xfrm>
          <a:prstGeom prst="rect">
            <a:avLst/>
          </a:prstGeom>
          <a:noFill/>
          <a:ln/>
        </p:spPr>
        <p:txBody>
          <a:bodyPr wrap="square" lIns="0" tIns="0" rIns="0" bIns="0" rtlCol="0" anchor="ctr"/>
          <a:lstStyle/>
          <a:p>
            <a:pPr algn="ctr" indent="0" marL="0">
              <a:buNone/>
            </a:pPr>
            <a:r>
              <a:rPr lang="en-US" sz="850" dirty="0">
                <a:solidFill>
                  <a:srgbClr val="55555F"/>
                </a:solidFill>
                <a:latin typeface="Hiragino Sans" pitchFamily="34" charset="0"/>
                <a:ea typeface="Hiragino Sans" pitchFamily="34" charset="-122"/>
                <a:cs typeface="Hiragino Sans" pitchFamily="34" charset="-120"/>
              </a:rPr>
              <a:t>v1.6：人工的な半減の解消</a:t>
            </a:r>
            <a:endParaRPr lang="en-US" sz="850" dirty="0"/>
          </a:p>
        </p:txBody>
      </p:sp>
      <p:sp>
        <p:nvSpPr>
          <p:cNvPr id="28" name="Text 26"/>
          <p:cNvSpPr/>
          <p:nvPr/>
        </p:nvSpPr>
        <p:spPr>
          <a:xfrm>
            <a:off x="822960" y="4206240"/>
            <a:ext cx="10607040" cy="548640"/>
          </a:xfrm>
          <a:prstGeom prst="rect">
            <a:avLst/>
          </a:prstGeom>
          <a:noFill/>
          <a:ln/>
        </p:spPr>
        <p:txBody>
          <a:bodyPr wrap="square" lIns="0" tIns="0" rIns="0" bIns="0" rtlCol="0" anchor="ctr"/>
          <a:lstStyle/>
          <a:p>
            <a:pPr indent="0" marL="0">
              <a:lnSpc>
                <a:spcPts val="1700"/>
              </a:lnSpc>
              <a:buNone/>
            </a:pPr>
            <a:r>
              <a:rPr lang="en-US" sz="1200" dirty="0">
                <a:solidFill>
                  <a:srgbClr val="1A1A1A"/>
                </a:solidFill>
                <a:latin typeface="Hiragino Sans" pitchFamily="34" charset="0"/>
                <a:ea typeface="Hiragino Sans" pitchFamily="34" charset="-122"/>
                <a:cs typeface="Hiragino Sans" pitchFamily="34" charset="-120"/>
              </a:rPr>
              <a:t>損失が増えるのは劣化ではない。二重登録がインピーダンスを実効的に半減させていた — その訂正である。既定ONへの昇格は4島のbefore/afterプローブと44ゲートで判定してから。</a:t>
            </a:r>
            <a:endParaRPr lang="en-US" sz="1200" dirty="0"/>
          </a:p>
        </p:txBody>
      </p:sp>
      <p:sp>
        <p:nvSpPr>
          <p:cNvPr id="29" name="Shape 27"/>
          <p:cNvSpPr/>
          <p:nvPr/>
        </p:nvSpPr>
        <p:spPr>
          <a:xfrm>
            <a:off x="822960" y="4892040"/>
            <a:ext cx="10607040" cy="1097280"/>
          </a:xfrm>
          <a:prstGeom prst="roundRect">
            <a:avLst>
              <a:gd name="adj" fmla="val 5000"/>
            </a:avLst>
          </a:prstGeom>
          <a:solidFill>
            <a:srgbClr val="F7F7F2"/>
          </a:solidFill>
          <a:ln/>
        </p:spPr>
      </p:sp>
      <p:sp>
        <p:nvSpPr>
          <p:cNvPr id="30" name="Text 28"/>
          <p:cNvSpPr/>
          <p:nvPr/>
        </p:nvSpPr>
        <p:spPr>
          <a:xfrm>
            <a:off x="1051560" y="4892040"/>
            <a:ext cx="10149840" cy="1097280"/>
          </a:xfrm>
          <a:prstGeom prst="rect">
            <a:avLst/>
          </a:prstGeom>
          <a:noFill/>
          <a:ln/>
        </p:spPr>
        <p:txBody>
          <a:bodyPr wrap="square" lIns="0" tIns="0" rIns="0" bIns="0" rtlCol="0" anchor="ctr"/>
          <a:lstStyle/>
          <a:p>
            <a:pPr indent="0" marL="0">
              <a:lnSpc>
                <a:spcPts val="1700"/>
              </a:lnSpc>
              <a:buNone/>
            </a:pPr>
            <a:r>
              <a:rPr lang="en-US" sz="1150" b="1" dirty="0">
                <a:solidFill>
                  <a:srgbClr val="1A1A1A"/>
                </a:solidFill>
                <a:latin typeface="Hiragino Sans" pitchFamily="34" charset="0"/>
                <a:ea typeface="Hiragino Sans" pitchFamily="34" charset="-122"/>
                <a:cs typeface="Hiragino Sans" pitchFamily="34" charset="-120"/>
              </a:rPr>
              <a:t>方法論として一般化して公開　</a:t>
            </a:r>
            <a:pPr indent="0" marL="0">
              <a:lnSpc>
                <a:spcPts val="1700"/>
              </a:lnSpc>
              <a:buNone/>
            </a:pPr>
            <a:r>
              <a:rPr lang="en-US" sz="1150" dirty="0">
                <a:solidFill>
                  <a:srgbClr val="1A1A1A"/>
                </a:solidFill>
                <a:latin typeface="Hiragino Sans" pitchFamily="34" charset="0"/>
                <a:ea typeface="Hiragino Sans" pitchFamily="34" charset="-122"/>
                <a:cs typeface="Hiragino Sans" pitchFamily="34" charset="-120"/>
              </a:rPr>
              <a:t>OSM由来系統モデルの落とし穴4クラス／診断手法5種（変種プローブ・プロセス分離・served_fracガード・DC角トリアージ・不変量比較）／他プロジェクト向け12項目チェックリスト — 負の結果も記録</a:t>
            </a:r>
            <a:endParaRPr lang="en-US" sz="1150" dirty="0"/>
          </a:p>
        </p:txBody>
      </p:sp>
      <p:sp>
        <p:nvSpPr>
          <p:cNvPr id="31" name="Text 29"/>
          <p:cNvSpPr/>
          <p:nvPr/>
        </p:nvSpPr>
        <p:spPr>
          <a:xfrm>
            <a:off x="640080" y="6510528"/>
            <a:ext cx="5486400" cy="256032"/>
          </a:xfrm>
          <a:prstGeom prst="rect">
            <a:avLst/>
          </a:prstGeom>
          <a:noFill/>
          <a:ln/>
        </p:spPr>
        <p:txBody>
          <a:bodyPr wrap="square" lIns="0" tIns="0" rIns="0" bIns="0" rtlCol="0" anchor="ctr"/>
          <a:lstStyle/>
          <a:p>
            <a:pPr indent="0" marL="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32" name="Text 30"/>
          <p:cNvSpPr/>
          <p:nvPr/>
        </p:nvSpPr>
        <p:spPr>
          <a:xfrm>
            <a:off x="9692640" y="6510528"/>
            <a:ext cx="1463040" cy="256032"/>
          </a:xfrm>
          <a:prstGeom prst="rect">
            <a:avLst/>
          </a:prstGeom>
          <a:noFill/>
          <a:ln/>
        </p:spPr>
        <p:txBody>
          <a:bodyPr wrap="square" lIns="0" tIns="0" rIns="0" bIns="0" rtlCol="0" anchor="ctr"/>
          <a:lstStyle/>
          <a:p>
            <a:pPr algn="r" indent="0" marL="0">
              <a:buNone/>
            </a:pPr>
            <a:r>
              <a:rPr lang="en-US" sz="900" dirty="0">
                <a:solidFill>
                  <a:srgbClr val="55555F"/>
                </a:solidFill>
                <a:latin typeface="Helvetica Neue" pitchFamily="34" charset="0"/>
                <a:ea typeface="Helvetica Neue" pitchFamily="34" charset="-122"/>
                <a:cs typeface="Helvetica Neue" pitchFamily="34" charset="-120"/>
              </a:rPr>
              <a:t>1:30</a:t>
            </a:r>
            <a:endParaRPr lang="en-US" sz="900" dirty="0"/>
          </a:p>
        </p:txBody>
      </p:sp>
      <p:sp>
        <p:nvSpPr>
          <p:cNvPr id="33" name="Text 31"/>
          <p:cNvSpPr/>
          <p:nvPr/>
        </p:nvSpPr>
        <p:spPr>
          <a:xfrm>
            <a:off x="11338560" y="6510528"/>
            <a:ext cx="457200" cy="256032"/>
          </a:xfrm>
          <a:prstGeom prst="rect">
            <a:avLst/>
          </a:prstGeom>
          <a:noFill/>
          <a:ln/>
        </p:spPr>
        <p:txBody>
          <a:bodyPr wrap="square" lIns="0" tIns="0" rIns="0" bIns="0" rtlCol="0" anchor="ctr"/>
          <a:lstStyle/>
          <a:p>
            <a:pPr algn="r" indent="0" marL="0">
              <a:buNone/>
            </a:pPr>
            <a:r>
              <a:rPr lang="en-US" sz="1000" dirty="0">
                <a:solidFill>
                  <a:srgbClr val="55555F"/>
                </a:solidFill>
                <a:latin typeface="Helvetica Neue" pitchFamily="34" charset="0"/>
                <a:ea typeface="Helvetica Neue" pitchFamily="34" charset="-122"/>
                <a:cs typeface="Helvetica Neue"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FF7F0E"/>
          </a:solidFill>
          <a:ln/>
        </p:spPr>
      </p:sp>
      <p:sp>
        <p:nvSpPr>
          <p:cNvPr id="3" name="Text 1"/>
          <p:cNvSpPr/>
          <p:nvPr/>
        </p:nvSpPr>
        <p:spPr>
          <a:xfrm>
            <a:off x="621792" y="347472"/>
            <a:ext cx="19202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Hiragino Sans" pitchFamily="34" charset="0"/>
                <a:ea typeface="Hiragino Sans" pitchFamily="34" charset="-122"/>
                <a:cs typeface="Hiragino Sans" pitchFamily="34" charset="-120"/>
              </a:rPr>
              <a:t>第4幕 v1.7</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indent="0" marL="0">
              <a:buNone/>
            </a:pPr>
            <a:r>
              <a:rPr lang="en-US" sz="2100" b="1" dirty="0">
                <a:solidFill>
                  <a:srgbClr val="1A1A1A"/>
                </a:solidFill>
                <a:latin typeface="Hiragino Sans" pitchFamily="34" charset="0"/>
                <a:ea typeface="Hiragino Sans" pitchFamily="34" charset="-122"/>
                <a:cs typeface="Hiragino Sans" pitchFamily="34" charset="-120"/>
              </a:rPr>
              <a:t>公式開示と接続する：開示データは「上書き」ではなく「照合」</a:t>
            </a:r>
            <a:endParaRPr lang="en-US" sz="2100" dirty="0"/>
          </a:p>
        </p:txBody>
      </p:sp>
      <p:sp>
        <p:nvSpPr>
          <p:cNvPr id="5" name="Shape 3"/>
          <p:cNvSpPr/>
          <p:nvPr/>
        </p:nvSpPr>
        <p:spPr>
          <a:xfrm>
            <a:off x="822960" y="1188720"/>
            <a:ext cx="5120640" cy="1600200"/>
          </a:xfrm>
          <a:prstGeom prst="roundRect">
            <a:avLst>
              <a:gd name="adj" fmla="val 3429"/>
            </a:avLst>
          </a:prstGeom>
          <a:solidFill>
            <a:srgbClr val="F4F4F6"/>
          </a:solidFill>
          <a:ln/>
        </p:spPr>
      </p:sp>
      <p:sp>
        <p:nvSpPr>
          <p:cNvPr id="6" name="Shape 4"/>
          <p:cNvSpPr/>
          <p:nvPr/>
        </p:nvSpPr>
        <p:spPr>
          <a:xfrm>
            <a:off x="1024128" y="1408176"/>
            <a:ext cx="128016" cy="128016"/>
          </a:xfrm>
          <a:prstGeom prst="rect">
            <a:avLst/>
          </a:prstGeom>
          <a:solidFill>
            <a:srgbClr val="FF7F0E"/>
          </a:solidFill>
          <a:ln/>
        </p:spPr>
      </p:sp>
      <p:sp>
        <p:nvSpPr>
          <p:cNvPr id="7" name="Text 5"/>
          <p:cNvSpPr/>
          <p:nvPr/>
        </p:nvSpPr>
        <p:spPr>
          <a:xfrm>
            <a:off x="1234440" y="1298448"/>
            <a:ext cx="4663440" cy="320040"/>
          </a:xfrm>
          <a:prstGeom prst="rect">
            <a:avLst/>
          </a:prstGeom>
          <a:noFill/>
          <a:ln/>
        </p:spPr>
        <p:txBody>
          <a:bodyPr wrap="square" lIns="0" tIns="0" rIns="0" bIns="0" rtlCol="0" anchor="ctr"/>
          <a:lstStyle/>
          <a:p>
            <a:pPr indent="0" marL="0">
              <a:buNone/>
            </a:pPr>
            <a:r>
              <a:rPr lang="en-US" sz="1200" b="1" dirty="0">
                <a:solidFill>
                  <a:srgbClr val="1A1A1A"/>
                </a:solidFill>
                <a:latin typeface="Hiragino Sans" pitchFamily="34" charset="0"/>
                <a:ea typeface="Hiragino Sans" pitchFamily="34" charset="-122"/>
                <a:cs typeface="Hiragino Sans" pitchFamily="34" charset="-120"/>
              </a:rPr>
              <a:t>様式5 インピーダンス表（全10 TSO）</a:t>
            </a:r>
            <a:endParaRPr lang="en-US" sz="1200" dirty="0"/>
          </a:p>
        </p:txBody>
      </p:sp>
      <p:sp>
        <p:nvSpPr>
          <p:cNvPr id="8" name="Text 6"/>
          <p:cNvSpPr/>
          <p:nvPr/>
        </p:nvSpPr>
        <p:spPr>
          <a:xfrm>
            <a:off x="1051560" y="1645920"/>
            <a:ext cx="4663440" cy="1033272"/>
          </a:xfrm>
          <a:prstGeom prst="rect">
            <a:avLst/>
          </a:prstGeom>
          <a:noFill/>
          <a:ln/>
        </p:spPr>
        <p:txBody>
          <a:bodyPr wrap="square" lIns="0" tIns="0" rIns="0" bIns="0" rtlCol="0" anchor="t"/>
          <a:lstStyle/>
          <a:p>
            <a:pPr indent="0" marL="0">
              <a:lnSpc>
                <a:spcPts val="1500"/>
              </a:lnSpc>
              <a:buNone/>
            </a:pPr>
            <a:r>
              <a:rPr lang="en-US" sz="1000" dirty="0">
                <a:solidFill>
                  <a:srgbClr val="55555F"/>
                </a:solidFill>
                <a:latin typeface="Hiragino Sans" pitchFamily="34" charset="0"/>
                <a:ea typeface="Hiragino Sans" pitchFamily="34" charset="-122"/>
                <a:cs typeface="Hiragino Sans" pitchFamily="34" charset="-120"/>
              </a:rPr>
              <a:t>1,009線・213変圧器を正規化し、実証接続89本を canon に適用。</a:t>
            </a:r>
            <a:endParaRPr lang="en-US" sz="1000" dirty="0"/>
          </a:p>
          <a:p>
            <a:pPr indent="0" marL="0">
              <a:lnSpc>
                <a:spcPts val="1500"/>
              </a:lnSpc>
              <a:buNone/>
            </a:pPr>
            <a:r>
              <a:rPr lang="en-US" sz="1000" dirty="0">
                <a:solidFill>
                  <a:srgbClr val="55555F"/>
                </a:solidFill>
                <a:latin typeface="Hiragino Sans" pitchFamily="34" charset="0"/>
                <a:ea typeface="Hiragino Sans" pitchFamily="34" charset="-122"/>
                <a:cs typeface="Hiragino Sans" pitchFamily="34" charset="-120"/>
              </a:rPr>
              <a:t>再生成のたびに再適用されるパイプライン段として組込（黙って消えない）</a:t>
            </a:r>
            <a:endParaRPr lang="en-US" sz="1000" dirty="0"/>
          </a:p>
        </p:txBody>
      </p:sp>
      <p:sp>
        <p:nvSpPr>
          <p:cNvPr id="9" name="Shape 7"/>
          <p:cNvSpPr/>
          <p:nvPr/>
        </p:nvSpPr>
        <p:spPr>
          <a:xfrm>
            <a:off x="822960" y="2926080"/>
            <a:ext cx="5120640" cy="1600200"/>
          </a:xfrm>
          <a:prstGeom prst="roundRect">
            <a:avLst>
              <a:gd name="adj" fmla="val 3429"/>
            </a:avLst>
          </a:prstGeom>
          <a:solidFill>
            <a:srgbClr val="F4F4F6"/>
          </a:solidFill>
          <a:ln/>
        </p:spPr>
      </p:sp>
      <p:sp>
        <p:nvSpPr>
          <p:cNvPr id="10" name="Shape 8"/>
          <p:cNvSpPr/>
          <p:nvPr/>
        </p:nvSpPr>
        <p:spPr>
          <a:xfrm>
            <a:off x="1024128" y="3145536"/>
            <a:ext cx="128016" cy="128016"/>
          </a:xfrm>
          <a:prstGeom prst="rect">
            <a:avLst/>
          </a:prstGeom>
          <a:solidFill>
            <a:srgbClr val="FF7F0E"/>
          </a:solidFill>
          <a:ln/>
        </p:spPr>
      </p:sp>
      <p:sp>
        <p:nvSpPr>
          <p:cNvPr id="11" name="Text 9"/>
          <p:cNvSpPr/>
          <p:nvPr/>
        </p:nvSpPr>
        <p:spPr>
          <a:xfrm>
            <a:off x="1234440" y="3035808"/>
            <a:ext cx="4663440" cy="320040"/>
          </a:xfrm>
          <a:prstGeom prst="rect">
            <a:avLst/>
          </a:prstGeom>
          <a:noFill/>
          <a:ln/>
        </p:spPr>
        <p:txBody>
          <a:bodyPr wrap="square" lIns="0" tIns="0" rIns="0" bIns="0" rtlCol="0" anchor="ctr"/>
          <a:lstStyle/>
          <a:p>
            <a:pPr indent="0" marL="0">
              <a:buNone/>
            </a:pPr>
            <a:r>
              <a:rPr lang="en-US" sz="1200" b="1" dirty="0">
                <a:solidFill>
                  <a:srgbClr val="1A1A1A"/>
                </a:solidFill>
                <a:latin typeface="Hiragino Sans" pitchFamily="34" charset="0"/>
                <a:ea typeface="Hiragino Sans" pitchFamily="34" charset="-122"/>
                <a:cs typeface="Hiragino Sans" pitchFamily="34" charset="-120"/>
              </a:rPr>
              <a:t>EGGC：証拠ゲート付きの線形照合</a:t>
            </a:r>
            <a:endParaRPr lang="en-US" sz="1200" dirty="0"/>
          </a:p>
        </p:txBody>
      </p:sp>
      <p:sp>
        <p:nvSpPr>
          <p:cNvPr id="12" name="Text 10"/>
          <p:cNvSpPr/>
          <p:nvPr/>
        </p:nvSpPr>
        <p:spPr>
          <a:xfrm>
            <a:off x="1051560" y="3383280"/>
            <a:ext cx="4663440" cy="1033272"/>
          </a:xfrm>
          <a:prstGeom prst="rect">
            <a:avLst/>
          </a:prstGeom>
          <a:noFill/>
          <a:ln/>
        </p:spPr>
        <p:txBody>
          <a:bodyPr wrap="square" lIns="0" tIns="0" rIns="0" bIns="0" rtlCol="0" anchor="t"/>
          <a:lstStyle/>
          <a:p>
            <a:pPr indent="0" marL="0">
              <a:lnSpc>
                <a:spcPts val="1500"/>
              </a:lnSpc>
              <a:buNone/>
            </a:pPr>
            <a:r>
              <a:rPr lang="en-US" sz="1000" dirty="0">
                <a:solidFill>
                  <a:srgbClr val="55555F"/>
                </a:solidFill>
                <a:latin typeface="Hiragino Sans" pitchFamily="34" charset="0"/>
                <a:ea typeface="Hiragino Sans" pitchFamily="34" charset="-122"/>
                <a:cs typeface="Hiragino Sans" pitchFamily="34" charset="-120"/>
              </a:rPr>
              <a:t>開示コードがOSM実線形に吸着するのは「断片＝開示線そのもの」</a:t>
            </a:r>
            <a:endParaRPr lang="en-US" sz="1000" dirty="0"/>
          </a:p>
          <a:p>
            <a:pPr indent="0" marL="0">
              <a:lnSpc>
                <a:spcPts val="1500"/>
              </a:lnSpc>
              <a:buNone/>
            </a:pPr>
            <a:r>
              <a:rPr lang="en-US" sz="1000" dirty="0">
                <a:solidFill>
                  <a:srgbClr val="55555F"/>
                </a:solidFill>
                <a:latin typeface="Hiragino Sans" pitchFamily="34" charset="0"/>
                <a:ea typeface="Hiragino Sans" pitchFamily="34" charset="-122"/>
                <a:cs typeface="Hiragino Sans" pitchFamily="34" charset="-120"/>
              </a:rPr>
              <a:t>（off-main比 ≥ 0.7）のときだけ。幾何の捏造なし・14本を台帳化</a:t>
            </a:r>
            <a:endParaRPr lang="en-US" sz="1000" dirty="0"/>
          </a:p>
        </p:txBody>
      </p:sp>
      <p:sp>
        <p:nvSpPr>
          <p:cNvPr id="13" name="Shape 11"/>
          <p:cNvSpPr/>
          <p:nvPr/>
        </p:nvSpPr>
        <p:spPr>
          <a:xfrm>
            <a:off x="822960" y="4663440"/>
            <a:ext cx="5120640" cy="1600200"/>
          </a:xfrm>
          <a:prstGeom prst="roundRect">
            <a:avLst>
              <a:gd name="adj" fmla="val 3429"/>
            </a:avLst>
          </a:prstGeom>
          <a:solidFill>
            <a:srgbClr val="F4F4F6"/>
          </a:solidFill>
          <a:ln/>
        </p:spPr>
      </p:sp>
      <p:sp>
        <p:nvSpPr>
          <p:cNvPr id="14" name="Shape 12"/>
          <p:cNvSpPr/>
          <p:nvPr/>
        </p:nvSpPr>
        <p:spPr>
          <a:xfrm>
            <a:off x="1024128" y="4882896"/>
            <a:ext cx="128016" cy="128016"/>
          </a:xfrm>
          <a:prstGeom prst="rect">
            <a:avLst/>
          </a:prstGeom>
          <a:solidFill>
            <a:srgbClr val="C62828"/>
          </a:solidFill>
          <a:ln/>
        </p:spPr>
      </p:sp>
      <p:sp>
        <p:nvSpPr>
          <p:cNvPr id="15" name="Text 13"/>
          <p:cNvSpPr/>
          <p:nvPr/>
        </p:nvSpPr>
        <p:spPr>
          <a:xfrm>
            <a:off x="1234440" y="4773168"/>
            <a:ext cx="4663440" cy="320040"/>
          </a:xfrm>
          <a:prstGeom prst="rect">
            <a:avLst/>
          </a:prstGeom>
          <a:noFill/>
          <a:ln/>
        </p:spPr>
        <p:txBody>
          <a:bodyPr wrap="square" lIns="0" tIns="0" rIns="0" bIns="0" rtlCol="0" anchor="ctr"/>
          <a:lstStyle/>
          <a:p>
            <a:pPr indent="0" marL="0">
              <a:buNone/>
            </a:pPr>
            <a:r>
              <a:rPr lang="en-US" sz="1200" b="1" dirty="0">
                <a:solidFill>
                  <a:srgbClr val="1A1A1A"/>
                </a:solidFill>
                <a:latin typeface="Hiragino Sans" pitchFamily="34" charset="0"/>
                <a:ea typeface="Hiragino Sans" pitchFamily="34" charset="-122"/>
                <a:cs typeface="Hiragino Sans" pitchFamily="34" charset="-120"/>
              </a:rPr>
              <a:t>UC定式の訂正</a:t>
            </a:r>
            <a:endParaRPr lang="en-US" sz="1200" dirty="0"/>
          </a:p>
        </p:txBody>
      </p:sp>
      <p:sp>
        <p:nvSpPr>
          <p:cNvPr id="16" name="Text 14"/>
          <p:cNvSpPr/>
          <p:nvPr/>
        </p:nvSpPr>
        <p:spPr>
          <a:xfrm>
            <a:off x="1051560" y="5120640"/>
            <a:ext cx="4663440" cy="1033272"/>
          </a:xfrm>
          <a:prstGeom prst="rect">
            <a:avLst/>
          </a:prstGeom>
          <a:noFill/>
          <a:ln/>
        </p:spPr>
        <p:txBody>
          <a:bodyPr wrap="square" lIns="0" tIns="0" rIns="0" bIns="0" rtlCol="0" anchor="t"/>
          <a:lstStyle/>
          <a:p>
            <a:pPr indent="0" marL="0">
              <a:lnSpc>
                <a:spcPts val="1500"/>
              </a:lnSpc>
              <a:buNone/>
            </a:pPr>
            <a:r>
              <a:rPr lang="en-US" sz="1000" dirty="0">
                <a:solidFill>
                  <a:srgbClr val="55555F"/>
                </a:solidFill>
                <a:latin typeface="Hiragino Sans" pitchFamily="34" charset="0"/>
                <a:ea typeface="Hiragino Sans" pitchFamily="34" charset="-122"/>
                <a:cs typeface="Hiragino Sans" pitchFamily="34" charset="-120"/>
              </a:rPr>
              <a:t>地域収支が不等式で「余剰のタダ捨て」を許していた → 等式＋</a:t>
            </a:r>
            <a:endParaRPr lang="en-US" sz="1000" dirty="0"/>
          </a:p>
          <a:p>
            <a:pPr indent="0" marL="0">
              <a:lnSpc>
                <a:spcPts val="1500"/>
              </a:lnSpc>
              <a:buNone/>
            </a:pPr>
            <a:r>
              <a:rPr lang="en-US" sz="1000" dirty="0">
                <a:solidFill>
                  <a:srgbClr val="55555F"/>
                </a:solidFill>
                <a:latin typeface="Hiragino Sans" pitchFamily="34" charset="0"/>
                <a:ea typeface="Hiragino Sans" pitchFamily="34" charset="-122"/>
                <a:cs typeface="Hiragino Sans" pitchFamily="34" charset="-120"/>
              </a:rPr>
              <a:t>明示スピル変数に。九州の幻の5.7 GW発電と関門2倍違反が消えた</a:t>
            </a:r>
            <a:endParaRPr lang="en-US" sz="1000" dirty="0"/>
          </a:p>
        </p:txBody>
      </p:sp>
      <p:sp>
        <p:nvSpPr>
          <p:cNvPr id="17" name="Shape 15"/>
          <p:cNvSpPr/>
          <p:nvPr/>
        </p:nvSpPr>
        <p:spPr>
          <a:xfrm>
            <a:off x="6309360" y="1188720"/>
            <a:ext cx="5120640" cy="3337560"/>
          </a:xfrm>
          <a:prstGeom prst="roundRect">
            <a:avLst>
              <a:gd name="adj" fmla="val 1644"/>
            </a:avLst>
          </a:prstGeom>
          <a:solidFill>
            <a:srgbClr val="F4F4F6"/>
          </a:solidFill>
          <a:ln/>
        </p:spPr>
      </p:sp>
      <p:sp>
        <p:nvSpPr>
          <p:cNvPr id="18" name="Text 16"/>
          <p:cNvSpPr/>
          <p:nvPr/>
        </p:nvSpPr>
        <p:spPr>
          <a:xfrm>
            <a:off x="6537960" y="1325880"/>
            <a:ext cx="4754880" cy="320040"/>
          </a:xfrm>
          <a:prstGeom prst="rect">
            <a:avLst/>
          </a:prstGeom>
          <a:noFill/>
          <a:ln/>
        </p:spPr>
        <p:txBody>
          <a:bodyPr wrap="square" lIns="0" tIns="0" rIns="0" bIns="0" rtlCol="0" anchor="ctr"/>
          <a:lstStyle/>
          <a:p>
            <a:pPr indent="0" marL="0">
              <a:buNone/>
            </a:pPr>
            <a:r>
              <a:rPr lang="en-US" sz="1250" b="1" dirty="0">
                <a:solidFill>
                  <a:srgbClr val="1E2761"/>
                </a:solidFill>
                <a:latin typeface="Hiragino Sans" pitchFamily="34" charset="0"/>
                <a:ea typeface="Hiragino Sans" pitchFamily="34" charset="-122"/>
                <a:cs typeface="Hiragino Sans" pitchFamily="34" charset="-120"/>
              </a:rPr>
              <a:t>連系線を一次資料で引き直す（OCCTO公表28レコード）</a:t>
            </a:r>
            <a:endParaRPr lang="en-US" sz="1250" dirty="0"/>
          </a:p>
        </p:txBody>
      </p:sp>
      <p:sp>
        <p:nvSpPr>
          <p:cNvPr id="19" name="Text 17"/>
          <p:cNvSpPr/>
          <p:nvPr/>
        </p:nvSpPr>
        <p:spPr>
          <a:xfrm>
            <a:off x="6537960" y="1783080"/>
            <a:ext cx="4709160" cy="2651760"/>
          </a:xfrm>
          <a:prstGeom prst="rect">
            <a:avLst/>
          </a:prstGeom>
          <a:noFill/>
          <a:ln/>
        </p:spPr>
        <p:txBody>
          <a:bodyPr wrap="square" lIns="0" tIns="0" rIns="0" bIns="0" rtlCol="0" anchor="t"/>
          <a:lstStyle/>
          <a:p>
            <a:pPr marL="152400" indent="-152400">
              <a:lnSpc>
                <a:spcPts val="1600"/>
              </a:lnSpc>
              <a:buSzPct val="100000"/>
              <a:buChar char="•"/>
            </a:pPr>
            <a:r>
              <a:rPr lang="en-US" sz="1150" dirty="0">
                <a:solidFill>
                  <a:srgbClr val="1A1A1A"/>
                </a:solidFill>
                <a:latin typeface="Hiragino Sans" pitchFamily="34" charset="0"/>
                <a:ea typeface="Hiragino Sans" pitchFamily="34" charset="-122"/>
                <a:cs typeface="Hiragino Sans" pitchFamily="34" charset="-120"/>
              </a:rPr>
              <a:t>関門：対称2,780 MW → 方向別 850 / 2,850 MW（順方向を3.3倍過大評価していた）</a:t>
            </a:r>
            <a:endParaRPr lang="en-US" sz="1150" dirty="0"/>
          </a:p>
          <a:p>
            <a:pPr marL="152400" indent="-152400">
              <a:lnSpc>
                <a:spcPts val="1600"/>
              </a:lnSpc>
              <a:buSzPct val="100000"/>
              <a:buChar char="•"/>
            </a:pPr>
            <a:r>
              <a:rPr lang="en-US" sz="1150" dirty="0">
                <a:solidFill>
                  <a:srgbClr val="1A1A1A"/>
                </a:solidFill>
                <a:latin typeface="Hiragino Sans" pitchFamily="34" charset="0"/>
                <a:ea typeface="Hiragino Sans" pitchFamily="34" charset="-122"/>
                <a:cs typeface="Hiragino Sans" pitchFamily="34" charset="-120"/>
              </a:rPr>
              <a:t>南福光はBTB直流300 MW — ACスルーで575–1,210 MW流れていた母線を分割</a:t>
            </a:r>
            <a:endParaRPr lang="en-US" sz="1150" dirty="0"/>
          </a:p>
          <a:p>
            <a:pPr marL="152400" indent="-152400">
              <a:lnSpc>
                <a:spcPts val="1600"/>
              </a:lnSpc>
              <a:buSzPct val="100000"/>
              <a:buChar char="•"/>
            </a:pPr>
            <a:r>
              <a:rPr lang="en-US" sz="1150" dirty="0">
                <a:solidFill>
                  <a:srgbClr val="1A1A1A"/>
                </a:solidFill>
                <a:latin typeface="Hiragino Sans" pitchFamily="34" charset="0"/>
                <a:ea typeface="Hiragino Sans" pitchFamily="34" charset="-122"/>
                <a:cs typeface="Hiragino Sans" pitchFamily="34" charset="-120"/>
              </a:rPr>
              <a:t>OCCTO直線の合成連系線7本は実形と二重計上 → in_service=False で退役</a:t>
            </a:r>
            <a:endParaRPr lang="en-US" sz="1150" dirty="0"/>
          </a:p>
          <a:p>
            <a:pPr marL="152400" indent="-152400">
              <a:lnSpc>
                <a:spcPts val="1600"/>
              </a:lnSpc>
              <a:buSzPct val="100000"/>
              <a:buChar char="•"/>
            </a:pPr>
            <a:r>
              <a:rPr lang="en-US" sz="1150" dirty="0">
                <a:solidFill>
                  <a:srgbClr val="1A1A1A"/>
                </a:solidFill>
                <a:latin typeface="Hiragino Sans" pitchFamily="34" charset="0"/>
                <a:ea typeface="Hiragino Sans" pitchFamily="34" charset="-122"/>
                <a:cs typeface="Hiragino Sans" pitchFamily="34" charset="-120"/>
              </a:rPr>
              <a:t>阿南紀北直流幹線に実OSM線形（海底46 km＋架空50.6 km）</a:t>
            </a:r>
            <a:endParaRPr lang="en-US" sz="1150" dirty="0"/>
          </a:p>
        </p:txBody>
      </p:sp>
      <p:sp>
        <p:nvSpPr>
          <p:cNvPr id="20" name="Shape 18"/>
          <p:cNvSpPr/>
          <p:nvPr/>
        </p:nvSpPr>
        <p:spPr>
          <a:xfrm>
            <a:off x="6309360" y="4663440"/>
            <a:ext cx="5120640" cy="1600200"/>
          </a:xfrm>
          <a:prstGeom prst="roundRect">
            <a:avLst>
              <a:gd name="adj" fmla="val 3429"/>
            </a:avLst>
          </a:prstGeom>
          <a:solidFill>
            <a:srgbClr val="FFFFFF"/>
          </a:solidFill>
          <a:ln w="15240">
            <a:solidFill>
              <a:srgbClr val="1E2761"/>
            </a:solidFill>
            <a:prstDash val="solid"/>
          </a:ln>
        </p:spPr>
      </p:sp>
      <p:sp>
        <p:nvSpPr>
          <p:cNvPr id="21" name="Text 19"/>
          <p:cNvSpPr/>
          <p:nvPr/>
        </p:nvSpPr>
        <p:spPr>
          <a:xfrm>
            <a:off x="6537960" y="4800600"/>
            <a:ext cx="4754880" cy="274320"/>
          </a:xfrm>
          <a:prstGeom prst="rect">
            <a:avLst/>
          </a:prstGeom>
          <a:noFill/>
          <a:ln/>
        </p:spPr>
        <p:txBody>
          <a:bodyPr wrap="square" lIns="0" tIns="0" rIns="0" bIns="0" rtlCol="0" anchor="ctr"/>
          <a:lstStyle/>
          <a:p>
            <a:pPr indent="0" marL="0">
              <a:buNone/>
            </a:pPr>
            <a:r>
              <a:rPr lang="en-US" sz="1250" b="1" dirty="0">
                <a:solidFill>
                  <a:srgbClr val="1E2761"/>
                </a:solidFill>
                <a:latin typeface="Hiragino Sans" pitchFamily="34" charset="0"/>
                <a:ea typeface="Hiragino Sans" pitchFamily="34" charset="-122"/>
                <a:cs typeface="Hiragino Sans" pitchFamily="34" charset="-120"/>
              </a:rPr>
              <a:t>容量の出典主義</a:t>
            </a:r>
            <a:endParaRPr lang="en-US" sz="1250" dirty="0"/>
          </a:p>
        </p:txBody>
      </p:sp>
      <p:sp>
        <p:nvSpPr>
          <p:cNvPr id="22" name="Text 20"/>
          <p:cNvSpPr/>
          <p:nvPr/>
        </p:nvSpPr>
        <p:spPr>
          <a:xfrm>
            <a:off x="6537960" y="5120640"/>
            <a:ext cx="4754880" cy="1051560"/>
          </a:xfrm>
          <a:prstGeom prst="rect">
            <a:avLst/>
          </a:prstGeom>
          <a:noFill/>
          <a:ln/>
        </p:spPr>
        <p:txBody>
          <a:bodyPr wrap="square" lIns="0" tIns="0" rIns="0" bIns="0" rtlCol="0" anchor="ctr"/>
          <a:lstStyle/>
          <a:p>
            <a:pPr indent="0" marL="0">
              <a:lnSpc>
                <a:spcPts val="1600"/>
              </a:lnSpc>
              <a:buNone/>
            </a:pPr>
            <a:r>
              <a:rPr lang="en-US" sz="1150" dirty="0">
                <a:solidFill>
                  <a:srgbClr val="1A1A1A"/>
                </a:solidFill>
                <a:latin typeface="Hiragino Sans" pitchFamily="34" charset="0"/>
                <a:ea typeface="Hiragino Sans" pitchFamily="34" charset="-122"/>
                <a:cs typeface="Hiragino Sans" pitchFamily="34" charset="-120"/>
              </a:rPr>
              <a:t>発電容量・変圧器銘板・連系線容量はすべて「出典URL＋原文引用つきレコード」の provenance DB 経由でだけモデルに入る。出典が無い値は既定値のまま、既定値と明記される。</a:t>
            </a:r>
            <a:endParaRPr lang="en-US" sz="1150" dirty="0"/>
          </a:p>
        </p:txBody>
      </p:sp>
      <p:sp>
        <p:nvSpPr>
          <p:cNvPr id="23" name="Text 21"/>
          <p:cNvSpPr/>
          <p:nvPr/>
        </p:nvSpPr>
        <p:spPr>
          <a:xfrm>
            <a:off x="640080" y="6510528"/>
            <a:ext cx="5486400" cy="256032"/>
          </a:xfrm>
          <a:prstGeom prst="rect">
            <a:avLst/>
          </a:prstGeom>
          <a:noFill/>
          <a:ln/>
        </p:spPr>
        <p:txBody>
          <a:bodyPr wrap="square" lIns="0" tIns="0" rIns="0" bIns="0" rtlCol="0" anchor="ctr"/>
          <a:lstStyle/>
          <a:p>
            <a:pPr indent="0" marL="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24" name="Text 22"/>
          <p:cNvSpPr/>
          <p:nvPr/>
        </p:nvSpPr>
        <p:spPr>
          <a:xfrm>
            <a:off x="9692640" y="6510528"/>
            <a:ext cx="1463040" cy="256032"/>
          </a:xfrm>
          <a:prstGeom prst="rect">
            <a:avLst/>
          </a:prstGeom>
          <a:noFill/>
          <a:ln/>
        </p:spPr>
        <p:txBody>
          <a:bodyPr wrap="square" lIns="0" tIns="0" rIns="0" bIns="0" rtlCol="0" anchor="ctr"/>
          <a:lstStyle/>
          <a:p>
            <a:pPr algn="r" indent="0" marL="0">
              <a:buNone/>
            </a:pPr>
            <a:r>
              <a:rPr lang="en-US" sz="900" dirty="0">
                <a:solidFill>
                  <a:srgbClr val="55555F"/>
                </a:solidFill>
                <a:latin typeface="Helvetica Neue" pitchFamily="34" charset="0"/>
                <a:ea typeface="Helvetica Neue" pitchFamily="34" charset="-122"/>
                <a:cs typeface="Helvetica Neue" pitchFamily="34" charset="-120"/>
              </a:rPr>
              <a:t>1:30</a:t>
            </a:r>
            <a:endParaRPr lang="en-US" sz="900" dirty="0"/>
          </a:p>
        </p:txBody>
      </p:sp>
      <p:sp>
        <p:nvSpPr>
          <p:cNvPr id="25" name="Text 23"/>
          <p:cNvSpPr/>
          <p:nvPr/>
        </p:nvSpPr>
        <p:spPr>
          <a:xfrm>
            <a:off x="11338560" y="6510528"/>
            <a:ext cx="457200" cy="256032"/>
          </a:xfrm>
          <a:prstGeom prst="rect">
            <a:avLst/>
          </a:prstGeom>
          <a:noFill/>
          <a:ln/>
        </p:spPr>
        <p:txBody>
          <a:bodyPr wrap="square" lIns="0" tIns="0" rIns="0" bIns="0" rtlCol="0" anchor="ctr"/>
          <a:lstStyle/>
          <a:p>
            <a:pPr algn="r" indent="0" marL="0">
              <a:buNone/>
            </a:pPr>
            <a:r>
              <a:rPr lang="en-US" sz="1000" dirty="0">
                <a:solidFill>
                  <a:srgbClr val="55555F"/>
                </a:solidFill>
                <a:latin typeface="Helvetica Neue" pitchFamily="34" charset="0"/>
                <a:ea typeface="Helvetica Neue" pitchFamily="34" charset="-122"/>
                <a:cs typeface="Helvetica Neue"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FF7F0E"/>
          </a:solidFill>
          <a:ln/>
        </p:spPr>
      </p:sp>
      <p:sp>
        <p:nvSpPr>
          <p:cNvPr id="3" name="Text 1"/>
          <p:cNvSpPr/>
          <p:nvPr/>
        </p:nvSpPr>
        <p:spPr>
          <a:xfrm>
            <a:off x="621792" y="347472"/>
            <a:ext cx="19202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Hiragino Sans" pitchFamily="34" charset="0"/>
                <a:ea typeface="Hiragino Sans" pitchFamily="34" charset="-122"/>
                <a:cs typeface="Hiragino Sans" pitchFamily="34" charset="-120"/>
              </a:rPr>
              <a:t>第4幕 v1.7→</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indent="0" marL="0">
              <a:buNone/>
            </a:pPr>
            <a:r>
              <a:rPr lang="en-US" sz="2100" b="1" dirty="0">
                <a:solidFill>
                  <a:srgbClr val="1A1A1A"/>
                </a:solidFill>
                <a:latin typeface="Hiragino Sans" pitchFamily="34" charset="0"/>
                <a:ea typeface="Hiragino Sans" pitchFamily="34" charset="-122"/>
                <a:cs typeface="Hiragino Sans" pitchFamily="34" charset="-120"/>
              </a:rPr>
              <a:t>観測と突合し、動かし続ける</a:t>
            </a:r>
            <a:endParaRPr lang="en-US" sz="2100" dirty="0"/>
          </a:p>
        </p:txBody>
      </p:sp>
      <p:pic>
        <p:nvPicPr>
          <p:cNvPr id="5" name="Image 0" descr="assets/flow_map_demo.gif">    </p:cNvPr>
          <p:cNvPicPr>
            <a:picLocks noChangeAspect="1"/>
          </p:cNvPicPr>
          <p:nvPr/>
        </p:nvPicPr>
        <p:blipFill>
          <a:blip r:embed="rId1"/>
          <a:stretch>
            <a:fillRect/>
          </a:stretch>
        </p:blipFill>
        <p:spPr>
          <a:xfrm>
            <a:off x="822960" y="1188720"/>
            <a:ext cx="6583680" cy="4471416"/>
          </a:xfrm>
          <a:prstGeom prst="rect">
            <a:avLst/>
          </a:prstGeom>
        </p:spPr>
      </p:pic>
      <p:sp>
        <p:nvSpPr>
          <p:cNvPr id="6" name="Text 3"/>
          <p:cNvSpPr/>
          <p:nvPr/>
        </p:nvSpPr>
        <p:spPr>
          <a:xfrm>
            <a:off x="822960" y="5715000"/>
            <a:ext cx="6583680" cy="274320"/>
          </a:xfrm>
          <a:prstGeom prst="rect">
            <a:avLst/>
          </a:prstGeom>
          <a:noFill/>
          <a:ln/>
        </p:spPr>
        <p:txBody>
          <a:bodyPr wrap="square" lIns="0" tIns="0" rIns="0" bIns="0" rtlCol="0" anchor="ctr"/>
          <a:lstStyle/>
          <a:p>
            <a:pPr indent="0" marL="0">
              <a:buNone/>
            </a:pPr>
            <a:r>
              <a:rPr lang="en-US" sz="1050" dirty="0">
                <a:solidFill>
                  <a:srgbClr val="55555F"/>
                </a:solidFill>
                <a:latin typeface="Hiragino Sans" pitchFamily="34" charset="0"/>
                <a:ea typeface="Hiragino Sans" pitchFamily="34" charset="-122"/>
                <a:cs typeface="Hiragino Sans" pitchFamily="34" charset="-120"/>
              </a:rPr>
              <a:t>flow_map.html — 24時間ノード潮流・方向つきアニメーション（Pages実画面・スライドショーで動きます）</a:t>
            </a:r>
            <a:endParaRPr lang="en-US" sz="1050" dirty="0"/>
          </a:p>
        </p:txBody>
      </p:sp>
      <p:sp>
        <p:nvSpPr>
          <p:cNvPr id="7" name="Shape 4"/>
          <p:cNvSpPr/>
          <p:nvPr/>
        </p:nvSpPr>
        <p:spPr>
          <a:xfrm>
            <a:off x="7680960" y="1188720"/>
            <a:ext cx="3749040" cy="1645920"/>
          </a:xfrm>
          <a:prstGeom prst="roundRect">
            <a:avLst>
              <a:gd name="adj" fmla="val 3333"/>
            </a:avLst>
          </a:prstGeom>
          <a:solidFill>
            <a:srgbClr val="F4F4F6"/>
          </a:solidFill>
          <a:ln/>
        </p:spPr>
      </p:sp>
      <p:sp>
        <p:nvSpPr>
          <p:cNvPr id="8" name="Shape 5"/>
          <p:cNvSpPr/>
          <p:nvPr/>
        </p:nvSpPr>
        <p:spPr>
          <a:xfrm>
            <a:off x="7882128" y="1408176"/>
            <a:ext cx="128016" cy="128016"/>
          </a:xfrm>
          <a:prstGeom prst="rect">
            <a:avLst/>
          </a:prstGeom>
          <a:solidFill>
            <a:srgbClr val="2E7D32"/>
          </a:solidFill>
          <a:ln/>
        </p:spPr>
      </p:sp>
      <p:sp>
        <p:nvSpPr>
          <p:cNvPr id="9" name="Text 6"/>
          <p:cNvSpPr/>
          <p:nvPr/>
        </p:nvSpPr>
        <p:spPr>
          <a:xfrm>
            <a:off x="8092440" y="1298448"/>
            <a:ext cx="3291840" cy="320040"/>
          </a:xfrm>
          <a:prstGeom prst="rect">
            <a:avLst/>
          </a:prstGeom>
          <a:noFill/>
          <a:ln/>
        </p:spPr>
        <p:txBody>
          <a:bodyPr wrap="square" lIns="0" tIns="0" rIns="0" bIns="0" rtlCol="0" anchor="ctr"/>
          <a:lstStyle/>
          <a:p>
            <a:pPr indent="0" marL="0">
              <a:buNone/>
            </a:pPr>
            <a:r>
              <a:rPr lang="en-US" sz="1150" b="1" dirty="0">
                <a:solidFill>
                  <a:srgbClr val="1A1A1A"/>
                </a:solidFill>
                <a:latin typeface="Hiragino Sans" pitchFamily="34" charset="0"/>
                <a:ea typeface="Hiragino Sans" pitchFamily="34" charset="-122"/>
                <a:cs typeface="Hiragino Sans" pitchFamily="34" charset="-120"/>
              </a:rPr>
              <a:t>燃料別の実績注入</a:t>
            </a:r>
            <a:endParaRPr lang="en-US" sz="1150" dirty="0"/>
          </a:p>
        </p:txBody>
      </p:sp>
      <p:sp>
        <p:nvSpPr>
          <p:cNvPr id="10" name="Text 7"/>
          <p:cNvSpPr/>
          <p:nvPr/>
        </p:nvSpPr>
        <p:spPr>
          <a:xfrm>
            <a:off x="7909560" y="1645920"/>
            <a:ext cx="3291840" cy="1078992"/>
          </a:xfrm>
          <a:prstGeom prst="rect">
            <a:avLst/>
          </a:prstGeom>
          <a:noFill/>
          <a:ln/>
        </p:spPr>
        <p:txBody>
          <a:bodyPr wrap="square" lIns="0" tIns="0" rIns="0" bIns="0" rtlCol="0" anchor="t"/>
          <a:lstStyle/>
          <a:p>
            <a:pPr indent="0" marL="0">
              <a:lnSpc>
                <a:spcPts val="1500"/>
              </a:lnSpc>
              <a:buNone/>
            </a:pPr>
            <a:r>
              <a:rPr lang="en-US" sz="950" dirty="0">
                <a:solidFill>
                  <a:srgbClr val="55555F"/>
                </a:solidFill>
                <a:latin typeface="Hiragino Sans" pitchFamily="34" charset="0"/>
                <a:ea typeface="Hiragino Sans" pitchFamily="34" charset="-122"/>
                <a:cs typeface="Hiragino Sans" pitchFamily="34" charset="-120"/>
              </a:rPr>
              <a:t>9/10 TSOのエリア需給実績から燃料構成と原子力停止が日次断面へ自動反映。ゾーン純位置は公表連系実績と39–129 MWで一致（v1.7検証）</a:t>
            </a:r>
            <a:endParaRPr lang="en-US" sz="950" dirty="0"/>
          </a:p>
        </p:txBody>
      </p:sp>
      <p:sp>
        <p:nvSpPr>
          <p:cNvPr id="11" name="Shape 8"/>
          <p:cNvSpPr/>
          <p:nvPr/>
        </p:nvSpPr>
        <p:spPr>
          <a:xfrm>
            <a:off x="7680960" y="3017520"/>
            <a:ext cx="3749040" cy="1417320"/>
          </a:xfrm>
          <a:prstGeom prst="roundRect">
            <a:avLst>
              <a:gd name="adj" fmla="val 3871"/>
            </a:avLst>
          </a:prstGeom>
          <a:solidFill>
            <a:srgbClr val="F4F4F6"/>
          </a:solidFill>
          <a:ln/>
        </p:spPr>
      </p:sp>
      <p:sp>
        <p:nvSpPr>
          <p:cNvPr id="12" name="Shape 9"/>
          <p:cNvSpPr/>
          <p:nvPr/>
        </p:nvSpPr>
        <p:spPr>
          <a:xfrm>
            <a:off x="7882128" y="3236976"/>
            <a:ext cx="128016" cy="128016"/>
          </a:xfrm>
          <a:prstGeom prst="rect">
            <a:avLst/>
          </a:prstGeom>
          <a:solidFill>
            <a:srgbClr val="FF7F0E"/>
          </a:solidFill>
          <a:ln/>
        </p:spPr>
      </p:sp>
      <p:sp>
        <p:nvSpPr>
          <p:cNvPr id="13" name="Text 10"/>
          <p:cNvSpPr/>
          <p:nvPr/>
        </p:nvSpPr>
        <p:spPr>
          <a:xfrm>
            <a:off x="8092440" y="3127248"/>
            <a:ext cx="3291840" cy="320040"/>
          </a:xfrm>
          <a:prstGeom prst="rect">
            <a:avLst/>
          </a:prstGeom>
          <a:noFill/>
          <a:ln/>
        </p:spPr>
        <p:txBody>
          <a:bodyPr wrap="square" lIns="0" tIns="0" rIns="0" bIns="0" rtlCol="0" anchor="ctr"/>
          <a:lstStyle/>
          <a:p>
            <a:pPr indent="0" marL="0">
              <a:buNone/>
            </a:pPr>
            <a:r>
              <a:rPr lang="en-US" sz="1150" b="1" dirty="0">
                <a:solidFill>
                  <a:srgbClr val="1A1A1A"/>
                </a:solidFill>
                <a:latin typeface="Hiragino Sans" pitchFamily="34" charset="0"/>
                <a:ea typeface="Hiragino Sans" pitchFamily="34" charset="-122"/>
                <a:cs typeface="Hiragino Sans" pitchFamily="34" charset="-120"/>
              </a:rPr>
              <a:t>リアルタイム断面</a:t>
            </a:r>
            <a:endParaRPr lang="en-US" sz="1150" dirty="0"/>
          </a:p>
        </p:txBody>
      </p:sp>
      <p:sp>
        <p:nvSpPr>
          <p:cNvPr id="14" name="Text 11"/>
          <p:cNvSpPr/>
          <p:nvPr/>
        </p:nvSpPr>
        <p:spPr>
          <a:xfrm>
            <a:off x="7909560" y="3474720"/>
            <a:ext cx="3291840" cy="850392"/>
          </a:xfrm>
          <a:prstGeom prst="rect">
            <a:avLst/>
          </a:prstGeom>
          <a:noFill/>
          <a:ln/>
        </p:spPr>
        <p:txBody>
          <a:bodyPr wrap="square" lIns="0" tIns="0" rIns="0" bIns="0" rtlCol="0" anchor="t"/>
          <a:lstStyle/>
          <a:p>
            <a:pPr indent="0" marL="0">
              <a:lnSpc>
                <a:spcPts val="1500"/>
              </a:lnSpc>
              <a:buNone/>
            </a:pPr>
            <a:r>
              <a:rPr lang="en-US" sz="950" dirty="0">
                <a:solidFill>
                  <a:srgbClr val="55555F"/>
                </a:solidFill>
                <a:latin typeface="Hiragino Sans" pitchFamily="34" charset="0"/>
                <a:ea typeface="Hiragino Sans" pitchFamily="34" charset="-122"/>
                <a:cs typeface="Hiragino Sans" pitchFamily="34" charset="-120"/>
              </a:rPr>
              <a:t>でんき予報の実績需要スナップショットでNOW断面PFを毎時再計算（launchd常駐・v1.8後）</a:t>
            </a:r>
            <a:endParaRPr lang="en-US" sz="950" dirty="0"/>
          </a:p>
        </p:txBody>
      </p:sp>
      <p:sp>
        <p:nvSpPr>
          <p:cNvPr id="15" name="Shape 12"/>
          <p:cNvSpPr/>
          <p:nvPr/>
        </p:nvSpPr>
        <p:spPr>
          <a:xfrm>
            <a:off x="7680960" y="4617720"/>
            <a:ext cx="3749040" cy="1417320"/>
          </a:xfrm>
          <a:prstGeom prst="roundRect">
            <a:avLst>
              <a:gd name="adj" fmla="val 3871"/>
            </a:avLst>
          </a:prstGeom>
          <a:solidFill>
            <a:srgbClr val="F4F4F6"/>
          </a:solidFill>
          <a:ln/>
        </p:spPr>
      </p:sp>
      <p:sp>
        <p:nvSpPr>
          <p:cNvPr id="16" name="Shape 13"/>
          <p:cNvSpPr/>
          <p:nvPr/>
        </p:nvSpPr>
        <p:spPr>
          <a:xfrm>
            <a:off x="7882128" y="4837176"/>
            <a:ext cx="128016" cy="128016"/>
          </a:xfrm>
          <a:prstGeom prst="rect">
            <a:avLst/>
          </a:prstGeom>
          <a:solidFill>
            <a:srgbClr val="FF7F0E"/>
          </a:solidFill>
          <a:ln/>
        </p:spPr>
      </p:sp>
      <p:sp>
        <p:nvSpPr>
          <p:cNvPr id="17" name="Text 14"/>
          <p:cNvSpPr/>
          <p:nvPr/>
        </p:nvSpPr>
        <p:spPr>
          <a:xfrm>
            <a:off x="8092440" y="4727448"/>
            <a:ext cx="3291840" cy="320040"/>
          </a:xfrm>
          <a:prstGeom prst="rect">
            <a:avLst/>
          </a:prstGeom>
          <a:noFill/>
          <a:ln/>
        </p:spPr>
        <p:txBody>
          <a:bodyPr wrap="square" lIns="0" tIns="0" rIns="0" bIns="0" rtlCol="0" anchor="ctr"/>
          <a:lstStyle/>
          <a:p>
            <a:pPr indent="0" marL="0">
              <a:buNone/>
            </a:pPr>
            <a:r>
              <a:rPr lang="en-US" sz="1150" b="1" dirty="0">
                <a:solidFill>
                  <a:srgbClr val="1A1A1A"/>
                </a:solidFill>
                <a:latin typeface="Hiragino Sans" pitchFamily="34" charset="0"/>
                <a:ea typeface="Hiragino Sans" pitchFamily="34" charset="-122"/>
                <a:cs typeface="Hiragino Sans" pitchFamily="34" charset="-120"/>
              </a:rPr>
              <a:t>観測方向の照合</a:t>
            </a:r>
            <a:endParaRPr lang="en-US" sz="1150" dirty="0"/>
          </a:p>
        </p:txBody>
      </p:sp>
      <p:sp>
        <p:nvSpPr>
          <p:cNvPr id="18" name="Text 15"/>
          <p:cNvSpPr/>
          <p:nvPr/>
        </p:nvSpPr>
        <p:spPr>
          <a:xfrm>
            <a:off x="7909560" y="5074920"/>
            <a:ext cx="3291840" cy="850392"/>
          </a:xfrm>
          <a:prstGeom prst="rect">
            <a:avLst/>
          </a:prstGeom>
          <a:noFill/>
          <a:ln/>
        </p:spPr>
        <p:txBody>
          <a:bodyPr wrap="square" lIns="0" tIns="0" rIns="0" bIns="0" rtlCol="0" anchor="t"/>
          <a:lstStyle/>
          <a:p>
            <a:pPr indent="0" marL="0">
              <a:lnSpc>
                <a:spcPts val="1500"/>
              </a:lnSpc>
              <a:buNone/>
            </a:pPr>
            <a:r>
              <a:rPr lang="en-US" sz="950" dirty="0">
                <a:solidFill>
                  <a:srgbClr val="55555F"/>
                </a:solidFill>
                <a:latin typeface="Hiragino Sans" pitchFamily="34" charset="0"/>
                <a:ea typeface="Hiragino Sans" pitchFamily="34" charset="-122"/>
                <a:cs typeface="Hiragino Sans" pitchFamily="34" charset="-120"/>
              </a:rPr>
              <a:t>モデル潮流の向きを公表実績の向きと突合し、一致/不一致を地図に描く — 隠さず可視化</a:t>
            </a:r>
            <a:endParaRPr lang="en-US" sz="950" dirty="0"/>
          </a:p>
        </p:txBody>
      </p:sp>
      <p:sp>
        <p:nvSpPr>
          <p:cNvPr id="19" name="Text 16"/>
          <p:cNvSpPr/>
          <p:nvPr/>
        </p:nvSpPr>
        <p:spPr>
          <a:xfrm>
            <a:off x="640080" y="6510528"/>
            <a:ext cx="5486400" cy="256032"/>
          </a:xfrm>
          <a:prstGeom prst="rect">
            <a:avLst/>
          </a:prstGeom>
          <a:noFill/>
          <a:ln/>
        </p:spPr>
        <p:txBody>
          <a:bodyPr wrap="square" lIns="0" tIns="0" rIns="0" bIns="0" rtlCol="0" anchor="ctr"/>
          <a:lstStyle/>
          <a:p>
            <a:pPr indent="0" marL="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20" name="Text 17"/>
          <p:cNvSpPr/>
          <p:nvPr/>
        </p:nvSpPr>
        <p:spPr>
          <a:xfrm>
            <a:off x="9692640" y="6510528"/>
            <a:ext cx="1463040" cy="256032"/>
          </a:xfrm>
          <a:prstGeom prst="rect">
            <a:avLst/>
          </a:prstGeom>
          <a:noFill/>
          <a:ln/>
        </p:spPr>
        <p:txBody>
          <a:bodyPr wrap="square" lIns="0" tIns="0" rIns="0" bIns="0" rtlCol="0" anchor="ctr"/>
          <a:lstStyle/>
          <a:p>
            <a:pPr algn="r" indent="0" marL="0">
              <a:buNone/>
            </a:pPr>
            <a:r>
              <a:rPr lang="en-US" sz="900" dirty="0">
                <a:solidFill>
                  <a:srgbClr val="55555F"/>
                </a:solidFill>
                <a:latin typeface="Helvetica Neue" pitchFamily="34" charset="0"/>
                <a:ea typeface="Helvetica Neue" pitchFamily="34" charset="-122"/>
                <a:cs typeface="Helvetica Neue" pitchFamily="34" charset="-120"/>
              </a:rPr>
              <a:t>1:00</a:t>
            </a:r>
            <a:endParaRPr lang="en-US" sz="900" dirty="0"/>
          </a:p>
        </p:txBody>
      </p:sp>
      <p:sp>
        <p:nvSpPr>
          <p:cNvPr id="21" name="Text 18"/>
          <p:cNvSpPr/>
          <p:nvPr/>
        </p:nvSpPr>
        <p:spPr>
          <a:xfrm>
            <a:off x="11338560" y="6510528"/>
            <a:ext cx="457200" cy="256032"/>
          </a:xfrm>
          <a:prstGeom prst="rect">
            <a:avLst/>
          </a:prstGeom>
          <a:noFill/>
          <a:ln/>
        </p:spPr>
        <p:txBody>
          <a:bodyPr wrap="square" lIns="0" tIns="0" rIns="0" bIns="0" rtlCol="0" anchor="ctr"/>
          <a:lstStyle/>
          <a:p>
            <a:pPr algn="r" indent="0" marL="0">
              <a:buNone/>
            </a:pPr>
            <a:r>
              <a:rPr lang="en-US" sz="1000" dirty="0">
                <a:solidFill>
                  <a:srgbClr val="55555F"/>
                </a:solidFill>
                <a:latin typeface="Helvetica Neue" pitchFamily="34" charset="0"/>
                <a:ea typeface="Helvetica Neue" pitchFamily="34" charset="-122"/>
                <a:cs typeface="Helvetica Neue"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D62728"/>
          </a:solidFill>
          <a:ln/>
        </p:spPr>
      </p:sp>
      <p:sp>
        <p:nvSpPr>
          <p:cNvPr id="3" name="Text 1"/>
          <p:cNvSpPr/>
          <p:nvPr/>
        </p:nvSpPr>
        <p:spPr>
          <a:xfrm>
            <a:off x="621792" y="347472"/>
            <a:ext cx="19202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Hiragino Sans" pitchFamily="34" charset="0"/>
                <a:ea typeface="Hiragino Sans" pitchFamily="34" charset="-122"/>
                <a:cs typeface="Hiragino Sans" pitchFamily="34" charset="-120"/>
              </a:rPr>
              <a:t>第5幕 v1.8</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indent="0" marL="0">
              <a:buNone/>
            </a:pPr>
            <a:r>
              <a:rPr lang="en-US" sz="2100" b="1" dirty="0">
                <a:solidFill>
                  <a:srgbClr val="1A1A1A"/>
                </a:solidFill>
                <a:latin typeface="Hiragino Sans" pitchFamily="34" charset="0"/>
                <a:ea typeface="Hiragino Sans" pitchFamily="34" charset="-122"/>
                <a:cs typeface="Hiragino Sans" pitchFamily="34" charset="-120"/>
              </a:rPr>
              <a:t>最後の暗箱：変電所の中へ — SubSLD法</a:t>
            </a:r>
            <a:endParaRPr lang="en-US" sz="2100" dirty="0"/>
          </a:p>
        </p:txBody>
      </p:sp>
      <p:pic>
        <p:nvPicPr>
          <p:cNvPr id="5" name="Image 0" descr="assets/geo_shinkeiyo.png">    </p:cNvPr>
          <p:cNvPicPr>
            <a:picLocks noChangeAspect="1"/>
          </p:cNvPicPr>
          <p:nvPr/>
        </p:nvPicPr>
        <p:blipFill>
          <a:blip r:embed="rId1"/>
          <a:stretch>
            <a:fillRect/>
          </a:stretch>
        </p:blipFill>
        <p:spPr>
          <a:xfrm>
            <a:off x="822960" y="1234440"/>
            <a:ext cx="3520440" cy="3758184"/>
          </a:xfrm>
          <a:prstGeom prst="rect">
            <a:avLst/>
          </a:prstGeom>
        </p:spPr>
      </p:pic>
      <p:pic>
        <p:nvPicPr>
          <p:cNvPr id="6" name="Image 1" descr="assets/sld_shinkeiyo.png">    </p:cNvPr>
          <p:cNvPicPr>
            <a:picLocks noChangeAspect="1"/>
          </p:cNvPicPr>
          <p:nvPr/>
        </p:nvPicPr>
        <p:blipFill>
          <a:blip r:embed="rId2"/>
          <a:stretch>
            <a:fillRect/>
          </a:stretch>
        </p:blipFill>
        <p:spPr>
          <a:xfrm>
            <a:off x="4526280" y="1234440"/>
            <a:ext cx="2971800" cy="3758184"/>
          </a:xfrm>
          <a:prstGeom prst="rect">
            <a:avLst/>
          </a:prstGeom>
        </p:spPr>
      </p:pic>
      <p:sp>
        <p:nvSpPr>
          <p:cNvPr id="7" name="Text 3"/>
          <p:cNvSpPr/>
          <p:nvPr/>
        </p:nvSpPr>
        <p:spPr>
          <a:xfrm>
            <a:off x="822960" y="5074920"/>
            <a:ext cx="6675120" cy="274320"/>
          </a:xfrm>
          <a:prstGeom prst="rect">
            <a:avLst/>
          </a:prstGeom>
          <a:noFill/>
          <a:ln/>
        </p:spPr>
        <p:txBody>
          <a:bodyPr wrap="square" lIns="0" tIns="0" rIns="0" bIns="0" rtlCol="0" anchor="ctr"/>
          <a:lstStyle/>
          <a:p>
            <a:pPr indent="0" marL="0">
              <a:buNone/>
            </a:pPr>
            <a:r>
              <a:rPr lang="en-US" sz="1050" dirty="0">
                <a:solidFill>
                  <a:srgbClr val="55555F"/>
                </a:solidFill>
                <a:latin typeface="Hiragino Sans" pitchFamily="34" charset="0"/>
                <a:ea typeface="Hiragino Sans" pitchFamily="34" charset="-122"/>
                <a:cs typeface="Hiragino Sans" pitchFamily="34" charset="-120"/>
              </a:rPr>
              <a:t>実証ペア図（新京葉 500/275/154/66 kV）：構内幾何 × 単線結線図</a:t>
            </a:r>
            <a:endParaRPr lang="en-US" sz="1050" dirty="0"/>
          </a:p>
        </p:txBody>
      </p:sp>
      <p:sp>
        <p:nvSpPr>
          <p:cNvPr id="8" name="Shape 4"/>
          <p:cNvSpPr/>
          <p:nvPr/>
        </p:nvSpPr>
        <p:spPr>
          <a:xfrm>
            <a:off x="7818120" y="1234440"/>
            <a:ext cx="3611880" cy="1371600"/>
          </a:xfrm>
          <a:prstGeom prst="roundRect">
            <a:avLst>
              <a:gd name="adj" fmla="val 4000"/>
            </a:avLst>
          </a:prstGeom>
          <a:solidFill>
            <a:srgbClr val="F4F4F6"/>
          </a:solidFill>
          <a:ln/>
        </p:spPr>
      </p:sp>
      <p:sp>
        <p:nvSpPr>
          <p:cNvPr id="9" name="Text 5"/>
          <p:cNvSpPr/>
          <p:nvPr/>
        </p:nvSpPr>
        <p:spPr>
          <a:xfrm>
            <a:off x="8001000" y="1371600"/>
            <a:ext cx="3291840" cy="457200"/>
          </a:xfrm>
          <a:prstGeom prst="rect">
            <a:avLst/>
          </a:prstGeom>
          <a:noFill/>
          <a:ln/>
        </p:spPr>
        <p:txBody>
          <a:bodyPr wrap="square" lIns="0" tIns="0" rIns="0" bIns="0" rtlCol="0" anchor="ctr"/>
          <a:lstStyle/>
          <a:p>
            <a:pPr algn="l" indent="0" marL="0">
              <a:buNone/>
            </a:pPr>
            <a:r>
              <a:rPr lang="en-US" sz="1700" i="1" dirty="0">
                <a:solidFill>
                  <a:srgbClr val="1A1A1A"/>
                </a:solidFill>
                <a:latin typeface="Cambria Math" pitchFamily="34" charset="0"/>
                <a:ea typeface="Cambria Math" pitchFamily="34" charset="-122"/>
                <a:cs typeface="Cambria Math" pitchFamily="34" charset="-120"/>
              </a:rPr>
              <a:t>F</a:t>
            </a:r>
            <a:pPr algn="l" indent="0" marL="0">
              <a:buNone/>
            </a:pPr>
            <a:r>
              <a:rPr lang="en-US" sz="1700" dirty="0">
                <a:solidFill>
                  <a:srgbClr val="1A1A1A"/>
                </a:solidFill>
                <a:latin typeface="Cambria Math" pitchFamily="34" charset="0"/>
                <a:ea typeface="Cambria Math" pitchFamily="34" charset="-122"/>
                <a:cs typeface="Cambria Math" pitchFamily="34" charset="-120"/>
              </a:rPr>
              <a:t>(</a:t>
            </a:r>
            <a:pPr algn="l" indent="0" marL="0">
              <a:buNone/>
            </a:pPr>
            <a:r>
              <a:rPr lang="en-US" sz="1700" i="1" dirty="0">
                <a:solidFill>
                  <a:srgbClr val="1A1A1A"/>
                </a:solidFill>
                <a:latin typeface="Cambria Math" pitchFamily="34" charset="0"/>
                <a:ea typeface="Cambria Math" pitchFamily="34" charset="-122"/>
                <a:cs typeface="Cambria Math" pitchFamily="34" charset="-120"/>
              </a:rPr>
              <a:t>O</a:t>
            </a:r>
            <a:pPr algn="l" indent="0" marL="0">
              <a:buNone/>
            </a:pPr>
            <a:r>
              <a:rPr lang="en-US" sz="1700" dirty="0">
                <a:solidFill>
                  <a:srgbClr val="1A1A1A"/>
                </a:solidFill>
                <a:latin typeface="Cambria Math" pitchFamily="34" charset="0"/>
                <a:ea typeface="Cambria Math" pitchFamily="34" charset="-122"/>
                <a:cs typeface="Cambria Math" pitchFamily="34" charset="-120"/>
              </a:rPr>
              <a:t>) = </a:t>
            </a:r>
            <a:pPr algn="l" indent="0" marL="0">
              <a:buNone/>
            </a:pPr>
            <a:r>
              <a:rPr lang="en-US" sz="1700" i="1" dirty="0">
                <a:solidFill>
                  <a:srgbClr val="1A1A1A"/>
                </a:solidFill>
                <a:latin typeface="Cambria Math" pitchFamily="34" charset="0"/>
                <a:ea typeface="Cambria Math" pitchFamily="34" charset="-122"/>
                <a:cs typeface="Cambria Math" pitchFamily="34" charset="-120"/>
              </a:rPr>
              <a:t>S</a:t>
            </a:r>
            <a:pPr algn="l" indent="0" marL="0">
              <a:buNone/>
            </a:pPr>
            <a:r>
              <a:rPr lang="en-US" sz="1700" baseline="30000" dirty="0">
                <a:solidFill>
                  <a:srgbClr val="1A1A1A"/>
                </a:solidFill>
                <a:latin typeface="Cambria Math" pitchFamily="34" charset="0"/>
                <a:ea typeface="Cambria Math" pitchFamily="34" charset="-122"/>
                <a:cs typeface="Cambria Math" pitchFamily="34" charset="-120"/>
              </a:rPr>
              <a:t>*</a:t>
            </a:r>
            <a:endParaRPr lang="en-US" sz="1700" dirty="0"/>
          </a:p>
        </p:txBody>
      </p:sp>
      <p:sp>
        <p:nvSpPr>
          <p:cNvPr id="10" name="Text 6"/>
          <p:cNvSpPr/>
          <p:nvPr/>
        </p:nvSpPr>
        <p:spPr>
          <a:xfrm>
            <a:off x="8001000" y="1828800"/>
            <a:ext cx="3291840" cy="777240"/>
          </a:xfrm>
          <a:prstGeom prst="rect">
            <a:avLst/>
          </a:prstGeom>
          <a:noFill/>
          <a:ln/>
        </p:spPr>
        <p:txBody>
          <a:bodyPr wrap="square" lIns="0" tIns="0" rIns="0" bIns="0" rtlCol="0" anchor="ctr"/>
          <a:lstStyle/>
          <a:p>
            <a:pPr indent="0" marL="0">
              <a:lnSpc>
                <a:spcPts val="1400"/>
              </a:lnSpc>
              <a:buNone/>
            </a:pPr>
            <a:r>
              <a:rPr lang="en-US" sz="1050" dirty="0">
                <a:solidFill>
                  <a:srgbClr val="1A1A1A"/>
                </a:solidFill>
                <a:latin typeface="Hiragino Sans" pitchFamily="34" charset="0"/>
                <a:ea typeface="Hiragino Sans" pitchFamily="34" charset="-122"/>
                <a:cs typeface="Hiragino Sans" pitchFamily="34" charset="-120"/>
              </a:rPr>
              <a:t>証拠閉包：witness を持つ要素だけを出す。健全性（捏造ゼロ）は構成的に成立し、完全性は主張せず測定する</a:t>
            </a:r>
            <a:endParaRPr lang="en-US" sz="1050" dirty="0"/>
          </a:p>
        </p:txBody>
      </p:sp>
      <p:sp>
        <p:nvSpPr>
          <p:cNvPr id="11" name="Shape 7"/>
          <p:cNvSpPr/>
          <p:nvPr/>
        </p:nvSpPr>
        <p:spPr>
          <a:xfrm>
            <a:off x="7818120" y="2834640"/>
            <a:ext cx="3611880" cy="1143000"/>
          </a:xfrm>
          <a:prstGeom prst="roundRect">
            <a:avLst>
              <a:gd name="adj" fmla="val 4800"/>
            </a:avLst>
          </a:prstGeom>
          <a:solidFill>
            <a:srgbClr val="F4F4F6"/>
          </a:solidFill>
          <a:ln/>
        </p:spPr>
      </p:sp>
      <p:sp>
        <p:nvSpPr>
          <p:cNvPr id="12" name="Text 8"/>
          <p:cNvSpPr/>
          <p:nvPr/>
        </p:nvSpPr>
        <p:spPr>
          <a:xfrm>
            <a:off x="7818120" y="2907792"/>
            <a:ext cx="3611880" cy="502920"/>
          </a:xfrm>
          <a:prstGeom prst="rect">
            <a:avLst/>
          </a:prstGeom>
          <a:noFill/>
          <a:ln/>
        </p:spPr>
        <p:txBody>
          <a:bodyPr wrap="square" lIns="0" tIns="0" rIns="0" bIns="0" rtlCol="0" anchor="ctr"/>
          <a:lstStyle/>
          <a:p>
            <a:pPr algn="ctr" indent="0" marL="0">
              <a:buNone/>
            </a:pPr>
            <a:r>
              <a:rPr lang="en-US" sz="2600" b="1" dirty="0">
                <a:solidFill>
                  <a:srgbClr val="D62728"/>
                </a:solidFill>
                <a:latin typeface="Helvetica Neue" pitchFamily="34" charset="0"/>
                <a:ea typeface="Helvetica Neue" pitchFamily="34" charset="-122"/>
                <a:cs typeface="Helvetica Neue" pitchFamily="34" charset="-120"/>
              </a:rPr>
              <a:t>7,239</a:t>
            </a:r>
            <a:endParaRPr lang="en-US" sz="2600" dirty="0"/>
          </a:p>
        </p:txBody>
      </p:sp>
      <p:sp>
        <p:nvSpPr>
          <p:cNvPr id="13" name="Text 9"/>
          <p:cNvSpPr/>
          <p:nvPr/>
        </p:nvSpPr>
        <p:spPr>
          <a:xfrm>
            <a:off x="7909560" y="3410712"/>
            <a:ext cx="3429000" cy="310896"/>
          </a:xfrm>
          <a:prstGeom prst="rect">
            <a:avLst/>
          </a:prstGeom>
          <a:noFill/>
          <a:ln/>
        </p:spPr>
        <p:txBody>
          <a:bodyPr wrap="square" lIns="0" tIns="0" rIns="0" bIns="0" rtlCol="0" anchor="ctr"/>
          <a:lstStyle/>
          <a:p>
            <a:pPr algn="ctr" indent="0" marL="0">
              <a:buNone/>
            </a:pPr>
            <a:r>
              <a:rPr lang="en-US" sz="1050" dirty="0">
                <a:solidFill>
                  <a:srgbClr val="1A1A1A"/>
                </a:solidFill>
                <a:latin typeface="Hiragino Sans" pitchFamily="34" charset="0"/>
                <a:ea typeface="Hiragino Sans" pitchFamily="34" charset="-122"/>
                <a:cs typeface="Hiragino Sans" pitchFamily="34" charset="-120"/>
              </a:rPr>
              <a:t>全サイトの構造抽出＋ペア図</a:t>
            </a:r>
            <a:endParaRPr lang="en-US" sz="1050" dirty="0"/>
          </a:p>
        </p:txBody>
      </p:sp>
      <p:sp>
        <p:nvSpPr>
          <p:cNvPr id="14" name="Text 10"/>
          <p:cNvSpPr/>
          <p:nvPr/>
        </p:nvSpPr>
        <p:spPr>
          <a:xfrm>
            <a:off x="7909560" y="3703320"/>
            <a:ext cx="3429000" cy="237744"/>
          </a:xfrm>
          <a:prstGeom prst="rect">
            <a:avLst/>
          </a:prstGeom>
          <a:noFill/>
          <a:ln/>
        </p:spPr>
        <p:txBody>
          <a:bodyPr wrap="square" lIns="0" tIns="0" rIns="0" bIns="0" rtlCol="0" anchor="ctr"/>
          <a:lstStyle/>
          <a:p>
            <a:pPr algn="ctr" indent="0" marL="0">
              <a:buNone/>
            </a:pPr>
            <a:r>
              <a:rPr lang="en-US" sz="850" dirty="0">
                <a:solidFill>
                  <a:srgbClr val="55555F"/>
                </a:solidFill>
                <a:latin typeface="Hiragino Sans" pitchFamily="34" charset="0"/>
                <a:ea typeface="Hiragino Sans" pitchFamily="34" charset="-122"/>
                <a:cs typeface="Hiragino Sans" pitchFamily="34" charset="-120"/>
              </a:rPr>
              <a:t>構造DB v1.8（feature数とは別定義）</a:t>
            </a:r>
            <a:endParaRPr lang="en-US" sz="850" dirty="0"/>
          </a:p>
        </p:txBody>
      </p:sp>
      <p:sp>
        <p:nvSpPr>
          <p:cNvPr id="15" name="Shape 11"/>
          <p:cNvSpPr/>
          <p:nvPr/>
        </p:nvSpPr>
        <p:spPr>
          <a:xfrm>
            <a:off x="7818120" y="4160520"/>
            <a:ext cx="3611880" cy="1143000"/>
          </a:xfrm>
          <a:prstGeom prst="roundRect">
            <a:avLst>
              <a:gd name="adj" fmla="val 4800"/>
            </a:avLst>
          </a:prstGeom>
          <a:solidFill>
            <a:srgbClr val="F4F4F6"/>
          </a:solidFill>
          <a:ln/>
        </p:spPr>
      </p:sp>
      <p:sp>
        <p:nvSpPr>
          <p:cNvPr id="16" name="Text 12"/>
          <p:cNvSpPr/>
          <p:nvPr/>
        </p:nvSpPr>
        <p:spPr>
          <a:xfrm>
            <a:off x="7818120" y="4233672"/>
            <a:ext cx="3611880" cy="502920"/>
          </a:xfrm>
          <a:prstGeom prst="rect">
            <a:avLst/>
          </a:prstGeom>
          <a:noFill/>
          <a:ln/>
        </p:spPr>
        <p:txBody>
          <a:bodyPr wrap="square" lIns="0" tIns="0" rIns="0" bIns="0" rtlCol="0" anchor="ctr"/>
          <a:lstStyle/>
          <a:p>
            <a:pPr algn="ctr" indent="0" marL="0">
              <a:buNone/>
            </a:pPr>
            <a:r>
              <a:rPr lang="en-US" sz="2600" b="1" dirty="0">
                <a:solidFill>
                  <a:srgbClr val="1E2761"/>
                </a:solidFill>
                <a:latin typeface="Helvetica Neue" pitchFamily="34" charset="0"/>
                <a:ea typeface="Helvetica Neue" pitchFamily="34" charset="-122"/>
                <a:cs typeface="Helvetica Neue" pitchFamily="34" charset="-120"/>
              </a:rPr>
              <a:t>≈ 4 秒</a:t>
            </a:r>
            <a:endParaRPr lang="en-US" sz="2600" dirty="0"/>
          </a:p>
        </p:txBody>
      </p:sp>
      <p:sp>
        <p:nvSpPr>
          <p:cNvPr id="17" name="Text 13"/>
          <p:cNvSpPr/>
          <p:nvPr/>
        </p:nvSpPr>
        <p:spPr>
          <a:xfrm>
            <a:off x="7909560" y="4736592"/>
            <a:ext cx="3429000" cy="310896"/>
          </a:xfrm>
          <a:prstGeom prst="rect">
            <a:avLst/>
          </a:prstGeom>
          <a:noFill/>
          <a:ln/>
        </p:spPr>
        <p:txBody>
          <a:bodyPr wrap="square" lIns="0" tIns="0" rIns="0" bIns="0" rtlCol="0" anchor="ctr"/>
          <a:lstStyle/>
          <a:p>
            <a:pPr algn="ctr" indent="0" marL="0">
              <a:buNone/>
            </a:pPr>
            <a:r>
              <a:rPr lang="en-US" sz="1050" dirty="0">
                <a:solidFill>
                  <a:srgbClr val="1A1A1A"/>
                </a:solidFill>
                <a:latin typeface="Hiragino Sans" pitchFamily="34" charset="0"/>
                <a:ea typeface="Hiragino Sans" pitchFamily="34" charset="-122"/>
                <a:cs typeface="Hiragino Sans" pitchFamily="34" charset="-120"/>
              </a:rPr>
              <a:t>全国抽出（決定的・冪等）</a:t>
            </a:r>
            <a:endParaRPr lang="en-US" sz="1050" dirty="0"/>
          </a:p>
        </p:txBody>
      </p:sp>
      <p:sp>
        <p:nvSpPr>
          <p:cNvPr id="18" name="Text 14"/>
          <p:cNvSpPr/>
          <p:nvPr/>
        </p:nvSpPr>
        <p:spPr>
          <a:xfrm>
            <a:off x="7909560" y="5029200"/>
            <a:ext cx="3429000" cy="237744"/>
          </a:xfrm>
          <a:prstGeom prst="rect">
            <a:avLst/>
          </a:prstGeom>
          <a:noFill/>
          <a:ln/>
        </p:spPr>
        <p:txBody>
          <a:bodyPr wrap="square" lIns="0" tIns="0" rIns="0" bIns="0" rtlCol="0" anchor="ctr"/>
          <a:lstStyle/>
          <a:p>
            <a:pPr algn="ctr" indent="0" marL="0">
              <a:buNone/>
            </a:pPr>
            <a:r>
              <a:rPr lang="en-US" sz="850" dirty="0">
                <a:solidFill>
                  <a:srgbClr val="55555F"/>
                </a:solidFill>
                <a:latin typeface="Hiragino Sans" pitchFamily="34" charset="0"/>
                <a:ea typeface="Hiragino Sans" pitchFamily="34" charset="-122"/>
                <a:cs typeface="Hiragino Sans" pitchFamily="34" charset="-120"/>
              </a:rPr>
              <a:t>v1.8</a:t>
            </a:r>
            <a:endParaRPr lang="en-US" sz="850" dirty="0"/>
          </a:p>
        </p:txBody>
      </p:sp>
      <p:sp>
        <p:nvSpPr>
          <p:cNvPr id="19" name="Text 15"/>
          <p:cNvSpPr/>
          <p:nvPr/>
        </p:nvSpPr>
        <p:spPr>
          <a:xfrm>
            <a:off x="822960" y="5532120"/>
            <a:ext cx="10607040" cy="548640"/>
          </a:xfrm>
          <a:prstGeom prst="rect">
            <a:avLst/>
          </a:prstGeom>
          <a:noFill/>
          <a:ln/>
        </p:spPr>
        <p:txBody>
          <a:bodyPr wrap="square" lIns="0" tIns="0" rIns="0" bIns="0" rtlCol="0" anchor="ctr"/>
          <a:lstStyle/>
          <a:p>
            <a:pPr indent="0" marL="0">
              <a:lnSpc>
                <a:spcPts val="1700"/>
              </a:lnSpc>
              <a:buNone/>
            </a:pPr>
            <a:r>
              <a:rPr lang="en-US" sz="1200" dirty="0">
                <a:solidFill>
                  <a:srgbClr val="1A1A1A"/>
                </a:solidFill>
                <a:latin typeface="Hiragino Sans" pitchFamily="34" charset="0"/>
                <a:ea typeface="Hiragino Sans" pitchFamily="34" charset="-122"/>
                <a:cs typeface="Hiragino Sans" pitchFamily="34" charset="-120"/>
              </a:rPr>
              <a:t>推定は推定と明記（推定母線は破線・inferred-topology）。node-breaker層は CIM の BusbarSection / Bay / Terminal として書き出し、第2幕の標準ラインに合流。</a:t>
            </a:r>
            <a:endParaRPr lang="en-US" sz="1200" dirty="0"/>
          </a:p>
        </p:txBody>
      </p:sp>
      <p:sp>
        <p:nvSpPr>
          <p:cNvPr id="20" name="Text 16"/>
          <p:cNvSpPr/>
          <p:nvPr/>
        </p:nvSpPr>
        <p:spPr>
          <a:xfrm>
            <a:off x="822960" y="6053328"/>
            <a:ext cx="10607040" cy="292608"/>
          </a:xfrm>
          <a:prstGeom prst="rect">
            <a:avLst/>
          </a:prstGeom>
          <a:noFill/>
          <a:ln/>
        </p:spPr>
        <p:txBody>
          <a:bodyPr wrap="square" lIns="0" tIns="0" rIns="0" bIns="0" rtlCol="0" anchor="ctr"/>
          <a:lstStyle/>
          <a:p>
            <a:pPr indent="0" marL="0">
              <a:buNone/>
            </a:pPr>
            <a:r>
              <a:rPr lang="en-US" sz="1100" dirty="0">
                <a:solidFill>
                  <a:srgbClr val="55555F"/>
                </a:solidFill>
                <a:latin typeface="Hiragino Sans" pitchFamily="34" charset="0"/>
                <a:ea typeface="Hiragino Sans" pitchFamily="34" charset="-122"/>
                <a:cs typeface="Hiragino Sans" pitchFamily="34" charset="-120"/>
              </a:rPr>
              <a:t>→ 手法の詳細は姉妹デッキ SubSLD_paper_talk.pptx（16枚）と論文 papers/subsld/（IEEEtran 6p）</a:t>
            </a:r>
            <a:endParaRPr lang="en-US" sz="1100" dirty="0"/>
          </a:p>
        </p:txBody>
      </p:sp>
      <p:sp>
        <p:nvSpPr>
          <p:cNvPr id="21" name="Text 17"/>
          <p:cNvSpPr/>
          <p:nvPr/>
        </p:nvSpPr>
        <p:spPr>
          <a:xfrm>
            <a:off x="640080" y="6510528"/>
            <a:ext cx="5486400" cy="256032"/>
          </a:xfrm>
          <a:prstGeom prst="rect">
            <a:avLst/>
          </a:prstGeom>
          <a:noFill/>
          <a:ln/>
        </p:spPr>
        <p:txBody>
          <a:bodyPr wrap="square" lIns="0" tIns="0" rIns="0" bIns="0" rtlCol="0" anchor="ctr"/>
          <a:lstStyle/>
          <a:p>
            <a:pPr indent="0" marL="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22" name="Text 18"/>
          <p:cNvSpPr/>
          <p:nvPr/>
        </p:nvSpPr>
        <p:spPr>
          <a:xfrm>
            <a:off x="9692640" y="6510528"/>
            <a:ext cx="1463040" cy="256032"/>
          </a:xfrm>
          <a:prstGeom prst="rect">
            <a:avLst/>
          </a:prstGeom>
          <a:noFill/>
          <a:ln/>
        </p:spPr>
        <p:txBody>
          <a:bodyPr wrap="square" lIns="0" tIns="0" rIns="0" bIns="0" rtlCol="0" anchor="ctr"/>
          <a:lstStyle/>
          <a:p>
            <a:pPr algn="r" indent="0" marL="0">
              <a:buNone/>
            </a:pPr>
            <a:r>
              <a:rPr lang="en-US" sz="900" dirty="0">
                <a:solidFill>
                  <a:srgbClr val="55555F"/>
                </a:solidFill>
                <a:latin typeface="Helvetica Neue" pitchFamily="34" charset="0"/>
                <a:ea typeface="Helvetica Neue" pitchFamily="34" charset="-122"/>
                <a:cs typeface="Helvetica Neue" pitchFamily="34" charset="-120"/>
              </a:rPr>
              <a:t>2:00</a:t>
            </a:r>
            <a:endParaRPr lang="en-US" sz="900" dirty="0"/>
          </a:p>
        </p:txBody>
      </p:sp>
      <p:sp>
        <p:nvSpPr>
          <p:cNvPr id="23" name="Text 19"/>
          <p:cNvSpPr/>
          <p:nvPr/>
        </p:nvSpPr>
        <p:spPr>
          <a:xfrm>
            <a:off x="11338560" y="6510528"/>
            <a:ext cx="457200" cy="256032"/>
          </a:xfrm>
          <a:prstGeom prst="rect">
            <a:avLst/>
          </a:prstGeom>
          <a:noFill/>
          <a:ln/>
        </p:spPr>
        <p:txBody>
          <a:bodyPr wrap="square" lIns="0" tIns="0" rIns="0" bIns="0" rtlCol="0" anchor="ctr"/>
          <a:lstStyle/>
          <a:p>
            <a:pPr algn="r" indent="0" marL="0">
              <a:buNone/>
            </a:pPr>
            <a:r>
              <a:rPr lang="en-US" sz="1000" dirty="0">
                <a:solidFill>
                  <a:srgbClr val="55555F"/>
                </a:solidFill>
                <a:latin typeface="Helvetica Neue" pitchFamily="34" charset="0"/>
                <a:ea typeface="Helvetica Neue" pitchFamily="34" charset="-122"/>
                <a:cs typeface="Helvetica Neue"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1E2761"/>
          </a:solidFill>
          <a:ln/>
        </p:spPr>
      </p:sp>
      <p:sp>
        <p:nvSpPr>
          <p:cNvPr id="3" name="Text 1"/>
          <p:cNvSpPr/>
          <p:nvPr/>
        </p:nvSpPr>
        <p:spPr>
          <a:xfrm>
            <a:off x="621792" y="347472"/>
            <a:ext cx="19202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Hiragino Sans" pitchFamily="34" charset="0"/>
                <a:ea typeface="Hiragino Sans" pitchFamily="34" charset="-122"/>
                <a:cs typeface="Hiragino Sans" pitchFamily="34" charset="-120"/>
              </a:rPr>
              <a:t>終幕 v1.9へ</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indent="0" marL="0">
              <a:buNone/>
            </a:pPr>
            <a:r>
              <a:rPr lang="en-US" sz="2100" b="1" dirty="0">
                <a:solidFill>
                  <a:srgbClr val="1A1A1A"/>
                </a:solidFill>
                <a:latin typeface="Hiragino Sans" pitchFamily="34" charset="0"/>
                <a:ea typeface="Hiragino Sans" pitchFamily="34" charset="-122"/>
                <a:cs typeface="Hiragino Sans" pitchFamily="34" charset="-120"/>
              </a:rPr>
              <a:t>最後の問い：発電所が突然落ちたら、この系統は生き残れるか</a:t>
            </a:r>
            <a:endParaRPr lang="en-US" sz="2100" dirty="0"/>
          </a:p>
        </p:txBody>
      </p:sp>
      <p:sp>
        <p:nvSpPr>
          <p:cNvPr id="5" name="Shape 3"/>
          <p:cNvSpPr/>
          <p:nvPr/>
        </p:nvSpPr>
        <p:spPr>
          <a:xfrm>
            <a:off x="822960" y="1143000"/>
            <a:ext cx="10607040" cy="1188720"/>
          </a:xfrm>
          <a:prstGeom prst="roundRect">
            <a:avLst>
              <a:gd name="adj" fmla="val 4615"/>
            </a:avLst>
          </a:prstGeom>
          <a:solidFill>
            <a:srgbClr val="F4F4F6"/>
          </a:solidFill>
          <a:ln/>
        </p:spPr>
      </p:sp>
      <p:sp>
        <p:nvSpPr>
          <p:cNvPr id="6" name="Text 4"/>
          <p:cNvSpPr/>
          <p:nvPr/>
        </p:nvSpPr>
        <p:spPr>
          <a:xfrm>
            <a:off x="1097280" y="1143000"/>
            <a:ext cx="10058400" cy="1188720"/>
          </a:xfrm>
          <a:prstGeom prst="rect">
            <a:avLst/>
          </a:prstGeom>
          <a:noFill/>
          <a:ln/>
        </p:spPr>
        <p:txBody>
          <a:bodyPr wrap="square" lIns="0" tIns="0" rIns="0" bIns="0" rtlCol="0" anchor="ctr"/>
          <a:lstStyle/>
          <a:p>
            <a:pPr indent="0" marL="0">
              <a:lnSpc>
                <a:spcPts val="2200"/>
              </a:lnSpc>
              <a:buNone/>
            </a:pPr>
            <a:r>
              <a:rPr lang="en-US" sz="1400" b="1" dirty="0">
                <a:solidFill>
                  <a:srgbClr val="1A1A1A"/>
                </a:solidFill>
                <a:latin typeface="Hiragino Sans" pitchFamily="34" charset="0"/>
                <a:ea typeface="Hiragino Sans" pitchFamily="34" charset="-122"/>
                <a:cs typeface="Hiragino Sans" pitchFamily="34" charset="-120"/>
              </a:rPr>
              <a:t>電気は貯められない。</a:t>
            </a:r>
            <a:pPr indent="0" marL="0">
              <a:lnSpc>
                <a:spcPts val="2200"/>
              </a:lnSpc>
              <a:buNone/>
            </a:pPr>
            <a:r>
              <a:rPr lang="en-US" sz="1400" dirty="0">
                <a:solidFill>
                  <a:srgbClr val="1A1A1A"/>
                </a:solidFill>
                <a:latin typeface="Hiragino Sans" pitchFamily="34" charset="0"/>
                <a:ea typeface="Hiragino Sans" pitchFamily="34" charset="-122"/>
                <a:cs typeface="Hiragino Sans" pitchFamily="34" charset="-120"/>
              </a:rPr>
              <a:t>作る量と使う量がズレると、周波数(50/60 Hz)がズレる。ズレすぎると発電機が次々止まり、大停電になる。
</a:t>
            </a:r>
            <a:pPr indent="0" marL="0">
              <a:lnSpc>
                <a:spcPts val="2200"/>
              </a:lnSpc>
              <a:buNone/>
            </a:pPr>
            <a:r>
              <a:rPr lang="en-US" sz="1400" b="1" dirty="0">
                <a:solidFill>
                  <a:srgbClr val="1E2761"/>
                </a:solidFill>
                <a:latin typeface="Hiragino Sans" pitchFamily="34" charset="0"/>
                <a:ea typeface="Hiragino Sans" pitchFamily="34" charset="-122"/>
                <a:cs typeface="Hiragino Sans" pitchFamily="34" charset="-120"/>
              </a:rPr>
              <a:t>AGC（自動発電制御）</a:t>
            </a:r>
            <a:pPr indent="0" marL="0">
              <a:lnSpc>
                <a:spcPts val="2200"/>
              </a:lnSpc>
              <a:buNone/>
            </a:pPr>
            <a:r>
              <a:rPr lang="en-US" sz="1400" dirty="0">
                <a:solidFill>
                  <a:srgbClr val="1A1A1A"/>
                </a:solidFill>
                <a:latin typeface="Hiragino Sans" pitchFamily="34" charset="0"/>
                <a:ea typeface="Hiragino Sans" pitchFamily="34" charset="-122"/>
                <a:cs typeface="Hiragino Sans" pitchFamily="34" charset="-120"/>
              </a:rPr>
              <a:t> ＝ 周波数のズレを見て発電所の出力を自動で増減し、系統を守る仕組み。</a:t>
            </a:r>
            <a:endParaRPr lang="en-US" sz="1400" dirty="0"/>
          </a:p>
        </p:txBody>
      </p:sp>
      <p:sp>
        <p:nvSpPr>
          <p:cNvPr id="7" name="Shape 5"/>
          <p:cNvSpPr/>
          <p:nvPr/>
        </p:nvSpPr>
        <p:spPr>
          <a:xfrm>
            <a:off x="822960" y="2606040"/>
            <a:ext cx="3291840" cy="2377440"/>
          </a:xfrm>
          <a:prstGeom prst="roundRect">
            <a:avLst>
              <a:gd name="adj" fmla="val 2692"/>
            </a:avLst>
          </a:prstGeom>
          <a:solidFill>
            <a:srgbClr val="F4F4F6"/>
          </a:solidFill>
          <a:ln/>
        </p:spPr>
      </p:sp>
      <p:sp>
        <p:nvSpPr>
          <p:cNvPr id="8" name="Shape 6"/>
          <p:cNvSpPr/>
          <p:nvPr/>
        </p:nvSpPr>
        <p:spPr>
          <a:xfrm>
            <a:off x="822960" y="2606040"/>
            <a:ext cx="3291840" cy="109728"/>
          </a:xfrm>
          <a:prstGeom prst="rect">
            <a:avLst/>
          </a:prstGeom>
          <a:solidFill>
            <a:srgbClr val="9A9AA6"/>
          </a:solidFill>
          <a:ln/>
        </p:spPr>
      </p:sp>
      <p:sp>
        <p:nvSpPr>
          <p:cNvPr id="9" name="Text 7"/>
          <p:cNvSpPr/>
          <p:nvPr/>
        </p:nvSpPr>
        <p:spPr>
          <a:xfrm>
            <a:off x="1005840" y="2816352"/>
            <a:ext cx="2011680" cy="320040"/>
          </a:xfrm>
          <a:prstGeom prst="rect">
            <a:avLst/>
          </a:prstGeom>
          <a:noFill/>
          <a:ln/>
        </p:spPr>
        <p:txBody>
          <a:bodyPr wrap="square" lIns="0" tIns="0" rIns="0" bIns="0" rtlCol="0" anchor="ctr"/>
          <a:lstStyle/>
          <a:p>
            <a:pPr indent="0" marL="0">
              <a:buNone/>
            </a:pPr>
            <a:r>
              <a:rPr lang="en-US" sz="1500" b="1" dirty="0">
                <a:solidFill>
                  <a:srgbClr val="1A1A1A"/>
                </a:solidFill>
                <a:latin typeface="Hiragino Sans" pitchFamily="34" charset="0"/>
                <a:ea typeface="Hiragino Sans" pitchFamily="34" charset="-122"/>
                <a:cs typeface="Hiragino Sans" pitchFamily="34" charset="-120"/>
              </a:rPr>
              <a:t>① 計画する</a:t>
            </a:r>
            <a:endParaRPr lang="en-US" sz="1500" dirty="0"/>
          </a:p>
        </p:txBody>
      </p:sp>
      <p:sp>
        <p:nvSpPr>
          <p:cNvPr id="10" name="Text 8"/>
          <p:cNvSpPr/>
          <p:nvPr/>
        </p:nvSpPr>
        <p:spPr>
          <a:xfrm>
            <a:off x="2926080" y="2834640"/>
            <a:ext cx="1051560" cy="292608"/>
          </a:xfrm>
          <a:prstGeom prst="rect">
            <a:avLst/>
          </a:prstGeom>
          <a:noFill/>
          <a:ln/>
        </p:spPr>
        <p:txBody>
          <a:bodyPr wrap="square" lIns="0" tIns="0" rIns="0" bIns="0" rtlCol="0" anchor="ctr"/>
          <a:lstStyle/>
          <a:p>
            <a:pPr algn="r" indent="0" marL="0">
              <a:buNone/>
            </a:pPr>
            <a:r>
              <a:rPr lang="en-US" sz="1100" b="1" dirty="0">
                <a:solidFill>
                  <a:srgbClr val="55555F"/>
                </a:solidFill>
                <a:latin typeface="Helvetica Neue" pitchFamily="34" charset="0"/>
                <a:ea typeface="Helvetica Neue" pitchFamily="34" charset="-122"/>
                <a:cs typeface="Helvetica Neue" pitchFamily="34" charset="-120"/>
              </a:rPr>
              <a:t>UC</a:t>
            </a:r>
            <a:endParaRPr lang="en-US" sz="1100" dirty="0"/>
          </a:p>
        </p:txBody>
      </p:sp>
      <p:sp>
        <p:nvSpPr>
          <p:cNvPr id="11" name="Text 9"/>
          <p:cNvSpPr/>
          <p:nvPr/>
        </p:nvSpPr>
        <p:spPr>
          <a:xfrm>
            <a:off x="1005840" y="3200400"/>
            <a:ext cx="2971800" cy="1691640"/>
          </a:xfrm>
          <a:prstGeom prst="rect">
            <a:avLst/>
          </a:prstGeom>
          <a:noFill/>
          <a:ln/>
        </p:spPr>
        <p:txBody>
          <a:bodyPr wrap="square" lIns="0" tIns="0" rIns="0" bIns="0" rtlCol="0" anchor="ctr"/>
          <a:lstStyle/>
          <a:p>
            <a:pPr indent="0" marL="0">
              <a:lnSpc>
                <a:spcPts val="1600"/>
              </a:lnSpc>
              <a:buNone/>
            </a:pPr>
            <a:r>
              <a:rPr lang="en-US" sz="1100" dirty="0">
                <a:solidFill>
                  <a:srgbClr val="55555F"/>
                </a:solidFill>
                <a:latin typeface="Hiragino Sans" pitchFamily="34" charset="0"/>
                <a:ea typeface="Hiragino Sans" pitchFamily="34" charset="-122"/>
                <a:cs typeface="Hiragino Sans" pitchFamily="34" charset="-120"/>
              </a:rPr>
              <a:t>「今日どの発電所を動かす？」</a:t>
            </a:r>
            <a:endParaRPr lang="en-US" sz="1100" dirty="0"/>
          </a:p>
          <a:p>
            <a:pPr indent="0" marL="0">
              <a:lnSpc>
                <a:spcPts val="1600"/>
              </a:lnSpc>
              <a:buNone/>
            </a:pPr>
            <a:r>
              <a:rPr lang="en-US" sz="1100" dirty="0">
                <a:solidFill>
                  <a:srgbClr val="55555F"/>
                </a:solidFill>
                <a:latin typeface="Hiragino Sans" pitchFamily="34" charset="0"/>
                <a:ea typeface="Hiragino Sans" pitchFamily="34" charset="-122"/>
                <a:cs typeface="Hiragino Sans" pitchFamily="34" charset="-120"/>
              </a:rPr>
              <a:t>24時間の起動停止を最適化。</a:t>
            </a:r>
            <a:endParaRPr lang="en-US" sz="1100" dirty="0"/>
          </a:p>
          <a:p>
            <a:pPr indent="0" marL="0">
              <a:lnSpc>
                <a:spcPts val="1600"/>
              </a:lnSpc>
              <a:buNone/>
            </a:pPr>
            <a:r>
              <a:rPr lang="en-US" sz="1100" dirty="0">
                <a:solidFill>
                  <a:srgbClr val="55555F"/>
                </a:solidFill>
                <a:latin typeface="Hiragino Sans" pitchFamily="34" charset="0"/>
                <a:ea typeface="Hiragino Sans" pitchFamily="34" charset="-122"/>
                <a:cs typeface="Hiragino Sans" pitchFamily="34" charset="-120"/>
              </a:rPr>
              <a:t>この選択が、事故時に系統を支える</a:t>
            </a:r>
            <a:endParaRPr lang="en-US" sz="1100" dirty="0"/>
          </a:p>
          <a:p>
            <a:pPr indent="0" marL="0">
              <a:lnSpc>
                <a:spcPts val="1600"/>
              </a:lnSpc>
              <a:buNone/>
            </a:pPr>
            <a:r>
              <a:rPr lang="en-US" sz="1100" dirty="0">
                <a:solidFill>
                  <a:srgbClr val="55555F"/>
                </a:solidFill>
                <a:latin typeface="Hiragino Sans" pitchFamily="34" charset="0"/>
                <a:ea typeface="Hiragino Sans" pitchFamily="34" charset="-122"/>
                <a:cs typeface="Hiragino Sans" pitchFamily="34" charset="-120"/>
              </a:rPr>
              <a:t>「慣性」と「調整余力」も決める</a:t>
            </a:r>
            <a:endParaRPr lang="en-US" sz="1100" dirty="0"/>
          </a:p>
        </p:txBody>
      </p:sp>
      <p:sp>
        <p:nvSpPr>
          <p:cNvPr id="12" name="Text 10"/>
          <p:cNvSpPr/>
          <p:nvPr/>
        </p:nvSpPr>
        <p:spPr>
          <a:xfrm>
            <a:off x="4133088" y="3520440"/>
            <a:ext cx="365760" cy="365760"/>
          </a:xfrm>
          <a:prstGeom prst="rect">
            <a:avLst/>
          </a:prstGeom>
          <a:noFill/>
          <a:ln/>
        </p:spPr>
        <p:txBody>
          <a:bodyPr wrap="square" lIns="0" tIns="0" rIns="0" bIns="0" rtlCol="0" anchor="ctr"/>
          <a:lstStyle/>
          <a:p>
            <a:pPr indent="0" marL="0">
              <a:buNone/>
            </a:pPr>
            <a:r>
              <a:rPr lang="en-US" sz="2000" b="1" dirty="0">
                <a:solidFill>
                  <a:srgbClr val="55555F"/>
                </a:solidFill>
                <a:latin typeface="Helvetica Neue" pitchFamily="34" charset="0"/>
                <a:ea typeface="Helvetica Neue" pitchFamily="34" charset="-122"/>
                <a:cs typeface="Helvetica Neue" pitchFamily="34" charset="-120"/>
              </a:rPr>
              <a:t>→</a:t>
            </a:r>
            <a:endParaRPr lang="en-US" sz="2000" dirty="0"/>
          </a:p>
        </p:txBody>
      </p:sp>
      <p:sp>
        <p:nvSpPr>
          <p:cNvPr id="13" name="Shape 11"/>
          <p:cNvSpPr/>
          <p:nvPr/>
        </p:nvSpPr>
        <p:spPr>
          <a:xfrm>
            <a:off x="4480560" y="2606040"/>
            <a:ext cx="3291840" cy="2377440"/>
          </a:xfrm>
          <a:prstGeom prst="roundRect">
            <a:avLst>
              <a:gd name="adj" fmla="val 2692"/>
            </a:avLst>
          </a:prstGeom>
          <a:solidFill>
            <a:srgbClr val="F4F4F6"/>
          </a:solidFill>
          <a:ln/>
        </p:spPr>
      </p:sp>
      <p:sp>
        <p:nvSpPr>
          <p:cNvPr id="14" name="Shape 12"/>
          <p:cNvSpPr/>
          <p:nvPr/>
        </p:nvSpPr>
        <p:spPr>
          <a:xfrm>
            <a:off x="4480560" y="2606040"/>
            <a:ext cx="3291840" cy="109728"/>
          </a:xfrm>
          <a:prstGeom prst="rect">
            <a:avLst/>
          </a:prstGeom>
          <a:solidFill>
            <a:srgbClr val="17BECF"/>
          </a:solidFill>
          <a:ln/>
        </p:spPr>
      </p:sp>
      <p:sp>
        <p:nvSpPr>
          <p:cNvPr id="15" name="Text 13"/>
          <p:cNvSpPr/>
          <p:nvPr/>
        </p:nvSpPr>
        <p:spPr>
          <a:xfrm>
            <a:off x="4663440" y="2816352"/>
            <a:ext cx="2011680" cy="320040"/>
          </a:xfrm>
          <a:prstGeom prst="rect">
            <a:avLst/>
          </a:prstGeom>
          <a:noFill/>
          <a:ln/>
        </p:spPr>
        <p:txBody>
          <a:bodyPr wrap="square" lIns="0" tIns="0" rIns="0" bIns="0" rtlCol="0" anchor="ctr"/>
          <a:lstStyle/>
          <a:p>
            <a:pPr indent="0" marL="0">
              <a:buNone/>
            </a:pPr>
            <a:r>
              <a:rPr lang="en-US" sz="1500" b="1" dirty="0">
                <a:solidFill>
                  <a:srgbClr val="1A1A1A"/>
                </a:solidFill>
                <a:latin typeface="Hiragino Sans" pitchFamily="34" charset="0"/>
                <a:ea typeface="Hiragino Sans" pitchFamily="34" charset="-122"/>
                <a:cs typeface="Hiragino Sans" pitchFamily="34" charset="-120"/>
              </a:rPr>
              <a:t>② 流してみる</a:t>
            </a:r>
            <a:endParaRPr lang="en-US" sz="1500" dirty="0"/>
          </a:p>
        </p:txBody>
      </p:sp>
      <p:sp>
        <p:nvSpPr>
          <p:cNvPr id="16" name="Text 14"/>
          <p:cNvSpPr/>
          <p:nvPr/>
        </p:nvSpPr>
        <p:spPr>
          <a:xfrm>
            <a:off x="6583680" y="2834640"/>
            <a:ext cx="1051560" cy="292608"/>
          </a:xfrm>
          <a:prstGeom prst="rect">
            <a:avLst/>
          </a:prstGeom>
          <a:noFill/>
          <a:ln/>
        </p:spPr>
        <p:txBody>
          <a:bodyPr wrap="square" lIns="0" tIns="0" rIns="0" bIns="0" rtlCol="0" anchor="ctr"/>
          <a:lstStyle/>
          <a:p>
            <a:pPr algn="r" indent="0" marL="0">
              <a:buNone/>
            </a:pPr>
            <a:r>
              <a:rPr lang="en-US" sz="1100" b="1" dirty="0">
                <a:solidFill>
                  <a:srgbClr val="17BECF"/>
                </a:solidFill>
                <a:latin typeface="Helvetica Neue" pitchFamily="34" charset="0"/>
                <a:ea typeface="Helvetica Neue" pitchFamily="34" charset="-122"/>
                <a:cs typeface="Helvetica Neue" pitchFamily="34" charset="-120"/>
              </a:rPr>
              <a:t>潮流計算</a:t>
            </a:r>
            <a:endParaRPr lang="en-US" sz="1100" dirty="0"/>
          </a:p>
        </p:txBody>
      </p:sp>
      <p:sp>
        <p:nvSpPr>
          <p:cNvPr id="17" name="Text 15"/>
          <p:cNvSpPr/>
          <p:nvPr/>
        </p:nvSpPr>
        <p:spPr>
          <a:xfrm>
            <a:off x="4663440" y="3200400"/>
            <a:ext cx="2971800" cy="1691640"/>
          </a:xfrm>
          <a:prstGeom prst="rect">
            <a:avLst/>
          </a:prstGeom>
          <a:noFill/>
          <a:ln/>
        </p:spPr>
        <p:txBody>
          <a:bodyPr wrap="square" lIns="0" tIns="0" rIns="0" bIns="0" rtlCol="0" anchor="ctr"/>
          <a:lstStyle/>
          <a:p>
            <a:pPr indent="0" marL="0">
              <a:lnSpc>
                <a:spcPts val="1600"/>
              </a:lnSpc>
              <a:buNone/>
            </a:pPr>
            <a:r>
              <a:rPr lang="en-US" sz="1100" dirty="0">
                <a:solidFill>
                  <a:srgbClr val="55555F"/>
                </a:solidFill>
                <a:latin typeface="Hiragino Sans" pitchFamily="34" charset="0"/>
                <a:ea typeface="Hiragino Sans" pitchFamily="34" charset="-122"/>
                <a:cs typeface="Hiragino Sans" pitchFamily="34" charset="-120"/>
              </a:rPr>
              <a:t>「その電気、送りきれる？」</a:t>
            </a:r>
            <a:endParaRPr lang="en-US" sz="1100" dirty="0"/>
          </a:p>
          <a:p>
            <a:pPr indent="0" marL="0">
              <a:lnSpc>
                <a:spcPts val="1600"/>
              </a:lnSpc>
              <a:buNone/>
            </a:pPr>
            <a:r>
              <a:rPr lang="en-US" sz="1100" dirty="0">
                <a:solidFill>
                  <a:srgbClr val="55555F"/>
                </a:solidFill>
                <a:latin typeface="Hiragino Sans" pitchFamily="34" charset="0"/>
                <a:ea typeface="Hiragino Sans" pitchFamily="34" charset="-122"/>
                <a:cs typeface="Hiragino Sans" pitchFamily="34" charset="-120"/>
              </a:rPr>
              <a:t>計画した発電を実際の送電線網に</a:t>
            </a:r>
            <a:endParaRPr lang="en-US" sz="1100" dirty="0"/>
          </a:p>
          <a:p>
            <a:pPr indent="0" marL="0">
              <a:lnSpc>
                <a:spcPts val="1600"/>
              </a:lnSpc>
              <a:buNone/>
            </a:pPr>
            <a:r>
              <a:rPr lang="en-US" sz="1100" dirty="0">
                <a:solidFill>
                  <a:srgbClr val="55555F"/>
                </a:solidFill>
                <a:latin typeface="Hiragino Sans" pitchFamily="34" charset="0"/>
                <a:ea typeface="Hiragino Sans" pitchFamily="34" charset="-122"/>
                <a:cs typeface="Hiragino Sans" pitchFamily="34" charset="-120"/>
              </a:rPr>
              <a:t>流して確認 — 4島すべて100%供給</a:t>
            </a:r>
            <a:endParaRPr lang="en-US" sz="1100" dirty="0"/>
          </a:p>
        </p:txBody>
      </p:sp>
      <p:sp>
        <p:nvSpPr>
          <p:cNvPr id="18" name="Text 16"/>
          <p:cNvSpPr/>
          <p:nvPr/>
        </p:nvSpPr>
        <p:spPr>
          <a:xfrm>
            <a:off x="7790688" y="3520440"/>
            <a:ext cx="365760" cy="365760"/>
          </a:xfrm>
          <a:prstGeom prst="rect">
            <a:avLst/>
          </a:prstGeom>
          <a:noFill/>
          <a:ln/>
        </p:spPr>
        <p:txBody>
          <a:bodyPr wrap="square" lIns="0" tIns="0" rIns="0" bIns="0" rtlCol="0" anchor="ctr"/>
          <a:lstStyle/>
          <a:p>
            <a:pPr indent="0" marL="0">
              <a:buNone/>
            </a:pPr>
            <a:r>
              <a:rPr lang="en-US" sz="2000" b="1" dirty="0">
                <a:solidFill>
                  <a:srgbClr val="55555F"/>
                </a:solidFill>
                <a:latin typeface="Helvetica Neue" pitchFamily="34" charset="0"/>
                <a:ea typeface="Helvetica Neue" pitchFamily="34" charset="-122"/>
                <a:cs typeface="Helvetica Neue" pitchFamily="34" charset="-120"/>
              </a:rPr>
              <a:t>→</a:t>
            </a:r>
            <a:endParaRPr lang="en-US" sz="2000" dirty="0"/>
          </a:p>
        </p:txBody>
      </p:sp>
      <p:sp>
        <p:nvSpPr>
          <p:cNvPr id="19" name="Shape 17"/>
          <p:cNvSpPr/>
          <p:nvPr/>
        </p:nvSpPr>
        <p:spPr>
          <a:xfrm>
            <a:off x="8138160" y="2606040"/>
            <a:ext cx="3291840" cy="2377440"/>
          </a:xfrm>
          <a:prstGeom prst="roundRect">
            <a:avLst>
              <a:gd name="adj" fmla="val 2692"/>
            </a:avLst>
          </a:prstGeom>
          <a:solidFill>
            <a:srgbClr val="F4F4F6"/>
          </a:solidFill>
          <a:ln/>
        </p:spPr>
      </p:sp>
      <p:sp>
        <p:nvSpPr>
          <p:cNvPr id="20" name="Shape 18"/>
          <p:cNvSpPr/>
          <p:nvPr/>
        </p:nvSpPr>
        <p:spPr>
          <a:xfrm>
            <a:off x="8138160" y="2606040"/>
            <a:ext cx="3291840" cy="109728"/>
          </a:xfrm>
          <a:prstGeom prst="rect">
            <a:avLst/>
          </a:prstGeom>
          <a:solidFill>
            <a:srgbClr val="D62728"/>
          </a:solidFill>
          <a:ln/>
        </p:spPr>
      </p:sp>
      <p:sp>
        <p:nvSpPr>
          <p:cNvPr id="21" name="Text 19"/>
          <p:cNvSpPr/>
          <p:nvPr/>
        </p:nvSpPr>
        <p:spPr>
          <a:xfrm>
            <a:off x="8321040" y="2816352"/>
            <a:ext cx="2011680" cy="320040"/>
          </a:xfrm>
          <a:prstGeom prst="rect">
            <a:avLst/>
          </a:prstGeom>
          <a:noFill/>
          <a:ln/>
        </p:spPr>
        <p:txBody>
          <a:bodyPr wrap="square" lIns="0" tIns="0" rIns="0" bIns="0" rtlCol="0" anchor="ctr"/>
          <a:lstStyle/>
          <a:p>
            <a:pPr indent="0" marL="0">
              <a:buNone/>
            </a:pPr>
            <a:r>
              <a:rPr lang="en-US" sz="1500" b="1" dirty="0">
                <a:solidFill>
                  <a:srgbClr val="1A1A1A"/>
                </a:solidFill>
                <a:latin typeface="Hiragino Sans" pitchFamily="34" charset="0"/>
                <a:ea typeface="Hiragino Sans" pitchFamily="34" charset="-122"/>
                <a:cs typeface="Hiragino Sans" pitchFamily="34" charset="-120"/>
              </a:rPr>
              <a:t>③ 事故らせる</a:t>
            </a:r>
            <a:endParaRPr lang="en-US" sz="1500" dirty="0"/>
          </a:p>
        </p:txBody>
      </p:sp>
      <p:sp>
        <p:nvSpPr>
          <p:cNvPr id="22" name="Text 20"/>
          <p:cNvSpPr/>
          <p:nvPr/>
        </p:nvSpPr>
        <p:spPr>
          <a:xfrm>
            <a:off x="10241280" y="2834640"/>
            <a:ext cx="1051560" cy="292608"/>
          </a:xfrm>
          <a:prstGeom prst="rect">
            <a:avLst/>
          </a:prstGeom>
          <a:noFill/>
          <a:ln/>
        </p:spPr>
        <p:txBody>
          <a:bodyPr wrap="square" lIns="0" tIns="0" rIns="0" bIns="0" rtlCol="0" anchor="ctr"/>
          <a:lstStyle/>
          <a:p>
            <a:pPr algn="r" indent="0" marL="0">
              <a:buNone/>
            </a:pPr>
            <a:r>
              <a:rPr lang="en-US" sz="1100" b="1" dirty="0">
                <a:solidFill>
                  <a:srgbClr val="D62728"/>
                </a:solidFill>
                <a:latin typeface="Helvetica Neue" pitchFamily="34" charset="0"/>
                <a:ea typeface="Helvetica Neue" pitchFamily="34" charset="-122"/>
                <a:cs typeface="Helvetica Neue" pitchFamily="34" charset="-120"/>
              </a:rPr>
              <a:t>AGC</a:t>
            </a:r>
            <a:endParaRPr lang="en-US" sz="1100" dirty="0"/>
          </a:p>
        </p:txBody>
      </p:sp>
      <p:sp>
        <p:nvSpPr>
          <p:cNvPr id="23" name="Text 21"/>
          <p:cNvSpPr/>
          <p:nvPr/>
        </p:nvSpPr>
        <p:spPr>
          <a:xfrm>
            <a:off x="8321040" y="3200400"/>
            <a:ext cx="2971800" cy="1691640"/>
          </a:xfrm>
          <a:prstGeom prst="rect">
            <a:avLst/>
          </a:prstGeom>
          <a:noFill/>
          <a:ln/>
        </p:spPr>
        <p:txBody>
          <a:bodyPr wrap="square" lIns="0" tIns="0" rIns="0" bIns="0" rtlCol="0" anchor="ctr"/>
          <a:lstStyle/>
          <a:p>
            <a:pPr indent="0" marL="0">
              <a:lnSpc>
                <a:spcPts val="1600"/>
              </a:lnSpc>
              <a:buNone/>
            </a:pPr>
            <a:r>
              <a:rPr lang="en-US" sz="1100" dirty="0">
                <a:solidFill>
                  <a:srgbClr val="55555F"/>
                </a:solidFill>
                <a:latin typeface="Hiragino Sans" pitchFamily="34" charset="0"/>
                <a:ea typeface="Hiragino Sans" pitchFamily="34" charset="-122"/>
                <a:cs typeface="Hiragino Sans" pitchFamily="34" charset="-120"/>
              </a:rPr>
              <a:t>「突然、最大の発電所が落ちたら？」</a:t>
            </a:r>
            <a:endParaRPr lang="en-US" sz="1100" dirty="0"/>
          </a:p>
          <a:p>
            <a:pPr indent="0" marL="0">
              <a:lnSpc>
                <a:spcPts val="1600"/>
              </a:lnSpc>
              <a:buNone/>
            </a:pPr>
            <a:r>
              <a:rPr lang="en-US" sz="1100" dirty="0">
                <a:solidFill>
                  <a:srgbClr val="55555F"/>
                </a:solidFill>
                <a:latin typeface="Hiragino Sans" pitchFamily="34" charset="0"/>
                <a:ea typeface="Hiragino Sans" pitchFamily="34" charset="-122"/>
                <a:cs typeface="Hiragino Sans" pitchFamily="34" charset="-120"/>
              </a:rPr>
              <a:t>周波数の急落と自動復帰を秒単位で</a:t>
            </a:r>
            <a:endParaRPr lang="en-US" sz="1100" dirty="0"/>
          </a:p>
          <a:p>
            <a:pPr indent="0" marL="0">
              <a:lnSpc>
                <a:spcPts val="1600"/>
              </a:lnSpc>
              <a:buNone/>
            </a:pPr>
            <a:r>
              <a:rPr lang="en-US" sz="1100" dirty="0">
                <a:solidFill>
                  <a:srgbClr val="55555F"/>
                </a:solidFill>
                <a:latin typeface="Hiragino Sans" pitchFamily="34" charset="0"/>
                <a:ea typeface="Hiragino Sans" pitchFamily="34" charset="-122"/>
                <a:cs typeface="Hiragino Sans" pitchFamily="34" charset="-120"/>
              </a:rPr>
              <a:t>再現 — 制御の仕組みは電気学会の</a:t>
            </a:r>
            <a:endParaRPr lang="en-US" sz="1100" dirty="0"/>
          </a:p>
          <a:p>
            <a:pPr indent="0" marL="0">
              <a:lnSpc>
                <a:spcPts val="1600"/>
              </a:lnSpc>
              <a:buNone/>
            </a:pPr>
            <a:r>
              <a:rPr lang="en-US" sz="1100" dirty="0">
                <a:solidFill>
                  <a:srgbClr val="55555F"/>
                </a:solidFill>
                <a:latin typeface="Hiragino Sans" pitchFamily="34" charset="0"/>
                <a:ea typeface="Hiragino Sans" pitchFamily="34" charset="-122"/>
                <a:cs typeface="Hiragino Sans" pitchFamily="34" charset="-120"/>
              </a:rPr>
              <a:t>標準モデル(AGC30)に準拠</a:t>
            </a:r>
            <a:endParaRPr lang="en-US" sz="1100" dirty="0"/>
          </a:p>
        </p:txBody>
      </p:sp>
      <p:sp>
        <p:nvSpPr>
          <p:cNvPr id="24" name="Shape 22"/>
          <p:cNvSpPr/>
          <p:nvPr/>
        </p:nvSpPr>
        <p:spPr>
          <a:xfrm>
            <a:off x="822960" y="5257800"/>
            <a:ext cx="10607040" cy="960120"/>
          </a:xfrm>
          <a:prstGeom prst="roundRect">
            <a:avLst>
              <a:gd name="adj" fmla="val 5714"/>
            </a:avLst>
          </a:prstGeom>
          <a:solidFill>
            <a:srgbClr val="1E2761"/>
          </a:solidFill>
          <a:ln/>
        </p:spPr>
      </p:sp>
      <p:sp>
        <p:nvSpPr>
          <p:cNvPr id="25" name="Text 23"/>
          <p:cNvSpPr/>
          <p:nvPr/>
        </p:nvSpPr>
        <p:spPr>
          <a:xfrm>
            <a:off x="1097280" y="5257800"/>
            <a:ext cx="10058400" cy="960120"/>
          </a:xfrm>
          <a:prstGeom prst="rect">
            <a:avLst/>
          </a:prstGeom>
          <a:noFill/>
          <a:ln/>
        </p:spPr>
        <p:txBody>
          <a:bodyPr wrap="square" lIns="0" tIns="0" rIns="0" bIns="0" rtlCol="0" anchor="ctr"/>
          <a:lstStyle/>
          <a:p>
            <a:pPr indent="0" marL="0">
              <a:lnSpc>
                <a:spcPts val="2100"/>
              </a:lnSpc>
              <a:buNone/>
            </a:pPr>
            <a:r>
              <a:rPr lang="en-US" sz="1400" b="1" dirty="0">
                <a:solidFill>
                  <a:srgbClr val="FFFFFF"/>
                </a:solidFill>
                <a:latin typeface="Hiragino Sans" pitchFamily="34" charset="0"/>
                <a:ea typeface="Hiragino Sans" pitchFamily="34" charset="-122"/>
                <a:cs typeface="Hiragino Sans" pitchFamily="34" charset="-120"/>
              </a:rPr>
              <a:t>この3つは本来、別々の組織の、別々の非公開データの仕事。ここでは地図から作った1つの公開モデルの上で、1コマンドで全部つながって動く。</a:t>
            </a:r>
            <a:endParaRPr lang="en-US" sz="1400" dirty="0"/>
          </a:p>
        </p:txBody>
      </p:sp>
      <p:sp>
        <p:nvSpPr>
          <p:cNvPr id="26" name="Text 24"/>
          <p:cNvSpPr/>
          <p:nvPr/>
        </p:nvSpPr>
        <p:spPr>
          <a:xfrm>
            <a:off x="640080" y="6510528"/>
            <a:ext cx="5486400" cy="256032"/>
          </a:xfrm>
          <a:prstGeom prst="rect">
            <a:avLst/>
          </a:prstGeom>
          <a:noFill/>
          <a:ln/>
        </p:spPr>
        <p:txBody>
          <a:bodyPr wrap="square" lIns="0" tIns="0" rIns="0" bIns="0" rtlCol="0" anchor="ctr"/>
          <a:lstStyle/>
          <a:p>
            <a:pPr indent="0" marL="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27" name="Text 25"/>
          <p:cNvSpPr/>
          <p:nvPr/>
        </p:nvSpPr>
        <p:spPr>
          <a:xfrm>
            <a:off x="9692640" y="6510528"/>
            <a:ext cx="1463040" cy="256032"/>
          </a:xfrm>
          <a:prstGeom prst="rect">
            <a:avLst/>
          </a:prstGeom>
          <a:noFill/>
          <a:ln/>
        </p:spPr>
        <p:txBody>
          <a:bodyPr wrap="square" lIns="0" tIns="0" rIns="0" bIns="0" rtlCol="0" anchor="ctr"/>
          <a:lstStyle/>
          <a:p>
            <a:pPr algn="r" indent="0" marL="0">
              <a:buNone/>
            </a:pPr>
            <a:r>
              <a:rPr lang="en-US" sz="900" dirty="0">
                <a:solidFill>
                  <a:srgbClr val="55555F"/>
                </a:solidFill>
                <a:latin typeface="Helvetica Neue" pitchFamily="34" charset="0"/>
                <a:ea typeface="Helvetica Neue" pitchFamily="34" charset="-122"/>
                <a:cs typeface="Helvetica Neue" pitchFamily="34" charset="-120"/>
              </a:rPr>
              <a:t>1:00</a:t>
            </a:r>
            <a:endParaRPr lang="en-US" sz="900" dirty="0"/>
          </a:p>
        </p:txBody>
      </p:sp>
      <p:sp>
        <p:nvSpPr>
          <p:cNvPr id="28" name="Text 26"/>
          <p:cNvSpPr/>
          <p:nvPr/>
        </p:nvSpPr>
        <p:spPr>
          <a:xfrm>
            <a:off x="11338560" y="6510528"/>
            <a:ext cx="457200" cy="256032"/>
          </a:xfrm>
          <a:prstGeom prst="rect">
            <a:avLst/>
          </a:prstGeom>
          <a:noFill/>
          <a:ln/>
        </p:spPr>
        <p:txBody>
          <a:bodyPr wrap="square" lIns="0" tIns="0" rIns="0" bIns="0" rtlCol="0" anchor="ctr"/>
          <a:lstStyle/>
          <a:p>
            <a:pPr algn="r" indent="0" marL="0">
              <a:buNone/>
            </a:pPr>
            <a:r>
              <a:rPr lang="en-US" sz="1000" dirty="0">
                <a:solidFill>
                  <a:srgbClr val="55555F"/>
                </a:solidFill>
                <a:latin typeface="Helvetica Neue" pitchFamily="34" charset="0"/>
                <a:ea typeface="Helvetica Neue" pitchFamily="34" charset="-122"/>
                <a:cs typeface="Helvetica Neue"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1E2761"/>
          </a:solidFill>
          <a:ln/>
        </p:spPr>
      </p:sp>
      <p:sp>
        <p:nvSpPr>
          <p:cNvPr id="3" name="Text 1"/>
          <p:cNvSpPr/>
          <p:nvPr/>
        </p:nvSpPr>
        <p:spPr>
          <a:xfrm>
            <a:off x="621792" y="347472"/>
            <a:ext cx="19202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Hiragino Sans" pitchFamily="34" charset="0"/>
                <a:ea typeface="Hiragino Sans" pitchFamily="34" charset="-122"/>
                <a:cs typeface="Hiragino Sans" pitchFamily="34" charset="-120"/>
              </a:rPr>
              <a:t>終幕 v1.9へ</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indent="0" marL="0">
              <a:buNone/>
            </a:pPr>
            <a:r>
              <a:rPr lang="en-US" sz="2100" b="1" dirty="0">
                <a:solidFill>
                  <a:srgbClr val="1A1A1A"/>
                </a:solidFill>
                <a:latin typeface="Hiragino Sans" pitchFamily="34" charset="0"/>
                <a:ea typeface="Hiragino Sans" pitchFamily="34" charset="-122"/>
                <a:cs typeface="Hiragino Sans" pitchFamily="34" charset="-120"/>
              </a:rPr>
              <a:t>事故を起こしてみた：最大の発電所を、いきなり落とす</a:t>
            </a:r>
            <a:endParaRPr lang="en-US" sz="2100" dirty="0"/>
          </a:p>
        </p:txBody>
      </p:sp>
      <p:pic>
        <p:nvPicPr>
          <p:cNvPr id="5" name="Image 0" descr="assets/fig_agc_map.png">    </p:cNvPr>
          <p:cNvPicPr>
            <a:picLocks noChangeAspect="1"/>
          </p:cNvPicPr>
          <p:nvPr/>
        </p:nvPicPr>
        <p:blipFill>
          <a:blip r:embed="rId1"/>
          <a:stretch>
            <a:fillRect/>
          </a:stretch>
        </p:blipFill>
        <p:spPr>
          <a:xfrm>
            <a:off x="502920" y="1097280"/>
            <a:ext cx="3977640" cy="4974336"/>
          </a:xfrm>
          <a:prstGeom prst="rect">
            <a:avLst/>
          </a:prstGeom>
        </p:spPr>
      </p:pic>
      <p:pic>
        <p:nvPicPr>
          <p:cNvPr id="6" name="Image 1" descr="assets/fig_agc_story.png">    </p:cNvPr>
          <p:cNvPicPr>
            <a:picLocks noChangeAspect="1"/>
          </p:cNvPicPr>
          <p:nvPr/>
        </p:nvPicPr>
        <p:blipFill>
          <a:blip r:embed="rId2"/>
          <a:stretch>
            <a:fillRect/>
          </a:stretch>
        </p:blipFill>
        <p:spPr>
          <a:xfrm>
            <a:off x="4617720" y="1234440"/>
            <a:ext cx="7086600" cy="4069080"/>
          </a:xfrm>
          <a:prstGeom prst="rect">
            <a:avLst/>
          </a:prstGeom>
        </p:spPr>
      </p:pic>
      <p:sp>
        <p:nvSpPr>
          <p:cNvPr id="7" name="Text 3"/>
          <p:cNvSpPr/>
          <p:nvPr/>
        </p:nvSpPr>
        <p:spPr>
          <a:xfrm>
            <a:off x="4709160" y="5349240"/>
            <a:ext cx="6949440" cy="274320"/>
          </a:xfrm>
          <a:prstGeom prst="rect">
            <a:avLst/>
          </a:prstGeom>
          <a:noFill/>
          <a:ln/>
        </p:spPr>
        <p:txBody>
          <a:bodyPr wrap="square" lIns="0" tIns="0" rIns="0" bIns="0" rtlCol="0" anchor="ctr"/>
          <a:lstStyle/>
          <a:p>
            <a:pPr indent="0" marL="0">
              <a:buNone/>
            </a:pPr>
            <a:r>
              <a:rPr lang="en-US" sz="1150" b="1" dirty="0">
                <a:solidFill>
                  <a:srgbClr val="1A1A1A"/>
                </a:solidFill>
                <a:latin typeface="Hiragino Sans" pitchFamily="34" charset="0"/>
                <a:ea typeface="Hiragino Sans" pitchFamily="34" charset="-122"/>
                <a:cs typeface="Hiragino Sans" pitchFamily="34" charset="-120"/>
              </a:rPr>
              <a:t>地図の島の色 ＝ グラフの線の色。★が落とした発電所の実在の場所。</a:t>
            </a:r>
            <a:endParaRPr lang="en-US" sz="1150" dirty="0"/>
          </a:p>
        </p:txBody>
      </p:sp>
      <p:sp>
        <p:nvSpPr>
          <p:cNvPr id="8" name="Text 4"/>
          <p:cNvSpPr/>
          <p:nvPr/>
        </p:nvSpPr>
        <p:spPr>
          <a:xfrm>
            <a:off x="4709160" y="5669280"/>
            <a:ext cx="6949440" cy="548640"/>
          </a:xfrm>
          <a:prstGeom prst="rect">
            <a:avLst/>
          </a:prstGeom>
          <a:noFill/>
          <a:ln/>
        </p:spPr>
        <p:txBody>
          <a:bodyPr wrap="square" lIns="0" tIns="0" rIns="0" bIns="0" rtlCol="0" anchor="ctr"/>
          <a:lstStyle/>
          <a:p>
            <a:pPr indent="0" marL="0">
              <a:lnSpc>
                <a:spcPts val="1600"/>
              </a:lnSpc>
              <a:buNone/>
            </a:pPr>
            <a:r>
              <a:rPr lang="en-US" sz="1100" dirty="0">
                <a:solidFill>
                  <a:srgbClr val="55555F"/>
                </a:solidFill>
                <a:latin typeface="Hiragino Sans" pitchFamily="34" charset="0"/>
                <a:ea typeface="Hiragino Sans" pitchFamily="34" charset="-122"/>
                <a:cs typeface="Hiragino Sans" pitchFamily="34" charset="-120"/>
              </a:rPr>
              <a:t>小さな北海道(4.4 GW)は苫東厚真を失うと負荷遮断まで落ち込む。大きな東日本(59 GW)は3倍の規模(富津 5,040 MW)を失っても踏みとどまる — 系統の大きさ(慣性)の差が、そのまま運命の差になる。</a:t>
            </a:r>
            <a:endParaRPr lang="en-US" sz="1100" dirty="0"/>
          </a:p>
        </p:txBody>
      </p:sp>
      <p:sp>
        <p:nvSpPr>
          <p:cNvPr id="9" name="Text 5"/>
          <p:cNvSpPr/>
          <p:nvPr/>
        </p:nvSpPr>
        <p:spPr>
          <a:xfrm>
            <a:off x="640080" y="6510528"/>
            <a:ext cx="5486400" cy="256032"/>
          </a:xfrm>
          <a:prstGeom prst="rect">
            <a:avLst/>
          </a:prstGeom>
          <a:noFill/>
          <a:ln/>
        </p:spPr>
        <p:txBody>
          <a:bodyPr wrap="square" lIns="0" tIns="0" rIns="0" bIns="0" rtlCol="0" anchor="ctr"/>
          <a:lstStyle/>
          <a:p>
            <a:pPr indent="0" marL="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10" name="Text 6"/>
          <p:cNvSpPr/>
          <p:nvPr/>
        </p:nvSpPr>
        <p:spPr>
          <a:xfrm>
            <a:off x="9692640" y="6510528"/>
            <a:ext cx="1463040" cy="256032"/>
          </a:xfrm>
          <a:prstGeom prst="rect">
            <a:avLst/>
          </a:prstGeom>
          <a:noFill/>
          <a:ln/>
        </p:spPr>
        <p:txBody>
          <a:bodyPr wrap="square" lIns="0" tIns="0" rIns="0" bIns="0" rtlCol="0" anchor="ctr"/>
          <a:lstStyle/>
          <a:p>
            <a:pPr algn="r" indent="0" marL="0">
              <a:buNone/>
            </a:pPr>
            <a:r>
              <a:rPr lang="en-US" sz="900" dirty="0">
                <a:solidFill>
                  <a:srgbClr val="55555F"/>
                </a:solidFill>
                <a:latin typeface="Helvetica Neue" pitchFamily="34" charset="0"/>
                <a:ea typeface="Helvetica Neue" pitchFamily="34" charset="-122"/>
                <a:cs typeface="Helvetica Neue" pitchFamily="34" charset="-120"/>
              </a:rPr>
              <a:t>1:30</a:t>
            </a:r>
            <a:endParaRPr lang="en-US" sz="900" dirty="0"/>
          </a:p>
        </p:txBody>
      </p:sp>
      <p:sp>
        <p:nvSpPr>
          <p:cNvPr id="11" name="Text 7"/>
          <p:cNvSpPr/>
          <p:nvPr/>
        </p:nvSpPr>
        <p:spPr>
          <a:xfrm>
            <a:off x="11338560" y="6510528"/>
            <a:ext cx="457200" cy="256032"/>
          </a:xfrm>
          <a:prstGeom prst="rect">
            <a:avLst/>
          </a:prstGeom>
          <a:noFill/>
          <a:ln/>
        </p:spPr>
        <p:txBody>
          <a:bodyPr wrap="square" lIns="0" tIns="0" rIns="0" bIns="0" rtlCol="0" anchor="ctr"/>
          <a:lstStyle/>
          <a:p>
            <a:pPr algn="r" indent="0" marL="0">
              <a:buNone/>
            </a:pPr>
            <a:r>
              <a:rPr lang="en-US" sz="1000" dirty="0">
                <a:solidFill>
                  <a:srgbClr val="55555F"/>
                </a:solidFill>
                <a:latin typeface="Helvetica Neue" pitchFamily="34" charset="0"/>
                <a:ea typeface="Helvetica Neue" pitchFamily="34" charset="-122"/>
                <a:cs typeface="Helvetica Neue"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1E2761"/>
          </a:solidFill>
          <a:ln/>
        </p:spPr>
      </p:sp>
      <p:sp>
        <p:nvSpPr>
          <p:cNvPr id="3" name="Text 1"/>
          <p:cNvSpPr/>
          <p:nvPr/>
        </p:nvSpPr>
        <p:spPr>
          <a:xfrm>
            <a:off x="621792" y="347472"/>
            <a:ext cx="19202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Hiragino Sans" pitchFamily="34" charset="0"/>
                <a:ea typeface="Hiragino Sans" pitchFamily="34" charset="-122"/>
                <a:cs typeface="Hiragino Sans" pitchFamily="34" charset="-120"/>
              </a:rPr>
              <a:t>終幕 v1.9へ</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indent="0" marL="0">
              <a:buNone/>
            </a:pPr>
            <a:r>
              <a:rPr lang="en-US" sz="2100" b="1" dirty="0">
                <a:solidFill>
                  <a:srgbClr val="1A1A1A"/>
                </a:solidFill>
                <a:latin typeface="Hiragino Sans" pitchFamily="34" charset="0"/>
                <a:ea typeface="Hiragino Sans" pitchFamily="34" charset="-122"/>
                <a:cs typeface="Hiragino Sans" pitchFamily="34" charset="-120"/>
              </a:rPr>
              <a:t>動揺も解ける：同じ事故を、54機を1機ずつ解く（AGC30 → AGC-N）</a:t>
            </a:r>
            <a:endParaRPr lang="en-US" sz="2100" dirty="0"/>
          </a:p>
        </p:txBody>
      </p:sp>
      <p:pic>
        <p:nvPicPr>
          <p:cNvPr id="5" name="Image 0" descr="assets/fig_swing_hokkaido.png">    </p:cNvPr>
          <p:cNvPicPr>
            <a:picLocks noChangeAspect="1"/>
          </p:cNvPicPr>
          <p:nvPr/>
        </p:nvPicPr>
        <p:blipFill>
          <a:blip r:embed="rId1"/>
          <a:stretch>
            <a:fillRect/>
          </a:stretch>
        </p:blipFill>
        <p:spPr>
          <a:xfrm>
            <a:off x="777240" y="1051560"/>
            <a:ext cx="10607040" cy="4828032"/>
          </a:xfrm>
          <a:prstGeom prst="rect">
            <a:avLst/>
          </a:prstGeom>
        </p:spPr>
      </p:pic>
      <p:sp>
        <p:nvSpPr>
          <p:cNvPr id="6" name="Text 3"/>
          <p:cNvSpPr/>
          <p:nvPr/>
        </p:nvSpPr>
        <p:spPr>
          <a:xfrm>
            <a:off x="822960" y="5943600"/>
            <a:ext cx="10607040" cy="320040"/>
          </a:xfrm>
          <a:prstGeom prst="rect">
            <a:avLst/>
          </a:prstGeom>
          <a:noFill/>
          <a:ln/>
        </p:spPr>
        <p:txBody>
          <a:bodyPr wrap="square" lIns="0" tIns="0" rIns="0" bIns="0" rtlCol="0" anchor="ctr"/>
          <a:lstStyle/>
          <a:p>
            <a:pPr indent="0" marL="0">
              <a:buNone/>
            </a:pPr>
            <a:r>
              <a:rPr lang="en-US" sz="1150" dirty="0">
                <a:solidFill>
                  <a:srgbClr val="1A1A1A"/>
                </a:solidFill>
                <a:latin typeface="Hiragino Sans" pitchFamily="34" charset="0"/>
                <a:ea typeface="Hiragino Sans" pitchFamily="34" charset="-122"/>
                <a:cs typeface="Hiragino Sans" pitchFamily="34" charset="-120"/>
              </a:rPr>
              <a:t>AGC30の機種モデルをUCがオンラインにした全プラントへ1機ずつ与え、実網のKron縮約Ybus上で動揺方程式と共シミュレーション。潮流解との初期化整合は厳密(max 0.0 MW)。</a:t>
            </a:r>
            <a:endParaRPr lang="en-US" sz="1150" dirty="0"/>
          </a:p>
        </p:txBody>
      </p:sp>
      <p:sp>
        <p:nvSpPr>
          <p:cNvPr id="7" name="Text 4"/>
          <p:cNvSpPr/>
          <p:nvPr/>
        </p:nvSpPr>
        <p:spPr>
          <a:xfrm>
            <a:off x="822960" y="6236208"/>
            <a:ext cx="10607040" cy="274320"/>
          </a:xfrm>
          <a:prstGeom prst="rect">
            <a:avLst/>
          </a:prstGeom>
          <a:noFill/>
          <a:ln/>
        </p:spPr>
        <p:txBody>
          <a:bodyPr wrap="square" lIns="0" tIns="0" rIns="0" bIns="0" rtlCol="0" anchor="ctr"/>
          <a:lstStyle/>
          <a:p>
            <a:pPr indent="0" marL="0">
              <a:buNone/>
            </a:pPr>
            <a:r>
              <a:rPr lang="en-US" sz="1050" dirty="0">
                <a:solidFill>
                  <a:srgbClr val="55555F"/>
                </a:solidFill>
                <a:latin typeface="Hiragino Sans" pitchFamily="34" charset="0"/>
                <a:ea typeface="Hiragino Sans" pitchFamily="34" charset="-122"/>
                <a:cs typeface="Hiragino Sans" pitchFamily="34" charset="-120"/>
              </a:rPr>
              <a:t>下段=各機の相差角(±40°の動揺→減衰整定)。多機版はCOI簡約版よりやや深く沈む(−3.0 vs −2.5 Hz) — 定Z負荷とGF幅の実装差で、帳簿に開示。</a:t>
            </a:r>
            <a:endParaRPr lang="en-US" sz="1050" dirty="0"/>
          </a:p>
        </p:txBody>
      </p:sp>
      <p:sp>
        <p:nvSpPr>
          <p:cNvPr id="8" name="Text 5"/>
          <p:cNvSpPr/>
          <p:nvPr/>
        </p:nvSpPr>
        <p:spPr>
          <a:xfrm>
            <a:off x="640080" y="6510528"/>
            <a:ext cx="5486400" cy="256032"/>
          </a:xfrm>
          <a:prstGeom prst="rect">
            <a:avLst/>
          </a:prstGeom>
          <a:noFill/>
          <a:ln/>
        </p:spPr>
        <p:txBody>
          <a:bodyPr wrap="square" lIns="0" tIns="0" rIns="0" bIns="0" rtlCol="0" anchor="ctr"/>
          <a:lstStyle/>
          <a:p>
            <a:pPr indent="0" marL="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9" name="Text 6"/>
          <p:cNvSpPr/>
          <p:nvPr/>
        </p:nvSpPr>
        <p:spPr>
          <a:xfrm>
            <a:off x="9692640" y="6510528"/>
            <a:ext cx="1463040" cy="256032"/>
          </a:xfrm>
          <a:prstGeom prst="rect">
            <a:avLst/>
          </a:prstGeom>
          <a:noFill/>
          <a:ln/>
        </p:spPr>
        <p:txBody>
          <a:bodyPr wrap="square" lIns="0" tIns="0" rIns="0" bIns="0" rtlCol="0" anchor="ctr"/>
          <a:lstStyle/>
          <a:p>
            <a:pPr algn="r" indent="0" marL="0">
              <a:buNone/>
            </a:pPr>
            <a:r>
              <a:rPr lang="en-US" sz="900" dirty="0">
                <a:solidFill>
                  <a:srgbClr val="55555F"/>
                </a:solidFill>
                <a:latin typeface="Helvetica Neue" pitchFamily="34" charset="0"/>
                <a:ea typeface="Helvetica Neue" pitchFamily="34" charset="-122"/>
                <a:cs typeface="Helvetica Neue" pitchFamily="34" charset="-120"/>
              </a:rPr>
              <a:t>1:00</a:t>
            </a:r>
            <a:endParaRPr lang="en-US" sz="900" dirty="0"/>
          </a:p>
        </p:txBody>
      </p:sp>
      <p:sp>
        <p:nvSpPr>
          <p:cNvPr id="10" name="Text 7"/>
          <p:cNvSpPr/>
          <p:nvPr/>
        </p:nvSpPr>
        <p:spPr>
          <a:xfrm>
            <a:off x="11338560" y="6510528"/>
            <a:ext cx="457200" cy="256032"/>
          </a:xfrm>
          <a:prstGeom prst="rect">
            <a:avLst/>
          </a:prstGeom>
          <a:noFill/>
          <a:ln/>
        </p:spPr>
        <p:txBody>
          <a:bodyPr wrap="square" lIns="0" tIns="0" rIns="0" bIns="0" rtlCol="0" anchor="ctr"/>
          <a:lstStyle/>
          <a:p>
            <a:pPr algn="r" indent="0" marL="0">
              <a:buNone/>
            </a:pPr>
            <a:r>
              <a:rPr lang="en-US" sz="1000" dirty="0">
                <a:solidFill>
                  <a:srgbClr val="55555F"/>
                </a:solidFill>
                <a:latin typeface="Helvetica Neue" pitchFamily="34" charset="0"/>
                <a:ea typeface="Helvetica Neue" pitchFamily="34" charset="-122"/>
                <a:cs typeface="Helvetica Neue"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1E2761"/>
          </a:solidFill>
          <a:ln/>
        </p:spPr>
      </p:sp>
      <p:sp>
        <p:nvSpPr>
          <p:cNvPr id="3" name="Text 1"/>
          <p:cNvSpPr/>
          <p:nvPr/>
        </p:nvSpPr>
        <p:spPr>
          <a:xfrm>
            <a:off x="621792" y="347472"/>
            <a:ext cx="19202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Hiragino Sans" pitchFamily="34" charset="0"/>
                <a:ea typeface="Hiragino Sans" pitchFamily="34" charset="-122"/>
                <a:cs typeface="Hiragino Sans" pitchFamily="34" charset="-120"/>
              </a:rPr>
              <a:t>終幕 v1.9へ</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indent="0" marL="0">
              <a:buNone/>
            </a:pPr>
            <a:r>
              <a:rPr lang="en-US" sz="2100" b="1" dirty="0">
                <a:solidFill>
                  <a:srgbClr val="1A1A1A"/>
                </a:solidFill>
                <a:latin typeface="Hiragino Sans" pitchFamily="34" charset="0"/>
                <a:ea typeface="Hiragino Sans" pitchFamily="34" charset="-122"/>
                <a:cs typeface="Hiragino Sans" pitchFamily="34" charset="-120"/>
              </a:rPr>
              <a:t>系統ごと、全部解く：4島・542機の動揺</a:t>
            </a:r>
            <a:endParaRPr lang="en-US" sz="2100" dirty="0"/>
          </a:p>
        </p:txBody>
      </p:sp>
      <p:pic>
        <p:nvPicPr>
          <p:cNvPr id="5" name="Image 0" descr="assets/fig_swing_national.png">    </p:cNvPr>
          <p:cNvPicPr>
            <a:picLocks noChangeAspect="1"/>
          </p:cNvPicPr>
          <p:nvPr/>
        </p:nvPicPr>
        <p:blipFill>
          <a:blip r:embed="rId1"/>
          <a:stretch>
            <a:fillRect/>
          </a:stretch>
        </p:blipFill>
        <p:spPr>
          <a:xfrm>
            <a:off x="1737360" y="960120"/>
            <a:ext cx="8732520" cy="5303520"/>
          </a:xfrm>
          <a:prstGeom prst="rect">
            <a:avLst/>
          </a:prstGeom>
        </p:spPr>
      </p:pic>
      <p:sp>
        <p:nvSpPr>
          <p:cNvPr id="6" name="Text 3"/>
          <p:cNvSpPr/>
          <p:nvPr/>
        </p:nvSpPr>
        <p:spPr>
          <a:xfrm>
            <a:off x="822960" y="6355080"/>
            <a:ext cx="10607040" cy="502920"/>
          </a:xfrm>
          <a:prstGeom prst="rect">
            <a:avLst/>
          </a:prstGeom>
          <a:noFill/>
          <a:ln/>
        </p:spPr>
        <p:txBody>
          <a:bodyPr wrap="square" lIns="0" tIns="0" rIns="0" bIns="0" rtlCol="0" anchor="ctr"/>
          <a:lstStyle/>
          <a:p>
            <a:pPr indent="0" marL="0">
              <a:lnSpc>
                <a:spcPts val="1500"/>
              </a:lnSpc>
              <a:buNone/>
            </a:pPr>
            <a:r>
              <a:rPr lang="en-US" sz="1100" dirty="0">
                <a:solidFill>
                  <a:srgbClr val="1A1A1A"/>
                </a:solidFill>
                <a:latin typeface="Hiragino Sans" pitchFamily="34" charset="0"/>
                <a:ea typeface="Hiragino Sans" pitchFamily="34" charset="-122"/>
                <a:cs typeface="Hiragino Sans" pitchFamily="34" charset="-120"/>
              </a:rPr>
              <a:t>東182機は富津3,893MWを失っても−0.45Hzで踏みとどまり、全機がうねりながら回復する。西302機は±0.3Hzの機間動揺が10秒で減衰。弱結合の小規模機7機は脱調保護が切り離す(切離しの瞬間まで描画・全経過は帳簿)。</a:t>
            </a:r>
            <a:endParaRPr lang="en-US" sz="1100" dirty="0"/>
          </a:p>
        </p:txBody>
      </p:sp>
      <p:sp>
        <p:nvSpPr>
          <p:cNvPr id="7" name="Text 4"/>
          <p:cNvSpPr/>
          <p:nvPr/>
        </p:nvSpPr>
        <p:spPr>
          <a:xfrm>
            <a:off x="640080" y="6510528"/>
            <a:ext cx="5486400" cy="256032"/>
          </a:xfrm>
          <a:prstGeom prst="rect">
            <a:avLst/>
          </a:prstGeom>
          <a:noFill/>
          <a:ln/>
        </p:spPr>
        <p:txBody>
          <a:bodyPr wrap="square" lIns="0" tIns="0" rIns="0" bIns="0" rtlCol="0" anchor="ctr"/>
          <a:lstStyle/>
          <a:p>
            <a:pPr indent="0" marL="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8" name="Text 5"/>
          <p:cNvSpPr/>
          <p:nvPr/>
        </p:nvSpPr>
        <p:spPr>
          <a:xfrm>
            <a:off x="9692640" y="6510528"/>
            <a:ext cx="1463040" cy="256032"/>
          </a:xfrm>
          <a:prstGeom prst="rect">
            <a:avLst/>
          </a:prstGeom>
          <a:noFill/>
          <a:ln/>
        </p:spPr>
        <p:txBody>
          <a:bodyPr wrap="square" lIns="0" tIns="0" rIns="0" bIns="0" rtlCol="0" anchor="ctr"/>
          <a:lstStyle/>
          <a:p>
            <a:pPr algn="r" indent="0" marL="0">
              <a:buNone/>
            </a:pPr>
            <a:r>
              <a:rPr lang="en-US" sz="900" dirty="0">
                <a:solidFill>
                  <a:srgbClr val="55555F"/>
                </a:solidFill>
                <a:latin typeface="Helvetica Neue" pitchFamily="34" charset="0"/>
                <a:ea typeface="Helvetica Neue" pitchFamily="34" charset="-122"/>
                <a:cs typeface="Helvetica Neue" pitchFamily="34" charset="-120"/>
              </a:rPr>
              <a:t>1:00</a:t>
            </a:r>
            <a:endParaRPr lang="en-US" sz="900" dirty="0"/>
          </a:p>
        </p:txBody>
      </p:sp>
      <p:sp>
        <p:nvSpPr>
          <p:cNvPr id="9" name="Text 6"/>
          <p:cNvSpPr/>
          <p:nvPr/>
        </p:nvSpPr>
        <p:spPr>
          <a:xfrm>
            <a:off x="11338560" y="6510528"/>
            <a:ext cx="457200" cy="256032"/>
          </a:xfrm>
          <a:prstGeom prst="rect">
            <a:avLst/>
          </a:prstGeom>
          <a:noFill/>
          <a:ln/>
        </p:spPr>
        <p:txBody>
          <a:bodyPr wrap="square" lIns="0" tIns="0" rIns="0" bIns="0" rtlCol="0" anchor="ctr"/>
          <a:lstStyle/>
          <a:p>
            <a:pPr algn="r" indent="0" marL="0">
              <a:buNone/>
            </a:pPr>
            <a:r>
              <a:rPr lang="en-US" sz="1000" dirty="0">
                <a:solidFill>
                  <a:srgbClr val="55555F"/>
                </a:solidFill>
                <a:latin typeface="Helvetica Neue" pitchFamily="34" charset="0"/>
                <a:ea typeface="Helvetica Neue" pitchFamily="34" charset="-122"/>
                <a:cs typeface="Helvetica Neue"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1E2761"/>
          </a:solidFill>
          <a:ln/>
        </p:spPr>
      </p:sp>
      <p:sp>
        <p:nvSpPr>
          <p:cNvPr id="3" name="Text 1"/>
          <p:cNvSpPr/>
          <p:nvPr/>
        </p:nvSpPr>
        <p:spPr>
          <a:xfrm>
            <a:off x="621792" y="347472"/>
            <a:ext cx="19202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Hiragino Sans" pitchFamily="34" charset="0"/>
                <a:ea typeface="Hiragino Sans" pitchFamily="34" charset="-122"/>
                <a:cs typeface="Hiragino Sans" pitchFamily="34" charset="-120"/>
              </a:rPr>
              <a:t>終幕 v1.9へ</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indent="0" marL="0">
              <a:buNone/>
            </a:pPr>
            <a:r>
              <a:rPr lang="en-US" sz="2100" b="1" dirty="0">
                <a:solidFill>
                  <a:srgbClr val="1A1A1A"/>
                </a:solidFill>
                <a:latin typeface="Hiragino Sans" pitchFamily="34" charset="0"/>
                <a:ea typeface="Hiragino Sans" pitchFamily="34" charset="-122"/>
                <a:cs typeface="Hiragino Sans" pitchFamily="34" charset="-120"/>
              </a:rPr>
              <a:t>24時間の断面：同じ事故でも、夜がいちばん危ない</a:t>
            </a:r>
            <a:endParaRPr lang="en-US" sz="2100" dirty="0"/>
          </a:p>
        </p:txBody>
      </p:sp>
      <p:pic>
        <p:nvPicPr>
          <p:cNvPr id="5" name="Image 0" descr="assets/fig_agc_24h.png">    </p:cNvPr>
          <p:cNvPicPr>
            <a:picLocks noChangeAspect="1"/>
          </p:cNvPicPr>
          <p:nvPr/>
        </p:nvPicPr>
        <p:blipFill>
          <a:blip r:embed="rId1"/>
          <a:stretch>
            <a:fillRect/>
          </a:stretch>
        </p:blipFill>
        <p:spPr>
          <a:xfrm>
            <a:off x="2286000" y="987552"/>
            <a:ext cx="7635240" cy="5349240"/>
          </a:xfrm>
          <a:prstGeom prst="rect">
            <a:avLst/>
          </a:prstGeom>
        </p:spPr>
      </p:pic>
      <p:sp>
        <p:nvSpPr>
          <p:cNvPr id="6" name="Text 3"/>
          <p:cNvSpPr/>
          <p:nvPr/>
        </p:nvSpPr>
        <p:spPr>
          <a:xfrm>
            <a:off x="822960" y="6400800"/>
            <a:ext cx="10607040" cy="502920"/>
          </a:xfrm>
          <a:prstGeom prst="rect">
            <a:avLst/>
          </a:prstGeom>
          <a:noFill/>
          <a:ln/>
        </p:spPr>
        <p:txBody>
          <a:bodyPr wrap="square" lIns="0" tIns="0" rIns="0" bIns="0" rtlCol="0" anchor="ctr"/>
          <a:lstStyle/>
          <a:p>
            <a:pPr indent="0" marL="0">
              <a:lnSpc>
                <a:spcPts val="1500"/>
              </a:lnSpc>
              <a:buNone/>
            </a:pPr>
            <a:r>
              <a:rPr lang="en-US" sz="1100" dirty="0">
                <a:solidFill>
                  <a:srgbClr val="1A1A1A"/>
                </a:solidFill>
                <a:latin typeface="Hiragino Sans" pitchFamily="34" charset="0"/>
                <a:ea typeface="Hiragino Sans" pitchFamily="34" charset="-122"/>
                <a:cs typeface="Hiragino Sans" pitchFamily="34" charset="-120"/>
              </a:rPr>
              <a:t>UCの24時間コミットメントを1時刻ずつ断面にして最大オンラインプラントを落とす。夜間はオンライン機が減る→慣性が3割落ちる→同じ事故でも深く速く落ちる。北海道の最悪は深夜3時＝実際の2018年ブラックアウト(3:08)と同じ時間帯。</a:t>
            </a:r>
            <a:endParaRPr lang="en-US" sz="1100" dirty="0"/>
          </a:p>
        </p:txBody>
      </p:sp>
      <p:sp>
        <p:nvSpPr>
          <p:cNvPr id="7" name="Text 4"/>
          <p:cNvSpPr/>
          <p:nvPr/>
        </p:nvSpPr>
        <p:spPr>
          <a:xfrm>
            <a:off x="640080" y="6510528"/>
            <a:ext cx="5486400" cy="256032"/>
          </a:xfrm>
          <a:prstGeom prst="rect">
            <a:avLst/>
          </a:prstGeom>
          <a:noFill/>
          <a:ln/>
        </p:spPr>
        <p:txBody>
          <a:bodyPr wrap="square" lIns="0" tIns="0" rIns="0" bIns="0" rtlCol="0" anchor="ctr"/>
          <a:lstStyle/>
          <a:p>
            <a:pPr indent="0" marL="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8" name="Text 5"/>
          <p:cNvSpPr/>
          <p:nvPr/>
        </p:nvSpPr>
        <p:spPr>
          <a:xfrm>
            <a:off x="9692640" y="6510528"/>
            <a:ext cx="1463040" cy="256032"/>
          </a:xfrm>
          <a:prstGeom prst="rect">
            <a:avLst/>
          </a:prstGeom>
          <a:noFill/>
          <a:ln/>
        </p:spPr>
        <p:txBody>
          <a:bodyPr wrap="square" lIns="0" tIns="0" rIns="0" bIns="0" rtlCol="0" anchor="ctr"/>
          <a:lstStyle/>
          <a:p>
            <a:pPr algn="r" indent="0" marL="0">
              <a:buNone/>
            </a:pPr>
            <a:r>
              <a:rPr lang="en-US" sz="900" dirty="0">
                <a:solidFill>
                  <a:srgbClr val="55555F"/>
                </a:solidFill>
                <a:latin typeface="Helvetica Neue" pitchFamily="34" charset="0"/>
                <a:ea typeface="Helvetica Neue" pitchFamily="34" charset="-122"/>
                <a:cs typeface="Helvetica Neue" pitchFamily="34" charset="-120"/>
              </a:rPr>
              <a:t>1:00</a:t>
            </a:r>
            <a:endParaRPr lang="en-US" sz="900" dirty="0"/>
          </a:p>
        </p:txBody>
      </p:sp>
      <p:sp>
        <p:nvSpPr>
          <p:cNvPr id="9" name="Text 6"/>
          <p:cNvSpPr/>
          <p:nvPr/>
        </p:nvSpPr>
        <p:spPr>
          <a:xfrm>
            <a:off x="11338560" y="6510528"/>
            <a:ext cx="457200" cy="256032"/>
          </a:xfrm>
          <a:prstGeom prst="rect">
            <a:avLst/>
          </a:prstGeom>
          <a:noFill/>
          <a:ln/>
        </p:spPr>
        <p:txBody>
          <a:bodyPr wrap="square" lIns="0" tIns="0" rIns="0" bIns="0" rtlCol="0" anchor="ctr"/>
          <a:lstStyle/>
          <a:p>
            <a:pPr algn="r" indent="0" marL="0">
              <a:buNone/>
            </a:pPr>
            <a:r>
              <a:rPr lang="en-US" sz="1000" dirty="0">
                <a:solidFill>
                  <a:srgbClr val="55555F"/>
                </a:solidFill>
                <a:latin typeface="Helvetica Neue" pitchFamily="34" charset="0"/>
                <a:ea typeface="Helvetica Neue" pitchFamily="34" charset="-122"/>
                <a:cs typeface="Helvetica Neue"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0D1A"/>
        </a:solidFill>
      </p:bgPr>
    </p:bg>
    <p:spTree>
      <p:nvGrpSpPr>
        <p:cNvPr id="1" name=""/>
        <p:cNvGrpSpPr/>
        <p:nvPr/>
      </p:nvGrpSpPr>
      <p:grpSpPr>
        <a:xfrm>
          <a:off x="0" y="0"/>
          <a:ext cx="0" cy="0"/>
          <a:chOff x="0" y="0"/>
          <a:chExt cx="0" cy="0"/>
        </a:xfrm>
      </p:grpSpPr>
      <p:pic>
        <p:nvPicPr>
          <p:cNvPr id="2" name="Image 0" descr="assets/agc_hokkaido_trip.gif">    </p:cNvPr>
          <p:cNvPicPr>
            <a:picLocks noChangeAspect="1"/>
          </p:cNvPicPr>
          <p:nvPr/>
        </p:nvPicPr>
        <p:blipFill>
          <a:blip r:embed="rId1"/>
          <a:stretch>
            <a:fillRect/>
          </a:stretch>
        </p:blipFill>
        <p:spPr>
          <a:xfrm>
            <a:off x="3227832" y="137160"/>
            <a:ext cx="8503920" cy="6382512"/>
          </a:xfrm>
          <a:prstGeom prst="rect">
            <a:avLst/>
          </a:prstGeom>
        </p:spPr>
      </p:pic>
      <p:sp>
        <p:nvSpPr>
          <p:cNvPr id="3" name="Text 0"/>
          <p:cNvSpPr/>
          <p:nvPr/>
        </p:nvSpPr>
        <p:spPr>
          <a:xfrm>
            <a:off x="502920" y="640080"/>
            <a:ext cx="2651760" cy="457200"/>
          </a:xfrm>
          <a:prstGeom prst="rect">
            <a:avLst/>
          </a:prstGeom>
          <a:noFill/>
          <a:ln/>
        </p:spPr>
        <p:txBody>
          <a:bodyPr wrap="square" lIns="0" tIns="0" rIns="0" bIns="0" rtlCol="0" anchor="ctr"/>
          <a:lstStyle/>
          <a:p>
            <a:pPr indent="0" marL="0">
              <a:buNone/>
            </a:pPr>
            <a:r>
              <a:rPr lang="en-US" sz="2400" b="1" dirty="0">
                <a:solidFill>
                  <a:srgbClr val="FFFFFF"/>
                </a:solidFill>
                <a:latin typeface="Hiragino Sans" pitchFamily="34" charset="0"/>
                <a:ea typeface="Hiragino Sans" pitchFamily="34" charset="-122"/>
                <a:cs typeface="Hiragino Sans" pitchFamily="34" charset="-120"/>
              </a:rPr>
              <a:t>実況リプレイ</a:t>
            </a:r>
            <a:endParaRPr lang="en-US" sz="2400" dirty="0"/>
          </a:p>
        </p:txBody>
      </p:sp>
      <p:sp>
        <p:nvSpPr>
          <p:cNvPr id="4" name="Text 1"/>
          <p:cNvSpPr/>
          <p:nvPr/>
        </p:nvSpPr>
        <p:spPr>
          <a:xfrm>
            <a:off x="521208" y="1234440"/>
            <a:ext cx="2697480" cy="777240"/>
          </a:xfrm>
          <a:prstGeom prst="rect">
            <a:avLst/>
          </a:prstGeom>
          <a:noFill/>
          <a:ln/>
        </p:spPr>
        <p:txBody>
          <a:bodyPr wrap="square" lIns="0" tIns="0" rIns="0" bIns="0" rtlCol="0" anchor="ctr"/>
          <a:lstStyle/>
          <a:p>
            <a:pPr indent="0" marL="0">
              <a:lnSpc>
                <a:spcPts val="1900"/>
              </a:lnSpc>
              <a:buNone/>
            </a:pPr>
            <a:r>
              <a:rPr lang="en-US" sz="1300" dirty="0">
                <a:solidFill>
                  <a:srgbClr val="C8CDD8"/>
                </a:solidFill>
                <a:latin typeface="Hiragino Sans" pitchFamily="34" charset="0"/>
                <a:ea typeface="Hiragino Sans" pitchFamily="34" charset="-122"/>
                <a:cs typeface="Hiragino Sans" pitchFamily="34" charset="-120"/>
              </a:rPr>
              <a:t>苫東厚真の脱落を、北海道の</a:t>
            </a:r>
            <a:endParaRPr lang="en-US" sz="1300" dirty="0"/>
          </a:p>
          <a:p>
            <a:pPr indent="0" marL="0">
              <a:lnSpc>
                <a:spcPts val="1900"/>
              </a:lnSpc>
              <a:buNone/>
            </a:pPr>
            <a:r>
              <a:rPr lang="en-US" sz="1300" dirty="0">
                <a:solidFill>
                  <a:srgbClr val="C8CDD8"/>
                </a:solidFill>
                <a:latin typeface="Hiragino Sans" pitchFamily="34" charset="0"/>
                <a:ea typeface="Hiragino Sans" pitchFamily="34" charset="-122"/>
                <a:cs typeface="Hiragino Sans" pitchFamily="34" charset="-120"/>
              </a:rPr>
              <a:t>実系統地図の上で再生する。</a:t>
            </a:r>
            <a:endParaRPr lang="en-US" sz="1300" dirty="0"/>
          </a:p>
        </p:txBody>
      </p:sp>
      <p:sp>
        <p:nvSpPr>
          <p:cNvPr id="5" name="Text 2"/>
          <p:cNvSpPr/>
          <p:nvPr/>
        </p:nvSpPr>
        <p:spPr>
          <a:xfrm>
            <a:off x="521208" y="2286000"/>
            <a:ext cx="1463040" cy="274320"/>
          </a:xfrm>
          <a:prstGeom prst="rect">
            <a:avLst/>
          </a:prstGeom>
          <a:noFill/>
          <a:ln/>
        </p:spPr>
        <p:txBody>
          <a:bodyPr wrap="square" lIns="0" tIns="0" rIns="0" bIns="0" rtlCol="0" anchor="ctr"/>
          <a:lstStyle/>
          <a:p>
            <a:pPr indent="0" marL="0">
              <a:buNone/>
            </a:pPr>
            <a:r>
              <a:rPr lang="en-US" sz="1150" b="1" dirty="0">
                <a:solidFill>
                  <a:srgbClr val="FFFFFF"/>
                </a:solidFill>
                <a:latin typeface="Hiragino Sans" pitchFamily="34" charset="0"/>
                <a:ea typeface="Hiragino Sans" pitchFamily="34" charset="-122"/>
                <a:cs typeface="Hiragino Sans" pitchFamily="34" charset="-120"/>
              </a:rPr>
              <a:t>線の色</a:t>
            </a:r>
            <a:endParaRPr lang="en-US" sz="1150" dirty="0"/>
          </a:p>
        </p:txBody>
      </p:sp>
      <p:sp>
        <p:nvSpPr>
          <p:cNvPr id="6" name="Text 3"/>
          <p:cNvSpPr/>
          <p:nvPr/>
        </p:nvSpPr>
        <p:spPr>
          <a:xfrm>
            <a:off x="521208" y="2542032"/>
            <a:ext cx="2697480" cy="274320"/>
          </a:xfrm>
          <a:prstGeom prst="rect">
            <a:avLst/>
          </a:prstGeom>
          <a:noFill/>
          <a:ln/>
        </p:spPr>
        <p:txBody>
          <a:bodyPr wrap="square" lIns="0" tIns="0" rIns="0" bIns="0" rtlCol="0" anchor="ctr"/>
          <a:lstStyle/>
          <a:p>
            <a:pPr indent="0" marL="0">
              <a:buNone/>
            </a:pPr>
            <a:r>
              <a:rPr lang="en-US" sz="1050" dirty="0">
                <a:solidFill>
                  <a:srgbClr val="8E96B8"/>
                </a:solidFill>
                <a:latin typeface="Hiragino Sans" pitchFamily="34" charset="0"/>
                <a:ea typeface="Hiragino Sans" pitchFamily="34" charset="-122"/>
                <a:cs typeface="Hiragino Sans" pitchFamily="34" charset="-120"/>
              </a:rPr>
              <a:t>周波数(青白50Hz → 深赤47.5Hz)</a:t>
            </a:r>
            <a:endParaRPr lang="en-US" sz="1050" dirty="0"/>
          </a:p>
        </p:txBody>
      </p:sp>
      <p:sp>
        <p:nvSpPr>
          <p:cNvPr id="7" name="Text 4"/>
          <p:cNvSpPr/>
          <p:nvPr/>
        </p:nvSpPr>
        <p:spPr>
          <a:xfrm>
            <a:off x="521208" y="2852928"/>
            <a:ext cx="1463040" cy="274320"/>
          </a:xfrm>
          <a:prstGeom prst="rect">
            <a:avLst/>
          </a:prstGeom>
          <a:noFill/>
          <a:ln/>
        </p:spPr>
        <p:txBody>
          <a:bodyPr wrap="square" lIns="0" tIns="0" rIns="0" bIns="0" rtlCol="0" anchor="ctr"/>
          <a:lstStyle/>
          <a:p>
            <a:pPr indent="0" marL="0">
              <a:buNone/>
            </a:pPr>
            <a:r>
              <a:rPr lang="en-US" sz="1150" b="1" dirty="0">
                <a:solidFill>
                  <a:srgbClr val="FFFFFF"/>
                </a:solidFill>
                <a:latin typeface="Hiragino Sans" pitchFamily="34" charset="0"/>
                <a:ea typeface="Hiragino Sans" pitchFamily="34" charset="-122"/>
                <a:cs typeface="Hiragino Sans" pitchFamily="34" charset="-120"/>
              </a:rPr>
              <a:t>✕</a:t>
            </a:r>
            <a:endParaRPr lang="en-US" sz="1150" dirty="0"/>
          </a:p>
        </p:txBody>
      </p:sp>
      <p:sp>
        <p:nvSpPr>
          <p:cNvPr id="8" name="Text 5"/>
          <p:cNvSpPr/>
          <p:nvPr/>
        </p:nvSpPr>
        <p:spPr>
          <a:xfrm>
            <a:off x="521208" y="3108960"/>
            <a:ext cx="2697480" cy="274320"/>
          </a:xfrm>
          <a:prstGeom prst="rect">
            <a:avLst/>
          </a:prstGeom>
          <a:noFill/>
          <a:ln/>
        </p:spPr>
        <p:txBody>
          <a:bodyPr wrap="square" lIns="0" tIns="0" rIns="0" bIns="0" rtlCol="0" anchor="ctr"/>
          <a:lstStyle/>
          <a:p>
            <a:pPr indent="0" marL="0">
              <a:buNone/>
            </a:pPr>
            <a:r>
              <a:rPr lang="en-US" sz="1050" dirty="0">
                <a:solidFill>
                  <a:srgbClr val="8E96B8"/>
                </a:solidFill>
                <a:latin typeface="Hiragino Sans" pitchFamily="34" charset="0"/>
                <a:ea typeface="Hiragino Sans" pitchFamily="34" charset="-122"/>
                <a:cs typeface="Hiragino Sans" pitchFamily="34" charset="-120"/>
              </a:rPr>
              <a:t>落ちた発電所(実座標)</a:t>
            </a:r>
            <a:endParaRPr lang="en-US" sz="1050" dirty="0"/>
          </a:p>
        </p:txBody>
      </p:sp>
      <p:sp>
        <p:nvSpPr>
          <p:cNvPr id="9" name="Text 6"/>
          <p:cNvSpPr/>
          <p:nvPr/>
        </p:nvSpPr>
        <p:spPr>
          <a:xfrm>
            <a:off x="521208" y="3419856"/>
            <a:ext cx="1463040" cy="274320"/>
          </a:xfrm>
          <a:prstGeom prst="rect">
            <a:avLst/>
          </a:prstGeom>
          <a:noFill/>
          <a:ln/>
        </p:spPr>
        <p:txBody>
          <a:bodyPr wrap="square" lIns="0" tIns="0" rIns="0" bIns="0" rtlCol="0" anchor="ctr"/>
          <a:lstStyle/>
          <a:p>
            <a:pPr indent="0" marL="0">
              <a:buNone/>
            </a:pPr>
            <a:r>
              <a:rPr lang="en-US" sz="1150" b="1" dirty="0">
                <a:solidFill>
                  <a:srgbClr val="FFFFFF"/>
                </a:solidFill>
                <a:latin typeface="Hiragino Sans" pitchFamily="34" charset="0"/>
                <a:ea typeface="Hiragino Sans" pitchFamily="34" charset="-122"/>
                <a:cs typeface="Hiragino Sans" pitchFamily="34" charset="-120"/>
              </a:rPr>
              <a:t>消える白点</a:t>
            </a:r>
            <a:endParaRPr lang="en-US" sz="1150" dirty="0"/>
          </a:p>
        </p:txBody>
      </p:sp>
      <p:sp>
        <p:nvSpPr>
          <p:cNvPr id="10" name="Text 7"/>
          <p:cNvSpPr/>
          <p:nvPr/>
        </p:nvSpPr>
        <p:spPr>
          <a:xfrm>
            <a:off x="521208" y="3675888"/>
            <a:ext cx="2697480" cy="274320"/>
          </a:xfrm>
          <a:prstGeom prst="rect">
            <a:avLst/>
          </a:prstGeom>
          <a:noFill/>
          <a:ln/>
        </p:spPr>
        <p:txBody>
          <a:bodyPr wrap="square" lIns="0" tIns="0" rIns="0" bIns="0" rtlCol="0" anchor="ctr"/>
          <a:lstStyle/>
          <a:p>
            <a:pPr indent="0" marL="0">
              <a:buNone/>
            </a:pPr>
            <a:r>
              <a:rPr lang="en-US" sz="1050" dirty="0">
                <a:solidFill>
                  <a:srgbClr val="8E96B8"/>
                </a:solidFill>
                <a:latin typeface="Hiragino Sans" pitchFamily="34" charset="0"/>
                <a:ea typeface="Hiragino Sans" pitchFamily="34" charset="-122"/>
                <a:cs typeface="Hiragino Sans" pitchFamily="34" charset="-120"/>
              </a:rPr>
              <a:t>UFLSで遮断された変電所ぶん</a:t>
            </a:r>
            <a:endParaRPr lang="en-US" sz="1050" dirty="0"/>
          </a:p>
        </p:txBody>
      </p:sp>
      <p:sp>
        <p:nvSpPr>
          <p:cNvPr id="11" name="Text 8"/>
          <p:cNvSpPr/>
          <p:nvPr/>
        </p:nvSpPr>
        <p:spPr>
          <a:xfrm>
            <a:off x="521208" y="3986784"/>
            <a:ext cx="1463040" cy="274320"/>
          </a:xfrm>
          <a:prstGeom prst="rect">
            <a:avLst/>
          </a:prstGeom>
          <a:noFill/>
          <a:ln/>
        </p:spPr>
        <p:txBody>
          <a:bodyPr wrap="square" lIns="0" tIns="0" rIns="0" bIns="0" rtlCol="0" anchor="ctr"/>
          <a:lstStyle/>
          <a:p>
            <a:pPr indent="0" marL="0">
              <a:buNone/>
            </a:pPr>
            <a:r>
              <a:rPr lang="en-US" sz="1150" b="1" dirty="0">
                <a:solidFill>
                  <a:srgbClr val="FFFFFF"/>
                </a:solidFill>
                <a:latin typeface="Hiragino Sans" pitchFamily="34" charset="0"/>
                <a:ea typeface="Hiragino Sans" pitchFamily="34" charset="-122"/>
                <a:cs typeface="Hiragino Sans" pitchFamily="34" charset="-120"/>
              </a:rPr>
              <a:t>時間軸</a:t>
            </a:r>
            <a:endParaRPr lang="en-US" sz="1150" dirty="0"/>
          </a:p>
        </p:txBody>
      </p:sp>
      <p:sp>
        <p:nvSpPr>
          <p:cNvPr id="12" name="Text 9"/>
          <p:cNvSpPr/>
          <p:nvPr/>
        </p:nvSpPr>
        <p:spPr>
          <a:xfrm>
            <a:off x="521208" y="4242816"/>
            <a:ext cx="2697480" cy="274320"/>
          </a:xfrm>
          <a:prstGeom prst="rect">
            <a:avLst/>
          </a:prstGeom>
          <a:noFill/>
          <a:ln/>
        </p:spPr>
        <p:txBody>
          <a:bodyPr wrap="square" lIns="0" tIns="0" rIns="0" bIns="0" rtlCol="0" anchor="ctr"/>
          <a:lstStyle/>
          <a:p>
            <a:pPr indent="0" marL="0">
              <a:buNone/>
            </a:pPr>
            <a:r>
              <a:rPr lang="en-US" sz="1050" dirty="0">
                <a:solidFill>
                  <a:srgbClr val="8E96B8"/>
                </a:solidFill>
                <a:latin typeface="Hiragino Sans" pitchFamily="34" charset="0"/>
                <a:ea typeface="Hiragino Sans" pitchFamily="34" charset="-122"/>
                <a:cs typeface="Hiragino Sans" pitchFamily="34" charset="-120"/>
              </a:rPr>
              <a:t>直後スロー→復帰タイムラプス</a:t>
            </a:r>
            <a:endParaRPr lang="en-US" sz="1050" dirty="0"/>
          </a:p>
        </p:txBody>
      </p:sp>
      <p:sp>
        <p:nvSpPr>
          <p:cNvPr id="13" name="Text 10"/>
          <p:cNvSpPr/>
          <p:nvPr/>
        </p:nvSpPr>
        <p:spPr>
          <a:xfrm>
            <a:off x="521208" y="4846320"/>
            <a:ext cx="2697480" cy="914400"/>
          </a:xfrm>
          <a:prstGeom prst="rect">
            <a:avLst/>
          </a:prstGeom>
          <a:noFill/>
          <a:ln/>
        </p:spPr>
        <p:txBody>
          <a:bodyPr wrap="square" lIns="0" tIns="0" rIns="0" bIns="0" rtlCol="0" anchor="ctr"/>
          <a:lstStyle/>
          <a:p>
            <a:pPr indent="0" marL="0">
              <a:lnSpc>
                <a:spcPts val="1400"/>
              </a:lnSpc>
              <a:buNone/>
            </a:pPr>
            <a:r>
              <a:rPr lang="en-US" sz="1000" dirty="0">
                <a:solidFill>
                  <a:srgbClr val="5A648F"/>
                </a:solidFill>
                <a:latin typeface="Hiragino Sans" pitchFamily="34" charset="0"/>
                <a:ea typeface="Hiragino Sans" pitchFamily="34" charset="-122"/>
                <a:cs typeface="Hiragino Sans" pitchFamily="34" charset="-120"/>
              </a:rPr>
              <a:t>遮断量はシミュレーション実値。</a:t>
            </a:r>
            <a:endParaRPr lang="en-US" sz="1000" dirty="0"/>
          </a:p>
          <a:p>
            <a:pPr indent="0" marL="0">
              <a:lnSpc>
                <a:spcPts val="1400"/>
              </a:lnSpc>
              <a:buNone/>
            </a:pPr>
            <a:r>
              <a:rPr lang="en-US" sz="1000" dirty="0">
                <a:solidFill>
                  <a:srgbClr val="5A648F"/>
                </a:solidFill>
                <a:latin typeface="Hiragino Sans" pitchFamily="34" charset="0"/>
                <a:ea typeface="Hiragino Sans" pitchFamily="34" charset="-122"/>
                <a:cs typeface="Hiragino Sans" pitchFamily="34" charset="-120"/>
              </a:rPr>
              <a:t>どの変電所を切るかは非公開のため</a:t>
            </a:r>
            <a:endParaRPr lang="en-US" sz="1000" dirty="0"/>
          </a:p>
          <a:p>
            <a:pPr indent="0" marL="0">
              <a:lnSpc>
                <a:spcPts val="1400"/>
              </a:lnSpc>
              <a:buNone/>
            </a:pPr>
            <a:r>
              <a:rPr lang="en-US" sz="1000" dirty="0">
                <a:solidFill>
                  <a:srgbClr val="5A648F"/>
                </a:solidFill>
                <a:latin typeface="Hiragino Sans" pitchFamily="34" charset="0"/>
                <a:ea typeface="Hiragino Sans" pitchFamily="34" charset="-122"/>
                <a:cs typeface="Hiragino Sans" pitchFamily="34" charset="-120"/>
              </a:rPr>
              <a:t>消灯箇所は演出(画面内にも明記)。</a:t>
            </a:r>
            <a:endParaRPr lang="en-US" sz="1000" dirty="0"/>
          </a:p>
        </p:txBody>
      </p:sp>
      <p:sp>
        <p:nvSpPr>
          <p:cNvPr id="14" name="Text 11"/>
          <p:cNvSpPr/>
          <p:nvPr/>
        </p:nvSpPr>
        <p:spPr>
          <a:xfrm>
            <a:off x="521208" y="6035040"/>
            <a:ext cx="2651760" cy="274320"/>
          </a:xfrm>
          <a:prstGeom prst="rect">
            <a:avLst/>
          </a:prstGeom>
          <a:noFill/>
          <a:ln/>
        </p:spPr>
        <p:txBody>
          <a:bodyPr wrap="square" lIns="0" tIns="0" rIns="0" bIns="0" rtlCol="0" anchor="ctr"/>
          <a:lstStyle/>
          <a:p>
            <a:pPr indent="0" marL="0">
              <a:buNone/>
            </a:pPr>
            <a:r>
              <a:rPr lang="en-US" sz="1000" i="1" dirty="0">
                <a:solidFill>
                  <a:srgbClr val="8E96B8"/>
                </a:solidFill>
                <a:latin typeface="Hiragino Sans" pitchFamily="34" charset="0"/>
                <a:ea typeface="Hiragino Sans" pitchFamily="34" charset="-122"/>
                <a:cs typeface="Hiragino Sans" pitchFamily="34" charset="-120"/>
              </a:rPr>
              <a:t>スライドショー再生で動きます(GIF)</a:t>
            </a:r>
            <a:endParaRPr lang="en-US" sz="1000" dirty="0"/>
          </a:p>
        </p:txBody>
      </p:sp>
      <p:sp>
        <p:nvSpPr>
          <p:cNvPr id="15" name="Text 12"/>
          <p:cNvSpPr/>
          <p:nvPr/>
        </p:nvSpPr>
        <p:spPr>
          <a:xfrm>
            <a:off x="640080" y="6510528"/>
            <a:ext cx="5486400" cy="256032"/>
          </a:xfrm>
          <a:prstGeom prst="rect">
            <a:avLst/>
          </a:prstGeom>
          <a:noFill/>
          <a:ln/>
        </p:spPr>
        <p:txBody>
          <a:bodyPr wrap="square" lIns="0" tIns="0" rIns="0" bIns="0" rtlCol="0" anchor="ctr"/>
          <a:lstStyle/>
          <a:p>
            <a:pPr indent="0" marL="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16" name="Text 13"/>
          <p:cNvSpPr/>
          <p:nvPr/>
        </p:nvSpPr>
        <p:spPr>
          <a:xfrm>
            <a:off x="9692640" y="6510528"/>
            <a:ext cx="1463040" cy="256032"/>
          </a:xfrm>
          <a:prstGeom prst="rect">
            <a:avLst/>
          </a:prstGeom>
          <a:noFill/>
          <a:ln/>
        </p:spPr>
        <p:txBody>
          <a:bodyPr wrap="square" lIns="0" tIns="0" rIns="0" bIns="0" rtlCol="0" anchor="ctr"/>
          <a:lstStyle/>
          <a:p>
            <a:pPr algn="r" indent="0" marL="0">
              <a:buNone/>
            </a:pPr>
            <a:r>
              <a:rPr lang="en-US" sz="900" dirty="0">
                <a:solidFill>
                  <a:srgbClr val="55555F"/>
                </a:solidFill>
                <a:latin typeface="Helvetica Neue" pitchFamily="34" charset="0"/>
                <a:ea typeface="Helvetica Neue" pitchFamily="34" charset="-122"/>
                <a:cs typeface="Helvetica Neue" pitchFamily="34" charset="-120"/>
              </a:rPr>
              <a:t>1:00</a:t>
            </a:r>
            <a:endParaRPr lang="en-US" sz="900" dirty="0"/>
          </a:p>
        </p:txBody>
      </p:sp>
      <p:sp>
        <p:nvSpPr>
          <p:cNvPr id="17" name="Text 14"/>
          <p:cNvSpPr/>
          <p:nvPr/>
        </p:nvSpPr>
        <p:spPr>
          <a:xfrm>
            <a:off x="11338560" y="6510528"/>
            <a:ext cx="457200" cy="256032"/>
          </a:xfrm>
          <a:prstGeom prst="rect">
            <a:avLst/>
          </a:prstGeom>
          <a:noFill/>
          <a:ln/>
        </p:spPr>
        <p:txBody>
          <a:bodyPr wrap="square" lIns="0" tIns="0" rIns="0" bIns="0" rtlCol="0" anchor="ctr"/>
          <a:lstStyle/>
          <a:p>
            <a:pPr algn="r" indent="0" marL="0">
              <a:buNone/>
            </a:pPr>
            <a:r>
              <a:rPr lang="en-US" sz="1000" dirty="0">
                <a:solidFill>
                  <a:srgbClr val="55555F"/>
                </a:solidFill>
                <a:latin typeface="Helvetica Neue" pitchFamily="34" charset="0"/>
                <a:ea typeface="Helvetica Neue" pitchFamily="34" charset="-122"/>
                <a:cs typeface="Helvetica Neue"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1E2761"/>
          </a:solidFill>
          <a:ln/>
        </p:spPr>
      </p:sp>
      <p:sp>
        <p:nvSpPr>
          <p:cNvPr id="3" name="Text 1"/>
          <p:cNvSpPr/>
          <p:nvPr/>
        </p:nvSpPr>
        <p:spPr>
          <a:xfrm>
            <a:off x="621792" y="347472"/>
            <a:ext cx="19202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Hiragino Sans" pitchFamily="34" charset="0"/>
                <a:ea typeface="Hiragino Sans" pitchFamily="34" charset="-122"/>
                <a:cs typeface="Hiragino Sans" pitchFamily="34" charset="-120"/>
              </a:rPr>
              <a:t>現在</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indent="0" marL="0">
              <a:buNone/>
            </a:pPr>
            <a:r>
              <a:rPr lang="en-US" sz="2100" b="1" dirty="0">
                <a:solidFill>
                  <a:srgbClr val="1A1A1A"/>
                </a:solidFill>
                <a:latin typeface="Hiragino Sans" pitchFamily="34" charset="0"/>
                <a:ea typeface="Hiragino Sans" pitchFamily="34" charset="-122"/>
                <a:cs typeface="Hiragino Sans" pitchFamily="34" charset="-120"/>
              </a:rPr>
              <a:t>いまの姿：1コマンドで再生成できる5層スタック</a:t>
            </a:r>
            <a:endParaRPr lang="en-US" sz="2100" dirty="0"/>
          </a:p>
        </p:txBody>
      </p:sp>
      <p:sp>
        <p:nvSpPr>
          <p:cNvPr id="5" name="Shape 3"/>
          <p:cNvSpPr/>
          <p:nvPr/>
        </p:nvSpPr>
        <p:spPr>
          <a:xfrm>
            <a:off x="822960" y="1188720"/>
            <a:ext cx="8229600" cy="786384"/>
          </a:xfrm>
          <a:prstGeom prst="roundRect">
            <a:avLst>
              <a:gd name="adj" fmla="val 6977"/>
            </a:avLst>
          </a:prstGeom>
          <a:solidFill>
            <a:srgbClr val="F4F4F6"/>
          </a:solidFill>
          <a:ln/>
        </p:spPr>
      </p:sp>
      <p:sp>
        <p:nvSpPr>
          <p:cNvPr id="6" name="Shape 4"/>
          <p:cNvSpPr/>
          <p:nvPr/>
        </p:nvSpPr>
        <p:spPr>
          <a:xfrm>
            <a:off x="822960" y="1188720"/>
            <a:ext cx="128016" cy="786384"/>
          </a:xfrm>
          <a:prstGeom prst="rect">
            <a:avLst/>
          </a:prstGeom>
          <a:solidFill>
            <a:srgbClr val="D62728"/>
          </a:solidFill>
          <a:ln/>
        </p:spPr>
      </p:sp>
      <p:sp>
        <p:nvSpPr>
          <p:cNvPr id="7" name="Text 5"/>
          <p:cNvSpPr/>
          <p:nvPr/>
        </p:nvSpPr>
        <p:spPr>
          <a:xfrm>
            <a:off x="1143000" y="1188720"/>
            <a:ext cx="1600200" cy="786384"/>
          </a:xfrm>
          <a:prstGeom prst="rect">
            <a:avLst/>
          </a:prstGeom>
          <a:noFill/>
          <a:ln/>
        </p:spPr>
        <p:txBody>
          <a:bodyPr wrap="square" lIns="0" tIns="0" rIns="0" bIns="0" rtlCol="0" anchor="ctr"/>
          <a:lstStyle/>
          <a:p>
            <a:pPr indent="0" marL="0">
              <a:buNone/>
            </a:pPr>
            <a:r>
              <a:rPr lang="en-US" sz="1250" b="1" dirty="0">
                <a:solidFill>
                  <a:srgbClr val="1A1A1A"/>
                </a:solidFill>
                <a:latin typeface="Hiragino Sans" pitchFamily="34" charset="0"/>
                <a:ea typeface="Hiragino Sans" pitchFamily="34" charset="-122"/>
                <a:cs typeface="Hiragino Sans" pitchFamily="34" charset="-120"/>
              </a:rPr>
              <a:t>観測・UI</a:t>
            </a:r>
            <a:endParaRPr lang="en-US" sz="1250" dirty="0"/>
          </a:p>
        </p:txBody>
      </p:sp>
      <p:sp>
        <p:nvSpPr>
          <p:cNvPr id="8" name="Text 6"/>
          <p:cNvSpPr/>
          <p:nvPr/>
        </p:nvSpPr>
        <p:spPr>
          <a:xfrm>
            <a:off x="2834640" y="1188720"/>
            <a:ext cx="6126480" cy="786384"/>
          </a:xfrm>
          <a:prstGeom prst="rect">
            <a:avLst/>
          </a:prstGeom>
          <a:noFill/>
          <a:ln/>
        </p:spPr>
        <p:txBody>
          <a:bodyPr wrap="square" lIns="0" tIns="0" rIns="0" bIns="0" rtlCol="0" anchor="ctr"/>
          <a:lstStyle/>
          <a:p>
            <a:pPr indent="0" marL="0">
              <a:lnSpc>
                <a:spcPts val="1500"/>
              </a:lnSpc>
              <a:buNone/>
            </a:pPr>
            <a:r>
              <a:rPr lang="en-US" sz="1100" dirty="0">
                <a:solidFill>
                  <a:srgbClr val="55555F"/>
                </a:solidFill>
                <a:latin typeface="Hiragino Sans" pitchFamily="34" charset="0"/>
                <a:ea typeface="Hiragino Sans" pitchFamily="34" charset="-122"/>
                <a:cs typeface="Hiragino Sans" pitchFamily="34" charset="-120"/>
              </a:rPr>
              <a:t>Pages: flow map（毎時更新）/ SubSLDビューア / エディタ / ダウンロード</a:t>
            </a:r>
            <a:endParaRPr lang="en-US" sz="1100" dirty="0"/>
          </a:p>
        </p:txBody>
      </p:sp>
      <p:sp>
        <p:nvSpPr>
          <p:cNvPr id="9" name="Shape 7"/>
          <p:cNvSpPr/>
          <p:nvPr/>
        </p:nvSpPr>
        <p:spPr>
          <a:xfrm>
            <a:off x="822960" y="2084832"/>
            <a:ext cx="8229600" cy="786384"/>
          </a:xfrm>
          <a:prstGeom prst="roundRect">
            <a:avLst>
              <a:gd name="adj" fmla="val 6977"/>
            </a:avLst>
          </a:prstGeom>
          <a:solidFill>
            <a:srgbClr val="F4F4F6"/>
          </a:solidFill>
          <a:ln/>
        </p:spPr>
      </p:sp>
      <p:sp>
        <p:nvSpPr>
          <p:cNvPr id="10" name="Shape 8"/>
          <p:cNvSpPr/>
          <p:nvPr/>
        </p:nvSpPr>
        <p:spPr>
          <a:xfrm>
            <a:off x="822960" y="2084832"/>
            <a:ext cx="128016" cy="786384"/>
          </a:xfrm>
          <a:prstGeom prst="rect">
            <a:avLst/>
          </a:prstGeom>
          <a:solidFill>
            <a:srgbClr val="FF7F0E"/>
          </a:solidFill>
          <a:ln/>
        </p:spPr>
      </p:sp>
      <p:sp>
        <p:nvSpPr>
          <p:cNvPr id="11" name="Text 9"/>
          <p:cNvSpPr/>
          <p:nvPr/>
        </p:nvSpPr>
        <p:spPr>
          <a:xfrm>
            <a:off x="1143000" y="2084832"/>
            <a:ext cx="1600200" cy="786384"/>
          </a:xfrm>
          <a:prstGeom prst="rect">
            <a:avLst/>
          </a:prstGeom>
          <a:noFill/>
          <a:ln/>
        </p:spPr>
        <p:txBody>
          <a:bodyPr wrap="square" lIns="0" tIns="0" rIns="0" bIns="0" rtlCol="0" anchor="ctr"/>
          <a:lstStyle/>
          <a:p>
            <a:pPr indent="0" marL="0">
              <a:buNone/>
            </a:pPr>
            <a:r>
              <a:rPr lang="en-US" sz="1250" b="1" dirty="0">
                <a:solidFill>
                  <a:srgbClr val="1A1A1A"/>
                </a:solidFill>
                <a:latin typeface="Hiragino Sans" pitchFamily="34" charset="0"/>
                <a:ea typeface="Hiragino Sans" pitchFamily="34" charset="-122"/>
                <a:cs typeface="Hiragino Sans" pitchFamily="34" charset="-120"/>
              </a:rPr>
              <a:t>標準出力</a:t>
            </a:r>
            <a:endParaRPr lang="en-US" sz="1250" dirty="0"/>
          </a:p>
        </p:txBody>
      </p:sp>
      <p:sp>
        <p:nvSpPr>
          <p:cNvPr id="12" name="Text 10"/>
          <p:cNvSpPr/>
          <p:nvPr/>
        </p:nvSpPr>
        <p:spPr>
          <a:xfrm>
            <a:off x="2834640" y="2084832"/>
            <a:ext cx="6126480" cy="786384"/>
          </a:xfrm>
          <a:prstGeom prst="rect">
            <a:avLst/>
          </a:prstGeom>
          <a:noFill/>
          <a:ln/>
        </p:spPr>
        <p:txBody>
          <a:bodyPr wrap="square" lIns="0" tIns="0" rIns="0" bIns="0" rtlCol="0" anchor="ctr"/>
          <a:lstStyle/>
          <a:p>
            <a:pPr indent="0" marL="0">
              <a:lnSpc>
                <a:spcPts val="1500"/>
              </a:lnSpc>
              <a:buNone/>
            </a:pPr>
            <a:r>
              <a:rPr lang="en-US" sz="1100" dirty="0">
                <a:solidFill>
                  <a:srgbClr val="55555F"/>
                </a:solidFill>
                <a:latin typeface="Hiragino Sans" pitchFamily="34" charset="0"/>
                <a:ea typeface="Hiragino Sans" pitchFamily="34" charset="-122"/>
                <a:cs typeface="Hiragino Sans" pitchFamily="34" charset="-120"/>
              </a:rPr>
              <a:t>CIM/CGMES EQ+GL＋Level-2（node-breaker層込み）/ MATPOWER / GeoJSON / Ybus</a:t>
            </a:r>
            <a:endParaRPr lang="en-US" sz="1100" dirty="0"/>
          </a:p>
        </p:txBody>
      </p:sp>
      <p:sp>
        <p:nvSpPr>
          <p:cNvPr id="13" name="Shape 11"/>
          <p:cNvSpPr/>
          <p:nvPr/>
        </p:nvSpPr>
        <p:spPr>
          <a:xfrm>
            <a:off x="822960" y="2980944"/>
            <a:ext cx="8229600" cy="786384"/>
          </a:xfrm>
          <a:prstGeom prst="roundRect">
            <a:avLst>
              <a:gd name="adj" fmla="val 6977"/>
            </a:avLst>
          </a:prstGeom>
          <a:solidFill>
            <a:srgbClr val="F4F4F6"/>
          </a:solidFill>
          <a:ln/>
        </p:spPr>
      </p:sp>
      <p:sp>
        <p:nvSpPr>
          <p:cNvPr id="14" name="Shape 12"/>
          <p:cNvSpPr/>
          <p:nvPr/>
        </p:nvSpPr>
        <p:spPr>
          <a:xfrm>
            <a:off x="822960" y="2980944"/>
            <a:ext cx="128016" cy="786384"/>
          </a:xfrm>
          <a:prstGeom prst="rect">
            <a:avLst/>
          </a:prstGeom>
          <a:solidFill>
            <a:srgbClr val="9467BD"/>
          </a:solidFill>
          <a:ln/>
        </p:spPr>
      </p:sp>
      <p:sp>
        <p:nvSpPr>
          <p:cNvPr id="15" name="Text 13"/>
          <p:cNvSpPr/>
          <p:nvPr/>
        </p:nvSpPr>
        <p:spPr>
          <a:xfrm>
            <a:off x="1143000" y="2980944"/>
            <a:ext cx="1600200" cy="786384"/>
          </a:xfrm>
          <a:prstGeom prst="rect">
            <a:avLst/>
          </a:prstGeom>
          <a:noFill/>
          <a:ln/>
        </p:spPr>
        <p:txBody>
          <a:bodyPr wrap="square" lIns="0" tIns="0" rIns="0" bIns="0" rtlCol="0" anchor="ctr"/>
          <a:lstStyle/>
          <a:p>
            <a:pPr indent="0" marL="0">
              <a:buNone/>
            </a:pPr>
            <a:r>
              <a:rPr lang="en-US" sz="1250" b="1" dirty="0">
                <a:solidFill>
                  <a:srgbClr val="1A1A1A"/>
                </a:solidFill>
                <a:latin typeface="Hiragino Sans" pitchFamily="34" charset="0"/>
                <a:ea typeface="Hiragino Sans" pitchFamily="34" charset="-122"/>
                <a:cs typeface="Hiragino Sans" pitchFamily="34" charset="-120"/>
              </a:rPr>
              <a:t>モデル</a:t>
            </a:r>
            <a:endParaRPr lang="en-US" sz="1250" dirty="0"/>
          </a:p>
        </p:txBody>
      </p:sp>
      <p:sp>
        <p:nvSpPr>
          <p:cNvPr id="16" name="Text 14"/>
          <p:cNvSpPr/>
          <p:nvPr/>
        </p:nvSpPr>
        <p:spPr>
          <a:xfrm>
            <a:off x="2834640" y="2980944"/>
            <a:ext cx="6126480" cy="786384"/>
          </a:xfrm>
          <a:prstGeom prst="rect">
            <a:avLst/>
          </a:prstGeom>
          <a:noFill/>
          <a:ln/>
        </p:spPr>
        <p:txBody>
          <a:bodyPr wrap="square" lIns="0" tIns="0" rIns="0" bIns="0" rtlCol="0" anchor="ctr"/>
          <a:lstStyle/>
          <a:p>
            <a:pPr indent="0" marL="0">
              <a:lnSpc>
                <a:spcPts val="1500"/>
              </a:lnSpc>
              <a:buNone/>
            </a:pPr>
            <a:r>
              <a:rPr lang="en-US" sz="1100" dirty="0">
                <a:solidFill>
                  <a:srgbClr val="55555F"/>
                </a:solidFill>
                <a:latin typeface="Hiragino Sans" pitchFamily="34" charset="0"/>
                <a:ea typeface="Hiragino Sans" pitchFamily="34" charset="-122"/>
                <a:cs typeface="Hiragino Sans" pitchFamily="34" charset="-120"/>
              </a:rPr>
              <a:t>built canon（介入台帳つき）/ 全国UC / 島別PF / AGC連鎖 / 変電所構造DB</a:t>
            </a:r>
            <a:endParaRPr lang="en-US" sz="1100" dirty="0"/>
          </a:p>
        </p:txBody>
      </p:sp>
      <p:sp>
        <p:nvSpPr>
          <p:cNvPr id="17" name="Shape 15"/>
          <p:cNvSpPr/>
          <p:nvPr/>
        </p:nvSpPr>
        <p:spPr>
          <a:xfrm>
            <a:off x="822960" y="3877056"/>
            <a:ext cx="8229600" cy="786384"/>
          </a:xfrm>
          <a:prstGeom prst="roundRect">
            <a:avLst>
              <a:gd name="adj" fmla="val 6977"/>
            </a:avLst>
          </a:prstGeom>
          <a:solidFill>
            <a:srgbClr val="F4F4F6"/>
          </a:solidFill>
          <a:ln/>
        </p:spPr>
      </p:sp>
      <p:sp>
        <p:nvSpPr>
          <p:cNvPr id="18" name="Shape 16"/>
          <p:cNvSpPr/>
          <p:nvPr/>
        </p:nvSpPr>
        <p:spPr>
          <a:xfrm>
            <a:off x="822960" y="3877056"/>
            <a:ext cx="128016" cy="786384"/>
          </a:xfrm>
          <a:prstGeom prst="rect">
            <a:avLst/>
          </a:prstGeom>
          <a:solidFill>
            <a:srgbClr val="17BECF"/>
          </a:solidFill>
          <a:ln/>
        </p:spPr>
      </p:sp>
      <p:sp>
        <p:nvSpPr>
          <p:cNvPr id="19" name="Text 17"/>
          <p:cNvSpPr/>
          <p:nvPr/>
        </p:nvSpPr>
        <p:spPr>
          <a:xfrm>
            <a:off x="1143000" y="3877056"/>
            <a:ext cx="1600200" cy="786384"/>
          </a:xfrm>
          <a:prstGeom prst="rect">
            <a:avLst/>
          </a:prstGeom>
          <a:noFill/>
          <a:ln/>
        </p:spPr>
        <p:txBody>
          <a:bodyPr wrap="square" lIns="0" tIns="0" rIns="0" bIns="0" rtlCol="0" anchor="ctr"/>
          <a:lstStyle/>
          <a:p>
            <a:pPr indent="0" marL="0">
              <a:buNone/>
            </a:pPr>
            <a:r>
              <a:rPr lang="en-US" sz="1250" b="1" dirty="0">
                <a:solidFill>
                  <a:srgbClr val="1A1A1A"/>
                </a:solidFill>
                <a:latin typeface="Hiragino Sans" pitchFamily="34" charset="0"/>
                <a:ea typeface="Hiragino Sans" pitchFamily="34" charset="-122"/>
                <a:cs typeface="Hiragino Sans" pitchFamily="34" charset="-120"/>
              </a:rPr>
              <a:t>統一DB</a:t>
            </a:r>
            <a:endParaRPr lang="en-US" sz="1250" dirty="0"/>
          </a:p>
        </p:txBody>
      </p:sp>
      <p:sp>
        <p:nvSpPr>
          <p:cNvPr id="20" name="Text 18"/>
          <p:cNvSpPr/>
          <p:nvPr/>
        </p:nvSpPr>
        <p:spPr>
          <a:xfrm>
            <a:off x="2834640" y="3877056"/>
            <a:ext cx="6126480" cy="786384"/>
          </a:xfrm>
          <a:prstGeom prst="rect">
            <a:avLst/>
          </a:prstGeom>
          <a:noFill/>
          <a:ln/>
        </p:spPr>
        <p:txBody>
          <a:bodyPr wrap="square" lIns="0" tIns="0" rIns="0" bIns="0" rtlCol="0" anchor="ctr"/>
          <a:lstStyle/>
          <a:p>
            <a:pPr indent="0" marL="0">
              <a:lnSpc>
                <a:spcPts val="1500"/>
              </a:lnSpc>
              <a:buNone/>
            </a:pPr>
            <a:r>
              <a:rPr lang="en-US" sz="1100" dirty="0">
                <a:solidFill>
                  <a:srgbClr val="55555F"/>
                </a:solidFill>
                <a:latin typeface="Hiragino Sans" pitchFamily="34" charset="0"/>
                <a:ea typeface="Hiragino Sans" pitchFamily="34" charset="-122"/>
                <a:cs typeface="Hiragino Sans" pitchFamily="34" charset="-120"/>
              </a:rPr>
              <a:t>SQLite R/C/D 3層 — 生feature不変・キュレーション出所つき・導出は再生成可能</a:t>
            </a:r>
            <a:endParaRPr lang="en-US" sz="1100" dirty="0"/>
          </a:p>
        </p:txBody>
      </p:sp>
      <p:sp>
        <p:nvSpPr>
          <p:cNvPr id="21" name="Shape 19"/>
          <p:cNvSpPr/>
          <p:nvPr/>
        </p:nvSpPr>
        <p:spPr>
          <a:xfrm>
            <a:off x="822960" y="4773168"/>
            <a:ext cx="8229600" cy="786384"/>
          </a:xfrm>
          <a:prstGeom prst="roundRect">
            <a:avLst>
              <a:gd name="adj" fmla="val 6977"/>
            </a:avLst>
          </a:prstGeom>
          <a:solidFill>
            <a:srgbClr val="F4F4F6"/>
          </a:solidFill>
          <a:ln/>
        </p:spPr>
      </p:sp>
      <p:sp>
        <p:nvSpPr>
          <p:cNvPr id="22" name="Shape 20"/>
          <p:cNvSpPr/>
          <p:nvPr/>
        </p:nvSpPr>
        <p:spPr>
          <a:xfrm>
            <a:off x="822960" y="4773168"/>
            <a:ext cx="128016" cy="786384"/>
          </a:xfrm>
          <a:prstGeom prst="rect">
            <a:avLst/>
          </a:prstGeom>
          <a:solidFill>
            <a:srgbClr val="9A9AA6"/>
          </a:solidFill>
          <a:ln/>
        </p:spPr>
      </p:sp>
      <p:sp>
        <p:nvSpPr>
          <p:cNvPr id="23" name="Text 21"/>
          <p:cNvSpPr/>
          <p:nvPr/>
        </p:nvSpPr>
        <p:spPr>
          <a:xfrm>
            <a:off x="1143000" y="4773168"/>
            <a:ext cx="1600200" cy="786384"/>
          </a:xfrm>
          <a:prstGeom prst="rect">
            <a:avLst/>
          </a:prstGeom>
          <a:noFill/>
          <a:ln/>
        </p:spPr>
        <p:txBody>
          <a:bodyPr wrap="square" lIns="0" tIns="0" rIns="0" bIns="0" rtlCol="0" anchor="ctr"/>
          <a:lstStyle/>
          <a:p>
            <a:pPr indent="0" marL="0">
              <a:buNone/>
            </a:pPr>
            <a:r>
              <a:rPr lang="en-US" sz="1250" b="1" dirty="0">
                <a:solidFill>
                  <a:srgbClr val="1A1A1A"/>
                </a:solidFill>
                <a:latin typeface="Hiragino Sans" pitchFamily="34" charset="0"/>
                <a:ea typeface="Hiragino Sans" pitchFamily="34" charset="-122"/>
                <a:cs typeface="Hiragino Sans" pitchFamily="34" charset="-120"/>
              </a:rPr>
              <a:t>基底データ</a:t>
            </a:r>
            <a:endParaRPr lang="en-US" sz="1250" dirty="0"/>
          </a:p>
        </p:txBody>
      </p:sp>
      <p:sp>
        <p:nvSpPr>
          <p:cNvPr id="24" name="Text 22"/>
          <p:cNvSpPr/>
          <p:nvPr/>
        </p:nvSpPr>
        <p:spPr>
          <a:xfrm>
            <a:off x="2834640" y="4773168"/>
            <a:ext cx="6126480" cy="786384"/>
          </a:xfrm>
          <a:prstGeom prst="rect">
            <a:avLst/>
          </a:prstGeom>
          <a:noFill/>
          <a:ln/>
        </p:spPr>
        <p:txBody>
          <a:bodyPr wrap="square" lIns="0" tIns="0" rIns="0" bIns="0" rtlCol="0" anchor="ctr"/>
          <a:lstStyle/>
          <a:p>
            <a:pPr indent="0" marL="0">
              <a:lnSpc>
                <a:spcPts val="1500"/>
              </a:lnSpc>
              <a:buNone/>
            </a:pPr>
            <a:r>
              <a:rPr lang="en-US" sz="1100" dirty="0">
                <a:solidFill>
                  <a:srgbClr val="55555F"/>
                </a:solidFill>
                <a:latin typeface="Hiragino Sans" pitchFamily="34" charset="0"/>
                <a:ea typeface="Hiragino Sans" pitchFamily="34" charset="-122"/>
                <a:cs typeface="Hiragino Sans" pitchFamily="34" charset="-120"/>
              </a:rPr>
              <a:t>OSMスナップショット + 開示（様式5・OCCTO）+ 出典つき容量/銘板DB</a:t>
            </a:r>
            <a:endParaRPr lang="en-US" sz="1100" dirty="0"/>
          </a:p>
        </p:txBody>
      </p:sp>
      <p:sp>
        <p:nvSpPr>
          <p:cNvPr id="25" name="Shape 23"/>
          <p:cNvSpPr/>
          <p:nvPr/>
        </p:nvSpPr>
        <p:spPr>
          <a:xfrm>
            <a:off x="9326880" y="1188720"/>
            <a:ext cx="2103120" cy="4370832"/>
          </a:xfrm>
          <a:prstGeom prst="roundRect">
            <a:avLst>
              <a:gd name="adj" fmla="val 2609"/>
            </a:avLst>
          </a:prstGeom>
          <a:solidFill>
            <a:srgbClr val="F7F7F2"/>
          </a:solidFill>
          <a:ln/>
        </p:spPr>
      </p:sp>
      <p:sp>
        <p:nvSpPr>
          <p:cNvPr id="26" name="Text 24"/>
          <p:cNvSpPr/>
          <p:nvPr/>
        </p:nvSpPr>
        <p:spPr>
          <a:xfrm>
            <a:off x="9464040" y="1325880"/>
            <a:ext cx="1828800" cy="502920"/>
          </a:xfrm>
          <a:prstGeom prst="rect">
            <a:avLst/>
          </a:prstGeom>
          <a:noFill/>
          <a:ln/>
        </p:spPr>
        <p:txBody>
          <a:bodyPr wrap="square" lIns="0" tIns="0" rIns="0" bIns="0" rtlCol="0" anchor="ctr"/>
          <a:lstStyle/>
          <a:p>
            <a:pPr indent="0" marL="0">
              <a:buNone/>
            </a:pPr>
            <a:r>
              <a:rPr lang="en-US" sz="1100" b="1" dirty="0">
                <a:solidFill>
                  <a:srgbClr val="1A1A1A"/>
                </a:solidFill>
                <a:latin typeface="Courier New" pitchFamily="34" charset="0"/>
                <a:ea typeface="Courier New" pitchFamily="34" charset="-122"/>
                <a:cs typeface="Courier New" pitchFamily="34" charset="-120"/>
              </a:rPr>
              <a:t>regenerate_all.py</a:t>
            </a:r>
            <a:endParaRPr lang="en-US" sz="1100" dirty="0"/>
          </a:p>
        </p:txBody>
      </p:sp>
      <p:sp>
        <p:nvSpPr>
          <p:cNvPr id="27" name="Text 25"/>
          <p:cNvSpPr/>
          <p:nvPr/>
        </p:nvSpPr>
        <p:spPr>
          <a:xfrm>
            <a:off x="9464040" y="1828800"/>
            <a:ext cx="1828800" cy="1828800"/>
          </a:xfrm>
          <a:prstGeom prst="rect">
            <a:avLst/>
          </a:prstGeom>
          <a:noFill/>
          <a:ln/>
        </p:spPr>
        <p:txBody>
          <a:bodyPr wrap="square" lIns="0" tIns="0" rIns="0" bIns="0" rtlCol="0" anchor="ctr"/>
          <a:lstStyle/>
          <a:p>
            <a:pPr indent="0" marL="0">
              <a:lnSpc>
                <a:spcPts val="1400"/>
              </a:lnSpc>
              <a:buNone/>
            </a:pPr>
            <a:r>
              <a:rPr lang="en-US" sz="1000" dirty="0">
                <a:solidFill>
                  <a:srgbClr val="55555F"/>
                </a:solidFill>
                <a:latin typeface="Hiragino Sans" pitchFamily="34" charset="0"/>
                <a:ea typeface="Hiragino Sans" pitchFamily="34" charset="-122"/>
                <a:cs typeface="Hiragino Sans" pitchFamily="34" charset="-120"/>
              </a:rPr>
              <a:t>全層を1コマンドで順に再生成し、git HEAD と各段の生成時刻を MODEL_VERSION に刻印 — 鮮度ズレを可視化</a:t>
            </a:r>
            <a:endParaRPr lang="en-US" sz="1000" dirty="0"/>
          </a:p>
        </p:txBody>
      </p:sp>
      <p:pic>
        <p:nvPicPr>
          <p:cNvPr id="28" name="Image 0" descr="assets/qr_repo.png">    </p:cNvPr>
          <p:cNvPicPr>
            <a:picLocks noChangeAspect="1"/>
          </p:cNvPicPr>
          <p:nvPr/>
        </p:nvPicPr>
        <p:blipFill>
          <a:blip r:embed="rId1"/>
          <a:stretch>
            <a:fillRect/>
          </a:stretch>
        </p:blipFill>
        <p:spPr>
          <a:xfrm>
            <a:off x="9601200" y="3840480"/>
            <a:ext cx="731520" cy="731520"/>
          </a:xfrm>
          <a:prstGeom prst="rect">
            <a:avLst/>
          </a:prstGeom>
        </p:spPr>
      </p:pic>
      <p:pic>
        <p:nvPicPr>
          <p:cNvPr id="29" name="Image 1" descr="assets/qr_viewer.png">    </p:cNvPr>
          <p:cNvPicPr>
            <a:picLocks noChangeAspect="1"/>
          </p:cNvPicPr>
          <p:nvPr/>
        </p:nvPicPr>
        <p:blipFill>
          <a:blip r:embed="rId2"/>
          <a:stretch>
            <a:fillRect/>
          </a:stretch>
        </p:blipFill>
        <p:spPr>
          <a:xfrm>
            <a:off x="10515600" y="3840480"/>
            <a:ext cx="731520" cy="731520"/>
          </a:xfrm>
          <a:prstGeom prst="rect">
            <a:avLst/>
          </a:prstGeom>
        </p:spPr>
      </p:pic>
      <p:sp>
        <p:nvSpPr>
          <p:cNvPr id="30" name="Text 26"/>
          <p:cNvSpPr/>
          <p:nvPr/>
        </p:nvSpPr>
        <p:spPr>
          <a:xfrm>
            <a:off x="9509760" y="4617720"/>
            <a:ext cx="1828800" cy="228600"/>
          </a:xfrm>
          <a:prstGeom prst="rect">
            <a:avLst/>
          </a:prstGeom>
          <a:noFill/>
          <a:ln/>
        </p:spPr>
        <p:txBody>
          <a:bodyPr wrap="square" lIns="0" tIns="0" rIns="0" bIns="0" rtlCol="0" anchor="ctr"/>
          <a:lstStyle/>
          <a:p>
            <a:pPr algn="ctr" indent="0" marL="0">
              <a:buNone/>
            </a:pPr>
            <a:r>
              <a:rPr lang="en-US" sz="850" dirty="0">
                <a:solidFill>
                  <a:srgbClr val="55555F"/>
                </a:solidFill>
                <a:latin typeface="Hiragino Sans" pitchFamily="34" charset="0"/>
                <a:ea typeface="Hiragino Sans" pitchFamily="34" charset="-122"/>
                <a:cs typeface="Hiragino Sans" pitchFamily="34" charset="-120"/>
              </a:rPr>
              <a:t>GitHub / ビューア</a:t>
            </a:r>
            <a:endParaRPr lang="en-US" sz="850" dirty="0"/>
          </a:p>
        </p:txBody>
      </p:sp>
      <p:sp>
        <p:nvSpPr>
          <p:cNvPr id="31" name="Text 27"/>
          <p:cNvSpPr/>
          <p:nvPr/>
        </p:nvSpPr>
        <p:spPr>
          <a:xfrm>
            <a:off x="822960" y="5760720"/>
            <a:ext cx="10607040" cy="320040"/>
          </a:xfrm>
          <a:prstGeom prst="rect">
            <a:avLst/>
          </a:prstGeom>
          <a:noFill/>
          <a:ln/>
        </p:spPr>
        <p:txBody>
          <a:bodyPr wrap="square" lIns="0" tIns="0" rIns="0" bIns="0" rtlCol="0" anchor="ctr"/>
          <a:lstStyle/>
          <a:p>
            <a:pPr indent="0" marL="0">
              <a:buNone/>
            </a:pPr>
            <a:r>
              <a:rPr lang="en-US" sz="1200" dirty="0">
                <a:solidFill>
                  <a:srgbClr val="1A1A1A"/>
                </a:solidFill>
                <a:latin typeface="Hiragino Sans" pitchFamily="34" charset="0"/>
                <a:ea typeface="Hiragino Sans" pitchFamily="34" charset="-122"/>
                <a:cs typeface="Hiragino Sans" pitchFamily="34" charset="-120"/>
              </a:rPr>
              <a:t>下の層ほど古い幕の成果。上の幕は下を壊さず積んだ — 幕の色がそのまま層の色。</a:t>
            </a:r>
            <a:endParaRPr lang="en-US" sz="1200" dirty="0"/>
          </a:p>
        </p:txBody>
      </p:sp>
      <p:sp>
        <p:nvSpPr>
          <p:cNvPr id="32" name="Text 28"/>
          <p:cNvSpPr/>
          <p:nvPr/>
        </p:nvSpPr>
        <p:spPr>
          <a:xfrm>
            <a:off x="640080" y="6510528"/>
            <a:ext cx="5486400" cy="256032"/>
          </a:xfrm>
          <a:prstGeom prst="rect">
            <a:avLst/>
          </a:prstGeom>
          <a:noFill/>
          <a:ln/>
        </p:spPr>
        <p:txBody>
          <a:bodyPr wrap="square" lIns="0" tIns="0" rIns="0" bIns="0" rtlCol="0" anchor="ctr"/>
          <a:lstStyle/>
          <a:p>
            <a:pPr indent="0" marL="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33" name="Text 29"/>
          <p:cNvSpPr/>
          <p:nvPr/>
        </p:nvSpPr>
        <p:spPr>
          <a:xfrm>
            <a:off x="9692640" y="6510528"/>
            <a:ext cx="1463040" cy="256032"/>
          </a:xfrm>
          <a:prstGeom prst="rect">
            <a:avLst/>
          </a:prstGeom>
          <a:noFill/>
          <a:ln/>
        </p:spPr>
        <p:txBody>
          <a:bodyPr wrap="square" lIns="0" tIns="0" rIns="0" bIns="0" rtlCol="0" anchor="ctr"/>
          <a:lstStyle/>
          <a:p>
            <a:pPr algn="r" indent="0" marL="0">
              <a:buNone/>
            </a:pPr>
            <a:r>
              <a:rPr lang="en-US" sz="900" dirty="0">
                <a:solidFill>
                  <a:srgbClr val="55555F"/>
                </a:solidFill>
                <a:latin typeface="Helvetica Neue" pitchFamily="34" charset="0"/>
                <a:ea typeface="Helvetica Neue" pitchFamily="34" charset="-122"/>
                <a:cs typeface="Helvetica Neue" pitchFamily="34" charset="-120"/>
              </a:rPr>
              <a:t>1:00</a:t>
            </a:r>
            <a:endParaRPr lang="en-US" sz="900" dirty="0"/>
          </a:p>
        </p:txBody>
      </p:sp>
      <p:sp>
        <p:nvSpPr>
          <p:cNvPr id="34" name="Text 30"/>
          <p:cNvSpPr/>
          <p:nvPr/>
        </p:nvSpPr>
        <p:spPr>
          <a:xfrm>
            <a:off x="11338560" y="6510528"/>
            <a:ext cx="457200" cy="256032"/>
          </a:xfrm>
          <a:prstGeom prst="rect">
            <a:avLst/>
          </a:prstGeom>
          <a:noFill/>
          <a:ln/>
        </p:spPr>
        <p:txBody>
          <a:bodyPr wrap="square" lIns="0" tIns="0" rIns="0" bIns="0" rtlCol="0" anchor="ctr"/>
          <a:lstStyle/>
          <a:p>
            <a:pPr algn="r" indent="0" marL="0">
              <a:buNone/>
            </a:pPr>
            <a:r>
              <a:rPr lang="en-US" sz="1000" dirty="0">
                <a:solidFill>
                  <a:srgbClr val="55555F"/>
                </a:solidFill>
                <a:latin typeface="Helvetica Neue" pitchFamily="34" charset="0"/>
                <a:ea typeface="Helvetica Neue" pitchFamily="34" charset="-122"/>
                <a:cs typeface="Helvetica Neue"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1E2761"/>
          </a:solidFill>
          <a:ln/>
        </p:spPr>
      </p:sp>
      <p:sp>
        <p:nvSpPr>
          <p:cNvPr id="3" name="Text 1"/>
          <p:cNvSpPr/>
          <p:nvPr/>
        </p:nvSpPr>
        <p:spPr>
          <a:xfrm>
            <a:off x="621792" y="347472"/>
            <a:ext cx="19202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Hiragino Sans" pitchFamily="34" charset="0"/>
                <a:ea typeface="Hiragino Sans" pitchFamily="34" charset="-122"/>
                <a:cs typeface="Hiragino Sans" pitchFamily="34" charset="-120"/>
              </a:rPr>
              <a:t>総括</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indent="0" marL="0">
              <a:buNone/>
            </a:pPr>
            <a:r>
              <a:rPr lang="en-US" sz="2100" b="1" dirty="0">
                <a:solidFill>
                  <a:srgbClr val="1A1A1A"/>
                </a:solidFill>
                <a:latin typeface="Hiragino Sans" pitchFamily="34" charset="0"/>
                <a:ea typeface="Hiragino Sans" pitchFamily="34" charset="-122"/>
                <a:cs typeface="Hiragino Sans" pitchFamily="34" charset="-120"/>
              </a:rPr>
              <a:t>6ヶ月で学んだこと：正直さは態度ではなく、仕組み</a:t>
            </a:r>
            <a:endParaRPr lang="en-US" sz="2100" dirty="0"/>
          </a:p>
        </p:txBody>
      </p:sp>
      <p:sp>
        <p:nvSpPr>
          <p:cNvPr id="5" name="Shape 3"/>
          <p:cNvSpPr/>
          <p:nvPr/>
        </p:nvSpPr>
        <p:spPr>
          <a:xfrm>
            <a:off x="822960" y="1234440"/>
            <a:ext cx="5166360" cy="1783080"/>
          </a:xfrm>
          <a:prstGeom prst="roundRect">
            <a:avLst>
              <a:gd name="adj" fmla="val 3077"/>
            </a:avLst>
          </a:prstGeom>
          <a:solidFill>
            <a:srgbClr val="F4F4F6"/>
          </a:solidFill>
          <a:ln/>
        </p:spPr>
      </p:sp>
      <p:sp>
        <p:nvSpPr>
          <p:cNvPr id="6" name="Text 4"/>
          <p:cNvSpPr/>
          <p:nvPr/>
        </p:nvSpPr>
        <p:spPr>
          <a:xfrm>
            <a:off x="1005840" y="1399032"/>
            <a:ext cx="457200" cy="457200"/>
          </a:xfrm>
          <a:prstGeom prst="rect">
            <a:avLst/>
          </a:prstGeom>
          <a:noFill/>
          <a:ln/>
        </p:spPr>
        <p:txBody>
          <a:bodyPr wrap="square" lIns="0" tIns="0" rIns="0" bIns="0" rtlCol="0" anchor="ctr"/>
          <a:lstStyle/>
          <a:p>
            <a:pPr indent="0" marL="0">
              <a:buNone/>
            </a:pPr>
            <a:r>
              <a:rPr lang="en-US" sz="2200" b="1" dirty="0">
                <a:solidFill>
                  <a:srgbClr val="1E2761"/>
                </a:solidFill>
                <a:latin typeface="Helvetica Neue" pitchFamily="34" charset="0"/>
                <a:ea typeface="Helvetica Neue" pitchFamily="34" charset="-122"/>
                <a:cs typeface="Helvetica Neue" pitchFamily="34" charset="-120"/>
              </a:rPr>
              <a:t>1</a:t>
            </a:r>
            <a:endParaRPr lang="en-US" sz="2200" dirty="0"/>
          </a:p>
        </p:txBody>
      </p:sp>
      <p:sp>
        <p:nvSpPr>
          <p:cNvPr id="7" name="Text 5"/>
          <p:cNvSpPr/>
          <p:nvPr/>
        </p:nvSpPr>
        <p:spPr>
          <a:xfrm>
            <a:off x="1508760" y="1399032"/>
            <a:ext cx="4343400" cy="594360"/>
          </a:xfrm>
          <a:prstGeom prst="rect">
            <a:avLst/>
          </a:prstGeom>
          <a:noFill/>
          <a:ln/>
        </p:spPr>
        <p:txBody>
          <a:bodyPr wrap="square" lIns="0" tIns="0" rIns="0" bIns="0" rtlCol="0" anchor="ctr"/>
          <a:lstStyle/>
          <a:p>
            <a:pPr indent="0" marL="0">
              <a:lnSpc>
                <a:spcPts val="1800"/>
              </a:lnSpc>
              <a:buNone/>
            </a:pPr>
            <a:r>
              <a:rPr lang="en-US" sz="1350" b="1" dirty="0">
                <a:solidFill>
                  <a:srgbClr val="1A1A1A"/>
                </a:solidFill>
                <a:latin typeface="Hiragino Sans" pitchFamily="34" charset="0"/>
                <a:ea typeface="Hiragino Sans" pitchFamily="34" charset="-122"/>
                <a:cs typeface="Hiragino Sans" pitchFamily="34" charset="-120"/>
              </a:rPr>
              <a:t>捏造ゼロは構成的に成立させる</a:t>
            </a:r>
            <a:endParaRPr lang="en-US" sz="1350" dirty="0"/>
          </a:p>
        </p:txBody>
      </p:sp>
      <p:sp>
        <p:nvSpPr>
          <p:cNvPr id="8" name="Text 6"/>
          <p:cNvSpPr/>
          <p:nvPr/>
        </p:nvSpPr>
        <p:spPr>
          <a:xfrm>
            <a:off x="1508760" y="2039112"/>
            <a:ext cx="4343400" cy="914400"/>
          </a:xfrm>
          <a:prstGeom prst="rect">
            <a:avLst/>
          </a:prstGeom>
          <a:noFill/>
          <a:ln/>
        </p:spPr>
        <p:txBody>
          <a:bodyPr wrap="square" lIns="0" tIns="0" rIns="0" bIns="0" rtlCol="0" anchor="t"/>
          <a:lstStyle/>
          <a:p>
            <a:pPr indent="0" marL="0">
              <a:lnSpc>
                <a:spcPts val="1500"/>
              </a:lnSpc>
              <a:buNone/>
            </a:pPr>
            <a:r>
              <a:rPr lang="en-US" sz="1100" dirty="0">
                <a:solidFill>
                  <a:srgbClr val="55555F"/>
                </a:solidFill>
                <a:latin typeface="Hiragino Sans" pitchFamily="34" charset="0"/>
                <a:ea typeface="Hiragino Sans" pitchFamily="34" charset="-122"/>
                <a:cs typeface="Hiragino Sans" pitchFamily="34" charset="-120"/>
              </a:rPr>
              <a:t>「気をつける」では守れない。証拠の無い要素が出力に到達できない構造にする（第5幕の証拠閉包はその極致）</a:t>
            </a:r>
            <a:endParaRPr lang="en-US" sz="1100" dirty="0"/>
          </a:p>
        </p:txBody>
      </p:sp>
      <p:sp>
        <p:nvSpPr>
          <p:cNvPr id="9" name="Shape 7"/>
          <p:cNvSpPr/>
          <p:nvPr/>
        </p:nvSpPr>
        <p:spPr>
          <a:xfrm>
            <a:off x="6263640" y="1234440"/>
            <a:ext cx="5166360" cy="1783080"/>
          </a:xfrm>
          <a:prstGeom prst="roundRect">
            <a:avLst>
              <a:gd name="adj" fmla="val 3077"/>
            </a:avLst>
          </a:prstGeom>
          <a:solidFill>
            <a:srgbClr val="F4F4F6"/>
          </a:solidFill>
          <a:ln/>
        </p:spPr>
      </p:sp>
      <p:sp>
        <p:nvSpPr>
          <p:cNvPr id="10" name="Text 8"/>
          <p:cNvSpPr/>
          <p:nvPr/>
        </p:nvSpPr>
        <p:spPr>
          <a:xfrm>
            <a:off x="6446520" y="1399032"/>
            <a:ext cx="457200" cy="457200"/>
          </a:xfrm>
          <a:prstGeom prst="rect">
            <a:avLst/>
          </a:prstGeom>
          <a:noFill/>
          <a:ln/>
        </p:spPr>
        <p:txBody>
          <a:bodyPr wrap="square" lIns="0" tIns="0" rIns="0" bIns="0" rtlCol="0" anchor="ctr"/>
          <a:lstStyle/>
          <a:p>
            <a:pPr indent="0" marL="0">
              <a:buNone/>
            </a:pPr>
            <a:r>
              <a:rPr lang="en-US" sz="2200" b="1" dirty="0">
                <a:solidFill>
                  <a:srgbClr val="1E2761"/>
                </a:solidFill>
                <a:latin typeface="Helvetica Neue" pitchFamily="34" charset="0"/>
                <a:ea typeface="Helvetica Neue" pitchFamily="34" charset="-122"/>
                <a:cs typeface="Helvetica Neue" pitchFamily="34" charset="-120"/>
              </a:rPr>
              <a:t>2</a:t>
            </a:r>
            <a:endParaRPr lang="en-US" sz="2200" dirty="0"/>
          </a:p>
        </p:txBody>
      </p:sp>
      <p:sp>
        <p:nvSpPr>
          <p:cNvPr id="11" name="Text 9"/>
          <p:cNvSpPr/>
          <p:nvPr/>
        </p:nvSpPr>
        <p:spPr>
          <a:xfrm>
            <a:off x="6949440" y="1399032"/>
            <a:ext cx="4343400" cy="594360"/>
          </a:xfrm>
          <a:prstGeom prst="rect">
            <a:avLst/>
          </a:prstGeom>
          <a:noFill/>
          <a:ln/>
        </p:spPr>
        <p:txBody>
          <a:bodyPr wrap="square" lIns="0" tIns="0" rIns="0" bIns="0" rtlCol="0" anchor="ctr"/>
          <a:lstStyle/>
          <a:p>
            <a:pPr indent="0" marL="0">
              <a:lnSpc>
                <a:spcPts val="1800"/>
              </a:lnSpc>
              <a:buNone/>
            </a:pPr>
            <a:r>
              <a:rPr lang="en-US" sz="1350" b="1" dirty="0">
                <a:solidFill>
                  <a:srgbClr val="1A1A1A"/>
                </a:solidFill>
                <a:latin typeface="Hiragino Sans" pitchFamily="34" charset="0"/>
                <a:ea typeface="Hiragino Sans" pitchFamily="34" charset="-122"/>
                <a:cs typeface="Hiragino Sans" pitchFamily="34" charset="-120"/>
              </a:rPr>
              <a:t>モデルを良く見せる機構ほど台帳に載せる</a:t>
            </a:r>
            <a:endParaRPr lang="en-US" sz="1350" dirty="0"/>
          </a:p>
        </p:txBody>
      </p:sp>
      <p:sp>
        <p:nvSpPr>
          <p:cNvPr id="12" name="Text 10"/>
          <p:cNvSpPr/>
          <p:nvPr/>
        </p:nvSpPr>
        <p:spPr>
          <a:xfrm>
            <a:off x="6949440" y="2039112"/>
            <a:ext cx="4343400" cy="914400"/>
          </a:xfrm>
          <a:prstGeom prst="rect">
            <a:avLst/>
          </a:prstGeom>
          <a:noFill/>
          <a:ln/>
        </p:spPr>
        <p:txBody>
          <a:bodyPr wrap="square" lIns="0" tIns="0" rIns="0" bIns="0" rtlCol="0" anchor="t"/>
          <a:lstStyle/>
          <a:p>
            <a:pPr indent="0" marL="0">
              <a:lnSpc>
                <a:spcPts val="1500"/>
              </a:lnSpc>
              <a:buNone/>
            </a:pPr>
            <a:r>
              <a:rPr lang="en-US" sz="1100" dirty="0">
                <a:solidFill>
                  <a:srgbClr val="55555F"/>
                </a:solidFill>
                <a:latin typeface="Hiragino Sans" pitchFamily="34" charset="0"/>
                <a:ea typeface="Hiragino Sans" pitchFamily="34" charset="-122"/>
                <a:cs typeface="Hiragino Sans" pitchFamily="34" charset="-120"/>
              </a:rPr>
              <a:t>接続・解ける・完全に見せる19機構すべてに根拠とOFFスイッチ。介入を隠すとバグと区別がつかなくなる</a:t>
            </a:r>
            <a:endParaRPr lang="en-US" sz="1100" dirty="0"/>
          </a:p>
        </p:txBody>
      </p:sp>
      <p:sp>
        <p:nvSpPr>
          <p:cNvPr id="13" name="Shape 11"/>
          <p:cNvSpPr/>
          <p:nvPr/>
        </p:nvSpPr>
        <p:spPr>
          <a:xfrm>
            <a:off x="822960" y="3200400"/>
            <a:ext cx="5166360" cy="1783080"/>
          </a:xfrm>
          <a:prstGeom prst="roundRect">
            <a:avLst>
              <a:gd name="adj" fmla="val 3077"/>
            </a:avLst>
          </a:prstGeom>
          <a:solidFill>
            <a:srgbClr val="F4F4F6"/>
          </a:solidFill>
          <a:ln/>
        </p:spPr>
      </p:sp>
      <p:sp>
        <p:nvSpPr>
          <p:cNvPr id="14" name="Text 12"/>
          <p:cNvSpPr/>
          <p:nvPr/>
        </p:nvSpPr>
        <p:spPr>
          <a:xfrm>
            <a:off x="1005840" y="3364992"/>
            <a:ext cx="457200" cy="457200"/>
          </a:xfrm>
          <a:prstGeom prst="rect">
            <a:avLst/>
          </a:prstGeom>
          <a:noFill/>
          <a:ln/>
        </p:spPr>
        <p:txBody>
          <a:bodyPr wrap="square" lIns="0" tIns="0" rIns="0" bIns="0" rtlCol="0" anchor="ctr"/>
          <a:lstStyle/>
          <a:p>
            <a:pPr indent="0" marL="0">
              <a:buNone/>
            </a:pPr>
            <a:r>
              <a:rPr lang="en-US" sz="2200" b="1" dirty="0">
                <a:solidFill>
                  <a:srgbClr val="1E2761"/>
                </a:solidFill>
                <a:latin typeface="Helvetica Neue" pitchFamily="34" charset="0"/>
                <a:ea typeface="Helvetica Neue" pitchFamily="34" charset="-122"/>
                <a:cs typeface="Helvetica Neue" pitchFamily="34" charset="-120"/>
              </a:rPr>
              <a:t>3</a:t>
            </a:r>
            <a:endParaRPr lang="en-US" sz="2200" dirty="0"/>
          </a:p>
        </p:txBody>
      </p:sp>
      <p:sp>
        <p:nvSpPr>
          <p:cNvPr id="15" name="Text 13"/>
          <p:cNvSpPr/>
          <p:nvPr/>
        </p:nvSpPr>
        <p:spPr>
          <a:xfrm>
            <a:off x="1508760" y="3364992"/>
            <a:ext cx="4343400" cy="594360"/>
          </a:xfrm>
          <a:prstGeom prst="rect">
            <a:avLst/>
          </a:prstGeom>
          <a:noFill/>
          <a:ln/>
        </p:spPr>
        <p:txBody>
          <a:bodyPr wrap="square" lIns="0" tIns="0" rIns="0" bIns="0" rtlCol="0" anchor="ctr"/>
          <a:lstStyle/>
          <a:p>
            <a:pPr indent="0" marL="0">
              <a:lnSpc>
                <a:spcPts val="1800"/>
              </a:lnSpc>
              <a:buNone/>
            </a:pPr>
            <a:r>
              <a:rPr lang="en-US" sz="1350" b="1" dirty="0">
                <a:solidFill>
                  <a:srgbClr val="1A1A1A"/>
                </a:solidFill>
                <a:latin typeface="Hiragino Sans" pitchFamily="34" charset="0"/>
                <a:ea typeface="Hiragino Sans" pitchFamily="34" charset="-122"/>
                <a:cs typeface="Hiragino Sans" pitchFamily="34" charset="-120"/>
              </a:rPr>
              <a:t>収束は正しさではない</a:t>
            </a:r>
            <a:endParaRPr lang="en-US" sz="1350" dirty="0"/>
          </a:p>
        </p:txBody>
      </p:sp>
      <p:sp>
        <p:nvSpPr>
          <p:cNvPr id="16" name="Text 14"/>
          <p:cNvSpPr/>
          <p:nvPr/>
        </p:nvSpPr>
        <p:spPr>
          <a:xfrm>
            <a:off x="1508760" y="4005072"/>
            <a:ext cx="4343400" cy="914400"/>
          </a:xfrm>
          <a:prstGeom prst="rect">
            <a:avLst/>
          </a:prstGeom>
          <a:noFill/>
          <a:ln/>
        </p:spPr>
        <p:txBody>
          <a:bodyPr wrap="square" lIns="0" tIns="0" rIns="0" bIns="0" rtlCol="0" anchor="t"/>
          <a:lstStyle/>
          <a:p>
            <a:pPr indent="0" marL="0">
              <a:lnSpc>
                <a:spcPts val="1500"/>
              </a:lnSpc>
              <a:buNone/>
            </a:pPr>
            <a:r>
              <a:rPr lang="en-US" sz="1100" dirty="0">
                <a:solidFill>
                  <a:srgbClr val="55555F"/>
                </a:solidFill>
                <a:latin typeface="Hiragino Sans" pitchFamily="34" charset="0"/>
                <a:ea typeface="Hiragino Sans" pitchFamily="34" charset="-122"/>
                <a:cs typeface="Hiragino Sans" pitchFamily="34" charset="-120"/>
              </a:rPr>
              <a:t>served_frac を結果に同梱。誇っていた数字を自分で解体できるプローブ（変種比較・プロセス分離）を常備する</a:t>
            </a:r>
            <a:endParaRPr lang="en-US" sz="1100" dirty="0"/>
          </a:p>
        </p:txBody>
      </p:sp>
      <p:sp>
        <p:nvSpPr>
          <p:cNvPr id="17" name="Shape 15"/>
          <p:cNvSpPr/>
          <p:nvPr/>
        </p:nvSpPr>
        <p:spPr>
          <a:xfrm>
            <a:off x="6263640" y="3200400"/>
            <a:ext cx="5166360" cy="1783080"/>
          </a:xfrm>
          <a:prstGeom prst="roundRect">
            <a:avLst>
              <a:gd name="adj" fmla="val 3077"/>
            </a:avLst>
          </a:prstGeom>
          <a:solidFill>
            <a:srgbClr val="F4F4F6"/>
          </a:solidFill>
          <a:ln/>
        </p:spPr>
      </p:sp>
      <p:sp>
        <p:nvSpPr>
          <p:cNvPr id="18" name="Text 16"/>
          <p:cNvSpPr/>
          <p:nvPr/>
        </p:nvSpPr>
        <p:spPr>
          <a:xfrm>
            <a:off x="6446520" y="3364992"/>
            <a:ext cx="457200" cy="457200"/>
          </a:xfrm>
          <a:prstGeom prst="rect">
            <a:avLst/>
          </a:prstGeom>
          <a:noFill/>
          <a:ln/>
        </p:spPr>
        <p:txBody>
          <a:bodyPr wrap="square" lIns="0" tIns="0" rIns="0" bIns="0" rtlCol="0" anchor="ctr"/>
          <a:lstStyle/>
          <a:p>
            <a:pPr indent="0" marL="0">
              <a:buNone/>
            </a:pPr>
            <a:r>
              <a:rPr lang="en-US" sz="2200" b="1" dirty="0">
                <a:solidFill>
                  <a:srgbClr val="1E2761"/>
                </a:solidFill>
                <a:latin typeface="Helvetica Neue" pitchFamily="34" charset="0"/>
                <a:ea typeface="Helvetica Neue" pitchFamily="34" charset="-122"/>
                <a:cs typeface="Helvetica Neue" pitchFamily="34" charset="-120"/>
              </a:rPr>
              <a:t>4</a:t>
            </a:r>
            <a:endParaRPr lang="en-US" sz="2200" dirty="0"/>
          </a:p>
        </p:txBody>
      </p:sp>
      <p:sp>
        <p:nvSpPr>
          <p:cNvPr id="19" name="Text 17"/>
          <p:cNvSpPr/>
          <p:nvPr/>
        </p:nvSpPr>
        <p:spPr>
          <a:xfrm>
            <a:off x="6949440" y="3364992"/>
            <a:ext cx="4343400" cy="594360"/>
          </a:xfrm>
          <a:prstGeom prst="rect">
            <a:avLst/>
          </a:prstGeom>
          <a:noFill/>
          <a:ln/>
        </p:spPr>
        <p:txBody>
          <a:bodyPr wrap="square" lIns="0" tIns="0" rIns="0" bIns="0" rtlCol="0" anchor="ctr"/>
          <a:lstStyle/>
          <a:p>
            <a:pPr indent="0" marL="0">
              <a:lnSpc>
                <a:spcPts val="1800"/>
              </a:lnSpc>
              <a:buNone/>
            </a:pPr>
            <a:r>
              <a:rPr lang="en-US" sz="1350" b="1" dirty="0">
                <a:solidFill>
                  <a:srgbClr val="1A1A1A"/>
                </a:solidFill>
                <a:latin typeface="Hiragino Sans" pitchFamily="34" charset="0"/>
                <a:ea typeface="Hiragino Sans" pitchFamily="34" charset="-122"/>
                <a:cs typeface="Hiragino Sans" pitchFamily="34" charset="-120"/>
              </a:rPr>
              <a:t>欠測は隠さず、測って作業リストにする</a:t>
            </a:r>
            <a:endParaRPr lang="en-US" sz="1350" dirty="0"/>
          </a:p>
        </p:txBody>
      </p:sp>
      <p:sp>
        <p:nvSpPr>
          <p:cNvPr id="20" name="Text 18"/>
          <p:cNvSpPr/>
          <p:nvPr/>
        </p:nvSpPr>
        <p:spPr>
          <a:xfrm>
            <a:off x="6949440" y="4005072"/>
            <a:ext cx="4343400" cy="914400"/>
          </a:xfrm>
          <a:prstGeom prst="rect">
            <a:avLst/>
          </a:prstGeom>
          <a:noFill/>
          <a:ln/>
        </p:spPr>
        <p:txBody>
          <a:bodyPr wrap="square" lIns="0" tIns="0" rIns="0" bIns="0" rtlCol="0" anchor="t"/>
          <a:lstStyle/>
          <a:p>
            <a:pPr indent="0" marL="0">
              <a:lnSpc>
                <a:spcPts val="1500"/>
              </a:lnSpc>
              <a:buNone/>
            </a:pPr>
            <a:r>
              <a:rPr lang="en-US" sz="1100" dirty="0">
                <a:solidFill>
                  <a:srgbClr val="55555F"/>
                </a:solidFill>
                <a:latin typeface="Hiragino Sans" pitchFamily="34" charset="0"/>
                <a:ea typeface="Hiragino Sans" pitchFamily="34" charset="-122"/>
                <a:cs typeface="Hiragino Sans" pitchFamily="34" charset="-120"/>
              </a:rPr>
              <a:t>被覆・棄権率・欠測は報告値。測った欠測はOSMコミュニティへの貢献リストになる — 欠測が資産に変わる</a:t>
            </a:r>
            <a:endParaRPr lang="en-US" sz="1100" dirty="0"/>
          </a:p>
        </p:txBody>
      </p:sp>
      <p:sp>
        <p:nvSpPr>
          <p:cNvPr id="21" name="Shape 19"/>
          <p:cNvSpPr/>
          <p:nvPr/>
        </p:nvSpPr>
        <p:spPr>
          <a:xfrm>
            <a:off x="822960" y="5257800"/>
            <a:ext cx="10607040" cy="868680"/>
          </a:xfrm>
          <a:prstGeom prst="roundRect">
            <a:avLst>
              <a:gd name="adj" fmla="val 6316"/>
            </a:avLst>
          </a:prstGeom>
          <a:solidFill>
            <a:srgbClr val="1E2761"/>
          </a:solidFill>
          <a:ln/>
        </p:spPr>
      </p:sp>
      <p:sp>
        <p:nvSpPr>
          <p:cNvPr id="22" name="Text 20"/>
          <p:cNvSpPr/>
          <p:nvPr/>
        </p:nvSpPr>
        <p:spPr>
          <a:xfrm>
            <a:off x="1097280" y="5257800"/>
            <a:ext cx="10058400" cy="868680"/>
          </a:xfrm>
          <a:prstGeom prst="rect">
            <a:avLst/>
          </a:prstGeom>
          <a:noFill/>
          <a:ln/>
        </p:spPr>
        <p:txBody>
          <a:bodyPr wrap="square" lIns="0" tIns="0" rIns="0" bIns="0" rtlCol="0" anchor="ctr"/>
          <a:lstStyle/>
          <a:p>
            <a:pPr indent="0" marL="0">
              <a:buNone/>
            </a:pPr>
            <a:r>
              <a:rPr lang="en-US" sz="1450" b="1" dirty="0">
                <a:solidFill>
                  <a:srgbClr val="FFFFFF"/>
                </a:solidFill>
                <a:latin typeface="Hiragino Sans" pitchFamily="34" charset="0"/>
                <a:ea typeface="Hiragino Sans" pitchFamily="34" charset="-122"/>
                <a:cs typeface="Hiragino Sans" pitchFamily="34" charset="-120"/>
              </a:rPr>
              <a:t>この4つはどれも、一度「良い数字」を出してから学び直したものである。</a:t>
            </a:r>
            <a:endParaRPr lang="en-US" sz="1450" dirty="0"/>
          </a:p>
        </p:txBody>
      </p:sp>
      <p:sp>
        <p:nvSpPr>
          <p:cNvPr id="23" name="Text 21"/>
          <p:cNvSpPr/>
          <p:nvPr/>
        </p:nvSpPr>
        <p:spPr>
          <a:xfrm>
            <a:off x="640080" y="6510528"/>
            <a:ext cx="5486400" cy="256032"/>
          </a:xfrm>
          <a:prstGeom prst="rect">
            <a:avLst/>
          </a:prstGeom>
          <a:noFill/>
          <a:ln/>
        </p:spPr>
        <p:txBody>
          <a:bodyPr wrap="square" lIns="0" tIns="0" rIns="0" bIns="0" rtlCol="0" anchor="ctr"/>
          <a:lstStyle/>
          <a:p>
            <a:pPr indent="0" marL="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24" name="Text 22"/>
          <p:cNvSpPr/>
          <p:nvPr/>
        </p:nvSpPr>
        <p:spPr>
          <a:xfrm>
            <a:off x="9692640" y="6510528"/>
            <a:ext cx="1463040" cy="256032"/>
          </a:xfrm>
          <a:prstGeom prst="rect">
            <a:avLst/>
          </a:prstGeom>
          <a:noFill/>
          <a:ln/>
        </p:spPr>
        <p:txBody>
          <a:bodyPr wrap="square" lIns="0" tIns="0" rIns="0" bIns="0" rtlCol="0" anchor="ctr"/>
          <a:lstStyle/>
          <a:p>
            <a:pPr algn="r" indent="0" marL="0">
              <a:buNone/>
            </a:pPr>
            <a:r>
              <a:rPr lang="en-US" sz="900" dirty="0">
                <a:solidFill>
                  <a:srgbClr val="55555F"/>
                </a:solidFill>
                <a:latin typeface="Helvetica Neue" pitchFamily="34" charset="0"/>
                <a:ea typeface="Helvetica Neue" pitchFamily="34" charset="-122"/>
                <a:cs typeface="Helvetica Neue" pitchFamily="34" charset="-120"/>
              </a:rPr>
              <a:t>1:00</a:t>
            </a:r>
            <a:endParaRPr lang="en-US" sz="900" dirty="0"/>
          </a:p>
        </p:txBody>
      </p:sp>
      <p:sp>
        <p:nvSpPr>
          <p:cNvPr id="25" name="Text 23"/>
          <p:cNvSpPr/>
          <p:nvPr/>
        </p:nvSpPr>
        <p:spPr>
          <a:xfrm>
            <a:off x="11338560" y="6510528"/>
            <a:ext cx="457200" cy="256032"/>
          </a:xfrm>
          <a:prstGeom prst="rect">
            <a:avLst/>
          </a:prstGeom>
          <a:noFill/>
          <a:ln/>
        </p:spPr>
        <p:txBody>
          <a:bodyPr wrap="square" lIns="0" tIns="0" rIns="0" bIns="0" rtlCol="0" anchor="ctr"/>
          <a:lstStyle/>
          <a:p>
            <a:pPr algn="r" indent="0" marL="0">
              <a:buNone/>
            </a:pPr>
            <a:r>
              <a:rPr lang="en-US" sz="1000" dirty="0">
                <a:solidFill>
                  <a:srgbClr val="55555F"/>
                </a:solidFill>
                <a:latin typeface="Helvetica Neue" pitchFamily="34" charset="0"/>
                <a:ea typeface="Helvetica Neue" pitchFamily="34" charset="-122"/>
                <a:cs typeface="Helvetica Neue"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1E2761"/>
          </a:solidFill>
          <a:ln/>
        </p:spPr>
      </p:sp>
      <p:sp>
        <p:nvSpPr>
          <p:cNvPr id="3" name="Text 1"/>
          <p:cNvSpPr/>
          <p:nvPr/>
        </p:nvSpPr>
        <p:spPr>
          <a:xfrm>
            <a:off x="621792" y="347472"/>
            <a:ext cx="19202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Hiragino Sans" pitchFamily="34" charset="0"/>
                <a:ea typeface="Hiragino Sans" pitchFamily="34" charset="-122"/>
                <a:cs typeface="Hiragino Sans" pitchFamily="34" charset="-120"/>
              </a:rPr>
              <a:t>結</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indent="0" marL="0">
              <a:buNone/>
            </a:pPr>
            <a:r>
              <a:rPr lang="en-US" sz="2100" b="1" dirty="0">
                <a:solidFill>
                  <a:srgbClr val="1A1A1A"/>
                </a:solidFill>
                <a:latin typeface="Hiragino Sans" pitchFamily="34" charset="0"/>
                <a:ea typeface="Hiragino Sans" pitchFamily="34" charset="-122"/>
                <a:cs typeface="Hiragino Sans" pitchFamily="34" charset="-120"/>
              </a:rPr>
              <a:t>まとめと今後</a:t>
            </a:r>
            <a:endParaRPr lang="en-US" sz="2100" dirty="0"/>
          </a:p>
        </p:txBody>
      </p:sp>
      <p:sp>
        <p:nvSpPr>
          <p:cNvPr id="5" name="Shape 3"/>
          <p:cNvSpPr/>
          <p:nvPr/>
        </p:nvSpPr>
        <p:spPr>
          <a:xfrm>
            <a:off x="822960" y="1188720"/>
            <a:ext cx="10607040" cy="1371600"/>
          </a:xfrm>
          <a:prstGeom prst="roundRect">
            <a:avLst>
              <a:gd name="adj" fmla="val 5333"/>
            </a:avLst>
          </a:prstGeom>
          <a:solidFill>
            <a:srgbClr val="1E2761"/>
          </a:solidFill>
          <a:ln/>
        </p:spPr>
      </p:sp>
      <p:sp>
        <p:nvSpPr>
          <p:cNvPr id="6" name="Text 4"/>
          <p:cNvSpPr/>
          <p:nvPr/>
        </p:nvSpPr>
        <p:spPr>
          <a:xfrm>
            <a:off x="1097280" y="1188720"/>
            <a:ext cx="10058400" cy="1371600"/>
          </a:xfrm>
          <a:prstGeom prst="rect">
            <a:avLst/>
          </a:prstGeom>
          <a:noFill/>
          <a:ln/>
        </p:spPr>
        <p:txBody>
          <a:bodyPr wrap="square" lIns="0" tIns="0" rIns="0" bIns="0" rtlCol="0" anchor="ctr"/>
          <a:lstStyle/>
          <a:p>
            <a:pPr indent="0" marL="0">
              <a:lnSpc>
                <a:spcPts val="2200"/>
              </a:lnSpc>
              <a:buNone/>
            </a:pPr>
            <a:r>
              <a:rPr lang="en-US" sz="1450" b="1" dirty="0">
                <a:solidFill>
                  <a:srgbClr val="FFFFFF"/>
                </a:solidFill>
                <a:latin typeface="Hiragino Sans" pitchFamily="34" charset="0"/>
                <a:ea typeface="Hiragino Sans" pitchFamily="34" charset="-122"/>
                <a:cs typeface="Hiragino Sans" pitchFamily="34" charset="-120"/>
              </a:rPr>
              <a:t>公開データだけから、日本全国の送電網モデルは作れる。</a:t>
            </a:r>
            <a:endParaRPr lang="en-US" sz="1450" dirty="0"/>
          </a:p>
          <a:p>
            <a:pPr indent="0" marL="0">
              <a:lnSpc>
                <a:spcPts val="2200"/>
              </a:lnSpc>
              <a:buNone/>
            </a:pPr>
            <a:r>
              <a:rPr lang="en-US" sz="1450" b="1" dirty="0">
                <a:solidFill>
                  <a:srgbClr val="FFFFFF"/>
                </a:solidFill>
                <a:latin typeface="Hiragino Sans" pitchFamily="34" charset="0"/>
                <a:ea typeface="Hiragino Sans" pitchFamily="34" charset="-122"/>
                <a:cs typeface="Hiragino Sans" pitchFamily="34" charset="-120"/>
              </a:rPr>
              <a:t>ただしそれを信頼に足るものにするのは、抽出の巧さではなく — 介入の台帳・検証器としての標準・測って報告する欠測である。</a:t>
            </a:r>
            <a:endParaRPr lang="en-US" sz="1450" dirty="0"/>
          </a:p>
        </p:txBody>
      </p:sp>
      <p:sp>
        <p:nvSpPr>
          <p:cNvPr id="7" name="Text 5"/>
          <p:cNvSpPr/>
          <p:nvPr/>
        </p:nvSpPr>
        <p:spPr>
          <a:xfrm>
            <a:off x="822960" y="2788920"/>
            <a:ext cx="1828800" cy="274320"/>
          </a:xfrm>
          <a:prstGeom prst="rect">
            <a:avLst/>
          </a:prstGeom>
          <a:noFill/>
          <a:ln/>
        </p:spPr>
        <p:txBody>
          <a:bodyPr wrap="square" lIns="0" tIns="0" rIns="0" bIns="0" rtlCol="0" anchor="ctr"/>
          <a:lstStyle/>
          <a:p>
            <a:pPr indent="0" marL="0">
              <a:buNone/>
            </a:pPr>
            <a:r>
              <a:rPr lang="en-US" sz="1250" b="1" dirty="0">
                <a:solidFill>
                  <a:srgbClr val="1E2761"/>
                </a:solidFill>
                <a:latin typeface="Hiragino Sans" pitchFamily="34" charset="0"/>
                <a:ea typeface="Hiragino Sans" pitchFamily="34" charset="-122"/>
                <a:cs typeface="Hiragino Sans" pitchFamily="34" charset="-120"/>
              </a:rPr>
              <a:t>論文</a:t>
            </a:r>
            <a:endParaRPr lang="en-US" sz="1250" dirty="0"/>
          </a:p>
        </p:txBody>
      </p:sp>
      <p:sp>
        <p:nvSpPr>
          <p:cNvPr id="8" name="Shape 6"/>
          <p:cNvSpPr/>
          <p:nvPr/>
        </p:nvSpPr>
        <p:spPr>
          <a:xfrm>
            <a:off x="822960" y="3108960"/>
            <a:ext cx="5166360" cy="1554480"/>
          </a:xfrm>
          <a:prstGeom prst="roundRect">
            <a:avLst>
              <a:gd name="adj" fmla="val 3529"/>
            </a:avLst>
          </a:prstGeom>
          <a:solidFill>
            <a:srgbClr val="F4F4F6"/>
          </a:solidFill>
          <a:ln/>
        </p:spPr>
      </p:sp>
      <p:sp>
        <p:nvSpPr>
          <p:cNvPr id="9" name="Shape 7"/>
          <p:cNvSpPr/>
          <p:nvPr/>
        </p:nvSpPr>
        <p:spPr>
          <a:xfrm>
            <a:off x="1024128" y="3328416"/>
            <a:ext cx="128016" cy="128016"/>
          </a:xfrm>
          <a:prstGeom prst="rect">
            <a:avLst/>
          </a:prstGeom>
          <a:solidFill>
            <a:srgbClr val="17BECF"/>
          </a:solidFill>
          <a:ln/>
        </p:spPr>
      </p:sp>
      <p:sp>
        <p:nvSpPr>
          <p:cNvPr id="10" name="Text 8"/>
          <p:cNvSpPr/>
          <p:nvPr/>
        </p:nvSpPr>
        <p:spPr>
          <a:xfrm>
            <a:off x="1234440" y="3218688"/>
            <a:ext cx="4709160" cy="320040"/>
          </a:xfrm>
          <a:prstGeom prst="rect">
            <a:avLst/>
          </a:prstGeom>
          <a:noFill/>
          <a:ln/>
        </p:spPr>
        <p:txBody>
          <a:bodyPr wrap="square" lIns="0" tIns="0" rIns="0" bIns="0" rtlCol="0" anchor="ctr"/>
          <a:lstStyle/>
          <a:p>
            <a:pPr indent="0" marL="0">
              <a:buNone/>
            </a:pPr>
            <a:r>
              <a:rPr lang="en-US" sz="1150" b="1" dirty="0">
                <a:solidFill>
                  <a:srgbClr val="1A1A1A"/>
                </a:solidFill>
                <a:latin typeface="Hiragino Sans" pitchFamily="34" charset="0"/>
                <a:ea typeface="Hiragino Sans" pitchFamily="34" charset="-122"/>
                <a:cs typeface="Hiragino Sans" pitchFamily="34" charset="-120"/>
              </a:rPr>
              <a:t>① データセット論文（IEEE OA体裁・5p）</a:t>
            </a:r>
            <a:endParaRPr lang="en-US" sz="1150" dirty="0"/>
          </a:p>
        </p:txBody>
      </p:sp>
      <p:sp>
        <p:nvSpPr>
          <p:cNvPr id="11" name="Text 9"/>
          <p:cNvSpPr/>
          <p:nvPr/>
        </p:nvSpPr>
        <p:spPr>
          <a:xfrm>
            <a:off x="1051560" y="3566160"/>
            <a:ext cx="4709160" cy="987552"/>
          </a:xfrm>
          <a:prstGeom prst="rect">
            <a:avLst/>
          </a:prstGeom>
          <a:noFill/>
          <a:ln/>
        </p:spPr>
        <p:txBody>
          <a:bodyPr wrap="square" lIns="0" tIns="0" rIns="0" bIns="0" rtlCol="0" anchor="t"/>
          <a:lstStyle/>
          <a:p>
            <a:pPr indent="0" marL="0">
              <a:lnSpc>
                <a:spcPts val="1500"/>
              </a:lnSpc>
              <a:buNone/>
            </a:pPr>
            <a:r>
              <a:rPr lang="en-US" sz="950" dirty="0">
                <a:solidFill>
                  <a:srgbClr val="55555F"/>
                </a:solidFill>
                <a:latin typeface="Hiragino Sans" pitchFamily="34" charset="0"/>
                <a:ea typeface="Hiragino Sans" pitchFamily="34" charset="-122"/>
                <a:cs typeface="Hiragino Sans" pitchFamily="34" charset="-120"/>
              </a:rPr>
              <a:t>抽出パイプライン・7段補完・UC/潮流/AGC連鎖。papers/ieee-openaccess.tex</a:t>
            </a:r>
            <a:endParaRPr lang="en-US" sz="950" dirty="0"/>
          </a:p>
          <a:p>
            <a:pPr indent="0" marL="0">
              <a:lnSpc>
                <a:spcPts val="1500"/>
              </a:lnSpc>
              <a:buNone/>
            </a:pPr>
            <a:r>
              <a:rPr lang="en-US" sz="950" dirty="0">
                <a:solidFill>
                  <a:srgbClr val="55555F"/>
                </a:solidFill>
                <a:latin typeface="Hiragino Sans" pitchFamily="34" charset="0"/>
                <a:ea typeface="Hiragino Sans" pitchFamily="34" charset="-122"/>
                <a:cs typeface="Hiragino Sans" pitchFamily="34" charset="-120"/>
              </a:rPr>
              <a:t>※ 8,164誤記は修正済(6,962)。残る宿題=文献整備と著者名</a:t>
            </a:r>
            <a:endParaRPr lang="en-US" sz="950" dirty="0"/>
          </a:p>
        </p:txBody>
      </p:sp>
      <p:sp>
        <p:nvSpPr>
          <p:cNvPr id="12" name="Shape 10"/>
          <p:cNvSpPr/>
          <p:nvPr/>
        </p:nvSpPr>
        <p:spPr>
          <a:xfrm>
            <a:off x="6263640" y="3108960"/>
            <a:ext cx="5166360" cy="1554480"/>
          </a:xfrm>
          <a:prstGeom prst="roundRect">
            <a:avLst>
              <a:gd name="adj" fmla="val 3529"/>
            </a:avLst>
          </a:prstGeom>
          <a:solidFill>
            <a:srgbClr val="F4F4F6"/>
          </a:solidFill>
          <a:ln/>
        </p:spPr>
      </p:sp>
      <p:sp>
        <p:nvSpPr>
          <p:cNvPr id="13" name="Shape 11"/>
          <p:cNvSpPr/>
          <p:nvPr/>
        </p:nvSpPr>
        <p:spPr>
          <a:xfrm>
            <a:off x="6464808" y="3328416"/>
            <a:ext cx="128016" cy="128016"/>
          </a:xfrm>
          <a:prstGeom prst="rect">
            <a:avLst/>
          </a:prstGeom>
          <a:solidFill>
            <a:srgbClr val="D62728"/>
          </a:solidFill>
          <a:ln/>
        </p:spPr>
      </p:sp>
      <p:sp>
        <p:nvSpPr>
          <p:cNvPr id="14" name="Text 12"/>
          <p:cNvSpPr/>
          <p:nvPr/>
        </p:nvSpPr>
        <p:spPr>
          <a:xfrm>
            <a:off x="6675120" y="3218688"/>
            <a:ext cx="4709160" cy="320040"/>
          </a:xfrm>
          <a:prstGeom prst="rect">
            <a:avLst/>
          </a:prstGeom>
          <a:noFill/>
          <a:ln/>
        </p:spPr>
        <p:txBody>
          <a:bodyPr wrap="square" lIns="0" tIns="0" rIns="0" bIns="0" rtlCol="0" anchor="ctr"/>
          <a:lstStyle/>
          <a:p>
            <a:pPr indent="0" marL="0">
              <a:buNone/>
            </a:pPr>
            <a:r>
              <a:rPr lang="en-US" sz="1150" b="1" dirty="0">
                <a:solidFill>
                  <a:srgbClr val="1A1A1A"/>
                </a:solidFill>
                <a:latin typeface="Hiragino Sans" pitchFamily="34" charset="0"/>
                <a:ea typeface="Hiragino Sans" pitchFamily="34" charset="-122"/>
                <a:cs typeface="Hiragino Sans" pitchFamily="34" charset="-120"/>
              </a:rPr>
              <a:t>② SubSLD論文（IEEEtran 6p・ビルド済）</a:t>
            </a:r>
            <a:endParaRPr lang="en-US" sz="1150" dirty="0"/>
          </a:p>
        </p:txBody>
      </p:sp>
      <p:sp>
        <p:nvSpPr>
          <p:cNvPr id="15" name="Text 13"/>
          <p:cNvSpPr/>
          <p:nvPr/>
        </p:nvSpPr>
        <p:spPr>
          <a:xfrm>
            <a:off x="6492240" y="3566160"/>
            <a:ext cx="4709160" cy="987552"/>
          </a:xfrm>
          <a:prstGeom prst="rect">
            <a:avLst/>
          </a:prstGeom>
          <a:noFill/>
          <a:ln/>
        </p:spPr>
        <p:txBody>
          <a:bodyPr wrap="square" lIns="0" tIns="0" rIns="0" bIns="0" rtlCol="0" anchor="t"/>
          <a:lstStyle/>
          <a:p>
            <a:pPr indent="0" marL="0">
              <a:lnSpc>
                <a:spcPts val="1500"/>
              </a:lnSpc>
              <a:buNone/>
            </a:pPr>
            <a:r>
              <a:rPr lang="en-US" sz="950" dirty="0">
                <a:solidFill>
                  <a:srgbClr val="55555F"/>
                </a:solidFill>
                <a:latin typeface="Hiragino Sans" pitchFamily="34" charset="0"/>
                <a:ea typeface="Hiragino Sans" pitchFamily="34" charset="-122"/>
                <a:cs typeface="Hiragino Sans" pitchFamily="34" charset="-120"/>
              </a:rPr>
              <a:t>変電所内部構成の実証的機械生成。papers/subsld/</a:t>
            </a:r>
            <a:endParaRPr lang="en-US" sz="950" dirty="0"/>
          </a:p>
          <a:p>
            <a:pPr indent="0" marL="0">
              <a:lnSpc>
                <a:spcPts val="1500"/>
              </a:lnSpc>
              <a:buNone/>
            </a:pPr>
            <a:r>
              <a:rPr lang="en-US" sz="950" dirty="0">
                <a:solidFill>
                  <a:srgbClr val="55555F"/>
                </a:solidFill>
                <a:latin typeface="Hiragino Sans" pitchFamily="34" charset="0"/>
                <a:ea typeface="Hiragino Sans" pitchFamily="34" charset="-122"/>
                <a:cs typeface="Hiragino Sans" pitchFamily="34" charset="-120"/>
              </a:rPr>
              <a:t>※ 参考文献が未記載（\cite 0件）— 両論文とも投稿先未定</a:t>
            </a:r>
            <a:endParaRPr lang="en-US" sz="950" dirty="0"/>
          </a:p>
        </p:txBody>
      </p:sp>
      <p:sp>
        <p:nvSpPr>
          <p:cNvPr id="16" name="Text 14"/>
          <p:cNvSpPr/>
          <p:nvPr/>
        </p:nvSpPr>
        <p:spPr>
          <a:xfrm>
            <a:off x="822960" y="4846320"/>
            <a:ext cx="1828800" cy="274320"/>
          </a:xfrm>
          <a:prstGeom prst="rect">
            <a:avLst/>
          </a:prstGeom>
          <a:noFill/>
          <a:ln/>
        </p:spPr>
        <p:txBody>
          <a:bodyPr wrap="square" lIns="0" tIns="0" rIns="0" bIns="0" rtlCol="0" anchor="ctr"/>
          <a:lstStyle/>
          <a:p>
            <a:pPr indent="0" marL="0">
              <a:buNone/>
            </a:pPr>
            <a:r>
              <a:rPr lang="en-US" sz="1250" b="1" dirty="0">
                <a:solidFill>
                  <a:srgbClr val="1E2761"/>
                </a:solidFill>
                <a:latin typeface="Hiragino Sans" pitchFamily="34" charset="0"/>
                <a:ea typeface="Hiragino Sans" pitchFamily="34" charset="-122"/>
                <a:cs typeface="Hiragino Sans" pitchFamily="34" charset="-120"/>
              </a:rPr>
              <a:t>今後</a:t>
            </a:r>
            <a:endParaRPr lang="en-US" sz="1250" dirty="0"/>
          </a:p>
        </p:txBody>
      </p:sp>
      <p:sp>
        <p:nvSpPr>
          <p:cNvPr id="17" name="Text 15"/>
          <p:cNvSpPr/>
          <p:nvPr/>
        </p:nvSpPr>
        <p:spPr>
          <a:xfrm>
            <a:off x="822960" y="5166360"/>
            <a:ext cx="3429000" cy="274320"/>
          </a:xfrm>
          <a:prstGeom prst="rect">
            <a:avLst/>
          </a:prstGeom>
          <a:noFill/>
          <a:ln/>
        </p:spPr>
        <p:txBody>
          <a:bodyPr wrap="square" lIns="0" tIns="0" rIns="0" bIns="0" rtlCol="0" anchor="ctr"/>
          <a:lstStyle/>
          <a:p>
            <a:pPr indent="0" marL="0">
              <a:buNone/>
            </a:pPr>
            <a:r>
              <a:rPr lang="en-US" sz="1150" b="1" dirty="0">
                <a:solidFill>
                  <a:srgbClr val="1A1A1A"/>
                </a:solidFill>
                <a:latin typeface="Hiragino Sans" pitchFamily="34" charset="0"/>
                <a:ea typeface="Hiragino Sans" pitchFamily="34" charset="-122"/>
                <a:cs typeface="Hiragino Sans" pitchFamily="34" charset="-120"/>
              </a:rPr>
              <a:t>1. 論文2本の文献・投稿先</a:t>
            </a:r>
            <a:endParaRPr lang="en-US" sz="1150" dirty="0"/>
          </a:p>
        </p:txBody>
      </p:sp>
      <p:sp>
        <p:nvSpPr>
          <p:cNvPr id="18" name="Text 16"/>
          <p:cNvSpPr/>
          <p:nvPr/>
        </p:nvSpPr>
        <p:spPr>
          <a:xfrm>
            <a:off x="822960" y="5440680"/>
            <a:ext cx="3429000" cy="548640"/>
          </a:xfrm>
          <a:prstGeom prst="rect">
            <a:avLst/>
          </a:prstGeom>
          <a:noFill/>
          <a:ln/>
        </p:spPr>
        <p:txBody>
          <a:bodyPr wrap="square" lIns="0" tIns="0" rIns="0" bIns="0" rtlCol="0" anchor="t"/>
          <a:lstStyle/>
          <a:p>
            <a:pPr indent="0" marL="0">
              <a:lnSpc>
                <a:spcPts val="1400"/>
              </a:lnSpc>
              <a:buNone/>
            </a:pPr>
            <a:r>
              <a:rPr lang="en-US" sz="1050" dirty="0">
                <a:solidFill>
                  <a:srgbClr val="55555F"/>
                </a:solidFill>
                <a:latin typeface="Hiragino Sans" pitchFamily="34" charset="0"/>
                <a:ea typeface="Hiragino Sans" pitchFamily="34" charset="-122"/>
                <a:cs typeface="Hiragino Sans" pitchFamily="34" charset="-120"/>
              </a:rPr>
              <a:t>BibTeX整備と体裁確定が先頭</a:t>
            </a:r>
            <a:endParaRPr lang="en-US" sz="1050" dirty="0"/>
          </a:p>
        </p:txBody>
      </p:sp>
      <p:sp>
        <p:nvSpPr>
          <p:cNvPr id="19" name="Text 17"/>
          <p:cNvSpPr/>
          <p:nvPr/>
        </p:nvSpPr>
        <p:spPr>
          <a:xfrm>
            <a:off x="4434840" y="5166360"/>
            <a:ext cx="3429000" cy="274320"/>
          </a:xfrm>
          <a:prstGeom prst="rect">
            <a:avLst/>
          </a:prstGeom>
          <a:noFill/>
          <a:ln/>
        </p:spPr>
        <p:txBody>
          <a:bodyPr wrap="square" lIns="0" tIns="0" rIns="0" bIns="0" rtlCol="0" anchor="ctr"/>
          <a:lstStyle/>
          <a:p>
            <a:pPr indent="0" marL="0">
              <a:buNone/>
            </a:pPr>
            <a:r>
              <a:rPr lang="en-US" sz="1150" b="1" dirty="0">
                <a:solidFill>
                  <a:srgbClr val="1A1A1A"/>
                </a:solidFill>
                <a:latin typeface="Hiragino Sans" pitchFamily="34" charset="0"/>
                <a:ea typeface="Hiragino Sans" pitchFamily="34" charset="-122"/>
                <a:cs typeface="Hiragino Sans" pitchFamily="34" charset="-120"/>
              </a:rPr>
              <a:t>2. 西日本フルAC</a:t>
            </a:r>
            <a:endParaRPr lang="en-US" sz="1150" dirty="0"/>
          </a:p>
        </p:txBody>
      </p:sp>
      <p:sp>
        <p:nvSpPr>
          <p:cNvPr id="20" name="Text 18"/>
          <p:cNvSpPr/>
          <p:nvPr/>
        </p:nvSpPr>
        <p:spPr>
          <a:xfrm>
            <a:off x="4434840" y="5440680"/>
            <a:ext cx="3429000" cy="548640"/>
          </a:xfrm>
          <a:prstGeom prst="rect">
            <a:avLst/>
          </a:prstGeom>
          <a:noFill/>
          <a:ln/>
        </p:spPr>
        <p:txBody>
          <a:bodyPr wrap="square" lIns="0" tIns="0" rIns="0" bIns="0" rtlCol="0" anchor="t"/>
          <a:lstStyle/>
          <a:p>
            <a:pPr indent="0" marL="0">
              <a:lnSpc>
                <a:spcPts val="1400"/>
              </a:lnSpc>
              <a:buNone/>
            </a:pPr>
            <a:r>
              <a:rPr lang="en-US" sz="1050" dirty="0">
                <a:solidFill>
                  <a:srgbClr val="55555F"/>
                </a:solidFill>
                <a:latin typeface="Hiragino Sans" pitchFamily="34" charset="0"/>
                <a:ea typeface="Hiragino Sans" pitchFamily="34" charset="-122"/>
                <a:cs typeface="Hiragino Sans" pitchFamily="34" charset="-120"/>
              </a:rPr>
              <a:t>66 kVメッシュ表現（並列回線・変圧器容量・無効電力支援）</a:t>
            </a:r>
            <a:endParaRPr lang="en-US" sz="1050" dirty="0"/>
          </a:p>
        </p:txBody>
      </p:sp>
      <p:sp>
        <p:nvSpPr>
          <p:cNvPr id="21" name="Text 19"/>
          <p:cNvSpPr/>
          <p:nvPr/>
        </p:nvSpPr>
        <p:spPr>
          <a:xfrm>
            <a:off x="8046720" y="5166360"/>
            <a:ext cx="3429000" cy="274320"/>
          </a:xfrm>
          <a:prstGeom prst="rect">
            <a:avLst/>
          </a:prstGeom>
          <a:noFill/>
          <a:ln/>
        </p:spPr>
        <p:txBody>
          <a:bodyPr wrap="square" lIns="0" tIns="0" rIns="0" bIns="0" rtlCol="0" anchor="ctr"/>
          <a:lstStyle/>
          <a:p>
            <a:pPr indent="0" marL="0">
              <a:buNone/>
            </a:pPr>
            <a:r>
              <a:rPr lang="en-US" sz="1150" b="1" dirty="0">
                <a:solidFill>
                  <a:srgbClr val="1A1A1A"/>
                </a:solidFill>
                <a:latin typeface="Hiragino Sans" pitchFamily="34" charset="0"/>
                <a:ea typeface="Hiragino Sans" pitchFamily="34" charset="-122"/>
                <a:cs typeface="Hiragino Sans" pitchFamily="34" charset="-120"/>
              </a:rPr>
              <a:t>3. OSMへの還流</a:t>
            </a:r>
            <a:endParaRPr lang="en-US" sz="1150" dirty="0"/>
          </a:p>
        </p:txBody>
      </p:sp>
      <p:sp>
        <p:nvSpPr>
          <p:cNvPr id="22" name="Text 20"/>
          <p:cNvSpPr/>
          <p:nvPr/>
        </p:nvSpPr>
        <p:spPr>
          <a:xfrm>
            <a:off x="8046720" y="5440680"/>
            <a:ext cx="3429000" cy="548640"/>
          </a:xfrm>
          <a:prstGeom prst="rect">
            <a:avLst/>
          </a:prstGeom>
          <a:noFill/>
          <a:ln/>
        </p:spPr>
        <p:txBody>
          <a:bodyPr wrap="square" lIns="0" tIns="0" rIns="0" bIns="0" rtlCol="0" anchor="t"/>
          <a:lstStyle/>
          <a:p>
            <a:pPr indent="0" marL="0">
              <a:lnSpc>
                <a:spcPts val="1400"/>
              </a:lnSpc>
              <a:buNone/>
            </a:pPr>
            <a:r>
              <a:rPr lang="en-US" sz="1050" dirty="0">
                <a:solidFill>
                  <a:srgbClr val="55555F"/>
                </a:solidFill>
                <a:latin typeface="Hiragino Sans" pitchFamily="34" charset="0"/>
                <a:ea typeface="Hiragino Sans" pitchFamily="34" charset="-122"/>
                <a:cs typeface="Hiragino Sans" pitchFamily="34" charset="-120"/>
              </a:rPr>
              <a:t>issue #49 の編集候補リスト10件を実行 — 欠測を貢献に変える</a:t>
            </a:r>
            <a:endParaRPr lang="en-US" sz="1050" dirty="0"/>
          </a:p>
        </p:txBody>
      </p:sp>
      <p:sp>
        <p:nvSpPr>
          <p:cNvPr id="23" name="Text 21"/>
          <p:cNvSpPr/>
          <p:nvPr/>
        </p:nvSpPr>
        <p:spPr>
          <a:xfrm>
            <a:off x="822960" y="6053328"/>
            <a:ext cx="10607040" cy="256032"/>
          </a:xfrm>
          <a:prstGeom prst="rect">
            <a:avLst/>
          </a:prstGeom>
          <a:noFill/>
          <a:ln/>
        </p:spPr>
        <p:txBody>
          <a:bodyPr wrap="square" lIns="0" tIns="0" rIns="0" bIns="0" rtlCol="0" anchor="ctr"/>
          <a:lstStyle/>
          <a:p>
            <a:pPr indent="0" marL="0">
              <a:buNone/>
            </a:pPr>
            <a:r>
              <a:rPr lang="en-US" sz="900" dirty="0">
                <a:solidFill>
                  <a:srgbClr val="55555F"/>
                </a:solidFill>
                <a:latin typeface="Courier New" pitchFamily="34" charset="0"/>
                <a:ea typeface="Courier New" pitchFamily="34" charset="-122"/>
                <a:cs typeface="Courier New" pitchFamily="34" charset="-120"/>
              </a:rPr>
              <a:t>github.com/lutelute/All-Japan-Grid　|　lutelute.github.io/All-Japan-Grid　|　データ: ODbL（OSM由来）・コード: MIT　|　航空写真: 国土地理院</a:t>
            </a:r>
            <a:endParaRPr lang="en-US" sz="900" dirty="0"/>
          </a:p>
        </p:txBody>
      </p:sp>
      <p:sp>
        <p:nvSpPr>
          <p:cNvPr id="24" name="Text 22"/>
          <p:cNvSpPr/>
          <p:nvPr/>
        </p:nvSpPr>
        <p:spPr>
          <a:xfrm>
            <a:off x="640080" y="6510528"/>
            <a:ext cx="5486400" cy="256032"/>
          </a:xfrm>
          <a:prstGeom prst="rect">
            <a:avLst/>
          </a:prstGeom>
          <a:noFill/>
          <a:ln/>
        </p:spPr>
        <p:txBody>
          <a:bodyPr wrap="square" lIns="0" tIns="0" rIns="0" bIns="0" rtlCol="0" anchor="ctr"/>
          <a:lstStyle/>
          <a:p>
            <a:pPr indent="0" marL="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25" name="Text 23"/>
          <p:cNvSpPr/>
          <p:nvPr/>
        </p:nvSpPr>
        <p:spPr>
          <a:xfrm>
            <a:off x="9692640" y="6510528"/>
            <a:ext cx="1463040" cy="256032"/>
          </a:xfrm>
          <a:prstGeom prst="rect">
            <a:avLst/>
          </a:prstGeom>
          <a:noFill/>
          <a:ln/>
        </p:spPr>
        <p:txBody>
          <a:bodyPr wrap="square" lIns="0" tIns="0" rIns="0" bIns="0" rtlCol="0" anchor="ctr"/>
          <a:lstStyle/>
          <a:p>
            <a:pPr algn="r" indent="0" marL="0">
              <a:buNone/>
            </a:pPr>
            <a:r>
              <a:rPr lang="en-US" sz="900" dirty="0">
                <a:solidFill>
                  <a:srgbClr val="55555F"/>
                </a:solidFill>
                <a:latin typeface="Helvetica Neue" pitchFamily="34" charset="0"/>
                <a:ea typeface="Helvetica Neue" pitchFamily="34" charset="-122"/>
                <a:cs typeface="Helvetica Neue" pitchFamily="34" charset="-120"/>
              </a:rPr>
              <a:t>0:30</a:t>
            </a:r>
            <a:endParaRPr lang="en-US" sz="900" dirty="0"/>
          </a:p>
        </p:txBody>
      </p:sp>
      <p:sp>
        <p:nvSpPr>
          <p:cNvPr id="26" name="Text 24"/>
          <p:cNvSpPr/>
          <p:nvPr/>
        </p:nvSpPr>
        <p:spPr>
          <a:xfrm>
            <a:off x="11338560" y="6510528"/>
            <a:ext cx="457200" cy="256032"/>
          </a:xfrm>
          <a:prstGeom prst="rect">
            <a:avLst/>
          </a:prstGeom>
          <a:noFill/>
          <a:ln/>
        </p:spPr>
        <p:txBody>
          <a:bodyPr wrap="square" lIns="0" tIns="0" rIns="0" bIns="0" rtlCol="0" anchor="ctr"/>
          <a:lstStyle/>
          <a:p>
            <a:pPr algn="r" indent="0" marL="0">
              <a:buNone/>
            </a:pPr>
            <a:r>
              <a:rPr lang="en-US" sz="1000" dirty="0">
                <a:solidFill>
                  <a:srgbClr val="55555F"/>
                </a:solidFill>
                <a:latin typeface="Helvetica Neue" pitchFamily="34" charset="0"/>
                <a:ea typeface="Helvetica Neue" pitchFamily="34" charset="-122"/>
                <a:cs typeface="Helvetica Neue" pitchFamily="34" charset="-120"/>
              </a:rPr>
              <a:t>23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2026-08-29T14:10:21Z</dcterms:created>
  <dcterms:modified xsi:type="dcterms:W3CDTF">2026-08-29T14:10:21Z</dcterms:modified>
</cp:coreProperties>
</file>