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30秒。右の図は本プロジェクトの実出力（全国の電圧クラス別送電網）。「地図はある、モデルが無い」だけ言って次へ。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論文（ieee-openaccess）§I の構図そのまま。日本だけ赤。下段で OSM に橋を架けると宣言。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3層（線・変電所・発電所）を見せて、下2枚で線引き。「捏造ゼロ」はここで一度だけ宣言し、以後は行動で見せる。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この1枚が地図。以降のスライドは左上バッジ（幕色つき）で現在地を示す。斜体の問いの連鎖だけ読み上げる。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 §III–VI をこの1枚に圧縮。「電気パラメータは合成＝推定と明記」を図の緑ブロックを指して言う。87%は補完の欠損削減率（論文値）。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数値は論文 Table I / II。本文の 8,164 は誤記（同論文の表合計は 6,962）で、この版から 6,962 に統一している。限界の明記が第3幕への伏線。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この枚の主張は右の赤枠。「標準対応しました」ではなく「標準が検証器になった」。5つのバグはどれも自前レンダラだけなら気づけない。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左下の衛星3連画像は v1.1 の比較タブ（衛星写真で位置を目視検証）。右図は自慢の1枚だが、次の幕でこれを自分で疑いにいく。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プロジェクトの転回点。8枚目の全国AC図を自分で解体した話。「結果を悪くする訂正」の一文をゆっくり。ここが第5幕の『完全性を主張せず測定する』の源流。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デバッグ譚として一番話せる枚。「+5.7%が訂正」の反直感を丁寧に。方法論文書は osm_grid_pitfalls_methodology_2026-07-10.md。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第3幕の規律が開示データにも適用される、が主題。「開示があるから正しい」ではなく開示も証拠ゲートを通す（EGGC）。UC訂正は開示容量と突き合わせて初めて見えた。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静的データセットが「動く系統の観測器」になった枚。39–129 MWの一致幅は検証時点の実測。デモできるならここで flow_map を開く。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7,239 は構造DBのサイト数で、第1幕の 6,962（データセットfeature・v1.2測定）とは定義が違う — 聞かれたら即答する。深掘りは姉妹デッキへ誘導。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年表（S4）の5幕がそのまま5層に堆積している、という視覚的な回収。層の色＝幕の色。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各原則が生まれた事件と対応：①=v1.8証拠閉包 ②=v1.5介入台帳 ③=v1.5東AC解体 ④=v1.8 issue#49。下帯の一文がこのデッキの結論。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論文カードの※は正直に残す（既知の宿題を隠さない — それ自体がこのプロジェクトの流儀）。質疑へ。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fig_national_all.png">    </p:cNvPr>
          <p:cNvPicPr>
            <a:picLocks noChangeAspect="1"/>
          </p:cNvPicPr>
          <p:nvPr/>
        </p:nvPicPr>
        <p:blipFill>
          <a:blip r:embed="rId1"/>
          <a:stretch>
            <a:fillRect/>
          </a:stretch>
        </p:blipFill>
        <p:spPr>
          <a:xfrm>
            <a:off x="7223760" y="320040"/>
            <a:ext cx="4663440" cy="5998464"/>
          </a:xfrm>
          <a:prstGeom prst="rect">
            <a:avLst/>
          </a:prstGeom>
        </p:spPr>
      </p:pic>
      <p:sp>
        <p:nvSpPr>
          <p:cNvPr id="3" name="Text 0"/>
          <p:cNvSpPr/>
          <p:nvPr/>
        </p:nvSpPr>
        <p:spPr>
          <a:xfrm>
            <a:off x="7223760" y="6355080"/>
            <a:ext cx="4663440" cy="274320"/>
          </a:xfrm>
          <a:prstGeom prst="rect">
            <a:avLst/>
          </a:prstGeom>
          <a:noFill/>
          <a:ln/>
        </p:spPr>
        <p:txBody>
          <a:bodyPr wrap="square" lIns="0" tIns="0" rIns="0" bIns="0" rtlCol="0" anchor="ctr"/>
          <a:lstStyle/>
          <a:p>
            <a:pPr indent="0" marL="0">
              <a:buNone/>
            </a:pPr>
            <a:r>
              <a:rPr lang="en-US" sz="850" dirty="0">
                <a:solidFill>
                  <a:srgbClr val="55555F"/>
                </a:solidFill>
                <a:latin typeface="Hiragino Sans" pitchFamily="34" charset="0"/>
                <a:ea typeface="Hiragino Sans" pitchFamily="34" charset="-122"/>
                <a:cs typeface="Hiragino Sans" pitchFamily="34" charset="-120"/>
              </a:rPr>
              <a:t>出典: 本プロジェクトの実出力（OSM © OpenStreetMap contributors, ODbL）</a:t>
            </a:r>
            <a:endParaRPr lang="en-US" sz="850" dirty="0"/>
          </a:p>
        </p:txBody>
      </p:sp>
      <p:sp>
        <p:nvSpPr>
          <p:cNvPr id="4" name="Text 1"/>
          <p:cNvSpPr/>
          <p:nvPr/>
        </p:nvSpPr>
        <p:spPr>
          <a:xfrm>
            <a:off x="685800" y="914400"/>
            <a:ext cx="6035040" cy="292608"/>
          </a:xfrm>
          <a:prstGeom prst="rect">
            <a:avLst/>
          </a:prstGeom>
          <a:noFill/>
          <a:ln/>
        </p:spPr>
        <p:txBody>
          <a:bodyPr wrap="square" lIns="0" tIns="0" rIns="0" bIns="0" rtlCol="0" anchor="ctr"/>
          <a:lstStyle/>
          <a:p>
            <a:pPr indent="0" marL="0">
              <a:buNone/>
            </a:pPr>
            <a:r>
              <a:rPr lang="en-US" sz="1150" b="1" spc="200" kern="0" dirty="0">
                <a:solidFill>
                  <a:srgbClr val="1E2761"/>
                </a:solidFill>
                <a:latin typeface="Helvetica Neue" pitchFamily="34" charset="0"/>
                <a:ea typeface="Helvetica Neue" pitchFamily="34" charset="-122"/>
                <a:cs typeface="Helvetica Neue" pitchFamily="34" charset="-120"/>
              </a:rPr>
              <a:t>ALL-JAPAN-GRID  /  2026-03 → 2026-08</a:t>
            </a:r>
            <a:endParaRPr lang="en-US" sz="1150" dirty="0"/>
          </a:p>
        </p:txBody>
      </p:sp>
      <p:sp>
        <p:nvSpPr>
          <p:cNvPr id="5" name="Text 2"/>
          <p:cNvSpPr/>
          <p:nvPr/>
        </p:nvSpPr>
        <p:spPr>
          <a:xfrm>
            <a:off x="640080" y="1371600"/>
            <a:ext cx="6309360" cy="1828800"/>
          </a:xfrm>
          <a:prstGeom prst="rect">
            <a:avLst/>
          </a:prstGeom>
          <a:noFill/>
          <a:ln/>
        </p:spPr>
        <p:txBody>
          <a:bodyPr wrap="square" lIns="0" tIns="0" rIns="0" bIns="0" rtlCol="0" anchor="ctr"/>
          <a:lstStyle/>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OSMから、日本全国の</a:t>
            </a:r>
            <a:endParaRPr lang="en-US" sz="3600" dirty="0"/>
          </a:p>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送電網モデルを作る</a:t>
            </a:r>
            <a:endParaRPr lang="en-US" sz="3600" dirty="0"/>
          </a:p>
        </p:txBody>
      </p:sp>
      <p:sp>
        <p:nvSpPr>
          <p:cNvPr id="6" name="Text 3"/>
          <p:cNvSpPr/>
          <p:nvPr/>
        </p:nvSpPr>
        <p:spPr>
          <a:xfrm>
            <a:off x="685800" y="3291840"/>
            <a:ext cx="6126480" cy="411480"/>
          </a:xfrm>
          <a:prstGeom prst="rect">
            <a:avLst/>
          </a:prstGeom>
          <a:noFill/>
          <a:ln/>
        </p:spPr>
        <p:txBody>
          <a:bodyPr wrap="square" lIns="0" tIns="0" rIns="0" bIns="0" rtlCol="0" anchor="ctr"/>
          <a:lstStyle/>
          <a:p>
            <a:pPr indent="0" marL="0">
              <a:buNone/>
            </a:pPr>
            <a:r>
              <a:rPr lang="en-US" sz="1700" dirty="0">
                <a:solidFill>
                  <a:srgbClr val="1A1A1A"/>
                </a:solidFill>
                <a:latin typeface="Hiragino Sans" pitchFamily="34" charset="0"/>
                <a:ea typeface="Hiragino Sans" pitchFamily="34" charset="-122"/>
                <a:cs typeface="Hiragino Sans" pitchFamily="34" charset="-120"/>
              </a:rPr>
              <a:t>— 6ヶ月・1,021コミット・10リリースの記録</a:t>
            </a:r>
            <a:endParaRPr lang="en-US" sz="1700" dirty="0"/>
          </a:p>
        </p:txBody>
      </p:sp>
      <p:sp>
        <p:nvSpPr>
          <p:cNvPr id="7" name="Text 4"/>
          <p:cNvSpPr/>
          <p:nvPr/>
        </p:nvSpPr>
        <p:spPr>
          <a:xfrm>
            <a:off x="685800" y="3977640"/>
            <a:ext cx="6126480" cy="640080"/>
          </a:xfrm>
          <a:prstGeom prst="rect">
            <a:avLst/>
          </a:prstGeom>
          <a:noFill/>
          <a:ln/>
        </p:spPr>
        <p:txBody>
          <a:bodyPr wrap="square" lIns="0" tIns="0" rIns="0" bIns="0" rtlCol="0" anchor="ctr"/>
          <a:lstStyle/>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All-Japan-Grid: Automated Extraction of Japan's Nationwide</a:t>
            </a:r>
            <a:endParaRPr lang="en-US" sz="1250" dirty="0"/>
          </a:p>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Transmission Grid Topology from OpenStreetMap</a:t>
            </a:r>
            <a:endParaRPr lang="en-US" sz="1250" dirty="0"/>
          </a:p>
        </p:txBody>
      </p:sp>
      <p:sp>
        <p:nvSpPr>
          <p:cNvPr id="8" name="Text 5"/>
          <p:cNvSpPr/>
          <p:nvPr/>
        </p:nvSpPr>
        <p:spPr>
          <a:xfrm>
            <a:off x="685800" y="4800600"/>
            <a:ext cx="612648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Ryuto Shigenobu — University of Fukui,</a:t>
            </a:r>
            <a:endParaRPr lang="en-US" sz="1150" dirty="0"/>
          </a:p>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Dept. of Electrical, Electronic and Computer Engineering</a:t>
            </a:r>
            <a:endParaRPr lang="en-US" sz="1150" dirty="0"/>
          </a:p>
        </p:txBody>
      </p:sp>
      <p:sp>
        <p:nvSpPr>
          <p:cNvPr id="9" name="Text 6"/>
          <p:cNvSpPr/>
          <p:nvPr/>
        </p:nvSpPr>
        <p:spPr>
          <a:xfrm>
            <a:off x="685800" y="5577840"/>
            <a:ext cx="6126480" cy="365760"/>
          </a:xfrm>
          <a:prstGeom prst="rect">
            <a:avLst/>
          </a:prstGeom>
          <a:noFill/>
          <a:ln/>
        </p:spPr>
        <p:txBody>
          <a:bodyPr wrap="square" lIns="0" tIns="0" rIns="0" bIns="0" rtlCol="0" anchor="ctr"/>
          <a:lstStyle/>
          <a:p>
            <a:pPr indent="0" marL="0">
              <a:buNone/>
            </a:pPr>
            <a:r>
              <a:rPr lang="en-US" sz="1450" b="1" dirty="0">
                <a:solidFill>
                  <a:srgbClr val="1A1A1A"/>
                </a:solidFill>
                <a:latin typeface="Hiragino Sans" pitchFamily="34" charset="0"/>
                <a:ea typeface="Hiragino Sans" pitchFamily="34" charset="-122"/>
                <a:cs typeface="Hiragino Sans" pitchFamily="34" charset="-120"/>
              </a:rPr>
              <a:t>地図はある。モデルが無い。だから作った。</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日本には、公開のバスレベル系統モデルが無い</a:t>
            </a:r>
            <a:endParaRPr lang="en-US" sz="2100" dirty="0"/>
          </a:p>
        </p:txBody>
      </p:sp>
      <p:sp>
        <p:nvSpPr>
          <p:cNvPr id="5" name="Shape 3"/>
          <p:cNvSpPr/>
          <p:nvPr/>
        </p:nvSpPr>
        <p:spPr>
          <a:xfrm>
            <a:off x="822960" y="1234440"/>
            <a:ext cx="10607040" cy="1005840"/>
          </a:xfrm>
          <a:prstGeom prst="roundRect">
            <a:avLst>
              <a:gd name="adj" fmla="val 5455"/>
            </a:avLst>
          </a:prstGeom>
          <a:solidFill>
            <a:srgbClr val="F4F4F6"/>
          </a:solidFill>
          <a:ln/>
        </p:spPr>
      </p:sp>
      <p:sp>
        <p:nvSpPr>
          <p:cNvPr id="6" name="Text 4"/>
          <p:cNvSpPr/>
          <p:nvPr/>
        </p:nvSpPr>
        <p:spPr>
          <a:xfrm>
            <a:off x="1097280" y="1344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米国</a:t>
            </a:r>
            <a:endParaRPr lang="en-US" sz="1500" dirty="0"/>
          </a:p>
        </p:txBody>
      </p:sp>
      <p:sp>
        <p:nvSpPr>
          <p:cNvPr id="7" name="Text 5"/>
          <p:cNvSpPr/>
          <p:nvPr/>
        </p:nvSpPr>
        <p:spPr>
          <a:xfrm>
            <a:off x="1097280" y="1764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FERC Form 715</a:t>
            </a:r>
            <a:endParaRPr lang="en-US" sz="1150" dirty="0"/>
          </a:p>
        </p:txBody>
      </p:sp>
      <p:sp>
        <p:nvSpPr>
          <p:cNvPr id="8" name="Text 6"/>
          <p:cNvSpPr/>
          <p:nvPr/>
        </p:nvSpPr>
        <p:spPr>
          <a:xfrm>
            <a:off x="3291840" y="1234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ネットワークモデルの開示義務。バスレベルで研究利用できる</a:t>
            </a:r>
            <a:endParaRPr lang="en-US" sz="1300" dirty="0"/>
          </a:p>
        </p:txBody>
      </p:sp>
      <p:sp>
        <p:nvSpPr>
          <p:cNvPr id="9" name="Shape 7"/>
          <p:cNvSpPr/>
          <p:nvPr/>
        </p:nvSpPr>
        <p:spPr>
          <a:xfrm>
            <a:off x="822960" y="2377440"/>
            <a:ext cx="10607040" cy="1005840"/>
          </a:xfrm>
          <a:prstGeom prst="roundRect">
            <a:avLst>
              <a:gd name="adj" fmla="val 5455"/>
            </a:avLst>
          </a:prstGeom>
          <a:solidFill>
            <a:srgbClr val="F4F4F6"/>
          </a:solidFill>
          <a:ln/>
        </p:spPr>
      </p:sp>
      <p:sp>
        <p:nvSpPr>
          <p:cNvPr id="10" name="Text 8"/>
          <p:cNvSpPr/>
          <p:nvPr/>
        </p:nvSpPr>
        <p:spPr>
          <a:xfrm>
            <a:off x="1097280" y="2487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欧州</a:t>
            </a:r>
            <a:endParaRPr lang="en-US" sz="1500" dirty="0"/>
          </a:p>
        </p:txBody>
      </p:sp>
      <p:sp>
        <p:nvSpPr>
          <p:cNvPr id="11" name="Text 9"/>
          <p:cNvSpPr/>
          <p:nvPr/>
        </p:nvSpPr>
        <p:spPr>
          <a:xfrm>
            <a:off x="1097280" y="2907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ENTSO-E</a:t>
            </a:r>
            <a:endParaRPr lang="en-US" sz="1150" dirty="0"/>
          </a:p>
        </p:txBody>
      </p:sp>
      <p:sp>
        <p:nvSpPr>
          <p:cNvPr id="12" name="Text 10"/>
          <p:cNvSpPr/>
          <p:nvPr/>
        </p:nvSpPr>
        <p:spPr>
          <a:xfrm>
            <a:off x="3291840" y="2377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透明性プラットフォーム＋PyPSA-Eur等の公開モデル群</a:t>
            </a:r>
            <a:endParaRPr lang="en-US" sz="1300" dirty="0"/>
          </a:p>
        </p:txBody>
      </p:sp>
      <p:sp>
        <p:nvSpPr>
          <p:cNvPr id="13" name="Shape 11"/>
          <p:cNvSpPr/>
          <p:nvPr/>
        </p:nvSpPr>
        <p:spPr>
          <a:xfrm>
            <a:off x="822960" y="3520440"/>
            <a:ext cx="10607040" cy="1005840"/>
          </a:xfrm>
          <a:prstGeom prst="roundRect">
            <a:avLst>
              <a:gd name="adj" fmla="val 5455"/>
            </a:avLst>
          </a:prstGeom>
          <a:solidFill>
            <a:srgbClr val="F4F4F6"/>
          </a:solidFill>
          <a:ln/>
        </p:spPr>
      </p:sp>
      <p:sp>
        <p:nvSpPr>
          <p:cNvPr id="14" name="Text 12"/>
          <p:cNvSpPr/>
          <p:nvPr/>
        </p:nvSpPr>
        <p:spPr>
          <a:xfrm>
            <a:off x="1097280" y="3630168"/>
            <a:ext cx="1371600" cy="365760"/>
          </a:xfrm>
          <a:prstGeom prst="rect">
            <a:avLst/>
          </a:prstGeom>
          <a:noFill/>
          <a:ln/>
        </p:spPr>
        <p:txBody>
          <a:bodyPr wrap="square" lIns="0" tIns="0" rIns="0" bIns="0" rtlCol="0" anchor="ctr"/>
          <a:lstStyle/>
          <a:p>
            <a:pPr indent="0" marL="0">
              <a:buNone/>
            </a:pPr>
            <a:r>
              <a:rPr lang="en-US" sz="1500" b="1" dirty="0">
                <a:solidFill>
                  <a:srgbClr val="C62828"/>
                </a:solidFill>
                <a:latin typeface="Hiragino Sans" pitchFamily="34" charset="0"/>
                <a:ea typeface="Hiragino Sans" pitchFamily="34" charset="-122"/>
                <a:cs typeface="Hiragino Sans" pitchFamily="34" charset="-120"/>
              </a:rPr>
              <a:t>日本</a:t>
            </a:r>
            <a:endParaRPr lang="en-US" sz="1500" dirty="0"/>
          </a:p>
        </p:txBody>
      </p:sp>
      <p:sp>
        <p:nvSpPr>
          <p:cNvPr id="15" name="Text 13"/>
          <p:cNvSpPr/>
          <p:nvPr/>
        </p:nvSpPr>
        <p:spPr>
          <a:xfrm>
            <a:off x="1097280" y="4050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OCCTO 公表</a:t>
            </a:r>
            <a:endParaRPr lang="en-US" sz="1150" dirty="0"/>
          </a:p>
        </p:txBody>
      </p:sp>
      <p:sp>
        <p:nvSpPr>
          <p:cNvPr id="16" name="Text 14"/>
          <p:cNvSpPr/>
          <p:nvPr/>
        </p:nvSpPr>
        <p:spPr>
          <a:xfrm>
            <a:off x="3291840" y="3520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連系線容量・需給計画のみ。インピーダンス・変圧器・ノード需要は事業者内部</a:t>
            </a:r>
            <a:endParaRPr lang="en-US" sz="1300" dirty="0"/>
          </a:p>
        </p:txBody>
      </p:sp>
      <p:sp>
        <p:nvSpPr>
          <p:cNvPr id="17" name="Shape 15"/>
          <p:cNvSpPr/>
          <p:nvPr/>
        </p:nvSpPr>
        <p:spPr>
          <a:xfrm>
            <a:off x="822960" y="4892040"/>
            <a:ext cx="10607040" cy="1051560"/>
          </a:xfrm>
          <a:prstGeom prst="roundRect">
            <a:avLst>
              <a:gd name="adj" fmla="val 5217"/>
            </a:avLst>
          </a:prstGeom>
          <a:solidFill>
            <a:srgbClr val="1E2761"/>
          </a:solidFill>
          <a:ln/>
        </p:spPr>
      </p:sp>
      <p:sp>
        <p:nvSpPr>
          <p:cNvPr id="18" name="Text 16"/>
          <p:cNvSpPr/>
          <p:nvPr/>
        </p:nvSpPr>
        <p:spPr>
          <a:xfrm>
            <a:off x="1097280" y="4892040"/>
            <a:ext cx="10058400" cy="1051560"/>
          </a:xfrm>
          <a:prstGeom prst="rect">
            <a:avLst/>
          </a:prstGeom>
          <a:noFill/>
          <a:ln/>
        </p:spPr>
        <p:txBody>
          <a:bodyPr wrap="square" lIns="0" tIns="0" rIns="0" bIns="0" rtlCol="0" anchor="ctr"/>
          <a:lstStyle/>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一方で OpenStreetMap には、変電所の位置・送電線の経路・発電所が「地理」としては写っている。</a:t>
            </a:r>
            <a:endParaRPr lang="en-US" sz="1350" dirty="0"/>
          </a:p>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地理トポロジから系統モデルへ — このギャップを埋めるのが本プロジェクト。</a:t>
            </a:r>
            <a:endParaRPr lang="en-US" sz="1350" dirty="0"/>
          </a:p>
        </p:txBody>
      </p:sp>
      <p:sp>
        <p:nvSpPr>
          <p:cNvPr id="19"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OSMが持つもの・持たないもの — そして最初に置いた原則</a:t>
            </a:r>
            <a:endParaRPr lang="en-US" sz="2100" dirty="0"/>
          </a:p>
        </p:txBody>
      </p:sp>
      <p:pic>
        <p:nvPicPr>
          <p:cNvPr id="5" name="Image 0" descr="assets/fig_layer_combined.png">    </p:cNvPr>
          <p:cNvPicPr>
            <a:picLocks noChangeAspect="1"/>
          </p:cNvPicPr>
          <p:nvPr/>
        </p:nvPicPr>
        <p:blipFill>
          <a:blip r:embed="rId1"/>
          <a:stretch>
            <a:fillRect/>
          </a:stretch>
        </p:blipFill>
        <p:spPr>
          <a:xfrm>
            <a:off x="822960" y="1097280"/>
            <a:ext cx="10607040" cy="3749040"/>
          </a:xfrm>
          <a:prstGeom prst="rect">
            <a:avLst/>
          </a:prstGeom>
        </p:spPr>
      </p:pic>
      <p:sp>
        <p:nvSpPr>
          <p:cNvPr id="6" name="Shape 3"/>
          <p:cNvSpPr/>
          <p:nvPr/>
        </p:nvSpPr>
        <p:spPr>
          <a:xfrm>
            <a:off x="822960" y="4983480"/>
            <a:ext cx="5120640" cy="1234440"/>
          </a:xfrm>
          <a:prstGeom prst="roundRect">
            <a:avLst>
              <a:gd name="adj" fmla="val 4444"/>
            </a:avLst>
          </a:prstGeom>
          <a:solidFill>
            <a:srgbClr val="F4F4F6"/>
          </a:solidFill>
          <a:ln/>
        </p:spPr>
      </p:sp>
      <p:sp>
        <p:nvSpPr>
          <p:cNvPr id="7" name="Shape 4"/>
          <p:cNvSpPr/>
          <p:nvPr/>
        </p:nvSpPr>
        <p:spPr>
          <a:xfrm>
            <a:off x="1024128" y="5202936"/>
            <a:ext cx="128016" cy="128016"/>
          </a:xfrm>
          <a:prstGeom prst="rect">
            <a:avLst/>
          </a:prstGeom>
          <a:solidFill>
            <a:srgbClr val="2E7D32"/>
          </a:solidFill>
          <a:ln/>
        </p:spPr>
      </p:sp>
      <p:sp>
        <p:nvSpPr>
          <p:cNvPr id="8" name="Text 5"/>
          <p:cNvSpPr/>
          <p:nvPr/>
        </p:nvSpPr>
        <p:spPr>
          <a:xfrm>
            <a:off x="12344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OSMにあるもの（地理トポロジ）</a:t>
            </a:r>
            <a:endParaRPr lang="en-US" sz="1200" dirty="0"/>
          </a:p>
        </p:txBody>
      </p:sp>
      <p:sp>
        <p:nvSpPr>
          <p:cNvPr id="9" name="Text 6"/>
          <p:cNvSpPr/>
          <p:nvPr/>
        </p:nvSpPr>
        <p:spPr>
          <a:xfrm>
            <a:off x="10515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位置・経路・電圧タグ・回線数タグ・運用者名。</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「どこに何があり、空間的にどう繋がるか」</a:t>
            </a:r>
            <a:endParaRPr lang="en-US" sz="1000" dirty="0"/>
          </a:p>
        </p:txBody>
      </p:sp>
      <p:sp>
        <p:nvSpPr>
          <p:cNvPr id="10" name="Shape 7"/>
          <p:cNvSpPr/>
          <p:nvPr/>
        </p:nvSpPr>
        <p:spPr>
          <a:xfrm>
            <a:off x="6309360" y="4983480"/>
            <a:ext cx="5120640" cy="1234440"/>
          </a:xfrm>
          <a:prstGeom prst="roundRect">
            <a:avLst>
              <a:gd name="adj" fmla="val 4444"/>
            </a:avLst>
          </a:prstGeom>
          <a:solidFill>
            <a:srgbClr val="F4F4F6"/>
          </a:solidFill>
          <a:ln/>
        </p:spPr>
      </p:sp>
      <p:sp>
        <p:nvSpPr>
          <p:cNvPr id="11" name="Shape 8"/>
          <p:cNvSpPr/>
          <p:nvPr/>
        </p:nvSpPr>
        <p:spPr>
          <a:xfrm>
            <a:off x="6510528" y="5202936"/>
            <a:ext cx="128016" cy="128016"/>
          </a:xfrm>
          <a:prstGeom prst="rect">
            <a:avLst/>
          </a:prstGeom>
          <a:solidFill>
            <a:srgbClr val="C62828"/>
          </a:solidFill>
          <a:ln/>
        </p:spPr>
      </p:sp>
      <p:sp>
        <p:nvSpPr>
          <p:cNvPr id="12" name="Text 9"/>
          <p:cNvSpPr/>
          <p:nvPr/>
        </p:nvSpPr>
        <p:spPr>
          <a:xfrm>
            <a:off x="67208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OSMに無いもの（電気）</a:t>
            </a:r>
            <a:endParaRPr lang="en-US" sz="1200" dirty="0"/>
          </a:p>
        </p:txBody>
      </p:sp>
      <p:sp>
        <p:nvSpPr>
          <p:cNvPr id="13" name="Text 10"/>
          <p:cNvSpPr/>
          <p:nvPr/>
        </p:nvSpPr>
        <p:spPr>
          <a:xfrm>
            <a:off x="65379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インピーダンス・変圧器特性・ノード需要。</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 無いものは推定と明記して分離保持する（捏造ゼロ）</a:t>
            </a:r>
            <a:endParaRPr lang="en-US" sz="1000" dirty="0"/>
          </a:p>
        </p:txBody>
      </p:sp>
      <p:sp>
        <p:nvSpPr>
          <p:cNvPr id="14" name="Text 1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5" name="Text 1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6" name="Text 1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6ヶ月の道筋：5幕 — 各幕は前の幕が露わにした問いに答える</a:t>
            </a:r>
            <a:endParaRPr lang="en-US" sz="2100" dirty="0"/>
          </a:p>
        </p:txBody>
      </p:sp>
      <p:sp>
        <p:nvSpPr>
          <p:cNvPr id="5" name="Shape 3"/>
          <p:cNvSpPr/>
          <p:nvPr/>
        </p:nvSpPr>
        <p:spPr>
          <a:xfrm>
            <a:off x="658368" y="1234440"/>
            <a:ext cx="2084832" cy="2880360"/>
          </a:xfrm>
          <a:prstGeom prst="roundRect">
            <a:avLst>
              <a:gd name="adj" fmla="val 3070"/>
            </a:avLst>
          </a:prstGeom>
          <a:solidFill>
            <a:srgbClr val="F4F4F6"/>
          </a:solidFill>
          <a:ln/>
        </p:spPr>
      </p:sp>
      <p:sp>
        <p:nvSpPr>
          <p:cNvPr id="6" name="Shape 4"/>
          <p:cNvSpPr/>
          <p:nvPr/>
        </p:nvSpPr>
        <p:spPr>
          <a:xfrm>
            <a:off x="658368" y="1234440"/>
            <a:ext cx="2084832" cy="109728"/>
          </a:xfrm>
          <a:prstGeom prst="rect">
            <a:avLst/>
          </a:prstGeom>
          <a:solidFill>
            <a:srgbClr val="9A9AA6"/>
          </a:solidFill>
          <a:ln/>
        </p:spPr>
      </p:sp>
      <p:sp>
        <p:nvSpPr>
          <p:cNvPr id="7" name="Text 5"/>
          <p:cNvSpPr/>
          <p:nvPr/>
        </p:nvSpPr>
        <p:spPr>
          <a:xfrm>
            <a:off x="795528"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第1幕　v1.0</a:t>
            </a:r>
            <a:endParaRPr lang="en-US" sz="1050" dirty="0"/>
          </a:p>
        </p:txBody>
      </p:sp>
      <p:sp>
        <p:nvSpPr>
          <p:cNvPr id="8" name="Text 6"/>
          <p:cNvSpPr/>
          <p:nvPr/>
        </p:nvSpPr>
        <p:spPr>
          <a:xfrm>
            <a:off x="795528"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地理を掘る</a:t>
            </a:r>
            <a:endParaRPr lang="en-US" sz="1450" dirty="0"/>
          </a:p>
        </p:txBody>
      </p:sp>
      <p:sp>
        <p:nvSpPr>
          <p:cNvPr id="9" name="Text 7"/>
          <p:cNvSpPr/>
          <p:nvPr/>
        </p:nvSpPr>
        <p:spPr>
          <a:xfrm>
            <a:off x="795528"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OSM抽出・7段補完・UC/PF一式</a:t>
            </a:r>
            <a:endParaRPr lang="en-US" sz="1000" dirty="0"/>
          </a:p>
        </p:txBody>
      </p:sp>
      <p:sp>
        <p:nvSpPr>
          <p:cNvPr id="10" name="Text 8"/>
          <p:cNvSpPr/>
          <p:nvPr/>
        </p:nvSpPr>
        <p:spPr>
          <a:xfrm>
            <a:off x="795528"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「地図はある」→ モデルにした</a:t>
            </a:r>
            <a:endParaRPr lang="en-US" sz="950" dirty="0"/>
          </a:p>
        </p:txBody>
      </p:sp>
      <p:sp>
        <p:nvSpPr>
          <p:cNvPr id="11" name="Shape 9"/>
          <p:cNvSpPr/>
          <p:nvPr/>
        </p:nvSpPr>
        <p:spPr>
          <a:xfrm>
            <a:off x="2871216" y="1234440"/>
            <a:ext cx="2084832" cy="2880360"/>
          </a:xfrm>
          <a:prstGeom prst="roundRect">
            <a:avLst>
              <a:gd name="adj" fmla="val 3070"/>
            </a:avLst>
          </a:prstGeom>
          <a:solidFill>
            <a:srgbClr val="F4F4F6"/>
          </a:solidFill>
          <a:ln/>
        </p:spPr>
      </p:sp>
      <p:sp>
        <p:nvSpPr>
          <p:cNvPr id="12" name="Shape 10"/>
          <p:cNvSpPr/>
          <p:nvPr/>
        </p:nvSpPr>
        <p:spPr>
          <a:xfrm>
            <a:off x="2871216" y="1234440"/>
            <a:ext cx="2084832" cy="109728"/>
          </a:xfrm>
          <a:prstGeom prst="rect">
            <a:avLst/>
          </a:prstGeom>
          <a:solidFill>
            <a:srgbClr val="17BECF"/>
          </a:solidFill>
          <a:ln/>
        </p:spPr>
      </p:sp>
      <p:sp>
        <p:nvSpPr>
          <p:cNvPr id="13" name="Text 11"/>
          <p:cNvSpPr/>
          <p:nvPr/>
        </p:nvSpPr>
        <p:spPr>
          <a:xfrm>
            <a:off x="3008376"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第2幕　v1.1–1.4</a:t>
            </a:r>
            <a:endParaRPr lang="en-US" sz="1050" dirty="0"/>
          </a:p>
        </p:txBody>
      </p:sp>
      <p:sp>
        <p:nvSpPr>
          <p:cNvPr id="14" name="Text 12"/>
          <p:cNvSpPr/>
          <p:nvPr/>
        </p:nvSpPr>
        <p:spPr>
          <a:xfrm>
            <a:off x="3008376"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電気にして</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標準で渡す</a:t>
            </a:r>
            <a:endParaRPr lang="en-US" sz="1450" dirty="0"/>
          </a:p>
        </p:txBody>
      </p:sp>
      <p:sp>
        <p:nvSpPr>
          <p:cNvPr id="15" name="Text 13"/>
          <p:cNvSpPr/>
          <p:nvPr/>
        </p:nvSpPr>
        <p:spPr>
          <a:xfrm>
            <a:off x="3008376"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CIM/CGMES・統一DB・全10地域AC</a:t>
            </a:r>
            <a:endParaRPr lang="en-US" sz="1000" dirty="0"/>
          </a:p>
        </p:txBody>
      </p:sp>
      <p:sp>
        <p:nvSpPr>
          <p:cNvPr id="16" name="Text 14"/>
          <p:cNvSpPr/>
          <p:nvPr/>
        </p:nvSpPr>
        <p:spPr>
          <a:xfrm>
            <a:off x="3008376"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作れた → 解けるのか？</a:t>
            </a:r>
            <a:endParaRPr lang="en-US" sz="950" dirty="0"/>
          </a:p>
        </p:txBody>
      </p:sp>
      <p:sp>
        <p:nvSpPr>
          <p:cNvPr id="17" name="Shape 15"/>
          <p:cNvSpPr/>
          <p:nvPr/>
        </p:nvSpPr>
        <p:spPr>
          <a:xfrm>
            <a:off x="5084064" y="1234440"/>
            <a:ext cx="2084832" cy="2880360"/>
          </a:xfrm>
          <a:prstGeom prst="roundRect">
            <a:avLst>
              <a:gd name="adj" fmla="val 3070"/>
            </a:avLst>
          </a:prstGeom>
          <a:solidFill>
            <a:srgbClr val="F4F4F6"/>
          </a:solidFill>
          <a:ln/>
        </p:spPr>
      </p:sp>
      <p:sp>
        <p:nvSpPr>
          <p:cNvPr id="18" name="Shape 16"/>
          <p:cNvSpPr/>
          <p:nvPr/>
        </p:nvSpPr>
        <p:spPr>
          <a:xfrm>
            <a:off x="5084064" y="1234440"/>
            <a:ext cx="2084832" cy="109728"/>
          </a:xfrm>
          <a:prstGeom prst="rect">
            <a:avLst/>
          </a:prstGeom>
          <a:solidFill>
            <a:srgbClr val="9467BD"/>
          </a:solidFill>
          <a:ln/>
        </p:spPr>
      </p:sp>
      <p:sp>
        <p:nvSpPr>
          <p:cNvPr id="19" name="Text 17"/>
          <p:cNvSpPr/>
          <p:nvPr/>
        </p:nvSpPr>
        <p:spPr>
          <a:xfrm>
            <a:off x="5221224"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第3幕　v1.5–1.6</a:t>
            </a:r>
            <a:endParaRPr lang="en-US" sz="1050" dirty="0"/>
          </a:p>
        </p:txBody>
      </p:sp>
      <p:sp>
        <p:nvSpPr>
          <p:cNvPr id="20" name="Text 18"/>
          <p:cNvSpPr/>
          <p:nvPr/>
        </p:nvSpPr>
        <p:spPr>
          <a:xfrm>
            <a:off x="5221224"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誠実さを</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制度にする</a:t>
            </a:r>
            <a:endParaRPr lang="en-US" sz="1450" dirty="0"/>
          </a:p>
        </p:txBody>
      </p:sp>
      <p:sp>
        <p:nvSpPr>
          <p:cNvPr id="21" name="Text 19"/>
          <p:cNvSpPr/>
          <p:nvPr/>
        </p:nvSpPr>
        <p:spPr>
          <a:xfrm>
            <a:off x="5221224"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介入台帳・fake-AC検出・二重抽出根治</a:t>
            </a:r>
            <a:endParaRPr lang="en-US" sz="1000" dirty="0"/>
          </a:p>
        </p:txBody>
      </p:sp>
      <p:sp>
        <p:nvSpPr>
          <p:cNvPr id="22" name="Text 20"/>
          <p:cNvSpPr/>
          <p:nvPr/>
        </p:nvSpPr>
        <p:spPr>
          <a:xfrm>
            <a:off x="5221224"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解けた → 本当か？</a:t>
            </a:r>
            <a:endParaRPr lang="en-US" sz="950" dirty="0"/>
          </a:p>
        </p:txBody>
      </p:sp>
      <p:sp>
        <p:nvSpPr>
          <p:cNvPr id="23" name="Shape 21"/>
          <p:cNvSpPr/>
          <p:nvPr/>
        </p:nvSpPr>
        <p:spPr>
          <a:xfrm>
            <a:off x="7296912" y="1234440"/>
            <a:ext cx="2084832" cy="2880360"/>
          </a:xfrm>
          <a:prstGeom prst="roundRect">
            <a:avLst>
              <a:gd name="adj" fmla="val 3070"/>
            </a:avLst>
          </a:prstGeom>
          <a:solidFill>
            <a:srgbClr val="F4F4F6"/>
          </a:solidFill>
          <a:ln/>
        </p:spPr>
      </p:sp>
      <p:sp>
        <p:nvSpPr>
          <p:cNvPr id="24" name="Shape 22"/>
          <p:cNvSpPr/>
          <p:nvPr/>
        </p:nvSpPr>
        <p:spPr>
          <a:xfrm>
            <a:off x="7296912" y="1234440"/>
            <a:ext cx="2084832" cy="109728"/>
          </a:xfrm>
          <a:prstGeom prst="rect">
            <a:avLst/>
          </a:prstGeom>
          <a:solidFill>
            <a:srgbClr val="FF7F0E"/>
          </a:solidFill>
          <a:ln/>
        </p:spPr>
      </p:sp>
      <p:sp>
        <p:nvSpPr>
          <p:cNvPr id="25" name="Text 23"/>
          <p:cNvSpPr/>
          <p:nvPr/>
        </p:nvSpPr>
        <p:spPr>
          <a:xfrm>
            <a:off x="7434072"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第4幕　v1.7</a:t>
            </a:r>
            <a:endParaRPr lang="en-US" sz="1050" dirty="0"/>
          </a:p>
        </p:txBody>
      </p:sp>
      <p:sp>
        <p:nvSpPr>
          <p:cNvPr id="26" name="Text 24"/>
          <p:cNvSpPr/>
          <p:nvPr/>
        </p:nvSpPr>
        <p:spPr>
          <a:xfrm>
            <a:off x="7434072"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公式開示と</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接続する</a:t>
            </a:r>
            <a:endParaRPr lang="en-US" sz="1450" dirty="0"/>
          </a:p>
        </p:txBody>
      </p:sp>
      <p:sp>
        <p:nvSpPr>
          <p:cNvPr id="27" name="Text 25"/>
          <p:cNvSpPr/>
          <p:nvPr/>
        </p:nvSpPr>
        <p:spPr>
          <a:xfrm>
            <a:off x="7434072"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様式5・OCCTO容量・実測突合</a:t>
            </a:r>
            <a:endParaRPr lang="en-US" sz="1000" dirty="0"/>
          </a:p>
        </p:txBody>
      </p:sp>
      <p:sp>
        <p:nvSpPr>
          <p:cNvPr id="28" name="Text 26"/>
          <p:cNvSpPr/>
          <p:nvPr/>
        </p:nvSpPr>
        <p:spPr>
          <a:xfrm>
            <a:off x="7434072"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正した → 現実と合うか？</a:t>
            </a:r>
            <a:endParaRPr lang="en-US" sz="950" dirty="0"/>
          </a:p>
        </p:txBody>
      </p:sp>
      <p:sp>
        <p:nvSpPr>
          <p:cNvPr id="29" name="Shape 27"/>
          <p:cNvSpPr/>
          <p:nvPr/>
        </p:nvSpPr>
        <p:spPr>
          <a:xfrm>
            <a:off x="9509760" y="1234440"/>
            <a:ext cx="2084832" cy="2880360"/>
          </a:xfrm>
          <a:prstGeom prst="roundRect">
            <a:avLst>
              <a:gd name="adj" fmla="val 3070"/>
            </a:avLst>
          </a:prstGeom>
          <a:solidFill>
            <a:srgbClr val="F4F4F6"/>
          </a:solidFill>
          <a:ln/>
        </p:spPr>
      </p:sp>
      <p:sp>
        <p:nvSpPr>
          <p:cNvPr id="30" name="Shape 28"/>
          <p:cNvSpPr/>
          <p:nvPr/>
        </p:nvSpPr>
        <p:spPr>
          <a:xfrm>
            <a:off x="9509760" y="1234440"/>
            <a:ext cx="2084832" cy="109728"/>
          </a:xfrm>
          <a:prstGeom prst="rect">
            <a:avLst/>
          </a:prstGeom>
          <a:solidFill>
            <a:srgbClr val="D62728"/>
          </a:solidFill>
          <a:ln/>
        </p:spPr>
      </p:sp>
      <p:sp>
        <p:nvSpPr>
          <p:cNvPr id="31" name="Text 29"/>
          <p:cNvSpPr/>
          <p:nvPr/>
        </p:nvSpPr>
        <p:spPr>
          <a:xfrm>
            <a:off x="9646920"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第5幕　v1.8</a:t>
            </a:r>
            <a:endParaRPr lang="en-US" sz="1050" dirty="0"/>
          </a:p>
        </p:txBody>
      </p:sp>
      <p:sp>
        <p:nvSpPr>
          <p:cNvPr id="32" name="Text 30"/>
          <p:cNvSpPr/>
          <p:nvPr/>
        </p:nvSpPr>
        <p:spPr>
          <a:xfrm>
            <a:off x="9646920"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変電所の</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中へ</a:t>
            </a:r>
            <a:endParaRPr lang="en-US" sz="1450" dirty="0"/>
          </a:p>
        </p:txBody>
      </p:sp>
      <p:sp>
        <p:nvSpPr>
          <p:cNvPr id="33" name="Text 31"/>
          <p:cNvSpPr/>
          <p:nvPr/>
        </p:nvSpPr>
        <p:spPr>
          <a:xfrm>
            <a:off x="9646920"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SubSLD法・実証ペア図・node-breaker</a:t>
            </a:r>
            <a:endParaRPr lang="en-US" sz="1000" dirty="0"/>
          </a:p>
        </p:txBody>
      </p:sp>
      <p:sp>
        <p:nvSpPr>
          <p:cNvPr id="34" name="Text 32"/>
          <p:cNvSpPr/>
          <p:nvPr/>
        </p:nvSpPr>
        <p:spPr>
          <a:xfrm>
            <a:off x="9646920"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網はできた → 最後の暗箱へ</a:t>
            </a:r>
            <a:endParaRPr lang="en-US" sz="950" dirty="0"/>
          </a:p>
        </p:txBody>
      </p:sp>
      <p:sp>
        <p:nvSpPr>
          <p:cNvPr id="35" name="Shape 33"/>
          <p:cNvSpPr/>
          <p:nvPr/>
        </p:nvSpPr>
        <p:spPr>
          <a:xfrm>
            <a:off x="822960" y="4892040"/>
            <a:ext cx="10515600" cy="0"/>
          </a:xfrm>
          <a:prstGeom prst="line">
            <a:avLst/>
          </a:prstGeom>
          <a:noFill/>
          <a:ln w="19050">
            <a:solidFill>
              <a:srgbClr val="1A1A1A"/>
            </a:solidFill>
            <a:prstDash val="solid"/>
          </a:ln>
        </p:spPr>
      </p:sp>
      <p:sp>
        <p:nvSpPr>
          <p:cNvPr id="36" name="Shape 34"/>
          <p:cNvSpPr/>
          <p:nvPr/>
        </p:nvSpPr>
        <p:spPr>
          <a:xfrm>
            <a:off x="822960" y="4837176"/>
            <a:ext cx="0" cy="109728"/>
          </a:xfrm>
          <a:prstGeom prst="line">
            <a:avLst/>
          </a:prstGeom>
          <a:noFill/>
          <a:ln w="12700">
            <a:solidFill>
              <a:srgbClr val="55555F"/>
            </a:solidFill>
            <a:prstDash val="solid"/>
          </a:ln>
        </p:spPr>
      </p:sp>
      <p:sp>
        <p:nvSpPr>
          <p:cNvPr id="37" name="Text 35"/>
          <p:cNvSpPr/>
          <p:nvPr/>
        </p:nvSpPr>
        <p:spPr>
          <a:xfrm>
            <a:off x="5486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3月</a:t>
            </a:r>
            <a:endParaRPr lang="en-US" sz="950" dirty="0"/>
          </a:p>
        </p:txBody>
      </p:sp>
      <p:sp>
        <p:nvSpPr>
          <p:cNvPr id="38" name="Shape 36"/>
          <p:cNvSpPr/>
          <p:nvPr/>
        </p:nvSpPr>
        <p:spPr>
          <a:xfrm>
            <a:off x="2594610" y="4837176"/>
            <a:ext cx="0" cy="109728"/>
          </a:xfrm>
          <a:prstGeom prst="line">
            <a:avLst/>
          </a:prstGeom>
          <a:noFill/>
          <a:ln w="12700">
            <a:solidFill>
              <a:srgbClr val="55555F"/>
            </a:solidFill>
            <a:prstDash val="solid"/>
          </a:ln>
        </p:spPr>
      </p:sp>
      <p:sp>
        <p:nvSpPr>
          <p:cNvPr id="39" name="Text 37"/>
          <p:cNvSpPr/>
          <p:nvPr/>
        </p:nvSpPr>
        <p:spPr>
          <a:xfrm>
            <a:off x="23202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4月</a:t>
            </a:r>
            <a:endParaRPr lang="en-US" sz="950" dirty="0"/>
          </a:p>
        </p:txBody>
      </p:sp>
      <p:sp>
        <p:nvSpPr>
          <p:cNvPr id="40" name="Shape 38"/>
          <p:cNvSpPr/>
          <p:nvPr/>
        </p:nvSpPr>
        <p:spPr>
          <a:xfrm>
            <a:off x="4366260" y="4837176"/>
            <a:ext cx="0" cy="109728"/>
          </a:xfrm>
          <a:prstGeom prst="line">
            <a:avLst/>
          </a:prstGeom>
          <a:noFill/>
          <a:ln w="12700">
            <a:solidFill>
              <a:srgbClr val="55555F"/>
            </a:solidFill>
            <a:prstDash val="solid"/>
          </a:ln>
        </p:spPr>
      </p:sp>
      <p:sp>
        <p:nvSpPr>
          <p:cNvPr id="41" name="Text 39"/>
          <p:cNvSpPr/>
          <p:nvPr/>
        </p:nvSpPr>
        <p:spPr>
          <a:xfrm>
            <a:off x="40919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5月</a:t>
            </a:r>
            <a:endParaRPr lang="en-US" sz="950" dirty="0"/>
          </a:p>
        </p:txBody>
      </p:sp>
      <p:sp>
        <p:nvSpPr>
          <p:cNvPr id="42" name="Shape 40"/>
          <p:cNvSpPr/>
          <p:nvPr/>
        </p:nvSpPr>
        <p:spPr>
          <a:xfrm>
            <a:off x="6137910" y="4837176"/>
            <a:ext cx="0" cy="109728"/>
          </a:xfrm>
          <a:prstGeom prst="line">
            <a:avLst/>
          </a:prstGeom>
          <a:noFill/>
          <a:ln w="12700">
            <a:solidFill>
              <a:srgbClr val="55555F"/>
            </a:solidFill>
            <a:prstDash val="solid"/>
          </a:ln>
        </p:spPr>
      </p:sp>
      <p:sp>
        <p:nvSpPr>
          <p:cNvPr id="43" name="Text 41"/>
          <p:cNvSpPr/>
          <p:nvPr/>
        </p:nvSpPr>
        <p:spPr>
          <a:xfrm>
            <a:off x="58635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6月</a:t>
            </a:r>
            <a:endParaRPr lang="en-US" sz="950" dirty="0"/>
          </a:p>
        </p:txBody>
      </p:sp>
      <p:sp>
        <p:nvSpPr>
          <p:cNvPr id="44" name="Shape 42"/>
          <p:cNvSpPr/>
          <p:nvPr/>
        </p:nvSpPr>
        <p:spPr>
          <a:xfrm>
            <a:off x="7909560" y="4837176"/>
            <a:ext cx="0" cy="109728"/>
          </a:xfrm>
          <a:prstGeom prst="line">
            <a:avLst/>
          </a:prstGeom>
          <a:noFill/>
          <a:ln w="12700">
            <a:solidFill>
              <a:srgbClr val="55555F"/>
            </a:solidFill>
            <a:prstDash val="solid"/>
          </a:ln>
        </p:spPr>
      </p:sp>
      <p:sp>
        <p:nvSpPr>
          <p:cNvPr id="45" name="Text 43"/>
          <p:cNvSpPr/>
          <p:nvPr/>
        </p:nvSpPr>
        <p:spPr>
          <a:xfrm>
            <a:off x="76352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7月</a:t>
            </a:r>
            <a:endParaRPr lang="en-US" sz="950" dirty="0"/>
          </a:p>
        </p:txBody>
      </p:sp>
      <p:sp>
        <p:nvSpPr>
          <p:cNvPr id="46" name="Shape 44"/>
          <p:cNvSpPr/>
          <p:nvPr/>
        </p:nvSpPr>
        <p:spPr>
          <a:xfrm>
            <a:off x="9681210" y="4837176"/>
            <a:ext cx="0" cy="109728"/>
          </a:xfrm>
          <a:prstGeom prst="line">
            <a:avLst/>
          </a:prstGeom>
          <a:noFill/>
          <a:ln w="12700">
            <a:solidFill>
              <a:srgbClr val="55555F"/>
            </a:solidFill>
            <a:prstDash val="solid"/>
          </a:ln>
        </p:spPr>
      </p:sp>
      <p:sp>
        <p:nvSpPr>
          <p:cNvPr id="47" name="Text 45"/>
          <p:cNvSpPr/>
          <p:nvPr/>
        </p:nvSpPr>
        <p:spPr>
          <a:xfrm>
            <a:off x="94068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8月</a:t>
            </a:r>
            <a:endParaRPr lang="en-US" sz="950" dirty="0"/>
          </a:p>
        </p:txBody>
      </p:sp>
      <p:sp>
        <p:nvSpPr>
          <p:cNvPr id="48" name="Shape 46"/>
          <p:cNvSpPr/>
          <p:nvPr/>
        </p:nvSpPr>
        <p:spPr>
          <a:xfrm>
            <a:off x="944118" y="4841748"/>
            <a:ext cx="100584" cy="100584"/>
          </a:xfrm>
          <a:prstGeom prst="ellipse">
            <a:avLst/>
          </a:prstGeom>
          <a:solidFill>
            <a:srgbClr val="9A9AA6"/>
          </a:solidFill>
          <a:ln/>
        </p:spPr>
      </p:sp>
      <p:sp>
        <p:nvSpPr>
          <p:cNvPr id="49" name="Shape 47"/>
          <p:cNvSpPr/>
          <p:nvPr/>
        </p:nvSpPr>
        <p:spPr>
          <a:xfrm>
            <a:off x="6144768" y="4841748"/>
            <a:ext cx="100584" cy="100584"/>
          </a:xfrm>
          <a:prstGeom prst="ellipse">
            <a:avLst/>
          </a:prstGeom>
          <a:solidFill>
            <a:srgbClr val="17BECF"/>
          </a:solidFill>
          <a:ln/>
        </p:spPr>
      </p:sp>
      <p:sp>
        <p:nvSpPr>
          <p:cNvPr id="50" name="Shape 48"/>
          <p:cNvSpPr/>
          <p:nvPr/>
        </p:nvSpPr>
        <p:spPr>
          <a:xfrm>
            <a:off x="6430518" y="4841748"/>
            <a:ext cx="100584" cy="100584"/>
          </a:xfrm>
          <a:prstGeom prst="ellipse">
            <a:avLst/>
          </a:prstGeom>
          <a:solidFill>
            <a:srgbClr val="17BECF"/>
          </a:solidFill>
          <a:ln/>
        </p:spPr>
      </p:sp>
      <p:sp>
        <p:nvSpPr>
          <p:cNvPr id="51" name="Shape 49"/>
          <p:cNvSpPr/>
          <p:nvPr/>
        </p:nvSpPr>
        <p:spPr>
          <a:xfrm>
            <a:off x="6487668" y="4841748"/>
            <a:ext cx="100584" cy="100584"/>
          </a:xfrm>
          <a:prstGeom prst="ellipse">
            <a:avLst/>
          </a:prstGeom>
          <a:solidFill>
            <a:srgbClr val="17BECF"/>
          </a:solidFill>
          <a:ln/>
        </p:spPr>
      </p:sp>
      <p:sp>
        <p:nvSpPr>
          <p:cNvPr id="52" name="Shape 50"/>
          <p:cNvSpPr/>
          <p:nvPr/>
        </p:nvSpPr>
        <p:spPr>
          <a:xfrm>
            <a:off x="6601968" y="4841748"/>
            <a:ext cx="100584" cy="100584"/>
          </a:xfrm>
          <a:prstGeom prst="ellipse">
            <a:avLst/>
          </a:prstGeom>
          <a:solidFill>
            <a:srgbClr val="17BECF"/>
          </a:solidFill>
          <a:ln/>
        </p:spPr>
      </p:sp>
      <p:sp>
        <p:nvSpPr>
          <p:cNvPr id="53" name="Shape 51"/>
          <p:cNvSpPr/>
          <p:nvPr/>
        </p:nvSpPr>
        <p:spPr>
          <a:xfrm>
            <a:off x="8202168" y="4841748"/>
            <a:ext cx="100584" cy="100584"/>
          </a:xfrm>
          <a:prstGeom prst="ellipse">
            <a:avLst/>
          </a:prstGeom>
          <a:solidFill>
            <a:srgbClr val="9467BD"/>
          </a:solidFill>
          <a:ln/>
        </p:spPr>
      </p:sp>
      <p:sp>
        <p:nvSpPr>
          <p:cNvPr id="54" name="Shape 52"/>
          <p:cNvSpPr/>
          <p:nvPr/>
        </p:nvSpPr>
        <p:spPr>
          <a:xfrm>
            <a:off x="8259318" y="4841748"/>
            <a:ext cx="100584" cy="100584"/>
          </a:xfrm>
          <a:prstGeom prst="ellipse">
            <a:avLst/>
          </a:prstGeom>
          <a:solidFill>
            <a:srgbClr val="9467BD"/>
          </a:solidFill>
          <a:ln/>
        </p:spPr>
      </p:sp>
      <p:sp>
        <p:nvSpPr>
          <p:cNvPr id="55" name="Shape 53"/>
          <p:cNvSpPr/>
          <p:nvPr/>
        </p:nvSpPr>
        <p:spPr>
          <a:xfrm>
            <a:off x="10602468" y="4841748"/>
            <a:ext cx="100584" cy="100584"/>
          </a:xfrm>
          <a:prstGeom prst="ellipse">
            <a:avLst/>
          </a:prstGeom>
          <a:solidFill>
            <a:srgbClr val="FF7F0E"/>
          </a:solidFill>
          <a:ln/>
        </p:spPr>
      </p:sp>
      <p:sp>
        <p:nvSpPr>
          <p:cNvPr id="56" name="Shape 54"/>
          <p:cNvSpPr/>
          <p:nvPr/>
        </p:nvSpPr>
        <p:spPr>
          <a:xfrm>
            <a:off x="11002518" y="4841748"/>
            <a:ext cx="100584" cy="100584"/>
          </a:xfrm>
          <a:prstGeom prst="ellipse">
            <a:avLst/>
          </a:prstGeom>
          <a:solidFill>
            <a:srgbClr val="D62728"/>
          </a:solidFill>
          <a:ln/>
        </p:spPr>
      </p:sp>
      <p:sp>
        <p:nvSpPr>
          <p:cNvPr id="57" name="Text 55"/>
          <p:cNvSpPr/>
          <p:nvPr/>
        </p:nvSpPr>
        <p:spPr>
          <a:xfrm>
            <a:off x="4914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v1.0.0</a:t>
            </a:r>
            <a:endParaRPr lang="en-US" sz="900" dirty="0"/>
          </a:p>
        </p:txBody>
      </p:sp>
      <p:sp>
        <p:nvSpPr>
          <p:cNvPr id="58" name="Text 56"/>
          <p:cNvSpPr/>
          <p:nvPr/>
        </p:nvSpPr>
        <p:spPr>
          <a:xfrm>
            <a:off x="59207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v1.1–1.4</a:t>
            </a:r>
            <a:endParaRPr lang="en-US" sz="900" dirty="0"/>
          </a:p>
        </p:txBody>
      </p:sp>
      <p:sp>
        <p:nvSpPr>
          <p:cNvPr id="59" name="Text 57"/>
          <p:cNvSpPr/>
          <p:nvPr/>
        </p:nvSpPr>
        <p:spPr>
          <a:xfrm>
            <a:off x="7778115"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v1.5–1.6</a:t>
            </a:r>
            <a:endParaRPr lang="en-US" sz="900" dirty="0"/>
          </a:p>
        </p:txBody>
      </p:sp>
      <p:sp>
        <p:nvSpPr>
          <p:cNvPr id="60" name="Text 58"/>
          <p:cNvSpPr/>
          <p:nvPr/>
        </p:nvSpPr>
        <p:spPr>
          <a:xfrm>
            <a:off x="101498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v1.7.0</a:t>
            </a:r>
            <a:endParaRPr lang="en-US" sz="900" dirty="0"/>
          </a:p>
        </p:txBody>
      </p:sp>
      <p:sp>
        <p:nvSpPr>
          <p:cNvPr id="61" name="Text 59"/>
          <p:cNvSpPr/>
          <p:nvPr/>
        </p:nvSpPr>
        <p:spPr>
          <a:xfrm>
            <a:off x="105498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v1.8.0</a:t>
            </a:r>
            <a:endParaRPr lang="en-US" sz="900" dirty="0"/>
          </a:p>
        </p:txBody>
      </p:sp>
      <p:sp>
        <p:nvSpPr>
          <p:cNvPr id="62" name="Text 60"/>
          <p:cNvSpPr/>
          <p:nvPr/>
        </p:nvSpPr>
        <p:spPr>
          <a:xfrm>
            <a:off x="822960" y="5623560"/>
            <a:ext cx="1051560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6月上旬に5連リリース（v1.1.0〜v1.4.0）— 標準化と解ける化の集中期</a:t>
            </a:r>
            <a:endParaRPr lang="en-US" sz="1050" dirty="0"/>
          </a:p>
        </p:txBody>
      </p:sp>
      <p:sp>
        <p:nvSpPr>
          <p:cNvPr id="63" name="Text 6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64" name="Text 6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65" name="Text 6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地理を掘る：抽出から解析まで、最初から一本のパイプライン</a:t>
            </a:r>
            <a:endParaRPr lang="en-US" sz="2100" dirty="0"/>
          </a:p>
        </p:txBody>
      </p:sp>
      <p:pic>
        <p:nvPicPr>
          <p:cNvPr id="5" name="Image 0" descr="assets/fig_pipeline_flow.png">    </p:cNvPr>
          <p:cNvPicPr>
            <a:picLocks noChangeAspect="1"/>
          </p:cNvPicPr>
          <p:nvPr/>
        </p:nvPicPr>
        <p:blipFill>
          <a:blip r:embed="rId1"/>
          <a:stretch>
            <a:fillRect/>
          </a:stretch>
        </p:blipFill>
        <p:spPr>
          <a:xfrm>
            <a:off x="566928" y="1188720"/>
            <a:ext cx="11064240" cy="4590288"/>
          </a:xfrm>
          <a:prstGeom prst="rect">
            <a:avLst/>
          </a:prstGeom>
        </p:spPr>
      </p:pic>
      <p:sp>
        <p:nvSpPr>
          <p:cNvPr id="6" name="Text 3"/>
          <p:cNvSpPr/>
          <p:nvPr/>
        </p:nvSpPr>
        <p:spPr>
          <a:xfrm>
            <a:off x="822960" y="5852160"/>
            <a:ext cx="10607040" cy="50292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Overpassタイル分割抽出 → 7段の属性補完（Nominatim / MLIT P03、欠損87%削減）→ Haversine端点マッチング → 電圧クラス別の合成パラメータ → pandapower / MATPOWER / Ybus / UC</a:t>
            </a:r>
            <a:endParaRPr lang="en-US" sz="115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初版で出た数字：全国10地域・50/60 Hz を1つのデータセットに</a:t>
            </a:r>
            <a:endParaRPr lang="en-US" sz="2100" dirty="0"/>
          </a:p>
        </p:txBody>
      </p:sp>
      <p:sp>
        <p:nvSpPr>
          <p:cNvPr id="5" name="Shape 3"/>
          <p:cNvSpPr/>
          <p:nvPr/>
        </p:nvSpPr>
        <p:spPr>
          <a:xfrm>
            <a:off x="822960" y="1234440"/>
            <a:ext cx="2514600" cy="1143000"/>
          </a:xfrm>
          <a:prstGeom prst="roundRect">
            <a:avLst>
              <a:gd name="adj" fmla="val 4800"/>
            </a:avLst>
          </a:prstGeom>
          <a:solidFill>
            <a:srgbClr val="F4F4F6"/>
          </a:solidFill>
          <a:ln/>
        </p:spPr>
      </p:sp>
      <p:sp>
        <p:nvSpPr>
          <p:cNvPr id="6" name="Text 4"/>
          <p:cNvSpPr/>
          <p:nvPr/>
        </p:nvSpPr>
        <p:spPr>
          <a:xfrm>
            <a:off x="82296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6,962</a:t>
            </a:r>
            <a:endParaRPr lang="en-US" sz="2600" dirty="0"/>
          </a:p>
        </p:txBody>
      </p:sp>
      <p:sp>
        <p:nvSpPr>
          <p:cNvPr id="7" name="Text 5"/>
          <p:cNvSpPr/>
          <p:nvPr/>
        </p:nvSpPr>
        <p:spPr>
          <a:xfrm>
            <a:off x="91440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変電所 feature</a:t>
            </a:r>
            <a:endParaRPr lang="en-US" sz="1050" dirty="0"/>
          </a:p>
        </p:txBody>
      </p:sp>
      <p:sp>
        <p:nvSpPr>
          <p:cNvPr id="8" name="Text 6"/>
          <p:cNvSpPr/>
          <p:nvPr/>
        </p:nvSpPr>
        <p:spPr>
          <a:xfrm>
            <a:off x="91440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9" name="Shape 7"/>
          <p:cNvSpPr/>
          <p:nvPr/>
        </p:nvSpPr>
        <p:spPr>
          <a:xfrm>
            <a:off x="3520440" y="1234440"/>
            <a:ext cx="2514600" cy="1143000"/>
          </a:xfrm>
          <a:prstGeom prst="roundRect">
            <a:avLst>
              <a:gd name="adj" fmla="val 4800"/>
            </a:avLst>
          </a:prstGeom>
          <a:solidFill>
            <a:srgbClr val="F4F4F6"/>
          </a:solidFill>
          <a:ln/>
        </p:spPr>
      </p:sp>
      <p:sp>
        <p:nvSpPr>
          <p:cNvPr id="10" name="Text 8"/>
          <p:cNvSpPr/>
          <p:nvPr/>
        </p:nvSpPr>
        <p:spPr>
          <a:xfrm>
            <a:off x="352044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40,077</a:t>
            </a:r>
            <a:endParaRPr lang="en-US" sz="2600" dirty="0"/>
          </a:p>
        </p:txBody>
      </p:sp>
      <p:sp>
        <p:nvSpPr>
          <p:cNvPr id="11" name="Text 9"/>
          <p:cNvSpPr/>
          <p:nvPr/>
        </p:nvSpPr>
        <p:spPr>
          <a:xfrm>
            <a:off x="361188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送電線</a:t>
            </a:r>
            <a:endParaRPr lang="en-US" sz="1050" dirty="0"/>
          </a:p>
        </p:txBody>
      </p:sp>
      <p:sp>
        <p:nvSpPr>
          <p:cNvPr id="12" name="Text 10"/>
          <p:cNvSpPr/>
          <p:nvPr/>
        </p:nvSpPr>
        <p:spPr>
          <a:xfrm>
            <a:off x="361188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3" name="Shape 11"/>
          <p:cNvSpPr/>
          <p:nvPr/>
        </p:nvSpPr>
        <p:spPr>
          <a:xfrm>
            <a:off x="6217920" y="1234440"/>
            <a:ext cx="2514600" cy="1143000"/>
          </a:xfrm>
          <a:prstGeom prst="roundRect">
            <a:avLst>
              <a:gd name="adj" fmla="val 4800"/>
            </a:avLst>
          </a:prstGeom>
          <a:solidFill>
            <a:srgbClr val="F4F4F6"/>
          </a:solidFill>
          <a:ln/>
        </p:spPr>
      </p:sp>
      <p:sp>
        <p:nvSpPr>
          <p:cNvPr id="14" name="Text 12"/>
          <p:cNvSpPr/>
          <p:nvPr/>
        </p:nvSpPr>
        <p:spPr>
          <a:xfrm>
            <a:off x="621792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19,138</a:t>
            </a:r>
            <a:endParaRPr lang="en-US" sz="2600" dirty="0"/>
          </a:p>
        </p:txBody>
      </p:sp>
      <p:sp>
        <p:nvSpPr>
          <p:cNvPr id="15" name="Text 13"/>
          <p:cNvSpPr/>
          <p:nvPr/>
        </p:nvSpPr>
        <p:spPr>
          <a:xfrm>
            <a:off x="630936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発電所</a:t>
            </a:r>
            <a:endParaRPr lang="en-US" sz="1050" dirty="0"/>
          </a:p>
        </p:txBody>
      </p:sp>
      <p:sp>
        <p:nvSpPr>
          <p:cNvPr id="16" name="Text 14"/>
          <p:cNvSpPr/>
          <p:nvPr/>
        </p:nvSpPr>
        <p:spPr>
          <a:xfrm>
            <a:off x="630936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7" name="Shape 15"/>
          <p:cNvSpPr/>
          <p:nvPr/>
        </p:nvSpPr>
        <p:spPr>
          <a:xfrm>
            <a:off x="8915400" y="1234440"/>
            <a:ext cx="2514600" cy="1143000"/>
          </a:xfrm>
          <a:prstGeom prst="roundRect">
            <a:avLst>
              <a:gd name="adj" fmla="val 4800"/>
            </a:avLst>
          </a:prstGeom>
          <a:solidFill>
            <a:srgbClr val="F4F4F6"/>
          </a:solidFill>
          <a:ln/>
        </p:spPr>
      </p:sp>
      <p:sp>
        <p:nvSpPr>
          <p:cNvPr id="18" name="Text 16"/>
          <p:cNvSpPr/>
          <p:nvPr/>
        </p:nvSpPr>
        <p:spPr>
          <a:xfrm>
            <a:off x="8915400" y="1307592"/>
            <a:ext cx="251460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10 / 10</a:t>
            </a:r>
            <a:endParaRPr lang="en-US" sz="2600" dirty="0"/>
          </a:p>
        </p:txBody>
      </p:sp>
      <p:sp>
        <p:nvSpPr>
          <p:cNvPr id="19" name="Text 17"/>
          <p:cNvSpPr/>
          <p:nvPr/>
        </p:nvSpPr>
        <p:spPr>
          <a:xfrm>
            <a:off x="900684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地域（50/60 Hz 両系統）</a:t>
            </a:r>
            <a:endParaRPr lang="en-US" sz="1050" dirty="0"/>
          </a:p>
        </p:txBody>
      </p:sp>
      <p:sp>
        <p:nvSpPr>
          <p:cNvPr id="20" name="Text 18"/>
          <p:cNvSpPr/>
          <p:nvPr/>
        </p:nvSpPr>
        <p:spPr>
          <a:xfrm>
            <a:off x="900684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v1.0.0</a:t>
            </a:r>
            <a:endParaRPr lang="en-US" sz="850" dirty="0"/>
          </a:p>
        </p:txBody>
      </p:sp>
      <p:sp>
        <p:nvSpPr>
          <p:cNvPr id="21" name="Shape 19"/>
          <p:cNvSpPr/>
          <p:nvPr/>
        </p:nvSpPr>
        <p:spPr>
          <a:xfrm>
            <a:off x="822960" y="2743200"/>
            <a:ext cx="10607040" cy="2286000"/>
          </a:xfrm>
          <a:prstGeom prst="roundRect">
            <a:avLst>
              <a:gd name="adj" fmla="val 2400"/>
            </a:avLst>
          </a:prstGeom>
          <a:solidFill>
            <a:srgbClr val="FFFFFF"/>
          </a:solidFill>
          <a:ln w="15240">
            <a:solidFill>
              <a:srgbClr val="1E2761"/>
            </a:solidFill>
            <a:prstDash val="solid"/>
          </a:ln>
        </p:spPr>
      </p:sp>
      <p:sp>
        <p:nvSpPr>
          <p:cNvPr id="22" name="Text 20"/>
          <p:cNvSpPr/>
          <p:nvPr/>
        </p:nvSpPr>
        <p:spPr>
          <a:xfrm>
            <a:off x="1051560" y="2880360"/>
            <a:ext cx="10058400" cy="292608"/>
          </a:xfrm>
          <a:prstGeom prst="rect">
            <a:avLst/>
          </a:prstGeom>
          <a:noFill/>
          <a:ln/>
        </p:spPr>
        <p:txBody>
          <a:bodyPr wrap="square" lIns="0" tIns="0" rIns="0" bIns="0" rtlCol="0" anchor="ctr"/>
          <a:lstStyle/>
          <a:p>
            <a:pPr indent="0" marL="0">
              <a:buNone/>
            </a:pPr>
            <a:r>
              <a:rPr lang="en-US" sz="1350" b="1" dirty="0">
                <a:solidFill>
                  <a:srgbClr val="1E2761"/>
                </a:solidFill>
                <a:latin typeface="Hiragino Sans" pitchFamily="34" charset="0"/>
                <a:ea typeface="Hiragino Sans" pitchFamily="34" charset="-122"/>
                <a:cs typeface="Hiragino Sans" pitchFamily="34" charset="-120"/>
              </a:rPr>
              <a:t>全国ユニットコミットメント（757機・10地域・24時間・MILP）</a:t>
            </a:r>
            <a:endParaRPr lang="en-US" sz="13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051560" y="3291840"/>
          <a:ext cx="7498080" cy="1463040"/>
        </p:xfrm>
        <a:graphic>
          <a:graphicData uri="http://schemas.openxmlformats.org/drawingml/2006/table">
            <a:tbl>
              <a:tblPr/>
              <a:tblGrid>
                <a:gridCol w="3840480"/>
                <a:gridCol w="2011680"/>
                <a:gridCol w="1645920"/>
              </a:tblGrid>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銅板（連系線制約なし）</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7.65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9.28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連系線制約あり</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7.76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8.72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混雑コストプレミアム</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+1.40 %</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bl>
          </a:graphicData>
        </a:graphic>
      </p:graphicFrame>
      <p:sp>
        <p:nvSpPr>
          <p:cNvPr id="24" name="Text 21"/>
          <p:cNvSpPr/>
          <p:nvPr/>
        </p:nvSpPr>
        <p:spPr>
          <a:xfrm>
            <a:off x="8778240" y="3383280"/>
            <a:ext cx="2514600" cy="128016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最適解まで 10 秒未満。</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9連系線すべてがピーク需要時に利用率 100 %。</a:t>
            </a:r>
            <a:endParaRPr lang="en-US" sz="1100" dirty="0"/>
          </a:p>
        </p:txBody>
      </p:sp>
      <p:sp>
        <p:nvSpPr>
          <p:cNvPr id="25" name="Text 22"/>
          <p:cNvSpPr/>
          <p:nvPr/>
        </p:nvSpPr>
        <p:spPr>
          <a:xfrm>
            <a:off x="822960" y="53035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C62828"/>
                </a:solidFill>
                <a:latin typeface="Hiragino Sans" pitchFamily="34" charset="0"/>
                <a:ea typeface="Hiragino Sans" pitchFamily="34" charset="-122"/>
                <a:cs typeface="Hiragino Sans" pitchFamily="34" charset="-120"/>
              </a:rPr>
              <a:t>限界も初版から明記：インピーダンスは合成推定・端点マッチング誤接続 ~2–3 %・運用計画には使えない（研究・教育用）。</a:t>
            </a:r>
            <a:endParaRPr lang="en-US" sz="1200" dirty="0"/>
          </a:p>
        </p:txBody>
      </p:sp>
      <p:sp>
        <p:nvSpPr>
          <p:cNvPr id="26" name="Text 23"/>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4"/>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8" name="Text 25"/>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v1.2</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標準で渡す：CIM/CGMES は輸出先ではなく検証器だった</a:t>
            </a:r>
            <a:endParaRPr lang="en-US" sz="2100" dirty="0"/>
          </a:p>
        </p:txBody>
      </p:sp>
      <p:sp>
        <p:nvSpPr>
          <p:cNvPr id="5" name="Shape 3"/>
          <p:cNvSpPr/>
          <p:nvPr/>
        </p:nvSpPr>
        <p:spPr>
          <a:xfrm>
            <a:off x="822960" y="1188720"/>
            <a:ext cx="5120640" cy="1554480"/>
          </a:xfrm>
          <a:prstGeom prst="roundRect">
            <a:avLst>
              <a:gd name="adj" fmla="val 3529"/>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IEC 61970 CIM (CGMES 2.4.15) 書き出し</a:t>
            </a:r>
            <a:endParaRPr lang="en-US" sz="1250" dirty="0"/>
          </a:p>
        </p:txBody>
      </p:sp>
      <p:sp>
        <p:nvSpPr>
          <p:cNvPr id="8" name="Text 6"/>
          <p:cNvSpPr/>
          <p:nvPr/>
        </p:nvSpPr>
        <p:spPr>
          <a:xfrm>
            <a:off x="1051560" y="164592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 + GL の全10地域。決定的 UUIDv5 mRID・dangling参照 0。</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独立実装 pandapower cim2pp で読み戻して検証</a:t>
            </a:r>
            <a:endParaRPr lang="en-US" sz="1050" dirty="0"/>
          </a:p>
        </p:txBody>
      </p:sp>
      <p:sp>
        <p:nvSpPr>
          <p:cNvPr id="9" name="Shape 7"/>
          <p:cNvSpPr/>
          <p:nvPr/>
        </p:nvSpPr>
        <p:spPr>
          <a:xfrm>
            <a:off x="822960" y="2880360"/>
            <a:ext cx="5120640" cy="1554480"/>
          </a:xfrm>
          <a:prstGeom prst="roundRect">
            <a:avLst>
              <a:gd name="adj" fmla="val 3529"/>
            </a:avLst>
          </a:prstGeom>
          <a:solidFill>
            <a:srgbClr val="F4F4F6"/>
          </a:solidFill>
          <a:ln/>
        </p:spPr>
      </p:sp>
      <p:sp>
        <p:nvSpPr>
          <p:cNvPr id="10" name="Shape 8"/>
          <p:cNvSpPr/>
          <p:nvPr/>
        </p:nvSpPr>
        <p:spPr>
          <a:xfrm>
            <a:off x="1024128" y="3099816"/>
            <a:ext cx="128016" cy="128016"/>
          </a:xfrm>
          <a:prstGeom prst="rect">
            <a:avLst/>
          </a:prstGeom>
          <a:solidFill>
            <a:srgbClr val="17BECF"/>
          </a:solidFill>
          <a:ln/>
        </p:spPr>
      </p:sp>
      <p:sp>
        <p:nvSpPr>
          <p:cNvPr id="11" name="Text 9"/>
          <p:cNvSpPr/>
          <p:nvPr/>
        </p:nvSpPr>
        <p:spPr>
          <a:xfrm>
            <a:off x="1234440" y="299008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Level-2：解ける潮流ケース</a:t>
            </a:r>
            <a:endParaRPr lang="en-US" sz="1250" dirty="0"/>
          </a:p>
        </p:txBody>
      </p:sp>
      <p:sp>
        <p:nvSpPr>
          <p:cNvPr id="12" name="Text 10"/>
          <p:cNvSpPr/>
          <p:nvPr/>
        </p:nvSpPr>
        <p:spPr>
          <a:xfrm>
            <a:off x="1051560" y="333756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EQ/TP/SSH/SV。cim2pp ラウンドトリップ後に runpp が収束</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（初出 okinawa 81母線 → 境界セット整備で全10地域）</a:t>
            </a:r>
            <a:endParaRPr lang="en-US" sz="1050" dirty="0"/>
          </a:p>
        </p:txBody>
      </p:sp>
      <p:sp>
        <p:nvSpPr>
          <p:cNvPr id="13" name="Shape 11"/>
          <p:cNvSpPr/>
          <p:nvPr/>
        </p:nvSpPr>
        <p:spPr>
          <a:xfrm>
            <a:off x="822960" y="4572000"/>
            <a:ext cx="5120640" cy="1554480"/>
          </a:xfrm>
          <a:prstGeom prst="roundRect">
            <a:avLst>
              <a:gd name="adj" fmla="val 3529"/>
            </a:avLst>
          </a:prstGeom>
          <a:solidFill>
            <a:srgbClr val="F4F4F6"/>
          </a:solidFill>
          <a:ln/>
        </p:spPr>
      </p:sp>
      <p:sp>
        <p:nvSpPr>
          <p:cNvPr id="14" name="Shape 12"/>
          <p:cNvSpPr/>
          <p:nvPr/>
        </p:nvSpPr>
        <p:spPr>
          <a:xfrm>
            <a:off x="1024128" y="4791456"/>
            <a:ext cx="128016" cy="128016"/>
          </a:xfrm>
          <a:prstGeom prst="rect">
            <a:avLst/>
          </a:prstGeom>
          <a:solidFill>
            <a:srgbClr val="17BECF"/>
          </a:solidFill>
          <a:ln/>
        </p:spPr>
      </p:sp>
      <p:sp>
        <p:nvSpPr>
          <p:cNvPr id="15" name="Text 13"/>
          <p:cNvSpPr/>
          <p:nvPr/>
        </p:nvSpPr>
        <p:spPr>
          <a:xfrm>
            <a:off x="1234440" y="468172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統一DB（R/C/D 3層・SQLite）</a:t>
            </a:r>
            <a:endParaRPr lang="en-US" sz="1250" dirty="0"/>
          </a:p>
        </p:txBody>
      </p:sp>
      <p:sp>
        <p:nvSpPr>
          <p:cNvPr id="16" name="Text 14"/>
          <p:cNvSpPr/>
          <p:nvPr/>
        </p:nvSpPr>
        <p:spPr>
          <a:xfrm>
            <a:off x="1051560" y="502920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生feature（不変）/ キュレーション / 導出を分離。232,139行の</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人手修正が OSM 再取得を生き延びる — 出所つきで</a:t>
            </a:r>
            <a:endParaRPr lang="en-US" sz="1050" dirty="0"/>
          </a:p>
        </p:txBody>
      </p:sp>
      <p:sp>
        <p:nvSpPr>
          <p:cNvPr id="17" name="Shape 15"/>
          <p:cNvSpPr/>
          <p:nvPr/>
        </p:nvSpPr>
        <p:spPr>
          <a:xfrm>
            <a:off x="6309360" y="1188720"/>
            <a:ext cx="5120640" cy="4937760"/>
          </a:xfrm>
          <a:prstGeom prst="roundRect">
            <a:avLst>
              <a:gd name="adj" fmla="val 1111"/>
            </a:avLst>
          </a:prstGeom>
          <a:solidFill>
            <a:srgbClr val="FFF3F3"/>
          </a:solidFill>
          <a:ln w="13970">
            <a:solidFill>
              <a:srgbClr val="C62828"/>
            </a:solidFill>
            <a:prstDash val="solid"/>
          </a:ln>
        </p:spPr>
      </p:sp>
      <p:sp>
        <p:nvSpPr>
          <p:cNvPr id="18" name="Text 16"/>
          <p:cNvSpPr/>
          <p:nvPr/>
        </p:nvSpPr>
        <p:spPr>
          <a:xfrm>
            <a:off x="6537960" y="1325880"/>
            <a:ext cx="4663440" cy="502920"/>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ラウンドトリップ検証が捕まえた電気的バグ（v1.2.1）</a:t>
            </a:r>
            <a:endParaRPr lang="en-US" sz="1300" dirty="0"/>
          </a:p>
        </p:txBody>
      </p:sp>
      <p:sp>
        <p:nvSpPr>
          <p:cNvPr id="19" name="Text 17"/>
          <p:cNvSpPr/>
          <p:nvPr/>
        </p:nvSpPr>
        <p:spPr>
          <a:xfrm>
            <a:off x="6537960" y="1920240"/>
            <a:ext cx="4709160" cy="329184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並列回線・変圧器バンクのインピーダンスが最大4倍（束等価を書かず素の値を出していた）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Conductor.length がメートルのまま → km と解釈され1000倍で往復</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in_service が落ち、停止線・停止負荷がインポートで再充電</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需要スケール版が発電3.5倍のまま出荷、slack が72%を吸収（→ load×1.05 に再配分）</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『native収束』を名乗っていた2地域は、バグ入り往復が偶然収束していただけ</a:t>
            </a:r>
            <a:endParaRPr lang="en-US" sz="1150" dirty="0"/>
          </a:p>
        </p:txBody>
      </p:sp>
      <p:sp>
        <p:nvSpPr>
          <p:cNvPr id="20" name="Text 18"/>
          <p:cNvSpPr/>
          <p:nvPr/>
        </p:nvSpPr>
        <p:spPr>
          <a:xfrm>
            <a:off x="6537960" y="5257800"/>
            <a:ext cx="4709160" cy="731520"/>
          </a:xfrm>
          <a:prstGeom prst="rect">
            <a:avLst/>
          </a:prstGeom>
          <a:noFill/>
          <a:ln/>
        </p:spPr>
        <p:txBody>
          <a:bodyPr wrap="square" lIns="0" tIns="0" rIns="0" bIns="0" rtlCol="0" anchor="ctr"/>
          <a:lstStyle/>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 修正後は vm差 &lt; 1e-4 pu の電気的同一性を回帰テストで固定。</a:t>
            </a:r>
            <a:endParaRPr lang="en-US" sz="1150" dirty="0"/>
          </a:p>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標準に書き出せる＝独立実装に読ませて突き合わせられる、ということ。</a:t>
            </a:r>
            <a:endParaRPr lang="en-US" sz="1150" dirty="0"/>
          </a:p>
        </p:txBody>
      </p:sp>
      <p:sp>
        <p:nvSpPr>
          <p:cNvPr id="21" name="Text 1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2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3" name="Text 2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v1.3–1.4</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解ける化：トポロジのバグを潰したら 10/10 地域が解けた</a:t>
            </a:r>
            <a:endParaRPr lang="en-US" sz="2100" dirty="0"/>
          </a:p>
        </p:txBody>
      </p:sp>
      <p:sp>
        <p:nvSpPr>
          <p:cNvPr id="5" name="Shape 3"/>
          <p:cNvSpPr/>
          <p:nvPr/>
        </p:nvSpPr>
        <p:spPr>
          <a:xfrm>
            <a:off x="822960" y="1188720"/>
            <a:ext cx="5669280" cy="1280160"/>
          </a:xfrm>
          <a:prstGeom prst="roundRect">
            <a:avLst>
              <a:gd name="adj" fmla="val 4286"/>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並列回線の数え方（v1.3）</a:t>
            </a:r>
            <a:endParaRPr lang="en-US" sz="1200" dirty="0"/>
          </a:p>
        </p:txBody>
      </p:sp>
      <p:sp>
        <p:nvSpPr>
          <p:cNvPr id="8" name="Text 6"/>
          <p:cNvSpPr/>
          <p:nvPr/>
        </p:nvSpPr>
        <p:spPr>
          <a:xfrm>
            <a:off x="1051560" y="1645920"/>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1本のwayがノード対をジグザグに跨ぐと並列数が水増しされていた。</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次数2連鎖の縮約が回線多重度を1にリセットするのも修正 → 同鉄塔2回線の容量が戻る</a:t>
            </a:r>
            <a:endParaRPr lang="en-US" sz="1000" dirty="0"/>
          </a:p>
        </p:txBody>
      </p:sp>
      <p:sp>
        <p:nvSpPr>
          <p:cNvPr id="9" name="Shape 7"/>
          <p:cNvSpPr/>
          <p:nvPr/>
        </p:nvSpPr>
        <p:spPr>
          <a:xfrm>
            <a:off x="822960" y="2578608"/>
            <a:ext cx="5669280" cy="1280160"/>
          </a:xfrm>
          <a:prstGeom prst="roundRect">
            <a:avLst>
              <a:gd name="adj" fmla="val 4286"/>
            </a:avLst>
          </a:prstGeom>
          <a:solidFill>
            <a:srgbClr val="F4F4F6"/>
          </a:solidFill>
          <a:ln/>
        </p:spPr>
      </p:sp>
      <p:sp>
        <p:nvSpPr>
          <p:cNvPr id="10" name="Shape 8"/>
          <p:cNvSpPr/>
          <p:nvPr/>
        </p:nvSpPr>
        <p:spPr>
          <a:xfrm>
            <a:off x="1024128" y="2798064"/>
            <a:ext cx="128016" cy="128016"/>
          </a:xfrm>
          <a:prstGeom prst="rect">
            <a:avLst/>
          </a:prstGeom>
          <a:solidFill>
            <a:srgbClr val="17BECF"/>
          </a:solidFill>
          <a:ln/>
        </p:spPr>
      </p:sp>
      <p:sp>
        <p:nvSpPr>
          <p:cNvPr id="11" name="Text 9"/>
          <p:cNvSpPr/>
          <p:nvPr/>
        </p:nvSpPr>
        <p:spPr>
          <a:xfrm>
            <a:off x="1234440" y="2688336"/>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電圧タグ解釈の統一（v1.3）</a:t>
            </a:r>
            <a:endParaRPr lang="en-US" sz="1200" dirty="0"/>
          </a:p>
        </p:txBody>
      </p:sp>
      <p:sp>
        <p:nvSpPr>
          <p:cNvPr id="12" name="Text 10"/>
          <p:cNvSpPr/>
          <p:nvPr/>
        </p:nvSpPr>
        <p:spPr>
          <a:xfrm>
            <a:off x="1051560" y="3035808"/>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"66000;154000" は最高階級154 kVに解決、"," は値区切り</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（"77000,6600" → 770006.6 kV という連結事故を根絶）。6実装2意味論 → 1実装</a:t>
            </a:r>
            <a:endParaRPr lang="en-US" sz="1000" dirty="0"/>
          </a:p>
        </p:txBody>
      </p:sp>
      <p:sp>
        <p:nvSpPr>
          <p:cNvPr id="13" name="Shape 11"/>
          <p:cNvSpPr/>
          <p:nvPr/>
        </p:nvSpPr>
        <p:spPr>
          <a:xfrm>
            <a:off x="822960" y="3968496"/>
            <a:ext cx="5669280" cy="1280160"/>
          </a:xfrm>
          <a:prstGeom prst="roundRect">
            <a:avLst>
              <a:gd name="adj" fmla="val 4286"/>
            </a:avLst>
          </a:prstGeom>
          <a:solidFill>
            <a:srgbClr val="F4F4F6"/>
          </a:solidFill>
          <a:ln/>
        </p:spPr>
      </p:sp>
      <p:sp>
        <p:nvSpPr>
          <p:cNvPr id="14" name="Shape 12"/>
          <p:cNvSpPr/>
          <p:nvPr/>
        </p:nvSpPr>
        <p:spPr>
          <a:xfrm>
            <a:off x="1024128" y="4187952"/>
            <a:ext cx="128016" cy="128016"/>
          </a:xfrm>
          <a:prstGeom prst="rect">
            <a:avLst/>
          </a:prstGeom>
          <a:solidFill>
            <a:srgbClr val="2E7D32"/>
          </a:solidFill>
          <a:ln/>
        </p:spPr>
      </p:sp>
      <p:sp>
        <p:nvSpPr>
          <p:cNvPr id="15" name="Text 13"/>
          <p:cNvSpPr/>
          <p:nvPr/>
        </p:nvSpPr>
        <p:spPr>
          <a:xfrm>
            <a:off x="1234440" y="4078224"/>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実データとの外部検証（v1.4）</a:t>
            </a:r>
            <a:endParaRPr lang="en-US" sz="1200" dirty="0"/>
          </a:p>
        </p:txBody>
      </p:sp>
      <p:sp>
        <p:nvSpPr>
          <p:cNvPr id="16" name="Text 14"/>
          <p:cNvSpPr/>
          <p:nvPr/>
        </p:nvSpPr>
        <p:spPr>
          <a:xfrm>
            <a:off x="1051560" y="4425696"/>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東電の線別潮流と回廊利用率の順位相関、関西の開示線名と照合</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（≥154 kV 幹線38本で97%一致）— スコアカードをJSONで同梱</a:t>
            </a:r>
            <a:endParaRPr lang="en-US" sz="1000" dirty="0"/>
          </a:p>
        </p:txBody>
      </p:sp>
      <p:pic>
        <p:nvPicPr>
          <p:cNvPr id="17" name="Image 0" descr="assets/fig_satellite_validation.png">    </p:cNvPr>
          <p:cNvPicPr>
            <a:picLocks noChangeAspect="1"/>
          </p:cNvPicPr>
          <p:nvPr/>
        </p:nvPicPr>
        <p:blipFill>
          <a:blip r:embed="rId1"/>
          <a:srcRect l="0" r="0" t="0" b="0"/>
          <a:stretch/>
        </p:blipFill>
        <p:spPr>
          <a:xfrm>
            <a:off x="822960" y="5376672"/>
            <a:ext cx="5669280" cy="1042416"/>
          </a:xfrm>
          <a:prstGeom prst="rect">
            <a:avLst/>
          </a:prstGeom>
        </p:spPr>
      </p:pic>
      <p:sp>
        <p:nvSpPr>
          <p:cNvPr id="18" name="Shape 15"/>
          <p:cNvSpPr/>
          <p:nvPr/>
        </p:nvSpPr>
        <p:spPr>
          <a:xfrm>
            <a:off x="822960" y="6144768"/>
            <a:ext cx="5669280" cy="274320"/>
          </a:xfrm>
          <a:prstGeom prst="rect">
            <a:avLst/>
          </a:prstGeom>
          <a:solidFill>
            <a:srgbClr val="000000">
              <a:alpha val="55000"/>
            </a:srgbClr>
          </a:solidFill>
          <a:ln/>
        </p:spPr>
      </p:sp>
      <p:sp>
        <p:nvSpPr>
          <p:cNvPr id="19" name="Text 16"/>
          <p:cNvSpPr/>
          <p:nvPr/>
        </p:nvSpPr>
        <p:spPr>
          <a:xfrm>
            <a:off x="914400" y="6144768"/>
            <a:ext cx="5486400" cy="274320"/>
          </a:xfrm>
          <a:prstGeom prst="rect">
            <a:avLst/>
          </a:prstGeom>
          <a:noFill/>
          <a:ln/>
        </p:spPr>
        <p:txBody>
          <a:bodyPr wrap="square" lIns="0" tIns="0" rIns="0" bIns="0" rtlCol="0" anchor="ctr"/>
          <a:lstStyle/>
          <a:p>
            <a:pPr indent="0" marL="0">
              <a:buNone/>
            </a:pPr>
            <a:r>
              <a:rPr lang="en-US" sz="850" dirty="0">
                <a:solidFill>
                  <a:srgbClr val="FFFFFF"/>
                </a:solidFill>
                <a:latin typeface="Hiragino Sans" pitchFamily="34" charset="0"/>
                <a:ea typeface="Hiragino Sans" pitchFamily="34" charset="-122"/>
                <a:cs typeface="Hiragino Sans" pitchFamily="34" charset="-120"/>
              </a:rPr>
              <a:t>v1.1 比較タブ：衛星写真上で位置を目視検証（左から鹿島・火力構内・変電所）</a:t>
            </a:r>
            <a:endParaRPr lang="en-US" sz="850" dirty="0"/>
          </a:p>
        </p:txBody>
      </p:sp>
      <p:pic>
        <p:nvPicPr>
          <p:cNvPr id="20" name="Image 1" descr="assets/fig_cim_national_pf.png">    </p:cNvPr>
          <p:cNvPicPr>
            <a:picLocks noChangeAspect="1"/>
          </p:cNvPicPr>
          <p:nvPr/>
        </p:nvPicPr>
        <p:blipFill>
          <a:blip r:embed="rId2"/>
          <a:stretch>
            <a:fillRect/>
          </a:stretch>
        </p:blipFill>
        <p:spPr>
          <a:xfrm>
            <a:off x="6903720" y="1234440"/>
            <a:ext cx="4709160" cy="4636008"/>
          </a:xfrm>
          <a:prstGeom prst="rect">
            <a:avLst/>
          </a:prstGeom>
        </p:spPr>
      </p:pic>
      <p:sp>
        <p:nvSpPr>
          <p:cNvPr id="21" name="Text 17"/>
          <p:cNvSpPr/>
          <p:nvPr/>
        </p:nvSpPr>
        <p:spPr>
          <a:xfrm>
            <a:off x="6720840" y="5943600"/>
            <a:ext cx="4846320" cy="457200"/>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全国ACPF：14,647母線・10/10地域が解けた（v1.4, CGMES往復後の実測図）</a:t>
            </a:r>
            <a:endParaRPr lang="en-US" sz="1050" dirty="0"/>
          </a:p>
        </p:txBody>
      </p:sp>
      <p:sp>
        <p:nvSpPr>
          <p:cNvPr id="22"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3"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4"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v1.5</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収束は正しさではない — 誠実さを仕組みに変えた</a:t>
            </a:r>
            <a:endParaRPr lang="en-US" sz="2100" dirty="0"/>
          </a:p>
        </p:txBody>
      </p:sp>
      <p:sp>
        <p:nvSpPr>
          <p:cNvPr id="5" name="Shape 3"/>
          <p:cNvSpPr/>
          <p:nvPr/>
        </p:nvSpPr>
        <p:spPr>
          <a:xfrm>
            <a:off x="822960" y="1143000"/>
            <a:ext cx="10607040" cy="914400"/>
          </a:xfrm>
          <a:prstGeom prst="roundRect">
            <a:avLst>
              <a:gd name="adj" fmla="val 6000"/>
            </a:avLst>
          </a:prstGeom>
          <a:solidFill>
            <a:srgbClr val="1E2761"/>
          </a:solidFill>
          <a:ln/>
        </p:spPr>
      </p:sp>
      <p:sp>
        <p:nvSpPr>
          <p:cNvPr id="6" name="Text 4"/>
          <p:cNvSpPr/>
          <p:nvPr/>
        </p:nvSpPr>
        <p:spPr>
          <a:xfrm>
            <a:off x="1097280" y="1143000"/>
            <a:ext cx="10058400" cy="91440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モデルを「繋がって・解けて・完全に」見せる機構は19個あった。ひとつずつ台帳に載せ、OFFスイッチを付けた。</a:t>
            </a:r>
            <a:endParaRPr lang="en-US" sz="1450" dirty="0"/>
          </a:p>
        </p:txBody>
      </p:sp>
      <p:sp>
        <p:nvSpPr>
          <p:cNvPr id="7" name="Shape 5"/>
          <p:cNvSpPr/>
          <p:nvPr/>
        </p:nvSpPr>
        <p:spPr>
          <a:xfrm>
            <a:off x="822960" y="2286000"/>
            <a:ext cx="5120640" cy="1463040"/>
          </a:xfrm>
          <a:prstGeom prst="roundRect">
            <a:avLst>
              <a:gd name="adj" fmla="val 3750"/>
            </a:avLst>
          </a:prstGeom>
          <a:solidFill>
            <a:srgbClr val="F4F4F6"/>
          </a:solidFill>
          <a:ln/>
        </p:spPr>
      </p:sp>
      <p:sp>
        <p:nvSpPr>
          <p:cNvPr id="8" name="Shape 6"/>
          <p:cNvSpPr/>
          <p:nvPr/>
        </p:nvSpPr>
        <p:spPr>
          <a:xfrm>
            <a:off x="1024128" y="2505456"/>
            <a:ext cx="128016" cy="128016"/>
          </a:xfrm>
          <a:prstGeom prst="rect">
            <a:avLst/>
          </a:prstGeom>
          <a:solidFill>
            <a:srgbClr val="9467BD"/>
          </a:solidFill>
          <a:ln/>
        </p:spPr>
      </p:sp>
      <p:sp>
        <p:nvSpPr>
          <p:cNvPr id="9" name="Text 7"/>
          <p:cNvSpPr/>
          <p:nvPr/>
        </p:nvSpPr>
        <p:spPr>
          <a:xfrm>
            <a:off x="1234440" y="23957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介入台帳 MODEL_INTERVENTIONS.md</a:t>
            </a:r>
            <a:endParaRPr lang="en-US" sz="1200" dirty="0"/>
          </a:p>
        </p:txBody>
      </p:sp>
      <p:sp>
        <p:nvSpPr>
          <p:cNvPr id="10" name="Text 8"/>
          <p:cNvSpPr/>
          <p:nvPr/>
        </p:nvSpPr>
        <p:spPr>
          <a:xfrm>
            <a:off x="1051560" y="27432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最近傍発電機接続・合成需要配分・既定容量・成分別slack・</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刈り込み梯子…19機構すべてに根拠・台帳・OFFスイッチ</a:t>
            </a:r>
            <a:endParaRPr lang="en-US" sz="1000" dirty="0"/>
          </a:p>
        </p:txBody>
      </p:sp>
      <p:sp>
        <p:nvSpPr>
          <p:cNvPr id="11" name="Shape 9"/>
          <p:cNvSpPr/>
          <p:nvPr/>
        </p:nvSpPr>
        <p:spPr>
          <a:xfrm>
            <a:off x="822960" y="3886200"/>
            <a:ext cx="5120640" cy="1463040"/>
          </a:xfrm>
          <a:prstGeom prst="roundRect">
            <a:avLst>
              <a:gd name="adj" fmla="val 3750"/>
            </a:avLst>
          </a:prstGeom>
          <a:solidFill>
            <a:srgbClr val="F4F4F6"/>
          </a:solidFill>
          <a:ln/>
        </p:spPr>
      </p:sp>
      <p:sp>
        <p:nvSpPr>
          <p:cNvPr id="12" name="Shape 10"/>
          <p:cNvSpPr/>
          <p:nvPr/>
        </p:nvSpPr>
        <p:spPr>
          <a:xfrm>
            <a:off x="1024128" y="4105656"/>
            <a:ext cx="128016" cy="128016"/>
          </a:xfrm>
          <a:prstGeom prst="rect">
            <a:avLst/>
          </a:prstGeom>
          <a:solidFill>
            <a:srgbClr val="9467BD"/>
          </a:solidFill>
          <a:ln/>
        </p:spPr>
      </p:sp>
      <p:sp>
        <p:nvSpPr>
          <p:cNvPr id="13" name="Text 11"/>
          <p:cNvSpPr/>
          <p:nvPr/>
        </p:nvSpPr>
        <p:spPr>
          <a:xfrm>
            <a:off x="1234440" y="39959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fake-AC ガード</a:t>
            </a:r>
            <a:endParaRPr lang="en-US" sz="1200" dirty="0"/>
          </a:p>
        </p:txBody>
      </p:sp>
      <p:sp>
        <p:nvSpPr>
          <p:cNvPr id="14" name="Text 12"/>
          <p:cNvSpPr/>
          <p:nvPr/>
        </p:nvSpPr>
        <p:spPr>
          <a:xfrm>
            <a:off x="1051560" y="43434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AC解は解前需要の95%以上を給電していなければ無効。</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served_frac を全結果JSONに同梱 — 収束≠正しさ</a:t>
            </a:r>
            <a:endParaRPr lang="en-US" sz="1000" dirty="0"/>
          </a:p>
        </p:txBody>
      </p:sp>
      <p:sp>
        <p:nvSpPr>
          <p:cNvPr id="15" name="Shape 13"/>
          <p:cNvSpPr/>
          <p:nvPr/>
        </p:nvSpPr>
        <p:spPr>
          <a:xfrm>
            <a:off x="6309360" y="2286000"/>
            <a:ext cx="5120640" cy="3063240"/>
          </a:xfrm>
          <a:prstGeom prst="roundRect">
            <a:avLst>
              <a:gd name="adj" fmla="val 1791"/>
            </a:avLst>
          </a:prstGeom>
          <a:solidFill>
            <a:srgbClr val="FFF3F3"/>
          </a:solidFill>
          <a:ln w="13970">
            <a:solidFill>
              <a:srgbClr val="C62828"/>
            </a:solidFill>
            <a:prstDash val="solid"/>
          </a:ln>
        </p:spPr>
      </p:sp>
      <p:sp>
        <p:nvSpPr>
          <p:cNvPr id="16" name="Text 14"/>
          <p:cNvSpPr/>
          <p:nvPr/>
        </p:nvSpPr>
        <p:spPr>
          <a:xfrm>
            <a:off x="6537960" y="2423160"/>
            <a:ext cx="4663440" cy="292608"/>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一番痛かった再解釈：東日本フルAC</a:t>
            </a:r>
            <a:endParaRPr lang="en-US" sz="1300" dirty="0"/>
          </a:p>
        </p:txBody>
      </p:sp>
      <p:sp>
        <p:nvSpPr>
          <p:cNvPr id="17" name="Text 15"/>
          <p:cNvSpPr/>
          <p:nvPr/>
        </p:nvSpPr>
        <p:spPr>
          <a:xfrm>
            <a:off x="6537960" y="2788920"/>
            <a:ext cx="4709160" cy="2103120"/>
          </a:xfrm>
          <a:prstGeom prst="rect">
            <a:avLst/>
          </a:prstGeom>
          <a:noFill/>
          <a:ln/>
        </p:spPr>
        <p:txBody>
          <a:bodyPr wrap="square" lIns="0" tIns="0" rIns="0" bIns="0" rtlCol="0" anchor="ctr"/>
          <a:lstStyle/>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誇っていた「フルAC 99.0 % 給電」を7変種プローブで解体したら、bboxで誤配置された需要地理の上に立っていた。正直な地理ではフルACは解けない — dc_fallback と正直に報告する側に倒した。</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途中「復活した」と見えた解も、飛騨回廊に偶然2.3 GWのバラストを置く重み付けバグだった。出荷前に棄却。</a:t>
            </a:r>
            <a:endParaRPr lang="en-US" sz="1150" dirty="0"/>
          </a:p>
        </p:txBody>
      </p:sp>
      <p:sp>
        <p:nvSpPr>
          <p:cNvPr id="18" name="Text 16"/>
          <p:cNvSpPr/>
          <p:nvPr/>
        </p:nvSpPr>
        <p:spPr>
          <a:xfrm>
            <a:off x="6537960" y="4892040"/>
            <a:ext cx="4709160" cy="365760"/>
          </a:xfrm>
          <a:prstGeom prst="rect">
            <a:avLst/>
          </a:prstGeom>
          <a:noFill/>
          <a:ln/>
        </p:spPr>
        <p:txBody>
          <a:bodyPr wrap="square" lIns="0" tIns="0" rIns="0" bIns="0" rtlCol="0" anchor="ctr"/>
          <a:lstStyle/>
          <a:p>
            <a:pPr indent="0" marL="0">
              <a:buNone/>
            </a:pPr>
            <a:r>
              <a:rPr lang="en-US" sz="1150" b="1" dirty="0">
                <a:solidFill>
                  <a:srgbClr val="1E2761"/>
                </a:solidFill>
                <a:latin typeface="Hiragino Sans" pitchFamily="34" charset="0"/>
                <a:ea typeface="Hiragino Sans" pitchFamily="34" charset="-122"/>
                <a:cs typeface="Hiragino Sans" pitchFamily="34" charset="-120"/>
              </a:rPr>
              <a:t>結果を良くする変更より、結果を悪くする訂正の方が価値がある。</a:t>
            </a:r>
            <a:endParaRPr lang="en-US" sz="1150" dirty="0"/>
          </a:p>
        </p:txBody>
      </p:sp>
      <p:sp>
        <p:nvSpPr>
          <p:cNvPr id="19" name="Text 17"/>
          <p:cNvSpPr/>
          <p:nvPr/>
        </p:nvSpPr>
        <p:spPr>
          <a:xfrm>
            <a:off x="822960" y="5532120"/>
            <a:ext cx="1060704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あわせて v1.5 で配布基盤も整備：自己完結バンドル（SHA256 MANIFEST）・pandapower/MATLAB両チュートリアルを実ダウンロード→新環境E2Eで検証してから公開。</a:t>
            </a:r>
            <a:endParaRPr lang="en-US" sz="1150" dirty="0"/>
          </a:p>
        </p:txBody>
      </p:sp>
      <p:sp>
        <p:nvSpPr>
          <p:cNvPr id="20"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1"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2"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v1.6</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西日本 2,531成分の謎：バグは1つ、見え方は3つ</a:t>
            </a:r>
            <a:endParaRPr lang="en-US" sz="2100" dirty="0"/>
          </a:p>
        </p:txBody>
      </p:sp>
      <p:sp>
        <p:nvSpPr>
          <p:cNvPr id="5" name="Shape 3"/>
          <p:cNvSpPr/>
          <p:nvPr/>
        </p:nvSpPr>
        <p:spPr>
          <a:xfrm>
            <a:off x="822960" y="1188720"/>
            <a:ext cx="3383280" cy="1417320"/>
          </a:xfrm>
          <a:prstGeom prst="roundRect">
            <a:avLst>
              <a:gd name="adj" fmla="val 3871"/>
            </a:avLst>
          </a:prstGeom>
          <a:solidFill>
            <a:srgbClr val="F4F4F6"/>
          </a:solidFill>
          <a:ln/>
        </p:spPr>
      </p:sp>
      <p:sp>
        <p:nvSpPr>
          <p:cNvPr id="6" name="Text 4"/>
          <p:cNvSpPr/>
          <p:nvPr/>
        </p:nvSpPr>
        <p:spPr>
          <a:xfrm>
            <a:off x="1005840" y="1298448"/>
            <a:ext cx="3017520" cy="274320"/>
          </a:xfrm>
          <a:prstGeom prst="rect">
            <a:avLst/>
          </a:prstGeom>
          <a:noFill/>
          <a:ln/>
        </p:spPr>
        <p:txBody>
          <a:bodyPr wrap="square" lIns="0" tIns="0" rIns="0" bIns="0" rtlCol="0" anchor="ctr"/>
          <a:lstStyle/>
          <a:p>
            <a:pPr indent="0" marL="0">
              <a:buNone/>
            </a:pPr>
            <a:r>
              <a:rPr lang="en-US" sz="1250" b="1" dirty="0">
                <a:solidFill>
                  <a:srgbClr val="C62828"/>
                </a:solidFill>
                <a:latin typeface="Hiragino Sans" pitchFamily="34" charset="0"/>
                <a:ea typeface="Hiragino Sans" pitchFamily="34" charset="-122"/>
                <a:cs typeface="Hiragino Sans" pitchFamily="34" charset="-120"/>
              </a:rPr>
              <a:t>観測</a:t>
            </a:r>
            <a:endParaRPr lang="en-US" sz="1250" dirty="0"/>
          </a:p>
        </p:txBody>
      </p:sp>
      <p:sp>
        <p:nvSpPr>
          <p:cNvPr id="7" name="Text 5"/>
          <p:cNvSpPr/>
          <p:nvPr/>
        </p:nvSpPr>
        <p:spPr>
          <a:xfrm>
            <a:off x="10058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西日本が2,531の連結成分に割れる</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東西で損失が不自然に小さい</a:t>
            </a:r>
            <a:endParaRPr lang="en-US" sz="1050" dirty="0"/>
          </a:p>
        </p:txBody>
      </p:sp>
      <p:sp>
        <p:nvSpPr>
          <p:cNvPr id="8" name="Text 6"/>
          <p:cNvSpPr/>
          <p:nvPr/>
        </p:nvSpPr>
        <p:spPr>
          <a:xfrm>
            <a:off x="41879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9" name="Shape 7"/>
          <p:cNvSpPr/>
          <p:nvPr/>
        </p:nvSpPr>
        <p:spPr>
          <a:xfrm>
            <a:off x="4480560" y="1188720"/>
            <a:ext cx="3383280" cy="1417320"/>
          </a:xfrm>
          <a:prstGeom prst="roundRect">
            <a:avLst>
              <a:gd name="adj" fmla="val 3871"/>
            </a:avLst>
          </a:prstGeom>
          <a:solidFill>
            <a:srgbClr val="F4F4F6"/>
          </a:solidFill>
          <a:ln/>
        </p:spPr>
      </p:sp>
      <p:sp>
        <p:nvSpPr>
          <p:cNvPr id="10" name="Text 8"/>
          <p:cNvSpPr/>
          <p:nvPr/>
        </p:nvSpPr>
        <p:spPr>
          <a:xfrm>
            <a:off x="4663440" y="1298448"/>
            <a:ext cx="301752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根因</a:t>
            </a:r>
            <a:endParaRPr lang="en-US" sz="1250" dirty="0"/>
          </a:p>
        </p:txBody>
      </p:sp>
      <p:sp>
        <p:nvSpPr>
          <p:cNvPr id="11" name="Text 9"/>
          <p:cNvSpPr/>
          <p:nvPr/>
        </p:nvSpPr>
        <p:spPr>
          <a:xfrm>
            <a:off x="46634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地域bboxの重なりが同一設備を二重登録</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（同じosm_idが隣接2地域の抽出に載る）</a:t>
            </a:r>
            <a:endParaRPr lang="en-US" sz="1050" dirty="0"/>
          </a:p>
        </p:txBody>
      </p:sp>
      <p:sp>
        <p:nvSpPr>
          <p:cNvPr id="12" name="Text 10"/>
          <p:cNvSpPr/>
          <p:nvPr/>
        </p:nvSpPr>
        <p:spPr>
          <a:xfrm>
            <a:off x="78455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13" name="Shape 11"/>
          <p:cNvSpPr/>
          <p:nvPr/>
        </p:nvSpPr>
        <p:spPr>
          <a:xfrm>
            <a:off x="8138160" y="1188720"/>
            <a:ext cx="3383280" cy="1417320"/>
          </a:xfrm>
          <a:prstGeom prst="roundRect">
            <a:avLst>
              <a:gd name="adj" fmla="val 3871"/>
            </a:avLst>
          </a:prstGeom>
          <a:solidFill>
            <a:srgbClr val="F4F4F6"/>
          </a:solidFill>
          <a:ln/>
        </p:spPr>
      </p:sp>
      <p:sp>
        <p:nvSpPr>
          <p:cNvPr id="14" name="Text 12"/>
          <p:cNvSpPr/>
          <p:nvPr/>
        </p:nvSpPr>
        <p:spPr>
          <a:xfrm>
            <a:off x="8321040" y="1298448"/>
            <a:ext cx="3017520" cy="274320"/>
          </a:xfrm>
          <a:prstGeom prst="rect">
            <a:avLst/>
          </a:prstGeom>
          <a:noFill/>
          <a:ln/>
        </p:spPr>
        <p:txBody>
          <a:bodyPr wrap="square" lIns="0" tIns="0" rIns="0" bIns="0" rtlCol="0" anchor="ctr"/>
          <a:lstStyle/>
          <a:p>
            <a:pPr indent="0" marL="0">
              <a:buNone/>
            </a:pPr>
            <a:r>
              <a:rPr lang="en-US" sz="1250" b="1" dirty="0">
                <a:solidFill>
                  <a:srgbClr val="2E7D32"/>
                </a:solidFill>
                <a:latin typeface="Hiragino Sans" pitchFamily="34" charset="0"/>
                <a:ea typeface="Hiragino Sans" pitchFamily="34" charset="-122"/>
                <a:cs typeface="Hiragino Sans" pitchFamily="34" charset="-120"/>
              </a:rPr>
              <a:t>処置</a:t>
            </a:r>
            <a:endParaRPr lang="en-US" sz="1250" dirty="0"/>
          </a:p>
        </p:txBody>
      </p:sp>
      <p:sp>
        <p:nvSpPr>
          <p:cNvPr id="15" name="Text 13"/>
          <p:cNvSpPr/>
          <p:nvPr/>
        </p:nvSpPr>
        <p:spPr>
          <a:xfrm>
            <a:off x="83210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座標+電圧の同一ノード・同経路の同一枝を統合</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（実並列回線 par&gt;1 の8,898本は無傷）</a:t>
            </a:r>
            <a:endParaRPr lang="en-US" sz="1050" dirty="0"/>
          </a:p>
        </p:txBody>
      </p:sp>
      <p:sp>
        <p:nvSpPr>
          <p:cNvPr id="16" name="Shape 14"/>
          <p:cNvSpPr/>
          <p:nvPr/>
        </p:nvSpPr>
        <p:spPr>
          <a:xfrm>
            <a:off x="822960" y="2880360"/>
            <a:ext cx="3383280" cy="1143000"/>
          </a:xfrm>
          <a:prstGeom prst="roundRect">
            <a:avLst>
              <a:gd name="adj" fmla="val 4800"/>
            </a:avLst>
          </a:prstGeom>
          <a:solidFill>
            <a:srgbClr val="F4F4F6"/>
          </a:solidFill>
          <a:ln/>
        </p:spPr>
      </p:sp>
      <p:sp>
        <p:nvSpPr>
          <p:cNvPr id="17" name="Text 15"/>
          <p:cNvSpPr/>
          <p:nvPr/>
        </p:nvSpPr>
        <p:spPr>
          <a:xfrm>
            <a:off x="82296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2,531 → 544</a:t>
            </a:r>
            <a:endParaRPr lang="en-US" sz="2600" dirty="0"/>
          </a:p>
        </p:txBody>
      </p:sp>
      <p:sp>
        <p:nvSpPr>
          <p:cNvPr id="18" name="Text 16"/>
          <p:cNvSpPr/>
          <p:nvPr/>
        </p:nvSpPr>
        <p:spPr>
          <a:xfrm>
            <a:off x="91440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西日本の連結成分数</a:t>
            </a:r>
            <a:endParaRPr lang="en-US" sz="1050" dirty="0"/>
          </a:p>
        </p:txBody>
      </p:sp>
      <p:sp>
        <p:nvSpPr>
          <p:cNvPr id="19" name="Text 17"/>
          <p:cNvSpPr/>
          <p:nvPr/>
        </p:nvSpPr>
        <p:spPr>
          <a:xfrm>
            <a:off x="91440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0" name="Shape 18"/>
          <p:cNvSpPr/>
          <p:nvPr/>
        </p:nvSpPr>
        <p:spPr>
          <a:xfrm>
            <a:off x="4434840" y="2880360"/>
            <a:ext cx="3383280" cy="1143000"/>
          </a:xfrm>
          <a:prstGeom prst="roundRect">
            <a:avLst>
              <a:gd name="adj" fmla="val 4800"/>
            </a:avLst>
          </a:prstGeom>
          <a:solidFill>
            <a:srgbClr val="F4F4F6"/>
          </a:solidFill>
          <a:ln/>
        </p:spPr>
      </p:sp>
      <p:sp>
        <p:nvSpPr>
          <p:cNvPr id="21" name="Text 19"/>
          <p:cNvSpPr/>
          <p:nvPr/>
        </p:nvSpPr>
        <p:spPr>
          <a:xfrm>
            <a:off x="443484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9,793 → 8,353</a:t>
            </a:r>
            <a:endParaRPr lang="en-US" sz="2600" dirty="0"/>
          </a:p>
        </p:txBody>
      </p:sp>
      <p:sp>
        <p:nvSpPr>
          <p:cNvPr id="22" name="Text 20"/>
          <p:cNvSpPr/>
          <p:nvPr/>
        </p:nvSpPr>
        <p:spPr>
          <a:xfrm>
            <a:off x="452628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西日本の線数（二重計上の解消）</a:t>
            </a:r>
            <a:endParaRPr lang="en-US" sz="1050" dirty="0"/>
          </a:p>
        </p:txBody>
      </p:sp>
      <p:sp>
        <p:nvSpPr>
          <p:cNvPr id="23" name="Text 21"/>
          <p:cNvSpPr/>
          <p:nvPr/>
        </p:nvSpPr>
        <p:spPr>
          <a:xfrm>
            <a:off x="452628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4" name="Shape 22"/>
          <p:cNvSpPr/>
          <p:nvPr/>
        </p:nvSpPr>
        <p:spPr>
          <a:xfrm>
            <a:off x="8046720" y="2880360"/>
            <a:ext cx="3383280" cy="1143000"/>
          </a:xfrm>
          <a:prstGeom prst="roundRect">
            <a:avLst>
              <a:gd name="adj" fmla="val 4800"/>
            </a:avLst>
          </a:prstGeom>
          <a:solidFill>
            <a:srgbClr val="F4F4F6"/>
          </a:solidFill>
          <a:ln/>
        </p:spPr>
      </p:sp>
      <p:sp>
        <p:nvSpPr>
          <p:cNvPr id="25" name="Text 23"/>
          <p:cNvSpPr/>
          <p:nvPr/>
        </p:nvSpPr>
        <p:spPr>
          <a:xfrm>
            <a:off x="8046720" y="2953512"/>
            <a:ext cx="3383280" cy="502920"/>
          </a:xfrm>
          <a:prstGeom prst="rect">
            <a:avLst/>
          </a:prstGeom>
          <a:noFill/>
          <a:ln/>
        </p:spPr>
        <p:txBody>
          <a:bodyPr wrap="square" lIns="0" tIns="0" rIns="0" bIns="0" rtlCol="0" anchor="ctr"/>
          <a:lstStyle/>
          <a:p>
            <a:pPr algn="ctr" indent="0" marL="0">
              <a:buNone/>
            </a:pPr>
            <a:r>
              <a:rPr lang="en-US" sz="2600" b="1" dirty="0">
                <a:solidFill>
                  <a:srgbClr val="C62828"/>
                </a:solidFill>
                <a:latin typeface="Helvetica Neue" pitchFamily="34" charset="0"/>
                <a:ea typeface="Helvetica Neue" pitchFamily="34" charset="-122"/>
                <a:cs typeface="Helvetica Neue" pitchFamily="34" charset="-120"/>
              </a:rPr>
              <a:t>+5.7 %</a:t>
            </a:r>
            <a:endParaRPr lang="en-US" sz="2600" dirty="0"/>
          </a:p>
        </p:txBody>
      </p:sp>
      <p:sp>
        <p:nvSpPr>
          <p:cNvPr id="26" name="Text 24"/>
          <p:cNvSpPr/>
          <p:nvPr/>
        </p:nvSpPr>
        <p:spPr>
          <a:xfrm>
            <a:off x="813816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東日本AC損失（増える＝正しくなる）</a:t>
            </a:r>
            <a:endParaRPr lang="en-US" sz="1050" dirty="0"/>
          </a:p>
        </p:txBody>
      </p:sp>
      <p:sp>
        <p:nvSpPr>
          <p:cNvPr id="27" name="Text 25"/>
          <p:cNvSpPr/>
          <p:nvPr/>
        </p:nvSpPr>
        <p:spPr>
          <a:xfrm>
            <a:off x="813816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v1.6：人工的な半減の解消</a:t>
            </a:r>
            <a:endParaRPr lang="en-US" sz="850" dirty="0"/>
          </a:p>
        </p:txBody>
      </p:sp>
      <p:sp>
        <p:nvSpPr>
          <p:cNvPr id="28" name="Text 26"/>
          <p:cNvSpPr/>
          <p:nvPr/>
        </p:nvSpPr>
        <p:spPr>
          <a:xfrm>
            <a:off x="822960" y="420624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損失が増えるのは劣化ではない。二重登録がインピーダンスを実効的に半減させていた — その訂正である。既定ONへの昇格は4島のbefore/afterプローブと44ゲートで判定してから。</a:t>
            </a:r>
            <a:endParaRPr lang="en-US" sz="1200" dirty="0"/>
          </a:p>
        </p:txBody>
      </p:sp>
      <p:sp>
        <p:nvSpPr>
          <p:cNvPr id="29" name="Shape 27"/>
          <p:cNvSpPr/>
          <p:nvPr/>
        </p:nvSpPr>
        <p:spPr>
          <a:xfrm>
            <a:off x="822960" y="4892040"/>
            <a:ext cx="10607040" cy="1097280"/>
          </a:xfrm>
          <a:prstGeom prst="roundRect">
            <a:avLst>
              <a:gd name="adj" fmla="val 5000"/>
            </a:avLst>
          </a:prstGeom>
          <a:solidFill>
            <a:srgbClr val="F7F7F2"/>
          </a:solidFill>
          <a:ln/>
        </p:spPr>
      </p:sp>
      <p:sp>
        <p:nvSpPr>
          <p:cNvPr id="30" name="Text 28"/>
          <p:cNvSpPr/>
          <p:nvPr/>
        </p:nvSpPr>
        <p:spPr>
          <a:xfrm>
            <a:off x="1051560" y="4892040"/>
            <a:ext cx="10149840" cy="1097280"/>
          </a:xfrm>
          <a:prstGeom prst="rect">
            <a:avLst/>
          </a:prstGeom>
          <a:noFill/>
          <a:ln/>
        </p:spPr>
        <p:txBody>
          <a:bodyPr wrap="square" lIns="0" tIns="0" rIns="0" bIns="0" rtlCol="0" anchor="ctr"/>
          <a:lstStyle/>
          <a:p>
            <a:pPr indent="0" marL="0">
              <a:lnSpc>
                <a:spcPts val="1700"/>
              </a:lnSpc>
              <a:buNone/>
            </a:pPr>
            <a:r>
              <a:rPr lang="en-US" sz="1150" b="1" dirty="0">
                <a:solidFill>
                  <a:srgbClr val="1A1A1A"/>
                </a:solidFill>
                <a:latin typeface="Hiragino Sans" pitchFamily="34" charset="0"/>
                <a:ea typeface="Hiragino Sans" pitchFamily="34" charset="-122"/>
                <a:cs typeface="Hiragino Sans" pitchFamily="34" charset="-120"/>
              </a:rPr>
              <a:t>方法論として一般化して公開　</a:t>
            </a:r>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OSM由来系統モデルの落とし穴4クラス／診断手法5種（変種プローブ・プロセス分離・served_fracガード・DC角トリアージ・不変量比較）／他プロジェクト向け12項目チェックリスト — 負の結果も記録</a:t>
            </a:r>
            <a:endParaRPr lang="en-US" sz="1150" dirty="0"/>
          </a:p>
        </p:txBody>
      </p:sp>
      <p:sp>
        <p:nvSpPr>
          <p:cNvPr id="31" name="Text 2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2" name="Text 3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33" name="Text 3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公式開示と接続する：開示データは「上書き」ではなく「照合」</a:t>
            </a:r>
            <a:endParaRPr lang="en-US" sz="2100" dirty="0"/>
          </a:p>
        </p:txBody>
      </p:sp>
      <p:sp>
        <p:nvSpPr>
          <p:cNvPr id="5" name="Shape 3"/>
          <p:cNvSpPr/>
          <p:nvPr/>
        </p:nvSpPr>
        <p:spPr>
          <a:xfrm>
            <a:off x="822960" y="1188720"/>
            <a:ext cx="5120640" cy="1600200"/>
          </a:xfrm>
          <a:prstGeom prst="roundRect">
            <a:avLst>
              <a:gd name="adj" fmla="val 3429"/>
            </a:avLst>
          </a:prstGeom>
          <a:solidFill>
            <a:srgbClr val="F4F4F6"/>
          </a:solidFill>
          <a:ln/>
        </p:spPr>
      </p:sp>
      <p:sp>
        <p:nvSpPr>
          <p:cNvPr id="6" name="Shape 4"/>
          <p:cNvSpPr/>
          <p:nvPr/>
        </p:nvSpPr>
        <p:spPr>
          <a:xfrm>
            <a:off x="1024128" y="1408176"/>
            <a:ext cx="128016" cy="128016"/>
          </a:xfrm>
          <a:prstGeom prst="rect">
            <a:avLst/>
          </a:prstGeom>
          <a:solidFill>
            <a:srgbClr val="FF7F0E"/>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様式5 インピーダンス表（全10 TSO）</a:t>
            </a:r>
            <a:endParaRPr lang="en-US" sz="1200" dirty="0"/>
          </a:p>
        </p:txBody>
      </p:sp>
      <p:sp>
        <p:nvSpPr>
          <p:cNvPr id="8" name="Text 6"/>
          <p:cNvSpPr/>
          <p:nvPr/>
        </p:nvSpPr>
        <p:spPr>
          <a:xfrm>
            <a:off x="1051560" y="164592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1,009線・213変圧器を正規化し、実証接続89本を canon に適用。</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再生成のたびに再適用されるパイプライン段として組込（黙って消えない）</a:t>
            </a:r>
            <a:endParaRPr lang="en-US" sz="1000" dirty="0"/>
          </a:p>
        </p:txBody>
      </p:sp>
      <p:sp>
        <p:nvSpPr>
          <p:cNvPr id="9" name="Shape 7"/>
          <p:cNvSpPr/>
          <p:nvPr/>
        </p:nvSpPr>
        <p:spPr>
          <a:xfrm>
            <a:off x="822960" y="2926080"/>
            <a:ext cx="5120640" cy="1600200"/>
          </a:xfrm>
          <a:prstGeom prst="roundRect">
            <a:avLst>
              <a:gd name="adj" fmla="val 3429"/>
            </a:avLst>
          </a:prstGeom>
          <a:solidFill>
            <a:srgbClr val="F4F4F6"/>
          </a:solidFill>
          <a:ln/>
        </p:spPr>
      </p:sp>
      <p:sp>
        <p:nvSpPr>
          <p:cNvPr id="10" name="Shape 8"/>
          <p:cNvSpPr/>
          <p:nvPr/>
        </p:nvSpPr>
        <p:spPr>
          <a:xfrm>
            <a:off x="1024128" y="3145536"/>
            <a:ext cx="128016" cy="128016"/>
          </a:xfrm>
          <a:prstGeom prst="rect">
            <a:avLst/>
          </a:prstGeom>
          <a:solidFill>
            <a:srgbClr val="FF7F0E"/>
          </a:solidFill>
          <a:ln/>
        </p:spPr>
      </p:sp>
      <p:sp>
        <p:nvSpPr>
          <p:cNvPr id="11" name="Text 9"/>
          <p:cNvSpPr/>
          <p:nvPr/>
        </p:nvSpPr>
        <p:spPr>
          <a:xfrm>
            <a:off x="1234440" y="30358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EGGC：証拠ゲート付きの線形照合</a:t>
            </a:r>
            <a:endParaRPr lang="en-US" sz="1200" dirty="0"/>
          </a:p>
        </p:txBody>
      </p:sp>
      <p:sp>
        <p:nvSpPr>
          <p:cNvPr id="12" name="Text 10"/>
          <p:cNvSpPr/>
          <p:nvPr/>
        </p:nvSpPr>
        <p:spPr>
          <a:xfrm>
            <a:off x="1051560" y="338328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開示コードがOSM実線形に吸着するのは「断片＝開示線そのもの」</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（off-main比 ≥ 0.7）のときだけ。幾何の捏造なし・14本を台帳化</a:t>
            </a:r>
            <a:endParaRPr lang="en-US" sz="1000" dirty="0"/>
          </a:p>
        </p:txBody>
      </p:sp>
      <p:sp>
        <p:nvSpPr>
          <p:cNvPr id="13" name="Shape 11"/>
          <p:cNvSpPr/>
          <p:nvPr/>
        </p:nvSpPr>
        <p:spPr>
          <a:xfrm>
            <a:off x="822960" y="4663440"/>
            <a:ext cx="5120640" cy="1600200"/>
          </a:xfrm>
          <a:prstGeom prst="roundRect">
            <a:avLst>
              <a:gd name="adj" fmla="val 3429"/>
            </a:avLst>
          </a:prstGeom>
          <a:solidFill>
            <a:srgbClr val="F4F4F6"/>
          </a:solidFill>
          <a:ln/>
        </p:spPr>
      </p:sp>
      <p:sp>
        <p:nvSpPr>
          <p:cNvPr id="14" name="Shape 12"/>
          <p:cNvSpPr/>
          <p:nvPr/>
        </p:nvSpPr>
        <p:spPr>
          <a:xfrm>
            <a:off x="1024128" y="4882896"/>
            <a:ext cx="128016" cy="128016"/>
          </a:xfrm>
          <a:prstGeom prst="rect">
            <a:avLst/>
          </a:prstGeom>
          <a:solidFill>
            <a:srgbClr val="C62828"/>
          </a:solidFill>
          <a:ln/>
        </p:spPr>
      </p:sp>
      <p:sp>
        <p:nvSpPr>
          <p:cNvPr id="15" name="Text 13"/>
          <p:cNvSpPr/>
          <p:nvPr/>
        </p:nvSpPr>
        <p:spPr>
          <a:xfrm>
            <a:off x="1234440" y="477316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UC定式の訂正</a:t>
            </a:r>
            <a:endParaRPr lang="en-US" sz="1200" dirty="0"/>
          </a:p>
        </p:txBody>
      </p:sp>
      <p:sp>
        <p:nvSpPr>
          <p:cNvPr id="16" name="Text 14"/>
          <p:cNvSpPr/>
          <p:nvPr/>
        </p:nvSpPr>
        <p:spPr>
          <a:xfrm>
            <a:off x="1051560" y="512064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地域収支が不等式で「余剰のタダ捨て」を許していた → 等式＋</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明示スピル変数に。九州の幻の5.7 GW発電と関門2倍違反が消えた</a:t>
            </a:r>
            <a:endParaRPr lang="en-US" sz="1000" dirty="0"/>
          </a:p>
        </p:txBody>
      </p:sp>
      <p:sp>
        <p:nvSpPr>
          <p:cNvPr id="17" name="Shape 15"/>
          <p:cNvSpPr/>
          <p:nvPr/>
        </p:nvSpPr>
        <p:spPr>
          <a:xfrm>
            <a:off x="6309360" y="1188720"/>
            <a:ext cx="5120640" cy="3337560"/>
          </a:xfrm>
          <a:prstGeom prst="roundRect">
            <a:avLst>
              <a:gd name="adj" fmla="val 1644"/>
            </a:avLst>
          </a:prstGeom>
          <a:solidFill>
            <a:srgbClr val="F4F4F6"/>
          </a:solidFill>
          <a:ln/>
        </p:spPr>
      </p:sp>
      <p:sp>
        <p:nvSpPr>
          <p:cNvPr id="18" name="Text 16"/>
          <p:cNvSpPr/>
          <p:nvPr/>
        </p:nvSpPr>
        <p:spPr>
          <a:xfrm>
            <a:off x="6537960" y="1325880"/>
            <a:ext cx="4754880" cy="32004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連系線を一次資料で引き直す（OCCTO公表28レコード）</a:t>
            </a:r>
            <a:endParaRPr lang="en-US" sz="1250" dirty="0"/>
          </a:p>
        </p:txBody>
      </p:sp>
      <p:sp>
        <p:nvSpPr>
          <p:cNvPr id="19" name="Text 17"/>
          <p:cNvSpPr/>
          <p:nvPr/>
        </p:nvSpPr>
        <p:spPr>
          <a:xfrm>
            <a:off x="6537960" y="1783080"/>
            <a:ext cx="4709160" cy="265176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関門：対称2,780 MW → 方向別 850 / 2,850 MW（順方向を3.3倍過大評価していた）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南福光はBTB直流300 MW — ACスルーで575–1,210 MW流れていた母線を分割</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OCCTO直線の合成連系線7本は実形と二重計上 → in_service=False で退役</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阿南紀北直流幹線に実OSM線形（海底46 km＋架空50.6 km）</a:t>
            </a:r>
            <a:endParaRPr lang="en-US" sz="1150" dirty="0"/>
          </a:p>
        </p:txBody>
      </p:sp>
      <p:sp>
        <p:nvSpPr>
          <p:cNvPr id="20" name="Shape 18"/>
          <p:cNvSpPr/>
          <p:nvPr/>
        </p:nvSpPr>
        <p:spPr>
          <a:xfrm>
            <a:off x="6309360" y="4663440"/>
            <a:ext cx="5120640" cy="1600200"/>
          </a:xfrm>
          <a:prstGeom prst="roundRect">
            <a:avLst>
              <a:gd name="adj" fmla="val 3429"/>
            </a:avLst>
          </a:prstGeom>
          <a:solidFill>
            <a:srgbClr val="FFFFFF"/>
          </a:solidFill>
          <a:ln w="15240">
            <a:solidFill>
              <a:srgbClr val="1E2761"/>
            </a:solidFill>
            <a:prstDash val="solid"/>
          </a:ln>
        </p:spPr>
      </p:sp>
      <p:sp>
        <p:nvSpPr>
          <p:cNvPr id="21" name="Text 19"/>
          <p:cNvSpPr/>
          <p:nvPr/>
        </p:nvSpPr>
        <p:spPr>
          <a:xfrm>
            <a:off x="6537960" y="4800600"/>
            <a:ext cx="475488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容量の出典主義</a:t>
            </a:r>
            <a:endParaRPr lang="en-US" sz="1250" dirty="0"/>
          </a:p>
        </p:txBody>
      </p:sp>
      <p:sp>
        <p:nvSpPr>
          <p:cNvPr id="22" name="Text 20"/>
          <p:cNvSpPr/>
          <p:nvPr/>
        </p:nvSpPr>
        <p:spPr>
          <a:xfrm>
            <a:off x="6537960" y="5120640"/>
            <a:ext cx="4754880" cy="105156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発電容量・変圧器銘板・連系線容量はすべて「出典URL＋原文引用つきレコード」の provenance DB 経由でだけモデルに入る。出典が無い値は既定値のまま、既定値と明記される。</a:t>
            </a:r>
            <a:endParaRPr lang="en-US" sz="11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観測と突合し、動かし続ける</a:t>
            </a:r>
            <a:endParaRPr lang="en-US" sz="2100" dirty="0"/>
          </a:p>
        </p:txBody>
      </p:sp>
      <p:pic>
        <p:nvPicPr>
          <p:cNvPr id="5" name="Image 0" descr="assets/flow_map_frame.png">    </p:cNvPr>
          <p:cNvPicPr>
            <a:picLocks noChangeAspect="1"/>
          </p:cNvPicPr>
          <p:nvPr/>
        </p:nvPicPr>
        <p:blipFill>
          <a:blip r:embed="rId1"/>
          <a:stretch>
            <a:fillRect/>
          </a:stretch>
        </p:blipFill>
        <p:spPr>
          <a:xfrm>
            <a:off x="822960" y="1188720"/>
            <a:ext cx="6583680" cy="4471416"/>
          </a:xfrm>
          <a:prstGeom prst="rect">
            <a:avLst/>
          </a:prstGeom>
        </p:spPr>
      </p:pic>
      <p:sp>
        <p:nvSpPr>
          <p:cNvPr id="6" name="Text 3"/>
          <p:cNvSpPr/>
          <p:nvPr/>
        </p:nvSpPr>
        <p:spPr>
          <a:xfrm>
            <a:off x="822960" y="5715000"/>
            <a:ext cx="658368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flow_map.html — 24時間ノード潮流・方向つきアニメーション（Pages実画面）</a:t>
            </a:r>
            <a:endParaRPr lang="en-US" sz="1050" dirty="0"/>
          </a:p>
        </p:txBody>
      </p:sp>
      <p:sp>
        <p:nvSpPr>
          <p:cNvPr id="7" name="Shape 4"/>
          <p:cNvSpPr/>
          <p:nvPr/>
        </p:nvSpPr>
        <p:spPr>
          <a:xfrm>
            <a:off x="7680960" y="1188720"/>
            <a:ext cx="3749040" cy="1645920"/>
          </a:xfrm>
          <a:prstGeom prst="roundRect">
            <a:avLst>
              <a:gd name="adj" fmla="val 3333"/>
            </a:avLst>
          </a:prstGeom>
          <a:solidFill>
            <a:srgbClr val="F4F4F6"/>
          </a:solidFill>
          <a:ln/>
        </p:spPr>
      </p:sp>
      <p:sp>
        <p:nvSpPr>
          <p:cNvPr id="8" name="Shape 5"/>
          <p:cNvSpPr/>
          <p:nvPr/>
        </p:nvSpPr>
        <p:spPr>
          <a:xfrm>
            <a:off x="7882128" y="1408176"/>
            <a:ext cx="128016" cy="128016"/>
          </a:xfrm>
          <a:prstGeom prst="rect">
            <a:avLst/>
          </a:prstGeom>
          <a:solidFill>
            <a:srgbClr val="2E7D32"/>
          </a:solidFill>
          <a:ln/>
        </p:spPr>
      </p:sp>
      <p:sp>
        <p:nvSpPr>
          <p:cNvPr id="9" name="Text 6"/>
          <p:cNvSpPr/>
          <p:nvPr/>
        </p:nvSpPr>
        <p:spPr>
          <a:xfrm>
            <a:off x="8092440" y="1298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燃料別の実績注入</a:t>
            </a:r>
            <a:endParaRPr lang="en-US" sz="1150" dirty="0"/>
          </a:p>
        </p:txBody>
      </p:sp>
      <p:sp>
        <p:nvSpPr>
          <p:cNvPr id="10" name="Text 7"/>
          <p:cNvSpPr/>
          <p:nvPr/>
        </p:nvSpPr>
        <p:spPr>
          <a:xfrm>
            <a:off x="7909560" y="1645920"/>
            <a:ext cx="3291840" cy="10789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9/10 TSOのエリア需給実績から燃料構成と原子力停止が日次断面へ自動反映。ゾーン純位置は公表連系実績と39–129 MWで一致（v1.7検証）</a:t>
            </a:r>
            <a:endParaRPr lang="en-US" sz="950" dirty="0"/>
          </a:p>
        </p:txBody>
      </p:sp>
      <p:sp>
        <p:nvSpPr>
          <p:cNvPr id="11" name="Shape 8"/>
          <p:cNvSpPr/>
          <p:nvPr/>
        </p:nvSpPr>
        <p:spPr>
          <a:xfrm>
            <a:off x="7680960" y="3017520"/>
            <a:ext cx="3749040" cy="1417320"/>
          </a:xfrm>
          <a:prstGeom prst="roundRect">
            <a:avLst>
              <a:gd name="adj" fmla="val 3871"/>
            </a:avLst>
          </a:prstGeom>
          <a:solidFill>
            <a:srgbClr val="F4F4F6"/>
          </a:solidFill>
          <a:ln/>
        </p:spPr>
      </p:sp>
      <p:sp>
        <p:nvSpPr>
          <p:cNvPr id="12" name="Shape 9"/>
          <p:cNvSpPr/>
          <p:nvPr/>
        </p:nvSpPr>
        <p:spPr>
          <a:xfrm>
            <a:off x="7882128" y="3236976"/>
            <a:ext cx="128016" cy="128016"/>
          </a:xfrm>
          <a:prstGeom prst="rect">
            <a:avLst/>
          </a:prstGeom>
          <a:solidFill>
            <a:srgbClr val="FF7F0E"/>
          </a:solidFill>
          <a:ln/>
        </p:spPr>
      </p:sp>
      <p:sp>
        <p:nvSpPr>
          <p:cNvPr id="13" name="Text 10"/>
          <p:cNvSpPr/>
          <p:nvPr/>
        </p:nvSpPr>
        <p:spPr>
          <a:xfrm>
            <a:off x="8092440" y="31272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リアルタイム断面</a:t>
            </a:r>
            <a:endParaRPr lang="en-US" sz="1150" dirty="0"/>
          </a:p>
        </p:txBody>
      </p:sp>
      <p:sp>
        <p:nvSpPr>
          <p:cNvPr id="14" name="Text 11"/>
          <p:cNvSpPr/>
          <p:nvPr/>
        </p:nvSpPr>
        <p:spPr>
          <a:xfrm>
            <a:off x="7909560" y="34747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でんき予報の実績需要スナップショットでNOW断面PFを毎時再計算（launchd常駐・v1.8後）</a:t>
            </a:r>
            <a:endParaRPr lang="en-US" sz="950" dirty="0"/>
          </a:p>
        </p:txBody>
      </p:sp>
      <p:sp>
        <p:nvSpPr>
          <p:cNvPr id="15" name="Shape 12"/>
          <p:cNvSpPr/>
          <p:nvPr/>
        </p:nvSpPr>
        <p:spPr>
          <a:xfrm>
            <a:off x="7680960" y="4617720"/>
            <a:ext cx="3749040" cy="1417320"/>
          </a:xfrm>
          <a:prstGeom prst="roundRect">
            <a:avLst>
              <a:gd name="adj" fmla="val 3871"/>
            </a:avLst>
          </a:prstGeom>
          <a:solidFill>
            <a:srgbClr val="F4F4F6"/>
          </a:solidFill>
          <a:ln/>
        </p:spPr>
      </p:sp>
      <p:sp>
        <p:nvSpPr>
          <p:cNvPr id="16" name="Shape 13"/>
          <p:cNvSpPr/>
          <p:nvPr/>
        </p:nvSpPr>
        <p:spPr>
          <a:xfrm>
            <a:off x="7882128" y="4837176"/>
            <a:ext cx="128016" cy="128016"/>
          </a:xfrm>
          <a:prstGeom prst="rect">
            <a:avLst/>
          </a:prstGeom>
          <a:solidFill>
            <a:srgbClr val="FF7F0E"/>
          </a:solidFill>
          <a:ln/>
        </p:spPr>
      </p:sp>
      <p:sp>
        <p:nvSpPr>
          <p:cNvPr id="17" name="Text 14"/>
          <p:cNvSpPr/>
          <p:nvPr/>
        </p:nvSpPr>
        <p:spPr>
          <a:xfrm>
            <a:off x="8092440" y="4727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観測方向の照合</a:t>
            </a:r>
            <a:endParaRPr lang="en-US" sz="1150" dirty="0"/>
          </a:p>
        </p:txBody>
      </p:sp>
      <p:sp>
        <p:nvSpPr>
          <p:cNvPr id="18" name="Text 15"/>
          <p:cNvSpPr/>
          <p:nvPr/>
        </p:nvSpPr>
        <p:spPr>
          <a:xfrm>
            <a:off x="7909560" y="50749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モデル潮流の向きを公表実績の向きと突合し、一致/不一致を地図に描く — 隠さず可視化</a:t>
            </a:r>
            <a:endParaRPr lang="en-US" sz="950" dirty="0"/>
          </a:p>
        </p:txBody>
      </p:sp>
      <p:sp>
        <p:nvSpPr>
          <p:cNvPr id="19" name="Text 16"/>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7"/>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8"/>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D62728"/>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第5幕 v1.8</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最後の暗箱：変電所の中へ — SubSLD法</a:t>
            </a:r>
            <a:endParaRPr lang="en-US" sz="2100" dirty="0"/>
          </a:p>
        </p:txBody>
      </p:sp>
      <p:pic>
        <p:nvPicPr>
          <p:cNvPr id="5" name="Image 0" descr="assets/geo_shinkeiyo.png">    </p:cNvPr>
          <p:cNvPicPr>
            <a:picLocks noChangeAspect="1"/>
          </p:cNvPicPr>
          <p:nvPr/>
        </p:nvPicPr>
        <p:blipFill>
          <a:blip r:embed="rId1"/>
          <a:stretch>
            <a:fillRect/>
          </a:stretch>
        </p:blipFill>
        <p:spPr>
          <a:xfrm>
            <a:off x="822960" y="1234440"/>
            <a:ext cx="3520440" cy="3758184"/>
          </a:xfrm>
          <a:prstGeom prst="rect">
            <a:avLst/>
          </a:prstGeom>
        </p:spPr>
      </p:pic>
      <p:pic>
        <p:nvPicPr>
          <p:cNvPr id="6" name="Image 1" descr="assets/sld_shinkeiyo.png">    </p:cNvPr>
          <p:cNvPicPr>
            <a:picLocks noChangeAspect="1"/>
          </p:cNvPicPr>
          <p:nvPr/>
        </p:nvPicPr>
        <p:blipFill>
          <a:blip r:embed="rId2"/>
          <a:stretch>
            <a:fillRect/>
          </a:stretch>
        </p:blipFill>
        <p:spPr>
          <a:xfrm>
            <a:off x="4526280" y="1234440"/>
            <a:ext cx="2971800" cy="3758184"/>
          </a:xfrm>
          <a:prstGeom prst="rect">
            <a:avLst/>
          </a:prstGeom>
        </p:spPr>
      </p:pic>
      <p:sp>
        <p:nvSpPr>
          <p:cNvPr id="7" name="Text 3"/>
          <p:cNvSpPr/>
          <p:nvPr/>
        </p:nvSpPr>
        <p:spPr>
          <a:xfrm>
            <a:off x="822960" y="5074920"/>
            <a:ext cx="667512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実証ペア図（新京葉 500/275/154/66 kV）：構内幾何 × 単線結線図</a:t>
            </a:r>
            <a:endParaRPr lang="en-US" sz="1050" dirty="0"/>
          </a:p>
        </p:txBody>
      </p:sp>
      <p:sp>
        <p:nvSpPr>
          <p:cNvPr id="8" name="Shape 4"/>
          <p:cNvSpPr/>
          <p:nvPr/>
        </p:nvSpPr>
        <p:spPr>
          <a:xfrm>
            <a:off x="7818120" y="1234440"/>
            <a:ext cx="3611880" cy="1371600"/>
          </a:xfrm>
          <a:prstGeom prst="roundRect">
            <a:avLst>
              <a:gd name="adj" fmla="val 4000"/>
            </a:avLst>
          </a:prstGeom>
          <a:solidFill>
            <a:srgbClr val="F4F4F6"/>
          </a:solidFill>
          <a:ln/>
        </p:spPr>
      </p:sp>
      <p:sp>
        <p:nvSpPr>
          <p:cNvPr id="9" name="Text 5"/>
          <p:cNvSpPr/>
          <p:nvPr/>
        </p:nvSpPr>
        <p:spPr>
          <a:xfrm>
            <a:off x="8001000" y="1371600"/>
            <a:ext cx="3291840" cy="457200"/>
          </a:xfrm>
          <a:prstGeom prst="rect">
            <a:avLst/>
          </a:prstGeom>
          <a:noFill/>
          <a:ln/>
        </p:spPr>
        <p:txBody>
          <a:bodyPr wrap="square" lIns="0" tIns="0" rIns="0" bIns="0" rtlCol="0" anchor="ctr"/>
          <a:lstStyle/>
          <a:p>
            <a:pPr algn="l" indent="0" marL="0">
              <a:buNone/>
            </a:pPr>
            <a:r>
              <a:rPr lang="en-US" sz="1700" i="1" dirty="0">
                <a:solidFill>
                  <a:srgbClr val="1A1A1A"/>
                </a:solidFill>
                <a:latin typeface="Cambria Math" pitchFamily="34" charset="0"/>
                <a:ea typeface="Cambria Math" pitchFamily="34" charset="-122"/>
                <a:cs typeface="Cambria Math" pitchFamily="34" charset="-120"/>
              </a:rPr>
              <a:t>F</a:t>
            </a:r>
            <a:pPr algn="l" indent="0" marL="0">
              <a:buNone/>
            </a:pPr>
            <a:r>
              <a:rPr lang="en-US" sz="1700" dirty="0">
                <a:solidFill>
                  <a:srgbClr val="1A1A1A"/>
                </a:solidFill>
                <a:latin typeface="Cambria Math" pitchFamily="34" charset="0"/>
                <a:ea typeface="Cambria Math" pitchFamily="34" charset="-122"/>
                <a:cs typeface="Cambria Math" pitchFamily="34" charset="-120"/>
              </a:rPr>
              <a:t>(</a:t>
            </a:r>
            <a:pPr algn="l" indent="0" marL="0">
              <a:buNone/>
            </a:pPr>
            <a:r>
              <a:rPr lang="en-US" sz="1700" i="1" dirty="0">
                <a:solidFill>
                  <a:srgbClr val="1A1A1A"/>
                </a:solidFill>
                <a:latin typeface="Cambria Math" pitchFamily="34" charset="0"/>
                <a:ea typeface="Cambria Math" pitchFamily="34" charset="-122"/>
                <a:cs typeface="Cambria Math" pitchFamily="34" charset="-120"/>
              </a:rPr>
              <a:t>O</a:t>
            </a:r>
            <a:pPr algn="l" indent="0" marL="0">
              <a:buNone/>
            </a:pPr>
            <a:r>
              <a:rPr lang="en-US" sz="1700" dirty="0">
                <a:solidFill>
                  <a:srgbClr val="1A1A1A"/>
                </a:solidFill>
                <a:latin typeface="Cambria Math" pitchFamily="34" charset="0"/>
                <a:ea typeface="Cambria Math" pitchFamily="34" charset="-122"/>
                <a:cs typeface="Cambria Math" pitchFamily="34" charset="-120"/>
              </a:rPr>
              <a:t>) = </a:t>
            </a:r>
            <a:pPr algn="l" indent="0" marL="0">
              <a:buNone/>
            </a:pPr>
            <a:r>
              <a:rPr lang="en-US" sz="1700" i="1" dirty="0">
                <a:solidFill>
                  <a:srgbClr val="1A1A1A"/>
                </a:solidFill>
                <a:latin typeface="Cambria Math" pitchFamily="34" charset="0"/>
                <a:ea typeface="Cambria Math" pitchFamily="34" charset="-122"/>
                <a:cs typeface="Cambria Math" pitchFamily="34" charset="-120"/>
              </a:rPr>
              <a:t>S</a:t>
            </a:r>
            <a:pPr algn="l" indent="0" marL="0">
              <a:buNone/>
            </a:pPr>
            <a:r>
              <a:rPr lang="en-US" sz="1700" baseline="30000" dirty="0">
                <a:solidFill>
                  <a:srgbClr val="1A1A1A"/>
                </a:solidFill>
                <a:latin typeface="Cambria Math" pitchFamily="34" charset="0"/>
                <a:ea typeface="Cambria Math" pitchFamily="34" charset="-122"/>
                <a:cs typeface="Cambria Math" pitchFamily="34" charset="-120"/>
              </a:rPr>
              <a:t>*</a:t>
            </a:r>
            <a:endParaRPr lang="en-US" sz="1700" dirty="0"/>
          </a:p>
        </p:txBody>
      </p:sp>
      <p:sp>
        <p:nvSpPr>
          <p:cNvPr id="10" name="Text 6"/>
          <p:cNvSpPr/>
          <p:nvPr/>
        </p:nvSpPr>
        <p:spPr>
          <a:xfrm>
            <a:off x="8001000" y="1828800"/>
            <a:ext cx="3291840" cy="7772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Hiragino Sans" pitchFamily="34" charset="0"/>
                <a:ea typeface="Hiragino Sans" pitchFamily="34" charset="-122"/>
                <a:cs typeface="Hiragino Sans" pitchFamily="34" charset="-120"/>
              </a:rPr>
              <a:t>証拠閉包：witness を持つ要素だけを出す。健全性（捏造ゼロ）は構成的に成立し、完全性は主張せず測定する</a:t>
            </a:r>
            <a:endParaRPr lang="en-US" sz="1050" dirty="0"/>
          </a:p>
        </p:txBody>
      </p:sp>
      <p:sp>
        <p:nvSpPr>
          <p:cNvPr id="11" name="Shape 7"/>
          <p:cNvSpPr/>
          <p:nvPr/>
        </p:nvSpPr>
        <p:spPr>
          <a:xfrm>
            <a:off x="7818120" y="2834640"/>
            <a:ext cx="3611880" cy="1143000"/>
          </a:xfrm>
          <a:prstGeom prst="roundRect">
            <a:avLst>
              <a:gd name="adj" fmla="val 4800"/>
            </a:avLst>
          </a:prstGeom>
          <a:solidFill>
            <a:srgbClr val="F4F4F6"/>
          </a:solidFill>
          <a:ln/>
        </p:spPr>
      </p:sp>
      <p:sp>
        <p:nvSpPr>
          <p:cNvPr id="12" name="Text 8"/>
          <p:cNvSpPr/>
          <p:nvPr/>
        </p:nvSpPr>
        <p:spPr>
          <a:xfrm>
            <a:off x="7818120" y="2907792"/>
            <a:ext cx="3611880" cy="502920"/>
          </a:xfrm>
          <a:prstGeom prst="rect">
            <a:avLst/>
          </a:prstGeom>
          <a:noFill/>
          <a:ln/>
        </p:spPr>
        <p:txBody>
          <a:bodyPr wrap="square" lIns="0" tIns="0" rIns="0" bIns="0" rtlCol="0" anchor="ctr"/>
          <a:lstStyle/>
          <a:p>
            <a:pPr algn="ctr" indent="0" marL="0">
              <a:buNone/>
            </a:pPr>
            <a:r>
              <a:rPr lang="en-US" sz="2600" b="1" dirty="0">
                <a:solidFill>
                  <a:srgbClr val="D62728"/>
                </a:solidFill>
                <a:latin typeface="Helvetica Neue" pitchFamily="34" charset="0"/>
                <a:ea typeface="Helvetica Neue" pitchFamily="34" charset="-122"/>
                <a:cs typeface="Helvetica Neue" pitchFamily="34" charset="-120"/>
              </a:rPr>
              <a:t>7,239</a:t>
            </a:r>
            <a:endParaRPr lang="en-US" sz="2600" dirty="0"/>
          </a:p>
        </p:txBody>
      </p:sp>
      <p:sp>
        <p:nvSpPr>
          <p:cNvPr id="13" name="Text 9"/>
          <p:cNvSpPr/>
          <p:nvPr/>
        </p:nvSpPr>
        <p:spPr>
          <a:xfrm>
            <a:off x="7909560" y="341071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全サイトの構造抽出＋ペア図</a:t>
            </a:r>
            <a:endParaRPr lang="en-US" sz="1050" dirty="0"/>
          </a:p>
        </p:txBody>
      </p:sp>
      <p:sp>
        <p:nvSpPr>
          <p:cNvPr id="14" name="Text 10"/>
          <p:cNvSpPr/>
          <p:nvPr/>
        </p:nvSpPr>
        <p:spPr>
          <a:xfrm>
            <a:off x="7909560" y="370332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構造DB v1.8（feature数とは別定義）</a:t>
            </a:r>
            <a:endParaRPr lang="en-US" sz="850" dirty="0"/>
          </a:p>
        </p:txBody>
      </p:sp>
      <p:sp>
        <p:nvSpPr>
          <p:cNvPr id="15" name="Shape 11"/>
          <p:cNvSpPr/>
          <p:nvPr/>
        </p:nvSpPr>
        <p:spPr>
          <a:xfrm>
            <a:off x="7818120" y="4160520"/>
            <a:ext cx="3611880" cy="1143000"/>
          </a:xfrm>
          <a:prstGeom prst="roundRect">
            <a:avLst>
              <a:gd name="adj" fmla="val 4800"/>
            </a:avLst>
          </a:prstGeom>
          <a:solidFill>
            <a:srgbClr val="F4F4F6"/>
          </a:solidFill>
          <a:ln/>
        </p:spPr>
      </p:sp>
      <p:sp>
        <p:nvSpPr>
          <p:cNvPr id="16" name="Text 12"/>
          <p:cNvSpPr/>
          <p:nvPr/>
        </p:nvSpPr>
        <p:spPr>
          <a:xfrm>
            <a:off x="7818120" y="4233672"/>
            <a:ext cx="36118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 4 秒</a:t>
            </a:r>
            <a:endParaRPr lang="en-US" sz="2600" dirty="0"/>
          </a:p>
        </p:txBody>
      </p:sp>
      <p:sp>
        <p:nvSpPr>
          <p:cNvPr id="17" name="Text 13"/>
          <p:cNvSpPr/>
          <p:nvPr/>
        </p:nvSpPr>
        <p:spPr>
          <a:xfrm>
            <a:off x="7909560" y="473659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全国抽出（決定的・冪等）</a:t>
            </a:r>
            <a:endParaRPr lang="en-US" sz="1050" dirty="0"/>
          </a:p>
        </p:txBody>
      </p:sp>
      <p:sp>
        <p:nvSpPr>
          <p:cNvPr id="18" name="Text 14"/>
          <p:cNvSpPr/>
          <p:nvPr/>
        </p:nvSpPr>
        <p:spPr>
          <a:xfrm>
            <a:off x="7909560" y="502920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v1.8</a:t>
            </a:r>
            <a:endParaRPr lang="en-US" sz="850" dirty="0"/>
          </a:p>
        </p:txBody>
      </p:sp>
      <p:sp>
        <p:nvSpPr>
          <p:cNvPr id="19" name="Text 15"/>
          <p:cNvSpPr/>
          <p:nvPr/>
        </p:nvSpPr>
        <p:spPr>
          <a:xfrm>
            <a:off x="822960" y="55321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推定は推定と明記（推定母線は破線・inferred-topology）。node-breaker層は CIM の BusbarSection / Bay / Terminal として書き出し、第2幕の標準ラインに合流。</a:t>
            </a:r>
            <a:endParaRPr lang="en-US" sz="1200" dirty="0"/>
          </a:p>
        </p:txBody>
      </p:sp>
      <p:sp>
        <p:nvSpPr>
          <p:cNvPr id="20" name="Text 16"/>
          <p:cNvSpPr/>
          <p:nvPr/>
        </p:nvSpPr>
        <p:spPr>
          <a:xfrm>
            <a:off x="822960" y="6053328"/>
            <a:ext cx="10607040" cy="292608"/>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 手法の詳細は姉妹デッキ SubSLD_paper_talk.pptx（16枚）と論文 papers/subsld/（IEEEtran 6p）</a:t>
            </a:r>
            <a:endParaRPr lang="en-US" sz="1100" dirty="0"/>
          </a:p>
        </p:txBody>
      </p:sp>
      <p:sp>
        <p:nvSpPr>
          <p:cNvPr id="21"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3"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現在</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いまの姿：1コマンドで再生成できる5層スタック</a:t>
            </a:r>
            <a:endParaRPr lang="en-US" sz="2100" dirty="0"/>
          </a:p>
        </p:txBody>
      </p:sp>
      <p:sp>
        <p:nvSpPr>
          <p:cNvPr id="5" name="Shape 3"/>
          <p:cNvSpPr/>
          <p:nvPr/>
        </p:nvSpPr>
        <p:spPr>
          <a:xfrm>
            <a:off x="822960" y="1188720"/>
            <a:ext cx="8229600" cy="786384"/>
          </a:xfrm>
          <a:prstGeom prst="roundRect">
            <a:avLst>
              <a:gd name="adj" fmla="val 6977"/>
            </a:avLst>
          </a:prstGeom>
          <a:solidFill>
            <a:srgbClr val="F4F4F6"/>
          </a:solidFill>
          <a:ln/>
        </p:spPr>
      </p:sp>
      <p:sp>
        <p:nvSpPr>
          <p:cNvPr id="6" name="Shape 4"/>
          <p:cNvSpPr/>
          <p:nvPr/>
        </p:nvSpPr>
        <p:spPr>
          <a:xfrm>
            <a:off x="822960" y="1188720"/>
            <a:ext cx="128016" cy="786384"/>
          </a:xfrm>
          <a:prstGeom prst="rect">
            <a:avLst/>
          </a:prstGeom>
          <a:solidFill>
            <a:srgbClr val="D62728"/>
          </a:solidFill>
          <a:ln/>
        </p:spPr>
      </p:sp>
      <p:sp>
        <p:nvSpPr>
          <p:cNvPr id="7" name="Text 5"/>
          <p:cNvSpPr/>
          <p:nvPr/>
        </p:nvSpPr>
        <p:spPr>
          <a:xfrm>
            <a:off x="1143000" y="1188720"/>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観測・UI</a:t>
            </a:r>
            <a:endParaRPr lang="en-US" sz="1250" dirty="0"/>
          </a:p>
        </p:txBody>
      </p:sp>
      <p:sp>
        <p:nvSpPr>
          <p:cNvPr id="8" name="Text 6"/>
          <p:cNvSpPr/>
          <p:nvPr/>
        </p:nvSpPr>
        <p:spPr>
          <a:xfrm>
            <a:off x="2834640" y="1188720"/>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Pages: flow map（毎時更新）/ SubSLDビューア / エディタ / ダウンロード</a:t>
            </a:r>
            <a:endParaRPr lang="en-US" sz="1100" dirty="0"/>
          </a:p>
        </p:txBody>
      </p:sp>
      <p:sp>
        <p:nvSpPr>
          <p:cNvPr id="9" name="Shape 7"/>
          <p:cNvSpPr/>
          <p:nvPr/>
        </p:nvSpPr>
        <p:spPr>
          <a:xfrm>
            <a:off x="822960" y="2084832"/>
            <a:ext cx="8229600" cy="786384"/>
          </a:xfrm>
          <a:prstGeom prst="roundRect">
            <a:avLst>
              <a:gd name="adj" fmla="val 6977"/>
            </a:avLst>
          </a:prstGeom>
          <a:solidFill>
            <a:srgbClr val="F4F4F6"/>
          </a:solidFill>
          <a:ln/>
        </p:spPr>
      </p:sp>
      <p:sp>
        <p:nvSpPr>
          <p:cNvPr id="10" name="Shape 8"/>
          <p:cNvSpPr/>
          <p:nvPr/>
        </p:nvSpPr>
        <p:spPr>
          <a:xfrm>
            <a:off x="822960" y="2084832"/>
            <a:ext cx="128016" cy="786384"/>
          </a:xfrm>
          <a:prstGeom prst="rect">
            <a:avLst/>
          </a:prstGeom>
          <a:solidFill>
            <a:srgbClr val="FF7F0E"/>
          </a:solidFill>
          <a:ln/>
        </p:spPr>
      </p:sp>
      <p:sp>
        <p:nvSpPr>
          <p:cNvPr id="11" name="Text 9"/>
          <p:cNvSpPr/>
          <p:nvPr/>
        </p:nvSpPr>
        <p:spPr>
          <a:xfrm>
            <a:off x="1143000" y="2084832"/>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標準出力</a:t>
            </a:r>
            <a:endParaRPr lang="en-US" sz="1250" dirty="0"/>
          </a:p>
        </p:txBody>
      </p:sp>
      <p:sp>
        <p:nvSpPr>
          <p:cNvPr id="12" name="Text 10"/>
          <p:cNvSpPr/>
          <p:nvPr/>
        </p:nvSpPr>
        <p:spPr>
          <a:xfrm>
            <a:off x="2834640" y="2084832"/>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CIM/CGMES EQ+GL＋Level-2（node-breaker層込み）/ MATPOWER / GeoJSON / Ybus</a:t>
            </a:r>
            <a:endParaRPr lang="en-US" sz="1100" dirty="0"/>
          </a:p>
        </p:txBody>
      </p:sp>
      <p:sp>
        <p:nvSpPr>
          <p:cNvPr id="13" name="Shape 11"/>
          <p:cNvSpPr/>
          <p:nvPr/>
        </p:nvSpPr>
        <p:spPr>
          <a:xfrm>
            <a:off x="822960" y="2980944"/>
            <a:ext cx="8229600" cy="786384"/>
          </a:xfrm>
          <a:prstGeom prst="roundRect">
            <a:avLst>
              <a:gd name="adj" fmla="val 6977"/>
            </a:avLst>
          </a:prstGeom>
          <a:solidFill>
            <a:srgbClr val="F4F4F6"/>
          </a:solidFill>
          <a:ln/>
        </p:spPr>
      </p:sp>
      <p:sp>
        <p:nvSpPr>
          <p:cNvPr id="14" name="Shape 12"/>
          <p:cNvSpPr/>
          <p:nvPr/>
        </p:nvSpPr>
        <p:spPr>
          <a:xfrm>
            <a:off x="822960" y="2980944"/>
            <a:ext cx="128016" cy="786384"/>
          </a:xfrm>
          <a:prstGeom prst="rect">
            <a:avLst/>
          </a:prstGeom>
          <a:solidFill>
            <a:srgbClr val="9467BD"/>
          </a:solidFill>
          <a:ln/>
        </p:spPr>
      </p:sp>
      <p:sp>
        <p:nvSpPr>
          <p:cNvPr id="15" name="Text 13"/>
          <p:cNvSpPr/>
          <p:nvPr/>
        </p:nvSpPr>
        <p:spPr>
          <a:xfrm>
            <a:off x="1143000" y="2980944"/>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モデル</a:t>
            </a:r>
            <a:endParaRPr lang="en-US" sz="1250" dirty="0"/>
          </a:p>
        </p:txBody>
      </p:sp>
      <p:sp>
        <p:nvSpPr>
          <p:cNvPr id="16" name="Text 14"/>
          <p:cNvSpPr/>
          <p:nvPr/>
        </p:nvSpPr>
        <p:spPr>
          <a:xfrm>
            <a:off x="2834640" y="2980944"/>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built canon（介入台帳つき）/ 全国UC / 島別PF / 変電所構造DB</a:t>
            </a:r>
            <a:endParaRPr lang="en-US" sz="1100" dirty="0"/>
          </a:p>
        </p:txBody>
      </p:sp>
      <p:sp>
        <p:nvSpPr>
          <p:cNvPr id="17" name="Shape 15"/>
          <p:cNvSpPr/>
          <p:nvPr/>
        </p:nvSpPr>
        <p:spPr>
          <a:xfrm>
            <a:off x="822960" y="3877056"/>
            <a:ext cx="8229600" cy="786384"/>
          </a:xfrm>
          <a:prstGeom prst="roundRect">
            <a:avLst>
              <a:gd name="adj" fmla="val 6977"/>
            </a:avLst>
          </a:prstGeom>
          <a:solidFill>
            <a:srgbClr val="F4F4F6"/>
          </a:solidFill>
          <a:ln/>
        </p:spPr>
      </p:sp>
      <p:sp>
        <p:nvSpPr>
          <p:cNvPr id="18" name="Shape 16"/>
          <p:cNvSpPr/>
          <p:nvPr/>
        </p:nvSpPr>
        <p:spPr>
          <a:xfrm>
            <a:off x="822960" y="3877056"/>
            <a:ext cx="128016" cy="786384"/>
          </a:xfrm>
          <a:prstGeom prst="rect">
            <a:avLst/>
          </a:prstGeom>
          <a:solidFill>
            <a:srgbClr val="17BECF"/>
          </a:solidFill>
          <a:ln/>
        </p:spPr>
      </p:sp>
      <p:sp>
        <p:nvSpPr>
          <p:cNvPr id="19" name="Text 17"/>
          <p:cNvSpPr/>
          <p:nvPr/>
        </p:nvSpPr>
        <p:spPr>
          <a:xfrm>
            <a:off x="1143000" y="3877056"/>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a:t>
            </a:r>
            <a:endParaRPr lang="en-US" sz="1250" dirty="0"/>
          </a:p>
        </p:txBody>
      </p:sp>
      <p:sp>
        <p:nvSpPr>
          <p:cNvPr id="20" name="Text 18"/>
          <p:cNvSpPr/>
          <p:nvPr/>
        </p:nvSpPr>
        <p:spPr>
          <a:xfrm>
            <a:off x="2834640" y="3877056"/>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SQLite R/C/D 3層 — 生feature不変・キュレーション出所つき・導出は再生成可能</a:t>
            </a:r>
            <a:endParaRPr lang="en-US" sz="1100" dirty="0"/>
          </a:p>
        </p:txBody>
      </p:sp>
      <p:sp>
        <p:nvSpPr>
          <p:cNvPr id="21" name="Shape 19"/>
          <p:cNvSpPr/>
          <p:nvPr/>
        </p:nvSpPr>
        <p:spPr>
          <a:xfrm>
            <a:off x="822960" y="4773168"/>
            <a:ext cx="8229600" cy="786384"/>
          </a:xfrm>
          <a:prstGeom prst="roundRect">
            <a:avLst>
              <a:gd name="adj" fmla="val 6977"/>
            </a:avLst>
          </a:prstGeom>
          <a:solidFill>
            <a:srgbClr val="F4F4F6"/>
          </a:solidFill>
          <a:ln/>
        </p:spPr>
      </p:sp>
      <p:sp>
        <p:nvSpPr>
          <p:cNvPr id="22" name="Shape 20"/>
          <p:cNvSpPr/>
          <p:nvPr/>
        </p:nvSpPr>
        <p:spPr>
          <a:xfrm>
            <a:off x="822960" y="4773168"/>
            <a:ext cx="128016" cy="786384"/>
          </a:xfrm>
          <a:prstGeom prst="rect">
            <a:avLst/>
          </a:prstGeom>
          <a:solidFill>
            <a:srgbClr val="9A9AA6"/>
          </a:solidFill>
          <a:ln/>
        </p:spPr>
      </p:sp>
      <p:sp>
        <p:nvSpPr>
          <p:cNvPr id="23" name="Text 21"/>
          <p:cNvSpPr/>
          <p:nvPr/>
        </p:nvSpPr>
        <p:spPr>
          <a:xfrm>
            <a:off x="1143000" y="4773168"/>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基底データ</a:t>
            </a:r>
            <a:endParaRPr lang="en-US" sz="1250" dirty="0"/>
          </a:p>
        </p:txBody>
      </p:sp>
      <p:sp>
        <p:nvSpPr>
          <p:cNvPr id="24" name="Text 22"/>
          <p:cNvSpPr/>
          <p:nvPr/>
        </p:nvSpPr>
        <p:spPr>
          <a:xfrm>
            <a:off x="2834640" y="4773168"/>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OSMスナップショット + 開示（様式5・OCCTO）+ 出典つき容量/銘板DB</a:t>
            </a:r>
            <a:endParaRPr lang="en-US" sz="1100" dirty="0"/>
          </a:p>
        </p:txBody>
      </p:sp>
      <p:sp>
        <p:nvSpPr>
          <p:cNvPr id="25" name="Shape 23"/>
          <p:cNvSpPr/>
          <p:nvPr/>
        </p:nvSpPr>
        <p:spPr>
          <a:xfrm>
            <a:off x="9326880" y="1188720"/>
            <a:ext cx="2103120" cy="4370832"/>
          </a:xfrm>
          <a:prstGeom prst="roundRect">
            <a:avLst>
              <a:gd name="adj" fmla="val 2609"/>
            </a:avLst>
          </a:prstGeom>
          <a:solidFill>
            <a:srgbClr val="F7F7F2"/>
          </a:solidFill>
          <a:ln/>
        </p:spPr>
      </p:sp>
      <p:sp>
        <p:nvSpPr>
          <p:cNvPr id="26" name="Text 24"/>
          <p:cNvSpPr/>
          <p:nvPr/>
        </p:nvSpPr>
        <p:spPr>
          <a:xfrm>
            <a:off x="9464040" y="1325880"/>
            <a:ext cx="1828800" cy="502920"/>
          </a:xfrm>
          <a:prstGeom prst="rect">
            <a:avLst/>
          </a:prstGeom>
          <a:noFill/>
          <a:ln/>
        </p:spPr>
        <p:txBody>
          <a:bodyPr wrap="square" lIns="0" tIns="0" rIns="0" bIns="0" rtlCol="0" anchor="ctr"/>
          <a:lstStyle/>
          <a:p>
            <a:pPr indent="0" marL="0">
              <a:buNone/>
            </a:pPr>
            <a:r>
              <a:rPr lang="en-US" sz="1100" b="1" dirty="0">
                <a:solidFill>
                  <a:srgbClr val="1A1A1A"/>
                </a:solidFill>
                <a:latin typeface="Courier New" pitchFamily="34" charset="0"/>
                <a:ea typeface="Courier New" pitchFamily="34" charset="-122"/>
                <a:cs typeface="Courier New" pitchFamily="34" charset="-120"/>
              </a:rPr>
              <a:t>regenerate_all.py</a:t>
            </a:r>
            <a:endParaRPr lang="en-US" sz="1100" dirty="0"/>
          </a:p>
        </p:txBody>
      </p:sp>
      <p:sp>
        <p:nvSpPr>
          <p:cNvPr id="27" name="Text 25"/>
          <p:cNvSpPr/>
          <p:nvPr/>
        </p:nvSpPr>
        <p:spPr>
          <a:xfrm>
            <a:off x="9464040" y="1828800"/>
            <a:ext cx="1828800" cy="182880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全層を1コマンドで順に再生成し、git HEAD と各段の生成時刻を MODEL_VERSION に刻印 — 鮮度ズレを可視化</a:t>
            </a:r>
            <a:endParaRPr lang="en-US" sz="1000" dirty="0"/>
          </a:p>
        </p:txBody>
      </p:sp>
      <p:pic>
        <p:nvPicPr>
          <p:cNvPr id="28" name="Image 0" descr="assets/qr_repo.png">    </p:cNvPr>
          <p:cNvPicPr>
            <a:picLocks noChangeAspect="1"/>
          </p:cNvPicPr>
          <p:nvPr/>
        </p:nvPicPr>
        <p:blipFill>
          <a:blip r:embed="rId1"/>
          <a:stretch>
            <a:fillRect/>
          </a:stretch>
        </p:blipFill>
        <p:spPr>
          <a:xfrm>
            <a:off x="9601200" y="3840480"/>
            <a:ext cx="731520" cy="731520"/>
          </a:xfrm>
          <a:prstGeom prst="rect">
            <a:avLst/>
          </a:prstGeom>
        </p:spPr>
      </p:pic>
      <p:pic>
        <p:nvPicPr>
          <p:cNvPr id="29" name="Image 1" descr="assets/qr_viewer.png">    </p:cNvPr>
          <p:cNvPicPr>
            <a:picLocks noChangeAspect="1"/>
          </p:cNvPicPr>
          <p:nvPr/>
        </p:nvPicPr>
        <p:blipFill>
          <a:blip r:embed="rId2"/>
          <a:stretch>
            <a:fillRect/>
          </a:stretch>
        </p:blipFill>
        <p:spPr>
          <a:xfrm>
            <a:off x="10515600" y="3840480"/>
            <a:ext cx="731520" cy="731520"/>
          </a:xfrm>
          <a:prstGeom prst="rect">
            <a:avLst/>
          </a:prstGeom>
        </p:spPr>
      </p:pic>
      <p:sp>
        <p:nvSpPr>
          <p:cNvPr id="30" name="Text 26"/>
          <p:cNvSpPr/>
          <p:nvPr/>
        </p:nvSpPr>
        <p:spPr>
          <a:xfrm>
            <a:off x="9509760" y="4617720"/>
            <a:ext cx="1828800" cy="228600"/>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GitHub / ビューア</a:t>
            </a:r>
            <a:endParaRPr lang="en-US" sz="850" dirty="0"/>
          </a:p>
        </p:txBody>
      </p:sp>
      <p:sp>
        <p:nvSpPr>
          <p:cNvPr id="31" name="Text 27"/>
          <p:cNvSpPr/>
          <p:nvPr/>
        </p:nvSpPr>
        <p:spPr>
          <a:xfrm>
            <a:off x="822960" y="5760720"/>
            <a:ext cx="10607040" cy="320040"/>
          </a:xfrm>
          <a:prstGeom prst="rect">
            <a:avLst/>
          </a:prstGeom>
          <a:noFill/>
          <a:ln/>
        </p:spPr>
        <p:txBody>
          <a:bodyPr wrap="square" lIns="0" tIns="0" rIns="0" bIns="0" rtlCol="0" anchor="ctr"/>
          <a:lstStyle/>
          <a:p>
            <a:pPr indent="0" marL="0">
              <a:buNone/>
            </a:pPr>
            <a:r>
              <a:rPr lang="en-US" sz="1200" dirty="0">
                <a:solidFill>
                  <a:srgbClr val="1A1A1A"/>
                </a:solidFill>
                <a:latin typeface="Hiragino Sans" pitchFamily="34" charset="0"/>
                <a:ea typeface="Hiragino Sans" pitchFamily="34" charset="-122"/>
                <a:cs typeface="Hiragino Sans" pitchFamily="34" charset="-120"/>
              </a:rPr>
              <a:t>下の層ほど古い幕の成果。上の幕は下を壊さず積んだ — 幕の色がそのまま層の色。</a:t>
            </a:r>
            <a:endParaRPr lang="en-US" sz="1200" dirty="0"/>
          </a:p>
        </p:txBody>
      </p:sp>
      <p:sp>
        <p:nvSpPr>
          <p:cNvPr id="32" name="Text 2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3" name="Text 2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34" name="Text 3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総括</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6ヶ月で学んだこと：正直さは態度ではなく、仕組み</a:t>
            </a:r>
            <a:endParaRPr lang="en-US" sz="2100" dirty="0"/>
          </a:p>
        </p:txBody>
      </p:sp>
      <p:sp>
        <p:nvSpPr>
          <p:cNvPr id="5" name="Shape 3"/>
          <p:cNvSpPr/>
          <p:nvPr/>
        </p:nvSpPr>
        <p:spPr>
          <a:xfrm>
            <a:off x="822960" y="1234440"/>
            <a:ext cx="5166360" cy="1783080"/>
          </a:xfrm>
          <a:prstGeom prst="roundRect">
            <a:avLst>
              <a:gd name="adj" fmla="val 3077"/>
            </a:avLst>
          </a:prstGeom>
          <a:solidFill>
            <a:srgbClr val="F4F4F6"/>
          </a:solidFill>
          <a:ln/>
        </p:spPr>
      </p:sp>
      <p:sp>
        <p:nvSpPr>
          <p:cNvPr id="6" name="Text 4"/>
          <p:cNvSpPr/>
          <p:nvPr/>
        </p:nvSpPr>
        <p:spPr>
          <a:xfrm>
            <a:off x="100584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1</a:t>
            </a:r>
            <a:endParaRPr lang="en-US" sz="2200" dirty="0"/>
          </a:p>
        </p:txBody>
      </p:sp>
      <p:sp>
        <p:nvSpPr>
          <p:cNvPr id="7" name="Text 5"/>
          <p:cNvSpPr/>
          <p:nvPr/>
        </p:nvSpPr>
        <p:spPr>
          <a:xfrm>
            <a:off x="150876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捏造ゼロは構成的に成立させる</a:t>
            </a:r>
            <a:endParaRPr lang="en-US" sz="1350" dirty="0"/>
          </a:p>
        </p:txBody>
      </p:sp>
      <p:sp>
        <p:nvSpPr>
          <p:cNvPr id="8" name="Text 6"/>
          <p:cNvSpPr/>
          <p:nvPr/>
        </p:nvSpPr>
        <p:spPr>
          <a:xfrm>
            <a:off x="150876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「気をつける」では守れない。証拠の無い要素が出力に到達できない構造にする（第5幕の証拠閉包はその極致）</a:t>
            </a:r>
            <a:endParaRPr lang="en-US" sz="1100" dirty="0"/>
          </a:p>
        </p:txBody>
      </p:sp>
      <p:sp>
        <p:nvSpPr>
          <p:cNvPr id="9" name="Shape 7"/>
          <p:cNvSpPr/>
          <p:nvPr/>
        </p:nvSpPr>
        <p:spPr>
          <a:xfrm>
            <a:off x="6263640" y="1234440"/>
            <a:ext cx="5166360" cy="1783080"/>
          </a:xfrm>
          <a:prstGeom prst="roundRect">
            <a:avLst>
              <a:gd name="adj" fmla="val 3077"/>
            </a:avLst>
          </a:prstGeom>
          <a:solidFill>
            <a:srgbClr val="F4F4F6"/>
          </a:solidFill>
          <a:ln/>
        </p:spPr>
      </p:sp>
      <p:sp>
        <p:nvSpPr>
          <p:cNvPr id="10" name="Text 8"/>
          <p:cNvSpPr/>
          <p:nvPr/>
        </p:nvSpPr>
        <p:spPr>
          <a:xfrm>
            <a:off x="644652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2</a:t>
            </a:r>
            <a:endParaRPr lang="en-US" sz="2200" dirty="0"/>
          </a:p>
        </p:txBody>
      </p:sp>
      <p:sp>
        <p:nvSpPr>
          <p:cNvPr id="11" name="Text 9"/>
          <p:cNvSpPr/>
          <p:nvPr/>
        </p:nvSpPr>
        <p:spPr>
          <a:xfrm>
            <a:off x="694944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モデルを良く見せる機構ほど台帳に載せる</a:t>
            </a:r>
            <a:endParaRPr lang="en-US" sz="1350" dirty="0"/>
          </a:p>
        </p:txBody>
      </p:sp>
      <p:sp>
        <p:nvSpPr>
          <p:cNvPr id="12" name="Text 10"/>
          <p:cNvSpPr/>
          <p:nvPr/>
        </p:nvSpPr>
        <p:spPr>
          <a:xfrm>
            <a:off x="694944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接続・解ける・完全に見せる19機構すべてに根拠とOFFスイッチ。介入を隠すとバグと区別がつかなくなる</a:t>
            </a:r>
            <a:endParaRPr lang="en-US" sz="1100" dirty="0"/>
          </a:p>
        </p:txBody>
      </p:sp>
      <p:sp>
        <p:nvSpPr>
          <p:cNvPr id="13" name="Shape 11"/>
          <p:cNvSpPr/>
          <p:nvPr/>
        </p:nvSpPr>
        <p:spPr>
          <a:xfrm>
            <a:off x="822960" y="3200400"/>
            <a:ext cx="5166360" cy="1783080"/>
          </a:xfrm>
          <a:prstGeom prst="roundRect">
            <a:avLst>
              <a:gd name="adj" fmla="val 3077"/>
            </a:avLst>
          </a:prstGeom>
          <a:solidFill>
            <a:srgbClr val="F4F4F6"/>
          </a:solidFill>
          <a:ln/>
        </p:spPr>
      </p:sp>
      <p:sp>
        <p:nvSpPr>
          <p:cNvPr id="14" name="Text 12"/>
          <p:cNvSpPr/>
          <p:nvPr/>
        </p:nvSpPr>
        <p:spPr>
          <a:xfrm>
            <a:off x="100584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3</a:t>
            </a:r>
            <a:endParaRPr lang="en-US" sz="2200" dirty="0"/>
          </a:p>
        </p:txBody>
      </p:sp>
      <p:sp>
        <p:nvSpPr>
          <p:cNvPr id="15" name="Text 13"/>
          <p:cNvSpPr/>
          <p:nvPr/>
        </p:nvSpPr>
        <p:spPr>
          <a:xfrm>
            <a:off x="150876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収束は正しさではない</a:t>
            </a:r>
            <a:endParaRPr lang="en-US" sz="1350" dirty="0"/>
          </a:p>
        </p:txBody>
      </p:sp>
      <p:sp>
        <p:nvSpPr>
          <p:cNvPr id="16" name="Text 14"/>
          <p:cNvSpPr/>
          <p:nvPr/>
        </p:nvSpPr>
        <p:spPr>
          <a:xfrm>
            <a:off x="150876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served_frac を結果に同梱。誇っていた数字を自分で解体できるプローブ（変種比較・プロセス分離）を常備する</a:t>
            </a:r>
            <a:endParaRPr lang="en-US" sz="1100" dirty="0"/>
          </a:p>
        </p:txBody>
      </p:sp>
      <p:sp>
        <p:nvSpPr>
          <p:cNvPr id="17" name="Shape 15"/>
          <p:cNvSpPr/>
          <p:nvPr/>
        </p:nvSpPr>
        <p:spPr>
          <a:xfrm>
            <a:off x="6263640" y="3200400"/>
            <a:ext cx="5166360" cy="1783080"/>
          </a:xfrm>
          <a:prstGeom prst="roundRect">
            <a:avLst>
              <a:gd name="adj" fmla="val 3077"/>
            </a:avLst>
          </a:prstGeom>
          <a:solidFill>
            <a:srgbClr val="F4F4F6"/>
          </a:solidFill>
          <a:ln/>
        </p:spPr>
      </p:sp>
      <p:sp>
        <p:nvSpPr>
          <p:cNvPr id="18" name="Text 16"/>
          <p:cNvSpPr/>
          <p:nvPr/>
        </p:nvSpPr>
        <p:spPr>
          <a:xfrm>
            <a:off x="644652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4</a:t>
            </a:r>
            <a:endParaRPr lang="en-US" sz="2200" dirty="0"/>
          </a:p>
        </p:txBody>
      </p:sp>
      <p:sp>
        <p:nvSpPr>
          <p:cNvPr id="19" name="Text 17"/>
          <p:cNvSpPr/>
          <p:nvPr/>
        </p:nvSpPr>
        <p:spPr>
          <a:xfrm>
            <a:off x="694944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欠測は隠さず、測って作業リストにする</a:t>
            </a:r>
            <a:endParaRPr lang="en-US" sz="1350" dirty="0"/>
          </a:p>
        </p:txBody>
      </p:sp>
      <p:sp>
        <p:nvSpPr>
          <p:cNvPr id="20" name="Text 18"/>
          <p:cNvSpPr/>
          <p:nvPr/>
        </p:nvSpPr>
        <p:spPr>
          <a:xfrm>
            <a:off x="694944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被覆・棄権率・欠測は報告値。測った欠測はOSMコミュニティへの貢献リストになる — 欠測が資産に変わる</a:t>
            </a:r>
            <a:endParaRPr lang="en-US" sz="1100" dirty="0"/>
          </a:p>
        </p:txBody>
      </p:sp>
      <p:sp>
        <p:nvSpPr>
          <p:cNvPr id="21" name="Shape 19"/>
          <p:cNvSpPr/>
          <p:nvPr/>
        </p:nvSpPr>
        <p:spPr>
          <a:xfrm>
            <a:off x="822960" y="5257800"/>
            <a:ext cx="10607040" cy="868680"/>
          </a:xfrm>
          <a:prstGeom prst="roundRect">
            <a:avLst>
              <a:gd name="adj" fmla="val 6316"/>
            </a:avLst>
          </a:prstGeom>
          <a:solidFill>
            <a:srgbClr val="1E2761"/>
          </a:solidFill>
          <a:ln/>
        </p:spPr>
      </p:sp>
      <p:sp>
        <p:nvSpPr>
          <p:cNvPr id="22" name="Text 20"/>
          <p:cNvSpPr/>
          <p:nvPr/>
        </p:nvSpPr>
        <p:spPr>
          <a:xfrm>
            <a:off x="1097280" y="5257800"/>
            <a:ext cx="10058400" cy="86868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この4つはどれも、一度「良い数字」を出してから学び直したものである。</a:t>
            </a:r>
            <a:endParaRPr lang="en-US" sz="14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結</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まとめと今後</a:t>
            </a:r>
            <a:endParaRPr lang="en-US" sz="2100" dirty="0"/>
          </a:p>
        </p:txBody>
      </p:sp>
      <p:sp>
        <p:nvSpPr>
          <p:cNvPr id="5" name="Shape 3"/>
          <p:cNvSpPr/>
          <p:nvPr/>
        </p:nvSpPr>
        <p:spPr>
          <a:xfrm>
            <a:off x="822960" y="1188720"/>
            <a:ext cx="10607040" cy="1371600"/>
          </a:xfrm>
          <a:prstGeom prst="roundRect">
            <a:avLst>
              <a:gd name="adj" fmla="val 5333"/>
            </a:avLst>
          </a:prstGeom>
          <a:solidFill>
            <a:srgbClr val="1E2761"/>
          </a:solidFill>
          <a:ln/>
        </p:spPr>
      </p:sp>
      <p:sp>
        <p:nvSpPr>
          <p:cNvPr id="6" name="Text 4"/>
          <p:cNvSpPr/>
          <p:nvPr/>
        </p:nvSpPr>
        <p:spPr>
          <a:xfrm>
            <a:off x="1097280" y="1188720"/>
            <a:ext cx="10058400" cy="1371600"/>
          </a:xfrm>
          <a:prstGeom prst="rect">
            <a:avLst/>
          </a:prstGeom>
          <a:noFill/>
          <a:ln/>
        </p:spPr>
        <p:txBody>
          <a:bodyPr wrap="square" lIns="0" tIns="0" rIns="0" bIns="0" rtlCol="0" anchor="ctr"/>
          <a:lstStyle/>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公開データだけから、日本全国の送電網モデルは作れる。</a:t>
            </a:r>
            <a:endParaRPr lang="en-US" sz="1450" dirty="0"/>
          </a:p>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ただしそれを信頼に足るものにするのは、抽出の巧さではなく — 介入の台帳・検証器としての標準・測って報告する欠測である。</a:t>
            </a:r>
            <a:endParaRPr lang="en-US" sz="1450" dirty="0"/>
          </a:p>
        </p:txBody>
      </p:sp>
      <p:sp>
        <p:nvSpPr>
          <p:cNvPr id="7" name="Text 5"/>
          <p:cNvSpPr/>
          <p:nvPr/>
        </p:nvSpPr>
        <p:spPr>
          <a:xfrm>
            <a:off x="822960" y="27889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論文</a:t>
            </a:r>
            <a:endParaRPr lang="en-US" sz="1250" dirty="0"/>
          </a:p>
        </p:txBody>
      </p:sp>
      <p:sp>
        <p:nvSpPr>
          <p:cNvPr id="8" name="Shape 6"/>
          <p:cNvSpPr/>
          <p:nvPr/>
        </p:nvSpPr>
        <p:spPr>
          <a:xfrm>
            <a:off x="822960" y="3108960"/>
            <a:ext cx="5166360" cy="1554480"/>
          </a:xfrm>
          <a:prstGeom prst="roundRect">
            <a:avLst>
              <a:gd name="adj" fmla="val 3529"/>
            </a:avLst>
          </a:prstGeom>
          <a:solidFill>
            <a:srgbClr val="F4F4F6"/>
          </a:solidFill>
          <a:ln/>
        </p:spPr>
      </p:sp>
      <p:sp>
        <p:nvSpPr>
          <p:cNvPr id="9" name="Shape 7"/>
          <p:cNvSpPr/>
          <p:nvPr/>
        </p:nvSpPr>
        <p:spPr>
          <a:xfrm>
            <a:off x="1024128" y="3328416"/>
            <a:ext cx="128016" cy="128016"/>
          </a:xfrm>
          <a:prstGeom prst="rect">
            <a:avLst/>
          </a:prstGeom>
          <a:solidFill>
            <a:srgbClr val="17BECF"/>
          </a:solidFill>
          <a:ln/>
        </p:spPr>
      </p:sp>
      <p:sp>
        <p:nvSpPr>
          <p:cNvPr id="10" name="Text 8"/>
          <p:cNvSpPr/>
          <p:nvPr/>
        </p:nvSpPr>
        <p:spPr>
          <a:xfrm>
            <a:off x="123444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① データセット論文（IEEE OA体裁・草稿）</a:t>
            </a:r>
            <a:endParaRPr lang="en-US" sz="1150" dirty="0"/>
          </a:p>
        </p:txBody>
      </p:sp>
      <p:sp>
        <p:nvSpPr>
          <p:cNvPr id="11" name="Text 9"/>
          <p:cNvSpPr/>
          <p:nvPr/>
        </p:nvSpPr>
        <p:spPr>
          <a:xfrm>
            <a:off x="105156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抽出パイプライン・7段補完・UC/PF一式。papers/ieee-openaccess.tex</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本文の変電所数8,164は誤記（表は6,962）— 投稿前に要修正</a:t>
            </a:r>
            <a:endParaRPr lang="en-US" sz="950" dirty="0"/>
          </a:p>
        </p:txBody>
      </p:sp>
      <p:sp>
        <p:nvSpPr>
          <p:cNvPr id="12" name="Shape 10"/>
          <p:cNvSpPr/>
          <p:nvPr/>
        </p:nvSpPr>
        <p:spPr>
          <a:xfrm>
            <a:off x="6263640" y="3108960"/>
            <a:ext cx="5166360" cy="1554480"/>
          </a:xfrm>
          <a:prstGeom prst="roundRect">
            <a:avLst>
              <a:gd name="adj" fmla="val 3529"/>
            </a:avLst>
          </a:prstGeom>
          <a:solidFill>
            <a:srgbClr val="F4F4F6"/>
          </a:solidFill>
          <a:ln/>
        </p:spPr>
      </p:sp>
      <p:sp>
        <p:nvSpPr>
          <p:cNvPr id="13" name="Shape 11"/>
          <p:cNvSpPr/>
          <p:nvPr/>
        </p:nvSpPr>
        <p:spPr>
          <a:xfrm>
            <a:off x="6464808" y="3328416"/>
            <a:ext cx="128016" cy="128016"/>
          </a:xfrm>
          <a:prstGeom prst="rect">
            <a:avLst/>
          </a:prstGeom>
          <a:solidFill>
            <a:srgbClr val="D62728"/>
          </a:solidFill>
          <a:ln/>
        </p:spPr>
      </p:sp>
      <p:sp>
        <p:nvSpPr>
          <p:cNvPr id="14" name="Text 12"/>
          <p:cNvSpPr/>
          <p:nvPr/>
        </p:nvSpPr>
        <p:spPr>
          <a:xfrm>
            <a:off x="667512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② SubSLD論文（IEEEtran 6p・ビルド済）</a:t>
            </a:r>
            <a:endParaRPr lang="en-US" sz="1150" dirty="0"/>
          </a:p>
        </p:txBody>
      </p:sp>
      <p:sp>
        <p:nvSpPr>
          <p:cNvPr id="15" name="Text 13"/>
          <p:cNvSpPr/>
          <p:nvPr/>
        </p:nvSpPr>
        <p:spPr>
          <a:xfrm>
            <a:off x="649224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変電所内部構成の実証的機械生成。papers/subsld/</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参考文献が未記載（\cite 0件）— 両論文とも投稿先未定</a:t>
            </a:r>
            <a:endParaRPr lang="en-US" sz="950" dirty="0"/>
          </a:p>
        </p:txBody>
      </p:sp>
      <p:sp>
        <p:nvSpPr>
          <p:cNvPr id="16" name="Text 14"/>
          <p:cNvSpPr/>
          <p:nvPr/>
        </p:nvSpPr>
        <p:spPr>
          <a:xfrm>
            <a:off x="822960" y="48463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今後</a:t>
            </a:r>
            <a:endParaRPr lang="en-US" sz="1250" dirty="0"/>
          </a:p>
        </p:txBody>
      </p:sp>
      <p:sp>
        <p:nvSpPr>
          <p:cNvPr id="17" name="Text 15"/>
          <p:cNvSpPr/>
          <p:nvPr/>
        </p:nvSpPr>
        <p:spPr>
          <a:xfrm>
            <a:off x="82296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1. 論文2本の文献・投稿先</a:t>
            </a:r>
            <a:endParaRPr lang="en-US" sz="1150" dirty="0"/>
          </a:p>
        </p:txBody>
      </p:sp>
      <p:sp>
        <p:nvSpPr>
          <p:cNvPr id="18" name="Text 16"/>
          <p:cNvSpPr/>
          <p:nvPr/>
        </p:nvSpPr>
        <p:spPr>
          <a:xfrm>
            <a:off x="82296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BibTeX整備と体裁確定が先頭</a:t>
            </a:r>
            <a:endParaRPr lang="en-US" sz="1050" dirty="0"/>
          </a:p>
        </p:txBody>
      </p:sp>
      <p:sp>
        <p:nvSpPr>
          <p:cNvPr id="19" name="Text 17"/>
          <p:cNvSpPr/>
          <p:nvPr/>
        </p:nvSpPr>
        <p:spPr>
          <a:xfrm>
            <a:off x="443484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2. 西日本フルAC</a:t>
            </a:r>
            <a:endParaRPr lang="en-US" sz="1150" dirty="0"/>
          </a:p>
        </p:txBody>
      </p:sp>
      <p:sp>
        <p:nvSpPr>
          <p:cNvPr id="20" name="Text 18"/>
          <p:cNvSpPr/>
          <p:nvPr/>
        </p:nvSpPr>
        <p:spPr>
          <a:xfrm>
            <a:off x="443484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66 kVメッシュ表現（並列回線・変圧器容量・無効電力支援）</a:t>
            </a:r>
            <a:endParaRPr lang="en-US" sz="1050" dirty="0"/>
          </a:p>
        </p:txBody>
      </p:sp>
      <p:sp>
        <p:nvSpPr>
          <p:cNvPr id="21" name="Text 19"/>
          <p:cNvSpPr/>
          <p:nvPr/>
        </p:nvSpPr>
        <p:spPr>
          <a:xfrm>
            <a:off x="804672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3. OSMへの還流</a:t>
            </a:r>
            <a:endParaRPr lang="en-US" sz="1150" dirty="0"/>
          </a:p>
        </p:txBody>
      </p:sp>
      <p:sp>
        <p:nvSpPr>
          <p:cNvPr id="22" name="Text 20"/>
          <p:cNvSpPr/>
          <p:nvPr/>
        </p:nvSpPr>
        <p:spPr>
          <a:xfrm>
            <a:off x="804672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issue #49 の編集候補リスト10件を実行 — 欠測を貢献に変える</a:t>
            </a:r>
            <a:endParaRPr lang="en-US" sz="1050" dirty="0"/>
          </a:p>
        </p:txBody>
      </p:sp>
      <p:sp>
        <p:nvSpPr>
          <p:cNvPr id="23" name="Text 21"/>
          <p:cNvSpPr/>
          <p:nvPr/>
        </p:nvSpPr>
        <p:spPr>
          <a:xfrm>
            <a:off x="822960" y="6053328"/>
            <a:ext cx="10607040" cy="256032"/>
          </a:xfrm>
          <a:prstGeom prst="rect">
            <a:avLst/>
          </a:prstGeom>
          <a:noFill/>
          <a:ln/>
        </p:spPr>
        <p:txBody>
          <a:bodyPr wrap="square" lIns="0" tIns="0" rIns="0" bIns="0" rtlCol="0" anchor="ctr"/>
          <a:lstStyle/>
          <a:p>
            <a:pPr indent="0" marL="0">
              <a:buNone/>
            </a:pPr>
            <a:r>
              <a:rPr lang="en-US" sz="900" dirty="0">
                <a:solidFill>
                  <a:srgbClr val="55555F"/>
                </a:solidFill>
                <a:latin typeface="Courier New" pitchFamily="34" charset="0"/>
                <a:ea typeface="Courier New" pitchFamily="34" charset="-122"/>
                <a:cs typeface="Courier New" pitchFamily="34" charset="-120"/>
              </a:rPr>
              <a:t>github.com/lutelute/All-Japan-Grid　|　lutelute.github.io/All-Japan-Grid　|　データ: ODbL（OSM由来）・コード: MIT　|　航空写真: 国土地理院</a:t>
            </a:r>
            <a:endParaRPr lang="en-US" sz="900" dirty="0"/>
          </a:p>
        </p:txBody>
      </p:sp>
      <p:sp>
        <p:nvSpPr>
          <p:cNvPr id="24" name="Text 2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5" name="Text 2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0:30</a:t>
            </a:r>
            <a:endParaRPr lang="en-US" sz="900" dirty="0"/>
          </a:p>
        </p:txBody>
      </p:sp>
      <p:sp>
        <p:nvSpPr>
          <p:cNvPr id="26" name="Text 2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2026-08-29T01:07:34Z</dcterms:created>
  <dcterms:modified xsi:type="dcterms:W3CDTF">2026-08-29T01:07:34Z</dcterms:modified>
</cp:coreProperties>
</file>