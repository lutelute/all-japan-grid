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west はDC断面初期化(フルACは不成立が正典)と断面ごとに開示。542=53+182+302+5。「AGC100?」→「これはAGC-542」。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30秒流す。「地図はここまで語れる」の頂点。伝播速度の定量化は今後(位相計測PMU比較の話が出たら乗る)。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「夜が危ない」の古典を、地図から作ったモデルが自力で言い直す枚。3:08の一致は構図の一致(モデルは同日のUC断面・実事故は2018/9/6)と断ってから言う。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第6幕は一夜のデバッグ記。(仮)の哲学=推定母線と同じ「存在の必然性だけ主張」。承認の一文がこの幕の転回点。数値の出典: provisional_infeed_decision_2026-08-30.md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探偵編の核心。裏取りは3エージェント並列(コード読解/生データ/Web出典)。#38の設計原則=ガードの動機(混在県の飛び地保護)を殺さずに過剰防衛だけ解く。証跡: west_ac_wave6_2026-08-30.md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クライマックス。左=初のAC解の電圧分布(7,928バス・6.6s)。右=介入#38の検挙簿(誤帰属275点)。「点灯」の演出で締め、総括へ。数値出典: west_ac_wave6/wave7_2026-08-30.md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系統ごと、全部解く：4島・542機の動揺</a:t>
            </a:r>
            <a:endParaRPr lang="en-US" sz="2100" dirty="0"/>
          </a:p>
        </p:txBody>
      </p:sp>
      <p:pic>
        <p:nvPicPr>
          <p:cNvPr id="5" name="Image 0" descr="assets/fig_swing_national.png">    </p:cNvPr>
          <p:cNvPicPr>
            <a:picLocks noChangeAspect="1"/>
          </p:cNvPicPr>
          <p:nvPr/>
        </p:nvPicPr>
        <p:blipFill>
          <a:blip r:embed="rId1"/>
          <a:stretch>
            <a:fillRect/>
          </a:stretch>
        </p:blipFill>
        <p:spPr>
          <a:xfrm>
            <a:off x="1737360" y="960120"/>
            <a:ext cx="8732520" cy="5303520"/>
          </a:xfrm>
          <a:prstGeom prst="rect">
            <a:avLst/>
          </a:prstGeom>
        </p:spPr>
      </p:pic>
      <p:sp>
        <p:nvSpPr>
          <p:cNvPr id="6" name="Text 3"/>
          <p:cNvSpPr/>
          <p:nvPr/>
        </p:nvSpPr>
        <p:spPr>
          <a:xfrm>
            <a:off x="822960" y="635508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東182機は富津3,893MWを失っても−0.45Hzで踏みとどまり、全機がうねりながら回復する。西302機は±0.3Hzの機間動揺が10秒で減衰。弱結合の小規模機7機は脱調保護が切り離す(切離しの瞬間まで描画・全経過は帳簿)。</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A"/>
        </a:solidFill>
      </p:bgPr>
    </p:bg>
    <p:spTree>
      <p:nvGrpSpPr>
        <p:cNvPr id="1" name=""/>
        <p:cNvGrpSpPr/>
        <p:nvPr/>
      </p:nvGrpSpPr>
      <p:grpSpPr>
        <a:xfrm>
          <a:off x="0" y="0"/>
          <a:ext cx="0" cy="0"/>
          <a:chOff x="0" y="0"/>
          <a:chExt cx="0" cy="0"/>
        </a:xfrm>
      </p:grpSpPr>
      <p:pic>
        <p:nvPicPr>
          <p:cNvPr id="2" name="Image 0" descr="assets/agc_east_wave.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波が、走る。</a:t>
            </a:r>
            <a:endParaRPr lang="en-US" sz="2400" dirty="0"/>
          </a:p>
        </p:txBody>
      </p:sp>
      <p:sp>
        <p:nvSpPr>
          <p:cNvPr id="4" name="Text 1"/>
          <p:cNvSpPr/>
          <p:nvPr/>
        </p:nvSpPr>
        <p:spPr>
          <a:xfrm>
            <a:off x="521208" y="1234440"/>
            <a:ext cx="2697480" cy="1005840"/>
          </a:xfrm>
          <a:prstGeom prst="rect">
            <a:avLst/>
          </a:prstGeom>
          <a:noFill/>
          <a:ln/>
        </p:spPr>
        <p:txBody>
          <a:bodyPr wrap="square" lIns="0" tIns="0" rIns="0" bIns="0" rtlCol="0" anchor="ctr"/>
          <a:lstStyle/>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富津で3,893MWが消えた瞬間、</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周波数低下の波が実網インピーダンス</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を伝って東北へ駆け上がる。</a:t>
            </a:r>
            <a:endParaRPr lang="en-US" sz="1250" dirty="0"/>
          </a:p>
        </p:txBody>
      </p:sp>
      <p:sp>
        <p:nvSpPr>
          <p:cNvPr id="5" name="Text 2"/>
          <p:cNvSpPr/>
          <p:nvPr/>
        </p:nvSpPr>
        <p:spPr>
          <a:xfrm>
            <a:off x="521208" y="2514600"/>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丸</a:t>
            </a:r>
            <a:endParaRPr lang="en-US" sz="1150" dirty="0"/>
          </a:p>
        </p:txBody>
      </p:sp>
      <p:sp>
        <p:nvSpPr>
          <p:cNvPr id="6" name="Text 3"/>
          <p:cNvSpPr/>
          <p:nvPr/>
        </p:nvSpPr>
        <p:spPr>
          <a:xfrm>
            <a:off x="521208" y="2761488"/>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発電機(実座標・大きさ=定格)</a:t>
            </a:r>
            <a:endParaRPr lang="en-US" sz="1000" dirty="0"/>
          </a:p>
        </p:txBody>
      </p:sp>
      <p:sp>
        <p:nvSpPr>
          <p:cNvPr id="7" name="Text 4"/>
          <p:cNvSpPr/>
          <p:nvPr/>
        </p:nvSpPr>
        <p:spPr>
          <a:xfrm>
            <a:off x="521208" y="3172968"/>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色</a:t>
            </a:r>
            <a:endParaRPr lang="en-US" sz="1150" dirty="0"/>
          </a:p>
        </p:txBody>
      </p:sp>
      <p:sp>
        <p:nvSpPr>
          <p:cNvPr id="8" name="Text 5"/>
          <p:cNvSpPr/>
          <p:nvPr/>
        </p:nvSpPr>
        <p:spPr>
          <a:xfrm>
            <a:off x="521208" y="3419856"/>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その機のローカル周波数</a:t>
            </a:r>
            <a:endParaRPr lang="en-US" sz="1000" dirty="0"/>
          </a:p>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(青=50Hz → 赤=低下)</a:t>
            </a:r>
            <a:endParaRPr lang="en-US" sz="1000" dirty="0"/>
          </a:p>
        </p:txBody>
      </p:sp>
      <p:sp>
        <p:nvSpPr>
          <p:cNvPr id="9" name="Text 6"/>
          <p:cNvSpPr/>
          <p:nvPr/>
        </p:nvSpPr>
        <p:spPr>
          <a:xfrm>
            <a:off x="521208" y="3831336"/>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10" name="Text 7"/>
          <p:cNvSpPr/>
          <p:nvPr/>
        </p:nvSpPr>
        <p:spPr>
          <a:xfrm>
            <a:off x="521208" y="4078224"/>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落ちた発電所(富津)</a:t>
            </a:r>
            <a:endParaRPr lang="en-US" sz="1000" dirty="0"/>
          </a:p>
        </p:txBody>
      </p:sp>
      <p:sp>
        <p:nvSpPr>
          <p:cNvPr id="11" name="Text 8"/>
          <p:cNvSpPr/>
          <p:nvPr/>
        </p:nvSpPr>
        <p:spPr>
          <a:xfrm>
            <a:off x="521208" y="4489704"/>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右下</a:t>
            </a:r>
            <a:endParaRPr lang="en-US" sz="1150" dirty="0"/>
          </a:p>
        </p:txBody>
      </p:sp>
      <p:sp>
        <p:nvSpPr>
          <p:cNvPr id="12" name="Text 9"/>
          <p:cNvSpPr/>
          <p:nvPr/>
        </p:nvSpPr>
        <p:spPr>
          <a:xfrm>
            <a:off x="521208" y="4736592"/>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全機波形+現在時刻カーソル</a:t>
            </a:r>
            <a:endParaRPr lang="en-US" sz="1000" dirty="0"/>
          </a:p>
        </p:txBody>
      </p:sp>
      <p:sp>
        <p:nvSpPr>
          <p:cNvPr id="13" name="Text 10"/>
          <p:cNvSpPr/>
          <p:nvPr/>
        </p:nvSpPr>
        <p:spPr>
          <a:xfrm>
            <a:off x="521208" y="5303520"/>
            <a:ext cx="2697480" cy="64008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事故直後は超スローモーション(ミリ秒表示)。</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遠い機ほど遅れて落ちる=同期化力の伝播。</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24時間の断面：同じ事故でも、夜がいちばん危ない</a:t>
            </a:r>
            <a:endParaRPr lang="en-US" sz="2100" dirty="0"/>
          </a:p>
        </p:txBody>
      </p:sp>
      <p:pic>
        <p:nvPicPr>
          <p:cNvPr id="5" name="Image 0" descr="assets/fig_agc_24h.png">    </p:cNvPr>
          <p:cNvPicPr>
            <a:picLocks noChangeAspect="1"/>
          </p:cNvPicPr>
          <p:nvPr/>
        </p:nvPicPr>
        <p:blipFill>
          <a:blip r:embed="rId1"/>
          <a:stretch>
            <a:fillRect/>
          </a:stretch>
        </p:blipFill>
        <p:spPr>
          <a:xfrm>
            <a:off x="2286000" y="987552"/>
            <a:ext cx="7635240" cy="5349240"/>
          </a:xfrm>
          <a:prstGeom prst="rect">
            <a:avLst/>
          </a:prstGeom>
        </p:spPr>
      </p:pic>
      <p:sp>
        <p:nvSpPr>
          <p:cNvPr id="6" name="Text 3"/>
          <p:cNvSpPr/>
          <p:nvPr/>
        </p:nvSpPr>
        <p:spPr>
          <a:xfrm>
            <a:off x="822960" y="640080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UCの24時間コミットメントを1時刻ずつ断面にして最大オンラインプラントを落とす。夜間はオンライン機が減る→慣性が3割落ちる→同じ事故でも深く速く落ちる。北海道の最悪は深夜3時＝実際の2018年ブラックアウト(3:08)と同じ時間帯。</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最後のDC島 — 西のACを一夜で正典にする</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4島のうち西日本だけがAC不成立のまま「今後」に残っていた — その宿題を今夜のうちに</a:t>
            </a:r>
            <a:endParaRPr lang="en-US" sz="1200" dirty="0"/>
          </a:p>
        </p:txBody>
      </p:sp>
      <p:sp>
        <p:nvSpPr>
          <p:cNvPr id="6" name="Shape 4"/>
          <p:cNvSpPr/>
          <p:nvPr/>
        </p:nvSpPr>
        <p:spPr>
          <a:xfrm>
            <a:off x="822960" y="1234440"/>
            <a:ext cx="5166360" cy="1691640"/>
          </a:xfrm>
          <a:prstGeom prst="roundRect">
            <a:avLst>
              <a:gd name="adj" fmla="val 3243"/>
            </a:avLst>
          </a:prstGeom>
          <a:solidFill>
            <a:srgbClr val="F4F4F6"/>
          </a:solidFill>
          <a:ln/>
        </p:spPr>
      </p:sp>
      <p:sp>
        <p:nvSpPr>
          <p:cNvPr id="7" name="Shape 5"/>
          <p:cNvSpPr/>
          <p:nvPr/>
        </p:nvSpPr>
        <p:spPr>
          <a:xfrm>
            <a:off x="1024128" y="1453896"/>
            <a:ext cx="128016" cy="128016"/>
          </a:xfrm>
          <a:prstGeom prst="rect">
            <a:avLst/>
          </a:prstGeom>
          <a:solidFill>
            <a:srgbClr val="C62828"/>
          </a:solidFill>
          <a:ln/>
        </p:spPr>
      </p:sp>
      <p:sp>
        <p:nvSpPr>
          <p:cNvPr id="8" name="Text 6"/>
          <p:cNvSpPr/>
          <p:nvPr/>
        </p:nvSpPr>
        <p:spPr>
          <a:xfrm>
            <a:off x="1234440" y="1344168"/>
            <a:ext cx="470916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謎: バックボーンでも解けない</a:t>
            </a:r>
            <a:endParaRPr lang="en-US" sz="1200" dirty="0"/>
          </a:p>
        </p:txBody>
      </p:sp>
      <p:sp>
        <p:nvSpPr>
          <p:cNvPr id="9" name="Text 7"/>
          <p:cNvSpPr/>
          <p:nvPr/>
        </p:nvSpPr>
        <p:spPr>
          <a:xfrm>
            <a:off x="1051560" y="1691640"/>
            <a:ext cx="470916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kVに絞っても dc_fallback。プローブ第1〜4波(サイト変圧器・無効電力・時刻別シャント)は全て空振り。反復を止めて観察する onset 診断に切替</a:t>
            </a:r>
            <a:endParaRPr lang="en-US" sz="1000" dirty="0"/>
          </a:p>
        </p:txBody>
      </p:sp>
      <p:sp>
        <p:nvSpPr>
          <p:cNvPr id="10" name="Shape 8"/>
          <p:cNvSpPr/>
          <p:nvPr/>
        </p:nvSpPr>
        <p:spPr>
          <a:xfrm>
            <a:off x="6263640" y="1234440"/>
            <a:ext cx="5166360" cy="1691640"/>
          </a:xfrm>
          <a:prstGeom prst="roundRect">
            <a:avLst>
              <a:gd name="adj" fmla="val 3243"/>
            </a:avLst>
          </a:prstGeom>
          <a:solidFill>
            <a:srgbClr val="F4F4F6"/>
          </a:solidFill>
          <a:ln/>
        </p:spPr>
      </p:sp>
      <p:sp>
        <p:nvSpPr>
          <p:cNvPr id="11" name="Shape 9"/>
          <p:cNvSpPr/>
          <p:nvPr/>
        </p:nvSpPr>
        <p:spPr>
          <a:xfrm>
            <a:off x="6464808" y="1453896"/>
            <a:ext cx="128016" cy="128016"/>
          </a:xfrm>
          <a:prstGeom prst="rect">
            <a:avLst/>
          </a:prstGeom>
          <a:solidFill>
            <a:srgbClr val="FF7F0E"/>
          </a:solidFill>
          <a:ln/>
        </p:spPr>
      </p:sp>
      <p:sp>
        <p:nvSpPr>
          <p:cNvPr id="12" name="Text 10"/>
          <p:cNvSpPr/>
          <p:nvPr/>
        </p:nvSpPr>
        <p:spPr>
          <a:xfrm>
            <a:off x="6675120" y="1344168"/>
            <a:ext cx="470916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第一容疑者: 大阪都心154 kVクラスタ</a:t>
            </a:r>
            <a:endParaRPr lang="en-US" sz="1200" dirty="0"/>
          </a:p>
        </p:txBody>
      </p:sp>
      <p:sp>
        <p:nvSpPr>
          <p:cNvPr id="13" name="Text 11"/>
          <p:cNvSpPr/>
          <p:nvPr/>
        </p:nvSpPr>
        <p:spPr>
          <a:xfrm>
            <a:off x="6492240" y="1691640"/>
            <a:ext cx="470916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梅田・北浜・小曽根…上位(≥275 kV)への変圧器がゼロ。関西の275 kV地中網はOSM未収載で、開示系統図は実名匿名化=出典回復が不可能(#28型が使えない)</a:t>
            </a:r>
            <a:endParaRPr lang="en-US" sz="1000" dirty="0"/>
          </a:p>
        </p:txBody>
      </p:sp>
      <p:sp>
        <p:nvSpPr>
          <p:cNvPr id="14" name="Shape 12"/>
          <p:cNvSpPr/>
          <p:nvPr/>
        </p:nvSpPr>
        <p:spPr>
          <a:xfrm>
            <a:off x="822960" y="3154680"/>
            <a:ext cx="10607040" cy="1600200"/>
          </a:xfrm>
          <a:prstGeom prst="roundRect">
            <a:avLst>
              <a:gd name="adj" fmla="val 4571"/>
            </a:avLst>
          </a:prstGeom>
          <a:solidFill>
            <a:srgbClr val="0F7B6C"/>
          </a:solidFill>
          <a:ln/>
        </p:spPr>
      </p:sp>
      <p:sp>
        <p:nvSpPr>
          <p:cNvPr id="15" name="Text 13"/>
          <p:cNvSpPr/>
          <p:nvPr/>
        </p:nvSpPr>
        <p:spPr>
          <a:xfrm>
            <a:off x="1097280" y="3154680"/>
            <a:ext cx="10058400" cy="1600200"/>
          </a:xfrm>
          <a:prstGeom prst="rect">
            <a:avLst/>
          </a:prstGeom>
          <a:noFill/>
          <a:ln/>
        </p:spPr>
        <p:txBody>
          <a:bodyPr wrap="square" lIns="0" tIns="0" rIns="0" bIns="0" rtlCol="0" anchor="ctr"/>
          <a:lstStyle/>
          <a:p>
            <a:pPr indent="0" marL="0">
              <a:lnSpc>
                <a:spcPts val="2000"/>
              </a:lnSpc>
              <a:buNone/>
            </a:pPr>
            <a:r>
              <a:rPr lang="en-US" sz="1450" b="1" dirty="0">
                <a:solidFill>
                  <a:srgbClr val="FFFFFF"/>
                </a:solidFill>
                <a:latin typeface="Hiragino Sans" pitchFamily="34" charset="0"/>
                <a:ea typeface="Hiragino Sans" pitchFamily="34" charset="-122"/>
                <a:cs typeface="Hiragino Sans" pitchFamily="34" charset="-120"/>
              </a:rPr>
              <a:t>介入#37「都心給電の必然接続(仮)」 — </a:t>
            </a:r>
            <a:pPr indent="0" marL="0">
              <a:lnSpc>
                <a:spcPts val="2000"/>
              </a:lnSpc>
              <a:buNone/>
            </a:pPr>
            <a:r>
              <a:rPr lang="en-US" sz="1250" dirty="0">
                <a:solidFill>
                  <a:srgbClr val="E6F4F1"/>
                </a:solidFill>
                <a:latin typeface="Hiragino Sans" pitchFamily="34" charset="0"/>
                <a:ea typeface="Hiragino Sans" pitchFamily="34" charset="-122"/>
                <a:cs typeface="Hiragino Sans" pitchFamily="34" charset="-120"/>
              </a:rPr>
              <a:t>負荷が現に供給されている以上、上位系からの給電経路の存在は電気的必然。存在のみを主張し、経路・容量は(仮)と明記して全件台帳に載せる。
</a:t>
            </a:r>
            <a:pPr indent="0" marL="0">
              <a:lnSpc>
                <a:spcPts val="2000"/>
              </a:lnSpc>
              <a:buNone/>
            </a:pPr>
            <a:r>
              <a:rPr lang="en-US" sz="1250" b="1" dirty="0">
                <a:solidFill>
                  <a:srgbClr val="FFE082"/>
                </a:solidFill>
                <a:latin typeface="Hiragino Sans" pitchFamily="34" charset="0"/>
                <a:ea typeface="Hiragino Sans" pitchFamily="34" charset="-122"/>
                <a:cs typeface="Hiragino Sans" pitchFamily="34" charset="-120"/>
              </a:rPr>
              <a:t>オーナー裁定「仮が事実でないかもしれないなら、それを明記しておけば正典として良い」</a:t>
            </a:r>
            <a:endParaRPr lang="en-US" sz="1450" dirty="0"/>
          </a:p>
        </p:txBody>
      </p:sp>
      <p:sp>
        <p:nvSpPr>
          <p:cNvPr id="16" name="Shape 14"/>
          <p:cNvSpPr/>
          <p:nvPr/>
        </p:nvSpPr>
        <p:spPr>
          <a:xfrm>
            <a:off x="822960" y="4983480"/>
            <a:ext cx="10607040" cy="1051560"/>
          </a:xfrm>
          <a:prstGeom prst="roundRect">
            <a:avLst>
              <a:gd name="adj" fmla="val 5217"/>
            </a:avLst>
          </a:prstGeom>
          <a:solidFill>
            <a:srgbClr val="F4F4F6"/>
          </a:solidFill>
          <a:ln/>
        </p:spPr>
      </p:sp>
      <p:sp>
        <p:nvSpPr>
          <p:cNvPr id="17" name="Shape 15"/>
          <p:cNvSpPr/>
          <p:nvPr/>
        </p:nvSpPr>
        <p:spPr>
          <a:xfrm>
            <a:off x="1024128" y="5202936"/>
            <a:ext cx="128016" cy="128016"/>
          </a:xfrm>
          <a:prstGeom prst="rect">
            <a:avLst/>
          </a:prstGeom>
          <a:solidFill>
            <a:srgbClr val="2E7D32"/>
          </a:solidFill>
          <a:ln/>
        </p:spPr>
      </p:sp>
      <p:sp>
        <p:nvSpPr>
          <p:cNvPr id="18" name="Text 16"/>
          <p:cNvSpPr/>
          <p:nvPr/>
        </p:nvSpPr>
        <p:spPr>
          <a:xfrm>
            <a:off x="1234440" y="5093208"/>
            <a:ext cx="101498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結果: 西バックボーンAC初成立 — しかしフルは落ちたまま</a:t>
            </a:r>
            <a:endParaRPr lang="en-US" sz="1250" dirty="0"/>
          </a:p>
        </p:txBody>
      </p:sp>
      <p:sp>
        <p:nvSpPr>
          <p:cNvPr id="19" name="Text 17"/>
          <p:cNvSpPr/>
          <p:nvPr/>
        </p:nvSpPr>
        <p:spPr>
          <a:xfrm>
            <a:off x="1051560" y="5440680"/>
            <a:ext cx="10149840" cy="48463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(仮)変圧器のみで mode=ac・served 96.5%。ならばフルを殺している犯人は154 kV未満の層にいる — 捜査は66/77 kV層へ</a:t>
            </a:r>
            <a:endParaRPr lang="en-US" sz="10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犯人は大阪ではなかった — 50Hz設備の混入</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onset診断: NRを反復1回で止めて観察 → 最初に暴れたのは軽井沢・御代田・嬬恋の66/77 kV(|V|→6.6)</a:t>
            </a:r>
            <a:endParaRPr lang="en-US" sz="1200" dirty="0"/>
          </a:p>
        </p:txBody>
      </p:sp>
      <p:sp>
        <p:nvSpPr>
          <p:cNvPr id="6" name="Shape 4"/>
          <p:cNvSpPr/>
          <p:nvPr/>
        </p:nvSpPr>
        <p:spPr>
          <a:xfrm>
            <a:off x="822960" y="1234440"/>
            <a:ext cx="10607040" cy="1078992"/>
          </a:xfrm>
          <a:prstGeom prst="roundRect">
            <a:avLst>
              <a:gd name="adj" fmla="val 5085"/>
            </a:avLst>
          </a:prstGeom>
          <a:solidFill>
            <a:srgbClr val="F4F4F6"/>
          </a:solidFill>
          <a:ln/>
        </p:spPr>
      </p:sp>
      <p:sp>
        <p:nvSpPr>
          <p:cNvPr id="7" name="Shape 5"/>
          <p:cNvSpPr/>
          <p:nvPr/>
        </p:nvSpPr>
        <p:spPr>
          <a:xfrm>
            <a:off x="1005840" y="1371600"/>
            <a:ext cx="128016" cy="804672"/>
          </a:xfrm>
          <a:prstGeom prst="rect">
            <a:avLst/>
          </a:prstGeom>
          <a:solidFill>
            <a:srgbClr val="17BECF"/>
          </a:solidFill>
          <a:ln/>
        </p:spPr>
      </p:sp>
      <p:sp>
        <p:nvSpPr>
          <p:cNvPr id="8" name="Text 6"/>
          <p:cNvSpPr/>
          <p:nvPr/>
        </p:nvSpPr>
        <p:spPr>
          <a:xfrm>
            <a:off x="1325880" y="1325880"/>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観察</a:t>
            </a:r>
            <a:endParaRPr lang="en-US" sz="1300" dirty="0"/>
          </a:p>
        </p:txBody>
      </p:sp>
      <p:sp>
        <p:nvSpPr>
          <p:cNvPr id="9" name="Text 7"/>
          <p:cNvSpPr/>
          <p:nvPr/>
        </p:nvSpPr>
        <p:spPr>
          <a:xfrm>
            <a:off x="3794760" y="1325880"/>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発散の初動は長野東信〜群馬の66/77 kVポケット。大阪はもう鎮まっていた</a:t>
            </a:r>
            <a:endParaRPr lang="en-US" sz="1050" dirty="0"/>
          </a:p>
        </p:txBody>
      </p:sp>
      <p:sp>
        <p:nvSpPr>
          <p:cNvPr id="10" name="Shape 8"/>
          <p:cNvSpPr/>
          <p:nvPr/>
        </p:nvSpPr>
        <p:spPr>
          <a:xfrm>
            <a:off x="822960" y="2441448"/>
            <a:ext cx="10607040" cy="1078992"/>
          </a:xfrm>
          <a:prstGeom prst="roundRect">
            <a:avLst>
              <a:gd name="adj" fmla="val 5085"/>
            </a:avLst>
          </a:prstGeom>
          <a:solidFill>
            <a:srgbClr val="F4F4F6"/>
          </a:solidFill>
          <a:ln/>
        </p:spPr>
      </p:sp>
      <p:sp>
        <p:nvSpPr>
          <p:cNvPr id="11" name="Shape 9"/>
          <p:cNvSpPr/>
          <p:nvPr/>
        </p:nvSpPr>
        <p:spPr>
          <a:xfrm>
            <a:off x="1005840" y="2578608"/>
            <a:ext cx="128016" cy="804672"/>
          </a:xfrm>
          <a:prstGeom prst="rect">
            <a:avLst/>
          </a:prstGeom>
          <a:solidFill>
            <a:srgbClr val="9467BD"/>
          </a:solidFill>
          <a:ln/>
        </p:spPr>
      </p:sp>
      <p:sp>
        <p:nvSpPr>
          <p:cNvPr id="12" name="Text 10"/>
          <p:cNvSpPr/>
          <p:nvPr/>
        </p:nvSpPr>
        <p:spPr>
          <a:xfrm>
            <a:off x="1325880" y="2532888"/>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裏取り(3方向並列)</a:t>
            </a:r>
            <a:endParaRPr lang="en-US" sz="1300" dirty="0"/>
          </a:p>
        </p:txBody>
      </p:sp>
      <p:sp>
        <p:nvSpPr>
          <p:cNvPr id="13" name="Text 11"/>
          <p:cNvSpPr/>
          <p:nvPr/>
        </p:nvSpPr>
        <p:spPr>
          <a:xfrm>
            <a:off x="3794760" y="2532888"/>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コード: 島分けはregionラベルのみ / データ: 群馬・埼玉座標なのにregion=chubuが混在 / 実世界: 軽井沢一帯は中部電力領で、東西は新信濃FCでしか繋がらない(出典つき)</a:t>
            </a:r>
            <a:endParaRPr lang="en-US" sz="1050" dirty="0"/>
          </a:p>
        </p:txBody>
      </p:sp>
      <p:sp>
        <p:nvSpPr>
          <p:cNvPr id="14" name="Shape 12"/>
          <p:cNvSpPr/>
          <p:nvPr/>
        </p:nvSpPr>
        <p:spPr>
          <a:xfrm>
            <a:off x="822960" y="3648456"/>
            <a:ext cx="10607040" cy="1078992"/>
          </a:xfrm>
          <a:prstGeom prst="roundRect">
            <a:avLst>
              <a:gd name="adj" fmla="val 5085"/>
            </a:avLst>
          </a:prstGeom>
          <a:solidFill>
            <a:srgbClr val="F4F4F6"/>
          </a:solidFill>
          <a:ln/>
        </p:spPr>
      </p:sp>
      <p:sp>
        <p:nvSpPr>
          <p:cNvPr id="15" name="Shape 13"/>
          <p:cNvSpPr/>
          <p:nvPr/>
        </p:nvSpPr>
        <p:spPr>
          <a:xfrm>
            <a:off x="1005840" y="3785616"/>
            <a:ext cx="128016" cy="804672"/>
          </a:xfrm>
          <a:prstGeom prst="rect">
            <a:avLst/>
          </a:prstGeom>
          <a:solidFill>
            <a:srgbClr val="FF7F0E"/>
          </a:solidFill>
          <a:ln/>
        </p:spPr>
      </p:sp>
      <p:sp>
        <p:nvSpPr>
          <p:cNvPr id="16" name="Text 14"/>
          <p:cNvSpPr/>
          <p:nvPr/>
        </p:nvSpPr>
        <p:spPr>
          <a:xfrm>
            <a:off x="1325880" y="3739896"/>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機序(3変種)</a:t>
            </a:r>
            <a:endParaRPr lang="en-US" sz="1300" dirty="0"/>
          </a:p>
        </p:txBody>
      </p:sp>
      <p:sp>
        <p:nvSpPr>
          <p:cNvPr id="17" name="Text 15"/>
          <p:cNvSpPr/>
          <p:nvPr/>
        </p:nvSpPr>
        <p:spPr>
          <a:xfrm>
            <a:off x="3794760" y="3739896"/>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①抽出bboxこぼれ(嬬恋・神保原・榛名・鴨宮・都留) ②座標是正ロジックが「周波数跨ぎ全面禁止」ガードで恒久スキップ ③衛生介入#35にガードが無く逆流8件</a:t>
            </a:r>
            <a:endParaRPr lang="en-US" sz="1050" dirty="0"/>
          </a:p>
        </p:txBody>
      </p:sp>
      <p:sp>
        <p:nvSpPr>
          <p:cNvPr id="18" name="Shape 16"/>
          <p:cNvSpPr/>
          <p:nvPr/>
        </p:nvSpPr>
        <p:spPr>
          <a:xfrm>
            <a:off x="822960" y="4855464"/>
            <a:ext cx="10607040" cy="1078992"/>
          </a:xfrm>
          <a:prstGeom prst="roundRect">
            <a:avLst>
              <a:gd name="adj" fmla="val 5085"/>
            </a:avLst>
          </a:prstGeom>
          <a:solidFill>
            <a:srgbClr val="F4F4F6"/>
          </a:solidFill>
          <a:ln/>
        </p:spPr>
      </p:sp>
      <p:sp>
        <p:nvSpPr>
          <p:cNvPr id="19" name="Shape 17"/>
          <p:cNvSpPr/>
          <p:nvPr/>
        </p:nvSpPr>
        <p:spPr>
          <a:xfrm>
            <a:off x="1005840" y="4992624"/>
            <a:ext cx="128016" cy="804672"/>
          </a:xfrm>
          <a:prstGeom prst="rect">
            <a:avLst/>
          </a:prstGeom>
          <a:solidFill>
            <a:srgbClr val="0F7B6C"/>
          </a:solidFill>
          <a:ln/>
        </p:spPr>
      </p:sp>
      <p:sp>
        <p:nvSpPr>
          <p:cNvPr id="20" name="Text 18"/>
          <p:cNvSpPr/>
          <p:nvPr/>
        </p:nvSpPr>
        <p:spPr>
          <a:xfrm>
            <a:off x="1325880" y="4946904"/>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介入#38</a:t>
            </a:r>
            <a:endParaRPr lang="en-US" sz="1300" dirty="0"/>
          </a:p>
        </p:txBody>
      </p:sp>
      <p:sp>
        <p:nvSpPr>
          <p:cNvPr id="21" name="Text 19"/>
          <p:cNvSpPr/>
          <p:nvPr/>
        </p:nvSpPr>
        <p:spPr>
          <a:xfrm>
            <a:off x="3794760" y="4946904"/>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ガードを精緻化: 周波数が県内で一意な県(関東+山梨/愛知以西+北陸)への是正だけ跨ぎを許可。混在県(長野・新潟・静岡)は従来どおり保護 — 安曇幹線は切らない</a:t>
            </a:r>
            <a:endParaRPr lang="en-US" sz="1050" dirty="0"/>
          </a:p>
        </p:txBody>
      </p:sp>
      <p:sp>
        <p:nvSpPr>
          <p:cNvPr id="22" name="Text 20"/>
          <p:cNvSpPr/>
          <p:nvPr/>
        </p:nvSpPr>
        <p:spPr>
          <a:xfrm>
            <a:off x="822960" y="6126480"/>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誤帰属ノードは是正後もregion_srcに原ラベルを退避 — 何を動かしたかは常に監査可能</a:t>
            </a:r>
            <a:endParaRPr lang="en-US" sz="10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1:15</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D1A"/>
        </a:solidFill>
      </p:bgPr>
    </p:bg>
    <p:spTree>
      <p:nvGrpSpPr>
        <p:cNvPr id="1" name=""/>
        <p:cNvGrpSpPr/>
        <p:nvPr/>
      </p:nvGrpSpPr>
      <p:grpSpPr>
        <a:xfrm>
          <a:off x="0" y="0"/>
          <a:ext cx="0" cy="0"/>
          <a:chOff x="0" y="0"/>
          <a:chExt cx="0" cy="0"/>
        </a:xfrm>
      </p:grpSpPr>
      <p:pic>
        <p:nvPicPr>
          <p:cNvPr id="2" name="Image 0" descr="assets/fig_west_ac_map.png">    </p:cNvPr>
          <p:cNvPicPr>
            <a:picLocks noChangeAspect="1"/>
          </p:cNvPicPr>
          <p:nvPr/>
        </p:nvPicPr>
        <p:blipFill>
          <a:blip r:embed="rId1"/>
          <a:stretch>
            <a:fillRect/>
          </a:stretch>
        </p:blipFill>
        <p:spPr>
          <a:xfrm>
            <a:off x="137160" y="685800"/>
            <a:ext cx="11914632" cy="6108192"/>
          </a:xfrm>
          <a:prstGeom prst="rect">
            <a:avLst/>
          </a:prstGeom>
        </p:spPr>
      </p:pic>
      <p:sp>
        <p:nvSpPr>
          <p:cNvPr id="3" name="Text 0"/>
          <p:cNvSpPr/>
          <p:nvPr/>
        </p:nvSpPr>
        <p:spPr>
          <a:xfrm>
            <a:off x="640080" y="1097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Hiragino Sans" pitchFamily="34" charset="0"/>
                <a:ea typeface="Hiragino Sans" pitchFamily="34" charset="-122"/>
                <a:cs typeface="Hiragino Sans" pitchFamily="34" charset="-120"/>
              </a:rPr>
              <a:t>そして、西日本が点灯する</a:t>
            </a:r>
            <a:endParaRPr lang="en-US" sz="2200" dirty="0"/>
          </a:p>
        </p:txBody>
      </p:sp>
      <p:sp>
        <p:nvSpPr>
          <p:cNvPr id="4" name="Text 1"/>
          <p:cNvSpPr/>
          <p:nvPr/>
        </p:nvSpPr>
        <p:spPr>
          <a:xfrm>
            <a:off x="640080" y="6528816"/>
            <a:ext cx="10058400" cy="274320"/>
          </a:xfrm>
          <a:prstGeom prst="rect">
            <a:avLst/>
          </a:prstGeom>
          <a:noFill/>
          <a:ln/>
        </p:spPr>
        <p:txBody>
          <a:bodyPr wrap="square" lIns="0" tIns="0" rIns="0" bIns="0" rtlCol="0" anchor="ctr"/>
          <a:lstStyle/>
          <a:p>
            <a:pPr indent="0" marL="0">
              <a:buNone/>
            </a:pPr>
            <a:r>
              <a:rPr lang="en-US" sz="1100" dirty="0">
                <a:solidFill>
                  <a:srgbClr val="8E96B8"/>
                </a:solidFill>
                <a:latin typeface="Hiragino Sans" pitchFamily="34" charset="0"/>
                <a:ea typeface="Hiragino Sans" pitchFamily="34" charset="-122"/>
                <a:cs typeface="Hiragino Sans" pitchFamily="34" charset="-120"/>
              </a:rPr>
              <a:t>4島フルAC / 24時間中19時刻がAC(残りは太陽光ピーク帯=次の敵) / slack 13%と局所低電圧も正直に開示</a:t>
            </a:r>
            <a:endParaRPr lang="en-US" sz="1100" dirty="0"/>
          </a:p>
        </p:txBody>
      </p:sp>
      <p:sp>
        <p:nvSpPr>
          <p:cNvPr id="5" name="Text 2"/>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8E96B8"/>
                </a:solidFill>
                <a:latin typeface="Helvetica Neue" pitchFamily="34" charset="0"/>
                <a:ea typeface="Helvetica Neue" pitchFamily="34" charset="-122"/>
                <a:cs typeface="Helvetica Neue"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昼間帯(太陽光ピーク)のAC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24hのうち残る5時刻。負荷配分の市区町村粒度化も(第7波監査済)</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2026-08-29T17:15:32Z</dcterms:created>
  <dcterms:modified xsi:type="dcterms:W3CDTF">2026-08-29T17:15:32Z</dcterms:modified>
</cp:coreProperties>
</file>