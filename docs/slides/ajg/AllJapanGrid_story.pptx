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AGCを知らない聴衆向けの1枚。「電気は貯められない」から始める。次の枚で実際に事故らせる。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2018年9月6日の実話(北海道ブラックアウト)から入る。「あの構図が、地図から作ったモデルで出る」。動特性は典型値の構造実証、プラント粒度=ユニットN-1の上界、は聞かれたら答える。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frame.png">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最後の問い：発電所が突然落ちたら、この系統は生き残れるか</a:t>
            </a:r>
            <a:endParaRPr lang="en-US" sz="2100" dirty="0"/>
          </a:p>
        </p:txBody>
      </p:sp>
      <p:sp>
        <p:nvSpPr>
          <p:cNvPr id="5" name="Shape 3"/>
          <p:cNvSpPr/>
          <p:nvPr/>
        </p:nvSpPr>
        <p:spPr>
          <a:xfrm>
            <a:off x="822960" y="1143000"/>
            <a:ext cx="10607040" cy="1188720"/>
          </a:xfrm>
          <a:prstGeom prst="roundRect">
            <a:avLst>
              <a:gd name="adj" fmla="val 4615"/>
            </a:avLst>
          </a:prstGeom>
          <a:solidFill>
            <a:srgbClr val="F4F4F6"/>
          </a:solidFill>
          <a:ln/>
        </p:spPr>
      </p:sp>
      <p:sp>
        <p:nvSpPr>
          <p:cNvPr id="6" name="Text 4"/>
          <p:cNvSpPr/>
          <p:nvPr/>
        </p:nvSpPr>
        <p:spPr>
          <a:xfrm>
            <a:off x="1097280" y="1143000"/>
            <a:ext cx="10058400" cy="1188720"/>
          </a:xfrm>
          <a:prstGeom prst="rect">
            <a:avLst/>
          </a:prstGeom>
          <a:noFill/>
          <a:ln/>
        </p:spPr>
        <p:txBody>
          <a:bodyPr wrap="square" lIns="0" tIns="0" rIns="0" bIns="0" rtlCol="0" anchor="ctr"/>
          <a:lstStyle/>
          <a:p>
            <a:pPr indent="0" marL="0">
              <a:lnSpc>
                <a:spcPts val="2200"/>
              </a:lnSpc>
              <a:buNone/>
            </a:pPr>
            <a:r>
              <a:rPr lang="en-US" sz="1400" b="1" dirty="0">
                <a:solidFill>
                  <a:srgbClr val="1A1A1A"/>
                </a:solidFill>
                <a:latin typeface="Hiragino Sans" pitchFamily="34" charset="0"/>
                <a:ea typeface="Hiragino Sans" pitchFamily="34" charset="-122"/>
                <a:cs typeface="Hiragino Sans" pitchFamily="34" charset="-120"/>
              </a:rPr>
              <a:t>電気は貯められない。</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作る量と使う量がズレると、周波数(50/60 Hz)がズレる。ズレすぎると発電機が次々止まり、大停電になる。
</a:t>
            </a:r>
            <a:pPr indent="0" marL="0">
              <a:lnSpc>
                <a:spcPts val="2200"/>
              </a:lnSpc>
              <a:buNone/>
            </a:pPr>
            <a:r>
              <a:rPr lang="en-US" sz="1400" b="1" dirty="0">
                <a:solidFill>
                  <a:srgbClr val="1E2761"/>
                </a:solidFill>
                <a:latin typeface="Hiragino Sans" pitchFamily="34" charset="0"/>
                <a:ea typeface="Hiragino Sans" pitchFamily="34" charset="-122"/>
                <a:cs typeface="Hiragino Sans" pitchFamily="34" charset="-120"/>
              </a:rPr>
              <a:t>AGC（自動発電制御）</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 ＝ 周波数のズレを見て発電所の出力を自動で増減し、系統を守る仕組み。</a:t>
            </a:r>
            <a:endParaRPr lang="en-US" sz="1400" dirty="0"/>
          </a:p>
        </p:txBody>
      </p:sp>
      <p:sp>
        <p:nvSpPr>
          <p:cNvPr id="7" name="Shape 5"/>
          <p:cNvSpPr/>
          <p:nvPr/>
        </p:nvSpPr>
        <p:spPr>
          <a:xfrm>
            <a:off x="822960" y="2606040"/>
            <a:ext cx="3291840" cy="2377440"/>
          </a:xfrm>
          <a:prstGeom prst="roundRect">
            <a:avLst>
              <a:gd name="adj" fmla="val 2692"/>
            </a:avLst>
          </a:prstGeom>
          <a:solidFill>
            <a:srgbClr val="F4F4F6"/>
          </a:solidFill>
          <a:ln/>
        </p:spPr>
      </p:sp>
      <p:sp>
        <p:nvSpPr>
          <p:cNvPr id="8" name="Shape 6"/>
          <p:cNvSpPr/>
          <p:nvPr/>
        </p:nvSpPr>
        <p:spPr>
          <a:xfrm>
            <a:off x="822960" y="2606040"/>
            <a:ext cx="3291840" cy="109728"/>
          </a:xfrm>
          <a:prstGeom prst="rect">
            <a:avLst/>
          </a:prstGeom>
          <a:solidFill>
            <a:srgbClr val="9A9AA6"/>
          </a:solidFill>
          <a:ln/>
        </p:spPr>
      </p:sp>
      <p:sp>
        <p:nvSpPr>
          <p:cNvPr id="9" name="Text 7"/>
          <p:cNvSpPr/>
          <p:nvPr/>
        </p:nvSpPr>
        <p:spPr>
          <a:xfrm>
            <a:off x="10058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① 計画する</a:t>
            </a:r>
            <a:endParaRPr lang="en-US" sz="1500" dirty="0"/>
          </a:p>
        </p:txBody>
      </p:sp>
      <p:sp>
        <p:nvSpPr>
          <p:cNvPr id="10" name="Text 8"/>
          <p:cNvSpPr/>
          <p:nvPr/>
        </p:nvSpPr>
        <p:spPr>
          <a:xfrm>
            <a:off x="2926080" y="2834640"/>
            <a:ext cx="1051560" cy="292608"/>
          </a:xfrm>
          <a:prstGeom prst="rect">
            <a:avLst/>
          </a:prstGeom>
          <a:noFill/>
          <a:ln/>
        </p:spPr>
        <p:txBody>
          <a:bodyPr wrap="square" lIns="0" tIns="0" rIns="0" bIns="0" rtlCol="0" anchor="ctr"/>
          <a:lstStyle/>
          <a:p>
            <a:pPr algn="r" indent="0" marL="0">
              <a:buNone/>
            </a:pPr>
            <a:r>
              <a:rPr lang="en-US" sz="1100" b="1" dirty="0">
                <a:solidFill>
                  <a:srgbClr val="55555F"/>
                </a:solidFill>
                <a:latin typeface="Helvetica Neue" pitchFamily="34" charset="0"/>
                <a:ea typeface="Helvetica Neue" pitchFamily="34" charset="-122"/>
                <a:cs typeface="Helvetica Neue" pitchFamily="34" charset="-120"/>
              </a:rPr>
              <a:t>UC</a:t>
            </a:r>
            <a:endParaRPr lang="en-US" sz="1100" dirty="0"/>
          </a:p>
        </p:txBody>
      </p:sp>
      <p:sp>
        <p:nvSpPr>
          <p:cNvPr id="11" name="Text 9"/>
          <p:cNvSpPr/>
          <p:nvPr/>
        </p:nvSpPr>
        <p:spPr>
          <a:xfrm>
            <a:off x="10058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「今日どの発電所を動かす？」</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24時間の起動停止を最適化。</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この選択が、事故時に系統を支える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「慣性」と「調整余力」も決める</a:t>
            </a:r>
            <a:endParaRPr lang="en-US" sz="1100" dirty="0"/>
          </a:p>
        </p:txBody>
      </p:sp>
      <p:sp>
        <p:nvSpPr>
          <p:cNvPr id="12" name="Text 10"/>
          <p:cNvSpPr/>
          <p:nvPr/>
        </p:nvSpPr>
        <p:spPr>
          <a:xfrm>
            <a:off x="41330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3" name="Shape 11"/>
          <p:cNvSpPr/>
          <p:nvPr/>
        </p:nvSpPr>
        <p:spPr>
          <a:xfrm>
            <a:off x="4480560" y="2606040"/>
            <a:ext cx="3291840" cy="2377440"/>
          </a:xfrm>
          <a:prstGeom prst="roundRect">
            <a:avLst>
              <a:gd name="adj" fmla="val 2692"/>
            </a:avLst>
          </a:prstGeom>
          <a:solidFill>
            <a:srgbClr val="F4F4F6"/>
          </a:solidFill>
          <a:ln/>
        </p:spPr>
      </p:sp>
      <p:sp>
        <p:nvSpPr>
          <p:cNvPr id="14" name="Shape 12"/>
          <p:cNvSpPr/>
          <p:nvPr/>
        </p:nvSpPr>
        <p:spPr>
          <a:xfrm>
            <a:off x="4480560" y="2606040"/>
            <a:ext cx="3291840" cy="109728"/>
          </a:xfrm>
          <a:prstGeom prst="rect">
            <a:avLst/>
          </a:prstGeom>
          <a:solidFill>
            <a:srgbClr val="17BECF"/>
          </a:solidFill>
          <a:ln/>
        </p:spPr>
      </p:sp>
      <p:sp>
        <p:nvSpPr>
          <p:cNvPr id="15" name="Text 13"/>
          <p:cNvSpPr/>
          <p:nvPr/>
        </p:nvSpPr>
        <p:spPr>
          <a:xfrm>
            <a:off x="46634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② 流してみる</a:t>
            </a:r>
            <a:endParaRPr lang="en-US" sz="1500" dirty="0"/>
          </a:p>
        </p:txBody>
      </p:sp>
      <p:sp>
        <p:nvSpPr>
          <p:cNvPr id="16" name="Text 14"/>
          <p:cNvSpPr/>
          <p:nvPr/>
        </p:nvSpPr>
        <p:spPr>
          <a:xfrm>
            <a:off x="6583680" y="2834640"/>
            <a:ext cx="1051560" cy="292608"/>
          </a:xfrm>
          <a:prstGeom prst="rect">
            <a:avLst/>
          </a:prstGeom>
          <a:noFill/>
          <a:ln/>
        </p:spPr>
        <p:txBody>
          <a:bodyPr wrap="square" lIns="0" tIns="0" rIns="0" bIns="0" rtlCol="0" anchor="ctr"/>
          <a:lstStyle/>
          <a:p>
            <a:pPr algn="r" indent="0" marL="0">
              <a:buNone/>
            </a:pPr>
            <a:r>
              <a:rPr lang="en-US" sz="1100" b="1" dirty="0">
                <a:solidFill>
                  <a:srgbClr val="17BECF"/>
                </a:solidFill>
                <a:latin typeface="Helvetica Neue" pitchFamily="34" charset="0"/>
                <a:ea typeface="Helvetica Neue" pitchFamily="34" charset="-122"/>
                <a:cs typeface="Helvetica Neue" pitchFamily="34" charset="-120"/>
              </a:rPr>
              <a:t>潮流計算</a:t>
            </a:r>
            <a:endParaRPr lang="en-US" sz="1100" dirty="0"/>
          </a:p>
        </p:txBody>
      </p:sp>
      <p:sp>
        <p:nvSpPr>
          <p:cNvPr id="17" name="Text 15"/>
          <p:cNvSpPr/>
          <p:nvPr/>
        </p:nvSpPr>
        <p:spPr>
          <a:xfrm>
            <a:off x="46634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「その電気、送りきれる？」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計画した発電を実際の送電線網に</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流して確認 — 4島すべて100%供給</a:t>
            </a:r>
            <a:endParaRPr lang="en-US" sz="1100" dirty="0"/>
          </a:p>
        </p:txBody>
      </p:sp>
      <p:sp>
        <p:nvSpPr>
          <p:cNvPr id="18" name="Text 16"/>
          <p:cNvSpPr/>
          <p:nvPr/>
        </p:nvSpPr>
        <p:spPr>
          <a:xfrm>
            <a:off x="77906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9" name="Shape 17"/>
          <p:cNvSpPr/>
          <p:nvPr/>
        </p:nvSpPr>
        <p:spPr>
          <a:xfrm>
            <a:off x="8138160" y="2606040"/>
            <a:ext cx="3291840" cy="2377440"/>
          </a:xfrm>
          <a:prstGeom prst="roundRect">
            <a:avLst>
              <a:gd name="adj" fmla="val 2692"/>
            </a:avLst>
          </a:prstGeom>
          <a:solidFill>
            <a:srgbClr val="F4F4F6"/>
          </a:solidFill>
          <a:ln/>
        </p:spPr>
      </p:sp>
      <p:sp>
        <p:nvSpPr>
          <p:cNvPr id="20" name="Shape 18"/>
          <p:cNvSpPr/>
          <p:nvPr/>
        </p:nvSpPr>
        <p:spPr>
          <a:xfrm>
            <a:off x="8138160" y="2606040"/>
            <a:ext cx="3291840" cy="109728"/>
          </a:xfrm>
          <a:prstGeom prst="rect">
            <a:avLst/>
          </a:prstGeom>
          <a:solidFill>
            <a:srgbClr val="D62728"/>
          </a:solidFill>
          <a:ln/>
        </p:spPr>
      </p:sp>
      <p:sp>
        <p:nvSpPr>
          <p:cNvPr id="21" name="Text 19"/>
          <p:cNvSpPr/>
          <p:nvPr/>
        </p:nvSpPr>
        <p:spPr>
          <a:xfrm>
            <a:off x="83210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③ 事故らせる</a:t>
            </a:r>
            <a:endParaRPr lang="en-US" sz="1500" dirty="0"/>
          </a:p>
        </p:txBody>
      </p:sp>
      <p:sp>
        <p:nvSpPr>
          <p:cNvPr id="22" name="Text 20"/>
          <p:cNvSpPr/>
          <p:nvPr/>
        </p:nvSpPr>
        <p:spPr>
          <a:xfrm>
            <a:off x="10241280" y="2834640"/>
            <a:ext cx="1051560" cy="292608"/>
          </a:xfrm>
          <a:prstGeom prst="rect">
            <a:avLst/>
          </a:prstGeom>
          <a:noFill/>
          <a:ln/>
        </p:spPr>
        <p:txBody>
          <a:bodyPr wrap="square" lIns="0" tIns="0" rIns="0" bIns="0" rtlCol="0" anchor="ctr"/>
          <a:lstStyle/>
          <a:p>
            <a:pPr algn="r" indent="0" marL="0">
              <a:buNone/>
            </a:pPr>
            <a:r>
              <a:rPr lang="en-US" sz="1100" b="1" dirty="0">
                <a:solidFill>
                  <a:srgbClr val="D62728"/>
                </a:solidFill>
                <a:latin typeface="Helvetica Neue" pitchFamily="34" charset="0"/>
                <a:ea typeface="Helvetica Neue" pitchFamily="34" charset="-122"/>
                <a:cs typeface="Helvetica Neue" pitchFamily="34" charset="-120"/>
              </a:rPr>
              <a:t>AGC</a:t>
            </a:r>
            <a:endParaRPr lang="en-US" sz="1100" dirty="0"/>
          </a:p>
        </p:txBody>
      </p:sp>
      <p:sp>
        <p:nvSpPr>
          <p:cNvPr id="23" name="Text 21"/>
          <p:cNvSpPr/>
          <p:nvPr/>
        </p:nvSpPr>
        <p:spPr>
          <a:xfrm>
            <a:off x="83210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「突然、最大の発電所が落ちたら？」</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周波数の急落と自動復帰を秒単位で</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再現 — 制御の仕組みは電気学会の</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標準モデル(AGC30)に準拠</a:t>
            </a:r>
            <a:endParaRPr lang="en-US" sz="1100" dirty="0"/>
          </a:p>
        </p:txBody>
      </p:sp>
      <p:sp>
        <p:nvSpPr>
          <p:cNvPr id="24" name="Shape 22"/>
          <p:cNvSpPr/>
          <p:nvPr/>
        </p:nvSpPr>
        <p:spPr>
          <a:xfrm>
            <a:off x="822960" y="5257800"/>
            <a:ext cx="10607040" cy="960120"/>
          </a:xfrm>
          <a:prstGeom prst="roundRect">
            <a:avLst>
              <a:gd name="adj" fmla="val 5714"/>
            </a:avLst>
          </a:prstGeom>
          <a:solidFill>
            <a:srgbClr val="1E2761"/>
          </a:solidFill>
          <a:ln/>
        </p:spPr>
      </p:sp>
      <p:sp>
        <p:nvSpPr>
          <p:cNvPr id="25" name="Text 23"/>
          <p:cNvSpPr/>
          <p:nvPr/>
        </p:nvSpPr>
        <p:spPr>
          <a:xfrm>
            <a:off x="1097280" y="5257800"/>
            <a:ext cx="10058400" cy="9601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Hiragino Sans" pitchFamily="34" charset="0"/>
                <a:ea typeface="Hiragino Sans" pitchFamily="34" charset="-122"/>
                <a:cs typeface="Hiragino Sans" pitchFamily="34" charset="-120"/>
              </a:rPr>
              <a:t>この3つは本来、別々の組織の、別々の非公開データの仕事。ここでは地図から作った1つの公開モデルの上で、1コマンドで全部つながって動く。</a:t>
            </a:r>
            <a:endParaRPr lang="en-US" sz="140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事故を起こしてみた：最大の発電所を、いきなり落とす</a:t>
            </a:r>
            <a:endParaRPr lang="en-US" sz="2100" dirty="0"/>
          </a:p>
        </p:txBody>
      </p:sp>
      <p:pic>
        <p:nvPicPr>
          <p:cNvPr id="5" name="Image 0" descr="assets/fig_agc_map.png">    </p:cNvPr>
          <p:cNvPicPr>
            <a:picLocks noChangeAspect="1"/>
          </p:cNvPicPr>
          <p:nvPr/>
        </p:nvPicPr>
        <p:blipFill>
          <a:blip r:embed="rId1"/>
          <a:stretch>
            <a:fillRect/>
          </a:stretch>
        </p:blipFill>
        <p:spPr>
          <a:xfrm>
            <a:off x="502920" y="1097280"/>
            <a:ext cx="3977640" cy="4974336"/>
          </a:xfrm>
          <a:prstGeom prst="rect">
            <a:avLst/>
          </a:prstGeom>
        </p:spPr>
      </p:pic>
      <p:pic>
        <p:nvPicPr>
          <p:cNvPr id="6" name="Image 1" descr="assets/fig_agc_story.png">    </p:cNvPr>
          <p:cNvPicPr>
            <a:picLocks noChangeAspect="1"/>
          </p:cNvPicPr>
          <p:nvPr/>
        </p:nvPicPr>
        <p:blipFill>
          <a:blip r:embed="rId2"/>
          <a:stretch>
            <a:fillRect/>
          </a:stretch>
        </p:blipFill>
        <p:spPr>
          <a:xfrm>
            <a:off x="4617720" y="1234440"/>
            <a:ext cx="7086600" cy="4069080"/>
          </a:xfrm>
          <a:prstGeom prst="rect">
            <a:avLst/>
          </a:prstGeom>
        </p:spPr>
      </p:pic>
      <p:sp>
        <p:nvSpPr>
          <p:cNvPr id="7" name="Text 3"/>
          <p:cNvSpPr/>
          <p:nvPr/>
        </p:nvSpPr>
        <p:spPr>
          <a:xfrm>
            <a:off x="4709160" y="5349240"/>
            <a:ext cx="694944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地図の島の色 ＝ グラフの線の色。★が落とした発電所の実在の場所。</a:t>
            </a:r>
            <a:endParaRPr lang="en-US" sz="1150" dirty="0"/>
          </a:p>
        </p:txBody>
      </p:sp>
      <p:sp>
        <p:nvSpPr>
          <p:cNvPr id="8" name="Text 4"/>
          <p:cNvSpPr/>
          <p:nvPr/>
        </p:nvSpPr>
        <p:spPr>
          <a:xfrm>
            <a:off x="4709160" y="5669280"/>
            <a:ext cx="6949440" cy="548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小さな北海道(4.4 GW)は苫東厚真を失うと負荷遮断まで落ち込む。大きな東日本(59 GW)は3倍の規模(富津 5,040 MW)を失っても踏みとどまる — 系統の大きさ(慣性)の差が、そのまま運命の差になる。</a:t>
            </a:r>
            <a:endParaRPr lang="en-US" sz="1100" dirty="0"/>
          </a:p>
        </p:txBody>
      </p:sp>
      <p:sp>
        <p:nvSpPr>
          <p:cNvPr id="9"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0"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11"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西日本フルAC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66 kVメッシュ表現（並列回線・変圧器容量・無効電力支援）</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2026-08-29T05:39:32Z</dcterms:created>
  <dcterms:modified xsi:type="dcterms:W3CDTF">2026-08-29T05:39:32Z</dcterms:modified>
</cp:coreProperties>
</file>