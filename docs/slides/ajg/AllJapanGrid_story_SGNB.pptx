
<file path=[Content_Types].xml><?xml version="1.0" encoding="utf-8"?>
<Types xmlns="http://schemas.openxmlformats.org/package/2006/content-types">
  <Default Extension="gif" ContentType="image/gif"/>
  <Default Extension="jp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2" r:id="rId3"/>
  </p:sldMasterIdLst>
  <p:notesMasterIdLst>
    <p:notesMasterId r:id="rId92"/>
  </p:notesMasterIdLst>
  <p:sldIdLst>
    <p:sldId id="256" r:id="rId4"/>
    <p:sldId id="297" r:id="rId5"/>
    <p:sldId id="739" r:id="rId6"/>
    <p:sldId id="257" r:id="rId7"/>
    <p:sldId id="664" r:id="rId8"/>
    <p:sldId id="704" r:id="rId9"/>
    <p:sldId id="706" r:id="rId10"/>
    <p:sldId id="713" r:id="rId11"/>
    <p:sldId id="716" r:id="rId12"/>
    <p:sldId id="774" r:id="rId13"/>
    <p:sldId id="634" r:id="rId14"/>
    <p:sldId id="667" r:id="rId15"/>
    <p:sldId id="673" r:id="rId16"/>
    <p:sldId id="1344" r:id="rId17"/>
    <p:sldId id="785" r:id="rId18"/>
    <p:sldId id="1345" r:id="rId19"/>
    <p:sldId id="794" r:id="rId20"/>
    <p:sldId id="789" r:id="rId21"/>
    <p:sldId id="261" r:id="rId22"/>
    <p:sldId id="723" r:id="rId23"/>
    <p:sldId id="733" r:id="rId24"/>
    <p:sldId id="744" r:id="rId25"/>
    <p:sldId id="263" r:id="rId26"/>
    <p:sldId id="751" r:id="rId27"/>
    <p:sldId id="753" r:id="rId28"/>
    <p:sldId id="747" r:id="rId29"/>
    <p:sldId id="748" r:id="rId30"/>
    <p:sldId id="749" r:id="rId31"/>
    <p:sldId id="750" r:id="rId32"/>
    <p:sldId id="780" r:id="rId33"/>
    <p:sldId id="401" r:id="rId34"/>
    <p:sldId id="405" r:id="rId35"/>
    <p:sldId id="371" r:id="rId36"/>
    <p:sldId id="305" r:id="rId37"/>
    <p:sldId id="404" r:id="rId38"/>
    <p:sldId id="345" r:id="rId39"/>
    <p:sldId id="396" r:id="rId40"/>
    <p:sldId id="346" r:id="rId41"/>
    <p:sldId id="375" r:id="rId42"/>
    <p:sldId id="324" r:id="rId43"/>
    <p:sldId id="397" r:id="rId44"/>
    <p:sldId id="328" r:id="rId45"/>
    <p:sldId id="377" r:id="rId46"/>
    <p:sldId id="384" r:id="rId47"/>
    <p:sldId id="708" r:id="rId48"/>
    <p:sldId id="736" r:id="rId49"/>
    <p:sldId id="264" r:id="rId50"/>
    <p:sldId id="265" r:id="rId51"/>
    <p:sldId id="266" r:id="rId52"/>
    <p:sldId id="267" r:id="rId53"/>
    <p:sldId id="268" r:id="rId54"/>
    <p:sldId id="269" r:id="rId55"/>
    <p:sldId id="796" r:id="rId56"/>
    <p:sldId id="1341" r:id="rId57"/>
    <p:sldId id="1340" r:id="rId58"/>
    <p:sldId id="271" r:id="rId59"/>
    <p:sldId id="272" r:id="rId60"/>
    <p:sldId id="273" r:id="rId61"/>
    <p:sldId id="274" r:id="rId62"/>
    <p:sldId id="275" r:id="rId63"/>
    <p:sldId id="276" r:id="rId64"/>
    <p:sldId id="285" r:id="rId65"/>
    <p:sldId id="286" r:id="rId66"/>
    <p:sldId id="280" r:id="rId67"/>
    <p:sldId id="277" r:id="rId68"/>
    <p:sldId id="278" r:id="rId69"/>
    <p:sldId id="279" r:id="rId70"/>
    <p:sldId id="743" r:id="rId71"/>
    <p:sldId id="283" r:id="rId72"/>
    <p:sldId id="1346" r:id="rId73"/>
    <p:sldId id="757" r:id="rId74"/>
    <p:sldId id="758" r:id="rId75"/>
    <p:sldId id="741" r:id="rId76"/>
    <p:sldId id="759" r:id="rId77"/>
    <p:sldId id="294" r:id="rId78"/>
    <p:sldId id="742" r:id="rId79"/>
    <p:sldId id="281" r:id="rId80"/>
    <p:sldId id="282" r:id="rId81"/>
    <p:sldId id="284" r:id="rId82"/>
    <p:sldId id="287" r:id="rId83"/>
    <p:sldId id="288" r:id="rId84"/>
    <p:sldId id="289" r:id="rId85"/>
    <p:sldId id="290" r:id="rId86"/>
    <p:sldId id="291" r:id="rId87"/>
    <p:sldId id="292" r:id="rId88"/>
    <p:sldId id="293" r:id="rId89"/>
    <p:sldId id="295" r:id="rId90"/>
    <p:sldId id="657" r:id="rId9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F31F0389-87EA-3943-A2C9-DD62DA51B5FE}">
          <p14:sldIdLst>
            <p14:sldId id="256"/>
            <p14:sldId id="297"/>
            <p14:sldId id="739"/>
            <p14:sldId id="257"/>
            <p14:sldId id="664"/>
            <p14:sldId id="704"/>
            <p14:sldId id="706"/>
            <p14:sldId id="713"/>
            <p14:sldId id="716"/>
            <p14:sldId id="774"/>
            <p14:sldId id="634"/>
            <p14:sldId id="667"/>
            <p14:sldId id="673"/>
            <p14:sldId id="1344"/>
            <p14:sldId id="785"/>
            <p14:sldId id="1345"/>
            <p14:sldId id="794"/>
            <p14:sldId id="789"/>
            <p14:sldId id="261"/>
            <p14:sldId id="723"/>
            <p14:sldId id="733"/>
          </p14:sldIdLst>
        </p14:section>
        <p14:section name="潮流計算が解けない" id="{D3116206-7D37-6D41-ABAC-BBAA34926453}">
          <p14:sldIdLst>
            <p14:sldId id="744"/>
            <p14:sldId id="263"/>
            <p14:sldId id="751"/>
            <p14:sldId id="753"/>
            <p14:sldId id="747"/>
            <p14:sldId id="748"/>
            <p14:sldId id="749"/>
            <p14:sldId id="750"/>
            <p14:sldId id="780"/>
          </p14:sldIdLst>
        </p14:section>
        <p14:section name="タイトルなしのセクション" id="{6AD5E846-53FB-0F49-A9A7-C802AA4DA753}">
          <p14:sldIdLst>
            <p14:sldId id="401"/>
            <p14:sldId id="405"/>
            <p14:sldId id="371"/>
            <p14:sldId id="305"/>
            <p14:sldId id="404"/>
            <p14:sldId id="345"/>
            <p14:sldId id="396"/>
            <p14:sldId id="346"/>
            <p14:sldId id="375"/>
            <p14:sldId id="324"/>
            <p14:sldId id="397"/>
            <p14:sldId id="328"/>
            <p14:sldId id="377"/>
            <p14:sldId id="384"/>
            <p14:sldId id="708"/>
            <p14:sldId id="736"/>
            <p14:sldId id="264"/>
            <p14:sldId id="265"/>
            <p14:sldId id="266"/>
            <p14:sldId id="267"/>
            <p14:sldId id="268"/>
            <p14:sldId id="269"/>
            <p14:sldId id="796"/>
            <p14:sldId id="1341"/>
            <p14:sldId id="1340"/>
            <p14:sldId id="271"/>
            <p14:sldId id="272"/>
            <p14:sldId id="273"/>
            <p14:sldId id="274"/>
            <p14:sldId id="275"/>
            <p14:sldId id="276"/>
            <p14:sldId id="285"/>
            <p14:sldId id="286"/>
            <p14:sldId id="280"/>
            <p14:sldId id="277"/>
            <p14:sldId id="278"/>
            <p14:sldId id="279"/>
            <p14:sldId id="743"/>
            <p14:sldId id="283"/>
            <p14:sldId id="1346"/>
            <p14:sldId id="757"/>
            <p14:sldId id="758"/>
            <p14:sldId id="741"/>
            <p14:sldId id="759"/>
            <p14:sldId id="294"/>
            <p14:sldId id="742"/>
            <p14:sldId id="281"/>
            <p14:sldId id="282"/>
            <p14:sldId id="284"/>
            <p14:sldId id="287"/>
            <p14:sldId id="288"/>
            <p14:sldId id="289"/>
            <p14:sldId id="290"/>
            <p14:sldId id="291"/>
            <p14:sldId id="292"/>
            <p14:sldId id="293"/>
            <p14:sldId id="295"/>
            <p14:sldId id="6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53"/>
    <p:restoredTop sz="94610"/>
  </p:normalViewPr>
  <p:slideViewPr>
    <p:cSldViewPr snapToGrid="0" snapToObjects="1">
      <p:cViewPr>
        <p:scale>
          <a:sx n="134" d="100"/>
          <a:sy n="134" d="100"/>
        </p:scale>
        <p:origin x="160"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theme" Target="theme/theme1.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______.xlsx"/></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Sheet1!$A$2:$A$46</cx:f>
        <cx:lvl ptCount="45">
          <cx:pt idx="0">米国</cx:pt>
          <cx:pt idx="1">日本</cx:pt>
          <cx:pt idx="2">オーストリア</cx:pt>
          <cx:pt idx="3">ベルギー</cx:pt>
          <cx:pt idx="4">ブルガリア</cx:pt>
          <cx:pt idx="5">クロアチア</cx:pt>
          <cx:pt idx="6">チェコ</cx:pt>
          <cx:pt idx="7">デンマーク</cx:pt>
          <cx:pt idx="8">エストニア</cx:pt>
          <cx:pt idx="9">フィンランド</cx:pt>
          <cx:pt idx="10">フランス</cx:pt>
          <cx:pt idx="11">ドイツ</cx:pt>
          <cx:pt idx="12">ギリシャ</cx:pt>
          <cx:pt idx="13">ハンガリー</cx:pt>
          <cx:pt idx="14">アイルランド</cx:pt>
          <cx:pt idx="15">イタリア</cx:pt>
          <cx:pt idx="16">ラトビア</cx:pt>
          <cx:pt idx="17">リトアニア</cx:pt>
          <cx:pt idx="18">ルクセンブルク</cx:pt>
          <cx:pt idx="19">オランダ</cx:pt>
          <cx:pt idx="20">ポーランド</cx:pt>
          <cx:pt idx="21">ポルトガル</cx:pt>
          <cx:pt idx="22">ルーマニア</cx:pt>
          <cx:pt idx="23">スロバキア</cx:pt>
          <cx:pt idx="24">スロベニア</cx:pt>
          <cx:pt idx="25">スペイン</cx:pt>
          <cx:pt idx="26">スウェーデン</cx:pt>
          <cx:pt idx="27">キプロス</cx:pt>
          <cx:pt idx="28">マルタ</cx:pt>
          <cx:pt idx="29">イギリス</cx:pt>
          <cx:pt idx="30">ノルウェー</cx:pt>
          <cx:pt idx="31">スイス</cx:pt>
          <cx:pt idx="32">アイスランド</cx:pt>
          <cx:pt idx="33">セルビア</cx:pt>
          <cx:pt idx="34">ボスニア・ヘルツェゴビナ</cx:pt>
          <cx:pt idx="35">北マケドニア</cx:pt>
          <cx:pt idx="36">モンテネグロ</cx:pt>
          <cx:pt idx="37">アルバニア</cx:pt>
          <cx:pt idx="38">ウクライナ</cx:pt>
          <cx:pt idx="39">モルドバ</cx:pt>
          <cx:pt idx="40">トルコ</cx:pt>
          <cx:pt idx="41">モロッコ</cx:pt>
          <cx:pt idx="42">チュニジア</cx:pt>
          <cx:pt idx="43">アルジェリア</cx:pt>
          <cx:pt idx="44">ジョージア</cx:pt>
        </cx:lvl>
      </cx:strDim>
      <cx:strDim type="colorStr">
        <cx:f>Sheet1!$B$2:$B$46</cx:f>
        <cx:lvl ptCount="45">
          <cx:pt idx="0">公開</cx:pt>
          <cx:pt idx="1">非公開</cx:pt>
          <cx:pt idx="2">公開</cx:pt>
          <cx:pt idx="3">公開</cx:pt>
          <cx:pt idx="4">公開</cx:pt>
          <cx:pt idx="5">公開</cx:pt>
          <cx:pt idx="6">公開</cx:pt>
          <cx:pt idx="7">公開</cx:pt>
          <cx:pt idx="8">公開</cx:pt>
          <cx:pt idx="9">公開</cx:pt>
          <cx:pt idx="10">公開</cx:pt>
          <cx:pt idx="11">公開</cx:pt>
          <cx:pt idx="12">公開</cx:pt>
          <cx:pt idx="13">公開</cx:pt>
          <cx:pt idx="14">公開</cx:pt>
          <cx:pt idx="15">公開</cx:pt>
          <cx:pt idx="16">公開</cx:pt>
          <cx:pt idx="17">公開</cx:pt>
          <cx:pt idx="18">公開</cx:pt>
          <cx:pt idx="19">公開</cx:pt>
          <cx:pt idx="20">公開</cx:pt>
          <cx:pt idx="21">公開</cx:pt>
          <cx:pt idx="22">公開</cx:pt>
          <cx:pt idx="23">公開</cx:pt>
          <cx:pt idx="24">公開</cx:pt>
          <cx:pt idx="25">公開</cx:pt>
          <cx:pt idx="26">公開</cx:pt>
          <cx:pt idx="27">公開</cx:pt>
          <cx:pt idx="28">公開</cx:pt>
          <cx:pt idx="29">公開</cx:pt>
          <cx:pt idx="30">公開</cx:pt>
          <cx:pt idx="31">公開</cx:pt>
          <cx:pt idx="32">公開</cx:pt>
          <cx:pt idx="33">公開</cx:pt>
          <cx:pt idx="34">公開</cx:pt>
          <cx:pt idx="35">公開</cx:pt>
          <cx:pt idx="36">公開</cx:pt>
          <cx:pt idx="37">公開</cx:pt>
          <cx:pt idx="38">公開</cx:pt>
          <cx:pt idx="39">公開</cx:pt>
          <cx:pt idx="40">オブザーバー</cx:pt>
          <cx:pt idx="41">オブザーバー</cx:pt>
          <cx:pt idx="42">オブザーバー</cx:pt>
          <cx:pt idx="43">オブザーバー</cx:pt>
          <cx:pt idx="44">オブザーバー</cx:pt>
        </cx:lvl>
      </cx:strDim>
    </cx:data>
  </cx:chartData>
  <cx:chart>
    <cx:plotArea>
      <cx:plotAreaRegion>
        <cx:series layoutId="regionMap" uniqueId="{1CA4F435-1350-2D44-B3F3-D312CF56058E}">
          <cx:tx>
            <cx:txData>
              <cx:f>Sheet1!$B$1</cx:f>
              <cx:v>区分</cx:v>
            </cx:txData>
          </cx:tx>
          <cx:dataId val="0"/>
          <cx:layoutPr>
            <cx:geography cultureLanguage="ja-JP" cultureRegion="JP" attribution="提供元: Bing">
              <cx:geoCache provider="{E9337A44-BEBE-4D9F-B70C-5C5E7DAFC167}">
                <cx:binary>7H1ZjyTZdd5fafSTDShy4m5xbxAcAoyI3Kqy9t5fAjXd1bHvexgGqC5BFm3ZJiBQsizKsEiTEkVR
lEwZIiUZ/DGlkcR/4RNZlTWZkZlV1ZwymA/Kl5mumxF3+e7ZvnPuza++rb/y1r84T5/UgR9mX3lb
f/rUzvP4K598kr21L4LzbBA4b9Moi97ng7dR8En0/r3z9uKTd+l55YTWJ1hG9JO39nmaX9RPv/ZV
eJt1Ec2it+e5E4UnxUXanF5khZ9nd7RtbHryNirCvHvcgjd9+vTqw8+uLv/06vIfuv/58N2nTy7C
3MmbZ0188enTle8+ffJJ/41rvT/xYYB58Q6epWigCFkoCqZPn/hRaC3+TgcyFlwgIdT5Ryz6PDwP
4LmPGNB8OOfv3qUXWfbk5r8bXrAyiw3tThbp14uiR93Ix8P5VD9ZXfSvfbX3B5h87y9LuPRX6r6m
dVi+e3X5ozkmAM6fPyoyWAxk+GBFuQZAVVcAwoPuzwIr3Ze6D+oD9DFD24bR+jvWYFr/Sh8p480O
IHX5m1eX37+6/E+PLUCEDAQlKpU5WcFHHVDAhHD1Gh1Z5j18Hj6gLeD0X9BHpt/eh+XZ4S7AMt8+
l9+8uvzWYn0eQanxAeguFUSDXa8+XoEGJIspXFZpX6ddPmww2/BYfnoNjOXGPhIHxg4g8eEHVx9+
cnX5w6sP/+vq8j8+IhggCYIjlQMi8w8IwpKhIWiAORIEMfm6uQ/Kw8e1BZf+C/rQ9Nv76Dz/+i6g
c71/vjXXYI9r/zsR2WZlkDo3MwoSdAs6Dx7XNnR6L1hDp9feR+frsx1Ap1McP726/O2ry/989eGv
ri5//IjigwecM6ZgfGNJVs0MAIRljCla2Jm+G/BRQ9uC0YZ39GHa8JU+Uge74LBdfufqw8+vhejq
8u+vLv9b579d/tbVhz+9+vA3V5e/97iqjw6IzAjl4CDMP6DbllQf4gOmKohyBr73tUN/41x/yVFu
g/Ehc18D9iEP9aHWdkVl/sncK//R59/6nX/5k9/+/I/+72Kdv7yPQdQBkwkDaPm1j7Eql5KqDmQw
awq4htfY9zH+ADrjY4a3BdTNr+mjuPlbfdien+2ILv3x1eXl1YefPiJaaIA4FhjJN5K4GkxJfEAI
hMBi0aqueeuA1gNGtQWkTjvePt3HZqWxD8nBTkgSKErQkr/3qPEtpQMEuhEhsQhwV5QjlgeMIVCc
C7vXN2wfHjaoLYisPN1HZKWxj8jpLggJyDO46Z0l++Hc8/jm44mKQgeqoODw4VVHXUJigGSmygic
+evPotMFJfQxg9qGy/o71tBZ/0ofo+lOYAQA/eXc/vx8sVBf3uwwMlApEQQvNNWqSyFhkBqZKXQR
+coQ+q64Ft22ecCotsGz/PQaMMuNfUjG2g7Ylk5g/vs8wH1E20LlAQGpkJWFWPQgIQAJJQpVl9pX
IXnYqLZBsvz0GiTLjX1IhjshJTBCMI1/+OiBrTJAsOCUMbLJP0N0IMD8wOcL67MGysPGdQcuyy/Y
BM1yex+ds+mOCAwM8ltXH378uMZfDDiYfkb4KjUH4SxlWCiAyjVqa1b/ers8YEB3w3L7gi2w3Lav
wbK/A7Bc/pd52gEYuy4ntNDwj2BdgO5BIBOyLG6XfzlglQecCFVR+xzdw8ezBZX+C/qo9Nv7qBwe
7QIqf351+TsgJo+tyhgbkC6IFHRjqInJgLPFHlgQCA8eyjZAei9YA6TX3gdk9mwHALn2krvQ5YeP
7SUzPBAKQ6qCb8zLqh6DgFLlYHxUvsjPrSmyuRf7wLFtAWnD/Po4bfhKH6rpTvByANI/XF3+j8eW
HcogmmEYUeBP55/VoAZTSH8zFeNb560vSA8e1xaMOoSXJ9YHqN/eR+d0FzQb+M3zcHOxOF/e0lBl
IGQEUQw4zvMPWYn+xQDkSlWowq5RW+NjHjKiLYh88Wgfiy9a+ijokx1QZ5f/tdNiH/6iiykf0+pT
PkACcSY2Z+jAJ2OyIqsENNr1Z7ENFsbmwePagkh/Yn1c+u19dCbPdwCdbvPcOGRXl/8BkFqs0pcX
FqYOFE5VjtmNEluNMCGWYVgWTPCFtCy6XhAzHzO0LRhtmF4fpg1f6SN1thO25o/ndCa4aiBKP1qs
1ZeHCVICClDMKmerRqZzBqABpGtB2qyxyw8e0RZ0Lnsv6EPTb+/jcrwL7ho4z2ANH5X2F2D9VRnS
pxtJAMIGlBAsg5lZ7IKFSnvAULZBcfvoGgi3Lf3lf3a6Awqsc75g+X+xWIpHEAg2EEIAw8+hFqr7
rBp50FuUyhgJFf6+Qr48ZCjblv92FmvLf9vSX/6DXdj9H/5yzhX/7dXl9xar8QgIgACojCgQtK/4
VxiBYHCOMDi/808/on/gaLaAsPJ0H4eVxj4U452QBAgXQVYfN9/FwOOlskIFMMELN2qJW4FIhAMd
BjFlP1LsgtcHjGYLFCtP96FYaexDMXuxC0rp2zfB+4dHTKJA8NEle2W1l+LCQD4KwGDhB3clt6t6
6WGj2QbF8tNrUCw39qEY7YBU/NMffP+fvvMXiwV5BNUEIDCKGOM3Ti0s9pI8QOksUCgKFD71bPP9
49i8/Ivnegu/+HN/yfeOd2H3g1sH5MH/D/YKI6ZCZdLGAlmI+BChQJnceE1rteWdO/mwcW3G4qr/
gh4oa+19dI53ourvN+dlY48Y6FEV0iLAiUBqZKPDBEQwEV2m8YZVXDMVDxjRNkRuH13D4ralj4K+
C4X9H/5sXgcBFhJq+7/7ePqJQYqK4c4i3yw2XtFPuMMCqi453pZAfPC4tiDSn1gfl357H53hTsTa
HRMy53Xh6NJPHhEd4HWhaBlyuPhaUlbR6dzeeWHRWmTx4PFsQWVO7SxNqI9Kv72PirET+cNvX334
3hyYRzctChlgqnAQm5sU4iowIDYqllW0EKp10/IxQ9uG0fo71mBa/0ofqdFOJOCB6r3G6BuPKDwY
MIIiIU438okMvGMFTseIhWPWd4M/PGxQW9BZebqPy0pjH5HDnbD6vz+nSeYs/GPaG4oHChwiA75q
1REGiaGCdQc0IYRfjUYePJItSFz2XtAHo9/ex0Mb//p95M9/9w86bfzhr6+6Q2SP6wJ0h2Oh2hGy
g5tDdjTgSBFEQFw///TcsY8b2maMNr2jB9Omr/SROtgJq/OHc8kBnusxS1bkgULhDAWU2W9yBCC/
C0l4SO/eQLRubx42qM3ozOvWgDO9nlIPl9XGPiLaTnhnMPafXHXlzuCjXSuDR/TRumgGyBRMF0cg
VtNWygAIGKKiRQZ4HZqPHN02jDa+Zg2sjd/qozZ7/uvXeFedjQRv+udzWvBxD51DKhjSiDKX6WoK
C6h6kCBVCHJDGPRU3ceNaQtQG+bVR2nDV/oQfX0nyHwohf7FnM9/xIiUQiUxZlDfvWRvlhkzDAcq
OmZZ9Bizee3GA0azDZbluawBstzYh2K6C1CAWwC1K5e/tXCevjxzyRBoLgT5EyiKmH96sgL14HCl
hqzcFnwvul4kFx8woi1YfDGZPhBftPRRMHbB0kD98CU4alBF/PPFanx5IEh3VAVISji6dW37Idpf
Egi4mgFRhoi8jS574KC2YLHydB+OlcY+IvrrX78V+ee//um/nocE47l8NrSP006chwQHrRMbqCoG
HvYxrQkQmEDSULol/wIsAAMCFPXzL/NbIh42oG2C05vRmuz02vuwTE4fQ3y23wp0e1+ScZ6fD+cX
LS1dDHR363zKcAlU79GbwH2jyruO6afvPn0KBV4yhWw9pOWBgAFoKFABt9c5da9cIQD+3enwbHj6
Ymj8+ycvL7L8Ig2fnDWpc75QsFtfeXGe5Z8+heoXlcCBWLiiBsOBMpmAT1fBe+YtHfIQMoH6VBTQ
n0+fhFGa29BEBhT4u+5SKBkTOPwMvkYWFfMmuKmAUuDEgd2D0gIq6O2VWMeR31hReLt0N/9+EhbB
ceSEefbpU9x1H19/b+vA47fnp3DvFnwd/UaaFyT1gxTpVmAyLWVsYiHFHjpR3E6c3KGaU5X2OGLl
AfOlE5eWL8xCMQoLTTNG3T2Z2J6WFuHYT9lhUXoaJ55RqNmhl2T+GyFqUy8l6mpBo5gaxhYel7Xy
kqSZrTm+G+01yEGaSBt6JHuqM3Sd9r3PrNdUssNR04pqJvlmpYV1o8t+cFrFPNYCzzZPirzxdF5G
dBojP9bVHHlaU4VGpaq2qaWqU9haGaXJaYptRbNrVGpO4dTjpgoqzeeo1lHojqKaD9OwOMgCQUdq
Gb70XDs+pg5pdCZyR2ud9FlEybmdOodhoJzKNi81Jqc6SYStw5cPI8IP28h5kavOiSuhGeT6DmwH
j1PWtMPAy4oZK0Wql4xUhnDjVmfYLYyUq2MqF3gYZvIBiYP3sumaemq5SKc1ngVFO2tauTYITRo9
KEWhVbJ8kdn+eWYqh5ZdZ5olJAnaJU8XdcpGdV5lupuJqR+zYoh4Y83CmNVDVDa6nXn7JLY83QzV
M8/0p5EqjgpsteMgj+qLNEveQ0yS6TazmOZ7zTRHvpF5ll6F4jw266nphZqJjQjrbuIGGhyjGFYm
Pwod/33RpK3mxkWuK2EQaZin8ZHSRiOr8GWqua7PDWLLVaBnVp5NcSM3mp9K9DBMvUAvZTcdU1hC
rchoOjTlehJliJ9V6DMeNq5e2Jmz1zj2mW3hNtJEGMQay9PSqAHjImrdl47TPg9sPs4cC1a5UMxh
EtbRcWPTaJanVXXcMk/RSqmS9towe51ltjoOYthx3H9bhiQZ5YGp5TY2h5SVfE+w1jXSpA73M9TM
uCSHY6msn2d53OjIywXVcZzoNS60yJW1GPsTlQdHnps9M1E7hNvgDFcuNDd9HxbOyMkBEZKPExUm
mBVEL0J7WMaOZlvxNLIcPW3eJA3SvCIxIknRsyY8yUM0TtVYK4N4P7GwHsqvyyjTVLcesjQYSqal
1wTACBMjcRkIh3pcC3/M02PZrsdVvueqzkg99Aqh+UqsKeQFddhBWDtDU8iWJknoiFOBtbyyhjJP
9bAsx+lKNL6iZN5GMahCy765eu/2n187WNznN78W7ou/r/7zi1vjOq17e4VcT6tfX+63ReXf2fgw
e9BlehFXIYOy3QjMPQOgbv7nnBP4P0/+zT//zR/949998x9/9uN/u2wHvnjVtfKHM0VwTFiBW5ko
g6IXMDYL5d+1QHijKBxKwjEcv4fo5kb5AxUtVA5n8wgcRbopzbhR/l0TvIZCTT/YjO6I+McofwR9
LOt+MCscLtdQOYXzZuCjcBjdsu6XijaqpMgmRpJbe6RB6rBxTcM2SWvILUZDZrvesGL2mYp8TWqV
alLKVm4Q5o0os70Ra1EzqS1lGrZyrmdMRPqyT/Elt1J3q+Ri/33tKL4Iz/L04iI/OI9Xd9n1vrr9
6m5sOmAY7txvl3/WsbiX3wDO8PO//eN/+f4vPv/fP/v8O3/1+e/+3ba9N3/jrc/BOIGrwKAiEUrW
l7YdxHICMoYM6qQF3KoCZdS32450h9qhXqXLtRO4U4VB08LnQHA0Dm71gPpquJeAwX2VH7PtgLtf
3XfgfxE4tNVdygMXxME5e1iK5X2neCWJbUeUOlK9vdKkL3KiFMexU1OjiD1roiRtpZUVRxqL/HZf
tPUx9tNoFAYy12vIuKWaKK1CA3ZgVsgpHcuSsDTVI+1xpNB6UjtuYmtgSemYUbCiudzsl3Ihj5xA
ybXMT0wty0En4ixBRux50bAITV9XFYlrcMh8P2182OU4idiI2Ll0WLX8hVSoYiiVjjTKS8V9bzYR
OsI5ApdBatBxVBDpBLdKelxUjrzHlSoAw597gRaFTUl0tUztlyiwszc8NuzyEJwDMH2ZKA7MOhpy
pVPc5UVC4AG74KeWDMbdQe07ggtJU4ISjG7VBBpN32DnFS6cM8XmM5ulU+wHY9ZkU2pPvXMT4QMm
1ccsCs9NJXkTtslnaRruRbgY+lzdr8x4FvF65FTxMbeUY2SFx0Eo5Roj7aQy0bO6sQxJicdgRyt+
HAr3zE7js5CngYZDfoitYGiBvwZWa5il1r7n18eVeOU6YOQd8F9SfyxqdaZk9aysEqMKCzBBkfQm
yZVCy3BwkmfWmdqkqcaZ+yavk1OWBy8V0c5sj+83pfnai9qXVeZPTZSPmyh7zko8tAo+InF40ljp
iCumrYeWxTUevc6CYVUT2CSSeVSWUaMFkguO0mviz6zkom5aI0rcmZdEpzhyIy0OrH0eqaM6yB1d
WHifIQYjccSBjYL3CVwypPmupkjqYZymkyQTRziBHkVktLxxJ5Zwp63LdFZ6Ru4eqY4mC3RUWGyY
pOZ54IXvQt4aUn4iYffItb1h0+57ladbaMLwcRFmhpSO2vZ1GU6FXb+wUcu0nKRG2UhngYzP4whP
PHJEUePoLU3HquqPM/BANInnryRfGqVSO8qs6Dkzn0VkTKl/miJTq4t6XGB3LEm6azvHjmRNJZWO
U+wO1Qofkpwd5qU4xKEYJdGLNntphsWUpumblptGHLAJjb1hZCkHTdnu8YC+cVLr2Da9cS37R42E
sEYj6ClRUrASmW4Rfyp5b7IS7ZlxOWExeOFyo9cN7E6IG7RSjBOMDyDvbR2KGu0Fsf2G4XPYQftt
mo1QKb/28GtXnCIbcEomoWkmWlBW7x3JP5G96iwsiVEJe2x5iSbXZMrDV6GUYC1U2D4V0lDE+YxU
6p7L4+dOwQzwzfSaH2SE6cIrRik6VYvyJXL5iFYHghwUbB+iwFireDNWm3pW2N5+qrwQEsQulj8i
XjakjaXxkIyxkw+zzHqj+n6rsdA8afzqjHfCZwv1GSonSXFKk4ugoQZxR2mAjJC54HmXOosSrRJT
JU1GQs5mJHJHSqweRIpaa94kjUK9cmstcmwdfEstjfgw9z3wzoIjJqWvfM4mDTaf81AaZnE8k7yg
1ZGknpQx25eUk9JKYBnwOFKtKQbHrWrHYZAOm7CcZCwDK/2moew4y7PMsDJ/XNXyCzMpD6EC7qWQ
6VskXEuPnWrYhmmklfmwTg6YEjkwZ2ucZ3Gl8XhCrT0w6LSUXmQ51QqI1DTLrYWWUvW5rMrHRE11
XyrADcicUE/Bt9UU5I9q9FkjmnGttIal8lGbjhPYvqmsDLlXvsCyZYFWMN/bZqurcmvqeeTtq643
LYjLtdgy9+MwfBfLRAaFbga6KNhExnQvbcuRYldnii8qwxeoHMIV0Y7uxb76UoRxBpo/fqOadjqj
thsfpLmf6BmX91WmHhGpnSWNpWq0ktz9Rioh1jFBWjkn9pg67ju7KI9M5M8UtfI1kRXuvhnYJ0xx
mBYhBJuDTwJ4VIsVnms5wq+9sD3LmX9eROVh5vv2fmKn0jDPQ3nCPFTO8hgzXWlocEjB8pyyIMPH
VUPQIZZfme6QZaZvwBUNRuXKuuU8ty3FMeLMghgrT9BYOHyUqQeV6pz7fqpqXhy0exhVnmZlE5M3
J3mQxWO3iZ5LQTv0/Hjse0G+D5GJJ9iRG3rTvPZcjVuWo2WpyQxsVvuqL6sTtZZHapREw8RyXoLO
9/WgOcOm0RaKM/blaB+74lVil88jakqanfLnqZOYRgVgedxrjCIpZkF47ATM17BjUp0wVOpZUO+V
OHpXleXbtiDP7LTcD90q0U3Lm4hQPqISBPdQevkqVmLzPE55oduSo+UOSEe9F5YGiLmWWXaoRz5u
dbuILcNXS1fLQxCQqkhfpgVJdDlIa61CylCW3ZeyUudTibjWVKD6wG3PObZfVQ18C2t16o6DQGgi
8FojdKV3soeHQalqjtSO1TCpDM8izajJW0tDzD8Mu2BOTSxN8Zlelu0ruSDvpSZJtRapmZa7ngMG
0TI1pU4LrajpDOidmeebz1BrvvEq80SN7cMyVF9VtDqvVHwM1dcjQvN3dj1N8KkVVbJhq9IsB6P0
rEpoOHZlGYJ1Vsp7lS0JDUeyM64iJdTsWAlmEhAHmusVkSHVFQH17Z8R36rB5CeOXvrZYVq2yZhm
LBmZ3Yr5Mld1rPrmKPJRcZDbAmS6yV+ECSVGSX1zFrg20cDtt2aO7R04CtjvUljxK2b6YOBpUl5Q
KecjEcJuqItUMYA1EBoQMPkez+13oVKZ4E61M4UzU1dax9NcFJTT0GTezM4U7zBQGnnsUJSPRFp4
mpzlQmvcWLOKdIKDNNYKBKssOHhLrVpqiqh1yF9n40oBpohIRJeLV3H9OnHozGKxpAeqeUw40ATE
kvfAvWCgp8QzKVePMj+d1qBGiFxN0izXojpPgYGQDy3vMzVSFS2zrWKIWXMoquQsaYSnQUzja7In
nXihaQ2BXnkmeyEwTa4hbBO4mKS0RzEJz5LanrUhcC6+lPs+hO3xnsIKsR/mbtrquQTUTiyy+iAX
tX8s0k57Jp5CdDdX6ShCEK4HTgurRvZimZ0IqxHTyo5f5ZJkjYgzyWRXOm3hMrznUDrRtBpRYyAN
5LoqDIta5rD2AfEqyYNxEvjZ2E7IyzDmfFhm0vvfCCJgFaWS1LpD+JlU5tNGDmpNSDnTEqmYJpIC
25r6Wh03BzjFnzlZYOASvyvA0aSxqWMnHP9rMJY3HQsKN7veGYx1aYEfQunGL3/w+7/89t9CQueX
3/jeLz/8YDnyn7/iJuhXusxkF34B20qBab5lfCGlyQjDlAsZ8xtadxH0Q52GosKlPIyrHK5UQjCi
RdAPJWsEXV8ODHfUwlmyj4m+uph+ie/tYn6CEeTqusu5IdiDapGV2EsNgsTHLjZgLOXIo2o4dcxQ
0ZYW6CZuX+aVIVZc64UCDwhl9sAtoO601XIvglQOidMCG1hmqS5FFXkjFUU0sXPZmSHOJS0pwaNs
c5u88Cs3uj4mcv0jBBu67wLI3iSBIocPZF2AdOe97v3WCSITLLJRAR87lAI50mMEPAdJY3HPTLv1
Wu+quwALA95wznJ1pgT8AYwliFz9RB3RoH1WdWYlcMEjbHnmAPcYFlqOndd3L/AGGGF9GeUAIvwP
6ULsZdq+TCXmBxLM0HZNLTBVaRSbZnkt8lvXETIQa5Pr+CaCsAxMlNqbnIeJ0gqTMUOWbGfW1H74
RoJ+NeQEdCZ7XvH27lnN90VvNUFeIPPBlI6PEr3dqcZJhIqKE0PNS6DoITycSi5Dlt6aOEqN3JfM
Qle8gI/ARVXeV23wxpGjcBSHKL6mMbfOHfVYik5SYCxwQAd1CTzW30SZ00D+xbaoEZRlrGGFG03t
HJmBYlhmaeqkbRs9MrMDBmOewtXrWuFEyhvLrcDEykWi3700G7b0ymiArlwGXASZ7KhUIgaTcGC0
LDuXTbCVcpTJ9j1besPe6q4MVeHufgq1Y8D2rHSVUw/o4TrtpCdTp3Xinflxhq9rH7cu78b5wKrA
IRxQicCDrnbi8wYVYYgBaZDUPag+IBDGufbEa834nl18X1e9TUVNMOCKC76RzG1bt7itaryID3Ir
84Z3g7Rx5eDAF1RJgrRAPevqpIhstTQDjWTEdZYOIy4n+xUpxEdvBSga78rK4UZ/GWr8u/kuyb7n
ljmNO16CmUSehkHbTEvPD6ZmUWS/QleQYoRfDSBwNQYcV1vtygaYzJACZxVUQf4icC1p0ooAv7Ay
Mz342LUDShJ2HFgm0t2x0d91ReQmqSrHRlPxeGxHKbiNflrfg1C3rVYVDEAD193iuWkA27A6oQYi
cplEKDbAeqMLJSPuLGsVVZeVTB5XUOH6mYtLc3L31NY34GqnnaZZAqyoeRJws4oNxUQCqIek1BVX
hugS+apyz2Zf34IdVIhR2IYMz92S5b6iJKkpS5UMEANKM6/VZC+huXld879VetcNA9yyAWdPYPfB
RXUQzK3OCPhjPzBLlhkhktCEZDGfAA9NIWQJYBmRxK5/FWVrfxtgYwh393vANf1wYKK3OZhfc5uk
qDDaLMGRFkLiQjd5He/XatjsJa5SDFXTiu5RhBtwU7oDmp3HhgjGPcXBI9siamAXBvj4EOGHabDn
QwIfErkovWeCGxZ0/hNE0AkoXix6C2rbSVlbdQkTlIGeiFhanMmtI4worpMRtVVR3zO3DaYWrCzc
rYbAb4Ff2GK9yWWWl9U4cVLDk12i4SwPIX2rJCzR/AoSlqaTYGBDo5Sdx5xCshYqBfITFVXJiaMm
wN3fLSJdbz25BL+3c9UEpL6g0Hx1Qzl56PHAz1OD+cQUWp37KByiPPcazQ6t5DRzm4BrTa2gVndd
5NJ7lmPDBgO9DJsZ0m6wIKynF8owA8rFhv4LNTdHJJRiw6+y3PAzdF64qj1Niiq/Z85r20uBMKC7
HQL0Hvw2SJdwWRbVSlSozfOsMDDUIgyz0gk1LxKS3kThxd2ruw42dAUHKCBeh7l1d+SudhXnxBJK
FhTAyaPUNwKOzbGQTXWaKjmRIQqtKPDtQFa1TUa5jk2bT0VFiz3uAwlh3D2aDfMmMsCswu+ewey7
UGdl3qHf5gWWMiMPUqZxiUMewEf2s4RF7j1GZU2sFCi4gYAHbgvqtjnuad42FI0psSA3Yjmyh6nj
cj2WrPq5aZv1yGoK8eruqa1pX+ivK/OB+ydU8Jh5T4wVqXR5aoLGSG1VfevVLRqpeSpN7+5lvkIr
0gLdELhJDBLBUHs5z+Itr6BbmqbTsgqmFXvmPspUoKwiL/KNXHIw2muA3x96dZFpbk3sUZNYLvCx
tbNXxSI/DiTPSiBvYNFZC0Uuw7vHtmkFGBSxw17DEMrOc39Ltk7BfikpIeQ1IAko75WE1KM2As70
7l66/dpbAFDMnQsEXShwYfrqFnIKU7J81mZG4zmxrdtl682c1rMgpZEUeEwk2T3IQKUaODKlCXNU
VbpnE6+HB4oMdVjAGkOABP5EVz+wjIGVIA9FZgmcuw18I4LMlJGYYaRXEWb7hZ/kWuDbGdDooubP
YY+qx1lVBEPhZZ6B2xRNgDRy7zHLG5cF7vOHVel8975GsXCEuRcWIFlm5MRDGssQKzSVnHMdjJk3
IVFWT0wzS0c4zCHbHyPJvEeprSlSWBYorVMhLoVbWGjHrCwvS+oLyEDybmu6KDmKYTU0xWuA8YeL
Qt63kqhhj7boHjFfr2RQSHcjOzANcFy8C8VXe1UKuZasyK8Mk5OXND0Mo/xAmJIRShTSLJIOmegp
UaB4xm723XZUAmtO+LsyU42ssjVm5Xpgtdd3RD7cZ4H7lbtrsUDVwSVAwAOtjslWUW3LqdIYLCXF
zKsyfJjFKDmG5F5uSG6bHvGGx5/dLRjrCg+2pEoRHJeHkmz4MY7VTpskrAqhRLIRZhyyH++79FYd
B0MwbcHHmkz41RUoE0BwT77S3SHZW/OgomEhWuDcmeukJyRwiyEJw/DMg1LAiek7YtZCVcHe3fNb
3+Fdp13tAunsB+nmv6ReELWh9knAojoCVtHGobtntVk28ZuYhVoQCmdiylSGVK5aNIc5jtt7dO+6
8YJ+oTgTOH8IXJU+Q2HFCnNzz4EKmbQwdRsi5X2TR9nrKvXxPV2tq9LuJjs4kwpQwgr3SbTYjTt/
rG2M2mfmuyA0nRdhQV7fvaDr84ECVGB3QPzgonYoPFpd0LgqLMsS0EklF+lZglg87EqC3nppeh+v
sL43oSuIAqDgFWg38PJWu6oaO62R7TYGKlJ/qmQUCvEk5IDOznyi204DFRZ3T259BTsLCb8QqXS2
Ai5I6/UI84oKOW8ME+77mJA0kQ5wVbJ7VN7mXubhFtwdDU51rxfZgoRV7IOgS15tIJcleusG3uhX
mAv4x13ZDNSLo55kt0XpVLWTNYaPwHcJMlfZL1yrvmfPbcAIauHgbJpKO1KG9+TLK+QS2DUBjiKu
8TSKEmUaSGZySqltG3DIkNyzdhu2H4LbHBEwjLSjxnsOU+0VbuAw6C8QjrRHXElSIefsh1wL6vo+
87hpcvCjK5D4gt/iZXC0aBWozM+Bdc6kwpDM3DZcW4bEnPUe8ovHsHvCe9Tjhl0BcRVEEp2m6mzT
amcIClKVpBG5kaSJCjFTTvXcTorJ3btiw/p1sgSFhxgK2eHY4GovUVECRSmxwnCpdRGYDgVnh7zO
QSWNf5WOVHC3IGQEXdHb5FKRpgTFpDDKIglPkyqE8mCgu2ZmW3y8RoLdAD8Z0dlxKB7rxfqSCEpH
mHJhQP1kfEwiRoYSl+KzOq7JPRjhbnlW/ciO2/6iL7y6fC21sSU4hN1JDMnSMo19qO3mrQNptxCZ
JyTPSmUUSAhleqmmbQhuVFxDSW/IwfEjTRapOjdJAFljFpWt3lQ4z/UQlaLU6jCtw2eVFMYXKZQx
Ya3xgoYbQRt5/P+x9yXLdePomu/S62YFCU7AluQ5OpIsWbItD7lBpJ1pAAQBzgDJJ7hP0hG97hfs
j8qsaumUSorM3Y3oWmRE5WAckhj+/5tQvf5tHuGW88eAfR7LBypA+ErPX9kga+mC1lXpKsKDlPF4
My/T9HXF7deHlBl2yDmHpMEkW/COjIqf1jzp/sZU3F8mBH3IOAbB9fxdzisa2pVAnd0mUX8hCOrc
LszmC8BH6RtDvbCQ9zoPlQ7dd/b0bNavU9ci0sy7qm96fWPjOOHlKoLu3UAg7+9k3Gdv7FMvjghK
IUXLCkvGOW6Y2jxLnJ5clQA2uVTQK54GtvOvYubRTaw7eff6N31h+0hQqIDf2aWXCEB4/jajbUTE
IVk9lARtW1G2toUgWf3GzHnhsRKcWPhkj0XAnl/5tJyamoSvDjIGqMm7sKp9M1/1uh5OW6iG98G4
zW+M99JMxa1XNAX8ipboMYbx6YCmJnVG2mmpxOpdIdZ+Pm6C2KOr6/bT2jfBryb2dVDBI+3v1cDY
dzqjCPob6x41HMBLnASAnfarIZ/+DCHarInFulRhNkWHQWt7GQBTh8wgkfO7JWnk+9hSd70SSco2
azPIQpaw9MGWALSdu7uGmBAI5JoUG23NUfpRlqsTbdVwLMXC9uCpNkrmN47nF7b7nY+CgheV1J7K
9Px3r+hfQt0GvuroqkKI4oLlxIyP7qz1/sdfn4GY8VjSDObOkJ7tjcyLIAyNwTuSAz/ItuuLfknF
8W+MgsVMQfYht/P8mPQBoxvp7AIkueOnZoQnqGNOvjXv9qP9bIfE9pgxFIHg0GHGOntxVvpdVO+r
yIjsN9/041yaTbID0Txjl6ERbC4JgN2HlRtrS+y24a0bw+aSxdnP0OfmlKIiOa65Fndp4lpXrEA5
TksUus+vv5EXfyrKfdQoCYlhVHv+UxeVJkvT4r0D5Ngu106Zd40Y6lJsnF/4hoy7uCb5/vqgL04s
3NZN97vnEMdydrz3jKSuZe1SmUlDf0VJGYa9LwTbzOH1kfal9W9f4slIZ483AuGswxYjWWeHCjaf
5kZujX8DCXn5eRI0wkilpjDXPX+J85QJDihuqVoKafgg5tAUatqwMgn0h29sJy8+EiKYAX2AKYbk
/vlgteZzH3hsatD7Rse1DbtiGMPujUd6aZQdN80Rsw24/rx67fMFB0Y6LlXiPSxeq5yhFYQx7vXP
89KLezrK2bmjo3Dso7jDREAf93GG8a+alnb9DE2RX994by/A0oDQdogWkw73uJyzHj5K1rAWk8c0
mD1UURQqwMCO/soJQ7/4gUVXS0yHr0sXNg9Ep8E7Ps3qOjErzd7aIfYZcT4vwZxh/kMUm2TZ2bx0
Gcr4IBl9tZKowU4Pf4AJ5ZclyocLmdmfLlYVbF3iCtrXDdpAJY4rVW+8/Re/McAihtoGl0XkZx1K
PXMZLtviq4H13Sl1EQRv/WjeOEWifes+f1bwWlG2F2t7AOnzCZt3CW3zFq8cKv78ejNC32vUrrc4
a0cKASn8CGoU+aFetf0e0MmUPMrpVwJI79fVARJ6YyK8NOme/p6z1QoJeu6TxcMiyelWzANeAPiM
7tCS7O+sVVzygNugUTpC5HD2hrVGWQIqBAfBGk+F58laGXhO3tjk9lVy/oIh9doxSXSbyIB9/oKH
2VOXeumrGjX7XKjN6KTwO/d0n4Ta2MqxpnsXriOQqpjXrf4b8wg8DwEKjAISR8nz8cHZinwTqa9a
ycxV7+qh7LQZPry+V7zAQ2ClQGaFWgr/Q0DU82FIL/U8UYAeQ7zKXxuSClXl2xx8Wh1Lr6N2GU25
1G68Va2VP1LNFlkIOHH6y22Kgi+ejAmYCB6A2FVGmuaNt/DSSYp3uisK4JSGEO35z+t1Hy7ahR5g
RhifjID5NPRTfrdRak5Zm7ZFkpj00+svZd8nzj/9XlcmUEugWzhnEoWYFYFAG/tI26iDkuPdHLTw
smbpt2gKPr8+2Ev7Ba4rgwwMFRTooLNNi7RztoQrlgsIY3IFV/JUhHU6/42TB3pFhHZjOkPlti/f
J6Cri3SaG4X3GC/ZQUzW3G2TGz6+/igvLZk8Izt3BrodBpHng6hkbVBigx9o8nj8zCcW3Rq6jVc2
GKZfeADPcc1jWGFDH73xeC99sXzPkclyBp70HJcEQefqFhqhKhaBAA45yKu+CyJ5MJmOZGFCox9e
f9YXPxuCbZCBDvFelJ7tdz0MWQ6/aKk8/OpVGuukgrWsPr4+yku7Kp4ISrp0v0XtHBtSciDUq2ip
ODfRbTwu7ApUzHQZTnp5Y6W99PEodE8QtgIigsD0+cdrhiQL0gieASpif6sZSR54PtnTMojgYPDZ
L0Wg/FfozeO/8SoBucKbCKkeS/f4xqdzswvzEQxpgHolXtRnxBbEpTE2eYPLeemDAdMAHoVOKEfz
+XyUrakz5ZoYG90o28owb+LCk5b9nX0bufg7g7drDtn+O56stA6HsM069KUbWyIYuNh6ka1dX70+
MV7aF0FaopCEggcv7eyd9QIzckiWpUoT7m9mxRt58HME5DVkMAMMqwkqHjb+DY3Li80/w3GEoXEP
FjDss6ezk5jCCLWln5PQw2LV53d8WscHbI7ZibvFXY6QgF5sbe3eeybtXbP1f6Rj/0dW7sWak+15
RVh4ID7OS6xki8Y2WrAqGs/JsYmYu3BZ2P1aj1xdrJtNfgvJFn9DnzCWSzMiBULUU3onmnp7o+p5
aVI9/SVnO15ts6zTckNBn3XzdWQlOdZs6N+gyl8YBZrxPcwshXmXnZcCaTclQqUtyuvNaRj0RLzB
NdB00Rtf94VxULOiegaej6rgnPjtTEQ6M05RlcrRvFvqFskCYHfeeGcvTF2QvPu93DhdQY2dHUU2
tP2QxjKq4AUcsGlm6w8D7+XFAH0OSECRyoJA73Dx+oJhmJhnZzqmK67RyQmGBJ/7fOLWRPZWyCaq
fC/J/axzeWQEGSKaWFLOfB2utnqBGYnLtdx014VvPPULOzlkMkAdIWrfJUNnTz3IQWopRFSxaA7v
DBqhQ26H9WPug5+vP+mLIwEUQ8kIBggT5vmTUhZtoqEbJEEjXa/7ZO4Pm+6Dj2E8vXVmvDBhoJSh
OJpwCOJ2orOhlK87zxWNqhXysmKBZ7okreTV6w/0wslE0blBYAGJAISfZ5+ODikfBtyQUYk+h5KJ
ZaP8Imo6dxW3gUZojJ7krSTpmByFtdq+cTC+VCI/G3+fWk929EyPMkM4DKn40A8/QzPP711CpsOm
GHdla+AOi2dvDkmQj7AMwDN7wXiWfCYquKZ8OrSK9iX8QuOP19/Li28fwfq7rnHfCs9+l7duq1uA
tJVsTQ9h3dpU+ZqRNx7/DxnM86WDuhtKFPQhewrSuSQlzGfPglHMkGJsuT/l69Z/3WK4iqPtW7za
Ujd00Bepo+DH7NLLT23etboaI8mgAp65vRUBCBU4R3kcnIYtmtJPsxoC8R67kb1Z5k14dIwuQcxL
LyjcY4bJqVjpQrNLEZO6O6phyEWVwSDZHVvds1/40qmhMANvYcEO1vRac7msp22bVzT100jEOyPl
Cukhw1lceLvCv2iGYNUXhkNRhTclYGtRwwIBSQgnclJFRIzQuIxRBj8iHdkh8g3MYZFNGnpgKxfv
1rTbHjxCa4CqWQQLFQvtWQ3fawJLL/UDn660X7upVLBYWJAYOuD4U9oJ5kufAy8LZ+1Fsc7ckKpn
uv02DNtMTjaNlT2OEWC1UnZ1ikQjB7EN/PZjRy+aaNUSjEy7u1Ckj7ML5+v8os7hMryCd29cYTrn
tIfyEHTV9RiPcAhCvwPHnUu67CNfYG+pEsQLBUVLmfJlCyRcl+2oUv0QC7WkD5qO2z1J/ToAG1+2
uEDfFfRHOSsgRigL86VQiqgvBGADzECx62/aPoAbMR1jsUcGXXUrZP8we6quLRsv448W0IWGvn3t
g6vAoV4q2Dhvpy7hKaySYmWIEYo4zctUxLW7bsiMSADlxvHDmKpkqiKqAVeLCYTyRTNnui4N5/m7
OsvhsE34RhZEBi3hFyQa1GsxpTq+VWKVdcEk9vpLAD91XOYTGUmZLbLp3/WwFJGjgazfVDye+2sW
c+jrtGw2WbE5b8My4i7vTw7W5Pk9gZf7Mwzy7uuw6hkeeQ/W4JrONvu+Ysb+mlHr3w+R7a6p2Qzo
59DD4h7AOH3UrvafwsSwtqiTwV/lLYXDAxqbaCoj0U4Tw2o1i8IUF/Q2nEYWnLxiYvk2Uwp3YL2S
eCv8NLkAf21MXTUujH8uFplaRRDG9YULhuBnqwC5FLDW1P7oe4sZG9pm/YDNsmFwim/mS2psExRW
ACwpAQjKX+q6o5exUub3dhzUnY8WV7/nIk++aNXXEyQ3SUQKL6UMK5rEfMCMMVDqGjbBz+vhTR8v
Tb6OQ9Gkq/piXThoKCU8b+8WsgW6ojMYoHJjavgtzWXbFrqxtit43rlfJiV9d+onuHwPeS3SLzJo
vLuISMZJCRopfq/lwlIQnYs8Suhp4NBu2DYWMlmxKJ01Zj4kmnXhIR/yRpQk2Nh7LRr4cQOOH6Jg
BxJFg48Gkztbo98GtDq3lsXuuxiQx1ESnyo4g6lOviio+QVCpDrklGhZK10t0KAMB2ilInrJAj2F
lWIUBZ1lARyj47ipO4K1LMpeQJJSOg6rQUn5YoMiqht7yRKVIGutszHoqAGW6GLIyCSLZunhnyWi
bsb7OSAgkBep5qTqYWntEJSQuvomI4FPS7UNcMPSQMK0HCBvRBT9GMuhQutivxIfjqyYnWnri5UN
WJ0klBSpHqPjCCjw2TwUPVFzUwGUh4tEWT5B2MVie78sNP0YSN+TY99sgwHJnfmo2KRWvjLz2COO
ChrcFRsOEIoCKv3gPkpb7ZEKMCBZAVRYtl0ZN1oYcE3vGTS/czrmRhfBEvBo/A6ZnF2C+zDwW7YV
UxgjC+KhXTTNFJ6fE1Br/9P28NlRqKQqhwCCW2Bf7GOKrehTSoYAcFrPxkOmsuaq7hHiISKvsLEE
fTn0OXlYZVTjH7NxeMi57TCjmjb40x77nxuLvQd8etJRaD3ALMEtsN+DiWtIn5/0AuJGZxeWVHUm
PuJ1GYib+FroIWyq1nEUpnboq5hrpLrUupzrIC9bCHILlmCz6ebx4fGE/zNR8e6Pof8I+3saboQf
/K//+59zuJ79W//dwpOiHaJ5LawL0d24hhJ3Z/2fpx7dx//sT48u+wdUi+jnH5WSEFOhLPwjlXHH
6/6fJxfU0e42ieP9i+5GuD89udF+rRpoAvg9geLsJt+/4sl9JPOfTp0cTDSFVhSXdKJMghDq+dRR
U65qU9O0igKKI5FBGqOPgVAh7HHLGt05tQXTpYOspL8JMMdgFJgXpAKubUttFXRD3GExxd3PLuAI
jgiDjt/WBJOu6M2c469yHJCvgBZ/KmzH0x90nHA2x8KB9ecMh+V1qg0SV9C7Y7EjFe5zuPYSm0rX
4nzMB2KTKmEQCxZZ2If30xTIr3bbUmQwSYr0iRFJzUvhNtGtyIvpiD5F0ZA20Nq2EgkN47B8M4ZF
Q0WWIU7gmc/7tVB9P0THNA2yBmkaUTsfkdOTXqWS1vzC9GlCkAbRbdvVgE2FlMk6RvrAus2AdE8b
pY+jVir+xFrtrpdJy7xIHqsBCMdQGeA8R5UwiR4VA1I+ttNmWtQREDygpshbTjToOpQa7rHqaB8r
EHA9b+hVX6BawNJDDb9z6Cmy1s76jwZJI+FcY9/ynHX25OYADhvujfGnjDfZfd20rOJpYKqJyPw2
HMMpK7NGZVkR+Zye8Afbuyer4c994ak5e4d3ns42EJXIBEPPg0YSvtZz8TzyMoWRnlHs3qh7oiAD
S9p7eqrlMl2RntPjXx6Pof5PMChBINl5o+d56BBb0WO8ZdyO8zSob5y2E6jmdvwREQRhvT7eeQ8L
4mzXKzxy2RjuXKszd6PGpTsJrRqBR9OB8FdJ6+uSA+h649HOu6jHobCNABsAfwm8//nChf5rhDsh
plWw1vRgg6X9gaCV7S130r8Ng+0H2Cb+SuCoAEH/fBjlp7beBGK2REDoQcgN1bXY8jdQhj/sME9m
RvJ4ggEZhOQIw2GGPB9H+yXxavNQKsIk4NghWyDmryLh4xVWjkn1DzNpwvRbkwRRcGFzon4KW5Pu
wOu+pby0Eq32UjQI08QuJPWyvF98I4ECTT7h36BRVMgIIa1GClKddYQXKwRbvKghJbQnnbbB76zO
enPDRBy407xs2RfE+EzrYZtmTCCNTRKFjQXiOxZ2GE1UblOKaE1IzzbzTUYJePhSsm01R9BSAtsd
selQHxE50nz0cYA9AsyFtlXdkI5dqHHkyT3ypZwsjQf46wpkAcW7v9qJ4Trjc+x5mQZz0JBidNiA
05IbWMVbxNPIdL3SPFjSUugsb06BhfruaCPTtgiXzZy5jTZjowrhZ7U1iDjVOb+e28VgJgKzCg8i
jKb66HLVNbbInF8R3OLCTB3S3m3NLfdhlz1k8Fm6kiKTJP0+6NE2hx6NXX8h6Tjaa3jf+VeDEmis
GGJo568LEJAfWx0296nWatkKsPlqutusDurP6IxrKPVRLbtPIcu7+kSVbtXNhlrSIRfPmmYueecz
1Vc1bu2LjsnI1/k0bZ3r3216qfVnodak/tCTqe+glhqkut1mG5BrAGDz+j1tOILO2ITW9r1DHOta
9YYO8ogRKcp59N202lSSfl9109z4ACqwQiLmyhVDUI/db1w0sDcX9STofEqDlcXFlkVjliLdZwiC
ByRQsfxBY8W1pVIzbY6t2lhySIbYTA+jnNvko9si5Ks1tRL2MMJ9g1xU00CciQ55de+bfrMiKBzv
G/41cYCNriAYHiYEv4nI/oJvIUWDnAqfR6Lq89SRXwkS6ILpoosW0/8QtMm9L4UYke1mHztiL2L0
WjxWEalyEJ8fJ+iyApTiXotKq8TZ693U2Bfsj377sfcGwY/Y2seOvHvszrtlbiQOgb1rHx87eATJ
xEgKe+zsB7shEbl/7Pi7vflfCeYkopx2TGCeGARU4SNW0IyC84PSMzCE+hFPyB+xBeArThyQ87Ox
QxKCjCkyTtcH+OPEu/ARpVjiFIhFg0dlh+kRyUh9MiDzbsc3IN0H1hHADI6YXaTCycqQeEFK3CM2
oh5xEvuImWQdbPDvkFy8iCNwRreeJEGOWT0pYi/sDr+oNhfdUT6iMgHZEZq+V3l2mZleTgX44yxE
ABaEUcWUB4FDnwWgh2jHxHs3zUP6ScqFBKc2hlgdsbyhvR1dCs+4fUSOBsPFp+QRTxJ9gMOF4pwx
uozmOjbbDbxxXRNU48Zi5OnYLcPHLSyM7hhnBhImldns7RLUZoMEfVCEIU6SN9iBkk0galLMLiMC
puqYoMSfq9k2jTg2VPUI+Mu3ziQXyluOyIrXD7VzIBE65Z3lhaQACiN0GOyskMAWMlmnOQShSz2j
AqSZ5sktVNm9PsxdzrrPi0EHdUky2ykkYgryy4Rlwt7ZtnfTu16DHoBwGRRrGU3Zym5ljdbyj57j
PzZBZ0cvPAMwXMCfA5gaxTH44ucHiEXgEvjTWlbSg4OD195U2YwA73iLgjeO3nMi53EsxKaBK4Zo
DUX42WGFarLDxpBLOHGcPcbNBoUXhYYkIW36eU2Z+tDFHcffI+KW0yA8tAtDSKWW3Rtymv30fXZq
7mI9qGkgewZ9DGbp+UOzPhzjKbeqIsmaZyccNeJ7gv0QsBdHn/iODjx5S498VhFgNqAMQFgrHEi7
Kz48azZrbqMkSHY9Y+/XarLYXZul/Yt5FvucewTOE9Q5KXoU9EZPwWu3xEp2Llqr1rvkIDoB8Ag5
fm/UHf/+LLs3B28ONQdq0nPBY9+i7mmMWiuLeKD7YUzIpQ/G/MfrC2inE55+JQgLIO2BIhDiY2gM
zqdmPBK/9E1TI9auySGK75My7Rr4c1uGE4KKpZIBMgYfB/3/Pfj/ePxMr/XguPHsf+03N+9t+H89
a8P3D/xHG57Qf6Co3Z3MNNud/9hO/ujCcXc8dJt7LPfuS9slTP/qyuPwH6ioMRlD+BuhVN2Zi38m
ZVFc3YTuGaoKhGcjf4X+la4cXf7zKYM4AOQ6QYQH0eUeY3XOxq86nxMzkK6K/IiKVUAhC+gOvm8c
giFTcTsgyzNAqD9P7eLLYc78UgRd2PfFzIcwKpHpoAzyanWLMDwwGDCjKsmvSLvOCtnrvDclVCAD
ApywzpYynSVIxaGOBL+Zdab7iox2tCeMtPzA7QBrXAYcZzc2sTmKqwYZSVdtKKFqpY5G9xmJxAeq
aOerDTJhXbKkcxuONch5AZfvgfBdB4Q2CFutYXNxXVxEeW8vp0wtwCG7IbwJOM3oyY6NfDcg5AnY
XkKkAAGQqDtD8s1eerLlsuT1CKeHty2F5gNgIYIpV/U+3KbbbdL0dmlDWO2YyBCbwYakvq/5qr6J
JUgFajVI/08BVCRLkeKPBWzLPyMSJrQlihP+2U48QTBjb5L1w8aX7G4FARl/5BkX828MsFl6aIRt
8itpfZBe0aj1OICzIRsRuevgwl5bBdgt5wkgWrkOHRikFUwPOCZCShm2JMJNFXKjZSZMW7osYie7
IYvhQs8ylvdWsnkpQhFP4BvUxO+moY/ng0eFeRUL1CKnOm6RPNL3NvmeiVXtZNZEflpBcX1Czuq7
JiZZVxq85UoBlPzII8SNAoFxWTEs24q/6wa/FR2N7RH8f/dD6mkrQgu46msqCIhskIUZiOzuNo3X
X5PM5tVm8BoLxPm2ZZpc8WZovuTIpHRlk7aIxEAubyEQcZ0e5pp4pHckzVTirFYQCi/vgYRnkI0D
X3UQdoDLLlnuIWFf9KjYRd0uwxuig0ee+Mlui6WTpQgmAMgGOTS29rOTI4HuEFME/pFOKHWE+Ce7
ICGsu8C2Qlh0gO06X6gWn6iPExcBIgpZAfdwdkp93CFQtM3vu7zd7RWdvMFpZx/W/c2RVS7V6wdD
cla0/PFb8ziGHwXBK4g6e37KJdPKQ91oxDKGPYi+ugZGe8fVSAGJxLVeipplQL7AFzXDqSPjL8u2
hQuu1CCaHeJ+dJUeGrtTVMkGWg+yz58Z9Oc/2ZIC1w2YPQVMJx+JREhTUeOulaHMYXe5hns5w5ln
f2Y1vYnB8d22WIhHK03XFn6cdSWAp/zO1rS+77pt+sU4lvUFcRZhyy2P4rwcZcQ/mzQIfl8Fb+/7
hDbI5mQt8lv6uJuLcMQfUTaDFPhhnIuL2UAQWYA7gab39df4aEA9/+QZ9DTAVWGuhPf9+WusoyV3
XhJYEbVKP7RmcF/nPnvQuA7ltIpmukxD3EFiB7kekCZdH8GS5L8CHBvv8sBHl5lT0wOPZFDpxq3X
VAbymPeTPq4BcW988v2nnP1UqOIiBNEjhgSygH1GPCHlcdMLglcRzFdtA5m/SHyNA9QI2xFmYYLI
2Kw/wlYM2hJL6c8rDf5jhfzSyoDAGNem48RDOXJexzM2gHhZkfoilhQ3J+iBnqJ6YNW0rd0nGjgo
9QyZjg6BnrgBZ5wOc9s6kGLt0bTbdsA1Ob9zI4J3CaCTQ4iksKtFJ/qNQIVHKdbzN7QnmODlUCC3
O/r9/A3R2i6mzRBk0tAax8nQjLjzZ+Qfu3nG2YGUmLoc6bLKYluR8tgAKTlwF29ln+uvDL3xyaks
+QqqBBxpT4LbgQfjIaIOultF19OSN/OFsCS6jySX4o+C8i9VXa9yGs/Yj/9Wd5XsH+q1qgt3MP5v
3B32rN7a/5t/1VtQ2CL0CTwDgtZQJP2z4IrpP8BY7d1b/M9K7J93UeV7nClUpP/8h0/qLYbrTeje
gqRQfKFQ+mssyCOM+WTSQVmFHXi/egIBIjgz6JkmJZ9m4EcutFWPwOitHIYxOwmbtnG52elSctWc
OBIXWSXyHnqPbhm8PKWbqOVDzrzDob3IVN7nUW/0px0inmD/sUN3gXyAmJRibLsUW+I4dbdmCll9
xC1DQlyEqO7EkfVKZqgpUpNfZRuo06zQI7rrX+bHSoS3XTcDCqyhm0DodpB8hmB5HJvCUoHE9Ckz
Eb2QwDq/hYvhEEjASr8dkf0TZgXPfIOKTsyJPwyM4GoEMTQwM3e4JCksZj3WiBceG1Ugf9tCg4CY
ywbd1jCvDzgLELrOceJkRcgMUtv3yynEgQGY/FlnWdwfEEMytxcuXKcsKZ2D8OEmnRHZdd9P3ZI8
EJ4gdmbt+2nKkOel2iCsgGd7f5UK6NUKg5zzpKyBk9bFPK8OTMWcixxh+Wv0ScVI3CycfOxukfd5
G2zW9gc+o1QqYqx/JMQruSKleX1ogN+iwNG2/pV2i3sf1bVDTweOAXTVNMR+z4Nuf4PkNLhuxqSm
Zb11GbDS2CFhlKchUVVvW2cqNAuuK4dURfI49ig08DJUDd422tqkuxASNuaDx4M+JH2ErH6CwvzG
NYaMl7rWejp0NJjFz8bkM/k0dSEdj/FEO1quc8OXQ09NDg4GRDKq+R4p+EXOmbsBjJfgTpsJ9Wmx
CI3pBC0/ECHNDIZOrIjloRmHEBdAibGrL9PJiocBNe1WdqAQcTVGTDZUddyBfQqCkX+Q+RTO2BJR
7Bwoa+hvXKMNPsR1Z+tqbONJIqme2A+ynramzPuY/77Qdf1sVj5Mh34Opu1UM4aY88EskYH3OGiR
55IaIvFP6TeBWPFT3AyhueCWZsMVC/Ilv8hEhilGZlQLxeoQDn+0mmIAEw/+qKBnQUx6vuAGN7oE
fQhGuoMGdY62BlOsh8396G1DP4Dmz2/ipYP6mLXErIjm7hJZzGvdzoX1uEqrIEY27xu51lmx8b7/
Ng8GSQ6RXRH6kyYaiTN1avrpYsknuu0iNlhhRqhu85sV0kOgCpwO5rIzrvsVQt20LuNITD+pQq5F
laZAi2HRHPmXbFrBYVLwmw+bTKFO4CmCi8rGTf62xtHJC9wBB2nruCb8JkHwQgrnMNeyDOSUEpTZ
9QqiAeKwuDBkrUE/Skd/ZZGYJbQ8i8+L1rVqX+7Z+DEMmgHVAMfFB2iwMMmOjuBoxk1e2D1u/OxH
B60Uh+TDdKDyyjprkwdW52Q8xJQPohyB7A5A+2MTH4cxoLgOz6/LDw7BhQCMmvoRNtpkurNqnr7r
yLDfuqTPcb9d6PxNj6kAitZrSB8QVBa16Fo2gmvpoHIphEb1i3sOuvUbEPo8LfayGpNaZtldE0qH
NPGM56Ko0UVhL0y7EYdvU/u5rBHcEF1aPFlXovTCXXmpkb06NoEPkyN0PbDhoFk0rFjktN0qaPbq
UkGtFOO+Bx1OyC4Xi61SIgMo0BLkyZ9MK5akaOOE/kgQdmXKPpo7WyrumrpkvUAKbtuNuF0NVzFA
e+aI1rdN0ub4bjEZ+FEFyhyFzMj3PkVhUyCBLv6K61kysLWQtV2vPh0A/tt+/JBwwMBA7GeEAabI
AWyr2GArLDuAcrhCD9kuHxqisko1dPowhiOSg0Ws/HABodqERyU5bwqEEmynGZ5QyKfCBgmcUErT
CB3njro3ieFfUyJaDnp8HBGHqONIlkncjqJspgRzLvY6uCR0i8tebe5AavkeYuRKQeaRRVyqAlDZ
Q7cq3FjSdIXcSH0bq9y9w+cShxW4lk6Ff49SsxK4xqLoGqE/LFly3dR9f6ep/dAko3qPkMPK0uC6
HeRHjrYcuyu5ntbujvt+K9QYJGVG3V28pgcb9rBzpKDDvOhCU2L/b08gr7oOYaZQKnd9f8/T9ioZ
wkuQhZC+jkaJAt4anHEaP4B/yHHDzwOMf587AbdjiB+RhbjWcJjn30S4XEQIeg3T9JIr0GYj7nn0
gmfvI7iQNUu/+81/yifcWze4FV+Ek+7ksg1LNtI3W1/z4/9l70yW6wbS7PwqDu+zAvMQ0e4FcAcO
IkWRlChpg9AIIBPznNj6Bfwgfkh/uKpyi1dqseW1I2pTpSKTmHL4/3O+o3pxzFf5ufbUW+Q+YyzG
4YrmlfONTspBM5ncDH4gcHj2aI0w6Mr39AeXyMvILBymPr30ZqCA/AZTJUizVh1kKYUHg6Ournjf
I4C37UXW2bdqtsyos724NJxrlj1mudraTWVqvbb0FBxsgp+SCCkk1YfJTXeJtQRv2OdbaD4VZRFO
HfHiGp98f1Wx9utN0VC3hzQvrpO5vhqmkmSCKY+cXr8u8vJNMahXYtIDCrvOVV/pSdwoUcrrNS2X
N37FiuK1i9rxi+4wkt7KMR8fy6n2cJ9rceFo+Xbu8uqGx751N2rvVaJQGmbMRceAdKNItEH1WhnO
m6wK8+Pketo9hqo7WpXwL4Sj3pIYUMA6Y+XNiyzfKTleW07yCP4ivGg5DSRh4jzQsGyDKCvZZI+c
AmfXfrPAoonKYK4+opti7LIN7hLBcrJ6pPhUA0s13cTbIQi7IiYPwu53blUND9PcVN9dX9evcI6a
RzVlBGqMhncz0PJ+bXT9V4sSxGWLFKvWFfOOJsSm4NPrwzhb2m9YLl73UOflvsJyd2GQY/rgNeSv
KA7VUdlXVaTDMb8DaDSlfFTFdFu3mb9rMjo3TTighwvy+U7R+iJPMnvsluzJaAaUZpQGCe6yun2e
N0/JOE3gS9MvRTF8NOyWLY1Hte5BpEb9iEPJPiStsr/6ZvJWGuX6FoI6fWrDYf+yUiLbkBSzk097
s5yP9hS2cZsV6iJt7I8FWwmYic7XkcRNyPpRaxFyg+xSPPiyYNWbCg/6CpocUyavGstQlwvcqSaj
MZzkNSlUs3tbrFUZW/Zy05ukZuaZG8qjr2z7cnBCUpU4KyHbeFNXFbZ/0cCSgOGGzag4UJ4v7kYv
tb66dnGfzOt7wBTf81FMb4SY9aPlKvkxJU0mGS8zVyKWyV0Uq1x81VjHtnb66lLWhjvWeyZUy2z5
nKvkc2LoxrijeDOpG8ukRZtSpVSL+71N63VBHUjzkjSmpEWDXI4O6tpusLbmXNnNhJo5GS7W70kr
rMKPVNLNw95nq7A2O8p/sqpu2y7AfnooZh+3W6SU6OsvpKEOTb6vB007dQvCsCt1665itBNOinlZ
XpH5Ny4oMa3SRCoTBHOp3pBnMrQPNmXK5YNblqk/77FgsaxdedT8cnnMygx1z2MHq8dq7gKvxPn5
Kq1zo6ruUKUUQX83YUtT8lPSdmlb7noY7t+NMPNzailQfXKil7z5o0Pq0UkutcbW4pntDn22R8KW
3Xj3MkQzVSJaLQ5eQ6eJCKQJT/strWthv5VV0LxHjILAtLIy03hq8swR1f7/NxR+hHDAuPkvHG3P
FH3bz/w42nr2P7i5+FO3EA2KFpvR4J+9BOcfdCJxyaKaO3UMqEX+62wb/sPHreRCt6CdwI/TAfhX
L2GL7mTiwEFt/Pixv+klnDWfbLTDtAbxEPF5mKCztxbiTwWniia6lgSjEQk8NsnV1Fv5dSZ7M7lY
gskOP7p1DULbqtLBEC90186rm9vQmzGSZiG4UthdZ0MzD+TKSYy9M+ZyJyqpH2dn6uNxMrKXmGfn
l0nVl1YofQbaMyFVwLOq71T2pqsy6IwZMcsHNlJf2YYBgEWI9WSyLt9myM1fcO/+dkyTsTY9pw18
9Pn1bcy9pUZWjuRcE3pks9qIIUufRKMEKdTNvdcFzgtjbr/zp0LFVjF2QPHhe4dfQXP0rFDhjoNv
9E6od04D/TVKBon8XOO0gV6xFA9ll9ZvfnrZ73787j9p9rYREWXBK9jamOZ5jXrWPTW4rIYxOLek
ORutvPb81ToYrT2/M0Q/Hv96vBBXFlZsqkSQ8s7emr6QfbCard51dnqdTaRMT1l223lpfkkIyvxC
7fg3zxAjJA5li0ISZt6z0nHXh32eL5beGapN43rRr01R3OTlFn5ZuRd2kD38+fLOWs7bA8T2ih/B
MUJwnufZHlov6Hg0fuXc8t72kwyv4GyWL9zD3w1CQRz5J3qILcr9+ZuJKRkhR9/p3ZqYVbrrZ9p+
0QqQ5vLPF/Pr3UPGzATHjcPNSwnv+TgthRCDZqrepXO3DkdOZ1P+2mYHnB5GASl438g6K1BoEd3m
vlBJPx97gw9svVsqxRaUhfOACKuUZUUc3rqbyLGMp7QZ3prZZBySnk1Gmlcrudvc6BfmtPM7u42K
p4y5mUL6hgt4fsVAZ9n7IoPc5UuVUBfxEq+Ls8BM18Ofb+0vA23xGhs0HXe5yYWe3VqON12d+e66
G/CcbNaW6g3gr/Zv3eXbfImeCTskJkW4T88vh0PQXAgX10wZmPqjkiEQFjfNzJdEI788LJB5SDw3
PDN9j18+s6n1UHDUCcYOLFFfQfpae8M1y9eGV47XFYtYLClm/rMa/593PLb3/OfZEjYFaE+whDbL
MpXks25LMJI610s17Tzr2AB0CXDw9MuRmuxFL9yLWYb7pBmPhv3Sa/LL9Toe1WkUUyyAFDFPrZif
Vl1n1L0QCmRq69vpq1nZ6W4IyIltOHchZ3HqHLiRNoe7P7805ysu6gO0LOA/2FUEYIO2P+unYf0q
nDiPmijrg057mzZxTUiFR3i+xEVVi/yFZs0vLynjodYlpSKEGMhU83y8su5mo00o66YdecaFV9cX
SUjV789Xdb7mQcwBJ41Kg90QERXO+VVNJt80G+ldk+OYXHJf33W6Wo/CEMs+W/L1hRXvl7vIePTm
MPX4Bpumc9Cy6NBsL2sWcN7D27N2IWcCP5sxTuYDy8XfziiMhpgEKvG2UcPU8fwejs6WCkyY2a73
Obp1Q5DgcHqxLf67a/Is7h1zJRZ2j+3mz28GRezMFWvg7/yk8b9UYNC+OBKJB4cdAp///Lx+PxYq
Mb45OjPnSPRhIR7FLTx/NxkJouG5z0l9tfKrdVr0Cy/8Ly/gdvMsJn8AIKC8rLPLSn21Sm/l5uFT
w9GonD5e/bL/21lyG4WPiq4pu/JfeIRW74bzKBU2Ap9czalq5FWZyuoF5cLvXvOfRzm7Fq+koW9j
QdmV2OquOQ3qO21TKF7JgsFLkBVv//yYfs0ROF3Wpj3YDhpol56/E51wkon5y9913jC/bRqZP8xp
bV+rXKuDiXMk4l8t5Oy9gREGeLGaRnu3WtC7pHIPRjqpFzwrv0yb21/EPmyTUvHqnISXP81fmWp8
X5e8OX4/lQfgt90rrDOk1M5VFnfG+NWYO+vdn2/DeUd+m108F1EjJy5YFedch7Ek0mcpTeyNQBAi
Y3aJbi1EeaTuIt6ldn2fJuN8M5ADdPHngX/7mbiwjTYXB/3os60EaEvtCyT9O7ud7AuzKdZ9PqIW
L3LDf+HUsM3Dz9bB0zX+x1Bn83RQrUU+r1zjmM3Lqywz70lyV+TbuFQg7fIi6I31oc2Fdajtun7h
of72G3UDy+O8622CtuevGUYVqouCh9rJmfDZcLWPug+r/5dJ5z9GOQf6YW4ltnnykSvZ03LtjDiq
qzBoUFoimfvzg/vtBW1TNjMC/Wz77IKKdRZ01gQPzgLhUvl+/RGk3UsHhd++l7yYrKsQKsCIPb9t
AuCfm2Ib3yHWqK5Ce/WvJry/TwsN9k+16VZXnOfdY9A61gu38vcjk3TgmcT28NY8HzkjSnkut9TB
AqgkKAJSBi88IxcHqnjZ1dI63c7z8vUwd5P68ve3li0vm0Q+iS3m6/nQa240YhYTQ9PCeACJU1/l
1pK+MPP97sv7eZSzW6v9fjbsfvXxL5rykIjaoYdENEm+hOPfsmn48n4e6qwuMdAu8oOML2/jdl/K
rTvRD+NLLq3fLR0+FQgqERt165wg6VcGLULUkTvdViFECIew7JAdmelTodw4wf0Lr8hv7+BPA54t
HYbdGe6QW/6u9YriS+VaxU4RvPGOoJmXOP2/+9ooX0Ed3aBl9kkv9NOa0AapMy4hy+KE4+CLT8/n
spuX4YUl/ncXRDXFpxq3aaN+odD2TtamLt80ubTIYQ0zucamVR5qnt7+z+/4b4fCwhTiFGfDd24S
7DIjzTC3BkgOgibKS5QJ/uiWtAiz4YWd7G/vHaUbAGXsZX95LwqHrBcOBf5ugMMSG03b7Evhqhde
ht+PgpYNWzIiHuPsHQ9CoqkhbASEDDbuARJB80rX80sA6pdGOZuVNFqVRAuekO4ks3w6iT3q5JcA
pb8fBV8P5US8Lu728H5+25LAyJeJua9ucTn2erEiU8m/jqpiViCfh3RXSocb5vr5KGpK8PSUXAsn
ZdSbsECY2+2XqjO/edEourLqIoSFWOWdjdJb7jjKuYHdJGUIGHgxx2WfaLc7uAgywxdWxV9H24pA
BoddVFScMc6mhBXZxUi3FD4W55D84AkbMaMpZ0NcGrXbVy9saX59UFuaHMelzYwCfO/sdTAtxHyG
kVk70ZXmga0UyodNZ/G33ypBhRDFUK5xC1mJnz+oPhhBlFN23NVDW+io9Ru7i+h8QwtuA6X+0vUC
pMijVL41BtH/M0Ns8/xPb99U4u0KFWgk2kfuVwpc2ok1Av+XyjGnv/v5hhAf11aTJ/UR/Pk58rKB
kEdsEbb/ddJq/ow82mv9vekLQ1+qUA+a9lfv2OoJX5HjH43Jnomvp0GLsMZKOEtwFuBf7il6W/mh
5nDeHkIMcSHq4AAFB/9mVuUBE1Jm7TH0ogGaJrOzj3/7eDzcEQh0kAmizzg/O8MmV/XQ2ZwX8Mb5
B9h/UxqPOADzw6Kq+v7Po52vsoDQfI+iKkRX1LM0fJ4/HZ7YyrnHTXYVL00ZzbRwP4xtRvhdys+F
KP6WRP7lV8WY+GaJCQBkwqDnFayxT/MahXeIhmINg+tmBmhPKckWcqfGqnypjXL+VdHOtTdiwAb6
5jx9Tt7Hugb1Rc0JBZ0M5dOK+e1D500v5Uv9eidRu7Nd4eXDUk5V8PmdFEgj4Z5CXBOF38qdVzT+
N01CQ5S6SfPRxWMy7/787H69MMx6239Y46lJhGcfMpXgmVqxlfAhz0jp+0peNoDmXpguts+HP/3n
L4vjHL+eyCykqdRUzy1lfTf3FV2gek/3vFKozD3RXvgBm5f73Fr7+ZCCBk7qSCfj+0ySG5eNlnpd
oF97nU72AkEnW+088nVYiV1aZ8NDC+X901qWm/tGDGXEbFi/J3HwOkzNxyqtnQvIfSSXOlBqYYOW
YXJrluzMPa+c79jo0iLHrqPf4d1Hn4gu5gEvQn8vrBCADo7lLr2Wxto017Orut3C3iq7oA9Oo06Z
pr6t/M4tUZnm5aM7jKgTcHhcomOilpr70n2a0rA7Fkmrb4XVfmssgdE+GFcjIo3S/FpKcBuz2cuP
pg7766ZHTjALk2VVoDR6tEe0WL6NHj7hL4m6IGl2jqs/Y9NP82h09PCwhEWdReGkK2u3SLJxoK0h
Nozq2ZH5TqdBii5TzV66N9Yy6KNmnVwRFXiRKNc564U3lwHKHFGWUWH7RYzXzopaF7FZ2dekU7oj
ZLCpb4jJ6VrDjjj96Bt7GuuDdhxlRoNKMOTaTmnIvdMXQZQLotd1igggDlVlfPDBh76TDhURZVlu
rNzeiOZGhuNBkIfzzbEma4oXIbIy2sBkGLcQWEypNYC9YL/7bmh84L8CyQF3Cg2Ojz92nrPYJfOj
3NIBs+CQeKWE2IZww3+y7WJ2oxrz57u5dvz3uD5wXNfCDEvCOcz6UyGRWsQ49hGiDiZoNR7x+CjM
oobg1WGJq+l0oVmwEAsFUCRQ2Y7N/K3EXWXebem81c7uLI+QQDNMrvi1PcXJFal/lC2e1RzoX9Ee
kyC+zBv8Sda010XXXOCgd7p9WwwNAt061Yg0E9O7TpFXTVdmjdn+dcuk4x790s2Nr9NYQsWrMKM/
KTsTVx1ix3w/Bmn5ZC3y3szQdgGs6t9b2vLLqBezP0ZQpBobEPTqFPGC9vYLVD51p5uRZEXkdGaM
EU3h7reQIfqyczAiFYPG2Wl4PrMZOosdRc8W70+Vp+kSV3NZL/GQa51ekA8zu8RmgoEgUumQ+2ZW
R61ydHPpNGtWHqo8LG7RpygDHeYCm2xu++YWaF+yxDP6ZjcCRZEXUJisARk2666+kU2u7PK+5hhD
rWVJE7W8tcfF5Duam7qPUfAEiMfKVmf3LJCjPFjWvAITC2Uj7z13LfmyZyir8M0J/Znq12ErRXmb
Dr1ARMztsAYEZCmujhWhsRuFygf4PoKoeAdZpQ1iH0xb+rGC2mVf+ClhxwePMHVxVQdD/1pgxxY7
In/mHjpdqo2MlmdTJnFu5PRMJr9fJ0S4kOAi4Q8Tv9hKdHLwg176ey9ItdjZzPF8amqjheVQmg8O
3yopbgZOqkOlAzQxE1/SIVuK9Y5UD7BBiTdV9JkWzVHLblPva5l0PQ5DwNTZrmIaMw9lNsD6C9o5
maIGp1u1t42RHPPA2DgkWa/Wd4L0sToSdqjtPRSj1IzmYsle542ssB52VfPJUYb12l2SOUfk1wpk
v2aPer/zactn5prbO7Q06tK3Ul9cBbmZfk07Vj9Qy9YKLUJLWHc1r3UYyUrO4c7vkvXzLIFAxA0Z
PR8QyCr/6EjET0xnPXA9sArODoEqcuM1Q+cQtTIHz5KZKnvygJ8Zkd3Os9jT4hf5QdsOBmDXF1ls
QFxCy7/UXhl1q9EOUWq3+loP61TFXUqXKsIoqqZ9g+Xbi5sUq86yr2CHS5x+i/QvAf3N3g1rOzVa
3oHSvDJqYIQHo8z9V0qTcRiHgxjn/Rj6YNsdZ7GesrRF5Tegblr3i5dsaupq0t/RC8vscgoatRym
LPVekfLLkjW56F7RGi/mndUiOI3RkqHFzofM/z6aKrxl62Q7F1Di3A+eN6zGlT10K02vRYbywmn6
qY7HumIeqaVjfmvmfFr3YPCbD0UJkThuZqhSkaNT3z8svjk8reA8cmY9wLYXA0vHG9XkeGKdeh3D
uFsLG5Jz4mOtH0AHvUI4XX8VqkbwVZoziEHZDghq0zbJ8WHU2u7jYvS9L7xkQwouvDXMvQmTOYsa
W09dDGq7R1c8OAWirqmz32S1lO4hawWBS+1cL1/rWjIHBZ7us91Y+N1wcJwqk7sqRcodN6VPKhcN
ohBJtdVDwwocyX605234aPMbyXNakgKkob/Ywz5Dov3B6Bz7I7xOqsAoPe330gGxyx3tlTqaNJgv
etdHjGy2y/ZGAYoJI6OxwlemK9Nilzdd8q0VzqIi352x3mF4RRjeetnQHxSFDisqvXx8HeDAbSO/
FtQyqNz19d7R0EHjhMpsADonXexdD2P07ZCvhbHrSlspVuWZiCzXmZfPa8JkfetZ2fg2WVU+HkKV
IVhDsvpKDYWBCzVveD9wJZTfxMjcGDfDkIVvam9eZUy8IrJUU/fIMkfiCeoYIDz2jc0/XMaTaHmA
BMXN9k5PyhfHmhykiUBX2VYkg695fRi52S4xEppLnE00x6RLF8AAOrrbX1zk+fZ169coFhugjU5U
2cEaXmWGzpxYzQXAFj6xPI+LRYxBtCrmWST8dtYzE4Dt2lnEKd9m4AitSFFhCNlC5GnIaSJ09UVH
qM6h7mqAPzh9uvG9RcCxezk1Cqig7mfX+pTgTDChdGB8vq2rlYZ9VGdZo/d5Nc3VDqqL3b5ZyVNV
5NT2dSY/gy/K66/DIryE8qMP/fDozN609m85UxZrfTv7A3LPQ4WTJ11RJ6aOrN70CJ+t5DC5Q5eY
+wQPEu4QSNcdlRdlFW4XOdy/etwbzdp6BulhwutJ5l6XKf+KWtdS732zAqMUDb07MxWxYXP40rq6
OjSlp/WhqLAv7NxB9ZhO03JoXidWIa9s/gBvm+IBkSe9UxD32OEE8tsOY1KTZasbLTDWwgjhKgaM
Lp+zb71MN+27tbQPRomW6eC4q3us6DQUOI/p2gKF43+BtOpbNyVtHRbViQcKGo4lIa4aNkI3nWPJ
8KDLtPvg8LvFPsgacbTbYZqPohwG4uk6NqVIRF0V7JNymd8UcnC86wXN/PsJT0d/cFKgSTsEsOum
3FSdGR5a6S4d/aR0eKhP6cGIxqSOSxGM06FYZXplpK1ZXY5ELq5vu27K+h1rRhM8QW/skNDXfv5p
QgsI2kcNrH5rOK3hQY1lBxBqpDoaz2jGH5ZiqNqYO+g2cTYuKjmkSzZmsW0lyHWB55pyH1hTeJ+2
ur21Gk+61yIX0zWqGQ/67yizDxqV7gcpqzp7xLyj2qOTrfJ1tvTMWF2bD1d42rEIgzOwnT1oXcmW
kWbXB79YLCS/1CvSQ2ea9QbhC5zqYDhdcFfpvvhubqmQcdn3oxFN/uqydbatGeSu9Jf7wm+qz8yI
1iMgKT3EroXD5LjaUvoRqguPhusKNhuFdvZ9U1k4x1JZ41eN0NbgCBNQ3kwa3VxoOTTJHh1c8T2s
WfcjCjWGxKs1THeLowKU2rWZfJOWN3B2aTy27q1eFW4klrN9nbXdK2NaoTWDIGVlhkncc4ZLzO6q
qjK2hVNv+82hYEXA1Uu9aGebOKdxTtmNswdxT5JYn6vpfb26Twk+19go0k/ubHf7vtwu3PEGXH2O
Hr+DlcJnkMz85qTAQ+Yv+esuGL82MLTJfNbyZklha2GF6IIUb0dS93cZ3/pjQzju9yR3idzLvLHa
Bf7YHrwSyhDzUWBWMUthf9TU/w80VcRBqtRih9yu5eexmNonKZyHhYNQBjSX3VHUIOX08Rko54iM
HmCY0W+Zz/mmqPcsUMdj6hk79uOcZfC67gg2Tu7LOSBjppat+Yr0cdBJQbbD/GM+Oka6ANDqcLUN
OrgJMh8Cqw7DdyENyOuQPQK+nmrR0WjM4rHJK/GhdFT1MDejOORWh7LZmqc3U1BaMkrC/CMmcapA
6KZnAnQkp9ftsXW7Zg3Wq4z9/TEHZBYxYflPadDPD2Xogqmw1ukW+1gRQ9FnUyUMJOJu+bgu1QXu
HcjGwbC+siZviueOLxsbi17jyUBiz9YHs1wgYd+2RX5h1rg1VlaQvRhUGDsQhGM3WYIbKFp5zbtp
JS5YXS6rVvqh91kPyb51rmadY+Skgh0tg/EK19u1XznHwYe1jUYV51Pi1CyFlPpCryDfDGwyTvjc
ejI4Yl9AwVZHouOsDysBXlQAC/kOZvsyRV5q+K9XSBiHbgmuF52ACxBexd+ucEdor7tOnPBK0I35
rqe+vZyn/H1YOtmtbYgybhyjj5u8mMlFcMVThnPgle7c6hGI4nCv4c95h8lJYMC1s2VcOIUe9gav
or1O9sFW/oeJ4yb+FAO8cVA/dSNl3bWo5N4aoAvrqe2vOYTmmrarEX6AlUx+gLMkeZz1WPRAjAQX
mFjTnZ7r/BLBnoc/sly/B4GwL1RbsKVWeCNDjtHrbHz0sK7fF6FKLqx0ENcyz/KLvKEcga0/l7G5
pHf14PZ3TmHmj3nu9W08jeomWxZxSV1iIfu1YS6b9LcRpcYBormJrcob31OPKvfNqIYoCXr1JVHp
elXTdnwFYuJTxd6Lk4XtR7jFnF0/6fx6Lqv8kwCi8Yjs19qSevp9m1BxiLTncY8DyLdO004HyZay
iBNHFDapH3j/JYd6PAgyuUSK9WYNu/AaFtsG+fSqLlrXihe4UrO1z7zJ2zU0Zq9Q8ourxjOvJoI7
Lh2vVtejct85YOEJdDJhefUOGFMjM3gf16V+8rLGv0W3cs+E4X8DRM3a4KX2na+S74PTP41cwyeO
H3UXl25Rf1yKMCsiJ5DeHjtF/2CtAD8KSO0XtjHfFUSv890wqWIlTCRqY8++Q47BtssZ5g/5BBt6
WTkBL2OSY5Y8WcfMk42sbFBCRxz0sZepzWlm2huUHRE7BjQ99s0UW9bgwb/YPGpF07Jk5yfrWg1i
vjt2xmZpY/823mcVJiIOo+Y9WaPGQoqADYg+rKgqEBe5GeQcMlQF81bb3y/zZqELusK69k7Gumbz
2DUnu51IN+fd0BBd6oQ9Zq2TNW8dPXkLNhHDHuWhAtPlycjX8rRk3DBFVLF9Mvs5cxN8MZliFZ+e
58KUBgx5LKYlQaSlFPut5OQbzE4ewtypKMnOm7UwCwUuQ8y8OA7VyX3onJyIQBpxJZYnh2J+ciuq
KsC5uJ5cjEJj/EB+iUMlUieno9cU/p1INv9juwq8kCqw9QchN4ekPLklC5HaT/XJQ0lvAitdKy28
lbDE5pva2RyXcjNfdrXoP3vDMNwVU4mlg6SpNN0BY1y+VCLHvcnahpNzOLk6Qcji8AxObk8sZs7b
6ocH9OQHnUWApQrLFD7R8eQZVT/8oycvaa+LVu7lZjGtTm7TED2GH7H6EkUe0LcjPm3zpuZl59vR
MA9Lgn52cCmIzRVeVkjteIOGzeI69KbMooqmUxItuZxvw5MftmpTfIrKa5u3/skxW23mWefkozU6
nUPx2ey1Y6dw2tab6RZwblteLicvbnfy5Qp7OzTrk1+3qpMaNbGz+Xitk6d3ZOs/7vRm9W2mAMds
qamahhOVo4iZlrtnpZtHODj5ha2Td7g1VXAzbYbitd28xaVMlEd1pyPkyD/5j30nF8YlyMt0RXCA
RRnbJp0K3Q1SHnAlMUXmFbL+HWIP3M3hyelsnVzPtdGLC524H+yTJ9otUqn2M2XYAT1ygW9a627C
9lmmw7AvmLffeZvJmkCfbQCPIPMgz/vsFQxCHNkcYk2Lmg9G7ebk2U5P/u01zZL7+oer29oc3jXa
z3IvcjtZY2czgRdTQiWbF1By7AtSL9uj9KpBMlMobnFNbl5yZ3DwlTuWhuwcbHbzte44kIUnF3pz
cqRjVkJKaZ2c6n2zudbVycFen9zs8uRsH08ud5Oi2w3sgmZ8ME6WeFGf/PFQgzDLV05pZYcgN+aG
CslmqA9P5nrDnjDa5yfT/YKxMIjtzYvvb658SQNnjv0VO3pkdrIydhp5yG27ufnNJZQVtlfchtbJ
8j96Bvb/5AcKwHGH2/EECMhOsIAFw+HjdEIIDCecAJI+yEXFCTPgnJADU8eR7KqtTB48rIe5GYAd
nzAFzQlZMNABUm+6tq/aG4mwB65BZhXFyvYNrOc+2NgH7QmDsJ6QCEnZQFlIT6gECtpgE4ITQqFi
rqNe6/mKc85GWahPwAXRbvAFIm9xyQ8nKAN8HwANrXZ9M6Is6iK3ScDFH6tG9YjXkdJbKLOafh7J
QJ5XMqG0HMP6Dv8rRzIspcCkSjIemzutzM68MXRVGjzboeZUUnajQW3cVuPRQ3zNUXRugSokdlr6
l8sUwvGnKjGIJ0ytiKTHmd3hwQXmOkHfwjRkvFukyFz3sCw0BK5D7cvlikLmNNz1PWLcPVO+NT24
PdEI3X60YN3O1DJz6R3rHJDUoyxcp9yPmL3nN4mGzvm9q41SXGWIwpqrYHHR9jGxtN3DHE4WyrRG
ZuHnGiuxl+EJlfZYxmbuCPfo0hmqLnt2uSHgC9NrqogvL29vc2p+dRmFTTad2Lh0kWA6NeNMLsaw
1o0245KG9fehd5bPCszXFHMcWyjTGbr3CudqaoqluKQ8M4RvC5uGFzNZKVbRxBVxOO0EjwufIa7A
Hhrs23BR9vJ67YUf3ueFRfHHzHPgmBejk+mU3rBjcw7Qoavc/cJBunxP/byY9yJzelFGrSlh10RS
rK669UpUVc2RdqW9Hk2C0dRFbVEtilPRCo6Q7jyFOWdLvXjs8yq6TRHF637pIx9kRntsstrXe8Pv
hH81J4kQTWRrwJMhEDZKMe/KdpnHo98uE7ttwVIu7mcrzzCe4ucRy1uExzJriZEph1LEnQ7r+dhj
3A7vSjlofZ3UYZ5eexzySSIbJwcDLJ0CUBnN1Mki6qjZqAugBUNzT3eKSDO3Uu50W3hWTSM+HNsm
AFOMoJZg1b7CV9wMtd9+qkyaXQ+6MNrSZblbRNP8aAv/FYXnP2XrPCPw/JHVs433hTeky1MKZv/+
b/8cf/dp+PTsv1BmzWkijN86ff+tH4vh3//th0Vh+3/+V//xv307/ZZH3Xz7H//9Sz1Ww/bbOLJU
z4g69Jz/AOH5n//rBD38379JIOAH/xlAYPwjsCxcOzQW0LySq/Uvu6Jr/MPGlOhRqQH26qGA+b92
RcvD4+ij3TT5wJCUPLcruic0OJoB/Iy04f/GrvgrtR4t92ba2NIcTVhVWyP3JwmEi1Va+iygOy8L
RkLPRUtHoLAfJcrSV2srip0txzZWcnGOCbztjxbdrYOh6RPY9uxc/nT/fmN+O3n4fm7nUrAGEcqt
sPDqIgQ5E+m6DaQ/AplbpIIr59CcyfcKmPKw7It6nCLoBckn4UDxjvphKuO1KZinm5zJw0jkjYSr
+NGlzH8XtM1nj8rwLnFmiIKaxKdYsSt+hy/fiEXqiA92l2Mu6DomRTCLDmW6JWz8dxb6N47ok2AN
GnIj1rkgSQgAj6Cvm/Kx45T2H/Tq1vs+kXPce3inIyAiHHWxX924dKOduPP96RtNUYBBNOaJZLC8
WX83bT91o0qVrEpTqL2PbH1w6QtDvpQj90tffLuRtMbR1iGlwc90puzkeF+wljTdrvWJEC+tPaWm
WNPcpepRkYWV3EzlV7Mxj1NB8bf/WJXB0c/uW3DulZGiw3tIOkqyh5ych1Auly2H9HF0gd6g2+wh
s3DcDkwIJ05w4dTib40u21+PXgZlOioM6zzPd23VUKey569XE404FhMqf/lLQS7n2oHtHnketkfU
U67JOe75u2/6a05xpeh2vq4o5rk80ip5M5avCr/8uPqAG4s2fwkL93/YO5MdubE1v79Ko/cUOA8L
e0EGIyIjI+dBw4aQSiXO88yVoQI89caAN97Zhr3yXdiNbhvdaAN+GMFw+y38Y0iqymRmZVgwDHSj
L3CHutLNJHl4+J1v+A8HAOWjLc5WAERzIDADcjpokT744nylqqNCb6qVkpVU4Qy693064gDUheLw
XpMj5WdunPGzhQnUlZpCZLGrSAx+KvI03Wsh0gwJmdZlq4qkHtiXCXsRvYXX9KLiu2BMlFVZ9eh1
IyUhr6B5HQO/HtByywcgmqEpZqIYAKbu8bIRSCb078EuBJSBK7JJ2pXoRDjT1BQ2U918XbXMzFDo
ZPYptsk6JBVxBLHABUcyhxONqR36WkHCDCwv7UYu6u2k4AqV9pq5Yba90/T6KkX01EnLHCshzHjO
pFzoL5jHKBu9EK/R6UE2I/KzVauhJP5yEJpxRY+eTxOZ1cAjY5SKy88Su6J1QOkYfqKM36nVVq6q
kzI0O8eX1U+YUNFvpDJ4+YpLfI7BFWH7mpjqkWvTDni8oglqTx41abkqqup2LKMU8zc6wzFT47RW
3JcvtpTTBvUGqRLUDAwvU0OGbRHyEStFxkPFoUgTdTRvtGZdiKHhZFRnqyhVzHWJ8o6dX4pbHYYP
zMtPL9/AIYgvFpijCximTOMD9vgiNrWeUI2t6iOOplv+JsEacZe0qXeSGJPHkAzEVzDKpctQ3bDb
srScHKoOGBKjcJomye0inmra1Bgq50aztpTmFsNTsmOSWefgyCUHasaMJqPtm6YVwm0BY1g0jkB1
gdTwMba4Rb6FBlBH/S0JlymNfpq9VFSkgP51HQnmLalXBs6mmE3IqIupP2RXGwIEORuohXfsSdHB
jdCpBlWyw0SJcKZJ8vuQ7ifoC1wWQoNXR4E7fOUt/THb+lNOqgc7ac7mvmVp5+9TsrQvn/8rPk9f
fvmbL3Pe9Ycvv/zTw3/+W7Kvhznb4bd8zb0EXUbsEFCvZchwK9BP58v6qhUx/xXwdtDRfArEU76K
X7MvyXiFuRdIQADDpF7EuF/FIvgrPlBgvhQmOr8V6P/37PNbevPVp8v/OX8m3TmQpn/7Ema+KiBX
fj/IP8OATrD4EuqqDQ0wAvIKJAiGZ9HY0C4XQv7pTmEcK/poujQGVineLYAwtFmaUHCratgZOEE4
jRzeeojOm9ZaHa03fQRBABu7k4z5qB21zX0jYt0Rp/mZlWi2gX6CEzYCvXIUtlbRBOC6koRuQ6+l
tLNoqNxRGdJTcYpnt5OPh1f1Q7v2xez/YfL/jy+6nysMHn7+k7P3Rf0n6zb7+L4hNT+UBL+WCF+L
gl//59+NikGe99Hvlww3Ydb8idvWDc/T1g+37eEHf9u2AJItgLbW1835YNsqr0R6SqBTZQ0aviSC
rPymccLe1PhDjhA47IDDrUfbFpK3yLnG/+OwgX9k28qPz6vDtgVNBVIb9V/SpiUNNA0BLwANlFZ0
sA3Ax56jDu/9wW+2mdXChdEAyexGEuzXSZ9qTiLoNzJiXDK5ziqKBiTkevWN1JuQgSbjg5/46Qbd
2UuJIXnT5gJHbH6Dgby4UaL+Ku8nhwbh+BXp+0Mb8v+yaP17vBlB+v7+ZrTz7H1Y/fx4F/IT33eh
+Yo9BDWMfcg/EAd/C57I+aN2MSfNKBkgU/JgF8qv+H/C1kMFB2oUai2/BU/5FWkOOA6g9hB8+eEf
2YWHIuBh8ETzFP4VCYQK95mLLWhl+ShH4mim7MK0kV4HepI7Q6PSrpmiChxMjO2uOw9DUTgr7/nQ
xJtKVb2TmlHCKa4QKH2K0xuvp9yrythsHVGqvZ/yWgQY2wYTTs19MsPOMSFf08vpHbz5WgxTxeYn
VY71u7b1kffrq8F6i3upeeanqv6zEGLgiSS3WZ4MgxzlCK+b+lnPlGw9gssjr0uDNQsj0y3Oe++t
UUvTzYN3+Myh8riqmRsJaDlrHE40D3TVVBfQ6yrxJ0nzIDXUXYk/kKGAxsi6wtVqpVwxU89P6smr
ZmLSNxmUP35S39KQk4//6E9R1XjwOp7kKP/rz//if/+7f3NIUP77l89/Rb7yt3/4q//5F//t0Tc2
/4rv35iK/QVMBsitJmWoqZKMf09Q0KVi7DwbUujKrChFOP8e6fn8AJVAaZvDMBIDvONvalYcAghg
zN+mhfgAGgfyj3xjcynw8BMD6DrXxzPhBzUIKKqPCxOBzlaPeLe3suJuLTPXHk3PfbA+z2xXnuLF
SyxqH10m9ijgrLC7Vc/kYtiEheDqnXXkq3hyZB2eBLEqkTWZs7vHT9IIXYzkluitQASuczXd50gs
xZp1D4Dr5OUnmqXJnjwSBSSENgl+FrzDx9eytBxk+zR6SMp1p4HUnKJNbcfIhJTeiDETDsRKd5qP
PtiieBem4zk9eYTzle28ukjP4emkH3n8ZVCYXySmOKhrIB7EvRGUH7b5JACggHYGsDyBcF0o+J7h
RR5L7Skjq7VcmXd+Mhyh4h675KLMZAo+6qIItyUV/deYh10XTegMWetkbeQIiOxog/VDJDXyksVT
znvtQWulMWNdq0qeskCalpbJLlDj7ZGXO2+U5SfBqcN5g08sdMLFRkLerctNv+Hl4mY9idm7zFS3
AtfiJDzTU/Ws09vTuoGs0FBCq+qx6xMrnlwfBSgJDhaVs7L8JEGcQmCJgQ3q3Tu49hdTk4KLTLZx
hv+UR9rlh7tIs657K9liyXcX1Me4u4f0brkEqMrjkzPrkxnGfIsPltnyMCRXutRbgRRc61P0Fp7a
vkCPmEE1g/IJOp1v00FxwRbuaPXWtokciRkkaE976FK2js9gGnXpE7bCPrHa0xibM+bK2w4WCaz3
y5ff2fy9Pb1f3pmGShCf5eKVAZvMdDXIeWWjzkw9IiFFHlZuHaW3boS6PiUZP4PT/eHlyz4X2eBd
0Z+DtDg3Gh8vU+oZfHA4xK1oan+wqvSyyDu30oPrly/ztIhk19Mzwm6VHhLHwiJIK74pgQ+NvFUs
3uZMJjMVWk46KS7zn7WIzy59rF3p07WPhf0cYoA7utYo7MGl7VEAvyoQ98Hi10aKfzUY/pUe926K
wTzwdTooI/FoHDZm5K+FPNlaRXlRMMDXp3HVs/fEQdmJUudy8VELNi8/G12pZ94dVHR4ueShMvzt
x4sIGceMhQa2XyZZtyAQL+WhO/U160wHmJh4+goae2zLSreeAJwN6F4xAH4Pj8+10mgXAfJnYv52
GHq8Sj230BqnHy6Qi4UhpDrF2K1VDwsiAX8Lmvmugd41ygHrpFKIkDqiwdH1yJywq3KAzIJrxMwG
pHEjI/Y6QMQZlGnl1/4mS3EdMmELsJIi0CxPJrLCbZHq/gPqB+5QatuKFfX588Dqz7WyvPDSd6Ux
nAcKOgVDusfmcd0OAWrsam1r1rTy8hRcXEci66d7y+jgdWrobUdvB9N35wuqaX7JV75vRx/WiXru
D4CP9eRtOTanwNM+9oqwZny5KUMd6fBoNw3yDl9HxvngGxV5m43gzcXqvayGuzDK8J72U5TUqwta
d2dwTTadHmy0Pj3N62Rj+N7NZJXvhUKBjVEN53LPZ6ua96kUXhtxcwFaUAOVGN92I6Y2VZZcRpa6
tVTfFfzAbf3mApTbSRuHH80ssTmMNrkfYlPZkaLKr8OIN6qb99F8LmhwtEesKQ0HQ1WXYbRyFlem
jS4V8N1wl+ufAtZ2jrvzWgN7XSsZs/F3dFsKDO35I0X7OPjqFkd6NF+nYWvoxbUUpfvKS1bwrm4Y
kJ8mKGxUmbCff1feTRt/qi8A2u+MwHPrJtmjT7xL8eO1DW3ctIJ6y9jS7fxgVwNyjcH0MbW+8xTt
TNfYeMJ0ooTdGSgDR1CTfWENmwziQITPUSlYV3PUEULQAZJyZibBRoY/Byx668e+jXjKdQ9UyFYK
C/IJBIAxBbZqgqYzYeMIGcdm3Z5EiXVD9n+HY5c7NBUm3CIbpJfSfVSKm4LZTIpYbirVJ3WpO6Kn
OkkU7ISmxxQg2un4cfVGd6pgMSMhlFZ4zUnSMVnop1XdsLDYcoZ+e+2pMAjK6sLkxeXquFJG6Lao
6GaYDxY+m9Cg3U/p8VOdpRBLRKhIcnXS1upuftUByMoQVdDYFO6Frjnp8cGQyniLdpGTlP6mzgUA
4jPLxTDt2mIfd+1J02Nmpii7eJzwtvUOewD+425U/U+YdW9K2XMTJADhDd3oQeCqCacLB6su35oS
nCwp2mmAl32WtZpfDd5DUhW+BWbLJ9Ijgq1uIXtsNbSgIfEciVDPBfl5rAuTXJ8HVovgOwHEQYxe
tuBlVReG2Th+hoiwJh859g+yn8szbMaUz4psOr7ei9Qm8lTgghg6r3or/hTwFaPQaftJfplo46qW
1F04ImmRgX6DxOciz30ZZ/6b+UwVNe81eDpsf4f0Wjeb18aQ7OGUOyherV4O1wuJq68JGO0nOleg
8VHhXaSZjRIFGaBF/GOlkVmhhOT3aE0/9Zq6jWRlN/DfgiXtJL39MCnymaoNGwOPFdvPjxG5F4Pt
b7cy933nRGlWEnt8cMha0idKoltgbYPrsDFv1Wz6AG5y06RYlRqNKyvNadaX70OjwbmDYKEK7svL
8ezeeHALi9UYulSAy8ktaMpwbpR+ZAd58T6qjduXr/Pc5jBEiTaIhkAne2SxCTvGlILcKABR+uRt
Iapn4N4xjtG2zWQdvhEcCF0D5dyWMFQqwZuxulAtYa0QhSyvOhFE4NSWtc+rcJe2fLZBe0RsbTF0
OrwOzm/mY6gc0a057JwHOSPueRUMLslatTmq92MHH4vAIwhuFGNQnHRrqfLcVrDuAHMGdsrx9vIa
PVOTofmHLCanh0gva7FEQmQoAawua5VK74Y6cE1P/ikkDwLte6T8e6buQfsFS0u0pEjLlOWVChU3
gKS0VnJ0kraKq0eMYT3UFOVxoxQqEfndy48mHxSwFsGBS6Jvi4YvT3hIoh4sLpaIs6ghlyxUEjEO
jlbTHKCm2H74boWHs21A5pn/cq46wwm5WGintgeeaN4RI0WZWmp0bHt3VLt1OslbbUy2up7sJ0vb
oUh8Ujf+mwnPuiIXNy18sbLv3EhPUXHjzBk6dD79TeX7Zwiy7+kP3xepcDPEgRuV9YU0RjAKrD3U
XAgR2q5hbIba1g5Pwl2dCuhmRldp1NtGp21LPXo3UlWNg3EP631fcdPzzzdDtx6jwG0KZQscYGfi
86iYrdurnHFD8GbOxlqul9XtqVYGboENXZf5Z0MEUL5tLtTRczuywHFSd5I4bUzK7PkraS3+vq4u
RCKmlajbOVnqgSO3sf8GlMiKySyQo2iH+vOnzoy3CrUyAknXpTVdtngs27iYIxJPihjWJxJ58Jxp
GRy2TddxuuEJEAhuIArXZuxvgPZuOO12KphjVW5wkRjO5/g9Vhg9yu/C0rsG0eKS8Z7W+B8UXjGA
cyFad+ZeifyTZDjTg+yd1PobD3mCMvfuxZoUXDf3tCGcscOhnvfgTY0D1nzdWuGVT/ZZkvUauU9W
Y+1RCrFxCdz1SuPMa9g15YWY+teg3hwmtpv55+hzrucTVRy0bTcoZ4LFv3vhpi/DTwPrl2NCkZq3
SENR6WmOCvW+EUMn5MCXUVqevPgqRqUDZebrCVFiiDCbFheLXhw3cyKjRta9CXIVX3LlrBaGleUb
d2gN7T2rucCo67wLu1M15sCPeKfsNR+qsxiDfdCHcy29mIzoOoIdldXvdEljlpBezj0j0yOt0vqN
hFdAn3YnxRjsFE4hRAlWQRhfTTBo/bw/hYlu51p8lc0GOhZkPqFi2fjhoItIkovgZu6FzHtEH8aN
Pyse94Qn9uB8xKZWfTIa8R6Z7g0ADPZr71pqc6ITXRuP/YnAkFxNmyrQnPndVELrAjx0jAD/iJwF
Eig7w2SrDfFWqsjk+ls+6buXI8LTw08/IEuQnKE9DpJhUXoyv4xanh0ZE2wr5npAVttTFJDW8zbI
InUbxv4NHiibUB1nDCKWKtaRsvRJwOUWaFrqdA0xZDbFRfsnF0uxEpXBWtWJ73ZZ4ySyantash3T
xnn5cal0l1Xi3IwBsDEDChjyLp9XyiwB0giSWKoW7QQgnHYwNujH1sG1IU4rZSKNrzFKQ3vZLYnD
YGXuy2B4V5bBdTGWrU0HducVwr4L+jWFjC0M/Qcdk2hz8HVHzSk5iQ1Q3SC8dGTqgi7sMb/cIbTT
2g3sF3tO2cF8uUWB9WaobSHxnQwQpEy53/Q6fnI0uyYcfaCOIIhcwBDqVc/O03jree0pEKVdbihn
eazsNIX+kRFeU39c13w6WHCcWzo7auw9O2jAGZslyf+onuW4467wsrPr1JicFin8yJwCW9enc0iE
530zV6AJMUqRm8EeMqLglO7VioFEE7zJlPAK+jamt8jaIKXjVhpFRUG8bFODGMtezSgcZe+6krwb
ESw/2DyXOHx4+makos6EG4HD1sEe7LqVfRgMYrKFJfNBqIKfgdEqM1ljizXJpam3Jx2fr0ArovaF
a9zb9JXQeTe5rjmSwhsA9btPY/91o1ARUjlm6L66Xtm5RIId5sqbPox2npldNhpFncZxFVCsyRk1
MOoRfglxpvb967IR10TkmbqfN+ZekK2bmGvSMruSvGYtTske1ZGdbIlnJvV0Ilju/F3UigAFWt0O
iKuzzXYjxb6i84lSZ7Rat0ZkY1dE/Tqu/Os5zBqFcSf1mQ1v2EFrBipwIawOvxzqfTgkYH4xfjaQ
2NbKZNvIHIpTtYUeHIPNjeEONDdyoc1HcOTQ3v9o6HDkW1M7kYJasJugVLYMgE07y2PHNz9ByC7s
GlUMW/WCXSLE27gezhUsmbVGc2oxex/H5k1YtedKklzpxBajyfdz4R0RlCcKqUJsPgQVcipCKlQQ
cqZxV4zJVdMY95h9XdeyeV0SnF2rTQlYZnqJB+jdXGIjmhM7gxE6QtWuJSIa+pCOoMdu4fku1D0k
BjSn7XvXLKitc8HNCuNEpE4GkfwOCKY759uJBLIaHj/ex5N3mkvKjpb/LjH027omOymn4Tw2BlRW
DCNzohLfJ8WM3lpZF6yVKF21jEhO55MeIsWR3PmZyIGgFTkzQ0myp2WvvqG9hUeraKxMC/7ryGJy
8OrzJ6hm+5juxMuh6unlEGWlEc8HPWNclxpxqHwEiBEgGikk7emcnwRUzWaWYVZD7Bj6I5d75iBA
3fcgw8QscAYGPK6CRiSaAB736OsR9BMK7Co0sLWbROyIGieU4nfQ9m96M94DhdyGdetAAbk6PPP/
h7HgbZ7yryXK4xEy5HdH9vPt/F3Dgmicu78/fv/bP/vzw6zwL798/vczgvx3x4X8lt/GhcypVaQl
FfEA/uBU/T4uVMGZ8zppyVPyzrClh+NCxlDUwQptFJGTkr/6Pi40X80q72wNDk1mxT+GJn9y5tOJ
BnE8Jx8Wg6alnvQ4VVUx1BS8wAsLuMJD7WS1btNca5Px04O1uvxa3Tz0SXmuuDaNgww5WEIe4vHO
FjHySjo0KldNpqHV4fuRq5di4VpBff/yleS5VbAor0gqwErOgtU08hethGHKLAsC4lxeQ5NRrNPO
vM8QP1hJIz6iaQXDeui6Ex3U1MrrizejMZAEi5dB6OfvUuUTB7kgqXQyUTZZeaNde6MFej6WnU6F
Xwap5eUbfhJkeA24yFCAygAAnqgNRnhtan0/19oj0mZTXYpMOmCpgWg2aMp444rBrnok1BwaKo9W
CRwQOwwXJc2gyF/2fhJUVZJ2TClCI5Pqs8yvOJQ/JbI1H0jVWe9hQpQKfX4WhMLgDIrkqqOOmyt0
5kxUNWguoIZC8ypQUXNiLyNbQqbll2dFdz8IMYamkjQ6THc1ijgjtDX8SBzTt96Nmm4ncZHf9JV+
hY7a4DaqoNhjMKlOq6PBohnhJoYvvPJSRPakwhtxHLbqVeoXbp0Xyeu6EhwF1Y4j48hnoq8MqI8X
cZjFIwn6eI/SyvX7EMWKFdwKkNIIcTkQgj9mSRraIeqH9GP8N+hq6JSg3l70rB3sHvRxCl/fvLwl
nnbmIFMwSgdjADZc4QB6fCtjHhsqTFBrJVpkpV2f1quxmKlRqQmNoowaO0lEyw1BHQcSpIW6aZwR
Ke9eK1/3HbT6l+/nSaR4fDvLhN1S29yI4TauLNybZu0lmLhKZTlKe09H+lgzcK41FlsTHgEhERVY
yqFlLRIOYHOUzkICeGZcW31DTVlg1XvkmebDdHkZDb4O8uHM/YiCj9c4VcmopLCbD3cvsruheacM
A3a/YXuWCuTNfjStxsFUdkWgCLYn0XExCuplWzcCbQs7TnSgmNXUnSkzeplMKOm2WWZ8RLCvhjBy
1iaSdzb1IgmY0q69jJ5HkYcbQRV0Ch4SR6s7V6aww83Quqs06aJFPua00JNyNdVxYZc+Mu1WWORu
0UdQ99PmnHzXlML2pPRJ07wgr1bo5KIbE6QuUKrKMRIIN2L0Mc76t74vlnszSW3BYgBoDiL8O4uQ
Eod3XYizq6mXEhTKGgfggFYNvO7asbosP7LOz+5liH1MOmEs0dVbhH6UzcpejxMEwpJkdGlc5BGq
PQr+4dtGE26DLshPJTHQ1/oYCLbhr5DKH1aJZjodP3aksfik3cdOJuAZ82yZKnE+dh8Oww2raPEQ
ob9n4IFoK3UPWVpElEX8CaEaiKTIvASNeKTiffaiJgYwaJWK4H8WFxVBpxEkuGjmX3ZNY619vWts
MP1nqBgY+O5EFFTR25f397PhDDwOyAdkRAnJi3CW9aBdujLieNfak5qE2jVHdDo61jTvBLD3dYsy
/4SDb27QxIvD05SOnlmjt3bkTuYvafml6SqC6AAgIAktPQ68RoNqivgGuqk9fa9U7BxPpDgPjB5/
3DIonIneiFP6Q7XzqmhYlXVjogInnBdkJTuT2jNvAecNVXRkUHMY+CxvjX0JdNfE40I8TOsf9GLj
MPH9OSVfWelbxSixzR7PR5Q2tF5f08OV+HjEYpOrygmD1En3xjO1xYW208LWjVKtWcU+Z5QkIt0D
9cTOC+ttDaPWSeogxZsaVdOqRk4ksjaDNfHb6MA4BoU6zVCczqOz0uxNl+7r2yHEJ8yqCluP3+uw
Jei6szuY/cR9tLUgsCJI5SP0A6GcST9wyF4P3oMdEmcxmDU+rtPe8C9wTR8cxDxlO/MRNxFLpAZT
AQgFC42iI2KyY2lANZ+HbmVyhQHhEaX4504KA1jzHFVJ82ZQ88PvSwvKIms9w1zhHtWtlFagHmZ4
04R3oYwZ7GFj/VCp8g8CpT5zcn6/MvnyGY4FTIt//uWXfz3/w2//82++fP4vX36B8Povv/zyz758
/g9fma/PYBznC3wvWqRXs84oIA5AhCDGZ4T896JFekW1gCGLBWqVTqHFyf0d44jNJwUNJYmFCDeT
z99qFvkVpDNSXFKZAzf2hxiw8jI5AD/MVIqJKqw82JLL08SzhMoUOB5XUpdhzIvUDUNUHbkGfMfh
CyV2VMfynYou2H2ESnBgy31tEnWT+k5sShxs5JQZfo5SnAr4LNogiBS9iVJDtLNhyPfw9pvAkaC0
3zIbQdOlV9obHLzT0W2x4dpGtXwk7XwyDpwR0XBKUKGn0cu/5id+EIJCS4Bswlh11cPUXPlgpC/V
AlGfiP6lo42YNns1Q8jaamZWfp6cQUlUr1r0JzdTUlR2rUC9GyLpMkrUfpdEuUxzUbpDU0dzvake
tw1yp0fi5rJm4Z4pHEnQsECBjSMuOtZmhSA8rIJ4NULZWjf9NLh+n973CGQ6ITRAu/FQgH2wqS+/
BuWHJeTBEfVhrJ4vyrnNrA5KJnrmiwONl2QpuSlHK6uL5Ls4Gu8LIE221Mpwzgz1QtYrfR0hUoBa
kRGuizazjuTBT7Ci8y0wLIdtxCYEorZ4V0ZZ9KPRcQsFbDdXV/CXH9FyfzNISuskWmCcibUJ1XKg
AyxhP+zGozw4SMYDkiW9OQ1CSQE4Ev9UpD0iwYpwLNVYMIkpeulYMcfUgN/MJ9pyuDwZmZC2GXb2
lnIPwqVFVbRCo6drEDJGPqiscoAmF3odOpM44BitQ0/9qCCphm6ug0PBapQ3SEdtMHlyphaXNwO9
Y+vtaEa2oL4uBsMua6TPrJuqPUZVXZ4dh1vHSxV2FW0TqDSPP4QywJs6lfWIQXMu2dNQpas8MwJ0
pKfe7oSpODL6PVAnH28oPCzwiTUNeJUa7ZjHFzS1jmGYhVKlKgvjujeTU3Esok1OveUmaeydya3y
oW0iwxaTnJZpPM1VuYAJvYTEM+LQ+qbxuuTIbT1dBu4KbArIX5NWz9Jko7VQhhJb7sqqhs6Z1ABl
1KJB7crU0XwW2m9uNT90iv5un+5hm+7vM89rpkW/dIL+j0NL7z9/+fzXM2Px8x++fP6PXz5zlP71
M4fl/Lu+HZYGhyWswrlYnaOBPDNrvh2WhvxKRS4CEKSCDSRdPPpQ3w5LWXoFCEllakF76nCQ/npa
8lfoy3MYzBSZr3ycH2Ascoo/Srw1mPKqhDIFv0qHAr4oPEZhFLDNAUAg93FzP6YqE6Y+z7EUmGXe
mvATUiXFvYIq+oPVeyZULxP+w3VJBSAu64yyl+2LaTSyvhAQJmDl5Fmpq7qO6qFENztruyMV3TIh
mK8FiZTWGYq9VFfzGjw4PlnKtuu6EfQEwpOOmYb+utblafXyE/Een6wk3gjIsZAAwfxYHHh1rRqp
LnEVXJhSt6mx0TY8Kd7WEVZjfQAidIYeyOqmqvtjrjvLw5YnBHqvobTBTqJ2XbxFrW/9yUy49gDH
0DUCdV8J01kutiFcgFByqwJxxpcf95kXCEKOMMx5Iks4VT5eVEXzoiZHDHTde2XoeJmosLzR5DDI
C45UDM+sLBgjBGIhmNOIXPosWhayF6iICK6AaNIlavEisMIsPPE0Iz4V6hHDC/HUnMBmJI1+zJbn
yREwry3py4FAzLGjKo8fVBfqmGtrwG3gCTgoE4IIHkvFTrvA3Ka9hO4DzmHYHoC+DaNJseWmQxLe
7G1lit9Q7PJDYqgdWZPnlp80hw4t+xoO06KFPUlaUOc5Q05VTay1XqKKRvJYIDyHeOrLb/q5FQCr
TTcYi2+C2NJoUSrxHUzUMFhjVZGf5p2nfQiwrHmXdaV2V3YiCvdI2RZihOJvvBdK5L6V1ovcsBzK
9dQ101UsedIxjYUnpFVeDNbcVCJgEVCgmnV4Hn7WWgoZGuQQoWtWf7WBo6X2II5mjq63JWE9gKvO
beKP0rnSTYpvk5gFTup547mVK/2ul3vhdasP/NQoJQEjDp0+FwLY5V5u5fWYKQaziBT3b9R396Ev
fEjjQXGCAMU04ARAPiL8Dm68oaEHcGTFn37PJGg03fma58HiQbHjQcSKDfSLJY23WwVGvNa6qT3F
0CCtbdSBB9Hx8kD8hAmKbpujMAwrRW2wULDGTrbbgXGtXaFrcJYOAjihgh7x6zStAfFCGQBti4Tl
sQbeE7wavZGZOIKyC6cY6JRFhB1KTxvzQfPcCeXBVVPNCkM5+q5IslXpaRTk0jUoZ/TFzDRrz6ZI
NS8jue07Oxo95LSkGdZtqAoSxu0gM2Pv47ph3JTwB41sCaUzyAJmAGCYb4p86i/DUgyuKs/30OXK
B+M0DGLtEvfBBE0xsD9JtvZDESlBr23UTRnU8g6qkXYd6p4JKqqmTZ5jp2JTjEx3sWKod5GoWD81
asNEvK1+tFuNqJOoidCFqAcYpiyRq0qndZqvwFbwQJTfJcUo0o8ttSPnz9NTbr7KDJoBX4R5zuId
gCWIPFpREM6QDV718vhzXqCx+fLOfJouzL5NPAtQSIzPl5mnkJchQuy950q93qy0aDLeVLKS2r6f
IaffgcBqC5yuxio7Znn0zJXhwpAMUNvN1vHL0g6s2xjKteV2CFzhpDLGTtDHE6YzdWaDN+txXLrH
GMk48sQzK3Nxrs8xhu1NBkEzYTkDrQI9FIJIsVwlFxUw/YPp3StdVb+XcUaH2FBpAhhUUVjHIfLo
jjiK0xZD3AIQRSQXtT2YRrEPYnH8GDETAtxWr2SPqGHHWVLdenIknIKeV24nwS9SW0eW+1qIs/Qn
PRHUCxgE0eWAL9zm5ff49Ej9GjgxvaQHx+Z8HDuHQinHomA+FBQWlJnetG4KrbyukWk6zY2hXZuW
eo5VU7CxBHxEXr7480vKBweWjC4glejjq8eTqgqqWFku7KZ201Rq4HhCVqHRWxibKC67C2pLZGEA
SK2EiBEGOOB4jbWCcpnin+Ji/HgfGzgmDIE3UZpNmNWIRrYtclV3rbovHTBW8qoQi599BVAOuvLv
EywWzhskFo/F6vmYeVgi8nXzNRCrwZyAPFlqJ/jDIHVBZxhu6cvG9UQ4sVGsDk8DSOwNErDYVuBW
Yp2EjacysyitkyGt8kscW/z7l9f1CSZ7vhWFSEzTBRo9JuyP13XIEkUJ45xvpIorDuS2et+1Ey5F
SlufmJMkXBgBxlKl6qOkWCN5G4/GXlKq5vrIjczZx3JNZvIzvfy5RbjcXhZvM+nrgBtBfz5r5RPY
aOIJzLpwT4bGaJImopMoPqhLQd0qRW1tpAiEKfYk2pHN9sxOByNBpGJaS760NKMP0DNPcazi9dS5
cgfqF6VzvtTTWsrKVYK5AUwo6b2FQOGpYNTlkXbQM0EZ8r5EtKThAsNykaPkpYfCfcnVB8vzzrza
MtdKqlZf9+Af6/OHPP05irxQn8+97f/05Zc/+/LLPzn0sP/FQVeIP/xXXz7/JdX4QR3yQPiff9H3
Trb4in40YBl43fRVsTv5tTjXqcCZR1FLMV4/MPl/Lc4l6RVCc5Cu5w7j/PWz577Db8RXzNEYYxFV
ydDACvy/sPXncodsil+E1S3yMfPuepAGwtT1B1x1LU46hEg7qmS3H4Zm9WChLr9+lg+7pgd9twdf
KzMtBukMAZk7Avigr/D4MlUfSgIQQ88RPHSJQqUNUGesO/xQzL4K3saBKqBLHgqlvkI7f8CqpQvx
8JKaYbgYtSwc15OHI5mNkFtXu/qU6/V6DDHfsBUdingdiEjTForaXqQd4r/uZJrDB9TUm10vIBO3
8SE73E84CBtrOeNbXnVAegunTqT6LSri1WUFc8w/rfXJI7Zqo3KVhC2CG23SVoDedQtPB01ipuXU
oh9pJ17SmNDrjLK7jJQ6QWm1K4bzziwtTocytoQNWnpl5ZQekMA089EKo6/YMvScPMC3lsrjOSJG
6596o8dLRY78/CIWgvA+FIH9OHKtt/elTC/dqVQcX2xVyMY9kM5IORnrSj2RIyCuYx8aIAFSGZOm
YtJKiGtlghoj6s7AafI4AOCqxTkOpR1PAxlSzW5TTCCEVU4kgUbKrN8uey24KlQBMySUtT14kWiF
296geiYC1ok52WEZp52jCrEMFjeWP8SYuMZOqg/mx5e3ybzZHu0SlR4o40KgJiRDuBU/3iVxOjSy
Mc7Amqm2tvUwybalBO365assW/iMorkMnWmYT5xknGWPLzNmSIBbbS04Y531J3FoXNedNPvHqvWp
yUnhhJ7nnXJaALtXlGiPZWh45B746J886dyRo7sKuob/fHwLflR4g5UWgmNQZJ8lA9xhlEVlm0Zr
4bahLh/5AOeVW67sDCsCckCZQXL7+HqNqgyxKkYCDlgDKLuJmXGCgxXmMIZ0JO9bDsfm5TXmDhXz
pHkEsKwsy//D3pnsyI2l+/2JKPBw5jYiMpiDUlJqLm0IjZzJw3lYGd3wyjZgGDC8MOCFAa8M49pL
L/w0jfse/p2s0lUGM26Es7yzG7WpblXq5OGZvuE/yDhMWi8Nt3NXJhpUzKT9CHvLAeoda4jsm6Au
FprpqY14tt2+wopN/z5WRZLtzTw1n09LFnuoPlTDy3rg94ab4iN5Chon2SJ9T8KJOnad7CTHx0Oo
HfO2aVyqG4m5012MlfYtepLN78oUf3//Hj5bChB54v37p5buX/5BPYSqSs3j9+//gKIqjb1/oyrW
9H//8j8PnkP19/58DmnEAi/msUEKQkkNcQf8bOyiruegRkAUBUIHOASPxM/Grot4DZxMpKA8VGxI
QX89h+6ze1EpBR21UJhA3OwJtepHFR9K1HQUaS/zUoO5Xqvr4QU5i8SL0BzTuvQWF4fstcmDMe8K
NzJeYT6QB7FXodxRJSK6MHGhbGn2hhSHRhRhaQVr3VQA0Rdfqz5O9voksvdYV5awOip7fmF0oik3
o7HUBYWLQrvJJ/nJi4bpC7owjtyVcZ1tQfM23/E+789cAkfAOOj8AC1UQQef11W30oPH3ncq3DvG
Cf0B20k+UzcUPyahaCkGfP6NrwGm2GAXcqWBo3nje/iFcf8uyUfMGa6UqtAfJJy/H6oHh0qcBnT/
7a//6Q9dSgWMILQE0/0PDw/P/c//PDzoghNG8g+lYrT0DmNJ9LgBamN+/Tty9NfhAeVN7MWJQ/3F
JYf8dXasZ/gg80eqvIkYCFf5E87OfZ7z4JGh+GtzduhMc7oNi6rx4fbKMeuq0AnBw6CsJ7gcrhte
pnijQ5Wa5+Ut1WzryuxxN51GNDDiqB8/OMRk3wsnDj9LzUWgfx7KnYExb7HB+7L+IEwtKBtZvRqy
SXtjda33HKE2/22SmvXWHdM86I3R302ZLD/VfYuWyZj031tp32FNVzub2aRyPFFEvkkHI37ZFnZ4
HUPo2vJAuJTRZyQwvAbnHbfwkbieBk98c3Cq+0gvunk13xsQLlP7JuJtyZHZLOx4g6tO9ybVSmPa
2DL/MZNZoic+C6Q6ktLS3wujNr8t4ASGzejb6R08W4B1puzyjTFZNEkMUugBOqGH23E32NXeHFrv
KqdcSPUuWj46DjVH3cur26rWh09hUSvXyBGqi+4Tv/azi3Fv1rXxVYUR/be8GqKAkHOf9voryc3z
zilb+c1Mlu69qVVZgV2frl+6Rulvp0U2xg4rb6RzprS+8r0UDfNag6DpDXGO7cnUj5s4zpKvD16K
IwkAe+xh/MHW4GJWu1b3qTjTwTrcGmW2EHty+eyQaUYOnfrflT5r3u8X3JPuk/8foFg+J+vUO/3f
//aX//y3v5Ke/tf7PPU/PLxP1M/+vE7EM9Q9ATcjv82dYqr34udbLJ4hxmCgI8dTqB5VFuznW+w8
I65TQEpaxCyUKjj8TE3tZxTsqAzTg9Y9UkrzKfeJui4OrxM6YeQCxMkMRLxwuGccSUt3Nod+NxXi
Q9gYeOtYXbKDITJtYuNcke2RNCQpB6QQRCsRSlXa7qstSpqFek5mdLsmtJwN0AgFGcQ3+VNUzP31
MioJl8RL8RKzIzf+VvWzpBzYmOJKz5aO1FQkOk67bm/81hh5fpmUofZ6qOoZyjCkjzuDIpW5K00b
blzKlAOyzIbKkK3vsWb3DNKs5HqZo/I6zw3jbWwD10Wc0t8m+K6g8VvoV9yi0GMcO+z63WzjEhgB
54nQbZqlj1v9kN2NcexlGxNs0t2DLXTsAKtm63o1wPSwSUDYsSirDF6jnizKRX0eP68/lU0h3zmj
Y4sLR4N3YdReCWp0GtwKezHtE/+mumZWjm2fVnZ+C+c91jNkNvkE7qTDgsyctERcu4repbLwwNdg
trTt8gQjJHomgMLtmqw5SfG1hQ00YARcOeJbO8C43ve971yPdTpf4ZtlowePZM6kdzYtHtKBGz1p
5eU4m9pz/I36/YILbg1mxshLDHdEdGdSo/uYIim0hIne/H4JgUE5LtCsSjPrLwWY/77aQfNUrMGB
y9LkkspOi8zVggLRgEWfjfobEPjIg8w7i1Q+t8EvBTQ4Np3o7c3Sw/2P6WkaiTBuSjFNb7pRtwMN
z3PsM1HU0jP9vZYVUVC0U35xemkf1XTZ+T5xISfMoOEi7ltvD8LCPHJHiTlttytxYoNs7IWXw+R/
xGeWordlIy0lhoSuBGyYklcFrQffDvKsGZ7k4ABqTP0e4K4USp+d5q+2WJfbS5LZUYdNemfCfArN
bSkwtj8zXfXXrHYyfz+FNQpeUN/W3ZY0rWnbZqlCTUf5poXBDC+hETscUttt25nTJRk7Nn90JOmv
RyGaE6mxtSsn2uJ6d66x+RjNRz4jeB9Vu4vgTF/Vb+0iLF2jqloqxTN94SqXV5FZGeM2hpC1CfG9
vdPN0DbQ7+pQgjEo+1AVxN6wKV+6RheYg7eUeCZ6Du6kQxnejn1TD2dK3CRsq29GcEjaRj5PDYHU
gT9/sEWmrnaNJtRb6GzUJnI/uV1Eed05o37dey+7pTN+35RPesr/X8eDKTjB6Wf8D9T0vzh4wPmp
Xw84vS2Qg2SqnFugMocPODjR32GMNgTOXw84KbiB3iu7H3S1Esn79YBTkeZyB1PN2w1FBQ+hJyQE
q6ITqB0HsWUkrpRJBZgo9ecPNs0MyBKkQJ1iBwT6v7Vq50ITQ4uORXfuUB9BnDLOfcmJzIN/W42F
5WwsprxNd7Xta7d5P0CW4h3ngZk/GVncbo0MDbR4AnUxRvJVnpg5RJhZou8Iy8qyIzTzujoY+yW+
MTKsXZxiocQcaX0wFtW+GDAVkRmuPmjukaZ7GZLR9BhxvJRoEcWy2OZ+tdyW4AnOvLwqzDm4rkCv
ObSFSe9wHiDiOPyKbhk52Lky/ILp5r5D1xoXV/zhDZDj0DGwEMp5DXlDCnv/YL+9+n2Mh1V7FfE8
HhlcqtpiqnJwOLIzAazxMS/cCVFGF/ZQlLtFt+bN6VHu747VMMRcgE1VpElouboAq9GHTObj4Dza
6dDsGhtGbtbHPbTDEu4lht0NukhemG+FiMKvXZhGv81y+VCPKebYIkP41tWWa3fOjEAWRUelPq/M
H/HoJXfwXcjrhDU2PdgByh94HPTYbngi/ZQ2k7sjmq2aTVE55o2Jg9BVP9rTh/sJ/v0qe1DlUNpy
J64ylYvgufGvwLT+47/8H//47/71P/7H//XwTlM//vNOg11ODwAUGNA/xeZgO/wCsyLqCS0ECWkQ
//wHv+40/76VJiATcxFSVOePfiYl1A5dthZSV9QHqfc/jfrhrk+Fozq8FFNoyqnL1VltV6nlRjqb
+AUio+G5N2nf6PO+6jgt+yzL07dG5qIK6lntiBl72CIs0rodR7WHF0JLWK+MHR2pqLpu7XzmP/T1
IejF1FXbhIrh5wVRFBN3wMr8JosQ2+3M6pcCfq/VvyuxFDOoe4R4dYBhAgMOWKYpr6xpxvkXrTTv
XVIKzJSxmGzm7dCZ3UxRwlM4W3rExbZ0cX/fZE7rZVxVBVovzTD6PbIbLh68SWoh9dVWqattizkz
X5AN2e+Fk3YSPSxArRsB4CveNkvrorNSYVfm9zb0cFsrp7cNhkDFZQYhYNqRulnDizou+mgXDq2s
t5of619iOPHf0jJGAMeKOwP3EmPs3rRRnju3RHrS32bYid9iNOn319iwGvOG8orXcQdMMDx68g93
344jbb8iameMJ6POaPad8JLiBT593bhr/T56gzCYhpyOnveBcDHRhOfZN68w4oxG9GcXZVpaZqQg
Dj+t+msTLUULk/ut6YSasR31pMTHfupwhou7Un+phY4uN8niVe22sLxieDFiRjQGbTI2HygqDWSk
ftmh5IUpcO1f1lJmbw18KFXjzS+emwmduE2YTMVt6A7659H10pduZrtfEFxEupWGY6Zvp6ofp42I
0N1G839OX+aW372XtZ/hxSo9DCLLCWeFXRxq5pfFnagCtVO6vIt8FShibItqj3Cwh9kjUQR3IcUh
M9nOVWvgOCQNuewjs7bdu9T1K23TklPZwQLcCr1lK46N3ZiN4bCtyMiBbtiifa2lOTkmXazwVtpD
Z+ws2bjfvVwuOUbxrvG6GyjVP0+twXAuZW8a2W6xUBra+lOYFTuvmMDu5qHrIgdL6jFe4QHe4Ddu
zMa40zgb3a7tJuxm8i6aE7LkmlauGGrf2us1vaIdT1qOpFlm5mGg1Z51aznYXm6BZC6sm4aKVDAJ
3SjARc3VAhG67V+3InZ75BLc8asoRt52R3PQ14r0OB6ek4nWv+H0jHdh3E8K0NjFEjoFauY2NlDD
ctVbqMsgATAi79I45iB2nSgRbgX0iFae12TVm3Ckh7up0Y7yt0VUgYidc1hZv/VkLN6FcOa0RKc8
0z50bYNneGtP2vsmGcZxlxSu/d4bR/2DD7sDKafMKF1WvEC9VhQYLIjEdZGxmeqvflVjAGylut7j
s5PMNWdg+OKW2fAKOOYE42eYIa8irlP8aIpq8Lc8fykmoLRW30BI+j6HTdPThV7gOpNWhTBvqPYF
Ag2BHZdoQ8CST3a2zeKo/doNQBm3Y754z2WEju6mSmuOjRsn09sYI/UXlhki3jSXfi12JAjF3i0K
M90u0ezWSg8huipyZrsTXWcAhuqmHtqMzHCGLFJNVjuCFd/ca6LL5LbgokbP0Wp8oG1W3uBz3MMQ
u6im3L1t9EHILZ7drcM28p1hWw7JNG0WBxLcjUG1ZAf4V/8KSKv/XDYAai/sMcai0LNyQqHZWXoR
TImbvrPStCTsK23xxmYTyhfOGCflhR7Z/QfdWcx2E3VgY7eNMYN3zTG8lIQIbN0NqkGpwV8I3m+T
sARiZ0dR9AW9N+tW7zJ7RKhcobyaIfNhtE6OXtPd0apobw2+Ue293szS4MGD+X8QiyGOATSRsrqi
CGFzuIpvHTPqADh1I2Q6KS5CI/RxYi7OEQzWrXHq9yY+QOhBwm7kbVtTy4xGj/t2alCfxmK027CH
NHSBOw5D3y/pbZzqzdYx0vDTmMX2jVhKr99Z3SLPRJ5qNg9DQoVrMZQIOh1COh1rGfS4Neuxdsz6
wqkKce316fCbLdP2XU2F/Uxlel2toRdOFqSE6SEYADddkQwoefiiBbmnzEKTAnWVyW5xORhZZb+T
nnje1DkSunFh1Hi86PyzbdMq0S/+HiSunXEd88Gef2SDcl+w/hkkrsJDfvBneAg1idYSJWZBrvB7
DPirZo0kFyg4Jc5F4doir/1Zs7afscKEbZQvyWPu5fx/hof2M8rLdNSAnSjJQWhCT0h5j1SRoQHB
4VfGcejKrDVjhU5w0iWi3hldoe+X1ONdz2H2bUItn9D/7s1u2bgS5Y0NjvOlv4mjvN2hM+3gW1qg
2DZ2uvcdY/Vra5hBpee+fCXKyQh6iH7DBkfB8odRabwKfiYnyUND1LczfEqJSPC1N4mj4WwfpxH8
HG/snyMHPn+QlVEZF7E1FO+dXhjvMBHtg74CQeTXyXQTThJPzUYiSrStEXO4mOLlhRRd/Qfy5u+Z
0INMSPVkT2RCf/lvf/vrf7nvyvzbhwmQ+qk/drhrPeMSBgPxh4vzg66MZz2jPkspBXYeLCUgvf+0
ww3zGf186rcUUfn/7yt0P3e4j8oXDB6fAhH48qc1ZdbZDy1kioDoE6EjwjBr7fKq7jqIE90QtK03
7+l+RKhJniW6re9/NQoUfgtsFEAMUrrDyoPUKleOKDwHmhzMzVSjaGgINK8SDZD8g+9/5GE9N9Sq
6JymPqGeKIaA3+ir3aGAFXro4EdNpl+fHmn90jApIG28MnTpqR2vOyieN+YWnZ0+qCot2onKRrxy
oK1ELzeWweD7kuq+3u65xNrfRr8xP58e/8jSQS4gE1YiOOYjFxhBAdfPNVCeTm84G13z040b4vR1
epQj3xO1bDYwDpkUGNdOuK2MWxFmNZmX1LSbJaWpFRXcf003O2eK0scmBKyafWhT0IRicLhLxFgg
wgCZM2hp3AeuGboX2I2bZ+pTR0aBH8tmVMVMSuCrvViavYw8N+wCA7EtcrLOfUNLtXz6XEis4P4h
UKEEp1bbsHfHJMml1QXS66wbmE7h3ey305lR1rVEtiDrAlWV+wGW0LoiW3WGh4UcTYPIKLEoFla3
kbUO+KDL3euI0vC2d2P0zhPkok5vi2NfUZnpKBgAfFyhts2DWjDQQ7foyq4L+n7G7qKy5MWI68OT
D7NS61JtSiVsjozN4SjuoldJXRgyKEOYYNWEPqyYUOcW9dI8kR2JNABXLcqFrBkn+l5Q48GEQt+e
9ZYXOKhF4V4vRu9eUUVsXtSuXV6d/naPjxQNaZ3dR9td8R1W365D0hQR3kSyxQnEy5bcrdKMdK8t
hvbkZTocimfp4TKZ9TRbXZEzVNeal6Df7BuE0M5N6PFmOByFQO3hKMOg9VI2WhUUPFd4llviNqmi
c7ZbRz8bEiAOK0XBcF04T4p0LuAjMhfS1Es7NojoNTvZpXqR7E6v0NEJ/RpqfRMN8NtDJIqrIJxd
74qePkLgifH99CBn5rN+FJ3erGEm+lUgEeAL4rB3N/Go4dnYouN1eii1zA/zL7W5gXHAB6AMC3d+
Bb0ANRLOoe5VQUp7NKB3bV8melfsE6/4ym2YX54e7ujnu4enCZCF6Okc7oc40pa0w8A1yF0MdrQu
LreZ5mZPXiQPBTJqGwRQlrqDDkepB80ti8Itgyzu3vfTgByxb43701N5tEjwxAjeUEtENgMXwtUg
VZcaSdjpedBh5Ld1RNx9M+Ou3oeyoax2eqxHn+1+LMWLpQlIurP6bLxWYUWkmAdycKbPUFUHkB82
Uo2nh7nPWQ52A+MYOhIOBJ6gcVRe9fC4VsDXi7js8kD3sviF5vjJ83LGI2DM7OL50pT9S4FE8a1m
jvXzOs+Mlxm59oeeci0+CZqHjLoZL7dur+EpEU7pDS9A+6Y0Z3mGCfVo16rfk4+ONB8yJPQCDn/P
0EBEPekSQIFR739qutB+IZyqRkkG2Uw9HZ4cf6C3AXaSrQRjRBFoDsezjGQo28jNA0No72d9NHe5
jozr6a9/ZJF5yshPHZw7SV1XgUG2lCHaA3UeZGHeUHZD8zm0h3NeK4/0n4jY7r1AELCAYEgAcziX
vO5NXethyrQs02eZx+a8czSzRMPNwvZDtqkctvBu9W25FNNH04z9oIZs8Jab3ACO1co3noiM5yPS
bs8Lkw8BrHCAU1IM7UJRlLLYKCso8/o0yLunfiJDwWGhUcE9UB2gw9/dMOel4hHJgiyfvQ1mNNVl
o83emZP9KHaiA0t5HSERhbNFLflwFKq9eu/VPXSERoY0IFOxrUb0MGA2JDfN0DTPw3H+7i5x9+b0
9O5jo8Pzx8gUpxSHDGWzdWxoAtfUPKdLAzeOU0T5p9R8Yy+z/bmSDQYVY++CNaXENd3NqZ5Vuxp7
gmwr2yxankvP59iFXet/UubGn6LYoSCc2dCY4jP3xOPj9wdUkL4/CeiaBtnbhUC8NkEQzMnN3Zin
n+y4NDdlV8zbeTH7M8MdWw8604rfi3Dqo+507keV3+hLGmQ9QKGitLsLW6UeWwhhYeBk0vrUZ5kT
yNkp351ekcdn0lAbgVCMWB3dkNVFExtNOrdxnwZT6FQgtxDjBYqRnSn53h/t1bqTdgCoJlpHzG5d
SyqTyhmTJk+DOm1gDeS6mDfOUEyvceizrt2kMa/nWcTvljgOt9USWVdjPcAAxjljuoJQ7D/1mUaq
FBiHoluwFx8piCLXKgSE/yRoCz1j8+Nv3dCzPLOuRz4urCqYgtQqeK7XsiMNDYulz+0k6GMNQTej
kBci7dP/y1FWSyiScO4lz0UwzkjpwKh2NkaZaWfujGNHl5OLoQpNY58LfHU1hZVVe/1sxcE8FC89
FGzeIPDd4EUR4/GA9Cig9a2sZwCnUnOStzl6OliHGFW891JHv0qgbJT8q298MzhUP1A+S/4ATf+z
eMVj39uGR63qRgRfnnF4r3VVogGr8OIg7cf5UtEDX1m5mV6cPjJqouu9TKmdrQyMjJR9NUpWLzQ2
kyUJkqwYr7FSrxE17fEUNYxzWkwqHFkPhcgteqc61WB20uGE4jFvjczr4oDqyo8pdV+2NHGA2rvv
pAz3qWd8OT21R/hJyK0AF1Hs5nxQHbtHDDxIBWNPDEszlXGgdXUWFH0CajMJwTHWpPAvhVjGQGuc
7mZKdSxB7ajEEcuMX7GU9ofTv8rjr6yI6AC3MRZEL2CtYCGMSp8B0sZEhPny1gGtjIw4OhBm4hRn
LoPHt/3hUOugcDG7OB0YyiCs3rs+rjS26HFrSvzoudPX50yMz42nnoMHH1lY7aDXIeOBbcj2TiXN
b0mWTVuYiNMG927zzNF9VK3jEjJUbIdGs83XXF0QKbFO5+tVHJhxKC7rTLdywN34eW7DeRC3aElk
29GV5S4MO++3PA3Fj9NreWxb8YnhVfHWQEtTDvAPZxybtE9bwT6OaqO+a8a+eu9CQd/2YWjejKzy
Re0WeZBjKHDtRzVWeF7sZxs5PLX8wJegjw+q5r4+tdZRi6fK9SP8v4JpFNTxOHbbfugbWs25vjs9
52P7l/qXUu6lUErB7XDK4TQ0IqoiTDkbWtO4b8FJnmcPHyh5DnZ2bD8B47UIrTgvFBAPh+qqdPLg
U0OdARlwbcb4qBQN8kIpLHSIqnl6Zj89vmYpuZJE0X/nauJFOBwvGxqNZosZBdmC1HjZDOIHeiLl
marU47uPUYgZqDIj7QdC6XCUekplh3dDFOhVOHyQuYZcU2SKveEO8XYiL9vJJj1X8j06NXYowQEw
RaqYh4NG1BoJNcsoyE1dvlmAsdzFwhzPXDhHwiHTRIKOpxhYKzoXq9Ra0zyU8TGBR3DWKu6yJZu/
RlwL13NqhlgL1+51O7tYvZaGpD6WltsBpsErMGawAqrynDbYI0V5bn2s3CkkcD4ppa7RkXG9cIGk
QPIpRsLdJ4J7X8aLxgvagoBJM/O17pUIHEDzqL9XqTAv9GK2LrMwTW+lEUVXZglBf3P6AB1bCjqd
pOoQrlS99XApCl2MGioK+CpK3/yu6yjhFs4wnhOwf4QTuJ+88s0AQ6+KA6tx5tGcW6eL8S1jP3yp
DOlf5E0jb/xisW9k71RXs9/EV37UImoHkeVumWYogacne/y3ACKIDgzSYPdd3Yc3JHvBR+Zbw5R0
TpeP5dhYOMSX/a6L83Zbo7FPCRhrJhBf6YslgfRWJH718fQvceSLU3IAfK2YlOQDqy8xuFxZ0vK0
faG7mMVhcQOkL2vObH71txzGNEqijavV5eoAdrg61+rYxQ5eavto6d5DMW5v8V7alzVmuLXun0k4
jw3G8br3ZuEJfGQOn0hkBYdO209p1u9JSV2ECXP7lZ2X3g23fvb66Z+QWx+Gt4uwCfSPw00b+5i/
ILTB5Ew8zEeRjfheu9kT2SVsWTT8qBPAfQZUuaaT9eVI4NQ3WO71Vb6RTkosGKJsd3ouRy5gRiH9
hUfO+ViblNDkiPF3ZpShsdNXETraqEWps69HLbr59XjTVG1yZmpq9de74+Ggq5sxyuem7/Ca34OZ
tG47BKlv6m72A/TIrS+uOYaXLcyjIJShuz893SO7H90jhGIVlQa01KoElpUa9RyEC/d+FFuBPnDr
L4NcgtOjHAkL2Ixw4vi0Cv6k/vxB7JdkDnicZvL3onDy7dQsEXQc39jAwX+qkB67hHeMCi5EajgS
62xoCBuRj3Hj74ELeu+8sV5uGtmNZ0KqRxwxhiGsRLWKYhup4bqlY6Br2sATQ1azMaf95FR4p4gw
xdYomfSvJjaBYEf05BtstnzZTvYQfa2sXrwwFj0LXCcbdnhlRK/aHj+GjVhwSd5ILsItqE55G5e2
t5v7fjwjEv+IqqR+a4gmCAkr7y8CjMN10ElqQjdM/L2d5fKFhf5WGCyIe3nJxit6/NJTrY/nDdXM
GZXExQKvosfJ1wwW8msjs8NX8ewaCZw3fWk2OUsOZdCqzHILJ6OPXj1506jQGcwczzMx5Wprwoju
HU303l4bSnHhS9wE51HLL9ymyc48REf258Oh1m1HffQjp+kmb++1yfSSZ6K9MoxpvK2nJTyzBueG
Wh31ecCEA09Yb4/KWPu2zBqY3fROntdxP/6ZWZk0U5FjVJ2g1bUMPihKfbrD+14HSrozZRr328xs
/NehVzgXp1fryEWCgAQ9aRqqPKbrqo9GxWeY5sbbo++ybLXYWy78EXGjPzMKLAB0RlAn9FfPaM7w
c9qwJ6jcg6AqsT+SuM9vT49yLC5hMr+GWW29zLORtc9rhNiGun6PRC1t71Czngup/0g7tODg8/XU
BDBC1nv0BjaO02ZPv5lRsESAR12ciNiqR/7BnTm6+D5Zesv2bwptg9jSvAHCe0767uiywaFE7Qfc
KEyhw1GWxc9Ekkl2PsDigP+F7ENZRJenP+jxUai3OlSVqb+vNr03o+EK+8jbUyT/EaNXtkdZbzjT
PTp6ski0VQeERM1a1fd7ijjkm2z3pO6tF3Gs5e9HIOZBK/FMOj2fc0Ot5lM1BUbrDocYxlFxA9DR
DzprXLbpBN/j6UOBU1CPJ6kTZ+twgQxnABytjd5+0KPqcu7S9nqay2SHoZn7J44w3QniACV0Bwfv
cKiWphu1TY5whTQIEVzVXBB1GGeO8JEAC/Anjh9Ckaypcx2OEpZtl5VDyjKNg31dz0lynYNWu8Qo
xNwkhtdgkRrLD6e/4tFBifCBNcGkBKhzOOjQC60cMsfFJniUF6oDduGH1nhTdd3ykrJxR6vBPGcF
qP7SVVSHRBI2tRwrJInWMb9sfHfwZna9xPj4RTGO5t7wNHmBZaJ768Zm/vQbA0sTVd6num/iJ7Ca
ZGYvOP5ylruqKXd90lU7uxrrp68fdXA0iEAPAi5Yn2XLFMjXDowidPyWx0hXhmROvhOyLrcNHMx3
td+fe6CP1Q7o11B5xomMCsx6b6ZVIZuBL70nYEiht2hGe2dESVntnb6EupFzR1rSLLEwls5eQsNA
vQXK9k2ZRcaVRtxy5jMcuQIAkyEaCiqT2Hl9cZo6Wjczcs57vwqTHQoTzVbXw3oPje3PrCtCcxYV
PJj1VLwO19UCpNlkaDrs4a8mdwNyfxsrGrwzIe2RO5q6HbG5YnASQqsj9OC9cbRq1FsuoH3nskd7
HQvmpG/PubgdHQX8mioSUpJcN2EjiCJpmDKKRCV3n7r956UZyuD0aT82CMYDllIHQEp7vTYZFC2Z
F8LdJ226XJgzDtiNbT0ZaqUWA0Uz8Gqqrbs2mvH8xUjyfHT3pt80W3gj3mb04v7MshzbZ6BRFHEY
KXv61ofLYgotb5y4hTbXzt7lqEXiOtTi4g5k/Tnhi2NDkQMCDlLdO4744VAL+twm+vfuvsFbbudE
TnKhkYXsy1i3zqzQsaGQg8PajZYzUjOrRwC70cFdpggxJC2TkCW74lIKt9hFGhZzpzfDsTI8bSSi
Obqe4GzWhWIhUnDWwDz2orGvkgwtefD3FxSpP7oaOvJa5L4rfa/f1qXOndEan8au/nL6dzg6XVAm
bBQL/OQauRSOSZhl9AK5vfpyj3IUVb3MKi+a2h93p4dSoenq0VExEEpeMGwFenqHi2hPXpcV+uzs
W2loN1Flo3EdGfG2CoW4tRMDkayxrC+wnB3uvLqN/sQbxPuKdADpNyH6KoaI/C7TOHoORh+5tXGt
stvCMTwHHXi8plioUKxWDwFSlVgrHs6y0vxyToba2WsVJLSxTMJy09IN+KaJ2rixEavayTZ0Lhr0
zN71ozXsE+xUX1npgurX6Q/+6LLhV+HSVLqcSpjPVn/+4N5camFM2dQ7+87TixvLSfJrZ9A/nB5E
6Q8fLivVNdQ7qFOSvvParJZ1lJOGTkho7S0H4aKLpe5FvRnxfLY2+tBPe68U87fQRIPnutY1NI6k
O8YvZn+R7sY147yBFJeIadeh0zkFQ6f7QzDYbfmjGuGxbvzJ5VVtQjnc6H1eZ5txFtnwZmoM/Z3b
0ra7GLD8sTaQ8QacLUCpnLnm1OvycNtadFVUBZbviCw5UKDDrxjN/ii9ehgCFxPp25ZsAWlTL7HY
rYt+KQfCCj01tO+nP+v6q96PSpFIcYcA2q1hktKOssIQkCGcpm4v0izHNhYq5Qaru/bi9FDqnl5N
UKn0gYpATEM9G4cThHER2h5vHViQwt8PlhG/Qn/C3U6Rob2KpaXvs8jyPneLl52hLaw/LVVRYiaU
ckEXc/es0X9+rMW2US4D+ABr/kFd9tuiS7krmqi+zBwvupyWdvp8erbrD3s/ppIRhIXIwGuv1hgp
zcbAUCmAHmrsFjxDNzp+MFvgdfOZ+13t/IcflgqcBVuLbjni3Oidra4C20u1yCydOgh5Rve5YGp9
pXP+QTxuNKf0z3zO9QWrxqOUf6+wQlt17UFvJNVcDENfB1NptkE1GcvVEKX1tOmTbLoQMSbLtNCd
q4l3+4YWe2ydmfD6wrn/BUgEkeJWcqrrCmftp7kXYu8czF3rZmg7iRT34Ql2/+k1fLxveD1oTHhE
H6qDvYo8vB6eHDevDHwvwTNW4jz9dXIGRTmocFbyRG/uCnCkwelhH28dhqXurthQPNtrlo0VGmSP
tGSCbMg/5Z6Xwn2v3y7CPceVPfIdKRdBuKJERnVsvZCm9EatFnMVTITUV0XtoHwWafOZ0seR6aCX
q8quPP+kLqsHEcUCZGGHpgqo9YwfRjPUroi9y51eatm5nOTxjKCVYQbEfKBRgG47vGMWgb5NCHs9
iDV8gCy3FRuKMfnu9AI9PnBg9nAQI+MgvnjEp9GrWU8oIhRBHfXYC4oOER3HDEZLRNtWC5snb3eG
U90sloo9v97uU9pIRBaSMtAUSR7QEJIE2XQOCnxkUiSueHpjVasIeutlElm6FLFdBb2TfUA6yNxi
3HLZdkWKIrAxnPmERxaKRYbGaihoGYSuw4Xqks61icyqoJn05c7sKnwjff2psFqVYJkK7aq0Vqj4
q9/iQWRihZo9iFpUQS1z6/mYi+k9/jT1mfV5vMEZhYqAEnwmOFnLn8GBnZu8s6AaLHq4hwFFmV4M
VjAVZnvmRjr22WgyAkAjE4JCv5pQqqMomGl6FQyy6eHwy4Q+fb/sT+/vY6OwuwGwoLClePSHn02j
kG3nUw5NYxzFFtmNDsKBdq7xdmzDoWfj050FjAlI6XAUf6q4BaRfBmNWex+hE4uLfsZ8IPOHbNu4
dXgmwDo2q3teGq8G9fk1FjXvRZHVxlIGfUrXynORgSli7U8cVjYC2A72NGXE+zD2wZabejka5ZiX
QQW26KJsc3D7TnXOb+nIlqMhBGECogCPsZJhe7ix0eCLGpGYVRCPQ3FJklFcLHw2AKeobZ7eDI9a
ARwiEkfY4NQflSLq6k6VeZdgfc4rQYW223ho1dut+YFe7Re0QX4U+XAT9+WbavZvZNKcaQsfWTP1
dIDYZXBFyDyc59iE+UhxoQrQxJm3qRgkiFNUgE9P8djXpBIGG5nk2ObVPRzF4FpsQ6tilAq35abj
gk1bXN295ty19zh0ovhvK3YpAT6w69VI/lI7GmSIKoCrGe/DurexvzX7IET37QVKjVjUgu+4BPYZ
va5z65zd9LHPSU+fbgckTaWTcThRKL2urPukCtzKn5GfMWzcN5M/NNH/WTjukYOtTESpcYP4BlKy
miSBRqHbAyyluMMbIV00QN7JYtVkMhkuaGWmP1XbUW1RNglkRkX7Io06nFcmilIbuIeDvJ3rG/JD
sr+osm4bkS7IXcMW3gAwqP83Z2e2HDeupOEXOozgvtyStUiyJEte275heCXBFdwAkk8/Hz1z0VWq
UYXPRXd0OMKNAggkEpn/8n+OQv/vRC8ejYjgRdhHaRDc7Om43pwNDc6whLB5pTk1CeNj1jflXdjb
7o+5RZF+mnLnaRRNj0V0s3xCE+laQ/BlkkpB5w8chGSR/uP2Nf4VcISLu+ZkRvXRGiPjrpiL6sE1
qXkPHnpcbWGrBxABf4sxYMHB6G23A8IThO+zmADhfey1JAPqQY7dLGWO0o6RjVcyxwvbFTMVUu9N
XnQjkJxNjWgderVdH00kiJ/XXI47g8rC/vXTv90zp8+nkDIKycFmh853PHs+5UHQTBhx1ccU8aa3
7Srtt/BVm908jPkulXAuiy430ClDCez1kS/EHXQqeVuwgXgXn2NFx3qyC6fv6mMt7S42eSjFJb6T
h9U29ZU32wus3/bFKDijjBnANyEZOl1L/hTwkJb10fD9H5Zs7j1jfBhFtCuq/gkz1htf1xEZRXjb
IS1VGsW+c7IbhOs/vz7nC9+UsjQ586b6udk6n/4OG2eeZuTSgkXdEwHrpo7Hslyv7JwLKwvdmNf+
9pIC/nwWgkoP2U4rW6ujof3+JtVE0karz4ZRL1e+4YVgx4Ly6vijJs5b6nQ+41IZCLEBYp4bS8RD
gNU7KBaMoOZD3fx1S5yvuBHp2KwkGOQxZ6vnoGA9jTIoj6KX5q7qmv6Lq/T6v04x/29cuxBStkcU
xBUuXcTRtm/4r5CCT4gWjlWWRy8q56/5bA/7ZVV93M5FdFd1yrorVGZd44K+dNBlcswsBDrBUSTh
OB02X6NNWM8pjkBSWx0bE04lNYydm6Dyx2NRZEhH1Yv9vFq1haDnSsvZ6KuDxpM2MbywSjK5Okcv
7YIrWciL3hvLzm1Gz3d7eW+tjtNfthgVl3ZOftU6LXasBg5bZY64GdCd+9AtHtNU4CFtZjgH1vdF
ox/rTQ298Oaff314wHxQJyTBJHE+x1wVfeMqr4OfZvijdTdh23BYlkldCYgXjuj2zvRp7bEHuE5P
Z0upcZ68xiiObqcHENF+f5eO3o/Xp3LhhEJo3D41aOhNLOZ0kKGpQunifIQ1kpK7Oc/XJBrgSE3R
dGWkCyeUlg4bmS4lh+ccdI0VqR2uxVIc0bcsk0wQ4oYg4+uR/K+fV4zNrqSTL2rzbBfoUtiekBHw
H+cdCCy5ykoJWG/hKrI7z8EICrVHQ6Bql3lHGc3VDmvkfjdUYRTPy5K/6ZcWKTpf1Fd27qVPiWrO
xidGVJRi2ekqb8nSbKU1onmm6vEdro3EAFx5BbJ/6VtSmQ9Bv9J4B6tzOkoYoACVt2YB8xYFuQn/
uh3STgD43Ma8EppeTuhPAZfKAQ4NlCDPAqC55C4ykXV9hINl3Lrp/H3Qrnl7ZW9uz6fTlIBRcFjb
Lmaa2+cTarrUiaYmr4+yQeEj0YsU3bNLLrfs4ZmlQ9Lodkz3ZT6H2DArOXQxV6r9dkPUg5FFXvE7
5d9KJQPIcZuaEA2xXe7O/bM5lChtlnkrv3ttkP0scyjFYP3x+Xuz+sO0YNruT35SA7f/OY+O+KBR
Dr1d2nrZK9Pu35aF7p3YsJzBPdDUaOqjDhbcSx1RqfbGIAJ+MsdBt8fBW/qEgaPdklrO184BcIIi
gVPvpd+Z30Sqq1/G4uILFYway+6wj5A37YzF2o/VlN64hrd2e1u29RqrMgC9abtZG7tNH4grAedC
Hs168/QiFGxQ3PNC62J2RTHaDgzxQq6fVR/5XzBFMJLQMvpniS72g4VoKV4RvX0XNGa6s8Lybxuy
ZLL8BuqGQPeorZy/IXiCVvZSeFw5/podZgwJ41niHDC6wbXnyqVNvG0sGloMiFvA6XmZdDmZQ4Tq
gd35+b5d0nLHA+fvH3sRhXr65ogbQAI7t9yNpOMh+Nnj9lWmzo1Xa/VYQa27cvYvzYV8ElrtpshE
k/50Lm5WsqSrhsQl2w+mgk+RYiV7JXt9GWAQjvnXIGcLltsL3uULg5QCZdKhCMujFH6e0Du/RnK6
OBQPSTpGVHdf8A+bbJ3aoFfVUWUm+pp+lx5SAKvxNC/jlVm9vJiYFWidPzVdmhRnYXMFrbOYfsUH
6mVzN8jRhk/b4qGBY6fM46qZr5FeXiZ2jMidTkFne1Kdp49F2ouoLxjR6wbnIaDqn3iLRiY2bFGM
RZzloArn72tVDLppXVOwBO5yntaVZUEtM8qro6+EvlOtI+jHCskljGLu64H7wmaEYMKG5z1Hh/hc
6CqctVqbJiqPi6j1Q1Xb/reyC9CL/vth0CmCw8U4kMbOLqFgqMEH9g7DeLZ+tId2+DI2WX3lFrrw
sThRZBG8LaBOnsORkMUl/4dKcsTzOUty2Vm3HdaqcwKt2nrQSvg71QfhFXT2xVE9LnMeTQD7z3N/
WJETtq8LfrOw0w6di0sZFrbFo5+W5qHN3OKTv3mn/BcL6vPFqGhuZc2zciZ+hvZWmCqPo7TUjYjG
NO4C8bcCZUR47Ado/5JvbkyPsyjCUrrW0I7lUa9ddj/LtKrxMFPtlYi4Hduz5OFkmG2T/uv1tIy5
786I7x29MSxuffLcYPNd+4GuTHmIxOAfqyKC6LDUeXjn4Hd+ZXde+IIONyk6OSR+YH7O6upDYy9p
3qXFcW3c8VEh8pXMbtYls5rsnRrc/hYT4Kuu6lucP5s1u3S7v8kyN/G801kLtMwL2XVoWXhKdHsu
muhRILZ9yNPB+a3DsP+hejN4Q1qlYtss5pvcMOyjD8vxwazL9MqOuhDGaQICjkEZm2z8HPlfEzvt
2ZAFVpeWTuBcVvtmsVBezp38yjm9EHTQJNyUTTbzTrLs05nXYbrYCKOWR7KKMS6wv9w3xXQtR7o0
oWCrT2EoBmPxXD3ZFWZvpjAvj2mZw+heESxuzCJ8cDx9rRN4cUJbw5b8l8fL+dMsaM3U6jyGyrvo
a+aHzZ0p8muEr0u7FGAEhGLuQLBaZ4dxmnNIL6FdHJ0QbfJi7ua9bJbs3s0XI8kz378F8nntZXZp
ZlSJybgow9OJ3jbxv45mkdbtFLFsiAukOsYcQb+b8Tf7+Ho0u3Cv0w7kkv1TJEXw+mwUdoRr1zw4
A0/ot1g09U9NkaJvMjXRmIyp412JOJemFcFk3dwhAuqYZzuwWDo5qqyncGK14dEz3OFgLOY1ZcJL
WTovScTNWDrQuOfVh8owa+WWqjhGldJ3Zq7nW11b4t6RU/mUZVC2SWSqWxDl4tswrN4hy+u1TV5f
3AvngKVFYw2FLMog50JrQzGAdl4z4ky4up8iA8H4zkS4ok/VNTrFhWXlsGEjvokn4Nm7/ZR/7ZZJ
T3oO60Ucm9ZsvkXCZXcOGEC+PqFLo5CN0TzDZQg1oLO7r7A1GO6lRCzGsL52NcBMp0Op4PVBLq0a
UI+NlsTFQKnydCpUlqlzNLk4zmVmJJT1EKVH5j+ubWe8Mp+LQ5Hv+fgL0hk5v37qVTd+L4P8aOXG
ly6b053Q9pNh4Kb9X8yJbc8QCNVRaTmdE7efVEuAME0b4GvWLoO5d2aBoUD617wQMgeoO39Kb/TD
X+ixuCiuIKxgo4HjdtT/eiCsLlZ4+9cndCFxQP6LcuvmNrXBV08nVPT4E9lA/o70AZGNgD2RikMg
8TrZ803nvV78YElSADBrrCtIHjzGDe8Kh+hF8OLtQ+Vj6+xsnNjzt+kGIR2zgfOFiGb7VqhiSBTg
3ZhMMdjVdZNeqdS/2P7beIDtt9LqxsE6C8kRbtJIXjXFUWGycYhMPcWhO2ZX9v+FUegHMBQ4p63K
fLb/XR9VXR7c4mhF+kdnTGpnWn16JfH6w/A7yYFIU6n58S6gzgj66CzzMueeErLoxNGgloCnhhjA
hBjI3VXYAbwLRVTi4FCkO9vtjWNQWFhu171dPwQ2MoPZMJR1ElkKt8chG+KqQ/W1d/SMlnmwHCrP
MHa9yL0k76bVSAKnW56MRfifXt+EL47vNodoK8OQxSGAfLZSNcqSvY2H5RF7m2HYdV3jkiWHfiXi
mYR29/poL0zPqEpSAd42Pe+pLV873fOucMsiMzTKLLaNxkO2dMU+TCmR3pnUTtK7IdhAt1U/Qy1I
5+5nj73oY9TqFuWaBQ+YMLXCO0jbzc/cx2m5XWy8y4fMax9EE6jHvHSz/TSl4qFddQCqdcI2GPHA
pHFW93Yci/DYKLO/qbXr3Hap8Q1U9TU+/cu9xxSRdoBOCfWKKH86RWGZjQUyAjGntvIeF6wY49KV
4so5+sM6Ot18KK2Rd4AIB1sLZ/J0GL9wMqsqpvyY2iKKp9U+mNJ+l3cjwPfo0zDZb9wgfUKJr4rd
2j3wKr7FukTFadMnebM84TH9IVV0NrSpzbjX/aGrJidekOtpnflK6ePlmmwVqY2bQoIJ8PDspMD+
jgyXZuPBbdSi4qZ16w7HoMm4sr9eRjPG2R4AAEg2V5Btt//rCs9KJDMQMAgPdbo67/FUab63lP2x
t4cv9W6lintlwEsT22gdNDdBg/HP6YDlEMz9xNVwSCNl3EYF7y5nzqu/TfjAzW1oh41bt3WPz7aU
FwlYiTQ7oDj0+tad8BTelPb+m7mAFSFB36oB55xw32mxRamZSzEu+UNm4h4s61JceT69DDgkWeCJ
t2fjZke2fcJ/faI8tFtVapghYye7nY9FiQrbXw0AlSvTubAXtmwOgB4iZ5Qrzw7IiP9Mmw+hf2iy
bHmju4onuBPw9lCe/tgt/rVzf3k87poNfwgC/OxmE6431h1Z1qGG3fNVTwht+jUiUCPCm3vdWt6n
12Ppha23EfEApHJvw0E/O1NriX0Xul7+IbRH+02ae8WemtF8eH2Ui5+LVAicKOQ1pMNPPxfk/Qj5
sm1WDuihHEzKzeAsOEov/jVC/aUF5C4icG5IN+BKp0M5S4j0oLNCcaH6e7eunfNWzfQ71nuvL+SV
bfhy9Tb5QGSA6KwTRM+RWaPw2tZJhXPATMmP8x4P51Ebzv5vV29rw9FSpRjKZffnOvzXZm8Lb50Z
xj7gsfZ99UsrwVcyOvRQTq7U8S7NBwCES3bMoxCU/OnijZ2qiAi2fegjowIo7027OqvSvw5EzAfw
Kz1pPhPX2+koi5OZOsscLEmXoohFOVkfjcGaPvz1qoFHBqFObRDjiXPYWoQEZd6m2j7IBflDtGjE
oZCe+X7A1+3KUBeWjbtzI9mCP7CwWjyd0OoihtyGeKxSj7wdlOu9wZPmmhDgxUH4OID8sb2lr3E6
yNylJhLFDOJXzUK1PwjvhDaudZleoha2rIMdTeqxwSrOq6qNqtB4rWvrsIZN/6HPxwqhFTyx8mfD
JbF/slI9YKVoyhKeWtpIM5Zwq7Pbdh1WhKZWZD/3q++pa4Hx5fTJgv7AAwF0bvyD0+mbWT1qAbfi
4GZ++QvT2YH+v9ld6RS/jB6UzU0q2Rv9lbb/WWYZ1Us9VF5jssj018JwQWY+q+5V3snEq6v+ysm+
OBx0TjrTm5b5uZI21CyYLnVmHjgw620jXfsgfLSZMlXn8WzW13RZXyzixsEhASC34f4Er3+6iCoV
LraPrndwlY87ZGDhC7e619QMX8yKUYCJcivzNINteBZFpLkiQDeF3mFYxE9XjUHSD4uLfMD4wzC8
+srb89KcKFLwFPCdrexydvhmKYqh603vMEu3wkk+lfsscqorkf7SnMCdkXQCnaZAsf2Kf8XgDqai
kJgOH6Lcz45zRBfAVau+HWQAbNTNr8lwvhCf/0O8DYleoFB4U5133cRE22ZCL/VQdCmdRLmqMcU/
ZKj6ZO1c4ACuK2VOadpG331YK9uLuz7TnzDj8Iod0nOtTBxl21MS5nq0sHmzDIeLo2vHeNIjoOxK
S9y4Xg+6W+g+eU/QOuDhApYdQgjN+bNTOhVkUvhZuoc+q+bP2BjX+6Ux/J0jobKhmxTez8AGrgz6
Mmb9GRWVYSogG5n07EKZ5nA1g4z3Sbbm1WO7qOhNhNjHm7AK1U3eYR+B92ursTOURsMa+OGBQmD7
6LZF+l05/nTz+ipc2JIUNsCjQZzexJzPjlmGzoNyC4j6UZO7jwsqQrFZLcPfXqPMGsFQRE6oq242
KadbknLZiL3MiDrG6C73rpY+VazA/vvjBcSC+wAbRgt/xO1g/Gvj944tEP8o3cOCCUfiKRSwJ5cd
9vqKXdo3qCgAUuRpDznqbMXsxiwDR4fOAWOHNk3qsJp3VgRRKu79pb/hSeTeUtH769bvVvqGYAYp
JoAmdU4wn8tgsSqH/M2gkRgDRoCwO0b9lSW8MDncHCmLbUSBLfCeLqFu3MnsJtM+uJuyd2Qxzh6x
NWuXau7zWBAUY5AJ46fX13QLs2dnEfUDdgioJDLqc+E/f6lc9DYXEgZrzuJpmasPhZ6DvSWXkJJW
Ou3bMDWf03D5/frA28d6OfDWLIH9salyns63swJ0y4k9ZMXTsB9VPT2WaNPfLpNvXTlpfwoU52Oh
DbC9YIg5qFecjlVi+yunabEOjTDhWfe5rBIU2AZmPUuj3KWU3H7kbuHtQGyHe5rU094vgsJN3LUd
90jK9XdcGUFSjBR9BjyI3/RO199VWY73CwbWMSYt8hBNrXjTcUrifLHrZBKWHK5Upi8EDRqvoHQJ
HHTwz2lnEQpdJt/HOkRe798Yc1kkKY2TKwft4ijIiNiMsJFJztZrqF2TKspoHQy/f9tjF/yEr7x1
Zedt/5Ozj8IVuYV/RuAuOEsA2oGC5mxO1kEYK1FXqO+RrG0kx9TtMvBWf327XZwSOWFAV5BqwDk4
vBFOPqWDtA4jRiixOTrBbbliUPX6KH8c/s4nRYmdG5lYSD3/bFIN3kB9NUvzYDZe4yUwpPsvGItR
FqQaEn43yjr/1OZ4ESezg5Yb9cRZD4dKUaiMs2IyoUaG1vC7c+ZUxj2yn7+cYFi/6RQ73XgOS+Hu
oURgRWn0rlclPThrcUTMj8urwgpdIrgd+d+8WuLK6joLumb8C/Jt61hKkISnThPjZN58rXUa/ozo
7P2yeAN/UG6oP86jIVxgO477BeuGco5heXuf3WyAQgANZrRiE9Ye6FY7BMJWuZk5Y4U++O/CUplh
gqUJ7RH4ne37SujyS9Z3c5Y4bo3FtjJbXKktGc7NRpqpxpgfvnj7/4RtEOTh0FgHlVaFH/sZIOHY
bMPm+5VP82K7gZ0lwFJ04rKFXX0aA6LNmRvwk3ngaRbs7bmS8WwIiUHUfE3F6SUjgpcktVIcUze1
Yew3Tscyvakvh7VbDzmPoS7h3bfe8mxvuHvrWvS3c18oA7XAvJh21ZT5nzAfkd/tVtdvJtGkU7JU
miqpWzbtj79ehU3kiQYMUkds1LP9Oc+dLFqoS+A1OzvBzJqsi+whtmV3rQD/MsBzV29GIGBsCPLn
ilnEvizqvXw99KmFZTKU34NhhhrMoLq24C/vTobaHvDcZBsg+exBNpmjMYattyC9mfLutLpUPlur
u4ApdTPjSZUeNjzZ4qBj9fpyvowqVCZQjoP/gu4EgK3TD+2NXpWn7rwcFh2td2Wb/o48bV7JDNg1
L/cul9aWs27UDBjHp8PItRn72YqGQ9rqMrrponEx9rVrreUe6/H5q+t14IfNNnPa2B8j/5MSYYHf
fad90LfdkKa7HANxa6e8GvNuhG8NNxaj04nYsrSVY2gtPXvP5T+7+9ybuw9ztLZ5olMxF2CU0WW4
wTqQmlVXR3N3wJUXPrqHDvG+qdLFuVl1LstkHii3xgR8FFGQGy6yRKQUvh5lXWOEsqxVUCS1Z2f/
dIsKjUSGKg93USPDe2BomXvjZx1o0qBvo1iW2v5gTlOXxZjBG2QhaZGpvfL7utynWS2efVDENR2X
DG/2P8Luu3Qys23SvS6TTX5163NaabVzrMWXsZ3a9T9iGdP3YPWrZxVm/s8unYz3oNLMEtEzab0P
Osv6PDlTaMRzH1YTdk4tb+xuaD0fYLCtH9zKskEMe3P0tpn6NsVoOCi8ZFnaYD4MeVchZhwYa3tf
oxREX3VtIbMoYUwZXbeQB1knw0g88v7aDJCVNT5Rux7gfKy5+bFTYSWSUjqqRPZiret4FV6dxsJB
auPY+TKvYXHZabGjH2i9c3UvnL2u7EHe1Hk/fXK83PlGM3REoGNDfYveV4++YeQYwGecmo+pkJgg
56u97js30vlGDGud49jKpklCs/R3RTjXYex6mfs76lPfQwDHW8CWuXnm4BK2WG+VJsTGpdDmJ7xY
3P5ADpJFe7ZK/1y1hmrR1LewT7JWe6Qu4ufRGAdLYdwMHR3IGFFHIyXKr8uXcig7Fi00OKf5ZCy4
acmB95iKJGdYCNpJUepMP8LUc78bkz8ijlEH4m7lb39XWbfwZfqQpE2v5XBPhWR1DnJQzgelomoi
BzPzkVOf6Sjx7dn2Mdqa8t+N07r3tqfFE71DlByMKhRPFenouzDrKvLCKGjUbuxCqvZmYckf/arx
MZqCSjM1Y0jbhGCnkRafHHXX5qX3vQQWQHOL4h8zq6PV3WdFtvyWfem9t7XyA6TVbYsu1OgveqcD
Mv0E01Sqjljg5ASpNpzWG3A2Q52kY2Y+Kd+Ap+7Tsufu0JnYt1Dab+swnEG+FEJicu2lX1H76b7g
Md9U8cCr6Hmg4O0kdsRTEkC/1T8M/ttAZfedkOkHLTvjNw+moUw6NQ1NgvBq8EtDHPhSFJNtHfuo
cpeDrZy6flP5LoutRdH/gJ3kNRjV5WF+sKe8FHEfquKxAWFbJIG7hN9k16lfggrLM4uTQhdgD82J
ifbprzbKpyCBZG40scY98xva89OHZdGmPLYIJvOnQaTGnVNbTptMKDmn8SrL4gPlQ1ElJv0tK24g
1n8fImod+wWfSm83LSkbpKy89B/+mgDXNWHwXWaYiyfC64I9wD+flNwzgnejsaAa5xVlGDvWMD5V
jkSgC2fNgF055Jt4u4j4BEMT5DJ2gKO+ibSddrcpcuTqwImK3vqZG+ISNi/0xl2r7bN48G2aigLx
uyCmNKY/kAqtfcwX1AX5k+W8CVt/eefUhZnowoGYq83FvevWyGLPWnmo7wZbS5itPIHGBGHVrI6Z
oMYsLvCHN4bni+fUH+dmVzaVh6GKMt33aZ7Wz37eDT6fsLXw8vJH68aj6P/URj7Mn4BGCekV0jXd
fnDxGjCisQEAN4n7FRHUD51rW+vBD6TX3TXYzXUgdQx4Ib0mlCZClfn9Zt/C3nC1Px9aTps6rPPY
Nkc1FbKhmNWEzU0pewVsRNRgPud2+Keiij8kOV3FY5hmLgFXNui514P27sOph5Jd2Z31aIJy8hNd
F9OD1Q1oetUYHx6xsiSKNjjqiTs8kbMRo5FcW0fPV8TMDqbIh74sqh+5bejs6Ilwzg6jKhpxrBCv
4h1EXuschacjclSZE5qKTMivDDBTtsxJT6CfRtZ7HDBKOtK9QSbQk4k1IFeNpUzQY7c/rzV+ocd+
UoF5g8GrncceX7Hkwwg4NnNUz17sTGnYxnAbx3/qUJhIFRQm5JgmcNd/sKjG5WytR/s5tMvq1plo
+MdCd+0cOw4M/H0RZGK4SQnG5s7OpsBAUa0N3mcogPtxxJ310HPogrsgkIaJRrhbVbFdNNWvSkw9
Ql2oBH2h492/adFvTcFaWT1lTBmQhy+rXJ7SaDUUdjBNTQzvU2+Og6KAOl0YbtMlA5rUt9WcenHL
a+A4dYGZrNl4D+1oeFJ8fe4icrkitjH8Gg6elIolQPEB369s86ikKTw9uWLOihi0V/Zl8Ix6Srxe
AYCnJVXcmZMnf7aU2HjAeZNXxIVrkmGTBxtyVxUNWXC6LJ0VZ9JvxW5ZAuN+qpH3pKji5V8cd/Qf
1qXT4kigdOadNGzus9wqjDiICkwSp9rtiJddMT95UzF8qdu0ahOnDcRCLPVKyFLakuluBadRxq3W
ntpxYKpon9Vq/LbSfjgiKb2EdzoX5U3Xc3XsioAk9Vvplf66F6XOrNu8MfKvgalcuZNaWVNCY0rc
tH4x7cdZtIdBSLhXrlN2VtIssr5nLQveYaId2kSsRiYTG626x7WCbvrdXWYKrFM5+h9k7zm/8siH
4eoPlTb31RiiCd8w2SkuLK7r2Ax7wsPY+sPbsu+7X2PHRXdETBDEljOkC487wu7wK9NTyK1kUpdt
UnP5bDlz/Uutlk120PWL+6FUhv4x9j/z6mAV9foTI+bwy1ytDRmdpPo7pyPoDBsYQRgbKvC7Hd/N
o/2JMeRzN4Xjj3Gq1OcWTesq7uDsfhJzoH7yPiG9k74ldbzYA+mdi0pg9X5LT57zaTHyo6pyJCAj
3K9UDKIfPkbvjZNOEMGY82SdVzg2ZiTUh763g88y9MZ/ylAM0yMU/+YHzN/ST8LBCvq4To3+MZgH
8dsbG/sf23Fln2Rumv4msHE1D7ZL2QUX1TqL+f807ya3sT6WZh28V91iAoSpDRTZ6fxX3W4WpGA7
TmMV3ZJF+fO+bK351l/ZTqBot91TQhNAbSSHMRpmY/CMe1ZZxXMuc9iTiGQ9m23lZDttjM0XmZbe
rxI+Hkl0oaKPhmfnDix+r/41pJHxtumX5qHQ1rwXyiqXfWP19WZeIKZvdd12P5ZuhJJVp6lcP2gY
aWwJMefvWx2RtAdZaQUYFkIUjFWKoCBzKBcIwU1bfmTBSnWnUEb5lLeGqCA0tIZ8XLveMnbKpEC5
C4j3MqZuxYVUlMILjtKyqFuiq5B5uyobbcFDZaiLt6b2l/bjIAgaydA77rorZxOoI5FgfEZIvJdJ
EwXLGNds1cem781nKOk+zhKmJryReTVLLKmE1rGV45Eah1MRLXEZIfwX04Tzshs7wtYNu7e5FzEN
XTntyzHMPmEYG/1s6TGBmgvmfI1HsG/vy87HBWf0TeNrjQPJSiZd5e+0zS0aC0Elau7ddI3tHJRM
PLdZ28ZGyufkODZZc+eN1pzjE6GcxxqBXPs4+JP4PY/NxMvaLtNdVMx1AMVr3t4ehWONCS4Rckp6
NDWNO43/lECUIcw/FEGlXOLfYsyfcPBd1E0UruOyr3kFYodo+h0NaTxGuWYi2/CoYPqTPPjpKpqb
Djz/vd2P47IrnYJy8VpF5SEVdjsgJOd4vzeXZVJR3YTebTu180+AloG8q10n6+PBCFJKM3ZWJyU0
g38cp+UklWPARdL20zy8tfHsrW+yfqqipNeeKHfWvM6fGmecvqVAELOknFQ+JLYe5TcRiT5LQCgG
P5pixfZ0aprVj8OK75cIbKy92DXG/vNo0hwDKlWH36p2Qm4PLin1prr2sntk1ztjb46+VeydQeYY
u3EzO/EMLDzbVX5hZjtjzRTLs4pNny8r1/qo7BrGgh2oQuBLgpTH0Q8q5Ci0P1F1zYrW0Y/oRjT6
SQ2B/9EIkI5JLD0StU1TBDdqdKYhNtOQqhXasQjWwQ9ZwItSB0u8THXmTTdUjv2lwixkejSGQYYJ
MkXNQ75kXXsblUv+WJMn+PFUNm4T8w4dvyC7Mz71Fhbk8by2XpFEBslowsmGrrZ69pQmDc+MloSF
RnIcdktB1l5U5XsUlyonnlQTYYo5TIOOfYSWG3oQ0aCPI587PIoIp4skzHKVv7EbJ1rekBnhpBBI
K7ytOmmCRmvQVE2qIujfV1Y5/W5KIuJOl0v3TtMheq6nkpy/yHgevinSoSJ2wCrAoku2Y35vSKOf
43DppcIfsi5RxRYzJ27OddvHqO+436CCD/mu9D35NM94jNwYpAHHsqSDuG+VmX5dSlZ615PalUk4
duaznDqSRkebbbFXkzL6bWmC6Zn6cxvtxnIahzhco86Ji8Zh4UbHziT5pNlO5DAzG4kaD21wwG+e
9aYUBJ67XPVjSwaSyc+BYY7itoS48yU0URnYrWvWr7s6ajDkrvSCziEZ1HgcJ6qfCAenmGuOSzD/
qtEquBuUx+NVrXhmxXDDEN8xZVenhKuwVjHU9uxhgLP5FObSf7aNkJBtdVlt7pewS+1Y+WTPlFGL
MqBQIvKIsaZSJlEeRlQEVm3+CFWPvJot5/FnV9B3uoEhlh7aeY3Snd8MzY9pcHpz9x8nV63EPkwf
yu1B3JY2yWNnzKaX/Ef6PNm7mkY85fmAlH3UzodAUnnKPETVEpRksddCTiHKY4rQmct3c6r3/Obo
mn7ly6Ibgp1gQpH+R1ULEsxppcjHT1qFdkVBKqOJS+TgLvDbcAAk5l3TtnpZ/KK3CNeY0h4UpRdN
vwmkibYKuRxEq7ibJzd6m+u8+vm3JTbqXbTSQ9DVFFPP+2KWUEvrLM186JX7gJ6mT34xUDH+60pe
EACoQ+/Yh5VPifR04YplMpS0TH0w4ZSCAIb61JjLNan9lz0PDIsxVoRDR7+UI3Q6CrfIkGeIweMI
NRUPdZHXT30dVXdW6jmHrg2dKyINF5reG+IfQOwmoIDI2llldBWds3pepg/axenPIzLVveK+duZP
BgIocdh0btIh5Bx7K8+RungufN4F/d+6IHqQh5yNv+ds3SsgfqcT70dFjpLZIwJEhb7REt+mBqWD
v/6IjIJiDlhlZmydiyuUNsSazNHjAaImvOo+GEh4cJB5fUe+OGMoZtK0AotvbiiGc/Aqlb5KtJlC
azzV6n/YO5PdSrL0vr9KofaRinkAVL2I4Y7k5cwkcxNgZjJjnudYGVWAARte2BuvDC9s7aSFBAGC
PLxNogE/hn/BylInb6bJroUAGRAaXQCLxRtxI875zjf8h9M4xUaG/rK2pkBInZcv9c0Ww9kaRCmz
oSfZlONLtWNbBnOfZquqNRqnDvPovBmj4ZUttjT9nw+tYNQAlkIJjx4zIgnPXw43r2YN74WXkzLX
6Ule9fjD6Pd0EIV7GGfgu18DlX/zENH2Es2FLQdriJbw0X5LO/weW1HjVeVx4khZLLgGeDgHnf7f
Tc2Da8C6ILliC5CiHe0BeW602dfaaaXiVmNHFF/rGYnuV1bFN6/q6SpQPSBoMNA+9mhK4ywfOrVi
BlEKs0dFMNuzVPxuXa/lKvx/MVcn9h7jmILMGAypzSdGKaNua/TlVlGLx+PcCF+0n//imVZT84e/
5OcPRTnVuPO2Rz/+4ax/rNuufvzh9KFsflh1+ceHNiryv1w+5J/+6PlH/OE0+oBLX/GpPf6vnv0R
V/pyJ+5D+/DsBw+f3na66B7r6fIRVlD7dIHgsVj+yz/3lz88Pn3K9VQ+/vTjB/iP7fJpATf/45df
bT/+9OOi1/0XX3/8l98dHjL+7PPPf/f557/6/Mt//fzL3/+fv/7HP/79Pxz/7eND0/70o2BYb2B2
LMSqxagRU2X5xx+Gx6dfmdIbwFmY80n46FokqSz0vKBo/+lHib+CigWkhIIF3MciJdYU3ZdfQS7A
upMp4mK5Bzrit7s8/3Xn/vqmeChffv4h77LzIsrb5qcfn2ihzzb4MoRkWSK6xV18c1LniDDnOc2x
VR8lyF3JQXEmL9jBGRsPqVk6aooU3aui+tGk9jg3xHFa13PjipU0O2XSUzsFhbURWzr1QY2lLEgU
U/b6bPbPG7UfHamPt53e36diIn2wwkna6iPknq8e/ve+xgIJOf4aqA0xvl+wg+hXP49TTFeSqCYb
W80KizNIbgxQu7ZcDRhrUTp2h2maYBZPrezIYYkyUlyiPkOhCL4Ld5ezQp7LNUq9+gmJm7LDdbJl
CJXT3JPSvruqzaS8HOfyrZi+Jmr4lKU8u3X6q2xZiNwQJaGMHIVYmcl9FQAyWjVMZqlS1fraZPZ/
D/64Jx+tJdEBilI8FAgbXZbVcBOC7DvNA6k7RAjZKUuNG5/3YlbextWcTrbcWLSMdL0T7cDKhkcQ
ftY2D9v7qaiVbSaG/YOg1DK5+5TlF63ZFSj2TDl4WNHY1hYCubYV0h+zURtiApHm5WoKo7eIhvjo
9KuU0bZAux38Z9TG759e5O+KLP/PKPEssvyZ8edfYGSRFgb4S6Hlbz7//A9//C9/+8f/8D+/DipP
f/ZrVFHUN+xUHAbROJEXBB/L/degwm/I54gNC3oKMPkiavQlpijSG8BjuDwY4GpB4y00gC8xhV8t
8IcFnLIg9RYa1++IKU/syT+taAOA8EI8IawRvSyUsI+AhTiN6YZfBp3TaGm76juM7g+9EthWEbu+
Yow7AazJIpxnbRuMUYKBf0V4rDd10YH7lkJEIJ0mkZXTppeTvVZRi6+kgbKOJGVuUMUZ4zP4H8WK
tCeovYFSs3BLmgsuIqyCcNbQpNj6KRgoBxinFq/zJmZMQ38y2ADyCRjwMORAnXVuitU/2wIuH/Or
tn58bDlB/z84EBdP9BdW7S//8fMvf/15+ee/+/zz/3i2cPnDL6ehZi1HHhArYh5UMeY+vy1cgV/p
CwwHiWCko1Cc4Pz97TRU3iz5DF5P6NotNGFqo99OQ+XN0hHEuoSiCQAnYri/Y+V+w6Xlpsg4lw2A
NCkKs8crN7YQMimxrIo16QSgUNC6scqQdcaEFdyflam1J/iyMNsW4sKR0zSCjHCEqtW0QnW53oXt
1HzSZkRPHKY9w2MvzD1N4gJsYKiBIaBHIg0fJd+k99CU+k2h5fFpradISP6zrcM/L5H7FxhIXwmj
/43c7PMv//bzz//9889/+/lnfvxfT+vzf3/+5T9//oV//puvVykf9mWR6tIbGI60EzQyN7KyP0VX
gV9h8MDigOSxuKcv5vW/LVKDRG9RMGIWp0KvWfB9vy1S/c3iDEgW+E+J3u9ZpEtR8qfwuiCnoIsR
w5Hkh3X/lBt+jaju5DI3y7ie3LRnpBGNXbOjxzgVjlHM4nultOSOcj7xV8AxutN8Rk0CVtlUofPb
h8ZWHq3qQhtr8LToY781TaWxnIl6EvhfK87vE9lP0ccUIC0bY26+QpD5Jt1BfxcDE8idNC0XuP0R
uFcQZwZThTa4YadND4D55St6kpNoL7giG8J8fSv1IZOE1Ge4NTFJ1qNuNYmDHNsLZW9bjxmWxALB
BTr2wr8FepEoN0EoeThwGQf01qfzrlWGO6WWaGOjjgjOa4zmFePk2aPZDJw+zoT8bg7cXDwLUlC/
tpib04VOR/TEl/NkC1ICvM2QqSO2y1NSrZtI7F+z5DwudJdHgfoAoEKeh6odK3ZKncq4Ri9GF1sx
3ynb0OBoEwXHKvEB/SoYfydBXpooz9YMl1qCGixDShAkqZ7nx1EBJKzNktFFzKH2SOnEHZ4hApCQ
3gTt4BvroMsv/jUEHVeJPMcXzsQl5ixn4tdxhr/4Lc5Yb2B3wMGAk/5EQKL++1IaGuIb2rQ0QVSd
Fg/4xa9KQ/kNqoq41pP+cRiyzP8UZ+Q3S0ygiKDLZSzuI7/rMFw6jl+vGbLERVB/EWTm0wiHz9eM
YMZ023HLcfNByi7Q8U50mxb9ZiBAhtuMhGyrD1F2DSYu2EkTAhFrLWPwQZMjuY6askfBKUvdoBaB
lKUpg7Gxks6gW5Wdi1SatgMkFwFCi41LeTDzq95szAKrvt8kMv61qPiqXfHk6vDCUvzlP33+5d/T
r3i2FBcO6JfFaBhv6KA/aRwRjQjPLKvf+hTkWFDWEGbm6KM1t+iYfDn0yNmAzaNRjd4U4None5Mv
hx6fhxGJiVruwg9fFNF+12Lk8s8X41JTLE0PmiL0PY611XPNsBrVAoNatWEIxUGVrmRjGjbzDEZB
hjt7EABzbPt5khXHz2Xr0ip1/VSjYD9RBDFxoZKokDTEntmxSke2DSrGruDaXauLxLUe8jkBaleO
wam3/Wrbfyf6PmH7n20lGjmEeciTdPeX+3++laSU9NfyLcVjSG6eZ6Ef7S0rk8G8BlPktrl2X8SN
yBwoFtCpRDNph2VDZSslelg2jg7aOjbDfNWL0WqOeQgjsyq7IqDvmhzIBaPTd01YXCKnUN3R7BFt
zB+sd35qiK4EyGxwZUTUwfVNYBMZV+1D6PSuP7ct07ZG99o8LA5inwFnKYRmFRtCv0o6U15VYxHv
6ywbNy8/EHKho7cpY/sE3QbBdUYqx89Dq0U00dJE8cw6G6/TEpyHPYPo3ftWWCNhoyR3lbh4RnZ1
//7lS3+jkw3Lh0P312YXJfJxvyVP8Vk3u8X3Z+AfMzOdmzadJ7cwUc8voXqnRg1grstqO+z7W4rI
ZDcB9nz5No4P5MW4lnYt4XWh/UPYeb4iCmBhSY9pqDf0YOyFWitgUKSfSGtukXGbtzyH18hqx+kG
lzRpNC29PqDpmOs8v2Rfhn7XVkbrmQP5BapFd1lVXzZm/tqFvn27XIhDjdNNk8iSj6uosg9ybdZb
T43TKbVnbS7WfkFDP69k1R2NOrGZ0sro+cevCUk9Eayf7zSOS4IByQ7fE9WD51/S580GZdm1Hsjb
AouLqvRMPYeKjROtl4r1dZnDhh3Txm2k+Tb349fUbr/35ZcHjTgWD+Gbp9wI0Mt9htweONw70S8e
xkq/i5VUtKuhdWDSrvJcv355MR0PGJbKGF1BTmuMoqExLff0FccyEoZBzDEe98qhwWs3AmKpJ2Z5
8/JVvl0/pmQRzCWMUBl3H+cD3ag2YGGt2jOSKHQnC+jEBKAUax01eiVd/c5r5Fo6M1fIKKQzT7//
6hsZ+oA/V6PVvEZ1D5DuppK0RyHMYycSxdKe49qrxCndzFLqym3z9uVv+g15mhRKlhmjLMUcZ+Gx
nBwIWVh2CpcH0vCxTooTUPVg/9p3StBtkLYHABswLxpBVIbGlShY7wbwTY42I8AVjRoWfVbkdHR2
ncS4f/nevvMWnt3a0QJvmyzs/YBbQxV/J+fWOaD+97yazcuX+U6Y5BEYjCcQ2V66gqQKX68pXcjM
MZbn2ovV8cpom7VZKLepUtdguTqvEeJVKIan5qCEtpwEkz2Mpmm/fA/fLmtugQC9pKHqIvX9/Bai
GKksGnosAsxpPUMtLXcoleqVb7qcvc8jxnIV0gqRsbDIgnt+FcAtaTYsRgVJbNwEk3Hdpu1tzmlb
j6+Z0X4b9Bf9SNoGS85PE+Eo6MdqaokVDDBPmct6MwfGHa6mjQ14XsUVuNUA08rTKw/xe1+PZgbB
AXVE9amJ/PV7ZH4g6WPc1J5adteBZSW2Htbv0Zff9aHy8eUX9r1tK9OaMChMuJJ6LKxWCfos+wvJ
IAUa5WZCNTqaWWROMBUjYtLxsC7bCLfv1rwrgsERq1J+5W1+d90yAOLbIj6yNGmev84O/JpYtVXt
1bp6anHE76Oqj1etP7vj1D1OvJYTrFsjkJ/Fmrz1Murr17hf370JxlDEfwAHHEJHLxqcY1HJYV57
2liA1BMvJ7hBk9Rel1J5S2p3ztk125X2SV3GKGPx8Mp7WAL+8ZoGhECQWrQ6WNXPH0KfxVmHniJk
jwb0HYzCEyvBvxEl39BrtXzVqI3XJ1Gy0umt03lpAW2GVHUu7UyvbRWY0JPkJKoR234lJBsEk0S3
LvLfq/SBqDDgHYW8FAMGhg9HQUY04VbMiBFxcKk3UaeYu9gy14Y5DfYMUvmVU+Xb0MlRwrRzEahm
jR7beDQDYMw2TiXP0pr+I87wV5pSKJ964bX09huBweV7LecWzHm8xNBMe/7849iXAAmroidV8lZI
y7tZSVRmEc35GJBXLjYYy7Q0X1VZvsOK2nJpbQ2bknK5E4HI5gZ0vRijDzdPjHetjgxFO6jAmfNM
3sAshMsWhhd1z/tRU1hZmjzWbgmwtFc61WFI+yFo81fU844DCRIidO35LmxtVtVxNB7Q0AZRW4G3
p4DyNC0zL0Z87kEAqovaav5aXD6O/r9eD5walSeF5LF6bJi1cS+W9ezVZOf7AhfSiybwdfflrXIc
kperqBIWjIup8pKzPn9TKe7sWSRmsyf7c+rOZfh+HqN3rVqeNGAFrZaZ0ssXPN6aXBBdX+RHSWoA
yB3DncZyCJlAAP2WAyO4K6tE9sKuepBr6YOUJqDb+yiyYxDQr1z3iZn/dUxYLkxOjEg612csd/RN
tdhs4xaemLcYeNklp5BcKNfw0xI7GRplJ/elF2vxjTl/CnXzKhejM1S4T3wyIKiOd/QXY7tfCFEv
P4/jTcltUSgQo0An0gLVjw75MQ/ahiHe5FlVY7r+iFBH6QcWTdDpNbW1b7y+uBZehU8FECAt5VhG
LpmErk2FaCQGBjAz5jxwAqV0kWKZMd3IE282ZNHVZ+lBG/zV1EyNQ+UHtatQVywPE1Rq9P7lr/+d
5UAH31huhxYtogrP119XqSHXwsE8bvR21ZCLOErVlJ5mzA+yMt3FXRBhH5WGq5ev+81RvYhTgUrh
f4TgpWh4fmF6NsTzMR68qUk+pfoM0cEysiRzrTGPPNmM55Mh74q9nio0HuKkNuB7VO3Hl2/jier9
fFWSKCBWsWiyEzCPX0mXVkofALD0oOUqH7XSvwcQfDaIMvakRvuYDJ1+3ZPbwKxDz+USCb5pk6ag
hGULRTGz3iZoEp90fVJsxtoIbNUIgtwGS13vKxiMKxXG7YUh1OFZOQvaNlFnaWvl8+AVYprfa1ml
bQplFt+1kL3W2LFauNl2HX2HvFpVRtY4zSjaGXQeN2367FAMsG2rHC7lVGWOPuTydlTj97lgGDt6
7wqgIGm8RMSYm+xUeAVyscpl+bYalPFygmdjm0PSb2S90Q4VMHM7QjHvLGvaeR1ameGFlQSFt69T
3w2GYTxNk0o94OhAV0QXa3M/4idxkxhI+q1Lo1Ves/X8zqrgTZA+UfPQ8vsmSAjom8RaZw1ekCvX
UH1veKjvC6N81zVJAm0NavfcwGRQvGASPryyFlhxz5cCp7JKX5vrgiFQjzI3GDemmqQQCIes0z6a
aeXfyIg0b7JZvNVqa/Revtwyxvv2erTLmUGJy6TvKPnIojk3Qz3tvdII/NtOgv6XRYbmZobof4h6
VCjcdKyYkQAkuNQHf3ibCkp8jf+VsQ+MQv/Uxz0LMR6FfZs1cCCFNFLgjFRFNJM2Ec0ScRovxclC
TiGvIqc1+CBRa8R1qRTSQW26aP3yd/o2moC2WESUnxoCiDk839SpNk1WPQzspjqAIFzW0XmNbOuZ
WY6sHT30t2Y/Bl4rG+lrwywSgeUFHb1Amh5P83MOGA7t51cP0UAPMCVsPT+EhblK4jxBwRt+oVyg
/2eXgOHviyhpdLsPRqBGJRR2WNFCduZrWf4RJmP0NoBlQS0ZRdu80cZz0JkAkeakU/dxWUx3ph4q
W7nsP6XdKB1iwN57OZHSgzlIVE6Vn2uqjXSAtWm7bOzR8JyK87HS7nMJlqmRShtZLtR9aRa1Gw7Z
zWxlD0qeM5yv2mKrNI38tjYy491UWKVTFkV6mo/KuE392tggg1Cdt6lsOGQs1mU/qeVhUOXGdHBU
zjA4g6ezFRA42IRmLF8XolEUbo8wwsx5u8m1rrwPW1Faxz4M03TsDFvJS4TdMTFp7sKsGG7o21he
oiZy7flTETllFQcQUQr6C16piDyILKuLk6hJm7NRmPjZL/pi78fD3DPE6+cHIemEB/Js6boZFO0B
uYaucgQL5zdbauTMi1uphO5nxe5cDeNFEnfpylR8JEjQdzlLkXK6kGCWQX2FiS80skGfPI5xkZMN
4yGUOwmDTKUXrQAph1nDO6MtFLep8upQB3STV0mV+044xeMpUNfC1UIxqFDNDJml+hiv6OvJb3kW
+tBcZ21bx/YA8+seGHO5anAhQHNCEayDhDrS6UIgsYHm5e9MpQr3Whi2q7QIDPCG8MxMpAjhcBht
7NUFZk92SVv3nlxGgyddRwNkaS3epHOIDIUZdN6kFNVuSuJ4I0dV8lEM+u58mkzdmRILLQVpCA9p
Nsa7SZUjRNKjgRkC8ujwUhSnETOW2gT7JCyl09AXhc4WiiR0296CfKIgU7CT0lB7HBHZXdy7RDQO
ZirewDNb2lxQkCdTRWigrtZt71fKdsL6ih6S3jOrkCU1IXdXUgi0oWlWG9EaLS9OQsEJ4h4FH91X
tmaGvrtqRt1BnPRoF8aBuUnrZr4UBTms4WdbkKGCIZ12s4FpsaGTtMxaaZ0ksEPpcUdXUpxIJ5VW
5uu2rMXb2lLyfaSXmlcME+qmtShlnhjl3W7EAMWtct26xUKrXyF2YbyLOr3aYOwzVqheJaEzJlP2
NoJhyfGaT6e+AM5TlhFascXMkncDbqgwXlEKm8zOnUddYJNJ0WUsj+VOLQzrdkKHwVu4yJe1QH5h
z4VZndZTCr2mT53FYYEn0koHDK4qZ6YfdurrkzdWzbAr4EAeiqI2nTEwJVe32ojhfNa1NrbBizuB
ogngIYbqoOlxfcU2ue+MWnF1s8QAk5pi3UIw3VptYu1EMxI2s4aQ9awJxjUIWMMbA9+6G6V4vMQs
Zv5QIuRFuBrMVUnQvEzoL592Ip7QeZqYh4n5/alh+P1p3c3Ge+Q28g9Wjs1SgP3lXaklMlZAvFMU
R3QPhQX1gGxKQR0HXHYvlVY4bgyMiN0mqyn9pqhvT311YFoVIaZ3LTEhuJxys90ALLGcKBKrvVkG
0xlaUZ6lNON5l8njZTEq0d4f42LV09hfyYY/eYJsCmjEWboDDcncV1TDuySLHwZ9tDobyS7BEZH+
26S6dqFnDYdRWVueHOnxOVTu7DwPkMux6TWKsIFnYT5ri1k5HVqIW3YuFSSLcaJZSMpISQR5pFNO
9UjrG1tPh5tcqDy9mOcrOH/SwYhZv1yipm/awziKE1Fx67pWFOfpFGzbnHEX9DKfggQuJHa7nLX3
CMJIh7wxy3u5q+N9o4T6x2HMcyivQ7FXjDJaZ+ZgeSBgcUCOanQSHMAk0V0hqtyjNPb5QSu6Td36
/a5Km20ZmsFZb5n1Kl9EDgDxlIcoSc0LJCE6N5+66rIzzfndXDfRW31Sp4vcCq8gogiP+myoxJ5I
c+ihSQf88zKIej1svGnuzg2/CaWtAB53OsW5EzPZsokle8zj0jgr47iWNjPiCJc0U8rdnCUoy00m
f8yczrjpDZAp3iiiLOHmXdCPmzyvg4soVUdrZbRW5/KEB40SUcolly5tPLqmUgr2gHZ4v+70AK+r
BGKljUyJMjpJ1c/bcpbKlY9wywU2Hn2FzI9eOHVc36SjODioTOtnxeAXj7EkjG/T0BK4dNMPq14a
/beKoIYVLrVFuBqavriL6Y4bjt4LKJ2EI0JKjVUDqh7C1tq3hvhxcS70ur5dtYk225Dd4JImvnYK
mTZ+a4l5uo58I9btFLl3h1NmOKc53r8zEiF5gJMdXRclKPMsV7TEscYBHpA8yk1EFBfmewFZicpV
YQaXDh+fbTTUYU59Md0OSLReMB8tPs25AksEGh3gOqsbbvRRmc5LAVwL5KbRQa22yBBMKJWdFMYI
FBV5t+91ZjJJuZ4hTXgj5cnDYMmLbZky3iCTVs6rEf7EAQ0W5RHS6XvUFIyzoNXqj0KZkifCgddu
xoGYwnR2Gs9LaSSrSUrTuJlhyrhGoYmHsowBEsX4n+HiOF5TB0ExLpN0z5Ga3ncQTZy+B3rU5oi7
sOmcugiuxKTfU+80jjIKEubEwT6t4wv0kHPb6ivrRBjZrLhEKtsFgqZ4uk+Bs5ZagTF3OZCDamN+
OeEEshaloXXRDDHfjfGcRbeIxd1PkRqKKw5pjIi7ekkuVEwncQxhd4ahtZtGeReQ9m+yERUEdnPT
g/bXztNByH3bQJYuR+Kt4pRT4D6aQM8XmJSRM0fgmZjj+TD4YQkDlSzI6gJY/2EJl7lvEnxNo6za
SGO0M7nHU9KV5pxAmtpGa9xmGOLtkcez9ohtpmgP9ReDFEQrju54P7bzXuyywG31yryOyaa1TGzW
Bgq3jpD2UBfCdIMkbUYAFSCDChoQYdl4myMeO4TMpgAgSxzI8ic0PuaNpuWzXYqZ5uGR5yEgpa9Q
T4ow9chNIMrDHYoOwiZtRm55KLkgJty3PKHkfVaFuZ3korFKTCM4VFZFdm1aW8znRs/M5OasxWd8
2y1No7oKx7e6nkW7Jg2IQLU/3Ypi2u4Lg61SZAXqTFFpS5Br3a5B+i4YCyhO6PhtsZhfV13cOwqO
ul6JvlY5Tq4axNds5tRJgvmQAAF0LDS0vWZSzlt9ENn5knqBMclIL3EUi+04AZtrozA/SwZUQOA3
NNmqxuLzMElEUI2B4UWNxtN6RoLxME/xGWcbLFqeDBnsRL6R1aSjg241XmTomMQQ6MANdsxS00w7
iZsIZrIS4EUuZR/8PofTnNLAcvVOR6V3+YVYt4sShBhBvS0CyQvRP7bDqDG9ZkzqDTUQDOi+GneY
emn0w4Luhs/Z9+yuXc+0benaS+1DkD1MRqStxDYZXDR24l2XTGRkih+uARap5Ml+fCJ3mk7EKnmH
gV95kZ8dRi2XDjh+YIpOjiF0cr7xUZtYhfhp2T5qWPz58EHRhdwbtXA6hL4yuxrJ4Bask3Ij+EV1
kubBdNlHUrRV2kQ8Dzq/WveySJFTdAnCxPBCx8xlYDoSPqXpxJjlbF3V6nSjDyXGfGDeL9VYB9ZR
ZWrjGL1cxLZY5NqpEuSJYocIvcO0EFj1M4UbkiZGtWdGEtVAjHGKsGvMamacVaR4ciRkbhGQ7kMv
UJoAuj26pm4sKPOjHuvl4Ga6Bc15DvyePL1q9XM8GRWWjlkX71AuCK56ISm3bTyOxSrwBzNwaVn0
F01JneugWTMcqtYfDn0hj6tKFsoEjSyfMFXUMzCvNBZOUgTvOO7R2aJHKQn0jOhhgq9xO3UubR9N
zxMR0ORlU8baw9hnn4S40tQVnSyFly7Wrhwhgobo2FA2oFKmMl0PmEme0IoSdqh0xSspyePLKNWR
pagk6z7M9Pxt1gtA9gGbrYvlzJeQYnHwVeKhzjUikzYiCKbby2SCKqfgVmjK4EzU85YUe442TSHn
dHK10htToToAH3XyXrPQ3BJHm0aMiV2SGTk9s6CpnRErwNluJVmCCZm8TXxviBRUB0L0h5DELT9M
LC9XDAxt5ZuCsUJnoWW2304oOlT+JJxrWdCsqRHKkycwTavWAFPnDMMZyS/Eh2IsdFevTWnnx23J
ZCw0nZI+t02BY67QwC/tGKnNuEoNtxk0kjqkrpAb84cHNCnqVSrzcopB31XWdGC0J93OpfDRyOPg
th+U6H3firCguiD70AkZ8A4xKdC8a/PLATnJXaMV4ckk9MR2VRPdsJwUW1NhdtlDbklXFmD30Sln
zZ6E5ZYanUZPn56YbS2VtqbUudNZve/UQl+dwCZfDwo5XduWwqYqk8rLZaPbiXSv16Nm+Ttpxl07
wPvdlZCjcQOzZLNiDYF0UD7sO4IVbtc19YvQWKc06GfZCecanAhN143WWmNvkzEYzEMKH8GhpAra
a3madThdhTQMCLmElZfg0FzTEjnFasu0a0XbSfrQrmelJr0NlI6niK7bdhg7hL8UbDaKSOnfqnIy
bMtSQOoSMQXWb15rHh22fC9kFuddjYJVeD1rargTRKkAnhySMPqpyfim5DzFL6Ymu8sVCoH4OsCs
bOtL6F3kC/+8D6eroIn03YQShhuZVjAtPeRu6ytSv8qVLHLAH4OxEglJVlqgNSeKc+nw0Io1nYHC
scjdvTgeEl+00YPDwKXsOKNiBHBO6qQ9dIveEseO01tK/yFgUu+QQd9bcjMeplSnGQVg7xxRnNyh
M6LahZ7qTu/7J6i2RK7eNjB6/djyFKHYzojY2IIq3KE9ukWV7zGXshRo9VLEDYXstvGse+Oso+ek
9haqQyXmP90iAVnN133OH6NWOjvtKInbQIq8WGR4Ra3ioPnYu8UQVLRBppkda2EOExrCqhDnFf19
5GIZVdghsnXrakyGEzOmwSirhebgdx+76EdeTyhyuaKRJJ4o6MappCS4R0fliZInkZdgx21roTR5
5iQyOonG0zxuAyJgeuknZmtrUWaxxFry3XGN19ANL+GhDeJbHtTtpCWbQa3X06jvhy6rTitOZNXr
6wCtnMg3Gx/EnGKRosyTBcrcmFBCVIXxXEnjZidBoFPmObZRS0Wht1I1JJPQbpjOzbkeL9SoGku7
7HPhUtWSyq6CWD6YVPSPET5ojijlb2dmlPDrkmZwmoDmidWg7j1hQ+f4kd+t49FSP7CfUOpawv7E
YtnDf5IXqcNicAJqS1ynW3B7+rmf6pVdS73ytpeUaySbVLDrWXnQAPXZoLzeosgWuYY1JeC9pHmf
11XqlbzNTVTIkhPhamjrVt+QCSkY10oB9XykWO/kZr5Jm4BSkqqdUxS7lXKKP9KcQOHCim5wu+0A
Y4Y9YoTtx86PV0Q7lpxKcU17Uz7X5F72otgST0NDNS8UszMPUSgVrlR28QZsXHYIBGmbUCUflq53
aEOVRuDMTKNbVMEKju9EO7RhK5+mZZAexKoGL1kFK3FQ7kzUJB0FkqbnQ5E71cc6Y3MN+gYHA/XO
kMZxI3U4CTIoP/SkBqD72vG9NQjlZRGPTA10Shd/lmZEFnLmBzribI42Ggj2dFWzUWU5OwhV7J+i
TWi9N4pakgFWFpZo8wDopqUAClC3qHKBkyJEs/qmpcmDj485+vIHVBM4oFJJL4OlQFYOCPWREAdB
4JZiFz4Y9ET2FXviwuAd7IOhyve5iP8QkltG82jpEywI7D0YS0xtu8njKTgzjHI4aJzJH8c4Fq5K
7MA/+WU2nYxpUN43mZJctq3YSzYCOuHBqBjYT4MmrVvf6Bj4N7Kb0KzxlCBk8RSIPil1ZbIV5fou
kJvpWsqjGnOKpL9pZrW44O22otN2UbjBQ6JaByiMnxhYM3iM6st9jv1B6lHvjDapj773jSigPm9V
p9PGoXaUsJhdmUuftvkYMUGru21cjSl9xxjoVqOaq6nWY2CBfXuwEl2xg34KzztfyK7QooAPGGlk
NWYSMC6t4CYzgqA+Gi8jKR/9FaKhNNqRu9Meghl6hg2i0oJ5PPKaOlKGeI+xgWrLppG+t2rOqdkY
SlSI0Ni/rnQ8DSslK505zdTbHE+htwKpjVFMlmcmVYFCjKwIrllVBZ6KI8dENgsWJA1DuY0ahTaa
MQZXxPhLOnqOqFISM/InNblC/9QmUdNWlV6tR6WOARyb2yDiAMOP2jakUHQkiWXSWem7NqP50BQj
YpOG8ElJQJWJYUmHO1PA2neqR1t7EzJscMYoz13BDGj6muw5xFJvI7PasnW7DzXSMWjZDA1SO3rn
iECBywIF38BHcq0Ko//L3pnsyI2l+/2JKHAethGMOXJSjsoNkUplch4PecjDZTfgl/DagK+9NmCv
/DD1Iv4xu8otqdpV3QsDd3GBAmohJRQZwTjfd/6jc8z51VeecpwzcWD1LvGCejNPRY+HKO8PCSh2
6DBk3/SIEd07JV0DhIO8qckI1s4wWeHAoufKhMVkDAh/qOrmvAhAD+D12lqLyd7sZkmQlS3Lcp0E
2DsTfu5otUgseOtA+oBgxe1AZsYK+EpeNDEHhUnp810+DMFGHyx3o6RDEJ1RxVyMhF8QmSp0bYVo
1eVhmvybFljr/HHhVkk1YvmpjLNlxTK0RUZInqqTvZ8VDmN39E+pcI/kcBfJammK8nswqxZt+47E
r+HWsA2SqGwlt4DVhUbKZE0ptCyCvT0O04aC2uZL1tXeS5Wl+VNn9OIBXI2AmTFVcRZmZlKfSjmJ
bxEswamCVDtMGjCxYuM5t7PbXBN1hu9UxdfKr7LQqlTy8Mdcj7mQOT/SLYuEjF+BoAC4/Z9FRvSE
gRLrZotlnDoCTbTMOyO4r3Iw6aK5qiKjuXV4VfdwLm+MJ5YWE4MUUj2rcF7cZZ0eY9/deS1XfUKs
7o0xq4+iJroyTyk3LrnV/Mlr/gcMvMM5j5DEcpfMl59TbmwQpmi0ctSbdWbfKzKq1slkJVwCCIku
bIRaYjlxzKH+llh8kfBXuqesFPYFbnyxIltKFSxH3eGP38vf82YO4Tt8SvQa8aqMn6hHS6/aePbi
doMfaitQmsBH3RBQzThqEzu06UAn6ln7swyXD9fCTx8hAhc8EgsL6SKD+JEx85yZJ7qnuZ4w6OJI
5iWZYu4ksUkn3h1BdC/I0+8VeuK1Ty48VwQWdQfCYNW3fnVdzE2BatF5AXrIiQya/MsxteuD1yor
nDXYtnI2a+Sz+kJSdQZkwmTgrx6Td6IF7RWItsem1nAM6LH5GnXtZUSWxMpojE2VjMGOvH4EfNDz
52Cuytel3jv0itw84oTNmQuEWZuD694BxyQHXc7yS5cbc9hF5bDTMmGF6IkKtpnyi4/1gLzuzHBf
Z747K7569Yl6aPX2xx/k75R3dKiR5IJ2d0md+r1yN1A1ilHSVTeN5qhw7NQuoP3jEiQ+39FNBxrU
ul6yeJZSjpv8W2q4+trKnPHP8pzsn7+dCCtM8pUQ+UDhUN3y40cr+ZMmHfR605OreuNGsQ9XYY3X
H7/v/wdr0+6tXqJLxM9O8x9CFe7qkv9+/iv/Dq2/ZCt992As6S+/eqF+jWf5639ezL9/+Z+//PW/
/PLXf/vZkL788K++J9/6RDER6RsO339kbYu56TffU/CJMwpBMEItPOEodv+v78nwcNph5yGzAy0X
RSioln4z+5qf0LHwUOExIfKXyIV/xff0O9WWg+Mdry/GdF4fctKfGH2CYIYiyV13O6lRbSxCTWza
Q040N91YGimjBYGnQ8RQdSg3qtrHaGzd4xyX5kFOWkfmZRzy1bW2sCSfv3tHr/92Sv0QHfPzoYnN
78NugAsaHRuiyh+f8NRDUNnbMt7NowFhE3HFX2tljvCgsax8hxchnlCpi/KwGJOLczMFCAJcJ+Ws
iDR1O6eq2bTWIO60RAqH7gHBUasZ9b4xxvna7HvjTChtkl5n9dw3eEYiGzN9XZpf4an0PhzqKHoz
cfEjUk860vA5po0zIOOfjYff+QH4VTlNEDXwCXBd9hcpyXd2BJF0VpnQKo/mXXPvpmrox2205NZG
0C57DMrpbWpo88HXcm3XaUP6pYQAlysBujNQkOKlF1pvZldpxDLuR4H/DVGYsR7iZvPHH4qxvJLv
JwqvdGkY4en8+N/P9aWJ35rw82myQxQwXWelV5IMC9ea8FgQPjdeyU7591OCNGrupH01B41/yGav
DvO6J7IjGszpQO5LenJnNW7/5NX9vLI4tmUsxcg6mk4OwJ9jevA6u7AEmcNNTPS3dd9iSCYRB4yi
KPdlmssHgvWubKQ/R4Er4OyI0fiTilJciT+/RTap4wBCzF2Eb4idfvwwK1GTeNbF1tYTrrYoPOLY
Osalj/zRzp/ijIBnxT1+LYoMlYiDbdDX65z03XtaYtIw77i35e1sboQ36mfNGXZ6O46U5eFfF7Gs
P4+Y8rDtaWrv1gUa68oxry1yyHeTbaDqyJ6V6AzYHj17oJmEiP6myh8EMVxrUtUJL+f23mnjXeIm
zUU7lvnKViYKD5fq9jvu54lGSYIpSV5nP82c2EhCZnKxjTTToYFAyip0oyG5L/W22Omdfk7NfKbJ
XNqgLqyqRHqqWB7qLsg1AF72rQwQ9JG+co1E06i3eBmOzdVVNsE2kKhgjezO8zCPCw2vyCrX7NfR
LYtn38hbyj9QYgijpy3GJVhy1c2Tx3e5LUYYDkfUtDaN5ZumFca6NQBvoDabcOwx+XrN4naUQZs+
6FiNV1Hs4uecyvY5cDsbP2ehTnHjqx3rYLRpoi49UEBS7zW7FS/AM+usTKsznG2/pTWkhBUwEU1b
NJ3XDhtiKerLqULQSIuPc65Iht8tKNhnw8nKsJFas4FBTXYkUlVnzzaTt6AvcoSPrTwYWnNLBxMO
hk4+VabVbZdOhp0+qPmJxp5mU9ZucFW0AeDeKFPUHiIInntoa98fr2elQ7rKwbHuiMWO174v79Jx
Qn6Q+CqgQ03z3+OiyZLTpAXupWUR5BwIg0u7iRKJxJASY1XOe69EOl3GZiIKOp3M8tZVjQyXGuQd
2s10N039rSqbept7bcSFKW5XjmvTnxQHw12SZEEYF4aiMQjN16ooa20TpHyIkwm12xqTcViqFN4M
oRyopKpACeJ/UTP0RFGPXxZaGMMV2FQ5ieSaW9wzjQvV2q15k+dcH2lBc6MdSmPWwn7TRlNwmIBN
rwArvqJ6X7LxG4f8dUtb19Jc10tHi6MlzqZwe/bdjLyplAepFJN5krN2k7TZTRE54jrnLmp37nAo
yNFe822MtvYQ9d9odbh2jGjejS35vYSVb5EV+W/a7L1qkr54OSL8XJJVtlnKdjoEKZ+YmXZrs+7T
FYHvJKibwjxNMkreLXgDtDS5HsALJeaXcQY2pDjB3QLSy306FykV9nOH9MmO1aEbQYe1JnhjVCOL
IBdmzTM5XjUqn9G5pf2dKrpghevDvm4tZ1OpGZdBVsiQcHcCvlNDWWen7ZD2OxTNbZga03NZTcFX
q2ztQyYT90lDt/3cVHgvsNal56gUVH5hki3HVRoHyd5B7lObwXwJX13uCtw+V35bvapGPcZCqBXn
nXMWDRFHpucs4fm1/dARl3RLltdxjor5WJdldJNP3nzuy5H0s8DdG7OkizxS0E+gW9k+DzIgA7Ti
KUU7dTK853xHnwkmA9yMiD6+KuIp3nOf8bZFD1hrqeyg6rEIjXjOdn1nBdESo908DlVmHbJy5OtW
2MehUMO77kAw1TbuIIfo7JneHlxCyKXy7DoQQlt7rvmEvPfcRaN3SATHGNK0doU7oD0mbik3ZW7l
JyW0/NKfY/cxRZhAIQWqkFMd+fbWt9MvIsjWeacln7XGby/tOAZnkgUVQ+VYHQ2vtUMPBulurGYH
E2pjfBZmX4e6KcTWdRNWKH2KggD5SNKETpxexclAp6SXknjvGmloaFI0YSmH+SazRbnqY6mZK+Ll
ux1+bXcHudsddUukoZ76qPy6oCS20kTxo8WFu8r64qZNRRmiLF4SFNrsCYlMeq9DKr8T5zleBGb5
NZ+D9IS7D5g90py7KSuKsIoD88D9/D1w21sCvoGYguFp/tiokriptkkJgB2rrDrkFa0ytdV4F60H
wVp1MrrK3PKmnPuHjD6ZFQ6BW8ZUcrSsydiM3YDAMQi2ulk3R7cbzxktA0BF9Acp65IOFOzJtByt
CdjrDl5TDuFkt8aeOGfvZMfzMZL6TTXQqpNC6kE0jP206rpeu5EO1Sq5qyKwm3QK9S5NthGFqZWK
vDAREeOOjoB9rOIY8qJ57Nq4fjHatrlPzazYpPawlGrILkT96exSz5SrubCzU+XaE91xibV3MVrx
BSXAegpkckC44t3YvZ+EydwW25KeaxAPLrSF39lXQwmnRn8JzzeTj/jrSuanmo3vXgXVLXm73rfJ
1C66Pr0fMoPgQhVdtxJTRJcX2buyS7J0bLe8yIA599TtoOCBLOVSO6XOW0UpzbsXDzCoso0J0e6z
VVXSUC+BAq8x3zdik2vk6oZmq8fzytOazKPqO5pyWkl6ji+wCZOc/HiS/lnG9dBtSeAR/qlL4RAW
ESNR3K1Uuo0lVmpAuhSs6ITpi6mwblXqdUmMr6ioot3ctgltBGllgjv3dNJQExMUu6GxyteK4VRc
YIgbvZNbWsCahl/N4ltpoU4KqcjR9bXOA1Tvq6Dp7F0z0VZ121ReeaYva+B8opQL4aXT95dAobW7
j8FF1KrEWhkfdH1qEaCNVjfeDBU06gqzBb9b4wnrRMONcWHYY/w+dAp7LBmD461Zs19d8pgTWeR3
zU5MSXV2Algsr5x4P0yleIfUEFkjC1gmz2COZhnOphKPtlEY90PX5DtbyuISSQSHrnJIi4X1gSxF
3tZ5tbWpMt8TePlnyrT6mJj6DWJcGmQkIY+ELbjp2sKAuRlmhShailg1687ypl1klFNDNKIE/uzM
ekb/pPDUIVb0xnJNsHt27+V2oV2X9mATX+DG1wOFHFupxhKPfaCfZlobL0DCjDMNUdEXL+24qiC+
zpsQ4VetNkmScjYFXSYu4on66VXUN9FRK/XoSOtEixfFFtWhQTB7a0m7PZrD0DkrU5ceOgrD3Hf2
oL7yDrCnDVW0FDZn7ue6raNjkkp2s7kkgd6kEzSaK/m1ERQ8DLNmdOsuStNrSqmsx7rRrWd2bXTK
lZy/apY3byIvrgIW2Np7sypiidZeKuxbrxxvuygQ3LuqB0ilOoyCFBnorKDrYNLN7DLXnEcxw2jP
6ApWrKLJWndM8NRcfJattOD5VX+eR2+mArUdkT7paHdJrag+R5yy2R7Hsd9wiTXqat9EMM1kthdI
HApixCsnQoLX45o4lgkSxo3tDbI8ExgN8BlFCTLJfDA0FLq9MG/SOUiopEEZ+G0MbAqUWS+/dbHW
nnQaa8KKThQU6GbxBFi9rl2BDXL2Ulqi3OZOq106eoq4PTbgOCsbvfeVRl/Bgb2VplfVjPMqmxVq
GaOb5M4F5dZJFLUpFZtnVcE5mNXLOI7iKx0A6imxC/dge604i7xT34os+zLlUhxritCQ2tUN/TCi
S57dtOYCPHd5HOpzb77ArpQHZbbxRe/yYaeRvI/bzrm3RDdvibO+ENXUPBmYsvbVxLYQus1Qv2h9
4kbcowv9vsI4QoGHS4H3msY3yqYqN6FI2zKL7FvZlNd6oWWXfH/Li2Yys2w98PJRp4JrhJpRWkul
j8Nu4/rvZU4fZDn2R9nIXZnn+lGf9CTbBN1kXRDV2JFv1/ZXLS2WG94JpwhtwIp4FVWIsFcTQs5v
KTEGcJd2WAsI4tKqtWCV+9X4TBm6Hup+f2NFMT9S5T5VD1kVPeY2DdtrDQXszrH50tAKX16putlT
/MU64jFSEw/wGgt3hCSc4sw4Dcqz33Zsnz61LlZsrI1FcGA32htBrlS6iOzA3OWUi6r+PQUPhU/1
JI6BwbV7L+y0Hq3ThLB939sizjYFTLyx9pYMsNjoZ4SkdiMueM/fccjBCAfKQckk9HVlaZtOs+uV
v7DnCFYPhL70N4Fe3ox9WoR57j/GbTuvbdGyTFrdCw5ddDokCKwdSQ9b9MGM5cYFXSTVvW/OLR3x
Tq6e4pRv5aoIbILL26DcukUxfeVEmXcI68KBzrQV90X+vcJo1lkzOqvA5Y4qBj+Bd5p60GT2r9CK
fYAjO894+C2HxQuxXBAkYEhsO+uUUuMHWqVpKWtZOVm+JQKWMtmz0uUn/CSLyGUa71zHpi+qh0dq
i1vlGjzsRak2hGtymYMyqe4bUOMwmTwpsbAKB+mnrVm3/ZSnjzh7qCKqbDRmq6kzu1NiKw75ltM8
UIZzOWW2uab5HbGQacVfmDgJHipp7jpaGLZ1KvXQrl3vRR+6h6ZwvUuyNrKvuNbEqRxxLdGpkLCy
ikNcZLc2pQ9fokS2zo4UoPgQdFb22rMrP2KsHbepO8YPLLbaqQ4G49yUcnwZZtFdUTZFvrGVMnB5
ZXlywLNu2RtRWawPc22+6mNMCZahGn9bdq4n1zrD4GAXnnEmkcSEZzfqU5qZ2dsHfPIvgb3/GKH9
AcT95/Jz/1948L9DsHcxEv1BtNVf/uuSsvaX//H3/NG//vfvY66WH/8N7fU+Lfklum6CdZH0v0Ru
/4r2BvqnpUEVoO8DtaVX4u9or/1pCZUmDwTSis6yJbfhN7QX+Ji0UDBGYiqINv2XEtesBVH+Eb2z
l6hw0Dvs8I7v/9zhTd3JpKzZ5Qoro7sBhPk2n7Qac7BLCSQNtsVWj5x+MwSUeC54KO4UiVqYL2PZ
XfdxXazd1GeL6W2db6MwKa7g2+aoLzXX/JPrNmUSVm48XcUAGsxm4YiDEfRTWEGp33NVS58j16o+
C9eaoY+T2rhxlm9+Fxj5qVlOA+yV4yFlpruEZ3FseNjdwpKm5q9dj63IdNJ5UdNLN9ug5+02pNJk
jDcEy4/JxzHmLCdalYmGFqTERRcSidkK27nUbrJO9TclFarfmpTyiTCYE/JUBtFG+hbkDf97Lk1Y
zuHjYDbmot5bhUk/YcTv4YWFk3rBPvs40tvSdCGRp6z9Aos7nyfTyLctocXPaY9xHyF6kSN0+Zgv
uXKCx2aM7Ze8dNSRoauHxTKXTOokuQYv0wrxZpgt80stk0z7GGrOx4DLP4YdH0C56dEIXhXLLIyW
qWh8DMhqmZUjQ7NieFbLFJ0Zp/oyV2OakLJVLwIrlB+Dt/0YwsgFygsiw6jSZETby6yuP8Z29jHC
9aCW/RprKopxZ5ny8bAMfG+Z/fXHGmAuGwGSi+ZJV/3TlLOHZ3aFprnMEeshS+ffHLswyswvpd1T
XUb9l7bKHO0ycrROrqSU8XtEvMUu17ihtxntaUZ3KfRev+giann6LrCfka4/58mI8Gtp++VuG4uT
p7VcQ2TRrb0WRwPBPenOSpujByS6Hcuqv6CS4EK5w2Us6JPw8tJ2KUqaBG+Kl9OlpS93Ca1QN1Gr
uxc5vtpVTAvc3Yw1+dXp43TlsF2nO6fp554HyPcf59mwwsRYLBeNupuTOt6aRdLse4vMD7B3fwE8
TVrQRS+mTdz1JNZkiUM3FzNCemm+m3xnHVM5SV9hX2xKq3p3R/Rt2mTKTSw07c0xBAJAMbx0FQoo
feifRlNRaWsh5Mqxn1SGHM4JFsc601hnk+HZnUrksPzWy6z9in6hXNuJC3trBhq4M44JAFIPwayv
7bNiUIcY7QehDo3YVoHowjHy9lMf3Igo5+9nRnWXt8GbMHjY/Rrp0VB31w2Nb2Hd0B5b0y230pDj
EpYA1/J57gegulLzbLlixdOQehnTHiwyfUa9pD91tjlvY3MczbWtsITlLsWIdmHe1KhFyb3P6tDv
UfKZ+EXQtE/ltijdB9KyC9bvyfqKmZ/+X2kI66lDs8EDFHVDulKk5K/bCrUX8SFusC5N47obkJkW
QMY8q7DSyqlpOtJ8J+ytgvLY1pHrzlXQOr6G9aDzkyXxqWCZJsfCqojx8yJ0m15bG5tO2ZigNHA2
RfE8FSuIyteEUmJVTCoRPJgTA1jzG1adSp/lZkKtCQUNmXCHzkxz8Dymfnypj77Y2sqZd5qVWtxm
lPfZpkc7xA4Q9dcowdtj0LbiUcUWjdC0gNnXNVW0gHawx4mWfsVELtcj6OExwKN9TbSle1vzOyHz
GO3pmnQsNwtjQ2H8EaK+jZsguuulN+8xsgQ7isZESLRKfvT1RoQZp8bW9bgQAxdon0eJH2yVTyVY
PboOlw5PQ9InWQU7SfTflRwn40xbYaPWbYF6gj+uds44AQA2LsYHlDbRkVSy6VplGRsMG5l8Q4nD
N2wS1L5VNjMDi3/0PgR+k1/DS7ePhPA1fIPdxr2tWk9wXfV6X/5J+srvqSnIH9MhstgxTaJLlyn6
PYlmVlWqnFQ6W5kEl03cWKvWHaiPy490IB/dmD60vCJrhg8JxwHyyiYfqm3e3VV1+5hjoIYrmsXf
CHQWon+2AINXhfuNVBOXEikkID++KisjgyxR2AsGLbHWkxY9OsX4MKOwpskCr6Y05jtjBl4dqleL
h3HVFrUI40S7Q316SUxajws3G9Z1Jbk40YtmO7Rz671/Z5ErtZ7F8F7W1ClRRnZcHp7vVp1/QML+
nh/m5SMv8JAp6KQVLYme37+pbuchdo9sXv6gql3QJsdRASaM9YuPjmRVcK9wg5oWawrGG7ytWUGE
spNRPju1m8HNd7GMyr1r+H9SL/VzrsrC9BnOovQJSIwhUvTH12VrROT0BIpuvaKhhb2pHooETVvv
AEnGtBxavdz/x3b8zxTVLCH1f7Qd/y36/D99dNX82/d78fKDv+3F/idEKuS+ejpr7g8qiMCkG8Ih
RYp6FdIqFz3Db+mvqCBIZoPJJTjNQUT7XaOEYX1a4i2XXH6yPXTMBP+KCuJv0QHf0dpL9r9LRAON
FvoiuPiZgM9hQaU1V0B9LX7J6mPoLeOPleIaqJ3daxmN1M2/+8uw1L1O2/ZSu5mYo1mm8J0so9Um
bWZVDaY60F0eH0xUkd7KZxpHORI0CnfjlYrB9mpmtjlTsa3shgVUjc81MsBVzISfwQ7Pfgo9imMY
Q6il3wBXPFHdmVFJP74YDbfxOGeBwsslN61SCYWb7bvDukr3O3r13qIP2gO1lE1xW3mUhEKisXyI
QU2bzocxJYGEWgzxsb9gLAfuEANFPKN+Fy9rjpV6Vlgsq08ftMggitheOq+7jCJVz8hfVd/0ZwXj
hEqUJcqUk7ppMugFTHvobqNl6PkfmxcmUKxFaXrpNQa+GNYzf1nUbDY2+bG6oSYIs6hbux97nYVp
5zR8bHtV0qIitTrnuV0Wwm5ZDTN2xIZdEU1ntgIicndzpcXvwcdO2SDCquMEpF81Nr4jdk8qGUVo
1PC1+bKYpsuKSupjs/S1P8VlemEvOJdd2s69KtU9ILa5b0c9vqiSoTyIyjdf6q4q4pBaHzskdjF5
LkYaOqsPWG1cEDZnKr7oo6u+wSGJc7rgcMJw1VPdaoLq1/ZF/4Dr2OGB7rwPGM9cEL38A9yzvACg
byxHML8J9nl0tOAqKCj0bR3iBIiTh4kvq/auNzVA7gVDTAETxYIqEopVHvzcGEKZkUXji9H9xnqz
8DEuqjPWJbbwlp6Im8QFObroxzbr9/2EvH/sGf/naMTTScxWkh9n6WTOWtK6Bq7VwQaRtxytsYC0
1V7WWgRg6hd5th+UWX1O4iVq25woKdUXnLV2PBDX2LHOQzXAxoHGOgsuW1UeNZkLVovr5dEdi8sA
EFdpllqXTfFo9iP3OtU8sFoKZOLqVmtt+zYvoOC8OoEEMFri9vEuqmhRHHtKPYIk2+2T1Ir6wmkt
f993bE0O3uLHSRvTLSY67xX1B0RDHmjzrSvyiNHPBxjHrnrUWZe301j2t9nYV2caZqM7vS4D3Fle
RcPdhI/d7MjJHTJfbj2nNT/ndVdcUQRdPlmKr2wx1PrZ0+fM2qSDymiyUqPG81Ba6bYafe2xLl08
8xXONlqq257vfiZHzESllu2kpiM8csRN103vOqTWWo01wF/Ppc/1B7LByJEJ59Qajqmv409OIEOj
6CnXp1DDrbjXxquWdtRwAqo8uJ2b0iReviFGnNZADkS9SX1bZnbAlaQAjKvgoSqAhTVdx5iD6W0i
jHYtvM7cEFC8HbJY+xyl8aWZITLWrf6tT7pmO0DHUXtq24uO/2Rj2tXuc+H6SXoG2y4KcdnYNDur
TTyKOVNIVGwnDbaug92xDsXYDA9kJp5mbvmvVpfn33qsI09OXeEhEYl9bJeKkq6/nnHRIk8i0SHo
3YmFfS72bWuX+2buzGKFvNe7yVLnte/Jr8wmcgbMqNlVCQL8wjYAZ6m6fRAYKi8xwLitUO46cj2i
tjgfLwZipVcFV6lz4OfJl4z4wSurneUFStH4YhiqAiGuVaG26jT3shwEggGkJ1un5iI/pmfcDCd/
6OrVNFVfTWUdUOMR0iCqCu/9gHNlSg9R1N1O6B9CEeg3zjyd8MN7IZbMeW2BEq4hqaetlrf5sW6/
tCi5UsuRVNDj0IW48q/xoqSbIWnkVZChwNG4qT+Unj4QNKIjRNajlkAbI0Oe3vcd3tTcoFpen7xp
FXleuTOMuk43UTmGcze/Fo59MzUC+bhujfLQlA1u/zQhetADCS4GFxGCVDfLmbmmF+5itj25x4h6
4vMiIcTFzptW6bRy2nZYITur79y83Xqpa1z5hVaB/uvTN9PJCwywwkV6rowjvNutsAml9ejCvbPc
qFjXmKTxGnIhUx2+98bs4j0+iXjD89usjZTijlXV67dFp9WfpQDiSaf2Sdd8LOtt5m3Afr5xTm2n
ttbWLTEzX2ssYyssSqW5zokGvO2N4MGJa4+M42TLdpCHsO+PcYOSm8r4OGRbViRSqO46NieeRyQs
FCrPq66Lzk4aq2es02noxzEsdVToW3ced6VXVGE99fBxY7FJyoArqYFZ3szv7QL1YVuRfdK17YQA
IMdByay88/r4PrKhAUSGmqTOvVs5zk+zHPNbKbI2jOxRnvHwl3tbimRdT0OyHWAEQnYQYnxthA1d
tjOwOVzG03ApoOU3iFr8U5A1wcpOJ3XoTRzPCZlu+2LA6xJhQeCp8PlFoc1XtKNnm1SBwZFJx51Y
0lPeajc+wDVHCrSBlUVXqBUv8wUMqAeBGdDOIDE82Z1MN5qQ3XAwdZhqFR7Uu2Gat9lgP80z+XCp
1Nr2czINAsWWK0zcTkcLbwagtJUAK8KaGk2ySbxI9x60Is656frSDE3wkv5FIDe7UkF9BQW2JfVw
lRfVA0c3hd+uSUiV7I3NlOKJ7rsEP1dE4GQl7Uejp8d0FMl+CoILuMmbusrGtSHVBe5K7BlxwgR0
L2q4SDdVISkWYQY/zZXnEHcEDtaLIAIsZpuRUhAvVMD4As60IRRGQkPQLaF4LPxpXHcKSifusYPo
/aWYIyDMKDm5gaLEjqyM2l0J2b0OKEMvYhlMt1Af16yin1NpJNuEm9Jey2s9RBNvs0Qx7VxyvOSw
4pnn5PKj/LWtE+O26XMuJ8uelmDdNcfIuXfGJgkJr1EhBHxwO5pEa5pj8ObArl4MhuCQmezXScyE
9xBjfqN1A0ysD2l71eTZmeRfvSc7zpajCW+hVJpthoLFe9MMNF71q7pO0vmio+12CHt/qnMywECk
L/JBlBG0nDMhCtCCHmtrkuIlPtgqyeRjHoxp8KrIIzSj1X9cmv6ZS5PDLeaPLk1ox//XL3/537/8
9b/98pcfyITlB3+7NJmf0NOZBpmVlufSuYoI/DfpuPeJSgwwBebgUq/89yuTwUULsTRZ03RKExPP
ff1XKsH5xAUMAwoRkwF/hXzOf6EkailS+4FJcD3IDGfhMxatLfEnP96/tRLtQaGCfDvWcMcrX2cV
G+uiO2p9OeEvLlUdtklhXnam6W80zUVEWtvayiqz+mveiebLd2/gPwIqlhzP725wVA+BOtlcH0ny
pvP05xvcHOM4yaXvbdTkG3eJ8K1D54oA5LYZr6uBpCvppsG5Nh1YNqVHj3jJERal3Xz3x68ECvKn
l7Kk80LlWOjDzCWkl3vwD5hJTR4QgW/mpqc3fkU/lrZyJlkfcGsZJ/Tk35KumNi0uwnxpqsMlJa1
OPmJXIJuIv08kytxzTFRgb5Z1pOJfIXIB1DSOTXQqlTFdkh61KNpWQYXvRdPW+EqSJRZ/9w6/Wtk
inhTw0af4WL9i6grk8taKP1Ir0G/5kDg1Km7tLsmAk377CV1dWmiyD0FA4ESmLqA5IvANd+tyXah
4ofoVDh5dWFTKMuIL0712IvdqM/QLhpGnNFCZcmat5Z1/swLsfYaYRffJFku60lotLgK21oTRvuZ
kp7TFMT2Q0HSyjZFl/qSG3aynQhHK/yekW+9Ugj0BfH95Zg092CV3rZFOrI2q/Qir5Piyc+abl00
RnITR9yWvYk3GG0rtkM9tla60arNKDpxMbfODFpKGEeOwvq+Gqt87QeVOIicSGFR4KcL1DyxgNjL
NDWJojBy6yoYa/vV72W6cZqJiAiVvZatj9Fa+Zp+FQ3aSG4MaQ7o3yJalnGLvVVzTLgBraekbMjc
XPepI4a1lyAxfinGNi2OPLpnzeDA3UNzrfNxPv8f6s4sN3Iu284jYoHtIfkaHSNCCinUpFLKF0LK
VLLvm0Py8d5R3HePwvBsPBF/zLplSyFZ4b8KMGwUqlDIjiJ5eJq91/qWEMW24UCwVPqH0lIfhc3r
K4OKvTtIhIUishdlrPdGE/4WuvhRVCF5E+ncQCBgZhu08Jn7klNfrDZiO3ZOvkL3/tOdPe20/6qZ
MrMrx2FEs2C1qMqM1uswtS9gCuLqt+QFSfPhNz1yQCmZJNTEExatftKWYWG8xC68ttlrH9L6WtFP
qRYSQcc9JWQQCWF1Gc4lA6Ucf8VZICBr9yYgG6X2sKmrFNvDVy0ut8WYPybNpEFG8tttWSZ47RJO
oH5i3YGi6WgHVFtbUS1csw64K2lfG/S+U44CuE457qvrZChvKc7rHDQNPFRFrR7LFL3WpsPhsAmg
0R8DPxi3QLJceos6r7RSnMupnHuTFfq/vR+p2nUhkuEYGW1Oa2O0ywutZgtLSkuPZlvW80iuJSso
aD9OJHqpgMgGMw8sqpHhRcFssop0R65IMcYbS8vuOVLV5EZBjalY8xicElOxD01QGIgdkXv5bCX6
MrwueiGJk8iEItimlX8kJXJ0QVJgHXAWYVkN2o1aWMNELil7aI6cAz+OKUvO12Q7XIMIHqwgecyn
gopqdq9GJW2NHl5v63c+kXqIUpJJNpD4JpU/GpZ7w5TWLfz3dhlMRb7RQQdkkFrqEjyE/pwiHHhm
wkuOtRWmxcLnwLHrVdsMcfuP1o8MPegrR+3uxnU69V4hZuVg+BlbDt+3q18K8XbLQudkoGDWWaS0
Zha1WoaHVpP1ohoGfUsfzl/H2Bk4H5HhgWl/8gyZZh229xBVoxtP38eMD0sOaoM9U9CucMHVao3c
6jKyfycty8cKtFTzRMG7uqPxgr6v7jMQCvA8EQzh3blCsoHT3bUJG0C/3aMrRImZQ73xBnC/S2tk
oKH+oFLmiCG5zRlhzGkM12M2WO1DmGC1BAAfRvmGclO8QwLsJw+TC3DrPja0zPHQQNfttHBCqy5f
J6eCFZmPseZfRaYZb1xUV1y6jakzMzZT5qfSAs4GyiajyiUe7ELV7n07v9RH37xOIj8/Opas6wV0
IQckg6k9YrlYR1Vhsh/N6+6nTLVuadLV2MESkisZq5zCtbb3itItDVYsQpbiwZLruGs0DCORuUOC
i+My7+KM0Q5xp3L9YY+SEYaWLDrtPvULuvhVD/+TOMPAosdQD8MR/tYPAxVyzkbYAeY25v5lldjp
N3wEaGa7qIMaifU+/jna1h2SQuS+k4S9lVv1cGTIDEe7Dd1LLNqguKo8xAbGnl+7p/yr3SsRf8h1
Umsn/aZeVj0ThhrgnjaDpLsLnVpuLdXN7gLQhne6UI5873LHUSI5dCYthgXxjfUhsGx6NI2irQPm
3KVEoryFwYjSNs6DZ6sAbDvUPQO8n7JbgQ5wZVQGeTHxDGt2UYaX0qCGYiR9eV9PlfE0YhXuOPO4
WnsXUWlattoYwGoDPI3mqRUJU59TqwujNsuDHZrie8k8hOiwK+JDzyPGgz4TNHP8ZvdVm+EJr7rI
v+X/VZ6sUcFF9N4vZVEmN0gaFQKAQUwvXVmLGzRxNCXSVqlpIVe5sw6qcrrORYXIsjcNTxOKka5F
YqS3CgYNnbbZN5hyVrC1xoJpoB/a+2y0LwezN7CTMzOPkVPw6fdQGlPN53vpZdEvFdl18Ezi5BjE
9XST94WxcCdD9TLyXy8zmDcPDQkAS0VXPcU3W75gH5iNnKAxm0n1lE6Vsxr9wnhCs054Rhe7W0qQ
FZNDmN83NVqHYC74hpla4jpP+6uYZulGBGbnMS27PFO+u4AE083IshEtCCvDmWHysy9GDXXzLCcZ
2yh+rOFI3aIqCFeFKut1MNX+xQRP5U4l1DZeio6WGYUQxdiFRWeM6y7uJHpeu6kWsPTKJ/S7DgXM
6l4FgviMkJtxOAAQ4WNwnpNRZ6lT4iI89gmbVA7jDTUFKGHbUYbBN6GhQ+WP6uLGqKuOJIgU2mg8
DVq4FJDH9laoKKsed/Zy6u2ZziBaB+wYp7JZBBjWe6uJ8nYFoa751WLuWiWcJStSpzamEvvHeoI7
Ian0LTXNyNHnpeUBNJ/+K6QqiQ5x/gb1KWWwhDkVmwa/JWfwcNrGLFcXsd/FFChGdaunyMkNjDSr
MezT/RC55dOfCSKIou6SWDH/aUqls0pb17+iYZEZ7OAwOuFSzKPdCF8QJqxiFGsfJSXegN5Ug/0k
CXA4qEWq39dt5qyaPtLv064xCQXgyQJ3c2PHaO/8Ct5K1MOoWIrZyM/LAZY8VwS+wXSaUT3ICs0t
1Ea+NSNA9pM5NQN+aP3B47DJrk7k+nD8syxXepMCNGoq93cewm1zC6f5lTeqiwDfCEwIDZzkcRjJ
AsiGW9fgW2g09P7CBReW0+JM42GTBcF4rJvWWZWOJh9nQ+tS7QP/CMELCE83b+6tGatgFFNz8F0N
EYtZ0S7/84vsNGb5oGXwv8IvgYOSaVU+hVDqQQh1mFuXSmxxA3/oD7ZbsVsIh1L8DK0s+S1I18B9
lPPXUOibOyfDpUIsuDYc8WuWdBrG8rGRIBJg3MeTttIoah5V0ZcYnnr1CLwuQOpecfEodSqc7bBF
8LGwDt1lfSYvaKJPzdpUmZiCseNXHbMLjm5cE7Q1P36Ilu61aVV/P6r8XxP8/T+o5ePc++a49tG4
/W//ZT55z5btWdX3tl3552/+/ehtWH8TDlI5fJpzwCRd+3+cvA3zb3QJOUirxFyAmpgTvv8zq9Iw
/kaYFBo9GEmU8ayZ9/6fR2+dWHIX2L1Dz9oWc6jqXzp7u+9lfLaOxtAloHX+p/hRaJ6+P2CaYdZE
NlYgCou0O1aTlU6PQBHqG3Iqp0e/YBOwMfy+eR1to3ygHzGmm0Dq0r6xw7Cu2EsLLVyPSYbzYMpE
tKlCpUmWws+sK611cRdBrb5HkE4UWtBY00y2i/MHNak9WyKkYBfK4XdlmZBSF72BHH7tF0pVbDLF
qUAk22MnEeAUg3oZxIacVkHVmfEKha6ibSKHeq9JX24Hg1c/TOx+8q2VqbGykmYWh2DExspH6lxU
r5SvGsT3yEdylMWmgs9Kr03XU9oWcBhicLO40w1fD3aSxMOUrAm3PQA/8tmAAmHUtpre4nQxjI66
MNrtjhyOXOOo2dIYDbC5qoh7ikRo3RZSWZfsBpo/Djr0uHrh/Ad4KBpyCwZYkeLYKQMH4FFvpWIP
97aNOEI2CRAzU50paoRMFks/czpKuZkFetEo0/6mqiuEkMGAWTAWaTHilvdd5smOqXQZs8szaaPl
2qHym5zlGSOMV47u+EOlfwa3yxi6ZR9NKmdNByimgUI63xDlYxQH3+iemYRbuVWJXSJzMLNqB86a
Y4crEbNaABbPsavFQJwAodtGGt20uZ7+chV7us2MFLZYVMb+Nggq3cLYGsG+0Th8rM2igAjSDS2i
NmP0nQviBnMoiFlAREvpR9hSqzBuJtw3YiRJmyTCboHjIIPGJBl3S52ES3OhqfU4cnlulWChjpr+
VEfuKyzuolyOFCmnZRYHxa++LyxnTQq28sPW9AouG5Qkz65hUy3Yz0EewaUVotbSlJ9uGxI1Fjad
CgDWzUzTaybLeSx7s9xL8h5hmIySSgBi8zw/4n/HfhCrkpGJUBSjGDDmijK6pvweR7O47IDKjfT8
Q5xULV4myuij4UKGMu0g7bcQaorwOi2wXB60qXDlRTYCZpAUjAlXojVXddC0egM7eeUmE3hqK3dJ
X5hA+Xh5AukHUWcIPFnXJhpHWTAN+96K1Pg2JpSro6M/5gofTRuO+w6LbLglPsBmux6UZh5vNXLH
42UNRxNXbYLuaRnTbLvNKiPPtkSDYKbFUaGX+aWROEHzq1GnaEX10sI0jUHEAlOC06MdHR3nRqVN
6Be06r5gEFzR7Ykuqzbi/BrasvaSDj8wG2WSJHo3u34zxX5Sm/s4XSHfEMT1Eg6KONo8ma6ywjU0
pYceXeDDXA8y5DxM9WXBx6dd/LnUX1rR/s/06dfla37X1q+v7eG5/P+ASKJTZfyiovzv/zHXkv/9
v/33f/uvbxe1+W/9o5wMU8SlskA+rQ4h4Q9u5B/lZHfW4FBjZvma81He1JMd/hJ0GUTt0DhmSsn/
XNQ062/oeUAdoM/hqI0C6y/Uk98PEYtlbE5qA2gzF6jBJpzIuTo9ClhwoS63SrhzQmoueb0PqukM
IOJUNfbnMkiKSN40UQ6divHGqSIsdxobr5ttGa26SccX3/gFAfWYmsnfx+L/Vvr3h+r0tiT952qW
ypWAq7jsAN4v0wm3pPn6RLRlbV8FGmkQeNIeI8WmR0fpdslZcz0wiSzMUVshTT0SpPeD9E9UO9Gh
nMLdUN+aIkw2ftC8QBm6bxvl4c0o+eTT/JP/9OFndExHm3ctKBXnWvYb8ojGfK0P7tB4vjugsNWs
pVFSnSrZ/6ziVLkLmTEqzGEWcoEywU42KWXF6Wo4mjEEZmAeCS7+RWml+grNDskV1Km//hk/gMjm
58gYI/RRxZLgnPYaQgjrU0KT3zNsjHa0zxYai3ofsz50sb7HE/VoYrNyyipYomE9BCGHW6OyoeNl
2zrsUFEr3RMbnx8yz++mICeGmtovMTz6+usfda7snz5Nl+IXggDVsNXTsDEFoJqd2jzNQDdZyLMR
tnXkBwsDO2hSuPaWabIhdQQt5yTPhR3Or+rDxdGvEQpI0BGbxPevUu2cErtS2SDVirxckMUTKme6
LKefqaWqYOTn8QwnfeYavb8EClcA70bceJnqXHRjs42sxNMKcYah8iEm6s91DB11G18OgJaTUSlo
wGM1DxuvduvXIHeIa0miaF2g6V5ZNOw5j8bBKhrR9kzRHE4Q17dfv0nBxPbuac4/Aq01lekPeSH/
eX+rANpscOOUtRPTTS6TKJbrOiv7F0eO44YArhqedCvH71FJk7xnJXsKEouGcNqBqLaSkmJClkav
iPCScu0CkIYqT9TPNAq51Sz+KUQzSvNjqP2DX6FXxrJ/sHLb9Ujl2E3xVGI81xZqhACCKpbmaZ24
7kql84wgUFcysK/JJNuA3ve/FUWLqiYOLslwNrb8GJeKSswVGyoY0toQ3Jutai4HzJpLaXbUFf2C
xCbdXptRDNgJWuZS1jalCDW8lImSUsYudu2oagupqwsh7GAZtonyXZFKsiGcJ6deNLyYMDIWGiFW
Dok1a9FvDV3qa6NvOYe74ZkP6w9X6O3gnl+HZTJxmzYkO9aL96+jyDoKTqR8eMjtw7UehxA4Yhku
mRpuaQ0ucxndUpWMAP06CCvLMuw8O6/NXVgZ6msXWQ9dB51IdgbGY0Y2QTOZTaWioCoaOMoSkvKh
6XEtYkeqFtyy8n2o+c2yBntSV1rwI4gpMkdxt2URsVYBgqJFoDq/vx52n31gAJagGJncsW6cbJXG
QB0IQEtrJpBG+ZYGUXsIJiqOXfr69YU+wLXm58nSjV+Q/5rGSf9Wao5bF+x4vVJNk21eTUq3dCBV
jotOZdZCc9IS7po+Ac5RF19f+rN7FDo0RD5s4yMfCXpzrZVtWROrUySv5JgdQjDjT1jIzwXFny73
PELO44BJHOZVg4nk/aDxpwbIDshRhKL20epmSVVq3gVsM8zJPEZ++evrO/vkoQodJQvHFOx6lKDe
X49Nrp/LRK09tY0wdBpk9pHygOUbi2ypHcxEW7ZUwr6+6CePk4si80EJQJr26S5DQeCacrysvQyP
z8oV8aUpQ8AUiJHPXOmzaRmVNC9ubvlTMT+Zli3IQoBhK1p9dvkajMmzYcvJo8kNJhw9DjaRneza
35XaoFLFUPVP3KiBWJnkQOqlp0NWVE5v11AjvNpoFpkFkJnIroYi/deX+WTQgGKbIaLAOhmmJzfp
dgCEfD+vvWLS+40+5Q9Rna6KEU63SDUSlnN3+fUVPwgGGKcCaA5rtkAzIKzTcaNV9TTUSuXpKAa+
C7JD9bLZhZHL7DumtxTXSU42RLnDUqyvHb2OnxwyPGUrio0l5LQLx1Jcnfmh5o/jZMYl9YmSFtnJ
9sfdq+hA3ORByMvGHtnOnPDKGZ9L92c95KSqTINCwbI7wmFrkBTjefr6+p++BhcXLZYebaZuvP+W
bB9oZi3dCvNRfNu60vPBUOsivxr14CVOx2D19fXm13p6uwYYTXYczEkoZt9fbxRKwIxpVV46uXu9
Kr5XJKR8fYnPbgm7CosXRy1kOidrWCCIw/MnidG/Ds2N2RLSpCv1uJEaHnw1uOiUMxf8cAKZB9ab
K9onEyBYp3yo0Zt6QVHSmEXTe13WZYytoX9urBKtdk2ygwe1x1rRu91abOUw7Tz1jX4F5X/rxhac
Ert57jP9EFRKxp83hm1sR69fP5rPJjG8UazsqIU4BM7qnjfHkLEBY5P3XYUjNH6w0+EgDQLW4vDm
X7vMyaCCBB0K0fWVJxrgJ0qbzDCAZOVDMz8zi3yyfRRvb+hkOKGEciP6JZUXTdPPyAAu1SvXKHEf
6G+fe8uffal/1jkbtDhmmZO3LElHAgHSVF5sFCl+7Mukc8UCVO5V41gH1Ul3SpJuaRkXnm0Ft18/
0s++G4rlQqUWDa/TOrlRSZSmVEuGWKbn6joXTv/SUK99/NeucjIpQ1gb9JCdmQdsDrc3HJ4gPXPo
+GTxdlRDo/vMxM/h7WRsDK5PDbYySg9g1aEHUecO063WxEc79O/Uivw8y8Uf/PV9fbqkzs5/5jnM
TNqpViwXnT5MpV16Pg1ITwEWuZ7G25xt7W6wmfz8KF6qotG2cZ4aRICY92d+gFPd3DxFsJ5z3xq8
AL7A919ePIz+oANF9LJSQ2mUfldCmIIC97oWZN+GKnkyy+h3q6cIdhONtIfiXGL5STuD0yR7F6yF
JnHl/BgfUmVR7pqCxKnSK6wavFSdvkaTdtvnA+lEuKDmuBNE0zZsM1kb+yxLgA4R+xBGJnGKnFNX
FFOSG4wioadV+T5oRLwsmj7dAGlZGSUEW9I/kl1qjmgtYArUxXTlWj2Wp165A4zTXGiBfBhnazph
DxcDAQVe2zYIGEm19GwDVYRmgAZppbIj3Hx6xNLEmS6I/GWuNPki440JZRpXQsELHukAK/FfYXYx
kjsZ4qcRhXksa3tHHFa4p+coV7SWUFvJ7ACLvr00VWKV9AlDQBvcD33aL8vE2A/1cIk53fAQXdGz
CZwY0L3o8a8nYEqoLZgL0FqgaaN0g2L7Dlk0IHolEDt/Mq7Bns/I2yhfh4nMn7QJ0JBa+BdVVkuK
5uiCGgcSGCjLzUgTcynKzqdOrRFx3bTaPqkdZS5U/M4s+yVqkisI87tIidNV0Mx0uKK2LjpNU3ZF
YP71ld8BfOxotq6pLMgn37pP6I2bqWPptTKPl5OEFx8G4Y3aRMfAjW/5W2c+wk/WZZy5poNCVIe/
cXrUtx17gJJT4S/p8DOUqYOLLFQJ/cBCPfMLsQuducUPJS2GPHZGHY0oJi+UkydfnVlDzMFXU7DJ
xAJXWWOypvAV3xW53S76PHruKn5T9AnJvK51k2XZa1m0l/xo+SHQS3PhE3q707C5rSzcAtcWKZcv
pqIbm06jOx+TbyLPPCXtk5nCMXBWG8xSsyj5ZIIcnSwZXTcAolbCQLLLPfLRdj9l4bVjlBioHFtZ
+PGEBrHSf/eKc2fWslt9PV19sk9w4Pqz+ecIMouc389WpqwMuyXAiNUGOkXaok1sLUKdbOfM3c6D
7GQ76GA9ZT6EI0zF4WRNNZqy7CRZWp6eZD8ERGEOHGd22PN278MlZu63iYUVHefJ86RaQQpf3Rde
IvWHBiniMsyxMRMyQV0G/ye7HxEYNzbwkTM399lSJ+YlR0XB/VGgnCdx6hqE+HmE7O0Tx3qdbdyA
tI/EXhwtmMHLPO7PGLbnEf3hbnH4WvNxgprRyZtLnNqZ1FbjbhOrXo7+dFdZ2Ro8hosHRJ652GeP
lkYC9eC52/GhutGR9FsMjluCMRVHJe5IKOuw7xriorSLC8W074xKwGRUf3w9PD97sHQvBFDoGZB9
2umypAgLBQ+a12vglBssUNguSHbtVvTf1taIvhVT3PevL/rnRHryaClSWg4CO50SmXpyfMSImjUE
m3DVyU12ptJcahrHNbOxXgyyW8G7jmTDDBlY8xbbV7OCGXNBoA6SMURNSzqL1ZqiaoZGgBitoKa3
T+QdmFmlYLqv45+mWVILVJp1oCA3zQVcEq2p75DMvrhJ+2SXEHYIhf1mJB05Vpp7NdmJ4jUKrjmn
CJ9LAygXVWOyJRLngjpNj4eFfOuY4PB13VTOwsaWuAEBh+4qqu6+fjz6/B19eDyU0jhEuoaOZoPf
f3O2gA8rSnfwST5rMjZTtgJSbD6AlUBX6qmw9jDC7E3pq/tx3h0QvVT9SEfIECBk7lTiOdoubNZ2
ke0s6MVrzS5MHgZSHXL0noQD7TlGWkAWYHiuUvbJwgQOCju6QRkCQNTJiwWbE4VJXbJKCKwCw4y0
IRRbW8lmCC4BkZDxUznnyAqfHBo1+iz0hFxBMABbw/fPC/ibpRPKWnjoottNNwz2kgimcAU72KUE
UqobuI/kdVqKvynTSEO2yskiJkUMh7rxzXKsl0G2D1gZ5AKbwE1cCnM/VJgu1QI6zddv95NVad4k
zIZQmisu9Pf3Py2c96CyOzP3VJdCbRvfY+xsFxEJ3stKDYb5l/kx6XNradnTiKlonetSO7MufZxw
oGSwV3F5aLSqTrfxcKBK0NAy95QxuUhH9QoF4zJpRphNGrgqxH4RW1gHh9eZ2/9w9jPYSSDRpshp
4giaEQnvBncNHdbvo8JLuzKC0eN6ZThBNG1RxwUvtR/eMUrJpOoOSPy/vvaHtfjk0ifljKqJNKSg
KUtkO24TfwDUTP+g7M+84TOXOS2JYyxMgTAmfARuf8DaTHG1IWTpXL3pw4I/3w2INQJeeIWYB94/
yEBFlm7EPEg5kO/gi6q4SDUzW3/9zD6e9+bL6MjHaBLifPoTHvBmMtInpxOOFhf0KZIN8RZ3oTCv
RBS+9K6LXiULFzS1LlANbfXO+acuzoJP7g6WMteYH/Wbi6NHajkMBFy8VPZ5Z9yQqPdrTFqMLuVz
1Va7IA7TpQMRZyx2Z278w+5xvvE31z7Z8caKEoVhwLUDcoMtN13XYu7UcugbxSrv+/vKjB8HR7kH
I3SJi+XMh/JhKp0vjzyWviUVVroe7289yO1hkolLqIHzEiJaqrPgQlbXehpvka2cudiHvc7JxU5q
IpMSKByg7dzL8nrZOzqk2m4lLZ2qdfovXupk2PoYxV2OhrmH2AtrcLbEF7XQ+ludovzXb/Dzm4KC
wbIAz+g0S8pAZV3BKC+8rrXxywjgT7SKBo6y03iFHrL/Z+5sLg7wRepYGU+WoYyOpEVPO/dGt+42
ZEwEi7pPCZ6vM8hvg5GeGaGf3t+b652MEBugB/BQXloUlEdbk4emrnYVWkFVb7f/xKNknjFxUPK1
n/ZR4pHqcBr7+ewAh+rkmFcu2sEanhPbw3PN9A970nkw0legeA3b5kMGWKPoKA7d+b5GE4WayNag
eq86t1031bSLU/QIivHt6xv8uCrTuaceKP600DGcnnwBZq0qauvPL6+LlsWoK6vGD1/aCm1kUO4U
M7uswjlAMB3XeWvfgV8+c7iap7J3m76TH+Dku+jM0pTqwPdeRchuUrE16VCkjrz9+kY/WTUYMpzg
KFnTPPhzzn8zo6aVmEQ08HAbTQv37M0r4DzduaGJ4Orj7VAkdNiXsRPU/siw3s7cTTsxbSfsYYWu
/Igi1Sf0OxMbdgTLtMnXjVTDm7Ec5Ho0RiIbYpq3lPxWCSmrFL/Uu0SpfiO7rIDo671nO3G9azvq
a2lV3iWqLjb2VG9HvbmoCuMQD/rNmCP+jCMxACgL+42MIDiCupWLrh/UJXt8Zenr5bcZnng5FoHr
tZS7NzjxzQsfC9QseQFxKNqkINLZZ5zTLHeJNjaSyGv6zPldgEff1mloXRZ9tIVBf+w7I7tIuNKK
WG0X74y61zrDAfFgXPgyaTd943ZHmD9r2bvJtidQwstt7j7Jpl+47c2ryjcB+9RyNdDzrSCLLuwM
CxWhut8MLESXvKQfqHeHu5bTMWpEkEW6UU7bIYB6PhEbsBVlAZXXSqud7JVupSjwfpCkXnTTsC1K
gmMB/XFcSbvqJoxNx+ty2782zUzzUMmli0SgsZjh1IHQWiBuFoJ/X30qm+5eKtB8IA5e2z55tLhs
ScQddSiRTSnQG+j2E37LFD643lxmttFS8FPGAwkichUmk38T+qAM8yiu9zTLnWXFF7YPa1UsrLl4
KMMkIarEqPZCH8srtWbr2bU+buGgJiiktdZE+sSXDvCMpYqDoVZJSjFFq+5kHlxqikHvJ0shr5pa
vwYbc0eEzzN4kXgRS6KnDLmPNBsPR1kXy9ZJfuZmWl71Uw2hw8FMI9wVGGfcD+bUegb5xWsJ7Uai
LVgTaJyxBiYjaATV2bokLOMJ1bZ96Sxd6G7Aa8huD+LYWtE2xjws8msq77w76ePyAy+N/awrrEe4
TnQ1hiDuLhDnDPWC9I5NGs8241gv5Dqrw72so+abhsgFrGGFl8TOdE/DpbqyiZvdm10zbMnZghIV
V2R6BcUjThSk8QRdLqUj5Q3WX5/TodGR8e4fSlzV36USWPuAbNhjjW9EgaUR28hXYdaMpn8pHMXE
YGTKH1YO0SPnwTdrQB/S2PS5UKttP2jKQZhVUlM+rrH6aP64cHWiYuwgJHt9akgy6HTPnnqyywRG
NLAhxG4rVb5AeF9ekJyg7hQVqhKEPy8uwFMQ+PFgq+DoMzB8VicQu8fWLefo5IHepkrIAArIXdWL
9jk0SnjpGLFm/2IjXy0iHgFygycBQqlX2IeUUSHSJO7uI3iSNgWLhZ6FOEyHdYnzLjPcdpOGrdgP
uvVkhwORwir4ra5MbTTl9gSYQq+XMlAg6PJOJqPjhFw1Xb3SOk5si2LEGZ5PLrlTWgUQPMZ3c6kH
wXMLN2vtt6yvmWHFxkqvg+m6BZRleIEzIi/k2ENIQ+MzZ9Rdsig1whGWBomTG6znlD2doMZbrjdI
lGYFu6fYHX7bsh5sdW3HRXmtkMBxsDO338PkIqNAi7t8jR23uYtGMqFNeATkrWZm9HMo/GubYHUM
X41YFz0czh5N/43S016dzZThEtdqfunHctfL5soIA0k0W/7L6pTBWpZhFKzLyp3qpRJZ1CT91Bc7
jRifxiuSmkTl3LpNDEj5LSdobNTtRQLZdpGVvrmqlAHIKybRLj4iVcRfbm5CkFtlHf+qxxInoatc
WGlKuLcKu1LuzYm0dtg8xcrGzbHsau27Mk2UZVQkGJ0TU0lO0/2IzMabmuLCEenNpI5UYqI6X084
X1ecPx7RIzQrkYuWkHjtu22xYlRsfJZASY9OwzEEoglggrA9UrP7lTmMCxigctXLYKeFuFZZch70
lF92W/s3F+qW2AkPIMcgIUXf8s5cSeM7EACUmHX3vRHZ91DlTN47CodktbyVbnuXOMZByQjtS9oC
6J29loqJ6Km67VvzxbTRA0khSdAeaUpH24Ano43ujdL6fGIPblfjaxUq2eH5xnHwF4pgbzu5RXSN
1LDzd9ZqrCikijq89HMy39vsFR7X3nQfwsJdViVZtnkEBlXsCjP87ceBRxLsIUjDi9Dq1oPTvapp
/q2X5iqUmtxPBJNSLGUXLxCNxcadrSkXrP5LjUMphE+P4vkVVHmQ/ymfefi9L8XBSGx9ycCsIMnm
R92Ytq5gLgAdld8qGl96MmUPRk9o7uh4mlVc0yteYi6xaEUpP8Pe75ldgytTy1ZmpD0pZnNjJkOx
Y55ZdI7zg2/qR9JDYbKTNWaG/MWl4BeE2YVa1w6+sVvhi42iDc5zViSHNhME0JCZGvcMR1kr25H0
pJbUwK3BLwyGXxzjIExXlWkNK1utl4nVryM2JCui4OOViRdyaToTlonmNsmHV2Cg/b6id9/u00YG
YvBC0UfN4xgOfXRjZWZeFzdEbwzhGo2k2ARRMu2pYP7+ehv22bF6FrYTuQeJh53nyWHBh8PYKSOV
slivL+0ZPyfR+TlPurwedfUaNe5DYMpt50TnztSfHCzpuVPuhVOJ4Pf0mFLlQ68wjAqvwe7shs4W
o+8yUe6KFJ+6L45Gqex8lY5qUzHOxatGWjZ4rJtWsy+m5hl88qo9pwj4uPlFpSsYbhSF5uPFSVFI
moUC4qrLvQAzjiTmhsi3pYIa9Oun/nFTSqwpTTOsbRo291OlVJLovuv3ac7Ab0nh1RcKbqphuu3h
IKk95t7qXEH0442pqGdI/8JgN1vs5t9/s9021bBCG0z1RFpi5wAuZrN9mEAvf31jnxwF56a0CwqU
GzNOK6AhxjdSHHmnfdPtA9fyslBBDVlv1Eo/c8r9bOTOBzM2P1iX4fKcVNGIm5Bxa3Mtmxw3IfyN
GJ/1/MFsSkhyeUNTyDBxAMMHcc71Ped/+sMZ6X9d+lQeWWS1n8/4fG+ckxAj+gfAJ1n6y510EpJm
WBC70N73pvPXj9pv7/n0m2mUQakzGRae4bv38Dg2Vg56sIJDM7T7r1/lZyOGEgIc2ZkWjCj//YgZ
yGHDPEjZSck5ahraDUeUZeF0ZyxOn8wClqWBqUUVyXs8bcEEeqGJifa+18luIdzveippORnbsEnI
5bLPSFU+GzQwarHlIE0nxsE4+cBV0dk6KEG+g7HZC7XfZ0WvbGsneZnqkhIij3fhjwZxPuFe2Od0
oJ88Uy5K59oxcf/YzkmlJAnTpC+ATnvGhPMa5F6yiW1irupOM898iR+nGNJcZ+fPzHSi73zydYwl
BvWBCAiPeC3rorTAlmeZ3tN8kNE2IU5sNTXTsCajU5xpG31ysn9zZU097SsoOXODzU3ajbObu4dE
AHpfj81Pppm5BsRrxGSM9ujkLQaTqNIp4vuzRqiQYusYVwbHCdBSZy70yehEXISyRkPRCsx7vtc3
02Ym3Dr0JXOMk9SPenVbj8kvgPLrqgkuCKk983V/NjxmxjM4OhZkoB/vrzYpzlCTW8aTK8AotmJT
/w/2zqTHkjRLy3+lxKpZWMrmYcHGrt3Z7/V53JjCY7B5nm3XWRISqBFigZqhkKBAiKYlRgkJBPyZ
VFar/wWPeURluN/0iFuRLaFuwSaVmZHp5mb22fnOd857njeTba8/9vReeUHT+VBGQ65itXII/CqD
eBxkn08OScJDOUkTNfX86y/o1UvQEqBYz3QWFa2Xd8LE/yjmIpfog2Gn44Boy3DX/2rXmBbJs3cD
pxI+iEWAChNtRtvRrqNjTYdXXgh+xARADTEDe9rB94rqpYPSRN5dW+KNmQXv2lxd+eLwC3Znfv40
D8hBFc3wweNqezPpRZ3rpMZ40ybhY6ukzE53wvzrj+z1+/l8nYNHZqgenks5tT2kOgL8pdbpTPOq
oKL/9eu8/vo/X2f6rJ69GgHQJho87ocRv3PRUM6FxD/WKnj1GmD+nuapcC44eGbNAMnXcqf9yXDn
DTDMojyWYrx+CTqTFBANgs1BLRaHYxOkK7cBlGUTgj5uW3X19Sf1SiSj1IiogzFCjXs5CJZia6FO
tCj3ZmP8QXWb3ZD4j0WVnIzWsXb+q3dj0J8jrVXgH05//uylSCVAYV4/qCfyE9sfuaX2m7UqMPtQ
xyjo39GDGdMQ7YtrWFBG20hPl+iQ9hYgArsFCa0WwUwMzSOF6tfuZ0r+GKmDzGhMZlLPr4WdaaxZ
mci1avF8rC4891iEee1zwWSCsM/8Lh3qg5eTSWWmexp+3tmQnEynysyNKDEGR7Qvr10GCcpkeg5y
VDlsxOOWl5ieyyaD1aetZj0lSk49SnmkDSW/krWyXRpk53RPMBU4+CpHauGmG7MAKEKfZnC4ZH8h
Szj/5YVj5NpCgIhBv8MBm7zWKOdInrwEJ4YPJ+6EEpjcdBa9TXBYsbTRVvHAG2VrGWW5Qz68STv1
Ms3GuYBbUKk0tqTsW007skG+sh2/uIODfb/CtM7ElCldxnihy8VjrcrLUMx2slrOVblcfv3bfPVq
GlI2UUFiTCfo5QLDrFsMjJzFHGAuL46nwjDYgl/YffYBIMaRt/PaIiDT+OliB6E56RnfM3G2W4o+
tVoTPm9j2IZ++0tuSaERSWKIivIgw0j9qK7MngfYAzXjgwH57C89dO/5ZLVpHDmivX5Pn6928IW2
LTXnPONqGLMuDGVYasKNLx9JN1+/CDoOeVLHMeb88i25rVHECdSHpSkMcyE9F8GpR2Vx5FZei9Nk
7D9dZVorz4Jn3I5iZegybTlY0KK1HfFSNin1Supf8XYOlniOOLodFC7UKng9JW9j+R6g/pHF9urK
RqmEczEnaPLNl3fDXme2CU5U5AHVUug+KHqxzAQDa9F+JhTWkUPXq8/u89UOZ2nQLgRN1XE1TwVi
4VmQXAYbtgZL/JvFp+w/4H0MCZkIfcXDxaAXYq6I+sBiEGWwqt0iMY0jz+7V9fbsEgcrAYg5yF6h
ZyUYskNV2cwax1d+0XpjYJfkk80Njf/LN0Q/B/RhwzLohp3mi0xuZPNc5FR8bAjy1ZfDBgcPnb/8
TPDpqYOBqzS7aE3Lrcf/Z5CA/OByoiZXX489P78StTWJ0++ky8OyZnqwzz4hULGWGMIaX6aaDlio
WFcVHZKiOQ05eH/9Uj/f6bgU42IIhvDFIdS9vFQr54ADGXlbuoKxMIvhBvnD0pf8vYCdTKKc0K5N
4b19/aI/XxhclBrb5PckI32f7v/Z/WEOH+M5MpItRONcNG6tLN4nVXdk+f380+UqGvuRTqFyGrd8
eRVLatBsJ7yvLhznjJTQAEzmkXgb4MWKQeWRd/bqPXFspiLKRPDPlOsFQ2WaV/A91ULkSAyaxAL9
wq6ff/Ojkyin8cFSO0SUeHBTdCHjyA+HhERLhicpwPmV7aJJjwSi6ce8LNtRb6d3Bux6mh44PDKI
IwrfIDKTpVeJkY6tnFhfmaEeHlOJv/LUGBFHp2YgttdR2798R17axkFtwbFIMvVS1XJH6rQzhlu+
OQGe5PUKsxCc49GnHMQIaYRsHBtKgoI0KmemhkYyELQj+9Er602TTAA2yFrRgx/KJGuMWHD4HZOl
bA1zTc5OEtE6aQd8QGCwpGr6+PWVcOxyB/fE0bpz6dsmy6IbFrQkTk1ZtqcugIXLXJlV97/gchBH
4PdQrEYk8vJNpX4myq3ecjno2BB2li7ug36q2HFgYiReHfl4X4lLSF6IgDqTEZz3DxbGYFV+V4pJ
suzGxO4lgKxjMUfeh7fIPhgGfIKMleAdS/xfCbwvrnoQDRs9j8YhS/E+UbpZHoyo3HqAb7ApE/3j
h/xNFKkv+Rf/Aivk1z2V/zrCE6fF8+Sl9zXS1J/98Os//WiH/ONv/tOPf/I/fvVHP/7z//Xjb3/9
u9/8+x//wz/728/xUyQwn37gRwiVKX5H1Kdzw24GzudJ1PeRQWVY302ERJ3uHbVlXA1YdL8HK4oT
aIq5fxmbN9paOl/bJ7CiIn6nGQZlTTRYhHU0X98CoaIn8CK0CiQPBidLxLEvP6DKskAFF4WwZACO
UbsKHHxvRtjpBus07zo77/17TNKWgJruez4Nu0m6k6LP11pb4cMaJcWsUbJ7pue2DL/e65l3N2Rz
o2GATH7wmdRbhs25XBoUEqTkg5uMV4I83Pljd0U3K4WeMDpk5mQrda7PvCqoIP8B7Xe9dQ+pOitD
f2HV1r7pmKGwjGgZ5+gGfSONnHyoFp0wvFGBIflpZnBo0EGgl3jGNvmMagwj3LaXBSduOzzEtbRC
YTHao3QlVzioKpIL9tEUVzpTVHXYXqRle+FJ5R0Y+rd9rd4PYvC+sfztIDdox2T5NmzHVVPiy1Wb
jzHaBQCBHCXc3liKjXHK3JlTFe0MNPRlTzBixnByUylsU4ZfjTvJG0CKV1g8Szi1lu8rpbuI8Vnd
8bBSv6adb51TD20cc4zEGS2G3WC1iR34KJRR8IKj8WELF+1exMnWNhOMoILAe5fT+LFVcZyIOYTA
QKERiSgJjynHLQT849Eg8DPsUrrQ+txlboxxb9Qx5yZMP3qylHgiaQ2AGWGC4V9H1jizAuseOjLi
A1kCQlgCzBPNeZ9HpP1I/OfDMNSrjHEaKBhYObADG2PdLShXg53NYcEvCwPwV9AE/Ymv1Xh1VdFS
5LTiDFbTno4Izt71ZuGBXXzr94W5qvxBmHu9Iqws11WcoMU9OhfP8OoVZrlcB6CviajmUKTz0Ihx
lXLlAr9XM8bwL9I/+FE2b9GVftybvykQ/mE4vb9pMY7d5Wsx7h9NKL2PQL1f//EP3//2CRr7P//Q
eMcP/xjviGr0qamJEc+gGshTL+SneEdsnObE+OsEqCHL+328U75jLlQl71Lo4Zs0FT/HOyxhaEfw
R8BzngLot8W7l6nkx3hnUqo7SBgsNIJhngohIDQ1WLoYFjDJHHQzoPTlg4Vlq93LDG9pQpesxCyQ
KISG/twdAFQzwybn66yR+cLAgb3BUCrblGLv3Wgqs1TeGN+FXfUA+gCvuM5Au5QmV3rZ9oy/0JXs
I1as5icAatycAGUKOIP5YbyMI2vj+7Fx4Su9IDmZ1WvLrDJPBbfpTmKrjm60KFLvyiRVM6cdgsZu
+eV3RRo/uF5jzsxRqezKzd2FKk9NNEW7lLQ3cpygOZKGcuYHlUs4UGep3GELiZhux2RkBpXcH5B2
4oglYQxlZ0j2E3vgv15pldC91YLUvfTDUgLyJXneSTfo+oMHzmXjRaOB6ssogJiPuEtVVFdrtEie
k4JadRTUuu9x/81Woa54K+oS5RbWfvp2lF13UY66d+Uy33pj1JJudwW0ejmKsM+B77BKvUA5LzJ0
kZWOkzYcsmbjS/jLScaAh6gl8rcRUEB72hVnNHitS53xys52a6hUcspkOKoNb9952J6kktriR4r5
mNLlzdtKEXqSQjbn2PZN9Moy/hebgoe5yRJRn2tWpSxVNUXtU0P93bUM5u8GVJlnkVumuHtqMH/j
CHair0fQyMoMa5hal1d5KIZ73Szb2yZo8xm+kcYFcljrdAArdUILvr0eMpRpZcZogu8XJWP7SXw6
5thUWfg2YOAHkRU/sBRaqdTqNqYyrl0z9o4Cz/d3TY6HNXuUgv5KqB1q9xlzTUxUokeS5qIIwmo+
Hb9EWyzFym6DGqCVcp0ILv4EljncdK0SPgK0yXe4RJ+bCdq6hNbkLLAC89RgVAoid+0uXRzrYZkF
ueMO1XstcaN9o/opli5y97Ft8v/Dq0Wg+Up4/f7Pf/j+3/4Ainuyv/qPf2hU5Wd+iqrmdxQmoEFS
N2Dg7xnJ1ABXCg6bHI55B6RC02Hy91EVn2E6U2S3JKDTrBznh99nkdJ31Dnojpn8j5SPvg1lSg/q
9SzysF3sGqHRZWAoll7M9IiO9FEUqnYGvf8xamOQbvqyVakItM0sCIx1ACyi0ZNNFl0WAp+1J513
3iBA6tdLoP3um0lVsjJiGaivGcFw1ig+jsxryF0ib/uYpcvfzJUKErEuY0pyXreVXfrmiSGBLSyE
q1FtrqVoVPEUPxtrSFnSxAA08JSY1DA++DwTJoZiMi3kv+t1F8mxAQZOra6jMH2Lo8DasyS43X6I
PFOT94w0n9QhREJg/4UTQm/mcgX6aWMbooS1R2bpGYbFnV6ErylZgzkDfzG3cHe0K696L5T5hRWD
csL3E5eLgjwx2HZdfdui/XUHfVX47yanegHzDL5o43LEPrAO71z/Aw52UNzMu87X5JnRB7eBdAqW
OZ+rTfsGHx5pJmbXpSq/00IMUYGdnkviOB/qFDOkKryKULDuSi0SN7QMTgevFOaVF+NTlsJSMIf6
QQpacR3UGWQZubtJco0ZZlTvALvyO7xnyfGSsF3WSVk+wEWftXI/4PtQlrhWBhlnAMRq6cz1dAyW
elMGtVT6S9koVISoY2WejZ1U7Bsd82Ge4RUEk2qjhuoCHmzBbEGWvR/cICdWycG1no2gn3GajbvY
cLJ2aOdt6S6ePrj/lyMPUC1Iu3zwXw48f/Hn//3H//rfnh9Qf/qfPkYWxFuEAlxxqX9SnCS0/D5f
e/oTiE6TtRzM4xf5mkFkUQxkD5xCDQUp3+fIwh/h3Ye4Zyp3Up/Rvylfm0ocnyt/BpmaNpWvELKB
v9PEw04uc1ZjJmhxdu4lH0L1uhcxFIoqdODGDK3KPKPhCgZ/ZsTlREyZKOX2s8d19vFSv0qb5Awu
TF39nb/1dBD+2m9wUPrx3TpSrJLfoMhdO+Yjr8h3MjN0ut2w1srIMYvzoHlIkAnXNFst4d3/3XX7
h1Vv/hqWZnASpGZCXeLLq/t3/+I///Drv/vD9//6h1//9un48sLe4qcf8Gmly8Z3yHbJMD8VXD6v
dFn9Dq0dmpTJ+eLj7vppDxXM7xR5mlxmC534K0/1m0+bqIDHBTsxdR2ISx+PNN+y1vl5LxY7CA0W
O02WSVGJRI5Rwpc1mbDTc01Ff7WlpJ/i3iAP1oLALTq9kOeLMG+sWZDroKdDM5q7BkPbY1b62HyP
yjQxVFmLNDPFu75z/XeADKorC70yXJoB21ZD9xlTyXGBs+HotOOsTnz/jK3N3QR6VxSkkHK5zqx0
3GFc0GA7Qc3zLGPeZaWmhv5WD91k3wiNPMOCIKJpb8QLGevdrvZxelLV8lxTsHgU++Bt2TVNb2uN
L1yllsK8Tsdv4fKZ8l/naEtmhZIlsh3oHv9maPGVnieDMp6C4tDfMQ1mvn/6XSrXiFwbNIdvzsUu
zmexD1ph0Pi7fpLaZwiVrrABw9DNiiN+qtko6pyTkZxMs86Zo0VYwxq1kZ2MhoElLoRg/53Y0Iix
s5ZUIsk0706BIO2IeoYxUIRfOdZxzIhCmSp2eCtUwkwNI+rZfTETRkP27DQO5Itxqjh5VZ1c1Ymc
3wda5jICIWECaiLJ72ejPqZT3yAfd6bauRsrlOTZqHrslAnm7XNv4hljrRHNzSFATppn/SYMmqSE
g5QWt5KcuXBKZPeq7pnmczoxEFe4R1BLkzDmWrhiEV1oOC8rDC616o3bJv5ZF3Hws0cUHLltqH11
m2Pl8BDmorGqct400wnVlSS5wm3rRt6KUo21jrC7m7v4ea7xJ3M3RtXLM7nRr/JaHx+gbKrvggGL
oNkQKNVpr+PJTRvtHl18v8fSYFwMjdqdGqlp8rJHnH4KM2GIKfPfMfumrSWxk+9VUYrO+r5x77sm
Ql2iD7WMM2ZcOWhfkWC7zRKRcbsYfc3f9wHmnSMuXne9V4t3he8P14GX6GdI6327NPlPMJKLbtox
Zx7LhcFsGh22HWJZz7NOEuaCj212KpjmUo2Hcl2EaF44yEVzqy/b6z5NT4Mwr5yhbdN5kPXKG781
Uzsmxk9m50yqMNHgblILpo1dRGI9A02f36MlxYgaUPBOyyUM9aLGe+AU3y07/ABncs23yZQLwyhj
iaWb4kU7BR75eSyN7mYIsCSTxjpYqkgenVoDWFvojYb4vGaENgEFHFu+wHANPitdzM9rmaK/1N0s
X1CBFBmQMsozX9aEeRLEopOq5Z01kDAGo4VPtDwkH2Ir7fdIkv0d5tTGOxco2hIDyBan7lBcBVEQ
7SBvpR5wNnxIh8AIINrrGJvHtRdCgyzbnL2zbAonEcts5XtVvy8kPlPJbXFxx9OD8bm28hQbFVVk
1wxG4f1YGfsGf22MC5VuF+h+uxEY0tzUZhNduq6abWGqD5mdN310JfpyducNhn/pN758XiddtS11
L9oOSupxBo/y66x0w9gO3a7eNOXYrPPAEHYR9gicXIPmpsV3nupzzTRuVarjWdbKxVkzxs1Jbozp
RRG1k2l4pK884sw6cUVp0edYe2hioZMrN80GUxL3WhlyaeZpauSkefLpaPtF84MnjdznTOEpfLNj
WdT/qd1bdMpfhu/c1WB6+lKE1Y8X32SqZ2qT4kqPbbMpimUt4ZPpNfqshSa0ylKpvcsx010aQ93c
aWHQLQOB0V03j+XbSC0oJYmA+wRdvkzwdrkTMc/aKpEYL8I0B5WoFenWNXIXLA12I8tn2+grWQ/0
/Bd7ET3Jp9ySb28Sz0xj9C9vBlF1k7QK05hN3w63ZqoSNVE59R/6cWwe/OkZwjHqE7zFpqc7Pedh
euLp9OxxI/LXeYlVa0BFbhWPQnohP9nz9n55FvWheMYM0bBrlSBEu19IIpJmLajsYnrt8mAwjTpq
NZiilknffFog47RUqmnR0IiotsG0kPxpSUnT4iqmZYZ4jhWHz1+2baZl6A0sSAJYwzRk3e3kCFBb
PS3cPPCFHYbIpS1Qp66C2jjzuj7MnYDw8g6WG4FZzgmImSc7aS+JCNSZ9isSJNFjDSYvB+WUZjOs
P9dhlaL29tZaPmv4or0wWDeicQqZx0i3+MHPrMF1Uj3eQt6Kgm04vhE0W/PYV3Dwm1xx7sohtuv8
g8YhsH/w2E11NHLhGMySXeLTnniT9tf438z7ZC1np2H/aJm5rcR7ReXzAog43Emc+RpLcrx6G9xa
bUt93O7ZVHM7zk/SMJibQv+mR5WO5yluc6CNr3RMCOvgVAO3LCbsnU376Edz8I747ayjZMFAXCpv
DQN15mNurAIAO9Gd0iFsWrTjvRDfDvjZimcRs4e5gS3zwrXemvJqeDRYMl1w2lgLk1lu5u6CkEI+
tnduESwUnjGq2Xkp4/18W4uUNUNvVjE5og3KzEy9gdnumJHsvLcLUWZYsd0nbc9EtrZpC2VL7JpH
pP5TkU9PcdplH8QHyq/6jY+/FzQk0INrXRVqGctREAz4vour3PTrWwUPvDnnAB6dKZ0IbYIXFYPA
sJZpd2QtEHNKix0zygKD1Oo+KcdFHVmNIw6DZLtpf2dp7UkTjw6Mc0p0nmBnLHTMIXaWLy1CLVlo
gTCjf6QrQ0nfSPkwdt2dmMpvYSM5ZD3v5BGbMUG5AhU7b8r0ugjyVV9UWxrLFP6yDaVKKGS5e4c1
V59m+xiYoF0F4ilzaB7tJO2yUJuVIaerPsHSYzGmW1V9HBsJfGq3EZCdxlBAJWoBjeQq6ISBD7h9
OZxoY5duukD2ZduQh3I+JoFGLDcB7hXlCqfYQIRiqMxr1a/2oomfY4OlojnsxaxfhlSAw9F6nMhO
XYo/YzMIq475z1mIsndOj+oybsaZ6T6GyaY33lQZr0WdDeajYlyJpSMn+dJUTlB0teHbjEl4ARtW
Y5rYwV4iDXeoBMa0tg0sDgbNs6vEO01hnQ8qkLapXup0iYTgA/3K7ZiTmBUDcLIUf9TzPFuwysQ8
WMvlvQUwIX7QUvVWqxHE4k4m4IMl3nuiXUBbS6xka7iXmpLa+J3Zkewk1YYqKNC3pmZHbttTsAF2
oYqzXIhsD09abxso9z4GjNZSvvVlc+a1xpqO1EIM1p5I/oEOt274SvhSwnRV1LejNe915K1CbdfS
qdmHc5CWM6N8Z3iMXu+U60E6w7XKLt+UQTTTwneM14zvJ74AHdi6z2cYNFeyI8tnsTzu8mLPF6hV
NN2sByvaysFpm+JO1l3iHmeTbq7k8AJA5QluvE7Td7MQLZvOtJ7PsFDZ7SI/n4+aQyKiytNn1cyU
AF+4bmUYtDX6tVJndmsMM6bLB0talGSfYwH0TbnN472qJXQ3P9Rjxh8KdpE9eAr+wYxbZx2YgrKj
hIZlblvNzfocyLvTskw8wLW4RdhmsTG9PYn6XA7iR9+70sozyxu2oXRXlr6tUvgTkg95PFIqI+8N
10+kXXhB4xjdKIy4TwO4ee9IsX/eIFgJik3xztNrhny3WWsLoIFTa68GdhZfgWtnqHxVAnmQXIny
fn4rFpdW0th1EHNOyDAcX3X6aCvGidHfS8jwQk1YD09cBg2l9KoDG6p2H3AqsI16kYvrOkUj478p
wgexnteZ9lFp8cU04bBY+rS1cs5TDdR0CF9Jr19urRqdXE+RMpzhM5eFFJZd7DDzxkIKrAIMVJCl
oDJSuU5PS3VImIM0xPahwJeYfKbn5KEku1oUhk1eByQXmRsb2qxDVXTjTpmA8JQUDFN+EE2ZgiHX
8UKEELwVE4biB6aVTsH6Z6d1E5SrmtbJxu9gbigNKnY8b4dl2YaENytut3lUUvTzwnNi9E2eBKyR
KSv2mXzr6kVgWNuiMTBUG5i+v8jjbVAFaxOXiYlCghfxeyN7zHJMbOZoDa6R1zmZQSOnYZPYeFJ/
gqxZ5LtyV66YVEzb46iSDItW9ldx7s+NCrQGEAKvteVm7PaYMSaLMb8yLCTQ/aknMknf7PRsrg8P
pnIXludCZ64Tv7TVyadFwZTUZP77AuPlLYfb9zLmwcpNLHsrMQozW8ubecQp0QrR01812VovYLEY
e7AMcwWxgVq19PxLWx9pUQvxuGZqBX5Fel3zdozaG+f1sDHd87Gu3o0B27FwNqhvEr9e4w54nhrX
nHjgwUhzmV5Z0+rLJClXiLAc3Je3o2lcShVypVGxW9yk9PAqY1q6Hd0HP8u3Sn8hFR/08QZrvFlk
yTAcSfkZdDhW3XpZX2MtIralqoGCbwIJ/mzmbxS1Mi41EAYU8kkdRnGm5fFJWTYP5ELjLpKigiJ0
H8zRYeTs+IbqyFkpLrycBPDbC11/kATp9cb739g6F8DdCSb15SrXj//gT3/3X/7pX/zvf0Ml91d/
9Jf/8p/87jd/73f/7s9+/Mf/8C//1Z/88Mff//D9338hQfr0Az9VvST9O3WynEHPiJ/Yk2T8Yz+e
Sth3FHBllIhI2j5avn6qevEnVLaotmKZw8jR0xjgp6KXTj0MF1bAA3BXGRgien2DCd7BWO8n+ZEK
y/JlDCz9DgKE2hhrpdxAcn3rsocksnudSiDh2RHVPNtYHZuy9XGVfTH8vtqp4oIHh7MkQ9spV5i3
jSJ8qJZNvaETbI7BTTDkj89ezyunp4Oa8ee7Ojg0iZ4E/Fz0hnXUXHSj6tBTBoKnOxR85m3/6JqU
GQJ5WyrokYJyVpO3q65+5A6fqNSfz6Gfr36wryBilga+WmEtht2SU7UTu8IsK5ENVglzQmeiCulw
JOchLAk9g1HJx+buF5/tAQPt85WnKPNMQa1YQmClhVCtBVIaM1vWZbDWWglKzbBtxPasK4ytgXAX
w5eZ24fHgtjLuunnyx7USzkke4VmFtl66OfWabOPT+tb+DDpTXaWHVOmT+Mbrz3UA92IwPGyrsbM
XactxF/VckCtLIfy1LN6p8ksSFXHBsC/tHqexsCePcVg6CC3dj2OQrq5HAcLchn4VlfmuBicxZrC
3Mq4PEnabZNeaUpFclwey02mJ/bKXR6KhfVR6P1R6mryVGnZimd1ZyyBia0CgMFaJNt5xRNVt4Wp
Oxy0jrw/GlavXnQqQTy7X9PqhUxERLaOABrlHUAtsV8Krbq0+GTUHl3CSJW4OzZF/aVVeggibTVx
MIvaNNf5XX4ZvMcNmbNSrNvubblzqZ0eXZdfepoHsQbVSGgqEYMS+A7bGSc+2t7KYD0tn5GI5imz
QmigMynX4tEAd5hf/vQ5HM5wap0rDJ1bYmS30I1ZcCPdpbvM3/mXQWEu/LN0LW86ZtOicdY67VtX
3/h2vE93bbXqt4Frv3XDLR7ZrrxpT6I9ipXqJjzThDftiWBzBLBNT9kVb7J9dhE3c8WJ5nh1aDth
bs0qKiD77DwM1/XOzKXbmGNifws/xH5r2sD+w94xq1WtbCoVABp+Eff1RXtB6VOaSzP67PUMX7p1
OB9W2lrYusO6X/SOOgN2Ri66yeYobwCCrNNVmS7c6q2/K/f4MCabelXuwf3wE1GH2v1VcgGT67Q4
Kww75djDkfRWOfGWZrssVt4WWZI447A8D4t38Xng0w9w2kdVJWDsBc7HTr8sl+nSAH23qn5hZJQP
YrLUJZZH5VheY1RL0mg5nRqsjBpwnN6GZ3gkOpzVnaSVwYZjASsOR74taVprr33RByFZUOjpRL0o
r5vp84WQhl7PKUE5uchzsevIWndWlQ+AjmyXsNLW+VkSyMvB1eypjfn1DdH40pdwGKH1nuAptxhz
qlvwXLaIB2wzmE5nhZtqkjqYMXbr8W3ciUAUC2VOS2ZDL4D2R+Vgts6BJJfEeZXK0Lk6u0dL4leO
HKB+7YdOWDZeC/YtKC5Chgw8K7IbT243nSkFCyhn8L2AsiGccwo5Bo4mAj8TxASkgXSSdA1isi6x
taoN6S3Mwti7NYaAxTZch5607gPTX2jMY8/aZrgPUv+0ohoe1rGHLlU96yVtN6SaY4ZxsVASg1Pv
6MAyoCqS7P02dQQo6UngX2Z+BcermijxKAuNqFgMIbQ+MdD2aSafWmk3q/NHz3yQ6iOEli9uJAd7
VgjDJFZpV6/dYBUWdzhYPJoCXcSgOQN3R2VoXuv5xWDuzHGw0fzaxOEjScgXYvoTaf1ZTG9wLGq1
KHXXkls8+hzBUhNpr0IK4FIm9Iwtcxt2XR7DfXzpVp/Mfp9dTy3NPqCC6a4LZiLZKV0dY175adfE
pf3CBzNWBRd+MRDe6XoZxpH7/FICe2jLMSq9nPSe4FJtzM7SqLHT3LTjWHH83HSsMN+q47bVztPs
4uuf0hfv9CBjVpWEDpVWhpt0nVsW7LHyGhf11fRSw8wDubNry/hMk9ipdXk7ehtr/fUrfyEDeoow
zx7xIKRNVOV6uGlNjvuq7IhBu60wLvD1YZvzz1Ma9PVLffGpqi9Tgow+r1nTYl1nA60v/AlM7UoN
OT571bWpp2RGgZ3XCD79+FjqMwXEVwLl0/N+dnv9WJUp8hdp3br1VmDIxu0uTGtwEurhtSRtA6Kh
OxinEwxH41eJBuNYkGaA+wsXn/79s4ur1aCjnCXl61tqD9bKhfZssjmEWZ1Q47NcW8nEGzUmREVR
PdVLtklsnVKrw0Bxn479dgRhikHsfa5kJ7RfKj9aKtQ1CyWcCfUKzC0QYJyVimqRZdthJBQto3Ih
8PakBVjBmd+09kDhniMJDZIZbU27F3ui7MrnzbrurOgb/C/8aePGdQb3mQtl3Hb5oxqf5SSJ/rJt
l6W1Ts0VtMbeWEHVNfoF9M5sRVQUgqVOQidQd3K3Ay0Eed8lW6C1mnrRyFdWf5urH2r1JkkvpXbJ
PEJrfGjrlVGt22ot0nGWlkm0YqxM6qdfuvIXZb+U2hVVPd9be/AO/JWANoKeP32G3IVIK+TySWsO
HETasJ8ZqbAKFeU0KpuriZSnZCG3Ne4lOklWXqwbS1npFBmh0lAgbRdRY61bzwH8u++HCFtiBaFx
vWyGtSiOe9WkkXDdZhNaeljFHnson3udq9sw1haTGa9v9u8kL7QNc7iELVbYlWJ+EFLpYqjMa7Xe
YyO1VmL9ChjCLlWStzWjJkZAuUftbLHy1wP8Bj8uHS9RbR/LX7DDczigbzEiXVhkORgCO3mYvhlF
C//vwD8PzGE54MRlIY9K4nA5QnsIQh4GPl10VE3xRPSjq7Aw1gN6yvi9H+C+XmV2VTxU7ocAInGz
iC0nbgdkE/Ryme2ehxqGrpk2zuO0A7GOShFcS91bs37EjToyN50irz0hnyfyeDYU4sysWrvNAYF5
sAL0TRHEWzM3zyW/XKV1Py8axWEOcI5F9Oix3fjyqq2yy7hPT0GZOKGEPkUS166VdbaxdPtiejSn
nCmv6uhWiQaP8R3OBEZjkiqFF1HSvc3pv3mpuLDGfI1H+jrOq50ei/MhhH+pGv1+CMz3qtxfNvmu
AN6ZiXw0E5oUI3p91w4rWQw2nadeRL26g0lzib/0o4m8a4xqBz70ChnnYtC0k5pxmeGMgVryRu28
FWG5gopLR33diU/ihaWSSCvBzdaaKs9cw1zp/lkyiHNN07ZmXaATjea+fC/kLt9vf+57dHNIt92w
RcgdBW9Uq1p404RS1diKeEdktaceVxqcYTV9pK/7pdrA05noWaABIlqqmdw062JYjzCBzaJ1YqH8
P5ydyY7lSHamX6WhPQXjTAItLS55Z5+ncPcNER4DB+NkNM7b2gh6A+30bvUi/d3s6kJlKCOjJSCR
QFZlusflpZkdO+f/v3+bZwHDTa6b36siAYRHSeWtJ5rqf76h/xZW/Ue76w+liJ+Uq+NrezwGwDaT
NLlOYaeO1bhrCsihZOdUuoyIXwOve6PdBjPCYzIlcUrBJ7xHtfBq+UHkpypuSy8CTRUJhi5+De0b
B1qTHAgYRUY8byp7jUvy4iSp3k79pOs3Iah2vuYkdIeJuwMyyxkpWZfGPoHShQQknge9HRiOTOF9
Ot619YP0h00YqMh/qqY1+vNH8Nv18g8ewY9BKSscNzmOqTzaGaBthvblqbSeavHGCQPwuCCnaNgG
wMbHFM3tcqdDZAPUrHClNmK5H+ajqKN5KmC5tBx+eYzv5orK7aZS3vae6MJfHL7hT1pk4lIA/MM7
QocwWx1XdkfUWETxWkcf04FIp33dvfbOgwhvulVGft5G0rrvLPMqqKujrPsrK+l31eRHHczzob3L
resxO0+8ZNa5FAxvWh5zxniSAHO0JF35ave8bh+DaiNVJnst0o1UfjwXXqRDBeESP0RS7zD3RRqo
5sqUulEpwp6thnXgucxM2DFU81Sl2xzrWoUPRthfyur75QqAWj7K+2yrZxnJ1N+Yl0GdU22CTkQJ
+1Tbfzamd/IP4YReta7LwG657+0ltqTYWN297I9ldrSKWwenhcfg29S8hTCLzTq/aj7Nbb9rrGAX
IOfJgdyqKYyWQu9qfnxnuZs5KbdolqKwf6t7Jrv+k8PpTXq8z6Y7AEz+89fK/b1Q4++3ffFD98Tw
a8Kvtcm9+SoozH0DuG1fWt7dAiMxlRiD5NHtH4fiJZ0QM81vKgNOCz4Utu/iDdt1CKISiaAzpLug
PBcp+jemOsVvl6zT5C+PrprjWWWkY3XXdiK3g4TMbA/REiZ7fOu3oayvSI+J2fo2lWcdKxeQdjDG
WbDE9kL7gG7nRN5sLdOtwkMJETwqPKjzZXWSoX+Q1kVQz7nqAmlWzbYAKW2irfUcHx75+osdyL/c
tP9o+f1YNyed2QY66Y5u+ZZoK5LKu+bwPosRFlLaH8oAuVOOC3NwvrZG/jSIfeaLa3IxnmSKyoJI
jNFT92Z3dHjNi8W4XT0yZzv5rDPnk1Xpo5f2kOet2HAa0O5MduvLJXpMuZO8ebq7mtL5HBgNDhsH
GdnngQF4yFm6pjKeUSAEhdhe6NpLbdwapbptJ++YtjDwFXlOw3Awl3enodu3Ig+cGXb183WLQGZB
PpBj3qkqY0vwxF7hZBo7DwzREBcvaiq23uXG3DwmKE3GzkVYBnQ/365C7qUbxHMXcPP/1eZh/mzz
+KHnhVKGoQGWuVOuADSEHXU6nHcamEEynpf+djb4n8tg36ZurHT4XCFRoObalGZ/p5YQiPKvmg6/
tfT/6Bv/4RKxIil1aAEYx6AINZuXfRbLrV5wluQarY1chw+baITSn54ov4/2+tgfU2La3MZk/zU2
oervuw1xuczGEQQsy6elfF573MYebYWp+qiG9Uhb/2SFmwgu19EN+gccDcXJxvVhhYfJPfbyF8yI
n937LoLof9yV/dZx/X4qvSNRD/TGslebjlbrxfg/HAf9jHcme+IFMPK5mc+ebcRrj3H5zzeZn/7y
H+4nclVmjr+NMQ0N4cUkt7MOzk0bfq6c4ZwpC/XReCY4YXv5GsOiPHd8rQZu8V/8/p90+MUP/aOy
Nj2DeSw5spV/27XJ2VZunAzyLino8Td0Ky+9KyAdxNS9/Pnv/EkH40ejaCeNUJjzRb/KtbZmWBQE
d5d7/aVzUlKaTJnYlL8KxvzJA0bx/vtvF2VvD4YzRG/iqWcUt7GblLvW/Wpl4dkNnio8eY3rxw6y
OcNdzn62nl3uQX/+Uf/4Zo/W8Pe/fFS1Gdql5R49UhGmytuvw83iuXHBx9Qy2Vvql733y9r7r2uS
cKPf/yprXJds7bknquXWnOy4CKpnwWe8PFljMPbdd8IcotksOCq1Hde5xzlAaVrYv3qV/rgVaf1W
9fxDdVPXfdfb9hocJadlZTlxgeTMJGPF43kqnnHfY/otg2ii9ADQ8otn/JOpA3jF33/yshxNUgWX
4KjDlsL+9bJ2VfKiLZ8CZz2bPHqvNmKM9neq+eXz/tlX+8MeGOak/4JZCo/zMDSQyg+6fgnQDW8K
+m+G62PKOpQFJWcYF0N6qgPnfk5fp6R/JxLuLqUfbXdOnJLW8Oev2h+vKutHImep7HxwB+7WqFs/
J2O61Y57zoW7l4SD4MI9d8ZyNhP3V/edP944rPCHjUvZFVPksQ2Pk1V8BIweK687oR6+7FeBnaFM
InOn+ZRzGf7zD/jT7/mHrYroi9Q1At5wl5WTOyK24AfZ02uSBnFm6btpoVncviqwEUb6P9qrrPCH
21VFesY8GaFBxT6eU3DRBdOygRV82RaD2j8LhpUmp+4vPuNPnmrww2414D0uAR0bx5TW32XDaFin
82pzei9nCx1j4tisXzN23eT//s7/ln3vqan463//zqv0m/jgS9MuXZ5m/b/+FN3wu/9I/+tvPyT9
1sSf+8+/+wfCt/KeW9W3bnn4poey/3/qhsu/+f/7f/6vb7/9lKel/fYv//SlGdhb+Gkpwq1/dOJZ
F4zQz2Uff/3Lf/z1L//217/8+1//8p//5T/7m7hDYEGCKXPh9uMewqj0d/OesP4ZJGkAzPXvRIW/
iTssYAtAiy+cPQDZ6NDYi/8m7gj+mWxmaEm2T9p0yB4Z/nfEHZfU6N9t98TPQovDXWxirsJAZbo/
bEP+UGU6KYL20JZZisLRVNJan5sWIfC1HhcXhcdMjNDL1OrZ5kK71CVhRAgUxKUNqcuOUOE+9c29
nbWcFoSUdLBPnLW6H9dMZqeka/vl3cdJatyEATKDOGP4SuZQaKUX7O9EY9ek9Vg2HyIvwmGrlnwW
hKT0AmiBK7ADJOTnVFtRrEl6CoK6vaNgrW5DHxQCMBPdmXGflfOHKnz56HoLyIg1H0EvDgyhsMJC
a6H+xhpU3fa9K0I0D55D23bgo76aTeuPz62di5zlmFckJcnSGoKT5ZchYsnSMBxykcyl0k9iUE17
7LBp4p3yKvWinNbDJ2Dnq3eoqzFprzztc6vLMq+p9v04ZY8KxnFyHEXBz/cnK2hP4ALVijWyD5Jz
kYxAyekDtlazT7JJzx+DmfoYoSq1Lod8DpUfrQYYii3XfsfYzaSW3DmjNQVXhkFm8d7vO9FsRca1
jevJLEpaOBKB77SAZHsYLagFW8hY/ientqhMHLe5yD9LZynjxEShGLmNPba00jsCqIasV8PRLEiC
P7h1wFlUJ5pOTJ1MaNf78TK3aacuyzBcVz5TWSMdcHfibiMhqlmMlQyrbjSaU+WVgxN5jT8N2wYH
ULhp85nO3ZInbhU5pWEuUVCFmMADIVEcp2Hf9J+MZm2/CTdZ8+NcENyygdKITHBt+8bYF/Zi6jZK
8AJ+bbQpip1pyjCJyU5dVnA+jVPsVIlJ4Ljy7yRbFzw6/SwdtFM01iljyTJMFeFRZpF9TscRzXg4
WevnOauwm6+tdLOXZu4IDPHXOUNypIhv75K+RE7sJWt1zoADXanRke6bLqblw+zDRB4rOwVs0WRV
kb07vZS8rYXf48MzNV3OYE2Ghn641zxmOhvK6z5s5/qrchg3fitqYEJHnF/pusPMUzbYmrB5nAJl
COLjfVc9jtma9nQ8HFHsc4Vofnshunxxy7Wpz5YyZ2Sl3TQW8sbohDO9OJOTcEuiY0drPgzXz4k9
koDXWiojNwnhuH2267nPdv0yApDOS+J7rtY1nZbbsesYbS+d6tQd4VeZKXae6+vFiN0xH5v7sewt
+ZyFVV4z3XUY/hZSmCtXZlkjQXHczl9dmjFVHQabxk+BjGyyJvPKm2atkbjberIwoHkjXy9mpcxA
rqDLqnnyl6lh1K/5I8HwyIPerNA/OXN1qrshPEkFcOUpcVDYkCFKnh9IxjnVw1HD2TBjuzQyZNlq
SQGu513SnG0nDx5lMeCDXOANpJsKmgcM45lovsfBRgBar2WnY8beI5LaXgzI9tte1C9L5tnXlp+7
67FajZZYrXxtD6Gf4L0s6f0m+0EYpbctkxQxtw7HPLC5Vg1uhydyxhzlzQuKtcSbQsKUdFvhIUGo
b8Y0rKvkasbyuG5zx5PVSQGJzyK2XOVsCtutfDo9jdvxcexU7JLGasaoYqZU7E3fXJBEiLmhzyNK
tO4FfmvvCeH6gtZ3GPtqV/Qkj2L8EPbTOiZk32E8qZyTZZOeF6cBmdw7VyBr2Iyq6LLXDmLT5Zuw
RIlZIWvkwc5D+5tqPfSty9r050QIQCRFtYo8zvOEbGN8wGm786uJOZFnAF/crE4/oew2QV/vxnJh
SIJk2UZR5g5VszXMFe8eYnczdrpwKbe1sfLQGits3+1FA74S8Dw/h129+Bvlp3NxvyiMhVuJ60Az
O/P757JVAGJaZ3ky/eTaDZd+A3pGIAuZelKTChLRpEWfYsKBhJcr3A75Ym86nd+U/fgwZO0R5kV6
kkZ+wj9LfHy3kivaNVvM9MWug1q15urFFINxFTAmtmsAQOXoMRxa0lvLrQ0sGmVyHWAsfFWzLxEM
5AYbsZGjKZPtwXW7jhI1fymMiiJ99ep1m9Q1filvSOT3QtGys1PvfanXVztgZOb6VbHJx6F8pCdO
s8KelhMtqXIrTW/ju959XtdvVak+l2VRXhsu8Xuxa9hfZeF431PhXxO585CW3nDlDH141VQ4WXk5
Edx31XUy8wUbc/4qVVhyus1lZGRuuq9999FXU4Dgxt87o72fZZBsZKg/KW+8Sf1hO2ibyU3LKNBN
5kMf1tY2o1sUDUEac5DLUwHJWlMcHNaUsUhV2xfvRhPVHdZML53urBxujxAD481pJGypr78PDa1h
rJB7kxSWbVZb4r1pjPxbxaQHB69lRmudbPLF+gJ37TwWnXU3QmcyY22sDeZgtP42MiMD6AWCdncL
FHrdmkOaxGGgfTotnBoq01HpVmez0VPs9j20ktIm2VPXzXENzeoMTtiAmFPP7USLmBxia3HOWjRM
3ZxJQxtXLmC9mi9bWEM0KifurPTUV446ut5KOmBSnWx3ijtqn5gNam/P2riefVgY4yJjTZQErXDr
3EBHOFaDsT4Q7caVrUt0ZIKPm4tB74bUqzZaO1gp1xmFvtHvAGauG3dhb6pJRj4GSTXHBRUX3Mrx
YrDq5PfE7S6msB7/rJjenAmLNLlZ7nMS4mhrTf8Lvjsm7UL69TcgmzY9zXFuX+fFq7/iAXSLKPSC
cWus1mOIuRXFoOFETj7Wn3jA+QdBTlXsrrgO7Np6cKfJeSLol1IBIFRlwJ9noXMgGxbPDIPHcV66
HY5f6IM42BZVgu+7zEtESytzrkbzczI1q8+fQfJhlRL2t1oyJBENurpqUOV5dTq8nkADz+bibDFz
a1JFke80JIREtuHn0KfMy9BOf5Oi8mg6Kg8bNdXa5C36uqiTm5LwMAzMwEthAczMMfNr0dlv+eCn
UYuOKpoT0z86ih1tg4Zlvleoqnkd87nf1Nl6XKCt4pNdHWh1iumE1hPD4WT93INKey8XIgtJ9dms
hNGWG39uVZRL79iL8CUYnWOTFh+CQj8WiV/HqptvdSYarLDhkUBCc0P4cxNP0rnL3ewW/lQbp6qD
5Ke68FmwLA9TKkB0C1rGGJBDDj/v+1h6TD/sTHGz99JjR2s5xEK7DUqNfs9ZrljKWxvkcRp0b3Vg
oklaOgdXfN1uXWqDTerMDKSM+XsbuCf2whOnc4pFE262drwIYO9pVenjuNrJIW0gEyZNscfNf0qd
8cbNve59Wg3nK5i/z5NY1v0c5tdBaRMHmK8xYFeCRRf3vdUh6khfRMojB0xaMwAZp0yXHfEg7sYa
TWbzgbTIaC+27BfJcV0GLIyS75jSeNzkUoqtoLPG9Nq+rmViRzIYwk1ZO3FYic+9Mp6MJjWO9qA+
D1UavFroKc5Osd7JsrOv3NS9R4ZxSTobjn5IKNHks8laha/3wrbIugwB6JLhHOhrp1rdqwHq45zo
HBdZlVaMKYmwBMFP/TnmDmcQBnPfVxVLGhlGbTRPaSNsRVilTmPg0LftOqd7NEvywCkg414lBxML
uUwTgJTGunyq7OB6ao0hquTYPaV9an8VSTnEsP7Xs1bhyOCfj/mW9C4TAP02lfpsVEbLs8/nk3AS
m7YopNi1TMU3oqMCiQ05mw7GMCc5rCMr/UR375nz9CHHYLTp17KQVJneTImnlqi3Zc1uTWZj2GqI
QbbbuHDYkmOjq1f2J0y1bTVE5jp/b1xxMIfBxt3p6cclxd5YmheyZD7y6YPc8tbdIAIUoBr/j0KY
CbU5uLWLOYRFl4Wf8xw5Szrn+b3hkFO66XoYNdtxNIy72RHGDRGKZUwAx11g6o5dzRH3CyG2REFj
6rNGpiFFurMC6j1LG8lhgaUWdV1wpsT7cDw8aqVGfXlIC/tumNZbZSRPMnReALo8pnmYfLK8cpr2
4dTNX9i+biphqB0It+W8JE7RRR37zjVVTIn8MN83YPpeZJ5S31A6P4H6Tr6zF0y301SKb0s7Po5J
vpsWC11MqguW4eCE9W5krqgK8ysK8oNn9+8+YcdvhGMxnsQBsbHcYbxqM8EbVWdK3Vb4dKg4gmUr
89nLNqod3tXallHYGJiHRJAd0zlIv/SLIaKiXtID5qgvSepUZ5V4Vc7p7Hbvg0lxLZz+Mauo/Oos
GCJZ1w+L194XRnbgJoVFblpT9I/2cTIh3NVqulG+fqpVf2Wn422R4RBcnVY/57hIbqXpG3GT2o/E
1LMhQfmyFMc0H07sZZg/hR4B72TWBic4HcVWFzWD4kbigENwtOZ7UepdMRRvFL8Bpbal9p4amfSr
y1Kf+49e5k/emKIa7v1r16IeZvKffetGT25yXTMv61BTLp5c0IjkyfyFHr2/zeRicb9PHF6ACbch
E9H2Vc6aW1klzKiqpo90KGiMwXGxo1SJcg9wxN+X3sLpQyOS5yXm4na4eDG4ZE+Y3PvmuncShsa6
f5sphfa5b79Oa73LB28k4tGH1FCjlEaqsyst8z3Enx6roPT3qjJ2XO0BDDJrTGp+fbAZk+Je5v5d
XkNtSMLi1S3HC9kgct06LjpIkf08nLsJvX8zc7n164Jtg7DihYb05kJu2DdCzqRRz+BQuEk/Tmok
LDsVAf71IW3TnUeYlntuJu5rcqLJ2YbrWTDV3kySOWNT1repK46lZzIDVW6PpV0fCRJT28QLPsZa
VyjEQ/7Y0qnu2VDOptHFqy8/dSTrqjAj+kN819xvmW3XR8okcfLctGJ7SnlmhYk6QddVhMB4Pzv8
yYqpYq/2cx+oZsN6vozq9XKN1v84C1u/VXpOYmNqmXX0d6Jhb8e1cnAWNT0Y2gVd2wBI39Q6y/dG
dpkgqtqPVJ+t3xNbmzu+vhNEDo9JbrngtF48gDIzV45SlFcaSe+rU+EbhE0rU8u+XTzjUHkrXnh4
tBYPEUdr3W64OVFLmIBFIi8X8/XSzdmN6mg1uLV5+C0y0RnfdL52J8K9hYvEnNjXvGviNvSwvJvA
45qNLKovtkxPQ5Z9yQXV25hyLvlzlwFGABNBMjA4tJTzJPfNJFpNsDPzrJBV+HKK8VS7t7JX7Rdw
vN0u7fPpc2NU+gw1eoyY+eBt9yHr4m11MZjX3pgNET6v4VwtnMSc9DdLplUDD7L0qGtDuae9VRyr
WU/HGjf3uCuRhjoLyq+m5dqvskni2LSaLxbgycJbuNq7NiwaTEkYvXtGa0DbKlAdm3xuNbuLvXxg
Fi7peQ3ea06pmka+P53mvBmvlLlcd0VXvhO4C0CUMMvUXNbdFBriC+7o+sAedCF36G+WsyRbo8KD
HBqMSAFDzK8lsTJNOftHODX6xSUBZOPggMEOCwu6Dw0eTyb2KIDavZcJ/97KKZy8ZYFkGsjqit5h
dbNM/K3EPow/0sAr00O8sdzXsk2/t0XzlnD0kY2hqvmp7iTblHB2MhAPSFiWE1dbdsT0w19K626u
TdSeojpmyIeKqtpymgBg6BDIVdOxM/t2ieq0hFFECOQVA9H0qp+LRW2Q38Drqyz70BSe80QnL4xH
nVyBust22iiGyHAVEhgHG1bptc9dgJJuQGQYm3aSPnbdKrih2nLONoODemS0EoOpgYHbmRQ+7TMJ
axKona6VnqfeWkEkM7awu9HCkGOoLSSnK5MG0VWQrfrE6AFQMx2RbRmWDdiipLuZ3d66WZwu2QJN
RYbppOxxUr9CBvBPqe9/G0RZ7NDicBKNcLYDnzcxWe7LYPIeSbtlMth5cYmjvFv7lK+48KxN0YeY
yRAXUnYtBejp3F8owTVscDRKaeoc577uHrJgKh+szCdhfh7szkU829q7xjaKXbu0/QitG4fAgfDt
mS8/Pzht0SMJs+g+cnZaDarSXF/PMqs1MpTG2MFUQWZhLMWuIATpHeAszg7fpQ5vwWr0HnZiPyg+
Ld70pV8N8VQ7E1IY+jrh16HCDLn1KlncuNb6nknjoZaL81pJxsgUiM+epYytyyX0Lu0xHsxWACZ4
qOJ+HYERtO992sH46OBvWdJTG1S2iFWHozN1FN0sDWAi0LMtis8kEgt8yw1xl5twUN9tCohbQ8rh
hprWuTPqrHsK2upbvjqY+jt/djddnVQYGer1BpCRS3RxiZgQdswx0Nbw0PRTG5E1HdDyCRcqUvd7
35SHArXvpp7rD290HsKmKG96dAcgweYjl7R0G0iXTW5u3G8kQQM3SksMEKE454YNkdizd4BZTIrc
GntGGSlAvlsgecUTRvAanPpiZAgMfP/U1whGojWc8zsfMSzluhLGwdb4HzYuUIqvvqcTK+Ly49Wb
hraBZ/FKHv2hkPdjMAuQsrowojI3wzlqCgOREbkG1R2oFhA3+VBb3/NlsN84LJi7OoydI4K0xqNb
a2xIrOLd6jelv1nM/L2ylLt1bVKcGgtM6OCSDBMvQeqxrOwybQ5dY7KVqIS1sJGaq0hkuVwhbKhn
UH8KgpIqd0CrbwxTez87XXPOajqosulpiQuHbm9ftsa2m3MOJonn/d5ICiuNOhMjjdN0483YCzdj
lLtUAAQUvKzKKnI7YgammrjJAZlvRslgDmdLL+ddORTp3djrlzYoFVAJ4wuhka7DSpRGNHYGrzQV
lXFnj7PjRFk7249plYqXy8j0G3T+HPt7ojtWCFjVcdNol0TTVtSgS8uBjHfHQqPWZCZvKZte8SQb
10NM3hqUHwDTCPBG1B6qjBIpVbxMfmIlr55YbgzLgRDv5e2uD4whZq7CmdSERfAgkd5mQEJ5n2s6
boiFJ12OsbYycVQNKBwpfH1Th1UM7qd9Ha1gyePEEnTA8vIi36N3XwabZUarmwz0skY17uqsODtW
N79z3QgPJGVXN26S3QScHttwbLHFkjh2FFI8VQrffpmfjaLb8yYS7GuoB8dPNL4VmRzq2nGe16Ve
+FvVHwx/BnRQOLHvNnrX0k1OvcH4Srzcp8LV4dY1aL5SP3+5lErzeklKb8VZzR0aH0vntGZkam7k
2EPY8lboZMvsZNuMq89B2p5Um1q0B2v2jMiiS7Px2ya4UrZVHKVtpYi0XY+nFIZHA8QsiP40CD/l
YfjWzSnKx04deo/0DpjpZZyVVh93Ax3BIVhA7w81HQiPa7akMgCCVgVjs/NNebNWelvI/GTV9gig
APW97nuIBD31ZwH3y0uYfyTto14r+9K1rHde0HaHpVCP2SxeHU2PdDQp7itmWawoJ4efOT0pZHsP
jmnlbxkI103jreWW7c/fhK3EAJnUSXpniDI0N2Kou6ekX31QLGtYZZEqAtSrbbEaD87oTlcTgQJ4
t6f+3unkzH3gElG5SdvF4MCTxETV2cmvVnkkykJuO1f0m3zSS7Dxu8E/qKDVCXqikm7y0kzTVym8
jEK8WtplM19aPhsnJN+KRk1tIcBsR9vfsv+g3lx8N3i3lkR/MooeQq6X42Nyxv4ySEo9fWV0jDY3
k3DzHS0/fonfhTsmXXj/CNTFAUaivbv1kSHEbrZOXOkvklynrOn9eRafwaXFW295PXz2sR74xM6V
TNMwbOMwCvweNlpgvg9TXeJJYzz2kpGr+doyEL62Ro7SWNB+Pegemd+mr02gi2GbP4NPq/CYQSv8
7Orpy0BkI8imjgOOtprBVbDSVf9RloKTx5tsZ91z9GGMtCnqboMi8NetsnLwvm2QRxYbP0W3XWiI
EVNn3pVSJ0hW+7WINMC8KA+aI09O33dimj8VZCSn1LU6/9ybrbUrupaaUTXmcvaskEapbbj1x1wO
wx1/ynyiEctWv6l9YaOAk/KpZGgIcsZZ8cLNbTxY3nReNE1OBFGZHTkqDA+tWVhZnOUrnBi7K9aD
x8/CjwfIaouK9IN73GnwZH4YSnTeEap7e9hWdL9dNlXfOnncTmPDgsBo9pl1cFLd3E6uUxzNkk5S
lM3TKjaQgY3XhASP66Uf3e8zZrvrUM5qR0lofRs4js+8HpG0M/OqDQbAhJRgN303QO4X0/DkG47Y
BCb8rNSUdAfzZcWP7uhnGspVyblqiTMbcLQK8CVu7yWfhmFlpLn2fv9oGCr5mgoJorjvSuOynKeu
wdQp+HkDOD7jbAymISPqyOBDDHyXJ6JdEnKaC4qdloxDMHrRzKx1PY3zNN51s2ZcFXbUnKIo520u
pwZaT2DA4uqOaVDxlOl9ER4wuqSk1u41CsSjCRvvXvshcRkTjKGQURHIJW2WPUe4y59lNoQTG4Br
MoPAk25xl691aC7urh/L+apg+r7v1yqbogyZ1XNZV/Kjd5j9xI7d9Fvluc8lrSKeU/Mo4OWfhn7d
J6DAkKC2nAUVyQAMr0ZbPwRuzaplIH1DxxyvpqU/t0bxSSNr2y3OiNVStF15XbDGt9nC9DP0MYD6
FAdbLtCvdTuHN5mPO0Bm+G8zUeVbs6ysKxb8yuBadaC/mzp4lu30IOvFeu+9Lr+RtbgCbYg4bLW3
nnaPARJZf5zvJClhtFjT4C4BgBn4hbiWzKUjXTtfBSM6zAaL/21qrLdgrnsOpO5zuExPlVCvpls0
22xgrGDqho6vUZntNiGhhwMNFVwy4zhtB9aK4Kjallx/t20Jss2ZQOUM2sXUgr4umtn5HwveUhTN
4OZQCffyilH4m0lc32bui5emou2/9qt1Y491FndKO90m5GpPQWD2SKR9Wt8F9ZGDvaZbmwBLfBXk
NPoKdTuG3RvAOfd4SV1ZI+m2CT3gdvDRmSvOoIjeL92/ZjZpFPaF0BQlnv1sgAprbH1u0lXcAD1z
qBrppz1wMWTsOdWD/Tx0E/BWnX+vOUTta5Meq9oYQhj8ZLso3huFT2IZob4V+MDjDqMAmPIEE3mv
Fub/LLGDaaQ1bK/EZKzekEzH1dZNv9qQifxN1zWkxiBfpIvns9qoLqkwum56LEDrMvbqkQxkWfJo
dRU3xAzVGucRXSmml/2LGRjFCqGzRuSats3RMIabpJTltTV1AwcLpQ2HiY1LIeQyu9D0CFzQVolj
vHYQDl+y1GDvEvS8vKjJQQ3ZhYHgeqGB2XnuVqZZcdnKUqZIGlvJ2qSsU2qtdWyLO5oeknoJ1pk2
4pE9PvKK0d1RvPuse85ehvS3bt4mMZntXZwnoxV39v9h79yxLDey7jwX2QIXEAACgCPjvh/5vJlV
mVkOVlWyCm8gEHgEAPPvAUgj0AxkyZOjwfRE9F2SWj+r2CIXZcmQ0d2LnVVEXlwgIs45394b1VyQ
ZZ/CIp92Ykj8XVyhq0KGw5qEsPmFXca/r6qlXXsyTt6Qk+pXF0YtCSyJJz28NmUVGLooxMUkVXSb
MLinHxnUl074SBAS5RwX7cevA3q9UzM6ATOD+KmKxTcxBY+x5R2GYKSpFIvqG8O8LlwheTY3WdQk
j5jn4UXPIJfnvVzuQDBuoGtjDKjC8hjw7vEUJJfeLoaZGzEMuwVL2PsJRV2GeUrR8irZcfMBf5hs
baxC3o/D8LEUXvFkq5m+VDNdDfYMBeWMis2Lvcd2UPomngZqtdA4TBXrPAndne/3Y7DpGgmskDlt
GWxniquSgWE7TGvaGil1RaGhbnSyIGegeXINNJ4wKLCXNl7VJkcd1jXNyHht7NgAOgzg2odZlYm4
iWuv954p9VRCQ2oKxNV2baiJcAqExSaAyuy5jWcHOKXsEed7cpz1fipda9/0wPLrkcxDBDpGGUOb
fKInEOfOGCKKdJYvrt87ei0Xm3l1vYDv0DnojL92LKcoz8w9F0Jl6l6eVebkFbWuMMxdFr/dRROv
3zbTsvTWyxRYdwoICROwStIX5E1NinWbFNWHeVJZuXGb8JrJnLjv1mzTTDRh1O9iN9Uf8xBl5sp4
eL1M2HDeyESDCDRmdt+UVHV1EyWxfeyCCY6zAaCDi4KreGGsTz5XGA/z18Q17n0b4+62LqqMs4Xy
hqV9GEvbO6oFq7IV1yzVNpfhpG5sB2eXg5tHLtXuYLVfagC0aZtOHi9zk1mwRaGCCgF+KcniK5q6
a7aaWJ9ipTnMf8kCsCXMDitoHbey1VHRfHA5Ag8Y8uQMwoB1GIWRUMWVkU6OE5RUqILo1TE+QjEc
socYW5uqee10Mdz0YWEWNqBqgRVgg4h3lmgGKE+yhd+KVvCuzYX5md+ipT/JGnOdpOFUs05iy7F2
4aBohkx947Ubx4s5dBOI02EBEKS4NciQGvLaE3V+dgA22hN5M9jPJQ1fNSLzaax3IjGy2s9FOCVn
nmqKbRvCY1mlThveqSpt84N2AsFCEoaWPNmIqRBDVg4npSQ3UbJVtZj9x7zUHK5JcEi/LVY0PSeD
G70unK7HtWpM297OohHlQbUmuwyui9R2Ce2OalQLPa8Y/PbvrHD9TSJyWIDAjtN1BTWnGI9XMdNo
hzHvavTb5FtL5Kr3maTlLmMxnqTZtYbibF2KplVHGLjIbMohDZE8lw1ej/kkM8QqFLATtflrFCQi
ZVWsDAE+QVXaq8VgXMhNGlwcLarO79bKxkJuFTiDH90ZQDtUYqqJDtx74KGlzbJuz3yl6dYiSZaU
GeAgys/0utKCKWjt9JfZeH20pVC/OlQ0uJQ/xc6U1btl1JX/Xhcsu5fOZHREr05GSn9uI5Gh/51j
K2VK4C31Y9mNrNAi5aS+6516IABTD7Nex75h4uZbXsZBWfR29heOC5CTv6PbA26je7VvJxJBhgQg
eD/wuF7qVU2fNOQCnLMTi3/8Kz19ZVNhUR9+BeWBU3/vZfbDP/6fCdff/6X/dK++1k+9/vq1v/2s
fiRm/19kYT3u5Z+wsNfwnP9xJWL/7b9dg8n+7X/+8x///Tso9vr3f4ViA/ena6qhDDyUfj5DPpj4
Xx3PfP+niDAcMDfI12s0BVT4b1Cs5//k83/ggkdXHo414Ee/QbFu8BPPyRWkla7rAnWGfweK/f4R
wW8vwH2DrFw8nkl/9X8E4fsulWHqlumhijmr5lbf7ierNfskIGOv7oR4Nok7PPzuZv322Pw+xOJ7
6v56UcmHDhwuGJIW7f7wXLr9GAW5F2QH+plyudqfOS06IYn9R+Ncj57U/CVDKZHIlVWmncSTsJyc
v2D/v9ci/PpbCJfyGjJCgB3/+FuYybRNaeeHluZg1jA0Fjab8CJwQJEVnb3lOYrE+59/dEf+wvr/
u+bkel2yQwL0ZxjaOT5udt8rMDI9c+b1u2Zv+b35MPjdzUz7Zb6MvtcufA/u9Cj7IS7PsSSjMGtU
523amaMRixiGmZzg5nfdT8b7NGolXpI8UOaQUXzID1Na5z6uknQUN46EZD6kfi7KJ1ogA2XMRAYS
+WTkkKmqvuP0PmR7/I8TXKoH+RC4/h0hidihUiFMYtMIvzHnOCv6tUU79KW+dkd9zlPUxCXQH99d
mx/rCs3OOp9MaLDFYD6LE3XOxtnYfUIyWglHKaO0/lqogpAFAIx10snjQvPjWA8m+QqCELNUu+XB
MgVaH5XghbcUDyoaHiKTvhRzTyut7K3HeXKvTp5x/6Q5dh2Rf6l7eyF1QMra/lYyqKIiqJ9CzaAg
Abs9xEr0ayjxYTMS5oQVTi52y1IX+6Cdy103LfeyXYy/Sa3hDf+KL20cv1ql62+REoh9pJhEWUGi
V2IugnXYW99KU/TIu0OsDFYjikx6XWF98vFP+NLP4YnhbbRpUz6iXJz6qwJHfw9HpTZeP432ZUy8
lyrI9Tay3POE3We+Y7ASSQxlpyKCWJPXbgRg3u1A4XfvoTJfz9XY7p3Wmr8uYJvd0UTSww1jGJ2C
HEuVlA/DZHXF2i56cZ8PNCGa0m8y7ntb5Gf+MDAAYyhA3XTGhbuZpfc6pXMI7BcOOYPLYDDBfepX
mLkC9E7DSjW15dEtdK7e+vFQtRf6PEY/0fazp0NJRsOXIbK68RZ6ogPfqqNrs4RpyRq2gKZlz4tG
4VnPFX2LCRNp4GoR3FpTg7W2nw0Ml5Mh6p8xVxguKQNLrFExV+/WxAymiNzcPsGewI40E4+swss1
zEmvD9KswdqbyetFFKl0D0EDuodNSZ5Yu0K3zns0BcOHcqlnzEArK1LrsNGhs1Zm9LHZAkM0ybYB
hapv49aR9ygy8T2CHc2uvhVVijWx5xXz+IXn2FBIOZqWDK3WsdvFgpipVW58U25n3FAvRe8pfyNk
Xn8KWFrzNV7tpbWNLdr5ey9L58sg4946EkXoqGfa83N5VsBqV8q10Fiw4cwOizMmuDgHOnTRwkKF
eMyvUlnvqMoZkjqD7JoT5Vb6zACzjlb9YDHRooUe2pvSkwkWXnnmYIfhRkX7lCU53IKrNOMspHvN
Ou1L2MOygiM7YQ9e2Ue7d3Ebd8rEusdIfmQKPnYVR0Hwnngb2rnAw0CECKR1KL35LR9S2pdmbKIP
E8Gs5dO0RBGWwLkIn1sKtI99I90nGO6pvctrAMyNC1HLPU6JTAFIwFP6jRe6z7dAg37yMrrtqHcZ
QxwaMzoNo0NV4DmS1wie10kuUMKOad5JDDKsVr7jwYdnBR3YKTixO7owzSgVqjOcVnccRQDclgS1
qTbDvOBULJmmjc+xFvM7fV2VnrX2rHJdtWW9rBACi3jVzj0G5k4aLbscyObsdnV68afK4M9Nu9ps
PCuasdhSmoTIsnBm1JYxLuZpT4bsCkXN8AHzfh1uq1wMT11dhPTkSEewjzWE0oJhX5XXZ15aN765
wtnF1s+n5eJNqGXXVuvb1/7rFDV3YqqY1LJvEPropIQAeLigf43sKxjT6tS5j1vfH/eWV/pYeLEA
vdujNxT7MZPqGSTOqX5Wwpd3fjFiddKWve4YNaKI3QZeMH4WU67Dk85rOvSS8S5tcNdW5wIcdz4U
pqoXnKxRnaMtDqr3wC2jx8YJOjx/7Sid1qpmXJXCj8HlatWTqlkyjyyynuRkdCWrAMeKZ99ZBHND
OO1V6qXpuQgrmvKNmy/2yvVnkmE4WMtNM5nuwCuE0rBKokiexq7AykUn+TQ8lpo14dZRlEy3Oo6b
X2ySU5SBGNGbtZBddg8tX5d7qw0avWb8h0t5J13YsLnPPe+u0ApjeB/k6KEghefeoulOtamUW+J9
goiVTyQLPPQnHpxNajputdUIl8lcNtBe6v2pNVt23vg+zW3NGJ34roce2caybZhR7DW/CNnRPchs
WTbwxhnhmX5lp5hG9N2r1yzHdqqmZdUk7F/A1n39qsKCAsSPMFqRyN/BEsesec6Z9+H8JXN71wyd
eKuDqP3c0pItNxQiLcg75tJ6nwxOeOkHqIbVxNJeuvYNKiYNBqbV+BLlJDOvhVYWkoawGT6AC1gP
wKDwbjrpJURZXIB3pDRJ9xThKeSm7Gxvb5k5x8fdmudyjRNCWa4yf0ZaO7nXg88oRXAGAAriXdvS
jNvCbtbR3ismdAOjiqll47n8meGeCTZlieZhDx3RWADPYZIdKadtfbZD+JjTpPyr3w6DdEMDHNua
0gqZT8zTJWoZSZ/DUBfpzoy9CxaMFmg5NR72EM3s4euQlw7ODihDlmWtoa3jc8QpsEP6IGLOBZ7X
/ExracRdgkyjAw3CaNwsTuvfsmObaNt2Q/BZFX2qNnO30BpzCLyxGY5m8Vd0/3Z1HojYIVYJS/Nu
J/Vgt7sijyi4OYSbrzRJk/wGs9wyOYzjdf4oBg6w5NA6eHyolqhC6tsyWRfSfAWHqmj/DeN7H/j3
qXKsczOEeitcFX6KMHUQ8LW9524j3+pPtgquCQwDwdyR7neFhJ0Lnf5k4io9OH3nAFjhjYgbQjnZ
xI5LtkTbqulMlanKb8ibDD+HQxevTOQO31Bix6fCpNiumcY7jOHSn+pe5YBghi6I1Tt3bl30X2VQ
aZKF2viDRRzVW+IAs63Y/9wzQgMRrAN7LG68tHR+7tOqJa9BTieFAuvWylwQxijPPgXKtz/kvroY
HYqAjsZk7Sp6ZivjjJcl6u44kNa7FoPu2HU/NR6UVVld3zhL6eNY9N0Gha040BFr1rnXMQ/I+gRT
kPnUdqN9GJIkwPvDvsb5MOxO7T47B6Sxby00F+sgsvJtFlolKHR1zzGoQcSS651nhxdNBh6eXMbZ
ywSCVES38GLTJiYw/prQWaSoN+YZaX5YQv1UwWFE3esNU7EZPPMaul5812QGULqJ1drDd37lQQRs
3UlHt5WZsUIdg/HA8vBtiJpiT/vzU4cymXyiGMvE6KPdVgxK53w7OWNzX8RdtXWm9MSfIWGp0+o9
EcVrA91Hd7cW+2JOz6EvDjrtdl1UYcJ31RNY9mOswaoiyz8kFTMKEoPZplInP2G2OyA7hPJOFMSQ
P1fbnl9iHQ2ZPMUNMWdZlT8o52p1j1zslm8QYzTp5Jd0ucKyLWmiLFcmvrXshQG1azR91W5aW8iw
cYZxdplR6oGD+5TjDIJWwBH9wNnP8hnJpQa1VS2fXWHk53yp0zs6rJ/QZ/gPblr2DIvteKuaoETO
YT0IxBebzo+fHR+1TExy6orqDuIkeA1S+xb4tTpQBfWflePVRx+RblqRjtgA8Z5A4dNNZsLly1gs
+xasFbzvTQzS2Zg83kgt9lZvbZsyVq/wO7xFURARQ7yovdIF0Raiv10AzJyUONJ6TC+hha4A8v0Y
F3BarhcVt5H9cyiyVYdh16qCNFXO8Ky0ZKPj33XqUgZkgVfdSTnaqy50Xji54LlRGp6+uprka6+D
j7kJne1Ee4kBB/hXnUzboWZAAuwL8M9jPvdnt2Esngrah25ZuRevqsicQsY+L8HFTf1hXy1C3klT
h198IzghyTnYhWF75hkdnqUubujm3Kg6rm9Skltmk2M65hERUJBKh0oAfKfw5yMIh8RkDmtSd0wu
pTXuhn6cGYCYnY0KhP24IEl6jTbw5EV673nexRLzvoAmPnSY62B72qKnmKv0NTRj8py4mum4isrX
uQ4E06+J7qqZA+8uTQGHMqVheirpPJZWUGyteHLWQ+wuWLplmlWsq/cg4u7PsZtlH5nV4pCXZOHN
UIPSYlxR7OLFfCzHatmqiJAFRBinhmwxELN4eFTM3k8Etz3bkRUebEjWt8khEkVqWgAqaIItjVNa
y9V8wqwHq9gScVNdALepJU22gU0LtjFxwnhnTqvPi7KfgDa9ZywDuL8wOKRxZ/EmT+UzREtyGTGS
YBW7DlKgYjex3U/r2sUyaC7ij5jxnckAz3Yz8Vbk0dQGqAYzTXc1z718S4SMbwmp02c3rCi+SC5c
ISTLbqtBZztrcPeGr2ZtmwYSKHXtbSCHDSPtFmzQwh4xxdJ0cWvn3vEilvoG+xZBQPc+i4qF6tsD
MowdAukgFuuTM8doy6raGj8HUdI/5oly72VGUgz7ZbzyXCs5e9AVO6C/MwVntvHnyXqOl7wuwK1r
/0sQTI9R1kefPZ97RXE5JGF+ZzADRejBwZcoCeQFjrRPDS8PB/KyP06RjZ2Zbv2XgK/5dgysfN0E
fX2bWmoAZwhCMjHcpNqBcg97vLeZCvhJ/1zn5Q0AsrsmWR7a3cGBfBk5DSxLXFz0IOuTrLDPaNrw
RSvaFquRzsG9647yUNkzblU+JQEh4fU5TbMXQpL7bx0uwfhfDTgR4coL3t4bnBJdgS8XAB5czPsg
WSvHxj4GvXfAFmVPBt8OnTGUgxp1RIzgok4kIYoTnX9GrlMzLxu7hr2kmeCSr2fGqoieUoREHSNq
FbpIjV07dDGNj+M0p/yEDZaXDOOkCKfAaUm9GV8BVgeIz0RLVNa6Q2bNlBkTXYshkI9hXh9H9LXX
ppol6rclzjg+b01J65epzazaL2EUDySrz1bpe8lmQp4qt561SBWiTqKByGbeNVAMyBwTu5nfHeMk
0YOHXKE3dUcQDU4RwBD5wp9ClmHbgyCO0h/18Bgph7NoWUYdeoHIBokNXpEaikp/Loa89glqUkEn
+2NUDjrkgJRpNOA7JUmHmfYL05Ux3o8SMMRf4ZA4j8tOtF2SlacJVZKbDwzcRxtymSpxci1S1Zge
3ubCIF5qnJJMno5I2hhL1p2b2gxMw1KDyjW5s2kNYpIOiGKtYr2PKvHOptuvozLXT7rNx4x4F9fZ
epmF3skDVZuiCivkqPnWqFHtUAkSyxW0Hxy0QEvoNysjm3s9WKcc8m+bW/EC9eFRwC5wV1HTLCww
OQsG3+Ebsy0NP8OjiQ0kNn5+Oxw0hks4dDqjQ1yja67VmP1a+V114lWEN02L4DHDs+PWLB01I/rF
Q2Nsua5gHld9w+BkZXyr3URM05g9Z/1haW3ep3mproNam3qsJ4W3c/k43aRewiVvQDt6TWphN3mS
yLaW2mlyrBzH5bl4c4D6sDuUxa71gqbd6taSjDAQotQbW4CgAO+lebmx6FgyeU48OhIz+HSFG11A
7jcNR84SoD3iaNIo3fuZQCOsZuKT0syJ803iY08g+Go3v1hGe2GGNUBgyg92k0NXp3q6aTsDWIuR
39R5xbEf9NcWbVo+i27t63HnVR6ceBkyXkMj59ad2YYxYebx0iyP3mLiQ9Np0rJi3X+wUntt6ZKz
Rrmkd4VD1YGWvvnmWHNSrDojuhvdjw6yfuuSZS7sGbl/G9IurzGQ6a0JES5oh7m+Y9foN8pyH40c
bVeNhnbBuYVWloW+4GL7xl/ZsK3ID7r5Ce5efrYslAGzLN1jN0oP7SMWs7W0SN3LxItyI4VkwKDh
0PMHWS23s98RxzQsQu/tvH10zTViYFjcG3sZv/U12V5oLfGwD7x2W3Rhd/S8+ZDXzvTYmCRcZ7zq
93iYymNGLs6eMefcg+82cjoErmvdDiipByJTq/khNkEP7MdT8UKLJt66jt0erAqpQkqQDXpbnCWx
x4ifOSvmRykzHnphNQ/tKC7Ss0fU10X12EQi4MATTyfiNBgaug3WMb6s1MZCe7nL3AwknojqFU7g
Pc+zRRQWHc40uJWpUlc1OjGgQnnhvvQiM2+9SAZ7Ew/ZDS59pHomuf+kRLlA9nc5n2/UGjqiMf0m
1eMbokD1cSn4K37O4J65Gq27rW+K28YK/Idq4Dyso7F9wu9Dr8xsRXhHpsWOtoajV6wHDqmeKid9
lHC1nBHlDoB2ixZ7p6O+/zLYHioRmrX4aDYUB1a1bPwpNghMvfbnnBID+9KkRnWE0S9ixe7OI0MI
8QQuVVa0sPgX8/BCxY4p7CqtEp8Eupm2brpxaoT7BywLpH7NppSoWprJhBar7m6mxL5BzBQ809uY
8Emt7E94zlsEfyXTRzRxEX6QQ0+NhOXCLoEHXNcpahXsrqeDQyd6NI4+xX49xehQE+vjjNqbuxs0
264kYSRYFm/fTWD3xLc2ZPJ5w4e+o/h1i8whhk9/SzoOyXSL8W9v4mp8wpTuMtsJiSxLMW/mORhu
42Zxj6bHVCCXHCVqYnx7lNu7zHPLbZ57rwwc0H8srVzpmUO+Q1uAcxw7MPlXKIGaUdxUXb8c4ikM
N6LGH7BfkA7r0p52VeAP91PiypUbErhBoy76OCdZdgf38RWVXv3gZl65D6TDMYSz9rsae7QcrqXv
QLiQ89rdAs6vcArByOQgmIY84t30SicKCytrg6kx8+QwOXmYMQJzYkUQ15rWg64vzNHr4wA3TfgC
7qP1Shvkt5Q9hAL4ite7xrT20luTvdJtQOxk1qaHrqjwwV36twqA9xhVYXpDjzTcENPlHme/IFwG
Ufp6ack7XaVtUOyI5lqBcBqIi5RToCkCVcD0a/cLE1RrD0SGyWyDtuXqz9F0PysscN+LAle9MKKp
ElZsC84sFI7W3YBQSVr3eWONR6u0ijub9hWGnmRPP9MGYA7PpGG9pMo/aj3cVE5VnekzNggzPMCp
OrzLUuQL0oELMukhSK352JMc/ZDHWXoAG0heQs4b+VY3YYlxwgJ/tpqkDB7nuIVjmEuW0wZ55568
xiN0KlG04om2dQ0Ooj8MSfuLl1f/ZgS+w4M9HIqh3eu6Zgbh+Y+TzagfTnhpXTgTIm1TJ1ZfWoFs
eFVIh7QDZNJdsZNBlJOpbNuf6CB046fZQOLsOYSoAz1+ZOl2bOm1FVVqPXNad842HeGTbPKa+NEg
ccRrwfh+AYOm/akgr6pw/swYnj0LH5RkFfkkoMU9FhPD9DJCpDAmuaEJ0jELFxK5eK5uGpfYvtD3
4H47n4PwDBIIxw2Yep+i20h2QZTiluYElDiiddaILskFFPYXkTCij6M++Dq7Vcde3Ewbmpr1XWsn
4jkeIu8UDDHVU+4iYjet5T/GXQjDVmcO6kicIKdxbDjCcRZYl9Woj0XIi+njYLLCUGF+qpVQPDaL
89j4qJi7wGIDRhzj7smpRTQ2e31+8awpLDdJZqha+7w/FONirlYsjLQmhy4pWEvzMFll8+Kwv60E
3WSsg3ElWRMo626rDmey3vFwPO/d9Jn+C97YnOFgnNz4nM2UYGhVmpfYZnlnoBSdEA+Jy1zb/uXa
MXqkv+OfwHNR7/klGp6ylkR2Zm6EribyHpE2es8NnxtcBXHdgeOqQmTL+KM0+XTBxuxTJ+vijaxh
KFTTjcRjOEDhHNf17HxaJMjBKs1qthV+I4qV3p8/9aNeXpwilKSDK+cXo9DqfZYZs7cxDHk+KE/D
ZWBsk3cuTkJTSIe6ybwT+jEL1LJsT9jpkvmSu/FLDO21pm6yNzZ6PQqnvBif+yFo9lHe5cCyLu8P
LZk1PHnKMm2hOILJXtBlbaGX5uSznzW3TROuLWvW07ZGWUidUUh6TMQEWhEfvXE91dPvbIaFyOOh
MC92jwaTYY2NobqmVP42TD3FzZrTNL230A77M/4yHoS8qyDK2kVYzrmKkXzlQ2ufoeoihg/M0yTG
NUlW1dvB0eppHrrlUEZDTCfI93aJdoN8h29QiXCsrT+5Cih/xf7LyjS5rbgn8vsLo7dg3MiwcaG0
tLgLxMDxnwQ9WuxBod23ti3Tj8bSDAaYvYgrYezoTWkH4ynhTNPHjWVvezX1X0P0VvaloOO4oX+5
POuCAHmTX3vrQl6TYEg9brDhsYEwS0nKyZze5YDWaowuamBsGefkSy31c6aDT5H+vIBd3famPYRp
jHN2zBO+6SfvzNq4prNdnHr0gnBJjBQWOsDMeffYShOuQ9iKCWKJgUV8M+dMn2XiU/MOZz4wIhLh
47WYPmrRknRvz81OQvWsBxAdIheY5jQe2FhNFFDNDINk1blP76AwdwNiCnRdk3sYB3GZJuZfrYZH
s8iDTTstV7JD7htF9aaQbBWZ72J3zfSRXsWBKKttUqVna1QDisGSn/OfSNHmZpRMois+cmiTsjSi
9rBg/qoshp4r0uApoArc5ul0j4/eOg6vbrq8I5uxGDeeUXeZPdyNcUC0zNB9i+oaa1BjI91I80fc
ttYwoEfh57fliAfunLV0zlE3qKk46NkOyIEOz4TbjqhZ1Buq6C9uGN77s6BDCeRcVu0mTIJvbg64
MHgh7vFZlTzi9n6rqumddFizVqykNEnIIXGDfaUGwP0wijYhCTKnkq1pu9Alg22l4u0xeD9nvodd
SVwknN3TYMNIOL1NorQlAdllhFGjk3XjttxVtP2SBcavYnlbYwrwvmAwOJP7gfjlEacoDiKaEyyG
tA3JYRU3MrEx2GhQplVV98L9Ocz4cjvafXEj7NSwjyWWTbOE7DnxxewpTJ/yacKkwWjzwosQrSI8
r0s4PJ7QxZuYb/TSTIiJfBRaKS6pK6yGEl7l2b2nfoWGzL2ZqQ9t2ggzLzipZBMUjn3ncbCh5+tg
1VU1OTRFjX7VGeLPlqrE9tqfwKZs/DTAkX3D6LhaD/gjvKOWFvpUKCuinlo4hz2kear725jB2ERj
0Ui0mZ6hsDOtkN59UM4Nx7erTtwrbDI8mni4CuKDiMXrhHFLltwwI8oqMuBH+9vAerr6j31lE/Uz
DNkhxSetfBOiHnex3/bq9c9JFPG9NTIcSkiWOk0FOp/M3uwfPVDzoo10Y6fJwSX04bH0yv4CCUvx
ZFNO4LUd1mhB0QFxx7NhoAfdQgD0oHxR/FYPZAXBKnjWOrZKpObICHxzqZmMd5h00ccglDqzy61G
RpZvIfQCh3q+Rt4Up1N748qafwmJi9xawPOvuE1oZ6v49sWvBpj/n1H7DwIm7E8QtX/8l3/+4z//
8x//9Tssjb/yK5VmBeKngOAXDyKWgyYbNY/Hr1iaFdpXR0ZH2MBRrggdAaH0G5cmgp9ApnDTia4J
nRBr/Og3Lk3YxHdCskUBY+YQsPRvJXFenRj/HZKCiRNOaLteiAm5gKEKfrD29DXqLNfx1T5KOS/4
7rUQ0FLtfndL/gWI9j399r+vEgqcNyIcIX98BdASDvS+XLVPSJYZad6tYjtCh22xd9AxrDc9svX1
n1/zX34yzwlsjxvJcv0DdrY06YKaQnJ49ESznXXHGdrGpOXPr3L9Iv5wA12PxgFJqwGv+JV++52/
8JA0Pa2HTu0bp2qxtspqT26wOEYSSlRLtUmchk3D61mDZugqAqkSqzy5dZ35tF5an+M9VQVCuupL
JkxE0E7dDO5TLnt32AsV4L+Vzp11M6e1JR4Gx0/EDkuyGVElEs/b6250r5wK6VnXW7d//uEcHtsf
PpzATDSIvND28PT0fjAhx34pYrQ4NvsOoOzBEgIjKZhv+JgwFR8GqOzVbBRxDaxV6Mvs8eCh5d7N
sLdYybSB+Yu7/UNA1PVBEp6HdAOeE40aVkPf320Zgb2EQdvscRORJzSN01s2wZYD488fOWaWDyg+
in1i0ftlYcVk2uak9Od35Y8PlvADUEbXxZQTD5rrev+7b9xvvJgUkQBYKi7NSya7ih5+9lfhUH94
rlwH8JShPv8Dgip/+KRWZtdg40m5z9Q4U7825YlkELLGMlw6/vwD/eHtZPGRgeuw2HAh7xeQ8ncf
yPN7QdZFne69qm7PFWfwlx5HzJpswvqDPU0W5nV6zP/u+8lVAVNd/KgBi8SPcCqOAO3Mc5PsEz+l
z2vnU3kiceyvwmn/cB8DHhXHcbmdfG1sxd9/W4kIxtbpnZYJUBCe0qwvtiVI2rkvMR7/8/v4hwfj
l0tdEWSf5xM33e8vFasI+6HOtAxTu/w5xbe/swL9F6z596cJ3gAuwvfEyEiylPJf318kr0VpsNFV
+yzGkQ8+FT8psEeywSJ9izA8+LtLN6ckFgEuFYJH++w23z3tGZtXJOep3TehYQid3SxeziTWGrfV
ZL37E9rnv30XI+lzSbaj0KUR+/0FY1bBpQYU21ehTNbVzIC6ZrD7978rrhK5/PqetHmVv79KgPkA
detVK1GLiE4GkUAObcP/m6twA1Ha4l/lix/MwYMMbiUoPbU3mkb0nJsvtCO6v7jID27LvzwSnBRo
EzlsdZCQP3xFcd+OTDPY6fj5sjaOgV5yFjT+i/ORbGh5w/ygOLRiSdeiHLIdLSj4QeYsf7GO/Ivn
PwpwJvCvDwqM2vXnv1tHOECXvoj55rB1poFXRu5uqf34Lx5I51+80VFAADl9e+9/kXYmS24bTbu+
oYMIzMOWBAmy55Za4wYhyxLmGYXp6v8H+jZNEEGEfLywF7JdrEJVVlbmO6CNspxuVPGsbBSm6/hO
6dqtyvMl7A5q1n8ExvsWVpRJ6HXsNBlHnKg6o8XzfaCksAtqg0a2gq6KE9Qbv2p17gQy1h/WgPwn
TXg3d5RkE98AKe2NmniTfBXNkmrcSqPWBgEBRJBm13IVzrHh3SAaVG5TrhmEJxuAAKmDdqnD8b59
ANfW19bJG9AEJ8wv7SGaxk4A8A7oytU56KGkjN4Sotrd0Fjx6fZQl9SA/+1cLnJZNVkyjQz4ckJ4
s/idqEXpdUUr8Ti2MxCy6GOVaozmyoDzkIE4OFSysdyY5PWhsWVYAbKpW0BZuf0WQ/tm4Me4zQMz
od4GCtfI6QgHkleKhpc32dm9sPriV8MOfuwBM9yluuajvoDAwO01mD/aRQYOOwFtAlT8SbBI9hc/
RJJNaq2FU3hqUP2GeRsfSkSLKdj6MOkEYq23h7u67OcngwHdRUakR7lySGh8O2iyVMq9WM9iQMh5
Fag7WIbJU+y3/SnJCn88ZJ0+fro97tXeZVxYNlxbts7RnR9V7/dui1xGHfci93peS4+mxalFO9vY
uB31S+X5+ZZiGPJwXlwqHCBzEXEHqEHWwCPaS4XUfqpsezwjFCxOfp1J9wADOggGY38O4Zd5rURJ
0GrQW86QHtmbIpu+sXDjWbczo0Q5oTfhFFChPQRj4bxZQv+a6bRcEolrkLdL55lqw0dKKiy/Yzp3
Qx2UgK1AywLZFa4kGeJVs3T0h4MakDsN6/tcTCFKyHXr2roUHTTqzfsQjXiP7meNchn6d1kKzbXM
JtMdMZE7/PVn0GSKEAqvR/5aJq+S06S9ao25F44YU2QyKTq4gG+3B1m4Qf35CoxCGw8rAR64S3ve
HiUnFOyG3Kv9WX8leqargj1lBOAK/HjkJl3+EmrSx1zGlhsCDb1I8GpYkqkzrA70wQOq6UBDADPt
bv+0q4jDaxcqF1UY3twE0UV2IXxkx7FsZvurgzhPQGHdiWb1TlVjZd8pASdAJQogYW5vHLyrsLoY
efFQNCoUdkQv517WZ/0eCgl8VUxlMYsWxX/5yDYdZccwOeJXOW8Ht0pGqsSz68E45Cao38oMt9yZ
Vk60xkayqUXINknpYikTrdT8GDEbEFkCp4aM7wr1+fPt77U2iGpx3QMkn5PeRdiQkVFDpk/KvFqx
4a4J8LEIx/wdRe1/+5W6hMpVJGs8FhbfxtTwmvKxV/Uykosjlr/J19CHsTQ2ffEYQz/GMhSYf1JL
er6xIdcmaJIvUbfjXGrW4k7vkigSaT5kXpjrEZa/MnIodW+cbi/jyiXDa9XS5rcDyby8SBGnxh9l
w44yT80qnMPSvH8iKoYIe6JdWwd6+OP2eCvHjA9G8YUBjbl6cBnt1aEfKM3GmSd1jeQZGtDfugs0
Ly5swFsiB/bdWdwz+VhvrOecuC+uUzAPVMZw+JB5hy1GpqWQdn0BAQ+RqNo1GuQ/J+wXXS2p448m
H/UAnwWf3VkyBA6D8nB74iuf82L4OQq8S9EEmwgJ32ZmU+hIjhUoewxmPWxkLyufU1fnygBTpKpm
LEZJBtoUfmMwiqMbp4HM84R3PXzBUBVHQ6vbjYByvagESwKKbtvkSxBZL2c1SQNZdRGmHiwoQBFx
8bUnKnxDJAHDS2HOlP9Qfwb8UuyzobPPt9f0ejMpQHHIRiHjUtKxF5u31wK5K0yAxnGVPBOjEWwQ
lvRcCRT4UuQO9mwy+clKA/f2uNr1MiugQUiV0HDhhTWTg99/TEWr+iAK/MKrQNQ3jwnCkAVCdrol
3Q9YW/2CPY8ErF1LVfNK/wahaFSl6RqPPvYpWTA4X4Z0svcCFhVo27E2v9UNkHeXGhfa2HFqxeBQ
RwRq2timUSKLliooTdX2g5ygXr4vheDZoga+EuAE27XKUbXj5nNutOKM/GjxXQQWTaHSLksItX1j
Ay4ZXPQMTfubFtj0XEFvhd9hDdW/bi/N9TZXaGvw/uJ6VywA3pcr07cZLdouLj3oA/K3hht71yKS
+u32KNe5KkZ0SBMYGomcSTi5HCVHYhzdeJgrEgUO/DEelB4fEF/L3+yR9pba2M5G9LguMNrziwdZ
NoXXv0G8vBwSZHIT2hjaelDMxdnMwP+MMpgGzkdw56jIdPlJDzomKwFA1LUaPzdWv5WkXc97/hFc
3yQp8xtlseHRcUUdt/Ezr3Pm7DwF6HUnKjzslCGAu50B+riXseT49/Zyr02eC5CNbhGySR0WybNp
+tjGGDouQxFQnrgsZORWQLDSxqO517ctgJrY/u636MNZRZMfcaOYvNs/4jrUqCo1LlnDLI7JL7MK
LONrmF8TN0eulW+pZkXnIGrbg9VX8V6AEol31PLje2Sqe8hNibUx/voivPsBix2ADBIkGMRzPKEN
xWuFuNrrrN11iLpecmPDKO8DU7aOElzNfacXIJId1dzYhtfH63IRFsfLb+lJ+wBqvCoSP3C0sj8Y
+tRs3NFrg2DNZf6p7vHPRVBvG8rbnSrPu0wLX5oOjImiZtrp9vdcH8Wecxu+KBvr8kCFQdKL2WqL
ajnmeK2SqS+1P9obF9R1UchWaQ1QYkPnBGj/MlRondPUul2RRsWwbzMdl6yhGVuXLgK8HSMClSyG
7gXah/GYg5YltRuSX+ifagf0fcynvDSSUzCKxNWTNv7rpODyxy3WQJhhETsKqoWVXUwg9fIRcVFL
uLdXer70LzMfRjGAhGm0myklLL5nGPZaJRSWINfL9JOmVfkDamTRAUnijVf29b3ISCYOdIahUIdb
lu79sg4SoadI4EyRsgeJB80dgNihjOrvrZVvvQG2hluEJUnlVuNyYTg59ffwE2A51IF/NjU7Pjv+
pi/q6nh0eHSLphe19nlLv8vhmjboq6jLMk/u/OBTphWKJ6HfgTOzhcC4Xfh/nc2xnJatkbZyjdAT
uRwPfiL84ZHx/ByNUAj01gGF4nKPKc3oqT5yQLc3ysr8NNmgh6yRVdFEW0SXGaEb9iOtJSBl0940
RQj0r/gxKVNzb01Zcbw93J8q92JjwuhARBEfMcSWjfn3vFtPKShUFJulxOOugysdJ7/b0t4H7axm
lj9LchTsOvx5lCh5iKXqLkJ72soKQOnASYvgoaDX58KsOEZm7qZFedTSAkSgjxCjHG6coZWbl7Iy
G8dR4KDQm7r8qRgBYBdV0kHUU7STbMoPmvZMpx6ZgxGhMOCrzsbHmM/+cnEUPG25d9GGgep6OaIV
BErYOmbiaXLdexp65lSoYGCDCn8MzNxEGW7C2J4240bIXAnMtPxovqERYxpXT7QOQStcSga043th
uGgqVOixYaF1++Mrc66ymJ8+i94482FC2mT+8/cf35KnvvDDxGuTHOt5GlpHKw+b56HFC77HIeJO
BbX1I20jzXUUIT/JqH9hWFDD/dI7ILxpbWzMfP6Iy58EWHEGItAU5P10+ZMgl6G6PcXok+BjAsOi
JcORo9n2zd5qcq4ORSQB/2FqNJwWQ1VpZ1PcZfZoWURejkasi0Nldm4T58vthV75nMQr2qkkr3Pp
Z7GPgPfLut3YMW8VP3MLrfpjlhNvLN38exdLB46JDgSPepCry2pFI4/6mJX4/WQdO8fuFOejiDvZ
FbPzbF514dvtWa2sn4NjsWVyGtlA8iJU0VfveA9qsecEio5tVjMcLRgld7g2FRtHf3UoZkbfQ6aP
s8z8hVRkQ6S2MbxZNDa1IsQIb9TUsylifeP+XEDC5noTJquaQveRnWEZVx+rUQqB9l1EEV7p32aR
7r3TJYVnwKlz6yRrTrVcyydUVsKjWZn64ySZ+VmjgQgtMvRfw0jXDyMVsX81KzBQ7ByMX/XsVpgP
deTKUO72KGbPFFkpvjeT1NyPud89J5Pq476BTmYz1unfwiKYk6VZyOhSWaVaMK/vu4Mu0IComok5
DTQ7XLMrYd8ZItkIl9cBmpqjTcBU6JSo1vJ5oGQ4MKVdiSlPNXXHwijNA4hOAS4uLjwQsYgrsPzH
v92FXArczvOsaIxZiwREG8O2y1J8Sai2JMcIp7BDVYDXsaxuY7+vvD549ZDG/a+/by+T8kGKQ0Dm
WuiJGn/SXthQTLRWvRMFVOQ+VCPEfqv22ejpIPS9o+7Rfsw3ToJ+dcjpzwAIowmjcbctoScdTzs0
MzKEOYAcHY0ibQ/GALvg9qIqq8PoFHeJKBpPg0W+KoQEXsKBRJeCjSMFCKCm1LEMoXnycWKrfe2U
ghB5ADqan/H3DZ5xcPke+KXxMPUd9Aw28b02TpW38cPmss5lkEOpjIa9phmUncnLLneyQu8FvT91
/gY4OEoRGiYV7qAnA2r5bszz4SlXZ9n4uMvcVJ2s01QimjTV6HT7DQip2z/nOi7xawB9cHkS23nb
XP4aw4TKW0F694LGNL75I8JLHY8hNxwS4+n2UNe5CF+d+VKPJl+7OsJQhEiNWiPxZLY3FVMYu7Gg
c4WwBNTNHJPvNhjgfvX5Vqltbd/zdlF1x5KBBVHbvJylKtqoG7UKq57YkQ7DoKKHzrpQd+n6UzuV
D/ooPfoGcvVoxaueHWr1x9uTX1ln3jSQCmxuUVLjRfzCVViIUA0SsvCqOGj06E5aMQpkmhRj44Ct
BDGViwZoItcA5bPFexAmTGiOf241VW3uJKQB77Iux/rFtpNDgzAnTDuE7W/Pb+W4oYWHRCL9X5ls
c7GPLDMvxzjhKh1VTdrXEuwFmpSb+d7aMlpze5k6MYKLqCZeXANaXtn5VOmxx8X3hGiE/Twi9352
Qht5bSXBWywu2x7DQ4VEXpaiswl71xWY/+ILHVQ0Pm3pgdbBvVIq5efbS7D62wC4UVei9Udku/xt
oYbNKYyv2JvS8Smx9eoB8dlyB1hTv7s90tpic1fMLWhkTmRr/vN3l6EO+6M00yz2tMpEwtqcHcEs
XTThRnC4zsdA0dFhsWzA5YBcF5uWZEyCtYbUno2TNcLXkBCQOPgVq/IzcSvdGG1t386dPgXMHjfD
srfS1qocGmCJIKfJ/nFqdHLmqMrhYGXVMbSC1EX/Td/Yt2sfDaACT5TZ195ePpDi1HGqfnBIOQHy
H0t4FkfTIbvVOm2rb/qnL72I/PObQCbnVGbk6+JKkp0IVRa8GICXKh/D1oS93D6RgD74BnSF0DrF
RnVuEmqjPlayHcRoXJyHonnCr8jNA6ruff2k+8Mnq+xOt3fUNRYXjLaDByAFO1AbjrE4WJaVSIiU
GbGXUvrcJ5Fu7c0BmzFLiXp02RLj2Md1+TQZ+CcxxeAgfNxmLRQngdMEWzWElXfd/HP+oJ1IlmkE
XO7wqiEnwuAv9uJuLA8R9hpwL+sfqSiTl6DpP/SxIbugwWkMAFtFzqmFSd0Z9UGr2uaIespWZjgP
ePXtkDvlRTuDJPXF4c7BfchqT+CJS0s/A/dAjaOUqz1y8uq5zDS6x6FjfinUEELMVP6HpImPQuFA
ZufMqKLL9egs7A3kjs/j9CWPeQUzowIg10ZusjpJiwoFCGjNop5yOYpfwMvp8MHyCL4qfHa7+izb
o+JSjcaqjmO/H9HggvGN1E5T6NrGWfwzi6tF5plJZ9W06JAsNuGAjKTkFB2vTPjLFBZfRQepH1Z+
ryT7EkX/Ctc6gw9sCudZy4lAWLA8UxN8q/vSmxT/WELBR4trlylALaLkTrXTu1ZP7hswKXoe/2yT
8sEKOti8476Sk1e57H8bY/mQIxdbqhG0ccR0iuEF3vaTkmt7MDJ7UDPoRKWxNziQkR31ZRiSL1lV
/JyzVquu0NeQ74DswkLVH7XZJGVszwmqMNikwCoM73sobmNun5OqPPaacYrRkCwj/34InDtImY99
K44iU8+ZpLyUZnaWx+CnlPT3Ya8fJBE+q7MdJYMRBFOXu3uPbsbXVoIhZxuYSORnXxHQoPvqLDXV
x9uBYTU+Wmz4uXxoKM5i31saPOS+5yCGKDftI22Qj1kbYpHVOs7b7aHWbjUeX6DVKONptAwudx8u
F5NAR+dPeLS90BmjXYDgp/tfRtEZhxIDmcQiFawSxOoz1Iu8PHCqu56dtDPRd/8PNzTULDLOmUkA
FO5yLhXm9mpq9kgkCGVy0ctHtDAb0vPtuax8HA6iyo1CUYHi12LFysFAq4cmrgdOCrmeEnVCO8n9
I2JTv26PNP+fFieTkejQ09JxGHJ+1LzLOFCm0UNYeKR3pj09dFKiI1Zb2GeY9rEbJ2Wx8VZY2Qvk
dxpPVWBkGhW+y/EySn2tQAPTS6nC34texE+j6W9hm9dHIU5SrZ47s4t4RxFBYGbGKMg/ZcisGuYh
6Lhzb6/d6igI4Mn/S/yXe8EiS+3Tee1yvNzuzQjFQ9572UbVZ3UvUHeE6wUCBzLY5YpxY0+qForY
E7ESHPU2G90+mE23rTI43J7Qn2LV1W7gZW3ToFFB+i3XDXJxL7VQOuKR8ABPMsLfxLaipseZoAyf
hZQVEyJHUJuPQMNaA+8j0+jvaj2zsa8J/enewk4I8jMO5JHLzZp8qUO1eksm51/Dn6YD3r3G5yHC
tOOQwMmffQOdFAMZAA5Y01gdPHOjVA18dav2Y4ALEzxwpe96D4HemFzfUsYAJYKp/GmBRj1iPQf1
TA4QN77jxFfKq6/Wjn7ouqz7ivsPjpppnfWtVxmdQEgHslW/z2HnemkBvnjv19j7yLzb8dcq9Oyc
KZ1KO1MzfgJIwdhdQyfOza0ie66hO6u5qliIVQlMG3DpNl5QI47h3EOu+F62jjr/PsQvTdinaL46
ONDvkQ4xcRiV5Q+tWUDKstu2/hJWSvPPNNGh3YciLB2XOzv5ypE581/mApK1oR80zK4QxSiNGCUm
tTO/4Zmkfah5BhmgoPok2eed2WP4nFioU46WWbzWoD8RVFSQm2wmoTywZmK6q8s4+FQlNprclHtf
MjOsDwKlZHrxk/pY9Yo4ysaYnZzIiuR9EKkD5uilQjXTQoD7i9Zg5LK3sUvINiL2yrtgbl5RK6HF
C/B2sbOlWvGrAus1LzMoDZeO/UtgZrLDuv1FrktxVzS2vpEIrR1ZEm9U9WeEI226y8NUhxrK1zY1
davNJHdopOkQRma4UdNcC6qcIhnLaQtY/zLIiaBlPekeez1vPXIZFb3gqTSw9lH88XGCxnu8fXDX
YgQlVAekEyS3K8V+We7lHp+gyNNaqmG4CDXYpFGQ6TP70+2R1r4Z70UZwNZMX3QWC5h32USxaoi8
yIzboxRo9gcpHymvZ2PvVbz0/knNyd+IS2vrCRkGWA01YNLX+Ue9u6RSoeKUXoJ2zvtBvWN/dmct
G1CmjYef9NfkjU2yspoUiQ0wLdxRoJAX2WrtC0vJUSPwcAHN9k5i4OJcRv9O0I82Jrb2OmMomjxU
pgE7LHvGNvJCTVLw4DdtvL39lMtEtmsU2YDS4HNdwfAGBnDQmjh0kVJEzkwtm0MwkXwGnbzFRln5
uBe/Zl6Yd+tsZ3GFHQy9jGHo911RtHsj0zMXizGQwImUnR2dcHd7Q60utgZ2Z27ykrgtxmxb4qRV
c/4bkToH3UAgWJS4z+Hhqm3Em5VtpNO5tskNKTERdS6nR9jHG6DNSXlxDD8BQ0eLPo5REKv05iA3
1OhvT22FLEKj5t2Ai+u0t2OBOjJ6WtYETg9ZbaBHgU6VsPYrF7tahJixaz4jyYMoUdlr+za1nAO0
uY2kaz6Ui2udgjmAC0pK1NfsxaHtZy+TROGhM5M73K5u8VjN8u8qgsaHGJO9AwZPlSfXiXRS8Vja
OE7qXP5YDk+l3qDyShECFsflugN7GvLYUokZMgKYyIofCszv+qR6aE3xa7KQWByjo5nUn/0+PoNH
eSCBQ/vIcaW2RHO0+GqpPob02bMld7PB2JsqnHHjV67cDDr0QZprcxUSPNDlj+ygRgXV3CHqTXRL
0Wd3Doko+o3dvjKKYyisAyVOZ6ZGXo6SAHmXcbulRzLOhhxCLbzETpSNuaxsvJlnTHi2Z6Yx5+py
GFyy4KwjLHisJSDUfeVkBxNvwRNOWv6ZfrD1gHxz+aHIUx+dzNA4qGYtexmGfrdPwPWJmxuVPPos
YiOdkcXhRrcOC0W/ougXqsVDgqvKCTVA1eNJWPyoKs06/f+NN/+edwEMtU0szcB4HK0xHl09Bsk1
TLgeVOFoUAaoqw2m+x/i+OXW1uk7yGDGKchT2liEFPxQA9xBUAuCFRV+KDWMKtAoSCBB+3arWbsJ
oK14alDJfAOngfZfiZ3pW+Q3WrvT0BvRjpVi5TGaI2PdkZBhWdiGjT26E5jKxi0Ds0fRsYtBkkxj
Y2Xoj6N/t+sSX/nglxyXXdpEiCHh3x6rD3Y9VhUFViykMSGp5cZt0Nv5IRwDWa4my+twJ4NF/tfJ
k/4HBOfsa4RRBwkveIpiV+tx3SE710znOsRW+xg3EyX3XO7tdK8nPHuxApGmI/pe8geHjoy8A87c
2nd27ifZyTeKytlHLNUDAjCpcAMTL1PkL40JWwuEbl1zcKZujwBrkbq2oZVQ1pBwxoyO6tTrkFgi
OmAx+SUxpKY8INo2pNhDSvLX0e/018GOKszi82FI72mZIRVPK7+3ukZB6c6UM9d0JiT2lC4bHvn1
MdItWY0T+5gn/h6pWm0LbbuCHSRlnTGnJiVNm/N2udlUKY3B5VkOCgYq7s5Ck3aSXjtIduO0sMct
sz4kxTge6Rj4O6VJLMwYVISARBQ925Xf3UWONAVu3ogK0Qdp47L7U+BebE3AFvTFLMiuc/Xl8ufF
yFG1EWJCx8bCCKYK5D3oxmKnzSqGoaXgXWN/gN+o0zDrJdB4GMeWghno4Bc+oJ6+8/3mvrTyj+zM
w18fU0jNdJOQ1+BGMuYo+e6YWmU1Kj530RHFzYd+0qwRwz/5NY8K/YsicXxvD3d1/ZGrUuRSZPJj
leLQ4voL2ipGEHKKPD3IewRxMMBBvq97tHUKgUMcgJ3ALDxKlG9DObUb32Fe5ovPMA/OFOmz0B6/
Qs1NQ6aJLmwiD04/Om5a8ILI+Gfse7JdKcrfht693J7t6oC0fUmVDbrk8iL2R9JkV32J+mCPO4SX
Jnn70Ryhrjjj7JxaobMu7PavCy6A+mkOcsuzyGToiziYS3Djwo5ZysIkg+lTZ5/749aevrpO5lHI
YbhLNABoy0Ii3s3wBgKmVgVKeQ7w595PGJAdwmZETdPHEun2Us5Ltfh2FHdoUtAA5dpeKlzkg2op
aVjN7zjrCSf70qOoZD/6Zo5lYS+sfaeWxty22OraXKUJ80TfDbwILVUX1IOwePDEWYSl7oStuN81
W8jfleXkZibtBrsP+GuJsRtMvenUaASwUOQCofjEOrbTEB1MeRweE2OT+XedlkBW1hmPwzjjEpYw
MCkIJDX2q9DD+ks9mbhpfSiDQbsrA3ZqY0flucX/xBs7w79XAqtw/UgLd7ETS2+3P+zK+hq0P8l7
YWzQ116kYeUQV1KYByEJ8fgzN7TgKTIU+Xx7EHVl+1yMsjgUiBYZtWTDGPbDOsLLyokRDG5+UaWB
ncP1saMPc3aq4Yj/zH6kxOciSBbvLTqaO9T89mGLaQm9NN3tExlR05lCNYaHMaLjEHGjD7L82jfx
S5vRNAHwiMg5VibAH+4pqpiHpm2bjQOxtmOAHsy9RJAenMHLwF2JEq08TK+8ppH0Xc8T5pCY8idg
aZ2r6sYWKe/6ecyGQV/FhLVGeQNDwsvxBivDybm1Ai/sqn8t9MHdeNS1lwTKuZv5xgdDwwYRzFj4
QADGKAze8HE04Vl1mvHXGN/5t9hA10FCEOKMRZM31+y2gOkfzM5z8UHS+gCVoAbZcLWn/JGa+tFO
p60CwcoWmjsAaA7M4DXYNZcLwIsxyJSWjRo17WuOD9ebE4jsI7bn8ZsS6hV61RSHd6iO+lu7d+Ue
YWhKLpxTOkTGYvdS/JmUMYpCr7eK+0DBZyjx/QoUT0of26KE2OJ9kqfD18ESxCn/NbWss2ZWP6ln
/FsZJF19hUdO1v02w4R2bkq6h2MCXY9T4OCS1tTiEQpFjOBT9QMV2uYgsrw9BKW0v30OVw47BGBe
vzPOcO5/Xq4h3uCmMTqs4ZCr7dGxWuvoKAg1/IdReDzynQBVWMsyPUXOKIJdEHg9z0gUMlUVfuFo
bxzA1Y8C5o2WEAQKjsViLkmChir6wB5gGGQzs1B2wyRVzpnJ1FCM5iVBBW1jK6wuILyNWWUC/Muy
s5bIUeZ0iDN6je78rFpFORiopm7khNdVAhJpTrlK5k+pjzrF5dQKXEViG8gBSg9x+azjl4MrzCQf
gjwUxzzQUpdqSnIA/id9wl8ZuyLEsQ9gN6OPgNP6fd8NOhVv3XjuJgR86Qbi3OTX1nQfz24gQyL4
u5RuitStrg74EgQLqGJTfr383XEcRbgJynwS4fQ7U0XiyOzC3/9hd1F3nevkc+RdHMYyKfzaRhvZ
k82m9bQ4Mw5mnZfu349ClgzjAvgipbjFKJrVJj09LT70hEBFPuJpJOas4PYo1w8nvvQMlZnFfqBM
LjPUTCSO7lt4TTmBHH+u+kk/pzLdJXOKkOChRuOCD4M60YNqnsrhFR0XC4QAUMoEJPypH8ZuVyQ1
aJY8r04bP26+whY5H0V7mVFmbg391cvPqQY06gPY50fuEvEDNBnOPhC/9nI2VXey0WCPmHG3QDLA
YchMoRoK8xjHZbO1SvNAVz8E+sss0UQjc1mFnibMqUTSSjjeFM5zEOEAEeDDM8mZfjRiLXvOS5yh
sBv7TVMq++3rWKFGUze8lkahvN5elZU9jpwfmT0dk1lwcs4L3j3YAqfp68YupGOZYpmDwJayQ1Q4
3pjy9SgzfpJsGwjVLPq4uOyaQoFhMaH8hC3tsJPbuD6HabIlqHEdQhmF9ZwjKOdpySzU5dFMcmXy
jwD+VLcux/EUocy3V9VoOKngS/Zyrg4bJ4sS39XnZFhaF9yp9BXQs7lcwiYatRolcv+IYnahRMpD
id/nT3pBNj6aetJ7JbhkBG+dokb3PWvSD4ZvDd0OF/NB2fXyxCVcWvIHgHbjKzgxiUtYfjZjx/kY
dHryfShAwmFH1fNq0CY1ewtDTf1ZaeY47UtLjOZ+6iL5u0gVxGMr3cZFCw+4TD8P9YBtgUPDNt37
fqIKN9Wm+C2ux9SH1Rg54w6jVx8zCQ3MoIsfnjO4WPcEvut3Bg4StqTWMdiXNHjsxjZ6qDPhfxt6
KZwLPuWPKBAj7osxRMadClb2tROl/knph+w3Ngf5P3EZVBHylpiF0JY0OrazE/EukKJ/Er11nrBK
qUy3yWWG8ilzD+xyE9FayeqxnmlNCO9Tl4Q/Y7viBBRJE/2QekfB8FPCdixQC/HZnEaY75A/PivF
VE67WmMP4CuPc22ntgKEELjWn4OuCGyccgfgpWHWpxF89Wum0OcFdaSifV7rkX/QAO+cQqHRo1Yl
Of0eSnb/JS/1BoleBWMbX25ebbpHe1x7HxKRYYtS2wJ30WoqKbjgDPFmdpVxT3Sx3lJqo69VHPuH
jHJR49a5M94XtL2dUyvFkb5LkEOT3NpuSvmf0kpae6f3ThTteRMZNXKaCU8F9NokBPgl3+mP8LyD
70o+dZUrFEUgEB4mo1cbJVrW/y9tY8R1KhUcSWSFcLFL3XmVUEF/6uTc+JSiUpIhW977L0PltB8C
8FfI/NsJ6Gklk2wKRHISfLJTU3rtoyz7fDvGzKf7Mt5Ro4I8TjsMcZgr+kBQ4xHoJ7F/DBqkQf0Q
gQZRKKpnNeanvx8J5M7MQEUDg5f95VEks6jUOsiojiM2cl824e9WJNUTfiXRRuq5NicAYqpskMSD
Tl/kBngqB2E3hIzE0+BYBVl9P5Wz15KQvt6e0zUSHngtymQo3hA7Z8/4y0kldmnbEhv0WAa4voXa
lL1h31cfiA3I+AuMSkK9odMPwNgNgw6eZJJthdY/81l8Q34EP0AmB6bVswhyfakBpet954gT03RM
BxOXqMEZjoWef1JRkIcoXe9M3+73ht/8yGOb4gYejve11P4KnO+x1N+3rf8tss17M9TM36KcglMT
a+XGLb/yXSgkwS3kJSsTkheLNVTWpOOs5B9bdMQ97I7/TZtMHOBH+7vb32XlttHp6wLTghlC623x
YrYDXC9zLfXRCDcLt8sM2n3CsjCoG2SUIFJt2OkgQf5+39H8mdWqZj0t8GqXmyHwI4wDxFyatgL5
a9cq4y5Q4/7Ev2v+h6WE5UT9iIOL5PPiMFlKq+Mfz1BOEmL1EyXhDsAQQvlKO23ManWPk5Wyv3Hd
BtS9eP04RiJ6tDycY1f3wGQw47Fwa8fhqJlU54AzQXfuuXwPkqF0bmWX+bkik9i4yue1W+5xJHR4
46F9q1I6u1xbLE2DkUqFc5xiJT1SNKRBHg72MZpoWKOJW79VA6+T1Mi3vurqyLRVkHsioLB3L0c2
5CyMpZSyeQu5+5DndbXTw8q+kzqkVZOoDz6NBf71aoKZ6e1dvJKZzSKVNpxDasrKMv+zA+RU6gAO
rgDlfkD6X6G/4WypTa2dSoXkm49rsZuWKOG+ok0T4cF9zCU/cpvY9H/A9noAXWdtNMRX58MrBMQM
RZUrgWqdJKhKE9U56pFZPdE1LNi50RbYaP4eVzsF7L3BJaNQapx/xbus2QAx4ZBwMEqOlFNXa81R
U4b0EYet+jGn8roRa+aotRxPnXXLQeZQm7tiodfYXIAyco5SHlbPzojoTVC25aEouowo06luh8n8
Tmu08Dmv+60+/1qoI5ryTmCvqMYSZRDhHhrKGcP7mtWfrXBwXtTYknZCRZaFfhdkMDkavtzemWtn
4t2gS4mpvlR8kG4M2tCV/NmYfnyvWVl0hIeXvY6OXsNprnVXssy32wOvzpZKKLhMqEG8yi8/bmsO
Uw0uiY9L/wzRkLpwbWwLT3Jb1Xs8T4qPSHD9vD3mSkWZEowKVHfuJfGSWEQAYRqxj5QTJ0QJfxQp
7xee5+G/nY6ni8BS44hQyoTDb47JoxUH+V2NZu8ukJrs6LcGMXrMGjCNGFoFhvXFkOrqpTFa80md
ECjI2CJHyLrmqcJ6bt/RHz7SvlfPKcU1YJloqyIHl/OfauJnnWfBh9uzW92+s7YA+ErgOUtEuh4P
RVj0rKiRS0mzk8Fb3QsMmWmiq/bPKEVHNcEG7F62sGlUHL/ekltZiT9Ud7lccBIlgVny68J6snht
cb20BbYhshylj9Fgi8caB+LZ5ah4xMkze7Bby9k1SNfvqrDqXyTecW6uJLJrJlZ6xnjFPvVIi+1G
0fk4bsOiTjC73ncyiMp2srFvliZ51yO55SPeeUJlCx3JKTMfo1QJDuhbyJ8Mu8P1tWws10Hk7yDj
LunKKmiUgd+yNydVuUdiENU0RaO1PEQYY4mD0Gii6Ch80UDVw7by7GzKH3VU/78qSpCcb3+tlRCK
8iFyv8AeKHwtk2hZpJUk1+wpo826x9LunIMchdpGSFs53rPUOx0qFK/pZy42fJgZka/aFQmlIVlY
AA2InZYK/i51Q6loTFJXzdrsWHCZHG/Pby2XnXEr6H4SvXmYLKJ3ESld3xnctmByszPOdVV3D1Fd
FfgcDbKPCmc5fk+NWDmXAQdCxZQUNMZgHWCCDSPOk0L/lke1+NiWuCDskXySH2w5LHJUppsGCeZI
ic7hNHve3f7lK+eIHw6TibhEFr5sVCRjgi27NK8Zrr8nKUjxdFKHEng2Ju2TqgvXNDTk5nhQ4Moo
tkCEa6dIA9HLfTdX+ZYqPwFYj2GsC5K0DIjtqPr6ri2b9GQo/kYIXtuCALYoFRGAAPNqlyE4amzr
/zg7kyW5kTS/v0pbnQct7Itsug9ABDJyYSaZ3Kp4gbFZLOybY8ex+yIzPYXOOuigk056mHoR/ZzT
o2EgQwGxLl1NSzId7nC4f8t/QQaPiWrpiNWii4ZerMbqzhZ8SVmjEkrwLgMgC+jwVm16Tsu07Fa8
clMxTWmodakrfPC2CPDNhGoFJpzZ+LYTIn7TYWh4N0VFWpxSpUhpf4DtJAeqFyxR+9lL315/1d+Q
r5srXxbMwFZRUaKwJG+p70KM2sMFOnIKL5x6+9Aq3ic8HaUiYHmsYuvU1Pn9WBePXkSNJDafy0n9
Gx53r5qlvItF82Zop+PUpIGlVm9HCuNNbwQ5XkmKVh91pIyxCI8OMRtmMMYDHB7h60jL7KzvhYuU
op+EDUDWpB63SSDSwh5yKA5uSIIE0hV77AM+WGbQmdaDhuvowZHA0J11k1tju27018ErkCsTyG/O
lWJR82FdbTfEvLN7F6WZ9eQBm8BKdZlzptv2nk/2Lv4GcV3/GcT1JPxu8D4rgpKU347p8rRANv8S
gW0UB3OeX2VU50s/sdLsF+zmELhcUEr9WOQW5sAYReIitUQRnotRpu2xeS998BZcXvidBCMUF883
wTygYZ9UixtiKI5x8nqP9G15WzUgytwRpWah5jY2myI/GjHMh+tLeaFHK7WZLOA6IGohFMsj/Lst
WEQaNq3wScKMfrDvZO29FnU3SibeqbFL61ur8F8v3lae9pzYym8mVBk97fakeC/uIofWEfnRt+v7
/Ck05JDjHDBauMbeozYlsn6/cl9WaYwzXtv7TvT1+sQvnT6g7UmHZBQInOl8xGnAV0vmxSHOYmgQ
la4T1AlH0PVRviFntjuVEw4PBujFMJm3X3iqouQycL3hJ/sJ0q4bVqWAmAJAHAt27MqanGZ4Q0Pl
ds4rcQJxPAQeNqHv3WiGvJo65o2txS0O4rJxm1bTiVZ28rCg2HiPGKGBZSXl29lOikdU3X+8YSlF
1SUmSIJM8BY6X6VuNZSqaww3xCY5v6fFp4eqPnV+EuN+6K2Z8ipWMMi+vmgXXw0xMoxnGGYgXM4H
pR6+osyy4tlu01+u3Bbn3Lq1diKES58dhUrYUrQryfL081HsVTTCiCY3LDS3DmEt2ZRFJy9s8VR/
b1lp95CuqXdfVqP7VhR48l2f5KVqCEUQKTCDMoEkD5+PH4mx9QqF8fMlQ2qFcIxYMk9va5ARmJUn
3lunSCeigGn1VSenem4P+s5DXFxpCfsCycftuG1+Kk0K9Gqk+uEmpuYvkWOeeiQ3Dtenen0UT918
ahZ4xZnKuRsqhugehq5CMcBT+j8yF/ByGgAzYPvuZj2p2uAlmnVsVW3AamDQnEPsIuLyB+YClgW9
I0JaoGznb62wcqM0h5G9mSYxB7L9tkINcedQvrQ1AeHBF4TnJDXQzwfR3apHMpjTcE4qjADdNX1c
PQIxZXGzk1E4aIbMHcIPba0fPdBmO3O8lKfS6+IJ8GeCW7pl+UeOkdcmast8GomDzlQmVnje+YC5
Qeu6n3rby342jRwrRkyV1NVPVUvJaefGrXlHxpl7PtY9TYzLThX9NozU3HxPqUf3ANDIoddRWSiP
agvziNtaQ21PeDB97cwsxiBvneZpxScuDoyB//WVvJWdFMcrnzk+42cDu+RP11/qpTSFWJu+MTEY
yP7NHQgqI2lGzC1RPYIeDsTdInrgVoCiOZ0ycupjbwxWMKvO8vb6yJfuPUkSpqPIGQTD4vxN57re
2jTUuYWwQn4tsIM4tHb+sybEW3dwnxNn3QNF2vzG7YX0/YibDWxi4dnCEyV0Es2BNsqXwtHXE8yv
YJ1WZeebvBR8470BBgxZX3htW8JeK4Z0yAdu2WJSqp9LUc+t36DrfWw7tCoSIo+HtUN9tlqUD4nd
e3cT6pSH2XDzYHCHX0HX/7BBIORyrnXJ7gMpAZ74fMXxDnYHhSZIGKP6dqoqEyff/azjwns9G2Xz
Ba9jIuJYHqwLogQ3qImbIaqANl3Frnudx0v6pKh/IJ9Cg80FwURRi7TbOJ8Ze3dSPHnMGvU6kQis
S2DL4sb1HftSwIsFREdHatx8w/lsNpCNL6FWA1WkuKSPb6zBS4hXsMrFIjY5drHmfhBZv4RLF4lD
Zy7GXY2R6Wf6j+OTZkXFXZIrSrAOwC6uP9iFQ5NEQKJCyZ5Viorn00ct1uzHGoWaZLWFzyHZSc9J
MqVBtYIyL2meGYoWjpbx0VXF+P766C9FZDwkneSaIJEAI39rWVGSiKw0M6KQlHEUgZfF06skssYm
SOFvINGHv+Ehd7v4WWuldook9Sd+qijO/dq3Fk6PYIZ9tyJBOSh0jY+YMRVJmNVpIb8Fvi4/dwtz
57EvnHyQacmNJSkUYOTm/HFm3VKySVacPH16tQxDedcq7fDBKxLkRUb0UhwKX6HaRfYO9+ZCUEA7
gl4xVHUgI9veaq5qFM4GRBGoHQ2/atk8BNm4ujvs+wujfINA8qU7UvnWOt8UXlZko726TqgteLX6
ntsYnW+ZTelff/0vv3fopgAtJU+PU25bTlYLRxh1Nzph1HnFQVXy5DnJRBZY5ox7L2mPX3pR/vzD
g8pmC+gioDASFHM+ObZj0+Qa1iVmpHetv7re8rr2tI+RrYuHulmrL8KZ7Z3g4MKRTtkQEqYsWKAr
tm3z4GmUUn9KnBDx7PiOgmv3vFjUFtxYM9BWpV7aak30KDwwJ/Nse4/IhzRhbdPE7Fy616bT/HjC
QJmMT59apoS6bjFByeBGsdsZdlh4UXEy8na4weG2PV5f7pc3J6PAc0WPD1wXNLvz5W4KM0nxLrND
HO+KkyCeOKAkckBRbyZJqfdEZPeG22zdzvC6nl1lh7CA7KBTGzziRxC8qjNEBz0dfzxK5/Mn2aOj
hms1e+p8emmhCGVVFjucjUbczD092KJRpp3t8/LAYRQZoHNGY/a47TKJzjawdOjs0I70HK/zbn4z
GrEBBE9hPCyRHxwQB8GaznvkQrle54EPhUaw2Nz6FIVpeJ/Pr4gbryyWxg5BQCvBUnTI4ZlFe5vm
zrjXing5FNMDzsGCQhzaVjabAnkcAkgrTOtJv4WRF92qc95mO4fOhRlJASBsMujeE9NtQhlqBmUM
6coKi0SJ7/M0008jMKKwbp1657S+MBSsWho1EskIC2tzuZpDgthElcDrTpUa6by1DXAe8Q5Nve6V
gi4OJYXtpFcZ8KzNe0q6JO3E5JlhZaV1qExI4MaTPt1o8Ah3NuOFUxtPMFvF9UICArZwbBppok9W
0wxxwYZnm0eIPyax9aiuaf5RE5p6Q8lu3XlrFzoTLCNfgQmjGhLUljKvaiRNuFMb6NiSBLcT0nZz
4x6iwjHvxiIX6GCO5vMU618yz0jf5gYwQrxg0nBePe8myS3tbkVL5GAXZh/Gbl6ETSdUv0fM6MGJ
pg/XT70La/StSEa8jHscQmfnnw0ZSUQSuNJrKE2Xw46zIQxMkGgnUUbJ6fpgF8488k7az6yNxEnL
vfFdMZIeneci/2SGuKIb94Qe1o2yKCM6hxigLEo5/TDqnzALeA/ZLtKcICzPx5uKZuITBpEbrcA2
hQbLuXTLdGdWF3b0N7YShs5SlmL78TjZmLVNkTKKvZjPtlcsx7hYe+T+Oc6vL6B84M0hRyILQZ3m
ERDwLUwVR/KiMjKHquAitKfI62JECdK9UPsC2B/xLE5xRLhpZtPSPl+3tnRmC8lWPcSsWLlTPDd6
7vK4oSuFjknup6ZSH922mW9xH5u/lrVYwmo251uBPsQTLRrr3rNph1ppW6+I7hQF+hRajvdKmviD
k6xdACjSfm0VyRL+6ALRHKacKWu+fHzO5iDrjbbu7cbVw9yiyF400RfXFfEfGURKuSAGasiI8Hx5
tHYtB0SU9RA/7xGIXN19suO2end9Ki8/FmySSfPQlqJIRN/9fBSzjPMMMQJKyyjs+fRhkmDte9IE
YBSoRKd7zn8XUpzzAfXzAZUJknc22w5iF0p/txSipnaZlF+nOk/vkocErp82jAHpmYPUy0Amls5J
iCzU9EuJ0xVscMd77rq6PTopNU5yyOqmaxDYu74uLz83HpO2miwf01DZNvyMdG0B7TlOuKR5G7QD
gWAzqYMPFsDYedEXKJGMhXYARVzOK66S8yXBt8gDw4X9dhojhQj1TBy0utYCpc3mMKoaKuXId9+q
Td0dUGpaDmNuKoFdtdXOGfPyw+dBMDeQlVwSui21z/TI0GB8OCGOZONpitCWNxZvr3h0oWjNMDAJ
aAdAmHmBUYqrtegi2td0HWLo/pCVTnGUDH7rtmRXVoP6y4JkY4EL2X0DGhqFSE3beb+XpipdNWW/
ERzdFpdVZwlpDz3/MIkdE8/VpA4MdTB/+CQl0JcgY+ALpBbbFqPauFotDZnCtJ+cQ7RMyymrnOp4
fa/KEO38vGYUSLxICEnBj+3+UQcxw6LRJaXNAQToavNJW52vU+KQdOsajKcpL+90YoCd0OfSRyJl
zmWJV2r3yAf77qZFUraPitZkEdfGue87Kzp2UYFVuFbtDXXpnOJ0IvQGYoo4ySaxwFPBUJqF9zUN
c3UYMzpampZmuCr3XOqW+eOJzLcUjRYRCFpJwDmfmobSdafMkxPa+lLf6kNa+MWYuDuhw8VZcb7L
r14ewJtZjdoigfszlYXKcQO6Jg1peFqd0nJ6b8xt8fr6RvlGEXuxU2QjjlIN4eP2A0+p+yXgA/ny
ADUd66qdg8gbdDDISxTqsRHfrsZIC4lKBODVdL7T8YaE9NEUp3JGj5dAsT9oam/eqpmBakQ5Fode
SX+Fiai/opOnAfm16pPWa81dn4+/rAX0Ck8DmzBG5fBUVY5xhPQQ+2iBxAcNKfZDr4FDibOoAum/
JjfXJ3xpfamiEZxJqo+67Usb7WA0y0pFRRGFHhZFHoWUHRgPTgDtR0Pbw5TKF7ZdYI416a1JHwCp
//Ntk9MAVKPEtcOlryt09gcvcFjHQ4KnRhDHRuN30GNOaO7ap4n4K4R5gjHAJJKn1JzcUzuMhq/E
6xJaK4Y6xWBOwaLCJBm7UvPR0h9fDZj+PMTcj/RN3O7Oi9z55NrjdBhWCfac4uXWWT0RAAFTa99D
TfjUiAh/ZJw9jA7VWrt2fUZx7XrGdiuzbvTFyO7rGW2Bf2k00cepEE6YlxAoG2Xt7oqMe2+lyfjx
+su5dGx9v1abzd9obcIeo0HUeXrri740Pli9pT21UWYEraHbN8jLWYEHaCq4PvKFwx88F0JyHikv
RQS5bb47t+a49szOSTmWR6t9GGa01bWi607XR7lwOoKO40pHz1SekZvQCpTsnNuwm8Ox6LF9LKzm
lBr1w2zN3c4x8jK9wo7ru5E2u64sDaTOi5hjJI6twNCrCUsMQNrKCuTIUbDMFaoi/sgiwp0gBpZB
6tbZRIHP0bddxq1jVfNN5TUKPYNsD898aRGpxtMekw0ga1soTNokbsyGQmEuBhRqVKVCL23S73rF
2sPMXRyK00ICaMDybo2OE0WksaUVDsFm3h5aT38L2zc7dTUohes740L7g5Tnu6HkBv1uA9ZlMYDZ
te1QsS3nleckTdhFdf5gwsEKZy9qPil18Vvmzr1vj21yl7rEekMlHL8tVHE/VPaXAsD/Tkz0/3gs
+h/oxF2g7vRj5aV9WfJdGJWq3jgappmHxa11/ZjWqu27cL+QpUin5akpV1P4kdV29+5kNt2hxQHj
ZC810DN0jtqf816d94qnF1JGqu+yyQk8GC+prWgQAle8/JFXZCY20hNJ2NTz/eo5nzRvfUoUUFWq
RgJjwnxLstfGMJ9GPXk1ScTzkKevl0a5tbXqQ231wWKoj52jBNOKAO311/vyeCHao3DHxQMbBnGw
87fb0X7s9dpaQwT1o1tU3oZARQdwZxO9vNvkKGTo0meYJFG2sr7bQ26kWgNiZGtodUlLNlC8ivLo
URs7O3BUqJ4/OiduI0rWgJDgtbyo4DRDlFoQlfRw0I02hExYQGLtlPfXR/kWdm/uT5l+wHAnIqLy
sJkURSJn7QrK466iRCADhmm596x4PPZpj/IXflRhqXfNKcb5xG/Wejphb9ceiIuL4zIb01HBMuCY
l0t2UorCfPSGbH2wJxvsO9frMbNX7eO/QMfQQMFb2LU3mF6rlTMdwbWYPoypPWTjBWgcW5ZqP/pg
EkG8leFb1naJndy0Q6mx92VputpHX2c8ZKqJtns094FijPqNopfr68SrAF16KcWPsrRONPZ3efcv
9yaPQ5FKMtthem19OPDfnZcs8+wwkdiWTpSoGOmxeWNFZulnxYrgr6ukQSn1CdXC/irGaoR4XuQ+
kf3oT0IdQgGNdWd7yff64r1TTAFKTt7JhXm+mT0FVE9BsBB2SfRASFS9tfO4fduPiBk3qvrVTp3m
VEL5DY0Vhcrru+7SmpCl0d5Dpwumzuai1qcxz+wsskNSxeWgpfOKWVG65w/98nuFr4YSKPUiolFU
Gc+nOGjR1FH8ptFW485rRcP0UC3FexOexjHrvR9HMjEcLnHgMR3ysy1EQVI1hlQ4djgkkXOMZiM9
tDpK2teX7kIjj2HwrDCpRZN5bkW/yi4xNGWiwVTl+eAjo1QElNw/rnrrHRb+/6dpQXJDCOvOiGt0
p91XrmIdkmH+cP1BXq4uFvPITCKFBEMNYdfz1RV6p9lxMenhvBS/kKzqgaVAgI69wgWSVvU7+/Vl
rMBwcMZ4n5T9UVg7H661RpNeaqWH5qoog08BafDHokzudbs2f7gRdD7Wdntyp6L6mFMIjNT5wbbH
Xx0dOc0/sH4YDqFWzdeHedv5hIo6yi1hg8xcFjiq7uCpR2Np6qMjenJSZ9mrjFxaQAvytVxEgPum
DGm/u72w5F0kYFgLZ6fp/Rq9uifCyOrYWdp8vD61S0NRwFMpkFDTpvtwPlSllihKoO0FPKFSj0MK
hEztXazXnCjfGerSLrTltDhEoEpu25/o+kIgxxWCVNM0n4y6ae6Q+W2OMTDA+6ip2p1tKHf1+bHJ
XUxRBIYKLgfOFuPHcb3kSVoztVWlJDhR1jumWL+S8fXlMVLb8qDASjzMhbf3Bbw8NBlap0cAE5f4
Y+tDCeA81bu40EKM7sVNjYOJX2Fws7Ogl0fhe0bmCPW9bdln7ZWl1dxUw81XM4N+oMKE9sGev9ml
HUIPlFQQ2SHIbZsd0gyiQb6U1yZdAWB5LSvWnQ0mMmYrdiZ0aYcAyuHmJXECsbL5mJHS1mCWtVqo
Zl3hZ/FsH0Qy6IeYzN/vIRHvpIYX4g/gwRq2ash4WUhOybl/96FJlN46KchcF1qfvlZcBINMNbb8
HE+GY8kGSnwDPfGD7UX6SW3V9dbU2zYQldMF0dRUOzv25fx5HHIfZGSkqNu2dRJ1pKk0tdWQSpJ9
XGp3AMWXY+oGbfQI3erzj37758NtroVKrbWRIwjfw86FAqW2aThxX4awjN9dH+nlTiXe58OXijHE
ZdsDrUNJoSwrRpJ6HzdeG03HQqvaHeuZlzuVViI3D/VWMkiYaedv0+0qJHZrb0VsrqtuCcnjsAL+
eUvpba/F/A0hf364gETDvgD9WGBBtKDOx/KqtozJNtVwGLrICCZ1jj6tlW4Zh3ZC+ccflS7KD1MR
rURluKrfZwBNmzAWdTLc8Vem+Fh3eqLcKFHejAgTKuLNMrvGL6OZGW2w1s56SPDse2yTaagwUFnB
Avd2L1CprVK3e9aV4YuVjc17vMIyzY+aYf2YrZGY/F4MUCKTUdHpUGRTUTwl7kQeUGpZq6H/q7As
uQD6Ojv1e7WYNPhuxmR+srqBM3iW/ZbDj75+m3weKAp1A8lc3xwhuDrRM7VHNZy7sr8Rc6qSoybJ
L9dHuSCbxZkr65l0LCiKbNUPEoJTqGhoyEezQt83nZLHqloFAnqoImQPVrMoGTyHysoOWJm1UEzd
sX/tZYNBzTUylodUsab7fIj6p37NI5iB4Kz2ElN5hp1vHPYNJS/ZWMHuaQu+WCE9FaLReirKM9ry
dpME9D9cNIcnd50Pc20qq28puqvetGOBXWcUeUB6u8K2Juogk9kfPHCh95REos9WJ9JSmmP1xW1j
R0Z5cryeGCHrWwNsQ9odrc5BJtRom/QzjeLRu4lTiwESRGRXvzNwjoSS5ULMrMFeVT7JTKX5QBCa
NjC7OjoZPVVAmM+6/gjNZ31Inc55Vs0ZBzK17avuEDk4hvmolSVVgNrkcNR0xEoCLbK82c9qdYTd
Nerdw5I1RZDBV4UpXObV586qMHftVEX7JSVAeZXWOK6clnKheoPCvH500X6vgYyAVA+iDD1iv0uE
OR8K1xrGB8MrOzIuI0EvJaEdSSWYsvz1DfUygACJQwAGagFEk7mFNk5qnupzlS+hMdvVveS0Howp
KR9FrwBoKb0EMnhXPdn5vCc8+/K8ZGTwGVQQSRxeMC1wS6UN7NGaF5Y6nnRgqQfDrcadvXhhFLJG
A3cVbj4H1YrzM4wg01SmjCJJP2QTUrIr1gfmbP8wQBTTCvntS/Ylgd/mVNas1kGYr1/DuO7TexuM
WJDapfsH5vL9KJvQIW+hihtCrJCL2uFQtksdegZ8rus74uUNw1wAfRArsGAoSJyv2OTmk4LyFSuW
V61fi9Twzbxag5gTbid5/GY5uDkoANKBFeTMNMjbNklHWwhjbBcdXIc5UFxI5rL4KMiqxF2h6Csn
glK0D92sxtW9kgtY04kx4TMTq0ut+JmhuPaxX83+c9Mk44Pnmkl0Y0ZL+96j7p0EolHgvjWQAtHy
aj3F98Q6YNpXV/pjH8GZPYytlu1VkS98Uew2WUmQxgvg3c7XL88xiFqojoaLm7t3y9THtHE6SaxV
9Sqo3E45KuVCRT5JnB++gySqjoHBWBHEbIlYRTVlOOJkvLrYVA9FBj2eErL6R0aRiEEJdnNJFc8n
GIPrddLFXUISIeqsVjkdFCPaSy9exomSGEC+9u/IlPNRhCpKSIwmFIDFSD6s1tjfgFMsbmoEgILS
Q3ju+ra/wLGkwkejRlYxwAtuA9NptQsx0IsNS5DP90Wvj3WgpevH2IgQ3ubj9ueGaNhbNOsDbCnv
NS7yzY0DVtI33LF6FtXa3ap1PGIFhneDMqrIv6U1mKZJb0+maInAm+xXs1eT99CHqp0j6OV6ydOH
05QKCLCFbSfZ7hpnUFtzDoWpTeEkqvwhWVL7bWTNOsa+g70TWF8ArcjOFpxDhClRfjA35wTBzRih
7DKj+eSB4M7S+C5Nuuhu1tX39mxkISIlEEjQPDyRc5SBVpvDq7Qx3l9/b5eeg4aNDLplp56q5vlG
aZcos9W5nwCsVs3PwLYKyEF0/17XTSx+UxSKMoAEprI6Gu20vKk0Rzj4wTmfK3Mq96QqXh6e5HZS
640wUHIhNyHzXKQWW+Obmjc9RUM4w4OF0NyhXAr9h28D4EKUNLi1JaLc2tw5TpZgGlUw1DhO8adx
UYZDB3xnJ9+4tLxUr6kHERtIbvlmefHB8uzRLqaQAvc7RHWioBjp1i4rgjFz8bD21t3sTGag6OOt
1Wd/o9ywB4S7kMKSKpJUkVYRWwOKPn/F+mI5Y7EkbOscDSWLnYTHoh4/FabR+tT2apoAnhHO1VAG
/bR0d1GGl0Odxn1QpqO5c1LIjX1+afE0VKzo7tB9Ia0+f5q8ofQxKtYYlqltPDddsx6moY532IQX
dhIa76ipyZ4n1frNNaK1LvSIjlGUVm8R4o+7t/1qD5mvKka3M6MXXRdJWZTFNilJSuq6reVME5Rw
4ukWOlvZ4jXqlenHojGW32w9TYiYY7HWvo2E8kDI2gyo5eM/o5flYB7hPmfkcm2dmwD34rX0h9iY
Pohq1JQ73AQzgVJCURHBwmR5U7tq/eyg8PNrMdbYO1UY4majypbB+cveS5a2V7GcFjU4jifZ7gCc
e/6m1KZSTHTDMLEBbHYk63R/mZFm/jJUBjZ8feK+KSKr+OQqeXxr1pPzymyUxkfGmeZRisx1Y47i
XpSOvvhZrnpMSnNOwG9BSCdwyq8fZNttJR+WMigVGuBGEjBw/rCiaRQ7moc2nMzKCZJ1dYhapnUn
utteE4zCXkLEhKI18lHbpn3kCCkQkLUhoDFYogM5TpE0tR+ly6cKIMn1Ob0Ae8rhqO9CLAODL1Fw
55MiGHP7RKKakC/+YsV2H64toYmmKc2dIebi5K5WB6ayNd6Yc2KeVBVTU6/MlFNntX/LxMRtqsfd
0avheXRz6dyXs3rrDcqyd85dWH6drrLE9KLjTf///EkLAHbJSDQa1omdPDpLmz4YReK90Xtb3GpK
TXOoNyKBEYWon6FjLs+ZU8ui/wJEJTOzRg/WrjberJ65p4p+6dE4gKmXkV1QhtkcONWCHbrVlG04
49IOi89IwryO92wdLnwshD+MAq+A+tK2gOG0Ko4wUYMP9SKKR9TZu1fYTI3BkFbWqyaq7FfI0ObH
BF3dnRz0BR6UXYKTAC5K4M0Bg2+ZV1GpI76H1UlYWOWH0q49PzZUdFhErg5vZxzCHqMO/qvZRb80
uY04cz5PO+9/e9yiI0nNXnUppEMposJy/vrxcLb0yTHGcFxxIU+F3d21gtIVShp76uIXh5KNKqlY
JIHX50MhgaqkvYvM2pq7X7t8MW6XOv1ol80eD+LFuspJ2SQDJFdkBEjDno+EVHhdNk45hm2ED6ma
4Mrj5Lnx1l5EfGxzlFpmVPMO0VSId7larUfT+GEuAc9AUiwjM49Q3theLXbMamujN4SrC+jCSMue
y6LfOzwvrKlMvV2T6quKT/JmTTNr9eBNRgNM1yoHR9lFARnScF+S/B+un2mXhoKTZbGu1NPpsJ4v
atKBxnNqewB6UnCSmXFxV9dLezdPe1p42y9SLh2QUL4LiuWYIWz25GoZ85TE9NsTR62CWKHNMrhW
fhK4ZvvGanTPmPf2ISChPZPMF75hcmj0pKg0c1XQNttMEr82Q0yNGMI4XQY8wwzNt5oBTr0XC19L
1opCbVK1b7tEJt/qemMPAM8GTTT3S+I1p0gnueVzs0LDKHPsDc31XRtV2U7Sc+ldSAN2CbSRUBv5
8+97G7QwogQ8aahOIBJsFOpvRNyMR7DC1s5r3x7CICYkxppYgiOCNv4m6yWUXwa85dvQ6xs1WEwC
omGK9i7Mb8of3weXDGNRF6NuKuFu8HLPZ0TBE3xEXMsq+pwnx1p4zacIYPkKbzvT7uivt1WQ55YX
/1ItutB8atlZiqamMUXI4NrGIWnzpUQlz8iPapHoN9MUa71vtQNMkmaEwu6XdTFCVKPGPgMPxXXF
V0qnUuDedunH3orIijKE/l/XGYVmyuu9BdYqE2kXFHbl/srvUL9a5tC/b0wjjg/Z2I0VbVU4cD67
iYOmU9QPg9X3hBWZlQA2NWclO+qlsMrQiyzEO9xKG95Yo4a1rq7Oo+YrWlrft8oqwq4qraDlLTyU
Q4dhIL2COAtSaHWNX/I5PPXmiKnH9Y96Gxax7AimyrtfMjtfHv9eZk5mZjVhUY/zQTXy5mbyfHyY
Gi11dsaSZ9HmFRN+Ub4nWQdIZW9eMRohC9DssgmBuIpD6enRARnfHGgNLerGUaIDmp97t/s3/a/z
UaGo2XivygoRcd8miBgaKJ5Au1Nm2CnAQ1OzyA+lLaTx+Lh6T1ZbeANNwSkD6xvxYxQOhfrFchK8
pNcFXkpqL9EnRHjW6bjY6fLYDnlt3Zh13yWhqaNwG4nIzmlMFWtznNHMX25tT6TPC0Td0VcSWNzH
tO0j3a/wdjhGXoJWmkF+PgdKZsz4CJH86QfatHDsnbKPYUUTMQ6hM8VpjlCEpqI+z/7PfczB5vU4
uamx3Ip8Xr6oZjnSW7LrW1PaWi4qVlgMYw7vFD5qnOTX0au5FyxYJtd3zrf+6dnCegRmfCUI8HHF
EkGef7FV26ul0nQ59Q5eZ6Zk9E3LYVhfp2uTl5BK6tzXVWFUfEN50p/6vjF6Kma98mktkKW6Vdex
/moMawq+jVKpP5QlOk1LkjmOH7Xj8DwAHX5StbE9et3a9UdTi2ztBsUr1qkcjXyCzS3tG6ZqqcvX
16f3IvfmGGKzSCsYAwAgL+B8ekkyGH0+iDTs8cOGnDSaw3owDaV9HS2e4uAVmXpNkCsJ90QBa04c
xrnxiqCZIY8da9fUqFRH9b+FjP/py/yf46+cLMUS11X313/lz1/qZgF4m/SbP/71afwq+kF8/dOr
z033p3Cofv3cp3X1r/KX/N9/dP4r/voq/SLqrv6t3/6ts3/ESP98ksPn/vPZH44VQMPlzfBVLM9f
yUn7bwPwzPJv/v/+8E9fv/2Wd0vz9S8/fakHhJj4bTEP/9M/f3T7619+ArP13buSv/+fP3z8XPLv
fv/Hf/n9H//997//j9//8d9+/8d//f3v/+v3v//v3//xP1/8iq+fu/4vP9n2nyV6k+CeeIz+pDwA
pq/yJ5b+Z5MCEvQzChp0bz36ChXitslffjL1PwNUkKkiUDLOK/lEkGbljwzrz6Cfv9FrsVUDcvXT
v6/E2dv7j7f5J6ovr7Gr6Tse5uxIlPEpFRWQrKQB/Acu+vkmG6PYqBDF8o56IzoSYHMIEnoUwTJN
1s3UJsMPIar+bTwalMyMcinMkM14ut15lVda7rHMW5PeaR+tB1eJOZq+eyP/nOf389pE4P8cCHES
ugF4btNHP5+YnrUY5mB3dSzUeSlPGTzC4qY1U+cRgKGjvcpqxUsD24k9XGtzO9Luitwz8PlNI7Pe
eRg51n8cVDwLbpk0j2U/VtprbfW4TDNFtsGyo2OirvnJbbX4nZ251X250KzcGUsu4GYsBL/YUhIa
R8q6WWAUiod2WFzvOMwzHjNVq77urbS/7Uev/Kj1IrmvkhU0ij52X3aWXAZi26HZsRIQRYfC3ZYc
MlVy222UiBtHmx6gwydves0Wr+wJ0gfQALWafaKB+W7ETfMpYZ1vCjfK3nWzlZUHlRYzXmF1+X7n
seQ5+eKxXDIT0GHfJE/4+XehqtZU2ahAdDjikNwAfkkcJBgXN3AXvQy8aFaD2UDB3BBxelCaYb7p
V6W6NxpsbxYzqvZ25osvDvdNwGCgJXGCZy/IVfzucYix4snqeUH1uiw95a3WnoIUiTYvmMppuq3j
eN1r952H0N82oIxopQ0vHzzB//mYEAsW4OoKY+KN8FAUMeoDVRHvBOovtp7MyQD5SVMPaiXfUpvv
ZlZ6dQeAebaOkCqE8ThoY5+8aZB6pZ6QKOWXWeF6vR31CkBxnZdduwO4oiizedUcKuQkpPakT7KF
tZlnBqZCF5HWhc0sW9N+l6Ne5BsoR+iBwP3980iI9mledetTq43pexMZI/GAVH9LNRvfm8/VYhRf
izgqZHGutKpjo6bDGiZcpmTraUdsE5Ewan6ZKv+Huu9IkltZ11sRjuDNNOHKoEx3tZ8gmk02Et4l
EkAO313AW4UGGihCU0VI2swNaR36qs/TIYnX1aV7R9KEAwZZcJl//uYzVD1UqlkcxgyIGz/J9fmu
SEq5vUfnzbxRx1mHapCeqO965UzsABX4QSam2enJfdZNU5NBXqeVW9+u4Lt0L/O5M1JisaITK4nm
fbfmnWrnntVyANf1TlEbOFdpTpSiscB8CbpsEvqUokgJOmXsmOVpilc8J7rfghBL3UqVtTGsVeC6
YSwNUZFy1bfoTh5avWgetNpKI2ue8H0IgDOt862EUSNLiAwXdCc/j3Ct6ohS04GGv5yPsAPsFSZ7
jaJynsEJXNHfYbWuzyfecYPBGK0v+iNtFfGO0b9ae5JR0jeo8k4gJ1EoEPu9XdgKsSHS2YMEVzKU
HmfTQ3ecmfoyAujakyqm4iVVWS8RQwyYcCGQxCJAQcyec/AWGKJGiURymuTsGXJ3k+7VOpQcSYv5
ReLNaHeoBAYmkr010x6uT2PTYhTRtgiGpGw16IGiXuvYVk0c8A0KCb7vQSZUgDsE3ER1D5jqtgxN
OJ5LK4yypKAs1WHeMcxZdmrZqwVpaANEyhBbxuB2MdiZBXSckC4Ko+xI00P4k2hai9Z9zCmN0WAC
78+Na5O/Q5Sbyrc9wqK5kUujhrJU1xb0obPyTntWNejF4qnNkR6pIdcAAReQw7/tlTijHqOcyt/A
LXSkwh0xjz/NTRorW1R0irOr0QJKrRCfB170GVbG+AjnjmkKwRIueChDLRtaZSPKEPhBQPvNqbZi
TLRegbY/glDvz+gfN37RM64jSpZsdNspxqpjkGSriJ1BjA1qJyPmexCLjt8wek3zTV5MbeIJLlHD
Ay9Th4SJBF8sb+q5XRCMlRo8uJidzAPJLMuASGsYDYVRwCq2A9Mk3vaTVjpuBgWP3u30LL1TrEHf
wYurBqXS0Y3caw0tgbBvCtZEUdpmFsbtZCuwwCsYiuzalDvIs03QoVdY0e5rjAArN4Vj5RqhVMKz
6E5beXMLpRVAXETxmmq9OQMimHdZIKaikA+dQmvZU5UMoCcojWGHymz+keGP1zzWFFhKWomiPmG5
mgwib1WlbFklidrLBwfmDmK0RBEiYPT8BdQtFQuco2r6NlXJ2LtGNsXGSii1Casze8yfUc/khY8s
aAJQcQLsyNfLxpTJDB7XiGlPPcm+0ID3C2uWwNgWcWyMxjzjcQgKqyY8uRznmExWMqmrLi/QGzcK
tKZzqwKhNxtYY5KUVS149a3lcICaAOI7g3clxS9ivFkXZAGYepVFrbkmt1Fit8WYw+4PjnIg/aSy
/SSSNN0X6lC3btOk8ohIaM/cS00R114LUPD3AkZw6zEVtMXxpSsR2MPdC81yTQsLwMlFaKDGeodi
KMpMs5vncd8mmcMAKumScZ8kymwEY6bxqMiRHzwZCVrgK9HGMfXSMjHMDEIYiZGDPpCWNjoQWs8L
ohptfqrMRHrtwWU4pFXKUb4KhVskr2uoLo+pkzGvq/X0wVYw3PBhXXAOZIBA1qdC55iHIRTGxXYW
GI0QpijZHFlZwcqNM471nSiMzohUoTU6SZjE0RwYlSJ1m7QpoHEaNyBe9ZPAtwFYyhkirhv2FEpw
wBuIk2vIe6CMWzxCXUydMXbuOKqQZLTCYtakHwjLgMFYcSIBjkJV7buTIz12kSqbPQT0GTCkiazx
JyTfMDCxKl3D1NzJFbZNK62KVx38TqSV0KteWwurpPUGzEwQ/qBSgnBDLEH1PAR8CBP2NK26xlUH
VVJJbjYAEDngvdBIg+rHj0RWquZWaGy0XAlAsJvOdGDJVzEtHSKzb014SYy2DpZ4TBPS4Y+TDT0s
NSwNwKyIo1bZuwQKGnPjPoHLDRRA7W0aO529k1PdggKparYdNGEHUG+b7dSJtA9Aw+bbMW/anJSs
wdip57P2VspCMshQDDYsDhH9GMmL2ASsz26sFYcwPly5nV4Fksas8IiQbnfWlQBsjrCqVqMa+YaD
o6tOZS+raT8fLAsN0S1EecCCYRLkTaJWL6ViX4uc5mECUcbOG50CKoWwBIBNG6R5oTOAmrpBnJQh
9qKU+Upn2ug4Hu0Y5AyJpFFV9eDT2J0x2RPwJHibSWbZntGyQXnCScE4inIg27d11zUYwhZywaZN
N6Z0eMLUB5gZPecaC9NmUu0wz5USdsF6l/nl2LL5bbZ6IFLODJqZsEYaYCpltfWYEeBs5XIzKUBR
HZqsADxwxLJ97Bqce247alW5Ts+e3K40ZeMJ4LRkvmcUTI4dB15NOsLhqD9aHGJtZGwVLd3UpWTs
JPiqznCrglwc/FPKNDmBAJa8l4Mo26irTYd56gQieiB4U2QbgLWT/g0e223sW8VE+6eu6aEwMTl6
NR7NVu+P8D8o6fOgpPEjdIOKbAVkRA/kJrjPhktbU4NMHMWWf6yT3DBemlyGFJYtFIHUMDVvmTLh
PU9DF1uBDIOZCnupsg8w47RVtxfwpndZ4yQWmVumZgcFvphPtImtBGiEHjEljuO0cY02yRuXnrVq
CZTQY2DUhKyOpOZOOwC82Thveprx+ynnlen3UDw6Yuer3yw5o9tWSD11YZc3f1cbLm6cJoNivxRr
3SlraSZQE4p2D5aa1WyTKZuKHzqvk1vmmCIhbIAyXTQOqYleMMeBBDMZKn2bVYqcD1TjAlkInlx5
Hitmwi0dY5ju1BtU3mUQHpxdoD37eqt0asdICuqI5FG1MB24gKLvShoZPkqpDAkCkhkWanNopjzK
sjRJPoMGASjmGuzGSAvUfwtRArlr18aMs93n87m7nJWOPJEuRSyApA1YkK7hwBLAhS1dk8GVKZds
mFJJUDBAxoI+mWpxpgMpF8NBI89AifYSdCI4kVXoRCLWAw9W5BW+bjGl4500YJDsKxnN3xWoR9Yu
FLzr7yO3xVM2mE7rGjjyaoJVq5jYLwluCI7DwCilVveKyY2mkoapyhME2wHvhWwU/YZSrWG7RCA7
46QpR6u7gfoqa0IOlkjmme1kskesh97+nuugwj7LMqh1a+SOjjL7XcwTJKoZICqZV/ZoK6/NCb6c
HIc4+IWrtDBofTY1q/cVtNnwb7gGI85SLzTnBKtOk261ASIuzDVmTD48BfSlOBQ2j3UENBjcdZJb
IM92cEZWCVrxamMXQVJa4MtmrJBVYgCHH9GBjy+SyNMhgA3NcC+l7VhCRlOavkmpitFOixFBjmnv
VMpeJ835vQU2KkwMem2yIfsDjWfXQP5a+yZaGNS3lMJsSTmz4ZChQa3CwhEN+sAwgbvHP8egkcBg
dALWGmoTP2QjSwovn3onmvECHSCpJ3kgnWF1GpGruFzNRp6dh7pljvALBYMnDvCU5YlO117g7CM9
47DRmV9NcTG6KkUZ4uZNyl8sPYNWOeRTx5zYPZxpXWXujYKUCdRaXE2vaOYx6JewwDJnWCZVdWad
pYW06XvSSqXsJnWWGYEDx9qbiulFFs5ASuqkhnVWB0vKAqdyLvcwOJ9VB0rajdxabzLWSe9KDXZ5
iB52rxHVKSYcUImwTAK5m+Y7dAadCGqKTuxWnaGNQOHDLcXNmlSFYS5snG6sFPSI1ewwG71aS2GP
GpjBVlCPM0DgBuxYTVcrsZrqMeXCT2B8+gMiInpO6koeareeYPi6UlkHFTvDZEKGBoKkP6Pbp+kr
gODsPWXUeoekGp5AaZsZDrGZoxwHA8hT385TrA+hN2Y02E0+BYImGV3PFZ/flf5sDtJrIL76SdI6
MA/WJ/WRwYx19GwmDaOfzensANWeWpGoFRsmElZeKhvIKA+o4kdlhHMVo4W1Lpk94QPkeq9Ofi1D
T9WFPkbOAb9pG9RMTPAKA0U6I+ABXU8mgGnh7pUCkkm4YUkUfRB9CkFokmDg1o6j5KcojGUCaSz6
iFYItX1pMlDEFvDIxYftzgivuO6TVy1TUGMOQs2tkFUDf+ZA7WhuNXLxrZoy7nhYqpCVn+cM04a2
VwWIgEJQLZyZjA6g1lVDvwJ8ty2+gxyeVG9yYU/F2jQ62VjRVqfSimamCkOvBNk1pCU1qh8Qn0zu
GvgL02PQvPlnWt0X29a/tboPzY/qxLofPxg64v8/NLjPbL7/8H/axv++wf0v//nvf/uPf//bf/r7
v/z3v//tv/3W1z7/zz/72pJp/4EmylkaBN1cUMvOkjt/NrYl0/kDgQh/DWo3oBCW/bOzrah/gBQA
wiQANQB+YLTxV2dbUf44A/zOoAXg4YAoUP+R1vaHYPrPxt/5p9FzhQQp/gTU3VoyduYUxEyIiSOO
q6r0XbSc7jFlQ1bKm05e5Vw1vdoE9qVpdNNFZvksbDXb8n6yHFdDOYKUHMQmiHAoGJ/1XLtJJRPS
tkoDGpR+ZpS7qNq6U6LwDh6TmKoRntXWSqEO/LYqxdXeOcZ+a1Hx2MA8psYRV6Y+zxTH3DGabnNU
/qSVUvFs622H4t8Ze8uXe+FZkGda6bWCeWwBCEBBRj4UpZclc0ddBEsojrJ4uALE+b0xeX5dZzow
oGmYpkHvCy//t8bkgGoUYOtK9eAXtKntanRHbj7IyFthsTU2fyrS/mNzpK+2ze8b7P9u4vT/5CwJ
Y8nLW+1//ut/+V//9X/8tsM0/Ic/dxg+xR/YPNC7xBwDK/ksGvbnBlMU4w8MjfCXcNCCQOWZ8/hv
kyPV/AOwEQdqbUCUwnv4rIHyb5MjVf4DljUfMApMRs5N0n9kfy0AyhLkA8G1PA/uf18oHB4BkjzJ
StREymGK7GO5Uo850pItu7/mQHGe4f7cw39dY4m805NOnmieKJF5M+zpAxkD6RpG9fdm8c+fXkxI
LCeHar/AT2uRdRtH/LGO6kD+lrzrVyTJALS8cPfnp/qlE47ZmcWE2stRR3l+ZNaM6imBN3A2dJ3P
LIPVQB900wauGqtZ7fv1MKfxauzlKUDjhaoka/UQVpYY8o5QdsuLpiUtyHZeG+epp/YalHzPMiVz
25mugaarZ6NcC1hm2/6oqz18BrPGH0alc9HohAyyTEcPAFjLN5vYJkPXn2V6KA2VzrQfbaUwAMq1
kzdFZvX76OTQsWkMfVW1A1js6ZS4XC5Lz5lNAACyqoXHNFyrQtMqdxWtZFdBMdRXK+bwxscQwnSz
YqArWNfbJOdSuzaRM/oJKEZHGS6xzDZq4FzokJ3UFLZQUDywT0mn6SEf9IGwdmTf5XpA/ybTy7DM
MuSc8Jd5ajNb2/YoskO1hqoX+kM50ImF5NVWWYd9rr4CnCiFDEkeippe2XFqVndzN+s+JFXGbeF0
TYQsIUVpl2hgVfUOLsEmgvGI/WblQ+0ZeiG7JW8R+iDJvc5lKJymmgHLNBojFY7HmTjQP3fLszYf
nG3RM40VbZ1p7XMJF8Rdhs6zX8FNI/wlJhz/XO+/TjN/n6z8XKrnkP3LOhr02hqGGUtV36Ur00Mv
TgtVL7/msbgQd/r5+4t5iTVbSTuft0KHIhm9ul02+NOxbODaM2wcKOXc0moLcR5A/YElJ9ANBJo8
3QCxJPjt14+4gDv8vIfz7OqXZ0S7msfd1CqRpUQSntPaYgBCMZCZehsl6tY04eu1tp11MqTk62te
eq2LEZwTw8ColgotKrVxdBPKVZfNeeZ2A57cVFs1jIeJ+xJVev/rKy54dz+fcnG4wmSgNRzJEZHd
pr6T9HejVfoCCuy0zXYYEPtV6eyrWpOJnOVeblnPGI1kPkxx600ndOT/IWo0MiqPFGLBbZe4hZRB
b8uqn0ep2SKiXHk3Z1TSZ4EXR86vn8NiDLrkVS+iou1RH9+MGErpHjqOJO23xvfhmrf5hxbfZxda
nCKmnWgmVRMRZTzsujs+khhNXjGQJ2skMBjQ9DPyzq/p1tqMcPmUXLUm7b0lHdkA7fJTkx+//jYX
VsNSgqJnfS2JWZojPaxtbxi9SovM5hu8w31nXH99jQ+Zz0+edol7UBSghZUinyONMC/fHsAuiWYX
o5F9vgN9J+gJlJ/Wg1e7oy/7oI0R8Nndfes5oXPTBqeSVOvZP3Wuvd9ggECG7bWT9mM4+tmtLQ4r
Wx6qIQMaOlJsjIp8xyGKuYMAtjv2Xv2uoXRFdjxu4K5LUoW0375+I5eyCHMR26a5rrgwoBGWpO5Q
oigk/YQBNSCQRr+v7ysQnbamfQ23einMLLF//SCVrB8abMAwWVEX8E2Suw6iqbZJgmvv8lJAXZoC
8gSS5zYa6pEZxuHwUK27qHdrF7Dck3NfrfjGDmDj7dNd7Evra44jH/7jn33BZTwD5gRwdCYi1GJE
GK9pdsg0v7NhlREwugfJCFKodxRVTdqRQYbDqoExFcEQ5+tv+eE6/dkNLKIbRiB1BYd5EVXw+0JH
9AHuM3tA8APbyIgtYyhprbmz7eqXPnG8ugVCMNfBObDCFlKMqGsKP8V3MUaI27JXcJNtwgwLGKFt
Xj07WufBGieQJxHB81nYKZCrpgfdyoB2PNA4g47J2h7WUhb19a1d3aGNibEW2hwalG03UvPQy7cD
jIArlHDGYzYPJBEPI1q1sn2j4g5rZfTzVMbACO5O80FD910yc29O3ywIafXxOhZPgx0WubpVivqY
1clmZtmWSjEkTZivtYCM2B7YIfDNOyY6W0/96KUVREHTddLvWGWuJoOTabxFujNOu9Ec3CaW10ad
4kPpM7p9J3NS0PYZXiaOY64fha8xYw9BgDeqDLsWTLevP9WlsGsstp1jpwUbBMKuHaZbtI7lXbFV
Vvl2SN3qqKyYL17tNzma7s1HthtPanRNm/VSnDEWyUY6zHwAjBgbXjqq8GIfSaWnpFvHhW8+1Gri
9okvMPHAm5rbnay9TOrN1w/9ITr8yfpcilcqFnNsVnYimophJzS006DW5GBuQQYK4LrNjwK9YmcE
zoI/VM3oOVCxOA8gDDvUh7ukb59651ZM26rrX2gOUloq/Mm6M9DSHjJ4YClguuWYBsswSRrCVobx
fEJg7Br1GCNOOg8x+3KHs8vHyH07oWg9ZjvE3E2GmVgnNS4GjWCI7EUSKTHMoaHvmaMNG8nmIR78
RjtR0MVKKFjorW8ClDeoSFjRPs+vwccufZ2lGZVsSxP0ShBDhh6NfIWHk+JRBSIzlUz6cqeUzwz8
B0QNx9zYAIRbBqYrZ4Hz8gpC8LwMPvlGSyUH8IRToAKwx3sTfm8Thq8R9O2uZDXq702Ov/KvpWQn
5sxO0zutGqVdCwRQRuGZCJqqD3xDTLLO4YGFLk1QK3Lqdtmkbiyo620KJXfwtCNMGXRYaKoFFq2N
xn4AHLC16uMBQwodgs+Y86If2kil2/M6D4RjDv7IFOjoaPaEJYRZ6FvOoctz5XEuPc2ihBUlenMs
wbtCwjJz+M5qkCnBHHx6+3rDXDpRjEVOMNnFUOmYKUbzZtzDkcg1fEyQ3A7xQfHfpe9pQDfX9KkW
Grg/v83i+JrTRkE7rZgjmoTQanwBet+XyxvUXnGHMHFbOQbhzOMOUFDbOjtgjvH1Y156jYtjK6Wj
0hQzMp8WGkgN4EADqaVDBy2kr39fO//QJ2vaWCTTmDzVRQJNgqj02xfZt5/f+vXoraGB8xCUG2ub
BQAUkcm3VxU5yqRzVe9NcVloecO3/BtO7e9f38gHlfCzG1km25iqwUzemqNc2enjG/RLlHoF2ED6
Uj70NzwNzNDaArpMbNKF0gbEtfQu20ly2KEPIQMWSZT38pknq14ldDNcAe4tWNB/ffklMJYnXSKB
HDxH4C8TJ3vJ7QeWBaXgoXjP884dk8l12jdt346h0WzE4KU0VOeZxA6K+HU/eUa/ERRGFrtUJaVx
heS0ABH/vK/F/moBxciGDN9NBIgH0usQcL/01EcTWduVL3Iubz/5IkvRMnD2hCi5iUUf9T6Lxtt+
14ZIPKpt5lUrZ2c+tUf4m/qNOxCgLx4MTyNJoFypeT44Ep9dfpEGoIEoV8WMCDIXjw4NmTqRGmJH
hu6CmmSqoagknEmY3JtAckEr7K1YZfHDWUKqIPrajknf3ugp8EyG12GA9c2GDvIcDauv386HXtVn
t7fIFQxT0HKyjTmKY9k3pB00swy2F/O2gx4/v4eyaK35YIa5lAcMDrCh2fnGjAFoKKd7rQM3C0Bf
yBI8VPXK0Da96UmVRopKXhd81xubEYr8KTv21R6qT0Svr0nRXNrxS20OOIw4EoQF5qgLJg+qxy5C
lwdSjWcR4SGGeT0xXYnEHiOlm6wLYq5NL8zXqSvcZoPagDC3uNI9uviRF4GVK70xQwkPaU9Kt505
hZb9XIq1ZAFSsJpH2R20PVCJBOo1flMaZO6i9qxcw1RgvoBtmOBPlr2IAafLXK0MqMnSuMEEFBUF
94R2M0qWK3Ppmoj3ggP5c9st4nEuWbU1dudth9wDei+BgjIZEMNvQF94Q01kDRYrpNrL1n2SEcjc
KtOVGcjFHb+I1EzCrBsavWgKH+J7uOC8Kqv5uQZhap9daQF9EAk/W9OLGBx31qg6OS4xFyTZpw9a
0N5iPr2pwnkFK+e1CMrX4qhsTcIepJ15rMP0fnL5g7OJCd0nLnKxINmhZFrXJ9u9stHOB/onN/Wh
RPhL941qeSVNJm6qnlZmG0I1sY5dxQnQM268BvKwSHP9WXpXj3IAKBNMHtPEg88t6GeK3+0yHjj8
XVaPY+6ZEEB1bmCm2Zabpgm0EvkhGYGQoSsIMdkYNT9/fdMfzLnPbnoRnrUSDTwOSGM0uDBPPLSh
EqCA84f7xH/EKRpOoR7IgbLpt8WPry95qbA/z2h+a4t10pR0HJfM1npBpqjeFiEEYNaa1+9gb446
G66KrrVJ1vMRUMvJLb99fWXnwgdaBGouNQUGiLiwuYHX9tb0oL+3EjvrStZ9aeEvaa+Q9qnlusXv
QxMV+DjTdW4BDi89xc926ZWi81KGt5QlZHCSckSBizgn2E9aKJr2pov2S0fMJ9mr18kxP1w7Oy41
lrRF1EvbmHJ+fiJHIexuOgFM+Cj9MNHW2sE41L425LmQPH6cAL/uHCmvxkbgMslD/TreivX4PkXW
yjzJb/WdFPaBeBhO19bfpQNxaTRPh1SYSoOrQa8eZehOwAb5rRi2jPoiWQ1K5o5Hac/XU0Yc4XUG
ESt+y10dcnjQi3lQ1nnxrNUeuhryMUZFF1QAxyd7ezwO2OTsSsK7UB/5K4Iv2evlEEMkR4+VaNzM
8Eut1aAXppckT+Pga+AO19rbwI+pUa1rcwvkJ2m147CGnfNYBvWVrPLSalvqaSgjDHVSFe+KAvvu
ePp0o+L0OkEgnQygxeuHNJrarQVGQoqoemWffjRQPglKS+sJGERSO+sSNZKd/ZCjLeDGttfiu8wE
RKwqxQm7g9wLWLUQVDEPTreT6uNokhbZ7IM6nhLHx3TFSkj1AL9l9WYCCW8mDcz2IEwjSR54rlDj
1LPnFjC63pMhRGAcBRp5zmrqV9NIWhPwOowPfgyx6loIh+MDBGPL4ZgwzM4OyS2M+wA57sSVj/3x
ZJ898SImgrYvmeWE98y93AeIOlB9MLqCJqg8OxSe6ZmE3s5rttW9NmIu3bFQ3hrHOXwp/Ob+6/D4
sas/u4lFfDS5OnFa4rUbrdc0ZHyapXVXBnM4vIMwoyk++m7+ZJD2ZHPXeX5Fa8U+dPfIcDK3VAl/
yIjYN9AbRRWfIrDrltvbbpLffX1/l/oqHyTmX8JEioG8lcK4/tzmNqEAYHlj99ATaTetBuGra8vy
2BbNCBOeXlcyjYsf5lxz/HLNUgwUQv245jSEFDJ+g1v6vAdwzIMWehY0utuCOnQS9n0e4rrG9Ih2
eOOOP5LBVVegoGnIA29q8yANrrmvrrWJLyXHS/3C8zzNyqHJGhmYZsCGOHxQAgQvn3uqS3Ee0AAz
MfJDwcij9xrfJk3Y+sy7h1lWqLj9mpLT11/lg9762apRF2+oKVp5OAfvuvSGlYpzyBUbtfQgdOlQ
z17XmPsSKMM+9I/5Xl9lIZoP8FiA9pZ8SCDPv4LKZPakbBPmT6fZN0/lTfke703p2GSPINb41xK0
SxH1o4/7y7dMiknOnfNpRuNvjR2IfoeGVer2ngqUqrbRqFcAjXiiYYEsJCV0J4nQ+SfP7Y9s6JeL
y1oT8+mcaEEq1y/3+aZ218aNr3qFf7KuVcLnd/7Jt1jqIwhYJoNEgot0WAw8GvwhFKvGz0MZk7DY
c3bdPj3qT7DF29HQDG03Db5eBZf25lJhr9S4Ysc2rmyHmie8ZAX7JUyFtA3WwyH3qg31r4mZXBoA
L8mROkAOWXUuMNI9W+sbwyvumsjelOiqSW55V5E0hIjHBpnQOrlrXGnreNdESi+kkB9Nvl++ojrK
A5BC58e8Uby7iegH2M1eX6Hn+uWz72f8vpfUpDN5N+LntSBfyf4PK+S+E0rra6/uUln4cc7/cv+j
Kg9Ff14gcNsm55OlD03PvgMzh0AGyKWorqXgO70WPS8kdsoif0zifrY7HZdTXTs0N3e3woVcE7nV
8YfwlOCQu+YhcW0CcUmv9x8SL3btKxe/UI59TC9/eVRYMtsg+eHaOdH90kUp6F9LWD+cTz/7TssS
d+4z2zx/JxZ0GHSEIrDRb5RJ63fr0i9vCw/ujEHvA1G00gKFAK6Ek/xoku5V9eogRugzdtMWc2n0
irxr2rYLzfu/UsaPwuSXR9bh98uyP7MI2a+CKRoeOOEbcBOjZp2uQHzw9XAoSO73DwrBaf5eR/Fh
CMpo8lm4QttvrXpWCPsULOpxRddJcC00XQq+S5OPpk0zwM/xypSDiEbfDHW3ObSu4k1EXfde4o5r
66Y9NrvsT3QkMI2fyzJcarwvtQhzMDvK+HzFJhEQFzlk0kaQoxaHtAccyUv6VwXpZelyN/dtHYil
a6H+XDt/sjqW2mggChWpAm5lJN6kJ3GHwRa6QN13ZAuvHHAEuM55VJB5rZ3Gtf6tfbwSgi9ddpG+
Qf+kYd35eaHHczu/C69B6KfnVae4wKhhh2VogCZed+0Fn6PSZ8+5iFZZydDxg/BKJFCr/Yi109De
5JgDFuTGgI6r12DcQFjnwabA+SdzQHmRj6m86LMCUo3RfHOW+wE1JaDfOXMnMqhoshHtBSRJklu3
M7D86ZUm9qUHXYSxEbZe8QRPn0ifXiCc7KQgCF31iLxUZC+1tpmU5VbH8RoNcOHBw9glt02Q7/ST
/NRhgzx8vTwurY5FyJomUJ3NwkT+MRcWCjkJeGkqPzUMCs+OnYR1E6NEmrIrl7s0JfzQF/glFoHU
jRQvw/XaB2sg6X7Yxw/tLjvkOHe84a5b9ZHYpOuOpO+gK6yajRpgZOWxe4rK5utHvhABjKWUuJZm
QkgDFsv4bnjxDt0m7Sk7ZhUR4QRC2Lu2aW67Pb0xb//JCy66ac4ERnYKHdco2TtvTnw3jAQXMjUC
HS7jh/qontLBo/B7/p7EjadcaeJdSIggdvR72kArqxApZK6jAz/Vt+z8jvt7qCl45Vq8O5vkBMo0
Fta29nNBTHRJ20NzX6++fujPNwcg0b9fnMWKPsQFqMuWTAFzv6Xtw9Ab1wrjzzMiWNf9/uvt6LRs
qrGMzBB2qWuIMblAN51rDDT96evrK9jOvvDPx1VzJX7rl665iDEFmNEzn85k7FsW0SzSAaKMSYk+
c7JVj+ULKOHILN3xID/Gj9aG2W7VPKRr43YcV+D4A3EjMMxOcZPpbnrXHoqeNBv7W2N44yMI++qW
3pRXlvill7+ITJDJT6bZwq0CgOLnd+mVs+TzNBeaAr+/dWkYHGfo8bOm8RRDT856mdht8gzirJ2D
qRZ+vXIujFIhRvn7ZRKrgrTlR+R7S2/hW7LWAtUg2RpagLFf3WkqMe+MnX0Aifze9AqCIwW94X17
7kOwXR3AlGeTXRtbnDfLvz/NjKU+t3Akqrc9VtrsAyCM9UVd2S0CI4yJ6f3QXMjs+GlwTUf1AngI
xpy/P7s0p709NbicRVI/RXkGaZQAEoWB6R1BkXe5j/ajZ264h1exu6Yvc6H5CZXG3y9bzL0uWTO+
7LA5d9BUqLpBd9zN9xTeRlvnlm+HUNmqz+qdtIO0kaffdG/9lr40N8gNUROfVRIC+Yltyl13mPx4
qydXtvqF979Undd7brIK7P3IYE+FjXQdsB8VcLtMljEZo1euYl66zCJcDU5nJKB+KlFh/m/Ovms3
VqSN9omQyOGW3DSd7Ha8QfYOQJGhCMXTn9XWOZI3Y5qjX5qr0YxpiqqvvrACIHJJNlizzh06LnUy
7VekzqZGwL+fdgqQ65RrHHi6g3aLbkH11g6PVOQcERBL/db/7X0+xWYFgJhmn1pRmwm0FXTw+QV6
TKlNyVONdgg8oC4cwExSplug5cJbC7JFVom+ZjTB07qBgIOgjD7RXUN+GzJnLPVdxIsfOYaw+QAS
gE/iZwM62gDxAno4sfeWXFshiFT+GaoKHri25twPNQQFgkyIPJK/ZM0pS+Kbap8bqa3NyQOmTUpq
3T+2X9XbDydlKYFUqwkv9GOHVP6XLJt1bXOfUKdoH2kg9l7xi48sqCtWLxtPW/tgi2hc9LkA8tmM
tJb7nFobOgMOYC4mw6w075ypPKuT3x1ysMwxZ2x2PXcz6gQApTbhA3n/N9z2xk8vvIiyPG3BAI/w
E3rwdyewkokL1SafNuXGA1bGcHBY/fdYTiPMtDuGJW3dwWZO5hNkgNQfPjlH3v0iD7eGXe6Je+4K
2NT9l1pp2UA89N9nysWYtGXcI6v1mNMdp72wJ49xkNhCoLrUA1eE7Uvv/sNWw91iYpsnOcRtNVAT
RpFdFRbtpHi6shlGdkyx4eyFzjqBhZrsCTqE45jkTFFqCtJvps+mRCW/Hntod2Y2bd9lgENTFaNb
0Ffu/7qv0eMPH3g5a1FFquR1iahI9N1s7BTxL1xu0tKRM6dSLL6agXdQoPoTm1kD+oYciLPPZ7s6
MavRbPOAQ2Vf2FkbppjDKZmEvRhUYwLqI8RjNSsT7QaAqL5hUB4PgfUg9E2WPgosOyY7Tf16/zUW
ap7/r/5XlkwvGPc1cs8ktDyQIx2kN82XHocTQYvalop3tQrhHwDtjSTErwaPsn8EslhwC86anyKg
5gFIHM1i49zejucPS7oUz2tKSmDQht2ls49Wv/ZQCLz/liu5yVIlO9WrClJANQoLZkFqsEVjHWbo
g7LrjCfQ151iy+zydiX+9AaLm6Ig6KbSCW/QpaDqJHChkziHaHvKci9PDt309/4LrcVTbZHjwh4U
vs0VzgZGuqfqownGp/iiOfkHBISeh/ds44uIt2Dy0wstIimA5F0Dav7twHfHNsx3UOqwdRsyLMg2
VMBpUBlB38Hk9/UTRCts/mUr7ViLNTfm8/cxygBgRCEkeHR7lmRrAFYa/an4XXso/SkQf0kfOuRH
5G0Y/9q3W8RToU0notxedbS4EypdZ7YnP3FzdJuYC/UD+02zYmtytsbya89bxFKjT9kYMTxPwjjG
MK/UbMItatkKrkBZ2jTLOtcrOY8/TtFZZ0d4IJrEnxwR+eH9Haj9vDGWtJ2kGgTQtbAB8/xdGn8r
l2Y38nYybLRP1oL/krGTQl55jG83zeBWweS3pyJoAmITF2P2/bCnTmWPJ90HRyuAf/u4J83GHfcV
wH/Y8l9Z4LcuhDJ0IyXQsgzxVV5zd+BNRYQytAe5DgFqYrXPCdYNc+JzkMlDvyp3utqM32IIiPUO
20sI0HZDgSpiuc1rlmanJ+l8f9HXuhNL1o4GscM6GrHqDTDrLhQmdtHvNDO5B7DX9vDssIfD4BV2
Sze+8krzX1nydpq2bvUGNhZh9TyH2btk0xRoG+0we9EjxrbGDkMv9Qh5pbdiK69ZKaWXJB6GeiMT
bo9snOiS+bevnWIoBN7G/xjUlpL2TSZOWQQ1dIQzNB7HC90VgfSCibCdhSAI+9AqsaGIEuQfJXoE
vKddN1vaay+3CDJaqo0Qc0JaqEjwdrlWsOyEd7wJqS4SJPtkozBduUj/wybIWMQZDZo72SRarJas
fPTv78C1RseSJ0BmTqQkRdpT5TZ5i2cre5AEqz1F0lvBvLaHLajdD040WwpFI/cxlh8M4YJKRXsa
xqvoR/syP0JJBywoySIXgXqz7MR/uz9JipzOTiMXo/CAoGXjK9DFax/v/+61gLhkIMhxFDN2i7aN
g06XGXvEFXfA+3r6w//4hFuc/xY3CiLVNbQdb02tX1EBVTLI9o+NWVb2AG2xrgdC7XmTmrx2MJcU
gbwZ80yvRnwH8Fid4VU7oZR7oLvSzXbzJXmOHukRYNL6o9o4lyvX1ZK5xJQhYypPbr2OJhBKU3Gg
PTT92eyD3q69H8Lukp8kc8MsMNwqkBzAlnpJMPGqD7yNoGb+3vhCK3fWkodEolQuZQ6RfRDsGked
ON0AxTjVK1E31+gUGqH4qDdoIQS4nV353LIM+B+/3TiWa89fZDT8kMk81Kcx2kRh8Dd/HIIot4at
0cotx/xpARehRYh5ltQNx4fzaTpFH8NurKz8rD6ND3EwjqbgQaIKHF4Iqqmf9xd0Ja1WFhlMpMYT
r2d44tBb0PGmSAWDakdTqzpvcRRWmpXKogYkEEdIuBpLhrL9M98nsnn/p68s1pL6oDOlLaIWfzca
Z7jPQxKXO0JP08i2Ls61ByyiQc0btVFPOjQoUrSBy6t+idG9CY3LYEWhEHBe6RQn7hpt4SFXQr58
23Pfok/Xx2LKMoMPc6Wyu+nSSA1UnxyqHtME0gmwtvMnAZzPY3VNlGvZX+6v48qW/nLf+PZYQZyH
VLmtI9AHTzgwh2az/l8ZcilLQXMOFqzFFGEJ4yN7JufqWcJ4UmLW/JGdtsr4tTi6ZAzkrSEQQOsB
8NlBuflJ22uv0y4LxNqE+BDIFsSEQuEJ96cem2iY3V+1lVj6JZ30bdUgRjL3PI9VozvMXaonwcv9
/lPb+vNrH2URCVg0EAjXIr/RDLTYeMUCX0f+7LWNX79WfH6x7L/9/I6DSJOasdtAlcEVqbeGESKN
JkAz5jw/RG6Tu71g93RjYLGCKIVY9b97u1LmpsmgxBJq3EH4VA4jCPjEjHfJJSqApUUXNASAeeNp
KxFnCclntNQGvsM9dCv/ACT273/ylW+ydHrQ+alrBS5CdFY7k7JnDgLkyrOiWIaxgSX/AiP/cAEs
QfJVMbTQBtRwvQQ1oHwKOG5pQK/lWdsDox8ol9KuTx1gLZVZWzzYLqqb2gmwLkC0P+v7zulNbbcF
pVkZ5ipfOJhvmwRTJn2EuxAaoIC0lC4fiF6GxmR0rfd9iJGMhcaWS4PkqPqj3/ucjfzPloEvU97u
r/hKBF5C69NI0akwooJs2VkF2SbFpJE5HM7E/b+/coiXqPp6hM10w1VowZhSyB0hkmJy5+jh/h9f
EUyAd8K/e76vBuhs1vjrc/6ehgndT5GnvQ/NcyTaCbr8gKf0ibk1Vltrtizh9IxTOYibTyiJwPOZ
Hf1CSG22wm5OLMwgU6SX2U0z0AY96jnZmtSuBZIlrJ6jKp91t6lpM35+SK07iu6gus2O1LYIgQS/
b1+id5T399d0he8IV99/15RyWgTdfbwkCWfAsCbDhCerCxkiu92P7mTWVwxF0dlSz9Pf+G36SE8d
VGmeu/P956917JcY9SmeNBJDFiqcXPiEPffHOJCOGFXa0KcLSYCO6y8VWNvyAR7m/2NWKC7yAhi+
wKrk1ke5YX2VfRVobnap9ylGlNTi3vg9vVAvcu6/4Rqq4CsYfDv0otYYej0geAru8+Ailz/Qa+OR
h/SgfE5htKvCxK92wNFj9uPFFjn+f0B1V0rrJdQbHnjSLKe4yQEr9YUBvXNo/+203JwrK2FOAfmk
Zss9dSWaf+2wb+8pwJfEEHJkW4lkTRAVfIzyt8l4Fl/ur+Pan18c/rqBwUHXYaNEo40xGQRIaf8A
zh3bGpyuReevfu+3F4DGFBTS4LsWCrb8NO/EJ/hQFF50ll5u2Sk6SECQMqA7Ab7GuQjI7WN57yVK
hy0fsZWEdYms5hS1GQit5FCErq0plvGh6oaNq3CtS7FETheRQmRYWWKSUCUmqXfllRdd1ETyTjJs
ariD/hQ1ENB+Hksbet5c7TQPOtT5m5eqedYhI14WrzrZTVrQRzB5HhVoMJrlHAzod6CaUsIB1mry
brqZ5cWcL2KGqBX7unXhPGE0w0a9uHLDfMWRbx8JtgUp6h/kWfOJxk8SfWDQJkldCfooWz6Aa0n2
EoSt1hw8LtNUCPnn5Cr5FE2wCWWxmR+QF1j3t/Nakv3177+/SKf2WtdTJNm9dukl+ZeQPIkY1ys+
DCgm9leGUUAGFxcMNN66tHjoFYhPcedOBK1ZqU61sXWtfrVHfsiRvhqr335JX+pKQm+tPz7bKwyM
St4dqmvTPzTspEbiza3P0l7kkwhSVEogtea1bHaro1p7EgAMCWSw5s4u85tQDcXJBH+C98mpkP9A
JN6FVB8h+JtgAk0QWnaKijcTgNa4lx763bKXCoA6Uhva3GpuwSlGFf/wIDUIKTHl/EA09M3G1JTk
oEwPbTPZPVSYZ6AHwHrQacjL7/e/x0rd/pUEfFuEvJsNpa4xOeat9lEN/gxBGQwe8e7/9ZWDvcSL
M5lBbCtqEYeVXzx9i+KNQ72Sz30lEd9+NZQE46aI8enm4oRGfJX4RsXMeFOiauX+WIK/Z5WISgkf
wnAkOyWyi6chkALBQcY+IbG7vzZrGc/XMfz2EnA0JJw2oEkIw2UXkiFmvRN8WMG7kYtunXHON47c
ShWzhHWrlQxPWjnDYknAy+dvWgt53H53/y3WpoJLYLYB+wYeuwgbCOXfSYBqJFTqkEYVfrsDKmmP
9rmDHd/65TNwywF9br3suom6WgmLS5C2qMPCT64StD7NvIAXgik/l3s9TMHjvw0mDCv1ZidxACs2
3rSNYmJt8rIEaFcZRPJ1Bbs63w1u5HXeEJJrui8ceFF4ugspHv0X/Ez+x33C3w7Bt33CGI+uSokj
OgbTSQ+yAyBF8pl7yE3B4l+MM9uoM1YOK3/bP9+ek7TVQAoYpoVyHpsSIFNEud7fJGtBfwm7nmhH
JT1G0Bf6/pBJHTqpCfAv0UmToCamTI7UwVsoeoJXmNPMGCFHkq1woEzCjkitaFjLkiMPfzd+zS11
+iHw84uUKoLmqjIT1FPUHp3uoT8Uhz8Uiynauj8cko10e21riv8uZ5Y0ddWJ+GytkIW8OFjdVDlD
M++LKbNbudiV3bRxCNcqRH7RfR1lHm5qKp4FhaMA/L0AuB8z5LwKbBFl4yFr8BD+Fiy/7Q+xgrq3
dkPYlTvR6bzbQ2InO4hvsg3EoQcabLsHi9KLH3OPPGlnbpdAZx4lhbHxC1YGN3AZ+/cXAAEEoMPt
NYHZAEWmsVIADsBZt7Zi8u0P/XdnwJ343wcwnQx8K6C7lLWwhsDV7XeZDVcgMCBp0Ccbt+JKE0te
Aq7bGYq52oSV5PzOjL4+GXgkAZg10B6BJ8xpCze19j6L0DFzc25IIoIz7RzgNmoQbNNdem4vWzCd
n6sTeJv8u2BKFBWwLsID1KAzkR1fpsMWMHztT9/C1LftRoesV0iFPy1pT5L8PESulEEF5FQnG/3q
nw/of+wfG0nrNW7CA5jg9Q8RNFUMILIaULMtNdq4e1fq/JuO/j9vMc0lrBApHiIXDoT1+uojyS0d
PdIAJi8ZOwooMDrIDcUm/HYQ/P6Khg015NSALJR7P96t9DpgSfrvbxDRUZpHAb8hwyRWtmhx0vIQ
sEcNenew3Oafdbvinqt0tMnk9fRVZ74KYZHioLsDxu2ofeoDF0J86vf9H7QSruQlVppFaVzAPAkZ
yeNgc/vqKDrpxRM8RTHBp9hoQKwt/RIi3SYqB880lEyUvSjVrmV7voLENPQEZ/W9gdWV3PtpUqG+
swnml4kIqX2fcXttuvIf5WimMJW+/8IrmiXyEjbNlZoG+x70CJRRPPdx66ZvackseFX5g+LCt/5A
pEMqXRgxVSQV5BnqfoWw4ylKiUPBQ1pgH8Hk4P6vWTlYS6R0X1eJETX4MRwrrZ6C7iRC5lwDoRpS
nMkGaOcWYX6IpPoi8qBaLQYtQYiDg9g8Y9ylPDSwSC82roKfc1p4+f67pfsZBmVCjXcoe7CRhAb2
YGCxK1sTtJ8zBFlfxJ6yGTh4SuGiAQfTq8PZHPbScbBAuHQAc0H74/6XWAnP+iIR4eDfSgsdjxnc
/gPK0uaNnsCHWwOtldxcXsKCgR0dZOFW3IkQ5DrHj8zKT1mg2tpr8TG8iK8aFBgg7xQfBCs3LGhe
ZHYMZY6t4dDaHljEnVSoczjQ3F4PsJBs2kGW3UgKuyYb45mVAL50P8iJxI1Jens9kIObI9IBS8fo
eeOYrCSt8hIO280xp1IOaT7MvWAEMD6Xrv4I6XdHH83engNqaVeGFqZyyf37+2GF5QqjlOW2Tuaq
utXLIjyHEBh8wa84+NiZIixqMaOB0ySst+AG6GVnOPa1R7bx5BWMHWiX/z5ZLCmfViKePP0C3y5v
bQFgLkyLndiTT7nLWeQZuiF4U+OQXWH8h38GZytNWWHyyNoiWhhpbLAMzHKMq+L3Cl9zdmUrQoB8
jP3IZm+Zxw79AeBSG+Sd8oG7zK0JFewD2atu5fcWEH/Jn41vcNudP0SuJZw2TgwZrpCIXKNV2qU7
7OdL50pW7XXBlpLU6ndexJdWkDM9UYDdgxnZazlgNa0hxFF8juzGglxyGLmKI7uQB1KAfto4Lisx
cwmiFcu548k0S6Gein9h9/5Y67DHKuvy1/2VWznu2iLVYej4J5WKhTNOCciYXbgFdVxLYLRFIMlG
6MASmPCEZSh+oAmOk/FCf0ku+mV1OJybQ/qELeqkXnWuQrH1YRWaB8qbGLKNpVvLWJYY2i8fyC9A
cAvxng+oBcO2AuwDuCN/pKM1/dHNJN5qyK/0F+QlnpZ1c5O0CiYnA0C0JhmsGqj73/xZ68w5mNHn
+gWl7O5lDMYABq33P95aTbIE2U4ax0fstiXpa/HcgMaBdPSXakt2tKMOv8/cTVrtz801eQmqHWpJ
mJsJiIf+gYNeg6l5E27W8tAgzG3U3rdz9MMZXmJj4WM6CHNKMYvVi97XxXG2uqxpN67ttTp0iYTV
GxUSIgL2Y/wB4TnOGSzIGsXWk7CF2lgLx0vgK9xeWNL3DR9qj/EDxq/kOv6VnwHlgU1BCt+2G5dQ
OLOgPIw2HNKZXR42PXNu5/WnxVtkJZlM/i8eakYRELTurJ0Kz3BKCBFkrkac1t6yi1+JGDfXsu8l
XidMJJ/lHkAlNMNhW24y9aj3cCMvt2TQVjKsJfpVI1obM/E2Oo9ciHa3nM0S6NsWgPJwJQyJjyq5
bBygtW29aI8wmAnNVEP408bHKbWj9qPXZEuDAH4fv3Gv3PSabmmbriQ+/wGwRoaSyzEArGVqS2Ca
1jta/O4Nd9Lcqcvt+y+08nG+FNy/1d9yAWsyPmqkMBIS4UMldQFjVgJZknaE73tdGMNGdbQW75b4
1SERo1io+zlMLAJH+jgjcDh5zSO7B5awsCH9bUtQdqoamEDu5NkehreyTWxp67StXcdLPKum612u
wWQ4HKJgrPY9480Sklelw4MoCNFf2L/O0JIP0mlXwEj+F8J+H/8p8rAu+I3t8wWY+uHULTGvEdUK
A7r8kKttr+AJmgJsYcf5jdecRArJ5MwRdBr1+djXx4y+syZC0iBbQvVapG7UVNaQN0/jBFtJHszN
prRqpj2Q3JegzGxMsdP2jVNIjVVEPjodEG/NUZJ5KsSGhWIv1rVTkI8Rk6ibb/rIO2J67bTfrHfv
76XVT7xIeFJeShs4/s4ht48C8W95Bboi0Czm5sfWFy7VtczMR/K08bSVU68sIlhqjKVQDvD+6K3Y
56HgNDqY+7rxTccHGpfJB3q9kPiGqrW5cVhWBNVkZRHKKiHSBRhQQSYZ7G/x2nXoJJXlSYwh8JQ/
dSo4GvFZVqDxM19LoniJCnZ6mTl5WoaqNp+a5gpZEhgV4AhAkFhVnVgCWiExCzJZ0H/rmV3LlTkI
JRwRJlNLHLk/MqpunMGv0PHT9lukWLqW0VmTRngARRRyExinzLI7K/Ae1tCJuOqgvnQdziVaNL3I
PDH5nXHHump/QxzcjPNfc/YBr1aPxX90GK8LaGjtRpkzW9mn5IUjpx7q4NCMNh6jzMvQ1U+hZKGQ
cV/glKvQ9u6AnIpyuxFeVAxyeKU8yZVX15zJ8Rcp+QOVE6tOILWWcGZRvk5tfhg4LzecDkYZDH8O
ijiGVB40Q7e01lFB4R2rjRHpyqAOH+nfa4pLtSajCsSQefQCBJt7EPzSRsP2udklAKxxG0PNlai+
xCETlal9o8gs1IFElyFEbcawwYgrULPZ1Rje7h+OFbKqLC9qzBQbKh8V6GIP9niAb4rhZn9bD+BN
xRc93L2difngLOhW75FQex0EB45WimaKVjXWphhmaF66D9zN+qjzh8TqOzQzoaMxHCkUQ/SNDbkW
MZYg5l4QZHhD4EAhIGflJ6TY9/JpdvibFFH2qlmUgggPkoklEHur0Fjhe8lLCLMSqZSHrziPlnAN
oHx3kWcMF8D1U0/pS63bcX2ahetY/4LpM39pIovp5qS/ysJkdrR6EcFNBPXrV38z0sXUik/dYTww
ZiW5XaDppxxIom5U7GslyRISTUTwoTkJKaLQBU08uwbBmkAoDTILgtPFbwZY+0BKt29wGN4oEtZ2
6CKKzzWtp4zHIyEN9gC77Z3qd+et8nStylsioQkru6y84fsHMBM8VN/iUamxwrvhU76iTQ4RfGgq
7tleuRqX8u/w0ObWfBYgPe5V+60p11rXWF4Ecgaf3Srvbof9ogbkDV5DHjkIO8HOgmGfn4oDOh8c
ZDGL3zJ+yv0zqYhfO+yH+PsfHLUuA9ZBRZgQFOQq88aFZ681l32WQ3+pJJVqQIUkggn/Z8gPQaNA
6F8l4SFV4qBNO7vtykPVxLaIKFheWHTWU7dqL0P1SBT46JWZ1WDsAOtEU4LrUzxN5wjSo2nBficw
r6UxO7ZK4esVpvOkhvsPgWCvCJnmrEMC1KLYhKF30cCGMm33c0TRhRmdOI+dEZqXeeJIETiyPH3g
BIOZraFCfqRyDVGwm0m24R9g6uKuLMK8bw6j8diAJSnxO2DaHFrqCThvJyFyKAzXOfEDV55No9Ht
ddjDpzteGSwBr6vob4TIgOTAc4I3o/6zqOACk+dvzKitUvsbd4avT52VzWJj47rJqFtPL3zhchQ9
9UpviZXHkEXIhtQU2TmR88KUhPoYFwl0/dgInFM61u5MM4f2U4BkSW93sMsKZEV9j+J8D9/Ol4Hk
tpGVT0oyebUsvyVGbk1d8ZlM44lOyU4wvL6GEigteZ9SwwRTQOxIWKcthJRknEImkhIKSnJa9mZX
KQhckuqUM/wcIHElvmWZV4gBiX9XXW/LUADiddlMiI7oW5raAI6rPIDK0dc8vTSj+t7p0tFoDeK1
Wq8Wjlao5NdQiM1nXzUFZFkaOESUxoQVhJoWTJ24qbRjuCvuuBiOHkXTaSZWkZlDq+G/hAmzw+TB
VCQELzDkndKAKjTXviZqG78qVflCinea0yFUMsUTJsWuhkz3c5m9Cx3L/UpSutckgTS9IZd/56rx
5rGDcLJD6GOUnMb+qVVPSQIHeVhp1C6j0EkefHgJIKPXyuSctFYWGY4Ue5lgkShgZQGLiAIWi7rR
Y0KzaxMYtl6yhoGj9TuSTTE9S+DhJnsS7wri0zqY2lOHVDjJIkvqazuC3NNkQjMvGU2e2lBrxdZN
EIdVu+C8Cd4CNA3lPuSZ1csXCFLnMiyjYY1u6tzDMIVJB0iL6imthQa25ui6IFlR9szPB3hsFCNQ
ki1vt4IZcWyf880hgmhIgTkKpNDO+pw8GDBsZGByVPVxzB5r7FvtlfGwGGvg4vmo6H1YtX+K5s+E
Mye3MBURP+DwzERpeOho4umZ/IJxHahVGkoSbrJTmQDuxyfQr+4tVOlWgjMu1NdSPs/RtRrFaqeV
/AliI6e8FQ6t2DoNXL52jMYvvaC7sYp+4vyQCccCjLBpfJ+zao/XYCNmkxyEe7rnqJmtwaB7xsfQ
mjCCUYqMHZyoHyUmP8DTVrrq0dj5BaxwucTmpCnfKwRNCRzeuihh2FRCyApbQ8YAq4XWEzHrirfk
/EVqEnti5Ar17ZHhmyewpm00t2qOwzw3lq7xO01yiqFwpgxGK61bTPPL0IDZDau3weCQi5pTfOzf
cqZiUYvTMMJDl4OeVDKgVZ5CSgPWMFyMQRZ1OGwVJU9dlGdgW8JIZ7xOAnFbbbYrRbIqrcNH4pud
0Nil6PA3khRUX6qw5MoYwtwHTrMHdFV4iGo7cI2yb39HhivkFJYKRKJFwyOpYrgN31W+lEC9w1Dr
t6aWz7XIorCIH8fx1Dd/KGlNOA9T5mXNVcdXV1N0i6gNwD5OR6HChrznrU7aq5yf6mVkl/1xhja5
njYhl+S7As3+mM8Kq02NawRzYXvAbShx6qNIO0hoc1mABR69Jj+g82TETk/NNtQQ2U48WtfaeaCQ
dwblJ8kv/GBy+TvoxbrxCMcVfvhUjUgxOcA13nPD45kP5xHQdIlq0dwSPvF/NvOOUKuGIYluCqMl
AMqIgYBkDlByV9PjCP+iKuRhzV48VMI5heZV6VAUMHHj6sKeRhdu/psU4LaVv4QCuhfwDNGgwp71
8dPQJj5H8p2a5E+UNFBazyrR64ogwaCj6QpPHxLNlUBfgxO7NU6q1+G+6iURnheZ1fXtZGWQoYUs
p4IrTUEUvEk57mPpikieMtgpMUgWvSsYJcTK3kB9JZcjtBu02lIUP+FnapVVjSfElB6aUks/hcc2
dSfFiXKQ5FRLvI1ngbcsPEnTPLCoIHA7aZagpiY2jxN3ssVVQKCkIPDE51ER7VmjJqfDSlE7dDAo
0mME0XlX/M1niKKAL/FQw/Egg7j3jqqZRSt41JFyfJO7/jRRqKVDkBytD+aUeQgruUyEXBmc7Aan
F4JacrjEaSTMjKFqQ/Fc3bCSMaWQk8GqfaTZsYNSd4ayaAR58VDOOylDLSn/kXhQ9GWbVUfCPxUz
Z1boBNBAUx2hw4ilfYJ0lKd0YSzbcQJCXdNflOpYD04HyS4ZjQAYoxawxaKP82UAwIfQB3AYy6iF
c17pQKVb15w+hcmI/MQY4lE5uSo4253YW5RNMKy2e/5dJ781+D9QlDFu+qfXESRAQa0QpwB4AWgW
AvHCrjIkSxRdQXCM9trGT0oVSLdQYarDoSr3mEbFxVFlTgvdX3SoZbPSrLpGnHvjpsdivlYoWuTe
HqKdCDJY75XUN+D8iR7f6xzvMX+UcTjm5APuW64uGqGhNgdkefDtHdHJ1wTq9E2BOETYQ82UXYwv
Wsf8SUYVmtcpDQnsjsq2xTgK4zlLbmbHmKeAQLXDifkOVwzLTvBnN0shcYiqfujvSeuk5YxNSyxJ
Ff24y/eQogqG2+Kjo6uPmdvDIbSZofReuQMCfY1vgc4NnaYAgheW0PR2yY45pvRDo51bahk0yBNq
i1PjsX4oraZtQgV9ABVO2rLUnBoaitxjJOX7TvyAgXTJItDa6XCWUu4MyonVQCAUKpPXXkNPiQtU
DvanDSQmp1Ew5ckiOjmMUyMhPJUqPDqrdt+LWmUZM0NmJfhi/NpraBn1soakiu+Q7CEpS0TNZcVU
fM4DLnyiSTYpXICXoRNvVJ4cqy6Te6gwdXY/S2aP7j+alvxBq3F+sx0uAU0G+7qaA5nprliirBRV
L2nG0zS+Yl5sNnJn8dAObIvRFuHByCrZSpTQyBXgsku2N+YG9sTQ4sDFlqqP9di5YCTCPxJusugF
GFwB+2Q+eS0jzeOiDx4tA3TbzNkIDO0Cl1PPiEUYn942M4hAUSmb+qVtPaWIgtrQ/zIpluyBcOei
3EU1/yEQ+Fel+NTK0HhiPWLF0Jl/ohg7zZ7+CCC5ouimoe0B+G6QhcztO2OTZ7TQRxqeC+Nd5J/p
/CwzpHVOnV9m2AEI1GXw74HUdLRLoFmJVMASVfIwitKfAcQoi4eBBnTfeqDSilOT1odqMERTKrmd
WmPHcq2vDa5YeXxBfsla4yQGhYTubaxYzTCPhzlrW6rOmKvEBO18gs9UvG/KYgxHtYOZYEmTXcKm
YIChjwkW7MNQCQeVssSX+OGtwh3ug7RoeFX7IczEKYnxZ5rgsVoRa1CfiYr0HZB99NnTM6zdYcop
FJ8ZQWEyFDANHCGVMjR2lwO+xfoA2eyuibh9KRA/qSMPNqPPkO/byzLnsREpzlCmfyUDZigxPPoU
mNpr+jvPNCRp2HYqXNgRLYGSqMojLue9BHRx14YzeU+NN15BqDhqmZGYGQ58OcDUE6L9mVOjydQp
ncM1CCXDBH0ajLv33TzB3hlULDM1+iScqO63kXSqtTZUMHSL62I/TwbkulAMtJGbx8SuhBLLV/O+
TCsMymcWTnHhpnNqKeyFl9X3ekKZJpT7QsCBQseVKH9I95YgQ6JFDTt1MAGcRlGcue9OYkotXnIT
8f+QdB7LrSNLEP0iRMA03JawJEUjUfZuELLw3uPr3+G81UzMXCOC6K6qzKzMrx6u19Kqm6Q8NbiO
dPMLmagPpSiuyxCzaWDxJxGncx75G9R+JcakWGnatLe+qz9WzQ7rPn+tkvlVBZ9Z1Gs7PixV8ksy
CJmhJMaRLTatEXUR/qaU8KXZRc1zTKKowht4G8i14izkXt6cuWHr2lP7Yw4JrfirHZTFzWYcoNe4
n13RHAZbDZWKzDeqfzvzlpAg/myO7b5NuXZb3V0llKHK5yw/G6s7ZmwOCeVXLcZ3ff7hJXSZx7g/
nKgsvS7J3Chf3Kj9NkzixrXfevI2s31YaeT6OX1QNHknDb+GJe0UUqmrF816LFO3NHHhBuqu8W9Y
wFK16kPTs6sdKUR6SPl+ZZ2kNVbuOCjUuXZV431LisNq1S9tinqgL0NVdkoZQ2uWaArdNe2DSZ+o
fWexy9065P+EyUNyUtYwMp7cGDapJ9LniLXU6j3RXAvnC1l6sOSw/IJg7HQnJuyn+pi1d93a0yVs
S5D3IBnKIZ3J9uiTg2n7ekulZkw56st43WbrFOM0wb6R3FeuBN07DLS0GKZOhjNhAzXkeKbSEw0/
y0ZyEnEX2nu0Bhm+8R171mkZe2p2Fu2nwfqSNWUESjLaTb5snHKQW0wwyWkbcr81D0Z95vbsqDBT
9qDhSyc/qhhLLpyfZnAtmSASMh6F5drWvxgvmo5kbHWvw0FGn+tLgjChvfsPl6pvbq8LK3194QyA
TqQAKPuGA9WeI83Xo5Nlk1PmMOk0dHyD5I7medBK7qJjMeB2u9lniy5Y5K2nYKQEIDx2uavkIwFm
XNl02X0Z72MmLs3OvZhpQc051jKc2tNaAfoObrPGJxzign5goliGgzQkvq3gmZnegYSUcKHWi4ff
iDTWtFj9dqq54+pd2gVTHHR6gRPkSycwpwlKxTOLiA/RHbMidutMozdOXUNeLnNt7vUYvl1oP3KM
i1PZhZT2qzQLXyr8CIfF5T1if6Oriv0qe5pxqMs/k6tnqRg7PAW4NMr2KsrKncW+M0zOfmz/mWI/
Ia6v18++uQq2Pqod/NJA6hw3QLGj+84nr1h31S8RRru2Nl7Lfq8m50F6J907kGZCKiy263Fh4+lb
g0v+rWWflILOKDralNqpZkkta2pwslpPf+7WkEzLpjk+JvU8f+itvHyIqO2BKq1RHCSp9rV5CbJq
8MAnWidJct8gHToamHxVdqWz+s/irMVVhyH7LA5FtxzmOA1Um0wkY7tuisrGVO4P67SvlO5nM4z0
RAv8bMtxFSI1cbA6eh605qkt5784ZnAT+BBEUWIGQ1I9NRb7U5FlP8mrbewWI2F6WSPSf6XHWl2d
njhqPpcrr+OXVUxJEEfKn2QpXj1GP+v8lLfnrXeaf1r7DUc4svrBzDO6WuEU3wbOXNnUeet4b+DM
4Vi/SSo5Fdi44e1mBXeyxWIiE6cmZcHPMyVC81xl3q2Vpyz+UH/WKT/9TijPot8VjZOI+3rCnhMr
ai8tDpbi633sRJ1PphAQw1q+409JI1gh+XUH+aiA2DUtYfB7ksJs+1rWWEP+GV/KRbxqH9LqE+6t
BMroKobb9H6R3sbsNOq9A3OsXweKtR67gBVssuKLnSRBXp87/mvBx1tA23Z9cRqzfYX15uRUWdDi
eGlftCwwCM9GVFyZXkvMEFNwfJBodOoXAzem6GlqVW8sd1P+nRp+hOpc2YuThhKx3rAp/DKzfFdE
UJ6vLVtrfZhpx7Js9pkREALPqus8fCWjq6b7KPuVks9oe46H7ynf9o3id9g4NS6jXwVMGHeYBO9I
8u1bz24utblxnSJni8HA8gON3NbUfmZ92lN2LnQ8hQ1+GcdDJ+igIWdYVM6S8Wrk+/ymNTET6FOb
edSSNXPVCu+oLDmhJg7aPnkQ1oNx0ZsHHDMtHGiQzTSu/S1NLVO2F5uvJchEdemnvbKRCJ9D1eO3
1RrM4ccuO9AmSOy7y+QcsFRpv5T2vtHfE4UFxGJ+MsS3iUFvBsBESP3MZVa9i45MTMnwRPtQVm4i
//Qqdr/Vl41+rvxrpqsO+6+xW157OGQqOgDHSS0/wJmG5BI1+1a/Vfmp0x9qnEKRgJc4hSJukiWP
ord2e0Xd0xBs9U8VeQW55UXpmoB2g4cd6k4Fq8qW4b6GiCN8Mhlu8kdJiogmXMRL1QuuWX+UAFrI
bh5PtCMNW2bf9Hhu24QKXmZvZb2zvigq/Wv9q7d+3D4Xxl7gP0rOPQkfA5sdWBoPmj1dorJ+JPl1
pzU8TILq5Sc7Cgj+TKwXPotZP1Y3kbzGywWvYWl76TQ6myR1srQ6NwNzPEO1kZRImcbAkPlw2yl6
q6SNlWnCW/S9wGQtb0BujoVdBGaVceLx1rNdJblKB4GHdIVz+EPZ1q8GVbKgCVMThtniVa+v8bqr
y8do4JU/GYwzleAbQBIoC+yfyStdndi6rvnN3jbavhPM+tRdkKvtTPNhra+V9tJGZ52GtoYFK3wt
cic1LItjyp71qAEe5j64VVbt+6eaexBz5l7llWWuuTWVbxr/xu1QSmC8Qfuvz8OZxV/zUyP7TaZo
sja4/ONzmUkwy8ScKd+VCAE3d0V90FMf9xLCA23TH385ZZLtDSKEAZ3pQLZrar401e9YfBpt/wje
jgpB6x+awRE53907P2uVfSxat2s7KEPzCbGozdfX23KYgEU09eNSfqzpecNaI37vq3hXao9ZFFTM
4/HOtF/E4gK72eesAwfTAq3ao85yTG6qiUEMEKggudB8U9qjgewoT44TrSz3iOF0Pe/7Q0bdHw3G
eYU7ZZNcoCFaiq7a0wExLKecR1L1eBeihY3qHc7soF42i2y2H1Hr4k9Rf8/Fe985gp0i3FvsS1VX
Dha9BliJcuxrcBTjgohhqkjrC8zsyuxUqZRNo9iZ2qtFWxE59ebIKGL7xxYTxpLi8ZfrV62+loVj
xEGs/eh24erGcx47RbZPumAUISQHZXgynZk4h+YF3+CswO9LOq3VrSeDvDmP2TXp3/QKAPfYS7M3
sTOQFf8We6/Jf3R0rRQ7Bl2KSh+THPONFbbclRY0OE7bkoqxq3jn6V5k+pFd0ln7ORK3oY7hT/h8
OJyQb6bv+p+5DjkpTeJmXWBlYdfRvDz3BMP18W9kHI3osCGCTVyzCKafNqNVw/qINX3dS14X8osX
V+0v7A3TC/YMeOqzDeL+oBEfbTGiAC7JnOWUEhgYoCRStm/jwi2619wgRb6E8DhmI02juZf6z80y
HSM9lBgF9rUjm2GFxJmkDZVyGpjnfPGE+rr9aumbShS9xPD7FrEmz71sVI5c8u0TjOjGlWtyY5Un
pCSS/tMDtz6vwgLb3pWYxnfcowWBwoMvsTBJSiyMwPKzCG844ka+KkiAgBefqUBmhPWbGqrGd768
d9eawpKEKYYntGnRr1G8zSiBgbIKrlrhaEPkotGZDNpzYEfwj93c71fUkrr5EWunXmA1k/tzwkNa
XtT5yJtQtGCEjsY6Xuva/VkekHYC9rqqeEsBH8zrtLjYJmnMkcqrBN8tQJKl1nCnBUgMMYa5M9vf
OjrP2Erbe/FhgOcktM3hal1qAiPHnWHhO/A6S7WL7nG3rT93PPAD2a8pP8jL44KkiNG/qYO195rM
l2enltyo9/phj221nP6zpn2eVe4yw4TJ46M2RbvNtII4xme+f6wWThjjp06yASq9S9Y8xZPXNWE7
H7qXlixgHOb/mD0jpJDiLUataHnRbURQ/mH+jbmbKE4t41AfqvaOLR9rDqfDAH8weio1+lfLDspv
KXDux4UvjoQ3xv+s4X1RHsWzhg2BOj3279oa1PxEmretG1DlUxUrIT0IUZwOU3yU/ts02dGQbGGe
oFfmnpIMLsO0wHMI8jtkx9V7ifVPJeWm9IbyCFhvq79J7Bb9V1oEIK0ki1vLiyId+87NlzCSAwY+
40/kptN9ZOKnGT8BeYna3mX/VFrqW15ZvGTNXdOg1UEJ8l6co6Xdd8YJHntXrA+CqiuNoLB+o4EP
LkSTfo44AFiP8l9dPzFKFEYo4nrXLke9pkwvzK17M/9ulR9Nf7rj/zgocbOp5fU/YOn+yold9pAm
IdYxtqPXIfwAKi4ZYCjZvoxsLxNpKL8UfOUzv3ljQTq/gTfv4FrN6Cbf4E16Qg6NJWiXF724ZbxT
SYMLNx6v85PYD8250QJzdaPFBy1BEEYYAO7VJepGZhlOF8ZAQSfvW8XnfTOXfyNlIX4YdM+MnDEO
oqZySYau59uWYHlwtNsbUPH8PcatU78LceNrl3u3wOLbCKbOB6qeWXn42oxjFhFrYIAljE5LUyO1
fGvrqw49k7720u/WOSovjrnCexzvQQTirmNz7Lh0tMazldodyx/cHszYy65b96YJ8BWFSoj1/jsm
a1Ie0kU3qzehl5Io/0EnkAAQ1Nd9kWJt68dCD7I8LBTHpnclIsfClmsILIs72i8YfbmFiJuXyjAf
A46mUfog3BIphsBJhS/br8nnOjCpl3BTqjMloW6eFWR+6mloQ1v9nvmP234y902+q6S3qHlpPis1
OkTZC8zJfeixR0T6Hf5Y/Xt/EkD63aI5WvHYGUdlopgrrC2/2NHbkiAKqR2+BHo1hUZ7090MSoyb
uKdzNmDIp5083c3eUzev0XbzT3ujo2qexVIeF4OhTfgz71bOGupOejZYdih/haZ81Aq7twVY3gKR
wXZVp2pUjuNauYPRnMz/l3cSG2oSoNZ5dhJSmur6U5B/wOaK8Wi26rsEALGT9PHOYdel03ew9pQh
C+RZL3NQItJq4v6509pDvyZ7taodY2zCron+5Kz5Z0/Wl6SmQQu1vMuN1BF9aOS5X87CMy1PNSYK
y66KfcE0e0XIhIB0ZylunfyoyZeKGkE9RlbACE6KbqftleZ4h+ESVzb+oOzLH1vSwlTDrZqdvfrS
3sY29sb1b5w0FwVKT+ECcw4Ff7KsecqmjcEytImD75k/6V6n+JvlV1At+pj+LcZBhTpZrPGjEh7D
eNs7wppPeYt58TAd14FDXIKJqazXAFKr6bl+svuPWJf9bMYPrc392MwfgQD8fLzHd6lP03Qf7AFq
F4K0m+7eJ8v44lOClm7x4pbrtdlOYGrRNn0o1i3Vssc62mf8al2XnoR0w5SzyykTOMRfk+RE3ZxX
f7PpsR70v3j+nVFaxyAAOxp8LChMVxHHGemiRjJATHqAw1V7b3phhoc7+rACfA/XOQ6r6bCCxEJW
QSVo8aNdwV/A8+x15bgZQO6q1+TcgtuhXoGJ9tsGG3eiCqejYxm+WG4VRtXdLjK8mgXNiBSTYJL7
fb2e6x8TzVVuTlfAZVCKabpK40F62oYH4izYoZzMD92KebpuoQalGdpNjLbh18Aqpb6ot0Xblzmm
d3tC7nY5sfDcetPoM3CL7lnYT6hd8GFGTiCpN5VXnz6Z72gW7hIfM7oMmQYBvxYLDzIIoxgjKdKz
J34h4HX/VZgf4xya6n7FqYi4ruVnQhNYQuBdJu5yMdKtlV4OTRwtGHVrSdhPlzJ7tY3TOp9zWFaA
Xv0gBvR2gLvtPb57af1iTEH737HGgT250eTRoigYG75M66VVbsOf/VOkxm5MPSP6bhYArDS9Lcb4
oVAZVn7zmLzVzWeBEsyej9N/ub9z6kOKaoMrsd41TI710E4KrcRHTvdIG1n44HfasrNDm6Sq6FLk
QVHd7OmhmzypuMhwy2N+JLjY0qy39b0F9fyVmbXBPYPmp45+dcvJbYZ+tMq57PDcZf28La7O814c
LGcNZxU0rk71ms6kJSmll6QfTXuSvyx+zZh7S/kT1a8jVqgivzICQkLCHglx2urMHQT1k43BXjnE
dX8UHRwgjkRQjKW83yYmCZBjoD6fszzQO52M4jXfoNORs4yIA4reFzze4g3rm0Wsx5Y+TjVce3jY
lEvROsuMW3KA0YYvjpF5z+4W3tp+LDI8vyO03/Uup0BRY3tMHxqylZZm4z7f5CqNBSqSwqlB/GgZ
UPrYLPpmH/2zwmjSOIMWLpunPdnXqXtt3zLb4X0ABAWsUGLILemvqP7hStaUvv1R0Wgq7x0wS5yF
cmW7a7WLUciWrmbumkR21WtaQYe7997tY139KArZBJKtr5Yg8QvoOSvWMEUXm3JQKzz0ORDDoRmZ
aGxCM9RjO36xkvtgYpYtNl+Cxty+ogm1RPU8f0h3J5jhQUKl0TUEag5+yqUh7xdGpXrDIe8Ua6hi
73UGVkFtvGg8bfE5Xz/a9D1OPFv+J0PRpeLNyO1Af1hkbzHgHo8FCLwN/UPihZwaL7Yif42ldIxb
Kk2EQ+KrBbYvNe9GxjXrJuOngnv49InXfJK7zBoVKkPrYdWxuDL4chDqi98lOpSZFMjw10m0l2ce
UHYbp9a3yzxoTTgciLvt0qCliyFAEWJPD03EPRG7Bke7qb+z5JyCTMex0yEiibvQ6kpnJZ2NgSHp
vnTpWStnxEEzmnzWPTkhsUnzjvSxSvxsq+ghwLUNqlRreGY+e6uOHqeIAR60/DIU865RzNMIo48x
suRo6uMY34iYhOuObQRSO/rtyewY7/OnpMERYCr0Dg0UiInahLlBuI3FFF4WfsKsCPMMYjK8Wc2n
pQS8lwzjQIrSfOrqz8LmnUgBXOhOraQ+K5bqVNaj1Lv3Rz09iuFS8hfGxSd/mpkhY7QeC/ETNdhM
v2Uy8nyFAVx9lsiPT3R/2QZsjhh26ZMjVOFcFWWo/KmA9nbig4y064YcMlKFWxlvEnnr9rHhKtw+
a/urj+P7bzny/meoYoyYMeEkTPru1FHF07wkKL/KD0q2pQAnmsZuQqJdmvm/3gBCLRY8bd7AQVjT
QUAGMfAu9w9V8tfDw69Mu9PfJnr3P6HKZdPPI9R6zIzWcifKlvVe0xKl3ftU5AfNQpOVZAeVHzy2
zCOxmMdyUW4jngTzoRLPUX4VaBnj6FXu597dbOUyDlPkdeq926w/kiILyqO0fNgK+DVCN2fko4yv
qf2kqpO/FId+g6eKHqsYREl7HOJDrcIcPilSqFveZkeuMf12tZfArhjmXpQO3a5e7VPpJVUnOu1v
o/4SQEzpsNcFdMsu60icrEDec6xUy6dhHs5ZqT4VAqya+LKkPOjYKJbfokMuMawyrDNx9tX2OfcU
0sS+4f/MmVu6L2NJXyQbrr3ZdL9SJvgnlI9aV+/bkRM+jDr3mvk9DiAlVGBllqxwzK3PKFkP5PQ9
x+NhUV9MZMU1KwRp+6ZL8WMPqN0xYKSmNJ1S2H3gNEt2qhRiN6dp8XVNTvxG1Z9MI05vmkAg1Mb0
9NVW74Ud32qT1BuBcLT+VuPcU3VtL7WoGcvtbZPvEBBXTiyTuq6eiwQmFyGUiO7KQOZGYXdvpU2U
nmRNBzFP7ALgq7YTlRqOdhI5bWbmzii3U5AM4ivuzNiHCUW1sCYnK0JAIrSJ7FCF7r66RJI/FKFQ
bPbbXPYOZm1+lajvkX5dp2fGzy472ha7E23qViiSqi/dEK5JgsC20zvGqRwXeotNGKeL/1LpSSPd
hyGUVRlbmx/JNoKEUxA25Ao7ZsugERPY1k+FJR1bRZodS9I8HV8OlYNqu9ZwG/XUVapw1T51C/5L
DYqBt0H97BZG/BI1RVPBlcBZWneCDvveWnNMjIy2pj13SfNmGMotpm7Gg+ohZheHTNEvE8abwAQr
XawFhEWmO21wmBpwBdqHSPCoTJJp3/XlwzSPAlYrgu3CmTexgraV+TJZmHNMq4ycSOrFrmuF4iUx
z9u0oUlGNVtdCJ5TX3XXUrUdi1tEWpqz1v+zM0LOMRppp7Em+kh3Fxsdqq41P7r0YNblPo1HduPG
FHy/DOTook9+RnyIzVqWRiT1Kl00CydYnAKqc6bRODt0kaYSkt6gUS2W+MSeUkrXuZYvq3GQOl+1
D7UexMttso6CNFPWAzhtQzM88lrH/kDSBXSW2MDqMwk8UkMDpiDNUrxs0cD9FfOFVXXKfIVJU7r9
65fuAL7CNFoPTtk9N8RNxEw3F+htyTyK5MnQvR6rid61U3AmiN6UyjIyWRRbyARgsyDFSqtleSMb
DZqH/MGvCesaV9PVYj5us49baz+uiT+iQBhVBsv2NZm9dhzDttD2rRgE3BstU4bmENEz9+9r+1QD
p47Wt8m9TfM7TJ/FYGNYo3003Q/AWdRV5yFOz0odFur8sNm/wgLsLplQOvWw6r2/GjyHRtpbyZcm
SDuRXNbPcIs6FErfOHYlf8p2QOSj2zXIX+wu+uyqluSZLEJEghpvUYQr1cZnaiobnQ/BgP34Nihy
qGbJbY1yJ2ot0u6Eo0cpSohaQoc79WvQdyZ2n0s92j9T18jeKK+WKylx6il69KvU6FE51NrYEyjZ
DMiGM5mgglLXav4H9EHSUMm3UkbS2ROlZcb2EQm25sIAcjr6sfTzLAvH1j4mywKTR2oMKqYZQr5e
YrCxRl+cpK99oLa6FkjOJuAba6qyY7a04FLJtWWprQUeGfPqJEHGaZMSbigRl7H+mBXbT638gjz3
nKfZY3RfUNTAnUba+429lRLVjWEYsieP1egbzV0hdl70oywy62lD2lnPhu1Xd9EuOndnTvCXj5K9
Me02qwxtpP46DZVgOsnYTapRKWi3gSPfQi9FZUfLNsieMX1O2z/Rhipzp4acrENpk9CesKMnubHx
1KvnxbTpdRqXZOtI1XfqwI/41zdY/0XGQ44CoaNRrky6dOMzl1omGMlwl/KtavIXxVqNywrNDZZQ
MJrf1dtKrrnFdDGbq5G8Sh0o9UGu6vuBq1J8J0vjqzF40bR3NC3+mLOOJqMgTrT2r0HKnzuT9Z7G
caClkBUtKFwuC9tZB2tP3g6RRX89njD9Qo9j35BwdNNlqn7y6CuZgDs5wtb6i8hgpsMuM/bxB1CK
VVa8zvC30e/ZjpCvkwjM6DFSzlo0JNeczU0NFeJNX7aftJnmQ9a/WkUwFMavXqbkk0yBjlyMLD8f
pXytXYwZw/2pgFhxh8bJh+fUUB0Df1hzdgrUuLk2hMNdeYdRNNqQxUbza3npUAAxXOv2tCYInlCv
WmoJy1+6RtKFRoIS28PezlyJQODt2s2YS92b2gp+QobZk0K7kFiefKf4IjtBwtWhApGZupt/Kc5+
pcL1Kryums/bvE+jo2pdej1zYq6YfHqduidIJ6jluYRI9e0K5A3Rqc1ariMpuj/JlDUYmmTK/01S
csnpxkV3XKR/42z7XNqPqWh9aX4RmsB6dWY3QXOrXNIfdXq9skDOMPXctMVjbFh6OHQbHiC0/14d
jfCmyiN//qQmDiImGmQObZ0PDymTWFlup1ghlRCcQgMEGqYMWnW9WIVxVzEpQSmHRf25rTh+LMLp
NtVRlI8hqg/2UvA52ILNP00T7RS/sb/DgfCQyl85IoBV+50JJj+wq1FrReoChm+rwcopSEexHWzy
q9XNLZsEgoTQwtKKZ3QFjL2Z9FtaBgpS1I0I7dMsSGK/wR+mBsDO03BqVov5bt9a03WRV7Zbpj5t
MFWF0K4KiGsxMH62GKIY/QrmoPnT9Je0pvWEMqDdTUk1XscERJ9rf4HXihNldWWZPQ8boCp7kMes
daZGvJrIUFjwqA392lRakLLncujYSmZxRapCqyQHUaLxHleLA7sholzUKHHvjk7vTYPv77q95dsk
Id4IlUGuKICgI106BGp8WohAakxh7Vo1u1SSVyAQGWsM5jSNcdGUYBZki63HogvVSULSuoAB0og9
jlJ8i6fCXRfNehiW9XORwA01Xe5cS0U9XJv2U6uQOWYvTyCueffW3SflXo3/aht79lS5ajSioplz
p7bNq9rDKhcXNXpGpV54efavJaljeRs7imbT3iLrUcPAGj3hKGPBb70u+XfE8NW1b8n8oXC5Jdbz
YLwtOqiu8iIDGmZ3RdBbJiCLNf4el9fmbM/sDkRJ2z6YKyRTpBdKaKaJ+hmxrVpCnMYbnFwdRa5N
cyVPvnYf7kaI82hrbZBUcz93ufgcttab1ZaF5uh5SadQi0y3zBflWbZ+olFyKAt6m6avSKQINDAQ
ZHRaY6IInqWvTo7ZQMk++778jbcElOyt2fp9m0WvEvCCPD6nC5BsYiC46fUiDxNzUTk+qHpr2S15
/XbcQ5ZuKiwCxA/CCAv5e01I57M0dMXad5laJ8CLcbNk6GR6E9ZykL5xj+s1F6YZVNWfVhkQjAOW
RIsyHuUlUTAL/q7nN2NkTwhMXgibepcH/VqGBihePH7WuKSPyTObWMjdUSFOPG6uh/llnJGGCrli
WslcHURF3WCHTJGGA200CDrY1Hz/NFnnV+0jtGzBJG9bH70pP8WV/a9sShpo8EtjLSW0BXdzB0SP
QVl2r4NBewfglhnTCUPiTPLRjcfDEpgsRKFgFhAiltt1TDtddpepky2xSyToDQjtUkP1ohvIv5tM
j94BfrnA2l9Dbb4mvll0HEqCdBSzvfyKkTEwifQkjWeLPBenZ75w1/YNX0fULFrslDMoJ27JI2td
ysg9yTBX1vpjyT+VfPOGadiPMiKQzToSD7pjrXhRELV0llMMaZBGKznGwDPS2xrzjbXKqTEfgCBP
3QTwbRlXJa5D5NNlPHfvCzmy1VizP4RaDYdnc+DfK9gPhuV1C7Bn2vcdB0vH2rD5myOAvHqx38e8
g3pOmLolNpxLQ4DLiMZnOWHB4/SMrL3d94VthZvdAr8m4qHKQPvohWQ3ru32pI0ozSylQ2wsHyKV
Zjjr3SzTmepi3sJenuhL2UTpdbTpiQ1bKKJHYzYAkEz9LJnWzcxbR4nO9do9GHT0mpX4vQVYbDlc
Y8fcpl+BAIv7tzZHnDIvYS20C2l6UHcv8JArOxbBPP+qrXksM9vDAO2phf/i73sG3e3KOYyndp/y
Yyk9Gv7ppVZmX8/+cfGHa10eU9sMoz5gOE7Gk/4SodlpGrK9Ua30teJEYLubOTnIsA9J9BF13I68
KIhrknR7aGLdH2C3xbIAxVovDRZx9Uyci3E1kHqzbg31LDvt9itQag3RuG+rfzYhRtg/3DunGW1c
9WOPb5K4jeYPOrAk/YxliBR0bKObSp8zPt3CsPmoIBodMbn56s7NxBJZhnoczg2IPxdXLfuI5ivt
aT2AYTWcYkQXkunLg3RT6y60E83vsI931jsXoy3xnik90CwU8GsdTtLb3OaBgZOtnR7V5bVhGUmd
CEQTsmOl/Z3mMJSic4pJAoy8H/qZiz3DsGX8tvU5CYUa7XPd/JcQDDu1RbCYglhxFt4qFm9KBHlq
bqAyQ5hgKMeUPkiwvBn18amfbvOcBs3K6p/RHDRWCFgK9DBUvO/Bj4InJU2QnciuTLFjRp5Yn69B
yxiTYn055Kg9dFC6Mrl1xpeU3mTDZb8I+drHqn6pzbcJL6+0uLqOH3W1sQOazd/rUrNb31QfSp1d
mxQT214brspiviSbjH9BuTmNvR6l4tjYWMz1xMJZewVULGOqvD+HOOHHNFlB7PieWGiR4+QHURL1
+Ah2zNni9qzNPIj/x9mZLDeuXWv6VW54Dl/02Ki49oAEe5EU1WUqJwhJqUTf9xhVhF+mImpYj+QX
qQ9pV5UOLYoVjjiTk5IIAtjN2mv9/7cy5OcRpcx9k9/67j2HGT+jKLxLvMk2uSyacFEb4ZtB4rS7
H6RH4v2gcG9bg9JVDwBA9jrE1m7NeYOUPOf/bR2hAze67iQjSR1R2tpDu645nAgRxDNVpAe1GJzR
SLaDb6h3NJpCE6vVeCaDul+IBgWuonis3bGyyo3hTRXWa6q+WPHtKJp5XEoIXNQKSVZiewdh9C8o
2LPIXrQuInK3l8kqZ1N0lLnJo1KSzecI7Hhh3TAu0qkSPtEdiGz6fOCsC3ZDSyllDZyJc89ay2Kp
lHQnDFCXpgcazSxrtZxbzGbY+LrQdlFCcbkW7raPtHs99JeRoTme3WPEWOXhSpFQliJtb3RHLVdp
eJCEe4cZog7eus46ecN3w/uJ1ZdSPqdQ05Ac1b9TjFMoabcVefbSyg9SL89NXSwzUzbvrD5CCeVb
2pJDHACnpFtiRfwRdLiuOghtiQj1F8uNoM22BV004+4f4boUIypVIo4nopAonBVYgZuG92T0y9FH
c4Rhsk+/CfGC8m/U3nKKBRqSh9bpJWIYFpT8SZjjA2emjcmukyrURmxPPrSYoKT6tR+jgxXvhoJK
h5c5QRpjrbAQDQ3rqB9WvvAOElqDog/3RphvVc/AI9MbyyZXVQf/zyI2CrJO8rZwyRoEuf9URvIC
fi+PAN9JgGI4q5Z10h28yp17lFeycUCXP4aOJiwnzjo0dFWhvOSjbfqkVkC8St8qq5w3Nivqmg4O
JK43KuK2jm4AJm41J/ZI0h617pmFt1G+iWGju7y0OTZLgv270Qffgmr9jgA79+4ZH7p9Qs8tqo3N
kdkVD3lqUo25H81ln93URBJKQdJAr1edcO+ZX6kMTk96zxDJa300L/WGWRLnCBPtHKlUmEuOool6
HngVD1hJk21cdbDoSPKGoVNycvcCp6BeU3Td1srNO7pW5U5lZKequh/8laY5eqDtcjLEivZYFxkh
tMdBYJHFrjYrCixp2VKm6qqJfh5P9CVOK1p6DPsG4/g3LG0bW05XnhKpq1EZ33rzriM2y8dbW/qZ
9N8oh3NEnxyhNMUBzGuIce5m4ZJybTwY6DbFtkD5IKq17CuvbZUjMk62PYkYNd2K9qenjcjPgzdL
jcmFS+x9NlywpzoL9j0QcDq5iVd/5LDmauNOp4I/Eks0/RG/C1mUYTGwkQ9HiYndygZWBGUWNP13
LEO1/TPQfinmeqyq28Q4UsmkTDzgN5aKg1+mjoYjPzTKfTzelnq8olnqoqR2pCWnMn22wqehZB/E
ay52cYeWvUQurh1K2FRRKUhSTvWKZWZhnQqceFIhUp81CFpRoVWjtS+lXxrI3BjfsFlig5lESk2Q
480XCxxEPly6ql7TZ2ieBP6CEu9Aq0EVx+0S8bNqirnXtk42HnQz5ZepyLkURAL2VqkgtYgQFUti
Gq+H/CZRb1TiG3lVj1uYsST2ZyMcJKvH0Do+TYUvb5HlGxy6AVlJY0PCSNdXdXssmnlCmsu7171F
kRJko87W34upqRSJERE9Sqg70EmgVPJvEJPPIu1VcH6mmoC+SmopvJY4dKVD4yNFoW9shBjP5lCu
arwjqgPBkYqmZLC9oqwo3GQeVOmyG7qbvKK4sQ+aXTU8D7oTmsZcjXZ1eKr6vYlgVA2OuSwxNP3o
OU/0jSUET+/Nzm9LKd2aFlXe0kaViTVSeiXs2HAsJ92HUZs80qKKfWesxTazbfrpYdziiJvV1LV7
40nWfxlJiq7L3Abe+BgWL7bSJPhWsDoUneLgTnUGtUb+EK2kEIGs2HnTHTWvHNN58+ilyE5j/Wt0
d5HW+aPcNjcB5ZjGAhxd7qTWwyYmLfzSe/DCaVQEJ8MOtgVPWnWVJVWXuVY2m1rbC3kwIKISwoZe
RZu8aC3X1QGzMcHdg/Cy7xg1EABQEFjSv2wRqhs3ApTcGohKhjF1hvbVMDTSRQ3pAS9fwcUin1py
8u8aSOXWXLWHjSIPg1N0OkjO9CYLY8gsPlFY2tZkV8zW65euqGlSVnDsLfpmNWYkIKISdyeZp6av
HoMyY7ZXnkxrOAPGil6r6q0nKebjxO2THZPzveO1RrOxFRIHnk0uQbfRbYoemSgWKCwp0vCtGI9I
OyPle1Rm87GCVIAevqD2/GyxtffefUERyMA4YZdLNyxf9Pq2NDFLDPjBuj55TyvMzkPlEqM2KPuV
4smiV2+ZNIRfXf3ma+pNWShbMbEg8uQ2h11kZiJYZ+2pJHFMTW1UoplHEkxQOLYUtkUsM71hLAvz
J82N4ByF/cbt3j0syrbPAc53T3ZLmJSKIT+mJSI1/PUtJ08atxp4+zrl6E6nx5xSiCY/x4rxHfSR
lDWbJA6fNQ8/bpoMdxa9BO7Jmq4JPWudnFd728UInxRcDYuKuVY2dwJcD7L9wH8b6o0aSAtZXQir
2VBdWeWAnvI4uffhZRE3jUjVYAsSotOZAXXfoP/womOSOB7ybFShwYC6YbgNoJrPiLPhByD99SXr
NhnHuda587Ba+FX1ptb5irnktJW/azg5aZE0N6g+WjGl68JdqWSG/P5eHwjMzHtB1tWp3GGcW0lM
iA0dS0raX8k04IIlbctWmnmDYKdw7zudboaiWOVTeEHWrch/YPltuqUIcLPRn8okR869Yj0o1CUi
IpFRpYZnlFlHGQ1fyPlCiYA5m/iP3bLvCSWwvOFf9IPYGdOUfXysDlYnTZ7IE9mdLHwoiiXGW7z4
twHF0IHT2yN6UfgBMnfdeyq+MZIMSy95EM3CHe4UmCzShmmJpTW3l6X0o6sR1oTLxpj35Q903x6N
ceW7yt363cOgbFp3HXmS0we3bngToz21nV69j4vl0P1Mk4WdvgRU5c0fgUFx6qmmiho8+6wV3ZMc
LyyaUHV7lQSnlIKnSTnPjhXn++S2T8iYC2USeQY3nkVgc4xYNOz2ZBpO2h/U9inV70VrHiXP+JGz
d8biQAzsyO2B0mQlN4+Fv23sbxrBck4ePG7dbFHZpnsUTTdXK15agMejUTGBcVgpaE3SNdbRLoAd
Vqjss9jSd9pkqi0KAfKTsvi8hHGeKBWRaHWwDaQ9Y8gSNSbkGBPtWJeosbRsWDeSoBKVVVvXylgW
mkFdtQiw5gW2KyX5VshvcTisCrwkQ05723IcAeC0Ab9k7AbN3ShhuSnzYh1LuKViaaVgAhAQYZIb
f+oH0y/88acv5sINj3JW26SYzW2uyJw8FNTTZDU3NkX/irRe3j37ER3gU5UAxqS2oaw027pvM6J4
5MC70iAgGrDjFckPuHM3vswhOsMTHPqn1kpZfoeVgJHTJ6vaPGrqUdU2gpQQFUjZuok5qlfDXhjK
zCiKcqtbvuuEvvGd2gTAEcrcpQ9CisKizxtvFf3NU8U6xOMVjVS0IxT4VDn8VmOKazNTxZMFIEsO
XxOB6tWnNDOo+or0ba4T1IpxW2rRPtGq+0BH8ivFj5IX7Fy0GYbkHYwq0GYix4RWh2tb+Gt1xBAB
Ya3PBgfURksBMD3B/plp5VMe4mfoFpl04zYgo4fEmOeT/SiiSnxqGKoti6s2OZXNiIWuKEzU3aam
cZ/1HdltSvPZzOW06Ks9ZoGgSmZNIX+XCvdZCikLU5kyTWgHvvHTZLMu44WCMN+uNn2wNAPCFX/4
5YXhLrVRsGNUIIIyMpJ0w6TsTFeN3SwsZGy+ki5c8+R7wb5Gm2PIZCmm+DzGgZua9lYpgTo9qBYY
OQstUERil8paXTghnniafxu4CyvpyVNLx6YyUMc+go2TxzdC1h0ahTOO1HbT4WdhIwORKMkAfWkH
DFEiubHIGpYITJsASRGqwJlGPTCJ00WlF3dulh7N2L+lb/KmT8Rt3uzDDqhS07wjpAmltZCOXmQ4
IDe+K66/cxNTnkc+5gSifMqQ9owc1j5y0TiFPYLir3FUysRJ/AxGdQa8i7x0TCy7w24zk+ev4zcM
z7MJmXjqZngGryATL+Coz5vr5lHYGrJqoODTl770kNd3tft05QYmauEnN3DeYbfQfXmINVXZyXKX
TwJRtdwPqh8iRTSoDilDXjw3UYc11igNInqfmut74wnKSvrooz648j0uMFS1M6p6VKtp2dqoc8b+
MOFzY/zslACXo4O+C5+SuijiOY3GqXm60j4k3yBfubR16RFMX+kDvrWsNXM0LXaGXgesC7vL9FwZ
Q16/IJeHWvo+oj0ntRvstUkT71pt0ykbs3npa0AHFQNMKla1jVcRN0hQfy9idRFK9k92scpfM39J
zKU8TXNWkHvQq5NqDHN1IFKzuanizh++pSzD1YtWKOsA/YdsYzIPPfPF7x7ZQzE/YcmcCxxmbt7T
eqJZh4a0jfUKeT3k97EhosU4z8DW8OInM9N7oCOJVUI4K5jZL3KLrTJdF025VqJ6m/oSWiSdJq1E
hT9jzgdqsVX5tz7GeadRxf36lV7olqmfN1Ht/KRqPb/Qdn5XSSjB49rVIFqm0nOQyTjKAzIPPzsV
tYjeWhwzTVUm12qA4dHrGIOhpfdvZRRPyfs435hQH2H0pFW6qztkuUWklqfeImJRM7d66GwzpALf
KeTwbIRZWJECCoLxiL+0EZV7ZcL/Ho+fzZdpjn4YLG0exVmSyiPdJf2bo5Ns3dtsFcxenadqHdUz
eYVeRp59k+b4BREAz7bd7L5xxIyM+9xb/fLmbxir9jIC78W1x3xp6pyxBn0hqZVkedqNp7ZrwFsy
whWp+A43/3tpqbPc1si5egvykVNlD6kuUtgg7LBdaRw2YFJSkolrQs5tQw2uJZ5eF1D8X8PqW8CB
IwHTatwW/q2txGsL+XrjgZIfKJ11UFllQz2g3b3t3uT8MTZ2/S9jmC5gQSEb10l6F2pPEujHfIFE
xzvKPiiuSfNwUDuBa+tbi+gwNbeYePVmgYbzRP/phXVPqn30HwdjKcP8iGCg7iWitMaxiGspqzNP
tt5zrSBzR+OE43Ix6hjJl2lHHn8FdfFu8oiSfP7VWQh48FPOaVcj77U3uHr5bde8aGw2bMiM+CTa
xVSxxvxIIbnPgRdIW1SmpehnHWS2duYCuEpJ6pAq656sb9SkDe1GY28mCG7aNfUYXHxVtzGBITXR
YUKPJdpDDyEYbZz6s8qZ2RzsXTQSNFMbEYF0r4aOyNpvlkEyHvBdsm36vjqTZZPZ693GpYfRSX+K
Vf02CPdehtDHPiZoKqEshOS9qkU9bCpVR5x6L9RD477Toafuj1pfLIzidUx3+KQovz+VGMtMupXk
rDrQobD6KKTn1PuIdUIp7ks9aMCJi3s1b2/LJn1VI8uxOcgpxDFJysEV+B7Ai2EXGfac41FQLnrw
B5ygCUtnInxVXfqj9/nSp3BM5+vcWyfuSyUfUk4H5CJyXQDkheelgmhBq7WOYpZS7cDGPFJy0NAT
p3yrqFshmUVrOIbAWXIiX43Ob9q3AYcDNrSweiyHbZPuVGQTJQJuhIFFiJc9CNkUjOaXgETnyng4
9W5uqL/MkRQH3f8wZlj9baPvk+QE2kbxNrYJ9ydYEP929HevMNdF2P2850oNvgvff4rSdSrP7fwx
qk95qjpK691JBLNJ2+Ljpr9ZKuZ+g12m0vxVn0UzFN05us4mye6/ns/aBTr67+X0wwrTKGoYyvDV
9mZjwhyyiCuzZQY6CjH4nBbHJBlJRcn5DwkFjyGy/RBAKhiOnhZMOSdqU1XwnjbJfR4PKx3ZVUKB
36ejlqAvkod2piybdVeSksJt05U5CQgAVVZAr2fzSgvez6nSmnkWFdVSmXpWELDO/dIX0sHEpJHv
EYRf6SowLWz/ugZrxnTZD09IR/nmKaSsuXMVRcZrXF2Lhj4P57RzkrtrV5kZV1m8N9RZduDQwdkP
CkFDKP9reNA5bBiO+8270vnpwmMyzmIeKYMsGAzcR8Sx5ql8kO6oDk3M1OzfvMBZZNOLskt1mBt7
1EcjWr2D+aw+oIkfX4wrjOQLAbBmnO2HUSEpQgu5hPfSv6Vv0S/9V3WS7jjR1MpKvNV75dqVJqzs
Z2/9bJtLlNBSNZTm++4X3dnY5yglol++U3XQ4PNy6783V4DBl+LtaXR8GF8NVNeYjlDqjRuR5A4k
NlHWbZRBGbDAr2e5+HwM67/p6B+ukcpTkBJL/Q1lItxKgABLAHFIY8HVGl44E5WOSzleonbZp2g4
8uhGCt5c6OiSOyIn652kPYwolaX3qCAPHkQbr6L4VEpLkW79iFVWITudo4GvyDomrWMktqMh3g0m
t0GRrlxKkJwD4fxFlbjz4zdFuffD1iFvN2dPLZV9Ba5Mq0jWRsFzkx4yJOTwPOyYLUP5UdKns+mX
tvSU+29KJJ/KkdJjmDitj0ZQgQZth5QMpIZeek+Ffmrp+F0nBwQffU4jhv5HHoBOpydDQ/lmsLeS
jdaIiPumS9/68VEtKRv5yaHsMdFwEqVSG1I0C+Lcmn/9Cn63KfrXAYUZ8I+vmb24FfaQYwiA5YXJ
Ee6v1L4EFVkStO4tNggTvYjPcX+MlZOkHxmCqwLuMCqqzi9nSCR7Dd96RMY8dvddYf2SdNwxST1Z
+V5yxo5MUpIsUEuzDv+EbQW8zs7HDoMzL2qQv5vlHBdAYXEWJg6JNkpVUezfd9K2jveS2LbJ1jYV
xHkPMXqNGGllXJ3yYT2E1W1LOSG2KfTmTb2KKfvNDN8/GYH9lrnGPBM/K3fnIhaVMYcl9T0VxUVe
96eo7141t13r/TDXoK/0MbB51Tvo448+3Wj13hrHK8GyculkdbYPyDUpF8OsKCLVK18CYYjr+ruk
e4+6h1Vp6yYQhcEdtFdOHJ+vp7o6/fvHOZWm3YB4Rt7VXm7eW2VUHalEYhhJssyGs5+mQGJiy0Fe
FwHIE5Zx+/VQuoRgV89I8bI0yixNg7aTqpIq7uimy2gw76WGwDBFFZhavYdV8mjINTnQ96SQF61U
oeftSJs0ZLkzkqe2HIhry8ulIOJsWe5125XVyM4gTHXUwhDuzOUX9wWsdUitAdaK0LAYirWhkZ1y
0F7mCMLfjfv8FLQv3aPEWYCi4Wt34O1BBVqNOwlNFDMeATsRBb1NoPG8miVsj7UVvpAUhWKrzuxv
9a8ovkHFzu2+x3SAJ3vDjvatpFcIocAbsaOErGOYme/olqRqEW0rSAVYqGl6t0KqXqeQ2GbFD5zT
pTxLboFhCn0RVSdoKKPvIUTckbNPrzQs+N0o6pM1QD3bVNRBKbIRetQNVPilto621EFukG7OfNpV
S7MHQa8xfW5uado695c2qsuZRLOzfGnS98nkXBc57ozIck0ib/orJ5njsnTgscx1UkEv2gIX3Sqe
Y2c84ps4xCuC3RvwyqhxV1QfN/GqWTc7fyGWeLeuzLuLIeTZBmYKzy3NjLuibfMcj/9KXcknvK8A
pmkv3jlwmhbmhsc862e6Axx1/v786DnRkjhkh628uLKRKlMk89njnfbyDzMyGJuoZ/lW6RBHmdPB
rjKfHpE5Q547hyQwC5b+45U5+Hl8oKtny3lJBiCKpmu5e+k+3dAH4XZ4g+g9Txf/ZiJOPVvP7Brl
SakO1o1ro0ovooNQkf+lfaReeXMXjvK/Ufsfnlctt4Xoo866UaTJa9nQWqcIM4Ds0tKOi6s9Zi6s
Dr+7+3y4TKrZJXz3kSQG5dW8axx9eGT7QedgLTuTNgnVThBW29einQsL8+/h8eF6Tda1hRujsm8b
mPWgMKVim5DphWIHraVzcpUWJ+mVgXAhevu9Rn+4mEYpV49jSnTkhlaj/KJhLDevPboLYZtytq56
upkPka7RncezTm2BBxAa49cD+FJqSTlbiywrEZnpN6RAywxEUlRSwo9826znGDbgavfmaCxkC39u
jpznqPSUlgMDqhXdAvxFYvgEjzSQhaqtASloiprMRWZ7s36UGwTJKhSSAfUlzXFgsctSsDMrVd7E
wpd3DYgKp6/xy7RYx6FbpeJZV4FC0trXRdUWjLZ1IxIFoKjrwtyKZftnA9V2Huc9XoFYzwAlwL77
+klciBuQCf5x2UjNzjUaXUn2wylEDUkjgPckX6pUESZZ/xzpFZXrr6/1+WihcdAfL2W5ft6kEpfK
Ql/ZiLRcot3VnH6Ssn59hUtz+mwxpnhcjsgzaZNRQRACTc6KOAfCMFONK7vYhUOYrpw9r6A0THxJ
XMLXomBVIjAEZu4bi9ZCr2colrzoeqvaq23uHgO/bLZxgjEPLm2IIywfnZBl+srR//Pnqf9+pR9m
nz8kVOsts2cUFoSpwVagAxuC4srruvQwz1ZgydTMUO694UYq9jSBUPulsAHeXOsu8vl2JZ8FkFXr
6lmv0c8giEsS7SBsq32ryot/ayDI50FiHSRxgZT3xhSAb3TZ/lFBdVWr7jVuw2tT58LSLp/lFHDI
+qM6ylxkIO5vQoTuSdZuw0QnQeTvhD0eR22wZoDaHVVHQ/P1vV1YF+XpfX147QVAnKJw1R7D3mOT
PGfhlQzG9Gw+CSDks/VWWBSMy4LP9ZRtlE7kP4TkCsZQf2GOzr/33c/WXTOomyLNpu8uUU4XyyBK
r0z9S0/lbOqX4DOsMuGTJ7RbHd138pUGWBemgXw24RtaniaupPDBsQMVeVAcxNCA/r5+IBfmsHy2
JpZV53mSyqcblj+jQ4erwrK/kru79ELPJjA6ot4Lp29uY0uVMTdNRvr0TuhzdJ5ff/3PH45mn81i
P3G9sY1R3+gq3nSNSrcJHeKNg/bXn/95NKPZZ/M4SLvRg9Kb7U3U7J48ujPFstSN3kIApH2fYKCy
9toxAoBMBVX69VU/D6URTfxxhvkx2rBRT7N9EzSvWaQZ5Om1ZBXFECCyqMGWAfb360td6Nqq2Wez
2WyaDHPQGO6xCkUH+XFMcE/PpVP/qM2uJXEvvaWzmZ0HgchplBruay3jyJEWAZjbQryGFnLVHIP/
tSbBn484zT6b3nEf2IrmVpBi0d1jBYqDJ6vfSQO+uep76+dXkg+fz3XNPpvrRSLFuo4kdd/KIngs
ePE7187c9dev5PMpqdlnE973Qs/28jLc696yDR7C9ijnV2bkpY8+m+0Uu2vJ1eNwL4ERTawepO+i
KK/sqJfmytl07yziU6XlqSRPgNxTTF/A2BSoh/MRluy1dfbCVcTZjDe0sEVBOj17im7tqvxJRSak
oYQ76+GAvH/9Ci7NCnE27weh1O0Qc5UQDFfphC1dGwA8zDDrNdLWxd1QXFnBLt3P2VyPgjqiczJX
QnuMeJ88KgZfUS3A0pd0kbhyQxdevDib5TaNcd0oAz052N/a+DmOKwgdb18/rEufPf37h3igTgzb
7YMkga5w22LIBd3t18GVx3NhRv/OqX/4cDxilaaifN/rezjyDR44EuC3crHQsysr4IXJLM4ms143
bdumXKGpn0ClYSG88tUvPZez+TCkucj9TsJVMfbAf98qTKX1lRXowqixzmZBKpVdiCQn2oeqAyRD
BlsBb27yMjgFEL5rPYAvPBvrbBrocT6kwhqjfQbUTVKPWrz5esxc2BGss1GP9kwvzaCJMCImDBcS
j5ZOUQCFqZGqT19f48JRSbPOBr2mkMERYRDtOy+ENW6m7XBUpLRBHMxypPhkJ0dv4jzbWbhAqtct
7DHV1kQsr1EtpLXitd2VtfHSgzybI7bh+k1q5vG+6o+SfkMTpCuD7NL52Zqu+GGCVP4QiyJO4n0O
Z8KmboB1AHf9rHlzv1eYbOlcdk1+cukmzmZKPiqNL5Ii3oeo0gvrqa6urCCXRoP6x3tolHQcfdOO
9mKUVjoMmZJceUAXAOvanjqNq389W2i/9WAfnlIT66WUp1yhkWgpUANnuXWlX3UJjlULna/H26W7
OJ/vXoAkyaASHuLPbvT7yEXAgPYiG6/1bb/wAn5ntj/cRWRmg6n0PuUiNXmKqxqJsfT89Ze/8IDM
s5nuh5pkl2MU78e39kF5zX+53/HLfv3Zl7722WSvtbqNMYHH+3owDSBx6rdSl67kIC5977M5XsOQ
+Yf8oEF+QM/IJ3Ppn77+2pc++mzO9jI6xSL0mFn0vKBsiSJS1UHZjKFJTzjwyG5s/5tPaHpyH16s
lSdm49U8Iew5dPRqIEp8fQ8Xtk/zbMqmBc3awOQxYmrkPbt0Kd/a6S5/ubYPXfr8s5lrN5WRCo8x
T9NP5YEa/dSFu8SSPKPc+fUt/M6JfjJ3zbOgtc2zwJcnhUljzJJD9ZLfSndsGNoPbe49i/XcXaAh
/vpaF0aqcfa4Qkk2ZeHK0V5KEalZC1uTrnzypbswzp6U37nqEE9bqS9BwMk8OrVVBqc6yHKoICsZ
73ZAb4o0IfHb4Z1zpNrKF8KsmkNdZfoqi+tsy0LpLr6+1Qtvzjh7qrpZZbWWK9G+oI8s+rTv3qMx
icdm+Ay+vsKlINo4WxArucO5TjPDffqG1xu1YSxm8Tf1zTq53zkSfH2VC6/svD+4XWSWTEuFeG/5
pFnJYmdleeUGLn30+ZqYyx2ad76/TJI9sWhpGrpXvvWF2FA/WxLlRBtK/D/Mm5Fhlko4+7U27yFF
doXz9YO5dImzlTGTLfAQYxvtW2he+ORBephk9K+dwy59/PTvH5aspEkH+ukSdyQJ5bHdEKw6/0rS
5cLCq0/v4+NHy1pNS0k+ujuB7KahTun0L8n914/lUsCkn83xvggMSXRIbejZ2D+0t2hepm7Qx/pH
dWx/VK9XLjMN8k9WLf1svsdFAP4i4ibo70bvmGHqHTEDY6asAophNG3WrozSCxNZP5vIfeDaboBu
dY/2AAaXUQMbXHXuLHjLr23gl2ayfjaTp+bVOrQ7ogOf9rY0XMHxw1K/sMolcmsY/+Ja+fDCnDv3
PxRNUtF2mcdW1BCmpHXDov/1G7kwYM/dD6Gs9KNbkPBvJVButFWWnjNAWV9/+KWvfTaftU5qRhsH
9E0N+U1mB3SVu9+f/J9v/X/z3rPbfwyZ6q//xf+/ZWDVAs+vz/73rw9Zwn//Nf3N//2dP/7FX/fB
W5lV2a/6/Lf+8Ed88D8v7LzUL3/4H9yzQT2cmvdyuHuvmrj+fQG+4vSb/78//I/335/yMOTvf/nT
W9ak2NPu3r0gS//0zx9tfv7lT8qkd/3Pj5//zx8eXhL+7u9/+x9//9v//Pvf/vvf//a//uXP3l+q
+i9/0uw/g5MSkDttTTUVayqid++/f6L/2Qa6oFuG0GTZAuj4p/9Is7L2+SPtz5ql6aRVhRAoFidN
aZU1049U+8/8A2lkVZb5BZ0A4P98vT+8of/3xv4Dde1tFqR1xV/rf5yTlmrJWMan6+PZUY1/sUVA
17brSm3oUerD5zPUpLkJxwzSgV6UwGLqUkKM3+FZReYd+XCOrYQGAxLUoKrU6503Wt2mUrQnYuZi
0wWiP6lF/dxkgaPlUndI22B4lBJLe1ClElF21vTdKtfCflmP2BZ6leMIDRTqW022oM8aiVltNeiA
3iLuK76FSivncmnnWqJtrQBfzlJEWgL2VzbVqfYql9W+kc0GIocw08CdmUJxo/fYiI3sxUW2CF5H
q3TE7raHNWEWyP7gLYYe6geaxDDBge9kutdPPYZ1WG+BjFFN63RrBw/DLHa55WPVA9iC+ifEuqW5
BsAruUwS18k8zzhwJu82IktVYM02Hk6lHtN9wOcC/+61AE5FFCiQMvK6G81DUGU+3YV6ikirtIFO
c+dKZZ7S1hBt3slzh2BT1b3ubbsxUCa7vh/XMB0KK/A2ULLsB61qXPqMRDwn+mtpoU8/wiihR7Qi
Jc9F0vfYEsGbHooCRmLkVWMLDwGOWDjU3aOQ0QzudRuCwyG2sWwXXd3jUTZS23jRGo9sXhD0Rfwg
m/Q52pqj1Gh0LFHosQr+tSrd0MYlkFL8rvoW1PUiiURoO6Xau9BRPN/YAP4gtz1XLdOUtnZkV1Tr
5d6O3WVrGdabZ0ayCk0lNKyd3IoEhi+DqJ6HOEv7RSMmBK0ilDaCIBp6NBETXpjRpg2mV84Eludx
bI7Jy9i0Soi+38V0bRTxoL2nMfwcmm0kHn2BB5bODuKCNO+iJKD5SQApDNr/+FarYYmnvB8V3Liu
Lj/3nRF4C4DJgXyvlvHgrUxLd59q0XovsU5LlNnQ2sBajCBiQ6QoH903XscGZoghxmuI40eGM24B
ZvXlEFI0LVebnTD7jlfS4Kc1dCzajsA7eaw8KwX7ItHSaKa0RUXXDD+hDVsn9F+WrgGnA+8mMHRa
kI40kDMYIzPcdsReunUjSZCAZ0Fh2etYi6Fq+VE33iWjBSOGfZyHNSCz20eywNMRj3G6iUotKJbq
GOolmLFxeCiNEmd70EV04wvymm4/pW799K0KlWhs9fL3cqyHRy3PVHeeawPtnHzYA7rjypriYhHO
kuhGTVuZog9INajkWQb1vPbdNN15yBvpeill2PHcoXAXrZ6E/rwu5AD6R+LV6drQDWVPc99qEwpB
IzLJspWllDfISDNVb0dUDkMr33hCrjuHQ3MxPRCTHnOjX8I90nWXk23VIpOHlG1LiVOJfAV8JAGj
aYw5vUdbRtsY2cmDXAPxNhuhH0w5rYBmmmOwDBBk0uI4MGWqtb5PCUk35MY6jTnb+bK3tPzJKr3q
vbFTm3aYo9R/D8okuhMZBmGDZiHK2tY1IMx+1vZwwPggi/acVn80yjBdY4oEFKf8b+rOZMdyI13M
r3JfgAKDDDIitmfMk/NQWVlVG6KGLM5jcN5d9c6A4ZW9N+Cl/QSGn0Yv4u9IanRVXVlyG/Di7hpq
pU4mycP4x+9bRDSj3wlBFRyDCEDXYY1mm0MZu/Zm3FgBcMWu7IFiLJbtT3dUMDb++XP4/3jIfncw
3zWvFZj019f+5mPz7+E4dgmF/+w4/k+//Pzffvnbv353Fp9/5rez2FHip9DzDKegK0MGav9+FLO8
95NUofKVUdw1pvU4cH8/iz33J1jnRnLg+tII7xyl/34WC/2T6/kqMFoKQAQcxv/MWcxHfBOGB0Fg
OM6VC2Ei0PwSPw5zrbpjHl4n5FrjCKczrVNW+XJtsHekMkJYwvysGkfnlcepv0OXh9T4m6v1e3Tw
bTTwfdz5999ACr6JAQGG/iFE9LI2RzzD5H9c1UxftiBxZVKJvZdHfzFA8X0Q+tsnhdL42hB0cP1+
iNYDwD9RSfLN3taZxQBWfZdUvCj//O/5t1eUaxpo4QciAI/+bwoaunBrb5BM+o65e9fVCzYdRsti
y3Hbu/LglUV/0bYVO0HzELyMc+2lhz//Fb5PEM9/aGB4nkwoPc8nFT9fiG8SRaOqVmUZSyELi2IA
n214UywRjIjClsc5DDjDXXKIP/9Q79f27j9SuvPHhq7rCY+o0uV+/tieNx5bVoXbMaBXNSxPIyBI
3JMjC4R+a8JGG+hRDuwT1WUEyIlpqzMrN4AaYpq8vot7Rz43qwuwb8yL4LpqQgSfLvHQR5qBzPAV
hD7pJuvY5WzFSpbaZCvm9nmtOKOMv845QqCIAsqyVLFh5h/N4LHTiYQBWgPIS4PZO7O5slR+yRIL
uEg3TjUdIjFFz4mfZu+4WdmjKnz5SYOAGw9Aik1/QQgmCfpaEz7Gi8FNpuYgfOiDpCifZT6DVDLB
0mYXGnvm+xidq7z1wbYOz7lciqOsKTawj5KjxBDYguzG7cvxRU1JenbGStPgWS68pzhU1NZwQGTP
a7jC0DGSZjoLagknd93JcN1jlho+hm0mPvtx4O7csJz8q3pMiSOj2YQjJCQXNmHrjqLZSjGqGz2s
dtkDJu2AGGcJgq0h68nqGYlCTlvyUPg4IZ2m3jUNHOnd2M9DufP63msYmZpYbe/rJj5V3arbfViW
frYNVIDAnKEkcYZsrDA+oiFgtSOd38RNzAg/JoAV0kCxaoSpZdoRMqX6c1nMAZvfOiBE9VLw47ga
sqPLaKUA8rAu+I/4opCgF80rwYp4WnMP/+M4Z5MBHFKWX1uTymQTLzNbo1zO8Z5l+U91BiEJrnkN
m6fTAaPpUs/tZ7xK5XZ1rLjonGlU+0j26UPRq+Ta2NC86+IxeZ06OEkb32HVfKM07OvCH+HE2KI/
KunoqzJf1HjFFrt83zZOcQ+nvGYKlI3Ty4oh4XWjZt+7mUEIEq2uwjyMYYgMJExnLI4CysshzllZ
JMxQFtrLcjafVK48953kBIE9GYgFyrkSO1MPKYe95yRvm3xMHpoiL5x9KhtMNHGkWTcuLDpPZDhz
9rYcuWhYZVKVh5fDQEQB/KyV1eUss2i9NvnM/lHjleYxVQakVuKYEpyjzdcjPHxnZO1eA6EYogpK
/zo4SE5tUoc1bqwi/iTHBXhlZYoMyVnU6BA6PQj7lk7g50bVSDt8Uqhy3wQQm9AahI5/l/kTzmag
+xihc+xgt5msyD3SMlofl2Gp3+t+9T7HINTOeiQneljqTN8leYY5RARN/NwOimc8m4R9hd1S3ZvU
BYoZFzZ7WEhjsL8RhHXYg8vMgtl1grfScUu2r+bqq6l6VqtNW1CiWnX0ScTuzIC9EQl8lKkK242V
ObTqRoYBWqeiW6BnsWXCiriKB3CTRT2DIw5EAQnSncGjMkl0FtGpzNyHYwDHx6ML/hKVkY+OrRpw
o8RlAM3YppWHADKDyBxqVorZZlog7Yat44JO9wZujC8C4SHorRtYipOnGC1Ozfq+dUJC2LHoq49B
XKP/9hIGwg9VSW7Gi8zxICWOngMFJNOdB1vZT5JdNHR4pNbKGmfTOWsR3/mNzSxLwuWod6FuJuqN
o99Qf5pcKJHK4yA6rswmY07lu0NSIVqoiWCUE14DbkruGI56/jgPnaNQyimYoO7c8Jf1yofoRtwQ
A2LLOn/azePkJpcyStnzaqbMr3bQMKqPOpbl/crTy4hcm3jnPZp6vQsXp2LHXo/RZ9aoM3ng6za8
Z37ffdNCXyOFJQhglDtQrJl1rjdBoc4aAY5HupB5PXaIWMDuutzsJlsFb8o669VFBfCTLZ1Qj/Xl
NPQ8mXPehc+DMAg7G7fS5TYKbS7+4lQ7V4O/PdNCVwhKKSoAmiAJnM+VjG+OUk3UnQ0VckOnHYIH
Ns9qEQWX2Vo0jxILxvbPz9A/+jSfxEarkICMqPD7T1vraa1DmwWowmvnfvLKdTdNjj6MfiFvkqx/
/fOP+3VZ4/u/jvhRB74f/lqM+XGZo+uqteMVIvfjGg8PiU6rZJMEg4Kz2hmYz0FW+aS1SZZhsHAW
t3r2GABAIjvy4O97w/b4rj3vA+z61sobtAmwSerYjyPWCKtluvFNXIdgLxzm5OUSp/1rxcmn/qK6
+EP9NQiIO0KqWpzoPlEx1avvr5sI9ZD2TqwRfU9odqUlyztreSwHEblZeEWsNHsQvUtMlbNwLeaz
1XOgrfG2Hn4LAP+piuT/ZSaEO6gfutd/IRGy/3IYqi8fe2qB/w5yIu98C/4kJ/r5f/7yt//4y8//
nULlt2nRrz/2e1okxE++5MYZCoCE/kHIl+G3GqUj1E+BR35DvmTYnPfPMfTviZEIfwqNyzeRL4eh
gnFeM/x7YuT95AsyJmN4EALWjv6pIuUPMbTyQ04EV4WeJD3CHs6v8O0Xv46qdF5KSNqpI96FnV88
+8ad+i0rJxwestfzp3pW0fGby/QHydAPKcqvnxr6wuetxSkU/roX883rRumYPYGKWEJKJFBLmT61
fGv+qWGb4LcPMb4IlXvOU35cLWmxoYEe1w95LOW7RXUW03U7L3/xpfzhXfbrp9BidLksfIz74yjT
oKO2G6R+KIeEVg8OAvkgdYrfCJotbjz1F4sfP6SRv32cIFsOjad88u3v71eeiUmtFFZEjn7cnf2n
mKGTazvov2r2/NEtUv/4oF8XDr+5RWFlvMEFhDwVhMCJ0ljLOnjDf/4c/NHT92stXispBbnc939N
CF23TJLwoYy0eTRasUs6Tyt+n7VxUCVmRbGVYZz89ub6rpXybSr+w+7ub08Gc9qClDEIff3jTH2R
renClPWDLdmInViNgELaS4pxSeCjfDYUIjsDaFQV6iXQ9sxwL+NPKblLRJF6mDdz1uBi7kx7OSUF
MqqiKnH//T9cG02STYtCKEr031+bAXZHazKF+rO1Bz/PV7mFIA24lqHjr56/mvvGl+5fxAF/cNc1
yS2PlquNoW3x/YcuQ5LIZPIe5qwXlx6LlrAfQaz9+V/2hx/i8+UPNe9EzqjvP6RzujFZBvfBlBSj
vUjjCO8Y7fzzDwl+XW385tTnq6KoO+mAV6/Syv/x1dYwSd11TXo9r9TH910QTO+wfcHY6jTrd8Sb
JscRAWsC/5En4KczXjGibGp9MVwsrtt+DXQQxbu1rEZ8Zko2ejNV3JJjt1o6NRnMctY9Vk0AV8/A
5FmdCx/zCaUAsbcf3a8ZUTvatn7uN8akzbMKy+YZMmkIY3duu6+c3D3RB1VZau2Ob3G8k94zZ+Q0
/ss8drSMZwDJb/oG/q8upTi5tGKZ+3IHHKUMxVjGPz1SZtu36I35xrI940z+QzPjkdtVdZp/DESW
zgyzrBlqH+Kxo6b09BxNknbA4hj/sfNbf8ay0xDhd6IrIZzzFTzm/ANvs0xdl2zsFEwfQkGnBopU
5bo0Bpozc9I2hKNU0PhXWtDyrxS0Wvx6onc+A7+cv3ZZJlm06xV2jimA9a47J3niOpoTSU1pTmIt
DYhFbeOrkOJRSTku6d+4PknxIa56TBQuyNFtYxEtM8CQYDtmjnlKjtjQxhqLlM2/anYglw1sXC/e
p22/1tfelFJ/SHmFsYqTBFRTYts5r908LqCGeCdgKyEtY45bTvow68D7UEUktJvSsLC3k63jh6TZ
Sd7STq/Mk58G7T1tmva2xmlCRyVXxZsqC1GV1hpXA4dKfOS/7tIIRzD1XjvTcE0ZXqOzg+p7vwKi
vWpdE39MjIJknWFwFcewm/N3CAmrjDWkYAy3Vs5AjbUd0Q2OTQeaY22m6Oi6QGZ3Z/QgvFIzNVAw
XdSuDV0g56A0/N1dEMagUMVIx993UBzC5JiaT6WN1AhEM8CzGco+I4eaZ2CSGBwmpthUxe1d8/hz
QJ8SDXDVYCWMq2757E7tmW1hAQUBR/deVDMwZLwm2Zwxp6sjXGrt5COqJUm4ZSHFo10PM7/alMFU
TyCs9fTU00+EtlH7X4lnw+U+D8SEOjufbusM+h2kNg8Edc6805lYnlBgAahMzb7CQtQfyUTweZop
Es4hC9YCaYucSJanvqMgNpYLCra1BxXbCiBzm9btcJSKcfIiBLL1CMA4nvUKeDhRXydduQN+PxzO
jnX53tg2cNnZD1P0LUULz30f+cP8GfmNfPbywkKlbdMnNamzEQwUHawvenUfp3YpEO+VwUPur+kn
A5py3KXSWPYDTJ2fSLDXEv58Mt9iZ6uhwFWyPkGLcmaKEbL5lHoTN2jVQfnJdaP4Pb+BfalGRS0L
2K66HL0Sx7EWtflgCnqhtMc6IDCN6csOC+6wvI+qHm+Px7WNN31scqisjuveFLmLZ0CuaLCrucxe
F25DxghCxSinl9Wfw9yJ3utK466oJy/+0Fgh386+xG2QmwzofBXDZnNNDjKGvhOWJk9yEm4td/xe
O1RsNk6l0veRkyQ3nvUSCqtOxDiRmpjbPURgFabDVLZ+vKsr4Bg7duGC51qO4xu3OD+Dszu8nW1G
yrJY14CMSZuVv2BuF+ofq5zeijmMHtqFitCxTS3bA8was95awhC322oaE2aw0hCjlqPZKqntSKUy
jyrULmMbi+yQB6n4OnUDuo6E1/K8Wzob4xXpphQOs+dN932DHmyqlwUFHXDL65BQnXWxsffR+wUe
S3szNHtzHsfLIUHi1n3Iee7B2cF9rfZdL4N7O5VMv8Q9BHMRy0pejtmUn1DYK30z8yZvPpQDlYFk
K70UbSeeM8EbqK0rEu9tWGN0u9YdXTDmSNUKvauZgnKAiqO6yX8Kyk5329pFi9fTt415OftJuXMA
13gQc4LE3tgiz5xd1YPc3QQNleat4n9H+/O3grlL0JU8EGZtz4dd3PHa9CagzHS7CxAkyrsSfqq+
VvVgwCjN2Xpc/Qmjg0zb2jI4jvBtovFcXATp6F45VeZBoPTj8H0XFCzYNa4eWZQNR7yQfuh8GXPH
vgV8bAIa1sva7+vMTT8MZcl6RlWMr04SiFfib4kDswKMvW06tKCnIYqTDCmjpSfttFo+NF6SVHuf
LqUr3urUUj2hylzg97RxegEjIe73Ky1il7ZpDaLYSTo85klTLsWun4sgBp6d+V+COYNA7agun2EY
Svw0s8rQXq9T5M4XfkHddx8CXrot7Iw9pNdFJvaL3+LPcE0LJ+6Me/S3YymRX1OImSkPm/IlcjUD
kaPKhv684wXV3YGlmG8qeX6yZNjCygMyH6qN9JMoxN84soVRVeHHuZvYYo28CdOdzO3Y4uSYQH53
YQ9GkEo6qsBZlpgD5t4KyMFh3oAgz2QS7+UwAEWx4PLnjU6K6LM/UyPvpwKLWhJ1fHdEx0F0IPQo
Ihh/UcLOkKEnvVWGWZWtzALwL4opQwbC0glOPgiIECvIUI+YGkgrwJSn8dTSyuepB40cwaomQc1Z
OSqL+Gy7Sjjmwy6yuM+9eeoPVkx6PEa25qQKC71kF2lUhc61W9RjcjlzFIB0CnJw7qWt/RdFZHYK
EwuNqod99M4lVJg2vbtQMwlypZPdGKf4Qion6syb0pecP3eraJEkId8KHtZSqA9eO7FZGZl2IT5Z
wR9okUdoZ5RfFkRMU94CMGktf9lK277ZWIGO1QsLsWy1xXHLTQkJHPxpLLmc0SjdQzz0otxyGg3Z
tkVg3NIpkYwOWH9ihUZlsUDY5kfi6zz4w3DhRZSkUZV5+sgAgTPfQxplvoaUnZkIp54b52ISWflE
gXjQF90yKQcvp1b8EGsl3njZAVZOniNko2Yjg9WUxw5iPwtrHCLVoei7AeoNXwyQr27PqWa7VKef
R42RKd2dp4abPRM71j22Y9zKmhIwfdaz56yZ88MgXJXfLVl+Xc95dTnGGI5O8yqxphhTMq8xxR7G
WMm4x6vlQuNICJKO0tXAOuY2RYHb8arHRYfmYYFD3pxNkiGRyrAlBh7Eti+buATf2JKI9f0a3mWC
8xXM4Fo856s5j6zM9B825FoSSKJDnD1ruMUzdcbuqgxHzGRNZvJxtxY0noZ0VL+vEP3/KEP9O2vI
c+W/SXnO83c/zMf9l/N83M//45e//Ydf/vaff/n5v/7y8//6rgp1/vnfqlDeT5J8LiSDNiI4lyr+
UYQKfgqE71FkEgaVsHK/mZQTAd15puHIKXyl+SGywd+LUOYnSfPzXPfQJFiuoezxT0zKkemfc75/
JGukm6Rqgh0tYXwScj8454zflBuKPCnF0HpbNdWsEvRIfm/90vivqMfOPQQ7bhAiw7OqTHgkbfTe
V3F2aMfkwqFbS4dmhqfeLljPon5vMOftMBUMqP5gyYrGqKsVXThe+Rxn+iIPIQ3Oi6Zg2bleYt6s
Uefuegt+p5LPXddfLhOnYeEl6b7Qqr0YIKNf1TZ7Spz1OM12bHZRDF+jnrttb8KD29lNt0TxTeMA
mteime70iJEasw6xuJMWSD26/rGrVcy5RmdoWV6iCvWagxikVYcyiaZDKKL4xfBS3QpVXS8Cpn6Z
o/pgtM17V842QUpRNhCcZYqty5/pA2CVilz7XI5ZcDf18PMLH9wwWebXslBmH7WTvXfDbP0aOOkH
j6mqnbcKrIZ1niG88O2+5EPvMjPIq0pP+QO1SHEqE2rhlbHjc6pojm6GaEYlGbH9jv04CB5lXPKO
i4OHJp12SxN+MGMhvsxITnpEi3PJEoNo3IdlrkD+UC6PrnHDNYJPlStjvat/Y5Rb1Xu28kLcEJH+
2iYCjWbiDzmLNWQ0NMrL+H2tLUJPf/bsfZx76qVoI19DjF8XRLZFeet3OQ2ZrmwWMmgcwTbQU3tv
15kRwU59NX2RSnTEKEiJmKfltNDJP85LFdKJt71J0mMYqxiZYFbRZcHlnJIhVVPIu5C33G6KS/PO
y+izfrI2jnaObd27BkOApFdYeOJN654dW5164BSU+3IVkE9AOOb9xslojfbx7HDtWt7NKe5jsh4i
vq6YsTB5RXg3Gu5GkqcNIvR0vYu65lZ6bkki7WOgIHXE3NeWy+Uaq7dqqrz8kk5WdayFvMCwQGt4
jRZSZO9DiXYHsKS77ec1fUkjj4IFESeE8HjTuMGxXdGeRZ46aROtd0sXJpf0BJhCMRs/fqCwsJB5
VbcUBK5l7l6T225GxEdZv7yD83PDrvU+1ukV+ZreUQXcx8QnQ4kqJAW67FfORQKSIqGP2mgk75wu
Hcay9kZxMPmjOhYlWX8eYW22bzhdt5SccPq52B3ycb6d43Tbh2h5kNs9tUF3bMZlG3ufORz387Jw
Pd13bpDZxyEf7qKRJW/ZkhCb4dChuXEjDyoy46rg/mOadXNdzGdlNRMT3r6vypGFTizyaRZhKk0x
ULfcVcdcMaBXnbhVh7GYr8AaMd2q0GgQFIC5XMQWw8QJkbm9HDmx74OEz02ynCXeMlb7FkL5E1+b
a5HdLzEVX/cDg0TPCRZSfw2Oi06JK8zJB8zDOulp6bM7T9dAPdUWv+gV3TesI18lbxVFc/xk/XR+
njoKDqKEtpe1TFLQQFVRhy5WPasiwhJny4D3nP0A6E9cJ9ky0hTEpVcU9zSw7TmX19vBbd817fTF
YR+AdibCWE8OVyT8u2EubqvWfizS9Ciceb3offFpqXLU9MUa+bspZSBhyaqoeKhzN9rlTi1xcIAu
mqDKK3w3yC+85pYyFkqpmmlZgrHOP2QNQvZszJMrWyYLVMsi6+Ln2Ixs84L4jFv0e0m+c1x0YbZ4
ivPkNXXcTxX9ta1IdP5QrtOWDZV9E41MfYTgXqjFOY9yiewXf0Ua7bjRY1dGoH9jfFdZMiJQY+sO
g9HomvEmiKjneI0D566htLVRQ3GK40a8ZdKM0gxxKGKgilEA2UV7h8rCY5VlMApzsX7MO2tupI9y
BtcoeZSHEoi8eAOXC61hIG9Cz30i1sanm+p3haMHZj0IbidDdaFglLJLIR4ljA1jP0J3KL2suWbH
S2+SwmCF11vblG9EMd0X7bhL+gbJ3NoX121UZXfk8bz7k2e18M2o3f6lLeuDzD+mtb9luONJpYu3
Yfr1lTnIiziMLiuLWjPNj6JPOVX8cL6KxxaJWN6CcvVudD58LufU4kWR9Tav84dOiM+tQw1piQcO
H5FelLNgZheafhPme9MtJcM0lBqxdLBmprJ5H7FIuXUSpDSGrW94rYTV/uBNW2ZQfchczecIDwwh
KzMYrsm+jFOhGVNlca2jVZ137kHF+bYMMH2X44BhL2GgAQpsmeLBpDTGdLDajlWyz9WyjdpmxxAI
eRS5/9t1fW+pN7SMeCdcbTzim/NDZ1X9Ysbpuug41XpJJ3aYLwKcAk519HPF1o63viid4wR5HwIc
H9rpBpPAG0qgaCS6ttrxlGxW6vV1oI6DWz10xXiA+3RaUS4UqYebR433cQ8PPh6uELCvmzSrPimV
AB/T9ga60mmw3Qm08u4MbzatfGYC4F3E/uo4Dpc5D3Gd1FiB0a2EBg2aGLc4qD5EXXJLrfckcTeV
6mZVw0u6OJd4ud4waCPYkXRulale1/GptSo5iBERztSkMYYU+TWMgr2fBcfI+yiRFGkgOhs3ZuF0
Dp6kH7xb7NdSFRdjGd+EPa+ZDhyQ72a3NVLpBhzkxtPpfTZI/Gmg/On8IYth9y5YXL7myGmU7XF8
JjeJfzX5UbYvi8+MEp/iJgBRRX0RUDDpAO5yOR3M/IE62dbnthPrBz7Zprgx0XiEguKctGuhyuUb
B98Q+ffGhdqW2Jdkjq/85WWhUKuZbp/hzwIZYvYF8cgl6WTNVPX4OLbmYlznhzGhprCaaj9E5gtf
2h08gGNUsJzjIr04Ba2PQGJyvoRNc0qMOXDBtjwa26VITqjTOQr1kbLlPmOzxw3fBE73sUvco0+t
hOb3bewiPUj67jaiDOhW/aPHbJbywYc47WlB3K5KhHXyLK7yUwowOF0yVtEt9cy1KN/n9hUd/O1c
2XeeWA5Du1zIPDgEsNTWZELQXNU7tzhOfXaKFSMqaChKJjs7c+yYtHpqsciaHOZhgBq9kdf0wK4X
17DmIOKHQQ3P9eQ7u3J6v5Yo28KivvDHUl3N1sn4Q81y2ZdfuJWn3OOa1OWOwbUbvlobymm7MZeX
oaVQaMb8tmtxGlU07MKR0rwapmzvDwGABSSva6r2NvEe4wYELwqJx5ZAY+zHeyfhWJwpIFOZ6dbE
BUxrGeGxRzEHu3Aa8H7aJ+a/gl3dT5hNdInTqcLDJ+U8oniU74wZqzdjJSnhBBY5oMPjF47UDuiI
BG8WP30n6jcG00vf+E91Pe+C0TsMTs8URnvFPPG16vHnWI+IU5qd7Oxlz/xPGLcPsvMeaaRezF76
YXL1/dlM6xiK+84Ot+6REttm4NojR7kuJ/1G+nI8rG7/5fxCP5Q0WXiDjsciwIba9c9t5Z3clcIN
sekhb8ihXU5tk0T7TsvNRH1bjT0SyBcJNVe5EpBvGgxHqy8Ltpl1m14AtETPq1LKRkHAo86KR5CV
e8cw9NV9qpLzCuSKfSKS0t+X3vC28sv3YtEfvGKOLgNV7M+VPM8RvC+87IUi0T41oFkVwWKFFjfj
vTCuldkKFoXeCHoCG19FH3vaJsNY3Pr4OYhOIOlgTCgZtfOng83DzVyirYpuZXwbpR9gm8HQvSty
exwr5xTY9r2lIFWChWg9ILyN+8GHNJ5jyespsE/xus/deh/U0EfX3wrphxq1Nvp0RMiq+NiG/jGb
l71OuSGB84aK76nCyduE7GXSSJkRDTI8zcMzMWjZsHhDQeeY1pwamcTjE4R7Rq6iYy/xgMroUbUf
shLUVKUrdVjlo69Lfx+0zLYxaXWIFG7UeGF8LBAntnbGrWI5gwQrYpgzzYFg6iJ/2449wkh1kc7m
ljqa3jrFJyNY2BYfadLdL1IxHve5cMP5GCa0GloIx+KFCuPHIKfaWvlv0i5PDqx3cGrT0WXihyKc
tC17663/IYkE1fK45SCtNNrBzeQtx7UjkUw9lkfarnvqmIh4m9RRdv5n8QLVo0ENSFF7T3WvPvVD
zIFpK3SGkviKKdaV10R45cv8kxP47ybez5s4ZiQ0ds6PZDjuqXXee4v/qZxViu+ufUIhfaiZk7o0
k33x2uRxCmT3krn5l+x8lkYw4p1y44mJZiQmlaV3916TMmPrfrGtc8nQp09XIdxQa9tlUfelRZex
8AiZWd94oXfL0O2eerKzxYOgsJHgRKuYj4qd65ij9D4zpHuecPKbamyz28Z05mKxAf4ecGGGammR
DUbQySq7WzJd5zCy13HCBB48Fb1nKZBVybs+VPkHrKlIxaqV9S/pWSh2hPV946wfcCVSf2Tmnrqs
0Dfj6hjcavQftsJrRku9bgoPfbE610zHFBNA+8EVG0elZb1j+FZ+HZsEYa/Kquk2z/zhLg7OAwrB
qiGxV3Ub0v+xwAo3MXLpdCeGaELSl3qNuKbHQY/rWOXOUJuLrJ4HvYv6PA7eli7bZVsdjHF3dJrF
uYnCmE7OjFYY/xedjDQj7kDNN94300j/eOGVyypPlN6a1EcOq5yeyW/qvKMdK6CuRYIe06Nku+0L
DEkbIBsUjptaCmYLA8Em06hisPGUPyhxEFi8DLxHGZPNPVJRWTiYdH09MjIdR1BRitVmORXRCsoL
PQjq0UkhwwO7WA2qqvPUV5H1F2GWNvJWtQ0TKXMWpqfVOsnZwbPEF0unuiuDcpBVU04CSy2/IiSr
13LrtjFPdF7KDP/mXKvbqLcOrivDGGfB/3mBq33cjF1S3Qzxyh8/aGwzlJCKRe8n60zZnRZOAPYk
t+v6JsBfnu+WOXDIIA2m08WI9AQQfYl20omWt6AYkcmH7IQlHRPuhJ0xtPDMbSyrjy4HmFKRarEL
GOWIz5pj2T31qs6QCtQq6HL/gsl4t0XSI1rR3DijX8W4ZDUX6hRVpiquswnNONGuWCnzZ6sYya/V
rLrbYunb6VSsKpyfsoEK6CsJXKJeU3rG25F5THmZBFE4vyvTdbru6WJcuCIsB2KweUJWieMUV0so
Hls5oC/gTSCuIuEb3kws+S3HCppHdAx6TbtykgWFipa3Ce+zptI3WaixjIW9NyCxmxn9Zvkt1IQE
hibzJmMGHm72mtmb0I4UkunLrd12zPPgU80qRrytetMPl9FcBQA91iU6dQHNh63fzmNwLOOIWG/B
BS+o87rqjlkATIyhEc5jaAvW+Zi3/nReqHhYxGxf654IpTD49PquoYZbLfayccf6fSMEMy3Qcb31
NLkLu4WDiSCTME7v7ZHSVrRpvRWpWYo1fMyi+CGLIoSlul1DbCpz3KEjZBqxWgq7DdokfZcWmb0a
sRA8DNbt9pLxomWT8Bqg6LxG5A95LF77MDKnYMzNU9MH+pFien3jwQh8OO9ikLthgL3sbDN0DOoH
QOinLHhoq8k7p91ZPm2LwHY9RWyLJ6hcsuWSef7mfPcndjXYVjT35E/4Rp0sY7eW6nabqFpugihX
kkU1V7/MTEN/ZUSXZ53mESIKP6meKsWWYZXi3Gjzxbsq0RqkvElYeaXqpXJiiFI05YkRf950c+f6
8O+KGPsSr8t3hvT5MhN1/BT1HfGInKyhlIUE78R0cH9bpp55Z5kh56hOWQTdLdEcY9YskuNYkhtn
1orPDB1IZpzBgb7N8iWgzBgDEciapL5dfdG9iri64zkqNn7fZF+dTAse1ImJlqPXW44YrnN4CHV6
6xYuRdKK9wtBe9wMj1lbYr/zbSzf+7WN2GgMdajZZdfhi5gboplYIe743+ydOZLlSpae90IdZZgH
9c5jzLMCi8zIhxlwwB1wB8RaVVPqxfRG+N2qNutiG41m1CmU9ioy4l7A/Zx/FN5ECxe8DEV0Pk22
PF5ocFZ9YBYwP0WFHZgrthZX25STJXgxqg4DRO7fw21xXGE42QvbS6MVzEq9o+ZYHoDhvGNgsuBh
cOKUZc3rjt7ylQ9PGgvWOsVdfQH5nHECPkcTtUc9b+GJFj9vV0SqIxIOzmPTWE7xx6kWRhzjpPPJ
pVXrIaO58Fl7LQuCv8C5IrV4MTiUuQM9T0IEBeZaj5nP2iqeFkwsd07QQ0gpLz4H8BQHPm/16HHC
MHYM7VabF68CIXCBGA510rsrX3UWzSXER4cDkCTfhW3OFX7ObR8P9HR75IVQOMLTjSNiPQUpiKq6
GzVsds11GmAMmW1SXYfqo5+D58FmEu72lknOpsl+WtrRJT5Yi9EmkpTDElUGdctQkTJ2EARjp8tI
OTEJDF2BuIewb5eHE4s19BP5Zt0wXf1Opyd/mAOWn8r7CRtlvZeEAzc7mx7Vtwq2TXvOdnIf0l4V
H2iyz3PcD7/M0uTXZjbeX5rB4daSYk/nXrjVRw0H+qf2vfrT8ZV/Smcqy00+bIc2hTcHkYmGw5TH
Ijkq1NAlM2HVmj3PZ5MfJzSNH/T1lT8etqJ7JG3eb3/B6cOhDAMbVX79iljU+Qw77EKehH1e61Ja
39nQI9KKLHPM82p8cRaHeMnYSqb72c2WRx2pFNgdU9CvcvCrk1vYw47/aD8GNw2m8cMfQRnIJWdC
omHFregfUz7whFb9vYc17hAjCdkXixWxc0XLvsX3a3ntIx4cnpP0PM+w2LXCXT7lJv+Yh8Yh7qRx
1wlScLqCyFuuCbsUBdRokhGcnhXJ0cZ0JDlMaXbHrlMzrZXJ7ZU0hdrlS3+dbrxs2fbxKpvoSKmT
ch1Dt2/92nHWUwbGu4xJ+KYXszXE0gl8Mz8qwgXgU0SmTFFt03FUhy6lBrFabo3BVnSJqBdZZUHy
3FCwt+6UnA6SsAlmhZyLfdpGpBTgMEtfEQSXe7TB5aVzboHzQoVb8sWWh0h2n6YY/pST2ZQ4hzK3
p4rGb9vTCBS/djHybSonO00KbzD+HS/tve9oHgGW8tLahSNjQT/us7hNjyIuAWJ0+IpGV90NUxrd
j20J0mKROwCmtZ1hY1dWjEcNgHe4D0XwPOlMVKCPNJTKKP3lxi1NtnKDL3zZ25312QsQzA4vmN/w
GCdiGugWmVZq9KJtPP2UgWa5SNyDaGWzntX0mGYhRHDL5zLVDcVL8fRusmrgPQ7uAG2IDINV3nfB
NG053vdpIekkzjA2U0H+ROHVBl5ol9V5t5vgPre+Qwtz503B0Y5D55gA9h5mPFqfs0u+phtipC+8
zHqogw8a2/ZyHE4Z0C6Bniw3Xjij3E3UbsrK8zh72UEthmKkuKKJxx5UtDZNRTtHHTP/+u69N4TA
xIWzcirepQ6BSB20mxCgLta/44XeVBKrdqzX4uhg817N4IY6qpynOldbRQTQ1s0mhBZOj/E1+5rj
bgZlE0xMo3r3YfvtPul3qUZu1/uBfqBcmseDOWwNaY/CMI14Ax1zlEYdagoE12VeDI9a88RUtbmD
UlCcdWG5q6lLvTRDJZ5po7kmiXSOo9W8QMhf3Mz8GEPLtuipmogupSjfkn9AfVrRr47yqOma+lE4
kfnJAO7cMh/u5BRbX2Q3RvehXdVgFBTZce6O26Cu63PctCXDB3+MHrvlMXSrX2qM+lXKm5bDLm6S
xLdJUa0yeJ3srhnyVx8Q3y67BvzeZbIfj5HtrRdZPUIRHpo4OuQ5BYMYhbidNOOX1xwqOWylNd63
gdoKU36oaYkeZ7xm3jC3jyUysm/kHvFTkFDbDtPEY2squz4n9Ck3CDf9F8MmQKzCJIn08lF+dO3O
I0ln28Cy7CdVq4uOvJMLiLeebH0nUzm+JUmV36eW3AXovJ6QpAK5qZjuIGGwa02kJuRJ/N330Ir4
bWf3qjWueGrF06Pd+QBizkbV9te8UDHboiuJi8QFCNR77WXOrhu9l5GjhLxQM1Cz2KhfppwjhtEK
NdTYPnkF9UHtcomd8Alj4S/Xy/bklu3JUlnzjZ48RdFl8ly1sDZZgaJDu0eEEees8o9uy3yedF9i
pnqsnc7aahSD+EAfuOiqrVyAEwUhmCE/dJ3UBimesH97EyU7NX9NWfY/juc9iaE6d15xX+e0ZyNe
XQHxh3u2pfkQ5na+m9z6bQZ8nHLXex2b5DQC5KHaqldj8w9YkBfB5K58MzO9pqaxtlUP6xLnUpAs
Obs7J18C1Nv9Z5nlZ4yrkAUw3BRJYgvdRQaRKfdysbZt/RHJ6F1S+Mg6SyV4o8hrC5DNiPioRb2q
SFbgrBCbscwuXoAYXJxLAKQHPdrFbpyD+7L4cWuNw7OU4DL9PO2itl0bFsLPYnLNr2Ewwf1UaPWD
HGcMt7IkwtWY8YakF32Cv4hXkHAMC5B0FRCS+ti0Kfq4KjYJ3dtLZ51hyK17b47bzy4Lgm/7hrnV
/JYh/9HtfYqFjRaMuW2QW+z7/UaQX437tZ0VI0xbyxE2xdkHrgZ1TuWEgAZhJNm19tUJw2rZDBGE
lF/by+8oZ8QAj2n+MIxm8IjlhIuuRsMW106WnTMP8hIw+A8yH8Q46bZQnaZkfXHXuQrLT2/UmKVS
35sBN2U5WBCIBg9dp+Z/Ggv+vyrkf7g3K9D/zZL07//x93+7qUL+/j//4+///t+yk/7xf/6nJCQK
/oZxn0o5Ml9CH20HYpF/+pLC6G9U2rooeX0HG0CQoMX4T1uS7/zNJrgjThD0hBH6/f+yJXk4liLH
uYn6OV0dfuL/iyKEn/MvchCEKtQkRgnbrI/2JA5uypN/lYP4kG70+pCD4sem3WTpJF6VlBo9nhdd
IQndiyp75xFLsdj9y8f1f7Am4QLhL//f//EIP5bjh66Lkcv2/7vNLnV7G7m8cfaI96qDU0jxyt8c
waZGaersUntB2IdBfKaKIVQM+oIRMQTPNctc/5YDaWhs3t7jyA2950WN3pJ8yZ7R4PCuNQSlDLgP
83iHTDR7zDuGFe1602NMugpcXRDcDDfMp/6uXcz04MQm/JWmutyUNRTVOjPpRcRIV/A2wxpzeKVN
PvwKfe5o9gZvxyQQf5va7VGoKe04u6ln+BxQvCq44EaXpwS6xjIzSQJxhS93IhoK2sYvnid6u88G
/9JfCoUmSFbGsbGfdTZ0G4KsmkdWngHFXFJfkKZnV8cawNrUFKL9rlxotNKEalWPov+d6EU8Vx3J
cZsRR+7vrmqTD/JU220E+LKJJTlU+MsyVLhZ4I/Z1lDB6WyEH0SvmNnlh1/fxpIKXR/QrlVSep7B
fzMKoOtkLWiaNwZbbPezm6Dcj3S1jeYmvsY4jY+RhNaakLMcstHJN1hsKL8aZusANwptH1fdPh2z
YtfYdvkXnmJr2455ehcTLOOt/MwdL7hDXXAHuBkkU+bqJCnFjFFh7fRiDwdUiNUDSqVig7Kz3aEi
Zd/X2nwqAoBt0oKm5seQmfCxpJlznm16iacpI2kB7fubz1m884AYX1UKRyUoR0eJb8cROsPS3hV+
AKNWDaL/SUId3Kc+FyjPz7QW1j+2grzLNrU1IgYs7eFkeZF7J0bZ7ec6NZt4hP0oRCG/Fb4UYJK7
BKjF8THkt43uDq1n5DGM7f5RCRdEw+mpF4VbDGqR/XBe0DaP/33dLw6pVK2tzq3V+LtceNaR6lcU
ujGjadB5at9hOMBXjkO98lX0KKN5/qspPILD/GounsWStwvu8Xmk08pXG+HM0wXxezye2s6eP6MK
6tJe4ixaEXsBE+0x4W89L212TZuJo1zmIzDDb+VN6WXIyG7gxfjVoylbheA6a8+jHtRnH0NgNT8E
oRX/8WKFexhJlsOcHkxm1weptQ1k1t9nN5nBwkeWghI9aCb+TQh+du6Ns3VAvPd5np5U5jwJ6Qs8
/ctPyDA1mnQrOkFqWyIbjOvQlJkFHod81pn76V27zimF/xlqctg9O/tjOc+9sO6WKIZUJQh/JubA
0ELBBfcyhMMpLSCAs/y5KponN+8PQI+gEWRYlXofjsUVoISMTkM6P6MJVZ68TFUbbb1seGnb4dsq
9dvAgILSgSDPlDRlELN9nb7OSbAJqulX7vkveeV+zfmsrqEVdvcWRrZbdZj3QOLbz5xncMzKmDuh
rEs1h6cJ/71DgISv89Uy/EGIi8cHelvgqwRsQsG1yAEdjnyBtNxyQNEkCiy4jETlY+S5qKJOETwN
L4SAXLrEh4g221yzNy7Bwe71amB74UOFaBxyhXyDnb8OQ3rhRKiuI5b/Y0321QFC6MWv8JwzEImD
ysv+t5dbLStoVu2ME2yqivR2haKjzOM/+JasQzjgUNf6hZgxn3J61T07AVqvts7eXQOoIKdkjdR5
1dc57aqkg5XvulNqH9KL3oXxAr9DOyHC8kV8BRMaB/axdVaVf1q3fyobjzpHQrRSFd7Nuh62S8FU
HzSvURC/5PEdqS8vpYdQpqnan7Ti55veJaTCTa8qGsGGkFuUo37CMALD0+wLG4dK78eQC8Wpnlwq
0+2vpbPvjbGvkcCpHU8XDWhCYKuetnMhMK46G6DmQ07ewc42ER3ruXxiY9yUNqpI2THQhfm2sxQ1
6elCBk1x7cmlCTrnplohHCGBJhiRUrqcVLrsHt0FHYuFDBEQiZMtLD6yIvxwhSC4ju+qGLz3UsXw
ku3jmDf31eA8OmNSbuy4PEFt1SsbBra0ZL5uUqxyPdq7KiOoxC4L8jGse17qZ4vwvyLip2VhKNcA
IU5Vg3C37Gfc5Wu5uHSjTUy9MZ3shRD3cEAXYY2fQiNDi2mTTrNvBRWvyUBZp1im9kzj5yXG19Qn
cu/awdWZERsuA0k143iuU3HXLqwnpfUWeO3F0QiJchCbvJkeKy6L0OlA2aIZDlzZq6zzjjojQ04t
kMCC4veIbvgbImrMQQWvrrLadY2TYF2YMdkGQ2+ASZP0oJzhYprgapBJ733xh/crZ4/CJr14Jjqn
CiyIPudqm3PAX5ysRkZPtA6TtnnJBQrvypazoijIbh/aTpmXJSbID93TUx2wuCYNO6tq+deW0ps3
CTp8HnrN02M1Cc83+UoIcjmBVAzvYePs6sJ0bRg0TgQrzvvJ5HQUjvNWed8CbHcz33beILFCCBSk
N32RVucitq5RNls8OLdCe9Quu6nqs2cLzGKQa7CV7ykan1AavDkqvF+8xnszUW3iC/F5r3GHkyBG
N0evdBBGp5iYxJrQCJmUuyZ0E/Rr5hp7F9W/4UWBA/NvmlCreKABknfaXY3dDFNdb3TrvEVW9OrP
/U0BFq8Tv/x0G/JrYRCqXdAIRP44BO9V3UFTe/IrCvHRGTjrdhYI6cJTtnAjLc4hctRb3KcJD2L5
Tf8ep5Yb75QUP72Ttyt0iDRD6RbmLZg4OIX/M7XRa3dLGBSBmDZS1L+ipl4nyoK8QYC3lgqBkDWA
HZQ941ZWE0voHtlBDzQXPUgwjrzMX2tZnFPLX88R5ou8fTBRgMxueKYr8YC7BsFjwsBiVnXevgAa
9ACyya0MkGJZnZ8qvIzcY/2pjHFZ0uLMeCs+kxtvmHZHFzFVpVXOZ2N/GOxMVdGd5kr9Vabimqj+
hId0DyX7acriSaAxjkS8dcoAyVCmnryO0KMc4Hadi+Irjyl7wYtFDIoVnbJoPjsjTolG36qXePJn
q0n3nW0fevwraNQAku18sxizyZqCzJ4GrgQ9sjTpAAKL90/woK58fSxM3iM07C9lPIKtcYKFPfk2
YakXsgqHB+SqvwZb8W35bbGn0WjcWGUfItA03laZ52xo3bWrU8QEdriLR3GuLLCzMXTfsiByV+VY
PJWIVCD0tDhgmOO37kBgpY6hGKbDZJM3j7bH3/kNEo0R7cd6wi2ORrZ8NQHqr7AedrgYtjoYt45E
pBN3abMuXUeCOULR29JxDwW8zdpl9t42M5S1I/Z5XZ+sun30c0YyzYmyGlX0lVD4tBoMVcCzV68y
kSCWY7zYTCFBkIF3ExwW2a8qFcEqrDkp0eVtE4Rv6yi23wjafUyX5eoAsm26qE/WSQpTQ5bjH6QD
G6uZH7uCXV0MkbWvkf60s8sHbDgTsc5yNuVz+9HIojhpjwGcZ+vsBLN8w+ORgYvFx7QoYBiGYYcs
BQ8PJPq45H85CTGRWDrfILofROS+EThB1FK7TrOBk8NFoHl7KMOqOfc55HWZRPeGhKCuy6vjbKme
4kr7CqMb77xGfLmG2dZ27WRtDzPHR93CVtY0enUNYvesizOe5OFxUcVbqfKDzUFNJvA6CAnGVA2H
bvTep3bP0TZ5+9w11abu7IM01Wu0gLd4wmzBqEG5ZvWGTuDqUwMKjX+oo+k9xDPTNMGDC9xa9Ehm
TcyFbtEjHfzM4TnLZLmb5OyvJr2cl8mcC8/+00ssmhnkP7PZ2U3VpycZc5KlOS9epNcySKpN308H
Twb0CozpNhr4HaYeYSAxRF9tj1+Top1vftfvWGcfvrTvetLeeJfpHHAxQaJsmH7FwJfenF8GGRjy
sRuCMMPghgYGGUEag8dnE7nFyVqcTRoTDOffeEN71SL2lY25tKT/r/0+e0Gajsg/APGqdLXKh6GH
O56vZYYJSiTONvO42CtQ2LDhcM38jfSe4mw4DVG4ccJi2Y3lmPvbsOLYsYeQg76EsiK9t6zKDTLw
vxz7lls2XUpDSqc7v9B3MAOIqr3XFW+DNzzVVc9cz5E7qmozSohZ31KoC8y0H8suf6kRN7YbWQee
2oRh0h10wntNde3IwtjEH9ib5ZHIr2pPh53edRPSoDaYwseesXuLbAZFatoBKKMBaI+4c5udWxTZ
XsnF+wPf677HXY5pzSHkgiik7BDltHMqdolVaQwwuLHxK0i/6pli+kEgg7OtU04F+u+gDj204lOB
n8pAna6ESIsHNioHwhyz/X6W+ZShw5kx5DVx4L0glGOdw1tyU8U43p+KTYMzo0CoyNQw/KVJPmaf
yLV3W9edY+db/VYL4ZjdLWPx3gxT/QPB1p2nrrDoDbq1l2MJPWq1jIcev9pdNIY+2qK2kiuTmvoJ
sMND5WQYG7u+DT8KF01AUIVWBn2suw34ZryD7oh2cxT3PwFn/aWzyzZYITODtBn66beL8v8Ug9d+
YKwON7rGMb2y69mcHNcmUCGPAEEj7bQHt2jT51J19FwmlncY7Sz/cQ05tOsCnyTgm6Ub9PF2U3Cg
JQipkCGbv1SVW/dNinQEcdQJ7abedknb7BFl4dVGkogncZoZyqWymc9GH1NcWo0J3YS5f4eiqWCH
MTI4oVHn4AqZk1UVou51QnVQxDi+6d5yvjuP78EUzR8kb9Hzgr0P8WkFdd+b7E55eFnyCj8o1dEw
k/YeslhgO4k7F69o3l2tRJv90I8xyxYyPxjyG86AhEgHFuH0YxdazyorI6SdPaoAhz0T/w9ZzKdU
jG6+h40ZXoskJiBvmaavMjQeMgo8mUODAyAgA+C6jI11tdORWzHV6kTYGjxQQl4tpRPT3kx5/l1z
uEM7hPCjK4ooo8MUR9VDJaPy6HSBRGeTmR0y2OA4QGCtJkeYg45TeuSJ0H7vs0Z/h1K9Y0ndg5Si
ehlRJQ0e8sIxC4tfqAg4YoVMcsi+ZSyalW+nyXomEQy/MtqQrfHH8refdyU4tk+wqUAEsiL/1N+U
bhRhAinTh9AelzUYBCoNbKhXgqzQFLP782ublxKR2H5wVA8NDr0kw+Cu91jrOmnfqnrQbbZjyBtu
6eggs0mdu1CTGizl8svyrXrj+E7+gavU7Lls6kdciuln6QbeMcwY9vmf+yRTp7n244RFgPCM/DXh
JMEqWSSIECF/7fUc4s3yZxmxhkXBHa3oqHq91G92IfTfJg8GqEzXmlD9FO4fUqfLT7aJ+GfMxLyb
U51eSJ7rUQ7m8zvijOwl1fh3uyqI7n2lYwqx7WIrPCW3/lQhXiCM2uKQIBwVvU11Slsk6hgpOcBN
IHdA8uW7n6j2ocKQcx9lQYZ0rbTvMWbox0rq6ZJHy/JVOVx6lHgHj7kTz6Dcznz2p2S8xya8fHFV
+AzJcRuSOeePW51XKKjdoC6uYiLVCcUL0vlRCqZJxteLICf0IUiEv26l575C71gY15U4O/Mwv9iR
5MJh6ZNynbSZtUYtJ9b4nN3dUqQS1bKcziwuxTGJRHifkNa9cWtr2SDHz9fxYrsvAgbjkKcE8PV2
ILehScrDOMdkn5Q9CdvKdsS3xXu94Va1t9KJok0W8aNVR+ohPu90HUd28z4T/3BuHIwYTmCl58hV
90LjfyVFfY8s3DDuMF+4BYDOMDb+8xJJDBhBDlaaBIR9my7jn8gW9ZEvJK8lE8WqQ9eqV2Fs/+Sk
5MBYQYk8qoiZxUAtZ+clJbySlIjcOAdHx+ODZUeQH2YIMFxE9BqX3ewclo40+sl38XK1ZRdd0c8C
odhJYD5bxNs9lGv26TVFw+zvNNZlcaoZDTgStHZf8P4+o9JrtkRfeRulm9Y9YAKOplNFJPktJq5V
Lw2Ria9UbUgfJVtS3/fBDNuRFre1EGJ3pU0PMuAIlLKug4ECwgoEqEIbFyb5cI5IQHlC7y6+ahDA
N9fpj24Zs+xZCH35Eg/ck3ChdXUN0FRvYoJDEb22Gr9emIf3fiDHXaKJXowt5LWKcHd5aPqQhvbI
gXZP2QgTGOJjXTXt1e+NBiVgZgncAkfUlNeTdZhC62bvu43/dvrg5CLdYQxv99Eclzztyn6ZvOFP
FUoEdkoUv3OCL/Zdo/edH6E7yCr4KsujjnlqQc4s0ImFp2yLLLlSJxEX1iksQkWmQ0K2/k2gQfh+
CK4rdvi6zVuUNMWEc5LjG6xk4HXQCD9Hf2QXLXpdoDNBa/gV11n3Lcu8/pU6wKC4SGo0JSTszbhC
VMqOqHFv5hUSxrqxlh0x+7J4aInCB5KKstCFseo5G6d5ZOOrNUIEP2k4z+xM4qYmlH7csjt7fOMG
WtSag4e8dOOXCNiS6wdx0qUdC3dHAAjYTV4llH0Cg5eHYcqSt7Cvoq2qPWe3gLMTZDn2htNFiOm0
BG3DMOznPXGcY5e6yGQn96yXeDiYsUa9iVp070rP/0Jt6n761jRikHPak7+UgbsWU0rfKMdy85M5
ozwSmprea6Il3ywGm/sAuRrufX4+kpMiPkpSYRvcrcJ7hYsu6l3SL8WLqB3I0pxQhzUFQOG6vj1f
hB2s+zCz9k7r+Me297kbZhEMzxi7J5RkIYJwFOzz/UDw1rVoQ/MblZAL3rV0zwVpmfgaiHq9G0Wr
HzKK3zfIXpFIZE2Fta2uB3dtEutmKXSr/KW3Euto2/X46s7KOs6G4ws2Pus/4nL8yaYZCznCW1Dn
udwKvQnRMpMaXE6beGof0pu+yrrZTZNuYQ1xhNz3sP/Gh69wOqsCuk/tuyoU0dk3NlKnMiuGSz84
7jlFWMg36mAv5JnoULQaf2MjIVpx3P1kowDK7hzv6gVmeJGiF69dZgM50QW5nBYFjLdGiWRtnQoU
LIZOdhCW+Mu9RogKOJfjXWh1t+wHIoaIpGEuawcEGXKpyDMAVH5lGUzPUzh1ZxbTYee2SjxrquNO
pu5d9P2+FzwCu3UnT3gITSvfnIdEsgghkGcPzNt57ciGp8ID08xFHz1nHdZbMKBifBEoF5FvxXJv
VW33OqDLzbG5ZPl3uuSWde10EDXXIG/gsnVbfpAC224JoB4QCUNgrXyfPhKGkBj/3CArYkKK0d3j
28jM2zj24T0bidNeZzdwsYyiZKy2C46RXaOHrr/3i6G7j20xopCocA/ezqHhU3ZB+bvvCVrGm53n
iCKlenNLK34c6wwoWYr291KK9i/ExoLAi3F81Q2Wy7pO/M9JkgiwimimfZY52bzGa6IjgS4At05Z
WdfWzep7WY/jXep31lEGJXIK4pHvu6D3Lv0o8f/a+Buq2hb3gFI8UCpxv4u4dNt9rTAIocBHvVFl
0wR7zwe9UkUmMb9W3pqIBX/LOtnsMmvMj6TzOOeKueiVx+JHtiHDA2DUHjmmerJQ3L4s9COgp/Yt
8dhwwuQbZ/F4Auombx8Ri6YXlCp647TM1xPiuy2cQfsD6dDvdTvTaonKeN5ao8UrI1EN2St/0M0F
Y4BapdH4OIyAZU6g6xeVk1HrE8B3glSUZFihsN5Gkq8c9Vu044wb9n4S96QPzZXcBOhNfgU6duut
W3T4mKZ+OxKofep6Nfzme/XY4IT6E2mXyBRl2Q8hOVd3yo5uUgjX3URzOF5bom8Hzk+pQFXqgHmu
7xi49PCQppX1UNrLS1IkL0OZmqcmEs02sEJ1C2Kx8WYY3qVd1gXLa41MOmQH0ZiHqAkZmL+1j6Xb
RdBzXBb4VFQl6cbpYvFE4A1Yw0CadB1n7VdTxPKLs0Vf/HBernYJF0nwYH8hSGl5JcmCUpkoFF9V
Prhca5SQaijDX6RiOy8tltEmyQB1uzzdCRCYC3oo4gSRh9PVzjdB5AZa2rPjp839VBrvex6zm7Te
nEgJwtJZdeOAEk/2RwBs8xC2sa8IpAYwXAP7VfjahrK5pCxkS2jqhzIgi6X0G3Fu7EhQGtMSC83t
JX5b+DleOXzARtho92xiTGDucp4dQueQNOKja72fqp6RaU8NGQPUanhY0gYzFwePK2hHoQYi/7ar
uzdr8J0/YQTu6HYQeyat5x3bsL4OC772ckasq3CanMyAFToqBx6T8N3zh+hgeZO3mysnfSgIM2A6
pudg33sWTZBRYFMyKWEr3M66q4s+/J2F9ndFDslb0gGTDXjKgsZW+6AB9WMtCy+iSqIrL9w7eV8S
Q1Q2+2uSraCqQr5soHJ0teXCmBYLz94UffyWJaCgWYXLxpA9Fk3j0bM7erd0e9W1s4EusJ4mOXjn
qQK+Y1vWZNvc1v3RuRdSzO8teknS2QgBiGL+bOS/5abqWz7qcdhHgw6fjZsdBYqqFXz+wuJKMBnh
Qm7UvGbp8NqTzX4s/dk+MlucZs98WZO6/e61sh4zsrkxT9/psqVGtb54Ha5NulbiHjGkWx+NkzyV
BpmXHq706DV8FF59QPD2mI1D9OZ4yLzzdkrXWUznpTWER3p2ZkIycRy8Jw1o6GjRYYPdUIe9WE2B
Ze8Gy7ywkIAC1N0+RLq2rslq+L2ATp+wlBArhHyQqMFyivxfhdFkevpZEq0tUyAk9IOGhPxyasUO
6Gw+GYvwykJL8a45+vZLHoj1Qog2GRKVQpa8pCQbtTdkSugnxStN7M0YQJoS9gH2LSsCAuRcvsg5
TkhfK9PyYhAqg4Xo5oi0GtY4jpsvOHH27loOu94L4IzGEMLe+Hc2++de1bM4JOx246r13L9KYfgj
7A6Jd0e/EZIzi1NS5mRpcdXdsbaCDQ/4PPZOmC53E2fh3kTNiQtrei+R8iH5lOlmqRTIP9s7KYF5
+mb3IQOuJuoIR6rPYlHZoDQrd+QVS+JY7xzZcklZkxSPWTd1+mC7MFyUbVR8SB1cnEavW8YlmQKk
nYyb8Ebnrp1MK9BoWw2vcewta+R91Xn25Hxho/S3ggSedcs6XRM5pcePBLrxp+py4LS5z9SXTa7e
U516BorJQRO4NPMZ5Li1N0HQBceGwJuA1wKvjG2hv1yrQF64qvUrsujhIslZ+Q6tUQIJMlwk68BR
8qcXypww7OTvxCfLs6GtCH54LoIjmkJnT6w+3nqJkiPDIic8Ji+bcEMSvUjonjR9Tjg963pc2wwb
gDD0ET8D1U2vYztRXJTQyOVtpZ+0l9k4VocjwLjpqc889LfW4g/NDtofZXUJd/tMsHl5Qq/pXyOi
QdAIVNbRmiuc7uQWPEE19kAO7bJnFE3/F3tnkmQ3sm3XCQkydzgcRffWN+qSEcEOjAySqAtHDUxB
ZpqAupqaTNPQQn4z/WQkjbRUW+33kgjgOhx+ztl77cvYJUuMZmVUXIQiqRFSBpZ/nYeUZEkx28k+
yxz/k449KiJmmBVvTBlXn/LFzQ5DxUY8kBRyLycpCQgmdxfAUSAJq2cGT58b+5GKqjX9Aq885byY
m+BQ5CSc0OxFkYvBBn1aQE6k2/nehai9p5xUbH/10qer7Di8hOCYHEJ81NqlAk7mzuEDK8TRxfbx
w4YkcrfkemQk3NTqVvW8gNsBwxnr0c0vvVKiuIsQi6c1OyAzuuGQoH3euVlib/lic3/MIVELcHvJ
6Az3Q1gyeI4jY+GtH+enkmSiZzcMsV8hwoDV5QPvgtR/I2RYn8L4Prarz6pMXrRx6Vz4mLWAsw6P
hVyqk+DI+uqQG3eX21kHMzEjBCC27GMHDu4KnfMADE9U7raug/xu6eLkcW77+n7wl69QXqxxT3ew
pkGVaYHiV85EeVgJDMpNMWqMGfaSZpdlmbl3xsEtiMHOeNtIecE7QV/5OZ2rgXm5IxlKsIlZRlg/
JD/iFjBH/Klwp/nAfqDOBF6JbRYVgDlyBaYQZZ97jbswRrIQDBd1X1Cy1A3h0mgaQatrfSWYMVxU
w1BCCTD+mdFidCDI62sc1o95KLAr1tSJdGO5hsl0Soev4gH0ityx1oezB8l138jgB7EPy1NqI9Dv
/eS7qk17aXl5vqdMn6/9Iklv6TL7T4zaxUPs9/39zBToOskz2qXh0jELYZK2iQWuI2V5huAAchG+
wAeibDKJoMrrCvd+sksaU8vSQM2yUwpKz5/LU4xzda9Jm/jO+kchUnfOpzYqccstKqYfBQqDOvQU
pMly6nUhnZUx4R0GfJEHFZQM4/JahtiQGB/pDqbsCsSOb8qgA8UR9+69ADGPJsVQd3hF4m2TTKXk
kRjdR1vZ23QIEV/qM50ueVeUfnXXp3F/A4a2uk5HWJ+8jGtYDXE25yQvmEiM6KKT3EAREEn80lt6
JeJkC8bnAAr/viLwZaE99kLLjv6aqZyriFISNGdt9tWInCiPABExHPWuEpV3t+loDQdUu/XW7zTB
88apd00CLnCxs/JqWKrwnAdwd2dkr2gqvO6h10t5oxD37kzXobQtACdsspbvJwAjBhuo1jcjCmaM
18G9ip15l4DEfCCxbb4myN3bjrVv4OLsDVqGbUjEoYvpDz8iDv+6BhWIFmqPPcmxt7k7wEvTAY+M
80l4WZK4u+tnMfWbTnnJZe4M+aU7dPOuJxsH6cNaKsN43IbKmS4a05YvNCCR1JAIVSGNwo0QN7fS
q5MjFW32vCyqu4W4CXBwFhi+qe6OUbWY17CN/Rew6u43p2jWAwUuMxRt0GYmLXdlLPPnpq6exxZT
P4XErT+35kIUg3fTi4WuTmSca9vppkOfrAG7bWXBxgxXM/dQ3TEj4F6lmgjk8JAFnGk+h5+8VEzH
LBM1LjwUW3yeTX3bL2yPjVS0X0kK6W9b4wVf4ij2TlIZOJOK3hHElix9VA2/FxYsz71m/jGegk4W
PYu8GRHx21O0rdg7GqIYE/VNoNlDqDxfByAT6bg4K1RR062p7XXibuFQu+gHzpldOzKnGXXdb1wG
ZE8SO1Pt4DkdrCb8moElYW8VyfStQu5z11PA+zuZixz/XJ1iW5jFBkHl967gGBITtDcIQgYbOVxw
HXWZ0Y4DlNPZCFHcynxukb0cQyta6JM6dvxAcN42oGzeE35UX08l/cFdU1T6m04wztLeSJebRsn0
ZkAvtifM0+yVac4GyTszEc4/zNZhHWDkjRzm/NZqquOFAXn3B9XpKmhFqxZV5RqFupLZaMoL5ZJy
J2zftlfM/PuXh6SMSBaV/6UCKeXNZgmONMNbZJoIhXCM5K/5PDjPntuOxSn0Lfu+MaG5CDXFAogQ
YeH2a6viZIkkwM9Ud2zqLRPaLe6+8IJwGAWfmalPZHfTaegipmIcpJ7mnERAgYL2T4lcHxIqPOV7
pGw4Lgp+rW3iRIiH+/ttdIWYEvbX5NSHMdYRqymrc5La7Jgds8AD0hx8nwgs9hXVJ4zkniijvkGP
+K8Q4//4Oz4mjCSJjKZKjO5Rx5PaZjF2GHhn6X/EGPx/lTkqc3Dzf1CZ/8///d//2//6Hz8jB9f/
7D/05VLo/+oqF32vzxiSfJn/ixwM0Jc7ypdSALbXfwnP/zMOENW1S6RvICT49jUpkIPwGs3LPyZt
3wk8aStS/GwU4f8COPizwhtM2bo2hacDmntrjN2Ht023ORkpftqeGAF315wFCppIHMgYmMVF/IeQ
g/Uf+89X+6+LYZflz6cYEZrZ18/vRELvzrbZa09EHXQ7C3n5yUoIuVy6JTqNjoXo52+/xS8k7L+6
oK89QgY1ERH0cn++IOVIpTCeNyebziPIUCexboQNrdylW3pHkffvssf/ukMMVcJHWY5Y3xcf4I2V
ZIiS0uE8FX3F0GLJXO9SxERctQM0j4qt4NDbff0tQqP6h4f7c5YAl1YsBrJQHPCUNE8/vuhBbIWl
FIZHyqxzm7rkkeVW/Ker/GO9cBVujKdpey58yg9PtFCLMy2aq2Cx7y5QN0KKiCybGMcEx/7vf731
3/ppuazXWsNfBEROoJ0f0hHCutIMw0dzGuFVMDVokeG2jz2gJmYR4QPjjD/kRf7q5lZDB3EYrNHg
YzK6GsnZWqICIF1AxRPGMdKdabQwXev3398anLQ12umnuyPRhvGm5kMXkOu5ekv+/oFIkqWLEI4M
RyDxwzW4deutB0VP5RV3y70pUsC++ETVvnImP90S4rDrUh85WJA61jcrYD5UwkX/1hCkDakszyBr
oHH2rEMiA+wARbz0IwLCbEKWLBSsFFRBwyN2sMTCHE6UMQ5OIx8j00439mIDTepNMr+CvkbYICrO
s5ulUvI+MyQj0y621KPo0ORvXBITccFHxqa7UcqC6EDAnmbnERE+7IgwLsOrLJZtdIJHTf+BXhOm
P9Rw9r2MIzvGgoGIkZ5FleUdf5edWA5CnWQo/PiCcEcr8TYBfyuG4lT6r7YJ6WRYAl7FAYl/l71Q
3mQzUcQM9pngUWIN+a5vME+V27RdmvgWF3UwE40NnGF86ek7ac1pLgvHyyFNYETB/PHjgiGpW4Dg
zgJyfJUpzZvvJSg1FkkCXLFRxgTxLifIOH8rU3r4HBsHCqoDJtcekn1awOQZhdNatwJ563BVqSAm
oARaYXLR27b1ZHIcXhu3XtnmQwUL9kCt399hZ7RQIS8RQG/f7/x4ryGNxRcc85rP6MJ0T+ScWiqa
gQmnoeWQdDlwSlIWyuLSsimcD0DOlmTrJRwMD7OuZXsZQj5B3ZF52BIb2CdMe0Tp1gynbYIIQ1Ug
VktE1IhHUSpmmIk/kwugA7rJtNlE1r/aHECfKyQ3/ScIL3Z98GKFwh5pgQHqSmUyXMam0MwpC6Li
jllsymRXNhbJHkGBr39TuDGoCy+KxEwWVwaadDOXlptc8A87dwNy/2QHVsaGW8/4s9o2GcxkbKer
6HOOGiSoZZwwhctIRyiQ9S0zRuY+Bx24aYPRCz5LAlksBpONGoKreISEv/MjZrdbTN84rQfjxcEF
uhA9QGgLwuimLRTFQR0qTUsbwzpSOSDiDWL6WE6oQWO7tFN6W3UCZz2IGHzTJi9qsP/WsPDEySUI
7rO48nuMF8MoPpXgsi3+P3Zw09PyY+1aM3zGXGL0vVMzy5PCX5fUMwlAz8KgnadqGUd0nnndvyhQ
0SjUSnugZC+zJn7xYye7rqcWlX5NQkB5ckxpxQ+gcARR1bweoAdFPzpnp1DqOsYJWu9V0TDFTzwA
oiAH3NyA0puD5winstrUmeieEWAKubfiBd1gxeCfipCMgNalEw/+GBZpIOJvhlBNOmQZG+JN23he
fhky3K62DnvuQnFldHnvujURGZGpac91ECXIWZ9tBxGaVKi/ThDaRizYJJsD4MBFBTKNIig/OH2I
rn+IQEl0bZZC0rMz6sKmK9FW6kxa6Smk+LZ36aIhL2FhKggZ0oVH+7Box5481ZkOjU7H4vvcxdMK
/7BaFIR++rWEv7NsqbKgzRAuGpojbzuiztUZc0japHsvlRt+FakFy2jy0TdvhY0bbOMBDMPD7vkd
GxumtmyX2W1/X+Oo0ltJwMZ3XYVjfcSKsbxg4S/6C1dbSDNiFdlY7+RM7zxba7iKDYnqj5KpPXQZ
Ez6/wGa7DdmUsi2EgP6utbqm2GRZJPCsiAWNfR5HpObM3C9kljZUZ+j5gNtoDGfYYK2CFZGokGGi
w7dJXZPoG3fbrozDZ9GjESYzILTh3sUNvJAhJky4TMCToosOmts46PAiuQmOaazLUzBu6QwkL4q+
sIteKJHvbh81X4alGaODqCBTHMLWMY89RyZ0ol7MZGGZUUvsSj5J9XXUdvF+souMkCcrVjEzixmt
ByEF9ZlGmOiP8dKiGG3nBbWHt0CJBc/KfVRDh77b7zznixHExrAcSjveArAYaabWCaXvUtN0pyqT
zjWzY5ikmJiXq3JxCQdeLGt6TqwUKVxa5V+rGttbSeH/RphffeTbV7zqql1eZRswZW0Zq8D2zxN/
/c3wSEAaS/V0VpUL5a3DYuvxekp+bdnSYQLMo4aT6UbrxyRa/5azd4QrA6jAG+me/luumuapkwDn
obUYzFOVlYQC+Fam1BHpSPdO6EWIirhwo5o5WpLe0/oMUx5lpdBFQIf4bjPzDDe1Dypjo6q2/pSE
kcZ/H/v6cWnH+vMsor1KumrX1/RvlyGE8yRT1XzNE5VhNdeHLAB6kYVVi+C2qP3nujTZkwXs4LJA
fiPz8q1up4MN03mH2xFxOLTrNxzS1otoAvelW/QVvM2e5lDaksUwZu1Vt7oaBz+ddgid8TARAlkC
cTVxfNVZ9biH6FY8GNhKwHyWa9uu4C+2doVGG6USUE17uWMy1p10TivAC61gW4epdwgIanqxC1Tl
Kn6o/dq7g2cX+HtF8u8PM9vpbYfe7UKgctXbImAE7XsLxsslKHbKU6gyRPbMosCaD2TAf1K59HYM
E+6LYOwvHEkk3ra1ysu0ci+5hehCNYSV0aT13qyl1tcoj/k3uwJCleUxKd6gpqOH2OQEMBqmZe+W
lTnf7d6WITjDwed7Nr0ko/cjpdF64QSLumvLXJwKD5GRwxfku55jMe7GNp2DrUvyOcnFXoOWG/Ng
vNEl6j8fJmOwGaxOvtRhLW7SGui0bnR3YflLj0oJiQtUaCxPgHGIAV6UrlFwaTE/KcYq8THmTfye
5H2VHVHau/cYSOObStvug5ji9yIVmo3FibpL8pOja1pI0XLX1E1w5VRLd7Bzf+GgZNbBQJ7P6sY0
nMb5HkXJRSAyMqESGZYIK0cF7a8vFv8wS7sKGQHZ8HDJ7oA54oiKUVDvmFocgUblHD/wf/AG00fG
kQG/ZESEel8PCS9qTmiGPOS5m0jKtDU0pulnl+kyIVOMMKuOKVQIRmple3q36BMRjnDE0q+17QeE
ZpXVcOWUU/9aZxj/3zgENSibq7F8zIpMfi26umpObTaNI4Q76Og3sYwqONlDM9xHROv6aHeWPL31
jNeQ0+JkQXK2nKEf3pCTS+cb3f9WnSEyTa9NBqX9tZqD/mIya3OtRJiV0M9jbLBZAtxi6IpArW9C
TtgHyNjdoxNobxNZaYIuDMGOd8wsj1PXiBD41Zc1Ir7M1i0oYmUFE2A8bmprI9V9C2vVLJuRw8mu
GMAwAqCwzY+ii4brNFbqgrNO/aBIWpUPhFvzcU+Uk/+YIinAUqpYYSBkk/S2ZZUWd5ihAKxnyIB2
ZAbVL2FYwOczbqyAwTj9c6OpxWE3GwqfVgRA5yGGF5y9x46sXyhhAXALFhfa+bzBhIB4Knl3pOzv
6dkOJ8Ld+LjMVcfcxxTFZdjaNMuo8bYlggZe/8IMnzInnd8xlHhoS3MvvxJWH94ucI7YAZ2An1r6
CGAuCz/kSCh72FxfYBjVGIV0g2gtmCXIuzS1ntxmjqYth1r2RNRwprzNQc93R2tQ2AYKFhkX7PqX
iRhn1Dh29sWEFkVC3zbhXRVK9hWxPDIgqzjHJj3ilmDAppJaJnio/ImA18wL62f0mjTFuxLPMenN
/WXnIrCQTrdapLNxPM0VQEh4ZYSwlEFxv1C180q70UXRYU0QVskcIXHDS+LPXjLlUkDZ6fzJJEOz
YffMrvqEg2Zl2ehqorUSWyFHz1ZKm3F2OV143oI3QDIC3k8x7r3BBiLVFMF9wecMcaLd7mu4Gj+m
soG5M1H/nHpy2liSCBAwYncvRVzHz8zOj+D5zHlpqjcmYJdA9el/F/Y5DZODZiK8NvmhCgfdVU1x
iNUguwSX6fzArXmWict51i+PIRlLSQ6U0fLTo47kLZBJtp2AT6pXRi8ZRlAISKiuEL80hxjAXDCT
6BYDNsQxeQgnOrsbZ0ak4Earrbw/unbxiZO6sxsseYyEig8RXXlG/OFBpOJuYdhC1gAuYqCA6RcT
SARpXnGpM+dJ9iib4wHQmKwj/EWOzI9RwOmfQ5dBXOTfzYL9GvYSrNXFtwB0ofD5xIgFDVnE6Tpc
6lswiJd8J1rEGu10Mja2+ojj/XVJEw1j6yoLH3Gy4yxGejdM40PWSeLoTHxqQk+frUaPR6vPUPXR
Vi3K+MJvYn4XbCGMh0f75LSr60uZT6q0D37Kfxsyo4UY1JSHrgaeP2cKJRYvdtpzytvAhVveAs/c
SMdQuuVj9M4/P+9lDqV5jvFBOU39XYr0cmrD/g5VeMB4ycuumPgdCtUxSbErMC95G1xkAdckmQSG
fxV/RUJqnz1t9CaBL38oc5Ju+FGTvZoroEZ1ey/K8TFKrAYmn3c9+7K77vJYPXY5mpOtFSAHc/Da
7vsmE085XQ1MN7nGvFzU1eggs1Jn0Ue9SxKYBaIvoxzhHRcO9q6kG19weGNgjn3GuUUzM2wg5gdu
V6Bu8N3lT6r0SIDgWIS9t16+ouz7LpwCJ4lFFsS59BniBRz7GV8SXxuGh3ZwKBZb33zuA51dT5TV
uyUZ2kOvsn1qQn3IuyBLt5k175zgU7aMr+xRKBMgi+6dxK73nTdTxOnA3RaNuV1KBg+9K/xrD3DY
VShRaTV0GPbGGq3vZAuwC7tjjfeh+MGrdgUG+yFVVUd8W3FN8vkecfsZ/OqZ5uAj1feTEfDPMPM9
Zz0RP72qh0PWJTgUey0pQegK1tZL18Z7uK79p6IXFal4WVKfczLhQsSKyDNC4vBU9CPKy3VEHRyo
MXB0Tn4ArshgvkZedpEVazzQzHsS9YyZUchkB3cNHiIH8cE1Nr8Bk5hhIxmDf/N8x73z+oGTXGS9
DE4cXuZDZxDianHocbYlOClQtTYMuMPIgcdmd87WpWAFhRM9Zi2ZEXGmPlkBpgLi/HblINWFZ6ZL
3fOxdm2P+Lay9e+92Cnf6BiV72UWn9EG1Te5QUltSVZdFYrLyIoe+jz6jOA03+WyQjzRhXxyvV5+
liFBIJWdogW11JR/5hrnpoTShXpRvGOY8A4jh16c7gRknlix7TFLlokSSWYHvsgOLSgRjs94/odz
KfvyayYQE4Fu76dmz3INA/oDoe/tgHbpLWxDSZ4dOI0NCA8Jn5n+cEL9hPs9a++dcM2BrN2mBo6I
PAcEtbqeeqNPWdRk9/2QFtec+/1t1+Fb7dTCj8DQ/Ktkin0jg87loablU14F+FpGUiaxjK5NYgKq
FEr+dg0poTcOfKC1uSeIJ/OenrzE+TK2p85V0zuCBthwfcQvXXruRcl05wQgojqCvoCz2qZde8GE
iTld3qbjy2AakuQ4p+k7o7sSklUfF3fZMj9GNOE24+wWV33GQWLr2iRjHcbcYhjcWkVyRKIX77A+
4rXk9Uzguc1kve5FUzU7UxbMz5dE3BObRXPNjdLimT6bfitk198wsRZmK3CT/ZDzuCDRnftHWiyj
3rpuafiyB7o/8GUzYFtqQ4KD54pVZtzZYrh0atN9MVQDb6jg5nI7uJ6+Zx7cSdbvQi4ksOAeNZa9
AjyWoI2vvApd2La2sNvB8DcCpX+QhVuHbu5ywags4FTjgqIn4a1A7VpGDsk6nmo9Pm4THkxrQc8M
vBjqGxu2D8IK3mlAA43Da41aJsr3yZIRztAtmB7Az9PV38Q9PhxcsSoFn2E76dUCEibfL07cwRDF
cBJcAvzL13eiwH+JR2o4aO0hmyX7sfkxdeThgjQeW/eIS4+yoo1GmxoW8dsWeAQ6PBgZZoMAZMTo
PQXtq9028ec1chHyTEokAhyBYqI5S/EVUcXYxUOCAqukAh4zTMEgxybkqzSqsPMyO9wYYSzGqHXo
tOCpabfv8LUHb1WRNihp7XF6sUK3z08OoTj3LYBnUHUR2oFNS1Sjt+lt6P7nodRpsIkhQbgHNCNE
APYjp/6DSvrM3bmDyAmEa3JOKW0fV3fKKZZ3Wbuwc+YaO/Q5GWuS4ISOsSl606zIeMzSa7I4Qrnv
TKw/6xhJwzZqGAKfaeOO3SZBc2o2pKgIpu7zKEjw81MP6bwYlOJ/9eqvc6vBKLRTU20jnjRhOHXM
HqNqEmtXHXT3NUugSYPc0cnzMtcuuHu353QzIfBYn4aG7Qkew8VUGrJXwGSUjr8bi2qxKTxCrPId
ZtV7XRT+yMnb0KPhj0iXrTfm3m2FCq7YlyYiN4G77jmDKPqGz7QSIfapXlqsCDrWLN0E2xSAowRt
81LV9IBpQGxcqfoXMzToj5ZAwBLi+FEth6prGPwjCSqHQ18ClTz5zAae3blMSoqfDF1Z1RbLa2VY
KxuqeDWe8VLpdxQkcb7Pm86+rekHfOelI+DFGmrcFGiZsMD3TTPvoJtxB35B0jy+m6Z7suDnX5Cc
J68Kr/X5chODmSO6qf0X0zTeZYkQMqdRXo3n2i2qzwH9PxQg7cs4J63ZZIbonO1IX8TbEJ43v4HQ
qclQQbvPW+zEcteEVe5C2xCkeHHgpt+UDkl/s4C0tW58IRdcpQiLJyJqIxfdjOXRotV5RZqUGBLc
JdJFWKWUHSO4b8JvaFVtlzMcFPGNbSKo6LnsqFzmCYovuud8ftO+Gr4q4knAkE+QTvamXeDHdss6
V8iWCe/2VA2opOGeAIQfhOWHvPmTL0AtTFLuEXZ575wQkYqLzivuXQ5ZuCdbAyUTrhKSUlFpRJyO
GdAqCXc4DMobqtPM1I9FiYck3/pRkHI6jRzh3rnrnnUkSpFcvzjJKJVNjAJ0q6bVhTMEU0ETQlaS
D+3kIm/CZZu+9E1qFxcuPcLXnLbug3GdOiUtWdu3TNmR+2DRH3htBFHXtHWXhpNqGMTBIYnB4XEE
8/CZTnPXvgdqEmfw+et1IW3UaEyAYSJY9EiYtmsrqU7E8JRyHyjUQ9uWcGaATC6nSGwKGfYrxE2r
xqRYvrfa6/pdQ7oI9WHiVvVpHFJ5XmRr//CQYiEllGPff4eY4+LCjCc9gexJ0EdnY7DsWPWaUj6d
+h9Njiofjn09xUh5FrYv0tTMHS5s8UonuP/Km43c2p8z/a1LQ0Zlvdf0q2dpTiL0ZW5ynU7+iivn
A8S2lcnyyS+t6jVmH8G3kxQTAvNaFN9oZ4cztt+aLgJ3lV1mRQNzJOozDkr0XgoXp6rHAhlID76t
CAMjuI1IcP7Q3pvbTSnq6avrTThPir9Cazom7fU2cuTyUHK2QAKdk0C8MUh5DD1eYQDAUpT+QDjW
fYox/z8DrC4SduNY0z+0Y/cJFScfxYTX/KVJE1lt4QOTCh3ZFhqqDqKvBjJRR2/IVPjOKSulhWCm
2kGFCEj1VmNSR0zbpBgU3SLvscg3i//mMLh9t4g0S3eBKol7AgMDsYmveOqBwp/jHvT4QNwLSUhu
cdAOOXjB7ERf8nTWIGIXQVIvU7Pw6KW1f+aGAE7XSFq/qzE3REqNLLiR+fZ3znQDOYBzjiWqmn3/
C7394MqlFYPitKwCb4fABy0RCQOiPHEQiWjqE26JTW1FoOb+KJHq+xx/Rmlh85BFZZi5VMJ6WSY+
eDsGH5o+8zr/OdpoRckukpXLJGEgK4dPpJ8lO1DjmP+trufFTcq6JRhzzpnIKd/CWdapqsyfl9Fp
Xgcn0u+sLuw+s+yal5Ja5qEkr2/NZa0WXj6/Hi8nZFF4dzxmiiC4s8m9wPbCUawIo+K2AQqKL1d3
cqEn6dNwIimXFRYAZ83vEn9a+ypIft4RBZnXYQTMueFTPS4EDRqK5iauMFRrNXVEnniCvoWk6LuL
mAaPX7LaRJ9oC/Ig3B5f2H5CmvEe5ZQFj63T+ilf1oqW8djYYtzDMcemm7aysQ9VSXbDEeO1Ex+g
VmN3N0NoSJmRHmftxhn4sFalAlPnN63zRnk4EWmczYN7HZuEyOpNkJBktSeNZqgPRebhcy0lZgm0
8XQoOXSn3GSTmzEHy5wOCiYq1dFtYGT7dZBxrg+BV1avjBNMdWi6fg73EZMzQ+uJb9mZj8SMhNLk
tntBXVxqujFclmKBbwjTDnTc+47V8dlAi152XaHWmqWNGFEau+X4lBh7vPZiiD07jsQRCVoxzVaO
y9qu7jDScAcJRNZuHxVT/jQa6b0WnUeUxQgyqV/nwUwneJqmPPWO3+EVyMbqirQHnK8gbSXHrboq
i12kmwGvwghpeLcQJhCcqUTJN1/Aw+GemBvJohj9qboN/bH81qlhGB8K11rWgKShTQ4V2sM31479
CdAgnE+G5aTYbWjczGCaWVpf47xyXiQfQoszZONGDwwAeM/hHXvBk4dQgFP+ZHNOgHK/3BYCmtnG
90PQU4aVAcqwC4mRHTQt6Z3ThT0neNE4Z99hEpxWDXlQNqv7AoTT8jUic1jBYM30c+ObtD6UJDhj
kkjh3K3FoYDe2gWIzw16auwJHKH5HEU6viSVoE1vebzE8ymyt+HuMRXdoHaVnwtDjtx2KSf6EYRx
qi8cPgXj0aJbH3VEzPQWn0J6Z0ZNhzDEl4oDuZ+BuGnfQVSb5nbIhsKc9cwZoF22AcF0OSi1NizR
nLs5vJnGtS/B3FnTjjuqr8qc2GoWY5o9RnxDvE2Kihpnqmnx/Boa5fJAwm94pDQI3A2pQO6DCuoI
IBw21ufBSp1wZaoRGhTTfKHaJwb49yqLf8h/kFVQBiHQJmnI9tUHsYpeIzj6uqJa60f9hvsfV7zp
phcSDRhwJoIUxt9fEFXWz5qOwHYVj5+C2vYcpuA/azqI/Unh1ljdyQll/yUWHVkAG8auVr2zGlRR
V4M/TAnPltLnmJQrYq7sse7+4b7/oWPhz3CEh4BMUE5p58N9K1KNO4bt/UnUcsDWYsFW7H2zp49X
Xv/+jv+hOoIPKpyAS3na9j25/il/U2sWDX5vThfdyXNKF9YdIMd7en/56feX+ecvqSQNgoD+OGUZ
oMmfL+OaqrBIdelOaCfNwaS40KIKl/OUhDU8jiS++f31/vkEuV4ASowjrJCI1n6+Htss+m349CdB
rvyO0auNkW31cJvQ+fT7S8kPgb8onBQTXRZNoFA62R/vLdPGg+Ywd6csyDTs/RnjLpCPg0HQxRVH
UizpoJWX3qzxxPp62dlyaC8au/Yef/+n/Oop2w5+esXfw+n3w4+Z10gFmAL3p6JIz0JX3+NqfAvz
JDrU4v9h3aDxlZ6tEHeh8/35ATM3Jc818ruTHYXpaQIWdbIKLa9+f0O/Wp1oJ7FkuBoZpvzwMzYO
J7IubTqaUcineNP61cLS/OFefvXYvL+Ud9qzERp+eGxxmnLw6ePuNE+hCo9NFljt3RzQoL2MaM9V
O0uPTHt/f2sfVyiqTcnXar07FMas1Z8foFsLalBQEUdqmu6Hp10C1+gpwUchrCl8+/3FpOJf+7tY
bb0ailPBluZprYN14/vba+6D4W7gnU5Hpn7Fl7JtcSsjQCGI0hfiHIiRgxFy7me7bfV7HY2c5rBY
ncIyS/eAVusrm/Pjwx/+qI8vzl9/FMdUNlt01jr48Ov6Ar0j/ZjpGM2wLtq8aR7VkNHmt5d5SyWB
BD92BmglCEG8nNk6fqXw0M/Jn17hX/wWxHavWy07LlPHD/utXsid1Um7HPXURkeZhNWPIk3He3I4
3Lvf3/THFc09K4GyfFX/OpJb//mHwAhXjmjcwNAz4thWbW+fc1/YF7+/yq9uiB86IDEc4gHonp+v
MnaMaJwlmI6JK2hHDkPic/Yqgjk6ztQH8R+Enr+63HoxtneMKMihf75cZi/oEeVAuFyYINSbI4Rs
armGVGSOv7+xXzw+1/UgCSrksiif11f5b+t4RTNYINa6o00s+cYoQR9AFtPh91f5xf24rs9Lybcq
QPj9YXMDClOidRm6o9Pl44/GTf1TEIkJki7zw99f6lc3FHhsO4pdwPP8D+tBjSNTMof5KipauHDV
8qqKqtr/64t4UJdt4bCFav1RiNtVC6SdGuKoWervaVIG+9np+n//02D84B9nwSmW3IctRuNcQQ/o
tcfFostZOk58UeZB84eDxC+eF3o2D4+JRqLN+/rzAvBpEYEYcIYj4jhQcH5WXkiaI/9+AfjoG1Zu
uyu5zIedKef7TRhzPB9bkqzuE1nAbWpt14I3t/Yzf//rrH/yh73ZVz7B5jYQKN/VHx6cKjuBYauZ
jpzm4ZwaRIhiDTWwp4uon4fHzBAj/IdP3i8eI8ULXx1eIsdjqf/8GFndWYP2ZDqmqTvfyBgyTjo7
fvGHW/vVZQgNkS4fb05H9odbWxJCPByfWe6A6t2QjBIWLnBDUYp/qfxmW6XpLmypWd98Kz/sQFUR
0L0IwvHoudPweRS6+yYpD9+TwVv+YMj55+YgtXYUrg6pRMAZ6OdHR4ebTiAd0eOK3jsqNYOrBI5y
rAio/UM58s/HRyXi++ypjlb6/7B3JrmRK3mevkoh90wYZ3JRGyfplGsIKSYpFBsiBgXnyThzmXWG
PkUvG2igVnWYd5H+GNnoDncJcih728BDPiTihUxmtOE/fj9hnlwOqGbMIxkxN3Sh4IIspoS2cJP6
6fX993xCmsC2UnXaAQys5ZMjlbpUmbT2okKjERld0NV8pbWgL3Kj7B7+laG4JLjyHFyck4u1n4c1
byJTDQ2lGXw3LUkST/no23punlm77YgenypmZW/3Hck2i7DP8WciejEkwsjUsHYJ/g6jOsy+axca
isoUogdj3X+qVooXIpIVZ26P558NJ4DTbPPCY4jrJ0NTQG9lkRapodSz4qML5ZD4ldDefBNSY8lD
6G5+G8Gyk31I2lOYsxrbYUkk6KJa7eha02CIvf7FXpjLdqHTZvR7nNNRjNmidKJIGMWMRl/L8z4Q
dBK82Sri+aNWy8AQxEIVJ8eX+lI+1yxsVgwsmUe7mwp6JkGc9Mx0nu91HT4Q9WyYDjyJSHsc2Q8U
9RYdaVkRJpCefbkYINxm3aYfJa/e/H14OAhcaBbiHzyLp1fsVI92ZSzmlvuNaStNkbgcxPLmG9ag
3pYeGy4IW9NOTxTp98Z0VWmGxpaajBfafan41c4s2/NdQDuUa9GIpW07zT75PqooKbdzYcAMajYF
+C0/oyQT/utb7fm3IeJC4yjenr01mJ08ukpOZjx2KzOkarVHiK5yrnVkUfBECrCxr4/1woQM0s44
RFx7HNGTj1PNaUNGxjZCsZWBwg1O5tSXuj6+eWMjMuOyDfC9uAuck/2WjtFEheZkhFqJiudqw7uo
KTQ983m2n3J812HYUWNCJMcmXWedvBN6XA6EQxpmQ/P+VWcoMbHqhOZxmFUXtZjFmfFeWD2TSxUw
0WZO4rkdnyJdSoNGFWGECq8kXTrOekEWPzrzjZ7PCti0SZMa4SlsnlMnhmuN9w/OZpjTe5sepjqi
P4gKnEh4lNsvI4IWss/PeE7br368lITbTMR6NtufGsptk/7hYJTaMEJLW81QmwdV0nW9DgTyh8Eu
LwzgwxsvSKJQAi6FnjaHoLpxV671eK6Levtip78GBppm0Na5tSOefNEB3VJKdhozLC3ZXVKvpd6a
Sh2BQZrn94Y6zret3r793SIQQdcJh9zFhj81CtvcIa+aF2aY0YbomdSje2o1DcHrR0/Tn83NsWit
xp4RROgQRjpe4rXqoKenogtTOVG4KW2zmfeUEG8tPpWDdk1Xw9FXoDwZaBCTRAopcsh/LNJR1INl
w9mkxKBBIdVMzFH6tajbxW96ezYOwMn6ezgMyC2gg2rFgalvTTNuPEFol3ZGw8ZortZ4UAnADmf2
6/NvRkcgjxf/EE/FEz6eV97DLsxGo6chsINnpBRXcYlFPdtwm3C9kXWIl/SMMfr8jDAmYjZY8lvD
qqEdj7kg0Ww1dHKGbpmtH7DlFa8Si/tNLVGQdOSgn/EbXhgPI5HPRpyEiNyz8WrYGtqidOGAzw98
okIvvUaaZhGmiYiCbD6+vlmevwk8BMyQyRGZI0F6PL90Nsq8KIwu7GRWHqgYXxB1jCkAbqJzAbnn
U6PNmPcH095GSkw7eRIw6WkTVQq2ZSv7XxDhBejQKn4XYR/5aWwZb7YPiBtjVfHQqZZBPON4aoM9
kgSOhAzTWliX9LxYITgkSK+vr+Dzu9rVNWJOm8qZIKlxMi1k1os1hcgfmv1cPMw01SB8EWdnrs1n
o1ga7oOqYorwdLP9jydTNMmcaxRuh6Kr4ytMFiImUrUOr8/l2W5gFExewgwWPdJkSI5HoSNnS/52
Y0gWtbigSS65cJ2USppitMLXh3ppQqQruAdwXi36H46HKtZYWiAFoWNHpvY5LwGTKEDF/bePYqED
ZgA53Gz50z0At9+iy3MMI0GNlzOMxv3clrJ/6x5g3UjvENxU8RS4m44nQ0XLYDeKg5YtJy1A6IW+
kDmq3hisx0kAqEIcg8wDkAD1ZA+M8PTmCk5saMFP3CNkDAW1p8rh7Utm4yQYjKMZxumNQI+lmVmG
O1A0jwo55fqoQE1L9v3to7CNTcw2Pg430PGKLbD2+oX6cYLBCXrYq+y02zidi/2bh9leeHOzcEyD
iNbxMNGqYNXN6RgCYpvry6oCQnUdp3Z5Tgvwhe0MJYI7AI+UCNNpJhXy9apSmTiEcCLjG4UCnn02
2/MZa3ez0I+sFqL4pN2IzlFiyk1wej4FjUJOWQ+hgsWd7WM9UbMgKaumupnBnt0VsRjtm6kbIV5q
udnEbz+0m7dPnIl2ENOwTpazGulGmmgjDwd4RO80k+7EupvPRVN/h7NPp0npmaXyIv1+d4+/Gj3U
82wtTLNGGP1Si430Pq8UddividwAaID2YtMBJg89IpAyQnopT90za72t5ckvQezeIjhEmAnr/uRM
jyMgutJKp9CM1vodOPV6T+FcBGiQRiSKG9rpzqbpZfJe37EvXMFbSAqblPgNj+TJwWDeESfTHcMK
GebrnCYrX5ijctPTuvQvDAXXBPeWj0otyImXYZauQ1ORGMPEJH9FpcvU/VjoY73uyrg4Z/u+tJxE
KV2+JzvHMU6Ws1ryhhSTOoat62QXKw/xdSUXIAUa8PZ9k7Z8aIR3fr6+mi8cS7YRobAtTKTyfh7v
JIe6TtLL40jYslTfZ9EwBfCw5rdfzJtT7aJgQGiFSR6PYiNsppsynsDsTdQdNaK7SmiSPvO5ti9/
uiE5DjwxWIjbtXk8CmdhSHMpuf7ndrnAUnBQW6Nqot4ZDVXifqVU6a+3Lx/VO0gak+N3OPXHQ876
0tJLtI6haKP8MxlLzafTwPryr4yClc0A+NanEJqedAO8Ax7phV7jgwsG2Y8LqOz/b6OcRD/SUlZw
+klsNBEQM8SMOm+YNNd/6yi6AGRkblcXSYfTrTBTkkQNZjqEZFvrYG10qlnVQTszyvNLgiQqWwFj
w6QT+DTfBAtWaLLVx1C68Z66XcdfwHhBHkOa+83zYSRi40SmyHeeVjw0edm3YhP1gTKQ01I79AdB
XcQZU/35u6arJqcHjSgbfWH95HKAPm52NoTmMJ9Xy6DEUxK9piG2pVs5HaovTiTuonKMaNAo6ulf
mCKphu174Zbw6BxvcqcsDTVKsBHsju7pWIHUMCxTc2b7PatigQaEpft/hzm52LMFld3GjMfQoZWa
RGS20FRGdGco59qP48wMytyV1EmiHI7gRUIHDYXFoNXl49s/6Vb/xIVFaRLW0fF8UxmzedNoCFEg
ownOLYz3rlJbn18f5fl9j/NF2xl+EcYkyY/jUZxmdqXIlyEknjPl78BHQzhYWmd65HWZr7JFGZ0A
Ir7dnnm3n1/5BByJEyBgTfaNPXU8cCdRqnf0oQ/HCTVXq0d4Tddz+8yO3Rbp+DKmfpj8HrOjJon7
+HiUKcmiUtTdZgnNdZgl9OUUc1mF1LfKMzvnpaHIaFCjR+SMBNLJUH2xGtOYc+9DsKJfQelLAsTU
/stRdd4a7SBuRL6SaiOWkPq8k3MYuXIciLmNYZ/EyKJQaK/M6hMqeXvQY9qZeb3woQjeU2uAqWNQ
5bT9+R+RwImSSUI32hDOed3skeakH6odku7+9Y34wt1CvhJLavMzCBOfnDuaubK4MPDNllWDBJAl
SKFOdHsao2I8JEuMW9jY46UyVOmZnOkLEzQtVI6JGBNcIU17PEEi7Vbl0lIQAutogrGslkc9y8A6
vT7BF/YHPiHFmywjqbZTV6ooVurgILmF9Pgv6UFTqKgONDqvW7+mr+fr66Nty3Wy8cn1UZfG1fH7
bB9PauP0jwUtMiBNIUZ2cpWIx9rtkgPu3Crl5zGF6f3WMQmCb3k47izywae1cJXWZeiENACMJOWi
BHsk4E7nZz130yVSH+oZQ+v5d8MepgACjptKAdkmd//nxkyKxpFtS5wRTjrRKlTDLmtiV/7rk3rB
yzHxo0mVof3CvMTJMGmmzFLYeDmuk4fQzr6JWWYekIOnOLZAVaffDRf4ZofLt7Wiv9mV20Ynkrrt
HGpwTkY3FSWesFG4n+mB/CVdrbuGwrQ8vD7Jl5aSZLQGq5HVhPl5vJTAnGi5GDkCGQlbz+qzGao4
Fe9vH8XachjYQwS9T1PRVdfXnQRVFDqKHl8BlXAvCiQ6Xh9kW5Djjc9hxg4Cs0cEk7TJ8VQm6aZZ
X5UypGIg8doMMmyXFfM+yozs/etDPT9j21B4LdiPfJ7TcFK6IfjtDOmCapUpDNx8Lj/ZTiP0C1Mb
7Q8lcobfXh/xxcm53JOYrDqR55PdkHZirkkJS8RX7eyjC0EanflmWBqfJoiuP7P1XxiN64O8lkMU
n+jsyWgqLbxrKboulAbaATOQdkD7aDZFnZ69+Z0ma4tVR/qWfzB4jr9aA7DCAT4nw6wfDKr1EHyl
JnQ+oBzdnpnVc4uHYjZeaJvsKufqNIc7tDKqlJnQ/UgKpfFkWfXyTs21Id3TcdRmt9WsiZ+TiIr1
TDH2C1cJYUGSoAK7n31jnCxo26pZGxsYW6rdyDsh2uF6U4NV7tMRgDdNUJYPq6nx2g5RrUyJ3+z/
MrzDAjP0ZlhuT/AfL7mWqJosVqhX4ESTYOkiEaZJdubheb5ptkEsh2YSbnis9eNBenLzSWcNoDcS
soQ9DTXBkLn0VLfn8qLPLy1GIi4C+ZX/hSV7PJKKiDCIrBWIF7isfdwRa0e+XJ551F6aD4YjPhxn
nZDhs6ux08u8wfxZNHVrpNzaFLMOud9szM5cXS9MiApgciGEjR0c7O3P//g+UldQcLF5Pymsyr+m
6WAexqkog993yP9HHP8Nr+2P69T/1n/7t6eqT/vl3bfy6d//9tc//vtf//iff/3Hf/vrH//51z/+
66//+B+QjX//+Qbs/v2X/wk6dsAZbxhjh2owm8Oy+SbTU9f/+98M6++YApuNiqVKwGorA/rfpGPT
/DtmMqRvSlCwFdiU/4d0bIi/81BsIcqteISgmvEW0vHJ/aVSH050mXA5KFkaLU4rp6vEKIceBte+
jmUCrAQ1vieVDkq6Ig1Fu+rN0nxnpBOtnn8s1t0/n9B/g2x6V6dVD6L85CD8c9ztl988ZFpXTgz0
NJlaZFTEuu8scB+iMaK9NNbmQpsK60wW7eRh/T2Uu4UyDGxlXNOT16BcaZoeerHsx2ayLwmo3UO9
ghqGQtIOrOoZT3S7J/6wGP45GslLjh2pJ4Y9PnZTSzA06xGkUGzgarmtAgIRheW3LqSpZpomL05b
1Sut+uPrK/rCNDHoNgNddzWXasrjgWkq1OusRu+wdux6x60pfg1WuQRptqpBB5Hn4u3j4etTfiNI
Iz+rlJMFJHp0fdd9mRTlvAMEmyEJKtfxvSWd0d1DtSKo8fqYJ3cai0silKj1VsHBwTmtfO2snqrx
ic7fMe+zEG3aFLEM1QnfNgqOlYnTSGH37wDVqZuPptaMt2GDCXYKC0cRrfKWit4zDsfpCWAUvAzS
OeRdyeucxkoSCLlVZU3zfow29TG9mNMHgLd2upuMVRxen9JLg21O/ha0QBnmdFf2idrowCXmvYgQ
prCSGb201YaIob0tzsTGJ0ZNDpFgApGSZ1ZegyJxRaZt3itoxeeNKcOWut4zW+90G/wexKCshqwC
h+w0rcCOxi1GJWCPBscP3cjpKFoj58y18dKSYdWwWtyKhHdPwiI67ZeghJgJhibx43X9kGpufV3E
qbV//eNwzf95ZVBHsBVzC8qjqJ40uBKPT66lLZOjmEVxJYJqJ84cmZMfThB3e1kETb9UpPPtT374
BHMMPdsy3yNK3BkIQIlIftAt4F7va8o204u51yDLVGuUmbuxqcfmvi4URPxen+PJO7P9Ghpha2Mr
28ShP23nU5ROB9II8agXU75+gW5Ml2ySal2NCFbuNBd2lehf57FJ3lje8Htkrn1CCSwEJSEnFzK8
ZL2Q61Dso9QpwiWtzP2SOYsn2Vyf3j5Jrg1e+S35RAj9+EMayVjpFSSjfZso9mcl7uQPOi6GwxgZ
UBq1cviQQxI64we8tLLbkcZv3GJOp3Z4lGkitUcAuDV96lUw2H3/MLp5c0A4EjwAsqzgP9ux1p/e
OFnuXzJTuD5biSRGxPFkI03UFVIyyGO6cf9Rsez2MCRV9dgVE4qW9P/fVVphPLw+6MnJpzWFmAnu
PjF1wthYLMeDGhOhG8JrKJEtqvOe/kHkj/Up1c91j5wc/n+Og5VFtISTj6l1PE6SgtHqYExRXBxH
N8gSGHcNqZL3SbzUZ07/6ffbumFMStvJjpJwo9TjeCgjKawZWpR62MjGX8+FI6kk3i6qPywSQmhb
ATjPzFZ+h5u6zfUPR0AfDJCI4J/CsU9M6FjLWl2OCZo6EPsUaORZPjY9QNvSBVZfw6T2i8qZ0DYD
bQ31U40tFLs6BZMQZ1D5bDeUkO7mLHa/GL1poDWedIjeS2gO6Bg65HhRFZcxV03d2o+1UQyXiGcu
MZSLeX5CExVo9qCP6X1T6b0NEqsqL7KpQqepy6V+OayyM2/guwOQjrWy9Roj1Z2wVKzpwY5pKNyl
DcI9FZjYL3lnKo/RvBjv1Kw3f9AKbP8Uo6jeF0o26L7d9fZjmpsxWEUAFi4Q8hWQLBrG7uwlXQxH
oyGfBpejr5eLPqk7E/VpQxQBwr4W7DglQgZTrp3fmU6PpluVV++ltRICHavRcL1OH+OD2XemGehq
n3Y+OaV8vrAA0AODQxHzUwEEToOO0c6WZ6LCZQf4CLNxUXFANQ9BheW7nizal6TQC8CwyAbAYSjz
dAHlrbWXGVf7EkQqxAkPL5iIOaSvHnrrFFdfYkTBywDx8+J9a1tNTy5f1emtbScUvzJzjS6i3oLw
TfoFCTMJgGBLdI3FcEFzNapg2Dlw0sbJ7j5FecFxTR1V990F/PyuII0D4DW3spl21dSBd+r2LrLD
a1tin5TFwY6VRPMBICs5SDaH2vXSXG/NdBVgHBep9wclb4qbJlUi/S4nT363FNU0elMMHheQKFAG
bv5pQNBvkRWEd2dQf64QerpAr6ricV40/aumplO/AxQ9lV7MHtx04Sqk5eJekY3fRrFaetFcFOUN
RLyUmiV7hGAZg1Oq91bS6x+o55Dp3ljn6pc7gogBneVUlZdgPz5GdloDmazjJruTKGNdtYgEKiGV
cth6mjmXjxh9qh7Wapp1+7LmDbsoYqOdvIUSkGpnWB2/4axPMhi7VVcueszywR86uCP7eGiVnd6j
uhlQsFK0PhLJigiU1NRmyO7t8ENXIlV4U7spOsw6OuANMA5736gDse1qGMR7fh04alIg1udF0aCD
sunghXg2eCZUr1p4O148NTCeZtuagEKqwMZBMSxf0S9ojJ0W23MXGBEO2nUeLXRTKVRcmAHxKhEK
bbE7v1TNDqHHrCnLvV7AKTjYSdH3QJHWLn6vIFJu+AtKWZesBGLcOVbqVTRLEl9RPaBa6SRm8VlF
WyDxlIp+k8tIXdhy60Cxq7fWWa8Etr4RCQs9sZcQ0stKonNat7jHQC3jLqG+l8qaqYqBYcX0fpSB
0dkxKDajAShOU2r8nfKHyfTLFn7nPjVnTUNvVJ+SsJytvvrk/u5kHptNktuAHS580Tvq5CdSlgJh
A3v6gr4yktfwgocH2DbS/Azzy75H8k/E+1zPF3RDelPbrYbojQMkQNCmDeSUDnWMtLucW5q/kdCo
rUdgdlF/iEUh6TiwLfkAIaXIwcF20880MivdX8zCUnZ5moP+aQwYE57dohC+o+wcdpFTrOuDgeV/
XbVCLoEJB94JGhc62A6jPzb2QJbBdFZWW4QUyihQqMcaBCw/1CDp3yTDr2kE4OypaZq/izSTmjbU
itanBlaQuTO0wbxv1BLBUYdu203GVVd63wYE/m2kxw0FhTTmL4OLkaBmkae8yq0KtnNd2ulCe6kl
px3lXrQwNlYymrAwXWUM5o1Nib7fyh1lqZHcePVIPF92xYKmD1KAUYBEzFgASNVA3+WAaQ/99Hur
dWW7r9FOqA9xPqB+oGURwCh1rivQTkkZaYGWGNGdZXTFjzGfk5t+sfnPWpFBbmrBbQKjV4weNY68
N58GYSn2dWxS5OZRp+q6gdKSidgVhA4QoTTg2nop6DkUleVImr0g55cGcTrO5k7lHbAu1HbDSSzY
vyhzIIhOTy1XvELKnfuohFW1mzogrDm0M1BbsxntqqKqvjSSmHWRlexzc+gV+M5udYNccPq9NPSf
+AoTzPxI3EKjj3cVAMEQiDHamTUWRmDF7Qe95vrx60KAtMJ0aR5/B1m8qogUaP04taxs3rk3HaYC
v9Myt1fFko4NJegdOilzOV5GYByvB8wxLgaUf0z3W6VogG9KN6jK8ieVQCPeMJlGPvlPE1rNx0nL
f9Hmtk9ok9NT52PRDvU+X8SXRcY+apZfUM27MEBLmTFitqLt0K+BGHij22tLOYL52XCKfLdqm4iA
0l63iVyuQAArFAlztBZeOY/i7monp/7S2DRrLGDhlDGTFh9LeS1HW97r0F58Iy/vTHuOA2drFsg7
GIiA1GlCMuutg6AE+RhX3WW28J2GKt4rzbocVFkmtwkc+utpadYu6BIuPvChspI+ajDgXJ26fdJb
tflpdeUwB5kj60+UtrUIBi/Orivx7rzNVAo7C7zhRK/cjw624Mrc2Wu7Nm61j2sa9R+QEcGOTd3l
U6rKCMXthoBXxkTCYZxEqAIeujUQ2Lg3OvUr3E4bPehovJ05QbFHfCX9EoN3sHdq5RS3rQMyFXtq
KlNv6nvjZwv3a4YYNkTikwSsZ0DFyy338zQu3yJTP0SL+cEa+nWXj/3nVTFRYEm0jzAkai/vZsBf
TQ6GLYXweLBG3f5gp5P+axg7y4/1eAkEWF4dfqu/Uouwq/KU7i6KXlKVKkkhv0eYshl91h1MOSef
Re+toxQUT+pV5FX8i1KJiIyx3uniuiaRvMlla+VFa3echnrq7iif2UTg+/adgvHzHbbdOt335YJ+
S4oAOHz9oS7QYhLt8rRq3Xy5zOtTbdoDaqDIp0VEAPyxLs2HEcDpzyJdzKdudHq/pSNFbDDK+5ng
//vZIRyyHRG2Wyas6XKMh6batVLXHhuBPrg7GeKXE6dfZ7fS32uIYn5c+gXNlL4IVEVVfkH8G65r
N2o9hM2/JE4rH2iYoVx16C/VVsQUS00blzWKV/luyqtDRl2iBzKvfY8CRrrunMGosFDc8oIyr18j
EoG7dokgQ82ZFuS9vQadnXV+MyC1AGtbWz7RltoguasjYGHosNVbtMyFmixPGbWXd06zKjsVYRwG
VqsPFJZewHG/dRTg/TvKPO3L1qyl48eRZT11kGx5RmsFvk2jFMO3KSrQptdlPQVYpQJ9zLLfL+iV
BhOEUT/V9P0UwdkzNMo0EIUpAvTeTfBW9pofyMBRjAjOsLmM1pIjq9IP1A464cgBtGg+IBJJK5vQ
vhtGZHluMt9Hg5V/BAw1bvJG7nLZigmOdYQ4B8DL6lHPB/VTj1LOtYMUBCzw2bqDkKZ/quwo/SAy
bex4KZwo2aW9OuabdXubrt1GAO3ZVFBJ82uDN21nU+h12XRaQmOqMfkkXdDdWNBi2pk9R27JVLA3
SnSVo8AROOO4eMw52c8r4K+06DrslT73kGRCpFtWS7obyqG6FFBVbzECpQcBtQP5+RvpBfEM2W1y
Id4yFOZdZpTjPZWTsw5ULKUfK7IKQJdNOz+ma+1AbxyXJijR4J7266rF6KGI1YVrvaAsQJJGmjut
Xrg1gNZeTnylfQISTPEwAhvO0WLvNx1LdSerQsdQXrUEEqylRGtgl1OCHzLF2vsMJen+IiMj8wMo
xpheofPj6Afd4jm9iWpuTNTB2nG6Rv/DWn3gk8jAmmqlB4R/2y5w2hr7w8l58tJaUT8ZKKPSN49h
u0PrKY7pMQdA7zmqWMv9mrYGP680taXhYmvrhDkMmZX1twO3vgwo8KzEYUKl/dACm2QrQIX/ZPVt
PbxvhdHcOp3y1DTC9JcF3rTeucLrBlPZ63pd8mvE/WcQ8MNTS+90GQLOsz/EWHVBTX75djKyx4Eq
IF/O+W2qbAi4NIGTnmKWeZCOJFK9qYWzKakdC7mHssHPsiTeyOMYXMipufPjmg9G74tOr8J5WvI9
wk1x4S1SVvibDe94i/9apfC8ECjjorUIeCSxah8Q0b2p1uwBfLdxmcSR11Z6FiANIS+LpLFvbNHG
16NSDR8tZVMMMFaaSMuiTC7iCDIh9VdVu0stlK8Qlkm7uwad7Ot0MPKAw6PdyVI6VmA1VmvspaDH
KHIt/tzorHf0kAM3M+UFhH9kNjJ0q7whjeM7PKoGSJeE0skSXygzn2UnJrQ8slJ5kA1dkDrUgB+t
Wi73pp4neCUa3pG5ESLLslmudO4n2ycO1OxZgXtyDaL1ASk79q4iw1HvAUuXSAk7FEfvKIJycSAb
szpgGtqhLlvoarVZx6GVJdcyc35oa+wecF1ujGpB5nIuxjhHMz4dL+xUeUBauv+cqsr4zokccZeU
XRXQSajvihXGKG01t41qQpts6/knO+ueSJvkzlQRF7EbO7keJ9e6LFs9dEQyfiA7crAndN4Q3ohZ
2yGeEGyoEIFMq/oxiaft3USjWKWelhyGqq7vI5vw0k7TV3GVxY57oceAyQ0uRY++Du0B4yH91Beg
h3fSIpoO9pmCpCCTUTGFFH3Hn5zScpGoWcb4XRFHZMY3y/4rLyPSUhAmfIe7FEuqxMCw6YhGK/t2
FlV0cKTVfpkaGKheNvfVZ/grYlNo7hERR8/oYxwZ43XnWJFHWUBpW0GjpvN1optDYI258llFmnje
5ZDbU28sS+lPg/hi8P8/FrUlZ28qxm9Lp34mwmTs4zxaYazXqBrr5ugDVUM7YsKO3Dt2cU3Dc4uJ
ji4SH8ZGakTgcO/I7ohPSt9OTymstws0tx86c4Cf6SgREG3RjDykua3zl7A5nhrq/EApJvnS3chy
bubPQsriJ+VO0Z44cPWIdpjx0Mcu+nF6r6dBKxPnO/xrNMikJfkxay/UHoiriaL7KFq+cFWK20jn
TvadtH6ysjjdNWqs3Fi24oACHmPlfQtxFclGbVgeYVaVWOMYEe9g5kdjSFwNJnU5LebnNFE63Aqs
u6/CQeE7K5fiSeva/KaNnOV+MkfxUVcbEN8EjKagNnsXkZc6LWLf0ZCLFIoKtXnNKudWLlmV7Jpe
v4oSfYj2SbJKl99Vs6tNAZw/ylbQfxVaLp67JjbGJ8uhUYjSk+9X5k5zgzLh63vAEJ2rTO81EJnm
qmt+jha9uVsGq78fnBhTf64b67LrbOsBaT8035KhtUZubGeQQQdKgu8Zz7DyxtVub+xZ9vGeDVJM
vluU5Y1m5ULZNVqPXoesh/TboGNRemkj67sIetdMVkhTBcaTqmZ+uS4LqhPqKn6kHZe6786NBbl3
Ioyyo/q8/JS5yDjs1EZoaG9XAqy9NS1KHHB7xGpgt073YZozWkq0DoEoz25GrfQgpai/FEeU6L91
PbJTZme3FvBeZFmBkRcCGiOMTCqSMAeET41cHRJSyFHc6zJLBIVtN78i8sSTH41lAWeYeBMyVI5z
nS0AT70so6zJd+gtv3P1NVf9iG1/p4xuNu9Md0iQkWklrgS23Nxfu3M8y4uKDDRydnaFV6hlOCdJ
NBqfxiLHRZkjWjw9OdJP7S/GsH4hYDP2fjd1/TUSIEPlI504j3s7T0zWdTTj25YHfA3rregIT2ZO
sNzRBN1BI1sTUh9DpRJeQjNtB/UzGjyjW9gmHC2dW8VY4uowlYOKblVGGAbrUTWv64maSOJQ9vA+
5qkCa83KNr7BVQsZHNnAHBu0sJWrtljsLLBlj/QMTF35qSg6C5z6rBCpsufChUpL6BblqRTHg9Af
qp06zQSm79ZWg4am4NGsm4wbyQLcUKL9QrTCzwGUokCHuvrXVB9aLtAZNUBvHgfzl97E5pfWNZDz
7ho3U9BjMUd7Zyn1gH6ELpYbw5WNujM6vb21V3stPdoV4u/8ROtXnUCA2UVjFz+aWu/86nSq83fo
XCIzqpSt4WVUfi/h4uZoiculo9cc4JxB5ViqtU1QWxMx21gQfIPLjS4VagW2/mVJ81j3GksR5oXV
VgiHpYtiQX0WBnEHNCyWa7Nv1X4LghHdiJo1hkRANuo2XpaZvnUH5rifugrySK2kBHvnmuWMVjtW
Ece+QmAkHDrVbQ/V0MYmET8K3JPcSvUDjajFik5OUtHUlYkMKZ+2gdJfK7l9R9ujLtEyoMUgyPqa
nJSLZG+/IxRnCQDf1vIVDKX5mTm7HxEHzTGxNMCv3py6Ul5Ww8i0HH5HHk67yY2rdkJa9lDkvfFF
tAlefY8b+2XssTKCNQIY6oNAsD46mbbwo2hyQz5lVPvlNq6ysfUKVxvuUyGV0rfcvjK+L3Sq6+8c
xZ2WG6xeMMwZTO+nWR3U1GtW2Ma7SdAGe903hMg9DX/CmXc6oS/Db7sEHkBUt9rVoo46Q0BsP9DS
Phv6L6xUpXM8kWYmXFsLtSO1vYtzKy7SK7dT+5I307ZdeAxi7CLI7KNJGhFmZM6yWmiL2rUSX9S1
WVRcUE1RL96U18gpODzG045GxBhvuslx2TVRtcimbJCzYHFXNJqcwaHqo9Kx7f1K6ICUGyn0cW/U
XVk+CL2iWRfUcdyGcd6Otje4cxH5pAw71bOI6zW7qRAOqro5SHbo43Kbea8KZyezIrUvuxH31xvz
CtGegmxxFl2VOeZrELVFPH8Zm1ZdD2jmOhmRR1xNH8QaEWqNdoUkKJUVsPpORgjM+YZBE3SiT3r9
0BvZhP2R4lqz/bNKOyQ6AiKPIAeT9UoY6lAEbaM29TfekUG/0vK6/jmqMTpni5Pipy2TQtKFkDAF
DHoX497PDVZtmFsdzP9U5nr8QOxARu9yGj4xdlFtm4NKRxMDgQHSUTvKnhudMMEYt0+5AU0tRImv
MoNmRnz2MSvAgl/krdphX5lGlSDlqUzJpVVlw0OWER7xFMM2GsynIUp9Rcl6lHOXZdUvxzIyEAC3
N2/rdk1KzrMTR05P7Mo0PkGPL7bFLuanfjTFh8aQVr0b02VQroEUzw/aInvjahrh+IcREgYI86ED
jJCQkdiXtK3OdpCOVEh63UhV8h1yLvEH4r4p13Eyd4qyhzzwv9g7k+y4sWzLzuX3EYm6yPV/NswM
BmMpUpRESR0siRJR13h4D+j+Vs4jZ5YTyW3uEe4SwulcQjt7ER7hIAzAq+49Zx8sbU5CCAHflJB1
mKRNAOHeQDLzEYmlnlzbzmSLO5uaQhG5BC7OYOZtmOtt7c5fLGfwsx2fku5SMkMhENpAxp9zKchj
2VHbCPQjGwnwFEpMLglefCf6pejjzrvvXK/oWP4LttjScOmG6yOq311j1T4QhsTKSDeJE1WdWobk
SDJYBQFGep16ZtuN7bufYhHcZ1JZ6nNWJy1I8dbQ1QFdR92EhaZGCyZ2wXF+r1eeVX4D71rObHRm
Cxdrm2gDE2w6zcRf0Anb0z9PH/yF7dPBN+ZlPpNS+36fWl2bfkdfhL1Ma6zhIYjT+ZxQ5hkPRAA2
xJo1jfawJLPRRA3+dwLnnAR0ILpbjyw+T435wWj0JN8tTpdnF64ci0Ncww6+GoxlsXeDTvpjZbf2
Q4kYs9hDKBLfggQR09VC5yzbzXmn3bXWJFl/q8p9sDkMf3HMtCEeJV2SZwviFOzsImm1t8QPuW+1
uiBskEyHIPg0W1as7iinygcA/517iUuzW65Q17bJaZo5Q14LLYUbRr5vE8CA88RZkFySpRb2JeTx
N12RlQ8q8SbjOECIG9lW9ukHEkuzzxymR1I5MXt+o0bGCZzA68WPVE+B5Ah22qhv45RMov3Elzbt
Ce20q2Nag3fak8tSvlmGuL9lH0ZcezX4fR11bX1W6OuzK68FqaHaHjOb8ymzMojzNL9EFxpxx+nT
5yjLmOzy+Imti7iqGhZXItzKZCZfrU+no0rslEDxgJU5IH9hRyxYRZW80+yG3CF2p+dYluI9geJZ
Gilz6dmkCF2j6lunZBl7oDjDAm3btzZRw7xPUj3O9vCpnKw52G5MGChzamHeciqmK6JTqh0Z6IZ1
dEZVPesJscYwAwKn5LNcauvYm/pUHQZ6v8ZFMZPxcXREW7V71yhoKZEPklbTqV1KbtVtE4/sVAIa
2PTn4+SpN4WmE5yoYMFD8M8QjT/UgjDqsI8XCO7zHFti3wSyXwh3q5OPFXkmJCFWNKnJQ/SM6Qp6
PcdsjwqEvStMpyg5louh3GeDk38O1NKSwdLVweeqEuxd9GIki3Ps6ZewPUutqmTQxZm8TQx3Zg8c
WKl+NRYjNTbHXtzvzqKTddHw3/MDHBAx3hQEaXk7a7E6PdRTr7ocZ3qmB0u31Feif/IrGnlE8Kih
0K+q3G4Z8lJ1n3S38ThAT9St2RbK9D05drK+DVL61vQHijnildC9iflo3dCgcugdQBwvJ3LJXVr5
cQOYOu2WQAtFVXnJdc8PYXdt2QPKXzLqScd1iDu87JRjVdHS4OfZ5bPhjpGaknOG7WJQ9Zd6ywl6
YE0kEEprks+mrOgA0/ugzE61hzoKLU5N302iXN43adnpl0Fu+5hkYg6gF4uPT2efNGPbh4mjkSIw
+GmbX57734g+c8qjtttQ7QMUNy0nfajKJUxHvaX1ZMvB2E11pp9kKevv+mCiZkyRcy5sk9IchFPb
qpilN29OkoRFYhnaWV3HnJ8JfZ0Fb2zy/bk5OSBnKKU6bLJJDCICjZHasQGPQbkVYUk+n7ZnktM/
xqTak79e1AuZlLS6v85BooqQtO6GgtYwnvdfVGGqMGvxXd4Ai9dJgaB2zl6Utfet6cra31WSndtB
m7vajaD8pcEuC5jMWf1bS97BPeOL1Ke8Mz7RqzXf9SRCv7V0InxP7uIQGDAkaamxYi1Ocxhz3LBv
e3Y49M3iSvu+zG5tnwpu6aKsO/MDm5LCOZQs69VB5U783m5gtpLPoJ0PpOTEkAFO0rvYj1Zsz6Ff
mHN8EmqyyT/LlAF/p9cbioU+UIzhVPC9PXpnE+UuHygihYg6JjKy9JIowao00uIhA3xLi9/F/Jsd
MtdZ+uMiXaf8Ikc3Hu+dTs+uYzhP7bVAVU90JS4kznOamZFU2s7O57pQxng4bybji661aSF07CGn
I2G4jvvg5H3wRpjOJMPStIe3ZF/NgmJO2TqUwVqjhym9tBada1e+Kwx9lhFIf0BFvWb78UlDHRic
RCe5RbY3mGvZPS2EQ3GAni88Y5Htm6LLcm464SR/O5XVDEOykBrbvFi38j0u1aoNBSZESq4z0SX7
Jam9azIuei8ip2foPrddAcVhj9mCQPfcpqDzEUnA8FmlE2HpPEca9rnXuF24CPIxC+w6T0mX5O8W
3h4giWImt+bacRmzoTF43u1cJktDTNncUNH1RY5YxokrEWUTlcCLhpxBl86+QwUotGYpG5Y/3ftK
9HeR0y8tE2+nVEUculPmzZdEs1Hb1ih+gv1MElIeTayk3aVZapTFlw5Z5OWSpLb+OQanalxrqSOI
iJB+bHkkwhEV8cFbTIrE1wiMlTrYbVwlH7yUuPaM/JZEjeUu96fB3kuv4vxlmFklr9JlrghhVuDc
j8Jzu+GiVeRkXZI/b3WhJ5ZUnlzWtAkDX2Gb32NQYu1Bphb2ccLdjPxiGCnH7fF05U8WViqdUk9C
qAZt9t69kmzWvhU43YFwdSWtxrLrHe9eLNniPHiDlOcM2D5Ld7QFiu8TEgmLdgTnsEuQGub3sdes
bzQ4qcH0spPdCZWKaCOKWb3Yu2zR3X3mOPKyV70p3kpzUp9o/ZEQBuEnJt5tmjpK+HpqPw9FoWm3
DKny/aAm/X3quPKzN2bO3cjZi23tJNqviJlAu0rL6+VeOk51P1nsBw6u3Un6Ax7RawevpTyxAwvA
BiUzDfXs9nmcRLxjb7jIE8eEGqHoi9/knNf5PzYlDE06G/ZntmHUGxqHrus1pU42TshtyFBiMFcf
4XjxHzVOfUive9+iF5Vl5wDCuO+Evi9KAlNCgwfuXs+elvvHBlVYf4M8MiWcx7F6soV4SlTqINiQ
9RcEQ7LvKjEw/3XF0h3R8+WwYBqC+8KWqv/HTlkmEiWDKMI9eTBJvnc104KL2RJzu5tT1oiTniRk
FnMEY6GDvaOCa1TbrnFISME1Tmya448UGgZ2BYVmLKGLoPCb61Qa/VLpNhyN+1gPraIiN8ZF1vVl
qIxuviP5h42zptV6b+5j6UCoKAMYZldD2oA09fyR7YTm9g1N0nmqkuvZNImOLG1PmldLGdtU7GXb
XCWU2KuDbk/220DTadpWdkCyQ1rm5AymCet2EcvxG3GfNQH00FkpAnX10pLDHbQV0tEmg9CWUR7c
4ztU1n4poUqFzNyc/3zCUqur3DbY99YmEXuHTvBvX6TLlDuRVtPM3JemaHGN64u799AfEnrYFYRY
g+Wc8h1p8Z2313qffj7Ove5apoHWHXS/TJ98b1AV22lRPHrDzC6flLB4pElNV3OfE4h2k6Sd9pTw
0N6jjXCWXWwX5bNho5Y5jp1PoU4qh1c2OPN8m6Z1YL5BgksdmtvKomwsPCK/8JxnO6IN3TvIxQNH
5rqRnwXlCHMPzKV8O7aydHaNd04XmxvrDPGj3UqcNQeeuymp3duR3uUHPmN0MTKXDQfBhNSqXUdr
lgICeSXvbLtvDNrEfJJM7aPkiO029Z0VjOqcHu+ftzTEKxMK5urTx5jTf0MAM1nG537p8CadxKjQ
hxV8YOZYdsfMteensx3wHgyx9alzSto1uRaz+Qmosb4pFtLBwiSpv1DR9C4KKdT8eM4R+yJdO/mO
pQ1ZitOM9jUAZaEf2rI03+rKK9M3ddtplA4Fg+uQU3B70uDZWYfeJxCElkLlPjnV3Gh3fWCNpDsb
qKHATMbus1/lbrXXrGo4liikEEEtU8M2bDazG1dlFOoHpgbA0BXJr5eCuMjusztYPcX0OK8ruqLF
LHd5M9A5r4p4wJbcjTPN40XTvTeqiFnGk4F7hH8cBxUCEzQE1zROvOVgFIM2gbeoe8aqPXUkNKet
c0Pao62jUCHAYIeqmE1Gv4zZM1R0cqWYAa3hgEpmbI/ounztom9MwqjnIaM8UyX25B/sctZPOcfv
ad9WVLZuHEUPaEK0F+xJUTOvCeII5HEOUvMObrj+TCr1GDChzjlvKhmaG7idCzPBopZnpyqK9xoi
5mmXU9X/xnImUFNoWBh2oy3lEo7OYtTIDcgPeScwHJD3PTiJ9a23y7y7Xs4V6Ocsy/XsqfO7rAir
Ki36/Wj/FvNcBdlX2qNVRe9cNOqiSdgB77xyQnyVggq8OddoxkMlZH7TIX7KkZnqTfbeFG7K7mAg
VSvyWkJcn1AXTCLMqM8tj1xxdo+1rjjmxI1H1ZPGCJHAi6yR5TSNX6FXEWN1rLOFwAatLEcy18Zq
mO0Tv4Na4OS0fgNN0iNtuRpiSvqVk3DU2JkZwBVzj8IZjRoe5jwJAdgzIKjv0X+ja5OKvaNTu0em
ELuPrRtXzifoecVyPRQEYKC18JzQy9H57BynlmpfV22AX5/AyOJhMOvxaognrzgUfm1TMsZ92510
oeXJibafUxyAqM3FaeE7K25JPtPKA0YuhKu2u1DvcHQLtv3sJHrJpr9OtWNnsQ/lpJabSbqXM/Xp
lpIvpTRSQxM2fJ+70luW0xQkev9h0tsGAlts4cPKWcmqp3yxneay6g2nv9FKJdPshsi8hg4o/l3V
xpzMIO0enGRK6G8WZWuGPmd2/7rqGu4ZoV5TX2sk2FBKccD8x4cp1sbmxhAjskG2Sj5mmtbVNf0g
A19P/J3Fxk8ghU3rhEWycCbmvSN9utzeTyDoModdhFYTQ1q4vLKn1O7y8bK1lmFod4OS0FKSXtVP
7EWm/tgrJ//UqRyfgWgX+giQtZZ31YRU5DDSgqJij//+i05yQ3lnoIzxQolYp7oKtJRgQDAzkuq/
a6vkfia8U37MMkMXN3B2GnFC71dmYS2J42BrC1/SjGaimj/mSWI9D3zF1b6znFgdgLKV56bkNJK+
6SOL1HY662HPZKV15duWoZjvTVS18qAWbNnXOov2I5+vAnFAk+V76VZZfGUM44Q2cx5qSr8lB76L
OHd7dBCg+shvtpHU7HNpkwo7k0qifalU4tuHxcIcsyf8FlA7i4hO01+rWtaPjCj55BaIZJxzqo3H
R4RsCN+sHADNJfkjWXKKTQCnu1rj7bJ25JX46ogqT5EuES26i6uUwHkKHfV0WdP19pM9zjZvOC1m
62jsgKes9u5RpQB0tBfbeoqp++ahnoPooL5T84ApZSRZGKf1gApWrwsHCSlco6U95Doar6PtTd7H
NLOQKOQVYoBjV/TKphDtttOlUwb1fASD6DXHkVJJdZkY9EVOsc3PObQgTVnstSKXB0PNQ0CBTuRZ
sUvUHAxh4MyaiLwRw8AVskLo1Okykk5XkVSLQMgUtC7HpJdBRPqntD5phmIHw/ln7k/mXOnpFeLs
2iRtGk8tnZNsSUL6S/4Sonas2BvNVDx3VcpB/Y3QR9falxSHdIReYz/c2KaDLpJXredXypSklJPO
e26M4/OUD4yGwninA0ahQVlqPSTmftHuwZi17rWhxbr9ZuqXbvlS+CxmF53WC2PnsqJrKXUmnFDO
FZqNiXGT1pVVf4zdPumuGk6nFHC6SivuWzOeM05yFjWgxmy16nEYFur06N+T4YuW0yW8I0KgGT70
8D+Na/I3Z8yLQavacm80duZ/y/qFHtEuJzvIJXU8rihTm9JW9PvI0KzvB9kY4lEkMKdr7B+2hi5n
ib1xCQ27KIZPLmVFNnk07X1rjyu2xM+9sMnh65cQUD9KVCcum0DyzoeDSdqieMf3T6LuPtbLYJx2
RaDM6tbGvVBG00xiw1FLxQxPFkxGPhF7oPX9RV60VUK6uIeaY27JG0US2btQQzK/yR49g5y+C+Fy
Drtfxn5GvgLiLDXeLNIQEoUIXOpPDcHs5k2rZ75/iJfM65azXByVPHvYhB5wSabxOF81iZsUxZXd
JENtvjk7uRcfZbwW94d6oUcStXallbdU2frmmpalkz26HjKaq6xJh/mNHBoUe3UVNCRV88uuySMv
st0wDMFFRvJ1t3MpkiJCDPLc2mfQak4cgGkcZuziUIL0iBVxNaAW3Omcip7KsUU3OBWcjHcBtd+r
QNgcgkewLe2V0Dlgad6JrWHioWBykAbE0ajSxFZRLNmttg8Bqa7ueJGLvHbqE40Qs+q/+HrWMCKL
EtXifOW3BtaAxZl6cT/pujCpJTlV6Y0fJmotFi2iqsjb+akifDm1jkxtrj7CapnSzj9KNVImYwFz
bIJHDaKNy+NUQhFA9pDNQwkqh6T3fNe2ccA2Nu0c9ADD4CcdsydRmwmrMfRYDRVuWs3DoVFLSh8y
HackyEKpg6R+G8cA9PsdLU7fGi4QiDnqrrRMnaVi4t6CB8vNYnkC3jQvh8TrSI/3S+geOykHPxrJ
Sf/QFYI2cKYnOqHYS/Wc4YohRzuXzneWtclmS9r5j95Sx58DRLpiB91rfEd4eRApsqH7U2VqxWej
75zHWnOCj+lQpxOGmIrUzGOfsjXYTaOjyhAnkYGLJWs68inpbv/uLv3/vvz/MAzMWP/jf/3nk/qf
yffmL3z5/wcv/v/97//9kx3//O/8bscPvH8AJoPDTqEVVxTxWv+y47v+P/BHGmw74GP6uDJxtP3T
jm85/zhHvRHZATMbJNf5fxpQjab/9R/uP85UVisgCAp7rUvZ9Vfs+D/72zQ8gwQHOZa+MpsOsYpR
fgTuiQDywHkzTK+YWf/6uv/GcmQGmdyhpP02OmnJaoGE5DE1XfWKB/Gly6+gGbmncSBSFNHSvuv7
t9LFw/AuUUvz/MMrvPvdrPYjLeDsgfv9n55hCv96LL9REH60rgXVUviiiN0wMOlS3+NswPiSWjmZ
3EA2UKvZVjfGrxjyXvoxKyMehnk3x1fFJEUxxtpht0z6XTO7/itMk58Nf3/+mJUPzws6vc05qoSC
UIkbw8BG9SDRd1AI8skojIhgc+n8zF37ivf2pR90/uc/GP9aHwmYd/6DU8nR5rJJxW/aFpFm4d+/
np89xn/+opVL0kdlqo/CckJJgVReurMF76ktUPZeE4RN8QMvkyj23YA5xUO0ZhvdUWc+fC2+7IXP
w1v9/SqYpJOLc1gP2ezxW6/CV/XBouWiX45aGnj3c9JYr/mJV9ydP3/tykjcehWF/mF2QpEkSDWI
Oos8y3huqaPLAi2HnDjXUtNDG5QYRShMjp41xgbfrH4JvfPnHawst3QUq4locZ43UI+zMJyES5n9
krn+z4uvpiB0P670CXgNoQF7H/VmblABifyX8Hh/XH2NHS4xfpwrKQ4Wsiz7TkGrua61rHgts+WF
T91fTURwJp22Q1gRllgAPxiys5GJLd62aW4NNOtLmbct0ppwhK+xhLrSSMhw26bx9n8/kF66/dXU
Yyp0BHOZM/U0tsj3s+ty6uk6xu1h2x9YzT1s5zlDn/UidTN77t2QDen4oRpH7Xnb9VdTzeBToqOQ
6dPGNCokE7bWc0TG6PPKAzrf518sBP5qpAdNgY+YxlnUaD6idtkbiN9LSRfg0GUpfZa//xkv/ZnV
ELfshrD0VvOicRTmeKqpgOohvspShW02yl/jWPw5GFbjuGumLrZU5UetWSzvin6mpgkU/d22H7Ea
yLJQ2B/Z40SmprKwHHrPuoYT1nSPiAYL9cqjeuGT9Vasg9SnGOp7rR/1pT1faBxf3gSJ0f9akucf
j8hbD2jOBDoPx42E15kKgqeyP7kLRM2/f0Yv3f15jf5haRSTR7UcGH2EpHShVJNgOxUaJ/ttl1+N
Z5FZ9VxCmYjsYSp4B7OvNNQ1MxajbX9gNZ6LQHM65L8+6NmKXkZrUFsM+9xb5N22P7Aa0J4549PX
FGKqIc0+eP4w3Kks6X4taO3P17saaLCeEWQRzQi+1B6z07hYinNwUUl922rmrYaYyubOHU0axsWQ
tJh6K3Pyd7mw+9eWy/OH+BczkrcaZXOCp6OSvOIunltKexQ+vLuzdNC9xEZdFQSCIPH8WFLu+Iyl
UdYXf/9iXtqGrJMyS5XQfFkkU2Hpl+0luvnYY2dfBGzr/FHmNl6YMV8m2uAudA7g2olH4xMF48NE
YUpse8BrMt8c48T1C43ATk8TByuTHlKL0nrl+/4NzvUXj9ddDVBnGlXWmYR0Ups+M9WNeBpDQhmW
klA0HDJvkqFqnlvNlkSILWggbxV0lPoG9LCff0Rk4Tiv3MoLU8Waz+EjfSL/IrOj1gNVuXeX4Hur
lPy1VNI/RsIayVr2gN5nRR5br7UySugvk3NBnMi3v/9cXrr71TgWBtWvPE9sGJ/K/+Swut1Sj/4n
BfD3I/ZfnM9euvpqWe4sVMua5gWRU3KS2QvDr5adyJCFv/KVvTDK1glIQ9bNABN6ijOzjM0L30Ys
81W1BiMuNdOzUzpDurYzF4RqT221DL+W0fjna1nNH5asSz6i3o1cHx3Iru3MocL4YaPK2/ZiVvPH
Yi9ol93eC0XnGKGLPemwkIR92HT1dZYgFje9zju1RINIxmipMbm4fZu/Mge98NrXQc6uoaea4pwV
5ShP9uaIOSUm0nnb2rwmVnEQadBCEVCH/QceVmo81on92kbypVtfrcyoe2tbIfaJEgzNN0St6SzP
HYk627ZFawpfmouxtXrMJhoWpwtkLChsyWKMtr3W86/6YdtitXQqx4Krj7GJ+sdCCIESI9t476vR
7Nfm4k/UuyNtNNN9YZHRiKHf3vbBO+bP957rNDZkPCxRh3TnOMC82E8oNo9//2Re2LmvaVR17BCf
YGgykprznZNggZkAj1IdjdL7tbCsP+YEZzVkLQTsdY4SJbIYuG+DscnpbTTFthPyGh421myF5OLK
qLEd9wIuHU7Yud443awpYfg5IN8sCIeSobSvshJdU6vKjbe+WqxZqOOiMKwxogkco2BwzIGGrirS
bbOZvRq0TpwgS1qovLR1pi6LMQEgFMfltkG15ihTH9UmQ+TjsceOOjxYEmXPGwdr76+FBv7x3ayj
OVHAT10ymYotoVj2qP8+zcFcv/LhvzChrUllTq4VWO3iKexKeinWIMwdFoHXUjhfuvpq0Fptbpsx
WkOevPapN9nf1YGKN77W1RpbtEsPU8n9563b5lnCPblbb309Wh0/Fn5qTGEgKRqb56vjQth4dWt1
/C10fATlwNVVHqR74Rdi57pmvm2utM7boR/m+dRG9aqj0g8V0snu3CpLsmRjsWmdWgdXvvQzMuPC
YMGwX3qggLB0qW17A2s1VtWIwKCciyl0xlgiiZzQM7ZI4v5+mn/he7RW594qbc26sXQR1hOSb+Qp
3wUy+Y1P/fxHf3jqw9KDPkqJ5q2KFAiK7XzSpsHcePHV4qpDDLBmzOnYcPWafIfsC1yf1wKOX3os
q2HaDYHK2QmLEHMmFB60WzvRm68lcrx09dU49Szg8WfTaegFwrgZaI/cxcistrWo1pxVJRA62Vw5
WgyMnXg5fReR1qj5w7ZvZg0NNlG7VqIlg2m2K9AqGtnuUYuP/2nTJ/lv4PgsNvtGoRVP4uGswgJv
OCCZ37YZXvO5Mai1MH4cEY2B9dnIzfvBtu633fh6pA4zJnu8SGD7tVumx0+ziXJx27VX4zTIMhCK
tTdGuUz9g0idd00RNxtf6Gqc1igpe1IMEUFnY7Yvc+/aM7vXuLkvfOy/5Wz/MAnQFpbgYfD91aX6
ls3GI4y1XyLz/7EPMFej1M9korFezxGXxcEMKgni+jxYybapd521PCWOSAu7J7Yaag1wTuaBHUIl
Y9tOYx1QIkC76GVMdE3V9Av6C+9rmrW/FsPwx7M5o/B/nHuBZHTelPUicuZ+3gM64daL1zqvL7xT
Y7WcooexM0RPY0S0fXDjD4lxA+K4fdz0ra9T5QGCjP1IYl2kpbCPrEp+9Pxs2yv9txwru8HSmBYi
6p3J2hm++lR2/t22+16NURvxFuRcrk0CxTtbzAiBh1eCzV964KsR2sg4TkYrGUNMVTi78vj6zAXd
NiWepR0/fiqGASR90UwtBML/ppq9T34/l9umlnWOHGYDLKVELkdlWt83SXNE9LjxtlerqN3K2VLU
1MNmmU49Bgjb2baC/lYp/mHKwtI1uhAiCEnBYuE3KqrR5m36RtbJllmJSEwIbrqt3uOK3+feh20X
Xg1JyKZ9u2BPD+GmfO1VcI/feds8pa9Oo6KD7TdLbJTzkBvvlnk0I2jAw2Hbja9WTaB5qs6zYIwG
je6+WRenIA4+brv2akQWJRZYWO5aCEYX5YDufiE/ZOPCpq/GJB9215U6S3KKhBBxNuYbwgn+qTv7
1UqwvhqU/jB5IwZ9Lezch74BT7VxJ6GvFs0U/4zdpTOZiz76CmkNLaYL9922B74ak9DGQHfU8RAa
aYvHlXZ7Z+WvBV+dH+xftDDWmq5eCL3QSi7uA56zRPuU2fAOtty4sc7oRaI2652PrrmvrDvc209K
TFuvvRqa8IQ8y8IhGi3YD6/hHOWXHYkYm8YPVrafZ+8U70vJfpYPxYErs+j5+9JNN22w0Ov9fG2F
5lUWwdlAbc1nDiNgw+ZgsgPKNk0tqAV//gOtrGxQkIyhxG6/aHJ6pPnwftsbXQ3PCdFq71o8FyES
B4saYmBiV7xN+wgyYH++cSgEHvVoxY0rdSca/VJN3bYRaiCA/Gk9BvSh215qDRH68psSwWEIOMbc
+MRXI1QkPZpLMY2R3pb3tlZiqks3bVKMYFUg6iHXIuiu4GOYjrmXFc5mw86fN73Otd5ppqMw+NVI
LlzpfsITdpl5zsO2S6/GJxCxuPBNrY9msAt4VrzuWFf5NmWEsdY6kXZfBxPyHXwQ+oKUvbnFg7at
7U9wys+fimjNAbm97KMG+Qt0KtFrV9qkz2+3PZnV8JQaUJDOFrzRaf42sINTg/9126VXw3Nk4Ulb
4PTAepK3qm0vdPht2y69GptT7AOFLIk3XaYuDQkwNvGo1U/bLr4anNlixwPszYEUuBYu6Hxb+a9t
O89P9d/XN2MdUSxJoQel4PURuBAHgidEj5vObdUO74CY99vufzVIIUGoumiIESoz63OZ2o9aW7zb
dOm1gkkhQizhCPWM/2k4TQM0emOyt7XqjLWAKTFTJ4NczI3bxmMF/mtna+2HbXe+XkOxeRY9wYiR
Y2a2DBdLwAECPZ0W2xbpdbqwDUQWRFfJJ6m0+6wy32XdtrM4aRc/TwGA7ToOzFw6noP7Uc/gR7qb
2lDE6q0u7YNq7iZiP624MiPNN8d7I5HZJvEtDoKfr256k+5MGV8iqXXzbu67yIJctNv2RlfDlFgB
bVRDSvjrBFJIn7wjfIRt1WEiQ36+87G3hbADHjnT49U0m1elozaOodXwBEZRClJI+8iLk3rnLfNV
cGZAbHooa6VTwFeiK7PoIyDJd3hYr3t93Hbfa/VSn9GdcKXWQYb3H2G+35dFt+kQZ6yVS7HCjJ60
eR+5PBk4OVDHu7nyt82HazXSaEHgypugo2+TdvveLO6FFmzbgq6lSCTIQiB3dKB7mYUTS1KoCOFQ
uRsfzGp4YkNHlZbPjJsA/7UvXPctDLZl4xtdDU9YDnivIQJESwCMwhjsW1bSbd1zYy1DEhpRAw7I
q2hoyOMFjwwJckh3fjAVm2o4xrr731HH8sGdkxsBk/mzR6XvJAowXNtG0moGQPyrw1GqebNJKgl7
ozQXxbHdbetSkGX38wwzF0L4fRW3ZHEPRbcH6lE9QweQG4+kazmTUZHVKAmDj/oU61+VuNDzoQFs
O2Os5Uyep5RPbFQbidI197qLap3o1Y2z71rOBAzMoMZft9Fge5CsjcUsvhSzAs2y6d06qz21yoAz
S8WzaVKIDtlYvVelsW1FXauZShPMLfZ8nnsNWXIe9IGspybd9lU6qwlhsqDytiVZKXnsLI96EwM9
IPG82PhgVjOCxSwM9J7XGtRxNxw9eCHYN2OoUBv/gPnzV0+rryBkh4wWYIwSjJf/PoV2ve3EvhY0
eUVlomDuQSTZ40OWDPeyGB+2fTGr0ZrEJHeUJXBVD8oeKBlSmGz7NeXu+eX9xalgLTQadU0BFHWa
iLFEpg3Sl502a1646dbXUZn9rNGjL7m6MwElc4z2EoDRKx/7b9Ltv7r11UjqQCgDAiGBYnILeBl0
i3OmA498yn1SgcE8QU+TD6IayguAopobjSk25XdY3Lzuzg6coX+ABO+eCvqSzSkviFMCbpJRjAe2
4+uSgKm869/LztTEXodOV3xp0lQjE4GNpXkwHGrtodcKRTSSQZVs79KlVhckifl5ZHoqtS8gxMsZ
LifVhI8ayt75aFj54B0sT3FNWWbjcky6IAUoSoSeOFamqZbDMIEF+Kw8kj7uRtvV8q+D4XRd5C9m
MEW94vce2nFxQmiAjr+vPdMo9u7sJeKUGE0SXLswHLnlbjEfTD+Qu8l0+4s2IxsvAtXpz0dZlRNQ
1d5OnHDypE0Ju0wnG6p2WzXsZ4OA8Jk+szyYOFlvXIFmyYOLEo6MHS08bbkn62C6WBatuu3rCXix
rU/TsstjsJIPwMkab9suZC2t6atkmgAsNVHhJ+JD73cLNdTaH7fNCWtxTVdnI+r8oIkCank7x8yv
4aJu89wYa22NzpNz4M4QkdKAhDs0uswjBe5v4+Zyra4xQGgtmpW3kQuYR4XmUBM95WlO0R02Dd91
fOdYdTLW0rGJ6A88y9a+dLRhm5DesFbTfSsk+Qaz10AjDJDvjANw9b0V5ObztntfzfaTA3V+EmYb
lV0A6sFroMPDJQdVse3TMVbLoSSOEDoG6NmsV9rXKpfWUw+HYePMuTp3V8om3Yd8gciFl0G1UwOn
YAXbbn2tcLRAjXKAKtsIhMd3CGcPZCtuG69rfSP8CqVKk/t2RBwNQXkZO8a2JdZevVE4FhbMIz53
fPNqB/4TdEZpNBufyWrPTSCM5RY0q6PEzAFZFd2zCzNr07e4DsDOsXVPtafDvJ9Fe4sxMYPtMVbb
9mVrbWPqZrqoTXeIkr6wIXkHOY4XMX7adO9nlMKP7XvZQhzUVcJJRzfsnfD4wrPs/3F2bk1y4ljX
/kVECAkEugUyszLraLt8vCFstxuBEEcJIX79t2q+m2ne9jiC6LvuGYoUOuy9tfZ6QJs59vRdbDMk
rmy2CgECboCmHHo1ng8BEG6Hnr6XkjmC3ugYqBq00bbtjbMlBipgnPix7oFwryWbmw6WYn2Pyd7Z
5CbhbvsNGbM/Vmjea8mSVY+bnhGvolC2XsuohCESMcmxvZ3uoifKWivgDIpovoavzuxgLwjTNX1s
NdHd9hVO4WpXZOGXwHfsl4SW/demrT6mKw3pbu+N4ZfZSJgHXWJYXwZXJUAEIaVz8R9uJn/TtRfu
ZWVoZi2BGoMr0daGbHodwPkAQxVQGliwzn3wina2pyAQLdCAzajgUyaQjJ5lEMf9sa+/l83MTdT1
EQDDF4RAT7B6vm/H6g/OFm+j9C+B8141U4FABXJo311AK5S3sJ3SrKp7d3DR7bZptC9zYhuE5c6P
EigQ3VSwyZDd0J6PrerdjsQJjH7o+BY5lCYEKaIGOeDiR29IfuwP7DaljdgJjcDwxYITHxzJVlhw
RgCaRsvB83evnuPzhriB4g94S6Hm3uxnNDX8PPTye/FcC9CjEXbrLsPUzfkKrzsYpx198d1NRjVu
4TyrRF8Q8p9bqm6Uzn9I5343KXf7kQ7AjHAwVrnAKW/OVRDhBsZt748Nym47MhIE4NAt3aW0U3qy
EqRMHdcHQ9n/NMX+l6DLgVuTLgqm8Eyl4Lk2aTreZGJBhzz29rv5GIm1Z4D+6UsSd00OBuadikJ/
bKfeS8amAdAVeOh1FxFJ9zBPOsoT0yzv/vervw3wv2w1JP1n9ACUtF+A0kR5YYtGhD5krsSpJWHf
nzii2+5YsL/XkKWelylnVX8hlhnQBGMDABbIB6I/dlqS/zM763lcRI3dOKYfrCHvATU4/e8h+s3E
J7u5CXMJoGMnvDvqX3FRTyjlb+BfHPy8b3/1v+Zmh8kYKKgCAbKfyveLD4YPnYyPdTOFexlZW3eh
JXRu3zab9N2gWXyBs3d6cNB3J8mA6gIpNfwDhURVAkZu70DVrg8OzO4Usd503vq6hUIAFk45mg/H
rwBm98vB5+8WLTxiynIwU3vZJjjPd+oR9uifj8wYsleTRQvBbTU6BNG02sMddJzt8suBNnPozUGj
+ueUqVFHgMPd27APaYm7jTm9ah7bQ9MdrMV/Pr2njV23CS9fVhJlp5AOoNatx7ZispeUCb4lHmih
5hI6E8J5u4YeIW86wLoOJaFkLylLF1cOiD3bSyi5L9KKkJce/Xzvj33Z3Wr1IA5rgOaCogqrtb81
JCRPFHat9g9v/5/S0P/dj8leWMYjRlfOLaYOt+CAjmHYWTDClnE6I1Wy9BwL4FUK2H+v/UPgEbc/
DEkz6q80ZNHZcrpdE3iFAt2zlRbuCj5Q6ll38UpzPY6+BvtBltuPHv6l9twNiDJzGzfrT6aj6H4Z
4AXsayB2WGkdHgEPDAmUUh1trzJEf8s79eZT8Qqr3WEukFJFG/4rkACSQPn51Awy2Ar8r+f6kdGy
X/4QMf37GUXS3QZMYCsMd/FRnYAZVryQZpyABFgmlDKvtUO/0B+Sin/f6MleeAf9JAg7aHw+VWXY
PC1CiQeQoKtjBzkRuw0NfLy4RxVWXehKfnE6vhNh9XJsWu72MmSdHrQ6py7wcQZylUZX2s9/Mux4
O0L/ZUrupXfWBrra5lUB4QRPkOsEp1vwNj3UFYVDyF1duQD0+VA1g+yNx0JQnXi0xOoSDAE/Rcq1
5w08kI+HxmkvxpOAUSJbZOqy9JEsgJH+DGPvP43T76bpLgQJSQWD+8kCptba+gPU29FzKqv1O+yz
gz9UY373KXbbD+QJFWhrbQWDe6PgyQ0sMtRhQQtu/JYCXgBk5R/+0m/Wwt4grJKobpRTix/T0QBC
N/4ZG9HBAyyl/zxiAhiOIFXv1CXEhZlh7mxY+IcN+ncfYbfIEgYt54Ye3EJVY2Kuop3jc58K3Mzz
amnJIXUBSXfrLcazeV0nwRt6NfmCXvfqixiTY62tZC+kmz2YmaDDNJckiUHH4+ColzI8lqyQvZBu
qVEsZDaUlzpKozOci3WRivpQ5YIku+CB8CFsAX4ti3Cpb6RkWdTzY2O+19B5Rtq5N3g0yHoneBqf
dU0vh7aFvYbOwwitnoUqC1XT+yQGZJYfq7ORvYYOskIMElySi6Fx462ZZ3MJYvbh2Huzf64joPjk
4lmAyR5WM/CuU5R50UbnY0/frVIiFGB/JKgvST0P91C9fh4rf8wcluw1dBUH8g8Q6/rSetqeLdis
d2Rsj0lRyd5MLPArLvbg6X2pm2YsBpk+BMk0nw6Ny15GB4TGaGfWi8LoqF7PlLqPwwSY57Fh30vp
gOk0Yxt1ouiW8Um1/aWZ+mOH615K5+W6VrpCgNMaW2ed7QjIPvEfdt7fnBh7Jd0Cdf6GDj8sonnp
M6jGgCeGo/CxMX/b7v8rS95g0jMvZqjRtaR9DiQoMDPl1IljgjTCdwer0B49FyoWaLTqN7BawUa7
B2KlPtYHSfhupVrelV0yMlFoBwylegcVwB9G5j/Xmf8Snu21dACXoBUDsI9L6AO23JNax2gwquDl
+QqnpP5Sx2JjWTIuOj5x1JNdDvZJvMAhc+D+PFpBQHUbwop+10lMl0uZsjo5VCMne9HNFkugj+wy
n7qOA/alLDwmovKYjwLZ+weBYsA2lsbzqU7W6RyXBibCgTp2fUz2CkLmKNvAnZ5PzGlAzRPziobN
9Q9f7TeLZa/qsW6ECU/i5xMInht43WD6JOrg7rcX9cTK8oCNGPVNwwDCGf83meSx7iSy9w4KtkGP
Zcss4Jf1VAgnZU4omsMOrfO9d9AGYXVZL9iqk4H+mDX7oIFPPzbmfBcarsEIWC81b7n7ZKprDaqB
PckZELTi0MvvVZtdXRuehjIpVqA3cFr6BkQQ4PRC9vPQH9jLNiej7LaA5HGyvRxOGhTVYhDRofo+
2as2kT/EbGDant7wh4D8gXKqo+SQ2B9GpP/cv4dkicBxw8MXC2/vdo7GrG/pMUko6Jv/fHokLawZ
bGdPtAmBZ1JhAxJq++PYoO+Onh6kYEJYaU4LBVApDQJ0E4K+euy032s2KwifSRQwcwIXxGW9mqqn
NmHm07F33x07kRsGFvLRnAKBu6ZIAbJT+/jgwNB/jno9ubDHvb05wTCVvnR6VT842ZJjMfleAiM1
Ssr9EAFKRiYC8iktT2UJGd3/HpjfpIl7FUwbqhE4eZaeednGy4u0utZnz2k7naNpwCn4v//M77b5
3RCVCxC1YYMfEdMUbEYaV3m32mOKGBLtNrRBAgdkOJ4O6l9dpJDD5KL3fx179V2KCyhPLKFnnE5g
Fvm81mNTzLo8ttfsFTFiiIjRcTydFmWXs5YpzWBgvB3bbPaSRK8Z59vkppORW3sOZ/VxC4GmPDQu
e0HiJnW0Afk0noYUDD3drg2omSCMH3v6bifrEp+YJC2HU6CDKW+2ocvY4I85N5G9HrGMonYKGz6c
ajPKfANrKE/hXH/s+NuLEW3oUXKeqvTcNN32ClLa+qkh3Z+s5H+zlPZyxJI5MKUgVj7FU4h+lLc9
fqDhn2p3v3v6bqGCcINytRfiHAEAJZbgJ2hfr8c+6W6VAn4VlkBaJGf4fJVgOm2QyRq5zl+OPX63
TsO2Z/1GJnGOB91BiNisXD7wsO3SY2t1r9Ea5tQicBrEWQBe3gh6a8nBw28vz4IRF3CfFI/WEYLV
t4v/7pgyluy1WeAz1KVMRnHe3qyPlAuBeJSpO7ZM99qshrTSbL6PCrhw3XXT8EL4MTdBshdmIctB
UqN1VHAIfpoueIi6+t2hqfJ/RFmwEZIT66KCcqvDSwQE+XCVTtuPx56/iza6IRyb1vbJOerDFRbq
0Rzd3lr1/uQn+BYs/kumu/f7qgM1RKkr+VkPwXxnSjDInuYEKOYT+lST8lrpzclHs5V/TK5/sy3s
Lbq4jzrdd4CpEfGliV75cizq2+uL4paBOzzjuQwUQYh/6vhgoWGvLuqh7RUliPZn3q1kOQ9iIY/z
JNSfDMR/I7wje3cuCPKpwbpNzmhMAfBY9rW51y7ooZidp2G8ADXeoHkadCb6ss7UdDlMTwOS98EK
quv/nmjhb8K3vdojaTzjC6goZ50KmcCHtANH2IX455cPDf8U9Z3Av+misOOXemhem61+DW3L4rty
rq38IaZKnmBz9de6MHhgZoA/mj9lI+H/x4z920zd7fmJp2W3NCOodECqdmsetnVLhxNgzhtpz7Jc
VZuNvQZ2KAOaEAHh2vipS659O3Cpz6jGgLWdtZta/FWWPii/M+agpuwIBPkKjFG/OQeqHgb8QfEw
HR6XuXQhv65BlIBYOG1tFdQZYaJmVTaZZED03HOs9ywWY199HyapAb2MVFLrKwNfkfaFRxUoqQo/
LmC6K8+a9QN8B90CLC5A5eBQd75e5w44dRvwKBMePAF1Fw6Kg5egUeg2OkMzSmvxgnPSdx8HqpFw
NEmT/q0HjX892TFaCo5mBZZZjJDKl8XR+rJ5uwLVpQAd7L73qPQnNlunkIQui1Neya9dHSnxU1cW
wCZ0/279pDNYxDX+y5uE8W7YtF8BI4ffZe5cPYeqSNBtW5423L/RU0DLdc7LFNuTyBfufKwLumwx
uQ/ThYtzHdtNo91v7P0d0BJd/oZH5Y8AuNdpQWrmWC4TPiJ0T3VapBquyQCaV3zsIMttelkVRiAv
T3KU1daqx5uN3ZRkKeUJmo2W+lJGCXINHEBc2xu+Vi/rbEqRDmQiDFpdWN3Rb6PRvHB+W5Oftt48
O4PYHaunbaIp/yRHmiRPzJSMPWylTG1VtBsam6KzcDaEjcbGE9s+oq0nxfca6nrAy1VkE5U9E1hh
I4TXpN/UnedsdT/GVNeAyPcLbhCuCTpkxWu4JkCh520XAT9XpcGbd2hr284BF9mC/17BdimxgER7
fMu+B3EZ1Vd65apLZaa4EmeuZJf3fAX+HFUPH8zLWzqyzPfEzurkJhxsT7yvbPO6rrTqUkwHcGLP
DYvnNe8rGVFYC0vfFihdyfRraljX34sV2OGzjIkF7tgNBjdAmUjjBMTf1hjGwD6NGWvehQpc0jNc
edR631EX4iqEGBjyATZKgLRESx7xMwfoU3I485HW/qBtgEaraUmi4UMS6zAtZDnHzQ+Ut1KQb6Gz
65dibuJ+flKWVPwVmr4RKGifoLdM9KSPb1scUPUQSqe2v+qu7S3arKagj55GLFp56gbp6XXQYTN+
loFOCcWZqCoeZ4mOxPBEDNCoP0BSL1OflZXQ1cW5ZYlvZKqj/kvjuI9zgBIILAwqx0IBP/CYtz9L
4ypVgRys0h8x4+PwGZYEm8xxJYmAB00SvX9E98uc4v/cB9HPvpmW7arp4P2r2kgY5gNIr4BTR5jm
d5Wi25MRpDoTOqbNczrZhJ9IWg/y/ajkur04dEfQALICmE2A4Qr7an6dnem6vxWu++R9w0fmL30P
oOplpCKc7u0oEpo3EYvo15TTSPwVOlU+wXcguOHucfuJvhCdAQJaFRVcpYJiBUrc3QAeWbY7OE6x
L62oIwFIPRpY3yVett1TWJV1eHVAj/tTMMpmvRN+IvyS8FWRz4SXqnwvR1EN+eBNACPNhogZHSia
g/64bDMI3DPZDLmygQ/tR9Beyv7ZxiKRZyJVnxRmbYCRz1wMcu4ZsvhwehzFwn+2MJLo8hKlPfcs
VzJhK5H96k487s1UFQRXnMs9MMmCnMvKDuhNCZKlepXpLKKrHgAdzkwZTPyHlKIB3reblWmytAtL
AmBVxNbr3OrZFMZREhQG+Nsw69rNDV+ZEXiDIiZVCA/MFW9RB9U8Zc0azN2pe/NxyuCCuKmn0aGb
8RQPk/tGiXccmLyqg5kr+CH8ETF29avEEk5ycK+pzrl2cf8ZiNk4hiuW1vDJyxjw6vXVGTQ/v/oI
TkJlJkeTrNjvt8H1fdYYxHYuwzXJMv90dmHxJ3BbJhwIChZH4n2Lp7x9yMHY6RQLjutxwL2pjjO0
9HbxpRWhUKdlqVjrsyo06Xbv1rlCYXoFjkzckdIjsUD7o5TXGbS8INumug4+8FhN4ERH3AbFTJZQ
FIkHCf7TRDbW3C1mA2Pa6j4oi9EBy/zAgCt8IeHc1B9wOUC9ymoQ6sUZqIHK3IRC2vvkUbpKz5Gq
cd6ZsoxHqOAjuT7oijQq77cpNHk0TEmAdpRpLmuHlsttDt8bojR6bLrImJd6JQm966EzaJ562CPW
Y7b4CNQlmNFno5tEeA2ZmM1zPI9B953Wa9o+8JbNmGOd1K38i7Xphpmg4fM3n/oqrZczftnanGKt
ovkjV4ssb3NVN+yK3mjePtqJAtR2wnbU8gJ8LVb+2uCvDSP8WTbxHRDIVQXlN9qXMEdSmG/dZGP8
cDc0GqTijEJhTU7zAFQmoLmAsH/A30w/LaE067cWpAFYDQgqe9C04dlZ5QH2pzJfy2H90FBu2F0q
BnTqxV0HhbNepjTI/WAN0IBT71b0BS1JmOMWKpUveN04fl6dr+q7oKMRrhvrUgX2Veut727ocJAb
oqJuW3/i1Jg7BWNdQsJ3b9d7jORMjsn2uBER6Rk78ebLa9rg08OdmINS9+CwIY/PQKbM05UYKczd
ariI307uVcJIosIwznNmBFY5gclhtVmgqWvn/Tsm1lZkoN+l/JxEGvtbpphrpmdiwnT8vk3zEDVZ
a5Y1vvqIkfUpwuyXX5p5BbcIP5L15bPCjYcD/xuDeNtoM61Fx2xs7nD+B0OFwaV6ObktSVyF4Mn0
Gz7mVC3nxalAf0xCb/TLgjFbbmMDLfFzs9SyzqNG9vOXdUho/FXTxKcaDHi4mw8YKdZWf3Uw2iUv
QB1E4nsfcaG+je2oKJJyuGiyXDe0Se50YsBYz5UkKe+zMbAeR2G74vhAtAefYR7ES1LMcPboPYSd
SfADKAIf5QSHenPd7KheE4v5fVLEtTyv1w3Xajrpos8xhZgmZz4tmxwFjCgB2bJP7IW2ScyXjK1E
j0+DHCX61EN4viL5aNr+kenBBW3G0T/6velHs57jsI6W57AjE0ybcTkvXqO0cxL4auCVXkYq2Zd0
BhqomKMS9aO0Dgx/8t1QIumYGkefcWnJuvetSubtPmy6sceGGWFtoGkA6sb0ouC8Oz2WugVwPU+j
qHrxkEsF+cprvbyfNzeiix7N0tTl8L4sVZ6IsB6e1YzCZCZ11Y7gz6MZuz2jwTY8pSXrumIiAMjn
YS3b8DGywxv+l89vwU8KPa6scpEuMS20HUloM7Wt/nOTtrDayjaNlr/XAa257FM18/5h6iwirlxW
TZCHDawEfY7dfckSx5n5TC3cLO4q7gac98lKEKYzdH0PJvMsCsy1xiuQd7bvTJLTmI+F8tJ2F7Vi
qX+NyeSWM01UGwJnM8EnL4xqlhashaY8m8EJPwscRs5kU1w285OFDk50ueY6aR/UXPrn1L9Rc7dp
Y/dzmipySoE9WnGMIuQopi3Ctu/aJaiuinexebVtGS7vu8mGOe4yRvrNt6Vb8tLJ6A7hGuinCj1G
PS5Ts2lt5J00A/xSIjTj47Bl+bYZMWQ9CFq8MBOhdxXigc9OJ+y+gv+WzrhoxjmXIeUVjH6RqfV9
1PBb6ir/V4SmruaRYunoy9bMm3gcAzq9EAdfYKRAzDxUPKUbYqcwml6WYIDW26xJzuE98Ih7F3T4
A0LLYGGPHt5HP6X0Y++C6qRow1Wm9WruF6DanysH7EKhMI3zeLUup7Ks76IoEg+WV/5WhWv7zVdL
80Gwdsprwt+18aQ/xo3oRFaRYYZWybZKjdlKauHmrEK0688eyEF/xxdafeLhOtxM41NRYDrzXG92
W8/d1MQ3Dy1q9NEFafKhah2Dlz9y6iS4K3WyuDYrMXNTeCt4Sf6qTenNxzjm3GdLrdcU+t9wcb6o
30wkrq1fN3jtpFPoB+CYx3GmyGNq1jdFxZcwuC1hhFZmNMU7cptkWIqnOVhnc15gDkE+bbylPBc+
Wsy9jYBp/4bIVY+n2NCA3g31UEcPzbq0gPZW3dIiHR+m9BOz7UCeR2bZcIL7hu/gYzFzee2DRbRf
AwkAdZPHvo7rgsyNNJmNAYvHJLVJnU8tYhSXlSxgrM187G39c01jNj4sa79sP0AycwiHpEljzO4W
aysesgbtVM0J1kslvUxpWzfv1hAFo1PfRUyfTYJ9p0BGUyXX8U1VfBoTTdkzWo6a+B6iaxYWoVhj
cQ3RVLb+XUPBr5/tbNKB5F5Ui7zN48wIz+ATk+Iac2to698hNU4osmDob7d7FHZm7AuyS1z4OGgs
yQ8Kyar7qmIlrlEPFQSbtUu+hjNTwTeNi1CkyWsfg5yJmwuZY3YgWMpKu2B3nye7FouupvQzhxGE
+ZQ67O1f5nkUtCniZAxwXpVdHCwfuNsaFGUCShOWGVNOOhcla+nTvKWr/zuCR0T711Sj1++UNsBP
vvetXAVcKuJ+egEYPFbrqVtgCXwRdUD7F45Vhh2RsGlMsT3JNUGFWXaoAd01jEh3x5RURBfRNiEE
yFrOeQV2QI/8AxFfM+Z+Gd5iEbB/jHvXmGmq3EWoSk2f2jnol3PfBEZc51nYGF9sE24qRtquyzcl
YvTsc6nE/M04NaKSVREd5ELZ8L4eq5LnIy6szYNvmqjCJ0lq9HjOuJrJp2EZEZSOHC5Bn+wWiRT2
DmP50FcU1alyTd+PjHpUe0y8bcOzb9s2m8B4zdAyV1kGKF3a9Gfv0tjnFbC49rqxGQmaFBaVJuP6
YMiMNW5+l4QukX8v4OGkp00RIgvu3s7VrJoBJrnbuI5/eNAV6yZjfSDKGxjeEY/yud2aAPGoJ8Fl
3TCDLzjxw+RmsNk338VWywJnfFQ+93SeTnUwbhaymaAMrohvmckJis9zFqRmLHN4crGPbDEQLS5O
VsNVyLcTA6NlQlgC932d40Qa9KcY9z7k3EjZmWII4tqdlhXdL0j6AhQgt0SG9VPaOIKEufbqCc0D
9tqWNe+wIkt76wkKHY+CVoZebWnabymCFffUKTffzJh0rSxS79c8jrFxoBRTld/gldLURaWxd9bN
pB6NIQjgNpjXuGubpDIfNg+YDVqGyF2dTKx9HA2b28eptPO9HYa++U6nNVWnPlXTK5JOdtIBQ6MR
3oenV78loNi1a+Q+xXCw+TVRTgCzh2dLjUmMOCNrXaLPDPRwm48I7/s8hXZlAU8xXXElgH1zzsdx
WvPWImNEYDOINUeblK+yUGLyjl7RNh+grkLnAUxp6GMvOoPyigk2oW+JW2L5ZXXLuD1s0eqbj/CG
6emD5rWt59ywZajv+xTaK/jurWtBeIMCaLlEzxTcy2Lpk7WB60UJ5HKHcz55F0qG5LWckRplHLzE
29aUwQpN6thuhcI9dVxlpUHn2c+yA8/lShVC56yEs0j6qzcoQuDMQswPnuNKICraDLa3xyAVvfmA
Gy06PTh087fPkwNn9CmyMFnK03Qa3LPGheOPaOsCuBdVsZGfZV+hIU2ZYWihtdPRq6bC1BmouzJz
ChwSZMzgLWLvW4bPskaOiIrcfFaz9WGGPWIt62xD5S4uVMKlbO+9S5BmZujhCr8hwO5Y3iMRXZ79
UG3uHRnGIPniyrGzz3apRX1Lpah0fdK2VPV1qeQaSuy3NP5bOUST35SvHALsTQxwolb9uH1EnVVD
07MgIddrtuIsn+7WZnZY2XT8RJlkZ9yjhPewGMBBksawEc86x23yEevBtSchjYS7Thp264NLbae+
Oo0ENpsm1Ngew4Dy7tfQCKEK1ZcTfQ3oppcnT5CVPJU9KGrvUhSg6H/Sbvs0zIx1f8fdLJK7Naxa
kkcRzKgfcJBVOKyrNaauKHmypkMODhWktfkWQg72YYFzELlxuCCRe0ysRN0sZ9EALB5Zu0cxoByV
8YE5eIkPcvpFYlbLJ7qVHRR2JVHdHUzdA/qCnsKE9zkISZvD3Ujnh7NjcI87Q3gz6BzF49j+6Jye
A8ADN5NegxZZ4xfS6hGhO0d8V4STGBo0aiLO1E8WZRKVo/fAzDaDYU5I7wmnMWLo2ATdXQ0NwvLD
US9m/Cpemour6tQVUzwM6tQylo4FBa3FqGyctJdnBL2tuC8jmIdBmNi+obNAEuuLRtZivZUGovUc
XT6ViAv4CJAZnuOlxl0vrgn76saXlW3Yms0Q3WGf7HGTPeIIy1BuClWGZsqtKUbd2fYcrTYcfyV1
rNoAIVIYGQYWLJxm/h6UbtHrpHB7ZOZ80TgOozxoJ3HhdKB+vaowZekn+Clr8/A259YBP7yOmihv
wpX1z3FSt+vnAL9GBJkMDevt+c3pGXH3km5L9GTfEoX7MujVijMGWlKYL/myqp69DmfEZJNlnCzI
yZCaJzlKyjGCcjJr0f2sPbZsSI18osmvySzBeLYwfkVciGWOsjlILv10m0Vv0+dYNkuFEzFttr+U
RNH1W9O4Xp2jKuoCh9EdWAdOMZ/qdxGiGhwNVCRRfB6wtY+/5BDFLs1MKOBk7JLIpq8hyhA10Cgo
cxpck0RWfRoC2wcvfYW69rvlLR5H27pPW5onywjPX7SUDVN7lRrlfUySaGDnKUF8x09gDNrxHt1x
VezyDaXyHgF9PSV1UkDEZdJ7N6Bg/oAgIuUPykbR/KFrGzXdkoq5/hpYcMS/4dalJDmuszgaXnod
2KxNqAseegIHm3eBnW39JdjA7MsFAoDu5K1Op6d6NmgC0TFJltethcIqT8mMWnbN2g4GKVMVmJ8p
n4fylblZ5rSD93+zbLdgA9p6Qr7Uy/bqhor5DGFGg2JFshp753GxxO4mFBPdpVV8I59QPInjW61w
4ZEPRONy/IReWzKlb2f4hhT+rXAQnMeJUpszrpsgw5p75MPsI1ypxPBIOJMQsuPxXAchytq8QyXb
Zy3wY2nmx3WIi0kmcXRnViu2uyFaA9LB7ow6K1C6qMAR660Im4c4nOb5UzzDcfxXUkVWPxCUAJNz
G0srPjiHCnTRVmlToXMP0sqXuutafl9Wbac+uBQDc+9pquYbscDNPC54Vwrat9/il8YmurqtDe4R
PyKercslJ5b7eiyaPtWozkXwL6tJbrGYhyCHAQT3Q4HrjiQVZwVh65u9b/IV/ntkDnMhYN+oTxoV
79leE+0mDKxJmmF6WScMGq6GMBMA/KaJ8B8Yhh2NRyKWavuIInG5nhes5LPYtuQBuQIP7mlQCtxs
cQJnN/p2W5HSC2k4Hy6qScb4YWt7dCWH1Pfmq6utgHOBsvCPOBtAnL3MQsfjBFc5FIIkMs7pknPk
b/M3vUQpfelhwjHT85sNaojUbY0BPk+nTSxNLrRzqvB6eqOtmZk/xVMZddcIXa7u/zH3JTuW61p2
v1K4c76SKFGkgLpvoNNEL0WfN3MiZEZGqpdI9dLcAwMGDHvqbzDcAUa5AP/Ne0Z9htfJd6sqgy9O
HhdHBu4kb0Tw6FDc5ObeqzlXtRycbTIusr6mHVRWUAmy0FZqlpYP+wy1SjsgnW2TPVoxfbYtReIj
u5aqkzzwnCpzPs8cDutX8Zrk8z3kCtweJcY0btevTs2c5IssGqu8sBzQ8y4sFLfUDRj1bf9YQq45
fWpq5s7Xtku65duiWC6vlyUhHeoYMxUbZDAojqOMNqCEnHUdgHCqd28Gq+qmTb/AVPOixSPk22Gl
tNgAN+6hNei6B7TfKPY+gJZhOcI198maiqS7afvVri85LOGQF+AbxuAB+P0C1/SOu/kXVDOIs82Z
ILKD1CgSsU1XY7VXO9TeCxQHsJEebjPTIR/xSTs6m4UQu0WwCNWCSiDZYQZ9iVt5Elgt86OOjyUB
FT/j2dfhcD5+5QOkBcCzZsmFanykIhb2u/LBaVvaI/YSVqk+kKID4xg3aZgo8dTKrK1DGQH0xElU
HNKU99Me2yh0AseyzsbXPp/lfN2svGIfkAx47hzkKh8ul4Wv8wfBKzlGOLUT57xDuhJUUDxRAYxy
kkNNUM4jzlz0aW6RHPv8skuBwg9RD65ABoc1wIobvCpwOWcwdXRZ/xlkSyUCkG7otJs9WaA40ar0
Ht1gO9mOIwyL73Og/nAuwn8Cuob+KGL/mUuwTeWmtlC2H8/quFVNH2TgwrlBI9AudTZo8bXDK+7L
CWpUuJda/WdcytaMBF6PhnEeMOyyPUolZQMmRAABdzkl+xmURhjn1LPrpR/BPl6GNhgmGLyoswpX
jizfTAra2tMl7sMzs7etk6Jjvf15k/8AeXunh65bdSUoPM4Zafm+gbFjuc0Aqb4BjkptcDyjqI4K
szhBuj6CK/mOMviBXNKqbulcx/H24EYr/tAvTTxsZYK0BgRXZP4bC0z4EknIvNRm9MrvZI4fPjIH
VAabB2V7T8CeoIcCx06hgnLiCx2BrejSRBLmZh1PfYZ+aPWlaO3nScj4BHL22NgaUg5ZmapkErP9
AgeEIG2Xiwy4CsPBNdxEb9t93Qwe26OyskN7IAtiG/fpny+oY0+uIeXiecx65mfePrFIhy18jHHP
w2ZvNLou00IL6aDnjXnBzQAypb0Pw721efj54EdWqK7S4rV2Nck5x3JJuU+/dnVWTRvLWygsVgSt
ZCAHAFPPAbFn0sipDCzFt+juVCQTh3wF28MZkn1wVduFuY1qwPcv9Ldv/K26P/4d/v3SyKXNkrTX
/vnHx6bCf393+Jt//p23f/HHs9cm/Fy9dvovvfkbjPv7524/95/f/GOHRKdf7obXdrl/7Yay/z5+
8tocfvP/9Yd/8/p9lMdFvv76ywuqdP1hNAhv1b/8/qOLr7/+4sHkix8AzX/742f8/guHL/HrL//4
b//7n/7+f/35f/zPd//u9XPX//qL7Xp/8CkSP5tCRhb3O2yL0+s//YShoOmCOGqDonuAN9cwWkx/
/cV1/iAEBNOFbduAQNADB69rht9/xOFw7AuBChP6uiAF/dPz3f5lt/3La8Gc/P7vv6mH6rbJ6r77
9Rf6naL9L7sy9x2GAjfGoy5zGBI6bXl4NEZSVWfrE1g1H9yFomBc3+Wt/VJWALTkzAG2JtljnCta
xHzXlc2ruywPsWieB4fd2BXJNnlHr0dyk63pfbyO+6SXm6mezliZPQMohQofljzykhxttXzejchy
N7j/XQzICpe2uPOn+lkJ74Kr5RPk5K9qET8uWV4HlUcWiFc424OGcOA3zetYwE0hz2UZsN5/dHL7
oSJql3nkfExEB+UaeJX0jffNnkQ09M41Us8LYfPHhpNHS/hRXA1BLbJzNZS4YpPzdq4+VlX+pUZF
aIPrIHrlNM42VXEoQ5EG4Qjb7X5ycVtGET9gGVcB2keXE+Q3N2OzfELJAH8zFx8JlKODNq/kNlmy
L2glPLgcvwxh2nHDUCYCHiTHnbVB1ddKMa6IXPzfjqEggibkPenIeW5DRbziz509J5vUV+6OpHSP
+uG5LzFU13YOyofTQ1Jka0BWeukv8Tc6NfeljVkhYxkHuH37mxlU8F1FcYmDWfZe+LjfI5uEMnwB
TVnVk/FszKs7iuwjUKrCFVA9428ruGhywIo4hm2cfSk6fN8e/1u4PEybsdrF2YwmXo6TuxLqNS/x
6D5R5WZEEzzgbmoHM9xdAqjcwa24U895sn6YnHiH8mjkldYVOtO4KK3qHrqTLwzGjIGYUXgHrpoF
ddfe24P3iEwvJOzRnZbXTorbLMk+1sCIb7qufk0UrLl8wNJ9BpiNqF4h7gbYBq5cgYdLblCW+bih
JWpdqK/4KBstH/zcQWV5/oSbK0KEg5JD/IA55NsAk5iyWR8SlzUB0ga5RSE727HFP3dJHQdSlWLL
Yujm5OpeQffBHq0PY6meC5tdMN48l1Z/F6/DzULre2AQss3UVM/xujxQv0y2hKwPWYm+bdI42zXr
y0255HGwOq2/8dJxPFBIfhtFWwaQPzyHHd6Ope41evZrEHe13Kq8fS1svOGWXpG0wG093gk0d7mT
nsd484NqX0dRnBcCXc28urGzwyuIxd3sjnUgxnbHu3hH0MkMcvjejlydecq+Tnu09IYhjpzc7zaI
sY8kh80xoFgzW77hWnQGfNC5lZfnlqTI+POPsbQ+TYPciYleD1N5Zy8QD54m4P7I4D+qyX1B7e6l
99mFhMzq4dEAu3msLfINVuGXvOQXkmBy3Mm+dv30y2KxR9uxrxb0Qbbr5AKDDp9IR953xfxgKXLO
8up8ObRjiJt+SYm8t+j8qZnEt7Em0aScS4vSK6AmP+WNd1Gw5dNUV68gFV2B53bKZP67PONf7Y2M
UeGiz+JzHSLruFbG0DNcn2r0T7exkr/ldik3os63SJ1eprm+zjmyzbi+RvXpt7watwCQ7H84Ut7Z
or8nefpTMN9nPloHzLa5lqhVvppQ3W4tPEUld04Sk0AW7FzBUzKh5bVfNg+5rD7hYnEll/iyaZ07
mmTfelzN//Vn/E32AsBg863XT/A3h/7R3/r/8Jw/UFOPH/F/+vv//I///r/86R/+4f/81//w53/z
3/78H//dn//T//7xuD/8+e8nveP+gUMih1IAALnz/Tz/y0nPnT8wC8LbzHZdy6X+QWng95Oe4UdQ
erItCFzRQxaAJPf3k95mf3BtnPPwrETW5lDIMP8rTvp3k2Xu6KJ3/YqaqCf85Naqp2nv1AU/b8Ak
NknFMfrhU3+4/mDBxu3ck+Q2xqGxmSAat29zNKN+mPJ3QuDYsztvRy9GBu2a0RYR8C7Adgz5fCgp
SZOrG55di6uE08JjB9qtjNGj7Ul2o4bWiP2BwbULEEDZqP5YMwNozH9ymHhC+d+ILo+xtfuPyFsv
Uy51oypN4ejZXKGVszWZcch7v53xtQU6neWOGxHLemQxNO+Kaj7lEPw+5YBTXe9uagACgYqwi3ZR
U3xAT3i4hHNV/cm3ZlQHhMN2ZYPUo6o7ep6Bdb3lDazzzL6Zlue2gOvainE3wvaWbWKg7NaRvpiN
jWz9xyioULXs4hkvhM1TlPjwgWgsQOnNBj9QJ34IMeQGRHpscqLeqotttiZRXRZGopV4I1r8ckLR
C7RLGrHFe5HovwHX+Gr23Frw9nbLOY9rGq0J3uTKphs5USP3Uzy3FrvNgEHBC6NRn0t339jEOqdo
ZG/MHl0LXguyfYkLQbHIn+i5PSV3KYSbzYbWYlcuTVvWUlS3FXih2zkG9YWiHXBmNLqu8Mac0rN6
h5S3y1T6yC2Beb8dFjae0ih5f0OmuqgbADvjyMcWsNClR68lWzgAMPLp5w+vJTwExyDH3Yjqom4E
TBLG2zK5BeTkkRbK30KkkUHiLadLYJN63E+os7/C9haw15yBJC16b7fk1fzQo3+7ZUSe1IA79k21
kOYQYSxn0qsIqC2Ya7ninNayMinr4YtqIT0AhZUBqKEiqGA9AEjQbLw1Njs0kbu+3S8SmqxN3kt0
FJVvBUzJL3Nqmwgr4sG1mEYhpVeNFDLKKLeeALsGrLSIT7z/Y1OuxfSwZjYj1SyjOvNg8uyuMUB0
ngPo3c/X17HxtagGAA1lhKqSES+G7DKvBhAtxtR5NBtdC2wovXkwKAITofbRBUFvarphcNs+QQ4+
rIx/uQv8c2joSnIOEMYrnNd4NI1y2jaJkwXTULNLtLeMWN+c6nJyTqzQklpmEXkT28Vuisu9Y/hq
dTU5Z0KzS0IKPxo8Pz1z/EJuOloTs+1aF5QDz4wqx54BJ+b0BjoQ1yopTGTwMClapNYeqrSwYm8i
mivPCghaJx/aGOxIo0Wji8qJqSwhgWrzyLEBjCePc3/KD+zYgtEiNXazWlnlwqPMBZ8kBhXnmY5l
uvGzwT4Rr99J0u8tSi1gPYJmBKDJIqq4WAPQQjrIVfUPsucAYYks87YzSepnGB5sxlV9W/PEOVMz
W58Wp0N7d5H2GRq3gF3kY+1dAg3d4UBUVZCinnaXdN0XcKjHIJbN/dBkF+JQfUJzrb9oFWBMl3NG
n43ewl+pzhRoz2W9ZUcTxxWJ5fCXyJrWyF8IS0jbdoBbSFpF4jrq6QryHop929qqYxOJDIyubTtg
UY1S0ZVG2ZC/jNN0XYz0zmhadHm8EV54aUKUH3EyfXC8+XZd669mQ6Py/WNOW8LOqQb504+gaV4F
1JJRDIiA2T6vi+NVQB6AVIbBE8avvKvJrk6cfoene2e9H4ryPz51PAgqegwacV5aIZNlt0sOAD28
X7oDnlR9FqlkkC6zT0k5HYli3XgWtLEBcH3JIyCilmvIdRWXPlDRm6Sf2dbsVRxOyx+uF8K1YeBl
5X7UIKwC6Zc3fCzN7ly6WJ5dd6yAIYQfebYPsmij1G9D3Bpx7zn1tO2nojFSdBCUI1GoSxAkP0ma
nnjTx+Zdi1lnAWkUkCURtSB8h6gXg1qQEnoVi+FUm/F96jseX4vcIkUPoIbsXQRqAv9YLAxgXw/s
zDTLuse+Zs0dR2vzvAIYQexSW65nRYZ69NTU9vmKvvMt7EfUtmrA8ZxlXr8YLQddmQyiFRCJlhYo
X05qBa4LaV9PfjAbW4v6IvO8ljk5Mgy/OBeQOtzIHKBys8G1+33tuMKJeYcUAyxDCFdY+T4d/RPp
1yEY3ol83e51tUFnnkBZxHUTXRHZWv6HUSSx2UarS4c5oy3BbM9oBEk1tgMmdgxIYxkpYgJ/rmUC
dYoe2GjHXpQUZX9Rpe1T6avB7PhhWgzmyQAuGsPgTjzeA2eWAN3LDJeLFoQWc/OpzFGbAG7nKvfl
ts7V+c8Xy/tam5gULfjAzXb9JlFelLtTedWChfTFHXj64MWAoudDDtqF7fn9vVvGSSDQOXoAcOjF
T+oKmvluv7G9WXxI1aI8s+Wri1SKYphnp2JlRC0q02B0qLjLRtcze0+6TKWVQBKpakr4EDDvDIfu
l9UbTqm5HAkONKTfnCA2UFGAnXpllNQ834MFkQauVRoJbHKqy1TGfpwScKbKKCPcuwHOPWgStzM7
oHSVShsdVy/BTR/GCu6Dz72zNKnMzlVd9o54kvG4x9BIhK+BN/RsZqKfjRnRArpwlZesEIaKfKv8
smbrHjIZhstEC+dqrcBfBys7gkfUl7oF5a7tl8RwRrR4Bqw+t1qIREezCwTglNPubBLKNQwgLaK7
UhQHgHocxbOMtwQEVbRcYUzy8w3jyBrXde74AK9yO8vWyJYcneWycIMkh/P3z0c/RMo7x4uuc2el
HhQbYktEsWu9rnXV72AmXt8r7jbnzgDVki5bV7Pak473mKQ9ujPnIlqgkHLV0KTazU7ZGY6upci+
aEhZgvUe1RT5PIn7Rys/pVh07B0ckrUfMtUhgRpp3aFAMeSSX6CWne6HmY9mW4EuepeOQ1GsU1xE
JC67s4qOe4g1WCem5dgL1kJ27SDpk0v03TljsM7OlnK4YWinA9bZT2AIODITh0QrPdXCPjZXWiBb
bJ0GJ17wbTxcCoOB2v02XSQ1soXkVPcqhWRQLAEryqN+INlWumoPSLK9+3k4HHt4LZSJLYrJdYYi
WhKpgEFJlw1AqvOJYDvWhdJ18MB46nKnISi6qAyqpLwGl221i7Oqs2JIWHb9pRr9BSm3UwdN67uv
fQMRCrNtSlfKa+MYMCpIiUYVeFhgap47fmsC9ANoTDuHC6UsZc19EYFwvR1S93WOuw9Gb0SXyatI
Ch1yu1sjt1QEvDsKEAn0M8wG1+I6Xcns2lUHwRrbiyFKAd2miZ4IvCNLSVfKo3h1FBAk4MEt9ysp
cXtrFDO8clAtqqGzBFasW88RGITAoU5J6M2VkeU43qYWwdjwofvW5Dl63yDkAF7F2cd+Af3GbNK1
wxhg5Q4oTy9D5pOeSX/YrLD5NBtaC18JsXWVCDeLLA53V1CpHQvZdEbMhtcl9/g6luVSJah4zRL2
BL3/MMxmOoGc6qp7dpsXabJacwSEzXPvlcWmtmfDwpQOJzqYauEGn8zR2oluR5fJD2rAGbZG067D
7FOJxbECTxqVPHe/zrxoA1WOwqxGqkPrfcIWV0F2KSpBV7SpiqDZdGLfOlJs0SH0FN67oyXHPkqX
LruN22kIJMvKp5ZP3aPZ3GiR6pfeABSj6iPuFfkdgeTbJoU0p9nuqLv8tiALVwvjXZTipnjeVlLc
4FZ5itRwSJ3eSQ5tLVLTZOwIB5sp4mntfvYcv9zmUy7PlgQ21WpIoEbx80niRz5Ii1tvyuC80DZt
pHqoIhRQTfrMq0Y+zyBS3/cwFU0CCKMlJ47hIzuzDrP3AfpL1NKJkCq2z3yyIZnhRUMH2TtgjK2p
NavIgu1k4AgxbxQbjRxMONXx9HkxgXkHlbkQfOXrxn6AGKHZxU4Xw/QaF1gD5YpwzYcBNLb5bHUn
Q6SHjgPLauGPa1rjsR032SwFhyzlErdmm7KOA3NrsNql4xBgd9NNA14pqpRm+5qlxW4NnSfghSkJ
c96c05XcHqQNfr7ij61B/YwdYng/ouIZeuCaN7Yd+EluOCFa1BJB+TS0K4Ye6gerAQJjhGmC2WNr
gQpG5Jg2qUVCuKBD0TIFvb2v4KNjMrqtQ8BK6mReWzASZo0P0mtB7CAbZqMCA9CNb+9wbPA9l3cD
CW1JoXvaKEhq5p7R67R1w9Nx9LOkWVwSNmR6Ila2gdLRiYbA+yvF1t1OaZLH44JMNVSi2Vkuu8ir
+qPZfGvprzd0YOMIPDXE0/Z2/9xZRhLCHDW4t5M92oMPjutCQsuqrse13Usoqpk9tBaUo2AtROIR
ObR378bW2wrem4GMbB3bZVsDvAQ6PPacqJsZonjQ0v1m9thaVCbUASfQ7wmadyLZVGz4yDrbaPeG
mMjb2YYcLzRta4zduEwE6zTfutRIkJvbOq6rnBdSTh2WHyB190Ploec48t7sXeqgLg8M5MKzZixA
xaERAw2XxYgGiOc+pBo/lGy8uIVsB9Q2QlBSaLAsuGsM7rjujd6mOGRMP4wOwQWlhmzCQmnmc4+R
LWraZluJjtDqitbJiGvFYc/rXQukClA9J9LdI1uJjs/CCUY75uOp07EOkT/ARNPosgtdi7fzMRUQ
yGnjkYRLDrW6wykM2nthuEro28GrscO23XE/dNXyBFXeFQCtQRpOtxaXKnEnv6lyFa10IIE9OE82
8U4Bm96/X9i6x6ffJ1D1s9c2KtbmOctZuQfj+x6oe2J0Hts6OKtre+gNzhU+QGZzkFHwraCYYGQ8
CQ6KfmRKG5mJ6wFzl6ZJkNeQSESRx+yt6sAsqEfZ65hxGeUCJtN1AkLSUk5mh6aOyyrEAQDnQJoL
utxQUPdbceEKqIz9PPrfvxeBafB2QZYWdaa1AojSzufhE/MhYwJdweEcakosKBtuWScW55H1o4O0
JPSdUOtUwA06xYiMCJXcXU8c/xEqaYixn3+bYx+ixW48lutiQWIi6jpR3LpQHL0SGXiJ2XrK7+aw
Xv76HvnXNCJZELSNGKA2EOUIFup4Yrsmbg6379W+V21JtvBsFvu5ttbMcHlpcZ2JZeSkJYcz0XlE
Ky/b1KR9+fmMHdlHdeRTBrP0SUBqKqLUoeeDgqpMX7iO2Wmug594zoizrjFuHcnsX7nteqHyxazN
ZuvOoBBTYrhqQ0IIamvpjXRj6x7GRqtRJ8PW8U8Q2Iyho7KOKHbkj+44fZwGVp1YpkcmXYdAJcCW
Q+Yo7wD5K25VntyOnjSDxts62Gmqe7gMVW0XMUtRUNzk3srXT0aLRbcF7Vs6uSqvugg6KS+xRW/h
bmw4tBa50LRJ1AhF3agbmuTapUptgQAbTpRJjuwLOsip6UYI5oDHGdVirJOgq3D/yCzIhYuxR+PI
bHa0MG0g/g5xYRSyJWRdAq92r+xuuDcbW0uLIYtDe7qoJbIgjEhi/hGM6q9GQ+tYJYITBVpblQjn
jnhBN9jXHgQ9TxwvR1a67qLIlEqhuZql6LIvOdjfxT0oPmZLRjdR7AFfHccpnoA+GW6LNf7Ee2pk
yc5tHcw6q4FDZYj4Yat6aMDR7o5Bod5wUrQzt8/WIRtk5YdphoWy9HW7zXxwgc3e5+FV/JDPI1nI
u76t+2j1xLUllus4bx/NhtaCtE5GOtcOaSJoxlEoyDmBg0qn2aaog6DUGBNPKb+NUuZ/TFwHfhyo
45ldcnTnXQe6bvbqrTUQVuo2Q600T0+F5pEMSgdBNXibcF/DCWpN3qus7WQzxN5HaAN65w03rJfa
OrKJQYPXg/MNPoWj85H3UGsf3MnsmNZxTbXtTeCkxHnk1WN/DgllSABWtVEND6ykt+sxL8cOuCmJ
Fhz3nLOMCAgXpswMzoAM/u3oVeek+TSmeQSpKrAf0evefK8TGi14HdkEDXiR1k2foUHvP5KDLIOw
zCAk4DS/fXLJmIBYjZVF8wrLHxa/rEQZGbJBFkULVNBzynYdRRbROr3LWP6NwZ3NbH8Bn/rN/kIL
G00xPmZRFw/8xs/6+qObOuTESX349u/k17qJpw/jUWJBMSDycnJvVdPXvh5HwyfXDlHeZQVxsiaL
GiUJTjqrD7oyc83WuQ5u6hwJFhFkoCN4LHwQzH0eyq4x2xt1aNMAVTKwz1USFQvg5ZATPXdVnBgO
rgUoNAhdPnYHRixMAjdiTqDk3/jPRhHkaPEJ7B7Na4Ynt7IZisMMhlWwZDzlW3tktegOnuXap90o
xjj0IZS7aX3h7+ZiMayn6GAmXpFmIVWHulvuf6JiuFR2dWs2LVqAwrYGKox5gzpQ5p0pp33kBwcg
s7G1AIVoLnTGu0yEJGcWhNT7ZNu0tZElOQicWpbrullV2EvDUR7zP6AGt4Vp0pPZg2vxKYcuVTFN
eFhUE+TTkwX6pIXhjOt4JWAGfLeZSRw2NdwSfd8+I0tp1oa1dTySdGuAt7rCC12IGH+CZI73bfZQ
ZTZ7ozomqZGWLSeIpYeLVGLfDq69Gwr/m9Gs66ikOO1yGGDMToie7BNf5NUqR7MMXTfvpCtIf97k
0TCBfHLQbGAkYZig65CkobNyAhDYFJISIrejPQfeAKtAsynRonNdi9hqoPgGrxtxRdzDQeSYVfN0
QJLy89qF/9oUssXyI7hyWGpfJrBh2Jk9uhaeixICJqxuH2ZrUaA3k00whuvMNnOqBShYVFCTVU4f
OjDcChxnffUXy2wZ6oAkVcQ9sMe0D0lDd3OaWAEvIBdsNCs6IEnlozNajt2HUwUjgoHcD/Gp9P/I
EaTDkRhgMHJGLTmUwoF27gqDSUCUHs2e23uba6WOcOfWL/swqeu9V/m/+SkxbD7qWKSsG/sZfMEu
9HK32lCv3IPGbZhq6Wgk33aGtYCUe9g77hPMAm75WJltKrqaZzG1rayauAtZ7vrwJhCDfbFAdNos
AdVhSHk2eEAMisPw6dfKQrHVm3zDw1NHIa1Af8JAlHWhclKYQ8BCcqPW7sFssWjRCfPOIkdBsQln
KH1sxJCyDTygDENIRxq5rFsR/3kTxv4IU5ByC5FGs8xZRxrlIu1bmGA1wErQrRw+U9xujaZERxkN
flWxvsfInTcn+yqZoSvIHcPBteCEEpWrIIdch7MfV9dVMUGtfCjg0mS2letYo8Ef0mFcaR1Sb4mh
LU7dbjkD3Xs1A+5YvnbMqTIZfcta+7Bey0u2Qp479Sez2YEy5tutC2qFMJKgkMW21pht1ry4I4n/
9eev9VAo++tLIsSc345NpvzgTmVhbOYIGCQ4zsshBWsCyOQbHqQ6FmsVnbU4yqnDvkuvxqELa2GZ
WMhzW8dioZfTjcxjdVg6eQcldsBXeQDVjlPyuEeOJF2Si87wlCRMVeEo0azdOO1cf7OhjXb/89k/
Nrw2+/Y6xGAITU3IyrF5hrWoF4ykomYJki7L5VSq81M7qUIosj8WTEHMXH0weXBLx2StquRykfkQ
QiG17qwX1+VGZxJkZd8uSLipxqQsMDKkqzfwUYI3tGWUulg6HAt9xMFtIdMfjlar4OtnbfIEbspm
M6JtYbnHk4nWcQ9/I1a/oGC0PuGWZJS8QJnv7aSIBCx/amGZZ9Bkhmjr8uCtzAikAePLt2PDLAOW
KjAXCOWi/F3VlfM5mhaniEbvr3BLByFJZxVF5k5taLeehOj2CPfsKGs6dkqI5sgH6EikuAIzFYaK
bSgSAo82iWnaLcR1vhq9Vh2LtDiAUU/JJMPVS6ISdrPbucrN8HCWjkZqhnQRPF+hf52pGzqTKItz
I1wjHDnfvlVRsWrI1wq515g/+mN7xlhrtK1YOhSJQaUW3cUC23hOYBRZTI+QRf5iNt3aYkzzflQ1
zVQ4ugTYktW5mDtl1s6xdDgSnFrXlMCMISyUM9+JmK6bJZfJidTrUON75yT9rmv9Q7OIs7WHGgeR
YV9bfgMf71F8arIUxlZVzwdYJg3lJq+80jDlENrZsXazijMFY1Qy2+4mLtGs2gkAY9vtz1/FETUd
S4cptfkoLDfu2lAWfOCfVxuODDeij+vf0LsWw1PlKSj+gjeb8PoM+ncQfIHyiCWfJ9gXt5cHZ/pq
k9mkk5eockM9G8W5YQl6CVMIZ7LhtNTDxrU7E8VIHmNVJGU4tNbj3LX+dDHF8Ci6gj+rM5yNdQpf
5yyZKVxnYbJktmPrKKmB8maRM5VhymFLOJPf2vnU7f4IpQ+uUlr4xWJ0IBaswloNq3cJH2pLfGQk
w/VHwNv7oCO2dE+wMyymCznUqty3cQcVuanpHKOcF1TUt4/QJcXsdMBlh0Xc7lG0/AIaqdkZrbd0
kwbmBh3UK8O16LawgdvDqP7EnfFIPqrjv3LY9catWFXIs3bwd70YZmvbr1mucJ2BcLPhu9e2R6tp
bNnB8yMUq7v14Tu3LTzI+/08cg6b1Ts7gQ4Eg1VQNYiCKri4yeHeLrnapUPSmb1XHf1FPRtqhEWv
wiFP1WNdVQ7snYbCLLHj2kXG49NaQg6tC50F2ugWntoDdX1jNjH07ZKcYCGQwWZQhQpN2MCJxSXk
z83WpK5qtY5kWWm/YNLLGPQa+KXB3Lgz0zC0dGyX5bEhVfWsUOFhXUATdsFJc2LKjyx5HdkFz8tq
jMdYhfFaMlhwkvQCPmZQpavm+MSK/F6de2dJ6gAvWpauBd04HBaVX30u6u7bWMX1ObZ4kH7XZP4I
ydX4isCWYwuPxwU+cNVwPvhWt7fVkN5Vzphu+1Ki8znnvLtIYyou4ca9tIGNH52YiCNxoyNcal86
dicRN0lafGvLEhZP8TyfGa09HYTm8b4qYDZRhKOT3a2OSrcMNohm24mOQqu4T/KJIyb5XL6myXIh
lZnSDxba25hxnLFa06VsQ5f5u8ErriDE8NVsSg7v4ceMhUBPmXWNCim8nK6x8Pxz2Lf1J9bckbep
a215q92gtoidvMunG4vfxowYXfrhB/n2uYvZa2JYdqjQV/YjH1IvIjxfjEp/lqelVSB7zsDxJqig
OfByjRcBG46yeDSbca2uGA8pGNQFimh+3RQbkYoyGASC6Oejc3z/d4Jch5+lDLa7JEna0BpQyCUV
G2/gBFxfdoyVl5ULqw9kVsMJ1sCRXUtXoEoS6Cw1rMXFqCTxphkqmLORBjheQIXNjgtdhkpxGKW0
s5ShCwtx3EvP2nY1ux7pGlROWtXSt5AcZXxkzwVqDncwRevN9hodfwUHjzQtSrxmaPWSTZOh8j02
ZrVMS8dflW2RzRNB1GYjafblBMljnogvP19CR4JWR2ChTOpmaVw1uK7zr24y5cEsYZdrNLgOvJqa
JF6sAvcvr4X7MMRAskCNzPA+pCOvwOohihZDE8Lj7moFsx20T1zXzR79EHI/bJUr7DeHCeaoYbOm
v0kk0105mu1mOuwqRk7kF3C3Dz1F+suu8Tdor7dm61xHXSUynifw95pQOO4WMt8firp8NpuSwxL6
cUrSBl0jgaHhHMa3WZm8NKtv1lGzdNSVmuBAPhQSlxcL8qSzl3zqVmqYn+uwKwda+GTKsHU1fVec
U5fciriZ9mbTop0fXTvFfuVYdTgOvNktwF9ts0wYvk7t/EjgjSlZcagDkv4LT5Mr+HufuHgdiXwd
c1WxfCzneZGhn6bO2TQkTkCF5JdGs6KjrjIyQbxuRgPGLnBGZAm5qJU8cRIde3ItNhdVwHIzmeqQ
wDPJdRkI9k584kg9NrZ2T3QbITrh4ZywxvqlTLuLbIFMjtmcaJldl7aQ3fFRWsxhBQwdnk2bGOaj
OtwqzcbVIwzb+NDxZ0ZhfhX/ZvbQ2v2wAAJytOsRy8SjfqA23PV8w/mgbzeUGL6g9f/l7Mqa5MS5
5R+6RAghtLxCVS92U+7xNvb3QtgzYzYhdgT8+ps9T2O5yxWh9w61SugcnSVPZl9V+iIl1uznHLpO
7EZ2eCVacaFWcqYNLQzHHSkUIhWo324/xqUeEjsf9qPf0TjGqTaBIswoNIBosz4Hsn63xXbweztd
zBXq6MoqxfTFoGIWsPxxye2fXvt2EVdjeZidErxtQjZvop3d5WL4+/dLXzl2F201ztCQLiAxcemR
bT7OzAxpjbLOIxOH5+YdA607smyDzRGw2Imew1iyrO57P5oW4qKuIKhMWtSJu8solzvWjiWQI7ry
87gu7ircgxeR0KK/mCK+b/jJlH5zt5g7/NmSljFoiqCpygtgQCTRZvowN5Wft3VRV4vh8YqJmf4S
DPuSyEG8m8LA73mjzttZzWvNwhEeETWcLyAmyqpx9ItWXLzV1FAh4l33F6mXz8su38dj9f33l/zK
G+HCraJVRnM3di8tonmF4GGPSnd840QkvtgrKZ2Ltor6xjZt3/aXISR9yqMyeo8ueH0v+axOMs4t
COpJkEI691Yb41+P8tq/dJ7TeD1aKGvL7qKHef+yTxazvWWb1+dFieptW0F+RK7hmPTBfEBgslXN
e3UQhK+d6P+sR7m95wai2KgmLO+aMG/vG13vH0nL5lNRifcR1LjSrumPdFKqeZoxzw4dyH45jZBX
vK/6Eeom1kJTcc//101tcE92iEX7PTH/luv/E7OuJI/Dfd7bS8z5H1qpv8I89BpyJC7blYSgIwuI
6S8RmdsEM0hLMprRM1ZwEWaqr4qx4rhj84RkkhzigIyiH1cOcRFmqwJ8moDV/cKLAlSiUKPa46Y5
+VmH44t0bQqai8Zc9j08i53WSa6EH96euAizrlshh1Ft+hK2YKoMYvmsouofv407zkjUocX8ZNxe
inD4wmP1sNPej1wZUns/O2gIz7eNlDAaURd/FUH7nVrpFyi4CLAd854qX3AkdRjPd404byg9+OU2
LgasEpCgh/53AaYp2j1S0umncFXTDeO84ut+YZsSwQr5ka691DTU97vd9cMBsEAPYaK0ESw4BczE
iV1jP+I+4qLCgs405Yp+x2Vc6VqelwWDcnEbwhd53SAX97SUou1JbwxcAr2PBGZkgr7zg4USF/m0
74JDCxep4FpVnwJmp9NQHn6yXcSFPe15byiYkesLI2MEaSsIBFex33QPcZUIjwOtBkLL5jKg5Jzk
DdWg5xZ/+J25E4RDoXqcIRSNQk0wfKk2RhM1G6+qBOS4HbMF6XEQAU/dXcp6zZHWPx2s325clpfn
9ZdnF2u/WMV/nqYJYA1Ky8IAHJfv7ESmBTLWgYU+8sjpI4N841vIYnuFQy/C4j//twqKUzvDnAxg
+dWHsn1knPgE5FjZCcgbtLsB35zby25Nk0SGWwjrtO9//3VfFnntkF7yjP8cEmQJzN4KCkTbru5K
pU5xLe+J0l/D4xYq4N8n9bX/8RLm/ed/mCquovlg+AGzJNvZ8upvE5vqOdAYvAzWMvx42IK/LUI5
s6RZSfMUgeVhSdolGp5ZLrCTPrTVnoZ5uf21TqG+hRu+ujXnLQV1QrgQoMwuVQg562Tt8ZrqIu+f
KgPOkbSNWshrj4xWDz3ylPtSjNETg6TiF7NX0RsxNPtDYHWZdULwE4BfQ/r7z/JyNK8dGf35yBTU
fdt1CNrLIfb4pInGsNHkVXrFhXLe4ZkcnNUM7/ASKXUXW6rTXQGL6bd1x1+A5ZMHM/SFwaO2lphj
suaUg7bNb3UXnDaMlEeL6VF2CDHlPR/FkmyTV97Bocv786lD7jeagaxH6kusSDjEI8CvGt1wR1c+
qQtNM3m5QHmdtJfosGmnyY+cBl4CINi44yJCVaMo0KIqoCeBq2JYnYC17UbG9GrJAYs7LoKs/Rjw
zqD3UkB+8yjplpo9km833XrBX/AvHA+hDaj3WMebSztLeRrn9s26V7euzLX9OzYOLi6IDW5ri8k9
aR8lmEPTZggjGPMgfFIV7N8x16qKEIJ3dXsZeDx90rZ6joLZfPYyKBeW1oCyqSUgKr6gGxkC+qY+
FzOQJH6LO9Zq0QnfjLHY+cvkhOietAyevZZ20WAldOpHmbdBhio4T2pS54mQ0/ffL37lcXebyvQw
lk6haS563gxLi74hdzyM6s/dAJKQRfD9aVsiff79f7tiu24nLG8nUdKVNpd8X9p0IOPHSQu/Y3Ip
CPaurGWNqb7LspddiodPpXM8e3oGtxcGxIDhe21hWYxEH6xCRQF06bfUv658BReUp1vUgMwI04LS
2znX41s5mYcukucKs3KUlz4hKFcuhG3vRxWTHBbQFPkXVagnZWYvxDDWdlwnhJ2phUTXy9rrP4yU
D4WKP/7+1lyJrVzU2rqiZR0DiYjC3oDSfhn15pEAAnRvmkX9WTDZfPj9P3qJll+JFlwAmwF3NITI
lb6oIoZ6juZQRoFau7mfD2IfzT5swOZv3ZjInDTAAE3rrUGUf+sCr/xrtx2qYmNKPPctquj9mm12
J+/FzEBgtBbmbp6DJQH8Q6WVqcADGxdBSk1dfeRGVE/tEXi1CPERXRdP4F0sx0c0If1S6eZ/Te9F
E4mlHde+mQVcmQ3aBEy0d02LWV4zsm+//25X3IqLsFM7HbruwNpHsP9RR3OU9LbzkqHAxh3PPoTH
VkFoDn5FdG/zIq5PsuLzndfOXYQdStbdir4dQsilJWmzzN/Q/vWq5XDlQuskWPLGdpT1pSopEJN8
nZOo6m9EM1fO3EWtLWFdNl1RNGj47n/ZcJzTwza+O3ecCdDbNAhn+MN6pnfrHHyfq9WL3Run4oRh
cVkOlm/4nopIBgav7stUxD4tCKz9clj/ydDWtbO9HvbmUmwkustzHqdgc63u/S6La52KhpGo4SP2
aQw+QLHgTReuxw3fd+17OvbZb+G+twwPHNuP8qFTUj+ixH+rW30ldnQVHLXqygEpQH0pCavOMQfD
MljtivPedF61Yq5cjFkkRHGsYmku0QCOy02/x3yJn39x4Z99bJZJbmuFXkf/cRub7/vSPXh9UxcL
r+vW0sGOzWXaRHlep25JMcVT+MVbLhzemqqDqhFujN0WnlRMvdEEsxB+W3cMCdqxCuoiSH8p697C
b5a467EXARG+pmNJBNVc2kPv6RJXQAkoUidkwdvvt3PHkCDx163DhkIKQAjxk6RaJaQLbsHgroQr
LsZuCJsBGVHcgMk5TII1/nPOpxMZ20+1qq3nL3BKD3vJNIr+rLkcmIodK1DmN9VXv8Nx3jsM1NB5
6BXsqDafwFts0lWTW6M7V7yMC7SLY2DhVTEjjB7qPgEueUvyfPYqa3Plsm2FmgXbtABJ3YbsBP3U
Tztlfqfiwr5W1lE6SbhHfqxfpuGutcLPubiYLxui4NyCiPBSb8OjtvXHRttbc6VXAlqXaGvc5DSv
dKzBPd+O7duhF+JTEZny1BkDYlJSl+CC4tEUJ8KU9Pu2LLlfJs+cWySjYKNTvbVgSmeAEk8geoaO
5g+vK+oiwgYWgZZMRbiinIp71DvY/dyti59tuYiwdlAaGjVbcwkC+rCOuUlW5RvZuJqCfAYmhC0E
YVOzRh8b2rETndb1RoRw5Zl1ibh4McZxzEskYcOmHni5F88KaOsfk4ZTSv0O33H7kk0bWboVv2DU
U2IWjQqf2TzP3nH7UMFmIxsRD/dx+U+by4sF8aLnxh2vv1o0qqtxatDvRXtz6+/rhnuRg3MVUSfw
6+TBx2ppL2MR9GcIcN+Fgnm+4i5EzK5HT6sWMcIoX9S1afE8mMMv/ogcOxXLqq0tYEo2HsFqAzKE
+tuwAOrgdVlccFjH9mpkNVJ3iknNdOKL6pKaisLzvrgIsZjv4dSyvr1UnH0gldVI2pUXgzNXLkZM
4JWthgq1saIPm5TRwCRxMdxqKl+xVZeSq9ZyGZaXyI+CN+OxPObjIWhamsYNDfyySxckFs00rnc9
6wth5ZDMkBoi4S0pjGvbdyy1oAD5ohPYoMY/apNAvn48D81m/qjKfr2Bzb1SFnPRYiXJNWD4I0r9
5OjP8mhsuphwQbCGC2SF+LIUg5cmCT62Y8HxbqFlHQHsrgoi3u2lbB9lxTyTExc/NoKVVusWqfiq
+/uu/sbH7exnYY4Br0cTlNzGNUiY4uW8sjC+D4b8k9fivwDIRhtDTQVpWz6LLuW0kKct3Hym9bly
EWQYJbBDu8E35JS2KRGzOQXR8sVv5y9X6j+ZuGl3rWR+1JeN8b/afrdg7VJeumbYuVOeIMM8Ny2f
UVjBIPmDZvn8hmnjV1hxAVUj4NHMQM790k+5TdZZfS+jyfN7OkYLoJO0VJD6sshZPW7QODjtpNz8
3I1L2lXrUYgxBsyYxtv7gdr6DOUqz3aoC6gSIzlGSZCWgHypeFPysX2eSjV5bt3Np6BY1U8EjTM7
dX9Lur3t5C15hJdL8Upl10X2LbbjpI5qXPOBHjNarQqd8COEMhukpacH04X8Rsz9bz3ilX/lgreq
YztIwIGw2rXWCa+KPGkEkQ/rNC+P8QiS87nY/ol6NbUp0wFLWiKmBNPa00MLeaCnUVB+Bykpep+P
tUzDmJTPEV/YaV/I8ocCSRJoKfLwATT+/K6bSX2XL8iL0ngCFfmJ7oc9F3ke3VnV67NRa06SapjZ
g1gsxp9nsGif2bF/KgPT3o311rG7cOv6LUX7PB+SZbNgBSx0Tz82FYU67DYH7XoCwjPIaH6A0w+C
CmdCXmanKpD93bdz3QMnXx5CJrKM9WPF+9BAO2ng+Re2hO0H6O6gwRGi/vlZ0ml/xjQsfRQSgQ4h
on8G5au58VRdSWxdcFt58G5vGzy1IG+4UHqczGhuhGhXXloX22bB88KDcET7Y62mO46hPUjNaXGO
g7V49PKWLsCNRtO4NRXuKJUHJj4G8mfXz7fwQ9eO5uV3/ccVB4LVAl8KcbcQKj22qDs3tu19htS4
cqFs7QBCiwGp5qUFG27yiTDqNaqCld18QR7gTNlRUJyaPXpoux1SYridftmIC2SDwrjsoIGKCs46
mVSCAPJs5dSd/T6o48+Kca37qO8Bk6OdSaMlfjdhwtwvSXPZu+JAiBpFVoR+QfHAlSlT1Fv8Inrp
ItlCqlGbaztMw+/TXVSvTwDweIGswaUtf76JZAVmPQaA+LIXO4Q9A1J8UmvBPv7+zP995351v9KF
rgFdHaM1ie52xQrxNkJc/A/a0NFpAxYvOfacfG7aaU/nnnT3EZzhnbEkKtMh3PljbexW4S/xV14X
TLp9q1gHNeGyrQB/7+onltPv09isNxzG64+adLF0PMyjlWF6+NIGAUTIqdwpuFHRcToN80vrlA4Q
QPO6bvIXirGotRzpRX2RZf7UxeWz3EjoubYTEKlIW/oiinCxxdEg2GqRnnYm9rJC6XIvGtR5CBKw
GnM005ZgYI8BU7R59Zqky71Y9tsSF0JUIPKJCOjiC7x8LfOKh6QLbatKa2ct4J061YVpbgRe0c3e
yrWuWoqTtAjoRSk9DiiRs336UNVbfL8DSnQGEnmSyYhi3tMObaas3VpIELRaPxs5TglmkfMx7WO9
vNtGG924y6+/r9KFwlnWyuJYXnIzJf83laAnLXoToES6TTfeqCvW4uLhVjR5AlXGFQgn2j0lmMEF
iKEwGMmR8dqkZdf7geOkC44rtjDfjlih4MuPpxU/Lal0dONXvP6OY9TxJ+/5ex95bQ0nFhB9x0dI
W8KWuUUpy9aI3JrFq9gEyp6fNvh/8YImsVqADYdgED+rId7Pogk+/X7nrxNncelytNUHtxsgmfUl
nEKbIv4ET0a5rqAhgk4OEON6ehjVoOvkEGxPoNM4ZkED5tLf//trB+eUJyikD9qlr+BKYvqtLpp7
OK4bacO1pZ1YwUS7nDlHkq/Z8ofYIW4I8T4viWScmmPpehgQqw74JmbaQK42z5+27mYx/d86xCsv
7i/QOLvuex4gzOl2oiHKOOT8w7RhGiyp5WGOxJq4+0uLZsrT3KKcfKqiOu/T5iDzQ9gf7D6e8+Bz
sTawk1HnJ5pH9M0OGBNw/7NMIJQ3fB9zSrwqHpgV/vmCgjHDChB6VBew4d3JudPgxyievS6IC/YQ
B4SD+v0owCIUiUSxXSbB4VVMkS7WIwKO4SgjXuKYl1Tv3Se2BJ5L/+xU/q8H+HXWVVheQIJ0nOZ5
qJ9QcfKiDuDSxXrIyQ6B0MgfS2Wi53mL5++6EY2fv3FRe5b2dAyWvb7wdfkoawMW3k0zz/DNKWC1
RRSXiHyBOajSasNUYxzTW6XnKxbvYvXErpitkT1fFkv380bpChLI4oajvLa44+JlOPbNwDDVG7ft
3zt6fjnGGf3CNRegh6hzWyTICi8s6MOEy+LdTMgfXgbkYt8WywD06hDS7nX7mOORQqPC0zhd8FtM
1XjUm64uueiLVM1hKgZrPW+K478FZA+2YlHVZS2mbxOt1yQqovXsdSouognw4HjC5wT4OOYfCtk+
d2p477d09LM3bBpDDWcbltamT1XUydMUSU+/4ryXErP8KFfzIFN126dbe99v0+x34C5mOupjWoMx
NMhWTJqnYZBXCev73e+Ou1CpUpBmQ4yEnes5fIphRR/rZZ39HnsXJQWu1yiP161EobM5l/1JTV4c
Sly6IKnmiPBalmN5YXK4Hzr7sDP73eumuCAp1g5RsVJbgsN+FyfG5x0T5nLzi2tdkFTXDkdLQmy8
OZBjsBC5zlgxL6owHIvjDtkxoqCp8TmX0pIny2qSSspzv7DQhUnVI6bv67UOsrGt8nsIwe6nBdBh
v2N3DLQQUsxQrcmzpuifA7O8XQfuectdkFR5YFoRfD6wocbgbdOYUgn60fOSOx5xWw7KMVxcXgJO
H+KwKx76TZUPfqfiRLSyL/DSV311EfuhzzWpZBqb/RYf5pXX0wVIqaiFqpzF6pN9t6tvc/7Da9fu
5AVUdqtyDBFORMX2wPmSDdWted9rmZE7edGvog15GCA8bCb2RwyW7KShqjgNXSPf2pX/KBpjsiEv
10uwLGu6rINfX1W6YxkzXroSKJfysnX8ACfisZ6LzdQnv0NzbHfnJtz2iReXGIc2lXuTNEvh53Vc
rFoQ4isPTIIJhVR9GgXHmy0ihefGHcvlptC2CFhxkWN16tmSMj+dci5duJparEAhKMTSOa+T2hxf
o3Lwan1KF65GBnBnBg3Wbkb+pKrhR2dA+eD3LR2zXSwvG3CDFxc6FFViyFY/WERlfqmAi0irbRts
DRux+mzXJFT8bPJl99u6C0hrGq4Lupji0tYTSco64OkyQ6bU62BcRBpEp6FpueFgjrH9DFGxT2ou
vZgPuXTxaEWnWsD/NEI8INUfWG4+lUxoP0fs6kLK0Iy2JStuC43QYgzeWODG/M7kxTv/p2XVIUCi
PZF4Vjc0H3Jy0MTKxa/1IyPHOuPCDBy6GcVFBHuc9jZCEFmO8Q3bf3FOr9REXCgaFDka8HeoIKuD
ME/QMhyTQertdIC+yPPknfcVJAbKNiENshkyXYAeF+CIt545notIk0Gn+Kx1cenW2KRHVH2YwsEv
kHThaHQJ0b/WVGUlApm9Xh9kqPyM1EWiNVHR1x3a75kA5R/mp9TyMAvL/CpHLhStreRqm3JXWbD1
Om3HUJyGfP/kddtdJJqYKzag0Ykuu5zOebW9HYW5cSpXKt8uAq2lDYjKehtkQBWYOzZ19rHOo/lx
5XP8BZWq+s7rJ7jtdxDBt3mxjgoEAsUp2PYdbCye4E7p0qHtlRXyQJqXQVtseVNDlu4B42Vnr527
GDdZKNkGPYLsfG/JeR5AoreaILpx/v9ev1e8gQtrWw5RVHqBqaLAW58IId2bZq95apv122ZHuB9C
twzcnVVi8+VZsPGdNiQ/7epFm10V70vL+f22t2uKtizwHN3xoYtinQ5DTO4XXf6pF118iKvhIZzH
d1MNGhkSA+UZi7V8CsO2BrJLfvY7K8fv2G0v0Ec58qzED6LbAGlnPnz0W9uJDzilVMowkNle0eFU
5uUzgDS3+K9f3o1XvoKLoztqbapt2ZFJsfZJbuDIMrieN77xtcWl81iZAWolJFJZ3ounmckXdLCf
Z3B1L2cTlEHLa5XpMbJTojcS9GnPptZvhki6SDqlbD2WNFQZKF7n1C7qf2j3+zl7F0gXhcsYLmKV
GStIwU/zWtkqDU0gbkTwVx5al5wsHBmahRY+uWmKMc1BzvJg46U+h3Nx+DkHF1FHy41W48xVNnKS
6cEAZytbzyTBRdTtcXXsq8bEBwhjeJtggB70LJvqC+ZXnHCFMGvVg+8i31R2zHwA8Zw2dyYw8kbb
9tq1dwxW0HzRDFx+WbFs78eAfNlZ7LdxF0dnjxU+8uhhUXQ/teZM+tLznXKq+scBys6o72BQjN3F
6EVj0CG81aC91lZ3YVwAM5hmrWt80XWpT1u1yLuJHlPa5lv/hnZlc8Ibqb+hVURookeeP1rRB+dB
KH1fa7yXK7SEb1zd14U9uHQ5zHIeioX3UZ6JnkxvetmYN8qi2JZUBynOrdRsQC5TjJ9HO+ZtChh5
tCaxBRrqRENevUG/rjo1kRiWBMPG+5u2OOa7lxZslZCyau7DBhzwv/f9r1uycNEsSJLDpRwHmZk5
MuecztHTYTb+EUJJwut5ES6IpWVg3ec2kllVsL8K2n8bBu6lZ8GFq5OX1y1YLscWT1fZsZR0Y5ys
G/eK9YWLYZm2A3iCqZFZ0dFPMYYy04X0X39/7q+bMAgRf365QKk0g1pTigzgDn4u9XGP8Z/p5LM4
BMF+XnwDK1ZULFJlhAVv1bTch7F+77d09PPSCNkAahSINoeDfjLjDFWadfSbT5e/AANbWMKhJ5VF
C3vf9PaxhbH67duJn1Ye0ZF1M1xmLp/zln5bFfXzxi4mkNd0iqYQS090f1Pn8kdQC6+lhYsI3OYy
Bo8UTCeKTZPGYgZbIWixfI5EuJDAshqmbtVSZorb5pQvwElvQ3PDB1673463Z1Hebh3K6Nkmgc4i
TXuAYEd4XULhQrQUtB8jAhRpFh75cp+D3A4jr+zD74/l9bxNuOKYbKXbhha0RL7J13vb1iRhIj9O
2h7wMHWobuS1Lyfxa2AsXOwVWCgxVssWiWh+QSnBQmqvBEt+2J84J80DUSvQqyWUJ37/s658EBeI
tQVqOPamF9nQk/8pU7/jYehVAURr5GefIMHfQ8tgFJlBwzGJ+fLuiJtnv22/fKX/lKNAlAVsKSRn
sjHePvRT8Q2yuV6hjnBJybgoZ17UFO/S1OVfF15WnyB066VryYWLyOKUqWNrsHG55+sJpHN/DrHw
w24Ctf/zqRz1Svs8x+LNcMjkSTGAyX5/3i+Z02u3kv68so1YSUvo5mZDHbG3Uc3qN1Vdr/cRJD8T
HQ3VXRMuwZ0hRX/D3q7YgQs+aPK53KQdRFaZGHXMoUqqtvghtigT6NycqF4//v6nXbMA5wnQlZLI
QxeR7X0TX/pgClMdCD+UmnDRXtEL13TJV5EdQgD3PLywqG6B3zvggr2OZlgA4ao5Kmxan4pFT+dp
vcXfeeVcXCxP3ZXjyEXPMwApnvTW3Jsx/9vryF3Wrbgq1waEuzyLZKVOR62euxf1aL/FHdfQLNNw
sIXHqCzAWyNDLD8Af1PcaMhcae2BiP5nS4hBukHnpsN1UYx0iSnj6c9SxdFFbdPXLhz2c9cc8xnG
siTDts5vEWz5MYoJF+yzSDJtoBSLM4wqFafZRM0do5r5vc0uJGdZO1rsh4izcM8jPPqEvTtIF91K
Ka48oC4llablCIlawTM1lqAY2Xl9Akc1MpZ8JNsfB1pFfvGicHH+GJI9aIz0K+Mhm97HfNrSLdb9
jQf6il24kMWqCElb14xncankeQRv4kb8kmHxC2RxLsJ9PeY4W834puijv4vl1izGtW07r7EmFSaD
Mf6ckWlfzjHdo8cptv3Jy+hcUcUGV34BsP/lyLcl7VjLTjGUgf0Wd0xuDSI+NC3DqVjbJKjsBY9R
Kw7P1V8O7D+hRDGaflxD3BYRdpD2bbbwHgXov/y27rzI1VphSL5WcEYBdJM7mqHr5ze7I1xpxUUd
umhKOLqJNyTpj+VubEtPL+oiusZhxtB6d8RZMQXklOscMwBQkPa8Lk6lKh62bq/4hjO31Q+xcpv2
BSZlvM7cBXR1OUZMNG9xF7Wpp5TMQInynMV+0zfChXVpFGfhHDXOfd3fE9Tvkpkxz/jQBXbtZh27
sDFxVpEgf5zH/u8DvMd+Ht7FdRVHjM4T4PKZmvfpMV9ldwf6j1tTmS8G80qM6OK6BG2qmWJyHbl0
+D/CwqdtmL7+/pO+WPprSzs2Wk8z5ljlQTPWNPQPsxHz2I/5+FBsTe3n1l2VSYQIdiBQbUJfrg/A
OCYSyM/z9Pf7v3Y0TvjMMPUUxm3AsigE7U8Rd3dxHd2iGr+2uBPARuMhW2IHLF7ZOQH14xtuDr88
y9WYDCjqLkFcvtx1AtUCi3o7tH79SiTChXYBf5WHYMWOs1KCtKjVKRCpfht30V1LHOPK8C7OILnz
z1jXXxsa38hMrpy3C+7KyyKMRo1dR418d2z1/Rre0qK/trQTu85HXpq+rGgW6S4+bXbok6EL/HAE
wmVU1XlpRc16mkGv7WtYBaeJsB9eF9zFbtHNxPFQQaBnUVDngIaBSbqCHSe/1Z1XdF3pAQRwx7I5
NH+qWOOWA+Tmly+48K1+wQDsivQ2QztgS5q6KJIKsDo/y3cBXLGcezCGrCwDA3afQH73+7G1X/yO
xXlFj0EU46Qsy7pW/KAj+SGH+JPX0i56a6w6qaqVh1k/QpE0AUel/myYXP1qjL/gB8jYrQUZaDYV
XZywjrxt1Oxnni42bKSSj4iLKF5QcuKmIakuSz/MnHChYd1sK5IXJsriXP/N0HLR2s+CfgGGgegy
ZBBVz8jBnkEe+1aFyjNSdHFhdLV1Xgw2zGYGQgqxatR1C5n79UNcAUszqErtbAyzRuuU7WB1rP2o
DISLC+sAOGiicMDSLP5HFeX7FgwZfjfceZINRaMP4HyacQgCgBAj+KdfPCufLj2ZHMe1iuxOs7Ce
ybnt5N2qSt/FHasPWlXUQ1NEWWnMp+howXRZz396HYqLBusjcO2sM+You2nTyTby5x5laD9X6OLB
9m4Dp4PUNBMdN9+jhpQfirD8x2/nTnp7DFrsdbfQbAz27SGyzR/dvHl2LVw4WJ4TRoo1DLN9CPa7
aBqCk7R+8yfCBYSxaI+GGjTu2dybj6sYIPMze2muceFCqcq+alFjmcNsLZoxLaA0mRwhoBl+Z+6Y
UHHkbT33SGp10/3YCgsL6vzYboVLDwaSp5YfNSVZVbfxvQjaOY0kJtz8du7YUDEVVVGGPcnaw5xm
TZ8CVn/3WtoFNpXgpump0QTe8MjKWH5eW+s1xCFcejA70mHY4vzImg2auCkmZdmnednyj7/f+ZUk
y4U2tTODvrklJFvsXLYnUY8dSph5FPyvKAdzo9pyhdZfuPgmAGVXbY6CZFFbxXnKol6/16SFsOTR
6VSCXjfZmAE7GRLvkEJXAFqUWwA3egTF/lfcl+X59z/39VgbnfWf6z6kbXo1sPbIJMRG72XAvw6L
9KMdFS7SCtT7ZbSofM/6etiGdBrBwZuEJpSQ4Mil8eMXEy7gqt8iLiaijszsZgNhhOVp6x12u1gr
0+dzP024b+1uf4DzrUpZU954aV4ymlcyehdqZValdrGFRyYUYPyspvpruRT0vJM2frOMXR37mboL
uSI4j6Ki4kCVLN6/iioe0xC08bfaAS9J9mu/w/Ek/bEOlayrI1ORWs8YYKn/qQbJ/wqA4nvkwpb4
7GQYz916hCceQ4KFiTCAHthRR36RjIvNKuhYTiBRJNnB/hZwxclIKs/agosiLsJt7tA8IRloyeK0
hQ58VDXjjY3/K+j7yuH9wuMVhKLHsO6R7RMpQGYGAowN7OZPc7l3p7yW1X3cYzDQbq1Jc3aEiVa1
SZuwg0hXpZqET3mHFj+dykSOQXQGjS16qeUKHSZW7vt93ZOoPeVmbL0SUXSZf/YZdm07Ov0/Z+fS
LLfJdeE/9KlKSIDEVN19LpZkH8d2HGeicuxYQkJXhG6//lv9jnyI213FxIOkiuYg2MDm2WupZsu3
UJuLFnjXPvzd7ZgOY43XrQ9y4NcqdLTelVWCl/nlIaLx6tj360r8Kc/te1Nb+JvarhQN6jl3lVRx
6bZdQ53+deMqAIasj3jN1wYvU52CuCQMJZx6HtkQH4hb0egdccgjMCEu6qce/7iFB5vJE/sxV1L0
R77Q/e9RSQWelL247DCRzVt1lMdrSbojh6vW1+XlaOpvbg2Hr0d7RrHJFB8agblrR3gBcKSjEwO/
S8cBD163r/xDoaK7OnIK0cE0XofhRCdzz7WaopVfrXorX2mKpRuGYjhyTucggXNdd9mD/h6pcKt1
KyA38xj044jW4RBfJLwa/WRhjdMJDHr6rwfGQx3AXim+5+Ncso+1JvsL19pzmovQzH7des9i2gZe
vOdd1auL2lGPKujsVjMHPd/XrXu1on1HxiWfKPknIFN97iVx0yKFAOzrxsumBkY3bqibaJf6pFdV
PIJbLO9sFL+mTyA8aLVOjzDoqnnLCW+ih61QoToL6UeZalj9lUXB9GaLSpAEYp4d/yKbwyricB0g
6GbyrUKwGSfUevu7U8YEGkCv/x4kM+RIdWlysArmuQgJeWAoFHY72NrcVUhXxQuojObBRGAzKaPo
keCN2rF1axtZB7ID3+A6bzr6pOYPwOOdwCsIA7weFR2KYD56qnPdFN99+UPCFs9tZdnUFW23aClw
M8s7djzAO21K5tX/4RKMUdL5utvecqDaJJg1qNo0arYhAXwl7/T7uvP/N1Ry2/1x76aaoURP52KY
pgc27PMFwEf4FMLc+023FMHXqFzuVa3/OnJy2w1SLQSX4gp/SHjEJGGtWN5vWtd/uw2TtYaVmIft
mMMJNTnmeAbfviSws3KDlUB8v/4IO+9L1GG1Uw6X8H/Xws8Z6qWdOm5zUGHXEN1HdMxRLfMn87a/
pfDcNitug1Bzs4iFdJjyndZ9Xgd8OF/DjttStUWNeuaFhectUy561Kox30/EJt3kKrjNQXV1ZaYN
hU85YlmdRgdQEuUNTqbmnNukU6gbbyvnFYJx9VFDkdugEGKb37t9UWvFApbrDwHf9Hxo5gfPb1UC
80q32jPk3F7PxAhXfa4XPuZbHXlPuhbt46604xq1IarQI2XBAznmXRd8QBHCqd22r78flRuZGRgG
v+75hjInfMpxzMNA86dii57GdcHW0Z+KsH/xCLtMIvrCy7V6o+ayTmkH+Gnf2nvvCDd2eRus2qsN
KZ91G/OYqH1ASYuij3qMg29dVW0ZXFlLkqwqXL/KsardpoINXMGcGuZusRjyjmid9f00XLqOTh9/
P6Q3IqqtEmcwbk2Mo27ug+I+L978eVBudwBuE1f+amqi1TzkuvtzQ4Ij6XW33tl2bvXb2omjngWj
6Gifw/zzPJEZlRH38j63mr7+959uofu27dCzaDAka/zhgeAft6G21vQ0RPFeqxXtouAHDvNNQj3q
VqzKbdJqCLUnGN+GHGFufIigVnoJCS1Obl23zs4N64v/Hc5zExUkGco2mVBj6ti4tagbaKwZ5ZE+
X09N50eJ3jvHzcvmrMAqzDifhH0+VX6X8XFasqB3q7PlNmTVBqOuYsnaXEvyfCzzp3a7p9R8Ywra
iBXktNu6iI4ur3n8N8rQymRc5R9O39ImrBreFqBB9j6ncfBx8basZjiDu7VtrcoeVKsv8S6Xe5TX
KmmHuswgJCDdQqEtnCU2Q30VcJXHmxlPUtX7afN3x23RxququN+LLhBdTkXx1ZPFkZhZu619Wzkr
qINKVnGoMFc0uRyhp88NkS9uo26tzr6YKYoer6M++U+4ovw5VeHj75u+frhfnO5tuEqGVNaE7SpH
pQP/q489dmYH3gk0bFLvVGTfmOs2YQV9nz0sih6RnHofYWYBwVnhud3XbMTKi8Kg3vihcrot8dmL
phKIaOcmKchtyspvuSElKbs87pb9FLXjmwOm7HeW0o2Rt0Wy2FzxrfP6IYeUg34/02A9R0U8pqoA
te/0cW3Y6uq8jppC2efBgeV06Lk+8bGvLnLzDydkkdvQ1VAuxxrPNdYU73OYJj+Zg9/JuNyaN9Z2
WvX+gRty0+Zb0Moc5qDFpd7C7c7Y3Go9eH0IqJt5G4pND3kLMeJmKETisfVPt3G31mssQ2gIeX2b
V357PJcri7Nh2IozfJ/vPYrcuJXbTo4rRED8hRVtTrzB/+Ctq5JJ2Kw6lXUM3tir+WWvAn4nStwY
LPslXNeDnkYIyuV7t7/j8h99uOGX/H/PMj+dxaDKwMtyG9p8Otifwuvfh809Bfkbnbb5MX8qA7Bp
cZ/rSKvLPGXHGLgpunMb8PIUTHaRl8a5o++jpK2XN4QUjhcsG/Capb+MYg3bfO4rKEB4S5OUo+eW
SrAZLzhSQKILUjA5Iz/2GLThIrlj8thmvJppGXSwyiFv9gLpLRE0z9os7E7Pr9m9X2xVNuM1B1Go
pTeqfAYCE7+hAavqE6jJFRYLESv/VWxw08jgNvM1AVRb9qFTEMH1H6N5+TAsbuZtqO1+HXdWHQdN
2K9d3rTNV2TT/ho8SAA5xR2b+epXANJDj0NIJSo1nhSv94+NLlEeWUMV0+00byuBtUY1BSE4o216
XU6xOuBxV9xTRrqxZm34CycRlMHsgcpJSMWJcNNehnjid8bnRtC06S8qPSbaWWM/F+OYrmvRwWK3
h6cVXuPr5USCaHjcW0XucCY3dnhbHozp3l+Pcenw9kZ6mB6sATA5FDESJf/9/Qe/NVzXpfJT9KQl
Iwo1qtgivSaJA3hXBKx00yXgNhTW60LDeRiNrz2lWUvM48jrezoxt8bm+hf91PNu1WKb/QHLAGou
F1GN31s6yzdNEKg7H/vW2FjHh1ZEsKjRpM1VsJ50AfcBurUf3cbdWsSzWHfptVrlCy//rbzhk/bG
OweqG3PUZrcMLHqOcl/bfGTr/AcHZvl5RLVnmTQNm5Jejh18Q2M3lpjbONfSLsWEh3N8BibJI99G
eRYFrdxChU1zLXF3cCTcESpq/a8M9BOBSrTb+c1muBa+1cOxDwoZ66o7b1X4jjdzd3H6vjY6tXUK
VXPwjctVFMRnwYfo0kBt5c5GdmNm2sSUkTAkCYRROdvqtyHuLImY5q9uPbdmvakoqQCxqLzf+HOv
eZWUcHZ3/J7WtJfd4Ud9MTT5SuN089c37Wzcbv42ImV2U+NoQuq8GytImo39lhA9u90kbLNHLxDU
NNFa57D0aU+gfbxTSQ63K6iNPiEdt83mIDKfuuLPBvfEQ813mr4RC2zyyZsLOWiUJ+YwKPeRjZZD
8UyHaX6z+j15KT2PwI1bNV+cpo5NQgkoMHXFbmTex0Y8wTeyPCGfWdxZrzcCvg3QVLpUnDWHzM1c
9H+v+zw9lAHZ38zwnbwTOm+sK5ujYUW9l3KbZd7JAuU5uj5OaiT07DY811/9aceaCxVD2bZE62x/
Xvqtumwj124XLN9atrtet0G3vERNx/JuYOap0Ieb2Q+3pYsI3+aCqrDMaxCPJ1XyMPHgoewWE3zr
rtugcrZbor3MV2H+aipYiEbVB7cRt/LGkVEmCkD+ge1mnwo9vW3D7i+XppkN3ha0HOZYKjS9xk9G
9Z8D5X1za9oCK2AqXSy6HMtcGg19HnrgCsfd8Dz2Hzwv3Mah6D0vi5Q+r61+Xsjw2a3f1lky8FYf
OTQ0XZDgU3DwIak9WKK5NX6NCj8tnhF79cJrWeYeUnaXDUAyJBekG1bE/oNEeYvpZSC8jPndi6Rb
XpjY6STAbB6q7FAdVm6Bl8VyiN7Nex+9K03htOkxG4cKzFq281CVuenD5V1c0fUyipg65V2ZzUPt
XrSSvWcleChyrT6X0In1yZ1zxq+3JmbjUJXE+mlDdF0a6VWJ8Oj4jkHHuYPcfzA/Grxon4nw7t1s
f/0uy2wSCujlEhOzelkzepKdNq+X577k849YzfwBybbuYR9G73RQVjmFZKg+vp6yxINtnYykl+2H
6X94sTefcaEonKoPmQ1IkW0h5aYN/iAyfNVV+RJB5MxprVmOgP9XFT1rIR2MvYT/gLx+f5YBC+5s
gre+g7WOaahxFOm8Mu/gR5a3fBgeDjI3b5TCa5AKhUlalPW/wVutW4IZ+OHrz8ALI7p51l7WbZjF
cQ3LzmZwK+plNjdVUbFg9iK3RrbhAonOl2Eq75zdrv37b7aK2dhUIeawBocoMrPsn9q1fnvUu9M5
ByUor4ekWlbpdShZyGmxR8mw7p/ngjlOHmvP9dcd0nId9lzq72/CiP9oxeSGMzIbkAqCTUsO9anM
dPpZ7UWbBIT4bjuMjUgZCi1kVq5F1jTts9L0y476VacFZRNSuorCeSlDLwMz+Z0M6/AYkNlNKYTZ
gBTs5NpxOjaRzX77oyLghSfk05wOZ8wGpKjC3A6KCVvAAFmGWC1/R75xewtm/+GjxDDKae1Ettf7
FxjNvF+G9S+3EQ9fz3A6z7LYfFZk8oBM6BEuX/eJlXdC7//eZH+xNG08So2M8hIbSQaxnS7fSTQ/
LHNs3pa18c0biUvE44iS+QQGu8VjVDLvBSGue95hTQlvyMmsfxExly8BgYlRAkEjepq3WcTJsDTz
d4oymI9RHzbfan7QMgmqhr83dReVSddy5HFKEZofEnzgX6FPwTZ5Y6NAOq7BRZWxOs2xb75W8XA8
4IEBRcFr276rKuKZZKvnFcasOAgngydmk1SYMnnP6QHT7CA48TLuoKek/DWhVYXH+XWKUoAX9Zct
9irIc8YLewjWo8nK1lOPHsR0n/m6DujSKtygOcgGvv5yA63gCxGGsIRutEyOWuMp383Zkdlw2M40
OP1JFBmDiUu/8j4xAYLI76fcr18XmE1+DVFXNeba8QE17z8mXPaeYUv6r4za8m0Z9PPT73/mxrZg
w156GyY2Ul5kZPQfi1h9WHGkv/Mn3Gr7elb76ZAtuYL8zTLFWeHjXcdT+4XR0c00htmsl2pjfgCZ
KDJuwkwW7BP0Cd0OqrYfaLEgP6OEjjNF4iIJvQ8eIfdK736ddmC2U2LcR72PxSOyokEJ/Bzu5WOr
DTl1+nAzOGbcCla8XbRpR7igz1x3Cad7XsP/1vGbBq+/6XoAzm08HmdIyjyToyanfiG12/ZgC2wF
CzjoqDnibGbLfr5aX53Gph/drk62ZWLZy9mroNeejbr4LnvyDU6vf/x+Fd24fdjYFztmCFT5c5FV
C23PsgyWSxTCX7uOYd0jOu94PiCef+fHbiwrGwNTSMtsUEsvsm2oAyThuhfWRk6pYGZzYCgup1Ml
EXX2WejTKLZLuUZuyCCzQbCFUR13TKPjha8eBn94W+rCTW2P2UpbKE0JYMSMr7t0MYUUQVxfGG/j
8+8/8K0xv/73n0IZazcO1QCcirTmxckjY52IIxjcFpUNgukhgu1jxERGBzz7wQNkSQ5af3LrurVi
y5rIq/21yHhnYMPif5e0cAuUzNpcTbVNzd5iVKBm/BSPT300ut1WbAxsKOEe5x1EZDB6ylFiC0EP
Nr13GhCb/4q8qTN0vfaao8DaL5pTFHtuJQDMBsDihhzdWB8i6+E7Uw3ellB4GrjNE5v/wrQrw6Kj
Itt68bZrzXSu/Fq6TXGb/5J7qKEpUEbZJrvHrg6XUx1XjkvfJr90XFeqkSXP5CbTsC2e483x2G8T
X1slec9ZxbNwLaekI+tjMIm/3aaKtZUOpCJwNqh51ug/Z9q9a/rFLYjbClstdLT9qJY8UxKrXQT8
2aedE57JbH2tFpGJxPsAc8TZy7zl77A5PriNh3Ub3wrSdj65jrXH/Yx4tfe0TUi3ObVuA1KqhXfZ
tLc8Qy6PQRhg3U5NTO4cdP/3YP2LW5aNSJlWbbB6APoGsWIs970z/mmrefkMGxcc35n4LryoSvZ4
Y6nPWv4Va7l92jViT1WMoUzKxl8vPJwZnhk9FBeU2NDebUNQEbxRq+K01yNxC6w2GBJCxpyvQrFs
I8l1Umunh0dmEyC8ND2rFdr1OV+hY9L7SVffucbe2CJtSqwINC54QRhhHTYpai3DJIgiN/dyZlNi
69AJVpGdZ0h3fON++8VgNbrNOiuF2MGqnJNAsGzv/PUs/Wl9CNlxL0F5a1Ssg0NT1b0mZcmycaEf
WDPUCaAftzyQTYVtgsCsB5xMJltxwvnym9gOt4SHTYV5BhbazKMsE7g8Q4ZmQbamiR03SZsLE6LE
yUxD1AJyev8uMTTdaOjm9ctsHOxQDfTGF0B+kg4eBHPGHqoRdymPGwVhzAbCVBBOvVowW64QUrJc
jSgiDtuihGB/O3VlHL6URTB99AsYpp6KWUwyga+VeOz2eT2Redzdpu1/9Lf0uPieKIKrUdxb7xgy
VFY5VfQzG7SSEumFaTc001WYtUOfkaJ0bNpaDrHcDe+GOMz8BaybB8PncK7v4XQ31pqt7IWYJn3T
hUE2SHMOuXokx+J2M7UNEueBDRpwZJDhIfUiWZVWG7vT9I2MwH9YZirxoCAw0rwfOtik7j9Czcbz
0QTK7eJrM81jIDs1Uy/IcJB+Poh+47zabDqsr9fah0hWkM0txoT77wcl3KaKjYIRHATEtuwkC+PC
JJEnU3KUbuHNBsF8JodhIGRHeBvrs6hMlEDBpnN7qbNRMC8cApQjVX42bMH3fRrxLiLvdPzGZLFB
sMBEdI/McWSyEns6tNdJPi91sgjqeAqzaTCmtqMyQ3BkPR/bRBTFl6EW9+7RN7KatnzWNE2dLOPx
wOvZsHzsaFm/V+tYfWGbLJ/oWE+OtwJbS+tA8pEKtm94DBAfUF8JVnR2O+jYaFgRtOAhV7Zm8aL2
J6/s+1NkIrc6EHhWvc40+AKPGKRH6yKMznOsxwclfeo2M202bI72oykXjVEx7Zp4s3g3Ip135/h+
Y27adNihTDMduERmEsHm1JJOPWkZl49L1QR3YuWNCG8jYajdNyLuUPlc9mBZIOx1mvrg3u36Vv8t
4MTzPRUMu79m0R7BdZsMbQZVFfluKejgdv62ibCiakaYcOg1C6txfNIeZKxrZLLPTidZW1sJ4jI9
JLIxOiFwhEQFwZcwMm5nTRsIG1Vfw+pLbShaqSFqIKJkgm3TnZlz67MGr+d8HZhxgm3PlvmsXx5C
OOA8+i3qlt2GxcpStb4g8dDES8bj7jzJ6d3a6Tvh+FbHrcW6jKEohtYsWeftL7Gq4lNQGu002anN
hCFdp2c6+FOmZu9sum/whXF6VKe2ZFtAGV/UsemMCgK3z66/rEvj9oBMbSRsGem8Bbs3ZdTryxMt
4/deXblZ3VLbg3OMaBvXfq+zSnxq/Nbg2tO4jvc1LvyU4/XE4qOAAW0b2n+Rpf4D1a1OK5PaQJhq
hmZUVa3BdXgygZznGM7KafFQmwir2hDpL1Zq3DBBR1SBf/L4GDttGNQmwvata8tpuXa8Wo7T0Bdv
+BwGF5eFibn2esC3pocuCFx9MpiM5Y0ffd1F/cGtaWthHiPkUjeU22UF5F2SOpxfpHDb/6nNfpnR
YBuN2ykzrf9vsfCPvlqdkGdqM17IHE/NOqPpQqu3xf7oz9rpukhtvsuwohoEbKKzipjyrAZJTvBs
uPdY/es4SG3ES8FUeRxgpZppvILlYUf4wzWF7xYIbREsJOl6xUpvyHaxfQw6kldD89Fpntg0F/Vr
WGz05ZDxnR8PqvW/e0fkVsxCbZrrOIaxqVEFmM3l9k8AMMXMdw9bt0bc2jKjQoju2GWfbdGa82k4
7evmlPSmNs5Vs6qB7v7WZQYWh6ngYnn2SesmAElt878BvIehYJYyHG3lCdWHZ7rBqM/pc9pEV6ik
JAES9VkHZeTLQHtzieKRvLi1Hr+OV8Wq4NCwBWO27+KZsSxc+J0jyq/fj6lNdHULDWq8YXSZKBpv
voxLD7JH+6b/FsHY9j1ZqvgpWtUxuK0oG/KKGgFLTzJjnCj3L0VkxKnR01e3YbL20YC10PHlkcqi
yfs2dlGbxGPRuu0ZNuRVoG6UHJ5os3LqPxEYFEtBnA5z1HbX5KV/jHLu28yLTPhkNDur4hBOJ39q
M15slyIo5rnNNAOTPHsoEo59ZAzdhtzaSREf46E3dZux1h/O/TKh+hLy/I6tW5vpsg1VC03tLjvK
6Gvb71lhoBb4+57/Lzn332cZanNO4I9igSLULsPomCdeDFWXjN20nw1t27dQ9pIPbCTHy7RGJp9r
vV9a0pNn1nk1Yl80ww9MqvZ8DYYiWakq9AlSjGNa1GYhFzaB+grGdsdoQ436pCiOA31dLjkcZ91w
fyjYvo4LvoFh0yixesM9+r5Q8jia3SnXQG21rCqI6p3AvS3TY5H0A8w1maFuaXhqI1QtPbaR1Mgj
qaCAA9f4rmgc/cmpzVDJMF5CxLI9Xfr2ScEH90e19tX330+aG5ufDVGJo1kXQ+oj9eTyvdXivAbC
jcWgNj1laDEiS90caeWHkJ0iGppWqE5ys5yk9htnvzXxFsuCp4AQ3oKjXJO6r/90GxbrTOD3GwDs
vT1SCNSPpw1Vl486om6ycNSGs/haeLEo5j2NzBakBW3rBIoexgn4wK5jraF2juOhZSzdTHc8k7CW
JyWP3e1cYPNZtSjwaF02Ueqx5WOEpE5SicJzC482jxXBnGioWMkhdRKyZMVJMqlL5qY7B0fG1wMz
t3iRHLnZU/Dk48Oqq+ZhLdx8W3Htf934xCCypiMSpiuLvpSdfKB6cCuIpjaQVfsGoZw1YdpDpnUX
n7qid9tLbVUuPAPEnHdxkIYCaz+qpvCEtLLbRclmsZZQ44ABw8DUq01aGHhs+5FjUQC1Vbnqjhcd
rutBisrZ/axFRM916JaiozaNFceR6KtRB+kxkum09cgwFBDFvbNR34i5NpEVd6jjJkuxpT2t1F9t
EK/6qTr8ynfLNNh4hod6MGhsqDCNKtS2xTJp/cYNRKY2mlBFvYe7wIFh58OUkBVKiFchTaeoa6MJ
MIBTfO+GLfXXZUv6SkfnCRuUW3CxYbVtCeD0AEuutCGlTCCZ+UbF96jVG5/UZtXKFZYih/IQzHs5
JOugn0Z/+eQ0KjaqJpadhtCFDtIxrOhD56EIYBFIOri1bsWteA0baOfNW1rPe3Bqgvm58LQbhUxt
Vq2TBz9MGQUpP6k9HBJeTo4T0WbVWhNG7ChEkJYbfYJeFuwy23vPL7e+Zvg6lot9jOJm5DxVRnxc
5+IBJX33hNtutW2dLJZ2iJqyW6OUVOELKoo/sD1y2/htWG0IOzXVndjSyStVeZrq4Crxz3b4cbjN
FetkwclOyBRRrCDIcuIh/3Nt1Genpm19KV91JZcFNiKkY2BOMvccbpZcul11bX0pKHECWYNDXMoC
XIJKPBu9yG0zT259t6ZLPQRh2PU4yfXepJNoiB8gzvyHW9vWdCkV1NI9bYLUbEtK5vVpPw7HaGvd
dMeD8V3sS5BCUHR78KjBE2a8+o6JTJseEvMGCJZgzIcdgEdfhPXHOAo9tzG34aHxEBDx5t2WqjkK
H2IceS9Nuym3lWRDg0TLFvJC457OFaEJ3tnXpPNRy+X0TW10EJKKNcxg5Za2fK2BegTTU4fHAbec
kU0zzTSa1Vr1Yer71VuzLm/2JXLtuZWPEpPfBzv31pQtvngjqn154mSjbin74Boyf3o1ahc4FMFv
bk3rAy5dc1OpTxGd2Nlt1K1VSgQd8AhWh9gw4jMv/AtcwZxKPaiNNOk1klTqdk/rgY+Jh7zOCeZH
brbq1KaacGvho97RcTGNwbOI9/ZSQCnCcSFZMT0cmahLikH3WSOfiTRTWrTHPUnC68T4RUrKhpqi
Za1ChRscgkA5PxA/Cr8rwdsP4W6mO3/A9aDyq5+IX88af56UB0lxkk5RF78rYzmdFZ/4ZWtjD3tI
6Aa3Uht0EiPMysc1ImnUV19oNL4UReh2wrMpJ+Utnh47SoDCNf67MA67pJw5d0t82aDTElBc6+S1
9TV67wuvTczk/+O0qGzCaZJsgMDVuqVwLW0+tapa361RCJ3x3zd//Ya/+rbWmo1240dgode09Yb9
w0BgapPA2Hm4qCbwzkfYTi9yKlH/0FZV++fvfzP65W+G/5G/2LBVQbjLpL0i7HH3cHWVnvfgA3L7
DEff/WUmIzKhv/+xG6dBm63a57Dfm4kioLLlD9QAfI2EdNvDbLZq5NXKhg67TLfGJ9Prf8rhcNwH
bLKqhiv4CNekBWkDVZ2WYcHbQezmK0JtsopFyoeM/7ikQcPNM6zflgvumqPbGdZGqwilg4GGzJLO
E0Qnrg9RsGRzXMg2VBWqCGkC8DapYn2YxAT/lNudeXljqtgqWywohs0bCTpOVu+8XUmWKWrdtJ6o
jVPVfgQazMesb0vo4Kzekhh/3d47zXKbppo22G4o2CenuMDWTzLyisTsY3znxe/GBmDzVJtWKHIZ
1Jou0FT7OAdQm0tUjXdcMlfQsptrR6kjasttebO3F6iEXFN5BF9mNifFgry22xhZp3ENWq7pOr6k
i9QsgSpKA452/MutcWuTH3qmQP2uC7aAsoMBrsg3szll+UKbrVqwltpmHU0qok1d4G7SI0UZfXfp
eGjjVa3pARIsZk2nkupHPWwxNDRgFePW+nUL+OnACUOClUfhuKZjWfKTfyxt4sdscmz9Ol9/ar0v
YJyOh7glPeRokkZD+70V/T0J9V+frELbEtNoI3oFhfwUCVz64CMiZyXt46edF43TDhLaqBXY6Gpd
ylKnqxe+RTHAj5VwN0fP0EatOlLWfGww3YOhni/M+HuCKme3Z1bYJrwe+rkVczEXxZx6dO/fBkO3
PDUzi+6cOH8diUMbthKi8rFJHWu6T0OfbIH4UEv2wWlK2kTUdcPmxVwv6Ur957r9eyndqlxCG4iK
aRNw5gdr2q97f9rnI0iO0PRO4Su0oSiIVoYtWTEmoa+Wi7/P8kxRe+aUqghtKIo0S+CNAoHXD/Y6
7UwFMXwYBzn2/brEflqoqwlJpJcGrUN9/EEeejqNsXa6joc2FiUa0WyeL5d0jMkniEy+jQ7fbR7a
UBSmuOmaGmPeB213qbvipfO9/cFtIlpLiHYSylZ+OKcSRfSn0p+609jdaftG7LKxqJaZBtSGMCms
DbdTO0zqcZt1c5Zr7ZaTC202ilFayXKWc1rj/z1oZF0fpWJux/bQhqO6svO38YjnNAbXknne8Zks
XX8HKb4xOrbc1bGEuNJG/pYiI9o0T5D5U+8bf6yfdRnwez9yI4bZmFRk+g520GROg3p+6gj9vEeV
02kPQmKvl5PZW6quBh9pT6YwmSdvShp/v9P4r2+EyPG/blxCvNmHdzDio2Sor58WcVk3A9dW0Mwf
yBx0p2Ao/dNYoNzXaSHYmBQqsgKoUS9LOg1TcDLcVxe/PNykAkKblApWthNIhUxpLXW2sfglrLs7
6bRb88hawZKqIfBnpI15F9Bnbx2BvptgOI8QErpzQrj1E9ah1Y9RsaYiPNjFVbD92/uivqwGqy6Z
OnHvGHXjPm5LQ8WQw+qDGfdYMdbmm6kr/2J02J9ruZPnkuvwie2+cjooh/bzpmfwjdVRNul+9N+7
eqwv3MdFy2km2XyW8KHBGk/DkrZh/LkcVplMJWpa3Rq/LpifNrEKFKvnb0zjlZD9i7rxNyga+uHW
tHVM7muKNN583cLA8/RJ2C3qn1EPxM0UJbThqYbLigwiWtNABepdWVRw/Vx6p2qb0KanunqQzBRa
p/GWrEcnv0+q8L+5Dcw1uP405hG8OJbWiAnpqf5zG8j3Ux8fjt/TSn2FsAoAGbD3qZG7TnTJnscm
uJMRvBFEbcPBar4Wm46sT8uCzKewSgO/k8kyNCRp2PpORsXxwJTbi2do005Fx5FahnhcCkpOnkJS
sYTHSj65fQPrait80UJDejepCcv+byRE/KeFQBHbqXWbdgp3sfSkw1fQcAF/V+xN8UiWrboTEK47
4n/Tm+H/c3Ymy5HbzBZ+IkSAAAmCW7ImVWls9aTeIOQeQIAEOI9Pf4+8uuZvWRG1tNyiqkAMicyT
39nKnWYaDiNJguHShwuv0mqSPIvhIKMhrMBJ5mJGrptNW+lTGHUStEHaXcY30GAFZ6mUqcV/kFN7
5xjYap+EcGQsqrW9ULGoZ+NhIVDWPjj0EgiQD/5G8s5YbQ5+UhE/rFJPl2Qug2yJ0RC1ME/uJjbY
XZHk+lAh85zKKWDAO+LWeuXIbdY4jN9pX4guOEezqvcrPLP3ZL5OH8G3Cql2HFkzr2NwJjrnqVoj
6Jmv7CThW4XUVIYoLUZ4eJmXPgXer4rkdSfCVh8lWi5qHuDRiQD3RPbepT3kXdetuc2K9ss6jlXM
xkuyTgglOEDNl6aI5w+Kde9M1q0MaDFG6DiErLkc80GlTVflt9rH/OJmyT+IUt8mx78s7K0cqCCs
prNDfnwW5g9qRZnpQbf47+H5O4H/bw/fHMe5a+Hprbv2AslrnmDgoWJe3moHOdxG9+gSrE9KF+3N
tFiX9bp2Bzo6teeVc7//+yO89/U2EX5clG6Y8JYukQMlVcpXoZrX6x69WeYFm+feL914IcEML6dP
Nr6O2sy3giHbrDBNDHtEMa54BOiDj9epBXm4OaqnCJJJn6BgEUXkCbnP11BfZ0bH/4dt5XOFnqoW
a4GaPyJGL3Ini7+uG+pN8O5HBU/nZW3e3NVfu/mJkf7KJby1MCzLyQ+9zIOzSxwCunnPXfLB7fid
ubdVfauAz6VfNLYeB1lDXE9ZOPlvV43IVjhZJN2ahwrP1oOB/rDzaIAQ12lK+FbciIYPy4PKFJfB
+xfuoovh9DrBGt+qp/hASa3ihJ7zYXlOQvIlHooPYsV3YpStdMpUYvK+J/SseTOcyIrIIaxree8G
Gu1ANFo/Xzf2m0WEspmv1ljRM6iZqSrUPejWX657NPtnmN4h9W7hRhmcVeJ/287sBljLfrAbvzcd
N4vIknmJxCTpGT0wv2kcf19a9RFF4b1nbw5ComqhvcaQaF/fN45FO3jiiv1Vg7IVUGF5Yh4yfPDG
1Y9GNrDRTLrr8EF8q59q4QlsGxXRczK1D5oPp2G5jkLNt+Ip4OESJws8Ws4mkzx61YJ+1EH1zoBv
pVNVG4512IX42Byl4aT6SXBNum6ibElQBa+lNpLTs5DFZ1/WX2XlP4ho3vvYbz//f9dQMzEQoFp8
bL4GN6NJjm0XXXf/2XKgWvhpxaZ5G5H8tWqXs/Tig9TRex96syip82wsA4wHq4q97LPZmcN1M3uz
JLmypEHk+7aTFF9psaZLfV0PGd/in9gCYmhrMByt1Q++LFLDy+vusVullF6GPIIBmLt0dKxT6eZ1
t+bdRyYr74z2lgC1hrGYhsIyuDDqzzlZwE9blysvl1tlVJ6zidPWsHMyqBc7Ji+ymK87kbfKqEE2
08zHt1XTqHs/mUx4et3U3sqiXJUn3ThhmqgB97leGxDDVLy7ag5udVFlootFo+n40pranEDv57vB
8o/uwu+9zc1ZWULyTokLsOCT4WUs2/1cD9dBk/hWkSTlamxVrAXUhlym3IV/1dN8Xey2lSRZw4Qi
2gWQpJK0H4fjOrkrH705K72dlZEjsRcGP6TQpnP3ctWb3KqRYla5RM14MJo6sMFWmRvkdXHJVooU
gTMJV/hhPY/RyFMr2hmdkqCPXPfBN9fEmbBCRUFiL+Ng7wJb/mxEc52Iim+1SH24FrFR1l+wgCCg
opDS8hR4sP66t7lVI8HnYpwK2pWXscjXk9Dc7cR4bUpnK0eaddElUVdUF2vrHy2vf7bxdB3Un2/F
SCVRrnSzX8+wIhHpwkaaMhNeF7Nt9UdrU43Mxm49O17vQqe+cJ5/lFZ4Z0/Zmv010tEW0m5/Ibx4
USva3jsXXXmNpZvVSTspq6oa2Hno57nMotbGwO3b8TpvabbVIKnRYLMK2vKiSPSDgLdhqb0uwmdb
CdJcEtoGOvaoJCswH+tuPnCTfNROG/1rpohtEU9TRzuAzJLqstR19ToVIf3UVoN51mPCj9dsBGwL
epJghIZy5f6yTsuP0ro7ZuhV2i+Qff8ZebasoSpAm/ElqZy5C+uY3hRRM3ww3f/Wz/9vpgtWIf98
fNxHdp6n0l9A9na7eHbNgVfhctDlEmQsCsdMNxVVaWD6/ssq5HqcMIdfJzL131EW0N8Zzne1g6+5
OhZjLl7nFikOEbS5P4JR2Wdw0AnUntGo3WnTicPaRf6qCIBtBU48H8AExLifUXzawbCvSNu5YFdd
JthW37Rws0ThBHaqHNbUuvpY9B/1A/7NJf63Qd+Ez3YNYVgRVNXFEGzBmYEaegcy4xCfLGQyddbD
HSbKqG1Af4Pr1wmSV1JnhKg5GxMd7rsiRFYw6i3ZsVIGNkVLR/eZlwG9KD2aY65HuiuANTnG6CT/
PjQyvkeTOhrJTZK0OxUseDHBW1TjeRh8nQaVHwDWbe9ahvKyM918A1phdVFN81H94t/3PrYVXanO
FLbpMJzC/Wqn5EKH6wxk2FZMHsMjZfB1VyEsCelTM/Zzyvokvqq2ybaSLtOPY59ofG6Yx9yL6Xtx
pZCZbeVcCXxLcD9Ad5ISeofmxxdJouvE42wr5qoKmEmqiBSXZm6fk1zBV0t9sGO89yI3+1ERE1ai
iTC/1HYq0l629gj3nuua5dlWyuXYHPu6rMvLShp+N8fVDIDKla4rbKvmgkwpSlSemIuw8b2gFFKT
8qoYlv2PYSGduSsB47pAF/mXIu2XNQivnIKb3aIeYf9KjDEXDP1jTJDRjN18nSUuklH/3P+dNVUI
HyNz0biTpItDeazW9qoEBNtquKBED2LiJnIOLflR9Mj4oE/myg16q+HSvSOLXnty5ov5xnR1Ccvr
lG0A//9zUEyZh4WucJXv287ezd7cNI6Lx6tiha12qyNLKXI55pD8dvfUuzG1XX1dKZVttVuDmqMw
Dmt98Syfd0PtYZmg16uuO2wr0+Jehxr+Zah2Bkbt0QO5ZM75q3IFbKvS8hyOdATZ2IsrybyvmJIp
usGerxvzTSZs7Wu5zlhFZ2St+ptIruvOtey6EjPbuvYtlZzKIQ/kuV/D5s6hMHOiLrlOvsa24iyX
LyBNw2bs3IbzmFU24umQj+SqTB7bCqZ81QbFBEDkuQuSIuuCdTc3+XW6PrZFTS067oJYLPJMqkqm
Nox/RHXfZ1e90y1sqmvB84ELsDwbwvN7RfgPIvrmutm41UvJPigbSYENELl9VhWf9mW0ftR99XZU
/kv4t9VLybxsgZ5W4oymyvAQhzw/Q0HV7Kqaj1e+1k1Y39QBKeacinM/D8EuaNjyOZnb5Ot/D/3f
7cL/9g022TG+rg2neRmf27hj8Q90csbPU5nQNF9NcO5hI5IJDmjc2KjiMfQt7Jm6YHle8nB86mE0
+6uHIUR5CCPQPVVZ8kNku+lTzBR9CBGsHmD6Rb8ELimOo1iTbAAh+gYtAbDHXuFN+99f4p1AZqvX
ifIxCMemiM4Rd/U9YGX8rqsEUC5XPX4rAAOfG9IZJaJzOKnvDameA4So1z16ExAEBFPmLZY5kzJY
zqts5kyL5KNI/b3ZuYkIvEwAqmvm6Aw6h0PbZyPWjIk2+BSY0V8XGGw1Xz2L4Kw1DxGSFXp5kYNc
9nGZf5SWezum/2V2bjVfFYW3oYev1NmgJv6paPR8Y7F56qwZko5ntG4BGxIh+4hPKd75e28//3/F
IRQ/h7Fam+g8JTLZoad1OeacFDsgTczBI0z5+cF7f3sF//bFNrE3DdaitxPqQ6wcgvG5CqVts7r1
wU6WrcsqUMjThUfVs3YRDXdwjGRocQuqAW+wa+FWkLzpblkbhTeisOE3E836c1EsyROkX12Vhs3I
sR4dhXJjnVD+gwP9W1D7JGmZP9ie6CMIXNPnEkCVm8G3eZdS7cUFaYMvqw31vsqr4ujQUNOWqeRj
cEwWvxwbTvyXklfktipFP6VRzG1alab7phksOT8YnHfGZrPjeXgMl6ZR69kPHiTFwM/72PAPkqXv
veHtfteOLXIXhThbrOojQAT2ELmw2ruirT91ZrEfVKj+dpb4tze8CVTypbONT2ocDeAT05vaTQ0M
P6CXSCdYEO2hcfLfgCpofqI5ItoXLP8dsCJMA7eUqUEh5Njli/xAlvDOBvk/ap6wCQoN3fC5q9Zf
Hag0qXIY2qte11bQQ5oK7L+wZedwED9ml5Zd/8G+/s672up5ONGFFSWCd0r8nI7etBmlU5TGayiz
librdRNuiwKCUbowgWoYXlXBM6L6o4+v1Guz/1H/dboBejgOzlhL8Z86lurQglb9138P/r+Lk1m0
2eKHYQGeawjCc1QmydeY9vOZW+FuQxtX+07r6jDVcjnHoZyuS5BuFYEtHRcxFk14tki/nkNM1R08
FdV1V6qtFjDImyVfexeemyRsz8b7IG1NkDz/92i9tw42t8GlEpwuEednv87ep22FiERPkn3578dz
+V4SdmtmiYR3XRqkjM8VFbkOs9yCD9tmFeUkZGkC0An9tE6j6H4Z5LETn9rVziANMDsRwISMZJFq
07XAeVCnsLbzVjxqFBfHMmu7YBhz+KILibLdWnVLUGQk5mX4tf97Cab9jDLqHz00iZ5TlBGG9d6K
ItI/ATMokJqaNYwjgrRenfX3zEzlvl0SdtSgqJN9RyscFvM4mJNDo6/c5+jl/N6rpj2ijH/LisXC
itDD0HmsfUSz0OXRDvhGgOGCHAdw0qMF7tQQGd2WYAs+BYaqcEdXk0/poIr8AGDyH23I+ku9IXbK
obdpQ5P+m4pndV/pUry4ZB4emtzTQx6Dij6tytk/S7e0VVrOolQPLfAZ352UlBxzdGmXD/HQYXqk
HaI/h0luLEkLHjQPiSnaXeeoTUFnwTteilHu2iFyuOvy5tYEJocTc1OnhSif62INbxN8BwCj837O
yi5QO0EKmxV2cE9xO8OekbVNfKjxOh8pEDPjfVKqucpU5KMHMOLVA1GxOZWDC0g6gAWeFSuIwKe1
mFn9DDk2PNpzl3wnFkg3GWvBdtyxL6E29KcK2R+xFNW5tqb9GiVSVynakajJoB8rdlBwRztXd92u
DfvhYKXuIAExRCGZHAMo2I5d/bXuSgYPkDKHy2mbJ2w4TfnK6ENCZojw83FqppNt1cy/NFXdxHtS
efz+sETzWx469EU2xsKdGiOCG7yACp/SW4jrb+pJAwxTT8j+9KmBNZ/9qrScQB7rimTJ99g2K9tn
xJfS3wYSv5pyU43Z2mr6aJymYVaio+qgdOXgpTtM4UB2fTdV+qYvSpM/+HloDwbz/bZc4IA48LqD
xV1cxzvfGZ5GuJT4nS9dWz/FhSzpIeqamB58wrg42GhOWrWr3YqcQIokelU/+JgM8i5qVJN/9U0j
6EMlg7UXqULkSDOf+6Ip8EmakhyRPGSrz4xHKeksQj+UB7Z0U3tAA63mr2M/mvWRKA9fGAPZfv2d
jUsxwRms4mxqUoaKxZgW9Tj6W8ZoyW9nFKbMT7PqwNwGpsM/dRiT6AkuNpSkC15GdMhN5MWBd20i
T5NXrcw8VRCYpTWFi042dksi75SPE/0SQxvbHqB0B5dHVviF3eoqAijBNIe9eoIHBHBeEHuL6ZA3
dWh+A/LVoZaHy9moH2qOiXiUwziKc1XVFi5vtTPIN9R6QJW7h8Hs+FjIQe9tSxSKuo1uxjjtkmkS
30rOef3SLLCOfJKhixCxUInlGQ5BzU+rD+P5j2U5GdFtOZkGQPeZ6BvugGLYBbm1+U0v8rr/zZPW
8jtJbdG/FG0yyxMEmYZ80S6sEUBWXTxLKDIsDzMZT7X6it/yw2PdRCuN04kT6e9NTLvhCOSiGPah
66j/XMbhPNzFAeY1sMCOxPuGiaX+Br7WEOGmWeaYx7DJSI51MSTN3cp1n58Sa13zna6SubslrDsd
ZGPb0EGnMOni4iYGgsD/apV96yep0FVytAHYJKdydou+1JBcBieRJ4jcoeOey/VmTtw46ayIosrs
ejqHb7vrEJDxm19F1R/qoan5LcNutET7ylTKnguDlqpvYygECEDCJ4Kl3k8q1Cla6SDbKbFXuJsZ
38k+teg9qvYqUV10g4blqHzxaunicw6byYNp86g8lhP+PSDka6X2oIHK5kkxWFSVqQ0KVp0QxiyT
20V+pOUJDYdm9oc1kUCqLyVezD0RIaqBcJgdnDjiIELfQJAY099M1TD53zFcPsWJVWiNTA3AFTrt
WtG2u7oryuDX2o5kOLoA8Dqbtm08LqnII7LTXWCIy6irmuG1YvFMH33pCw/rcjRKa3CmAtpopKkE
0khdmVi6pmtQ4YBKImfUX+jkncinuAmC4exB5pmPoStjeRsUwSh/2ooFwZceSCN/sIL36jsP2ond
uThs+k+hxST9MzIyxjc5yrcNTWvCgvAv8En69sTXkNBL58fZpxEU/83veBzHJU/5CIPNbzEzXXCo
DGTTd0VPxXw7NRyXo7QctSxeh35Qyb0Myi5/mbEQxjwN46lTX+RiFDlYNTFxYPEy61uDBgKSNXwJ
onznWMiB3iMTORbt0ESXCVVs84rcESsbdC+Nge12yrAEeRaKw4T+hBMeNTv8IVcUu7fF0S2ZAnl3
mVLmWUvjPRNBVNwaBttvk60gcoy/Vtd0xav1ke1f+9WQGNezxS5fZCWL/DOvoBL5PZSGL9WulUQM
0UEYjnzSvu/rQN6CIOfaJ2YJ7fKTAw9PThl6SfvmNOTNzPWpTpRZfjvI1XE8mIiHao/Gz8SZVJai
juZUrM5EAmBkdB2Hac9qMt4y2RiV+kSFMU5bpTqAcEXbt1Gwhy5AyG6Xcx9V4TEexn546QxAOtFx
giMCcJxLCKXcDztETb9kYhhRLHeLQiNYKhevR5EKHxA5og3IzEdVyqorjgotkzrYGZFI4s9Izw/8
iY2AB04ZnxPRvFrnh7pOeRHk5lzlb1CpLDRB6da0lFNcoHdprFexk2Pv4zxLUJOkR+sJvJRAq+M2
ugFkcilOMfHB+CeitYiPEzOkPuZIPcldtIp2yrrYWQRMs+nyyByCKla6RFFmFH4v7Lgux1JMBXsh
Kvfdfh5k+MeusQ9+x27kxameYdjSs5BlZW/8IyNzRFNRBDY8wkVZy0uiGZ1h5BbJeTlFa8DPEtTr
Bef15IqDaslIv3he6HUvEqIie9RsLsjt0pEx+Ckdo6cwDEJ7lPCptXsQuLtozJIRLn13JqcBu6vm
BaygDFk6BjVRM6lH7bRH17gbxwYNEHy5IUPr93oagKutBxAORzAEjgnCqPYHyrgQruEr807etEUy
NUma+zmJ95JLKJ/SFbYI/mZCZIldw1gzpAkImE8SGizfpIiqptAfl6Jn7FOwilmTA49pM5+dqIx9
IkEHhB0w1wzhGpZuAEZHzH2S/6UJb9qTNPE5kGF1kzMAprDDJtXLVCegkzXdWpidjRcmb6KgayX+
X+dJlxJk4cxfxaLQf7GOOcnPiKwF/963OLkeIPJz7JOqV1rcjL3EBBTQJ6Cw0duod0d4kTf4JLII
1+GE9zcXT6uI4HfaOfMLRScchlatJw17xT9x3OVDl06jH+tHDi73cBvX+WIfONqSoodlRnL3eeGQ
4Z6gU3QmT8cyj4CnLvmyHGDJ0FW/kyAg0aHUPZUv4RAP03M0QOj9rLRr1U+Lz4p4p4jjNf+h+hiW
6RAMr7l4WF1iK7ROlmVP8c2o8GlOS4Pmii5csH7bbpyDDBlbs6QVDWN9I5HfPti5guIJ/KbaHFkx
xh32irmwD0oMmiCiLClcLiFrMImDZGQ/Sgkj4khQeDxm1LiWPA9VY+ppj8KEiupTWdrymMQSR3Uf
K5nkWZt4whGcrVH8SwHBxptMjPVE78U4ReaGzWtUpQyc6+PqQvscW6dhslzEuMcdKluFRqYTHai7
C2Xr6zwtrHTNPVNFWQXpIGD+i/OZtKzDiyParncgluZDldl6WVL8nEBcVUb58NThgMD2ByGtaudU
d8bv+NLO9a9ILeRJrCFu7w6YvYtHmN6v2NFYuyJfFxL9GbMW/NMYWMvpppMIolO0ki30PugbiWKs
SqJE3wqYAYYIGcZKDns8uDwVABnMn/O4Tqb5rkmCunmcKrXEu3IoS/qEQMFQtFIWS68PxFERfxoS
RCsH34pBPrVJnU/HbojVbSh7tA0nkT4i5NIFWk9okbgjJNg8eFgRBrp9zTCvqn2LHuOuuRmjKqob
RNRv+b08GMmdGWwz/ukm28d/TUAtfJ0Ek79xOcVmdkgWB9DwyNQ87GqgRn8tsGjKDEqJh74Da0Zl
rVQ69Bk2Hz4uezuhgac5hgMyos2NhqFzs8cFPynkLhy4mz7nda6nfoeKbN/oHQlXyeEEMLRseIyS
bmKPMLMlL6aZJOQyGjcDmfHFm0J+xc0YPJGhqOEhCAcqeNPGmSWtIKBGIbUaRrs89D3gXX3S3+Uz
p68dF01eZ7MllqkdG2sSxKmz6AT43gQhmXaEz34oYDk+qfGumScLw5ZeIZIdUO6iJdt3s1b1D2lq
Oe0LrIjok8SXGM5JE09RmaHk0+9sUy9DGnayKlNHxJt1nQcVl+G6W5fja8WjIDgu8s2RJ4tn0pKv
2GSdaHF3JcWyX3PYokxp0rI5jNKmBljxKIo8yu+WueX8NMGFdIBxOZAqedprh3JLt6IyET3D3ado
bx2wmCwBBXDASaooT+O2qHA8IkdwFuWba2kIMuNeTkO081xztmsLOr+YSZJjzFj44IeFkB2Z8d/I
vfPfDbqq60NvG3uHuSIuoSwSFKH6hWT9WPMbx5fxs51F9TzEUTGn4JkluK4hkdmnAapFS0qBC6qS
zyIMZ5QhfP2b245PSK1DctK085rOOhFPcsQVCyEJMHQBroVHg50WUrQ1RAvfVDx2vMUOP6uVn03l
2gtWVxdkFax0kOhO1psCaI1M9GuP6HsaTxHtEaDMLYy+F+kyqKjbo61HvQuitTt1PFLHWKvpbA02
KBmMVVa7KroLAiRsgry2CNggjJOhakG/X+k+7togBZOvyCTjUwbPw+o4jmH90o0dNi2QxXZWxcEe
LCqBEMHHKZfTt7ZPClzLQgROPa7ca9nRfW6xZwwsXrOiF1MqK1iZLhwJD5iRf+U53O57BeE7Ngq1
J8ifMIwBUYe+oC1uTFV/s5D5J8w5BaJGjQubi/F5TFXMWTB3CuOvWdBlruibC9ztGW4B4fCnaUTw
pS6xfYSGjC9l1U1ZE7biEfZt9ovlVt3AbFGdrWw89pOmSzlpROZsoPeL4aC3BMLpPVTjCJvypCEn
dBoPu6WxCOlgiNH/GBYr01pBPm2hE/mMrjFUmwTXBwnT4lNRIwiE8G5ewywiTgHah2vzAu3RERov
cYHapKrTCFvDUVejgL8u532+n1UoHfBV0fxX2LQIgHG5DR+bojK4/sdz/RviSXrqQrJ8CtH4eax0
PBZoeVgxaNpEO20bui95U//04yQvgxDds55rhpnPDIopApnkHJPh0EQa3G1bh6fIarcHLBsTvXX+
VJp2WbMl6aeDI02Rp7RR+W9dOvNgE66/V1MhUjYS5/Y8D6qvpVfzciic7cTZ0Ko4GNeLYReEpX+O
tK6f6rCMXlVQmz/wcyOwlhIIzBIpv6wVIfwOxgX5w9h6dTOxPCHpDPLEDo3piAGWYqiOBkWg1x77
YHMSK9JcO5trdbSRguNhWJc0z1ajlpNKAp3vK0rIlMa0sMGurqoIya1uXFqkjuzgdwWOr71a1RK8
dG7GuZyacqGXIIzX/iuLeiD3k2gkZl/iHtPtcVsPw7Rbk/yer7G+44EoBpi3xiWSSG75SeniXgT0
BneCAPaGd4crIq6VI/IJOCfJvo9l+wyKGhif7QCrkz/K2KLOKGKoe23ZLCAp7WElHhdr96gDhJj9
aofzMjA4fvlANvoe1bC6uF8R/up90Yf6IWSJT3arhocvPj3ii0ziqH8VYo5voPOrDkyQ9o/qabsi
5zmpM7S9eZx6xKpRhtlhdVZSuJdlDKLzBx5PWEbT+GZkFgcRIABlS6bowOYobtM2ThKAYbu4dujj
tLy5KWOcfnvnePMGJa8NIkgXPeWs6cQdaXv5i8bG55mAtRXueDAxfqF1GGMWowJA9xDEIEyJ8Var
fSmX/gdivO4bbN/U76ppeZQGkmiWiSlEaJwPfoQafMYtM1vGZBywWDr63VTTcI9NIXhtm3z63aIs
9zhJNA+mlBaYk2Ra+7tpSsR5ynX+U5R99BdCtvibpy7GnUz7kVwW0M//5ArxW8rqcLE7jTjpfly7
fM3CmSeXQHcMm3nfsU9Fj+gtpZj/ebqOpb4wRCB51ljPuoOau9UfdBeO1Y0IKndugrcUSIw/lqR4
hO8RdzokNcomLzOOToj4G1y6w3KnowFCY4YmgygbJngQ3vcRLcAKjWs0pD12c4ydTYbY/x7XdVDk
+4yo7hy1c78vALcTu5XOyLiCfVQkewg8+mdgEkHRp+EsI1jRKJ08rai1npDxwN0MmyJVSAzJsrpt
ekqbLPYLgTK3wX6RV41g33JdJw8rm6vPVQCq2G6Ne9VmIRx/2l3fqG4dcBzMXfNcinD92fcAsc1U
duGeLM5/4rAh/0EqFx+rVvbmMjQc4V/UhEV3WiZjvorV8HFHcZ99mgDT/G3XoixOkNitQ9bOSO0d
hEPbJhoiSvdSQg79gOYrf1/H6NrZq6jK2z1yFmLMPO4g+qyRlR9O+I3kzCAx8kceB8LuQtFWeE/U
NDqbJW3rvRDQGGc5jXPcOaD56Hd9G/KnZFrwQvHsvEnj3K8P1EG7nFY4LGDmwWccWRVgmf4yaTu9
mqjr2rRZStQzRBPKIw3bHgmUZUEQHnYTVMijKaYYyVmd7/6Po/NajlTXwvATUUUS4ZbQwXY7b0+4
oTxJIgqR4enP53O3q2ZPcDdIa/1R0ch85KW3SX1XHg1vao1Uw73yuckgF95UXcsYhm/tJse+unx0
n9a8Ar03DCa32MOZcCrsftyvYV1r/9rFfvh9mPVSP4dBSQX7XB8dLwQ3W2CugAeqzocQgOxyWNsS
pP7cRveF2nacJfSUAGsHy+I8MXvtE1vCMqk0Wja7ZIWrljUrjPd1/7qFjuOLnGT9zS9t1b/Ek6Os
l3B33D1lQNfb2Rp7MtrrPXSe56WrPuvpYJEW5Q6cSaRLDbfi+M7vRoVMIF4kRpk7U48I2x4Gb775
ti8mdtrF3rLSlOFTX1nLr2GaSxK6ah3nbHgAK1h7+oYiKNV8iqXysvCYK5dHfV9U1gVMBgOLmT5F
8arOA3bLMKlLYf0+ljC8gUhEwXn3zH79Kq6sfnv9YL8ug2zZhYaifejtuTXPofLsKxDks2pW78mh
jPKOZDg+Wb1rvJWDW4SAjV2rvHM3bkhWu3KWP/q42avEdrzl2gZT5aduucnz4ZJg/32ikCC3zTgw
4Ov1ofcrny193TqTiU1I+2yFTv/N9KMbZ0y9g0a7ruf+bPal5kqeWcySvnajXANUxkmrHQpCFl/1
N9eJqikZmSzbxPfa6VV1BD5wuqztWTvN8Ud5M6xwowh4fezdZZjyOMbueycMRz8ob8R0Icpu/MoM
shjWbNcQOJJMovRVtgWHXnLa5ePqUgd2FKSgo157Io6pXbPODso4XSVG/mBcAziPPdh1EpQgNolj
r5yont/FjyKyttTyo/L35tX1wo5R2supsgcd0gq5MfPYuzwFbhdXiRXThcLmQAhfIpVup+vR9bvJ
Or2rKGkaOgyz1iBhI8K9r6/h7AVP4NYiqxpPPkaFz3PiluFHMLngVRFrbkL0RdF+SGsiF7ne4oZR
r4r/X8vlV3UmoBu/fhREIMkaz9Ikq+NNZ6/rDjtpR6/JNyHaH8WsppO7ziz9amzhWZZ4eJ0Hvf8U
9ixw1rcQCOk6MHLnc1lyEriRiOxnRbr8e3McNRlcRV+/WjV1TI8mok6GZX0l6ENDTey5KKwNdBSJ
cn/W1Cx7KS9e2CVjT3p8ApW2v2pp9jkD0+cecGfwv2Tq7X662rIJP2Ws6u7f4fVrlbBeghbYveZD
6ujJvS8Gr3LTrvM79LiFso5nE8iiPg/aWgwT8hQ/oNWfnouZ8LQ86MooykpEa1O2hXF9pENh5OuG
s2NJdzIW3mHWhr+9E+6UplROdRGNU52557mZpGnvWnAxTE5sjV/MwqKeypVnirC6vRH3yqxqvNvL
MOgh1MAZLrOM2y1vqr35NIDdudRF+X31g+UHkbD7n53F5g4AnqfO27d30pvwCjaYdaJTXRj/aWa1
ufJqlWu2e75p0m7AsMR204Qe0UWeNb472p+Cc9Dqpr9+SeT3FHJgfex8dAH3EFhd/HPfDgc2bmD6
5sAY2r99P+y/h0O58rTai/NeSdgxWRrninIhuJ9Xp6BgtBfjeTuKkgkdMubvFAw8BTLaHOQzXh9C
DAeGvbegqVUEAH8LXpH3aF2f3EL4WSv8erkwIOikcnfFTGGmP7HexuVG22rn5l0gj/vaD9xrZLzh
YVpbcVZ2RPkwsJwSYL60KWVU+m5XzRcNQEqO7rUNRy44prlyTNrNH4AdgEspccQocUZe7/5RBlIl
WSzImamsln8L/p+So36pEy3L4mNvzBbyeI2hzqQ1LBw8q5luwtrKf60fMwQLEt8FXQo+LEsoy/XW
T53RFz1F9dtmKUhOTGP/bVxtXMbjUQJgbj5EsIm6u6KNndfd8khIVJadL72rc8eGK6s4YzjoPCZD
L1JhjoFe3h393J1Wj7/esSd1GksN5hfXXDItJE/ShZE6AQv3MlnDpTTZDLL2Wtcxmxgxm1Dvg13c
+lIz8i71Nn0uVW2yYhCCW8Vq2qSP3ONUlCT8wVnJItVL7F7WsFs+wm2em3QaOENwnIS3tQ37i7cX
nQ+3UwZPbGDw3ZBmadeIARCgkN6PsSmX09RK+YJyIMqmIFyzrRfrt9ka98yFcn41odU8tdSlpMCc
+qLCwvrgbUcuapOhn4CGOee5GOx8HQEQuAvlufHmmjeoLFhLIgrR0rYteS/bo2OE2/F7BKv6dByD
/VJEmtWtnB+HFr1nVDD3pg7U1sUdwQDsQZa32evcBEh0Y+WcCEvcBn9IaLgiczn2vWxvzeuCKiRz
PaxUYgvFpdXFdvEdyNiu2/cHlo39tPFGPC/CKi9IksS1aXR0mqz2OJM60jxMjYjzzlS/O6xsKb8V
U1Y/FGUy65qq1V2Xe6bjLX6uK2F/rKV2M4hJ+wlQt3nsy9b5zcPuZYevdOp5S1Fkm7ZhOaQrE+0p
Oym6o8iLeqk+PQlm6LW2vIylo7JQHiOnuGV9IjcrADTLT2cP2jO1qdFpidBj8Vz4f0Ksh7PKD6LR
ZVZRkv2iwnI6gUhDixbblnlDOJ/DaQ+tpCyWX0TtAc1U83E12v/DwP3XyDV4xaZLQTKxAo9bBWe1
gtO/29IOz9C+blZaW3yN4sF6HFfzGfS6z2ujYFdkEdPwCbXHClJxW1ah/w6yMJ4Breo7W2BaQ3Ro
uMj36q/rT/oCDhm8NMP0PoZN+dHYAbVsMzMADqWxIJ6tru9JTo1enaYMs2MAjzhZQdwmtRpiN9F6
b5N9Cu2s6Jzf+MpGPs9FZEc8tOhX1B6EeYdrd0hRsnRJvIplTRXqCcVlj3UhMzWyJrNN8nmzyh9u
RYrYp1o7byMpNLS7wM8l3Y7prA7Veud1mrkI68CCj3k2e2XLh3YeXc867QHWKlCpaZKH4AVoxfJt
OeKtuzC27dsbUGqlIav2wY//U+Pi/xb1rtWTrbbQ5NqJ9uFfuXvHVCfbWos+U6My7u2IiVP+jEpj
6zs+buzqwkVJAM099OrJJSreeziGts58ubTut91zDnPn1k4L3ehNqzKvMZaygWtvcbgl7cY463/x
PCjzN7LWwOxJ15fOgJyXX2DaIPByTUifnlU6+5UE092d+Oc8NczQfhjJR+jP2smHpSv+70ascjec
pne1zmWbrGM0WHmxmGpPAXVDRkt/QjrOjUjJLBrSXrvqcze1D+dVWH7QPJayMB8slD0zUsNx06Zl
c+wfNtngw0tcRqs6EWzl2GncmP4GqOIiZ6iLuv+3oN7r3vtK7N2rQ+D/kMYlF/9G+8c6VEnJy1o9
6LE3bRo7JGyyd0Jj+QnXctc9ddN08EnLA7Q2qXcA67RZnQGqwfORzNzFsefvD/g9C/l9svQePTFt
2eXHvoqjT47Z79ePsjM8TK4L9eTk3r66PyBeI+e5BmSR/xTxf//mECU2EXMI1ctsEXbENqtBGK56
mB0vBWk6rGdGn0nmY6Ss93jlKSH/1q+VsREmlGFdUJstBOXZ1lx2NLpNJbjxJBaSndNIRfP2NinI
mawcUT1ZSagR+qKl1dPWQvvahT3/c9YeBV8On6d98bA1irqgMSiQPnDvT0NOd7E1f6+F1a1/YyCl
yCU4b9ho6nZnsly31HCtgylzPZWQf+PWy29eZcGIkw/iRda17dUYtVnVIze7a1wkRzVkPGUDt3gX
rXNB7zPs13GwxlZn4dhGzeO4DVt8DlUV9eZKfZRkLKJ09/jpL3Mr09X2cMvKboZpytqWFNz/FNCW
97JRidCbbBvDOSgIy6B+ndxU5xCPFHnEM6S1i0LD9vmElkQUCAb6xLLk9jA6pEy39+ykbLtJ5xKW
9kfsQojx5C1BeSD/URrI4h5jr9TDaSsXMLDZlkFzM/BhzW8IrO74NnJgiX+VM9kQk0HZrKV9sbGB
+i2zQohWDm6r5mfPJrctIyc/nKDr2J3UZE0kmB6OBdpwbvkyZXPlPGGBo+ZOu8d3Wy5hn3njFJX1
K2TBvurHyHbD1s5IHzHHr8CRwfbZhLOqYbj3oPm1gQjM5lR6nlSnPio306ejKw5zkwcENnnTAa7i
DXigPR9f3vnX/qBrEAJ+mUwKHyrZjIiTtDGFVvgTEpIT3X/g/XWY8/Y10ZJF0z7cUKU33c0RrGb6
xF0aRjT/zoL9ZPc4J/ik26b/xctc+Td7ckuTmNVb/ZNTTYq3v6aiNV2cMSJ/ZIr/SWWXnwvzzzbB
cykRjSnNmXErz70vj+a1CEau68OmxorDJKiukFuteKujci6eVrtZppvVo069I6iC9rRiHNoMzbrI
aZoXzCaLif6ouKrjZPMqwysqGSsYGc1kfbSc2Trn52/mvEQa3eCfj7zcCexjfix8AJ1PIY+g/4ni
y/1jvO2IgBYgUIG118h/EJDU7BxQG965CAYEV46Om9eoL2MaxLbADoJsaWx3IE7Ab74rRDbzU8x6
sacQo6G5KU318Gn3eH/zPoYETrx5O3o3NQpr4Meqp9XLY8fexoT94XjatV4PnSwYPI60qsBfny1U
L+IExUwxS+XtYmcg2cy9cc28pUXRFOpCZpyClVQ7fTm8PLg5tbu9Gmmt/jd7Dezt06be2sn2mYUc
cHTZPzbXWQaGY2IbfyxOrM/TimLNk0F4jb0J2E+gLU3duqHgJ3JtXiWAjIoXvQxBsGNaNNKYe+zI
tEYFkIhDhUTo8wC470UtQIn6xmpIoK+a59GPTPA0Mu0ytKhp3mALq/aursvwuAZ43K/I14PfIt5s
lSPYsL+7Qbi8Sb5ZogdXs5PZ2gaoQUN7eB3QCIR/ArD5X0XB23LZ6m7tMnIQQAZDm1HwGsK++3eI
EpYXv/R3QP62iyhbEvbyuNZWVd9XtdJMG147f/p97G2P9hb3P+Hytj9tEbZ1GveF8hM9+z6snsQn
YqFeTde4WKK0WirVcnHQpALMyH/OTMJQTXxZMikPq7n1TRTknWyXs4jCrSJrfgWGsL9eZO3GsCF7
P/xU63TguYJO565YehkChbr1hzsu+m8DUfiHBGR9vB2+MD93C9vBS0UVUnE/DLVFxvBuLfGpgCEf
coSTR5/F3dgymKye6h7FThxa2pWAKCc8X5X1GqDvwOx11MMvKLkvnfEXXD8m26ZnEP1N9VB2tbSH
AiZGVl66ljMKOLF7sabCK/JqLlRhF08AuHi9EvSu9fiPbinp5AopC8OWHc9xnXVib52z1Q+W+93W
hTYfvFXh+uV/AOBaDQWiTzEw9pDwxbXh3zHu61+lo43DM3TM6kQOZx/coyHjqi5HfF9BXJswPSzH
vSBQqka8lQAL06j7lyVwDeDmgFShfJau9uUrQFXwCgRbyz/ByE5hz9XyXZPd+ILFdOtSJ+B8wDI1
j5z91txYr5Kz68UvNhmmYbiIKA82VSM7DY3ll/dr03vNt9rvO45LqSxxWVnAwkscARmdwgB45ITC
q5wzaa9IVNo9wrsjpEHjEzaVvb8ZfnUbEvpmfM6l0O+ifcxpHyBuw5PSuO/tBri7nRu3Pbysxrj3
LCdaBHIfVRLP1dGubaooqQWeXd0Y4UpCMHyon9Req+JnI5pKPAAILUWUBn0R+Qkg0mFyzwShuEWS
0fiJbqrh2urS8yGhB8O5NFfxeDdF+/rej4ehbFi4o0pi08I6aCjOc7vP8hq2nPSXZZ/HlTJGBHwQ
HJxD9/0+0n6OfNSu3zS3EqL2zt/58WQPUPldHLP28zXuff4Zy7oM2XqU/BRBSQJqMBfdW7yt4bsd
B/E31/Akp9S52da/fesV/y264q87ecPPyF5CfdpgsJZEFf0m8+YAOk4txrLgt8vZZ6lkjkkZeY3W
QBz50qrRfPg4+61TQ7ZJ8adjzAi/Hb1YXgbpNvcWo87r2EcGDUo98H01hdjhGOY5TGzLr0aA43Af
eernpjPq2TddYz8tDjrUh6aYrIe+RdHCzdntjz0l8y7q7KquH82k4FRQfmK4alXT5CK0FDkAzXQI
2HJHeu8durmrdqZAPnftoNKVLSHpWaaXZBVBfBk69J1LZ5nv1AeNcdJIVz31DtE7z4JTUWVHNekf
bCYSAYDxmbo0IE53q9tmoHOMRqMG3VJdqdSO/I1DrHNjYmG8zeWMitTxI9gdnSJbHucvubz73Iyj
LV/apRr0W0ShZ3UdVGO+Zn9eleTYPeClffHE6xZMJdprF4HfWTH9t1MSFvuB9gWs8o2NJNa5Gdzl
0Xc7cZN9Ya4x8wJCi9hyvVcULZufsWyN48fRuMgrwzVom/eyL+wuL+WGYseBgwERXItRPtr0UT7V
jt0JGIZ6rE9yLdro0vWLKB8Q8VUAxIuZin9QCtX0w8RNr98LOqJFwiA18Q0c7XgrAGT9Exr4KQJ6
XGZ+cZy0OQ8I5RUXERzTJdbTsl4blL2v1ezW7ql3+6LJoIZ3+ewcBVS3shBjPraQYQTMtA67eeJp
115fD2vmse9rOU24JLj5xA2Cmx+iK12EihVvFU55MQZJVxyTuXlE5rcXvz7UAcEyoeUEIz/Oo7ba
U4PG52pWjoqkwm+xpAyq0+NI5/XdEBHJ02ktX+Jw1HfT4tKuG1sBaiBrRz01wLWIXNBuepPwX6me
LZo0zVB43ncmij1IQ8vX3tU/xPGv6nmL3tejKW/N5pqfI5YTmVSahrOUdX3db9MUB+gruDqmFCIW
5V+/2051P8MOrXlrrPG6knLIP9Po8FkUX1G41uzNj3vTl7+GOOjP4TbZ+JMmb7MvSPjFcIrXIyRd
8GBITrsvlOcOLLMAxynUcfYpNF3+RrEQYeovq9Olczl1V2QIw6vRlq+YN3d/jzOhubpSZGCrel7m
AxUCb+LEqhba/5BOtGk7abfO+cuND91gAu/eM1YfX8fWDE2GHYx+u6JmB//NUz3/lMc+5ei8sCP4
QaGHvHdadnu/ad3l5MqxZyC0tidhluhUyare02WeiQSbHA6rTBt7Optj1H+YsOp8EfX6IHynPeGY
nLON8e5hluCaGs/BzzXWFQ9kXxOEdPQ688epfXaqom/PTbnXT1Aj7UU5W/tkrNLLOctcOMdtX04D
s1BSxUd8EX21P/MpT3POSNj0qEkCe0rZcFGXer08zRK+4KXnshn4Aql6frM3OoL8uJ8zJBWEuW5y
RqzqDzGKbl2HA7DgsXJfjKMPJ6KHmy8O+UP0/ub+Vw3O5PjnFReR+30YqpLSgWptHtzRFm+uCqJv
Bco3meIxKpYksiCJQ8yrYzK0lft3Qx11JHa8rDcl9HppvBoRTHtA0HbDF2xAevo9AeqR5LMfvN+e
rgN9glzFOwC93bTp0hFNf5UH+onWcWV/sQsRe4wELolVtvQf+MYYA7ahQFhVO4ZcY9t/LGg+5vXq
fWs6Cdw5T5vapxt/yHdkWwSbEERwvOE9xNRaR0PtpIWa7cshUBvlsqktnQ7o5Q5SmbgromOUV7la
W9Kzfl2Qj49vuh68AkwpWPbXMOoAGg6S+XRSD6G1PyKYRRfO0Gf9FywedPg6LF93/aHPjiui6QzR
tW95x5Vo/7Xt+aulAaVTnQJMoDFcPa85sok9d38CF0asxsFiRJ9bh9OupE073BUHxh593uzOtzID
O6peIZfoTZqtmMUigdwzDJaVHVvxXVGpYkDs07AdxSiOxH04zTCkOxf0hWMQYdbU9QUL5qqXZ/Z5
/zPuxwDLkb+ojeJoX34EiNvu7NAyz4I0Lz/3j0E7j4ybc5E5Gon8N7usLWBB24rycN2Ylnloo4vh
mWBuY8BWqWB9hBZz6AvLMHXNe9KGgR6ej25VBWDe5hiQ71EWKDrQ1r4xqSwzv7eUWDIa3b0TUxpa
d2vPxpePsWP+8329ZRwo8p3+CEZbgvVKxu/yiAMq2qCkVIJOm4MAOJFT3IYEeCQdj6ELVn7J+Y6d
T5vFJFezL8SJqxKtgkQ2BOdVM0knw1qjPFl3FLa3hYE1SLlNt/GBMHpTnRxEIPuzM5vRgTSh/ub0
dQ7TewMtaUeJaFAxpHhJHJXLowqC53XDG570Qb8FT3ErwuMJIZ9ar+givpoLbN6qW8Wr2t4toRj9
yy77kt3P3lb/HOvCUX9dLAfkBVolUIeCcF0Tuy6iH7GO/OCZlt3R56W2lIvTSDcyC5RNZd28FXWQ
ThwKXTr0EzaTxKB9My/7xN3L0S8bRFgpaY12l45cIJARczGh5kx3D7HtQzybQSCiBcy2/uP/Xfzr
hu2YYlwvemgHrYubM3hNka/dJj+8uVOf2MOAu30l1jAbhl0A38a+H80fsLF+d9+uIaQPMCWyTeSs
Bl22Z8ZTb7NBJwuWKRdcFQ1AVqOOBywax/9cTDv9qR3D0j53Ubj8laqPTyo4xv4yeewLCcWo+ylE
9SlhZ+b50ehpbk/HskfDa3fMtYXopZQURRSqH1S+xF3924LEHx87JaMx9/14Pwehte7JqhtlJdWX
y4B5uZWnvShLzCOYldNgC6I/6Mz8V1P05YPSIQxopFw222gtEZscx7SfBkaJLcUlY/fv8LZ89JYM
bVB44p6rRDaLV1xm3bfFo2cd9pfbc+o8BOU2arGbT0Bh90OvY/nUdV24UxIciHfRUz/Kjm5H1YMr
cE3e1hFy4q+sQ3xeR6fCt+FLxgVBB4d854Notye3Egd0lLUdNx4kh0m6Xo/LOIriuTmQVr61LOzP
PpcuGgJ8dVkhxu14cKuyDk8RNPdPhi0y9dyOU7RM0Dkf3+xJxANewAHldbR7C1D/XPpJ7R6CB0eb
H2NsumyA+fkbSHtnVCHP7mItq/qm1rF7522GuBSFe5lheX+bUhxv2yaCB7cbj197WTUnMpGqh9AO
Axo10DTAPiAwLIfqN0EXfZc2rtgxXYvtwUKYN6bzYDZYPzl8bzE0sJr2c/jY4gzlhuDudKyuxZlY
A5GH7tT/iMvAgk5rjg9EjNvTAft4bawQ72BbxGVeEWV/b226fHSahc34KCzQr9AQjcMq5oYozOV8
Mo67nJGOTD/RlVlPqyph2FFi3mMsNXGOoa37gzTKTnHMgNaPq/UeqXV41Xu/fZLKvT04mFWet3C7
q3mQzsxK5s1eDHeXHQ7zGfG5vIuWYbhqy0VdbdXMmMR/2bkjlt/gErhxRlU9oArDBeZuDuUtsfiB
cLgnxWeLvy7GFlEO7a/6ekhhX9y1228hpzCCk1Z/0xJRrcU38lstpf7XNQFmlm2y3jdUQ6/kGawP
9bLNVx8RyIPnVcOfevesK2DfeuWPYrNhrFa3KKjjB7l8KfrGwmlQEjrYPAfm4mbph4yTLAJ4dDoJ
GWbvOZwpLCSCbAE8tqG5iSu4SVz0uGDkHPSvZDJtCxKwyDIJq2f74roIHMVqdbk7lev3dmmBXAG3
VJzty6Auo9om1mIy69OhYulbPL/M+rB1uVJtRKcU045k3ggQ7lQ29LQDeQ0zGsDQyNtoGaQIQ6Gb
1K6dz7EOrSsFFcVdEW3hj83yPUC5SNzgQKZfe2XNiDbs6mN1QliXeXUfIFjWq7Uc8z1GmC4r4iHK
JQGNd/1slZlVUXsOLUoQa2RvycTk++U+dM4eyytZpNsJg9RniL72Mh3xcmGZ9T4j00/34yH0C6Ah
6Ks3MmuTXJdafbg00C22z5FXWme0sTXWBDs+bZgwCfQsjt+Hg9Oswgz+LZi64ZfEQfMCNY7heYWo
7K1mOVPSNnFD8hihPh7mDADLHdO9C48Pnl9EK0ZH/xXwW3XmLrb8t9edlUMEsLPCWT86vHOQt3Nh
T0yldncb91o4qfB8501awmxQ83Z7t8u6Z5GuNvfGFmbf9RCeXDbEMSNihrWhdIHeeXB28aH2YUpr
M8syoWIMi3S0MkG4x5jV7owICFRlf5usuY9Ofr0336LAB4UFgsvZh9DKhctYPaMJA9UBKLCuex+3
F+3BAVLTh3GIM7pLmPzrDM/d/DvogvI7/owR0iNcCRrz61svVfsaj3ugX1ofF4FSfft97OipTeKd
tJZETX7EgoMvGkddg6LInerHvvaQcCEsOzeiqu7mtgD2pvl+gwPc9ruy9+17HNrD2YJ7aXNm3/p9
YyhE/4fLDTOG1cAwUkQm3N771ur6ZxcFBt/xNHMRzkFFKwAhKRCTgeemzoq4+lLtAyJdNbsw0Li2
M6aKJQvAFJAPze3Zr3bx6SLKexzxkmRu1HHT8rUG3CIrK5CCm0iZiuuUp2z7sBGZzQnUGP67gFag
q7A3xORmZENXVleeVtQQ+NrhG8I7/JDei16D4UUex34xTlsvsMtqRtVknH9U8LZ3WNRt9Pythe4w
9lnAEGWZ+K8BWZXJ/mX9Sx2POlrXn+sbCThTeA+5Wwms+ayGFyTqO+omtEVVwrDTFcmKKe3CKBjd
jBqKHDAYOcnQe2lLScAvfG0QySjBptwezfRfgQfT+UaUQfyyOTtCDWnKuamSwFvxAGJGmU9hOznX
dkCqg+VzPu2LxPOlTFvM6WJP4Z1pJKl8OtbddueQTcBoNjndeRo3h3Rcuz+eRcDQXsf9smRh0Bzf
ikAVaavIZT3XxPH8lDoY/zJUiMvOSnU6RGPn2Gf0u3tEzvvhLc7fXuNeEXNUcC8dUH6r18ifalhc
hbzH9R9U2005abDIjMFzRJ14OPcA4FbiYOPScu5QXKzgkJP1c4ox4wEwh/V/Zm39azuV1icQg99d
dhzQ95jLCImt2/K62ma4CWl1iDxjbR5qa+HZoEPoUe38bLFgtuWNApIipVbhYRrXOAH92v75QTnm
OA4E/yZbvK8k75cJlDe8HOrdNzLAipuNeOVRen13Bm7r8SOZ/TQBH/iJJZde5cTv6bdFG5a1qgGK
UZWnH/ey07+60uqerTiwLiI0x7tB/YX/EzDqSKd47iu8LhVIZRDEJ3eum5fjWL0TJdsC8EHHfwP8
SQQYHPaXGJui4IkUI6pRp/jZG6LyoS729eNLEvPowuz/F4b+8r1RTB/4qY4/gzMiFp8WdoeEBba5
A0LbU2+YxzsL/f/Ll8kQ24vFQ5Ga2F5u29hippnc47eyPe81RGp9Lbyofa7cY/7lDd7qYd4Ias1p
D9WA0heUlZi1GhKApW7EAuFwEPrhXJz8rVgeUfIRckisWlel/lgBZiOOCFBGyUj/Fy14ZnNumv1J
TnPV5SN9gm+BzTVR42/9tc0+0qIthoh+tPFiVZ9l4cAzOTsq8Rjs5J+N0jD3h7k5/pZEkZ3GyZ+j
p2hx0BVNVjM/DBLfxR3NSfbHOAJT5UrYBgng1IfVVUk0Jvp/zJ3JjhxZmp1fpZF7y7bZ7hW6auHm
c3jMA4OxMQTJoM3zbMsuaKeNtJX0AC0BDQnaSC1IL1NdLegt9Dkz1cmwIhkqXwlIZCKSQR/M7E7/
f853KAr7Tbz06ggNThiBxtvgvBbpLagVqa3qMcjPUQor93pBEXotM7MM1rlDB9uN0Tv6a8xE1qci
8Ox8M5Y4ZRaBYP0GhqSn6kOs2ba2qchm090x4SYA1Oi6qbJR/WW4sodW8fb12A2ydAuWAbh1o6V5
o8uBry8PqOxG4gJlhZ2KclLUWXh+gnbkDIpJem22ihFRD0BmM6yrprF2ijOW+lNKQ95tEk/rblgE
neau74Uf7KZc781r0GrTsIhLhZHLYc44c8Yv8vLaGy+RfonkkHpKAs2NjXRUX1h1GQ2E/SLGWEPq
QBI+VKEplkpRdkq+Niy7XCJC1wnRqRy1KPhVPx9bdTkGjtq/R5x/bBdy0lWwHBW5AGsCJOaQwN8z
HjL6SfKO3mycMzMm8fiuCKjAhueFXRtoGrKy11ZqCkpw3NTTyHmXtmxsnUNL0XuX6k6JNlIiyu9u
hibmGBTbiF9STzWLwY0ss67OaaMJgdsktSofHZmD+m5h+Vk1nRWtNLKbqUJ5d6naKuJvF7vhVF0Z
gnM7KmfLkndqplbNYujMdjhQbRufrVwiBlngk2nXeUCfUy4qDzkbG2rHsjtirTCvAC1oqiViivza
Q4CDbYiswCd7EPgzKBAOhkv/LLxJ2aM80ics99zC+lZasUcZQTExaziW+aGk3/3kY1rZt6WJSl/r
QTjkWUpVSdIx+8BwoTBeQarhtFldBloTuiSJxwtLVEhQ+sbGTYGB731mNBnnRJmcj0Eh7lgV5MYs
GhamMGbt1UW9mdCtckagBr7kxGy+txPVKPA1gFdboGTQ3Kg6qmIoO6ZuIjhoLUNqJmQ35NnaTpCy
13WUWNRNvcRcokDSr+LEt86aqsv3KNvyG6T0H0gADrHtRfV7to3RutbtaDX6DA1pptqtKormSsZx
cje0nXddAw6wXFTE6rldOfjv1bruvNv4WD53baXzu2U5Kaw09C3ztdaOAA+m0o8fTemV/UPvhU6x
kURJD5BKmO1BslU+y56pmR0qTRP6g+jRNy9ZNTrCRPIhCzaBxUzMjjysirUdDSysnYdeEYKBoMz+
pTKa9nqvbenCi2vuR5SspkFo8iKPhAGYo0HWv4wTEeSfAmAf3jqE3GJfoBlKR5d0nio9d7IhjNZ6
MJXlxqJxzcwwOMp5gnsFbRbW1Se7nfD6lnn4XOvI4FZIL4wr1SsH9pd2zn2isWfI92CW6ErrCGyK
dRm3DOVBQunZ2Z4zNTt6d9Qd+iqrn3uE9uEOa1WiYHAbCGPS8NNKcDcRWkUHSV2yz+yify57p0Nu
gVTCpB5RCnVhVCquN2zHVbzt0oxpAYlFrV9N5AC1V7bwo2ZTWfro3Dmo3Q56MxbhahwBgWwpHnU0
7+s2blykLU268i1fn1bJqIfpjU5VgUM3AicMFIg68sc4JYL9UGZYzZddELXso61c0xYpIkAOOewF
igMRumyZHJWm2CqmiuAOfTp0V5nq8CnjqFCyZeHlk7UuHKsrkNHE9bTAQKZzuIla+7ORpCwpLDHO
Q6sX9bYZwvhJUK2xjmW6jlnbljuVtcXyFuh+7RYDamx5506HteJ9qUrcO+pA4+KmtlQ9OlTkTaqL
scUj5CKG6OqrMaDDH6ahdlubGNiWuJjHTYOFqkKgmoljJi+aFopb+M5W+aCkjqsPfqYjIabisaZI
owhiMxwsHp2v0gpGPTZEl7hQiiebQO5w3RVmy1YIxuGw6AE80DnzK2aauiPAgs1AN91lU+Q/RXHd
Mz06GXVGFEA2FBwtLHCe4+wZDkGUOI9jH5iWG5PpEO5aAPmrSB8y5WAWcVxvmiOBZIPCMikWgBz9
YaNR+lReAKN3kVuHfnXU58jI/5gw2HoyeTp9RH2uAWZ9VixZoF0Fx5PFN6P0UoZS28TgBlrPDMxP
XRiV6ecmdejwU9iPk90IuIAtijcAxwmqJOiWUq8yxHdCVDg6piAJ/bMxqI8J0AC8HFYHJ7OKG5mp
gRm4Jsenbp+Yfe9scPK2NQamvLY2Rtg71RbcQHZDJ0XeVGSa3zV9MeiripuSLlmPh/RcadK2P6Nm
El1nBNq9mzp7TFwyrPtwbdhp760TQDXbvDCLszCLqb9y7KfhAoJC2w88d24Ql+IhbCocJyYb1o8h
4cve3sjZXbyPAALZOCPAjqLTG8fnkbptSUZKXz8j9gah1rVsMc+sSnrOhoKz5a1KpKrnfqyFzwNm
pFtDGc13DXsfGuTIXZiUrCA09y1QhXFRFa0KAomdrrile9CXt5GXu4hBKDelrKOFkGcebIGViFrc
bQJbxrCCsYaaH3lJc5NTvl3rzaRejEAJzmkkWihBFL+B5wjRCO4ZpZZ7BAwRAtXY99ZHURX6rwjp
DuczK3TT1mp3kadZ7aLvdWRGapI9+cmxeDl1on+mDB3dBu2QvAwDPU+XEYZirmETtGQCS7eUbrw1
wZ9xhr/aKx5acGSbzgnss9QDIGFKXbmQPstOW1B73vha3yOtVejEpbzyhWyEo2+SqakvarhUWDRr
zzkMNqqZSOp1tAo8dpdurMbxnWwV7TGTqQHlV2+1HSfZiMO6Hw2rnnxxdUmd3qL/hKSfJWJSIlQ7
FNg2pmdYSyk0+ukF2dQgODChLKYi1TBDpY3i0Z6tQsp4BK8v4ho4QVU6Kl2zadxZGA+B4JTmtPE4
eizgDnfPpVP0WO3jRva7Vo7OumL7ubaqKLtEDwWIB5lLss8jsm7o8PUXSRofdwpecJHlkYegpjHu
nVTR4n2UpHi7W3oUF6Ip5caIpLKsLHk9qqa2N2Hw0J7zYrnnLFx8auiYbJ1oqO2rrPRkfU6z8t7n
+LKKHD1fluMAW0oqATMTDTOGdTld8ymsc8K4ux2F+xqobN+ACkO4AIol3eNbNdmfZtau5qDXXCZA
ZjCtwQn2QRMIdMBeGKQvCrTms3wo4z2Gs96dbNK27bj2PyIdbR5FmFXo/jDpgxOoQYrYgstrAeRb
aB1FaVoNFZ5W8pDiA897s0mgeaySpK05L+AXPZ4Mjg2cvq2we9qonJeeaVh8AhUFIN6Nd1AqLNc2
ik+pXmgXTQZYjxkGo3HQpZtMTtZdG6r1R0KiKzoajdxVYWzc5mhb4BtzqPQZChoaG+Eg4xBasTEU
imIUZujLk1pSstXA7WgvoBqMZ0Y99Ow52LktGGOaSbnQNBsElVnlURRMKS4VeUzx1Z6Cc7SkYp92
5cDPIBInFy9n9jCUWrHy4LccgsIUz0Xc1x9yMEWH0T4yaewRFRSN5C12Pg3BF+2RfW2DBnF0078w
+8S+YWXtlqlGZRUUhnXLKUU52EnfHkotSJqlyd3P9ggAtb1tksDH4AcpkmNPPcoAWvmQoa/X3IE1
OTyYSVI8l1WlbYtAcFktNAUr32yibQog9iz22v5o5W76bUfQ3o5+cLv0/Eb/wPZgvFM9nVa3GMq8
olTllytsr/a670f8mFEktzpxTvihvIQtF/ju97VVotkvsQ8tLJTEG6qmDEdPdYpxZXJY9bcij8s7
UWn9A2kUPpK1TIGAV6AWGHQeTGQK3ECkMsWiqzu2PzVm4Ymt4A2kROsgtC86iV4v2XMpTKq0a/Vi
kTZqdsFWrkF3ZlEI8CaU5ElQldsxqbNzK5DeqjG95myIaKyj7vX2Zqmo98RDQ04ZVQXrQn5kwS3q
Uv1UlBzv+gQviGZrwQ2Lenxp20G59HW7eFDjNtkiUbDPaaTW61EfmAMK6rybqGzkklpavGdio11j
ByF5wkhtulWTTjbUSnYdHuq6YzuIsUr7+b2qjda7vm6VtTKY0TmnJszSWpusHAP5pZ+LDlgblKRP
MZbvD9Nxvh0dPb7krKaNSxGmw7nW5ngx26mJVoAiNLwvOec0SFowO3uyFkKIqeYu0UFQjWtJREIE
ZCGEjf4hinK9OEQsagFupN4qa7JqkNgnC6Bh7JgXleJY3oUasGmjek48TnuDyDI0IzbFRUrdM4KE
A4XRCKRI0XpCC0P7hCIovbI5p1twXLygYWJN7WKqLyh7c77g6NKk8SXrMO7mRW4naCzPaa+TDrqe
QIz4L2MKcHotJtRuNwoSs/zlx8zU7yFZZyDsxu8R4TjEDbObu5BIKkv87Ke99IyNC8chdfqx0Pdc
nPdlPeyzSn2DIv2dTz3P1Q5rU3OSJNP2WCSxhG3qpDkxlWceq61oqFNittH7oRk5uk32olb74jRW
szED4PqKR+2jivW9X7eXHHfesfS9Abz+3iWZodNHj0kMWZ6+B3OHWdu/VWIE3yfdyXlit92raEV0
bBJ56n0wm/HJ4VE/8bWP3+cr5DtdBnQuhtPuodgkzNXaLlROzJ4w5rBxA1umTtV7H6CpXxqhboCg
EdWJN3NGGEc+LyJLBYXAlhKTU7xG/HQa1d+Y5RKkZQGYIbSKPVTgRf5oROMbV/s4rL9BRTdmY7Ji
AQ04kxV7G+2F4ibo4JDPIMIJAciemLMyT+s2HQvjRV7xJlr82SjSS7zAy5OexHlW90BxgDU+K/aJ
FE9xlV9Ryfh82kvPx2ZpNHHqxMRGAzBWzRUe19PSfuZJ3UPZVjSUwnGvAqIXw5U1xqeB5fXZ7A10
LsQp7Y97n0zDpakd01U4XJz2gH/JLPlqaDqFppZ6rQwMe2FcopYodygu2xNv5WxwBjXa4lq0/d7u
u7Na8zdqHl2fditnI5M7OZXw6bt9pjcr4pve105z4hWfjUxhAABstLrbe0RhrhDaWCunHPUTr/hs
eMLDwu2OeGevjZF3UQ0cccHWh6etmvPU7hh4Q2kZaFXro0+8aO0Xz7NO++TzzO5IomPoK4ixVkDn
Xyo5h4XUjN+Ytr6zuGmzsVkpaeGl+tRAlXQaBNnUlLxAO+2WzmO7hayDGGppSv6Lg1jfP1RmftoW
aB7brfi1iDu/KvfIKJDYJ9iqSw2g10mP+Ty32/QHCwQ15HImcCARin8fDVF/2hL0JVfjq8FPkuak
W3Fb7D1NO9rRHDazMSil0z76bIQKDSnJ5OT53s8mASiju6Aon5+WJzFP7s5gIEVayEfHDBIvIIOs
NUyuJ774bIi2SR2mbcfiFqrJHXQXejFZ+1Z8r/VlIf7GAq3K19shLFyqMUYWFwaP7J2uRJvcbB/o
IkJMK8hZhEuTHwXLzq5wpv2QV+5YZ9PBEjKd1vAk/AcMjfEussizcbxactapcvd40KFNW3+yBhQu
SLjaI3G+cml1X3sVp10YDahJFLyl1YgmsUVlaI26tS9H8O5999EZQKPiXlxQDBBXfSbjy0RFvYhy
bbjAjRHuHWBSiyBQdklr3oaVvIxIqGr77t0wBsNqmGKKZBzzpoy3LZxM6e9ElsXrxlb9FbIauY4r
eeyqFtcx9pJV4rcaeuCg22kIBC0kCrDTx7NhcPz1lFttfU8AwNZIqj5fYOtSPoEAdqgcWB0KCGi8
HVAURDzGpqDHfsCJmlOEigDJBuGlLD3vEh7mSvXr7n006jgcG3s5Eg67Qs9/ponqcaJduzPb5FLJ
OpoPQancOVU+PA+SnYGtnqVZDEnGK5ytpgDkwVMJlECER9Kvo3WAHYYOAaZSDwvNyBCg4NXNMOiY
C0oMh9BvEWzmZ1qR7Di0ZreD8LyNpQC/tpGxX4Auw9o2IvHrIAKa+lVnGVedsPo1h8AU06gz4ObC
EO5mntKsjKhvXTuSybsoRFYVNspGQyJyFQO4gsF2QbMqW6Z5dD8lqXDZnWXjeiqULbySu0IZe8oi
WCjZby4lHbFxCV/5ysSF4yIKBXZUDeMWbgAo+zgQB6iMPSqD8aDgtcT7Zrma73mu4O6XimE5ePft
YeNBFt3ahobJIHPW6K/qB6qMyBE6Osow/6lWOqktodUkqBhdHfiWC9hEXdu9otsuzlq8aLZenQkD
Qj00G7OEsEzfrjFqa1eUY3PwZHOR8zAe4bQrIcH0bUTFLguOTm+5aTdu28Y+9H523zfjRotFm63y
DnOTKe3kpqZTfxgt9TyCRLmqoQW7gSOxLGmgMzs4s2e4mxq3KdV7DUXIWoWCzYMWydS1RBrvnYlm
rIOu3hY4fU1/AzCf3mN97OsKLmjRfpaxGJepgx/bofi0a7FELUsTg6Rvi5REiwkucKu+TOZ03TTE
Tl1J36nBmNcVbCFtOEC+G+E5Zwxh+0LoqGhovAznI2FosFDGcsIfSb8Iu2DTGXufnIpHs21xQVZC
vQVLYR+sPsdIALs2fddDe+EimL1L4JUcb4HXnFvUNfR7L28JOsh3sWGrhxCk62Nd1uq61eVVqUTF
durpDjnBEozRzjbo68uhW9fHXjP2Nm1VWtWiNalfCjRYGxH68HHgFcBL4Jl2j9YePDDDdQwJaJ32
4b6JjTM4Zh8cvxMXWqRDb2oqRvY4FdPjFCYJWIQwtDag/3U376mZdmWwT1WDnldajyAmQNySMiER
kNuWE07rsguNg6U7kb/U20Fdw2s+t0KpiyXscYRp0LhWqCo8ZZmNxXFn9RQEhFpAOSHcPbLzF83L
FArncfkQhrS8tTqrVgF+z0M3eQ9JaB/9YVOXXpqUftZ6mu/pwTM2gO/K9ljDyk1Ug4jmF3BzmGY8
c4vL4BmDpPYgFQ5xSNZJhKV7Wi4VKpxoAJHP8nOnXlqALlZDPyr04YujuMmpFGUlcMPcB7ilVqKu
nKWIK1g5jl9xLwLMdWOoZod6TC4R1njnxDZcKkzhRUYF0DAUxNloaMgS6UGMMR1oIMTfa3axzeJq
ywOmXPpYdtaeEwA9psEgBnRaeZWiDrBKKFoY/RjOXjl9KjKEUXFtxLcIuHTUhL3/qCmyv41U036s
slY5V3OUj27fNlI+0RxvPyrAdyuoOll551XtC8I15Qz2HVrJkVuJwrXd+wpIupE7uiwbZ7phUzGt
mzQopiUSYCQAdMk+dmbFebqzyWNTMKCoKQ6g0UyeKIyPRJp2Mea5Ql/JqSqXgawyiO3VVdNjxIsb
ovYMs/HRmVQDd8bMbQkaXD5RUvS3alOG75AENPm+U8xudBsUeIeo76TjGrJ5X9XoQA1A4vsu7ZHT
xbUYaeTYzXOL/sHNZDMhyzCtO2kcxSQNBkSPxsESvAmOMhjFuD9A0GigQ9warNNWdoXYTHHuH2ic
gHzWqj0+4ABvdWleIbFIlwbtxp0iVVoOerEyLGDS7pj6V9QdCSiazLbvQfkYAS3V4TPtW9s5U6CG
l08O7R03Hip/YxUOOC9Z3XVBor1TuaXo+lLcVuAocrOwinvYTVO7FGWVG0sR6c5j0kk6baWqiosy
nbbwmMetaaH9GYh/2JTRhMlVMeNnPw7sdEkhPUNwZnwGqyFu8oqOaZOEnwyVVh2qOi1/bMdMPSsI
VX/sjh3yEn/vMmFChjORB060YE+TuEHYNtg+QrgXUaJ1l0qLn7r1UuhUTiOMHVD3Oxxa2s5HLYjN
1AnunbIYL5UoNTfHNgeKYHPQVlLHhAaAji4TsL/LqOmmK1OdOHgY1p4JzQeZmECgXxd14kSkWCDq
cB36uKWbqknFkpUbaLGlRtMjLbL6DDUhuCqCmdrrHtPjXR519UE4XXaPWapdNZbhPyBLLdggoIdv
1qQCjVu6/0O+jzVSgCDxBRZpUzVtujbImIOiJF/0BYdnZTIxcJiBskS4vgq9Epa+PRrLPjfPe0C5
CyzTzGp9cm/WXk9UgXddouHWMC9VyUZnJWVfB6vGaHmH+Iu3JCzvPTZiLlqy7Gr0I+5c6iinZWKq
x6izrzb+TY6kDVSYuW9ys4zdSC8tlO01Kpo3jorfiZVTZ4c5rKYNkIHRgFmC8ncBJIErr4PDASau
A3Ae+/60k506q4lGAf72gF3OnhWGXWRbY+Gk/Arg4qRTjGq9vlTg97o0KrBd1YY+jVeePSSIcRpv
SOVpVV31eCD+6mYkeSzbCl/1PguJ5zirJANjX0S+/nDaN5gVYWJ4OgayP2PvWEfBbinPkoKwiTce
peN1+NZhZnbKk+w3jMjvpr3fYoPZGQoi2sCTIPX0Qg+7047B6qwkg2q5zS3L53kSZv5gV9nwDq1n
dXnaFZqd9xyt4nG11XHfDjVSONIk+zNMWPjMTnl9Tc4OfEUUwNRBaLiPK4VcipbzVUCTqYhPeoI0
ORvO9BkNo8NSSXUDmU0ASQ9HVsKO4qQxoMnZaAYl1/tmT9+BZqSDdMgAv66MOdqf067PbAwHmP/B
Y4phr06gwMo+bA6y8+Ubc9G3C0uanI1gREsVarxA2xspvHU3LR0IwyFHwhM//Wz8knvtAVeohn2D
uDOEz+vnyzBwxvzE15+NX99RmgmxjLrXoJ5zUsB7F3OT07cCgL93fWYj2CQ/xkObOu0TFV15Kmpk
LSRE9icVajU5G7o1mEZVS/N+j1pSu9L7OPeWyAIdceLgmg/eBO9Rq8MkshKvfc6AKRAJaKk3Jz2a
YjZ0RV8XRlsH/R5DJlKvPORzC5E2p+WiamI2dHXdqGTac3WITZA5kB5NvQE9Obyc9vFnIzcpDbPC
4jLsk7RPlkhLOOe0vGdz2rMpZiO3s+ymMGuj33uT8G+jzmjHVRzHVvrLvP/XH4d/4b/kV78sJPXv
/4afP+bFWOH/bGY//n7zkl88py/13xz/1j//1uu/8/u7POWf+a+8+hu87q/vu3xunl/9sMqQso3X
7Us13rzUbdJ8eXU+4fE3/1//8K9evrzK3Vi8/O6nj3mbNcdX88M8++nXP9p9+t1PJsPsr79++V//
7PgVf/fTH//2v/3xD//hj3/4uz/+4b/88W//4/wvvjzXze9+EtrPwsGloKFWtQBA2Dyc/cvxTxz5
s6Ub2K8c01bprDLlkYXTBL/7Sf4sDEtYUkdci07cMnki6rw9/pH1s9Q51EkH7jKIbxQ+P/3fz/fq
Bv12w/4qa9OrPMyamr/9aj9A2C31TlJRhG3rwrB1czbrFpln65A+AExVnXUtEZCeNbaGJxTvQv/G
unR8yn7be/z6XphZpIpNXIe18HoHFQ5JnIUolVdOjCMsJED7fCqKdOshlAMHqr+Vmv2t7+YgSdYc
07RNdZ7P6wxwkDKnGFZ1XvvLrjehGKUxzTliat6Y1Y7jf/7VHMeGSGDw/cx5XxFxpoLyXO+REXny
SlPq6kPrje2d0xPRhx/f886R9eYkLEVV7ay+euZ+vadf38NvvTlxYJBrHDZsujW7h3A5ceKVyrCK
rSzbGk6NqR6KdXYZ6WF+rpKQcIWuWOwiRCwff/zWrxejX26pNDXV4mvoKl/89S2F2mIolqMPK49z
4blup/HWKNq3uipf2gSzy6vpKGlV2F6qac6bq04CQXqE2LhKNLijOfvvg+jzaFOkpX5bHR8p1GEF
CPJkjK/sum2wFDXjFamebfcXTaFfvjHmBZ4naUqqctpsHfMaxGlDqg6rkhyUpZLbiktuRH7+4+v6
5WXm39hQGfwathMb+8HrCwuZC0E//PSVLvppWqckPh6mErnyAi3X+EThNKXGjj08WDdYbfB/GcK/
00TSaL/M6a+m9K+fruPaM/8kJp+DWYfKppjvWk2/kh117GEl29reii71H0ysDmdKO/gfw/6I33d0
efPj7/+N54qAFSYkwS13pD1bb4Uoe6WYknGFSIebK/0XbZT+5i9/E26ggdUWf82fvYnEsRWLxOpW
fUEwY0xx0WU+OuGB0R1hM/urzK9M9K/vZNWaWA/j4wNjyOAMdR9YHw9V+l/8XXRWEGAbiLNxH812
EDqQYxvkFu2dOPaWsFILF7OYfGMG/8azYOgYyA3hGNL5sz06sv3OMjWq9E19ZEICJe0JkQnz+5E4
8aU10O6wHbN54wn8xjxu6Cx0mmkwzajW7LsZsdd0YVVzBfsxBTZE0JnfMeeoKRn1P76MX3qps6ed
J8HUBIOOe2XPtsFAdElUqKcOmD/81oXMQgzmIjcjEKMVMWLahMFzM2hdTEpXAnHHzUkWfdHqosYs
FXkkFsSlP+xErsXBG8/rN66DtGy25iz/PFDzQTFFoxH6OjLSymq0fdrLjBJVK/e9qQdv3OhvzD/c
SJMVTZoqyMV5PaXpVJgoVMNX5ES4ikEkhTLcAYbdayCdrb4NkOo6K7i2Z7GCnPbHd+HPRr/NW0tW
E2ZYAyrKbPR3raeNmiBsqT+2dSbdSwnAMP03Hqs/247YmoWVkOfJAD0pzNnAxB9ZOU1YNCtYR5Gb
08laVCquoGTy+w3U3jdWaf2LeuHVs2Wzekmupm5DAGKkvp4J+jafJkWNcnTjjgGSaUha4hrYU2CG
Ckg7cwO4KJ8KJYfCPMZDcoy9dcJwqxYYehdI/wID3g5PI3FO6ujvdbWF5z6UdntIAD4VW4kv96OH
NV9btoIUmjXCTOLIUswRxiLCkm9SPvVaAnSHjuZEGNbAghxQOeHag4cCzBpmR79srKIkpsRPjevA
qCbKtQLbqRMJ2GmJ8ILHtCWMgZwTFuMlqTKURZtEsH0DIdxqqwherX5fVSDQF1pgiWjpZNCJltTW
o+Aqi4t8PMO0aourEu2vsYLTyBXozSj4qBWjTEg3mAbY6+2YbzMTtZZLXGp7i588AnELkYse+kBU
c684Mr3NOuIO3JQPlBaLNjOBupeiY4oAWJjD2vK1BsZfDZveba0+uRTo77EA5HGBw8tQQpekrPI5
8RLdcVU20Sotcd4IG6aHssVyomevqZMOQyaJv7Wf0nWLYA2+cALEd9Yy6apbxTeDYOfJMjxEpK70
C8IQc2ulUIokG44quqSVEpu4Z9qpNC90SGz52VH/kx8sp5hgO9lilGi/ffq2yUXuE064bPG3Gfh0
O50MeeyteCRbFg4k/4VmLHpGPgGsildjdcP5+ET+M3RBP4z9mP5TJT/4OQ67nVboGBVy4ojBLYGg
2JtC0y8AHjjvmqboQGlbjhet0JNE4qaTZRftnUZXrvGv0fGBRspeyhiyI+e4ZhOCK5Q9hwvdg/ib
QdQtTIwKZMAiF758LmzZJhu8NGR8KHQc+kUHBlHZ08+DBZO0Iy0H0o28cwJJRu9s7NjyueWUKPuS
i1zQY4xMRNmA7vIzo1NUuohMO6DhRo8Gje8bFSbzEly6wdW8G5OJmr/IWvpQGHur5ix3zPYS705g
Ln24gz4xJkrxLgZQQ+8cRzrmZH/QL0P8l1C+6UQsFQLFPrMHGN8x2QUZuXJB/d4fM3ASZeEd83D0
loBRVEkl9MBURMguqC58xBoU0R/LxubZTCg7u9Nxc42yP60+J8wAclknRXIb2sDrF0NRRjqBh8EU
bZ2gOcaMqqV9Oxgk3bmlgG+21HNu7aoyG2e4moaJaNeFCcIpWDbgo9fSKgrFLQoUETwRVMlal4wt
xVqqnYnDXC9zHSgF9iixywW9KldlUkBLoCelctEAwGs/On4ZpPf1II8oYrst7gs7t4fHwM/qa/Iq
VADXzILMFYEBiB6N1+StFcI+iFUZAgij3sjEhRXaUndG21oEe+iB1xxMGObvDBJFj8CQKBHrlqzF
X8q9f1FR4Tz8WOV1/rmZlwxe1Rgui5fstqleXprz52L+m/8fFhfY23+1MB6LF6+qC//07/79//77
v/+n//Sv//G//nf++V//8+/+8R/+gR//9C//85/+zb/607/9H1/XG7681i8FB5gSPyPY4DBoq+zV
5LHZ8kvBQdPNnzWH7aFkZJnHdeifKw6m8TOLk2MIiUuWPYbJR/u14mA4P9vsBKg26Lyiw7//korD
68X96O/kEMU+dbao910YFr0/+DeSPPAtYW8E7QrcgV9doW+chb/36rM9omN7Kva8UrnOIqBODV4j
poc3NkXfe+3jRuKrzk+ttULVjdS/ATkBia4Qy9pCfnDaB58d3o2maEromd41cQxPha3ru4zozzf2
Ht/75Mf//9UnN7o6sQjB8m/qnswCR+hnioZ+68ef/PW29Lcbarx+cWgg+P0BfdyYiuatMDzlzwlw
paVP0Mbux2/xvc+vv36LnndQpom30MZ2OCNkdO0kpPqc9uKzrb4oZDz4kfCup8T2sfWZD1BYn3/8
2t+7NrO9Ze110TSGobzG5K2yaMaqa2khfKdAfeO5eV38+eerP1cQN/kwTKSviGufHcQ5pthiW1lE
AQ9W2FwOsYfoV2s/KKoTv3EK+c69mMuKE2Egs0C1dh0BC5wgg2HghcP44+v1vRefDV8wpZD7qARc
EyfxxLmKY1Vlvfvxa3+5JL/tv3+7VLPxi4qlaB22Ktd1qa30Mlwd8wKEt9ObBzHdHwOiSIWI4su4
jFZKhmTF3ybtR8/bOc2af+fyI16hN77ol4rgtz7MbLyXuXZ0MtUIMjk29cVRR3impDd9dG6jF7NA
1CCUHYgcQonSiUeiWBcZQzYpwbWqB8hBy1//w77y+DupFoF/cdapMq6U/LPhyTc+6ezY8ttlm00e
qiAZERpud20owc4wPoyCKHquiDGcVZw84T5STSUyXiyncg1tDOkgkOtkcNUMU3BcvnE0Z5X5uhD1
2+eYzTMJuCul0sf0Wk2JvgOx1HPl6O1sNJsrNLlchF48esW1h/YzH/BzHgAmOhqZd1Xleqa34LSw
5ZfjeO3R8G7VN67QsU7/VYnst092/MRfTa/p6MRhqxThdQkRHL2us4Mu9ihKk7gOgH5NQgBCleuL
oChuwcC1YINRkXpW9NCJ6sAm8HNYyEMIOk0a4Y0+KuetDB+H2r+HBvFStaR2aMMeNIZbBeOZ0BRw
hBBnhqDecVy8t/vqQ0z4CaUfQlW04akk1x4c+VIGFJoUCDmet61EtA+m6cJuhlv2BXtV9TZti24p
8F1S2EjnIGpM80DrjBd1124mU7uOlPqJ8J7zDNvJwtBLlFPVBmDjdcgGH22pWCNRXY5J8n84O7Pl
OpFowX4REYwJvAJn0ohka7BfCNmWmWeS6et7nbrRHVVcy4o+TxXlciEE5M6dmXuv9TwpE9R4RKMW
DPVhasH5zFdW2lzR7HUAW3vtFOOdoVWP9Pnu4zGv/EVG4dKKC6PgJoZrAOdaa8jbUB+Z4JJ5nj2x
yOQgUQPcqn1l3ierAcb507LwjwLVNrBT4WpbdISECzQXPe32ICd2f49TH1x6W29OGWdqunSRh+bE
B7EOCLWb5ttl194kX2Zd5o7ADhm2LQ3JiYjuHCd9/Pu1PxgF2yKiEWlRBhqlDTUWJUACZytBvNFR
4d2CqvtkrH30cDYxnMJtyubiBRbK5D5A+7vK1Dz8+/1/dOlNRLa7XnMRgrSh0irSW4v6EdODGfz9
4h89nPMP/VeIUKzZUTIj7sMR/YWvWLniAX5QD/mgXtKpRGKtbuLjTMNB0wqNokuFIw8F9rYuQNb9
/f4/ejibECddYVUjkIQQio8Fz5bK16n7dGfzo6tvhu/szFnvmEUfshf2zWZRKUT8ftmNbwZqCc0K
X7HsQo1qbZav56pE6FOXXBwN7n/fqu0oxTDShR7CQzN9lzv3MbNcNFbN7YELXJeqZl3dhkhrf+Id
cPFPq5/kQn9+4FiQ/3vjBT0lmVmnQ1j2Dlj5qQl6rS0/CcYfXfx/jdGlb3FQDSHYb8o99ZX2MNyX
lz3yzSiNkFXK3HCIMi0Q25EN1iCLuuKTF3p+cf87K+Ns77/PBUhuDqCrH0JXmjjl15qy0fxLm2fX
uJR/T2Z6VQ3FGFpZFV9QzIaX1t2M2l6IZVXz88Nq8t98T74BmfmiQcvh1n9/GxeUYD6ZQxfqXUO0
d23bq03z+PcX8UE+Zm4rhQAaO3HaKE04Dnb1VpWW8m211x5+ceTs1pay/5zPzMcFo9+xE9ZFHq1L
7B1Z2iMpQ3tfjVa0B+Ann+ZVGHcF0j8ki7kdKGzYgyFbpptukb9yJGdwYjRx4Qe0CQjnjuIZ7tUQ
No7zHgMn8uT42UnVnxdj5rb8KIJk27lDycu0c+UIFpBSanBgqjnuBAjSGwlgcUfTWH/6+zv4YKRt
D0jWYSpdrDdDOBeqR81Z7uGVSi77erZHiYBeoqrDWhsui4h8+Dp4xukC+uTqf54QzW0pEvUCbPgi
VAgtJ0kDKBx40qahDHqpaRdN6JS4/Pfzlxk2ADDbXZggpvSGGUepLapLSsEYuM4mVFBl2QwpW9+h
PVCbGFv9L7HEny12NhUP/3dJwUbZf+/dmRWcUGnXhhTEmycVsuT1MKU/OWEnE2+bFdr6qJwcJ8lv
l153/T4z6H1OgAdd9mVtQkdtF0RZ0eGZKPvHuumuZeX+vuzSm8m+VjITYdEwhGzT/2xU85faj7/+
fmlxvr0/xG9nM7ghvBnyLDIJsxoEu9Yu6AiNymW9qgB+jjvAjk2GUSnP7BeRcD4wtcCkMCmoV5Rt
0rKXFNXBhTeNjoOzJruslFvslNF+csua1Q0AKSWKSkipA9NxlHeUyQtAmY3qHgCYfm3HqKS9Z6Kt
qHT0syujhdkKSpqoHvujNpRgdjlvoNHe2DsoXIGZte2Ds1jNKaG6xRuETO8U16S1Q0R9QIe185rT
u83KDyWwseT6Fyy5w2sENOdK4wwkmEpOZxdH/SkXOirUyc6CJe+B2k1ntQLVY4dJuK/2WIIg08/U
qw7iHaz4HzNUD1pUkIT//eF/EIzszYA4U7mXZa7bcCg5D1yWfPUg330S6T6YmO3NeBCwRc0xHwH/
x2npLyksIVqu3m1hs+fgVAX1MIgHPS1j5bHWyWclIh9EKft8O/9K26lVpT5YFU1IKE9OfQRjV3HL
9jQjMbjsqW1WZLosilw4ahNGXXSjlJrj1XqnffJKzhnXH4aDvUnzcn2qz9j7JmQrXvp0ZU0+XVUK
OwfKctJwXn7ydj569ZuMj1bislFt6svQCN/LLvquVvXXvz+fj97AJojD0CydBb9XOCWl8Y3upfKx
Utea/tBcDf7+Iz66+02sW9aW8sB0aUJALDdTs/zKcueTPPuju9/Euq5Z9AyqSxN2RapfDxLL0CKF
inLd+mya/uhHbEKeNDjYVZdBhHqqujdNr4yU/tEM1izOfNEOOTWn/x0FUpHQLBddhKIBPDCby1Pm
TheQWJhG/1cxiy3adGy4tlJ0EipXd9v0l+3sm2L7+S8TYi9Ov8Ks8DvrgOj1og/mfHr276hAtRj+
ODMXIYbdU+lOb7HhXpaziM3nrs+zaLteFaGNJxdcAMTlbEKmctmNn0fAv8JZ5yprtOCLC9tEUwO3
nk1/0ZL/rxK0/5eyiE2INqZ5bK2iFKGl1FnQFcMd+ILPuirOr+wPkeyfCf/fd46TWJd9I8JWhb07
4aLzY7dLjzBKO7pEzcmjmFf5JCB8MKS2xV9UIgGTHA0rBCk4Y1rBNA4oVrkT41ztL3sTm1GruG6u
U3llhdQc+pNonxXdfb/o0tZmtMYp3MMGTgB7fEiNYxWEwQwr8pNn80GwtDbzlSPgDFJOy40vyOs0
p/oyJtpl08i2wC/HgdEaqejCiuZs6uhxaTTm69+fin5+sn/4gqzNoKUx3UkoSRLhnN1UAyRcJ6f0
aq9XXyNEan1zO0NbULXDXL7rxo/CeFHN9doQJ7uH38i/tVcpQLE1+iTu/XNe9qf72Yx0M5nrJc9K
O6SdxxPzfHaeBRoypcXVT2p0w0EFVSzok075eFdVnV9HxMfWPMwtm83nQ4yWaou/P5yPXur5z/81
uiYQi6sQRR2SHOzrwjK8pcvkhRffxIXKpLiOpWQdRgiB7Lq9mnTls0j8wTGaaen/vXNMPtTDpWgk
HDlMPy3Q3qeyid/YnE/3DaIgjzqh5TSnzY8kGr+aWvPcICZ4nJfV8BuL8kX8Nr2X53G6GwXnVvWo
pYHR6BPiWjN+qHv+HqJ5+1jXzbe0V0evnPXvHDbcGi3Epsse/yZLmDn8t9B+IfNQk9+6jsrCdUBL
/P3i5+/7T9/ZJtKsZS1aVdNKquyK23oZqIhgYYeep3zT4+mykbttsZg4QUpHsMmhHc9vEC9+iOn5
77f/wadpbuLNirkVFelYhtHs7ko3C1F/fvbc/+kb+MOzOXfX/Pu7TwdA+ck6FyGE7OGUzKv2pTHw
jerKOngNVfYnt+wbHLV06QdDrMx36A6Kx1Uand9PTbGf8gGZ25SJH0kKnM4xKnUfp2wdDqwEqYXQ
vqIY0/fRML3PnTG0tJhPIigtVi1letmJPKXl//0t4mKNBlmNPPxB8zpUOKwogsue/iZIpesKKQfT
ScgooqS7eraG4pOA/NGL3cQcG3YOTW5DHuZO9e427qsmPgmtH115E3DUaaYIX9ZZGHdWvDN7ATtE
6Q+XPZFNwLHszjHhiKQhTPdyp8WtFiyy/Wywnqus/jRa//nzf0Vio4JOsmozl7f3I8R7sho2xx4q
eeLIHWk4IoJxp9ZvNG5T5PlOcf6hNF1W9qfzsQl+yiAprGDA22GIZ8dM9lY5e7GbeBE8klr7wjj1
1+RrHrE30LxQ2ECO7OWG/iUa213P7iQ/aXBeJ/7UGvb/82M1/O6XPbxNLEJUrmcarOdwXtUfeU1o
xRvxSZz74K1vAbScRmuZkdd5eNaCTD0uglS/7J1vAbSpm8dCyas8pPrzptb7+0ZeFje39FkjnrIk
X8tz3GTLx1HEDmjQ00UP29iEhYIAkyyWKPFunaibbS+cz7fo2bqE8juJOQ+NsdAD9AvxqZGdvb/s
rjdhIY/yCkCN5Oo1tpBIvrIv93LZpTdxAdkaXX8IAUKVjmM/Bg5N60Z+CQeVhayxCQy4mh0xj3qO
vgTxS1/nd2aku8Flt77JEBooHPiKZYbFOn7RRNL76MYuXBVuCbRgyB00bzPckgb8W9yhrbPry17n
ttchBwGzpGS1KLvdfjdOkBRKF4nYRY9lW0u6susUCy0tQ7M1X3Aw/6galvp/v/b/9NP8ITvQN9lB
FKMqkaJK6ZpUDgRizAAnSzwTa63WOQGt8dLy1M+nc4yezwKw4UWwF6tTZQ6YL1go3ndL5QHaxs6Q
BmXjpTf1v4z8K1co2Bg2CutG5ypiGInW8sjer2eWywkOThqXQW7wkeIbZfUpiO1GTm02xs5uDQng
TWUda3kaVTD38OBBszUqYEJ5wtjrKXhvmD9aIzlV4vtc17bfDbf8Rz03SRCoHXeWH070S3WetEjz
TPOexe4Nk4GxOr+6+WSLJCD6K7wsp0Z5mSXnaQG3C30c5oGf3trDFyumop1fJG0es/KU8/soyXu0
gLl3f/bS+ufncMlzbwj2bG/Mbvlrzpniy1M8k7loXOT5/fMYe3SQHZJek/xlPjU9jRzjHb9bFr3L
sdnzQJjNRhXyJQYomaqwiQDQA/EcVNjtMf+6P89xkLy8cizuaw0uy9y+RPizmeV065RP8Y1kWYMX
aBfr4oV7iNlfiYvyqGuvHaZQUVnfUrO8jhAIli2+YjXZrbHm9QPtrDc2B0g43TzBDqrsCz9WNQCK
SNE7eTw/Qm1WfRZlEkhbJwLufBi+ZZWFgnO5RgsA5Z/ywSbIm9P5d9Tlq5OLWzYBQKFBoLtwU2Hb
fZxMHPe6tpWFuPlST4us73H/GRTl/NH/aTBsMsE46fH1Niwj7GH6SmsIxMFZAjqseZVplwx+umCQ
+/vQ+2Aq31KOnboT3UhNSJgnMLqs+smMxSf8m48uvZkD2rxt8kr2dAfLxKQ7L7I9c/60Dfyjq2/m
gEbOrojPS11ObF7Lab4FffbJHuymM/H/ba/pmymg5dDasiYjDSu+/WROfK2b6NHZJxIKiL0/Zzx9
/jDx6WHGSlbtThue//46Pnr1m6ytmIcKiFKUhY5R/ObMSwlRezRfS+HAEk8t986RQAD//rM++jW3
9cwdLT5YGEQaOqbbXk+uZT1U+FO9KqK7SEplvq2cLPXjrJW+GdFlxZjU3FMDFgUJoCZPKeqET6aX
D37xbakz9ljYh0VZhfS8NLf0QxR3NLwWrymMAaLmEu9kVvSXffRboLKTK6ZYl6wKrRlZWuG8lkv8
9veHel4r/2Hs/lPZ+69FRTEY9CNRxBJqcW4Rn220Hvno+hk65JMK5fWouAXNR5peX7YE21KW7Vlb
MEHnRahXGW1ras5pY3HhQeMWsuzYll5aHJaG+VR/q6rmrVT1739/Uh8M4H++yn89KSPpesWBMRu2
+fKsifE7+52ffEwfXXoTGxaJiTwz9SwcbPUZJehL28HpvOy2N7GhBlA6oD0oQndUX3Ax7Yv2M6Ca
fo6Mf/p4NqNfixyIpa6Zhp2tl1fzoiJAskrza78sNs1sOigCpcLbvKsVFMPFtDzYNPVm1AiWWZCc
VVt1nehekSklrM2WLnsU8bs0dtuATQXt2JWobs0xFuCGB4qYda3KgwSl1GcZ6Pkh/OEX2NbTdihQ
J+yQSSjnysMJvK+IJBln5VXueHP1QD6zUFDBP9Qe6t/IeQKp1iReaBimiTU8Z1QrjUTM6v0a6vnX
przKaEwtsvzAn7GoPsswcxsHYf2SdObunDqMTuSfs63U+F7mj7JH+GxyJt+jIB9/qfJ1lJ/MCx98
Vls2IPgHtbEyfjsS3xSo7meDDEbB+cDgTw9uk/92bt1N7I5mYaE1yZclbeSezdP1yRSTcxzTQgCY
dbtdrpXqTsNtfKgUXaGa3HWMg+aok0+5dUSG01W+aw2oOCmzKJ9zPWG/QunRd1W9VgZpP3V3U5ey
6V0L4Y12Nh4AK67EqWm8m2srvzE0SsPaxhqO1ajXpdeIQdsPzZRfT0PV+11c6lcQTclE+qwa9wk1
h7whU3lyavdRLc5EAu0+gThICyt2vcKiIANIV+GjH+w8G85p5kfVWbtWjU1QpcBrlcQ1yOSXeq/K
0ngyJ3NFolTlEOOV9Lcip+zNcSfxPtZj8540WX+/GkAn09zNQaByE5RwW14rNfkSgU/aMUJAe85A
bo3G0ZEBz+pNRBH/XjRzcTIyxQlqw3hwNOsH+LllF2mK4lui6I7ZkMwo0RW79SuskDQTxYe8bd9S
oKweIHDz1jHLd9aj8XOyJt/cuileWppfr029jw6TafZ7S6VrGGEMhR+VMY33lVoMCNRniWhbnpmg
YCxXLbWvzL43AmoryFSnVfHLOgW22zV3mdJkAbze9pk1EXhj12nEm9lqJpzP7oHp2h+UxMSbbcY7
rl15mjos+3yRGn+BU+mp7ic/Q0m2K2w7vkfYkN6nDTqwWA4KPvbs+zQ35Q4q8gyG1l2PY7noQado
I1q9vv+iZDbjtDF/UzhkHhw9ru65LJUenfIkCwqq83imSnCMJY9qTJfTsqaRymmyUH5kcN4Co5JN
EPfpcDS0Frv5ash9Wtp60MfJeIzzSjtlCIwq5Mc1KqthiU9qVdgHYZTzN3WyjMBtTfeUVbN6AKwL
HGAxECvWqbtTO2GFCijrH0mFUBdtpSjwYDbZVSSy2KO+m6zMxlJWVMUKAVdJ2N833MUErS6c3uuI
rZSPNcIH2UsFEgLuxJeaLYXnugYmQqvI1huXOfShG8z4fRBRvRujwvhhxmZHH3Ie1T/yUdIwrVjd
TpOqeqgREweLq7R3tYMQmEWG8VJaYIP9XomGt6ww7FM1NTEKaqzdeGxxR+py7H+DlOMLrdX8yqHf
7i3tnNE3F1aXcswXzoqV/CBxa+xHAb4EclOxYwdXIOpr6Ncf5Twc16JvTl1Vy7fIQtnUTDao1brA
DUots3k12fVp7EYWvJIlldFqdFa/Wq3hu3py6uDeB+UsJlDJ9kqrjOs+LEWCRc5djW+9mhq32ipx
eAGBSa8kA5PUs4hPi7IMD0nfuLuY2eSgTk6Pb3Cwy2dtrABRK2Z3QKBqcmJWLMA87MJ4t3IHYGRm
qHJPgUl/3Um2a9g4TbG6J3jZj6NWiYVV9Zxfr4a1KuySZtrJkXp177Rq7u50V6d21LLK56kCMl/S
UfM09KPZ073V1i4eZQdYjlai167bVFP/keid1kRnbdZ25fplcRk4KEnXX4gw6VhximYRUBdmddnX
WU0TAug6jeJXEBjAyc26fzBEE9Nkn87Dz0yxo/OFLPks3ZxNLVryfzedQvDIpAYdYdQN+eCsvdiN
ul7ixnWLPpAmRB1OJyrDm6MSXXmy0joYyeauhft9WIcanm4jzwJ7uy+xv+rVVZbCLygtfpsq0Qqv
643G0yaHbp8lMW7KFT4/Pl5lVwKsqCAAqKA0zFoJgCPHO7ea5IPKBmEwZ0Ld9QNVbfk4uX5aIW6h
JI+qjNyu37NhWN96auM8a1kjyAmpL9vWj2ojxVBw00x6Db13pais4oPHTpsr9jHrpR7YSjwFWAtr
cPXWZHoIOFDP65yl/XDGlk6mSbVCI9bECrViMgN6C+ilawZ9D9g596GeF7sZyN5OWhITttAt8FLJ
6mtjTP7aT7rfJLAjnNRNEFhn/SDutL7WAZX3w/dhGuTLJNfpJqYU99jaElPCEDkAuls3ekiGdGTX
pKOv3moKJ5C6m+BJjujK8swK8UOZcWbTKC0ke7cYPC0V2hv01+HHUtpsXlRaezc4bUSqHpdX5jxX
JyOZ2UHQKvDSNeMIlyFkaTrv78WS4jbIRU16s3AuX0V6fJV0Y3XI9dHcqW5ZPSktYG68vOlds2jl
7ywRtOnN870Dzn8n0t6457cCQFLOEyaaZXkYKXL2h8Ydf5SZ6eyxKCsv5qAppwny8jdZYgkfdQlh
wUiJbcDqvDhTv2tp9lMtUbcAifaxQxkPRW2unrmMiGk1OeG2ir5MOhNAacLUcPBlBKNrZYFwsBib
NqwH4AJvq7mYnl5yQ44+F/sCdTqds8oa0MAJZazThvu+RA7cr6SV42jYjNGVnEsry11h6AqxEfYI
2ndr1xnkdm2u6F5ZUKIJZsXypW37Clmrt5T8eWy8NRW2AVn6IFVLf2LKeCCf+alWQj2zsgV/z1Vu
6ZzvTiXVsQHAB4ekdabWRd+7LZrhpEsPZXf+jeIh3neJph2ceGy+gfSuDg5Uh7tOica9mzfq4yQK
bcfBXb7Lsb9S1avmxiGdZMXP73K+0EptvlaNaxh7CB4FeZZU0qNt2HoStHJUTxFoNwo5l24vJZQH
PcN5uRjOt26UYA6V+LAserSDV8w0Ru6+M8pUAbHvSD7+ubzKVZcRwRiNdroOf9nOIYp7UW0O0Nwt
dz9W8fuI8sKP7bQwsWlXY+qnpVJgalfT7qtYnIZgBSg80Vy0Ao3IDzAx8SMwiyO+7dVDh/fFz869
mammrFeGNoLjbNCG75sOgeYI7/KG2rVHE9WZZ6ZWC1odk4JBAzOVDu37ObO9o1FXenakT3i67SG2
cNOykqj1eAgQwuK0R3Xpp1ZjHRQDg2RTJdgdasZ0KTNoFMwkV2Wtw4SvhHJdKO4r+A1xAniu3JTN
9BSro+6rVPuexlYzvgmc00Fm5r87qCTHfKif7QZjgUkix9ZpTn1It1rKk6lkyhs7oKrfNVa1r0jn
XsoF9brVuUGWLHt4N/IbGFvOiU2tuksVSzs6dRs9CTl1NyvTZ3Du73Sr5QvBBNaOMo9P7aomP500
z0+LNa8nvY3bveEQtRmxtTfbZ4i82bvpwSh694AeugSAVSqJp8yGflNNY71HcR7vZmOkU9jtBuDr
2hfUyiSKLr2xTW+Lmxq35HWTiZz9x8q4yshNKm/oKhz0Vje/u+WZgDP1S3J+ZEADPMWcseQSILzG
LCabjMZlDaVA05eTVdy1vd7fiBbzuxdrowxXZ3a+gqOX0ov11PiZ6PifxdjF1+Pa3JMz6l+zcXwe
+yzyJ8r+g2WN1WBR9PIxw+DpSepFdtlkuPfdWVegmvmESy39LdxG3RlNqj+tolYwskdmfZxiXTsm
Ym2o7M/s26LWKGmOVHbeEc0uN1HLksKviqQ9z9mtV8tx8YiVEQ8Gnbs6taqyI5RW3/IKcrgvgKEG
qpnmxMKcfurMhWSS9ndLG9vX61Kn300BbpAmZ7Q5ZVkEdposx9kpf7OHz/oG9Ox1Tty9lnSY7OHf
qEEUVe+FhSKLMow54IEld4uhM/I1Mr5GHzuqTrUFPbO1+i0AQBog8s4zNVEcNcMgLGI059R2whoi
5fozidZl8Wsnm/0F3mMK63EgjCb4zPdupyIBTsw5XTnwHmC4NK8I7p2brNLIDkliaM3Nf9bAg/fN
gpJZz+OaL0pdqeQazZXO8kolu+hc/XpK4tLLHIw88bm3F7jZvMN4/26qk3gwjG7ZSTZo96hk2sE7
U9y/upgNaIEo2Vnnvn/JphxPaRQrXqZn9n7uGnGAFFGe2sJ2yXdltXdVZAoGvvRvraiN702KGNyw
V9Vn+hRn0NJ8pLcOOM+IoxcUTX8zpVp8zMa1upWzVh+7Ycx9LVp6b6Qm3s+EdO/kaJhPXT00N9bQ
jT4EbNVzBz6pmIYKz0kIbwgnChYDSYJQkOkmU5aOKFXHd7lEC+Sk2GI4dbBRq+BJdqbmnDcgYlG5
hR2uKUH5+VmFs3QJVpmiu9OSeGAFy9lZa/bDzpxrWIidCUfflvmXbOEO2Dm3T7TQ4HyqHcV96QeF
dew8Vt/KfjCNnQPi/xn3xpB586LR422pw20XTet9QfLhF41t/l7ZV1jB7UBTZx0b9V/HRYVnpM7i
Vxzl2rHW8TjlQjWpJLOxWSBQ2KeWeK3l5PijCn/CdJXfpoHS5wwm2+tzZBJT0eUGLV3TX3HdlBgO
4vI6NqW4XmoVe3XtZtdTYVRHfr11P8Xl+ZBoEFdqpVHWguDkRz1nL11Fy1fHioHlTabdT8CRFc8y
q+Fopf1vSgzerBw1jbdMRbJrV/fXFCXprtQSfL26Jo99z4w9NA0PSvbqHSthbBEQZPy8a639khOh
HNkv96Mkui3NXPtTFi+PLKXcx0UH3gVUad5JZUqDSuUF0fUggqoYVk6hVn3fRTYdGKZT31bnNYml
S3fXzZV6UlRH7IB/dVe1Y6+ei+b4S+GwpCcKschblLHyHb6+x6avE9imxULFD+4aJRXGl8poR9Vj
yan6RlfTsaajVXcoytsPmmbux4jPClZj+5zNM3UbBHLs0+nvOF4GfxwaoOCTA6Ats4o90M3qkFVy
PNQIVnZTRmdwpSMuiMe5uRv1DrQZaOvfSR2lr0WextdMlPZT3Q75SbH083K9NT0NrMBhPaufTAUS
KJaM+pToznJXu0XkG8VqHgzXWu4irnqY1XE9khu0AbDQeR+tw+I3oNY8Wo2mB85oefh1ohz7UV9/
LS3qEEXliK1s3DVMF45/xqr8WRap8iCKUdk1XS2enLWMjg3p93XL7i9+exYTcxktqLlXsg7DSfdm
Ro8UzbLW17Ip4tu1MKOHsau6YLTofyhJT8jyiyS9lbVmPGr6EAF6XKNT3K4d7YDW+ERPM6sKVhqn
0Ry7nWin18kUtNX1FZtNnQ37CsrHcWCC8hDuyuuIIwUvXWwbbTQnrLKtnNseZN7NMFsTDTfuIkky
4/G4aJQcoEjs+S6q6qB1bFmJeExf9ZLHVNmWHbL7YcI2kN+jFCok00D5rUFUta+68rEbzXt9XNwD
erUicGDW3/W04wHWm/QQMXdYg89D4I5e90qtE9kHbayesWC2Ary1dZ5FbQMQs9NXR+KHU7MhUIf1
nRXYa5FE33JE8L+dMk79TtpBas+g4Wapw4xr68QvxPxdjWrr5NAGvsvbJfUNHbXYwDz3ldPoGIY+
pII+bfJdjVmFpqAxxbal0IakMJRjMbQ7BvvbosMcZ8/irE5x3yPb1tkqK6adNrCOlUafXrHR9ZBT
hcdeyVrt0tzuGKuDmPHAKNlOJqAsCllYXzsdxUFdEa3MajouOFcfNYB++yL90aisRx1KKg+5uYQs
j+wjC+/Rt894IlnUL1kS35sl0jaz6ydWZ2J+GXrV/pX37IEx5hrnMefk+VrPFP0xMVP6Kw1ZPndd
bIbR0KmebbSzNzZdtkug6PlLrokrNk60u9RigVyrdkTtkfvay/XOSMzryOQc34mKOshnPd7ntViu
oyRPgwlMy1PJdsOtSmr6K5MZ+0gK4KpxWFxvSPrbHIsbzywNCrP5BXa3ZTvJlbupFBxI18PzMjgg
3sYQlgDLZk1/S93i61BW2YliXtsvlakaERY5LHMjppp5YhdiMe5Yqwweg+W2JL5EU1bt1mktTl3P
+PRs1c5uIZP2Nwo9Pew3VHMIehEL9Gyck4xO84csPfMdu6CtrX3au9jtMhNSnWJfZWMk+X+sxQM5
CNROrOouTlI2u12ZPGtuEqiZczMUurEbBvEKNvzJNK352eBzPaZa3d2IMsETN0GWVKpkOAD3w8Je
Rg6v0woiKQ9175S/JMJAwIL2VPMZqvVVIgqxn6pBPZq1IXwWA60XL2KOvami/MSzSkqyp8Z4UAzk
W5Xj7Iwq7Q4KgJQrxeghDrCeD+oyjfdsYDWBmrjmsUSRcnS70tqbTtX4dlsmO8wIQyAUxQ6qwVx8
cLjlS5u44krqnPci7QnYJ87uVr1fPNvOWDSo8ZXa9EHd9QnzqDbtK7rxbmSWKw+r3mZPSNY0jzft
Xjt61e4QVJEFKPq97WisFFGdBINTwgOrWEGSDfy0BuS/aW32Phn+PXFLBC2T5227mtcyqm9Qjmk3
TdxSXFGNncdaXLmPjOVtXNBolQ1JimWrI8rCsjigfBrJANaf4rwLRbXfF7uTrt8Mme3ZTmcEnCul
4Da6n1rXvirJuSxRTe/GmVI/jjtWdkm1h7kor3Ujgk8QG8/o5cG2NK7X6vZNO9EspPfypuu6zO/4
TLy+1296WLde7o79Lh+1nwZTWztjmOJQh4RxVFgbyO+g1AODHFSbowfTclm0r+VyVMsufRE2+9dZ
WyX3DQuK07TU+jVQOcsfYCT7wnXpRGsSnH36leg509W1Q2tYB41dT1trn5JWd0Kn6lFtg6O+at0h
9hWddd6MFo5ThpFp2VGDXAi5V4V7SpMa/2KiE21zvmbVmvoHCkyznxrcSrNRn/gimAKVNIXlOdie
pqvHaYCSBbOGXO8oxuJmVeO33oiu2qLGvyUyr1Tm63R96Fdgm+p8SBPs7aM9Ue1hKXHgWKLbwyg/
tvpa+rbiemtbnfO+V8qDvxhp5QbIJa/UpXxEWnflQNKE+ug27EJI9kPy9QyCvh6Y4IbB2S/UBiNe
HXcr37yXlN191hg3nVLpV3Ypnzg8DWHrXGvR/AD20fUrM6JbILdMkKfrdBzHKYwphfLqLJXB/2Hu
TJIjV7YzvSLI0DfTAKJjBPueExibpMMBOHrAAQylbWikaW2g9qON1Be3nlm9elYlmWYa5s28mWQQ
cD/nbxdPVndFEdU7Pa/TYyh8EHG5vonKbnbS+Oya/HN1wPVd0g6o7IMYaQuNb3QJ5C4MOv/LU+tV
vUzTIcuIs5Q5j0rGmEYfQFQ2L+OYP5VwXt0QPJcUibeX/NjZqN6Dov0j+hIlNZdFWpXWxZV5llz0
RiCta6MSD1As8arWe7sz1dG2O5UMNmTa2i4CSVD2MhvjL8UUBwq5priJZhag7gG4oNjnvg5JX66y
jZinMzvdudTmkFSrdZjRwcYEXmdxQI/VdTabxk2Q8eVbet26uXlqUTJz9Kgi9qoselwHM0NHxGdm
wT/MKbkd6+CWcUt3NNFGjx7VafEoU2KjIpVEHUiSzpoDoaqoY23a7Kqioi6QINbXNuyXrZulpBv0
2blozUNgrm+4qsytthiTmPHGwyyofZ3KFPSJusimQbxrzV/EfB4YJI2NzSK/lvm3T8T61TpkIzhY
dwjnal818j0nTpb9/OQt3P30LDdPqeWc2uCHaOHX2uyuHAJSu/mW0SApJGAIdQfylOcDqmCgefYa
beo19qtevlZ+9d1rjguKoHZUc75R3Byc3DmcrsIBzM8WrXOt7PoBLNfbIFl/oqQTyFevV/1ADQnV
f/XWsLQR24F+lzanS+sM10UDHeoNd+5SX/W1eAf7rDcy+oyqGgCsiTNk8+2ms9TZbFmpO2lZx6yz
6Y12rou0o5RBYm6ZRvvWNpDbi87qLmdTfmxHvBrR+qois9+4utkvCFsqcq3iES4tDtym5Tmz3at1
FTtBpYlLhatxZ2n22jn84Li/Tp0/ui+bDbJqpr1xHa5negQ2bjn/EW407rNLtO3iGr+FYxzI4G+P
eFSOrDzVEaVXDtUyll86rUmnnawl9PbYY3KA7FVQTIQurITRLj0CkHNn3LCmPzcGtZuczI7gyAxm
+n6pkPzobf3TG1BTsJzkKdvTc3p5Vf2IUrrRC1jfrMZlWDEmlD3Uw940pNP+KTCwG+14s3Ss6Kpl
gmDdL57A9/8YpdEcDFylrZ/ZSVk09+bM+mt75aaQ2DQz0/S29Ey9A437id1Yv30ZPfjIB62KcDiR
lUMMqEkHdlqrfZt+yWlm4xnrxJi7HvixeF0sGcZuqa6r6Ix+3IzNadoWPe+sMfViEyzegwHFNZXN
n5H5z7TJOAtSq2WSJRBdLCbMj0nbKJJ1YwiaDf0zp3I041qwXK2aqsBmVaeJj2haxjgw5akYzVOg
+aO4e6dDXpqPl+vMbufTaHbV7ezPD1hltpkz7Mn4fQ0iGoarYIh+SPrcmz4XXsoiBCf+LZQVJFov
f/Ki35jKA5AO6yLuegxrC1FoRnkXduLBbFm56cYMICXnU+6nuyms8+2S5gfV0LpZqSqjutTOqX0d
XnTfUQTpV9dwnCXHEDSJMxFsQo72HnTmqy4Rw1F7gbtIbkbRhWDR+TtQF9jYpVaA3hX++9gmveFs
/Hqqtr6fLZw96tGYiyfTc/h8+hvHQyCRNh8Dz2fct8NT2OfeNqvGFbfp+tFa0Vcpiw876r/gGNet
EdpNbFVzlXDB+LGR14/jap9z88dyKSvtMy+njnA0zqMuKJ8VgxcbVeQ+zwzrW6fPrizS8ZIqhNTI
Dad9WFrPS5qhPig5sDplcoJ6BhdPc2gjw2rLHzl3XtyU5mszGUNi0D4atwsRxN6KOK11uKACu2oe
xozFSQxpwC65dK9sgQ8pKVL7oqGilByWglNpcQ9hanSxDKYmNl2rOPjj9OLVRn9jpjLdUoiNFNWr
hp2ci/mxpAHxJZtygGE36x/DACguo9r4GubP3xpz6D8G4xTcN3Totpm7MH+EFoEHWb3ezaQrX7Pa
uI/KkOYTN4HzEJCPTXLTfJ9CFpD404U72x4ZUfwseKOott0Hqq/4rDnLU1M7D21T6e1fo2rUFsJJ
cPqM54Yr8GxJitbcfqmfnKV2t56XP9ThSHQKgbQbtpIqWa0xutf+Gp7stuIkIYlqQz/0J1bWaq8Y
kmN/1UQZWNBYKBDsPczCAvXsicNK9/jSyoGT25nuy85rmQ6rYhON5PVlNeC3KMlbMPrridHg5DcU
Vhv4Fg61kRZJYY0pLqRmPqy63q0WT++S5cbW7xzKhWuUrdRmfeiV7M1NPUCpRFh3E8+r7a3pi/Zk
FY17NGbb3tLauMQEMZxKZfdxldvRTSkiGyQwHTGdYJ17yiz6vW17leSTkEoZFMu9PQaoAAoTw51j
5aQ0ejkXZUpmXpk7twgT5nv6vC/qG/PXGfh5FZXnPLlOVSaeQd8LQTRrMivjtZ3hBvRQdmwTkPQ6
Sh8D3wW2mzg4m5jXw2l5BYnSBl8wnknNAFia8TjzAOVMh71XHkZ7bA/WBGYAuuh7iQzD9US6db2f
Fq870j7Nk4xMRtiJyxWf9L0rn6qiX65qz2iSUnv6TgcXyMElY7tPy4pBypAveiQZc1366N7W+gl0
wdx00Ogu53k6HtZJRjczvVtnexjULp1L9ARad/tJtut9aGu7ZXAjJ6txZHo9D3N+9GdaJ1rprslK
ReNZ5jbi/MGFyWrcy6XgZdmehiw/LuDY9rC+Dj+zRrkn6aYSGDYNN6321U/au0QDTcpiQERHYqMQ
X830S7dpcfQjzz4Obb8etT26Z+KkV49gwFx9a16rW/5w49JFb64v/jSQ3lQO9fXi9+ZDUA/lh1vY
ztWsK7bTLG1e3VA7X5BkPhqYlGJPmLwYeRd3BYipm8h1ya5BPkU8C2HfVGEXbeilUiDIPmCqxAF7
tqt53sOCZdtGBtjnir4/dmMJnLdM4R4W2nntlGndTfxQjvZQDaeO6eapYJJ/iGhR/qESZAlwztM0
YCqTXtiiQY9PAUEsB6Qzlm6NZDXG7G4GNPt1jUzt6aI3h3hOaz3FU1oAfJdpVCV1XpTExdAOS3Do
mLLPccwgr853+YgsYWONdXC1TkV+MzfB+uOs1cA70pHmOTXjZ2e27Bd1FR2KxeRkLGS9FyJ1//DU
j+dJuGqHfjF8WKehj0OHBx6WSWULeLTnvQs7y667Lqx2xbSy4ls1cbu0VPcuNq16mLP9EtCjutGZ
3ydLL7uzdubsbqiEdQ56QbOtDOpt7g673Myh7ABDw33L94k2xwnQv7Vz+Dm6vrp0axc7OY6XuAG1
WgYAtW1/+P7cMO5V9fInLdGGwhZClopKfE5GoI+m6QRPQVvmPREzLmXIdj/D13DwQkiD8YEG+ObE
AxABA9Zh+5vz5Fp51d/kAT9MZHFu+OnBtd5DilaftvT1bx1N4SbPUwA2O/Tuhi7goG9n8Tv7bvEg
BxUkAe3hA5QK7YQZr17Z1TA5lpPvlMuYK7juz6Xb48BZ9Kn0ne5Y+i7Sibnw29e15vKJyq9MBKK/
IDflgRIBHeu2I541ctNDERRbjcp9m85LDapk4BuodYjTPcxu4MVeioabMypcnhIzfSyjvHleu0Vg
0wDVqLeqV/63KzTQksHfLvRcXlE4JMkUHrqdfaluqrzBjG0NHRSUyHhS0O5P04jETRNM0EyF7GJo
3+B2dFwiTtru3aBWodvkbCicidnq/XFVOWFvA2fJ8ylDiSWDe20xowkthmLTwJrc1cjyqNa1s8e+
b5AISAOxQMSfZlnjqL8It3f9rNadM/Hl0PhcHxv8qkkWevbWKFpW9aB2ThUdH595AQlpZuWrqCtj
U3ESGDGhYJ5MWqui8Fr49avmM9kG3sztgL+YYDUkQMuErGYjjarYt1n/qYtOQIV2HzIM5j3e6f6u
aHUfM4LbB5vkypvS9Z2XoBj6gysXBQt36VuYGyb93lvYbzprZ9bpsA2mEqWHV+pYrQ1qNZHBh1sM
s229fNje4u8XU6c7WJyQ1TkMtgF9OUmVWwVqfPjiNdLzLgoN+GIdDdf9WvgQJnBDIiWC2dIOpWEQ
Nz9Nir5Ol20Ujwh/NrLE07JGYbZ30hmgyxTFtQi8SW0GxxF723F5KGXlJX4fvXgy5E3gfi7faU7p
bus5/PYHszvbWnAo9JXJzWKXz5z5E732YJ7Dk0kI1KO7NEAFNIIf0zEoqagOitMCRnaubFjzoZqM
GKDnVylfEUQ1qLPWect4m5PJqfXwqNFnwqt7+sWb0xyC04TfICIcQ3IBUONUdX9NsfOSWKnNJpjy
6vslMXw2yVS3ntu98/gHx7VZ5oSNTR1m1ZvvlK1MV0umoZMDtEv9IMznvDNQchbNA+NYEy/aVnx+
mXGrvX5O7CAMEhRqFGZXZQHNiBhWpoPcEGjJXi16vv0cSWfnrh+j0CuCIN/hteiqbUCH2nYIO/a1
poluEP3nuyFgmjZgt2P6sn6ykPb2KQK0yjJTHRxzQhXhj/3J5xqqYdq0fZpoEDk3s2s/SHtxj3M9
p3vHSN/SdLD3c1YY5zkb7c+07fhlOyznIpi8I0UWeu+aMjsWXd3tm3oSDzRT0wEyac+4ke2kY3dy
pu9B5UvN9+Y+RrPdkjc8rehrMtns6X+Hxu+m79AZERGz7d+JMl8amOXQOnsiyOPFg5FqHcu9chH7
NInqx+6TltWZH+HIHlFG0XcxWtWp7F3/jpxOhPmF8TaKpTwPLbSk7dqUuacATkYwDVcm5r09qN9y
s+bGSOFJVcXDOqxvjsiCJFOBEzvu0j+qLuqeWq26ne4c90gkp51o7oZ3qasdirfN1NUT0EkWuxKV
hWGODwDpwOC9425Go2tv09kqtpJ6Q7GB0ObvrusuHlTGcWjZtxBAPwK+butOcto1WYsSWB0hwhMd
LtnGXfvqqlkJQMq0OT1N5dJujWmRT5Iy9k0g7PE7BKMCdFu7q3ZpvG2wpPxSSBgIZoh6483uC/9r
T/fqVBxIdv7OUFHyeQ7T3k9l+bmSi/es3WLYcTCk526cslOF/JPACSfa+iu2h8Uqhk8LXcWH4fah
z5vTp4mazJeR72rPp+s+pKLuHimJa7NN041y29Zrm6Rzn4jZaLdLpdKTNRE1Zg/28ohRciFDznWS
YCmr+85qkEIVDZp4uw3zWxGF3oE4NGbvzhqvEC7MD6vX1glVNEMy2W103UNKvbIqs2FmrqO+jTnD
cpc27EFNHgBtj/Zwzq1puWWDfg4ctewJU/WIDxZjexaWfm4oMaL7ZW3jyQk/J+nZp448bFQwAMsQ
jwVUJKpI3IYPZOh8eHn9HaYiBwqQ4KuENQBb+I3+pccI6qdQ48KhWg0Ju2rFgc+OQVqf+WUHqbNX
tZcf3SZqsLZBGaYbmzaeNpa9PXfEwPOfy7I2DosnikPo+MGNkVUfhl7QgK5k1B38SNZnJRd0USFO
x6Dpc5jlpoJ/9e6dwpd3VlrDcAWyu1/6laqxgJC6BrYOyx2MeaYKvS9y46OcwzxGieUdvAbqpLhk
R+5JTRSnMvSyBFLUSRzB4UDo6NTeoF9+Xgyv3nduUx4rcjPjqVoxcq/eu4d05STV5LzRxKpQ70zZ
LprTF7+cvyThfUmhlLtFEIEZsOaR6lInfaiL8GB6N3pFcOHL5sPwlbxpw6568DqfizLsEsQr1ioN
fIPZSkY9qncBd0E3pXG7lo0EyXe+Gg7kmNv9Nw/93eDtRXtvOv1wYw91f+PjTlxHX2zTAHViKLLo
2iyXr96yqsRqJsDePg+5u8aK2xbcrlQBK06lnPA7akli2wwBaqpsdf3t4pj9bpY0VS7gFLR/IQLt
I9R4OK3eaHgrY6Z/QnfMNDASRL/+o88ReGv3RXbXooB4z2W9/tpLXT3ZJkKMYBitB4QdBQfRWIG3
G1SMiyl/9YzeQVGfq5Xx2FgSRPeoNA37kI5Gc2VEbIDbyrPL+6Gc0RKB2bbQfjQsfUU2/ljkOs2W
+qj8YEHBotOWhGXXrkAeXFoxOliuD127+wVvKhSX0dxlQHPHObLlYaGlCnLH6s/kgjNSUkiQ9lqd
ylLbM1RXCu0uhH4cEd7tEXtxY+ky3UaoEp9asy4Tpvrl0KS5iC2w9nMmTUEVmAniM7Hg+PApm79C
alMDWEJERQRE63yFQwrQFlgGMGKxGtGtnhnEtcijfYTY7qeFY2UdXxE62VOx7SdZvbS+W6M/7MBC
4tGM8sTzW3uPi8AMT1lYQN+V7BbXxdJTAIHhUqK28b17GQzclWQ8DGwTvz0w/s3o5jJPhD+Fv0EV
IlEb0e2kMKL7VK3+DdXyQD9SVo9a2Tb59xGo5JAvXxHK1KvawE7YFMCHk4cdJ82n/HlCOAUgNenT
0DUIIdKo9nd2R8CWRTkQ3wgKYGOJuuse5SpQfI7cQJTBQ2AqJCXGZG/yGTUfk4q5b+z2DfAx24Oe
8pcKJORrNv2QKaK+InMebtjB02cFrrWP2rW+qteCUvlQspQ0PKCd9JcDG5EdW47qrqKxksnIYvSy
ypX6hn4auIcswjQzX1z5ddFfTZ3GDBDkaDlm6vT2YaHETZVW0ec0gep1fp9uAzV3h6xgmqmneqa8
AobjatWTfcCyMTG8+swzEStatqChnAux5sDDYfveee66nTkLN34u53MgMSoyEfnZwWN8oDABdtOx
JEqjzBv+UJ42y9jt6/oNuFo9zD2yj1oa6akl/mgbOHC9qyXk41CN+jyPiCkJFcUzo9hJnGGK4MBK
/yGwssfMbNO9WeXwccp6R0gz5nHBZRg6XXpAMVvvK51aR2pMUXC5wsk3tfDdR0eE7XlBMcez3xVx
y3sEtuNFvOowWlnqg+Qbs7+hPxJcRfMwpXRexizJ6mWISBzY2NpfwG/CPqP01dG3dpuKD0pYVZyH
E1txzuVZNxQW9osc6bsP821PRPC2iUSTkD0p4tID1RAks5FoxZkLXv/oIW1PyM+ERxSy/eqpzGAf
yPVBINyOLWMZT5O14l6XujhWUdjv5BrNv4GX8i5E3KB7rh864rjKIVc1bRpGP+FJ6fNVbLHjcC73
sgSqEctrH2J9Bx/+Xs1x3E4OykrTEUsWk9tuHFy//cjsFtoSgdEW4Y7N1FkKjUeE/g1wUiweQTv/
aG9tNqKA/hwDam5zLbN9yxt4Y+YrbqPRHN6gjMttXeAIXVlWj+YS+ldlE+YoCdLqoyjK94k2zwO1
PxJ5M6aOtF7eDaNesca4Htrwnl439LwPBQ4GLPQlr/LiBV6BeoSyGl+MvA5uG/5vr+l/qVLt6f9Z
wf5/9an9/6rc/xtWqV3aO/+jnvb/cWlo/5d//fd//p///s//9ve9aZf/8W+1aSY9Z45lU6BN87pz
aXn5W2uaaf+T4zihTS5fEFh/RT7/rafdcmlaA5wmjTkw6TTH3Pm30rTonwAgoiACx3Icl6614L9S
mmZd3Jb/x4sHN075WkDWuhX4fmDzRfL7f2dQ5V5X62jj3Ko8rz/NbTkm2Fm6rZxttbMRZt6ISaAe
yrxuV/hK4wQos//EB25d/pF/+CIc+CvH9eiWg5T4hy+iChuKoHPMPqUk0sJZaAdEEoPzsc6WYIwb
WZoPum2mL7uiuxluW5sHNYWKFOOhks9k7P9noT/hXwljf/81BYh6vUvjsQWJ4rveP1hgaaSYrSgs
9KFu6AajXz3UPjvkjCRgyFr1NpMFejdW9QUWL5l3ULuzgUqAVcI7XALyjwuhzMzQFszmrjCMXrLW
Vp77qb1W/HpWiIzTzlUK7zvQtbUP/M5gVxrm9a1cauQTthi/SXPslk1FIRqyKcepwsMgKFiZYcbQ
8zLUtde4XuYpNgYneuN6D89l0F3ce9mv44cZ1joeJO/eVToVW1liV0zQJWhscQgI/KuqqO1pU6us
zVHitOGNGdEwxu5vMc7MRTiDYAgg333tIS5FnbOO7YYjuZ429mo07VWB3vInCFNOlh6yiG+pAz3c
kvWu+u2gOofWoLERepOlhmXs4OaqNg5J/bpMm3XL9bAU+qdEnrGpp6B9Fw7y0g2KOHoirUxhcMuU
p1cE5cV4Vqmq34zGB1qK+sjKY69f5cfAX3qZ/GrkFLrDtsDkmPH1eGKcIhQgjXKIQTEb9O/+ikPG
tZeZczicP40L7bLJa3Qh21CXkFF9MLvTpgLgmqDjXLQBind63nb12H2tmLHw3FqXGZSM5bk5546F
orlvAlygnde5x9Yd1/aub5FfxVHaZZRoMi3eBpTj/gFBHkhbXJD2V1g4kaCm2nCTVKTmcejQ7571
Itx33a0oeIpp6s6u2xWwCRXKr8m3rReCC7IB9amR3yOxdr47V7k3i1HmZSIdrZ7drIAU7NFtW3g9
hcl0jhjwRkYmthkSF+yeHwz74q4qtd7WcIl8/ojhTqTV0URGzqoqTyx3sxfX/KDpvfebxt3kg7K7
uJut9WtsNeLfEdkds8jIP4owDhlNlAX6qRl8XobITI29509Lt7cntDaJ9imTj901r544zQzMRSni
GiScgV3EA4+fuLSjuYP7tHJZwkoslZlvurKAyxKdv4B+Tn0wnkJ4MjcBiEHYMRgNLCmYc3EzKtWx
SIl1eGz8Ga9GVMJfozsOl9/R7dYzeBzy7CUE790SI13XR58NP0jWUUXOzqQVedpE8+ix2SHcPg/s
mt4980QBpz+rSsK2LCEZRjiHX0P4R3bg7AUR0o6m1j8c4oFgZcowezXDZ2ZMj/kI6xmYR3STXw0C
06Ozrua1ru3vgdHW767G1LWvUTlqgGQDPfAcPouFgcRnM7V7vN6zD6jSRXpj1lWypMjiNh7vlCSF
T0Tqx2zm6/aieecDQpmDwOOiFw2uG2uJW87dxFfzfTBM5zwYrmRqYZ4wIOKxR7sA01DqA36UnSPs
jYW1K+5MwJVGJpl8wgL7MBZ5UnvDFlRLnYMZ2U6DtJO4DB/hEzbNBC2E9TtId34LzfaEcSwO2ZAP
HuP2SLRpB4IpMO/pKQGKpzc+yyGB9FWHLg7brMO4rzz3KRQp1KOndn5kwbLRRkdmNqaUOuBTNsdg
W7kRiBywWNF2ACQmxF2X3WeT8WDWBDsbLRK5NbqvQ91vK7JioKMQUCKN/uiU9UfmYXNv1ZbYEFn2
2qviujXL2wCj3KbVQ7EvaTkGN23SuEaHfqqILKrwjeryDt3oYa0xUBSW+bOK39a2RLy42MLLGuEY
ekhMz3aen7Jg7K/Hkoev0Eoic2ye08a7ifpyZ6xOjn6jZhJEUEIx7joUie1feDZk5f2g9NFzoBo6
kn8K1bf3PR26aefce2BayEA+p3m4Embe/OL2KLZWKtf31Jz72Hclhb/KIk8Vj+AGIWO5dzyF+lw4
D2ocLil9uJin5RHKpkvKNHyCZN0tqnH2Qnr1o4OOxqYxITH1FjVGDVODagba+FeM1AQGLuapxtpF
1ITHjZXygFVti1XeGY/RvNz2GINACVUy4qRt5Pqq84lqPsAEjpWz49hkXKjHlBMb+1m2Rabt8HOB
0KCbavhcV3njN/mt7VbGLlu+w+7HyqJd23fXUY92p2qWfc9+eA5Tpx4OGqiNw6xHg6itU15fpmlM
4VGT3vbwv/nGkev0RR05e0AnHZzO5rOhMurhqpsR49jHbOHwKRvTObMRdtvKnLqXVE3QYtfWMLJl
mjxvlrduTJPCyZW9fhdVprExDOt1Eu17NItzEN5HNtfL4PpnjFvnsgyQp5VQmKtE9ttdFTZ+y8B9
d8z53BdsdCuN1wz7FQDWmu1ylqHsQiAfjMx4bovyrDGsL6NgR3SjN2t22r20O12xvYhpZ9K0sGMd
BraRFBIPjWtXm1wO1TlP651npfQm1/V+roPn1C5Qkpj+2XZI9CK14Tlzchw5LBlo9pHLAITuG9zr
e2qck7DM54fW1RUo6oo6YhA9ZsDB21T8XB1Mtmn5ZDgo5HLxBuhwvAjFFBbqaQrHLXCAv/XwQnG7
e2rjwbYbCBpG+342+7uQkiMAKtNoHMIoAmdPtQeeu5fIz2MLXeomWIts21nTvrUrxRYe7blR0BPh
iSdogtrFl4XeeeTLPSq9aDlNRv8c1Qj31Yp9CQEfExJck2ERex/gs8TGcjL4bSpoeQcaZtON5L43
/fk6T03AN6Umgd7Le7KCvNz1vrwSneuS8RPInwW32tgB/Tmr3pvrWCXaDSkE56ALClfizQ3U3l4D
oEs0YgYS0cq+thfFneTpeooxWuttK1KsB71vffMN3vqdUmAzmJpT4T1XjhgZXcLf1uhwqDijTbS4
M1+xue39tZD7wq9OS0NDIiT7afaNW8ax4BUS5Q+Mxalrx3QP2nGdiiBEYTLOBxzdZ47f6g5XYvsd
hXm3mcv0Niw9JFDQOBgJ4rDvXoDFdms2s+mJKDqbgrOBORRYAsFg7XVUNXjI7NJ+1y/kBHjVb9+X
VJm/USdEOrTLUFQ2dVw7TGkicXCNZWPzJCt9tHJ/4xJs6Ct7+cwNMjE9oe4a2eeEKjRsn8JLNxp5
0GLprSugprIz0CGa9REcpXupuL4gDXBE5NXP4gE5D5a71xfsCKX2FQXwt00XZW+VA1QLhZAETdWf
zMYmMmKhJUhlAm45xPMBhWoO3nJqh9W76ovwhCZsa7jc5loVzwGE4+OCvIIxtO6blxIuBki5nXvS
3ZBd/zEu4b8Q4nSq7wYl83uN5byJEYIg9aRofOCOLhxn7yKJJZOhhv+PvSkICGtrjPbJr1X4ngez
fPfqQvTxYvbhbTdo4zcnxGACKOCNtyM5IEBwRuBI5p3CjSvUVvMRlvQvT74McSmYgWTewoJRItvq
1zek5uothCPfB46hYetZ9QmJKr9g+co/BD3Mz21aoixrxhK9il2uZ0c7Cqhz6dxrs3EC7DUNiSrk
3eWao3Gq7IzPMsyKJBoCF0WQweQelsRhognynWMxGAj2Jc4qRswCz8p+cXRzrOqoIz7HyBw8IIMm
b8Xohmwb8NE21xgbS96XgMiBTdrlATxO07ePhRqQLgcuhX67Np3bT3deze/c5F/geg3kqyUQcsRo
UGGFaqXMY5Ubxe0C6Xab0+NVE09RlsaNikIikIeQjXm/jvSKYuCKnqdhFqTBpeCmtnAK+7SELcoq
bSiUjRO5tRUqsYyPcxa2c2SClTPxHQMAclAIPW3KApvBNkRLw0ZjhlSxFUtzCa6whR33hRHeyxE6
Zlch14DgSCP874a5cGYwIlVolgyeuxoEerwanGx9desU3ahJoMofq2qQrRVVNt4vOWRW0jMEAucF
FRjqigeIgMBmnsv4wqSFicxm47EjaCPNHJSrsOrJqGETQ4XApQmM8a702uyHN30cY4c5II2V2QLp
mpStfo2KczFGSK73xImoPysqI3cT6PlSm2wNPieVUirdypUySFQMukBuVFgGnehDpdUGca3O474v
cJyMwl1uaDaaoOwqvbCfFp1rbRXD8FcbeWOPUW7Jjdsmd8qXyk4laG07IbaqFLk7W38gEPASMdlk
mxDDkzqklp++K30RrfcamsdDlyRgURixYy3BC3cya+VXkUmbfOs6xcdcVoUDYaZdloY6Db03PSKR
26Z5VHvbwh6n674EJ0+gO3zikwZTGbs+tUJYZ6Qr65tnFt6jj93BTMpKsI+0E/KuDSkZajgYUzu3
iWJcejIlYUNt7pdfhBB471ljIQ0ypho7KYomJKW6G9s/rQyJgTR6lX50zrTwblui+y0DLbLYI4qb
3tqluej2vfL9f1F35kqSI1mW/ZWW5pGiWFQBiHQ3YQZbfTHfNwbiHuGOfd9BVpFNDzvEsNM/0NR8
TP7IHERmT0d4llRUkpNEiWRleMDNAKg+fe/ec1mhEEMLjjcu+iVhsZeFI9VJL53qC2oC/z1Iddba
2hxY9+jW+uxGGbZtr9ZqNwdwUBFRlg0BGhZ8MtVrgCPxzm1rpmtRXLnssHDV8itM3RyC55G4Dq2b
o2vmKDR0OWrhOrCbpunXU0vSg4xVPSCzj5NXANWJi+q8d89kOE+wGNJ+YIiB1fOZ6y+dZzA95eq7
ntfVb02Rf8q77KqI8rb5139eUI3ft0ocnTBJ6RhKYbaWylE/9pAAI4g+abtmL1ODWGuFv92ntbVj
bQq8v3+pH6lUNt0YLuXittQdaYH0/oSQGqLW6YxCNfuYP+JJTGQIQ/9kCO9yFalbyoV94NiGMD7n
vMQDDrasnst9UJvalk109GxsvD/52n6kAH67Cq0lqkc6X7ZAgvTj16aZiSxrB9G1a0GaaNyug7FZ
SBzvVmTdRxwf7kymGn8qF/LbVU2OnjbXxCxqfsOyfdfwSykWstbt8/2sONYJiOZQpuI8+gka8I83
SprKBPkgaW6a9md6dkEqTDcmIt9HIYhUxLv4y+SY/AQH+De+QssRPA4OYTxSfetufvdhNNhfjt0b
zb5zQjxWbjbdKV/vD1PsUiv6oY5/2E9+kkfzx8ddWo6uTFuB5hD2Zw6261QFG+vU7A0NwFNN6bwK
G2xh84DN6u8/7j8CFr/dLCltgxA+ZZq6Up9YeTJGeluK5SyUasW7SmL6T5bVICVo8F5fM+4KKWTz
sIElljnjn3/ZpCVpy9rKMW3azj8+oHrU9a3G1rgXpMUeY5f5kx4hrP/7n/GPT4rF94mqhBfasngy
f7xKNY/CQL7V7IkI0bfOpJ4ZhWZ//qMo/jEsxSWgu336KAHnpC6OctaNMefoTiv1EQ38n38yWDVo
yxuOsgxa958WwrYZq4nRerP3lUXXI2vlqcvi4aC6KPkJ9fEPPXNWQtsUjm2bUkpW3k+fKLJhvuQo
4fY6p1DSiqKCzlA8TPqKgWN7q+EuhXVj46IOJxhlq5Fe1FcznmKG4pw3qnViu+PPcuH++LxyDxll
mMrgvXD1T/dyjlsIoHbU7Nny3pwJRTOSAKWcLxP5y7rJWTbTqp+sNJ8Cb5aXhIs6PDvsKVK37U8X
xUig4+Gw633J67q1gnK+sLKxPxqGHx6ZKRrXdQNcyihajMxhiFepTOczKD7GyTRT+0iqQYlboBou
U6zV9OAyEyjbFAzbChntT97o5RH4ca/kbhmCBCm2S8cRnxb9MaVXJRHc7l3D6j3lQ57LhlolcCv8
8sJ1rT+Z47Z8PS63wzAUhAGdmdJCY/xujQSTkBmSfMZ93ubGLockttUB+O0n/vRvr/KfGv9dRF9q
Ovcf7b/8MM37t3/5YQJ4Kt/zWxoY7+3Fa/n5T/7wg82/ffvPwXvhvbavP/zLJkeMPl137/V08950
afvtIr//yX/0P/7T+7e/5W4q3//1n+EY5ZRZN+9BVOTfT/NY7r9b1Zbf5Pefu3zN+Llf//o/f/3r
//71L//nDz/z+wjQ+kUui6jLwE7AmVjCXX+fAVq/6ND9KQO4T4ZuOjy9v88ATfULoz/20G8bAI8M
I6jfh4Cm/IVtD2qSjifPJhzA+TNDQC7141NpGGIpQhQVlWVLIT+vwQIrsRYkGvoHlJEoajcGrfZO
YldS3XVe9pBAX1kzr3REceGV0913xa7FOK+m8Fp0zNtjDtHxedaiR2luSVNjuLOvxYOJnXWBn0aZ
vgkqxnWc7f157+i4oFuMok9zeaEi1AdceijvjJHGQLLuz7TyC8wTF5bOtA/u1Xgt0p1dM3lGW2ev
Q6hlLbR4+t+F0YGYQjVQYGhJd6pEuYdKIATAwf/F4M5TuEayzGOathIV1tP6PYUjS528onVVUvy0
1rtVXOFAX0VVfdvnMVT1j3mQKFWephI2YFa9wYQBEDkdNIwhVmKuhmBfS6yGIsP+SjeGs3vyZks4
nGgU7AiPXQcBPlLIYtfFQHt2ApqYfDHK8ryQt8I3dmH/OprFg3SgK/nDFkZdgycUh5T/QHG2Rfe3
zYrwLKg4e5vBVh/1g1b0fIntdtD7bRHgpdfwZ9rlfkAyqI8f45DtkGSX9vUEVqg69CGghOK5C844
eSFswQKf1OupvsyiioQ7VGAImAb/S/bNRLqSxj4VCMy+OPOd5r7qnCfb2tzoGTmf0xsa01UbRFfM
bu6otaDT7iXYDLhiO9FM66WJFM1wE6t1Vw40ZIBwyvbC7+ma66h1QsC+JEzonrv4+GY4t0F3Gpmu
RdYy8xi3CdreLjR36M7WJU4YpEIbG1SJib8AXSkgaTigA45smh8a+h2n2oTVKzGtmNN4dCJrLc6G
PjxGYbOLZ9Isuhi3dHRWQrSZaXuz/8Vfc8sheyBAwDEwm+DcjbypfhFj5BkMcHPaISn9Hi1HwhKY
u5FhhpJk8TLgUcz3cv4qM2gOqtlphfAYZO6w64Au6M9sDvo5gJMyj3azc6KtCndoQ3AeXaf0GKiH
vn9GqooM4yJtfD4ovwNvwnLFQL7onPYLfP4Z1KgJ3if8AmEeYsKZxwEOyuT1MBgq3janBHBagXAS
S2uZYDd4ItLiVFyZWyua96ATFsgtv30AfnX0onb0cvNLlkT7nNPmasyn5ai8buGJVez9ahg9RnLr
1L5SNR9cnPf6bZng/PV/Un7Znyb8vy0wUrANcdSxxKKB+H4T4qBlLAoxwCjpRzR4oCDvE1xhA6Ye
NdAquQpMc+Vquodf7twio24Cf6z3mHbmcav5w65I/e2oym1v6ts+gApoXWUEGFOD8GM2s4q3HCks
ZkTHa99DA5goPwO8SwcJZU2pJ/CuxxiPE3dl9GdFeDNXQKjoL9ImmxjcW0ygbPOFUZtByJsjHiDu
UzJw65cuE/O/ke7ZfK6sryFu5zjXzlRzVmWFlzaHOHw13RWEs1WfYAK4S/klcgcTDuY3pU5NeJO1
01qOu++2mL9x7P5W4n1XS/zhS/1UbhKimiWFxZc6p/eC4CuLmMwQDtA8Jqssf5lKHfPHk7L5Unb6
VG+m6mdltfm3Ng7EBIqTuGVQYHw6oNCn1hjAJUQ+6fbGhHGAFioZgWFdpQib1Bvzn6xBpGdvQMkK
Zy2NGwtYnvZU2QdAgUlxYqkQxoOIznnrNZL15FngoFkHxRDR0d8j1WUx/ckZ+FMRtnxxruBgzxGY
39z5HPOi88REuovSq3bfujb1OqHg5JyTMP2T5/5TPfz7hdAlm4joKU8/36Ggw55MF5xGMEIAhjAo
zxn47iJnH/wsQNOx//CxdIoE+h5oaBbByueYi8ERo0bNy4hTO0c0cIN1+gANex9kxb5XvZdj/MPr
jm/KfCJsjv0XrvbiScJ+iq57uACmvGrzGar5FN87jVjpSboNoB5OafYoMIEF7POhRrWKUSLNi9uY
WJnBfAh5eWnNfNUwXLD+M4KvDlG/2LtZzTvGdiADmi86IlJ691ez7jXOcDEyCh9PlriumDDRYwHd
cg3hElyH9Fz1MUmTBpqLFYrul52slqlHP8GKn12UFeVLn9HsZeY2Qjm1oJQPaFrsOt2DrQaDzBpb
HaA8eEzd9kG6ieePTLsKkHTW4c5p7DVPBS6o0Wv7Sx0tS9GsgH57cASoVYwV8Xzr1r8T6YFuPRb5
vZ1fF+bEql5uBwLOdRvOMl+D/dwH+B/KR00+LNuwXSc7OT2GllqZFbicbN4DeV331m1pT+sowhCP
FAD3zDh91cV54lQeBt1VqN1NZFDgg56c7CiyjYrlcepgErofDvIavgJTbLSKZNf8tUvAk9knG710
durbfSfo5d/07Byqh56gPQZJ7wmU2OwAWfHYdq5XOXItyKFEMr0GxTLonhknaw3OXVYAWnAQ7IfT
bjYnT3EUWrqwFkVb6xzBYJM8NbJ6wr6CCWo15xXDlVqBKkJKU83moZ2zOwf8dxhgz0qJPLX6wUtt
az9akde08Tou9hMf3kxQfrC1zV3HI/XFYCwuUv1s1jeAudZutA/rXZAinfB1Godf4rDyYgoek/dk
kY4G7H0dwxgmsIHrFVa4sajNuFweYg5FeQOECKboQ2LPx0EdjWaXmzuM6liEkpWvHnTkTz02XVtd
tZA3ndneL1uqyawkG2OPZKadltd7gSAjTdXaVZcy+up3/jVAFz+VvDMt00KXAe02M54cHXAeeNmy
C/bmaO0CSIO9POsdiscJb3DsHiR89gFHSCLhPs5gi3zMD83NbECEM+972V+YxDrSejnq5c4P7het
FudNlCzIX8NN7KReYiDq928SPomjXYW+vta76wpR2GhSfQG8YSZpiWM/URKAbh4IbXGaYwM8VaOK
NbKPblDUI2D1C+Mmt2pm4czyMoIEyo8C70QLB6VfxaY38G75pr4ayBJKCDFwgyfSN3lWYy8FvFcU
xiF0ryj/Bud9xinmkBeWYsknNh1VUuWcOkkzdt6bVFyZySaegXs1tTsZPXbjnTAB49Ekc4fwFrkY
8gQE8Xm7ro2TDy7TLut913zRCu6XxRCA0TrEqGkYjjQRbpeScoibTUffPGuY3YcoZMsvefNYJuUe
D702JSdLkVLTPeO0ureIh5obfO9VgChhZTZ7zb9osEo4Dz021XmxBQcfBnqISU5rEWFCxQfAMJmi
e6IgnVqxKiRnC2DetEl4VK/ShPcFdp453aCoBRz4aBsXActs0z8y9wA0y3MJW7Bl+G8pY53TiJuM
p0IcGzh2kne+7/A2HSDVrHwN3qFxpe8ToCyWtUF8XmnhMWhYY4vkgYSCzcDs3onkZjlKMBc72SAK
VTVtzXzeVVgaJIFSJgDDvrO8DDCclkaMgyesFg00VGcdqHEfM0NI1QGr4AoxEUUIr3H9EtTT1s1I
lZI6WLCHLr7X8w+0LNTQOLBU6tE9OPgTtVP80NhiMxe6F9+m41fJsacqmCIjduNb0DRFf2Q+hoBr
pA9kIayvteamSuYDWF34GeFKwUhT0T6aB0/HjhjgZTByNBbmuIEkzdbQoPVP2/RODGdhzVOaHnrn
rNJedZQQy6/SFq2naySyLEzUah0EE2wBflMcYg6OfUt+GQa5dnReW1F7Jk8rztNpLDfYyVZYJLY8
SNuQqjZAoNSxDyWcbJ063QRS0hZ7lNNtBmnIQYEzJ8Uxdr7q0B1Z8jpfP+NAjlwG6SFih2ptvznz
sXf3g8WsTy6xPWd+e5+IfTfg5Kt3Sb/vxTMW81XSnldRzREsP0jrhCN0NNbJcF1rXkQoAP4F/2i1
5+Z4OyWryt+nVAW4+OwacXuboZxzISIJWB7vzfjkc/ai9nFl6jVM8ph7lolcxWo3VC9z/oAudIUI
7TKr4xcNHEQvqxcFWhv3zDp+qIrGc2DpUN1jzL2r7QBZHQcJHlomCisRG6s8EDBvTgle2GEAllKi
cirxV3H+bocKHQGsy754cZA6MiXUxuqMafAmnbcWZ9hkE4jxTi8Y9lz2yXNvv+i4T/VarS39I8Mw
MEGERZYPz32Vjjyn85Yp2ArlKbWg4c0vI6ko8D/9fO1zIAqjg4mcSfM3DsIE0O6+hbtFyNVks4An
rEQlQtZrjH1eDFpJQWJZZJoGj+rYoXfi6FqqVdx7KH5WoC+50S2T6GJt9wE06WPNYirLHUAMKPz3
s2tdG8wYRyw/AZDppO63owPX28W2wFKPymM7cbwKy9sR7w9jc9tljOyX53p627Art9qwcgY8DPYT
h/tLEzdqXt37IHQ02BlmdtAs8NkGOowm+RARsR0tslGy81wAsQU35lkD7UPsA8I1Xrx0XLciv3Cz
hfvCQpwA0/M5zt9hHV5npH6MWbdpTM4rPNaIXxnxy/Xy+bFBbsowWIHHWCmAA0UVoL2J76ICkSLm
DGdOjnPNa40uDPYhAWsAOpAy58iBXAPWLCShwIPWu6l52GO8ZCPfrsknlNCBKqi4hlFuFFzblC0m
7eVK69nPiUsuoFjlYh9m8bEVUABLDP0AWKeUSq44gxCfm8U6TSyKkwG6rWSOPV5qvMshfZXW/wCg
5zUomMPc96Bgju6xVEtM5BJ4wmdZMO7zLrA0eEjkFhpyt2g8HZiokL7OTU78mh+/99DfkCdhYil3
tVnuLZR3mXAuw6VKMZsTppp7sxReZO31KdtOZOYQwbxWguitoPAK+uPM/L2keyC5AFd4vFF4N5mR
9prpqXi8TKGm4/i5KNtTllB+ZPVmXE6tI4CBuLrs6uBg1AnZAmGL45hCovvasGT2Kj12vX4IVLB1
rIHjar0eqytyKzdNButBzQeXQjR0OdAHGxuehmmHeCrBheVwFkE7jcTIj6SIcx8JT/d83ChTBpAM
2trAd+RI3IbalsW4FWemAGSikcmroUhSz5lz27XWYkxjoX3iabb8tT6JnZU16HjxHmrKS4IQaeBL
A0sl1LK9NXFULmaipB+g225zk/td3M/5PYcCo2y2YoaFmM6sYdu6fMWbhTzpIpu1p6BOjp2ln1Xx
U0C8WEJJOQACnS5MEpnIEEhP2kAUj9kc5nZRuQ27xelrpcee0gll7c238/Cf6j7/A+aTf6xB/f+R
ReXvd6b/8r9+/ev/+PUv//HrX//917/8Jy1qDCvfd6n56d961Lb1i+Mwx7csU9exs1r/r0etxC/M
VegKY3iwHMV467971M4vnPoV6K//srb83qE23F9M28Y+wbTN/M318l/d+d9bGzT2GQnQrf9brQ75
bWD8380O5WKCsaUjmClhpbF1e+lEfDfGwEMgGqmxReg5XnzNdN6nEFqSICnDikKFM2w4wt4Kjz42
+yPwnucEUN/WIURSkKC60eu6uCgUAMxV4yuJlYG+G0ytLrGRnwiW0A590lUnO04KmCptCuoWQ+dV
Esum34B+khWxVHVl2Cjj4hHjxBfZlFb9Vcp6PJvZiLTH0qVl9Fgib3zqW7u/aC37zQb1f53mxLms
dN4JNqcww7qmBJtoB2qyUoAdoUkCitcC5zq0Jm3hLo4iL1GNB67P2RaEOtWSM7Tn8DmceU+w6Loj
mMkznbI7lo4EylGn+rEP0bXKamBH0aIrm9EqWwlVs4iqy0zjo2uVeRb63ctUq8LrsEKAkB3BVVt9
dt7IPFpoXuyu6UgrCUSE2ql8hi2o55uwMc/0kF5/moiq2faIigAMCB+0MNx/PYNrJ4uHhjZ2TtRS
0+jFWg/iQFv1MCg4taN40lW0UDXIZKozhJ1VkKpT1joO3QT9A3PvRZw1w21QZZd1NzUwTLJhot4V
dg2I12LlaGNcogF6UBRsiX4A6851keOHJ4OzEkyANMzem6mnUKvASAxbwutpEI5hS9GRqainl93I
Bw0ODvzrIJjDtbmgDLFGACQzBmdbdHIaHibwPrdYW2EBhcMDxkGaaqoDsIOgON52wirPJF8bMY4l
qtXZC/ryqshJL530CnSeYRsezoWt3jeAGNgYpN6InaQ7qQxW/m2YdlCa3AFSHDqhFcoQ/ZTbHbmb
iVEMuIx4ZGCytDK8CnBps2Mn5jAcShCy93aj68ojO+2ykfbeb+MjECFUh3YAZB3XRgpTPqzntFol
MI9WRGGZMHBot/g+sN8WHMoqtIqhvE4z0r2OZUjasYfibqi3IFAgEMrYdGqA36DTU7B9Vswegm8m
RDra2NGu0QIYDIP/4mLcWNNuB9ZQd73yZjluUIJQkVlivh1TmdXESAxApdPuTvdn+xR3fUDLxDaK
r2OpInS59GBaPbdOJnDvzoczQYbB2TAHndeWjtjmFk3XOppeoj77QBu6K/XiGJTt+TyzfyTum0pM
Rgel3aJGdBcGrv9gDdSZE1TlrcB1NCynpaThPYpwOMQK3gtE9FHL3g1epi3P9DQecTyU43qmWFIy
B12R5PmtNbNdr2y0dRfzCKKcjXIRkhR9NV7ZwqQFDISQhodJPhxpJEFBSycgJWKc4+aoGSK7wZFh
3wa9OFdGSUXql9p0xKB95gdDfFaYecPeXi2wxrDDr7GKVC/NLeZN3OHUeul2Lopm50QtxPjIhpez
G+O5fhWVhofItNyF8NmQ0rGxolEeIZAlDOJSwFgNNu6LgJBnA3vAlF/BJuuKVQn4Rtu1ttTf+oDU
zi32k5Ezoo3fYo3mek32l7MlUjH4mONJsc7Bk8gyWuHzkKhrbQqo5Cst/XAHK35K0Sr5cMbCHn88
aBE0ojFqVwcnGlaeMLqBX/jqjol7rIhu9JoUqHG1WJM02vx3SRoSNKv1DaMjAwREFNRerDswQIm1
wu5A+FZ9mNPCFfvKLV+sWWuO7gREyC5B1yyqTupZa0zjXVv6HK+tujKZ1Us6ErJq6xH4OjkAfllr
a2xOr21aMrgBMkMFiMsbsAdVOA6raR6LZdJYI07UEh06wKCCeqYe19GCd3YGWsoqn2K7GXQwxs0O
h1/tDUFU71Xh3JlO04XeKO805dPXDRpczC71+31gGYQs0PXRsA6ruHJy0nWdne2aT6yv9bEBTHju
wskFe5w0+2AqL+xMSUF8mxAOrLSSNu60qtvAd7ysijF8jWrCdScBeSuJj3y26zNNG07SDWE5OeC4
kCtaBqrAzHAteuZRpK4TLSuP4NXzZ4Bi4f0Mmwt6m2E8m5gLwK9gOwxLzgV1Cbaxc1Y9jEPDQrqX
6NY1EbhoEeewuvBd+R5PyVfDHiRaOwIOAFr44jKNY8IV3YAAO5bvYgb5nNWdhH5FtkPsWDdsUc4x
IvPOqwMLw5Ios7s8M3KySJxsY2qiOi91d1pAtag2Z58sixXWqfm1KIH3tyTyNDoHIaIUV5AO2XKj
rDkOBeMcI6poBqDQY5rTU9PXNcQQzQpor5QaTvTUh56TuUtPqxnOC8O8EGN547f6zOy0gR0PLkz5
/mOVCxeGXJzBr8uVu/W1fJfO+Nkx1AdYUSM6llqkdy8zqW93beRoh6glrW2ucNAsYMsOVn4d1aQY
dW4KELfO73wbAecqDWdWTRfEX3GtIeBcxcLkAOEHVQMplG3sdWpLmIAcSOl6WpE93RpxhOMyihV1
OrzILz2yxmprIcbFX6Uq8TB3TnQ04e1uJtwXj+A6TOLK2+iSRGM2lrnx8eLRzTBsV5yPEaY6EMPn
o2OjyYXrB/s9lnBElN20z4ktQx02pqE7W9qF2ZWaOtOizynSizbJVHsmdA4hqwaLo1sZ/bMdJLVx
PjbGJVFSxIGnBXRAYlXjNP+Sxxyx+t7Egx4mFeSYvGrv5iihz8Co4hxIPgdbNAdIacxxIiEqiwmc
jO2YJq3p3pndyHHWCeglKSPNtzFbJYqDMTqvQvMmIniQnsWEQXUTNJl7FQpuDjAuytWVnw7pW4AG
lGA7pdPTiOayRipuNTSlnBKbIdmTGZ8jMRYj5SKiKnftqJi3tgTHt2tdELF4F7ST/Z7m/bWPZB3D
ptnaE0waKiuPO4jxloScsniwyqVHEo9NQTIOHDCIIIO4KOEGZwwgICZchqYj4I5Cc+jw/bcuc8RO
Y3I8GK6v9nEdARwQUPYH0mtUU+16Sxs+Yt2GiKOBv4qywgGn4qZ7CPUGc9EgGCFw5r25bQDrnojt
IE3GJMx2jIPzqcCO1sQlGNOif6zDsN6WOgHyE4tp2DH3rDDJRrmF8Av5QzIyrUjjkg6apeKOW1WU
j+gzEUvgvWEwb1niqtH987wwpm1ZSP/Mz4ye0aujET7jdMm4m8tOE14QZjRBR86869CPptLrRwkp
tCKt5aCcIjoOcYhvw/GrfdsZKBsEr7wepe9pxFQkTkzjMhK4FX1SdBe6ZQAzSMtLA/hB3r/B36g3
JpmPFyKDTqCAEcZ2GV+HI3GTvAhTcLRM60wmuoFVjK5QZ2bWxWTKcOd2iOthqgB/RoF2jDQI7nFc
3xuBAoKHBenLTLaSSDJymsamebCHfGRiGzvmGxj/AQkpvkZuLKrflDabO2jXHDnIe4vyiDCrofAf
IWKMm0Qz3Zeq0sERhiPxFUEPI+SeldvBIBD6xnGiN78pssG5D9mnaRGKslEe3LvhDYhJdG/6aQYa
FTYkKUXtzgevFizzDe3gFmb6GkKVoCFEGtDKaPTyy1yQtrRBZfuBOKeMNnmM61rrAFhNQQ0ibB4l
JK+OoKMYR2ygZs9l0v00j332lViDfjr2c2ylMD262T2gN0ZVgxe78sq5A/8644S8I8uwd+m2kZ63
c4yMHuIw6NgV7XRUwYVjzFJehNLqApgUeWTu6zhAxu6aI92dvLLgldZBNa7jieUK2CfJij6jiNbj
z/Xm7Qg0pj1YtRvj9C2r1kWh4A6mwVgRzNTKdCFf7ZBuEgeQgcfLNfZnaHQA5A1nVG9xD0YlDfFG
b8OBim9AWaFiuskBeMP5lkgBWb7UqU19bVX1gZVgyGgXVjAzIWjq+r6LENifYxVHCZ/hXBMdciMb
CVB1nYpo/JpgaAHFU7mUoWS7yLsWVBWFZWdL4EG0BA181NMFuGyruWMfYZ6biqD2N1qR3uqRkRbH
FiZTv1XGiCd/1U0R6VZ+3TZfq1C43XYYypOLaQSbeHYvMMiTgaEjOSGG03mURs/KHtdpNbBPNPWp
tLGw+WRPvmV5gTK8J+f0ubdS+v7h0Adym2QV9OKsoaDK6vqqLlCoTGbovkL1R95CQXw9zhWs/Em1
7aYJWFK8vpMBrrw8oa8US5/8utDVernJSJ1GNFSUkbbFlATvSRfc+50YkmDts6ui0WmTONgXs0/G
hjG3yt5WQxzT5+9gQwfakFjbllOjoqnbVNYmSauULI2ytR58LaNdWaX0QTeEHWcTrX0lr1EtsLeF
wRh151EYAG3u2wDqch0tb2qWZR+1zwxgS3yMfk8FQxe/sfqlTIIClvfYO+GPFW/jtAR+6JCXHxW9
Rc5ZfQhYXFhJcZVAFEt3UeznVHFmsc0Znfdbn9TF+EJyUgOV28Y6G39TKvHkutD/V6VeahdpBOIY
6ot/WQuN7iwJW8V9HoREk0xB21+nvt6+1SjRwauY/keTV/020aGq224ocp6WkWo2rUvzlIqhL7ej
XhUB/2tjlVFhEF8KHJ/DjRxIBwjwnppw5KXoPb8QrbNpI38RyrtTVFGTgoYlJoH5K5wlh9MRvscc
AowDA2cj/dbyt101dY9jWdY38HE7wq7nIdqb6GPmp8L1hX8kI2loqOsdkmhCo7EIJpPGha3N1o2V
9McURsBOL6lqVqoajaveLXFOTv7UNbtQUhWspilNiNNwsbDos0meOnjX6DGeWxIf3T7SkkOjC0HR
G9IiTtI5CM4J8eYQNNQjAZHU1LozoeqJwlsHrMXkjRVK1ZMJk7NYVfqghoPWC3tED1uU7cWSpVhc
Ef8Aw0pzYwO3PKetL0Feg5lOQkF6kxGxlTVD2T7DWMV42naaOhtjx4BOG1DW1CTDX5OYxEhtdDQI
QO50o1DrbTtHREwWaKDGcWRdEgegDnRimitYA4h7NGCPqabyJ9vsgnNKEOfgcl65rXUzfEmBQVA0
pCiFsKAxUk5NHyV1H/YVMRNFS5QlkaIDverMOO9LXVDmkGygjLw5CneaT5HFfQjH6LINxYCyseaW
sxx4YK6n8NI2IevuDV3Tp9u0TK2PkIGjeZZUPcg2F7PcHrQR+a2F34Np63jMay9XgcqvnBaaUYI3
HagBXAR7zN03DRYEfGYK/YRIlaw8ryveu5NdajLbDxEpyB1xON3eImRNmIPv0cW6JU37FlTWY+zK
r1rni8chtXkn9epuLEoaOFp9lUv+KpFeDyLYA0Hng/vxdOqo924J0xuQacgLv8z2ErQIoVzBQwux
IM7lseqzN4rWVy2urt2mvKkN/T3T43Ojw9SXxNmmaMZXI0TPaNktvOz5xo1TJAZN+lpliNbQkz2C
FiMZQBZXtVMQa549y9q6jQSE0NSS5wWwUFpqJtVMWJyysTnRuTkbXB6yWp9fZVE8FyFqUMeOJI3z
kiY+S/XCFvlSqcT4muoLRLhFHNPWwetoEGqVJ4QhlbRoXPooKeBp2QErbfGj0zQylgemnZj4MaHS
G+LQmHrtsxKGQlZDUp+pOnna3weTp0TvyZSK6a43nIhAlqwmhVGzESShBBHxBwet5JyzF7EowPk7
BUBwgjzLudrgiCf4ewUaxgruE1DkG0FsGRv0JWFw7HEm7lh3Hk+ycvfhrG5o6lwUen4Ycob+MX2P
VLJu6Zwp5FSgvIUBWYnmMGi96flGvCWG5gwG3iUBFJ6f4PKdFVE8CTHSKg3PB6UR1VDGBNfZxUn0
KXWJap+ByMzE1EbdNqki92BgqUDZUZ4ouJq1Rk8glBDtMwhzG9G29+5kX9W6W5wW+zwRBXdi0e9R
E4zVfdXKDwOw8rkOEe049BxzadpUZzCD50tdMTMyXQMmhL13aqYVkhkvkQrvQQ7jCvP3q6n0Z13h
Lh/S5AAMLSJmKLjqx2I3jMZl307WjZkqQBpyYlwqOveY8zQfmkLL91bO3qRKOlR2h+6Ccw/xX00V
Hax4ArHGqK3kF1wGghSux5Byde3P2kD6k70b0/Sy1jH1qhAmv2xsj0Okz8NHtEqhycYkKIN77nNG
nbP+zQf6St42B0EiXdEXpDOYVpjgqCHH9oBx9oRN83bOoFKQMTad3KQHy2g5BxX4D505v0RFd8yQ
me3MZDrRTUCfUJg3aFqIYi8hFfZxtCMBbGOWutzHuqWfh7rVMDRCRIUpmeTUqJ9PEpPifgA19H/Z
O3PlyLGtOz8ROjAdDG4mkGQmmWRyqkzSQZBVRcwzcDCYfR1ZCnnyJRmSHBmKkKW36dB76AO7/3uL
7LpV6t+TQlZ3VxeJTAwH++y91rfwihCYXg/cTqze64xI5DsOU/nOzOOxbKjP7UZ7rjOqX80imzKt
KntVKDmikVZr6DXrJCwN/bVDRw0PcHrfWPmtSIJHtMGV5/IGp9qgMaAGXzPaMKmr7q2cyjSI447z
imAi6d2bFrzlrozMgmoEybabsZFu/cGeQiImDHGCYjpu6IBcd5HzZAT1BbCGp9KWg29rzGupi3pk
KLCFnMJ4JDKUYX88Xzk2wrUJaiOz3e7JjWAkmqDd64zspK52AIKknUu4DdbODfttIo3j2lyCCfsw
E+f0+WmUElsQFp8NPOPZlwYr7RlyW/cyrrT5DgCfuqqrCFdJ5Bj31pzMl0Qb6+umUo8u2yw/EgCl
oX8gl5uUJFqTfTtg4Mra40hKASTDCYZ03NgbSKzTLUgfkowrMqQDqDobAtQ0BJGNjd+XhgauTF8y
GyU8r+JNI8f6DoFUvmlMAtmJNyLcBKpdWNQaOBqEel1F8y2BxJiW9w6pSDjz7kPq/FXd1/aFbIjT
Sqb+PKMg1U1c1p21L4yxWas8VhBgYka/LhFuVhINvOLse/C2JGy7aJOKWGfSR5Fy7jB4pCN5wYOL
vInOHCiF+tioc7JNW1iLeReijgKf58lqUfGiTDbybm8bdCfQIl/3ifow1RZu+aryTNpnF2lU1V+V
mSog7EdUGGyePKcxLzFsoQGIRibn/XawR0gBeXAXVv10GYaJRlxOajBmZQdJ2EZ7IjmZluFMkodB
lDto172RDZ3fwPK5jGVnPcZ19hmMwCLt14n0c7qHWRuie0ZBqhfVVYp+Ck1iMqJEi1pUE3mxJlVo
19DhBKRR0yfPi6NOVOJq7MuXUAlfqhY/fMCOPhdj57nZ8JrykJTI2UlGyErsAaB8ubB+ynbSoL/B
lpTfSoA6j1LfEjwXmg3aRaz07Iq/4Dx9sqfuAFXmTLCObGMz+8IGhxc8+EsdgHbnRKcRwYHQpocw
r9lBh/2DZVa45uALEhOd8eGdNizWrkz3jmq/zM4gvoAcPItGm5jJ4thzQh2NTDp+HFz1VG3N1NqO
abCXwfxVVxE8w4wkfW6IDQyO+tiHWwZiOaJ6dBAqTXNzA/mVbOhxij1RFmXoMV0Ldj3L1CdD7U9J
B0DIqZ1PdpA8sjt5Neb+OiVGeFPr3RV14YRxX9DR6Y21RnMEER8dG37nnWN1bHgCLl3TzM+myQLU
J7V9qG3CcEtzLw2no52gmfpzlmDSXAUq0bWb0OkkMMp60VFJgKiM4u3WMxv2t/FodSwsKZIF+m32
9RB1XE2H3YKOPPASo6zjj51yRgcGyX7klicCW609QUDontBUPWuKILelHVqX6MHJ4akmpeBaMIdS
GDiKgIjYXHWvqLgK43yWQaBvA7MZc78aOAXrgDyqT2Md0sMg6KHEVraTYQHYeCYh9sExVIiYQzZo
eDFCxYLHNGaVm/Piy2R5LekqkMIlBEGoDm6OsksIfyOzxO+1BpI5O6kBdbmii2xNPDErvpDOrmHp
eE1p4e/Vfki+6lYHkrkbNPQQIs2kyopgF+cOGold2syImHptGEW659vZ0XVUk5y+y+jQbnJ6WxCU
0g43hNVP3IVAQCpAQusgdp7I59mn5kir1TJ5kRIe4VY6WdKJis5elBu9SB3Usipdd1m31ZXiiH0e
FMpncneCg0ZWIkTnFmfORIL9ENBq7nitzeoOEzq+91D5wnJzVcyGn9kdEYtOiJKdAAdPkk9aBAHx
k1Pmpn4iO/2L0IfI49ExvbGsy1PNzoYx0HBdB0kE5ScsnRWw/bPKyCvqb+6wrtqQwRMKRiaNUOgv
vYIZmJXksmPrrFtsNo1yoKbAfEM4aYYCuZJzSzVQtEYqebjBugjCATc9bdFwU5kyOFVzmr4kwMzQ
5kgxaquoKC0fPvDaIQ/pr6sd/s+kDP+3ee0Q5r+dit/VAd/x2v373379z4vd7m//5re//dfffn0n
Z3j74d8FDYolftGx1AkUhgbxo5pAMP+7606x7F/w4lkCF7euMrDTOOS/oDcd1A4CS7Ktkh/JVAS1
wx+iBs1GIoGy3gXXqeoWBddfst0hqPjGC4oPVMNuZy7ObgasGFg/SBqKWIaStYTtT2ChFJ17bEkt
UZroE9F0Mr7NUG6r9m7S7TuYaHcxoS5+ZaBxyLIZwb6JwpJCol5FyxBdssu/pGx/meCj7aKIThrd
iQuN1u0qVqR7HeqaShjl9DOT+uKv/YcyQ6D8YFCrWVgI8axqBK28V2YMlcnglTEyqiECDuHttl4e
xAeRq2wH2PqxgpOU980l/44gZPELvT+mg6VCY8qz+Bws7YOxIkQJ0hVQ4P2ggnJouNmrbhdPcA6H
nzg4Pl4jFth3B/pgLu5dJHGwsUJqyOyJdibi59y9//GX+d4xOAi72OXuMhfhzbfSlq4n3BNzFCCj
SnFWzdAOHjEt1U+cx9p7r85ynRaNDhoelXvXgvPw/jBI+1XmdLkCjx1PQJhlF2XuHukz0jpvTkzx
H5pW80lM0TbJrN3AEzj8+Hu+96f88QEEE0hSbGFrfDQLWaUEkpfEiuem5WVWDul+7thIp7JDNDcM
f7iR/7lo6D3b9o/joT7Cd4PRVP9oDI/prrUzLwovok+2DJdfIvqGKOydmdmRfV24KImhcN+IPnmV
Vn33468rVLRUH+9SFwIGuAHqPZWEr/dnnBRlxZyJzvJjt9pVor7KlJmJvZVA26vmm5ReaJwOJLXJ
yqC4yF5MI3k14uyy0tGGRDkJwukUu4QeovCAPWQeetO5qmNaqHZ+SXOLiA4Upq15VcRO6pEduYAB
EQPSX00w74hgl7ttdEg1dLEaoFaZwclZGpvrKTBuZoaSq2KO74RWP6WBdd865k3ZiBuHiQWtmPAh
MYB7WSJ5sSscL/XctN5ytKHDzLB8DFAtGGcK+34oSzqZo3bDjOAl0AAUur366MDhWMnlfwlEnPhe
x46WWNaw2yOP1GqRR7OvafHQkbRsTnrqKZM635gwNby45VdXyJJIKbtJWqbob99MTxj3yHq6MOtl
zaMB6RfKAOXdrtM9zZRTiuGDxIBknPcFObrDSMirUna67wrrCqEAA2dhPSp2Wxw7qg5v6lp3XWqc
OdiBEGVTafCNWvdMD8pkVdT5i5XZV6N0rkTSleeMdOd9lvbuZhIOsBFiKlnD571DAbC2I+wzwgjj
DSMj6fHmudIEVFl9Ymw9KuwbZtu4qdL8JZ2MT3qs68CW21OAjN/PbT4CiX/Tw3JdkXxeJp3toJ7O
ouveDci1s7HIVgiXRJmrbK1MhZjYBrRtiyNqXE7y22kcTXyrCZWnF3UheqEQjYhK6pQ3GTj/C61w
zyaGElgM7Cs3ytwz0UzTWT2hDqii+MUEXYVXh+pIRdy3Yk6j+60SEXbbGvN5WYqbMrPERelwK4yM
ni4GTkNkIfBuGO3hs3InyHUB3iD4Nh4jFh0XFP8ZFLzi6Ka8OkN10iN7+/bZs9AuINHb2yKfl3Tq
+XmQ+qsVKPf12FebKOFxpeO1FJDRK8M/+k7hoK/DdnIXFbj82rOvo9M11ajUsxskXuTDlktulMHn
JqFo3qCfO8GeRQiXWJDONKaygB5b+ticJzci+xsNz3RWtDyCdtGdZsENoIj4VQnN4oyUyVM3kuM1
OhYCESUjETznYhYNIaOtG1c0ILQbV0NigmNGx0lR89NBcbk8NKrkFw89fymo+OPlce8jlAyTZCgs
CYzBzRLwq3vXoVWTvkKaa1fZnL/EjXUVDdqeseR1rbr3OQHJKyY3UEzhneHLyN0zJuNI5QdzIQEj
WWhHsowd66ooQPAVGTGmXeFeaZNxwzATSYEVvhiEC/lTiVcuC5qT0MtLU6lOCEn4UyBtNrBDsKBc
MA0V2Rq/rnKfkJiwj+wIFG5K1reQyyNqz59x4Vrr0XHuVWRTXpAr96q+7Ir5EyOEDdFmL0XIIwss
5L6NoMEui2/X2SnszOaE4uKGySUPrc7DUSw3vspAeqUxUis6BfGiPghy5pViZZgsGehdxh2I8HGH
AQVNjKUYyBTVDhueGV0ZZPAG6Je4nHbLpREtH1JVlGSv0lFgb8VUT1bZi+iIcxWkCxGRSbivUtew
b4FjfAYyvU3NBdhc8cS3SXNCi/Iijf7U5M2Jnhzn3iz1NV1YFmWb+wSv1oLMjF6zuJ43b8+pUtn3
eabOZ30C/TNkjL8m8KSESSJ5KkLyfBXJTULMwf04pdxcirtz06zaOOWU3kpkdp+kHbDFois84X8N
viJMBBo7Ggp2en4qUHVCvnMalaQmPC9EQdqhPKGBuyyN2LkvyQ5SSK7JhXZmtPT2ENQO1xryp6VH
MB4cg0UwGYhcauBCbUluYw7bcGsHdcdejIuCU3IJOaFj9zyNYXQwnBw/Huv3OQNy3C2iPFkoCnhs
kFtcmgGoUi2c9VtSacgvkkgPLqSN1BapB9GbXaTAV01pBiMp6pXz3OQjgxWYzkJ14kNMkpU+N2ij
LWkqYy/XXVql7OjjpD02GaLOVCkyfMPi2XVh65m0sb3BbR1Pjwz1NJqmuGjHutoEaIseNQVbrcMw
Za9kpiM8NYleYOCS86diKiIiHZVOslw/dqcEmlSz4uvkafuIEMwvVZWW4M/BnxJw2rKgI7gn2C7z
x0lvvUBDGGrXUj0xV38B50cSGIsTM9NxZ/DCdkZ+byWb09trkXLyZgJD7kN9xG2pLu9FWgAX+VJs
ABO/MojIWRc2j0HFgmHMki+Ui+bCJDp83bbIumQXP5UFK/jbGpHGxK60VXGHqe8lRN+5qxhz0STT
4w1L/PJOye5pFmSYg+zQW9ZjcnExHpXxa1/ph8ro94yIP5tR9lgQ/5ZOAGnnmSqhHSNqiwKzXiJV
GpiE6610lrjNMjCn6GAkIuI0ZuKVTxdjraaXC07crwLCiIixCUDWtls9BXndynyjZyq6zVGMB33g
HULDZNwxxOCtmHbwLZevqRO6zULFCkx//6mPXags0Qv6P56wJn6tQv427XUe2qXAeCsXCq05TVb6
UiecTSemsy4cgtt+XKm9t2kvhaIL5A0AikocAvyipY77RluO18+winHG9+CwVlm2cj9wJBbN5HWI
GwgSqMHXugqd9MfHtf5UklsqO0BVIOxTKc0/FojjVLR9S6fDs215HcW213XRzjCRIqWZzUB6CYUu
YhrpuHioR/ZWp3zS7PqUmNGZjU4VmD3v89k0KNnSBE4kIyNG6wmyiHBIGS+xcUPy3G6DTv0snI7c
+UA5stu9E1VzgVuwooknCK8OH7S2/5JgydFCYs2WOpR4+deqSZD55PGOzF7KtEyOV0Lp0l0+8SwX
JPKtDNvaDkvtPsQ8NMs9B7TsChBjtU6MSUFfwArZdtA+ncqiLxTz3hSmQdWYuTySQzuvBweVdw53
Yq0wU/d7Rf8JsO1PG1QL5g7oiWWPLSwExu8vLwEOldUi3/MsnSKEkSpFmmZtyW97TSpWT16srz++
sPaf7igOaTMa4bAat5TxYa+l90bRAWxVvGI5U1wcc+uii75BpYG7oJ0ZlNjbGqb1Os/MMxk4hO86
9/rMgp67Ul93HRsAbeadu9RM6kAJtFzlhmJgMtKXkRxHL2cNkYWznWLptYndbMmEeK2r5mRUVDr9
zL4mMW5Gh3XebQlVjGPMUMtrX4/QwMoOF5xJ6biUm8gmr0gmX9Yrnk46/XB8MtaASKodVRublrea
TjaVu551h/xwHhGF9xPcUOWcrBp+shBX1czfZCN1GhOtvS9dHc9lOySF54a8k9F4jrvf34zsucKB
F8MwYQAm3go/pNs27lofKhbWnHdxpvNWcEmNXgq71mOr8tJbQ4ofWbsx4vqUWnOHAa8NdmEi5qe3
y/f/nUQ/oVzRZflR1s1/+O3X//nWd/t3v/36n5bEm7/9xw9mIn7B7703odIpA5sOmBHgHqMknrnf
W2+m+QvgRAEvxDDBW9F6+3vnzdR+cegOwOZw6U+433beDOcXg6qEh3dZpw18SH+l8/a+4QIxT1dp
HdH0g7ml0TH8QC2ZIzViChapPg72+Fwh+/IRQV1+9c3p+U6P6o12948m1dthYPRRDJkGjBFGbe/X
ncKVmjYjuffTgC3OhJrct8h6Qec6DcfJML8M3O/nsiF+kznSdLCSsDofUy19tqBa7NHkhYlHwA2C
JBLBoLx0GMiboP7J8vh+rXr7mILuhKBTSnFCVfj+Y8a8nyiZC90XhtmClo8KCpXZBZPejV/DKAv2
pM9Kr+M1+pMu3keCzXIh3vp3LgQ0U4iPyyQhukM8OalO2nea3Q5Z2x0JR1DZviHKn3sohXPZBc85
8ZL0DNTuWCZRezR7pA251fhaJqftjy/ad24NgTWXW80Cm4fj7f3JSCLgkWpfaP7U6D3WWwXgQ2bn
+ee/fhgaDhqVq47K3PpwmLolH9dsCaIvo7xBi4YUVgg8OP+Ko/C80HmC/UcT/P2XKa0KcaZTjwT/
sNBnMMw3DjntPz7I+7fr2+1jkSGkqrQUocS/1TjfFE9BnQ6Om8aTn8WBsQfFMHnkG5a3ektYiDED
GctcM/tJM3M5P+8eLVaQpWTSKdkEj/GHlqluEDXcSVDUjM6eqN7jw+yQzETaQvikl0Wwsqc037S5
QaKeLMWnH3/lP90ky9FZQWilMp5kjvD+vFI8o/ytXUDYMjsIt4SfFcj+9scHIQjs45c0Td1eqgec
l/YCFn1/mLBiLFdG+JLZCuPSF9GwTyyCIxACZYiIGIE/BiR1+Cauin0zkBoNc9xkjZkzL+vbr64+
dk8Vmy3C+lScGivChoensEcjkgUC8AJ0hR22AjSFMSb/ZSruEziM6Sqlc3dTaDOSg2DurUdCNQcs
T6mKJSlvBVPVRMa+FBbSKMT1EuVhqPYPfYPHuekM/aJtRHazKB3XCXiHR8KZ5rMkIfI9MLPk1a5N
eguClBXZkxMzcZmndcqi7Ce1JXcm+6991iTW2pgmY0OpCnyjzr6iFa++9iJhrD8ybUa5PfmDSuw5
Q4LgKh9LQNno5uwLdcjcnVGTy7nqpDF/IUoR/Qw/DVJkSB5ann+ERkoM5rsK4UyFnKkcN3alPfZW
Qv+kK47S7hryFeuMvzOa9iX2eCKarQ7PqE1QhxIQJwvYSGf43LaV5yA13rjZJI+MnAi8TXA4KnNm
XqlM41GEtnJ+DrVJwa3EHm8tCWvN1hXUNr8Z+vJ2Qmx/ao3M8bM6rlZ6YgvhxZA8HKsnYL3MUBxO
Vb1FVoE2pysSVENKetaABKh3BpcQ2sZ4isgy8i2jMc9ENYbnFYs4taeqbUmXsrY4dkCzDI7c9ma/
5I0Z9m01qU8RF+fg2MZmng3QOpbSHRLkOSixOsvv1FKel+CAPB03XSCDu6lXbuF5TNtaVZGB2RPa
knIzx21x2Qvt2ZRIXgIV77gVVOZ5Q4InUkDCuzqAQOtIEFCeorMh9mvcJQl+XgVYxZPdd2R/QLip
SEhuKjz1BUYn0MTEs8bHDKlHm6oXfawji0G3F5riQLP3NrESAlfCuEI6H7oHq3HybamYOjEG2UVU
pldakZClahvy3FT1Jyc5Jyzyc2dklzS7PhUhWoJw6naBWpxEZcgttXIIOEUgkc8FDVzan6CRgok0
LR2JeKpJNmSN6H1S2WZfji2eRyYYS55j2YGIKU39rhSme44hTj13ezf0iITpN1akrIKpu3EmgjLM
wqSvHxnXqpNcQUghQ0M1cz+xC9oIKZ6Mld4k7ZUZYOdoNXfbOrHh9YU+3xK/A4mnlsEhaNgEOKAI
4THLvR5F0i+ANZEp04NexN3lycL24zyf9gjKaA3gRFyLqpXnJGBcTPVwXpvjY6uq5bkTFycg+iGW
Y3GdzMWNgmiY/JVSHtjSu49Qk+YtXZNrROfuocjB5sRDTWKw0sy+3sgvApTTZNAO0EV1sMLxrEgX
dNIcrFqlaQgGpcMvFQFRaw4fSt0EgTlmF0HKSXO1JxlXRAiRK4K2YPKUwnmZsWBorSaRqEHGdvB7
6d1dh5UUAQQxPtIZeLRMM/8cCjplhg0ks1LRmJUnjfnWUUHRrzhwNZFGQK3IyOUc7PmKHJnPpFoE
5A7Q9sa4aUzE8MDurwbgnNxVQEtUbq2uC0gitdqXgASAVU7Y7OBGT9h4rsuyOTrEGOwtO+s2Ct2o
2FoWwUlsdSjqazcdkzNgF5hhbPcs1QKcvOw3zXG6oaO61Wo4CqWiZ2s5vT1O2WFUS2etJwYcC/ak
TsRWHpPtWdt0u6FOXpIEy6jdGzuS7Ih6yKdnWdOimU104RWXuKx6jD+ECKTt9Ni79lWP8MOvBzf2
1EYEvmkU5ovFGJbP4YKCU6MHmlIn5ig/i0ukVvzTu8rFok+5a1ABaLyZ37+rsjZTUYPale8qyjxt
sn6oio06SkTqIrOVr6iuwiW5pJksoqQs2cQ+c5AFZlnSz9yMND5u4zjnXghGQwu9LC/LlwHF0XOQ
UUNvcFAX/iC74Z685vY1NFEDEe6qKOp5m9WMA+q2n8A3utGLEi+cmTadFulaEYKYDAln2+NByZ8N
k1xlfyws8Znx8XSIqwyFy5ArwNJm28lf7UxJyZqpLEhlpdNx4GSuak8ljAV1TUiTfCPjMX/hltOv
O9hDB1WE6KN1GeHMmNAwH8qyL2fSZBjByQA6LgRZvc13cSshFk1zVLUrxxnb3ENmnV5hjnRucUvM
yZnT6rLajkM4EiQ3IIaxe4uJSJ+BTcOLEs83kWoEva/WaA290mF/5bnmUNvocweMbyGlGA22vLAX
ElhQfg5ym/6oKxVd8YamYDEzgy6/dsxkTJCM5+JBtDnjOEWHHolExeCNIiTzsJpuKsOfTHcvlTRq
bbYsI2iayqQJu24DVQxe3S10M8j18tawSiLB8LaaBDDqNmZ59l05mwg1QtZIiyDfxzp9ZBByDZOP
TjeINzNUewHjGoM1QoeJ0UZVVWHQEiiS9EibUY88+POE0yhdiYPA1hOyIAMgfcnG6bGSXLj26CKE
FF0A1C0UGg261EbV15ujhai8dqfzrO+zECAQoQceNslqWlt2EH4RdkHsboYdE7+qnErXQ2sXfzXb
jOU9l0Tc6BUqrJWTQesmoSM37UV7p8ItUIcq57UN04AUPTyLsBUt+YQ0SreIfB/r2u91XhVX1qzk
6aUtGofZF026VttlDmkmdH7VsQm23BZl6sl2nKSnhHoMvk6X8yeX+cDiDqiDI1FFZJoFjOpAgZEN
vUus2my8MdOMEXWpywAGbbQJBjgfmdwXKktyaQfj3SDrFI8gb4NqVYtBx+rEfXBT6xEZemEaMkIY
06jr1pVIMaXOE0P/qpn1kBMYqiP+R2vJC6xDUPJT7oRkwEG8uLPKuDtFmqbcWDhamVnaYb9OoyT9
3LNZe66nDAn/VIsDtzwKeKnEoj9HuTKWnhom8noy6kIniQTHBRi7xsVvY5n2Y1jrwkG74jbpSg7w
mnjJBjEy7w6TPxcDL2rcDyOXK22Hz20sWNyUoMeV2RoRDCamHY3G/SrFbRzajYWFA6//Cvqkg6N3
oq7GQxwmRziliPRF3DAImMtZXjr48J9JeiZyerR0XmGmNsYTz1BLizUApQkOSxuln2k1jCESUjsU
nWGp73Di0c60NVrsYwhvc7WU1pdFugyGkApDnaqHDnpW7hBqt1KMMNg3rjqhqx46iH9Z2DpPg1HU
3Oq63dZ4NlJ5XYYp4UN27KbirO1yHB1m0EPjYKjqnmbVTrILPHp6v8PbCTGVQJcIuZ1TYnpNe3Xc
Upg4zwLZ4cPUgEvcaFqG+iYeCqPbsEyIT/mUYFhk3FWlhN0nMwtYTwib3oHSQNI22V8y2uz+qDRT
fTHOpXJFby44zm6mWzuXuyP2gTOYRLMKYAS70UyAIsxjCB0rjUcWoon7cDinXe8KUIANutuqMKfr
cdDbFoJ0GtzUdgfjqFMZdlGd8MwghbYZ0U9NRgalkirzDK0xrr6wvpr6qqrYNnqdVqsO4SixeWcI
GUaMKo32MA/MnK7B2Gj1WSqs4Aq1HXBnI0tplrd6AmtFLag/GV0sRIGKzsa9K2LzPhsMxA+yrB0C
L50xBe5p18O1VU/Ni4u3H4V+SFzoSp26+YZdRnIKwmgBXklhXJtmoDeeRsr6i8UtsoUVxeahdvD4
r91hoG2C37Mp1u2yWOGichb+sN40n6As0FSvhQlya2SvRetdHYA3qpAQXqKyYloWNYopPLti3uRa
RYgfSxnd26KcDWNdWTXgpNm1QHdmVY3qQok+M/+v7uTExmUdOEX7HIDs2OapY2IKVIvWAe/FIGnd
8M0elTGamV92SV0z986qh0mPCfWSpG7Fq2LgY2ynarDxBya9EGda2wUAOkfzK0KikihHQ5GHzimV
r65Q+owdHzojDxPywLA95M1ZVIZ4UtHW0CzGPHUk4mvhp6m1LP2mcaAZFE4wl5c5hLinuQ+r237o
ANhlogzZJxDohYAUAz+Br7YLD9WeNF5NpGihkh00KscM1DWYb+Q88gzle/qQsWkYEKyPVbgl1dy+
JiggoT0e1bwHMEvjIyxUZNNV2gMalFqPETqkfJmZ9MrsGY73uAkHNeYJCIE/Kq6NSwTpXfSAdDmk
tLLSjIgnx2Wspnek/G6jVoFykqLAqCDXOWiK54r2EfN6d/brKRru9VhBoUqaW3mLTXO5sZa9DOD/
e+b4w21n9XC8EyfPDwPKE+oNXqw2iD6loy6y2DZ5cZxlL5F0ITmg8Uh6r2mb9lMKKOXaSBITIK5d
QglwikiC6YenCU5PRtkNFDKUA+m42ExcvE7sYcKgYSmls/5SSR2BfE4I47GTHXuZ0e54oyuKNEMY
FTKrzwpMTdG9xSiCaj+JHpUc780qTBR5kdt9hshDdeqrlGbFbTMCjPSJ1sCWX7KekRLXm7C54fIL
/LsjmXlrmEXOHa8L3IapE7bGWkGE6W5ia+gwtCsQ+2ymhwGKpCp5HscBj3QBu8Q5sjGKmbcSGzo/
tAFxIVsRt+HOHrTgUeolzFqDF9IIgrgOJp9uJcYzBuHNGn1EZx0dB3nUwNUp5gFRiJxW7awOtCBG
u2k3naYHJ9GZvKlzfAE3WS9SB2SwYEuPHLgrPb3uJLc0RdyZId1aAcE51Y9YqGPUPsk0ufuKeRVR
l4oGmxDV9WLzC4CBtr2YhQdOaATY6rRqtjH4g7M5p7ezKXRMGygHCfqGJBR9tWOdF+GQu9w8ZRTh
RrCo57DkKw3+arc1s69wFFhA9BQ391K9wIwI0Stfm6BsIG0XcfMzPvvHDBWDPalroEUlkNkBxf4x
uEW33NHWwxC3sCmKe90kZxi4bkwGsg1malPWpnZfiVy7TKA5genpGr/Pqx54P6F/dJsYy29rV47b
pkLEuBJov7HltKpm+Ikyal+SGCjqW3/sLw1p/t8UQFv0xF1YbLSgNdNBwOjQc/3BYOZv//a3vzGY
gfL2X5Z/+fW//a///j++Rbx99/f9EUyyCKHR5y9dTGPhtNGD/H1Ow/DyF4pI4dKYBwvHCOPvcxpF
d/ghk8KMGY/1xor7u0RaAfxG/A/yadddiHHWX0omWRqp/2jzEteDHZzfZLo2+m0EskuH9JvecuaE
ABSDOjr2Owx8kNtO80+GH9p7keifD/GhE99pRodDlEN4xHA/y1N2LW2ONHjF/JNpx9Jt/8GXcT5M
nYCrlynhYdGRl+L5IVt/c82/N2367hchTY7LCCXv9x36N+cqLACymJTExwElx4pMyGOwUe+rq3jz
4wPp73vvf5yxbw70ofdOnewklT5GLNdrWJH5vLI34Dndl2izpWezE7tuV10Eh95LVv128porw59w
v3vOJt1aXrlBcEJawI8/lfbds/vNp1r+/zdfn3hjXO/ZFB0b53zu1un5pvzq+v2m8weveR4/yaeR
IkP72Vl/36P/88n4MAqImkA3a5vDkufrNffjdr5MQD8d2wd5oe1ogR1aied+Vex29v2/4iuT2LPM
kNDg0659/5WVWkksE6jnUfuMVdBpVuUTxsNHJ1qZ97z9zesl3dsX2Df/0sjn9y/97YE/PJau3uiN
inPuOEw+hS2O0PnT5/L8J19P/87z8u1RPjyZrSEjhsgyOlrLzmhVPYLIovpBkMQBwZ8QRxorGMl+
8pga3z+uw+yFOtZCOfL+tMq4TJxCc6MjTdmmaLsN8OnZZ8hFkIHQXaJCDJUkAOsmF0m2nsatoUqa
HQ1bVVtTsnVPltgqlD2uymgs95lmXrkdW/J0tO8SpXmix/kpzZ3Ez1HGrmKNhqmuvJaTHZ2zUcBx
y955Mxown6GczwQD+dpchb+/Pf+5OH55Sj+uRjZ+g3/5lh8adoUW2RPJe9FRP1Ouu0O4H2+J97vC
Y/ppetEe0Tde/OR6Lr/xR0f8sG4USThJqc/R0bhjr6ZRda/gdPmMKK6VaO2coAH++IjGz77jhzUh
mLJGNrUWHWs/f67PA38iGMIfN9mlSoDqWnV9eZhXmZf7KBOJKAC1TQUGyj8lthJIzWo4j86ybXsO
SoRB17Xigf7+ycL1vQWEbMUFq8rKTTbY+7ttdiQQqo7P2FzOF9gIveR3Mcs/vdLW916iJJryTkBo
huDsw/08dWVtYIWMj/mKBtgZyP99elveNl8WKjV8c8X/TApC/eA8zheRN113RxrfFL9P3cXU7ztn
Y22ng36nspxX6+kYeoHPqAMgiL1VNtrdeKjPVXsVfE3W7iPAxS+N6aWaf6N69aH/kh6CFQbHi2lF
/BEg+MMzlJufLMJvc+yPd9a33/DDvQy8RVORm0ZHsep9Muu94lpZYTZds3ubPdUfbhdI9S66c7bm
CpT+vGZY4eUbuuMrrNVP6irgn/Vd5MMa834WcPmmGfjRx/twiadpmgtTC6LjdJZcTjs1WrOpO+/P
5DmbjiXapDsbd9pOvUT7d3AvK/GT8yO+9xx8e34+PAeFhHJAQkR8xMR4ae6ix8xDy79uLoZDur7H
K+2NF46Xro/QCT0UXtwU9a5ed7t2H22ai/GmeDk8fx5vMj/eZOtkferX0jMenZyzFUG325dH/bZl
l7gCWfu/qTuTHMmxbbtO5U2AAuuiI0AsjFabu5vXHcI93IM1L+tqDmoL6kvQCD7wJ/QFaBZalv81
8kUmXuKrp1YGEhFW0Mh7zz1n77UPw188xjet0B8WDg4lGGmIP1QI0fvHRyRR85TBV5K+9H7vV7tW
9cFz/aA174OL2xBWB7s9MK9rMFzSr97rn2L/5z9fSX4Zb/z7jocbFZ0Dn0Hno/zjR1CTWFpswG4v
6bP6rH5LD/qXSSd7X5UBoUFMkQyNI91ffPFfHFt/fNdfiou1IwZaq0qgLJv6Ymwl9647krSynw5/
9Qj95Vv9Uku0aCQdcE3cIueKFLETK0K0SXdVEJ1ZOMVfLHq/RRH94ZH43fX8pYJoNEfkloAkpIfR
fvbxEJwjr/fnI0lnnnSeP6VgeZN3nU/56E677pr7lp++/MWv+meV7O9/1V8qDPKzmC2VfGkeynAK
6+0a0n+5JJ/OOd4bgRbUJ3zi2Sk6y6yd4T9/d/XP9kNys0iaRkSDd/KXVasqqpkwFq7BEDCn9LNL
4acHEPm+5KVe/XN6a/zBj9x6rx5iv+39k+0xpf3nH8Iy/3RtwOhqqxayO8v45VSyMKOuhc41eN19
cuZ3X6+nz+dNem7cyueO60hjFO7n7vRpuYfOpTrxSy9Q3WAf1m7i3u10r/Quqid75b50X83wHb7Y
pgwfWUOSzUOQe9tj4m8IJOP1dneBzvcb3c/neHMt3Uu0Yxf2Ngev8pjwu5p7Ylzjdu77/cnaHET4
fp+7F1rpruFuLJdsoVB272e/OM6b02X0p6DzIt8rXC9c/Lvvzd3bw49gudh4+4N1k7qnC0NvV/WE
eyBrdX856cH7I8xn9ydBA+7p+d1v3Mfnhj//aP3Fu5xIzNiV7la4j4XL+7vKRnNfN9EOHfNvF0DZ
mF7i86o4algmvy/vFh/uXvilez0v7tfpfeUr+AfJDx4ubuseC4+PvfM39/tn4U7uie/zBcp087T9
IhyAD4cIxN0+0f3xvl6j4Pk92qWu8O5ofLLSXsnR9IR34Vre7o758MnvEbvIvvnOcLfdneHen67+
6J92vfsYzu77Er4fvK/Z1/hf7zNfSvZWVk32codP3oWXd05q1FyOtym9cOUb5qfefTD5VREg8iql
p/s8dxtev3cD3e1dqD9u8CMwgiC0XQ/Pg+ddg/0Z9ke4u9vM7tv2iY+qeeHo7Tr3LnWJDvWPL+fr
ofDO7t0RPrJ33O4dT/IaP9gf98HD0Xb3jv/auIft4F7bYGcER97Eo9JyvYjb6+eH7XceFenK9Qnf
dFfnjruLg35vuyzvp8E9V26wJRCFH1f1Bu98Vd1tkLhf68bggmr7H4kfThtpr+1ddfPhnp+IqHiM
3XfgFqHJhQse+E/t7uPbb5e5z45r+bg+PGB47vHb8oI9sUyHYK94t0/2LbyNL3OzAW28nI+8EZ/T
q73TJfWDn4G/D79vhU5w/joN3n4IHPeJBU12p7ugCsLv1cu2TXAa9veLdxp9BjG+sun9be5uT/gM
PHX/zNO9cFudLo+jv1m8JWj9p+fTxXBft4TDu6Nvh3IYbHvfcp9Ph3s+ee5TkQW1h/3HPQzB5Tn3
XeH/1Nzr6xd38u0xstyfpR9sn5694G6/cAOewzcuX+n+fN6+Ti5Xd/Gz88cRirB7fou9t2UzB/ug
v19820XgEkgh3Dg3OzDl4rrwU+AQcePNlouNmMqNfV719nqDxxDVl24f6Cl44tP1wT7yrvevn5N7
IHyIC2K5PHkbDLe7x2eiZ6hEgWN498Dmn2S32Nbndl95++4vTpH6n66yv1vffjHZq5JtpnrD+max
vLxKh9fV/zx13DXP/FI8sLvEO+meyqUX3udj2Afl7gdtg2b3YrvHW+0K+3+jedf/t6qQ2F2OuKqC
M+GXHbeG44OLvU3pHFQ7GaalF4X1DkJ6cc02DDt8xlJbZhNVoHng9/9i4f+to/uHHfh3b//LDuwQ
smUyl77VhOr9uzjPO4t1MEwD7RxtzYu5qff5pfmLX+P2or++qSMbzAhJB8fp/st3ZiqUjraGoqvD
/wcoKbpzVLKnoJF+VBZzvmqthRfPrfVXXb4/uwscGpZEwCuqAa/gH+u3srTFpEi88RSsO/mn/VN/
m17VV04kYCXvpEfb+21f/Q81p//L0PXtR5F+VH9zh/b7Y/ib+Pm3a//Rp12f/uh+Tb3mQPdD1Eub
xkn/n/8/ih/hTPm7muMPuI5/+6//7X//z3/5t//xv/7Pf//X3zelf/tnf29C31qhfwdzKLc//53E
Id2CR1BHE0riILZV9Ns7/R3FIdnGf0I7DvzBsFS6w7SK/yOOAHCf8j82UOljM65DnozsG6IE7fdf
KiGkkATsZDYW0mRYChhn5T7PFScFNriPNRp9ND47Hb0YhNKx/4kjPu3lO3ixN02E1GQ5bR9R4hkF
FNfkjLCB5cZaJ520JK7nxStsB5bR3loymABnwLN4W10DcKHREh4rgOy0xbjq85UZjJ5JwSo1wzyC
8DSrMjnHtgw7CPFgu8CI0Icm8dqJMIALwkNlPtUR2DdmxHKigL5ql/ZL7vqRdIxSd5YfvT7CPGC+
s6AzHFfYEkMZt2qIzGUtxb4CNo+9ro86Qg4wR9L23y6GXiqMw/XIwVlWI4ttyPhObgjQkTCifDM4
xkoYI2qTc90PgJC7tLi5qYAYNeIH2QRl/7KKOXrgx0NWOhWDRSSsMqnJKeqEM73knbEEih3HPm1r
B05yvDjEOltSXd87o1E/8Q4V3s+mPs8SwAC3zeDnehDbTLE1ImvZdyBJKYdo4iUhuN3xq3C0hq5F
mZh33UoeCVV7J6LsSIZAGuaaaY+v/S2cFC+WEqydqX/k8B7xroGNBEespaYH5E44IcoO9ihHUYhu
HtsFBY4uL5bX5lO8bLlYNJjnHnF5RSo1ibcjiploGvUOAnQrXqYyWfx+WCTONWtpHWZngHEO4Gzt
8NGTroxivdpEAiVVoMRGBJTN6Po1nCVmdOq1Tbh/iFKBRvSzG0gAwRknAYQiYiK1LlKRzLHfyBLu
iBa8jbojQX3I+KW12Dm0ttrknzLCxtBm4ukz4i63C4Tpw0ijmrXVdK7jIEPXzJKF3SWpcB2CwJQu
w2QQ2KnaCLwW5tL2Ajg+caac4KqpBaGYJ+W73YzJZhZAGDzlFkyy6iIm/09CE4KoCDmLD0yOjlok
RZvcWrTdTNTJC1RFUXmrubQEdTSoEJmRTndAO4jRAHyZPq7tTDQLUQz9/LNS6rrHiiKm8b4CsITf
TEwkG8L4FmUgITESUaCBW0+CKumWbbfEKpnPGjoIpFG9clTaUgqStWzT01gWpFWaJBXIhyrnJQ5p
i0aISDP81zAJks4pyA+TCruvgzId+JRtOopnU8De+yiBQmzkRF630bQYyX6QEmUlJ2aK1G+eYDqX
FTL0kp9OOiaR0DuStNZR557oItud1ax9BtNhJndzQiRy05Lo1yFe2XRFD2qxQUX2PRlCe3FWoHmq
0Uuv4zBAkVSRSkRgzAQwfnUtrk6t07ASmFL8yBmSDYisjptzUIm3RS7RXfJE1fnlk+oWOzdERBmB
F7mN2huLoK2J3EIncIZpaHwrquIVO3gmQAvezLTDsDIugU+NmPnG1Y0GLbdPeq3E8r0MPQzgKfLN
+AcQo/al0LKiPtiIZwD1kd+RbxbJgkcwJCkkW+Jk1u2kVkLx5ghd1BG9d3EabTt9uPkYXpoxFk/9
omJ9yhfyncvRkH0WidjTWjU3vSoWiZJ5BNeRD1EJA3sPWuj9OpKvupo5WE/yEpUwHvCVeJkd09uT
akJDhhv3CC92dlIJr+q9m5bs1I3O+GJDJQFFDio4p2wGBOlbWqkR1JAt1tnSY0LuWgAehP6M1qlL
OtJ4Ca2oRDiqWoPOf7EibxxWAEv20Nogx4r4jJWzJJkVofemr0nSe2910OmBsTRSHSiCtcMbO6m+
jONKDFtXWWsglTMaK8AVOcs92yJY/jGzTlMzGs+RzfJNNOY6ArpfFpWwokbtTpWkgNqb52g23tRW
ZHcMAByaAblJm9oQs2K4Gm6w6ChFc3kV5tIdsxbtH+MD7ErIxAnGKgzlIQFneakkKKJVVDbSz7Xs
4cTMUMl6FH4lAGHWW4YbiboUJPHBqsOQui5Gz/GyTOch9qsR8PczRhpCOPXFkZu7huqqcZus7YhU
R1443eMLysytWk1j2KWp8b4KCw4K7zERAR0T1LMh86Ehnn6ufaWK+fk0xg8+qVWSDgtRB/KK53Rs
Z3RChpU+mP0sHVatrvK3iPVpL0VlKwhXEUB4a/we9yZSTtJWNL33R3mR7wXkCxshiqHfO5bESm6T
FPNmGdX01CAjYXhUNcX63XWK8ZqwLhGmos4yP3NRhPLtYYoZzGIX4vEEJ2cnqu0aPTeJm/VddoEk
XstBNGfJKcY5AfvNHJGujqrV17hyVrB/TlMQqNsJq0f1kLaIn/iXvfhszO72Fn3J7qveKOpq3tbK
thtllCJCG9TCJXFgrZEWVkZyy2dRMrb3zkCLCr8dQjqwKacZdFdJYjRFbWvpRAah2kPg1NkqYcW1
3EZlyEhKrHvLMqaLnQq78vEeV9DHTQMus81Eyjeruk/geVcwslj5tCTxlaTXNtRJMOx6lghEIFBE
Sw5LxIGid1Y2OoaHvd3B6eFaSWa8iwc5EQh4+1L+nISC5Bv4IRu0FxW4JDbs8crdXMroy8nvgj5B
zbSw/GVFOK09VysuUmqejGH/B4p33Q4TMZAOtiqlIwl3xg+41ao2rTyEv1ybnI2Q+CMwSsWTU5TO
HDSSPHReP0WZp2dq7WwMfjKSJcsCME4NVZQvVZWt10YESe4UADJkGFpchJAtd9oRfyaQn+IeCNiT
+JmcIo6J3cTbKIByJl27b0w4hLvaWHFfNMas/8AG1cZbhGktZ5Ns6ceHIS+n4iTLTn6HlwBZMkql
et5WsiYMsCCFeq8mNV18Y3BYuQm4yl5UnnPF63R22qcoX+RHuYZgAhlNd57kduXutRAbPyQJXMUJ
StNbpsGMOkXjaLSXhKXKK/QeA05dEuZF9vaap4iw1PGumVAZeUo+aZZnWzkcF9Id488yjXTTi/qh
aj20l7F+xFY/VAd7lfA4jG1rsE81ssm8I5a0L17JcVdjTqsHUjabOZytmKpExd1LxGkry6Oby31D
4LU83ZgcqrzOvt1ryw4JvFEFabeCLkkMbJU3XVpNlquzkjymscu914OVQZfoYvC2kyzN5cOoobGD
kG7P03VV2+lrTdPldVEqVshqnHvI0rglGDAVQPpcTOfm/Sg1E9LYRKmRuGZ9VAedsTrcvgQEIfTV
YvICsqlFr94AhIHUk5t4jyrjfpVq9WM2a3LR0hHFlpcPAq28bucNn08acqJhp8qW3HbQCVhHmcYS
nup42gI7sVWw8Q4JJPvWnPFWMLZ1xKGVwfA0obauK6PpAYqUCAmZAioEUn56xFWSf3VW10meNYMA
6LpuJIqqSuwVDqRaU4JPvX0d1V5S4FHreernslyJzVhldY5iFNP0eVkjSpOiS5pbkqbdngSsJDZt
Z4y6U6/o4mNoc5MahK+feIuixp9j3sb9nVGRtLvvjVoOl6KPHlruHiMUxJHXH01fgr7xQXNXgYTh
sHmYzWElBWM1VxbJdc4Jwx5Vu3HAsOSa8dSsU4cu3GiTQ2fEFpNRs1jKEJIQsU9RW6awBy17+oTq
aSj7mR535dVNRXTaIEbnqU8cB7+EUqlHg5ILhgG5IUhbV0lkgTKNSecDTDJJ+O6n2EYI2pQ503ZD
Jy6CJBe41oUz7wsE4GGkGTWQXKTseeU187g+9LivAHRJK8ozAL7QAnQZOathyqm8IZOkITk6G41j
VGSKwW2hTiBkcRv9TItcIpt9MY1HcdtRwQzU8TkbwPC9mdKq0JADSU1QtQHl+S6vV0sHMDs1yd6q
VPuz7NE4urMRRXurKDMGim1Pjiu7MlwXHeDzu1ZVk3Rg29Vqtv3W6u7sVNa+W46IlUvxPJyamXPC
zmp6azjIqwRxXtTJYR1bRAWZxPi/IuEeSYc9pSeOnY1X8+o9QeydymOxCA4Cu2JNHf1IaGGlHJas
rPGIwTX/qtUEx5A9kOzwqRdtNX7JWGAGN6tbrYWEmk5UnJNZfi7ZtISYyQqw0BqED4g7FGpx/Gnl
RoMsvSuNF222ez3IZCl5BvsEL52UgPLeJB3zme8stzd+OoyStHYaBrzkszeuXuaWQrq16J+AR6jR
qTB6xwpYlWDbxlJbaifFkYxlY6Vz0TxPIGDTx3xA5+GbGH3zh1leynZfyrC8/FrEnPlI77HzYjcj
2JVP08z9ENQzsSZuGTXUdyab2auGPycOdVNfHvVqleWgpt3TuzgCs/Gszmb0Pqhc5GAckxtbrxxI
HgrXVDVm6HDQ4r4nua+NJ/jdaheWK4lIWW+M2Oua+GFYLflZQTf5hB9h2OFWWetnvZFWvzXV/u2G
+bPvs7aCsw6wF3hjZtrkHmY50ZmRYjeZZ/cibUNaULG9iy0Nt0EFMM7Dv1FeSNjJt1Zb2WFqSGMQ
6YkVtj00ZmUG/yFHufIsyUTxuWoXGTWMsqZj0RmQnGQjJZxvACQjEZPj2x1afpI623TVeteGskJg
PClma5CbM0zeJu9kouQzyzlR6w5vlKGER0OnFVu5WZZj31MFuRUOPydm71KtDdVzirnCbk2Mu0Of
NB6bIE804ERRvCTcC9WpNmBAediZCFdySuwdZHEZ2SPalg4bWK0TWjegbvbIm83CqOrmXSnZ+Q9B
ze9H+HmuBJ2SJ5fNZgcV3TFxDCjNCRhSxQFiLi0O5IusuaYll9GHrRScXNQq7i7CJJYvwb1c7Q2h
z+dJEfPwJjQSogzwd3u1QFBzIE98PKAtxgOsIcALesIQzjC3x3Bm7oUJKhszcqUIObDxf+XrQ4Uy
E+dhkpKJiCi2v2Lqq8noJDpLdcdqhdjSJ0n3tRpJ+xShDTb3XQvDHqW5jNu5TS3nyYzU+DokWglI
j9MLsCWdwd1v+t5w0Kvlw5AW5SpNuvKcLlLskToordBTE8IpbRVp9zwlE6Vto1KUYSXAu4iPw0V0
zoRAzTu60r2pU68Vt8zB1pwGF7V+NoZkL06AdhQ7dDDYOb6V9tKGN0Sc2yezFjgrvYMjYZFG5KWt
XpGbZqg5dt2ZdGnwWCNGSKK6PPCPHT6KJJLyV3I7+OFku4YMBorKVu+Vhir2jkO1HX1XYxa/gnLh
zAkqgUgYUxcPmRqBsu3Z/CufOrCvLkKJl5jQ3AKHudrL8n4tNbkNqQXqHzAFdOu1R11PWMgATOMo
xQQIcVRVTzmn1vmBHc14b8io2Nmg85gv9Wn5WjnYwvatQvyeiivoHnMi1oshb/OrvaqNGeTLLIxt
3EmTBcBpGg7GEiGYjydh6jv4iuJ11S0DG1KbRnfxSo6bS34SJx6kr2xu2Nbn7eqM9tPs8HAF3aQv
BaR6qx931WJJlp+p0vhhzIZ20kwpChVkNmc9ncYfq67XRSjoKQVx78ShBej3Ja4xRbuDOi1Av5R4
PsYjPvy+JXnbK+bFuJYT5pLUiglocmAGdmdKYgvzXuQooTBB6rOwxgDlEY39u5ekvZdrnLj+OrRS
ei2IT0MZRzY9gr+lSSb25sY0BowLVX9JBroJA3mpyRUEIgpubjHtg050e0jHFOWVkcE83ivVYl+R
s5kBT0sW3mytOz22onsDR+2drFnx5M9iwPcGFyMHCaJAsTMyjBvRoIrNvIj8SVoTMgDKgcAj0oDY
dIfJ0m7JT1bzDsW8UJ57IiXUA8gTwdyJGwaPnTb1u4GlqvRAVdCO8OrMsXmr1olC9krnmmSr1Lpy
BjYWx1Ox3kd9kr1LEdQM/9ZuOLVRweHf0cXNm9s7GX/ZlMatlBcMGJrJlt4oqapyh+i6+qrZzPyi
GmrkbmrLaZ1BDMGM6i14E50/jZLMEdGehEhL9WgnKqcki0jLagxRw0vXlaJqnyzQemDtIamtP4WY
IOyxKy3nbCWR2DUr2nNTqVXnNZKS8SXLZOyHdTLp/mLJUhMASEjzzF9Lc2pJ7GWNOluZ1oN8po96
qnujrJ60hNGVa2rzgA+RRcpEjl90iNhI6zLp+apm+11Dn39PnNZONnUrl/Mm0TuFyGfC61XnfiXT
Dzlq5OjWnaj1nlDXJULRmHPIdXVSfZ+X1LTOmqogYMH7KdeuCQaOzMkFP78JbjHxlGmIPI0u5VdG
lyUnQ4fz74Y0ORxMInOcI0V+vTXVuFo2KV3qC4/y8lRGEZ6Xm3uKRXFKdM7k1ujjQV6KjYLiIFwq
OwFWwUgIHp80xkFWafrrbJn5Mcf5ySpodsPskQwj0gAPdm5v63qChjDTh5p3xJ2CjkiTqXhtYrXE
PSjZ/Z2mLv1TUkwyduwVL9QORgTMqgYI72OZjC25PwuuUr9dlWX22xb3JhFkKF7qUZbfiy5P9aCv
qgzrYkfiy9Oi2MP7WNvl6yTk3isTDV68XjCqwsq67CV5NugnNdPwlACS5UAnNzLOlMa2t6mpQ8sX
UecsIctpJYC6SQ7gswV4172OZUILJAADJAc7jf2RJbRbANXDgWYVKMjnIMA6LEG4vK9NFR8ls2RW
m+Bedvpa83IzcegvjeYEHBV3IYJFhUiQhV54zonJyr+GplQ3NNNQMGaNFIJ/lI4kn81bvHfGziS+
5jKSsfuet9MIaqGrL4kGAnLEkXLIRKVaYZVglg7NRTK+K1KJKrcgUWdLQkkdLloUf6fwgp8g+VXJ
iVidmQzyaYlesrKo7uNKykin7iGxRE7b7ZVOi3IvVqUJoKuz6iU+qclqKd9TGgpaofYMhufE/gHZ
RP9scqnbabRnd41pUWynxOZsiL7JnolqWSsVt93YZxsckeJdpRnPY4Qx6p7UuCTd09IU+j7VbFzy
eTWQ2OhUqQI2tM864jNGkg8dGwe+pybOqm16tVaLsNBH/N1RTySpX0iJzuYvxEJtr+iJc4gWzXzB
TyjppFsDbOAfZdJxyLTG+qbRSPxuNNvg7Ah+jkZCGQZazy2rmZuIyQkJWmaLkOb6HJMmhJSB+oq8
4sXs6SdIGoYizuoNoxap4ZEbzPh+zDC4womqiLpZ19qEPBH3Ku12Wy3uxDIMr9Gixo9pk5gpy1bC
IMJosWP7hrKow51OTLtvjxR9xFrXekl3rSDb5W5UJuveSNgvzjqhoIbbdqCAf7LuRa+rMZhib1qZ
jeSpUe/osPMTaKW0bWOhN76K6SNxRaSreyOts/rNSnCcDoZVnKJCWAFe4ubVAaTZeeQsUKGut/hj
RStJcWwpPMvNON3alnKHUXLLQiMdlxyruqsUETlaXZ/kF3O1C0yXyVLtpcYuiUQxa/tD4/FWgsLQ
sHNCe5/9tI7yjaHT9WfQtLKBdxKp2aR+QLZd+wbnWp7nNntLpYNXEMsEFqbjr8/XnhzbsERMv1/g
unysiKs9nlKNfCTVlDDTJ5K2NRzJQW1hSoixZsJrsVwP3TuIfV80UzAuS7wZO7VVIHv02c521kV1
WcNJTbU16XvQFtopY8VCuqYtTRmO2Xhkq7IvBV4uffm0KXKOqdxJ9Hqler5g3dV/xOogtmsjDQ+s
K7NPOmAZbaJRio6GKmVFYDG8ScIua3QUrRWNgsCoh8zLgcJkDyueeSuA7dOpm6aVaROsBQb/2ZaL
p3aIwPF3mvNTznr5IRaGeClwqm2yjLC/l7RXRnpWJW71QJ5Lg0wmiTQmmpTyz1Y3F+KAe03sNdx3
hGVVSz+zGha62DZOnJeEcdG89JyFzhu8eGduqSOS+I6ww7w7FIvTzYekG5OEJD3RXzRHwgxZoYNu
7gw8ZBH7viOZd3ignJB2h2aDz7AajvYCOlGvG+oIwTKy4tCOiUHP9JQSYB6MyvBbxi4Dx6o2isPe
5mFhEYaX4pu5YWzkcbC1t4SAMSsg20pJ3WyFrOALRdLQARdKpvh0PHvSZ2hVmIc2lcvVo8PXkWFC
I7OnxFxqQz9N1Mg/otVu0jNK8kmQCmxp6KBlyUa4W3EjsuTlyYujNx0DGGkcrlqdjYpbESToc6Dk
1JXqkuD+XhgMmSRxX5McsrPfkDhOzZvZ6NI0oD2cCfsxIa2+kVffLoVBT1rSMgOb+1BEeopH/cZS
NyRnSkdvgWpSeWbSTOHE039dwYsSZsf7j8Clb3mZVk+EtUET9dPRUtAmbdJYr/zb4SHJNRgTNr1X
ZkskpKq9+iI73fJoZ7cxlR41OG1zLSZbS621FY/oOM/VjT6wFs/F5EzS0baqpLk39Jipp5oOqsmg
zhSPUl6b92ZLxNs+z3Ridte1s47A2nUO/lYk6vvKsSVrW0OulsII1kfkTmltDW9RRyDpOzTZtfxe
u3ldWIgsjv8ES2TVpgELXNxrzoS3c00cJWXXz/vpq62cevTIvdTtYJoHcFGkMlVMMw1GHQDunegH
fSraZRQs00fdg9naCi6nq+jWdIqMvE/Oy2RK3sRWQ1eKKHt2eK0D/mYri1G8mV1jfpDRxeHMmZV8
K6So/RQLMxRXz4a6Q+UkclKvWtrk8Y5zuLYfMhXAgAFoNGZS2CKsJiHwVECXRXe2DGQYN+BrL8wb
ZCjNNV2RRzYaq6XLA1XG40OmlCh0NYYnlAfRupex7IfGMs7mOe5rhzFlBu2qJHKrr8cTUCLT2YEy
77qNnXe33jp9j6c0V7lLVzwoP+daXdV9B5ANcXnc6weGDQqZrGUL7bvL+1UntQpj5+NsjmImYL1p
brvyIt4iJvP0SX9ruN8+KUo8Ux36zTxNw3StRKkGaDaW17rMORgtqdaRS8JqMe7mJp2UHUi6ZGc2
0mIyraNPAU16yj9prkvBQFDQ7DuiVvXQHAQ5EIaG9X5QaxI0h966/Qqc5VuatgcJ4ufDYhZESsNM
ektsyxi3akHQ7CADPkipOsVvJOMrkHWrezSgaNvBALlDOrUSaNKdgpXeM+ZRARanyAcmsvXL0sNr
iNx5XJzFV/JGOSlTqzzkwG1GX3B8oA5eFsP0b6Q3aDr6BJl7roqnfpYlGfKBiAy/YDqUs9kY8ess
8uZAKc7gbNbbDOKSDe72SbWX9UMeSHjLTBQLz+x7kLIdJhRlepwFRFhlS3EjTxiJdXrRrzEJjumm
LICXXVZOV5zsrQ5OWkamS3rlpGqhWLIo/bZRTE+ndE2nHNd3iLKaQbYqAJ30COy7HALqiMwxA+Ll
OMUdy0G1J1Kk23qUus2qVK3phJkwnejNIlCvgoCSd73+ObdCgg9SavRgerqd472csE+sfjx0ZUxI
mEgTi25lX697vSVjkNU/1o3hkIwFhIAAHAA0ul3Ckzm95kYaq+BwRit9NVPcOIgAOo6gZKwDd6tI
yVRl6ayqnKz9zmzGPlyEES9umWa5HK4K/ADQFI1w3tRucEQP44xTFNkVqlxPgTQ4HQqWtMMy1UY0
pjeTPtRIcLK57a4NAxhimng0k+xR0fIYv3mZk2GwkjhYS8CGhWHo/UKQwgSEwBvXIiXpXG2p95rQ
oSmd0Gc1lGlrLBIV3rnK4Kt/Vtw1VPkLhIwgpUToKYotlV4St4tuTMciolq4cYnMWz+bHnZzV85G
Mt+NoFJKbBUN2Bk/mZDlWP6sy/o4uOTixXgG55o225ZcGwfd8SIXQx7GaaFQJM805xVyZ5Z+2Ca0
rOG/6GOeHgiibZILK0dPPc1ol3FgSVazAqCg7ASwIS4jAXox8jqhuvDbCojtTtVPIt9HxVwLhOZp
P1rfQrda60mBM0ZC5zQ3ZUCAaAK7LLMs3YPPba2HJhoKtkcZqgVJtQX95WchZSXpC51GrB3Dfha3
ykA6siOpUMnPNNK0eeP07TTt1sTuo1AUkeN847bVYGehYIJUsMWcLDRfXwyiw71kNm5yIBEnHOsD
hleTtTfnG9EedY1ET5AxcexQSCQk+y4c5YoMHF4CtqE7ICDr1VtDWuUk6qIfSb/ajNnYrVivuk5Q
PEelaoTFLCfG9AAQOVYID5dbzQiR0jCLp1LqdTlM6MZoVONITFo3dhoNTrG1onbxBIQ2KPW23g+H
WWrAFSZgkRNrx/SCaBDLiecl7E0ha0FLzhrUxTb+vxydx3LcOhaGn4hVIAmmbbOzcrIlb1i+sk0w
gAlgfPr5ejZTNTdZ6iaBc/5YAUe1tl5R7w5FOGQnzoZZmPMgeIn2xumhg2si2ee/UDD1QBtFPDoU
RscEpl3UhpbkZZ4JWPlXxpkDts1b0f3X0x6QOP+CorcwwLJpCEoJGJYJ+aTuA/8ize2dyLmJRMAN
6qQL+Ibzd1h60+5jwmeqU42+ZDg6ahUzkDBQMKQcuB6Jhms9Pvp1wE+svEEt1yleQ+exNGvVpsvm
Vslz4ifkNexUVzkBwc/dXLZvfVS2yT/HhMV6VgNNQ/d1oZlQ6aneFhjjQnm/y5CSvGIfgma5d3ll
HA8qNRiif5RekQbDOYidxru18mCW3DxvpDp8qcaHqZW0xnosy3QquEn9X7kI2x5Xu8ZBZRCNAp5Q
3ozMJnfby7agRHgffasze6iUE5SPFWC9d5x6iILDGOlCnKiY75ID2rAx/6SO1aOeXjmL8+vGEYQX
w4UdfXE8djaN57qraDKP1uHR9F1EVosmsn1K45q8+ruEruEZUTQdprfcfM46bouxXKbbMhF7x/iW
TtgeMi+mQyUxuZD7eqhXh6uSuIjfcWhy78sChgb3AFEMz7tEcAW81TJ0aoI5xOgsJ9ftzBak4Uap
Jsl+KA+BhRKTJLCoAr1PTSrEKLoQMF//P8+rEbFtjhFJNTWJVIy9yRUsp7WXjfl4++wke+21J0fJ
EWiphj7Zd9PaLRd0Ol7/MI1EAvzjf1cWLSHn1lKqCgulL0AjLGdL6xKSqb2VJ5LVJ4vLy0yrpXMs
wMKyI+JEwnxFSwibxpNOPg0saNgC9TnLxFZB+Abi8ibjo3lsoK+Sn2HT3iLcxnBazXWOcl9fDdKF
7OS5nNXPS8j/OUdC+BI3jjBrSdJO38bMWIlCQfBsey7MdJNDPgDqrB4BW+Gc075Jr2Kt37qGZLFX
zg9EFSd49k2/lhWdO/t1KizHuanJSbzPHayYzN40Xa6pq6Nm/CFr67R/J61E/jfs+rF65URuYaI6
SWzUwFnj3Q+O7eURoLKyP1jB4vxM28aU/I6GjFHlWHlgU0885HP/sS1dUh/zdSan6XVUysr72p2t
PTBiwp+t4Va41S508SV9rmSPFNxAJaU3123s6OWV1qvcfzJauolyBBu/BDABYQfH8hTlhLwgMSkD
fsinctWZNCkza780Fx1N43IMrRVDcwAO7KffU+daJGbMMGPG8zS6HabqYF1VeQcMoqYeBRfJEE/r
RqxptttQmhTqu4qLbZqeprFd6m+P9nKSPStYOhum9cTcT4tzXAU09tagVrR59jigvUqU884dI4IQ
q4kYw0NFuDwlC3WppX2lk2LrvNN8o+ffvKol+VGN3KRocahYJtCXovOm/AqnLetoJy5m1JrED6lp
W46VgOchrkxD5D+Q/zZKatR7+gbQyiDceG7R9bnIPpBuVWfkJ6Q4ae7w/DPzyN8mFMrqNYfSn0zI
sDpNUbwcjRz5QxMEdS/lNKoQ37kn4FgIvkoJd9MfgXSJRRs24/8hamH4mgojX7SjSA/ylWPvx56Q
rH0gQ9OkzSDKhCJP5SPYJe81HlFF2E2fsjiIyX2Ntc+qrUEAacUSgyA5Z6wm9Zp5/uDSW0Qj9V87
Afs9oeXy5i9vnL2E+6fPJaZ7E7HnUf6dhfqEZHLkod3o+SJgbhVyvXeXQT4uui2OBIaveG6tg6iT
tjEnFW5G2K9xCgdk2JX0upssOWdxD4c+2F6dyc8ZHhd0YXi2XILigA/bvZ2rnFyhct5eZZnLJ2Wg
raBi+vJroDn8VEx+eA18zBbgmYN/uZkbvsJQ8q9nt6b0cKMQviOlktRMJX4zbsqTqQL3zuXbSMXU
kSu6cBMdxxbSL2wCeR1EUBOiSyZpir7Yf24mTUuGchyP1KVRJAQSZ6TgMTw84hkgtc/f/IdkzQXE
MRj0pY0n/SYWWsbCpYlePRrmd9NGpFMKVOv1LN0rAj9OiB8Nm/EhKrfxM0JGTOxv0Zwijem+Iygs
nbPZXB381RY529C9sTQ1gGeOqyBlkya7127vJGnndVEK4Fh/0sQMrRw1yz8R5eH6BLWTM6ENtTyr
KlN/SACubRrwjN9OS+V913Ib1jSJ3fzUh6sdjvzziDtzFfFWBMVjPPrlL52PKFvcwQQfCGbRZcg1
ZDqYRv8yhE2c6kxl9x7Z+5KgOoQp1LBovuFBuinnK4mRfjsioclsTmAS8r296kp9GIPaO5f/1+YC
q1MHsS61t+NSEI/+wtq5m6sselZeAY3WElL3LmyAbpcfWD34FfFuu6TgQcyHmjZYoh7Li4uaJI39
rCG5rIpIefVIPZ3TmEZfog3X9TG0E0qJKNAnLxfq4FKVwc7RAt8U4KD+TmVNScYQIMW5mfvwVK1x
DtsWIedOqJPYwwoDdZc1vHyqSHhjU1+QwwdqkuhuAU1OQ6jkF1BWdfRNuZz8eIuPsGSAhSOlkuky
l8VlQZPxtEZNc10TxbReTuEGPomK1d57G68py51+qx1IexCDmICnqA/qO7sWbLt9Q5G4YmVMZ8hd
gEql0XiF1Tiy1VSQs2rYFoQEsdNsRyJCeDKC3DMHmMKgeQSR9O9mT8JSVGsf7x2vo52EZR5fdkM3
E0Wf5jyJalAwF152yTh7LqMdujMpXpYEYFDJutEj0Yh2+EQ827wVI8tpvEl/P1lQYXaGWJ0L7VMg
NlfFfUa4LH1Y2YzsK0nIRZ5mMGgRhtGr0gmSMj9w5LmdWueaRYv8T4Dw0FSGYbSTl9Wj0/foI3D4
aDOnfheVbT+8Zk2u3kLRUW1ciFF33fIzUyusRjapQN3bkf7nmkx73mCagqy73XdAJ/dUEpsW+sZ1
7+dCdQ8FcpbPuO8j7zDoyj80Oozd9GZwiM/S3nIhVR1UV+wDvIXuqPXTUFsERTGXjJI87ju9uOp+
QM5SHG3t0ks3xeN4lSheUga/oiEaZbGPBARnn42PmH+JgvbMYtwcSXFuIVATj9azyTZfPM/VXZGZ
fE1Lpo3D4CTVQ1dnkbODPggfLZcT2k54Tm4JOKkz/Re8brQ6ZO9A0dv9yIb+aYWsr7Daw4EkESY6
vwUdzD3UxCqrp+eki/H73lJ/DTDtMfDL6FEyot4n9Wb3cqu3Mi1cBudnM9t+wELQl29tFM/PEd9D
yq1N37DLmfN3RcvaHbyN3apHKveb+YvU08aj7a6ln/q1wdhxphWH5XanQ1OmW79gJuee/SrqtVDc
Nw7tYFLAtiUREYYHpw6XYj/NdoLKD4PvbsiyN9UNEqyEwQWk5ZZ7f/ZhPYg+6cy00EbHBEqMgZM8
szjN7AOB/jBohe/8zk/ex9izwcWAZZ3GaJvbpw2Zi7ubE7l85FkjHnNsLhAUXfLigiFdiEedLy1E
Armjs4nd45oJecrBm/8iwAyC52Uh9g0EkiTevOhpMh2ZXcnqcHPgy20tJQEVJLnuh143fwN3my6K
QO8r9385vA+lJuN8KkTfXkqDUPfQRV38HqHD9HZtvZBKshRK8adOgUdcqejDx9qTlEG1nmv+m2Ti
ftwUETHGGGrj2kzpQ5FXjT6JPlFUm3mZ2D4Ja4tKMMmFf//MB1/7e/AzOf7JF+VBq9UFPCDMPmof
sXg4Q8pIFBe7opU+ODKpzQzf0UqGQZWYsnmyWTnNAJRJWb1kAu7htuGTL423eFxZIzORJ/4d191M
/l8RaYQG2Upqauo56FUM4u6aSGjZeciQ9VbkRJe2CfJ3JsbFgpn5a1AQiEpKJCYlHw2zw2fe/URI
rplWqrEf75jAErzoY+g/B0s2ti9OUktSO6N4iC8tEJdkgeQsvHILLukSjChAsggbwb7P44TpyZlJ
MSbhDmTbyYOh/qEcIjEQ1iGfP1oOnW1X2XEsdhH7H1rEJDFfsohYFOPWD45OWXT2z8RSmNZJ09sr
Z5fzWzBq9Ps1GPntnZbhxyD85OXqOUR2VT9VIyLOfI2OspSROmfLvF0B+4sXUnAxjGylsPKrs33f
/4xVgaJhmx164tXgeICjTgwhyz11q5MApC3uRvSZ5CKU8qY8XLys7++KfDbRu5J8DKfA25L+n56m
imb4hs+fWbXn2D8n1vTRL7Da+QiYgehVR1GiuEq6uvph1hrBbTLD0u5t3gTHHI1v/42nprPc1mvo
vnYDIOE95MvYgDIsJsKEv7RRe1mtwtR0EKPFhpkG6xAEF1BIcqgMPitMH1VzpR23UmjThWue1UKG
u7vrsplaurDn/v9hSx35+27FqfBNli5wZRVpvpANBn0FQcslMTGDVyRnZpBbtt9kOKH2YqYbgVwm
L5PdzonAIxv8FRl+t+5QLf6cPcGOOsfADtX34Oc1cnUh9O+cThsYrAIMhV75gL7oamleo6khbteW
dZjOhB4lZ+UW7XEcRbXcE7HN4cObWhcHzGaEAJPkvNRpVmb6jmaGMnqhPTv7iwB5Li+h1f0CY8cF
fbPHYb5o8/xbG2n45bYKGG8R4ZmWsPJv6Zj5CrkWhmdLPu896t+/wkQElZ7KqPCbr20Z8NABfwV6
PoboVLs0l1vEzxzBenHw9Y4Sj0isqKNXfID5d080uzmNTmT8cT+XMLOoCFdtzv6qMlrge+oa0J+z
0iXiPEpW2TTE2yCOWsuM7sbcmxb2YCxUSLOqOKmL52aGbz7pZLP607HdCgvXD8lWHaclKtZfBR1M
0a5ibO9STYcEbi2vp7WDcA37d4uS3uw83cgF19+MIAfsfEOwo+ihSCZ/BItZAuJ5l2wYmu9OuIoc
mIqbGHQht4HzgdcjoZ1IIRFI/nSQj9tDV1nkPsNcoGGhNDarHlSjimYvprwqgSw3a9qTkKAwB8Hf
DplFTU2mTIfyfjkXg04Sm64maP7rNwuYd50XNJnZfg49ba6Bo5NsS00p2oj2SH+rpA7eqCIb1/WO
Yr4BFIWxa9y8fZ+BfCNOmcnReFQGt1abQhDKWxz6aqXEwAMO3ox0vaEGBukk/jostvVnaExn3vwx
r8vDrbyZx5jpJSQ1unGmob5UlZXfG59UzR8lRL4cgj52hq9mQHZA1wMU/YDk30fUNETxinBJRX43
HA2R9/agJkfPvBJars2T20rSdfejF5Tugx27xXkRrSK17QOwqgwJmB0UVa4ScJ0NSdoBdfQatENP
GQCGsvsclbLN9jUOUv3PVsr1vt1EwWMemh7Br5gCeBX07C99rXP/yuLrBqkXAey8eKZDj9p6vpjv
loKP520ADF8OEuUrgadZJS9BhQRqJ9obPtXPizi6AwAp6njKUDiVuvbi4Lm640zKKS6Fm7qi00dF
2OXTdwWruKd3IPb3HgMTnqa5vEbUq4jjkDTy6PeRe98ia59+D53lDDoYv8yGY6DG2U2Oi5SGSxRX
WnADPlY1X7pOBU7q8fNV+CKc8M9WtthxtmAof0WOtadp3tbi5Pk6CoCKADJ4SFe49XpQ4c2p6rhu
mq/xRDnNPB672g4LaA9fwCGQo30YamyPHApt84IENrt6XdC+rUhjM7bJYXmkD6r/tAZqYN96rdxN
Y46TF6K2m598GjXa8zqE9JDGKGDHC3qL7a7yfUwlaHFrhVGMaxKIGIRg2k06actTL4aBv1Rt9kKf
aflUJYYlzC5e8Qy6H7Z3sqVQZT+LuXgJgkTdwqjF+uD1aFJYoqFNySmmEhPwz4gnih3leKM+UaxX
bMGvnTvFmF3rgRB3NHnkMtRx2fBiU5Vy8VXrxQfC1uv+2ITw82mUqW7fRV7x03fJrZuTMXbZYSqY
tBqxuUNmfW1O9YiK7SCLrBX7ZEEBjwQmqdMiBmvZmdjk3ZEsKzU+bEayxWF1MxtyhQoqCiPRwq/L
7JZ8Lcrp3iNFWm864s7hHOwzs100Gd7uictk/r22eA3w4Ny6LOpJfXjJKtpUWFpOuXThJ+8mFFwY
Qbdk31cTHYddvcgLYK+vjplZm9R3FHRbCQ3+I5wLIshLd1z/qgDH7h0NHNOrVnNgLlGwTe/uHEaA
LM5YUo1D1/BRJOyTRx1ZeTY0jC+sz66WTwYk5Zn+EuKv5NwHj31kh2tZ4xQMFFO11cNyEVudXGZr
wksQ1sF3lEQz+AQtOqmUVffMdszXlRbZqIdDiLPjOxrz8qxxY555VdSBbWVmADOAbtdiZbe7uNhC
MGpWw5Y8dAMiwXPvoIg5Cn9lftPKgSd1ULYil8lmiHWdqOAU9Wo4iII5lUtz6v9SBctqyw4fgvxt
87Z3aRK6K8HleZs763wlCtrmzSXledpnkwHwkFja8G8oaGPuaY+lobGnzkYF4RMTwYeLzTumpqm6
RT4HSAhAC5Lx0o4ufcYJ48DbkJSgOn6fgX8RFc142emeyd0TyVM7m4zxGqPlbir88GV1S2x8C6Wn
h7rJxUpLvTM+Zw7VD1vl6Os6ZcNhlhO6o9GuL7SGMxkPOSrDZhrs41pX+Fp47Xo2zjqa9+5UDvug
Z/CAL456Ctk9/dTzzKU+AOee7sGiug61l+1ddL0OOn8H7WYIaK4gjK3/MXIwGZDUSJ4ULZjESRYT
9b9Ln48gwH6NqgigpxWXIbYl7aFOnyArGLPuRIa5uDpIc5i9RwzAR9QwCJy3qOT1Laq2TTWWRKxL
pYcoUAkLn+yNYbCeCwTi+K3nMWbK8GSypyljOVsxE8RD7TqVm27m/MEork5JHapfwYAmd7dlwr94
I/0gEKKERO480EQwFj/7JfEV/ZCVHp10QDV1xWHWHlUw9gdBN2z5Zclgfgs82kNQCMBS/OjpOrmY
XrpEU8MWsRkWXmKpQod/OASFqv844xg+99nm1GeNBVikje8gBu6q+Vv3+AYlpseXZu2oIEXNTGSO
WdA1kGLfpT0M7aWHzH0uq3V4ttavs9cCVvSpG+FfkDOE7FIVgiOA/IYyEG8yeUBheQfrWbjIZ2lM
ZgGcG+1/h3OzZr+bps3uYRN4y5rGj6hTHvMQMzYQ19mWqNaomkZ2+jTq1tKhYpFCOOsCZchpUL6r
XjTlecxEeHDhhBh+Rm8PmbwAlyGOLgkif5OBywJssWYhBNNL8W8ejBU7R4H172o/51DFvOLs4xGT
oer9VRw9dANva7YirgVQEyeC2mkckkVLm8yA0eI7djbsYGKK097tzZMo3SI85C3HRtqXDlVZMyPH
Aw7jbtiDYGaPC7PLj7kX/IKhDRQfUEYLclyDcFHvtvMHW9NWElbTK0uvih8ia/OLbgf/PvaGpbwm
eCmSY9/C3e/CqcOdJKT2+p/QJCUDKizdcFl84tuPGIc0Ml7o1bjcI1tFrIAjQDxkPB/9GeXB+Bsd
QX1nIjppd00zjXi7kyDae9nUTseQmh9wglI+ovWgXkXJHjQtX1pznm3Z/G59TfY3sPl64W/7j37b
oJnlW6TXNwKAdh867GqPc+Kqq+MbfXZs1H2yuzb2fu2TZb3M3RSAcHfcorhJIuqbdnPUE04eku9w
tbdlVbc9Xq/WiKm8mGW2IM+i+kcHGdtFtwTDvw2FqtyhlOkxvSYJTq2dU0/eNXMZK97nyAoGBZnk
bXjQXVbgC6hgtvTUo4VAOlme63ionh3Zyvyk9c1tObszNioXZ13/YdS60TRB50WIukyvbtBRg8U6
SMKHocqOvpZ+b4wIyUJAslof0HAzjQhvsv0JB1sXEfrYVQyDejRn+LsETw1hIXtu7fmJ4XUYPvGM
4DxHoOa3l5jZKT5vcsqv2+osv0IDXLx2QqMSSrLPesXx83IDkefPPgpX3GiwvGQBZ171Va7gFzvW
1+3DRVHDEw3Hi3oxYx979JR2xb7CzoBILvSL86AjLz7K1k53/IqkL7AhDP8IAs8+vM014Mk9ir+y
LjwJ0eOSSYAIs9pSWXk2OkVwIuTco4zL8WkgncmxIaIvmrKbXE3N2xeHYwGHw1bu51ATuGch3GE8
z/mCY/qUBNms9n4zIb6LN0HahKmlb+S+HzFCUI9VDP954di9WDQJdGzUEtCRRwHmv0Zk+lLFbvja
1CZLMQpSR96s7sHppu7A+VLuV4/2wpTyhXh5DybkGMFW2hNauqR/jRuRqzsVKdWdfC6AEtS1WrfL
HBDhccipk5z30EvevdGwVA7emEvrU3Gxk1G7AvrS4DkmwL++4RcjXWJ8ypDaXXOA8W+HCJnPQRFE
wKU1kRu2xqhsNF6jo5jE7dhUZDmwcMgWxqdwjqEJTHheSjkdcEtx6syON+g9QaLYSYiAwR9jRDGi
+x357FrsEkTrQgbSEzvuW+iF/ZiPsa53dClEGqiCjB0H7zwTEy1T/vo7ysx8HvqJUAHGWfJtqO0j
FAvRw19exEbh3s/tI2ul5+/GWNavCbrIP7O7BDxPAK27oamn09ZO9gFFC+SumTOa+ETZPW1gMJdg
9aZTv2w1wtyxBeDLPcjLA5+L82ZtgGdabahVCVom06MsbEsfdcjnSoD3fBC4Ez5Fzrv5bxWdEb+c
FcmkZzeE3u5aMJXjS9b7KZr6J0xH8cW4AhCpmmzCFpWLAKIrTwzq2G0Bs2nm1KLlfhvYac4UXUxs
M6opTwWIMGL+YEUU2g2D45zryGWu6AP8+vS7BYndbz2YOPbqkG82MHHA+FRtPGX8ZdwtZubjqxP9
OEyNecj4wu/RDWEwq8n24rkbMBSrVWNO63OsJlFs9ZV1Ux6whMR/aI3AkToYej1Q4QzZYTa0YVcE
biS4AM2MgBOnwXugA7/7UXZKQinF0byrQFbqcxB1GHEp56o5F2KM8pDFTTiUu8gv8mPnSgIEWGvm
ahdBANTv7mADksEbvj2oeFiG8+RHJj64UeOSWW1pJj9roOT2UBPPgvQlglXHCzuFSe8i554V/iCP
JBXI5qDOT53TC/cZnyn9gyN+kidNnSidWTMg/7OIDAp+RJISVQO82sl18gKwj2+e+gzsqz35H3ZJ
y7LcnvJlNvwnQow8GKp/LpBl78yZiBmlVKG+Q9ZczPeCwiAEevPolSfd2Tg+tnHgmPvC7RL3fthE
KGErPUT3GYHHZ1pBxE/EquWvJammDm1hjDiWu6j7oGln3Avu7gIdH7o8c5obR5F84AYnPLKAj9SJ
TnhfuwVholfeVfS0fRVzHf3xYxm+1HkSeA+bq+fijn0AISO3+6L3CiwB4BXs+bEha+Y79uviyfB1
viBht5i8o5rKUmhCSr/ScCQR+EL0i+e/RGiR/YPv2YF8BjBxS8oMJoY0nNG8QF7U0EKCjazfTYze
XrSDbqCpjAgUcaFMjG63KVmOGf/Bv7UmvwbW3KFmPsqLkV1gcLEylsom8XEtmPhwvSAx+REtyNVP
1JNhiiUZNLmsYxmffKm6p3bsi5GPhnCRPT+NxVKEOO9imnkd0nndxp8z5Y3/wrin3IvaKKzMTciE
touqcX3KW0QF6SJuUW4tCqh7Kr2D6XHJNwJyM79FcRq1FJLuYxUBZGcZEvaHLc7rFyfq6ujB2XyU
LAEPbXRyZmWu3uash3Z1w2vtx9m3WBA7cAqHJroL6EjLH8i80tt+FaKP9sh36/aqaiue6qIZ9lCW
2UvbLua9QlJsdkGG5OuuZb6ISUzaJBRdhdQv3Ab8UmminZGCxUqDm+Vg2vOvceQDqm9GzgyJe9AL
fYaFn5/yMstGnEC6Pax51Z2DsSEGefHEmdSl1fuErI/RVVdMDqpEl8xQZ3v7Sh2YkSlbfxxfVorr
z7BaNFuQqyTfVjlmyRPiCDa6rsXm+5Dgv9iA+h1/ryf8CGZJ4MI9eon96+wIeSwdD1FV6mSxF37V
7uKX70NjmgVetCGACDtW4jEft/y+sOWu9DFy9cp9x83DwYDEwfPu3DGJH6tsIqWxMKMGow9hQbDl
hW9I/JPxBXV+xJLuKo6BGBQPpoL8s/6FsOatv8MvWk2SHQdzAN/KUP0TjHbyw9edk6DHC4M52Vnq
2O7mOSffp1Utigos+dZw0sYZK2JBAMMfV07mGMW1CB6c3qJSwQtF03C2G/UGjbUDI6LHbEeSlIfc
KvEFzVvRuD7wovSHIDBkFNVLsqeyEPl7IcbxtDkgijvdS1KEGj+pMpobTXAtV+ZxL/HCe42xA1PF
6ucv+HY79AUuQ0LI3vlQZ174e6bZi44Lm+BTefYcTCVnAqNwDBB9gBGYBgJk/TVmSvp5p4cqSuhQ
j/BBDfsJnJ3IB3edi/uRDUKdtG+BvMsJ+GvXVn4xnfzWGfNTafvovhpaMf/CJhP4Hz3+q999wA+q
Bt0Q/DxyCGKCNiSs9bN7u3Ci8IDafYyO4Lhiu0jwot3q2tpe3VDgdpzJpLsf/Rx5JUE7Ep6jWdbg
17jMoXvObcTCjdYJhkOZkHtDlJSx/aGGvXsbILhW4qNmg5gwbeoK4H5tqir6V9umLX9CQIj8jLKh
1P8nvtGK9OEiEeoH5XCMO59ttwqoidybetQx9HrUXyQTBYy01xm9HQcEXbz6EmdLLGad3LEEbxO/
a7z9pk2aJKexGH5msFLFczQH0SPg0Fbth2mIB/J4YL8oSu0L56+eh8FFnxMNV0hMTjK4Qee+jrbl
gMSzxjBKCWvplvY8mCrcEybUkv2BgL1ERdpK78MZNdqvSeroNwEFt8VtLsu8/DKJu0BKrmjbRsqp
PmmkXvZ51sLjkC/DEeJ5+Jh/oKlF+UVMF0fzkdwnVKI98G10SMS8jecl8MiRqgGWf/pVA6wCsEip
HxrhDImT3u4rkB9ivXpUVHt++RYfbpaAy4wl5Pcw8PJhuXitkrI4mSnXHQFsM7BE585Oe5kMv+cu
6PMpIQcHS+rT2KyefXHcKEMkGYYFqlHDPxIW7k34Ys0Lr/LyQhaTey0nTWv5TCnurhVZ8A3CHz+g
Fbf7eok3mloCJkui25B336K8TPjp9eMNESluPKjasKxdwYWLL79LomCHpd5/7AL4cqCTRVfBfxD8
iKQyuLVdSXX0k6/bCNOKJ5dfpJAkD3mFfvKwYTcRuDTFelokU8Np0U4mCWnp+uBQr6X4YdDTAyhK
SWJfjg7YnnnRIsLhOlVotEmIJvR1C2Zz35f19D7EyIdxlORzfSIDZ672Qan1QKFs2bxu7MtpMKv6
kY5ytdDUGAdphjCEuAi0aRGiwZNFrHNwWPX/8vrjinKMx/RFhTRTfTPG2aVbxiU+j9WtWxTj1/bR
bdO8nEItHflaDSXcXY54tU7DhAyXHWquEDg+JkbhC3v5xgtr8jB5MSUoVspi3v2M+cEXwi4EJ5xm
pLiGocrwxioHAFQutCCnU2y2L0T19jdLQrUTvV1Jh8sWEqRoviuuOXK1W3W3fXNVtYEXQCyIo8Vg
RsMINOot2Qg5eXb0XYE4rnQRlUKsKDTjXJzB0XJAdS9dHhUoz0RYHpu46R8Wl+vvBQvT5D0kbi2v
Uks6veMIruyC1H3w7xw3JG+JSinvV0lKRezi1246LAlOoLujivpYPdbopMvPxG/DSx8g/CTBajQR
CQyFO79O1tUfccvMVyc5xQ3zUHV3FZ2H5T4KybFZCZeS4ues2uW/TLfOeTGtp9JtXtfX2gkiaoao
tvsX3GS36VwPg/eMscCvjwylDprAOiLhSapCrYc8c7r7mlnmgeQEOIOE8rgenBCJ5CXWY0bvPYBV
fWQHZeSy8ay702BZJhHkbxK01knES+1uN3fu6tcdOqp5kWcXq+dVo7Lfk1/WFSwfy3aZMrp6jhmK
RGRSmmcdjW4ytpe8WZKz3ybFcxCgPSKWy23eWyTZ34mf0QON9um+6Mzwdwkq30VrO5GxkQvxwEU6
QV/2yU+B1XLZqR45Ek+XnB8mhOvXFsQyJXLEYOCkuFA8w9XgEHQpfciviQKffF9lU6Bu8sg90b/W
zRHHbMERyYieCf5oQaTSQXkd9Ab7EIJOhva2u19yQW5pMePv6cE4vEMcJtvPuhr1n2qdnatoBARH
38sAhdnASJo4+erDxMzJWwE5cd+1XfVRTCMCYj58Us4CXogpzMSw12QxRe+lcSBBuzn08SsGSBlv
/guEA9ZGF7pEySbqUcujk42G+g/ZCNgllFwAQ6kPvh2UK+wYaXXdf1sytC/b/0g6r+XWcSyKfhGr
SDC/KkuWo3ydXli2b18SYAQDGL5+Fmtep3q6ZYkETth7bTkvP5kJvT8WMdThFVZjZd0zNpG8LGwD
XcYelTvufRuNzZ9RehGXE7OVFYtmpjsW9yHhxTmX4rmUoTmnTACDw6z0Yu0KHBlHLtaMhBhbDY9c
xeSELgTlHaKidOZN3jjqSFrioA5KK/vqm5z7waIOAunIE2WBWIyrH0bEEEeJeOwRQnTrDCzru9Oy
xIwSbQM9Ar9lcebF7NGNufrcovb0NkVMAuY+qRAkga5quQrhm2GVSYu+DnYdpI2MvYyrfm2bUFwk
9+EdwRHE4fpejLa3FSl6uLYnfavUmON4GEKWZUmMqTsClHppqjgEZwPsqMJwi6mGwo1dGmsiB6fU
AbfItK28iOnlOElzU5XOcLE1uHOei6ynNE/mWR3sAZd7MNiDeATDsIij05Zddl4czBlwtILstWEa
DRrHaXV2T62R3psMUws4UooIjvuFjPcmjqsnVsZL+whfEeUVRLwuugKFZr9XzaV2LzVbdZ5d0ItI
uKxUz3uvJ9P1bpnnUqLHsSq8bW6MYT5h10Wob+DipO414Fv8VCgLd2iHe3cLMgOFZGynovqnl6h6
CLi+vlzVRS+T5ZmTZ42cS3mGkNmxxVSx/K1Z03sI+x9UXZCtjVgmeux9p3pbfJWP+8bo8cY8Mcxe
YrwsodyWlbTNZ7o4cQ1cLIrZPQSOZrLRD1jWjcfc4V8k09L78mg1/o3FjC21JbLyM6yFJI/YTyMs
6W3IeqkY3Ge38lufv3qcllfqZHe9sZjYEO0cdEt4Kmiwmj+BSer2b2GiVP7QYUjsDd2S5pdoaTGd
sxji5g3Z9y0IZYvIOxC0V4ELCcvoXzP68ZufZgA02HRz7aO24Llgy9qZV4aBvJn7HhfEg28ZJ3lE
cogQkajvmaXxLCP/PYgK73mynLw+GV3MZxfK+AkuQ33zpEFYZXtkS7rdCD1Kx0nTb2zZzhfV+NFX
owFQ/VY4MX6qlmOUZWZQtb+jX8bNQ4LOwj3DMvQrlGURvUCHGZQpR4XGvPmirdPzXyxU5GpjSxb/
aUDg5VO4Uj5sdgEuesgq6atji1oIi3hEQ7lxwyS6KE7ee3+cuwAOSCi+SeIOTm7sIjIJmyrau0nA
U94NTbW1w3B0UG647R7AAA1YPcWYZoBgLGeFKmr60IMX6E94G0JR58yp+eqEHkduZRm8ozUYuxee
FKd9AyKoYUdMcd+T1csUEAN3nT9xRgCAaccM6UfHyF4Hbbrvwji+09Tha5a3AxALu9vgncp8KrNz
pkT6D0l7WO04qcUThetwieslXOfecf+T67L5aNSE6UKlqT7h8OhfOkABxyZqm28D9OlBo5vobpGd
StQrlojvg15MhLln0mbZjB4SWBVVj/phFk8Y62FQCFUw0rpRxb9Gzv6e7aifgG1F8sev5pb++DdZ
pAu0uEYmOOxiBV77k5Ob/+RCwZQw+0m8B53ROc1UTuLSeixVED8tNluX0XakvfPhTb/lMD5yhm8K
dAVmkzDc8jU6nxR7ISSWrNAKlhiWYp7oyRqyHTm0y3hQKTqVD0wMChGgZTzzbJctT/9G4KxprgMm
wGZH7jVMGr/PumOsQsPArEYztMN+KCW0rg4jlkdqu/PkS1NQkPdMBOvWp21YZBFZeGy71gfc2jWi
PtvuUvloX5vpb08W43xVWcQA2LQqvU74IL4J99Zeuk9Z3aFRswU7VBec6QR8IgGc1hVL9kyfjhKq
a3O2Yd00PScu8Oxxi6/JPjFAZYNSYQX4rqM2XW6y8kq4r+g6jq5m9cQOj4MHklti70ahZ33KuHQR
LvNEl/1XlVfBvcKKUrE0rKX/n9GqtLlQk5y2DVEpz8wKhdTJMyasuvhTSiiO+5YqTR1mkaf7QsAn
PqRJM6t91aq4AkGRJ+WvjXnPeXeDxUHC4EEo/DPgW8jfIzQIrEXRzCbZBWaluLH0U0xbJPzG3A5J
1Ks5uvael7CXcJqsPlYuh21DT19ew3HCYi1Ruj6XTkdeWzha/hPT70TucweG7W8vsoEHBJJo0B8p
bfCbQFyk6TXinFDYiB1rJxR70dRm1s6NB2wKqI0wXvoy3Ni4PI+k8DRnqkprOS0isqzXqgfjfYyG
LJXrzt5Jr4trgdhzy8nTd93IfP++5+kheLzrYupAj/HsLk1lf+X5Xd4AbXXkZKUNYmTdozipA9th
JeJI/ZNN7ZBvtFuRZIzRgoDnNXjVHElMQCw8D84IA03NmCtcOnXIRdV8ridbTXDKRLGPEX4zPMPU
cXZcH2J6GA3sUkpCut1N4ZDS1Lp1emUpom6l36AIUa5XvsUkEGZ0OHX2zTYr/YHqaUMhGQ3SbDSc
/LawSLaoIl0gU5afliUatsUvuq+8mQNzUhPdfh4w+9yH4HYOKTsLPLBFCN0g9sH7va2YMzIrmK0X
+5ZahyBxl10oz1Qt2j2yULPD8wWFDJ8F3CUGTOsyHmIkkK+anFXHBFH1yCAeg78sKsbREcovdEG+
LZmiCNxZFbMCH+MnbE1C3ReNx6EzTFSSYLa7/SKYW/JctbOT7CK1jNFnw4EEtrVhlnGDKGjJl0Ay
vLixSKQiiB3w7Ceqjjn7s3AOpnuRZhijaJrO5Nj30GcSc/Szml167s0XpPiA36CMnmY8v81Ge4ql
RuGYEOPM+ibbNrT6I5eh9G3CHxtHM3hvYbIgHJnGn4jvcL4yhF1AtjkOjjbU9lXHlrXnabgtPLb5
uUePgAuuxy2LXjaI/kSFHL/ho7jNu4WhAjNDxcdIGepcqiAMr4oJzT86ywSVYtsV7OP7yn1TiUjc
E9Ntdc1olelPc7dNnxCnCJQS88hyOh3Te+ZF7MtUymLXxwe2YXztMeAznvfcVxaoSN+ZcBt5zMX3
nFj+B4oZ66XOBcpQr/Mg7YIduZ8GyCcZOFd25GNTf9cguu66irxt2i7cSp5dipNB3/CaZaDx7yP8
zTvQEZYNncyT3haNS/GY6VYseLDxD29zZ2T1z+7L3bPlnes9f6C5zTS3rwjhA/sYYHnkaxrzhrH4
lIP+98P80vk6tA51k4SPgelDlppzigYReYHo37K4rH9Hhwk0HuO2Rp5nB8mdDGdwKqwfxB+XRXp1
nsplbFeKTydPEA+S+7Tj8sMNt87PNn2Mi2h92zrnow4hG35ThXrxY49ktL1N6ZCHdxG8yuU1ilvZ
fbYgQw9VEwOljZ0693Zioa56XJj47iKnnT+EwNu5Lr/+wThEmGRrwLRVgMQqGdrmyytn6oymGjp/
KxuVX6EkB8OzO7lMTGqKG5BXvo2m0vbbE8baVJzbllJjiHz25rrmH9wU1tx+NdYyfVgWxnOQVho3
Um+OQEX8gKdBV2djiYpxns9HZAs3R/ohjAx6m0UX6t6JoNC8QMIQCUqwQJy4M5YyRfCKhmXPwCH4
tEFaPOPXzIGd1DGjpKUT9ItIrHcl9QLcHEsOR3AF9PXgnvP/stiaWCmbPH0Y+6qcvrWKENlNQTCH
kG6G7ug5Q0FIUgESeDsgyidCHorSpw4EjNWmxjE+Fn7kbpjVeY/cEOGtoHtFeOJmeD6qKP8BUKvv
AXpPHe7tzn2CYqx2peSc3lNJLDcvjPPd3IZWdXRx8+8rL8FUmjhzjscEEgsHk320Kbb/ZCN29U0a
GO+zn/F/0wjzM0309TvHot+jd7Tkm00ywQ1nQ/OEG+YbTer4A80+O03QZhje58WlQCpzcoEJMoL3
GqKRu9E/h2EI6EeuFuZNZPd2u4W3Pt45nYzdfW/lIaOeMrWfPS8KvjvNYY3yJ2tPRVmFwC8G8S4Y
JjAkGrTgeOiT4BQIn8W2t2J8kCnwKRkVZ/8W6eWvuFTnHzCTFnQLP3HZ8WFeETZyajSTMn6cRru6
dXzsT9i17RMVKqWYBy4IV5otnwsz+t9KiQaDQGji+9g2wXyXulkQHjHaYluZrCk4jpLeD4USnKwQ
V86D51Q0X1QKey9DS7+1NfhdmKsoR8283Ask91SaEJ9ZpSMxM3FWsrayU3IVbdcEOzRF8r3OdPZW
0PVzyHfxQ9YU3a1pJNgs6pn8fQj7D9kWPl9XjqCh69zq3kkS77MG5PIncycckGGv5CmY2Okv3vy3
yaLxqNLFfy6aVuWniBdv73Lr9ZvWF+GjrlpkNwGmu+tg04jvxz4YcG4F+jxrl281bPoP6g+CunDG
HESdxtOP35Z2cLBgrhxqmAFqk2rJehTZNypZC5Fcx69FkElskpM1VbHYWb19i2JvfLDXJgvdCM9v
NoKhRGAc34lSJS82k4QNl1Sx89h6sdsgweTSNa48M6Xfz14+HsospM7CYt4qVn1NdDFGDyBNvGcz
ZQDgvLm+WINM32YT3LBaWQcBn+/eRvV8qionegoxkx+Xop7N2amBBHAWNfQLSKWrneO64iL5fSAY
sT1wNp47emxiBocywyuqt5lj+ALujt+WTVPGjqeV0XvNHnM5ecg0nj0uq5PKEvsd+QPRFYieWaqG
YD+Cdhny3eh6kUf32H8jzexeY1UjBSoC9Y4QU5wrHwZxMQjjosIHDYnEO/tlU5TtZdUTpgcmcxN0
fK5qgmWlBgfdNE3VrnZdKFh5OAYAeEfGwcRS5Y8YG4adyaL4JWPZREtvZIoszArY2CuvyMjpgd6F
oKK0T2iyxr9maqZvVzkl5Wz/hd5w2otinNCqlkn8ZkUJarXUel7WvxQRZD0ThcE7shJgsF2UYcBi
AQQ3oF462AE9QN+aU07EzhZcnbhDTkEjGoXTsO48FVFoUy0vIUYbPuoCLbeUyDhsQakD9nTbGSba
HmDqjUOCxhMLKmDRzH3URMHUitzlOExbEhG65gz6oCPnZei7pzhdTnzX8b7RC3LA0GL9h6X2m2jV
Ytc6xrpMcrxgqWZa2QS9+hc5WbexesHl1/GtLtCV89syx1G0G4KR3BOIBx1WJpIJRVpwoQHk+kjp
d9eCbWjbdSVEeYhK6okcjejT6vz7zNfmDlxAKi5x6nCoOiCsH+wBGX8P9WmLOx6CKaqae4ql4t6f
VvN5gNTiJ2kcvm+/wIEU51FwICmkdaBv8ERbjvWf0uDBhJwBLeIzODB3MawckYIV2g2rLQBRLuIo
LG95HeZwLvNCnCOmzZ9RqOu7KRywoFMO/1C5V79lWT8Wq8OSVzcJ+T8TdrSxHcv5Gpvise50+hHB
Md/0bEQfkygoD5DRnTUuGqzrVvmxISovqbnUpfdTWU7xzIU1XXwqrWYzguUhLIxsn5N2qZ8pbiHJ
uSG4EGJ31iu04MZ6c1MbgC6zXL7BuD8xpbAZQPIxF83sQs9yvqDsQW2dKdwLiEL0LitCpgfUthtK
+vhdTylWgqEOT8iAAHCoAoutKvRrV3Q0mwQCdYiP/BWZuoxyXwe+5JD5/xtRmuIvy6m42ntz6jxo
s6QCQwMzoz7toc1rFzbXKKsfiCu9u+HxWwWvus/+5EkiHshxUS8ea/Nd0U0R5HHq/2mrUYeEe7db
MrUryiGjZU2bNTY9xam8WO1aWWS/UyL6G73+Z5O4ybFTYI9x1FMhsCIlgqDUXyziR0nh1+g706nI
22ZssWEDMKD7mqHsZNvAbypzZ3e0/Hog5bpokl1H6hwwq2loXmRgR1CnYrkKz0sUQKFa0aIDyHfc
4eLVd0dCdvy2Kb60crLjgvp+q1qPwTZss/o4QzJ7SlvTvNClcJYEpjF/SfQwm2ZYkBKYqmTU0vh+
tuVcCInbAfCz75Yg6w+rXGFLVzlujQUsqJ51srNKC33HlGJFFDm9D1rWim1GYF9Ewmy3xay1Q0zc
7WsjNYaGEquqrUy7DaaBRAhVR7rfy6WhlK1RV5HI1ewGgJUcJ/MbsDn0j+5o9dtujLG2ju9Nlvrs
8VdQB2on2DfphxnxlULRizH5olTOpsnAM2fPHnCc4alwrFcxs7ZxXZNf7dAVH8xosk8T2s057uPA
HJ0iP0KIXOVHOb8P9nCRPSUVw7BDKOAvthrnzpa0MaQxSUsOz4gBW0l9ButmnSWLx/po9YwHPRMG
twJX9i10/WwX438jlyuGgRZ24r3Qnf1hgWuzjoW01c9gPCQ33Frlb+53471EjRUDdyemayuY969+
cYp9EjhKTo5Bkm0cFHfeGJH2bSJG/XAfMHQA30n6gHa5xi4k0cZ7q44dUqkcmpNUEUYByaqrDFMP
pd/0XzohjMIteVE2xvKa6hhFlfpg8MJ/bIify57NaZyXF0wCZFNHY/euoNHjUZlmRutLnnZ/TD6/
pslaIyjetOOIlhshsOfvZphC+6CPijPGs/RJs3L4VIm7pm6UIWPtddcgpozjE48TJRfQ9SNLBqYa
kV2Sr2OTpBlB/lRzrl9H+BTbPDduu0WY4Kw6xex11fq9YXmYy0vC0INqKs1qAoFAvF4XMOp7glC6
HwzYsWGZlVYccLFECeaH7kzvJiyCkftp+q21Ync58Ff8+qPkyZJlsrUaB9C/g1fnqzH5eFcynXGP
lEAReG424XjReMAR3MrSYqKLrgQu9y/0iemd+Yl9jIrY1wRdde7zENVtds4d1tmHbvE8jDwY4czG
wab1TzgeV9GEmHQ3ZHb/l8fXqY4lG/s/Qsmx+rKNqR6XdmmeQpgPTyOyE3o7HTs4+6MxXzH9IGzO
qNk8UqViG1ivgsU57jpo7Fh5AtEG5QuNo9cy7Wi4wRG5KnEK3Wql6CXleGemcYq/Bvq8EKFUh3sD
1ZJ1W5Ddzn+15BVYwhDSLNMmZCLDkgE2XIyq7uQccfPyAypVPofjYIBwLE1+kSLMYObV8mcWmcOt
irbaPwCk8YsnPABi3I/gxN5Jo6PWMhjgDllQVSe6QzTSaqjCR2cEvRf1nqKxLZbolqW5D1DOIPa7
2Yx+JccGPBuqicE1wx7ZAxHfvWPFVxQwItj2RenvpfLt/ajpu9ELwi8ktXMuDzSuGaM6JDJu3EDZ
9AMi1DyuQ1T4dXxdsqqyj72ZvP/Ym9aX3O0lHSDBHg4KajFeeQtX5DEhBAeoJd2vRK75yBSHLJ8y
9jz0womLNhOiAwvICGMRQbmtYQJkwypgrIPNfzt4DNUPfhQun2hufLMJvSX4Y7pirnapXQX6cewx
jxJS16LG7TdF74ML9FupVjKcoNPLdlhdNWmFMx7UexcwXvXKIsuaUees7t8vmya2/sg81AVIDBqW
Kfgq6Pv5xxuB7dSfrJKSiwSnbis6plIaJW/azWd6BT4m5ih1g2bCPGrLrsPh07EPxeWVeXkARwrU
6ha/T5U8u2mepWqHuCqbNKUtA2h54miwUocJqZu6LzGaCizD6COzP3AUVfKWlIOJP0dM8v3FjMj5
8a/UlkGobaDR1SO3ETmF4og6oB9PGe+qKtnxZMYCzlEntrwXSeLawKnhOkFzi8iAyM95KsOJRKtl
sXsylnQ7lURm9bKghON/UqjOAwc7O+VGmmADow0x8h/bSDv4byzgoIyAFqTyGvQcRTDql6xIdIK+
gv4498HhwX5pD4yWwYBz8SwvyELi1b9CEuZLrGyrO+kEdBAhKlwnG5owB8tdY8e7MtCkIqXoHDYY
ZZmLZVPKABmRdPeZp9O6lyqEuafDTUCqQ76gAsNhQmx16+v8NJTj0h9M7JWfhGnY5dnKSSpw8AMN
O6HsXJ3opslODOZxUQ9w7lR4nHXoRucJzlqCpLOi5gQoIy7GHehRoPSwePLpXm+geSA/biyv6fu7
sk+Y4KDNrysYW5GcXvA1oRyuTEALLbjZh4e8n0L/VLZVPB4iSy4ag11tPoUY4PNuKJgm70r3Mp46
3JHI8Ys2bG/tSuuonTWqEc2rQ+O8KoEJXkwkJnlUDQSoe2XaHxxYXl+1HBCHeOCtuWtKXzyFmT+v
zKweeVMXkJxyRhwWzee2cYPs4IixKK/8JwNNpKhGkMtxEBBpavVvrTWHzwigzPhKRlH3GITG448i
hgZQievqY9WVLlC7mImMIzQNv4+8jIK2sEfO9qz+Q7FQDb8DzJ9fAupwQwmW4xF2Mgz890gU2vem
yBrQtgzbnytr6P/FHv6QE55XJK0FktIH5oiuevS0oPBxo2nPY5d9464Iu7PFdHUTNKl6VBwHxdGM
RZYfKqLvfoKAnJydxINIzAWjy/SUw3XLsIFKPif84fIOYFhAVJUlpLdb8kbM/5jHDy9tquvhGM9t
9AMxzsZTTYIiY0a3p4YOgGvYuywN6nPtqfpvB1yEuZJtkU3XLaN9Z7Nl+8JPOr3MU2O98dqS/oRa
iISzaFBDeO78xHkY6Vq8Q+WY/C7rYf9SnTUc9fzyyjt4OmdD3DIwwLKB7Z8FhlbxfQGJzdql2DJo
FTmBnLuxWOo3HDoBQ38aJVTVjpA4WqbQoW8TgUuTREJb+0ASggqJcGoQjhSB0N8JIRxX3w+Sy+Bj
JefCHnO4N06NnTDo2FvuwsoKXpcUWwf/DlwgRIWmNXilwQmv5CnglQosyIGrQyczjPCKoNyhbvPz
txIu+ngqh6H8sYoJcdrAbJZnVk4O9iEART+ewqOKj95JwlcY5vmNX7RiJ9AW3YXYj/DD8enhTgwB
BRqkziA+llU0HNqq8a1DRA9cHxeXIfsOZwrdp2t73nRokcAZfK42Br8Oz/enXMakuSt86MAXRLBZ
+rdts1LtrX7s0701al2cE+CMElIsIWxYLSbnBugc9nbArm/N86RQGzABPoftoBmIOImTb4uCknAz
8mWCCm3AjHPLjf2zQr91Z0PclEeHW/GbCEV6Zva3wQtVCUBTU6yfuB9s5hWVVRGH46sCV/w4xGwv
IpvKwS3UhLa4dDi3zdKI8IjPBXIzJyXu4o6T9xknQfnh1D6Ztzy9GApSAyNpR1IYJDauROIhNAfR
2aRSpq/tzOh5P4DPGraMD9wnCTis3mn+htfUQOfaTa6XbkHHOvdWL228KemSX+u+ovTqGLqWn61v
te0fxqnV1eqXMcW/NTbyQtvn7TVOjf7IZI1nj3VYNYEAhRPpIce/MpGzL07KqeFkifl2yqjASFMs
zD4dPHRsg2b4l+szl1Znzb4Q9QzxZg4SSty9aleNov0DMCyY/4qkJBBkUzqM8L6Va5ApUHq6wYmC
0ASbrrUdNNOwmLOXPq/4NvLZGUk/8oIphsYTM0mapjru9vOIo3/jQD0dt4VVmvloj1aijkZGkXvs
LcZhQvPsbJpR9z+Rw377EBTNeHUQ5TTfDfPkHEFD2vZnpuNWem0IFA2OrlFBQAVVAJEZGS68FJMb
oW5qKbmxliqofAGuIYJN2LrBOmEm6/BVByYd7RNrgV5+seEd9L0X4Dc/CeHV/oti2Gxv7HZollNR
d2SMufVY+afZblV05rYYGYjLFWrap/TDsGgE+1LXBqm+tZsmfK2wRZI3BRQq/e7NUDWXlNv/H0Et
7Gn4sdub1aLe3HVQQpYHL63sfyiTp8chHYFKNxKyC8YHx36aNTSD3TRCjbm0tQj/oWNgSxd4tgy3
IbLH6ELayBJ+aeihuyFCAtVDMaR6KAv5ELaesfeGm9iiL8IM5yDr3c5FFl6WKCYLmdKKCZxqM6B+
MN93JfGSHAZEJDsHZbPvvLkA184FSBzKh7H6nUJE0RvT9mhIjA/Pee+kFaOB3hsAJFaF7h9buCFU
lKWhJJZa+q/8Tclt8m2wcNzZsQ1mLiHMSUVRPTxLpIJntbDlXyFq9gP29+xaa+fD1qx6dz38xsdl
nOCukIWnNz4Ql72u7QU7vuVeIiCDKQd1gNK9ihLnHT9qr57nwfYBVDEH3wrOXdYglngMoQvZOJ/L
gEFYbT05aNCvinlqvi0Z9B0aSxFIuOY+tBWirX3BmPyMXCKDNDKV8RHZGHt9N1blx1Ia/K2lS2TU
cTSTlV/b2UWoZByIYb2O+S5MkizOHlqabthzJUuRo4xdsCPVSvyXazxRWTlxI9V1tVZT0efKinng
M+gHEG3sUl02rQ1SpyIXGznWsMyqcv4K3LIFvLvgVLExp1w84b6mjLr3SRmt1CrjXFBOQW2oy/gD
fsxfWEceGFYzPqE35P1Xw8JLwNzWf5xool7ABk8ceExUD4ge07fe6r1jHvEY5uOckXNRSgeGfkYb
4DducQ/FAK3THPf/NX6fX6rGDli75kg197HMy2sskvzUFSp4q6OCO5BFNr6jFlLwZtQ4xlELRpna
cCeEe+kjSwY8lMQb3ccCaBoGomM2kEiNEhzfXL+0xIDnYx3eSwePM0gNxGsGswybFCglrrfs/cTj
JgVm8CDzLHjMEL5dI4eoIabT0ItCRqZoLRv9M1BtDDvqtvnVLC4YJCrx2PuuGa+6lLz8YdvJFYym
ai4LBmXNseARsA8o15Oab09zd8ydhsBTNfnU7nsxyOnMOtdOdqYoe8CzVBb4YHg3brzWxC0yWs6b
gwmzwd6Fnm7y73w27BF8a+LIVYC3AAqURBS+SpRR6G0aA5sMbXSQAe8g8A0EAeqxM5BenyH1ZNee
PjgOr9+O5qOcPzq7yaqts3RR+zhZaT9embVg7Ahw7Hk8+zHKhk2aYEk9ptbKueQkgFrVMEhxt4UY
UQQw9ImRUdpefPQaU6wMW1J+uF5S/wE6xbpG67P/4hRHGeyAZl4DgDhBSEFENA/2QySkkRxYnxN0
i16iBFQWk4NGzz1wJLuVbUjLY2hGml1XopExcxDyxzt0n+scGbnSVmalnrmNSmdgfAXxDIU5guld
JdLwBk2LTRr/efWuq5rjbI7i5stNWPNt4R7F3CB4eJuXDp8tP+9ENOd+QruL3ws7MrZU/LKgQ6Kw
Gw7ILb0bNLKY1RzKjRSdn2rkMcspefac2awoVZ/FEcTcBGV9yH3Ea04eM1TPzIywGDPQQTuvEt58
whs0mm1bTb17xKMq4qML4uhcxwBeEHZkxjA60VpdcUdofexzdix7p2tIo4iDrgGTElndozes+RgR
6fNvpdWg5OuxjbxoL4ctC1IQWbAykZw5SRrbPhIjwySRJ4nMWUkisXvXkq0osHJVbfYLqgMMcxXN
yZcNxgy5Sa+l3qm4KNg+uUn7ahNK+LvMHQBtcp247xHs1jT4oeesn81E4duS9nh/qDoLHHUtFNyL
njtJiiABfO6hnhfygmhFPDomQeXG60oe3QHQZL/sUMTSIiJPpgwk3dcsO7jdAj6fq8bp1AC2+Cf4
Yb8qxr7RfTUra7rj0MQeTSqch+GOBuuZ1xs/azi1ETurmLgXKoJYWgTVBCsfAOXCc4zWGfpcwl6H
58nOz6MGh7U13Rx/WomwxDZUq2cIJWvlwzadW8GqoWs+kZcCaqNCsA8DLQVBOAI1AtHWbdwfPDRO
CD7daK5RYAxdxLyJfmbf1x68JlGAitoMUQFDw2iR5XcdwxGfwXftyxMbN8s++yJAwWeSpgRqaEwU
7aem5xGCRxIMW1ZctcvepuxefIVEfnWPjjawPA4/zhQXUXGlKtpbhxo/2rHO4sQpHIcQnRSfYwB/
mjzcPd9DnUOmSRrvjHjFTW9ehLTukVV7R8CGX/vTp++4tT4A+xTDMS8iEW8RjwQ+e1nkWIRvRd13
xkXS7UAFhOvIlaC9bYbu+DbJgmBIPHy9f0wDa/T3FOGt+0eC57dfHVouC0J0KGPMCzyfO4QoRX4d
kAGCQ6IQvuSB1f5Obr+izMupOlIIprchxDCyb2oHXzlkmim62oEjoxImtSngNPimmvfBVMObDdED
spzvV5UqFWnwD+YwyzwqBz+6zKVI/k3+oMikKlz5O2dOcy0Jr2aUAuWF333xioT8UOSUSIJitEAt
W1WWLHDGPpHh1R1jXAHzCKsrcrUstSxIGaH8ZmZgDJPaBp1SooNLmSLNwlDRzDf+t/A5Rnjb7BcX
Jd0hYxAttpjqux8WsZO1o1TR/m6wsm54ZGybZ2zS+woIqzP6dJMdqqR7kUal/2ElmHjOc64Y8Hit
IeAdGuSQb6dEDVcz4vDfzchOqj0jpkZvU5x+L2gi6H5VC6HPynzvrZj9+a5Fo9+BkW3CJ0jNRNOQ
vaH780xtykHbsmwBpYWsEOrkkJ1IK+j+2UOtfqxOUguPHTLKs8Bg7Jx8buvXGXTlPzBFiX6qBEbZ
TSPK5WGgiHlsO+U/VGnDOiLhMAVmM9bWczo3tXUtO118ZyTD/+f1KQFgukEcy2CgIZaB/E9vB78/
QJJnOgIl49aCqmZs92cVD/K6WlI9BCwU/8I1cn7RqFdPUTojTlOY/Y6onaDW2qlLghgLK0hwLVkj
eP/kCtaKw2Bgjebm1Gue41DM4gJ13wlu6dWW0tl7LjSA831eBSjWGstjtdk2IL5usDNFs2sRG/40
Nn05QRR28+YQOhZuCceQ3aGNOpY5qmUKtGrO4hd82KR1+Y5KsYrjV4VCItHWYRY2drgL5yxjrYob
oW/K+DvRsmWGAldpcWdKOs0n1KxqDrIJgofA6rw/MDJf8np+BcT4VEg1PVnTTHhDOzlXtGWwftos
fcQvOz+0PFIStPWUnwuEuOdAGCQXqJWzc2e64MAtk58QY+sbCT/zC9v8ZU+HR0zlFFpfCBjtO0J6
OZ/FEPyPozPZbhSJgugXcQ5jJmwlgSbLluXZG47tsplnSIav70uvujdd5ZYF+TJexA2/7ujsSgFP
BYbbzW+R6J/H0h7xLaTp1ooteZ6IDl1E2eF7zlztVLqTvtM752Phi+KHTv/UAKzZlYD38CbQbIeT
p2Q5i/LIPrYhROPJWL0TVHhjYe/+5ESdHrUeUgHzfXKIcVLS+5x7n7UAlRQZisVZjXi7Cas85606
dMHs2eLTAar0psXlSq8azOJaGlK/WGMcbrFzfYYu5TTgImWNZbWGAIEU0twRd3peOPE3PekA6Fpa
uyOskdJqOCU/lQ5dbp4H7ZRRl/JYpBAa9Lydr5gHacdoNRqFXLc948Muzlk2pN91HQH/SIv00NIJ
+KCpYXkTPJQ7rrGShJCzfHJln4+cn0QbYrCjb1NCchFd3/mVtd6fYSqtsMs2/EmZ5HeRu7Rnr3Gb
O5M0EoH5rjxg4hpeByxiLHa75sFrJLfrFlqkpsv+uaUqDowGiRPQOjP/X+V3Gktv27eF+aJjmty6
jjCPMLitg6166zVMI/E7kHHbtybtQFgQjKtpdNmL46TNu+W43O/NivSxyRK7brX8iZ6wZr80OoEG
UtK+BhJF1E26N4r6l/KV0gcjgYiXI0mclYILHlY4ox1l2ai9WLj2IdwE4i92Rz0P9Ub7Occcy6iC
N8zChrZTWWZc8kYlrzCBcszSDI54SoZgMER/cEQ5XkC6wvQdBAIAXUQIiR7qIuk+dhfIJkfoBzPG
l3R0WfFM7oZx2btysogCrvUs70fbfRpIllyyeGkEb+VuPJq6ln/hx72RH6k/rIEcjhcP2GSr6Ug/
U/haZV6gIaJ9OFyHznNXmPsKQwQBU9Ra8nPdgS/QlbTwe9JxOBu5NvwRAySzyp0xt6fuyjvuQ5ZL
8pY59rgDTosUZcKAKqlYhNLcoa6jcb1OCeT6uCT9w/Tv7E274b0AYZC0qtVJaxvSnnTLwUgpQBqF
b1RefgAd3FzpHiMJWozyuJANCnKjPxK203GN1F66o/WbS1vfOS8znpAPfhUjjQvaU00070PLuDJg
nijvKIajpcbGUwPEbyBMVFL1fKjN2D44oNio94ZUyJK5RLaJxuWnMOIZ63+vgsVoiFGNw5uh6bjG
aZMVbGMjyAjhOKBTchHgeBuT+UlQDU4Frha9ibYJtzOVfc+ZiikEXZxGfkNBGR8yiy3kpmwXIgpk
4lDk8Yma31HXOTsBz8nYOHWfQvuPrPpzqYvHuHbACnTirgE2itWmoCGDPyMjM9boWwpa+7c0LtUT
vxOx4byWe4PUOwKzo/7ptu69yxEjZDxBu28ap7D9JcLMH0ERg/uLaWZXLpHxbM0NIQ7HJORpltSe
UoR9M9IKF3YKQ27ByCnTF+4g9d41i2mXLzlsPIzm9VFEAMvzGreCXaHAClwMDXDMh9zRWYd21fKh
TznFQSGGfJaF5pn1bO/bI62EhonhQkJbPzah9z46QP17bk+3JHKTP0RP/BN1wv1fz6o0kImQOxIG
ZD2YCUM017r/NiWiNRMv/TYo8zT4NBLUX2VhNeoYVAkHGARF6RfCBFEv8Hub5uTG+G4y4XH3Q/ne
tqHXHKKx+P9CSiaDO9FbMujqnZgfszsLq+rE2zj+zCNhnttW/eoKdwJ8tM/ENqxzY1KNPVIMEIRA
57ZGbyoIH2V0zwqLKKjFznyHW4tcf67Pgd735T1ZFfATWcsipYvJi1apKBui0qzmwOs1X32a2pfU
VeGD4UwpFkEt3uqD8woKNnpFgGEFjePtQdPy5GNEWnicjJYkYQEjvoFFeaF24IHWAuuaK2ns23lK
rpZmqDczx4zbZ0a/YklX1KtWu+fGTdu95wHtZRC0yHuBlLgnWELyVwxqi8ZTPVe2jhs2Gxu/8kJz
C9dJBeht4prwTDAtx9QgYtkmPbfI7i8LgYBh8xmtG9uZkCC5Mg4NwuDOzPvwtuQuqIaIdjx8iuFF
SeqFuU7TjoTRy/oiA0asZpo6xkR74G1FOvMMZQXqDS6N6RWUWhXthMeNc+PorNr6yLLv5jmpL6QX
2eUbkblbEN3vtag27qBMdudpcpsTWYrmTbZcIIUhGx8leP5so/gRSCRO2si9gsf91G2nxoeKWLcp
TCI6Ii7NWwj2IuiduTtbZs3pwzEYCDFYR2POb2s42KfICkJ9ZmrsTvpxP3t8IKPMh2ZbjxE3M9fp
vI3CAfaQEKc8KfwNT9LpjZe+bwXUeB3EoR+S9uw3peACfBapIw5uV+pHRnfjMM1tQ08G1/sjdyad
saMyP8RihceMpP+pWbj6eKwZdm0olD9g6DCwKbft41wV/aFMpumNxH55cPsSqBsfrIQwyEL0aWrq
5eK1rNT1SYvPrVdZz6np8tO6XeohK/ELXoEaw4PWZto20+LnKYF1SG0AYFABL8nejjoFEUrBmJ0I
bGF7dSOW+jZSJGhWO/5qurDaGWMYviu9vwcf5jyaycoxK2QYnq1OxA95NRQvpNawwebATL2B/llW
tkP1WaaINGwb9Z/MpFyl7Kth18omhwhd0XOhDeGNSg82ilCPv6ndtr8guuxHLq6keOBt3BlGMe9L
OCVcFLFIl2iPg7XrZmrcTmnHnmpF7u+SMLHiHfsjqhuxamJg1KoZG3Zo2glb6GLx9byP9uGEEMo3
J92WqWHN+C45VcKGucBaRPUTx6rfO1MvX/tJJT/Yg/FXgPTaOQTJ/+bSwAbAO6Pd9NQF7xNpvfUj
4daNNzvjuCNtnt+QSTJ44Y6uPZkkUT6GUikcEo4WBqJywvtkFDE+b64JPuXGr3Hf9FRmCPuKvwny
GG/wjIlvKmkJsMlipFRsEMthQ/MeUqTwzJUUL5zVRzvciW7QFo62jwrD+PPSEczHClynCSBmNg+d
Z5t6d0JAZvOEfbmFLhjOAC1o5E6KqacNmI4e1ob5wOQ6tjfCMssjMDWN2/0sUfbyXB0TyENMdLOk
y6F2dzQLhjg4o+HLsQo9qKy6vFWJ8BJOED3eRYbB4jdyqTuoworxoE1iqMyeOFJz7d03ad9+9RxF
d2Mu5QsRrGE3Rz1LAS7eDg1PFl+Epl0yb4OYXG1D1OuvrKY9nlXUdGcgJh8S8iW3NKYjcWdZevmR
slb9IVUZBxRgsmbL9P7a1WAYzCxOfmrTwgWlDWt5Vmifseul94s3UVo5a/Zrifd1V/XFEESeIVf7
X+2+YehoX1hNhkfLKsLXuRnuq2rpT30KxL+k9OY74uLsk/TgtTF35iYGmrGCUgxQOy4t0Eam9Ses
kd2v7NQQ8N+Fz5qrcx1uHGrnBtj6JxjLTmBy1yfdJec7ERrTsYw4t8eCtQ0SpNnfJ8xFNeWxK41L
Ff/GuRzuSwh+F8chPYbZE6q6PhExzIv0h40/b/ck1laOrmq+hokSWQS90wQsawPyOfpFycoeuAbU
H/OkaKZplFG+LMp8JUyHetHRPbite4Ztr5bDgwftOFuT4SXikO28KQ2fHaF8OVK14IhTu6BtqpBz
thyK6GbWqrlPm14BqJ+aYkP/2vgIQlEFPKI6xQuae0JZ9/q9RGnCzPB/nq0xl+42uZE69SBHuhMt
icOBfpni0sIB3YiRa9YGMG4PhSwvNd67SfSROQOFyATRxCaPpjxIxogbJpLwq9O1JQHalD0tlNZb
BrpzT+WYCxlKp3+UUMiE+RTukSJuQWZkY4Ke+797giSHpejBxdpKnozJgUs5/qEiDsMDLkNvutF3
Mog7LETZjlaJ8AnKhsGkDzGpAsO/9pK12xyodNAKq6UWwl0LWdyUPmjD7P4B4Uwe6Mlykk81u3zd
Ju4JPP8vnZnwI7VW/846JNvlfFj51l5c4acOx2KEzPzmAjalIHSKqs2oCUbdHls3stJo12gKhnWY
RFnvJ8/ovmMO9f93J+4nHkGbAnXgkbxCBn8h5FIcF61pE9Raj6UV+xnqH5lv6sxv2Tc+hiSNfsIW
FmrWhAImXmH/Rc7QIsggid/x1vG0jcOTQ2Kla46SjL0I2kl+gi2FNF/NFmVDIGUOFvV6fKNixjZ2
DYTj6lnXFtCqkCYFMORf4Cm1cUlrwhNbAEDteaEr52nswUKQN4vPXjI1v3HbdrfQKzMiuU37kfBW
OpGmVbuIotYn6j/So0eo944Var/XBPNQUjgYMWdbK33X7JNDrrdt4Xt23d4MTSyvWhGJ85xpjosx
D+cg5oYCdx5SiuBX0ukBnPh4109OcrLMAn/ZNPU3XKH60UOJfs+a1PQJ02Uo22Xn3Oep1mPsZDIT
19rSmveERSUvLSSUOrRn4iRLnRwmrJcfXRTN38LMl2vj9tnDXC8O7wR6LdxGNx6MTtATrYryzaZO
ddeH9j/4Vh29FCBNu6LTvrSR8pvJUslBwhJbTfvlRzeZ6PdrR0VYxALpyom/M4wfbAJK8ywodNyM
ykrI4pM4g9cRSZBm4CuuYYxjagM2UhwjJSxwPmX6uAK4NiqmVkqMfLNTowavQcyqY9Y0c/dKfrp/
Jq7cXkruePR5ZkE9YuMdrANYGGu/4HVANLLnCw2U6mvpUg12xILan3qKyAV+07LsGKUQGSOC5pNb
HnUOM/L+Xhhbl6HGEqUj/mPjzMWr4tbkbcCpvRGKIE2tkTb5CMNa3ZNXHh+XOOqPJUdbSRqW0hBb
kCq3YGng8AXrwNJldH36GZZgKES+T7xwfAGi0p8pvS5uxto/AorDxvLKcpdNIiApNLXO8G6ag7sD
bjPWxJSUwM0pSCtTMcPNm7i1SvuAylPnk0FqnIJy6OkKxI9snAV+byMwNdbt8A0YpVsWefuhhpLM
mW2/I9WmBKATNYIEdWdKJ2zTvZvHSQLSmBIH9b1Lhh8AGoaJNUzEfO548fy2SnDxeJOgAGPNkAQ2
Lqm3cqXdPyI4G8IHD2ee8JuxA0KGLhxq/xxH9/yEEemZXSPKU19Itn9JSlnbN6HF8REFPDKCuBqb
ejviPpnOVtzh6aWyLkqvOG9MGpS43/xYwtCtbZGzSLng+e8qwMNx+oESieeJMtJ42RD3wdBsZJNT
bIuaDwPBTeRXlbRELua0sAitZSM8RIRxLPg8x/iSqRjCp+xxOeyXSbuofMXL4JLFYNZystHDJLOn
zLN71CwjKdjNZCqN6eSJ8TEUXhs9jriRbjCUMEjEmUYUGj6LDzmQoV9aVnmosXYwoeSl2+HPM1rW
ex6YpGOhGSs/U3rLL8EFckPu0o+nVi3GcoJlWT8DYgYI17KsBp5QrZNYKo3QvQJ5ZfNLiorT0o5h
DQEpyzR+285IftLjdoX2VZJlPJsEXXkYkr6gwsiN+vyggIKBv5+AgpEArcG+QWjX96PoCKikZfY+
YlJlLCQ0J1ZPMp1wqqq985K0/FYS3VyA9MH93ULiM5HO2N7joOUKLAuPnaeyY0gfjQbbwp9mV//N
Oo0qFLJS+jkBCcBds6qBU/I/SdKmS2YDPl7hOKdxHKS8J6lT89zXBkXKuia182yoIvRNYZTFrgWN
Up8Lw5MHKtn05jhmORQ8OSXG10o3ZfpVbfVnOaMMCkEVxiZlv/DM6rVbqKKBmhA0VKiN58TQ7T9d
DVxd8titL0Ag7Ac6WuRbxMucKyw66HMXcknyDazH1PoCK9s7RQXMxuN0hdypfQA71Y/waRVCq1lU
boDp0nB9WbBQ3SF74cig52g/Nvn4ZKK3/mh99kJNMPiWyENLJctOosGGnKLmL9DCJ0y3eLLDzJyx
1TbTE6QV98yVhsEj4mr+hnmeAgfqUVHVwMyHmfI9YJyb3LTeuDkiMKhC2zNpe69JO/3NVpoEdKdw
2RMD2rpdeIcGmz2jBDEH1O8+fsR3QfUqDoT41xrwdfAwAK4W3zOv6zegTieHGOlmomq7ssYrjQ7b
0iEhDhzuSkjy5q5xRY8hktztm+gcvIvT2NJpDhfXL/BZ7YxBENuDeUjdYmQGOKgIuYo6PZhdl2MJ
cYe9SSkiWErR3JNpkde6R4LfhrRygS6Yx4CcyTsGx/GCbq2f06iWR91xjXe778MTnDwarlzNqz6W
uvEumVq9UqH9nA8Y2wfdS/7NXOz3OhlrcrWgRioMNrnHQtpWGzNz79zJnC4GxMFtXukCcigJNjwN
8XPDwszZ2D3+UBiIN+Rl4xVB0L2g11U/UWioq1utQ0p4ATsEwBIHh3uWuVE/MAG47TpKLYd+depn
TKWTabiPMfRXMFFwEwpDYl1p64JY/WJDq8iBXQGJfivc9s9jrx4Atgk/ZzBKvyFd3NyMlX11gBoG
WVhPG8vVDmzDkL0LlwNbJ5xzNwiDyJnoOHiSsnqJNOdxYMQ8GrBVgpaeyHugDhnrVF5R7LkOUUaq
pPNCLSjNuN6kCNbtbgIqfymVU5y5zKLBuTd2hAneikacoQSHhGFjPWYuHJ+MJZ/tjdvCL85HikxL
3jg+ijI7B5x6ewwmXBfZXaF3DDgSZ+ejJRWx6Qfr1WW35LPWKTbE1x9k7YX32mReUkJzm4HMdQAo
iY+qy/vdvEgVzJNX71CCS3/R4IgOTld/g/DrA+ysfdDZ9ls8E4eklH3LHA9YEnwxEyyLBU+X7h3e
UnFyFPbj1qBCqw3x26mW1LOpvOc8ghlHjTBEGPG9EH8E6qhK6ywxUh/LOBZvrMTPzoJR3GiThIZk
B011MD7mWf0zm+zSwUDoGmVaSKh6c7bCIt1bUhxxq9o74ToVmk4YH7Am537UxqiIlTMHVd+aVyR/
9+wk8xmoHlpzOD4D1LGZhRZfxfZ8xmf5GRuDJHbTAsfGrRzgefoCAsmCLaJPEhsnuAhKvlZ7YUQw
dDGj8TroaCk5le+8JfQTbRy4eqZa7trJNsjYWbPdbGRcNh8GnuNgbCrowM2Ia/hMTacUWyU5G3gy
gLIaxmZysfCy4HH2MJHMx2b1NjC+Ms7Oue13CvDEuHLyeD3hom4rcd/g/cSPbsQ7nT5cZDV6yplW
dwYpaNzwZn8gLIY1bTTUJlb5b2Hx9endRbu1TIEnV2+7AzCXcdu6SXUXWv2Lx+7xKWotpKYUi6Oi
d7QLrX0trenb0B2uE7Z7J1HAuIOBDAJx0QYw14BqEdY7QD3K7juoMfu6174V8OINtVo9JmGyFq4Q
HU0ZvIoOMmnlN/WCuESyfKyooif2qiv2T7lnqHsMZBcCy/SMOzpbHHcuK9+y5/CYS43bLpNzcorL
AXkDQMB+lLrBCoMQQ0EJAOTItKG/lqYCm5wt1dmpQd2hJj5Idfc9xrTcgachjYHLOHbMDWyvngCp
kdw3EIcCwFLNrvHq5CU2tG9g7cN4chMNdCbp6D/sxjo4GbjVezz/Fb7phJJvrZycYGkpr0U4Hacj
czXnYGUNZ2g22iGVQ32liyX94EKPPyppbD5L9LaknqsrVRDyzrRU4M0/dpXYaEQt+dgVMAaIYiF7
WBFTFMIUR+WhW6T6kF3d3HI2nmtqN44bjCvjV4PxJt1PCIQfttWLf2pw8c4Y0TxvVRp15pH1L9f6
5GPo7PBBcCqd0RUDzATuhZTDnWNJulbT0o6GHTuDt1JhxOeEBU/Vc01I6PwpphwbdjUQIeW7z5Ls
X9JJHOVek+34F++kx0s9n42ljN4Sjd5qNzTlFoHOpRdIfM3W/NuMSj02MTXmNjASJIP8W3dDfB/x
cufSYPDQ1Hi99Ki4a4qmZStqZpiXM90vqOvZLjg/8o3juHUwj4P7wlqYNEc+cKUcaDDZp2bLqdRI
785dl+xDgvpIuxJQjijSjXM9tRyAtVM8s1+hc5bHerL1Cm5HnL1wveKFxMaNKBuvf7tCDkgddkxg
R0UhH9jhP0Tr2AgeLr9ky9CcrLI3A0z51RPV3CFF19Qy7Uyd8nYREbAsGNc+8VPRVj70L62GKa4o
XUG3XwUvqZbMUjpb5sZbaSNsn2+ToU76ML25TRR4PRarknDNMlkT3PWyZgttFv8ia65ruj00iCuS
kRAV+9InqXzNFopbpjl90B3BkdW0zqkcwyBvs+9Oy0HcQPn3QAmKmV8mKTOCTdG/TluGM4keuEsj
72u4Lure9jwLmT5p93Pcrz9DFz0IM14PP2E5d5obdfvISLpnjtLZ18cKEIhd9Pm7FEL86JOR/uAv
g6gSJ5VPR131F8rwmiSEYfxh6N87a3lQIkVcmNhibXuKAeJFdDdh1vuhh1si2+8IL/KWVVVKYGrS
D6NTqjuWY2uB9Ap0yVjXjLHyHayMW46Qbya4E0jS6VgtvGhsYtlHs53JjEx9lGy6lhK2QdWFjwRb
7p1Bd8mRDeu+o35hC/Qk2iwkERJ150wvs5duYQ8zSEWBJyqpYnNYZS+VxXtVahFRV8i/h8H19uDY
f9G6F1DWnZ/DHDsnGf7KBLj3kcfEvlRavJ9m0l+jVYbprkME37WlCdE6GUaNNTB7Dad+afHibNib
g1UxGHonvQDS6dDbk9lrl3q+OPck7EadazNU6LD78Gp1AMNRsF0pKlAz3jVLiWPJEAcGYR56ueSc
HGnOS8+MX9F+wjRxp8p3rDzYsIdnjaoyAV2kJnWERQEVfYFtso9k5TJ4l52iqQ3CqAZxbz+M2A3L
MTvoXWMEjbSLR0Ve0K+SVStMCxqgupxhuBAPkZ0eDAJ8REun7gv/frO3bG0OaPtj+DYlrL5hqC9q
iW8udBpGEojOBTznepXBTcOpvskoJz9d1j3xABm0dubTc2ljeGfL6vxwTaehwSJWfcvqvL2YZBFp
GUU6Nt3hs3Ucwi4bZSS3eDRxUQsvWtVNhqgM4CZ0bYQakdR3Xq8e8BA+1gam55nWwg3Mkm9PldUZ
DE3l93PMtKjW1vGMxfG51erm2IvE200RCURZMrcl0fdctByO9mQHGDWeY6N8qOuWoxRpdALCEcnD
yDh0G9hmkhOacCGzh8rHxN13SmpPxB1X8ZY9tYlBd332jVdrxdOlHmMOFs38oDnx48J6BydOVu0i
vNOPWthf8wzKLkOF7qPV6H7tNuk/HR8Brxke3N7xsv2EgOXzBmkhNmFR8qm5dGig14bHZBgUNT+k
NjaYftMIJ9Fa2peI5L12yKxQ4bWWejfnaGaVCQYgUPycdW3LgEAJN70IDC8XYODbuzaxy0ObxhCc
Qhgzwv0Lu/jOxksN+ZT9TOZ+cR0QxwX6yN4cLeciebXvtZQE8MT3ogw5HCGYGD6eXa60iKX9GNSh
Oz67TlTtEsdNn+k+ODVscy6WbKxfcjWs6oY0fLeI6q6oPRhw9eD67NReI1cfSNlyKXLJ3swTbp1q
QVH3xnlk/YUbeKevQ8dOC5laCeZTpR150QkE8b2n2SMqOyyYzKIq4bSQi77k8PNPcgGdyDe3lp9e
Ibtbq1n3NTQDVlxI80cc//gTY69PzrELkd9k4NjgaU8floy9yTDQKpDydLyEbZFsp9ro3hdWdMgf
FHBDpUlOyRBF4lg4uFQr9BBmeTQx8NGA+mD3cN0089jak6zKdzxr1R7QQUuiBa6fTdUceGaJWZm5
k8YkIKR8KNOkPcCw45Nxcu2dKRQYPtGxLTbJ+5UaySbWLE41nkjSJTNH49mUU/FkT1H/ohqnua+y
SA+6eBmfDdoA0O+Qi06dQKdwivmcKwp1KrNgNqQf+A+Itcc4Oa6ZKkmx0w5bIACsIkqGPKBnqb5v
6s4Khs74yrzy5Lj9+KO4w50JABq8ewm/TGy7rO4v5oPO91lhC3yFTQMXIEmXsN/T7jCyXQ3DK/bt
4RypSKS3HLHGDkYHNegojI7Xfs2VmYAnKsQmrrvOYDVTydeG9IRvUxd9lQmCtLb0OL0xPJY2Z0DW
PUrp/hhDEqNVtdY+h6flT2LGk5yZngOXWUy+zdUrWBgk9pXLc1MMEoLSRIgoovsH/3qz7uv0CRgO
qVsM63a2/FN90nzNhfw3l53Y56rNfPbfcYaPsOBZRm07LKBjHlOn0D7dugqpkFrz69iHiZi6Jn28
0I4bLqb5sAEu+w92L/lKk9NmpattMxo491yc+m3TUybDDw8NI17v9dzlq1NXRTXZeoLldkRHGxbq
3twuXnp0ygSzXNMqLLFzc8crExYBbnGs2Powv3WDWQEYIkXFy5Kay/x5sFhVnuQ4ptg22pKvKXQr
zIp9zE4QgYF+mIRPJMCwI+QeckB3zEssQluBgWyPc61lrZkU7SutMER7YcrYzqmAfFCN9xJ7Fjtf
bVDxOo9hnFBEXqsEI54+3C3YlwGvCOn4SxF+MG0vN5sctb4hpG4ekKjUcQCv8ExoWQIXwRT42kgF
px8rYnHT1Tjus9jDctnzn+t6F/3Bnxx8jyrME5H4T5Ib5WHBwL6a6WiELdZedm2GJhpAUGlK35KV
fWN678/ZBHkM8xUCnqeM6CEUrfATj+8lVncMGvWIVmum7/TEdKdYscDngtuCLZWswwjZDycd3ijL
dHRIFv+sF9iUx9gQqeOjLYMV9jcZMrKyVuyaG1BT1GXR3eiSYkFcQzHZoDlkexYPVurnBsYNzPyx
8WJm6jWdS2TIeYZxQ+zfwrTnNH9dXID5BFKK6m76o5wfMnp2N0OMzYjnZzeVg3uP10ZcWpy6QIyB
NDY2i9/ZoVOJ8+BfYg1GEBZzzAZsfI1MC5QrnDlIMtzhjs2yDFhA6ixElVNyPNFNv2ySReUr7ccw
zoMey0vHIHwgGmLRzQOZFFw9VToNADDMa+NpMhJyWiyD/Jxi9sWqFlSEg96wBSi9OD70bkPaOoHw
beedt2vRYbCZ8ub9ZLrCzB729ksYm298qqsCjjd3E2np3RLK5a204RdW3YilrTWp01yS8mpkuvJd
NeOnTpsbPaQs7UOwzmvjhfEXoX/AAlzXOeh7BsF4SBT8JeuCAdGckwqoJ0wWyduXb8/c7twWC0+t
V0xKKX1lNL55tPM15ZkWkoFSytBlsdRlfrpOoiG0QqoxJhelBZv9jmTsprJSpkhvpDUKUvhDncq/
eXF/e4L8BGogk/QanVc4lHLclr2NCXShnt3vHWlyd3LwfsInhMWZpFVguuXqnFlK/sDFeSGDRo27
kCL54CB5JORJv4JBiB1YOQM/pV4Lewzap8PbDBOExMLcT/ecv83jRDJzPhI5t4hS8Y8Zj8HMWwMN
sKcyxr6mpnHqcb4eEFWLQ5r2VISYlPSxwfN27Acq1pwGVl0zSs8T9oyb6027GK7wXuoW6+9c/14i
ba+alhbLHMpiM+boW7HpPc4jvQpyonQkn+ujW9NFhQlMe48o8wX52OohT5NYIAc2xmfZDXEd0C4K
NmSEFFoKp98zhLanYsHqRTVm/eC2s3lok3GlOFAW55mKGIHlseNJ0zPbKe+aetpttMxqZ0PBxR+r
oeHmozlRANRgc2/HDnxMT6Omu+JW58+a3jWQ+xTYn/sC2soaiXA/K0s5sz+l81KcdZjnTxKptjph
FkCvUG13VEU1AjNt3fBe9Ty2Dyx0q9yfqgzSQzwXwxg4YiEWu2PvV3bEbgrzPLXry7tRzdOUTbfU
1J2d2ahvQkVTvZ0Vbkv0ISa/eqEHEug5odg2grmDRyrCyOaAHthN3AwPReLxC5x059/Ue/UpRKfD
1oj017r5i6aRPIxmdHQdO1gMOn3TEniPiORObLSnKUKbzDH3ZHqG3ULPYROFxIFRa1ojP7sL/a7O
nI93mZ1DfTNk1Gzz2i04bdNRN7eYFSjjnkfzldd69csUsLzVXC4nv13k9ITWqp7sBfp4Sgz7YKBI
nnJNf10J2T71Ep0f6ab3jP25J+oTj5jDrb5jRanXJ6E37pFhAuRFNkkfuzmCnUlJyxWiwpyTSW5S
8tBReOdwKmUPmqWM8cwOeD5BVhFYt9y6P2CzGD1WHRiYUu6pB6nG8GIYC1TpXmbvc5GLr5oyoZu9
5NYrza5sBZpCuRsTNDRPkaI6aMuyKiIjEtKDXSAJeAAOgE3WdvuS8ge/NXlVB4OyfdQK2hIXgroB
P6LJWKYcQtC8xcPlJGSY3BJgbJfRBWKGJgZJC0RkOgXJPBFYKUYn285Sdf/ciq18JxvkJ95UgSu4
ZFd8d7UimWMf3ATg94Y82gGEXcN3kCsevbU4mqmVTZMd8Cis0Ik773RiIoek8OR9tWQf0MUjfyFO
TDRONqdYtPdFtzxXoKpMxcoIKBP1NNrS/vYR6qEnK7zYYoT2LWzJfrHItY0QRQMSInaG9e96Dssk
/ymwgvheMzT4sBJvIcSqZcHQhvZBh++MZzOv3haR7u2kuIo4+csELwEC+KSx+5RwAmsIzq96bNZa
DEdSEZ5o6TaKYSalA9jdCB6oX3YIaAT8uuJV9SJjVwZ+Gx2WF2yLlynQuPYfdWVll0WRtu9Qn1Fu
WBTVoXfosJAdMm4JkoTb/DTQ9n6lNrniSzOjAg+NChKvd87IN1ydZTHsK9LMdxGAod8EpgAwYaBP
yMke14/crB7kPHsHttImDixC6MvUyKCT7q+k8PtMCRAjB4T1Pa8cCK1OyofAYxzIiRkBR+tCCkxU
7zWbBJca0oX6mV45W6cdjEPlmi+GN+UVmZa8+Ziw55DfhSQVB3kizUec5Y+UOFinbsUlhKZ779aa
c49HkG0mi2V6ao0MaH0cPsZsKXcUW5pyh5O+pwlksDwfFuT80gy98R0JTMCmSz5qSCvjoR4M5psG
qrN+KL1W7Jy2Kh4KL53+o+xMliW3sWz7K2k5frRHEABJlL2qgffNbf22ERNatOz7nl//lldNFFey
CKuJlJaSgu50EsA5Z++1NxJn0wWgoTa7mX9crFopBzjZiJzODDmrV6m9utkNQzQ+pUPm3C1JwOMq
4+SAMzI7cRZkQuI6GMSBV17n6hxuGR2R7zxaaBLcOuuGy+jp6kvXhOoT55julIazta8GkZxN1HUu
/Q5L7YFsiW808aMf9iwQvNMkz+a2uPWm7HZUw33JIAkrvcEyPmZxdlmKPt2R53HNWsH0tDajK2Hx
WoRXE1Z1zKl4+YsqwE6TJM1UgWCOsv4Rx+CAnIZlnUYsGx52eaaEBe2c1VIUQGJHcWnqiT+Ed5b0
9uxdJG29G6lWkrVtk3WvlRfsxqkgRowED9gchmRDJp/HqIYFSveqXGZYRgykD8UkwgBLRyeto8Vq
jgesrMdL69TWRA9GBDd1XTj9Ien4LZ4WwEVgOVOXylgBnCawh9DMAdbGhuxRFCqBx8RdQZPZa+CR
e9EGyHYXzbpQj/DLNKFkdMUHnKGkBrviW8TU8h5AAmHfFbfiZ+Qt2bHPRs9itsNyV9jkg2xHnHD3
PiqyM7Qqs+MJzB7mXH8fcP1tAwELOdJgDHEVNKuRty0ZMU/P7kCiOviJ7IfRmMnwjDCG7+gh/Uyq
kIZ4J7Jx32rr4Og8w75XPEpqC5TwWBpo6BDYEFYRmhdQYYwEBEMQ4VrOXlY1NwXn1BOodTy7ZAbR
Ha0mUFQMNndI9gBpTAUKb3dwp9sFvy69oFoHNHBp+SFKpGMqfQMpq3DLQ1gyPkA3Lc3yrLs2crdN
47Wfh8rOM7Ia8jneBBMi2DWOOF46xBH98ApMCbGNKnv7xiNF+2SS1DJPpLG5W0/U4FgL8Clb8qKd
nwIz8KOrwmBYTUiXNgPCgveohbm3SiMlb+tg7kheQ/S9S0y8BHsU7kVDDygfrpmDTOnTqaN/Mjlt
Fz9RAE5yCxaTdnZR+/mmtabkXUdOupNUEe5n6vGxP1pDNSY7ZbdEkcLTQqHmsmqfnTmuH8sGPBX0
48D7DP/eyx8iGpjqqdWKuRKQhzJ6HNgMyq0JTFXcA9vWlH3kSPfVacD8Oe0GnVj62kSLbtqYKMdq
jBP5xFwTa4u0Q79dQUIhg3BNHRLu4gDDMm0agqRpjDkERFdLdoNPVBJmXVg+Z/xJz8NIM4OAXyZV
NDCOufJSOh6oIpH3lgMUrZhMZr9SA5bsjBps5VXL1Jxn1xHZ0wS6xdp3sTfawUoMdUk/BJUWOVnL
lyYnne6sgBd9waLq7LJCh8s9usuk2TZBG84vHNUw8NNnj4tvvmr1I4e+3Ntnyg+wNvY0kNpct3dW
ZqeCpPd0dN/xNZfVvayEXvaMA1C3rBZBb3A9R7BWqhXNph7yYQr6M7ACzGCxo9jxSlLAqrU1qWzi
9etoVVNu2Zy9EOwa0s1LecSqqL8olRBrjoxNb9giyH0NEtHfxQwSs5sQXC1KGoRhxyVpcnUnSnC8
t2QlFBeKv1QfKIBGlt10wjccCDCjqyjis69SH24V5Jge9uPIdjHTTmC3NCbPeFuVQ8xA75WV2LDq
xO8cDyWRinaVv8xN2tdvAO68hF8QeTxYgmHfBAmD95rw2eBEhpgtjnnUhdMNg/ZZk/dLubUGrh+9
lXlTepsx6LGwDNz4mzzWajyhOStaSHLSPyABa51X7L1kmiqiQ/cuZ+NvCQkdrwxDav0tnlR8M+qO
E6pmhroF3pKeYNh099koioN9NZOUNmlUK6uixU5Dw71K+4HkvNJRSwmiLLww+FxyYh0fXdTHrGGk
S8vcUkS5lG1xLXfzHg+T2wbx+HPC8FxuCh159Q4BztR9zazBhF8TUs7Hk+2MTnqTdV5/HFw6piQJ
NdnViz42aJKtMDhVKI7sC9Ls6YIhERhg0w7kY7v5AtSeIJyI6ucO8ZKD/C1muZhkjPxr0aqPbwo8
cMmdnTvkN4azk5wkkvEKOk2kmJJRKw8ZDUQyHA6FnSD0FXWYopKR4SUcDMkEOmvw2/d5Rkpkl8w3
FiLujoGzjt+spaDTrgrSke9rGVgIYCUQLZe0b+82mRb/re/RDq+sidD4gBb8a11VelNMgX3xy6o4
6tjtvoSOcT34Jo4WiCvxhZ3NAmU2juHbQr2bh6In0ZWOB/3ipIz3NMWI5xuH0I72jsTgwMKO3YAV
h2SXrgnQbKNnLj9LN+wlJ4VkwPQ3Mas/VqE9fiMgqn9fUjqaEZa3rJ+2kMPphzYh3Jur7EIE1TFo
awdJV9YuKMLt2i5PCVgOAKtp2NNsI+glnxi7wJQGGYRVXi7O8lX0uhtfSZ8I210ylclV5hHFZHjU
U+wn+2a01W1DKb5cpEAGl0I48ooVvhuN759cHqKNhqp+iGayGNCREdq3Er1F8k9R0ATaDsxq6cHS
2+/OrdX1ioZm6Pl3NlT+ALBE7HwqKWYgLcKzE/uIZK1TTU97QmPqWC9A1WARENbR+/BerzzlaN0I
xtWUca0DRPbkp4j0a1pICYHaWRIiK7CD8hpuLQo4eBJmMDIFtu6pa+rntIavoK8C39eqb6T5OWAO
7u/xm5bw5PWA2cViuIkU5k7MrU07s7S9TJ98slx3ZYBqct300Ktu4rF3BjIVZBEdK58TwqFnzr9F
sdi9yCYGjFaFJcXrVWhz9BTEBhS7AH4IsvK+cfxvt2S/ISoKgWs+GIfR5bkSSPcunXtVGHZz6cAl
bRhtou0jCeiuF5mP5zrGAU5aFlFTZAhMuSNL3HeDQb2cFfVxEFdhoH1V0uySykQ/ScgQ/h3tSje/
Q26pUIEa4deYgQWdd1qRifYwcyUjW48X2Z3YSWae3r00YcRkhXHFRi6wVjccUtP5ZurYYB/ssqHr
hdCoPnv5WL7i75g4KhVW+5bZTr1N47wS75zb8mPM6YTJsw5doC+ItduXCmt5xOBFuhu7YSK5d8IA
Cpcb+cckb4LvHqh+euh9dQaTHZwIbR5vvFjkkHL4BIpE41Y2yDs7bB8J8z1IoRo5QUshxrCLvwHF
k1EGL8AbkMdTOkY7xPTttFGRBgyIhkohH5OKASxuxWgbCozC5yI30TXxousX/+wqBwbX2ONd6XgW
ML+Vus/2LfQBhkSFZ7/4xRXcDASL1qKzxPk2ZUqZr009g8vHcUkdl7GqrJOh9jLS6hq5jjg7v8a9
Z+75msz1UO72V5npHN17DLecldPLLtpz8G4RERO6oe8bdLpHy2cwi9F8QnMI8hStW1hrm5GFnF+l
UO6rEw3iMe1TxubjNZHg1m9k093aZJ0Utx0tmOBbzoSPlcPxWE/h0RFsdaDEpONIr4mUptCLMyve
GGyUYcY2wfN7sMZYsuUgSnkOp9y78bxutJIV4TVWdjvb1DzQqSLA8BPrfrVqc8t752QqrEfbZkz6
bkMU3SN1yl57DHXjN0S5kM/Yz2X07nUcT/bo2KvxUiRzRPzL5KHlcedq3jQVYSCk3noKj45XPkpA
tTPOamrXjUuCDj9bib3ivOTJgP7rymx9660m2VIUVxeeiWC4wannPJM9QgK5TdFwjJmuesy0dfiO
baqbNyjkDK8WP3lwDuBI4uSs6i0YkJ5gpNHy1rKdCsWUydGRe6cHCqQTGMZcLytwKjN6qDqMrwAJ
iff/hcZGiFxb0o+fA4MB1o7y767w+WMdRJBb5lmjRPPFEfoQzI45gr7vGPHzmmztua/Ds5yop9cp
Ovv8Pqld2A+0sjj7ZmPtgjvsHMZ4jp3C+Sg9t7VQeGnt4anzHTy4XosmF/qlcbfkOLjTZwOe9M4S
/HrOhs7x+NoXnSWLDclX7TusbDLD64qDiMRT0Z7DrvZONAiiZI0S4toscBUPnEpUgyNRwJz0V8JX
TnzUyhXmWCSxl64dix1jRQ8WOWLkueMWe9dyQwt4eQ9bYTf7fq5dWi/NTBhQvxBlhTdtXCPeUzcF
wDw4fzoqkk1KbuiCgTdorVfUnsHR9xqPxRBslbyUTlFPjzF+zzJZZ9CJ8ImldejrnehE1Tzm0Twy
uoCEiolAI0HlIagHMCRyONKPHW4QZDlEJs+wRSytbzz4L2aDVFlDqEjKVnyuQcu7m77h1LxOYJPM
yFVEbDIQVF4xnoS5zqjKyNFVvSmhixjKaG/Uc79JRp5Jpl/kTmekcPM6UH/tMAWGm3Dq9dcE1/2t
z1N6IJjb6wj2W8rpoiybfnA9BoDQOxwoAIWzRGGvb2jIu9JMzUbPcOWypkZTi6p6/MqQKIq++RV5
w7e4pDOMpw7pgDuHRmaACjNp0+4xUj3DdNn5RbaH/SP0hR459PrRk8U+qgOLnkAd5FjjiLCrBszy
B9fGXbpNyqQ8IyDItkNte4dwQna6yUv6T/2kYU55ReRdmZMht3lpbgki5iwd6rFttwjr5I5W+ojm
iklgDRcn6fPnbvLT9Ca1/bFE4L7Y301Ui+80aiD6lpY0gv8c+ODnmhdGb5YGkE04deDCV7GbM1ru
MvWCk1NtsEz04MQK62xjeOZQR2+wtDZV5osCJlyWQQIJQC6g43GK4MsyteN2gNLRK3Bk4QK5syss
51SHyr76FJlv99jRXtzMqtwvdhs1twjCF6BLVblHnkD6CWOkRKL7mfsdlLGJYX/Z07eBFqgi7kfi
9FsQgw1VTdV2O10jUadr6Y8XTnBJ+QK7DdUBu+zg4R3sONVUemYXqAff9deFQrs5lxO6coj/4bok
PRMNc2XN6SPB0Yu/H3qOase2U4E++GUoqufs6iyi9Q5C5ss0zBNMwALSVHJVTlfVaQFRhh3cs52e
mmAJ40dU4Y16BKA14gdTg08xbiILVg2B1tU4nuAqRg3pfAXHnmfYcdRRG8e9gjBLY+mtduOeWevC
7thS1lRJ9OB3hBCu+gEtYYrEOi3xzdmMoIgKIZKy3Vbe2P1Q2XUOntCeOTWeD+eGkpTYK6erX8o4
NPtYC1nvQkdEPkIurZ7zqTVPXZ92z6Ix0Y8JqIL9WQNnuKLeffEd2eGIyjzVwwOH9ggkSTQhSEh1
PbKRR+B9Gv6U1pQ0Tq0ujJ6tfrY+0SSaLyZMVEDQhA/fFmwf5K+bAJ7cY0Cx/qO2Dc0i1gL3GRw2
aUhZOvbzfQYY/bYyHV8eaIIkcVUNebhVVa0cslBr8p96NyqbbS4whq6VyOazlTBeJIVUDM9T1ERf
DAossUPjHuUPfmVjKAkMrqwtvWNWNXviHBGiPn4GT2np06z8fuLckwHmhmulywLUd0pACpMPZnV2
b8wtXpeqIti1JjQod2mVnXMkuBnRqsRs4jqJlNj25HacnYoBNAA3MraZ5bHvbZEDBtMDpiDzjhMk
e2EkPQ7bhun10ctdGP8AgS6Lw+jlREnq5qeQyefXyG6GV98e/FscDdZMC8OfycJ2gISaUIzdZ1It
67E6LzU9oRIRFXvVXTww+SMt2KqGT4TcIFBBxLMwMgMzGGC5NDbiMTC3Cw0ylnUI5z6CGFVa9Xki
PbdcM5hnFBT17chckKAq4ny17zbQhtHnTXeDMMP9UHfenROX+ZMLyzC4t6aUfFonGCZSkyuvM2JT
iKrl3BdUptw6UC8jUPt1fIj7Sr9Giqy6I0N6r31uOb1gOs+cSGwMGTIepXQFPXeFD3IEMWOB6hdE
Cx6CRsVfdSTqF60aADfJYH/LksyckMHUP7vY7m6S2FfnKgvDbO+YgYAkgzmCdt2Yx9/zub1iW+US
DgTuWO6dFzDcumujIDLUhhyJz7O2G+cGzXNbH+TAN0axBdnIRAUmrXLy4xoasuPKz2rorCMm+3Z8
xZNmbNruFKRA3Btcxz9Kn83/Plc5vV6mEktpvmvVquQ2G/uEDpMD3osgAbYUhHaBnNhfBHv/piA+
WKwM4LHDMCzxcEvZgZoafzwlwpQkIAwJMq0WgoMXTppH103QxI5zZcg5n4fw0mA067f9LFJQ4ksk
5T1iF6tHksqR/zQRmcE15gSzTCD98W5ge3h0vGW+Jz7YrR7IG8o+FUVIS3U0oQvxIa5iDGjX3w5A
LUqlAifzpsX+Yl2UA/CiOIiQ4BDQ7nNjqkdLGTDIVqIB560G1hynvMYCJ+DndWRAeniBLlGleiNV
worB6WhB76j0BNuLz3sKIJ0S36CrPh/eLCaCkVzrrsIeRjsqnsIDvWZw0Y5crpNfRcjpjV2z+iBh
pCFHG2mOXkOgchXu8nJpNszV8YDTSpm8F0UkGkRwpCPJjTKt18XwAoHOVCu2LNPcaEZOb24wgfLo
YERkdErKkCI/n4lJTWA6gI2YVInHGQA8laXWKWkhHXZM8ZbnTQe2ZR6i0L6ljOyQ7mW4NRmiy1Kl
eCQwjiCV89Vi0Y3HGcvcit7QkfPuxM1rS/eQiwKnRthMFoF4vj5K10tb8CGcSqDBAj5xn6624+oH
qNx8H4662suakvuHp68PSU9Ax9EzDpPJoYrzb1MinYTiXiybgahzb0OON0/j2Nc0WqOe+LWvy4iD
9ZCVlB93seVV5b3jWH29a5CGhWsxFCo7Wu1ku9ivVaFv0zBFMEkaH8YTMnsOE88/WEw5uvYPhSQ/
2+NkY9lMKO3P7hhC0Y3TrL4HW81WHqTVdFsyMbDNqunC2n3OMFyqJ9wLeRauED9ZW6RtyAgrSFYI
/sz4xiQQFkNsbGTydIxCtByV5dxmHL1fBGeQ/HFJivjJpWNL7Ubf+BtBHRztfBU2j6JtknJDtoJ/
LnivP2F3XGAm49/dUpDRLGKWKaZ0pSk9JkjqZe6e4zLkH0C5hy1I6oIPqLO1muqO8VoM+zRaZO2+
usKbD6AJFG7ZgpBCmnly1XsJhN8irY+trFLrvqUGQsIhpJ7uS9ZTJqKMFPJlM7Ve6KJ6MfI5BgWI
Iio2RXaKmZ2vDcLkvtqMeeI0t6hp4/xTEaGe/axcd+gJMUT0vnaDthvXaWxbwUNkYRBisq44IeCH
LR33vQTp4VmrEP6Y84YJiCEZoi6THhEfVbfOpIDaMGvQXwwJcQGWJJKPCflhNXL31kLzIqfKoXl/
a4kgDX6Ykr4VrDIWZbC6nyt+UffAa9V0JBfktqhvZUsS8uugaYDvkt6pBCZM2/O2jKNwzoXduGxx
IZA97DGHAvfSqcW78WfIB+ApFu+2IGPFYww00/ow24x+DvMbwJbP9Lsi9GvMQTmE+FjycUJJiqgS
E4SX9qfERzJ0ZEFb3Atx3nUIHMUKWs7MFXPEjNg+eZ8tslhXgUDSyIExKvyXli4VlXqVe9N32ufI
WKk8Z1QLtBurlDYkkVjT8EMavuFaqJgehZn69jnNokKtc7pB7zNrMeNQy41yTmDz9NxyuH7IlsHi
zYrqNzg66lBXol9uaj1QlsbgXncu2IXwRQl7opmxiNT9To2hMK8x3nKesqj23xYiIsJw5zgLEI+J
1R/shydSuFgqSJ6LsgyD+x6P/o7IDIDpbbo89QL63jWjeQj7FzVlItqaYYadSmRZXXSPbDsJguc8
L8o3pw55PXHBRJ9YYvz3dh49Gi7ZQhQtOeTqQVja2JgR6mGgo5YtCCZypR5n6gP72BGN8bn0ez9+
Q2AEwWzSTUqCtB/Iy1AGDj6hOqUkikb17hBUf8KHjKeW86oOnzt4Xf4j4aRUW7w55ss8TMPeSIFJ
earycyOuknuapNkbB9j5QPsXF6Uv3W5LWDOoRMD+HSQwZAPzba7n5g2jRDw9pX42zs2qHBz+zWuH
lKYjR9tvHbPsq3LfJfUKRg3kpL7CWFfkjbddqJgxvITUguulMzL+EQCcvJlmkhpPIjEls7q0c6u9
0y8cQKHyVfso7hOGMk0N38Xh0IqNlqkXOb6Tq9bF2Pp3xENz5MYBwmQ3LXP/EyPn6rFXzgBhQ+dD
O2y5/ZZ9UxhvbD4J+D7Wy4hJ3FovOL7WFYu0OgpPNPC/Ss8ayGOQQ/Td43yaHZsBXoRDHoZ3QzN7
aA4Sg/KwATKXo40ybVrd+8YfccNRaVn6J/0njbHbgrRQXTI00+VWeB5+RLCYELKxF4+MV7WVhQ/S
gu5mxxNZD1traWv/EiYNllLOMMGaESfgD9BdYKtiPHPWls/nVbfVaJfoj31WZvIUoBOWAWX9Jli0
/21hpERUM2/BSwh2A51FCncZP4VFcCanQidbt0s+mg01kSO/mgID7xp2MlNiuD/2zGEYbT6zJggG
wIVwAtIuYET2JDuLmIqaKSjcR5cx5ejkWw2mq2em5FEHAONCc+JEV0atZ3dYUejshrtRYtIeAJjK
tWQa94xG3k53CaeT64Tcnv0vBcBZsFaRUxc7htIBBlaiYE/TWBYvedc0DDySfg5RVl6xnVS3KPp2
EQdUHL49UBWQemH2uWcFm+791DjpWSR93LU7e648660Cu+V9qnoDl7EL2XdOULdQ59WC/00Tj/bp
M4SDjIMxh+d7Z+rtdFkpiYzrh227CfeNhcUAJIbLthyQ83c+IBZ+4vcKAPbyhlvADSHpJHnUP5Wk
Bj4xu51CIhT88CeA7T59rGtfgfdGqbDPLO4hp2IPvRNhntp8Ju9JkEEg4/nL3JFvHGUhU1ZsoXLl
zyEabM8OKSEYUFy5SWGY3FZ9WP7IAt/QABCav2I3cHeuP9Bruo6/5xPybt28NfEU/GCE55dfRjYK
QiPRdXM8soKmeS5AM0COpwd4CXRNayAFEMT+4fjLl9SKKkxxHOww9pFJTmZNxaKje2Spt+5kj4ds
satzE41B94zYZ5KXKySg2XdOB7JgU/X1TJpIH7COqAjH/BNxRXn0xIjJ4Zp2iudUWqTV7AmrcH+Q
TEQhmvhdxGgp6Xe18b37Wg3p0fHSeluLxP7qYevDS48yHzkauTb1jbs45FTRFkOgtfBK7vAp2DYi
qnjZi7KgCOp5N/xJWrR3VEBLhYYTQA1bL4+Nhcxqo3I9vhdhPpl9SnDlDLspMGQmyIRuxBoke0EU
IYsHeAYo/oEzLe8FQzCEoqJYkhkbBHv7mpmUe4VfcsJYDY72q2cGdP5yDDGAphQ9sw9yjXWxPkR6
aBgdzdUt48iiwZKjC/mtj9zqxbd6oQD3zKNeEN5Y/IddMQ8PbtH0N4h4vAOJORbendRBcFGMoAhm
45lry78A8WqKYXmTXRUDsbKn8c3GD63pMGEPtYecRzjmvqoDh6WQUMLCPDFg4h7nlp9YLGRGY+8k
l0vjyc0TUT6FpsoJ3GOJQyrZl5yvA9goJxSodBdDCNnZluPWgg7DqEquU1S4xb7smYKGaJAVfHT0
hYfcnXTKez80+hPqyjLp6DYkNX2BZUE4KQ8KuwFXSGY78h9RwMa3S5tnJWADf7AehsUfCTSrjWvf
T7Xo7BNrGSZCqrDmc0P2zUNqW1Xw6lW9pa/ICac5RoHj7GqMGCciduc7pWZmslbs3s6UVu374DKD
XdOJc77TZSnjF9IYlpfa8ji1UQt669Lntj6Sjhi/tExx1uhgK/2d2cNSncjONOe8J1dnDfPUMIdK
CCLCSkyywRnkfvrAvoA1iZJAWtvYqw3T6yTH17hrc2/BwjLGvKLTqQaZBwRY0fkl+Y5MVJKkhUu4
AyhUMyZrkXF6cBC6DDgoD2lnu16yCXk/OermuveekpHKctP2y0h1L2frofJnC59xfm1o3yzIycP9
mODUIUbJ6OGzALuYPs/tlIYg6OyWtoQeDTYZjFZ0k0NYU9POGsjatNeSOIPcWvWqYg5T+2SBALOv
nGAeLpgBwqX+6dlNP2BbHKoZGyW2qG6ib1miWyvmzVBHRWc/wctNyP8OLEb77XMsQeW9dn45TLcI
dawq/G44bCfBjvkZLxia7wm5/N7v0RuTsJZj6b2j1luI4VCebcIMkAUgiAN5Ilgf9Ez1eUdP3182
femUn+NGlMM+UVbNAEnUUvX7hI2sx643YRAq1l6OhFMeGBdF0adoUKxYh5ns0LnaiQJ9nO5+/vtf
//e//t+36T/CH+VDmc1EGf0L/NUDIpCu/c9/C/Hvf7GsX//v4/f//DdlCJRK7UF04dRmNB0u/vm3
L5eYjDf+7f8j0zDvcF9VXwK3q+sNlc+4z+xMvLkO9QRuP3zaGOcJ5W5tM1O9ND6T+yllrhUjT/r9
p/F+/TCOR5ObrAiDp9M11wnqrx+G6d3sjuz7n1KB3GMjVGXeBZ6WbusM+ZzvCVLBDlynEUeK/+WV
MeVr7diedCXUfql+vbKjmAFZkTW+cVZM900+E8viIo7zPDe8wRz5TQQArn5/TWF+/boS4Jz0haJn
DgPOI9z914sim6KV5KH3JgBkbG992buAIzul8xXzWEZPq5HXhqW5arV40A6+U0D42mTsztKjLVQx
Td2Q+lraB5c2bUITq+k5FBCwedUnWsRdp1NSDU+j6AP/FOYUNje//xIffjJpGwlS2NdGOQqllfF/
/Q4ON2jR4WBfZk8MyJOq6TP0vGHbOjaoLsmh5n12nPD4+6te/9S/PLVSOLYgYIUuJg+KFur6VP/l
qS2XNo104JZPoB4JsagKP78ZUpyF2IiXbk072GO+TOLsMfJJ5/jDY6r/4epSeYqn1eFvtvPr1Xu0
sk3b2uVTUI7dJc2lfgrbq0wXPuIfLnV94j9+UelrRyLMc41S10foL1+0daTFQECVT21HZVkg/Fhj
Jmp2fWqmXePZ/svvb+zHn1M4igcSvaGveS4d+8PPqQH21BP2hwupk/gWInMds9DHACwXFwca/syN
XI7Hv7/q328oV9U08JVwOIRr+9dvSY+DL8rw7VKmHNFXi+V+jVo62EzNrOXb//paPKZ0xnwt4J5+
XGN4NmubFltwYXQuXzgowi3BjhZfu1G46X5/sX+4nUoq4fmOUAxavQ9PisIE7tK6vgYDXe380Ou+
zFc3DiggB/8axTqxklks5u3vryv+/twoLuy7/Iqso0ZeP9hfnhttIR51TBZcUF+dKks22a6RsHhD
ei1EbLcg6uNxab7krnhT14yeddp25AwEECsaVlsX48NIPWfgvzyALHk2ZlB/eIn/4TO6FJx0oV2a
jrb94TPWURWOLfCKy6xIJllFuUtbDr+0OhctuY9xVtZvv78tHxdcnm7PYZ3iOeOWsIT8elciquXF
jyx1cXi3EQbiH+hoCqCPdiE4SyhSB+VaTO+xn3S7mIDc9e8/wD886KyXgs9Bd0u48sODng4Cm0gf
ehe3n5xjplo6SVUWIMYd+j9c6uPOzhqprpIg1lkEbeAy5K9fNkymoPfzyr0AtDObCl/tDvk9NSHj
/H2RVOeKk98K/6vcCBFA2ShLxAHNkh9+/53/vlZrI4zmw9h8c1t/2OU6wlzQ8U/6Yo3GgXc7+eJY
Zdk7bnpO+iUo1iGz5w0e2fgPV/77z8225HNR32dL5zb8egfMMjZGV0pdkHwwAbX05G0m+k87f0n1
DUOp+wyt0S7o3as4xK/Ov//if/+xNdsTW6MQHClQW/x6eXYoH89AKy5OwklWJGM5AX2Klo2M2+Hr
76/193fJ9TyboDrl8Nozavv1WgROk7vR+sHFRs64s1tzLegivUci3a0Le0r2v7+e+Nuv6qGtlB6L
DI5kG5TUrxfMUVwMvp0z5QstUZ0JN0zkYWDiSWs4DnSzc7vRPubE3ACRmkNi7rzFlceZULvloQU5
+bVEbC9XhWrljV7S8T3W7OIgjRqM51UVJXcm0ub+9x/7w21yXUTtvBCea/NXKcyHZ3Fo5x5qrCjO
zlIsB6BhzaG0crFhIpddwsj+00v49+tJ23H5XWD3Gtq2H65nozsiEz2tGVEaYmqLEfc6JNEA2D9T
CxDj/u73X/C/l7C/HBj4hoiWbN8D6eWzBJgPi+qAaKJExVSfGSZ3L0ZZ+V4pp1i7kT0dY7nId2tU
KWFwE5qQKu/S/cL4emNTxGy140x/2Nk/rkL/83k8jg08lcANzYd3UGRAVXoHphKimSKPCPZs5Pcx
qYLoZ1Axhzs20XQF/dhZsi9QzUAaBo/6pEgp8k+SyNOXP9ygDwXPf38gdEi+lKyJjFY+vJXM6wSa
yY6fJMyzYQ0VGqWCIqyJJ1Qn9j0ZkiiJ6c5CNCKucZY73Vv2z6xy4mgz5Ipx4+8/0T88I8Izxmjf
dvzr4/Lrm2Rsa+TkP3UoAtxsZxIxPwGYmvc0H+QPW9A1+v31Pry51xvApiCM6yJ3dmznwzOZ9mTg
9PQ6zjXYaNjBoJzGWyd1mXDXEmH+wa8bd7praG8/E7E5NH94RJ3r0vDhEeUwy9bP/RccxD4c3ts+
IzamjdpzNGXzsSOnDjqoPb2auLnjxK9gaUX31/Da7/l1YEMNLNmcanrmLumpB/KSIIwz3JlWHkIo
yMDC/xkOUJZCd0xWQeTGT7P0vEMsM+QgOW1GdLNffn8TP/5oPnUzPxhESMUeQ3/11x+tVQANKd2z
Y8VHJ/LG1RBsvPiePdBbCzILLr+/3oe9xPV9VxmNP9p2mIgb8eG1jpwm8gCCW0ffN4ON05MO9MSw
sQ4xvK2yfGYH/8Nzef0j//oz+T4lKfu25HsKW7gf3lwXgwINf787qc6uDh5tb3I/ZqBFnWrXrq6n
LcDF8g8Px4ctm+/pe5piQLiOvuIcPzycRObNOZpPQgl8z2d8mGNR0/duxszkUNtVM++gflnWcWpF
1TG1R9ywTnrGP3/48vLvH8TYcEccNlTtc3T48AMXNvqeBuPXiXgfe7xh2BZ1lxxNec727fbtu+qF
i7e3p+u3kSGknhzYWjfNz94Q6/amY+pqv9Le1XRJQAnb8adRXiNzUPSC3bxLUPqllxosR7CxGa6Z
b62CvrkV6PZZeKK+sS8V5NaIMrZGLwfVApI92ugu4phWzTFp0fFYCfvYwgci3SdXE4PTOSmtayEa
2/H/5+w8duRGti36RQTog5ymT5aRK0ktTQi1pKb3nl//VtSbVDITSdTtK+AO1I3ICEYcu8/e3tBl
XY+IYwTEfsuwlBK8GAPszF9jAPbpR+JrOAnHYRw7fYOIBNzc9+/s1RshQXctw4CvhpxOt+URv8lB
dDB7aCKAU7KbnA5p4g/2hhYjlDj6XP6hsOKsfDR5OS5vLAvyQjT+OHw5aXjeLJg0zG+jR5Z56jC2
nyDMLb8gjBqsrHLl0nhiLENurfMo8LSLfZVQuMSAzjMPwAZazlQOz7VpoNZi9gaSz6V+VjKIFhEB
D5l9QrMkLbNmK8IpWQkwl5acH0JeaYGR0SjBuObCKIyJAeklEgFe4JrDV7NKo0OONrWXo8bXwzIv
eSCjovRIeauVQ7jxPHRKUzblAkFysTxqDXa+oow0dEMYL9zaeR59yOAy2g/yFo4MdpzB/AjEIhEh
TinJfLx/tW58aZIag3tFWG8ary7mzZcOs0afpww0ZZBrwF7BhGZ/lCiL3n+DdYBtKm4SHK9qL2KF
fig6gRo5X3pmPBF609F+Mhx/sg5BPATfgfOjAHB/ZzceDV9UwJVIzAR5zOJyxU04lmEWhl5jIotj
9s0DE4TA6jvQZZaOJsb95W5dZjiYNRUUOH+4zpdvplaTqaUlFnqDneJGx6TGvvkYj3FMDlA9IJWS
lvBsTHH5GPi0CCan1T6odfX7/g+5igq4zJTIqTsJW5aBl2FJb44gCOog86BR1dFXH8XoeAzrjMk/
JoKl86ZCt8r4OTYg97ZkUHq0swsqxpvZsZTgTyJGtfzgdzqUq9C11LOtbGhvWMau1txANzYFsWTs
xdE8lM8zsKT+Q6UJxv1dFaKjZpv5nWucitysQeEAq4Wg8/4Grzw4ztSg1E7oSShsmIvUH6ZIRKR1
qjEOiPW/kjH22PY9FK+AhxAAvL/Ysv6DH+U0+WOBI6ayskw8QDbkToSTgDkvNfJDCLfQb+Y8ocpO
nMk+YdQEKSkinPNBBztQSXWu/qVEkid95D/Nv+gAYvytcJroCdVsrTwg5Kv/jolhtZUreOPGk5NR
dxe8MJsy4OIGToXKYG8TefBhzgZgbfRqzUA0X61Zd4qnls7Gf/dP54bdtDkVjoUU0NCXd360Y516
u5J4w+T2O7SFLGCxIvJizNihNPTmsTECtA7LIP56f+WrS4AouAGXKmYbB0Xn5XKvTaqhzFRF3EMb
qVlGefQgA/3ZRQ8ZUO+n+4vdMJIE+BbJF2N+BuXVy8UMi4kArayQ0jOc8dwyZLnVpuR/cELYKdpH
wtRtEqtFND+g8tBHTD17zZxQ0gTlDIBU1RSEPCFWgk2hQ3VoAgznp9n+/gZvfUdCM9VWsZeyYn25
wRlwjtuaReyhKJRSw9OLYwvv8C50WD5rmFxlRsrcBvo8HO+vfB0b03eQdpoLi3/QFo8ZILsxdG6S
eK1jFuJDqFAD2qOMEn7RA53O7ohcI/oWxei//+rKWEr6e7J8hncut1yXpjHVih97JRov+2Qolc0E
pP1xHGP774gOHXIYQcFgCwXXcsXnX11eWS2nQq/SLaSqZsjP8cbpgh8PIqebdc9mkm5b8G99mnUf
PsBYzVbSq6vzJcOhJanRC2STPNHLpSyAHTlFIt1D01lnDA9hJwHufBPYzbif4N+j76tm7zVEHKpc
FS8EyJ+49XLROgWzP6mG8FIIPB5Is6CyQhhok89tdGxpgKyc57XvxSWQ6NgORTTVxjVcLqiLDAGd
JLNwecwPMB6Jgngc/1fZaBEgYTJt8ihj92UOg3vIuAfjjvqhGCGueedtlq5JE9Qe6BRwrRaXyrTj
xPQD3/SatnKPTQu8E26KfGfWwtgA11VfcobUVnZ/9Xjlovgp+X5Y0l2cduTDizmqvuGlTWyHIHi7
GcTMQLy+cQndPVgOoaQWViZONfjV90Z2rE6/kkhDJ/zBFl8evalqNdY9tqBdohv/vRYoCEABUhTP
ALMSiDKChoGD9x8zTSAbG0knj/rc5Zqzgo5jFvQEc0iHMZVSxXtfKdwPDoonx0DyvYGKzeKVW33j
1boykqTdZeoaX3exqkaXYwha05vUzFChpGoa2J0Cn4qsFgKmvb9HeVUuUjB5rnBC8oRw5rify9Wy
VHSxouSmZ5ZYhjYU+ZbOvXaIwumXAaOhd3+5W5sjDyBcJPDAoS9ubsc4WwQDlAFrxJRtWz1CLE8F
1JJDUbCScty6r7K2auiEy0TKi8C80qphNumyeGmHVIRqdO5JgbL7kIvcOLfg3r+2kabtKF/Cjnh/
l9rNbTpYJ3IuEs5lI6OG/wAS2dD1DNjXMweI81wWW+hxxnpTMVvi790ILNoevQ0VgV0EfE2kIgJ3
cql/tYYNUb/P2P6G/zaGKBOuvUk9zDnEE1+BWPj6Cibg1iUQkClg3aixYsYvL4Hf+n5QR0wEzw5I
xB4EKHQZIjvlMSnNFCbKyvlcBTpcOgmf4MKRNrlikcPMIPHLagpgGM/a9g+ijvWRqdTs+f5XuPUR
HFvVHBusIjdhcbXN1hkrVa1Nry2q9gsqS9lD20LxFDWzuWIbr5eieqEZFCkJ4QlwFhtCnsBSoKYQ
BKi9uvXDVt93lQnhc9QbK4ZQXtvLBysLJSqjx45mXwNfksBqakYCBfh9B8xVABey0KP2Gyjx/uAT
ge+B0/u7ySgZklFhZrl/qNeOnuUFDXKwR0CTX2/+m5jCgHEJ4onc9abQmR/T0nxKSthuKbH5yNGD
PdRDaATur3n9klkTeJHgjhIZO4uwEUZGRAEnSVpBqe6zOo9wmYnBQKRR5M9WgdZyM/RMYRfK7/sL
X99TGTtxc2RHUoKNLt9F4wxlVQEJ8uw4s82n0mxgSYczuUq+3V/o1v2R2bxMqigjLPEUvWL11WRg
L0JIIjz0u8vHyA6/1ipHe3+lW9eHYzRl1ZYPuMwzk7BVo0kPHK8MawUYm90iSRnV8YM2DPDGJXnV
f0pSkf0YOjX+a+EbP93/AbfOVAYRFGhsnSRg4QHIXUtFySbbgz5q/uDDEYiaEfn++20M+RrhocNL
oVuzRBz1sTAVAXGCZ4Vx3ENv2lbOMaG8+G4rwzr4TzB5FJ1pklzeEcq3szOXAnVLsKY/hTnnD8wT
1eRw6p/7J3fjGRDsOrYO+k/+Iy/Rm6cnzNAERO1a3lhOyt5XtexAjXvc9n2FwjYANGJspJctWqUr
3+zWyoR+mBxbGHw8+fdvVqbPIzHi2BzmxrMf8CbFOzdvGfXAn8JbG4vsCLdftwNYttZ8uvEyqE3S
/qIhCQJj+TKKqGeoNOyEF7o5s1gK3a2pTZNdNzjR8f75XntBwi2XSU+MjUpBZeEvwljpX4cvPQaI
aWP5UzScMpOiCnViCFcU5ALvL3jDlrIthwYRfpf/LY9VgZmqLGPMixZAqNxb585yITiJDGQUh6Le
Cbg/7i95a48CI6NxVblFlnH5JckbhgpyNsNze4i2A1C0D6bOAIMqChOimcRdMTe3Ph84B8qUNjko
GJrL9aDFntXJqAzPMHUgBvwimMhmVEkG5/22mq4sya5BReq6rBG101iVam94c2G537U+7HeONRYr
r/3WS4Dvw6IohEkRyx6b3mgwAULB4pUVFMqVmynfEATId0FfgHC3Gr3ZQsf4MxL+O3GbGBbqEIZw
HMB+JnC/RYwGh32CSh+Bugb4N98wC2t/awr3u64BtDZHhiNqmZa9+7rohINwZsokwbClMX/78ItW
hGWfUAOlYHVsgyTYmW7hv3Qwk+wqBjSjlcjwxv3UoUSkcu/yIQEfXS4IRQFT3ANJZt82JiLXUX/W
c90/o05Eq91qvt7f3xX6Qp4qbK8klLABA/lbvAc1ricrcjvDg9mn3VpBDM8NeMNdNAzMJozEBps+
MmDd6E1BqtDXT4Wc9Bno/cLvEDbDyoHfcM86BQaaRDgvnufiK4+oLU6FPRgeurYNXXMHgfcNmBTm
VG3EIU/14JaHhmGGUwUc67Njx+nh/pHceLHknBKJAnkOqDr5hd58ctOfHT/qah09nME/RnTTvbGq
m31YFcHKZm/YP0MDvUrL0QH4oi9cJxyCBiylne7FmaM+MGkCLWrX2d+KeI7+TiKenlqjV1es/I0T
BjkOAICMQFrdhdFtXUv0YrRML1dh84VW3O1mxCEgctmkFbKymx5eweeghftmC0G7eBDmEHYrO5fv
ZhHE40/B8Vj0w3jLi88M/2QMcx8J0ITk4o+oGfxPcx/q8/tfE7gZi3KrbNPDNHP5LYt0gIav0AxP
8wV9lw5S06JsdMbzGcszcjq97787LtYXpApfE1N1uR4yxQMKsnS/akXL/oyKaXuIyCvPBfMHK77z
xjWVjX5dZveEkktkKBR+gVKbqempVG63ML6OqFe2kCgHegiB+f193bBKBB9AcGQKAoJefs43b8JN
4rk3SrxmBlr9xe3J6jYMASK1ZCDkgNar6/grS97YH5eTHItHiE9bXlPGYmLcmaN7DHCpj3VhlRT7
Gij8bDhO7+/uxouglGlRnf7/1sPiljQRym5+7KP1pEmMjgX9xrAJkAbfMT7HnLfRjz8UY7APA8QG
pJiT9fn+D7hhBxiUc2i28RqAYC6M8BSlIo/8kvnKcJgVZuQNCX2D+QbuDX3UICkCuZNsmc5yqpUX
cqOki7VlzgnkNUkRGe3lp2WQuWqqIkwJgywxMSvowzan2kgwzQhoo+ClOJD0RWHyPOhavO0d9Lyd
OXT+mq2w9/fP4YZVoJVKigvUmYv9On7y5polo6KSVavJw6wk2l9uRrYt09h6fzD/dpVlJbWHjqiD
Ij95sNTY3+nuaKL9ATV062TFN2G5n+eorL0uytfA3Lc+M45F8JLocDELcnnUZg6Q02Vy/WFgLsx8
mGq4HF7cwNK+0LRMf7ajCheg0FIxrgRtN96SbP5QLiGRh3Br4WfiVtFt2CnjB3gg6pOTN/oxjjWE
K4JozX+/NpIWlt1xXiNdRzAjtAxg2oG/M5C7eBB1aqKoAqoV6Z4oyxC56MquLc9I+HX+IUArEnHf
MQfrfaoqpo5n9KMZK1px59emC9wk3R9Zs9cxkwt3TtCTzP6UZQ8xcX+FTmg9RVuVmO/TVFrDh67N
10Z9rk9bQrcxlkxrSDz7wpwwGhVYqhKjSxuO2TFP1WhfWVmzE7q5Fqtc3yjDcinPyGEscNTu4sOi
09oiNcRsW2xXza9Qi3LoPHmi0PrkLYPnoZ7t1MmFOvH+Q72xRQkkxIOD52F8ZmE0ervsYsRkfW+E
la7Gk9bZUxeFebEtk4SW/f3VrnMOKjW0g7m7GtO1y9UMBlfRHgFdC7ut85zCh7b3yw7BGJS+odCd
uq7d6qUEq1Pu9n/fX/z6/tDOkxMJ7FdQXVjY5oLxDjEgQulZUUaFL+2mTW2VPYP2trtJg6haCSGu
baDMbuj0U2LEG1yNNxoZHHYo83itX1FEtVL9OIBi2d/f1fUHxLXaFIZlHMgE0+JVDEKHxxchc28i
qP5YNM78rDBI7qVt7q6lNLfWwq2plG0odRPZX5o9EYm0BO80eRANSWBHBhc1FOAMKydrxdkbS5E4
Scg8jwms1yL+ipGzbwdIxb2pE9EvBLfSj3mspDtlnuOVS3l7KSj16ASCO13aOWQ5ShXGq545jGL8
CK1IftILM9/DLb6Gf75xBZmTkJATgljZ9Lw8QKfpEexzs8Hrofw6OjUU2lk0gPkoYAmch7Zb2drr
KMSlDbdom0tAjqBpD/Xj5YKME6vhYPu9h6hghuKmY0XnKRz9L4VZWT/U2teOQTj18abOKJ3YAX5s
V2b6cNJTFGcw5SV6tCjv3r+z18bOwuCQuQBGoga3rIRlNQJxeozsFYQHUGvoU7AXnZ94IYQysHGM
RwhC3znxRdGBAULQyxSKpTlfBvRdZg55CjunZ8Di+48CovnbWIXQZ0IJcdAaFOvu7/HGrZKhAQAC
Zr1szM7i5N0Rfp0s6rwGsmgvhxT5TI1/PgnRaMf/YSkGYgAukGvTpbtcKtK6sQ9TrfUg60pJtwP/
bCiBeQhJzFbaa7d2hZkxZRlF1hYX9wkZ7g72q7j1xj5qPjqK5h4JeLUXCh3OygHeuCSCQjSFE3Ii
YS2bnhFMG6VaidZTqxHaeaV2T4NAVlWE8fBUVxOEVXPx/pSaghtfixgalAsZ5+VRBm5TOyJTa68Y
ZuAmOzhPfKBoKdqNGRrVIYzLqKCN4ZHWPYRYhWuk/h/YWcpmpeV7w1IQe+GXNUCJVCYW8UDXpWgd
1wUYcFh+p08tmgfhOa8rGOlIchSIUDvTT7fvvkiOgWGSoCbWXbpn0UwUGmaz8YSRjccJ7a1DBBPM
yVRgT7q/1K39ySMmDXWJLt2F20Kaa0wQjyI6l6w7vur+yefI34O7m+AxUPrD/eWuAw+LrhfekaYU
HfQlmlbvetLG0Ko9l5cPJT9j7hOiGacyLz4hMhSdGqnXBcdPs/I2b+6TMIAEmCLCFfACxsJ8UlDo
9cbGil6g90j/GWwr2EHBILkVy3p/f6M3skAq1PLVEPkCCVi6mJgwo6zasvcsprAAoMUJauUpkmLb
aWjhmmlqZEqCKXLgl8zmkYQpC/5NaiX5OWpJc77/a67NBW+J0SJZbwWptjQX4QSrOZw0M3W3agh2
KLHNz26fVNNRbbRi7U5df2T5cmFxkOO18m5dPt4+rOPJTCvV06oCPbM4gQx+h1yd8XWCSPzFteHd
RnoqTnZ1l5QriMdrc0Vb4LWbjV3E3y4eLFAjbYJfSfXokVRb0cTlT22oo79FrkAt40q9YKuNnV/v
PmCg6ATUlFaYp1riLGMIW01rQJo30GCWM+PW+ZBnerNzgiZbuck3viUFToBLlKqIAJcQIqexqtC0
KE4NRWL8zMU4nWFOgYFQhYHv/q7kWV1GLcyryxktk/q5yse8/JABPlIS609eAGL6QFvVgr85t04p
6L8TwrcAAxoFDExcjlBNlPnKG7qxUwH8nc+JLyBbWDgBB07eTE6WeoRMxbEhFdkMiJNsoJZbC9Bu
LAV6iG4IACnG8JZNpUZVDGLPpPJKwPB7zZ3SLxkaScig1tGKCbxxQSkK0RekOEXKsOyX1ZR/kIce
2RX0qMD7R6XxwLxnSNhDFf09K3nIDzXPpXi3K6PfCrWCRn7JcLsjz+BNLQh8bDSFIQqQBhohwJcC
MQmCazHPuxbCvN+lWw/pO4dtwTqDl7ENk5BeDlIt1mwRJlSRxc69zB3K7DhXqpsdqjCB2jGzO5RQ
Cqq+K8bu1gGDz5JNV8nvsMRwUhcse4a6M29O0Ez1K+tXBGf0xumYB9Tt8k+uuGsQiGvvwjZhkwD+
ID3pspOmjVKCyPUzr66M5smem/LQjnrGEFaVHQelWeMQWK4H3FhW9eRUFUU9ZxmVaB2cuvbomOdJ
S4sAinoDKUtEbsOge45bNe3yjWxRqSs3aGkP5LK0FmTbXBIGLXNctSjykHlp44zYVdOfygm22m1m
1DaM2B3csXmgMQiXWc4upIG/H5xx2N+3SFdulcsP2SMFKLAmmIQlKriukOKds0A/IyDUUsytxnx4
qS3wSwd3jir144hsp33wFdf3DyXcIehnpWUSPA0lNfZ9CEN9tBKLXxXo+E0UbAwJn2UWinHJy4cV
BnYAiLWczmlZWZsiCOqHkc7q1mJsBihFiNoNE65bB10panhJcCzRWXtvSit/BK5WhnBMKoFRufwR
Gh5eiZgmOQ/AdPbCYUEUxUdPiPa3iqLxSoi69PFyOQrrpB5ynp4w9XK50JwQOcr0/hzaw1h/TDI3
ZTopnJADPzRck1hsYLBNUG9G+i2aaHkijbByHeWW3ronfgOwMUoTPHIV5N/CPUFbH6GkYfZndPL0
/+x5Sr+ldZg+103Yr2x3WUNiKQqQ3DxQDhQ4lzOpM3J/ajNYHUx5uUBxomr2NgnYimu4ftaUWugf
yjgCA7aMGd3MyunED/2578vpqU4Z64WvAmmadFQ3DhR3m/uv6cZHlNwrOFmZilP3vPyIbsx8Zq7N
3dng6w0vfVIQj3eZMY0ZkoeZnXqMuOk+MomoF2+CtDXVlc7B0lbTkidaIpRhsBkwnLq4RnaZCKjH
g+bMJYsRKojNfEoPjNcxTJJUAvqrXIk6dCgzAyHvNWalq4EzuTxbx0VRniHQkQf0xiV2udsLlNnn
M2pcge6e+prEPtk4iEClBzi1a+fBofenfs1N+PIopztt6Q7belZ750eH3Ir2PMyOYxxTW4+UHwos
e+XB6OFA3ysq9AXHhgGzoN4GI+WC36Ffx+lHrYsFAh2FHIT66bjIMX9u0C+HTDMKoeJ87xcGVYKb
0OjP8EyWIZQZuRF434DeV1S95GGHHnSLsk2jpExT9H3+0Am9PRhapKxEqdcPxgCPK+F4WAiZxV+e
bGKgXD3ak39WVZCkMbnXNrSn7Nu7t8cqdIZNkjpuz+L71UgHF7rZ+WeE6/R4EzSdJIwy+4GqYWeV
ztGxAYfvxZjoJljSLPjy3vUBlDC/QZgBbhYNlMtdhqLIR0as3PMsfGZDsVT1puvpOc1h4v9CIzDY
JUHauRB22e3afPq1tYDWhnSG0h2jhISTl4tDy1dCbzO757HXEAlSrewxrpzsY6/B+lg5rHp/szfW
oxADKZ+c+2F6Qf79m8fiwnTbh/Eozk1SIWxcGEaP4mnNcFlTKiQATVCtRI83PCukOQQcpCES07B0
arbtE4BXuTgHcytHQZA8nwvSD3WiRy4q34DCsgoLGhmAaaKI4HmKmFYdtDB7Sho3zVee060jAFtO
gZrXKbmVLo+gTuEDoEnPEaBD4SnB+AJleLX3ezV5ykolWol2bixHh8RmcAxgqxw5uFxuyGPRIgFl
nYMxhhanZTCkCCZ7rwXauJlUugv3v/B1fAfQjaIF6bsuq4sLfzCanCXSNIHXFegZbOZSR5OUMXjt
l134+WPVWzZCX5PZf4UGHmkiF82S/HT/N1x7BLwB6zOwCMvFleHIbBrJvtGAzxq14tQ1SLYnUZii
1ECRJA+gOUwxd+9s51JDpZ0L+yP/L9NNac3eXO2MJhdFgiHwoNRzdxk906NbiPzAYP8au8V10MJS
Mj2R+Qk9sMU3NVTqzgjHBB6K4op+gIkyKPaWypzmvk8b971gV3ZG3VIm8DCOyD7O5c60MikRNNIR
aBZKc0bwUtnkmZ38QNt4rTBx67UCCqK8RL2LG2stXkfpG4iIah26bZY1H4wEFc/cRq+s1OAQr4fB
3MYj9KhwyiFqziQSMrxueLh/fW4cLx6HtJoEQcJgF/v1UyVQy951z23XFYdhsD450xw/+iBQ3m8L
iBgIXjD8nO6y5BOlrjVb0Nice87j6GS5Wm5qA4GEbd6n9TYNsuidpJNYHXh7cKpUf0niyTYvP2Y0
mxD0DwrcaaOmP4F4sJjM16oTE2XtCq/EjY8pC3iUmeiBy8e4uKd6MGRagJjCeS4b6gRV1ah//bLS
/rH7BH2Uirlpz5zaEaHnqVOfZlOJvyMHaK6YpGsT+DpCxiUGmkV6I03Wm5dZFnNrMLZcncdScSjU
tvBm1Uny5BR1fdbI8I/3788ry+tlUsHIGiELiRStYrLsywWLFqVDdEzKs4t8DZQldpophQcxubBf
ZjQp2LDhZ7CUS26aY+ualfJ5RBWlerQGNan+8ytlsjw7mhT784BCKgI2dZMZv0Tc2QHyPIMRRlvT
76LsPOpT2R1cbchhaY5qxIw2sa4j5on6IOq+m5F2rhptpiBwje+hK1DwOWp11YQHy0x68PrMUug/
VGTjfsOxhc6iA1e42KdDHCQfnbzIuk3k17myv39E1xYaGmNuBa6CgQvCy8sTyo1C5yD4/VFT+kd3
nD/TMR1PNEayQzOB51VHf1yJPa6fNaG65PCj5im7UIs1FcVE7dpO4HJFzXEX1Wg4q7llo3FFEfK9
2wMuRVjF4AWZHs3vxfbiKctDJUvPYzXp30wkLIJdmzjNuPWF3o3Hsh/BKM819nRl5et0jJ4+Azt0
Knnb4FcvV87cIKtrlDPONgxAIzPrgQr6RAlQcaEYkhwcM0I8suoRcJ2xcSuW8/qzkgEyqkBhh8IZ
VdDL1Zn6qmrc1ni2+syAnptZQioJ476nsvOUp878KZeD2PcP+8Z3dWlJ0Fmj+MrE6MJldECl6bkj
Ri30MaxOfc7Y4EnVixCG7Ob9vhCKNWHAvim73vS7LncYBUhATFrTn9VKtfZ2g2g4AY67mWNjrU51
dZivoDAdbgBBWkCz63IpAXPzNBZhey7BWiKnmVZ7xP6G5zFQNS+P0wRJ1WQNU3p1mBJ7Qu2H7hYo
Mdr6i0XJK82hiJpz6wdw31MOs55FNbkl/Gll8PX+l5PX4cJOwrBERA5aCUApn2+xw2iK0d1EneXc
NYO7H+lvPWdD6W4CKMr2E5OLuykhenS6XCp1V+aK9732TzLxkkgKWbJHPWDhn5IIWBSaR9W5MBhY
hxbfPZr5kMI6PdfhB1iN0+1E38nkF6AqvkOQuNLRFnk3uJ3gHPwf1Xz6B9zkJWdN4hbIKDtafc5m
AxaKtrOQP0ANfJNCafty/8yvnKFcS7KHGHSGqbktrGBn6XBswsR7tiYDJGuOcma8yVuYTA9YFOtg
hpWvrbzQW2uCKSfSoakG+fTSLJgwbNS2X52rxirDU5lp4fjVrhVUrQvKQp8FY/PvbfzIMzVpVWKJ
ZKt4yZrqi3RUks6qKOx1xV+bGaqtPQf216mD4+P+kV4XlFmL4IKLTGxF5L040zKOfNvKuvqs8IXj
ju5smafBNq3bhpKt4k/aiYDAzfZOWbpfCdRLax8mkd58VlAx9eNNY1RFu2KLbxw6gSWQK1Dvssq6
+FGwirQt0tbZOUbc7TuQxP4n+X2obIDt9UfqUkHz/s9MEZtEU/ISyXd9aTvKfLaEUhjZuUuzqqE7
PWrRLkShbf7pm4n5zWiRjlyJMXX5Ri9tCNMulB8ZmjC40svkRE0GI7Iok51ngB2Z2Mw8nKjcWqgW
TpCYyDKZHqblFHqGgV7RJ9vO4+FQodJmPU+VDplNa01D8VtDacfYlpbWBq9qizEKP51NFcSNAtXt
9kPounDOoQM2WJuwRLbsRRXjWJ+q2S7b4/0bdePbSUJcYgjHBnS07FCEhdGIfKxSULlFdMoVSz8l
Sj3u9dL6WjphvNJ9kKnp4gwpF5OySq5vEsqFHSyzrNDKKG7OKv09Lxnb5iEX01od8ZUSdbEM432A
J3BpeOplrb0OXRi25mo4I73SizMZbg4Vi4rEyKFyBE1uXwHLb+9GBaWElwq+VM0LiNWgkzbSPPmR
zMiNfEQpevC/UZ5xww+xiQbctLPc3ND3CAoG6P0lRMpSt3UsEWZDPNM+W8OITWce1IEZfqpSY29F
id8eQdlHyomRUSpueZ1XTAICOdBPUWn2GmLQpbA2yZxO4hO0tioMOX7qzj/bAqValDCR9vo3VzQ1
3Ge+bpbPoatF0T6FsGPYRg3KQLvUqebxW2qaUL5Eut7/hwZFNj3PudZ2D+kUKgY0tUY4a8TnYZ4r
Xu1W0A1tNB1ajWQDrsNyn6E89B3qkRNSRPcv2bWrp/FBrCi5lxmYXgI6wLLwG0gCzi1kuuOpKfUR
pe4gjNItIzPN3/urXQWmgISBHBALww7HNVgEFkyQB5NL0/o82qmowh2c4mb1Eb16IY75NEbJ37YK
4k7bOQiXiX00IrDy+f5PuLFhYNkMfDKpTGVhaZ+UoU6BI08VtYUx/24wUvG9RngG6VPkVf6HpeRL
ouPDJMfS47l5JiY7yutzCy209n1mYGL4oSREqP+N8HSZn+4vdx0qcrTMJlJSfOUXXNSwh66KS4AA
9hlJuOYpq1GEY8L1nGp194TwaroBPWitWN4ba8rCMWk9dpdhroXRMGMwqihTIQ1bT3m307tWr7e2
YmZf+6BRtpDTdF9CF+mb+1u9+ohydAzsgxzJQTpmmcwT1tg0joUNkC03nwSi115EtxpRy3bNr19Z
4del4BFksFbO5i2ubB2HfgOBhn1qQqX6ZTbuXO/R2kw+6pChnDNj7lde5M0FMfqS6J1i/BImaRRh
Q51esU+2Of/rw3b9NCDZtdOc+U+mq9HX+yd5Hf5CIYjBZyKEbwgUQLqFN3UR1GlmNCaFeSpUJfmk
dZb6w+wIJvZxktsh9Ml5gVhyPLT+WVdEq21UH9KoHfqz+v7+T7lKBAzaO5TagIcyhIMrv/wlquM3
gdMI/TT0qO3+VaZwasQ+c5whbh/L0YoDyUeWqs9zDMhla1eA/g5xYmTD9/s/5Pp2uSTNsGrIXpdg
7ufyh7hdQwMzQnN1mJtgExihetStJj/2YGnO716K9FEq93CdVdCxl0uhf4uWfYkcKKq3TkHZJkwN
+4teB/b4nTDNcV/ur3dlgGFRktQ/IDTpv3DHLteL6RlPo6p0Rzu2h32T2eG/U4uiFKWf+hiaJePa
Ths8mGYZ7e6vfN0i5QmhJwDUAiYR7arlkeazU0Nx0x5D0SDeBqnI5wjJ3wfF8Ms9R1TumHGF4UcT
LUBnTUCZWMyPTaNGZ7srUJMz4Q8FmJDt4KeDzCsri3MKszOJmVshedp31ierHIKzOqB0mPq1/mxq
sVgxeFevU+4CeSsGwJl2pxV6eYARcJXARPTwyDnZD2FVVee0UONtjAzEAVmzNdbYK8A/ARCYEEhV
ycWBJixNHcGAnQ9lDKjLNMPyAJt7SAvd8LsUusl5rvTgywjTaOfVwk+CDx1I+5RIATjPo4NMh/ri
jqGjHBHXpNS2USBTMtcyu9dI9CKm4zdiPqBSIM0CarywkQocwVY7dvWxQaPB05pJ39R1WG+aKiq2
4aBE/9qZbuzVeTCexsInyYTnYddWMfq2ZRwftU51dpoZoEgVhvEnZLjNQ2NZ1a6Zi+QMm3/yiAYh
UqBwJX9121I/uHVkbVOM47kMG3tjIa56ADKinBANnlZu7pVdkrvDfTtgliBcW9KQQfQHgVCh1Mcs
EPmO8ar08VU1vChrfecnXfs0whm1U9uufaQZFr7XRMjlKTdBviMb8EsHlNQatMRj2ByzYgJyWkXO
MayredvbxloedW0dAJfSFTAIWUgFlgOnGjN+Y2kb8bnKVLfud1oSC/8wWPUYH4y58ItnR7dj46cf
hPn8a64p/6krh30VUDCFxOsy6P0QyIDRWrwvKxnUtM75CUk6PoRB0WxRD22erCGrvMbmoSvtPJ/u
26abi7JhhrqkwV+Siw8QuNaOHSRnt9bbPtrWLUzjMIvbhTipaIzMvxNdz+Jkmydm3awxjV+5G4iA
uF2yPQLql1jxcsvTUJd6oan+SRngAussAb67F8meOlOycrrXS1FJpIdHEcfGoCwpQkKSGTvKJvdU
NHZ6ooSof4JBQ2xn5HhXvPmVocTJUPgm0ZP1fWrRl7sKJlSQVeG7pzGJgoOaQRLn9Lr9wDzAtzrR
k/e2d1iOWjM9NIIj2Q+9XC4ZC8SW0OE9pQzK71XY1LcpZGonJUQqSykhKL5/ZYzFUdJDB1FAxPva
viA/WUTb1DFV3zQG5dEEJpKBDi2q4TFDcCY5hF3vVJQPMwEhL+W0oN7UQi3zf9D8HdRjgkqk/eAM
pgq7LPokEM0ysageiKO7+UdJUvofKSVSrfFsgVmeSV/jvWkn9nS0gAbMzQ7hqeRxHBLVPmhjmYQb
F+b/auu34zihejX7o/LsMr38EVYSszvFE/OKW4i46XiYPsiGk4hLa9zNZeUHx6j1RUYKnmmzsYb0
WBgUJmzBd0jJA4ncken+5VfpLaTnqfwEj2pq+Me6rr/1rWW/GP4otsLs7F3cC/A8U79W91q8aBYm
wSR+YyyVSMM0FwtrZLGvdWWoygKINFTtFzM2yr5KWv2sheZwkmQeh/tX4saaEHJiow158SFvudws
gslRac1O9TgGjn0KIvgK8q50HurYnCAZD5Id8Lu1MePXqPiN74UCHKJVlpSATcgrlwl80OPerdqa
HyjgmOq+751ZR5anTQt6aNoU/ilqf/inShQDUeWiSc2tAx/55wCJYwgcYubst1VlN81mgi/02ayq
vD74WSjEU1AGzjdrrv+PsvNIshvL0vRW0nKObGhRVpkD4Onnik7NCYxBAa1xoYZVS+gd9LSWUMvJ
jfQHZ3QlH56boz0HkUHzoF9cfe45v1CDj0WcSWnLSQyYD3nvNNSwKc/CscLOjaEoXSfAXvkOnaw2
3nRja9nv5Eqx800lF235RrPLSflQ90WX3VjYhiWkVPwxKbw8BUOdIYrrCFbiLBgfIA9Y41qBsUMP
6vSRzB56HZ5cmSUQHat0hmqjBE1ebwR+Q+emgbu24x5JPnYlMnUudfP+iAz9JG8jrs37ASrd9wRz
ux8OBEXbbbDEft1JxwxQm3mScaPkxlG3uLIKJ+ydCUnrc+YoNTpjytdx9KM7HXbOYYxibSUCvVpm
NEdQSDCAEhFP0kVzNTg4fwDSiGCkEZ8bv9MpzuIL7pO22k3C+J47wSu5lnMXgWOwlcC8AxpYKvM5
1IOaAa7tuRT1+GiUU/GpVUV9NjXqtc4s1vfyVro6XNEAnI0SwInj38Jr7HIrGQiPRgGh4V0VGuMe
YbX4ZprCYg/oedq/sinuew4KzA0xxZnZMJdNTYlf5ZCD/ZuK9/ZbuR5GF/ui9nM6DGuEjSd9ot/3
KnAWZg01kSeBH8B2l20lmV0pPC2bM2dlwRtM09vsZKi99EWTYr10gXiCg+9jzXkEX9ULT0KMx9nX
eLI+2hj/zuw9fFAOrU0mGwYUoh/VKJSP7dgqa7jsxf09nyuzyhKH94yHJDi5/NYpKEhsV512rgp9
/JxDzflGYKE9jmr+VYrrciVXNnf996EhfwSVhEDXgORGbnhxeOZJY2Z9rk9n4Djducen+LZvzWrl
iL7u1PxMYdfMXpYwgea99VuyoxAlPpVJ2Z+BViRYM4xydKeURvswRCNm4FwpKwv52QYJTCgSkzzi
PrpsMB470CGT2p31fhpRECkVx+sS29gjmBvs8row1/R9r48HRhLSHA8xjgigLpctDmM+FVJO7GyF
lSx7pYbSeeRrUeYNWTveywGmQ93oJCsje7VjsTmeA2gOpblMvTyVJAWpeihqyrkxpm4jJabp8qT6
2U7Omir0My1RDpm3KiV4SHKLTdRCu0zyVLRnw0f6yB07SDiGzhvRVcywXjkdnqASi3U5n36UK5lE
SuKL4ZQhWJltGrRnP5b8jVC53z2pBp32SWhWW7sqHpeta/dj+Llr9a5wW0foDqKsqq+5c6SgvAso
hHWHSrRdtdGFkWDaoUofuQedYpu1hjhNTottmalEAYJqda3oNxbW6ZSsKAjEWyvrxB96bsqJhwRP
8QYBVDXZyfo4lighi5qKidUMa/vxepRh8fMmwZcRQD8Mn8tlBIdvMJSqls8G3m37DCFRt7P87o7a
Rb8SSl/vEQ4zMuTo96DZgCDMZVN10ynGSPb/XFjdz7zise/33GAzuT52jVIuvr3yxOcxD0IEDaNZ
d4aj7bI9H1hfb4Y9mpKpqv8c8B7adq1aDbvRCsY1qddF8mBeO1xgs20oAEwOucWJY42aH9WFo58N
lJ43Za6jGsC2PxtFYKHB343xDm/PGqyxmk57rQzXREuuR5eUBRXnJ9UNLrl5on878jKq0sWIae9Z
D+zhVAuhl56TqNN326yNez2vI39lPq+XDvcGhRXAoigXwoe4bNFJsjjF3t08+5WYtiFmOMdA9PY2
GKJp5dS5Puzwq0LeViXutmSUey+bCozO1gOF15TmJ8pWRjP0IPSBW7FE9kLGDOeLLWFJ+/L6efLH
+/1MmK9x8qiQAtkchA/zkP82pHFd+IHt+OWZiDmNQTBafeZ16DxP21qTpvIGxTfrEwwxXwb961fT
vpQDVfeQ+s6KTTTqZeLWU2Frd3HYW7tSho3vks6z1F1c5ZG8T3217rYvf/VyHcwfDbUMu1KwEDP8
8/Kj1QwFAnOEURYRH8ZvcpHYyqaBPvZHGYZl+dAHvfHK2sls6UpCEH4fj/IZf744RCZ7MLrOHKtz
lHTpH8Q8draR6ra8deJYNDvH78Yvr+0ld9AMwCCXDptjCSay4MCm4+A357qrilu1meQDSfD6YxzI
AgFHbU0+Y/nApYfAPjizkMoFyb9UjGY+O7XI8NsMwLkHvMCVqN0Etpb5x6LGCcs1UQh9b06l5PWq
mD6+urcADFEhQKWRlMdSDMY2crJTvVKd034w9W2nl4btOaJ0wtuhL+RtnBp8yKvbnBlOwN4o1ZBL
WRxos+l15lsGVmJjWnyIBrVCk7u1ZddQmuxNZEvN48sNLo8T7si5BjOnYAmIr57VjW5yLarSeJ4p
sYeU6vuudoBSirRZewtc7xEeAsChOEnIGVzh+krfURu0QoZzXyrattL1witGR94HefBtIiu58pJ7
rmeEMLQGyG6m/V5uyRnf0Wtw0885opehV0OJF5s+1NsvRhm9VnATV/Q53JiB2HOFDSfOy9Y6Z4x0
G+D1Ph2mfmup2cceZtmmQ1LvJumEvlLGfFJv+/2UpD04TQQ41E1n2s0icrIJF3ogp9W+UPoQGjGv
muyuFbbTuqCvUmhUalTuhxJHSTfIc+0JhhZEAJtb86cIZbTXUaEAp9U3Q/FgK4n9sZLqRnV9RE/f
yo0j5V6eSQP1ZliNtodddLoNYuQ9wUlLYhvk8MVJMNV56I0BmnpeaJXZ+5cX5/J6f+rknCmfwROw
/xYnHCEdnq1dVe97IdV3QROHwJflakcBLKcmhO3OYJLZVXI93VuOP65ctZfNoyYz60KimE1qjQIM
B/vlnOZK2qo29afdOJjJwVcz9TRKfbzVyLW0m16SSjTYohxshVF+DhJ5TSV8AXr79QGARiBrcNRD
f1wsYcuonCAB77fTGuxUcxWycqxM8mMI4neDDfJ0O6i2cd+qWXeslSbYVqA8N7EplSuX8uVB/OtD
MN8hDzZT6Piay5HIqlBIzmTLWIX7YABIWCEdGSCcK6pGnHyI0g+VsIIdrA59//IamH/1vxY6R8Wc
3CT8mHm2s4baYgwm3LcBWoTqPrHM4F3iT/5NQ/y+MtWXh8VTKxQCudzI25P8WWYX06iYZKFP2t7W
eZRjVKk8KqNab5zYX8tTXB6DfzZFAZ6gnDoxT63LsfQBUhVWqGv7yBLqfSS1XF61Mnz2g8HeTZO/
FlBddY2MPQ8N1K4orqGxtRhAW+papyYBtY/yDgKMDN0F/1Fp15My8F6eq8WpRN9Q+eSyJDxgtmDY
L3aMEXCLYxCo7mujbR8mIfyNItm2C8NU2ctt/D3JwvLI+3h4j+/h5AZGaN/KdpS8M3OMlojumj3r
EGCEVtibkXDrNJrYnatWHN1FYSY9TmYCcqlHxbmGXbjvAjuD/Tx7SyJjsM1NUb15uU+LEvGffZqV
MTiI5kfxok+K0YzkmIW6r9BJfcvtHCMRYE0HLdFqss+Ap2U97w5qV0temE7WIc3NmhqsVG9tbUTL
wEZU9eVvulpCDPMMXqSiNb8BlsMsl6GidZSX9raWGPcIL79px2Y81DmKrkUx/Xy5teXmnyeV+IBL
jYwog7DY/IU5DVRONW0PG8d5lzjol7EGSFTLjbwvJ11xK0hjn+OSo/HVLVN3IgBEiI4c8PKZnITE
Z/BJtH3J1jyFCliZWAt917LK8a2sRdI5bCb16EvNWgHqus9wHUiEQHHkvKPacblJNcOvyZGOwSEl
TbxRWtHttBgHv0JPeVjadbFN0wy7XqGtaTJfzy2xNd2dVbQNHhWL0e5KI68BtiWHyYHWVBZWsS0M
LbxNbOIzNLnWaEKL9qikzbYJc9zCM4LTb9FeOuiIzQQlxCCthDa/6xOJmCzjYWc76B0PEyqnZFa7
w8tTe90sCS2Ia9zrLCpIgJcDXFsRospmrRwyX5Mwf8SoC8/073rVD7toCtZgX4urnF7OmW6bSTXg
q5ItvGwOjoMIdBSlD7iQ1ZvGscQ2KTrto5ZH4RdDctpDMtjmhpGW3YzZXgnrF8vpqXmk4uxfPuX8
y2XzJt5QYkSj4ZByn58EIEW3jaR+X5XxfZS18jaNks+wF7Xdy6N8+YIn20OSAGwLkSk3AKfzot0g
lyOnCXTlkFZ+9NHGFdLTkz54QPJM3U8a0R1V32wlNn22UVKjYK5ml5/l6aRGCOHZTqYehtrQdlJm
2igxcGDqTQj5nofcpmqVNYPRZyYYxRm2C+9TSBBXGlhAfc0p09VDCKpsjyuh78aKUu21GDkKk2eV
5/iiOfhFYWwg5qg/Xx7o6+VMYl3ReBpDCUOhanFJ9Ei9qtFkGQe0n4dtKozMU60+3tuhEbuTHL7O
KnCeWD4S2iCBP9nDK/T6GKla0leJeYipXHhmYdt3IRgOWJ4VepMr1/pznUO8iFsdr8D5IX65epG9
yKWpE+YhYQ0fsHOu79R+Bk32ev8hY+OshHwLwsGv3sHsg1vByUvCe7Fbq2IakEKJrMMEqcCtYm26
Kfs+e6sW/pwTVrR9HZr5Xk11jN3ASu5H7kA35s2677J2uol9tXtsYkzVeSMUD1qZZw+tBUWkVJTQ
AwqUgUKRCYl6P+iz14WS89TwMuNJxv+DzVjiG0mudlrhxzg3K332YIjM8DQFPd6qFmtyN9fHCsf2
bF4io3VAlK5eTszU+UreWJ15qAo7PjgqhBgFFMpD35ggD2DEekUa2buoQqzx5fW+CCqfOgmHjSsK
oOPsUHvZstlwQ4Y2AB6MU4xPk8MHuJVWobmTK8q7l9t6Zvnpv7e12FslYq24jbfWwQoUnMItWOqj
JcyTCYXAq/XOOrzc3sIahuU3M9OBgoEMY3+RqrjsXDSVwvSpvB+4msSjVHYPuSKSjdqE7bu+dsLv
lROfVVEaxw7REBdltmFHoDLzT6Vq8/LHXA00eHMw4MTt3JYoEiz2ntVhCC3DqT4MlmR6CDsbJ2ia
t6HTaG9f2xJB7qwcCwwbP7qlAi/IM92SiG4Jz5E3kOJJ2valpR6jRDVfeaBQOKMJqBUMLqWfZaeE
3U5FlTvKUTWr7Jy34VfJLr9H6ZA9Kpk8bl/XsblMRwg7kxDJll5pK+DvU1lBqulwjkzdqxsnvnFy
zBrTLlszEltefTTFI4ErbwaBUSVc3LddPdZYzLAwIrkZ3XJszXlNTF7W+so2HLU/6ky3Vh4oy+3x
1CYvodk8EEKYvFghxhhTkdQb4xiiv79Tm0LZ4Cmae5FZR9t2Isv28nAuD525vZnJRE4EABCH5eXu
aFIk/nNeJUfg5NVGKKXmyQPYwc1ImvRbJ6FGLw+ZM8HN69iqLzc+//LfsgFoHcyN0zZYZ66AZYlZ
9nNLdINhgKGs5M9aWcob4de4Yr3czHPzSNaBRwfkPv63OHKKrDSEY/fGEaM2aWeO43tNgrkTW8hS
o6kS3FaBVa3ces/NI3UPkj2oQF1TZ0yUb8s2icxjrNnBGfH47k1sOglH+Fh4atbLf7zcx+XJMg/l
b+0t8xB6XqpmQibpWAzFe7nuuxtUCscfXWTZa2iH55rimUHn5hOMZXO5ZMgpQbSre3gsFZmqtC2y
O4uLajOTMVZOsedGEao6ODHQirOCy2VTsdznvg0E4Gj7XRK7vhnYXhWlCXED4lZuZ+b5Srj7XOe4
6yHbkaiaxdEuW8yCRtdSOTSPmEHUew4a6VaovnFMwKW+uin0nOa6i80hrfAqvmxqHDVhxHVoHZUo
+56m2ngnx1hnlX45rAzjdaeoCcxxBYU4nktPvJbfinCi6+2msIR1pHoQ3kOT17Aq6Wdhxup1kAre
uBBnqe2AKZwznby4LzuViLgY/UCzjpoqTmY6uyXbfQtAzQasZkHL10Jzev/y2r9eJdR1oEhCg5lx
HEu/nVFMmBLak39sg1p1TeisJ7lWZvJ/o+8Bb75OZu2pj7MIDQk4yA0Yni3uhczvhqEhQjhxl5qb
Ma+DB0tPtJW00JNqzuXp6My1I0JnqqekbBbNaEqQGqM+BDgFOtneStPGa6a0e4ykcXT7OOvuyoqS
gRX74WOlR7FHiNqHHurl0TbmH27TdOoBIo6gdql21sqp+oTVu/o+YkfqlajxXBnE6N2AMleqSMfY
7AK3ASDwHfun7qYW/Ye0QPhISk1tB6la22htaXlGljt7w8ibzeiH6qnrh/aQD4l+UONGm2VlHqph
AhFapQHi+rbmUZusPxm4FXqY6HFwp4joSZIZbE0jNr8ncW/eIpaVbEtd728lvbeO+ZANh65snI1R
A6LuYytYuS+f2UoU6wEizxkltu1i0xZm1hCoC+kIUnQ4pSFiiWOcG6eWV+LKAD/f1IxypyhA6Wtx
NRdJ3ehGMUpHgwv6Dv45ctNgeU5Bl9crTV3dkOaMeqBISUUAYLizWGopQm8JGijRyeqacBPFknp0
wkZ2rbCRjpoNjU/X0Y96edte9Y9GASVRbKPB2Wro8qiAF8gxog3xCeWxZh8Jo9lrdtTtcz1eu42f
a4qU56wVTFGPlPZlU5YE3yU0/fgktQVGNIM53Pbq0HpDk+Ur1PCrw4he/d7U4nYUaWeMxmDHqJrZ
wq1DJd+OoRZuGP8/goAC5suDuMBJchjN7dkz4oprhHhxsSCdEbqsVaEH2InC8HKpKDZBEpZbdZiw
+LHy4KY3QHkYuWXtRkkTgP6lCdww8glqrOT3Dlo778agK9GB4WFSlGnw2pCWL7SwvgN2wupiEi4H
37fyUok11Fc4/rP7WBgfB1UJPqe0uXP0tHidfuGvEaFaATySoioLTLtsD4OXoEcKP8Fgpct3cT7V
d3Eu0CjJLclFv6CS3F4NK28idMvdQW/is4kT3EoAuCCLPn0G5BxAWlBVwPstUX6qXcl53sjJydEm
hBslGX3coRwm/W5SkwjTpbR2vppNF7VkfLLpW6P6FFgcuPfVa8+sGWb4JARO9huKyWJJAqdH57W0
k5OQwRtOAfJWkPezncHuXmlqmbhjNVJoJoyA0sHrc4myqNuiiwts+E5lkqp3QZZargHsfBsqVn87
+JXp2bghPIRmKJ/9AJ+vl3fDM5vviYxlAMN7sri+nPoBQcGiRULslCvdsLMbOTwVsdxsy7EY3xoU
NVfae3aSSRBxJYA0n1XsFw32kz+VWZeeOnPQWOBJD3Zlaiu3d8yQcrwTGt4EByDwplSoXjEgm8Om
XLM/fG7YwUHPNQ5CIGMZkvtl7XRoEaYna7CGtwMgsF2Aa9pJT8UHftJ/1CQn9cyxiTyzxZhn5fp4
5nido0qwCzyYee/M0/JbfNlOVTD65ZSedJH6JI0a+64xy+gEeGLNmO96hlnCvPzJlIKiJY9y2VTZ
QdzvBic7SVU4ukVv9aSHHekrWp3vVBEla2rNV+mjGX8OyBpcIsEYnM3F6QXZDNSs4jSnobBsT44R
WWwQEYayFBaulOcIqGSwAGXhpNtO08QeaRr7DeVH46PV6Ws12asFR+hBPpIlN8vkAVxeDHWVt2Y6
SsNwSKy0ddwKiMghpajusdRKtEGm7C5iHI5j2emfKfNX+yiSvr1ul5EKnfOUaEIwHPCV1Ms5sOvY
KPoCwpjQnAFMeJe6hlWEZ6Q4hvNgVWvp8WV0Qmqcy4MMAZcHz7JloICRMcFWbignR8+NjQ76faOp
tXDxJVLR4lBTLwlyc+X8nkOe36JbICqz5CMgUKIvLpKlHJJe+W0B8F26scdCO+WDFT5Irdwh8S8o
y7adcRgKTDqyPF9L0D/b8qyDMfOEUfpbHNfDEJAeGmHLKYkhn4rAsfc4BDbHrkA6ukYm0W1lJeRh
g3PfyxO7yMfQZwSZSOCRxZtP0GWyO0ZPJOyo5tw24KI2Saf4u7ivX1mjnFthU4ED5DnKM3Ep6240
VtM6+ZTdDoMiDqHcam7QDuFt3ciTlyiTdHy5V4vT6ak98hUaz8MZALsMbjPwPn1gjNltalvxxjTq
4FAPLTbgk7pW7n2mKdTIyInA5QOIt8QYwT+Puiy1s1teucxTWfiW5WY9eqVOFdtrD8Q5ar1cos5F
a4t9CEB6kpoMz0oKIZrlRTUcWNGbKWX84i2BvPbADV29K/XauUVQTHNxclZW4s/FeTwP7pxX4HLh
YALXtDgeewxbkjS0stui1rNgkyFY5cHT1N7Wmn7WpQw5zJdnc3kg/2pxBnKQm53TGYu3ytjSZWtk
jI1gGs+JMd7iM+X8zIVUnQT+eW9shSi3jJ2PrWP5shcYZDoQws35uHKNO7nAN3Myzf3nic57EL0T
rojLs1CETdNgeZzfJpMhUfmtU9PrqkaHf50AaGtjZiNTg73aW5kn+WkbuAoU01sgxc3WCHXEpTWy
hEFpmx9EgcikhTiAtvGzUdmuDNxzy0Uhz8SuYzMwaZef2vYKZXNJzm+7DgPLBCItyv+B6Vm+Lt9E
EpFKCz7uS2U3+vumiLVtYHd2tzJ9i7P8abzmJyaq7HPKS14ETOkcLduxmd/ilzWBiOiNjuK5We6N
qktcP24l11KTV9aTf7UKi9uapbR4Ki1WqS9lVmdnzFKQaNYdwNVP+aAWgFzGaduBJPUKPfxRVLL9
fqq7aWWfPncocFX+T+OLK7v3qwF1iSa/LSnk3bUI+G2g5pmnSC0/vzzFz21Gwi+VzQFBDMmSyxm2
S8kPi3LMb8fKz78ASE62ViJ6ckBc1G7GS2j3coPXVxUiACDtqGkh8XFVrajNuBQkfvLbOqrK+zrE
5syPTLHvx/YBnfIIMVN7eNcx0ytn+nPLCKwLNT2ZxxUVmsueylo/NnLs5LcS1jL7SK6ijdFDklUy
KzzLFkr5UwAq5OXePtsoAGQLYUZq2UvyKgrI1EDGoLgNIzG9jU2rvNECfAitOjN2vh7Ub6LSXNNG
XsJGn9Yu74tZJhFwGPfmZVeLVPaDZChZPmGqfx3R4T9wc43bpoqbx0YxfuKqat7ZjfSxgsJ+i3FH
TRLZ1NbY08/1Hl0PCAoERnMN7vI7/EGJkXGp8tssdZSdPpriuxw6VKb7NPoyOIZ/MwrRr8zz00Qu
7rg5JQWUkyQRSsSLiQaUYCfjSJpfrZFvx09delsJA16/HQ/vtVGWWy+o5OlrpqfGDuBRuLciZ2RK
iuLo+0W5o9gb3jBxa3meZ4YDrWrSv1z0vESWgXhpUlgVZhbeUstBYEnY48Yyam1r1agijort78cx
7fevXIHzJUM4ynYDKXJV/PSlMsgSHHhumy4MMLoCUu3KosCkgWAgu+t6gXyMUZsrs3DVV5ol7OYf
II+I+ReTUAa6ZEAID2/TVlF+pjhIH4GrJKc07z9F86GmDeNaLLpoExgC5F+yJyw2SitIVVwut3Jo
Eq1Pq/y+xNol2te+3dupC6q2MAqPcp7VPsh+K9Kdo7aj+bqUFY3PuV0URsA9wdRduq3HU5iRsLLE
fVFNxZl33AcyXLCXhkZx0TYZVi7FxbkNFJLHJUUgcB8zF0xbpCdF2ZlGoRstTOZ2Xwv4kb2RIPeO
wc0B7KL28PIqchi63/YUzQHFB4g583AI9J3FbVgXlp47Wq8/ytileYPKCyaLEQEwUWgjUByHbS/X
OK6HaX6TFL309uXmF5fGn82zpHjJz9fUYjWBIYDLrUX6Y6NN8dbphu4oZbUMHHJ0NvGgvjN62/Sg
cNeblxuef/F1v//V8KLfWhNobRiU+qMdJ8WmQfrqTayq9ruXW1ku3F+jCyeGjYJ44zL9GGDyoFdl
oz/GTiJ9qjuojBIvzd1oW8GhqFLnnNVat9K16xXElKJ7RIYC8SNQtpe7pXaaJJCDSX+c2qLfYRdn
bswWRDMWaIabOf4a5mN5Kz1N4pOuNzoa7NSlhkwaWVFuTqb+WHWl8HLFrDzcz5Ch14pxA10o2Jlx
He9SRD3eFSjaemoo128qdFtWUnCL6Gr+kCdnBo2IcrZNmCf9t9xT0tijkkSx8RiaQb41RBWd1AYe
91QUawotzwwyxlnwV2A9AR1filuZQVqBBuuNx6ETD5XVKSctMIwvaZeAlLKGao3s+8xKovBDGpVX
K4jXJW4hVxvHn2phPI6wqg95JpyfXADSpkeYY+vro4MNoL7GnXhmd2pI0EB/nD3eOPsuxxPTOi1O
VGE+Yp8HoNSJ26MzCAhHRavfTj58iqQoHnV5GNf8HJd3/TyVZOsJI+ek0oy2u2za77H+ErliPJYj
FNjUrCjh6miq+yAmd6MvY1yZBNHWsLAbolQudgUYIDdEmvbeb2NzG+alfGiCeg24fjkP4Ea46Am9
Zsg6LzweJpffpcRJGJKrMb/PRAnnTLIzVc9+JNeVs/E1DcBvl7dx9yETRWC8Tqz/qXGahRUN7gma
yRK+FvYa2VXcy74PpRXtElwYTgxiuElMa43+fHkv/GqKOgXkUzwVLTBzl/3UYyIWWxvs7yMwtX1q
KfWuV9Px4JgC6QXJgtnvJLL83sYBzI3xLX3VrUtKlMaBq83JNrAlMKQu2zdSZRCkt+MfxQBh5OCg
rig/NFXYmR+TKlR635VQDZhWjs5FQmFuluQiynRkbbn1EZG+bFaNqnxs9Ur9MTWZBEPOCc1kixCV
WR2ttC67ZgOASBZvNeiG9gMwUDm+G5ssbFxd9YG8IyDhb1ufF/RK2HV53vBFs68xKt2ku6nwoQ91
+WFEXED2zEj+AUoSeo2eJMou9vO22xhNVn2y87Jbo+BfnqbkseG+Qx4lmz/jrq/AkraEel9nGeFP
0h0NTtlD/x43wsFVsiz8/pp78s+m5kBktrwhmF0c3GEr2HA42f+ErBdpN7EjwLpBb7LTd4oaWw9j
F2JByF6zjJUZX44rKx0QPSQJEnSIcCx1Bsht4zXlDHHgJp0lzpGda/sRVX/NjSxTOiA5kK8pvV+N
K7BetIDIe2D9yMm6mMrOxw0qc0JsYyWLMrsUtIZXBpzqQi6C/csDe3mCM7CI0cxHN7kOqn5sqstl
I3GGWVJb1YEbG6Z/KPKMun5a9O5YKtF9P1n6PZJpiRtaU3Z4uemrbgKxndNyLNpZCWPZdD115AnR
hcRpXLfHu8AZ/W3Gm+VerSgCvrKtGZ7vQOSCPQUSZ1n4biJJAGrJfbop/PgLcoel6YIWEzfZ1DjN
Soh+1TN0j8iWQowi3cc/F2djosQkzaekDykYAzMEZZRkbhOnjuP2XFIrrV1NIa8faju4TnE0oTC5
aE2e9GAK1NQMXTnQ5Z7WUAt1ayP0deofqZHMYF5YCY4xFrfaqNufXh7bRZmJNcTI/lJuIFtITXex
OXsyt6nWaX7oUgVRZcSEtXjclH1mp6dicPD1qosgxrRbru3voY3Iv5u0jvypbZv2dZ5ffMvs8ztr
+1NinJ2QF98SEi1PltNboSssLdoLNW3PbVF2TLmV40g0rUkxXI0+1UWyWRi3QdzifFhsILUTwUBi
ErJC3rfNI5VUsUNcSnL1NPWPYVKIN4Gp9RuDIGRlAy1DDfSNZ2Medi/dJj86X9G/RbPYmli1nXU0
PWhx9nnMykfMl7X3RS5TPbbU8ZggN79yYDzJAP3rYUSliZiLaA8ZUdKj4PYWN2DnR1xChSaHrk4M
37yVK3jkm3rIxtzjz/o7zQyH4jCkg/rZbLPojZapIv9qpkp306DH2LtGkYzvDTmPFHewsrG8ieJc
/wRoz7hVrGZ4qEUIaT0KjF7aNxAuhy+chv1NK0M59lqCt/rBUoNE/Hoc/K9vw78FP4qHX31o/vHv
/Pkbic06CsJ28cd/3Ebf6qIpfrb/Pv+1//nPLv/SP+67H3Ur6h9/uf1aNn/Zifz71zYq8uXfufgV
tPTnl2y+tl8v/rDN26gd34gfSLz9aETaPjXHN8//5f/vD//y4+m3vBvLH3//67dC5O382wI+669/
/uj4/e9/hUf92+aef/+fP7z7mvH3/vkf//3P//yvf/7n//7nf/yfq7/242vT8hu0v835HVIPFDJm
ZVVWXf9j/oli/439BgyRO4NLZX4M5EXdhn//q27+jWABSQv2CUEvye2//qUpxNOP1L+Rs5nzz3wa
wiIQAv5f7y9m7F8z+JdcZA9FlLcNTYIhYNH/a3mS+eRAJQGENc2MBSYvc7kpoqiJHAx9K8+s4+4U
hYmEa2NhnIhIi69aoYiPKsEoODzOy3Ycvmi4pnohgLl7u/H9m6iP9D/8qpw8Mmf2MQ3H8GMYT9PO
ADh608ZxhM0n/NxPSlw0+zL18/BMcTR/ILOU3lDojn5CA5LfSGlkHDHKlO4MP6kfpaav7pQ47rHK
7MUDdU7EjU1RfmgmKfDyPoy3vSGMDfo20jZpo2ZbO6r0Pm6xZSpbOTi2Ctvb7Sntwikbqjc2aM+3
el0ibSQl8R/ADQQAvKg/ahqGn0OZtW/6sZ/OQ2tSfG5D9WYKlWlLIR4ojxkmN0XT31KmewhUBQEh
6zFV/MibVOWtD1OUp5ypuXgHCoZB8786dhi5cqFsB2BHrh6NoTeV6ncfeZ6855UVpcIrU+tUZ2Dj
yUbt0CpIXQ6Ck6ql92bwvh+LRwmXp0PIrn4Qo5/tMqfHUEQO+v5jXnfjTZ7bAV8v2h9EsjocpjQ7
KJOqubBtVVce+/EPJQ7lt7rIqqM06u+KKe8/J76DFRo5x31PQqEPkf5RdVTglDp/gwmgeoscUPm+
z6GWWLxMDlYhde+CqMnc2izxgFLltD+FVW96mHKID602GJHXh+mwDfTKuXdE+E1U2VaJs8LNEGtw
Ux8DFACn2DpZrf9NhF24zyqtfaNpeGthTCTtS190m7LU7w2JK1gt2geK2J+kTurdsNK8flQNeBP6
MacGOujVpjdCcVeJ4UNQUqVHRt7jcPuD6+vRSLRoO2CmKPtqebLHWPbabAp3mh7P3ODp3AKiqKTQ
k6CapWX9R6jWuRuIINnmWfe+U+1ZLDwgqY3UMxj4tir5iEZBFkvNzWJjJfbRrizxQVhxclZCuz/7
NqPjBv3kAp2ovGjMtJ3cldkGBZBNjFVzX31XMTF2BdbGrqbiXM3b0ifD5QWN1myroZD2tdlvYPow
vKHvnwoRboe8S25rB+nFyLEprDc4P0M7cklR2N+UXtJ5n+u+6jahZW86RREPY49aAWQ2084db7RG
CjeIiBlj2nmxobkKUANZ73ZpOLlaq7pKPuloUhTDoeKRdlI75weKb0dpsIVnxe1ZMeKBe3JUwA9Y
w23YDeW2NoJdp4IR7vr43KkQvSYxy2toYbft9eSslZFy6lK0sQdJ3hnobHitlmvHqNS0u6Yo75rO
1t8MKLi6iVV9QxbrvdX1xT2gpDc5lhJe2qJINXaZwZjr09aywB6VdXLTmFH8WGNm5cbj/2XuS5Is
17HstlILEFPsSUxB8rXe9+4Tmoe7BwmCHQACBDGTaq6RFlFW29BSciM672eWpEyVZJazMgv7Zj88
3J8/PjT3nnuayC8zKHXC2MKipU+RqJSlcPvw40lSbAT56ZY4Pcs2j/d88zNqEq/gyI+7xU1o6dy1
72E/+HvTB+uLBtl0pyehH3WYXC8wgCi61ivHeTxlai36MfrdwUlfxi27Thsbv/DRheXc3y6KiDKH
qSqVedyW0bp+jfBapY3wo5fEDlD7yJydifB2EdssXWLvjQjmw2mRu9KX7RPAJ6CIbIIlygD9I3ZT
iXSl7IoxNr8gXweuLZP86uFCn4yJvmMqpi2Jr70oOLJteUG5MuDK77Aml/mxbtn3uGWfmRY3ienn
m4y1sHzq+54OU31oe9adknmJsdRT5IL13LwI0Aeu4dTjoVXxRho6ke1q2/OvyBB5BdNTnyKoyP2W
3cTLMerXakKW1ZmzTO01XBUjqnx/o90I3945iL3TMgf9TnXWXrIjsJ/EvBZxOLq93GDK1K5dsrOX
pjMmdVtuaZvth21DECRi0CpE5/5ya5zSfq3DYo5Hi5SBMD9vkXRnYrz2YQPf5YMBx+clVI3BjUkH
eatqdoobfl+HYh5hM0DYronddY8cwpqg8aSATtvvFCaQh8CQ7q1J2HaTSSV/4A2X/Fh8bCfuyH1g
EACAeA/76zKJ+dxmLtAP1Ge8EZeVfROWjWiOOa6iyogkOMq86R+HjH0vS5CV8SSi0oPx6cu0OPMw
h0P/ojakPIepO7bS57RpwvHem0zAiq2DtRPtXPrmWUznR8SwLbP92LLxuR7iqVwhJoyA59Y3RvCv
tfURxwa77AJxgP1laNDAQygT4efcIqu00F6oXhhSAxu81br1KYuaaGd5nzEajkI8jC5NvUKtvZfv
1ebFx9yz3ntk5vEK5QfPSz6P2VPse3lC2Tjr98zzwgNchMe7xYO2nxA+XYXT5JUq7ryGhmwIERfb
GHkVdQo5ngHiLZ7nEZeUYSGOATZo80v7mCfRejQwHOJifrlMSp7iAA7MBZ9bd9EzjCk5LFPtfQrN
9IMJQ/mIuLrxIUSMwiNKkZyG65gWfaoR3TY0Na2DSNAOzRudSGJv4X/srsEF0aeW9yA41I4/T3Hw
MgnYCOLKm85kBmmUOWk/8TxaXMCpmH42N09UbK3+3eAfbSWs2aPnbLONoV0T4oQ0TcdwVkZ3fNxP
4MeAxT6ah1AnlYC7dQGfSlY2NXnsOoMO1b8Rsn5AkhJu4qku9LJ2O3AVn9Otr38zyLh2W+QdlNr2
ffKdw4YaYVJ7uHOWnLlffrgzNVIl25bFHeUwZbpl/VRfocteCtOtxzgwn7nx7ACfBeRXhMybf13K
xXM0aXIHNRWosNbVqsjbTNNaT5/C1F65NRrunUl9DU7unmTYoysw3ZAsZu+5JnmOA72WKCOia7/H
cexzCwNYNIAwLnHoOTN1b9B2PEtsp+FCHhOPHbAQJJbF5K5tRvXJAJsXTOOaqftQVNrxFIO7Lj+2
STphCaL6a5ZZ7haypj9ppn4BZnLPvdArHs4g9zP8g75B5G8r1F4KN6gcCi1RpCkRwI/S9Y8J59mO
1UKiT0r36+T0PmuDX1nnv5BogUelSsabicj40CCEzdKptu99zQ7+JvYh9mXijVdNPu1DOMpTRhDs
5sLYf2H4jBGutoXNGZfQ+GO6DVWKWyW+PDd7v2YrbFP6rvkWin9mXi5vwyFA/otNrqKIjzCczjgF
wtreAaMJ34U05jx6Znpu0j66XfWiDmCQjqW6RPXNq433ol+6LzOSujIK5oqOR9Hz2lwAo2gU+e8I
SAC2aiLSPdL0UPtMTZnEQ9EGPdyfzS3G8j7XUzkO+wR0XNx6KWxAUmiQvLa/aybZntwUyoNVS06J
6ppbPzd6qJgbkGUTag8e5bWuoBNNjmPI7rXbsld4pJCb1QlHBSQwl8SaYHrG+FTBZW5QGg56GBbO
OMZZ5FUxEm86H3kfbVh63ce68UPkLVUW1I+kv2K5E2AY2hS7Akzlve5y01FoFupj15vgN4+VQsJm
C5FmtJxkw6JzPzeCCsm2A2+34SglUticzsJXkcNf3aAQRk5COIFSnbCUw2NEwLImd0iz05nstwK9
kaKmByWi0Qq6Red3DalCVgcnGSMssIpdHMH4BskV2KWxh+Is3BpF/1jnDBakH9Iyr4LZ8h4c+ekN
DvUx1sfGVvgRd5cpm78gJDsf4X+ApxxAzD7W5wEbbaSaS1jbo/6MKmlHtVbhusI2XmTEe4L7+OZg
FgsBNarvMacdWC6HWYllpT18cWk8O/26SjEWIr/YIMeIKkso5i3+09gg1wMvhHhXZPf2UVD2K9za
5sHPX4JF8aptJ1HVc5Q9bWnj22KB29mD7aJh7+V1tmvgtVz6GI0KuqUeeBIwYCvMDJkXQhZAY1BA
EJ76NQOXAsjHLc7/Ztc1KOTUIv3K9QO7rT3Bdhi5yc+ws9jQHsa4v0NPuU8+JQ1dmnTd2Uk8GQWH
AXDv5Vq4EYVGvKCag9glLMJaRDdee0jcll4NCe6kiEs4+UstT90490/ImIpwMKGpwwWCxJ0Iv8Da
N/EHno4+ipanZWtA8ZuUt+5mYHBXtdLvM4jECC9cPA5HSZYcksC4o4a5lKajn463m2bwT2kxRUOi
JikW2aFUiTxzCnA5n8SSun3vDT6ixCfvvHp5U3hr6nZa5VBJ4OZDYKKMjmOHsOYuib2qhfWpV8yZ
Ht7UBn06xB2u1LkiuEGQ7jgDgTngr3Ch+hJNy16tPHhN4bnKSzSsD74gvwasX4hoR4RLrRtdlqGp
gBlDIxCiTx4agbaotT6OniXebtu8iYoWTACacs87m7Sc1aNro4dVxqdcdUm1pMEdGoYPTb4j2xyh
6NsbvZIjGxhqXOQ1Mn99mNDxUQxQyYm0UUZtHTPIowcOAGhd3vCLvtdmTIpumV69FQoZLrrlM+Xx
z9q1ZzOyFCKKFaMIt4Oe7NoK69GungHDZu3vKMGO8Pw5LWDuhYaBmKTKkFdo8zm7srF+IcoLK65n
0GaG+lr2mS7Q3vc34KmOOIH6/OA2C5Eq+uLkGgLgjM74v5En9nnZJgFkGfOCyfewiG0GLSuqSzuO
8AxE1asQZn0V6xGmbMF4FiCkR5LvrBuTR+kGb+fVk9uLIHk3sNl4w0HIDyvjH3E6Rg2yxuccbxoJ
DC/+CD4iAm6SPT76qaxDlRyWmj+tBh0ijjaG8oLAYY6joachKqSHqa49TGdcvXIKqWa/b4jfdZVA
XGjR+BMM2+q02+MbReWIfWSd+9ryBlkq3hID3uw0TB/nGsPsBP2OyF4iON5ONINd+DEmnf7VmcAv
kmCB3S22ThXNdteQDsrrELEpWWbIQ0gMuiLQc64FGqNcL9eMD/1tAtTmHAmW7uC6n+7SJa6SROZ0
zcSMaGp0R5Harust6ylJUGCK5YYI8tXpPEXxMxo69KqyXniOmAgx7MSodcvFs068R+lNoBOIROAK
Uu+ISVsPaCqxXhN8HIKQngqTwkQcJs54h7iQ1uamhsfZCco8dxvY/sPFvimyCF4ji0EDiubFL/Sg
UDmzGzi9NUeLfjmb8TPCnO0x0GhB2pVzAXAlrLpm2LM0KGdg7wVmSTkKELy6UcEnW6BK8Lfwo0tE
Xo0rKzoXyXI2ui4IcKUKn16EihiGnjmsbao8F5xOvbsP9PgoAsQ9zziSvAQ8mKhLcAjHwbwLmvgK
9y2tvfqRh7+8cDV78LC3nbKS/UJ+iqaAuU69yT4yZc4LynURBP1+lbiMJx484q5QtxpMjNOQQSLo
jyF6LFh613Xojlk9HsK0bookrndGLndw8qg2mLUPK9kOmhuf1mtKZRDgwIH16LEF3leIJTH7wO+T
e5nGDB7M9bYj67yVaadeV5LoW8VHn44sfyOwJyzGqdvzWrui4/U1Rz1+mOteFhuGHPAjU8/rgNAs
BFdMg/yekb9Y+VOCThXva4+kU3calXiLglHeDyp7WuoEUUH9hDp2JQvkorm56YEXFGBgH3QsEMU+
c8lpBiZKHUvESoPlvJu6dKF+t2yVHsJ7ZKJlOEu94Bfat19gZXEU80N4nPtIUVghI8y2xvAREEyM
MroCcxz7CUleBZz6kBEgkqRoLYG9Pa5nahr/CCnhRKfWZ+dwaG75HNAIZncNlQPAP8YapAam/vXc
DzUMq7pnW0c3vmr8Qy51jJ0HiIfAffUEnABZQ2Zov5jPR+hHuyX5bCJGCt6Oj3NoP5coFXQYiKQc
gz30bY5TNltBobE8MomccpFaCT5gTYBQeA9hKk6NACWyTmPYT0TNoUGc7N7nISu7GdXrZsUhnaYN
9o3+e4CL5zYeYOOIwpqYreyWQBTc5+d1HF+1DLqDl/pslyaSXQX5gGWDpGecKDdISU/8yzoZD5HF
Km+HmuyRl3iPwgPUMk02HP26GILMltjpJ7tFOEYmNJgaG5SiBPwNkkX+g7iOr4iB12H4NtC1ySXF
EeVw9ObbrRDRQeTYnKin2F7o0Svhk/KQGIztnVbFVoNENywWIU/9WxQiqN6Fw1AMbd7iV7vyvfk+
hVIIzuPp77xGnczqPZ/du1xRTjCDBgOuY1HhAFhQ9Dxy76Xx25KEzQchpikyVxdR2F/BxOgrw6VI
NdhOKOOQcBAMePBGNTDYheIvMOZ+srAVWtQunntkWvFEF4uNgBmwYm5tXyIfb3yK4aC5t7E9q0bl
uDi2dee26BNWYKehXq6C+iMzWFeRZT/9MDEkbGMFxgZg5TJXgZxRo0NQj3gHnWalhH/k2bXpvTX4
uMgqq1q1KJ0GpB4gB66CpS+uWt41aDnHKqx3CG57Yik5BtBq4hhC39f33TxDtbChpw/JFj2nbfQ7
SYPgqt2CmCJhBhZwbSqvtJ6gjFIfvjBvXryUsEmPoLkX35kYzW7GELDQ6AWrEPmjZbvCZZvG6/gL
92yHih65LVEkD3y079Zlc9kudiyl+JFxWAWpvQEITTPef2ll30IMsemSkoaCbBsdOtl012xt3VUg
wuTJNTjcvTjGaolfPd19TqGJDsRc68Hpg5ibLw5tbbUJ316BMm5L3SFWCvg3yhZFSWauAuafV43L
xKqLcgXcaTenN8OQXrd6qwiIF3h6c1sQ6Dp3GEP77yA809yGSaXnWh2iDRRK70dNlcL6F/YOivdq
RUJoyH9v7kX772YKS4a70fEeGpSI/2zJuMvnHgXkMnZ3qVN9qbmvKEZrBhBW+4q5sndsYIGH9XiV
4TR/8j0QvcbI679bHablMEb+KUOexj3gzKjsIGun4Nf1gPC98YRytIbq21DmjY+wh7hZvHTdm1Cw
6z5r5mJW9nmtUaEnLVIDG5z92vPK3HqSYmTwFsbDQbtOVZPz2nPMu/4aj9/uPJ0cag1eCM658UkS
OEbjUek37b0lxOxC8EZRVqXUjwZTpEPdlVscyMd4AJi25uGpCRyml2BooyT5Sj1WIYPz7Muw0Np8
jwhMBAWu3qE9+iaYw4STMNBI+2cPBIkefELkYnXVEM4AONLK60NQkIKpjP3WnVIHL/ea9dHOZf5e
QwZ8bm2iK4S0x68bCiXoJFdI99ZhLVSrJIU/sLtuapCM4DEx79BO9Si0Z3UfYsx7ZJgYCAx7R6C3
sEiGQ2j8o5K+2ICuBNZ+gQTR7LI5tu8cmx0NSFe49XFrkkPKsAiRa9LvIUU9Bh0sm3DjJg0a2Ox9
5gvFdbSD25k+NWu7XTtMinazCSqD9PKFZQgtAaICWDxE/Yv1ru8w8d5tpHuUunOlHJvhQy3s3NUe
sK/1QS/I/YygjQSGp55HVE1sQ90spTDFANLNCURFU465BNzPsi/bx2mRopTYfOXtu0wkZ5nipgII
Js/xNlbNqjeKIEeOdhEbgYj4LADMRrj12DRRH0ErPm5GZEAVMhnXhKYQImiqTTYFF/hvvobBqDxz
H+kOkVtxqBigc7Ru1DUA0t/TPEpooAQO3gCVX+VUoG4X46dV33pIi4cTQQmaXXPY8kWWKNaeMu1F
BySCi4PnIfKFzgHqHtCK19K260JTpIVcK2E0qAEdwb4ekxYnawdNhkCc7XNmcU+vmpBiQjl1NFmH
qEon0rYth0yP13WAQDKKO6ipfPgB77sNrXMg+Fbi5chdB+z9l+eLCdUd9BWFDyepXSZWYPxu8j/j
SV/BD7Os85Ed4eDWvobJEpaG4Jg3VuidiUV3DC2pi9riJbbAPC64l3/w4QpQBpHVTLPcNHTgnf/q
9cr/blHbzLSu+4saqWXoJoGI5VrPhcOD/EoUlFptn/mfkrl0n47L+naJnnrhwJ6Lfoqm3cLn/gRf
nxJE2CIBHMqid/C8gmtAQsm+kyg0NQ7C25qw58Et9ZXlZLxvVZj+Mr4SkhL0CWVCYDq+6ah9Wbop
4ZR3xt3AMoBDAbDwXWCVgHd5wq63Vc9vOnPktHpDvQM6pVDV9ksZqTq8Hq2U5eDGz0bIu5hhftDC
55eqRHjHVnXZDRaEhtke5gn4wPzpEWXffNZsSN7DaRsMSvpmfQHdpDvpIQ6AM9Xx7TaDZgkscvVP
ZHIIi4Fk9NF2qEfAR7CoO8Zlw1UbNrdZj3q4n5p0v/SwrfZArXhdYyu/TaJ0OdT5tJvqdKtW6bud
cV1MoRzEtbi6ckDE40PM8+kYhrN6G8NkuyKJP50n5upvGQI6AQY0NkEKHFHGWNXD+L2CPVbELIvK
2annxQt8HDde4741mwbqsaDeAyqNzpN96RT3PjO71OiM0uUQDr6+h7VrU8KjFzO5ERwPy7uuSBWR
yK1TFlcYiguu1svmEYjH6gdbKIO6CDWeCOs7OO+sBx/EknPQwOdgs8mICiHrv2Y8gJMbMXoFxLDY
IjMXu3vAlw8SHX71n2JsZDnkQG9dB5OgwZDxXDuVANeEb0XUNHnZe02LIyaWd38wEf4hesbt/DM+
LvLnZwHz4u/pFn9D2Ph/Ejn+A5IyLpFiUMVCPgJOBQg9OGz/fySN//Hf+p9/+v75J+SszjOIKH/L
8Ph3f9hfqBtYQwREjAtfE6K/5KI4+Dfuxh9fCiOEgcQXWnwAXtH/Ym8E/p9A2wd3I4NW4GKTD0rF
X9kb+BKU2YCaQapG1DpMc/4h9sYf1hP/m7zxf/3q+YXx9H8wmkijGMYncQc87Ay5K82CnwEZsPG4
UVSz6KtveFaGa7kJtIPPAvG3Y0WwBZIqb4sEfS0qm4kidxcIwsQP2Rcq9dg/kvQBPiJpfeMIhvO4
rA+Ze831FYjSzCAsE0NhtnyJ+B4JYXXzZMDbalBzFwEvguSTtY85v/H0TTafRHhW6d2UX8XdnVFn
jv+evfrs2K2yewxE4GR9DgIgDuwGyAPNNle4BaDivvFAz+O/svFQ1w8reUnY7eT9cLRyOr6RcN/B
3sXdupv766G7i80xDTBNwfSgSscni1hPDNGgDekOoTy262doMNGbgDRgWtLph2F7bKMn5x89/hq4
D8OPWXuNenNYjul2blYkHVbAO9P5AIlxQq7SoKaufyFA6FHlY97Ab+22T9kuTm5bchWsSLg5qxkw
5Clarzdzt/lU1ZjsnJx596Zdr0bqX3zR7+CSU0eHzBykeyuT5uDZ0+XPtHPxa2vvNX+aV9DBuzOm
s2NyI+NHoR7r/hp5Hh6ALCDBecVGCpMTzJGXbr+lJ+kdspmGHEr1XTjvRfsXz59/6CB5mgb8+fsT
5D/g2XAhmP/nf2NE/Tt8rX/58z//lz//13/98z//97+jbF2+8S/bPs7+BMcn1Jl/UJnhbQsK418Y
W1H4JxBRcSLAuOJiH3oR5vyVshXEf4JtHUwbsbchY/lDNPvXTR/9CWFXmErgSACVBgTw6B/Z9CAa
/y1jC4fGJfUruzAowXsGyfpvN32HXCl/SW1LGx5M2ckMMrnD8Eh4YAiEjTwB1gBRJ+9H+KlR7ket
n5WGO+9dSQk6FBIaQvkmLjdOMZK0CWHzbHSIPK6s794BIBtkStioZWUGDCwtkYKe8woelGl+XARu
5pPUyB2j7dAF8b5zWf2eJYA51eQ4rLzBo59LoGxoMMCOGr5RlPEPPvAgKxRXstl3PUoK4I5iK5kE
ebLgI59NmQJLRrCvXUGAFNFyVzeoWymmCInd+7CVmAr8EORYObHOHMjJLM8YaTbJqdsccM6+8WWy
F2MyB8+Kdet8FJ3HNtpvpBd4+2PTHGHLRerSoE1odnbwG36KgNb7t2O8eXKPmh4HJAdBDdOgJswx
K8nkSDoaeHIwIdgQCDW77TDjjwCdIBwkLVQttnWmaZdiprEui4QZUgoL87mEIRgoaskkZ/A3szGI
LfSNHcpPvWneODSOU6OeDPeDxB3ZBLOo/BcIMNbq82hhhaLvTaZa+P0I1PYdudGrn6r1ATz30Yli
UO2kh6M1NlHOUdwAg3DI++hCkDwN3tSM6SGiiU1hTMRWUihUdQH1R0myHXp2pas0mDjqkVRE83lO
umE5M93zj8ATEypwGLKI/A5ZkhhDOtuiDfGJHM0jLDt9v4q7DH1YAqMxYORAjfh1pDCkgouiWdci
6hF9VKZjDlQ9EBpDz1xCI0eDxsFQPmKwUDi6JZ+WtKg5mNbFtArCDlsS6qMatVWlXmriwCyZmClh
hxOuFeTfNoO5LAzD8dkYPzohktKfrqdtZWllGRufyDhAP2oDvtw1xuA7gwhrDrhAFpfK68FaWRqX
37VKWcTNrdARoMFqYKg4pwgWSPg4HwjclgPcHMy+ZVm3grgx5etl3aa1ASrn284eMf4CQ4WlOuho
DlfftVo7s4V7myxJgyfDIpCfegSioQqUNvwIMfhB3jaDbROdIqPFmVj0wRQeGyBS4T5qZnkfEJk9
kGBe2cGiUUiocDVQX2okrDafPdn5wz4EWREibKz1ecd7b0KWYQ+nx2NNelhr0065pLtOtgxSC8pY
HadvftBMY1OAVdgBWF/ivH0z0GQst5C5o4leOgw+PxY4ls0MiG/ieTu2EC9juOD4VN86a0ARwFiB
m5tWgIJRTOOSTF8BTN9sIZo2vQNABRJA1Lq60sCI2iIEK+cGlA9x4wmoy4vABPm9cEL3h95eBDUx
ZnvnlmTOFCuGdDNlmBrFhbAsmIok4f592ECqVPleuyVlDm0+LCt8jgEa4MH8EULw5EAswSRAB2gl
qq1P2vvGRnyPV0V4vCIuQL8at4gyiMWg0Mbq2LQ7f4BtUxYjQphynqdj2a36EnycpvMv+LJvpGKw
nHQYJpOOF17nkVOug6gpR6yRe2TyZA9tx9q0wmnKAJ8GqpVFPHGT0CZLeFwNybQAV5vy5rmbzPap
/AjmmfkwNA4sVBXY3YWutwCrZD1YyKBBUO5t+S/rAlBWJ1/4H+ni+UEpEMhwjNuEWOB4AT/VNUJ/
0MBdZqdmS6LxwsIVugD8mIfVRODfT8HnAv8whO/byTVyxsIBTPQbtK7+DMw6fjYjOHlH2FfBweKV
E7E+psnlHNkCYn4gd8mSE4tUAKISRn5PrN3imznwha1S4AcAKNZAuxIWBdtNanNcBiG8Bics/wsr
scVBpwDvpvLeyWGoad4uKTDZSCq2w00GMJHjzLsbecaTC+EDG6oJjRnLGFYH76kHd6IyiPV2LxOQ
G6tta+q4K5o51Pnt5mEnCyBVNTgDoe9j6OTQtS1TMRPfJhaEzAgfgRzgiFb5PRzDS5OnK3mdO6gM
KJBZXJNZ6FnUwkuOUrfbZGNNITC172ncSrhub16a3rOOsCXaxWnPW9yZCVJme9B7XqXXe8sp3To2
0TRExlmxknxArs0YB9+hLz2oYuHjCViwtx0qVnC357IfpeireMnAYQDsHnzDqdABs5REZxRuE4uW
dOOsXnaR7WVaDB4IBjN3KOqgAdEMg1EeXYtwbDnq3DmeTOWJFDG+gslIP68k1o+1g0kfeFS9uMMW
wHsFkXxbKEgI5oioVbxteF9Nry7E2gA/4yKOQiyi5lUXNkSfU5B2QORKMGzhv8eWZfnx4m7iKCTN
Eaez7c3ll9wArVNC2hFShSztXzKuNpAvdKubJ3jaePONz6Du+9XBLwRPF/QV5IryOun8GH7qkiOE
TediYuXQu87fze3ShJXKZzsUqps9v4TAAUHjg0PADbh/GWQg/lzLpZrA8dsK5/fbHcfD46AxeoCo
vHpBfF5igBxX3OP9J/7d9pKZhTxsnQd/57C329OKAe3NqhCUQ8kqxFsSAF6mo7VZdAJwlk/UyRVy
X9W5puRcjzfEX9kj2eLlLkScKiabDXGvZKnjD/yq5r3zpMPktZkMzSSb76Edkk8gUYDJ1kSW690Q
43qkmhG5XJbYxCnINrDcGdqJpNTmF14RcggI4BnkVqOUiabVFglpJkVh5R+31QqCCegOsO0tAvCc
D7hRFzAsUsN3KROYirZpvJzg07aqIoNXCtjhdgU5OPKnK6Tool9p82R6Ufkqb0yD4TbVbu4gxp/V
96pU8sA5+IVl4M8BwLK8qwVNa4Hab2m9et/HCQHnbFzHvRtWeP1CVphofCJzgNGNhbnwzo/6CSIU
Np8wwwXyFKp1/l4chhYU+hX5hgoNHowjyAdfOGAtruI4aYF1Wr5s1IfL3C1GJEhAJM4IC57R1A80
IDDdKLCa1sMy1qDErIHiV5hdhSg489n/gu6MI8eCIUoCxBECxC3fLuOTQaDLc34TjWc7NF1GuwGY
Px2ho44oKK6p2pM2x/S5lSZ99wOuJrpFUzpetdigM92I7HDYe1q2IGEE8Vw5nwdjSQgBIqMykMZp
HyvzrsO4e+uiACQnPbRgi+Uu5ci/RgEDXhHRgy4NIseXAjCd9y11znz4Pg0MhAG4mvQUNKd6wUQB
8BMmEFv+fHn9tVK2BvRL+0gsCFeAzm4BI6KGNQluDKEjTOa8luCMi0RwmJrVDjsM0tJbDDbBwlpC
i+leC5aORPc+wEM9m2Sw91ANsn1KHGpzmDanqmxaWILbEXhTOakhx/QDTILdMADcXusY2T9bgmLR
w4kd44nRJXQRpsmdTn4mvCX/cbVA8uZeWDBbY/CyCBIvY0b2ZujQR8B62PkPAYb02RPMlAkr04mr
q3rqjYcUh2W+95aADHh7q3wloh975PiRvFG7zXlgTwG1n7yE0HSdmb0WazgDjYAlPQrAjWPLLxR3
tkt2PBfkXjqS3zZyxBqBYMw+1KkCkXOK5sBeSL6BD7XFKiBxRQhuhJPdjyUoo8uAakHEgynjQRG9
gynu9gLuLpvPI/eCthraFbme6ZAigqKb5uYTMpoNywOJsihN8v/J3Jksx62s+f2J4MA8bKtQ80QW
KZLiBiGREpAYE1MCiWW/T3vv5/GL+Fen3Y72wh32zifiRpwr3SsVSSDz+/5jUu7sGfYyLgi6yWNZ
den/bGn4f1qu/4/Y2/+G0P2nWN7/h5s4Csj/fBX/14d16l/+63//l//2H61T//zf/m0RD0HLqEak
0ZQi3Ee/G96lf1vE/ei/EGKA4RcQkDEDJ9T/WsRdh9/C0Q0y+KjU+ue3/n0RB817uJ0I0LWwWz2A
uX9HCv4vvFPERQL//QfvlE8Ozj/hy2Ty4pwkjv/x+/8BftMGm6v03WzPZo3GNBAQwSIpjV0y2vbe
kahUEeG7xnXG27GnBHE6BIHwNjkxyftJ1/I0dar8JmnTuJVgeU9WUrz4+I46NPBGuxny1joMpc3t
oXzEP3ledH/JcX+IQzsLsUNdun+UKnHneAop1AiQ/1pgBJAQrhmcejW3LLaz89aGWpqrRibiKUBZ
VUITiJxxIcFImKLI/7LayDjmKux47nsX/bunjORWk3+96n1vyRgpka006d60+nA7ou0ilBTFWQOB
/y5F7v6xEGLsehp2t6ZdAe3P0XxocVwie0PFDh8V+M9VFjjIB2z6yaugf8+E6g+eMMMPhra/KpLM
9QL7wp6eQ3jvwknNOh5HM3v1gro8mrgo4f8mnCNQyDH4ewJ7n910tjCRuRrRRYqZyx2G36KzKfMt
5RIv/ZDFnZOLbUAnIvmmKFuC/Gw65PyHJTUNAioELeT7YHz1bXULoWph0cvx0yDMO87H1F+F2MPW
45R+9kbhXcVysRAed/4fVn5z3ebWnYDeTxnkH3JIgrVhV3gvKijnjLEjHYWFFp8qzDn0N8x4SPU9
TBJL0P2eIrnORjRZePVxpjTlT4Rd7KxdaFCHJi6edLqNtzAv1BVsYjO8BEWr39xhPBSRt6HlFvpv
2RMtxHeRLdnU+9IvrDUbAzRV6h7rOv2epgFdayTWxZh466r9RKW4yXSxY0AyzqgAEUQ+UIwMf9i6
DP/ADcFrdc8j/Tj7IfR+jTJas6RQTdpH3sqsKLR1HAQw6Of3eLY/wL3eUH4LpGEGjyHAEHVQprPx
s8Ra53mFkN3vC1T1lj3uTWKxN5OvUSh2waKxf+T2lwxNNCRGgoylIgxDKK4O2J5icna53Y+4EERs
usw07jiImGsMgklbHbNsyQPhVhra26vC194sxWZRDwe5W9wXO6u2Vq/4hkErYqUx/ZU3yWFtAg2d
os4et4aXBOkq6ZAlYye8C99JkZg54YbOFLWF+cdJh4pEbWrHu6DHfPEnW38wG827eZoPKMsxWDX9
NvHIs/ASMVxDm1eMrIvkbUyd6n3w7oipk13QgdWmpR+9qHIZURd7gY7hhbonye9sZDG1B8ctMHgZ
VVjwE1Hdj8XHSoOYGxr+MX9X2GsGX47ge+SEBYlKDzSqUi0ajPsm7FF+Z+YcN0Mm1xaiNO7zIn+W
YEFH222WdThFzi8jyPEgSIKEbeuMqaHeF311n1ILTjeI9CHpW/8SkYm39RJJO+tDljN3F69BI7DK
B/MHlCK6UCTZv9iaoelw0RW4EKBDYhsB0jJG1449ZO8h/zOSJG6j9FpoLJstcM4mLLD8zeWtrKu/
vcHC4KQPETpPlafCgYBlAjEedj7Zxhw5+sAnpUsgat4FvvdZhPmtzNufqcOXU3Xq2DO0WyPfyFTZ
yK0Ufq35mOnwUI8PN9AZaPJ5nvIrgOmxHwPotuyNmx14pZqSq4bPFHn2KWZUwxMNbagiJRYBFTt+
eRz8+o+RtVQSZqjQL9G8LPsSd4EoOZwjRnuAw5++36anfMSb5tAWqSaL1z1AQmp1eTyYxiUBIj1D
+dknAxd1DASzKYtmlyyEkFbm0mNvYUcApYXBri7DIkmyF7G2GYoDP0Pb7VqIO6BwzIc21w7rfVWi
XBxMgunYbPem+WoMvdhbZM9zGogjersPadKsVg/FuGsrlpJeex+mGN9pDd4hCJWx72JGtBByhlTx
xIZbiJNB2hTTVv+zaPufGsRq3XO2xKWXXvPQRq6t1bwmVKzfT1N6d/BtIQXs2tsSpKemeKjTu3pN
lHL4KkX/ToabPAde9zybHwYhvfC3BHcPUrEG6OOMEooYFOb78GLkFWJeg2sm8m8I0bx18dhKXS+N
NX/JFgFMfnUVtRwVVSxdVHza5QT74bUbomM0m6YcPjV+qxUlY3+dUjufs8HGAtN98B9KKLNXH5GV
4KUrvM+wyjahkZirYazND4lH0O2N2+xXmgc4k3ePksOoPvrD3z6a+zfeDg5C4evrHNgNQCTLUZH3
h6D30p3XT7vURHzgZ+2VIPWnReeYNGTyo4kwFEVFfugl+ITtwcvnygneSVg6LT0LPVKL92wyTv5c
kzPlINoGK4+TdlR05Mpp28vWXveN8H5U3ew+OYNbPS3M96Gbew+dKgaHQW8xxRbrrhg+WjMp7BV3
nrvLkuCgfKKaXDQC/PAQ4QSoEqNJw69hr1unSyfgrvq9aANrL4ps2JV9uC7QJceZgPwmdGEklADB
DJVGu1DK9zKyp3Odl3dnepgdtXPy7X7AS9b8LmT7OUZT3CqdrlSGCGtG0LXN0u5ag8iT/gB+4+Q0
ZpR6OyQZopiedG/P+jtgo0Xcl60ySivxGSuXvyuMc38sV0NSWXFSWM9t2+CWtgxFq2X7g5aLPUsJ
mv++DS6NDGxcYra9bWaKWrOuHOOmU+bZ4rRd+7m1BvKx76nZ1mdwPZScmD/jPvHr/UJH4FvrtMsu
y4DBAcuGFLVLkgUIBR7iJdI/pRrZvnpks5O7SZtQILEU+Fz9JboVfho31bStZaSO6H02kclyGRnF
sid8dmfTobMpQWqXDA8FTAlLdMY4ABxKII6rd32a7OaOiOAUfeFcsJu5g/lOiVoeWzbuJdohC+1Y
29nnZrJDeWXlekXdi6pZy4sRYZxo0rFFqYgsy1RGGpv46jbKjzjCaantl4Tmn8VYDwRArn1zeBZZ
aa2gYQhwbcvYLRCKh3W5zdykRMR1w8BcbMac+SGIkkMJLrV2ek7jssVbja1u7fYmsvD57HswBoZl
Xe30gSbVbXSWacKYVZjvDcpvEJZgRglqlvvJeQiemEcumEw+OXuvQqD/FNE+THAwBBPDAnKocCUD
9QrjItfVVH0qpv1DbwDoVSq7l5kN6Du6J1ybWYvABHzVzlADyywBezXDKK7L3npP0b+s56Z7453Z
E+0ZExJOD3U35X9y0xu2AnRr77l5EvsaLVMm7N8szM19yTCcEdnwqPkN6C+pTtj9cu5fDl+CxUPj
hYF0Qnw/EiGAsMYt/F2dIrQyRuvZqGxuMlVfhhIZbF2vJhf3byL7f8aecm0OhgZ0Lmk3n0O1ner5
YGTVH3S0w2bMor29jJ8VcOIpIYLykRJgb0kRzn6hcsGQrCCza5o8k5UtEdv7doMBS5rLZ28LFyfW
nOwEcYsnMZj6bCwMbMPEY7XgWfoRtf6XA/6za73BXC1UwzJBIrbLO3PmESEc6cUkRTVDQl2j+VXd
Tw/gfIrpFLE+XQ85lidAEEK3kE/CCud9joGGAYxEhfYlCDQGZY0rTOXtC/YThREs9L5H0L9113j1
2SioM1SplcfYCpFt/mP2Kqkz8LS1gF2TBDbkVfIPBNMf8QseNTaxPnS+rKUZY0Slp74s4iRpPz3R
JE9U5kh4tB63cOQ0+9L769DOtc5c5ykM9TshZiGis8rde03zVj12EzTIQLh9jdluHPC7u/bvrK/2
iCyXC0PiLmCmxr0/rlMtcE0WPg4+00Jg+tD2ly3a3AADgxJXf0IjXlfOn6yDqSFfYz+7ojuYoeE+
IddcYcBTEXXjhsRrN0CePufF4OLd5fn39D0UzuvIt/tCHBH/kZ+h+QuQGbXF+G0l0nqi1AovaqHf
kIP+7sL8ToTm1WrTmmfdmp8S1L6gujaXl+wAV4KaoQOd7zrRaY0Dq7Dnk7a86egwxTwt4bjc0hpt
oDWkRGykEXLegNleBmRkEntjwiFaWzrN/iYRqn2LqOFFSLAfuUmLjkmN+zwdlyl2uwx2QadElJdZ
c5nGZPpwktBYw8eqV/ZGl/sVzTyL7PhXBGPymkAuIhOvp29HyHINhT5dbWnaKOwtv/yddol9zhJn
lJvaHxPEVgLgkuv+A2Kx3dFA7HwJVOan0pkxmuSML0oaz7IcIApFsW1wom5J6UMQLv/6NMv3rtuv
0Hyj8rDLt8w0xK5QYKuVkj/BqfCAJEvsJRijmgfOVOUS1jfC3bIq8+XgpOGO0qgFTX81kT6nxbqW
+XbQRbkPSb06F7k8jAp9GG/deFVmKrfu5Es84HOc5JyedTJa+0D0X4O7EGthPcy1/HkoT1dGm/9Y
hDWRe+DIdjX2k3lZlHUtG1pDiokEFESNRy9NEWzgC7Ej5ChFpDZp0A5IvLP+IqPxYpfLNpzsNTmy
etOmy8966ft85Rl+e4uSIjq6/rSRk+O+I3N8IYqtOrgjihds19ZhqvTvKuM9XBGL/o0fhG6eGWWl
w2UNUoqPbxOlNn4uo3CvIn9mMTjk496wNYaWg2+UF4zgB40Y6tdEowU5+tZ71oV0C6orKyoCnbL7
01XRdsaAHgz2Y7EECKgXIN85iNPIQvRnBem5CBL/hKHVjllB0UzWnbOui34Dd52ts3bxTm6VobMz
6xlbiBluvRG0UMtbM9Rkm/rji4SmWsGT7sfQrdfNUh1qvzqhBhCrafHmY5KhiekMM3knfwmceJob
0PEWy27jIKxUtOM9zRoXpKXS8OgMcCQMztElfxgmisZpd0Oin/vAmb77OvdjnFpNPMvIeolqn8Fg
euwIfjpqsZ3sptukD7iRjEKsr5GsTezPQQmTTlDT3NrytRrG4WzqDmrQSSfyJMlLv+OK9DfFkk1b
tslmN0VFfQhLd9oXzZLEIwQplBls5FefYU9DpL8zZfGrNFoviUGNeXetAHl1MqgX2S3hCVVkd/DM
gSGFFHIbY+gmHb3ypHXx7njqaZCtXpejti6VpbqXlhx1BWm5GniHoYcg+arZLMKNEUzRyVPtUY3p
tJZQXodibuSOFnC1Joso35pz2BJsYom3RD8CUEgB2I2+qb7dnJlmI2nKDmbnM3W4VVti01BLzmyu
Vma/kzzBuNn6hQQ/jszVLOpPmsN2UeKuaugfhtAROw5GUm8SFis7HjG/RwU1Wri5WtdIj9U8R3Hq
ljam9Sp8061GH8WgVpZ+s8fASQuhw8sdjcbnLLlpCL15bfRwGmyc+2MHMKM7MHedNBd74c00Lf9o
YpeJ6zmn7LQzeJ9UYGy19AWKEcarrrW5VuvyMqbfyne4jCgD3DRjWB9M2ltwfoKSWIX9w4Syjnmu
ScwOvRkvh6cPphVdpp6LIHNme21Iu+R/i3pwNeQRJUo97j3t1ufGaj76LFVbneUmW8dIDSDkwm4h
1cvmurHziFAIt7I5TaJr45sQZaL6PZdmta1JwtqYBKat8qA4Gn1EpOI40mOPVJju3a80IcLH6P+g
49iaRfoakHXy1kUkZlitYa09v5pWySLsZ3NOn0pyYt9ChRPTm8j2AAVDuW5QTNPMmfGN7jVHnuf9
CAKYnKYKnE1jYjPOw5NT+dhorChmoteYEIoTkfWE5YmcWSdNXyxl36pmvggyFzZjj9DXA9tBW26e
UBC9tT04JWw/D2V6TnKYQUw7ODjCpyDwP9p+vuezRhGTXDHTbyhL3nptE0vb3fc+L7INBUM/w9pd
UCv60ytGN2jXwJ/bLUzEHdX945ECAfNrWGnFRcErTh1dD29O1GZ6jhAu/ErcGehwkHNOqr1If0KU
6Hjq6bwCWkm3vdMzkw0Vk4WPU65c7lafGr+SMs8uC+7+jH85thOyqiwx3izw0T+y4d4ZxuqIDIQs
QYmVqHWcbJsU39VcH1gDrTjFA5Muiuzmydt0Y/k25moPIFP/cbOBjwfHjV+1TLdl7W7rwahfRZdS
a5eHwWP4JDUK//NB285whfoO6Op1rF0VzK+yAqOs+0698yU2h8ZxP8B4+XR1Cs4QYK4wpqbeJSSA
be0uzP7UeiIZZHTWxcwFFiiDggVcUy2AwarHhb4nx+R1wq6+MjvWgWIMVNyM8wQyB7SJKybdZrq+
Ofy8Qaj03XZ8gMGsVzuEsbui7r5BYrINHclBjHdYbSJWm7VXW8DAU6E+W45DiPDm1evcg9/X9zyA
VFVaYhMO2me74KcMG/tOWvqTkYDVKEGSAWm9ya6bSSrGYFndx0rYdzE9js9a7Nwp+QmBcxl5fuHV
jPuIOOYUUCT2HCzDcQhgmoxcH6alRnqSGOtIY3RFJbDShF2CeVU1PXrq2KmBeFqefFTZwW85eT0g
VQnO5wC2uiNSUHPqbtBUHVhut5dEcowY12rEJFYzBtsFraawUeyXCLNkJT7Bj3/UzvyXIx7XZJS0
16ZWcYgNZJJud4b9CGLPkjMBSBBsIk1w3uLj5faSBnFS4CibLo/mvUcqyN4AC36QzGyYenpqSTlR
fT7EczpVbBITadKVbA6k2lSFOHqZhy2nMTTRU2a5soKFqYjDHjsgYFORnLPQIU3Ho78Smz8hUu2n
0dYtUpb5wEiL2h524MhXqK4kQBOLC1rd2cljFSLdhS8wZVNp7uWwDKt5qg0m9Hb6YSRyPOEdoEk1
KU5NWKVXBsUeeLn4kU3AiJlnK4jWOXjtOx4bgxawohi6bb+Ee6Giz4VIgCfb8XZJ613b6GHIa5eT
LuxfGbUEttZ/I6ZcjKsRmV3JsaU8YJUhr1r7wM9/68R67jvrNABpRibWMg8bAOolZ+X0f90xIFTa
4PvKvt7HTm/eB9e+NctEgnw0iK3pW1SXF8xiCq2O2XfJyTXb8hZ4Rhn3rVN/VyEshq3vA84u3590
HBEZURP9JvuVhPCOhele/CkxdzolG2UZOJ7cooZ8bbtzF5AXQNwbB9xkcEL0+JfaxN6nqUlRULPc
UKEZIK6O2DYT0WXBzyFo5LluJ4r/mgmny7wtA7Bz2la7Fz805FOaEffQJiwwhAiPt7ITJ9OVD6CL
TQbLDqiX/fDaji+lHVwTRs25ASRnjhrhYEpMyE2Dxrs/1gE5M8EMcldwMiFADPxbZpHQYPXmIx+G
aImoIWrFTZ0no+2qU0SgGdoEEJC2DjaCuRiz1ryx0Vocyfrp17Aa/tbgz4+HDqemM176yDiwo4Ky
ePoPUeh/nM5HaGMXz9yX5aEig0U2XSzw0O5DNSCAegsz2/wLrlawNqA8YvkTf8LR+JkwBq261nIP
XeabKDGtEccGE0MhdqQdPRteKncOHtWhsPRKLqrcKRkc5vyWB8HeGZsz6iU/9sDYBxrfVkZKZFJl
iXonszyNB0tcuqWsb5ziKWybme1tTyVnD/Bvb9WpMHeR7uDVu48aRc1xBMThMZydH4RKo8N1qD1t
/GVdtss2D6kDtYahPbNefBEU85IKCDW+rS/KJ7yte7FqIsdTnP8kcA73zBrUGjJNbDotMUB13TrL
sj6eGGzIiWCkGvPkVzVof0MR4bxpIx4027KHPWYfTrlp7t7GuSzBxSa3fTH1OL7Ck55lPt5sjHB/
WC/vLZqbyzhMorp67YA4MfCy/Jew6bhndJofbKZu0nOd+sldy8bfMGn24EHewiE1E621CN3tkgdV
0FalcVdpS2qf+eWWutzQF1kB9qs9TAEO7tZ9QdRzAp5cOD5HBPVU1K2awPtluOY1QE9pWuewNmHp
Q+NARTXbSVdDAKGPjdiT5t8yI7shmZcPe6n1buiqO+AsZ8EIhisUWFjW3i3b6beyqp6istk76JaS
id62cAjNTSGxrRY/RI4wdzHunIlkYrVarfs0fa0JdKyQdlJ0iLN4Y4fDN8z/wK7nFG+e77Kwqnyr
CLszB5voKrt6Zu1bJ501Q/GmsAlG/lTkHlIJQ70gg2xXzphuZFJtZ9XsDWlFazNSN80OxOpL0mxJ
kemSJ7Ae6fIVMrYd0/LLGnAvcg568iGChjwxJUHohbEzjMq46sHDRCUubT1He5fYzNjFuklHpkKm
k48qPBSd4cR+slyFqbpdM7v8Oo63lUgi6nAZoggdMLeV116TsH83TYA7S+PgM/rwdWzgHzXit1WQ
C/0sqFfb0UND8mHUeccMuWdnudGb6bTpBumXj35JbZvgSZLsggH3eYDxxWgn0HYB75GYocK1HgOL
/b8ikSC6ytC+FSO4dqbyGI8gy0sauz2VvJODhzEzl701OUMcSqtG9YpJgyBLtN7ZApJgkFEHdeKQ
tIk7dx6iY5ZqXvagWgMxirjAgMd2v+qSxt/77DCcNyMC+FRbZ9IH/1a9DWSBJ8QsazgRP9oSlUXQ
JJHT2YEYbFzTAUm5WzWN2a5hSHSRpkz2FuWru4+62TqQg43XD9GUXmmG+jS2qrJ4GlCwxWGb2z8g
YE8k+GwfqU99kD9xZe77kEbTpKvmczOmWMoC5C4lWVQ9r782zB27CF+uW2+q2pQ/bW+0X7y0+kBU
Nj155ixkXLm02BVNl6frIbU8xDOkA7Wk+uQbajkS0krc8JnckluGpJqlwR4oeHHtp4SsiM/OZ3/v
ZWKeQqN6A7GVMSMqya0IfIn9IA+t9KcsVkt2L9w5j2c/+WUb7tViOJnqD36yJJkyo3h1tsknVfER
YGjF+CPnapvIGzcDDSKDwIZJ87y0D0pgPBq+Bw+ENjTpa/DRab4RRXHHGi7v7UjIcoRE1x7mXVMA
QpRo9/HY5Wb+0+deMkv1VC7zLdIFCquR3LG1ntKv0fk1+i20sihwczpRDrv55bnXmXFKecG21ctz
KEEH8tw5Vl207COrF6usVZfQpwNPHAVZYpnTX6hpPs1kY1U6GGIBwnUXjf0dWu10Mea8iP/5yIX+
jpYyVm4flx376dJ0nEjj9PTwjXKUq7VciFYwsi85Ne+pv681YR1pwu3P5lpZ9s8karNYRtNh0Q1C
wMCaom3JtwH6AXWdtkAAIwVBYRrDunCNAwl77a52OMZSIsZiVAc/HwqtrpWoPt1rORPn7Lrg2P3w
q5PFUQxkii7NPZ+S8OgmY7RyF4d0R74fk06cU+dAcjTtTS5Qjf9ArRUZOMgPvSe39aCbxrza1KZn
xIGN4zgyW47WSDirSoTjm66nKEZB6/Lfk/ptQt+5TjwSU20rOAmPFN6x3od++TV5zrMcclJHiEs6
1R55f3TOs9n3HX+ZmvV68sURgSBxom2H+T1DfBcSM5eTcI/COt1DMJDS0jUs3LiAL4FV2RvT7EML
w4QArDPK5bsusi7GNdJtHUQKr8uEA3X1cCYf+rYhUzaap5BgjtZ5d+0ZJYX2VbpLLdu4qH/YiNIr
/Xzd4SvDehES+o2x1n6fx4dyM2t8/FWIPHbCIvyyrYw3l+qdZ8Te9SXvgRS3uc9qje+Dp7axh2vt
DRmpY77xFCm7/1nmgXfrSGz/ThQpUasFrdgZsMHcJksIZaHbsahXsmj4XG1Wkb2YJA+5sHPqRYKc
uyak6bVXXrOz1BzA/T4qBbVEtuOVhMdM2t9p0yu+XX/BVpEEoDgtYWQ76iND1lIyvnHCq+k6OiUe
GR67rUXd5a2UtfOR2g/e1pxI6PJcJpug877mWZxnx1JfgLYFcR7ZtoQeqky5b2fr6jVtfua7Jc9D
3TifpqXNp0UN43awHMJzhWKsKVNWJqNaJ8pO16IgvkHrYVh5rfbuDoL574qcko1FIs1K6kQz7PW7
0CeIWbPcnpPSf4+84Q3FgA2NmmxdMbXo4pX7G5HzITAvZjRftJvAZwRWTtCPZooInshTfamN+V1V
tr2aPZJDZ8nQH7nyQbD696QEcsz5B5+/Ks2/NbkVtzrHCr9Wc3KOOlVctRluAgoFAEln1DbbhMie
c23+6GWYTnE/G0Igr87XiLb69WQo4k7ylswSJ4N1wO+OysRnE8EYfMotfTJtcsRghqInfDwx2v84
dIxsI4jx4rXq4XzRbn27NvE87P7oY2yEBlwEcQ5X+Sls1lmFv4I9rh82dpE7z6EGbxAkWq3FkO9H
kSrQOQwSkIb+Abg+3CB1wNDih4H1miGyXBGaxIfmPIYNsEWfw8aF4k/W9jg8essa9pNsQLlrmqLI
if1nrPbivszcn8qbFaoQCXfguV8KPXtQedU+fEAt2aLSo493IIZcYx82KSWYBoiwoAPTrYZsOiJN
Mw4kyITvBCCOm9proakDbRxJbayeTSdchrVbGfrazbzhsAH1AzPWq6VnYk6p8CIlmR1nNQ4dRlV/
tOuvtJDVZjRadQqmftlKG4826bv4raUSm7DX5vuyeN9cS5+BEx1avDBn0Aeu+Za4mV9apOGpK+ua
C01TmGnkPvxmKc7GnHqXEcXxC3anhB8v3vvn0sVUM9ltEgPOqrMaZfNNPU+/t4KwctgH/IFbuTul
y8hpUxt5cyF5r1qpJBm/8yErXjx/HD9mu/Wy2JUjplXATfB6m8Z6FacyCV5nm+QsMXZiD1yVx9T7
3Oty6p4tn5bglhf/MFu6OQwcy6cahew5Ei5iI4/0863TV/OlMGvjGx9/vumKMf1titDcU2o6wemZ
s8P1OyAy1iSN3OsMpyu5seSbkDOY3DK3trcVKeeruqDVzxx6rrGHEaK0y5sl+MkP8mIzPG9YroM3
ZaWPKTAQB4LsCAHxE/ncSXrGBx+9i0tCyou2quzgDdUARcV+s5r9Rd5qgJP9WOoFXRhOoZXtpL9K
SaCRsGrUcli7Dl7ulu/o79q1O3QRn9n77g3RrT3ZygtR9N3JMpzsh1uOU4DZxxAMYtkNYRZlCeh/
MOt4QaoOdTpMv4Oxlq+klM8X4pSmddpcEK3x87ZMY50gXH5aIqF+kojZ/DXlYCG383DlO609XhzE
OwANZqY+RB/Wy9o3IpzKVgakXJOM5OnxmpR09AHizpu8QzDnVX5+t11HrZyyQiQyq/yZzElWyaGo
8n0+Wuz76VQkz/bEUdRT/ktrVm2deb/6eAnJnS4WMC9N6P7BGQdHrgW6Y3QVc8hXEKU/jSHQlzoK
kIWBkZCu3omDmXULJiynWy9zPW5t8p9O4dQZDISkamQq4evGlhK3RjATTpOoN0Ibq2f+pOLEZuf/
9nziFuCJHoGyZVdZP1AJ5KCO1cOnHPpPWdC/u/i+1hlq2xgbg2DACaN9NlrhneRXXCqGaRe3bIkU
vmq9fA7VCOVbLNXPSOE+TgsnuvoFOorAWoYYY0H3TFGtuf0n6lE2jQ8URioYviHwv2BozhV7BUJt
HFwibwix8IrsyQlLDwmSzPZLYuPrE2P1/Mja200pWWW5VcMgLE1wtcpenEpviDYTjfGbvHfWM9cD
mTY6O/dWyHM1K1zRc1gcrRKObRUVbnprhZw+8Y2CCuoWH2rXD9FvlczJS5Xa3Y8pVWWMbzH6SoXn
/S3KUj0TdJ7ceo+auQ3MV7mHUSABlac92oP9P4YhgjeeOz6yiKmGKr+rRYk3A4Juk+EWO0VRh+U9
699yWpnXOFOCX/k4N+vHQrNJujaku9dq5rNjtRWQ9wJC6pXyhiehWFO5za+RrridDM76yDLs18VT
DydBJ9xuNc6+RdA76nrSXiYZXsTSuPvGpiQlddTwFyuSu9UmnaxDA0bHEchHCOhipD1LiNuoZj9G
ON8TeVgCkFoI90pEtzeW10zsCbonOB1pZnBPLU6vvrKpI6DdG3hNM8qJBkRRZU0tj8ofOK/d3rFY
/5vhewgVvgiflqSTdOE8FSj4YTH8MY5S5HlzSuEXTAJ587XnHf2SgvBhJgBQR8t4dlWC56cdPVKZ
0DhtjEmaH4mM9AbWDOqtf3a6FCCfFdbg6YlTMT+34YulnfTmFflCEKrXn/tsKvGweO5Dh1dXz7ok
4j5XtXXKYRqI1kaN5xpg88Iq/wd7565jOZKt53eR3WxEkAwy6O573u9VWeUQVVmVvN/vNE8LECBf
7jEPIDky5Opt+kX0sXrmnMqdpUy0KUDWANMzzSR3MLhirf//fmOHlaI5k/0QXueRZW08n8KuFxon
qJ9Xh4Q8snYlRxWcZYrWPONkA643k5+8K4aPkTk6RGp7YhnuoXiKRP7Nih19M01u9jSWKMHXbrps
tTaNlCYT32I1mDTsMj3tKXPrnZHnzzBdsHk1MUFjlFNe8WT2jrHBemxtbMdCo6L69LEhNe16Ul31
lcM/ShnkhPjhTkT0VBC8sMBNVxMEk2fZFtmGgIaJTGqnAh3leNWNizRwWVNAK2XaO5cx1uwoGOjH
WuWdF/hIDpkOiwdsnM0SBWB490z10NaWIttOAyIax/GVgNDvR98zy4TolOJSvotQbK7Bxo3fSgtR
ggTG/JXeb3jL6IfG8FwQpNAWxkfimxWpD1OIuCTtUZo21Jraci5xcTIOMKf6uxhM8yHIBhwZVarP
p6yjqHCK+UyhLjiIpmGCVtQoeQRDHTwhbCGMwSMaKsDobwzu8BRdBnTDxGivcUbOt4GhnV1njWKR
evXsA3VWbkwjUJtAW902JdpjJTOf8FUUa3iRw5aF2482nxWj5gwU34wjEHes07dTRBGMTCjmlpHW
beaIDIraRit+NgT4hYbULa99jr+ruk1lAxu/oyvKCgkBYprdnRnRE10VQ6NutMHgrKmn7sEwW+fB
jtpk388l81mFb43fsEzn1ZSPB5Tszald1vkTblWM51ObcWZsun1uzgmfhcp7qLPO+Wb4VMGYzvdG
Ecptyr9wE+CYPqO+Q95vNGSDOQZtIU4J4a1IlLENMhoyoRvxsLyJlZxp9Yh2KTjnMFLcynSGnRPE
S8E54nky9OjdBDoxbooa4PLgIs8DVp3eirb6rBukttNMWecGRrrl5Qf95Bcjo5Q2Oo9n6d4V9jLa
rMUyyG9KB5kWGnjOUrD/SRCIH4PGOZVDUV9wTonPVWk4n/qyjPHnt9F3BF4jAReUSifT6E53cS0N
lMStNJm80wG9jnM0TwgFjHMMoSmNcquJD1HUFpcFDFdMzN6cITZwggg2O+0wKubG/GS3TvgU+jFP
IHKDr8Y00q5rOUbhwPJ3WiMysnnVapIfaWnS6h2CR6tCEaVynV3oQtcnkMgFr5xrhQeVBlZz8Ay6
8SPHvdWQZZyQnNC5qgqZbrAMJUi1JmGv51ALJG24hQtsJA/DPJafDfp4t64X1mdOgxgYoMGEmtUE
c4r/rWQNVvpelrSZ4BkxLuCfYhQAunoFdQsULuF5yYOmcX2fMscZGdBItz/thiw36Z+11qbBKrZd
QFt3dRUE+d6KWvqaCBYYssSDTB+6IPjkzhyYd7Onxk/IYmnrFDHHb/ykLh9vMyMToJhIXnSTOlwX
TgiFmV7VB9WM3fWYlZKb56y5MoqMc4huJV1rJ9Yokv1Ob1sTaHHfO82Dz62fYYjp8GGn7SPN5AR1
V4fQ2EKjuckrbLgNfpU7K0okXmJEumNXQ1CqXOCTQ3anzfbKVMBiuiGyttCD5zPXFdnHclb+OiQ7
YB26NAqb2HQ3A3hNVARtgowtL790cdUVa+x2ywzfjA+1UM1WjlG8K3LUWQl9n/tU4VfvlJo3vgOw
YTR8dSVbIzrJEQ2fTRH/6imczF03o8YOG9dfzxh9aUwiYs1oKxnjfUAhfVZK6GpZY5kPtoeTHU9F
dh3oyj/vSq+4myqVfSt63EirDEzcha0ko16A4t3W1rmzjKBsNE+Y8D9bSJSustqHPyP5YjhCqRsI
G92aTr74HDdDf27bGR/BqRNXOlDBmjUOy9tr8+uqHuOPVhy0uwZxzTkshOhqoLY4ZXxP19msU2Nl
cWLj28FUPdAi2tIggKKbKPfKG6CGxkDx7ysKq4+gomldWI5/3gfltIsrR38jnCn+ZKM5/j7kGj8x
ChyYoFbOAcrOdl6K5wgCR+ZcWlPjfnbAtGP/TBLMMSDzACXERXjQsRs+kCsyG3Rq6QsbAwrdSTX5
mqmDdUJH2P+E+z69CSwCUss6jh7xWmabvHDnr0EFfk0kdnsWG4N7gBOBpMOeg4nWci9WnUEjUUT8
4YYy4qcMueq90ml33peyPp3wCZ5G+UwVYPE1JAEDj40r7Q0+jhGpfF6uOf6134cQquhgd/HT0KfB
Fn8lIiBbKQ/TKtw0WluL73i2Yg7cHZq8r2RNK/4XpsQX4NExJIxx+CLJTfhWR8ktBeB4aAbgzxkj
iSdE6QCQujg58UnChI9JlPXyldWiWrVAV75glO73ocdG5gGo3tGia0817aQ12ykTah9DQYPtZZ23
yBoTZ7ROBlwqnynlw+8eqsYHE/VruCcKU50KHfCB8iomDYsniaSGKQvug3hgft9KwztY7mhvJpcr
WuReMxgcxj2H9OJiNDHbjPU8cGjtHIw1jltwHFJESCW1yddqbrccRNw7WcXM8LCaBfABvjSmZ3/A
Ldwexk5a68CJwnsZFRz/x0bRpkxozlRFiOKsDHoeaGeP14vUe0GmTQlyh37EP62wcOes3v0wTgPn
BwhVREwwRzf9qwjx47OhK7okrQxTpo0DRqOqiljbcpzh0mW6D79FKrcPVtHrHaRhn3mMlx9kHJRr
xStEse0542nFC0oV1GXJSb2csWisTKcKsOOT75n+QxASuUOXlond6OrqW23P7k6FKNTMseZhiEne
zulIr8Rc+sH1WF/9VvTMV6dq9vatlcVXg9tbA5w4MW8quqn3bhen0Hna8UDv/JsZSisDeAuBqyYp
mN6eH+YkMUdET89Gnx3MWBjcIbIU9H+VT15UJcwbS4f8MyUj+8EBqfFI/aLXldD15jdm1l5diJDM
U9+rD1lptc/xjPoGXTMbZVaQoslIH6mJHLotnl2EWp0/bzvMvWu6KsY+D4PmpEGmvSkbs6C3NX+v
Ge9fOl6OXHPIBsY5Xe5QDWppMVa1s/S+Yw6abhOmEbgEiZtZgPYlg1/GPibxL7F5LhTojykx7PN6
WM7RSTKcpsGUH+KWpC54swxftDtGH2e3ZHbJKmRiRVl0QyVxoduo+xp5ybjL0qjeToYR3kctouRt
SWbvZrQW47dVkUlaIbbXiMg2PWyyddMG0V02Go9OSiXZ1ql56noiPC2iunkY53DEsZHZNwFWodO8
JnTHBd23i+MpvPnNanvO5LYbHZoZnJlVGd6uVK7eWQ4dq6hE4xvLB75PTOPbxeZANjEirlrNnDaM
qn0KAj/apEtqOnkEGaCyIGeFua5Zf2Z3yLccXeYdcYvWppsArq5+s1WkMSpaHraYrtzx7ZI3FhPL
c1OF+iI0/P4jqv/yIUAos/ktQnwzFmJw9jHVzz4OQ8QgDQfj39omdHRopeFhRJJ3Hfvojw1nwklv
x8M+4iCz73AWrX6Ydv+/f/k/0Tl+27/8b3/+y3//84//gX/5zz+Igfxvf/7xn//847/+7GX+8a/4
J0vQJdTRMc0l//kveNg/zcwGbcXfpabz94IoZkiczLiglJCW0sIyTUBffL6XFEgD3JjlMHLxXOXw
f1Tqb1mZf0QH/8QRBFMI5MVxtSMQ0WGsPorEDQa3Y2GJ9iHuCPQC3pKll2MeucQTgKTagwMFFD4G
GEVmiL9fq47I0ZUWzaJzdpIHv2orBlVWdsvQYN43fIy2Pz3bf5ivfw6qfJkqzftFjLXtMOQlkljb
sM9eOq0HvLOi1k77gF/1uqRbcQqmh1yOJKvsk7cv9TIQ8x+XAveI51Ramt/r5aXa3kWJp+b2YUIK
i+u3DraBCOPTt6+yoOJ+8o4vlyHhk5Agbdkmv6SFg/1n7zjxO45Rt1n4oS8GtGNOZUMLGa7HqoAI
0TTVTkB/HWhGE1GBkE5fzpVxkdQQfUKUAw6ioxPZJfN2BsFxl2meOFRdwGjogHeuf5u4VXmWMJY6
8O0jBqYJ/X3YVWrj9Z54J+JWviTS/XUvLBty5W2hNP76l/cyYWOrJ6BkH1zXCL/RqbWuh5APgWc6
Od09TJ9RJ09HO3M3nT2VZO/NuC8SsclaxaGGUE4s7NDounuFsWTbJ0H014/6t7ap/9cACsvKewNl
+Md/+fOP//XnH//65x//+89/+Z8/bzvL//GvXUeq3yX1qeOx67hqIZL+c9PRvwsGD2RPk7jNNgLA
4N8JCsr93VXsNp5pulRt/Me/7zvK/p1/HcnJ9kJYoK/4t7adl68AYbgsFTZD0zJhodgYhV4umwIG
xxhjTAQFVoMFgAK3gQZfbYksKt6Jfl7epv/Y4H5cSkNx5SqMFSxe65eXSiLXn+2uGdcmYzpsIZa5
i1DXUN/1jKWxeOwH1HAPOG30viSr4J09xXq5qfx1fddSlknOL4m/C8ni57e9A0ju0/Zt15GdBKSH
mWA8TbhAGlx+T0PQgEJg8wiQha9R+Fcukq9A3rnEqDzBt/GvTQhDpBCkk8hWnNrx5s2yXuaYiZGB
/SQJIN8zMx2ecfi4WFHxpYbkTPFIQVhlJFmh0xnA4VT584jSkFxIM6aiC4YqvGf9MM2s7cr/yqmh
/9j3CpF7Y+QXHgku7RZGSvjw01r9xX4uj/aMfzwRWyGBV8sv4hzt6OAofI5XMSK/iNps1eHv/5Ij
6IhWU6kQozPCsz+K1JRf0sYxrY2rAb6tSvpc9Lhmq/o2Z3QR0Tj5akcWWuBs6HKWT41kNky4RknZ
q/JFOp0GgYr3adZhMSNYQO4DFJj3fmsifwnjNP2qurBKdwbsi/Gg8Wg8jp220Nk6/nSrkEQnKzTT
I1BExyCa3dN1S5LONN43iUuL2eAuhkuJtfCyH5vKPG2QXzJt8Tnp4QB0s+ZEVAp6vBEvHbbMK+mP
j7DE6m0ycAZc1aSL1pswi5B0Yw5pvwjE/gCknEkWJ03Hd/ti1oVLAmNj6c++RAZ5KNxwwGrQ15J5
EWhElygiL3JRt3XtnUM3PLi28hgjgl/p8AuTWzw0KBjAFnDWXwIEardhpNAAgduSjQpOCFZJ0+Iz
5wyNnZZ8FCDBkbZXsz0r2vRzbzNrtXLObWvM4KLatCi5rXMgIZ4LQxtwwBrmYApCwYvE1h2NnOA0
mlTdhs5p7R4iOXrmEzfsqLPJx4izdm03iG4SX7vDhR8Ynr+bI11GO5xhkA5SVkVGNgqq6BPfstJ0
4/dJY9LRN738KpYxTLAii9E8KUYA1iaNZX3F54YcNAviEI5+OgvwHvy+8VFoE+C6s1vLZTJFFAWi
I4Bq1WZG5xLCkPMsEFW0RocNxu263Nod+RFG4o8oggkv7TdvL/5fbUYEQmvpWo6QgtrtxWZAN3RK
ekHIY1C43h7ei71pnKa6SqRJG6Mb2pFeFmaYXiAJpYvhP799/ZfF1I9Xz7Ndqk3B9NHBzPry+pz/
gyiln72Gkpdv27qwz6BsRCgCMrkn9DI+f/t6R+XlXxdUEvC1ZhgE2+KIWAvFSxbl0soa8gGAi+20
a4x5EGfrQn/hCFofSEuyN61CiDZVvThJq9L6Wgw0IncjijssfH66I4HIOrNQDrl/nWGgJ/1fUtCX
3f/l18GmELM9RSNTMNU9Kn8BxHtjRZdyXdEUvy68iYwwK7a3IEB7TD7YVRanQHjIkUp4q2I05ZqR
Fce4zED31hnina/V668F32r6e7by+G5b4ujDmBtNzqEAT1ST2YgmyQIl+Ru9XbZ+54d5WbgtP4yi
PgCkZHt0eZQ62oRlmagBKINY8uf6a3wtTbxlO0NYldkNQuGxmKLVGKvFN4etTa6ISeRTTVcfLaPs
hhgGQz0Nj5WasawDXqsIZzbsdJ8ZjZ9tuiJTzTt/8+vFq5BYQlQ2LZ4MRcjLxQs4Rbm9v/zJTFK+
Ik1q9kx2s13k5uFdNBv2/p1ntPz4/7E4XCEwKFGhC1MxWuCdOXpbEWWh2zHo0vREi32ofBuiX1Q7
wPd0MCO5rYacRHOZBlexlyQfhqG2nNVQNcbu7T/k5aKgbqFyAVnFiRCvlPOjlPu5hAhnVUooCMy8
tTHckLlAyDst3fu3ryJ/dRkI10oJ+AAwsI/WnhywpcR9hBWJjR9sZph7dxmq2Vv4wBPjqdLftU09
P2Rl2gN/z01zPYocM5sdQ8bbGVIXMOvG6gtm4jx65019uXMuz4CzKWWjTXOaE5p3tJEgfTUbe/Fz
0U3yTyqlje2YynCfJ/1D0CUIY+0eekSVhGdi6pu7t5/Nr64uORYK5XBQdu2jIhKmFIbMzsH1OrdQ
FNslxbVIIgbcE82zzUyS+0XSm+SIylJgr3Dn4fPbf8HL9/Wv+zdNyGUu0QMc/Ze/8CfgGFaXkCKP
NdDnjG/XbemDlUBpNl4XJeptHzr3wZyafvv2ZY9AZ8t1lbAdCn/FLmnzhr28rlUVjlmXQ0lgm1WQ
LQSK9SENKkojbHwJHBfH3RoNMIlFN6PWmL+GcRepKEFogZaxBJ4MtWDz9l/1cif48UfRs1jOLp7y
bPO4acEagUlpGVCHfNRwrs3csBNjh4jTns96LMsf377esvJ/3gh4CJr6kDHYUsNbxzU8KiJzxjMN
ICW3vE1iGGqbkO4F5UO3d1npotADibbzQX6+8/xfv5PLlS1OScuVzePz9SyBJ+oEvlKFfHAToBHb
+i6Dvbfv7+gz/eOB6qXJwu7Cc1Xy6DM4eChfFJK+dVqGGUl2kX9h1eBZq07m913q1su37iueTncH
TxG4JvPUBxjs4sLGEHraZPjH49rOvygGXu+8ezQSXj9+KfFbwN2Xjif00RrsCoBkyKnwcpbDNfMg
fcMMrikJgQV/Tfldb6AbEUU74ze0u0vM5FtS3jckusNSS8YELEyMIa3GUQe11dJiZdG1iFbW7DsA
gNLWecrMoo0IscJbwSwntrBQJjJ8ZAbqxXRZKZ9LvyQGtKrnazvwPsaBCM5dPhk+NFp6r5xiIpfP
qCISl7K3e1ahFz7axlijxWvDaN4KVZI0kzUCAkw+ltOTEfpVuG0HbZ4MncpI/coYhQDAMX0iqRzF
lgb35RMEM3GFlQR0UxY6IJEJNwsEDR4y9da2J3sYUXSirxiKYDhr6JCdiKL0mhNqZkCZJp2YYQV+
S90NhYebrBvA1q1qkNQBcR5TD3cXDE9O4Z5Z9T6PZNucTtPY7rJoGWtTPuvnmbnhjKi/9R4ciYxi
BQKLlzpoEvz7qq3q7yYUHYhOTItmfN9GdIoJl2o6MPJ5A1C4JZjDKh4J6m6+E3pbIZtUWa5wFtbx
95CplH/C2rT1ymqmXqFvHYevlG0R8dxURPfCRsyww/md1gdefDyI8M8SgoxhrjECKuR0hUVafu/0
OH7VMgwvORz31j03433omzzhCADb8KIzZM6xuDBRv0VEb8F4GU3mMZnReTBc2gz7gUnEQrJl9JXL
FVowElqxw/KX8WWo9GVaWtFjBs1t2phy4gdtRZiUjAK6utqMZujtZ3Ad0booSw9uNsGzax+u8klO
hNsMRAl8IhWCTr4Bxp4/2GSFCuAFysdp0CA1NoapleuknEherJTh8fuh+vugi6n7EvetB38vFuKT
SV36jWPEBFuB3N5nhxj6xxCoU75JxCjHkymdoPOGRm7d10ZSfSq6QdwUpvRujHQQ6QbSXXyaFTQI
ibvkmYOjGMinAgY2Xrb9jIXPKK3JPeG+3CcwL/hTPWQBvGOFjeMAzC8Bjyh0iH8srK7emqVCtRzY
PcdDw2m0uUdXTdZCz0mo2WTkO8PhaJMEKQVsFw6eyTiexBBI0AtBiuI2OibTp3SUa3yUPbLXde5X
dssGH3IslU5RfXEytBtr5fookukIAFgcy0JItGdj9WynIHQ0014kpuPcYUKKEk3AqOjAuQY9LSie
ZFfDjm6CTp9OtWMDvksS1MyTGQIcDFNMLS3f+a8+mYB44OjSlqfceTledpMK5J7McgqvjkxqujEY
yAU+eOnLVT9j3kA9llBD7xmCgX+k8i7FOmkdJsOdTyT4PmpYJ3DfAb3sUiLOWdhtYT5yYB/itY6I
LU1YrDCUyPdgCAh9vd3UbQzb3J+Fb27sXFv3QIfbYOUGCXwAfiO94RwtsKTwchOiC2HmvDJgfG0C
J+9Bhsc2powa4eNjEGkojBUoGtQfKnY+gMjGiuu0Ha2iNPfjRxvGM5GbBgbLk0R57ueyaA1/E3uF
fBqdhejboxZcd8bkOnsjMjx+88nPz+o5CMmcRxt8W6BjxW+uc16ltLW8T9i39HPref5jBnP+vshS
5FIutRKvneU199M0EztozqXOkWgYCwswCvjCNK42PkkVUG61VgKuzg+VdR1Iku13fAYVuV6WNC/a
wC711pl5NFtVpu56KAka3kVlb996Kh3VhmAy3M1UpFVISE433JUTn5dV0ctm2tpTzPTONFXNApn7
DLqRVCUrFowiBqtCnCEJm6/7MUrvhECJtiLE1scQ2tYY/sY0DIqDF7eYZLA3WeNWo2k6WG3eh+sG
2eZliVeD8aUL0VvOy8rPmzj4pqQdpOsxGcVpxIrwwKNjsLuQk82xymszD8+M3xvGTrcOhVaT2pxC
k2a+QbWefxcoED7yb7CfG8h6A6avKv+ks3rA5zcTh4u3CW0i37ioDDeTZr5J4jYeZSggywizydXt
AJvbOht7YW46OG35lTaRCayLyqJVKGryn0ZUZh/ifCTqmmM9qrO0GMvTqWGxHDDuMVZUfa16/JUc
/DdNOaXpYZSzQz/GJrsPSsowP7Nzyksvxqu7qho9oJrowyDaEOjdImsthXPSDaNLQVVXPiFuArpM
txuaIiFIHP9uYl7h9O+G8zB0mus09DHszrLAh0GGZ5Ot63rE5FzmZfYZcQdQMeAgnlri2WYDTZms
wa0t7HTrQhK8LAH+kFSIkNR2ja1lzjANp1Dpca1J6fZ3heiwHNulDNk3ZNic8uY48BM8p79JCkWU
XhI5HypzMm5nrHTtyZwS2WeODV9C7B2CHqvVdR24kgRbBwmukJPK6ID0oYqR6txGvgOEooL0CLCq
uci8vPmepWn5EQPaNZhy/pmlT5GQEEX7TmH3+uDiSAjKyNc5QFocUF+W76T00V6s02GtzAR2cN5C
SlgP+EeWzI06gb4Ud87ajOP5KjZHCY8SUy7oKPRPiFcMcwn/nXJw6l04dORxumH3uQbMBWO0Mkh4
h3AV5YB8iEnAj5IC43vnBl42aJbKlAP48qfT5RVErh2dwbEnlVk6OkgNK5SqlrbifTllnrfpStl+
E251Z0cK1l4ok5qYHy2eSmWP9xGCUNCEAv7Ce49UWK/KUboQNs0BSxM6y1/48pm2IUcFcho6cFfs
yqc9AbG8AUNhfXG0Q+fVQ89AFIRpRB9c1DgEE9cJ2hUJRvFDJqwuWg9a9jdeXlBUDYCO5fIiY4en
JxPpK0TW4XdFpEe28dK2Jzoy1FhokDH203LJiXIXPcS3oXWI0PZxeudrszN5HwKrTL9WRO5Iggkh
Mqwj5RLdLfi9Vj1itXbV95N/14EHKpi8TMG9z3L/0ggfBSzJUdYzXVrxCbwDvjHCQjpCpHIfeqAY
7GLEH2S3IcpDjW/XH1hxhxlpSHTmIP96SKNxYTv5Vv0pZHp0R4AJKd9Z3lc1vWnM9akOTOq7tnWr
rU1z3TizitiGSxF0CiOJg3iSBIfkGTtThdo6ohZYDdQTagNkEyl04wvnXDDo+qz7ev7Sx1OcbtFW
Yzl1G08YG9NugaEoartsi2knBn5R1pRv1D7FDtN4xphVFP42DbrqYwcPKdh0ymVCmrX0ZNd546Wf
AwNhy8qHeruFiNOD3nSb5BknuG8f0q63dy1FI1vRbJUYxLg25g6Ypz6W2qm98mYXrhptofScTxgx
UpUoy2YzJiHCe46x5QX1qZJrvwB9sRo8IiLe6ZK8Phg7jm07TMx5/IrD8culiWxed6LxQcfU6Mjk
hBTajy2+BTk4W1JBnXeu9/pkRi+C7umiR1gEDkcns4wyRw01UqjGzNWZh4jyYzGgYJZ2wZ7/9lbw
eitTDNG4Bt1K033Vqu0Kg/Rxv8A6K5t0y53CbyDGg1aIa5zR0yZ7u03J0Y1jcenkrflOE+71oyXA
jUkqDQfmo/Zx9pqcIE77NDfXdehNl3PoL8Cs2t44XSd2jhPF73SCl0d31HOwFmGGJVzLksI92mXK
cdZD0lBe5GMVPOpyskGiduNOU7A8EGIxUBn66c3ff8YoLWgBmsJTtjz6XDAWqvsYDS9iuag8T73R
+Bg3oj+dIwHpxTc6WJad/5D0pbklO03+/XsG1+uZsPXNJU9v6Yb81OQycvRQkR9y+SKG05C1ztYb
hv7Q22rC1yLLtUA7cPL2Pf/QWxw9adaw+aOZpDXdj5dXTbDCEcSB+N4i2PZbzhJY4qtqvjFDVOY4
Vwx42mvca4W/z50R4YLvhdOXsIWIQ1+mjXICu806BxwFGKeSKlLw4bruwjNzBxeoW3MqsQc9tGR5
SOOTsBrqYrNM72F/JWR1xPaaUJ4Jx79nXXiqLyTSVBe1MN5dbFWq6YmfsXI94qbN7BT8kJkTacvI
GrtHNfnOJmBySPCJUTSM4YQxrnBvj/62aF2yg95+XL/oSLlEmzpMH4k9YHbw8mnFAFpxJKIu7erc
/8h3P4EEnubT+M51ftFzc2m2uqQtekLQ93x5HYMrg1nw4UXiQqbPqm3OEeR9bLuiuPEBYQA7byZ4
gGaNBfHte3z9rjtUEkRIMALQDoSUl9eeAw991xgyLUWvuUcuP4C0jfW69MBYGzHk4799PRvdBTIa
KgoBwPbl9URfk7hckzTgkz50yWe8woGBR/yq5Y2P1hmzGOOdW3z9MzIA9HjCFqMviBBHXwq3K/jv
y5YhvIPpMGw1UgTWMzSQt2/t9a5N28ZdCia56Dzk0XVkVzQNQst27WIaveadj3ddwIEvkLXx2GV0
OBSF+Al9yX5rZfBU3r78Lz5QxO243J+i+OJcePRkhR/OxKaTcDS2hFd0lnctu3JcZ0IUj29f6heL
BqMEOUHUZg4926O9UwDiB0k3cKfuPN0BS4G+VAQu7HuPMw+AqObD37+gZqrKzTGlQp3z8t5SQuOA
y8t2rRMV7zSDkYNP9+C+cp3pHO1x/M71zOWT83KjdFAUmYyjGA/x/h29kkU+AU4SrJk641C1JrHe
4pCQZfmmIvt4Lxvpzftk6KZ78J0G+VYwvD7gRp7Ai7uVIHY7icMSI2jfXTZ48THMxwFZpFqN3W3c
GireiBIY62rCgimwdmBDf6ef/ovlSHQ0S5+dwqWhfvTMsi5s8BHSWAroABNnOiZXWYbf0qwUQkcX
POvpOOAfAgpqnaTmiKHt7R/t9WedTc1G/QLrQroMFl7+aAGttC63fVZJ44dr6LzWfhRT+YzYz6F9
AJXOEcgx3r7oL152dlJTKAstjTKP9+zSc6euqcn5Gk0W5czk6tQK4/ni718FpRVDWt71ZZZwdGuF
i2Er5SoOvo0bxIrlGolIefb2VeQvjl+uZxGwvQhW0XMdvdK8Vy5NFVTYtC8+00quz0rA8Bswfv1J
VJJgYEnDvab/S8O8rcBDRKF52efZtEuEA9866NNavPOr/jjzHb0ayHh5+znRoWtS5st77+faq6Jk
7NZtQHgOzNryoKe4+IBJaurWjhicrYYLJch6ieJPLILF/NV1751Nl8sc/xlsCEsxI9DTLPnFPxdQ
eRuQ3ttnHE27CndRyTj1oUky866aAuJljLoxPrkJkCs6LuP4Xde9N12nUSifqJ1N5HGJ1sE7r9wv
VjxKZkbXDBBNHtHRo2n6Rmf49ZCAGP6X3A6mE6txrFPRj/PWI791P6B5eOdBvC4eFq0JoyL6d4zO
7GUN/VRI6tTQ6Qjbc23nc3wSkCi8kTZcZHrDFbaTsd3OMZkBYd83T28vz1/cLUhLPqsWpTt/wdEG
E4zsybHnLSGnibgOma5eGSaY9gBzIkm3dfs1zePiy9sXNV9flUAqV3KnevnOHb96RZQFS4+MV88p
ar02YEq1l9Q1sKQavq/+qknabga9jCdncZuM3TYW2BzOiZpsP7qjGUP+LW3YpZMIzXpHixFKgK27
dMRqm5OkgvxOXiI7m266RNvfw1axfVnSpymD357QA8LWjNVExevswwHHNN++ZoI07jfvfGdff9IR
OPBRFwhheNWP2y9Gmuqy0PQOja5X+9pOCNwks5lEq6g4efu5vrrUj+OmS23mYQpDf/FyGSV+nIG3
12TOmO09Kuxx79eDojsWqr+7YPmK00paJteMTfTxSxLpbMrkQJuLjn60GWTln+T0etbCIFV0bEj8
qqyyucV+3ezevsfXsg8Wq5aLGkzBfOFveHmT9Acs5RMmtfacVNzli8GK1JfsHNF9AZV1dq7THAWg
MTPKY5BiXTZxU9zIsLJXXRu4Jwl++8umWLaPt/+yV18th7+M3jnv8CI8do6+J8LLrIJbhzMFouwi
1J0D3D6x3pPj/zjUvtg0qfCRQy96ZJf+v728XD9tFuBVTWCF5kiUBJq/XSQ97O6tW6akUDCefQTw
XzxCkVtUWWqs0SPm8cCo1AIqwLnEGSeY5EYDdTSkNYM3PKw/e2Oiv+KuHeU2JFtTX5ic1qF3JULc
QSHtrzLdtNUOGEMcrKiQKsyoJpQM2obCXuI6DCc8sYfKJIqzCNp6bSBjZuJE5ymEjZxVIJf7Tl94
sI5g7Lh0uVcigaYHzC8S3aoZSHogYquhWUjQ8ieoQMg+zaxGzWS7WYeXq5jm713VEWZehCRk4S7o
7OI0qEgJhzvQNZDHOZg1sGGc3lk5XgpDt/Qwyy5QAG1soNB3zaFjLOreAjogSGAOWBDPVjUosijG
/pvSBIsdwiyLPaxeFkA2s67JfmH/KS3wbT4DsxpNcr7J+r796qe++ZlJUuNBWQsySstupC9PsFh1
DYHGZ3BgQibbYzUIvoOHmZbGcxUxMHAq+wmToEnUZ1t1n8iwtp8ZOJtn84iLns9eUnpbp/AI08qm
NL9gACTj0zkmXA0/hRQoeCzSMRj8gfURnPJoiU8pjv8efQsoZGdKLWSiDacjN3KgNoyD5XJ1u6zv
chXUAngpwuON6ltkrEObzx/yEsRU0drkinjjIjaYWQyYvR2mgTADUhBEXTOUV4E9Dk/azEexzb16
IpXbx7FfVWX2YHSVo7Zh0mrgfU5iVauEIx2Bf55J+lfYDzntYxS+4cHFsJbsOzPICekrRX2geaDT
XVKVErRmLKqW0R4F9wZpOIIEkicAlPwf6s5kSW4kze+vIus7ygC4YzOb0SH2yI1kMpNM1gXGrbDv
gGM5zlz0CDrrrLseqF9EP2TVTGcgUhnDvqmn28bKqooecDg+/5b/AnbF/AMdgbpBrBBaMiUSIQ5j
Gs2tuQaMGlNVJFtg5pnFLaC8DMNOkhuDjD/pA5iF+TwuwJ23PFZtWSIXa7j4Dcm46+QGVqMuZ49z
R8C279HxZNorbkLT93Z6BwV+2401qmOFZiuofJHERpYo9x7WuVus07DqbgEc5Z/jsDIfOqbzGIqk
mKVsOm3uFPdm7d17mRk+IJDs2eueHuw3nXHit2ZSyDGF4IyfMnI1G/01A6UDvjDwnFrUj96qcisL
h3FGjhi2N762QW2gC0CaauajsBi51vVUfacA6I5ZIkS2gnurkk0Ydt53OqpoFTWqane5nHIm/5Zk
Y1TTAhOveziju5BpMK941AosVWkngkl3Z+3lHK8NZvJZ5f2wCrt6QvGQwqgNhQTJYhrltTG23s+x
V8EzMV3xQTc2ZEdk6KsOJ9w8ZLwsccFAScPDHbF1LaXvmgC09nVK8nlH+u9jM64VAPPoDQfmhTvq
PB7Pww4TgKoNGMfxFok3EhaQMXuavTLAtgrDEwgTWjlduo/OcjfaLlBQkLAEpcz/W4Tj1gdGxdSS
IXGHYjgT8c7+PTUmY4XkunvFWWrem6mrrktZjnt8SqovYA04M0XqrlN9BoUhv3TA/AHTIOA3eybJ
X0p0Xx8LXkN94Y567faEwWlAZ3GZCJ0V4Q19N8V0F8nmUDr5LsDv8TG3XQYWMWO2awZ/2A079jDc
E3j8+4rx8jGvkuhDnwdJdz3jnpCJ6Iz6M2OQuLvw815JYChyUdfi18E+FIsEhhw0zSGF9Gszi8W3
ltH8Gj5w86Uowgsp6HkFxGsj4QW3DLJ4Hjqe3qKgKIoUi7J+HTLuRR0A0D5Zpxv/pCtiv+sGr9oX
+D5hqpEFt2E0IGDOhPdCcTinBKdXuUP7jM7EnMoYjD1Pf4RVooDfV4w7s8zU9ohimiu3Gr6gRC/v
EHszLpQ2ry7H+INhBDQ+yo3T5QZFFxI9d/SPQiXuAj3DrwF/giNkBKhNHiIjb2dEZ90L9phZC6Qc
0jV4P4uZQMIto+HDDZdJKypAXVlZr7QsR00M/jdSnr5z6P3JvW+YRG1rdDOSC+fprM6YfwD9LZCo
psf+LnLFAmXdfhogU+kF2gCIdzmz8aDz1YrjnyrO+qchlNbntx/6/AyzJmkZ/RoJbdJaPDR0+DDD
kHRY+1ESM0GLyuMALAQoauBciHAzz3d5fgzD5H6Hyygc05l/y4tU0PdGDfFARLgZakURgvuejzhB
Le0vfe85kLlD1Xyh75AGezz56NLaehTdTL7P1c6XLe/LMOg+R1psfmy1AFQQjJOp2yurNB5tzcB6
fYisO+hPPlYcjo+whIWDw0YUNQ0BbSr1bxPShyhsgDHcI9HZPmI2h2uFbgags6iTr3uVe7dTpNxw
Z0plAajCVOu968ejWtlDg/dDaeBwN1heGm3iFMujbVXH+dfRMcJom2mi/GYhxo4k4NBLCjYJQqbV
YugmkZah09vrWmjtHRGoP+g99+MKLQVU3dreq4NbBYKn+oAThJut6VI5HoMvBXm/gkx4qW3w2qvg
lNmUtTBlxbIsYfTQ2paoqIiG9Aumv+bNkPF0muqBYoHwyC8c7VfWI2bQ2KTQYwi1ZOVC2kWyBtbD
jKlsoaJJnCLcyCmzNXaleJCGUr8UMl852VC5JT0s/nQYMotoBW/L0gy+J1C303Q3cKGtYOwWdyBl
mq/YuSa7sGiMjWMb446WWA3KGLC5k9hPpYfhL7g1d6tiXWxiDV/2C7Ht1R/HRW9Q/bIv7qKRoVVI
jKAsPawr5HM+i5ChfwxDmg6WbU8X6uxXwgqoW75tYB7MVpfMA9xTeswMHNbyYrWKqqq6KbtJvwZl
WvGXBVok4KsvPKD52hun0sZGfO7ao7Zy+rF3RRxGmsUTqtCDElWNqJ/hDm+HcldKxNlI0P0g2jl9
an4OKw36pOeXWPe0ACExzYzUeMMXyTU3xjS0VjXmmd9L1xeo4APM/wxEq/1o0YKb1nUjMeKassp9
x58p8aOVZrdVFtode0Swij+ABjMjRMumdS+EtHMAP4W9iZoAtC9k5HiVp0+p+HAHnw7f2rW7+lNE
R2pHAxfna/QJvW3g18iRSKGtAwVyLUwFQAG01STUGru5qdEWObwdzl/JIvk9rmN41Ny6vqSg1Yhc
eYCnwW3mZRKRxTKfWTE6Ci7U9RCSl7F8ZnSR+zD1geu8HOLV8E+9sun7tY7d36EzMMvcjgBlP4xO
3hsrG/b5wPQrDr9OdIDajWEPPfJHXRZ8jQcADCjZiRCFad8q8VKxs3ud3MK5qiTpN0V5g95p54zD
BzpHw2ekaHS0O6MezTXZhFoE4CrE5s1nyHidBMkk11jtFj+ofI2fiTk4FOO6ld9D4Y1vnNEL3ycp
UGI03FrUkV1dB6ONzHf12ZjK2fPdAceG6Wtl/5H6FR5xY1gFfBpmjFr22+/nuX9+kkOB6mMUyR3P
JEvCFD89MEHrIHcf4cgLmtkoNrYGL1abfPQuNZBzIA8d4zPNOfPe1bBz2FiJqrMr8MTZQ+w79n2i
ZB58IPVo5M5nytbdIF2Xfc1HmNBodDk0Kjx+fbd1mgqZLMeJK2fLjRrVf3IPf4n4fxt9x165+KP9
l/lf+464Sh3hpPHf/+Xkr/5/kwdAzenFO918bb/+t585SNPx7mv281//9vd/Q5MEfYD/8fd//59/
//f/vVQmmf/lv5RJ5G+05cE+0J8nNnAUzf8QCZhlRiwSIEQ30O2mj23zt9BvfZYgcX6bBUsgDsIV
oztHt/s/ZQKw7fjNIn0Crge/kKnk3573+h9szGbx1y+lPxY1BSMylxOIgoGB5ACIy2UzfRqyIcqK
8IrOlkrBBRe6mYIm86v8UOeGyh6pyMriW4CPQekDdxe1+iaMzizwh3dCWBkvtvH9n9/Aye/hmV+k
hzSDLTkPWnnoeYzGzpx+GnwzY8KtiBVdiN9tTl1e+3A0S9TA1rYYi+g78uHkgTvSOtWJVTNZHt6h
zSQwEcIFws9hrdmTaeNC5zmXuLanAY8GMvMVOnL2jCHAsFYufh3uC6mH+FS3KlqwnNO6zDpI6Unr
hOl+bGF64GkaQjnHwQSGG9dSa6VuhbZiOng7yxGa8wFhbVe/9LvmKugfAWUGE0EtojCc+XMGUWXe
1RdJtSlwT9JwBKhzC5D5dtI7OcxusbSBtmDlNJj6tW1O9Is6PcmrTzTXpDomWNrgo2Go2MfNWPTa
OCGX5+WVsZH22MQPEC+dz4ZK0oFmBJpxoVzXyuqwY/CNUf+LIvVL0QSIOv99M5T81wLO/mcxf6rN
8o86CVJ8KX/9uvkLP/mL7fPX/qH7WY/3P5su/TOg8ZHN/+R/9W/+FTMexpKY8b3o8nb+04KoyF8q
ijDUfPGRnMeaWYWEEIMQyf/5+7/9r7N/8y8xEsP7jZHkjK1iwEGfgKPb/2zaf/2b582xhNMhuDE4
vjOv8a8w4zzrHM2JmSBtMfhH/jPK6L9B9nUkWRvjLhpFzPp+Jc4sUl3gKXNsYUBOEARw9FwVvjig
iZzAYKuS9lo3MbeFhbCekLFbp75/CdX32lJzPwZMijRIPeec9MVSeSURUkOPbt+KTh5gCj0Zg65v
RxPXjBfv4ZVgtegVPD+UCbhHEK7ItZbM9jABtu8lQbPXJY6ZjdYiRayicutoTrMrDGXea1NX3aSq
Lp/STiaPby8/3yovvnrnz/VJJaBiSGnQNDx90ilrLBPN+mbvMDf7OHkdNjujEe+cRPiPVpTHe+J4
/F0lZnzldE1yXUFKWpkmMg4Xfslp/PmPX8Jknn2YEUiLPa9o/HSayeslvuPG2U5l+8G1cYsvQzs7
ak02MTewyxCbKqO+8/o8u839MLz3e50JvRpDtYEi0T6gfY4DZNyWEO764tOIKfqBDpB3AUaxKEvm
jXOYR9EYJnH1zhBTiJenSYyq4WwzhiG7qeBUtC6oGzsenKvCuUj8fuVMzrM/EFqGCbTvuU56cSaj
xPSGNmDBbkKKI8ffgrJA2te+1hoX3oW5yP6fH45LndtJzHPq5fkfvZwrrKs5FYDOGwAaeXwsdF21
m1YU2ROKFfkWTVlE7IUHs22FHKX7MRVtxD+L6ui7BN3FWUolYySW4DD/ecoremDwsDzsilXKzAF9
hisbP+4d7coJu4QR35ptPIArXYcx0vwQlx1k198+ZOd76FBakbGQIKDyY8/P/WIP8zRSVBl+swey
66+EJuiSx1QB/tT4F7KQRbHMFrIUbRFQRB54wSVctdGUF+Ldx/mIlHbHXWpRk+YIH/sYT70LbQtJ
HeR0LoSTVx6Q6pzcgkgCsuS5zHzxgCFCz4gSxu3enKZkHadI2TgOorjS6KLd23t5dkaAJRK3iMSG
wwRgvixO9rKOJo47VmaIaPZXDa0swBuFuPDGXlsFbSyPlISxxhmxvcwb2Q2kcFBeS/PB8y334KPV
1F54W8sBwYyU40FA49toHXneM3TjxcbVRp9B29ervdvQpTsK+Jg/Rq/BNzskXf3dGlX5w0/GVm56
dh7/6CS2FRgtF5vikfoswbM6kFhJpjh4bqtmqP4Scvx/i6Ccvdv5GgVJQd3HiaIgON1wb1R4AhYG
5ska1lOW6+THsm/ktxj662GaGNChnEmXEoFxJrWzuiyX6SFxzX5GvxtXaLlKGCdFdd0WuLG8fRqW
4ZBaF9AQygtMgpACPBMqyfq60MI+3zOd1ddx3dwXqrxxez71djK1C8f87Nqal2OSw6kDi2HSBl7s
RdcaGaLRoJJQO3AMymAy6kepsk91Mu5cj0FhIo0QEa16V0/G9VBbH95+4OXbeP4F6AOBmUJrAFTw
6S/AdzjSq8rO96otsm3jjRnU08neEAON/dtLvbK3XDJ8Y/A3kIRZzhMaxoYlRVi2j2yLnjO9hBD3
6nWk6muzQons7dWW9zDZPxh75lGUUIIXOf+aF19CUavciZmr7zEQgCQLOR63p84wcS9w5xG/O7oH
Rp5CUL2V6p9YHA4cbxTyCOOExeKuO8BCd6HwC5loG557NDexo8wrMxNg8wzRrAuzM77O/uL6hVCz
jNg8OC0v6rP5bFE4zn//xYMHqCQq3ajS/VS51q3BUBeaqabelZRsfOnR+CmKzfrCMTpb1PTELCJk
ctEKm97U6aKUxy5SCZO5R/0dBgWHGoxWZfPl5D/9BAQJ6ka4bP3iK2ZRpuoIdjKs0TnDp4v6aesZ
oFDMPR1Q96ZmiHKowaIBfHPiAzZXxj5O8+Q7lsHZhSpzfpx/FJkOkDD6iRxjwhitRS6O05URNfCm
soF4ngwhs3y+4Burrc13bz/fK6sw6xP88SAZ6XAsooOZKaQRADLs3aCBZJW7xlYTQ3VhF5cQ1/lh
Zt4BQE4uD7ovi21s3AnIkxGLPVpK1a53GSGjqlbiJVWkUEmsRr9Ckmc4QM0sj/hYGNcN7Pa1PrX6
PtPb9M5x/C69cJPNi57sMJgBxjFcD+ALqcYWp1gbNQPDStvc11nVEB6LYFMONew2vbowDjjb5Tn3
Jdhz9+sGn8scSF58L/Vodzb2IuYee8viGkQUZp3Mt3Zvv8uz4IfyDEmvmM8N1LVnTZQXq0T4+NgV
2OC9qIABQXhy9gzzgn3dYTnPpKO+sN7ZU4E4B7ZMR5X/wCFavFTynYoJEwpZpWMkB9sAszyWU/6r
cY5VAPGRq0GZAWa+KLswwIFPCZJv307F8KOYDPumQp4FRyE8Ma/sJsDtIjDBGCJLkWze3tFlyckE
C1KQoOZjrELD3Tx9b6TVqgfDmO6tBqsS0IEO/meYZJOaFqI/4gJjob0u0BGI8CMCk+SX2fu3f8L5
S51vsjnwEbItd4nYbBlnEnSMdJ+QiXxwWxpzJboe69p1q1Xf9eaFKcNZlOWRafDztIzKOFDzS395
iEob1we3QPYMO8adbxrFqjJC+6ML23qXxol3GOqwPbz9kGdf4vOiCKeKuV/BbON0UenU0yi0lq6e
21gbXZTK4kbrUmstCq26sKOLJiyRdbHaIh1H2pSfUTTpvvK9oloPaMv/AK+SrFutLD8VtpMZV004
jF9IgOvZ+7Mr42MiwuTCU5+/WhRf0F4i/MyKfcsyXoEC0EgZ+n0pRyyHXW9tjYzdwPKFW7zGt2/v
8fnXOn9GxDuXWDQrUJ/usRL6OPZt2e8ReXcwQU+cPbxp98IXc1Yd0HMH2EArCD4NnRJ98cnkZpxo
sdTUvoVQpNahYXg7cE3q24ASR7WKSweeOYPCEvpx7oIMdvvwazLluNM3UsP3IXJiPNYm2tGZnlA+
/OouUMxyrc56cDNnZXG86w4QJO7f2d5M2WrUNNwdkoSXRk5nHxG1LC11El+DlgDUqdO9lhU4cx3h
lH3r2ihFFHCr48kcN3J0KkT87U/g84wLt9nZ+3WI+DqIEubblBVLputQtcByy6jbu2TyT5Fv5XcN
ZgD/zCoSfBgLzB3Lxf4ljU7xYo7d3i8774h2jb+zc2lfyH3O9w+RXUpMYLewHUAvnO4fkSDUhwp7
dRt1n7UmUvT+tdG8qy1CPtlF+26qkksKkq9sIFpvc9wj0APMWaQDPvdLqRV0jVqD7k0GA3SDWMy0
+cUD6MxVswkE3QBURtVw+mipHWmozaC1Weo2DiEzZ3HnG7Fz//YyZxGVrBECPswsLk3wGIuICuYS
0HahsE2qQDaPMVJvlYfMS1YE1a+mAfCwKC2BFzEnYxqyeFnu0A2p6TvVfkR3d5eGlg0yWfv+9vOc
vxwWYT5HMw0BjTOuPAIJyC3kdrXvlXDxDA/xwg18daE0f20VwgMpP+h5kopFjJwdwsNJ66t95sXe
AdOrZs9gW1woZM7fDXRwRm7I8oM94ys6PQJhbKmqb2gApNhMXdNUxyKcyu2uU3V14RicPxBgEGpD
xhAWHYBlaw1LUuQc3bzAFroer9M6GR5GbbpEOD+7yObJBWUZ9b1k+5ZXC7LVFY00R+3TYMgOdGW0
70mX+Ve+EfT3kZuPF8LDfKJOEndUC57ZMtS/8B6XKaET+E5not/CN6Syfe3Xzr0FQr5e2YXRXGmD
611lDl7ZOGx3F9Kj83d3svRZVWaOVo5OR78PmzLcjqlfb9pRwolohvRCpDjfVWQLGWcLwLi09ZaH
0baSHCzdHCkcu7gxm8z4PQCu9tPIJ3novQCvqLe/sfOoi1jTjEukSCHuLgtsrS/MEeXglubJZF/Z
tRG7q5kguBVBhFlVpGc3qZVF27dXXZJwOZ+siRgkKyLD7y6DfeXjEzamGUJ4UaUwFOuz9AkXLnVd
J8qrUStOwqcpSnIX2gJx7TCgoTXsmMQMD53I0fsavGC6tzQLUHk+6bm99SO3CA6Qr7Ps/VhpUGBk
WsAKiHEv+5qHI17Ybz/DedYzNwiRaoEqybCajvnpJ10IeBUoPlcHOL/1R3whgnAr0sRSBNzMvEIS
E8GUxAsZAPRopsW7sFXDJ5w5AevbSoNjXXT8uXjMxx26ZhmmbxdO05IU5AF0R4iS1I/kj6RziR4a
MCVF9sUTR1uVjOvMOB0f/DooftqdCH6IICZXCPE5MlbAgVBxmLoEi+AKYcd4jQcxSCLKAs3Y6jBu
P0gQfeHKlw3C5g3Of+aFDRXuKx+ajUMKYZi+AZYpc2R7WYf4MtdNZCH2YEds7AQSmMXQ4pL2RwXA
ol0B4imTdeQX0trG2mA+wZsZfkrUDL9leSsQUWU6LLc5Sj/YUSExi0hPhc7kOiZ+IWKVq/GOpgr+
mhk+b+1WTxG+Wvm21Lx10Ftpsrbszr8uBQntWm8lutkgNCoU49ykOCaDhfJeh3IZhl6a8wmvGRTZ
Auuz7jcOokZNqnZZ42oo2gdBtnJlSrPDinpdgXkCALz1lBQPiVviXmAVU5StA382NIpK2tbA72yz
40Q4ub+yramXN6OlW8ahKkif1yOO4u/Z+e6+k6JH2FCf8u9YVvVHT9GVWk9e3cQIoqEa+qEKcn3Y
5nbfg+4gKX6Pf6PTbYrCCt5LI0NYSOv0Tly3Yz3toyRJIL3gN/DUj/T2V7UakRqblKqHHdSv8C7F
lsVb8dgiw3U+8veqgcUToVU1ZNo67wGNbaDJpM3GdiYzvpkbpPUmFsYYHtJmDMvbWknfWhNVQMqN
cYVkelljA5E5aZvWK1z6rHArm8pE+6luXbnuUZf70sm8va7cnjacrKNqOgSTU7+boDc2u663RLDz
0Fx/cEKzsVY47iWfRNxpX7UqFT8F7a1sb1CzH0e/bQOc4QRk0ZpJaY/yYF4+pirDvVdibJBuzah1
443vOGmKS1ZoPwH1GrM/cNYQeDWb0dTpeyfCZNxqi776CrNq0quV6DT3ux0bzJ1Bw4ld56RZtW8H
N9Vv7FG5zpFADo18pIPRrjM4ysyaYpUYfO+R5x7CqCvqH/44VeO6wsVW7oMhlzBfehs7gGBo23d1
hnTALskS83ZKxCih2OEAsAKzVwcHfQozLA7bPlWbIioxPDDaLh7wO6ZnikdeNyJdoOuRtRrsUXzU
IdggM1sI44Me2AYamDGODSu0Bscn8EB6sQq82VgMocePo5GG0zYym0jj/GfqY8DtAaovS3A387u2
7Xd2AtRtbZbRvLlY1oVrNQNtV04e1D8C39N+L/UC//c0ByPo+49UjqtcDm68rulHbm2pIMU0fTh9
6Nyc41VZsVuspF7YN3k9YbojISRszKzoxMFH1PfRqPsJCcDOarJVNEb2fWeQy9HwMvy9tJxh2ml6
73n4abgU1mQio7MSDFA/1olRu+zZWN6gO+gl274I43FLIunnqyH33RSBnK6Z1oaeDseErNZetYAt
y/XYjYHGLL+YplVQhel1E4v4gZOG/2qASM2a6w1KaakKGlEFpeVXADx+jicmp2o9uIbxOyqRCO4j
bzG+b2cphfXY6LG9NtD6IzQFVnhd+K4ad/gZhMFGJrWergbDDdETmQKzXzVuFZc7XButx9A0MUjV
kd55anwTo5DJLJBZ1Gt5RFe2qzCMKGS2QYfQIl5xf9KZQh9377g+ftQpcuLhqgL69a6FJx3tNcrJ
YYNiU3KoqjzJP6b21NdIYESSY6LawNuixenZe2XXNpjtLBvtbVwUUf7RxjPWBcwpoHg5eQfbrp9q
47FwIi5jrRelWAXQybZpbplq5ymY16sJeEyzaRy6h+zuMOmU4d1E3zUY1C3HFw/UROg9luVm6ltX
fK9jfz0wIP9sFlr7fdYTd1ZNaDnfIIIiWOgBQPuIz0iVrQBb15/lJK0eqY4mQbpxGAZtpWyR/dR9
fgOfRBDXO+yDNQ3nYmzfkxKgJ5N2q/4e8RTOSp/iNFt1TUaXD89CC1NAr9JQjo7iBraDUNPDGEUl
loYcvXyDeBBU10ZgfL6OQ6TpNjXfCRRLhntPEC96cYdfSBJstLEP5CZ0FPri3PumsRm6hh/qG9hL
MeAW6fsST0QsEoYiumuxarU3g1viKoPFbaExtRP2de/mpGa5r3GFmS66crcI53azXXWMPlg4hTYP
4OLyfKjhz/vviiHJkBHrc8dB0pdAvBZlP/O3sqbiE2qFeYUwiXEPIN/5PqWeaNdA7dpkpZO8JLu+
mb2d+9xwmsfMzsT4IDJbjVtXgEnlHkD2KRNe8InILvS1XvvI3E7RoO4b+i+kbkB/Qya8vlCbGEK0
QOAoNG5kg0zDGvvOIFkjV9xEa0B6XLhJMBDjsmhmcULImzYi8JIj6YUTb0s0/4ydZ8D/XUWe0tAf
CHCU2Ca4WhoQvcPiR5PSWto2pWYa17L1uSkHBL446VMov5VWjG+NkRDp3uutrgP4hdiG3WuqGaiX
Fpm4Rkw6jw+OYeXdruSWV5tONUK/FW7nq5WLkp68CXORTQfo3bp5YURgmqdFzXN+RmNS4AihM7Ne
Tkm7EYqrjrPTceT43BLdoCJBbw4xCqqk4SNOQ0cW5mbVenw2dZWSeRTd0cz7/qFpaWdswIySa+R0
48dVBOrCgO3turdjGQXeJhKFROEGQ5lvNQbj+Q4O8/AuH0v4IGbscYu9nRIvKs8/H2ee9qBpr88U
iNP8zcMNq8irQh7RVej2ll0PV1rbiwu9h0WW+LwKA1hSbzB3SKwtGm1W7lmhrEr7qKekCLLvC8Qw
kvDoev2lQforS1GPzaJWVNIzoun0gZQ29Jh7BvbR7xl7rAwMwWKCskt2L0no3969VxejewoxlXLs
DFWnKmVUZZLZR6pncx13UITQ5iNYwLC4UBi8uhRPBfoGM0cwzqfPNerMcseitY8u5FLyrUHfpFaM
Trcbhxear4uKdn5bgIxpv3PMaXkvEXRlJWpzqhx57HwneURIwzgge63hK6oFIc5XIr7wbItGwZ8L
wl5jNA/CCI7G6bNxDSa4+MXWcUjHJ5KnbZs0jxqD3KaN/4DZAJV9xNz07Xf3+qIWvCvmfSCoFuOF
vvbcFFiedfR1N7yuJiwswlZ42zhEM2e2X4lXka73uNvKS5imVz467DOBM2H/g2bR0oXOm4wGYczS
QuKAc2K3Tb1PLWTa337A8xMzdy9RQXOfRUuWBnRKaeiT5Wo65givbAqn0r/M3Ri4Nt6l7/v8gQSR
EOz9/A0wil0cTgSx86THGwFQI0WTjGWNjrT6/MvPAz2SXiyNzBmGO0fmF6XmOEVpaTayPbZJmd+F
pWfSxSy9d00rqgtQyOUgnBOJjA4DWmAMDNlY8nQtX5dJOZZud1RxG175iEpf5Wklf69RJ78aGm14
74ywQE1HzTJrgXdIpdc9eFnSHVtky9FDy6xf/kjYWxcIL5CO2dVq0SoOwL8pY/TrY2Yn2joTmvGU
21p3W1rYVaeTM10xvE6v08S9JB12fpCYSNHnh/7LD0Bl6nQzAiMPRDuW6khiOaymsequSJKKDQyq
cv/2Oz4/SGB2WeR5uggMdQ5NL95xmRdWgpSsPOqDSd4PRGFDmn0plj5TiV50Jnm9kt60RShlCs8Q
aNELbzxUz8qKb99LAcYEQQnzFQYUrvG4MtPmwsqCbv2a5MT8btfK33o+Unpy6oor3euSdW/UwZ7C
Ha7UEGqb0OqjR9gD09oex3BnicbfQ59CXsHG1UhDk25r6BoW7m9v1ivvRcIym6kN3Ny8m9PNohkN
q05E8tjUtv5YGh2laBt7IX7m6aVgMh/4Fzs2Q+hnABOxmeEvKq2Lj88QlWlYg6qAYdpIeLuB8bFq
WvJ3ptx7KacUJey07+/efsLFcaDnCCKFeToD9VlgaokTQ+SDwkzz4gN3n7PtmIavLc+XF/bxlVWe
GQKEL2au7lmfGp+gITGd5qDDzwPzTFV1ABxiXmL6LtuPz8cONCH+ajgs00JdpEEIBDSOF+PKEQLU
j/ZWhYrVesIZtL3yTRV+VVGn/T66Dmr/vijSd4Iax1jLaWR3c0ehgz7SnKTByvX8BxMi/9JFvNiJ
+QfSqJ/nhTSzKW4Xb3kIXATZaR0cJZ7gmxLLE6xaZH74pbf6vIrLbJLGD0hiEE2n57bM6FLiWmAd
k7AJNjTnxcbKuksYw/NnQVSKeEkMB8LJjPJ0lXgo3RqQsDjWCg9Lr2DCm+cCIMjbD3P+EZL6IV4F
apjOLRiU02WmGiccewrEsUCw+IH6RcxuotGh6gpz+/ZSrz0Rw2P+b/ZiY1h0upTU8BpB9R/bnpZg
bMWwswErmZu3V3ntgVDyIbDgesRUfHFI61K5KPkp85gZmXUXG/7w3hqblOq86i5APOa9eRFUOAhg
usibAe0xzmC50wdqIzNDF8c3QOj0obtBOhybp0EMBynD9g5pnbGkf1RWeA81+SVtyleeE4IKZx38
PFnYkhEATqdFOoTKJ2q96iZXabWBrjhe2Z11Kd97bakZjE3JSNPjLKHWoaRCdJE850Q7TRi1v1Kh
pN2ZFJeUQV45I6S0LqvN/2NwebqlTmX29VQG5hEIenxATRpPBS34J84IIn6IMPN1zaCrRS4CFVgK
f5DiGGB/tOPh/DXOHmpjRvjTvX0cX3kgloKLSfIBxGA5XjO1Dsk90rUjEn+0Lx03YnzoD7u3V3nl
DXG7gJad9YUo5RbbJjNo8F6ecujhONzRjZpWbV9298TyS/PCxU06H3qW4humQiXGLqurPPSGCFVE
89ihlPshomEMkV+3enEcbDxbPFkPj1GhtEvSlK+uC5EUXCfvjdVPT4aOUQuTodo85mX4paY7vtJU
vEfF6puUY73SlfvwT+zpbD89x0UqrMWCgyU7z8E9gsvEY5DlRYypwLJvyz759ZU4jXMtNZ97ucTO
q77DrCqNxNEMO+MDdkPVqimc7h1dwV+EZyGxyZQeh9QZUw4NeWk84PS+CyqFG9LsgwFQ8dTcInqj
XQiMZ+9qXgWgL98W64DAOn1Xbq1V7Zhy6MPcHNB+G6vyfYv5xtaSOVaf+FVkFtV4mH55+5UtWQiz
tI4BehONW8Z1lKiL4I+MroOcbVgcW6UctUrAjD+4WEk/arKsu21iNS7tVmXEh1bHKGmDsYVor91Q
4ZDb5jW8gbd/0HxGTm4IGhCzSjiHVnJ0l4Ulcpv0lKYuPyrEBzALyqOHfhD6BbTAvJ3LVQCtQAUF
JcIMc34dL6oObfAtG4Gh4pgKz99qtDYPCNX5OyOIH9N40C8Em1ceimsATupsb0ksWGRZ7jioyZJT
dmzbEIZkKbodsnzGhS7O2RkCokkiByJB0gYQC9+It1+D8SeWa7FHsIk4EjC96UkuK2LXRjDC7/zw
ULWW+ITVLlOSUNe7n51Kqp8006cC6JINpZFJSYOGovRwNsgYCLxvgl576slsHnvYoH9Yg20g4xMP
Sb3OEa7wt1xVTrMPhWZtyjyXGQNuaSQbHAmYA5Wh0eHIMunithmLEae5KG/uPcWgag2LG+nYCacz
WuFVXl6JwoYlVpaS1j6+aSbeLlGIZ2g/mCEqw9DX8pWHNZG+D+wCT5Z6qhCmHrVh/Do4DW31qNFi
fVvknT87vqY1g0qmj1/Lthz9a6QwfbFFyEd1K5mFoB6QpTR+WLHTJdumC8tPQQq1ZR3HjPhXyk/F
U9H2exVFo77Ka4ESPC7YQ77p+9G6LwFg4gXXDC1yholugUcwoOtXCJtv+1hM4/0AygMspuuGUNTH
NEhW+JszwFCOVB8h1aLFhPtjZa1AHGYCCylpHSdJx2I/hnV4n3dAFjYkeuHdYEdYy6R9Qy5lMsT4
niU41ODlyN/uoMNg9RWClk59iI0tjek1thDVx8mALYznZpnkG8b2DiPqrhK3laNh7GOA7atWelyX
HxsMvjTIkPHweQqL9oMVamjNIO5kAoAORstblegH/igCOX0I/VmOkm+sM7aZMzA3qa28iDZ0XIBX
MHykN474a+qvWqyGD1po9GoVttJDNQAHsyjUhlsRT1GwiTt+NHKKnagplyznixc4uBYpWD7DVeJl
WBlmSD0GG1KLFN7/mIW7svSdj4MzCy6WLi2apGm7z15vjZhetr35JZFx+tNvQTpsmsgKfkclM0WD
1Ip75IYT3+aAKgepP33CbmatIBuzNhEzXoV96xyhsRka2xomnwI1GT9MTA+bNSA1V26Beqh3VCot
Z9LmSK/LNib7hBRc/CiKIQ43sY4RPSAIRx20MXa/W2LqrkMTIMhmEN1kr2YFI2+WR5H9Vul94q/6
1OiyvV2jOr1KysGnR+tpAW0JT0d8cpDVmK7duDa/UUYP0bZm6tzwL7UVOzkaGBcneD5ctf5kI+Bq
ldn1/6XuTJLjRto0fSL8jXnYAohgkBTHCIqiNjCJlADH7JiBba3a6hy96mPVRfoBK6tKDLIYnX+v
epFmOVjKw+HTN7zDZDSVHlSa4f5wl1bedR6dmGpAf5FixpRZFDzgKW/aGfh5WBpl8qhiHfFF00t6
H4kSd3eznchH8ASgGMdcANaI+37iF5XTKjO1aPMvJ1285HKuq9akdx7j4Nrpw+iTZ9m01QZj8gK1
GOOnRKjWc+XFLk1HXR1/43VbFGHb0Zyji5xIHJRspQWVx4v1TfG85aeeRvKlbEVzh0LN8FDwjo/b
VElLpFmz7mqS0J59T8hJBrGYnEcPTrgdJtic4CWiNAWWAF2S/nKyODbPKlMt9Ms6WpbHOEdZh96S
CcikmkqQEHHnuc/FMioFToC1e25XtIl3y6QuzyJvaCarcqoy/F6FeYuU8fQylgatflBF8rnPOqp4
+GdlvqkJeV2VFgZuptGoN7Nuq8mGpuiyt4RU8UjVaSdttLFBjEfGS/nSwm1IAsdSsvrMGmP6zlgO
pXlQ25QdAYY1mNo1Y2L5Sgs+6dzJXbiKVWw3Rmh2uAL6cTR3SLYNXo3vpNnWtBJ7Uer+nLUO7T7o
nhN/P7s3Oju64f602iaggdItQFPM+WYutWpnLF6XrxT13AonOLJ3NHe1BAKfFEhyK8znMnaE+6xX
Km8B7TnKCbOJ6QAuAzk7RbekU2yGuJfFZsH389wb52rB4TiTWHnbeJL4yyKTl9iAYO1jW8Bh1ixi
joBqvawDt0ggVGMjqH/Va8kfHnWWe2d5FQ4Lom9iZIYxTbLQTi2XLdgXrmpL4tQpW6E+j7jS6v7i
ifgKRSgrPZsVZV0bTFBXHJvZGqHEimUKsBCREU3YtIw2NQhO/SsOgS23l7nYj3IEoLCjLSNV31MH
+1FxORq+Rw2J/vPilr+bNo8mLCJLsBZV31hiOy8ayAQ62bgnQt+6lDii5XjWWwQD5ox0EX6b9tKH
iG/nSM1UTfWc645g66Ek8VSNZR4Hdt8CKUw1r0Mur0AS2QfdsVyn9uz8wL61EmcDKlIbfAl7EQ7W
Qmcyoe1t+2WqtD8aICeVT1nNesD1TfmeQh0U/hRb9s6OAYsF84ikYoeVDxdNn8RlaKqZdHYgc+Jf
Uy/kN1RlSstPQNLRxENEwfDBHNEKzbK8UdDvLYcnEAVMogOwhiCnCaoiEFJXhsvBmdC00pKhrQ+5
TGx9R73VUEKzVoohbGd+IAqTY54jn980zpkyDVB9wYQsAO9cU95QN8vRAfZspJrjcR7UcwwZQTgF
1WBm+jnZT+cFtiNdI6hmrVcP9qiJYddmGGGGmRm7L5MGmtdH05aFVWNjIBPvFMymirQ1ztR8QO4A
yd6Mqq3b0nIG8RPdCwv4As7Ezi9zKKdfEWYdQHqkNeFrmDutHrg0hbG3ALQjAyorwvV7kIWPFDX0
O712pm/8iPkbxIn5PjNl9htAgfdrGHM2Wkej/nJAmDvylcqtNj1iYNyYefKkAJj4rY3ugt16u/aU
RyEUdAinNPo1Rm32kFWGdQd60b1bejwH1mVQu4u8Nsed0zfALChDUmnwGrQtQpzfPBpaiWGJEMQl
YLtOaVTXpzpifJdlP4srkbXNnltKdTbVYGOZKmoatRsppi4L26FfXjrqae0ZeOmhgvnfoKhVtOg9
h5GZyeist1MTcMWY1BhXSq+0z8w503EViqIxpL+QphuavvOLN5R2cjZq0E8ClJbGB7WLU+Qx3GXQ
gtR06ltp5eJ7GsX8ylwzIoB6uswav6bxgqeFOQrUlXn8vyoeMMDQnSi82X2Gav0UG/hzdA0Qni2X
S36ftsX4pTSN/rnB+tdiGjMusWPR8D0b0RZTYHjTlPiicCOVd752g3HUFyOIRmxTiQPX00Ijj1Cx
pEyMDxZmpq3v5m18J6WFtDP+Ffaty95P/KxBOCAAk0ioqQ5gzEJCQjFsddx/hnB2+pRthM908oq+
2XfjmEEjsq3KRWw4F797Ugb1nNB1vHRlIqedO7TP6hQ/i9TEHZAghdyvV9P5rCXgPLSFnXRhZAHa
8SfXqq4zQ4BNZJs5V9Iy8SScU104IbU3tcdTocPIHCKpEQULyorXaEUYFBD7fkHWenHqPjB1GY1f
4T4m37GWVK8WNa1+DooyXCuErS+alxvabpiQlgjzCohQUOXahE3kvERVYHNs0yDVFFZVFLjLhkaq
SHuH4S+/3fFq88WOFv0QgxVvttKsh4s0ne3rgXdu3jgLHtfIbGvgGFGlj33Qrh3xPUidaNuLpC/A
gKTeN3zpCwSdEFrHS93lBQ0HxAtlSB1KGy+9ZcFeFi9lLtlRSZSXOUYw3HMo+lq4ABsXksR3CGVa
1uODYsfL3ujjDoQGqlQCDtSC3fbIgjwTLDjwJWNczXm8dNZwsuP2RqjG8BypCdbOLk7n9HeWrr4y
OxXIjDlIxw46aQHW7EegccEkG2K9DolTsJipmcpNnaeLC8TDSzCujdIvQBexpuwEqOUA0fD0ObN0
5ckEUEXIS1zHrvyBHfi+Lz0nyGf9Usm7J2mMO5miZm+ukvZxjR36rLDd8eHwLae5ra1la5kYFAO3
nztlO8NweoikAe986ecEgRPZ8CYjVvwDUspV440I1/dNs0nA1hIE8nd56+0tIoGbVE31JyCqRekv
MX3fbZ9W7p0CQMmvZOxeoxRgbZqh3WSo8i5Zd2eMPIEAUS2gUkOqbahWgFhL5UU9Onth5nZoTcV2
9PDWLiLOXAASnCRKsb4A/LmYGrFRVxHzKCquDQemcxNleWAByjWBhgc4mXo+GmI3eisBgeIP8F2L
9GXjTGV8KJTEIWVzxotSNOptGnur5ZbTab6ri4vZqy5Sp2s3ijCd217p+9DIjMoXTeE9uiZ4qDo6
GBQCQiGj5Qv6u9n9nJQYGcsfCv7G3TTejbp9nQICk4vYDdyPK9+cHigqKOqPkSsRR9Gbccl+RDqg
UAgwG9CtgbSVwJHNBiCi7yY2Pob6DtnRG8y6Qrvq79X4CgxpmKbxz5gsMcvOVa2XsDnHQ6464bDk
NYCoQcdr4dAQJqKFGBD7BT0yCSP18dWNIDEMH6QGJeUwtcW3Zbl0BrSDBifzKyWPtwq4Bp/0I0yw
vsmTL72KMlNniHJDexTRdw+Oas0SUBsdiAWm7tZ1JqqSWuxs50L3jaXMLhWjaDedVr84M6mFQvPo
i4P+zSMvPicBQLYutxrGeTKwtWQ+wwg7XGwb8aeo25XJEpq8aYNX8QjI/Bbv0p+NkW3cCFdab+jM
WyGtL0Uyv4i8WMJZcYaNDbXrzOskJg+xOKi10C+HvlV/9nLuzgHJuaG9JLhyjl5YTlq1EY6LacNo
3dlQncJCgV2S5veJbSiXTVqXgVEYT5iMWEECMtuvq6rxSQKuIJe3N6psvGfHqX4YFPNQ5MytzUJO
HlhNfiWL4czlnQ0Qg8fbtRHf6Sc0l7GciqBwm52tVnvdSO9nbgbAiqOPpy4e8+bPWRcHQ34tNPni
9su2M7SL2lWBdHahN2tnpnDvJbT2XI0fVHeJgPHBgxhsshhuBcwbSDYVb1e0/KcaXACa/7P7PUuM
J880v6OY+mhQ9dTB+0epbycxugA9+SOgzId5go5HY9gq6gfdjJ+dto5/xek25+rV8bcFxofjxzg/
TUte3tFYBPpefYuVGoNR/E33Zpk4l1pmlb7dagHn9yyzHUrTGcG61Z6jpUoYV7SYAw+1vDcqYMm6
U3QXtVPuuKBBIOSZugRWjNJzOrm/SOm4Xyw9dI0iDqu021oEPr5ZJ9uuq7dV0n1P8S4OVtCcReYY
fSFSrl5MYXsvQ+Sme06+9BGzoTurDd8iUvDthGclMtP7TEf4SFHj6TqyK0vSLs0Q4aM4usEhd5MR
5l9OinM96WZgACWcnOp7abZi2+GIkAbSXW551rZG4V6bYtw1hPQ9oD3R4ohmlaV+7iSTDD130pDh
XQSuFB6MF9wWxhHfXeXnXD00WBiqUjnUcU7k35gPnWvc4FjhgJ2qJ5UfV1+a0/mUmliJIC3cX/da
b19oRmVceOZ39vkSAps3ygCy4cBLTRkH9sSdzNMi8xsKLdhdd9qFLlvbC2uResi7GoCjJFIIURHP
Q4hlTX/m4dhi0INJ0fzV23KXFk3p8NJoHhGw2lFvUak5BGbeUx2LB0KoLU9tfu4gjGcHUiqqeu5G
3MFIXSXpvadOeXGltqmu7M28gSXmA4W11SeutdYJtAblxvMG+4P2Jsll91gBxeWDTnVrX1MuTJXt
WJR6e5jLpKI+stTyvKeCgXkydScASRHo/zPaczFYXP5FBYvUScbnhuYJtIJWZWPirQ7GuqxrROTq
KHfLh5GVaH4a2NIaPLB5Gpr9KH6aej0rW/53LnLKZdGW/KtQNmkGMGOTpC24cbccRjCaSIsnZ21i
1OU2y5rqF/RYXEvBSek7sDwaVRQw9r/K0ebJ6zpkHM6QC+6+YtQjfnqlIR7xVegxDpHDSPWF6vS3
JR6de54B+BLjYFY/qKvoRkBJZbL9jPL+oVMB7gdjKePhCx9qVXLOjdwMMOsrb8fEYM2AVZkztn/Q
q0IVfej4hmJolHO3Zc0+SdwOXZMk2ZD5j/m53no9+a2sECCbKJcOASJy2bjVuXueI9Rt+aOXSYHc
oU2WxiFr670+FuK6t7F1idWaS6xIp2tJOWPrqbV8wqRB1jtzhOywTVoFeDiofur6Skec6Q8LJzAw
rHnBqgc8FKXdZRhvqz4RzyCxYZTMQs3IMl0s7HnxRUuw2/flk9LGRO2LuZ6BeXHrb6yjnYVd13vQ
DgyB00i3GPKn00SqAT8JRwOWpiCG9WSuUk5uFXCxNBsoO7H/eSUzra+/8iTkv5xZgBludAnqXcv1
7GpxEPkLky432l/m1NgUzizUpRMdCgtMuX56zrss0fxszimlxHZR3yZLlFQoO5V1z/tVrpagXhMd
8iYfn7S5jKJQH2z9pTApUwRpZMwymKt8LMK8tFVtJ9TOHeHo5Nl9uzhXMSXXH2lfjv2NkS/yAmNQ
NPwVy525uVono04tKKVy+wlBQToylF+dN+ZPRjYbX7TEmJSNOqnEZy6uQdqmqSMb33k0z+9FMSv7
oRFeEfSjWVNhXyVK/doR2qPdL87ei0pZbnUtH+5yDHAMLGW09klP7PqhbpZib0W2wIM9kwRnRhfX
5Squv6IqoxyKhQqD66ySYsxPtFXe9zlcE6D0q6QzfZXj1i16RlYrs6g7NyclCtGM6W8W025PjPK+
Z0VWBE4PrQQoihizHfWscjHPQ6w26vms1NpwRuhu33lp9a0BurCBIqdtZny8dnrtGXuwfvnFSCVu
a5TWKZeMd01kuOKghwx6aCDX6KO9bSOlpVsRGedAdJsks/0hnSgalko9fsHeyTkx7fc9KwRu6SWD
7oRu7R63kackx3oJ9b3zmnLeWUca9zDyhGxm2+Lk15Z9ONECWnv6bxtArCaLCWZuFfY8xstqPfuL
dLY/dzMvap+11rR/IJgH/K2s844yZK95VVgIc6YwPKTWeOZxcvy4Qi7x7PPf8m5j0c9Co2/Fo62+
l8cwpV6OgyPTyDrXB7NmmKk9qzAA/LvIA5A2qkpFWF1V7GErvl1OrRFWNVvawhduhzOvzPIvXklb
6vO5vGvTraNgOk5bDaw/UhxvRxndXBqpiJbzSNratUPat5O2MTzYwIlIt+J+a0SWONEb/GCnwkQE
sItIKbo5x8IXALssiJvOct4Kj0YZLxrNIwQ/gI6cslX6YK1WHBa21iBFVuzS2/llQmkao3eX80kv
ll9aV+NX45rtiR3x0VdE7BWBN47eiit7O4obUSxrFnU5t83MuIFTadd+jrHAtu+aalsYpJJqDDvn
87V7haO+ORNMaFUQAc+3OoUfY6WsRM6N0mBLQccqQUgxmokw7S7TX6jGjmRQiGD0aztrerCMcX5E
Czu117QIU4uibY2JlsS4htFqZn7Rm1ihmCtVepStttKuPv+1H3wjADSAMVCEJF04RklMrtOo3jSC
Bx+peJkSTdmqy8NmUboQZzwAnDUQ2M/HfHdL0eReVdHAjrL86jHxQ+QwASu6wucJHbZWF1lYGCl9
uST9hi3ZieX4aIIESpDwkW0ARXy01aQrR0HEpZ6XxozAXRUPKLJJRXSb0UnU+xLm3WGZhfbj8zl+
cJgA8SNfCQsaGYBjVGdiehNsYofKXZdnl5EFeqIsyA4q6ySB/YOhALqgOIdwzwptXL/AH0AF7AAB
bUp9Oje9stlIb4AXbcQOfnFlmZ3Agnw0FmfWwfIJgB46mG/HcpPZcCH6LudeZ9ZPujXTSDUoJvl5
PnsncL4fbBMEgNH5AeCP0NKxUjsxfGK2Vs8lWNl2TKKdo5/rFtlFzHK6BHGU8T5ftA+uJSjU6DLy
oK3SskfXbsszPanrDZhFlcRSL1cptRTG/eejfHRBIJcFlFLn5gNfcoQOHZQKmLnGxDKEFp8Xdu8N
LCla7V1S6Y+KPahXhYAmDCK2vPN4TC9p7to/pgIUIu0tMX2JIjFtehEBpqBkGJ/Rd55PrPRH32K1
XCCgeIW/HP3IVpRV3ZjKcm4CTAvbpa3Cru9OWcJ9NMoqrMtHWGGyx7rgYzx709B48zlGYfpZIeiS
SA3jyM+/+Ee7Fs9cLh2mgyjcEZ8tKbQuGqJmOZ+dRdnphTluZzoypP2AS16H+lvK/P93svv/v/l8
vKpY/o//MMz4QHv/X//tX/7Xq/b+/34V4f+f//Yv/3oswr9Krvwlwu/o/1glZwDb2gQ6XM3/IcKP
btQ/dMNWV+EjDjII2f8U4Vc09x+cFwgeKwHA5fHgzmir/tUHRNf/4fDKr0B6mAjosnn/vAr/ikEn
iARYimwfRAPE+N9edGDMutiM6+i+qH+OaWirj0l1Qgnn7cv01xDMk19MXZS9+XYIBT2zOTGn6N4Q
6iatv3We2JjeDy0+dMMpNsNRPvTvg60R6ytibsVFvh0sEpSoiMaUe0zU6Odee3IzoQKt+Y4ICnOH
VIdz4pX/aHqI6/K+owOyMsDejqimlIXNylTu+9/V9+rB3PPunhzk7Rvx79Pi7nMJXiBPEMi8HcSq
09Fdk7Z7HF39AVGFIl4lSdPtQn/p80vkg/mAe9fZFNBP3tNOUKg01jZVdN+pZaCYD3X+zabiqXut
b4u/Jwj3Oi+Un+BWrekV6OCj29dppqquZCf2iUvNu7kBgHPirXt7J5Ig0sPnDYexhO4NZ+lo943U
PcopmeN9HalfXP1aja1Q6cfN5x9t/Z3/FQu/H+UoNjElCvlzvMT7aNhEim8bj9GNvR3cBoWJExN6
+5T8+1BoWaHYx8n1WKG3W0Fr4z6CdZfs2xpcSJZtpaVnJ8Y4err/GoQ6DrU3iguvPkR/xlrQuSj1
1UWyb17cLJwnBF22TXk+/azO9Z+J9CkdJZS9H0eavXR0ve3nn/N4u6+LRtTFNGnTk+ke3Up6bZQA
e6pkP+QPsyn3yVjtKg0JY5TSPx/pSGjzr5n+MdTRhdF2InW0USZ7uj9L4jv36ra4kVuMD6+Kv6Xc
9n6oo5VrMcpxCsFQmj2cN8kSQML4m4eXD4dvJzRiAi+dI6W/3RyqTXHdox2/99TYd2fr0hLJJsU4
stO0XVKeuvveH651faBAcNGumhZHAUfbWga1aD3ew81BgoLLle7OKc+Ajwbh3EJU5jXkjj3KbPpk
gUHTcEdUSfZb0XeLlT4IHOY+3wjvj5WzPrcQLUydqsexz3LqUgjUYBjtZWelB8TmsyBxVmmGf2IY
8lAigtVj6/gxVKe5AXxpJXu3wO6Sxj/iKrisfj7IR18Mf9w1tFhLN8cyWi1ogWGwY27Vsdn0+XWS
i9shSc8+H+WDLwZ9G/4/jrRwU9SjN6mQ4CYtegx7LQ9whEJ7ylRO+em80uHeXqzotP4xyNHid7Ko
J89lkPDq5mDsdFS2Hocb4HxBvPt5f7sEc6iGVVhfmJfQc+lFXs7+3T8xTyItymGIphF7vT1TWWNX
SaK0Ym8gAeB3WXWNx+zm/22Mo3ObtLnwIlWyYma+AyO/acYTJdMPV+uPWRhvZzGns9IlXS32Y+eu
7Uggak3z9yiU6w23qupSXaEQvNK1j264sR2q0S16sae+sUtFsCSnUpyPp/FfIxw9tN0E3G6aB0bg
gmvVOEjKEx/qNUR8t+X+mMRxTOL0XjqKSexpF59NW/tsCYV/KALAK7+imhdCPNw+O2djeD37889R
9aN7NzBPFAU+nKcB9QM1bROR3qOb1UrGoWvURex7WPXxkoUoOP39qwiuzn8O8foy/lFPibF4VRK0
qfbejeuKs7ZUTrzir/TPd18SrvlKauf6PmahInripNFocHh/AvQ8K3b1lmL1VXaFG/PB2Tw/Xeyc
kHW07/OrbKvvqm1zhmCl//JPHK4/fsbRrkyAN8Yi08Tetfdlv4axf2XD/62Zy5F9518b/48hjrZl
rmnLWGaO2M9BdBZdzL/abCPtYOn8eOMEgNHCcpNv6rO8D7MS0IJf3cTb9MS1/+GewVPGJgZYI7ej
eS4d3kfTaIl9vGrQgi7+ASwl+vX5x1z/kHdrSp8JCWJqR5T93t4jXd1jUApsdi+qa5rYIMcv5x7E
KRasnw/04Wz+GGh95P7YnhrU97Ea+KTuLAJ63n5xcogPNyiCEggi8BdKF0eX4pSU+WLwMu6vfhYX
+Va71B5BPgw7ZyPDJQBiH5YBHIJNfxmHedD7vX837nDGvNz9E28MAT0cfKw/+TVHk+1LYCPJUqR7
s2qvgUhfr5iez7+ntf4Zb1eObgcW29DG6EUQ5bz9oOCtxJI6WbuPy8H51S7KsIe0grRDhdbZGFjm
OD0N0lp+19OYf5sXq/vRosX0UJtDemUbk34v4gz8oTGDAG5mxShB3Q7RsztJye24VIVJ77WTV32U
qr+nWJufB7tQoazWeXI1qmgsEfFoCEU0LveCnzSrRFautyZ4aB2+ADpX5Z1dWuqVbkf8s9UshheA
U62kn+W1mwGCmc0p8LwWFzNPaCWm7sA0/M5YzPtFFskVuGUbFOXkTgZ+0FZWgfZpHNQDxwHfd9Ho
o0C2LgHj4vWTBc3GjMBzUVeuvs2uShuAOq0DwLyAg+KDrXV/f74I6z3wZg1gFVIKoszJ8YHOcHRE
ixKxGAHRZa9b0fVc36MM+tvLkS9Lrrmo/+4bsoqt0xRCNGV9i4+VhRZa7QkCQiqDqbTN0SNtfn0+
HXONS97MB5V6di37isjcRJ/p7Z5SAY/GRWWKg5sbrM/c5fWTDZrnpULIEsVBBFLvMYhVBt+CXIP/
M1I/F02apL8LkcW3Pap1VEvoGTX0iue8eejjoU0DMZnO16iLyDTRaKpeIlcvbpVpqn93va2+0MDv
v4PNGwFERoOBRJ81tVNQ9G4tNyqMScCpqZXd28iJS19DRHKmqTTFl7GlF3e0cKcHN3ENmCSpFKVv
JQaymkqEkqsP/KC8ipsSYGxeAAI7mwRpMFJ7uTglZfyajL39eFT+0Asy6Em9VvTefjxHkUjXyUEc
FBA9V6pbmz7wRxzJ47wCnAlT6bvttMqFG1UqmJrYuI/L+Dke5bhJPLs6Ec6/6v8e/xy0sdfExHJo
kh2FHE5deb2UVXbI1Kzews6IwymKXOhYar2pOi2+1B1kwFfhrH1T147fz0b1sLJbNMhWfbtppTsg
fx9NF1Fbq8FS5cregwuw9dyspAwHCjaK8i1Mk+rKiPR+i36+ts1na77gRqrCduyXqyF3vBB6EPbk
aWecugPXnOTtHGkzU61D3ogcjyT57ScfUcpsQNOoB6jt6yUAZeb3QKcnAxKp6ZeiUsynokY2ytAa
ZfSrvDPvRmNOh12jduVNTLJ7KN25+dHby3y7ZGXylXdFO7RzbRT+HGv2DExmrG+7ouBVxPlcGEOA
5KZ2mGlz3FkiI45zij67stVGE/4io0gNenhevxB/mr4lTdugBFqW4tdQJXEd2C4wcMhlUuY3ip0N
MhDwU4DeA2L5VUeV96hkqXebtD3QRjUddLAuhZN90wchn2ewJ6MPYFH9Kqlg7kcl7a70rO9Nf7A9
JYzyzDFPFRDf1WDZ0EjJkAlguoPGxXFNeXYQ/omG0Tv0LepQYWenVQtRPKqF3+b9cOhhWIlQok6e
+ig4Q2LtZeuaZ0jP0IaP5qj/euKaerfqHuACfCIJTMDkWEfR2ZKZddQj4XpoeyTzeSissENt8vbz
UY4UbggC8RWgw7waNFBEeJf9qLEmFBDw5SGKgM7Lsbe/RKkCFjlWd1kPLhOR0WIGEBIh4cuD2U03
YxGV0G7nCH3i0bptOYPbz3/VuzDqVR8JWxUbQfo1k36746suTqzCGMtDObrutlkx68uCxPfno7yP
pOhXoCjFTba2vBnp7TBF1mLAo9XVARRfe5nYanTtKrG9Q4j6Oq7nbN9VsvgCptrcYD7NuivC2GBN
BKrLnLLN3HeTj3EaLJZcxzMoUtHoVxUjXIrs3m2Ro+tHZPttO7J2fVsmu0EZ6svOkhKGZ4aOEIo7
G954ESDk+ZcL9X8b3b8LnNa58WJrFJApcxw3nmM3hrDXyuowSjhdre0oQWuqlHYzKzlxCa937Jv7
iaH4eBTT2EV0E47u4G5hm5pyqQ6u3aWXXpTaG6dWPX+C/bIdIAgHxZBnB1SEvaCu5+b882V8t1nW
4T2wOGggUqM6hsbYdl5Fs93VB0JCJZjsKbpWEX4+0RA6khHloDDMqwzIapxCsfIoCqprobY1SMZD
vfRJMCIEIPxs6ZZNJiFHQfrstia1hvu4QNw4irSrxki1YNBMmpo04C+Kfi4gRKFNnaMODGlGOL8F
SllBtkg0xIlfURAuChG4aqxvp7qcws+/07swjpyWjU51DS0ANMiOLhRFKUoF+Jk8eFOPErPVmD4p
fBxYrbXvkAf3daU78dHedRheh4QuuA67ApfeHrDEiMBaWIs8ZIqFY7PQoh2sVGMzakBtIwVYLvcr
iWaGaNbfnyzwQgQ/VsgAj+bbkTvdG/RYLs3By9B8g9GA6jokI6QOAY+GmWr2+8rV6xOjfrAV+baU
22h7MdtjURq1KUy11YzmkLYVquQ4CQfmDLP387m9P9oksiR+HnuSKPZYhEnD5BVQVqod4ilNQ2dK
fiJLwXsEvfxvbxkMVVhDl0eIDMxa5/tHOtvH7VDbiWUc4pKj5XlptOGtX6DfFnaAlKseWooRn9g0
2ror3t4nbFGNPB1gGPpmxxtVj90eQ4pKOaRgnDamYp23KMmDfQUm2Y0X8LgvtaQ/ACXedhFEGOhO
910EVz3KkhOx1/sFJa9d4S3r0VlREG8/QGO0pjDsSTkkHS0l3IR+TxBMT3zldS8ezZc+H3vGAgdH
5fvoK+eGWkCRT+OHxpHexkZy3K+g4IUGZqebAVblifv6fQxPrPPajCevQxP52I/EhdetqFbnHFph
f6+kcRZHKG6kZnI3RXsLFFxLvQdYNKzbTPMTSwd5L08clfeTxiSSA4oeoktB5jiopSBEygmM6WAg
NRyU+rxczIQn1OOr+SytAGd9fmg+DPCQ6FkzPuAHiAa+Xcqi5PnitXQPiBTMWggbXX8qQTHctvoC
CaehmXIPoxt0JT4GFpQtvRqTbSRy86Xj3T9VyHzfw2MRVnFldMxYBsLPt79naIFyT1PqYRY/d1tk
PtqNJN4yfEV6ylXfrKQ5GSmXIO+WK4CHlY/vmff4+Vd5v7/pl/JmA79jIRBIevsjCplPAzwl72BP
EPXUVbx9ybXfnw9ivUu4sf1D/nQtv9EBJkJ4O8rcQE4VkVk8iKgeqBsMBbsb5c4dWHcN0hEk7nN1
TjTzrEOZbESR20EeBqZyRS9VpLbfFO7wU609eOlmkkxx6Jqjh4ICGsekuW59o+aVtSVnz74tBaQw
3+pratyJZmEuENuRe0uKWD7WSYNdB72RxgtHfWrD2Zqy25TU6EZfykYNu3zuScMVQNo6xiOYO2SR
8pVEXi+DVLTekzAVA2F8zYGdVll2XYToHyj3ZrPoD5W3FNSYvBIRiDaJSn4ZXm4xvh0p9l1tKozZ
rzPPQzJCplPATaDYMNuq+1yV6svnn/yD3Y7sLErZusGW56MfffLEGOx2kF39EINn3UpPrQNvMZTc
B+wF9TWFmWBFebVz0vTCGnBMjdM6e5BRd6qt936HuRSB2OH0KYGQHfs6VbIuHIRV0wfVyePL2Y5r
HxRHc+pKe5cj0zYk/0dPDLAO63F0uuEtqBhNRunDGOMfLIXqImdhw6iHi0KVMMp2kSvaDXKdyb3W
j47PRmvDzz/6+ysNj0adEjbQJChax5DmKsptc6ls8aB6jXdFM3t6GKdGvS4q74BbStOciAM+GI+a
uQcKiueSTHF9R/94nWtM2rNqmcRDkWlKqMAn3C36+h5a6rS14uRUN+49wIJoYAXvE27TDaZV/3ZA
Cg3K1ArWcqoKBLfabgj61ow3yKHZGP9ISal0XDk5lY0hipdvMd4wQiUadN90K/ykHJwtxqlrz5M4
Rj2H1OVEH+x9wLn+Ql4T8jmyx+NPUprA8anPpQ+uxhJYjQeciuGR/51w6s2WCdXDXj6U4mRZ/oN9
TpcVTsCasoOcO96A0pIoQLnpA4WzZDcS6m6pb55q+H/wdLsOSLFXPXmiv+PulI19ozm4NmACvMvO
bDiCW7qkM+xMOz2Le2FsIREbkJLtBm+jPruw4tQJS1SHwxHkxokdvy7428iFrAugtEX5H8zNsf2y
1GDMKwCZH0Th3UzZ/Nt2q4MdxU+Rk1631fDz8wP2PvAlGkXrDld2StrvmvcuL6Ujqip7GBervrSV
2LpX3OUbhVTtxMTep7TAH0mgUYgBvkbI8Hand/+HvfPIkSTL1vNWiDe3gmkxeBMTrj1chI6JISKF
aa1t2vvghAAHfJw9gOR+GgS4DH4e3Q1meBQz0EMCrAY6qzKjytzM7d57zn9+EfhaljVyfq/N1ksS
iO3RGoz0Jh7UyamlZvAkn5jirJUaNzIj/Yuq80/uk74FRMK8WOHiFPPx6mZnFlHCpPPemA1xk9UA
kaWoV56RaV9xD/Ez/fQd4meHhd4FcoEvcG3SrpdygbuTX9+XLFG0tH1EAo5ZqbaCP27mlepFu17k
yvAya5MiLn0BYNSu8BV4zYs07vBYS9NsOUS9nLnlXCKAlctCu5XMKjjijzYHnk64/ELRC0yR5Wio
7wZZKLxe7ELFw9ckvdEjvglXrnXxVeoH9WdMPM2ql8pa3ehBF76OSNKI8BINOmsjo1yyc6PLLw6m
VARuQIzzs1V0ZKcaA9y/gd78zZQ7lWFIh5nT2E3qWx4kVkROlBl7ma7UtdOmxrBDVIpRDIXGdPZD
fs7uARrOVh4rdynNTmdbGKfeN4E42Tl1jYv7cedvxDJHdqFxazgLqBrWcoqGTtLBH8a4bVA077Fo
08wFMlZ442Mn+8peJzlcsDWAkBUxY6poXwYd4GeUeMSyd/ImAG+9KyrB/0kbngxMEzrRsCkueiw0
OmZOs5akXlfgBAB/zkDJDgmc3xGhzKCSRRIY2GI3h+IykcqhdIKiDXE9mwYKmrmdQspccpKWFn7/
2JJFDCliKZnmQx0kwnNltmLrYOHXdxCIKrwHGDRNpjsUscy8R1MqDcVrEyJdr1JVdAHCEk/P/fJx
Rqkoe1NPm+uMfG/6UagKpjYlImQZW3OxI+EFSV9Okk+o+24S6hif+X2dP7JTt4XbyWNq2GYvCa1X
gIjhrjFU09bPA+stAlZ+83s1209TEBJnZNWF7mlCcJFvD9lMWFcu+5HbqVq0RhclQDPN1OieM0LO
7D5F3WdbRq/cWBSXuW3ggYJClNCz53Tu4kVbgJmL49h4bAHaJqiF6G62pNYJtGh0CT7TAmcM/Xly
5WG8YfGJ5UFvkhrrBuYRGOwVBoqYGWuas8VI75b0+bh1sYMKNuGcI8RWzOk1BsjVHRnbHHMVI5gQ
7UYwcJYIuklaNFKe/TC1DDuAEZT/rrZ8i6/RDMJTy8J77hLfeC47szpiw5j+6Lo03dWqji9rGKjF
dhQr2XIFvQneqrYJHhlZCrprlrl4nCE1F3bTRPcqnitLKa0KhEMKVD7n4ur1YBRqt630KVxizhVi
jijj5wxCIpKYVzXl9FBMYAo8omTWnRqtR2IHCPZw5cCUzx6pax7jBieBIpHFl6qprZqzP6rPFS5Q
jV2T8h3Ys99re6uNahyazBkrP1UXci9uVa+e2uR+ktX+ppQiQqJx2m/LQyTNUowjSoHYadSH6CUn
T+eAhVrwlqMHZu0LOmLQFIUaX7R16HNTf/KZhqOq1vAydA1hHl+YooIczCbWP4MekHxSp6luAahJ
BaZjQtLrdjAW0/fKtNptP8byyiQjbYnoN3SShjypoY/EXTKI+vewNvMc2minPIrKPBz4OnjzCAC2
NG8U+gYHp6BQHiL+rMG0p7BMJ0r17g4jCou+bpilwWlaa8bDKpEOnWml3wPZKgTsBMvy1gpS445Y
w/nN0EaVuR+KFKfF1npJUEXgBaqSAxRX5fyz1whhy4SbPrbWlphNq0T1m+860xNXzRJmkbABHgM1
wS6IF1sukAybyl4I6Gzgj/vVJkuwvKG9i2rGjqY0FXiG9HhnyuYk/pT7yj9SrQ23gS9MF/OLaWPl
VOvkjPk65SQoIWAWyrkfsWlhahhU2EfzyNn1y0IecUuBscNXhq2Xinq0qkQybjRsHFUSFhP2uAhX
T/bJ+JSbSbQTh7iQXL47gkcjs1Ufa0nzpy9ApM+EKBoOQFoqcgilNEBXtaqqot+xOqm+l+XSx81n
0k9Dq75mllLfaFaFY2hd4DCCP+0yVobWrTOspQbiEj3OQ74H3WiZ8LTKTh16tu90Sldlg4MqPHb5
BjlGv8RfTlrixCF7gzqbpIgE5Rn0ItiooKxf1COfK4ILYoEn8yUOFd3aFcQes8uOk6XV9z2ZKiji
C+viq9k5XaZ/ZX1+KW0+1nS/XupTkWVhAAhn0KjvJ8zkPCUaNBeXJuuL3uVPbgjpFIx9xI0AEO9j
qV96l1FUwykXtfzeF8rXgdzGQ2CalaNgLPTz90Xjn9wPBBVY9Ey6IMpeD0JKaNldEOmYfrSjYY+A
nLaWqOkXDeifXIUK6lKQU0yBfF7125Efm5WO+O4+HNli29Tn7Nalr2j0n9sb8ocogC0g7XedzcfC
sI1bQarweb3HaSDbBI2G8aeJnRsbkm/HKdZq3dBPqy7Qvuo135HOq9fiYvlPC089KqnXxLt61JUk
mNLuPgEyih2fYnIVqnlAWKusDa5YGGbG2ANBpT1OE4UacXjTJWI+K/GIbZpDg2R2L6uxnNqDBowr
Jsb8SgXXIPxqjH6BC2Og2swt6mKZZlp7wHmIxEIeSAdZZqij+zRo88mRZbqqRjJYBwyU0nAZmqMu
sGs3GP7IIxMaAvmk4NTpqd5/AVpef8s6um8NAgwIBTvYJ0XcJAoEHCh99ZBwUlyShSOnbKGB/P6N
fW/ifn3WXIGXFZEjkRHkOVy/snPRau0k+/1DYb+4OKPbs41zo1PaP0Mvd76kdFyvxevLXb27ul5G
Pn4L/QPuSbbsUKo5kSd47OVcK/Y2oh0tfn+Hlwbm+gYZK1xi2FiXvFYf32MKAdg9ajA86KRBYXUF
V66M39Kk+yE0xRfA7+fvDBjgl2vJH6/lx1bayKrQP/TZTtVw5rv7/b28MwN+dzNXMIwsDaCII49v
S8SqjUOK23m9u35TndQ2bck5h86So8UlRtJOXNH+QqBxDQnQvYkMnNDBXZ6n+IkxhRSkwAxHGe+T
Khclx0+KCZhvMolvLBO52UhJCaWszONW9JIikrFmSyYjhNwkpqpHz6AdUhGLUO/3z+U9E+2X5/L+
udjfqYUZlxqfmJ1iHYW+UFTTvY9Bz1OHjamdEL3uERw3r7uKBIq8UPyzUUQKsySLlLACZ+9AaAYc
a0t90Vl1faiq/jRITbojSLl1p0oM3EhNkvPvP+vVO/L+URUSZ5hzXbwjpKtiYaa/pKrTx3trNgS3
m1Dyz7gwub+/ytVbz1JGCc4hTlOP2g8r+Y9vYqP2Cq6pnXE/UWuTI0FgRFI2nZMAu618fSj/to/8
f7nrvwCu/vLo/0Tu+l//+pf//C5x/S9//cu//89//28oW/M2aqf193/927/8N6Grpv1hUiNeAKVL
jcCx9g+hK38iS6iS2YDxQCB9gy8TU62/iVnFP1hspM1xDLNPkezzi9BV+gMCBAkaJMGTa6Fj4v8P
Ve7xb4ujufrn/5B32ZFI37b5139RLi/eL2tIfteokLiDfwArCe37x1dGhm+DrYhfu7mRhMINDhUE
ceJH3whuP8KeWSiTgMuXmmUxo+YeXz7blydh2Eq1ipXLSDNaeYpvxfNS6AtaIn/OOXGlEdNeh/lA
nG4MCb8bzARDET4AFskYpuG+btCvi3oJnTWUj3ltCDnWqOSt2CqR4w1WcgYR1IwRoBtXnXJuk7is
XbUm2s5pUqvR3WjomhVbvNIRsFs+0asU3wIhMt4wCi6+v3+7/9SL/v+cYvtSw/9Osf0f3+Xa//2v
f/lPf/3Lv/2vf/sfn95i/v1/yLWlPy7SSrIjKEs4AthYhh9Ny6uui38wW2XeiSiR2ctFyP33t1hS
/3iv4y4JgSp70WUo93e1tvrHhXwLjYHsFEhxVDz/zDt8tetxuAM1INnmnOdaGC59fIUHKUuzAVjh
XI8iluDwLmfRvO0HXbHx6TO/qMOvKuT3q0GJp65Ae8co/fJpfukr9DgYxlQos7OBM8IiO8lzcMA9
Crp4uy+UEF9b1YhWv3wzf1+1v67SP7kmq1On6qc3YwRw+fNfrsnSC+UuG5NzPxkH5qjFamzHZdlg
jdoXxjKSk21kfUVw+ZPHilaOuTGH12UacPVYe+zgu0JK07M8a/Oqby8NqPXYCuY2jQgo/v0d0sVw
D79sRLAw0EdxeDG94Lkitf54j5zvuRmnon62Dlq/MIEDmeAm38XRhqJsN/H3SNdIa3vqAvj5h7i7
MduDkq/w8a19jHxcuXVm6dWa7dhnI/luBt/N4n6sAAGPYk92zU9FXYPNdq3bhos0vlObgx5uU9Op
NC/qHSN06mxpNs9zSygcM0QSdeW7rl6TJ6Hu4lOBAkf5PhV3an8b5jdpeJiNZ10g03FpmktfO5Pi
XMonUT0DTECrxmUGeHIoT/imL5PQ7YxVtBzlFXG5rmAajnI2/bWyNDZKGdghzjTGwXqYX/XQpTOB
7reJntXH5A0CUSIcZ+1bKmT7SC+ZSNtVcRxI3lYB9sTnybzVzFecr4h77yB5neTqrSJBtgGZLOUf
vf9CijMwKXDgolHWPUZCMY2NUj3584mY+4a8kAFMDBQVd1FHmJ6MmL5HeRSiLcHPeM0RJIr7nrQV
y00JceOYRw5VFBa2RRA4gbXgXbjYNSZb1XeN4Rl/W11dBgLgJS6SX7RH15yG97fEQvoMc+eiqbvm
bRLdUQfZYOnnIcpwldUJflThiboT7T4vgq8uzCZSdjlBz0S4VHdFixfi71/VT+uCxcDgBsbZxU8I
jtTHFxVf9zZJJl09t+ZrC4bptENDymcJ7Z6W66sB2J9djYEf25pFIyO9U5l+WfqaIGM3PtdowTrr
3g9LtNh6Vzq4qe3GGq/v39/bp42GaRTuPhddMeueeM2P9+YPRi90ypjejbKCmzYup2pr3Bulv26H
bKtb0f1U51+lLr8Xvx+WPlelckUwS02jw6j7eNXJD3JRTYzkrp6059ZYhVlv3pPHSltoJpUnxc1s
1xTPXpPgY2+YvMtleBdl/UkfgPiazlSYlCWFNwKL6WN8/v1DMS791YfPd2HRwF3mjcPtjkbo4+eL
ZE3IEjmwbvNyb3RLvm0DN09zhXkt5Qn1jCqupmQlLca1OHil7/YGxlme8IP5ywTppWPqY6u37SoW
nHiR7euttKnW2sZYvpsHuyERAXu94x4dfpApPv+eNLgVJs+ODtaa2sJGX9Apq0h9bOG7sGs2xUrD
YfmmeQtuw428rV/STbAIl75XebLh5MLFbAPA2j9rz79/Gtc4jQi/iacB6EnCJQPi6wMwKEVTIw7B
ujXvh8lRvgUYYcp2wRKo7VB1/J/GtrhPERcdU9IdbJKEfNEt8Xdn5lPY9QMpC0LlVLflftjGP4o3
7sMocUb8W2/yf6UnvwcOfv7W/s/nvGq56kAchrkPrdt4Xe5USEGYRq3rRbEtVsIqZxslPMZWnpKb
eeGf+ifpkO+mTefBGPVvEnnph46/D9fWKiCa5KyslQJP00VUrKzOY9IhVKQQu2WIxfkuVqmY79uQ
8Bt7AM5mdIfIR3N70048sjaMlbH118NROo3nSbBbfDozftAdNdIX3KpbkiekzAd13M7aovH3VnGc
/FexeG7bMwi9QszwU3rj28VCXZXL+FTuiwPmFsVtvY+XX8lT3yX9188NBzsQDWxOLr31x7c9kWQr
88PevI0exI10kNbzId41N9kNPswr4VF9aOzs1FW8rZAAmHTYWmvPjdNbC8IxyG4aXrLRI4gLu/tm
XNfDsSbKXHBylPANgLed1svO9PBfmrVlWHmQZU2GkZ07xUuTLJfS7jD5Vz2iY5pdvNUSN3/h3DFM
Twg3WNLCFUxfqlthg+vkY/yiP0r7/iZbCEcOHoWZ4wnmE0rSgc3jthNJEMLCYh1qLuuhIqRGdYVi
IcTLYXat3ksTT8S8NrTjL9LC3xmOn58iVQtwL0FT13GYU0yNk1Hz3Pp7fx89dBtlHd77TummO8ZA
4ugJol0UWOs6eu7gTJft9TWZb9t8Gy3xlj4V69GTF+pCxJj1kXl0ui9Wv1/ICGWu9jUNkPeStULp
jl8oTokfv2n8ecZq9qvplJrkCiwJNI8trGYXOusxwEVcGbcErpKrhCRhHQSbMlqnxknvT3G+Fq2N
Pmyb8lm17s120zSeEey1yYEGMvkXkXv1rTQXAa5mxab9OR1C3xVqWznlBFIzvcGD+HsClvUaHMuf
ss7Y+T6Ynsz6ICHy5+SpyTawCTUC4DU7T8PXHtmRtKgLN5JvZ0RRZAcNmyK+UTKvJm0kWqbhIgpW
rYGdLQ9YYtlZyiEtNr14b2SSM8U3c7Ivq2UYXzZZqj9gLXvOb1og1g5xFVQMnTkuvL2KAIkffPiq
XRpYMyG0sLu3RsJ49zbptrG8KJJTLyz16W2iVtTzVU76RadDWTAUwGrqENLNUpVb5MOoWMqbNZUg
iDYW+eyRiubwiubhRZc0r1ozsDWXAStiR8mujV02no3w2Hf7xoywynmIjDs5H5GQ8rS+IvtcFxca
NhgU+Cx1KF60UFdL3c/kRp+Z6J+JG6jtYYzXPoE1XuXLaEcq44uT49PVNJlsQxw/6QZNhgxXxYWY
xaoO7aQ+M4j53tSUbkqSxLZYARXiv//FfO5ad4TEk1YVKihoG0ALaO/Ht7uNRL0Btw1uYz2r7E6q
MCzI82+YIl3q/E0Yq6ITGeu875VdUFVuMlzmiUG9skrEmACHX9SNf/KB4CjCHeNDwfdBcvzxAwlD
rEZiOIpnyfQfa/K4cPef7dDQd4HSpQzc/WWrcKgK2clKhJuoMk6aXmR0I+LJmL4cKF3XelR4HOTg
UlRdSG+tS9XzS2XJ3jQGGbHhZ78eluoML0MdWluvqoU1w/abs8K3ecT/pLaArwV/YoNjGTI0/lPX
GOUYKa1hQjI5d1HZeOQgi0hYgsYZscz5oqn8fIcYg8HzR6FxaZqvDV+EIFXDgByqc1u1gk1eD/M5
AlHmkIjA5EVR8F1NJHXxxbaqX7bNX7d+jIZYV/yP++Sy1+T3scaoCSWofE6STWE6JK6F6neCchxE
XzM5VvGqs26M4DXPelvB8DyGXqCIN6a41/CALYtnrbpT27NfPkCzGMdtPt5O5cPUQMHgLRlvw3Q3
tG+RvlXbHdVykm+TGXeUVV7tp3lVCjZRX7ES0sQ1dkT80lNmkCnVOyS/VauE4b1KdLdkHubai+ZV
DTOkPBkRq/6Yd3tCvzLxGc8VzmDhpppX6rRPhJ8FPccsaw5+rchqFgZHr/qkB+fOAl5/qAw6oZXB
BzEPQrCQlW9p8aBNXjHekOY+kCOWO71xSsW1pW3rzJXyn5YRUw/sdFw2iCS50JzTpUgCUw/9YkIH
51nCI1xHeb6RwzMdtqG7PvcEkp8IG1n94XdLrX+ViptcOUXVXUp7q7ebWFqGQ+n2E/mBVM0ctDWc
jV3Udm6ZmV5t+q6i7adi0X0Lsf4181cJ5/dQe2lCMkcCu9SXCIWAH4vmlE80O6uaIDFtXZqerK7p
n5ET9N1dyI9GCbQV5baZnNF86KyFpHiysgKjiHwa58te3ZSeEm8H7QsG6qdTm7IMZuwF+r2o0t4N
DX5Zt0izYSDj1XwOI8IvhUnP0LyZMNYKhSwqTaidSEKG/Pu3+lM1rWnQvem5L2MzLntdK4REGnSk
HCrnWf+e93ZWE707e2KFn1axTaqfjXAjkl04cpgGJ6XdBMrGz5eSv1erhzZbsKE047NgLlJjn417
ObuJZJJttBMj+Uo7TdKLH5B+YJfgCRSN9WZIPeTHNXyg+NioMclRPNlpUxWL3nL7jWzsMAxR7qnq
5qPvO7p1svrOu7iuKa4WLHplIfuuiCTR3Mx9Dn1tk4ubsfkR5AtV89rUQz6vL0WenbixTn2yv5kV
ux4OuBDj8G1raW1XUWZL3W5WTyWEf6N+MJQNiSpRfUiVhYGiLvpi0AZd4NPWgVhFQsxAM4xo9lot
YTZVSXiPgqeEskmiS0fV79K1dvS91Bl+9r1d7GeUJE+q4UoXTbCN5wTEE3JlT+K8uThCLOCfQIPe
l+EuVd8u/xDEEVlmD76OSJKYAnsuXZmAvothxEK4nW6KmRSkfZjvDwVYW+KIHdp/VV3Db7GV6cfY
t16iPMEYtY2CX3bFuM6kcqH0cBdfrOh1ivcWmA8BJMUS25ww8uRxJbyVR6nZM+tCIB/0cNYe/Om+
73rHDIibnV4D9aSU+B80e5XJgX4oFVuhDhAlAnTQB5X1YZpezW5nFSIN01mIOvroXe8WleO3Z1EA
syscodvkpmxX5F2RrTu7tU5iMCaQd41WeH73BvXLjYWLZcadaE2XRzbRD3bJSuQYqPHTKOyYHh4v
jsCpktHWDXd6kHadvEeyJA+2LhIAc65fBzeQjgNykLmzTWEPCx+K0gGvCj8e3KhfavV3hb0t3Mvd
uIogrfuDtsvrY6M9SIG/StCIyOWhar1XLQkdrXsrRm3XtdE6VPgPjiQtjW+x5GbGD1EPbcy94MmF
C6lY5jWj+WphtN+kyDEyn319oRjFpRXy6+U0y55es2cmE/mTd1m58af1mLhlB67XdccAPUimv5Xp
d025k+26JylwqSXLjtTXdBVPbmByFlDmL4ibu+fLXOYvD/KbUC7CeZn5C1F047Nw34mu9J2kIJPm
pVoog2cVjpV49bhPkKVGdn9qb8aZFnjRs8pdDpp0Ga6neOEbywKjExLAq2QzpW553yZbYNVFmtqz
N6ocPFhVr0V3V6ZLrFYCB8OJoNlHnRfimb4iCNtjfwifYaAVL8HWWhBo9yocq9BGctmfMUFeD3BR
7ObQgaXqawPc5Ry+BLk9kleyqm6jmE83qZxlTrQut/EjXhK+M51q1VUf8y96vmv1AlsxTHX4G5go
GDD0r1VIBbV8RuSgfI7Renk9wbrkPvUODWJoMwKERipZXizmMgsUXCvA9sgqrG2qA+xElX4TqtI9
3M1dIyZfnBmXWvdDSQJ+CJEeDwsJZQURCR9rPYsI2Ejwu/Ech2kH+1QuMFzqo39yNAJKyU1fxL+o
ZHTszz9eRWkjvzLjSTzHEVVFqXUPYigeVbGnyZ9fW3E+DrH1xZ7JBP3zvUFNYNqNzl5h77z8+S/n
IQo/QSY2UDpnRDTNDgFpmQhxyIlmdoIFlvbg3/je6NIql29iYRnyns4PKXssKHy5xmEict/Yfki9
BbLo0q0hnQOCTEfh2UBIP/Y3kcaesZ3CH51+nIcfUvZkNFsxfeu7YxUfi/gh73/O5sIkuTF2pNox
ZizmbSYNSex2mkPNKYHC20a14B2IwwUco5oAy9ErqKTiTVSvc8Md4W90DrmlrJgBC3e8WUI3TDcm
sPJCc9QVPhy33YpC5NR4NJMOeKELdLVEn+FUXr9ovODGPPkvxU//PvlZPhWe5hZb5ij8HFOjReXp
Xv+cPGZv0nO1ldbyy3QS+FU7Dj7uGUi1GaPYQwEn282D1SwtkvncC6spXyvGjqy7fGkqqzJ765Nv
U7Yf5a3YL4R+L8aHdlgLTU6KKydNueq127jaicUTPlHVjgUONz+qYIlsLUCcYJ1Gq1xZWMlyHC82
qTl85N7h//uzeFc9J1haPZNiaEBIAu+U2NnYAm043cZz9Pb7qoZG9/PLg4gNAfcFAfncjUytSQeZ
dvM5lFylWo36Ko53qrqQxoVveRSV/L6qE6C1ZgRno3HjxVZfrMqtVa8v73LjrStgze7MeU/eCSij
CmOTJLnQC4lcjGySy8HLMSxpzumz8FRmTnED+ckBDGUT1G9b3xskN848+eDfTk86+U7TApsb7aQ+
9Q/STxLbH7DEVE7BrlzxgTbVPlwk/Aesl3RwSdosdv6hWxgen3GdP5Sv2kO/LBboJwTNSW7Z7n/C
1DN44WpbYmYuuR06Bz7gKjwYKyLbxde8cY2Vvi5ru5budPx5y034khdOqtqp16zbnyCBHJykXj5r
e3g+2l7Za57lCF62TJa62yyC3cXKDS7XovboYITXGICGBUVC1AtYi3jr7/w7cQDvAPXBp2gdLGMw
nhiTCrvaF5vhRln1K/17w27tFQv5TX6MtxPppqcc6POuQkDxxJrKSy8mDzrxhmmjgaFK3pyviH8W
+u+lcZr69aTchuW81MadFS7ixuHP4AtfDgWo+WfxOX/EX+a5GyDr2sE+u69IYaoAnzGT8Grf1YWV
XixGyUFd0CCcTJyqcAYuN6ysZtsLW7PfFwPZlNlTM20GMEz29zds0ZYXJ9kZ1N6D5o24pT8lrSPd
D9+1H/0e5xls7TFwHkw7Y0aZeCBIAs45ukNys98vShKutKXc3iQpbkcLQ3X54SJBLGGHP0LVhhCu
x0gfXBNTz27haxvfcut4S0KdJi18ZS1JC7PYhMPpYjYarPTupxpRT90qjIj7VVQtG3Vf+I7SHAZa
k9hrW5ff7NBElMsCX/+BrQ7xh5P4pLe6DBGJpLUY3zGJ/KKL+AyBYDp9mfSg0sUA6JNniKqhszX8
bD5nndHZxsAKJ8sAvnHPvCNMjE2bnKV6p8vdMS88dAuyK/CXk4kaEK+SfHFif0Kk+DgcGwrmETLz
tetRXq1gtD10oXSWnqzcmjxRK5mwFow1RvOLc4pR36etBs7lxUDKAnMBGrgC28TUV3qUM/OZIMpV
teluxt3wIHvkrXnDkaVBmuEsEYOy6ca7MnFq2ZOAiO/lo4pJkm0eQcnjnpRMJwYxF+hH6IQXaKqb
3JGjpRna5rf5fhJtR3vNMkfRbL11EL6k2MCai4Z3+ygbXtYe0sYZepRelwOqi72xcGvastYWj/HP
y0I/TM9dv1Liu0C9mXpPYXs+TsdyKz/Xq2Cd7Vpv3gTLaGmdk6XgtdvpqLrJEmz1kZ87sL0/5K/D
rryRFwP7knKjKnYV3xi8kr5LfrI22369maJlS0BbexyTfabyOVz1OJIVHDpqddkOffLWe08wThJH
Dppsg+/GGY7C/WVv3IvHS2j9S0EZfi8ema+JT8pPgT0y3YIT4wPvP8+zyxyGhog9Rj8qZ93VXdJi
baLod9S3C9XmvIUxOf+s4TJatnCfv2GVUjYOnxf9H+uOMIofPOjLVrOaN/pTeG7wH7vDhaZgIFee
SHYMf/TQZQPb+m4dB8FRJQd7LH6/eevZtBglYXog21jge/m+OkRPwCYb86bbWCv9HP8g9nI7bOpd
eqd9mzbyPnmzFIBj2zgCCvOrMG5Qe2JrYrkq+dlMjqStplyW6qzvCHZr/K3Z3JB1KiySYpP2q2nc
jf2pa4+Rug/URVQvEHBgF1RKi8hk02F7cFNhaTVL7KiFbjUTgxcuBsMBxVAx1XoBsNYbNm43axwt
5m2xk0eL9F42Bezbvak9lt0eXvbULeTpLKv7pHFClLncd74Tun3aHoTWdxJUOdFDGeB4Zhtf4Lp/
smaZVEBCghpnIB64cm4yO2xL/LGdz/g1lQdBifJtnxHS6Pej6uFSPf3TewRqBXS3BtjHJU3uqqiN
Cx2LskFIzj6AstNGJjtmXW0KMfk+mejrf1+RSJ8QAMAdag6IthBF2Seudgkrhv3dhWZCTLlfuvOU
vWly3h2VixBsar+JEhvmRJcUtoVnQXwgihQzzjznSNU5rtpMBntqGNVPwrLto9Apra5dWEHz7fcf
9Ppr4MmDBl3QdajkKrrOj1V3hXgwbuMsOpczEW+kWfCa6qTY0uw48yB3699f7prrCyMe8uxF/XDh
c0ONvKryk9LK5hK7wbMZzcM2raYdoffmImlCBLLR/K3S6ahIQ4+8yZwZtISmsQAaxkSBnNJtX9Mz
cj+1LZC4usLkrQPWK41dGSVfnHHvXuW/9lpoF+BPXDKSoEvDo7h6MsioKh8J33wrv3RcTyJ0zE7v
hIO61G79pbnJvOLEvDS8DTbFD+WRrZ6haPSCtgANJvVKHS30+KgSUUYBRto9BIjuJgNwiRZChE+K
S0mioTIE+pEizv/bTr1R+5V1zuJtIG1RrWrVliqvSsmxtPOJgRNWg04/e5pJhni6ltpFV1NELBh9
Ik4VVLfK9rkMeHsS/PNAuR97UeVdIuiZeW/5W0Wwo7fCm05VxpDL7mEeNDZIRq8AkTjkSGJOaXIe
PbbsfnCsDCeKnRBhHEWg5pTDF4/4nfRy/YjhezPW4S/Q9qs9AN2LAfyairdzWe9gvyauYoyak5Io
ZpfCKNus2tc+5/wsE6qrTDyokv8ztpJizVDk+PtX83rF4tWFcSxJNbzauonk/uNKoBUOdZZsfivL
EV42QXpQ1aFf+tE3Se6oWu+nvljFw2h9sVVc48Dv18Xwi81JteDlX+0UuVJmlt7gd9BbwqKVIHWV
Yzzbke7bGYI4wCy9+WKg8mnRc6s48VK5gSTAGb6CEQRVajGfqrLbGItbrza2E4koNHlU88QSL37/
XP/kYpeFpLKC8N/kbj8+VzLHtajUNJ5rXD1FYU6BrZg/Cqm7n9Loq8r0ujjjP/+ub4CjfUmJuGZY
KpWCvlkJhlt/ToDc8oZaW2Zk8/tbej8sPr64SOvA0RkNoXIiUOHjPcWqMjYSMq5bcw/oBvRqj3fE
uw66jehayCj6HJOmN1qZ6ZHMzkD0NOodCK35fReti3wbh2fBOvxv9s5kR24sbc9XxAbHQxLwKsiY
MiLnQSltCEml5Dyfw2nZ/8bX4ZXhO/D19I34oartvzJTVqKWBoyuLqBKlckI8vAM3/e+z9tMp8bZ
ZtG+hmzkFDuiyVdrvNwScj62V1b30PRhQThbv5+00LfJeg5lunOiE4nPLgdF/xTb2xmb7HLwo63v
0KIOCbPmtGVsJrZKMhDYIB7KB+PJnQJd4NILmiv2Xvx58ZQPG500+mRrtEHM7hNIhwxqWobFVW1t
ZXqYyqvM3YGb4xC/xIGnBQPSm3bXWtvY3WcnWR70aJ+P++Gy2qsPbvLbrh+PctXLWYiP0YKh1Ht9
j21dK5O00NW9ni+BL4ZrenybxTenYJDds3Lq64Ry/u8f7DtdIoBHIjhoNa+Rf2st6vVFK1KqqwJj
1z3NwYxj4BTOpZtsiQlB2zX0dqhbQHvUMB1w9sfbtm4+ai+//9rwq+HxEBENmcT9uSz9pQymE7MD
K3Oq7gvNfipSPIKdnURB1lbtVmKVD7P6Rbl18cE3f/+WMgWjxzTZkCG+/gl/+Mtle6ilXTo03f0s
uv5CensNLZ6TOAGgXO2D+uIv7jIYM4tMMEHCFxiWN1OCJnUVjV3NxUbvviVvua+I+67bl4TsaQ2+
sWaoIlh8WkhFU3+wEfzF1VGeAjxi+8HWDHfG62dcs94nVTp391ql+/QslnCo4ktLOWSxp+nlfB7b
LKMJGD/RmXv+/QB7f5tJJINYB5UEzBVT7+trm3baxINXdfd92Z/aHhgonmnmCzzrk99/OE/x215P
U1yNspi9ek90VtrXV/NHvUPi5/T3SCvkgULWKI8TnI2NMsUTTuwkMCsiww0r9z4YTu+0oEjA+ZY8
Ygq5qFIs8/WlE76NqzV0wMpyRuTW6Q8JeuhK3SupnarO4i02aUlP0tU2PgtCgELU29rpUfgxEsym
0Hdy0XfuaIv7nj777x/Du+05Hw8YksVqT2OfANs3i33WFBpi3Fi/m1vpBfE0vyRD2+9E3fQbM6e7
z2bARbpOK9PPJ2ZmySG6TT7J1KTZZZf2Tnqq3paC7V5j3ZlOobZdieKtyT74qO9GDHLVNXKAiEnc
XfbbTzpUyyhw50ABAJmCQI+Oid+0uPfM/DtO+49SXd8toKsmm4gFBqgB4860Xj83v1egJmK3vp/d
yUJSjm6liFTxwTvorAvkq5FpeiQHYzghhhQS61sC1uh0Vt2bRXrfIlZLN6VvfraM6a7H8Je0aX0W
Nmq1eF5oAtstBB+Hz+FrhXU5KXEd6bF/U0d+vosW5D04tS8GkY9XjZNap9ygpiCWZ9gVtHa7TFz7
4KU3alHGbjG/ewh5tST6RsSYduRjUC2lKGwWE1l6DtXuyseN2c2oDXQ2KtLWLjRiRO/8soJCBVtm
WRZ737h6fwvXJoQWOtwu7raITP8OWcHsyPrGbeV8JdMPtqfvT07cMmSIazYax1j7LSK1T2EQAWrP
7hdZZkEMAzwY9LYO3cKoAx0ceZhmMrpQKr9hMn/A/DNupO7/0KV+mZvR1oIH9QlrerB01AE60+92
GB3tD1Zt820lHmMRMiTA+es+jEiGNy9+a1ax8r0qBQ+ppXsLJsK1IWttGw/S3MyS4aSiGjUBSfU0
yJGeSnXo24QBbcs66CgE3MQVlPKivFj89Fy6IP9yW+3Tou/Pthaf8Gybh99PB+/WXIYgTgCwc8gx
yIN7swW3VNVpiTMOq6LL31sMijO9tU2sI133yOnYFN6kwr9/TSbIdb+BeZtJ8vWLNpoOCl1v6O7M
TH5fiv5HmRSfiig/ll7EIkjfS9OT3e+vCezt3XvHfp+LrVo6f51RXl81t6zOFGCF7yqoodWlsO9d
OJbG9AS+JO7UJjaenRKG+knCAhFodtBmplBxfc6ocTC27TZNCX7HzzOXgY4nI/X60OKk1oMKcaNl
Ey9IMcxvrkT++03AoqytU0fBD++POVwPJjkY9iGrNnN5Z05XA+qeBuLefENatTtvq5yzJgehp75o
g6F5LI1vYwt5vw2UQzDyzk9ekP0WCZVBOONU1Ev7UdQH71MlwrF6tqwTQCNIpKik+huHZJOZThiC
H9qkYitU4GegtqcXrbnLqY6XbVhNx9y9tMU1GIuI+p34ZGN19vLrmA/c3c3UzOpdEwfdRCWWSItw
9jbaZ2ZdGl6pc4zcnbvKTPlV27zCXMFyjhByb/zboft/VcG/XwWgM/JamT+twfAVXj+3AjzTrITJ
DGlZKCcmiptRehUjq63H4aPceubgXwyT9U2A1AZCBC7k68ulTkmySWuPd8rejeYtlL5oue5B+0Cg
BAO9dQoKBc6z6331m0tQDojy7hP5nKiL3vps2T8M+8c0UuJqbuLmR6FdJtGmXbZ2/mlRezRvqj5F
Oj2YR8N7nGeYQkBpYO9J5cPuFbuUNpmWkQlBRwNRxYBmZMyPkbobk8va3Mfes/KRSDUkZUBVIuhi
4An1Kg0MkW1k2zCeP/nEFCXdxsHNM0I+mYFselRSpl4eh0TbgowP5mBEQGePitLJSFGOwnKOc3xA
HkEvza/xM2T1Rs7UJHG8Cvp/CmynZv0wnD9SDfqnceM/TxymOnxfGkL+impB/NzW5X7go8/Uszv+
1MTCBPGd+uoTqpiNDpNJ71lNchrcw2fnC9aBkVp8t8meBsRKBayd2665y/I/bJrHuelTDzh6CXEO
8YMf36bd51rc6Shmkuca7Y44tWSXLhiKELqVGXiycmND/6n3qvmMfAoZ8xQWFuoJRqzaE5XsoUun
Et0ePeDiTzVrXhAleHkD6iz00dSj+WIQeRjSATdsxF352cSpYAcuHzjZquZWu6UrOHyzTrDFqM+n
e/g4drcdmRHkBjNxT70G9ZoZ1ij5WCT1MPe+jeaT5m/reEsvqEzCYQxVvo2toE1CAY8tOxTV3uds
HF2kyBjHL35PSfJousd23mXdblzdeDP8Ju2c/fzX03wtO0To+OP66ZOezPTjPqv680QfFxXumITu
0/jH4oa085S3x1xIg7YzwXxfRAUY4YtYPsfesVi+uMPXhZHpYV7x2G6svWqVbHPmMcYJXVF/X6ut
5YXedEIPz1TIX9Vw7rT7HGVUfuRMNpkXeYFw4FwqMoCvBEKRqv+Wr/1kMLL9sTJubT681vwxGLdD
cR9N92tsZe9sMYt43VGwokMrrJLLKrqyjL0Z75Pywo73UXbO1QXm61atx3trOaCOrJZrozoJ0Ej2
rnTu5vETRj5reFTFrjyq+nr29pO9a9KHLscaeGeoG0XjP/pk8nos09Hxt753RsheOgezOvi0SJFB
XQgakh+lMtnrav96n4ctmGVuVcEZbPfe7LOHqpY1bvvhbqEBmKItLTJJaKycd7Oh32dZMR6XVozX
tmxtyFXxuZrMNIz8CFqLThWlVSZ14XzyeRFQzLUro90dAFKBbEXHUEa0UDbKHx68rHqQ0dq/Nett
4eqoH1YhWIVYS5bJtG+nmArM0Og7eMp4IX0d2mvyyZeWsWncskUtO+A78bailSubC73nUu/zAWnW
B2vwu60veyIch+s5EGQAKOXXc6vWOH1mJBoUuEgfb0QyhK1VhaYdkdA6GCzGA2YWL/42qb7f6Hqs
Pjp9v3smfIDVH7h6H9fT95vilaOMwSXasrjn8Gaf4+aGasC8a6T9kvZIB6VUkK07isPdPI1BlS9/
YBqn59Qw0H9/L9an/2p0rJ/EBo5A+4cs3J/14b8UHcalSNYwz/J+KfTPsbOwds+cuGq2unthQt9i
Xv/9Fd9vT9dLCogESPgdjn9vDuBVaRX9YtqUPntYXl5djYHM3e9W43s3pR1jnFDmUXRViR62j7aR
3V13k/lgsRhetN6Mok+Uj7HZ8WPQoNkCVUMgYaL75g93YtHC/Tx9cJfeRhetWAmOYuxO2fSjSXu7
pU6XKCVSps2RwTE+BqNK9jAdYNVGagiNMZXbphiWjRlzXBKodWE2xzcSiUVMu1FVxbCzY9/Yz7qu
9kANN07b10GuYmMXR73YOVXt79ek9A3TEGKMXvb73mjEYa5RXSVJ+n2u3P48G7A7Ia9/8O3Wncvr
MQC6glItImgbG8dbHhbRQlNU20t+b2Kq2Ixe/zDr2eGDp/5uP8Md/OtF3jz1KHZy08wjhDS9TqNj
cctdanQNOhr+Zns4/oC17QgIoRRbiHQrev+5VdfVVDS7zNW7XcGJ2xjN6wkYHVhyJF90nQIiXPJw
yUCQN6h8ownvUgkAF+2+d2jsGFtCo7k7P+TpWh9t5d+/xWsx3aSK5VnkT/48Yf/l3WlSj7yFZNHu
hETYVLvJsm31geKAF4/HpOHQItgXqPgM85bybhx32Go9gUBr9D54hG8xVOsApXMhEEuuLQxOqa+n
NOnb0cwxiZD4ttg70hr2reQuaot9rB0wXobZzLsFVZ6dO4FpzNa1n0o2CfgktrHDJswp6bRk7kdC
xl9+MFKI0Q7yultAKl5/sKoZq6zoOu2u9eclkPF4Zy3tkf1BQer3iPm3kp8HFZEExjMsE+2kU0cI
3BmV1ADBGspcck8i6/MHw/HdKYz7xdGYN5nnxmH+zdmvU0OazXET3xeRV11B4DwIS+2jwhtPSxUd
ReR3YZN7QEXtSQ9s/qtA9I04kYa3zbTTVJ8tuqS2XmmHuJclewXxUvnJvGtB5QUTvoifH/hvYVMu
0+9d3dcv8r+sP/a9Jn4npTv9k1Hzn//0/xpchXjMvzy793ygf4JV+R//+ud/+ysW6OfP/AlUsc1/
rJV6/LV4k+hRrLPXn0AVy/mHS+SK/lNJzPhbK5D/BqpY7j8sDuCYp3CPwR5fR+W/gSoWvw+o1Jr3
sMap8Iv/DlCF9MXXswRVPGpsfAQmCiwmXO7NxNcrp5tgAZpBamllzGEpXzYyiXTrR1XM40AJpjRR
y6S9WX41ygoTl91namd5KGdpRxkANCAWj3kQiZxGMrhQTMFlPdEoyku9QgYZ8wFOY66xHrlJ4333
pryKdlMH1BQLsJKedgFvN5U0kp2BI7OlR9EjvpjcD6eh08diI9l6U3JJRYJxAEeZmMoQOJ/RogEw
ZFt9Z6vHms6Zwkt8LCjSl1V1BVjIVvepK6cV3zzLSW5NyQzugl2t4/LFKjtqT4HfMse0ypLToSxc
1d9N0Wq/KrMESjMMWhNfuy/zyXmxDDXwyplSoWVSPjz+G08zom/M/47RbpwZWfa0wTyTyae2oNZ7
FNXUmvtZugs+/4yyVFD4Q4fSXVPeEiETJGbzS0xx+aHIRH8NDJUwgcgIgATHuKyM5DuI5ac6sq4k
BtuBRunZLOS6Tm+yyfqh0uS2LUaX1K8Kxmql2hoRIYe0WdIy8LL6UjPL8XFJeo6NXt+d4YlZNBpx
pJa+hqVs+RTldLXR8raXfW5fDBkeDim/TiOVjHhXVckpL1mkWhf+s4fnAGI/x0U7cVlUnLNPT5Bq
39ku5u0i7YNb57u2F+hC8uaJcPfLhjtsXmpl3V6MXX+9zIk9hPOsFygCk9sxrrJdXCwZJhWpLqAn
Xy2RiTHetatN5CjF2WcmhgP38hVLmX2lBuOsUwOoGBiROx+S3Lkf+ZAbcoyeRJJYhy7R8tvSRK5A
EAX1OT86xCO2dDKz4+20cuxM236UWtcEQ+Zm9M+TaD80OEdaKqNFluHDmXsEWhOg30MaWfrZjat7
ji6h2ZVPTS5jjsZttck75WDbUVMDWJez9ePQmTUQlY462Nyi0Wvj5ERtFfkIsR3CoeRsp3QN8rE7
j1AR4gVNuq4BfI2wDs5EqovM2RI7Zj/Usa/FUNrjnFbtCC7BZyBsvLI5pE53l9oUAlw3qnZDN12l
bi5QAQHTyhaOtRa6ZZ59mGR+UHcJ6Agx3w244d0mleG4yGpPR/PRKMZdGWv44aNyde1zsK1LCr1E
2DEWUjrRZGx1RydfI1backbuRfIM/3K+wFWwQNQW1q5X/A3cJqL7WghM+WT9HfXWuLKqqNr4c4z3
2Uibb0YlsVy36bduIocw8JPsD7dRgOClvXztMe6e5dhMocX2/yL18/Tkisa+FOmob+x8OjSR9TOt
tgW0kC/mGsJgU2Rvxm7XV6SnLaV1mXGGQjqrRZe9sv3ALGcn5Fv5N2Ya28PWzwzkvnY/fc2N4o/R
MirOMqVxRdhJUR3sWpvP9dAY+6yocLXNCT/dVo0bjiPuo1HTYvOCzZ+M94vAPKiVtrMZK3nMTDlu
K2Uaqw8y60lFqNr9XA7IsNtKKWYCz2y9cPFna6BlFA/qDD4qK6/LVnsxNHXdJ82LgHnOLiIFR30z
1/KhnygxkEvzkLsoVA1kJYmUj1TxiWFmrj2TIgxd3H6e3arQvpVWCy1ZoN/x6mNmoLxOPb3UoZlW
1vfeR6iuw025mjQSLNC+XaU1U2Ge+giVolq7sUVy0aXNVVr19on5fKOawr4uBmqguacpZjQfyeQg
ESjqPM1YKFYCy3ipstoPRUHgrTW0P7qxjF66xP1S+JRDAMfhx8+BzOuoUWeKCtEwXxq5rh0nWS6P
ZkWFV4/89phBU6/RoeRBUtu1FfTw/r/WkUbMKMbH0HDKNOzsCttrdmNpw9Wcxx34kdyTu8HVjJ2m
DEaWwngr887bNKlDBdmnCtQ46+YIcN2admQPFg5TJFSmmPRPRovf1fb7RLs14tY5oRQrmGrodzZZ
fe/KKPQWnX/oD7nj5AHqsVB5yUgdUN9bduNc5SyWxyaS5IeJxBsPTcuUIUbtZaL/z5zjhEvPghHX
PVT92b3HyvrZicZn16nd8+w/yao91F67mwaqkH3Rnxc8jTMFK+UL9Qz/i6RiXx2r7uwsx8mvscm2
1zldPGaOHkKIw9iv26e40+UpjiaPiqbnbxOzOU19PgUq/c5MpwAqxM7lhBHijqZO/Ic1/CiaApEC
xf2NRpn2JmVyICvv1qci7RjTXkb5mfZ/EuoN8tXFJq+oFPoXp2/vZr86FwnCWu9rI53hHOtZOPUY
ZpcIpmZ/qdfg+bSZSouo22JnG0lN80xdN3TdQB1cEm2Bt7O4zc0jya27qYDIEl0YMfArq2IfUIeJ
Pl7i+zvHM8a9ytAo+TpXotEw0iUlwpPuWJqEveZyjI8ENyBEcZLrNLWLXedTQdNeGuNWIXhw+2LH
5uDT4C/aJhMZpjO8HUQG+BtkZHu7TIsU2Uz+vWGerJsH0/rmgcQa0N532R+qqYGc1NfsDXY6dQ29
u4xSLJY2G4sqfkhX7pTH8UnJTaZRTl61sElKue2KQl+pdZ9adUxNPN8s1X4fhfHywwOe1TVFgHMp
VFMLjWw8lJW6EguTz5cFtpdiRnEFa7twA9cjBNu+5JWFoe4GJIlu0s47tJhiRrwMPgq/Ns3CvG/2
cTpc9LgvpdHuhfu96JxrL7VukrImQxInuokclwp4qX12tHNp2YQ0oqJgS6DCZfAvS7XOip9y2Iyi
NMLCx/T8R6fTuUbadqMG9DxpjMsUY0e3CCwTVuBoWPS09uwTNbaJ4nG1qEp/FThyaEvsC2jLuwTL
eTWhWvKioM/LAy4qIp7x88a1Abw9My+rWjkkw/qMFd1sbhHqsRdhj+wFdFrHQGTIk1ZYJqqh8rhY
e4f+yjRY+6ToQ6NhtBTz96aOh4tRFXnoRtMec9r1OCUrz8CIJA+7YRmOl/52aTXz6NhjdVGTSnuI
Z/alntqNbd9f1pnk3a8k9g7bOmZN7eIMdZcq34go7W5JSb8ru2s3yeoDkuM2VO1ybXr9yeiGkym3
HWkMYGZqfdjkYN43ep3fOdCpnybLx94S8wRyd2h8NDllWNsv7pzf+P50pGuu022CPFKW9zE7kWB2
HHUYqjkNEjIcyrw7db4uoMnNZ09P7lur0Ck4Nxvev2NR7GtJizmwx2bL/wMIuM92NSYX49gzuu0o
TjedYNuT6ROgIjP5mpirVTL7VMc0xKrRuo9m/EopHcyVmub2R9spHkyuXHUpxWeh7zPTe7Jh9Pjw
zjaLeWXL29ZcR7yFq1NZu5QIVtKKw1JLg7GezwYJeDxfbswmr+EfuGTbUictG++QpjVn+lhuIzbH
c+oE/shgTadDIXT8bnQCJrZ4I33zJCp3jaY/Wyl7TQJ4IGPfl3Z9lU0zqlXXeuz17tP6U6IrnvRp
LXNpX3wnv6T1e6cZ+ovUhseRrKZNx5aADhEVtza3N5Kd1PUyVvfNHO3aAiLX1F7qhXEBSvzCTWHF
JEj69cm8N+z+cdIrchK/9QWv158C4hLvn2AEiC8GnnZfjZ+9zr2Mlb4VCwSodMJXTSG+ShtirKIr
WxHOW8dilyk4P01XOdtY6tbj6JIBKIQWocuFlSAWfE4OuENt0FNKzHlxNFN7S30m0DVFmkrciDkk
G5gHuXhQLOIdhwKcZNO0B+r/BbF3d0rMqT1EnYHiH4zLOG+LmS6GRAFmFbdxROqC9dmLwPowVogT
2AJ6YotEpEuVYiUuOn+X1d5FTBVTKxu8/f50cHALz1nyefHEvHGquT9Ujf4VkRLNC7y9yUx/o77O
qELbkQiT/iWR9kVNbjkpg1/JaX/wI/chLoa9qI1NVRZOMIjpm5OfIo0Wld2AkTINCmmJfy2yAW+M
X0J6WE6Zr9MUdpwLbcyzk5jYXdsOHjh6/6SHs1M+JDJHB2U5z/qo7/1m3ppmifAHektSYz1xZxye
6dHo7aslqc5Rx+mBnQqzzJY6JnprsW1Y2UcdzZaLB27Am+4U5waDVbJc1zptPPtZt/WtJV9ihAhq
qW7Tmc51Q3pm3bH5k+HEPbKra72kk1uRNeOwM45GdlWxfruY4uA4w8FmdctxWms0CWHgfKmL7lIT
2lMvr13QHq2TXPYxh5X468h+MiSFYRcLgbd6CDM5PtUDjdukYPVYci1/aGYAh4HVYRXq4yvyf/CQ
pdqLsMBFeV0ZDB2e0D6eafOQnxEiicYSNMxt8T2PfVudI5cwxI2e15xwoq6fOQ1ZXvbJVST+bD17
Yi+uljr6XiQpWX4EpU54I2u/gFhUNb69d4moN4DDzPoPlwSe78Yo47suqbA+RkYqviZNV37x9b60
A6uQ5UsXVUzrCONYXkrLn+/tuSA+TI/nGSvj6GdH1DFzF2pwD/Jg8KkxM/NrmcbRhkgTGhuY52fH
wJCXCQtBOrus7qvOGZFdXuIh0XWj2NY2eRT1MF6KAZ2OMcfxyJpVJl9I6Ck5lNidfmE58yCgGyjB
al2YdHm8rIeQDV5YxjvXUniM6mjauaKjs5k7lZNszcS4EqgRPlnLbF0qM9G/WC1CM2IxaLUEhbmA
D5m0ee627VRtk45NcmgltkT7UDq0v1NFJBD/hTbBoCi7aFtpompOFTeX3dVA2x5/jiMe435xmbod
FV85KUK/UFkGW8DRmbtnu1SAP8uuiBLIDYrKez6k8XnxCLoLozZLr/hg40OsqeY8mpSWN1m7uPfE
VDJo0qHKH7KpyR/y1nceyeEaXzTHAJKy6B0Jl0ZSUYImwrNEut+vJ4tx0llencLJql1rF2zgTOrs
7NztOFrCtnXBa8WDUyoURB0bEnvguMlBuRN3BI46dNSWgZllHlaOaIOa55z1flkEwHccsetFNXa8
dCSYbwk2n+icitTBtAUZFuE88p0wUsq9puk+UWZqanViZ+mZwF1dRfdhYrEMbG/GHkVZ1pGbODWy
e0Miy2VLQBQ0O/56WTa9N8Rf07zUnoyumON94eapfj+OTrrOerb+eZwW0nDIUEe0NWrL9zp10OQN
eZlCBzMokcIem2ll//+K6J/Q8zV38ze06X/+93/983/+6z/+609m+quy6PqDf1ZFTQ8kuk7aALYZ
Ojrot/93VdQ0/uG6K1SJP0aEi8Pm/1RFHf8fAlAphXFkY+TrupQy/10Vddx/IEVZa+bmmsxCg+Fv
VUVfd5yIGHVNOiZc3zFpXLxD+i1mY8qOVlpYKd08uUv/3MSi32vG4pzlMvsXKZXQ08qB33tG4aIH
m4mqc92CM12ygJhz6gj5RRVnj3+5lTd/Nr3+iod+LfL5+cE8GwUe2nNjtY+9acy6lFiycU1Na6k7
nSq5yk3MHtlClSNfcDTvI9H3+zthcTcM5J6OAfTCftMesXXCUvqpMEPIsJQAO6+76CxNPv3+a71u
vsES1wH90unG4oLCHHTu6yYMu5sypsLrhamldHQIiwUGkeDVFC2N+ViZZvwYq9a8aUg7+KDd+7OD
/J/dxfXaqw0E74llkliIKPH1tUkVbSFrs0OyFpF/icu6uOiBWGxQ33PE6Qqr2pdSjDtfZOyVeq+C
gZkoc088u7gq3F4QOlJ5n39/Q960pf78VD5uI4RXOs6YtyJbl96gb0VxFEaTpe0grbmH1qh72E8a
p8DGX5K7bBqv01b1p2ZmVub4kByEGPRPeUXhHMjwrabY9KGWczlHfvDx1gfy9qbRNPMoypk0zYw3
D8xbXA9+XkVbLPa9ncwxmeqZ3X2darA4nHaMT3ap1Zyp0lrfGwasUL9zYNZOoj41fSw/sFy/fS14
hjQ5mTN4VzGcv1UJiEVMJAl0ydZBM8OimCCyYbuJb7/RtefE8efrD27A2q98cwMw9zAJAX5Dx/72
vTBdThMpOuStT2Vut0zKRahad/p916G4wzzAylmN40vLI+Dg20vq6U6+rU2judCiRHvUWZU+eCqv
tRI/xwxDmQwKE1gfjZ43I3miltqaa286coV728loBWyaQ8hqjhklHfrA7cqPqCxvJwjUBojOTTBR
OENpMr8ZCaZqLOVHabat2Z2BDemH/eIU9Qf3+xdXsdd5jxhT3A7sHl6/pJWggJnSnd9Oec8NFTKD
qaCs8u73j/XdHaQJ5qJ7QUTtI2p01j//S8e8Spkm8myFBYoZDKuZ2MdKRAVhM0pG+0WlYp9ppbj5
/VVp2b0ZTGvvzdD5aqg4qPC/+XbSJra+1VM7rMtFiw4IjbUX25jITKxxFOzK0ejjYLYKB82S1rED
jaoa23aH+xZoqqdRQdNYG4FI+528z7U2Sfa1hdnbm9f8OaK9MGh19kymnFu5cDDsBT5Q5sRnhpJ1
nY2Zcds6FlqzRtLE3LRz1J+RihhTkClnRoBb6hCSvaie9uxWzX2vZ2Z9xW10gHENybSVeBR31FuG
CS0hoXc0XnqitkRiyKekmcQVVq2RjgUFogvGSUaciOuPfZDbCWeePM1rdvHKLe5BoRYoqo2W81E1
qmY4FuYgqtsJA86hIfbV21vGTOclX4YC1I6zYGqz5uKJWmca0SHQNAQvWQLpJ9KlBR1BG91vYIM6
Dh4l7AWh2mPf+NH9CMLoqbAzHKxlh5rz98/0VyOJ6YjsZt4Og8np9Ugq+mwxqew7oWuWWlinyEYc
fIJox1QZWksxXCWF91FM0vqCv5qU1nGEXwq8Db8LJdDri45RFCsrbpywtDqxXczS39LHAAKnVeLv
zjXMfQAuuJLB/1Crvb5U38c5WyefS/FWnIy503dRAkelsRr7gnE+I5XRig/W6l/c1NVyQmWQuV7g
y3l90SKOh2hachEatS8v83m6jhK3CHH8diGBvioQstO3v3+Qv7in2LxtNoKrxoqA9NfXrCF6cWC1
+aLUm3c+D5xeuFftrDZ2D7+/1LtVzGD2ttiCYHmxbTZCry/VZ3aJ57V2wn7tb7NqdUe9SlM4Yv5y
aZAp+cH11k322/FCrIEnWMJt9tXOm/FSuE5bqzxBtCskG5zS81+8ZSy+pcmSPqi8NLHIVGrc63Vn
LGHZtcudHrlTs9dzx3KDhZTnvRjzoQ55v/SbNjagpNs4ao89casfJRb84kmgb4O1Soo1d+kthyDq
/WbUZE0CeVv5Z6XWdNkG1bRo+o/0dL+6FPtRIrPpnrCUvhndwzD09Hhj0ItJiZjL09JjpmkeoCTj
o4fwq2eAp3I1mq0H37cG9zkxey+jFR32xB+f1QJHY2HP2mwo/lAHlgX4H9saPnj0v/iCq59lNZPD
UntnFqh9P50SDemzcklRyxPI2J3Zz4jBJnP/d0c1JwgkMKg4ERd4b+WUybS4xdwPAmS+Z4cwGeS2
XVS3t4mACY1cfmQce79VgP0FNBXrpMNy+tamGiX0Hn2BaKEWLVICbZZnnxX2g/n9/bvKbwYgzZWY
3dE4vH5X21Rq1Mh6J0zFDCDLQDdvlYm6sgTIRAAVHwrofsLtXk/uzC04ndcwIuQG3psxWRADzDms
0kMpBkAvWTpVuCUNgrrQu0ygW6DCgl7v56S56KG909IcJZkuUW/M5GZ7TXbnRqReb3ta+UU4CVE+
1OmQVeGsWVEejAUNzLqf2Ebo5bKiLLPhiV071VjK8cX3NKrnfZJa40tfpvV1rGRh7tCFsHIXVjKq
XT2ytlKNceJ4C/QwhRRZdl+mDJFtqLk2wWVN59OFQM33uc2mSWxspMtQTfVO/UjqmgYELg2ag6Nl
jt+imu1X4Ee1KzlSZ+2JQ5r+3e6aCZ+NMMpHsJftY87TfsmTHj4ncZ0AKocFEI/XSR3QRquhPkK6
AvTf6w0a3/+LvTPpkVtL0/NfadSeAsdDcuFNMIbMjFBOyknaEEopxXkeDsnl1cYw4IUB7w0bRgNt
wzAMwyv73+iP+GGmqiojUp3ZMtCAGygUcOteDclgkDz8zve97/PScyeEojBRerh2ironjvAVWSSJ
4U4QaeqvmyRC5kcsdX1qKuRwM+jrbG3R4vdk89dG9tboEtp8LsyCB72twOeHgcg+i7KtstXQlfoV
m4X+Nk1IGfeSlBzSXZcaOIXccRzIH69FumhKx8RUL0jzXvQICW7D3s5LzKygXxZDoWfpOokqske0
cJySTUQ3jdJpMFpjwYdiQRrqNPsyjY1yyWSTNmRR+XwQaSV8hV1NYM3aTwN+hZLQ+kIrMvwm9F5y
XkkE566OZHBJBrFfenoly7NaKOUNpVvbLhQ/oq0W9dOctZJVOnTDTJmB9YkCHCoq9FkEQLL7rDZp
AG33LRNcgJe5au/SafC740447XVaZCL0QkD5YK8RHJ60ek5uVjI57qVLErWL1p5IAVWDZgPfk/he
r3RdvENuRMr4Iopz8AVqBZ+N6hOZ6kgLET8YScK4p+qWP2iXGgDI2De6U3C1LbYtpbavAG4qKHZR
CDjvpZMVx4qVh1/1QodAGIN5P55aKcZVglP+ODJyAjcQzAQXvZj0Kw6kzuafuriRQz5dcl9HxYIY
nv6hKmq32yTFwKfVM15yC8vxqzNRRyQ8v75YvtwJ8JAD+HDwvpKldrhYRoOlpbMzb1mFqrWpclGg
Pc71951Q5IqyI1sYqpTMPSWu1NQ8fv3oL3shFHPYwaFVzFQiCtf9VS3XkUfoWaEvy1wJoTxmE/hD
Wt9LZ9ToS7dWue7MMqBAIcOvJKn9zDWJs9K54EvH6mCBacr4RqX58lXF44xweK5SqMQOITutkjlS
ySAaVg67CwSMybniAFWsMAZcvHH+v3h3UHbNJ+/OwJnDEgNqjNGZdmssaT/K46HoR7JKinxnm8Lc
jmJoPoeWnS/7uDcXWh3BRLMswDmA7niciZGxifvc9o6Zr1//YC+LBFAPgBfY/sJjES/k/amQjRaD
DlXrot2pnQTmY6CPgOZbktKYiPxGaXv5xs342MXZf+VANgLE5LBmkbBw+JKb4lKNrFCKZeb3wWkZ
seDTBiyPc4DGDMpFt54M3i1CSexzO2ptrFJdM4cARc0npZyyu9e/BVg7hwUrDWP8+DZ2E40e8OH+
XKuHQTF6A6rG1HcnZpiSopMItoWLyvBLhhvDGOmb2u660yCI2Y7oJbcPzkQVnjf38Nd+pGfquVNu
Q0/WEIFkaYhUyZgspn9VTX3p+VZSl8dsmVnrGGgNJ0HpuN2y1qoUYmBgWDdJp6pHOjJw8o21Cqx/
1mj1kY7kBuCmX6TIqGKN16ivs0h6csQyGlro+zwV1XizxGiAJT1ru+g01XUI9L2uFcEicxIVJF2m
iC9lPrDItFklh2ODWa1Y2Igjrh2HrIrFaLYjEAETKYzGdbgzSqZvniFRHC3rKnNG/nDUZF+qAB4W
w5lOdeDso5tIFpHiMMf27EFLCxPKlK2fWUbZXIsJZeBam4zqrGPdNeBuC0RtJoBfvHuDqK8am1bC
qkMKqx1JR1emZWup77OiFvl5z5rCKH+wDc0rQjW9qTpMe+GAOWHTDjkNr7BssDNWCrgFnDtthWp9
HDPLM7oKLCAJ1V+ZRefKhvdimj1k/ai2VzgwmJxPbmjpR9VYhEiqxjpmRIswD7tb5DfHk/Sr0wHV
e7+r7BhXfmLA9FmO6VCYx7FsK7jZTI6jtW31tXahJ6g/lNA0kHPUjgoqOHJg/ltdWSEGShsURX3l
ovVpY3mlIrV16F8wcOBqBoIQmq5GMFlEJXIQHdu3vq4NtfkS+r684EUdfMExZZL1m0TWPUWvMPBL
5gxdC1Mp7wCN8KLMQ7X5yH6yo3kV1z565yKq/GNnxKCzEA2SmqWZJXQK3BacdZQ0irmSVYgokFka
d+kwppt2LJxmJfPMvioqaZfLpk4HnHxRgT+Q0SaExMaHnNoqcNvWU85tuiC+Euox0lv7LB4jJmyJ
FWcjIXot2Tm53jY3VA0N+s7YZXpd1FE2LieePm1dg5e5bo1CgdPIRI3yTunLBzm6RYh9peykl+Ww
r7xIJEBu064m8qlKQwsHJiNHnKyBo+/cfD6OPSoICgYzRFZYjDr8XLMRG2a8UYi+W/bdLE8dyt1A
uPt1qOWzqtK1lHshY7iuuZs19rKeGis5KswkvAusQR4pGV6WVeS7g7q0tdS4m/IR7GvbzdlbnS9M
D0sPlqeRDJpk0Q5RpM67VuS3zMpHhBZjPnyS5ODRkxnS4W5SJh1prsudBu7MLDZVPcyVDX5ipVCG
aNE1UL+XRKRWuKzKRr3umpZEk4ib6mSYzPjBQgdxETQq6oAyjfp7TYS16kkb9xpTWeWqH1AqzFWl
cpG1hkRDQpvmA4+6jzxX9OnHJHbEXa+73ZWlxck32Yv+fR2UsCWVpsRonJkNGkpsb/dpa0NG6Rhz
Z14Mh2LwrDrUSaNUnC5bjbks0hWmJPIi6MBVUKgdqyWhSAxD4fn+aCNitYeUGTqDJuRfAbw53U+h
zxNRo52lFNWpV0WzVzmn7P/UZ1BbvRQp4onTy5LHwgpi/VhRqj5HeJJDbtedyPnSDFYgVzJBMb+1
U9vs1xM7y3N/qOTdkOXCRIiZO9eYy6yTpqo0Y6mn/QAemOCJ91rvIwbXEluDdJ1KB82RbHSEycis
KuYyo2Ed8WIhPk8WUs+Pg3RQwb13dqWskj6LTrO8rqRXt+wAPXDPjraC4TKBp9aEf1GWRXGjhSEC
q8hFjY2MpG++GmBnqXCCWDnrWSUDWvo56QUQiLrOq+oYuoEyJOqNbBUXfwNPZb1xJxqc+JfN8Eb1
dSPllVLnSK6JttkUkVpUzL0TxleBUyTJmW220Acctx3GzeS6wTeDVD1xJItOueVK1xD4dNRjfAWS
MtsKUtF7Ya9FCXZjzb3r2CMs0OjEAIWdmNZAmsUihL/cievehzLlBYgfv0bahJrBUOzktlWD6qJS
GTSQhJDnu2qMJgM9xYRyGYX04KO9NsNoqZoo4VfSmPNpUBAP94HQcYzr1M13iLame+T0fn8UFjlv
0bY3knzJxex2g1khALYQmBDZgHzaXvnMGaRdG6gh2rk664pOu8vqtqyPwtwAMabqWe8vYz+Spqek
ik8HOGN48NQh/JsN6U+aS2H8ytT9+7/78f0ffvzxX57bkB7/ztPAHZ/uOxuNyZwDhaYBcNqfB+4U
eO/AV+ooSuH6IC5kgvPThuS8YyVTZ4QdXjS6KfQHf87b9XfzfIRfRh8NxHTu6hxEkb8WTT43S57V
mSTY00VhCEuFC1LiiTXxbOzS65WfFYU97twoa+ne2w0vKwqZQWML1pcjd78xQn4iAe7Zd3T+dIjn
4/SDvQUHtuZWEUkJkEY5mYMujkoEi5toODKccOJhE0yVDAXDuzag7339UAdbi6dDEcjA7AovNFTb
/a0VKu5w5EGud1CJcIG0vVgP6GHeOKHHduH+Vwm4TLUENFIdN9chBSQKGtSJadXtUB7jDccPtW5U
K722R9GfEJQm11aSavqqrQdn1cJbpOMgKKQ9PrT8TFNQW0ney4LnnPKJ16EPIFArUEbrE+ViiVob
+5Qpoq+lm5xyv1Fw4NUfrzVsM7dJX8mvoGjJU1DIMrUmhEioJOP+tK8Valx3CMfLONP1a7OT1cc2
0OxtEKIRbGL1os5zQM39QEto9NW57WRkw6c5oewtht8vrgW9O2BnDGho4dnzduvZ/aZrTaZrUm13
ibS7NbbUWYkEqeL1K37QIpyvOO1cHhDselyJw82kiFUzaHArI+QPb/pqSa8ipN+yAaT55rTpV2cE
TI2YNUDCM1Z4/4wa+raRVTK180kurUbV04NsWfnGOh6Zk34h0qXULThljTfbkEcLXHTfbhoEgw6B
WU59rnefEzU+5nX/EFB1htLZZO6Z0QwLicu+celljR6vp6WV3QBrRxBNrunUe9LYafV5H52oLUTt
S58JG8o5M7qN0aeTLJB7wOS8kHRFBkZk2tSzBB0+dUwHaaOFhG+L28Y/i4vxAs4T/T4qR1CZ8cUo
HvwWDxmxWtFlAdgY1a7fQ9zQTjNCDqRY40Bc0dbiXz/bRnrmlPpR3l3Wcb18/To+pvUdPFMGwxFm
6sDqXPNxV/rsdunIEuyLRmt2RRhpROrka+Hk6jpO8gcGl6OH3CHa6WEMW8MNik3Y9uGVliS4amBJ
WAz7oZn4YlvUCO8y/B1a291h21735kOvoTtLY5PpSp/XF3GjRud+XJSeEU/bQYnSVRsaBA83+JIc
qX1FdQfriv3M1i16GzhTU6EIqcCWVGn+wWAvfJwMRCFZWT5uIPeFb3SIHjsNL74LF4nOLEPi++CV
8PzRSWJdLeNOtDurcQz6UBEIY4EtbCphlZu50X9z5cDybSM9Bdtg3AVNDoXUGJD4Eubt9b6gM6sh
rbLqzvcet4Sa2rtebsXEXLHQHA0+VipUqtnKNHHAvX4xD9COTCx5KkmnBCeB85U32EEbHX21Fba2
1u6ykUokbsk0bgKXnWoJJLVxZL5JnTHZSofIklLrbu1YH9+YiPzirYOwh2WaFw6tvsMum8zNXk30
pNspDlpR31XirZIQketYJHe9frq/PBSvVaQZOlbjw9dBboYYdKaOcK0K489gjhpwnUT9GGLxeOub
/dWxaJnZwNo1uBn2vEY9e0xUrXUaNtPNLi3V9jRzMocot8y4kH0rt3wZwPbDyfFsWSe7kN7LqtLr
Zm0pBcyXsLLOxq4Qa72Nm1Pa229mhL5cjenr8VakgcQ/hX6gnMN5MckGXcEuqH191YQCCb5QYSbF
tONh+RuIXEkr9cC93PkV0R6GjP0jCw3POtcmsRGpnI4UJWXaMfXqaYDZ941r9bIKoqPBS5sxoMlw
+5CohXsjFPpolMSutcUlG5liFWJDPRFsLTb2GCbHpKOLnWa0+RtHnq/M3kNNd5FpOkNnSgaSVKkA
n1+5KlC1zg7zfDsmDZqpMSmXQef4bzRyXx6FAo+Ckv+hiiBZcP8oZe+WfTXE5jZT62Gt4sVaxHb+
Vqj1i+sMW4IWNupRKjuW64MWNsBOMaVjP22zUdsYZV0fdRMofQrZaqlIa/34fP1tv/EnlqZnS81L
7MH3f/Pjj7//8f2/7u035r/zc78hxDuqXPhFdNLZKdisFk/YA4aY7/hVFonHRYlggb/sNxQVFS9a
vse9BcxVlU3BX7Yc82+yP5nlvYgVXFDh7GF+Y9Oh7zeTHaCijx+C1ZF3GdrBg/uRmS7Oh6rwz+fZ
NQ6DuF80zf1Y1eNR6ehHRqLTRLIgS9cOOszkoVaqK5Cf/bK1x2XeZoJm2GDfaA5stGg4jpBSeMgj
Aq/rv1A43//tTnuSkxOd8Oqd9sf/+vH9f/74/u9/ICz//n+45X58/98/vv+HH3/89x/f/xu/9fwO
fPxZT3egYol37D+4v3jVkm4vVC7w0y04/9Y8XxMqIwbeBdybP3e8pv2OPQEk5HkZZOdrGX+5/0zx
jrmDzfLsqNTZ8z75d+6++ejPFl3e/7OKm7ALHhE2CBTt+8uhSdcxjPIeitlkNEe2jG45JvSEbMco
pVqYBj7keIJakGotk6Xwcm6owX4hfa6P8UPyO3RtwyNauTRQNeOTJRGMdCrUl9zpFnqUbc1sIjwy
WKuF+oEO0SdZp9/McjYd2lsmiicBMa/LXqWrxR7ta0c3T7rmjRPSAtIIXlnhrb5zw+nG1bAyzv8S
Q0ki2ScsPXMI7jPEekeRzS5AmM6w6A37ftKglCbYwH2hDKuqd2jLqUG61EwNObJxapj5p0jVjwor
IXESvdqyYVixCNkXhPB82S+Q+K6CV34/jdN0FKfJ+5qWMYZyySeI4m/OwNaBstBYBFZ1l5Y4kAid
zDX/pO2Mhux1oI49eSAhh8/a5F61apeAS0ZGQLHKp48VgRVe1JW1Sfuczn8cXOMSHErjfJqcZNU7
xSc5EtEYULM2bfQ19B0CkvgkE/KBZS6QWoAmusnCvjw3KyAeionSbWCnt9Bt7OJ2/NUfgpnWd19n
ASGngMEwdHanZqHdZo2ytBP5qRfjTdNw5Ui3GGbBwb2c7OPJiUuwzXW5IviAJDlfnDZTtorDul1l
eXquuNMtZQyEA4tr5JDYbXXdRdeW54kKHyEeOZ/EnVxP0mbZ6JOJBFTb1bBYTlLHGytZrTPbuWvJ
Qy/Srl+nvSCvFHimr0xQgcyPNo5WWyp41FKoGkYR3fvNMG4dJS2JyNPJah7NBNNdVS1QhgeLaTQv
BH3OWPQMATTFOKlxCxxHfthemlhV1/lgQH2xjOEk9cf3jO6hETdkciahGFbM9YktGfgICg3IcWqY
TBDO5SlYrFeW2jVXPkNXiCZGs6rbmsRFOiZeqoa4jE3/BM0Zu4rB3LBjYFxiGhslnXNKMsTWNmoG
2Fe9l0rFQkDCzS4scsiIkpPMqYzYPcZlhHQw/zSVkCZzDEshpGnNTC6ZzZzbKlc/ZDwFJgKSxVqv
kk/PVrFf9J72C5V5O+mSdIOmGW0hroNDBaXI1cIMOhvNdFoiyS2szRhjI4wSgxsqfSNK6WDb8/No
M7bfRLfJmjN/mmfFed9pmgLUOtiQyM6sCWIlU9KNUuR3erxCM3MqLXh1bU/sVdLcvX6mB0jhnwdn
UQX4rCF1O6wv80wzCihfwYZm+L1hqQUBfKOnM82IGfyQ1jNfCATNrp/u0DjsEKY91Wn/KBx3f4D+
9AkoCVnSWWlV57D6Nw2A7BWsInCN/XtTz3bU2sdVlXkjM9IC9MHrZ/yIM/trRf14vHkfxPHYJNOK
O9gL5UwGawg10DldaIUY5rB339TJWVvyyNeyhenSuFcmIyGYR/ImNsX7tryn5XaUko2btDgWfVI8
2nyL8P7GJXEj67ZV3N84hbPu9OTIKKvTzK0201elpclSpe3SHsuVNkOF8s4g0txxFpO0j8si+hzL
5lgJmq1PkAer0Up1wgdRYchruvTTkCqwMwxtN6JzAUnTEEZIEHRMU8F34OOGofxcGe5VFrBqJqpR
b/V6IuZDml/tqr6LccQsTF5hm7LTLkKGepAz62iTMrNaFON0AwLliingTTI6V+Gk3ozA22eswSn7
89ErnPAkjxCPlQrybpLfHi/EP0N9flUgd8teJZf9o3yzPdwZje+fH28umvf+Y5W3kEwvuod6vHzg
u31CowUPxfwn/6m/+XcPjz/laiwf/tWfvhRd3s4/LYiKfK8QMt4o3//1jz/+x+PE4O9f/LWf9RMK
i3caLYqZK0kKPJupv9RPWO/esZezEMdSD+1VUIrzjtsfmeOsVKS3/lh2/ZwaKO47gktgmYMVxcbB
c/g7JdRjAsCzhwx9DmUYDzWdFEop0zh4yBBTg+wTpfpB1y6QLuTB0l/H+cWobwt9izzCUC/LYEfI
+sIfPFDlZbZq4vV0YrqL+tZNvIngdPekyzdFyduhWfnDIvhGFiaBeFfghIslRMc+PreHU0a8XboM
zLMs9AZt24rzvnvvyk0wrgZjV2FI1c1jMbHNjOGTLiDnxP51WH/E3p+VXrUhgr3tnStFlMsW/owW
n1j5eRR9UrSPIj8b1PfudNRUZ6l+lod07RPUvwJkzg1lx6JwJzQfRyORh8EHFFDYiRbVWVOdUNq+
sUM/EPyQaT1/o6DfueQEO7AP239LSFVveSAz9UMTWXdWH0T4u0w0j5P9yR5wwUCWKiplLW+VobXe
24h/ljEmjbc+xn6nYP4YNMxJl8BAQa3NMrr/MfK8cUqjMacPSajfaJ3mXFqBGm3hxFtRfCedAr2l
eZ2pgwIJu97QktQ9y0jHD0VMNFGvXb++mu83Zvg4OBy4vdgwOvPnObTnFIWjB6PhyA+1js2hKyN3
3UzmXWuMGwaxJ+jWlGNmDdrq99euf3GwxDkY4ZUp5R//+XEX9x8Pt23zX3tadiyT9YNChaWFjqVJ
BsGfVx1Te0f5gD9d/QlS5O/83LbNf+jnGqPp73BSzdmriBjpT//WEkNtxK321zXGhkvNRo1FkJ/J
fPAp6vVZ3VS2/WBFViJ4DJVQ2RiU4uU5wl2G52XQutju03TIYJ4EVaMwBbCCzNoAe5vObHTvwbGg
m4Yg2dSVaqMjfe1Qt04t/HidEdTSzvLs4witzgZyHoy3CWyGj0gGJihjflLcOoYCPKeTEhUVVv8C
AazXBaTPf2IYP3vf/doxSSKvayuvANOhOuaHhH7fX2siAMYXMHY0Si9q6lj5lqSdmdW4+EPNsBfq
EDK9WCRKrINnUiId5a0aaLgcpFEWyc7xY3AvVZOHO6QQinyfyigPSf5SdZAb6Ygb1jImpzm31EiY
x8EYhkicxqlmGlCibyg+O63qMLYIhRFQ5tuRQ4yYrSTsvezE0hmbFGmob2KZSX8Xdm0LNQ7pICZ9
S3bWZ79ADHnlu5EF4JQN3wRELbIiBSRhXMdFdoOfoOo/jUMz1NewJFELl/WQATSQuZ9RYIWJHi9d
lEq4wBh/GuPplEJLu3An3/00YKcpj30knuH7IYJfBw/eEgbDI8NSRt9aB5xCrHsxP0wLyFKZyszc
ZA667KUflMTN14aOVrZbFthDYHUv4rIOsg/uqMXmyIWxaTgzDNOnyS/7b2qkjEAm3GnsdHPJTjQM
rxXpZ4IKLg5bt18GRpbbYKAsJNXtLq0KAEKLIidg8oveI5A5sso4B8OSta2ZHcUC6dq3qjMV/UNg
BvlmimxEMZbiJte+Wrafc5skaQvITr5EfuUrENfidFulXRkfF21aZ+/tEInKAlGpdeeaojaOApeX
6UkuifM6akJ9JCN6MnlLduhspT82y9Z0q4uy66A9CJRr4aKRgjevYrTHLYO4VeVkJAOU0r1r1ay8
h791xlbWvlWR1owLkRjmRWHU2RfdCSBgmkhtmSqrXX0HjCiqz2gNp3cl+64PVQAdJoef9HEK9OB9
EOiIbq1Ss2qvstyCKPQuX8tI+WCUQK3BG6ZkiKeCZAHSdT5JayCxN5TmJ92sEXHi4mx9iuIIpFw6
GWtHAvFqFbIIMqlH2yRXFWwiKlzuMif7nX1f3kBHcgaD3WVmfZtMOvEAPPBlTepVn7ZwsEjH2mFC
5UeYen0ZOPll3yDd0VNz+AY0q96OY6GvitwnpEWYycqM1S6ZE72KwnMHi1ajqlczRyuJM7FK80QV
WxLbCKpIWj9OTiorst1tFGFIYzorW2fdu36TnKaqNsQrpL9hxi4+i+VXZh7kMmQN+RGnfZ+lFVne
gSI+BnGD4jMeB+Cg9H4sYDzh5OfLHCeDcopWH3+BAsDXPnOV1haQUVEaLoopCb8lBj5yvACivER9
5p4PQ1TfO1h1iFdPhB16ztDqLT8pKuicODWmWF1hhIfcp+dmIggpx3jca+pKT9qpXBajGevnjWxD
sgNjgiU9NVD1O6n1db6iGKnqhS5Lc+QpJ/JiHZpFlH/OmjCpTxJTFvERWuJAW6WCPPF1NoWBUSwG
V4b9rSEqZ9gEONB0VGsofncVnjQVznbdTCQ/+JVIH2yZ6/G5WVYlHgujqGv1aKLJO33AzNcq4F8x
TW9rGrp8Oww1YQEafQ9479mL7hfb/f2axjYwJVH20nHWGX84vJn2a5pQH/TEsjsf0FyrhF5ux2yD
y7Juv/w/HId88zk+b/Zc0cB8vtG3pIbhyuj9xQS37L4M5Xiv1WH/tK/6J+6nn86GDjz+f5P0Bl0c
KCimYOjRpNdoaHtYbUYWR2u3SPPLRgDbqUpSL0a41Zevn9pBE+PpqLAQxBytzoD8sGOfytx1uEI+
LoycLBhlMCDcqQDGTHsii9aMI2pBA5ZrUbkViB+U0YuSgdvN659jLj+f1wTzpbTp2VDTOSyN4uAr
dtPCjjFL+4sgD24dNQ52vGoRt0D7P379SC9vGp0xFmesEwUxzz72L6bDuhkVGizDNsjdK7zOBJQ1
o/ZGt+Ll+ehP+n7wxEi5DmX+uZ3FPRQ/fyFcnofGJU8jDHJ/BzH5rdL+FyfEEIeQOr45Wl6HTe9p
tGghi9xfWLVfbGdFfij14I1mzy/OZ8beI1DGRWvih97/1lJhqW3oxFhEFJ/iJzDBK7W+057rSdq+
ZU/5xRkJ+Bfzkw3Cmxnq/sHAcok+YN6Flri6U1Q0jlOQRG/cB786I+rQeTTB1Ao7zP5BSqsylMgk
qGgy4iJcqF3XJtuE4D/qqqKp+uVv33YksjCXYLM+m1IptJ+vIWJkB89DSKKKaIh/R027okH8ltdp
/tDPHyO2UwjvcJGzIv7C+Yr/35VmzmY8tCCFNH2YbEXHw10reDuKXP36+kn94nBsC7BW46IBV3Eo
wLNbx4jKRtjEVivR7VCZxlZJXX1bd25xaoyj+QaTZL/lOC9WdCWYZiIsZDVmE7j/JQaTjOnJjzYc
zlAs0jb4jCqFOO2ehjLpIWSdZW8c8eVdwhEBSPDCZ5kzZtrS88sWRIEBA4wjVnpRrCe7Gha8Ilyv
VpPqt9d/DjUvGsbsUqOrvH8oC5N3n8aDvaD6hnmXoJJg+N9d2VhU1oEWR9d2I423ACe/OkFufp6C
eUOOuXf/qHgnA1aQzmaar/UbBSb9Si+Tat2UabN5/W6ZT+D5zTmv8Wz5eGNjXmbUfPBd2gELIEWv
T9ZO0G0jxZ7rzOYtG/bhPTkfBZwBg0j+jyfhoCjIUcyAOcu459M+vE/qRNm4kKVW7Zj2Z5ml+OvX
z+qXx5t7ciZ63nkB3v8CYz9IRyeufIY38bgMzTpBzmaOdz3LChlrdpC98TW+fAioDYjxJfmDFzd4
iv0DRt2k9PQDnYUm8YLqOUHZCz20kytTH+RJ7brkBoyikuob1dYvj8uqgqqIssuwD060HXqtHjuw
v5XMzKu0HDUvT4HV5rXVfhkRnH2ATvQWFenlPQN7x0LKDKCMsuCwLjAjd7SVxnUXbVT3GXBn1bjX
JQE5r1/El08BnTnc59hAXZfV8+DcUmovtNoQNYUCFNYag6+sQQWRPsNbip1fHmnOLrcZUSN/PLh6
Pc5s5BCauyhUrfnIdrrGUzw15pHVa13yxiV7eW9SG9MIQR/CVEwcMhcGQbikJhoO5qcbPZ2EpzT2
FxkwWaCFcfL6d/jyUuGinDMvGEYhB3yc3zxr68R2UfuTkuNTkL3qqeQLLRWrcN84pUM/Le+A+TAI
VUAtAMM5bGSGGG/SMLcdBM2Y1ZadkDCZu1HvxqVg9uYCDHf4TuPeDu+U3qmBLhL81y0IlbHL9cjj
QRiOH5oZYAY81m/cSL/8EuaSAm0g2CPr4PJa7DSRWnLWdikqT/j4xUZBE/z1r/rlowisDnAcb3uE
9qw9+0uAU0o/xJDkLMImUXbFNBbngUookuY0JRHCbXUXmcJ4Iz345akxlIATNUuPeK0e4tOkAg2m
n8isxq/mbEJrzJaNm4ZvrG77jWFe8eAlOAgqEp4wAtMOTs1OyY0gA0gs6jGvv1igA5RFlCZ0oiI9
q7BOE2ahIPqOM3NnkTz8FoTnxSODdwO3BLUaw4/ZvrH/1cIlxC8hSo4PcHTXBRNtC7MGUTLkY1It
pjb6TcPEfMakZDEZYmINu/EQQgHpq4xClvlFZYdmfm36BUl5vDsC83jSYukevX7vvLiMoIWYI5F1
g9kQwJi+f4J6SZrMPIBCMi31pYtXEB7v8NsvqfkorKgU8fPYyjl4C6dklDhlaFiLNEmatZEX2sZK
zMbToLV50ETKr5Vv9W88Fi83sxrrgTXjxqiMGLUcHDWfWr/uTfyWiUs4Qa4Nd5HQbnLXPnXC5srK
+nsTR7lp91dhIbq3jj5Xn3v1DcwSyu6ZJTLjWQ4fkLYFhaCNqQWw1qpXiqmSqh2gwEaHPJyLijYa
GdXxRdWA/1EavTnqPEtW5tffur7Uj/iS5o9BRcfM8BDoFGtFnrsGecAIQRlCt7L16IUPbxSrB3fR
41HQ/LIQGCZD5dnG9LwuThNSwhnaZJ412yCjKiwJeSAC+PVzOVgMAPiwq+BKOgyuBPiZg8UgynXJ
QiRrrIC9S3SOL9zPbRM5qafo8EE/+8KS8bpB6WysZDem0+fXj3/wsp6Pz5R2LnlmkQfP6P5ZIq8o
cTGVLdqWQLnkzQEHvjDEoK+VmnCj39uRcjTebchXHKwAGq+2+Tt/9gIVtMiCfBAtiWmMIYjOI89U
JPHMfLOlEy9fP7fHOvHZ7crhTIY+PC0o9sEdHeIWB3QNdaSVvQeMUClYD3qXdGZRN7bc9ESTtCdd
jPZ/iRFfjFcEOulAznM68xvhpkp1atbuFJMny2REfK5VX7OXZt+01RIRk3bViwLiC7Bxu0wuiH0G
nj+GSKKXOgOjT2PK2G8VJ1rproWvTXDxWyrn4s7H4RM/XcV/BsHCv7TRoDbXF6+MBr//p0eZJ7oE
1J3/AD/4uS7h8S//1CUIJnwzkI1nDHYwtRv33k9dJ79FKcN2m0eQsp9//euIULx7XAAQP81dB8Hj
++eJoXjH7oSdGL9IwcDY8HdUCQdQNZYZWnWIekzuRCpLsir2n4zekQ0PXTJQ7RnNddyX00dk/JvO
ZBbDuEBqJxK3wUVWieJhmAZxHinTcAIfRzkpA9l9FBilthARuy3ThOAYoEV6yag8jZ/Wq9+60169
h/Yy/M76h7rt6oe/e/+5bP6OSNCvn1skJ4d6mfnof4n6+/9DCYPi6/X77t/+mL2zs7B4746b/9rT
HecAq6aEnHUA7nxPzYr1pxvOUd+ptK4ooed/8Gbhd/4c4ae+mxl+KJB/Om4p3n7ecLp4R9+FhZrV
+nHG/Vs3HB9lv8RWZvssyyPgwP1bDRTpGLQyro+AWdUXAJu6s5AojePa1SaiJhTlQtULgFpuS4gJ
9A8aRxu9bpRNHNjdZZEorlfhVV/5deYfRSEBEmQudN+ybI7hsMbkHldMf+TgxicfII7JEAoja6W2
IN4L2cGEDkhfyFh3N6gmCCvx8e4gHk4WZphXiUcDp/D0Tg7vSWEOSPDNp1UwaepDInGPMyYl0o/e
lH2EzjS5cHGEnBS9VK8mopi0BYgP5zLJHO2YtrRz16MDOo6zNL2nQok/Nkk3pCBFqmoteMstZZs5
WwXSMDM7NXHeYyluiaHPE8ZnSn4iB9s+Nu0oOq6y0L4ENz2eAi2rbmmVUcG20k0Cj44TiB2tNY31
UGGEhEM1XDAxNguv62ZPK8rbcNHXfnlaRWQaCLW3VnGUWeetg9C2UINtEyXaaZtZw1HlS5LX4jK9
yxAFXP9f6s5kOW5k27Jf5M/QN1MA0TGCZJDBRuQERlES+h5wBzB8VcMa1D++H6kVea9VpXSzUnWH
NVCaKSUxGjgcx8/Ze+2s6ChjjdxX+87XlpzIHHN9l804HqtKEO9WllX2JYabNm84VHq7orTG05QZ
7ftsK7xKizP8gJci7qBETt+KddSusH0CSLMEUImYAa8EUyH1Q0dmyOvsFHgCh9W8WeaWVBhjSpOS
wJec6XNH3+c1pvIckBF7+mfbLdUn1LEaPNbQfivslsFnLlDSrpJwpLrWFp6r18A3kwj3Xg4Xvfaq
nTk+tTCqKcgTAtERK8ylvneWtN44sKuRkcYdrI0pf0y0+qElb163n+oWtm5uK3ezLKrauWQLBiIh
SqwgNzBJrT282DtTz4NpXUWUIPB6bLJF38c5zlPR/Eg4oOwyMytDOKcdcPBpU+frV4eoEt2v4LPj
F3Rt4B0SnbFBcKScrMehBsvSVeW6jwuxSf1kozL/Q+W5Fube2Vgc+0deCz109dmcg6tr5ZsySHyt
Pf1Hizb4hXPQwHCbYLnuGs5h8cub9Q9zVtmeQ+Wr8it1P5h9cew9j2Ssr47RB77Vw5AQ/s5Vrghb
PJGa8U6fJjKKYt1gCj1kRb5zhV+/I4S1t171CMuv3daieC5gCpXa02SCdqvS23bynENZxAS3uQQ9
el3g1vIBxUoaWMT3Keh9AZv3LhnKvZHWn12d0XDzqk2lx68kUB5MOwfHltFSqRdLBqOnHXqtu7c6
kd2kbhYljf3mZck3V8/vp54EocCwv2eucy6yGMuqAiGru2MeWYtDA2hOvcBFZxqpUhzFmJwYyaIF
KHQ+tDq7KWlkyFTQmVGm9aXgPWaPa+o+VLHbP8NAaTMaZMWun/LdoJvxHZmfiOpqIKRtHo0reDtG
A1E5ocigux6MrpfvW52VCKWqjjjTvmpaFQ5m1W2biUEnnljrUFmkpXf1j6l8ViS4QXFCatObRISY
3J9QsStE+zrSV31sbmbQpoFYzIOvkzHcc9c9udLwzmol7y+dvzvrkt0A9Xq+amvPE6HdUNiwg2au
t/VFFZEijwlXbtNqWsj9MC91J8KmTx48d2y3mZi1h6VP3B/1uMaA2ePNJKsZw2th3oFe/nDjVsvD
uK28D5jMYxWkDYrZkLxRB9y7VT04fT99EFqahvpc9/fKspOdGNv8TjNaIIdJu47HltzYiNDC+KZo
tBzN4brqz43U2ihliz36KdfXVu3nolbzQwCz+1xTv/5uVpp5TvrBwurdqW3sg5stPYshvVIv9iiG
XePE9t4W+ktJmFvg61dxeo6G/sp3Y0Ko+hvCPUnzWuaGplFhOXgyzGMPbSrsh8QKV09rNsM0vpdE
eYGqIj2bAueom1VygyHa3ZSzNYaoAO48WMXhWEnrqfXb6cGw5mNdu+05m+UHBK3ijMKnCV2pDcSR
NfE9WPPqk44DcWfkVi6BOdXWnZ9zqxaxIQBmpb1XEzm5EG8j8uZhXoh25sG14G8YnoSSSzgn+gME
v8/VAniV2pm+tTFdPknRygj47jUMCo4h21kxn0rDS48xcQ5fxrm7dJWm9AAaZfyB4hsSWA5FSOZq
h9XjxFBOxWSJ1GypSEaQB3o8c3y93FfFDMeiUjsvRsqhJ4OlIGoNth4tKagIrGNO/7V1ancPNF0d
R2mth5qU5zu3EXWOn6W3WHyr0tsN2xis42yia1moyWxIygKa0N/q2Tjyg+TBMkrkiRw+Iz/v7GCp
J0JOrJNJj+huGjHL9NXXpm9NaEGWvoGvGG+IvLI3o1Nzf1dwgsay2HIpKh7GpN7nwiXNLxd7LiKX
vlg2TWoIwu75oIFmEiCjk6DaeWb9HuvFCheJNkKBE8Z/hb1megExATwa/AzIlIdOJOz9YQhMjK2h
NUo/WtuebO/0nNjwwjw/ucXUwXmyrHfpIKZIjrYbzjnidmfYrl7/pSdWibPZD09j8HTFQ25Sh5g9
a5XP0IB4SK+de5sBiOsYKTretsTcElf9TXuVBGQUY0cM4fhMqsIgLHtdQqRqw369/lRRvRVQNLeN
8U24o9xUif9B/gxU0No+NJbDNZzU16roTl7jumFlCgiqpfouZ9UOTCwVmAvCQOGs+xtpYYiB8I2F
kJ5ygB8/RAV44xEb7kvcga4uIqtzwsExiq2KsVaZV4GcsLWbtSS6NSsPdStftEW8z053Df927TCj
ZjguUqH/Xc0fYKTv1wRJcm2qG1NYe7/Ib+ERBOMMf69dZ6gAjvbpFjG+mAUlDKf4ELTnyBzG7Dau
OfxYSK+Y53vH7t+w6Z8JiYRcZIruRuKWhROLhb+rvo8cdrvEi9iLMoKcu3eKnPE4IXwMJ0gSO99r
iYgy1e0k7eKBSZm2oDWrupnosrQ9ustTTNZz4OgDcG4ihukbfMnktDfnR51gpXCKP9MuNk6J7mxG
DAljORZRKsCxkpgAg3IrNTckUmw7jPVrCncwzOrqhWTQEDzcYTHO3mTdMtQ/aIOj3eBZ8AMuS2Sn
6UemVd4dxs+wGaskKsz1wXZQg2fN3VC6ZznKOkgray/Zo/ck0L+uovC3KJsONuoVj16c3Gdj4t5Y
UgadNaUH8FLBTAVw49bpy1AK61Kv3g+jWYKyv6Re2oX1WHxpZ6KekzT+9N113WgVjJE5D+dSfnXW
7MFUgI+6isUq4LIhx3z3VJafus4OC43p8KqvD2ls37kl/SmJC73W5i8LssP7drL66Po12QagCaey
u1vLEtZd4VyIoniBJHCwYYQSb1o+mtP8Y6ZVEVgNeYNyEOtBeVb/TWT2cUhyM5ji+llm2pNyLQ3a
73BizRYUXdUXD5MdW4DCLVZ6K3dZsbWA8/PIo0vn2OvZc2odgBsqKdDUxPyKwgv7qnxzccYPsicj
1hq2uq0MsrmuoThVLQDaVSktlbxrN2S53qm6OVUtRS1J2Y9T4uxbDI6z8J7MibAqWs/pZdKLfa7S
mRoDUVbWcEcD2piyb7lnnydT26mEBDq7ZT2rCmXs4p/0dt1ZVhc5+nR2kvJY+PYt/TDSXWVCDBhW
yz0Bol4TJaw3uCJpkCRtHSRGx8UgppN8jjySCviJPaNC8+Un4ZT51nbJgjHmOt3ZznQgKZmerL58
Z+MnLf24UIsepmW5oY1ETbXucbWHyPa2g+HDY4NycGFAJ0IXgd+zKMwbjabwSWubo+92K1KER4Of
hj2y3Jc++jvlHXOhPfWUPEZnfu0kpjdrtO/lwCbaElZODNk9hEoq3Lw58Uw6aXHzIua1CzWDOD82
cQ8oO/O6fVqWKPXy8V7T72H+HQZneahzoEAw2ICMTwY3q7HmlHLtMXbFxdKQeQxD+i6G6jZfCXZQ
CfsGNjqRsU/37ZMzqKqDKeTXd1LFzluMPMjOYUl3Un1lwfIcXvp0xwQkEOk0bHmA/rBtero8Hk+A
B0nwMpI7MVsM8LUvFFMkeeBhhMI8Ufj4mtq4fX2hC3fXQKJlW22KF+nYLEwQO+xJOcthJQ3MaSCK
yGXbQD45+P233olVtOhcasD1F5dnC3y7F6HLG9cpLULdn8y5pXAtRRPqJCxGTjuEcXHNQC4IvFUJ
6Yw1sqhP8tHm98nx7zJxk4mRTGon2ZAvfUKlNQTjKNtgMTwMnElHATRaJTnbHmLoESBc0TyLGaab
Y3wrJlGwF8j1YBbAzjprV7fJcz1cyxC/2/rDOB68xs7D0bxKDvvxUikz5RbrCHvMJ2ObO85DXUBM
NrLxvhmyT3cUD66+7qVrVztAuWlABpXe46jrJuiCjkexLJSebtNM0kHni6jknZHrX/qOIs00mhOB
p99nUujvWh+vpGXUXxf+yhgbZSRl3G8LYeyEr0MeRDHMYh4e9QRT+0yMYWANnBHQ1+YEG/rvme+g
bJ0Tea68an3wUpYUIaCh09sWlSKSJLetz003Pma08UK/umZGy/pktk5/kO1EDkdNcPWUflu79MO1
YBIJ1RNU3YBMNZ3+iwsn/Eut3PvKm7OIcwQ0itHnY7TFztHLk+aqnK0oJ728srCGQFXsRLns87hl
LmV7R4as3/t0VBHz6/mIUKYKY3Mwghgl9w5FfGC3842ptEeufLVhcpBtyIoLywFxGKQhL9IGjGgs
z+p2HGl9FAYx3x0NgpFZbuRkxqEEpFjLzohobFwGa96qnvhwIcYCoow8gjPbO3nypPdVu5thxe8G
o9IiOocPK5VALq3PAdNt4t/niQe8zwPQxBbnj/n3Ose3Z/TWBskZQq+k3ivfOFc+uv+Fktql8lqs
hh/VUMs2z7Jp9QDn1i5JM/yBZRIQ0MiRLYdKgEwgVIrALCOBoKXgxgZjrnGjGu6mhQuV96Sypj6E
V9cmFVjr9f0KDbCGpYrLp4xiZ8GoJ8d+swjArVJm+qkVzo/J1Y6VvcqNkMm9paE0GtQadorwUK5q
0HevPbv0Qem2jFLHyaOkjd/Yau8sUldK0JVBl9M7Ao7OB1Uj/0nvm9j4UhvzeepUsXGUGk64rm/a
VvuaKe/71GSEEqKsDydyZJAbzQ/wQfEV5x7FBjLAgOcqUKlxeqjN7lWX5rOX8tR15nHXxdMmnewd
sHE/GtsiHMtq68/WEwBe1ENGmCkgvUTmHESWnS1j+DpWxXOOYsrKmzPdsilMCqzda509AU1/6I3u
B77160qJl1BbEXR7OXaNRIgt2MRTlwKkd50mTEzxiH3jrLUrK73Ska4j3SNBnVhdnn0Fq8dKY+7b
VXylI3z1Uucru3Fp08hRw+egoxiobGubGLg2E9vfaqt125Df2yX9NrbSH7mebdVoB2jC5XPSy10h
KEZb2ivgFzmd4MJ4MTPjawnoIpTtwN8cypw4EQNtkePu2k7TDuUcGzBjLZE+OOCbIxLfH00OTlEi
1y+849CU1WNVkStbWBvRkYoME72+Mcese5UmY1EdRS5J0Nnb5K1nZO9YtU3n0iR8iasxR0tGEWCk
9ssV3J8XixuViqbPVHSXPC03aZx9qZ183lW989Tr7m29qts8kxwOqtvSfrZc24uKqn7NeuNQiOX7
YPsnCJz3gH03Ew9RMGBi5XyBY1wI662qLcIG8DQjwdk5ObwzNvpNyVJ0q3bTyObASH7v56bGQjc3
lY3kPsGrGigyc50WHB7dngLEh5a/9tfNBV5pbNuvGVRnXRbp1hUt6SbraXDWbe9lj4yO63CJU6jQ
JDXpWr6drOLYdfIO49pW6d3DlEy3HGGbuyJR9423cuJQMQDnpDjRF+B7rY+9VQ5bv3CjblVbrfTP
smTf4dkZuobog7nN5wDb9N0kvHu/I2LcnIv72LKyXb4k+7iut6VFs5bnU6Glj+Vav1rzrG3RGraR
7QIwHUl5B1NWhF6tgaeFJZz3Y+iqWO1awdbDNE+7zMMryP59Zm6ZWfshfNce+2LLksAToapPGmIY
KLVxM6W6eyZuYCGK3t7pSYwB4MqlIIRcstQP0rxn3HYUlndy/eaeg+dNBeQ5bicMBPoT2vFho5Xi
JcVsGAwNCUz18jol2Z5gM2qA9uK4gtFc80o6+AtItDwY+sXcq/mi+VQ+PWd/8pDxvOjLFmPF8A4z
/11ow1Gk6cYUMb6Bkvl9A+d1ZvYZ8Zvz6GOsXtPlqVTLPVkHN9xSJ3MtntH6k7PiqhdSnPMAR0RQ
LM3Rrr27ZvV2jjPiSlpb/WFpJoPz1RLacjxyU0QZNDrcCy8xZwKCGcTezNtzrrBEt1dUgdtPO+b+
5G6DJscz3R2LlDafbd1ntnnRjPLgTd59J0jMMopozjEqTDS5aEcWoU6PrOw42hnXs3L/3qLxKCeH
tqyhdlWy04zljmR0doGhvjHyCt2QwRG6NyjtE+b5pNN1BPKRF+FQfK4qu3NNzn7V0sMqH0KgYBib
ihvvjyxfszzIXP/UUvECWkojVId4Y830v2fp1AS9z/pG1rzQSyiXx2kgJFo0Y/tKbxHVYBylipNM
QnWemknULfabK8e3ksNSVGqqOMUz4X/a2id3ZI/s7ULdON2abxHIREvfUGbJFej5YO6b/mLZ442e
lT8A46bPjub0W8t2+/26clFk4cuHejUofa4RHf3Q9Rtn9NTuGluE73Y64iolwaIsTmas72v3S8Hx
Y7MMQ8Nh/DPLp81q0TwD2wGrHPUojF3Zt89A197KyodHxx2eaR9+mTxpcj55MsZr8lgaFI6dHWnS
+5FQqcPwCDzXfDfK/rPW2i1JSZvZHjaFLV7t3j3gldgQobSHU/KCl+aw1vm3hWuLMQnrVnoRxoPg
nDfiqtWc8sHQyjkYHfM0eckpzttN6w77XHOuRBeRb4gebIIhp52aOXI5gtO2bjMnA3CcchXwWc3L
S44NLaRhrXjy+udmzZ/WvjwzH6G89RgKxLSOeo53W5lPeTCr5MnpaUN7PnsKHSP2O5gunWXspjr9
GLWCMjbeun5pbuGUPTtxr5ij6OdixtUsrNZUCLnUNlPlGjTD1GwXWpqbbrk1YD/P7WM/WalLU/QK
/K4/eXpzJByJkuHAoXZGmtyN5IbghPlAf4J6ACKXqxUbpdMccQfqkjEEBpLuYEDBkG+0u4GVxUD1
wgHu3maf4I8d52R7zcE3uo2fUbsih0hOtizhg8/ifeqLW5nR6hbZN0pKiAmy2BQta6agfjuIRXev
GXXxpjC0m7S69kB7eNAmkeYJ8SGBzoAg878bHnuTm+Z7bJIPDkH1oSF1O2oE6H+637SJ+x9XXx3w
lzSSVlYfa0YuczlFGQEaD82aZXtO/O3Rhxgf0IimwuV5GYjGbzfSQJXNUTscdM3ZMbMjMkA6+wFa
a6OJczthHG+GmP7qrO3T2CBRvhvDPjPezYkbZzVFlLb50e6wdQHArhhbjNx9pdFQtyyO0G6lbQ/7
ysrp5+Sr80TmytiE2eq159ls7APuHP8dj8tyS2p382FjtmYuQJgnslVdn7YTEBUK0iG1IhTKUK+b
/EiL6EEtyteiCZ3GTLN/dpDWanKMRFy1twpjIINBLZZgX3Srg8+f0TwwcBBk2VdixLvQt4ezPzVQ
qZ38U1vKU6O72zmvqmAG+aML4BEyLnFhOe0dmT/tVwK+6vNc5gm3Z+49JBaiFjEttNJKr0MWKZMy
37VjybVKjP4j12TNLU4NbIRaXw1bgsqNqNHr9aYSbu5ygJkpQJA77mRipfc16QgXfKvWzgGaugU+
pJMzkJv+t1bPBaMbGtf9mHtYz5NsU3LwIltz6razkWfXMkPfrMQ4nAocX3cp+Y7QygmKDCwbnVFc
t/33JWMECm513LgT77EgTxjv2qrGPSQb40aVSUGMYqY9umhAyWDy7PUQr9ewHCr7mJTDaTAcgq+n
8SBXZ4LP3ZV4igsOzX634qODWmC3HP4FJWXb4Rtu4Fqe+EbHLXERNuKffK3ncOba7kfqHOOKFwKh
RLu+mvEIOEmCMrqfd5qdVfeLOXunWLgeSPFW73/MSUfwgttyy/jKzZ9XSfZTaE3wK6k6hfs65Z3a
kC7Q7Htj4Xi9kgR7qDpfHoee2mqbx4InkU0eah0gHNZPXaKom2Q1UjMl5daYvOy9WCvxTegLjZa0
nwC79npyiPWq3dq8XE2l7Xc8RD3/I5lnflqRr3d2m65bJrUuqQpjYbwRTDE/WGtrRLH0+2uWEj1f
AFPDbnHG9pjQCNoXc/XmdWp9goXT7EyfUwbPq/i0Lt1851HPnOlhLIccheHW1Ptko5fkGDZ2C9vB
nNJHRRfrPp3mYqMVtKAkifM2mQ6Npe456zCW88a6p3gfsn69ZnMkdNS5+4Go5+7dsEzz2W6E/+iZ
HNhDjUzTW5PezqadM0JUyF7I3kY/7W8tsu7vld5YR135/Zvvx/1yUwy2lu8bquITPfYhDjQ3E8Ob
W7hjuMqZqrLR2upHIlpz1yaCcPuEmLxs7yUJKZ5xm0uaIsnC+LE+ljUyrbSUIosqDJocrWA4MC03
ZvvMBuLQoyk6+CxOl6X7shoJ/HFbptlKNo6xNehf7FZLxI9aKwD+FlwC4bEtxnpd3ayjP78g+h9e
PXq5m67Up7B0ZXLAFDjfwpg3d4b3XnnQt5xBT/1Ajrp/yVYSGGbDbAmt1Nx2YxMK8TAU8oqZakar
JZOiwqrAFv8Yq9Q8L2PmoHinLElOllQcBRXRSU3gKeWAFK6lfyjJAjl2Zgrnc5p6SB4EU8l16w3j
2XDKOKzzKb31OEb2gSbEspFV54ZmnPvlN/5fa37mGq08vPJNv+uh6dLk8BO4PLkqEThoanxKrvAA
ZrLKfoF6ar92KN9obriLupmsaT7RZcMY3djaqVnm+H0Sg01LhP552NTrEnmpHt/2rm9umoIuPp1q
qgjMhB+VNRWPvrOgdqP69o6JX1pfuhmRqCQdJtDqenro3M7am941/qae55ehSy/kmacPeSKTrZ71
dDzZP903BAOJ2qprfJFP82JrkaWqnUW/TuKy9Mq9c5X7ZpWd9h0zNvXPcKVl2RYTFKQAnNd6rDGh
cisfrLDTxmewYM7Taqbrc8VDyYH1Rc9teWZe6V9khmAwkIKucEsiQDlDlxbZzK4w17lao2FGDAFx
z3pcyAx4zSyAu6pshsD2xmuXKidlpzKd5ZWvuzopy6ehJ8AgHDUOvmG50Mapna4P5Vikp2VY45Sj
lmW+aannv66MGXa2VW3TnPZUIt0EA7lrv05+5T4g0dDcAzaspQWuIvVNNo/qCfe0fYN91dgUTsNZ
ZrJXRFa+lT+Z+MsDv2Nmm5k6J8eULzXHNrMdqjFHdgALJXK74krY5ug/YJMF3SIH8Kll/DAYanha
0isyshyr2zhdwAAoo+BMO7drQ+8IaQy6XJ0zVcGIINeld9cWRpmycBuzCNp61WS4lpMPj4b1cttb
wM/2ZOAQ4eZolTyvyPRTEAOtdbusZkzVWy8qqjR31TfkvXLawF4xcFiYrRPnvHGTdPUDrW0SWUoQ
9YEPQQpt6JWaNiyxyd7HBMXtO1L3BKWhm87yHtO2HZDx1N7bjYTiXdt2GbEzL4S06637JJuSKT3m
4ExDu5K0Hw4Au2ZjWtRGhBPTbxVJiV570CG5K43nkSkzaNFkhRWvuB5IAkzRq9wuvZQfdqEbD3mp
M7cqdM/aOiyYL/kfozaAQskm8QpO/Ix+q3vDmpxhb/i9Fpkssd3aohEwhJ/ekbyCWT6f65tlVP0P
hwFVoBp3PRu2Npys2UwOGtXpBlWh/U+Tw78lpvt/IEjtvjd3H9X34f8L2Ryyyr+Ta/7P//pv/+O/
/hPR5n//WTbHP/uHbE53NdSY6Nt9FNgudtH/rdPE4vMfpFC4rkfqLIX8lUP0T9mc0M3/wNOEqQJw
rH115vCv/qmbEwY/EKMFpvaryxHh+L8lnPvDLv5/RMWgqzw0n2j2ANMR8gpT9hf5nDLcAhFGf5H2
7Lx6MQSCTmjWTiBi2o/eSLZjZpqnYSiMQ4ZcBUhAYXy4lWOEIEMa+k1Dd2vn7nqfsFlFZmKu9xhF
3N1AvuNmhfPy9U9f8fkfb+3PcRU/+z3+8YbZIFH2IDc0nT/CH/4kuk5WLWvttBguGBPXqJzZPSgT
tagxBkJAy/S3suurMv7XbwgyNF2uq+zJvl7BP6u8c3jeHsCXgb3d116szr93qvWqZ2DSOM3eK22W
5masy3zvu9kUFWj9IDPKcpOj2glaIW+LazxSXtLwclx/OjFToj84llSsC03Vxs95Ji2Wu8sxEB1M
qCP7v//KEGD+8gmgnmM/wp+Nahz4+8+fYNUn8BtLNV5yZpABwwj6YHmShb45lJuldC9a3gPHG6bL
37/uL8zD67UyMJdxfMMxA+vY/8UOIAi9qKi8x0sTLxN8HQM2QdJmx2oapxsCaXt6TmI6NEms9u0i
APzB0omo2f3fuB/+6p3w+sQaQmyjW/qrQ520D7ONiQS52ESvglRtzGvciTxlUzfuF5ve2OR1+nYc
tP7gMlbZWgNaM6tJp9+9k7+4GJ4FxM8F12bi/fjFEt1aM5l7dQvXi2YaBwAiJXw1qeeOFQThvJyf
+nmgeTBrXqgjOrnjbio2VcZgKZYEpU10YR5oN5WvV6DBbTlMHO9FWd5pCBF/4+36Qzz789o32Z6u
lhEUvpi4f7mAZoXqFTWCceHIkEHL6drPFO5PaNfZcJuajDzMGfQJU4D6kjPbunFkzRJb1loHuFvM
W7OhRcwfZ7uaKee9yGDM/P0i+9nycV1jV9Ex15UgZ6ztEIl/uj3FlHSwf3LzYmWDucvbhYaskaHv
wf/wD7X4/xX48Vdfh899xI7MXnnVNP/8WqWfp742W8ZFdhYEXI+D2cokNlVZhB44g5QkRPUka3IB
Az3RtEfDRnS7zSa6Xxu/7Rk2pRzGhw14lGneMkK1naPIfJ0pQmd++/sv5rpz/3ztru8QzP/Vq4aw
55d9a7B7tC5Qri5ltWY7SJwrVBlJbvm4dGEncwMS0rocyENEdmjF+m+uyx++7Z9en0RtGz8ZLjnz
Cnm+3gh/2qjR+rdTabn+hfLRfiuB2MY3skqYQTa1pV1GTmJmMNTzFQ0WW1dkSglpJXLzEoRWrg32
e+WXC2LHVkc3y1yzxKc1x8+mVbqf/jW1wEVDdiwq3R3Q4C0SKKCDBCT0tNT9zHrHmgIUv1ROQ+VN
t7y8OTEyVvlw6BMnbqkAGQwT4FLoBE/Okup8nEBVhQNJXxWWU+Zj0u/QVyRglgHplFPxrWt0/xt+
GQ6f8VIlzBK8YnhyCQhdQ2hs63e4QXNDzIdjdBE4Hw8djDUWGlxbtTYMXVt0PP7YkjY3KgajifTo
AHpypcEMDo3Gwlpi/toQL8wQGeNxRpbjpKfDNln7/MjYl+6cFveMtytMHsVt3uRFj55qwE2axRT5
UT20Tzm5vJTxU1JElt6b+nbpDSPeMcdEP9AVay4OLU6sg9JGWAWdUaX3LaJagjoNZWthPahSj/5+
Of7i9eNGxd5GxBSLAfMAm8ovG19SWwN648m9ONXsb0jE0YJqcrItukPrHTJuddZ6PjPTFPtytVJ9
m9PS+s2i/JfiAWgCHgFMM7is2Tl+uSf0hgzNtBndi6i6AjY0x7tacIDFx9XsK9dQv/nQ/7I58XoU
fVc459VZ4/6yObkt8PLRSL2LEJnal2lZRHaTuFuP7LzfbE5/8dEA15hs1C52ePdXvjB7LAJVtfqX
vqH3bBK2ip5Bp04ZYMtUhl9u//56/sVH4zFG4UhdRNloXt/Pn27vuiWjKp49/4JbkqFSZznctMX3
Wit/lwnyV58Mz8nVasymyzPz51fqrFS34kqLL6rVm4Om0HYmrYj3kgdCBH9p/g1C5K9Wqo3XTjc0
Cr5rNtbPL1i1BY0lv0YORDN5Xwy9uZEIei76dcxZOzzRsnGCMEJENs0dmhBopNrfrJxfMKR/3C4A
WjQebBipNPdXkEns65IcbmFfFjwrJRgfglMORddpfVTiCokjeyYG89DHwAhICeMgGo4swiTsa5fM
2NHOWpqWZWz/7o1d79Of93ViMXjm0qSAIYN35+dvxzQJ6aUP4F9sJEvh7MeHNvbrg945+sWsC/fY
yIzjtRnLSBOchmWzqDvppM5vFqBh/ssbMVh8fD3Yzf6IQv75jbD7YR/LvOKJFoP4jJMhY1bvW/fQ
HsdvyDN9NGU0yTSkFuX8YTRsc6EGAQ/kpOcL/Qv06eIlpUMX5ADPXiDidAv2EBHrt8XQas+mcdVk
ZanrQhHUSLUItOUqQmlLy0zCrG3BLP79PfWvK501TvYHVnq6tsavgPKpb8e5Hab4AtQiDYh0ZpS5
OgjpUH1uZ7P/3T38V68Hr4l1Tt4INuRf6pnJLGmlrE588Q2g2wxboqwoHlea4P3oTb9ZOH9xva4m
MXZD1g0O81/NwYauBpKePXGpiTi+NKgn7g3yfkJkdG1YT0tySOGHIosz+gjYv4rMmXMBw57PgZ35
NgEZh5A3lrvSsEvkC45Hzpo/FCHGKpv8hGXwaOAM6waW/HpcnKz7Yq7cKP/+NWK5XT1rBBlScv68
6ipKB0igWUKZlxCC4MTvDJe+DRKJCfHZf/9a/7rH8o0RhARfiFObrV3vgD/tsblZG50abBiPio5p
XZnvqUJ7SZTA29+/0L+ej9hgiarBq2eYvBhQ6p9eSU3DWC22nzw18P7fyZpeP8z/xd2Z7NiNpfn9
VeoFmODhTMBowHeOOXR1JYW0ITRynmfu3LVqe9H9BF4bNrwwDBj28xQM+DH8O6GsqriMqCBUK7cz
kYOUKR3y8Azf8B/MEUBObgw9uNDSjBTKxV4dkmh3CE76orE+9SJFmDkV8DJuFx5IZhbnpwwPRJAg
AwWSyGdGUFkjwrTI/FNiVfbBhrxx34zYq/WVHR3UqG62Takm162BoYXjes4daUmxoAlnPH8GQ0rn
EPITu5CtzSYliCKnToLg5PpJf1Ekdg9GDtra66/6wigmpU6SCipE6L7ITfrkI2d1hWBgOYQnQPjB
JiAA24Rt/HcsWzBg0vmATI5Dc7aU0iqHoqiF0ampJ2mXV4PJ1anMo5sm2vH766/0KPpx/vXIPblC
qXpJmUBTvvOTdxozS4PrUEQnbuxNBvnNv+4HcDVrKxwrsQeYaN4asAPsjZegU/tm0jQFBd9CjPd9
2cM0n9xmfAfuwL3HPiX/gosf/SdvTcl/r6dWrRMs09temw3QiNef/ZxHKu9dKhayHIewEFQIfRam
AnnHYASm1alW68vIwqCrtOt3eWJcYSH6FUhuunDoP9/kckDsnhjZIuqYhTfQ0uIpqPXohN0eHD1c
V3de0qrbgibewtn10lDUHHWZvWoyrT//LEmGMrMOrPzUF5DCgsGBMyoqWDIi+d2E+G/myi8NZUFA
ZwlYKGw4s2Oy0iIwpTWXM/FvtJnK3N9bSHtdBJpYUhF59AqcrTZp9ip1rjiPcS46fy38WiN0dZv8
FBtl+8axKu3Bnxz7C20e8bEVo/5N71rlJqJNKdZmGtsPQaUYwPJjTCtXZhsqYEiZ9jiqbODn0Li+
wk9E9tdXonRYF3ZUaZt2RIBw29G2vvaKGJUilqQ+bfs6rO+z2MxRNEZ8s1hl4GI/Wkphfakq0KOr
Xh9oHXRVM/mXIFJNAMSq6O+UprQvomBMk2vfAmqj1j6Q8cm3IGwCUbJwf0SnF4PoKMBffpo0ax26
gwb+BYM+mnRN6Lyp+kGd1p3mZc2uilSQk4ZVlB+V1CjsFZJJwSe1GHS8KKK8SralLW2tmyHqfwgU
pbi2ynYXKVRM6bO7tEqUtkj8dQp88bYCRIk6kUWHYj35XQdkyoqBo4WRW1/rZQPaEGHM4TYW5btG
8bxom9jjeJU0hbrgEKM/j/KAN4Jt16hUEzc8Wkg9OUrwFTdKaJUF3htpEEKoEEmPgm4HcmdAK8Pb
CHWC8OyNjoV/9+DEXzyrQuqsTKrqTd5VPSeGXtofJmL2ZoOThAqyrwSA2nlDfeEQFV1ko1+8h9Vq
rlUjC2/jKsB8FBnG5rYr+xb7UUfv3oRW5H6t+4FSrpb2PQAqw46/lwh/o8eTAvNf90Ejhq3dN9ED
vTVlKQ2aMdwfTybSSebCIr1DkExuuSczEbluRLM/q7BM0dyvpgTXAwFr0SAXHRxdniIMWEJBK1nO
KrjhvaX0WADpUQ/UxhBpvkvBiTXrxE0rgfZ57n3FKF13NnlVgrAIdfVjMyR6tAZWkt3wSnRfjYIY
HouaELJLDF8HclriC0B1qZndNnyAVVmHlnXxq4ewiYwoMnJAxRyEnWZ3YtHmEeJVbnFSB03ZCTfz
LgPRfW0UuuOBM9pXsKaXEujnJxalcVSsNEJTRp8nXJrpovHZ1flJULXelEXl7bTUsLdq1Y9vX3+9
51c+WZ2sIkq5H8abNV2qTqh6LqLy5Is42Epi2NYdhmkhsJAXx/mxyCiyXCnkJDLO+XqhgGw2JjDH
02DEwaZWHXAbSrn1PcTyg2Y8gv0NVmYXD9vX3+6F1JW+lC69DeEmY0IwO49HYRRhatv1qSbsgCk6
qTd2rgY3ow3xOp8UcQ8JKdlaHH6b2IqdW2ql7vcoCOxDKFUY/o7HYcsgBS17ac9u9KZriB5RRj8N
hRj2RpietKpKQTTDZhwLZKEN1RnfOCCkdpVp6/thGjuI2rF6qRVhthDYvvDp0UZCxQu9IDKZuS6v
FRlVZgxqferLTlunZR9sVKAaCzHFC2eFSSSJ0S8LGROTea4FXVG0fdj1pzCMxI3qd+PXJs4JmsFR
4GuUW6BgufKkQLRRX6Y867hFgwyCY4mwLkoMasJFZKlxTj1VaSvnovR9ydL2wulrm9R1uzEtRe/X
FugojNJHrb4aVAWJOcfjBzhJdkV8qNLK/OrBOV9rjZK662nEtGAhpnmMj54uc4oQLDUmU0fqG9Wb
WWSLMwoKYvCdTy4dtj0QBG7NuNbLi1Kio6jj7DO9rq/5Iu+mrIveIZtd7HOMfVYBXbFdCjeakkUJ
I97Lul0e1IjT+Gghxr06LCQUj22m+bNSyHoUPEVjx5oFYBgjWGFTmMPJV+3xfVIOHRTDNgFAEifu
tqqxbokdpNnx/FsDDzSOsMaVC5xg8svShiqjBW7zMTJxAn99j8zPPjmHcm+wZTXUbOcaZEXXBjWS
1KhGZWC1izLsrlocF1ZOOwZ/x1CsR8dFLUPGobPP5aP7Y2WNNp7aEOMvgAslXhteuscJslo4AOeh
vHwr+h5AkNhxFmv4/ABUG1XxzBQtLHkzrtGXBJPSe5CNorK7yRIUUoRFUPP6VMqraf6JHXSHqQih
0+XOq5XCLdvQsjsGLTEu8rVBX1XGoGwRyB43ahkslZifnba8JaveJmvXaPPq8yzVEBpuDG2jntLa
HXc6wQmkSz8MrosOj0ENCZI9fH4K64NJPQRjoK7K23eFnro3feZXC0v8hTnn01Lhl/r+lrBnK7wt
XIW9ZagnypXxugvb4ZhTc1hBURW7stIGmKX9uDDnL50BICz41AAC+GO+r5zK0GOtcKaT6SnK1eSa
2So2wnIDRU/yzkxrq1dKfiqqLIFBFKunmtbbhlpScdX2zY1Cu+PKBCD+pi2U5gJw+nRNpI/5lQUU
7PX18cJWozFGFwK8BcKH83gWjBatZXxRTsDX0/fIRsISn3BTqrq6WNhq8wCAlUGUQeysszSk4vf5
+s/FwAFsJOJk2O0EVFwfL3BM1XZmUmEdOnYqOUY+bAcvXlLGk1/5fBOw3SCEAilDNvpZ0A6UBARj
4k4nEPvqZQMu9t6LlM+vz+Tz1wPBxbkFZdCgofRYxn8SD48DDuk0A9VTVgBD6/jhh0wFD+0amP7o
QPcuqxJ+Z+qjZfD6yPq8t0oi8piry2gRqJQzO8TGzofeGOraqZiMcdM4inFMMa6HTQ+sDD8GI0SE
Z5om9XNWo+ywavJ2gD+Oalq79tTU3tLDVNV14XQ6evZDULzT6sA8DLT+KyQGJn4nI3JvdSR61c2U
jdOPQUMNc10ozvTWscL2bZ8rH03AevdOBXJhxzLwxRqlQv2HMZkwq8GSTJdNaPvDDs+U8FPrK+EF
Ticwbg1ajO8brHgGuB7FcJe46GysdCAr5cJafyyWnK0DB6dJBBLRTTZoExmzENRJOtmJs6DB1Src
n0xTW6SP8uHaxqvGR4cIM6I7ha5FijcSoi+pnaFIBMQtQXQ0BC68HqYUgLFR6j46Fo2SIY5plJ8V
CLWyaavh7zgloQJqMMs2UdYN7op2fJqjydMAmxgRJtFWMPe642S7tr9ztca8HF0PWLIwlQZVCtos
BzopTndrZGW0UFd9PO3PJ4D2GPKe6H9TfkMEebYFFWQOer0p39l6EFwVRdoehBnlCN34Fl59o5cj
+58GbXlLWhMd/D6BpFa2FoQPlImUcpUjKBys8TgGFKkjqHHwh9jdJl2JCpcDgNLcGDQ6bpzSodVs
w8BG11Ppgy/gWQn0nAr2PqB5erpeZld3cY+PMiJDk9HsBK4bC8n6s23BVsRyQmIxuPjY/+dvS/+i
6GLfgZLblRXga59zhi8XXHqha+xZJTlkQ6c+qMhcNZizxOXF6xvzWR0bKVck3W1e3CGHe9Sie5oj
gxqGnOWE3TsXltUhzuFsIlcTHxq1MTGlMNsLpY/rPW52XMYJvIQ+t6I3gZ2O+4UnkUfA2ZcH9gng
iBo2EAwJvzqfi04dQj3L8uHdmPbNR1v0Doi5JoDYFsdOlMAtgLy2GrRCe5jA9nYr3479uwxHVSyJ
x6R5k+qdvVbjMfn5kX4Jpvk3XTyfShf+w6vKiP8vqhzKBtYrcE1plv6f//SP/+tPf/yP/P1///f/
cQbalL/4d9Cmav5GAMeWtWyKpZZs2//UOqToIp35XKI7hGbR1eZO+gtoE7FD2kKWirnGn2F2fwZt
CvU3+XthNwAOWkZrvwTa1GYxJiAnJDZ5PmBksgk1B/ShFuzHcWCIQ1nU+qWWxBWHhpLawaYooGeF
0GJW+L+F1U5EerkzwDyLSo0/p53eX6cVDAQYy+qXyI6Ki8Dy7wdfB4XWaUeyQ+rwXRNVt2WguafO
96avHSpDa5PafAiuccwuDK++QaMw/pkZ/9K6/Lf0marPSfg5+8MKoc3P7R/yH3942yCzicn412eQ
4bPVCq64Lvg/Pyd/kFayf9h+C5t/DRhjWfF8bdH+V7lo//gvrNjz5cov+10MljDrN9osiANLhA3H
KOfu7+vVcvGoBYFFACgAl0p47+/r1fgNvW1+JVUgCSJ+VPz+y3IV6HYSScvzC3wyTbhfUoOVceZf
j0KZCKmYKZKbkBSQXBqzOBQ7b2AdRGH3o9HDS8gtaIjd+K1Lwv5bWcY22AFO55xyPdRto95ENFnW
PaDVK61sf3cU/ZuNicey1/nTkHiipg/Eg6uZfz0/mMUQJmngTfF9n0C2qrBrF2qavB/MAFqdklWH
VBBLtKFId4U7NdsCyB5wf/egTNknaqkWtBCHAmHq1KdBT6o9aVZ5YaHTd9MM3nBNNedhCJVqKcc5
z6zkLKIQrptSn5fiL+jR8+ceIg/QCcwSxBTqiyRT91nWROuEjbwBdh6/ySsYRs7kNJeN1rn3ENVp
JOH2tO+Bel21tV99bdOufg8m5NYcLlMhvj9ZmPc/p/ApMluTTzCbWZALlKZ1EOoEAPMrjyYZ6Fae
MBWJejRSPB9DLzPWQWWZW6zRzSvVmdB3QlBpLdpagelvxzsLjQ9ifHRkaux/DdSB32R+Xt/aMBH3
sRuSO0pliEpNs90Qdskhd3z1rmxa/xpO/ohSBm0sExzKAgzoMT16+joSU0I3ySLGJ0PEweh8wkPU
tOlYFURNuoXAUqdWurEaW9QoHCRPNqTYA7TgYDrSoffEVdeoX0qlse7CWsAkC7tRijz6yR6LBJQk
FMS8zCZu4pWXt3g4ToXyNY0Ux8OVGVl2dCT3yoAj8mQH7XeoVhrghjazT4X5Vqc+iKaEg0QWMirT
ZKRgWpoK4KA3kWQrRZJfDaOuQr7D7e2DZZcgI1ylu9VRn/gwRQAZk7Km+5qjxeGu6iJArA7J143Q
mu98r1KskkaFl9vCIrqF0alhmNmExYPRDP3W8zuvvUxCUS2sl/MkkdIMRQscfwBls/1Z2rNjQY3N
sga0k7+daOqssklYu8YpjIWC66w+8nyYWa5mIP0HUzrI3zYwkfdQQYM95RDC5xrcOXqFzk0hgk+s
wIC2ko+lqqdmJ1dvT+moPLy+Q/TZHsYdjYY4YAbOYjxRQOSfLynDRgdNR0D0OKXQlFqwoggsmOjp
YGl/3QqBvJjtVvt+CBQkFnrxA8q0cp1yZF3RcuRSpwx0aZSutTZtOWdR321C/EPukqhBd1EBRDwQ
tuw1oz+kJBMIClj1lUhjVGmNxkCP5ZGuWU2HZGriDwEk/xt/GIu7ykHbE6Z3jsVqrd5TShVH/kpX
WhmV7zFedw6vT8UsUuezQKkAAyQjdagBz2yYhtGCtBUM3rHQQQSP003EPNQExpPqokdjIUTSwZpH
JaHPEZ601gvjP1t9jwBQTacUiXmXPcfxFMhKWY0RG0dvMvAR9xSb2UWYQaqklt6YHHrVC99itdsh
lWs5KxDKBma/KMDy89W6F3FyHcdjf/f6c734WLZKvZKsgXR9hrgPG1Nr9XrQj7kYP1iNJm7NMDAW
0qTZQc3cswZl7ZV/gPeZ1yjHIPa8UJ/0ox86+t7S+tVg5dVFWzULm+88UJUfGeA5qG3YTJLqMMc2
aCoAGkpz+XGKYA0owG/rVVnJblQ2Du/RCBgWbsnzmpAckINaBTBEkO1SiJTT+6QmVAVl1yZCb46+
gbxKN94NtVg3qfWtA0hdhekGzEe6MOYLSxmAA0BYQiXaBvacJREViG27ZlccBwLtfkIIcXTWE9In
KTrIdoQ4pGtv21JHjST4oWlL1i3P35l6M2wxfIVkAX9eUQ8tcKCB0Q/HXgn8TZehcRejkLq2uwZJ
5kb7wiNpl4aDjPnra3XWzpD9K5W4jtIiLXoW67zAaGRtXbSxXt0ZfTbdqkW4RsY7v+xBBEU0pcd0
ldThBJJFWvHFqffBCPxuZ+LLcyhbp/3MdZTfR16p7RceTF7NT65ujhbKD7ImKANbysuzczaGhhtz
Elt3VjONb1qnMy9ptdFvS2vv7dTXK2tIvFXjxfouKdwru5aky6H/5sSdD94HznhL0LILchM6P6B7
eKWsI9gaXA9FMe0WHvcc7MY8gvUkEpX8LDgTJIjnq1bRkkgo8aTcZXmHqDNc8q69FuaNq49w1TET
bLRdr1AAQ7/79aFna4dODxAtUkjwMyplE2MWsnl+lkUVzNe7MUM1sRmtg1Zz6ic9kjxFIsxdjlDN
wS2X7GhmJ9DjuLolQOLbVE/ZqudvLJIIgH4QTHd6H4Yb9GnqrWID5bRdZ6m3NbtzKUNRb1c5DGhH
AxB6hKU+ORLakZqXHVrx/ZioClxv5TqbFGXLwnapNKLGNBrDx9dn9TEB/+v6cwjVoS6bpoBigOIF
JqLnr4dimQFStZqO1Mcn1LdzZ6PHNSoDCuzhA8ieFHq2n17oZWtfjLX11VMrf5fbmbhUJ7AZYC67
HcA4Z6/gCPC768XfToHOv/rj40kOqco1gwETDZPzxzOHIMq4v8ZjmjXvcmSLt35bhXvHQUK0pWSL
Wh7JvtqqwUMUIqXh+WF9GyIhsInDpL+ykxBqJ9rcm7AvrK1jjckaIQOnWgVZHXzEVCa+0CYaxxFa
7V6IjkmqRdNNBTwL/JHxAJ9S7GIEWi/1ulvia84OpZ8vR61Zlfcbf5tDWcOazhMNb2SLosRau3rY
Xuk9inrFNEztCuF/ZZekAmyf86VNE2waIIG4LnrPLKJ3OL4DLgzSqf36+pJ4NuUy/3VlSxDuCsti
ttF0s+xiOBriGDWx/s102uyAP4S9LtM62wbIpX900px6jacuRTryY56tRUaW16KDF5xOIXq2FlV7
MHITP69j6CFlXQWKvx5GVyzc9OcbmlnnDIEMYrHW4fdAeT5fUl4Dck2UTnXkiOv2lY4URF3aG50O
6+r1mTzfzz9HkpMpiS4O7iKzxYs6psGxkldHs4l8EP+i3ZqZe6WJ0F/1Q40Wg4tywetjPl9U3O0E
ilRLYNhQd5vlgk5ZDKhgmO0xIpfYYTqpYRCW1SstV6DVcvhsA9wc3rcYCm/VuoPSFUxkGJaRbnQD
2Zkw66NNHNn10klzftPJ2ZAPJvcwFmaAR2ezMfUD6IbCa480XQlAQk18CpEHuPI8fbrIx8K7Qvsv
l3dastJURAu5WiJKB7G2yShWBGRhu0Rq65tTpF0mdfMl953vBg4M6yYbu4Wb7pGdfb4YiZGYQxdq
C8tkXhXXMqr3gLiqYwXOeTeV/ZCuckv193bZoZ1XlJds0nRv2JWxcx2ax10H22TVa1PwyQoUBx1X
t74QYgqukTP1b8mymi9m2aR7ExmsKzDg+XctC9NLv0IoOC798MotKBJ0RqOt4wLdxEBzsq3RhsVt
lauf1Dgu33MwVMYK4xT7VgcOeXCnvrpFzN49dk3hoKYBw6YVZn1ZlGgrB3oGFrNNg4uFNfbCp+R4
kGwMidiC+n++hfxB0cGmBuUR3cWTO+bewRtL47LPneqg5EVz5yeBcuj6FgmdafrggeX76I3dQ+xU
6Y6Dt0HDg16jZlbjenTj8RbJ0uASMipyOwUyxa8/7nlo/7jw6G+AiyeBl1QpeSA8uVajNkvbKVCK
Y4Ko6sEdQRCjs4lKzZCYOFiY0/b18Z5veyJ6uINMENE9jf7ZeE1iWr7pFUdSDfWhRVcldyl+VKFL
KWZsrAvXrJYIv88PNWCAnNXwWEGxwTI6HzNFAypuKr885oPAYFJDRytoUEhgS6ub11/vhelEHkKS
Y+gqSJrk+VCD0nWWASrh6KRU55Uo8m9hdqJ5F8TZZdJ68S+PJ2Uf8M6lUWZbUkXi7PMh4ADcLpny
o1OjHdwXvbv2kWmRwNFui+xesWBG+uz+IyYHCijR9Q4lamv2fjV6z1XYhVQ++so6TAB6V04YdDsr
rK1VYXneKirSHPnwbolx/1hHOjtzZKXBADb7mBaSsZy/6mC1mKpYvGroKv1HpIiHLwVC6e+bzLzV
SlPfU7pVd3GoardKGaImZBbmRRJU/bYQUu8v01AK7LL2IdYyOnawD1C6ROTBDfdwAfPNMHxSBBeP
59TVITN0ZY1UfvWhTTr/Q2ujjJ+50Zr9HO5ATiPNRmUQLmjftFf5lC/Ab56tWPmumGBRLobPA2ny
/F0BrdJuBJ1w9IOkXjmlF+5SjlCCXMShX1+xzzbkbCj5xZ8cAF47ZpMnOACcQh3WSlI/INqDZCfO
F01QPmhjs0Qhfix+zL4kmQr5PaUEw+YMOh/S6IRELjrJkaWqXg4GyMR1gqX1g5WXYtO30P51G/Ol
qtfuy2rqNhwR+a2aouAL4jPY4sDLXQiGQr0wknGrpEWyR7C62rlAcHYFyLQjSuPVVakPSEybMP4m
pfkuU4ut1SnYCAzVVCClicDkVekgODo4SH+k2dKLzhmoxGv0XLgBOO2ooz8vYyhjkecOElgKEtPA
z/VrMaK62k1qtctSZdgg3vw26PQGzURUCVbG8P71j/vsOJIPYNAh4jG4jeY1haTvqM/jxX4cFA+C
QKBYxve0N/odAXvzDt+qeP/6gLMiCt+SESXzjKYMzSLS4fNvq2Y0gYAAI7wcltalVB7VyXbNnJs5
g6RyQL/buM26yodWPwFWL41pBYRlqTT2PNLjOXC9p5MGfYW8fHZQtRWeFYjKJ8cKtf5967rBPjbs
PEKkAJO0tv6ueV5w0PzB2XqdZEwCT6mLjs/kxeYbZOSdz0G09Dmeb2uoNKSxNKyosjhzvBECiBnE
STM7itB0Ptgok26m3kKyHYr3m9c/xKw/9vghqMiTHJIzU0OZFyOQwqGeRc5wLGqpkOUEsY9swoCn
nFn7kgmNh1GrG9lOOOywMle0HegH5F36wLnMRAFZ1lBQ2nWyKN4L3H5WepJ7zJxGJa5BFdCWAd+6
jU3z4OG9FCwEJjLiPT8kJIBfVuPAXgAQm51LhlC8wgioORoOzmrZkIU7ap3Owv05szV/nCbZyucw
gm5PYjcr1HIamI6GGuCxU/zvYWcf+tD5kJc00k24EocWdBFQpNB7o8MrXileK/aWKcZ3kCimdQLH
deG1X9pASKGYtm3QZQBqJefl6Xk80RYD7ZwflYy0O5WA4njUosuwsE6WLqabbLyro1q5wnTjBEq0
PXRLych5HYtlKRlfgPKIYvgBFNnzR/AV0WpKk/f4skFgaxuk1I1Y/YE6fbRN7braA3t2MJfu2m1K
OStNu4Xq+SyE5gHQdACCAYqZ/i6I//MHwPU3pqOnVsei6ax1MfXJNq+j94DKPvt1oazrCDHXyCop
z+qiW2gpzBbez8Eh65MHsyqop50PriaNiWlFUR/9IfymKaNxTUE8Pb2+Pc1ncyxjXznHvCQ4J2e2
7iyzQiykt9oj5VVnrxu9v5voTK/4HDmKIbqGayTM8Suh+Tnw9wB/vLDvt6iCeyermOJjjPz6ZyvK
49sMobi9LmLvYXQL/6OPyvge9mCw04Kh3WX62O6cpjF3AbIouzCF+SiLNocGPeNDmvl3ntdTO20R
/RsCO97bInjorARXRMzrtuoYVLfIstTkmb2yHaPRvZqmIb8J8A9a2b4dnboB6Q211pJdoNXuyis7
YxUE+Sf8LPPxqhvDet/ZRnnt716fw2fsCJr+Kkte6idTGeG2Of9SaScgCAz6dMSX66s+Ov1acxX1
Egns0IRGNWkyr3dQoQnRa0anpvjkB/XHuKVmXCVx+KXI0+amK6oC54/G2/oB+ixKEeQY0jjWVZG1
zsZM8/7ODEYXXI2ZbUzNsxHhzEftRu88PJorPzlM5aQuvNqzNegYXNxE9iSRFJrmq0NH4TftnUA9
kjs0qGYPypssDLz7X59A2ixSoJH+LUnLbALRO+zdwavEsU0GQNbh1kfsEqOvtRVUOxRtsIKyDpjc
7EOOvbjPVl2W3Yt0n/nv/fouy3CR0gEt9mLVutnWbw5J1ZxQEUW8NFyPdrtis60KHTc+bvyFg/KF
r09lVkCxctEmcpHWOP/6yDcDsMVO9djaeYrCPqYmIKII7Q1tSC4mqJV85bH26WDkZrACocdPYE5y
Y5Q1xjsG1Z1udALc76TlR9dfToHztXPtYm+2pnsJHy5/06k0GRCETb7FbhXsuIW6Vah1SDhjtHMT
aVp/yJFZXbi7n+HgpbDOoxQWMnUQvuxZ8CIio4evLpTjEOvjztPzhvawf59M3XA/TV1xUymB+x4X
pGaj90iY9PZo3sJEmtZIXa790Ah3paqO5aqcNF9fcaREdJAGnHAdfPdeX0SzmIbLExA4F7Xs1FA8
fFQmfHJf2XFu1z1w6WOuKIJic+5eVAXizbjwKAupyotDUTOk54nyBHvj/Iv7+D8mPjiPo5ZGHvlX
mexdABEI1mfd8fW3msePP1+L99JIrgmf55oNg9mIfmoK/Qj4oj3EwLI3OBTjAqOrV+S/qDvn4UXi
xP5+FO77xh21g6t6JZ6e/rTRBLtDjfJfi+Yfn8mxCOYQrgChO2+BGKii2OZU6ccwgPxbHYpM23eW
9ybRe3vhq84Sh59DcQnzQSkMPdMZiE3Et0xwCMdBpO8UVx3R+8ZJGTl2jLRyv7tcmG4ZzT2J9uR4
Fio95A6UaRCEnF2HvgG1L5gy9+jiBvnFUlx3LVBK3WQheHYU2mLxMKBxWaPjkh0wbFW+OWaHqVuY
DRNKsqQc98Xobw3gXB8U1fYu0KwvLgQFUFpveTQu7NBZ0szjUvugs0QVVDaq5/XPvhtSaopT9Bb9
4GyjTFr/VReFfgAnpNNw09qLKgvNhahoHhrKUcGOgcyiFcaYjyfik63WFd2EnFBavq1bzULbm/YT
BmjFbkyVEakXkCBZO+ifOZaLTZy71d2UYiJigH77+bl+CeP5/yn2WBZAX4Fx/vGfH+3V/wnU8Z/+
3X96RCCDRv6nP/3x3+O5zr/8n//yP+eAZPk7/kR42vpvYDd1GlAEthyXEuP0E+Bpa7+BBEa89wmK
88+AZFP7DUIJelmcRjCaUVL5q4qsqYMYRTHREWR61BtpAf7DvzlrIGJcf/bjp8i/2Sakm4mcBN0l
sg84tnSBzs9XvK57r8PC+0IxW4yl0sjaWrn3scxGc+O2nr5rzRF70vbdkym8/7nLnw77CJd6svlN
9FA5zmlgMzVCMg/Ox3UbvBxy14suO0S67gu1xmAi6738A0Wk9HOSBQowmgIJKttrkCE3hrFbu5aF
BVBnxduAbnu+NQpxFbUUziH/C3HFMZGIXZWo+QP4QD/Y0L8uvuttaxTrthiim7ENux8oqquncQrK
H0rU7g3scuH1oKOCkHWM1GAh/K9Zlb6jU1W0qDc4CjyVUFMeRnKz+4TCIfrl2Sqx9LRddZok6Ztq
iaJBoHjqHe3V6OdM/dK++1eH5pdR5Ss76h//25/++B8QXz5DRctf83PPGOI3IlQ4N4BNdDTc5FH7
c8/oOv8FHD47SuKsKJP+BRRt/gY+AEwa+wE8Ko1icrg/g6KN3zACpVJOHCHQaWH3/MqWmdUP6MSa
lJkkip8eChXx+U2A+Xk4Ujn8Yg6ZJ7SHQUSDRVQc4FL14A74eR9dr+nZUvTrvrvjqINPc7NBufZy
BavH1nAmjNURu0U4ax17ohk/PpnOF3aX3Dx/3Vw/H9AhxAcchzg0i/98c2k+HoRe3CLDaAk0zRXP
SBFPSbIOQ+62sBfqf7PEhd4a9zhYMej5FkzOedWpm4aqgr2DVa8v/I1RT8n7YoiLhev3pVEkKIDz
ktAE7MP5OwXBGKOvjKe0P5bMWooWaJLZ3UIvfHYcPr6LLuip0BkD2jJXfcT72/VtgJOrQqTQr4pe
vXWHoD1knDIYYCkkx0HxnW7PUnRx/skA2DGJFD4oQJCVEe7K139yz5d4jtS9Qa2SFCchvhz7i4oy
7k6MVblQ7JjFeT+HopdjWJSapKjy+VCoOhdmiSTpyhS4U1PqwedjKj/3yvRD1VOx+pW1yItxT1GR
lVpocKrh5JyP5uIoKyIVoHg8+h8ao1S3jlF/Hy2xpJkhH/uvi/5xICgKhMPEyZADJCfo6QyiYBmD
5kdnxsMfZYPDTYrleG9sSwsvcFPtsyuXFstCfPZsVYL8QugR4Dw1d86DWenbM7owGhJ0ZOK+slOs
s4r2h8AjMV6YxRfHIT9ELwHPMLqN5y/XAZZzrYhxJiPIH0zSQ1x1iujL699qrpIsP5Yk9z/+SYAx
5+WaUTRqDb7xUFgb4FUF/lqR21EL8ONTUWFV7eebJDL2dYWgV1kdWC6H2OouJjW/GQHirESV3+rW
tFC0eOntKfnIughMFNpHs7cPAcEELhqC+PoiV2lGpCaIIi/si2db8BHFR/mZWUAw4/HYf7IF0SJK
0aNgjtO+6h0MgnIJG67rIl8n+hi3C5/02TaUwxF8UcSS18m8a4KbaKw4EUYYSuQreJw4n0TnXNWO
eekjNLtwRr88GH0pQj3ZlZrNoJnDlzBKBuuNNDukk9q8ESHG8AgDYSDiaWW5tJSeb0f41cRZaDdA
52TQ82/mmQPoRMF27Ny+vI0C56EWzqWb9/0aUsZKnfZK8xC6jyq3m8krJmB2I8BXvP2SBk9eg0bh
CiPP94FCcfT1df58PVHgJs+X8tZSW1/+9ydfmsIiuAgHCR28LUGw97261vR0vHh9lOfriVGAqoKT
5NZy5+UE4YUByR2yZGWtWuPVUAT+sOmiBNNK30OOa+Gl5qkim5fxCIH5vFK6b34A4iGrlsjEhatC
rer0ElSChZ/ZhKGrUWHyBALe9x8i04+itVLVvrMtdUf5oAaR4Wwqr88XYAMvTTIlaxlwUc6nI3k+
yU2b+U4qVdnS2G3rQ99NFKDhuvhLUI+lgWb3WY4TktkHDAQJHNoEYcJWiGrpdJDr9fx6oTHhwKwD
5SP192ZrRmt6FIE6ZjfLukBsqkxXsT70dOs9xJA2PDRa2I8XBvzLgXI47gMLn/el1QTTRpfSDPJw
ml1vuUCmLZQ6qrGtTBvcdFz0b+xm4xbdUs3tZ1Xt7GXlLcA3k+1jl9Fm306tdQVdfrrHmd/X5SER
8IhWRuXSR0hRHsFCL3Tck2YMtOm8vLa7tTaMaLFPKFq534QnnHdh6mXkTnqfYZHFVZJP47DKlc7J
vxDfl9nXKvBb+9atCrxQaQcH+rAi3vKLNf5opfexKcZWXIJNwLGSribqZXWvDfEbfMKTdN1S5lWP
wRBy8WR9WSMK5TeTl+3VqkBJc+U7faygIWxOzcbL1ekWqKhvrNuIZ1rTma+anau1ZbPtBqvpkKIe
9D2gLEVZF20UfvMV322QY1d860rPUfze/F/uztzJci3P6//KBBYYeqF9McCQdLdcKjMrs7Iyn6PI
Wp6ko/1ol9ntMAYmAxEQMRhgYLBEABET8Of0NAT/BR9Vve7OvFldlxosJtp5/arePZLO9lu+i6th
f8kjdFm2a72aJinggcqmzjobQ6CmVSTDTp1As0nPlattYW79TEBkFBeZzKW+K2wsRnyjoaM2+6Yx
IGvlTzmMsSAZClIK/IRiehZ4arW1E+c3iTLM0jtXq9iU4lHUpRZT9M2TDEbZkBSDZ+6Bgk5KAkdP
utgauUosezq0UfdkNkZ3XWNrcOO4NQ5rbVtUQygkFaagSc16xttJw8bCA2W3UyFBOCTIZfbz0BXF
J4mCIE7mCCzWYTs7oggG8HTX2eJEjynO3Nz+fRXFfs9uS8/0pLbdg5ZLN9u4k6RemE5Ggu/56A3J
mR0Z6eOg2Ko8X0qCqCSYu9nAA4s4UD6oI2V5X8S58tgaubs4YHUA/sLX89YWbJfA7olGXC0xZo8U
8zrGRNM5w8MZCYi8JMwK17TeDoUb5btlzqvaF2WHSRZKzfETBlft7Efoj+d+RbM92aAFi6El8lbz
vWlhLLCNGrMYwn6KzH3cpDLyY6Mq0OfXqhFQisSfQKWVgfSY37s2/mIC97y3CWW+IkCf3b0SbuPd
FJ4zgYfMEKfpuF7jqQ0BsUDs852xTqdLgUSHhVTIokigKQBOY3wdm7zMWXHOKN/HvQaJsOy6+kap
cLULZnCyuPbg9hoSD2nOXWksk4p9n5Ctjwho4u1qU1tyD8f1eCjvpwlJL+oWnXqbuZMtNy4Cq9qO
TNR2YozZKqV0z8vBbpEREVxV6YGMprT3hSLhbI1JT99vEq567Siq+DBqoksuaQx5EguyHBHVTMmx
h9RaDM+B4KN+H1clutoc/U0etPFS1j56w3iJpnObfLZmZGH9LGlxCsBtzXOxq7UgugpdfPGENhd0
PrzBwIWhVGxcxoa6tAJP79R+m8AqxZWjLKfUt2N3/UmKYKOPUwKfrm80zCl1YzKnsB6LKdvjiaej
k9S6y4VQJpxyG8r6q50pgMKwXrz2ilyu8jY1ffM4QEoz04DTaiyIVo3zC7sABuV3ZWzWYVTndQa3
yUCCKStwZg6ipJz1wJ5Sl3Z32i1PmrdY7/NZM8fNlAz5IY0R74G0Uwv0NlWlfkzGcfQeM3qD7Xsz
EnkSdnqUfWxyV2MXLNLWd3ZsAniuZGUZZ650ameDzVQht9JuSaBljk70EHWUsZp64a4xvKlRcLJX
xUf4nfmwK+YEA1eyjhKvWTpbvA7IUZ+vhHxKKwX9V6IAx8bNGFSd77Ch54CkZEZyRLSFEdRoa79p
cWd8yL1e/FJ1NqpaY9sv+MQ3DU3dpNCKh8xTYTyMhY5kdWGUnBJGYrSgsMYB800oaBPc1Y5W6q5K
Mutt3Jfg9amJZVZgL7UwJ38UlUGvDSzbObKqzXzbUbvTtcDFmNXc6XoCGYefSCQS6ZlU5QZ3RFH5
4zilV8riaHEQs8+W7H60PZoCe4J+gthNk/ayZhalY/Rd99kRkSUfi6S2sHvVBqkBg7RmyQ4DLzb0
19MQ67gjLdXPYww1PZgiC2t4x2qy7AxMuFly4uDCtinTCm+qQFIpVaZAGsVoWyGJyBibO0+f1T+o
nfxQVe/vZzV9reR+p/T323/+u9/++9/99r+gifC//82//P0/+xf/868Q9fgf6z/8u//2+3/9n3//
13/9vCq4/tqvhXTnJySxcAuCQ0/l+JlSguH9RIuEQtyqGEfdZoWO/KGQrmmod5CArDk61Q60bZ5V
Bb2fVqAY6CyYZvRbj6rm36uiHyc7yEyuWu/IsNOwoQx2lJ7DtJm6akEQ37BQqssMJ7vqIEU/DaoZ
bXODRjic3VMS81+QfM+jNHYwaAj6CvQBAK580Rp5lsZw4kX5ZIJQzbM+bPo3mnWROx+kd7GItyal
nUHetPpbsHkb+Ck+PpyhJpAJxG4pC4fxsbdGv3LUQyE/SL3ZDhrG1sNejw65Mx3wGT/Y/U3ZDtsh
EgH3WpCKC3RFGs3dlG22Zq2+B/3IbKdg7ssdQTFxWrMR9U6PvKBzTiVtxx1yykgvX/cozjdkU6GW
wes6t+5l+qbxex/v11DZVoG8qjfGTX6PfS2Clb53IpM7jv2PRz7KZcdpUdRoYuTI7onhpvEqkg+x
JjZY1P7ST9bBbH95tiu+UcF9VYk5HpLi+PMUtbLsqSgMhqwP7WbbbLZdCM/Rz7fWLtpXB9svtrff
H/LVGn75eY/bsXNVjZSSGTE54BV9ha39djyhy/DNIShgQcah4EGN/+VLaf2waN0qFz85Hxc33djW
NZdOUFX3xUn5Ljb2i3ztywd8NtbRasktCS9FMFb8BnxI/cndNe/kfjqvduND+Sb+HJ/pV2bqm+fl
TbIjoDTuJsgq77//TV/l5DzFSqsC1UilBznko6cw8XiTYpUEbaEtaqF7j9XV4vjDvKltAn7iG18/
pYa8fsWjY+HFmEertdCkrXZ6xphGBuaz35UdLJh4qoqgyk4SYF+PRj9F9eC8Qw5CPfIoLwXbqhRK
rsFZrhRwKHo+3cSeG22zObFDDGGNfT+3OKpj/XyJzWQbokDiPs2N7PdtYzTnddH2VyvLAYc5N/s8
Z2jHfH8SjlYdxyOKDTSSOD1gvKAKcbTqLAX9bInSnGkhkitJ70NvZRwZyoxedoSNdBRL68SRcVSU
AL1KrUBjWFr2CAYf6zyp2GvgXIj2AcUJonY3hiCouun++6+2ngLPpnoVAaAqShkRnPlahT7aUPk8
DiJ125lIeKY1qld2jyWOXVp35Hr11VShty0LDcZNJsk/AxXHmLfff4Sjbhj3HrcrEkVfoKs8xTG/
TqsJ5nXhaXvdrd2NpZGXVHKs91RSVSBXBXzTuP45sWUZIBsrz0WS1lA2iLA9pcNXrrd/laP6sz3t
owkHuANAg/4y1bdVw+342y+VR0zfxvW2oxSNh/PSnIu6aQ6mdD8bqTPuu8QVmxOf4ei8WQflHqYB
QY2Vrvyx5EwF3gqNw4RB56m4RS1Q3aa9l71zdJHtE8OgQqEn8xJS13QRvREz9Y7UaCF8gcWuTVhq
2SnB6mMuAs/kspkoVgEspi9yTCkZdDUhk12abQLeLEiLOTuPHMh1TYZCuhq5n/CipCSbVgBv5iHs
vMY+0bU7knCB4LhyBkFvkejB4KYn+XLzWUvUaIpspi0a/KT/qA2QU9v5oFZ+4lTJ29IW+rh1E0gd
kJhd9SFKZPPkQPywt145QhcAdBp9ODFZ66H0bN/wVKtCHIVfxB35n318LFPVUoYGuT4lJeHbgilc
3ooyT/dYjBZvHfzbG1/FcVHDFXeePnZ4eLph7hgItyxSimu3KGiUjbqjVBtyy+VdqhtxGp54yqOj
db0mwYOCOkJkBzeDL3jiZ/EdHJMOf3Mydc6A6GLKZfGgjXibTjgZBZSHVia2BlbRwY/PQobg0Mxj
tWndDhWWWe8DMzJBS3fWNTsu26Gn25+CcB0v+vUJYbGuQhK0TOmIv5zdbDZap6fnvi+j2YGQXdra
RmvaJYAkpvujNo1nlRYZ+yqVA9Mri41A3jxIzIj+Ck7z2+9/seNpXR+HJUffmwyf7srRYqspe3V1
rNp7YToN119SbLKoBrxL7dz/4aFWoegVJ+fQLPhibPJsbtCk7NOiix0Yp/Fn3A+7cDSksylgtZ8Y
6fiAZRnQmwGVh0AcGHuwMi8/stY2zdRYWbRHgv3j7KVi1xVaEuo4tvlpXpp3kEqaJ6RnKkBxiNfi
hSIDqxHk9VOG5dTYVCd29bFJ0JdHAoy4mtshlABn7eUjjQaHmJNY0Fy7TnzCeMK88XrrQFFFCQSi
MTsO+eo8TzpvWypSf0c7u6cksHTbaUTJpY6U/ry1cZbzncHtNnLsyrNsaYtdVwnxtuE63mgUTE7c
ya+XB8UUkE4ke+RNwEVePnW+ij7obRrt+8FZLlIYF/7UN+o+j9STstYrxOL5CcOkIY6ETgltJpio
x+0CK4s9SkeWt69qs79zpYjFNnG8ep8VjYZcF6U7hKuK9nMSGcaW2li2R0mpxseghKd+orOpv96n
K1CFNgyAMSTojhteozXx73Gb2Xe9bG6rMcpuTKpyN3UyYT6aR2YCxtma+y7orEH5VLK1aCOZtblZ
XFVpt90CdayCXOkehhHb8J1okqmmyJR72XboBgPtCSmeirVIs3cKS613+JSQAmIktZyAaLy61dZP
C/b7iyIhqf1x2tshvjDEGS+DCJWzLfoZpYox6vaib9ATAOayLfD92bTOYm8gLeVhrDv97ke3P88A
443oh9gOqtLLpWS32Ka7LRvAm5xhm9b5souG3D4v9Mw4MXnr9j5aSUR3K3VkPWhftRGFOtgu1unK
PlkdIXtjSEJKDe1GzJMbTqZKR6j9olPtnDKCOoou111OpxgeIQhFQDFfkptnZ1zuluMsskbZl3PZ
7hU1farqQg+MBgE0LasBwRaluimarr6qalmdOPe+sVvX6M0jgl5V54+F4VNZI/O/iPhQV7F1AWdV
vS5Ze5D9vVP74zhgXF/0+VBHs4m2b6EC644Pa7V336iJhVe3nW9norpwsKI+pP12isb9zfcDyQbY
ADQTClAvlxAawVwffRYfutiFgtgq71HQtt4gWXTKkPSbrwdQn4LlalR2LKsyJLre4ZHC65GVhJYZ
+ehRpI/OMkRnRhGZt5a6fFUq/rMh+OuX4+hDhtpbW4gkQ0c3sSlG5Or5pAe4bPXWyT25bdU+3o5q
4Z3IgV7vj3Uo9iCcBNbrF2nLZ6sUJxOJTDfrpBWiKnzVrkj30wVF9NEySnS04QIX7tp1UJITb/n6
w9JoR16QuiPlRcZ+OYXTkguP4zw+GIlbHhSIFn6uD9MbCvtEjmkdhSoi6KeCrtdXCxsCpew1rGd/
vio2CjfX6D7Fh4qm5sSIukSRWy5odjXLWBycIqaw4dboaBxcPdLO8tnDKwOwV/xYTTirfP8oPCbp
c0xQdAV7S5yPbs8rhBdHNG66meftG5pk4Wi2xT6RhJ82nqCByQkStKW0Qj1XrIPXivksS8jN7Fjp
d5GD8uUw5NENhm5qgOd5tR/rtj9rxDg/FLi3bdpSbTfFZNjnaSTq6xwxtINTZhnov3kKc7KuQzfH
xbWGSfglzcX8TDVSbSPGAUESCOdB6nbOiUDi9bxzHILcXlMqy2Pvvpz30UwruUCu2k99Ekr9Daxj
v7MeyuZNOpxCN3xjrDVYWRm9YChgV78caxKVgxVEGR/S1Ekum957oDminmu1Pfpend8Bt0w235/R
b9ywoKwAx7igEle/sqOIM811LO86Lz7EIvpU00zd2+g9oojqDleLCpijdyLPzz0vC93OcMC1ztGJ
T/w691mBXvpaQAGjSAz18rWrtBHdoiscIC7Wd1TZnpS+iUN7XiD0j5k4ccm+Pq/AOfBxQZeCe0MU
5eVwZbmURh3HycEt5/5Mg/d7uUz6cJHPc3cCMvj6Vl27BaA8ebMVkrxu72fnFQ1wdM2SMjlMrn0W
gxvwhVM4oWm2+a7laxK/R9GtrY522JijOLFbjyuS7Na1LMWxBfqTnO2YY422p6EMC63gVaYgKOd0
9YcCMoPeggxY78u+hVvyoR1ybeOiNIuwnfI+tQfnFF7p9cKG6MzBTb4GkhqH9Zffwc2FVUyJlx5K
CNU2hkqhVijLY5+PxqVMDHUIxHzKb/KoKvfl5SmFkCCij0054uhaiqQY24VC2ME28nQTaSK5JGQd
T6zd14sJXC1cNVB9q0ncl+zp2Qz3qB8pZeOmh7FUrU2uN/rekAutVWB3J2qb31hM6xekvkKR8Ruu
VNJA2cHJxQEL6OFsiKy7XLWz8yqK1L1GGhWYQ5VfgPCw/QoF+BMQr9eblBclNkSinLACkZaXU4hD
LG63bi0OZTvlmNE01baJrMafKuOwDE57Yucc0z+/TB/RKFURjl9qjkeHggnAvp+nShyEaiThaDsT
6lBQwOYoifeidJU3UZ+2Z2osxZbbCqlqt0v24PIHjDlkuQVjgFhNn6Yf1F7OPrZqzn7urCgkpI02
0WiJc20ZgAnVoucvi3inROV0GS2AhiLqr0/W0N0Ydtu9++EDlw/JOUufci1MHbcJ4kxL2r5sxYG2
p1jBJgUgDizNk6iMd2hZnzdJq56NU9eHIDyKzZTOp1SMvvlxIVJyr5EpIix0dC61ythr7pxmhynS
ms1EdTus9clw/arV7jHKEFdKMzO5yVSZe8tRugsdSM+DhljoTh1chDWq5rEfi2XTJtAhWtteLeZQ
inAVw7tQzLgOHeJrdCZINofGogGpKGZJoDI+Gfxu4RjlrrUX9YSuzrfOGbyGiPE5bQi3jxZpU9Qp
4iSTOIyaKbZdrZWbpZmTjZLHBtiRqJF+Xc5P35/Rbx0BEHo51VZVAbpdL3eGqQllsKiNHBq7t3y1
mirKvKMRehKm9feH+sYmpPpucdys8hGvsHpp3PZAdiRrRwEql0ZqfN7Har4FKDPtMgLxE+N94wxF
epLNt7I92PZHvW4PWRf6LKxVrdVsJPJk6idWc0oz/3VUD3IWDssqCEgF+fhoAQJSd0q8iEM02sOe
kkgS4DQxBm1Ovt2ppfdG0XH5Yt9EJ+Lrb74f9XvUODhoEMV4OXVdLIZa6K44gFfuL+ESVPcjxMoT
kPZvzRq9KMJ41iVn2VFYN8cItruWwlE2edqmitXocp5BciqOkt3YUfuDmm/r0blqaFFHBvNATn90
20L5LeTY8z0hLGww8qm2ut1jGbyK9LjdqRbkt2aPIIOGJyEV3a+jgzqDnhEjxiMODpK058nYZ2Fn
lct+QkBFavOl3UwPYCyrzY9vBY4v5gwcBlHWUVzu0e+RUWmJA8yFZCeE02xjLe/9OJqVSydVrZu/
w3iYYa/DaVSkjpdKU5peMSTZwarBtulLXl5EgqkbAcruhgphtu+P943bHo7bCsxdL13i45dL0yjz
yk3BLh2ocyromPdiP7WEjR24JazvzGqDTWVFjdVL0EBXkhPBxjcONeJxDEFoRiB4cxyTi6i0uX7t
7FDzbn7UW9MbQP4/4w7f7b//ot8eaQXnI8m9ysG8fFE81VdsapIftEEg0gEWcS9TeuVg5bIT2/0b
yQ7H1arCCW3IQXPo6H6YxTBpLXXnQ6J2yYfMWJrDPDfOFvXk5pDafX2Ip9K9HKslCgiG2gdrAAn3
/fd91SZbtycXP7jutUJrfnnIZyFjDQ0YLuEsDqpiRYFqt9yp8PY2WD0u1I0HDZduuDasfXCMmKEH
sW0kLIOo3nuFMuy+/zjGCos6KjriQUtfFwYHfCMkKV5OACpQ2Ho3i7JPRaNpfuck1S9FZ2pXTuUk
yw5Y02zuuzozP+Uyx6bSNqPxYmpG67Ht6onisq3d2uUk8VWR8+Jr/aS/F4oznFnjYNxjJpOp/lx3
+fXiToi/qlkCQhGRDSoW2ePQlW8pavRXfb307pYGZ/E5QoZ12uj1ZD1iedS6HCMCaRagj0m9vNV7
LX9Tdnm7iQgq3hamWV8r4NcBsI9FB1vIUufcb0wC07CJ7CyBq4gNALZsZRcOdgm0CX1zdwpHxWhX
L2HBX4/avN31oqmJeSwIh34mWpdBrS7/WCFLdV8UKTduMfXjB7ee80tXzZP3prLYCIwUCU1nG3tU
v+8dWvNJXxV6GJeNfaFKrb6cGh0/AkNMxYPechpKGU/2jmYjz4b1XZ/5s5m0G82NvKcGB5H7YlFw
WdCwErT8tO0UAJXIw/htFheo1KeF9lioZXzbT1Xq+niZZNh7q116i7RLrUA2nXGJWPq48qHjWRcj
zOgxFfexozjWZgJN/dB0CCvsdQQ37DcU2McPjermm0yNbAN8qYYWfiwcY79+b+cKXwvA1SMQ/nOX
uk4ZFPCwnSCdTKfdGDKd36PHnn1wEn3oNjY3zaNZgaYMi86eHz2ts50zGt5mHvZD6ryplzl5srI0
QkdEcbSDIiVK6qIY+jdLV6Ev5ME6KHy5YrR3pVW5H9MK/O+qTgbAR7H76NKbbHkbZSO9FQnsQdug
fre4PmL6DledImYtVFJvucXfkZZpH1Xg1bPOQT4lT4byXWHUU7VDw7TbQ7Cr3o4ysw9LYlFhErZ6
iegn6qWupMgd9Q0NB2cYhhtEExsRyNYD+J0vvXanRpwme5n34gK5P/XaZtJN4LJTVvq2omSTP8M+
T3Z1qiIzZq+KY1ExIzmktfZlNdvTxxIEsxl0phPhKjc2HT6oupqDp7YK9VOyRBmIJbwp3VDv4/pB
H+vhQwxy2AN658BabaVaPxpWWn32zLy7Naylf1rUFAB71E5GaAKO50niUVyJLp6toJ0t64PVjRKT
walR60AHzwM9aU6A/k2WvO0b5GPQz+P4Csresp/aNpmLYOYIesoQKhIbBf72g545YpdSfDR8w03r
Aj2a9XeQ8e6DBXCQeVDHCsI0xdJsF42Te01zCSJQmVWmCDJSGlxrEvM+hft3VjazGANca/ooUOJy
QHZTN8ufvZHaqu9WqdVT353jdGPouXGWcH0gpag1M269TWZYG5Nb+cGZ0cHA0xOTA1S0aFEFSKIj
1N6X/Txv8iTtMSeacWX0U2Hn14Cc22s8ZPD1QwIrDjkG5MeqnYr3iiHMQ1F5mPqoCZhO3NmG9uCN
k3GPIezwaaQEDI4rRRQ+0NIsaoM209w0WLCzBVCW5P2jHFUvQ2LXaH+OhVFKXx8XjD9hlkYfR9F3
9+Oc23OA205jQkHI9SjguZMC4RnCHArJ5twcQGt3922ZFG/yEQdTBELlBKiz6Ky3Ql0Mku7aW/Pc
Uk7XiTnWd2lbj0xoz9Ld9rLQPydysT6pEcmPv9TxfC2FxKtGQRWyRNRqsFjqaZ1ec4DHQ7BYxjKw
1ub4CQV2sQQsvYE+yNBlF4PIpg9DVCYfnFkbdV8dwJj4kVS9ARLf4r2dUQcywraigXROdmTc5b0D
pB9qMxXy0W5VbcPOm2Ajzn0W0KzPbwq16T5atTjH6ue9ulhmv60zUDwkNH1sHjJH1mpYK2MTFqBO
xzAC5Tb6+TDVMmQtVGjBJKa6LTTksveVvgzxWaskjhPSsVJu+sWwxSYVi3zbpn3y1nMH78PIx7yL
i/aisLz3pI5ChHbPZRN0HO5AYcv+Ajn6ZVWGKM3Huh8wheLM8h7UPFYWclsd4aWiLKJl42a9nm76
LE3vRG7Ej5nWJPf8vHRAQHnM05LN0dkSIzXlpwqbxaekU/1SmZHe+xoG6+9Qmkjf9S1mT7xUPtk+
qqFKHcJIKmOYEsQiftJac8yVZVhv3bmvdvlU6xd5k5ms7Umx8GHtOwX2x+hJnDCsKGIxJVmesiY6
hEY9miNjl2RYq8qyRrbCIb5ainZw/KlJIDf1gJYqP/PGOOHxJu/Qwb16HIa43Y3xiBKtrdWFhset
Mp6zmKFPOkbtDGHZj3Ud2lU3OT6+nN2brvcACM+lXT0WTdNe1QSIPQxLbxp8G40hN9CVDCOssY4B
gerNoD0oieVeulA2fvWY/yGg/f938hmEXpyaFGC+B6T/pyuK/rd/9VV95i/+4f/6r//qb//7X/7t
3/yHf/QcP0+N89ef+oqit6yfqLXi67NCE2jarGINX6U1+BNIz3QawECQPjxH0ev2Tyh9gf3lob4i
Pv4Iol//iD7UWjnngUG6/pDd4Mu0ESQWRWkiYIrTIOmwfjkqLYCXXLzG6s3QUbsg683WHyt8LIzs
Q4Gpy87DFnubNyfqQ1/ggH9qsH8dFYToWmmgIE4D4GWsy79I7VkkVoj3W+V3oEd8gA1naMhCojXT
N7Nk55S2sRNFfh1biRO0RH64eiXvROn1IWXgJVBLYW6/TOgPLd2/nxwRFDa/u7ZXn9f/9Lvf/M2v
VJHf/uXzJf3lP/66mg2dNUsXY0Uf0x+jwvGH1WyoyC5h6equTW8UGlYb8D9wQnQsYldLDboASNhB
Aidt/4NSjO78BGed5beyDdbl/ENur18Rln9aWyznVbSL9jAPgwgGHYGXa8uIwcbWE0S2GKOEpq7v
zAngXlAOiJTtpIUvnAtcCWZiCQIUdupV3Zbp+Sia7CFXM+/nSXfnj0oiOU8bQpDQcbNGP1R1ejX0
io21YNoGWdlRDBDJe9zFw3pIP1CpN7aWMDEQUOGQRe6mGGQoOutuhUbtqpJa4Sy3vQ2woYeOJvT+
oZfNdR8bdoA8YhKak06yNRR3Rh+pgTFJ875Q7GaTqCRGYdx1hbqJlHnod/A2u+ROFHr0SRJntkFq
dnl1O6HFpAeJZtMPNbPcva0K2pRWvnDzKVY8B8WoNm/i0imCKZXdNdfXkPk60Fl950bj0PrTYDXx
vV4ZZX+nKS1lzLSRc7rpxkQbPplN0wMFaYehwxssTsrAULgr/YHitZWh3kJhMJy7UbusEq25gOWm
8K65nQ3ve9OYvY0tHHuXZjpKczWQwXKjywmxyLju45vEtMbLpM2S3MfdzwHEBLcevN3sFptaieK7
RfOg26A03sN1caQSVKobX6JnN93r0eDRS7OLyzHXdox902P5gH4e12U8qwSd4Kn2lC7jC5bOBjgn
s1hzu6Ny4FHDQXLLpyhNLz0NxjHCJzANqRWCpp5NCgFwFMfGMc+hOW7qjJRWJWKS2V3jNHFNCHYL
prrepsOy3JB1ZoGqpO8Xy0su9SQRO5l6HgC9wsYlsptN4n0K4VJ770rFK94laqG7El5zUsWhAwF6
DhU08XH8/PFz7btXMiiTj1U9r/PW/ZM/ewKu5+gf/xpkrV/P1dVA+MX/2ZRd2uEU9lnObz+3fd79
gee1/s3/2z/8i89ffuVurj//43/wserLbv014sryxdG0+uN+587+zb/93W/+41cj61f/2dcTTftp
lR3CKoNO0HpirJfV1/tZcX8iVARUwHmyopVQefjjkWarP8GJ00HicrMjIrQWBn890UyPP8IQywUK
j23Lj9HcvlSlnx1nVPtXxzEwqEB66Gwey9AsRVSZbloUwVbcFpe1/ybYn9+ch7944X70n32a668/
+lwhjiP3RQ0KQBQYBCrkxB3EMOvLvTw7oVOTb/WAxunlzk3i43OIBDW5Ujv4Zc12382gi86lErdV
yG2s3WtFk25dpTYPuRo56ZtljN1foqzSfpnasjpTUjs+4KbgbKfCSe/ceKw3sIZzebssy7Rzyqa+
VhVkgO1ZNx+QFZC7yqvNzLe6OoqCyprVn9OpS3+2NQGZYqwV+73R5WUEVbTUVV+fpgZZdTy9Z79J
3QF/xlExb0mfeu8qQ99b4K5CtgUDaJqwPjGGejh4cWFr2yIT7oPeu0oZVp0+QIfN56Xf2lHhfa6r
yIazEFvUyyN48AZVXlWbdjJThRPMLR1oqmHtWG7KgWLVNm4KKGmKYw7uW91LWhSROJknzL8LhxLN
0FJDVR0Flamsj5uQpH3alUgPe+8i00rbkF58vO88e2YIbyoek2rJr8YGkCAZnKsM+9LN22DhZorC
2lU4NYt6Hi4Ly12JgksM2ykv8snZFYZJV1WXSRKUY+xciKpxoBrYmpPDxB1sfWsNJs5xWJfPn7pF
tSI/r+3Z2lFfduQ1Nj5ad5iF2o2hWTqeJHWac9Crnn2lc6umm6msskt9VqIJAYl80rZ6g3eub6dm
+YgXWlqfSa8erWBecC1r29n4oGEo6d7k3sj91yWCB7battuYCxSXrchRiaIrnNRXzoJD4t1C3w4R
QK8uG0yQC+yLuhqrYBW5wJ0KPxzdilnERlBK4Yzn5NPuY2LGDiltFI87dWnneA8m13iHaUracPBW
3c0w1oYM+8pO74D3S2raulJ+HGtr/DQkdvNQzaN6SUac7hsrds57MiUFnZqBVBZJBbfwE9VeDl5e
K3cZbYa3JFVNH45zimPXWnQ0+xhmZpo7+m2dwyzHonFeNt1c4evYjnF2X2lc9bIy0J+IvLHdu2Jw
Vb+NxUi1FEjgk1Wk08eqUSiyem677PqqUiPfAIaEhsTkEQZgr9wk+J9pUeAqc/lULHBcbKEY943W
exQS3Kj6LCOrNVFaduzBT1DmVgM5Ok9xYulLYGhRdZNKq95JJDKbjUamftV4pT5TCkaIyR9ST6Oq
o8ZOvCmLfMR0wIjEk6toer9LhEKNdpzGyxUXeJ3ZfTluRxwlYNBraXnptpZHbWBuIUMtaowljF1Z
+aUyZbO6Ldm2H2zYUrGfoSZ+CjP7sntIG+GrORYHtAE1AgzVy0Or0LJONTsbW2YZVqq6t2V8ojfy
zREAA8N1Rr2TlO3lCG2bwZ3LGIHGtVycvRqL/8cRjg5eak+jUdSMUDRByjs4Xft3GWHFDbKtgMkf
dyM18MssFwsNcSdULHPfCHlihGOKAi1qGoA0OtFxsugDHINw4lpNGkNErIOuMqfLpK/VWxgG7vs0
NhXtXJVNXfJmcRfomVtelmYabfTayS81dL6b0DVaYW+bqS/eTw2ONghdqPPyILVBLfbNVEptF1mp
Ol2oiGYUIfDgWj/R7TtqEZOggy2nDQ2wFJ9julMvJ7qpsqmxG0fzvUW7ULtPrpedmZW6qUbzxEjr
hP7pWiffZySyE3p71FeRlj2acMXU2kTNkfLW5/ougqxwDkHihvrVEn7/Uv/2QICe6WCuvMyjgWiQ
2kVaJuQEvR0WeDEbY3WfeuPD94d5/eVQDqVpRUOPuX+1CSebPikSilQm7Tw04JoFeek+TjCplPH/
EHYeu5IbWZh+oSFAb7Z0aa93VbUhbjnaoImgf/r5smcxrVJD2gjohqC8mTRxzm/rf/msG+f619+O
GFlY/Ns/brVNfzzwpVePtl62Fqqd9dRW6UCKxdrvIOkX3An//L3+FO/dMBu+1C3+ngZF4JbbF/8v
mrB2W2X7a2FjAbPI23jXrZgzItBIPvE/vflZ5mdfXKGw/mUYQ7f919fO7R5h7kM34MKWcof8eTcu
di/zvpVWOJjO9OpBzLK4yKDxItqO8oeWVgGLKPrG+4nQtznnY7s/W5SsoGxfBzu2JY6gIwd9+VCR
O0ejn9u3ZBd1GTC960zaFyJdmsPs9LqITI7ES2VM/dsWmNwtDtj3a7aVxtdsV8E3DJQVAiNfDH1o
OhRlxYbbTKxQYsrbpLTcZcNm2bOXVbDLqN/28QQWzb89uMv8vemX1k293Fze3N5fvUgOhps0jvKf
yUBeKAEZPbslDsXe17PQM9265ASBfh970PEGhB9PqZUNU7S42n7We49qAasMymdryn9xPuRk2unt
FGC5DnqfrY/U8Jid3HhZlFual8nvTfccrPnwgl5bdifyOGW69Zr6Ca0xPjqQKydBQspREASV2Li9
AH+rrehi2opMeZgn17qjPkTNnMF0JEaF59Nw5c84sGOoNU9PV8KTv1elBvq7TySysO7VYn3o90Hh
vjIHcSfkNn9m/tRdhpx+62IY9KcAYvXRkJSmdWiNrv6eFfADjFNRLibg8RvV8mAG3SxSFm99eslJ
sCrDCpDXDN1adeud0lS+XHJX0a0TGbBOblSpsZ4OyixQQtGS6G3Qnt3y0rdkNEcK0/fXYA/OFe87
OqPWLC18aT0xGAYvIPSDdTByMjQEsJs+seBXbDvvmmtkV00GwxgJ+IFrX9btcuZimqkavDVe/Ww+
T12OJF6HWM1Du6/aVxorrUQbandNW4wn9hV/7tyFhNF4znXMF0KkfFd772EP+jCYJpXMbjXZ3NWu
LB4ZHuh8VdXg42Wlli4cUYHfTeOM4A2qpw5HeM+T2WdF9zyNlPGla0Ym5kXwUz4EhT+ciNHi8Gjb
bdlea+4d6uv4z7kkfxmiZlZpBrwGr6NdNslk5vtFjq0br9A429FRdE7oEGGdn+ZbhzuLCZFKr1H3
mvOwzCz3zkCmGGmGpambD0udq+rHjGnZSLI1G7Xj5gTNgqzYqT5VpwXdxVozDxH93tbxGnTk92wi
cF7dupXldYQO62jJ24QTD66svg37WPVjbE+KzsaZU/1gs5Ot0ViNjXWL/fS0Uyt1F4aI+fKjpTrD
TktTLbGVWbj/7S14KWxRp85mA+6gQxw/zcYuUlublqO2LfJxJWSA8dnuf5vGYh8r0Ii0rDT/iJ1x
+vQHfUkIN4R1XtfGn2PDxlQSl+UwLbC82Yxs2dfeVFaZ0IqL0D2CxabiZ4ca9znL5hKmi6bzD2lZ
Cx02GLY+g6Iyu8jJ9Db1ltk5K5PMJR5dw01pBxu/oLAgqGAbjDb01sk6aO44PhLpzN+hOeUemnIQ
59KVhvbpqcIyDq0qtWTKNWTxrZ2tzU0/mWsJ9t5iiQpecvOh3ht1hVX76Nq++BRStFejrfYfVUkO
02ERIugSVuFhi2xR6Mth1cyKBrw+K9+2UtLrIZQmD47INBkTOW+Xid7o4vcyDn5cA1PRewoM6h50
rAHORZ/a1XwovFJh2LIgTePakeN+dexSN8NBA5CKhLMGw1Er5Y4vG7XrExvmMtwhr2imd0FGTNbG
g97YQ0nPRW/HeltKgjN5RadZVVAfWIIVvvJ3t7Ft+sunXq1z/3VkW4omyHY7at2lcNNxrjbtYlVe
ax8LjWEslKKaD+1gLGBo9A8fPK/qfrodRvDQq0xJ67vUlmjatD3BP1Ta4awr7bnQsbfQWtaWb3sm
nDfaDxwaitr+HPRGkcfdlOfxQB36u9/j/r8aqtTvtI2U99dB6rUZlSV9NqNWFYeJDsbvN9FriR2z
L8zUrffeSvSu8K03YM0yate8vzQyl96xG/HBnobMWGRS49QM6LHbt355Yfer9nOjl2WXelgW7Edv
xALzZcyGZUjt0pzKJ7Q2ItGJBDhP7IDGt2YqDKKnSmewHxfmx+tgNPMTG9huH41hwdpoQsLF+Wzm
9/RZuM9tP5l2tLs9iWS+kZHIE5IFyWE3oMfKP13Jdb33bHodKRXEF5hW027kx3UZNvMdmXPPouUu
68WTc37sVB/kd9uMr+O2hsvThnL0RfRz0PPkjGVzyWnDmeNbGPZjky9mkKzmJvoz6GyTR2DdWwVp
mU/EMGZSwVhmWlCVUb5hmatUoyPn1/29vmjO3tRUWnXZMwHGcjjONUHiR84GeXQAXsS9DDp1QAzh
fIjcLATRFdu6pJkxj8d9McQHVOP+ZecF4KV4mtpUaf5Wxbxt59PQuERI4GJRGCDNwqCgTE6PsMez
dxX4Wg2k71uORV6tcgi7LbCe7XFv+WXX5dArnr58LKUeZltWvtDwrrMSZBa4sJklqI4EfapMFQdP
wAOFJLwzjoTSQdjsFAjAQm83ukOx7yUGrN2zTrSfGsa1DtxlVOQHZu2z3dlen9TTrL+IwtHQNgdc
d5LnqCm8d6wtf9ZYUtp06Xf7bS+KZ17TaJoKfZ6G45CtU/WlxkW83BOvQuaRwl009JrtX1H86sBE
pEpSQ2qyRSHlrAAJxpYMWxZeuXGY6j4RQX2lRUhS1vOs17coWEartR4b8U1bm4bnbvYXMB211E3S
YlcjPIn2wIRm+3b8rmmDkYhlJy0lt3r9aDvNVF9FtlTOsfQtjcw7WRkLk2ceaH2oBcMGZEPVMsrA
7JNNfkBphH/lfRkNUiFX2QT+PanflbjI1Q+omKdvpQ9XFO6nKiM+L6QdzfmyBzo4hJ+P3WFGn1bz
riW175hDizinfJ+o1FV1XcX+AJeNPA7907OR7dNMdl9XD6ishYwFpHmKA2Znguq3V18RY/WCfh+B
Rlmd/Ry1cgs2Ey+5hdvTKe4Le7/pUoIizcdmoA/CzdOcpx9H3aTbXOGV6FrMb0njO3KPu9z1r7XR
6Or3oMGfm7MCR6OA9qAaCHvO2roayaxUYn6axTLU9E2adUCzoDfeF0Grw4uvPQKkbuoT0ki3i1A9
YdP+iGyHHlR93VJkEnbzZQE/IUAY7ZgKFbKmqzkqydRb2vNV38bOvAvqW0LiOgXN94rDlcFAw7jV
1i55gl29uJd1XtzHKtvF47p5nf+51HOevwd626N+34OKI831vmZ5JtPC6vek6ZaFYULTv9IC5sPV
+4F6Wi2TtAEhlHsxheEDOvgVatNgEVTmEu5spgTpWBEqvn1FHsq4mHZdv7Zne9ey77iiGQYFsZRf
WaMmoqXKftNevLbwqUZAvEbwX1Bsn2OV1dtP02uz4TtJ4kaZTp6AuNGbUooXpy54hYwDedyTDApm
LWDcuKt9Q8RgfUFiWt02hWpei2g1lfU6bYI9QVAift4ACU8akdcIZ+xM86+cGDPSr4AIRQ8y6Xdr
o0j0QTbDtapPW11fJuLMMT5bdtIG7o1N2qV2qrehTsktwW4SVNkD+bPNa48/nlFegQyF5S3GP9RX
axQPuzOCVBt1gACSOXIn4XrPM9YNolSfFrMaIIN25d/7Q9UmbBnO/aRv7FC2mH43pdO88cj5Bygf
UsGD3kw1X2m/DVQn3OV6t50WPciWs5MVg37Z195iatza/Idr99OBTJJee5usmpSZqvMzM+pQsSDk
tKSeGjt5dfGGDnB+73HwsoUFFYqXdWwS6WiqClmzZCzJur2qBsY8gRNoqQAdOvOQyTXbT+WOMujU
aIVdRoYS+gGB3jBHSzMv1UlzF888yWrI26vfuJ0VOty0X0pJk31E7Vy/JOM+de21nvbl0hUwayde
i8WJpSprokZZepkYOEB/cBqQY1fvwirDtdDNcw7vFy2lEnxqOxYpSTLescrHBQqud9Wxr/JiefaR
IQKOuWb1uFXN8H3w1HxnwTBgOK0DAoGDaQ3Noc6666SVyxcdfZgMvXZdJhM5iwufmuXIWRLKx6rh
2oGie+cx6yvxOrZ40sOR60kYpdXXXyyW4hq1l5if17mxnrQ1U998ZehrUqzufsmRFV9mp7E/4TZz
GeU2Os27fVl0+M5ylMWzm2Hs4pjEVRpak7ZdtJnas2Sw9fW+9sb2qOxZLrfdBAFhPhD3Wfaz/NG3
5fSgabJVJ1DH+rud28MYzlmM0h7P9b4ZWX3nDMX+1SEO24vNUVoVi6rGSrip6qMaDXOOLI7dJprB
6CETZ8LCw5HzZ0QvaAax5kqJsMcdOAKU11+talkooQqY40flMDMEUxNvTc3/DAJiEOp5TLe1ap57
Y80TXR+8ZELC1oYY4fwDgcD5N/LHndd+62cersxfo2EkpbiTSn+XBitru+v1gwMWlaCBUnoIaJB9
NWXvAdAZw8U3S3lf7B0fu/b50Cd2scwfgduXv5uuWZjJ12A9BHax3bvzxl4+unKlGJMzMW7dcnzY
Ots81EQDqbfOdrZzocgq3lEL7CmPHE1CDZYXyGn3h6tM7a4GW69CAT/8xEjafZ1mA1FKyZcPxa4Y
gGwryydeE3m/hfPosGlCCpkn4uCcgzuv6lqXdXPljqbjGqljyp8+PFlmZ7wudvOStYwJDuhGWFkl
2cy53RgqXvVh/82LxjhXwRLYaeYWy2ljfm/Dem/bDyWnvjjwX7Pv68Kq+xiZmUKv1lk/fN2rk4Wg
xNNChuoStb1aKBWV7CIZZvKv/iC0Y7f2YFSkR07kVSqNI6Oxsn1NPLvoewa7TsUD74N3BKtBarJJ
fnGL0e5OptIGQHP6NM6l2ftx0GSSLOrcJZS79NevmszFs4sdPnK0fL00kDXXRWZ0mliGZ9x3uNqO
82bVzzIbvUSHUIpar+keRlUGR7cOEHr6LO+IWOUkYnd0l2/T5Ih49ExFpM/K9Yq5CRxyggu99pJe
p0WHzHZyK0mN5V4qhzZ7G9zVP+yGqcV4QQzYv435ezCrS1Gq/ZjfjGBypdmKEGKLiG+kBmex2etr
AJXzVBAUhErOWTM3KUvRy1A4pK3P4PAvGFPdwz6rtY1WdxYtSdoboS10SqdFZw/RkE0Kl+VkLKmx
aBw83taRbM7/PdexQAca2VJHOrxsQcWariq+L4VV65NG4QZr8iCv9oScwe+hD7OCBmtn4b3mGFuP
qpbcSzNUgRDvzVaZNc2cer2FhtPkqdVvAelDuDYiZE7ztTUCqaJ5lM4vtMFdwknffpschYHKr54z
ZVjzHcJ6J74Nz2/+VnsvCP+oszI68igIZgz6j01qNulYpL80j/wcPD5rP29eaKxdH42T3/DPXWgP
xu66kH43bJA5YPX1g2123oZtYNS3a5sbzmdX2gYvY3DRWFosFmlZapLkUdmYib7VehAHxkCedCGz
Oh2KmeNoHOYfc+ZOCWkWj0jPc8Kcejap0NCWmagZHh2yqk2CyTv7UeFC/OVuIFObMBfUm2axfwna
zP6SqW15BgRjlwwqp0WpjmUNuFJNPl0BNSs09biQcTuETbKUe/mSBXuVSjLiksBoM3rl4aUrYtq5
CRIJn2QRtlUMTqSVhnd1ZkjUyLdk/uTKrbHDHiae6Zc7D/EjApaXbMdb+K5dIfIqcdCNXj+pDpI/
rRGET+qqN32ZBEL7iSechnLJPv4rm1zNSLQMpWVrLEXqZHK/UC5DqsVo+DrGnlaqT88WNqL+zo6H
qSs3XKwGH70oa+PJ1mf5ZGq98UBk2BYHtT4lNQr6WBflwjxEiva93ZUBVaEDFXNI19Tu3PWleu36
6ROV+3y3++b2bM9Bed03m4zXAleqPDuH4qnm9jtuRFSPkbSZxw+edKYvO8Hs3lkfBZZDuxu6OzD5
jfGwY2laTWz1uAmxekpncN/ZDZfzgjQ4MetlnY85ko2fCEt9JKmBL+K559YIjUXH6wo6RTeIYY/A
J/X8TuK0+b3pXK4DUc2dQsFvFU1c+CT+hZ7OTnbXUgcbHMloI2yfeIxpDhk7h7ti8Xn7MrLZVlTt
W/sWEKFlxCVQ/wNh3pTPycnixTHYY5cT0j7M3r2FvSD159FTUafYLRAdOMt3c1rK8tAobzqZRaOC
Q8as/1lPlXso+rn+1Czbx+m6mMY526tVT1ketuVA9OEDj+VTXYAcFIjaQqdcnewUyMl20kAR5BW2
zMlBimfCuuvrkVzQPOuDuCLI40tfYkuWSkGCN4HIPiQrT4C4218oVeCSvbuAsB5MUaWsZ6uDLM5m
dOsuKdhjqi+ayGJZ+YxN1myqjUbNbFHh2NgAg9biyjuakv2fAJq/OlM8ZUVNmbJaffNhw0tgpDtU
fJPkXta8WKM9HUpplr+tpiZqP1MZg6ev4XPAaQHjHG5bIK6kflQOj0KR7+GgnBaewu22z7z3hR6x
9qzvdobeIsz8Gs+1RaUG8rfGsE7m3uvTYdq1aY78RZEYZwsXDf9kT2OdNLnA2l1plIEl0hDwk6Ou
zdnr2ig5xh49rHMKwZyRAm7iqPQxIdahIv1OHWoC969aOZoWbpJ8C46FAN8n196lgyaXzjrAKGzl
D2xPYqbJVpTXym4HJ85sGpKP1rZV2gGdivuJxMFY6AUwCTilUmA69B35J0+5MfivvSsILpi4s6+T
N/F3eIjLauwCNdUS0gFkyUPiyt3qkVw57VZ40E1A//xkIUvqsHyKgpqLiGDU4XMGptt/jixazePM
3HtqeQeuxxbBAP3QvWk+GXnn1nFWt8ardpt2jzn5LOoYdFYWjWPbJjbhrA8yc9ULbhsH3HzQjV97
SU/42tIdEQZOK8DgV4uuQ90tqmvD756ulnRBoA09ZTYp72hNzvZDQ73Ek8rN6bggJWCNksH+MGZ6
+chYt9y3lprJmjPWHkBB9/i33DX7SZiGLiOtckjFgqvNVXiLN1sPeicW+2I5rRYXrsreW+qwYwpD
pH9FNtNtbMKg8M+TyYNNbqU/Y39qGRnzvdAYDYxcvMtpq7ekHiZ0hfusLbcyH/DTcNLy6r2UwAG8
m12NqsYmi3fXVtd8vGntvHqgabLxYYC69ZMPq7ME0c/wolHQ8NaI3oFZ48T6ZYuqemxE5cct74qR
1l3fTxqXiD3ihFQhLoTp9i/jttuYVWidMa84U4LfzcjmGurZZOxxkSm1HG4egjINvNyuiIDofZw9
Y9Ac17ZG+9KtXnFqRW1r/DRzd6jzevgqnM25w8nWn/RgXF50S684XfEFhNmvoO+1J6EpmVbBz9IL
N7oOjBiiE+RgZQBtIrfVOw06xtB/KWMJhmim3YF2nDarLDrsRPFB61Qvk3JqWM10yf0Mpxy8gQo+
zEXzelNQdrHlFhkRSrnquYodCpJxnVg0cGiIYhuPqnM9ZCpqmy5bCxBy1TM7yFM7INn33I/L2J+Q
s+Kus7nU9/Y4tHPSTnO1h/ReIQqV5q7lFx2RUkeh7T5e7QyLX8oVL8HPWCmaB71Fl9K3EEMxmpYi
448scgD6DdYKRYnsjzqc4fNwO3Tz0efOc4O+lpHP0/0Nos+oCB4ysadzp9pJKQ0sKJwo5qsSCG1n
0rZOsgZ35Kdie0tXsNGasIWGc4H0DtazpZRbdSbgwPtCd0F50RYaRR5kN05G6KzWgCWqMM55UC1l
LJZuMEMMIMN3zB9tmUqS55aPvr8VMg3BUpQHZKQctrL0aDWlBxKqDtTmqacY6VIEFdU2LfQc3ww7
dvNojI7/VJYmwYhNtXVaLFpPe9tVrz/oeY7dRhfARk49oMRtdTxe4U74MYMOsYN3Aoveh0XeVh7n
WAHNBOcwvsNgzFLmKD0NNtqZzuto2N+ZOPmFHMfoJQF69ltHFQR8TmONXqgEGXoHU/j+GFd5Xpmv
A6MYAeuYQzuAxX3i8yYKEyCOctJqCOfcUMxqvK4bd9beOzxlx8rjSKVAo9m+c+GMu9JTVf2t5muH
pihN7QVSlCoUba6LHeDOs16W0dduoGOm4tog4j5yKrlUN+5pPo0iyOsjgcK9POTK2V8rp5ybuFnW
9Y3wJ/TPW25dN+DqJ1j06ls70lKHilNIYrHwq5JM1aICWx0zQTsIRikILpUJOd3VS2tsg48ppe72
GGAieMGTZI93tJEtzfPYZR52eb/Z2Y1n39hSJAx9kzZSBQCJbd7oNz+h+1tD9NKcxqUfIWsE78fI
Chp1wv+puu89JM72prlkYDyrTNQLtyyGr2jb6AsJHV8ubxRsCBKp17J9U8saMCMrHxQddl3TwrYE
Nk/3mS68pzEbiTYty1p9pdhLnHp9RyZcEFlHe1+zv5fKstE9rvVL4fTgSjh0M41rhykxBOfQh7Aa
ylVGwDG9fh2X3Cjva0cr9Ge6NrnDSf4T3sXhyD5RImKU5wqWmZ204NcPN9+cPlFwjvdGTcIwe2Tg
PpUm7+EI16J49HNPvVis/TbGR4xT52x0+6c8p3/0uphmmzZ1l391GYTUTbMN1ljppcWCozaKeygt
iqZclTMlIBwu2IXKcb1QPVNOkfGfhp1uncpHi+bt/dQ45M584NZe7pvS1dnG87r5aHUUCKFuqPF1
dFz5urmeBQ3s9hpgf9md/X2QRbwHminCwJpqJ9x2dohIDLUJmNRP4gqg1zzxt2tGbNvGaP+ot0le
5taRj4bLYGLaw/7eo6C+68ivii0o95hanvnsApvoXE6YAzd0pLblh811hjYkncyXbTg0lbc+V9UI
8+np0nyq2sn8iRw7KOKitOa0bhB1fi2ZAcE+N3QRBLuO3lHxvJzwJk9XODfvm9FP/oUULQdYXepD
HLRDVh8WqVNP5LklqaJ2pT/NnTkfzNIdGh7CzX7D1cwbdp54IXnjgLJ8YieGtRSKBO/JZskq22Ac
ErSzQeJATvzmyDIQrvbSjzOnaj6JtJd3SAuLx26tURVyW7VEz4L/dXGroYQMWwSz0/NgDuYjdrsy
LQWheJgjzC+GHI2ruxpOMvT8pwbY+yxqS+WIpBygEBssremmuo27xMbyOy+6OyfWrFX+Gepn/QAp
alMmZ30PBQbyi7SK/M5zeu9dn9wKmsGc7vtlCo5UVsJ3NnDQ7CtGDoAPMdYyk0L8/+RZypK5V8Fj
JSeQKpI1kwFLfYqZWn+wygkJZd+Mfix4nXxMOsO9zq2ZoGnERj1mhSl+Zzmz37Vc0Dqec99URZw1
vI+PDOkoYIul0k/NkokXemeWb1Zb5m0IMKqY6vNAWmQyZ72iPNNoz9Vou8c1YM4NnWbtuKN1TTxv
6BugM6uh+qWb2f7VVA7MiA7TJo/AldvbsOujflfAAPJb2KLPTos1obhdgtL6ZfEYHrDtUktGOCIB
ga1WN885CW5liJDFeF7AMJmkQN3wkJtzmxYatGcgRnwbeWn5OBKzzkncefKGRFUlIrdZiCkWFab5
UxbkWhGLyeu1lImil1EDR3hsm3xvXrdyp8tNE8vVZK4LQjL9GQ06jrQLur/JODS7aB8dnyFny0ib
AHk1VM56o2OUcW8XLiUApWsfwDn9/Nu8E6ClsWfeyC1YhDgXc35H0BNiaWtrx/nd7RizgnxTt+o9
zVlPk7nboM4+QBqP+MASqe0GnoYcukIp1wwLKN29GefE3foD74v6MVu9ujzX+Vg/044FLc+luFBG
s7/BtufqvtSNrAI/JAwP/jN/7bWS52qZqvvccAGpEerlKEqY06vUI/S4CVnqeS52frAp0pieY2pE
BizgayF/yLleRIRncv5GABkvrWwoxKPqxmCNa/gtermqtqMqt9bb54lPfba3VlwyXmP3rDDuw0Sw
AhWeW1mFpt7CWMxCpUGmsa/4Y41/d+qD20zf2GnVKdtLCtMRx8nnPRyRV6w/34IDmmjgv0WVLJmg
p43DZj6Prjs9LMOMvrEZpJWTheCLOlxBFgReXLc2UV5M3SOuaPNubbXCuqCt69aT5ZZAXL7Uu0dt
bGvInZlHBaa/ZNcY5EMubYdnY2kPWM+bi5EV+2cm6+VFjggpw2l3lqsMpl0lvcgpkCFWZjDTPkDk
GRp9M59Ars13l8n7A8n5BkLvWNAO9mB8Uke3U+kFHtk9rlRPJ7ZTY1d11s0+L3Upg49m1eW1dXYy
Awoui5VKWwwikqNGuIM3VbBeelM/VDM/UMqYYPhgS61y4Ux9t32ChSi2F5QEjfzC2CNxHomhODqS
bk2l6752EAG5vI+s8v58mJhnYks1roj0mdSRUNodzqEbjeuEg+uvoPTIcJ55DdQol2gwxFnQUxy4
j+abR1QGbOEtx93a9K9I+3regg7nnxmzyTDwc3IvLLG7AxwBZ0rzXixISYEfoqENjyR0jbWOmgu0
zgBQA/RdKwz0V9wCpBUIhHFvRB3a77alkzXomcVP3+RPOUp77RUEROdXbIsGyBR/8VpcNl+tH8Fe
l25aBq7UE964AUIsDsP8g65D/2dOKGN9aklIce5QJ8o2YYCnIczpO4NaYMloY/jL9mVs7ep7ubbW
5+DPila1uvW/FSibRjKFeyFh83P/ZwF9EfCKv9mJiYgnyF1DU82rS5PQREUlyC7YsEIY6DKIwPS2
fj/ingiegDCRgZh4il9mQRDCfZ3py8JjWDkMLFji5wdhF/sZ/9j6Q+dc/WV1Q7FFM1nSGnCwebvP
K3/9YvaG/bINmtHAspfkhd/GMw+2EGgpBc92Sb4wW6O6okVrzTATvqHHpRmMXyTb5KVai1qeyOPL
POIt5LaF1QyZjNHCvL2p8xn0gOj4AD+7PeS0dtiWUyf7noF917mm3q1ptb8XLQN+ZDVFxmHC0Tqe
y2zsXFIjg/VprDUM4P9nXPd2auXMK7ysiSrWZnv+7U+KdsoCBPq5nlr/YLjEURApsnyaFXkS0tL1
r/8sS/27qtejfAvdB2VapBD+WTffLQaJOBP5C6Z63krzTvDgkv50+udP+R9CW7hI3Li3RmHftv+w
Uup9heNwrGDjzQJf23MZFHja7+Fye/vxnz/qf2hdA/J4qKyAfdH/UzX23zJb9Fl9owSI7l6wsenZ
a91lT//8Ef/jNyP70wXlsfg++p/mJsfqtXWq+Qirf+q913ZPAPH/+SP+roL2yc3WSYvSSYi0/2Pm
+m+xcNGhhSmIlEBgHQ+aFZb1QUcmuxfWv8iD/b9poH2dpDZO81u6/N8KV1p6A4OMOmmcjOQrAust
VL9s/tFdfwj/fMvZ/+dv9mdmE2JkfjKTQgSCt2j3uVnh/vsCdf1OZ2C+2aFq9mgGPNSNcysPZXBX
lXd5nszQve6/iK//fsVusmc0bCZJjWRN/6FdN3NIzQBtXNjNz2Y3Hed2TK0p+edv9h+5+F/l5NRi
Ic7hctFWByf312+20iiCkIQZuo8Ju0vcwxyvsRZqIdF+SRcxZMZBBO4YDfEcjckaLbER8aOHQCWR
FkM/JF5MTPy/OAT+/kTwZ5H1adyysugk+ePL934zldLlzzKCh3V6H/1/MeH/GSLNFeUD+GVNUv9w
Pf55RQljBKX2se0Mye17z/Ecm5EZgQWFe/j/vzf+tQiGNEIfE/+/b43WMsrjLAJLjf4tON24/dp/
uRo3sT2eHs/VLTJ+/gxcM5a+yXxBfI6/nYguMfIYxrNSkfuiUuM+O2ri4oYTV+CtCF/+L2ln1hy3
sUTpX4QI7Msr0Aubi7hJJKUXhERK2Pcdv34+0HfG3WhEI+SxZdm+0nWiqrKqsjJPnvOxNumfSgaX
zE/77mgHt2LYZm6IeWSf6XGTH03DSQ8/7jOnhifGMVM7OLi7/OodKIsN67n9ZbD/IJfqrNEjzzVI
ZIl9zUFFQwoAdp2T/vRLKtLuRl/quq1WjVNIotNmr6GmO+XgB7asAhPPBVtpf8rVS0U+hZT0IQiN
FbrZs2OG5hQ6ebhjZFjz5U8G06PpkLKEbgAL+bRB0e4hP980Yv00hHrldIL0IBfhhgrUmtrE2Sk6
GTVFuhJFiFFx09OR67EFZNeXqK2E1peyeM0RVbErtXushOx2SOVt0+lfqOOS2tZK4LFq/dCbigOD
3W1aQKbseXe51z9dPiaW1oOvgo+KxpOpwWXWdVJWA8VOur9st/6FwsiNSOhOxz9k6tmdqaPl2kMC
ljbfLDm+h56L0pLyCwaMld6XxQWxRPI8SNNASDhd2UcLYiDaO3g9UOsiAamrCeiqwe8DTTcJsquI
zB2gsffLIz+LAqblODI52xJyOYD7SDGJglWukShD/6KjRtuU3VXmrxz5Z6fezNhs7XvNAxjfYawF
VEWcR/3b4BV6eURn9wpG2FmGNtFzTnQUp5MIjnYIm1QxbHGAu8ob9nkENpsnxGUz535M9/cn2Qn3
5UQCemoGore6Fmr46DzNfBhS8Q+qH6TUkurbOBrZy2VjZxNnIrOH0g4tWOgVkdg5NSZrZVtpYWTZ
afZdUSHCWxnM0n+fyAn3Z9o4EWbun6Otp3oZmLVhzH7VpDTGzlgZwtl8MYRjE9MnHPm2AIEveBZM
iECqeIraYQftW7OpAUpcnqxzB7AgJ/6UcNXVSUri1FKeKIVQa4ZrC4G4R8HY8ZT2hS2/EtSeb1bM
WLQbQ+qo0xk3DfhoQFntwcU3Wq5tSC91uEvAo6SgcOgAaN6MXFsJGM73KcG6RKPa1BZHh9xsUJ3Q
+sjJeaSssQoDW3No3XYb9cljZI3bNh1X7J0tl4G9iQGGc5q/z4+iIDBJp0uya6vZr1aXvsR9/ZRC
4qim3goL6pkleuEmfT9iWiYRCqXTeRSmSnAa6gZ8XMYjvzO78tqSKneomBu/XqPlPotAiIjkSaJO
FeF2oA301JpY9mUD2pXzrnEq9VnS/nT0WqUiFXbUxtq3tO22f+mOk0XVwEUsIh5tfh41RZJEHqw2
dhaqjhZARaD9dofob50eJgneJfg75x79oLNxkcodZAtSJbuERDb/rpUowUcr8cLCSmHDZK1g/Oct
NDslKBbnJu34PHyEW5NEmVpeG/Hr0LxcnrA5eSsRK53YRIhUK9GEgvPndI3aGmYYKZZ5y1WCdEu/
P1q9RtEf4l4Jb4ZG++MqXQ1Onnxu3qZXKKNS/6RCupVDt1/xzrN9Z/Jc1alHTKcuwfrs2OqqIkaS
ChbMUFY7wDlgWsxEVb4qKor1Yy2T7FObdCV6Z38xxJNIFbNwksgGeh0ifjqb6gI0ZKsUtIRuNpub
zeZuc3PHP+2mH7udvTscbJu/3e12O/7JPtj72j7s9/bTnp/+7x867Se/7Cd7zy8f+PsTv4/fu51+
nZ+c6YfDH5vpJ8exN87j4+aKHzdX2NpMP/GXw4/pt0y/dfqXzcfNy+PLzcdNvsn5t5sbfnzcTP8X
vvNm5V469zhopyFbgQyNLq0zPUS1IXVMWRWET20hufoui+POjW5d/etllztfZUVVdPYOXbnAlucN
21B3FmNZgxrO8Lo2b+lF1G4SwF154OTWn8vGlgbFJp0kuAwVu7O1RaiqCySLzGMU5w80ih/orwZk
3N22snB12dS5GykqR6osMjBoypVp3Ed3VOQpYTvCCmUnyG1l7gvShxsShA7tD9u0fgeBcNne2dVL
CD3JqsEBRs2ajXNqz5ciJVdC37BRfShvRDeJN0AUsuteSNqVY/X8IMeUZU1qJ8R4hLCnpoJK91St
gpUXuo2JwBsm16Adkk0/6JlvU/1EDMYY2htgOC8GKJyV8/Zz6k53KFi+KczgUFemG+zUfqv5qdjH
CWlxO7N//POqVu4BTdnDlk/Ztzv6UDeJ87vb0V+gbN1nutr23Q3qmfZLvhHtPx+m4+2MzXAtrOya
6Uyafxpkfwopj2nPzBW8RhCaoVFlpt0oFXUKWAGUtRjr3AQEheYnJYQhq2cbpm+HCEBYY/BGtahI
0xZc/CWPOLfAqYmZL+WoBRhS2eK7gQQFaSsMG23ImkMJwNYpBnAuipR+ROjOOl0a3yuNWPxtDDR9
waTDOlEz8T6efUESu66vtnyBREnOgdzkNtMzorzhLTaKlTVbOBRoRtaggSIfy1N89pygI2OgbMLT
KK79jSRci9ZdkhBtVf+fdmYviRIZjayHe5+7FZCzdOeCIApgpinilWBhyUNgDNQUi9fllGc+3R+F
G0deI4F6KTLpsci999BY8/OF04bGZsIdWDlhIDyLif0ITHFMKqEE+GtXSutocl9N6hkrm12aZv90
R7EwR5ZmntBDIWD6GbPWqHQ4Bg8jjuf/rgUVxHjiCCU54QYqZ3q7hTXTC0c4ptEkR/SUBj1tmoSj
Izxs4DsAwsixIn0NvHugFqp4VVQPnbwXATKowW3WXov9PqcnuHzyy1uAVY21g7RvzH5ePt0nsrSF
afj3W2bToIZ1APUV08C3DNneq79k4g8XThhFu6XhW9f2Qf8cuzdu2AJI2erRbhhWQqMFtyIy1GUQ
vaQ3ofE/nQ6p1ZVML5mOvBQlqms59zV4tcsDXdiMKCJxYUICR4punhhrAOTDPUG9jF7DP3Km7eiV
+E2T8rbQ/b83NVHJTUyp0G6SizkdT+F1hZpHim5TkH9tg+Exr7QbsLXvbpSvHdrzKOcz1zfJ51KE
4Zk/V+l2s8igx5k6OSp32Re9vu/HOzG8D54vz97cY+dmZjs/MbsCWB3NPG707NEzFGe8tGgyvhrV
vQqt8mVr8zjg0xrZMp2WDfIjc3kZte1T2Wt7is9vCaJAqB58D6/dJ5id3ZWIY+79n5bIqqNmJxm8
T2ZPrFKr9Zr+EqrQ2o0Z7mOZNoW/vHFmJuaEvfKglHS5TyvUvY7dh1xtpNJJyv3lKZvvobmV2V0j
B4jqNpB3APbOwLxXNlr1ly0sTdXn+wXBnymTOYs7tShv5UKTEidVbrU+pblrA9/vZRtLC8/zUCI/
YZCHmZfjrF6md0wGFFANP+C4G5PcSfzGlnMgrfkeyMQGZonLJs/qZNPMHducZvboMNbTiE5mDZtI
KXE5Q3ICvycxZgKNIoxWX7oSUrYVB1/YtYB6/qGTmupks9USEFAq/dSaWHwygA4xcPvfaBXbY/lL
ca8uD/AzNDy+6BggxkiacejBhqbNfDyYLm1EIVAkcFSnfaadnSgEWGf3EtzUB2WXXI9O+kRWuqe9
8cE6WPsmtS0adMKtWjnhSgwhLXjq8efosyBfzyh8TFyqDo2ve91Jv3rb6M69soU7/0a5Dp7Fp8vj
XzU4m2yvG2iHDhk/SEPzAL554z3WVwam+hfXiQ/5/mPF4nRhXZhxfXYBoPHgKi2Aaaejn4y6ZOT0
1+HuYdwq16lDb+XKzpSnKbtkb3aB+k3XQfSEvXpT3yq3Y+vwsuYJk96rjvgz++LZr3q5+cIS84yD
C0LerQx4bU2nXz/aQ6lfZnqVfX5AdVfJO3xM371716+yaSMtLNY8kISVLM6CX1Ns5IGPOhjJMd5s
p0Y1oIWp0RY5VZWctXU3Om0DNL20BmGT9mGibNNpb7k02BYkSio0F8CzIuuPEo53qNLQXHal9reW
8VyLB9188pp0CyRtY1S7pFq5A873+/SpFIB0zrXpKXD6qWJggcCBiou+7W3QPUnJd9FzWhgq9P73
5aU4WwnaV2GO472hiSBN5iWMykJap/J1esizDKVJ2vZISYz5yqE5Te2Jw01WeKTTK8nNeXZ+8XTP
UdZBONgok/G6yqpvAOPGvZDq3/5+OAagfHF6QpEin3l2q9QuuXDAuqLv/UwC4fsoeytrcxbaMBa0
ZoFk8OAHlzFbG4jBlVhL4Ou18u+D8lyPYP96ytgeSPIXTf8PM2eRCiUFSkrUkGeHsZLmQzRqZeL4
QfmiSd6t6ZcvlpevhNRnDsf7FgTChMzh/Wl8Pn6ONuTUQJHD/gcFQAxlQ/dVSWvH054gxnVGZaX8
O4+sp7c0iQMSJjg52dTZBAY0hli0dnLamc+6+wcoeDI+0L122ROWrOhUmCVoC2lptSaXPBrRoHVd
FWS8zESvfwyVXypEanlq8jwbVy7ns8LxNCCEWilgTK59lswrVE+nkwRTEPds+ua6Va7ciI6xK0G9
kTSnH1FrAljRfQ+Nm6Resb40zqmaDsCDqjXwqtNxWg01Nzr/U1pOgXQYe8M8kMcgPb9WXVg4KYAG
0W9Csgc+S2V2LZpKEOfWgCF6VBzKq196T328vGbLJniaWBI+T2X1dCxyBmGFqqUAfyHCoM0eRqY2
f79sY2m+ALhSVOaEmIqdpzY8vwlgK8lT1Hh+mT04se+0Udtit2Jm4cSbloQ6PkvCoTc30yDkBLKT
2VJvsoJEjorQGOQLlwezZmX2zLK6tlOkACtlnu7HoLwNNfUD+ZyHy2YW54w3I/OGICMYqtM5IxEe
QlCIGU9/C9JffezacB5Ww6/LZs5SLNNGIrT+nx0O8VM7uV7TBtlhJybnJRT7sf+hZNcjpR1alelk
/pKVNJk7AJcvG1440k/szlxbLqzYa93JrlrTd1s7KRnNMDa3LQRCqvIkpoJz2eLCjFJLktDC4HyS
QfmdjjTtXdDHdZQ6nF0ASzL4L4CZKS9uv3KwrxmaRVp6IPiSMmCoUuLk2QgU+QCAMrsZyvxHZPhr
j9eFmZxo9qc0JrkqzZqNqxEgXZQUDokqj17EYtgAxWjoq0N5DoYWBbSHi+rZ388lMDqqqtzJSJPM
Vi8yJIFKZINcBcSYXYsQsk/fDnwPa+nohd3GCU+tf3pxcnPNBhe0sICYBkeHJlhwwqaQrIIjyxTY
pP5+RAR9hgxskYLj54VzdHdBRZ+3HUBjZ5hUFeWvrfVIQ3hQKiszt3RzkXT619DskuxdnwQYEG/H
hRQgQkhWgf/SoIHDyfVrtBz7HEpyYQPjBc0EN4Gy4pyLE0qRiKUjMiTPPtsFVlaMitSmDkQcW0mI
tqh/bSU5e7o8nQvBjTX1T/7PzFyMyFVRshRizHiw5qvuj04pnlUx29SydJXla16yaG26ISF+5q0+
qeQcBx5BX/RCZ44MivUS8+xGVH8FwW+vrTZwG2wvD23hxrQmjBNYBvRr1bmnIOIiFgi24PtB+iAk
yq1R/LxsYXGNjizMDpBCHIDsWFgwwtZJvdYepfoJ+ZndZTOLA9E0iK9Q25CkOUYXncwhacWOg8P0
HkWjf1aClfffsrOjUATwlAcHqJ3ThckC/uckQ1cT8tYnFwGZNPtqkJUChmY+09gvt4+Gemf8Fv3c
SZN6f3mASwcxQCGDDyD2ABd4aj1Vq8LVhiF1QvM+JGmYdu9BA0XZGmhn6QQG/c4tCuSZAtpsS5da
0kky1TInVAw4R/JNnyFKANYEHOEeDKEdJGt3zGdJd/a8s2DP1wC3TOD7eVY0Hrs07VT4nVVNeaWX
9KAHSfPDiJWbvNbuUjh8nFH1v+ql8RRAFWnDOicdSrUTr92kOGhqqezyuoCKQFK+XZ71abPNvwzN
eGI9yFCmKu3prJe5JnXBQKKhhLNJAWRcwfa1y9G+pT9qsL42a/DGpWWGkgZRGE40yobzuC9utAB9
gtQhI42u6S/D2NGC7gT/E/xBf8f7nT38M4RjKZfFgR3ZmUV+kDrRW5gJJNjbb3X/0KYHEWHVRLvK
rTsp3+XdSil26RigMQARnWn3nBV7A5yX/no0oQozdFSy04LQ2VUprdxIa2am6T26+dS6DivJZPp0
66EzUI4bvQ38zZedYmmLAOVhmSZ/BQl2asSE6o4e+yB1pP6L68PaDUukcWWJuzrd+sN/mbgjY7OF
8sUyo+2FZkaXsmFR3MgBhJZrChmfz4m5n0O2x7NM1YDqfer+HM1bBDl/V8D94RRQx2o0o3Q6KbW2
LO0Oci45c3dap5a2ABeCFkaOlL4nWnoX9dauHXKnLegR0P5oRbFy6C156dSPQ1mGu+mscMkxD7ep
z4MurY1NnQOUkv5EebXPpG+gFYXsLk82l9d2yYEATKkAEoCose9P1zYHkguvdszaFkkIEWmsOpHi
93eTNst/MUVqmujdQttufmUh2lS5qcXgsnK8swaXqRa/0s/xfHlE5/lobEzCezJvbkkn0D0dkkKU
mIjTq2hMtb0R+d/aOrir2t+D+6F03cFEZ9TWGtHR1O5ZCvqtBrffRpBFWhyhHLj8MdPWmPvZ8daZ
BTdR5VWVwGXtoPUjGA10Wim0Ibd18E1uVyKCxZP0340z701rR1XsYg9TnvQ9N6/g8ighy8gPlwe0
ZmV2LeuwCPWVhhXLPEwcbfl9Sx9m9x/2AX1coKs1HkfUVk6XUPXiNgxozQSG7G2shubzgPThKwAd
uA2DHfqdjjmsBaJLW8GacOnAo3ivzLdCEMI7VRqcPETxWyuGm6L0tqbxeHkCP0FWc5c4NjNFdkdH
Ty0VYQNXdeoI5H+/wfrQ5lduFdThttWM4RnSdsndAdeHJ4CCEyyEuWS1Pzmrus1gSXDcGWYbCw4h
gZQ9mfAwvfSNBLJUcCvLoMeuxNUGv8turDIzfiXQhD+1egnYA55z8xm5KeuxByvgtIlbfS/4r8D8
SL3wLS7Mfl+juxftPIj3aqqC0IWDIqQw+Vh2ZLo2bNqqd0LYcKDkVcRo1/m9km67rlOrnUG3MWSy
I6LLpZE/5G4BiUsQxnShN3kNbr1HBBpeDifxanqJKjVLKYmhiUNzPgXcLxa0DJDU6n36ITRG8DaI
EcWdwChEIIXo5WyqXqXyAkOVB2w8nPQrotZQNrLhic90i/fhXaMO+gPAI6vf1m3eeVujp/cE2pxm
I+eKByRShU4bgkvdhHledF/8HKDqnZ/IRuKEnWLcSyUsLb4H13cftkQHA6IN8AnCRqE7tNwb35DF
9Ki2NG28h0ci2yUwraXQINUgBGFE7m6QKu5/0hESwhGLevIWKrA8XjlJlzbhsQvNTrhy7MYSAWwU
7ylvVu6Xxn2Csc02o6+XffW8dstRSlWFxD1ZTKrSM0NVKEK7NyUYh/4+za58YxuKu6H4ZproW4Y3
iDcoa/DLxV14ZHIa+9H26OnKhrqAjEjpJ04uo7nX+rC25OP3y2NbnEO6KadOMros5jG4VRVjm8bY
gcTgqvPVfVaE30JFf8qbbmW5lqfxX1tziEI/pKBXp1TwqF9J5i9xeERgwxnMn2pOz/W2ih6hAFm5
eRYeGSSWeOvqtGYRSZizkxrGRa8MqoIknXXnFQ9Zd1f2757/c8icUIPfZIf8IPsccuitnNegeDdB
9FbHvy5P83lEc/oV8ulydlIJ3YPPV7RRCyPZM0jEDSBQx/U3Xf7qB05Qrbxbzx0Ii6CSjemFT/p9
Nu4U3vM+8GsomyFbzwsB/QMT2ZM1MwvJV+wQqVEe1SnTzStNCMTCvTRm3ISd/qxa7WPQ+rCi+Na1
rlD9hEcRwQ2FRx4U/4cgK4qtCU3DimudxxcTZhUkDx3i4BDmhc/RjKw8mDKxQVXdEcv6e5gAaBAa
oOez4M20Vc2X//5UmEZONwiALxRC5xelK4HhlSKMJgXCWb8jf7CRnXGoHgrJz3b4Msi3w7hWt1lc
1iOj6qkjiYkbe6WKI/XaeBVK+lvtw+9eqiuRx8JeZXBTCYLcOrj2edZDpM0KgdGKfADl/GSSh/gK
XaSZ3JsV5LnbpLqDI3Blr56fRZNNyojTlHL3zlwWvqfGalDaQdT7NzLLTph9ceFtTIXflzfj4hwe
2ZltRhcyVMSxGFtZXWfxrzrZSt1KeDMtw2l0czqUWeRWhlYDhomh1OXjKCJDBj/n5UGsTdbMEUy5
MsCRM4gI/SNuikMUmI9GfGPKcL5dNrV4eB3N1zSfR3dRkpshJRYGk5r3gvEhwK2MtIDC08WVbjvJ
tataXjG5NDp2lGmR1oNnYt6TZCF80XcmGWa5Vjd+cj8EX9I22Cn9Xz+zien+tWPMSkedP1G70Cni
oAJzAwHUtqahYoy9zeUZXPK4YzNzz+7jVm2QAHIaAdBMZ259pDHypFoZzVn7ExWG6SSiiYKKG+3h
Mzvg/yCxMcm65kE3UkTpXHUn102AUhP8vMldJEO4k5uFAIdSAJlXOaQ/zC5pb+QK1RG7KwGH/f3I
waLQAwVWhArwzHdylGwsyHoyaoDgvsoEuVqv6Nxtk0u//97S8djlUy81lFLlmcDYERx7zlzpozLU
jZGtPKuX9sKxldnGliBozgeXlTS6V6uGoz2D86F4BO3gw4NmRm+U7f/DuEwSTmRCpuBpZtFDUA1F
JFLcU2PlLkQk5ToD9kVtM9ZWFmvp1AK5PEFguEgJdk+nsK7i2ssmU02j3EIX/xCkunN5NIsXC9Ww
yU8tEyz2bDhw6IT1KFLnQNATsl9HGa5kERa1nVJvJetBBiZdN/eXjS6dJkyfSWIHN4Q+4XRcgmCJ
Q96T3J5UAQypduJxOCSqutXTemW1zpOEIO1J08N4RRkf6P2pKTQtinIM5JSKYmKPwmZsPVvSv5fy
Hap4afntPwzsyNosS2gkHdTvsGo7PmljM90rInRDWYXy3MoMLp4s3MhE0oDnOV+mfXF0BwhjGaP7
g6VBEzemBt+KlWwCAMB1hbajgabC8Gp10GcW/Z0bGwiSDSues7SIfABpZFBUk/ecfkGSZJA3dFx4
Pq9sN3lvoOqHFvQgWsHKGi7t8QlvBoTfInM9p5cR0ol7QgASboVK+yYOY1fa6KIZlS2i+fkz04fq
Xgu8rnYQmNB4DhIj/odPmOh76MvFjc5KucGomyk4tAnSco801G7C7tYPmonuxwGFBdtAVOWyKy05
LuUfEzonbiqqMqfTa+peL8FHmTm9+XOUiGIfEgD4leTbiDh6lb+ymgsRO2vJu2TyKcp3s9WUC8jU
BlRsJuL04qYYVPM6FEof+SQ1DLYKWZB9XZuVuzLKaRTHcRmFfpE2Q5lR8hw05uU0oZOLAi1ounEU
YV8U5rsSyahTWt8vT+bcVz/NgN6RRRUQj/S5m452y9BCLs1GgTWtbm/9PoG1FBWLbNhS4luBxS11
E06MBVNaYsLAqLNA0FKFqshbH5IRaBHMxxymuIMnK0L3Gtd5Ee6UEN69LYxq5quq1H0ISeRI150Q
RADPYW4KDoj76S8xCFjjzi3z7ncsIr5wi1zNdFpC6JhsskQjtVaPkNDtYGCM/wwuclgbfQy0F5ms
1YNYxtY1rS99TV91137N/RLpo17RU3hq8pRskxL2kBkDR/xm6KP3dcr0fYcArz6Ead/8do2wPqBz
04crkdfCSkzH1v9raJx+/Wgl6rHtOgSRTHTMhHiTRL3Hs0LsaCgZrG2Vif3Xyyu/0OgEW98E0SFv
CxB+3ryWpRDQN2ZqUTjVbV3Jr/MIjHTcod4KMyty16VYfK1g0VPDnp4TNFay9CZDYtBAvUOSw5WH
yHyfcZ1PBUyKx+BPLUObRYRWOYZxYAiuLaXqk6p6qK2V6CpWV+Hov5mjdLg8/HkEgTmYssBl4Pca
jKKzU8SLcl2QG1GAXDFwb8PK+NON9bji8mebmE6aqeGamHLKx83HVPR12lCmhoyvtjZScz3W+Kk5
/K3nzKzM4skBqe+xDbHSDmimwKvUoLE6wP5lrMHx5kcvp8VE2MZlw6CIUWY+quXxoBQBhNdJ8Suw
oIwyP4qgcsbiSxgeDHmlM+LcIyZ2DpN2kClbw1V6uiPolVfggq45L8zxSlHcRzhJbalp71T6NZTR
XTnoFzYgM8KGIO4iw2hOHnO0AUVdI6FdWSYcHZLtN1sNrJAxokecrhg68wpzYgijAx92iYkkahZ5
wQHnZh503Lba/gwyEXkPYyco2cr+Pp89rBD+oIjIaQutyulwopx3Enk1z8kr6b0GPumiatgLBupL
JYGzVJn7yztqaVgKVwnUGUTNwChPDY5NOrSChGifkX1NczQLA8OR9LXJO0uTTlRvhkp4B5hSheNk
tnFjuS+TTIh95+aN7gXbsyF/eH91ts7jSl7yrC6JJXjDVFDpqDQo2DodkE/XpAuvqE+HSrmBhmK/
v602sQ1DxOWJ+5yZ07v+1NDM8zpF7lGcQjcblYhPDr8SHr/Q0bcK/6YwyOmvhD9v3t42d9b27n5n
H/pp4PuHd9W+Ve1io23zrbZ9tx/QL7PpR7Rf99tn5+rx4+NmLctyvlFOP3e2AihPRV7pMS+C0YZO
0KTBPpVyNIi96MnQOmkFRHfuyJM5EzgiaVsa5mdPh17SZIncje+ETX8NFfpOLIxr0AB3fV/vuDJX
lv3cjWmxBLtPNgdgDVDI01XPGzlFJI9EN0oL11UhIqA2dDe5LKxgjuex+z/e9e+wZqdA7ApGbRYM
yzddW3HfkFDYRhX3fdNfKbBg6Vos2bqvrVwWZ8PjZQ6T18RRylFOxfJ0eKOnVorZF5HjZaOjQxmh
RXSBKSuvsCUrFssGRIi7HFjNqRXZ9S3IaqDz7apbrUR7dIzQv1rZN9O2ONk23HsSHRaAVTkOYFY6
NVJERS4qaRfBsNVcaSgdcBReXd6aC+NgCDq+wGmtk3A4NdGMXqPEJeMY3fYFBbldBU2UGBt/73Nc
b/RHgyqGE3eeT1ZdrSqk6eYOqdNpqIs14m0Uv10ey+S4J9M1EbgdGZmFCQjTDUNMc7fTB8wZhelD
U8VAnbi/eWLE7h+/L58vmzyrueDkkPwSYXGMApCZd7K3Qd4hgNAHjiYHj34n71RE2/pSfJck77GP
WhRKxFfq4hAdFZtAXQORnR0d4FZQrrfwElBDZ27YIHAbt5PcaCe2hV13xrtFH8vPQmkkR4LicBMX
6fDt8pgXXIaNBYkuTU2Qwc37VfoO0alQzwKnDOViq2tZdEUUG2y9jk192dRZnyNl0CkMwxpJb9jd
pm85Cln8kP6ttpIoTXo7tLtt6Fq26fjixijbRy9N3CPBcovi3I0fT1PtJPDs93s9CXd5JB6E5kvp
/jaMg9atBNfywtaE9FOl8Q40HR852zdjOXRRoeoBkB66vuDHCYmirLRCZ8STdNK7Qxbojo4GeckD
Xm/qqyyTtQc/loWtGJSNe5UEpudfl9wMFKsUV9kgkyA/dmgytJsSTBeKtEIv3JhikKqOFCG44qBB
zDuwSArlDTwC6gFwW4bNyvl57tIcoBMbB0kBHkZsqNM5LzUXEcU0ouiD+A0SnZJPlfggUjAdd4aM
7n2T21a59dMVwwt+hV2V97doQC877wIYCz91hRyVCHQBHSXSNlklbDxD2q741HRqnhwTjI+7AVod
YmFYAGY+pVe9pSVlymsiZrFyn/f3o2V+o5QWoWcI5UYdbAv3WvH2bfaClmFvPpei47c/8/xGndQH
tn1zTyLh8mctOBRx+YT+Y1PRwDebdYT8Ci1AZgcduD2iUbbEsXXZwlm+l810YmL6hKPN1PQFGDXa
Opz8HRI76sAUhdvr4a371X9fI45ZOJg0WHDwH3o5EdmcncXWWPRFnGHLRDB6QN6muq9lFYFPWhFW
XlFLfsP7E0zI9OaAJfl0WB7dsR66jVxhXn6FKNvGi7SDmYkr03cWFE4dcxxE1uSe3MmzuCJ25bYX
xDJ06OtVbklYjZu8c3NHHFvxSgo8feVmXrQHUR8XGn23Z5d/VI6tVOmIE1h+fC3X371ARn19J6p/
P33wF8NsSKMSF8k8XoIsoJW9oGJcQ/GFG+u9dou9J5hfL3vf0nAIZIhz6VehbXS2SpyDo0/oHDpx
+EPSPtp2pysfub8SAixbASwHJ6Q+VRlOfSEIRIn2QDl0PPFQjx8jzuf1D0H7cXkwCy4HdY06MVbw
xiWoOTUTxjXBrWsFTkgkvRcCLblOCjUIbAvM3kqKRV44rz45XYnWebqf3YEhtHaZEUShI/ud+IK6
u9XaqR9Kj/1Ax6g9oOQi2yJw0V9V2gFWR8rjW4zo422C2o7xUPZxnnB281LewxAqIu0hVu5HhWT5
19H34nfDqLQrpMwRmxla0/iuhpn08+/nC3YckVCFWgx9DafzVTTcU53oBg54uI3rIzlFb63lWpvL
ZpZW/9jMLF5OZTeioIYZRCmQ3L7yajC1UYRY6st/MDQhlOnu57ye94ZaaiHno0q83yQGVMtpr6qv
khkVTyRtlPdR9wkMLltc8DjoQMmlcP7QST5/bwB8lAYzD+i/16ODgB6OiiavWwf7y2bOQugp08b1
w8nN8DjxThdKKWUXBL8fg3UvER5DTZVS8vVgNSizkuHLi3rTNH/+i03QrSgW8Byd3/u1W7qDZ2DT
CiDda3HbQy49lhmPxuQhWsvwLVxMn5UOBVgtON45rR6UepqeKVHsKKZ+IxIkJq2x0Zs/QQ1NuLEG
gV5aNjIrROdTNpYK1ul8Fi4lfSSGYscbzWtRI/dralu5WjkiFvwe0imJDA7JZV5Xs+Oo0RBStQSk
PcVM309JhDDJ7Q7RVDvtVm6LhenD33n2UrvhjJ07SEUdjgOlDx1y62hXiq1wxyHyq0+rGm08Eegt
XFgr+ZGF4f3DmE0qn0z+Z8B6FLcIrikUpFGR6emU27DonEQUENJIrtzub/ukiSFOTM3CFnOkNlJE
JH6j7CWHhgplJvSo3nx15aRa8IsTO7N9FohirSkpdhA5oqRXbY06uGpG9e9PDR4p/ElCmx7lecwi
BmKplih0MXPmppHKLy5C5WlQ7i7vYBUvnkXUKuVZcJ3U9CZ281MvV9oyC8Nm0m0NXzu95IH/fNnA
wnRRwQdJQ/0I/tN5RTR388jXsyZydL9jpya7TAEj7v51Pn56+XD2kQZRKAnOd6uoVaYv6B75lji7
paAGp6J43aQfMJQiKblWRV8Y1Mmundz+yK0DFXVHS2fXKiD64jJXYjvXxmFT6kP54/L8LSwQpjge
FAbFHM4OiKDNoEyQMKUVwsEcjPtBWlO7WTMxG82g+a2Xu5go8956Gr0yJK3oeU+XB7JwFJwMZOZp
/gC6drSwYnYCmI67UaWC8aQIa2+lhWMOOxOnOQALSARn0WpXGuBi0DtygkJ9nshDW8u9GmV/WwzR
nSKYa3mcpXv3yN4c/DaYKLZ7bsYdmCPXV5V+5mStZ9ieXHx3XXPnBd7ez6KVfbtoFTaIKfHMw2b+
5qQ5R6u8oIidMYuvqQvl8W+ZfniUoxJFchpzxdzSA5Tg5V97kw8deTxwJqMSCux5rUz/0WALFS0l
quh4w3On3SfkibVha4Xby05zhpjhVD+xO3N/6FU8UfSxKyHZjcy3WjwOytdO3deMFgrMrBqccdJZ
rg76Wrph0ZOOxjzbF7orJMiIYpuqEp6ja7bYCw9D7N1JWodeXfL3iemTsc52iNpbXPzZNFb51pMS
aD78nQ4Py+UpXdyHR6OaPOtoJcc89Jpy8pzBsra9Vv/oqgYJKC+Ea3vcXLZ1XhCblo8MK+pS5C+g
Ej81Ftdwe1QqqdxaE3IKl6WdF8Z7OuX6AvdreJU1tjrcpig2K+JB1PZ++NPVdaf13to1IoIFVwIm
A3AF3IpiUGOYHQyiifZo7HYaAE1LeUpHSZyqJ9oNGPASknGLTpxsjJ3IlblFkJHfNo3b2GEDi2Gl
BOZ/WWyTLkmSpDB1z+/FVoaal1YmclRB9TsxUSNukFKNTW8l6ltc7iM7MydWaFYm1cwKCDLwslF2
hBqZ7/FH8J9KHuwEkhHkWGAGnwVGXkGkl/cN20UYLFvJLMSorezvwyLeUkiJ0WbKW2qetCfL0yei
D0Su6ampQMWlxe5tU5svlx13adZ40gCcBhdICmw2FiNvoW6hL8uJQj39qotDfChdr7n1ZUt50ZLo
9bK5pcQtvJb0yeMKNPLPfdNvA0ogwRA7sRBt2vpAGiRrv8MM5w7XjQDVo3EXd5vK3V22O7n8LPpj
jJ/4MdaM9pPT7Zl1qd42nshdKQS3Zp2r+6gaRFvMtOrBrK/9mHZAaH+MVSLj6T98apiOCIkkNcQj
U556ZrignaQOlEazvcoiJT3Wxq3g929CpaBjTqbdThrzVYA7/7XucohswkF1qih48hTlRyd5L4pZ
Rl8EfRj3EaJiKBBTR7g8NedBEd/HzIBD4nYX57m1WBArYdJtsgvla52/dunb/yHtupblxpHlFzGC
BP0raNofb/XCOJbee379TZ7ZHXWjeRshrUaj1a5iVYSpAlCVlXn57z8/wE//fiYMZ2kdKGkgIa8q
rWLhSScPQ3KbpCvVsAv0JF42dn5fPTXGhD4lypSpQDqMeokt+gFNoIOraORPgfPAIoPoBT/xQp95
35hVJXXToeCFXDEg7FTRn9T4lyw/CtmABvd9TB7Lfld3rugdCNoNL4/wHBABqi94P9CIs9oeEnun
WxnkknlSyo1KifQqxXbiwWk6R1e+ddUCYKaqe0tVe8fsH70YyFfzwK0r//ScM5sanwCYySzRAlAA
M3xBy6GF22FTQ8LVgXZ67JW0DLeNAg0AyFgI120Q0y6CG2vWUEpWlrsDcabWESa7V25IYdXBusQN
HD0hs2h7E606KGkO9z00r8VZIzS2SjVwe0OxRs+Dns29Uq3HLKSDAW6u+g3aQHYsHJriV6p81dW9
aVwr5ioaxZUP5AsSjGChavVtlvEeeQvXw3n2fw+d2c1hqIPECPQbqJXGNjD1dMATzB/RIwt1RVtu
C3uM7lRIo19e9QUnOjHLLHo0DIKQ9DDbjW7bo3iLebxHDg6bzd8jxca5Op2Hy5NRykwudOr72Kh9
mMvHDDK8IxWTbTxAP72zCCC+2vgpgvPl8hAXXPd4iGz5PSyaThOyTqUqCLbQuUoJYKfh5HOGRsh5
RIYddI3hCgpoOFsa9sYRWtgt7IzTgC7PFHp091nyZapbqb3VdfDimvYU28X43FcxdNZdIn8ibQHW
Vo2StKcCCl+FfOiHVS3GVECz8uV5+Dlyz73r9wcyLxAvhdxILmHyVQjPNwA6T9jzSgpz8HmIn7df
ySjRKiGO7t9M4a+8AI17ShsQt2aDaY1hBq3521YG/ry8NtBQUOlXpNY46fJz5Ooch45umUwQQB5S
HMca8+hPxBZ0y4wfw2BTAqgFPFJk+rai3xkowSKTbpbPqMe2wyfktDmztbhrjr6C8UdSzurvHr5C
hACE4n2WgA1mYIS/vCYL13sMFjSfpgHgNMR02MGK5lRk0qDSpLxNiRtUG1kBb3GYUt20W/NFz19F
TDhexvj3TR1yRzRf+wr4kYfLX/ITW892x9GXMAOGLogsyzW+pO4mGpXrFnDMLC7RyLc1PVx6K1uS
5zvwtVjfiaLrT1fD+KgInu1H6xYFyCgaKWm3oGwACZaTqo0VhTJg9A2Ue150DXxFebG6/M0Ll755
9qAYhpusAnqR2SWPXmJCnPS62Y8qQJ0vHlnp+qsgB7SqldUA3IDXTVYDPAFQ9tKf9r9iwWAZWGZI
1KJBgj2pfKPT8i6cVNomPdjlwDdgp0L3qTSomV8e5PlF+tQSsy6+4XmKXMESKn54GIC6KHAbFSRV
rcaJYDxLzFlAUiyaB7peCMmKtoejcspQhkhulJZzaf5B2Z3vtX9njz0GlAxEhGOAsANiJtuAqDbB
b5Nt0U52Gt62QuQQxCZfsibhShJXRN764U4xcQ15SswXuXjSjQn/5Vc/HpB2p1V7PbPLR6WTkydc
NUfz9vIaLMekOYMIwSCken/c+GijaXLioVKID9YE72oIoJFU6be+pONZPshuTBR3ABWaP+p2apq/
Yu+jqgRgc71wNZmdnTc86ajlnX/0QUzcmAKlHAChVWmmTW4OEiRJRMuVua8DYplCgYzOrhZv+kaj
evjn5ykgJHPfCuZDgibgqdOlJBV6sLDBdANilkg4eF3iNAmP03lpiLCjo+Q3QwDPIM5CHQPfryMC
D6oQQa4ATTnRCIlf9OsAM+vVgov/r7fyINFlAbEKiYZ4RHG4M3j8HgtHgYokw5x8QSULikqnA/ZK
CA1lqESD5TTaJHrvhlPm5A0PBLN0AT+xI5/aSWRvjIIUdqKqfht82c5N6UluNJsM6AHL1XvPB1+S
GO9NsbNSJbjVeuk6VBRX7WJOUW158o/GzNwV2thMwKKGRW7nZIe66qqNqB3yCaLH/rXcW5WYbnV1
36YcT5v/XiYygNVsnm0EV2CBmH2doNQhhbPdONpqkm+ZDacasDyyIwtMPJU6ZQzFDLOcmle+/jzI
mzpdx/2zPNym+RboNYXs+5zjM0vX+5NxMU6D2rwfKAbGpeqP0vTsCd4qEbdCdlOF30kDFAWwLX9e
NgclOugo0EEI/gSUYE/3k9rg1aqNGKmiwS88ZZ2ChiLPTM6jdZ6wsyU7MsNMaAXW61GfzQw+KGL6
VRA7XubIw10ua0A/cbIKP+DCS+aYmcQtmzRCgVMqzm+k1BWiA0Djof+VBCYyDU6a4WS08uxTUiSI
H3FuHIuh4N+x6izFcxKlidQkCLtyHTi9KV53cn7oEoPjBTwz0unKTUmMHFeCMRbqXd2AcPNl8u4u
H2mLjnY0EubqBDrRQGwHrFo8CVTsS6sTOBZ4g2DCWZw3IjRcYaENgpU84HE5+Fsz53HIzruY3Q9A
pQFrh8bDGYt8Old+CWVGULng3lrJTggydM84SGUDYONO0Hg4uKVbMu4AM9JgZqwHyQtjDfxSah1h
ZUpp243foHNZZ826zAdLgwBHYF6LoJcvoRdU6QkEsVaiXq+M4d5s1636aSpXovyZg7pCthVyYzaZ
Xee5DZoqQX8zwKoacwkslsLdyQfPl76jm0seofIJYhwcKjGpr0k0IgOSNx+yCW0u/AGokcs0fPL9
KNsF4xRaQi9eG0GbcO6WS26LGDQzyuN1DCgms0x6m0vezF5Fm6FIncAwS5vIlbiXPGhddpBVp0nW
95ZiRvdBAnkKrZ/QMROqBEc9gGySznOApZCMJjNQTQFdDXDKz8wdzYyARav0RlbplLya0I1Qsxc/
TqhePmrGphxqS9fvBUVwLvvdwnY9WQ9mHpBiw/s2x3oEJVIgRGtEPLbabhOnKBoDUlJQHySinONn
jomMj5wYZUK0nxIjbAQYTScnQwqtB794FWYO8GFWGylUlB8NnUejs7z1ZhGLOZtHIPp9uvUgWSFn
2gDPVPuK1lsw0iPIANFpG1eJfp2N1beipXeVJmwuT/FSnWom+v+vYZYx2+/kJMEsz4/qh7Z/lci3
b4p2YTzk1aYBf6gwQThhB2oX2qqcw5ANeujontV+8RRFhEbdg3E3YOO0zpfQNSnlt71QYhtXNM24
VcH5ADheUNYMs4uUJhXkNA5qK542leHW9X7qnzRBs8LkpY4exXytlpty4kR09oHIWmW2kVAMaaOl
GJxSCtt40nd9Av2T5Lkehc/LS8ibRmbrVHCRLDMwPn28UaXHsbtvvO//yQSrvhu1s54SsL8WAXE8
BOUsT57cKeEB+8+8gJk0FlczGWagtv08aYorlFsvSWlrbCpy3alOL31G0i6XbHCkcpyAM4Mmc777
wdBJYgCzvvpSoQTeSbcqeb48hezNjx0ac8KrRlQXaYFVCoHXL6BiK/fCi2H0u0ol75FxXxvh+rJF
9tbCWpz//Chmj2ZcJYoHi1V58MQGvG5axZNjXLSBEowC7wXolK3CZrVRS706b4w2uMqRXgqoqeTt
x+WRLM4dGIRRGkOv65nUhJhMqMGS2Uqp2WjnHkXwlYw2wdWg1K59tPP8b/aYmUv9aYyjPkLEKO8q
5dqLoQ+2j4zX1LsdgFq7bGxx8x0Nbv7zo2XSxRBwSA3GRuQSA2VTxdC05b1RF6PRkREm1MY+RCai
Gka8vnRMTbegO2aJiXFd5xNn2/EWiwm3mp9FJBZhKg8s2XQ9z2mm9xEs/2QnNBy4weLczcz3uJUA
kceCTPWmBvQK5BaW7kMtut9Khh2WOWdAZ7j6H0c6ssJsh0whIOiYDxDjEFxX62mdW80mhcQUJREl
VIOkiy1vwIp7SF0xpcnBcHiMIWf1CPYbmF3StIqgVDFcoPu4ln3qP5nU+Hx5IKoFnSsbUsgr3Zqs
8dlwWkveTqrVuAovz8GbbWYTTUM8pLWPeWhB8GenKHHeDbt61a2j9/IjuJWdGJyxuOw7lx1EWtxR
R/PP7KgkI6NWl7Ab5dQQIF447Jo1+fQ+WxlFFiq6hJbvyUa+BquerDsp7xW96DxH9ufvO/JQT1Hi
2AxhX70/oFQVPHv7HllXSEm5IzXu2p13R668ifrvlwfOs8sc7JFWFyq09DDungLxLimHSXBqjXML
41j5ufofjU6PgRMZZIwurN4jb6fOKBRIf5ScXNL8sWe3sN+TyL4giFp7cmTOk4jMRxLoX3IjUxN1
TFH+ngIRJWfRDsWCs3acrcMWPZRsqoJuhNW2+BQ8xU7itRckwIQ/aCbFRcO9vGIcD2E7BnNwNXXB
PJdllVFPKy2IZED6yb5shTeoeUWPViypMkWMB1gRo49acurWLoMPNXbGGMTfPDKe5TvZ0cIx3qcK
YJnQ58gjdJAO1i21uRF1O+xau4XMTW634MbWm6fQ59VgeZPJuB1pS1FQ0ZtgNe2KRLsh+RqgdvC/
TSXjYo085lI6hxaTgAD8pU836bQykJKrdOJOGqc/geMDP03MRwunjlXYdvPCpYYjtA64vUUwhnvR
ZiIdAJK7QVhdHh7v6Pr58yOLhQHO+RBcytCy9QZKtpCQL/bNznQSCmEBN6K1bN2N7iP0YrYQa6E6
Z6vOR+MFr//BARzZV83JCwDJx+aJG8fXdavJOC43b79zC7O4ByjbAE9m7tVdK8wSEbhuGPlTG2x0
c9eUT0HigF798lzyDM1DPR7KgCRI6sFQMbpl8DmJ2wzQhd5uNR7/9XJE/j2k2TGOLGkdgLmgVIN/
5x95T3FbQyKE5jkn8C+vDdiY0C1hQM6ScewxQqdsosU4XlCuT4FUN5TN5SlbDlS/LTAeDJZWMhka
dt8Epv4xhK40uOo8Xdl3uUCBKbfrXuccMz+QzPP98Nsm49GGGgQmePdxnGXlc0wgLJMmWQkkQJKu
9bpQcOggxYP6VBSPr2ELbdK4TsudluhQuclCQX4n7VR/tEMu7CtUIfZiPxS/FLS63XVCpBwAPkKy
3DC7cJ1OdWNHBfSTS2BCvxM0Lj61ozi+K0QOwN89KPYYywLQIBCSpbHm+2g01D03RUsPbjKFGR/0
zu8OKAj4m1DUhqeoaQ41NBgJAADKYJemHH50xlhsQJatrie9Vr4CEZ2+pI9T5EsE1Ynk4V4s9HQV
l+q9PAjmWgF9gFMJ4U1uhrxs0aIPoD0TfgY9TXRZne5MISN6BVYYPJSlV6VERylYDWWqxPtB5136
ZnTT2ToemWJ2p1b1piEIkFuGYNxGE5AvNiB49CooYFzTd3FQUFFxEh7V6VKExgNzZh9RFHDQMzu2
bPtIyBT4xAjmu6pOXPAbWH3ebio1WwVAb4wpGtMb8fmyoyzNK3Rl0bU0s0advWMyNI60owGeXa+G
s+u3HZR7sEFqXMjMgwh1vsvmlk7WY3NMKPMCXRXEAeZi8baHUF1tPEbNn6Ll5hfLsREmiumVYU55
N3MH51/oPg6BNE5uy0qiSb4jHk+h5yyP+WMOR4COVlswNrDSOSGUydBPVED3C0KKiffWo0ulMm0Z
4Mb+oYX/oe9wloo0xwYU2Jyb+uKEgnB9tg6CHDYNkgjQ2jDyBu9Q8onmNCsEkph3gV4KpiDf+tcG
s2hlCjaceKiwaAE0f6dV7xNbj3CDeCXtp8LTCFgeEZrwAXpHVxObjzbkOPfVHp6eyXhkQT1DeR/U
nHMfWjqBkDj6rxE29xz3iqgIcY7rcl4/BZnqZpXp/MVWPzLBVAe1YhKyVsA46iJEJQUkh2Njabw2
///nkvzvqcOOZPQmvdJqnDqZ7wjFShkmmkJGRZVfSpGawn7KH3U0LHU8J1tapvkA/88ZfqYYMQYS
aXNcFTK8P6VBAORas2L9L+LFsRXChH09yaY8RlQsR0dVW4DF3MD7urxQy1Mow38Ag5+p0OehHt16
/NJU4myEkTa696eV2D9O6irGA9HzV2noCvV7FTyGPWdoS16FPuh/rTInmiKQvAar1Rx530JoQkiR
rXQ7odvI8X2s8tKli8t1ZI051BI9BDRPhjVBeA3lDwU8SBP35FysdxwZYc6wccgj3zNhJCpuvfaa
mFcD1AzafDsGdg0FIIiH90BuFzyh46VDTD86sZkFLAJQTE0NTmy98qDnPFhpGFy1vX9V6eObXqd/
cfFHRRKdlyBsRW8OY86UGzMMgf6xOumpiS0CKtZwimzUnKne8WBNS9vk2BizTZCrmEgew5jZ3XsQ
agLwuoeoeJLbqr4Jmj/s1prPMlyy0G6JqwBiPhO0QFVf6J7U1pZMipWvVzQaVCeLOYfW/M3sDevY
CuPVkRip6LzBoZWbV17c4J2xislN9OcyOqeDYR5obT9AzGWCGX/K1kmjrOqupZVsgHiL0BaV1Gy4
FqXGvhxOljzteHDMaWnGnm/2gJpaPnk122/SbAlPW5I3f8wGDHVTrtFXh4DVQCZhNFH7KAzyCjTt
rpbu/mI4Onq10GqMHn22szHTk7TplK62euwEUI5ue0V9rcAjc9nM4pCQ/v858sEPwcSnosmjEY1o
SNLh6QY+K/OmLZRv2c9X6TCsLttaCBcodoNREIe8DMkQZvqqKIQkTlxVlmqsr0lVWH13JYc8LMXC
FePECuO42ajkAFLUlZVU62JqaMW7li28GGAAoBowvepgu2O296iN4Rh7MKDGtZ1GOkSTFTdvH6YK
cHhP+AjqlNaGxyl8LMQj9LORWf4LRC8QAjs9LE2oect+1VRWqePWJHp00JRbHRRlUbZv9oUa3V5e
rIWNcWKPPVN81O89AfYEiD6gTbXO10m6mbgUXWe4ToS+E0PM8z0LNC2pAxiSyk2hbFRiNRraBJ3Y
fAKYlJQZRQp3iFbq1NKmNfAInDg+sBA5jr+A7bDHw0jtC4IvGMdDgq4bYqzjbH15Os/wNMwwWSqb
1G/xOprXLxZGxxtSqAKaNBzqfQ1sdqxHTotoEkj9fY4nD2eA/49xdM+BK4yASo7xCYARprEnLXQ8
cGkEKyNYpd0kfM6U+1rIKZTxAOmikcAxu+gosyT2f6wyWxaEfaQX9a4CR6krgdOcgFavdkVQiEEZ
M0WJNeJUcZcX8rdBZs/2npylwoRhVtAXM67NAVgzzgNmcSpBpyPN7MsgNGFbUkZF9wq/6LFdxbC5
GsxgsMVy9BxPklN7MLOCyhppqRmgWqQqk0Y7JZf/YpwAaAJlDoprtNozgTTVwHAeQ1bR8vG89Xxi
kekq4PXQLkXrYyPMnhES4HgmsKpbWelbQ/ySkJXo2aZu9dWK4xs8U8xGaUSzqrwE49EGx0fvYnEb
qs9BcT80K3MAHqtwkvgQJO+yuJraNZqzJxmkKzbRXy9/yFLMOx4ys3+aEE3FSYXvEFK0J8hPmThC
YR10MuafCy6BKkmdSWFV0J6hqfs0mscoG6lBSTBiWbVGMJIRwSpy9/Jwztqn5phzbIW5EgVmESRK
AiuRmtpSbQ/juyFuO3EXlCtP3XV66npkH8YHSbeG9lWNv73pHaQQlz9jnjXm1nnyFcxuBV2p2Ddg
GLLk0NGhVd/nVlsC6RjoVKuQt2z+xjuAbwM/sgLWMFa0BHwRXiLosDdNZmEntYr6jk7e1EblvZLl
pbsG+pzAvDeLoGEdT5cxicpgln3CVYBOdukMNnC2dASVeXwVUxR5aOn0TrhtI5p8o5PWDffR81fh
pNfkKrSlFQ6z58QK9uL6T7s6f1b+94exLUTIpQK/1+PDSuM+9gIoBmxiHs/1ktcSqFcjDoJ/F6QC
p4Of5H5MkkyurLR6KkXEiGjdjFt1ciRSck6SpXk+NsXEohBawsMkYzhN7YioW8SEVxbkWWBCUFo2
SR9PsJCnI/R0ShrzqkmLJ8fxIJjogmbiNFQ6mAijjVrtAsXp07dAXEeK0wpbr95Lf66bBxEJyHhB
QWKmBmTPqrbK0jGS5l2guKLhlOHe5Jn4qWCy3k1Apg5xILCwgPj5dBcAtYyXA5jfLEClt7Vbr0zT
rj/C1fNot25BU9uzoEA40FSn9Tp3BM55vBSyj80zO0OA5g3acudJLSpLRJzGzVhXtuH0N3Zw158l
4dHYxfKCGFoPgFOIYUJcONRsJXrX8muV3F8OlfNknU3mkRUmYItE6GfCVwTsSEQz3VqDgnbN6y88
A5vPwUEGwQnaAkByiN+fLllPknZmM0Bqw0ivBHFVocXcePL8p3aisprvYvMmhX3FcM3EMXmetmQe
IrBIAYMNDgUXNteRjJofSPkIbN9wXSu9Pei3evCsDh8kexBKGkw2EC+gUm7layhGX57gBTef00dA
XKsoaIFv9HToUGuOKwigACEpCp9GUYJgT+3+wgZBb7QKxhNQjrLqVW3c1c1oasidFsCrS6PqqnrM
eZ0tnKno5kCqHlcHVB/Y5iWxl7S46oLGUiEpNYUQZlZoZXy3oVMPFQ159FwLXnZijgldWjCmYjjB
nNCDWlQwwFY10KrDnV4d1pdX6OdoYnwA2nG4XGpgo4MIGHOmBobSVZ6ZNFa/zSnIKCzPzqka0Nhu
t/kKTe4TzZ13YOCoetdZED6zwM9if6R2vJctkeqvPArDpbk++iD2LBXMROknBR+E3hUSfo16YCNk
B5CK7/xDUY2ch/7SgxgToBD064Cl+Axh2/lqrugZ7EkSNamAXkZwyFsf9UuwNmP62qc018Esxbk1
/WgFn8/7b7NM7CFVh/QktCWtp9QZROqXtF2hsZJ6G+Um3E9r0+124N2gpmP+Qoo+pW/m5q1eez6V
qe/W71c5tEzd0fKcyxti6RaL+Zh1aPB0nYUhT33Wb0IRtUp8mPcouMXet5uPtqSG7e19RwLhF0W3
hpVueDxmS6Hi2Cw5Nev5iSBNMsz6tUwluaPG8+WBLSE8TwbGxGFZ7NWu1GFh+Ohsea044VV+Fb3U
j6Hl3avIAVP/XnkpcJ0EHMHeBk5Mv//HT2AWPS1i1U/8tLFGq6at07xLe8XOH2/Sw8drcVBX/bNn
YaUF26CqPe4MzqZbQiudTAFzezCJ76O2iikQ1ofhOv02LPRmaGtj8/GSr0C8BPVq4RcoV+7NlX47
0s/Lw5cWrrAn5pnbw1ABR6SEGL56fW1Y2qp7l+wBcFP/9kOyCqtxZKsaKAeheNYuD7cm6A2HvheB
1g5yeqc7y4yLsEinuLFaz6kLF/IgyI6DqE2DrIElNgfB36J0KEaW0VjirzBwBl4hYPEMnknqIMUu
4l82gzAWeqHpPeZ9avC4lhsag7wJQRm9KytZ3uQmFMSp3wIllF1NxlXBe/8uHShAmSoYvyrrIntG
CgOZcqWFffDjGRFIMjaZ6SMf/HR5gXlmGB/u0WtHahHr64F/bCrzPZG0DwhY3kmNx8FWnfU+/qwq
+hVAM4o+S2jNn65qkAWNpM57ybz2rMaGuP2t4SSb4cF4kFbyutsNd8Ih+75XP3HrcHGUuLUNxWer
fuZ51XLEPPoUZthVVOs9hBQbKx7hth3ewHiaRm5qof9zAIuRRWi3Et1pq28uz/fSG2e+84AoS4Lw
DJIXp5MwjOiqkZQIk9CAN1MfVuA4g7o6lnZI0esQjtdIsL41jQym654TTJYCNlLj0JWDa4GxlLnb
JUIll+BgbSzio/vlq+O1RC5cziFjON9K4DJ4TDF/vziqZg9VTfz9wQgFbr/Idd8dJD8BpUvql5xj
byE0QT4I9zukpiWkfJmZBOVlkOkiarppndBGMO/LyrBCNaFG+KsreEIZc8hhDv8Ta0wgrDypglLG
jL3KfCtLDmlleZ5u59pd3Nc0rg+KzNkqyxaReAFHzFyMZ8YHzI6SxTUCnh4mTl3hnag8R9A2bFP5
vm+/0eNhdTGvqLZ0t5pFAXG3RLEVeC/myI2UqGs0FeAQyEvXKviZfEpIRiHwIvYbkoApDapQAorm
b2qb0yrelDLnfruwrie7iLlKR35ZQ30Zuyhpmk1WaW5Ty85odOjmVegYvF52yEWfwJYF2hPs2IB8
nvpjrUt+3/Z5g6MkBDSx3g9iwnkZL80pAe/HrHWGjCYy46c2/CgfRVEuGivPRwo+aQqhA6gAGU7s
5bsuy7Ze74O+K1zrFbhsatAPSAmSyLJFVF5/KVkK+MC26qhnQi7grDZHutSXu7ZqrEwwnGJo0DHt
7dIxWQ3esJYS4mZZ4ur9vZRroIqXV0k7bjIi0dIoaKVGezS1W4GQb1qwvbXeryh7i1GsVFtQo8fJ
YQwNEJE1CQrnOid4LUZOtM3j3SOr0Fdg8yixQgLBF/HlUvmi93vJpBB2KYxVG9yoBR2ynQYKm8ub
YwlBN/MZ/muT8XrNUytRrGHTn1nMgTrIZMHyeyeVBVfMrwfzICWQtG6BTnTbv0gLnxhntk0A1Zwh
GmG87YXHpgahifFQS40ToQV0ALOhMr5zhrvkesfDZV0vM9R6aObhFsBaIscXZK8xEtKaYmu+RvvS
lqu1CKJiWUHapaGJuAoFRMOvftzp5hfna+ZQw4Tck/HPAfII/YS6WOKLA75GR0O7Oex/EMMq2Gyc
yYsd3bspsxcRXHxZ/FwmX4Jxz7G/ALclOpK3kNZQFBTjmVCoxlJVBqTF/JOHCrdcJXhC9oWQjaqB
nsE1Y2ANebX5paf0sU3muaGEklQMSofYm9wHnQtW4lHQqCm73VDQ3OdEpoXgdxLsGWvB2MuCb+JQ
k/X8JauLYmM2pOLc+xY21YkR5hxTwl7wwXML9Hnnb3w/tDT1toLGCypJbqP8BXgN1lD2m3Xl5u3D
bJqo0dNhwqlphqKjk8kywmcpDB+a3HDHCBcEqdhc3ifz9zPb9NiiynBS4tomRV07IzaB5y1IsvYg
BhQnf5Hhhxngd9Dzi6cRe4gIUBTp8whgXgFPMloI0y9RfLs8koXNd2KCcX+PyEVPZuypGGVrJEap
Nrgz7ACkpgMkT4nwctne4s4AGy2koDRUitkanzyEAJDlJYaU0U6Q3dq7rsKVAVGHbLQvm1o6gyFa
89sWs9W7zBzBQAtb+pSLN2NTHMxQu20nc1V0QEfLRLgnSlhTCRllOtTJeOMh3+OA7XXbJml03Rhp
+sj5poUAd/JNjGeYXdF3Zohv8tLoSc7rX6lYXCVJ/OH1TykKgLHn2T2YntQ4opOS4bHvfxDN58Wc
hSuBaSIdi9cuKIOhZnDqMoUvAyZeAloHIuS+fGsb24yfU3CIcoY7ux7rKMd2mPcf8hilJ9Zo9W9s
sBz6Trj20ClkIbBSdfUmHEa7vp6c1Pbvhb3mXDa+5KTHtpkHX2d20ajns20Sr9QkghijuUmhGvJn
ZkDreMJSw3gQTosa/MNgDtHU1Eq71x7Ktl12d9nIWU6ItcLEOKxh2XkjrERgyOriehWOT/k4gSzL
lo23yqBSMLdaQmobyFbRmuLAnrB78vG+iBo7Dt28eSEmiI4TOk0cnz7DLP/zcXhbg95Pm2u+p7up
zjJwOowSKHrbx2HcJfJGTtwOqrXDtPZHSKftUsWKM04QJvMCHm8u1iyzwPEEmVozQ8zqTXABx04M
WqAwCZ0Gyr9VbRsSEmfeWxetpKCieQIyd92C+Bsd/VUi3KUEWAnLS6wI4OrG2NW875sX/uzz0JOP
hha8jSEYeDoreSTrZSBgVjTUc6IxpHHT4d54A2RRHb+OPKaVs/7wn+k4ssdsRCH3kzysMR1ROKxB
wSoBJR5ILk74RNiGxWNn3KvqoenXwdDi6XEYdZTj/a9osEPpVit4h9fZRZr9HmbLapOWSl00L4/6
krUgnUkmV6oi2oaPAHbE7dOoAPmaPJQjvojj+2cvB8Y4C19ToKk44LKgghS5ASXaPvEKV/OQAolo
CvbD4tMMPiLdveyl7IpDI1xDgQKSpECUgVuMuT12Yg8VcsGADI24UaPR6iEpou5l6anq7rh9i+fH
G7Kks+QsoI8i3ppsp8AsttdNAuglXtx3d/N18+Fc3fs2j8X+bFvNyVh0p0CXYVaTgmzy6Tb2hUJu
gykNrSeVQvOe0j1U5qnlrDkZYPPsTJqzvvMMIsGD5I7JHNfEI0lO/CK07IN9cF8O//xw3YN7oDCL
n/jh/Odf/GZFNxQ/3Z9///lDhzoZ3e8te317u/6+Xdu726fbp8+n9eV1/uErPXZtzAmSeQAIzz+h
AclsbQAjVMXLW8hIW7Xlum5o/fxYB5yz5RxIMBsCLBjAHcQQ7KvTyRf7PI3TEZNv72zbtV0M2qEW
ZzTn2xZGAAwCABmgZ+ganRqpZDNNy7AMUVPZ7Z529uGXu3r+UOizw1nis4PiZ96OLDEhSsx8yTMD
WNodDlg2y+ENZZ4PdmHmPCtBukNWDLaUHeYmuoBCcNLtDrb9cnC/6ArbwVpzrpY/icZLdpiBSF2a
B3EOO4dfv94fHh58OtGHgd6hDItS7PzPA0w7e8da338X1v33fU/nf75HFOaC+T9uLy/iT33k/IuA
OAI9kC4jvDGLiAJ/FszK3/bsLpvrDaaXWjbGvrYszvB//rJLxpgcSa9ngAeXszEbu5+6dyt4JizZ
a5tjSpvDy5kppK+RPUKMQybtdFziUPtjY9azqcPsAe5mdvs5EGB4GJ89//ybuTyyyVwsfDMe2rps
YDNFHRe/oNiIX58w2tgKra/V8+pmf7PfO5xFPC+Cwd1R//l3sMwB0pYdCcQYhhEBc+q6D6tX64oX
VJYi+okV5XRKdV8i0L2Zh2cfQM6LCHqzwk595G2TsxvA7O7Hw2H2pBYm1QwIhqEX292s6BXPwnl9
fragKQrunRDxgUzy6VDkKM+EGKo280rtdPrSua1ju6ubj8L5+AmV1nr2AU56Y9n9j8wy7h/LXooU
AMzO+yOmL6318lQ7PY6DES+d2ulsW4dXUJyUCm3wT4LfPgMogOop2BKoRtHvA++015d37g8D3Zm3
HH0Yc14YWQC1KeWfpZ2PUfvw8wscZ3ae+UTFMTo76/wLfsWPPf7zx5ngTvhhz258+as09qL+sw9+
fxWbLhFKr2zFk6/6+TbX/uf0nr9i/hb8xIkw/+B9wTkmFfsEMEPgfqGXi3sMMy95Dm5qpYIgzGwY
N4qfHwiRd/QZo7+ytnOYtG9d3qXm7E4DKmX00aNlaS42nGlRy1UdyJ0Bu107VrTV0EdhAgcfq46c
8LQef7olThafMcZE5SbKhCgwZBx+Ob0GORbFe9Tq6Bd+NwGjMv8vuLk5GC/FsFf7G+tuc7faOA6G
//19+4lp2bizIz3d7ta39u3T0+523dJv3+7pJy81cJYIwv14nhRcPdB7ASHtU89V4z7NQAOAjkX0
7QAoOSIr5EySjKRhOXitvkJ7RrjxqyzhBNmFJUFrvPp/pH3XjuM6sO0XCVAOr0q223bnNP0iTE9Q
DpREUdLXn6XGPTM2rWti9gEG82KgS0UWi8UKa6EyjUYi1EQ4p4T5HTLNOsu9UQGNAJ5vQPCp53dj
MrKbvGoVQQi3Ks5EjK6Dik/ReeiZltZWOwAzDDimHzpJXMkJVGfhNRa9eFYFoboDBH/DwrgHp1fM
UhmDLBCktCCJNJHBHgH+kbgzSHm0MJHe4+ilq8KxelOtDWhtJvWpkALb3Fw/7JfPEjRP4Ij9+Q7e
CvPRkWmE7zCzyLXVKCyc0Crv8QbWGwygoHvlYMFxKgGp0D6E7ltJANC2OF/uGJx9AGdZ3YwZm0nF
B+hKghq7HbuGDCIWI62RGcmDMo6CFtgg19VeMeczodyNEGkNNTIGof2YBFlz0wI4o0hCadhK47f/
IAodFeDzQo896oHnJ6eLHKoSByfHkWpwHGwaNShaDH4MfiTq31j+1MVSYrjYlHX4TZM3XjuvLT1u
Qc04OnczwP6Gt1kErr8uAlzmeMWiiYDvEMlkfaiIipxZMhH0EfuT8ruI36+v2GUgstgkaNr/VwgX
0CVtEs2gCc49ubPkDtw8chdIWkzfywHdvKad6ds4n+WnakSasGgadugbgC4HI5XSXV6khughtIRY
lwv794O4QA81prlJAV/mJUCvkL02AUuc7RvR3sJgdfLgpDvihCl1fNM6pobXKqIPWARcfoCFFAg6
nmw8MM+NSO1zfbaQ8F0KbV6veKUUaPrOlI8GcsJG6taS72BGjYEz7Ydu7AT7cVFm+9qPv9K5/ZAm
fTImAhOu5U3S385W5Krppz35jL3JmMJrw64VaLxuZ39FcivusJwMVQuFteijyB+n5ljqv6+rteoD
gAf0v2vKxdU1kWelWUSACEtuf6CQV9p3www+OVlwqYiUWX4/KZPqZY1KWo3107LptqYfkgP0x+Sf
Afa4XeI8uZMDo6EdFiloXUrQ+advmO1ZSHNbbWA5Are9hGDXLJJz27VT5QZK7/A18z1jru7cmuZh
rDYpOP36GxD7XN+sr+LZNXmcxyagFs6oBHkV0Cfeo9+dq23nz+Iz3tW77BGdD5v8GQb5aQii4bW9
A4qjivEvELcCFOB870yNFG1UO7nXYKKPfY8zEOKo/8E+TmR8ZUdP7IOquVKizgTc/jwCG1nuqpgQ
BAPN9SVcizhOpVz4EGNkJoGUstCeVaYFKCPJQNhFY7Dg8K5d6Yjfwe6IDhbH5JlhQX6nt04Ceinw
y8VtWILDZnqnKQUY+55Fm+tqrW7QiTDuGCuFYQIIG8JYxAIzfsh0cMwPn9eFrK7diRDuBEfwgIgK
IcTCtacOx9IMCx2o+pHI1a5qA56zZaoSg7n8y8fuK8A4d7jCAaLq1j/GgbmTUfqGErREDezkqQBz
l1LjiVB5tPUn7S4Zv7dU8Bmr6v79iq8854lBoqQ6pFKDr6iyQ8m+j8aNVjxFkuBorUlZRpDBHGta
SMbzPt7BHW7mYIXv51s99x37Vhp9W0TosbaiCK+Xkg4o5NB1wB3gZkg6hgZEr4tH8Nx/60AVzDIB
9sllig3O10YtAYRUAPK6eDlOTMlktGmAl1wGlRUtSKGDWK3GFL5KQB8H/w+sElBnt0Gc2/Ro23OD
7mg21cfRtDrMldqFTX4xCblS0J/WsaN6c5ZQ344L9ZfcFUYGsskYVKi1Uckk7CZw7QW6Xfb9YRi0
Ud4UpTEiMmn1Rvd1rYrl/7BZGBJFu6GG1N5FLyfgjBWJpuDiJorqV1FQKmD+s106/WvDy7KQBnrx
0M6jINLn7pWmUTQiWVhI0sYYvsus30VjiMAEFp/AXyY2BqHBCbKwffFtDRHVEwmc1nj01N0+Bdlv
XCUCH7hm3LYDAryFuXmhLuTMbkgomecUtNGoZ/vj+NFizsMcDUxjE1HrxJo66IDDPJpjAFGc7xqO
UHcgE8bp0Stdunb9MBT3193fqgBk7IDFroH2go/6gRtpSEUBZTCAjMtpl/U//osA0IIBQQi+gEeW
cOJsjB09wVQ8s346hezZoJwS3LKX5QyYFiYfMUWKvTfAjH6+JXWrlqTNMkwpdNFGSQNHxYu29CXT
14zXOGM+kQ6VvSCfCSSvL99fwcvvJ+50aGJgEBR54Vmk+g7URE+PVcGxWTO3U924C0rpChuc79AN
yEGYvvS1MZBsI5wMwW27eEv+5KAFBexIpqXgocmZNUZlLTuby8JrLSXyEvJjXBrj2Vs7ZPfOCOAD
vSoOci6KwlbVAy8jpul02Ahf1SxRfuyjAWKnwUzQXqr5eWZ9FjXwDUTEJOtmgntiAehHHY8vSslI
FldmTQpvaDTPjA5WfTeZt0m6U7VfNdkaxoOkPlvD9voJWPzaxcKauDhQjpZ1vN/PbURP6wlBATQ0
2+RexdBa9ZOAJ9jONzoLr4tavRGB4PE18awDFuVcFEl0FaOrcOUScW4ZeFEUph36OA+ui1nbMyT6
/4jhIvai02ndYxoPPNza4GoM0GrAtU3BLghmFsHqiWRxl7wOOHgVSN/Ys+qbXeyr/Fg0t1TER3/R
poAugeVmAowsmmcAe8qJict06jTcxh4eI79ol3lEpq5VJEgV626ZtPd5Vfg1+UxbEbnHqgsxvwgj
kJUEceL5ntX6kFhEhXmQHs+7TmkxtChsbRUJUc+FZLJVwTIgJGX5K4vkZwvI29eNYtXMcVdhbGyJ
L/lBSGmynHGWcJNMEv1F4nTXsAn9ks7WZh+kHQSWvvYQQZvpH2mcQpqMRz5aMguPKjMCaZkGSLm6
MftuJ9JbNDi3ivF2Xb/VfCpmmcHBjdlmGx0Y52toWJpUphJE1knzwObSU5r0xQLMN4BYXBYVvlEp
fl81jRtp75oDPhiq+9RuAqsVDYqvr/XfT+EOYISGuqIguHYcg3lEwtG77UlAjT4oRLNwKwttgcAV
SXPcDHgpc+bZtepMyi+a1tH2m26TWX5ibE0LrYL2hySakhJJ47Y1pXY/zGWFY4j3sjm/kPh9jFXU
afBkcm5MEe7VinMBLARaLdBCYiFw4E5917TGrDKK69uwNsj7Uemn0T/aM/Gv287K3QpiMZRG4TTR
FMAP9ugj8K/bcgCVBTqw2meTbQ3pptIx89G5LfCYaCMojK6tIxCYVCCyQTPcq+e2apcU5OQRbrpi
vh+Jl1TjXg12NAuGvhNMhK/YIlqikQHHZIujQsVzUbJktrHc4M7pqL0fEVe4I81hI2XsRrl1b+r/
So0KVw2BGOjRNAxKoYn3XOAc12OUS3DVGVM3VLLdHiUNhnN2fc/WbONEDM8x1nZqY/SLmAjPoqw7
ovs7atRwVAWebC0qAXQ5WshAsIhph6/fT2JI4hi0b+YFN6ppQQCN0cjc7SuV7KdCf5DGLn2w00n7
ERETA+xVnYdJZtIEExFmRbzrOq9dgyjLOigHLqx/aKo6X1spsdWytzEBNWeHBkO2BsMQbrTE7q6m
hZIMh4Z6ikO+X5e7aq4nYrkwGpSV5TgkKuL3UXogNQ5iYr7Wib2RnPmeWBlID4WsvosqXFh2pioX
VxvRGGldpRVeo/4am2AcNqq+i52D5ews/c7pX2gZEkw0GtmORYIn5Jo/OF1mzqlicEaxAHmH63j8
SOUPpobFvFCh3xiyFzudm4qSrKIF5vzq3EUkrU0IrEFXRos3Mr+UwEZQ68xj5YeSbK/v56pPsE0T
DYuas0CpnJsRZf1cx8sgXS9juK7b9haGaGxPHmKXdYJ09eW0+OIPkFPA0CtGUjEudi4sj8dokFLo
ppmNjNx4igYQNqH7uNQxsKlEP/Q4a4I8YeoN0M6eJGDh+czqTQ8JYAeXeCKi71vTHk0GYP9AURtP
a85BOawhmVHpsKzIDiyj2evZJutCW8o3BHQu15f6ovl6cYcn0viMHrqb477B6C1GRe6oAkQC0gIc
o3+A8/KSWvdZmflVqx5JEjaKr3rWzkyfm+wAJy2VjzKQFe9HX/KVTPBhKyEnvmupPyN9tpBZn2+L
pHUSUmpYhRF10Zw0d7gadtd1X3PRQH7BZAnyCzamxc5FAFQ3AUDb4q3y1Mr9CcMkLSiBMCvbziQN
09Hpn/5dIppv0dQIQCmkZDhbGwgqZnaFXvU5bbM7GnfIk8lzfiSDkvpR3HeCoHrRgHdSeI2gdQU9
EoCm5RYRjw9DQiczHuWd5Ed0N8Nik1/XdVq9gE6FcN4X4PCdzBIIGSTHcccm88ZYCgpD8/uMufUw
bmZkUqrMeRgtJwWgz8/rH3BhKXj4Q0VUFZCZw8OBU7IjGIQDujSUrGzPaVVXTQT3y6oENBshW7e8
+/lKfRnVqqomiFEqywwdPfJJ+69R0KLDiYTFVE8u8Ykwu2hySBiRpIv2M3uSsz1AzzE+KDDBC1e+
SAKuElCVkS3Bf+eSaDS0Zq4iXMjmWzJuZQIGsaACWRJmg0UP/Uvfei6MD4IIMtNtpUBYS/xSPbJp
U5LAzgMl3pp6OGrABLkrU7+OtmBoENj+F7nJmfFzwrnDFoEbHN08EE5uuwd5dKUXUNcEbPOzOBr+
sQcgrW9t3pStG++AZKW7ReOBCNCzPcwIg7JS8DkXR5H7Gu4KBdxprJFl3WVyaCcPMzyxaOj4Iizg
RHAHAYj1UYTnLB61BeKsnZq4xuwjAsucULI9YBxfP3eXL9oveUCJxtwUjIlv6R2rPNerdERqsQk7
0KjN72q2tbu7KfGs/pet7Qr9owEN0UI6U8vfO9FA/NqxBK84yG00eDfkt89NGRFtnFEN+pYOZgM7
QFap/3oJQUNcDMA0WApRFzgO8twA1d2cAWOpYbywPMqAMRAs4rLvvJXaeI2gfgPQ2wtAz5ZIMoly
GaABBua+MM7/qDhbKT/GfVCbPlqYXQwZgnrPJILK1JojOBHMn80cXE39MEDwhJyitFG0z6y/VaaX
rrn5d/j6r3X8oyR/72UTXFGzKNnENUpU35tZvZGS1L++liKN+CNGqsKcMkhJNA2v/7ui2oPRKTI/
5X4bZSIi7rUDfbp+3GmjPV53ubzopGEG+6PrbzL27bpCF5Egls1BYyX65ZfBcj4SbBqjbUmP/IId
6cQ32/RXOqgSMGbnKUjGeA5A0qJ612WuLSJGkQxVR/AJHmTuUI1SoqVOh1xDmT/1Paj9PEl+qRUQ
Atyw/Pm6rJUlVGT0AiDVrCB84yuwOh2UWjIhq3f00VN187npzTkEr4ioxLPiGpVl7AYlPZSRUK06
dxWxHPUGs+Gq0ioFamF6G9f3elHfSkpz02i3iayFtlHFosO9spinYvmGaWWkiFgM+A/Ektu6AtzE
aPlx+qpN6laSzJuueW7jZI9CtI+wwotUHVdUp7sZnnO99aJnyVanOhogf1xfeG39w2BW4KlHQMM3
mbZxNtQY/oBl1VLnSzTObxKjllWvcNLsVY3k+ZvtFM4u1SgDhuuU+y3t0c0DJPnci/s5cglGU9+q
tpHvq0jNIh8wyMYyP59T3a3Z2INOEEPiGFw1Nd9Sk+YnzYaYgeS6HH8WVQbmt6hNw04fgTbEUlP9
BGaEsavYlO+n2Kajh9BhfqROq8Ao5Pxb1JGljTjpQgIa+vIAHiTnmMtDLahorq0MCMDRequgZn/Z
fosG96HsTOT0QAe3kcxZDdAbs2uatt1pWl36k21HC5/dIMi5rdxmqDdjkFsHNxFK0Nwo92gnVjbP
YJPtm+eoQlJWGBGtHLczCVxAxADENGVlUqK80yBHcDDpTSRicFpxWaiBoLsHJQnAGvB3cjlh+sdh
GbRQDvLo0+HbYIVavpvY63UT/jJR7uKEJPhF3M4yoNaWLzkJmamWWfEU4S1FATHY+8tgjxWCMtZV
n9Ld7DUPQB8T5F3WIp4zmYvxnMi0K7UfTGTYvDHUf+d7Ftj+vKkPxS3ZAXglNHaiqHHFb50J5PxW
YfStaQ0QKG/ix/IlPeS7MWg8+fH6Yq4Y/akYPglgNGlisnZ5woVWCEDvLjSgzvDt/yaFs7+sSlDJ
XF6j44/Zjx+iAxBwJVCNX5ciWLKvhMfpHsVqBLhrSMkOETA+k7fOH4I0tAR19ctc50JQ8Nf++F42
qug9mhMgR39QwmHb79sAfuG92LCH6wqtHtsTQYvjOFFoVq0SMMcQZMrbOfLjdhepL9dFXL7hEUDj
Ca0g4QavB8XOZaAeO8j9nKIoVXxrgNcdt349BJP5GFmh7YBI6bclh7UlePVeJGC+pC6pt+X8Ovys
o5HQyNSKovSiZfA/7d002hJcArXo3C6WxfkKqAdA5gUNEll/zvKUghadiglcrzNpUGsETdpvtfzO
6tEFM1VgD0CR7yS6QT+YH89CQMqVHUS9D00/Fh5LQE7mxDd6lDl6jRwbOPRY0ITVtj5omdfso+1S
ndoAA6vaKE/x2/VdXVneM7FcPFxkvaInzZLa627mwZO0n+gqwwC9KMpZ8fkAJcT0NPoQcHfxPToo
kQ09egdQThxaYFYkSTIcER6w3ylF8lbWKUY3zLwZP+1Kp7fVyBpwMA45kqpgqrth1tg+FoCuiYEE
OJcvbarn96SQ6GfjSLPgdl/LSGCu2FGQfgOaw0WZOS0bRL6WU3jqA3113DLQVOQB5N18U4f14MrP
3fb6Jqxc62cCuU0AJ9lSZINAp3vQAFFpieBR1nb5VCPuHdLrcW9LCNY8RQsAbF5LKCCnspfp/nVF
1owYJTP04Fmo0l2M3klkIDRVEJ/YJmrFNL+tNFQeh1bwLF1ZLyQTEakvuJB4E3DXelUOJGMYKvOo
zfxUQuA5Cl44K+ZqAAfBRk/NMilvLYqe+FMGDE82tFBEnTCQEahVMFDV7TDF1CoiMpuVzUFmeekx
xesGsR23OYOsN8UQwXcntTtUH+1419dBlouselWlEzHcFTEwRgA3h1ho2jhPABlSvfrR2hd30X3q
9b/xrslTVwU9uuQTgWu9rB/gGsQzGCuJYTEDIInnq6lreR/lOTRUnown/UYPpCD71B8+jVtUawD8
uLMrl4Jn2PXSneZN2wxMrwIHtGIyZ5/AHbHccFLVnpZFrr6Z9jETUWit3Y5nArhdzOR0MFIHAowf
Wur2kZu6g6v7qQoq2YB+mqKS1Fo4drqm3HYmaZEMWQILTXb0WGPIGHDg80an7nxTucqDtJneQFrm
vWrPvSBEW41wT0Vzh0OSCq3QVajavgO2eJfa/vCmu6R2lcWQvP4xD//dQZ4t7nKETo5jgv75oUgX
vzJWriwF8fjPLVKciXIuBcyQZl8uOlVqvjOHbFs3Ah3Wj/nfQ7Bs6IkOBFREZJ6gA6ni0NEAsDi+
mZgXV8LrPnhVDigRlvnnheuMM0RjQLkRKKCYB1YeZgMNS/b3Xrt1skTgIld8PWgk/srhDNBE5QGs
NHgpxtL9NBw79iZRkaWtxGRnMjhLy81IBeAWZMzxYxahZ6EMKpTqY7bt56PaPqTVTna+T//hujwT
y5kbio2OlNqLs9A9iiE5SmSQU+010VaJlpA3uqQG3AWFehHgmpq7FjMGWu5fNweRDM7spnqOSrWH
jDZ+nO1tDVhXXYgysepdMfoOeBw83VGKPbdtiqn3WMdshEcAYk4N3wH2G0gJisqz5BcQCurpa1s8
dQCzjxTw8hbPkijyWH1qYcYKqX6A9QDRnTP7uiNlN9Qwe0pCDXTyZVgpQKcmAN9zXNlhrjweCiHB
2Nrqoq0G+UmchOX5cK54byRmO6UIrIB/5ke75nMGgAhxHeA+xHeG1xzlRzBUi8it1iLUpZvnj1hu
UzNJy7AKQFI0NxbelWMYu267Hz36Tp7IXvSMXfMop9K4h59l5vPUKhYylOW20Y+Y4Lc7TEkF1w11
+Wbu/XWqEw9T2DqlDQB5SDHa96rx9flogz0G+N/dGEbl+3VhqyHJiU5fUDQn3liRyDgTFdKA8r8Z
/Rhblt1ZtwiBABq2wftHfY+RL0oen7QbMKlmPggPBxHDxiU6y5If+LuPX2AaJ19Rj7TpI5BIe/Pd
BzDjjvO285InJ/il7rowwlhigz6L/V40Vb5utUhxmxgxAVI8Z7Vzo+S1LSMULFq/bVukkT1Lery+
wv8fG/0rhLNRNmNEpp2gWx8OvrGlt8gpfi8PzI+Avc+2VBThrUZg8EF/tOLMlLbAHOsUCFQ3ShFG
m/E5fqjfx9lTTFd2RUnM1TXERJOC0B0wWny6AMNXukOWeC+tEDwf+mzLRM+cdRF/sr18w3jN2oyl
I1yaXmYuxlvGPHa7QXCNr7jus7QHFxgPeS5Ldoq0R52ObmXfKqLof8V7IP26tCqpGLQAOcS5iyys
oevRuYC8CpxwLv0eQQORHBPRBbCyWGdiOD36ROvT1oEYLT7E2WFItkYUXjfp1aU60YS7YmZVskmc
l6UH8g6fdbLbxM/XJYiUWL7gxB9IbdwiHwElUHdBN/LvZOhdo/m4LmTtZAKnEi90vNFRG+cLOzPm
QjCfCSlZrLugYnGjpADyuVtVt0jNQN5o+HMXNPXLSF8i0Tz7cgw5P38mnQuuckkbMoxiL/ip2aZz
rCd5QB8qSNFjzQzarvAztH9Wdre5rvXi066J5XxeWmQxXt9QetYeu+hQGMdR+aa1H9osOFCXe4jE
gQWYRoCKqybSNud7WAKF2OxkK/PSWgZpFyW3pSkBSj0RJEYv13HpqFCBuQVRgOXnrNHoKemrycRE
dgWUC3psxidGgEOp7eQeMAT3FRMUn9YUAz7IUm/WcQr4rqCxKU3AZVi5V2D4R3nJk0ep+3Z9kwQi
+H4Dg5qVE9UQ0Rh00+rvGjX9TjTwuPJ+tdEJgmFETCNq4KhbvuLklEWK0+OJhAHOGfQ+v+3GK387
brMHy1XfutaHdDSfcl/UCXPpPM6FcmY/SY3F2AihxMKkORDvmciTr8Q0EGEvDd7guwAyBedpSd/H
SYpGEY8E1fMQojwfZptq5xyKXYfhBq/aatWrtWm8B+Y6h2zjHERgH5e+/vwLOCdc6pJZySm+wBoA
Yb4z1GDQBtxZr9fNZEUMGuGWBCMoPRZncr6BOF7AcqEpFKQvhrPXxtCSn6moofmrdeLcZQBYEhbi
gKIY0/Rf0duJncid6pCyKBGRuuVj/qoMbhxkioe0jpvepJvIL1wt9rLjEMRh+eQIo8OV03Amn/Mk
pJjVDtxgqF7eAE3XL0L9m3I7hapbvNjHn9bm+8/ry7pyMZwpzJf40GbalpkNgdGHobhM9vLXYQ8O
vsA40jFUfqNJ3hWIvHTLKHg4aK/FANCS++S8WCZPUmtg2AIPKOkpuye3wxPGf8yD2SB9Nm+cD8XL
fRJ5YIkWFTTXrMheAHFQyl8yvZwbMKTJVHKw3AHSIgJSNokeC5neslnqdoocSdvrmq4peipt+ZoT
Y8otI5slDWPWVUpyV2++j1XxrMbf7FndTv3v68JWLAccP5hcwwVhoCOVX9WsSSJCsJFODVpi+fs4
Uddsnq4LWfFo9nIE0ZYDtCgg+Z5rNCpjX1sOOo9GDE4bLoqD1gNCQFtglWtiTA3RCvDbMI1zsU2p
XWaWxPDERqIfvXWN/e+hvI3EhYrEAbjwDOSozxVJnVQq1aXzbK46X7VeAcXgJqIh5LUtAaAyevYX
WehmOheiW0XaMBuFNsl+GLqwoD6an69vyEpEYOsATLGB8LtSoJ0Sp1TIgAZhKwrz+T1pGeDBdw3K
tEqISVsUF0rR8f0aK+N8JG4cVEkw2gqt+LpeMkulk8SYptMwyzO7sh5NXhnJ0f2oWbBzK0EmDYvZ
6J5lD9R3WMJcotjoXUHqC3QrWHmp83QmIeOfzh3bMSbpr2XU4TWSykOzzRotn/1BQ0All2afbCgr
NMUfEFwdupbRA8qN7S1RppjuGyvV74FFjptnnuZQ7adkb6ql/KFONQbHUrvbURzE1FMUzLu7+qwr
aJpEZaJ1SeyYv0u5HsNZt6fPVJqMh7qLyqcEHXxvDWA39jqgYoEmbqUPjR2b+6aq1MQvR2e40QvT
fB8ISOXVfEqW6TTWT74SS9VtndqDP8sFOEOmVh6+I+7GnIYaK6BYMmFvbssAmMeqtp/36C5l0b0j
ydpdNjpgxGKO5vSgPkrqnWUk02tD2yS00sGJ3VrpMTLGcnOTpNqMDka7biY/phPa6WcwKd0VwFp8
z8kcPdR9l6JvzDIIQN2kzLeaibU3gw70RaSjk2pfNXl9g23U4kBz8umXStS6dGeWl88pVRukzwxZ
DquuS393PQGHlGS1FZJAlkVzpNsArabqrP9Wz/GQuENiZ59K3GoBIDh0cElWhXbQkw5Z9d6MROAI
l0kjpKABJIfMI7rV0Xd/fqpSxKqJRGq8+cvZ08Gho0r9Zs7AW9Q3Hmb+f2WSKM+grjkkjCKiVIcA
Hw6DkzmUhCTx0nEpPSFBVR3ea5COuOVRBzT07bAHAc6TcZsHxKf35WcS2AjD1IUj9vphX/2KpT0f
qFJfcAPnmhtRbOlVicOu5aEZay4dhfHHygVpA7fqjwjuytJYNNZ2DxFOFBrUVY+T94k8suWq907l
aw9klx5a19mJLmaRapw/bqoCzBYMcmMNzT8FJp9FdA0iCVxuqp8UCkymxVPifHXp7ag+XN+dtVAK
IQXiCsUyvsZ4zrenx/ujrvoJsWOtSh/WYFnfqiRGEpHYFao+ztwVYRk5QI/RS3OY3T6JUtXvc7X8
2cZaBvtNu32TskE0J7ym+ul1yoUGRRyNLF4mHhh9kRDSmomgOL9mNacClg84CXTsts9rFQR/HmHq
a65WG4LOe2Nqbir1P0g6vVK514ZTVvAoGdowu/EjN0w/o43fVgxNLCJgV9HlzS2aXNO6YRIu727a
Ku1Nh6e2qKd6JT7EFIGOeBRd3JhX4OKDdJjUAd5s6amuwtKow3JjPoGLIdAjZXPdOEWiuHUba7nM
Jwm576hJtyzeVQXaEnu/l4/JP09pojv8VCtu4UbFioc8QqECA9V+b4KCUfeL+lWXiV9Jpnddr7XL
ABSMoA4HUa8JXt1zyyNxPdDOwRKyxku71G0ST9O3Tqu5xrhjmcgo1gz9VBxn6J2S61MFcnRvKlHt
H/xJ/h0N7lC8XtdqpUhgg7EThS1z6QIyeG6ZwTHahDXogKcBDayt8/QLNeQfuHJa1JpSV9vIW7Z3
ts07c3xRb+ma4SPIR9p24Wq+aOgx6UiNwoDsBNQq6O220SeizHVwXUWBFP7dOQFwzEwn3KgZiI3s
BAP9jyYNr8tY260TTfjkSDljXjOfoInRGOaGAe0SBULlCBRqBWXlKHv6v4njzlg66aToCojTtB+F
9QOsmxjVHd0ke7su5ytZywfgp3pxRp+R0lak5RWWfneeZeQa3fmApBkuz4MVoKAFlKpbO0w/BWKX
TvMLsUA5QhiE7iigUJ+ftRYupI0o5mIH3KClAZSQR6o+KRPSuKmf1GE/iTsb1s730iBpLJkC4E5w
qjqJkrC41rGmddV4zazta0qfKGvKQGlvBxSZJUfQNbXmKsFUY0JF2bHQonWuJiJhplnLFL3EdAoY
4Xsjp0C6Tit519jkHXwxwlr6xcoidbdwHi89f0sLIudWnCGtDJm2UBAI8n0C0uiiCor5I9HQ15N8
MPSkFT66ff3rO3pxBjmxy+8n13beVaXaZhBLDbSfls/aNIEcViBk+fYzq7ERrsKboOkfQTvmGc+F
9IXWTYNMGm8wAJunJXd5TAU7JhKx+IETPZS6RaYihoiyBKLLBIBltU8FzVcrawU+PXAKY6gR3Q78
W74l6GYtOrwwbLl5rDrpexwt0VwjCCIv3vPLap2I4XwIEpyt2dsQ08B5FHd1j2av9Jg5buEE2vBW
iuDcL4z9Sx5UwkgL4LP5ulBJ0BBZGh3Af6fEr+v+LputoB/1G7WPfKucBB55VdzSZLmcKwB5csaQ
zSYxqTLgnWaTjTIXgUFMH2wlbq8lR2SPr9v3hfNYlDuRxtkFGYD7kU2Q1kp3Myi9VfVnlx97A1An
YNETgQytbR0aMDB1svjHixZiPU/VGfQckGb+0q3AAQo/+11kzw7DYDj9OeoiBra1xUTzOqKEBchP
5+dsdW20ajnOiZemY2DUaGCYC7y+aZ55U2JNHjWp4ApYOwRLGUVxlo55YNOfH7QyGUHAZDUVWK8R
E4zmXRwbG5WBbPP6xq1phsIxsO3ggEEVxsmxp8lKcdYqrwLXyrzvIjw5xyBpbyXkqP+LKOSj4X1B
wcWX7rQIOM5AWUXXUvtey6jApi+TmbhNtJ1E8LVrWqHJHynaBRsK/85XD4gHk8IcWnl637sqqLnp
z1Z/MNIfpoit4CLwgeGDJApwqECuxBJytybNaG8p9VB5AzDxM7n3tXRrIqkfvV5fvLUDdiqH0yjr
HIqiDTTSLDCM0/yHDagUINuGeeF8MyL9pslFPc0ikZxpWBVDUn2GSORBgHDrJ8ljN8XeUAME60cC
IvbrGq6vJFqZgeyoXqKzTYDiKFSLVaibo6A73DYsc4f0wcj/+S24bJkBy1iy0ahKc2/BOcJjUC4h
qCvejPIoFWGL9GflBISlAp1Wl/BElHpuh1UzOtaoQdQkAXlTddWSBkVxEwNEMs8Pxj+32XKaccao
pVoiO+2yhMAhzpNoHzO2vb5Ll+8lTgZniGXqlKlOl9WbPirzcVKApje69nTTZzftHOYMuJwActii
ZUcyJs9MX5jzaPb3qKVjwOdZ8DXLAvIhz+lecjaaqbSuZR1f0w7A3N7rxuCiaOIOGGVpzL0Db6bK
Ien2SRUIGeYvW6KWpUDZBHiTgC1Cv8f57komyWO7mypcseq3HC8d4EnfSkD2spV8Mzk1gMDRuNh+
VE6B53JUirZi+fsXygOhGyUoFbSVfMSOhMbEUmlBG1dMTMZiegL42RV9kU0UUUttK6EVdSij77rZ
vuuyIBK8rPNDe0yNIzkMgAYVIPzn2tcaHczChvYDe2OV6UcqMM/t0kN4+Bo56s6qraAZc5jGGMRG
/s5YFURmf2jLuhIcszXXcfop3DEzIkMbix4LAQKCJk4C2fmFIEcm8X9Z8VNB3AEDjbWMrCEEEavx
ivxVszeq3Lhd/Wyi/CIhGzd0btbca0kvUPGyA/druQHvq4OARUbW83y5HXAPDMTBci9pW60JDPOn
Jj+A/CcbjSDP7pLptlSD68drfV3/ylzc20m0PwO7paIEMoE9NpNABYpd4ZtZyTZtkY7fBqdhj9cl
rl3cUPT/aXmBYTzMLS10vHPBX0NBOUxwc1vHKn0qncpD1cm/Lu2SzeZrUTEjDUYxtNzwoAQFEPRq
Ksv424ntJrMnyw+GXriN9WybnxnzinpyU/29ju7oPyNXnovmgQm6UTJye4Lonowh8ONKSv1SQ5lO
BPGwbjnoZLJNGSf1ogBr/Q9pX7YbOc40+0QCRInabrVW2eV96bZvhG67rX3f9fQnaHxnpoolFNHz
z0XfDOAsUslkMjMyop2ltVVgqahe49Bn1DfRDZphEJe4AvTWWJ1VxJi8GRrRI//HJuc5xrrmJalg
U0fGmhl+LlNHCg9m6kvatd4Ea+jpEtSSfwk+KDuAfEg8tsteDkcem4ymNOQEdjHF5rTWvu1vNR2B
0OmnQzFguKV38ZhEBQXzZqEuGlPaPC8oF6GNDroQUF2cWiddumRWQUv4TfsyTClUSaBkGL/mkoho
iP2ls3UeWWK/5Gid/Tzm8jzBUgXa2jqOXXVM/Fr6a10SOCmqJdhRcMujds5tZ0XGGcR8BAuS0AU0
0jSyzQgxp6T0PSOD4OG/tX0ow6o60GOAwPFIAbNpCyLJUulISumA3NG2+hhySs1DSEVazFv7d2yK
808VjeJIRQcZldeidTMV3Pm5mepurYtY2c9LiGwPj1bF7aEBMdlxLGCqKq875V2x7nXwXzeHuP5A
611d32XySsKdMv6oskcyY5YouHwotmLq0Q/g67/lDMQkBlSRJlSfRXElmwdCU8dU7gvIml82xbaN
d8tjU1xOMDYh7awoqpxuNb6y+DUD10ulj26NPrFZx/5Ic8Hitixig/+5FrndjdekLkZ2YWj0M5Wu
s9qWwsqOZ0eVb9JcdMC33OZfa4inp8cuJM2SKjXuf6OsrpKq29VdiITzz+Vd3LIC0iGcOMzLa4DG
nVqRUl3KujGEc5ba3uqGl6GO3WYMvctmNo/bkRkua1LNOE8IhRlkkdd9Rf0VJpJZ27UgirtsauMr
gSGEagT4al3H5By3oiT/nwsa1tR5eUgtd5KLFlNTxn3aS7KrtXNsA8veCvIJ9hrhHFKDKiZESxRW
GeXLG2U96HFRxBUaxYn0qA6FAaZ7cxQ4IXMy3gpFHRsAO8MwMdF8ury1UcOqUPEwLppXiGDKyWFZ
7S58N63FBrmCTUSzC+coCdDioBWHIhiEEBhr6qnFphrB2tzIlZOYta1izjcfRntYDWcZ0C2YtJ2l
rF6iUDvTpL06ENswIk/rk6BfoVYTTbdJiVERffJW3XiWQS5lmnmQW5mfWplbl5aTQRnlr31AxzdQ
4dVIQpAbnP7kNUM9IZcIhBYNpMm53ZieHnrN8AZWPghECaxtZT0ArEBcCPVwBWPm3DdpTRQUFGbO
KDD693sC5QQ65rr2YKw7MnnTEEiac3mFG4EWccgAqztKXBjF5l4HWmWaNF9p5YA0xk0i4BAMr4pu
W/PQ0ESwvo3DCwewcE1Ck4IBBE93c5mnvJlrLA/AIbcOka+mdp5+Fv3D5TVtnVzwdaAxCmYJ0DKw
NR8lGsZYSkk2Yk1zH2jKjGGGfTQ9KxlemP3OQKT/v5ljP+fIXEXaVTbYFs7RS2XFNrFu0/EuDl/K
abSL//Ko0tDylYE0gjIU4flni7pJ5k7WKwe8WLlpt+i2pRlxO+U1Me1O26/VTRUK7sitL2fgs+EM
4CictTciZdDmOJ8qZ2zdHuzVZf6nXJ4nuRVs5YY3omT9rx0uvEeFBUk5gqCkmbsR1Pu6rUkU7WUn
r4VARebZfADEPYXukwKc4llvY4nmtqUJbBnkfqb3EqjkUI6AWPPQj7Zm+QZxq9pvgS1N1cAc/1x2
mq2zDueEaTRXWH+Fc9JCN1K9WOZvJ+3lj6x5NzRfGXe15cgasHZDkM+Cc8Gi1dmKj0xyjhr34Vx2
Or6iDoWwdbWeClU047f5AY9McBEs1tVl0kaYkJr40GitL0WNP7bJjZblP8Z4EQygbL3ZjneRHw9R
9LyrzR67aDTTZxvfGbkM4d3oDhVFMPQNT1Jk+hbKvj392ZmizGrrKX5inUsRrMrql9rCauNunzVe
k4KUrn6Uhs8wejXjQ1U/Qei5VZ9rKnh1nIPJcJceeY/FHZREUpRyMWG5bVJXatHi7+ODpqd3rV6B
izP3l+lxUeNAikZIGz0tKmYVckE4F24+d3dkqr5UU43Nz5rPPHwYmsntLadI78bGycd9ueK1/qMT
YbM3YxEDviAUoWXMJy7LEslzSWE1Jm7ZPxndfTj5aSlIwrbuEJDE/X8rlMuaszQcKkmDFY0iQxqQ
q/gr2Snau8IAus+Xg8FGLoayEaTwGM8UJsS4U5MYSwmWV4Qiy3yRyizQ69fFkp5aGcTqlX5INQx4
aCJFOYFRvpgDki0iTT2MjhVYu16gPpyi5BBDkE0+GFFi6yJBWXa9c+EHU/jAaigmyr9gkT69JzEH
akVKi/wPNBR1r9hKu18AD768lRvecWKEOxhaoRdhD6EeZ53ve9RxQF0OLTtsn+CmEi2G8/1EMgla
ncyO+RuwenQWAAIREbFvRFOknxiuQxUDqALe1csGw9IZWnUOcIY0f7Uqz1w9KNWjXCv6OJv7dpTp
cuuxFMxoVTJM1eHdOv5ppicjetJ6wZtqy+fA9YWPDxQgG7I5dQGziyslNJEqVUVsV9neIi9x9dOc
Z1vrP1YAxBEz/t4fkLoDc4grHp1w7mgtjZ5Dig8WMRRgS30IcajoQECIp+SiXvHWFh6Z4msW6Dlk
WpMxU1AoAknZTlJ+gMbVXitT1MfYNoUnFFMQRk+QSx46sBXWc6RVztK3+WcZRtVvsybSz0np6qfO
UELNW6o8up60OD/k62oc9AUaKwEhVrzPBqOqbHNOaH+PARAyeMkaN6Mrq8UoyDg2oiga2Qo48DGC
gnYTt/u1Ns/dsBgVciqopCq+3t1r4EvLMbauVrE9tW+Xv/bWgQEwC0MQAOJgCoU7/ZE+1GPdwV7c
N3ZWYXjhbUYCqcv3ZhILrr/NtaHtC+JVVOLPmhsSbatBZWtbm5b8mJV48RSjvmmjGqPga32b5VWy
w+IFs9pbz2iIjKOFx7Tbz19sca42CYqaNVgx9PDVhA7YoxFR8rQms0Icdcz7t0lXs51CC+2r0Qbr
lzXHo9eN4D61Z/R89pjz0H7iwRItNiiOzEczzbQskCo6Ta7ejHHstaOe/dBi6OcWutq5qdSSr2hV
Ue8gJCLCVJxdptzNAMkOjN1CQBVyoPzMRliD6mnKGKypelPojWJB1kx/qJUHRZndeL7qqIeW5GVX
2fh8JzbZETt6tVFjbUdqAtok5Wh65qtbLL9YXVXLc7vHhEGPdv5li1vdxxOT3KmdlymaDcpMtp4M
4kAaQJiF9WCJsasJeCzrvRXdoM7UN35ZP9TW6+UfsL1k8C1C9hIxg08zcNmCVi4fQAQr39SV2/WP
Zo++3OqhF13CGS5b28pRsdx/zPEJRoapxjok+KqpDNi1squs22XcD40jYYCWKTqF+msNclI0efTP
uRVy5G971b/2ucumgtpUYUZYbrTu08yhyQ+IjESysyQvsbqbtZ91lArWvJEVnCyZiz9TgnxVYTus
KA/x+EeGEPXwdXlbN67QExPcRV2PY77OMnY1jkGZDXyGTHwN7VWr2BWr27Iv6122uBFUQdAHNiMV
JI5g7OT2UZqINa0qkGurdbWY0Hg3bav9nYSBIfxmW6bw/odiHQUb9BnhutUWmBaMANafpfeqdDWo
K0L3Q1UKe15FkJqNOxTDiRi/RF5FrLOaBu1B+AUuMWAbC3QxywNyUy9NP8Zmd3n7tl76GHzDWwKx
jQ0/cMeejLIejjmpHTpoGLEoDTrkNs1p7E5dX6320skQ3ZgtuTzoktlPbpFiotFtorkQjMec/xQm
23SkXcQHvQHjRNCwxPGzUqdqfo3Di47jT3zoV87KTRFDPFNwJZ8VHZhJRg+MSRaG2GNH5ijOFrIU
ZWkLWHg+WXZYdIcpFCl6nH1JZgJ0WyjlMEAbPw5BQpKtxICJqTvI+bUBOhklsESEyme+yaywuWVU
LomFIa7ThZiV2jY6w5rXUXmfqdIVpjufFjPxomG4jUF9fNltNvcNWG8dp0HFW5czJ/fR1BcWEn91
ABao0yvroK/m62Uj7I+cXLxsTUdGOH+oU8CE4hFGNG12LdCUSSlm65Vfl61sux0o8hjCG3tIuROQ
Q8CxTDMdowG0eGgnAm2Zep9M8U4KEVUyuhtqC7nqH8P6T9qCmHkHhfK3kAPPiaKjk2mFjI7NGKAs
lbwRSbfjVvHHOHTmoQgK7R18zkFEwkCwaBYW+b0FcOEfFS3uA1aqIkt5ATqoSCp8WgbG+haFt3QJ
+i7yhvZBkZ9N9cuS/ct2t/zm2Cz3Sbu2V81CBZOXlla+hMqlPgs88yyNgNMwkhScZtA3Y+ri9CC0
EYnUrlvgmcgbVOKR8SWVAirtGLQ4T0RjrewH8/uIhgFoAvAIBoqIu360FfoWZozTTcgBN5GT9tTp
0vdKSry/37ljQ9zl3dWQ8ugMBEdal0/DWj6rwtfo1nkDbwhGk8GIjPPAXd4JDXPVHDE8Evc/Teje
N+DkcS6vYuvrHJtg/nEUbzW5z5viW+VxekFgNxLMiFDNGSKAdu4bEXhl8+McLYhzciuz5CYJ8XGW
7IoAzygZtT2ZeGeIAAEiQ5xbA6mvDGOGnUvDK2K+jPlN2z0a8f7y5m19H8jZY0gXdSqUF7lANaer
uepsODHKTVAvS2913WAesny4bGbrjDLACMiqwWCv85WwMJa1lRoIDWaW0ms5JIMd9SR9uWzl/L2B
gwo4uYUGNoWyBg/tkfvUKIF6xSDYIL0PjRookmpLYPletMye5vgwdb/VyXSbpfWtIfIiHCmzjpx8
MAV58Xmp+Pun6Or3IIl2xsWp1vqEQQXk/e3aU7tMxtnOMJ7e0gpaL5UzSRbY5sCSWSd2l65OteqC
X3CWNnM/gDsWutXkhcFm7nTccOXgZ8Z1CUIkTbejQvaAyIVGqOAkbrks2Df+WTN3NrRwwis9AgbJ
amc/6X93SVBNqrv2vwXfmQUmPkIeG+LOhlZaS2IQrG3RoJ1TghC5nsCYY7RXEcQmbDwEXaP/ra5Z
wPCsqZLYOSbHBD9i67o7/hHc0aHZqJgT2+AOs6+5EtCpsKn5Z9U+Gv33Et/0AEdmNOgGQQtoK96h
0oPyEoY0gGXgdtlUlzijKuzGJN1FhmVbFSRC0qfedFPgIUfB5ceWcb7X/5rj9rqpkEBIFOaieP1R
Lo03Uv2qHtAUYNrTxPq6vK2bPqSpeHRhZho5J39h9ElqoUgBDe/BdJcGHcnbVQ7SRcQfu7ksjF2B
+Yhhs7/f8ke3Rpys1UAT2GmKJ3YoxiaYSeSazY0pks7dNGWBMw7YGhkgAO4+r9si1tu0QSiQiSNH
O1Vyi8pfwl+JKiiTbrkGHl2YRYUOH8tZTq/CZDHnflhaZA6912uuTh7G7E7WJ3R8D10vOO1bV8ex
MfZjjnaQJBlQ3AaMlWNXBmNKZFsyab9XBrUX+KDIFJeAZdna0ILAlDrdGstHLkFEUYR82XI8MEUh
wwPqBRQE3FciHWDjVQqHqAdUUgf0jEEXVENGzvpPqzmyxKLb0calEDlbrQqWIsw9SSqQR+HtKBIR
2gr/x8vhzlHajFTGiDCyYprYDfgeGwi6aaiHPxdLY3fzXdN4f39yLczrUghSo9uhcM6HyyYaygWE
InN8Syu/lvcJ2L1SgddtfqYjK5zXLYz1bm5gBdxDlg1+oXeUMq8SotzlsQgEct7uhkA7TixITLAe
BCQu1MZA/5HUBFFIgWShLcH9ZtW23uT2QL+MXNpD1UHB9aNdRcMItSECFEcruGY2jjQbHpEZSAQt
U/5IzzWaeTX7CQb9UgwPcJRa249Va8vGBxQzBAdtI1SxoS5A5CAmjUYLd9BQHaoACpWxYG1E2VDy
UUZ6pvq8s6TquogwM3fZZ1gSwl0ubGMp7jMLsHdeeHkl7TyoKr7mKuvepJse1NIvW9gIHabCRBp1
Vs3D/OTpYQPwKl9a9AiAIX6vo1sAUOw0F4h7iGxwPknzRDYKoOWcdWpB2/qeGdKBmLN/eSUbnn+y
Eu7bTEmmqVENT2hT1LA7Jwf3kPpEekOwY5ftYOjidMfAYIVyELQmHCj82ZV8Fyf7IUVNWcQt+U0S
xX981AQA/sM/lsFXKhQMxzdqi2f12oJf2h7apc7sGIQAbkhmdK8ss4orrxgaywvBKbePp3nazx3I
Z6JELXc0GYCAXHRUGPMpztzVbKZgjePUh7XhTylncmK3cVPem70VFl7WQvP0OpnXyLCLJQsnr8ep
M3ZDqeYyBB471cvyWgEAa51/hNMqv6VRFx2spF7e5yg3wodsUNQ3ig6XW8USNNAn2YgCMyf6Z5hk
672RK4XiSuZYBnVdQytan6MpRV++HcKgDXtjPFhtJoGbv8tIHJAoin+0wA79kNpGVZ2yquK3ejFJ
YktRWEBhuQc6KqyV0p/SNrUER30rsAALy7hiAETAAAH3mWtcgwVBdS8swXujBS3S15ru5uZQUw89
ssvOu3VEjq0pp9YgQJwAlA1rgC3ZQEqjM40JPBQ3LpvZ8t1jM9yt12Wgs7MWmCHqJykesvBxHD6a
SrB1W487zLWjr48aLyrp3559dIO3oRZbaozyXtd81KqrFIFK77I4BQPgtZQGRnVnNfe6/nB5cUKz
bPVHZqc+jnK8B1BVVD/HUbOr4jHvMlsfPU2DJhe96ySvTxxp2AsMb3w9C3QIkFVFiGbSVqeGzWbt
JYuCe2Ewkg9ava8jWAC1h2h8GaBMpkeLZ+JBEGXafu5v1wzwXR2wzLi6WlQjuPxbNm6ok5/C7UHf
mrnUE/wUOhEdPXXNlTQoJag9RDeArwBrn+BjbyRSWDhuKGjvQiqAn64J9bBMaAHKkbzSn6ociBSz
zhytCG8HqfpCKXzXLd1TTUWcn9/kAVx4PDbMC51qBckmsJMVgCut+1DOkeyYQMb3Eu1vMDw6T0iB
svQ6XdH+v8piKbyWQbCZOMADxF/hosqS02c6QR24GO9lZUl3KXhyKptKWa7YyxD2b3Gmza9jtEyK
ndK4uYqnUbtaINZ8L6e4kEuo/17+elsujKwUvQlwF4OEhEdEp9Ha9fE4Q0BRGkeM5A43stlpiAr0
DYj9zGvb7BkVmXstD8BVpIJUQdROPJ+NxpwUns0gwpDxOSFud+rMRqQZ3WwNhaMvL1ot+zEpXq2p
tMc0f7I6cLKYMiapRod0Lchm5vsEwP1eS5565YkO6U1InmfMlUqqiDh6Y28gDAh6V7R2GMc4vzdm
Gaq0lRuoCZVgt2zUXnESY71DbckOq9irV9lOl98zZF3y7iNstKfL32brkINiC5K+4CGW8eA/3Rca
GyDnTWQQrEjFDxVQSqszXnWS/316ATYhRq+CMgzeCvy9M6WzrjVw62VabR19CSYuFAcFJrIvr2fj
Q7OKIxhtwS0BqD/fxu0I+rjEXMAUprzNeHnTnwD+tcQt1qtRfqGDHw422N7UZrZzyA6BcjRP9nG0
k1UH5H2CX3O+u6ySj7IGVKRx6epcjijnoD7GwUI5ToPORAycDOb1RJJ9GzEDXw7BFcMNJkq6Osu3
j24IKbeQ4MYQ0nb9m7tn9t9jYNvOlfO02LvY3u0Eme/5fQvRRgiuM/pRnGueAGWIR0OdG9xIEZS4
SeLOgIsqr3MvgK6wn30aCk/NcEEf6aPadEwYtJgHe6K3iyUieTu/VpgFvHsYZx6E5LlngpYvCSk0
WMDEvLfIL+XqZiWGbVYv/Gvize/4g2clRkKAo+K7Sbq+hnAFxJ/MSvv7vkzQIe6Lv4cYwcxxNOH2
DPwc2qj3LRSmG8sfm9FuFmmxVRLfruFX2yX+AmAgGG7xXhfV8LY2E/0rXJe4NBHkuZdKVYVEBa8v
IiyezMl4oxQuS47C+XrN/hruyJb5ry0eg5hMwIzFEDp31LUHxYIJlsVrNbk2Ra+VzTVpKiprQL5R
ha9LZrGO2jbAY+BZ6W0iVzYYXoblNu/fSykQBC4WAnl3hy/+Y4s7xfNIO3A0wxYer8jJ/8gEOflO
DyuHGr9XFLgT6leqP87Plw1vrBFPMQstcAjVYIlcmqdYZtIZtCqdqfiKQE+tlLiZqS2nV4aVev/B
FsoMjMkOILjvy/A4Uk1tUYKstHQgWIR+XaAogVxrmCsYwH0liL0bUQoTGkCqIucAwJ1PX+t+aZRo
aWCrC3TwHWYWCmAEEyeC/dvoP5ETQ9yZq9Wl1fMZhobiOotv1jqY1U/F9MAEWxogPCmv0XORldeq
2pudN2SCB8J5qgrz4L0Cnb+McTO+VlRqVh4hGQXViTa5UtE5faI7E+uHGk8lUHiK+pmJJqc39/bI
JnevqYhmSkFhc6W5b6U+KcKdoV5pvaijJlocF1TqptfSegYxlQpUJwjcsKgF3F4fRAOrKh2dRPYT
8+2yk56/kU82lJ+JwF2+MMgUwIIGam5Xfeeu9H3tKB75zpy2+7+3hrRUVjETwUin2fE8OhLLLI8t
yuh4+FeJpy6Nk7UHCZW+DNwTzTDZcz0IDsbWgT+2yH08TRswYWqAiEEiddDNgINmzmTqfhIXIJ0W
ZSeb1hQ8nNFuAQ8PLxcGyGsaZy3Wh/EldykNW4MoULJUrhK9lpLokX727QByg9Auxs1Ykomk63Q3
w0mZxmEgEtqtDuj1CWhVY10BNPPGTB/wYrv87c4yFGYNOlLQnkF6d3Y9xIlWdnkIa5L1qysiZ6KC
FOj7Iju5FDgL3KUQxrRvqhT9CD1YP5JdvvfX3R81kK7q18T5PdqZA4k3F5vr/7XKEizrBkIKkINI
jr41d478cqw6I2lyQ7JLGS8hVB/62656TZcUHe3ZLjBfP/21QBZnkvt4eQGNhFGBe0TLe44uJ+aC
qtQuc78mv0YTw9Oh4OydpeecQW53lWHtxxJ1W3ueb03FVxUo+SbBZR85C5WcDe56DddoLYwYNmKE
5BACuNNgA3DeUMFatnwRjytUalDohDdycQTg/S5WEthp6+dcBVu9SD1te7P+NcCFDT3rl7WomIH5
CRUJQh7iWZAeiNZgnZ7eXlvUNOthwoxBzA2+2ZWKfExggp+krAgokgq2TV2s2zR6lS3Bd9jeJsz9
g9UACpOUywbCWdFHjMJiDWlnG5Pfto+K/njZp84x58ypMKKM6ogpg1SWc6pJj3VJH7EK/UUJfmL2
8TWHfkhAgmxfBt1OiO3ddOIje9yimlIbZKWGvdEnT+Tn+FNxHjMnhGjM/WE6KAfDlQPDFSxS4RNi
bpGcR9N+zWIAzLCTUeZGjea0rbta1+PgpNSwdeMuZvIlA+RDO1duBMd200+AlgYYT0Md8AxsG2V6
ZrRYsRHeNMWd2f3tG/p7cf/+fe40ReM4pqC8wNWx6A5VR28xbXm9yUXqO6J1cEeq0dVIW1iIq9rc
LsgulEWIALLtHP8sxeBaRy0dpHSKYAJ1DiNy35OH9TDuPsDEHX+V17mt+4Vfv4jUNYVmuZJSElrJ
Ok8waynO8vhQfMlOYhfICK+ntx+LW+xfLLfQBLnT9yuWv5DR6UZuwSYV0RM7DVGDPEgyekmSvVp2
c6V9KMESmDfNV+8+36e5vdzFOAuR29rpi3wtkuc+Rxgzrzmyzo7M0aUMQQlgIkIciUWz19irXiGj
3tpz6EmB8iMWHIFvUqfztYKkBaUeIFh4zFFVJKRaWQqQHpqv5lVxUA6/1vckmB8hL3vV2sDRXGey
LfLZzWUyRLEBBhUUFPjwZqbrvE4zljlnla1rbo02Q3rbqo667GvNTcPbRtT/3FwsWFwR5EAUgnos
F1K7LByHWsJiiwJqA7JXDnYTlNfaIyb6DouP+fqHaTcHqffX2AZ802PDXGzVu6ZvRhmGM+u2l+2F
PFPgFhttdzmcbgWCYzNcNMW3RJ9AgRlZecMUGvpHfy4b2MxVjy1wIU0ywlAJgffEmJnT2MpV7dP7
3rajQxe5um3aL92uDB7UvXYvOhcbEQgjEegcg+EFhQx+9ESZ61hb20Wym+6FoFfTQG1jP4vmyjZu
dljBZcCgEpgs446+mrI5hXZFnKNeieZJ3GZoX8fO5W3c+E4oWmC4G1MeoOLhwRhy2BrqUEI7PbVe
LONBjgXjed/DxyenGhVIMPlivgOibEzC7DSGjKTRMJ9cxM717JpOtLPuVNsMUjf0G7v3k+vM66+L
B+pE3uz0zvp6PwXarY6XRmkX990dYs116NHb2zUAb9pesSP3JRfswdlOcz+R7dFRmIvNpJcA6I0d
Kt1m03Wme2r4t8cBJvAN8eAGIRBGz7l7cYww/AI63tipUwzTPFJV8PfZceJ3WUdPByzvYLEBDOV0
CdIoR0kxVbHTq1+kfZr6qyn2QewUJwJDZ77PFnJkiNuryApxLiIoviiYsZrCq8R4p7knpKxR2Onl
F/SdC6kqstqzM5avKEuq1YAFufrrbINA9oCRtdv32gWwwomC/pBcjU6xj+30VnvIH6194SIDCKTn
yhM1zc7OCCDr4F4HipMRl6ELcbq5alGCoaycYocoX33iDqMIobSxqScG2GYcOWDRp0RfMLmDcfq7
NfTjYl8DkSrCLWz4CLpu8D0NbQGMPnE+mIUFCbWeWWlu8rCzS2XHiCrMHB0V93JU2ThRx6Z0Lkcj
s1WpZIapeb2nVTB0V6MpyGi3VoNqyLc0LWbg+Es7r2I6DVAwcAj9oDUEc67DDpNWaKlmApff+vzH
lrgbs1T0FfgiWKogvpmW6GILh2rP3h7wsGMTnIdZJXQ8qppiv3xDsROoJnihW3tdFCzgV0DcXD8v
f6DzJx1nkXO5yALGKZ9hsZV8pudiU6dxyuvo0CDVoh+a6YjA0OeFa84k53+9tOKKoDA5XJXSTY2W
qfPHcmZH/pmAK3qxSeFK7hJcXuiGJ6JSDX8HqhHgEr552E/TmNFOA3soKnTZC9W9tBXgDb6baVys
gg1MHoE9gEIYgv2Go+OrSvo6lrMeO6Pb3Ea2YZtXxl3xCGFNBxw6X7oLGUmnt7NDefulepN9C9gb
1IIK+9dkR78vr/f8xQD1jeMfw3mr2RadBr3Y2FmcFILKVuxSjN2764E68e/eC/3SnhunckNHsfXK
DgX3/UYoOzHPeTLms0KzD7EXufrHpHZUa3aTPlZgYb+8zvMuNLdOzoFTJn7XrTC0eKpd2N1t6yte
/gwenMd+R3Zr8DI61IdytEfd/tYKrKthh+bM4fLP2FyuCnYFvJKQyRvcvWuaE9PmsGJHktxUhWCB
q5t3q4ixZiMCoVsMvDPofcBtpnBWhkRVEn0dEkfrgWl5ToqXy6s4f41gM48NsB9w5MFthHpe0sNA
/9EhyEH5Zp9cR565j3+vt/KdFkROEXuetSd7geWt83ls+ezsJI3SjLDceVVujz/p1xCsd9AFBs75
RnpvDl2Ce12UwYs2lDskozKUMShaEqfO/K647+uvy8s6dwtGB4HW9Hcx+yzdS2IoynZtBNRpqvQ7
K+xvTbp2+74CkLaZYxF87PwthIYA6wmgZ4wIBLzR6ffL87XOhhEFkVh1Jg9of0zB9e70a7VNty+8
1l781H7NnlEyiJxPGV0ewXFksfs0BOIHYBgM8RszrJQXnKLmLEHwFz9gTBBsWLSjd9H9ZAuLBOdf
7tQQt9KGpnmuJDCkPeUHoHJXG0j5+jrZF84P5UPxTYzDC54H35ioS4vjYlpWlKvW6bAJ8OqzfCU7
9G3Afv4x7xIHAF27+C2S79jazm8Na6ga4ejx1C2joUCLm82eaY1m09QrY3e27gGBlFMXkq12KALq
nk8hQN4XE40Aq6HOBIgKdw7THA+Xbhp7B8xZP6W8BOi5dHVoUiV6GOSFvqNDn4LHUfaa/M8yoQRa
Df+BhBMzCEyAnA2L4tXIbTR6W6g3dUnvpNlwFWr4qLppp+0AjvbFnvPIHpf7FKeHxJ+Xz+tZFMLq
jw1zl0nXkAbFWRieo9Iekl0Jxex+FsS6s6DAjIBHibCuOb4pt8VyDWC2rqc9o71dw0BOMUX+W1t/
Xl7KeWbHzABegR+MyUHok5/GgmyYKB1kmCHRvZ5h6nNBpTLLdyPp9mPW7xJtedLrt4yArTIqHdKQ
K6WMBfODm2uFtBmg90hdQfBw+iMkMClK0pr3DpMXNpF0QbuqaL1aRA3DPszJ0WSL/dcOXwyeS7kz
y6yEx5Tpo5qkXkPq9zWU3RFS0HXzuSSip83Z0YRFtM8xCwDWPVCMciuja5GPZK57J0zUFJjgtdi1
oN630zm8V9XqZp5G9jiWkF8RpRJsKzsA/HJZBwYUjTJeo3y6scxFl7ZL1TuqBlGKe+hu45U4d/48
CeL51r5CVACEXwhAIE3mVpmQGQQjSt87uvmj7vZp+tYlH1n9Nsgf4aPAYVkh62xRFJgWIApVRr95
6isplEUWbWqxoyDcGUZ/qe7bySfxHdF8k/imgqqJ8kMpRGH97CphX/LILvv/R0nPnIFuRB4xsihT
/3N2HqRd1/rm+6P0arZe0nntqyDKbH49DNTCYVkRiJ+D19fclDpl6PHkXh1TO6DbqJJfcvoCMq7L
e7p1/EAr9I8lLp7l2lSZCbNkAL9uYcRQ/jWBqykUEA9uxppjO5ybgHhLnU1mp+w97ZHsQEJnl1fq
Qx/ZnQtihNDRnv9PK/uu5R99NEx//28PE8DW+vCurSCWIIOnSeSVmx8LtXngb/CywwzeqXcwwDvI
rufeoYHukB159oGMQ+nyjrxHT6uTBs197WD+Zn27vMCtqwjyif/YVU7t9nko9ZU5wSu739G4H6Ob
yPIvm/gGU5yduCMb3IkbZZTWMtCUOpjVV2zltbkK3Xlv7js3fKqeyQSEh4onquZGv3LnurUhViqI
L6Ld5c5enhqSCvAPCr6Kcp+tsl8XK0gEHvrVvB8bEejp/LHIjvrRgrk7cdGMftFnLNh40oPKIx/S
XZih5BHdxom9TC5xczcJ5L052Oti059RsF6ZH/JH/ApJX/c/7T5mH1HXB3iCr9X2iRHpmFvBFw40
vwrCALkrhh4Nn9w24GCxI7xYu4P6h+wjnKYgDfQXXfBK33ayf38Ct/3zGi4t0EQAs6ZXluIp+t5s
g8vL3AxBGLBHWEejROU72kVHCVQJ2Crrz6H9sjDnl6xP+vh12cymIx2Z4SJdNjd1LDcwkwNvOf6W
p30IpnbQ0y+yMD3dtoV5Egts7Qp4t06PZrZm8xqHsBWBiCUfPleqX/fKrz7SHH2qbYIZeEs1AOrJ
/jAJdmMZbywNcL6W3kip6Uv5/Rz9B00nuDYbcvnfj2Lf4SggUhBDhKPc4FJRDaA9O08qHGvZL4mr
6j/XZmfKt6oIg8rc4yx+MB0N1NVgl6+9yq21gIgJN2dhyg//j7Tr2pEcR7ZfJEBe4qtc+sry1VUv
QlvKUpQ3X3+PerF3M5lCCjs7jzOYiiRFBsmIY9LcfMF+XkkQixeQixDCsLQolYaxxKVAZRCwTWBw
uZFTT+J0N0r7CN3S+8tocUNchJs//cUs1i1ppKhGOJBTnB7utVFWAw5UroRZXEEXYYTV2pscXKMQ
E2emypbWQZHIHjgDLhBavNv9gyERAy8O4Abm2uT1kCjuoUkHRCs4RqVjlIAfNf5g+feD3PbOkVkJ
OAYAJ6CnIItwYJNVWYNbaeNCyzTS4IeOipsexFAEBlswT9zIhAPw9n7QpeU3iwuC6ALH3xu9Y2sa
zNI28LF4Dp3BSnvI+molQS5lr8sQ6vXkSSWUcEvY4bpSnLhSdM4ADKSgAvK3+0NZWhCXcYSPBDFP
zCpHHGbBH7E+w3t3gtIMKMnNmjHzWigh55dqoaS1jlCpyjyY3PFKhYiaWzXHLP55f1QLarpYFRdf
SMiUFUvNMZfxfIB8GarPqmOfmp3uE1c988PgolWHBq/iT5u9fY6e3xL3jXprD7WlDHL5G4QMkldt
38rNvDJb5ufM76ci6FviGMpBop4k/bo/5qUMchlOyCDwvQbK2EY4aPW9Siou+IkeuyUH/vJ+oMWl
OTtcoK2BKRaLJEpfTprU4s6tl8GkgbRxsun3aW21LM7eRRQhUxESZzm0wRo3zje93W0lyXDi8DDU
uc/tR9oG9wd127aY88hFPOElwcqSW4DENChXOPYfC9WCb5onP2kfRu7QDl6ervQ+evJWfSiDJghP
9OX+D1j8fCh7AYIMYUjQra83fKcZ0hCNGK+UAOZMYzfWXXMNhbeYuC6CCEuSwuRa+jupYRF7svoR
QwXm/jAW63j/4j3ObXpFJJ5OKSAjQzi/yKRzWTwy+lnRjTX8jPVfVXc2k73JT1TapPLr/cCL8/eX
b/mvuEJ2gS4J4JPzjq8n6ilguBrQrFPWXmXzKhAvHpejE76SVHV5N4WIUjLIv/zWx6Pa5o4595kY
cJmZX5grkPjF3XYxLuGTDQUvCePzuqj3JPkE0YzWn8baWb0QBdB3iD4C/AaggUj86mQuT42KKDyU
3MTSArgCOal97pR45VZwW8xGE+kylPChKHjZPQy9UeqEN/mL0jnTNj5NG+mkP1aVk++oOx7Ip7LS
I11IJwoYEvDYBriVQGLmenvxWmo16FQ0bsNPdjg4JrC1IOPqsEboodu5VidbWI1X4YRBNlqfAXSG
cFw95tIzNMyUNU+eW+YvJvJySMJaHEze2+VcZ62MZzCupMrLu1ObeR0DNyr2le5PoweVfZDtp6o7
GOyxjs+AprVIbNHK7C496PFbbEytDogKaszX06vUMgRFoPWOpj190M4tvmzxXXef42N3bLbRcxvk
khNu5w606eyjt3oNVbhwubj6AcI2YaHEMyPFDxjCIBwCuBRGBK7ADzyy3PuJZnWswkFblXKcxQZC
adQrk61sONTRf0XB7/T4MwmSj0Lx4t3ce2LH1olf+QZd9vs/YW2wwtlo28VgleDVgoHn9bqnU+jU
5X5Mv7Tk/X+LJJyKmVWMDQMVwtVHtwsPZbYfs+d6fAmh6ng/0rwjhMx6+QFFxI4OqqieVIhUqcdK
/2rSlQv1rfAAtgv4IjqeCkDBoaR2vURrnQOtqaMjMA5nIzyTGg2doNSCiR3GwcPgNBqB37eGoNYX
Mg+cMrApNEifz16y13EjWkPob9AblzSaVyG/DUCcJJukIY7a+5kdwufNpcTc5vxAu5MUHUDLH2FN
rD30xjezf4rhXKqOYFvRTRp6SdH56O/38iGdgr6YPZMrRXMAAE3s8NCGcIm2B7+D3ETDJLeG8kXE
/ab5rsJ5LDdhQTg6PD2M1dlq5GCIXIIHEwXkZy0DLqxRdZYBtFHC14G9FBIuCjJFIU0G7gHIgLRy
C3JKU5egfWesaWovzfBlKCHZFr0+NZk6h4qPsenVsCXoQR8GbAloCL5S2V4MpqpwPlfxzw3Whk59
m+UagmVAKQz5FMiQnm6Ub1J/LNqHhDfB/X2xcDLPgf4/npDY2npkMd6geDVJ77JVepr6SmszmFr/
fpy1cQlZTbFDjdfmPC4jBN0tR9vjZ2FstCnacMve2dOaRMZCQE2BIBZMKvFsucHlSmpkh6ppt64C
2wwK4fDpa2xOEivPseKvtdAXZhGwFdtG0wpKXLZ4/OfMKidCSeuqRuiO/G0MJ1QGgp6trI6Fc/8q
jrAUuaJFei1brcvIeUhPmfIad+/3P9RCorwKIRy12qSRWCsxb02og+zcu+YatW5xENCSQ4ER6coU
NQ7VSTMp9NVbV4/ajwYiER2PnlmycmdYHMdFlHl9XFS8OsWWzFhGlNmZWWtypyi292dqbRxCxk+k
iMAhGRHK/DcvQTZGrQtl0v8piCZfD0M3CujVWfgcA1gMjbHrbditsRWU18pcacIZYkN3D5IFGInc
GueoUz2Af7z747iFYIH2ipv/v7+6pl4PBJpEIJ9biDGy6RSbR9Co3L5gTjNqHo/ZMYfXE4t6PMZl
p5ksNLrhjA6zvqhjjtHLm7B/gRLTyqk9fyLhVnD1o4RThAHu2hAJs5u3b3bxUo4PlB6y+oCulJL6
Xft0fxIW08TFHMzf4WJNJqHcsUSd12Tcb7qYQFb7A6LHYbri2LH2PYU93Haz+i+Z93CaPLZVecjZ
6/2RrEUQjo2ipMQeZETo9W8h26jNGmR8qfB69WmEA8OMs4mlFeYqM2B5kCTQK5h622nJ+Dh0kk9S
OxhiWHTWz4SuCdmsBheSR0QnxbD7EBtCfs3DyomwydtzPj3W5n5ICJTHD0xSV7b64mJE1QtHP3oO
N12HurJNqksRUP/IWCHzYx1aqaVrQa4n+24+y83v+99waTX+FQ9BnZmoN/4a9gBTqYEgXku6P3lV
vA6ohbUKg6Xb6oTOu1vcaJexhAntG1vNyzQGev1Y515FARbm361T+PKmPlc/ixXs/C2ZEcnmMpyQ
mu1Qz6ABgXDdT/khfrde0ofxd0kApLNGV/M9Y/cO5T3v/nwurpqLqKJ1FbdUSIdkiIrXqd//6XLH
OEFxM3MihycrwVY+nsieshVeyGxALDQ6PZaULgyx0uTZ1jf3B7V0yF2OSUjbkZFkaZMgTq6RnZnp
h6gH6huOXP9bGCERt0pUaXkzhzEgI9rvE1TX1qr2S2iOy1VhzEntIv2O9miN7RxE2qIZsam+Ja/s
CDvYQ/FNf0lMJ15Jw4tn3uXkCXnYBi+tS+ePVLN3+h0k66/Gqx3Jjzed2xiO9Jsf1NeucshT9v6/
zaeQn5E3syquEFnTfvb2u6rVTim/3Y+xOjwhRXdjqkjyvDbMkwZ005fiNId4bzAPOivkqfg27YfH
1DO4o27slYN7qQ589S2FhIJT24yGErHRFy+h/n3W0Yh3TO4U1P+UASuwVu5It/QOe8alqfD3Ah0H
WrrCxwzHPCa8UWpXh93EkJ3zbJ8mfjYrl9ZenLyM5YmF27bdlKMnlQ9JurITFyoM8w+A3J8MtgcM
OoQ9AhIvJRnTa5dAITmFMXMOracRGKvaGWE3nuzGyPSn0M+5v/ah59m8Tt/XoYWdU9gUcCsLesmp
eaCQz4QimmVv034XpyeJnPPiWJXfCm1TWe8E+Hp4RUiw0ZR/K8p3E28Uw5GH9AnwUIdQ2dcaP+5P
dhlupy51Lf6KKokqfcuLyiMAUNa8Awv7a4hkt2nOsyaezrcavM4Y3UHUK6hQvqiP9ZSiUfNlT5Iv
Nbo7jIGibpPJ5/nOKPeFxPyy30FVLEx2Jgx5mnw32Rtz3FTdSzqcQu1sAAlLwWfI2S8KLkAO62Lc
KvLCI9NjlpyZ6kFXcaxczrcDOyf5LhkDucF9lb3ntiuH28Ta2uS94E9ag4oAmPnjEwwgLSX17Gpr
lS92E+QQ3+QdHLb3CX0yi6PUvUXWB0HDfzqm1aHQwOxNd1bxnKcbVn8P+1f0TRh5sbptYTrWCJvH
M8P+kaGeacY/a1BcmnM/BcBP+3Ho6Pk3uf4srBjyyCF8Z/zUPEW2qytvLHmRiu/aWHsk7EF9dRuT
YrpG9NT0fS15JP6pFoar0095fID1tsRhYI9Gitol29wOsPzcpHgLy20eBlPzpynhvXWUwzPKWF39
Zqc/+grY9/LYlfOEHIzJZ2Rw0y6gul/L9U5qy2NDx40BRXmtd+TC3tjpN6CFgjz2c7LWd1rorgFN
DWl3uHXJaAuJePLcoGFlRO0MxnGVnbWrgsaDQa2THWunkR35UTtZb5WPFfYC+Z1Vz8rbmxsK5eB2
wWkKFHtb3JllZhRtNcMEk2PmqS58fF12rmQndD5ezCP12P4nGkcftb+m2vAXOypszKvIwsY0C0h3
VzjU/sKDQl/dl870QUsnx9XVfbZ86wSW3XHcRjvL416ykSDR6YFivJIgFvLD1c8QcmPU1QWc5/Az
VLd1C4QOPRN+5E4fFN/emIMTzrOOqfON/Lof+PYWdD3xwjHX8dQeZQv9soF6Uf7FVb/m3Gm1tfHN
v//eNAsnnZzmfWkZ6F/lTv6gu9ohClKMs/S6DShnh3rbumslpYVG1vXYhBMuj6CH09iY0/y9dKId
C0rdqXzUH73vzekh2xhuv3JtXhulcGvOtCpjf/G7FtlrxiYcHjRpe/+DLZ2iFysFmqfXd7AIPgxm
Ws1bxaQ/ZGM7yWzHIe1T99/RcfJINnxvIAZgpVHqhHbljkrv9HH3lKZrL0z1/uJB0+76pxCSqZzM
LXlcBp9I5GgB2yVe+hB6P9LN4E3PONXAfmFOHdhOB6oj0P7eHj7qL/fn5OZ3EFhjgEdggl4JyUHx
YtFL0ZjJaohrFBy1VLt0SyTX2jqp4/P9QDffF4FgoANoBZiiyFbzf7+4/5Jsyripxz0Kb2DdmjB8
kuCSGtwPcvuFhSjCnlQ7bcqGGlGq2IGTxyzsAt2xDdsCe7uDQv/gFGhe5f/t2hWiCjuU8T63aJn0
rlQ8NckrNwIYRt4f2fwnrpKAEELYkKhYSrXcYmBSIsu7LC3zD1ijmYk/wIzsZLVJ9kdqk2Gljrm0
OkBdgucb9BWA2xBWaZoAJtNNWY924EauC+iNvPfVQdW+3R/c7ZP57+j+E0d46E262sGkARNIcK/z
lCEwN3SvfsJijR7tF/bMD8Yp3RluvYaEvH2WzZFV7a8gLHpoIm2AWhPpSZz2brbDrttZsvNROZ2v
bcDL8Ge+0sp3XA0ofMiWQuWqahHQPEFmAZXhDXEht//VB8Mm2tsPq+WIOandrJyLEQqJVTJGKERG
CFgawQD2YOeoilPhphYwd5U5fNu4v57Pv2WKi23esqzoRhnRBk8525vuJ4inNWzm3fl9Nm3Mc42L
EYQnvmM1jdu1c2sxyeAtYP0FTt6wwEalKJg65T2AVYC0dtt+rmIZa8Z8y8sVItMgZALmDQGN61xm
NrbFCaYVl60WlFoZFFrpWO75j/DR8iuUQx7yRxo0axoTy2sHVFC0LuarnnhotPbUUtNGXDSWfupP
ANYHoZf9UF8n13DLc/tjZVvO2+5m6VzEE7alIalZE0UF3MdUIFkgmwz8qRtvwE/0etlp8fpz7ke8
xR/My+ciovDMtNowM3MJI7S/4O5eok4dsEDqnCQwPWV06vPoWRtpB4LI9s/gWl98Lx2TFeLNfG29
GbUJRgP0PDDTIgawynhtF9qcjLKjrvyx29//ZJAXAYQUAGRZn9MGubwZTKC8CwfEW8ia2s+sBTwV
xsLAu6CVX4H3NuooQUdOOKDJDfNhCjt4RTMc1QwdMpXnnve71IbJQl+92EaHUp8Urz0wbq/58ze5
+LlCAulSOy1ldT7dzJ35NfOeCzOIXvj2mTv11v6ZB1PvJXttP7iK6Q3u6L381wiY658gKj1qkj5U
mYEZy6ddKX9J7ZMdu8T+YGDY3P84ix8fBRaYWmFfg3R9vbWTzijjpEb+mtDrYhN/GAZ5cz/Ecvqw
bFgXQEUXDChhkQ/MwvN0zshTC8AsLvXtQ2AcQCwfPxuHvhr7ZlMBIxlUK7ejxdP8Iq7wXkvCKtXi
BnFJrO50Ph3RpXZpMfpR9PP+EJdn8T8jFC57XTIaU0MRySYfcfyur/kezztE3KJAuQDyAvAALq3C
vcSqeUR7WmJJUmNTo+gRPpLhuWcb0Lof8jW4x9JoLqMJaTA3+RTVGaKN5KOlwcwR/++n6zKAsCBM
KzYGZQ5g2i+68qvptvf//tLlEfVec5Y6BFBHdMBR1BF68V3Vu531ozZAct/APQBsFkLd+4EW798X
kWzhhVUMoNVaKSLFmty5LIpQcU6TU05/0TANqKoBXJo1HuvIB2TNwYNjzbvcgc1g2MVDmNUrK/62
UovEAeMQmGPhtMYtVpjZkcKgrGP4PekfBVanXgNQUe0UxweAlFAQaeSVl8DSFoOCNKSTZPAagci8
Th96rMH4u6x7l4atN1pHDvXeXvGL2rs/0YuiFFDeIQp4IWDXi88peezMRJoimEsfNS/Z5X7vEx9i
NBBcdrRN8oe+WqfOdlET9IafrbsqJ7CgyzM7AP3nB8wzcXHRi4kJy3YLPyDH21XaTjCnPNp/muO3
X3Yw7gePHoYDDA992MIVDjukrzosilx5/9BMbhk6wPetbKKbqYdGx+UPEqYesmrDRJIYVc3RN+vC
taoghvoWWBj3p/5mMyEOHH5wPbAhjAWi4fXA62xqw7YNUzcezkpUu3UZ9PyxVeuA99/vh7op7c2h
CLTt4OoDozdx9aalAVMnHaHsoiVPKZOHpx4AgWlMq23R1bGrjv0PrR6HQxoPP+/Hvkl6iI16JrFk
w0JVUXTO7Kk2SJWN6TQgdxJazK/XjNhvkvgcAYJ2kDCEzgAaKtcTSZPSzJiZwLHFaH0LFAhiNYeU
xx8N+qTdBD4pWtH/YFAXUi7CuZRobRzxBmIjcfmY2Nxp1szNbh4gGBOQy6hwWPhwlgiI7PKkInYJ
09aQPU5woCmfcEu+P4bbevMcQ8O5B120v3bE1/NmNaXEOxmSvObXcIaTJG7JAfQeuy24CMQFJdL3
e2/EZsu9tT22HBvCmRCfmLVoROkJ26wGJbYhO5Fuk9YZXlhA3AiqODWaA66EmiT5PZnudKLBMDn1
YfX1vDi//4kvSlKg4cc1fUB81DyfrJ1ZgWdse9Dh2PT+bnL7yFPcl5X5XtrwuP/+e8yWcNmIB6g7
A/kG/Z/CSXaQqN5b36TC+ZG65U+ATKED6Q9++MFPa7fe29MLTz3IQ8AOBPxTbEMh1XC1aNE3oaj2
xh9W6Mrxruy2A90YNkTPpMeuTb2ycZgpg56xuT/q22x6HVp4o/BmUJpYQ2jVGnaD4sOrzx+652nN
Svn2TSuMUXhdNLGqhGxCIH7UflXB9C3f6zvtBFaq4YPriPfQymVo4ei8Gpq4hpKmhs6RjIgyWlJf
xXbwkvN4os/dFqraJzxi8JhmTzAjecOL09rzlZm97Vxfj1hcTyxRQjk2ET/aSWfyQqH3Xr6j9nu0
X0fqT1uQFZlbvqoPkKe9/1Fvd8/1yNXrzKFkTT80SpTicQMp7/QjYjxo1syPbg+t6yBCWq/CuE/q
HsObFFgrt6iuq/y5Jqi8NvI7VRpI1aDC3BP3/thuX1XCtM4H2sWFZMC40nBesfKmO8rJFqVfN/49
EgeAAPXce8NePUD52dNe7wdenNQZ5KvM5BtoA13H5X2dypOOSQ2hoaQmm6p4D/9rj555bHjv4EIJ
FtOtq3NJO6mbY5TERFXLIL/TSTk30si3kA0L/sGA/hNM3B8d0VJIciJYpP02ZH/CKUzXkD23cKXr
EYmbwIqAZYbsJ3RTpGOoe515TKzOZ7kWVOq+BnuV/0Rb/v7AFnPaxcCE5R8lExmVEDHx/mVelSUn
oxt1aHUXkg/KfbdyR19cGBfhhIWRyyEbrAIECFl7isLHEli3tZfpWghhzUckiSaLxvhU9g9bd+DZ
5lh0JV8ubyxdhqu4BRFrlB6vF7gB3ojeGxiHQU6S4k7lqdCdBqe/tg2znRG/WhJ1KYqBNCiNs555
QDOpzRrmZj5lr57884K5+BXzx73Y3oRpfLR6/Iqh2smao0aDo1a+lX6PhnPeGpBL9szIJ93adWtx
0VzEFc7gCMBIhdeIOyYvqumq6XbisWfGK1lkcUMgDIFn3GyuJLLM6qlNDBYijqTDBkPHOBSz2oYh
zJVCWJ5HswumrHhSre2jaqXNMy8TcW5hP2KBJQzoIsSFr+e21JIYD9oCy4iOaLuWsNFeq8zP03QT
AjqYgHvaNu4zwjFfxqExKiqGl5b2HsLyXiajozloX2Zh7ejaGX8LV8JqmWU3/xUOil7XIxogMFCM
Kkg5GV5o1m8+KB4FZqV+5nbiVKzyoiLIWb/DhfG/zzGXgYWpBOq/HlWKwCyBSJNm7mhcBZYKG2u6
ao8656ubOQVVZ4btqmieCUsza+uhZTFi2TCsctD6dOx2cpiReaOJigof/PnfV7X2kCrZFosPDusr
tfLlib74DcI9Ea5mDct6/AbJSsJXmKz0h9xk0GudCtR/ZK54vUSnDR3scc9jtTrnQ7VpIO26hpBb
ngwDonHQeoZPq5CllCjLIeqGHyKbMKpsvK4FSOqn1ASpAWAQStaD12OSAAMb1jLkUopAb1sGOg8M
XFsEAKkjIXlvlpiD+MtOgZv6RSQ/M1YuOEu5HnV4gr4TlJZRx7te0ok0aFLBq/meYexbs9hGLZpb
44/76/e2goedY86Wu7O6EJQUhQVsZTxW7ATXKLVDih1C+51ZEsDEDQewps3Ut1DTgqTJQ3g/9z8G
Xnyra+sJTibEVXLtLWx0bSU7LaZGkG9BbJbxo6Dycz3yLpNwMFVwtkshkBBq4TNMlbfNVLpQ2fLS
MH7S29w3htyn2cqNYfGujhoI+nxYV4gvrCoV2JsOWloIzR8rc9jElf4jG1Mnb54npfEUGv224WsC
f4cOWhQd/2wSnEJ9pe5qI8VFDTLQ5PP+F5p3lLjr8V2ABIV3Pa6CwgcarbosmxHJOh6Sfdo95dq4
yQw4TAMyU7AuCNNyZeUtre/LiMK9iXckG8cJEXkylY6G61otZ5+x0aA2tGb6t7TKL2MJq1yRmmlQ
e8RKcZsmfexY/J33K1eapcPoMohwbaoMyBEpBEFG5MckKZ2YbiSyD/GQ7/z7X2vpNXQZSlhARda0
URHBb76GGXjNfJI5VvwVptRT8c4baevwdiUnL4fUgech0CmFGeX1dkl6HqedidHJYYlIiVul6m4k
aNia5CE0a8fIz6k0reDN/5LBbtYl9G0tFRT5GT12HTYLWxP9YuQnfRN/6Kg84xl7LE4anIUOkj+6
4Y4cBw8EMi8/cW9ywtdvpQtrl338Gn4rf+kr33jpTmOBWW2opgpCiyEsJCmvjDFSkJRRL3Kg6foQ
09U72+JiRYV0VvEEwkL0qilYPsFxukZKftKflaDYU78j6ICqAUS9g9TjveOu+aksrd35o5pwiUXl
/2895eIeXHDUDoq6wQXDtEb+mI9dD3NmZE3DizPeQyW9MZ7rurAq5/5KXhqsDQHsWXJ2LkoJWbji
Oc56UAog9n9OtaBhEe7c/yDT2GiR2BaZyewij11uhp7FRp+6bftdmh5o9BaTN9MO/sFINIhqwa0J
vRoxg07WMGY4TrFB7Pilbbv3pIocu5/8+2EWy3dwE7WAnMIKubGvb0gYUnkA1TAjJyPyzfTQM6C6
N1X7KBt+ofgaHkrmUele7wde/FIXcYV8HQ1KG/XRNOdQ1GfTZKeVz0Uurczi0jl0OTphgyU0nmje
YxYjS+dupVm/56BbEuvMVTmzgpi3ilcytiIasxwXPmYwPjJxJgvpzehZqdXwE3QnOFvEuX3oLNMb
J4hOSsxhihSY5p/787mUSpBB/h1RNBEOmzzuNCYjlRQUylMPpF3DvSxecS5DCIc6Xnh6aVKEsNGS
h0twH/oRfaT9BzchMrBVWY077cqGXjongIFV/urKA5opTGRocKOeEgPLpIPPlvHZs8IdAL/TYA8b
V8O+0fOj3I+7+5O5ElWcTDhBDmnXIao9nCd+TtpHNXqvpMda3wI5Va657i7thYtBig0ZopE2lTSE
65OXIjtEGvqR0T/YCZcxhP1WDFVhUhUx9BTtbt0x9MhR0TWrRm9s/Omf1Ocuwwkbb8ztdCxlhLOi
7xmDdt7gV+3KV1oqy0NRCOc4lj00LsTWo5bSpqxxkXDbMcti8Fs6+qlCi/xnDPP1gBQKexkKO32w
hqaagFWi0hlOTnAM6VPaH6Myyw4NWKzjygGx8DlxnAOXA+c2Q0Zj5PqSYTMS8wbva1ShdiHd19bg
2F24sjGWdiNUPeCoY1q4PkDB4TpKlU1VoXUoFPZ9aRwlu1QfaW4csqHHo7Iim7FTew93uBNaQ6MT
JcX0D4YJ5VHQ94BagGa/UL6oLCBc8gyP2dB+sfXHwt4qq2DChTxqXsYQUo7W8YkR1MzhMZ+4aTr5
elM4/SR7Vlj5TSwdVfhpRB2YiQqMzDXipnnnyExx0mTYjgytdU0Fv+XLQk3wfoowMb3CTfLqlwn7
ybbSMqznwmlFfaK99y320J6udbgWsjoWN3h1UAWwUS+Yl9rFRcrsshplBLwq1epPWr1G1dv9USz9
fbiakVm6E3cAMfOYBd7wpoW/P2Gexh4Ge4p/P8LiOoXOCJic+PlwihauZHQqw8ageFwU5oE026H2
7cLNrE8d9DXT2Aw9Si4rAJel+gDqTf+JOS+ri2mrIsNUOsJwGL4QxQHLylEc/RMo5geIOyfv9ZF4
+krtd2nTQxYEyu4QpcFsCl8qM8HO1Yv5uSYdM3Mj4dHG1vqQC8eSeRljXpOXw1JkuOk287BKT4GH
C/Wm/BTGb7LlpKrTrl1Bb3HSOsp2KrAdWBuQRRSv8UkYWUo94HnSwthKfhtip3PQBnHhHBzER/ss
o4MvHZog26yBzRZnU4OIBlTQ5xeisGjqeqRmq+GdFit7Pdrz4cte5R7PaVjcwQB0/H8MYZEULNVb
RvEwgpW0E2+pr36GxzYgm8gxnyFhuFIhWh6SiYyNutWM9rr+eHmpx1E0YUi2glPhZ5+fxmYlBFBy
S2PCexrC/3g53GjWN8lQjWksJW4mxeUbbCyMH4acdu+6nfNty0P1K6sZ2YVxIj1YLGn2Sa7kfqIZ
+jYs5GhHk6r51IdQ/l4mRbiVFToFiWSAL4cHnbYpOhoGA1XbvQzHM92ZLDZ9piPopSYdMiyPQZe5
I5U2pPDGpD01cYY1UpvcjetWPdWjJZ2rEkBhR7bHaQPTFfpdTZTsZOYtfwp5PRz1JG4eM6lqUZWK
OAGSISdDELcQzqOy+sOe0hZuOHodqvCi4c1r28YxToUufjCsClrbsREnk8sBVKqglmLVtjMVY/3e
mKm+wcT1zzhS6E4xSsUH8zOanLa19W3EofOI1lRZHWNNm38ZaLGdTQxPLVvGoO4VJeCdFn1QmkYV
yKwnUIIATWKLVkG/M8M8pq48RdobzSZ735v1UIHSy7TYh9LCyMFElfWjysGKpT0ZEofXcl07LSYx
6HNQpA34vH4OCnDl267NwDUFmY4EidnFm3wi5re8iYA5kGXpNcERB4MTOzzXvNd9SYm01o1lXcuc
GKAk3dMyqsPeW06VD21S8dSng3nI8lb5Dsq7+lsvYvmxt7IEZE8lxpsyVPPMk1iRfeSpCTkNSors
FwuNYZ9oUv6eKF23K5gCmbN+zE/431twaG3mNpmlnUJpVNCA1aKdPajJSY2N0quKKeZOibbQBylV
86lnlCQOaSuNO1y3sz4Ic0qzTcsjdVdARfwJHJ4yAP+LgPWmaeMeZqz9l9VFMiBXFZpKtlTQTa/o
MqA0sZE92pCReMjCMgGbnczXHDLQFwqbpueCTWbhJTziu7Yoy0+qmxGa7ErVf9e7BP7tmTJOxl6N
suZbApvyIAHlax+2svbKWq6FO71P422bqtOT0msMBOXRcKVQsp4Mqwx3YLcbaN3r6OH7ZVuGimMy
NE9cPUnHbpPV9fCU8W7sQH8n4bE3pHxrhlK7DWMuQeB/KIsfDECdVw3zEjllVEkvVDFq5jGrg3Vd
og8vKm2UL8JJ4tKMQMI+4Ql7ZVpXfjcyVB4dlYHa4URpVH4UfUaeQgI5ModxTdu0kp4f7H4AQKPt
hiAr6v5VLUe1cqhUFX+Grh98BYiHV9WM89rNbDSVnVwtBu6Duh+9aGmYHPPYiOBKiPfrqzqqUlCE
rRY5ciFnUKUOh/5dqyg09rO8Ig7rTfPQQ9fvgWoNNnAhGwN2EbTwopx3h75P5U8IxSuOmpY6frph
h7k3doX1kFcofDmwIx12ZRhLSB1mlY6bmE/VXq+k9HFMJmAyiR6VuxKEyIAZsDELjSmqUKU0hqOE
u9cv4OP7Nw7NpF1uZwSANjQLwAePfEbHMvJ4VVTfqR1GD8iGrSdV+fjDylWoJuuahCckGyLQCDng
adM40kPcxXjdkRF+VyA75C8D0nUgJ7U6s5F0uisILwPgLdOTzovkWQrHaGtGmoHtkHJsJDNqfKqx
AUT3qQuKyUw/weSWHH2MWj8fU2vby1YH6VNqdF5VjRaaA4oKaKYFadRAHy3Ivepl78f/x9l19cqN
M8tfJECBEqVXpUknZ/tF8LHXyonK+vW3ZHy71nB0h7AfFgvsWUyLZLPZbFZXJQXxyj7Vh11lGMxy
zJzos21pSmPZQxnXrasC6x2hbsEAX9EryGnZPdEKr6Nxqzk0pKlnKGkGViANpdSiGaUZIUxnkzM3
ZK7AAtikPyOjsEJ7LOv2rS6twJs0Vn2hJGj3fZSl/kSy5osWSu2+BsU8VEK71mOUVaC+wqRHhTS/
E6WTfw4kNW1K0/IRMDF6E7ZoXqemOR8UOOJrl0tApF1PKTdT76UwBr2yBeHHJwe63ARTg5M0t7wa
Ml3oQZlq1wTb4nU7Wye2DgUkXLPQBIEgdn5iD2qCu2WKzFULjqr0T93vzExQBheZWPLzVUYn6xM6
MkeY6MxnC8p5HXPlSfDqKLKx/H1lo0xZDy4lZKZm+bNOvbS8H6un6zO1vSK/Z+oiMTU7HEYYRoVQ
UevvZvk1AKacicq7W9eV9YpwKx8rahQaOuwU3VHXXpNeULYTTRWXEko1DueAYKrq3KsBG2/0N8V8
uz5XIhtcHpikqtZnFcbQNseke2fWcxo8XjchmKZfV7LViltBAak7BhMq+YiyGl71pyyLuBjoaI8G
7hrlFGz/c5ea5C6dZNBVOblyjEcIjsS2HIgucVv5+doItxi9lg1UbmHEeMy/QVb3bt5LjuF2/tCj
47X6Ju+vz9rmrXFtkFuZNANkdSHhQsekgrPtYd4/9CdArx603avlyjeiS85Wsg7I/NLRTvFKyj+W
y6ak1laLODblwHsMD6b02Om3IeRjDUEku+zkX25yq3sBV63QSDayIcW9QLcBYfXZR3u4H7zQdIxd
8mC4FGon9vDRHqEVtqt+Fg6OiFei2PsBhRVPMM1Lzebi3rX6Fi6sRrE0pZoZJE6vPc2xLwMOotAv
qvW+9MJi6FJlp5NPev+63a1NAYiyBeQ7XocuLrPQgIhKZUEMSs2uHnM7Y0wwy5vX85UFLpiHXaWG
1gIXtLrpa6X8AD+fbcmBbWh48Yq/g+j3gbSj4DDcrK8QWYcMDxARusLXV5qk0Rol+bW0KjhxbR2F
hz1krCBSdB9/Xp9DoTFuT9YNTbpRgrF0EY2PD3rvd9j8pu7H0X6M3wPyI6l/Cowuzsk7zHqE3L4s
WYLifw6jkOrS9uxHfkRZ2SHfZRfMArviVWBuGcOlOVw2dPCo452PC25EruswgPihoz4y9C1lh8/Y
CW9bm+aQ81YfAr854BHCvAvvRa9VWw4EXNZ/lrnZtdgchVDORk0x86tD9jO8kb+zt0TI1KVubcG1
IW5GCyuNAxbBENi2QcX35s+7GBLaoFG3jR/5rf4E1WeH3YFawLhjr6Zgn2xWKYDggWgV6MAB5uOq
ug0udSqpsKC35VN7bz6QCmRzNdIsB1wKTvK1fJhOuFRbbv7+N2u7sszFQd2KSitaXKn9MHX7Hmmx
sjNcjdrldzOCRjKzY7c5xZ/Jrocw6kFgfdORV9a5yBdD8a5A4pw4NRgq7HB/r1A7extcNIjvYl/U
h7J1vABgQUHGhpddVNHOD+m4iTK0YGORy+Auju3B8NtqNzS3gehpaSujWRvi4l4/scnqF4CvxF46
9qGFh04WuMxW8F6bWD5hldEkNdw1XkLrTA9jDuCCov1FSoNndrwnoZvNRAPyuYUSTYxEXXCK1nAa
JjQpeZYuKBEvWTAfWFaPGXxfktLkjaz0eDKQZvNmMLNjG6euUsaOlqjudVfbWvt1asEtSY1raFRE
S2oh7wha8plpE+NxTnelUDd6eea5GJUO9jvALkCdwwvFJlmuG30OU8Fjck8VD+dPf4RqkOppP0RK
sVuetvCH/88Wn9iqShXUBUQKnF5xTXI3E78f/iZ3phqq+HhAWBjLzv2AjYaaKQHAdNAp0S3Q54oU
bDa94LcBngM1K9rSMKPlSad/LQbfiE5lsDM0QTK7OVOAMKPFF+2LWJrzYVA5LuqmW54K6G4IfalO
bZAjXHeyrZGAKAlN4UA5QGCBCzBlNZvocAd0JIoKOweWyJjsDNqaiXfdzhZGxVgb4rxZlhJG8nYx
1LTVDQrC6bFAQdKjbdM8UIauM9ZDSKk30GwoK41rzLqfGbHmdCQW5VtbOwuPcUuzqwFE1q+jdRWJ
slaby1nFJYGmvqyiESt6CuVTi867URGg1baC3toUd1gVlVojWYCppWkn1h6HSARl2rZgAEyPRMdQ
+FRHy7KcJsszS9vsqvJO6wWbadND8ED97+/zCU0BKSc24vfr4kfSJW5YoNJpUU+LK/e6j2w1zP1i
mwHxKDSdIfZx7vBwREA2wKHumL3honEH2ajk62FuV6g3gy4dWGtqq2HshWl5g6akuwl1+7npUNUG
cwt4LbRZtuPB2nfKXRdYKFoL5mIJHHycXOhw/v1AzonbvuzmbpmLTno3jYfIOOaRF4Eirz3WoO8U
ASw3p35ljgsAeC9AshPjdSsF3qOJWzC/TlAl34co7l6f+q1Qsx7Y8iWrHVFYCbqvJwwsQceC9tpK
d7IsiACbfmpCmw3pOJ5XeT8dpGKRbQOeMFFvolTBm7sQ3LQ9X79NcK46GSXBAwbmC9zztRPlTndX
+KEHmn3XuO8Oklv8jF+6ZyFNr2ho3HnTzzQCtyjsooMtvmsfVMnGw4v9Q75RXQmNwhXI966v12YE
+z2ZPE9NXGRWCXQmEH+x7GTNS0P9IvvImhspF3WXbb4gGytbXKYfDEGbRqC1BXPZfKOdNBf19TvL
qbz40EBdGTSGoN7Ukf4/zYK3UMG8WlzwDCyDDbUKl4nial8m8Y1Bsr84Y9eD40JOo6nTmASYSMvo
dqU24OWhsDOaCZxftF5c4Kj7lBEFtDjQTZKAbbFp0dt16pL+eUgy97pvbO/l/3YBz9gxVbIK0g7M
mtoS1yhfcyO1DVMwb5fEnahGrSeOixjovCWNjPceJ32zbsjj6Fp+gHbq4Ut7Cvzs2D9NtsgdtqPv
74Etk7wKUoGsxNRqsFYhBMPQX8Oa22m4rQ0U3gy3UHaW5l+fyW2DQNUjMYJeAR+ylM6IRz3rcGP5
GKDqnd6kD/MRxGTv181s50YWBLZ1EF6DAWNZ0dXAqmRKB0Jgh0J7KT8G432G7jFVeTeGfQeYBrGJ
4gApZwNfJAgkm86ywPfx8KqZFz2XxTineJyE6ag5Fl3kyHjljZKdYICb7r+ywjlLn9BUjxYrjQeM
1bNuz358rN6LygsNh52mQ/2cvEqDDXD74bpp0fg4n+lJMUnGcupY5i6hO5Y3aBn9mzC1Gh137NRF
POuzDhtjHgItj+DfCbb0ZiBcWeAOmHCoqliSYAHLaAcSuBVFTV+X5GvLfgbiBHwiFJVsvqsiDyx1
LtoRSBpn2MVPmav74BfcG29+iYpOf2t8xH6EQ830m5tXEOTtBReRre7fsw/gfGTUYxPoVnzA6N4G
rvU9PrED1ACNQ3Kn2ZILItdj6V13js39vRoz5xylDi6OMkcXQGEmLwlyIDvPh+ZmjkpovGkTniWz
6QkwhW/oRhD4pXC4nNNoajy2Rg3bYDPv0UztWvfgHtzFj8W7fksjR9oRy1a82KcCX9qMNhTcXKDI
BamZftEhmw5NYi4rHevhY26CKct6GZoaT9bVTd9QcNfKj2z8nNs39LB6RBJpli0LySfRVEWHhwLm
O0BOuSN3kPJBZQpGnidKmvgyneQ96SX9h5VV4KYwS+X1+jJvxQA4tgH8G7QD0Xp8Hl7HeFDaqMeA
QX+spNBPKO5nkD5eN7IV4tZGOPeF7TGuCIxE2veYArexz5ATdeyl6d6uW9qcv9VwOK8dx3oK+w43
6WoEudUARAfAUpBncLT2y3VLoonjfBTpkJEBb4GrpfUtDMEX8kyF0vNL9njhDaAyQs8jBCVRvTtf
HAIgRSMt276m7nxDQP2d30j/6MfhpTtFu+vj2drvwODifRCoAyQvnC1VrWtQNqOjowi+URDTUWDa
KqCcZHuwvmmSX4ef1w1uT+B/BvkeBDPr0MkIEQdc2jTPGAH3NKCXAGDVdTPbW/r3wHgIMNRXVGWq
FztH1jsvTeKqP8C82wPTGba2krh/zPCI02I1k0Q9X7Wq1BWmFosPpr5ReIS4RfasEUGo2jr21la4
SKEXapl3Naxo7CNHOb8SFHNFv7/8fZV30diYxzCXUZwZnaQN7SERpVebHrekdUDegkyLLxT2SZNB
SFVB4kOfWTs5yfjGZAJIFNBch3jCc6mIeWwzDqGxDQ3coNEGP9j5mMK2pEA/wKKl3MSgWy8SvwjB
Lt8pqCD41/1uc/5WtjgvUM1M0nWG+YvAtCPhiV8ThLrN5/yl1f3f0XAeUJhTQdgICzVar5JjxZ7L
8ImBMLXedYC5oYqQHJXQHwDMU9DAVIiSkmUEF9EJb4gq5C5U8yIzD4bcUCAHi3J/pEAONaf99Epi
CbA5lpglCC6DAk/gY/2UUSO/B9dSWjoLkvJWAZsJs4E4E+28zZCC5nT0ZcuQAOHzNKqGQ90EGr6o
f06gBDEcW8u7vqwiE8sBtNoWWm5NdZwRpIIJvUu7AjJtyV3BckHU2twbq5Fw5xgOl96MZ5hp+qw9
6RRi6YGkHJNxkZ/Vk6NpZdAWT8ITqUtRvWsz/QKk7r9p5I62gVXKBH7v1HmCtJJ+r3rBF4ioFHv5
pD1Cus1TnxA896Ib7ObmXFnlDqCh7WK9r5YhawvHvc/S5zLalZBMFrXSb27N35Z+lVpXa5gkTW+G
DJYiSHAxArVJkQSCwEv4QEO1klJWwkJGcKeqfBVoaZILsHWiYXARxhqVCthfLFOvvFFI9ozP1119
c0FMTUVyCNlOnU8NiyQpRr3Gc16M8rysOzk42rJbKXhA69F1S78aLfhQgusZ7tmIZ2hr5oaSZkqS
Qc8ZR6Y52YF26vufWQDNiDuJZU4LKT1tT/MvU3Bb6Q9ohBJY3xooHjqWvgUUUAw+9SlIGs1xiXeI
4dHyya58mvdlapND692A6RyIIvuGOV3jSALg4rZdQARMiHoh+V7+vvLDwJCKRAoAY8NR+I1FaJod
v6Il4H7UXzQQA18f5VZEARMPGCvQdE1QpD83Vpaob5hLe4ZKZGecT3nyOWqmrZdOVJz61G1E4pKb
BqFhiU51SEtCnOncoFQhRalQHgWUpjxNzZcGVJ/meBeZoNwOwpc5n9wQvAjXR7m18ZA0mIssAFqV
+FduinoNLRT0x6cETTzpQe1PUy9KXDaNgPgTMCs0ZxKebA66px0elVBrYxAjawKwoUfyrgkN7/pY
tmh9DGBILAwH/cE6DyNhg5oaKV0ug3F2C0H1eULhnjV3IJn20IzlR3X0QKjyNCVQhMu+Xbe+FV1A
3WTiDgw9azwHni+fYc2FUVvL3QN0+NJ405c/rhvYnEVzqTBgv6ONlDOQqqQeZQ3pAw3m3YJ5rSTZ
DwHZu25m60ZorsxwB7asZSZoGJAlqRTkGyrayHK/S57JX3BOGWs73GZWSmXooQ2BfBk5bAz8XQpQ
pwJ2FhHWcXNfrQbEnc6xGRhdBfZhp1RlcN58A7iIZM8tue+oW5TxvjH/AjmCFA/HgLkoFPGwjmro
LJnVCI9hepzmD9nYK+wvcMlgBwfYHbQlusqfl5IGGuJEQg3UShLI3YKCEGez6Alsy6PXRrhDxkhn
EDkXMJIb5oNsdI9W8XTd10QWtPM9o2lFXk45ok8NMnVlvNczwVJsXmaB2oBMNkEZEqDacwupPMXh
wLArG/NdLkGCcJrUZ6l7TaJHqGVHt9ItquCz6A69tYdWVvmbWoRcO9OX+s2QzuiGfmsZtSvThbji
9flbXJdPA9Z2+PsZk4cR/Nqpo9RGsYvV6bEf39lsPRjz9xxEJRAF+7xucSsIrS3yPlGkWpmW2Ewp
VGeNJne07imtvetGRNPHuUWuNmrIAgyrt3ZzGtmzYdfU1iLBjV1kZvHOVTpR0mbQRgozFW6c2TjZ
ufHZDvtKRK+/CZJdTxoXucmkZFQFHMHRUdMPp29zgAW7DaonBqHqMK0cVVeRyf0FmAPPTaCXx2sQ
eMB4OLmVhGhVWo7DrJePbUHv+u7l+kJtba/lRcuy8M8S7rggHujlMKJrEiZofVcvZYFqtuOos/NE
Q/t4jXLYkWqFO+gfY/ihVn9BYgcsCWRe0GIN7h2eP8/oOyWPVRwiMl7Lh3KXoL9B/qrHgn224fVn
ZrgzES8cIUkpzLQtWvfa8b4l9c+2kN3r07mxnc/McLPZdnPdxwtJTNYktwREeRTdro8jtW5ZCekc
lAeu29s4GSnu/cBPgFLoEkWRQIu4Thoc9YlRvxG19KLuZxSAVWx4hkuhE+zTigfBVG6OcWWTO40l
Ig163apLyHLZ/MzSR9vWIA+ctAKw1Oaa4Z6AvBa87+ADOd/dVcPyMF4MDVO568zI7+f8WM+h4E4i
MsONRxtZSAcZZsZ2VxsPSeNn0f76Mi1fykV5KpuQ3AHgFJuZRzK1QV0VKVoenX5AF0rsWQxVK7RW
53YrelzdHA3IH0DUiOQMTxznk2bJUFzpFlNjNLidsdfGzslE9ZJtI7qJX4NaEQh6z400uYbmVt1E
1Qn8EuBmnEA1oYeCk3/LzxQZ6F2k4pg2nnMlDEdVCjsJiPZE2QURXjYSAuJ5MrlWD3HfbEThNC4F
K7U1MgXcCFCeQOp3wfmQDAYuxlUI0v3WlB2L5bVLrX7wY20WDG/j7AIn7W9LXESaZ2qgnRTDiywC
6iVyA3GaQ1hELk6aw3X32xqUCqQVWh7xrnJxEQaRZZBZKYrA1Wh4gwyu8MTwJmYJTuMtL1cN3EPh
68stjjv0a9pZWRmjBGSlhR1PO4JZNE8GtafEvz6grblbW+LO/UjKZ1BXYUCF5IO30TboZ295vfZ8
3czyM/y2XZtZ5nWVXiiSKocYLszo8z0drF1ZVoIAvj2SRekEWwnyX9xOyvKM4kkUFa28+DmB+8p6
p5036H/jAGDq/dcKF+LiVNHqaKkSd9VD2UEz3RvH3fW52upHoyAqRWUHvE1YfG6yqrHPU3mh9crR
ypf9qG7ip+n4IjnZadzrPjvFB3rEe+49yPnvgF4+PS5UI6JukC1PX38Et6niPLe6YfmIdrob9Tep
ix25ESyZyAa3ZGwcGE5c2DCJT8KPQQFLtgjQtxX78CBvUZCPgwWWL12NmZqCSxpnEpgvPqs8uum1
/JRqiZ9BREavTduEBJB9fQW3comlUWKpzoGBiM/EdDRlDW2IccV9BS6auwTHRp2XdsNCx6g8sHcM
otrVVsRYm+SWq6/ULKxkRIw6p3dAxDnqkH/vKwVy6abf01wQ3EUj5FaOMCCjAwOzOpVV6bRk/BZU
UnPI+uaj7OUvshWWXhBbdznwyILJ3Xq6QoeADHbJhcMF/zqPJUkfJXU1YXYBIfO1OD6AW9tR+sLr
abvHYYNqZOKCWOmp7zUf+FHPDL/JUviQRYJYcBlxQP2iQ84BSj7IrPh64ZCBxyGGrKGTdRYoBg5x
9TUxPwzqX/embQ/+7U1cyJHQTzxmFcY7U2XcyRXqhaD47N2cSt/GMvgil8ptpIteVC4Hh1cadBUt
0DVQuZhc9hPOuTpV0nIEDSfc1rQxtefYYcHP64PbqlPCjkEVY2lhAh7wfDUJWD9GMG0h2KnGrZwa
zpQZLoTZdrWUnPL0S2vmBx2kHXo47UO9+37d/Oa2WeqHKFyDIo9XsDL6vmegeMKdqfzepjl2Suyr
YY9M4hsa4QSeuzmlK2PcWavpchyAahu1MLDJV8ZbOqcHqwl9Xfqbywx+7r9hcZOqg7YiMRiGNUVg
H5LNEy0o0nG678byPmlll0Wtbc7CXhTRCJe/r475Ap8EYnjYjZJqDyphJ9EhkAkaChBQ347T5ACf
/hCie1BN5H3Qtc95ZdzTeGhtqc12ddrZCmQT/mKJf4cLHgMK6pmMDd2yffBgkEW+FboGcUG7Zk+f
1y1tbtSVJW70A2VgVYwwejJ+JZqdZ/sMj18AiQRLr2gvcN3Nw3NljQvB5QR6MG0ZFxQLbXn6CFCe
VkKRz4qscMEnGlJd0rPFk3Q0gHigSbGRBAuWaPM0WQ1l+fvKbbRW7yJliehz135oVnsTdYbbB2/o
a/SIEXtx9K1Ac8z11RKMzOACHDTYjADdkkvNXXUhaQ8NhnhXSa0gx9nKfCEmiVsQuO8h/sOZoVlT
6RYEeJ2QQlQ+MfbgVNr9zUh+m1DPpw+NPTFEEhFXmj48JjQCmj96C+ZZYGZzc69Gop2bKbW2NNsJ
IyFTeGBNdav0T0phAuMjlOdefoq/LiBbA0koOg0BKuMmjVhtI2mRheQT9OrjaM/6UwbWc+2Nko9x
9rvgXh/sgoDqovMaUcfu1oMysLq/rXPzGSEtbwjDQFUU0kryaETHyHSG6gS5mqz7BGkQdgEUAnsV
EMHBu76Ym0FkZZyb5YYOdceWgkAZg2c6cWZjF8adG+avhWUTEYvPVjn2bKzcmRSGURXluNI60Xyn
914FzL/e7+aYIX170qSnTHVHkTz3piMtWOhlQ2gXvJ2SlQ2yVcJmFUSHgvUQMmu8wpR2HYZ4fTY3
z/eFlhkcVASlWc6R+knPp0BFaUCPekASFU/qyC7DRWYmH8gt/zghBHM+shlLpjIYPfk316kMiS6R
EvcKjTY2S7MfbW31jhoasT2r+uv1sW0WnJF+ooMQXAwQuuZcJSwts5F1mAPwkUBEubppm7p09TYc
D6C1NXadoX1v47qxR7MrXW2E6GAVzM+QQxbJm13OM1LhhaYfSRTemvlgOpRM64AozBxiDp46ZuAn
SN2oIXamfQlH4lwf+WXoPrfGbdC5V/skYbDWzuAnV1Uvow/1+MfFzMUIWPcBCViqwstHrA4lNUrH
kFqQTx3z4fswGuODSfvXMmlLQbFnYzRwFrzUGxoaVXT+/VInUjQiDc4cS/ragHSsiz1DRBFwecJq
C4wCRMgyoA0mX2ZUunHI0GuGbW58ZsFhziClc2AUNCXpqSzfx7c/XqAF9wPNFVRcUHHkDnS5lVGG
CyeIjE6eZO5183n+c5SUtjbB47AqdYAkbQUTrL7Nwi+14UmFf30UF0c3gMzQaEGZGdAeC2Cmcw/I
8IhaDXrFnMGab8aUPqVFJzhTL9ZlMYHi6HL1UHDZ4pxsGNWxITjA0SgBXbYuSuyyCu3IrHwpKz9L
uXSCxDxUhojO6WK/LnaxOICHo1cBlKvnQ7OsQeq1poZd5UaNnVKC8CGS1CTDi5+oxH0R7jlbXAqZ
d8kIeCemsaJ1hxM7y310Dr20Wc2eGkvSBG8dW+ZApAyqQUBDoHDLR8W8npqMNgxid8GnEaLZI2wZ
Si+ZiUcx+nTdRUTGuONzwlsLtMKxfhLiHViNcefyKvUFNXbBQXZ5UHOzyG2pWI4aqYN6FA7qbLTj
rIV4B9iUzTj+J42A8KFR5YJzvvBAvxq6NR3Yz+tDvQhT+AD8APpaQJcKXhrOVctpVKusxQcodR/a
+J9R4YF4dSA1IsWdixTolyUUPvGQioObJ21aSgIJHhWZY5Hgvcj63rFAZuq1uOeMOrB1AJTYTKeT
e32AW3sCJ/d/Zjk/TVDJCjQFZmsgFEASG1OXpJkdFYEd/jHfFjdEbjULxgDElTCZcQOWmwILWu2v
j2Z7uf4bzUV8ZKjHJbDjxOYduDftYTgxEQBi0/t/zxh/cpmdbM1BixkL0f/NJDx2q3Yph/dt3QvO
yK04ud7UvPOpU5p1BKNJASij3YhaHyiErbdZm5wmTh9yVtlTUwselkRWl/GvUgDZiCM9IAgldXIc
QNZcGTeAtNqT4owLJ0LlR23uX1+2TSdcRS8uMMvRQGVUUUGa26tuVSqgmOue06J2ZV0CmFV0ddxc
wZU5zufjDvSXpgVzmT5BF+xg9I91MzmaCNy0aUdFPAZEF2B//rzBs3OhTFPHHMMqT1FAHb3PPalC
/3QhQuRuzuDKFDckNGVbvd63iFMNTtVvxriP0xElmcJhhuiquG0LMEk808kgkuK2caeaQ5UX2AC6
1pn2VH6jUXZEQhq5SMn3jAixzst95exivMQNHNf/M/hLwmvlkTqVuqKXETeASD7IFTkacXNqQvlQ
dB9tVN8DeGqjBHVT5zK2SXa47pybMWWpK4ICCpkkH5jrMSuDDNdTEKhXblJDsW7+DPRAEIc3fWVl
hVvAEpzLXZvAihzFrtT1BzlK/A4afZkuUt/dPFXR/ov3QmAH6UVzrgliVhbmsCW1ntpnkOEC+iJz
1RD0yMQ2Q/CDazYRtcduziMoclD3VgmWk3MbtTPqPBsGxJUJjPHGUNmKlriG1AquMJvx67cdHno3
RdIQ5FLPnDK1nEz7CvW6oYDIITq20cCks++6RbzrLrIszoWDrkxyF+7RVAtd0mAyw4JZkYvzus+d
pv6aKIUtG4IALbLGZeizWaFRy8REEiiEB8+h9GRYtxF5jgovJIKOCdFkcnnlYBQGKWTYMvramyV3
KsCcg2TkregBc1bcFG1M1+dSZJFLLlOwogMhAIsKnv1b0GInVugNuPKG2NmoXb5m8XgPPO+P62aX
n722hNxZqxRK3JslzIZ42srrzI1AhHjdxCX1yRLHkEouIr94+OHfXdQC2C8aT8hOpJuof2P1R9uc
NOhKqHsQjrNinxN/njM7SB5NGZIT6DrQT7Q7aNApC+M/LSdwH8PNMwPdez9lGHBvPOXd5FXpCUAd
gZHNWV2NmJvVTMNj+lBjxGl61Njo1ZNIAGUzbqKhbql0gdaMB91TLFXW9jNiGaZQ6X80JFgYUcxa
VJ7dDF8rQ8uHrA6hlGhBldQwNFStXfbg4tfeFEMQuy6NQLABiE00gICAW+ZzS5Ypaga8EAIJGdCS
F+/KjvggIvzjZTk3w0UQicahlmpYe1ArQb3elEH1Hrci5pjLpTm3wsUOCX2Qbd9iMOasunnyxiAH
Ugefg/71+r7atgMOAvSVIEvgUa7mWOlJZiD3Ia2xg3LinlkUyh1DuxsMtRdM3WV4wqCWric4mwLP
5kK9aqZzhcIVupvgBtH0rCWOSd1okU9LPNw9sGsFYeNyD51b5BYrjzQjDTMZ55kx3+GKb7dW+Hh9
BjfdbnmsoXiPQt8a59s9HdHwMWFQkpZ9FsVA3lNCg12QQnLiuqXL3BH1b+B0gcdEnwyaF853UVZJ
86hMBG+kaQnJjX3fanekUe36ixoK5u2yKRNNYqA/XtAo6MG4aJHomlJNzdxA2jg5yocvP4+2+lg6
1QlP7aldu8NH6HSfigj6/6v57fwoObfLLZiCq5k5GTpzqP1iHrOb+aHx5vvef1Sgqkrtzi52Hf4z
hVCw/aJ7o9O/NzvJM13dg4LZPnlTHMOWXcspb0q39YZ37cf1RVCXL7j2hdzONMuSQdlk+cL7aBe9
VO/UixzTtTx8wanyBre156Npq09gSYl2mi3kh7lMYc6niDt8ZhlMlN2ID4CYE2PvivGiJAeSP0wa
TgqBc2+ku+fGuEMoltWwlGYYUzNXIbea7oVQF5GBEGJ+UD2zwJsrQUjadPOV63Ebahr6pIhjuJ4O
+m2tw0MIhY5qaffBnopOwK251AxFphYeWBbhw/MtBYRh0JcSxZYq7VHSbMDx7akH207Yux07iSBy
l9gVbKu1Pc69ixi6qQmadZ0ifW3x1iHf5dVX3P4cq7yVJjxc+mbnNCJS2a24i+otYKG4OYBblAsc
YzVKUZoF8JjxHkJMUmzZWegpUPJJAbqQX03Rs9ZWTCTLcxZqxRpw0MsHrc57KwbRxgSSYadN/YF9
peXbGAj24eWbK6ZyZYMvV9W6Wqktk3ByMfY8F7ML/eA+jb+Spag6KQ9KRU6VnrmyOQBaHnrp/A60
pyAkX76ocV/BOVCSxRE+AyMdhsqp9M86KB7zsfQVtBvE6ts8hLjK3EhSvGN9Z89jJqhdb22W9Sxw
DpWWip5bBWbBAAi3BoPKTN5n5UZPHugo4Nba8qK1KS7wQWe+qmmDocqodrIKjNvU1bofWuMj2U6b
PRXRnW4Gn7VFLtKVupbQZobFdHpJ6t2YO2GZ2xKt3LZ/bWjoQfOQyX9eaT13LC7kjWiNJvNidaSv
JR4DiCjnEk0kF+DMHBJVTQUDTTFHdoiefQmkqU0RA2laepoWvBWQNZ4L/en60bUV7NbTyYUBqQmq
CircCAMadA3GZ5KChb+lThX9kySH+M+rMss8okZC8WgPanrOX+YW3TGZDNcM859D26MYYxfgoP9j
SqlfO/C3Gc5J1DroFbrsgHZO9kEz3ZKWeLJaC24XW4nyejScV+hxG8qNBjNy81QMy6Gk+UXlUOBz
rq/S/xNSfg+Icw+tDqYklGCJRZUzZq2nx+/G7Kp0B+ELUDEvV3jdmSMXT5C2wPYSrvjkZun6MUE+
p4CEkAtn5tgo5UzCxhkyffgnT8m4WxpZD0VFoYHR5UH/JFWkeYfQXu32rCuPBC+eHkuEUuObgU1R
0YKiELToyoszr44QLTO6mLKocfKeuFHyUqEXFLcEQjwaC54KfqGrL0a9ssUdV8Go93HaYNSUdS5Y
qWATxubktQa6lFlfcm1yMcxTq6e7WjW+UMiTyYCE9ONwI/c/JTP34f6HTP5uKZGDF76dNkq7JA6e
apaAzBoCrZaor0Q0P9zukqIqBUYM3yzJ/4zFYWB+JZ1KFHFl0V1AZInbYBbeupMohyXTCp2SekX1
UsofYR15JdrorzvgZmhcrQS3y0IUsAh0DFGHz/yWodXYQc8RiBwrO9djR+relfjtusXtQ2Zlkttu
yF4kOhvYbjrdJfpB6jw070mJ4QQMJNeP1oT6UifaZ8vqXPM4LhRbEOnrWoo51apH2sGboDTdvGez
4jXgUCpYa3dLyfBxMm1mHaHfIxj0ZoIGBj4dz/mAo/MoglqbAtq0cePoyg0OPGcwOhvCBnNyh21e
sa9m2KBF7kkZHWN4GayjIaM3RiQ8p2571u+v4KaepFNXDSq+gt7fG1+A9d0xNzkAByXbxGmRvdmD
Kx9K53tlR/ZPPBfKfupKfuZZ7vzl+oxsno2rCeEWRKnnniHiNM4ogaNXHb6iiAF5nGJyO7k+6KRx
x06nAjfYvEuSlVUuyGVhaEWNAqvMpXbhR5H9z1frLraDHxGukcAKYgJANW6jCwSg74O0H0UXbpEj
cKEvhhh2mYHY3EmZjT4lZ4jcshKR/P/CvVy6+38LbXENGCUK4EmmwwqIS3Kv26vQxzEOn5C1/dRt
7cfkhF71Hki26caH4th7rT06wxft6bvixH55yJzBTV3xJhT4H1+P6ppWM/vls8JRAdkuqwzdD9JI
ccqQja9SbypPCnofB4cOUXtsuhh9P0ked/8QJSFQMgsm6xPN48mpbxTrVm5zs7XDwiLT4zwG7Rdo
TtY3St8EQLNTvXn6P9K+q0duXen2FwmgRAXqVaHz5BnP2C/E2D6jHCiJSr/+Lhm4x91qoQWfz7D3
ywa6xFQsVq1aC4guuRnCGPhTrUtsr7Dxsm2iXoG6VFna0glDwQMf2pviEMRGswMIhh4LCKU6RCjq
U0+k+YLsQ4RkLRSRdzws2XtWd/yQVMEQOEXHpYcjhYw37cb73LLTbaz09rbO68IXioIuIibzUwZc
v4fkcuUNWdW8pcXQHbhph26viQIZdJvldylgTg8FunY+IYbD7jI5lhLinkyLPVK0lrnhhp4faNgn
G4NbxMsBInOgEaAjxVvT71GTyMcCWzvzoCVbog495t7YZOGrEremgz4Y9tik7QBeAr2StWOOo7pr
SmYA6N8M5i+CCTyGIsgbZAglCQCoKgl1hB32O5CH8D048i0Q3cWg+5e2XX1jYzu8gqlHPLK+Dx9q
AvYQ1ibqXhCIqKRdS74iobVPyN6Q722j2fs2D/GLnFXZphwsAS3PQW32FYpRhyDRyRPhXUA9VKfY
W0va5i4Ug1l6QpD8Nx+hdMtDU/IJo013KuSgM1y8aaUfZDyopqOFjZ1vkMrSpVNxbmQoNiWyd1AO
0gaHxRpodPo6eNK5BgXWokz5fQ0p9Ec81EPqmIJlP6wq4DVIqQK0d9dWpTAnEZa9I3quPxKeNIcw
o8qdbTZp45YE9LCVyYcvszZ1txjjvNnedpB/0ue3zrB2GZDpIzKFCcFh0e6iZ8SCP2LvMTlw7xf6
TbfaQ7GPvPfuaO2HTehAc27F+uQhblmfhTtZWBd2O3lKtv0pkVTbhS9ofx6fckf7PvrMj5/QI2Kd
rAcOIW74zbWmwMXAxEbLEYQaUYSdl5+GFMdaDxKMvil0pxnEnamPzOey+8xi9iup5MnKsWhGMexv
D30xZ4S0jYHsO5CFoBa9nPhIUCsr+0lgWK03nIIIqmD2JwSL9U1FW9wMpoKgE3Ayh6QichQViaSi
yFcSDdNdfLUAZ18xu6utpioYmWSOUZO650q/1ZX9mG2ht+rdHu+iUz4zNLuJW7TSKiiu1a4UEule
mbROGfOTQZTvMmJOu0o3sxgBGgRCqICpgX19/uhR0sQ2eh2sVk13pLhxBuZV1osK39wEeNp4bX8X
r5HtLo0SnYxTez1iTzyRLxdVbwZNphOTFql+5hbueePdrAyHyXdjDUmzPD5k4kwNMu3oEZ6dnSCE
7ifQjDX6ul6DHo15RwO9VYr0GMBqlr6JhBepa7qUS4EFSE9VdARSoCTmxYrWjoKybfIazih3DBkf
wybySzzPb++WRTPolgF/9R/g8HxscshEyxFIF+OuSmzHVO605uu2jemBM9/6xpmN2QMIb18IQ2mw
EVhQrFarpt2LJOD+bStLB+zcyuyY82GgUqiw0nboFUmE07Vg39C8qg/c25aWNwRFUgYl84l+fGYq
MvMyVhSYMrrKHzuE2bhDmBhdURd78ItA/xx5trBinl7SNVe+tGKA/EPtduKcgRD05c7H6zgAz10D
DjkAIdA1EhHToUG7kkW5sgJuDNTjwPGoo9kBPvvSipY1tEfrZOrGqX3QpXB1Yd2lq73i11OJ2wB9
vMBFW7gUQAZzaaeJg1ZjFCulRs8s/ywRYfReN7QuOHCBKakVxQH50u31u9opk80/mC404oDGcjaD
CtPCqOCwGWeArL1ErHIKc4/o7/9oZ+7yNRkHwAajk89yG/kC+Io1PlT6+/9tNDN/X8adYYYI1f6U
e0IG6TP1RSdgGXy9bed6R0yzBiwytjyxrXnvi4jCoiHNNJr0pWufcvIg9O1tE1dO/c/C/DUxcxSh
UY62PZnorZ+BtVcrLyhADfk1rjEqXXkkGALCwQLnJLTi0LYw23V1YyjDRKPfl09BZT8TJleu+0UL
DPUicJagT2hOUkrVOOQRB7mRRGI1ftfpit9e2sMMyE4LAHHIi81HIMNyqPs/REbWW003lBd4Tj3k
ENa6vSRrdmYvbK3PQTzcgUbEzLwgTVGzeAsg4S3WsF5L8wUaLxBpgYMDyIbZfS4b9IWWJlg+KvtB
K/6TdtqK0/6Dlr+4hYCbAGKUQVcOWHo8ci7X3ETZg/StiR64E9Qp9j9Q87c84fMf9Xbw8fpwvt1p
B7oxfGj/jM57Bt759hAgfcDwTAJ9hPPJ/QCcfcN2DRL8B8V59WlYRF1F9wTa2WYOqYJSTT7kaIyV
RunU/SuR3Amh7wtBAacq7mz7Szfjp4bKTRI/kbbegcfqVWrUIyoKV0EB9yXWoHALZxEsCxQBCLrd
gGyZTVclU15bGlpcuZke+SiPVaRuqTA2A47lMK6pqy+ZQ9cPTiXi0wkHcrk6RZEmSWdhn1X1WH4f
LJ4wJxuZpblFmtapg1chUEmxFMYuVzLoB+l6a6EeaHWHQAStb8sR7SaQfCxyp5EMBM4kbus3DpaO
R6NodcO7fS4WvCGaoUwbVKgERCdzgqehoGNDlS51o3E36O8kPlVrceeiCbgPk0CWEFf6zEmFraZW
o4V+q7Z/Aa3SkJzQ2Xh7FEvXL8QP/tqYHe/BUEVQ17BhVx/jDx2ri4S48R8t+iHbpzSoEHlmKzaX
h0Xhem2oV1x1tYiykXoBigCgYfdB8BUZvk4/bw9r+urZecKo/pqYXbwcWO4Mi566Nfc7ZZd81YYX
5/ej7Wv1Su1jbTSzRbKHIA11CVM2g3NUd130A3xLt4ezcDYuhjNbpEQOXa0S2BDRgD4kR7e+DSxz
bPVI17zkgru/MDULx1RLVFwtYaorfqnKIa2/SmQSg+0/DwhNl6qJhOZUm5rHz3xsObi24FsGkMg4
PCEekFkHFhWnXml+59Ga9PTSNodB+P0J/I1gc3a7oFXL6gM29ZcrVeRA7c3rqDxBk8+zxsGrhA3O
FfTIiW4Lnvk11zb9+Gw3Ghocqc6w2RF2zoxDlgx9ZCM6ovvW9qqO7BRibyw0GoJbd6NI+jZGHTql
IbGgvbZlsII6WLhYDdyq6vQFIG+eMyPliCFGKGIhPAx+diFwVfUaOHVhz6AB+Q85G57H8FWXrjtt
g17QloNTivt6uBfqsc99mX/c3jOLa3huRrs0A1FDBcVwTCP5Vmp+8EZ/ku+DBwobPXCGlQ26cKov
hjS7/Po8VBsjgK3W2uP96ETiwWb+yoCmH5nvC7y78fjFjQdA9vQRZxXauhqjsapB15cb/QbNVqWD
cobqWo06bBs7SZzc6BIvLRL0RMRNfw/qbyTC1c441Jl8aptxWPuiaQpnX4TbF+qAALIa5hWJ+Bh3
SIBI3AaDSHyQ9KBIrzpctkdLoJynVTvLLu/RB7odDH4XWsFTKP4Vu4YgjRogDkN7CP47v1ZpxDsd
pPDoMda+wC7nZOyeE+VR2h346/qVO/w6M/jHmq2Tif0BDUyzZaZtDarTifmhVDl1oDt1sjkFHFEU
4nsbmfEGL56HJhite42Su5gplhePycoBXQxMsQeQf0E/MqpZsyuEGyzsWx6i7b00O+QR2owSJCUz
/VWxocSOSkAFtGaf5OERvN44ZFGcIHeLroFxb1lx9drTRI5Oo1j6J2uRc08UOkqE6FlyIGLIQ0C3
8EtO3Zj1a2FHqlfyElnzOm8GPxjN7E0zG9zCTaG+kkZXvkRei60dK9o3g3OxS5sh8+JQH09hpGfg
peMcqBtUWR4lyjz/nN5ApR+IhWkm0JyPjOLlqSCRRdpBjXD0tNFDNw0wfT/4uCYtdH3AL61MXvPs
7HE7z4wyhZWIHsP4RQKQkgzu7QN+7RdhA9cOtCIYuCLmHXhllRV8tGFDALgzQm4QZBDgKA5BfHPb
0HV8cGloHh/YecPR24ELRoPKjPIrEHc29cfKEWvQrqss/pRxAmECtTQVOaH5o0DhMkXNDS4LxERG
/tBGXmO9tMU9jkpSeFa2ghlaiOMmqDug2tNbHQjxy1VKeqAjtTZP0SoAeT/NesyNXw0I/hK1ciSj
m35N5GDRI4ASgk6vkAknPrOI2preSQsEH2hKsdkT+mNy+Z5br2H7Ke2nCLRFuG/qNYTI9W6Ev8NO
scB5C9DQ/PHTpdpgWCn4bVAm3fUqR4SSPJiVvjKdy6Njto3MIahBrxL1Mfijq25iSyl4B8GDn/UA
WufjiH79HoSQvmYdWoiKlurm9v683jUYno0sNp7foHeYKxIwvbG4iV4Z12zeRvnSl6jOQvPcSZQ3
Uu3UteTONQAMbh34Z4KEvQ6ihzkvqSxkmYHCHdQozRs0pHvqksTjkd8kjhV/0BRtVjvVvGfl9vY4
l0Ktc7uzcxhrYa50DONkdbONrH7XDWtaJtdHHUNDUgmTiSauK26rqukaLc2xgtANLuu96HaDyCbR
CvRnrGR+ljblualZvJUUASjX8S53WdDgCWDumJE6JEtXNsfaiGb+Pogh9leFMMNV3Sn7xz75sDOQ
cAy/w1XAzJI/AZE1KGZsOBSUIi/9ycR5Vuddg5sWAkX2sx3bjm08VfxFosPFXKM705b2gwlPgkIB
ReFz7kxUobSiolOABxGBRnXs8kUbsXK+Ip5q/g0yvop+J4PPoXAztqN4ppb3IbqH1HjL2iPRf1eK
cLLyJR13uelFefZ8e78uTf359832qylqmhgBAg80QsTEaYdNZT3R+mcTrYQ417VvnEi4U4jiIr0H
Fzd7ItCK1WpoYCYq3FB5tE0HcIM6IkQ/UfIkzMELVeokTe6nBTx7+qMEbIO7qfhl0EPSf8tZ75i9
S8yn9VrOtL9mMe/Fp822udTQi9JPkyCy40AyTL6PXDqqltR+jbONifJlsisULw0yL/8fKHUgB4iZ
AQ8NmoTmjzMhkCVG6j4FGpUANANBZOA/yMpBXnK/50amOOUs1knq0s6h5ofbRf3eNI7RbK1sQ8PX
zthl/EFb67K6Dnuw1mdjmnbdmTkhBiOIQB7hmgba00xHp/c9JOLstWfn0u5FApIYponoCqW4Szty
ULCuBbwtTVrI++2r8TnEs0VXP9O1ZsIFv4HrEklpaLriOpnnK6BCCdSSDlNR/GIiKZZZAO8XD4Hq
JBSd3ivh3MJ6XVibrVcXa0GqTOxUSbwfRQFB1xA8H7pjak6m/6CQiIS+521PsODrL0zO1iyG6mdu
tDCpVdQnjfS64o6sbYyFBbswMnM3YxfHvJo4xIIuc0R6QByMaXUYYKJrYHNtccVwnpDxR20E+PnL
zZHlsZ7qwzSH6UvU77vovskpUFSeEfh6/hrFuhuiXzf/HZknPu4sWnmdjjoqmfqHQHDcBJuKo2NL
+pD1Aogc2LJ2g4gi0Z0ifOjsf78EQUj293NnUwP/KHMtwu9XQOHYQCuq1dYSPzuF+dbv20t93QgO
cYVzW9P2OzufFYNA1DhFKVz8LAyvVt4j1I/sxknCPRn8KtqU9GSrvlY8NuYhG3JXaM+28ZFm4bZc
u4Kuu5AuvkYjE27p7GtqkvKOEHyNjWkG0WVwZ4AnISFO3e7NPHB49yGrfmsYj3nmdf3/UKLFZPyX
CW7eaKUgJ1D3U2jKxWNvv0I3HvrGhz5cuQAXz9dfM/NeK2Xkil1HMJPXH1HVeUG5y0W+coiX/MZ5
9mbmN0pQVkMpE9kbyvbt8B+zfdUoSs8HSEEXbBOR7cpGmhzs7OaE+g4eg6hDMoT2s8ittcew71QD
b6UqcoHBTqM3q/BTfuj1EY2A7xQplQYhzsow/6zJlV1IBqJsAQlIdNhebhkrU4aKFyaYEpz6m/zM
fPqTeuHvAshJJ9pXiRP8Dp3ivbljx2HF9sI6Qh/CwnN0ej9ddfUmVSO4BRK/qerDmJc127b3b0/r
wioCMq+i4YdY0D0ms+NZZlbZi0jB9Skit2HoDdsC0YiymWNEHnxRvEaGuHBfnxv8k3c9O4Gmlldq
2XNsGz120hgdcNF+lKeYruTBl+bubGB/HqdndloCsUA9s/GeUAKAUpFM6tGz9T8s0LkRbbY3Smnk
OTy3G0KsxuYutd+7aoUCZeEeg7wjCConyAp2wuxuSUxlzGiC/Yd65qkupEsFmlS6yC8mfa02Xpm3
havswtzsboBCMw0Ugj2Xar8T4BOhj+6kii/YgWEu11S71qzNtl9lSLBM5rCmmV4Vf4L639GrXZ94
hvaUyK/be33hmkbmaiLDAjEPLup56tMyUlsAJJi4RxTlt+0mfS22w6Ha1z7b267yFrn6Q3ACS+K9
8gMgHb/cxicPDsep/cC7/S3X2/PyU2bTTAg3c2kp0DOsBR4bh0ZvgeJaueevzxqMoJiOhCAK61ft
YcaYoRLUY7waStq69AR6wTPr2VL2twdz7URgZyJZQtELZep5+BOPQUHKCHZU9SuxfKSxRvGu5bHT
Qtnc6tzQWLngrjsUprTtmcXZ9OFdHaucwyJ9+BG59KP2X9ASuZX+6y/bGT+i519Z7Ucu0HmRA/IK
3YtOpZMeipdgM/rUR2pvu1ZguT6nl58028op6Qp1yKbJ5j74bVr7UDffbcPL15rgF0pT55boPIgB
Rqfs8mkbj0A+I8nLebSxGh7cgWQq3kR2ZiByqorfemgGz6HKwq0p7eT19ppfU05cLAG4zy99HxnU
oOug2+52boVXA1gVbL/5mRLncfBKUE5EODZHZWetHJzFadahMsCmRpxrXfnKrmhGkH1uxF0NzvhU
e2LW997wRLXiCRd39Zml6XSd3SCZEZMqn/LcSQfmTQAVBKgqwFVe6Luwe2/1J71Zqe4vntczizNX
z3QO9UQKi9TaFp0/ahbKEQ+8/B8qUdhBf6sec7iY3od5P0z1CGK5kYmuMrSPgfMTuYBKfnH9mUSv
vX0PYYPbe2Z57f4WW2bRNw9IHJj5ND4VYuG2UymPpu3ntk+6ldzzonv9O8B5EVwNKsh1FrCk6D7Q
0934qA4ftwezfAzPbMwuf1VRSvQChmDln/RcCz9DMrsZa9/mESjW39rYUYZ9u6avuTAyE2Q8SOAj
wYX81myPxCHAtyyJENvHJ0t9TI2P7N8jDmQPz0zMnGtkUjPuBuSokvyx0R6r9k0UaLd50OSKG19I
WV5amvnMXgCJhBIhHqIfyafuVrmTOu03tA9tghO9d0Tn6k74eUDM81AfaOx8fZEf6Ur+4w/+9jLA
n5KlKADingRf37wwPoC8Z9LsRoClgr/E0bfsQD5F6iTfim16zEN3PPRffb3RVoLHhdNwYXfmX4RE
ktJqYZfxx5S8xMJlzNXh0ONh9+9b9cLUbNMAu8as0sQ8s/SrUT7M/4QdupgGp5Z3qvimxncBX2vX
W/BlFyZnmyhVdD1nMUaHdFKnfoxkW9mnfK3WM/3KrbWbbaB2SOpxYBiYrf4e2k+qeNx+FuFzGu24
tuJTFkfEwDgNDN6UQ509QIns6rDrkGnUkShoUZVDe1OQnqhcWa3FE35mR7+8d5Ku1WjSwE4wPmiG
x8vXdi1WmX5iPm3Y8PAgUzLamAdsecPCQuOA23MNaE7yRdcyzcsGGIGSJwEAav6spAzZAWuEAFug
UrABaS/jKrXnogkgIafKFIBdc5AV+j6NDoOevNTvonw2ISRy+9QsrfcEtfz/Bmb+PWxUrR/zDMjB
7ImgmK4lD1b6HK6Fc0vLfW5mtq2qWLS4qTCOsN6P+TdLODFf2VFLnubcxGxHhUEdoPMTI2HFNyX6
DmJvpiABNyROukbOu7gqIGZijKK7VDVno2GJ3qk1QX3NiE56U7p1JlaWZc3CbDAJgpWimKrKDa4E
5IFKYyUKW1yQsyFM//8s7qsasPFrNmAASvgW6a906N24W1mRRRvQnZj0b5D0m5cGAz7mIulRgi/6
B0XxWHGi2dft7bsQvk6irP81MW3vs2GkVVAnegkT5XDfMEfang48V3knlJ0shYd245WFWfLFGgPi
ELUL9DjM79GJogRleWQdw2EjzNrTCjy5Bk8xT/DPYpU8dXFTn5mbja8x7BBaxDDHqlOn7iLrm0W9
odqB3PP2RC6v1d9xzS7PrmUQqh5hSPY/zHgrALnVV7bc4lhQxJpUbKZK8ewaY8LO0AiDhDwtX7vy
LQr3egAo3kscr0RcK4asWQQuZCezTMDxk2HXZq+IWtPSbYHLMlcaRhYn7e+I5g2TgcYALATgzTXD
dyhdOJCw8m26suMWPbQNXDfUetFZM99xBGj7GAqc2OLgcIawCjrgiISo2EqEuOhxzszMdpraxLEa
BjCjkSdF+RCKd3uDLb0kJn0QLDEDcgWB/eVRLWIzzvkEFBBjhsb/8MjixKORtgOdwZF0932eA0ui
5QKMTPUK2nuhJIIsgQGMujXFwGiMuzQe5zSyWDPCFd2rx2yLlK9HFAeFW7DiOOALjJ1+xeSf+sM8
/Dg3OXmSM9cETyFBNgWT2jbfR8+v+R78Jeq77Qqv/EL2YBveq0/qD+oqHlhElN+3p3tp14DUj9oG
FHPwdzbbDc1sOuY4bD17KNBSa8S7TgHma3/bzNIJAA5jih+QmUUz+OUgw6alY81wAgp1q/H/tMPD
gFb32zYWIFZYvL9G5gTgVTZI6MHCiCxdQGg8cD9w67tubW3DBc3kmD/H4JNIVw730oE4tzpL/QQD
RdF2slrnx6gpnPLfmwwxLAsHAWcbGiHz/ESloW18LHEgGvC7SFe34noLDhxNuMJKzMY1IEyRrZzC
pfuSAjmJsjtA6pC5ulyvno7gnQQ9g8sbPR8c6FzFYHkrFeFaUcO2RqdBr6Euozul4cjtDZm6vb2Y
ixvm76D1mW9GAblO2DRoUXxm1l6w71JubptY9jRnNmYrJ7qWi3KEDdXcg8rG6SoD4JPHtHkckSKu
uVcoIGPzV6xele7wjEfxwiR4CwCYOk8VGlFrBpBXyt0CUiuUdttIfRHgH8l/GMNDlDyU+oNpbkfR
rAz3akb/2AVNJATq0TAwj7KgcgCRKvC6u43yqejaMYeKcR6shAfXcsWwgvqgZgJUM2nDzTaOWfFM
M7KocC2gjaoByPHHPn4yM781tqG5I/VJ0zZjBKhNtKHq94ysbNxrD47rb2IaRn8YsF/gNL7cuUUM
bgLc6oWbD5tef0CDeAt2GlAkuS1IJuQdfIFkX6yqHIjbeaqxFpEvTDNmABfwVB5VNXtmnys5WtOa
FrAy7dBFv3TxFAYrPvsaZDmN8b82rnLeg2Vww6xgo7b1J02TTiZ1tye/IGB+Amx9R6P8RxMM32Op
OJpU92WypvN5Fd7OvmB2dMDL1ZgpwxdMIEUb0IC6vi/D5mg2vWcguh2iVbXdaedc3JMwqZrgucDU
LjQMiHRC2qt64SolgPNbBf3/H3KceGbI0DXPodGWT4IoRrbRjBK0PNywguCkBnqys8oC4tgy1ckh
tlm39mi9ugHwZVPEgmTIBAydN06YfVv0BdVzcPwZW2VkmzL656hrMmGiiQnNDgvoydbMksHClel2
Y7AXGnO1tl45OVeRwGQCjAomsi1T/Dg7uUQOwh5RwnXLLNtpInCU/lRFGmQt/p0tAteKCl0+wLrw
eLyaryJOE6hEgmQ2Rlsp9LsK+2AUT8Gaq10aEdIhIIlA3IFq/iyYY+CBquGrsC4ZOarkFxFiV/cE
Da2GsubVtYXdiWgVNzXwwRNO4dLtaAot9dBKJjTpPe/eemN0SLhTUyh9Fw9K8WbKozQOWfsWmivP
paWjeG55Fj+2uVZFYZUWeMXcWeJOzfeaqkCi594K39Rx9++3FwhRoLmANy2aB+fSl7EeBtlACrCp
owCvF9rz0L7abekHQbEp48ZpaHdHSHJiCjvUKv9+2/zSWEHHYmvoiwa2949jPIuVwTtoSNHn0+1i
fxuM0NEKurFj5oYV+cBmPTaBvnIsrqNKnAsIwoNI3gTSA4QYlyur9AMNeYAR94nx2mvkoAyq16sN
SmFmcDLVzhkS+0BK6hr8d6abaztrybuYmGugHXBxW/MLhfJQtdoGp6WoT6x0mnrPutoVbHCQiGG2
z+ytzTcphdKC2xvoBVlb8inUmjteQKgnFDVeldr89VrZ0HGXBI6hi/dqBr43A22cylcI32Aqu3TY
6/yu79x/X2mI2QDzSQBZBhHK5axDkhckndMFg4a5+JQ0VQY1vKa8Q27gZZTRvRVzMGbbzQq+ZMll
2EDegxcF+MUrHQ6VVnkagSYLlCt4RUuor5kIyvrOIWqwkkGfRjCbVsTX4PKYnpmQl5oCibO9zEu9
Itakedkav+xabtH+5zVF7dhNtbdQRL49n9fBLoIRbN9J1RBGUS++NAdKASmTCd2P0OelBwMg0zK3
IImvMrHt6sfWJm4r+SZQ19gMFub0wvJsKZXCjEWnwHLNHzseu01eOUoabNBisXZWF7wwTOHygvox
XppzeJoygOjNzuAfmpEe9Ch2cPOfQiXwaFn5SaYD0R9uCvY8muFx7MxtTda41hYHO0Gjp0aHqd35
cprzEUx9YY7BjsqPxrirFfT0NM/QB/n38wHktYkMGcAsUJqb7R7JMg41ZIw0V+WhYq0PVw3YmvpL
yZudkvX7lPfblS20uGMB/cObEG11ZJ6Z0UvLgm41bCbR3ih2kXFQg22V7nQCKZldOHqZ9W4op9ze
aPGbgmdj0+0M60GupYgWbgFwKkMTAA55apedhdiS2n2oDPiOGMpzyVanr5ZxxyruJuHRTo3N7WEv
ruhfa/OsQtsPIooF/H9etG5D3kUden2Pfpk1l7c0vRpDgPeHdwwpocutw9GJ1kk5FiCXAiuiErmx
LZ9ztTyGNHnu7erp9riWXhFQOaCAPuNBCqjSzF5NehKBhKoAlm4AfULplPUmkaCvLe/yzIUEKTTR
ef4tYpELCMRt4wuX2oXt6SCfOb+k7VRSQfoOnbSBO/L4pIZrpI/TCZj7V5CeQ3gLOXgdkNFLE21d
liHjDPzVQHKzWLoGGRAFRvvbI1l68aIICpZvtNhAPXJe3TOkbrSgxIN7q+xiGwWhDh2DDD2TLLC9
1ujTLZqpQMJnwjjAYPUAqGcYDAgMA+NNwWWzb4tsWPGEC3sJC0vwD7BuePuZGwIaWc8GC4+lIqml
6eIRxE8sTEBkamspYnurosnRUHhcrhiezt5s1pGxR4gG0hRiQhn+ctbNKDFloQrITwa+Vt13pvC0
0QSwr3RT9pnVUD9YW4AFp39hcrbQkcztru1h0mK9J8o3uyIu6TNfV5JHNBegaQDqwYhseifVyDa1
bbfj2kre47rLCterMf1VJ8VgQLMvx50NCNJiicNU0chpUySTwJMjjN8tbY46yVye4MLTP+3IRI2u
2uoSOndqvouyx4qZu8RoHA5q3NiMjpyZ21BTnL5cTZAunToDYjE6xRMPKZLZrmhrkKINNk5d3jJE
cweZfMTcQaWI18FbrJd7PfpQa0DHQZytodsQsvPgs15rmV46mDiOUzMqMjXG/OrCAUCL+YjAJ6JK
40a62u8qI8tdWlcrT6NlS3hnMuCF8Qac7QwVcNJUTimDWNd2TA13dZv6ZmqtXIxLN4SF1uEJOG7j
ZTK7j3pCFRASZ6XLQg1OFAqsv6Oi2OjZWgy3sNNRxMQrE5J3eP3MZy4fIiNuYlG6heBc88OIZBuD
VA0CNwUYKzZY76pU1V2GTsZTbdXqiZmVetTzEqKN4C58uu36FsY95S+Bx0c9EH8mJ3TmxPEWa6t4
rHI3jYaPKEVNS6nuGoXsWb3WcLYYvqIJDPc9cnoTRcalrUIpgVXiSOzXldNGJ178lsqX1viW/mFo
W5GjrXHFk10XZqb03ZnJafhnw4tiCbLoBCahIuZV70iIPP8EtSXeto48opXSeTyE/wE/hmt52Yo7
WZjZC9OzmR3CsqrtuC3dOP8uCNDnKXKpDx1dY5hbuCYu7EyR1tkQecZJUUvYUbQUFDyKm9i9q/T1
HtrrDlXClSldCtzOZ3R2UDqKvoOow4ymzcdY9c5YvnTRM1G8AhR6xVpjF/oC8Pmzywg5CgQaaEaH
INz8FhzjLLZyitANmTVLulnV99W2FihE+fAM5qFqNEH9wLbszZA11TdIDWuPimEP9NBYGdDSXan2
GzOhaGyRyL8FG30chidtKAAVpSOl6SOcrNgCgaxbu4gn/Wei9gUwpENA/XAM4O0DFiTHWoBa0dOq
UAcxhNkWod8bSnVICSoM0XQ6aa5xxc0kUX/bDal3Wt0lg0cyW4m8Noxzy617zu4NRcSGo6qsfKSB
Tl6FpqYfBskYcaGeOuLxCPJw4uqRyjUHnJHxXmYdxXNosBNPtcIK38DkfWtxakDASwk+1SoqPSTT
qxcqKKC9KKF1vowbAkIyCpemk8iEGF0WhObGCIV2CLqiz5ymnCq04G83QrDiK9m+hHuBPqya6h5Q
aGRnCw0A2iaV2oje695G0q3PBTwwGdpDl4Q21DGCmP0uVDRzDNKyv5KgVPcZtaMtkk+DZ6cgKT9A
7gXcFs3QYt4KTLIT1PEQe8KSEsQCjcldSfTsP6Ic5J052kXtqknM5SbiMgR7eRUbX5nNm081agbm
QnKk+gWkYf5SRMXIHUOALrlhiv2VGpjeZ6uwgvtK7dF+GQxpQZ0OxCt6Mwq/rdAQijsNV2eH3vE2
51rvhmWzzxoZH8auy/fIn2p70vTsU/QlOE20PMyKTVVjhylVT/ODYQw0u8uNgvkaJD4Dr0plfqRF
y++IVirVbshVK4AoM1HAWY+9C4ltrfjQqoGDqAuUbsCEDqOAfiFIHIunso/Do1kNVHdRxRKjk/dC
oDLeFjW0BZMw2MRhV98rxghO0qqPRkeIdgSZOy009bE02rz0ZafKADW8ip76Tqt9irfVz9YeQEFj
mrmBWqZmrnHQLb47kCsH7fDkzVHfvnQ6VdVg92QlbmUyMRttQ3Gndd+T6J6Cdine0eKrGr2Bnky2
RquwZBqPZaQOGchUQRcxM120jS3qBAFQExmnum3vjeB3omUO+C+3GsxBv29TaN1RoDe2BlCj0de6
UBZcIIhpgNYHdBIMO/PyVK6QMQsRIrtSUR3N3Ron2ek4lcQNo3xz+35e8O6g9QXNKrTzQBE+z1yq
yv8j7Up7JMWx7S9CYjXwFYgt9z2z8guqLQGzg1l//RzyTXcSDr+wqqZHrWmppDphc319fZdzMqvV
mILMZecRclPlxE/a/RQ+hYZMVFi0LOTMVFRmQPIOZ3v8TatpgNusIZYQtiaypLVZXmjq2GUeeoUg
IAAv0gVzpKWQBuvIMEgCI8F1eRSIcNdYpqBJVCEIROqx3ju1BR11fGKMtEbG3fktFawTfOemiww/
BpuhPnO8TmOc3MaZwABF+2ITgsco0JXyURmHDbXzjYPZsHGUDQkKovYjTC4OsSNK4p4CM+sGr2gM
BOyP51cliJNB+YWIHM8CNFzxHVdh5SZmO7Uo/VjgvynQ7Q0Oz9CR8IsJ9+4LhX8aFjHt+nnooHzQ
ubhUlZckhV5MQXzFzrZ2ZO76SNn98cJQaEffHw4baIf5z8WMqU0gY4hrDHwIrdoh0AgPWaL9ebgG
PiYXtEzIBGASi7MKhgqEU8XQLqEa2zTWHoRdiKieMOx1fjmiVybmvPBswhFD4MZ7j4mM4DSPkgqq
UsPwVqONADn4CWp7PuszCFdgBAm/IqbpNHtkMEPiTQhC3sO+62vIZkbpVRFp9mXc9u4+jki8CcMq
uoyTQdloZtYjV9mSNAxSNqBsnxGn9vSmx1DH+WWIcgQrc+MTTyWrNDKnmLZHOxzJ7pzwQx8PCbRy
s7s4fyT97/NwQu+wsrslSlwFuZQlOkakABeH1864R8Pv3LyYsuFN4SldoXBv68RCittYrLuxkU4b
KLI8aSyb4z3x6OAAW/wrHkAEpsaTcmVIZRldhsjLRB9uZmxqdGyFiK2U7EUv9n+4bZ9YGC3DeChG
RPmzo+ZG17tuh3nrJgkgygLxXFZ7cYYnriVVkzrxQBwY5+PmskC+uu7RilndTWbAhufU2Z5fj3Dv
XDwGFrl4zL1yjw8FUhJZkQ3o9sFrsU4Vz3a+YyoDBE6g744tyZV0YuPLgr7QeNWomtQMVQIsaErM
x9j5NjdvkTvf54V6qRYOGk0R65gyhqrTJyuHyiU8msKpzWzGGudbNfajhwLvfnjzG3cz3yR+coie
3B3kj4dgCHD2b8qDbEzg5BRwP4A7a1lUK3qk4Qfk4F1aep572dicgILgeGe5g2Yraq6MFDs7brWt
9Rg/xXHQB+YFnmGXYOKeY9++8KNvqAd7oHz9KyNCQIVwakkrcxuc5xU1cBvjANIPY1a8efDwknKL
Z0vGxSg21y8kbicxdz7G7XIiOhWco1CZcn0jue97EBN8+5uD4S56J8iSYUTl2D8ykEMZjIzo4wH1
h81umtrvnSeww/VhIzkVomP+yQ0HhmgNbD7cRUkgKpUY+WKfVr9JIb5Zdxgl0V/OL+g0zIcVrmE4
b5LECi31BjDKPrwuv6MGNz6YKABeDYEFjS0PlfLziMtfeJRo+AQEnxfi7U+KxuMtLFGJg1bOhEEP
+zs1PkZUA+rwtiWS6rTIJpaL/5OlFQ00nPV1bTdETYwvFSlXXXRQ9ZtsuNTL+45IQrXPzOjJglZI
nPWpoPDuYrbYhFbt5sa9pAwsNUZhoH5QdYHWQ/+7rHc60gpj2/6qrLe/2FCsEPzuGJuCpzze0K5x
5pm5y4Y2g+cqZhDVGwZfHX2cxxEa5ApniVlXsYGjKBmoN1TsqHNJrUuTbhVZX9Xne/Z0L7/Wwp2v
XJvmodXQ4K3ek3vtEPeeft/+xigQ25NHZgfKcxh5s58EGH3ZnF+e6BZaOq3+u40GV41JR1Ih54Zt
HPtXvFy8etzTEcU+42PCmLw+3ajGX0QNoEgEByQengiHOBO1nUkftBAbmmPkHvKnRPuIpyDSZQ9O
4VHAzK8DiilUW/hiaT4lnU5RXPNTaCfR71XypAybtrq1ZEOVwqO9TPAsD2m82LkFZV3UlhHVcRIy
5UCaD8ftf7oZSqJNLTndMiTuzDVZmExhA6RBv3cdlA9ejdb2QR8nMQrhDWqulsTdoBgTQu9LqGFJ
tXM996VnkMbvC/qMquFDk3ZXiQrx5vhJryByFN/hLeIpybwZnG8mciITWilmkvh2TQ9mHx/OW6xs
E5YAY3Ugu8yqiVnjt2l10LqbyrxWY8w9PJxHWY71yZEkqLcivEUVih+XjGp30LUe9EnO+J51H33v
QydarS+myh9+nYcSTlSjdepfLO6zxjnuQQxeYD5gU7xhxuMWbGaQAgwiFiAcC5BrRE9M+UPGuy+K
xMylRw5kTWiZtbmPbE5UG5x0OSDjbandtkwW4Qq/1AqA+1KpoVRTWgOgJllAjauJBVltbHtZd63Q
Ra9wlj9fWYStl31OOuBYyXuSz56l3Wvpj/MfSehNVhjLWlcYkHRBvnfBmLrco+nbWEV+Cjls2j04
MiYN4b6Ba9j87F4BIc0x1hD1GFKZgNVAGRhQ6F9W0bwtSUkILXyFwl1scdMOmESG549xZAndMNR5
y02n4rW9NZ2n89snvGZWYNwNB/HQwdAW7vpEvQ5Bm9eCuW/rak9xhHLdvk6+nYeT7CDfkVPgCaBb
02dw8NaVuxEjUsZTJJ0kEBoFwuKFjB8diHxWzKwmY46N5d7OL+1t/6ZuIgjbQNXUm+4Kr72zduSx
C75DElUSTQot/guYT5RpVZl2RQngVnF2s5YGNWHXIbMlrlboIVYw3M1mJRhLDylg4q4GySXUSF/P
f6fTou0SFq8QONdXG0aemhAH8mf9w0RnUd3sB/fFNB/0+jUGlZaiXTil7HaTfDbe8Y1xrxIzBahV
4TbDmCCi8SBNYg+Pn8Cwf3WJtY2Lh47gBeJ+G5N4kWYv1eKpB59+TdGEYQ7P5zdCaLCrfeBcpQIR
YAtDC1ATogPSDo9VBT7Lh0aW7RR9ULAdgxgNrQ6L3MqxZ8krlvcl5jJ8pgcJZPzyeZZYpvBltYI4
OXpWEjklEil+dJNuRmgfeuE2eZ53UMf6hQxbKntYSQE5IyVlhILmwolGr7qP4hBe9Ojx9pCenj9U
DzJiyvbPP9V6gZzJulFKmjxxsIf966gGo32v2W/WHxcscDDWKNzlHFKYg1FjVVP2e4QuTJR6bHxn
7sf5xYgcCcgglu40C9TzvAcjQ9lS0MogGMfcHh4clrmdqWzueLEqPpZagfDeytErNUZVGXEAimZ5
9OjWgUvvncZr6WVb0qDqW4kViu62NSJnE6oeuaDtByKpt2bkdzrOuO5NxdXwKy1kHA6SPbQ5g3Dc
rkdfJsCU8intgrF/NiTXmYg8jEB2DwxemOAHHyRnDYwpZjN1yOpaTftkgxp8P0761q7nN7fUUi8d
nGE3ts0UJBDsvHBI9jaUNaY/6cZNflqYw7DyYWuMM5PEECJPSqBfpOKnwY3zeXpX78wYgumIknsF
2coEwighUs3fKfGYTFNYtM1rLG6bG5DmKTnas/yqHqAQr/tz89OUEWGJ/PAahNtohESRMy2CYcUE
Hp5IC8qsv8mV1Jv/ivMFQ546mB8gqXNSKETY58RtNOLq0wJrTL24+H7+bAs/zgpgWesqZFUp2kvt
HACRBsI5sM0aXeKF/UtpbrRC1nkmulmg02M7jo3aLgrYx2CdY05qMpoLQ8d7NfysB4nXFX399d/P
LaaOO9OOQgMvUqRvI6MNYvuJjbLOA9GWrVGWP19tWYHRrTAHObVf0gPGUUN1Y2o92lLxwn08/3GE
64GSCbokcBtjavsYKRvy0nEWmlw0+/p1uzUwWKHbEr8h/ChfIJ/R13o5VtjrrQqQEHTGjr1DkVji
aEXnxQatoKHDlEGJwC2jaEDjOFJcU0a9nyF6XKDH5IH+DT3SCsXhklSFbaFioGMderTNtY8RCkfn
v8ZpizauW/TEgD8e73AQunLr6DoL/mUCAsFcd2EekFsgHcZ6dlC/c8JD1bzihKZsh9Iq6LkCC6/M
879AvJH//gDCLRGC1bRBL8ySTo39xvFC8ly2b6OsFVpsdl8w3MUYqYlWai3WqWnoeMbdkD26stBF
eIhcdBAvQzYorXOuIJyMVu8pEjSF/mI1j1ZyUItD2W6oLHcpuuXtFRDvE/RyimiMdBiyiPpwPQzP
k7I32VuT701ZrVNfrhc+iFmDca7BLN2uQcsawr7Om7f2o+sl3kQ9Ent3V97r6+x7m6vNhnh7Q1bn
EZ7i1TK5h/pQ0iKbbCBT1HFnDA5VieQaFxILrhfHmT/NB+pGIyCM2y4P2gfFV24Uv95F1/amDupD
5W+8cRM9DkHxbF5Fgew9K8yAr34Ab/6F05B4VmAzzrv2GN2UL5BBYx59/K28t3fa/UUXoM/8WjY5
KTEgflS11Ec0tThA1fPYa1PUfK+c7qpmgZm+Z+RPG4PgYpxF8AgjSehO5ue+5sg1s25xxmNabhNd
9zvbOnRzs281Fxovo8eaSsIcI3RrjgHKLBMUfBgO5cIZg4VJEmYITcvEDw3VQ03ZwPQBU27D+mA5
XhL+Rqzs0fom1a/sNGDSibDFb/HHZv0LFuNeXUGK0/Ra0uMXROWNPqLDC8P/2yq7jqPrBvZFH0I8
eM+7UmFSAZ1K4LhzManu8u97MF0xlnQuHjWgFh5MVJrvkupOaS5j0kIwGfIWZepBxkECu2wmv1QM
PeP2AOs9NFY4D5E5TpEXBLAuCB5+VencopTiDpfdiO7Xol0IK8Hxt6tBIe/blBp4kOgDHqnOrOKX
gTOl74a/IeNaioGY8wGjCBoaj7e/o3OZNnqE6ZLmoTVeM/SGJeikPr9y0d21Bllc5+ob68U8sTyM
c99UNk58QZxbhEsY3D+PInKDaxTOlrNptntFxVLwzvDsGk1uMt4/2To4Ww1VLVcLDQhWej/kyBoC
w3S9WNagILogXWhaoulyOZh8sJE6allXDc19JWpeqO3eNZpyY5Dx0iHdrtXZ/vzGie586Nsiw4+y
G3jcOedeI+1auPOiWaCWXsHeauejkgqSC7/OFwgfao4oIZqDC2p/p+38xkSHuSzUFEijLPNA6CBF
qxGKvvxjs4yGMCpCrCNOvDr38g/lNrkcL6ttcYnHTXJlbwZcFfOG3MQX1uH8HgrL3ZhhQVcw1PIw
Zc9tooZEiVO3sI0y9nvXwwV1lV7Xw2N6SAO6Q4/CeTyhiXydWz5RZ6WQmItYkiP9A7WM6GcHrbHU
/VVUd1LebqF5fEHxCTvNnJwhSbCyMcqChM5XyRgH+jhIapdCA/kyev6GT/OEWnOIFfVWtxu18X7G
9Xd+04QrwfQPWGCWztvP3siVHyJaaPVRDoi2+mlA2SSNN0P07TyGqIEKo7BorUTtGvqWNuflc5I1
vVpD1m/w5617ZfrRRfS72cev0X31A4lH4wEUDPovCHctNfuFw+mQvp7/DYJ1Hv0ELiDsSBtZtVLl
vtpOoelNoaregUeK2oFZgJxgcx5NlGB1wG+xMItBBQ29ccfuXTWy0OhNrNjEwAFVcHlZVyGatzob
DTp+Naee0y1EJndGw7aYC5EcBUGQdgTP3S5qr9OUpA2+qrlVUJqCGGaP2Y/aN9RbVZFEwqLY4QiN
u2Va0KCnaQI0w3hgSDfMaNcFd7Edv3QGLnYk4K5C9hdX2xEod/FYk2uaGDTKMS9yW0UDgnzZ81L0
fDmCWGxqdTYiwylzJcO6FOU+tLatszHiKDDVayt8S5cRI8Vrfhm5gpEQTA2+ohN74blEVse3QfmX
XA7kpxp9m+onp5eR/Yj3nFg6vOpiYzylIhj88zoZ8du66iWHzmL/3Zq3Q+Xs8ubJnAMYHxhfpaT+
glPkoE0WlZCluH7CZmQkVpnFDjZ9ulB/m99qsL3u68Dy0yfwf11qh3ozqCB0lBwmgWPHM15FtsFG
fyCGLo6/Q0wVVig6zu64nTb69/Bd38zQ4MAcUPS7uCHb/NaFZR/ovez6FC7XAmkmGJyQ7OdvT3Uy
w1oDy78fjh41XggGzmX8ccK14WkDPlukNG2e2S1TVGPEFB1Oqm7s7PEnJganqPXHYjfS3fl9FIRq
nzLo/0BxJ6ZGk7FDSkDFWpApoDHdu8VusrfnUQR31hEK97Eg9bRMAwHFSXejfts6snlr4UdZ7diy
zNWpHKhV6lUCAKr7JHpO+m2cSCacRZHLwjqFcsjSbXxCXh7HjdIkPQiz7UTdgAHec7RNnv5AE3+i
XRkgtk+3ILSBmIWs7CM610fI3D2lGBnUO42Fqru+71AWz9HK8gPJwRl1iipoUKSTpbeEkNDA1sHC
BCK4kzeY5tIwM3oUSpClyaCnDpEXMNylYJ2aOo+CmkiZ8H4IzpuJ4CuCuvcLlF+n6tApXZgoi/mu
JHeq9kHGn+chBJfgEQQXfjZhNBv1CIjI8dXJa2yPHCKMGU+O5Lb97JvkXrFrJL5Y1/bMAvMGkIxq
eLK6+oKGC48UBOohgJAyI2DGR5O9Ee0Rr4maXOVjDIIg9N04nppCRt2KD+CvxLRsE0TkWQ9V0Bz+
TCDNgiZKr7eKu3GwbimUlc5vkMAhHP1sPkhJ+lizWvzsHvkMvdwO2ouLfslicx5G+B2gBImeQhfk
FXxuMzLjsMIcFNL2ZDZfEtfN3yOYIURHTSPGM8SCZ2cFATmTiglWKlnkqT+yoOGDM6wRc2ET4Kxg
yOocQkYJOrayx1K9LDLJ6k4NGX+/jcsJEBa4Cpc/X7mjvActYUjx97co1GJYD/OX6dZV387voaC7
EDDoOEWmBHU6YB3DLA0fVmlBsSFLHkBNMKRb1diNUUCiCJyqt9Yc1L1nu1fMr58s02O+r3tWBU5Q
iWsULZdgPhVhB4ZlTpqlWVxpdNKx3Lr8Xabkik3Kbup0Waf06bUInhP8g4lAgsIYn2VkWaHVGauR
hJs860nd9YH6kl+EV/a11fjMs6/zX4WfX2YXMu2nT7aO47MMZPAvqJheB9kp3yM9q2qnVCoc8EDI
HHsKntcfGtoNLzE2vHCdZgy9/GxhPk1Ko70vxwxSHXOuNUagJUl5h4FxxNhR1iaQP3FbEhjgRdkM
bdOjQ550eeGBFSDCEGydxk+h3bVPw1zi2xlq6uz1kMru48UwTtaDXm9QESGfiUnEY8OpuzwjJm1Q
aTcj5GYqu9tkbqb5tuI4Xq3nV1OTIUTPoAiBOEvWzng6W4fADTPUeAuh4HU6BqGFGfrMGxx+etDf
w++GV10pyFG7vnkAE/BbjxT1HpOrhXeR35o3YH6QhCOnPu4I//PyWx1PRQPFk+oCv8w+InIZJrs+
fLVySWglPBVfq/yMJ1YoGHTuqbVQ0TvtQwpOgAZaeNrzeRcgOhKY7wNhIEhBlmG14w/ZtWCorox+
GQKq7vTOuo5dY0fCGVd06TlKKLmgT+wGj1eEvosMNZyO7XJh1qy5KUgL4tZPFQzrT4ExpeBEMJ6p
kr1roeYnGci6mCziPg1GFlgMyy6aFUgJ8+7aAlVWXRHa+lWzD6Ggru16d2uicQHB3jx6tebZuawO
f/L1Fkxkn0H5CzeO7oLjnTUhvF3oLpbqGg+WHoDx3CPG4fzXE2KAdZFgRh3/4ysZUOQFj0KFdWUk
uqz1nd5X+6r6fR7kNG5dVrJCWS7DlR1S5jQZG4CSgEBYQztGWaYPdTjetqbja2GD7rWmCcxlVK2x
ntymkJHInRgp9wOWbVj9gBAzqFqZQ7WIpdMb5mr9cU5+gsV1r6IbsgGP+/kFn5xuDo4zUivXetCN
Y71FvGP9SzK+suSll6klnWZRP2EWdUsXfTtgUORWlce5VnZpixnr9NesOr9yfdpYNgpDbXTVmz/7
uvGSDvFeZyQXJpgPnDxNvKJuMWVDYupV46/K0a6TBBSfrJAUrE7Cq+Mfd1roJyyJQmz5AC6K5HJ2
dhjTd60WgQgNML1/fsfFdowIBB4Bil48hb3usjaMlq0oQJVaFaDwUcoDUmgSGk+h94HO5z8wnCGP
pjYguwYY2r+y6rabaTCZW3AP+1O5pzNqQe3mf1sYZ7kT08I67oGo5jNUiqPMcybNL9n451Tmyxn9
Whpns6B8qUytXXbQfk6tmxG5K4w/Sg6GcP/QVYTckAZmJ75H0bTTKtEw4OiHGTg30teB3kRgeGnD
73Oys2rmtUTGUSc8i+CDdiDQurDkca+JrOo6Aq0v+B5r69TObmhBOXM9dbLRIaEFOhipBIMt+Cr5
aceUTToKdMCx2gnypId41jadIhvnETqyFQr3lXLHbGw6YwNrq7oq2inbRkz5ZjPQmeh6d4/hJVlh
/bTwjIP8f68IXPAQ6uEgR+amAynR1+koP/EUryEojUqaE9ZgIeo9y8AL9pE0yAds9Pg9qkfPKm1J
wUH0Ddc/gbsJRyPOMhrjJ9g1Eg8xeI/Nh8kc75ru/vxpk20vB1QaoY7G8KL1CXq4yu5b/ckkkRyK
LrpA7lpy+Qpd5OpjLn++upUgKkBJVwOtrw+K9kybC2uI72fI1peYOzCcZPe/rY67L4p87mnSAC9r
x21uG3cVaaH2kW0SRm/GErxj5/FEnw2lyn+OBH8FOEzPbDvBkeg1hlzlU9N+1PavUTbfJQ4vVjjc
EWdOmNCqAA5z9fc2pdCioIVyCZXeKz3PoVA6jgSktSNY00F3v2F6/6GwKpVEprLV6sdfs03gmLVl
tY2y1Z2gQltrh3GcUUp8LDRS0KHDySClCVLXYyDwpee6O+EzxtV1Xm/H9F5DMwhpXmNZFV1ooCsk
7robFNst5hFIrv6CYhDo0Qp0TIHRuUsdLxqmv7EXkB0ipW2Bw5FvPDWVIWMJGK18VgMp0YIcb1g2
69cEk89/YZorKM6p0Sat1MoAVGVrjw4YqaiFbOJADo0lE4cTXgwrKM6ntFQpCp1hE83IvQelJPrX
ux+m00pWJD4FKxzOm1ATFfUhrnCBRxtjDgpwCOlxFRSwjTp7wjx1DqkbTFXLRvaEdr/C5bxKasdj
VzbYytpAgkd3Sy9rOvSxl8FQWDKXcjpguYSVuMyRM8DQC/7z2PjrvKwWmjhcs3T8nVWaj6anW2eM
DixP3sIiR8aw7T6opaHGXlzFjoqejzagdRig3PtqYvb1vCEteEd5jOPfw9fCe8UuKpAcLrteeKA5
9h3I2Wcx2VjlViFBhqnWdvgLTwNOVeT/kTtBbxRnUUqZWcZYNMBUS5DVF/bGLKdgrpoAV4pE8Er4
8l2DcWaV9UrpgHC3xVjJpdFfgsXNTK6GPCjtZxAeZu5rjALA+T09zSouIcdqgdxHxqOUYewPmKZ2
USS3OcNGVgGjj6nhkS4wy+tI3ad004K4il1Pzl4bLmL2YCebhlwmkaxrU3SCVz+Hl6dSFIhCGBl+
TmtF70Pa/iJ6uqvGUBLlLN6UNyXkoVUD7deLfCwX6mtVVBpJCRhqo62CFN+Qs/uL+GYNwbk9NzJI
iAkabCxtvda8bHH5z8qdlr6E6vfzH1F0S62hOCMlLlt0EHEwGohtxfl9q9TbygYNdeG3pWTnxB/o
a+c4G2VtHOYZenp8OCKwQQeRgoY8U/L2E4MsRMZIGSJtzy0oHV0naRWcurRFPwqNQekdXlZGIflE
ojuXgCvxHxhuLU2SlWE9t3jUF9dj80SU9q0tbsqMbYk6egi9TcmtK7w41ojcaZshZqRSBsSuAM1l
uXd/Y3HGzVR5F4kC9XO/6/+crBAHfBFQ+iRsRULv2IszxKGsG7GXasSuKFquFHvYZOwGY8TMkJQG
xA+YFRgXxVRZVERWgvUllbEZQdYZ52iIrho/rLZ9pHlaj9GQl9K9x8QqRDQ7zctkj0PxHq9+A3e2
o2LOkPHFggnx3PB9NB9AtJYz0JbjBgP5/tB4jnnbyqZGpLjcgYeIQ2wjyY9TiN4eVA/U/r4EM4i+
rcAeqmS5VxHQNpmBhsjg/PkXHpfVirnjUuS9QosJyBUy+2p/MZNx18teNEKXCeGNRTwUiVKegEQZ
wCyuRF3r67MagPUArybWvZ1fyGc8feKXVyBcYD+4DbPdkYFt1r0Nocmjv7rurlGucvOmT0BD+erq
u5bdOOVP5ko2UegMVtDcOVHq1FR65LZ8I2N+Z6neDOqTGGMJoBAl7r5SbFllRBTPIE9iQY4XhVHw
HB6fTKsqqBrNQFSqp6m/Zq5nJ9uwGrzMqL2O7eUj3Cdt5Z/5hX8R+du1d/SsnQog9vaO6RtS3k3p
jOG2MijihYUIs6UV6luyiROhfRrQbUH7JZqH+FQURnTSwhpRtiuVq3a8T8PrIjqctxyhdX5B8PX3
qCvqchlH8mvIo8R2FaDqK3HeklXwrUC5Fg5KtqzCQkm+Scsgmi7j+Pf5dYhjQBNyJYvMDTSYODNU
Iy1LFAcoWRp/w3/vtMbZN3a1oeEMjmNjN5D7AjUiBL4yPlThCVhBc857bvJ8RhMCoLWXaow9N+u9
IekOXfjNGN7bWqZ5JrT/Fd6y4aucTI3WAzr0y4a6886Yxx2YrTdVqXu5299GNdktFYMk04LzWyxb
Juen87EfDXWB1V3lRQl/9FkdQ15t2pbGu9bnm0GvZO9FoemgWP45m442W+6jdrGZu2zGzib6tNX1
Efpx1XUCBjDHmW+o9pxo036ELpdnT0mFOBsNsa7yqqbI/bXhriSysVDhaVnIdjV0N4GxmfM8JvrO
O2o5jT/X4y7Tu4cxllW7hDHpvxAQZT3+uH2FB+kcA8LovMG6weOFpjvHxDi1JCAVvYkR3Px3LXg7
HAMpnWXn7mgjxABpeYI2vQ6qJBgj2RexLCMs/oxfUNzthMn4MlGXz9izfU/uneGVabJL4f9xAF8g
nK0UhM3qxLAeO4+QzQNXOhpp0+wiCRlUCzYYENeX528rK6RJgbnjjxmBroIkHlanMvDXoqXBAE3U
vscEDiQFJrI36pvaloTgsi3lfACE6FKHKgAt9MBG83kY7ey2/xvPjelqcAnjX7RZHpuIUWT56Czf
rUCDxZhUO3MiG9Du+Ocdi9DkVzCcY6l1MjmUAAY9UF5X/WgwLxWV6Dyj2zAcJWBCs1+BcTGf5jK7
bCaA1VPhTdlN1Zv+FH1vy1niLmVAiztdeWkSaQ3eSABKijs67DQsykYNLpHUMIWGsFoP55KsChdA
SmEIqo38R5Q/xuq0zev28fw3EsOgWRpztihd8gRldVXGeTvDLWkY6BuMCXnsxxGMOf8bCucoirRq
IiTRG39k1l5z4ydIne1o4UqeycKbDGPk/yyGcxVdYmdR57jwsXj3z/HODIuNlewZnpN1FMyy16ts
7zgHASG4wexKwGEoMdb9Su89msh0/mRr4s4qkjWxS0ZsXY7MZNCgKYOC6z7/nmTOvGHolWwxxTQY
GyObu6fzX014fsHIbELZZBn/59bX1G3GiBsC2rpEdDxqTWCwwIh9VfubVCYYDP6F4lbZZihtFxWg
NKO7MqIJQkoPY14kENKOfvRNdjAi8AJWEBs5v0ThJ1zhci7KVNOxp6mC2AfW0YFpCO3T0ThIEpnC
b7hC4XyTkbpDaCyrc8A4nT1UYDjRwNzKrG3VuJso3p5flNBDreA4DzV3fedqORaVRZseieC+2hnt
u0k6yebJcDgXpWVD79QqlqWjej4uUWOdIPmcPnYllUWMS9Ry8hD+d00aHz5BDjIPEwdYbvycDIcY
XJIpiNY7fx5CL0sfZ/djVJ9KUzb1eDpSvjwRV8BcODUqJCNzDuCkdVBo/mhDN9o6IyRn4MrA7r3L
q8e+nzy3d4IBwWrVg4EDij66AV7q3n4YzfpuylVZZee8SUHd+vgWKphtgsQG35jRZ9ZfWs49K+ML
mr0Q8p42MlUs4cuEYOYcmiaYAeVbtQxtqqomgxNqMtWDKgB0yL3EaL1CO4zF9wkNFW78N/f551iN
hrcfgpTjBY5pqOtJA+eKBzrmpjYt+9Yav2sZ07E4w7LC4TyA0k2UtiGWZoOfoDjkCcjwfmbNPu/v
J22n6Yex+tV0z3V2j9EXSSghTpHhLaCicIqkB9/aZ3ZKzIYBxtWwjdVczt0GJNmeUd5U5YXLAmp7
HfqoIpCGnPcQi+c+PU3/4n5OJ65imCKa66lPsehZ070MXVrhKDuwwtTK19L4KcqpV1iWaYBwCjTQ
YxWVvSeIZDHRmEIwZeq2ZNpm0R/3tn8e16+VcefCLgp0KvcwG0ux8em6l7nJduc3T3xnfEFwUYZF
kq5V28UVldcN5AST8snG9X8eRHzivkC4uxcswY4ygUnZR40PItiHduEa0A2vxQcj4wNLL2Zlfx5S
ZhTcicsGNS86HZBFiD5kO7sIy+L9PIT4xvhaFXfYiBGiKcNBUFujHbhorouw3HXkOgGj1N8AfcUT
3DeCkM0Qmgbco2ljmjunka9DDKEfC690zNfzWEJXvPIg3O1uOrXOyGJyIC/KCLix0pcWFejO2XYR
RspkU57CPVzBcbc7qVoN6i+AiyBHltyYFSTabwtL4pqExrBC4e52iAISjF0BpU/ng2V1v7ROl0Tr
5xeCsuOxh89U6lZFAoikboIY0YmCfi7lLqu357+P8Lw6S81HU03T1Tm7Bo+2zmiOCUJ9LK8V07gm
ufpCGvvhPIzYma9wOOPGHEjahQb8gjG8opSlGRuabA0NMvbRRm0gFbUHq10MdlIJ7mLLJ858hcvZ
nz4pbdvNyyWClqqmry/C2fDweAzCYvSKtNnE7ve2iH9WlHlVbXtF117ZNjqhz/8O4edc/QzOLo1w
LoyBLRFJ1l1UZnXZoqkrH0dPV2RjyMuKzq2YM87ctaoBr6/G7/JfFgynoXjcVdt2eAX1qsQrSpZ1
wmzfpmFhLG/KqNlGceIDy5181ZR4RqETWe6uRSJ7eYsfHwbTHAm1BxhpPe3M9jc6dSoMOiZqYLHn
Rm0lp1t4u6zQuG/ldnbK7BHfSh3e9eaZ9Je6+zKEMRpwL4tqO7FOcgZlgNwXS9tQMctyWV5BvYj4
hXKtNbrXlDe5AUX5jSFLBwn919cKeVkcK47RBqxjgAElBTB2ulczZU/nDV7cKrLC4J4GYYt2n2LE
otRMvXeTwV2k/HoMqOp9oGXjTT3QW5W1PxtjQHu2OT+34XxQlu7VJrlNmoWhrcnopsyMEELJaGwd
phKs4C4EOiW/VBccmEVJbmncsxaR4mPrykKFqbmNhvjMQFm/jXaY2cKAU1ntdYrJyjq9iHu2M6sU
rJjwVHQ4oPVWlgQ6JQ/AXi1yXGj1Bk+l+RmKr6LOqILKaLd8k8kHTSxGOX37Df+HRjH7xmo9tvmm
/mC++qBcFTv2DOaX7F65mnbn90J0G6x/xGI4qx/BDLBxQPMelgg6y3HQtqXpE8OWOEMRClmZxvJB
VighRgUhYgrToOp8oaBulFXmTVRD1ffPV7PG4eIcCCXSito4yMji7o2w3NR264FfRwIj9k5gKbJV
VGcJz/2DcbkSbW1Yjk2eezJ7bR50DMOV0wYMLCqRzbOLr1IMXkPlBpymLl8figZ7DFMTlpKlfmZP
Xtld5agBQypijK+HAtJq1FMwOgM9uvP7KXQbK2DOOqLEVbISDRv+ZNc7qC3uBtk4kPA+WSHwRzHO
LYRS2MrRQQg8bysCGTx7X0Jy9vxShJck+P4ICJldqM7zpkGpO5YDTKOIH6x6k6DhQkVUam4w4yyB
Elr7CorbtXDUe7UoFqj6HmMqHmnV/5B2Xbty48r2iwRIlKjwqtDquHN+Eby3beWc9fV3ad97jlts
oQn7zsCYAQx0qchisVhhLQA0R5w7hCeFWTkwA4OBZs7VCeHRQGMAaOwTLgDt6kWF5mbgEGuyetEH
DCJbocQIExouAIjsh8cRlBki4HjqWyNxIrDglTLn5r9EZZ7dItjNgYyjaBRcSEtfUSRdnMYaRDaZ
GZ/ow3inPtU35M7biPZMLoY5/W7n/0ZQd91A1g71mVw2siFVnEXS9xtp2umaQ9E4G90R/9BK9hhx
ylqXQ69LJdk6A9g34w6BMO5K1zB9R/NNH/4f5JF36T4FoZoxma+imTyXGxATNyZYEwXOc2PtPJyr
S5bLjCKyHKoKzGcaNm10GEfklp/0ylalH9fXdbVweC6JOXk0NTLS+5BEogNccju2tiweKEVnibyt
1E0JftySl/Rdncg7l8ocQl3vfNIJWOHazE8TwvxHcEgMPmh0zOC1efYeDo1sgjnD/uE5Pq+6LfOM
iTmcZIpDsYvmgVEz2HhP6l30WtuaEzqowrk+NvQ+snUbxNI7+lDawkcD5Am3fitg3YVVbxE2GYAD
jXZb+b3aiPfCIeS9k9Zc+wxKoKkGASkKOyycgL40Btc17rDhxgsHQC/wrq01B3UeZTH7XmVpk4gj
Lo8MjN9ASBFS1+MOKqwmLM+lMPtcJTRUpvmKwtCvCI45LTkBLUIJfsoteikSAXwoTik+T6LbGxs6
is516744RoCtM77BR8FuYWCubXmM1LZR6jIGwnA+JhqIGaRw2sZ9KH2Q2BMCq1RKL3HToU05bvJi
+wCah1kwTFjifwBByXhJQAVlsdoDGTAL6C5vT5pX/m1kiB/+JjFCKhYgB2ynkZD0gq60wH0T4zh1
6AQ+KLWqB9MLtV/X1/DCUGZJCMUBGYGeJoOF5ZsKQ41FARCfUV7bIOFqNbcgJWejvvMai1cypACy
cwYGB3YIQHvYnRr8IJ1pZQB0NjrKCXB8O9nODki74ihOYIYK7MEy88xCtipz7R97S3f21zW9fCMx
H8FYa6gVFDCOI5BOXGCBgUnz0zh4dn0Kd/nOOAFu4Wf860jM+Law9Yfrstcs5lz/eRfOYnC0lQZV
XM38LOpoDsAlkvvtdQkryBjLJZ6DvTMRclnpnT7TMQIxBrGB8vERbdT3L7rXb6ctqDTvm2P4kd7n
T83N9InUoK9YkuNx7puVE7nY5/nvzz5Cm/wA2uEjAH1WRneRuJHkbZoec+BKX9f3sp2Z2c35FjgT
5SdiBrAAiNLM5B1dvOpgFp/p87F7EX7rWwVpaUe7uy5zdRfBRQlKAICBSd9DOWci42zIRn0Ez18g
AT+vNawi+LouYQWrCLt4JoLdxTAUM2GCiDyxpVu02KVuY4O29/YJBZgvTPH8Vp9eK1MwrMpJ3dLu
C1MHbuEm/FRv2kMkcFb54oWARVYx5q0Q4LoCzZpJK8R9pIF8WwYeubQn/T5TnFH/nYPc/q/VNkC4
AXRjUQLlxkXxiSZpO4aiAeONwnxjtH63zZDGnkwto6pva0agn0IxDW58I2hzu8rT8qbvk+QxnDDT
n6QkzV0PmLORWZZ4VhDVSx6JoJdHEg3gfiTKUG4BmQc2tbrva8+McuA1OWoYjgSoUCF9BA5KhCJ1
TdRdVNcoEQmJJGT2dTUvAnqAx2NeC1cViPGAnM14QW+Mfa+qoKUcU9EZ+8yzlLoWdn0zCywbwOeR
XnHp2PYukqd/3Yo+i9fBCo8mRzDFGszhTLW+D+MCsKghIeWm0WL/TR9l8Kp7FW+w4fJWgSjckaBP
QA4Rbn95OAcjkqIsAn5y0qIerUlZuAsKVcfrYeBhY6+Jws7N5CKGTPC+XIqKClnI+wQogMFY1Idc
V4t7AqSNT72Qw4FnpwQ/trzHwG6BAZuZnhWE9CwWyYBxjb4uSlxTVvZk3ObbwaaS3SZAzq/BfX5E
c94mPvqublMnceCIXjOX91ZaUXjxDYzjk+K26f0e39BFR0pfAu09zv5hURcymEUdY9Fvcx0ypuzW
a2+rYBOFj9cPw6UzXSwl++SrhqluhAkilGncSFKyHQNeanlNBPC1MQuEP+D+ZG5drVeyEhiRmSUA
tylUtbs+izlaXIbA3xMXf2QwDrtrgM/UCJBROkngRHfps34Ud8R3pL3hBqZUmKDL/vuVO1eLOcd1
qAUAO4PIZALdN3DNOk58e9lowijFmJiPp0suzBKqo/YYWKTC+5g+KLZqppveru3O0m+1fWaJvBml
+YfZ83WuGmN3QqKFxhAAFkW/T+7mzLWlv9MDuQstfac5qOFsjBfppTt5Fq/IuCpZIUAAQrZFwrD+
0o2otAPCfgnJag4YmOwpesuBIEMHGylGcfi8voMrFwHm2oDPNgN/I/BmhMG9GElbNYBSlm7Hbp7M
R3XWtwYVzCzu6KG7ntfUtuY0EHhjQAj1HBCjMg65jYLcKHKw1WUI/cRhn0Y/MC50XavLYAESzmTM
x/EsPKrkSsBbBjKEzAx/d/Wr6NtRwDtwF80cc+YXDz/MPoPZBs/npZSaNjqhypBZ3rO4Lx7V2SzI
ptSRTxg5jSMr27QQxSgU9MQbKgED5Gg6FNTITAMgfIxWYJiSeqioVU6cvNDKCuJo4f1IdUkBfgoT
biW0M9CXAvDUorgt5d6MlcjsUIQreFWYVUFAF0A1QcaYE5tE94laalnc4a2OSa4xlEwDUIQYkXNq
pXy4bhUrTlhELvE/or4zVGdW4RVKLk4NRI3zyH+d3Y5t8X5dxIpxwyJm2jGgAgIDivEapZIipisg
ou98O/XkuxgcjUHMK9es+XrkYsFtJWOiF4jHjONtkZHv/WRM0ei3aaeHMDkI0YtPdhRoziGqAOVh
Gixg+RTJHaAGrut4mbWcmYdk7BUg36iMYHxp92oDRKvAU1KL3CORg3rRUd85sRu7tRmM5rgx7gW8
Y4G03ZrPgutxzvbaLiJtKiJjhTc8YZ8+oiBoXRjT1JIw+ZC2OBLh5rqCa5uIkao56Yw6AYAvlvrR
luaeiqcFxlNfaL6fyD03VFx5M2INMeOGVw0QJC+4Q5SwG9VUUvE2pYe4tw0z23TmcB+epvsG6XRh
84Nsy+11vcjaWQO0IrCxdeBkX7S1TwXNG1pCsdSszXb/VjtNZKJNERAirZmat51NXOMGJbMbb1sB
oHyXWjEA6U3f8je8j7nMzH7zV/35mDnAPTuN8ZRWRVLjY5Bilwwz6kzPQpbbbO6iDZ6T4pv2AMpD
PJBC6+YnZyHm32Yud0yo/pHNeO4W3XcShg3Bl/AW/x73tuQ7pancte9f+s/JHbaoOmz7o6qZ0b3m
5rkpWVxEhVUjO/uE2czP1G9LJSqqeS9yx3iU3zoTyOQn6sLorMERTvfkvuD0W19m4GcyYDz5MC4P
dgWA7DIicdn3fjUD/jXuGFijU5+Q97qtaye+GzjCVtSbX+k6SJlm7kqWHGn047yaKqRg+3grpoI5
TdsQFFjX93HFFYDlBQUieEGE1uwFrNO8DIGXBxMCAhv61MHEzpHw7U0YS/keN8EliJAFbJLLNfPA
xVBnuQbY9ZvaDV6V3vSOpDXFx7v4LXD8aIuERG1eV2vtaCyEzuf4zDaIEKSZnkJob9Wuv5VMHfHv
tn4vXrUT2ZJbTFVXm+CUHqQZ25YjfLaCC43h25EWwCwi4r+lcM2YhsJLdUAt255bnqKdvvcVc/gk
dwgL77OX0Ka78D1+DR8jt3m/LnzFQYGqAKQBGuqzEM00v6Ul0HEDL0BsmJ284CYsT5rxuyccP7hi
NkDXBNYBPC+SPGwTrh6HWRNnaJTvyxdJeVOTv7d95BnkmRMMbSUXKYesbpsxBtQhBu1Ls49tkt1i
fuP6Sq3sEt4HMiwfI+Ey7sLlLpHEU9S+mx97aMdOn3rdzTWA6exE+uAB40cAavZ1gWveA+A28B9g
VkK3O9swGKbdKKjdmFlN4/YOACJ+GJ2dmZEJUGCbI2vFeyxkMQdAQE2KBBVkYdYlvUlP+s9go9rt
hmzIrRWYwUn8FHkvzRWrWMhkQiopL8EYJkFm7gQAks5xRQZ2DHcsn4KbxtzrPm9FeVrOD8GzYy6I
EsZsWtDYaLiAv8SX2Adi9bgbzdo2HO9RspJ9u+PhVs9qMMd7oSZjOH1NcmATzWoaj5NwQKNsr1py
k5oZivqcbZyv0Suy2MRKnnZUbQbIwjOsdgCtjzKjpTxmh8i+0+7rR59jN6sLink9WCkciMTmiAH0
lMGriXCWLRAfcd1EylOJYu91tS6kzDjuM7YFGhIBO8OSFImiJ054pKBo3MSmNNqFhFEMHo4GTwhj
G2WB0U1vgBDqgV8BrHJy5tY8R3Vh8jNU/MwojGc4eoDZR54o9YM6DMCKjwiMXbZ7v+CYwIVD/5YA
GUBJnyGpmWdk0xZF2BHAnAylYWelrRsPUmJY4udfbwkiABHPbSJpIlHm1Tw7SV5eFXhHFsDWx8xV
AsTLfnz1//pZAIBwBWP5kohdxwOE0UWo84BWGnC1s0C+l9vOppnkEp/jh1Y2fiGFLFUZk95rI2+W
Isc7TJK4Utjeylrt/v2KgUV25tXA1iPxsxTTDUjKqxP4q7uEHptBPmkaplDS9h/EUORvCboLgA3H
vofHSSBqRVEXr0GOiIBmphYUeDiP81lYuBlsDDhJcAuiPC3hxl3qQvIyQ0Yf5J/IZ2x6I3TyaXR7
X7XrJHoYhN4OAl7m++L6ZUQyl0Wko2V8aEDNnIYKWqGcsPjhe40dD8jYJRulcsHqdH3DLvw2ssYo
YCAMBc0B6I0YE9emXC1og4qqrgPBOcbTpC8wVVi46qQ/dF7KiZEumw1neYh4kdjCnB+yW8tFDTyQ
ZrdpD3oDtBS0iVOo+9RwczR+AY04fpGk+yB4M3xOZXxNS3TiKgpSGgieWDoHRFV9mFZItsrV3g/A
dw4A4vBQDyAF7DgZ3hXXhOoe4mwys1TgUbRUkGRxMpU5RCEI3qWyd2yTGNMW5e/WaO6v792aKIKA
EL3GuDVwOS1FKUBC7WkHa6FqJ2JYqWhPejA2x6IuBbPxx3/wVICNRn8j5qDVufS1lNcTvZa8mdK7
IqqDHjvQk6McyUvErO0VoSKiXCRjMEIw3/5nTtcw4hHWgxpiLsUaujV9zZyS7D6UAPifZ/lmzLK3
6+u4LlGedZtvd7aWV2pVl1Ql+G71jv5KRkDBKKU5+VVtRnq8qbmtSzx58/15pmE91E2uBZBXpOFv
MWisOhv2A7pt0A55r1a8eGnF9QNp9Y96zBEf8c4skxgLqmeg8RWeJJVuch7j4KoQvH7QKzTDWLFN
xFk+GuB7gw5DTHalfN901FGl+O/vfY2cSWFWzk/bKo7mXp4hIBux8t7apjzJ05cfVpxOiDV9UGyF
U8T9AjRNxtblCZOqUzTCE3cPSW9YviCYAc/5rtww332vEv5BxZy9+pVIGSsPdCxoXJfsQHwVw1cP
VdbMq+/L8EeqcfzFqjggfekyCGwxbsboNA4BCCiK+dacir0WHxP5Z9WXjvqr6P1dJz9eP1UrUaAm
a8CAB30dOj5Y5Sqxb8W6Q8QRG8aXAFgvOQs5L+I1B4jwTEbJB2HaRf8wDpGokBq+FmmcndhmdtuP
H6hpmKJBOffkmj0gStNQWppL/mxBK5RKvOE0tK1E2had9GYibueRq+tLdpm+xe14LoW5PFQlTDOj
hEJNoqQ/hYmqe2+QqztQ/4zPkjBpW1RXChddKwmS81p9iArUyjHcGRm3xOi7RzV1SN/trn/W2k5i
iQ3kboAVdzHT1ybFlCWBggSf4d3JoOUeyufrElY3UgahIxwI3lhs+zzxaWaM1SwhLONw34mpFLmD
LAHlICqo96MJOl6mdE3kzAuMmAdpPpjQ0gl7jSx7NYUTRq/+Wy++TrF8X6CebqHMsrmu3WWOg9lW
5uAZ4Ui9QIXxCOXWS3pXbR11snwamGpk56WMhlK35t2ja6cdXU24qkEjpZDvSOzslpFAVK1NoPID
k02zC0EoM4Xt0UuG7QhX5lXtPlYq+7qiPJHMmna5OnqZD5FVVZqNopqD/tV4duJ7Drous/Af/Bne
l1T7fmRe9PJ349gpvgB/1mSh22riWyYW+7xATVYjp2bEJHyqOdc1XLMacPTIko5QWbnA+wrKaaCR
gZBLQwFOmURw5mUHJUedRaecVNxqqIzzNvtPCMSfpYUSLYpp3sJCPZRu5LhHnz7k+pso/ho0zO/e
lN6jRjbcWZZVVweLgc0o6DZicRICtMtOsTK3xNWaKWXpXdXEG487Nb4WBSG7/h8xLCxCrY8+WKQg
Rqx8x29eBBQtynwTjJPZ8RBN1rYNXLXYL5TVQV7HPEt9KkgRAe0YIn+vA1+d/tMoe80SmiEwRyN2
rxvJ6nk/9y3MI8cHPAkatrBbaivfhNVDrmu5Gee9m1B/Q6bkfZjoW5XeYnKecyOu7R06IFCRQOCM
hBxjM1rZZZ4fwWbiksZmQZXfRpPuUVkuOZHY2p2AnjS46v+dUmNcWtjIWT4NIHZHX+N7XhqBKXOp
XFd3DXRSeETNM4zyrOyZB4vaIe3ReoScBabS+oSYeRThqgdEIxeY5KLnAh4ab32keOBGZqjEpSg9
F8apn9DOpzaNLu0bQ/aTE4LNYjAVpTdUN+iiWjfVnsQ3SkODBxKQ9qC3VcDJ01zqjOccPAu+BCkU
0D8vP4TKPe0LRAEWKhlOr4IoHFCfDTWz7OG6kV4ePwiapwsUdKxjEooRJHc9bWUDmX6vPmbqxwBA
/STb4qmKjjJOWDP/1DKRshQ163y2jyBZK2Qg82TAYQLGq+EYOcIoXgjBE8IYZEdpXYJCCZUrTNzU
n4bQmfFfk9UD1AC9TPCKyJeAq5Y5XaHeVSL4kjILEGu2mnTbVEs2ssBLkqyogtZrNArryCLIF4i1
o4RwoZCQb85q7QeGW13Ng//wC/+vY1q8O/7IYWFrZQG72MsoFKhgnAsKYVMLg+NRieMOV9UxMAX0
PRqJtqbl9gsGKjx1qWLVRq+zRD3XwUqWZ2bT8oD1VxwvaIsQqCJvh0wP2rqXovyywhlODMDEAO06
1R1ds+LopOehrVcfahFsdKm0Jl4P+WXYM5f78JJDEhejHyycgBrWQeSFkKonyVNRVS+kwC0tokdF
zGqTCgAA9w3n+vFd8RMSGsRUA1oCK4ot1HWyHyXtFOaWp4mbTv5Mxt6dEGuNlAfXepmThCH+kcRa
CSY//XoYIKnRn6lu4Ap1BI860/BBCUITp+SVDy7tBb4YbTJIuWvaZb8zDQvACqJWbcVV84yUAjBp
SWRn4DbmhKsr5gIJM0EoHD+cINs+iynrAGwCiOaQCdjLegSoU790vDr48Lr+5wQyHMz0WCTP7iRk
hK5vIG9ZmVORNLmHXnksa1CXptYjjLuJ+o1KXkNNd2rhTVM5N/aqxQBbEISxcxcSGwO1mtLSoY5z
S1LRTRXcD2S0Rc/sNE7cunYa0Pb5f3JQSliewQq8LYWnQjHMuyJz/aoYk+VFlkDfUuNVF3jIsZeB
COh5kXXCwZ/vMnbWVZuCPvArOMtSPRCMX8ogJL6+U5f2CPZYDCnP7nhuOWGcylAmSDS08F+FTkRz
FPvIiZvUAEFawaOqXlMGuWPM/H97E7YYjopaIiREQ+OzX5iU3nFDqu+omrmLqYGi1txcihENNtBp
K8zbVR581UDrzCw8etBS2myEMboNROE2rRW690h/lARhr+vVTiD5c1lOp4L4Pqi54Wvq4A41JAWx
bLfPSbMF2AgxfVHuNteXXSIwlItP1cHziJQAoiG2hbOvOjTRxUEOni11U0jpVgxmDm/RLjrDCgeM
P0aeJQ5f/kTtSPIto/vrnuK5VAAuQeTmkIlGV8fSlOvCQwUS5KxIRe/9TjP96gG0sX9/PUIIaBKB
hYGWC/ZcpklapsXowxHACXm16KpgQ1ey7fXV/C6KM6uJUUtC0TqFO+OC1aROlCkiBo7lsKEb4eZz
sNMfQDDCHHBZm+74Vb0+zE3v2eEY31Zm8vIoPAX74kOzuU2ml7E2VhVvZ7z8NIyYsGF9G5WZJMdQ
OB9iJ2uftXEeg2qG7QQ4lKpq7dGrHqSi0k3KZVRaOcvzwOm3dMRw4vz3Z6Eowu5SDilkK5HxYxwa
ayikQxLw2pxXzvFCDBvxZpVhqC3EhDkqTYl60wTh+/UNXbk/5uIkkhEYXKNgUltqopfFFKcC9lOt
HhTvpsveZDQ5Dg96/aYo29bjxIor2QhpIW92+2cr14xg3xvDKAdqu51XN/EIcHxrkOx+2ivChyGb
Tf8sdByrXUmIQuqcAJlZ51FOZrSMu8IoAYYJQtmt0Lj6vejkFnnHe0i1FTvddW789fP6uq5ZyLlE
Rk8ZMVVaoM0QxRnxdpTz/eDT21B4+3spKNyhQRe9zpdkpWppzOAnaQ5coNGpmnFXVrWNITLOXbzm
Q2EgEo49eo6BY8jYe2P08QA+ROzabXAcNt0OrEaW9JEfla/I5A63rHjshTTG7EFq7yFLDmnNBjOd
W9UFgcQBSJs3CSiI0Q58fQ3XDplsoJMarNYS2gAY79xHelAinschA2ipXP/C2/W6gMsuTfj/cwmz
vmc2r2GeuhVTSACwXLJr3kADbooorZqqZMdHUN1YP5A//vt6HTpacOMQNNPitXSR94swTN2pNXyU
+CTRvUycPuHZxWzF7G2ApgaM+M0PWoS+S808WhGvGvrcynbRrX56Un+SnXEz7cXH2LZ0dIphLg7Q
L/b1BV07W2guBIW8iO5CuC5GajwGORoA4LPSys4q1fRlZDg0XuAwm9mlcn/EzIZztm1j5mtBVXRw
Grf5aHY2IsLc0p/QXxu72ik/Vi/qtjwYu4njOr7BY64JZk4bLTBKU6TQj7gfAwRPt9mxh9fayI/I
//0qjiV6/zpQXaLZFpXzV2HvtK2V/Bjt0aQ7biv82hVxvtzMcVSFSPVFFZ/T1A7dao9g3jmoduGQ
xyK3683gGLayLY/hbfxqAQbm+l6vCkcTGAqbsDK8IJeb4Kt6biDlidOpHlqAVNQY9+7v48DOvF8g
vk151HArFo1uMwxM4eEIKh42qki6qlKMuCksORTR+QgkxB4ozXehHppJFGL0gXMhrtiyhpEctHgA
OQtjObP+Z0YmjB0tkQ3KrTjrJrPRvzofoapM/noWEjcfkrnoQZufBUjHL+VkslR4QSjOz+9K2E89
aVCSpjwEv0voCIhBTwfqDFhARNzM0YwCzVdTQOJZ6rP+oR0bW0NXpXdnhCY6ZAertac9iAqEk74B
/8d1S1lzswvZzHkto2os2xKyiVX/Tl+qY3InH9LS1GGkRmFNFtDIimfx9brY+VeZw7qQyhxWPS5h
MAmk1ulh6F7yvwYVnlcUeRNYPygSRLZHkQD2MUc7Tm4JlVOIKBDFaCd5kuojmGGI74684cS1WGkh
kLmtijg2mqKYBR5UtzlKR+0wHQxH+FXbo40JOPFQb68v4coZR6ZmzkAh8TXjJyxtEz2FtG9E2KaW
D/vWGFxU/0zV+C1rn3hnmp6kucAo5HB1rO4bsDs1VKRFvMmYfeu7rOxjPEsRwjdbze9vUkGxr+u1
apFQSwK+BvYPZOhLxZRWDnKKfwH7i4505SUJd6F4apDFaK2qeyajqU93BA/C8EfSuh2CK17ku6bl
+RcwmxlTEEWVmYIz4U3CXtZacquU9Ou6npc+k6D3Dw4aEDyoGMnzR5z5sFSgnj/UdYEhl0cxQzF6
3wyHRrkVxL2i/Loua7aF5XFbymK2DS0LQp7O/nlsf2iKC9SmaDhK4cmIOJs3/9BSELo0zvaO8WSV
HEuwDuxdFIuOgP/WXbPTQt79thJkfPeCYEwS3ZMIo5ZrNxoAnxqM2S/jFdkUuiUBBFgKb8s858Qz
awrNXSf/J+k7i3m2S7SawjBIpRx4otM2VYC/YETO1KsP1zdoTSEAJKFlAPV0FNyYdUtiqYxalJuA
vZveaob/OVThSUTqBSN/nLvzEoVvDgtQuUf1UMO8Cbt4aLJPE9mHLBIVh7b176ZRdbUqNZG+2MRx
sxXlOwnT6UlJTGO4IdIjmI2Ofk2BCPhZxTFH9bXH7fn3sEvclMhy1y2+Z6Lea95JjlJJe1Ak7qM4
uKtRSEjQkK8hXYFehMAcsr8+h1gODA7hFQ+WZ3ATLG2p78gY9w265LPaMFPQPEgW8JsSElqpgEf9
+/WNXrEnIEcjpY3GZglje4xzm1S/GtMCxBKgfAdetjsmP6aO46R5Mhj3Rb08TgwvKAC+m5mT52aj
b5dciKQVk11owpisXxaDKNXQRAG7W/MuYMI7sYPIub5ePCmMlwwKAzBsLXRRwRzvo2tuh/wj0Z+u
S1lfMbzRZcD0oB7B+BNdmiINZliA/xCgGsrWwADtaHBcyboq/xVCmdw8CNx7carmrRdOmXKbatto
tIaW04Rwea3AnJHAxgg5cHjQU7s05zLTvGjQsGBCLSNibXaFXB5bpUjMLiFWL3ku6XlVh7XlmysA
mI5DmIxJsqXMJNLiykizAn3s4LwYjSP4FVyjkZ6v79K818zloiOswwyjPvdAs+3rwBSOQM9SwhZU
chonTPF6n9clXN6Tc5oLERVA64D5wxYTgYnakkrGu0LTw9TuuwA4pUGfOlKdffRj1MIv+inH/11u
2PJuns3m7IaZi6atkuNuboAuoN9E3rPhYcz/Ic+OA+G04q8U3dCTBmQhFGgNpNWV+WPOhBkiRvxj
jFZYQajv8uBVlKkVpaOlasDMy+COhi/RTx49gxfVXa4sAcAxAe0kwkZ02zLeYkK40xgK4uMmtDvj
XZEdr933ykcrWn+7hRCENPs8RAm3zt5uoSfJbZ0jQi3at0F996qd375UZD/xQKgurXEhiL22QFOi
0aRHZCBVb8BOMIfBva7JZYBPkFxDyxQSbCpeu/OpO9urWummvGlUxFLDYWru1MwVgtfK35b9oSAH
v+bMTqzt0Lk4xg5zP4vaqoW4pBitUdxNY+V64YcwbJuI12u7KgtQD2j6R+cwGmCWqnUTkNPhT3Dl
iy+NHm0VOt3ncuUIVWuiXYUT8Vy6pxkbcu6L18E+BHCtpTQqNJGfz/dh36empm16/dkrnOubdenc
ZxmYvgJQqApyN+YGyaNOH/M+RjSf/6LjQxkdgxGtkJzU4ZrNYSAKzz6Ev+i0YNZNkso0k7VZinSv
eiHS/vfX1Vh1Rrg68LL79n/MUrViWWRFGRVWntlq8Uy8L1+5laNdCpDXmJdrXbMCnNH/CmOcEXK7
QdsmuBB1UNKF8Y5q95QWpibuQCN/Xa81E8DwAh4naIdHypXZnqbX+4wGWLiyBDpG5RoxekPAL/gP
UoDkDhQXRJK4q5aGFlQ5RZU2KSxDuB+NwiTGg6Dx0H3XLA2Byn+FMKuml70ATwshEw5nvqvDr0na
i8Dwvq7L6uagpI+oGCnjC0zVrChqLQ4hRo/pIQVCyxZZhdpU/OFDA5ER8b2Uc4RWJVJUJeHuRIwt
MHsU0CCjooe7yUt/zoFErVmlsBP6wm5y97pyq2v4X1FoP1luVKeACT3Kc5jDuK3jXQmcS4MieOWI
WbW6MzHMcVU9WrZtDzFe4qjdexs8FOHLdU1WFw11EvDbopBw0YZtRIFSoYm+sAi576JNQ/ei4aFX
01J5Dd+rysD5iJgwgndg53EDYDn1cgpl+jrcFKNsRejdH5SRc1JXt+ZMzPz3Z7dekva6Gs1i4jZF
8hh0D84oqWaT/4MrnYdL/6POvLBncoDXlxAphpyKBju51V+yyf+X7T8TwZxUJI/9DAUXkAj6DxQ8
KMbtxKPAXt/+P1owZ6ZWjLaksyHXUrwJgGgfu6UPsEolNztu4mA212X8jUj1jz7sAwbQon1dKhDW
gmDbpP08oje5Av1QW91utNTpJsUu1TYC2nO3jSfj/7eebNSgapihLn3Ih3ttyVOnuF7Ny/hzrJyS
pVmQBDhUegEZSWXYWgBWG8PUeD25HBtnJ25KNe/Bcwkhkm8bjdPpG0r2Gi91tWobmPdFjx1yPbo6
//2ZhcviGATSACl98eVlZjk6XXKfeL6lAcD5uhdaydnCNM5kMaYeSH04aB1kEVfatPvwJr/Jn1Hl
2mqTCaAZBA937Vb761f7LBTDUVgsXFAs4G2gaDUeOQXcq/gkAyAz/aXxPPj83RcmfyZiDsjO1jDy
k0bWPeilZi969jlIP2LD6vRHvScmeoM5q7h6wM6kzcZ5Js0LmkRKSihUAJ4KxKrv2aEytZPghrbh
yj+vS1s3jz+rxzharQP/S6/gNV2BjU4OWzsYBoBsmD39zOnLdVmX8HJ4+p1vFWOLcTPUtA4gTBy3
qSNa4YtigRvjpttX23hnPAum4XROsxdc2a0eQrvghWa8jWQMtPb9TixzLG1Qgcw2t7rhlaJrV5Lf
SXHqyD+8OM7VZdwy2v/iylcgjWTKJ2h9QhPNT5uxknbX13Uld7pY1+/GszOLwSBUgYZCrGvjO5X3
RDNbQyfSFG2H1s7VbR7iDg22nqhxDvyswJVzwTZ+TtIQ0ALoHJZXxS+dEe2M4Yl6s0yM2xsR0Mgi
q6z+5XHy53jIjG/OvakO/BhC277apABTK3twhbukfu/T3Ez7r+uLu3oVnImTl6cRc1hlLM7uJWsx
qASgi6opHhJB42jFW0rGxRChoVOXQoyYf9HIKpq91nrIPm6D3hpBtMZ7P/DUYpyMnxSBMMiQ540n
rbnJ8ydSPl5fufmTr1kH41q6MilKYxYx9Y/D+CmP/5LGOjtfF13BuuerUQcB+tC8TKPwIBmRWUjB
PfAznVGlhzC7LRLMIqYq78RdNlAuTxzjSCqdlGIUQjSYwl7ktD1GiX8AyeQ+UcJ9ZYjWVIB6VQI7
+CBy7od1H4YoX8PzaIY5WxpkBuyOVm5wGUWCYiXilxgFbpBOG2ny7LSKToAT4eSEVm0FAQRGlfBo
BmTIUqKMUcQhieYTR3tHLXsnkxSgn/Ha8VevojMxzMFWWr0yIhBvIznYbVJdt6o+vO1CYqfyr8Dg
weSsFMCwhWeVV0YrFS+/UEmRcfU+hMCcaSvUXXmqtj7Qcna4gfbRYErv0Y5XsV/dvzO5jJpq1cgd
ECcQ9jXgSk1jy2jdBnQD4mSS/DXuOD56fVX/FJgZ/6XQaKqJgAKzl78I6OfVX+vcnuqNzLtb18LZ
OSMPFABVAwQFc7lTtabthOYrC/QSu0EwDjj891Glnrog4JnKmrc8l8UcP7AmZLmY4QwMJHYD3+7z
+3baIqvjGIIJ3jRgAOv/sI7nIudPOrtjldQvyiSEenXyO9UPQvt7aJ4BlmsFgmxfd5xrFjI/rkEC
gs5UVAiXoqq2a4YE+FrWFG80UOiGH0Q/emO+IcTWfS4k35ovOxfHGGSaa3LR1hBXIiLSlF0SEFPQ
73V0GU3GUc+dIv3VqipHyVVzOVOStcsgabRCnrcQHU2D24HvO0bDisqDhFxzXufaMRernGOGu0Ee
y8r7j1i0/oe061qOI1eyX1QR5c1rmXZskk1P8aVCpKTy3qK+fg+0d0fVaGwjRjdmJuaBEZ2VQGYC
SHOOHJ8yEYQ376Cj+XnVBqY2hYY83y8UiYbIbBAfK7u6G+vwEfcFwYEjEsGcpWUl1XbVt7ge1OER
lZ2g6UQPRe5C0UlUgD9TDBnGwJFUapLSRqDQMLasxN86eXZTEeoq13H/EXIxmYREWGJ3M4KfRcjH
0j8nTrxPkPCdPzvpKU2UBxvgnde9ibt06ERFUddyMMrC7E6Jlgo77LA7GflonZP+71EsUExb/T6z
NbNcklGiF8TENHe2k9zHGToGokoKQvI3uQ+g7troUUAvoqYxe2TGYwLqMeiCym/uRpZUuMnQH5pY
VD/jG8M/gnQmNTpYc65mBgTJNZ4U9dv/zgsLQio3BPzRhr1XyLg3WQleuujAByJA7trA3Rlekljw
DOM0VmKHAIqNbUJjDeAczv0TFW/VHtGO7JEH4H2ED/78VR0AtR9uin35Fm3nQ7klfrYP3fwg6gDm
xvKVbCa4llLXE1uDjoRO00R57MVFgsGyOfEWB2xSWb6b8Fq6bvKcMx9ohpiOBsQ/2vIv+ohKI40x
34aO6xzsp74+AroL3NO+5LxeF8R7eaKDHQBAaL+lGBmMc2VAAjML00EnoDEEOim2Ur5swgyD7O2y
6/WfaAq4M5BAS4l5TA1RlwNPT7RLodeYwkrg/+cbay7yVE4peob0oQHnZK6WgTJljjtkVe/BiUpf
jgEZeV1nTjzBQBqmA9CBgGlEtvlRLYeShAqKY3kITh5n+ZwIoBeuy+A0koJ0QqNZ6d/kRmyafVyM
ziwGVKpMop+KEW1ZkNbf2IpdHiRC8LyepRPyUtaNgvuHpy7pd6BroIHLHDM3iUCelf57AD/6SWhm
BzoQwBHYQnRNVLmYNeg9Gl9G85RFmQ+iJ6w6cUPTEQRtTvw5E8YE1QFlYLk2IWyOZrQuSQbxVLM1
XCkmn9eXmnMiQRIqqXjZ4PHB+krZIFnhdLjXtWQE+XKM63+eJJKvEGnfkMTYtLmjuACM+9nP1fN1
2TwtgeUEwgVU13B3YAJTGYd2j5Z1BEAr3pcRsIFKJOAG0XyuSIzKuIlSkqWyoCK6dVu1cPUhcifR
oCYnmJ+tI3Wb1f24L8kATEdUCqXF9DALbKl+3WuBXgXX14zn8+v9osqu5JAUicquRqkrIt2dhVtj
A/arGiTJwDWfqt11YTzjMAAJTOHaMN3Ehre4X1o1n6HU0HWj12gqQEBlc36tSsy/yXr5I8nBAFK1
Y/oit0MheHfzlhTdjDbG7zBUDXTuc1X7GXDmwyyhHXSpWzdd2v5k9F3jJ0bZecsyDwJ5vKUFgIJB
IcBAIsACGgC7YIz0DNo2AKMYh1enOwzhToluk17g3rwOJEyg/iOKRTRYqkIHrSvimz4boasYo0eq
+N3oTS9Tw7dsaPdoe/0itbonYPW9vqm/C/BMYkpZux3z9FgyZ4ki+vQw7ou7/L7fOG4SnMoNIEkX
cC7SMkX3Od4CQMsQoctyrgNnohkvKUezMRNaPDPISVE9dXzou0c1OxZIiCsCTxHJYswnHxtlmTvI
iubpWA6m24IMWB+7ALzFp3R0wME6CvaVJ3K9rWxA6wwk2JFbRDdZehoVIKYYyr1UtV42Yv5wsSx3
NKTT9e3keQmluQIamIIcFftattPGrifabjHgX1P2pPBFSTKfRIKDgqvbSg4TRVHF78ZUgxw7nPzb
0q9KzLs3Jynb2Opf7Bxu97QLHIi5aKQ/d3xLGrJBMxCwKwBfR6DnBABr0/t9q+wM/cYWjSJyNaP3
YqwhTkK2WS406sL4XSIc5CjZNYupACUP3V6kqMidUziKnyfhbZ1P/x7WAVPwGHoADjHerBedMlqD
CciE4HJcF/cU0REEfbKI5Zir3EoG/fvqvEizUgvlCTLm1Prsx+wmTBIPL8InXKD3GFJ0NUkExM8T
aYF3Dfi7wOG+wCgai6mxF9qtPCnPkuQ50Tdr2XfTc4FyoTBZxDui1sKYiFINahhbSEWjnpt68fhD
T8Ehhv5lWfueI68ZTjeJ8a87y1XaLI8LE/6HvWPMs46TUU6pSElZNrPSH5Y+2QyTubnu2JzJachR
6WCfjIUE1Pz51i0YSOsaeglUp8E1tacoQdEV6HQYh/DV6AslLmSmJNBgFqJZPN6iggSANo7CHQx2
NjeVU4yC1PB1GdVQyU6CInmRrdfBPETWY6klaK0RXAV5Uew3LB4G/yi9Dv2ilZkCqSBKOwlrqsTq
0wCwi6FQgxhDhm0pwkriHr4rWWwHhz3HaH3KsK569iMGh0MBLhwPDXovbZQESVnt1X5uXLl27m05
er2+qbw7BgXKRosk4NwvqvUooo3dIOPgd3JgXYSPDq5UaJZzHSnyylrQ3SMSxvjGsmBKM1UgbNS+
nGir9rmfp29NE8wYZ7yuF/0p9k6x1os5bNulA6gL7ckclVc1/w4Mo7/4fZTp0QmMQTHMBp3bRyT3
kV07+P3OKZ6UePxUC8n/GxEO2ohAwgYQbkZELbeaU6FoBwx6PwfitlzHgusBB/oGHg2emf+IYAEn
y1ou5DzD5d26rxKvPs77bEtOzbu+MZ9M93v9C2zhQRV0gb2VJlfbX1eQ7sHFHqGlmJJrW0DfYeNJ
2I9TilywZ8m9Z5Qu6cBcIZoa5AV/2rf8f0KYawJwzDW7pWUQzXlprH2R++piYyhZ84r5vvi6rhHX
6lbCmJssoDRJY5QQps6SqwDTTxddIrlrBhBptEwD4+li9hmFlsRSW2Q3SYT+O8D9gLktf1HSTmDf
fDkAXEBQAJw0uzcgV4Sz0i45246nrYwXTpBh8MJXlE6UHePukAPCBQRaXBrZZ44kpxnY6RD+HLkN
evOQgveq/2nUmSuXz1r4+O+3iMJ9YdwBDR8X2ELOAoqK0oLJ1+StR5JTEiXBeCv3RwDGIM8jA2kW
u8htCDCn7xaUaKxDLDoyRDIYz4lR5e7KFDKIuXHSB824w0X7+jrxDsC1Gozf1PIgowoFEdN4jFMA
3+7rwRcSsIkUYRzGAIuQOmiQ0mrdpmiyDUFnX9G3wXVleAfP6oXJvtwtSXX6iQYByoFuu7HzkqG5
ODO/SufXdUlchf6kkCy6rKt7Q+oMBFdrSKrBJmSCCaIwt3knuPBx05Frfai+KykNhiNJPWHZxmR5
MGzJnRoc27Him3r2Miq9Hzs9No6g9gtUoKUf3bJKNnme3rXNLPoY0eIyN/pczrtSp8/34SDdO0/k
ARzOYLF1Fct1tvI+3BG/DNIX+03Ebc+9OK2XgTkhiW50Kkmx2LPtvE6Y0U2WapMD8NSq4sOs6y6C
1xb4EH5c/EUL4lnigPHyGG/cQafNolFyO8+fDQATpwAAbAQQJ8rTdZv6f/S0kfcC/i0opBg926av
SEP7HTHBFe5zohUb5AzfrSLap82My1o+GF5mpE+V4xzkhtSb6x/AidB4POH1hDMaM2rsg3S0w1ir
0GflRVUM7/yaKhvW5RnTVh8PqSi48dSFON1E2wJS+qhlnFt33kypY6ZIH9ixdKcruBcbPXJeideD
3SwDDCWJzYDInSuTfHddU477nolm3DfX275rc2haKLdpHeTNaxkKRHDcBSLQHavRDDOGks61K806
TGbaAJI2D+ngS3qQOptwvOk1QT8WVxew9mK2BtlK0AifCxpJphiJhWUczZ1KDnH1mk7P15eLq8tK
BL0PreJQLplRFiYQUSZBOtw2gAQFXu4y7xwR4QJdeOauiMG+P8owq7a0kzNnNTYGwOtFciD1xxxh
tOLzuj7UkS6kYMSKjoKDupV9SeeFNHZqtuDQy11ldB2v/K4Fw1EFYe51Qby3NDDI8GoHJi+Gc3/j
Jq1WLkNxOq9iatu35BA9krsEgIPSPtoXkDaIKq6ce+la2kVDKnjg5ViSUSM7xtv0WB/jTXJrH+VN
tF22xrYV0otyBWJs36E8lug+YiKWlZVtvFhQzwGD6oj6Yz8J3Ihn3dig/0i46FzI1MSZlQESZOk0
ghe72xeh/zebtJLBXLNssItM4QgZ5GHxyV0OPJAfbUA24Vv8IW3+4r2nAvcOAEoIfhRx6NyZgPan
jgstTUeFPKNJEtj8uIYX7nWleI60ksJm+q160OR6wgNi0N973SvUmzJ965ftdSm8E2MthVk5PSwG
KU6gS+oAQx0sVfNNnm6k9M3R7srl4bownilQlA5kuimVAetL9gCYDEAXoYuctCpybmbnTksdBxYG
WgWrxxNlw5wVCzTFQMJjAl6tKQuIxxCGqmyH8i5JPwZR5zFvg2yHTo1hml7DwO25GdTzNOpdOaJ/
Jf7Rar5dbpIOM8YisBZeqwDggv6RwxpChPlhdUJbG7ACA2UTBWBZQlLtZIRBHkjHWtT2w125lTjG
IuosKYwW4JWe3KEVvgboKm0TF3isSAjzaHF6Z1STlp5H01Mz7fLuMY32/97Y1svGnKpSlUd2gi5n
TzGgALjX1Bhz+gIz44VPXPXQ+gWDRl8xs1jSgIc9bn203D753dLfEFnUusTzUBTZkb6ygEKPOHpu
ZoYdj4UKJHEvBtlOHc5eRaqtisxtWjkPevxpa4Vg5XiXBUBG07knoFGAyOFcYo+H3hTRlEIzA+l+
bFxVejTyyDWI5CaGAHBDJIyxhEZDa1uu0BdfGVRAFCTzoVvSDVFAu7O5bhF0pdhLw1ovxiJoK6Cd
0QnZcb6TAbcN3l83TIOi8Luwx2TLScKT87pIrp2vlpIJQ+2UjWTs8f5D3+0hK533Htgbmh6L+l54
RgIbQREKbGVobWeMZFzwFI8kHBYzeqPV7LWxXh20mlt7JdmFseAhyV/Hf4SxyciqL0hlqRBWR/Fu
ykvM6g87cPPuE710JWv5qZrz4NqSLJou5EbcP1qyCCaxnE5mSidYKsN2h+ZljlR3SW5BGyPYtku6
eQDbrtZTZaxyCBF0R6ripNbfY0VvXbkzcJaQo1XPQSFrfirH97P9TTZDv7JfcGXbpp3q9uZ0r9bP
0ayjpJq4Mihx/8KgKKkBUIWRh7toytSkXKst+OZsRruuw70g6X81Syu4FnC9EnWG33QulOD3PAQo
HRrtNQkntSk/d+FTr9235Xb5EZG3v1BHxZVXobD+F4gMk9OMUrMgfmap7hGkPxwLk+uiViWuNqvL
AKNNk3dF3OiQIpvZA77Fy8CCGwLzrMirQ6+I7h78E3slj7GepVoWhDKcbkjiqG4r/1jij2ouPHnQ
N6h63i4KeQ7lF6trPTMXsRtxnWQlnIly2SyNeRbh3FPl/MY2ngo5fMriZWNhZf/95oHCBW9/uIoM
dJBzI4mKbAi1CpKq5gi2srY5xiLOMm6KAQ2ZsEQKOQ1A43MZSY2yhzXLOP3sr4E8R7HlgsUME9p3
AwxmTl01fbKBt3ldM96xvpZKDWr16MMDlzggaESEA+1WL3smpiOuS+DsEhRCigjt4eBOZxukGrQv
YJPgYPqsvmQaHl+JFn0Os4F2pV7Ux8axfzRc6gqKEQreLeyBPhFzMfsO9i8pP4CD4Jsk20sl8W2j
c7X067pmnCPvTBhj/NYcKWo8QViRH4a5xSHkTpOgPsldvZVCjI2D1HHRlBGpmQVNXov6ouaPGWbZ
Y+nHdV04J92ZLszxPXWS3NX410vU+QVQARurR7+R0/it7dySQXsBoVJgpiLzEy0h/fvK/MxFdcaJ
TlhJKPKaaCgpKsC576/rxrHxM90Yz7LtIVLqFrpFgEEp7MadelFfnEgPxo0GNGzNeQQ90lm7wWwO
poscKJIL4hDn8nOmCf37arli8G9WoB6HNVhbsz/a/WZuVepPrtEXXiWwCf66Aa0WOJC4H7PPvr5Q
CsPpENwBV+tr3U2TiHJOvyfvmYsqFPpHBPviy2sJrMoSRBgbbYcx1kD3Zre8kV7u5PvpW3RE3/Iz
+m9u620YZK2bfRa/MtFH8A6xs49gDk2ja206AoLMUOwOk+sox9nwgDllgXoFiASD4qE0a4rE8kPV
H9WZ6BE7o9QrFaTmjeF22kNRfKvn4xjPbjQLgohgIy0miGhzknUNTbuaINyayNaWRE93fvj4owz9
gpVhVhIgHTqHSsBLw57cOQqmdFtklBANtC/bScSUIlo9JnAkKGPOSwGBILrAVOuynJIp84bEnzQB
1x/ftf+oxkSPqXSKtpAhCaQvZEBWT3FLRZQNpbWZa37AxI9GL7t+SHDBkAm6o30zeWvLjx4ztKP8
UaY+Ud1RhBonMgomlmBMExMMOvTSlNch/BCmKkXrxtyZlGYEr9GM3++d+LtEph2wHt/62thcD+68
e9Pae22m7NWDMG5cqHHXkY6hxA1Q4roIKLwA845vzdIv1YMhgvTjVTvPhDIhI2nNuRhMBGIYur1P
Arl2lV15k+wRP3TVa+6lZ8SQsvevK8u9DQCqHOj5Bpq9L3PYuPmEKsTaU+QnhbzXkKiwpC8LQ0PX
JXGt4x9JF7nsVknkYhggibSYuGwrt+7+xq9WEpglrCxrGGR6lrXAXLfGL5CuRiI0N+55uZLBxli7
6dJWg20Y+TfTeVqiO7QmzDlw8zV0kAuWjBuSVPTjWphyMBy2RqhIk9Vg9B0+rD5oCqo1tj93xyG5
r6Xt9c3hutZKEhOSZCcdhkyn0aJ7lA3fkAOnFkUkvgH80YaJSFqkJtUyQZtJwoVpDCStD0o1UOre
bRSvaicwN4IZBO2Wr1nxrRq9aRB4tugLmAAFAFfcrXto2VU/TO0Lcy/XV5F7Zq1WkQlQS+4sYTFT
DcvXaHp0FBD6ncIBjusXHdjjatFIg8BAHCZSGUsZ6iU40r0IQJaW7IWLN0XATYy9UVSKEolinMuc
WnUZFGqLSBxJdL/eE/I+ZgdDhFMtksS4mIY5usnqqKRJQqP0TSLFntK55vw1i5oruNEPcP/olwaC
MBKA55eMZiGAAKflAdl+k3rQ2ZmfvXHqRO3gXO9aiWG9S03yLqKZmsX6jqm1cTqaoSCvyDXtlQjG
uXp7VAaLvhwn+ynufxF9f920RSowrmOkjQngdqyUWoJAKot8edhq4a//TgjjP0Rv7Gmk66SOJog/
C4BybLXo/b8Swp7uRdumPfIEeJfiHErVYJEM10pEGJaC9WLTBu2opXpH01iK9RLrH0m0zUUAfL8T
qRdXvD97bjOOAs7KJs+oJpbiOjsAzBr3H+oJvE4n5a7x0zeAmfp57+p+d3yJehA8u82NJAipXGdd
fQPzEGhsdCDb9M4H8A3PGF+TsfHa6pglRwWTxtd3jhteV7KoD6yeBFKixpnVQFZUfw/BYro0+auc
av4wyUHvOH7TFBvDLL5dlypcZiZIxGFVKjgece3cKEcFg8busgE316/CSyff3C/b6hjetEH5Km8e
os/u8HpdPvfGsdKaCR59r5j5Qt/M0fSh1y8SyCDG1tzkioICk2m7ZZYlgoWmP3nNsJhgUsVjONn0
ktPXIFCKXScMgE3oSqLJLZGTMEHFMstWmalqKtnbIKac3oSULiIRTEjp20WXcebDPp2NNT+W+adw
tOE3yMyV5WJPYQIgwMpZoEZ67LxqqzwmLtrkTriEtosf3RrbUvHqN3UTPqZv5pvsTjv1bvAc/0Xb
Fn4hygIINGbLD01pS2SIfm/ecz6cnO5RTwSHDV8EJkZomRNvB8Y++lybGpl6BFkGN053WfiCCd/r
Zs8PLH9kMLYxmGo4KzZkJDl5SYreTWZ9k82hW9fVt1IX9aVwvQwNKYBzBMw/8lPnsaVpwYxXaLh0
WBhjAkqm6wybsU38pj7E6V4W1fD5GSIUvnW0Z2Poix0zKsyyK+aCINP72L2iQxsmkhwx2Ge4xUm/
60RFOa5Hr8QxR0UbYv6UWFAvkb/p5GA3+7jyCnt/fc948FbgEfujFXMaAA+jtKcKWkk7+4EE8m1y
0Co/f6s/WlfZp9v0kJ0MLwyui+Wa40oqcy4YWY4ukxJSe+2IfkZ5foslgWY0TFy4OKYGFRQAAB7P
vsSmNlfNIkJRI8d4srxTsqADRrA6+1201a3ZXbK3v9BpJZCJ+u2gSpkmQafcJurRxJXYCwcDzTgy
EYF1cZdvJYrx5sWus3Re0A84ONnDUsZeElk3+SyY8+Za4EoK488qXLeLBkgx862tgX/hVMh3hmgQ
hocGiwbePxvFxnsTDDSzQ5sbl8jHxHout64Z3zV1MFevoIa0kxuM1SXhzdg9khSwQxvnr97SFp3B
BCYZxcY+DyWTDmDsyaQFMFSmtPlokA9TFB259riSwaymhlYF3UANgr7XY80vik+r/94vgRL+aPSg
EUEScDdvJY5Z1U6KerkNoZKuvxvkS1GfTedGmHjjvmHAzQf0MR0lNxY12Ca5UZV07zoye2PzGYcC
G+Ra+koAs2qTHutJbUFA22+z4gCIPyGpIe8cQXoImMf06EJl/nzzgT4gxXaEQKuRqnys4/7gGOjH
WYbUOPQYo7uLZJAWqXpX7K4HDN4WASvFRo8gsD2MC4SYuZwNp5wRMMxHy3pAF+Ks3mSiDApvBTVw
g2iAY0E/L9srAxZKqW5ijbqX6ofA3IuMBfTw2va6MhxLQJ8jhrNRyEHaiy0vdGAGkBLbyD0Z0++A
TwtlF7ief0EMcyaFOTdGp7HmwYQUIL2c6hrY5U2+Af3OU4dSjYlazXWlOGsHUkENcFAUtQ10EOem
AYTlXLdnK/esIQ6qtvvS+tkzJVlQmuGK0ZBo1yi6ywULkwWSA2Dm2Lk3pvV7OWJsRmlPjhDfirdF
YH7EUCOMDTZHP2P1GLMSszD0WMq90C6NwG6y9FE24/cli9Ig0YZjEdZ3WWq+VWj2dcfFvA2jQnPl
fmncOWycfdYZIpw3GliZQ5oO92r4JsswMTt8/kmFUSvJ0sQFJm9jdwLFRrbcGb2nZIfCeb6+lxxv
A1YCGhAoUqIM0otzUSUG0eMuSwsPEzIYohii0AtLnNEKyUKc1J3Ui+phvPVGN+7/0mKAKo4JwUpY
SK2mdIU3jPPoyqnZbfu66gTjFDyYEtPAoDRcD0gC2NhzxeSlC9uKoPRbx1tVPoxtEDu3peQVzTbK
fSQctq18MOvW7fSv0A5i/Vvc7sPhlIiwgnkAamdfwixxlkZJlM5D4WWvHX1ItZ+N34AU9uewzZCB
3MdH4xQHdjDszDsRuCLPklQDHWLo4QRRHovPNI4qcDeoJdHO/smpFrfsTcW18F71wH0au3T5r1sU
VyTFcgTqDzz394Nh5U/xbEVNqRSFN88bZziAqRv/fRBD9WrRWBevwGX+xo38jyzmNaAn5piaOmQR
QPIX8a4cU7dLPHm56xdf0x4IEI5aKbiuoMrzmbVUJv6ZYZRW3ZwDManIKPbebKW3qlJ1H2Fok1u7
T7R7JTSNn+E02/Um6oeudHNTDveRrIwPE8lLFGVVBVza0izvHWVsR69rO3Rf1NqglF4uOcpX3EVm
MCURjqgeE1azm6tavQuzJHqJS53kfiP1mAsJR0NQfOJpB4uhCMmWgfkx5gFpNOiqMWyYq5TStukd
qLaT6NVZBGKo1bMxDtzTwJEzgBQBfKZz/3SmvCEKsNVBpa5s21nZ2F0ckFATbBbXREBchUk4FZw4
eBCfy4kMc+ymFmfiRACaEBRTbPySxnbIXBKqabhxkiEMgHDZP+YIgZY3lphjcaOsiEUVyt/tXKzK
moxTE/3UAP5gm0YWko6GNoBaRNsAfDrcKz6w99w5+FL8CE39w0MUaAeLuFLuqrabHtI9ONaDYgdM
tf18Q4JyO7hD8KQem6fS+4u5bsyO//NxbLuJplSTJFHek8UA2bj2NDh7fGSsbyfrthwF/d68zV8L
Y2xsihCwJLoSABBRVXeSWvmnAtyXx0FK8m/X3fXivEFfIi7hiIGgrMKgGGNoCggLkiKqYACy9maR
7qHDzeXfi1ANBW2QMmCHkAg5tzF5nobZyQjuXfVgegDm6T0p6gS3Ll5h/WyHmGBXF4tlFnSHzIc2
DpQbNbD9EX0dLsYaNuVdGMj+r+t6ibaJCXQkkbKqyajBRo+9vq+VbZgJlo4HanGmFXNO60Zl1t0E
GdbTexIs+9HPPjAWdH9UvNOyO4VuEbv6MdloQbS5rp1wQZnQYCxO2zUqRA+/rOflfbz/BGb5Fijf
h1Oxnb2sFuwgfznp3BMG7RBYGatXaw3j0QMO49z4NZcndbgRkjpzRSBtIGP4GLhGv29Fq8N3cKo0
mVpcZmWDbLNJdtEtgXKtqL2YNxAJ5CLHAaYKnY61GctQ8yFTh9+WkVQuIfpnVH4VQ35UO4Qokv9o
FctT9NQzimy3gDc1ypKTYPeoiItourokM7uX5XKvtBo1TjDTBWBPfZMdadoYDmadmzyVtqGhP8mt
nbuynNzMRiJ9s9L8sVAGMwA8pSQwZN6xCXxPLAlONRMvIyYG2OWUafQinWo/eyWY0HjYLDtT1Ekh
EsMEgXBIm0mpISar7sLUr8PbIcUOiECq+BsMZnA0Ipm4xrHH8zDlWdI1WeFFmZVuRpDppE56TAl5
doa3uMxv23zwGjl5G0xpU+bL3lDfBRvMyUCY2uoT6N9XtqwoaRwVOj7Bivz42a7dNHbzXyRogntV
ct8mP3pSiNvtnf04uanghOLdYilpKAWRs2yM9p0LH6OuGHUDN8teB5HeK4zNnattm/woRG3MXDVX
kpgAqKnggqvpHbbtDd/J3uN4cLNZdmMkv5Jh2tfhJKh6XJyIgMXHkw90qGBuw8Aao5sUkbHV6P0V
mZHZLbKZ+O2g/0X5BqkVxDr06wMZ9sIhSKL3slxiBVHCzV5m1AbkxRfYCKc5EEyhMh3Rt4F2wE7C
YGrE0hsJtzs5An7pYSavg71pl6MN+HUQ+CmWb4kgaXhjQWcyqYuu7DJKQlBUOpCpgrG2ynwFoab+
Pmp3WrhpVH8x7+PGI4hE0nujejnQ1yrZ74u9We2dSpSL4Z6fgOKh+Lt4xwOj/fxrnLKj2Vt6v61u
Isc19J/h/ADqJyl0J/XJDAHKGSggIm3vjewGNYwQgCrNYRiCevqWJ0GVCk5VXoDSMQxiOqA3dIAJ
zHzPXCGPkuP5YMg/l+69Ni2Ad9uAVhJOXXIlYbZXxzikZl7g/1pOGMWtCUldkPvVTt/i+rAB2uJx
REvozti8T66yse4T17mT3G47AFbFrbxvcQAwKc925xslyPblnQ3+C3fXvxNcMsbXZRu6D7Uf3sbB
63Vb5R3NBixVd3RU5S4uiUPWdbOhT7i+4c0Hy1mSky2CAeLLAMaZouFdjBfP+eJ3iV0NmOMuvJIY
O8tobq1K2UlKJwiOnKS9iRhCEyvIoSKYnIuZsryKcge5lakrncRdJkW+H4ElfmjlpvC1tpcfxkEd
DgXpZdMjRVy+XV9L/qvOsqAjho5gZIyV4aCVWqTJ8EjdgYBmcOfP2fSNdoM5/9LVBFcN3qqCMBiE
QUAzBkcFc+YqaT9YYTbiaTRtHO2jLFxZEk3n8E6BtQxmSTN0UTfxQt0m8hfLzdSdmgOGvNoAH8cU
TX3wOkFQmvijEXPmoHBcxmkEjZIWL0yIa1yAy357r7aFGwE2odpaII7NPWSUj4t3MH6QnYh2jXcI
WYAtBRQkIJaQ5Ty3oQHA88gR4hPaBc4wqKmbDqnATLgbt5JBI8g6UhfSjEMcMkIbw5GgPFf2ahd/
WkUnSnpdSLIpLAgMUkbVB37HLGgsS7o5JmPpLaG1TZTIU63Cz7plc93uL8TA64AQA4NHk5+Gf84V
AnF1spgDHE9q9tH4TQ63hSis8gxxLYK5dTW1RpAkh4gGDy8pPC5mkKD5Y5Qxv2ODBiH4C41WaVom
YmlNpnV2S8WNqqcXzm08GwFJlsfrYrharcQwLjw0aD/uG7gXoP7B4GS1rVtKb2b37Ej7WjivSH+N
fZqsc8+MM6tRoi76BGnINPT5+xJZbly84O4c12+9HVSV7No/5WYPfgf3up6Xb1oAr4JEHZV9HMDI
7DPrSXCjc4wJkOOy/o4Wgik75DUoDF+XJujil8jY9doTafYghNblB80UiKf2d6Y4I51Z5kyLdb2Z
494rIuSO5B8txoayOHLDSn6t6lFgOyJpzDIvTh7nWQddB+ekaD/1MfXsEiWF4mYW5Xwv30NUM2A7
IGoCI8dkMW3B3KBSYC0gX5Lmzmikowz3mPro1KSxlxXht6qMd+Ake5yy8N7WE9fO3q9v7YXvM1/A
OGZV2EgLZ9A2nccqsO1JeTSkVkGfTyMiteIu7EpZpkSDfE0xyCWUHRLjJpaiTa0bB80ZcSzlYGD5
8TeKofiGpAhYO9hKsxwtcV4qUMxo9vrsL1VQhdvrIvgK/RHBhOcczZyhNEMEGJ6n2QJxzOIt5TEb
t2kmuObxPZDWEv+jDt3H1aFD517VGXcGjxyK1g1vlU13a//otuqpzJFa0nf5g6gO8ruYdeF3qDDD
OCnWDev1jjJnyphAZv88BKlfuf2uBgx55IInZ2cFtD0PgAWb2o0P5h3+cITt3mgnYXfWZa3rt5H+
+RAmADQZzHLK8SHGfe69Zjc5EOhMT+19+1i7aLPbfc/8GrBjz+WLto8FNb+LIM8IZ+KBPClK0hrY
ZQDNtZMnazd9iDcuQJkfwbMqCHWXDTqMNMamqrnNnKmia76pfQBObd87NHvsUt95VB77IHYtshW9
qfnGRcfsaVcO+LiY8I7VbSaM9PdAfjDdbpwCZE+9pl7clIy3OSa5jaq7U80oMBMMeimqW6mZPxhf
GGPd/4VLrb6E2WlKi90tY4YYMX+Y063ulJ6tA0Sz9adYcOvhW9VKFrOxCRq7aoVAa/1QHm+71h1P
6anfmc/tDfgmTFfzgKD+Q/If0oP5N2fMSjSzy7I6Ob0Jtj1PsnoXSQ7wTmZ+C4rndPwZTyJS88t3
DTWqlTgmeNRpiW6RGuKI9AZ6YOCb7FtrVwDbRNGfHfOUpJ2biNCx6TX4InoAqRKjzCatzDNCpUU1
hwo4imjMQ1WMdI+2WT/E1UkRZivoL12TRL9kFRsNsEDorQ5Jkdl5Sb2J0dUhW4IwwBeCuiL6h2y8
U5nTCxR5fWbIBSBV+9anFdi0A+693PnXHYC/av+IYVH6sm6WlsyCmDnfpJJfhqes8ydHMGwmksI6
vDHr8ZyXWLFsZ5BfvXNKSz9yFkE0E4lhvNmurZIoCjYG15x+L3fJlzSWzRtw7n8qaEIJ/rulY/y5
yHvbyUIsXZj9MkngJM9md8hF9R3qmhfGRiENMROqIovLmLVhdbYTEwToPIpBpVSbka+TRBQguCu3
kkL/vjLpZHYwtpb/D2lfsuQ4riz7RTTjPGxBUpSUUirnoTa0yqwqzgM4k1//nPnuOSUhcQXrvpve
dHeGAAYCgQgPd8TBZLa9orcDdZUEkNbOx+b6rnGvNxSPoHa1cv+zYPUqLxLwXcASyn241lypd8Pi
ZwfXcE6g7xO4t8gak24ueh+DBBweMTXdjRYOLaF1m5B6ULoNoB8zMUdwGxWOI6qE8Df07zKZ44vp
TUtzIiyzmR/rQoFEo0PKJQD8wb2+n+sfYv0DkCcHz2loQYLs7vLL6dbQd2WCo1XaITE7C++yhMyq
5GdoKwA/5BW2446aiLSWt7FAI6xScFBQ1tjiGU30KFMaOH83QR4GjGOPkbKLio+4nqExZAkWyb1R
zs0xFxi0ttRBHmAOVDZ+ZtxaGHur5G2o3Rnjc5Jsit4ts3/hO+c2mZM31OgI5DlsRt2XJm7Z5CDs
uUVaIlv3toim6qtv+v1DAiyHvEgxEZEvP+Q0gSHWNiBa6CTPhox+YNBKu6yMSKodFBUgA4AsbM+K
RLMI3LwEsOj/GmbP/khDU6pheAjLg9z8SO2fVf1MpdaFkCMwZjgfmrSbOxBlmHXgIDeqjD4YCi1o
YwxmYDIjrFNPLrWNCazFde9eF31tUxjv7mgblZoE7wYZL1HDh9J8SyeBDd6zChqOK/jKQBmP7T00
TWOGzQwbILxsyOxgIqmNx4EMZt77c1/eAuQoapd9b78gRTo3ygSmobAWeYowgTxb1XM6jYEV915d
jiRJoPEMLOaAVlZK32t0fVPjj5YtR115zmWM4FqDVxqzp2vLoQnL4PqG893wbDeYwCWbUT8NMnZD
A+FRK72q/XYYgnz+hFgbKUc/qo9WsR/63XW73A8NHCWUroArQivo0vvLFAWXFLPnIMIqt4bVbVUb
pHBlLVret1bb174DUoDoDukiQ7u0g7mwAi1FHOqhmd1wyAEUGvwOdWIDIgCKrj7pceUNVnY/L7HA
Nu8mX+nu/mOaiWH6CIS6s8aw3hz2CaU7zRBdBvxd/GuCiSHlqGZ9neHjOd0E5iAdIQQCSboiyLP4
IeNsKUzIGM1SVtMZS6EN6bxsi77Un2QLWOqh2Zbb0nbv1EebOCPJ3X47P/wbV/m7SMZV6rKLxhzw
XjfJMPDjpH5utv44F4KclXuxnq2ROaFW2PZWu16sdrIzlo1dPTi4erID+NMbedtn9/+3VbHnrnM0
IH2xpbnitePRNA/m9Ou6CYEDmuvZOEvy0jQcnXpNj6XqadJOwiSS+/dVNEIAwAaD/rd2VqsjWQV9
p5uXp655pM72+u/n5hw6kByQ5ALdHJvqmMVQWXmLGNHJ2WHM8GJW0kejfjL1etuY+c0wtR/XLa6u
9O36ObPI+AAtTJk6KiyaMxrfeM7eUWlrVL/CTuBs3IN7Zoj5+qMjRxkG9UDdap960HPqPQYsRdg7
7mrQpQLJL5q339Aw2bhIqa5RBKAR11uRTzuIGVQklt/kmbrdIgu+Fy8HBqhqhRKhoQTe+Ut/0/sq
DKuiWRe1bfVXG1IhzqYTsfRzvQKkikh9oayjsNSNUhUWEZ7662s895oOIJqc4u5uXSXaltD2k6rN
v3CKvwbZ+eK4qwDFHGGQVoGt3jYQEKp+y/aTYgruRO73OjPEvJojyabRRNeVgaHF7LwZ/GjZh6q4
ziLA0nzpMrCOrn119NH5w4AP43+FNUfRHHdI+UoSuxgp2JvutDFnkmwTgor5zjiOm9t0/34Xeo7b
vz22N72X3xgB3ZQEW+5iclZwJL63d3FVn/0mVn++lsem0cwWMrenN8mP9tq2u6nu81eQxd0st+lr
slv8+0wmxh29iaD1ieRckBlyC5UAZUB+EFJoeF8xXyBratBeOH3rzjGqdlowebEHEZ/B7XyMs9xp
RA1iASrhOxRmXfaZTaaIMech+ARs2PyIFhdMda/y3Xwnv1HvHRoz3uxCxd2L9/oNdn1rCDzu+8Qw
Y5xJj0ZHSx2nHLDg/YpFqfxwdrNAcsfNeGcEeMYe8lswcIn2eXWvb+53tmYmNYrwvA3rDGal7eJR
3yBgmM4ghdF+HuiTfrKJ5JlHy5M9NaCCIMXtOpzvNxOlupmO8qxhvzHvsFnIi3WaNh8PJuk3pqfs
5Tv55LhaoHszyV4f+w0ydBH5LPcxcP4TmHRqKLtmNEP8BBBqK3Cxzn9YyLSR3K+jV26Ktzqw9pov
HHvn7rsFiiSQ/mNwis2GgSuY22jAvlsEHHSAIAHDQIY3bQMCrQ3E+W7SGXCjlLrFJnSFfRZevqCd
WWe/eptj5M+G9VDViT74qjMLElWeBR0kApoJ1LyGrOHyBqqlPIE7T5g7zlMXCF43VQWXATcV1gFU
AmgCkjffWKyVMh/TRIYJFPQVj24RpLsPeM7NZ/lSk9/RLnqaSbzr3fzFFj3deRfsuW3Gb/RW0RYl
hG0nG8BH4kalF6N0ANnE6zfe/7JIeMiq9fpd1sccmiajEJJ2tZ4snw5pV9nsnxHJXOMe7cDGhSqr
W72jQDKSORBGJV52BGjdf80zjgKhsaQwp3WPZ2J8Tm/ZMQVnKChY0CYntpv91PDQKE6/BKvmvRUt
zLaiEagBic7OXKTdkIZ01LC9youVoxf+27QOQ/aUqS+p4cXZfhB1Trh33rlJJuG0Em2MMWPbuk1C
svthiyG3ExgOb+pdth0NYkIf+dbIcAGBZPlxekl9TEzHz+hYXV86Jy4YeBtj5AQ1WrxXmXsvbMAy
PlFw/U/mc1W5TnGq9QA1RWiboZlzskWZKecDo7K9zmgDSAWtMcaeqs52aSq0cYG8G4LJAWhMD9MB
DyEouFxfGickQNRsHclGoc0wWPBRntTJoMugKweZ9cau559gpBFkU9zVnJlgPmKZDEi1QToLmjRK
umrxuvE0zMH1dXDOPnQ6gOZASQGYL3bLTNqnWlLDyKKhFBplfo/lQKcqfL9uh1d6XRVuMHeEN4OC
0tNlDI2UQmulvmugZL2fkB4CDDPoIBsjkQSalJ2dH+v48bpN3jdCJw/HDgAx8Hsw7hABp5JmQ9+4
rV1syrDe5VYjcANenQvL+muDSbMWIzbLPIONrG7cAgSLWuNWZU06bdN03jKTaPHibhNH/7yvB0IW
FWqqAJ7iwcJeSU5ZJ449NmAkuA3D38n0WPV/rm8f1zXAZQ/ZExyqb7V5earmch6GBnxRT9TBGKAG
/tAUN+zLdTs8PweI7792mLAclwlGCzrYgYZDpt3q/a0iYlTkIZZsG3hBVKcxJQMd7kvvk6wkn0J5
9b6iul/ScB0erV6aResBzdaj7RwtC2ag6/JQKfGucbR3B6OpXrlExcP11X41kJkkFT8FZAEq2iy4
6Zkvp+hQkVeyqXGHfIpy0jpW+zJWcXRn5VP9OevlpIKCrLYKdNiNzBva0r6NsxijdL2UURcBrdzi
j1dBCRmAnFDkJYfJbkeLNI4ZVSQBx3HkYOIukeopSKqOHuo46p4NUzYbko81BqHkyEjuykk3fkV2
5rx2s4o+5zRbL4mDgRoPhBr9fRJmChy4IZM6QV6gU9NT1a8lq7CebaLSIdlA/aP6M8YSHk02NOz9
CNj0O6WkeDlTpVf3at/bIhazL9g2s38OZm51zDhAnw2E45efcpS6ZbabuXFLUwL79jO22IeUxGZx
lm1rK0SbwUOTJh+R8Uem3SOIdkispq+4MLzCyIE9jEnZ/MjUiOjtiIFeBd204Z+yNUC/G3whCKgY
7MQkAuNuOdiGZGrgG6tdcjMCGVFV036yXq+7Eud6vbCyHuCzQlyy2GVvyLDitPV4CxqUJiaxDQwp
kc1k2cllmz1kUF+KrBCT/9P4T5HgiHvY/pWOArqa30QaAe6vItnGuQUE85ArwBRL5SGMon9xDeJT
Y/hqlSvHiM7lKo0pKsw6XRo37q1TLQ8eRpdjjHYIuS84eZqDGSfULWTZtvBMvzS0UGUcrGKNd85s
+k6fozs1m6AnsAb62ERIGpeoUl01V0Zi2m3pq30ZPV3/pJyYuyq0rTcK7izIwFz+BjrMKbSz1jiF
fGno/zSY2dcNfxJxcorsMNdWU5VFrQH46ypqvnFMepCN8CXN7f0IlWn3+po49ScsBne+DRDumn9f
rikOpzpPVzdtKpQLtccUytLQDR1GqBXNm+u2eOs6t8WsSw9jvEVn2JKcvdMERtwd5eiQWyLmMK4d
9JeQ0KNcqLJrSgdE+AVqJVC6U8GJpiJ1NqRW+eOYPYZZTKN8vr4uTioDoTM0FxFHEajZwf1yypIF
s2k46gVmu7TxoRhFhTLONXxhYl3yWTQZOp06s4O4OtIKc5vKxlFmrxvafxEaMYCOUUJkLRgRZbwh
SmylmtfjrDcfTVG6U/iYSr+v75ayHtVvd8SZEcYNiig22nR1A2p99V3kjEzZWynvFOVZywPDnoDd
ACTqtncCgN6vW+dUkrGRePPIYANSMZF1uZEL6HPKLMcKF7Mllr6FECb4m28zFENjrx1EQme8W0BB
Xm0gXsi4EZn7sBjAfTE3q8vX4y5M9UCZph/AVNxU0XDQ9RIEIPrO0MaX66vkeeTKe4SxRsz3Ilxe
rrIOIykzW6wyncBZo1a3mF7955F/Hd76rwkmMcyHtNDM1VUMObkf5OIhjUeQB4vmJnmOj68FEi8U
r3SDVSxE7SqDLkCJWNg4AFyDBrZedk4xe9c3zOL5BV5AyAZWRTqMR1/uGLVQkVX1qnH7WKEVyR18
MNKAeMaTi6wxNkNsmBt7oNMjCDKH2zrPMy9XaYj/SMKPJImcdDOx5LhVSTp11CLd1FSebDTS7DZx
ChJGSKEdJRRA/XxR62ClEqhJKMvTIRysZa+nYfE6LWqKaWwnpK9d6BS+HSug4ezMLjmMbbPcO/pY
P7Wps+wHYN28oasXm6BuYmG8c+nwv2p1nYJiz9QKg0QobnxqUEIc/Eqtqq1UKo4XTXF4Z48qxV2p
WuMm16fSNWp9CDQ6OdCnwowLWirxHeiUk42s0BDSS+EuqyR1Z0kGqOMXbVPW1rxZxtoBTM2ZT44q
L4FuSPrBoHhtkTjvq8LXygxzG5NZgvVy0rXtvLTLy9yYSkFGK63vtAX9cZJjBiMkEFvPfduIh6cp
n5Sgp0X2LkWJ4s59YgJzJIUAPl3/4rw3L/BUSCoQ6DD+yT5AVQeqNbmFhyEmKaxDEtL6th+bbgdh
Zf0F0LYwJU3ZT14tTfYtaFHTkkzALguOEe+uAmsh6jBILUD+xARDkPKlcinhV3SpTKp5cPXxUbP9
uRXkg7x7/twO49/YQG2eClRf7CaCgO2mcjJQ+3h0fBwGW7C1ojUxoQEas/nQZchf5CIhPQiBYlDk
FT5tBd0jrh3IrGHOxcRDkI3lfeR0mtpiTVoXe1XpNcax1m1iKdvrrvI9BiEvApQRs9ugx8Ls3GVs
GKIYg8IzOIZiWt5WUXXIS42EtggA9/0TwQwMIayCuEf+ujfP7nhQttidsmSg68xIvoREVh9NCXP2
H9p4f31B328l2HFUDQXzr7cu4wxDWcaVnqD0ByKnECXsGfzy7b6ZXIwhBkUV72LRABSnFLOaRPbs
QDEQ9R7mIrSlpqkpGG5wXfyRswAUSkQBIQxG+4cp22TOe1W9RNpLWgoymu/sagCRnBlm2YKmus/k
ToNhHVzatPeWVvJSB3LEP1UwYtERxFR7hwbGsk3Qi9LvGustid6X6ratBXcMp9N4+VOY3GPq5mLo
TfwUScK1qWKyRYH6aQHpj5+phbp7s1WLA0pSJQpTgOXW4LcT8bnzXBmoXBQ2cMth7o75CZYWahHg
AfjTtuOnximOTSJX79fdixNa8VIDwBFjjJhCtth2vWp1ahGasDKgto07Rv0ZFoG9OnKzSed9kw5A
BotooTjHB+k+GKsAD0D94euGPzs+bd7p8qCBMDWJp/t2+aySt24ZtnNm4DSJvuX30KOghK2BGges
nLLFPgVRV4+atAcZLHjiocprgUTdVMq3yrHeJFwq7vUN5VjDaUUCBO1mBwQSzHmVE0u17Aotusku
Xm3IqWzVxAZN4FKjfxDOze66OY6T4DGPYhzQc8hcWZKoOBoSmzooZ8kp0oueZqUfKiqy9A4qJ9dN
8VaGHBJToGA1RzRiQmuC5MSJ5Ya6ilYHcVP65TDspsTagopOEAnWW+fy2QFSQcNcy3oWqozfxrjH
0RraFqbstNsW1hTElmjQgrdxwNxglgNFCuB7mdMVxpIMzY6SummXKwTMLL+sWOo9dbF+X9823gkD
P5i5Njh0cBuwJ4yCzLCumxHkjJjk1uX+ZshR3h7CXS1bAUqpt5lK90pWb5TQ/nXd9vfLQwUvFJaJ
dByVYVa+ijoa6rEVWG/lXruVcttXqndnerDUF6jVQBCj/0AuJSIP4d0fKGThYYr2JPyFxRkpQ9Wn
sbVQVw1nvwsXv+rynVIMG5M2x9GMd2tRtZBWXmaQ/89xKgjenOiyes7arDBQNGRlzZu+7DSqydSt
RxMMhyjHuto43EYTCM70VALRgtUr/vWd5rnTmU1jrYmdRbReGnASBoW6cew5vfUDcsCkzFEbvW6G
dwYtrAhEkY6hGTrTyiqsIZcgSEbdJHECeZw+KbgUjaXZommzuW6K+xkxNIZkCkFTRjpwuaSkcXJ9
MTTqVqMKkXEHDQvdi0r00hNgTOWY2D31iuEli2R3GKLg/2ieWao9FVoUUZhv+8mCknoVEj0B7qXW
IQac4KWGG+Q0RdJMaBp9WEZ6CO3mQ/AjvpcycX4UDbVZdIZQLmKiRJI3i+WMBnXBbHFnGulIxgYE
pCH9qczqPg21oAcEtY+dCEq0loDMkvexbdT6UONBDQTJ8+UHKFGctxvHQqtCN49jOz3U0fIgRcAe
LY4gDeC575mprxh25r4zyHQyDAnCVFf3HvpVxSkdzNg1Gz0UnE5ebLcxHoNeL/YVDdPLValzZ2sR
aEldIP99pDfvo258Xv9s31VOUYRwoDBuoXpkog7NfLaiM5JlzlQIjNo78GLL9GaZf/XZNs81UrZv
cWfemNHzXO/C6ZEqv1IH4675Uao3BQaby0CfXWPx6ygw6s0ookn5/lVVZc20kF+ikYbe1eX6QdcT
6dWQgAWVeqqykB6FyFn9TJ2H65vAtQMMFwrggPAjPbi0MzmDNjQUL6EqD4kxhyQFZ1Su7fXS/MeJ
AVaEJSHoG3jZsYLTMZ7E4Zjkq94JNHeWB0t/m8PTVPy8vqDvjqNix1AQtNGtslXWjLPyHNkh3lzd
mJsuinWmG4ZC6kjetuEkgAMI0vRgLmXcs+0lIAViKOIM9ZTfOHjwH6tGNT11jF+ieRSRHn0/eLih
MVOKBAGUZt/q3wp6qdOCeobbWCGStj4wwBZrVpYgmvL2DlgOpKMGGGJ1VqAjrjsty8sWAJJ17veX
mr9d/zZrML5M2LAMMNphLevoEgtcs7IYHZ4CSnuF4WkolRUAjMQ3QC+QVN/p/e/r1vir+Wtt/fdn
0UpRwkTLM1hLRsNf0Jcwc8u7buJ65oQc8dKEltvUNLoRTP7Stu03sQFpEVeaiiAxE7fHa7guBaeI
4wmqhvF7FPzweMAE4aVFG/M2zjABRVUDpeIsG2mRvUwX+AGHXwBGVl5ANJAABGe7BuEE/ZmoR9qb
G4VnVpNr2ZIbLamrzunrnJpPQ/WC6qeXhfcAJn/Ocn0DRWb08T2q5oJkhgMmuPwx6uWS2xHFmnDN
wR3nXloQcTs/ihIvw21EOvu17KubIaO+s0h+Ph6naRZEFM6W40GIMgfuIZCbstgPtOP1OK0mwCkj
+wnvNhAs9YA/Zm0uSqbWqMGcDx0kJOhjgD8V9IVMMK5AvZ9IegRoxqwDmyd1cKBFvqNW9GmY/Smj
mSUouHGga3gX6rqBeVqQw2H+43JzFaeB2JCFDmh5UH8sxPYS//M99aAU5WduvGl8lZRgh38eiUHu
Rb0UDoQWLWZFxWAx3lb4BxNGdVuKDXVcIUMg02xIdFveLTDrGX50HFztRcPsZhDfFk9bCKdtrp9d
nl9h5gVKVWsBEIg5ZrcjpP2SVgGLpR7rg0bsvb3L3NfqrdplG5G6Et+YBuQXzgOeeF+5yFkwmrSw
15MO+yw9Ahq/ddyV5bcAFr50q62IQFRojQl9cW5Fi+lgadQ399FeIvEp95KEmKd3/QbC1YKd/J7/
4mCcLY5xIsvJqaIMWNx833g1anBkIlbuWUFKhCwk2vczcmFrvZnPNtJUUhzVL2Dbvvc/ppss6N/o
G2pecJDpJErDeJHwwhzjoYoObRNrXVr3hrHSn9YNJkz3FV7opCbRYxc0z/eizjBnluByO5k3Talr
4FqpYNO+L7boYWJ0YHbjg0M2WkEocOb6ZgrAJSlvyuBF8Cm526uDawo3NcAfbNdsRJusnRvYVj6d
X9nPTXhU3Q6oelQHln21E35OTshDof+vPcZTjaSXs3r9nPoRT+7TCNq/FHtN3ShYIqKeRg+DaUfb
FU3Mcm7uC7uMy3Zg5C8kCru9W0ObnHw8GIEsi92Vvz40Y1G0XmeHGf8BDU4dKw6QC+1eDfrfxVHD
pIBEMBjuNv7wM9n9jPf9zSyStuJUpuFDaIP9xy7jQ06pQTs1BWCxect+osoAHrQDEAC+4k4+uKCe
70Xk0OuHYu4uNMXXIfi1K44+8uW5NDrNKNXVcUZpOZiWfNOVIq4Ybb3pr9lgnGVYAPcuE1wXs6u7
zqH1T8pudk8Pb6EXbiYvItatujsmz79NMr+PXkyiTRDfJJ5+6zw9i8ZfOGkBxs4BjEOHeWWbZTKx
MTESO1VVnJTqqZ4f8jKYRaeD88pA2Q/ZHkaM0fVnH4GLYWc0zIzGRU/Xm0qyEgro4TEaRFch15CK
GUOQjKIIyFZSpSpVqqzUAamNMUOUbBeivuvEuDfRhR5J6wGwRCxvuetFpLGcsifuQ8xfQAEJwF7Y
vnSbWKc9bWe5wdzaYG/ruwhph2+epCCRBYvkrvHM0vrvzy6OBK1LpZhgifqD7kLEjpSOIDnnmgBf
N2qKINcw2TOQ9PmAIWd8Lzo8x3JOQm1Lk50tyly4ZixgGtCGRzLB5hJNiYL1MMPzIulglg8q3S6J
O5fb61cB9xpCRQmnGb3xdZLicsMyu9Db0DJx9X1O3ohhoyywfDC07uxDnJPF7/YxuR1JtQ2P1k4V
DNTxThfeHQCuy6jOQDvj0rgzx/VELXikZfd3s2lv+87ZJKOIqYK/yL92WCalYlEK2k+wM+/Rtxs0
kBARyVUCxMiHMXD8xYBSjo9V+jFgIK4z+6oHoR/BVq+pJhvYgFow11oCSI3ZJ0ZfJrGSVXAc89j+
tB8iPLoOCSQ25k9r02zjn9pCtB+NHz3J29ytP5ONI1IR5voUXhwYm3EMaAgw4TuL9EKNZ/yCYtmN
070VYnYVimRCRVqRHSaEzwW15yqGnbDQNnHfotNmPvdpAXrsWdAe4l3xa132P0tiQkuSGVpq9zA1
S83RVMLNaDheBbSdqgwvjfmZN/WmVgQPqq8z/v1T/rXKnBqpK7VlaGB1GSoP4uiO+ntWCKV4L1aA
p+2q2EdboetU11bBCOxf9yTOLQyWUAzNAVW79siZN02DnL9MyxCOZKWggupIK0LZcD4gpJkw1QV8
JIpfLJ6+QPsJ7ya0u0to/M4mWaz3NH8UosR4+4hKFDKK9WKQIeZ1GQBqNQKkok9at8hBpV6f9F24
MY7yr84ffOA2jqpwrJLzirmwyHw5S517py1h8YvT3VXvRug+kx57uG00wYnnfafz1TFp4bAyflSr
rYR2JLPcEXW9657ACaAXq2ESQHVol66IYKF2dgb0D6TWK0WqUpzmD5pnZx+JidJFPZk9eHZbVw7M
+9hb+T+l3B+9xzmwfl1fDy9TAKgKmjEYtF5NMhFqKVrI0FYpGAI+8VUkshQEF9FEmsA8Lu8CY5xM
E1kdQPYwBVJttjk5JcA6REaO2d7AOcn+cgOxLrduSPoTXOEBkojr9rjucGaOcT2q1dpoFKvS7qB5
LcAUiu1dt8ArtVysiPG4LNTLRVMLDA1Tb7zXA5BApZvGWkWHPLCcdb52vz5JalIdkj/Gk8C6aIGM
N07RSM2lhPXexciMn91+DBvZBW7Rkx+rXxg2+H3dIOfZdbFaxjGlqZfBwYANHZ27JPcxAKdqJM1C
UmoCOVyeJRMFShCTq4DOOuvKz9JKbZoQ7eUKs/fFTdOhkY0S6K8q8bpQkI9xxnkB/T2zxEREVVLp
IqmwZB5TCJLuzcDwT3cnGeS224lEQU72KpF7Evq9qKHMPejnthkHXZrGUjsHtqv7gSiY8Q9PWTD4
f3qLiEb7V1dgLtCLZTKOCs0vNR/junX1H+UhPnVb6Sjdt4LNFH01xh+7voiTpsJ6HNxio0IKoFup
13beuIgAWpwJqvW7WWgM6+tzkUXEdMBOJUpG1wUtm9btItSqdJL5067Zvseb6s05qk/xw3yTokiQ
fWSzILjwalgXP4BZLDCObeOM+AE2wM1R80arW1Mic/UJPrJVI2f81PXPpb1FE1czQB+mvvQiAKnK
/6p/N4E5kE2xQKZOXjfhmO7mezNQbuxgujF38q9iNxBAnzYD5AjDjbJvSLKxgtKNg+nkkBdrJ6LN
5AWjsw/CMirRounlecZvWZwOnDP3eiWAAH9Vdb758ArGxHA0qNFMxoezJqFLIjetO6AsgRQG0hb9
bYwcJopRFdW3iddvlztZSIvBK/xiTPqvYeZTl5IC6tEJhhdwpO1kvHVld8FxpWuMT8DBHVyPs7xs
8Nwe81kluSqzpoC9ToGUIjoXTUhUBQIHjn/d0PqHruwoC/q0pbntMxvfTJ5dS3Hb8EZP9muvGn1q
Q99o8ed1e7wC2vlOsuAAQL3SdIDAtPsj2reU/MYNglO7uEh6PRl8G7YoTohWuKYkZxdJVUnKEJlY
YZ9uy9prdPR9NoXhKhKpiz+WyBwvPzz7cuyDzzbkzDC61VN60sne1HxE3Z1gD3kZ9bkN5m40QEbQ
GwpspAfZ7X+HT/mN9CMl5q32L9qiF1+LuRvbTmv1TsHmdZgwnl4K5RZ6q4LVCHzdYu7A3NS76P/v
2AZ4alfdl14RANLTwSOyXbtpyLhVX/WH62a/qjnfPX9lWASAB5O4TN5rUBD8mhaW5jyae+tGe3VQ
PW7J3YBajE7kTe2+InK6OUq78lb2lPd/UW7C3v79AcxXHGmaJWWCr6gA20wPfeTH4FRKBdvLDcpo
AaJoDbil9sVxdOb+bVdZ0oJaoDthbAJPFwLm1Os7yX1SfrFVYDWYsmfhB7Ez5XJvYyFmgL6Ym/6K
AVm/Te4kL/fzYNxFnsAgp6yD7iLoMf7HILNzfWqnYQyhT9dAgkHmkby+q6R9nLfVVkT2wneTM1vs
CaAo5TWgAHErXw590+/9jMjuRPRdh449iOoxiH0X3n3WD5HfoXmVHTQI1wm2mPMRQdNhKysZLoYR
vqptZx8xy5owpypo6Uw0rwnart5ggADm+rZyUokVDA4UEbAquOqYA6FbGQajHB0tItp4khk02Rsg
uctQkLo/xaXgI/KWBHAUGvIgM/g+KkJz3VyaGEA0M5eXR7OjzzM+qaDaycuv18luiOhZqLcCx38Z
/McupgseNLg/Iy+cvLwtvAgiC/KL2r11GKSaDmV9vzh/ru/k6hNMaDm3yl6qxZINEE0FhYZd/apz
41VtoOvblm//2AqgUn93kMlJ+m4oqyoHQHGE4hfIWvedqeMtZm6vm+G4hSOjHr5CtVcMNbOFNA2V
tBxibCEqmRs6WBgOyZyalGV1oo1jP4Q6pU9JTg2BYc7FDeAckjygNgDdYKlWuiEOe1sqMJws7yLb
hyBQg/Q2PdLsR9u5WXZ/fZ2cp8uFOeYa0iMs39JhrsHYfA9yU6n2U4xMQQFAgZteN8bxfgfK5cCd
wTOBOGKiChgm6r5Y25cL3Q1FBkYuEbyHc6teWGCWY+W5UceYrHSbWiFKmblt+qAXR4jcCw4yb9/O
l8Lk5BDMUIwshSFTvm8hu1hGtb/QG6UqSAfmouv7JloV4/O12cxTBSpEt18keiribPJ7KJzf14tz
D5pmVbA23kFGfxkVK/AprDfoZfiYi16vZwPmBue+LHaQihU2CHjbh8oyQqCOqPuNb3ug2VTMKqaD
2+ouMcjYb8fMK+bHoRQkPBw2QwCCziwxezeFsYLxHliChk1Q/Fk23c3HgqaM5RsP+mN0Vwd6hKrf
9Q/Gix7nRpkdDNUQM6MZjNrptkB4ku9A2K333hw/xKIJUd6h+msLBcbLr2X3Q4pxPdjqpsdk3Nui
PjnvwY+4vqY4AMFCHJDpAkSltYDzBnF9OVW2K/vFcQwmJKoGXku4+DEBTRwPDxgqaH7w3PDcrnq5
sDmKJxSEYTeJGoxPvKZh7snSvzLy36uSfZiNVQ792xFXJZ6bQVYjCc+rvWZLgiPFcwgwiK7wcIDD
MZhzuZZw5dPEYB0akPKfKt+OxcMCcpChgeIo7uWP697H9flza0wUVGMd2j4JrGGow/xhp1O2M51F
V4CUDRcX1K+aP8E77zolMlyjbKuDheHDHWaFWl8GXyKEYIZ2F6eF6Y0NZP66rP51/SfyOqUAy2MS
D5MeMuicGadKKq2cCxOEFUum+kP32uPx3ceql4JcZKSfoAQjdOjdqcbolzwcO23WyUhR8erfF/su
j5udpEBDSYlPhhx6tdMIQi53D89/ION9GM5fx0bxA83jtEnvxiDa5nih6ZB62eqPxa7cxzjYASaa
ru8M7zif22Xy0TG2wBqQoidQZa+dfiz+RUH0YuNX+2dJdaWneqbrCBcqTpUGzGA3eFa8T9O7cCBO
Ieia8s7w+WoYvy/rQUpVzAq5dP4xN2vd/MVwXq7vGO92PLfBeLvZ28tIa+yYBPmi7ElD/SbzVBHj
PK9jhGEDUH9hvMzBkAfzYaJ6LKbiixlEfRkjy20gaKV0pEJF0Qig+qMDTkBFRQ/e2s6NMl+rdTRq
h8bK6zI859mTkeO1fDRFrxJuiEdoX1nEgPLC1N6lU+jAsiTzoiBt8nDwFu/UBonl42v59TH0bdT8
RqI/iNqWPOcAs6aFhhjG5r4NySZWPxQq9Gzdsc78hKID10K2ujQFPRVe7D03w5xku7BDOaPwj7gL
lsrDmSbDsoBdBto44JbRNVG9llOocs4NMp4iNWY7yl8OOUN0KMMQGwbF8Jg4FFoKiW7ZcnMtPlWg
XXfoIMg8RHvKOIwaY4Bbk7GnoXyf9O9ZHzSTgL2Ql7udL49xFkm1qkWG8I+bTPnDYKsExJ1BazVP
DWgBgCQSfD5e7fRiO/8fad+1I7eubftFApQpvSpU6uqc/SK4224qUomKX38HjXO2q9i6JXgfLMAP
q4EaIjk5Sc4whrS/USDAnQgUZb7xGJiHfEPeDDeIHtvN7E975Bc37Rrby5IPJgaoGYU+FfaENEIk
xqykjYBo58rvKR0+WG4G/+q0kL7500UNNjnXdKVBlZDPSR0XeamW3fSuddBa04vGF9Lt/hscSCyi
jAMtTHKBxdyyMpkEDlQUHXVLaLYv+ZXbFpvLOAtJCjGgv0CS4UGcekwMEXHrnU817rb2xGevjMgz
jdnOyN9BErfTcEs0Jh4U7Wur93ed5b5WEHHCO+0mndQgcYv95a/6vvXPP0payLJpolGN8VGqhfjR
0cy8pHWgNP0Ch7fNxjWq6e+b7xxOWlRFUTql0THZ3RTOMw/GPihTd+WCIH7kPMwiQLCaaLBzbLyf
zn31oI6sGVPQ9KOBKybVJoK2oWVtWKat7PPlyfsLJP5+elNI7QiMduDez9gv05rvSHLfORuLBd30
aUTDylKtDUt6MjVD3CZaB7TWMPwW/dJuu1W05sZVV3ae+KEL8yd3TZcFOgotkWSKk/eWxEGuBgVU
u7n1WiOd5mRXEGK6bIULx6sJWhPRF4IeQoTdpSXL4JPLTkH9wFyMu7EePa2NNwwJtNwsbzJj9BUb
ZePWr677sthvHRr2fYG8LnMDuytWPmbJRk+/RVrV2dLB11AgV90OYCxCk5UWDDW4oswkznaXx720
pKdQ0pJWVpk7qQmobKD7HFwfNOn26Qzp8lFfiSytjEoOFU9dBaJTUc1gaeidrPlmMvSdTVaCZQtH
0dlCyk9hWE1ekggwkZJvu8R8VcrM1y0eKhT046jCy9Bcaw32diQIOPRpSFDK1pqmlwxOeHlyl3Yn
vLqO3lQLpCYyU4ujDggBWTDjFqTvedlAHIT4rWsdB/6RaOPjwOa14JowU3nnoHwcXEpgRtW+KWEM
GdqbELsGE81kPLsNGhLbMs0BysCzaehTQKm2slmX1/UvpHR3i6oopUgCoM7IARsgVWYnbJIBjFG9
9e9Bc6wtCJxAa4aNinroc3dXaIOSEAMTWnD7OqG/3Lw76Gq3VeMsTLMvNPv7iul6RO/2pbomYCNO
x29TixSHCI4aKEqTPISjpYYx1AAH19ImSa2HrJ//OdKB8Z1ASBtfT5EKK2c42M7ONiTSdmqeB2Vc
rdjlwjvpHEfa9QbDKuXCkaf50YifB6TFRvu+1YOsBodi6ufqm0LXyOoXXQ24ejGDiIWBA+d88Vjt
Fm7b4lC0u8S3i2jD0m5LSlRfO/HK9X4NSjLJzrKniZqAih07RH8oBKtB8te7twjnr6S8F/c44uQg
jIGWMvg3zkeV5WiopxamUoG0QfrC2QZhJNQ4PzfFh+WspduWB/YXTfz95LxvaNaaEDyHc9Oubafx
qnTvxpAgsFbuFYtu5GRUkq27qFkn+YRRTRRtizHEVKovF/xiY/zaK9rKwbA2KMnqy7hED3GJQSk8
THL3OiMfPBpu2zWzX7pVoMPtP0slWb3OEp7pCeRb+ilxg5pGGRrS+T0nwxvVh5tuGhKfTuZ8ldsp
As6Xz4JFcLyiCTqHEJ2QWbV7HdlTrQA4GuACpQrG8VNpwYKZeGX7mFdfdE1AYflG8xdRdpazpfUF
6wYc7T9NNIXqoekgnl6F04Y91CgMgofeqlfWymmwEJSDbzmBFW70xETpgBeIUwnYlzLM0fq2i0Lz
engxfxdbtpty8EH6zReUxa2Vnbh4DsG1wL2gZhglw+fAKFxPIGQGYEe/dhH1iepgIs3a8ITr+HYK
nKBIrkUB4bihtUBJwX7c3lp08gtUc0PAV0UnLC1DOm1rPCjgRd3+6bINLW6UE2zp+GOg+UkqBdiU
m1dTDhAV3PNKsm2StdzqogM4gZJWsciZmlYUUEwZtkoxb8ED4NWF45d2jqYG6/nyyNbWTvKiYxVV
Xc4Ap7nvlXZfThlqy1Z24NrsSb7TyhFVisHU4VOItiTVfcF3lBwQOPsvhgKCcciWqMgmfCMK4WCy
dDIVrpNd5UrQVJ+xuRZu+R69wh4DS4yJDj4T/0nuueZ9VTg6riIWfwWt6WEYqgaFrO+z0l5bLoL1
c/XGtKeMlY+XB7d42p0AS646aRl+U5x2ibFpXVBAzXAkIH8dIrSJpUhL29ZKdHrREE8QJaddWE6C
ZjBxvqqV5Y062aTO+xj191oNHVNTXZlaYdfftvdfOLlSNGZqDGEfnEUpV/yqoz/7CeVylydxDUNy
VKxpcrcQj3YTq4brLGhCJ0icXwZZtPaTgejn3nDKuWV2LUC6rgqSXrWg3uWEM9FwZyjXTvCFQith
kLB2R0cjJIheztHqtgbv1YRpq9NdOUMU4y6N3qP2aNInbiBqNr3q1r5L76p438bvl0e6UEpzDi5t
7GHgaKzpAG7m0By/MvVrar9a6W4CyVv+GNdHzfKcfuW0WTzPBc2rifY9XIekEc91RdoyAShTwPkc
o6kiTYJB18PKMr22tb0K/VhqsVaatzzYE1xpsGMbO6MtLktzcpynJPNsG53ezhSO5QsBEbo2vbAY
PRfOi5WthWVWwSW/07W5QWZxhedZ7ynmdcluCMhg0jRIyKEj2zoKaLOL1t70i7Z8MmbJ6yh0pm7c
A1bRwzZ17uvO9qyo3mjk5bIpLR5DJ0CSs4FiLnKpQl4zJvF+wgvIUdjGRHbgMszKeP48z06uSCm3
0rGyBMzoRuCvHV9j9Hsq6MDUurUu/bU1+/P3E7A4M2mV1QBL9S+tCkfDj+g+ojjNFdefho0KqofW
67FHLg9y+SKIqgQQvhOQPZqSmyuLgnJCceOFaqJH+8jPRhqAZ3HrgNQCIso7PQdJbt/sTTUNTUy0
MpPHHKxCufsyGb+rYk27/P8zFX+/SPKJVVMo0NsBk09f3cckHPpbCIuzOj5YU+URY6sgwG/z0KW7
y1Pxp6f426lyMhXSxa3NK9NiQit0rt8bamy5rXsonLi1J/SlFySsFOpp6T0vpkPvjOBsVfdWXOwN
9dHI44NrRU+1/TE476zVQdmpw0ziA8TPU2/Q4y0vtd9tjl5hmnl1qakeFI1SD/33EJogD5dHsnga
nwxEuhai8TazJgsDyfu7nu9p+lnrmmeq4KSf9pehlh3s38WSHGwTVb0biQdTrV9x/bGNxq1a3Wv8
1sSbQiHIFTxdBlze/H8BJc9KGxUF3wOsozJBKZm5u1bVfMgZhpdhVq1QdqLMLI2+F/uiuHVIWDs+
RUUayDKHZp9lftF1QT+jRWk1xC2s7NwKUcaFCiELLf4QHNOlGa1c8CvrKi7AVXJso2QbmQcbFo/n
S5d+IAtJIEPVs+NYBE3Xe9GaoMXCgxT4mo2SPHQqC0b+80uCYvdGa4iXIa25h0bbdNpkKro69CCq
hXYU+jzKu0b1m5z5c/tggQk2j2/ViW0ur8B3Iz7/Duk40RXedHGN74j5XG0QEYBE7xirgcma26hM
E4/p0Ea4jPnduIApBJsJUhe4NEgeYJj1jKI9Hdcx9yY3d7R+ysoVLyM++9vyot1M8PpiiWXK535u
kbubbMSGbFAugnhVtcqwc8zK01C040bHNl5lnVkalobCbzDdOIK/XzIp5JlhUCaGNU43NmpHimlD
x9+Xp+77dRknyAmGtC9H26U6pSYeVLHvKDCbdC1ovjYKyTCTqc6jUSwOyFB6BJanm3qNCFF8pLw4
p4OQbK5DZMBVFEAQdqsQEG6iYp8eefvPgc/zuZIuMAPWQxPbzB/ra2P8VQ6vUXHvGCtx+OUV+dMA
i74KMFSeb+Risgc65ViRTh88TjcZX1ny5dn6D4Bcph4lkzOpGQCq6bFpRDI4jh71fq1j/vsRg9nS
Besh1GnQ/yRtSkoStPeK2Yp6apSe4ZhwvHMVWb/stGOv1FKyX7NZ8ac5SmPLa/MsWnlFLKha4xNA
w60iViDKbCXTm1Nbd6aZcr/ZlDf1NtrTHxb1WgtMcWH+YvnMt2+u5l/GIwmGN8dDJNtvjqOydldb
XFHwf4LDRpwPjnRXAy32bNMq4XhCBfphDJIf9nu3gYijVxwzVE6H7pNSrYCuYUq3MUfpzbh2Yy6O
I7t/0v893yim9u+YpNVtuJJq6Mbhfmwcm2pnu8/uGg/eouM4gRBDPLlbF1BzVEwHELZzo1joBUCp
0r8rpIhhONi5NhrCQAx8jtE7yazaKTCE8gtlP/G8HMvUa52VE2ppz0EdhaBgASlLbIpzHDXrRlh5
xv2ut/Otg06RxzxyIAjVOZ3+MWZxWa4YwNI5jFCtgUAZ+ofwQjhHRDghM3ijoM8NZVZa90Vt1UtL
WD3pIT84vv77MWKKWnkUmoPv6k+z/claIe9WD0YHn2KO5bZwbLx61hjuFwcEhmCkgdDUg8rZ8wGR
WU2NwsYJrOljwOxwggR0g1Zz49Pkj5dH82fZ5QMFDJZCzRzVgN+Xq63SPG85rHvv7vgbFOmDsfTG
t+Em86PY0z+d/bCZb2zvmV3bt9PddPuOdPfO3RHP8Dh6xi5/z9JmPv0caTPXw6zOYBPmvljEMSoR
0nq5jLDQVQ8u1pMRS/s5KQtDjzggjI11E12XW/WOB2RHbopD964E/aG6tr1822OUxZGBl2HlfrW0
QU7xJXPlkClCDgf4JsrC8/zoJDdRqQTlqojQEpAGfn3wpIFZDKVn52bEUnNQSxOWqtPY7+p9oXot
ybzC3F+e0UXvBd5nsBSgiQSkX+c4I6mLqZ0JosjxD6fvPVTwgd/n/jLI0p5Asvw/IJJh2DEB6aIA
MeFUkrt5eMz7F7xEvK5bUydfssFTKMlAShqhjcQElBMdbTcPWVf4lwcjZl7edKcIkglE+mhXSg+E
wXwrkt2Y3OKuqFXPrb0z07dyWCkHWLrRwyGDqRes4+QbSRgfW9DfWC5e2+UTM0CIqxteE/+Kq0+T
/EjYijksTt8Jmjy4yM0HxISQn592df6hVCuR/MXJQ90ynCOSI0ROWmRGRgfaw91b/SunR0O9ySrE
W9x3Yr6lk18Pn5cXa9G8T65W4u8nDp/16lQ44mqV9mZYI/ANlxkWxtprcg1G7OYTmIYUbjFUgMmt
vYnmcLhrD7Vxl8eytDanh7O0i+baoAotUu6z4bWvDqr7fPn3l1zO6e9LW2fOtKrodfy+1u6q/msw
Es+dtn2xlvpY8gY6nv/AslEVJeekJyGVZ6uwAXUMtAEqw/quV/fO0OJBtOKul9blFEoyZyVGQXBU
Y10qA+HNOQuM+LV2kuDyxK2hiL+frL7S2xwajUBx1EOh9b6bvdrK2kVpGQR9pjZEFAwUP52DzJ3u
2twVQ9F/RbVPTDD0xmuUhIsmIDSc/gdEeqE2FJVVFDrmfsLB9Wgkga2jsCTTvLh7ujxni0gExduq
SJGiUeN8OODHNeZUw02TQNXXjG7TcRepIUSQLsMsVDnhSYd3nYH3HYSc/iStTtZmzKZET5Cv8HuC
tg+LvKQmQSvB3ED4vfVmRJkmCA0hdbmxW+XtMvjShj3FlqzPmaBXN0TIAuts9kFJeDe72sorfMmf
GvCmQsQJD0f5tknjOWawF1GjQ+FyOob2xZaiPatzUQZXWmTPmwhdNk7zysyhW0mULtkkXoswGFAO
m3ibnC9iT9A/OSc4LUiKmwMt0SDiQGnn35trsIaIMAgZOmh/yeK7Xa64Jk5dHEpRqKMVmYJjkVNQ
3NWbywu2OJ6/QI5IuZ8YSz2VoKASd3dDbaE/rjURf4SG9wAaE73AjriMtmybJ3DS3Qsh+nIqStwk
7GT0skT1oOC9c0Yc8uib99KEQSQdpc7jbVfNa/ekpWsFApHQLkIgEnpt0tIZTIu0MXEQ9kAc1nQf
qireGB3UkzI9MLVfPFpjnlny+qcPPQkQ7O2jyZnw+uhY9lQeU59aCdvptX6X9sie1iu77/tiotoW
O+KPaAY6KiQPYyS5yQfXRnNlcTdkNzl5UtWHlRX8PqhzDMlfGmiPbnsGDKL74xWU2h4UPwnt/ZB6
83237w/FJt+O79qv6J93HoAdlIlClBo0ufLgeidHnKFA56g1t5uoz0QFWeUVUbTiXxbaRaCVAJj/
bbERfvxkS5SzpmaugqYsdds+OP4Q9lca+LuYZ+6iY+93gRqoVyACXpnZpcUTN0RcetFA8U3Ud6BR
XwwG2n2T2nlNomKnlfa1E68WqgmrO7/Mi+H9xZHuVJpVOnWTAycukue2fk46d29PedDqE6qnoeOs
bPW+e2yTIUQhlFfxxHem/PmyGX134ucfIW0NkxRaMqhiMSfjtotiPzHbMM3No2JTJP5QsTeYQQn4
y7BrcywdT32mW6NZAzZrDA9cSl6lQUvNXnlRrA1OfMWJAaEej0MbEihN7jsYxvgMPWrDgArUzzy7
ipDqvTyq7xeL88mUDFYt7ayOUVDjN2YYRwF0ypj7qq51mS6iWIjEocIeupcyLSnLY7WYBH8FM47q
uLVoMHTXhrbiwhayZRjMCYy0RNMMqbBCwJjX8xsyBsYHaJKUm+TAX+09v68eUPeh/V5rgl/ITgIW
lPBCRgCVlHL5WkJJC8UbzGFSvjSm7iWH5ovYAdFve7AZ5+iX+jmtZa6WXOkppuRKKW8NMlXA1MZN
ln6NVucN06ub3qAWY8VExE/Jmx7pT8iiQi4MmTLpZChjTtAhgk1vOdcNu+7i68a85dWLMd9DxfDf
zfEUSxpWp6PaoCuBZeaxF9thFQVmWXnKWlvW2pjENjzZZolmJqUdC0fW5WE5OqgC+JXY+iZl3LOZ
gXr7tcaWpS1wMjJLuizNA+3qhopZrG5L+pv0z8mceqttYEt2IeQloCFn6NY3UsWG5eqgEDBrWwh/
OfmNPRxmC5lpfqVX28trteQQT6GktRrNfCwh/AKHmO6j8qdK9hb9/X+DkJaJlVCoRGkFWqm10ddB
QlZ91uDouAyyuDJ/p0zOnLmtmRWRJmwu6cwQuvRNoLWW5iUg8b7V3GhNzmHR9vAOQFcOLpSIrZ/b
ns0rByp44qY16i9zmlJ/tsegGaYrNWfe1Bqv0Er3/4sxCslcXEz+MMedY7pmrNFmAOV5UTZBJg4S
jtxwkJuP/w0O9IYNEOEKdZxzHFpqjQlF58Z32bDPMz+dSt9V8PiYVoxP/NA3pwSCdehiaIZ4zp0D
QeQA1aAzJrHuf7YVxAUNzyi3Yxb2TWCwUBtX8Bb31QmedE4WFaMDHlXgl5h3UPsw9IDyd6Jds2pF
qXSJwRiNsKj4QIAZ3c1yzK/RkwGeHVM4XLs3A/O112xX7ZLr5pA/g9NT8eie3kVh9NvtdtnHf1Es
CU21E3hpVxtt3KqugO+RXe1yKMJ67AOUlNskaHdx+c92idYtJPmhBYKKCItIy6gXipbzBHzlpYZe
+3Dg19EcTPr+X60SKAgtoOAC00rkVG1hZpY+zSAqR6ntaB2hV9qMgbJG2LHALghdOnAzin409C7K
6bJp0Oax6JEbnyAmloQ6/m1B4Wvc6Ad3w6lXblsDXJRp7cUHsofiTutDd2eNX+i7peIrkJBEuRA4
bqGkdr4zoCWXFppI2uVNEM+BgmRatYnLu6pZsVTxQ+db8BxI2hKDQ2Mok4jCCeOTQq0JhCvtx+WF
+/OxlzDEYE/OabtXHa6Iqgb1nh9BL7h3Nsa2x7QmPt91G7qN/SrMtgxcjUqQhtZe3TponVl7Xy3c
LJFs1VGs8ycX+q0Oy5zmCB3qeP/Tl+bTDrXOm2/tLfWU3yRku/TVutYOa9IcCxXi56DSVkwsd0x0
Aco/J78KiDfvmmMCssp2o/xobqbd5cleWs/TMUq+W0MHRqz0gEunY6t92f1nma9c79bmUb4FdZWu
1+0MjJdq71wTr7hXPJRfRsdX95A88mvteiWXtjIoSwoajW6XcV0A6tM+tVAeulXWbnbfj6KzZbL0
cxsVMakoygFBHo1XXB+Dykue2Jas5IL+NHvLe+FkfWRm1lEFo2c3ifXZN0j+H/vM1zb5xnzCXgjL
/bSBAqUTsj8k91GyWZPyWmAnPx+n9LqiNo3MVpjjEEZQ2jNv+CZ9L0K8rq7Gh34n+FIJ9qK6T/Y3
X+OdfqsHc5h8RDDUtQrt1bmQnFypstSIOL6FvnQh1OKOKYgHPLZxw+yYfrRv1YuyTW8e4+vBT7dr
b6+FKM/5TEiez0U9r5WJlZgOdhhtndxzr6ZQ22ne76PuOZ/Zu3Lv7NyVzSPmV15/VEKK00VUosrP
zEqpJ5VrDqJnibrNOZQUaLkSv1raLacQksehRqqOM5TSoU/X76qK7hLslrpj/9wqi5MJuQywpKEt
HNnh8x1DjJzzkuM2Wg7WzywuEE8pyHgNyaMHdKY4G2bpKwfJ0h4lJrpsBPMu+h0l32ZOkQP+MfHe
g5RBTm9m1972fRjP+zhGbUfjFdmK4/n+qsAY/yLKmllRbalT14vXUflCyzoc6+RHz6LjbPfxyiVK
rMo3w7BA5goBMhccXtIhqXdOlkTiQaFZ9lVG+YNdIMKp1PbTOEQPnQq6Fnt6vnxYLO4BxFr+AyqZ
SqvWdVOouCdCRfWur4bALpxPJ519l/yYCPEzmmymBlujnJR7u2xviKtuVfKs5lHgmv2BWWRTZfTh
8mctXH5QAALJcRSCOEixSFNRWrRx5hSCPq5yn/TXqeFppApsPOidJLwMtRD2ge6NJagH8AQBm6zk
g5oSd7Cywt01TiM/nT/dSgm0HkIjybRJ8LAnRql56jAhLDQ/MGuNC3xxr54sgGTSNYSRoqjAAmh8
3kRdczNCYruM65WFXjQujAR9mUgqfeubNJ2k65wRLqEYf9jc9MyJotnCt9W7edy1ZK2scmEBwcwr
3qki14K097lr4GqDijAHo8qLd47CA0er74v5i/XGVWWtHWmLYzsBk07u2rUpAQcyWMXaInRYtsva
ver6dnzV8r3mxCsOfHHFTuAkt9egidZqGkzlHKH9sx/C1AL5eLLG/bk2Kumc7hRUC/QR3MHIXU8x
fsZJoKg/tfS1d66I8uvyLlh0cydjkjZBP7qNm4AlzS9z9OegL6Hmv+jI9jl47/5vSNKh2yqsSVTx
4rfZV5mBKVj3svaJrUpMLK+S0HNE3QDa8qVVQvLYJCkkv/3aMD1QJ97wMffido1FaPE0h6/+Xxhp
lWrsNotUOAMrjqbDqEy03TRQI7w8acu28BdFWh6WmGrrdBiM3R4dlWwM8tYP+4pvbcWvnffLYMu2
4AjqHpRmIwt2vnetkc1upMC+uaP4Sof3IGoGjJp4MVtTvlwclwOhB0G0Kh7151C1PWpGZGP29CT1
GvvBqF8JSrzn8iFjmq+t1V0veSUEbyH4jJQ6CvPkaUSpt2PFcPWssbysuUEzjFdW91P/1qw1qi9N
IrQ8DQcVzCj7+lbJaOKKnzLEKkqqWbu+obhH62myZZV1l6Nu5unymi2ZoWDvJaC4Q0WETFgrWOfN
glPk8BtUeun0ZqLj5jIEAn9YDemCoqF/CiUJuPaBikgyjLR0CtT1ZoJmAlTOVprG74ROWajxQZ29
XM+yJxYpQ6iCUGyvJEbxyUvH9nsjKh/7yomfIo5LBJ3A45sxhUOKOrEQyHGU42A0/U3HtQG6vxb6
kLaVkdWfo1O0b6CZMXyr1ao3FAQ7sT9qleJHTjl+qIpiPbS1Q27QVR6hSLyId5CVGX8nnV0YN2Nk
xntKxD0tRx35F4gayzZAV6G+r+YROqd0zvezGpMi4Ojtg8hOFqdHq0I+wQOXqqV6Vs9BGzWhs4iA
2tlkg5fZpQuVPPDeVV40F2YcplplMK9VSYtnxBAPYa7afYiXZP/VQwWq9WKSxonvojQF7afDzPaT
ZoxXqaYUxzYvhicnm6uXVqmfdcO4A1S/G0tGoLyjznPvceKW6M3RIQzZRLqxSfoh/9ER7vizVuUP
HfKjO9q6GjRx9T722IiMMRQOkqYKTTsbUBFcqPbWtHIjtFM13Ws508NcQ4zONkZygCUpIeubdq80
fX2w+t7ZT6DAQV1LPsYh75WOf2ZRp9GDmUNmCV9dOYeG20kZ1mZDjMMQgy2tmDHlHq5sEfwFU2vo
WDZZ5YEWuXo0myTF5TXD6RXF9ktRNZPHFdfdjH2EauKa2NAXMlv1xzilyPV1eTnZAaoJR9SSp1G6
IYaZVmAT7OljhwZs5zHPx27yeyhwv7KBF7vKHCt0K85Fthk0bfqlgkUyKBqtqsJCyfrnycWaBRqL
7HI716KCWW+s+NVUsto5mLR2n3DzLnYT71odTR91ZFzPIOJyPUeHe9wxrePHUa8IO4B00zSDCf8/
ZLUKUcHSBf2tZzA+9V7JXDJ7XVIhwmMMZb/pGDNfkoJmkd/mjB2UQlV3VZQ14NjTLN9p5go+D/2x
eDZlOmFeRqMnqwfjXT+q/Loz+LgB3bJ+aGNW7yKFu0djyBMd2DRLA6JyuuP5kD40TjTvoamIlOU8
JlpYRjzZmiMk5ZvK7dFobFkDDaqc9Pu+yRSGu8qoBfVsaF9G0qMduu0TXC96fYw8m47R0VCU/FEl
5fDbnbsknNw5u5+Gku/QP6P9jpWxGrwxdearjKVRUFDLuK9bDTUgBeLgnoExb6y6zyBto9DmBy3c
RPdIUdF3PU2Ry6qSyhnuIsaKAyRUFOS3VJ7fm0PrPnK9pncoVIWi+dROZKNmhrudBz1iu5ko7RFs
+QQHoJXQsOCZfd9XULkJBkfJtSNX8wqdk5xd6YqdfpUWLk/eMEMd3jfNdggdyqALZmdOPzzygeV+
mtb8YM9kCqyiSMGfoJFp5dxe6ATHw1g0PUIeDYodcp/V4BLQeLQFfAP2RaDMpT+OhT8RN0B1S4hT
79mqf5s5+gdjeM/Oyw4fEy0DVl5b6vhx2YFrS/779GOku0qrqlVLM3Em5ZBT6p8KVgQp+TGORjB3
9KusP2tqHeMI1zHOwUW69sBdfGqdfoB0/uaakjtsFAH8IT2krAu6mgWis7uBDIEC0jfT5KEN5qQC
6VzHcF9XJkAcUPIBhsVAtAKlc44hM1EpSp2Cuh0HmN18ZLEZxCC6NFj7o8tfS3UUPGllyO2SBnkV
e241rhzSC3cCTUPQguBKiHeRHNKHFo4xosYN8Ly+taLuA1vl0LMDQ8Z6ZaQiDf1tpCdQ4lNOAu6l
0s2Ed6DJUaoazLWhmtYh4pseeoyn/sVOwGx26PTdZdSF2xzKm8XrUhc9HHLWMFNRdox0Hq5XOAet
eXixdLKbZ9XxXEagKJs9KNPPy5ALNzpQnlsmAhiiplpmWoip8j90fkmboDWh9qge+4qyj3Kfp9vL
WAt3LM3ApVhUcBtQahbfcjKnPYtbszImBAqMT04Hj/DgMsCSfZwCiPk9AYAb1OvSAUDHa/CxKWZx
w4boLU8hk2mzvF6BE7tNthED3WCi7Fnk7KTIA2i/cYSjks5n/WMzvMTpK7VXIoSLU/YX4hun0KRM
YO0CxGiMgT22QbumZbIyCPniy6LZHGwdCF3z4fS7jjz/FzlqA8XEFsJRwnehZfZ8WQzwbU+oBsfd
OonBAg+CgLJuPUXT3pheHfuY389gkazqVdqupf2EDjfkO1VYnSmXOWdGPoGoXUcVd6uBr+9DLULc
2ZR4Dtv8aVRXWm4WjwecUyYkdRB4A0/l+TiVYpzA8YYknf2DBVz38tvmVbvBLWpf/kK57LSCt2Tt
piD+Ro26A4o6aVpZV3etIY7GTHuqwZc3fyjkalzzhEsoohbecFz4B7z5zwfVxXjwqQbsI2W3LdoA
UeFbG7hC/HsBHohRT3CkvWtVLh8SwX2WQXtOLcmunfNjiYsq6ORWErZLm0qw3OK2JXauXHgyKs1g
pTHMAteNY+7Mxylb8+RLu8pGagKVxHguf+vNnnrVxFUBpqB0hEI2lpGgHpPIZzpS75ed3kJzIwQQ
xd5CGJqY6Pc9XyE8N2rFAj8qGjPHNzx87CK84hAtNP35qtqAL/Ux2pCQPCP/Dh1frzmwf8+WnH2A
ZPeD22R5TsQH5K2XjAfGfmfziq9dirOfgOiyDhIkiQ2I2gBE2eHaX4fXRcg/UIe+zTf2vvyMntq7
4bX5ka7kFJaSz8AFtQv6JRCjkstQQMrZNUxBjqttvB/zjhRe8iPWfLp/rFVP30HmbLX0RGwp+Vw5
hZQW1KDzPGQRhqr6/V7b0S6wwZjjuRDtVN7RLviQHvQb5Q5F/+FlU1q8bYOpH/+huB+CIXLMz6qm
2OAROi6341F/RggJ9FzbaIe6gq3uoWAjeWy2w9XLZdjF/XiCKv5+cmxPWt7Vbooaf2W8y0DlH+kr
1BbCAL9P6N9hid16AjA7Pd7GFADNkcVef5V+sZdkA7k/7dflkSweAacTKLzpCRJjdpslJiawaLzs
hr+xYxIqKKzcWFv3wLfZ62W8RTdzMnOSc0bPVdLzCXAUxXrQg/XMevDy4ekyygIvuvAwf+dPMki8
jyui9YCBtsONBaXQOnyDgqa6jx7Vzc92l6wMa6HF5RxQ8iimPSZ9TwBofKKgt7ieVR90Id1b+0Tn
wFgb3tJdHwFGvCtMQTD0p57pZNFMq9RSUsM8UMHP39qt/o5ylmvn1jpYa/axdJqiowyzKS74eMSc
20ebtrU7g9wMrff0wXjsA1Q68mP65uzjB9MMuytnw3+mW3fljFjc2Ke4kl0mzEYLLVKivvaZhfEL
C9A6hKDC+ID6bMvXb8wfqeKp2/i6WLmkLNoOFMcMaJHhHxTkno/YTpI6LjM0R3WpWu9AAopgtcWn
KVDiVNnH5YDhzzUSQZVhFfCrjpk+zrXaPpcD0YKo0MZdaczsumoq9d+ZB3B3Ovk2ya757DSMILbh
N6xHx/y4L5Vhs7J3Fo0LpZ7i2YM+bPkOWqtpYgwOurWy2UQM0HjU6ndQr+2yovcrhuqC4ndVqfe9
Fa9EK0xMrOz0EGX+X2BXKrSGuTst+E9xRKbaZvh/pH3JjuTIlt2vPNTenmic2ejqBZ2kDxEec44b
IocoTkYaSTOjkbbs9wP6Ba17KUGQAP1NQYA+Q4dZJb0IT0e4XisTKGSUR4SRNly7w7nnBFCkoGx7
4eXObucXY5wktEsfmb+FrU3th/6afhdIv+CatN6FZVw8X5Oj+cJ+s2LnUnH0nD1/+WprnubFgZWG
l7T30b5oOuu97O1dkYutCYCBC0C+3QzQwhn8O9G7n95+33Pm9uW4J9cjA98qEq2Y0pbcoc19IIeg
f/f2EGdn1AUtKAWvEEQYTo5LNyxzGOSYUWi2Bshferc+8OTWx7dHObs3XoxysvFVRdyGL+u6Vd/D
fq8uQeLPek0o6lkITuwQlakTA97Vg7aqAl6Tc4uX2AxDHNxYd0PifxuyaK9286XK1Nk3QogJv37t
OfuROXuxJYzfwQ3nuDEm+z3R14114RyfXXofyhhAkkL79bQaOqKXIJhtvJAaOcDHc7wM95Ox4rfX
5fwo4HkLI8R0SKW93thal7CEGm+xiAeu02G5G5sLBvnsEABpIC5B5gINsq+HKGgoJ6lx2Q1gdEMs
fgM1wrjW4t+zj18Mc7LDQtPi9643+FDvPQgztZBV9N9b7YXQ4+xxeTHMyYRFDG2hxXqfLmBu6a+b
YK9I0lwKAtaH/cmU/n0U98SU6qiC2kqBUexgY+pra/zMgiSi+3BO6SXy5fMXJsJGChAT7qZTPmTC
vMnVA0ib1JdQpcOUzoewi50tO1RJmE41+IgTNLw7F2zb+SP7Ytx1ql+cINqNNfXHddyD3ga35AHx
3JGrjTzKVG7kp39cugyX78o5iG4qCr2Zk6VzLeXPjgBvWE2vKwOh0rrZ1+N3KFRfaHo965S/GOl0
+TyUd0Lcw1i+ZaOgxORfef0Hunwouz0oyWOL72V93/axKC4hXc77XX9/ydP0qjNSHVgKLxl9g8Jp
9KF8pA/tsSnibjdD9HHTkE15tK54YgUXTMnZPfti5JM7EvoNOBYdmBKaEvDCh1ZeO+r9rG7a+noe
LrI7n7UqkG2HfwfurdBbP3+xeay6FHoc8J4iSMTROuQokh1MutwF236HkuPRQZvxrf3wtrk8Ww8J
II6EWg+QoPbpHnJ4NzSewZ6VyfQBtj/OH4v9p/IY7czdhaHOzuffhzrdRDW0KYrc4A37jyr1t8ON
97V55sfldh7jJXMz767JrM/FpzK+mA9Y3YqfzM+LoU+8LGfRDlfrW04JjaO43bKr4KbbfXqXb/jV
xY1zfs++GO5k59DJSDb+mNQsiunubtpUxykONs4DOBQ2wTU7tl8vAZnXW+etVzz1rCBT73fosETX
7e1IrhrrbtQx8YEHSt9ex/MbFZlMNKKCgCI62aiIj+u2zrGMVYR2bZfGOvo6lfu3BznrjKzp0j8H
OTGljT9KEGnA4BAvj+n8gCrl2wOcm64V9QMGSqjZQXLu9XFr+qltwwKH26BaI0Fuagp25HO0KXqx
7YLxQhXi3C37criTHVFIB616/crvV+cQtSsyNR5Jn7WX2qPPJvleDnSyDWwoHxbVyiU0Z86+5vGw
g25DMl9pGo9XANd5n9UV2em4u58vne9LU7qu6QsL1s8RQ0YdQ7tb7xswAhw6uU0ape7t2G+iexeM
DMXepHnaXYpmLo18siWtcJSOajG7UfilLQ9gnFgYwA87dUnW59zefzm7J9syUtrTUmIgD/DEoYt5
ubVBOfH21jzX2gJWUjAYwoGF3vApPL8SrQrl6sMOXVqAzyhkVwX7MLp7lseqvrLKBwIayh5sBde1
DZ0RUA5eSPedm9CXT3Die1o5VLb1msUESzZbHoEgiIFlQdE1jsDQ/PbrnptT4Hlw0tfCDwiDXm+b
wGpaE85wDavl1ibfhzZzLpVNLw1xsjPJKCabrEMsnN53NRJgfp5BxmXz9pucvUxfvsrJPmwmcNao
DuPIaBuxL4qko50W/DfHgz57l5RQK4pu52n39rBn7lVsEwdKGOAXXu/y1xNoZs0Qq2BUOkLDgH4F
u3nctrFLH+cckHGVvT3cGVP2argTUzbxijFgxxCYFuPd0HWJK+tsQrMsgrsLE3rmFng11MnWMIgW
Q+2vkdbUpqNsDoXw0/+/tznZGuNEAgjuYoipvTX0w0IfQ/PY/TtCRrwI+JpCVCWwVCee+qChb8xX
h2DWjwDheNW+kxeW5VzG9+UYp20ilMi8kyuL8BKyBJ3SSVS0MXpLP8mAx3YxpBJSm6aad0O13P+Y
xP/wbf6n4pnf/eFmiH/5Z3z9jffLWBWQ4Xj95b8cq28jF/w3+c/rj/3fbzv5rtv+ufvLHfvy7Vmc
ft+rH8Nv/3P05Iv88uqLtJOVXO7V87g8PAvF5I8h8Jzrd/6/fviX5x+/5Wnpn3/95RtXnVx/W1Hx
7pc/P9p///UXKMu82E3r7//zw5svLX7u93/977//7b/8/q//6fe//Y/f//Zvv//tP+K//+vf/tv/
/M//9aff8vxFyF9/cZy/rvzzSOg4aFpC+zAOj35eP6HWX6FNt3bZoiUL8dxq9DsOvZNffwmtvyI1
4mLveOjLWVFcv/xFcLV+FLh/RYLLgQ8DyWM0lIbhL/9nNl6t2t9X8S/g3bzjVSfFr7+su/DvLiQK
oGtTBiT6QGtkA3V9uoMImZVphEVT5LX0LQUOxMQBsakT87mNwms6DEWYKVGQJeaVxeQ1mVoafHgx
h38+1cunOHFh/ngM3H0BKIhcQGqCEwPTgT5YREuLxxghubvJ59mN9jyMTB5Plc4/V8bYYOkKevZR
Db49xwqNAwvUr6COsVP9kN+C8DtwIbOCqdu4ZSEOfjOCQdtaBgT/deB2xSXf57WlQi0CCKAVZmeD
uAXreJoTqmswzHU+d9KwBIu5BfjgtsoDeYPOnv5qKmwvlU1ePoAyuE6Jqn3QyoKuGugXelVMvojH
Oge6PShzyEpemM7V/L9c1fXR8GwrxzMEIDCpr68HZWHqKKEOyIxoexUs/gx2yaJO59KZMiHNfW0q
Zw8InEgMECU7ZBLGhFE1XKJde31P/TFH4H52oHiMnAw6yF4/SKOHYaFD6aauiQC5dNu8e15Gwu68
AUUDqFBUDIhmY+LFLPmFm+S1Q/Pn2JDdiFaaEQvAu9djj3llaJgHWB/fQc5xnuYCmsMoqGQNNF+Q
Eeq9Bg1mA+Q//vHpB9COgl0CtQs/PK26CzXmlg57J+0K9GS0ZI4GaK7a4U6EdVDHUrfj3upCIP+0
ch+0Wmi8qLm9D1C/vsSRcHJHrNPgrY0HwPIAroZDvk7TCxfdR7nGM3AkUrsn0sqqgNRjUlNnAKUA
ECMrFUXH68NY29CJBJcI+9JTQ9Hz1g/FlwsT8/OSoH73g7IB9yFM2Mkx167fmbwRURoO7lICDCqG
LHCj/FioBjeX9ln+qQLnyabQPbtBSXh5N5FqeJo8K2M+IN6xPS39p9GdyfUMGH+yRKTcDUbmFwzS
z/v2h12kIISynLXz4PWkgVTCKypLRylZSuXEMxhzNmgb6a/lWBxtlrMbV7nu47Kgy/XCHP10dtET
aIEDBfPkojfwlOeRDyafxkGgBdtYVkZtgAs2XEUE2kOktz5VrbA/UMXMb01UQjidh+XV7M5V1oSB
vBASnHBSYO/gCUJgmLCHfoRA67O+2DuqLtDSu/Z0DFXFJtSIZh9HlcOsXUuHoS+xjbrlgLaM/NYs
YGnfR9MgVCyrOYwSGVJzL9jgVFfdQOj0geZFwjuIPGRiNEDXG67GKXOshV4TzymWlNvtLLdgagxY
7AaMRZtmmRFyXZjhdfFeWUcAfnDH4HSu3cNIv71+q5qhy6SizZS5npS7SWm1ox2Q2eijqJJp4E7m
NA4wP51df5uniexCOk+XbPQ6yOlDBMB24y9uJvzj9UPAJBeVz2eV2X4/G1DCDZzFk1XTYySDd13L
3O3br31mMXG5otUU6RXo4aKX+fWIjhrRsbBEUB9zF/3JcjiHjghzn2wQB4XJUBm16UU/Xw+G99dR
71mHBVnCg2fL4L7j7Xdhz+z9ZPwhXha7ft9zv0iDybsq6cIZOP1Eu/MsVkxx6bXc3VRwTmPfIcG3
t9/jhOJm3ZR4DzSUwqvC5QtajZP3II67hE0+ZVK4lpuMrgX0Nlfio0uK4YrTydvlEVqsKlL0u94U
SyJAsvCoBVqu3LHPorJY5WBs/8HFtZd6lafjoXHC27xxpqSHBb1wH/ygC3691mDEhKDOavug93Ha
waQi2ZBFjjoD/2H1m2OzGg1gWt16C1vuy7y0dyDqQIHPs9uHgOhvUceja5uLOhHF4FepqRdyjXx8
+4TGJnlrc0clkjgtAfG/WT4YPqOz1nQziH3lu6AgDTou8iNx6jqIdYArFi2d081MTXPBB/p5E6/H
iMJE/JC3Oq0f2jIc0G5GJ3QQW6D9aIhKJ2fit/Dkln2OFpoLe/jn8dZuBpxelEhBZ/2jVeyFPfIU
uL7r3Jsze567j44k3+F0VCIZRv3VKqA2fcGFODPeqioRebgHQDHkntxXIzKG0muUzirhuajPe80z
MXNw5XlDFYd68C4Y3JMy1rq311gRlNAomkLc/LQJEgpzXVhYxZL1I/c2ygkKC+Ry7SNAnsOKoQ9u
SIl7Z1BkSl1APeAIqw6iFxG36B0atIonR7rWRsrZv3AvnQYKP54MmG10F8KVw8F6feq07CMiqnzO
IuY023yJ6PsiL7s4Yr66mWUYgc3Sp89SAuLk2Oi1e/vUnxseVPbw5HD6cfZPjBcf0PVmC75kxmrm
dxbp6Wd0gG8BVg9RaAOhZjIT+T0UXn8AQia48PIn6bk/1gWL80PnCwQQpxsvDGUHyLSnM8Hhs6AC
HHlPo9sPGzZArjapjXiKpi64kwWomcrI3Y9WMN06ixeCxSx0gPBUfU6g2MvktkK66N0/ODseIki0
lqITAY4u/rxeHJ+pSrfW4GQ+XIHd6NY2WAJ5ec3sYfioPedbqNvhocSpytAcaj2+PfpJDgyzA/gA
/uJOtdDqjyP6evhKDNw4kXCyuhpt8kC44u/AsRrpm1rgVCUMbAcAKUHLQaaigSrApir4uKO0BNPE
XAv5D7v+eKAAqCE0TvgO3urkgVByUlbbdC7sBKje4kmSNs4tLo8zaTSI1+S1It0ldY+ftigGxemF
w2+jQvJTNa81bj4D2eFmTSFAK11HE/1Nep7ZLq0fbN1Jt9+CqKM7CZ6L7cKJfQnNcVKy/bEOKH5D
EXjF5EWYgNfrMJfoSSgn389k7iyA9Ehj6k1TaShXLLY1HEZu1e1+qdRQJg2+5RqMTVzfOZJOIgH6
pFs3b95eqh6d8O388Vw+/HjEROuynPI2Vf5iS2qrIMubIa9ABD9MHpg+VKc30ppMmQJ0zmcksWqD
xiyONtptNQlock2V9PdzZ010Iyfodu0iyk2Udc2C6MGZiBUkvSm9x6rSyFGTSpl8K7TdNnGHfkF9
yXFcc7mv7nHUTEPkPkKYFrT7uSfzO/KW0Z6CYkY1os5BkwwYVxzWA1IO5VQuTpx3heujUUfIepNH
4ZxwNNVam6BxvSZdFrnIra4KcUs7/OSmR79znzjLApa8t0/kz1vRxu0IkRncXKAyOY3/A+5LVrWY
cILkT9KwxdtLZX0YbBYd7Wphu3Cgy1ev59sFogPZ24P/dGnCwYGDBvYN9H4itl4f7sUl7Y5lmTdV
FWSRdgg66ovpzi8j67qhCB6sMR8uIBVOoPzr9rJR1YOMBYoRIKg7peBEgkH4tHQC9K126mtPnHnL
EPMmpHat69whLk9z19M73KnhJiwiK23mhu9tBkMUENnecBM0iVeU4sppvX7bLtWA/mSGbEhbmPBj
GUA2BZ2h8K8W5Frfnq0TBMmPp8dV7yJDAj/Dw0u8nq6ytGoCsIOVddjhN84YRU+0c8QVOviL9+2M
mJfNpGw3ebXI62jx8g0tFpn0cx8ge+TUUzb4TdFd8Fnpupdf7/UVfYo/AUACgN2uq/xiFUekTHhv
HJDDjAUTCVqLxRIPdt6/g4Zfzj/MbgkIiF5oX25ce/J52qrRv5bGCQ7Sy8EaSwgpKsgk1OMxWuwi
z3RLFn2lh2gCunGsJu+6t/VF8Mi5B4/gbFPc06gv+ScPjp1gd/5ElgzinOjrGCAW06WN8qO7LvDz
T50c5LKBcFGH9KGjQopeeqo/K9FVxXpVOyr2yETBCy462sYkKIKdymcOX9taPW5BlQctY5dcRIOs
zuTJjOOR0QAFEBt8v1M2S93LoIRei8mqwXJBxOZQ+cVrwlvKnOK+o7PM2iIkn91RgM3ALsVTyFm9
AbFgd1NLHOwL+/LM46yhKfDrjuv8rIEinQlRB4iSMj/QEBnNnSlW9lwdOCCkx1z4fZuIMjiEXEcH
TuR8w6hpj/jHPrCX4gL+7mcHzAOnBU5HFAEWiRaLkxt9Yby2WzHDw6n4ljn50kDrvdeoipb5moaw
r5yiGTMpB+u68Ef1bm5mloDIckqNWtCHUo/mjrsO20RiYhfc9jMWCBFQSDFZqxTsjxLCy8Nid10R
jNZgsjGfVpV2pK8heZJX/R2ZR9CeMvTwBR/IQuTWs4m2spAszvy5igo4QKxtCc/KOeD0iHQ9csm5
5/d+EuahtWxIY8r2YOzO4UkfDLJPBi8vecagBeLuK0Qtl6b6zMJDy2H1JpEcgQE4meqw141TNxPN
ui6q46q0R4ShfpgBZUDQyusJc3Rs+BF6Kp4I5uQO5B/+zomAJm4YLva39+EJiedqH3GRgc4EuWww
sIHn9bUh8rF6pUJkkJV+a/YgWO5uOonVSNAYZ2JXOjSVC3hEO6ibpvm8SGSUhHUXtnOXlcNk7aTU
QxuDNApdSE4RuSkvndECEYvHNqZq0T/JHEWeAm+ywSRX1p8He8g4yFK+VnyuP7E28N+//U5nbD5C
WBtvQz0cL3oaToxorSXN6EeZjQN2W9LGOfogeMqijjVfIHdWx0Uz9KltoT7uWnn0XBX6KxaiT4xY
ygdpNfYFj+HsIyHAAvE3qkHIW5+k+moUn+wG9ZasQKLoevRFf11hv8ZIK5vEnuiy9RlTHyPcSjew
C0syw4mLyUj91OBVbo3VuReeaV3Z1wYRaTrg4rCQ6BPGAr1e+Uk4wwyxjDzji+d/WOq2gsajx4/w
6UG+Rzh554qg3b29Nmf2G1K+2Guoi6FyAJfi9aiNV0+qDRE7lEPhbpH4tHeyY8G2Fu28pWXbXgFO
zT9WY11f9cC1/6ad5kvpTeBj9zuPb5tQAufDoqaLbae78mzh35BIN3FjqAuulCgSW95ONCU1ARNM
1+dPHEpgT7horgUx4yVII1ChJ/PoYlnXg7xKZDqIUE7fiI32eiVaqaiGMdo4s/ENOm294KmO7AVc
xlM/mliiIlEkMMI9lLsggLWfW8gEgLENIWfMGjlAqbd1dP++s3lRJHZXLyaFIotl3yyWQ3RsWdM8
fp4pm9MJ5Yit6ZYRNfbadouk6fwnrymXjzlamFB66Zr3fLZ4XKhyAsuKB0gBGajsUxUxeO+1M3Sg
usExaWJ0vQwKvpur7xpFG+SfgVNBf2bpzp+9LhR9bJqKIqvZ5OzgCFFANoVPFHS/bdNuQn8gBiI7
M4kS0C9xOAS+y9g+dy19E9iMoDnXc/J7TF3lgJtjbJ5HVTl1RppZIXKdimK6muDl5Dt7AlozaW0p
BF6QqGYPD6G5RyJn/K2ybR3FC14uaTXIohOUB3S4GaCPmFZcDDduOQExznrBnQ2fiZg3CgDpCUQ0
3oB+wZkwxArOQq5ULoePee72/gbNVz6iJaKhPstzK+o2SnFc9u0yRgg1fDXuhDdMe8GMHDMnrJvY
5EXgptY0OreRWIh1oBw1trQxrPSTsgCgNymH1sq3gDT1dOs0gj1g8mAOx2adqLwprA1OYyMTUPoE
39uha+tL0clPJSlsSJjzlSENdUo0TJ7Ymn6AcnkJk55Ci4UeaqvpMhKAjMSmQ3V0TAt12mVmfUZx
iR9c7jR7xI90//ZB/ynXhgHAkb5WWn5gxk8ZGC13NGA3M3m61L0E3XxeHDpw6qUMOqOF0t3eKfzH
UJAK2dRivGrn0duBQoVsURSJ0kIuPvJAlXh++7FOo6c/ngo+DtjGUZs4ZfDqB1j/wRR5Oi6tfmYN
MF+zCsa7SRXso1cwnr093k++CywcIrWVLwwiHRj1JP7om6mEqNIUpGE0R9e1zpvDaJXsEwRK7U3l
DTgbhdvdGNUWe2HaqoutclrDLIpuOL+hHsoWdWne+8vYPkA/qX702l5odBX5R6tVsBFDY4I4AoVU
DD45eqn7AyZ5fcSXF4ULx5D6NnwNyA3D/Vrj9hexSuTOXm8rKLz3VBk/5W4whvuBDT5UcAAqhebl
UpaHnMGgbS3mmMcB+6+IA2WsKNMe1ccZXTd62+jZcLBwIqjd+KzinypR6wAkoO1ell3jbGgnrC9F
08DvnroKXFMDeuF4Ulm9fD927hXJvaLd5oH2ysMgxNhtqoaX833Zghwr5rbyAZAEp9PH0jfAsQ9S
9N0WybuQxkVvVfVO6EKKlNdzztJJTdxA4pp18i7K82Xc1G3oHdb4Okpsa6Re2oHEd9o3Zmq/9n1d
9VkNOjTALRFJfA3AcsN2s6idJvGjEY4jpJcAE/Mrip662uT2GIMPeLk2DVJjSQPOsuMqjPQdBoLJ
JyRhxq/l2PlYSVWUCKfKlraHznTdglo6ynpJ2DreDQudHgfBAtd4XE9Gf3GhAmpn7lzXLUyaT/VW
+WuBCUiXrtg7blDMGx9lWzcFd79Eh98QMRX36F2vYsy/18cTq0K9o33FukPAInc51mOrnKTTpt9q
S+dH24ZpB0uFWefafsh5BIcI2hdjE085c7/BAIV3oAhVPfhYqjZx5o5EqDfWdtZarQN2mHp4dB1I
pO1ybhBLOLXXeLGHRO2tBtnYvHG8RpSxiiy3TsrGsj+FFYnuRF0ENViAeWOluIqiEWZYmKeO6FGn
hnnsjnA5jXDap+k4gycMqj4O3pFrvxM7NtdeHec8IGOag2hzTgWxOjvDp1EUeyUSw8B6uoY9BmNb
3cDPD8rDHBbTNqBj0T1WxB7a1IDJaHgC06ASd0HAu2k7gGdqTBdeku9Njdh1X3i4M9PFCNdP/bwb
3pFCRlMWAblHNry1R5EhW87muJxcZMlkVY1XvO8X0GEsrh8gnm9KACS4iKCTV/lgEbhzpopRUJEs
HUTdkV26nkNMQhLkDeTKPKtW2xaBPuibRjeU276u9XQ9TQ3Fh02jRmT1Cp5nNanCOuMGHHIdrtkJ
YhvVyoM1Nd2doNLHzR8qwiBWSu0uwW6EmqIGF8Sxc127TnMQjT0A7FS5ca3CHM32wjH9IzG9jwZu
nE29r0ZwRse20QvZzp0XTrEbqgDlsblBD4dZglymOOAt3trpZ7Y1dsPKLfWnKdFI6LfPjdezCsS7
Vuke2n7yUUzB9w+7aGLRvKEVUQ5oIwdw+KNV1HNTEvaN2mgkZM0tth5YFlrtLuDZL9mYFWDdDjI/
HAGkEjTsdy3JBxh1RC0I8nT0Wduu8DctzeekrILxGgspUGeHNPxeNSAajPOwih7Rb0uDOxiUaUk6
SecimcxaigHfwfTEtD3i9gqFSIpCBc1morg3jz31GgBCC7iyGXVHCGMYsBQ00K50tRvng+jZhtkM
lHCVu0SPrVAuPXRgWnyUEGD77o0KykkDn9pos0rCiMzWDEyHbe6iykaQfRTxMJrxk2v3zNv0E+uG
dBI97UBRw3gb4zolI5zKiOq9ZddKpVqP1ftGq/AZ3T3Oe7cZu2HjEU+iJ94DLOBqYB0IuVSrQy8F
XWMHl1lNooOyjhNBjito6685t7RMjcPFex/l3nEL8IY2yOcRY5IJ3EXhlvGgLVPKCtncldgxwN+7
XS/vgxIvmgHsAo9xtpsKqm/BDB3BqGHfahoSMGNE3KsBdfCMe2/JXh60m8PjY66hGtW2UfjH0q3L
z6RtgOKxQbo3b7hXwltBYX2U6eD5bDeKIhBxwRSOOjLZOkqKSVpAj7NQ3luDku+MgNTlRkyNrI/R
UIs+lcgX2O8iR7i/YXa97qpFgGWnAk7Se7K4ZNgA8GWutRbi2XFGgXSzgSph6gRSWvuViwpOcFWC
ybTwIpIn4OXQ9naecfS3MzziCQJ3c/FOjT1A3SGqds4edPzzntQ1U/tGDfxRIA9AY8eX7XIEqbBQ
2JSe32SMUD3FBdrvm2QIJJy00BI2hF0W3DMecmlyM06lP0Lm1ZFQZBjDuUwcj3vQCSIDKOClZZdx
XqjQStwuxAYuwfBycEa7BTchvNONF7Uj5r4z4JVd7NbVsQ/2oacm4KJ6zEmFq1wxsKUceKmM3HXw
TeGxSfXUR6y/Qvm5uF8anNF08Wt6Bz54/+ME+Ou8bSxwqB8XLubHAMI0ZSpa2zG3sjHa31AT2DUo
gF2Y2NI1ILTFu8w16nkQ0ElkM5bw/Wo+AhI1WEBm1FTmh9IPWo07urI/lErlY+yYqHKusA9EnnKP
yQcN/gWzgYqMDmOg8NgIoz9D6Y/OTh/eo3Yw8wxUotFzWYeYF9DKI0UJIqYezE7aNdWmLil+iyd5
v58nb74y06RVEq7WKx5NgVtQwiOwgWscnTLWbYXkW6SQ+140IHVJo4elyOomzHkm8b+cHZvcKYoj
tCkeRrsD41GnS/Ye4m+svtLIey/7MQzYsmnsVreJRmX6AD1i+Dohcztvn4Op8L4jikGUSXWujANM
600DcGG4CVrHhvMDF+tqCThCtQlUmmVimAEz9dj69Ir7BGKqqhDzfN33IWqzho0q66tw7eubkWA+
5M2Mi7BDJQReQYWElwNhpgfAjuS08T1mRU8tK7V106JsVl6pQvlfgV0DC0nEbQmVt3HsauQiirFd
aYLkl1KCUDX2lIPREOWbTwFpgz6dpmicQFFqhJe4Rgu5cRzDlniah+WhXnwjQQVF5u9qDqwvAWX3
BU4LnmtQdNnAuiDBpBw2bf2eNyq2uOXc54uxFVjfCLgscYVqeiQ1OCJBZtmQow311SUOonkiGCOy
2l0zgbwgm11OQAgTohW2HaYlj/MlDA8yUITsQNyLubFoW7yrkH2F8o5u1E67oiyOougAObCR1Wo3
tOdRFdcSqJY9cjIgYOCFLR/M3PUkDszgPgddOdMMPh+x7g0ZA77BeUf/Q+uANsyNUIhKp0Zgp8Kl
gHfUgUmsiIXI6wiRuoG2cDnI6IB71ZUJYKptl8xAwk67zuqCKYPV8EU6sslfNkEEms1NMCElt8v1
EhabXDnu/TA4eozx/GQnPT0ooPlFF8++1kivg3y0T3KvD9190OW0wFOMBAVBiPXsFOhc5RckPq0j
h0g0iRcULdFBFxrB74rWV/nW6v0SZU3qgOoTSmvtFDt9BbpN+D9RVnEyG2hqVBIJCCFKb5v3Lrid
oBvuQ2iuRlb2gava3gOAlpvjoMGee+uGkFoArI8Sa9ssNv0NSSdHH2bQfJKNa/UknZjb2mkgZxQo
WxF1793KksGuq6jf4oyCyLRB1KHQ4w4MQQLObzPeaLLAs+Q9yF53rmjGMMkHGqBpFUmAIOVRsWkL
BeHTFtrvpV+yLwVtg3csCjud2L7yQZTkMgj2Rp2ATUcdTRSxT+bgU1O7RXjX9109ZmB2hR0K+7qc
dtWg/OIj6IqtYufprryVqrWHK1hw5GGC0p5vdNhGzcHRbg90G0qEBmwJ6O3LGgO66DgqjNLXtYuD
eu0YpDlude9WbA9m1Qpi0Kg03JXDAA+j7MfQjtU8ctS1q7DU12Wk3PJqqEpdAw4NfNOWC+XDwRAV
SQa+wKZWjtM+YMsD0VIBEgvMlcvA8hVUIMfNKF/YFbURaCaTB+Lj1A16fW3THEEE7mBKj4W2JrC+
ApvyRZace2m+WPx7nbOCw2ls+33e0QEUmjVS6DvLaryH/03ZmSzJiWRr+IkwY3bYAjHmpExNKW0w
jbgzOqMDT3+/6FVXqq1kd9FmbVUlZSQBzjn/2Hu9252l71negYWFnE/ZyqZNoFeKPekIeC5SfzJ8
klUQWkxmcbl/t1VlsYcoWVzRm8a4N3TJJbR6Xtnm5tFKbRROPX3trWUdFBTwwTibYt6Ziv5X4S8Q
X2ttGe+xtELvnLt7891bDVvpSl83QqmpK2lJtZr+1zowv12w1szdKZCtYNHv16VITNcpfbCsvGiO
sUX+Y9L61FoeI4LTEn/sRz9dqny0Xpp22udrRZxHnwSNP3y4PQ0m7Ztgxh9uCv0JvrJ/73BHqywg
97dOdLkaj7M5Wu20LljFEjuiQC2pqLQM0nL0ptPUrUodJokykGDj4repBlXd9XNfjdCNnnedatGE
B9vXWl2tMjbm2Is68DM/QgEScnK5WS1Yre55nud3hWkj4nkau6VEgJinkyZVvrzj7J2eDatEeJjK
JvjZt8bBv2Lvnv0+XvzmTk1FewbnblPmE6eDgPRs8S0OdvtRrUzeCWHP67HosBh/iCe0flm0a/iK
kd4Ysqa9Gd9KuG5jexhHJx9OytJFfZgjf/+wFLNeLjBK+X2jwyFMS5fiwUwigx2PjtOzzw6FqiOy
q2exJCreRXlUBfdDlket/DYL3ZOk7AxDjAGKP+NVLr90IyKCGqmK8X+q2VKfZr9ZQhhkvb4Ht5Mv
Q9/ZP7grKrKEmJDaxAS53i+M8pN8LDSVHNkQLPXP0ZHj2d9E7SVbaDEfiE12W+YLM67PObOFnblu
NyGSbmTTpYHTO+4Jy8PcJRUDnLiXe+tG96Lt+TjdNi5xqtwYzGAQcCJp6Jripk5hTH3ymjDWKa+D
cmHy2JwgW4HtXnw0XWu2L3vEOaH6vLeSmJTq5h1TUHXf+pE130thhWeqhl33wdtmMTM9k7j8zjLu
5GbdYi1r4irXvPS2AjDw/GLcTh2vFhL1RNQOhxg1IsaMwoqng1esvfekqy04reWsqbmz8lideWLi
Lx460EOOnJyXAEPLfondKgBBd604TPtcDsVHWfSMA25daEbMRlxlvA1bZvdd4afDNtr5gfHa6a6+
HJTIBhQkHE8QeedIrHsELAwK5NX24j+O3d51aalQJqVd6e3m6I+xvLM3aX8zk6CYYGbSuaI8ss11
W7vaTwEd1P0NlqIc2ChnO/SRW4cv8QbCXzuhQa2iXU596hrG6S6w84U8cO2FT8xYg3WgWtPc5SLc
h4PfzU59lG19Q31RUYYC78tiCM8oqDFIkPspTPNDFc1pWQM94/grt7666K2Ka8IZYhuYPG5nAGeV
58/DSJvCMZcmuAxGDFNWkg7/Ve7gC8cewn/LZpiA/kl2cd19iPvZih89AgkVWpZSgLWjv+YtGZkv
Q9zysmLGYmpo4XyzVs4Fe01Rk683a5G37yKLgfkylG3uXsTmk7VsbS2vlN4ZZX9e99uRadV91zJ9
sC9fomoOhlvo4mh/IuFx3Q6TYfI5LOSn70ddVo5JRl3l34ju5hhcG9YpKAeE95kV5eV73jFhSJVm
7M5n7irSuGsH1OzOCpRnP3GRxXdptWGehnlebunQ67V8clYMH1mz786PxgGUT2t725fnXOdKHtqg
Xeniq1VwElXnlRc8lrcdcZzqa+m3lZM48CaEXu3O+qpMbGhI6daR12BdoByIJTdrqh0Zp6YFPMjm
CPlLpoQ/fN5DqbYbyRgMyTr2HA1doNldZ4S18jigkePVFKzz9DjNO6J3dDVTZtzOUg+rWHBx84qN
+osY2IafqOitPq1dVX7zlirA7deXsji7ZRgtaS3ssL8so3ILOkeMfIWawpjqhcSxM1dsH/a2LuAV
WLrXK4vODIHXzZiz187zMoAqeVWxXqxMzdJz0rbvdZ6IwiFntrDLknbNPb8rxSD0vd0M7O15v2j/
GvDe+DJBmKpES+N/jwH8SEov81Y/+B6gyNHVqthSabPhJ/Ze7YB1oJPrXRyv/v6sqxhVumixqaQj
gPyraUQ53HFjGs5jK1zEF28cmldnkxCSLY+o/6SskvQTmh1mc3GKrnuopNVEn4bJLRF6hJK+07Yi
oJ9Ko6lJ42UECgzDYpn5BkB4TuOisb6sY1f/WkQosEb5Ufmbvb5rT1pXe/4YrBsUbNsZ7/vSrvaA
rN2JHmXMX5vw0dzo5KiBz4NxssoTtw6sZxSA/nACOVIHCOqcoW2tjf3gkEW9ZXwpzOGesLznFqzH
YTou4l9o4Wb8wqYp7XOpS7hBIvzqd1IH2whMwZVkMTQz8+4+x6xP7XI3NLsL3CWk5H22xfl0jJ2N
BEOL34iolq5SLNw9pHoC8z12Sa1E8wuhzX6J6tn5DjaIjKWmnnjku3Ayi31rS8pubF+3vapctqZN
5e92qd0v5bCGMgvRM+psnUerSue8mVYWfLwdzFrWOF6lPfoq0+H4G6jbiOfYU+twDCJjDS8eL6fw
MCAPaY/DLmjbcUzuESExwsNf7Xl369uoG600bkWNfPBasw6ZqYfCyizFhpPwXZtLkPP+ykQXafTl
0870trKsvx838IxrNPVrc9WytzFcd+q98TQL2RhtJetOF2/ptFvuaXCHqMqEipgwt6C2wA71stIP
Th4EA5ZY5LtCi8ZN9BjtQwKMIR6IRlb9FXo6HI/Ss1vzqONBDI+22IIgqedtYaVx+mr6NluVhJiM
zHCihs7/WGvb+tqEJDghuDTFiQmxnUBEtH5Am7rFlxxZasnEYG3BMV7KusvGuh56Hv1p8W+YhYhS
wL09OPXIrcWT3Va4cIhwo3aZsrstpI6p0c2h97oGqEU1fX/mNy51sqFgHA85Pqvl2tdWYL0vc8/e
r5PrzOqs6iqML6JcyiUrIjsHglAjTShqpKPhGBhjtiTnRNvv8LX3vzwdLEzaOFV7Jolmdk/W1rk5
YEXc1O6T7qV9Ya6cQFN3d3gyTE3O2TSuQMDu0G7yEgN9jl/7EeXMo6kpkriuQadf/aoU31EDk8Mh
20nap7DunQ+5NxTPS44fI7UHm0wcNVTldofJc2pPY+EF6TDwTk96WyPe2vpO2qnTtPN2HzDtfaZt
hXcTLUilm41BF8Euhzu/IceaX2U+uNmXeO+jz6JdbxL5HAQqa1gINxDLcTtUTMPfO3KUv9vdXHzN
l3LczpFl8NNbYaN+AvHNF9/MjjgOdk4MWBf3e5VIOlbeYxcqnISBLyQOnm8GyFe6EdqJ4pZomhcE
NPt9MFzc0hGf+8ref1ZqmIbLqAPqoIuqsWkckVJTCqtAyDNnmTxM21VlxF0X39BPgGEjH5zVpStA
8ltFJ/pT7F+ArH7+KvqyC7/C3W75Pduj3xDZ4MzOsWqrNnrRaJI8Fj2xLr9Cd4uXzFVF7GWO8RGu
ltyJ3ru934nOqyjmWDKGudE/lqGoH8Zqgf+DHq6+dbFEbhRsss3q1RenWpmoBYf0Bi8hZcg5cTH4
Mb2Ts+K7wQCUQA8IBoUy38Yhafly6kcpQtMddzjpr8uKs+IdTiFFcr5YKnHHKElmL++cw+C3yjr2
4GyGYg/C3cJzIJfmp3bHQGaWr9vp59ZNMwIf02xlsg/FYtPOY7PXb20zVgkwQBU/SICr57ytQg1H
ht4jjaFBPvs9bvj73GCqO6/MWhmvKN4IBqTN/95ww36icWXWB9sr63NcEtF5VfMEve+pwvWAdv3Z
JS1tsOvfa7CXFXWXkpLkIGjD/a5UsZR7Cj7u54iVBnNWHWRZZpC9/2SbLmn2cVzrN29j9iltzWOd
KdSK9vt25+553DH5lTzEMaXdiuqG+3YgXhwOFcA+FXXVxbTcNLbOpnAaP4xtywPbtAocVUkdRYdu
Kt04K1XuluksV10k61BxC+eR18wnS3EBEidfDK5Y1NLiYDe9R0dMEfMX2CEpLRzYQxZspeedysZG
d2qjmhRZ2UF/pzl+1vLVkHPksnEWXv4R/q17Qi0yBYmciWu4mxft2WmDnltRM1rFT9jGwjzZi9C1
UjMVw3zgH4xJiWv4R4SVKU7kvvrnyumtz6bn4Ep0s1cm44zOc9Yul0MNbNnGn4ei46WQcM4JWIB3
sWoTdFRFNl6YEupePKqpGcil2MbJnHwoEfIGc6eNeRngteMBi0DnvJC0n0u+rMuc1v4G0DmGFToX
MysCHRt/C8MM7NAqoYmQxGcdPPCc0RwHNrc4a9+kQ6AUm8bQdM+4HR2yS6x9Ed9WJxw/9Bx9r4NT
0V+Dg7B3IYwm74Gm645G7WjdP22yj5wremBZQSksXokS1rOtg6eFHC/RrCW9ULqKnHOg9u4HMAPX
Ssvp9jhN1dJktau0OTVNHZ1GCTOX2jU9VKcJHTPrVKcKkRRjvn6iE5V87zEw8KmQlgRR5SI/03hF
nVvLklfAXYuhzIhZ9e+WXpNVX1ngZUmBM5tBTowyPPG0z/4d0yo+u3EJwl9sQv2aTtHWBWwctYmu
GLCQkORdCd8mFqqFGWUKpDCrM1MJNiKwBRZ1nadac8unqDc5KFUoERncFqAHG+22fdDGKWhWjfV2
lHVOo9TKf/LcNM5Sp6KrK3kxXS3vbaEWeR+oePi1Vn7TJ8tSW/WVya0GtsCOf6w4iedj28ioPDcL
+A3IGjQqVebGtE9S2OiUOn7P8ETKYugf6ZuqT3AIioxrtFzNod1y93dZVB6fR9Rr8L4ePOqQ83BC
vuD5zX52FI14E9WI4NfpYG25nYXsrF6itgggxglrj52K1IJDP69c8WYN8uu4ars4jH1of1XtogPk
5OavoTD/Q8qBa5kGFGIUEDuSHvFPHURBFUodO3NMFxOY0gimkk1LMF9tSy34B7viZ2HnK0y1I8Yj
wIdzXLuQbXvevesWRnkize5e530Pz1U31DR0TPKj5pllgC+KL45dBwd/7OKGYMr6b9mXb3XbvGww
2fHBSaRDkvI25LlutjpcYEuOHfZPat1cdZFCxNA6i3epxxoSpRUruCnk3d+Eht5bAYnwb0rLwHdg
h/n/bwQkkFR7RLbrflwCd3yaAyRq+eQ7btLWsU1UPm+sFXU47Hd5GvPI5NkQhlt4aoTxvCPmBiIc
lNuE43nQrR2gdI+A9tmykciZsfI5dhiy1R0vuuJ5NPSvlcI1+6OjyqhMmFdNxRCvETCvTj7n8Blh
UzDoAdEd/Fovw1EueRQlLuQPBAskTXAY8rXRj0W9yc8q8G8e7X5Xl9VakIdv/WQ+0osFKt7u008P
OVMKoNt+RgQ7v4PoGA52VK4FspYlQHsyTiKkTm6Tk2ZL41LzJYXqmRFl779RUBtGmT3BwiW4GMpv
+7q73ZYwbFvtK6AzzvDRDyyRyqCrfjZ7iz7d2Tz73UzXGkw4crrlRRbDsp8cH9kVJ3TefQ3WCMfx
2BnrK8oV1OV2IX1K2bRvOkDWmg5p5VW5c2yWvv9ShmRa/M3j8Idu6Pa1h6SN3AIibrbGfz4vPlgv
6LvA3lnTC8gZGyUVdqSLy+U/eFPtZEbsy/chrr4sYa9++TTmHttifyDAC7q58Zcno/jM/67I+kOK
iz3dpZSCEAAieQUa/H9+LAlm4gIdkuYWVPqRl5n9KZbldPIJZ3nfQd2feu6GBIRhoCVjzr1PQWjy
1EO0m7quXKiaM433F7ncWzEuH4pHg2tE4pRtEy3yzw81ubqfaVjcjlati+sQUzLCpkBOreRQTAxL
5yVAcfM3F8Jby5VPAAMmjlubpctb8a3DOBQTg5MPmTVqQG01jEyelT88oqVHToLfGQaN7fm91dfq
2vvLZ/6a9om+r/1chMI+DpYTvwtoSDnsQ8Ws9O9f1f/6dMR7cNaGGOvttzeQgxi6ggV1jpywT6Zq
R5o8qqZ/0G49L38Rwv/hsmTaI7OQdi1ylLk93iYGSEhm6c0Fh7Y1+d/nsSe1O6638TAttvrpbsxq
vercg/L19tB2Noh4rQXsdL4f/r+/NnXbvGSA+31bEFPx5l4oJ218W67HXJnppWJ1B25ScUyA+F7+
/Pef9edrgVIgyEUbmSbm47dHM+DkjLpC7kdPaBZzgTw0oc8ZTrALWLFG2N7XOWLjnxkG/vKz/9Bi
otCnRvo/wkic++LN+TCuUQ7rxD0/K1++mAYCIHIXCuejsR4PTiAs+ZcbynW5dP+QMuKlB9F2sVzh
eqBK55+X1pnlHrnayQ/zXNZ8gwQcSQ4lQvwnr2Gm99S8XOYitBfEf1XfpVPrdCcALFZ8ViL70kY+
E0lrz91/JN1T8M62buWpjrUDU1aMA9w1MAHeIWdWzPK6ZuVT/jSMV2Rk9d/qpJ231zCIyTARtzx9
NN/cNG/cgFO1chf1kgUeqfN39p29TVpcix84/ts7mv/Mlz7qUVk2G2daI2SLYiwGzRhuBllev0Ey
ewtocF/YD/NseV9XUZT3/36T/a8PeRs88CvyP7Te/7zqvOrXpoHmPs1dJ5zjVqt5+2h3llCpPa3O
eMX8Nk/f/v2H/vFAc2m4RV1qqEjCifC1//OnIl+yB5/En5Pu5v4C8qOZzPzghRktP+wQ5g9kFi7n
YYM8SUx7WxiN8IozZPTf7H7B25MstD2CrDhfbrZR7D+3f/9fEtrCclVnQz+dcsdGXtehDrzrxtF9
CKpiF/c6dBt1t7PzVY88EblzwoFXisvA7oSXWMBiJDGueC/DyRgv9wheITHQkA3O3aLpOaMlZOSf
2MPIMW5VY/AIv1Lvx9CLxv5iXI6zpCukLc/uqPP7WCHgSMJ9BDbWq6uGhwaRg7hWPufctXQqN78P
dgC2bDTgOwl1bOQjKJA5F57Bs4qEBXTvGGjZse4R34+vAVEy25diL+3yqRtaAN113Oh6WlQc3nn+
4NP0NCFkUkFph/cFt1qd+rPEj0etIYsxctzwo8DjnWcmbgLzDmmbXFPgS5wRA0bY019uj7dHQcjr
luh84ua5STjx35yyWz214I2rfcJ4YOdkDMRaJeCe2MwKW5Bo5fV4/9I+sKMF45P0LASBdWTSOFdz
fWevkUHz09vD8pdR4I97hYxSTxDDdIuCQD7/Zj7B5mkTvlZsp72eZDZNhcaYWvG0Fjen6l/saLxI
ufX++0gkfAMvCgEjrDbMH+KNDajbSqsZw6k4oVwT/U0A5nRPeddXvxvP0tvBwxSBlKtEHfY8x6P5
FM+Riq4zAGHxtC0YUk7VXATETEcz+/YaIDZ6Bn+Tj3GDrC4t4mLx7yo0Sc6Xzmrr9UMvVV8fesbk
9aD1ONiHIILjyAJjM+6PG1lID3kH3o6R5T8XvCME7HG382JJZ65+eRCrKepTXhnLLfhjQeV8mlWx
budxpNH4o3CQfyem9z14PQJNnHNcxe3Jt7C0ZTd69DV28ujX1OWgKIUjCLIrQOUY7Cj9tQ7ktDVf
3aZwTrYT5uG1djZUuJi0ckqGKnxLGO1JNGH298YnJNxDAH3ObHWCEWtkNsptDuGjink8zJ615B9H
SPtTCO5ep8HWdD9Wz17aIxqkIUKXrPsP8eBiSOl7a/6tu0Ykeo9N/YO3BogP9btz8wpN4/bpJJXz
YVtVmaeMQ97wWVdBcSlYn5qLPwfLi9fpkNdannf5xRP5+tPjZOWI77DIp141zx8ir43NxcAeehks
9fh6e1nFSY/CVBJ3b5wh6XwZ1UkY1d5vp3ZtoFg1bb9aVJTvvboaxM+qipCjW7IP2z6Z87wqcXab
oqBd1ikhIbhZ7jcAySptR7OGiYjwlh6Q29Q9Aqx8PvqiaeFXhxVcEfKHLQbpz2ylbqRs0tOqpjK4
fbq+41MEtsdrlCuOfyUqi1PIwrqntjO3X6IVHDgRzeKCZ4U6/8oLcu9uY5u0ylO3iuDglkhvzsVa
blRwTCuOY3eflqvvDOoiFmuPDuj6InzU0HWcZ3Opo3NN2lGTBTIaf63lAu/YOAV7ZE+ag5UggIN3
QLg2mbueF5A8rgWpW4nF/tudwSVEeydnXdwZshP7Kxi7wJClhFyTzpPq+1S2JSnVhSEDznFU06TV
4HSwF8su9pQzm69BtrRTEEeztW4GfVm8cxXid3CdoK4yyzPleLCaYNOpF47Nexupc5A47aruoqXy
sQ/0YfBrL12AfpwpkU5Nl29PDX+8zDqO1egJjBwhTLFb79ZODN/Y/sP4hkxt3AHN+N2v9sA9Mkax
6wgc56n2/bVON7/RAoJYLkQeLU6cum3D+GRk7haHcvDUNXQqpyJQdEFuZzXthzgst0uLjOAnmpL+
Qk2zghamUt4/ao+8lEvr8Q0SYFKjucQnE+mMyvJ9T0u/26IEptC7V24Q85ZeWoTAUzBqlDr4Yxm+
yVa4LlYvPwHHzsNDMen1xaZKmkzLRjv3SDqtIdsm0bf3AJfkRYpdiPzFuLuM78plLIMMZQs3KaXd
7pfWsUHURoWBMAFQ43K3yBbxlDmFvWYDY+x6CKt1hbwiqW6A886rd1Zdy+28rUBbCNlKlz68AqQD
Cw8+haQO8omrEezUullxwSkU3+Q8gr6e+1arzRxIvVQeSLTVPqPa7199QDKRdHsQvKhlDYfUi4ru
br+55xObEcHLRIV2JOnXynw2yAG6axQtftZiBXhtmElbOkesds9aXdIctVDM/QqmZa8p6ItfkMxO
A0OKbask0ymm535zgQSMpoO+dFr1pa4wvJzjpldfMDFiocnjwvQnt6bNvijRBRLaJlZOPtjElrui
5t7mr48+GqVUASGUl5+7gZgh8s6CtT7sKH+Oe7k2/UE0VY/Dzo3t/NjKUu2oLd1ye578ZogPeR36
71pdQHG0vuxexjwkD3yw25s8ZEcrnd64nClpCKVR4Peu/0NXzO2HpdmFvjj+tL+aUDKGeCN3qiLN
K/xcI8hHboJkicLArseV6E5kf8vFQOB3m96KtKs897jlQKGps8bBweIfdKnQAkGutIP+RygDZqS1
UwR9IJoXz6ZaOX5aOeVfmwauPp2JKOL4iWKEjpMJ8Jhs5f5xJ9mrSVZ/cN8zt7VlGi4gEReSwm56
9hi/UroHQ5etEhYR+Mq1KD6zfYvKcNcWpJPTafqpXGFLOcfXVb4ExVj9HMzuPNd218tz2JLAyYFl
zU1CvbsTfHbgVXQSDaQEXclfsPBVhpSHjLBrn52qxaW/oOfrDlCdYWZvUD1F7az686Clu2RD1KJK
55iCbfbJJCTfY4v9nThquzhaMcKllNJnpc7bxKiUIOR27KOlvYblFBbAPdULNj/jrVF4lP4kw2PZ
OVGfytHtfuF4GxHE1JrrLHs0Echt6jBCkigOWJiu20D+Au7KGWfY7lJkz1lHcXkECWsD+bqeScNt
DcR5Cb3c/6DHyFvRW8+L82519yj8mIfceineX15qRDmBbcVLTr9TgAAjK8u8eHFLzDw4wJf1NDA9
jBzkWLXoA48piS8moE+h5714V8P7PcYjAqCMSzt/9bbKyuukKqxFHBWnBH/GODEZeIVVHwax4g21
V9ceeZv2Q35ZlFWrO9n4zkfHbHFzAbbH/wVcP/2o0GmRP7/1uf0c2Y1/EDMlIhliJDkgAXPKNnF0
/3kKVOUfZIuY7egIidtjiwjCQt9a3RwecQN5RvPPS8Wp/APtd6m4iJ4fnsyIhwP5bquOm1rnT0La
+Y/A2eP1nPOVHmTV6G8Vi+J+7FXT/RJFhMhv4MlsUl2gv8Ky0DVz1uMtbjmcKrAwY5SwUXvw7sKH
EUx7umDsnBNj+vVOsPLABjv7Ys6WNRDLM7H8sg0T6PXo1sT1fCSuN4e7tdZeHKe5C99PVdkUx9Av
Ocfq0Bv583ZcfxT7ZkZeP/F+v3QV+ZyEAbWX2mUl4MGb+damlnruvgvCe52TJZnaEYaHI1XReCZX
FWH1i1YX6bNVTiXRvHra9mfMfJrQwXHw62xRq99kQ9Vs8OwhVRiw253/cx2KPko2pV3/VK4VhQ47
v9/V3m2BtnOKuA/iQr93mtItkKPN48dFb/XOxBj4aePeECLJc0a196ahw5tyWtGdAZ21yR73a3/k
TuEJKjxWvqbat+UeOqf/RsAVzgNntZfgyYJUNmmkNudxR1DH0bM7es3a1lHyvp3aeUjCes+/BksR
/Oo5ToJkMWXQ3bXb4r7DDAfBg/l5qsI7q/XaNSt1v5bXSBH1mVUNh/U9uRha3yJOS33gfaD8g2sc
P3/kod8jdHPLeoipHhQPFhz8g6O3NribNcP8s98VFoYfSZgnnU98SdltlUZGIqOlST0bZdnRLYfg
nil537K4sn10OGUXvVrFKm0OJyQQSUswTHSWRSVxAG9qtxg3CAM60CWuEA0L6Jr4UebsEZnjOntE
rHvV709VEK60NXj5HB2Yqqf9zICej3MmuxnfP9EPTla6qBsO6CW1lS1rzaBY2JhVXjUSkuBYL13v
8NqyLC8bXX96IFLaaq4NgOa33Z5dYOC5Vz/ykO86xV0zT/edg0z2rm+8Onwi8ihcfo9BviyHChn/
cqHswH+2SuUHJyaqkVMfhds6Jxvaj+bAaBN/caRPlZJUdpTwt/h4nEZCb96pUUZQEIvb2gcBaNEc
SsvC3UZn+1TcK7+Iy5c6NNI+hpxey8VEdSE/CMyYNzuk9oqDqkq7eVI7epKHhrTY+og7pDCvzlJo
1vFxi2SLBproH1HLfDlB4nXFS008NvaAfvGcGdInHLdjGFKFhsRwrSOoWelgu0SK6TD196hUEPJb
5h35rAOQVl12z8U0ImMX5N2Z1DNwV/eFAS/97Eu/e0b9iNd9l0gDGC9V82pvhYrHv0B3f2JITPro
WJxIhF78ZwdhoQLkAcV8QqrWPRIC8VVj4DMJnLGdabX+LZz3Bpz9cy2O4AnIEaFdjzvubUlWzPJd
m22bT+VWLZ9GT6mUN0H5YuQ0H2Er8jmNW/NKzsz8wLz7N9/4//rxAACEiwEdgVS+2crnKARhHmAl
bGWQL82UgFagsf7w0fhy/BQ7Y/G7njqUU50a7y3P+v3v8Mjbn39jbMBHEHMToYJx/Yae/BdgBXy6
DQNmqRNwTRclOLhAYZjHLsifpgMpHv1hj7rlpsZDU89s2Wf//gHewhKg0S78DMOOAyrt+m8ugGaa
sAl534gLQ02O5Lq4Wkrbn2N+9fsonJcvAe/ivyDvf0Qn3H4qUBBxYSF0JWP+P3/tAmueO+SSqHmr
+gRjo66LaeloQ6uqMrvE5FCUUXRXOoRr1Mi+X4iWaP6C//xx6UnBC/4TnkBZJfVht3//X5c+igxm
Yb6Zk2QM7a5BSKjbnW3mxaQEIPb7XU9yVPsie3/42cSF/USkyjQe//3y/wc4/u/7n6GKUBOiC+Bh
adiw31wJclnaznGQiZdbsPnsUTnjtz1os/8cgt4sL8hWaB4cgFOCm0du+u0yiatjTVgT7Xzl6NQP
tW9c613Vxt3420y6xgSsQlHcFb6o9jMjwLYkSzyRALPovT7kNDqvHN4SPZIvQw5ca9jmA9WphZda
k1Pbd/saIahdae81R+3bYX4uCbNqPmK/8LtXdOKR+xiVM8aLQOZzcQYD1gRfhMRTnWsxGz+tQlCQ
49zFfo2FHMdhslp+axsMw0H3GeJ9cw7z7DY/sY7aU2IG5IOpJjjsA/C7w7pDakp9VzVrHvwFJf+D
mKQLGZf+Lc+fbJxAeG8uuY2IdhOVwVlGrHO2oow55l20Z0Hvqk8lQpD7oO7W69w1XdIxXT+RJh+c
Kn3jzudNpZ2tu/O/3wbOH/cBRBgEHMWcngBlI/ntn3fjtOv/Y+68tSRHzjZ9ReACAe2skUhVslHd
1VXd4+C0hNYaLu9k/bXW3qvhjeyDGnJZicw/cYbWzzk05vTMREYgxCdekfkSOnR7u7bQeephmkm3
TYZdzUszpugCWF4HMxIcZen4qj1lu9YkMnqsqJdxRjK0Ql8GHCqqG2Bto3wAvaOUG62j6PETbnX9
YkGb94+jR8Fo12dS+dXE5gG05zDoX4pWtwxiV7N8leoqiW6HCARwglBuufdTecK/U0At2LSlQAl2
EBngDHQyQLyk3khs6FP22yWhV4AbbOPOvIOu0We3VD907alXo6HYJxrqsp+sxvDLG8LORqZ9kwfa
HqJ7L20aKbLuY/QPtS2dVP1VlFOVAPQth4pieetlXwvFxB5jbLSWTBcBj2qfR5RPNjZUOFLkjtKT
ozSNDuZCEU3kjgSq5i3pDw1vhKenaDcOUdV+MESVUUHMyuqjFhUyDyrwnPHGQAjIeGkVdLN8KVIB
T4HPMD77fKiXvsvVb7Wkt8VdPVB+2QUBem1AYIWHsfJEewWEdA0uNxD5NO0T4GXhY99UPQlyPVnP
WqeNuhMX/vSx5mBlTo6IiLGNiA2CfepJVNVMPe1D8rnWhkMcwVMAzEAzjD6h3T3qXWTnW2QaqJij
D1nt+AqTt4VjOMb7Wrfab0Xia/h0ILlyOyg+oNg2iOp9i/G94RDFMYWgDQwQTD16nQAEtHpj464t
7Wpk5cMPXYTEzW0up2xzHUBR55h+kfc/0DsFvb9hA6DNjNpqgzQPjTBJvfcre85flVpiLN9IDuBX
rdEt4louNqFk1l9IyQiEgb6AhKtjEQwf/NoujY9Kmye3gJkUkOOWkQTQdsL2AOgpV/aeEvvBIZMG
Rb+DCcikQ0TiwkcEDbwvUN3RQLdjS6uQZECNKq0U75cWNPChkrEHMNaj2nhbJ4NZ345SBZRJMrL+
JY3r1txQCZbblVdsGSohcEjcq8/mN7N5irpocqJ4XshBOPmoayGO5w929TRVuLwQzkw3GRvtL/Zx
5/GIE2ZRL74HflmnVwTBaNt2gvHUVFI/oV/8Y4TnEjggTr4HetV/v34nnTVxGc/A0cfGOALcAhqs
p+OZkl0kiMTAhjN1iDNmNXwIfHtfwYP8GqUoyyBq1SV3rd3lGzvsNWXT2GI40Gu3vgrD/xabckaC
bGjbfjKRmEU7OrKczOtDDwNdP3CIh/L7uOiy+wBaNHzTUHu9Podl232eAjMQwqL1oljy4lYlP/OC
NkZ1zx+QfYFtoOxNeFFbw5youfoCQTSZMuB9Cy3hcH1oMfc937/s4HEwZsD1iM6/jRbbohub5y24
yNYz9lkI5Qb4YoxAbt1nMMg8WW/tx0x08ImAGwN1rQ0frIfUR9OXoSn1disaVMAdgkaUnWpybIh6
aiuOJJlwG5Dfmn4YicFeMyYKEzA9SWIc+D12sLf0FjCzXyrSQxGaNrI51J+6zfXZne19mgCsLagR
riBFXYYtUtZ5fpZ3BezkMdoa1Ht++xF6rooC0RQkuhStxKnq3I47XU6UBhGxB4VGxEjMfLobfbQG
kR/yy0M/ylS9PR+7GatNUamDeclDoFV9eGdSjkgPwq8MsYkIrNQtDCC13clNGI+OlssQTFDnsOnr
GFX6ktWJ1oBACCENkI/BQzYDFZLRRLP6RUrb4bMvytC/AUpEsT7MAychK5aPsPlSclYtam5iMBw/
CrLDXT93j7l965e3pf6nSZj75xwXnmSLv/2fs/nYp6b69at5+FYs7cdOTMv+SzOz/4YmZfM3/h//
cv264FH2f//x9//9j7//r3/8/f+cW5PN/+6fzmQETn+jhUuPEPks+riEc/2vN2MyXcezTKhASEnu
6Auxif9pTCbpf5MtU+aOnANvBdTT/zcmkxTxNxVTQv7IUOeTi937v37jyce67Ey2iDatGSyCrQTp
9JxmYVC2UImr6MQSWKWhm7YaJ7eQoVVUyki1lA6iXsNvoaBM8bRBfCMxJ30X4zuzj6Nc3aAT0B5M
w7BXmtELn7I/fxPHlyyf+NdirqdnyUz9odEg7LhxU5hfPC1XtE1KI+FZzRPvF0FC3W+7KH3QcShC
hUI3/SfATRSZBr2fOjj3inoofFV5jsYkQyBBC7FhIr7iGcySrP/x7rP/c0nf26qJ+SH999H/8+fa
AHBwHaFTf5apUR9tjViMoZvIjS1Dy+2L54p6U+2EiSm51ghnACmXgj5XmHYfh1HPfTweje963InH
WYWJWqI1POu0FLADRc/kVxLk3kEC0v80Cjv+Lbwu/EEyNH0e67j4FAtaXEEn/XmSOX+X98Lpi/Cv
ebx5jNjAhJf+w0rQVPLM3nUNrFdvLF9DuJsMdX99ueb0ZbFabFowBsDfZ8jB/Cve5bXzSxSCr2DD
VVK87TQF6TOIF3c0LNZwXhyg86EISgA2EpLY5vzn74bqYniWlsGE0Kz/jWguEYEnHmpJaTaVrX/+
6/NSgLjylBNBIDN+Olhf8iy0kBJhFZrqPR5+3NxZZD0oNL1XUsQLH8omwJoLFLgQgA48HQp19hB+
bRW5ERzHfa+pgM3hJq48aRdH4WYAeUjfAGu501HGVJfDwZAjN/HTaM8/Ue0GS1JXXurzUXRyS4aR
VYI4Yyk/C2i494ZJiVyKD7Al2rLdexbcsusfZ1HRmfc2ghwmZuz8Z2TVMBeRVkM/K8wwwnClyQC4
JxDZokEAkHQgi/FTFrAUYAhGa0D6bYZdk2KvoGxPg70/f4JQgH9RTTMxalj8hEjPItPo4sjtA/G7
LSJktUTXHKgm94jlhK3TdVW4bWZo3PXJX1hii1qCoiMFagEqmv/83TGwEsgeibAit8pan9wLIcA4
h8x/fZTzw4Ybh6KYaLDpimaai+1iNZbgf2HkyqWtOjAav4kxe5WSbFv6w4oZwaWl5MFEi5KiIBHS
InaloR2MNSpwblMlyq7qGn2HPocE2aZAFwsjwPtJ0+i8p0a+tpHmguPp9aXbwGQx/uApB8Y4//m7
xeyCFu6fVyeuNfwRU3/XRnWH2wQGFfJNm0rPUZI5yPA7Q0YWYcq7dPoUjNG3am4Dj8WmjWnFtD+v
L/35B8b4Cp9SggnSCOBip7/J6MqZ+zQFrp1Ae7eRC/kY6ahxXB9lgaScNzAQU15k6jbzp156KHhq
I6yc1H1+0WKUZmxIeb3RHHua8Q7SX+bRHKToK7rw+Y6GoH2MKq+mPofpyPVfcv75QQljQkVNmLsW
de/T+dKxqig3RZEbIOp9LAqVUnQjDzsoe4HjIZG9h9YVfhRmFayMfL7JGRmsPLNX0Z+wFisNCH3W
rWTjDchf7PIx1La0qLsdqhz6hyyM5JU1n2dyutuwYCO2IGJn2TG3PZ2pUKCx6D4zDbsmfJ7UHhWj
epAKIBC9qksb6l6ACuKxTOHpUaHJPH9amfKlz04sKogQeezphSxe0WIM1VGD9+aasI3v0C+wdwYx
y6Zoa8GdFWc3iLQ1n6LBRHw1MAzH6kIQRGpQrMSF6qnE9rwB59IjTzl4yJm9sYhV24LmXDemjRtS
oEN8IS/MhhKoyNsdGABR0UhLE2Qi7dxHTKjaGWNnlQgoUkl3ci0F+lCmNOA0j3ok7C1KL5usjWSA
uPAmi6NVD0Y3C5yGNkJDnnVPr1l8zbMAiMToQ1tB2KX5Ynba8DFFGRNajajGX/Iwhb9Ly46f+7ae
1Yr9ovpdtDP47/quP997xMTzGeSv2ZR48R1Cu/G1NIhrN5fQDK4BbdNy9zz4QAAxxjJUP10f7zxQ
4+mn1UahwDII2BarrZoo9EblUOM8UBZQg1WERtDLgf4I9+r6UOcXGENxcVlQXkwEgBbbHB5wOTay
UrshT/GtFKvelvKi8Z+MYsjzIwWbG3/G08NUjkgAD4HEhBDg3VH1fZU0/Cn/g6nApYHRQM5Bvnc6
CF4ItCzUvHHbUcz+ET4qHPYUbv/yKIjH2ChAzM8t7JDTUUapLATt4sbVKBLBofW+x4G69qJf+CoQ
kSgSQUqCg6IvXllrbDArL0KobADHkc/sfnUjGITrMzl/T+FiAG/Bg2C+4oxFLNvwutuNObZuZFNS
9/WxOkqwAW9IP/3dNKmpM/XG2gNyaWZzcg0dgG8EJ+F0+Qyz1FVzVBlUbuA26127S61kTYH9wgEi
5gflzwnSwSAsdnWaKZVuD1XlxmE3OoiQIrfBApCl6mvMggtpPM1CWZuRNgpd8dnJ/H1Yoqa1BR52
qNwoHyUg+rAL2whCV9Ga3gOAN/teaODopUgvnTwU5a73S/UTWkHRDuWX4bPoG/X2+pe9sMgGgRJ5
MTB2arSL7WPoXTyAD2zcbJrsA8YLv5BKUnfXB1lY1ry9CeQPFu8xDxTNysWt2BSan0CpaNw4j/wX
CeWmaoP2KaZncdUfgjwbiAimDGnZTqbjRBltxOXJj3Sx8bvepzjY1bRNRyt7RU9McMfZeZqt/MoL
O4HXe2Yazh/ozDkQ4RBqAlnRuo1tYFc29YHjCxvVQws83MqCzLvqNGSgnvNurMVOMM1CoOWZt65S
BdZeH1X/gxZI9KOCQL2RMZTa49uAKRQath9MwPSblPKEgzB/dIwUVMPNKTBXpr8o1b99JFubq/Sc
hvkVX1xXwOkDD92z3i3A89+DLS4h5Bdmu+0RSfhhKKFeok+Q1ZEjAcM29raWVS4VoEJ26q5pms2I
xke9BddS+E5gBoZwAn+sxKan42w6jZHk9q40WnAQOv2qjZ4lCgKKnVS4ACi80Lm+xm+tk8Uag+xX
DMyW/2RNnp42eI+D79PtdsNSrQEEvekhzFpOvWEBRNdzamPRr8ik+OTVdXfroXIcH5q2p+ybGKiI
oxC1n1qz3laF1WzUUVA2Avz8jGx497PPUgsBtUwHNclMQ13/DdpEcy0wFvs8jMR95g3ZTR/19gEO
hgUGq65vJDC1u8FE+gIR1n7lVTvfwFyXsCE1vHV505bJXSGbLemzDB1HqiUnAN73ahjIEMTIdzxd
X9zzawO4AbEA/HpSLAKC07Uth7bTkMPtXbr+6iGok18lNknH/2AQqHJgavg/hfvTQSS1bCqupgHn
KKPf5lJgOtT21ux+5rvndJtQ6aIAytWk6wBKFhHU2AC3Jk4YXFRufqGVehvBgpabUt50TamubMpL
nwhbPoah6wKlZbFuaB0hRQ6VxRVjhXL01I37FNn4TQFpd+U8L+iG83mGESjPFc95NNVejAUvCb0Z
PR7dytcLB7B7eFOGsdiLMhHbju79rQ2P7psSGqKBK9MZd1ZvDdlGr1G7J3VJkfwMoQrYFD78VBwa
8A6/I7zJqpVFubCZFIxUVFqTWHbKy9ylr002GI+wq4594citHThYQKUro1xIkagJkBvjDDtXdpY1
zTIVkpkqrAeWB4AM9DrGzkWBQY38pFGh2FaZcnWMQNW3aIvWyje/jUGDDp5ffwKfMiorj8CFjUc9
Dl8lSk08vssCoQ5SBiBAMbn9FCrfJmny2d5mhDdfVSMsBF3n+nG6UF6bu2z/HnCx00PcFcsUeRO3
sQpgEJOdHCpNhE6SGP7tGFKl72mvfsnkUf7UJPRsuwHjuOs/4sIBIMiixgW3lD7GksEW+EAao3QA
q26KEtYc4lFZLzXbTPXXPLMuDsWGol6psX2WZw31vBA1sH5yEe6mCGKXlqO2HTqWaMevLe38Ni4u
ESI6kGhzR2SuA5xeVbh00Abq9YmCk6UeOmGpyKlp/l0cV9ZRwluC4gPan4gftrvJ9qpth1amE+lS
8exVSrSy1c8LEnxoSAt0qwUANVk9/TVSAUFgjNvJHbkdsGns9M9AxbEahjdwCyGs3gjkAnfM6EdV
ddJKSHlp3TVFAx5lwAk4C/YUeuVNFMiTK6bkS+MDmh/SHFRmVK3spbfYfLnq70darPoY5WUmeklx
U2NMHjw5QvZGEZgqAw1omg+TNrNgEMpsy02v1orb+fAQdm2RGoepsQZ7o1KAe/abRANUjptOhzUP
6qAU7u18L2Wi+mGFQD6OJqBl+Z4TKowNzjvRPeLxqu2UBXKrK3M6v7UtyoSYTJIwkpeoS4NgHVYH
fD9JdRHpA48eFtLBDurUDTRfkbbwf0Z7a8tjhY7KIPInm2bg6xjncrcpSsuL91ALp4MZ2uZvL64k
mZeslz7FWKG8XD/I2mLHw+Kd0b3AKwy0LM6a92izoeiCVKLrKQiWR4o6HXq7DlcO1vkoJqUAOvag
L9ACMBdX1ixzpTZN1bqa0YTHSh2zvWGN3dfrc1nexJTNyDARCQJFyvOwbK9mdtEVfV317tA3471P
Prsphtj+LIXYQI+xHH26Pt5bF+H9xp3lQ+b4iXgDqQwujdMDWiRKoxI0yS7ilOaPJiawRx/W9CUs
P7rOd5LIpPSfE2Z3Dv8NuGp+ouKiERL8/8RRW0bNt/Yr2HNdEL6aZVsrWw3IF4pOmKskm0lvQxx7
CZ5Sx4Tf80FJw4QoozTCP+oZ9L/JVKmZXfra+ntVKf4DeEbzLuglCauOQJdbCOedzIOUeRTWQqWq
Q6eALYbbDLg7+p8irifSA72jJV1UWLbg9AJBljJp6DQ66jfbQFeLh1CyMCJCnKT4cX0JreUdR7Qw
s9V0i54uTfHlHde2Cl5pMCJcO1Sgu5AuT0e7h3uslT8kCOCfdfgbXyctMm6sLCw3stGCzaZdEeVO
qkX2LZid4mem0JzDjrCVUgQQQzXB/C2XXsfOVOrN2MOmCZBNLu5Bbk03oTe3r6dGa74HgVWUB9Ns
bHAcFl8Gd5PAlSujeg4SbKocP7FQYkNoRcafpynUhzZS9QEppbS5TdtGzVBfG2UKkSP0azBPkl9C
QO60l7b18wrkHiJiKYRhiJX27CdjRKJ/CCZELh0UsOuXYoqUyckriiQO5XeU6OusbWGNWHjy0gAs
7B3cquB21BsEK4WH8MnU4yyChPc4NY7WmNV0B1QoEbei05rPAlH9xOlaVMocv0JI984CWvgg+VP3
lANsNTeJL//BDoPCJgctzGMUiGXZAe4ZJED0Aiz+Yih87UEXPflqUfr5DeCk/DmM4zKEIjKA+kxR
PB52qZ+htDRoaMzhshMcW+x+gk2VedWL0EhhoEAHI6rmk/oFqscAvlTWK2ulaL+8Web9AzmB4h/p
Eiz9+RV71yKqxzQULVZprgxVBT0tio0FTcn99W16YRQKZvRlSV9AuGnzn78bpUhSXeTYhLmVZsVo
98XSLon1tcTvLLJjMgyDJg5FJUKdJfAXuHfaelI7ukldF0cZ7g147LJwZt3uw2gO3/Qc+ckaIaod
hD76QHZcryRrczJ2eqVxFmfbOe5PcH7W4i0OROGNKIS2NE4VBTpU/6PqUKOgQJwhr6+nxzIy96Y9
/rq+wGcwlHnq3AQzjFI1iSwX48LdNVXJKmkY1K3fOMEg1a8pywAcXLLt31lTdL9tgpDYiczJeCwM
VApjal2uIUma06fJi5L1+LW2xIa7URkrfF4Rb+1QDBbJSm9k/i1na0RDinvrjbAxR5HvdkOddfIU
tVrnDh2+32Ym5JtIRMlOawb5OBRI9Ok13gfXV+jSFrQo18/vNe1AZVFqwk8KHD56cm7bKwhHyhFZ
HcXblVEuXMdUEWE8GzYlPgLh06mhvAN5G0lBt7ek8Ch3kxZAkps6MEGEU1+bWYcQlnYZ/AaqC7Hc
Kz1Q8NdnemF5OWM0HAEjARBd1j+iDmueZJTI5HsLccLBRjBiFOGTnnU3dlJ5z2ljiufrY57VdNl/
BoEuJX56FUBEl8s7Iyg7XxldxF6OWoLKIibkJI7P6F7R8JExNC2+IVOzxQzXLbjVgZZjgr0GbVxY
eJJ0vP0O+uwy1ZK5mnv6AZqyarhzfbKdAd9xmPranS2jLJ1WCSx1dVSdQQSIcxcKRD4kFZxMH016
RRJmHq1X79JMKA4wndXa7xzLLDY9KScbb76bSD8XC5SgEYpJID/M6mCRmnnw28Lvzy2jMD/WUAE2
pY7P4wi09VuCdDuSuJ6OlBOh6/UvdWF3cAp0elh8KG7yxQLZqMUBRCf79fsW06ghaz8MXSBvZX2Y
2RD5sC2ksbi5PugbyGEx+zmiJFSm8m9xRE4/CyoQUaEWI8kQaKCDZ3Te3gDhfugnybsBHgaLWPM/
YY7b7jRJw3sWP4PdSJ9gCyrdeiK/Mg8t5FJa93F5r0U6Es2h39wBLJL2FbK1N11sND9GsNM3KuIO
m6GzEBLvFO22k7WXcVKDHRcyOQNffsN7LN2Jxuudbur7XZhlKWVOkL4cJ5orKCDQSky2SjaqD1oI
pvr6aizjbPYo3bC5jcSKwJxZVKRwGPOiLlEmtx6remdhbgmnu0q3QYqfYCRGbeVNWmai83iaTHMD
ghiCeTN28/19i9y97setx9YTLZbJhgm7Mw6aXRRU+eH61C7csgSiVJtloPWUm9XToSRf4/2dYtmN
gZ8d+ynQDp0trWWHl0ahnk1bGS61gRrE6SgopytRrneyW8MuwgSig2Uvc46uz+UtXFhuWoMbZQbD
0mZ9q6S9e6fQyiFirwPFRYIA7zGOCvGeSjz91BlZ/NUfhu5VR9y5ufWY6cfcHxQE9xLdLPGK1mRk
Q/IKx8Prv+rS3N/KwLQDYRQsJcIKT4TAR23ZxS8YAElcjeg8U668PsqFeGLuORLCUJcDcb8sUOXI
G6khT7MbI2i9yzsbwogvpyEq93YSv6h4Fr1SvB3bLRSd0o06tSU7i0OT2Huqwz9oHmrhUW/T7DvK
5/WjOiQmbkEGOgSOhk+jtXKtnS8LvxcdRGtOYjGJX1xrUWdTTht1ihvyyLPq6dZWGbtm5Wk9P7nU
+0HkKRrJPpK6i41Him9NRpsLFwXsHvu3ICDPUpv7qU6CY9RPfbryHS4OSE14fsnBkCzPE0+uD71+
Eq7hIfNqhQjtA2BSdj1ZpTOEib1d+e7nAcxMoPz3gPM6v9vzVAcUhIJU4WaA930zRLVGnW7RHb+n
WBzulT63jp3UeDtsnnCPq0PtQKkm3uJnVH6kEpJtfQTIb/FS+TbEVgS/ShUQeCZpjwbL9d96fq3x
U6FqgNWjXGEuo/0MDjrIFn5qLbW4WYUgZQvAkk6IhM3KUBc/w7uhFteaTcSD0ayB85qWQswIDWpL
CSQdox+DvYRTx8p4l3YzpxttT5AGMoXx06/ga2NEXpYKV4Vif+OHMrMa835llPNQ4O1k8wVM0CwQ
OU9H8bD3RbJAsLn00nAKrzTxSYmh1ROT7AeS/x0IMvv1+lc7T5Box3B60EUjSgWgdjpoJiudnVqx
6sIwM5y+SX7LhW490+M27mG8kZPb3fTNg/i2ckNc+oYm5GRUNN86dotXVzUwUNWVSHUHvQiP3Nrj
ltbz9KilibexR9H+B+NBr6GZAw6Mfs5iom2h663wB9XFV5nCq453j2lXhZMGGC3l1IJXsqoLx4Ht
Qs4Btwdk9xICRbU7HIc2nVySHII4dJIOqNv9igo/Xhnpwu4Eywg6WTNkxlvWCT10nvpQryY3Qm/w
kAXmA9jXNQDdhekAAIZvZjMIjarF58rUAVMxPGXctk3Q/mxiVK4FvRkvr/yV+VzYGXRhwFmTNtCV
VBenzbZTpZIKaeJLWeIDhqzqQ4wwxh4xDuVAFTBZOXcXxwMSSvJLAGOeTS3w8pFqruxG6HJAouva
1zJp/5BUM36c4iFYaURcKIvYBDFsQfi+wHiXr9aY10qhh4bsGoU8HWqcc5/UIEUY0PPkPac12PtW
CYc0QZtGx9D3tsalcyUDuPA5+Q0Qd9Q5boFKtDj2StOOKU+4a1HL34ddjhyPEam4NU9rssgXticR
r0yygW8cKfjiCQsLvzEM0LZuFwrvbhz8iFJeJa/cY2cdCrQG5vYduaBNixl01umMUPqz0m6OOEbT
Kn6oEnZSgyqJnY7j2W0tJ8GdjM7JrTAnzVG1JnSMvpH2Krqph9zI05tEDX8hRoU7zlhk+yzug+31
m/atpHEav871jpl/NWMTzsJkq4ospHlS2R3tNjr6Zo+mTh8hNFWHX/G5okapIICXJOmr8LPs3hwL
/VAgDjFLsemveJWqu6bC4S7owIaXSFbupKyqtk0WU1VaCXQu7Q++moayMxUsmmanq2llJV5/EHZd
s7Gqg1S06cfO1Ob03FujDl14geYeJWW6mfpyRoESeHIZie4rLrQX+t+0HR6GKskeGyNCzYla6czX
knkhRPPz+he5NEleBGPujM446UUYgXtNHUTdpEDsQKUcvvMftd7rxyTCq/r6SGdd/nl38szOrQEB
9HzJ1rW8Zor5+sKdrOIxpwlwUPy0+c7TkH1KUAnaUCOqNxh2KH8oQy4+63UyHpH2W7l7LoQY3HOk
urJQ5st1MWMEhcJ8qjrh+qLqN1x3j1lvGduWSskWJ0EgR77y6frU367Pxbanq86TYc3gMmOpQ1Og
kRkjdaG6xWzHBs8iSO61AWrVhsZlgiRNH9+iLAnPzcrjDjWIsNLNfd4nKBbqxhi7Wan/prNYBVtB
P2Vnj7L9atiS8V0i0JT2gennMf9WARCqNePsdxT1Q++kVl3EjtfVabypJFPF9taUrGljlbb4orTp
+DjqQ3+YxkYyHjRUmG7NkiLFhm1eOrGVpneIw6JpqU5RiYecrRc1EoAecrSF1Hd3UJIwgDbgCMNB
k4Mk3Y6KPxUbXZFK1P4CxfigenTNHhRzVIAwkChhg5tL+C8belsPToI8H97LbJWDjrfDnSxl2Q+F
BraxqQm3cOUxAKnJZYEbJTXD3CkbK39VpV4WWyQxrAn3oKJ7LaYw3Ri2Gv30EAMsbhqEdOdqX4UB
N86mdGMaO48wU/H8NVD5pU0NWAgq+Fw5gU66uHKhEte2QHbXBZnzwZxQzKxDE+HCbGh/ayMGnA3E
xa1Ju+9rJnvSAAi+qB+VKU+O1/fYhSeGRAiEGc83SkvL09VrsSQJr1cpsWb+DS1E2Iem5R/+8ijz
ERYaejCQh95Y8e9ysczEYTWSPNVFeAPfTmFgEKQb3/7iIIJKDVJ7ioy8h0Ht9vTiHQyRD3LTGG7Y
9OWu1Ax7O4Xh2pt8dvMxCux2UHkmZi6wf05HQQxEGxDVM90hwr/QjHzxOCc5x9LU1q6+s+udPhYn
f+YkE3YTQZ4O1fexpkJRl9zcjFS8OIuPsTw2myTOEIFJRLOV7WDYWlq+hqy6MPAMNiPB4OpFg2oR
seoRNqJ4Q0quQTf6CYWx3knKFPPVKf1pyfgoIbLSbBHtXduNf5YBTq48kO8kweSKspihCPM1/G6n
lABPJ0kN4yerNklSqeoEe5xrk4e2lsJpS/8L7ZFcqTp8SkR01Gtk7IpwAnecQjLVfJnChZFKNnKg
tv0jzSPzJZza8kMnIw6Henid588UVlBAxZI38/aK3+OASPiT70pcyjySx6DEAF4VsWPW9ZDfloYQ
iFkiDd1uuV7ND7FiNu3GbhHJdKSkNnHNinEor6bCR8paTIOLaoYfbrs4CZ8Mye6ekpQD6Ix5l7lK
mdqPlZ8l39AQQv/Nqm2sz5MUvH+MffLr7FTcbeBj9L+MamqnjdHU4hee7YgqjT0aQE1v4x6qafUD
t2ikHGqlHF8bvUelyQbn4O/rWscAiwhg+Dm0uvozrXz5dw7tl6w0qkWBAXEt2bsmDuE6B3qArRyS
l7gjW1L9K06TG4mbievf92DxqA2b4YjJQn8/ohDzqdGnWa87TIxj2U8oL26M0Zx2rR37iMyCT9jU
AT5626pR259dMOiVE/adv/M7oXZ7GUUg/BuNLjwqUoJ6+JS3FFMsNMlpnlFJ93KR7WVf+qNF6/o1
1USa8m1yW3qbVXRLdU9zKRRGr5pV1pjreYGOF1wX1F8a3MPLnU285VrtFO3x4vVvSjuOvyZVq4L9
LFr1MdBhvCA+mpTeZsDSxF/Jh86ChHn3UoWga8Q3pi5wunv7mpIpoUH4JNcB7nQ25mdKWKMgpxUN
gh2jjpcozm3X773z6i4dECQL5yhJ4+5bkiNlqdQyjEbjWRixdPS+LF5gDI5OKUnFUYx9dEDmCaH4
nB58EE3iqNLMnaZYuTPxLfirKSg8aFIWCjF0cGGAz/fnuwMcodne2bGXPvE7gp3QPERhh17b1B0s
WIR11xRVznPCWfyGPiVNCMaE+3A64GzljCxYnT8pUdxu8KCdDlEMzzzO0/rD1FnjnRxjw1Yjf3sI
02T8qIyx+Hr9E5y9ooJ6hUZqz3fgSV8K9smWFFhWFokn0/fyO2tMujtMJdYceeb7/vRuRKqLUjaR
8JwVLoHNorWq0GgCzZ3U+CBpaHN6ARKcSQ4RNBDBozWVAxLEdrfrx3AN03v+7jE4zx0lVTgvYkn+
5UITJlg1zdW1yn9AGBbRU8TJtqj4u9cX8/z1QVtoZvkCo3r7qKcfVA+GbpKrmGnW8EQCuiFjNkaH
DE2OHapbJpXYVuWeNtYMmS4ODIgGhBpFJzKO04GzMQBdGtaaWwmMBLGnr79h3q7t7d4eb2Oj77c4
6OUomU/SSnx04QhTAJ+x7hSC4WsvLUpqMepWiiar66Xjyxg3xrPZohPeqXpwq8QBDoDleMOdg2Gx
ltuPgxLd2AhsNVLw/a8vPsUNEjuuL1TwFmtgFIaR2K2uu2iQtB9wrfazTdFV4ign0lcWHwIqpJKU
CCCePl8f+tL2pqw50xEp7wCxOV1+3syoQGVdBxqICL3Vhul9aOLjhnlej6sJwo9FAtsYS3Bkbdcq
yBeuEcqpMGXoxQGABDx4OroaZKYdDUSPHT5Tj3IWFkfckfAk703rDxMLh02g1RpWTNCKngDsJLsh
16sP15fgrJ6GtMz7H7G4PG3PbDs8CAyaJJgzDLbm7/2eBFtvEJuAZh/uro/39jScXinImxoQDWGY
E4wtsSTILyOEjCiKW8kpDth1lMRfVCNKv+k8FB/1Asiq08hW4jtN0ahfiCeUektXogJzgltN47Ab
et/xTbxF9i0S2NnGAK/6hYACuFyITUCzKUGwFpsorOMj4asOiIKMCK5EE0pf6qgSEsyxuD0mioIG
dQy69cdQEfNcn+mFE0YUTdcYtiNDA9Q8/b5lPhCKVZbhjqj1bfJakm7surIfoxRLDPDCsJrGAXgT
4L8ND8YdTKR2UzRBta/RSV3rSp5/aH4Nkf1cp0Uta4kiQJa97/q8NFyActVTltm/OOD90cRb6K4X
OGVcn/35+8Rw7Gwq+DzN5C+nkw/BCM6eAIaL6YV6r+dpT82mC26uj6KcX6Aw1oFVI7cB4w7S+ukw
+ozP5vIyXa2U9O+A4cnsx+BJCYX9QeQJ51ZqpC/qKNXPXTIOD+oQ3SE8KP2ELkZIjeuLvvOFh2ii
LFLPtRHv3sp4hIdOpnTjCnZhPkvLrY8H0dx917l0llGTmchhgTyh4famPwGG9MWuBqy4AUkn9tcX
5sK6cLHMKekbqGh5ymKj6I2wUE037vPp4KOie+jN0b7DOkDFsRgRMqyyMcHtLHnlgJ8HpKZOODrH
ZHCjzwrmWaI2U2QG/pMyTsNx7CT/Bgf0+qat0XD3MXDf0fjOVqLg84ucGjLhH61l7nIwMqfbwMck
00DKInhCFCK5my0ub8n4im1YCm0zTP206SobvKno7RsQ/tP2+mqfn615eB31xTkepk5/OnyuNbqQ
c4bH39s40kxqabUY7baVwDyDlFqjmV4cj+AbaAp3C92Q0/FiOTX9MbGCp6hFst/EaeiIXJSCeLcU
fO5bFIyvz+/8MM9oG5hVBs+zDuZ8MZ7hqf+PszPZjRxL9/urXPSefTkPwG0vyBg0p0LKzErlhsiR
83A4HZLLrrWXBrwxYHhnb70w/Dy18lv4R3W1rWAICqfRQHdVK1Mkz/gN/0EDpZEcBtoslDhANZSh
Ep45Mk5xE2Qx1Doh9yzgFBiIx4/pQTPTjtaSgx6O4+NkQQ3wRVzk5m00KXEfhGVev4czCZw30zuH
S2CoFiMZcIBQgCKkmn1TH6TEWTgZD91sGz+KWEY4Ck9t8S410EA788qv3Ga8MsELgEEOIpomx6/s
ahP9L6NOD/HkKJsyibk+s0L/NOexsldLJdrUHe7TtYa0euSGOKcbAhXl1lAeSaPdLV5KxoXtZu5F
ovUOmvfonGhh3R8cPGCuOmOatrC271XcQDyg+0Z75bRue2FrUX2lFw5q+CWWPCW57y8nVYT89A6R
pAaRZK8PVtsLraRys/SALK3fNRSeBhzUSbtx37Vr/fPbC+z0ZORp4A5BHCA+wj11PIyNFc9Wh+3k
wcq9yQdqlW50q1UD1JOnM4HvK2uZR4H2RXRuyZdXiyynpF5gOJAcIr3KfqsWT/Yoa9szw/fqUxg4
ZCK5vjn0jz9oyAR+hGObHoxZRHsIHMoGI6lf1T1b0v4FMPbPpyzH4ovMV9GKZrZSnhIbizONmgMP
9LwHVxXaDibN/8cxRxoIOnxBj9EdXA2dOsrBcQc1PTiTZT6KvsYcZJocXGQU76qX8bna3OlVAiTd
th0D5QjKuOuWT9yorpkjXnrQAfvt4JF2G/zO4r3UCQOtcQo3UyLsXz/LKak5KkB4PpKKwvGYOlMR
9XAd0sNClLnIhYJNGkA6xJaTb5WRnssCXrm5SP3AnwO5Nw0WwvHj4shSYrOT2SHVMANyjPIaP5HH
Qpg/9cE4eGN6YxbW3SjKXxX9YO3Q3iGlRzQUw901tTGmOoLEOGd62ANnx7zUQEV7Gs6M5isBGrfx
ImxJYk1UoK+WaFeG+Oyq1KeQMYHDAYmq+62EO6Nicsyx5c+5Yl2qBGMbOs9UPXuYnJGPaX19neiG
gR6dNNUf/Qh7bZ6xsnbCubW2LgK1u27w5t5H8iE7V9965X6F18GuhQK/aHaujqMxC605VCgJO7JY
evudwPsjS/bZjJD1BEnzzDXyyvFHULiQ7ulsGiDBjxcBDMF8csOUclozPCXUwS/TdvgBFeacxtMr
xxIoc6joC36IRy4f/uLAEGOIHPbgFAekwaFJV6kZdLoznpn0V/atuzSIF80VyjbP7qgvnmIXk2ZW
vVkcUPmhvaYq9kZCVwsq28MfDdGmTYNI6fbtK+QUU7BAXsBJ4Iy7qNKtB7EYG4LNPioPUmvcADBl
scNYVFy7gAr2DQ4Ch2I0wddXKLOluWd9qfW53JD5WzCoqOni5CR3vQjLu6Z3xZ05ny0cvjLN+HtQ
aaLawt2zhp/K3i2iyJ7KQ5r32bWrztTVVTlCFHS7M1PwykQzyxQGaVBRoFzjOLoOAScHJv5BT8UY
NKWCSV3eFru3x/yEPcshAq0S1AEXwnO4cLyeVEdqKC1l1QH+EhZWONNehY1VfJrF8LyhaZ/QZ72Z
02jYE/lUuzrTxS3qo5Q6LAt3yLmD0aPUP5q6SnYApsptE+bjbpiz5NIe8ic9tSB26/X8LYJVh+wx
lLO3v+G1kQKXQEcUqTlikFXqoMhFAXJwK2JpVeMAbm1kL7B3evspzwiy49yPYH2xVlmQS/ArVjsv
gvEHsM+rD2VnZizHdEj2dVEj7YbtmJFveqNOvsYZzOCN0Dvj4zxFNVLyphl+oR2hHYZRHz9gvFg/
lrNtfw3xd2t3ntOkB4y7w28w6PSSAuKCssZGRqv9zA2LM1vstaFaKt9LyflZFvF4trG3MrBEz+qD
YVZ5oCGdhlVwW3hPb4/VKR+GVUU3cNFLhhRJ6nH8nMiz63HsvORghBh+RPJjJWmh4BHq9S1V/XZr
9to2FS6Hv9UG/SgvW6neVrNz8faLvHI3U36mGUpnhRqpuozHi3PMQFmACS3Tg13V8LyqerzEfmTA
7cpr994sf2IQuOvDrvlgjGV+Bv3xyigQnpLEu+ARbSSHV5GBlgk1hYFXHhpjcKCMauNHI56Rm4Ao
sk/xn8782lDTwFKr+BZ7sHJb24O7h6OK+2DcWNvSNKozepyvXOccXwtNEI4UMCBvdTNCj4uQF6Ie
6Rhj9KVpswkKL8itp8keFNxWhY57kDq5EUp1ZnKdisa4wCMbOEMfaWq4TfhTX5G/Jy/C1hZKSSfG
nxJL1Qad9FCluYeL+7kuxnPMdrz5AJxTCaGpTUcBpZbjiUzDYswhk5ITtmbzgH+6/YGSBJXDiO4D
WlEIS1Ybsg702B1o05fMSL1HfTpRApnUrgyEFfbZTpS9+bUKVe224+N2ejk27LNRGQDl2H0K9y9U
KiVoOQuXsl6vA9ef9Ox+UEwYOU6ttE84wPIzaIGuRJt1CLeZOabv3CmZ3E1tCFlvNWjQ2abz0unW
6gkPNxRnR/g82C1vwtYry2AIa5wCDQEkdyvdFh/6vjHyejOrwqHKBkLpUon6WL1S5rjdZ7Gj4ziA
7tXB1hoTjHAzN99dKMI1b4dUGbkfXhzOHSJG830tAWbMeIF/qxCFEX5oKs37vtP7LNDVWH5RGwer
WhCfWD/XbVZ+C8Oheury2ZZbgunyonMRXwmyNrR0CLu44AUmlsjAh8ZRUa8SiZ8pxdeqbgKN8x1x
3tABayKK0jp0mSV0CrvR9D2DcySCyWvpmqaoJtl+lqM46fdt6/6czJpG7JmtfnK2LVttwbRRqLUp
W60WtqGYVgIvZj7YIgM2xHmAOKSoajX3tcTNIRzPDrFfP2MsrXi5VD+kgFt3g16i+Qc6RMuu6QOO
td9WjfFDH8fwvTV0CKqTv0RBM1c2uwPtwz4g2NM/18McdgHMOXkNzV6F38oUPCQ9+dy2j0z9KXG7
GCPIuYEYbhoNNi2TNl7rYzdDwo0bwaNz3cA12VO/JKU+f6zUnI0jBlEv/slqfq8hqEUnqZuyfAth
Nw+DqkrKepuNdfHVRFdV31S62+kbyY7Ht8CbJLSM3CWrc4baeFK7bLo0xRi1ftYLd9jjjWJIvzFN
ChVj3ulNAAQr2jntBHarMgbP2rl9PWi+Akuig6c+Qa1xYtzvymoq8O1LvTwwhIY1XWTF38M6qhJA
klGcB5g/2vEVfD6s5sPUiH+qcxf9hpJn+qjF/ehei8ZGL7Be2AmmoUz49Kaxt5XFDCZN5tkEpc0o
5usMjnS55YI0n9CvDTks+yj6EooIzr3UIcw20okhgytAygNFEeEtHplZdRd1mS6vsA5Xh707gTXb
zU1VPb69xk5qsui3LCATTo8F0aOuIo04CdM86bv2IPHpDay6xhdIbw4txm/+YKFIauXyazsa3pmy
83K6HZ1+cBQglNGrptuyCEMfn35TSgyWzlNzqDFRCaoe6eQqwsJ5Dk2xx8vuHMPsle9cmOoUjrjE
SWZW39mmpTa6Zsjz8vC6z6lP9aGBw6NRXPdNuWdtVdtWN345oSUK5RuJNKnF0dpcPRanF82d9aE9
xAsLehGE3+Y2AvxvT+JJDE9Dw1ngp2CUqICs4zgcn9ieajEcNOEcxj7+kqumdyMX499ffhChz6KO
AkyadbO8yIvgI+wQwYn0vj9UCGBvSFrgZdLM2GWiORfGv/JNgNuRWeYAtCkIrM4+qYFUIH4cDyUC
wwFnwryFTulew1vLznzVadOTavXLZ61S3dSowCj144ixMjpGnaAFGM2IhxmZjswFF+Ee7wrno2Vx
I9dx2vjU/KtfjWN5B9Q+yMWAT+C5uNoQDlbhUMKc8aCjr7exW9u7Kqf5nDbXKeKSx5DHLqEyS4WC
wvEM2k2aCatRxsOoa9VeKezhulEm+h+mnK4BPriBiGT64ObAhvJFfBgcWr9RhOX+anmBF3nW0KbE
RPaxfhHst9DBFZ0kHzcbf5TC2gLqqDa49Jz96NfW0oIeVNmLy+evxhbBF4A6eTMeWsvYZ3n0Wbpu
8iSEwDgu3Bt9vMmMaD+N4hJkwzUY6vcdq8+vHUO5dZoJO9jSPhPGv/JKTAC4RjqflD3W6UTSG4mL
r9J4QJMz3yMTKd+lOM9dNTqlpF8/HhbFKtJhD1wWld/jOfdEPkwmVY9DY3UA0bLUfUylg0ykgUrU
2wfEae+BUpFN0xPfCzhoYFeOn2UDeVLiyNQOEsAuaZ/qlOrOJOQqcVn0oPUlMq2VwBsLIt1i0S/8
oOKIdJO0I2K4KUOm+7NjVfeC+1L6Ux+a1xFhdLrIpsJk6MLC2AL4s7/OcELf5Ql3btCM8uc4V9k3
Lpt+ui6kgmN5mnIjOyMwtNs5lOUvl8f4UN5uSQqfxUWXCX5xFAI7GoxosqeDZVQGzJB6xoPcKx7o
JIgzWddra4VG8j9QVdQtV3tWGfpBmTJlOnjTMG3KbMiDuCgg90/xWQHXBdhyfC/zWXCnlk4p1TJn
NX8IvlU6Rqt8Vpc4QdWJGv6+jax5iWq5ocS3kGGUTQaJHhdS5UbqXnXmYFiesHoDZ5GOQl6A/BIQ
0vHA5p5ijcTc06HNQfgj8KUSmkWomioz/4gg/BPm8yVt07k4d4+eBiUAQCCHWyj4LRrdqzuHZt1s
xX0+HyzSGd8sCuSobIkNWWXy4FH79X1JfxhyM1x0YL7PxcMXS0jYeTM4zqQePIg8TqKLD0ZhdJej
hHX+9rZ85diHpbXQmgi6yDqNVRzSF20713luYcLn4lTvAUJIPZetIwQsLn9ArveyUgBO+CW+gw4Y
Wm/UN1GdgUASrfPx7dc5zWsWADxFX+aXcuCa2VgiWdtU2oIIHr2nxaEd5VxXnDlhTycTQhA4Mipc
S8FmvZJL3UuE0IV1aMw428mh4ZN1M73UOldss6HTzpQhXvkol5KItURhiASu0Q0U4BHbiBrzoKLc
48uS0ldTed3u7aF75au4LQGmedziS6/9eHf0ddtQIW/tQ9lYmIhCe7noIyPekz2MABtU9VehWBwH
S+Ea+PsyUWsd7bAV+TyZk32glaIFBdHstlclheko9y46MZ0jZp/ufmg+YLHozqBwyf8ef19RRqg/
aLFz0DxgSCH8c5gvnXIZCcps2ty0wVy6zn5W4u9vD+zz/ByfO9zGz9hDdGVNzsDjJ9txh2BIw8ji
gyV/miahdKTkzdbqlQ8McftQ0+/f4CMPvl7Nod/Uqb2hpWtukUOY7jCnzwMvNb62BIeYP8blwUW0
GCd0x/QTxyrPLO9nbNT6fUE5IwPKiUVTfHVOthlGXmNvOAeRK+XWhhgUOH2bPoUV2myqRCHSw01y
Q5I13VRtWZMTR8lW63Cobx0b+1H49kEmQRW9PZCn+wD4B3CMpV5BS2eNAwkHhsOKxugh1IG9T1Gn
BymilOduidOLCrI5BxJyKzwDR5fj6QJPJq2U7vWDQj3y4AmhkH+PvYfwTN3JL9UYmgdHUDQIZrop
7i6NEBAKkkTDEdhoGpzMSV+qdzm3HZyrOHG/YjjV61culkgXZRp5+zhNwb65ITRsf6yTSFLvasW8
mSyvO0zCwjvMLkmvfdVKGxMnOKv4iJb4fG3bZVMgvhd78B6AnINPVs1568RpdpF63lA8gXqaEbXo
hcj83LHzLaWa6jevh7U/NHH2wO1cfHeixOwu0J4qP4jG9IC31In+EM6OsyOZKb6oooobxDnCsdjY
fMyPxUt79jmF5ifdyDDnarsJVQlDNs3VWPdNuJWa0C4Br6Tfk1rDQjer8iwK3MJsBDp1Nh6+fZP+
FISkyJjr0fybqHT7XSr6IkM4PjPuClx8673j4HCD8PeI7XqPth7NnLCO830uyyHI49xmXQnKq+C8
xm6r57V1o0SAtEGfmxLnktTOtDPr4aQsTi2B+J7VAMiLsplxvBy6CTFUJ++Sh7RDc96zpb4xCqf7
1JoK4i3G0F01ePNuK0GTa0Y07kyIdnps8fjnah19LTqZq8ghmfGfMUNsf8rM+FSM8eL9ndmBg9c4
pVenv6ddMvtyQMP07d22/OKjUwAxVWIkgOKkMKgtr77bTnCk6UENPNDMaW7Hyhk2TWxrVynFsJ0V
ptEtMb9yZoufhhMWkTm3N1sPTALZ6vFoKzn7kv2kP3R9Ud2EFrVUWSjjpqDnfimI266tKgt3NYZj
NAnw43azrLyBnivOXE/Pgcvq+8FFICwLrhORhHXpo2t0TfIu5sMc2yDqxt61lG2qW/Ld6E7anZbG
VHtDXMkN3zajHtDSYD0ZLd4HkEXFgGp+U7XXA9mR3A1liWe4J5FvKotZlZuaQAllyRobjWDwwnIn
06gFCIw+j4+6Xh9tAZOa6casTO8yI7MhLJ2R2N9oWlmjSUZNvAzSBkQ9eGmBPmHkdNxgb6+Ak4iA
SeAo5L/wBEMoZ5Ud2F3ayIY45wEPbAv0mVcEkCTnXd3IcovvR7J5+3knS32poD3X0WivgtdY3udF
1BqhtY0jZGo8tHaT3WJmZEA7Dt38g1Cr91mj6k+iktYTroftGQ+7k5tleTIKg0ufmht63XzCkb5t
dWUyHmQzYmVuKHkA6Obc/fXK4qa7RYlkCU2XyvtqQAuvGKVeC+MhmaLqKvFyzDGtIr0ostzhKpsj
9P709E5jcj9bU/bJ7czkEmXqc8JuJ2kfnwtOAT4HGByDBu3xQOe12adJ1BsP8CWm96osqwuvpskX
d0r08e05fW1kXz5qFXUR2xUmhr3Gw+IizPJRioAISW7ffsrJGQ2oCMgN1FRsHKhULm/xYuUkjqai
sNTbD/FkaLtMTYpLEO8GXpxTedHXtXYV6QaeWmo/306Zpp05Kk/LfACaqHWDPwDrz3iuQobElFz7
dmg+1OboblO32CdxmvtmJ65B4z4NpXrXzsNlZTbvBic59/RlDI9PKpA7hO4k1ZZNW301xoN0FLUr
Y+thnsf5ts8044CKbnw7ZN28aRJwotBsmx94Jhefmzz/UFbJIlzbpOcCx+VKWL0Ice5CEmMaKPqv
rozW653ZaQrlQW1IJHzNkXSyEWXp3jX87N4usIP1RTnWRuAibfdTRv1FxyELjVS2UzB3NSbhYvbS
r28vj5ONZy6VSZhdXCs6uLP1/LRZBHgcaNhB76doP6rWjRtNxoVjVkaFX04xXSHd295bGdgZkRYK
9Yis/NJGRnJuO6y3HqxruHQUAajOEWWuAWKa0ySxTbX5UNa6iDftpNTZVo8J4r1MZGUASYZehYX+
yXzj1Qog8roQCLdFptd9cvm74WZEjn0Cvdbjsz0bbr40wKSZbJsZRSZfNVubYxN0M3Ki5VzehE4u
Hb+pMuWiyU3rm4BEcENnAd9tNUraJ5e7tPfhv9TSR6N8+Gr2s/mbp9bJjahUegsGiZMXVCV0v6Bo
ltpZGmXjR9eYOjDKaXGNU6CFqFZa6j7RW61vGlIZBemSeh6Dbs7LlDoL7V5fG4vknBvVCRBqSagI
GaBogm49Vf9Ro67UZC2yx8jMGv1ynMHc+F0coeyYDG6r+5z32Y8h0/P3oaK3VO7mrHvUu964IP7O
vyZaaoKwplhM2TD1ojhAgJcqhobbzs8z63A5B15uEN4VYxGQBBDcwSutU4t8tqq2SHlXWLkIWWZu
3gW40Wv7wlD7vanH1WWsVVipp032OC2ClYAvho0msyyg/nlOSUVbb1i8W+i6AD1ZGCXcf6toC2Xd
ZGqEoj8qmIcgkn5BcXqr2Z9jl5JGa+8WDZfK/lJo6Z01M3LVcGGO2S8G2LwEFAq8VVHHgSvyLNLx
4vBGXsXqrVBXH/OqtwMbx81AnSd7PxB5XxWtKvy6juVniSY0yp1nYo4TpBIBLvVPb+HFcStzgh5f
HV3fWaFjF87jrN8n+W2rvavoyrpGv0GfcrP4qJlI8qbpg915GLd9miCqGWYdRNZtQUTauFuz1HxP
/y0t071aNGdutpOr5fn9AEv++X5rB7TRlaOSabnzCDR2X2zdy2Hr+uM29g9vr831Fbo8B3UKGhms
Tup5q3EwZT3iF8Q4ZL4eIIUSDL7csIXOjPfJUbx+zirIS4ywHqTN96iB5rdBvEEFcrNNfbAh/1hX
/3pk/N0+m8R/q2pUViJ8+47/9d/dJt+Isquf3b8tf+3//LHVn3pX/ygfu+bHj+72S73+k0d/kd//
5/M3X7ovR/+yLbukmw79j2Z6+NFyqf3Tvn75k/+vP/yXH8+/5f1U//jbX75VcFeW3xYlVfmXP390
+f1vf1laeP/68tf/+bO7LwV/7Y/f/8Mfv//XP37/73/8/X/+r//8H//4/T/98ft/++P3f//H3//H
H3//L+vf8+NL2/3tLwrF4r8ilUJQSlC4lD8IIuSPf/zIMv+6JEIQ29AkBszAlJVV08X8NeevtCno
UnB20LKgg8AJgxzU889056+LMOgirIXbBZRT9y//fOf7fxyK/5it113cV/0fKq4IZVBwBYeDFDFX
+Cp47rD965JUTrcy6cOdQBL4upNp/84dXE7SRg63/djJrUYV1qfuOF/1ZVVudTXLN7JBaSG16nFj
5G3IFUn1TEF01O/nvEB/giMG+aH+fVLYChST+WMz9h/ElHyR6di/D7Pe3KuWoE+glOeQOKv9zWfR
o6OoBbeeyiTeO0sa/uL0o5rh4fdajrd5PbvoKQwqaBlEABs40M8vCuo0iNokhrWbTFc1PMvgxer4
c6T/peyLe/AuXfu3vzyL1v3fW4lX4A04ffHXAvpnv5Lp21QXa029neNh98kVU4mu0ZhWFwPi+6Xb
jDttBKy2AagTfdLCNK6BwoTdbyoiJgd6ixXGG/ZEXNBV3kwyA8TcJ1YtP/WVlX6DMLqwkbL+Shqt
o/klRa3L0ZC6r4Dvu7St1rxpGlFVPm53XNcdBo8QoVp8KyEBe5avdUrqIHs0n7l3VnXO5++mJ76I
spEGLTfy8dA3Iu4nTTTjbYHUxEMedWL2EYRUer9C6+KnlsSU4IY8lzsUSsCxjTI0r0ZLexfrwvOh
iLWtP09F+uSoqTGce7vju3l5O/YT2xEmLRpk9ho/k2YABnOp6beAML0vJcUv1HDaLNxbYjKfjExa
0zZrKEmlUT1e5Yt2cmDqoMvslqM8UFw3r3whs/CXcuXlvZZ4gVUC7nxpR6ySxzZpPTtrWnlLZvG5
yzyPxTCeK9Y/W3kdr0lgBJhpLwTDRRCBE+/lthhCK2osRcy3aqlSBGwkAGsTDh4ShI+ZEN0VAf38
Q4t1ZRvPKmiiArD0rqi74n2RVxESelWHdJndooQ1q1M4bLiYMp8er7KHsjm8x1BERCRGTnqHv1ay
MTBhppBaulDAlKYM8Ff9MlmVh8pIPKmp32qJ+Uh2V3x2iuZzYg1ztEXOAH27sI03JiV+UP+Jlflo
yqY6hXDJgzNbfGfhQbc1dSxO3t63r6xfjg2OXrItGK1IJh2PUQPGC23lUb01+qr7pGcTpkzWVFo4
hWoGgK8qaXeIhezMNq2pGGLM+GjHooCF7hSJt5Hvy8BAPf37mddats3x1GGmvlTvXJ0+tm6sF0jb
dpmsvem2rIcWBZlZv80mu9iEutFfFlKdgaJJeTlXg/w4z5XYTanlXEx5Vnw68yanWwhAMynfoqEH
0mcd02izGaVlrai3ylgJGvxI+eHMZzBJKUzkjdcaNtX7Kk0CrVKnz5SkkDWrWgYwG60K7KDNXvL7
aTwXdS5BzsshemZ8glEh5CUhoAZzPHOdkXdR3oXDAU04iBkME2zeLFApyAXZqF++PQ7LOlg9jc7e
oiQPMBOriVVop4zWCAjHVg+g7cSTOebxrqB2eC77P+6bUIEB5++hcEYUDWiMQ+L4o5A5s0BORtoB
XqvhD22ubFtRxNdzqLqbCa9IXy2Mz7UToquH6dHntJDluVLI8inHn8qQQtIw8Tihd7MWUZm9nE5K
2ROmjd64h1Va7yBUgUbWWYWx494NnnPrtnZ64YS67lveEN46bnZXgILzq9BzhK8awxyEJm36t2dh
JZCwjA99aTqroM48B8n1VbI1py0qv3irHTwS1sCmtkcjIWl9BKkADKcYX9iZqLZ13FkPSdtA1NR6
a5vloesP6XSOMnMc7//5NosNB2Gbh97MalGYUTmOhWrkB63Q8r0Vgfw1Rkyx3M1dF5n2o1WYY2AZ
oXpuitbHw/MwvHjwKgEw9bI39FTND6Ms0MivW+xdsVtdQNHiQyjk5APb1fzJEeq2r5HZSYxy55KY
n1uvJ5sQshbrFJw8wSmMg9UIjJlmjuWoxAenxkwpJCoGpV92F2FvVIcyLatNFLdZUCohZZn+qbK6
p7a0dmNjdx9kOzv3aZ8YtzY1tx1k0HNWfSeBIUQj0j4WMy1ILsDnROpFYNgrntGFTgotBHT7Zgyd
5iCN+YK+QHStpZJDvlH7uzTtvGsbciNCa3W0eXvJLivyaDfxCogqPDfqEYLTV1PlJiVNjkomB9UM
78RkqQ9mhI4bDMLwsu00zccaCVUk4dT3bz/4tamh7YCeBhqAkDZXV4jO/x0VuFEeVGG1O6NnecQF
/WRPceKdnUfnqLcrZhe7YflSqsfc9yjEYJpwfHZNeVrQ5UphZHt5C+UglZfCDi0/EoV9mYBGAP7f
6NsCbQfEiGn3NnCq91LFHqzH2/lqVOVngcb8jnJKubXQegxMDatDNa3MjcTo6XMbF/bGGruPdlNr
u8g2ojMokVfHjHAR+CyljBP9FfjqgBhwCqLG2SdbJTPmDRC2T6lWKr5GEf5M9LGMyMnawCAJsDWQ
UuTBjkfMRaOxV+Y8PYjYeR+22QC/y4136hx/rVLvpvKMc435lSf6MklsVarKIJuYpxNfJitL0BlQ
IUqlVjPiUql/Ups2vJRJ7Iu+zfw5cbodvLkHz73zrOoukUl3U3X9vgH2ssXWU2Hkf3Whmnw6YCAV
YBt13dUOKSNniCHBxAetHd3ArJyPuj4c5g6k6Yz8+Lkr5HSOTayKiGUcwr2lWnM86PNQZ10/dcmh
VGZAIY1MTSNQrAgwcTPCc6EUdQ9RdYeGIzFOrmPUm8SK2wbI5c17KJ9q5+vWortkfXBDK//CcFvT
mZXx/BbHS2NBVYO+x3SEdszzZntxchF4FyKRc4qwRWG8G0Zt/tANMr6MPVrpQVkbc+GbeZUjuenm
hNZIxGfbymGvbTSEvh+lNfR3mpfn39xI9MB0tAHHwdbuzY3elsZt2VniJlqghGVu6Z/entFnyO7q
7RegKZNJXQPwy2pKHTdEBD0po0MOStoPBZiuXM/ni9KbMS1fiu6E8npQ9Akwtizbh5M0rqd2mj7Z
oeZdTFLHGq3KLhoxYiPYp/FG1boYIV6w17Hj+Bg4IfWtSBGMOEm1LTK4CeepN4bhxmxQ9aWabgak
vj+wx1CurObBxULmMbS8emOa2bgBlfM4Zp1+F5fNSNV2rC+kKFz4WnYeTJ2nX+p52qHoTwZyZmxO
9jzktQXxtkiI0t9ZR3gYe0bgXpX7qY4WNaG23pTWfE4I+vlaWc8ACQ3US0rlRMirvNyLWg0cRREd
WkdMAKFq51IvqxwodSU3Ta/hlZgJ5B4VbX4E620ErUj6d1Ut38dhOd+iRVRdYT0z+5pZf9Gd4kOf
ec6Ge/a9PY1PoSziLfbcW7UVci/wdtqHOsUdc2BKYBuc44ecRN86RtXPuTI6SIDEV18DQWyiRKkp
90abKf7c6Pm9N8fpt7en5pVwYVFlWYAieJejCrQqj4VKTZVJtYv7JGFjhQMGAUU0kh0b5Tuz7d6l
YezsZFjWG7dQby1oy2fun5WezXI88wZ8IPBpupFEuMeHk9qhkoSvTnEvBud9ApbHulPCyXe+pma8
FZ2zbZ3sWpu3npx2zTTeGMLby7G/reOfEZ7aY3pObnAFvPvzjUBR0+MgkqLvdvxGs8hDJVLH4n6O
OuPCCKk+aVOi7+bUxNcvK4trt0rU9+gnFRw6bbkvO3sOVDh+G9XF7tkYs2GDolT6HXxAeDUVcD4B
DPfbWouQaogy90zAdbpWlsuE5AUc7YLcXeWFjiNNgb96cT8gRrqdZCuDxMvOXSMnSRITRSmXuheP
wflulYjkaqx2k2UU9248wJjs0ZfLNQPZuak/x8U4vbAWtZYl6UTukH9crYl4wEsC5a30HinwaKNP
ne1HYVEAW9RT3E/VM7WpV0KEF89ziBaOZxwUbtoMdpLdp7l7STOTM8DorlETuohNbVsboMzd+ioH
uwZBxU+UCzGUe4l/kTuIq2jcvb0pT3IsAFTgSTDSYJyplK2KWKjod804Nfl9ncEdry2qSmaKoEs1
xBdIdBMjwnv0CfOxg1bGcPv2019Z/mhDcEyT9FOtIxs+HgyrGcpcWGN6n5jmvMfLrXkMJ+HcOoa8
ipVUBQOvG7fSVHqapFqPMe8k7wpUnG7Koc1mbPPK6WrKGu0iUlvPB58/QkqcoluvS5ObTgvfv/3C
p+kGBCUIe+A7TaDO68IRYjehYVBEu2/nySB8cYvAHlIowei5YA9czrvWUd5VSPGfiVheOTwpXRjL
f2gm0xNd9uWLiMXJS8n6CON7CnjTThbJw+Ca84dh0L+rLmDFTkOy3mhUI0i9JPQpJJ3D0Z/uSd5g
WSmAg0Bgr6MOXYwgs4c5vvfa9qGsG/0eiUZaY2VZnhnlVdN3ORV51OIpwdeSYq47ihAkETDGMPje
G6uL1EF7XMFk6bZXgKs5RXtXl559Fw897o50SOpwEzULk1Xqd/1UOWeG/pU5B1xJ9ExQscDPV1tE
l44998aU3Buzp0Cizdo7186sAy5an5KmvWjssnhUwZWekeA6PWkJYih9LIEe0jBrrBloECEcvU3v
tdCy9gqAxMDTB2/z9oo+Pf6YzaW8QFUMZZLn4+rFuoLLGIJtLeP7tBlxVEXcIaDOV0PZNR9b7dcE
F58nlpMdhMnSwaXAtCpomMLOMKyu0ntFeO/zssl200z9kkKCvHz7u06TP9JkkGzE9/QDCdSO9wug
QDm2WZ7eD1L7XoEF3mqh3nyM3PxbDuv7u0Wb6cxp9soGAVkEVx3Bw6VftQqjKpEUukyV5B5fLuXG
NtqPCGcoF7mt/nj7216ZMyrqNDSfUUzsj+Nvi5FHmdE00N+JRB92qCHZF3Yy/uh1WV9PKgTOtx/3
Sra0FKdZG4QojKizuiI1aMPUmnTt3YxC7i3an83Oxe/lju4SBQ8r2QgXI544c+YbumTulaBX9Mnr
a5BdwrlscDC9QGQW7KDRONG3vuvGfV+PPw2s9h5SUYPZQV3mDDj2lfnnqFoWGSEEnK7VZOixcEN0
ko13DQIJm3pAEVCpzJsOQa93ZaO0m9Gr/jdn57HbONKu4SsiwBy2VJZlU3bn3hAdyWLO6er/hz6b
FmWYmAMMpjHoAUrFSl94wxoa9c0PZVGcoedEUQhQ7u3CjL4osqYtVQ+Y1mGUg3NTf4zbv8hx/CGg
OjZhh+6DP5OrNnIHbikKEL3Pz7p/qDNA80b3yZ4khzvG3CCujQdju3Kn3H8VLhMqIojUcQyRx7z9
gamPpmTE83lVc/nats4LOi3aU6naF12u0pc+K8P/nJDNeSrHgZ1DH2gZ9BegcaWy9IMrhbTIzZ3M
3iWJ0h7e36ILzMZ8sdwMsyw7ZDNhMjet4GqWexVZuthJzp3hIMZiK1/NZPo62c0hDaRLpQ8/Qdqs
tUtWf8DiyxqjAIqHsSh+FfoeDSPTNQSaaiSF+7ZQ9+jhP0qJ8zX1z74Z7FKE0lZO6f2lMFOUEIaf
CyKgwRc/oPeRyei0nNun1Hq3jxhrbP8qgZ5v0/rL+5/7tdh4m//yxSnxUMmbbciXcVDSaJEQqhxc
tTJ6kbEWPsNzCNwxS9Vuo2r5HiGT6i+ZS/AwF6O/KXJpPzS6mR31mqs4VsIQQBI8/XrEmSJqCuQs
s0Qy0TCxyz9F7VNjb6fyM/WFvkamIzhIVuxbrq4P6YOES20MotAqthbl550IVHODoMz4GNmhs1fB
JT+pkLj3fpeaPzWpTFCuHv2vzaj4F6TdnJWr5q2150SBK6WRB8F6Ga74Won5BYai11Z1HHCa0x+A
+OUZsuhe69T2bFgdBfhJUNnCbWlH41j5hIH08f1FuY9T6GaSVpNiAzc0lq3EBpoN5k9KeDXYhps+
iv/CsxGHDtzvhSyn3CpN+ztNGvnvfx6XAALsDW4xwJuX8BDVGKYgq7vgGhTm6EYE+s95a0OBGtWr
TBB3GlKzhlXUWCtCYW+kUrTxKDeStxFS0EO9vc1yqYVERE/hKqu07hBu+gtDOoKIAesGKj8Or0XS
+2dAqp9l5KueRxUbSYXLyIuaMNwZtQCHU+heZFvP73+TNyLYWaoQgR1yZWCfy6BR4C0314gcL3LU
HwW1kE3xRaUN/9WkUk8DNf5gNvGlNck2ezU947z1p46VEuh3sGY0dR9H0tGbQRoAi3nHlw3HvKqD
yjQixxNVPPxwoDK5MgDTlV1wH/wwCk8LwQ+1b1ytFmuRCIq+k297ad566AgNOM041aHvKlOsPClv
PGLoXJGtUsLloltiuBH40YSp9r6XUm7bxU4X7YMSj4LSMrttqeXQsAp1jWP1Ru2IA87Xg7VLpIxk
4O0Es1IVCEiEjiejTwNBuoJBWOcmVDpdfIvHynLTDilUbDa5fgEa+1vYafAp7fDo6DPXraksZ1ND
QTwrstVu7MKW/9at/nll580fenE1A5GjNsNJRFJXXgRrUy+VeGekthf0ZnrMVWh1aIJFm6ZS2y9c
ID8yRSsuQzPKZ36VfbJLudpEbfhr5XfcVxYQt+B0Av3BXAAs8e33cjAVU5rSL67tlBVfTCNJTiSQ
EaFY1W9Hertbk2TtqJr+J0kf+11HHL/txgGDuCHbpsW4U4fIuPTSGLkgtMV+KMIc9skgPSRoOf/X
15PqA9EicqhYYM7Sr7e/VjGomudcJle5HNqNPPsDtE30yZkmZzNMzn/ewgyHhgL3NMEYgfXi48Sk
Cn7vawEpdBsBF5zS/SDZ5dZGEXtvhlm95dFNVu7Lu4tgHhThDS4BuNNw9m7nWLGFsSNg0J5KzIba
dOJWTTquPEOvbfmbDYhML6dyLhTMGo5LAyTyVqT85cLx4jrCIFCjrJ3BN8U2oz05wtragbZNg0Pf
/sEiJ5dOQyx7XfdJzXP6LMWDhP924Ja/BtEf8jLaGwWU/dhFdIE/9ZUfewdQInThTBP1cnmZYIGW
aWJmyVOZ5pLX0DjAvqp7saYqOsx50EfwavERbRwsDCrnxRpr49zBgyJQ8eldyYOcUeqXraNATmIl
e72/bTRWgroYcBV+FSWy27UiI4/7YRyDa0s3fR9UvjgGswRn1VWuHJrxUS/oBpMyBE+2HEVIgXGq
9D5sDw14pcBtbMQYnYqP1oziT0A38hnY1RoBc96mN0sNU4x1poI4+9Xz0t3+Sj0oqkYJFfVlpDW/
T7OfQfNca1PmJqJPVwoV908qORWBxix7TzRPgWgxWDzFRIvkcYVkm16V654lht4to46wMUC7KzRr
9WGOd/Xcjh7MUJFdGgk/Nexa0M+QxP79G+4+20Pvn4dOJS/G1ZCr9vYHzRI2hCCqc2312jkMbT2F
W5I+ipRgh17aqRePVed8m30KDojuVDsrL9EPwT+ANSyH9FAawt/4Rll/tEEE/SpKiWqwjHxludPa
wHdHx/4LOlhpVh7Qu2Xjh1NCnCl29OHv0lQ9LjD3k339OoX9Dit4ayOp+TMNOp4LGkDvf6a3BgMi
SS2LIGQe8PYrAccK9KQy9Gsax+PFNNBL9DO6jQ1i2MfaCdWV8e5uOSZH8UVHYIlTyl65Ha/J2IBp
3zK5LGzcQnWSrYXb38rF8eYo7MJZtxlLjSUaI03NorRhGl0hrQybrigB4DhaufIqvVapbg4YNwAV
QJ5RXB4IPBZbDFxylCTSYF1TRe0ustS0n/I46Ldt3Rsvtpbh5q2lZBiRNWGhU8f9pgHbaO16CWTM
rlVaxXGBSnXXnOAkcKdw9P9azWh9xU3X/9C3FWYnQSbj0DMHrNDXKd+QxcG3dLsB4ohq5cET8lzx
J4DVYHzEUNcIVpHSH8cA2z6sAyVAcyPWsy5RSXqKKvhzgcR/b4BMFj8cXBELmTIuvosVAoVToIaF
W5qdIm0iBBO3NEh8HkCwjnFhckIUqdkV8aDsfZTm4dUEYgjczkr8Ld6tRrByhu82Jy8V6mUAAknL
kRuec6p/qp9kLVPYFo581UUmdjWAW7cpap1flcRA38ClvH8YXuWKbhYUADvkQ+i1cx0GUe7bAZvU
iLsmGSZP6eSzbX1TOu1709oXgeaiCRojiM6l/T0PxxdEFF0FQHUZJUdtEK7vbCiY7lStOaroCEgW
DI+/if6HpjC9YpW+sHALVCiR/gTgK20T9VmjRxFH4UNBIymjaJdKn+wOShztmOe2cvY5Pih4em2b
fkUR4C4ZmGdJ/w9WOk7dYKRvZ9kSvPdyX0xeO3Zk+mpVX4agTH6Lqfv4/gd9cyQ4Cf/XGKG1ezsS
eqYhmhv65HWRNX6hyY3zXp2dpqZJdu+PdJ9tMikKyq8awBz8V/DkP3sFRKCC31w5ebkxgH7Uf9VJ
8mybAAHzrj5iAq+5+tj8FZV/CI0aPczk2vMoxyFcepsCvlyubKYFr5Ci1/yLeBSJI1E2u+PGxaoq
5FEOJy+srWYTt6p+ytUudK1G9yGIOUqxq9TBPCDmaV+iLqVXY57rFHqANkjZ1lKolnRmYT9ZGpRI
PKOrlYb73S0JVUtBdYnQmt/IvXy7OrlM8mflluJJMGZPyBwRAcb1dWVh5kN6e6ZA4XGQWRn6JLBo
b0fpeqeB7aDKXkzet1dUTHN5OhPj1BOLwrP07W9t7ly13FGPZiKGjT/JYORgghxMSNCo/xat9diF
/u8+nBFRQoQsZazELjrBa5LdrwiUxa+lcwjViCcROPJSsiCO9ELRQ6n1LCT/UFaIxMHShbHHA0Ut
yTzq5OwY0vgoAizNC72WD2Tw4XXIqvCzH2jVFa9LGTYmCrSyDJZOGbI4cKvZTUmpcPwMi9o5TUqb
bjoa7G4urODQtZZkwZLNmFKOeKWFNK3bYhp8cLRp72Rp/StWa509I7f+CW3lYJs1Y3PIHKTrdAUt
72m0xJ4ygnpin/e7EOGF7TCq4kzz8U86ivaAimjzQYy9vZdE+Iz+hMNGxLT8ez/IjtcUeb6noT/s
/M544tW+1PBGD620yhh9NcJZfGDYHzOJeU4+idBut0MRV0KOtWbwzFydvbyMJnhGTtbtA38CYV/K
26EeP9dK5D/Rfbc8oevjA/BBca2m0vbwDjIubQoHvgyH+jBpTv7QtCHciToYngrwJQ+jj+CMrqTQ
mkWBQptU1HCj9W5lY99l0DaNBIJ//gH5Q7njdiKdOcT46Ia9Vxm9sgt7EhG2b3eoMkX+w+76VTbC
xw147BAhHSplDakwn5vlhwSUr+iwX1FOW0rvpSU9jhplVU+NsFBWpBrcszXYZzTaGpcAZDwomM1+
ao2g/l4jgB20Q7WtFb93g9ZeY2W+lpQXv2bW4qJxyIUH8HbxVI+BpnZt0VgedLnoJJslOFd7MqyL
OYwvk93KHb+uEds46jRK7VH9I23z9pfSYvdKw6H+qHW+6aYEh49RJTvPJUj2h1HLrCepTlMv1J14
DxUrde1CTrf0pqM9vmndzhwCUhtnTHleMTZONwgGGSdVNOZ3AODhh6woCmflZr8LS2a0Jih0ovOZ
hb9s/eZaQMmzsltPU4pqH6V15IG5iQ4ggJVNVfbVSmXgPg125h4zZUgwxuBuZo7kv3EQllxJoaiZ
7Sm+VO+tIpu+k0AEj8Ipaq+NK3kbVUq7Z/d3B31Avgmefve7Da38Byi8aseNqm7UEXba+3f73QNC
AYEGOH1pcED3mcqIVreeBdQui5ImZxfn5qlQ+2BllLsggq7JnGzTKyZN0ZeYJk3JIlkVk+M5avPY
5ar0uUF8GtKg8vP96bw9EJkiBUSQFMtGapSik9aFpuOlXZs9mlY52+cgCV/UarTSEbvPTmePYKov
dNtfi+Tzp/0nXJkFHkYbWXtP6sb0d5ZF2jM5qPzNrPBEdqIpvCSj+IqOTLkdynwOEFPnQyCPhutM
af1dkqQIZG5hHsd0THlapOgrOmvdsScJ71yNkqKbSobz5/0vdPeWvzJxaW2rDhufC/D2V4/InUd5
19ienBWZO8hK7ZpCU2dmY9dfYnt0HiUjGz9NZRzu3h/6rqzM0DNke6YwweJ1Fmegwy6QRC92vNk7
fCf3L9Zgydve9qmSmaEbj/5a9emtyUJkp6ZB3XU2obydbGUEQotjyfY4nbj4ddjydEUWPLGsLSWw
NA4vNr2lxjXDYa3CdJ9aMl1q6FCVQdkgh7xILYcqcvCJqW2vEaPyQc6q3kWfptkikpk/xl2r7EXt
O/vRrhrc3m172hqJkm8yrQ72YigJG4Kyu/RGRauuHOXvkIegyQhzKhHJb1PSyDLk001QD9u4kS+T
IVWuEYVoRSS8WjgIS9XWCA1zN8GYPDZNaL0yEgI895LG7cMRRf26Gj2pGTYBxZwa7TSp6VysCrJd
l0rIkgrHQVgszsSxkoU4Y0hVbIwJmi5q+ic/K4sTPjfNY4QZ+SYvex3TVxWOBoaF48ZsZe3j+zto
YcZBQM7RBvMOrRCZBhgx8xb758xFVagInIQ0BBo0w+1FB2mwTOtHkU7IYhqNGm8aPu0DMf2nskkU
FJVMsS0MkDfEih9Eo0Z49mQdhNEWnAByGvWj5SOcgmP0Gljh/i7it4JRAPtIYQ31htvfqnTmbIaZ
0P1KauWHj0q/NkGeDtBxe/+r3D9mNCEwusVnlY4Em+52oAG9FXA/jeYp05VgFZBqb1nHRi0+jqay
EjLdvxcMMANHeTMBqy0vWCsfcjTPDA3L5rB7UurG2KTdIG3/84x4nFkkSulAcJZAH3NAykfTJc0r
R5w8mq6Vd0ka/gz1rnAtZNNWsuk3JgWWndY+VzkInKU4Z6mkuD3o9CknqafPabU+LTW/b1fW6R5i
SJGWeaEvhsMP6JBFvDnmVd+a5AeeHATfZ6sTbJp9iH+13CDag0CiGIdoPw3ogkZ1qj+r4ZoY/Wuc
cRPk8RNQY8AnawanUAG83SsJbhq9Uk6a10xxvNPSpD9OmbCvKKA8A6cYv8HI40kwqjz5rBRmuTGp
2g8OFOs2GrXHSg2/CGPsH2EwtA+4KQ97qZHtg2bH+d4p0E8KlDxww0nvTigSUbjr6ocx0d0mqCBE
12qxsbv0IUJe9CkBsI3ROzgat4IqvK0CEZ5xUsjXYq/5ol3MGbVn+hCzLjBaFPNB/efSqMKxrFAH
1z2RtqaLwuVwwROzhDaRqF5g2eWXSnKuVKS48egUAGtQrO7b+zv6LtUgGoC/R6hFEg05dfHdDWxt
tCrVNM+GnHTC+x1vV+iVD3mKyU2aNT8ao8n2oJU9sxy1w/uDv3EToVw5993I4wGuLC4IfG0i0VuF
5iWhcVE7vHjcPFMeW70Ckvz+UG8cJTJvVGMRkkAmYFmMViwxjlKU217ej+Jn4GTfyy6UP7w/yFsH
iWUkjuSBpTCxdDeSzEKWJI1RtNGEYJP0eIo5vH50ROcWUh1dLKnLO7fOrIOR+n/KGN7O+7/hPrTA
WQRQCocZcsedjl8cSZrdaqnj9YF1UfXxSR3T9Nmkar0Zyzy9OBFPIs6DKzHUG98XEsNc7yGenpVY
bvfy1NRCp9roeHkaK/vCCZRdUCBW9P7k3hwFl1XuejYrGOHbUVIl7cKq9R1Pgnh6TYR80ZQheX5/
kDdyIuhhnG8ku177JYsiptEGTt0Opu0ViXalS4jeFgSesxYWxaUw9fJFy/XxUbe6z1EwyM9GmBp7
v7ZqnOSz/hRbQXNujWblgbs/qGjE0akEqU+Dw1rCdUtlpGcELsvr9PG71NUNjl7QB30n7yIcBHDj
0cwednjEFXSWfN1eeYvu9xWvq8PwyK2yvks2YWXLgYLWk+3puAmd+6zPt3VTCleLn8t6W0lZtqVo
uQZtmhf09oqEI0BgNfdbUCNYvkyYosr2WCqWZ0351yTugJshHJHj1UHr9ocmdd3KlXTPhKdKP/Nt
MQCF2swuu91icRcrQV1Jk0ds1h7GysAc0JnEDN+sHhUTkyW7Uh70SORbuAqIXuHduu3BMWxo3Ldr
lZg35g89hTyBewvK2TIrkqWiJ0Hlem6LzNjJEY+Ua4so/R7TWXmos7HwmsxWfstOICFf0G7GKd46
wwDUCAK59lmX0bJR/SndlbocXgsM4rbgk6Favn9m7g+mClmd30egwsW3lESJRFrJpUpMqejCvJpO
9pi0bbhyBF4LeIvdQCDJBT4/WhA4F2sD6LiNFLplXpBjN+WGIeZjkWiGfTo2D9hHZVujmcZd1srq
3tHaD6j/t1RSfefv+7O9b9LjXYfOE3A7ekeEg4uM0ZfGljBWUrx+VOITBgr5qdANEiBKSFHnOlKh
f/dDLHzNrI0PSW2NV6GVpxb64Lc6KOxHp0AxhpyvIq0ZsxJJUDVNz067llXf3xqEFjIcMyrk1ESX
sb5Jw7eW8A3xJlWa/gQ1QkV5p2wzX3dHzTqGQ/QpUerpe47G1MqWeC2e3K4WY1M/JDmaG85LZI3U
Tng0O4PpOQ6q7JZ1aUoNkz4H6SrpPE2/qvR32Q2/cjRAAaidMrM92xQkEBMmzoPO4tinIXq0mtrt
7IfIRFSgCd3a6P5IjnF6f0HvAxH2LmILQGgRu6JucnvowzAHGxiE+lNo63+zThRPaRIUW0fvwpWR
7nOiOXuAAT+HO2gUqbcjyUFUS2nRa0+FMur7EuuLfZ9YuHABuNjNiftKOHDfvGIsJKTA3hBlOjAH
bgc05IaGSJNoT1WPWIctp/pBSgScXpGYvxDPNM5mmYVuP8f7RmzzLz/cURLRPyZmKH0P7MjaVx1+
0XlkrgUNd+penCKI4tQi2CAzZGgRAUvc7vmoNaYX+E+AAoqq2OVj+CvUv0qpshUIHKGq+IBC9SU3
MB9A+MaN1Z+NgTdgUD/U0tG00Rb6KEkfAqkYXEd+qtRHYT+bHYjbMCER17ZIW29muaUBFO5QH5v8
0EnW2mZ/I/JjJkTRs2QxEIvX3sQ/sTzJ/ZSZ/EOBLfwcVka8laaqcpuoLZ4D3463NVodX1tTqTco
QBWHupBWvOXunwoyCfSoaBi85oqLnYXaluoEkal6Zi+US5FIz6nm7Npef1S6ErSf6D+9f2hec4Pl
AWdXAXym34K+wLzX/5lzoDRmFQ4B2bCRnnWj2nU0KkIDN6u63sXtiw3aX5eApMtiP43Zpg2BRpr5
KS3zz4FsbsrpZbDxvjbOoX/JdfwlpcIbh10TIw/bqEcs8uCSb5SseXn/l7/xkPCt4E1xjaDNTIJ9
+8vR7LayMNZUj7R6eArTPH4JOtw/raJWNrxlPPBWh9StLsmHutaNnS9Usa0ngOjv/5JXx6vFN6TA
wzHggJL7Lp+0QRWZ3YWpjm7bBO5Af4hsCVld9Yqw+s6JX5ToOW2jrS2Fx3JsThwikALjTjLKHTWj
qxPu1VC6dsXnQTqDnDSqz5F0qAy04exfQn4y0K8rrtiXfzSD8lg62bG31M8iO5myxP8SeFZU7yL5
qa2ozs3KskEIEKKJf2FjcSjV6RlO/YckKyngNfRBJsn6nLXO46wcQOqyxuGfhRwX4Z5GHvyq6UKF
BbLx7bqY+ZysFp3sVWgz6RLX/uS7ZvxFGvDDJPQR1nWMPlLwq2k2ZrKrCa9TLuHwd9K+DJqCDrxH
NW3owz2OlnAGEqSB5VNra9/RwjNdK0ue0XPwpmzfNJ+w6XRl4/j+gr6RPCAuATOCFJOrDSen2ymg
G4N6W9VOnh4a0yWUVCQPyBavaeGnezGpySGq8/6xzX0kWSXcKYw6TkcXPjWGc/iYPlhd0p7CoLPX
yAr3MRomxkSS3LQI15mvsnb/HNe+izXsQcfJGxpxjupGuAL7nqNiJ7Y7aZZEcTdtvhOIjnuCuO5X
g5/q3pgwzHCc/GOOc+/XrqpXLpG3Lk6avq8K91QkqT/dfq9+UH09SqC0EQsp53r2W6Vbcoro0j93
aSgOplmheV2pYNSoNJ+tUFuTM7x//Sl9IB04M5H5NEuF/U5yIiPXwHcEWnxUkAkAIwBj62EKw7VA
4573PJdZKOqR09iQA5aMEcNHtq9r/NGr7bE7o7Z1mfQyORvQ1h6DGCW6socmU2Vy+C0ATNuAAkrZ
sF04PfAKp9ssSngVC020j06nKj8cKbCOahWYz/I4WY+a8OWVd+W+rU4pgS0NdolrHv/rRXDUKrGw
y9IZvFZOz9AqBk80NL7dUFapBwrDTbihXXOw9OdaHsMHWdA49x0xnJsuDs4IEQpXtcPxqa7SwVPS
yH7qDQv9LKu5VHFY7sigDkFQo1+QlfG1baSfgYkwy8pV+1bkhdoFok3gA2wAI7cbLUU5HBBbqz1F
VbpFJMHfAuPxuklrN06hrwx2f9aIusiT6WMBebKWgQ3QPTs0ylJ7GvCB35SSZm3Luvrz/l1zv29h
/dAu5k4h6+FBu51RHI1RARQ18Xw9zLzSrl9G4RiPU1z859x/HogWKXUtDH3kRZ0O5rvf6WqdeFYg
IQZfdr+rxDlHvYg2vRJfMmJ/t4rxjXt/fvcRDX1ZmoGQV4DKsvtu59flfuxEcpp7wnKCzxhUfVPH
8KNexIBZHLs9xmHu798f8n7d5iHhAWiwZsgHFg+QDyvbSqcm96TANi/I/qiXxlgDR701L9LG+ZvO
fFFLvZ2X3GtdisoHsQ7Qj13UjDY11zzaWWaKs6yqDq6UdPHKMb7PBDH6os85qz2QDC4Bj5adBb6Y
rMLLRqM/8ARLL3Wht09VZP9wKv1Ce1yhBq1hm+VT4lg5D/fcgNn185/hF9e8sCJpiuK68CYZi+X0
2U8eJVBZfefstL7dUlT86KcouAN3z9ufud1RTEM7qMo+lFFDo+xTSeweN4epvHSW5FJW/24X1dVB
nnrTKi8hXuD/fSeQb6HmRtMeAtW8U/55LR05ywo8cEsKxkg1N76j7mwnX9OXf2sr0HEh/+EJ5HJd
nCxZhiJthHKBDE6M9azA2qqLs8+jjU/oGLXV1Zr0tTjgjTGRLsJrkuvcZnKLpVDL0awn00i9ub1v
gn7VjfrFwGVUaOMuKv1NhYhy2/1EXOIpKj5gCPGSd5iXyvZZ7dOrju9e1q+difvbGVzCjDZiawLk
W1Z28TEd2yJWMi/K+y+NaeVURGTzNOkpqhplsZoW338EEHjczoRD9GC42G6Xt1CrUjDn1ks6PfsS
J7inV6U9fRajCuRKFXDTEz3qn+Ja9U+N7rxkHOhPmSiJhix0BisfjJnrmAHuMU0mTlFhTT9Sxwg/
vr8N30hVZgA9Fy8oT8STlrYMuTAAglUFWuIEL8faUv1L02tmvdHN+OvgNFc/q/dVTonPVSQT07TJ
KLGAl7WVN+B+gUhsZ1ueGfWuU4u8/WCRrQR9UoNelCvESTWpl/Zt7ZSHvMAublTyNaW2+3oz4xF0
zGDp2WFgXsB/zh+IwzLKoWR5oguQ/U+xZDUaO3pMK32PsZ5yyXt0BVoxRNuVLz7HM7cpGRgUGqJg
8OYOir44k6o1aZLdWa0XC9nYiaxWD91oSGe/huGRNr30HGL0t7OKBok0KL3fBH8LRkIY3uQX9bZP
nTW5nDd2K/khQChAUWyC17zpn48Ra9UgpzRtvLRRzSORrH82jDLb0qXLvwG2dXZdMnx7/zvcP4W8
FWBi5sKzgWTW4vVtxqAvczF0FMJJSW0ltjaTgubZ+6PcxzAglV5JIsid0n+c//6fmUWlIUVVUpUe
Yhk1+MG0PthKIT9jIyhW+q1vTWjmD8HOBSDAGt8OVTRJOdq2X3iDIG7wwbRQE6qmlXf2tSVxu31m
6i/wCi5XvttSwQo+KOkMNtBPUU0X2hyT7EQAdclSw9yotSh3RW78LEZ9eOjQkfvjNFDaNYsMO6li
mBt0EXZSgp2NaUw/BiKjfa9iNAeFXkNLIEEOujDT3Sh1+q//uhLsK9ISCMNgP6kZ3n6eymysEQCF
/9SFLXWaGN5ebmb1oa8o374/1BtJH0HIHFDKrD1X/mIp6hQ1X+AwpQfV40dDlvciqg6jxjgI9qmw
HTfh5j5qskTz3p5mLcamXtl48xD/LpOGHRehFyaitEpBVyym2wytVWVG0zxR75T2vS2CnXBG+3Nn
J+LYx7k4dkZde12oXfIuCdbEx+5aCBpKTvMNg74xZ0tforDEKCxR2L311CL5/NDbankSZbAf/Fnq
Tcb2MuJUh5o+kZvH30Rr+iepg/7XkG+8FFKnbuKkDPdjqH4d/Kw/5kJpd+8v0/LWQcwUNBxtt7ma
waM8H6h/zqYTBHBGRl1cO6f8Hfa9Qc3Frk6yEeeeVgGY1UTWfn1/zLv+2zwohVRiVAJO/lgMGmBC
mueJiK6ppgcf+sCBX2REKMgktDztAe41cqrhUdLUZjPU0uyv6Keb2JwKww2NYi0hWD57rz9HnaFy
c3RCtnX7DVqgBEDybHHtJednpDZfU804JDYnMivzbmVPznO72ZPz3P8ZbLEnyZkF5XpLXPVW2A9+
3PggBdDKff8T308J4uLcyiW4JSi/e1mVLlDHoRNXtXHSj3bik4OwyvjJD+ZRIaNcOe3LK54yhwJw
kTCGk4Yyz+KKV6nnCD9jVn1g/JwMPT4ZcVNswlFaeybfHGnu35Ci8nItb/gcz3ZTaQdxxaXDNtwM
7S43GTptckkeo837n/Huon+dF1Ev0L/5SVlatvcxTE6ueNgDSrMptGiv2XP3SiAh2A/DtJn89qWI
QR1RDoeJY+2MYDzKKR6Vafw4TiP8CoriCQkMgY2LrMo+0IILajJnEcQrQf8ympp/60w412dAHu/5
Yg2Q0bP8yHTENSxGFQJIZr9MjZrtig4dilwW/TYfDX+nF8Na3vnWmtDoMpByJJulD3h7gLLYrqqs
Z2SRGrqrtJH2IBLfdwNZz/4j6WieJJ3heZ4gUXjib4eSJnM0KoEMVyisdNNjjbCRnL5fWff7Qzqf
UiB5bDOixGVb0w9jqYm6ILoW8BppFsSEYTAJ9+/vrrcOKU8D6RlbCwGT+e//uXtNRA6hKPbi6jv+
UxL4nVdRkz2XGJ4/CXTUTv+f4WaeLkoXOKgsHmSAO7iLFJxRaB4IkZp/CTHLnSPZP9VEHXbvD3b/
rvAFqY/TJ8NxgEjsdm7IrapFNMhcc0NnuEMU/inlEqmuNuoPSWpfI7X+9f6I95tQQ2qBD/laYQb1
ejtiN6lF2Oo9bXDdBFecDPgL5n3rdlrZr9yud5UOAjTscbDbZDRthlnfjhV3BoSqTDWAbGh7tfb3
A1XQ7WDX0JH75iz1jbS1Q/unkX9QA/U4iMdEv+bDpzC91hWQQ/2sgGFWQ8qhybQX0qBuKiv7pMy8
cKVv9pgqoiSVr/zsuzyTn019j1rlLNMHwGfe9v9suL4Q5uCQXnoxjjRulGr9Fp1yYtcwsrdxaRRf
IhQDXbNpzCdF7rpzp6DyEllOs7Lz31grkhxouaQe2Dsv2ZZG1VRmFCPOjaWZ8jC35o+DJOC0At5e
mfQ8p9v31podBIApcDmRhiyqfcj4G6WDg7OXhQGKTagG7ge5yr68v/nuj/LtKIvNlwdFYVZ+MFLG
tMGmayoGDrZyiDWaWn5QHN4f7bVjuJzU7HcGNd1CLOE19v5nIRUJ4R27qkcvyJS9VPsfC1v1N3EN
qTDEE+Bc9t+kKLi0yiWLrmZ/jsoXEX0eI8/wL+rwK7A9I7qqMYaT46Ytu01hXoHJeUnxo45/1tU5
7X8HTbCZZAR49qr6255+Ti1S9ngMODtKLm7rf+uRFx+ds2Oj59Ig/v21Ka7BcBHOz97RMCmoYFwf
IynaOMoHzXiWpo+yvCOzlfrnxkEvLDoY5V+nO/XKZ2TzO8qRmG+4VvhXwuzTSPEcOZqzztDPLPjS
S7GbRb/op8chFJb6hyX+ZNnfFIa87euEGeexPivql8J5slsQUOo2Q0pYAr9tJSdsT1ainbvchmAZ
1NisYkxdnvLB4vwjhiCGkFwK9GBLi7J1lM/I8Bu/GmcIHko1DJCHT5UTdAn9kgPrc9HdtdYMXV7D
5MUuIK2Y0YJE7ih8z6fsn12QxoMNmcvvvaYqMB+Qz1FxHI3mBxYSFIrC5A9NwGQ7JcYvxY42svIj
Gqn0ZW4LEKfEs047d2K6JPVXe/g9KX8c5ZjY8Dmkp1b/IYGsyKfiMc4fhmYf5dYXPVefjfSHNdA9
RhljQ9lu5Va4D2CACJOb0uzgyb2j+hpyGFpYM2qeKuBfa+FHicrpRkDS2euZkT38j7Pz2LHkvPL8
qwjchzq8abS0CHNNuptZmWVYm0CxWBXe+1gNpPU8QwM9wOwGs5wH4qrfYn6RZEt54yYypgYSSZWK
lV98/nzn/A2a/bZiVdpGsxflXOW5TAcedHFhA+SwCsmlKkfiTBunU6cySbHRVPtxRvwy1fx2r8Yg
8tAe7qVPeEfu2yxPH5NO0W6jIi3vk6JXb9uu8x0daOwPX9ikZfDlW2yV0Vd4Dk5fzG+RJFqYxoF4
ahCkLRCv3ql9bjrkzOxqAaK9fahcHpSYvHCWkPZTrAUBer6aRDMLxCkqaA3J291UdjkE2HELDHFR
HGWwuaU5+hcJTQSPV1vHgJ4rS6UMrT0Tjj4ncnsEymyn6WOfZazBPqSUhtu7JAROHIDOnKVfYj//
qhelYud184jW6L5OMJAe4dwr+D1vRC6XR/nCrONWJ2/Bw2n9GsSuWkNEA3mDstQGJL4U4UmzhMjx
8TJ6pMSifH973C/vQn4gQ4+UKUhkYN3n447wRqWTGhdPsgAzu7XCZtcHxegp+lbs/Mr+gqXPRaVR
SFzoLectzZk6h0IAbMFA7swNImCN0H472w/nmyDck1Tzvw5a9/7t/l1mQZhxYg5QRICtAYAtA/5i
GStZAbYoTOfTADv8QwZI8ZrSV4HgvjSdchLapzCvBkxveOOrgvC1aAW0q6KpdFolAErBO2/fw0g9
6jDgbTGte+yihuTz2595GbCa3KecBORCFlz/Kk6IcPeIp0ZHu0PxC4hdjfSQV41+V6pz5AyRFntK
321VP1+Ze5IgIJDBXfOaWSMFcqTcan+QmBFezPMomWS78YMACtBvrLILjCD7DqY5CEioNzyf1kKO
kzAB0zItMCtyrLtSL+r3aT2/T8tkBnFpteq3qUGjyyrTByoAto4v5c+lpY17FV3Fn+sxeVKCvt71
raL8cIQGL0VfHEAXtD/Yk/P1IadZHTZjWZ8obQRoI2mCXY5ltnG8vbYMl0rf892yzPNqGaZVCXBG
q+pT1GAlraThdG0i4GdLUAdvW0VQd/FYeaLcRjsCEd2NjAEp8Lw+oRWheICy8l3RiT9DO5uddHFg
mZJx3PrIy0N4UcCiDADHgh26xoIbrYw0t1aXpxAa2HtVG8q72Yw/ZWNkfdLqMLmNdeOLZGXtO8Ho
1bvGiDoAnk3/gDj1xziqqVFUYrp1NVyocymLch4pBYqYTBDpwvMpMtsOaLjeFae2+xShQ3Yl+3V9
paba8CnPQfLkgQU305+0mxmPoPsWUxhPzMrwUycOV0O25Tz52iixXODmge+DU7b6nK7F/KZrqKim
QVg+RU0R7vo8mb23T4TXWuHtSt4HKgbcYfm80x0Y7rYCZn8yzCy86eYI1V992rLcWJbdeRAHMmzh
ZlGoXWReVudOmoJyEKuigojPewgyZeVVpja7uhACsh/jHyyQLDNJW+SiCRwVgKznnRo0s5zHUi5O
uIu112InEgAOxkYd8fJY45yhyEvcslixrLea3IoBL2+9RKQjCCCWNw/FKKVfLRQY356i1xYmaael
hMV+WWTPzrsjS3NopILVnLjIEPHoJP8gG/Fej5tpX6AJ8WtZy4eobafP/ThFDjDXzulkJUEpWnmK
jXxLn+wCL8v4LmcsJGHGGR7DKrwpWzAYMQaupyYcDp2q2WZcItOFqa8PmTlLRKfIBuUxZMe4hSV6
YjtY7ix23Ud8Fxfmp2oVFOuLwbZCdGss1Hdv+LOmnWRt78UDgrjcjVr/2czizkZacnrqW0s8NgVO
hWLa1rMdKhHwuTRTfnl7sJfw4GylUs0hPFng3NRMmdzzsS67cUbtcxJPYgN8RQ3nCCnAwrrqJHRC
ssyMjj1ozKdCKqNjJArzRk7ucq45F5FLo1CuLsS3dVLOTMPamuNUOqVjljz5pnUo43k8+KmyA2kJ
2r1v/D1yX5/zMk4creh118DOQZ6xy5vmId8oAl4scj5nYSxRZseK4MLFJpD0luJSJp0o3qdXqRyE
NxP0vy9V5m+9Ny9OoqUp6o2Q7lhfyN+cj7zfhe2kWYVEdqGY7wXNaJxRpkb+9vxehIe0YuLSSk4G
pgRMkvNWoBakIfL24mkhBzup3GYHpZAG9Mam8cTWqh8rTeu9CsH1jWvvgiPAlUdSlxcseTVoAuvU
NWDxqjettjlhnYytXJY0nwRcQtwxG+TrqpWmgxFqH3MRIGJcBGAnsfo7TV1oPk4GlrIUk3usQwL/
MUVs/FD2+OoWdfUZzPo9r3TRlhKrvZqsMTsJYcM9Tlrmu5oufBMEEuVDiWzWThlxZR1KYVeCkHDT
XBN+pmwi7yYsWzeW8kWsSXfJwkJW5S+KJatAPC0iq8ddmspjVSOLSv7KNWb8PuNJwihAsTp0rYxk
K2m0HO3n+5dWlxINUEJcgS7cNI3ZTLJebU6o/O1BdRjNB40MoFD2QKS9jti6UhNHLvZZ/YQujj0M
Vy1kDCH/FMRgw7OHoGnc5ZgtVZVc54M/IBghl4v+2UGI8bKyvpSDvEva2E2LuzYUcEDYId8cdlQ/
pOxQ+gpWlgjtRK1jqokXyAx/iO7hLZzzINEcoS3csB92sRHvYOIdjHTw4OG6qOFlwBPCGsnPPDyM
au41ceougWKKKGLKH/Mxqh0PrRoA+ASuAr7Y9BSt3uUmxtP8MxhE7JbNnZpGri8cQW/vU0NykuAX
ka8Z1X0ny/vGn/YZORIEpOo+jLkYoca/vccun78kOKiPGbwrl7zxuiSd641IraoWT34326Uw93aC
ySDabdaNoEzBaWK09iNoJlfW0xruSzMjQJlUV5NufBeUqjimWm64PiUKB2PowBNgHLhNbSq3PN+2
RIUvNC9AkyP7RaqLNcPRvzbasBLTl4RUJsWktcUhL6PqBpVWiaThIFyrcyDdhWIa2SGQbmkwVU+s
W99rUkW6xmP6ZyAOp9ygRL6IyVTOnMTDzles/F7J5q2b9/KMBGNAiZ80L1UH6pDnp5c+q63STGCl
SrIF7pSNwW6Sjerh7fl7rZWFtECxhsCT0vV5K1Ypaj3EwA6qn4mVWIEQri6i0PZ2K69cdUQzINaQ
RlpSYuugsO7y0BeVprvHBsm4ohL2s4wXgl1n8rdRhM+nqBm+j/2evJyT1A0CNkY8W3YWJNE14yu5
G9+zDN750QEcjDI5jzRQukg3nHe7yGqtDoSkvK+tXHGUIhlOZo5qdx4F2i6qwi94FPfeAMDPyQtC
LwzsDSdK2se3v+Ny9BcYB+OByDX08/WwaFEwxvi+5PezZXyx1BhHtUAsNq7Bi0ZUoPC4XyDjRI35
okiSW02A2UcsnGZEN2/gI5L9a8Zi4zS+CKaWVpA1ZPFDUOIBcD6iccQyVaRJOAlqMXtt2pdepxf9
wSrBQZhmGO+6aNCPwmQae/CBwkaE/qyFcDajeJYBDF3kyUnPkPc8b1+R51yJtUG704YIMXbsWW1p
xK2mKsLA5YmnwtAiT2hbERl8c0I9Lcp+naxesaMkvVcapMoaOZkcBHE+xn0PkCgQeuwVa0O+H63Y
OJiUna+Tph/sCcN37+2FcHGB8vqD04WwF54ziw7w+dcXY5a1baslpySrJJfsUw6fKiZhNLT7WoqO
etSJW3vy4vpEcIa7etGSZcqYufM2a3WsGUZKPBkuSk6Lncn9ECMdYoyF+tWIlOg4FuSmpXnWbvHD
wOfS18tjM0fmfkLe0Xl7BC6iT3KTbIJFsxS1MXI7519jobHvl9FcwrUwcVvRIuVjhaDwd2ES1I3d
f7khKJzJ2OhSqAMrud514aipfiIAV6iEPNmRdgCuhIziRisX0SejBkp3kehayGHrh1MHv2EidxGf
fKPLd3GID2qCfNkOmfPgQ5UN0cek8MNdTdlro+XLsiiCYBiH4roFz3F5RZ6PZTIOvtrpbXnqhlZz
x1DsbnFgiPEfjHeFOia7AF6nXadhcTTwOOgRa3TiXO1/eXtKL4+ERdyICxcADUn4NVrMNwaVWk2T
nTQNnAiSIu2+1QxHiqfhoYynCRl0CjyFOiCx7DfyxihcbikeVUjkA558FvlYxaSDjEvELA7ZCWpN
aOcQpvZqp/UuO/Bd3Ceml0vxlqfaZU4O8APnjynyqiHHss5II4c6I/JlyndcXKpHgFp6RHpl5raJ
GvwcCGJ2CMUZgn+B5KlN2ie0i7FDjj3Qk9u8TGSnaOeS4qMiftbKjk2flIlyraSi9aP7bWFWI4kB
u5qCK7Dy8zUSz3lvluMo3qmC/J4qeU/GSUW7x+83rp+LeQCfwSMIeAtpWjjdy258kS0XMvASZUFD
s3AysuxnA9vJvEB6oq6TD37mb9WSl593dhEs7VF5WBJQz7nH8/bmWs1rSv3iHdTT1g6NMXL0IE03
enVxXC2tIBnNW4f0M9nX81byJPURixvEO0HI0MHGG+4oc2LbpNnnjQzXZfBEWypUlmcuGwfJ6mgs
x0jKsrkR70JdflQWYC3mLomjgoj6pnZjv+8b8dYv5cdIb2wZnH1lJ3Vg7YOMamk+mr++va2fVarX
I6yCcyCkoLhA6Hjed6Uz62i0KvHODMrJzfXQ95ACia+kQunsVPStfSyGyWH2xfh7qeOMacNJDj9b
8qyg3N5mloehVrOvA6O1sR7Pdz6lir1uptUBpclfRz0ND8Anhb2YaN/8JCndqpYnjilBudaGJLuL
5iL8Uun+9KlGu/2QFrJ23UWqfqryVnI4z7FfVfvqhovMepLybtNdZwkPz0eAIibgHOINGGz4x5+P
gGEUcdzJJexCqdNdfYA6PvTSQxLLjlUMGqxk/u9mqNHtU8zAqWqh2ggYLmvlpBXwaiLqAhm0pFvP
P8HXjVgOcrggci5cKZpw0ylB41W1MV5naPVdNWH6ZZj7+DoX0RDEYLKEdxAreG0kWXSTpgyoEszS
Hmfa/rvepqrrNzUGzSn0+7gMDjVBzj7myvYqoh9vkEbxpjGz8qqKlNYRBaT3nXmCUTlPin6b+5Fq
m0Um3EiKVOG3mHPWG2g2RflWhvTyPEEYhDz5oueDaPv6PKlGoYy7KoFhMynCTkWJ3teVBqGNSKo4
LqO2u8kEq3brZD6kw/zYVqmbKljfin2jHbOYGixBYOs/Uv+0XJIap84clI3T9dWPhAPCs4oYg4vg
fHbMABxVbTYCWHG1umqmEMnEFOZSbIJRiep4tJteETduvMuTj0wtRSdSXhYX31p5L8aKqFz4GKcq
COZHNMPqWzGMt0p8y9o+W/sL+UgBk7nogSCAtrpX0W+u6AQCCiLrX57UwSvGIfHaIa4AlG56EFye
fiQVKB4RRpHfB9Kw9PrF/WHqnLRaOkmnOCnR9y4bnZxINzafikEVvMqvcSZQorupkeRjrISakxTo
xsvC2LhynI6PwN62QruL2V0+CTEvYgsONgoq55+UN2iAGBNKOsjPfeKvzEmzMvuaFcBUAlWM3k/+
lhD7xdw+NwmiHfEe3jnP+rkvRgGD6FGfCl86TZEWOC2yp248FsOPpoBRQaJmuYi8UiQiKX7eMVFE
tjqhIHpSaynYmXNqfuqQbj9kQqE8vn2LXASHRGY0QyWKAYQpttohcTnEyA4joyfWSXcXJdedVWME
aFlC6iAupIgOJXZPRu39CpLwRuOXCBlMvp7FI8kGUW5ZYyLmBD+zSG+z04D83R7pRf+QaEZNQkKS
IG5ibyV6QyU+iWZYen2TSrgUFL2XkRS3y0HznSDQp40j/TJsXz4K2DHjslAK15x1M+kFLvYwO0WK
2hxJaotuURTWPglqzU4oGh17UX4XaqOTiDGqTVFy8OV0K616iQXjM8iOLPI2PCN4SJwvAgVIJQY/
Q3rKK+l2EqPgFq1NxSPKBsgkVYWbwulwrU5M3DHH3DtN8o3g6nJ/EVXwdODxQDbhwiYjm4OEq6WH
I96pj6oqBMc2RjVLCMvWRcvLS5Vqa0u/0mtwWgCk4eiImOSoS8D3YoOlyHW2TVakp6nMa2RYS+tz
HQq40bUJqcvBFIF3kDmIyZixSJvKa0aLJMHbm+Jyl59/xCquyMgRJXXdpSchiYRdpQuxlxZx8P6H
W4HcT42HAi0k/DU8LGstSUiyODzJQwjGTpQEd8ghMb3dyjMb9fyiIA1DyRDaNiKA5FzPRzSaRLVq
pzw8BdbgcpnbWfIhVSIXrtJu1D5Z8n2sXbXKB3XIHSNWbUC0tpV27iRgNdzdGf6EHnOET6Fot9EX
eU7ulPxKU791gYph/KMcvvdHXCUSoJfd4JgNUJMqPRCZ78x8eA8R6sYM+g9l/bnAI82ry19QO/7x
+YIAyB0IiICLYM1KhvTTBV0kByc8Va7NTJDximg2I56LZCUgBRMQIVKCC0lgHW+jMTsSoVThKUG4
/lBqk+H4MPQOk1XsQsEIPCw6amcwY8sxwNId8lSWbAAOzcaMvrI6F9YX+GawszzmVrdDg6iH1aEv
chr6WKG4gdmguGRI3143l5sfbhnrZjkBkKtdn4JlZ/VBZOTBKZ/rp0GcrceqMdongYMKF5TI4InD
An73w40STgMHIa4HvLUO6MMGEFVoIi00i016nDGKuAZYjv+KP+7SROhdItEtp9PLjvIkZiB5qmKn
Dbn9fH806hhSFW5zVFXAB2p6rH0Qzbl1zXyUXJZRcB1VWbp/u6PPNhznu5JWAScBNAGPg0rFeatW
Rh2tmur81FqnufAdKcTfUEtRHMvsAobBPOw6ONr50wgGVxyeUoHXnOr5w7H0DyW5Kj25a7sjwi22
YT700We1shx9mg7JdJAU3Gmgf8HNyoqdMoR2rDxK2a0S3hkWaeBAax70WdpNIpj1JkXjsbEjrlUr
ynZ+m+0bpDJ7qXVb5DKNJvmSAXz2phTMrFkDWAxb3IKGeji8PSTLS+nliJCSIEOH26yxIG8ASJ6P
iDGzt8UhGt7lXA6HSsQXrcIM8iAUokJtDg2F1ugNL+vUrSPyOWo7axqtW4RWCNoXPwdSCedNm1YW
zlxK6TuEMmW7RYD2sUu1+1pugyP+LZTQAsbaNzPfU2K2t94N6iFuQZJn+oRcVp/JuPLq0RX6P6rD
ITTtKo5MA/PWxznDdmv0P7w9WBf1PqQlePmbi+wgq+jC6nEcgyRUa1144Ol9QESlvCoMITqVYdp4
QqnVB6Fr3FQTS1cYCGCmUTQ9XxWk+9iMrMPY4nDckVLXJxm78V5SHiezr922CJL7TI7ljeV+Eegt
iB0I+ZiTcIJS/FhtskKwqs7oa+XBlwIeCrLa7CASFJ9AmH8W/A4VMkQMHFH2i9tgNjW70q3OSaK+
c83GSHZYKvUO7uHxD17BwPao7C3P2IXBQab4fOKTYhYKqxjlB78IQi/WhcbtgtDfyBytD+znVqDI
YG8GB58q7XkrY5mG+TAvVhpTVO6w32PbVVV7fHtJPKuwvFzFAPwAXgHtBuFHSL++F/pMSqU2FbSH
WLKqnV6rk1Oi9AofWvyCMsDVkCiJl5jpk75odExN5+V9XHrTiOivZba1V2RjcrByS7pCbOVjjYuP
3YWPYRiFSCWb72NNHN1eyYsr8uw6pwMvIJRVKkcOpNDLVaO6sfxMO4RhmTvSLCQ7krOao4qZgXJn
i+obPtVOXqnqk5noqaMmRoV+nJlu3FwX25mBYBSoKHC4Eoc+L8YXMWRUDrPVYhP4QKzjaTv03p3J
6Y+RR5r/enSK29CF4ncqP7ffokd/4wpblsxqFhZ0PcCdJR3JK/F8shFabuWwbuUHAJ8HWJxqbbi6
upd4Lrw93xdksedugrpAkAoiOkjv85awXjQzdr/8UN6Ye32f3I278ijtYFrbgSfZ4i5zlH35ofeM
B21vXIluvg/c0BZ2b3/H+v5cf4Z8/hmj3nVRL1byAyrBtoYUXKp9Vsp9LevANzfW+HonESuDa1li
LyITpERWXVaVJZsSorY2Srl2a5jBhya3rI3X9+uNgJ0mrcfFvNa9JaCqaj/NAE9HuCkWURx5GMhF
G11ZLvizdYIuCRAIav2LdB3Xz/mwaUOIlOtc5ie9C3BvhmuNHHQRLMx830Us4zOlgey+AjPnCMm8
tXgu+7hgCX/P5pDWXjP2SA5P8FBpvRITHfbkVCwvrC3jylUrgL0WlAH+u0t5nRSect7HLCXzkyE8
cSKDm3X2DOz4kPKgfnh7Ba7Bkb+3Qw4cDRByYez583bQGPHZDWp2GsV4PIb5OFCpLZyiSAyuc6nF
XLQta6f2tdo1EzRdAcPPT40m+nupx5OuzfrCZiUUnqTU/fUUTqE9J1C/q7rT90E5HrvwkPTRLwNe
f04r1ddmmTxCC4/3hVx+nXQ/2aijr4Kh33tEXYga1oKAXssnTLDG/TZXslNlBQ+TSrq3Zp40iKA2
Kj6RrQZoVJaSaP7YZn5uV6VCxAlOREV59nwkJ4CQBhrmJGQaSXufZml0VXY86Vo1C+y0Mj425ZYd
9CuLBEQKCGUSanR3jVhIVC6SoYrSU2uo4cGfZtNJFahRz2vkX76O/xp8K+5/31nNX/+NX38tyoni
bdiufvnXU/ktf2zrb9/a2y/lvy1/9B//6l/Pf8mf/OMnu1/aL2e/8HK4o9ND962e3n1rMBV6bpNv
WP7N/9ff/NO355/yNJXf/vLT16LL2+WnoTeW//THbx1//ctPS636X17++D9+7+5Lxh/77e///tvf
/vdvf/9fv/39v//2t//z29/+4z//2//4z7/9z/VP+Palaf/yEyHOn9ka6P8sslULYeGnPw3fnn9H
Mf4M2g0pHSRNFvAYc54XdRvyh8Q/LzqkaE6TheJ/LFD1puief4vfWar3oCSevQVI3f3Xl55Nxj8n
5095l90XUd42f/np/A5Z8hIoAJNnWhDAmFqtgaiREheZVebJrQg9TjJbYHtIzIrggFG1C6ynF+P0
R+svWztfcX+0Rrl1gTmQ3lsHozPWVQLHX3K7OJPVneKpW7qXFy08OyDCaYCdhCzoc/T+IgIZ+6qC
55apt4qPxV2YDZmDZra/EQFcjJqxoKaXp+tyTRH0nG/WzMQQRDPT9rbUUsTRO02l8JR1+6ErQ6+a
C3xpKkndEEpYpUcZPW4O/gaJZGkZ0NR5qy2ex2VhWs1tY3TUmfz8e4n4j5sUaK6j1oDnjaQGRy1U
Y3ea2al2GWJ2nff6Fnr5WQ3pn1foH1/C8vsdKU0l5PxLKEshrNIq9S0iauaumAvJ9pVa+iRgo3Hw
hzbwrFRWdyr8Sne28DINMiPcD2ZfuJXYS8dxxC5oSpXk2tBQZ+4j5JPyqSoPwdh/KnI84btiaNy8
6sy9lGn9Inqr9te6VPvvfCHEA1YNi9apfOQeRb/QN6611Rvvv/pHjoAq2wKNX400pnaTEKBof1uF
Vr1TtOFjAdYFsohsuAU8aohFpfLQFZNpZ74R3mmsCMprlX/yY4XqpwwCy5CnJ78zqY9U6nTvZ0nr
6qMOFxK/vI2I5jzyXT5X5aQgj0IWDnjhGn2c5dPUZZwwt6iI6PvB6IzdSNbTqZXB8rRa2WIPXW4y
MgWEMBxNcIdIcp5Pv5ZacHMSNbrFxc3B8MkOxtZ9+6RY4VSXPp23sdpiyMsPU6kp0W3jZXeAarUd
2n4u6FiHdWFLjuLJN/VV4cLV/v3COruvXh5Sl6NJSYadJoOZ579rLlIpCnowzlp0G7U7AzhzlBu2
Zk7Xk7qlr7lCyf/eSZhyYHKfWd/rGraMilidYMt72+70ffQufrJO+Y0OiduWPsU3mS3u8xtqjHtj
V+6a98iO3VoPd+VdcZRPLUo0naN9H3rbP0Ubo38eIl9+12p/J5WKZmIyR7fKcI1Xhlfmuregl/xh
3sWRYYeZ6cThhm3KxaoiCPm9wsm5siA1z1eViku97CMNeNtW+Xc1mfaaX2wZSl3M7XMbC9WfyBum
x+oZg69sKeZKOt7qVWxLZu1oHcePej8m3zbW7/KTzo7IVUtc4C/LKXEcAmytaUmxZ7e40g6x+1Vz
aqc5lRuX0cVk0RLg8yWBhgHORb44mBBN0H1ailVcyPxhN+AjI01f+vlj1PReGit2ZfyQMhEL5LlN
9KgIRQCdWqu4X01nxIXzcrxdHKdjObFRn/WM8Na0HqkVOlq18TI8j8ov21vm9cW1PgutYvUS7YWI
EIlpcYtxwy6QwG34R5iKt/KWANJri5HADETvIq7DP84bFOXeGCu9GG+lIRxRtDBlx0jxYXl7lVxM
nUXll6UIQwcgJgWU81aCtOjSQWuqO6OvFmMct4pM1xIUp1iEZLrAMYvwOPZbXpIXo/ncLJEfMR+a
5mvK4JzmijrGVXUnWNGDSLqo9TnHDdAzcvHZ4ukdtFtg/ld6ujAUqXMj3QJTcbUdKgNWg7/0tMol
0l3+EZzDrtGM3SzWji9nD52WX+GE/vb4Xmx3FD14wyFRCT168Xc7H98sqq12KPXpLlJ9d1Inz6/3
RoyPZ5l/fbul5wXxcr/jG7C8tEmjc8nyn9VUmkVaqyHaArfqLaCXKzRor3TNkZ98LqvQkfall3uq
YXeio2gbB8Dyoy+bXhrFQmShep33ciyUCedvTbmd0c7i2nS12LIn8EhNpto1Lb7d1Veb4/JfkPQo
pazDUKvHn2UMBOU2oCYcD/fwC/bpMF1HipfI1Ze3G1vvw+dhfdHYagb1iIRUVD43dm0Kn6WtpOHl
z0fwfSlAgIIhDb2eNhk9WCUSdeG2GvzO64pZt7Ec3NKNXI7D8xkCYU7Azl9oj5F3Op8hVQLCLmdF
cJdXVr9DheBzkSbpIZ4iZfej40VmF1w3kTkCSdY6CVqgpZ/NEDnv2iaObkMk44ANKltqaut9xamP
BqZCkpUsGinQ1WIPpGmGwTDlJxCJ+j4NTeUJlrj0SxSO1h66+oaSw/q8ojmDhypwK1b3JTtcrfs4
nFOrPsWj5QKdPA2ZYouT5E6N/DiU1Hr7je38Sgd5pj5PF+9yIrTzCSurcK7iqm9OioJETSsNRy1A
YyALjOuqN969PWcXq4PuEWdCcyL5A256tcabosiD0a8bKpLRg6pg0ByrxhWy1D9UDQGSvXBbSfhQ
4V3YzGu6oJ+UMHwU5FG7tLiOuutMtPZv9+RiN61aWK2LqU3iBC3U5lQZgCNFKEXJxuHzylhh08LB
w6ojc7UWiyyL3pD7AF4paveOIF7JzVGISvftbqwgd3+M1D9bWUva4Fk7+1ZCK+r78mSI9gxVwREa
23qIvsaJnX4bfLfYkqa8OFeXwXvR6Co2NcZ0KrKCRiMcqCJbkDxfcZGW17bui1e20+KDB8BAQhQI
+sv54m4soWrMZb0VY8mbtLhXffye4oTacl57QivBXux/fXtI1/f/svYg06AQtORUgYSetxkGuIg3
1lyfzMmRK9u4U+JDo9hw37vQabqNU/DiAb80B54BQXBw95QrVuGGPvtTglBjzQRqB1TMZtvaKdfz
dXIb7Od9clSurKv5s/DrYNrlt+Lj2319bRe8bHx1eKh1NtRzT+NiJkOtu0+MemOBvjaDyHdAq1lk
tQBino9m5hcDpW9a4D7Buyv3sPEAzaxFnBzznT/ln4s82jiEX9kUEDvkxXOHhD/pr9X6JKFnyj0S
8pSAJDed+3vdkm8aqXGlQnV6eSB1qO7q5PMoJp5eWLCNNdvPNyK6y/2PCAX4W+4d7tELLh80xH4y
6ghRHwnQVO277QhQcGOxvtZVbhw4LCjsgMS7iFZrc4wY+ukkySCtbEtyVMWWv5qfxrvBrn7pP9Tv
N3G+l1cOPXvR5mrVIK1dofwW0LM8cOp8l6FIm+UkPrT7t5fns8zJWTTCK5viBnZG2M7BEVrtRQAS
ZDRLNIogbuBkCVsiM135V+Nzn9p55jY3yvt5ixh0uSfO21zm9cUDzgdTFaBRiUiYIrni+LFst0w5
nnFRb3VrGeAXTShS1IepKs4nhVSRcl3d4sji9Q7vxWvhKLiw+exoP6F+UNjRsd5n38O99YTW4duj
u9XR1RXYNGXAI2GcT1YYXcnjwdDLjbfwqui23E6M5ZIiQYSViHUtbDXLRtIpYzOfpivM0PR98SH8
ta+PYWEjuYgY66P5eCd5woP4Fd0K4UF4iO/qD8lT5VqebvvX3UZYcZGXfv4eTFUhfgGMgXp0PvAz
WVgDYQbxlHwg60BqrvSk1O4eFcE2ft560r26Nyk3/qO11TQnZSa3hri09r3/VVOOWrW3GrvBOC7g
DrOREJiQVd/5Gw+RldzWH6P+ot3VxCqYjHZYB4un7Hv0TtuFO9VNjqhsXoeP0U14jXqf+HHc2KqX
5zwzbQE3RJeShNg6sQt+I5wCgTbF76pxk/SH7Jgqj1zWykZDK97e772DyLXgsIDGIt91PoddpaFi
UyOzO35qd9EX42n+al0X7yDCR9fieyQimsypWWydAyL+8ONbhnoQ+rvUNWBWrGZUE3zLiibc1WYZ
w0/BAem6ETW+Eg/wKHrRxGryDHybDJCU00m80tzeHXfT9/Imv0Eh4io/xkd1nxwq1VPu8vgYwRPa
aP61M+Fl66vregJxICOJNp/SOV2k0EA2d6n+/9MIWK0lgiTroa26aKZUeJ8tDAWV7TAkTlN9fHue
Xrt70UL6RwurbghZXwllyrnT1B9mCAvpZByqTNxYDa/cg2SKwBMQ3ZBlXCNNoqibsS/gGO+sO2va
dcPHOvekLanVZTRWl8XCJlzkWvAOu+CbzyY44Xjy57sgUO+mYNfF7/OwfZjmG0tQvbfH7TL2XaIl
YNLUCrELXb+7zBkVmNjKtTsZBCNymO9H6yhG15bvU6Ac7brN3bnfSjm8ck4irbTQr5gxkBnr2kI1
JW0dV113V3XSoZzn42QZO98UvnfCcTJaL2t1L83zXV//0sumCxqZl84W9/VyMimhIQKEOOhiYPl8
qL64k/VQKc06EVE/96mgyJOxI/dfOVHVPAH63SpbXEY26HMtOp/8HcYt+bDzU6wMkwapdeDoPk9R
e2xVr1i4E5i5YJiwD8lXTX78WZTDoxm86+vOK7FlfHuyLzYJxSP4ZwCMuA4BBa5eHn4fUw4NVOsu
giXmNGpJ5UTDIkRNgmijIPxqU6hVLWxr8rjaaj8qeTUOEcH6na/Nmpem8WCLDcJicdEkP7qEeWmT
UVowlOQnKP6dD2w6tmLUoSZ7GubZFqkEjeG3aHwPEOdGzHqnlk5hu1FiuNg1S5PLO5/pXCpkq/NM
rRS5BkiA52bV2mSHD6OFubSq3JNBcSa5PU7NvJ9xoXt7/pZBOzsYlqz/gl1cMltQkVbzV0SlkY7W
UJ96uUIRUuj7ayv1Z28MQ9mOMd2NRl069nDRdm83/MripWUyAFBFeF+pa3AEFa8qgAKMhpScoBBi
HLRcIwvAszzQwl8o7HhBLKIk67Lw9r2P4r/eb0HyX+k9Y8r1geUgL0txPc9NPU6hgaRmMgviIjmH
qlPaIAVJPbn5FfIcWnVtKd33Ur2VlVg5c7CGcRtBsAEZHoAoyyvzfI1pPTINSdrVJ4S0/i91X5Lk
trJluSJ8A+Bop2jI6BkRkkhJE5hadO5wODoHMMxcQ62gNlGD2s3fSB6nMlNBkEVY/BzV4Mns2bOn
S4d31+89TQ4FDEeD8JNb+jvb5dWj0ZvTvevDUXVqJhbWPXS2ZDeDKOAbKFq4/gjviOwwaQWJ5mYC
PQPulyEAyFDjB4MonJt+vC0bZwzcmont9bk7u+DVT1dHnLLVVmXx05+ezNWcNaBp7nLp97FkRR6N
muOv7IgFRevPF1IyhGBBYSNCse80jCXqeayUqBqg8EiTOqOOHbv/DNMn437wZB5ZM7yfKwouTEG8
uPAa8c4erZojhfBVylHooC6vMggEJhlL9HbnDHV/Oze02ozSW+NonG99FETVJlACA0qnZDFOH5AF
LyFK18yBApU3s28yqY4sC/mhpGUfulmf33gDlU9cWPT1+mxe2gTYh5C0xrGjmgKn4RtLiq5nTguf
ccvaOuBiRgUfgOhFM84AbXPjDBrqc5b2PubPcX5xnINXBK4YkMVL5AHAlGOWlNJ5guKaH/Q+EVuz
hTRJgnUfagXYGE3p/7g+2LNECEBRQB3BhFE8nDOfYIaulpG5YDM39ndNe8wlGDG6Hhl0L1P53rtx
EWuxTUZZMa2vE3MHvktYeta9P7f33F1r8l8ekuo0Qp8BgMrFe4LPqWf0pWXuINbp/IIWmwu5/sf+
cP3Dnd2+x8H8jbJYJQ4MoTsIyZuQ/BtvOGS78uEuS9e0L87WIqJADxVixDhbVAn1dC3ibVQm+lzC
877ZOPPNRO7GBjs/NvhztwZNPkvWULQEAhVPTuVqj9vvNJbWTVSn7ogRfWZOaNN43KdkpX53trVV
DGiOoSELBCMgkacxjFL6LYSe9F1m+VOQtOWnspsDD5iS2WrDxOB6ADn5W4CKV+718+v1NPISXoLi
UG/MEO2APlePqjOs4pAnhdr8o2H5K9fdbTuDMO9ocTd/Bbc3moo1M071/U5SC/ULADgH4gf89bOM
Bre7V6Zjbex8l25cLY0z/zDJIu7ZS5eSlb12nv+raOqUBlRQIbMXs9koWkyWCwPiqkYkXWdbFzRu
MzOCBuLeGj8n1Pyc8Q9AhkfKjGPum9uJr6nEXFpSSOAcDBckP6BZT6e7YgYvi8yEpOqsRW37lcBV
3G1/6q0WXt+Nl9YVcBrIoHBg2XisnAaaS98rmgZ5KPlQDJu++Srye/6TJq/C2gHicz3YpVEBKgtd
C1yFkDlajCrXjaktS4PsICH06s76vRzLx65hkEJwV/bLhVMGGI2/oRazOBY5hMJHk6BXY76mjrnp
u/F+HNf8jy4tTfVoAUgZmQy+4ennE6yBAo0x42QuoBiaFv7nZOiVf2W/J6W8EU6+Bn05L8ngbYos
D7ws0Ohw9aiT783TsGZVn5eG6HZ6zrzP0LfogqFh8x0xsylMGWtucRz+onrpxm4JgoCs+hgq+g92
DQnTBBqjeZKzaOa5eJzonD3WZfuDGzTf5nY7HK5P+HnxDxY4AHfoOO6PsMTFjNulNI2kox1uyYGE
lld9EX5Xx7wbYGzR4Ei2kIreD6avwa6n02Pq1kM8ibkP0qHKwj6TJGA90wJOfXNz/cedz51yRMY1
AbUCZA3OAjfX4HqQNaPIlqC4G5td8VA0mRUN9jjDckK79xJwza6HPAJgT48y1LPQy1PKs4C0L/e1
n5mdzBXeVSaT+zX1+uynLDv6YZK9lgaoxMuvIyM+D+cZile8z4kTdIVWoiyM/s2HUXj5k6dZVRtw
oEmbYMqS4lNJC+1rLXRI5mqGC1ywNvn5V5Ibcx1ILBI/SBPTfCmyDvw4PTPnO1l09otVm1obNilt
vcA3aQZjHL9MPkKQVsNfPEIXEdxiu32qtBrlTMPIyy+onk8FdFo196tVmPKlNCbY03d1L7/DMQKd
XVi9s4+QSRDA61Jn2AM8wsBB6ZsBDpIs3Y0S7Yx3nipoySrWGvSBVCHdXrII9TptgRxxxA5Hd5SO
8WTCPzPrQkNur8/e8kxZBlpsdqnpsiUCgXpPjzptCD2685NxZTjLN9EyymLLQMANSOcKUaA+9wBF
0Zi3a/Zn6q84WYWKv6VYFQ6g8UiXF+Uey9OMDiJ2w46y4inN2O2Qw/XWbwonZCWqa9c/23JAaLUC
6YhdpjTPAE9efLaiAoStpsOwyzNUdiYdZuOtB7z/9ShnFxnKqyiw4H0Fmp2S2Do9FgfHGQdDywHS
yIa4aUEhHzr3tRNyw10STMOMdqRXhVO+JnuyXBV4ZyEw5BVMpeVw9vT3pDN2XEDft7BgLtlUgSvy
YPBWhncxCrrzKG/gc+L6PB0e3nMAsZEKRQ6lKQB/dCMPOBA81z/i+VRhLG+iqF/x5m4pQAWdDLgU
7JyCVjGcvQ/oPciVc3dBrcZ9oL6YeiIiEp5QS83S3p6lnnkF3oldEtHC3Qk+B133C33csJxrsJqt
m9qXOLtgyJLoU0DICOmaWd7U2tpWOF82yH0Uaw0IEjzmlvJIE6M9H60kex4hH1T5zl3J62iGcgsq
ZWFiWxvRvbTmmobi2dUD8gu0Zh1YNQAyj8in39mafGtC6yh/dtB48zf5eGfPYWrdspX793w+cbWh
9KBQ4arAu5hPizUQt6rgEQqetQaJBgetcdtcK/2d1VeUCSRkh478pCPm8HQ4qUNBPE1N3KTEhx9C
aRpA+chpMxgWlCBcKOAIKGJLWAK0MIJGI7leA9YtB4pfcGx8IOPTUQFb8ikrmYu+qoxuNwB6HfKJ
yWDuGF9JKteiLM4YiN8A38z1bjf66Q6GB2XsgpHzzuNSDeVob4BviprxUa/4zR4cJaN0RA13R1IH
12apV/UnbTb0lV2ofuvbO+AYBiZY6BvoSCiXS9BF0uOBKaw2oVtthMybiGVaE5mjl29EC/OV9x0t
uNZgmaFSHoKDCl2d0zVCaquwK0j87VJnwNH8W9ifrgdQa/lkQMcAQCtjIeA8Xu5k5OYO1wdb7Kib
QqcPeQxaRNn+fxZkcXOOTYUVYCBIXsmwEAc5fxBu894VsBjJ4nSoSkiM6zkyAIN/lYBR5nBPvj6M
5an3ZzL+fityOhlMZE4NERmx4yIcb1kL1csAymAgvCVdLNeaWWszo7bVmxXNkxEurik+GiMfjbIO
uLxHAWPloy2P1OWQ1I94E8SoyVQVavrrHxjPfCusYHTxQl8Jc3YELOZmcQR40BntoG8idtPwnQBw
mK89EdY+lhrnm3GQHPxVbbTEzkMtX2NwI/1oeL+vT/9ajMVepFRjeQF9yV06AQ/sfSNsb/crFe+1
GGoJvhlHzp3ZneE4vCsYqGYGoFn0QFfb0SvTsQScyrkt2trHSAYvDy0rg3FHvjLjZwfl6Ywv4XsU
epuiFibMr4ziRrgStISdNOuY1N+vz8rFFQx6gOkpwgcqiadfTO+SDOBHbHs8LWIPvRpbfnUnpZ/3
mtgrLZGLs/Mmlvrvb2bHy0G/rLh6yjR+2LsPxvDJYVl0fUBrQRZ7pdH0nEqIRu2MoQ4oudFhXWL8
K88/cAP+frbFhulk6TftMYqZhTXMNVrNDBA67Kv3L2kAKNHeQCESzfKlmZejmY3fajoOf6cOrboP
8F4OqnElyoWzGcUkoInwoFUCsIuyhOjbIqmbVuzgOaADaFgHcACELhukZict9NaemxcmCeGQkQMT
h6LEWQtOkAT9eInlLb7MKF1BcicAD/b6Sjgrqh4ftW+iLNfbaFOKYpDYCRarl8sTDGNfCnhY1kE7
BOLH/Ji9wLf5etSLQ4M2lspO0dFYspHLLjc1E0ZOu9yn8ImRv5x+iCxarShfXAzzpv6wuK5dDxVy
dCKQeBTfRmC9qPZU9j+vD+XCIXRS4yCn+9W0jLKzNcQoErrRrZfG+NR2+XZma8KEl2fqzWgW24m0
hRy6FsedhLCBiXZeMHvjYyPNz5ymEeEeunj9Fg3pV9utQwr17sEl28FMVyZvbcSLO8rlJcqqUp1Q
RRcJz4xIB/a6bm49aDVd/7hnD9Lj6nwz5sVdZXglN0BREbCqCyG4UiVB97F9dW/KTwkNCYvQB4NU
L98ka1acF66vt9PqL/Z6CUehUqrABlycOpoEw/SyMjb1VyzS4pMQy4y1r1AyUdUxiB34n2G1ZHwv
IfPegXMW+emG2Sup5cq8LbWkU8Pgkw8oxI6MNvSzHs28BLy02nTav3Ry/Z21JfQyt0ucnjki5aaI
rfxOlMPGKPfXv9/K5l76fTLWp017nKFqvLH7e5K1t3qxuR7kws1/MkeL0zHRWtPiUN8H8UFC3wdm
YE4am70MtPIJesrb69EuXjBvvpuawTd3v1E3uWar7zYYyP5LyC7ybT3zyLc+uR32PJjCvb32pllb
FotjZZj/Kyhw7DhWdpn85I2HuV0hW6hT4Xy1o2emXMVUP/Z0bD6Ie1XfIT3vKr4pbT1AKTpwAHJ2
/XqDOt1TPx+uf83LEWGEgXc0/lmudyg2FRDbnHF/1n6UFMVDXcH6qZqBNvJeS98PRbcGNjoDjv85
r/7GXNwGXZr70snwlq4sLZTkM/x4Io8M4SzzDecQXjBvDT8m7R1ZJbGezSPYnkAmQpUXnSeUlhaX
XcZdh7amZj919RdCRdSBlcttHgFbH7/zwy4iLQbp+4VnSZY6T43+nAj9lrQYYIGnapd/6mo3Qnth
cz3isbRysnoWIRcZOJkc6RgJQlrbyLxr9+YM88xghIpKGwBIErg3acxCdGT29t3kvHqgDd3n0Vo/
46zDB4cC2AtDzc2CeQdqQItbAeZCMx1m/Ix8336Tv+FIcNu+Nh/SF/e1jum3/rb/wJ8RHC20aLX9
fXGC3wRf3BfTKOfEMRHceZQomUM/xAhIEZI2HO7biD2PW/qJV8H4a00+5HxVq2Er7C2ANUg5l7DM
kjDitX7mPI1NNAxwfY2mLmq0OO/ipAvsyHx0VpbY2bm7iLi493U6TaTkiCgm/8WsPhpzHo/pEDXJ
fs7WpvXsJjkNtmw36n6ViaxV6xksMK+JPReunr6+crivRVlMH9XmKmlKDIm3G2VWqaF1x40f1zfK
2Zm3GMriEJBAJhPmqAWasa3ZcTy1/BvSjHAjhViPaAIPhMXrIS8uSyDOsTAg+nImPe6JuUFfLLGf
qJcEjI6hXUYavcvWSF6Xv9/fOIsjIIe/yTBDz/UJDntBTp5qfWuKlQfD2ljUb3hzAUtOZ6PlPs5Q
/pGyPiKuFnggWFX2yoF2ntgeJ+rvaNQveRMJRjqEt+iXPZVNoL/4P7oPlR7kD+Yt/d7/kJ8hnuFB
MXUtq137hou7Xtpwh2rQB3+q2jhrZFDOQ2hqn64viLUgi/cBEUZa1DYuIkvzYw82YQX71RZmfD3K
/+NQ+vsFF0eEpgOG45tYd20VD9ZOq0P/m/cTLx/noOlRn2/gAnE95PXVYS7Nz3gLBDeeAvaT4Fvi
31P3YwvCQbmGI1kLszgoYJMAB5wUk2SndWi6KVDAn6sxMv1m5ROepZsna/Cs16WDhlWQCRNV51Ge
BjiPFDF8C80SHU62fOUttzasRdbQ6ZrOYdWKvWX9gEHmXS2+4/UfyoZE16fp/KEMFBOMLlB6Olq7
L8t1zKrcqm1H+2kEf68YQvY6QqMsyH/6Q+QEH+h2jUl39lhUARV/H3wQNLqXdC9rAoy8QW/4ySfx
VGso3P4LGxcRVJ9QyRHDzuX0uPCBFSeahgh6JhJU7Gi7mThE+dzSXrt6L2zft6GWOY7GnMHKQDJ6
Yk4BheW4MJuQ5L+vz9FakMUa9zyq5wIYlifd5EHZNpHT1iFz11b4WpjFdWgWwDWRAWNxXRlaaDzo
+Tc+rBFkLi84AF3Q0lVEw2U5y/FnVnVCt5+MD+wp2YsRShF4zVuRPaENETQiMLsAUjn/yjf8G3Vx
zvJ50mESjqhcQZM+dvZnZ02G71LejcXwN8Zi3SkC1Aw/d/sJSLUH6NlbcfXBfcqi5gMsOaI2Gn4X
3+wtCdnG/K7D6+ML/85v/kfDXKJcrQTwCkNM9tNk9Hif+hGeppR/uh7k8g7+73Eu9a+5IZKySjBO
qe2n7NvcfXnf329j64LgjBYrDgml5Hm6f0uhJ12eiv65LWYagSz4Sxv1NZ7hGd9EHQ4KdwgtOMAQ
z6AoEBJuDdoaw3OpVdBX98ZE++p5zfC5nOb+i2VWoogsp28OkFJGObTPrBwPh4QNUdmn4z6XBqDl
E6y0vxpODZFxQDBSCgfwxD8Q2GoX4Yhi9RQwCGxVsMtuOw1se9Gt5LDL3F+NAkhf08V2AvBjKebh
96TuUot2z5lJ549DJYagaARDJdPNwspgt0rGc2UvLfPmY0wIh4Bn6kOzb3m1E9ozLnzSPeMsH34Z
spAhELB5UEmITto1mb+U+vBpJPbt9XVxYayualvATBMmDBDmPF0XhW906Pbr8hmCQC8yy6tNxgqA
m3v0FCBhlm1N5v56f0h8WaxCHSsFQrynIScKTKWEfPZz4kF1NEuGXxo2FawNPnZkfkx6Orzz4se3
VVP53wEXhzCk/ttcEFc+o3+SxZJqH33myMCcQMdq2+SdzxFEw6CgcQrXaCjC2Is0w/Bqp0j1UT77
SWaG5dQUr04i95y6yc+2gS/F9a+5zGpUOGgcAaGtXKrxb6dfExeM6dC0ks+2C2UgMvVdlEIILmS8
TCKNC28lBz1Le0GjA5QOSFWg2tAeWsLNUttu60zzyDN1f+ckfbWh4VnW1k2pI3dLzGi0vXtTssdC
1A9WsVaQP9snQNGh8QUVEUBhoP28OMf8xrO1Aky7ZzIVX0erTW8nPe1CWXV7vyYigFqwGxT1mgrT
GdUBoz6Jq6bhzXNJJo6k00gw6sI4jJO1yWxyL2HOlMMEc+Zd0AKO27TJbSENwGBHAjJOtXJGLO8I
WKNA9sFGNw7Ee2hpLaa6gfeFls+u82yXuhdxYleBbKe11tjFKFg0KFnCaRq0itORGpjdRtHUnqmW
iG3FCEWSBw7H9WV7Ju6nhHXR9QMbFLrb8EFQB9ObD+p6MHblvZa/jDBd+GQyzyvCRCb6zp+TigeC
Vc63qmhBbqA5z8aA0s4zwtqt6o8pVDJfdPjFboupu01bXm7mVBd3M8zU/lwF71Jaf8x/NADS/u5O
ZdVP5dn/v9NjV6vnmh77//rnv/3vf/7b//nnv//ftxrs6v/6o8EOuLj3D8D3wYJ/I7/uWv8AiAuE
RiDtoDSgFs9/yq9rhvkPrCYw53F+qB2sAO7/qb+umcY/wBGGow4EOaARDFrAewTYF5v16CSkTFyh
xGUoccCj1vabtSXgBtfZZmvtJyKmu1ST7echs7TvVdvYUMup5l3psCmCwGr/pOUDuS3HDFxXYdLn
qcMluLJvF0fm8fdAMwtYUnCR4blJFmsd5kBZqkvN3VtmQW47Sx0XtOD31uz6AcyC4GCs8WozF6YX
U8AlwYSszTCBq+7K3XS6t48/BKhaAAiU2A34ieq/v/kwyWySpPJ7Yw+LCRpnKeRRkZm1N2+WyvOf
qvhbtecjj/xvsVyFUXh7YBSU7yEQl4sq9UQdDcYxQ7LXEpqG4KSWkcf0OZwz1wnKpPO2o9PdW6Y/
h2Y7y19j3WTowtvurVOUKCiXDd0wQ/TbkaVV5FRzeuvJJLmpBt/cdi0cqJEyjvcO1cZNWQtrY+hZ
+4l1IMBAoLPwY9h1ixi+o2v9sSNpZzkyIMhRqgA3GbjqRe5iT53JBvCX9lpV3de9Ftl588SN/EGA
WN641Y1hVYEz2VHNeSiyHBcycAU9XmGjuMnSPrb0ZGMSvMcqyBHC0Kwo3JuRDx8621Z57lYz4e+s
reBGzqcd5hkGrkyIQTsQN1j8ajNJOZFd5+0zgGFuNLiGBFMt2pXM4GIU0GzRoICBIbQaThcXG6Ea
7+WVt5/s3ob7ojkHU+uOm+uLa8EbOi4uZYwCEipKHRATW4RJieDIy83sMNApf+kN6qTbph6HISzB
V3lpUCTTN8Qr8v3UwCc88k3ZPGae3rihU1qoJ3SNKedYUAHT5hq4Zw40+zSvNW4vfA0IKkE5FroD
UMtd1vRL2tCWuCzZF3Wtxb4G33hzatda6pe2mrL2UY6Ryl51uaNl3egwD9GSPfI142aA1sK9MPU6
1Cu7CwuYLYQ1cHBxUdTtdoZvezh1wvzgi7L6YkNSP9IqW0cJLMtRzql+5jAtvJFjNT8XHfDnTjZ0
4dQ75MGvW23Tz8McFbUDs72eVREvO/2FTfN4B481vqLItahP/5lm2MDDhxxP/HMKVsVy0+xnfD89
ofKumTASp5m+Q26p3HpOVYU9p2AlwjQgKETZPFYuFwHn1HrVCsO56/VUC+0cL6jry0/lWCcHgKuy
bCQtUD7CGbpUc7DH1PIAO0kPqWml92MOIWKq6QSMMMEho0B4iGOteWxZuwalP0308UFUZHgDwELZ
wGN+qVSAt1Hv5FmRHpjHHio88j+4WvGrqRINTrbOmp61upKW4wQ1CqxlE5p2iHe6mW3JS0IG7DJo
VzcwoHfnCE/CNEw4a6Na1GNg4k21cnGoYs4iKGwrQUqAZSJyhyWKLuVINnxYb+wTEByfMuiGhJDV
rkLTqvhnN/PdeLKqA+nneWsP78QiHz8wVDKQ2WK/IjNdsnvB1SwBnKpxfqWgIBKHfs10XoV0Klcp
CRe+LpQcTSTzkAlAa3OREAiobNrUzv29NjTA3WSihTNTZcjvg4A5kyDywZWee2NI8d3z5+klgd7Q
3AA146fu70FnIoLALn8mufm1H5P5RhPWF+RVkP7WzD6YzHKIYOYK9zKr/F1afv4E1rgIDcDHwwIy
OxHPk+be7slh1ic9rv2ig0SzacVGr7n3ecvzePKa+h7UgiQ2Zwcq2/2zAKnwljNtUo6p7NvEbT/s
dLu75Y1MYb1ZaxFoYm1oWDOJXGPSV3behW+GxzTM6AiSSEgtLt7VrWuPZKhHd1/Zjb8xBypixpIy
mAQYrrPj8WBgbK0ze2FFwp4WD3pwuADhWHKgCzvVa1I7/p4Q7jyMg0Miw620G4az9JZPE/rss6gj
A4yeXSLkmoyb2mWLDQGWBxjER2LomQxgZ+sTGj4l1klGAJWGTN9zTdIXg3G+khkuiDrH1Q80JBIE
OCvjz6N5yJvUsMnLwvGnzN+Dl1w9e72O5mNO9KhVEBkzA9ULmqsoSnnQgSkH3gZOJ6eV7ud5oqzE
pgheuVDQh1jCsgo6slZKzebannKorzadyx9YbYht2UDUK3FJc2fOlDyYUz7B16bzN33Gs5tWF9mK
DtSFwxaTDsYoLnBDeZecHn95OVijzWt3P6KguYXMvhv4BedPxWS/drNuxNdvlQtrG4Rj5fSIVab8
Zk7DFZO0hqoi3h6PWieoSZVsCo/rDxpwJ1taTOaT9J2f12OeJSgYlqXMsMCHwUG0zKMkhaKuZUhv
3+qZE0959a0ZSy+6HmTRmVDLCoQ+aAbjzoRRKhyeT0fWuYMPmx6ZH7hWDwGfxRB3JZlupXSc18Rt
Whj8+uNdygTus6bNt5lhand17ndPTPRWPGiyXlvqKt093VW4QlHtBDES79QzjivVq6ozeYvUAsSw
GHpYw0MxyDkyyoTedPakbzNCYGyQi1y5R8i7VoIwLLpsWpn2C+sdVVdcAsoUB7nbMmXmINczGH7n
B7ciwLTQrLvxeT3s8GxNvkIDbojz0a22HIzdGztj5V01DEYgIKu3vT5P52kNMHGYLRtihFgUSzX9
YgTTYUxEfkB1TXCga0rjI9roeAq3NIPtqkr4uqBhaXbo4OxIwuvhjxrjp1OCSqKP+hbIx/gMeP+f
PEytkYt08IfhkJRiDnkN8yrJYSDpWbBkRXYqbyTEpw5w1vPCpJyrrUh88QHqjN6hSKzxoYejx1fI
hNQ7iNSkH3pV2vU62ty1M+7CoWrZc956sDlyMi3oHRDhh2lsbgQFjqtktrEt/L4KqlL3o4I2ULM0
yjVo3vmRAmdjxUFH8UNticUQDU6zicM68gCsyhjVDQVeuTCdCGX/YduO5pr0zPn+xsMaiSqM7uAd
i77w6Se1Gzq3NeRKDjaD+VED660t0TJrJWU7f465SMpUQdiBUgK20yKMI2hFZ5/ww+TAuisV9p3J
fBM5wjzCX3oikZjHPtZBNd0xW6Zbkbc/ZW7qEH2n+a3XMbqpvDbfo7SdrPy289sTL3RI3uEQx+vn
LMvijGodM6vyYOYpiaqUlxFvOHnRa2A1ri/g8/1juWAuqgcBoqGFc/qxG9LXo8nN6jBPVfUsG15/
76dCYWhquc1aL38xzK7f5P7srp2w56cZXBVQcoHoNOxDQBw+DS3Ry2pns6WHHE4IH1IbBwRxRy3W
O2cyg1Hy70VikBCZI//ZJYkTuZ7WhGlrrDHEzxe4eqxBYwwOFsq0WS3INxmEkLDJGyy7Omhgw4bG
AEi84/DIrXwwOfRVaP55LQYHIAAWyMzAmFbMqNN4tsloUZmsOuRkHg+dPRfblundfQeiAtzF3OFF
GBIbnTV6nJkFaisjE+AyCvMBxgDzjQ4H1dDP8DquMqbd5bUq2hdQFbFpnj62ntmHOcg+WzjRTVEB
ibbAn/rxnjh181KDFbuyhM5zAJzi+HS28hgBTXXx+VJO9cRgbXZoR0k/toXbgM2RwmtEND5aj4Ao
QBrSW8u41Ec6PXhRNYBIGdQDUIDFtJ1+RMY9kAkTWhxwWZbPCTXcO54M+rawv3rO90aHewHTium+
mNnwVFSATF/fOOenFCRFUSSEZcKx9rtYvW1n6tIvGD3gfuwia6rbQGb1Wgfw/CRAFBvbEtUYaMYu
386w83JnR7jlwdJbirrcONyXRe1uYeb0PsSHSngQCpkrMDIwDoOTy+kHbTLHHWVPwWjknAWtm4iI
FAR+486a/vuF3AoSpa5S1sT5i6x9caP4ueZo9lSyg0xTd2OgNrDRetHeuJLIwCs1Z9u3/WfNrb3N
1E3dc1+OUG3rZRY3jpXHMEdf0284n02o3aFgAD1FgFDAHT8dfF6OWmMVDL8IzhRbhhpeCK/KNTD2
+U6B3wXEIZV/DYa/pMG7RmJMtSHZYfDq/GFwByesvbHatLD4uvGt3o7Akn2f0B7mFZB29C3QRIaY
IAqcy3nFooIkkjcdNJf8Agki2wxtaQIT3Hav17fE+VNMoech0apefmCHLdsXup56nV7y+dDDsjge
IYsXo5qK8ncqqrt0To1AmzsA5MjYP1T9nKIyY7EVXMDZTHrHiwybEq4QkMJdzKSp8lIvscyDdM0i
qtxhDMoKIjDXh3o2k0fQGsYJWVroty2l61AGEpWukfowmE1+q8Gm+UEfJxkdNUbTwktuOlEXK1n3
6T2FDBONJnxXtBxV/Ric2tNFWhqWbHp4vn5KbefB6IuXFmiLgGXGPq/Y7+sDPOIn/p6vf4KBOwn5
YtBqkIupH/PmUoRBWseMOu0/sRkZWeB2dh1oTlNu0R11w47705Z6nQMaG84HH26zu5QBT1q6mn2L
S2a4n50W8rQwPgxgvAwTwmxotyXrmpB5eRk3/TS8Gi71Q7ydiq1XTd5W2K0dCuAPV+6KI/DuZCzo
OwOigvsJVRj8uThvcmw5bU7mfg+IIbtjWqnFKdbIY0IFCzyRm7E/ySEkGpicPEWVBEIT7c2QoyVi
2dTdd66Zx1B/g2+bV4DH7OAOLVlV7nWXVtteyOYJS9q7o4AQxB301j9oSGBjTwg3mq2kCQo31+7R
w/g9Fv64hSYMOZiFK0LUxosfHhg+RdCNgqPQ5ZZ3ltUl917apMGc2UacUx00HyHdyDFQV7w+zae7
BbOML6N0VLC0VBa89MahnTQm4bn9XiqESeF0sOGRCHU9yiLXVmGQ5WHR4j0Na0pQfU4XkwmhWL+z
En0/DZ6J8U9+4I6VFfUDHz7PUzkEDCZiG9Fo9k2SexRPoClH2kNzsIQ5fWhZwzZN73TRRNw1h6fz
b6DgocgjsHABgPIW28pLNIgIOxI/Dla2gWWMRoiGl7+yeZe4geM3QMsZ6AGFdD0TA6+KrDXy3tb3
nkz7CGo5bmQNfRP01KI7XM4Yq5FkXkxIV4f4LgLa5DCfm7WpD6mt82C2eydMak/5adjlE9oMcmWe
TouGappQPlMlBoByUMZeOp1ZWT7oOYS09mVh2xFeZl6o5RLYRcMeQrsHWzARdraFrNtPr8U2ub5K
TnOdP9GRTKExhsa36j2dLpIaDq8ad1JzT72xuOvdsQsA/Ksh4TJ3K5NxdpKiXoWcFWJhqI0aePac
hkq6em5qOF/u8ZhgG6s3kghpbBWS2kwfGdLylQ+7aOwfx4YntFIxxp8o4CwCEnR9R9z0BCX6xPoy
MYvc6g2pd77RssBGFSEqJjarxj651bTZCs2GJZu5L8vnsmzWWKaXho+aAtS9LSSVuChPh5/ppZbj
4xDgFuspQgHcDkY8gAJSdlZU9e4a/ufCzGLFo/ztoqeIx4LagW/uErPqmrQULtnjgE/ukRdiDfHR
eAJ8lq19abVbT896eE+pOxkHDsiSSzKfDZtt6JlgDfctd3czCsPRILUXR6ZOPFsSEFy91g+6W7gb
QqlxI/wGdq6eNaFQ03w0OWah+E62LfcGiPUbLMxGY+1CuvgbscfAhAPcA7CT0+/hUJbVc2IZezmY
1isk0MZH2XIKBHyfbjz0ejes4HAXH+bi+foeU1/67Ov4kMgDctJGH2cxExpeTKlV+QbOOtPcyNKU
mwbEpnflYMfVjgIGcGfEgD45isOn47Pd2YJhtGbtvS4zgsJDAbXNaLky1RfGguWrwBroIztosJ1G
cces8LOU2vsWtcrY4tXHxhrW6sAXli48DgD3RGqrq7r6aRBDa7jhycneG07m3Ka6lt5YPa/unaLS
X949N5ZnAWQDviAK22QxN1MJSBCZEaqrsgQ222hVVoSt+c9cWHuo2WJesPrQrFx2KvD0yoBjHq19
jkRnO6euu2W8sF/kJMv7idfjA9fRqSaNr6/Ml3E8VxarD7bUgOhBGR957PLdV3CnKwbI9u6NfvSz
WE+0KYkL1qXfKMWqDzJcKhDrN2pQUPOh+NR0mveKypW4c1ju/UBKLB5r6vgHI0ubKpwHI/mmVa32
khK73nU19dpAq9xNZ+noqRfCzZOwosX8nU1ZYYfAfZcAqE9wHXYmaIiGZvkf7J05j93amp7/inFy
CpzJFXRCcg81qlQl7ZKUEJoO53lYJMN7OrI7aMCBHRgOOjHgDm0YNvxzhAb8M/xQR77Q3lWtDTm+
wQXO1TkqssjFtb7v/d7BBhdgWltfi0WPtkYzwvs05GrolBJW8gGiLBCkksAMxd7XQt8oSo/1Tzs6
D2EdB/1STy0uk731KUxC56NoxtbwusWIU5Ia+tm4juOE4L8SKDPIraGuNprT2c1VmwOh+4nbqh9M
dBafFbOvrc20THKfpIXS+5lWNWTck2LyMCMPfjDMoTaZ4VXhHW74N3GVVbnfYxClXrS96XwiIY8B
TFJ3ckPBKJNdukRAxqnWZXWQhVV6JTArEV4oknHxbXzlrrMmrEuvASxv/UktnXezZFl6Q6u727hM
NMg/aEmVTZiP3bLpcHAjlLoyclJk7H5Xt5ISpunMhUgOx2of+8wFg2qYgMfEjkuOU2sKyw9LATuo
ZzwWXZRS5/mFxmx8HidCaT3KOjbfrkStyggv2eb1ULb+UMAg9yqRpgZAVtVyQi6xmux1dQgfIH1b
ZE9l5XiIRsX+XQy5sk+MtHq5tigX7Krw3MeobD8bYeHimlrUVeZPyqjjJm6HMDbzdCoD+pL+Td0s
Mtv1Wj+8dSeXWHZ9sjTPMlrncxbnyzXWsA1T5hoLAU+r0jH1lr7MKNuTOb5tNJg43kCgS+7XZrhc
mONSM442y/kOzejOmSdT388pzbZnDqGBTeHUzugTFd3x1SLSLvPIqCZvqqweUkIaTWRs6GHzTmc9
0iNrvfCWQsP8x1HaNvEKmDC/y2oCT9OSHFmMqi7Go1u32X0YL4vw2jQxr/tIVbNgnFMnQ7AwuS/1
vg59RA/xW60ojN6b3NHeRn2ZDj7wdWddVMtS/f7zney4O/62/3PSr9R8/L7XwcHxpqksGHoCY0Kj
42x5M2FdWHqimZQQ+7IOIh28rs1Qmsn255d9psQm+JpDH7CDpAYqvOPr5k6HA1xohQfbldZNk4TN
oygVEunxoPq9aa0QFsiQbiIGeUEthyYYczPcR4VuvnKtpNzoLgZIc0PvxyfpYptpJGdOxtMnwyyR
XRyrAeinnL6nvcbQhrpRlVl/yKwxuc2iLt+4Y+r45tJFvshM7Z5y5Bz1/LmLWhzIwAfgiKB7x48F
12ZIWEMxUu06qZ/qmFdWkb5s1Hgzi60zlp9//h5Oy8v1lwQVZEa5vgTrlGo01vowT0ozHsKl2bUu
nf2UzhG8J63dQwU608J+M0H88VThcmvjts4iv2XYn/x6jVnaszFa40Euo9ya9tIHOWzWl3GVjPuU
k8HvrK7YGAI7yL5Iw31Mj+eHraGT/Z5i98DomhCRXGy48WaDt4zwlapINzFWkjcidOZgGeb5zGn4
zEuBtLBWL9+Gaqe0BTPv8AWwEnnI9NnejoXp3mmY4/Oxl9peb4Zwg0/4OW7fM29mVV3gWczBT6zI
SYkB8iLzvinlQTRts59dRdmPMPw8WKcySPvxnPjymeutHEKcqlf2i6OeVE9jlvcd7jJkR0T2fZLq
DTPQyPKzWlxG5tz+EiSPhTwlBfoOAKi1i6fFO17nRb/EEoRqOnStMmziOI58W7TnOoxnfid+H8Ak
qnfAv1OV52hAy86mZjogXJT+aM3FZS/te46D/ooW/dzH++zlHN6VUHll2umUjHJNdaJEnw5L2hY+
PJNpY0GCvpiV+jPA0zmt8boCTj4mQDL4NFRpAH+n7M9qGqUkwmg+SNeMt1CUK7ymI+3NL+8QnA4E
S/EgcU5VTzbq0lbcsCys+aD21gcrH+6EPn6J5umLM43l5ufXOiFkflsWUHsNtqM1IvkJvTeKXWeq
4YwcCmceAj1LC290lGUzpp25m5063ksqLk9xx+RiHJOQoGJjCpyY6N2OjHS/Vq04KKkRfn5fp50F
gBsaEhpU4HnW6qm3q0hyAoxRZh6UaBy3tUtWVa+o7l6tOPJ/fqkn8MN6LYddEiqmqjJ5PPkOGclZ
Cal7w2GgBPegaiuvG1z2r2VtY/rY4ZjaGhMMUDFGPlrd+XIyu3oXLnV+0VOJ7/5/bod9AaSeMRAz
0OMPNdcqCIpmPIIHKM3FonP0QtCQt0WMv+28gD11Y2VAvYepp4eTGRTD0gSDVnb7ZCjlGcrUE6j7
29NBH76u+LV4OHk69VhhlNYrwMPwq6/UEYWFNVHKCmgIga0viWfGRblT55yE8CIZb6ckFLvGTall
Z6n6bd1uHKyZd4IJru8qJPR0S+5uSKdQboeuzC+XXC+2uQ6eBvFvCoYYJ5Y+r+QZgtB6o8cf77dg
UyAFgT02Yonj5zqIYhwVSKAH5J+pX1XCuM1MWqyYlATPjUXo54wQrszUPPz8jRrPLWZkGes+xdkC
Hnh8ZXU0Wk7oajywddQBfd3yGlIq5fHkqA/GmIqga01rK61m3nX6lO3mQrxL0lB/NSx1/VhZqbNR
KAl9E5fgHViw4olMszatZNTtIuBHiyBYuZbZBQOJFlu7GUO/sq3CW0RcvXHzwfUKPjamTjjYanE7
XGGfS/nvxMumtk3p9+2c3ym63u2abp7P1HVPt00TQhYqVACdb9mIx79/FvfQZWUyHyx3TreLUUka
z+QXHU454EiUoz9m8g0Xhxb6+CpzW6mySOzlEFnV4Cvt6BApIsqLpv9VT+Bvl1rdz9cEwrWEP0Hs
ceynY+5V9TDA4yQOaWy2uVuEZ4qgp8sGIIBqeCVrsz2fBhxEDGXpxDPtAOHF9SxUT95Sizu30IbN
z1fo02MUfjTsWwJtqEOoTY8fXWY4LfOPBvR91PYqWTO+rRWv6tm6tAH/zuy3T7/DNTQSQtjqacC+
cvLwBMiu1oadccjsjOSSaFb9YrbbG1UD3wv7VN3PlVo95upyDmN55teEjgeHes3vWcc6x7/morQD
PXxsHAQWjK+7yPygxar6WUnEEBAo9ovpIesqoSiBaMykFeD+NB2vM0u3rzFcPpDBTZR7mzi7xCUd
WleQRv78BbIiuPfj3c2k7EJjZ7IqQMlOXqFmT1E7p6FziN3oqmvq0t0kbR9d9xVgFXoQ03k9pT0m
3IS9uA9VD2skkNqYuf4i7fISxxs45dVMETr0JkUvPZBlgA/gqOGLqSKax03U9B1wbfSmdRBo7DtT
w9jKMOlf/VTUNdh4UaRe07qY//YlbuN+lFTSBqUoye4yFcoKDlHTmElfH8xLR2bOPfRHzi69Fl7H
pPHQ9wk0xTmqQHspVaGkK/u6c6p7Jyz6AXFCbCFVacb7Gpt0248kD97TwaW6wF5i/a1dacZ04Uyz
9jY2m3tpTfggWST95BCGlPwdmU3psHORGvRexFGaB1U3w6GvE+4tmjrlYk13bb0475PAqR3a4UHt
X1kpVHwwl3nU92SpZK8HCvXPjKOVOzkVC1HfTh2+mWfc/+jf1ZEsHAhbl/hXUU7F8RhSChNR7llt
CyeffM1Q+DGYlsaRk/em11SiZsqQWNjxahmQq5/Zcno1NyrAnLUk9YrhRNnVkPcadMYqe6cNs/KR
3QEADhlYzX6a23sN36XQ12tbdp5VZchrhZ4W7+EHgcWsuCfOffOivCuhgL5uGxO3BdtO9BLjF4E/
WdEu3RvgW3LONKhTD6o6RVe9EuW7do76h454yfeao8h218Ulxt5xbraAbqZc7J0L1TP1c/go08bu
kGW+KZeE1CNLIvz1gG/iWyUd7fRMU/PMXoJ2Bj4Fc1oKldN5hgb2jInCsBzKpPN7x673ZZa52z42
lO3Md+YxuNICR03PFGlPTzQL9H5l1aJiIkT5tKtOrCqfYkUcmgm+6axmNjXiWW3E0/1qlbsCvK4T
UahtJ990bS6hMla9cqA86y+J9+l2uqywhLYICSos81wl/PTA4XrUv8g81wbu1G9IVmHsJO6oHGoX
3nJYJZM3dsZth8hwe26/erJdcSnGXQiexHoUnGzFWog4FBNL5ZB0TnwVC23ZaCCager0jHYaQwmI
Vovu0z7pX/ZmX/4e1VERCEuSMGrXyjlZ2jHbcu2C1ttxyCzicFjlh8cnA5O+gTJBVw7tYs9BHzfJ
XdeG8yWaAMfDMLvZ8unHJC9G1mVr14CcrG6/X5JzmMBzCwviJ6cwXeZqjnh8I1qpZEmkR9GjVJQs
GMwFoDIcwjOfzTMv+tvRRNwguBCY8/FVQKnbRDq9fdDjGH2Pkcebbtb1nV330/7nb/qZX8he8+NR
gKG8eJK5Flr2rFThIA5pPpgXelRmQR1DOv/5VU7IVd9eoL3CKDaMOaabp5FThZCZO2Yoekw9Dj11
SLqrqSi6LVvwvNEFgwu7jPXNEkkN99vFCux4Vs6MD094/99uYmWMMKei2mUutp7RP0xy06bNMiNq
40d8/eHyd04ZXtPlzMW2SMwqgrywHpN6WBC3Job6zYKQtr7kK3DfkIeHROTnD+UpiLYKXZCdrHYP
q7bq+HYa3IGiMK4QNTrtouNzLaJmqy+kAgaxEibGps6HXr3smkics656emmGdJzleJisgvRTaXyk
u9NUsm8eFM0egoSZlQ9VXfhdVrzLOuPLVJnnrCdWVOS4AMJoAJMsZIYQlhESH/+2qTKo9rKq05tp
Nr7kUIFXZUPXHGITy4sgCpvRYIQgMK+0rUTP/KqEJXamtn262pEvw12E+QqBEcLk8U3Y1SCSpNeR
B6tmHJh92l2aCuqDn7/YZ0Cb48ucIESLDfEkLbhMI2omVbZTew5bx5XT6NqdoxT5y2xy2zdFDg9W
H3usieE7eHmWxLd1ayP8G2byTJrUPdNin3BX1y+AnZSjkaGzznl1+hKGLtSIFFCVg6Lb1Zb/LL8x
VaYvRRzX17m9iE2GJClIkqL1y2jAg0RZpveK3kxokdM00CIZnWk+n3tY8GnXfW61CmImfvxO2kaE
SzROq8TFkLsMScomXOtcJZ9Tv5tHRi6lNu56V36BQSxe1qa0A+pE9vzJXCMsu9zrhSt/eWOkf/s2
BeLMFWxex7dVhZFuM2FiDDQaOIH2TRHUSPE2Z5bKM18ineNarNAYQDI52QTiAnXjlNToCJQifa00
i/K7nuj1vCHwNlfhyGupHzNKDqLBWEovDcthZ6gpwb91bKTC081O3AnGva8U2CJO0NWJ5WnppCab
PpycM2iT9sztYjTAg0HfAlp9ml+mxaFjl5mbPhpz5t4uC+M5Zc6iW3Z3nBQWCDKGo3T3XRwmlxbB
w0E8j8WlqTqZl9lmt60atd6pNhpmi9x7XyzJOHgTRIUzH/pzqwrMGdcPpmkYXqknz3V2gLpifXIP
9bxgupuTA93lenNrIqn/GE3h+DmeWvNdFeV90Gk9tbvVTRBAUTuuXhmIda0KHAe86Neo6us3yIYL
kYqxFXMMIp+OF5a5pINippM49BlSSquUZRCZSujXlYjPrOETscaf11ojaVek1jZ5c8fXShSjicWw
hIcab8qLTG8jpr2d9NFR2Jtm6As/rYqQVK4Z/8/IKnZDHhKkZoxkafFJ7AyHVK1Ja/G2HFEJdmUc
XxagEffNoM9eDmz7ZmzcfmcJqcKIUPnJkZtuhDMofhQV+eHnX8vT7ZtRGbZiNtmiYC+nyHs9xpWK
fUr2mEGe2Esndi+1qvrw84s8Lb5Wohe1pgPvHGrpyTMzzVCbFKlmj/GkCy+OCguvvGwIWs2dz5XZ
Tw9FyD+MRVgGbAKQcI/fj54m5axEYfZYa7HtNYOqB0pattdtUfUblW9jr1BTXVd12wYKpo+XTjiR
cmoMmhezfW2ipbBfIrXUNm5hd4ETpdGGyL9wZzEee4jU5ayGfi38j49xWh0dehruUXgGnJqaAN3m
UV0u6SNlow3hOUzyt8U0Nbon5CizlW5CUonp1I/WwFG8JvLkF2PbTRBkiFhE3GPW23qq4msCd8PX
lnTCGJ/ltLhnH5lAQK0lO4xxKF7Jos5ulIl9yFtmQItNqdfxPboKFel+1iiwawcjvE5F2BS+VvV4
3kRdl3wwHK2IIV8mLJMe0F3jGduBKJLJd/gRl25WFthyirF4aE23yT2NiM3Wt/tpwF6909FN8fFq
CoyHsX9ZavnwTm2iEqpN3o/nFGzPPU5KMPZ/SKNrIX68ADrLUnKOxfTRKrV4K6yiDWpQqY8SF/QN
1/5VFv5KnoMUjxsUyMtKKz++nhJiLKyZSorwx7YDo8EC2MUZyTfNVmz0eZp2P/+Ynin8GWmuA0CU
FexAp+z1alKcpdbSHueOTge4mV3xGA/O/HqUY9xsyDNwbhD0I/wlZVGB8qMmePeMZR4qZ8rtUxd/
Nl5hwINbCVwwLYAkjn93fqIl+kYZHwFW2ovSVM3XlSvFtpb1pY146JL6w7pDNqB6lRt9amK424mA
v64ObXuxaFa0UWc+NTFpkpq56nbAoukmlct7up7ijHvQk20IgiPHA2wEejONSJjju3Uhlk952uOB
UFA9JsBbOE7L4ntF/Dertd94YD9xWvvLP33945+//vGPX//4d1//8k8/mq3x9/70WsMeTV2Jv+g7
6VoAXCiG5Jeu/7vfNPGC4xQhFGAEi5uF/VfDNVN/AVNl7XKhc6ykfN7rd781Q7xYv4DVpRXrSEAp
61fs1o7XB6MNRDQkD0LLBlJGcHzSzDZDkzRlH+INk8bjq6zswRCdMVU2VV6z2f7wcO7+3N+PvMVO
ZmRcTqichnwTKGK4/1PH0sYqUjOas5hJVGW+XUSffFQJFW+8vBuqGxLQh34r3ZLxVVXo8mMHMh15
RNCOt3M628a+4ItePCQE6cspnKN8gwsa/qO02ekrc+CQDOLeTlQ/NERx1ZlExfpFWcuLccA3wE+g
/2neRIf5NgNPDT0Ggxbol623sx+F0Ns8BFOEJsYtX4vWpsarzG6rOyGLkXtp0sSLssQZfbPPzTFQ
TDd524Z1dBElg1J6ljVAm+lMPmUvTGqwXrUtyRjus1B/LwwFscs8O/GhW/XY8NFykXtTWUxMfSxF
Uf1F6Qml4pxXHN/N6vE2giGJojQsripZp/dR6bQpbJ7ZHP1cK+Fp9RKSjK+Ops7sfmiau3F09Giz
HkXjF+hvjb3ptaV/H5FK8DKGImfQ7bTWW7cbsIIZkbHbnsCx1/bJl2gOqtSmZK90jFC9JYvmVw5H
XxGUs15Xvlsr8PJMsqMTMeVVwMQsB+su1U56lAjN7BuqlO9NNek0PEc091Gfx4mI7qkvPhbFnJDY
jaAq8VA5QvQCZ3ZHf4qE9gpaZGHszd7qrMBZtOEVOl5b8XBkKXrfGFBjeL1jomuVuE1C2ZOte8Wq
rZnntrN4DY0jJny0cK3Fw12yHD1bcez38YRXkFf0uvlBKcgO9JkHG9HGzua43Zbt3NzNsh8/pq0c
TG8QC4OHKhkmyy/MjgAFAFT9DW4HLR4Dy+Rux6ZZ4l0fSQZZlZTzm76WJe+8NNPaw4pzfDmG8CWJ
vStaKD5xZQWWgqlPybBi2hm92X5JaiyJNqbeywDSuZNfu20sme63rv05wv5Swz15Vl+XnHFJoMZt
uzAfGTt1r6ktiQtaPg5vTWlhbqDPaKI9A9hUJ0LAke+jmOLJCyfb6Ly2atXej2D+RpAuZ93yQlOK
4qKYOzO/sM18jn2WifLRTRmTBbqCFfO66kLLw0Ip5s1Ci+iDzJ07g6Yqryu8npXmwWgtNgejneJy
y/zFzDd6ZuJ8QOJkJBnsyOkj56CZ+U2T9ZlXW3qbbcYFyzePMqvTPbWeM0IItQy9B2bXEt5qSgai
dHO+Zm7jtWVMstljlNU5G1LGTcOrlLmOfanOQvGdgrnIVhdyeN31LSmKbF1tBdzmZjcOfi+GlymT
e1tMpRJv4sVqPi/GOCw+itPBRuImwAhbJ+k/1EiUEn5oVDmb2JX5ezn3PT45Qx22QZgkTrQxl8j4
Ig2r6G/Sena6LUA2cVpLrCXWpVCW6HWcy1pu9Klsy62VYGOdx4vd+8NYqMZNP3dQZCESudLL25g2
2+gWGkjTzu334Dptj6641V/2tjMfnKRTX9f5WN5HAqqzr7b5eGeJHEL/QkBeE1hMbr8zuP52YP+2
Ut7+9RP7X/7hP3z94z9//eO/clx//ePf/p9//p//8t/+x4/n9vrX/zy4mYy8WOFNGHW0wJy0YDff
D27TfMEfUVAJEED82Dnsvzul6uoLkLHVSwIROdzGVaD6/eDWzBeo3gA9IB+yIYAf/8rBfQKh8PMB
UNC/wsBb3SxPeb64NJTVxOmFWzsZGKqivWe7N30kGYwyyCkD7mEI/cOjeub8PmmcuSaieNhqWIb8
6Vh9XEzWnYvVDU5nd8s4jNtEJQ0tbopz6uXTYn+9DDZSkEhwPaTU/wbK/ACwAyPnstC18a7V4vI6
Tov9EqdTkC+mHqQKFPG4Q6KWyexiKt0HO6/POYWe4lMqoziXUgUzACbda0t9/IuiexrmhXbxzq36
cW/WmdjK2rK2qgDSsDsrw/6TJjuMo8QvmlG/ULKs8oxK5PtMay3Pwu3waoiN7EbrtegqGuvoo2GP
8RnQ85va+Yc2mvukB6OPXn2QcO4/hafUBdUs/ITyLjXKeGuXKd4ZZaTsJMTC/aIvY+eJpTN9YTS3
iTLFgbrU77Q4Tjnkls9kCsSfSr03blO1bS6LMJ9u2PrFPtedYdtLw9jV4DBbWsF6b6rDnbRn+VYz
OtfDi2jmNWj4dvZq+d5Op4efL7Wni4ClzePXkcrwa4pTEmZZzMo8GmbOTpiZl00JXdlZrORalVHn
ixa+wmC28tYMC7mJy1ndliKfgp/fxArOHj9eus7VfmctjBkYnrS5VWdLwMs0u8OhXL8i6fYxjfRy
Y0h72M4OZteR5ht2G/9it6tSOkHy4H/YpMId/pbU8MMH0KuiG+2yiO6kw1m9uNpjHg+TDxtJIYoQ
l8+kjx84rxGPRFkXQII61+WeEk24Bdx/+cVRe/HFMwA//gKwqKxwDCjFSyelQ3UixQwogBxq0ERu
3NDJd9r8YEbpy04n4WouKXySNtxqg75gUIidZgZmuHWxeX2Vte4+TggUK5Uy4Ah/2+e6Dx2idRZx
Blh+skHR4LIhQ48BDgPZWzfNHx4c0s1aToouXraJcB5mS2JYNjfh5ufL4nQCCH0UNZzB88FMAisC
6+Th6BPuVpXjLi+RKV1M0aDssJwyL10C6ofMSrda304fjNr8mAzkGTJr9orBPSdbf5LXwV1waWBM
3g8OX6c6CiVr43KsFv1laYTqrVWP1+oy5e9Gphh3fVjj7N8YmXat03LZACLjR8tq7DgYasdl4TRZ
9c6ybvCMlRUdiiqGjWu1+gUGjR1ufak57uO+Wc8Ss32/DK3x5cxDfHKArW6hq9sS/op84g5n6I/v
avULtdpMoFEorOtWSaJ3ncHaSjENmf0WX7fIGweREkXQVTcgFw7KmWkML5wR9uHWjFdJ0Rxr7y1p
dzdIfMkSHI05uilDdTn3Qa73crQRgIKCoqhIl5FZ0Csf36supgxjB3A8Iy2ae92y+p1sQqfzo0zb
KkrEpHcsnSt4n9Oboqp5gAVxuV4yumy1TTp2PtK+OoU5m/Yv8SBp0JaVYvyzvf5bTffbOpH412u6
r3/8p69/+V9/QjBf//jfX//4j99Amb//+pf/8vUv//3rH/+eQu/HEm/9ad9LPLAUhmXMAjSquBVP
+WuJZ71YZ5uQiFeCBrnt/J3vJZ5pvSDAajV7hBuKdHzNQPle4gHbUC3A6l5dTuGp8k1+SxqIvlTf
y6vu5P//CJcwjDhad2z8DpFQ/EAYK5gBQGc8XnfTUNYYwJmpb4J9g3tMJnhmWOTujaYuuemJsu7e
gThHGc4IkWPREC8YJBRNhO1fP/Uy3aY49y2B2Q3yQ9RL4sVj4J0gnJcSmlgBUw3BpaTj6UdLizaT
24P6WHreuBe1nUu0AuMkpmACE1hATsKuvbXUqQwD0c3q72AYMuev2uG0GcY8jxElKvlBsTqytpkn
RYsPKO+YdKDCuHT0XrU2CWDYQShm8tgyg7luxSA0T8td60HKmLY/tNjYMJuciosQLaTc4N8p+YNI
1wDhRwxtmlKol0iqsAbvReEuuwKDrSt3lIbijW5ubyJnaK8SMxcPaiG0m2QO84Bqnh9rlO54K4cw
vUXWmcOCTEc6UPrEAr8zCPY7dkJ9w91nb8Moaq/yogJNbmz6OT/JpAXpZJmTyqsa8BdPMdLmvlVk
/ztUuSK8yk2ee9BkCrphJgUiCQyZt+6mGTth7BezU8PrrM2S0Z8tzHm1RsX7JaSAIDuvFsl7yYRz
9GTviJdGnFnwC3tpMTwa8+hGSTv7vdIWdJSYE4yfqkx1Pilmvcz+iB7zqrdAZYIQ+uk+ClNXeIZb
xI0/5mH8xlEMq/WkU05OMKpZdosLdX/b6Z2qeLo7Tgzo45BVFru9JC6JLubazurwvd4OIbtYCWVT
bxX1AtstQC1tztt9gSvpamOzDL2/ZCUNtlaYyZsxT8EI+C7qN6lTRB/LmOgVbwg5LUkFKRb8rwm+
pmypC2XjzOa3S6sq+F9W4oACC8+iuUgKLcC/1daxfMwxoY/MVg+vbHvQc+JaqtahArG1q3SGQ+rV
bcKsGloBMvvEjvuHcTG5tcYZdM+YRXqRt3OVXtRzM3zM00LeOvaSfUwmtb+dsLjLvWKMtOtF5rqO
p4gdPvSijWz28w4cKw/TcvTbBg0MitOkeCsRO5UbBSflzMfJfBeF1XI3O7zEwMik876LIO76CwpV
WLAUsRrlWxc/KAJZuzcks/spSUfl0eX0ARpTRuUDtzS/Kh09HPcWA6och6HRUvwhQYteh1mt3Rhy
dCeceUI1Daq8jUQwRbZ2sBoHIUs2dv1rXcbF6CvG0rq+BZmwu2x1e1D9BkFaEYAQpc2tkBMeeTO+
sp9V8isyX4Bj4Kwh8OCbcv2TCIv2SykJ4NyAyvDY5uxVV0r5FodN+TZX9ezekLEx70Ckysnvphh3
xApqsYo/TejehyMCHCoHrTM9Dav1AuxotgscJtxWrH1pP7LYcvlKJFCpPayVDB9ymrfaLz4CQS2f
gH2gig9q0mbcp1qvnDyQFjFZTeL1jD0v+67O9cClJvks68x8p/XgSwGVJ8Cb7krH8sloiiA9VLic
Sma8OV5GmXjVdYZOZEgtjdpvw7KntJg4hXdCwzg0T8zwXmUL462EeoQNSJgOG6XJMBolSbjvNu3U
N/M1X6vFd+3U05dFkfmrhdFj7lmqggOUEpf2tVMNCOGl3igI75dMfuKUoOS1qqaefeif9ZUilgot
R6uBP+l2CiFPcbXpscN8UnrCgnrt9fNQLRgQTUl1nVYxJtViMkAllSkFFk4XtS9uC5T/WCbhQOrN
Ug6vQoFU3W+hGtzrTqN+6abMUNHTLloaUMhyFiz9oqNEEQucuKQTbXbpuDCHfQjNKWZkhPQYXqku
mu65dVrNvqiFxY4e2cqeFAisoxOrnZm9RljTaELkzi4GKjD3pRG5Dwou85B/7Dq3tgpWj7csrEL4
dtun9SsUyHYaOIxUW1+LIu33uRx1bPwYiKcPS73kOfkAi6K8sYXCfx6vqQy+ozS9tsHSrXevIkGS
aSBrTSibgSP7vZAOKCdKE2fwYFr0DsZ5ZDmpdrbcV1WnaIFQmA36SJCnj5gE54/2YFbDvqpC5wpt
fI7WM+mGTz3OtC9H3l5zZZVOVHqwgmJ1KMdNq/A5EQ6eRVkQIlR6/0N18gyMctxWrqc6jQOcuXWc
6aB8O2krzVJa7ONJ5QuYY3eFEsUXnNpOoDh9tNHT0gpyFC1Xc4q25duV/1Yh/oaLzw8vIfjQf/g3
X0rw7/n2Q/Hl735bAT/qwOMR3be/831IZ70A7mODgqzGYJt//H+FoHjBHzK0QnNBv0eyANf5Xgga
xgv05O7qqEYxiKHVX+tAJnsYMQum8QyIv/3bX6kDj7sPqD1AISiesAxbucL803EV2M0GzqLtkrEz
4YEq+g5PXrdUkjtHi9oHp7WnMxRXbvyHdocPF7c7AIB15A4MR/F7fEGqN4YMsPu9iNkxjBVTCTrm
BWNJh//DW3jmU4Cfcnwt0D2cA9esvbXOZtB50rIzKcxTF0EIoqdZj7RNXtthrD7UzMuMufCNBm91
n81GZ2QeiUlNl3jNIyJlSNsWrb2MeIYlcZ8lmh9qabSf8W9zfUeT3WejMydqXND6vV1WqgM10ahv
HdgLfqjIKAm6ysoehp5UOoRdk9EHymDjUC+mJG8uEMPL3I+1Ghu0SqGf+wSDqZy2VkW5vLOdhTLC
01UUEXu2EyvalviM5EGRwfsKctPFsqyjzjJvQ2courtq1WBseoUZCCOFaPo01LCX22SpnQ9FClP2
xsWI5i6ykvCGiUPyCW7rmFA+a4WkIO/qecIaSyymjc8tvpUWor8sr17mqRreUC1nHL6Jk4HNxT2O
LHNgh62F4QbmdpV7bZGOi6tMZ+T/l73vWI4cSdN8lbG5oxcaiLGZMVt3hwgdwaC+wCihVUDjuHvZ
h9nbnvZ55kX288ieKiYyh9juruqqss5ikclgCDhc/Pr/vg5dH2io7sjY6yUmBtv7xfdbKXlA2qRW
6LlDBWG57ocmAY89wF9lyClvSKW1GZR9MRCtz81KJGosjXpCfJQ3agPHOARzhDVKZqb2DggAYCqS
OjTjEOY6EF+6+zKIunKr+eBeuja7HDArJMs1rV0Ao0ZsxVsDeCfVQAEe3gPlFag1ygL8353WjbUN
7yiHi633QnYGuognKIECwNAS9JpWLMLUUlfoXg4KY1/XpZ5WR1RBlkbCELIVG3TzdkBBEUmKwEJR
0zwANtPBqGHBxyysI+RW9mNjNOKVV2VleoeOhGiskHkLZJ8V0PTVE9g4APSNk2cOwxE3gD5HVkRV
o2WAQFQr5Pu0AmUeDS3FAMgJsIe0obwylAbI5SkwoPZerQmVDey7NmW9Op7vSn/AJoJfgKrx4izn
AsM66hlYG5qFRqLwHIBsOkzAvTXWOgLgbXweTJTQGZ5vd0Z6fhmBhDJadQEHxhlFdHneNqj2QugZ
nyYifTu0dePvQRMb+rRFLXqGvtF2kTM5i7KAlCBPQ99BvjBKgrYtJL9UwTcXjgcbxFW6akwZipUQ
gclSU9kbsDGxmkqECcv0sFFeO0lDtUtXpVq+k/TEVDZJ25fJGkU3gdKSQhxgq4jqGPSnSKmrCph5
JX8p4HMiArrAVN7pQixGMLYAV6BZqqmBfBKdgrHoRsh5gm7bN/TiTQQlUOyi0XNAt5tu+B2tZOn8
XDUN8G9iLeyXYV2o4qoAEZxXkAROuz+uziU6qBqrOoMaWiKmtxiRrfD6WoA1mmu9piPe1aatAxgV
w2e1FxSSU1Ui7Ju6KbKeKMFQuOB70lUy6EWcIieowdEIQKTRkKYQwHAoamUV2wBZ4/xLkZa5Ji+0
4JgyfQoEom4hWopQx4tDDEuqcgvA+VzHElo+th4OsulopdxIJ79XsX0tIUnU6BbmSa+7St0Dv4WC
OEcrowekMoVEoMVCauutbmZeRMR+FEJ3qHgsuFHlHGNBwYNOlSgQig0yAGKwFGBnA3Wk84JXUPDo
yAWNWioTPYlL2J0ADNsNKC1QWJ+L4ylEXjmwNbTbdKQ0s3LN09096cZOa602bbSWyVAIKYsB3dif
sCuBjTkEwAu/AYVm3/WofAPrHVAjeyA/ZQ+IjhRp7JyLhRqND8BYA6CLF0ijyTLB7If8EVFLdKE8
SELmL7AvuwinGTCpaRFmZ46zCFJv3crr0Wy6V4DmZlVp0lb1vLwCw46GjgafKkMrqN1rLwdVWt78
sJHqYfn6b/88YyL9j//zH/z///ttTpS/8YudtND/hPAMMAugsmEuwTD5yU7S/4RemAVnkOal0twY
+ok8UvoTJ8KBMSGhXwJ4IT/ZSZxXEjgleAPSHci2oVb2LzKUuOX8IU6LykdkQnkqDFacLgLE+mvD
ZVSjKOkBjeLogHHR2jXsgRCRIXmPJGUNmviUpdkpyURSqKiNEN2+dnVlDSMCGQzAdgUrZDQBZQX8
iy5gRUjb0UUxsqKvziYQMi1dtdAnXRVA/Dq1ERgZHMFzUeSQGVQrNylKMiSTBbptRKtztgQRlKcv
AdjtNRQtqIALS/t1MS7D3IavHw7X6bkhQDFbG7fVdfraP2nv/VPmCOpuSI9h9DCoS8SUPre3Ls19
n83QxPcAPoF/9gJVdkzBqh6HN+MufywfZZ1qd+JbGxDjWSqY8Zw/5o/NGzQFCjbGZ6CQBqcUFVJ2
M7wNIcvhJqI2o4FrC9yQdRO96LFCED2Lxm2FGEMEPrplHTuS72rNQyK8Dyi7ShHE66NDNwcidOn+
/OSWpvw7RlJUige+SKcz7oHubyauaK414aaQD0h87MZ34WjeN5v0eryNHxRIWxI/1CEtW4qsFbqC
xZSiEKu46jyYFiQ4A42ZKHjj5zM/O0ycgo/5jt9omHMbZIpL8gfYIBdg2c82yKRV4h9PKnztgyHB
ixgEqkgMtELA3pemfXypBAxwPdUVJ8xKk7QJUBmBGUZj8I3EQ21an5+EuatNhPTfeLVpmvRyc7z/
2ERmBo2jU9jhszrmvgocc6ehujPQzkKRDIsYDj1dWBDxFNS2VKMh822f+Uxjn98tWuO+VUooef1p
AMakmCRNYvQ3AdbHUZ3OEsFdSgAlgOwsGs7QKqDdD7TeiGg+U2l7bT71rx4IZm94tA6IiCUBSIMg
knhVnBYicCpBWeecTaI8h6sUMWGPSfjrTfrmH2uJojvJz2l8I+wUg9Tr8EbsCH7Dz/itdRPxzw/U
AhiEAH2A6UV6nzSoerVQvnL2rBhkozWpPapfA1PiPUiZcCNso6sOVFKob1n5B/9hfCqA3qPSbNex
9spXqZfQjUeazflWBwpkQjYGXLV76bZ6bZ14P9x1axh3V3A0EhJeoSxORV2sRq4VG3FJv6RjQnON
AFagC+zxIVpKAaKpJHwP8Ox78ZK9FC/niHQ+/19BqeXuVdyBbejcWoOEAQOv+ibRaeTTJHbQNX/W
4GERIOFkj/IaLr5JuowMAWlOteMVLIRLvxYDksyURs0v80S+/1jmP+Iyz0mTb5hEfmFpMima+CLM
OFfBhXwUQvtrI6Jse8kMhkR1ANL+1snqYeh5bsSoRheIOzJSQOoci+bcJScBul/iktMCmy+3ifJK
lB/xwpZp3jvW5LhcKJnqIA5De1bR67vRCna0+RIPf+n/5eeM+8cM++yFJubwX30h+XtKD3U6cEqA
goGQ52QWQxm812ZVqk7reR5VzBzNwCitorIauXLY9zZgW33XWFTw5DNvtAXAwZCzHoOYHJEfS5OE
ErGbIV0OSlCsAkFFfidMPAI8nNLWB0je864s0FimmxDJkRdnzIuve1lNbDGuk5l5mzBXf7EYPt7O
RIdnVQyIsTBSnYVCAQ/fISxBgQCDxocSPXAmTVoK8vckZFBmLUGaWbzvQ9qXBygOryXAuTb6bfaU
pAQ4IDGdU7rfPaYfxzdZVz9NxEWEwicHGbpiiSY/oCInBHDM0em8N+9113Tl+wK+gbkHb++2d87b
cKZLfm7JtYne/4Mv+RR47e+95HzHTYx82HY/HTBexv3RvQJ7VCbKAsy88qn00aZDiqeqIcF2Dot0
bmtpE2/i19hac/c6SQj91fc6bX+/yGFOoIv0lsj/m0gtIDwBOb6LVef+XqT7vU9q8vBwczrNRCUu
izNdvI/XmYgT38z0FtguOK4r/6peovCFiCvP8d16+Vwsz0sVZrtOYSAvK9ITR3AU6pGCwLbbFLuM
PD2tmCU41gro70SCZVqQO5UgwUB2NUVifdaon5bHfjMxU/ly7k0UGUC+IFcfX0H+oYOuOS7sAADG
FjpgcgpIehQ/IYFzLFbl/iwiHE4RbfdujOXnDsbcWC6V1B+KXv1fcSxzG+aibz+M5a/dMN/V2x82
zAXs9cN1tMBHKDLFhmntGkpwVT0uoWRyR12QIrH6uX712TmeHPoORaiieMZ616x/SXu22CfXiKWD
jR0QWgFoDVqK/qPaIJGrhCi3v45bBA9pyUqPoCy9qWbcjbkTc1mIDxPwm5+Y2RWb5pT/xhW77IBP
RMoFJ//DBFV6s2jjEDskS2nuiHCLqeeqALJ7VyiQZ0FxI/zNu2QiLn/1XTI7CRO5+ktMwvcCiGBC
BbMOYv6IJykT0ahESAx3VaE6jD3m5LGwO2f7mJKa3dsRI2++RSpWMXP/QI+VpRD3dNop1CQDc9cD
vXeZexMR93MRibzdd6yDD4OaQrkCAcsEHhgGJToGOTMoGqofgcVoB9cg2kQrLAtaPKpW+bpa4SDf
61swuB7z9/oFryyo4A44+rWtkFvBfi1d5UFjDV24Hi3dmJSWeePBOTl61vE2odIBlOwrxEvcpUCB
48f0JQJptHdNFjo1AXMgAi41cQ4+iex+HdhvI22tkVassN4ATawQ9fqA0JRgwXZ+y7ceUw81eROo
s4wdwwKRENMJtR5Q/IePRx3iq8neEmg7i57JqmKeHTxDVT/7TmWH+FTUZjohfTloW5JuDiYzLM1a
LqChDFpgHDpLiFXZINNYthRp26WKV1T2goaOt0FxIC6pM+3K2PFwmeSIy7vovV419h3ad1e4n5eY
vuhs89Cxu51J7hDeoneHq5Q6Ki6XkXzZMSBQEucOT22qkGirlWUSvFxZJTz2Jtr5MiOr3el4TAkw
oW2N6Na6svjXfUdjsn7t9zE52w09s8qq2bqhr7cyRH9KGij3iL5qeB8KeK0zyzZANrfv1w3ZJksN
uw4KgnX0fruOlmdWWogO7YPNOtvwDyvY2Q6W3aq9L9+BxI9G144Oq2gTLcFJ11Fkfkiziqhg9wcZ
4cNoM6yUPb8sHyGINPB9GxPgp+Lyr7sHzfH2Jnly3xtyeyseQxb1RCSk3CSkxBwXVsXEe+shXtYW
6kutfPkAIGfWsXHV2cYW0yzQnix94oBZh7gZdVHqO+O4XQiUvhGLP59Onov7aCYXzRjoEj+daPa1
EtwpbmBrL3MnJPttz0Y723QWOxgOAE1WD9XSklYYoj3YFmUzVt+cpJh2VfxdJAU3nT+bn4miP9dl
Wffny/zwTeVtjX1nbQVSkZI+SmxkKHSkq6dhQy3FwRnICLL+h81qdTrOTM+80JqY+T+E1g+h9Y8p
tCa24695KOfkwyQA+2vKT5nXVHwjrJDW0kEWCnMLeOBfC3PwpXljkENYcWV2ZqLD9WNltXZrN1Zj
jfaIf9Pb3u5t5J4of25YldCSAKvD7zwjxZ8b6GjnT9lSsiXbXI1MphLTbNkKaGrFVmhFTLBa17hq
3dYVqM5g0DCUd7MQFrV2RMZHbigI77PbhvVUJ5uGWa2lrVrryWcLZlpck+pOtOws4TRAi7ZMsjv8
taApQ54GPjsshgRWDaTpLiIBuXlS6FOBv3MXH0aD85ZS85BDO17FzuFKZWj1w9dVTjcyasA3i135
ojgj3UDTZmRz2Nw96AgKBMRNYD7c5gTYXxetDTX9ur7VYCsgnmEQWIAozCfHhrzy+XjnAzq9Q33j
+Q7Pc6Pi9fUV2dAVjazY9u3ESWG8oi7MbuzC4tMSsOqmZIOt20B2dLhRgOpTljifW7BYz5m1npjy
oQnYDR+gOU6B1Wswe4AjxzdfeZDtYS17e42aQRi2fBnVVWcVy2xpOsWyZ4Ol2ADWs2QEUQpY4aGl
uYntW4GN/jCWIb6eWgGLseAKM+wAy8//VjqBLSCYEdmhVdEEz+PVdk5Da3RTJ8azvRtv4fMWCybu
0xwmjWiPMEFju9wM9yjYxP/qXnLOVmdXS4CZMFj6niUT2QaBDwXXIClgg+Fm8CVhVKHl4TZ0fA8W
rDdmwOIurYam69JS9roj2Si3wzOgimFAOoQFrmHbm1iZ3K6p7BaUZqinsQKXlNfictwpx3xTLuVN
7dDA8llGEQAmI4YjrTI3JATmuVU6oBq17G5Z7+qdaIssW+GTtkfWEJMCpxDvytcmtjA3PWsm0gSG
JAxDGt62eIwOE9bjE1tkk0HWS1Xs49oC7J69RtwJBqjs5JZp6fg2cEMw2vnhQWDANTaLTWi7CwrA
muth39gkXPpLGpDImesonxcVE6/sh6j4w4oKwJN8Liqmzq7XqIAXNyEqWruCoKgs3Wkh8HvbO/Z/
VgwezpIMGcGf0e49h8sHkFdYA06g54h0QJUECCLt1BHoSwuHFZvWWoIIKr+v4A40bLRSBu4EfIGZ
mybOimXbetst9fse+xkNn4jDjqthj7IDhlPhW5mtwHqGf4HTC6gou8dHqnuR7OT74KqmyWqxrJ3a
weGzFQfVV8tgly+R1Kfm5eRA2s2VoRgz6nPqC53byMyC7qw6CkIC/ESjgNsyt6DJwWw1lvYy2i0r
oBZHW7tPliOkkgoJCTTay0+F6VQiOm0cVP1j9iqqWgmrnMgOMG8+fvchKQFDzDzW41/fyh1/FVqJ
DfodR3rmsjeGZM0gX9HY5wQn/j5gqeJ96GE7hlC+KKlj5Rbvg+yVnvknSG5kl3h/wLA2Vko9JmDC
23Xq8Fd9eWX1xl+R4yuw+U9/ldjhCjzPDv7FFUOrpJWTYtwh1iWxS5rgZ4yRxVZqFTbGhHvMoAUS
u8EIuNT3GLgCcE18b1OH3w+PXPiriI1uzsdj838xTtxJjlfxK1++91xP8PdB2O5aN4XI5WLXgAFh
IKAQ0kO8TGEzbEbK7QeAZx61VbVMrqIr9T5fQnxDt6Jb9Vpaday3TQcBm4uR08Oz58YMgLaYxBon
wyqoNKAxtFxjQWNAfutW4uQXGZ2zege6R0hzrl1krJfv8v3YYw1EnBKwDdOanqnIQGRxpVEJCYWY
oUHvENqxDUApi0XHAMaJwFCsjy2DKlAohLPtWYObOD5U2mAPDN2WTm0jkvDFwML5srmqDhwepzCx
vwwWWdnVwCS6Me3iXYNh4dFg68FoQG/FAbndlc/A3EIEJ0GUJ3PMq8gJGdQ8OKwQb4JRMuBsWWfM
nIaZREoGVI00p8LWcNAs6JTLalNtDOe0LaEqz1Bj2w46VMbAzzRm95Kt4aYrTFBlFdj2/Hx5Voji
p9gGlwsKodbuerHsyC2/QxMTgyFj+MxtXORzoXIbHBCMlp2thuUIbRWWcVxgBAtnYRGovpYQA1GD
kd64HvQ87DIXofBltVRW1UZy5Hv1RX+p2PDiY2dWLN6Ym9Zdwq/OKWBECMqfKMyvlKwRymHb0b63
QUO+xdLC8vQdVKkdhBWaTCz6nkE+vL8n9PiKdDo93eyeInJz05FXWH0eFow2bnSj79iaW3sSGckV
D7FU5JpfpcQvQP2iaOwgBsI93Na7XbhnhjAI49ustDp3cQBbEWaIzwUXADos2dbWGFjMEJFCvMnp
3HydY2G4LOSz5WFpSuwDNE4z5IVg9WxQeIXwXmcrq8BdYSW5OZ5j+jvKNxOy5dhCHgWONX6P8IYE
wnW0StiZ1HDypeFImDhlpd8LCA1lDm6L7mSm0QETs6GBy8N7xFo4lmKle3//nlsxjAgPez/DF+ra
cAtcUCv46wJLCEY3K8DHCDMhC+1S/jINn3zwSKYhHbUww6LtwSlYX6J1pSVffBJ+YLmFyg8FMigX
/6S/574HP9D5DsrH9l3Z0uyRna81W2IqlTYSBGyz89cGHtdLdFQAftFVKT+7Ot1yM1XbFPazRJob
SDGW7S+WKqQal2OwWO3MjleNU0LewXo9DjeNcz4lrNlWjkQg7fA6SEJHWgPYzeWSOYIEzqGruKyD
5YvYJrqkL19wMxYFVff9UT7Jp3DTPEg7bRtv/KW2a+9ypyegiIaK5CFSRFYPC/gGXBZyOYwucnaR
stAMsQMcAUg+ASqVf7aAR/4GWDjwmFTYsNg2rm+jifuySjzACNt6LVkA/7kFTb3VIpzb4j3doaX6
sl9DMjvJybf4KGsXAVuGwF1twYLNbnyWwMZGXPquuzs7DSthd4aQbzE+H7vAihwT4iXCIR6gtEfs
pqczpTCrz9ieWCesYOBUzwmcGtBZHOHH4fxzFyhypCWiodiFCJdy6xb/tjZf6TNCrVx1ctHMo+v8
N4QZofJLFPKcEYyFd4qNCJvBCfcDYpxApLczJ8G5MSEe8WVFENolNjBXyg0mI8CulhAfb2BWi5Cw
C6eDu1W871ALaRsbHqQ1LmLMh+2Op5hMQC6F8zPY3BJvEGJFtzp+1lZvjfAVFvA5FMKPMD+uCwhs
AIii8hPnhXtuVDmkdxBzS4+mcGewVtgJ4DVEEDzEqiGvh0/jnzzY3N1pliKhkOA4TsZFFV1mxgXf
CjMeurWwBIcPpAG+7GQF/gG6WGY7EcWS2W270rZYLh50J8GTcIQit7yTjuQAttLOY+YS35etaKJc
9YtC7UlxF2MI3InQdiZT8M2Va3zjLYUrKOZ1etO6/ZorZhgPNv8EAa4JqDGwIWGU2OBlcLkzOOIQ
PcPzrpYV2h9CAj2EL74aEYS2bG9k27Be+EYOYRR0TgAXEEYHpiDdjNtmXzhuaGeUJm8NAtUmVrdB
IqTE+i1YiK1cO0DkLgl9NbCXvcviqleBg0cXD7m847MNrQhnBxLpmqsh4Zq/lv/VpJXLf9eWkSNf
cc3JvcHAgRsFbxCvpth2MwbhrI+tToK/P3zsHz52kx7yMKsroDfPuROTcL2hG/UIUFAVBnNgc+Fe
wch74mJS3s4VZQJNZcbJ489/yG//cF5+OC8/nJcfzssP5+W/qgXnEdDPXJdJZkcS0tRfcPGNUgPE
pJeOAZt4pglw7hqThM1fdY15J2ySKvjhhP1wwn44YbC7fjhhv70TNmtFTxJVf5MVbczI42mLBoAH
4xS01zw5rl7yHsWSJ86zjbLniVVeOYb8I0GwAtld7ZJDLOCbGogbA1PTkpHH0BBrGhGH4fHtL1Ej
1OmZ7OWNx2Vj+pYviPh6N64Q3ka/pKU5HcIGDYI4PYoecwZ0GoSXeaD6EhpGKGLN/eO5uq/ZO53U
ff1x73Q2/XXJpH/wjP5B019A5fuewaMD0RhgX4CXnZaQd+cWHBttzTc/onWI1/GY2+3t6+1AnxFU
zVH8cIs/FAzR9DXKBDv8VHhoncf7EIdajuz5aiT7Ei+tKILq1wLZo5Rgle2zfeUAhPpOPig7Zdsf
1evCKhDQLlE5YiBdVSG0RA6Hw0uCVOEBUc2EHBCKGlfjSlyiJnU1OqC9QKi/sXNERwNbovlyQDFr
yXhJSA/nOrAJ3g2emtVDQozj+/spICekATBWgb2G7PiOHICCewDjCGL1A73lZZuCvb5dI/C9aYhH
X18jitoPZP4Q/b89s1ukNhAX1PgNo4QTVSGA+8GM4Bl+98dbzMVljvDJtY0feAUvKji+fl7s8f0o
+oeVmfj2SRgvYjNuVNQq8681Uj70sbN6lpN7g9jXaMS5a4lPrnpyfelld1C8TKwNQf3LBhU0N+iR
sXziMaCqEZ62a5FcsQHfiCBfiMQE7iVCzPX2FaU2w2XW3lH7Elnvw0y56SWF+o1R/eFOJkZ1rwyC
1svIB+iPxb33hjJrp1sZp/BJP4pH+dgfKsvIAAIFFhqC1kdxAdBQcBERY2ue0ByoyoAM4d00/XP+
oiPJxwTUYoPP1UOHF0XjoHzUrbYj7cPnK3BhsP1s3BNDfdFURlt4OBvDTgqRp33jKdCUvoBWmjCf
hFvAat2kNmK6lsDiU3wKtjLhmbsQGSEe0+b1wZ+P6dJg99mYJmZ9ffZVJS54bgUZKpUiE4VUiGLX
GxN1XDyfh4IYUrmXWhNao41fsnJUAkl3nb1C7RI6ppDZRBawuiRlFOz5CENFTQxyRB1SmMkWOSNY
TZmjPaBFdWYrAAtoRt7w5z/IZeCOiUYoYPw8WwBQZCjaErVq8paX/AxI2fLsAM8PZShc6iz/ipcv
tcjEebfI/aAerd7zarTqBrzHSNt8STJ7SD/zdDovZ+Lpb15kz/c7eDmQfQcKleWrTDn61+fFugSH
AWBOEXge3Ajl1xUymBULNz2idE/6frRcXvJj0gLqHolfrKKJxGmFvF9rX9JpCELzESfL/lKWtGAx
6tfUPa9XaC1lJcJEyJAofi+cbv366lnv7zebt9S5OmQxAVcUzh9kVMjwI8AZPL0vWIUKNR4d5zFv
rvf5zw6Rb+StkShoXP6YZ4F4rBzpRQTXz5d8MlK2f+P2kiftqo2ahd4AnioH5EyXGgT067p8ersb
xS0Jz56FJKAhRAkE72oFiXEq6EAKeiOSm5Td3JxyJDkudwiZeHx9zdB7x2Xk5+fg+xbizzLl0qD5
YR8BfTxslQYDLa+SvarD6kKlmdM6Oa8Cc85YpHEj381cdE5bXjrEPlz1h7b8e2nL2f0wydr8Ivth
ThjLk2D/b3da5sTupYj4w8b9IXZ/X2J3YiH9zrT6nKF0AYr4sLv+HobSnNF5Yc36MKbfi9E5Z/ZP
ccF/v2a/8T3IK9MAPjsQxTiByUQ6AvHeB+gITD3z+Niicmef9+5yn52qreSiyJu9oZLCSshbvPVh
yaH2gDU3KKOn4QrmhZuuUNtDUOwD9+6lp5pToZYMmFWObo/bHJGYiKBQr93Gl7qKjPIug+BmAcs7
jGlwLJw8I9HxXJJjAk8PzZozpuzs7U38sz/Y7V2o6b9xNMCYJEmijlbeKQQgaKzSsOYGljjQ7LpB
iYx6Z7B7bprzWtiewRin52u4H3BAYjde65daUbCpbHkdaGTzNpEW6DUgMwBZCQqtULfHmwdYtEeR
lZ1uF3D5eclRgww5L7hEKQ8F9DR+9o6PDoJcIp3uaJINVqrPDbnZm5tYC3+om1O+W/n9YeUm524Q
Yz+T1RZ4HWDmJevjLeIat/fwo1F7JyIK4jgHFRGXll6ikwfncCzQLiNR+CMz7gRXW5/tockRKT0g
GSUaRrK3l6vT52s4e5sTnfkr3uaF6u2z+5wECjQlD/XmjFBNafFa0ngH+jtiA5KePPPgy/NyJ5On
h43jo380XC13CNkAnQbP7J9R7IiX5RQxNB5WGKxHxamWqp0eQL/j6mvTTU9+TXL389njI/psxJMw
wugtjNzsMWJg29prBPQ+//gL8ehnnz9x8+s4V3MQd6gOOEFKNAMNNL595s1k0kalIv7NUIGpubxC
k1eiJ0xybXD5oGyce/CBHbCrCrj/72d05SNi0W0UCpZFRC8UmlyN1pmgOI20oIW6+nzgM/OymPq/
vS4KwYh5SY8PaB07zjnY39caPx/OxSQEX5Q98PVLXGBdo4t4RFUo0LJojtgeQqgCueY7Y4Tv/Yy4
qr0kDjrZMvxBs5/BvEXe8P/bAVg3N2fyUMCmPROMEg1tPEIYwAtfnckVdCEanE6I472LRERZ3vvM
6ip8Fj5Z3YX8dRBHACA+EMZxE5AqAwZ/vyD3JQLAPFr8uOV/aVnJy1mh4Gtr88AXT3DOhH2+WHPn
bjER47//c7eYyOa/9NzNbd+JwG1+8e07Ebp/zO07Ede/1vad0Y6LiQz+i7TjnAC+RLI+uD+/GwH8
XcA800QiyhA54aI4kcBZLEiVpneq8xygPalycgD3INh4B1lHTzBRbiDvGHopeJJqpnNBErnA+Faw
/XzxiXROxhosHGC1d4qUlrsIHUUjemEHa3tB9tqnluJmKLbn5fwLNFP1AJtCnedJQyPU8/p88s9g
mCdBBEWOwmv0dHEJD0wNxW2Z94CSdHu3E3EfMnuPcBetY65FpH9BxIqunJwp9ASCEjYse4e3GkUI
2Ic2uDCAH+KjiwRJGh5ojSzZBesEoqyRlaLEGk+i+wM81ERmIpPZE7ejSzzxubAF7ubM5Eyk/lCG
QKH0sDLMQCf1gGYaLvHXOVTPALOSPxQh+reP4qWbhvfWoNsYfzHI/X9msXgXdo/ecsXmOiInvDfg
cYF3lvgzt5p4Jw7vR+Sf9lgSPPflKzjw1wA/GE7hNVrAUMTPy/wLJDOQMrRkJAdN3m1Ie7R38Sw7
ILf4Y5T7oyMJbeEGOgZAZYEGiw7vQu9URhbOl+p9aSVBQfXAo/l8yv4L/fTzdprop9SX0iaPsZ1E
eEklefbJsqRX1z5MPZiGFcmYzf/A90hqZcvHx7uB3SkUyHUFjJ6np1cg2ECHR+T1+L4KsesLGmAz
pGxubWc3/kQv/SNt/O/CRn2USBOlWoIrEPygWMWLOc8jFfyLLxo33yL7enmNHiL0EqGB/GL0h1jf
6+fnEobZ8f32FtADb28msJ9i+MPeklt46KfdrN7f39FLeHLpu4B0LF/clUz4eaYntOiFaNEp0IeX
OWhw4/naaHUKrIHMyLzZu5to9D/W3c0LrYmu/yG0ZoXWxCz5zYTWrKUw8TF/UUvhu4Y2KAElENpI
snIJTnwwrzwPDEhDD10ILQUaShzpHAIeUHcjWT3ptkiS1YyM/i7krPnhkpPbDWWQVEYyLhkY0msv
mkClMM8gYKmf1QDtp63UOmkknVkcp6mdjcBIVSVAjaoxWYjqfdcBaL9Ms4oKYnFIW/m54MTA2XB2
NBDGkUXXinMj/q7B8POI1Ykpl0ZxrHkVBCeQSFr04aIkJ6DFEpS3W8QHazT2ugVgQG6eeFHCaucD
n39GA1+i/N8YdB+GMDHo0rOhDrqKIcCx5iL6yrd4oxyHs0sIh4XhfYM+6oSOsK5O7wlqIT63AWRu
FX02gonVlPZNFYMzT3W23Dt+PW45IOLeBqZfzVFtblYROc5ccm7ep2bHLz/vFyTzz+56Yk9URVN3
goC7luwSlhzqwkqK2BdCHSXKCkpnxHnhwAhA8gHXNduhj4+bhik5ZqgmCBkKJAYXS8KtXw1hf0Q5
UKT0fvv5TH1f1n3YHhPV3putIMgZhnkLbf3MLUxYZTA7EdLgJu09c1oKPKKCHDjI4osKYCEO2+js
ztwP4Y3drnvNLQE+9I7HYyga0W9v30/vn490diPzNf8gcH75jTy7pBNN+hst6ZyY5KxlHyfqtxeT
c6d1ItdTP1a6uMAeTMn2sHE/3zczHz6tbf7LPvxCNPHJKb/UR3zYlFGvgMG+g0rCaalwgCXAlACY
hILc9K4mG94FH9Jkl6OkqgHkGPA1APdVkB3AGXjF0yvPODxYn9/x3JmeVv7+dmdamjEipiDyv4QR
MaONLpP3YcV+AW00u0kmMjYdQ90oznyTiBRQYqDQtGEtQQNUlEPfcp0gkMeewed3NBTRDQiAxLa3
Qy2ig1rGE3rz6YxlMjumqTT9PYxpIl9/ycP0K1CF//emqs9PSfiU/RNpzm9PzT/l7/90qp/qsKrD
l+pf+SVf8mI4h35Q//vXD6svj8HWwim7v3pgXei7j83bebh6q8DY+u//+oXXhb/y//fJP5OAXw8F
SMBf8iar+af5YZ6B0fJyAU6MKSswDv/bx8+fkIf/r//4n2DG/N/fvOcLKaYgGcqfQOQugpRH/EJ/
+Z+smHiKE4irC3MBXjXdkEwopZ94MbU/8VeDVFxaAMRR48UzVd7Uwb/9syCr4BZHbT44xHUVfOTi
4i8hxpzg8muGqRqKBr5zTQEDtypOkSIN8DBrQdhrN72ZLzZqnVdL8KOg+jfS/Sst6VtXjsXsWg3B
xEryeJG7aib3y+EsAMxGbNEQWY8Szq90HmeE9tdqCiPTFTC6KooMhvWFhHqRr5V22hei74dCfeOJ
ATCO6hYoEnopHUq9je2zoCb2h6U7fFFRHyl/uPn5s+L68/WwHLKkKAoeTjyToFW7dhz89savssZC
vz5q46NKmvE+LqQL08tI8sJUcUemiFqYr28r8IpY8rKgvSmMGAShwiIHnklgCo4XLLorsxmBLQje
c5CG6goDf1NLhfLcHD6/Vz53Xw3ClAzdBJ27qS0UUKxP5G8YR2rlLcz8VtCEwa1kWbgfygHlGKnZ
3A1nsbZyM20OcpmLx7PqKTMO0LeTYMrKAsTuhq4jigaW7q8nQVC1apRyqb/N6gUsgDxNaSP35kER
a2mXawagYLRIXitl1e+iXr1vYjC9fT4F3yy3KWuiJGmqaJgGaEwm3khWx8JYJX59e5ZlgOmkMpBb
zoY+cxV+I19PNK6C8wv6WQMnbFpj2ffgNpeCvv5/1H3JjuVIst0XseH0kdySd4g5I6ebkbEhKic6
R3fSSTrJlfBqpZ3+QMDD00J4SwGCFvqbggB9hs7NLr2OuJGKi25AgNSoLhQqKsPpk7nZsWN2Dp1k
/SUtKggi6VHs+xJSdq9PKDyGcM/HAu7AIJuMydC/KvA+9XJXO/nQ8GU5LMiWbPJ5LHdKivA9qaL4
aqJC68RYHT7EQ/AgfS/3UC9Ha6CgLT5leUabtGC1vHr9o567M7hFwEI4w2kjRMqQnrozXDVd2Yy9
P0gWPELBnG6BnF6Us3g710GiC8vOPOMvFxxqwrHAvoJeBsXfk+tFo5VP0tbLwcwlevxAGWiTU49E
eFOoM6f4xVAxwQHC8f0pREZP87ZDJxYnajMd6rGxSVNwVP/Fk97O3NEzszoGKM+2FkMxHkYM40Gq
PD7xTVrblVZnfjyMQdvsZhUHV9ko+zTrhXhnFok2WapXSWAatn19A381SRYx6DZHKsQ5PgmdymHU
llf9fGhoyC/CYQw20pl6x8Wizwz1wuBjkoKgoYk6KkmrUz90znVbxCudDxnPbpSrHsIpryFIWbBE
O/bl9Xm9OJgYDO+nxD3BU4tFfW6BlKWqnqZsPFSzjSE9oFSbVqWCIvvS2Ju1CJrrsY3MmSPzi1FD
ETK8+rDeqM8/2cd+XaulVZoc1qrJvlS+/cqglrZniFAvgtGhye4SsB+vz/SFoYODIbCBKjrKcrOf
MfwT9x5fwacp7shhynP0ovVZla44fGeCyl+MQimMHPS1OcS6T0ky7eShs4qu0wfpdLzVwg1Qgp6z
3etzOck3wp7EBOsGnUN4K5BtPY0us8WwyYpJHkob3TYQKLU5BJQGe18X483Ub0P2eVAiicsLXR9m
AnIhWSDmvSQyh/swH17/nF9cjqOnIHAp4crBh3t+iDoo7gW1aeThCLo6KN2vBonMtf1HZh3BWYBI
OjuSL08Qy6VSfp2WQR406uGKS18n7LpAIZznW/YWi0Avu6/rkuTf4jbJ4jO251eTfDr4yU0xoarj
pnfy0Ma3fLxRCqDsmYTTyyEohWg8DqiAfDz/iZc+OaITa1tSB+Xwic0EId7ao4CuUlNS1qL6u88p
DikuPvzKUB3/6fmWBb7hXFdjfOi89NuKKrSb7Yw9s2bHMOHEYFNFQ0gm42TAgz9tGBaqsi8iReJD
FE2mSnRthu+5r1uUdJVQd9xkhjqI4Zq1u/J13eztMOgfXVuTIcnDuVSp6Tj/TMYGAuRhJnW1MQFv
vzWitUXSDuHaAMXXUP2do6pAQzVRqww661Xt04gNyzW33XTfj7JdkkgOm2Lpudn4MTDkIi86nBWH
FvFgTEw6/hGZojln6F6aA8yfwcmknKGI+LSEWIRVl6/Mq0PrarO1TQYSr3X+zIvxwo2NKdxY1CmT
GIGMOCXOtYzQHuKZ8WHJYDurLGyRTB2Molc0Lvyl7vgy3IyerPfQvay6bejq5kzjFvlio/kxQmNo
rM1Czk6jlDWIlJuLID8IT+PLGcj+hpKqugi8abeVrv7uKCWWMK7w3cHCpijOPn7Pk6ti+No1YT9U
B9Ln1UatnKSyqarN64bt5cJiFPx6ifhSsZic3Hk6h9lcUlcdNF5q0FKZFbty6bKLyk/ivs2n/jpv
2+ySdTNNljy3ZwzCL8c/hqUR7F0sfz4DT2bZL4LXq2qrQ8xFcWeH6XPQtVBtNnByZBPEGz/PSifM
BA+dDvMztzd8eXsxfRExSRhGj+TJ9OfaR4HWsjzUmieeQFWQyP5a5aTboobEfih1XiRyycqbkcFv
kN1aX3RLyM+crZeXCKLrlEk40Hha49OeqTSzXNgAuxCqaN3PxeAgqGDc/vW9/uUojMBlVupn7vL5
ifJrHnedwoky3dBsXT3PV5aU9OYfGAX2NsarHePdPomua9+oVkRVdZBDAA6/13ZTNuqc+h391WQE
DK8khB49vJMXecymIZsmUh6WoIrAMTbuNhA9WNS5E+lYNPertp4m8cLjT8Z3+rZu4uajbDz5SmJX
pCbL5i10dn8oNU8/FBkDkJC8im0SrO3yI6wCuuczW6tEAFDaojJHPLqsCqFdG3Y2eX3NfnEL4JgK
Gh9ncwzXn+8MnfM4YtlYHpq1q/ejwl2fM4AtLgjR2nahPA0y86Vp6Vs7LeMZE3AiEXd0tWBaeQyH
MQqxa6ehm2lcXVjE3Ye27sUWa1cmQ2DDy56E6HFgw3K/sFld+G4ku054cWembHk3ZwQdo6tM/wN3
QcgYsnFSUsFP10IC+Yl905aHuCbq0pHC7Lzm7Zm78NKaY87wDX6OA4jt6L8/sTtTrOZ+mNbisEYe
soDVrHdFnDeXRdOsl6sR85nxfrHI6vhuAG1ihOOOn1wLqViP49q7A3Ltn60SqHDRVCQ+lMvlOjP5
EA7Tw8RdvpmMLy/DkZBkJpO7Zr2pzrymL1AZ4DDwrgEs8gigJT8t2dNFo+pyaYdDziloAiQb3BUC
pWabx07vcerdJyxcu5M5b/LE6vygi46cOfQvEMnjV+Ath24N0BnEuyenvguwzxVTwxEyQL+buhs+
wT3NLz0xEAQhY5c0bR7sed+0u0VU9ZdhZMuHLKDf2xg9Opfh3SL6+Axgphh2/kkEjrfgiGVwXAQA
LPA3jj9/cjJC46O2ibLpQeG1v8lHWz5I5wakewUTNOlV1KB7Se/CNln8Im7zqO4eZLfwIQnLVepk
qVl917Vj9qjDgThEnLW4lUozh5qFyUEST9YSgjf5FH5o+Lygz/uizZtBrjXYknVMHmgej3OyDr79
0MUmJEnARH3vvAvfAm5rSuA3Bf9AnWVzwkRHgrQ3efeYF7X+avCifqgbU7KkW11bJjPCNBDM7FoO
CRVZ927yQfvYNn14WKJ4FokYjS4SzjJdpqEs9W+UDCv67eoqvjazbG970+dfp4a1eJUENV/YupgP
JtTs26ACho7iVUO/sCkqwG2VM/8Sxnn3lq9kgJ5eK3Jw2yyBM7viLN0UA9NfbayaJmk9nHMmxnVK
ujjuPwTOLDOQWBuvqdBroFOjbfmZtE3219Dg/0Ji44393r4f+u/fh9vf7PO8xf+baQyYldeyGP/h
j9//4x+//6c/fv/vf/z+7/7nv/63//Ff/uuzjAb++J8JDcn/cgyeZMwQ5iMCPwKa/rsbkJjAj6JI
8SiUuCcwascf/ZnQYBSpDtQMInCHS4eLDYfqz3wGfnREDeC+I4wmMDr070lnyKOBfnJNgXPAhwGq
DKgMXqM4jSS7sQmknYd+N4fVpRbV3kbo4ZNlKW91QsERFu8QUmymarnLo+qimYY9PioZViAjOrwt
VbVHoJV0y2FaqzR0IGzPaClUxWkzuIvMRZsoCK5sXm9i9o0Pj7ECQtWNF5HOP+Gx/DiO7S7r5C7X
5UUIbecWalGl2c123QwSwp1ZkOQl4rVBf8q528yy36zmSA9HPFfUSSDZHkm/m+qyZBAckL5B+ObT
uFjyRDRwOmlbfoAv95DF07tVo2dOgSbk8XAt0ROpgjxpU21G/J7Q92fcgZOX8cXCnti/iMhJNpnr
d0NnruyCtkfyno/ldurE7snhu//rZr2Sh3kx0tHFe2JpbWcrPVtsYUzvA/p5Cs/EFj9DpOdnBJac
yDAEACBxIE8G6FTQOlr6fhfltwUp0yZ6v1Y7ZGVSyZOKfMgpFCssOpd31Z3V18w0u4rKTVm+gVZs
2sNJZhatQGt95QKxkdOnkUG/MzzMODjaZIkbULeKP18O4DPhdw3dchOLPJFDnij2NlhIMpoyLQeA
NYvZLhaKD6VLRp5ve4bCrqC6aIEZMPSGMeKqM8G58OY4wRcLcMxBHe+xAvTyfIVJKFVm/QSVConM
nSn289cSMFo8fhrNdFGFbQoeHgcy0tdZ0mJRaprtMnze6xv98khhH558xomz1RD4ekuOfShjKHXH
cbKwOAkB+yAheuZMwfS8OuOTsABKeFOs8xlmgUHFDk9nJspkAjz4+ozo0V17ubKSH9O2SsBtf76y
se5tPVRYWUc/aIse9QQlBx69lRq7D/SnPr6R4ZoO/Kon47s1uDNm2rr1E9CKdOVYa4vSD3T1yb5k
kzvjV50EE7hWx9X+26edYIjcjfPkyhHixQr9Cme1qbRLqpGgFT/KK123nyT0d6b83etL8utN/tuw
sPxPb3MczEtmJ2xyJ+uNMKgOoejSZdErKTsX/P36WP9tqBMT1YqisPmIoZa5hSvWJnnz+Ppkzo1w
Yjn02JMq7jGCXx579cGNZ0zTrxcLQDmAF2TyxPHnT0wf4IjIIgcBQePwzbB8HRVORw40O/v6+jx+
eR2Q5I6Btkq8uSfXoVBDPDcO43S1TuJpb8cDWd+/PgY/KTcDJnY8cRHiqaMXHwIMfD4bBx+PECT/
dk2Pmt7S7+yCl66ILulKNkMFxaUoS6J1TcbG7wp57QSB+1sWMJKHOW9gQ9UPKoo3hUf3rd6WyRjM
H6dhdIksehCsC/ynUQEd6AxtBWpx08wfy4pc8Lrd6bBKW63fBLXbNCMUXazYE/stH9Bjc6yTMV7v
BvWVdN8Cjj+v7FVgyVWo76aoTiKjEdyj72ed+HUbsG+OfwwhQNRfDgI1XLzadGt8ObX4fmCudYdb
E8QptAF2+ZrtfFPChNvLbIYyC4FSRQEpqPXQBeEVm8qLmowXg9/D9d0aV9/R9ju5KkLzpejVD8Gn
gxTr+yib3w1qP9A7X8xvx1r9KEf0sYAq/RT226wk7/WEhSv19YCFc1pdrwbK5UjvFmOc8IZsI4tG
Yf6+r1FV4h/7Cu0NOdsjRt8buya2QdlJfke7eIsjct8M1V3l6E3VfRvhQqwX6u3Qfa3WfYa38TgF
34pdFq7JErwboQYqv+br48g/9VWMx+k3AVAlm+tEAoHgMzqfeYhn2X6DcHU7xPF2meXOu/J2naPr
caZ7rz/6rtt1lbmS8Z42UYKQLiVreVsufkcHc3M8LkHxrSuQ6STlXnH9DtuzifBmjngpmgXJbSNu
Fk2/RSMUk6LsvZ/zOi2IckDPqxuAtbeGc5kEub9jk39vO38xKrefu/eZho7Ycn1M99uu2I7Up5TI
6ybKE4jjwdu6IA3i7+PzUGC35z5RRqRI7SdjBn0mEuBsfAmacrNo2HGo9HTfZvxHRdMmfbtsoi9D
HGxl7rdFHF52A79U+bXBLRNKX5blb4yVcM7IDmve5vBDh1tO/uoR1DItg/FC5ejkVtmUFnnSWMg2
mWYzTPGHZnrjhN/AD4kXqMzA7RvGL1Rv+7JPYnpnxp0n94RrJAGCtHT6nWmmHWN8M9tmE7Dpocw5
Xj+emBm3rGo2ZsyTPm93tARmPsawx/Q21qjRrulOmPquV/y3ipSPBV/ftNLcmdW/cz66aeDKEv41
zPIrJUSi4IQO49eRg+3c9gcW1JtMfZw6+C7aprn5MizfPdcpsVPK5/KiR1dHOSxp0Lv3yJRtNVnT
Ou43+n4s+sSV38KMJ2zAexiG2wKfr4YUjtOee4l1sPtQwpOOi7s5CNKwQm3gksp12ZRhsK31emPr
6qKnw3WD1pCa2ts5bx8tfttI6TYybwzyrICQy7BMonx4YyqHdfDbqDSJlNOuCPRmAeorEDt0zcUY
NDiQ6ONrH7PF3mcj22rJd8ZD4SyHKNxQ3kZIwlGzzYhADYXaT3OWLCA5OAicHp1J6lKZ12/7Rlx6
D2HQhV1W+bwtesg+ySAFU/bAeH8hS2jn4vSvCMlbyAItxZZ38028qDd1kMFFI4mw4BggWk+mBgwt
tQIdaC5WI9O+RgsczLCKhvfSzfuJPk4eec/2vaiTCptj/Z0z7X3RFJe6bR6jPnhbDP3V7LIbuoRp
mfv9HNwEEtWIpU7c+ljSasOwCwLmelhQsS+QVMreD9bsQgwUWrvjjb/kWb3rHb8AQnk5F9C2Wqcd
H9HABUSxysTbiNzD0dywbkWsAD58QNOlKS/yYLPm6N0QQUKOo7dypa51n38Ci2QfVEfa0w8yx4kj
9zoer5dJp4FEj8H8RhT5W0WnO9Y9Cpq/68f5cppubeQ2bIEWUVUnC213fV0nBG0iqU1MXe0ZzJ0v
57ugLA8gnqRlqK97Ob0JVXO7IkszCppmotjSoL4s3Ps+n/6KKfyVb/iLYOZnCviZR4igVuEvSUR0
LA06edKDZXW6GE2/E4W5KimigALGgNrUROj/TOtd0yIkpOVmXngSjNUGhL8tj/R1NZHbGb5SH033
gT5UXp35tBcO4cmXnTzPqoraGg5Zv5MN1KL67A3JloSW6CvhDjX2MnaoJB7qzetuwQvX42TUE9eD
jSVwc2f7XTBDCYcfhrHcc1qfc3aPvt6LZQ856B1H/es4PE7+iSellUNyllaYnLKJHOWFCOBtj8P9
SPqtCdTGzPE29P7N0QEoNeSvKU/idbyeuughx1bUbGspiqGWKlXjNR1sKoT+GaNrLxKOc8VH/pF3
DEHjkPRi2TD81o58Exravou89PIwvBuKD0PIkjnO0wpUQhZCF5ohJJwisN7QkFJXCQGOG/IHm20Z
h3eSo0G/5YmN/G7RaHAll7ueDfdcrbuIfS+q/F4H7v5452Q4HUTePCBBtBFrfl+7eItM/W02ocY8
9wctw20U+7fO0kffoDRbv5c58sZzP++aZX3vArLRE7q6Ltlh8fKhHvJ3K0IT5FT3AaVpjWjMqvLH
3MFhGtGoqenSwVQb18DRwEPCSlxofY6/dcpiA3CE2/K3nfsZYj3ZOZjArF9IfTyWdwQ2UffvebA7
wjjRCjlIrPF6GK9GZ/awvVl8xjN+gR+FFPjWEYwCM47jb8/PjeuiWfQcoxuzdwWkvKE2WzTiZmj/
LEP7u9DGD6bBX6cA4jNW9G3xtTfO/Bhe/a/2383db833/x8o1ceU3CtY5D/98x//9C9//P6vf/z+
n4/U6t///VMg8vhn/wQixV9ALASB4pikAn8LiOO/AZEh+QvwP6RUwKtGE3ikcf4NiBTiL8ilCoYd
Bv9aRkfi659ApAj/wkEDxb9l0ZGOjR/9b973n3YelPT/o90/ieS4BLMEmYJjZgdopDrt4xHmyjm3
9DbtKP0sQ7HuYmvotlybYC9a1ZyxqidlI6ABYDx8uUDABS6E/NlB8MmtqcB7nFugD6lrqxxef7Y2
qaU53U0xXsVBAueMsxCJBCbga2kpHkrRcUBU3Fxa1y5Xg5/fzcJWV0U9hptgpBB1r4+Jgie7+Yv3
8MT8H78TrNvj7QIgHCLOfX6/4tisa1vWKGJX/WNnvL7SrENF0NJ1Z5inL3dAIb49jqZiUI1PQa5w
dCFZ8dCkQH66PfgCck/LSG2h7Wwe1RyLMzM7sRyYGaYGy4VIFwlT8bLGrC6anhokOyoPw1iukKWt
2iJlulpuR98iRkA+68y+/2KSwLoxGsBMoN3s5JmryxpZWo4MS8sUtJPro4/owAbpxwXdDU3w4/Xd
+wmfP3lWf04SRwScBGCnyK+fACCD63OGnHeX8rVFdgiUt+kjYm2gloa07qGkITJdOEDBe6ZsiB7V
ay/fd3Ukvili6jjxzCLcyJc+bLfSaqG2OkAqLcUc1nmTlVx+qMOJfdW+JY9dIVqfWLpG78vGhN3F
65P51dod87xH0gNoSqcc9L7owlpo26XzRKKbtu8h5unm9Qb1cWbbjlRuXx/v5dEHKwHVDMcDokAs
OUHCRGmsIjpu4fUX3XVgMnVJ65Js+w5ZhteHOm7D820CtwxEOiRoCP5/ym2Pw3qOXANWm1+Q8EO2
u7yIorw9M8opTYaDnRKChATCHsgpMJ4np0+IKKB1j2GIjOctMnSIbcss+jJPcHQqg3hOVNm8abVY
tyBKD/vRmjUZaCbPkANe3D34cjhaIEiDMoTamJOlzZXsg1E0UACYMuhWTzigtm3FdT33FrHyDGn2
HOH464uMV+T5Ih+5ORT8J/xP0fi0jFKh8Te63wQmbWtWpgy3P8k6BDl8yKvEUZnvJzJEG5Aoin9g
4eHXwoiCKs3ACz2Zb7g0TAQF5qs5UwkJwfksS02TLGjoTR/kYepjSu9K2dPrcQInNSpVnkQZnc/Y
n18t/BHmhiUHnzL82XD3ybMTjlmArlKlTaumQBeBAuBNifhGO6fTPAdLfSVRf+bevlx3HknkbY4v
CcHjzp4/IbIFl6LtXJ4qUdv9MsFLXwcirtoyj9NMGZdGhq2pnvL2zI7/4sAfmSd4zVHOhSzBaVQx
ZIHqvJZoPyUV1Gyb3l4PY6j3rM2LA7KO1WapapSDB5XeFrLvt/nIm83Y03z/+tl7YUvAzKEg6DEF
T+dIS3i+BnMZVU3fRAb73APGaT2a4U6dS0sfNWfetRe2BEOxEJVCiMB/Mq+fD1X7bgIGokxatUiY
dnUN5XZGljPG8eUoR44TA7UCTE6s8MmEllBrPs6+RU0Z6fcUYMW7OejkmeP6ctkkLBZsFTgccA1P
vbIh9HOUg/6QWquidNJNtde8Ag1iaumZCb28GXhTUFyF3DYFk+pnz8cnNyMru0kjLwgd614T8FYs
gpihiOS2KSVyzSuYammdu+r29YPx8nLgQYtFzJF+P9Inj4/ek2GLrg9cSyeTOhVUoMcE7Hqus/Zm
Cv1y4waKRlGIgoHAnbOGAPbxq58/OnjW4G7D+0EEh7D7+dCrkAPralulLlDuKstLNFuOOjreFwWx
elOFrtibkYzIzYxzfilZzR4macAm6fIRe8AbVt7xJZpEUq5lC+5J1AI0pIEsroIyl8u2UBJORxe3
y3fWdOIBLTOD5jLnub7VrsnR3aSi3O2t7quryuUl2/ZL2B5w/8DT0SLS6KEWRRHEz7kQt22FwAsi
MwO9sqzP35bIqavEKVm0KQAYZAIMBcqZRIsp383jat9YN5Hfumjh8ErCug+SJe4L9BBZXPxuWAXO
EBvaBY3HzGDqdCIzhSIRH7pDDOFgwA62yn0SmgKi53hPdCJ7Gw/JWmaduOCjDb5mKMQ8wGO3JoEr
1T3UdnX31egEGsmoQl2ojvC3a0kArQPjIxcOfoa4Keam/mzMYCnSIaT7ktV99JH3AAk3jc7BlWVs
DpJGQbVmM49iHjfeZ+SrZx39DCAvqO87qhlEtBc3o2OFqZYg9e3saNJkKzJ2eVMcbbrsAXJOEYeH
14O45bemK0NwqtEzxiBz6fWtahX92DdWLUlQTH5JTFyHRSpaVi3bZfHo3rrUIroNaDkvyTpVGh3d
6jwqLsbJAj0pRFX0W15m5ZLETo0fPbUIDvSsA5uMQ8E/O08A1E+WLC4FijSJ7eKm/rEhoUbL2Nw4
hC9zXG71pEy2W8GYBFZBQ7xGq+7snW0jh5UAiYKnsOQebfLalfOdYwMyQ+XgRnTtiFReb6llAqJt
oSzQ9A/e6sEXfsrxjpZls5E2HpGH8IbhnzlpP8XWrn7Tx33wuW7jET1r5txHyOCPK8gbqmI3QzOO
QDBIOX/qrefIF0VxB4WphfjPKDvFKerjcv5NWQG8yrdDd48SmgV8sHiwETJk0ZrrHefderdolIdt
yaARTJTjXO/1KLsh7TLk7tMJ9bvjBln17EIu6yJ3Y+mdS60AwTflhQvvaR3nxbaahjJOskwv+XbU
hb8tfF39mFaLigIWTvWnWgp/L1cUIMA9XlmUlssxZVS3Y5UuONd+lx+rNpEM6eo3tqHsI/Fw5bdL
RAGZNKypktyRMWlQFwQoUc6+3PhByS+aiPVDBWIzwoB+dOhuLNrim5pGJJjy0A2fq2jM3EbXsxl2
rGcFFO0LUUABKuhimriomy/HfO1i3MtZtNuijAJ0Tys1+YElh6s1DFYgA7X48MdS6YKkPZsCtJwd
6yXerGrtzVZUTI4pigiDaz1EYbvxPMubzdySdU0bXYg4oVOLW65FwW+kqCadTGMLan/A5VyDHVFz
9DTPSTBsmmUgedqKAJh7iyykB/3DLl9KJjzqeoOuuB+CaJgTpC39kBSuIT6RkZEPNJiqHiS5um83
raF+q+qu42kxdfG3MRzxsZkugg+oU13eNh6hw36yMtept82FJSR7d7zPkM9a2k6msEygyHMbf3Ir
LlESotD9SBFufZEq2DWQEm0Tf4+jQa8IDom/7uYQlBQdHXFPrbsCp85TgAYuz817NHmfoJQ0GhPg
iFJ3U9UDEM5gJDV6MchevnWthzWQc1uBEeO0+UgHJJWSEhV+38SwDo8DYmGzB7FRDJcZrvQmzIkW
6cAmRAmDWmaWlpUZ38m2aJEnGtoZGaypbGlSR2rKU/SmItOldl32puIFB0nSlnGYIo1G0PBRHM1z
qH2JxlcZg+xVnbNP1PfRB7tkZNiLhY6P8aq6+pINvgPC6gP+AD4llYmuGtFvUc64giGgx+4WOQ6F
oprVVd+10vEtbqJ91NMCYTHUQPiNcIaOsPjK15uaNtP1DK4kSmxA3nxDoq6utkS2/bH1dC6+rSLo
wcQMALqiaFmjDaeL7Zty6NiYTG2+tGkYhOQ2HKN6QllQ46rdJIVjqVr4HP3Advr2nR8qEW4yDmh5
UzUo6cWhyum3MsvrNelxbsBja9RHFwT146oVWZEdDoGno3BhJFcG6NeQ1oOOKxDCSv+A2K/K8IKs
4s3a9hpKV1Y15iKbiogkBVmmOsW/dQRPaz/f2CryDbI8mfg6RXFZb7MFlyGpOpnRTWHpBJW/aEZk
3kxNri6jxvQCj1hQ5WAmL8FlNx0Jm76bV5l0oWFIxNmAAjsv1/amlN6hWDVXRY0P0hzGXK0afT+6
Ngj2lJvqTVfN2bLp+gIFwgCDs48LcBeXzm1nkLUTrP6ER2uA5fUC2oGAQHRa2mz9IqvW6S1O6PK+
GaHfmc5Nj+d7CSeb71ZpwIpFOTvP0bEACUf8VJoB2bQKEH41NLLboDKzuATHDckqhfKzL5HKKoY3
wIPtlXEPsx5qVHAm2Ft6Y6SmfepQIHIsj6n7Q8c7ozdFjar+pNDZDA5ZsOBS5tMQJYMz6wOTq8V9
4jUBu2pR7EczZY1LqbZVAPxkhTkdg7r9jFpcKNlVtYm+gjOr9c3qlX2cwrFrkDpb+Du+YgrJULDy
Br5VP6cU1QdfVafIdxm0KCIlcKAS4qbsRz5FRiVDREe0NGhM9qlHJK1B60VFzwY86+ymiEb2ja0e
shvtah6bcRFvMj3HHbLErL+vUfFwG6CYusdTV39WMpjvI+RJAWMU2dAlxYxmATAw6D6LkrdtRZje
VSo3l4UpUWehTAmlVNZOqGszwfjd2GL9jEwK/xAY7q+p6qCX11HX622rRvfZu6URaaebcYOaMSFv
OWu5uyhX4T/5NUSkiYUjt2ZWSPyGJboVTHCSfpvH2IXI2a7Vh8y0FHaV9lGRelIv24zXQ3fT/S/q
zmQ5bmTbsj/08AyNo5sCiAgGe1INSU1gYkpC52gcrQMfU5P60VrIW1aWomRiZc1qdM2SuoYA4HA/
zdr7uH75LNyUakWomuFoq2rmGTaVZJzITJwbTVnBh2VWcrrsO7/L4nai9pQE+7+BgwjXH+lU1wRF
ltPRNp1VTS2jnK0PW7vikKDoqTyp1jPaZNDuelu2KvSivtJkqhNLKKTYqsP+UYulwec2bf2PCo+J
JrL14LlAL7nb4m5sZUN4LJt0ZJJfsaVfJ9vpv8F4Vx/pcpldJK2J3qZZtsOnOt8LOzCZ4KCD5wOc
Ld0l51zmR2HtayOxdFA3CeGgYlCHieVOpGRbqMRfgtGi+ajG/JiWHa2n0pI7Z5TLIr80ZdCe1WDq
4mSUhgNzKm372Vh9DkS0Vyj2lbFV+Pt2dn5t56YDIuFWoN621U2RZfZFCPxQl6/0UvAhCPrVIYai
3ULRt1bFlVhNLQ80asNHyA8vvBCD3WYRarThw5jyf4zDMF8+WZtbXkzmvOKcLMr6ZW1d+5GMJ/zW
1eb60fLHdUvmsjB11Jj4KiS8tA3LKcNMX1Kk3SLiIJAqcqRhZxdFuDQPQ9GaRSL9GsE3XvXOncoH
gXQngKmJzAV9ZhLM2fKpaLypZfYkIqF4LCfFjyMQwJHfDY37vsz2lqKym/PcZmxJjmFU30RlEvBt
49o9rFZq+7wne77s+g7Y05/moIqICIrwpKGBCdPqJVWHysEBJmnCDnmikfaS6MDvvgGugqi0lp0W
cVoMSDU7JAHnIPMY/dBKIJYqsA+CkwTrWGv1LlpKELyZaZrv9ZoTncMOdhRk9QCqZNrDemd4yzzH
K/oB40G4lrNF6ZaDFvfzZn0H4gXwzg2wiA4J0hiJTFE113UK0lKIBUTCXdrdTbJa9GEQY6EPnpS0
GvxJTS99769ObM4mzzRlM/2ugsxPZjEhIOnKamuSwK+hVdraKryjN0853opNSo/CrTCajEe7alhL
fdp+nQmG0qhP4bni0GFnjpsekDmWfe7flGqonKM/a80+QESI4sLUYCRWryvKzHsJDrDWfBDMKoRK
KVTrxFsw0cCQ67iKBOZovPGddZviLISZiKphjpCZ5ASS1GPbCCuFBc9JUJnv6FvAdLLahYR1rJpX
qPutv9Dt0ssk750Uv4DZhyKdvVl/LIN6uQ6Q4+x9Xr86V9aOR88kymfVzCy4VHbicZr1col/h/U0
W6YiQ+DTdIjulf6S2nYN2B2Y6rgreHuaB519HFw19iRwHNWHzhD6IfUNeLPRq/yPq+cZDHZtA7i0
oJ229IA+hQzIrdlzYoO4oI3NctaPYm3Y2bZCWPdZu7nfR2skrFdoOqLeqesfoTMOf1V5FmCzMmzd
i9uUE/GgX2YUtUDXcCBXbVc/TEPtPE/9WvhxIHJhRKCmIxbEPcRplJsDX07WmoB2OWdunjROaaok
HbrtCYcooa/sXtOLGkDbby3ZuDI2HcrhsfQNdbH1K9mcZtl70SB9kR4GYl6L8w3P0iXobTgBvZU6
AiXtPxurHc4JL9+6k71Fd96d+zmR01BuSWcO7iXtPk/EUE05N96E+XU4ZK2V5K23EFUGbMioq9rm
Y+XmXpDUo67+UtIKb3TZjNcwLgu6E9V7W0xZU74sfq8fliw1vpeBgjdkam1aQfKBY8QLjqnwrESu
N1u27ylLWi7WgThpT1SqAICQpDM42cofXkK/kcOFuTbFeXQG/S0MV2c9BSsa7WQIjCIDmrMoKaCd
zF7F5Ji8sLZBW0p05MRaBXKMZ2kt1cFPNx6osgyfVFnB6IlqbFTMb8qcIydiiOG76RiYqSJxvciF
SoGbXFF93fiK3WQ1pvpaGhlPO8/n4hZ3CPGj7FfxfSjs/ioofH++IHgjg9NLWHy2N9/9ZDcZ+4WX
1igpurwp71aChTDmxckhblSTn/uxaL0IkEn8UBWccSL8UWcva+MKys/MkxbJPPTmJbUJN4gQJm19
NFk1oaOuyvXcKl0JUkYwmuNcqk4DVA6lPHGySpmMSzW3Ub4FRXCo/N640qIYuStUFuw9BYYvkRFw
XBLCdX+Ndl4yI7qF/aucavuix3G8HorV+KJ0bXyRVJYDULTW5lRfw8a5zJRyiAo4OcfYWLpeXVbl
tGZHMsbua9+Mqb9//6sNZtWCGU5dnQW3wmrMD01R+usBmKOjzFD35rdRB6KOxnBPk1snTx/lMLRZ
LC3pT1HVW+Und1zE88BHrM/1qMT3tVi2RyUCO4tDKdBa9UPmQQeVlsuEHzcNqL8oMpBIUpa5qtiE
+c9VG3xCBVKHpwILHIYEtBNbSs5XUEW0CyVrU6xzdV6cObgOm6rgic95fnZ6bBhiDBAUIWkzOa++
V9K2sFsxNGd8WVz89rq+vByqZurYfdsUP/pW+rSxUw0JiluTFR79hZIbqB46lkmGHtZNpTcxraA2
1S3Nr9ygnQekeVLjNnxOwZnvVIGTU2xWeNhQAfIaRhkpKjRxU9v9t2Il0Iw2gj1mHmhzeqi3DA7P
y6rqmY4PmWmxjKFz7vmYOWNacM2DOXWVuszLYYdyRE9+CbVkuYrosC6WhL8G491Stu5rYdGmiboR
PXBiNlP5ZOdjE9KIFz2MbJ3KJcqy1WhZkkZbnSwKfT/omgXXG6H9EPFZ168ccfp6sGovT/aSZE7A
sbiMK1Jl6iZ0vNxDhpS+SXBPq8OIbSn148IT6b3qJZFNVtqBuqR+Ul6RUKwDmBcJZawG4W3XRrEt
TrzO1BSiau6GEelJWBDe6zm0qg+ae2uOGDeI2JrBW/sRzQTDioNJxBnuDcvBW+35lfN3Go+hb+c3
ukoz94zSz2/OZStdIiDfa91Dnu2LsvRkdifbUj//l1s3ltkg6aXm7rj33ay2xwUq8va/mrRaNzTR
tHllY8vE5NC+QAuS1cc/V6t/KZLjJ2Q5Dq1z1/Zs+y1t46l+SLelVXTKDaY/U2O5NgxnSgZ0WLeq
NtIPaem9J4T4tYvDVZGvoXVFIoZg7E2NfPaKbMimQsVyXpwWzNEq46WU/akXqjyYhkzPlq2Ko6QU
nBSNto+OdJH0tK74t/0IfgktSzB4R9Ar8N60sgw3GFonc7t405N9WajJOq1FoD94SC3faZH+0mDZ
L4UxVmjtzWcatj9X5+2p94xesM8JqnlXosoxNs6n7p0O2W+vEoK+YNtAE+etm+Dg5oOlfCJ9J7O2
gxxb4wNSpv4dtOPXqxCIhuQTIuDtsS39fC/UDqnC7p3XSW3tsXFScMq96WD/69dD72t/Yoih8b96
6xHV5DJ1lhwVl+YfXaj9RtpMUCIc1+KdS/3mSyBkcfbZNi79trejq9cKrXmq9r616WWX2zYssZHJ
8gpQlXrqNoaHCYOvd/rIv+vYOBSoLZrI9NzEmzayU+PCYHEYUOEmiZtmAvSlVN6pd5tXlVprMtBi
RQXvy3eaY7/7BHmoEDM4UvEa3374ppHuZcVyj1rsBad8uYDIe0HnXlmd6Vwb2qZE5pVd1Hf9dNXS
lDFjtQVdshmA13/ehN4iujvUgtmBY/EFuj5OG28aV+5Q067peQymX3WP1aBlYs/U1Ba9fZ/mZb6u
DYeRdFuJv5MxzudZ9PIiFIOOq3xP4OaiO3ZZZyd+66t7GBz7nGYW3Q+n8d7ZMH9Z+QFf1v5dodqj
4/7W3sKSi5kG49TGvq31RxlqeHXH/JceSXAdMHA0LiELXOYA/EKqpHrovK5uY1HbwU3T+s+6NLqH
Pz/2390KlnL7XQBq2X8L7v/RqZwnvim0OCQwTiUuFkvJ+3lrg/dW2r4X/NSV3O8FVol7EiHuZG/W
+OTofq4b0G/6SeLWWfAOndlcrgmxjWigExBZYW8evUHkD5MJb70NU6VI+Es7ycuyuahdu7gKBm18
at05+Prnh/DW7ODvR40Ky8ZZzxGm/dZez551YafkQnFXuz/MIlMvU6cevWVrr5yQSEwOK9Ijd6IK
4i/+hN5ANHj9Tcutl634OQpN1dQql6c//65fdgaeGj6KHqvNBPJ5q2Psw2kVlNrbuO6s+pi1BUWt
2WKcbu1Vl5uav2cSH0JrDb/9+bq/eVtiXxI7o7lbDu5//8eiIAHZ1eMsisoj9JzTgNgxpeS6mPV7
LMBbt4v90XOtHfVElS5+8VSkuDsbmyporVY1/dROmkktVxQ3ksbxuFZmPGdFeNsOjX/rhoDTMtyM
d75nez/h3yxPAcoT2js6yDb0RpUpw5VIe6QrMAtcSKEu7YME74l8c+jJalcsP1YdXlLS0V87Y7S/
OKH+0Y+eBeZDxUjZRn5XBQM6Gjx87mFONx3ZtfI+5CslrKzrDYt+T6cRd6ylSwmjMAOKV+Z7AOpv
FszujLGbh5i74eebF0ctdTU7a4LfsMT03c2K4DEldD64o9s8bn5qPFn0V260Q27z5yWzR2tvnqDr
42y4nyKsmrdMTi5w/zMppsQ1V35dgtQ8mYCvj8A65qNaw/c+jd/sW7geoMLYbf84v95sKA3NVtvM
cUuVAISPsGzT3dqI9zD433wIeCXhfgxEBxTzdl+A4yhKK6T72vBiP5iNo9ixsuIuwHjn7s8P8C1x
v38InCcoJaBVPEDqN2tQj65gh+lrpO0Ww1idWpKDrNOVNRu0r8aMft1iWhT0Tb6Vwu5O/VJ/tor0
miglvbJn9c7m8+sT3j0Oodqsv4Out955nWRG+DRjCSwMTIbEAMzVgXe88+n9um4gc4BViB/ZBoCC
ft5qQjvDkYVvKM6kLp6anlRu7sPlogHTvW0biiZ/fsy/vlGu5wJSgZwCnr/VNSAuxM3N5nrCborj
IOhBUIVPj3k7vDdk57eXwiWO845B66ByP99aQTlUKt3J2J+m/uzuFNJWBfrsFkH5ztf3m3e1g2jg
9DsKCRL386XCim6WL1kxs8SRya09RhHN1nuOBb99V6G32yiDUtH2/PkqgZWblV64oZTmIq/J7a8a
akHxqJlklHrVe6qt3z7Af1xv//s/jiFfK7MIesVd9dP2QXkB1j6WWR5zjQbm3y8Lh7OOgxZXNPwS
f75UHw7pYljcGnt1EAlMRuNhlP2VMWXineTsd3fFQeeScoY+hdn9Kf/jrjJ76bQ108wqO3Sp81gx
OVnX+G2b43sTjt76tLKnwMCTUaD+pqSEx/bP18Knkq7xCE/QWLb1qrwWGlaUwX3n2U6JuKb34qkW
06fK3mhxD/163MP9ey9XaVy6ncIHSKVBMgKY0xcZO5WgpnjPi/3Xxbv/SBaVBbiGFH4/nP/xQMyR
uLGb2GQ9XXUJnofpMaO8/M5G8+tjx6wRxQM+9gTV+Fj8fBUK9gDasy9jGwbjlKe1PCuFilVUrnrn
Ur9kkQFqF5t4l3N4T1nfLKa2mDyJ/EDSm92aKqGd4n/GIBRnDWvEE8GUPl6Jc7C+F8X++n3iTEuJ
y3b5X7jKN9dNQ1gjQTCNXG7xsLHIsoHavjVezFZ6xYNvH3n5wyVLfbu1ZzFf4WjbnvJ8yA6dDxge
l/5cfMKy596ksfLRUsv2r3dfgGfP41fumkDr7ZPJwlF35gh0gF/o9MEws/ZmMqkg5JnxHhb/68MI
ScxYU7D+vAT/zftWdWWSzBdVLI0w/GLbVRDNNK110o9re6/WfE3+vIX8uozDPVjnEGODNKkm/bzA
yo4OjUKpR69GDJ+CxVkfg37DHfzPl9l/98+BFoGdY7GD4AjKkIQ399W5qdsGlQZ1p9R6uekafG2i
4glXFuidU6ODOC/Bcjao0EahpD3+5x/wm/ukGkOkLHzXJAHe//6Pz7ViZEBo1xTrCKPDQ9jiPoRT
UPbhz1f59XMNiSQxdd5zEAyt3uz97JE9PMJYUvJ25sdxnR/QP9TPruSo+fOVfnc/eHPjhuXg8MhK
+fl+VpUZxWLMoB5miL9OV8+vvhl2H/98Fet3N7QbqkPpE+jZ/pvlsbUdghw5lbE2+ulQ2iOdk2oM
dOJjYJoUVZgdvEGuibBHGk1yZfyut/yF10WAeZaSR9rjoILlOsYWapL/h0XFstoTMIz0SR5+fgaA
LClB10DztsiHuwFiKm4qOhrbwGhCSv2CVNxLm2PnSYg7BBHvXP+Xd8BzYdXsxpKMo/hlX2Bz7NPJ
ddKoLOfqU26E1Y0/pPU7V/k1zSe0Jj6iCrHrNQg4f77NyljkwIGMDQIUA2bkI64J5ZLC6DWSqr5X
VcFFyNQPEEjwtEOdb1+Flc8nvJ2ng1FM46E3pP8pp/+S/L08/pUM9f9OY/r/nekd39MfhKa7493/
/Fti+j/wvfunynT3vfyPypR4lmE77q4TRS5AfMZe/x+3u9D+732D5x+wcomAPXbD/212Zwf/7dJC
pKzKbAiyGNP5PxrT8L9pubKHUVaGzw9Rhv4bjembIAuBKyrKXYdHBTwgoHv78eTu1FDxar2LBtYY
5tWCO8TyIbFpNv7j2dz/Z5f/pycb0wl+/lLYDzEqJRklnmP39RBW/ryEyfk5hYLGPmno2/l6sDd7
Oxo2xrNRjWH7XThRYqVnaq/eJXvemB0kwx77JMi35WqxCxPkOkv37qXo7Mc19/snYapmjct0dv8y
F9E/65UY/9MWrHhSNn241nHedCDCPXSJecQcsgaz6oQskm2eIARwhvGnGLxbz7gBdX1zwhTXxTmN
RiNj57w8e84pyXLJjXdIsDtD/OW1sE51O6Ovx50THzd3zLpIp5XdXMis3qAgmzakN9gxKyqqiKGu
BT/ma50j8YqMvpsZaL6sBq4m/WLE9iLVBzk2y/eCqNrDlqcLzmsux/TEVa1rLR2vP6aryL5ao9TH
YK08fG1Gd3ROwD35lGyhXcLB04vX9MJzc8HSw8dgpsVg4C+6jeGLst3JjCqxQBxK04GrnOzMvet1
J+wT7XnXh2n3pz4Oui57yTPKM1FuGwItWtYDLQwlFkNxCY3y1BWpQi1q597HHh5XQ9uKmtHVadZ/
GoCFPttrpX7kWvZF1G+OT4Veani1lm4zU+2FtT3mKf32uCm6GU7Sh8FOWrPTr8bk09qsndSx2LiF
kMky1TiuFAtoLNNJai8Ss9VXkaR108RkDdWVVzEMKdJuZaxAomb9TTliN9Pp/c2KzGDonj3c6D66
rZqcqNIBdLoHgn+zeWuR3c1+z+yDqUwNyHo6sN9WGtZ9tJb+9Dr0ynx2zU7dr7SXF5D6TkPXyUFN
R6PU0w9KSu7fjYdwSyiyFmfZi2G5BD733DPUgaG/u0zuaeCCA/uHnkvrLAuv7RiWZEkjRhE1Tkm/
2Ov3bVlBeedJATC4o/bSy3ruvSuih42yrlc2Fh5I1A8vuE0TgjWYVicqZh2g1U1L/ALzwjPP6wqJ
M1gwD5Fn4aGM9iLMw+OIlG6MWzHTC6H1MRuxyJlmCJxUga9lliqTzsBLzgum8nnsS7u+7E2jfPK0
VwUHCF/hYBw5BHbsd5SzMe2tyzSGdOS61F+kjNe0mvKTnQnTu68YrYUz7dKVMgbYm7qbza91e4GT
13xshJo9crEAxr0qOv24DgqhCmVN7IpY1M2DjXCPjy2U/l9+iYDu4M94yx8JtDH6yqWJa/bSzgG2
3LovzbgrhYDjGjZlc802bA6lrnWRjDSmXh0qii87sIH3qzXmdVyvfcAnb5sLhp7FUgA52rb5rXXo
efvU57+uknnsiQfhKCLgmG7eLY489yD7VRKfmtYGN0mQY9wa3jDderDeI4iYOSMRTVvA9sUTbBsd
KeMc11uTnijPrS9Z367gfMrHr0MY5qCoAy9e1Hp1+yUd2uXcDgKnnRVR1JW5dcFTVXc4cDb+wHG+
9K51nRlCXHaGM34Ma4EiFHvxYotToYwyMVAOfAJvWbpIZaVmnoPaFS563OZbM9C5PKyjPXwbNBKT
88r21kVZZW7PjDPAqcUHJ2qSUC/GJyU9nZ7CPO/0MfNs4qjeZrzEkZ1Tjxc9K1InzKeen7gsz9Qo
iQsTg4nRp4mXuR6pW5EdwSXYRhIES/+Qsd0Yn+a8xW8NhRamPp01NPUhWKR/BwZSbtgLq22CCa1x
M4HDnx7cpl6BBjpgGfBQ2rdAvAW+yFM+ga5hAM9+uyK2g1TzJr9JzLVjPlNYucUnMDYkqtXQja9h
btYt1sQGQAg2UcKPEUcNdGEHt7vJc797NUXFuh49GcwQZ60l4xpgdcJ5ObQVSqFdapGVaLTOXl6y
Sef27H7ZqjS1DiMONDfQsXyDJLQlUVgn8C8v5lCebbpe855dbH8F89DeN2vtdwcjx9SKPbme8eti
T9uNWFBiYBZV5t6xBMfH+ipr8+FcbXLyoZJCHJsHZXdIr8die4C5WORFbS/6SYCduBGl7PDFb6io
YSpKNhX3JmshclLNxj0EmytQWJmWjqyZlYH909w2KFrs+jHw6i5LarZdG5EteAdwqFV6MMRu/qXS
4fCMEZnGvzP3dvCj1fNdtpbA/+Sk9tetyPBuQY0/eqdwpCdH1JvPP+j0DAwuxvlkPhrjVJ+hxaRz
WWRFF141vLsQtxxroJgvdXY9tk5p8e1l4xYhhBIFcJQU/pHYHJVABiF18FeD7WpD67lFwRSIORLb
IOxjunmdH3tGl7bMfHNGPxmMDap4K2v5Ia1yqzjsVRQndrvW3S6XLeSXb5NtPrZYQ7HS2oxDrtFm
da07ds6kmzRufiolkYkF274Fgdt4D06L6UU8iKV+yXwxfm0bZc9XzZIN08XSqQAjLkOq5tDpjG0N
5AuLsd23HoewtvxsoiAZohyqbY0s7WXGnXDyZb1sC6/xY1umQEwOROBrppsxh01L6yCWy9CtB2Qg
eJRzNPSHlULD68YGXR02o8nvXCIj88y0iII58HbRewffnjyezFCmPzyvcIDl3W25YNZWyPuTk/rg
NZiBY442zHRvjJCAZwgKd7xcFjUVpw1ScSDsy9qVMSALrtrOYKOjzPQqd52EG+AdaQfzlRqt4HVm
xBfncgjlUg5OfZk2wr+UTlVcrQLKO7aWssR+jckw343GXj8x6bE5mG336o3iCjj4ZhxsdwV4VSZ8
ahv0L03dGS8DktqDD6FaDP1lji4DqVmZnytpmkxb6I8NIwKOokVeg6DwFIR9eBF08gwbOV5OXgG0
Zk4bfx1ry/zuethjpftumxOJ2BGiLLQLVesJkdhOVv3Y3G7bDeFVsrjY89ubNBJG6rjVYdo26oQz
R/POY0/utdVtrrzIoXIFUKKJF/o2bn7MZu99clb/op7C+2rWxFOp5R8ms8UiQNV3Bjqr2MrGo8w8
574GSTf4hYRAEfKvdSP6yLNj1zsKH/Rx11SOXhh5Td6e6xzrtwbL4ZT40fbQaFjVZ0Y8AqF6rIXY
Qq4Sd32vMdYNfMSPxnZgOCBrOEDHjwGs9ZoGlUttttPOYUvD7mK1pgxjXN97ob3Fpm4c0lpwUNhd
o6K2pWQKMBK5nrJ4PDB166Z8rAt9SyWOzhHgh/ZTbYjgiCcMwHSxmenzYpfFQfv+eUrNWV/UJgFi
VNEg/R5S0blVIisuLGOe/diHvebVct4mtdbpjb9UfexMOQI3cGI8AwG1brY867co1IP86qH3/zKu
4yX+ypi/zxyofVrcqhRyM8jD9NbdgjQ26/GEDsVnDBIcJjK7arqYUqZfAiT1SbgYPKRi3I4+CPvD
Vo3GRZvRLenlvVFvX8KxVB/UlFVX00zO7mzQp0WhHstt3AGWsppfhtXH/qT1y2PfS5XkaaMulN9x
LWSB7RPzc/jQKpW0iEAY4j7U9ueh30abmGgabyakLTdmpaqPzuZcq27a+Id+fTkxdw9r6LQ9oML5
nC7yDC1TP2xke+Gxxx7xvJqlceog7nWabcnUGn3ijIaOZ9dDo4rdqGhYUJDYgH1svMxS6C76wm2j
jcZ/ic4h6qdxfVwG6wsBPOaPpmWvF+Qm82kwUsCcrOHRN1M9YvY1m2jx0Mdqs5YPXdgS3VVdeJyc
Mr0YDTaByVLdD3c01huB+cCxNdM5GZapVRdmTQihKXrQBQ7w9mvn4ThmdXZwjOajyRbM2Au/2flw
c2f+a3WAb3/tm4H9JTN8WsrOydygLoueYNQciNzLjQlUqmF7KHML6aSLV3a+3QVTgUFF5YsrquOP
Rdg/oNfJgKfwDhucxrr1VsyQ5tQ6sXE/OWFx2WRIXQp52BYzA9tvukOB6ceJEtlRrJO8pHT6seKz
0ojcIaPQh5mowpGNv4TKPmP68JUO2yvTLz1g4QrNMEoTVomySAoC4M2w8wlUlPvDWZYAGWugD7UL
ez6yAm9WgysHYsGDNPUAd9c9+fDlEKWdpVH6BFuXtP6ioxnFXSw50sNoNnZiEejk3CHcOy6Sgo69
QJiI+nMtu+U8ezncwLTu9JKzHvp+vLGGGQFetrVRPVJvxRUoEycQZh0bxvYq1uWpcHJGJPhVf8eW
9CX354/eRP0+hnYehmQtGqSEqZtmN5C9aL8Gd7qsCUcjQ+KrtG4Aaqa/fFRN9WHq/PuxsB6aHgG4
SZqCuZyq09vC9+4hynEksHHWwdmU5w00+H1zV0a9jLT4T37YfBnq4co3B551xecVFuaTM6z6oO10
i30t5BXauPELhZBvhR/2p0nACpOym18JHa75dlJ8VLMXDPMvsnC+bz3KxNkwXlPgiwbXPTI6b77q
bRdrpEXuydicPfmChpvws+cQF564owZ7EeDVfiwsI/w6OdVQR2ZRTnbkz7M8y8Enaa4tMPyp8nzu
qxmf6iG8phZKCuwERzFX3zcOkxz7u35IvNY4Y693OW+4hoR1cE/Al+Hj28d9106x748kXpZ/4ssc
kt4RN15Yjbj+ibPsWuMSs6nvhY8TcVHxn+h24t6DndShn9pn5K/EqzwBc4lmN7VebCv3P9GMu1RL
e9ZAuAeJgTGxA3ESILcej5t0w8RxUnkwzLE6ZDPMi9tIUKXUO409r9wNsfjPvediWNDSqaum867a
sH7BXXi+znzvr5FpBMpcvlHeXK9UN94F9oKmbFzC8MowrIfM28obtdtoeljlki8cexFcWG2dx4Vd
+dd1syIByJwTGrF9NAhzXfo8CLA6aAey+79Va8azDfAceYvsD0Gx5QST8nH1M8FRVIlnbKYA44S8
SFfzY+AXD8wBuex7gyfZKlsjrEHW3A5zYtnlj2xbrhHIZCemiex2kx3OEO6yko5n+qJYobFlAYlA
H1lfQCKAAouSoSN2t1xrDCOSZrOeVmaSHojXLOJXdFNo5GukFfhZX7lVaw1RGIbLF9sXQKHeZCY6
I99x2wk1sVMOKT3dbENuR9aShOjI72ppNtc1eqjnssuyLxnK3wR74OqF1TQ9T4OvUJ4U90HjxFMD
K0juHd5uxQqy01kJo3m2mU1862/Xcn02ShPf3XVsy4eK3IWxL4EyH2Q+f7NqN6lDc4PedyjnpgT5
3pKDcme3jjO+dps3nRbLuOmacUxsI2uf8cd6mBan+swCvkaUZ3wMGy+77jzNeMCw2p6LVm7f7c1h
ScCLCqoJDyJHQjKsbE2NjwVuWAVrfkR2Y36vkMUwOdLi8x3vHE0aGuBZkE9W8LKZFd4Str0xhyIc
2P/V0Sq28TnUUrtkEZ66bEPEQRaei6NXXql2vp7leFNt2YeRwnm0pfWXZeqWXRt+GrL6Ne2be3wD
rstqehKN1d4L2oPPTIHJk8msnyypmGKhF7LdLUfjNP9Qi1fcuDmVstReosnDEbQupu85Gr5Lg3qL
hbFS6nWXiyWeK2M8zZivnFxnpUyC4Y+0cOb2B3pR62B3h7LS1d0yBcancMtvjRp2LKDEFNUkX0e1
2LwWRLlrjHTZeWwci9RYZyMnl1Ffzi5yfsshz8htXJLzIn0h5kZInRcPDkryyJ7yJ9OamIDbglL1
Y3WDI8hlH0wXexs/IlPt4hnd8ZiX4206LV9qZXynSjshyEXfEyyEaw3S/sSo55UHFhSccnPzmgH6
HL2pupE0CI3QaMidO6oNBm4QByHz/uMQLEubjB5WCgWZ1I7H/agW8MCwGdKoo4Ny6fp1zqf5v9g7
cyTJmay77qV1/IZ5EKjEPGREzqMCy6qsAhyOyeEAHID4b4Ma10CVy+E+eOIjjaRRoBl1Kq10d+WE
cPi7795zb+gN1BkkPOIac9KqO+bQb16b0WrQ1hfvO+K7mi/NT+O7dzZfe5UQCt/SKnTfU7m3SusR
Uih5UJIZLaIOO6Brnah5TzHPeUkqhyk9obNktg9J3TS7NHdvx0FHNajBVQjtV2+DTmy4YL1Iwt5Q
SDJi/WdTLMtTVnpH4B85EbaB5oPAm/5EoTI7K+ZHg+Z6TQljbHq/P7rB9OKkferehNdo4wQjpKnm
UJEE2pIYQUeel3o/1hAfoo6hX+Tqwbg3aydenpyMoLIOkeVHW5iDlHwzW8oNBHd3FzW3GqIehkpS
18s2b/D9ZbeMkpMGL+3CATXlPVGZRHiHvNXEgEVmJ2s9L82F1iLixOOznM2GPOK+cYZNQyzjD1WJ
0G965ItV0SG/ZUjdq45My+2H4tsP0JfpM/bw+OWM2jj/uWGR0UEqRV5HDqxn5K9xbIqvWTl1ve1o
HcO8x3NWmE4drIG+jtQlgOK7YD6UHQCbqiv7FHoZnTQRY3m+/LXrmfwCouHg7+ekf9fIdJdAZtbr
YpYDgco3NvC/MXNtk5ST9DY2cioRuzYogjdICX+T7aLTly6In9huxBL6u5oQ9igQXvmJ6VZ5O3xh
I0BVsyQaxHQrYhuy5BybhFGp99E/yDcj1hZDukc18nc4vtfaAy8u3PA7meLl3NTmbyPbXd0A5PGb
aT4OFNJvyrL/UzstgUAjX5KmBKndvC9J/msaIYSYvj2kjIzfs8t1isQ5721HPuKN1ztrbpcTy7dX
KsePXTGfZLt4K9PW7nrUzsZIxEorVzZasahfDPEXPAq3Y9NHmZcfHA7odZnzwV9y3rqRc082cF3O
DJqTl5GnpYlxhdJFtrAs9m6vzxPOTZjZRatXRProeinxjMYN6GRH1cs5cXPvJIeKC0Dd/U2TPlgj
AbgfZfbPoZeN3Z3ASr6Ss/hiSrO3I0keYELzXWX0R8YiZZOMeVquyjx+rGRrcGIXj50xxLgRZpKZ
4YGfPt8tIwsM14T3C7LBc9PN5wHH5FWncb4pyIvfs1p+9lTKp1g1zVo4+SobeJfXyfxkc6bmKnxA
JrwXOmdKFFO9v5kNSG7ZfwcM0EUwEfSz72f2uKt5ad8Ue9k1B7C7Dobh3QP7x6hZvUfxGB07MtEr
jlAqbtxmX3S62JpEfsw+Zw2BzsfE5GI7Zv2RkFsDmbAxr9HYIlWxfgM4EILkSPRh5v0QAqJnyibL
bzmWfEpUql8YJNSmbhfn4GSz3nXKe1SjH5/jwah7gJOnQRXlaxX4zY/uvIpisqpQENUlLX6qYTaU
ARJp+M3rGehKEXOXsZu52kFm1OSxint/MP2uIQ+16QNOwaptKOnB4YaUG1SBurdSLlQ7VyY/sV2O
TKnWIQApdjV25yCbUndQsT9ZV6Uodomz4HFxFxKhDnuKFCzfdumb/hQVk9ojTr5FaWW2ZlHLhtyO
2CSx+ZnhUt+FkzsESJrQXqay/6qoRDJrJ4mrXQeYZS91SmVHO7UrPaenKCr/eGH5Vs/mQF/ar0mi
c6tQ6zdl7EiurfiW3whad7QQm2K1rOrUs/ELexKSxRKmYMhwQK9yQrfvjBCAX8KK35jKuGsG1mQt
ayuy4opEG52dKJHMerzSfxG29spV0czP5KKXtRnU/GyGHoKOEwT+GYEFaS4p2/qDmBtowtamo5oM
7mvh2twNkc7t7exx/TOMVqC3F3MEv77nKZrbHd5dDNfE+lnb9akxT7z/hnVrYHQKp3pu4hriYZ1/
z+Tpso0dTX2x8n0sghuoSp6gMUATUpf1ZYLCkPF54c3c5Um5WWxKtBZZL3c+b83NrG+216Ar/0IZ
/Sgcx6MB1CPIPyw/PbkOhFUPgqumMj3sqxd3ZAisbC0OeRE5W1By/cnPE8oZo7n/qZYi2Hc5Mh95
t/4pa7G2LXVtrpNPMxTjJs4KCrrGVZRmuy7I6veaKUQ74leSxd2ms/U+o/SgaWdWuJMVXoOiI3Y0
8NCOVlofnSqm9SReGNHm2tEorGFOWjZs0udWav/T6co/uRHfc509ygGLTH+rSal1dujsdMIfLdqz
j0Z2niLxd8F9t2lT8zukQtR2eV7tLH72FvAVbTRVL5lOs6/UyV9YD94HWfEIaCV8lQstH6Vc+m1Q
qDeWhPwhreVYN979OJWcA6OK2/WQuu9N7b0jvFFVUaS/lyXllr7ofagYG1dCxd95kVHIHiJhIiSy
OJsU1QYTzvcpKG7CWigvjmHr5+QLKo4avsJ6Uluoqr8q6Qx/7Bam1Xrw8+BYG+c7Fqnkw9twmRAz
/3PT7sOwZnQi/50RMDlpuJTvTcD6riieOraAmy6HNVRnrrVfuDVw/aVdVXp8QIk5DzMcqdC6gi3Z
lpFdn+fU32Hs2MkBJbSyd/4gH4a59x6iaUBMFPSHRZN3ssOh3E62OcGq4kvxOzpy8TuOOrxXtJqs
+84CmaIaMb2ZHtZYEJlkXydBv60UVPg6Vmi0sx+uZdfaHO5ZtAvS7qzoRAW37v2divzJclyWAcrf
FSApVjw5T0zywSoeubB5Osxpvqvis9NY+4nQbAO8XsmsSame89sTFbfQiYZ2fBkkiSsccUcQSINc
VeXCwn7yH0WVn6N8ORRtoQ6xuK1qFm86TaYCiL/M0VYOlOr5Kbu8RFnek5oAaOH7ohGpZCF9JZjN
P2vox8067+pN8lfFlZrtgnmD91Dt7EZ4PwbnVcZAq6HfDW18siPlHXVSP+TBeAwTqzgVYeN+TKVT
bNLarjfSBv6+Klqbcp0uQVDAedHBmQnzTy9r8wsyonmq247pL+WOhpjrusG+5uP9xPc6/IRsM095
R1edl0euoFRB17/iXljxyvFuF5mQXWG9zVwSKOt47hPGFDy5vooMu4F0ViP9nUt6g8/b3R/bkfT6
jd1thqf6W+xyMLerso0ZvIHP7PmETqd5pkQF0l1x4W2MLKd9iCQErdeRqBETF639v0HL6YXo8O0y
u20EPtrrIrWVbSACRS+9aqmbiVLH28spix4n3QjeI0SVfnmdIIIdkXb+nWg621izoeCATslqP9Tr
oYms9T8gjqb271pCQude1L/7JVgb7Y1ryF43jlfAnTOGyfK8uMU7ISWW8GWUb2ETHlgE8vb0Mi6s
dlU900NPyUA5QdMoGP7Tom5fM7T9T1gT1UfnT5+L8en48CpIgcngQmOtFi5xuT9x9o/FjIUgLIL8
0i24Fbl3YTtY+fHSs5kqrdHeufTXf4IsGd80Se3jlCbdh6qmsefT0kKdYCBWrDx8/8lqXEQaqARV
tKGvZsxZ6RTxVyRFxSIXGNALvxWOm2lETZ/zjmutA3TIrJsxrD9BrCEbjsSKmVNzumP8pvuN3xsf
wTLtRRFAbrD552zlb+XCvtDNs+awTBnKo8/zs2HWoOLGLhPxk4PIiTnWwmidpdM10AOlPHRhrStP
tydXpv47OyfIYnomX6Cr+yXLeH9oIzgRPe9uLLLSXltNvGnqsvdWbl8GH0Fty4Cies3GZVpe2owK
YhXZatPnAZvvlDfZZyKkfkyLIXsYwu4tTWuOko4lsAV7QoqL3yy9vcUHHBzgIg576UFy6dUNJuGO
zqVOk4wGbmCPHSKrnR9tDn1u8g0V4yGBDm+2uMGYpdu4zGEXvLi7spMMNm7iH/2Yp69wBFrGLOWd
1UcKAVamL9hI/CdQ5/lyLEKlLg7mlFMo2f5oPzmIkXsUh7U4uHK5EbOc4TUqwSgtyCObgLfbFnLS
r2JwDp2x/xZZOtCnkT3mo90h6E0DK6E8HjcATduvbhq4qs/hTZuoImbNcsieY80niBtKuQoC136W
TpKalWWN+lNazbwqa31uxexeXT6hf/BjZh/c9WN5LN1a8xvIq72tXetO1+O4zwyIYS58Qtv7NDTN
a8gmYlND9T26tXVEpbI2mQuTIerjhD07kKVkmbNrt+AsclmYBX1FkJ21mM9ZTL3QsDR/vH6w1qzQ
x4OCkrpyStRJTwXDmfF8XDtlgmcgZdeNN5D2QDm/SqdEUORg7Tb0a82bdhFm17l+fh9HsflduKyx
gpzNUJcApEnrlIi61Q6/lE//5JJ75j0uQu+vpQiqpm6Tf2RjOb2jyhc/g2sHw10BEW6tc2d6wR0T
nAqpsWkMS5G/geCZDqCKJJ++Kd4PPCCvMUVQxSboNLXCFtWUUZ/YigYTkDNrkwqJGwG54GGQtYWy
Sh1PWzAuojlYG9byXwzI3cwRN9tPk3IkvgTxt5Y+f686ysNt4aXLyvM6Z+1NNlK3gGY3WF75t26d
4Xucy/wgueut8Kl518JgAgbzwy6tf7GqPrpEruy31I/bm0gU3CnixWtT7EoTLCA9Q18SOHq3ixMM
yYr/tK4D7oSXBOfOq+ULFq4WUMsC8XXiXbA4+JZSv79Ow5RXLJlT9y1PRYEFy7W1z9LKlfeWI2Y+
9xggzlxuFpur3cT6UywLr6uK/BATJ5VtJ9s3wWe4JLd1VVd6zA65PE3pItYi5/gA1lPi5xrzMbFW
IDvZD0q3vDW79e1zpxtGrnhKINJldkFPbYl9ZRNGNR1YmfId9tMCeZQerXwXMKeDBVInvAlQLz3t
cXsN9a+yncx93jjTKyw9Nkh9ltxZXlNswwLflPQMlLliHM+kVMkOmoE6qcFU0yr33a+kdRGiFaAf
183ebTP3ly5FjciG+AEPRTJwhlcQYjtrduSK+B+N9HpJwGFM7Z3UXMBvZgxWD8DQQE9QlBWbyRzB
femjW+kPRrZu1TM+rGbgpCjF4amF6ctR6C4nmDT3eSqfCgHqw0UZwjIW1oh2/j0mos3cARyMU2qJ
NxIvD8VZUfNk26h3bihTBtlwAtyVUOR+sFQz8/7RcbxC+/MAZDFOOWi5666msCoIAON6aBxrKy+/
dIvTJMHcuO4Y2d5YQWia8Jb4bxoncLF8cCiU8lq13fCEy+w7Z/JBRIlL/07H+Uvh9+GqTtio0EuI
jeGm9wTptkxRu+c5YT8ytsGZNSv1YkhmBb6OaNqIfLB33D1vSBRMVui6cGcDBa9vSibuV2by6Dqj
eiF8sVI9ncAfYB3ob04hqEQPNs6lfTcP1TfF4OI9DBV5SxwS/jpMluSTfW9xxYBORWFHauwNDZdx
yO3GK+k+B82ihAe2dnosx2hk+DpEaryTjkvnPZ/c/CmoG7qpfNu0awf98AeJsztTtBfeA9v9qW39
KgTmByd3/sgat5HBBbdRYw1fz+5C2tb0W9QsW59F2SbEVdYS9rl5NQpP/iLU/KpYNqH5etT8LWcK
oe6gdLGWbeqogACpGVTDat4Ay/jJ/OS5RTY/LlXCBUzkVxMhJUXZD1Su8WsY9I/n9MkDiSHebmIc
h42Nd48lWb0d82Lr42PfD3X/weUselpGZX0luTPw4quIlRH2jqP5zqoXexcX6UtbS7Ull5sdar0w
o3g63rbDSPef0Tyk3pA481r6EXC3oPglU7s8mdH6XKob2tHujtIA7MNcdbvyvcxeMty3smjOrQlO
8YTpLY2cI1BkB0SxB1qGAke86FdRz+o9moOz5XEnHKZTM1LEhpMCAJOXY5LDdkxV8dKyS4bgljMH
uq17xzAKiK2TM4oJUjJCwOSPp8A47D05tg5BwmIiaeXdXIR4dqbqaZ7y5zqnd6Nvkr1d9vTCAiTn
g5z6AiYN14T6e/LN8iDFcI1tec87vf6hxyr95GDBP6PtqXgySKbHImvbR9pj+I7dygkb9PauXifx
yBnkeD1CkvRE9ICjoyACJVL33MmS1w66mmWWk6xTwOQln4qVHQUQuwMvA3RaWvkrt4XylDbdX90E
+Q4ClWWvQhvcG3AkF4lXRe58L6KGIj/0qw9MO/V9OOWOv7JN18VbEMNIHoNwG96CFkMvH3I7uPSg
TrcuN72roWf5RbmCkCRTAudvpSpswmrypi2uyx5FwVJn0gkbgT/Vaj68FiaTClprm09MJi0zRLG0
D31rrnWebRc1rHU7YAlsvWm+tNRJnjIwYu0Fc/PUbFTidHROTg0wo8UIT++y+PY+y6107hEACiFu
CcBo2nOosr7KynT8LayJgStuSk/8atHnF94eY8sJv5TsHf+2FuUzBHR9Nhv2uNjjQ5BH0ONk6rWv
KlHTY8HhGXx5QB2eEyP6V+JQQm+yEbjYrpIufwcySnG8jZ2xU1vTlNASR3+AIdmmdf2T9FVe3o7c
UJzFaPvi6EoBn1dIfBA7u3eW9FhTNGYTy5mZKpjBxhlL1jT3dxCXR2fVFVNEGWjb3siteDvrnSVC
19tlJZ1AlxoOY7eB+xa6xxFua7/Ol7GuL95UI4KVI8FkrhJOHr9hDAt/0PopL4uU3/AnUd38gmWQ
lUbeQy2ix13q/k/Fm4n3pcXaDTnMBjUOPHBxEDlDt9qFc+PGm06MQXwOKkPvoTXG0fi1aF7fl1aW
5XPvEhSDCMqaP+54zfKuYckPlNNXzjkswQxusbe73kvegfukYMSKF/ZZsgeLlrExOowZCe5HJIqe
mQKVPtx4eY91Lm4yPhYWnvFgA+ygCXa1W7fiIKD0uj+kjwN48WXJS7C+eSRl6pC7jlL8nZsODdBe
OeCZZpZ60IrwZNhusJ6yIfkMsfaIi8wYafiO/eoHdo0izUJ4FrMrPXe7IWsQ3oecW2FZ4IvEVRHL
B5iYwF7BIXvhAbqY4JFbZuIELXpReUq67h/FADwNls45YOKVA8Mm2G533s0Cj9IBvn9GpwCmP/tQ
5V0072LEJBiSjrTV/aQq5z2wa8GWmOIKvW+aCoMBVpbS2vtlO4NUG0VS3E4KMkel3VfRmvsbplJP
gIPZVAZWjLWpRYPdIRmqAUeSCGlPbc3Si79t1yERRb2HbavKtQlfiqZQyKSOJ+7KdgD5HPAYuEfd
tB5oyFAt+MG9uc5x9y/VcBaLT/yzZXIL76EwRtZ9KZZZHxK3XNqtYV9KmSQe9HivDKHNA4bXqYR0
kHu6OBhgFilHAw5ixD54U6tCqeQdznWkrhkAgeYsVKZ4M+M+9LdNTTbgjHHUqBUDVci1mwvvx8yu
G4WucCLcgey1XBSBUvp7T4iuPyYyDGhAjWpstUswWs5PUpFgI39XdYV/KWhl6t69hTH7ExbCmOI8
6rK7lKZRccTeuEzPXAAabuOU8wBq68VYcXOL8INvMr8KaRnE6TbtLN6Z7h6e7lBcQ68YeHgtpw+P
Yxr27V0TzfGv1gyOs+sxO0HUFJ3VbkDR5dk7ltcqu4QNKx5erxjR1txOiYC0xQwyE5k6+8wTnMwY
INmKv/KYmccULma5GdtWLjCQ8fVegev7813IgGo4TmX2hXBC717bJFA6vL6J/o6xM/nvcddFLZcs
aLaPuaJl6yjtzr5p2lgy73NiGExvkAS9C55Z3HysBTMPIE+AzF4em8JX/jMWxZ4qNg0SFJBbq7Ft
NtAZ10REMtbDhH6yLfu8Kr8vc84GROImGN7bsvY0nc6ZO526Miznpxa6PPq9y/aRy+GEexdphzXE
xxzOY/raYn0zh4Lq9fLi1z5ulQBsvYDLr3kW/Qj/6x4SNUUReKyTeO3Emf6BtDFOG20rNuSWyUei
pCLW3jHrWh/ObdCZR8zRU7ctcgAlYwaK6IpIPWQ4hgnpj/gQi/jPaLKpOTtWoV+wcrM843fJBcay
Q5sbQibS5JHmAQoE4ILjtgwDriLrUeRdvkdOorGht/MBXp+nGKWw4PffEzUE/ADQV/uTaHlT7Af8
U/GpyyBwIQf2wVvLJSk7TLbVhwjlxBm3ue4ifzuS2BgPAT0JXOa0w0vaxcNPCWbZDDwgvHKpP+67
+TPH40qhD4F/D+tjQW8dZmTY8EHT5f6JPmZqjMe0L7l9gOKc1y6ZAyQOlsV/mE9xQdXD1NPNmwCu
2Xp2tvwOMe5SP9JOLKF9AI2viZUMF7o9sFLCSXDUdR5izz3yHEuxg9QdfvtB5ZVbhwK8nrsejWSH
llH6N7+mSbEflfGvZvbEbz8yDXZh3wqIWNk+n2W+1nKfCK33JjGe2ZZ00pf3otTVvEX6HoYLJqcy
wiQIQ36NW9L1nriRc6r+65Zl+/+pvn85AcG0/1us7z/dMn3//p+pkPyv//G//O+xvn/+n/8j1+eQ
xEMCtpGCbIcAOnnM/57ri6N/i3xCdfy3Dr09duj+z1xfQOSPrF0S0VpMkPMWDIYl2+f/4V++828U
QtnADjwPhhjpv/+XWJ9Lfx9Zuv8VtY746iTs/qlvI9NNgvD/SAanPSIneZLqkvs5zlQ87LG95nCG
s8FVRpuLBlkkPDJqqjLD2wShY9osAg/ttCLrY7WvRZMYaPA57VH3YRtyGRvC2fxylVNF3zJJG/sg
i8oPv2WrAbA1irTSrsj0spxog2yHh7KAz7yTic+1jDRJubL6Mt3bqqDnYzXnPUaxFr3deWAFxxqc
zQm68zRa4qXUAd0OgTLVi6YLwzyEvVujhyV++TT2I1kn9gul2GZ0RzzeqjRYDJSFdZoTKvJISBRe
RdHKNOiDZeGSIuRtsRBfIUFHRMtqTilxcbKO93Ao/X6XTgkRRFVO4cTKZBqK7JmwQcQhbnoV/4Tc
z+/cwhmntSk9FkrpOIxnTPymIh5FLpr2rLqvL7qshoZmh6DB6gjvZpYHwJwRzfA5PZLY/Jqq/6iM
dKNrlicCJZA3gj5kTks8RyZemx1zq0BotQZTfqHz9uClhWXuncZDjombPBKvFFI0HIsBxEc3buff
oW/0fgj0tHeqnvKrpXD9F2Mjqu7iiqJs2y+BReRZEK9jMJFcu/JJ4mcoYIZwpOEBtf4Igng3fdOv
adqT5Arxp2mqLZC8MYpTN33j7eq4U8luAZJ8zXD/LOT07MS7C0dTjGLNuCTsbat5NQnsCOEA5VfM
IVBVayE5tGsoBkg3k+Y7fawgOKUnvx/LcSMVdeoRd7qtZ5roiSfZWnaSdXL/4kbwfNVtT2kNz1jt
JGM33kAaKUIzN90Dq4esufZB5d8elh5NJNvk+P3QtBJCmBkBmlib/lrGlSPfiQXWwTpWmCg2FBC5
8SHOwzyxD6k/xPHPmKUSbxsFOnOwo/2vJahgZq/cOYWTDrvQ4ra0Gbl/mKeqj5lIyNWwLuVJ8N5N
y2ywHeuuGihLnQbYWZgRaJ7c1qN0vVd6H2x5ajQNEZsESwS80LFOaZ2aeDM/RE7FynAtZWfRhzRi
EeBekjnTF5GROMc6NZnhmUiN3RzmmkzRFuE5zTbp6Fu3doJlig6ItxLf6OTPrA5hzWEm4a4sDumg
2fqPUzFSJ+gtneV8YDKrUcmGJskUSkwczxSf6FuHVOaWfnGxow4TP2NJFs/VTS5r81Noc9EPVz1h
uzLf+NCY4d5mdUv+a13KQfvexg8njgJiRjpI3pPRTjA5474R858on0DogkkxsFeaJpBkSHA2FXQF
2GpkbSmgePPSR27l7mLNSYwM7MNuiy557OAaIL2C9LxrKzoYuDPAN2ua02BFIZnToZyq4DlcoEfs
Sf523lfrzVN38BLdx2t8x174klaOwjvNLXRZ91Uylq9jS4wMs5qnxbZsUyJ8ty3SU2oHGfgcN/Ur
BikbuHTq+VWDCUcGDIZzIORJeVaUgNWeNb/7Im5/Mq5rWxs6vHWQEPABGbcFoF1dL7eAQOr7L5VV
IxpqOM/1jqoNFOc50sL7oMEHWV4HolNkjpkZPkxya36QzMYKDng7f4TCIqWjJmGrF/THOdogYGPh
V0Pjf5A/LjdU8ExHSKxJBxe4Gu70pIvL7Gm53JmAP2pXKIM8noks2IfM0LgQfYcapFXiiPFpEWPz
odgoXb1G1FAMVXIGUjHe66TpGj7+0r5nd7/cGmgoIxG1mGDu0E2Ke6ttdksjrM8MnuWn1CxfhQD4
ge7YRd7BmDD+sSs5d6SS9YRxPC42fqLrU2ic8Ri39biK0QXu1ULSfaWrMXuL8QPD8SmdEBuwVluB
XvFoHFP9kXFKXNERmNYx5uDtGKxmCo4DUne2TXmIvftbVg4wLSwPbBKzseN1NXTBxS/y5peEm/XB
8EkryKBVdnHZDMzPLhDzS0hXBrtmNZOMrAuFf7P07fmSAnBMy7UUY9wfY6PzGicYOvEFU8nQ3Ie9
wCQFE4JJwGibfyrwnrjkUoXhmpk2LNlNWzDPVb2fm8r9BwiMP2opX6Qc+JXMbGbtjEzVSqaVzeMH
WHlCAHQDsgUEE16xFJB4DpUo+vdZGfmWBSPgDX4GG02tZJmZYZ2+qNaZP7Ffq6OJpLrP7JhzITMB
WUInf5r60jqVYsjucFtx/vhjc8Z206XPvj9a5zlb+ESi9meXDJslFSsVdniTOq7ea6sgFiTxRJ7t
2bM+bVl3d8PgJw+pM4QnXfbxxZgcz+qtqzLXZXFfOTyTcY8faUWAEwi8xhEYKq1fifezHO9m6xIv
Vk7aPXDPod8/a3IlPGSuHFkExs5mLvVNFeMlthVDZ/MsZ7j63Ur8EPc7CPChjEWZfOwiXTxLU9iH
pi36o+9ZcPOHriBjCtn0I6PQ7NOdFYRvFop/JBvvUzoTaqfKme3PsJiryy7snJqxXVdQNY5+yQvE
RJk4xZFVsYF22EPPrs2ONiqHhrhEZ1hyj9FTuCxAs1Woxg2iMV0DHZp7Gg2cG9Kfim/wVNg1fVrt
WHl3VoJyO/CElnbybDdLcc9Oo7jJgvHNxKoOjLnFvqL16lVY9C2Cxg8xJBTJFZ88j+XgOt9pITgM
iKTSUx/ioJdERT/cjLQ/73TnGrmFPCrJ7cnvsSwkjYfzVeXxd4aXFAkq37ZpHz32GTVfgyOGMz1r
zoG6p+SxsxP5lAog5Auc61vyzcKB4zXVFSphvmlrOv2ED2iEq+aGQhJKKLhMrZjZ6hPQiOSA/bYm
hIDN1oMjuh8bQrDzjI9Q0wl3LmB01quiUvE5QadkFQiViWqaCuu/Du8mv4oerSKt3lly16eEx5Lj
ssNLt8gHvGHUMlU0noes698zEpm3X2iWrRmLYey6zkvTUGOHEYiPzeKVbL/jmqAFV9J+WPYFLmqy
eP5n0I+/c1Z6e6J46S5CsToAl/ZXqmN3IO3sd0+J3UvcOSPuvjA7FBV9AWqa3a1uPT5kuTqVqFl3
bd/thsSrHmbk1qO+ZV1bUVwjr+oPOFiiDbm0dq+Z5UAs1iw/VI4/zVEqEw88Ex5YO+EljMkp6s5D
U8ju6g9p9sePkuIL8n7zhBVBbTWljwfyPvNdkU70PAW8LSYOuxgwU9Xk1Q/RhY6WqFLt7cBP+OXb
D2QKM37iST/HrrDW9MeFmx63bIgz8WCn+M9kVbJOXGibqOqk+iKVZsJNY+ErX4veLx6yGOf1amL8
fWy5E955aRicm2WYd7ysM9LJS7cNVNkFyN45MgbdmMnZK9nS14lpSGWGr9x7i4deo/vJcWDP6jGc
woxQ/nyuUM+2bj82F39eCE0UPLFrzwq5h0Pi8659jyoIwvYGR4/qdWbyv5YV9vvFc3jvZGYOyAfo
vF0jWlnfA0mhc1qSve+8Bvq/Wtphx/uVMFEom98QS+Xaj23ImqpTrzzWqC5THN4MsvBAZurEq57s
bRZpjMBT5F51WOgtmmK+omqiuTQBd7eA69AeiSf7g3ODlJpMCiItMITWHlPLPkeQWTEPcSsMWHJm
eXkLvAz5Dl9qfNatFO+jNoYbNkimJvRwEPKZ6yas4RFFVEcLmX6XYD5dWdorMMcsAUoNGWAmEAaL
lQXk/gsXXLozrhwI13LGTOPofsalOx5tTcYuC+sK+0BU/817+yqRvLD9z92lwgSyySPsu64/VLuY
vf3ZWRR+fMd5aoOhOPiljI4VK82PMNevkEHjXZwOhKzzMmdtHdvpRln1HbUw0THz6nIH9a7eNwmr
mBD71zMFGvk+CfX47PjqY6AHj9URN/tBd8XOqkjVtFMNeKSmklDnE+ZpXXVPWVaUh0DlJK+1ZFgo
C31V6pb5J746o0nTTmqmpMasTx6KkqHxpNvKwrdZTR8DATFFrxTRHBGe/ht757EkN5p253v595gA
8BkACkmL9KayqrIczQZRNAXvPZbSSpcirXRPuhE94HRIZPUEGb/WmkVPNNlkIZGffd9znhMGmWaS
55/aMQo5Fc7mHq+8TleuGDCjiNExoT/M5S7WBFfQULfOYRQ9tD3dWsqAvj5aCYPYju3HxHPLpzyS
CIZxXX5k+f2cO6ra01gd11JztjEsd0NzYEBR4Ypdp5tXBth0MDkdbvUki4cJ2e+mSHnXNA/zHeSO
5N7ycEZ1fZ5dZBfKDYeBem2MJZY05W4CIaeTarN+bdbL/TeT8i2lAo9iAJXONCMipoQoCcZrCF80
2MZJ4frYcx6mP8wCtiR5xOc8TY1DG4v5MM3jtG2mUnHlsBEPJCXevGHIyeOzwHTsIAF0JyvtCXND
N9Wj1qE0sULsDuCvDV5NZywvbjkktF70sBWpVz1yy7dQI3k/hvWQcTUi4YAkq6vA3HSl/m88YuCX
+xk23bk1G7iTPjGltD8gnqV+/dwYoffqdUN5jQruidxQuSJDL4HTjfjmU2tkyS5OQTU0RJA+llCU
iYpCdi6b6StKHwJu7TLpKSVUOF6ovGUbFdDnW5U1DUTC4pMr/9H4QGXdObC4xkekN/kzl93+0+RO
5r3vV+qcyFKQphlkd02o49NUcAhJO0FZADHaviFx59YhRe0siFOV3As+0PUOP7t2ighhxM/N1HRg
EY5yG4A2O81iltei6J4Kq72CoJErkibHM2SM6hXkyXxim+kOpKvJT1GH7SKNvPKOULjxpWSyfCih
mHDlqDnVhYglzxwO0MCj1MUkmF6ymGW35h79qkMOBMCLaNkZ1aV3ZL8vJh2c9QxCJTe5aOcu4g/g
7qThZuqajbHcjV6b7MaMXkrgp2rX4Lb6yA1lvOB3wMaKjKPet6zDp9J0p0uLDWj22gAkuM3aGYCO
jUbo4V4bnkdtyBtwasGxo9i5HorOJXoKIVUZCH/jYbjtrcbfhs78XIq82raIX1mlKCfQY7hjwR6+
z7VGp2UFZb6PoAgdRRmhupZIk6RU1hGZ9b0EJrdHLNu/RCF8Z6tcNhXtjZvYR3NNmGC1JziseCo8
fY0FFhpktsHRnjgjY8B018IV2S4qbW9b0tm60AytVsXAvd4wze6+dhwsVnFM2XQ9TB4AKKvW1Qqx
S310u5Q8IE/cOoVapmzJNLbIYzbpz5MhPMGoM8IVwU/6QBJhfZjJ3d2kFXbHjkYtzM2AJIGxma6z
50RXzPYIaw1Ef6Mlag4aoTrx4fNT1pQurf6y4uBpP6myEVvP7E6RReQdmvXuyWuxaLoD2axoOLMH
0yRQ2U1CEmiQ5HweiE5Z5zCMSQ7xjTMQpsYhYUxHB/SYwV1DN3dP9+JbPVvh2TfyaWupEiM8193v
iSPExrcKwKyaAuEJUtLiaeLQhvOY1jJFS29HMlNxhqcxcNrs5EcbX/JrOiOh2MGktDbUbZo9Lf7q
vq7L+JZlF0F/7iTwRVgtg4MTJOk2oPD5xaTuv05HQ21zlWuON20PIWbIs1U11f3J5BANR6SIN+ak
PUTwQ35Kzab7gOuGfA/OIfdNWFn71MrrPV17/4Ut2d8aQievqLmaLcku2aqAWMlZvogxgY/WoTf9
eWNE2CkqV6AJJVmGLlzZcmHE+HoT0lM+y0Gbe6pZiAMRnp3ojV/KSfbbvNX+nVfTvMvtKIflQxgq
zIjERErl835Bn8sNcIBP1FKCHXENPSh1KnbYvLzsPhojC5Fn2Kkt/bJpo4V6rcPSusGzFO0q2uFY
fGbhbiFF9whBq/zjFFsTZq8uOdg1AAliqdp7NebRZSLVatcQgbqekRvsZBniaPdV/3mSJEqR8O0g
NMJgeDc6s00rEN0exK3iSf7Ql9ZmWl9Sx+tofkTqrlpywNhAgGQBvf6mU2GT8vYDddbMyaeceOOH
Jna/+Y4932QjNgmaZcARSzI99w5RVLsIr/rWBg2C7V84F11XqKM8YpeNHH8JABO3pp4zVCgw/dxF
amcYV2qm1MFsPVxVPEWPYU/Nh6qz2putBFYQ5jpaxxkhGKUmLpAMS/M6gEk4w/Z0H8JuHm9oSi5C
XlJVh8phd/Z6OC9GkDg7snzDnQdYZ6GqwDorew9DL8ApL471Z2zN7RLwUyOFmxH5+ZVg57NFHQDS
sFDqp0sDEyfangyn4RkgAbtHIISBXgY6FzT70L9qg6u6QZhxAtNkKXMmpEmwJwnD/VYYrH9LbZfa
BAUdfTR9mvCbwafqChQfZ6cwhbnplaW2pDl3jwAAx+rQuGM04hKjDOeicYaIxbV2tjOsSjHQjwkp
8dbOumjeTU7ffNEZwlCOoZ31amD5e9JTIuMVO83wDJinoRRVuHs9jem5shBKmCBtsKjUI6doXA8p
kk5lclLISjTb1fQ64Pe6xeybX+yJwLTGIAXI7cx0m8k5/V4Ybf/NRB/OYzjW5yBq4fxRYb5KCDxY
cUfD4uJeW3soB+qFoFUicUMp7szK6Qm2G4MjykDK452kYGwBbUCbNot93GG4JXOtxrbeXN20cHaS
0ck9VY0roQsiWXz7c6ZJoiwjDh19YOYfGiyPyCnJIMnQ/q/bar5JpMn9REC9akvxLUFacOBo+92N
uhu6j+WaqtFXt+5uEYmiC50hi9zT35erWFsIDxIExmGcmCB35mRD1dk+JXqud5rxiKK171bx1Ok1
6ipKC+4LKcmHbmRz5cxSEvdYnErSRlGuG1cbmDDgwPwJpfcGL+WXIABRUwhOTvOsPuEF+xaESUKx
wrU4gcTlDhNbdjdZOJcHyRvnGFHBKoJFsZpE+2g0no+cfTEoDvABL4MRBzsDS9jJ0wn3KmBMby3Z
bh/mGGGzYtHUgrJ42FHU6ckRR9sdRVz7c1ETcams16liueBirvYs24/0A+UaWWy8iGwuc1txDjQb
0ziOTXKFCJFw82kXiJv5sc6D8QXBQYtLSC+d0sXQX1PpqI05uq+HsLwJlPIv2hUau5l8oIb+DB7O
2pWG8awmpW59t7qooZw3zCe8ZtHo3huxey60Od5StnEZadxFx66/JE6Tfm0lC2LnlOPWiako4Fbi
GuR30bEk+mNjT8iw8Fv123ZMwVLFifvZojVPycfj5FYUzXEk+faz6G20zgRcctVWgXMERf8oEuh4
85Qgu64x/Uouewd/LgxKKJONn2Lw7nVgpWeNjB/7T+Lc5cobNpywmgdTdQYa+Hh4KCSTcphBwpHA
3L74MbHLXIXSD0NCLY4iNL7NzBqorqkMVxcte2LRyS2ut5VtL0GMWbwa8T/tsW9OCMToyyITkJ9d
iwJrMSl+YJtSbLBy40tDSeCqUS5sSEzG4u1RRoN52NwHMpvxEUzxxfXV8BRYnrHviB3DeymW0JhJ
ix0ZIz/W8/AQVF58P7hht0XcWx9irsdPNKKKPTrS6tQKJzq0noaAABzjmIECvPhFcjPoBjOyS0Ua
XT+53Gbm39Qpormu5zCZ87G+z67zRvMmXGFydkBXOZgwXCvwtqNhxA8ozVjX4k6juBr85wx72CaJ
q4bvAEzl2prr4QkRHahHGtneuUnBEzCMmQn9ZI1o2SzWY1+qS58qolCBeHcVyM942iQj4lFOyMgt
ZFxqznZGvbJp1lxoglF0yXL3Nk2UjQ4E2dU6KJpPTiuKKxtJAGrYBRHksqts5UgVyexHytxN59yb
wmVx0CTdrPzAizd5Xl7wT1CLM7tbaSePgKj9e9X41pmCBKYcr2gz5OFFdEtdF9IHeKyntpzaHSDN
mUXMiJKtcKt+63RU11cij54wJDx2fprBp/TaWz4I5yOEjZy10xGPeaCobmYTQTSIaop9H3USwnVa
XJCrqENiZ9zg6VNdXLKF7r3Wla92aFDxpOQxPsQkUa4ADFQQ74Ye17bv3NB1yTgBdoLKLGZmY+pe
EZfCFkH5Wb9QmIrJfxQ6vGt11G+U3RAeXLIVrrwSH2pSTPkBrRKGjbn0MDHaYlPbMA9Sir9EDQ/x
tYazlKxQdeiDW9nXorSGr1WG+XBCWU71rP7o2VxGVqaqKsruzRcoNsOR691EMZJDkuOl10rT9y1V
cbEVp30ynvt7hnrarbmswn2xCQ0erj0/iOJNXWfEfc/xMHsbChr2wgARuFOuNJWzhxgxi76SDiGe
uNhreZMj8PgAmdOvo3UV9Hmxbtg2LfJEUMOskXu37dcM6S8UG3ugB+MqkPC72cE1/TGvOhAx7VTL
6hBHKZrpQNYWfAFUnV+tLPFo0ra239/L3uJcGPr2Q02gZr3pMqIqd2OB0mMH3G5EG4h0xQSQkQ8x
liPULcGAAqNpURLtGqMtnouaHZ5KZVFtxnHK7+nE5bsCCtwJq4sMjlGVR4gTxwYp4BSG7mfk6hkI
sGng3/MOGgN7j94vX/SHrg0UhifDPVEd664smdQXLBc9mpHZ1bg2q/TRmJrwq6O8a1/OzpeJ5hCO
o8FCmO6SNA1cz8ojF4EMvY6HKNNISnzTn26sYi7phVuNeDJsHCy7mViwYwnDtLtRqV98x/c1XM1e
Met7bmzD0fAddUUyLz9G4SDMY4fB7xpzgU0o+qD3XAFTDN3t7BX9rRzQhZ5MCkwerie3pqoTsja8
CkJMWpy+ftNssc8Spaxj2gqsv1xfU/gsxY7kTSo7QOOS8rYJW4OKVJx1j041K1iJjjT759BrauOY
tjIIwdfIjksaCdoQWjI0/FFTvNkomuKDlrzXWdj9XT8F0T7xOZodrL7JP01sXjuQ2TG36Fale1Xk
QG7zoYsAm0fIjEzf6J8ibagdL8w+t4aJFBad/o50hG9yYEFflkQFeHzHvQ+bo1GpW2Sg+M7aofvC
kRe/r6iXLnOTbuSA+cdmb+DSndS7hu4eaN/BPOSVnC9Y8iQWIJnBlhPTm8dG8JjZHsQ3ZAX6GZ6y
vCYcqr+aepZP8zC4H0wSebeeAYRpNSR0cmHxhTfIFLNTSb/6Ky7VdjfFOZgH3YlhPxFyuKb1rjLw
mGl1A6kTo2FQUflFk0oJyCHG8lvfVNkBPbvzlAzNB9l3LKaiOiFbBPkIyKl6QvKLKw47yBtVT3PT
NMvxarDtT0UxvgYAf86Rtqw3I1btMUzc/n7yQ+o8UcBplxUad2zIYdOOW0rC9aBPMMVQROZMWWRk
w3PGKFq7+P+vE16aQ2hovGPByBAmt9naZIgsEP8jW7A5GVwiZuUxc6wP6RjanytNSAiYzGKHWSt8
GvtJ33o1vrHSo5dS5T7kTTn5B4cMvicn6ecjvZlHjt0AAycgDns0CXzF0exepOHRxer6yT2LSLgH
Rr/ziOLffNYBLUkwoxpv8sQ2G+Wi2HRGiQ826NEwRFUBFCx2zFtUMwJuR9F/cMsmeQrqcLyY9tgj
H+uLCzGez6xINv7MPDx1Gf3Z9dRyZ7WTyqFniJ6cmw4R0L3dAu9cytOzVsVz4nUnc3CcRyPF3T/1
84Nfmd/GKRiAxUQUHUBs1qfcnIH0C+XRXowsRImTv5kpUaDsD3JUIRTiKrpu4OHMc0NZdJPgBjs0
pl6oiwrySCEqvZtZvNYji+5LMvjzrnWKr3Ngs2SwOOKa6bX9ELUwoTXILvySwtkF4Hq65WizTLok
va0KxAAQ68ujGQimVwAyiNVSaPovIT5Oq7K3FJa+1AIiAq3qwlqn6KTXQdvT3J3APxeZag5ML/tA
qxqcwXKITxmId509uw8TRJktZBU4s1pcE9F1L2GaRm8tqFF3jRyp/oYI0r60ZVV8ARMkHgeWgJUh
POupz9v+DZ3C+IbdBfu1EdtLi+9Biq46l3jdbwybaeaRAhbY1n3sdOo58vwtu4LJ8U8AoPS9LyBb
g7VrV+U54hmifQ5iBv1vXm0Mhf5EGPhOCCyxH2JErPegkL5OSfjaO4KiW2p7+WFOkyeiUItdL5rq
nrolTHEg5NGT3wD9xaffbWWpCUAZIYWsEKuL3VKFXRkOLVYoV/WhJvUdQ5DT0A0e6QWMCD4dU+LQ
TUQRnkkM/ogrJITrnsTtC6gVKs8yUU8MjYl9WyZo0zWq7YAVo+orHqmfnZsO/RhFP2Xv3HyWW9Qv
3tY056Je9ZnAIV15SbC1uZVfPOmJ+yqL925L3NwkzOGVUW9sZk5oj3HRJ9vWQ3ESDvxZN/SHgyo4
flhdK19HegYHLRrOV/1owWOjZf4YYJF8pFU0PClq9Meo8aeHuu05IVQYX1ZwOWLgaFEOHoBWwiFO
vY9m4+uT43vyjE0Al1EShN+pflCPDTMjsZb8s5zmSkHg8rdCZgtZJgLOfOP20t+3SX0sSKVwbjDE
J3ejgQnmBhWO3gVRMSW7JuqTFfBL4iXos24YZbSr4E0/Mlr8T21bgHQJ21Dc1Z1uKedJm8a9IUIA
6zSPD7jAnKNVYUVJDKkPBiy1dSni9gZeaxe9EAMbnsw5SDeOW6t9UgbNtvFsdRFtW19yq1f+vqbd
gu2xMnPrlDhJKDF3lENQreJE9j4VJ/o/m942jfE0Vyg3dnRI8oPWznyT2jFYPguTQb/D2CCiT7FJ
NRuCFjiyYd/mkdW+ZW6n9cq3UDetcDNW8VX3gd1e8OeoJwckot7IcO6wT/RcaswXSUCee7WcKRA3
hmZTPIQ0d/to62Vmwge1W2/CcRSMyngaRKTcC2rXLj9LwO79BhCy7W7rJMzaL+1kS+MOLVkaXGnl
DsO2raRsv07S6xNkYJGBM3w2Kh+urOV6OYInapyxidOkzvGKvnolPvo3PJKGj6eJVgzzaT4oTrCn
TkGiw25AWUP2FYYRXIW3uT1CNnTjcR1RXH6kHjPjm0VaeE7rfLo1mfOH0G3qEHx75mGYtlDPwM0O
tlaVOTusVcmmj8zF2i997B32IdcDNUV0OMpKbmJa5W/UkurPjp7EqzJU6lA8w0wIKWYav1OhmL7N
5WCdWtPTr70Fv/g0ZKSr3BcTly1Awn0sTwBHGHNTo+xvZUQUOuJ1c+ugjKJl4y+YUT8xzD2wpekN
UwaFOSl9luspqwW29N5T25H2EbZBVyG0h8m8z4KuPCj2EmiVRQ1cs+9oNzy0EJ3f3FH3x9pKuP5A
e4CHF9WTT4kCISZkUUmZ7arKeWzPIMEd3a1pSqjpTkVlEWzaLI5t+yYch8j+2FVWmhiLY2OMviH6
DKmm2Tquu/7JSHSR3mW9ZUJIyIHndtV9ORswntdxKlOUXKlbdc5tG41OcoKBk3i7oETcHe9ct+0e
pF2aIkZeCK5qWqMTCSj5oyxHFbd1wqjYT8GYfnBqu3E3bdmNDUQEf7ilpI3LjitUVk4PocASpCGS
0EjoP+XF7MQAxXyUBcKjijRt4O7SaN4Cz8iCDyyOafKhabh8maZsCOsdpxrfA9fG4jCQq05dITec
FpkG+ezsmYbAPLLt3aLu72Iwh8kTGiIBUyYu/d64/7f/r82ejt/+0795JJ38Rpr9X/7n//qv/4Os
lR+hK//9xz//288C7eWP/1OfbVjWP6RF8c0DNaocU1jIsP8p0DYc+x/OP7OMLAWTkOLs/1Fou+If
irMKzQbXVIR9mfzWXxJt5f0DbjtqZ8LJXSkQb//n//h1/A/B9+Kv9JPm3b//nIbyLgnLtkhxY+Dw
96BYICVhiUr5KYiq0O3kmSoeLtXYVZ296dyRspCE6OKUG7sJqELfTFlUgNtLGxbc45AJXb34VAvK
P8S6v08W4lmYso7FY5gW1T373bM4SsWNR2rgpbKZ4/E2FWbYnuo2IhMAI1WpLziHGyp+Q8s5KN0H
sEziD1E6uk85VouWskaWFEfD9Yxp7/Ucma+NkUfz8aev+q9X+NtX5gppE7/mSemikHffZWz3o+lQ
8RbphQYCvWmiTQ1anMg4B5DMOcwe6ERBvCcrhCoKnc8QdWVTu8WHf/9jEEjBN0eJnxf27m2JCSUm
dSe6ttTNcg6v8EN2tsggHQhaFM4OvcKoYTHlQemdYxPK5Slox8L98vvneB8+DEzI1p5rw7nBF8Kz
vHsfftwi9ab1dMrQR4bWSRctxSDdonI3AVUEs/1E9iGyd11NdD5yGGblMV5kLNTKzOnm3/84LuNo
ScKySaP0mG4/j+jRU0TzxMI5ITFz8msXiBCEJDVsiooQyRaCXzBzWR3hhDiC7DCFgrkhdSfBlHct
mlhMh98/0rtAYbQi2JgFUm4cFZbJRPv1iVIxRcPoC+fYceYBcV/QAg72MSUVlBcNGroSYWqawvvE
Eqiy+E0BV2Ln/f1T2CxBPzkxEG06Jqw7krBdzAXE3r0bMK1AAW8THXL0Jy/M/c9OjfC4vlFm48Gf
Cn0j4kBvQ4tJolunQ1Ttr0NCJWkITtopAXEAJqriN1PS7lnnU8FdYg2opQDZTbpuGEAaHI1pOget
Y+jXcBzdZluz9S+sfWwAyWsWi375jPBZkld04/yz7bBbupvff9L3I1LQW8YhA/mE4p5p08H/9YUb
Kvao6A0E0Xke4jcAuWk/FUehmoSnzBp2zHQ9B1wz+L20TxEIdhWFM3pGUc3xbm3XdcsH/v1jvRsG
wpFUSChnapYw22JP+PWpsJNF9Ozsfpe1MUIJwwaKdDIQK6T0pgN9S/UAXzylJINaBAfV4E8z41cr
juIBPI90UCyXxPSxgr17LWrwB6cg+WtHX8BqL5ArU5vK8KS+SXsw08vCFG7v68jml51kbF9wkcHu
arC0qGObWd1wE+BYKfcmCx/akNQc509zk3KW/f2bYm/7eaQKl51QWpJNUwgcTOayaf20KTlu2hTc
t1rOXoZ2d1aT2KghqhCSUJ616WPulP34h0n6t0FDoCC2J8ohNpmQtMyXh/rph7apGA1nCLtdR9iV
e9ubc6Sf6cUY6k6GDY09XkARPPZuR+3WqXM/vVS1kngc7MyX9h8Gy4+s7//rm2Ix1SynRFh7JLVR
WHPePY4PKTwZREo5lCLZHbWe3tqinI0zeBGjxeY3hv1Vl3Nd41OuLOgYcXdFz0BzInSd+RPtHV9/
hz+mL3ZjpsZW6tQiaEInMOvDAUP/urcAFJD/QQv237c3LQ9v0T23wWtxcsFn9uu7tKZKDl7RgDVD
Fd9fk2GkXL7mVC32iiO8/TJPKInuKBRHxdsAfayly+Wq778fRj9m1Lt3yOxnxLt8s6w07x5DthKL
AfN8F412dBoTYS0Qattdx8gawYFFwAysbWoiW7lJozYOzkriPyaFCCj5HtixjyiuLhpQxX94svdT
kRekUOdx6kMgy3L1bi0IPdnFWKbLXWirHkFUAwoV6GoVdxz/wzKjbtNOYp9WYd7R4A477oBQPINd
ivfFeYLB7BOwlAVT+ZgW9KXuRtNVyR0jO2tOv3/WH8/y7i2yYEnP4bjpaPx3v36ZHZlTE3Soblc2
TvbcOh1ctSnFTLUKLVSmp8wCGgxRRlsd9GyiQQTCveBgl1zEPjiwPlrwzyIDz5SRSMB1Mtw5g9WN
28C3SFyVFcif1RgbzbH1Zxx9k46A9GVl/zA4ZuVtK5RYtINUr090MFqQAH05GvGF0J+gqfHJBdWj
IyiZr3S5ZB44OaBMHK+4mf4QDryMl3dvgrAZh//xDyblssL/tEQgbqCu5qoGLuE8RVckhwMUuRaW
2r3gy6uO0ayiG8c0sufffwf/8ge7ihuCII4XP+WvP7iFs5D1vejQo2TJAGK1qfYKoXi4MzNaSicZ
mQtct7Ha9u73P/nd/WCZyS66Jmw/HmZQpZeB/NNHdnIbYvXMqkiOpxofs1g5H7yxzr7PVMFJfsIr
Y28oxyeUxdmKZzLY6jT5w3T5Fx+f4wpCfaLF2Q3cdweoQqSBNFxwtikOpGZXdaMF+0RZqAVBHQRY
yDG5UhJLUOb//uP/q5+suLctOxHNbvfdlgkruhxcl5KkJTCcUJhEnPvG7V+uiTHQlFZb12qKbUkc
0J/2oyVH9d1g44IneOnsgCY//Nc3X2DRAeHlNTtHUV7YoP4cl/uP5Z3qssv2HtF4i6jHxpMWUDJI
901vwJRis/Sbc2HCqfp/eBeEh6LMk1JzpH33LcQwJzKCWxrWgSJXNwkMqe94Gr0brJNG+b2vR32a
yXnr/vDtvz83ARRH3G1yavFMGgDvd8K5zM2yVuyEuOcH5GBj7j7Vpd08DWUF3i8ZKvCWdWAXkMU6
yB3b3w+B99dSpoBnQs4UHCalzXny3ayPZiuq7blsdkhYUjhhQU77vYcE72xkjOzLMhMTWWlsl2qC
VKmMO6SZybkY2nk4Cdahu74tvWHlJxUMW2tCZLD7/SP+fZQur4eKrnRdl/9794QdZsrS8EOeMIqm
EXOedqePdFqMo+f5VvPRGEAWbVy3r//w1fyrd8NVHf82Rm/OlfrdmJBZ6HQeqLddSaDAUxe0AP9j
JhNQJyvT6Wax8n5IPJjiKwfo7rnzdH5DA9i+mpmeO1peQGPCG1XQjrA7UgD+sHn9i1OdtxzpeDLO
u9xP321eZdjPsxz8akdqQPK1FyElXDXlybCFp2HqdUR1n1QEaT+IyYqPaeDm/VpYGRiW339Hf19I
veUuguOeChBL+LsHsdsEvUWZIVLzKJYyljM3QgNR2MYxtwsrAs6gTLSQVdwM5Smw/XAbS/pVD79/
DGvZKn5dVjhRYrPgHrqMlvfLigfGRFWeUeEiQIOzqZJOzFsirnz4jGC13A2Z0f2XAsu7szJMWgto
O/CJTGmaXxJEoMQMwpx+HoiW6f605C3v4N2zkTKPJkY57DrclH5d8sIi6yrcVhVaNk7oW0w+6Y1h
TvVtBQsPo5zKnrs2zp/hjE4lqM0WGXsQq3xvFbgz66iCdfyH1/W3xYcLk2cJJTiJS8px7x5pNPui
pAKNiR3aLDbApqiffa+hJ6gs2oVggFwcbamOvhAmOV6IBQRsoLW5NGuyIoYBVKEc2PUsztW6GB1y
dyU1+G2bFLhQ5gwAc9fZnv+n5/7b7sFGqZ0f37TGnvW+OmRPGOTZD4j2GDR9no2TDVn03FldhgCO
kFjnoR3HcvwGaihPXinCu+F9LqDmfFKJhSTTzoQxDas/vM2/PxXncM21wlzqe0TS//oFyzIvEVVn
pKCZReEYK8LWSE1HJ1O50Z3tpy79kq4xDHb3iXPhS0p1vH+YkWkQfupkWBfbHV2GvHj8/YPZyzr1
y8ijoMpOa7K+k/fpvS/R5BpGF4oOf6uMvC7h4XGjo/Ipgh7x3Yq2kpJwhCHC0vMDKZ685qY9UD2Y
6HE1KEUUvxSbJRUNeivJLX9uVIfSalV7U0bDIE8TdnXiMn1jjMcDBuTY/Ka1W/GjKtS6RvaHTetv
O4JroSuWbJhwHTSz6dcXPc1eRPEWZM3s8tfviohYwLPR5n69TdCpoS7xfTI6150zF/n59y/Te78r
SN6hs9QXLJYZDgzmu13Bt+tRsJjE+6msxti7GxMalXi9B2Pk/2LuWEgkR8Mb+vFzJHrp9EcSp+aq
IJMhhnlXDbr9NPyoGcX0o+O3UPYD48TqwqVI1kUpKNe1YY6BGR9Mok/GDiOiiQACJi9r98uYj0X8
Jhxgck8BVk71Kabtyt9AlVQ/NjLQscsDmNUEpijjKuY/ZnPv++0a/Fc+vwjkcvDtvCRFErVFf+/R
4c/iojaZ3EnLXwsrsY6Ndk1a2MR/QvPMrMqdSdZlCoCQ+D7++ARkjuIW6+Xyo31Ftpy7oSnv0x3K
HPJNwDlzr+q8bYR1jKGDfYj6VBm6S00MR82Shyn8oGmifYDtmMFCBT/X40PWO3oYN/Sh+ulzlzVT
+8EqgsnKT1JTXGIRR5bGXzWamtixPY0fgqLXgevZRFezkku5HkK74mNkFRFsC5HZSBqgsXhgefCu
95bfKxPd6NtaQXfl17jeWeqAasNr5mOCzdcJdg4ve0zvjEzrQVwNIFO2ucdbADCcGDnp+0RWGFLh
+OP7gcOkz4NhM8PuTavn9Hz719NGFQPJ2s0wJKjBEWmtCOWDwDXYZF12Oppf/IlSiwMfIbQMtYpz
har8BqQzqpETwygdirM5NtQYVeT1aMJ9ZIdlsgu62ArwnRVo2GjUURXl1Y90bnnnpiFjXmxIK7bj
xl+3fOIeqt38QsmgYYZjCojfvCCO+Z7Kv+Z+MYR86UkDNq0A514tE/ivfyvgBPKCnGjK+PTaRs/x
YgOzUA/wrtL5pS/zur316Py9aVoDzXPqzkP5GvW5Od6U1pghB+YqSYDdprLmUHaraPBCvssuwanZ
QjaB1yPoHObOq6xUZVwtOFR8rLGalm+rBlecvFppbqpnQpNdtQMS3Q+bLseN+kIKVcwjQ29anpyQ
m6l4dQof4zeCFzA85bVErJh4exRmWKtWMZznkl7k6LjMihazEENYtgGFo5XrBhWiJm+OoPLbeJuo
mCZDgKPnZMocbenFLjwfPE0EYpmoqixNi/PU4gGL6AvTCr3vVYy2cAuGonVNYlJ6TBhVb7RAm6n8
zSSBV54yoFfXSrAqhBbFXqApOTvL00B/uXix8Eqj3W9JeQLbELXoTVa4SgrxGfn18sjwa8ie3IwF
wOuZKNJ+yLoTlyU+486pIjJHN6hTVP9gpmXAGp+rKpnBf7Q573qYU8aBbcrlP5MVg4dKjVSFVd67
xIkxBIm/0fyiJaMAf1+kwT0atzhhiuhhRsDFW4py7chD7AOp8bYOBCIGm/IJjEYA2BO3y0c1vCR+
++csE22//CHJ5Zl5a88eMJtHHNJkBa4oNpbJa5fFi7hVhdHEXGGJWb70SPr1sqwVGKTe4joW8UeL
HLkKvQdwhc89S5+oN4heUu8QS9zND3lvo9bJ4AwzrOH8u/b3BSurGEdBsMyLcbF3vAU0EoB0REmr
iewts37Z7YbAhYPSxdQQr16FM+2ltEHK7K2KojH4+JAK47SSopjiR1bA3nuwoC/yO9jX5v/N2Zks
x41ka/pV2nrdKHOMDix6EyMoStREjRuYpJQwzzN2bf3i/TnJe4sBhkW0qrIsM5WiwgMO9+PHz/kH
HNsj0t3ydVBzB0IX7fE9LXZFOwYb9QHR8i0y+Rz4jw8cg5f3ho0d66P3BoeKmv5fZlX9LwlFuv8C
iCyW+s42RxqDLSqckEIwBaqWYg9Itq/2Vsga+qcE3qW90ZumQAOKtqHbvO9aLwPwU01OBFND65FT
baFn3aYd0HnEazNkm5C8pG12B2hAp5cVBCma2w3gzhE2fBUH4WcrpMuPkRtUfd7K45Yw4eX8d0+D
+SsMje68EU6f4kUqW8slaqCNQjlo1D4a0QjA6dCroZrgpwA/BNx/KNVR6aIOON92Mm7SH/jOq2U4
FX1t34Qp6PgBazmguh9AqaAPgADejM6oT5Ve9TVG+B1MaG53pZ0ByKRk3BNYlg4onYNo02sTicr4
NQu2qG8alEiR3tYBl1OfG0ssHqWnuWxoa0zo+m4jnI0Zomo7g2PO5CxCBL3wQCJQRX082Egu7Gk4
RhVyeS1lSrRN32X1FIw/F3R8maOnXMnSAxWun87yNEsCEkw0HdU+imbkPfI9e191iJ6OXzRTVKLw
dEgYgR2yNRsdC4h8/5h44f6tzquhMGv+mOzg2XCk9aXaE2LR1Vmc1LE6VNHaUudnEYQxryvrIFgy
VWhrqS31eOqVphEH4Eom1AqM/+rVOVqk4qZEohBV87kYDZyXmXUlHvjYJMqK8eGTO0PtKK/ECVlV
K2fVeEIRQGMukwyxsT9drlQMd5ADeU/bxgG1/Md2oqgNP8xwCbPmExaQteZsR5GW9SGCPIlKR2O1
I7uydrWQaGs95qX0xyceuAlHr5h3LXvQNV8l8GU5B7uubggQk2aV/AFJy4AzRHQ2Ta+tCFqVU+iP
R18qc7VuyGvU1oux29DQCUbVXUWgxxFkKgrL3smZooPY55jfcYDaYZ6m0N3NqQq5GUKu4r3kUH7q
7lNqoKSZfW6gtjENCEJpIvkeGYGa9XqRDeFyizBKUEIAsBekkvS7Pjfchtg4oBlOvlPq6liGGE1d
5wACNedH5iHVeeki9dRTkFEr9WE8iRzLRyTUXPR3Rg3DNPmxFLXZ6G/DwsZN8LYErCkAXg2jxqdj
VNKheY8wMzTUh5kqkChg/CjDceB7rAE0yz4/pQVw9WKcLBHc7z/NYGrYjBYKTapQnXEl3Vog5pjl
GIKK+tKVpXJCUyEkAPdElkkPNU4ijn38STomuZsdlNVunnKP2GhKfh52k3rIHNmksPw4NrDpPjRu
jcvPq8HLwQqyVtQHBih68Th2j94SDBb24ERqBfa/NRw66gQM5Elm+BeeWhXo06rmZVyb6qs9fYTM
SXbLm6bqSr6abbYdPzlHbc4W0eqo5GP0MsbPe1eaSd0Mb8rH9VwgW6PWsyfULnoChFQRRLpua+bg
c+9M+CdqONAQfGRK6YN2CXrvRfIH09CmNnZk+OECq6621WMmWdNhQgiLJzVusyxs46hR9lgCtS9T
k+EdeX8Zf5aD1hRfvQiu12/pMR6CT4WwuqOn/LS/WlUm6OvXsLVCNFlQuakGH1FvzCXsPLPx1m1w
qrJ3Ca2e9EsSiRqRoQkNKTAuUU2ZE8WftvX6d2W6LPOXGtsnrC/6JkIlDt5dapCGAdcj53oTdSnX
Drgudql0f8sZHt+eBe1G2acpnA3+gWUqYmvYMKdZP+0klhPSQx1ryCekMmkyeVDmzGyud2nGggKm
GtmKgd/h2PFP3EUDeqs19mpBvWFuUqm/7gBwJdUHpANrkR08DNrs7q3lpRhvHauhDHSCHVpa73Wd
glXnp16rxkePw52SPcre6ldWpleWj8Bymmv73DD6HCtcUIOuP9Wd22IwiNMXTrAkcpGJn1vbpHGw
hQhg1fqB3mAwc0YWCBD7uPUIvhvwVZAJMR7pqM41mxwFd61500wIr0M6ZHmriJeUHOBoo6us+Slk
VzGe8ORRnJ8ZkdjBKYtVOjgeruydm8zJj7at7KjAABVZLB2vLyR4Pyb5XImI4JyF+B/DGfC+JEbq
8mYxdpD4eEKR03N0BPRsVLLIUmRQyrTKrpAolPHYuV/cRWfdOHHQIAprhUjhQQfqVboK+lBd28zH
Qw5WqdqORjLPPIL5+COFCC3cNtp8QS5yRytWXcq4gLSEjMe7qd0U6rOsVoB6aAqb3ZsUk7lMKD9M
Vntg0YIf3bBQSCaXh+tJ4iUP50LGn7ntK1Od9eZMWQStZVPddA0rVKe3Q1jroTbORlBOBwq/6C/d
PYULQBjK6qFHbZhAQeIXNHDbSrqYUfMaegSeQh+4J8Ia3qAqmRTNNtVREil3jRxUaJ9bkMmz8kJX
B7B0Q3Yq8UoS2aPRNoLuezA7DgIuTpk+5KSQGfmaT3gJ4ZRcs8zQVQHPHXvJmdEOgif0qn5gThEA
V2CRJNcQV8NlzEJlDxRwFc3u0QNVNu3LXhT1e7Mzwd2jYMa0ETVYNbaAmcq5qldgN//rGC8cLAar
www7Xs3L4zVGa9tQrzeO47TFrmldKKR0iDoim1g8Vhmiu/ghVwezBMTlG49hOSZv5YL0mDhjHULJ
psGWhRhZoCFAPMsfQ14XZR75zNPhGmBGy8CpqyFMj4Idfq0IfAXuwhpGUkJlPnGHynO5M5GSZpYN
N1RBFUiqOgHDAAB4eVPSrVEXitngiphHpio16NOkTjq3j3sOCLfVVaIlagOReWQ7NC+6HasZ4Ybv
s+ZN43K0meBp3LFCXO8j2nwdwFf0r0T4uw/bLvjo4a2A0idIXTzNh0QbIAt7rB/0EK0ICaRtSIlC
b3xKdKn7mzKBQMwvqKfvkKgUDioKeY1HK8cr8AbeUjB/rtDyQxjAWczlCC7fXO5JrZZaO7alZ0/x
q5lCcx3vmhTs92fcOzTxzUDmsNjj62rEGsVlb0TXLtT7Fmtr9OMQmMKja8ELKEb+3/Wpe2vI0eM4
NIPPLyfsS4NsMm60oquTn9BzdLoJSymPhTl5dfGqy5bBuVm6QRs+gv/vg7cDlBX2ZVug7OMdJwD2
4Z8A+fAQoH7rFunOArKCWGCSpbAd55KIBWU/r0SBAXfHmR7jJ4vn8FHoE5IZ1MiYOZJH6dDmxaRE
6NlrO6rb5efTjespyyYNUFnPY5Hg8b6imYE6cBHb4VYZIto830qTy3uxkyV+sMY2qjCyrg7gcdVF
PeR5sUB+WP/TYw4FT1/tqmleKDdilpSyPGLAl+mPx/sFTHeVaj7luU9bQtqDSqtrkau1qJldLb5R
Nqh+1sMcQ3qaLfXeD+hBVOO8tWWfV8bGAAs0ELQNlxW2i+ACMS7xRaXWCEaoaIF2Y5O87iiRJW9x
GIjgfWBYUeav8B5wUmcH1FmFDGq66h4EAxJW0dGzqonNn5Z5oC4zgeAqWdWpjoyD6HUvBRyJVjqf
DnIhYM9gx6GHf4hLGaFrqRDG2qfoTE4xvm/TmN2zpRwoDEAdGzFuWhukyE1gzfl4xwvEpSJEsx39
u1iYC/5yHXr4Yg/6cmrxxfL69je5RJ/8jNy6Tj7HiSdYhihmdMnPLtEUph4iZIQjJk3Hxuq3/SLU
fSqeR4V7WgokMb5XY67KX1NRVg7AefRUk2OATiQ/Z81CvS6BUju/KqtB6Kzyh+KRpJcP0aQtQDgm
UC7AXlNiqCdBIG3IGMiN6hj6KhQOt3HuOiyj+AXkE/TbD08xjB3nUp6I2gGHEBQTsJra4foaYC+g
242W5e9qWpG8MOfxHOqFmfN1ssd0vhGmum0Es1ThCwNXclEbSS9eGeQOpBhQaHw8pFXRiWkvU7UG
Ut2mDOKMRu80x9kWQBcpmrqYshQQZtTk1KLkfec9GXWwMVpTFTRqp2pbBqOzhzvSJM2hx8HMngIW
5vQEHqQIjP8EHnszi6dccAlD5bL3Ulg482MNIBcFFRNdx9nlh4aiKNqIhY4m+tbTkRe/cbthEF/w
iqHiDtCycu4k4jtMm5uRY92Hlg7C/+lMFQWavOTlI0DPeR/IoJp/BlZY6/0edflRTVo498z1SF+E
xyblVtMURJNGZNYEuxwCJtpo1ZYjUJ2ajW7MHaemaVEM3krNyJkMETc6xo9tivZGsYe2EGgtfwDp
vfH2CdpIM1ZlGhQgYD4TKh9redRhyRy6Tqog8nRZDIeg5UqR9w6MdFSQRxgT0G2Qzf3JBp2d+Sjh
krmkyfMcEE6a1h5VdShsqYj5sVGNvBe9Mx10kymNuqGB+kWi/lG4Jd+JYl5tWwVrCM4LNSMAHDxC
qCGUg2lmXPDeYwSe+YUWFShAvIllPORdvZ0fKzVxCmHsNfNeVndZR73v9xJnoSD30qflDnVvlKi2
iOfiMvHloaPwVxLw92XO/x9k439ReeSiGHUPOPd//+r4u7z7kf9uL/7Qm/gXiK3yT7f+KfVt/vuz
gNA/fbvdj+7HyS8Q54m7+X3/u5k//G777PFbgL5XP/n/+5v/4/fDp9zP1e///T9/lZA21afB5Cqe
swgsuo0XSAj/9/9AQlj//BPrwHFgHbieAo8YYHaeCAeAZ/5lWZ5rAUcWJtBbBgDwqYTfNV3+i98x
AViAs4GkqlCXT4wDzXb+ZQNDBAcBkhlcnzD/hnOgeqb/brY5AuoCkDySMwuijoFC/WlzypRYHmms
mVudtB46vIts3vuuwbrrExSoUv8UhUn589nUvHv89Oegff209egASbV0mu9gKfEcAVizauTCzQ/z
IMyob23ehpsPX17ffXx/DWJ92uN/Ocbqwbx5gCRpp+6rdPP1+324eR1sruEZTtv3L4dYN/acivzJ
Y4h2//7rm/t3ye7dsv2Gnd+1Vu1pR/TlQOpZnwG/am5rsz0z0C0qULv7aMfD5LviWp/6tL/+Yhj7
Rasw0kEq8VpgxO6q8igpVhYLtHujop7fbAEOYibue/Ij5bCtyJHKmextgNhfhz63ab1Kodb31TXM
0ZU3aavV9Ozp0XZ+mubl8Pattz3eNRvvrwAhL59cgSGeDVHPwh6CjCfPN9+j7X23uSNQX5lehc57
ttNY8ZAOAJ0Y0tOBCXvW6RiU5xBR9yQqouie7zWApMiimfScQ02+u7zBTjvOwLUZygHcAk4UwA0E
jNVQWoCaMaXsI1Ym5T0y/68K5Ez9ERmtVxiIdJsurcWVRboKJCCddFNISDgGXpmEE7VZnk1hOiv8
lWOjRtLqAKWFqgPAKNxR7ED8zpDx8fIzmuv5VAOCnVfBxHpAg50OGGhJbTSGwYAojG6MxnL2CFk7
W+Tk5a6vRgo8aQ2XN4kghHe1vLXtpvJbfXS3KUL3hzDtxh9VRRq67UDNboOqcHdZTL676ZEZ31HX
Sz5oTo5Ou517bzBXh77LBcAPwZ0eAaIgU98O8sby9PxWaWPvLRtVZDq49cE2kCScpYj2tGd0/i3P
9hUE4sPlOVBL5vmSMiwa+xK6Dw11ar5raDfFTJnnvRce8LsXBy/LskNZjsPfjmJLRzdJVRwToJJj
rsMcQuZBKkACzU5ubEf6ZodG65sro7x4nZ4uLJBrDohGiK5itcsxIkgNe86tQ9d5Db2/Ap3y2h4/
9o7U/cvTdmYo5FBIVjmVOWbt1dGAuHQusdZG9SxURmiM/AnFj37vLlb/4e+HguUDchTILkSY1a5A
e8TFmFxYh0UPQc1gerzT0cQHah55V+LLi8VAns35TfuV16XbxmoCE6Og2RlHzgHwuA3WpBp3iL1H
V7b5OrTgROMJMHwKs0Z64q5CS9D2WN6OXu8jW20oF10cPpvMiv9kcO1HCpey+ui1g5ddidCrswkL
TwaEPQDS26MXrJx1nocXYVA17qC2H8MwxDUUqbvma0ZjIT0UIo6/dLZsvsXkWjWyRa1x7XxYBzeF
45Q2cDi4YwZo29WKyXMjqgbF+FXOc6ikhiWlIyqxEl2FJhUfjEF5X19eOuuZpuENW80UZICACTxr
9cRuDrKbBrhzHCjB+0Td8GvljED38VK4Xdyl3JPCdle2xnoRgXzSOTT4H4EFT6/V67XzAJdR2y19
HARwhRGINtUotb+5/GjrDfgwiiLTKOYTqKTVrtC5ms5swNKvuza/1TG5QyYIs6q0nbS/3BUMZWCh
RIKNSqk01slDONg6zEweyGk8Gh1Sh/q9LMP+rx9IIbwIxUJRl9zVu8KGGDRmVFT+CH6UJKnFiAhw
KfcwpKKJQ1eIAC/njzPdVtq4Jkj8F0j43oVxkhrd5I84+eAhaEa3rpmjA4xH0BUi8MsFAQrU5hrC
1gO8to4qS496VWQ76FsHQXNnB1lzFJU3XUmlz43iuTA8FSwYiRnjdHfDEhahBDrl00TQDh0WgL5W
Fz8vv6Qzg9jUCqWO4BkcLkNt8mcZStux2OBgjX5V6sBsR8TPEDaI+j+Xh3kRK5gtoH4Ig5KecLdb
rYXSnabaog/ia6zJt6gaBK8N0dSIzaJI387T/OvyeKv0mFUA/YW3A15SOi63xtPH0m0wM/1cTr5T
WOF7EHHaXkcLkaJ/XgPdGVPUD9BWwnjYuUEztrzy6s6sReCt0OM5F7g/CvX7z2Y1JV7KyBhGH9ca
bR9UFJE3YyQQ1qaD+unyo555g5IlzxYjJAphre9Bs8C2YNBHP8T1M0OiyYPBGorYvBJ6zz0TvEOY
3KjiwPNZLcegQlAkMb3Zn2ar+MGMytZ3qa3pR0xNzfLm8lOtr8MwOCxmD0ayOlUVhP90Ctu472Jp
ot5OJ9x0D1Hm1O47oYXl5yLUtLtlKfL2W5J77v0YuO6HoinRE64jgcATLodeciU66y9WsGMbkOlB
TXl4a5kPkNJnrzSckF9LRiH8kHkYNkYMeuioyUJmB+hHOLcBKrQR5ca1od4R3imUpZGDc4oF70Ii
qUb1/pDZdKOoUi9JtouSTvush/H8zpgKANCX5+/FBuDrotjArUPnlH4xfdQ0kx67rNlPoOj/gzq2
wDHH6JHTQ8vwdsQY5eDlbvuml6Pc0/YZr0TjFwe1Gt8F5AsOnqLG+mInKS7CIKhnH7cfqrAAcrb6
OMRHM8+br1Cr49cFz35l0bxYogxK5cbEZVBAJ/RWawYJ624yCm324zgZvqdYWPVb8EioISNW2F4j
AZ8dDcqPQ/rngMlWv/9sRVRjilqQY89+McTDjUwwq9qEbS0xWDXEleV3bjqhQhA6FcXOXec9bHuU
QJEL8jMl1Ntz5SJMzzGySaAf9qU0pv0kJZZOl1fRQ2rz/DLFRufWTFkK6jFUdHOV4wFIjRbZTrO/
lF1D6yDK+qNBM+AdzbHR2qIw5GegvapKpl8E2Mu31uRgNoimH1Kb5gZ9z/iNzrUl22q0p40ridm5
PUkaCGIfvL5Dlnb6BlD107JR4G80W52N+H0732d9qKFc1nXNrQnY+cPl+Tj3GjyKgrZLCqXqFqcD
BjLB72zMhW/jR7tNsYl5U5tt+amy6nDfN3g9lKOjXYGrnx2UQEhx04Jl56wGxX990GzAF36djai4
FsDT9/Zg1B+NuIlQ6xHIuidViSLR5Yc9s74pXkD9VTk+RdpV5WuqDS5VmPr4wHwrC0VCr9X2SOq7
/zi83C+XBzvzkCY5KQROyyNfNFcHtjZ5AYYrcvajVGisoi7LAFY6/d0YtcWe79EjRdy3f5vIqXOM
jFFxN3XP8VZnp4OLU2Y2zuIL6qLVBuieck0aExnuLz/ei0P6YSCisZpIlyP0dOEgLGeaGRVlsGwC
BwPgV342if7KGzs3Cvxnj4cCP+GuS8hoXcpJB3Hsd8oHfmcHYyF2QJLz/MpAK5IWBRaeBwYFNTvL
9bgXrXZe4WSehriW7gPlE9N+aehV7SoPGBV0fTV9OnXg+xY7LXenjMOR0G/AZm3RhJbRthszITei
wjDBj9HSb658vXPzQIYuJaGZgpij4sazyIydEB7veaUjeufSvcNGil65gzbbtfLCuS3yfKDVa+Wu
mgWzyUB2MaGcD7gPqe5qqrMPWG2g5X95Eb247hPikOaALwMZiOx2tSHruuvLMS2IPpqmPLdM7YsD
BOGmnab8IwKQ8i08UMQBctOMrwx9Jp2AmggeHIiecitdPeisBGEzSSyYc6+4t7GBFNum9qYPnAtW
CFzVE69DLZhfAYNH+R9f8+TKNzjzTrne8eyOzt8hKJ6+U2mUfY2+n8ARPkGYsBBtO2Jy2SKTenmW
zwzEyub+qWiILpyr04GKOYM+mHbSF6Ft7TI0XHfQV/K/P7oURx8WIXtIdX1OR2lNxI9QcZB+YGsO
tfscV6fdMMb5LwJRlG7bJbC+Xn6wM4sVsI1FYY33SANtNaQBoa+qo0z6pTbKXYO1196cZ/GKK2Bw
5f5z5mBG3IDlT6bMnXx9TpIZuXrW6RZl6K77nqOm+s70EAreeXWOgURTyqa/kvutiLQPIcnj0gAp
k3oppK7VErVhGMygDS0/N5CzOyA0b8wgAvP0HXjv+nYZi+pDiC/NH6szMUvBC1V/jzOoc1U644G6
uEqauE1TbiRP0JnpVXCkCG/j5pE4/gCzItkiVIMrXqd39XsNyJ5zp4vGLI4u0sPJMe7xOoJcYNi/
0Gn3BEYdnZOwg4oBx4zYTT8nmOsBduEEKW/iBGT+pssa1KMHHH8+F0Xc9Ns4Dox4Fw5WAtijWIKP
pYFRgq7F+Z2IgPV9NZe0MX0v1ae3uSMxC4Hxo8QNKWw5xyisguqgQSowt7OhWeNtlIK/xO2wscYt
oC1M9Ww31/9pmqH7QwIKRB9VEIAEGb5rn2sN8VAWcCflPkYX54PdDxbqiK2Gr2XVtnLYlwaazAON
93mLDkSH6U2hMyUjuLGvvZfLaWtbU4qosD1o7mFiZ4xbBB6nZpunJj40EvjPhwRWbrADuYEHm0YN
zkbgtW6RguMSiCNH7WKIsxTW9F2HK9a9TbDGfDOMNsKy+HQ03wGzYxmWUev60eLI7d4gGoeOOI5q
8+duqPr7CnQVEoftot+beGj+nhvD+uW2nVUfAbiM7x0vq4APTwmYhCUwvHkHGBA3IfQqbfM9ZqxN
uBuAQ75vYqHNEAU7713XVoq9UITBr6joJrkZkqC6Q01ykD7PNHwq+94O3jp9yOlhO4mo91nZ5Hc9
vo4tXBPQhtvGHLVmP9pF/n1EBsA8mq0LrndER3Mf1GP/Dzrfc+j3fAYoCb1FwdbGofeXGyJVvzHr
CtAYeApRbOUy1egvl9hdchr2Roy9MV/o0GJsgwRNwa30vVjwstqg2aGjzjpgQ711UbkLbrQ8mYdt
Z4gRWLA5pO02zCPDB39ZiiOe6GhxlUbemruwhh2wmYbU/FXaoZJW1nWkY1LZDPkrF+j9jynvp1+k
kMvNLFMXqyQdsPnGNurGPDTuFPwMXVH+tEwEnQ5IxGdiKwOhFehNutpXDTxHq8xvm/cVaQRZRC/4
GqyzcO+KbhQAbc0Rx0CcorCQwPYYXzIOyT//a0inEdPf2uT4bNVHz1Q/N+EcI85wOdCeOac9zjnk
fLiJosWnfv9Z+pGYFezEoLV8azSbaAMns06xpJ2ir004jegzgMv1QXaG5LRglK5d/c8cYA9SB0r8
T0f1YJVKw4sOilFUht8RJu8aBZmH4BbtLj+kCqfrIEeM4/m4HtLGWT3khKeRCSTdALyKJeuMfUrG
ye+KPl9gtuAyv+3NTP6M5AzW5fLQ504Xjmf6YoheqFP0dH4tVK5UqmD4cwYSEB17ez62plg+2JUr
j9gFfLs83stHdZRCk6r7cNs01idLUAUF/oKj7S9BDuUsGjRssLx6rPpbLV0wktFae5kO0YIk8l8v
JWlRQ0H2i7IGVfvVmU3TSY9rKNk31Rwm3r7spPkzhIqQbGsxYnqRYwXa73u0PQGzR5F37e55pgyn
uPBKRRJ4tmqin841qsuOhTt9fuPEThT6g+NG9baIUTDamCF59r7jSqdjjRO3JnaPTqUdBqtBJi5p
RffJEkWRXpmSl2kMrTxqWqAFSIFZBqffKNXgjUxZjJtv09KHxuDAu51b3X41NLH74/Kbf7nSGIu9
7NFmkx5XndOx0PWGdyEyTB9ds99HJt4m6Ir1byJr9A62QnVfHu/lSuPOAmSAKadyje7W6XhoQ1tu
nC2YIcRJegQR5G4ce8nfmMmsH+M21TezMNsrO/nMhKoCISJKPCNwjNWgppjAZqAv4RO5szsO8naz
oH62D3shrjzfy9CEDgsBgzWB3smLxkkTRo7s7Nbz8V0wDvhRpK86BN8Pl2fxzFtD/YpdQ7mWTvY6
/9IDjFZB3ADKEYnGERJoH6EODvt4FJhQ4AV4pYpgGLyW01hIJk8/jd4gW4Vq/OlrSyZ4sBO3NmrD
RgnLKnIJf9QzzPoWkpj5vqyL0bkZO4jY21EPguCYRHr0th0b+S6GBgdjecSbYANRQrsHENuGO9xG
8uwNuqUFmgxAP/sjDJTufSK6IbiTxWx961DJ/LSEpEJXpu/MegAIwG2P1h2adOtudjwbpJYIaPuT
MDAG7HR8svdYAUh8tUJ7uqaddXY4BXHg0ELLa30T0lpkmhaQP35V9+68cYsCNhBV4+YevetS++tr
JHAc1ZBE4RKluHVboZ71RpORHvhd3pJehoPzDThrcwVrdGadMwoKvECN6MusezIekt4gpzDRKKFn
koykZtJ/EhOaVVcGeplq8DiuQXeVc0IFxNOVl0prqB2rCjDgjOWyI12GuBS4YHzbPrc3TYBXbYXk
1et4XhAPv7zPzr05VQ7g+sqyR4bmdPCMerEGUyrwhdbF92REnfE1Tczik6E1VnX/94NRGgTjyR0W
wNiq+BEiZT7CetF8+BHaZqghKm3KuhY3g46n5OWxzgQQFj71XYAVZBkvYDfTUqSWPmt+mHn5Lhu6
bidCYzyAkf05sz2uRMUzUZ9mBbhPKmk0fNftZFt03eTluubTGo/eGjABd87iZK/bNCs2RTVoqM7n
zpWVo17OKmYxKLsWQRlkvNdHW4eSxMTZrSGDmDtIHOQCu++01lt7jwrwBA4vHx1vY8bF+EMzAvdo
tO1s/XVpW1JoAf3HU1NbWpcR02JyMJDoNZ/CZa77URkADBtCG5FEXNFmsVu8MGy3LuoaHy+/4nM7
VIIzfqwmgZ05XbtsxWjo21zzM9g+t3myaKhb4l/096O47E0lk6qOpFWu0mrVYiOszZtN50jiAB9o
sHp6r5VXBjq3YtFOJkGj9U2DYvU4zuBhVRJEPA5EkU3idRX2W8M/cItCSNj5NfDtuZ3PtkA7Fdwm
mKfVcJ0XJ1lluh6ImNbaoafQ0n7qnM2cDP/B5qCHrnqvwNJYKqtiimuDQzX6LPD7tAMe1rtJ/15E
uQWSMe9zEKlWxeMltef9fRAgnnr8ZQPpQnz+dIWg1IGW58IzYvHS+ZRlcdPUF+dTNlCfodha7C+v
lTNzylxy3kp6BErN9HQ8O6Oori6TfqbjCGoEerKbI9ek+Ni2VwL3mcVPk4UwKkDYU+RcBW5a+YWp
ZzWWT5g/38HxxVrJGZLj3z+QkiSke0RBzlxf0+BN62NJJu/jgjxh0Jh0e/gt4W8vtIvd5aFWQrqq
+EfqCh8Xxwv+xko5nTyMLxvYUgkaIl5bIkIwyMM0G7hBYeEZoiqAHBqSCsU2C3tQei02zRWS8V8a
cwmPQYZr3OXvc+ZY9rgrEtDU7n9xbUOONs2bSZ3/iPzQKITecsQMd3gVUkfbxlqIvWrjkPEp5bYr
c3FuHaFKzaZU++VFqzgGPgaFjrHptcCPG50JOJRbWKBykU+Yhitr6exw3FEJOwTwF5fx2Ixh7pg2
2aLmVTeRM5lQ7ixnfDdWsx1eGexMmPNsZGZpcblo/a7THey1vNEdeM2LBEoNPxVrXmTcNgHgi02b
Ce/KeGeKymSmdAYBKRv8tc6FHW0YMzjlnt9mS7dsIOCiE9zj0Lfs50A02gGr5TC5pczfppjHtEO5
jwoTO08vn+bsyoZ6uGyvzmy+CrUIPAy4KK5DRDJarZW4VuC3yZhbW5xW+vpVU+Zl9BaBHcqt8Pbc
ADNwbZh2Wpamt0OeTL+d2em/RpWLiHWNEiCeZFOcYHsY6nl+FF0vEX8zzBE25FgHV6LauTemsouH
0rzqTJ5uzAIv2EksUeB7SdP8rjyclQTuod/Ay6GEUCSDbVxZ/y/3HlcxOuVkxR5X2nUokOxzO9Jz
F1DAMtZHqx30b4GN/RvEZDPr9i32yukOUI71cUFg4Zou+svY6gqTFhlHh1D33NWx0SPh7y1B6pJX
mY23nVByk4cURwL9yvl0fiBsUYh3XGXW4N8I5C+ml6706zB0j1qUFTd9Z01XdsDL7c3jcEoAWKPY
wpo7fX9tFjYOniaMkkbZQV8Ga5c3RXQAlzhdWd5nH4grEOQn4IgAH0+HiuYSoROdobIAEI0HP8Cv
jKHfXg7NZx+INILCIVUdsrLTUQDZCkR/HOkjrVLsWk+vt80g0KHRmr/Pkpg7rtIUI3UFSFotBcMM
7XiqRkr9hArEwQTSeV40bZcZA7//4KlckDCc5hx/60Vf5CTYFohEf4mmLzpgIYDYY3t002q8crS9
3NAKYSVRqzWBf5Bwns5fbIMyXJxJAuyC6hzrhYvEdzpu8ZfBSxyc9F8HEJ5J+RIBAwROtq6tBJGJ
XgN9Ar/APRsn6ACZnmxpMcdqcSRzxmsh/8zzsdpNNpWLzgDw0dPnQ4QrInHoCB8yEe96Wt3vubfV
7esgH+xfIigT48pN7MyKhAOhZKvVOwJgfjpiOHZNijIkhmpaP2/iEqt7OvhyN1doyP71MtF5cSQH
pJr6CziX7MoO/BhOnVDH3VeR3bU7WkCTUkEergx1ZjcrXwiddAyCACng6VOlXm06HYeObw5Uabum
TXdTo41X1v25t/VslIfz+1mrBfFqcLxz6/psDcCX2C7T85uH+xm3JX9C9fE/WI0seiriKPCopOf0
qUbSt5luLu+qXAqEckvv/exM8wYme3GwrET8fY3FpbzyYIxC1vOitKi5g6TGV7q+HIJwLxEEOjgA
8uhyTdfYJOqNnGYXFIHhvkKrQPyWws7ps/WYW5EQFMxlI4xtV9GYSi1WZJqjIb7gY+xXLt3nGqbC
zk4a45/La/NMDs/4wBOoggCuo99yOn6HRkdkOsztKBOr8mM9TH979dJbiDC4Etk0w2nLd0iINOPR
bQw81L3JbD/mjtG+qiiR0W0eoyS/so7PpBPEAhCe8FzAVK1zrqKZkx61WEndyZ6rDXgB/U3SBPJH
39ftiJy64bUbFz2BP3qNfNSV0c/tIrpcEF0oscEkXK23XEGjcbL3YGpo7W5CxnkLjVi7uTz15yIQ
iwt1Tng84ENWMT0KJcqLGm0HmdYzkoJFguD2jJjQVP26PNKZhFqRszmpHhhL3BdWL5kttVDgcfFQ
xG16xMx82er0ORwcdDPnm1W0eJfGXjje4KLqfEKBiW5vp11rIp2ZVyiSONTR0+NC8SJLw64Ygs3s
+YUXpXd9Wg2bAbfDT5ef9uwoHCZ0qzzQhevI3jhWaoyN7vmYJ8bBQ3UEFPbsdtmVLE3N2mrrKmA6
FAu6DKrcdDqrEb7I4CrCwIdkUAaIqGpmvWvwVvycZYETvxqTrH5j6p24Vrw/E38Nbvc8HTzOl50P
FGCoJSjtTidLEQVjtl9NMgrfID6J9szsOsfLM3p2/Si8IdA+ZpW+8+mTyhJtEj3VqZJY5vANP7cK
+9XIpUdC7yAag2lvx+So0F29Y5sm+WHUu2uL59xD0z5g/SAPYBnr8smEtPDSxnSx+sZOv01J2XpH
R+aJt6kK7KL2/Icl3V9+8DNblBQcuQQa7pyr64OHssdoImxMZ7CT/bZZoniDdlR1SJq5/A+GYixK
NyoMkyWfTrFpz33R2xFnHECGT1nsWb9bgjMaZ7mNme7l5zoTXsGq/nswtYWeHeBCjFNhz9xinD4S
1lYjC//WL1mLO7xuFZtoCfV3gD1cuUGxN7vmqXVug3LdUI19ixe6jkYGvUcLeWzX14yxvIutdHwN
U8C4kjKfe3fcoVSgMVRRRv3+82dMySeqfia8znazt0w8zKfZsfZRXV2zcDv3QFRKaSEDFH3JmrGi
cFnQC3b9ABUxnLcXXDWwXr/y0s6NAgRT3a5VI/cFKKBL4NihLOVHWR4dlzQvdwsqrFfW4RnKDVZC
tAVJi4UC3a8WIgXsqcKuwPHLOqvg2untB0RYvQ0bnJqelTrbKpijY2VM8a6tArHRoLq9BjxG09Lq
tZ3QRn0jZd3c5QlOOMGS2Ffe7Lm4q6wlVc3x/3F2XjtyI8kafiIC9OaWZdlqtby9IWZGWnqT9OTT
ny911c3iKaKFnd0FVgtlMU1kZMRvNLRHVr8wHGSqGEN79VK9P6A9lSNFcVLLWD1NmuXuTPtm8Hs+
3OqwwKUsEjWK7Gs9DNo/YWcavziqQ4EjXDPah6Ixs2tax9VniAJm/QB4ZjBPHspNe7CQrR0Nu4hg
JpvEZEUvd3Rl6rNd2wM23WPaoYGpJQfwW9G7zCrjnV2wtdcwvYPKR+mLFHg1xax8bJfu7EDrVIwD
qJLlGMVgHu+Hoa2QTqHfo1BFAf4mzQZGPSYuYeYax7MTxK2LKChgLcocVflemEO806/Z2DgGGwDb
Mh4S2k2BGNJb3dVeaJPWL/2bcECOoVkK5YkZmA6TZZXgV7Ftuv+RG6tG6xupPJWSDjWyVQtVz7wQ
fWwGNbocCbSy1o/jqFhXvccU7P5QG/MJBwHgjOydcHjXOxW3CuQ0YlYtqb2DjQr5ccAH+xK7iJlB
4uuO98fb/LRn48k/fxZic7Vf0iFNnWtkJ8kBsW/9yanaiReCSK9/MRTdDIPaEXO53vs1FgA9eFv7
WtRp4UdAXt+NQhm/VLib3x9paxK57CU7F5Q42fnLj/IMBDcBdkXBiE4wYvWjODWt271ZRhc7cODX
O8mVPLWrLNIAvgLrEvkHSSd9Od6QFIqxGF0UGI3j5JjdDeWXtNS06pBVxvjTtScvP1ERciOfNr/+
BsegNLj/yRunndIG6Ax6UyS06+pcF08q968bBX3daier5vHHHSR2TvtG0kHogo2MQIjEgqx2i6Xn
CWZ4RkSS0dWP6IQMb213cd46jW0/RmFXeUdmqIsQMvSij/e/UNscXBLwgaBYlOTkqj/bqh3v+UJB
kjaIncpDi24Gd003qHDNxx6bAxTSREV9cKp5TaIW08bhg5UPdDrRLq1R7wx789JMtrmcpd7D4gs3
dfrLqCCaebTcukGJQZNIZWc0xR6FYOu3W3BqmDv573U/uwdFbtSWBzCCMm6M/pHinMM+Rk49WboH
JJgt381arObnwj3dn7etE84lQKdJArtuuokhXhC5203KVS1UDAb7Rb+ECEoeM2QYdzbh1jkAviOV
GMiibt8YHDpcC5ckKPsYwwkB4mM5gHTOu592aOg/3cHQfiBfDgIliU33MdN4Ae3wZ7c+FxUyXb7n
aPasO11G7nWNmfRx4GpTcvLcJjzhZPhfi8PPTpTZuIpADfCU0WWTG5mZl/sxzdJINecEYA3yrbYf
44ftHZJeaZZDXACO9NFB7sZTAtQ83TmHGwGOeg8PKKobdGvWAUcfqYviuKxcDerX/VvMvbBjaYaK
N3/Fn31sTXxFd26mjYnFsVcClujrg5ZY1TqmGB1CD9PcKxjpL3hflV+QZf5SoGS5s4Jb88pskgBK
Y9ebDZs7Vq9oehVe87yZYh/PTV4zcDkfxOgM+K4DLUCR0amKvTf51hfCZuQZwHLSeVhdG7OqdX2X
jzSf8y7GdbJWStWHy5cizDo1y04KvBESwAqyeggnSqGr1Xw6vZJzldBubqZajy4eipGx786D212r
FDlUlL1c+3fs5NGnUonaeWcLbQ5PRRvTTXoDN8XzTBlijqsbAtDQlS8aOuxItzrtnCPkGVXTYw+T
t7qaLtZIgVjGQfl6PyxtxAqpgEP1np47Z2j1+cgcVdrcpHGQYnk0/IJP0cUPFftvwPpyhPhQu05a
Qn/I0OPqQf7Xvubh9LBziLfWnNkHBmGrNOrWhxggnJizGjiTMrXRm9ztU0RHe6hCTlTsHKANTrhr
ujSEJcWBnb1+zlalm2eL4ihX7ACU6K1XG5F6Rr4EffRhNsygcqoaAmKvtGgjxLZatN+8IsLeSdUj
3JPEgA/CxYEv+WBNOKnhuKTMT1NPf2dna25OinwvAYVAznGdqVnFWKsYFyigqcfeQoQvi34qw9CY
hzBr0Eu6vxO2ghmbkNYzwRTuxerY4WaNhlYGQDFGQP6qYDBg+aYbL0YQGXX0T8L5mc/3h9zIlrgR
AYvrvD2pCckQ9CyVIMdB7wCpj8CcteLc1k51XkZbP90fRZe/fJUXkqjYnrSZBZi+7mNm7pJMlWuR
sSDUWfwSEXLtb1oLdyekgpcMlyNDj7yHufPK6dKrzqIEVT9asFsAb6VBpBt5+k2YZpz6c2M0I6q5
Q/8Uj5gSHTpjqK0DrmrODJHD7ucHPXXq5mPCa93+rZCFdf5Y1HhJL1Ag9nRaNugNMDw5NKB06Qbf
HN/R1DDdVrUkULzc8ALNXpyJMgJQF1/Msxe97THNaw56iKIK6sstM1xgqa6fDUPJn2oP54KdbbS1
ptSKOMtIo/JMk5v62ZramtKqo2EnAf4GdZAIuz7EOXC++2u6cTTIa8Ang1mnl7UuXAih47Vqu0lQ
OFb6oJIOv8+6pb44San9uD/U5gcBb+Afm4Cxvo4WLN+TBovaQI+i6TIBvDho0A93pm3jtpV/N8cc
ugwZ4ioO41+DEQzv2KBDyv2gOI3I/bEBTIAqdnusTb17G2lxffmbb2MS0dHivbuOMIi9G6XoOIB6
pGHX7s2mkh4r4eY7c7hxy4HtlNwCVCegNMg/f7YpwtFtKzvK0yCLYp5EfCNFygSDUiTPszKcLl7o
JvUTVf/hC6or6esB0bx3+EALTj2yU+tAE4mlnkzsrAg0Dc8yvLAPohD1U9mo4RWV+vh6f143Yimf
itYQJBGKI+vGCZoPUU0lNQ4wiUrPC7Dgq7nUxjGZ4/mbOqV7wgkb41HPRHIYkAGN3XWEA9XlQEIQ
UVBkbX3K49TyMd4oLyg3TVdVlH9xM6ErDJ3XBV9629ZzjBGh37COgnlowIN0Of4RhPIz9NE9csrG
SWcobkATgAHadatridCdjrHIoqC1Ew+gnK2/EWqtBTV6YsH9VdscinItW1UCUdZJCGqqGv5pvA6H
Ebbpkrb5mxCvoAcFc6Adys3GcUdzU3qhojtIU3Z18y2VVoxDn8XBggZw+WZoQ6Pxax6ExrEWCwzj
OU7T8LtVdEv87f5XbqDw6LKBK6MpS853sznRnxc6nm9RgNtrJi6ASCByTq5X/WrjTn+TTSSe537B
1/JI03xGCBjsm3127CTGnDPt+/mg4Mf0bWglB1v0vfPY2/wPJ9vCQyXCuz3+ev8nby0MEHsNghet
fSqAL8NHBjcJVMvgXUdhRYcI4t6VKlD+wMtnT1pwq0YNegCdLNnCv2UPKSZwCJq6noQx609JI0wS
4Wo8DXpU4bAUx1iRtrgOhUlyFE2sHgQOEzvZ8Ea4RP2ErjmpHzfCOly1LQ6yqdrIvms9/K+qpuEB
jQzziCmKeZjNZPzoWsVvvD+Hnb2xcdfx2qM+AWaUJ9+6rbzEODAlEw3fbAi7K9Ig9ntnGvdUR7aQ
EmQsHucMufNbytQ0170xqTD2SLezEpK9YobHOen6+KwXRvMDGEz6rSuU4ZvVDfwfzDQueWvGVVWd
lSXO7IvTLV68k41uBFGKdlDQNfR0mH/5VHp2SeVa3sZ07sHKYiWANn+0/M/2ogVJpDn2MYqpv9/f
1RurDAyNiWaF0XO+wQuOToT0C72usaHv4tn/w0ruXdzYb0Vkf2s045+qBK5yf8yNuCOJpw73MJjg
m9duO0IKaLIJAHJkVD9ajIcOqouQIFYjlGmX+pea2eZOrNs4vRxdHhYcXEnJW82rbRRxR+oL2cJL
f1Bp6g4twlMI6izNzrmRf9Mq0ScVlGBumtu0ClZJlN3gOmZlJo3txBySg9LpyC61+ABOvhCcNr+y
O2s4VrEm/o2apQ0PXtEor4fDkYczuywp7bN1sKow4RowSg+vWo2HBc6cqv3UOhaOYoPdier1iTDN
Z142jAnXa50IW+0EpNWkWDImfQ4SpYq+NlacHhJjEH/zYc+GksHj2fkYEmWIpmIIr0mblhfRKz+M
Oh3Ps5aNf3ESKehAlkP8CI7j6nYs0IbQ07CHM1NMSlDrsfq44Hd4dueqO7hTa17un4qtHQqZkljk
SZjrOl2rDYNiWi7Cq6HiCOQj8Kz2J73tit+Gtuh7CM2tM8jbiBcbjZHb3llSqkJtOxuuh221kd9N
SZE+eWBFpG/pXFNgSXUNXzbQt3st6a0PJQ0HnEyQl+3Il0voGZM9xqiWXBc3HU7SR+KprAr1YFSm
OL1+Tqng0VZ2AHndYLKUKbFnDPzCq6ii5dzTZz1gDaletd7dqwBvfRX4YCok4EJBK62OPfZ+ag1A
3blm1Zi/L1Qt4uzNzmFYarHH4NgKMSROtAVlu/Um0x4dDxsXlcZgbfbOe4FiQtCHpvoBaD6iAVo3
tm95ZrUBxNLxx0hrZu99vXVreBx5KXwsk7hVLhSZmbKMhcXDMA5DNdBFWPYYe4/2bzWPwv8JNK3b
YzTmxjeyhXwPz7c11d4f3QoK+/yC9Qaih0fbwXOuTjEX77rCns612+IKAIb82+s3EOVHYDxwHEHg
yp/yLNw4lYgTi4bvteqH8Izz8nIUQ5I9qK3+FxhtuJTU7xmINV2HbEOfeVspDNV67vJY2wZKMYDc
DrFIJ3/Imr0Nu7GJmDwJpgEHdtsciSz8BZPFda8S/duC/bKWLwIUY0Mlqop+zFbG7dWUaCrxiKge
Zr1Nft+f3I1ED1ACVzJRVjKfVkdmjvArNnAdguVhOYemxYBxQD//dH+Ujd0C448+JbVL6E7rdhue
dxhwxsC1+8l1zqMwY1gE+nTBsNDeSWz+pKaru5+0HW0w6AMb0hNx4faV1XvedcCsd7haY5IZpd/R
2/gX0bDR+6bVeYgXRN/nze9I6azHZTKTJ60OjfrrYiLGczKH2hmfRvSKpvOIL1v+VRkHpwmybnY0
BJ2qqHhbaHHxqarpu/gQgpYne2h75YDNbrY8DrWmfqIB3DUnBenw/rLg/fbLwxo9PiRhqxtnfcSi
tAcTWh7GuYuToMqxEJBlZw0pJyjG8cM84hzl5d53zRnn6QPCfF570I3E1K5l0uaftKXFs6KFND4c
9dar/teafQ7IuW7rP57sOhp3dtL9o1RCD1FJw4v64Io2/mhn7jz5NY6VZZB3gxjoM5h1AubPwy0D
870OAJJKm+ykFbW1+G7tmk+pN6fZNzTyDHVnb2xk23D7eGxzCtiA6+M9N8OS9vLMUdVSDuOY1oFi
pAhhldYSDHppvz5RYjwJdELU6FYlBMepKLRG6KnWqDofKvw9Hroa4NWgejtna2vXEwOhUMHrRN1A
/vmzwIV3YiJQmo2C2DKz6uz0ZRQdtCxy27OepOUeAnEjneDmk/YN0LZotq6PsgDswNtZufYAg85c
j9Fna55aP0W+GXNH0zxSOR53jtvmN/K3SjFZsE3rky3sBkcYFfZ9OYxtwOKFT2ho2e8gOnen+0Fk
K1jCP0cgF9FEGnWrC691JnMe24a+BICVgY6QHlG0sJrERrWnSd0jvr+VeUhy1XyAboUYWxo7hrje
/xVbHwzuSLZcoRzf3PtQ0wuIElQL63iMvoCWLQ/m0rhfC0Vvd3bqn0t0HcrYpdTOQcyCTV59cZE0
joF7KA0qEsH5E3661U/6oU7t13lixuc8X8b53Othmb9ZEiV9xOkSlz78nu3vGXr8T0Vee11g5Ja0
xlwmm+6tBaIJChK+5B+SyPbKA35dToIRXd98EXmZuYex7VTUx7pMKQ4lvZF/wG6kX0lVS+UMGVt7
wOcoj/0RgZM3TRTi1PzqGZZi8560qgCWud7HEzU5RbN1BdWb4kuWGd6lnm0kmNXJ2FnLjctPanAw
DlLbXMHyRL04oKnuIdjAicm6HHX7gthb1cnOMm5Vkig102qkMUM0WD/NMHM0vaYwWcbEnB5FZSCL
YUktbw+r9UNamua/NVz802Rn38chThAs0n7fn9ONIMtPoIoEaHdDLUbrKWSWnsIxRQ3gqphZPvpV
Ui8ngELaWcvKaAc0sHFMCHsU+LnsTYm+fjm1LcalY96iPJIBb/fLcMgPpqckl17h7r3/bZurSA5M
2PtTJ1udErFg9W71hnK1MPy5ou41X0evsXaAjluj8LCWgC6pqrouCiWlwCVmDJVrG2Hw2zYA4/UO
DO/9b9ncKxIkh5AqJXUSmJfzVrlK4k4zBXw1bJzAgxJ7xejafDfYVL4t/MD/R89atX1z8OxHo7CW
+AgCzP5w/2dsXCUIqriI4RHRqWGsrpLJGwvchRLK+tkUX2dYpoehb9ITqSnKz97UX2gb7sn9bQ0q
sUrAD8CWw8Z4+emCzlRhRiNd7jhCe11VwgdDa8u3OSqemCeU4qPei26nwrBxqaAawwYlEEhTj1UI
aFqR2NOEsEkUJ/VXDXHSU9QJQIqLkRwnpSneTBDVD/HEzamVf8PAkHgTTLF44NxWbVQ0qqQ2G+eS
JudbbELxDvXq36FLpVGSbl99VKhrAO4Ahw4T76b9lWqdVut6G17jxdE/O8YcS7rrvHP2b16mkgUh
BVwk0Jl/5FF6FlZnXXSio6tx9erW/dAMTf2u9/T22Oe98yQKw4GEVwNKBL/06ocGQ0MqkVqOlJPJ
6V8OjV1amOLn0F+nIe4xFrZj8bMNl2X2ndIK9yjyt6dVSofz+KYlRbuWtsTL4aLZNRdItrjBDOTR
iBJg7IsSZ7pE7wZnEvZRqymEHpayzmb4hnWu+7k+luTUlpWmO3iWjWnngezRs+T0SKGelz8mTTtb
jdJy4NtLpGUzgPvFKWI2vqWid7+7qujNc9QazkhTyeIxcT9mbAxPRVleMKRH3KarMNwvsTGMdPiv
pC3GoeooLPndYrd+mSXDY1uC6qzz3HnQ++Lb60eG6CxfltzlN80KD8ckiizNyAUQNmiU1PkbtTTF
5JtFOV60JXLfNI3oj0Crw+D+0H/cUl6kaOg9gW0k4aZFRLqy2gEolOEB4lnjNV2c4SFrOhPr6DLU
j/oQL5dJa5XHOu2NH97cD3SNkvacqkboC7tdZA8T4+raiv/rw3JP9ecmmkohKi58/gPkkG3IjODZ
IawMiNFxqg/XflTsr26JBFZZL84FDsLyufFi40tv5uOX+9Nxk2ZQfLMoZsA45+HDhfxy0BpwTWS1
en+t81pVT8hb5tfWiZN3o1cpzRmyorlnWXdzL8t6n4nAGR0byedf73r03PU0qoerV/LutfRkPqmU
wU/3P2xzFLBDiGFwWdxAxbq2McswbIdr0/TWv+j91+8oLxh/MQpvNG4h8AKyR/Jy+oSZu2WD+fO1
GV0LseapwpLH2+sUbH0LDXtHBSWLfMQa9tbOllnPwzhczU6ZD3UzxzinxbsaLzLUrk4G/WysqwB0
aeTyq0ymFlQqbLQGrubouJder6LmWOJb/j6NhJUca8Dxnk8BxHpakqp6j89n5R5Rv8JWYa5zd+/q
u9masDfAkaBiTkJDR0GGr+fnwYHD72hikeIEme4bJVUXBMjVKvZtr9IVGt/T/OuVu0aOSXkN5zho
njdNtq6u4qEFAHZVSE/f92bXPhV1OO7sms0vgywLE4Z7nQvp5ZdhQWlZ6K0upDDI9lYm9o1pn4iP
tG/1i5bE3h6V/ybS0w/nqNFXI0kja1qd8mhCg5tVn69LbqYnDzjbo1M26afJiGt/0iLnomuVuEZd
Er22gyhHppfAv7hjqCW//FQ7oRkECkS9KgqO8mZhJB/MmV6C7SndXmCRf9eL/SvH4j5j9SQodv04
dA24ml2tLFegzeapCb35sWvs+NPYmMUe2/E2kWAwVO/gGZH8ksGsovVEhxDZOaxxxlwR34xRj9+Q
j7rJuRibwfMHEw0yv2ut7r8x8swnd/Cmd2lKRXAnh7iJDbRppNoXsQE6Fy2blxPsRl09YHuyXHWh
l+8ha3RnkGBoRb/2YGjIGvHC13X+E+bKy2Hwuq+s1GHLssHC1I8EyhcHT4umvbf31vc8H2h1O2Sa
XigiN5arVijmm7QZxKnI8lejrpi1Z6P8wZ0+iy34i5IfpvNyhWzc+nE5LB9qM/0v1JfhiP78tJNp
3Vztcjj8syTnR7JK5Uc/G65ZkHqMkYm4ooe1nCoMU4LENKfLmC7CL6UG0FhQFP6LJXs26Gomy3LW
rMUclqtrTdoF5aHiIRKjvrP/bg+dRoGEcycLwmzCVWjJsNYx7YVzgMf1/D7WZ3HqnBRXZqgOO0Pd
bg0SdiQ6oGIiI3Mjhq4oady15mBcSyWLj2YMgsfs2z3q2+0HyVHkkabiDMd4FbFkxRLMIVr9OFWL
gz7n42E0pvpT0lN9v79Ct/cAgBU2BgwCoKM3T9nU1PMwS1TjOkOd9l1cnU/z0rqnriiS4wga99v9
8W63obTAJPGWnAkYTfrLbdixu3PI7viUePlwwUxM/KyqFO3eqI6SU5pjw+0DZVV3CjFbMyr7BCgC
snrUl14OW0ERdtCJMK8AOeMjSL3hkGs0yyvFUHf2/NaMUouRcAqmFQjWy6FKXnJCxabsKvJMBHHX
Z18iYS+PC+4lv72Zku1OXJSH6OWdA9aMpInbgJvnRm7ZQjw3qWPYnyOWaP+gDe+IB8jeEBKMuqhQ
RMajwLrkTYE3H5X+oDT16r/7q7oxvbKfS5ZEOkGmu7qJQn1s8zopEeAKcdPtPQfjxyzUTq6bvlon
jZ4Ip4NNS3Z429id57go9QhaPBKl8QVSnH1cmJvT/Q/aWESoMRwKAKrU0te4USigVjEQRslWhENr
zkJKo7b6I8TR+oKvBo6m9wdcBRY6sVxsaJeQY4L8oQDyctc4oABKOkx5QGXFfbRC5Ko7M957322M
AgWamwUECQDj9Ws/b3osTNs8h6+TlU9YUDbHpXL3SJ6rMy6/Rcc6jzKODs/zpjnnmCLLaqCfgamV
vZ/3mXZC1OJfZ9CW2jdntGf8CCTEzgyujsGfUQHE8Kijhkwfd5XR9l2nwbJo8mC0kvIzvjTtwxBi
2orucFp5fpUJSSPuE1DjSO4Y7zOXftrf/AZY0exNyWFYQy8Vw5wnLtU8QL3Z/WgZJFy4XDm+iML0
YCdL81ZRPOHbc1p8z82m/nJ/E21NPG8d2nk8pnlvyj9/dsfXOa3foWqqgDYzCpfzaPwIHVv45Gfd
QVf08i3kMKLeq0c1oNQjH0CfHhWe1dZdxmZqvVlUwQLZ7EPUqfpF2FP7tVUn921aZ78TMBjf74+5
sZHZX3TsHZpct9UbrSpzXP6GMvAqYbwTlSL8WFHz6/1RNrYU8AMuYJ1aDYj7VZ0GpSYAckIpA5R3
3Z+uSNPsNIoxq69kNqhdFXpUVrgaRantZ5WHvEndhk3y4f6vkPP3LL7LjQ2OjdI+mT5trHVra+xc
r8fSuQpkMeF7aA7/zeVs+UrS65/vj7Q1q39Ah2SIBPL1LRlr9YJbYVEFIgy7s5dH1nkxpuxyf5TN
7yHG/bkqKC3LWX+2S+M2iRuzWcqgTXl60oJs/MoIHV4qyivhTn+mDmcPSgoQfaQb9suhWsuq0hIX
tMBxJv3raOQwQnuFs/sWMWCZAevVYAdRGqf1kUKkVbz+aFCaoZIBPtehXL+KSejEgKRNujpY+kw5
tv0wB3gy9qexMosj+t1kPFNn7OQ6G6sICMkxVKroUsd/Nb9jWkV4eQ1VMEaqcTbCvvK9adyzY9xY
RVgx9EBkHx/83OrTDIT5eeuHZRBruelnSV1fakNHhU5RhtP9DbPmqcllZCwKIiaParmcL5cxy6nd
qwqnvRVxM12MJhStjxFO8T4fsaA71wDPHyO7GebjgB5O9qjD2FNOzeyIEZder9wTC9yaYrR5MI2H
HqffyDtORRz1izbz8cNU/if0sYMMj1/ozpttcxjuTxBWFN5udE37qc0E+U4VZKJtPkRj5gQY0CrH
+9O7qsz8mV3+ehCJsg9yQ7YXSa43kyfKwBq8zPBLipn20Sj6VDt3UTw+mHOM0nQ6KOml0pGA3Fnd
jY/0TJ4D1MOhILFhXy6uh79bpLRLE9D6MD4rVjU+aF6v70zl1h5Cf5mEXIpPUCZdDUOnYeRdUjRB
pJjqF09pwnd1ozoXpdHaQ52ZyqHGOe8wDEt3xrzRO+jZJD5bSpHtPCE3Dg49WgjT9Cw1niOrmJRM
faN3cdQEoEDKp8G2ym+UiQQqitGwE2m3phbMCa9VkAT8I3/Ks0ib1skyaaktgp6e1mkoIc+xh17Z
gpVgJZJxqQMF6YTMbxUJoDuHCi/lLFCdEvXWnJ3G14zewBnl+lTPlOLb95Eejq/0Ff4zMpmOxCZA
Ar4By+clqVAqIAZSr4w+Gh28b+ip/Q6R+mYW+T7AQ1wgFGPJK1cLFnpNV7palsIhc3q/hPbol7PY
O+u3G1QOQ7cA9qvBA3W9QYs8SshQwySIBsEZnwtICL7VFF79NGTFGH7R425RH8ZRb43zoA4JYPbC
KpUTHYAlc30EOVI9uB8a1nItf2ZYtkUlIZcHyjq3C+uy1Z24TYOyno2Je0slfZzNqKA3OrHhTmoR
zkHdVIvjx27q/WeQ/YY+/DA1fRPGiWxkdVnmqw1+nP5kG+0PbYacdMZMLv7cNnVWIoiUJXtMlZtD
xmSiAgEGHcIoKcZqzcx+KGN8nLIAFZjpTWqXSTBVOe6UeeHtXLebQ5FcgKZGQuQmfikeTeLCW7IA
NlJ2XdpY96cqc67Jkn+5vxpbI0kreh6/AFVv+LZRUQFhi7qUg1bYfmc0XZCHk4GwQq6c7g+1NvX6
s/DQXXnGyUIUUfNl6BhQLI4wEMsCck39V2XSJ4O6ZnhfFBhdM5bHefFTsAY/01TN0gcb1q3ra1Gv
/oDk1uQH0fSmQW87U/q3Vj1YH7q8s5STkydOdZh0t/xXDUNT84d2Mr5WLl6svp4XoE3HyJj3vmZz
4v5U5kEX3cZ+XYDkp+GeBs6IQRkY4tQXaiMOA42VnYxvK1jwhEesG8I3Z3mVquBwGZfgltPATDAA
Xvo5eQS6FZ3vL8/WKFzZ4NykRxklo5erAyC383LHSQM79dxjGiN7VCWzfXz9KJx87maALrfuBXjX
LhTz+ySwitk6YjdnnOEdvtKORe40IjjYDwl2laydl9+SwFeJK7wsgzHTo/eTiyq3ZffF64M4o5BH
AigHpb9uMs+KPZZGHzGKOjcneEjZGZ14YyfL2Nho9EGogEnRdjLWVdhpFK+i+pcRC0oxOycnylqU
FyfXLX27xrxnZxvcZG5MnWSTSGIrOdT6fs+KGAnGbkkD4CHztR/cEhJJDivPwyb426TFiIKrqfGP
mqd7Lyu5w148SuXQPLytP2HvRi2tjR1bFlTSoPIa49gYkVBgPmmLcZ3wr32rxdP4tQTq9j/Ui51f
QrV+3d+bW+NLyWaLhzkM7/UJsEMrK8vGy4KhLKr5TNbnNrCH894NbC/LIswDRfOhBX7Xn4hYmB0Y
i5tVOwmWXM/1LCA+C2gBQcHb1DlHItTAfSULYnUoLsbUEohNoFsfOy0tP8VZmugPwmz3Sswb28yg
VMvzg0ySXbbaZgiij6jfWtiSjpYxH0K3FJafUP0GewuN4fUXHI9IAo0sKfFuX+d3hgMawyrLoBKj
qvsaztgfhSuiX5Mx23sp3caMvhhMfxkNMjMUltWEvNj7rHijuGl0RKdf9dv0i5Kq36vQqnYO0arU
K+MP8gC0WlDCJaSuD1GfdKPwajMLLBSjBz/L0/FzW6I2jAN1orpSSamY3t7fvWsO859Bae5bstFP
cWCNdK1a5DwHnO6DwhXLB3TeI6THpvmK1h0m0nY5ngdsk49TamvYalbDAfxDcyJ/bP5t53KP/rI1
6VyM4NJxUQMStapzsXuSqdVdEgsr5YPVoX+YPLd+7KM4PYa8m4CLZ7gc35+EjUtMBkrSakq2qNyu
LjF0nLLSVqoswBN9+dBVAMCEqrj/3h9la3npxEAhlAIp9jp7R6IHR/WORGaJXeVc4kx9RpFAfGpA
H3zMsEnfuTS3ziZnhGPJeeGor64zuyM9bz2FuTSoNw/LVJ2sqMeixi72xPm3hyIvpw7KpbNuUqiT
PWGcUWSB3eiWb4np39rUlsPsWXsGK5tLBe0FkCAd1psQkLaJouSA9oO4T8tH1VHGh5Da2k65deM6
k4qiZNGSVXYjrOypTds7Iw8tTO2X4V0ZttHkT16yiFOCKn+DC3Nk6EcvnITzUMZV/L/7W2Wt7SVP
JbodRAIEkcit1q+GxWwdp11I5bPSRcwR5Lh6jRS0BgJlabLxu6ElTv6tFBW2zi5F9dFPlBn1eb/z
nOrLnKS2eUzrtGkPi5Wa5anESdM+e7Wn7fmObSwIv9SDHMAdcMt/AmdcGnHD2WlbXjVZnhRvKG7s
HJ2tQdjHtIXpZTLMaisPoUn1F3R1kNC+v/CwyXxrmeudesjGAZVvSzYx+HVqpavLDAWhcpCyoIE1
Ns5HLZyTd601Jf/MtZt/EeTqe3YBWwNKrSTqBX86lqv7zAHRqMTFEAVKVYljl6Cl2U3R/NZVlh8G
ze/T/V31J7VcJQlk6vRGQbrKF/6q8lSH2HWM1RAHXSGqD4a9xKYPlS+2jvS8y0/aGA7VWzdUbbiC
dDyvY78MlPfNcX6w50W3zkafuemxlC23f9K0MApwAWk8H+2uGAxfnbMoPHRpOZmHftI1sMSaEUcn
20uMjKq2a1CHgeOj+GWRasqhaqIMAV0pwXPO1aI6e06qNA8idI3Ob6Y8NY5F6jR0rcFfOudGm6rk
9TGSgjgJBfcf78v1jFR6abrQWNGQmc35NLoYKEG2MY5h1847Q20tNl1VcnGOtSxQvcwncv5opLwK
P2Dy5iAs9fJz11X5T7iL6iHJFP1vdhe1TIRA0IziYl9t5xBehVlEmLqOWu8co8p4ijST9yZObA/L
ouxJH26dURqe1PoJXtKV6uX3LUWm9oB38JBV1faYGFZ0rDHn2YnMGzcNOGmkqGSH+rY7raJDHgnP
Vq6a3qlQu4T2pi2a9iOCINmn+8dl64OeDyUX9FnNEoIY6swuMkotdnUHU8mKi1MhRvUXo8A0oCgA
ZAIRpZej2PYyxYNkzER50/gZdfELXbw9D9CNC42mIaBDpN8kk3kVQPMknnJ8HKIgdAwMQTJNOUEH
T87QavWHwm7iS+Tm6jHKiXn3v29r23t/UHkmnA20QV9+X692OrwjTlg/zcmh5chfqiHXfC/jc8eh
sA73x9vIICldYhYptURIple73oMWxjvUQbLMnJUPZqu554zy33mOcJhDQyWHODvvAQI3B5VmD3SF
+K91jaqj2ZqnlhsHo6aHp2xchkPfxFaAJI1zHCqru3rUVHey1o2jgLwTZpjowcFR9eT+fbY/ndYW
oaK06N24pfZUZ3bHY9fpvyqDZ5zvT+rmUPCoQOdyzXPEXw6FYaM9uDn3b5kk7rm3w9wvlCJ6csXw
6y9G4o0HhJwL2FoTmtLSK6yiRpHNtYToD1qCgQINtqr4UWCLuYc9XgNXZZ4FwYcEj7PHHXyjHzBF
cd1lcRy0Xd8/mq6SnR3s7g3fdSP7Uzui5neyimUpDmbYmj/NyhCPYimKvfbs//NDZPOLw0JrcbVt
o1o4ospRI080YRxjTWQXjL/686jXWJkOnsIbUAxMhVa5B1SziEph35zuT/7GWZXRgTsK9hyPMP3l
MsPqKUdrQo+9zXqk1FLnV2HoLZJOmUVhxXb+YgMbNP2o7ALkp7L3cri8Gk09rKSVvKzvHaupT6An
dvG/HfjoPWHKjWjObqLPRRWZgvW6qTH9H2VX0lwnzq5/EVXMw1ZwfDzFQxI7jjdUEscSoAmBkMSv
v8/pu/naccXVmyw6XeEA4h2fQe1weVE6Oh+Ecy2YeeYyTHF88fcn+N6HcgIvntRZgQt+mwSDmEtb
cJB/vR6WrSuA1zoPE2hdZFuH7PvfL/bu60IfBP2dk9jZ23UXc3GpVArGIQN9q2jlqvDm+gRbkFEl
ndvRF3zwxt67IigIENzCoCv/w0hL55VHbgGHHUwE6OTXubCAMYy0v+FRGdau4KKKPwjo7704DEaw
wj+BQv+AoM46QqPGLb0YhxGfocgbkATKj67yXgRHWYa6ApOHP+fYPbhFWO2hFDcysgBilDAPPhoQ
1s6gMr9erdhCwHc8Y8Xx7+/wnQNzWjVDXxOMP5Cd3lSFjcNwickYx7IYk0vG1HCYMleRHrCBD17e
Wx+fU7ArT8CF0yoKrOby9Hb/J2FA9XsPzbgNFxujIj6mol/nTkje7611qYkee1fM5VkmUjGcy7KI
5raXC5Ax6d4DGhOPcf0lrhn2qHTK1PlkxfbAxTKWZ2PRF/EHhcN7T+Z/f+2biGiiMPJ1EdAWAXCk
y8MG8Tq3pgSWmv/R2/7/HwzwYinU2uHW9Lbx48uI/R121Jj/7NvX2O+qVRKr4yxa5ltldd4t62o/
ePOnN/umGTuRpFBBAluNbv9N8wfpZTMrg5qhks14v7okkDJKWGvhpN3WJY86aGDk3/F64m6zjbj/
+8F751MGKuckzIBZ4ykN/vswbIqVqxspuyhTmcmOGo7FaV2sIj1SD2MOEuLKftQDvVOGoj0ACAqF
LrqSt328gCAZgJhwU2iidLhKrFrOCucmskc8wSHCiDWBBSCgguw/Um/+ecUozlAlYeeCIfmb2/VU
j1MKDOZFpPvyVlWxxsKPJW06muqDF/vekwXpBpqHJzAe1iL/frJVKIHVE6ddyNifSvo5S46inNJj
qTG5pPG8f/ClvPdUwaVAVwT4AUgpby44WjFmQAiOF4xu9JtbJg3A1TweTJGE6nJYbKMIQmZzhu49
Eh9c/J9//c05hlspCm30fAC7vh1VFTbpsdWe8WQtGy2Io1E+dxw8DnaZQfTEHOioNuw7N8q6bEXL
iy0Ii1NislreRmxxD9REgMVONF3kLSinpmg1TfrLKrPrdN/3w3rfmNp8giYv/FC1rvV+ZupCyQ++
iHcSDeimoDEhQsJG8e3h9IbNOaRI2cWsR38Lk9GEEgsLqrO/f3jvXabBzgT9CRZGf0yZQHuaoEDI
2YXconBdW4gqybz6SAT0negJ6VhIZuAIQkv5bT1ZLsVuS1eKC12A9dJlYKBAFzvSQMjlGAs///2e
0neOYA0NLgB8sDwFgupNGttg8qSn07Kkz5aanvWL9hsBQiv9Mojc2bZkWlKCY7qmx5AGPRLoczZg
WC8+8GeRFuN+hvsYeBfGYF8yaL7tbe5Tw88rVeEf8CKCAr1t6n45qp36ewdqhrvNY0bdl7Us6dTm
En4erZ17Gl1C0XZGxtosv8qplfdgNu3zBy/ynUcMJh9EdAC9w5Dl7XmBEIqwlc0EqmUp9rafN3fM
aM70hR3x5wdl0Fuq9imCwSMV4B8wfsBHfXu5nct1g7sfHvGwJXULnSuetFbERhBZcGpblq7ieYV5
or6OQR2Pj5pGoyMlrTBgAq50qUm0mcRiPp9Bl9HtQs/d38/Be48EjDjg+lHTQwjjTZSVcSJ2vwFv
L8ca7z/W9izyYSEF5/9R6/KfxwHSKGCf4JEB8f3mUmuuGIOjC7+AUGpyBjG09VcvetnadJev//2u
oB4Nrsdpu4r90L8DOj1ttzUkYC7iVdVnYcrKboXOSVtO8uvfr/TeZ4T8BIAcxrOQ1H0zLHH9ZKd9
EfwC05hnLob60EB9ksQQTbnPG7e1sHKZOpfo8YNW4p2g9I/7z8lBFiC4t8VIvxY0FgWeplKrPmQh
VJ8CwF//fX97UoXBVAZCX1ANeRMl+JJzuZgFxwN2bef7FOkD8/D7imzykbL7qTp8k5VwKcwjkZkA
UXpb0g1r3IskHnFDNWWXTDjZmhId2WBDggQUsRYUf/Xw99f3zvFvgIDACQEc4U+8c7+eDFA2UGeG
YBaAoZb+akxg2Kaq4QMQyTsH5cQzhIESaow/dXbWIW0MovF04Xy07RdNCrneS4Zgqts582B37KPy
/mYD1LT8Qmmd9h+Fo3eqnNM2BkEZCeZP2MMajIipikHgifPhVx9hZg8vaTZ+TUrOZ7JUpfgKsS5M
aiH9N5afo6BBtDGoeEtii3y4TVd4eB83KDJcAeMFY1ntKM0J70GvPfz9vbxzGND0YDGJjAhm8Nuh
0lDlmx0nbNM0SrKjSH1JVDzt56rI9pYL1Pf94LcPyN7vviKANNFNYr6ELcO/o0atlYv7apsubMWz
70mj+ENQ0qEvz9lxXNbpWuD5Ir3FxcXfb/e9YRIqDHzFSMfomN9eGtOjIGEGOV2kVWCw8RagYhMw
Vfax5ZBinztkGs4hKKK0bLdtSjLY3NUZKNrbHH3++49575sABeAEHUdxiEXlvx/DKjP0zlXBoT5Z
zjVBf58+DTSfT9Yt8eo/eNPvxDGwZECSwSz2VP6cfs3/tLjosgVTGgkI0L8KNIcFQozQl+v++z2h
3sU04kRf+0OHiKJeweDQ4io8qe4Bos0Ii4M8UOTFD27ovc8MxSgG2qBhn0ai/74huA9Oc7SWYLAV
/XRchKiGNvOs+uYnxzLsC6x8+K83BxYucETAU6GYQ2Xz7ytCFBik/WYUFymHeDupc7gbQnpRrwVR
O6zg/361d4YSqISx/cRguUQ4e0tMkTnGgFGPOFJvNVTFrRqhJS1FMT3CVBydTC6Wem5XEAT1faMc
o6TvG8DHgymicCyRiAPmw3TrD9KVIzuUc+7kYZbp2hPYUMz5f34hUCyGNNOp6gC57W13ly7QNZGQ
+bwAndwchsYXl5BTgS1ynU63a7PuH1yvwOP+dyIDSxjbSWB0QB36w8wDeDqNuYsaL3pIB7coO0w7
1rB1kNlWnX/wLk759+21UH1gQIphFGgeb/IzlMPgl5as/AJBJSwdsxsE2cuTLDWBikT8VaFt/97z
ZVbHvTKDbQPoGp6AozpScKVnPZF5Fay8AirdX3JPmxeAmIyFEKyPwWOgztEOVNfSddvokI0/+P3p
n78fC5F/9DUBE8Uy9d9Ht9qhgVvNAFANVWLueozbfroedR2onuletqYv8t9oHBuwoESDCDRV+fhF
TJMI16Xk0Ehm4NMMHxQ9f37BkKnB+QYwBoO3P7TK8TwtnOZOqTpR+msyRCXJXNMcNrElD9r6b39/
CO9c7jS5R8BFjfWn5vwQxc7xbeBgzqEfYVAtv7HjDkBTU2Kok+/jR6yZP5MrPl1UxQAE1O9gZcYc
IT6aCmB/hnX47Bgw2T6OA8j7eQ1r0GDPIXc+flD//BnngWmGIDtsiVCwYqf+7zcNNoACh23aLvQU
z4e9XvhJZ7r6IJGePrE/jxRWpmhqUeWAP/d281WKoY+3iTcXCzUZOyvBYqE3MlTFoUlCxIhwMDdv
HfPV92R1ajmwwi9VB9mELRBRR9sLTFhkeqKllU+rL+it7jkTN8W8wEvNJGKbr8EqWZfWSR8U1syG
UUB6Uroc+9BD7Gymq9/uFid5SYYdPuOtn3oO92EbCwPF+6r5YWIePeVzIe4EsizFGC/tn2pK2U5K
jrKqA+wwet2hbBY6uW/qJhF0/RGC5+K62b3/VSTbNoIaUWyyzSbwOlrcCuMEinvQDARgbHk8fcKM
eIxFi7N5LVho96YK0x2UyvjXWIrpqRpT9ZT4fTRHlvLlkdWYax+SYd93wo1zcAOy/TT9hkQMUxcW
s6GI1A1njugCnq5fXC9XGIiAGznlR+dKrE6ayAb9gw4ZZoQhzMXnKFb1z8E1c3EYUIe7Ywpntgky
CtNqrqcIq9JrAboU7Wzh+XRlRRTiK4DGs+znxpshIhBXcvsvRLQJalszTwFXT3bZt0MT+CeRlhEy
njE6ueOyn7+IIurpBraIb+KX3c+NPI/S2WWfxkxhNwsrYB+nCM1VJLm5gKc2gKkvac1s2QKHJT3q
3ax4wWZBlldo4MNxCvu8tPbklXPuMXHaznm98RfWp/YJC2NUKgJwhgcbQ4L73HP8DwQoSye7cQ2p
J1BYrGAcBMy9hhcec3MLABF9raXO8hZ8x3EnVgr+rAJ1IHcL6rC0mOv6M4SNEw5EmGDf5qLXMyhm
hn9foejK27ReUJMHJLsGGDcA9w4wHxEzAZon2YnYOaA63MgGmCsw5l96Cvm1NkkA9gAcnwbaAafW
8A7jXv/YB5bcoIxZvwNEtMoD08tkDhunzhADrztLSsj987ZuIPXbmmJfXvGNF90GeMV9WBo5kCGs
5XUkbQ2oXYXFo1DJlLToRKZ27HVp261hw320GMj+FtBTtgQ0f3s1jTVXMNtU5pHOE78ai0weIyn0
z5CVojmmU0h0t8A3g7cNRIjvh1WVI4lkuvkWx38aYZMIRRdi9qL6nWxZ/7TDKe9SjX7wB7Bq4A0m
Y57xbo2RZ67ZPKcgl0w6v2SYVysSa7dc2WEMQO5WtL9P9nh4apBCOWTVB/pFTf34NS7m/ZlF47K3
xcCS0I5pT3/BCYlFZEg3PrQTWJaURLAhC10/VbI+18nqH7N0zu4azTNLBkWnRz/txUNDc+vafQ7l
jRVAlnZsqN0vlUchJXZTmF+aulYMDC6bgfq/6BEC3pUY4o6pLVjSqH2L8N9tcxhra3o4TajxFgKt
NMGdDdU8dnZRxdxlYRnCL9D28CkvzVCwTmH/x8+jdc6vBVZmt3vPmk6AoQ4lE5hOBgLYYb636wb6
b6ew3BNEQLuvFXxxn6OsNEsXVpfe5jTj+KOQphN6r0Xrd1ewVjRWPg2T4a+wzc1AG5Y6wdsNtFpx
CqW8mwNc7dsiDPYbo3yh7eyp2An8T/CBbMavUIYu5PxzKmB6RXoEM9EtcKjtz1ZWlo9lPLrXpaz5
Yybt5A9rua1F2ywluyt0VNIj8OQgAgU5W9oxbgoLiBYGgR0K/iZBlUP7hTgapcd8mQQ9yxSWSGSj
i/nkpzSeEOmEe+jTFMMvmaNuJqoas19DPFB2CAaCUWfTFGqMdrB9+Z7tcmRdjVEZ7FohAvewRKy3
rRjK4hvme2Y9jBE1ioCXub9G2POeaGy+3smeROEbjLelaRsaiXOTo6lu3TwlEJuALuvUlTgzDUki
Le/AcRufALAABmxb1s2TponXZ0r7GeZJUsU/4BexfuPAWkDCYEmnZ16Ecj5QyPqVpHErdB+rAddq
x2E4cSzANivI2A/61Q2AEHWmKEdx2DZfVe1cx/w2BR3gPgErwberZ2yF6RrLHsHkxgwyHmytH/o1
Llcg0jb5Yz8BTPA5JpE57FTCOjGt4DSYJ2KNOzi9raatK+YfNVg6KE1hWVvA7UnConqCtib0UOBi
kJDdpBDOxNAWGr+l3PfqUEeuAganigBfAE4VIqo59AMvVNwX/XFR+sT4q/IBDyX1mPi3xTSlUSt1
mojD6KL0EeMBNUPs1QGgZ5XKXhbRNJ/APgLdsArguJBZKCvhbcnDfeY3fV1MbKlITg3ATUiR021I
TXjI1bQ/KD7jrEIorHyte9RxB7WjnEbsmNJLP07QfOWG1vNZ7mFbRxpt1wBYJeRASTSKnF9n85Zf
DNSyH1QhLMAdkbGpDeM2Pyx5xqazcQPJZcOYX11Cimefsf7Jlwuvl+QHzAdH2GNo/AsWau8DwryN
6UGayr3qbc8gqQ1iD6bJYkEYjBfVfALJoaddsKE6Jqlc5jbri1K20Pxcfxey5wXZdczY2RjWSuAr
o80rSNwGFrKIJhHZFbJlKwADZDBzHWAFih20eLVDue2oLZjCLFrxPJAEsIK1TaihnCRONreMMoim
xKHwbeAwtyJ5No9PG7fst9Kp27q+EnXAVDsq72kWK3z/RZRLbJx4gQIDqqYAKCGxTjPeM8mtXG73
OrVLG1Ayf+4j0OHOFsT+C1v6vum86FEca2SiFLPCYGvAqQco34Kqh6xblr35luYq3QHCodNXE/aG
H6QCAJbATaq+1dAb2LrK9ziTKl39cj6BrfY7k5G8myIJQ51C5MK1tK711Lqx2XwXplPUwhYj3Huq
hvJ8TMfhE6SqYF+xwK4PeI7CbHcTHCTCMSiQ/M8QJeK7Go7wHkVBEg7KCt3coIUf72Fvgd7X5HMl
OlkEQN1CdIJLIN8EROSdcn2Ih5ivRNMYaQeObayCIA6Ph+soolqR1SiuWweyBfLj5jU+UUT733Jf
xzvIpaH7T3IGz1i4kuzp+b5K/9Iklh6XUhYNvpfVf1VlUFcsZOvXOBZIg5Dcx/5BzsvcE5Uiwrbw
kxCOiDxG8o+mCTIpdQXcQWlc+Z3XI76weDfZZT+KesUdYPRJeoOg3CbcafjnRWxThKaq/IRebvCk
goCt7vIxs/Fhn1Satp7NiIsm80XRAaQDGBGHOkOKT6SpbwECgjNH1bN+IpELvcTxY9H1AlEKQfS8
bPjLYWtuFcfeDnmmgqtw7xrnjtuKnSH2ZxyF1wjXgN86LewAZj6KWMApBYxK+ZLirPTBTi/wv/U9
pJJZ8kUITR+iwjZP1RIjyVOOmG5H2DwdHWO9OTNwyYQ0UZkmBhNqHSm42PgywoGXEVYopVRPWxNv
GpO7yZ7D95XJc+6H7KswlmfoP5IhI9qkwDQ21iTyLJ6jHIDuAhiNDlsNiB/GTva3eX2yVGY5NsXA
IhWQukSHxWHWGVLmzhhWNSs0yCLIQHvQyyyJymL6aVO5m3OZs+izEDFEihYA1R+SE0CkLQwE1MhY
Aj5OgI5Iz6WIPPZ3UICF9Zh39ksz6Dlup7Xenpc4odcMXjKhnUzG53P0ycnYglKBTBKh2ZlQHor8
xuS9xG6wZsmlC1HijgKwu4Xw2tmvkEkp8KvjgsPoK5Tx86TH8dKVvZtaWUGstF1n7b/NAO2thCVL
6WAEnHnfMmu2lUAGptdwHHcTOyQWhXjbSHQ2HY5qIluskswvNuUb1IqaoRoJskwUf0oiAEGu0BxU
nKSQTUMrtaXi8zwMaiGQ/kl/gXZeoARpJMSqq1mLgxslDlkOoxZHIPgx31FAGhWB8kD/M7PJ+rhr
YXznUXxIPKdTJ2CEF6bbwrRicF77yZAeS0ugb+Z5+LKMe3MLwgLy/14G484WlEk5GeeG/lrnrP+B
tWci2qKe460t+1zjspARvlHYI72YvECFzeLys4BgoCEyMtMN1TEWsEEW/gcMhaAM3yTgQbe50ovr
Aiqvn3mRmG8nhbHozKEeeYr2xL5CtU9M4JDa+hSkRVjJhOrlh+Abbi9dwobpMngANz32Me4sjfjw
Cy2af+WaswULAY4jmgttJnQT2+zIyHIE4d4X+MHOJRBt4egxxIIRU5+tn4BoKPJ2kpr/gnmU+ZXT
BlmD5xB4IzNb9qFbxyh/yi16szb3lXtCQ4tAhoAFnGSN8Hw9UZEPbUiGjXUo8/Tp+QhIiqw7D8+F
L2dNYN+D3rJI9+wZRFFUPtGwrb6bioYb8Jc29TT0g3sprACUYxRonQjAKdEtKvYC7audeX/cZpE4
Yu3q8Zp5MQ8HGM0vIC8AZ7kiK/rwXQwQoSNrZeKoRYIfL3uYoSDamCn8jBwdrlTql/FeJoACqUiU
jwxE8elMu9CAjKB0k11BAH3QXb0Ieqx7s04d6k4NAEsSNn0UG+QZiDcho6izeyUBO0ktOmeRp/is
hedt3JengbGgSONwZjG/YZpbT8SFfUAPiNkfP5yS9vMe5X4lJaBBU4cY3d/4ORtey3LNx65YIv55
S+NBdqdDfaXgpYLCfS7juQWvIIWlw1hh0LasQM85VI9f6lBa0y7O+bgFJCRC+osm+zL1OzhpTbSr
gqDJ9edybOaEoLQyD7QOtW+rEQoUJDIm+sGRNH72vlTPU0Z3qC7zxiL2F6pAR1yi6kpyn9QIfzpq
2pHr5VvgVTHAVseb6gx5P3wZYzX8AExmvof+kng25Z5UR78l89o2EIOnZCmDRsYQ0qqW7aJC+BeA
AxOBDgfN8cTyH9aa9SYbcF0ywBHkxetJcHTdu+uhIzBmSDXI1UUbz97dcfzdZz5ETXQsRRK+90I0
n/ttHZuujwC8wpcwG2TmHAN88g9FiDDAGi62sd9ZG3GbAQ5W70XaOSeHhwm177ERdfPs9jJHHG/k
WCDeQaaeaN03v6H5M08ExaAxh8b0OT+DLkI9tlnNEFBD78Q3VI3JtYN+uiW5LhK4sVfJspypeK5/
+H4Mz7lL18siOWnUwbo1vCBc46zUa4ELNsJKREkgBilJMAJ4WUNR39pqn/cW4rHDT9RHTU5CHclL
kDLWClMKC8QB5gFzf8H0jjnSMse7O46NGzGyj0dkj3I3VYOGNhPHEZ25PzfwGItAii+i5MAWvnwC
biWEdljrQSExzRhByYji7Y+zNZwsqeRIZ1lw9VWkXfxgmbG3oHyjGNpzwa5RNKNdC4xTCZTEssGQ
eksxsBv2KENdCKQfJ0xDf/8gipTex/ANOZdpqj67fVkimFnAdob0Se1V53pWabLXm5MQiKjroWUs
4OuwoFRgXLal4VDnjP/ct6R5jqPVjPDdaxIsZOe9sWSrQ0qJrjEkb63V2dcs3tTzuDYeJqemdg7D
50XHF+gbrUPF6szQwt0uTlqGwTIlRQ3ZVZpr9BvlNrObOGr43KKiY9EZiInYdoAHWXweWZnIjqcW
WroZBlyB5EkJwZOx8uql5Bts+uhW7cj1Tb08TqPvPzuf9X2HJUP6e8Hd3ExNCj5hlfD63g+rx28U
44mNnFbPPSBZgkwjmjKy9Bhqk9w09McKOUfaCjVrZBjK6vmg0bX/TjNXsw4y4gppZd2ynRQ6Ay1U
AVh802cCOXXGgGY5S04Mu8t1n7fbiI+CAQ+4Nne6NBYBOop3DDYqk61dhGmrPOyFinAYsPFOSCz2
9FJZVeb4wX35BC0XsNlqvon7KE/YJ9iD+BITPa++VcEueRuXg//qxpTiedFQXkZGRdUl4Md1gsWS
pR4it7QqL+Fj7l81tNlg+wD83KvOA8YyNI8hZy0AR0G9snL7ogtnDQnrlF6jMgv2KE5UP9IMmPG0
Xmp/a1DGPsumtNCpwTL+oYFdHENDvowKepC2foZvHf+6wVsBqcJDJhU4yBq92LSr7a5p1MjQaas0
OeRiFyUoVVX8BQvByFzIFb01afq0vOFFn11CaLhJSb1R++xpIX6igktfMxGwC2DwEYY5nc4g5KP7
amKo2PbEHHs5xFfgkGoDYHWvfFc7qn8MmQ01VmgNXSDi0JTLYd2pedwwa0tRvNNJH1ALYLRY2X2A
YLRg8yuP53jBDqgXvzZDET45ZrZ152oV4cvbvbhbpoS9AqGDHjud7fZ1TxZ/G3LmvuN8ZJ9LmND9
ZJhyTsQvQIdCGrOfnwX0Ij5Rqmh63KeN/gioGOvWjAF7wKZCM0b2KVXfqNvk931K4qdNJvqLgVbQ
UyQWUx4d8IO34OtXP4aB9hqyiGEauxkTONntUeKPwKUBVYgiM/29AwX+fYGI0ROXXvgWUkdoXFGp
pi8iYM7fQUmqxJmz+EhsnU0QzouT6WuZ95DPm9IeoJIc+T8mDaSZGxIEb0xbxN77Y2MwYUHZotZH
LK7T+7Fq1BdbMHWVzEM1na8ijlk3QRskbx2SiScry2K4oKTwSSTB5fRrH82BYg+Xjt9cwyKETe9g
4aCUKX7LqAoYp2Ll87QPFoqbjA86x2h7ivUBOx93qUvnK6AeqvUxoSmbEdRoVh0lJKRrgnMJyDPu
DlIDwcbXCEQIb0OvemxedbK9AkqIqBIHBv9ILJdUdIbnddr24Zh/Dbry6BdWdDkXmfauIEFhj0h0
M/maoPTYnmewBiQB7aXGLG5ELUs4tgKSzHrIYWyyIsIQAQD2gJWJxcHKaMp/LxgwYJ6dxABjmiWT
ZzmwhUmbrzBd7wIzoOOCJoLQOEccLfGuoapCCgwKQ6cwPaWAknB+Z6cZltXMiVIh56qmaek4m0uX
Qt4NP3Hcxk7AwPwTn0VTtjBrih97b8rXBeuLL5JuqDHWCefTAulrMCcsVI7wtEQN/Pq4/JauECsn
fqiGh81mW/YAI5f88wwomZZntcbS+xt21stvO6cRYvxSWzijHhfkuuIIPwD9aUobi35mFuY6GYDn
OIcA3yYOYVP9s0XsuEBl6MXZqIGhaHm5qpd86Efopve8NtBvLTF6htVdg9ZZbfZhXhzDlBUxmx23
arWfmnUFFxwu8Nsrm92pY0ODeF+ESd+FIakklA5M5lD8j+KT00l6N20+Hg4zCFoDqdUSXkdRZleK
VeFroZPpm8ApLaB0PLu74DPzQ41z+SixaMcEbSjRbspstA8ccGt1XcE3x6Aj4g5t5ZyieN5EMmIk
tG0FegkE0mG+0ZiumuScqzrbJgxhilBkGO3HQa0x0ExVKkoMC8xCD9gKyApVzhhQuccABk8HZpIe
PVeSDZca/n/4zxI2aiSqfRJ3BvH1YYym7K7G5BTlBqA4vx1EgL7ZaYmeDH5LQiQ0/AP2QksCeiK6
9ZdqzXKsV9AiZy0QB+PlipmW7tiiT3NARJkbCMtyBRZW6ubD2OPnYKvhy0tQI2R+FjMQhF54ArYy
ybH8XqE612+oZBoUlFDkQkeP4AAY2goNt74c+pvC57FvtyCaL9LNfj5PIdUbjpuAyutpuBDr89Sh
iTsUqfDbgWeSfpMRcLIYXxiMdGCjyMo2huzr2LHA9vUqLunYH3y2V00nZVmvZFh05ToFKEaNsmSV
n8HYCCMW82EGFLtyeBBTY9wXDCLU0o4Nj+sXFvMCW8GamfhysclekArZk7WLzlCerXXPJ3xMKNOP
WAzBDGGxaBzmUs+im4WYA+anoG4cskTGaAAHGkONqwkAeJzBLtYnd3DD2QDdRI77loa+xvBfFidV
R51nIj6UYvSPW2XXpnNZtYLBXGKVRXKAL/ZbvL45bdcSG7du3Wp9haQtnjbjsvNm5POvCRmMnW9A
5k5ntQtiPCvnubkV2yKmDh8LRghjWs0MbUY5NQeVgC1KBlugQBwwYNdnp/SYXFA3qOrTiEbhV89z
mNfNW/ZdrSyobuSJlMRDnUW1DQdXBapze/JayByVDcE4bC2PSaXT9S4Ug92fMPTwy6cdI/DykKOM
YaTnjv4Gi4+GY4LVnbgSsDxCS2BZJR4VNEjTs2SGFEaHoWA+XwBaPNKzrTJM3eRB955Qt1fywmGc
btCJ5nAKx3eBIhjT6CFciixfkieELXQ0jQYLYSCDM7YkfEAOvvExH4q7qIHwSUaiJvj1APIo/4qq
qi8vYi+UuVXpCSA21UVIOxGr/UUNGAX+sCfy5nHFQVvxycdY3LEhTg4ZQt54GCj4fu22wjIdUVeK
5GyuqUVvivODVWriIOI2QDp4xf+p+vwSalTletWciu4H+IbU/tfII7vgC0bwIRPaRzyvZVj8DbRX
LUKbikcDrV6eZZ8q78vhEt2umFrQI0YM0p1jUA7tkfHLX6osdHPEKF/QltcL9iOsoM12wG6ieWSh
iYAFnPf0VxbyxX/mfbnYw/9xdB5LjiJbGH4iIoDEbgVIKpU3XW5DtJmCxCWQiX36++luZjMxPWoJ
Ms/5rVrqOqYjeWZE1QNMbtI6Srqnpd+G5Z6AWcs5WZWE1LNoU1FHzrnhZxXWaNMLnRPbYOBCj83u
LP/6ogIHqfNtXRheYudn5g+f74DghvooADHNr7DkDDpte8fyyPfjPCob91nS41BgwiWGRyQO8SLm
zrU6eZ76mYI94nqmO4dWxfEfF0u0JDBPnfNk5UMkkjLqY+vJY4DrCWvYp/khzpcIipL3f3l21DQu
92DVoffpEAgSZnrVHkyL2tzlUm3RYu55BxyTsGX25HQaXojUU7jkD/OsffuvA889ppEEmr8RS9P0
N8C6pAugv+cSMfgRNOcWl8V59E1fpn4gF31yJ+REB5wrm/vWAA/pQ1svNuCODZSeDJtau/su1NwF
DXusTpexQ6C+kl3THhqSoJsDQgn71nbmCtBJinFL3N6LDasRAamXGODt395vcMxo07XJWFxzcSyG
nCTAgvNivuvigecIintfU8Poo16rq3mCu0oSi7NO62Slikrpmo855VWcoQkI1iRXZv526332khhj
9H7ggTPBuWjCyhx1vQdsETF99ZnbzZ1JRo/u2lTTULhlOQlzbloab9g+6qh1bchKbwrefN074SWG
W2VJJNcwEVbHB6f5zvwahzXH4UJNtUpmTKZroul23lPZzDPlt2YzZr1cc723dN09WWW4alz+WsGO
n6a0xkU9xEvnv/CHc0Eq/nLv2izaSXczxcRbwOv/Y5PSD4QgFdsZkq/88PLrdUSzeGTf2eVqL8c+
Xpgs/IV5E8bOYswrg6LtL1VhuBfr0tqDFAXIDvttQtFvCTDqIC50GHmvHust6rvKEHB3AKysO9aG
fNrf1WYP7YHixSiHXuhgflU85fnRnm2v/wURoflh5qotbgEyUAFoaQwYM/xWkDVriRAR3ZmGyi4a
Z34Hhi+L477mpI3ilAiGtKf7B523H5n1oZtC695HXhHdACcE/cHqbenc+mAfv6Y59wFLSwRhcKja
4gQb4w5ozqs9GpJClIdJswmi8bXb9iB0TpuXRxMWQXuoJNvkpd99MoFpBXReQGZZMdpmJFvPxB1I
ajvm+rv0HLWnatllnrTB3muq8pQn06pDv/PVty2Tr4Ceqg6haLrmPCqp7ce4xkN5bOc2su9t8u44
wWcgAzhNeBKmHqwBws8YIQj1afIlMCcexp0a9lFj7SmrBpDXQflrPYgc+fmzf03k+KhNWZaQwTNs
bdZXOXuvh/Laf+0Dac/pNBMw/K8yeTRAFnCONszn4DeAszYP+mCzhJ28EcjyYXedSqYWwleRGX+J
zbkrPD0dY/SB5es0riPjBK647rhaJIn3zbyp80Ib81tLHvXtSMX1mLrS7LCK6DxSUTp+dxeKSvU3
3HItSsNVApFIoyEKRylm2uuFbD/Bu/IgkUOUl9TC+NNPu5tAEhDQTN5NX4yEMs1YQf71vaMfF8iv
T7zt6/9xExsiwJhNHIGKLZeaIeCBN4rboo3qNi8cUrevrJwsIUbilRBkSC/UBeLYdUQHvpFdg2Q9
pIvwv2rS637pOASXzFpkhAqEI48c/B7aZuF1c1/QXyhlJ20N/P2fapamOuE4rdtkhMcOU7cLg/k4
eND02MpWaxrUIdyrmvpv257n/r4gVnwmrhiI5g7Nq5yPQaWGbzOijQKjmiTIYmx3xGcQ7ZlzIhbU
sWt3x6DfzPv4wTbRzo+jH5d3uIrH4lSO2yyOCpAYlGCu4W11vDsdMptO5BTY1TXN44uJUPcEI6Cg
HmwvPPi40trDaonlXsLZxye5cJgkjoYyTPx2dTfKtUa2ucnScjp29dCfDGKrIhEUVZV3LqRZm+YT
juFzREAWKtytq7eUquWpT5S7OXtqCl9NCRwDNzbXvBTw2t5kJZsfFvcrdUMEqXdLBLIX1+WDQcKJ
kqicfP5i0tmzQDpGnLa4G7+qbiweZlzLaGEkn9shELg97uxR72U5BA8bn7tL4jya2L4LqT6WtXF/
E4JQv3h+038XudOivJh3b3+6Km+ie0fMgK5olzQhNoDePXV+kdoPCwmy37L2+/IgTNRoIBCLarpC
B/F+2ler+8+RvNjHZs1Nd6QH0fdPvIwmytwynJsjyRGIpIzatv7kWkG9ngIUBTrRsgj9I4Ygnb/N
E8tyOnre9ULojP3BH+aMd4aB1flN52zsn5SyHDdV5bKXxz4KdHzcKspMXqZ8lr+8yuPVlWrMv+oo
1iAYqye+oXvQcVXEhr2aDcAwW4vF/x4LLCSHgQUPrpihhVeeg+ldg7mVSV6Ow89C7W+bSrihBxDB
GllNYMInogFGxA2RP1dH2PWVN8ktc/tgCyXRG6nJ7ggLLAKQ8dbufpVqjX9VW9D/oBr2mntvsyXi
5Rbngzurpk1CVYKx+bbs8bQNfLJX4w+qPCPdottwnUGu36bwSlowaU/PwTJsfxy0OC1hkxE7a2Sp
4R8EXSXvKEXkws+DQHu3YjNafy7oJcNjTi+XdxpLzpeLawHxnopdiykdtJjRzLhLiwU1Z7GpgJTW
m0mG5pVoXh5Rywr67xYv258F5fWzFZPknHQFITO8kbRJn6uVuIC0HGZaRvo9t72rOkvQWoomtjvl
/Ty/7GZu2afHnlAYA0Mfp260wR0VVmOA60pJV0Dfs94i5lg2fUbINC2pNQ/2ExYj0DJVDiO5ouy7
5bFlHfxPzdEKObWFkNFjwaP3t+7WsTgId91dUMx5HW4Q/fElMEj0B01FSHsUpXHKNFiN98V+gWQA
EG1r3ydlFm7waeZOoogWVvuAN0SRj9y7uswmQNjqvlaVfC+XuqnTQcWOndXhNKrPcMi7gB9NwKII
WnLN2XaMt5As1Np/TL4g3EGM7+9Iqpb5jzbWTprCICdzRilEZULo+7SpRwttPGno1v6jzTy8/Gvo
IfYOk4CeSxZb4yBuOqtUKLzGQB5LryJbNiZzj3Q+0ffvi0vS9XFcRhp0OZNqkfHPBt6EFa6D13F4
nvXQmgU/qtw/nbLKuxMJv2SfIdvzTJbzoAL7orT/VTWFHd4PQV6gVSiMU2RracDQ7dgKLps19YBF
ZTg0cDjjdUIlFNNPqIJDMFJgPAdcLewcRRIETHfTNVTCpHMXFWuK9q0skZn0wFhzXxjac/sIdNBR
ofW+dS2bFF/Xl21FFOtOPTYymH3o33SdS2gitJY2IghOaIo+C37ldJ+acDxLyPXfu5bAZyHY8cwc
V9QMGrIc3uZZxvPNWq7Of4Eugzwbwb+fq10jMuKqLHFW9GFwpSfbKcOWHWApWUsvhU/03wbkNEGG
pSH/jyxCtDnXEJ2nPXDb6hTnrR1eOD7nOmXcFi5XRD+wEfu7jYaIfb48FoyN0cnnh/+x+b4G5lsT
ylODULn5rUeS8g+MHHDSBxl27hlaoLjgjLemG0ylcX3Vwex9ErQr+70LBDm8qAA0/eB2ESCfriJn
veXcrJbEj/soi67esYOBUXDOPsGt7YnFqMTtV9Rlc0G5XK+IMn2NMT0EaTvyhHf1vYPAtOUNBOXI
MOznl27cxvvS8PMf92CyXyHP5pc4EvG327mw3qXmdrTBp20eHoSK9o8cY6s+GIjNMoUIcsSxjlfI
DVD4BkXYChA+DXJ8CRfPXlJac1YsnVPXRweDcG5BuKwXNwN1ryH9HOmiHwejl7c1nSYjdjnHFBD5
4FqfYSeUdScFg0AaD9DAiWfXxNW5pWvtz2g2QN7MkMdBujS2f9+gAStfNkW2UUWPdaunBFWKvG/M
6nSPYl9GSD69lfFJWFJek/S182LjwyScz5Lu+jzEqsA8bPfmv1WZarldwYDVIyPJds00iHLm4c5W
9gnqlXHEC8zgPoFMKZNZbNI9p2tUfSi91N5B5K4/vu3gv4xTdQE2zBC+Wh/OMFjz3dY4sHM75hL/
AfirmY+0CfjeL0s1u0iRda1Ax4EU0XVLWfBuIFoqU81gKw/1UhmLr6mPnyoWNOBriFH7jKA5/hKo
v6ujmTyemzhuVqSMQmx/pzneuAPrAeq5QEnDQ5Wb4sfqx3h+QToO8epBq45PXhltqEgBi5anXUzz
N4LaekTSinLvMMx70J48gxgqK0xsaVKdN60TtYbz0z5V7swgm6svwyBU4D9R1tfWWwyLje/iaopF
Oy9vET4Q8zcAFEZK7i0Gc4za+/V1pzjEfjIARkgm3MnzhrNcZi6oAkXcsxtungcO4scfndPYv4d4
DN8FSv3puucNX23RVPGrm1eIx929reK7xe6L5mndxRWximQ0nFxkt2h8BbdV0ruQvc+7BFm6G8dh
iO+cPoRf8Mxcv/r4TIMHy0xudWICyt3MrSFSaCqKZwucy8pHNtugkOtd5YNHZcsUzH9jrto50WXf
c1RrZXcUwQ6s+rnjaLB/8t8eKzSJ7SGQ/YT8omMTftoAkFRK1leXH5g0Wrpb+72ZD8hiR9IxqaQD
u1+vaQbsXTNTS7/TezwyjF0b6vbcJOG4KaAw5U4iKfjeia6ahkUxXQRRn9gcuNcRFt9gqja4b4B9
NJSXnFcwTjYJhpnUQxsp5pd+6BJikPmEUdzb48++VsItr/roacvG2PXdxAEW/5L10iwHPKDCzaaw
DL17PSp+R08T3nxPrgUS6j52e/3WgNHux42OkuvTGAPK4cyommQPdNccPaQqG1JMtpuKJA80UdzX
XIJz4H86PUBTwqTrtKfa0v14u8y1fHPGvtXJrKvNSqcVlS6MrECz7IFfP+40cFhHys5bkXV9UfSX
xRmq8taL+plJVcxoNPlqmD87uWwPHaEJRHwNjSJdda1UxdKpO83oHW8X/CBV84njOTyTGDq9DKJE
PrQOff978cPmBy4yeqOdBkh8cnPk9xSg3ru2Xz82OJ+flk6ZMVthKlB4Tpv70jAIw3lDd794M5cQ
nCYRSMxGy2iSvHGRP9uTno9Lp0V8B0zphOkUlfqbt2HgKgUCgBp3FlodFFPoVxvNM2aJbUQOtxV+
9FOssVtkldT1miCM0/05Lgfx01rIW7OgQVTBIknnHtG5Q9UH8NH1+mfCAvCxau6IK6cd6KO3D7X9
6Gyc8wk0hjveCDnl+6lGsv6FSgoThLu10ZtD8/H42CPSM0BWobOAs0S5epyijUNaRzMxdvMa+b9L
WVfhCagDtkwVWl5EuMWYGkiwb85c6gbpaVjYWeiHY5uhaUU8p/Fg3u5MlhtKOwIGL60TO8/KaHXO
O4WgyR1y/lKbXHIGGWV7lyhsOWXFqPTX3FqufQzLivOdvZ1Dlg/JklTLJhh+O1wov9Yy0GNSEo8j
MtsvRXRuJQN+hhvK65lyOp9sqLxQIb6XHmVZFSzt37WJpo9ts4bpYoX2clObYvZeIrNHmwexLPd/
dr9g6/E6FypgIUvsa0Sd79/uHFwpAvOqw5XbD/Fxn3z2L7DbtWyPjrU6EgvDMj2VltX9I/GDfXiz
7fFbyaZSR6Ra6JWreQbaV12vfObzzv6gOk2Xb/hwll9sKHjq1miL023n3kQ1IWzcNSP38Mao/oeq
w2VNLTVxkFGQjTzLFhHy55YV86FCc/mLUAHoNm8oh78hWjVziOq4vw2FokU7yifAHL3X8hbog+eH
xNtVJ1Hp+t8Uh1fvm4xkeNAQJuVh3JB54L2W+3zwmlKiw7qSh3cR3TNr5uSauTI0DkpxTNdIORZh
uSAoeiP9y5Ck8ebtbQFvgU7ibzjhdr4J52XHR23vwXgMXYTiSW6vYjgJxrT8yuvHMpkhMrLBKpm+
SLBXfyUvYnkxHbY1wETXbVJrERywk6W8kYuZkfaubaE0UPIPaEtQFCKg71wWgqzRkaWzPi7WB5KT
luDPzjdJzgoTo33bh16LS6qa3PlYyngSWbCIrT434eoNfF8+Z0SzNwbHz1yuMmWtIb/+sDJIajpP
4EIA6Xv1TfYWpi9+CiFTuNGr4Ki34z92j/LqgHK8kQ+7rZshs4IIbRcTiefx5XodZ3M3zPl0HDHL
6HNkAbpD5e6oZkfjgDFrtK86pVFExShuNiS+kvEb415BjVhGoreLtKU0D3W49PdhaHSRhqUpwrtA
bM4fsZJdDLM6L94JYGndTlrGS/+71qF2Ezmjkb9c1WJ9Si0GGAgQXzSngVXg8mK0iKKzdpaqut8H
R/1lOd5eOM9qecJJI+8tHUz9aVkL6d8iEo/fiKeSfzszbYScoXL2kAV3I/VfqpMlKyUR3oc2nLma
UVV1kq0E2WmC2QA7EvRtAcikWBOPJKZR5zdIwdWMEM/fKdWejfeEscqRx9w11R0xzLvJNKNu/aDZ
MI7dJMjdiq1h5LSkAvGHEh+vuiA8nD9jL5cPHpvGmiJHNP8VgR1+9gLb1UMUL6M676NtnsNmFfWX
DQKx/9qLeWnPkdkKwzOKiyTtwmGOGRHqUN9URcjdwuHn/FodUm+Txms45Rj2OXa5ASdyRdmaNGm0
TuedrGXyrBSvQvcCgC1/lDVbf3tkfOx1E2wi0sGp/W21HRNi6NBdcIYzCmTml03N+FStZUaz6pXy
ioREoMQ0ezeCKHTpYCPTxdsuai+rndDyQe338E+3lpB3zoxTiOllqPd07XCZZk0o0RPOxLCJc2Ch
IDlV0+5+hROKqtRBmN2c7CDM/wQLH3Wc8onEI/i4R1wjSK2mFVnMNQ0HLY9pu83c+GDfxzrY1gHF
A89SiyGuGz/KarZcaJ5rAuEo/GU9DWCfA4dCG/3GQyyekVe4fzjV5+CqpaqLI2DjUL46pT31aPu5
o81zWS8KBgeVaZ5V7botXD++rM+OW7jM2cHGconMvVOpBTz+qYbSm05iY9WC0ypUe1+6lKjg7cvV
9GSXfq/Tedjmu3quO/SmiCNZnQRM4D3GC2Uji5U75H8repolPSOn9Ww5wNsHEFbn7PZNYKPzWnH3
YNrQVUogUHfrV93gPdI5UY7HwLrCMHqO5RMfqPtGZ8z3c9jhyZjXNqcEUqBpuX8V+QrpMe2zQeZL
pD2umEVt+lKFKm6z2EahVuO3Q4tPWHl04oyz57NVImBFHBFrTkfA8jcE6hvzsz+4xX0xTp15WOJ9
n/BBhjvqBRs7BNSFwfOiJ6z2JzD9PHzhQ3Xgt1h38mTJbfErVxC7Se9I1t2wLOMcMV7HYRyXSAY3
e8J2PiMfuMtdyw+PHaaH27rmoX8ObZKTzuzpCPTZsRDRBYNj5Z9NvU7goZ1afnyECPsNa9e4nixo
XnFBLs+gGXS1OCJ1b3iQKlnfT8pZUKeikX/DPYX6i+dUNS8Mn/FfJI81vuGwmIYES5fLxkpAaPkW
DGXxG51RuB17ojx9Ngm6+XBseaF7HNr/r50k5QneOzD3v+7Sj8sBPW11D0Y0ygtND+1MHletf1a3
BOUGDEL3PxAayAM0dPzaksF9P9r+1O8XxatcpI0n5ZMs2gqHRsir/M7t3OEFQBlQ3JeopaMLwnIp
0qnGjopYEho3zTcz3LaNqPIEBC/6GAidqk94B5lkprau+ptwdOry4rhS0a5JMQQGHSgm0jOpPgeb
zeG9k7HxdP+xqJq3zHUrQi2JS6MGwe9sYzLQ7qh5RKhL2n6wbrhTNrcvHqmOU9y6c7NmkABenrXV
AsTdWyL6Ra+6QpEybEt+z0uGxOK6zL3ahedM52aPmFzyMOKICHyMSgFm3yjVjubqj0WvgrtpDbEd
hMAAHL7OEt4vdbB/ytFHL6cB5eOkFTmsW1zb7DRuNW9PLf8fvhWcCpIXuGcTqd2wk4mNfMDPBM0b
S9YKfIFZ53ggFKoA1ztMI0qrJChcrz4hx6mjoyuj1jutFmQpmVzdeLIjibx20JuQZy/IpXecZSmu
+jG/ejRmyRUatzroH/d2lN0z768KbnLHWtYbjBTAxY03PZYhTtpE9eWMYJQvkVmc+CrX7p3pnoSg
NbrE/dg9FBuG9pt4I3UE+Uu9s0PILUL9klc/O07X8QZ6k/UJSCqW9lNr+VF/IGKt9njaqr1JW1P6
Kh2hUf/oFio/C7WlxmQIwZAYsfbiWeMLWH8PRsCRSSa2OssRhwSnfobtOvfzGDI5Uo/wI7gi8XiE
9DOlduBW3WmevHl5Mo6qA8x9zfYeLuT4878I2gjDghhvI7UW9sk26F4P015ATxD5wMHeFfgVwaEG
bp62RgpzWOvA4YPmFbwH4FyDXNm2gn9xGRZjUrhrKZNo3AYna4m0vlljjs8EtSUxp/7uBiP31zrq
X3ou9gCeinYlxdDEaD0W0/ZL13n0XEDxOIwOSPpT2zN0ejsIk9A7qxLbc0d8M66OxtfLwc/D4TdU
CLR93MWCHdYrkRry5UgwC+bC+oyY3KkzV4Q7UE0weRIWDFNxRnxOER6dEfD/ZkNKA2jVIT9lBKtt
DRiIvC4dwkVaSVVr7rac5EfvZt0RlJ/9tY3+wTlgxgIOqopMrMMqsl212y/eYuhEzJjbIXI25ZxE
RxYtgQqz9zagP1R3Kl42cykGf37nBb829M1TkbWxUv+EEdsPcl2Jg2ywNjRhEcNzMKH45NKI8D/1
FXi7HSsD442pLj5Zq97HZC3yfM9GIdifeNyfFBqpH0j0OEUDePUigUyPn/s27xUfLmAWXlg3sJbM
xfAISTUwHq5oXm6Y3JeIuXwco4PKd049ERPxkGC96VRGiYeP/mXgNErXklj4A0Pt9jHHvnkVg6O/
1jbczg0xRfIygFPfhiSlXU2sC+abhiIVdLwh+f9gWnl1N6CB+3TLMeoYLZXTI8Pm4OaRD4c1I9Mq
B9GkbiU8R4sV1ekmSqxB8ULyRhkhdjj1CP2IdLCGCEVCVHRPFIUNX8Tdli9yq60vZ+ogdtqQ2+SO
bKxGZACVs58gfI/uwmrFSELjjocQyqbUT9QhAok2d5fzlQSF2kN0D66Owu5ee2v/x6b+eMmm1SOI
gEAFPONhpIrgtNLfEYMIIjl6MVsQs+Bx9xxYluJ3jRZP4pvJp4CYodx/81EzV1A07voWtvvwEXg1
tVPCUeVvw6m3Zg3485/BQvF1QGRcrCdS6e3fPBIkh7Km2OxF4bI+EjDhXRPzdt+jR2Ss60zHk9ZP
9LyMiKrF7vwNhr1jG4GH61IVkqadFnvYv0rSf0Q29FPxJImQ+sdlHgapNTWbyyLtCJS1XdP86WDq
ViToQ8hesy8eKjtRQ2mNs0JOtAuG+b3Hs4o2Nqr9c+iynCUlunvAI5cM5kMwkk+RuE4Jo+GtRUxG
hSTOyEDQTKe6UHPONb8EnzSxL/hbROs/FmHBLuRUsfic89B1T5MK1+dKNkVzGyBc+QnCWX5qq+dd
bnm3/g+R7lNK4l0bJkQjle+hUtV8HuSOXyMswvhsxcJdHvCH0fM1x+uEntKVYrtEAapThscZNETV
dJgearMGX9uyIhNYp9jkpxpa+tbBtCePPe0pNqORvsLGGCK9027t2900mGW6cbHgxWlQs7TiOFzi
8BaWVLe8hAOfwpoUQDQ+zaqGAyVTIvUdU/UPXZETccHTa/+qOS26E5Itup4sUW/6pQ6m6qnW2/7X
we1wszq4Kq88OYX0ZlZDQWv85u+YkyIA6zgPYjfxeqaAmy4YPBspikXmnCfLujj5ZDNAyvueKtLV
Y748gciXzveq1+VNebOlj5gag/vdFO14CoiE+JITmwXwat++IOjslsPi88XxGJBUkHBjkrax5MH+
oprJ3w4ACRvq3dEih61wAtQsk7Wx8rDtb8W5AKPMXHuF4a9k63gMLvPwz7gRS4JBWmAOZglWj21n
z5/bqRXWUWAg+Gs3jQhuvMUV/01777dAK4H9lO91i+ReRdPntUIasQjGf0YFr4v9y47Qkqp3UkMe
O7KrkDJDJk2XrZ/9/YjZvHuKAMC5NUgg/b1goAc0j3z9Ow7a0rqZgNdeB/wJ1QFLtHwwqIgrOKDe
e3KAwnnKNgEX4G5K5vf4DyU+z3qMH7XTNOsJXyYlvO6VkUFBM7xajgGYsjs3LjPfNAOvjzWa6TFe
irXItqWhSkyT/K7OHE9MXHHrUOjL49hQHbRGdcPzFJIlIju0I2UBO8ZJZCJx6l3PR7/zf4SovTpD
wTa4ppINf/etr9aZJ65FxcTgVMLEkOEyIQ104Kz+1GMZP1Zcb6TDcJF8B9i7xoss88LNrDUEfwCQ
WEQWkjEiU6y34Yub7w6Sd9GXLXUVY/hkyoFTXk8MeVY74I4lEgfdHsAFhNwBPqEQ6V7nPfia24dH
G14KjVNXCj+Z4F7AH21bvTCkMcgtynawummOqdPui+2xcThDD/MGjbb4lbyO0CN48z4HFciYkmUi
V3TAhzmnTOlW9Hajr3YURsk/7DRhSCKI7z7yPXOX+L5NYxh++u3ZI4/rI1eDJnyhFOjwd8kJciS1
y4wXmw3mpVjCGhu+30skQhiq5oOqkKPfAzsAhBVKe+95VOdPptjzexumJr/1VLCHCZkb1pLF8eK0
h31zgu22Lzzy01Zjtz+0D/ZfVjnl7xvi0f2mJpHrB/JDUmjWIYE4gCrOpIIPJdiYk8ftHfHQHLrC
m8s/5BmV4YlQOcoSt63ZAtYfYhFurLAfHvNycEDgAxavzB+h+vgZyg4fkx/k4hxaiOjx4wc7asZx
GOEgVOSkXtcOSU3ZoH+GFoOqQB1T5am3hxHiNZTOdG/UzdS94HmYnrZqmp9FqzTHNIJ2jRq/XD9G
77qf4B+ZL2QxIBuL6jZcbjnjcvuVpxEjRbCJbkay5vtOVuSAJRhB0a8dWEyvwfu2WW7zaEUr6Vs+
aZmQd20SRIVjF4eaiqX/Bhj2q2QNp/EB0H7+mpwIBTh7yvhSmh7JPmk4twqVlJ/lGxQcuU0FfrRc
FPJfMUzOmiIZJ/rlmpnhHnYkH/nRB3cxBAaI+MPP3fKdqHb1Wq+SF0d6nTlvgbJtaJjSu8WgU7iH
ioeG6H/mnSrza0GqxCbt+KTiStzBypqONm5g7sduatDkAFT7byaOZn3oJzHyIiD/yYETCm5Mj/FR
P+y5HOJDQViVn2inu7q4C+aazCqc6jPQ1bAfB4iW6YmPur6MXE4E81tDDIIa+MJkO3YD9JTcXQFf
lw/D2Xq7fifyCfanaaL+r47ncDw4RRBxVTQTzg1EHGhGvNGgBCyu5QhJJfJWnkZ7RelDKA7VHaBB
Qj+4eyzfgPoD/4EHsSEz1A2mPHMGnzsN8B/qvJhQWwNa+kOR2fVCIgz/6TxkxB+TW1CFO1F4+BkJ
+ee7xXMFfATwSrRDWKXjvJjqqIm0LVmwyvnBdWf7GiIQlff7Lqzotci97a29vozAExVbbq/i4M1G
AUK8gd/Xt8UYNYKEnVh/zpCe66nFY//QciFQp9ZRC1tAOymuhmn5NkRD/0dignfnWa1HtFEY5VFS
eIioLzjZbBKce7XekE7kX8aRysUDxhZUETuTFc8re77/7QCIfjgoNBmb0BwBaGLfDF8DtxF9No9z
QNINF3KiMRndEEQxDyf+XVkf9LJivmncoLdTgbOoPUbetH034QKyvc9lXKQuG3D7DSgbZVh8r5CO
GJmbWe8scUZQOF1mMYMjWdHgM5eEfvwb9sxtMOE75fV+IB0av0SziDeS2OzXVbvNX4vn5Eu3q7ov
vWK72kZyTlA/37q/GPXtq0PZAS6LCbH7r2wtyuzgX4L1sHF/3cY86dtt47XNk1VXtZ/s6IKrgx8i
NfgkGaPA7UYPMe404pnB7Xc2Re4ZyObUrP3yslbVbl4UdB2+qXg07y2YJNJQgug/UVgs0Qn5mBhQ
AXWclJRChv5hGFg8z4utLP0NMW53ibvIob8D11AXxXy1n0ZkMW5W2oWFpQEJFyE97Vo+M4e4306R
M312O7IRNNsGDdxuV4P5H2ln1lsn1qXhP9RIsIEN3J4ZO3bsDE4qN8hJKszzzK/vh7TUHXPQQfla
dVElleR9gD2svda7nhecDs4Pu5K6Uk5aWS+i8zQ5Ix1lWULwXEjVYc4FmUGYzAY4nFKucOwCea0V
75G5xo8001TRu75ITKRAaoroKvb1DLVwZPhHk1xyQQjZzXXQEgrjMxQ0WtdNLbQzF5WM1PfosrxX
CFx+9FS0ZhWdsMIQ2bESTo8o0xblIwbOZbnTQpVfTaONEHfCRv6NSttOzomWJsEdCdKcuA17og5V
Vj2qXxu7UH5yG894u31uPY8yNZBejlEld2Aj2/BjifTrpPvD2B4TMXDjn0RXI4DVvfyEqi560iAd
gYrK82J6DMtSx3aWVhsM4FDf+unjf6EMlEoTNr0r7S64A89ZWA+dCD1nN1njoB3+S3h6ZSCKTd3J
63DK0tKsyEDuGFly7KECDydU6GrOn5oQJeRRMV6KasysY9JyYo0tH47GibjfoHuugEQlAQ54Teiu
3FHm//8HGpfi50ihp2hdgNHqXjNzHV0I+l3BPXMLDj2DNhcgUSAh5FglKEr+WYBEo5kWSkdP67Zg
Eg4e0KNjKIX9OAKH2ZMhsr4p3sR9wiEOpKaN9iwnGqcRMNI36JtroEhLxzqespCFLdMCCaowpUmX
qa1bW1NzauFhgskOu/Nt6OYKA1NawOFsoc+uDvoCR6n4pHFHriFu61Uf+YD+Fx2F+VxbVFzyB1yi
yoSG7NuDaqtvGQC+hp4Z86Clp0lGC2TvkXR0+67TnpAx2GdDaMreoCBzIuqCXIS+5pjWcjoUfVzu
MDd19kWfb5nyrk0tsF3/+0NmJukfUwvaUmVVkpfcpSn0PWRWtq2F97SLdhsWraufE7kGhlAz2P2K
8CoHmVhG1bqS+vFZt3XzUYKN22BWr45iGRZvS9cRti0+Z4c+pdVQiLoCd1ayU4Z5yfvKPN7+fquT
5o9RFmRsvfElKqyhdQuaol0cKvyjTXXoCySu7C6qEFIS83Ub62HlU2H5o2JiqqkWvsKLR8NA3iHR
aLSuBQ/xaBZj89jGvQe8jba/28+38hbRgqKqkciVoNUvAOgtsCX0IFHrYlQn6J9tpH1CKknx/G/H
EcwGVcf9RgNFu9xsgoztHBELsy+q9cd8EkhFp8HfmBPXXF1GIYzUDYseySviLLBGdOEmM88Dt3iy
81J89pxBGe6mMBIueUBPbFizz9//7SaKHxWWkuxdFgD55VwXWJ1Y8IhqlxChfQlMrhlKlMTHIZM+
SOWZ9R/LHPqbJ8QG+Pa3UcdibAvTBEfCHMdv1Zq/7Z8rmqoLjWDh5DadIjU3RugLeslQHC7ARSZy
t7PQHbpVSzx2oSogS64pmnnXtnQnnGLVKblXefQUU6OH22Im1pjuaYnwzEtGOy0ighQOKJVW2/Hv
UsukCl8g794ltOSnR+ygUMimME9QCiaT8cmqJr3Y2D6vpyeUaw4GA8WMgXfNwn1Qc5I8DEMxuoEd
y0+AotAxTIH6fHtyXq+3eZR5vrBDY460WG9VrMQGNY2RUhWYgUDpG5oLA+H2xVSfbw+1+kCOdGzH
AKEIluntN1NpVZ1s32Io/LKPsUFmdpYObqzqtQfC5AIHOV0akkT721EASDlV5RiYDCIm2o+1Cfpg
4lJHz8KW2+DKAiCzqZJb5dZjUZV7OxTa5oy+RXtwfS5I+S5Je/hQbT8jjQAYiuAdmNXgtXdaZLci
UcZgY2OZ//5iEdgMrxkWLavUBRYbGNnUKG2NcnBJlyikEFPqtXmPTI+Mw31ZqtFB6vmWCfnK+7XJ
AJo4lbHN4Nz89qELrwgjq6lGN1JCLD1knxytqu2POtibv/+UDDX7JBg4eGAk+XYoX0ZA5GPmZmQM
Xw0xtHR3UeuVupFujLT6Jv8YaTFpmlIBIdOmo9sQhH5AuyUfMycfaY0RnVtCOaEma8vT7fWwOqhD
NVHHSEcl4nj7ePTDcYG2aeioEW98Z8X4P9KCy4udCe0h1VrxOlJ5/X570LXPZ3DmGbxUw1aXvHDa
1nyKOnHv+vS43JUpPVaKQccDKepq46WuDWVLYaDFczQBkfDt88Ge5oraF4PbG0DBe6Ok+Sjs/m2H
3tk4iVbeJOIJ1aTswVmAB9XbkcrRyLNOk70b1V3zBEVUP42Yh3ymtFu+sz0f+WKo/rj9IlfHxCqI
njPOQJSZb8cMRzKK2lwe7ZAFp1R96+Q+ATF/CAfASTACVPA/I2py43J74OuDXtc0zgP8aFU5G3y8
HRgtXBbDRSo59MyA9mmK7QkeGD/ztM3/1YGU+Bvf8XrfZkBDNTlnMfqQS9OsioXXB6IuYdkrNXdG
WHJpHNYb33B9FEJagmfB3r2YLVqdQXccmtJN8wH5iINs/9mJpNh4mOtJycPgRWtztIrrz6aROjU6
r6ncqodnhnqnns6SfGJ/CKAX/7r9qVYGk/PpjSsXSF/TXnwqqlujVYZB4wLcUe4b7AdPweClj6Na
bBkuzVP87Vmgg+AkGpLabKqwdOZyetOkoODVblHUZfMTXjO3KNGOySOAQlTTHcXH7o4mH+8JB6OE
m67GUX/7cVc+IRAklh9nO2Zwy2sJBMjJi0mpuqYXtO/UpkXuQr/Ry+1R1l4q0YrDbQ7/IHN56tnh
lGMvlbdukIrg5E3pK5276dEyUBvfHmllpc1rG7Nvi8urWD4PxYU+0AarcmU0qed2sP2IHDYwaGrO
XXsGudr8veU0d0KMfFWuQBx9yzOhyDFT0EETuGqlDE+cBlCF5OTcCxpzT7ef7ncAuZgyHOCcOyzp
Wb8673B/xNB0+gXoYIAiGfR+pnezYV1FxZz2nB1dFcZdbVb5v7TG9q+YEYgj+6D6SYD53tjPVr4n
E0YILEh04rbliYSyeRClmHULaHo/wa6lTGmHtXIZU+T1t5955Ys6OsBhtjNckTgG3z6yZaWJbMOw
dUPUXfdKX5ifvbJNafirSRSBgcQj5vC3QxoIyNk6DQQqGAkt9gCUOlmWhFHtYjEBycGUR2qv9UEF
e77PejrWbw93vQYZDhNGzFVUyojWIpKZetJdQWNXbqAFrQvwIj8rPOvGKNffjFEIe2fDMpVc3eI9
JuiKDa/3KjdsnOkR3I59TnwHcfWMern9QMuh+FKqJcnVcfJIXLMW54JSGpD7W4UCetWVd3Wu1yhV
rfzkm+HfBiy/h2Kx6zbMQefKspECDCqyKlFdnESyC0HLVxoH+7kry994f8uvtBxpnqd/LD0NgEMc
NzkGFUHRn/rWkwdDAd9x+9Utz4R5FFpoVK7pGreu5f2ki0aNk6LVXI1oBOKqKV903bFcYnbr2DVa
dIQK6TzgmVIfBxiHG4tt5SFx6tJZ2xpxClextw8ZY5WMdxHISIHo4i5T7PYSzs0Gtx9yuaR5SMIh
C8ELjY42iZy3owDzkkbIzuJmsUlvekofagjGEx+ZEFU3djB/6ewzj/c/MYpgTtKG83a8dlKIhjxF
dSkMqt0+neLoa1VZ8OhuP9fKvOfNEQfZqGTUq5OgQ+0zKpkUdK/g4UrXdDTBWGpI5NJjA99gY7iV
j4XylBdIOsyhHWxxGJh5iW6c/gOuzSZNSGUUvePjWu7th9Lnt/PnmcPbY6Pn2iFUCyO85cYhGhlx
mUWFx4qvnZcwzwISHEZefyoLBQ2YjbtbSE7FD06ZUY+4X5RCcNxOUDLRr3Zir/ihBvDEbq3w5Dtq
dWFua/W+sh0UzuUUjLggsK3Slk497zmvskY5ANSRTxNaHVI3iaIbJ9nHofMPYOYRGkohOvTX9BMI
imIYndwNnhq3ewgyWbDHpUdFO47ic9w4f9c+sI1Tm6ZS87BIWLydSIMv4M5ALXUD1Y7ciX7DXaQk
OckEms1uv/aVNULalNeOlftKKimKAFnAk5/AZgXdFwsHG5d2tP7QGm3x7zB2G27L8xmz+Mg6pQOd
hTLnR5YXBrvq22xSGQ6bPrhCk5/+wmjS/uzjVLEHfivew/bA+TnFr+T2g/4O/q6GNrmqcGMhDbo8
bdPEj+qyRG5Fbtc374vMCL+ih3A+dIptzl6rNky7oPXfT61SfhVpW57Q9ctPpZeLLz0khPcdKcPj
7V+18qV/539RqPNSrtL16aBpfhgb2KDSoH3xq6a+g/uRf0ZBF228gPWhKG1RfZVzXu/tpHKMCZSB
IvnSjQozMq9Q65hh9pArCEz+g6eas/SCJBD7++JgTjtR4qvOaQnIhN4lINnNIVGC4AMd583T7bFW
JrA+358kKW4Do+nFY5UjIUhU25OLPmCKX3xiu88DYoKHNgEK9EOIUdk4vFZHpJNxzjzp/GsxYqCk
oa/F2eRqfWHRYw9SEtUbTi+tTx428becqZfpBDZGzkndpEpA1HZ1f6s7pbDKuBndOPDFYRB0PXYF
SirkGSlKUf+H6ujyLyPv32MyJ9mIiXgoPy4mS4COM/VNNuDMyj8gDqGfEwnwOe+T8P851Hz8/BHw
NDn1a7+zR3cSdhQeM8wHntMYbdBOSVQxbkzN1ZdpYi1rSR1Pw2VMACpY2gEyENepe+2+B/B/bo0k
+TWL5y/+VBQvcHGLjTm6tvQEXVwGNWzKSsujbRblFX1LttKk6ehxADB4booqBIdED/ft5bC2wZK2
txnMsKW1XOVRXdHnnTkDbfqCIoWflxfaFDXaJWPIXz3RD7ZYuJQiwN3I0myNPC+bP78j8NNIGTMe
EmXivkwt1E/OCFR0yJyLMWjtzy6o0RRUMs82htbWxp5ruCw2rG3t5bFSmkVHAT7mq3ZVlXOSN16H
onEMuwOY4MjeYzUSDIeMa1G/l0iM3ZG+1ggEv+fcwdGytZ1KA0CwtzPDB3FNdzR0tXHw7F1lljVm
RZPo6Yvu4f4cb3+wtblBFojgh7qEcRWJp0HqaSO4M7dM7OTUO4p1AB2QED2q9sbcX9u4CChUQRzH
vrW8L6kdiGejnya3q8rx5OdBfcEuJz+o/ji9C4J8PN9+tLW1BiqQMiBBvkmq9+2MQA6s+z7wV7dz
PEecjFZvH9C2eP5Tp+fCdlNvpkpocd18uD3w73rR8qxHMUL7AUc9kfJiZOlzzqkALtxcGUQBWyI0
XisHFxi3sUq7OhvoIOwTTl1xeOyrOIBuUNL+gs5yML/2YBOy93SdxAK0fEg7k5cbvX0oxhBUvA1e
ID7V9H6rl7zsos8pJLSZleMVLQ0cQeXfocGfPkdlp6JRGk2JhBT1mvGt8WnH3tOT1PyYmmmCF2Ej
ETrQPVN+GvvIQtFslwOq/Bbi3T3UHB3foNsvZmUGkK2FEeZwmhBlL7b1IcpqSc/uQCjfzhizQkuU
+ygO+m/IbaPkVLdtWJ7+fkzNIkVGnp+U/zLuKvCUCLpGIQOf01t/KItsZNqxMxwRvHoazaodSY//
ZEwq0Ibp6KR0FwFI5ZMdHirGHA3L4yNoCJob9oaTqQzDx051NibcfEYt5huCC45KVSf9Tl3j7UwH
UKh3HhB610/xbth5DTY2exNw95ZwZmVJGeSmTa5IUhIXLD6gAyGWxrN0cA1oDwGECVVTYPukuJXC
ao3B/AfT9C6qx+j19htd2aYMA8Qy8TP/oij89gmnPqqlalLbE2DGsYeQ4egcsezRu2MnTLFRvlyb
p8xRzTQ0cDfk496OZqQDzFoaqdyymVrYRg0gUCNUxHCwmgleiQRgvrEPrxwhlDBMpiiXV5I8iylj
54Hf6EE5oUiCqvnQxHN7sAxiieQxfZWK8mBllj7sM7vxNs7seXYsZw/l0jn810w8gRdDQ0PL1Jrr
qcueUl7Y/JNj2iDQq2wjcnGUNS4S26pDVkXKtCu6stp422vfVjpcrjEq0MndLWYvKeCU4FxjV2iy
ZxsrIRfDg+8TLizn25NIWxvJgiE+534c4q/5//8RI8QaVK3ML/muhEnifRCZJFVpPFCyA5QeKiI7
Z0qLB91q6Q3G8yX7VtZldkGkZb+oaaajQqSz8TuroJR3IbqVxgWtTB7p9u9cWc4cV7iGGIIoivTY
25+JRqWxnHSYXCOgd1O0DSTwmi7kjVHmxbr47vTL0F1PXpEs9zJqUYSGgyBYSFfj1E/OXpe2xT2y
a/+uxR+IRuWur3T6arTo3sKIE9qTn03/kMfNcScdYlpbENBnZ9UKEf1bNBT/rFWU3ZCUhY7JySSs
Zg9RDJofvB5aTLhiYvXlpSPtHpHjRNZ3qdRAbUFCq+Ke+2EyXuy6xHRZGlbcAzJNLSjBRTPykcK4
AMDfsFm/68Yx+j4YQfFshL7/SxQybQ5er/l073oYsO0xK8WoBlJ+dadDpfMPqSLHDIecXtzpap1m
/9x+k1dyQq4rkuy9Nt8EqUUuL4EJwFhgCb7JNboNxQ+igqL/twX284X+6qB+Uo3a4M4bdrK/L9sB
YmjGhwn2JNLGXxYi8XTjAFqZ6GT0WUrk5whKl9UEWwNwmZSa4eo5qvedb2qfueUbT3gPDh9vP/zK
XsmdkHqXzX2UR583tj/WlOpUWZ8XJt6aCnsLKLemBKUTWXgM+w19ox8oMwR/f6EhjUIOEhkNQy43
S38KRQj6X4cGkUp5IWxwwlMv8KD5OhqatVVtm9fbYqHYqIJMAHrzTX8ZQgT1SHFx0nQ31enh1ula
OFcSCwDI6+kX5Nv9KVWL59uvdeU8YD6RPJYGtQxtKRbi6mh1TRYYVLUt9KeAjgTW4nbaP1WlQ/Rc
dqSp/Cm+pwXa3xI8r2xAGNIjdkS6w5bsLL5pn0703OO3iCoVQjetTuCzQKr//TbHQY4ykEopjSRL
pVwf4p0Sj5l049bs8aa0sNkOtC2/+5WlYM+KoFmySQl/mRWPGtPxDAIydwB/f3BgeWG11ihHPady
ePubXdUt2Qe4A5qgqhxH4+3N7/WPtYAOn85dLJrdqrPoLpep+c6wm/AYKuZ0sUZrJFOcNl+NttMP
gWJHhwnfk423urIeZ8UJX47ELb9k8RskPQgwpSLLNWk7+pJEZgPUXPNOud2bX/AJ97cKw2tPjajY
mPN6AnGsPf+iP57arhNZ0Owj52g3w9DepF1mymjRdMziQC0J374Re5y4H6Cw+mGPOeNkbWx4q09t
E+UTIvJjlsslHtVxCBLVAs3pGKeYrtw9bjnwqpAUHHLdirau/CtLxFFJWgv2/Fm/vdBA0vieyMhr
LZeep8gGEOLEkGqN7NDYWJtYhTHbXtvhB4QPgKNstcbWnnz/aEbVriPle4A/b59DGDQvtyfh2g8j
72ngIyWgxKiL4EHLQdD3qmKydm3jg0WIuzPbzt94/pUtkTf9f6MsdggTQBJm6CF2FzGoV469b/jS
iy9Db7x2AIDv6r7RN8LU34WexTbMQUPFmsoujTTOYmaDpidktzlliyptlV1hKW11yrOhwA4FR+Bd
g40LfToJ0ID3GTwLepUKAEMPIoIp/C5Wm+4fYK3jBZcbr/snTBQDvweRAeAZIaUACUGpBWKRdl1/
X/V9/MGTPW5Gsejknvzo3C2vJMMLNRwFB0Tfr03c+czaOoQoVs5B3MBg07H+peMQjD+WMVWkeQec
SUzvg+0N6JJyfc4r+kjx/UPdw3YAsmsaWyXc1QWpk+qjH5UGB9UQbxekBRwLjnQtSYXlo3OKIoK3
c1VaanDRYjxfd3VlOMpOG0Prosl2BMAgUL/SkBV48nx7Oq5sv3Nph9lICwli7MU6ccJWm11fpDtR
aThG0sceLRKYezmpurEHrByZDEVmfJaazxXDt48dmzFtRrbg1PLD4GdMjxPc4gJ/Qr8aH2h8Gy4t
HII7SvrmVijNX17OzFnVQPqMTYHi62LkFPRnNE7SrSfgb5kpur0xhFu1srVXSQ2UWyJRFrZfi/kP
fnGMQ9sy3X4aMEv0tZSdLdK/AKr9/PcfjZ2NlgYbuRQR5NvnwS0Djxg95WR28HuO4zB/RXKrP4QN
corbQ61tJOSKMZSeg1UKgW+HUjIIg0XB/EgHS7/zTaX8JNNUvAu5dL8TA7h1S1YbsdXai3S4XZGf
YXGwBb4d04+ArkW4kbqW7rfWUSEIS/eh2RVH+CrRxuVgfTDuBaixCVrFYjEalVOm2PeYboibOTtD
PvPLtegC4snYWADXQ3FtVQkYacgjPNYX03AMQzM2OjZlRyTTfVmN4Ko9c/pYTMFWLnd+RW9n/HxD
1jGlIKFLqLEYCt5DzKYqTNekz57uaA75FOjh6fbkkNdLWpu3MTS6s/DsKnnndIEXiDbS3d43S+c8
ULUQz2ab98E9xs9Zgi2f097P8+pnhk0F9GKOVWBhdfwJC0P1k2OgK9xXaVSCrdIiQdkcXJsF9hUv
NbwW6karDpHX2C+DJek91wKR/ZrobfjYFejzT14uDTKUg+f9kAm9jDvFDPzPdIrl6TsbGpq9i1py
jzuaLBRtb3ee/JG0samfQyCBPywT1gKUbMX8F6de/UeFcd97fFXt7w103XzPFbYb6UsXBcaHpVWf
A6dorU/0mpHiiqep7D7UQxJl9zEODc9TZvbxyeuK6ScOilV68XLg/YexRxIETrMUn3q649Eglah8
9yi7Mu1ETg7nFyPJen3ngwn4kcRe0B3zMWoghRAwP8SFIjHRS8tGvcOHESagpqbqrrVmnHoi9VZu
HOMrl2UK7xzh1nxhJMOxWBBho6q4JsS6SxSMQyOYK8f/rpYBpyEG1Zrx0BV6j44ijjC0DKSTwOMU
Vv/EkaV9mezCqTYipt8h8WIyI5zhGqkxmTVreZ3smq6HFqlSmEiDjzZuzGA+IoBk8KyH6sEereaI
vzPoi4jSVa4YziEwggjkkK5TY1KAB5FV/nR76mvza1j+KBLldGZxl6AAu9iDpzQHK5nkwjWSsY3B
hthK9i7M4HEw2xz/izWhYbkMWQiRpQZ8Hu1TR52UO3pzmuQuLdIhOhlhikflxg+bd+TlD6OoTKCP
yJtU5eKHUf5CZzrm4KqCPO+gknlFdEzGvnQeRkdtXyfFicddV8d2vgfnqOIHQCELrxUDH7EXkTaD
elFgPekHHafcAixE07xSnh/fF6HW/bz9a1f2KYGux55V1UQfy9uQibknlqiVTrE8VT/GOJYO+1EH
5LjxVpzrl0ICHmUx0l9Gk4tjrGtpxLIDVXfVPnP+STofAwdEnO91QlXYNtjVpCCeewBEQ50APSqx
UtA2hAHXRymnC6p/4COkD9EK8hv/uIcp9H6DCSrZk/mPj3xSG1psKsCNQIz3QduOziVBFrlxFVh7
xRwEVHUQx2von98OGxZQnOpmIvk1dQIL3jS64+IgNhbpytkmDB05AAZbOnXsxQv2Ejr56UkxXKoA
2MRDTXF+tE7hPxsopKPTX88aLhqEkiSk6T1bblFE9d2QAcV28yI13RFDkOepifyNvPfKi+PyaJHj
pfaK2GHxSGVvZxEEXd0lrPTvPBXEDc1c5ePtZ5n/ymK5otxArSccUr3cCN5+nmxqLE/vy97NQs9z
fjm9kPGBvgID+mXNAnzIqFlvjLkyEw16GWg0Jji4rodnkxxsK6f9Syv1+luvzuoUcCM7C8zOoYAd
+G7McfK7/aD6/CSLJ8WowCT5Qf8JCbt5jf4x/2sd2+pw0Du3i7E0eUhFiVYOND+1E+RM1ROvBycr
rEabGSDrU+OG+GUefbMOihkST29OXwQ4h4RpGmkHH6Ki/36gu/hzH07UuWahxoOVlBm+BXFQaJ8C
n5Bnhxh/9lyO2XBfdcxV4n8KjqpXpQm0/BKzYdQIuURonfokBhSbEl37HxK7S+UuyLebM9fePXMK
XSbpH5Uv//YtWIGjW0bZNG4U6eNHD0MXjEIACyJnacRpIH+NNYpW9h9uv/2VaTaX5lDrU5+j73Ze
v3+8/CArAbgZ6Nc1mqieEh/6OVwga0/Lq/3MZtVsbLjzrrL82OQoqUVywZ2bRN+ORwqsJYBGSI6t
qvncZ1r9A3BXsIeaAHi0aqYfCG3KPfSnbGOerSxb7pbsQSZXB970YpqZhagLr6IG2ho1GDQgY2fT
N4fz7feprbxQRmAVzbsDzLBFhF1OdtSXhaRHLWxBljSmp9YXGWnClUUvfSZsHk87zIoU5ZCAIZru
zZo58bHFhDTe4ajsNT8rH4OAExtdB9xMVALdT670nwV21MbG712ZduyW1NXm3qXrhiLsRfAuriKK
eOAeKA/L4mlMEuD7XaPH7S6svMTNhyZxDrff09q4bNHoCZA8C7EUlRSRDjgGyL+r5FZxSdomfDaq
HE/gLtbec0zWAFmr8OX2oCvf5ndunMzf3B65rO933QBRfe4f1O2pgJCo4u5kd/ZxaPMXD48p9/Zw
KzMOnz+Ks5yvKlXpxZKuslg1Oqwr3bpuQX9YnYMNg1EkW/KMtdCcGuwcbdJk4LBRvF1Uk1lSDsTE
0jXRQk+H3tfD14wM04z2zUZskYPKcDX4vR1SjTj8qMJbF+fOKE2Mz4Uxvt5+7pVvaxHS6HwmgjfE
h29/zuBlCjxZtXZDLDax805C67lgHp+bVuT3MZgxcdSSIP/7RMscKbIs9PnbXtV7pjhWQ0oSdBR2
gMA9D/fEJPbrS0dYcLz9iCtxI+hl8h/cbUm0LK8eozNyVw2L2s2nQNubvtR2ZaU6ezUKm9OgF95Z
89TmFLKWTgFmep9uD7+SKtSYVFST2EvJUSwFHdGEtj0UReOCzpi8g7BakEQZNgVPIbBqutQtQFgo
lZjtRz1MDLKskeZ/UQPIvxs7+kqEZxFDEsHSL4gaYbGvDtyyQT3SuTPE7XiQaHTkzlCGtjrUXV5t
1dhXljA7OB0MrCukaMtjkvsu0q2mprerz1HsNUF74ZrV7hw8dA4g8rONa+/a01lskCQz+NpEym/n
coAzW6E7UeMCaqZpu6x0vISGbPT/wZOjFu9vf9eV05GiLNczDiqm1nI0CvoFFMWqoZusbfatogHl
N7XcbSNNOVkDhOBBs8znEhrUxn5sCh7k7cFMumUOm3nMuUa7+IzIWyIvT2ggosMvZql2hOoYPbTp
tCONoVICo3XkcUrs/qMTBRgp5oY9fgH+rfQHNHweWXbb9uTRnybbhgRdqFhG2V4PQK9vakwepnII
dyMeCtoBGlRRHes+AV5X+4hlznacDzNFfYII6uue9it18J6B6eiP1s7yCuujVtRKsptgmT16rWb+
ii1NCU7mQNXA1cmZfMp9DxJwV2UtQo+6/ej0AChODo0aYAAbU9H5eCPmlJ3VOx3UPxkj5sWM7GDS
lQhdJ/D6X3kA4M6laa+x9vi+mNmhgjXp7TUZ4hS3M1Ogy3u/DKS5Mc2uPzxLGS0n6TKNO9lS4SKj
kUY/UGwu7OzC+DiDGJxf2Gu1wRk+OmqSIK3oNYnYb70dIZvYkr6t/wDiItIWqnYl8Sv9AEs3S+E8
lkYTfZhqtDVQiuvywSeaO1Mzih4Rd9TvRzpKv96e9ddrmnhpLnkQf7CpLWtyYU2tbYr1CeYyZ4Jq
wRlVMZLb9UBUTmNPWHR7vOs1TcBBEMir5roDbebtmk5iKyhx+6HPwKizYwjB/GhW6r9N1/b72yNd
n4RvR5oX3R/R9SBEFuJaoboNRujHZnBaDJg6IPiciScRYAFkDmN5vj3oddjBoKxiWyOeJxW1iECb
aKQfPeDxhEcStQ91+64b4mojuKFEfL1jEEX/zllTv73a+LN07BvyJ3PVPMr6F70Dd/vNKfNYfy0s
miruVSMQ/ZluM8zUm7CCL+7BuQYTn8BYPBq1cEqXUCUmJYV4LdoVcmymA2a8AsvfPJ3Mna41RblL
MAabAXpFEd1HTkJS3Jdx0cLfQVt7YKNpS7cujKR7IraYBPx/u/tZGB6dsUFYNrCnA29SwP9r2GOW
8WB1hzKo2Vu1WmsgfyceHsM+bnYdXTSj3j4pgUUUiqg7GD4hCVI+yzCCjeknfuvfm52NqRwm8/4v
T1qxdTAKaLWHsg2pPBoyqHdTD3lwP2F+HZ3J+xePVLTD5DhnlyawLaF8b1ArCcCONNmPnCDxZJie
9mwjfn+q+PH3ondwLvUDX8WtEpOw+jBNpCLgcUdR+Y6GZpPEM8z3F63R7Hgf4EE28HiNeOwbbYq+
1hP2dDsy4w2Zdo9YgOMxrYpvdtTa1fcmyUmKgvxygnsTcuD4OKlK9NKMY+AdyrLu8xPIU+fciUxv
fmCKE34EHJrGZymhQ19sjLvyJzVnyfzIyAlUPK9S+NgyyholVzOJj7D8YXnVfRslx2Io2vwpKmlN
26uDaYevoiY9elfbFUeLwovR91paCaiGZtY5F8D/XuiyeKGHTNht0EVeNMDn40ob77CIte19FtCC
9z5pkGWhi84wkbDx/PD+kUUk75pG4ONFcpz0vk6696tiVnVHSlyLh0/JVAjnYNP9or/3wsgojnQ9
pPHegt9sv/Q+AsJ3U4mK8EXC4M5f/ThWtJ2wquaiV/DXSPer1rAzIiih75TG8/vdMLREVxMla+O+
mkIjuvhpXnGfqlGS74ACKxpO2KMM8dyeyvoEMJFTL7EragBqZOrFl64Orf5LbSq12CWlEK9+qQf1
fR5meH/4dQDQaGD/VS8jbqEDbiJzOOc0ev7eNCXbJM2XlnrCkkIF6CgB9A4pIt8DHyKrDg2Z+BAA
rdSM6NhU+KSjxpuSOzXH+3g/Fab4hrWeB1UXAz3UskkzPmOjhbee7WNK5YBt1vlPOTzkaTyWoDWz
oN3HCCy+e14lyQ3FaVTcZ7Yz/HRqK+SM6gs+O4mqAUv0wDIV12poVdgleLSGuIwS4xwTfCHkjhsE
dnwczSLZ153daBhq2/r3ykQHcaTyQ4Uf/1CYS2nQ1OnBF5UaHrJBCdOLlrZailzNA9cfFk70kmNe
fC/xc6MobnvJs2o20jzaEVr1O/p6uvGucLSwPlmT5bnswXH/nptE+IDXiJqfk1421R7bbhaWFYwU
F4dgTP13qtb0+iVJ1P5jAnnpB83vuOoaCQDS/WTKNjj0fedjnlMoEdRHWbXx3quBhJ7xG5gexsou
73lrvHQq2JSySkpQ6W601Uw7TpGDySNiFNm+DGpTWT9p92ixoK1b7L44FzzMqivB2Tua2WyahySE
Ni6OrJ8Z7h7aj0Go3csQNtmTlgjts0mbjH8OgyR0+6FOtcOYY22GbrGsqjN/Qnc7m5vXLq9MSjaA
graC15V6DLnKuYI536+dq/SrHRdmGCWh7XpN6JdEc4F9MlJhvBoA5D7Gxqh/K0wzeagKvXoIQ98+
1b6Q/c6qzOCb32WDd8QRFEY9NgPaxp10JcYAGQRggKZ/cV3qV2Qo7KFVaFX3vHLPtC9Og+MM95la
jfdql5l/f/IDAGThkf1GIy3m3/PHyd/4GNo1Be8i4l74XOGjMew4xZKLx1wOdlkonU9j7rUvf332
ox/VuJCa5BKvyvJ4DIHIjUfLdYBSHLikdu886nan26Nc3355hSTv0L2T59KWpYMWcXLjeJrlKonu
JDsuhR520lGvP2b4zL9UZZDdG2bRvcNTsP8wVVP54/YPWIngAFxJEh6C3hB9mYKH4ReJpuLtYh7T
HGodHWLhI5EdcMe63B5qbeLoaBAJjef77VJ0oNKSqg6t4FlJju08DLu5knEogJl3HjVaoLYuYtdR
1ZyAlyQPARBcRW8iqmtsC3TL1UTwaviyvJsSR35IvEndeLKVONFhqVLKRZ1Cdmq+EvwxRSmRi5jt
BO2dH3A5Snrt0ez68cPt93cdAoOLoH6BVydtVZBh3o7ijVKUnTbYrlkr6n0U+Qo+o4HFS2yKCxWB
fN8LZs/tQa/nB+3is0Z+boyYWzPeDionjM/jjoSewDUJICOmDhSQTUTpnXb8T4b6b87OrEdOY+3j
nwiJfbmFXqZ7xmN7PI6XG2Q7NvsOVcCnf3/44lWGRoPm5Cg6URKlGqh66ln+CzNbdggzvPVZwLSj
CVXZ0uaacKtHC9LwY9OazkUaxjvH7vaD0XICqsRMlLN9A7zF1CuJSezcSxMDsF8A6e/IepudHsTt
hmcVRgHI0wDWo8vy8t3NOeCaVJrOhUgeqkdAm1HuG5HlYAelYLiOmCVq3W9/iR4IfLqldKO5RV6u
qaYdpwELNwRN9SWn4hRoARexEth9I3dq7dvoBWzZRl8UeSBkI9cjya7r4h4XHesyLJYFPnIwUXwn
MWgH+iqBMx/G0XDxFyezw10XFOCBid/Y7pzzvw2VVcPlL0KG+5J9yrjt5TMXjlMh5uXaF9m4kRJg
5WQ9Mqe1zIDZhPcMISH9AyXQwp0R5HjtL6SNNuhaWdo4fQBV9BknOPUJDVilOtuhkNpB1FGanYQ7
YPKAoXPrHiLPrtsPsuj1gYJiispPkQKF4900z8izwC9czLfoqOJ2gCqODIAnuBcxtxMjoDQzfgFm
GfSd6H27j+lzoLZFyPFgsKxhd00l5gkdLOfSN2V6F+PmeT+r5bDzgm8/M8oj0Ovoq0BavHm/npeI
2lMIpBX6z0/D1GbfsOWsat/Qe83ATtOJr2WBJ4Kvt011xieu+fL6rv4r5/XyExvgUwjmTMBpKKwh
F2qXpG2Iqt/FkE6pH8Cd2OUnmdXtcO+WtEgDoNVeEeSUSM8CO9MO2ygVe2iY+0n/LUZTVh56BUuq
Owht+IWp6Lc2900qHeM4KRKTIg0/yT1a9O3n4ZsweKYPucyB1+cjnx2lZtOYNC20+ZikWoGTGAYa
r7+cjRC97GZEn+h7ceyXX/Gf20fi+Om1iWddysVxuc8YEvh1wg6fm1zf0y1aztLqQxho9BE1aRsv
tIKXi6X4r/SRCjFCoSYOBm+cvopZOilmK/H0wSRJbYIhdtSHxOh3ZS023qfBEzKYUemW8EpfLm6o
IjIyG5x949C2iyY7C/rJ2rscNsjLYDuRTIMvi+AD6PaXy6CJ0jltM7gX1Gr7d/DxeLwJw/SPna6g
SUddMik01tReb6jSORSwXzKqgqxUDAnRX400zO3t+QckLoBtdF4jTkmVapWPwEJf4KMzl9iH0NPP
j26Wtte6B9odYJqavGuYpQNEzob2my3IOPCWit1BHBxuf/UIGc/75Wo9alt44xqPXkGVT/mnK1WA
fg9O3MZconSLaYT35lizSOEvDU0A6LTE1lFWFCF/M3Uv7tDlR8yrjTsDGM7b7y/EH5mBcLHQPdVX
SU7lqaEdjVQXCbz8YOydDKeBEl+lZtq7vbZ2E4wmRMXUv/oeq+al0HNuUVwtyQ879UAP3DrEJOs7
3b2t0/nfVVYPREMvbUwz47XpyQxqpy5O0RiK5xRDoZ2lNhJEslBkNRYYNpnH6guFMsnrLIrdy6Bq
EuvlCYNJYjcul/SGHryGYT1UeWcnQ9zIcmAwcRwXiLurr0lM4dxjP6bRvDRjTGisfJYnVeIVyUBh
PLY4KX14PdxtfTbGOg42YuyvG1hgobajMKV0Lhnv8nHGXTsAfObupDZb73IZwRFZSd3Yxy9jgJeD
GEoEgmx0IL1vFQbfHpad9FXwPLvWnVQuGEiJPV3xjc0Cxc5cqHYkpTcXhkuLL2/JJC75iNVHUivR
BZM3vOK82N3Jtjc+G9GbQRxFLvSzdTVBdAenV6oealNxSc2ZWfovxVDGR6Y8+TsolcUOOG9j0gpI
DglgcPvcHAx9X77SEXOHCB/C8EL3N3qHvpbzL0BJ4wv9Ke95BP94KLOegDhn3iHTC/tjk1bhuJP5
3+YygH+Q5EbpwwY0sb6/SGYrFOGq6FrZtNbxfE/l/ZxOIzolaBT8E5NQeXhWxVkceHoZkaRrZZ3s
BLmNd7+o3+AjRfaG2uXqTThxAZUaEPal19R58j1VKSZQoMr0p5xDQmpsx9VO9N64t2nZ6Oh+AShA
9mu1n00LAdF49BQ8dObkMoLf+FDhlReIZGrvkrgZ/dKLZ19QUZzffF7htS+oTOgvxs1nl1Fh1d5M
89JyeueDtPFR80ov3zmvf4PbKjFBqA3BJKrVJUtcXdopRNJo9hoFx4NR1XBaR5FKaLh9+pkEY+AD
51Z/q4qTfUjhRWNq5U3JexWz0R+6NlvzcxFnaejbJIcxVZM1j49VUlSFD8Qcadlaa2wt8BTR48wS
KYl26nvNCfFrSlX8g4bIo9GJufx8FJBZHzq4leiVDLkmITjl+IPF9uRipj4lMnsQOXMGX4Bbt+7q
KNKeYTJ48k4DXc1sIxLGUye78As6PclT35a5fsiw5u6OjFLi/jzBg/04o3+FwZJcHMB7aneQ6lNj
YjubLQ7DIjHHT3YGfz/IkOAbsU0ftPc4TtjYlVlF/iTKuLAPuKaWz4JsDYdHtybT6EMFxyorAVYa
tGPRAsdseqc7FMKri6DHhs72+0jDbc5iPvTENSNA9yO5MvjxMDbMcqqx/GhVMY5NeDFgHu6W+ah/
KFMkh4CMGximppk7XUuK0T+F1et/hgiAdz3xjo8yGorviFJmnj/Szu4ClcH1T7jGxnNbJMVPRprh
t6GN2l9ujvfCNR3S+TPcKkzxXB61RXpjcB+g0kLkSh0lP2EXRs0X0h/CFhNRqRxqW+qanwvFseOd
u3cjci/ZNwAsBs8LDfxlcJsGtzO0YVDgmydfplG3mQ60mns0zTLZuQC3lkJHGpEM8nCypFVG0WBw
zM8gUVHLcvyI/Er1ocRl65rg77pzSWzctQukUaf5Azng5q5lwJeGmMi5l56JyV2GyefjlGKY9XqE
2AiH7sKGsBaUH5Xs6t3ZGEthXO+4FxxLlK98wOY+Tjw1galiuJRMlVuJw+tLbj0YOBSQP6CqVJKX
1edKuyhlwEeBPiG7oThCvMt1uKuvr7L1pcj9eG+0B5eu1stV3FhqTQJe/CI7bT5kohgP5iB/ASfL
drbf5vMQYeGsL5xcY7n2/lMDmraS23bM8zjYUd/hP4nBaR3uzcO3n+f/VzFXz6NABC3zEiAazc48
yFC/ODM4SoIeDuzd669u64G4r2j7L2I3yBy8fCD87d0MMz/6WBou9R3trn87xUl/vnkV7t/FDm8h
p930T/A/dnOljb1L1IniaAzVdNKqqnz7KYJDqHIpgakjpVy9thT5hwKTOw9XgMTVqNBk6N3hKi37
nZe28X2omGgyLZKlixzFy5fWq3NYFF3LzKIehudMpgAFdAP1NKboTbSTxGwtZrLTwFeB6brhI+ih
oP3SU9hAxggPsOxB4XZi9HEV2/OE20hePKDA+KMxonCodF8+V2SXZC46s5ic9ocS4O/JfDzM3NTw
p0qpewABwv1ZxrjhadTdH1/fJBvhCYVkPh0lDqnTOlbEBgpWxUzfHfPqwlcmBUdQGdcmLNt6ekbX
JNr5jFuPCxoRGi4jIf632vtzTq81BZxxQRAi+wXuF8Nb0YXzgXFf/qjkYDBhZKiPnWjRx3v9Ybe+
KjQJBqQITdHxX6+NOlkyLNUV8N752tvCItWxWucd8A9T34mPG4ccepeB1wkVAZpaq8U6Akg4O5UD
Ki+yj63hFY9uoec7q9w+EqoUTE0YYCw90vXrFMaAuWLXhRcPuMMdyIbOH7q4ej86u/4fG5w1FI3R
H7Ng6Xg0xldPBMBUY0odh5eyodFzoEqf4sPSNkpoYxjuZ0qKVgYYx9ry0PVFNwZVgeu5b9ZmiS2u
aZIfHp2xs/dgtrd7avlhNInhYsBZW4uAqCgM2V2ZLPnJHEUn+p7ZTwRGzRMOxFqNzF7Xm4E+RW3i
5xW2qMfXt9Xm8guQiskEwXZ9hka3wnBD1cJLMgxWEWCYPQnkjUB/+krUVfdCqsYXcJF5cuwlymZv
zjBMlTSPxgia3YSrVQCpWkwx8doIEQaH9WMqnnco1Vocy9Aznooo2xvVbdS6XCjU1S7qMdS763Kr
bZuGyWoVXlQD/3Rh9jBKUTuwz9OA1+mg9erR0lJcQGpXfsC/GHtJU9ZPr7/0rY1PwQWChIapczN/
wmlBdJ3XKpd4lEYweSPk2bwvj3rpWDtn7PYkLxcoLVNixkJlX71gJ+vsqJKVctFHLCrMlHra0Qvj
f9hFzKjRSePiWaTKX94DztwPdVm6y1tNp5Oq5dg49mV6HDOkpAasUw55Jo1D4iDi+PqrXP7LL6tL
7m9cIhYxTRBT6yZXPEDMC2czvKD7aweNbZjvoqEpA1dVyvcKE4i923VDLduE+b2cVda8nfbi/GZi
9NV7lxl4yFK3FZn+HYWwqHmyxGwXp7IYyi9O3xufO1GaeeDgaO8EZegmFf7UVftHQN37aFQd3Z3X
X8ZWlAMPCah60bUAyb2c9v9km1bmzrna1kAycisrTkJm2SfVTnXEWlHn+yInVatP0MfL76riRaaP
NH750UgcvT3IwUnnoFFqLdvZgredHSCopCOcOmvpM61+VJctaiit41zSRH2ahuKhQob8nHiddZ0i
LT+SHvyLx/Z8iPIm//r6G7ntFvIe+IMaBsGIGz9Au9Rjwy7oFkaa/W4os0MWtwFApPwxr2Jgb6ht
3r2+4sbZBh2E7y3Xpss0xHj5CaJIZIrRNN7FC2MA4J4qjnGuqf/W2vR2dAOdXZJKrjNUjblBXi41
1BN8Lyanl8Qp9MBQ2uEA5avf+XybDwTTZJk0oru1TjyyxCBJpQVzAaaHmSmFHxUGVMNPszQoNt7+
9ixo7vxnmBSSlr98JDSodDMcKaEjG1Ah2NPygCSOhc9zuFcDLttuFTkAYxOwuPcYYK7HJmoFa91V
Bu9SWNaQ3PUCCpkfjlhj+JhOjVWg2glIdF240ScVy8e9w7oRuVifNIuagP9bA3zofbikWMQR1VXm
gwsx4DgbfXOoHJEHkNb29L03bgKA4Dyww8AWOssqRsM/1bVpKeaHzpLvKIZMVPWTvZnn1lPRbIGk
RULOBbe6byahMAegMLlEk2cnVyvSqk9FYhCG1doJhyNiQ2/HuhOFXYa5SBJsICsklpKdHlHFOdL4
ratd+1AXc/iOTly+R+3cOgvoy6IIQ+MFQ5PVO5yUYvAke/Qy1qpE3hW945aeZKAibrzTnd1Yiukg
qt2M9xdd0NVS6gwCxphs4xI7oOiPs2TyQcvMUv7UcZcVx9fP3dbNQWsWmtUSuFDXWC2XNdosZ5SL
LiA7mz+yMBADA3esZn6aUyOfp7mqxiejlTNq+1GLQIzwYE8fskxv6cJ2sFmPo1qr+c79vrFrXYAx
tKDYS3RrVjEOAZQmKyIo/LmptF9mNfoyWqXy9PrTbyziLWUd5RviVDeTMjUODQ2/Zvui1XoUaHQK
L8oEuv/1VW6PxtLQAo0Djp37eZ16dmGjDeYCXBzcqv6o2IM34dmV2IBf5vRHMkXmTjC9jXAsuGio
0kix0L5YncUMpUun09Dbg8cXfuxtsziNiVd/qoAG+fMUi69wjcrAS61up+m/+ajLhU8PD2j2Oox3
WtgbqSocQO7jdAY1VjNMMuxAh3DLJNJ4uyoC6u0WQ07uDQbhN1En82wm/A2w3FCM52oMtbtWSOfN
VztyP0szSkeQmBxwtRcHHaFNekTOBfIyPC/ViB7Kdv7p6aJ6+/tDtZRG0bLrmbivrkHTGUSmSxCZ
qGbrj/rgAYvuO3RnW0U7zWpi7XQpb9MkJo0QadDNY2KM4u7La7d1RBrbMK+AECB+ntpJexxRmgiE
Eo5XJTWnAOGet7qWm+CGFla2zW3ENbye+AHM8PS5q5mptp59SCrsQdhQ9XFRgP/8+tG7PeCgFoEv
LBM2jzpl1YUF7DOw/hjejXYSfxSdbC9urck9W63bmL0swxWL4hovcc0KnowejUu4fXeVayp1oGha
dYCSiAevqmd7I4DNxeh7AaFdTvhaIxmJZJPQWIR3k2rn526o8WOym/Au1po9pPffueeLXAnZSsb6
5CQ0y60b+pqG2Zlb2G18VSYXXGaMPIdzVIcMGaR2MvtfU1HL8VChvG77apujRTRYffmjnL20PEaO
VaLgP47Nl9Kqit+ypOl0GuZhqug05NXPmHXhijWyCQPTGpw8SOcGvPNouIrz3oj4ZrofRfjV+vmc
mg5CR8mQB1VZobBb6KijHeYhi8IDl+n0xWjC5recshQ8IcCuAQUpAB1E9glt44XRGhDrHewSs4nN
Vg5OL4Jahs17S5lpcRVzFONVORvFl7mUiGTNbSn+zGnU3oErsrRDXHoaTu1yyCF8qHP2NM4uNJg3
btjlhS8mOkxm6TSuayYYiEUZ4oB0DccuOjDqKS+lDsDh9VVuthAgW04gZ5CKC7DoKsyosYJEQT8q
lw5M2GdTrY1DPmvDYxxyp7++1M0J/LvUX7UIVrqBK7sxMhCWBTrDabvkaIhWv5/LYg9EsLkK9wD9
pKUtsM7p53wYbPQ9aKbJ3DujIqkcS/hrO89yc7sh14J8yaLzCdHiputdz16bCtcKLwwX9WPo9Hmg
KXryNfSG9Gq2Y7LnbbDxnehyo5u7AN+40FcXD6Owzp7xKL5i7I1kbac65xAsnh/HYq8qugV08nBY
zTOlYIq5aN+/vAoqbdIbYJnKZY7D5jOVpdEflmbag9ans/BpbghxSPIhl1AdZ8lRie3+imVg9JTq
6fikl6P6abSMPsaRblQGv6r01D1ycMufjJ7bvdHXxicnKqGzssRbPsfq3WiznY49VLaLU5TpR7Ud
ku+QK9Ud2SBj6xOwBNMOxqDAc1Y3pBZlSt7YHsQqV0kYwseR9LiTDUqMqYUrd5eJ0Z39LkyQaJ1w
vVLuIob2eIRrvfujSDwj/miUkSJQfBfWV5yAYEzFSEUZd1mZtZPP/LF3jlIleN4LFHuywIqtNv6o
hWNmIRZT2CkysnpvnZUkUboA1kH2oxxNMQWdsMArooxZEuFQGDSOljM0zSk2rLCi1a2CtQBnNP+h
C9zAfQtDfc8heusrkGrq/EldhNL0y12jWKlm4V5AHzc1Y4JtM12NsIFQ+noU2foKC6wa9SDEzm+i
iOh0aZVDGV4aUyl/DZYRv6u1fDR9GwH7N2O+OAkAzJarFS1Ob10SaQKRD9rz4SVPRQbtcNZ9S8+L
B5B04vj6c91k6stSUGHoVNEzvJl6I6Q+hEbIdGJKRjOQNroPRZa7x0mdxUNHY+uslFjpNKNt/359
5ZvmHCsvAnQEFxq4N/1hESNWqbjSuzQeEEW/njLrLiloC6Dd2ASKiySjbufA6wprPoLCr3Yyz62N
A1qCwh1RKELOauNIbVa5TjvvYpVhfJWxPQeoARSn159y6/2CYFBp2iI9AEPu5fZEL3MWVqh4F9Np
kbjDj0accyvOvy1cvjtFkT9a6XQBoLw3dwx4v0ycluuIKQe54cuVlQrwFk7b4cWSs3GuW0M9j6Cc
QBfX5Vs7BuTvnGVOBrM0ei/Lq/5P87czBQp/y34N3TZ7KHW1vC+bwTm1tdirLDe+GlsVRMgiZnzb
ppuWFh2aK9EVRfHun8aIFsZnIXbk+za+GrSqpS5hvEytsHp3dgWbYzQRoDOEm/2JdCHPpYBhe6xb
6X2ftcIgrlllfC6yOtzZMVtPuBB1/sJ1l0nRy5fpZIrr9kzBrnU1WGf494Y8qCaMq8PrO3N5hpeZ
NUBnegEU6Myk6FW/XMfr56xkbBBdZ9h9R3Dmd3Mhjl7Sj3d4muz5am+80YWqBk2UVge7efVGJ2NK
TD2Okmts1M0xzx3vVA+TjamOnX42Gr256G7Rfu3hCO1szpsKc+EhwVDh+BHmGPq9fM4xqzxEKNvk
mttg/EZNWOc+z7NnGLPGfT63f+DHhzsNl78RevVyAXMiwIVJBYOpdQSfChuYoZPnV6gJdXikt6wg
IeRWUec70h3GY99VRXrqk7Qy7sJR68S1ANEGbE3E0ZccP9/Rn1CJ+wWTX7d8YSZlfaTtj3OI7g2W
n3dV1/uGYJv6nalEZ00ZbcNvvdZyCWOW+n6MDS2/tsLu62sXt2HvV06PaXqC+uW/bjHBJVC85CLq
odX9uvKSR7C10Vcb392vYaTKP0mkYtMVNWC9/Lj39F/gLfJvJWYF0dFGDCh+tCz8ePvMMp8Y0M6P
DhsWsv6s2lOA1nLz/Pp+3fyOnHvqWxCrN/3dxiu1QeZoFtAjZ+5VzFqv+YXuScvviqi2z3LCvC0Y
4QQbO0dy46qiqGZhfFPpUfxlh/wnvqHXkiBlXsTX1Bny/pyLLALH2EWm9VRlXfuODS9/KuCl35MW
D/oD2q7MtV5//Ns+Kfv4755a8nGC0+q+SjQjH6SRJNcpzfrsY25xbYNnZGIPkYSw5A8oqs6Bgnvy
Txjq44cRvyL1AMe3iwOtccSnWRipslOR3I61+VmoG4K7R/oPiswqXNmjDKOuJ1RWZdeJIwt1dSCa
GmbLyBBS871CS6yzpom6D7qpsXLf6myz9N3c1Haqyq3vBKQYQSmDSc4NUsUcAEzQDoiuOiy8wzLm
PKb1FD7mORirsLDxZ1XK8pCMEA4zhsa/Xv9Ey6OuDz2AReZ+6D3eFjDhJCrZekV0Lc228V1lsh5C
kuqdc7CRiSIwjpEJKDU25XquPrlUgBCtWCWi0gT2hCYKq5xkM++Fzu2lluEpo13Q2qvkhTK0c0Iv
44rIdO/YD6P50Ug1eUDDotnJQ7eXotnOY8HBXdfPdTSQxaRRdE0L2eNspZqHopxnfxDD3lR4c8tS
zuK4hQXmAjZ6eSO0Mo/LCvvDS15m9j26M+VRCQ3r2VDK7nFMKhTC1DIPVBRCT/2owfQywvyf1/fK
5nEG8b9QKBdG4LrabXAWS2KNRGbQJucbY86EHLhp6/edmqcomWAZW5zHzIzBdGeEt3f4aVTzoYoM
+a0yNcXzdbs09gypt4IsO3gxpsBp6QaeqmbF7BBFoit3m/iJFPsIlD2P1M9O2Hf3SGrCqNUlRnCv
v42//cnV0UE0ikqEfBwvctN4+UnwnBRMEJXkytQFDfoG45SfFbj0H9U4qd9KfWiexOTk5ZOeigrl
kkYdVB+2X4q+Tt5SlHp97zyhgJN+npHRzf3CmZUfeAOKMijnQXs2am+K/aRsGuGrhlTMABUbbTi4
djzRVVDq9iQqU4fz7XGxNrLuYOMNqfMJT4Tcuhpw/7Cailt8a+M57r4zvijz+wLTw3+x/BVU/rlT
H3GE+wtVR+YmQAEoBrY+5elTOjXNv0qaVDKo4AEAkEfvBG2kIk6NY1ZWYUdknKofnatVmo+AfYMu
W2oUHygNlepr51rVPQDRzvgUzWN2LMxu7u6bbkx/NXFu/U6iWP6780FuQ9mL77E6InU0uVNmsDul
lf3QReIcp9ZpgtLM5rs3rwTpHsg6LE4GnOsYM0wUTpI86DqZgN4sgW9XKYVzKJPR+vD6UsuPXm2y
Za6xeGUyHnLWZUrZNQgwK31yFZVX3fczygh21VaH11fZiGSof1ILMfdCwHp9ITqAYLEcGNMrLfHh
ixlmyWPphcmpxD1nJ8281SYFKEmSCbIFMAF/tQrQdGfR87Wi9CoVr/nRSXX+PsEs/EdF++XTUPfy
vWzr4ofWiKS+S9RY4rMkjaE+StMNv7/+3Buhg3uXN0tZj7TGenIUWyCMRUN+AvatfXT7GQ0irFlO
THydo1Wl+lfPyu2dT7pRxLgu7RiiBgjVG0GP1suVsqm0+NqgtXWEjAC5AwHkx2ho+wAPk+jz//CQ
yyCONuUGVwxhrmGOeMprmiT0mBa18k+RVjr8ZZ6E35j+j7Nv0oUydiLk1t51ka9kBgJo5AZxQyxE
2omZ7TWm3E18o3Rn7Khj9+n157vFmLGjqFcWXLqF+cz6Hp7wJe8dfYqvbRxCUQYgKJ5VM0e0uw9N
ZM/qKP+gwMH81ZTheOlEnSO11uHOepSFbIK+V1Pt1Myi2fnQW6dq4SZCZGCz38wJIx2qRDvEZP+6
lj1KxZFnGbreQzZne7O0jVe9CO5RLJKHLN2pl3dRHgu7rOomvuqxUL87rW6c+hkW5OtveuO4eAjM
wmMgWOAZtjq6mFg33uyZ0bXRuXBGYz4kQxhMajoFYQblakDB4u2RCTgH1ywtP1rs61ArxxLVzR4r
09LK84NpR+rZ1hjI2wi57ET1jXMJthbheTwXWHHdXEBMLFXUXCbXeuqUe5G6w+OcpMoU5GT9/alU
Kn3YOSEbHQaKwkWgeEH/MFR++dlqEL1apHFCVCNv3zVk3p86x53ukRVVr3ESD/eW3bkKE75UGY6v
f8yN3bkcGuZZy9G5mc8LfbadQrVpI9ZGcTad5JtolOqD3jS/X19oa2/iKgE3BfQ6UIDV3pwyUEZi
OZ4VWsPvgQv9UIEb7JRRW4uQ9INWRtyDLuLqTYa4IhozjYir1uGzM6IgGh9jw2z3aKBbR4DLYAHA
gEK72SSKpZVJ3PMwQy8+NbShz8yunZPZ50kLkVGtg6SFW72zT7a+FbUqSDHmjrc4bLtEiQWnPiKJ
YoYf2loWgavhC2NX056J899ouco4Fv47rTxoWATWVc0OY8PoIrvOr5B4x/CkD12Tvkcmf/jTmhbK
j9BHUGgb+8g8GPQbHZ8ZRv+hRm0C8Owcf0tTgZqkk4T1jw6o0C81ioZPZd6juViUVt340qudvWT8
9vNbzGWWbAK5YmAZ+suDxBEyu6mY8mttuFgRDaF2RGu43mkcbK2yzM3UpUN2O7dxvYFk14nokMky
OaToohynJqvffDDZxgZdGz41RO6boDDEY9z3DZKMs52f2PD5uW21+pK1sC3eejQZ1kAnWYbADG1u
CrrWTfVOyvTqKGDp67yrj21V7AlI3Z4ZuFN0gDguGs329TSwmPqhiPo0vao9+q++3jdzH6CP4bwP
eyazvl6PWnsUQE72oBh/a7CXm5mJFGnBMieCJLmeBdsUUyhLJsUVfJCxJCKd7gZCH9rxUGMLEvup
NpuepMiKqu5MP9a2fUUd1R91rg+fS+RBxUGmA5RKblObYZPoil9N0WuYSDURmoYxmIDowauSGPAr
MPHftCHH9xb6qXYAKcJ8b3px8tRoNnopje61ICmqwhgPc6/l2P71vWsf0So1gJTHkT6d+V7lFCT5
jHK7FQo3h8HcmS0Mba3oA7ddpFnyrjCToKpV85/ZqKBLC88i5KTVRAFo5q2LmJDF3359r9zGIF6l
Rd5O7wwlw/V8AVg8eEpD53os+/ScY/N91Ks6Cyon83aC+daGWbj28H/B6twI5NThFEvFGJPriMCp
D2LV/mlmLThfR7Sf4KTg0DZ2b8bicgkyjyXG0oVDCXoVQsTQa0aTkSaDHNHuugnCi1p5WMKNunIA
ztnsnL3bxh9wFQo6m+IOTPNNR6dre5SOyvSquZWVH5IsNn+lrR1qCxkwQymWG+jkTF4pjyBenF96
1CBT/vo3vc0/FrMN0h0M07aEt9I4U7pQkH/UaRkGIpyiZ3rR+X03yeLB7tXmYurtgKwMv39n7a39
RLnJmIPXfosobwFiTbpk7TLPvWDBPy4ayiaquPlew3crbi9OZzZ1CJ349avOlIYSp2A/hYgIH0e3
rO8qr+h34vZt/oi8NskUqid0hFB2enkH5ZMxc27t7KorRVDlRXEO6b/7aoO0C7CLnVxc23h/eA4t
RSuPdCuFEaV5plgVGJpIH3SUAabIvktBvz27cdmFxyUajAcr6uAdu4Jujt82mfIgClBFbZLkQalg
XXhnS2TDghCi+n2qRntiKX9hdav4S2d5mWABAeXiXL2TMSLioWvGXRbhDHCegb+AhGEigC1Tjzz4
g4a6oHpshnp4H4Wj2QfgvER1TIY6f1axYPyDFXAx39tqUl0sXe0XWevWxKQ4SZ2jDcUuPagicSEg
5mpdXXL6X8oVn5xcBK67+EGFCLGMxyK0uwxsZiq6nW28sbcAGqEI4iylJ/qUL7+6TScjmQY+g4Ya
yLNZmJ5voCO9o8HoLCpO6xfJeBWzTpgOICZXL3I2kpp7HKCR57bjdE3Qi9f8ymY+BjRPKdt7AJ1o
bg9JY2kfrboylcDIGF/4nbVQ2XRgeQVqXpMMg9RRy09hNJuIesBIH/1xUHtaup05IGwo3MrXsT0o
Tt4AODFIozJvg2ic3HfUI0AYJ7tW52BQs+RX1psDo8jZ/lkMs/FkVZM0fA2IXOKrXZykx0wfXfsQ
DYrVHbocStdRGxpbP0jBeJcuizP+U7VGYQZCTtFdVVmy94tEU783dRL+LurQftTsCRcHB1DscyJz
4ycUeiQS+9KrvfuwRLzZr2l8hqcpm8W3do4LxSeIo7SQR0oqj8UAofbBiegO+pWUSnvwsFL+TIal
ZKcZo7HLlOXqv25YOtJXzLb/WTRi4vyC3YzQQkEV3aezkWjvUrMZ/9FanNdPLgR4i7xgMvbK3Y3u
GFUMEC2egib7zS072TFORGiBX9puRJqZXukhNdsoiNRifL/0CR+9Lq2YmPXlu0Lph0PPDCVwnEHf
iWZ/K+v1jgPttBRU4LhuAfiRbhSZnNwLoiWGefQiEdeHJu2a9nH2xoaTpcdJdJ95nkzPRU92gMK9
kiV3XTq2lt/3nvTOwLTC6WQYEg36wkFaJUMH2fItWvPuA2OTafitam3SBwgl0fYu2C6f1cHqchxg
5xjJ+KiF3zMqQq2e6sEV9anqM/mzyB3sAdA916p3rjt77+x5ss1DG9vth9RS0q9ujcErZAwzK/jX
xo5f3hfTFCidI1NfQU3gW1LNanYqHLUHLj4lFCZzbBbyCVI5B2ZCGL28immorrJLBmyFCTDjIfcm
7b1qzNjFOR77bCeYbCQ+FBcLtIdjTmKwXDH/GdqKBvGceay8i67iktvoReP5PTXWQWrsASXrmkNM
pruz6tamY1kEKuCWM2Baj+fCagHstop7iZEn8FMb9IbMiuqQ1APTrKHKA7fowqDvSEdVvZb3qG61
Z6Ob9iC2G/kI1zPlCL8Fpu8NjgSN9ZTRBz8EatlBNtn8qOhjf2QWZT32gzqial84J8vaawRvXKb6
om2BGKS6qJCuorgDbsAz6mWzq155CrtUDdLGM0+LVOP59Zxro13JRcXMkE4In/qmVTGWjFpNfAAu
bjb2HxHWwfY3dcFg+50xMwO2i2z+mCYCyX2nUZlkQggbkudBKvN3Q0c8oUGcEbaTHyWhWr4ZYQbu
nyxmYUhSSd80a0YsV+QiJeIqbX7MkmK+GqMsdlbZ2ufL5Iz4BknkBufFPyiKCZI93oapwnAL4Ozz
lHntcnsM3nUcMgdHZitO9jJBbSPrXpgNzNot0K83CDqQ+dLpm1i5RGHejUejjRbRxMKzwK7wj0wQ
+n2NLrQlpp+jlYy/iUX9E/uG4WqZTRqmvbHRe0dbC63mjmwz0w+hU4svE0AzhnlOqpzcsWV+n1KT
Pu1snc1fv1SzpNtAqtdzGtrJUtMj+On1TKQCR8pM20rzDpCAVpgPk4GNBeTP6FRX2v9xdl7Ldhpd
u74iqsjhFJhhsYKyLfmEkmR/5AxNuPr/QftgazGpSS0dOJTtck+aZvQIb5AfpzBSW5e62PDgg+kv
I14pXicJ6Z2jTdJ5sQf5UzR34xUsivRV07vpEufSkabPTlqMYB43GrUzMNRt9T84i9U5MZBj4kj+
kC5FfBlrvfgvnabsc1JIysEm7XzKEGRWJSa6J7ftxjhr4JT0rAd9Kv+ZwzBpvEoM7fuIS/+IebC7
GA1xCx9sFBm27eke8X6M60zpYZ6G1KcFhUsLOs1XpNiM8/2Xv5NowlUnNK4IrVspxwr9N0RieC4G
yZOnLOg3V7OhHVSle29rxThzonkc3tvrG4gnJJ2KS2qEHOhJ3Sz5SadFdIlIhPy4Uo8wdnsbyG1H
FxxK2k4/FSpKiz1I+DAV5uAbZFYnCR91FzWNtzdRieyrCBjTGAUr7k1jUw9Da8qj9dGSuX+CmSoj
vWxj+pWL5CC+7T4VQF3adytP7AYa0I+MWYdMetBrkTwPkjM90LXs/imU2HLvH4ujpTYvDLMZJZ6i
lM8LUZazJdu01uASf4nC5M3K9nTWuRZM/mBaCrbh9dmwwACO0HzDhxRLntgdZq31MHsZr5NFELn/
WDs3BG0RlBDWgpr52RoJf8uEpLZXUzAl8M2zITp1+pK+xIVIfctY/mmG+D+9U8aDi3lnJ39f0t7k
AGO5GNlkLM6DYibQw3C3mz5VaKcKktPuCEKw93y0C8Cs/EI7b1OuZoXYyPh9PNS2Wb5IONQ8Zk2n
P5Zmh/rsGI1cgot10Ffbe8LVHmPtutBX2wJa+YdL3w2hjceqnAVmPNB7rRb1HBljdXAsd+IIXpir
sBbDLXRuN8dyxr9V6XpSykpIvb8gy+iPWo9xnp4kHqW6ebp/XvbWW0VZVwwbxgHbGTDs4HAQJeoO
2SDSc9KPy79jZ3zT+14NElM4B/X4zk5SndHpYQxKurrlmydKUkp5u2JN4hhNYgPXigLjnQvSkkd+
I7tL8a5+3Z+3PNqpSuAtwjYICL7jk1Ya8wtdH/P9YMM1ur+JOwAvAx00BLtQ4mCkvp0HGGaO65kZ
ruqjjnKe5kLy6qnU/QlcxkVSrJlCZIFYC0HtpdXq/q9izEpPVWrpMYroeN//OXtPztjXBLfAWbqZ
RGkN61eOCrkK1dPTDAHuSk4nnSI6tQeolJ3PEf0ZTs567XH9qa/DjWhFOFoCbh9eaPNT3VXRVUkk
+dwuUX5qO+P9JFXpAfhk/QQ2BTaoAO4hxvX0T3+1fH4LcXJX5Ajbz9JD2pXRyZnL7AOziPZAr3h3
E39bZfNktVxUJv4P0oMw04R6HFtLN3WaxEUXGvDS/Te2V0mCz4f7ytta3bw3V8QQ5oveY//2AM3D
+o4puvEwIkXhixCGAKmoo71vcGx77MPJ+UtpMt3ykkUDStaEb2a5U11AuFinFZQZN7W01lK8pxqp
WT3LedCbVh44kXNkKrG7vUjcrfI1UPe3Faskp1aUFnUUdJoxBXYOiMY24v7FcYo/GNaxp1ACSJNW
vvRmb0cQhWnTAKK1pxgIpuqU11wUn+6/wd0PYVV9o/1AY357RSBE4LR2CDQ6xIXDna0ZNxAzw2kw
RQZX5EnnDVl8YMW1t4e/AjfwHa6nrU4I4CRlshDIDfQ56ugNqhXmsOxmFkIavv94u0utohLEN/6y
LUYqwmeOfhn60TDwvHnOMNvo5OIhRL7tIF9fX8f28wbUgUg3BJJbYDcTtLaSG2o1BFrzyzDYMpIr
Q3ZGRDX1i2FMv1GAGV/6aPqDljTgRJPkEyTLyuZ4HczGCQEdxKKJ4nHtXCokt3wrGeaDAcRe+KLA
ol1COr3Ozl6vgkK/Mho2nzrAY7RAWkl+yFQ1O7gDlL0DSeG4KhHgtgXr7/Uy1qAwbnWQLJNaY4lc
JKoaULS9mBXXxKKqvYbWov3HgIxBarsoU+233SzaS5Evxtq3mkTtMgnoHd9yLOC069mI3Spfin/l
cmm7E+1N9WgUtHfMVhFl6ho6KaSwr3+0qi7xhCGb9FAKeQ4Wu81/OqWqnUxrUv7gg7WA7jPFQ5Tw
Bk2ITlY7ynVOQ6MqbH+FUbmJKQ+Xui/FOcvm0i2qKj3gmu29lF/Ofmi30aW3NycMZKMTtzJwMykc
BdqPChaYGEGcMkP6YNozdAUoWX/w6a5keJPylCbdtjPlqPBoVDzLA0uJ9E9Z1SYeStztz9lavt0P
EjtfrvOr6c0qVKXbk12ki1J3KTA3qUQpiXGC3j5qSaS84H3nYC9pRMUns9fr5QK09Kjw2fmsqE0J
8HQi6fRsI5SV4m+FA2wUGBPgW1dpZTCbKODKB9u5uw49MDphK85k27nQq9CMm86AJd9m9egKY7TO
I7btP96+l6sDJNg9mfxqu5dxgZLEoguamCglBQybEbWaAYMy7w0DZOd7z4mgCWL5cVTu7z0grUXy
WQec201rRmXYZXYhbdZ2KMRHBloNdJP26FLey3ioh9EvR4DG4hvchMEQXxRrbqCsxvEqybokTWf7
kBVWjd16XmhjjmVtnYrUKUIXaso40b2NR4YlizZYntaWWn2QzO49+UqkBcMAWvOmmV3ZU2SkFez7
Qpfnl47uA4yA6Sg7331yCjyKhRUMyvO/DnJGjkBiDVnlAXaEcp3oTAfYolV+ZELx0HJJBQ9aRC+g
bybXiQfxIPdO4w+j3Rx0W3Z/yTp7xzYBiOENzW40Bknw0doPuYSSiV/EQBjghRtJ45fmbJlXJIgG
RBzlBsdplULlVCPS0p41oAa2m0nmmB78pJ0LwAFND3RlrUVvFEkMoJXtbGThQzYn+bkFpfOkpZNy
XsGDf/C2waStahcA+G90gYulChEXSzjnlhyfjL5JT9LUHBGQduprpBPRUyadQNhwe6NNcxlqXYMv
hZmBoIqbOroKWcmAALWhXy/pz/thY2//QL6xdSrd+huGnkMxXeXV6sxrQvGXW6Qh6lLgICOy/O13
2WrVuMKMVnLxtnNAf6JBmyqSEDFLwkundank6mZbP4luMTQy0VjR3MyIl7/uP+LOHUqaTVQkNUFp
aYuzrBBT7zHIpVTCh+HSDlIb2NYcPYapjfUFEgTB1GlHiYm2gyNwIJQQGAj5lFubmzuuobdjJEp+
X0ulfkpqxJe8JEaLhflHSTkGkXMIBjy9NTfV4vbn0NpYdVkNIDmomCEXvZzpkg8JxZqvPVSNzB1g
QVde07bzcLLjfPwwL44E9qTNQIoqyTClLlYc6XfaixOT9WIpknOP/NFX3DezyIPv236Te5gn7ztH
CFzmAEFd07q1LU8QwqKDlHLveidkoTuLmCUIpE3csqS4Tpq6puUsxRWi8pOVPTVz7ZwbK6XzXMRd
9RA7mcP8p04u91/6XmgGQm/Dzyc83yis5gYk8lJpEPFW1eQ0NFp/KZLwCEWw97E6Gr0QsFXrUuvR
+62zUBXM1+WRq09q0vxqyK0MThXT57A2sDiptOygr/gLXb2pdbhk//+Cm1PV1rgmQjxA9dSqTPrr
XeGtAt3vogmAIH/nuPqMMVIO4M1VQ3S+rIRJyf2t3X1oWoBEKfqNFK+vHxpncXRU4KURMurm3SQ5
7TlZItWTGs1wI6c6mpTehij4OwwTyEdtJAN/TRp/22Sp6VIRoxmDf4nAQFroKP/ASjiZYX5UBN2G
ildLqZtHq1IARk66yjbbVvljKZbRc1BT8pjdaS8dc2r2uDiSClo77K/fKQ+1SjczslstLDbvtCHD
ZrrJO51Slf0MHfCQgFBOdhLmws3NrvqQRXT/HKnDgCo33+x7vDKGQZQqfKKQx7eFX9YZ9jKpQxxo
WhG/i6elfLKHpl4eUsCt4cEJ3nuZfCfIH6AveyuF1YluVCWc7IMsivIXLex63FTC6X1e9enBfb23
FFUhir2/yBfbVuOkR7OetjngVtOp/T61MRlCquDUZahf3/8k9pai/4VVmQ3j7IbeJrdlLUc9zNhk
TqTHWZHyfztN9L41a9Pn+0vdfn30wOg1kIKtwnfbvlE+FNLMtQPEmtpT6rgtDG2Mzlk4Zj5NkuV0
f7mdlI/1Vvu11QSN3G/9Pb99fW2Xzkk0opmLVKL9WbRl6E5LCBpZKpSTGIYZBJqpnXFkmH2MrrKn
Ghsrb8oU7aANcnub0GqBeUAnBIA57iivf4iZj7GoBT8kHPv0vVMZjqeZ1KbIFliePs2GmzQS2O9S
GAeGHjvd+tdLr5fNb3uAyFFuiGHOgmaR5Q6kTlf3xkk2sux5sdHoc+t2SYRL6xkCcaG0WjBgKlAH
Qx7K546LuWf3Gu0ocOzcBljRoHmB+CGf8I2kwTQwxBLU54FaYhtRlp156aUlOadiotwr8vpRE13q
90LYvLQ2vqTVKP/B0V/VF3HIo8a9qeE7XcGugjMSZL1heWHZyt+UYeg9E3ezg/ewd/Tp9azu2LRl
byAlQo4aWkgQqbJ6+RsphVL2bNRofKmrrU8lnYSDALK7vyQwJKvITuPxurkOtFhHq8KQ4iBMh/ys
xgodrmQuNHdQQtOvtFA/GS1xq1KV+J3R0LPFgqg96B/sPTWZzIrpJX+lxn59+NCpt8sugi2nNKn9
j9z25jsxZ+UZWY3uUSeDOxIY212Q/cWgE3zQDZXDUtI0zB3ipmJztIxCzj/OUlo8WqMUf8jRhj5I
1fYuXQod5BZQeCCCbiJMFQ+ZVmN0GxQDShXWOOIyWE4Y1ZVDOlPaitBvU137eD+w7T4l6I4V//mr
zf96W+OIzD8VaA61jpi+TXXcu6UUpy+jETKsjZKjLvXeLc+o5hc3BmrT9pZVm7aQ+9KOA6sxcd8b
kYpRCvFtNkMDTf5iwTgwzryZatkt8/nf+w+7d5JRcUJSHmYJ8Xzb0zNERZvewcYyZE6Fu2CkIHKp
KKgNXaTeXM4FtlmB2qrWGaOA8Zl2mfaxFEtsHZTra6Tc5DoK/VjYdYiCIf68eddmY0xxPg1RkDPP
dnMEFj7VoyQfJBm7q1BlAuPW+Gi26C2bHbZzm1nRnDTav3TmvjRIEv59sKc7FxJ1Os5ZjPnpI27P
rUbfoxlWixy5lBbDpU1EGzFZkv55kGt8nGc6BIFsx9ZXvtw8A/uKaKpbCtClbj6A+XWlOFxad3Y4
jC62oUPkLSae47hBNEbvD6VYvSWrLJOOLvX1rty+hrVVRxDdM/7KybOdpFAoxU29cTxpjJendIo7
+5IMiS5fU3KcitRT7b9GhSwM37In+VEJs/p71A/hk1nlduGTC1Rvth9Y7c/JohB8B1h208Yc4WHk
pSEBKpOi8Tw1vXaOwdL/q+aV/GEqlyMhvL2jQuZCQxGdhJXX/ToMcFQsSSDyHKjw0gNDDREfGuDQ
vr9/WHb4cWjzk0CBUqJavJmHofcjxXTBoqDI09x2IcnF3+PQ1L90i9pwEooQNUOoSdF3dbCU6Vma
teKKZlErvAX2a/eizVVmndRirUmgd07fYssEIVDbqmRfLSO3W0SFxPwVlL/1oxVpL1+UiS/eN+20
QfhgKYpPlR1iKOoy07H764iimHOqhgq/NwMaqu0umE+M53FCouE69/a8uLNeVY+g+5zIHYWSfSrn
WjWf5TgdatqwQ9ReVLAS/1j8T7L/9TH8dKC1bWSdupoU6QRfpok+HezkztEl/1XxYgQ2dxPJLHXJ
qmXuYejKsxaA3jZfxq4rr/dX2bmTmBsSMIlWNMe2cUo4SYUAAHOXOq3kx7Yem0ezTLogX7LiBfbh
F6cKla/319wpIiiLCCXgQhgnbifcvag7tag4+ugs1N5U6MVDwwzYh0GSHASAncsP6ACkY2bpSAZv
QxeXfpo3C6Chual+1o4teKfZ/AmzD+ddGDnlcJAk7qwHb4eewXoBMvReQ+lvCfQc2hGgkgKIQKjN
EChXyMC5ySUaVpGktZMH3VJOv9zfz71FGUqsKRMF581sEJfevJkHET70iaScllH9YcVL55pzjTRj
vRxZQuy8Pvgb7CXMUQLrtkvfWEkHQYn5xNBWI/l2tEZv/mtD96pESw/e4E7cAsxJ55Z78ldu+HpH
I12rI7lZ8R9Vg0KEjCkemEHt4CLd2UIkO8HBoi6ygrm3CbAOCbs2Ga+2MkOUc6PSnfhkjk4MBNpp
l+pUt1Vk+vff285G/kIIUWvSrgUb8frRMIw1OtQEpYdm1Bs0DxfpnNUp40GK3YNd3FmKuQpQiJUL
wYBl83x5N6cxomUAVhpRnS3K12dRa3HhNflh4FJ3Xtma5lK8rOJiN/1vKKCmpC5aHljoLpcnESrQ
Mc1FNoRrGKI13YQy8mc7WMk/SVEMhasrYsqgaeX6f1mWNs9E3HrxtRbm8qnOVDSepyi2z/psK3/B
5bFNL3Zq1YF4NcARksa++6EIVf5XsyMTw5QqHT/ZuGkduZPvPRdJlkpnn5bOTatVnwY6BJOUBXXi
tIjdz7UfYiVyEJH3VvnVW6HrgfXq9vPSuYmMKaIGN/Qlv9YjEjeONh/1wvZWAdUIK4wElfRjvRd+
D1SREiW2JvIAJGD/lMDL8rqqPzJXPFplEw6HhmVGtcuDxABKoE1mfFbNRv6Dw72Go5V3QIqzvU+A
58Nkh1wS1IUseaNGv4j5W3XWAacexIn1B7/OJ8EKECQQw/1/4lavtw3UyNR1S5oFShglrUc10Z5C
s7A/CsUsIl8bDeuM8u9Vs7L4oEi//YTJ8mmb/upcYrey+YQd8kJTnvQsWEq9xNgpkV1NF3MQS8N8
ULzsPSWoRQZY1gq03eLCYsTnSqruPNBiSG6XuEu74dxakx15eQmB/qdqCfQK9EILg36aIeDeD4y7
6zNnhvRMJgl57fUuJ202Molml/vaKB/1ZYxe6J/Krt0Z8bWIp/QFGpt8hlHWHay8u8mIWoHpp2i4
4XX3qtUn4MRZeZGVxcMj3v5hwPiMXFutj87t7deBKhCfHwYzLHmTB5VjnQ8dSv5BAhkbj/k5foKZ
N1zub+ZthgdjAAgScQt+/413SKqVI3PeEsI0knol6n2TUfjoEHSVK8KG2NrEffhs0ng5GhrttFRX
sgJ6IKjXkVxuz1ErR+XQaVkRVEhQfAmrdnrO89SUTwVqYT/j3hAf+q60fBT2h8dMk6LMy8q8yl3T
xlXsD14tbTtY1WBobsn0EYjqFE2NnN5m/bmJC+shNmLVh3Ucf377jgOWWFGiax64lX0CZaz2gxkX
Acj0HG1hR/4wQ1l3nbzuPrfOUJ4tUJAHQ+edzgcCOyg/rYMAZAS38aETDb3bIiqCUlT1eTYjNCYU
Y3o/0mn2B0v9d24G55K1PaKMeVee6HkczYL3DjRvmpNG32StWzbfrTSG6BVYWdDSIL8Mja15Kbje
g3C/+6SgEoCSgkS5nThLuh0pcmhkweS0+QeMToXjyurkpG6u1PGKMh/np6qP4pNtJkXllrU5fllw
MDwCJ99mjSugdbWxB3Bt30SLUB2hq2NzF+Cpki1urVnjjzqD9ol05hSdSiX7k4+Z6RlBWQEKfUMD
age0hAfygpVCjHuOzeX6OHYM/b1sDM3GHbJEZF6ritY4+Hz23u3vK6///reEgfY3vkZdmgd2JS0v
+tiYAebF7UHne3cVql1aFMzpQD+/XmWiQRoVTcir7RyjDCABhuicJtHg+Pe/0d1XB+gEkSfAfzei
vrE8Um04XHGhrjZnQ/sXJaofGH2pXukg3Xx/sZ0QTDQgDtKDXUtD9fVTDb08RVampUE2qmr6mTlJ
9reKY4b6LjOt8IIRQvUgy8N0vb/szjNC7WOkRVyAF7xt+fT6rDOlNtB87wYQ0GKhOvDClBZYombd
o1oO4qD7c9v7RbwUYUgUbNEOvBF8B9Yp6qSl12yWI911d2xGtXmypV4CFWtX4uMiq0I7N2WSx//r
UKTqz8UY9frntz84YNlVuJD2/s3LRVFJzVg6CWwA0c9QWiu/VlsBTK6KnmJrOBKF2pmb8dwA6dGj
hu9+wxUSBERGIyjP2NqASVYc1r5IZv2ptZf+0lom1iFxhuTSrHYeXjmthxXuYyZFyjfSOnHw2vdO
23rvgq5awVvbWxeR9kHXaewEVZzR0cwHXSrORufMfzWtnfhi0LsHp1ait0sPgneGLwV+YQVabXsf
ESpuYVYwtYqisPD1pcz91j4rBXD/RDyJ3nmvpVZ5cO3tBAySVAxp1t7A7UAaoBAIBuEwKpND5Fvq
3npxluqIC7aTFrIKKoCrhMKqmvf6A44dtXAolBA8NaTEg5zRnhdlDv25wLP2/tndWwqi3nqKVmzy
tqVfAmiprAURJ2cZ4T81fYvrU9Y7IWrOAgfJ+6vthQgoShBsaPCviPbXD9ZIsIy7WEqDQp5waktA
t/QACK7OkvxYwFW9PepSn9EeA4xEd2Cbo0TpUulJq6aB2hXNA2Nu2y9HrXugRMxOaWh0B7nv3mbS
hFvb0VTsN4i4EhGRQZVYT4xdHMRjuJx6VHX8Cnmh0/2d3F1qRWYysd+hnOTKNEsJMumBVJCU1Eup
nrKpU/7u8WE62MXbMw+hTF1766h8EuU2p7HrIsdJ6ykLUKUnv6TyPKk9dMj7D7STZrGMjr0MN8hO
zwgIvsnBV1kGgWEPm9nsspYzp9qJbGj9mv0e+bDmYiFp6krKpPum3rYHN+fthbL+BgvHLyp7VPc2
GeWU9kgJzWSUhjFwYIji10lI81PK+/bG2pkMl3heubh+oa0zp0dc6PX//7reZ320BlGn5cTetMfl
PjJRGLTJR9SuTV3TbB8zu2tPEfM9bwD544p6mT/0VpYcfJm7L5kPkxYa3u2cx9dfZq90AzLrBbtf
xP1pQTb90pW69uZT+6sxzrR0BZrA9ni9CnDSMmkyhKymWAq9iv/KG1vF8qOulQ4C295WKkhcMg8l
c70Bd688esnpa5YK++o6WlZ/7o2pdi15ceBNTfIZFOV4NvrOOOJo7Qik8JjU2SpVGYyfbUXWNXqv
SLQxgkaU1oep0tOfhTBA/66TCHGhNYk5Rx5LyTOTt7q5Or2VnLgIBt+cuuRzt8RgTRB3fHNLh5/F
2AXAEan1Dc4j0oQoJc0gL4zMZga5lYYfF2QhO19qW0DD9z/ovRMFqwD4ODoMEAw3J2qK6tzCLjoN
QsSzNRd9LPtzY/fd2yUAeSo+VgCxK8lqe6YSi8H7klQpVf/QinOKpOMXG3FggV6HPT1WfUFtDzk5
j1Ak1MKDCkJVdj5ZlIfQmwWyeSulb+kir3unSINlWZrso1r0E5plWrREvrIqD/5dTLVAyqlUErTF
xnRUZ18Dyaa5qoL4m5vYeh3ji5CWlSslIAP9yejs7povS/e1n9QaSsZQC/Qc59A818U8JVdZFlro
LrMeawcB8PZaQZlt5VxQDnF2t71NA9XboiqzNGhltQiKbJr83jbya79oR+djN+CDHeczQUmHFtgm
2KqhozSdEGkQA6Z6VwldQ6kMlarTjD7bKWmS6dk2RuScILj9Z/cxiDwF26S3n1I0jJCkg6PHnGkT
kdI+GSLDQEAWnGH/Mi1C8qyisA7i3t63QI6KFx1TePLGTTMVSeK47G1gC0XWiAfDaqUrmmH2UYNg
7+2xBkKYvDz0ODY7ughbVMjNMV1tFdOP5cT0uh7GppNH1gEr+zaTowEBMg6dL2DoN4pbBO0RYspI
lrPU/bOCQDyW7bQsJ6EIf9Hs2b//nnZPC1hJpmb0uejibLZwyCa0F1cnpnzR5B+oAc3i1Ful0B9z
xSoVv6UZ3rg56oK565RZZb1PhtJ+J2c9FKb7v2Vvm9HkXducJEQ3lQc920iyZyTdY0hCvq23YRCn
jnVOcag7eOzdpajhmfHyndyoJuqgSCCDAuutwAoKX8nlTnke0fnyMG9h7nv/wfZeKnUlrVNe6C1I
JMYaRbakjJKqN0pvAtL0GKVgD5wk1H8CwjyC9+6+VPAhMI2od5Ck3twRao2iOi03nG/CUc1dNA7z
R63X9fqKzvGSeWNF9wB1qujzXMZpc6rDNrpmU60d9Wd29hlx5bX5j56ZTv71OjHp2JVRQ6+Llsky
eYWy4CgD3Cq9inJsDq6M3bUIrtQHjGJhOLxeS80HXjVeNAHwZvVqOml7ciz4dJkCCeX+C92JO4x6
6TexCiP07f5GY6vH0Ig5PmgFXoqiq8+hHB7xUfbuQHIdjEXpxnAV/nrNvzXrtHmCtguBIjBRa9Vd
BCmnn/hKKf8AbLJfNKWssOoYQ7V8HCpRcxniPTh9R2s9dU6otddfemeWh5OOfP+1avtI9sc6HTPF
1ZQZW1RFR7XaS6m8Wxdzk2wF8NjWSZ/r3Hn7pw0EhmKY2htdlG3mhuc4E2bUiwPJ1LDkbWzFzYso
u2Zmbhx82jsfG0sROrl2wKBua41CJJpQxyQPKvTFnxVp6G2vhY70LRmk6azp4awcfN57Bw+KC6Qh
UmIw3+tp+e01xf2CWkdB9o1Lxfw8dLp9aaSoRzRxcA7KiZ3sGxcPQKfkv2Aytw9Xz9UioPUxBbKj
5L1UOunD0mZmdWHz9Wcoc1bAXLPBjhKe4cE73Dv0FDHkMaCMyP3Xjf/tMdGSArpRsHaCjsdpBox5
6o2kP3jCvc1clbG40gmX3LevV6k0oYT9Ok1zmqIxXWBNBhrtUvo/c9HTg77C3lEBRwq2nZrplnSF
pmaKzH2f49NmpqdEjevHSYo+1qqo/NKyxwNtoL3lgFGsqTukAE7M60cbER+qR+B0QVkVut9x2/wV
DdCbJV1kl0IzjgZYe1tJy5gcDM0oBuubtMVIMqvV9SIPFnTp/UwdQ58jWfqlJr19ZIRPAO0gWodw
/G8wMNQraKmA0grkUISPSi2aUxoVRwPl3QdC7IGhCSCpG5VD4NXDoNu0ufo5sryJ3uxLVTu6u6DP
++V+hL/tvvJAUHEgcNNzv2kVZqICHVXnWWC3/XKWiIvMwGL7HdDZ4tJ1XfaQN6H85i4oiyJnQb5M
nLxB6JYg+JomyggkDamyESmCu6z+9/6T7Z1CSCn0Jcm0GHutT/77Z1xgma5CmQ00ULxQ0Fu3cpr5
HM2i8SWlPNjHo9U2Z1Bvyo5rARVsUSXGU50X39Mmy973fHpe3c3Z6f7D7Z0QwGzk6rR50FrfLOeo
M7yKMsqCWcAzGIAceFIM+zSq+ALuL7X7ZICSgeqhEHuTQuLDuyBozGHUJck5J5qaX9Uu6r0kTeRT
G0/ifH+9vfDLuYfNDsr4lnanqYtjlTaNFydT8jOpfB2Eq6ry/VX2NpDcCXELrunbGVetY+XrDBUi
cLZwTgY03NNMp/IaDWr7B++KCQMVKuMWksTNu7JpGeejSTiMUjU5V2ESa740LdMJ8WdRHCy297Ys
JHUZ7NAlu2m2VtFitZFGLJRiGZKiEo9eYiHkLC/M66yqO0Kg7MUPUDcgUyENAqBbf89vXxmoE5gn
JdfY7BTll7boOxcB3eSc1J38BX2Z5aQm0hFsdWdRkkRuGCph3t42y+IcFm229snZgC6oclST3bw3
e282+8gzpQIz46Htvt4/MrurEiNXZSgu7q1Kk2SpcEytJQ26EqvDhAr6kjMiOudtbD0i01Oel6VS
3n5OV8FOZpOGsvbqNxVOLZxF1GnLonOXvQzlEn9MlSTzC3XSD8BiO58EdT/NMPhF1BbbV6lase6I
EF/CyYoV+xyaefMuykBOPlQmpc1BabFzUIknK/YDVuSqovH64Ey4eeRaHFKPZ7n1TxM34UUMTXcx
klHqXGat48Gls/f6GEJQoq3y2jewYzZxKYXA4hFanOQlCV4iqh5HVy1WxbkEHu/pMlbY98/M+m1v
GvJrObCOdX8lRJvXpzb2IExs2oOmVOr3ljK9UMaa58TCl9OKm+QyR+V0mTDr+nx/4b2XyZqUB0jf
3fallLIdMoAnNOIQ9ko9/HqQ/i1GWEzCNMM/eJcraJ22P3H7pj01q6QMqMMngWZWce+hkV93Xq3V
Mc2wCkrVe7vkoj+4l3buCS5A7nUU20ErbLM+PGeLNeOFDrfOWkynzJ9tPLgOXuDeKuiIUWCR8RHD
Ny8wNRtoUT0976Ywaj+b13ZjLcqDqL0DPeN7Y+RnQfyhsNo+TBrlY410NkA+hSTCE9R9X52mlt63
fIapl6FaUbpd2ZS1q8AE8qNIN2J/SQCayJbWH3QY9n/OCk5dSdOrFdrrjxNyQlWAYCS90MB6RKIq
vBL/jCdlKc2/cQmvv5bolOMdJRXXnLmbP2RN/xxNqEbeP8b7v4TO6qrmtkMZi50p58tVKKjzzGi9
edKTJyOVEo60mTtBF0b9S6u0+nmujPkdys3yc9ziKY+LTv92nisgDdnhODB/RvNosytYA5tLWdHr
bbP4Z47mDFVb2rmIrqqXMZWaPzh6ZF1EfsL+LU44yjsgKIZJSqmky0fDarJ3MVCFg293J1BoZP4K
rg6rWN62gY34hjlH6KYHgM/GU6fZP+cu7s+kyvXB/bITC2H8EyT4jFbe9vqp/Z4qiNCerFKGjN9W
9Xc9rtLpobC7/EWGvVC7XVyUYF4aTC8GezKly/2TtLc6jV/kXdFqArC+SVSixa67nHZFINF7ZQAM
3CZtuuqstFN8zRrdvLT4DpxUAtnBe9zbYdqQzPQJxNyt6y/77bmHKFLmOS9odcvZfEotyfZjK8wu
dKqqgziyM38GPAA8Aio+IXF7QlFyIQp3YxRkS9cHsty32IgUhVd00fTZQsPfLbFLu1gxXpEuQ9a3
swQpwNdLgBuHwLwd9WMbMWLezSueRXaCobKcl36BZ9N3ic+bPdjYnRudiMnPhHpAm3eLBsHzvEKD
sQ0fytRBjUkyxJNtxbPXyu3sZ8xtT/EoR5/vn6MdxuDKgETTGfQAZeW2WdmReVdRzo0g4xoynZbI
YipsLmZRnJamwuFFgBZDvVrLKgXe8Gh+TI0+hoJvmKHwJqtW/laUCNsC2x7/J49x3vhqhhWD1zaF
9JTVYZTDs1YRqG1xv7IuYpmiD4ky9TpuQn39GFbZIrvIckTpuW+76qveVsp8oZbKcpchfP+dcVET
nxl2tX9hUZvovHQUU/05dxL7WhrmnPiFElXvS+iBgz8gDZn/pD1OcYeWw3Ja+kGPrlNTRcrfqtrP
n/Gf7Y6QEjufI4qxUFMY77KZ26lrhmQiBMckDow8bC4FTg1nMaCDl0t1+l9aM5CZwzKGjJPI1/sv
cOfUQEeggYNiHZnndmwYh0rTliNDLrWOqwBfSdibUzx8oOuBPoaIWgRRsyPs/M6HSf4Ojx5bEdDO
29y6ybHMGRzYkcUQ1SdnyWU/Qy7770bVclR68voyRaXwOgv8mZiq4dv9Z97JYugWrKaFwJhW8MTr
EFRZIs2ghZKgIUT+0CVWcpbzpT1QAtlbhU4LID7yGJwaNgG+LvDIcuZsHbGJKnLx8RV+lZfTQXtx
fxnGEWs7AsbpNiXrFq6HGPSiMS5l4RZzVHwv4+rI2WKnQEHbiIBNQPuVYb7es2jVqeHkY/cYO8Zz
beNHlHSa6nYIJvjVuBzNs3cfi2QW/RhIOxyS1+tpI05RTkkSXfZSHaR2n3+acnE0a9lfxWEO6nAX
86fXqyDsbwwRVz39PlT+/WiWDS/K8kR9e1qB3zGwTu47svAtesNKobGDREK8aNT7yBVKRb1VWR20
5VEC5P72881KdIugVcmAU14/VVwpalo0YObyEvuztgaRHbeHQoN7MQuWDSxg0jJQKZtVzH4Y6gYE
UqBHmvTC52T5KeJuT4uddShbTpZPRCk9RZneLrL9y5oK3o2KEsdNC2mRHLhi2f9xdh5NciLdGv5F
RGAT2EKZrupudcubDSHzCe9dwq+/D7obdUE0oZmJmI1ilAVknjzmNcBGtZkB5lSq2NLNSv8W1uCX
19/kRrLChHxBBcPJYJR5swvHyDFkk+fxNRTV8LW0iponi9sPEqD0zkfbOmCL0j5UYIZKK2fzxB0M
J+7wdMb/kzlE4147Pct8Ucyfuqj7/PpzbS7GN6MfvGz721wBwr2jGKmJ2Xcfdo+uFUde3qvOqcKd
+yh5Fzuzso1ztjwW4gK08Gly3+yVeDb1bDRKJGryZDqRSEyXGS7p4fWn2vharEI+S+4G3e42tYy7
bJSTJjHj1uP5Sba44QimgQ99O+6hODc2vwBjQ2bJCVsnW0LFOwgDlOjKoMU1r4maZslBzH1zVzqK
a+EtKJJzwyb95Naz2An5W88JdBTSBjMl6tKb+6swSnxj8Bm6yjFr0kMw5tr7IBmT6qBG+nR6/aVu
1ZzgCUCmMOWkqXl7BpQsDApRi+KaoWF41CYjOKSqzLzE7pTTYOvBXay5HygU8UC2ChdSshYdnD7d
OYobW3ZxY8P/geuHUeHy53/VDWjN10GTDPk108vwUqCE40uw6icrd0nShmQvR9n4wguJcAlwC8bo
9rF1tVTMOraL62hItUFaJI6+qFLR24OtBROZSyye2jSKDxOExF+vv/ON4wLID+gIWBXGa7fXRe2M
XOaBmV/bHIgfHziwnkPV7vY0lDaSP8Bp5H0A/zEuueWw6/ncWQoszWs2DiHKxAPUWO7jY9EC8quR
9Pbbps3v/sPD0XEE84PQ6arwDZMKPbRGK65moLb3udnkl2ZM6p3yeuvRqElgwdKGA++zfN6/tgs4
VLNKlam4MhmyfrbDrN8Fmp1+davSgE0TIuWE9nC6h1nf+nLLSJnGiAX4+FYXF5gK8MUgKuiKp/0x
bewY0U193IGLbQQAJj3QDJgIIeFw2x8LaHxDPcrKq2pUpeoB4zG+NklbDthShrumZhsngYY0J4/e
tIbxyk3wrjsytEEJOAmBcPs7xx7bR6Ytw5fW1aLiYBtAJ318dnsN/OUkS+v8+obZAgDzAyBCMbqk
YLitUcxAS9k1DlOcWUJOmXszVT1wYs33NnITjPhqq5rvBsJG5NlpmP8ycK3/NEet/FF3upPQW+5C
zVPgWgc7t/bGl+DG5ghpgLw2IFf4x6MhKPhpIVqqauhMJ9vIzDsqH3XnNWwEQFIQJuB/otKKEKYA
4Rf0wDJyubo6WHM5PGCO2GONtlivQ7neCUKbr51ISxAC+rF2JFesLIRdDPKjd4PuTZsI65ncv3ZO
uK1OzimWqjLjHyhT9dAi+SyuRiaa96itouJu90qiXuY8Ne7A4CNn+fqW2HrtVDtLOxBaGgbbL0+3
UkVjqUl2RJlY+U8lnuC2K0h8BKNl/jvMmze+XACLjeCq+avoTibJN9AnMOLfVmC6D07TDyeD5sPH
f38oZlvQUGhBLtZVLx9KwhgKYt3KrumUlodJjWOqKwTmcn2yd+qRPyXuzSSGSfkCNqUIX6fQuGxa
UxTX+bXLguTbWDTz227M5sAbUze9aKNrngUdGOGZSY72jlNax7GjffPPx8clsDBicyiQ11iVRCsU
NymN/Fob2mj6MAv79ADWbQG1TXqzJxO63jYuzXoyiKXcW8h+L99wmfaDo0agy+0lbJbplH2ahPiO
0Kvxz5ccKzGhJB+FCLtqjg/c6kWA+PxVx0HLs9RgvtRltoe/WV9yrIIOE6qWOOSuAiNt8tEYnJjB
BPq7H9kn6h1JXPrTAG9ne2ok+uOgojG/89XWkQg4GK5OBD5wfaueUcqdndSJRJRwFtl7lIB1GM1l
+0ZMZh2eByPW9NPrR2N9rbIixSw9eXgBK7iyXTYUaJYZX8c4xGl77PKDUtnaToTdep3sClgWCw5i
lXYZJcGuZVx/bessvGvKUjtOee+8ifFWO1EKdO8XOc9/P4qM7RHK/VP48Z+bTCWKKVS0mWo2Tgrd
SwOO3uz2kU+jcHrfoGz7e2RaetH6JjshQhh6FZzxYueTbr1gohxApGWaQ1L48mRUjjnyThjm0EnP
z0HkBvckL3ttkHXfj6EhvEg6VQKE8m3YBt8xaVg/JNdKUab+PMWme6dweX8IdbT8Tno3qCr89yh7
BwA37n0mqc3zv+8kEIZ0WnV2EnHn5YMi2xd2uR7BHQiG8GIYinYYEcvd6f1tnRCOJphN+lcW+dHL
VXpect9hUHPVnXD2p1z2z2mjo4cehj+SDLDL6w+1FdcI5oIeFsDhFUKuQMUFZx7oA6pGcFMaw8CV
JnIuHbJjOxtl64zg4qgtCLmlHLvZKEOuG2w/G2h3lFWH3rWAmKNFCsPEFtGistyFd3Mx9Z9ef8IN
kjZdEci7C0eZa/+25u0npRrVkoI7tGoZ+A5AG1/KQH0Igbz+tvK26Xw489rZCtPJ9agVzeBYz7Pz
hOeWwninCJ2fr/+mrTOzfNyFgUtWfFuR5iggOs00RNd2jI0faegUz+bwHwxdl2uaLhQQSyDUt7Wg
4igwNRpGA47VBVd7RIbF1YfpUTTqnmT+n4HYy6yAD4sEHgGQcdUKz0ktjOSUS2BP0jjDzBU1h4c6
H/PJm426BaORhtikhTayXqeEK/QDboJ5+KMJywj2iN5+HkTVP6ldlzeHTtSDcXZstjwtum4W3hyV
puYh4Wgwg5GgYk9O51pHHHOq9qz0anWsWsfMaCfU8ZfOcMfJN9qBOYAmZ9BbrhaXtj+D1zU8qSnt
sBP9Nz7nItlFvxQlqrVQKqLT5HoKCApZuh+0PhOPGcLsO2XpxkllEfYwPh/EwtsIGBqZ3qWdEV8h
F3UH/MKZCehzfW8No7pzZ27EIMC5YEKWT7mumvQoraZ6wbyYo6qhKT+PT2OnR4/2POvfC1UOO5Fh
c71l1sk+3RDyGuwCyXybO1rJEEmMY/EFHc7sbqB7+YSCr7Nzb259LnQ5qAuppdYsCaVyB9QxInTq
GrVnPqfJIwz1bmeVre/F86BFTKdt3eSuw1lrS5iXVzllyb3Wi+pQKrrmQw2rdor6JXLeHL5FMpwE
YJEO54Z6eWeU6DHiQgLAIWqs6WeK1qTfM7+/k33W+5XiJA82TlHPXbJrWrXxkKgmUk8tU3na+frL
lbVOY7hoIE7m0gayTuh6pm/iPGm+ZonSfXs9aG7sEkBK9BFgfPFKb1WGRGNMSCsvdAJ1ik/YOJSd
35vMjIu0VRqvKUx9p4Db2CgY81JVMXeBYHcbQFPDmAsZV/l1jpTSF0NhnBfPmePrz7X1DqET0J5Y
Os8rhyKhWHAS5zi/Nq1JhzuM4itGvcIHlLYn1bG1FDkUMG7yC3rlNxsF3avexWg0v6LDNX/HUTAM
fAZy4ksMR+/X64+1cd0jCAPoxmJayoV/s9ZAcDYTC8PUUh+zR02OU+MHeau/jwM9LjypayVqqWW2
E4u3l6WJhlWcxoxn+aZ/de/6hZ1cTeBoG0cWvdcTVipviDLrGElTsfwG1bLrpI7unt3e1rtlCgPq
Exw5WerN806ckv+nEY2yF4cYf8EPhYHzaS5V/d3rr3ZrqaXpSl99YSPeZlJKaukyzW2ugq6wUJxB
YN6zKzM75qMB3OH1xbaCC/cNKFywN2vViRGL5CkX+HGooyU+t5nU0Lc1Wvsissa6JHNl3Gmwhx6T
IjH3SMFbD0qLGXoWL9W0dePlxzRBzk5mR1ZhOdBeytqcj2od16c4dsKds74VXf5e6mbfZP2YhZXU
mBo7eXIqEqc9jdwev2cjxnOojoJ/H7WCgMZV8E/zbyFXvHw2Q2nrKi5wIei18XdsDsFD1sZ7YC3u
Gf6am7thuejYLrSG6MXdRGiEUGLGDICmgiqyzA855c1cerDlFXi5va6esjlubS8I9LTzEdOxej9C
wZ9yGWIJ1itFkfu21ivTWdSOqPwptNS3uNwYn+02D20PZk3S4CeQS+ugmlkrnqc5bX6nUJQSz3Ea
90OYWkVx5wrkJs6GU2vhsY2KsvUUBLqvmabh6u7maaD6USHH30ItHBxYSkf9oonC1Q8hKMm3wzAG
79JBzO1xzPWiOghdIuDuJuHwoEi37U61mxhfnEKRw8FM+7D2i8yY80PGmMY9tFY99B4muoqC0eg8
v5G6UYlLNfZg3UcFyL3vQnP9abUUlu8COm3EjECk2lmvmhb64zTTpx2QnPOnuEwzvwsUW3qT1TGS
n4Et4ok45UX7BsIRTsN15mQV2UUpf+QIDqJwTW8JZEoRyk8ylOlHopQ9P7WuzVzKA+ufWb8Qm5RI
QbRa9LVN6ni85JXpnvMBzshF0cc2PJLNa4lvpKqTHQM1S8VRzUMTFwkz1A3iWmwofmkk8ZsZvEB2
wOup/R/RQ4p7PZOxfgwVpQEXNSbF8DGZKHIOs2PmxfNc1u37KqnFI/J6Ye7NYpTN8ySqqPKyRsxf
HCt1f45ink6uxMPK62OEfu4UTTT2uVDrHIXDcRje9Gmhp49jOw6jB/80dA7UlSPpfW6l4WHOB7ij
qTua852KN17ohSq33hGZfjs7aFNvNn41CpwNK3pT7V2qDlruhVlVm4emc+P7YhrbHuPv1P2CBtno
+J0srI+1a7WFZwPWcR51ZRyvVqWNGcrCcH59lYtG3g1ROdXIPji5GWNv0uaa17kwpyD6VGN3yMBH
1RctjQTeW1wWtecMYferNpH584JMETV2dUyc/RYXefW+6mbrU68EEQAwKyn8rC8QVRQpM2pvAuUW
Pg8Uk62XO6JWPhWy0YUfQq++KlU7vzcSRO6fC2x2Z4+cLRnYlO40XGRcNx+HqbU6z6w643NV67N2
QmhVlL+xpNRzX8dMY6+BtHFXUhfS/2OSR95xWxlXqQxh/EHEsPrceAaIG3xwa9f5mVObv69b7Vcj
q2nnOlmF9IWAgQQUFyTJzkopvU2d0a5hEGCnM8V+u2DtqlhJjpNi/Xj94lq1jOjwo9ZMSYo2Jmvd
XMiStr5qjXZ+Fa2efXWkm78NjU6AOXKT7kuFPue5T9uSkzfJT+B1k+r4+g9YPSojJ+oo2o+kq4wS
byK8TGQ7Z2ONbnTtlm9lJCccGoORsq1JT/9lKbQzgHZzpdyiJJKhKEJXhQgYjPA18yKcoSdU1klX
gj2bquVX314oZHOMDlGwWXMU4mgG7OgUzHvrsf61uHX91HomZf/+QIs2Ljfkohl021UMY7TdAPNT
PRkDx7aZZeL6jpNY3xf52HlnU25dkhS8GJ8CuVvAxS/vYrOrjMktKKBSmPoPbmyM54EBsTwLQ5K2
1m4sL+ZQaMdS1eTeKdzaJjhf0xZj2gwI5abjV9SA72gRcQpbrCPzzmxUT2fdS6F03b+r4QKiAReA
Li/QtRWcphCx2kUzfVRdg/Of6oQop5PnFjOSnXf6B3n6YqMs0EWuSt4ovrWrukYXiiiRZGWgnWTJ
eFgapvdT47Y/ZrNw/icik/tKzZ1U9/KmKR5T0UTO42RWhnLoIsXJToHM4q9qUKiMbEcK29d32Oqb
Lz8PuzWYCMxGVzsMy87JxK40v0ZBU/h4qnOPtPNoHLLK/T6EtnF0HJn5QVDsEahWqSYrUymALl8g
pMh0vtxtpRZHY1j3OWVIII+KUeTHrKqGs5Xa84MeW9Nef2W1w5YFqfgW+i5Vw20kRHq4DuqIBQtc
ja/lpEqOVfUOSkq206T6E2huPzosWgoTBpG0BJe3/lf5hevNBELXZhKpz8Hg6WMIYlvqoxUeTKNr
uBeD2ik9MpaFVVkXNZK2U9J809OkfKti4vRBt2JzOswTjPi7oUcs2ytiq43uDLe2P+ZtK0aMIKr0
G3CB7GumB2CXJsnjHQe91ObjWBvzz0IqiH1WQwC4AcFVLcM6r2n0T+z5vvOSdpbD2yaiU3e0W0il
TNlg2HukPYKmGii9r3UYWtKjHLBjH4fRxPW4CofOC0vcX94QttL3DTJQgadNzvj59Y25CrB8LXiD
9KxRwIMfqb98hUURCRkVyNrHPOtRzEH30YqV9F9xdcsqdMEYZ8LAWQUC1U5wv1Kz/KpmnU6ci5XH
Jq/3VC3XEDCWYT5F/KIIWU+H4iTJRAam9DrbQXzOsmA8ku+oBxknPd9fC/wo082nKO5iXOas+VvU
2MbTyNz68PpbXeU6yw9hDEjmB4kQFtTLtyrGQKWTxdw/Ts3piBkRwV5pmU2rhjykjsKeJDjuHIet
GMNyHAUT/9EVtY6T5s4L8IQeSFj8L7Ty4ZIooWN71Jf2KTBL8xv8sOQxQJR7j3C3dejR81mQ3eAP
yIBfPjBbq+KQVcVV9NN436jZAN4swBptcPfkfzeXQuSYliqrrdRtEqWi3FugS4hROzQ4lRCmCmIB
Mp2dnURn4zM6KgNWVFlpytHvf/lUVBGhMaHXc51atzxPZlpdq9QWR41Rg1/VUXmv2kGxs+jG89FQ
Qh0G3CQTpNtkpDFqQWY+51ektrtvBo6U57jpu96L9dneQ9ZpG9cD/TKkgmiHb5he0jijghjYNA1l
o9cMlnYRTZN7ZZshThhPqgdcPzk2ae/8HhkVHqoYzF0q1PYugURzVorZutAF6xa1ytkLanVPzWgj
s2bcSzcIoSYVrOHNBbYoB2lScp/Elg18CoHHnGCJSN0Ja4fyA2ZA7ZcZ/PBJpmhEobaRTXevn+bN
d7SMSTmyy8TpJkbWDnCXhlL7OuupuFd76xmDCpQ5xxymFA4nO7nM1nLMdWgGM7ZcSxtWoi5mJk75
tXI05aNTtggPWDnKo9WQHWd76uTOgmuUDW1I6C2YTYJRWg8t26Eq3CzvwKwGonoDjig85l0Vobtk
pclXvInGU1Z3le0bhTt9CLpkuMB1KndypK2NT8sdij5V1NofVJdK1uQmIJtctPF9DvsJ3d6h9jol
j3fi8+YrxjmLOo1cDPDYy4OdZ+pcO+mYX51MdEc7jN0zeinZnVuF9n03N/bX13fQ1qPR2zcBxoFI
4RlfrqdHshpH0cOHDaP2GytZs4/ysvnRGobG3PmcWw/H9uHQMXFCb/XmwPSYTYdYWKVoLeGunWrp
fNZqvT6XCJP4vS2j//BwVNk4YtLSZNcuD/9XFpZpRWoHM04JFSflPAfFu8GV8hhjifrp31/j3yst
T/7XSqBKtHAmHbp2DJkPwMJS+l703fCP3WuYbn0x6gmskRZCpHV75vUWFxhXoySc2qr0SnB8j1nb
4SoF++3jf3iqBTNKNxR+222yMMF7xYwXdFSiFt01tjnsh9Ihvo3YsCk7pe6y025S5gWybTA1+KN3
dvMKU1plKl2i5NpHYe+PjjHdR5Uz76QiW29vEdYkNbc2Cr+xFbHZAYdFp3o2PiZzlB5lZ82nam73
WjxbD0SBQ7lBZbXMBl/uiSFz6SfVDOraMEOViHbyFfDOHoJtI7diI5C8cg0w7b4dgmDALRJZ4zYG
YRNdVLWNPNOZ2os1iOgYObRn43pozySEe6Fq61WSoUPhAAe45pPnIgNVwKWGLFcSw9dQpzu6UKmf
ybQ8vb4RN18lNxwoEQa2K+pCKyQmU5HIrqTXsJ2nDk3Nwd4DN27eNmRTML6oiZkP3lyn6GtHsrWX
kiNw+2PSJjONUjV6PxlzciK5zBIPfaTuaKQznbqxbzEstssdbsoaNcydt7BSoC9w8a0y1qBHz5Pi
J8NLvNPDY6IHQtJLT8zTkCBFAKjEyWEFKxDtvbJwm/5cljmKxmmKYyvVdp57QAn6Czn3XtNra7MR
c/hl9EzWYO1mCJMi0BkCFMCl70dRM8QQtvKcx+WPMZDqdxextm8DI4edm2NrAxAaKB6o09b0Xj1w
hGK4VXaV6iAe7W6MPyNVsidNtZVVc8sD3oGvhpHHzffHjEIv0irPr3Zshz/zXoZfXKWbPE1CcgdC
JD1Xpnvu7lvHiEdaNHkWQOhtkO1MLHScDjknK7fUx1yb8soLXLszPSBZ+o/XD9LWB1wU4HAGceh3
3yKkRdM6s5qzGD8GSq0Rj9UZvYiA/LiJzDOaQNEbWavjge50u1NqLwH8JsAvWGXqS0judHwW5eq/
7sioykJEOYmHDJTMd7Wm/Epl5v7GiiuiBu6HZmeUubFnXqx38zWbKNAHdxmBd5k2ZF6hd9MPd9aT
w+uvdHMZuNDwSEhpVjk44R96Y2Sk8PdL5VGp4SszxN3JZLZCEwIMC5MS6Ie50krna6rMLbExGyJ9
GO4QGqKVhF27OIg4E9pBESLWPKvohe5FTdcUHi47cXbI8Rv753E0glXItwLwpfzkoNzc1KqdNgQ/
csa6zL8ZVoqLsNMLH9Rp+e+3NdYmWCAQk3EFuR0dqIHZGEmH0GTf5+WnrnToWhUl7MBsEv8hM1g+
IoKWy6BiBeAdGO4bfUYjzkFn4n1lp9ZTlFTBwZaDvVO2bbWDlqYgoYamBCf/JjXABqRQRIuqmtWa
PdyTSe9/52lV/mjUunqQiRactKytIfHjoXaEQjlcdKPoNQ8vO2Nn/27EH3YUbr0gz1ChcN2Xx3Jq
m8pRNJJkXUTh576ZNN8ay+aaZeF0fP2ovL4UQKmXS5XYHA+zC0wqmoLYL/u+PiBalb9RDArn15fa
COXwBlAypA/jLvibl0u1BmbA7ZKQR6kGZsmGnyCjJL64skvPNcrod1O0h51YRwKQS8AF2a8UcNzg
L9eUelx3SdHQSpcBDmxBaH2gblT3NIHXcZRl2Iw0gJa8/LZkM6LQtmaXXuIwONMxDmPjsR2V4hAo
hXiI23ZPSGBrPR1pQyjBbFo6si8fS0/r0pg12j5xVGleW2nBoz5G6RvdGAT4JYxzXv90W68RxidA
DYaySw/45XqFkG7X1vBU22Cw3/eKlr7pVK3eWWW9FzGJwniCkaRBRnNbRsUmtbxAFOE6kvr/RDM3
OKV9JB8NNd0RilvfuaxEAbqwt6lubuuA1GSeNUXA56CUVD9nF9ck3+5U6+wEkqEAuqUXy2L2GjsY
Ru4cg613yZoL9YOKB1+Kl+8SHAdsYwNQXYmt0qWVUnuIZbWHJN3aIX+tot98MTOIonzSC3ak1anP
oT6lpyqappPQ+q8KwOfz6xtkazn8FRfzAjLCFQIy6UnMYckjdTxVnV+Mip14GFiE97Ho23PL/7Oj
X7b1BZmLkvFqwM1WE2zRGlowwkq8NlotPRHZQGzQUEDqTwbvFbDbNCWH5CvG7u5eHPtj+fcya6Ln
BC6K/bMU/av6Djx/T0GVX8dk6sCG2GRQXocbuOYPzEc+VHWqEUVVkChG0F9T2SsPoPYxssIM8jP5
nPiOxGraeI7MkxyhqmDY2d9rZgGkXIapnFhSysWC4OUmc/TUGhk2QPADC/IuTMv0NDZD8AENo+EB
z+j5DogXJtYZliJ17qgems2GHw6t85iVdrRzsP/s6ds3BqCHX0RRTDS++TmWChoq7gbYthD6C68X
edD4SWqY1zEfncbrI6uID5gf5tNJGcuqPDgSBVAv1ozM8YE1mbnnBI1wfMC8OE+HWhfFz0nStLbf
DQl+ZHY+g72KI4cOv+waXd15hOVU3j4BdzI5CCEB2OhyAP7OlGsnKmNX5FeX2u9o0kQ69SgMwQl1
mkc9QN3HzRCKm6qxQIO12dOy3ThfFgab6PMvANlVRYIJr4tful5cnaFRnkZ16E6alVnnppxcn57Q
ntzjRnLLYTZQX6QwoZN+GyE5XEoRhhi81ImrXiZ8+vzaMj6b0i1r35rmGZukqgSBAFl7eFPXVv4J
HpT817cOQpdTtoj0oICxulfLQuATzzTzgpPsl7ox82fo72IZu1p3TdXkT8bcgAJT52zBY1mX14Pa
KmFhPrVQhKHkLhrxt8MVHkxgFSLFxVXggpTgxp6YHQ2PjB7kKdexOKV5uke+/hM9Xuw0BLMXAC0X
lA0V0bqpyaTjzk6iJu7FNZEdfDB0AUmlHVMzvTct6X5CbtpB5CnrY080Tv089JUqPFzrk+iQIuv1
RC9PVe4Cd2JyOAdp+L5g875RBbqos9nO92QP+l79sdqf/GhECRBbprOL6NYSrv86HjSqpcxKxbkM
dfQ5wWDubNphemqh+vtda9Y7WevGcuTFAsIp4Pc1pwdTwDZYDFMvqDXKd4Hdtj4TYvy/p1D54dTN
h3/dCJBRASfQVFuEO283gmOH6mDi/3opjcJgoJUG/YMx6F+ULDCfc0Qr70CCdjtX6iobwpED31k8
X+ncmvQsX75SmVf1QG3kXgAbTRfHrB3fnFAXHEfEDV9/vlVKwlK06WDZMUwEaHQT3Ia+lGHQSrac
QMfv4KAuF96ZYEB+vb7O+rNBVYAmtJBBeKG3inCDxWmiV2Vf6jFzDomZKRe7B94TzHF86qpa29km
q6CNPhWfDUElZsq0U292ZaePTp3rrXOx+rB566Zld1cDqLgLraq8atIdPMUuyzeOROt8MvK99vk6
fiDTQbGDFh197RW4pTYzV507zb7khho8Ie2QfWVs2bOqVVjfEDbkUnbtOjy8/pbXG4dlkePisiBB
WiXrfdOhGg/H4hLZynxOwRf7yIu6J7TEk52Ns/FBIWiShNE8YvRxu3HCPER10BgUjr36EYC2fhlj
1T5hx10chkpmn15/so3lFvMP5HqAi3Pyb9II1ArzctFFvySiGXMPulf7dXTS+I0sc4T4x+mf8VCg
I2DO8REZ6y8T3ZdncGoh0NEJcC/OWDjvlbpSvQTNxy/AzpnuaM3v159vY8MsgpNL6U9YY9+8XK7H
749aVXMvwVLRjXBt30xprz0Zil17jav1l1k1+tPri64y6eUZESpg0rOwtW9TRWgowFPmxr10uemG
5xCns8pz8wX2MYMySi+IOCrfrKzQvpd50+05Fa9jD8sDz1hU3ZYwdPNN0WLtRyEI5Q0PfZocI70L
eMidrtXWKvztyLNyj3MYl5311/3kJIbRB53jXuqmNj/XaIheyzj8576jxWZh4GMBaoHbf9tOzcNW
hq4CedaOC9rwSqsf+yrdy6Y3zveLVW7emNOYZkifH1G1yW2PtVuBGw4M1aPrsHetb7w2cMLsSe4E
vs5twA5Ltr0Zoqhrd3N90PpJvxi9E+wErM1V+DRAvXX637fcLxlV7qiQ0TOfzeeLJlOw8uH8z76F
fBymVTZzHIgVXAgvt4AWalpeN4g9Gknxae6C7Jw3WuzXthh3slYqUP6ulzkcefqCyUD7jrh4CxnQ
83rUZYxlcjs69pNd1uGXAf2KJ21Wo8TrjRSJobiITemNZY7IGrgQPftUDBaU+mDoBUjIKALXa47x
HYIeOC6YNCWfIiVLfqd6CAeEIw3cd2GSpY+xQD3sECW9+lMtI9F7UDX0d3ZnAxItaOvhLJkM5mPk
5Nnk5Sb9Zy8lpcXEWcHfwwZ1G/tuFw/6KdO6Wv9AUp6rnoUGz3BEftwm0cxyNTmUNS6BPsavzLom
uxTPYk4LlZpHsbOjMprcbG6vOb9MJ1Ur2Ash903aSPPZmXpqozac3dmLxnqe3pDkWvdW26AYOUhH
/V5KN/kdRYb9FopvGBxGBb15T+B88j+zyYp3WYbk3Lkg+j+hkRSUh1HY4C/VXkkNf8D15XOiFOW3
duhz1x8tK3cO2VAFIw6YdvQhdWDWHDrod0cjcMb+LuileKwHRXbXso+b7KC0gfEl6eBg0Ko3FsxO
lCrHsTdk6Al0GJVTqsX1Qy7HNvbHVEm/xQhWxXcFsl/Ss1utcU/4YkeF77hKDX40RuwB/otEbqzX
rfoJfzOtPgSy0yvfzPLavMwtok7oOSWfS3ThaxwYIyguSjz3tWe1nSM8kUaDcoBRZvd+UvKP5yhW
9YRosZIe6gCy8EGQtql8JKHQgei4gN9MDRgoZkWTcW/ntmweFT2f2rdtaKj/K8pZM/y0RnXBG+p6
rp/1IE3PiShx1wjpWSkeWJfmZ8V3HvxxToPEr9sCzojpyPLtbMvR9qzErZs7Rdfr3ygRZNGlYUk+
hQ6ZxrNiJ3GfRVLp6tMwCFozFCbtA7EWCQWQcBVoLDuzv2OOEqWQpIY8eRfAKy13tCrWIWWZ8i8k
RCLyWhEjcMBEmYgoX7jYra9DGHSfuFWGfw1c8A4BXeGtROq8RupU0awwBMctDWeg9E2CgNQ3O7bc
nSx29SzLKsQuMjlGPID7XwaufEiVwFZEeh0IvSBlmv4Kmie7ez0NWK1CeKS1wKwdIBBTz5tUR8S1
pkLHi69TF473mtEGR0sUzU5JvXV3OVzEVImkpitez8S9JfF1QRemH+MDfKiZyX2fHJpg3DMZ2lqK
jgGtmkXkjQH5y9eGqSHKo3GGGvys4J9ErQasJE7P1I3tDst9YymSUujf9LY2Jhuq3pajldTKJUg6
w0/qJj9VtQgfjG5w97BGy9e+uVrgKeEWwG2M1+nt1dJZAh85QOB4Ypj9UUxqerRKK/uu5GH2MOKD
2Ozk+Bsbg8ufHA3B+WUmdZOUZlCF9XIogstst/KQ41BxqAlMex3LzWWWqdCi4L8W7+pAV2fYxZKh
kXsesrp3fbfBvd1BHMQTo27+tIYmvRNTbhxyEZb3Qz394HBmh3AWxd1Y6b3fNeWwcyw2UnL61ijU
UW0AQrhNHJkpYWEzh86lFRXWBaEbgeyv1WNnO+U3cxLWmQx2D1uzsZ9YFEz4Ypu7ZsYGhPA5A4h9
6ekyHwK0Q07DHAIL6BV7J1CutxNN7GUQQhKziJcvn+WvxHiaHWQFrUq/aGGY9V4UyiD+1KhQp8ci
auPv5RjsaUKsn47txFSeWQHjVnp7L5cMC7i4sh20SyxH59Cgm3kMdPDuSVHvBWgA7bfHhUUopvh3
ecgVfqRCznlyamZKiTk49RHHaHHS1TAQfhch2uBNsrJ/pwVm7Kc06xLHU83cdk5GGVSJj5q//VFn
nBceaP7FwUGOIZxSsEKSe7a0Sy819LY+RD025jjRlvpTDL1e4qtckuEhD2ymJ6UdrWe3wXD4nBVT
9y0Dsv0/LUnzT5Y7hfrZpTvvXtQQN4EHg5Bl+jnDaC5UV+q/RNdY7QkHjfGLjTjgdFehCmQfAzqB
XwvMf2J4y1k7nzojy06zNg5MA5vSsi8La7w6aW4yOQcxIAZyr/QtqUqI2I55sMwsdn1VGXuEKnCB
CY5RKYEKa2SH33JIwyUuGXmdeDrkAesQO0qne43pNu/bFsIzqYYDnAFxP1vzy6CnuYAsvGGj/j00
kUdaVQae4opJ98wsTLWvMi9FCQi+zSCqpEbyw4qbOPDJAtL/4+y8duNG1nZ9RQSYwynJjpIsW47j
E8Je9jDnzKv/n/IGNiw20YQGCxgsTHB1FSt84Q3/C+mG6ccidpxvUmXDYXHCIntoFSdoTg2RTull
utlGxx6+/c80V4Ls2BtT96KkVZ/gexCXk1tASsvcUuu1x3FZxuVBq5wofHJSyR68ADzXN2OMTeLY
yEJ+OnfS5SGS5zHzbeRcOm+QG7zL9T4of3X40WLnVyIR6CtxkErwtLXq0XaydPAQmJl1N5lC7feS
5fn3tOu0B7xVyvGgZuHUupaVhPU5SVv5jOmm3Lm9k4MBGQvpl2oifWgrjfF9Hh3pnA5q9rNv2vpb
U+DOAPfhBe2csg9i/ZwFmvNxTrU5ObQh8elB3IYwl808KdxoSYbffPT6KdH6RXmPyL9pHmx16LMP
uF9hYjrAfmz8WpXmT0M8wTbKs2E4Sckcawc9yDt0GarYeUbmSarhn48xPRRz6Q65rSbRpei1oPQI
earvWQYp2tXjxuiOrbPI6dkyA/13OVVO7ZM1SqDaIiIfP+sXGKxTagTHWg6rwlM7vY/9ou1DtoAs
Tc3sjsrUvgTQ+IX3d6nVj3JI4uB2RWtY/igHWupiNwjpfFqk7mwO2eKcaU0g3DhhAPtcS5HOaTDH
l6UMnKe21OWPc0Rv81yFXRa7+WBmn+nBZTNfUw+bQ93ZdnhqLa39Dq0FYlcFnXH4EarLqPi5Uytk
Huls1KcohhiQx22TuktXl5EXKXY1+nY15OcpVqrG5xJWXzolMpZ3jjS1/zSl6fy08COQHnCDl7uH
KApJL6QwLh/GyIzsQ9glI3CfScsUFzJE99ykWgaXERq5dJolFLXgFwfOZ0zXpvEjclIspZqwwzmf
XPLPJSFE9xEx0Lj9sKhFG3p9Rm575auoQOqX7muAUplx0oul+lSVTb3496PBm2ePmFOgiWjVAb+5
iQbtHKVuGGY0/OvYm6A7Isba64csbuDmL615GMo382fEkNwmII2FTNeaXGaV9AbBMACzz8fx2MXY
ZFRtE/nUJ5qLtVixP+jJvJOq30QdYlDQhUKwk8beOkgsqvKPKDWkwKkNvvRqqn8gudvTILt58f6M
Iux5gWpQ3lu9eIOixVgbh1Ampjr3aIYqHhT8+qXXyz3BLxHVvgoP/wxFgVVofqHwtHrPSXeogyOj
fOVZGWJ37CvMTpoU6CIiC4Hb4QsEtqnMjqkWh9/+w6b507KiL071YzV2GVPGa3sgVJhnWV5bdRb1
dX06ZFaHqMIUp5LHQyB/vz/qxuKCXaRDSbuEessauJXnEXobo1DBqGL7McMk260tKfmOAOpeQX9r
KHokfEDsiPiYq8ob1N+umMTiLoueesOM0rai5YXfY0nx1oIlZWBUUNE/IOa8bTlpdtDqU4bJhVoo
zzGR70OD8MJO0H0T/BEcAecRh85B6vM25wOTXAjhNvTWIGqFcjIcbINeTFwXuuuQyu/kErcLSIFZ
FtIHdNKpxq5yiVGOcJrvYOiHCTuik2TtAeHVxQthOu8s4MbcRK7M4hHa3qopW0MgwYjF3y4P6/xc
p0V6aLKuO9WlXHmIk+z2bW9qfqJ4zsVFBk2yCVz5dVgLusIwu3hMr3oXZ7Nfo+0o4VStZR9yKVma
36qSEhtFmjrSlk2j+X0x4fo0RLOiuPOcIH1jsLnOvSVcmu8fkdtbjiscshZnUwgjry+FQI/yIdKx
EpYyu8XISgk+tEHfv/yXUUDI84FpvK31fBytoRyS2hQ9e7XyJXS23xGxDL/uj3K7hTgYArclpMJo
Pa0uGaOD6MbrgchDGwW4Jgahi6Z39Knrp2YH9r81FP6IXKSU9JHtWg0VpPgVpFAnrkGnJk/zlBkf
gnwZJ7dLpzHeORq330jYpFLjocMMAHUNMIEFqznhiNKpaqayN2pRfNSUZo+asjEl3h+hesZLhO7w
qigym+lSUsVPcNSVvqdtkfuTlKsXNEjHnd1wOxLOpAIRSfsVpYV1UX/oa6OvChTjdKNcHoN6/pVZ
M4btsfZmo2yx42D4iveb9tW6O68n49IiUZoi1Q6JeCio0MJlk1w1qvZgMTcNZTEUk6EYByL5Bo/S
gemSkYPmdS3RZwz7xvrHgXF6zFDZ/FqWpvmZKQ+XKg4h30rA0Hay9VsiivgBABap1dHQxsL39SUz
DJZRlhUv0NxZ9XTKi9h0XK2WnepgVUERuBp9OutDg9vib7urlNTvHLoNWHsGSBRkqY2mTReZlhsq
kvFmXjc/jt4KeB0ugFsTDMSuHK01KFTqYaJcq8XUTxTkpVOJwefOjbYVn1IeUWnKIsLGhn69Dig7
zYR1fAicd+H25kr2zizM1B1HICBuFNAFKNtlD5Kx9fkBjII8Ef3SG3Zxh1sAcuvI5uOTbhyQWeAm
H2vzpJGPnzq6cp/RvF68dIxOSrRn23T7oBHS4TBCiQyY8c0lbmkjnn8VcU4tGeVnPNMkN0TK0g1y
LU1d3HPknarm1hqDZobbBfyE+p9Yjb9KQ/gWyoHUwW+YDCP4MkSh5OGYE7hpN+ZPfZUsou5R7QTk
t9cGs/z/gxLQvR4Ucj5XZBITYiFVfjLQB38Ya8Ekr3eV0TduXCAPwCPFxQuHeLWHwADXvQ2z9zpM
KsUQarvPcpDuPSLiT1kH5MJLQ4h1Ch1N8Vn/WkUt6uFJB0yIBpn6gtFtfmwHo/DQztIVt5xy85RE
4zdJaff6Bhu7FZ0icDa8kkBkbxKqGiRlPc/htU7V4WeI8tXCeI1CX18Fr+uiGebUH6rCsv6nzYXc
PCBhmuwBgzcWWYWZQm1cmM/eiFsog1ZDnS5CPMDNGdxmFB51qdzjPW6MAhVFAIu4gJSbuLJbyolI
l1p/gkLBgzNOkeFZSWXv7c7NcSgjohvkCK+A1ZYBkTF1Jtp2sKVjBTvdLHzOYATunIGNLQPgEVMi
avym6Mm83jKKnZrqmEvSRe3zwqNH62DrrSzUjGr1nV0lqhehKf8+BDn29oiH7ND8w7gBirF+tFUj
kocYceNrHAZI1RlScECZ3fb7cIl2bpeNpaQky2FHfARn1zXsJNSGUeXyxjIX4YL3zWgpPyDHJTuj
bNxhVDH4iQz1h5z9eimXuI57qQ/Ca2njJ3lQ6lD9baSmg9rPlDX2EcJKNV3KkFxnJ7fauMj+HxuL
PhcQqTX2LCuGprRVUBrdSLXMidLGj+el8qdCii5vDomJg20uF3RlwQ+trphRaeMMHBsy8lWM3Sn5
QwFGMYyP+Bup/2FaPAiiqQbs66aeng4pUueBFaJmGPY4q2SReZ7hoNJWjotxz6BzaxFpupBOgUGG
9C420V+X59gYTiPFbXxNax53C30mf6wDw7djaa/Rs7UfRVIKVs8iYl3XaGxV6exMXciFiyB8orw4
nyRt/Pf+l7qFVeMAD5CZiAVQDc2j1YRKpzFGk6jtSnZUHRItbT6gGIX1ejNqhynpap9eLy6kiWQe
gng0UOac3wyE4TcIYQT03JDf4XZ+vahRbPWJHBCZj3JeXzKtVk7aiJp6Hbbzzm7ZWlROt9DiU3gA
bnamFDtyUiCmmmZRd7anZD5NqR3vsEo3VxUeMugxelmot6xmREGRDigMgqtcKaoflap1LJd8cS1o
8F4v95k/IijmlYjQuM3c5x/qQH8zeUmsKmwQwPbItt1AIeN5HrJQrmKotGV5jCmAALgsRxfQS7az
qlungjyeuxM+PMDr1XmPcMGu+rbBz30KsQvrZ8ttpqn5Pre7CIfNoWB5A5kjt7qJXmpLi3QDjvkV
0n1yUFFF87Uphgcda2+GraKuAsiSw0HxAG7Kqn4ixMU0J1NyOPZ98xHgjPUFYRLEEhwzMneSU7FC
q6BMwCkYjh46OhqrF1bidFt6gaSLlHXDUZbl3l0EBVttEukkF5X98/6531hGxmO4Pxi0m2MvS30S
qjKaOX215BHiw2r3qJGOvQeuFezsjo0nD/EYMZQAjt8QdAe9GuEsCMojbfLEN4j1fBQSnALhhDTn
b+hpckLg1vp4f44bUQv8FF4E8DAQV9f1L9kotQrxWCJ3tVwOjVrF3G9y9qwNrYzGbdLSmOrl5yLL
x7dHLRQyEW+FsCIqNavzMOW5xCkxkEDoxsk3wijy8UbMDlO+6w+8ddWwR7FBFOKMZA+rq6Y1Z5S8
MlzF6fDqtWvF5nSoVGU6JoVpwt7X1PrYm6V1VSWAV3451b35UDta//XNqy1CQ0qOFFRvn6tKMuIw
UyXsDYK+eYqktPWovdHrTYPfqYqbr4xzjT9NsMzuD7xxpTOwCTFG6J7fbGWc6bW5Msmaolx1nqCK
609dlcSH+6NsHBiK39zoaDzxdNhik//18BdhVvNGUb1Vacx8UuR+PKrhLLQ0dkVONyf011CruwCv
0MGaaD9eu6kyfUdZMt+S+73K0cbpEM7EOhmZ0Bf+wyn8a0IgXKOqFcl0Oo75D2i74WcV+s6pIua4
6EkRJzAIjYK+rdkXn+8v5sZt92rs1flQtXloZFLbq57mxQFZLov2E8VTbg/FjVnbnS1yy6UXfH3K
MxRnRGi/RqyVddLOrYSoFMDPMAJEEGaXpEvtrxSvcAEce+Ss3BbIjy/PQcjMnUx7NMJyeUI1MN8D
gWztJSFZQGkeDWKEUl7vpURf+PpY8l15+tHqt+iqPplgGSpX18b+09vXGoo7HHfNADT05/746ztT
CJw0B1gDukLV94Ie2zFKEFaG5Bj7mTK9GSnESqNUIt4Vrvqb/qWDghHo1JlqeOxU10jXWy+xdMmP
QtPYqT1u7WAyUqJGEmzrxl5bjepgjDTcdLUGdAVw0SD6MEolmulRD+RltEJaGE1sBpMP0ih9+x4m
+hBFV66F25gHPMI8GcgJXuV4MYHq1L/lGakbQ636D4mVZDtbeGPPIMiCnQtvKHfQ+klRRs2eM5DH
16EZuveoRun/1uFY/1MNUr93o26OJZilFJTNW4iZbdAN6k2EdDrLmB6LwDQuClC0S29Ar7y/O7eG
gutBQG7QALh5KYtApvegcK1G3RC9W6RxOZphPnxKpFo93R9q41olxuXmhsdCxXwdzqXFaMplQJ8m
m4zk/QQw+Azg4z98J8JSVk6FObXxnQKazrUti55THf0zt13tdQB2noa+1XYmpG4cABp8PLekM1Bi
1kdbQkIuCVB5uI72YkmAlyurOeCJrjvHCYhN7GlNnvQeXDNwVmphmT+DQkfgN2k0+Xu3YMxMalLO
4DUNJf3U5hP/SdSNJuYo0tCi45uF/P/OmA3onCOBsJXnNqJWPdph+NfPyeA5kSPFPm5DbPiwzLXf
+FmPyVE2AgwI4s4GuXP/K25sGBorIvaHBCXabq/vTtBcvTPlEBmQUa0PMLrmg4Pg5HPUju/vj7S1
uhhGAgdESYNESvzzvy5OyU6DtkHOHP0VFWVj8JgnezLTEx4NJR5tee5pfTjhxYcF3v2RN55HYMJ8
VPr6ggO5mmNvdU2QqyWeYkOSHxLWw63TdDwlXdi5eSEPOzPdOBkgXGm367xIt5gTet0zpk1goHtT
Dw9lGSzfQNY7O+H41pf7wxcXBfwNWIQaRQsYxvgaLPDzkkEdX6QRYTKEd/ci/62haH7jXwSClDx/
/emoExphKFNQaMzSr+OwOcIRydwUsv7OtxJx3ypxo6soUPDwrHjMxdr+vUtmSPeyGuDOoifSeDI7
rf6mSohYeU4ZxMd8SvIP0Eyr8D+cA4ElQA+MAO6mt12PirWEic24EcBA+FLTP3kwvesDq365vxs3
F5NXB1gSEcRNHYG+LIBYw4ivlhQmKM2FuofaqO7NSrkXZG9tfLEFqWVTsbh55LrxT/tjjtH+mXPP
hCv7Iwsy2TOccH60agoo96f2xxRp/fXQ9icwgk/NdlmdNLzETLCdKABZY2R8o+mgfq1Bzn6QQbV+
Nao8+jRlNeY8sdVEA0rsgfpvCXbiow2xRvbk3pJmj3gHj05rqIsLWgT97NotfnkjBqjdsU+s4cdg
tHZF27OeoDlNRp37jVoaD/pS6HtGehsdFmoHTAQ9I/6yLk/yVgw6ijHJtejtgUa3lP+qyHt/llbS
DJ6+6Db1n0ad/IUO0WdttNtl51HaukuQARJlJ8EcXZ+H1rAnq6ktmP2LUX7VTJBlZRpOO1iarVMH
6oneNl9OKEC/PnWQhLrBEMgOqZkLgIpxe5ri/LPjTPUZsHDjOdgln+9vlq1zQNFV4MTpYN0k2guZ
ZxvogC8GS/oJ5Uh5qtIkOqtZ1+8UTLaOgS34xIRgFJ/W+cESUqAg4AIds8jSd1vSlR9am6UhumZL
+Ti2xZ7W2NZT5wDH+QM4hCG4Ws7Iwa/DNIRjd9RUzxyJ2XNivKYqydZduRq7L1orzYcsY+/eX9Tb
D6lRzIJoCeR/AxTVahBVypKbunPG7IAD8who2p4ONtay3tTjZ1nnRrSze26ny6Dk8dAhUXK7Aegt
NRFMkuDZKQVdcVYl/edoprqXLaGK0VFmPLdBafgq1pc7daENtAQjczKFWDU9i/XpsGdDa+IRSxG9
rNJvNFwzwx3jZYGFiK3AAUoyfOekSREf6Bxp5N4xnC9B25bvajydVLclhFW9dsiivav3VqCHvhd0
BMGE0DYgWeifqypJIfmMkVhfwHIU4JiQUQ98QxmK3xiMlQbsAil5bueu+JmHCwGR3qnaPymg0cWl
c5hnO4/c7WXCb0LfBrIvWSUVtdfHXCmnUsp6gmk577uzNiBvajZwEu/vwduDTVkB9BbyBFvijFaR
0PouCbecIDeug5TakVdlsaS6ve7ke64yW5uPFA5EHsUIobr1ek69ksd2L3FFp1EsPeSZIbuOnE0H
kkn5lMvafOzDUn/QkffZCVU250kyBT4Z4dIb8xxoJzAfe6BWYFKgAwwgp5uaZ0xS0Fy6v6RbkxR6
2lAeQffd1FtqrU1ymJTEemGUXyIIILFXBI6k+3YmFbjBzYH9pQ7a6iFZkGzd2Ta39yetF8IVVP0E
HmcdP4dJaCY6X/Baa3PrzVmcfrBCK3KXckxOuppGO2+etXWL0VWluo04ilDmef1NgTzNcV0Kj+pB
S55itRtLOMBV0UG0aJB/x5Yxb/i4MCu8pbQhp2Z0LH9YqdPaB8vup/ICRWNuXhB3gzGyaDbs2WiM
x3eDtnT21yEepe5AzSzJnxZLLbkVe1A2PvmdIZ0bM52CE87Dceq2waw4fqRjf3ecaqfVDvkAxhUp
16BoXUoVvQapYKifRnNIOryiAhPVL1UJHvJ0gGpQ2ov5lW60HbpyVBeCLlPqT0HVR7IHLnaoIPV3
5UtmxaiKjpOklQf0l/L40CzwI1wra6iZhbyLOFro2SBASBo6YwONP4lJxyWkG0D0WG71szah22QO
Pw1Qt6o/GpNFh7MZMg55bM+WV7QLVrKq0TXw3FqpGP1FbjtYGdOQmm61GIPqZ21g2ke1jyPFzSo5
nzi/kV5dpQQ3+GOPGH59Jo7TPudFJfdPOXSPyq+nQX4v0+GP3T4wh8hfulHRXu4fgY1NSFqAeqco
A7AnxJ75KzGYKjxS1Io3NcXSzM3ptXhzPervEn73LzO0hk/3x9vYg5ggGKLE6ajIMazAUblSLp1U
x8k1K3tV8nTnMUfRMnMDOdR+DYXcvuSDXe28pFtXipAmFYJudKrXG79HwILnGUzBnISaT+0K60Vi
4FM9dt1OpLA5lPBm4dJE12l9qDs68nVsZmAKnCU/cks3HqIywUOLQfr9ldz4cojHkIQgzCBeBvEq
/fXlDBj6Sx4PNG9RstDcvjGTFzIt89RNdvfTqOU9FL/4A19nIaiNUA6mkEkp5yay7KxlABhVw3TO
rcJwpSCssa2UuC92ruWtmcE9pxAuSJw3oliy2Zv0SjAPX+Sk8UZ6zn6v1J1L2XEgg5n31NK2vhn9
N7gsFLmJLVb34hToiKXbWAVp8lKd8Iyq/TId2peeBu7h/kfbHArFL1JHfDEoDb3+aCGv6SAXUXI1
5X54CNFAvyqV1h7m2dT/w04kCyDJ0SDDKmvHiGIGSpklE6tYFPpBalPdrcOoOUQ6lIW3z0pUuui/
mqLEsJpVZ5qTFlWoRc/5hNagNE7JGa20ICDJRM39/mAbNwicWyT2qAH9Ud16vYSxrsyoaghnP81O
PW1x7N4Ftty7yFBUpw6V7HfUMfbAH7cpKz1DmEga4Fmy1vW9VWUlsqoy8VA+6fFP2lL1IdWV2nYb
Y8I/nO5FQD/GhGoFzdUxP4dS7+wGv7ekXDBZ/OeoJNO1QJ/y9dQtueHd4f28wjKzKEkVtfROckak
Vquozh4Rm7HzlxDCcoO4P+h8Dxuf6nMuyznxRYwozc6n2DiooOKFSZQo8NLEfv17JiVXBzMuUQmf
StT+UJh0m6RUXSNq0oPZBXt8jI0GmbCFgFbOJqP2Iq8WwOFlAodHyBSpiep2szOd636x3aSKLD81
6vRsWmV11MMlPKTLklBs7oPrYmOIen8TbtyFONdT/ASsL4hwqx+iDIYc5zbPZpJl/dkKjPiDk+vB
8f4om/OljEzziLY5aoqrg9XQ7kT5GYOUxBZ4Czt3jhhX6zi8IwPTDnZxsZwK/j55kNcY6KeELUAe
nQL76f4v2bi3AGBRVqMDwk9Zzxe9vrK00Gq4TvMU+sgZcpkY6eLhIr5X7dqcNJAVlpcuiOj5vt5V
eRsHcQ7N7qoHtTa4ctnaBkxXtflFjFg9w6BMPpdxb5yNaH4cUcYn1SvUSxu1ezL/G1eNaBMybe5q
gOvr/a2aBCdLxayNVoJbG2XDA92t/r3Zx/2JZLz5QtVh2ru5N4ZFwABuGc8RnM51eSzsOip0VFQv
SjFhSFgudqR4Giqmxwa6UuHBZEc+qK1s5Bvvf+aNkeHP0S0UtTH+rBVKo7LC1hy61LnoRmcd1aoo
Ls5oTSdJh6KboPWDuUyxp8u1cZaAzArbFcEMuakGauiNWFHBoDE+DkcwMtnBHKhx3J/axg7G7YuW
DNUJao9rlhUAdZs+IcrRCdBVX6qT0G907dhCoX773YBLH2Vo7iKKY+twIlyWCKgiF2IF6sKdtEZ9
34WJujPKBqIGSWBmI8CIDLTO0LFgNTpMVdB4xaxs9Maull4SxW6JmMYwltylr0z9SQY5LxhRVY3w
bNSW4WNNYSd5e1jDp+OGchCLYNOu9g3asoEVyF14DUgWjyWqBZ/H1DLcyFr2pAU35i1Yx6CSeQBE
ICCS+r/iXqLeDMwbKG+zwFy1cIJl5p1TlJ+tmi+1lyhO3R2qagk+xkIbwiuSdnh2ukb7dX9Dbf8Q
okUeJNglN31Nux6ioeeGvqLREGAmVcYerrda7FIoC2AwtsqxjarZU2N19vN4Ul010M3f93/F7bZm
NVDq+MPYRO1IHK6/V6MujQrja+nSyxX6zvwehKJsE9FhI985QZsTZqNxQ/ACs+XU12NVZa5HQ2hI
l1QYlXlaWCeaG5carrAZ6IkzsgJqdyojWUpcKxiM6JgbYXNFAxle4/1pbzwSgB2ZL4VRiH9oor7+
LQznpJ1hhPTO2gjYdlmZHxN03t7lYTX8L5G0GAenRX+Zs2a+9CUy1wfMQXXNLZYIja77v+Y2OHz9
Y9YLo8gkzwuMEbWQi5fIsFD0GpXZeqyTavSyWbERHIJC5tjh+wpdsLdfBYRCAFs5gegnIm70ejHq
ttL6AeW7K4reKDDoRPh/kNE/MW8g9MvSynk3D2VwRMtPCNxJzpW1kIqdW+D2IhdQc6IhaIWW8Fp7
/TMSnc0Ymn14TQ2rO+eGOUveksVtvzPObdjJn00aL3CLtFbW377sLCeSRgU2iT5B5rIScJlG2R8X
w4xcRNGkD/c/79YZE34ilJYdnVd5VbOIUEpbdGfidssryW+najo1y9C7SI04O7yLraEELw/wDNMj
v3+9hIU9hIU9cqckhhS7IU09P7QXBPoKxDl2ovfNscBkghQU/i1/xBj/ujqsxCjyokjDa5dELWRg
QJFGK09gy4y9dtvmUIIeYJOR0kRZ3VJFCoBgikz0bjM5+oCYjP45N8fhHWZfzrf7H2trEwo8tCXw
Oibl+Ncr2AYS7utmAntLH8aDXgXS0UqzfCcyt7eGEewYoKQEE9REXg+j5aFRBuMcXJy4n+KjFety
9zRDSg/fd4bSf42bNFO83FroPg9V3f2IYe4kJxT1itSLSqc0PB6IOQbD5ySf8nlqk2M4UCt2626W
f00NT6dbBVPZIg7UxCm+L12mnxoii8UflpnKZRuZ4b+xnjSVy1uEC02kxVPilU1mDX7XSnAcF8uI
I0+l2PJvAdGe1MAwpvfYE02BS4Uom57roGQ7y+hhdt7oqAU5Y9JY1jm05Vr3higyC57UTDuiuZHX
SNv1ZuMP3TQ5B3L+dMCLASzRk6wu9udESaf8ERvfDqFqFDEPs55gs9jikXXOrCIHH2JVUXJeUlP7
bmaYAbhB0YfBIZ2GfDlZ2Si1B6UrUeys5CqzHwn353MYotXpCu2Xd5pUgomeR6n/0thZHlwirWl+
kd460UGSq/RJrbsalaUxRzgHOmTXHzow5Og+BTHqkA2SBqXbym34kYQJ/YkoxHPWbVWs3tyiUGbE
o9qGulks6eUPav9xsvNQbJwD0ECiaSorBhXQVewSxLSDVfRvLok+Zg+867j5ZiGQj4Vqc7Rzvm+7
G+TCwhiGpxrZDUf8mL/Od9A0pRYWTXx1zDA+0E+YXPTCFz9f5O6AwoBf5Blagla0N/BtFgFyhgqE
qKUZEChX70Cvlr3WWHZ01eU0/ZLgvPB1VMYEHXbV7i64CvMWd1Vo7sx34xXGjc2gSCP02KHqvJ6v
rUVBX6c6Vd6obJ9tFuWM6vzzqNvLQ+Lo/6OtKZ2aaaAQX/b1zsW90TOlnEd5GWIQsAJ0QV6P7hiL
ouddH1+RES0c9LWG6oQvE3WpvoOD2Db6UF5Rh1RbF0GS/Ds4o/59rzkkk8i1pu6kNNopjvrxfP8+
3NhyVCpEo8nm/boBUFt5mC9xI4OaKnHR5Okkf0z6yZ9oiu3s7q3vjqshly5ZAM/KasPFyK+pS9JE
KBHFJpTSpfcyJ/8ta2HpJr3jHOgZ73Xmt6bHFawrMFIEvGn1YEbJnGejDVER5r565AJRLgGiZI+J
pOwJfm8NhZwoSSTZudBMeP2F0w74GQEW21qh3WrQ+/GHRhmwxC7m0/2PthHhkA/TSRbypcL65fVQ
wejYgFN0HrFkDjS3zJzwcezLoaPtnnSnGGqYvHN6NoakHSn6kcKXkoLx6yFDXFpw3LNDXMaq6IDH
gPGJ/lN4dCJE0VJjknYOzMZmEU1emhcQsm5LW2WijVQwkMiOHZUnup8+Fk1WfgeXbXoL16RrjPP8
H24mwMmsrCBLQTNd3UwZcHDLnBxyx7juvWZQzWdpLkiepzbz0F3uvKmq3mzeyFdUTGrVaFihFG+u
BjWRMLQHk5huMkqEEkNKkpYXcCCs//AJRTRCjEpOCgzu9SdUwrZE6W2RLhqm1C4NjcjTktL2hY7c
qYwz6XB/l27EQBTFofQIJDF14NV4QRrkidVN0qVJm+q7ZRe9Z6fG3kYRf8rrtpNgIlN5p5tGVWx9
7KR4WBIrtaVL1hbqaZz7wiuXwvbasjHefuzoEMLPMdmUpPSrEz5Ps9NnDkPpalg+jRKEj1xzviVJ
bR/w9txTddo6cn8NtyaUJmCYTfrD5O6RE7tRZCinWSs634gy9QA6ba9cv7WSgNF4HA2K/9ZaZ6zT
ona2gsm5zPoyugjTlVd0S3WvH6RuB6u7NZRgH0N2Fjr46+LUXEHjUBC+vLRzKuZSVme9mljFHjb5
/V34p5G12iDsEAFAo797W4dpG85WakV4whVqcTaRGu8BFSTjxaZ5/zTJAXHdmDZOesDGOvnV6H0z
uiOlZ4BK/cyJ1LXZXs5doaHmnZE8mx/l2Fm6T+j26t1Bx0dG9pCmD2o/LxfZeI9pmnqyi9T4muhd
OXoG2JyHKCvMj1a5GF9RQyV2N80l095RlLOCI898+avKtBxRzcHungJyofCnTeA5u/A+cPaKJ4Bl
3qQqUexbYNhld5QC23ErHYi8i8x/Z/9sl6GTD7BYw+8xZiWzmxmjrF/sppBHL4jl4VuqJmN/QgjH
+EI9jkeKDAWVfC1CvE6XlDB1B6udwR7MVvJvTumcztH9j7ERc1KG4H8if+UhEfvir5hzMc3EjCsU
nSM1NR+yMQ38WUFpXTSISD5ImiVAIr8zKL47Z3djx1F0hTkEwR6pmfU10SoEUDJOvPhhGOVx5N/w
s6il3jMb08v9SW4VwgSMgBAXJU3GE2/bX7PsKqkDZ6ZJFwnzvvNMbgtFTEpn4mt2oJTNksvjNXpN
ZOrPeqH9QPum/nD/R9zOFzMX8Om0J3SaMuvCX44TYm8UQBLzrnI8ExivFzTW8knr0mXnqb6954V4
j2jyIa4MWWp1Lea5XlihSat6pDF0JrqVzlla9//en9DWKDbiTDZDbFRZjAUMT1UQvmPqqDyW86hf
ULFV9zBfyu2ti9wSyjyAT0wBkF0FOt1Uo0UEzgq0nt1/UIC4/EiHaTE9ZOSywQNiTQkdZYzumWy2
+4y7wHKaY2ix8aKYPyCvxv9LxsYBrCxHn2ZsBM4j2/nz/cX4g954falRZqXlhAofwe1NfZNyTaba
xRhdEbBuryW1mtmV+yj/d5Ds8ExagdCgCjXwcS7Cgbw3Xz7lSzoeqkSyfGOw5ONg9ebzEJnL5f5P
29h4dGuQ5qBdQ4/DWO2GqF/iCV8YhNTtdjjhMNicjQB7m8JUMv/tQ8EaAPKrki8jVPb6nNmSTRss
Q1alk3rZl7Mez4WiDg6Zlu7KyG1sP+DoMDF4RsByrhv8BWEBiDji0RDS94+BEmrulpQZ01Og9eMP
E/3FyutJXkO3NoL+GfjLMLigfbofJmWN7rELkb6Y9HbQgYRR7fGnxVF/VkC8cF+2Icu4yLAu0zEK
5Y7SnlTWqVsPWvsJ98b4q93kY+RqtHnPszolmZ+EgSJKL+X03TEA4/qy0ffvK4HF9jVzQVS9lRRU
UfN8QqdMCY3KgDwlaz86ejCUf7PSaNyBN+TfaSwj2+0Q1jdpSMxJ7al4hwRUo8v4Yx0tzh5+Z2OH
CEglGTbVaFpC4p//dT1KdLzSNkJXJbfjwVOnpTiowLY/TFq5B90Rm211TEQTHlcEOg5Yg6w2Y+9k
hhY4pH9LkXxXei06LZLReXauNb5qt/J7BzaEjxu97MZFN+/sz9scBj4gBQfafYjx0MB8PVEFxIHd
ZxSGGy2V/bxxOh8acu2FjoOxMLwQYI31njTP1pQ1Inzh3orw4fpQhKOVpxLy4NdJTuxDQ//l0pmt
wNL1Y/BSBMEMKCXIg1NUldQV6r4BInz/XG7doYK0JOJk+g3UQF9PHKmccXYCNUD1ukvZd06WX2gD
Bc6/M84Nyv8cCk29O9D4uHSgJuMz5k48igttdOnQ/B9n59HcNpKG4V+EKuRwBUBKULKcwwUl2zPI
ubsRfv0+8GlEssTy7tSedkdNdPzCG1rbfJ6r0v9ibq3zrz13M3KKnqJ4v83aNeTCpemiGQF0n9rQ
hbrMYIPi8sY0adzNH0BOgCdDpLogBuwpXrmhKArTg7uzLeNt72a5/tkoJtu/MmUXrhew1OxU4DLg
qvWTkKEtdDKjaiQ8sYI1mk23frZb0f81JYMEie0IY2Bnqp5mZKKqvAm9di1Z+0KfY0cL8g9LhiJo
1K3daB7R1+4/vb0XLjynbH4PchJkmvOqSFYTY1aTSBOrwvUzHrXevZkatQYHcDrBR5/m/ue3R7xw
vQBXZf/v6BtoUSebbzJSoOdTliYjF+JAUH0QFvWCpa6aK7WzP/XYk+uFWB5FMWRM92bTyQPkVENa
FavQknlxtUc7D2ovJBnd9Kjol+UnG27DOAAsEgjkvm3WpCqN4udM7aaNtbYfX9Dot4YQtl3wT+qi
Hx3amms8OtXsPOMPsszhZAylEW2GviB82Wj6dByV1jp3q9lTNfMmKuj/GBN6LpGZzQsxQNpnAW4G
y/hBzgVepua6pMDeKrP/7BQTRVWSpLzBTIVU8qDUoIAgpFL8pN2CVJK5aPYnZWw0l8Y+aJ81OqVJ
QD2LhEVodvCBqES/x7zMMGJb2W73yPW9iPd0qkBZ+7Jstjg1anDfyh629zYhtxb5bVBBw21abbwt
qhYde78djDzWzNHGXg1XxZsAOmr9ntAfQI/ZrWhFjH6wOBEeAZ6ICmnqEvfrXr4bdDE2VE89mqd5
rX+WcEk+SmSdxlDLNfVY1EOfITrDlRxtC+jGrgn8j5ZFQgVwW3lPFliwL74xdT7AGUSn46LzBvuY
0zUF576Vyxa327YMYTMqml2YW2ZjJJgXFW4Zjkzh0Ka5H/u563MfNWktY+xoShnDhtBrBFm2AILJ
0tXwTsxM00Ov6tvvMCXwZUJStfzy9mY/f2Lw/ITi7sN0Qz71NGdXo3B8en9OolNMPgjNLL7VqDMf
9UahKLk4yxF7gmtx14UEZ3caZdeTx8EpPn1jckEy4zijm6yoi6GSZA82Old2tzr0JAH4h641Zv/U
o4XXGdVJnyUx83Gt7yEsVdOVKTg/769/zH61/iecQIaIxdE82P1Vk8UtdoSHzh3Mw6JfddS7MNtg
nKFrU9eixXxKtPTchoM1m3ZicHNGwPv1O+l0eYN75RYcNw7Ko7BQF3t7jS98ILhSghgumb1hsl+x
//lAmHmikI2yEsW1eZO6+hAjbQA3Y76mNH9hJBJzoAL8h688lX8thItKeYmFjAS7HQ/CKT8IPdfv
B+nk397+qLN34Y+qHkAdZ4ex8T6cfNSsFb0ysyDpTe3DxrTeGfP0KZgKNAQ3K7v2KFwazqSxxoPA
F561fY3W7oAllVic4lFz2HJhRwQTRhSUqRXZzXbNfvNsJvfO2p6ZEHeCiDwVecUpJHdSfQOjl3rN
51SJFHyVhsVp327aNfmJsxhmH4yCHZIIvEZnhVYMAjOnRlYwcaqiSG9bcEROVLdmcxhMd5LRtg74
7SncOTJuybx+N8mtvSIWd2mCiff+sCAdHt6T9dxM2hHYmnqJT9v6MVttr75RoE0HYvu6ve+5Qq9E
Fn+0fV69vnw24YyFxj4Z51lKZnN7NwB7giSvfHe6HYyp3mKLHhrEYGgKClAVniGtUThw4ALZWrEh
VPp7amczEZ6EvJz7Vfa5L/IZfEM/VRPU+lpcq3mdhXb8TAowtHVByFLrPzm+mr/x/GgYwQ7AGD+Z
qDb/4ynrrxXI91GQPoQqBvSTqPv1eQpM2Gr4bOD32g7Lj75ZXTBWKz3+DIWkz2+f3UtftNPEgPRR
fjg7TJ0VzOlGPyNB7WQ5EBPL+6IvzPjtUS4dIYROAvg2u8zQ6REiumsakhV2dTlXUYUXzg311T5M
A2qqbw916QCR1IMLgbbCS3oSx7nzhOMiAPZkMlo9Cz1HWd963u33Ujbp1xpUQo7dUTYSuqYLCD6X
tsl6JQO4dIAA6qE8ttP4+ejXC2hgaoVR1uonK/jA3Q6UsgFksEmVFHJbTU8wI7323RcWklIap5aU
wN4Vv1+PuSJqTmhuugkpjR+3bTPcWoj+J2/P7h/I5clBJcMiTuFy4kI8bavZo+FrpY7ZWwbBqp/i
bpvm8UB8UX5sEBQQh5JE1o+NaZgE1lEuEp54btXjMwqmQGi2wumGCAcUzfkxYoz0LFOMUEIg4lkW
6cYm1qcAWZz8KfXy7pvoHKHdbxJhrGgNvOy3su2GGFtrtyNyu8EU6Q72YHaqYbIl8a/A7GoyrDrp
5y79Ilqv/O3LqvqIC7blxyj7rP6taeMTFM3joH7o3grGZLHn+dcs7O4auv3Cpt8FkIF+7IIO1Axe
r4g+K9+rZozLPH8cbww9m46tsrRjJ6r2+PaynAUz1ENozfHKo2rIw3gyVFuv+ehqmHCvxNoRYJAg
nOy8jCGFbDeO2ZAyISN2eHvQ88LlPioVS3qd9OPPUBiUcKveQTYxQaJHO5KXt6QD9G8+doZh3BWE
klnU0tN7XNTgvNumqnnUKGi8E25VJq4K4JAI23R/BMjx5lfyuQvHwWHW0auBxs+vO7kGeLicreyp
BZia2/1KNWd7v2bL8P/MO+kEHBWThPg0eC6tyRPF4AeJ1qFRVyIQ1EVpndvjgwehQSalNnW/hrJC
UPztub9wyxGK7A8ECcFOnn69t0azHvuxVGkCMJlWTyCCeFuCNFrdsj3MZaffiaUODsLIlg8Y9f41
CpaVp/xAcMkGt8/2G768a4WyfkBw6cikF0ERaWXd3Naj7FGzMuqHMWjkYZKzeexrx7zSpbj09QDy
6McEhGQQIl9//Wq4ZW0MBRGg749fdjmHd47V6Uy9h1qfMbXxYNRTSAI5R4unX0VHX7jfsYTkOdtF
YfgF+8n/TxTP965+2tZpYu/sXeTypva59OvSiIXczOdlM7WWDHEc/im3OWfjVd73wcntexAds4Fo
8mYtt4JG5o80tQlSWrvInhfY0f2VbXLpCgrgnO+8/j+iQK9/6DpWGFwrQte2GIcfi1l6gAXKlTx8
trL5yiN/4ciBdYPcTtdxz2FPjpyXLYs2ZqQBJqhWOqXC+ddddPn97Z1/Ye7JnwAIANOlWHM6921u
1LqmdTxA1ebeorxlfM5XIY56amt6JIa/pn9B7KUftiM6UNw9i/4rS4z9POZBMldtejMhJF4evEaO
zZXM8FzugoHAmFom4C1aE39sOv+zqTYTKY60JHBpDYFrRm2srk8NQlo/8NTSuo9Buqqfk2kjjstD
IF7MurBxcAlsas9eW/R3pdcX6u830KsfZb7eQPh6ejhdDj5mmeN6RCs+fW9iGHwY9HS7EridVyL2
CQCtwEsGGorg4vVYg9V6Y9frfrLYqbyZc3BPBeTc0OuC/rbhtokgWlghR6bAmXShSCXburqyiS+c
GC42myr/XhXhYXv9I/py2Cqtn4jweW4fbVeDjzZ26R2qvdfc/C4NtbPN6FCiQ3wW5rdyG1enYWd1
tsj+nYSSB6zKxRfP7T69fWYunEw2Llj9nUDOjX0SHhgOlbQC7FwyOZN9aNKs+7BNuXdFS+bCyWSM
HRAJdvm8PLz5NC6dkagXKarti56L8nbGr+m5YKqzqAqk+/Ptz7rwDOwUpJ3nz1NISfr1WomyEV6m
t37STcCUQ28eih/14pXLt9xogFzZXZC/bGMtPyw1FN1IoaF67YBc2rU7KRZHH4QA0OU7+RGINnvT
0M5egvLn/IPeXHozYk48hb6y2jJMSQHyEDJfu9GQGMd7MALb3epjdXLl/JzhMUg09tIS7/HepTq9
ftctRftK6k4S5JQ/M+lboeHM1aE0UDlu+lq8X+WmRQ5SQlee4z/v7UlSAFuCM7vrm6AQeHJoPCx3
vDkb3MT3em872MtkHwc8Uv3QVKalHhC57MfQQgzitgus9FMuvPRTGXjb0zpV6bUjfCEYxqtmRyRz
iezkxtfbIiXFyus6dRKzGSeMjlifcIb4ELvIohyNfuwPfjNuL29vxgtnDIlEDyVBgMHnBGkudEDy
Q+MmjXR/DNvQ3sNFyK9UZi5cGShKg3mGE43l0GkPlLSyhuDNp4kCi/tGXwZ0w1e5/sSvzh0Ob3/R
xcEAadB9AeCN0crJPJbZ7rC9Uo8umy5pkW652w1i42Ca7b+P1qlAg9Okpb33e06WbNQbN63dxUmo
4oDOaHpxXHWnunJCLu5TglbY5DyLiBSeRM2L3lhzupZOstnLUB18vW1Q/mnq8kM6GKWIhs0oH2TR
lVWEI2T+JHugTWG7zDgit3qDIvPfzzB0791vlO75WUs78LppqteKnWp2+b2isNSFM7y7KtaVb8sr
T9ulHQp7BXgFgLfz0iK1SnvZ/MlNNNp7kaCXFOEDXF9JiS7tGki3AG4hFvOUniyljcuQajtGoY0P
Wc9y5qiyh/UI+kb+H9MHQZ33bMdFIXX5eoMiZdg7fctQ8AGqsA7mJQnKJYjTbDSuDHVp7tia3KB/
QNOnUWdejNrWQxBNdE9r7hTjgXRcrlm2XXhM0FvZi3/0B3BoPC0ZBJRKfPjgHLmiCX4LrLTTKN2E
mMPNXZE6NoCm/iZGctE4arYas+6urWLLnilqvb01zx9zfskO7ttlZIm2T+Z2yuiY+4XhJB4gqkdV
VQpkpXAzhUm01zyYqzCv5Q+XhtzhT/tJ2OtLJzvHBbFaZISIiQlT7Rbe0q4IA+XqmGEBdrdY8lo1
93yrUh4Als6i/rFlOHm6KaKrxvILL4FAoOKyGbMj9STn0I4gCt+ezotDUZBAOG4vHp92l61Ft0BI
Om5Sa24Da1rHsw3J0uMwlfoViug+Ta8fY76Kng/RtEcMeyokQQRGoxlDtcTqR++gp4s6rkK9GMVi
H6rSoySa+ynSWQMGDWt5HXS30+HOxif/2/n9rgua+/Wp1EtLy4H/eMmCMxEYiGz8iGOWca+rFC/g
wZhvNmvsZFjhvFSEVpvPT8jWXMMqXJpw7jqqYUBWztNEBVWudOzMS/TJaI4m5IrIttb61jDp17+9
thfqYDu4kNXlbdk5qvtv+W/m1oEwhvPtJoCuEVBFAMz8VZf5StLia59qEAw3mtMEH8dxcZNlabG7
l9A0H7Zan+9H3xpuZKHKD56sln/f/mm2Z56vBtsbARnkBBEePj3Hdunz6WA+k7TKAvVC+NXb72en
NrTI0ixvONqbi4KZh2iZ+QCrR4CUXrV1DXeFNeO45Bh49mHrDMh1FRVoQPd932vt1D84le1Uz0T8
U3EYGv58qMalK0LlVcO/YNn87p+1dUV2HAwQrA9Cb0vzYQjo7n5yCjKCUGLs7t+ZncqAC616t33P
62BqI3ey0Y3TnGDFTse1svIF0M8wx8papXWjeVZj3ArfEFYU9KlrR+h7y/RfD5utBsTBghhbRCc7
Kx8nNY9IlEJPX2KFZjzPkd3Jl9rNy+oIIh8MV94gTBdlGvoiUevLRsTEt/QkJuR113d5aSoK91ow
1eE0lsOdXIs5DQs4CUuIjD8Cdsghmc9+0dFBGacB8ZmqWo0mMq1iIvYEHu2DNFrUz9HplBsVZi7z
WB8k/+ZYpPkz0nmDvKuKwUhvs3TQzQMuduC2pyyYpy+VtBrTjT2K497LNo9GdmztyUsPvQWw+7D4
xYo1BBjarf4KPMPvH5ayMNr7uXTW7jjWpAQ/565Z9Ah4u6uidjHt7lC0EoGoDtnP8b1e91qNzui2
/hgHp7VjmB71R4EKvfYT3+7uKesqS49h1bfOnEzbZPQilG6m24/1ildNNNjW8rBzo0BTKOH89KTp
pM+GO1HtRuFu+Oq4g6pi5IUBjxkiB4UFs9rUQ5TSUP1Fd0RXGF6l5hdo/fk/hiUDIi5zWR6aAbLm
jduzfT5AwG1eaHF4Q0i1vspD5GGMb2tqatM7yFqLEY4GLt0P9HmsJ0e524xalF3+lsiX9l/yrK7X
G+rN8wO6UV3zvPEk5Icic8wyLFW1TqFw3OUOkxyVHuetU1+QgjGDeDW1+YOROs69rlfal2DlHzSL
15U3uPCaSK55+r0jrXNCfUwrFc9i3VBECIzWC0JZePkWQTPpXhp6uVlk2731PFLkUPcu8nsIGq58
Y2g10lqj3hqw3sq5Xz57cytexORLMw6aks6FDl5H3lfp2Fg3lVZY8rZQsv0HqlU/xy1m4T+bQFZD
WAXOaIU96ehxE27xUiAb8qPx8LENXb1GQivT5uBzMeW6Qd+rMmSYKbm813qNWLAs+2IKA4fmXCgH
tzCONsDO4IjMIZ4vGml4vKQpPdZceQY5XtG0icCjfL2trKZP+ZF28Vji+PpbzL4xxIbRL59ltrp5
jEOP/+yiH9eq2B0Xy3u/GGljR1aRSudIdx26wmj3uSA7k4b+1ZoQ1kvq2s26+xFGRKpFoyu8Nbag
TQPsyx2QVm2/4xFH2yO/nqc8SJHEmB0iP2lZ2gfP7hvvnnqb+NwI+nwv/lrVGHpOMs0fjbE03C9L
uVa3BKvA6Ysun0DqDvUyi/ulyqz0nWcWxfhYOr3XRShMBvd0ykV5yLRgfewDffmpyo0aGMQBTAdK
Y7Df93kl9OcNmaaAqxBtGG7S2v5l0AKpIviqwXJn+ZOtbmhETg8LhQA3rHHSysIO3RdUJIFyi+ei
XEBSpmrAEXGDJBKmlqFAno1l+3XGqxHCgy23GXo5tbln2U/1k4aue3qr0r5SB0lFKWPTNauD/FvR
fei71gB3vDJjg7MNH6eh6uYvRi7T+pBxvbzbpCg96C6a/sPt/eEdgrrCRt5y0g243Z2A1UpZag1R
t9680BfCe/YQRrPh+6BM9mD0qGy8h8Envm2jxvmwMn98HF329jHnPQAsOlZ+pLvwdCLUwIc1ci3c
t+IWWcP1K/ZX1XrMLOBs991mFPjAZEvRfc21SRg3Ngz1j7lcW+/I2vrBE4/9KiPcztS7Pu2yJQIT
OM+P/eoBRUMVxhOxVYxbhVQECoBhXaxTE9qDnteR19VqONaV6WbHviWc5okzZH2wTATxCUiM7ug0
uJtFRaZAf6nKdH5JexFG2EqzRgCeLC6kkMfmXbENC7217j4sIF9+Gpos/vG80XquG7RjoDO25e9i
GuffeuW5ZdyrbPLCGWaBHs9ytT9SKS9BphqbDkmG/feVB3lq4kB26/fAGNKPyl2m+25p138X313o
Gter/KzIu7kn2kWIEPfD4etsbjWmubW2jce6MdrPnjX13/vUKD5SS84xvKnq/oDypYEhRqH8H05F
zRiD27ao4hbpnn9dn77AXarnqksM2XZ5PKtcf9f5WjUk6DsXT5v0ZzeqQJSnoVD4zEUISuWfEd7u
PZISdnVU6l7TJwL4ZxnT93bXB9G5ztccSFCKOYT09BAR7+Xf2adjg5IWxlE+ZMLHEQFkO3RGB5Xh
2nWyB7tu+yqE1ZKj076KMU7VxH3mVN5GKViIiSUDHvi+od9Cl1NkyxZpbVn82vp0sw8kFXgJ2cKe
fqisM/qvy+I3X+gtzhpUpA5RntbJuWlxVtK8RK59nvg4TXTcG1bwY1Zr/8vGxcY+cBU1+vdVLYNz
TMfUwKshX3X7IIa+fTK9Zvxuob7HIz+b4lFqo/mNeoLYIsea5BJaivwl7Ez+3k3frYUbD9MC7CUU
9db7dx5caQtu2KTGsBrrAlkIZN8QNXe79v28ZYtD6bupZZROepoQSnrfXJK9KqLEln7yW4RsI38d
pvGZENLkfamLHtZuUAZdvGra9qv1lO6EncRkJR6BKJA7eu5q3S3C9MsYrv5qHBatXvQbUznj7WQI
z4m1rlT5Q21624dRdYN9g4ckexzY0/JlrMFTRlKYnoxyP6hqVmQg4a5GoLlAkRzM8ogX+ieM3Lb1
1kE9lJw/S7fPIsv5ygBc7YemK2Yjst0Z7cRltRoth5Obbu7vVkzD+PXtsPe8FArWZK+PIfO567Oe
JK9KcRrsvDKSxmvspNJKOcdCrwAzWispUJjpaXY/IQn9UErPGK4kYBdSD2SiEMgiygShdprEwxbX
a140IwnqYA/SsuIZNnAT9m55TZvkwlCAF6n1opBON+w01+NCbmpNcBcjXD3HGXFU5KXpdLuK/q8V
f/ggBPEp6tgG1eXTDLaz9KzL58FJ2slyDina6sdsbrL3b6/chRrALqhG4dakSnXW2e1EI3XZzU4C
hljbQogw/ZeFO+mjlc7j0UU6+NfbA16aQYCtpG8QxSFUn2Sryh67Zq4DAJnElQdDCfNhbj2UvOrq
mq7ohV25C7rD58C6ABerk3rqoiAKYjtoc/V0xnDY0JQ+pP2atrci1aYb1Ph8fI7E3PI29kZ+zYnj
fGr39sS+I6kMoN1w8qVNNRVt1nUAQkVmHz29SO/NGmytHSg9RkxvvVLTJf29kHtigkw1ECUUQHMn
x7AhzN+Ub5pIDObaS4/AYYp3A78idLfRqqNxlHoViVYpFbmNr29hNU3Tw5BaOrisFhfAw5pBu8XF
BHNofnfpv5gTHkhhSY+jDO1MV0M86rypPBVWhxXRoAcvqzVu6LPtElVx7VUZhra2Kb7amdKWr3M7
mFXU263zTemVzUWlFRXA5q13EW5OCdp0VMVLHNgbGDXbKHriJoWoDMlAX2iHygxEesdfSbf73t5v
eiJ7Y4zzns5MhQju7L9LwZ2sH6bB84uDpprev1mGOn8ee321f4yGtVgYWZnopBNQGlnUU/BDESbn
gcviug+0JtQhqKU3bjbOJEepMX0Igqnb9aV3t6ynsjHkcgvUwkTgo2gX2ixDo7mRrotUxnZhIajp
l7pm3FBGXqpYaZnjHotgMdqYIKiVCLW4Q3c7LB4hd2aaZf+kXAMhD9gMQ/nZQ2dOC300Vot7eMtD
f/B6u0d0CJtwrLks6B+fbVL4d9sCxj4qXWHJqJfltkWZhYJ86E7gG6j5rPrz0viqfgTO7XzcnKDs
ojyAtXpQeWY0ByPIOuy+EX4HVE5zwL7tVbe9LMtmfElR9uEpbvo+e9AMb2pD+lu8PXbTNeiqFE0x
3oDjG55lsEO3UCRpAuIkc9n/jygxHkyscOB4UuzOwzXVNp8uYNZrB6HGQkQeklHUKqRTTlHbB9N7
zfIbXgbeMXHUxMAcRFW3Wp/a3q1lFjaBO4tQVLIenpq0GMZ/y21sv7p64ZI+OPbq3xeGnz0gI4pt
JLlUJSOQO+ndMFbYvAat5qNAqdfd9NDM5uTcrppL4gJVu/kStPXgQuMwHc4BIICvapbuXd8vZnAz
rUYJubrJ1jtRO2MX9oWTqpu5KY0tFq5ff5MFrD+ECJWdh/VSWR+l0wffSXPKj0swmPcZjUgtkrnT
1A+9D0o2HLtWC25hyMvH2l6hW87V5pW3yOVPaTRVNAqOoi4JHBrAyF2M56bsQ46qjt7SYPpPVY6m
EaDkFi2xacjaPnJV073YNm55HME6+GVnTT5zbrbePhBs6fQjswx6CroExhaZEGEcVBM79UHqrV09
6DUSDfAY1/Sr3TRbgwq/X3wjRvTqyK2d7VNAWfxftQ36dhiyevlUbUsvbzTo5gJZcmv/m+VSVMdq
VO6HbBM7Y0P3BIWg1mmfelUPHY1Px/pNCrBpj+scyI9zi7JrqKA464faL4YKGs/qeTepLwvKPQ3W
FMcOrMY/Wu32KwwXgIKhshqrwVTAWT8geTe0UU6N0QwtbAyaJOjb8aaYmiCIBIrcXaSvQaZHhPBN
e78UANXQ3dILFksKiMdbIK0uzDUrPRRVnwahrrlDdSSjs8jucJNmUTXnaM25pLthpMu9NJUsIxoP
SwMjuKel7XVi/qSK0afFGZjTp3LsPDMGVuC6keGQfdF5qnFuxjTqWzZltnnjDNkSp6XqkR+ji5NH
Ipv0pBqtRR2acdRkVK2gm5LFzHAjMFRaPpNzuz8aU+bjlSfivKuCqB/ceirVQLl4JV4XTmsDljnC
LFay7SUUWsFTbKosuFaf3f/M64o0wwDY4tGj9n4mBWN4LUnJUNoJyFhZhrMzTe+CtmxHzvPc/kNX
vX23Tq1zU+WIi4aBW/buziE1kU60yu9vBxznUQDgWcRMdST/CE1Pv9nfMJj2qIEkWBx1D0FKfqqZ
pryj7ue9p8RXoqMYyNC3m+rm7ZEvBQBA5v4gTi505kQ9TKY3TVYyjab/fpGLQY6xNkdb+u3TbKTa
lZ7ZxS/dPaCBaaEiehpa2TnqhnM/WMke6oVdILrYH6ziWKfdjzRo3G+kSA21ylEd3/7Q85gO6XQC
uh1oDtXmNADXSgUp0XLNxK2zDQksR8aLWflUtfT1ylDnIQ5DUb5CAA3eBnaFr3cwpY2qLJ3MSoA7
bHHdTNmj4DJ7hzh3eawsWp7K9dzo7e+7cGx2q0miVer6QPb3if9Pv0G569TJrdQTYQ9DEsj0l7Pq
1+wLLuwWaChMHzaMuC+d9nF7lXcFAvt6shjCHSJfzs1PbHbFI1rvwXCY/MK5wmi9sGzsFqg7/BcM
0SmmtXAlAuiZtSVrxQ2qO3mBjFJbHKXmN1cQK+c9st24GaRGQBxMsfdk2bBeNFXnSCPBG2Q7bKNr
/tylxW7gtNl3I4oMEfndiPiAJMtHPvXKjXRhbpGJclG/QPUBfMXJ8EVe1V5NuyZRqMAdRgWEt3LL
lLB0KyM52//HgQCXsofhfwQ3TvE5TUUnrBH6lihz1KN+qzpkIAuVOI6qr4DAzsXxAA+wOXfoDRPM
tf56c46OO7eOdPWkSTtOtq5508suXz+ExpyPv4IarxyEsay2D8sy0MqIlG8RMEVH40mKoYLq6OkK
m+QlaP86ueSnkVUiHLi32E+nwR7E5EpiL6RJC+fDaFnrT0MtZRXPfm//6g0KJ1dO6oXrgZseXBTC
ZzicnHYGhxqWn+tVkDJAWyRKn5Z43SwMGZ1e3u3mh5GEtvr27XB+jKhs7iSyPc9zUMp7vQBd0C6G
s21W4qSdOBhzS09pps0QIAr490MxEshiqi04GZ/e8OAo3SKteVGM1knprs2yvkEtxl0PlUQo4Mpk
nl97XHlQ38jWuZjgpb3+MHTVMYLTfDPZFHh6aofu4yZs58rVcL5koNjAoMJBA2gFmO31KCWmnEM9
ZDqyRnrxODrEuIXZuA/OCp1Y6XofrVZtvLy9Zpc+DcIfGEJMu9CaPRkUHcnUswtdTzAIbO4ne6iS
LpDXROMufRqnE4wiFZYd2PX603xoNKaNa2QCich/ZwJzoMkmpueqyuxPwxDoabjmIFWvxAGXhuWS
A6DDDvGw9Hg9rODqKbZC6olh9fp7rSgRrKmd4qhogtmRUUFPIDoo1XBl3AtoGkgpTCiHAXEyNs3r
gdlIpq3gMSWUr72dAjPSma1Hf/uKoj6YmmEenTSeCEGPfbEgC2aIpomrdvKu2bmcn0l+CeQc+vO7
F/3pe6MJ+CdGMxCBrlt1TCloJ6Y+OQdjmK5hiC4MhVAJVbo9Mjh/2lpPiKLZ2zP20D+lhS+eKkOg
WNJq5uFvN+2fJ8UFgYV5IE/L6+mFbjZ1E0YmiUlfYIi11KEf5nSNceVEnh8OSLe7hewOauGyOdm2
5pLXRYOxS+IsZfcA1r+NV2XqV+6yC9EqwQBESEhtIFhPv4ZaZqs5va0n7sJDAJsGes1xWcvSPPrl
0KvIEbL8uVJBo5U8tdW1w/kHTnmSpWCts1cHTe6Bsz0COcOWmbsaRHWUIcMJuWTYK1VLzk/nse7J
aNdZD4Gkmx8QsKBNDk/U/oVGXPAtcHvrl14t87cUW3Sseei1PsmBkn205Luc+Ez38kdlzaZ6MQ1J
PWmkfR/qEhhtYiFw8M4iIXqpct/53ptFPsQYrWtT5E2e/DE65XZvTZXQ0K6D4xH3KxWbK4f1QkgE
aHd/sHYh4zP7G6f0u6kC7JdYGBtQa1sQJ9cy+r6k2hE8M3n79uY9PSZQwvy9QaCz6Dv8a//f/xND
T41ltr4LOU+qfKRxRqfe1uo+0pq8T64MZfK3/ruyf/i1QIMBEIJS59J5PRaCYo1PUXLhHirp+E0U
9J5qzVvMp60CSB8F4yLuUVzArEDLivw76MlZ3sEdQ01P0PI2o3Luxu5baaer9zQAAY5GsMgvS4oZ
/O/RqYMHfRaTvoT+kLsuhaLZQcBQOUYVI1zh5O+mfHHoko+97KJl99SKstpNM+jlnv59W4MN90JU
Q8VxqXWUUc1+GJdYm9x6irSdbRXiLwalWt/GIbuVi758dTQzByXbuHyQaHw/i/Ny7tvneZ6no7MI
tT7ZaUPhYkLaNbi156CwngczK3lOM1WhcUJQ2ieU9IrspqMe4t6Cy1lx6/Mp835+ewVOXyAWgHfA
oBeDO+05PRJJlVrjHMik8HsfwQfU1W6sNJX1vaLbrm6pMprfgi5fsmtM4LM3iKF3JPpObSdCAhz2
eu0xSzFtTXNVYvljVkV+3uOilM9d9kPvKk9FOY4h2p0rUJRODKEZXzidKJo39QY6/q9ngUCNo6XT
ygHKuh/B/1F2JstxI9mafpW03KMu5qHtVi0QE4ODJJISc9jAKKUSM+AAHHAAq7a+u36Vfqx6kf6c
EdUlhtLEvrlIGacA4PDhnP/85/+/mfLBWMCCB20/DkMybVskFOLCKvwvkQuDwRe12LjBkL6xeb88
4MXkp5wDMw6OHNzuS+YsRgEAfaIdjwpe3ERK7kfvrRocDpE3hahZ4c6gv9mStOZdPac0TnRpJ/2t
UYgBjo6VFm/JAl4u/QA9IX2eUM8iCOL/r8cha/IiR61yObpNG71PR6M4hqZytms3lG/sapdHF5di
tPUEIAOwv+PzVnSNkuyqlZLPWFy5sq6uBXS7w49f7F9dBb0YaO3ocyH/fYEH1GW0JoY9mce1Gutt
tpZ0G/fVW/0lfzGVHXCrFy8eBu87kr6HyJMKS7boHAN0rSxuogsYDrugG62tXWpretpr2ry7iYzO
f2c1jXpj0/5+HXMHYGaghehjUOF9/eZaNcDTcRfzOKoquYJhl191NODu8yAJjqXTL5vWT9c3AoPv
Mlr9EsFZWMGonZI+XsQ5zoTAXaUQV8TGEj6OnQTY0hr0NGf7sZnN4yTKzqVGAbxr2cuAFJ9rdjfw
6zKJyh+1mCxIjQBeJDopb9zbd+34L/eGsgJNDZwt3x1jVRqh1ZHJ9VhZlX3TFsrXxaOw+xysuNRA
YpnqGXU4CjXbQRcp4ABFa3M0p97NNlCs02YDCxRJqEWoJo/pZartq14SXWwMiVVm7CPy1W8cSV6y
STLl/+I4gz/HvUB6Zjva3fDBJ6meNyakjd/wFB4EutrdRMEEJP9Zsfrfz3VW9HGiw5e4l13dxGZq
qj+xscjBPmVQ5LEnKQ/EFbz6Dy4q9r+ZoxRvGVddBnh6qOgTQDGG1/S9GKjriySP5LAee89K3ple
E9zWRYqLhruW0R8NLLw/8TAe+33Q9v7HH6/Qv9gFgZ3BYJADAHr9Llamg8weWD/rEbJu3u6Cxfb+
LFO0KWK3rINZk6uS910xFtVmYHNstjpo+KWSM94NlitBx398QzpXfr0rOzYKFWCzOgAiN3u9kgwa
CdxISvMo6rbN9x1qDhNyWPixWQ7C0bHMSmpBFgyveru4Tg5bl0n0Rtb7Fxsx+vME3Gxe4PKXR8Ps
Gk2aLL06irYvoDCYy840yuSRwE+8sUX+xc6B4ifxF2A+wfFlW6c7JAnB/TofV2oy7ztZUlquO7FR
qTCvG3b+bV0W1WmQ/+PL/D/Sr+2H03gO//hPvv7SiqXPWWkXX/7j/fS1l2P/9ae7ZzH8xIbwx7PM
2+Y/9Yf8vz96/RH/uMu/QJ1p/5SXv/Xqj7jS+U62z/L51Re7RuZyuR+/9svD12Gs5MsFuGf9m/+/
P/zp68unfFzE17///KUdG6k/LeXmfz7/6PjH33/WrVr/8e3Hn3/27rnmz/75v/7PP//rf//zv/7n
5Z98fR7k3382PPtv6K8CZDMF6BlnTv78k/r68iMQxJ9/atpeZn//OXT+hsoE85XZovUmtB0ZELf+
kWv9DQCdY89Dj0dvgT//62ZevZ9/v6+fmrH+0FK9Gfjj170LBAPo3LpkGWyRSJYwKV8vi1CspoH5
ZfpI7zmc6M9DljWZuyXfmzqIpCHAJsS/blYl3uFQBgl4izRD9mRbaTUUtYd65S1NLO2poLBMKRPO
3tFNjTQwD+j1O8VzJct2yA9rrqRo30eT26f2lWMKKxqOqs89DNWdNClDpDTWwKjsex+/nfzRXCzw
y61XGotYH/HScQe4aaMNalpgIeFkcUGOzlcpOj5lvjnf1oBFTwebobAgXGwrw4j6/jFcqDiVG+ha
XVttrYYelCXuafBz6dhKrAR23q4g4bZceHMNzOY3gH5fB73/3n1c3e8Gfs5ujJQSBBGH1/ltJFqz
lJB/DtNf4Jg1CunzdZh8c0fMGgbNpmy6FLVyA43T7rMxeyu69XlmV828L4UY86cp9xXWs8rLQ4ZE
1lbS1Fv4aUnT7lJeTrEckblPEbvtndWrXUirYxj1G/ZYh8H2ocLwBlAO6YIqFlWtHLGBYd+SQFXp
2HXprshUxX2ltClxX7Cm7YxSPKi138YRzQ72hDkwfNt2h/aLGdw7FOjDgMqpNQV/9G1ptZ+wPNJ3
h9qP/kC/b00uPWNIh8j74suKX/e8OpX2FX7NSfBoOCXFuW3QJdK0blZnhTh5KBMDcsheB7GivqPS
Xog/oE1aoyZ4q3YOtoAGSRBsugQ7MfsKy25jmm7DWTduHksJj3i6dQu8KPgVz0Ws+NAJy+QW+q5j
/z1Uc24Z3cYfkfQJEGcccx6btgev+/zNuj8vtW+X1usDR7/ywCL51QQoAiHnpU/lm+SjL2HYV4Xq
n2j+mWnLcTw3WdW1WajJ97Zdhp1FtrPTtVzUsR2h46yPBtVZesitOvH88o1I8nUwwO0gY6pReQeA
HMwhupiBORLPdjTPyacBoT6mxoym0ZxtLV8tRr2jY0MP1QQRU2T3hl0Jf7qd87FJ8zcwbev1waRv
hN2PeMRHuIfR0Rvgt0thDVVeQOIOPgVt2Xr1u6lnryloIS9z372PeCGJTzM387FaY7tcuxZ1zG6y
mFo5jGS17JN11P/ALotUtq1H4UnrPaT0xTHe16h/hJ9bR45peTe3iVPehXVp+fc/frmvwRsewkfj
KqDGTikLu5xQb6vfvFwyLfYmTyyfZhqtMpoNptVhGFEpbqPlkEHnd6briK6hdn4rmbNeiIevNhOy
2ZBqLlMLWcXvDOfq3nLHDJnBT1BvxiX5OE51SV8TiELHO0ycSl88oMGKCe62fV3YG9MYpqi7axAp
pl9E2Kt2XsjyVK/UaYK6oeJxaC09L1Ij6+W2z6ygiN63Y01N8eCPjd5OoCW2fKbfdwsUEJv6Pbtw
O61T9BtidsUsHkSDKXVwcLO+amrdWoHs6t7hBGCRDaKgZXu/0BmjFy6NwNwmtiQBn0yTFhW03TL1
I3dUU2vlD4wcCYcoTozZ5+XTFevym/00l3LY5NB6+2Aj6MjhSYhBF34Wnj5l6nz90aYscp4L1XK9
scwiq/kmik2pfry50c9c5BHrfm6Hjou7iDi52Zckr0a1QJadEyVoVGjM7jObKJ04+2ZY2al3qzlk
mH4mlL2trYUYccYBiPxPAR1OEgmL/LikCmbiPQ0mkBAPDd7DU3IPQ6rxjWf6DvSwV1C5eHlzJ6tZ
/DYBePJNB7Nn2/vFLMGErFsoSW1ZXhWJ3RZzH68Gq4ENdp0kv6oEHCrMJ9yE3qjrqIDs9+hOUu9q
9ek+O21H8dgIqity23pBmhUbe7H72tovlTIHlINGyEb4eZnJOJg7jnOn++wXElbO/vxRqY67/Pfe
aUedJZ2pD3VtDgpaUjlM6cHLK3jWH8e20y83JxMpql/kpOBdUddUVpFcl1mjH1hJOp3GG9tcBvaY
BoMOhvTHy/Kl1Pd6aSCBEFF0MDXdFBLM63WZwZcd1jWUT+3o5itNKCule/okTnueAcjHkPlTuTJp
6FkAlonbplPc3flXnDwfaERxUNow7kFU9WHttDYtfwepgl49Tn2CIMF2rPqSWRXh1c6Aix5rpAMy
8CnKCzDSes99LKwZdn5OcjqI1nuUrWfL9cGcaSB6UHPhzf5tF9AFCHjtAT8G441zOkBtZ/DKu5aG
Pi5w+gJ8R89vOuf0bLfQHtdRUFjoPdtz6YxTsZcjsjpdI7DSDcYHYbWVCaenGaZWZr+cTztrtun9
j0k2MGjadEZkqm5jiKXhfXA8ElbFPR3JidykGMOY5h7u/WgHt0hr9MMX0zMUC9eSns0ZCwVtxDDU
qGQ3+Ne0RqZJtKtra23mQ+1ZtPrsS8SsGW5PGAhsxj9+0xfYDCErFT3tk6pJKFBR3Is3LWrXYU/y
ysfAX93W3NfJtBAF2g2TE/j4FBomqOcVaOfMUdUVcWgVmeXdOIuj2JXXtjPzNyGji9NNE3A41JDD
MG1EqL4L9NZc2F6+5P0nT9qKh1+nVv9TDV0yRHdSTJ54YPMNW/ZrSXVcwQ+IAoG5gh2qzPiymBLx
ibvImqlUHGzVTl24aZJq4nSp8bEs5rjrk8IN7gw6U91jD1o45G+Iblw+BOAxOsEawQU6ptp1Mbaz
pwyotp39aC3A31hGYiGS5gXddj5Exn2TFJ4mORlKKnHoF/B/++OPX+9FtBKCIdMXD27gaH0dVC1f
r+O17y1PrZ16TGn3D7xflDnP3rI3EClmypeBU05LnPm95F1T3dZvNwhqZ5l3/937iGzU37kBXVf9
biTKDvUpv+vE42lvtD1IyeUVK59jfy8Tc+a1qMqO9IJg1ROOyKzWce+Pb+Mi3CBZRDIJJh8uvWhd
Qgx+PRxFOco+852BFzIYbd3HHNWGM8YzSawd/ukjDDSUNwDLQZC+kbp89ya4MJFO4Go7BkbhIm5c
kdYv23IVj5mR+2R/bBYBxwl2CAb/nDcfpxn7pT062TQtT0mC/FL7xggQOvOM32ztAH742rGqArTd
iGQvx0BVul5WR+KxzcaZ7c85LbCsaHh7VxVF0sI6hCVQlrk7BzF1jf/ddJu1SUEdsaT/zin2FmRe
tuzSMIkNEZnnyMukpw8EV3gvz3T6YIdAMiNDhaM7pBtFPakP46zDHmn+mKPHNhbvJTZUrbEz4btE
9jF0M+y1buwGjYXpGicGv/vsGaEOHPpgaY1+W9lumvcPaRTqWSzMfiyWazKkaspjOlIJOum7Mm1u
BVVfHfrICOcUAiGfzgBOqtP2X0zMvs9DjwXXdD1EqiuG28mj4zM5lGhucmhYNhYtPh4oVB+jvT0N
a/upmdeeM8ZqVpcz/nQCtma/SJrd4b1LflY2Vc3Nuq1HqnWzrjpN3JvQJBPrF8PzqvJdA8HGmu8Q
HLI5jmSR8ox7z5HkNLe9qNee3q4lScx8n4RJMkWxcktB4cMNmxm4LaxgykitDmuIT4xLy0mLPiov
G84vMex4s3pexi20p5hF9TVNAzDdZUC3Oht+zs9WW2o4QbUI0pNIT2j59uRxq8uNVXjOkgbi1ZDx
Yd68ZPyKfUpVDVYXv3n+A4tlzURpOHNJJonZ9AAnzpLy0UT/OTFinVmEVJN0NZBgFhNuZVcc9DoC
bBThArGooE+jp7D3MqOGxteBlpz9ivO0wsaAC1hewha6IyDQZ7U1GwaXc+fM7nvE5RirbO/UzZJ6
ZdzUbllNv86BXS7pzTi2uRzpyikQ1tzlY0s8YkqcWMv9MDVS/dklwUv0bkmsX2OjaMHCkTosE9Oh
a2KSJFNG2jDHfScvQirbp6VBm/TK/iTX0hHSjJOsnkLjtl7TPqcjNx2Wzpy2uVGE2Z81+YCNwAAE
BdoFaHTEcuC6jyIdtxUNvJr0qg7x4hlkHE05e8eT4dL/0l0bBceSFVeNiRokvLbBMcc9vN90vfHb
tMwFDQXLHC2PrJi1XancJm4SZQezokOI8NXGfiHX9IrQo0Z4Wk+Q2yXjWaei9pAuofmF5yRMQ6l0
i0tAyYW0xjEv4JzdnN+35Wc6PGpO4ZSLSCOfcj6VjdHQO3cULAZDcgqhf7xxf7d7opBmm1SOEJSh
WHEJr8GrshRFt+zhdH6AGBDaOTzRfO+peeL0cn2lMxHcwPBIjNtgYm3/+B6+Ozw0aRYmCZGJNrUK
9T1+k6t2eUCrY29M96aNn899ZrZ+ebc0JBNPRuOQ6+ybKKs41n582Zdne7VhczHcYDziNChUCPy8
vm7h1+BVkewfsjyJwvSAQl0eIXCR2mI2dsqdMSO7s7psiMyNZWVd0O5Yi3gz3ERlItf1U4Tw+Jhe
KbHytne0WQShQFVJEbheDSjP8K6zFV/ufMOulshiY+BENz2kKHQAWsI8oEB/sIXbl9Y+zQL6dTY2
qZ5VHWjcTYWzrXAwycw3chD3NcjPMQ2YigxMFLK9QsO6PKgsv1MqpYXmIWpW3+qfi9ntifPyfhh5
305rcdHYCtXIhtDki62xy9ZdaanKWW/hRzmnLt8DxdGZqmXSn/IkyLn4BezMVVBsUTYG0CcHHjXo
UJw+2DWyouiv5WjNrtpFRg/AGvslKiPdDaqyfp3vMjof2vLoJ7Q4Fft6GjoGWzaGPo0sxyhz92sX
GKiS3ViY/YUfUzpysn475EAsCus6zHAqXbDocRCyFKcQBN7MtmZRx11iRmN+Pwsof+KKDD+aML7l
9LXsuBuikU6h2OO8QbOabthFv2UBr/rl2WVumXvWbu2/pXd0GciSAKLignw3AnJ0613CrsUw54iI
jtG94+bTJH4loy/n+zVzUtaajlnYvbNi8hiN2XY1ivzjNXC59EBCUW0F6kKcHYz9MpBuO/bapazD
ewDman2CKazXOnTKgClgZ9XEFQng2RP+29d1EMChPxYxK7iNF0GbJ5SfK9i29yYUn/XJFYPGcZWN
tYjcDrMDlE5Hj8X3fnzdi8qxrlTrNmD9xJEuclzG7VVGc16v1vV+gs5Ki59N9dPJN+dwlQ0qs1tc
bfBhNHYL2bjwPnQVORuOPXSc1wMprkuzyBFmSmctsT0QB/0KxBAqNb4R2l+IGHGvKAQBZsOK901u
9nJ/ihDHG3PXye5nGqDIEsMy0xPB7f0h/J0YoKAvB6WEpP9UTAOYzaZJl7mAPBLRzgqP/iUVSYSK
VgGphf6xZus4wkC3pxeBHugfj+0FnsztkgfRmvDCqtGSua+306HDEW1uau+DtywzGwkOyHoWzYg8
8ZV4OThy1UUFDKjRrpeDSfmO2VbadBK/xYP+bmJTVMa2hyxR/xdcgts6TJAtWPt94485a8kcaUei
au4NWExuh3DlgMOqIl+ffjwIL5Tnbw8VOCUwW1lUEDAhflxurlE6pySHLjtN0Bny2PSThl+bZsbM
amNLT8OHa9uOU6hjz6wt788xVzo4+sCQdPwRDqhw0YG1Z+U4BG7OiFwtOn+hEQm3VR3VTUs65u+s
NFvlug3muiVwcFs0zfI/f/xQLz5Hrx4KUgQHJe/W0vHC5XKN3CVbvamY7s+IbCTayH8/Wt0SQggK
Vl+Iqwkwc222TUnHXHqVN/aAZSMaN7oUlw6q42lkj5GwEU/kLVXLPAaueqAfMUBMBlTWpyfSlAOp
a+y4c2SX+w6x6sqIgzrzyvEYSNcvnYMrDYLfTxM0H9PYnYIFW6F6SJDtZrpy0APqvPxDMjz8lq10
fIBNBgPUAsr8JlbAB9/IXQ/tisY3p2ZXlRl81+uxm6TxuLaycuXn8+tYFzqiKtoDF/3ihgHjWdIX
12pTHi6F4tHvpxMuDcJWM5vPWHI1ZxyBWxo/azRXhSE4U24rp9X31+EZsagDeV5YrzIWZeg2xjGt
TSwDiYJnouFNMFl59pY15HenDeVY6OwAu1Cfvp+buGimq4s/5f3UOHqFri3I6+cqSyLWKVCwHsPA
qhJ5HHKU8d7afL+/vF4UEN00G5ruswuQgFgLjZRhEvdnKJNebZPzpRxDn+vnLyUuBMwc7qJKC176
G5v/C2f/1TT22PUxedKlr4hOgosbwJaooEe3mz6kaKeQ5hQV8RsYKQTXYtx42K4gVcntrORmHZAD
L9BeXebIzog6jMz259zMsOkGNncjGzLfTIShYfzmVBM4h/MLzXXGYzJ4vRnEEpdYuhzhBeurnmdW
7Va6xtGnI+5s2BijejTFkQml2d9KawkMvFjCRFvgoZnTZPVbHU/fbdcoRtCACWCiy/SoO7zerufK
R7ub4u2H8xZFOoLOGvJTL8VqtLqs7nO5ZOxhvt84zBZko5r5nh7wNxOAy4CUlg60S2hFgJZHp8dl
xS2x5spLF5qI6wYPWA/1/pprKDq72aqjkPn44/3sO2yWjg6eBg92XSWD6XMR+SvDQ8cKI8OPmZvQ
m7+BMUjCFlsL6BUhIxpb07OCaAPrBgeXjiI0e101b0rotkGPiBwFm7cW53dMB4p2DIGOB6kNfH9k
DXMll7aFs5dGqd5JFqd0OO5LamiEv6cATVEkmu8FXf/yiIicDpDWl3OGY80t79DMU/rkBaNgGP3V
I7seckO/vdNGWaMvtT4FxYDAwGGlY8F+6FRC+XkzVLUut54C0I7YmVU4+AvR6LmulTuDnuY+kmwS
bltE5BFnw4SrIo2jFOpiEZgJvoFRI80FWbNAeBDcHL20uyAfyV/p7q7J4iYkS/hw0Uc6noVla3F7
4WjoZHM+gXc/ft2XsQCLnqIyBXm4jz6ixhf55YjYkhlRJ3g8Z5Z1H8hp3+bIX+5JTWkoiD3B8n4r
IAIPZg39e8PxoPxbmGWa6Key88CHudhwTNVWzHaaWaSXrUYYBwVyERR9aJLtqMNIUp8OqDSPIPSt
KoL8t4OUk7Xv7VMhxHfIteyrPOgtxP9GkAaQVdQDjMdzXedcspxacp8pRmur7hEzhCNjyE1Gvzuy
X2mgFnNTB1nmFpyv6F9RJ1TVGMCXAa6p3lUKWg81NpKmpdYsBA1bVSnqqFHsTmJiI0Lro7ebGBNG
IMMzsNVWSE8bG9UgkTsdkGVeBvQoisETd60FdaI+GLS/289UyKu23dEA7wRP5Yp0Xx8HrjEO5S7B
B2Nybzo7WTPzsI7kQu+USQko3a5VJgSGj3iutcWhWqImubP0CUF64EWGQl8pmUS0vFv6gaoqYVO+
Mn+AM9e0vFomKvYLQqOskXmLwnRulLuylRrt8YYhnI1flgX8q90MTg+1AK/pqjU+uopGRepubYSb
4r4EwLGDQx56FZu9WkK5EpCtcsFsIZ+GwXgMlWSfgnarj6zENKLgC3hRVhy0L2sXxFnZsIi3fScV
iiDrqZKc+0CJXMSbDUStbfTZTHM7zUOANY908JlEQSTps8I51uBuY/8Ri7G1cK7NLiLpvV/boshh
ahc4oA/wVUZRPo/ZrMzPUWfY4XEUvYWCSTnjnZlthB3qI+dcfpYvm0QeZiMvpC+TcSlvp1Bo/O8E
u55r8tGpoI0NpWblSNRfus/T2upASJZCI1nTyEE1ENcob0T4gPU8/XGqBKZFw/TMAl9xiPoLsH2/
VU47UYdBevUtg06aV/Ua+maNcZJDdNCWDeA42ItdHh4s7cb3LUELaZvlsJ2Ra0nb4qMFAZnCbt1k
yRWKVEgcocXRNlXUC/J7GMNXWGCN3Xa2UKm4QbMhsbYCfO9WKSnAckcr/VhVI5SxCP6rurODehg2
2ez61yZjMLKYbXp4y+uww460RQwMJiuynD0/yw61XRrt+4JO9OHaEMC2hxFAJ9/SwT09J0O5FHsH
X/F6V9lW/0C6BAO1A+5EgQfThoXWD99WR1+Yc7Vv8dgW2y5JtVernIPU3VqynK2bKGrEOyMgdIgR
SWa+jUh8bFWYemvcZKHYAti10TWc1iGEbwa7luSiiXYwLEXIw5bBY9WM1t3Yo7yyofZg/275UY5b
kDegtjAGxbseFcttD/7xNNMJEJeyf/azrHsyLLt8V7kGMp8rIpNyiG0UvDADbpyMyvptx3Flh9vZ
c9ccOTqnrwfzFgzO+COaUudAgQ4Sa5KtOyGYrIE3oMlqzhbYDUl23FIP+OgDvsRDhMrmOEbrrVwT
mqawAF4+mZW77mXnuph0Yir0fso78SFxRH+Xlum6LxfpPcjQcA5JZLa7thC6FOd5zQ3BVHMwXcwX
rFVUGoIK7mDlpVeCivxHU3jeb4sdZp+SQfb3i9Entyn4+bEaevR4x25wt23eWgB3at2hAehy9GFp
ezQdOUL0zuf3rT1Yu1X1BbLOrg3uPiElCQ1r+UOEqnzsoAV9qF1TXoOyZ+8UPkio6qJiu6twP7gx
lyp6BDaurq008T6E9rq4MS22S1ymVXhjjoX7qfLG/lNEXeYAb8PYTF6fXHn9iCTS3Pj1Bncxw43h
1rlX7uQ3jwLtqnYD7kwBY5mM59TOUbhAKnVDw798tErf3irROwcVtPad7aTGVq3T+rXsk/Zz6udg
eAj1bNup7ONhTazPFiWAq6BFptPJveU9tkryzk8HcbAorR0zVUCwT9blphJ5iG5j37ofoNqE8w6i
TsNVrGRngA/cCOEusfaKCvZhVSZ/huX8FPnt+NnieDvUSxHRf+8Y8SA9rahUmh+hysudMZfhey8N
gitnxXt9A/Pd3qa1733EpYAaq6EQM9i2Yds8j6hMIGbd0aDI1NRWI0KxThBo6sBnWTJhad2mAFHP
M649153dh9Dp/ejosZ3cQ8HukOXOmiewKC1GNRXPWVPmFe7hzfyhQ1Byk6DrSPBDLSNWakKQD9my
5jMbau3ENv+ga5IwgjBYbCdGuLb7dTGCce+tojiWoxjZM+gMuafGJu8Vh028wgQ6jFBA43B2mkcf
cVE7TmqM5MuNkU/ZmA7xLFAPr9J6+M0KZPMuoz64M1Q9BehtoSAWp6VKd8AbT6qgoDWP6HZSkDpC
yfwyDc6TX+GvkCJrvTfGoETwxu72pR8Ig1anroxuI1rErniwytlQrhHviCgQnK3IjaZt19kcyRli
pFkcJoLtFd9XTbMqzOfeMGakdDyoxK4wfjNgUWax6HO3ibmr6g8fs/mrIjNcJEWX7vcIcdPrspAT
i8ud71LXUddjPhToWvtevSUD7n5TnB031uL5n6izdPc1WszutslKufcX5T/Z1lCjR5kY/XUgPUjx
I0HgVyOrswXkVEhwABuS7S7zhvyumx2cpB00+bai9IImjoIIo+lf3VqFyEn0C9UtRvgappq9NVsl
j9nqDw8tVYjdaBcZrdEIVzykJdSSuAnrhAdq2UtgATwQthv3mLO2X1tnYfuhre4WPgQ9FAy8ea3g
Cu9CZCs+AvR7MUpa4XPitOmnMjW7IW4hva4xoyAerajw9gVWbWhnJX11SNsw/90l+r9CNyv77A7O
cHQTGYCcqGwz+qtd4S7eJCxN5Kj2VKi669zOmy1gPOUFt0y2Bc6hf4Qi6zbVHIb3PU0GUKfd9KoK
13lTTYPcgdOmN/U6iZsuX95x41+Kwa+/YLyB7ndKmUvLTd9aHZ6q9Gnn/BViVtelK6N3eYCA/ZJ7
/d7pVFqjspqLbeEZ3q2LtFwcCPN3MDgX+d452CCvIQ8qshL4Pazdbd6LCpVOO4O85rVDXJcSa3V3
6j/6YJVUXMoyf0e/qb3hEG4fmn6ervzIWI8mu9kB4b7kyuXa6GdOrvGQhdNEdQrpqGqPfkTeHMo0
zIqvBiH4+tTR6EYhYs1DMsqSvm+whXztNNDmlz6Jk1gJ1PJNDkWOKNKO0jwd36OoCeXlnIHSQUNC
fIYnzrnQgCq0cB5GTHk1jsGGAjPmlKKFSKaS62S1RYV/JylfVdEGtTO15k9BxVyW2wISM7/inbBv
giudKgUvOPwKroS3ginGulxiS1KDfJpzmXa/JF5Uzzg+vDDh6Bua8BSqAxTljxG6Wu4X1qbGG2cD
5cKRxhVoGdtlnHB8hCeS9le0IeOltQG+WkTMqvMbtOtGOaE7HXmIKY8Q3bOdgchrvzWMRpfgkmYJ
v5pwBpJrOJdWfWO7JSEepuum2neBi5Grq7qk+FV6aSsFMMfQ5g9UoxPL2ghRVrZ5A0A7e/4BTCrt
8niEEwFbR8EAXRB/S4wQaAwRZPS5KZ9m+0QVHFwxSbo3AK/NlB8QR9XJbhFhnbgdLSKdLWw1fhy9
VEy6dRVLhJZ0XsuvMGbKEWW4zBy8P/5VrLJFWN4pzxPp9WL6LLEwaMUBbXWnrjbSxbnumYAMmQF6
Mkfj0HWoIHw400rr1dLlCVOkuGidMuRIrF1IDpIxjEE2WcOfZE2a809LlU4XZtwF+AqhOa2icgqN
c/T/SBTOrKC6VG7CRqp3gftzqenMo4oSt/L9XUKPV9O/I5ZiCisSLXJ6C91hZqgz2muNLlVoDEt6
oBIguGY+OaTrxkqpEXM4zRtBRYKC6gkbaCqMhZkMGCKBKjDPdTZPhQk8oO7Gii9gBevvUXHVrKUz
e7lVtibVZabSVUGz4ui4P+URYm40M1vzPOZ/IYpd3oAIHMmCBG3s5gmWDbJaz0m6FmxG8XQ3pRPy
8poT9D+Q0vHhp/RcTpb+2D6t8XPUm084W8csmLzJOFbuhGoymzdD0x7Ivpfefp9MdGL/KVF16Ysb
8uJuAmJWVCrE9ZrCIZ82tsnhX+9GiJSs0xPpuoFrOEAtyWak1GCptoFgMQIa6ltNAP94U0tiGfDZ
4Bi0tgVlr7TgTteup4cHBz5m26HLVDoe0xxuydM4uLo+45shA1KemlCkXWfAKikaley1aDuX1lcY
iGkLrJ2EjRcwe/xifYJ6CqzSRanMQjRyM2rlWhV6GKDnqxWA5mC1Parbm/NYdS79+OauD4zJpnwG
2s4bO/GkJ9teM/er0ZYZ+oONQ0xk7opOLryYSKUv06fp9WpqWuG/vBGESbLYO72mcw0wdVVI5R3J
oJVugCmL9AvFSHWtvNuidDEvi+ucylUbB07NEBQ+KnbZlsxC1wz9ObPm4lArWEjEPknZL0SDlI+5
FaReKsbYasKFv1aDAcOZTgk99boFdOLzcqp0jmsgUXo3mbVprYGpzv1EyVDXl9GYicxskxdkDnd0
KM/hSIE30880LlI/tlW4uuyD08FEjjK7UWaKuKL+Mj/N1A+Gz+1i0shy00Y523+FTwVPOdhBkGsR
EurOwybxkMeE+Z3jMcAhMC7z7wXbgvkRHXVTsDtHGerBIw0m0+9kbflzo2kyalP0kVU+oG8+wplB
9pJ1OPRo3T1la1pUt5hUcMz35GP+/WkvkT7y6NQgX04YtFmM/NnwppWnmLDoYEVPJjDDadF1U67H
fOxcXVubKrhT9qaecj2idoWe9dO5eFtKeOhEvS/JO51cTMkG/xB+DYIMCFwMQuMD3iEaZpd3PavW
+10FFJa+tBmh9OfSkzrR721Y2QgBviAHJ0raCQUa8G7mtPORUdUYgXBt+VAv2hRC2JQyxhh99Hkx
48WFEZRvTvvRGbIsXjYnODj6dpD3nNbDUofRggt442JUesJ/RaSoTpyGCFE3gc20l+BYzVwgfZx/
DfKGobWGNmWk3BO5cX0pJ58wytOJXSJAwEg1OFhy2qNFpc95B0CFb+L3owuQqknZ1E579PmYX7As
vBdRuThfB691Vb0xYevP9xH5On/fnHDqyUX58t5eAs2IxdmbQ+7/cnZeu3UcW5h+ogY6h9udmERS
smzaxzcNycenc8799POtrtLAogFpMFcGaXHvDhVW/esPl6RvSu9XtZTBrMmZExoFLUOTduOgABRp
oxrj67L1stBU4yD/cOoWANsY1Un3dbJbmUjgXnKJ1rrJTG1nulDTa4z4gMvvK5odzYk4IZm+AD/C
L1bDBNhM/kXTtXLziksDZVe2n33huM76RaJH0zzks12tUPbVQuybxsY82D1LGmhYCA+CPiIL5uKi
aJPXpcbLiFCU145qf2FJdFCP7W/+vEHGfFi3GqXMOSkioF3q+abI/eBaetXGctKtOTqgh9kvZSUA
GpSaJyE+dnzYiHDgbmp2nwZnsrLJWOkxzZQBrvq13/gYG3Z3Pec5uH35DQv7Qx90TJ4gNWXQ65ft
Q+/Z3xohEzenrif3At+WhVQ7tspqEKJD0ARS4Qkjcv2EMOLgGtEMNOBT7jBIKX4nlv3n/tjjUCXP
U38fZ/htT9cU0QNe/8CfYYe6f0CuVX+sI39d6Wz7OKhtd6D8hQn/NwDNmR+R48+wSmYoCNDvJhee
ZhQSx1Zmfn6PRk7INDsOQlyl4/YyyxHdyWj1zcZJW9xdy3b8ayitBijb6V0shS6eOW/BcrOsTVoF
Ji1knoxTwfP72syREM2RaEjHm24OrqUXv6R8/ERYA1uOURIrxP59gPwJB1AuriK9k+VK0QN0A4Ku
pTzAtaulAmj9jL8lWcXjdequutq8+D3RQCcHBJfqVjf3MA+ug/Rk0Kxt2ntAfppOjw0MIC5tL2Pe
j4sLnuF4p6oq3fIyGxwpLws2FJRNkLo5ml4SJ12D4qKJvbTsRGIZhUFk2L/lY4g5521WM1kPYzWh
MbEanfg5yYx1T0nFCe2m+3Ow1qW7NqgZ5u3SodjhLnSlg12VvP+sIs9o/Apl/xheR8MlEY+h5qGI
Zo8n5gdDxrMy3V5W3RRiLIXZ6rvE2dzhKJ+tnzJVhZtdLIxr/QCLPhcypreUsjM1Uy8zNI9TWB24
+NBE9y6tYgsMYShd897IIcLRsR7ymHMKicfwew8yzuRGSxx86pNaFgcEsbJR9WylfCJadfnJrl35
jGz2Vz5YN4aMAX5CetGcCM76MglaE1kkeKRrcnT5VBRdNzgvDUUf6s46N+Qz8QmUv0tIuCOTEVn2
BES/Qqrlo2ec++H5jhVnKDIp/S3pYeCPVEd0dVYbJvJ5L0rfAHGu94U4J1VG6yZ93UOkCx9mw8mC
4fKt84WaizeBF/dRFFC0cGHNUQarHXGOMA73ngwP/Me7jCFkngZgv5Lu+oaYpYVrvrmF3X8pCk/I
MLrcBYTpeYH0ttLpoem3gYGkxwz2CdLoXSAt88sxxuxwuwujmB7DXUY/sXhOSY+lHKMqk2mz2jHz
ICxNmWT6uUIRlJkSIeDgQtZ4lNlrLiwn3ikaAh9f57WHyFud1d4GlC5Eug0wcrkGjrnXzSX3nRz+
hB4z+uQBW/U4gAx0ix/0sp+ptrmneJkQo02uSh+TNug+g3Wpy6yn/6FOpGSeSR+R1NWRZ6Y2eT2n
ETSqe+dMnN861ZjbrAD9BM4ZMRvRrTHxxXzQC7ZRLkJS5eYzeNVa/la1eco4mHIwhu0uUFwlTJZk
1dUtP3dDl0JbUW1tqsVcj41sOXrJztXaPpnpxC/zeTlqhzwnveSi+s9ZGrvt3bTszmI9tEf1HeYk
pjUno3WQ/jylmcXKd5066DT5TT1oNeQiKkOekfqVTYCi7AA8AjYAs5K989vbnGzZ3JJ+kJdvuit4
0wkqOXv9PhiymjoT5T2VVM1WvYHiTYZ/2vYoLEAYndTHSDOhswWMD+RErJoe6+o9OGMoL93E/Lr7
2oeJXHpwNFV1ya038ghKC18VFavsxfon4AN5RZpywIFQNmhr8NIQznDoJh5UBTUpuqGV+/9GJUxH
2fuLFcNLm/1xlSomtYhEosSDdSkVM1gL36elI/qSx3YFAujrRnZhJ+3T/S2NofUJk4omHyXUUQJB
05WhrvYBXwEaYJSHKG3fEQDcBqeTZ29ua9GJQt8VbQBHOxm0pjqSCkOX553gTcRJTKswZysQHIWg
sJYll+TofIGGAbwB1WieVnkZpMaInqEBweaLNGmxCgNhuOhD7+6VcjLTnNxpamV+TjDl+Uw5rsm1
HDWMrhbnaIEJeRHyT+OdxniBwIST+wFBcFalGkcRIYv/eFRsCrRJnBAE8+yBDkqkI9sN74bD6IEN
qZFcGQxbDklH/37BX+4YgUJ20Fs34nKqTLdfj4UvRQBFGaaYuIop2YFqMGD8AxrBsJC3Q5tAijxV
RQ3uwrJUqUo/cVth1uVqpSjyaW7BRilvYuPRUjo0uxo4/0wJkj1ZvBVXzvEOtEyNdf3sjNRZ+WIF
t+gZp2rNNTvI7ZsirWrhqjNu9CJA/aV8imN0oV/rouPIH7CQyetVcJeZEdEFTKb2UM0XNknNqinw
isHYB4gJ6VS8BPge78u5M9fIouqR40yT98JyUKU2PYWBweOpJ0cYULvd4FObWPVB9JCdMFgWKWMt
u5RGscbnPCc/5kVs8SD591wsG/km/C9i9vY3J8pl8dYUCORcsr6ro0CoVnn9qKFbHRAGKBZvPfAH
4dIEa5za63MInIh/sa8k2JZNLe9dwOxW9jhXncR322wYi3oBghItdYnCv9QByFghDjwj0rA8MOLJ
WZpQbyLVYOOUT2/rOP5+R8q2sZ2U+WXSGzIpWEd5RINTuEFZ098jC6e+QjeU44BGNPWRnrOY1Pr6
J6JaBF7Qb7ZQml+mKadENRw0hIkeeev7N+jE0HerHr31Jw25tEk+BjYU5tW8pb4hj5Qu3EFVOQay
Ip2hRBx5eLVaq8ArqWKpEz2IfY4xDHfqWNiv4TI8VyzfzSeO7dX2WnYwQMOTuzqMMsiXopGCRh8w
KfTuqAQNmkg9oAFlMciIgcisq58Oez8/Wm1FrXKDot3PSDqMZGBY6nUvWBrZD9awkl2vc00pe3q/
lQqnPWo08tFko9J4SsOhjtc397NMVX1UcvxFyoZGKRn0YhXUsQj0+riUw2mtKrcGf2p+mVbgPc2D
DSWSnxCWkVTHRoqsjRAr5YZQ2J1I+UiXTscVPn5cgDHpqx3QMnDA9FdDFJF0luWGMLPEcvUODnBo
bRcwOuHflVbgMC9hxvGDL4d/Hh+TRAbpAY6DjfGqnd2wuCsmsXDzlwM4VLCAJtUWxyQKcqB/DqWd
K2VGb+JpCNYDz1mmYFXT3rmMCw5WOEx0LGVs1MMiRTKqG+EBgZfu3K63kyXG0VMVJrMC2HdVSWli
OJXj8Zkm1CFOMaqsqSvCvJaTgfQ9oCM25nCbzg5dG4CE3Qdlul+8MaB01GdJHJDkilR9YB1H/Gmy
Kju5ph0mT8Vn0GUpzOFmyRDADFleqbXRGAEMRQUfxrA80DlBBzhIaylpwh3/cDw4jS40U+5bnZkb
1z0QMhx/+YwMhg2Lu2Za6UkRJBVNhghMl9nnIu7kwcBRldpvcDs52vZ1ugXMzAL3T+oqBUCoDUAL
daJ1SKZrFY59NtB3OkpRDTmbCjz24WjyClP1cMM1qGliIISQw0C9Z3IOXZtKMIVlchLXPDdLPWzz
m5FCG+VEGdaWtT7uFvIPaiafZLT9uUX1snovY5REQyRY6R63Zfr32pvUULegqO38l7GAXePfETg6
eyGSKiuZsOAJoF5Ru/f7NEluzdb9jf6mmTG7RPRYvHDUtsoLXohkY/4+oKBwwwuCuTQHDcJSO7i2
4vh/t89B618EjbKehzyou6e5gxSV3pG1sW4ft3SeHOLz6qZ8qxlG//MM2rpvpT9F883PB4K7AfM2
Hzge6tRjs3TTH2bb9c1LYDlxdRfPXB8sKmfY8uausEODMMdht907ML90+rj2jK1bZcebScKcuexP
9p7Pl6LJbZhBjR1QFyQsv9BN3KjZTiO+cdPFXFb4X86QLo+9N/sNSA3nO+tDTfrycmkhd/m3kbbe
dIrsfWmewqzczf7mDtE4ggGGCPiym1suBirQrDGmZwP2cLlRx9qYN54yWoCrcfLqeCE5yybY0gno
1hq4jp+nvV82WEhhPoj5O8Qydz03GYqg/JThueRz1GR98C8m08C5dBiXeR9iKnzSqY20mIPo0eqz
bPQJ17NM8eGmZ7W8lo1f9V8ar4bVEs2ptzxhiDw1t83d7BopZWneZ3lenRl7/fza4gXRPnQgnu5z
VA6N8UQk79T+FbIot3+1pu/nYJyGO25/Vjt8p+KKsnZ259MwIQ4EGcaW/Ktf4oJhQFT8PeVNkG+o
cezWIfHmwhCR1obHxo33H5NzzxjVgdP86e2UV4Bo00odrsU1CjgMrCQxPsCMsf2PkGR4MqfejbbG
gcdeUCFACebMkG0V6UgJrZcac9DJBEVt1LJsQGJhqrZqo9CFsirx7WMpyhq8gX4PQdo5HKgSqUli
QdLyQ/RrKwmW4m8SdQEGvDoQ4p/pBFJCqQ/JVf+S1U9qc/UplnU4noiZ2v6mexkoEJeQGcY8iLfL
esjq9IajIE/VIo0duzvWZnx3GaxBKBN/aoCyibSpcgNBib3v3m/x3PVm+Lq6O/lJ12K0KDezLJAj
0k7ocfP3gJqsqWmpSSH6f89sUhytVsfqNoRN0/w6tmFcf83Gwo//u2BxND2s5mxWn8ZydJv/qfam
uttN406DeH8sRsQJOCMGE4TZK83Rphk0lG+om4rt2oAuTuENvWiyOhcnjWWjLlTfKzuqkoSbtOFw
YK6S1R+8KScJbFtHqJmxSQy5+9pZUyLJxHSjUc1MHscJjO0baxkoKaa6ePWdOt7/mCg88OsiEa2c
z0VRgBdcnbHAEeuLXdq5Zdw1Q5klxCkFAx8fdPdQfaxofkpBr/zZOLPhpw1BgpcsS1Bdn7GzJoRt
rUyvvU5913cnSFO2ce44cTYv7Rp1kJ+2hWzpefHC4pZRFt28cUnLu2jcoCdB8g6iG1Yv9ufCNDrz
ZaBReEE5ttIyKsv/FGPmvZG1XNw3djj9xeYzthdSPLdrHHkxGa1bypeWxI89ASLCjO3ndvl7xoQ9
uedc1/ySgmK+VNCkCTKbSbVdIibiCL7s/rfFfqO+DCir+7t0Lte/ehdK2Snc7SU7L8PUfu2S1u4/
bHCALgFgyufeC/unxczdDwhWnPpEAGi63Wyv6l58PMW/biivX1ndCErycjcFlKuc39K2N+6DmHXe
w5p5vrdJKyJ4jkO2+SeaL1a1sm3G3ylDkseBl19icdlMTnBJ4Ho+2KDf/wWDJvI3SVJYH31k1ida
EDy8oh3sr7QgCu/Z5phXw2Vecuuc0tDuTn2fgZBb/uzfJQGV3imjreU/eN5OJjoAcpJDBrOHr3td
wUBKbN/BEpz+HTyKMl3OBAy6Jzs3u2co1nSL66C0i0vOAYm+Xdc8BFXmXHLLWT7kxNb9EZpN8Oe0
WNlfZJJMjzAfnddltRhlkR/fotYm4Lsr3Ud7wZz7PILbryfbjPtHTMyb/7C3sTPM+1D8x7Dc+pYm
zDuOer9NhKD9EXMewk5lyT/WZlTdRnuM7jCxXW+Os5p/2pWdvsWZ55+9qMhui7HHv6Q53J1gsUs6
sZO9ku3qdy+167CkZkY6X2DYVd2dUwXZf9fGsD4PIb7W12I2+7/gvmKGBrMRANBNjbk9tUXCyhK3
1nru+iXGh7rb6FQbRfsSjms/XM3Jxu1/jmoHoqmZzXeBHyxf8oiz2KVOBvNsu/EMMWR1n/LYM549
9vinPZngDaab99mqu/I25THOR9UaPXh1lcCJHJclfoC7OSVX1qXmczhtyYemQ65xbangPi1JtvzX
bglGPaVzSEfewea4v3AjzmdHZPsfzRX5Ep3oPCSpJVnjZ76WODLiVG8ohqq/SsPZvF/zcMayhr+4
hdIf+F/GnvkFr7k6vjeN2Z9+izbITN5zuKxBkF45fu+R/6sX8obWAv+rGRL9XemmEHpxeqCBajRn
Y0rtCRSjiS3num9AwSjKx2p93YukGJ/tBRo+Lrtmaz2AoxXW120bI/xTQ9LZvLdkhtExnQKL2cba
YgMZU9nh/1K9mqZdFWz8TEhzJWCB6Ltod058aTXkr8QvFjCJRml07dkjdGX297LfFjIL4il4Xs3c
pBPdoLz7sGwYlZ7rGZOUO5s85Y/N2C/BySy8geBsggDLMyZhKc5/aw0l7ZSbNNjvN7Rqzbkt6RVd
0ESM2x3rbkd80tqXzsd8ImHup7Ln73nCYrrkerD/0JpAM4Fw8r3exW63DC50s37cDDNa279prA1d
+YZVUVX8xEUV95Pvv8yGh4yrLBGwqDmQALyXmbrrbocNArePaUPvhxh4fEhYFlKvbVkpvdSd1+a+
skcbOVzhmRA2kqS1co+m8yT/aUnk4h/qRp9j9iuU/8NBa8YNVv7d8YMXY63onWnX4SKJ5sL1/T99
e3L4HakpAsBgDiJdm2l04bs9uUhDoZKPC/Pdvkw0LPiXCNV2LiME3TA+WwxrwZzyaZrfWIXyfb0S
q94C+1Ol9U6MV/xxoQYILTcWrLb8cZyYQflCKkTMgKyW3uPj23035fY4VqwmvDdniPhOZcNVYzPU
xzevT6Ko/K1WD2JhF1+335m7YeASSThOpvOKj9qcbY8VpDR/ujG6Pbd78tcBC7FPCeYj3EDt0rJw
r35fpDyzbKjkoJ1GbN31ySLxMFvvNzOX09aMmtav7r11aN306tGswTnFpTdVZvDgAEftS2rH3VR8
SLql44XtyGwzgmcQ5e3xx5JwHSu/NbNbkqtB50lwx7QkqC34FFOf+H/GZSiXkjm1h5tSgWkBagv9
DphUg3xk61LR/KIhpcgsfCxK6mIZUoLBHWd3nBfI9WG7niPOoViQOoW1UxoafSLXt+OZgSsmGYJL
FT/IIZhXbqxyy5hoLByLSE/ZKSzSoRCANkQNyJ03XoPVmhpCBrpFXoxdW9FkXOOR4ry6NFhV9emV
5NOOh+ha7cAIxciWXOh7nNkTfqnthDjTWWb8SDaOE6z32Orhr0Rgt4FT/TPBLfjXEXaRQHq9K7Zs
noKX1uzWNf2VhmlF/8T2C49vx3R/5Gm0wUQj8QFPL0bmQ9bSkoOnH3LmME+zs0Xuecza0fowKIM0
/PcQMD6vY95590Yerck1sd3Bz15z2Hpc45R5LX/6YwERL/z9fA4QEDGrHRetgY9ZzveLB9+OaeRa
Nh9ndHluT4fcdgwyYyt49zUuzc2KkNMZfaDus/LsA0sQDDdUNp5bOllehXNIY4v9oO238PXfDEwM
w+SPJWbogCo4vhGhzVb+JQUNHP+ugxNexWRLYAnbXNAbG3VwYpOgMHpY28Hk6c7YQ9GxwtFRvk/b
pMKOoXW4ejGgIUwA8VjdlbGrx0fw71I0Ab57smjtE3ycuvB3icO2ZwzzksUo8NQCkqXghIDdOkhp
wniTc1RlzGKuUo6DuMxon7cur0s82U4w3SLGck5/Ow6ueJkt7fhUWpZDDKz+w418YwOe9ciIrShk
5mDrLghrXP5DJTmGFaeIYKl/1x2OxGlJ672tjleRVdoYjHr8FpXgMrVh+0ONOAyDtD8jchfxYAQ+
ivvXvS3wNIWqXBDp/GudRx0QKLyXwwynGdKsqZ6oU1e84zd/EymnVnQOexIbJNIa1SRgCGtn1SSv
vo+6itHZRvOIlY9Wc2rvwNwb3L37SCfKs7p7hDPiZWR3BJKOFyTHTh9fvBl/CTgTWMvw59oCMbYP
KWlXQxSyXrTPk1Z12S3iRdpltJGDlu5LjIcrdVHn5/8ZLDl3XklO48j1UBfICWHYJoe9TMSQ2xwc
fA3s7X4SpP69hBfHBpMUMyKjSDJCtmA7Inj7h1VLLzrNIon2lwRNF4Bie6j6FStQNwW0a4WmYvx4
In6vWeXrbQAehiugS+SB4L2bhjNd36Zyw/VFd7c1DUpLV1XvPckqwehQBcmk0oDg/4vU35Zv+4fy
yGZCYgLnWY7rIIr/V8gDxihEWadezmtzpw0G0MggpVLMWA1M8n0rokqX69w2DXMlWkQrlma0evHL
UhwGPVoxZIqD/GNKOVH5p5S/Y7pG9EyYdwoQQMMnmrGJxk32ZWrCpJp/KYpatjRtxJWxAfvVNWHh
pqb+8VPHjuTdnbIZ4VDCeo65GeYx7/WyLi1j5K9j8kpcOQ5jV8qRsG5ulCIM++tAzArzAghCdhrY
oD6iQrWEk+DSViG8XHaw6sEOu8LLIRxM0/RhpIKvb7Hv5fwt02XF4NqZ0/qk2owapVc9mamEx+Bd
NFtKMU5JZxMRth9V8q2ay2DFueC/HANpfZwHAyHvdgVSkicVTr18iD+1+ASQa55atBfsEaSEYIRC
kH02DwDXWrUOc6wHJD0HCjdzGHKQdDi7JZeWo7EQruBhZHBgplB2QIXIEbK8V5ZHm8CUGquC7YMN
RQWsOTSMng28JPMYDDleE2eDms1BgrBjOrKonG+a7aWawuaS4rfwyYGWVHxG1wk5SpF01grEn86F
mFfK0C6cfr9NMGWb6hop2/JiPGh/22QMC0UXr6F9UtJhDUchO5SGQFj1ftY8zgv7XXOh5wHG1BhF
mC4rmUJYSkxPyV4JrWLIyWrqz4on75okTdF+LGHUQo9QTX7NOOw7ejLF/WARVBV844OOqy0tXtVm
zxu3jO7riA7y9pir7rO+4KCzhIQy9qFYdA9bKMs4xzPpWJUkzAfuqarLspf2ULPF7tnjdGzYpybn
ND+9emaNj/ddCKRQ2je7S126aQtRTnw3KoWE69rUw5tqwI3gU5EVazKd4WRsmXGzM8ASzI6aQEiy
IxxnZmCegHEkn7J5aZP+wYaDkD6kuJZT2LWA1XyBJteYhpvz1+z4HfXgFtEB+Dq3zGWOOJmZGPTE
dLdIVzGhM9e07Eh1qLkwq2FTte/1w7QNfHH6azhZ7T7eWNJDFvh+N6QE1H9um9NAX9Phf7rZGYVA
0rzGQY/tX6ToiU7gS4NFN6zGVWx+zusIl+qXLatWUF1FRdDtJzZJhpj+QXd+cByQtz66K3QmTUvX
XlaFZUBav7fscB9X+LZWC2UfCmJofm7xMymooT27xy089m1xN2wMTtvOk5dYdPbOmhetJ6OZ1cEc
nNousYz2ojm5iXphNGJlkKm+StRizUVHbirBCDYyzo+xNsGSfVi2fKhCVAnS4Nk4pydHNaKrhFJ1
3hWWOJcmC9INr53M684DItv4M2JIQq8fO7sG/7/SmVoW0AZ0MAwdb+nbekRFteKM/NI0xFJgS+VP
xQji6k9T/bU8lpGFacl6wN7frojDsj2gXw0HOdnjECkcVct6F6QJLv+nzKzS4rG1DbdrL2VjJnP0
MnIIZUyOnNdZhvLQ7+A7Lcqjw9igEDC9PcYizgiqa6wgW3PcEfClZ22XNc/mQXVSzrKaFcDGJV0y
iwUFp6866mSl3pZJunua91b0kzBNjYKYBfrj3CMXoZ/ePhoDt5y0HVFdezuEH3Fp9BLEAUqNoFjW
y1FnVnErfwlBZrIoMOnB2Oa1sUoIRHh3xzPcwMrosxpVJ5mwefsZJevOHxTUGTSii2lKgumRRr4Q
N8SgheuOabQwI4u4F/qH9ofSrW6nLi2h6/lr9MVFn148u3YBKfQ0Ei1Odk0+DGiAP1lrOhOOd9bT
bDEW4ulh3C39jqrttOZ9ZpUfAaVSXAFgwRxzeQ4hZVbPWVPICHb8QVirmZIKYK1tYojd2xzdzG+2
zMGOv55dgEmnwmxt50ioUU1ushPdggzHgSQ6KRJV501wLBE8Cq+nQI/BUpBwtywhqv/QZ8gViief
OhyuTBzBRA0+dVYL6xmyeyT/T5fjrqLaGKDfc3VuZjsvw7eNOFP0a4pSoa9H02EUYWSNDbd1ftHv
a1Iccgt1KediYABDFuwUUziJVMixsh9v9Nuw5njWRrJ0LjtZJpW77NymMkCXmlaf80sToa70aK5j
bP13IlTQr3Em/mGw5yBZr4d7SKqY37A8ZY0ZFAuT5fl4yCz9tJnDHPB8+VBVNKry+3blnGte58BH
RXH2BlhAy52v9AqtYsQnksZBZDTOv19Jz2tC0Zkd4i99g5ol6CiqF0i9tLsVmUcvMYpwpSkferuM
FdXNs4lkq571il1NixBkzMOuEImPFCCdEj7AdzSl9+9jPl1/nBUBfFbdVBpmcmApVUNCy2cmtUFq
qgHCZ6lfNFEp61He456EOwJTQiMGXdEKsOPVs3AGEm88eDY+bDKmeV5Jk1gL0ugvSUu3UCvgfti3
9AfbV3N1dhdRM6MuCDbc27uJ1k94s4n7Y3HwlApIV/O5nQjNH+QV+rC9HMaQlWKRaWVJiWED237g
l0Jy1iIZxcDO1niIvQfiKm1zfbRxAMXTUt+3HkT6YXwjscABlpejaMi6Qa1vXy/CUcA0dE4jhZif
X5IFKyXKGAtD8+Cc2pjMPthESgMxLar4qydvZ+PePDuvmqd1bI2g/OD1iLBornpdvPyNIQ6L5aWM
4cO4nKy6wP/T5ZfUsgpD6+bYcYZr0dPtCU716Am6lVD581dgzQKlhaEl+AXjIuTP4klejZ2EAEOD
E9JgO+1VDxfhNIfBwpcwqnvACreJ6zF6Ru2bC34Fl45P7L1S/hO5GQa32NC48frFmWkC/LlgO82N
afIc2C6XiFkYlzs6EwdseMNUmvbJz+2i/Q3hheB0Th8KTjfsq4xcBRtRQAz8oIGiRMGAbd/KpJwy
OkwG5JVYGPo/Pk+8P03A9sAOBcsfDk2c5o7Txj8OkWnZ9wgoGudlydhmGiZEsOZ0oI7eqKvG3WAv
e5PhxDvnTv6kxt2Pr+JfZ0lMFyM860i1Fw+g994sgZkavmsM9nN46Jf01ClSRgO00eNcm6+zVCCa
RFgpjUSqKqMfX8w7oxjbIogS5x/4LpIUjifM9+fqPG7GbvDi+Tn1VpFrkcguY0edB7RiA04Amv+7
H3/xv96FRxfdIt3VBRYntO7didoeQ5JMInd69tSGGyCaxqlbG6pNboe7oK4F5myK0JUlqm7/8WW8
v3+ABVndA4uHwEH6vXcg/a55SJDPPxNSoVDLVNj3QNjCbePYLzINfZb/8Te/y4HDCE3sFU3CzjBC
BSV5f7ZFUEXiHBrUD6nShJRBzLnnKgnDPSLSQz+lyUmrUutMYSfrsebIuLA941+tFlrDzyyh3g9R
2wp4Fh5ARWRhYfQe7vAhmGCoFpsf9Albs9nGQyuohqiSOnxj7ym1jKdUMD95Tu/RDhvjtsglM8DC
Oi3imr4for2PvN5z6eLSN3J3LJwVYQs+22z+siVj504Ic8fA/FIWvsDRltPX1pduwiA/OUcdeQnA
0EkQoXbx5hImyU/8Mt8ZwZCmQWCdEzjQlwILU/53Zkud322Wh1T/3rGw3v2qGYAjFIafGRa/iwjy
QL+gW5Af7vhwnelGvHsWZmxyPOh298NCzu6e/u54/dgWD/iLuLgCsXOwdAYkjFV/2LwL0J91ziPK
qTFZYTC8rAG+A8u1BsYJpm+OS0uJ7IvUMnEJ+5OqELG/VgNx57Ex3n78Pt9PfPw9XC+0fRsfFo8M
xncWaKzPMy74UfCsaZ36ON7iesKCr8QW4aENJPkJPqe1Vx4v9ccX4Uk86D8hNN92GFZhwMKHm+u/
7FjZQ2fBvrfnHNkcm9rcDU3YP0dzVMZvyboauPaMxgaR69POTsIIKlRiWKZclArcy9yXMfC2trhD
km3CHYnHpPiSGhYRIc7JH6wZm8hworbN7tyNBjaHkkQstBbLTsDiAILpe0GJlW1Pl71dBY5H2I0Z
iJO7xpabZJ1hq7Hzw6z/GvlEowffvCY1rseQaPjIaSH+CBZiiEiKgOEQd6EGClVnQwcoTDF8YPaE
IeWbXlp9xJLG5ySMvAzPJmcO+vkKIu8MYQ3VL08Boedig5p/Z86d0SbcQTpN1V2hpFlJOAgHqLTT
NDWvgUcR2F5MdADj+Nh3KU67V+CD1Hz78duz/jWGyN9ghTI92Gqo+d7vWkHIfgAvP3vWmHqrbp+a
iZPkI4AkyiLClZYyouepmNme8jfX4GWncp5gpgtAZ+6F2OHvtIP5SZGT9G1XNPGa38wVl6EF4mjo
xz9r2b7v8Pi0a7GIkw6PhcHp+/ngkOMGXG72HzhFtV79F9q71KlvioWsg420NxrMp8Mi7dDKqQ0i
nWHHmD+bHe8mR4BDpU/OiB/5pOv67+0qZ2jifUBT70OwGzTVQVHjykku5NzKIf7/qw4JTBjOnkPf
OpD8sMPQ7h+lGd0ZCFC5V33QrUtdNnaqKCTYLqNCZaXF2u0nIPP7zgJLACL/KGRtBuT/V1FYzJ0Y
Ni7thyzNAxaaihOf/+e37y8DDKI/BtEgPb7Ywu/uZ/kd//p+B8AKLp7A+S4bybslvS63dNxCK33S
Xv0LC4Ic5L6LEaksT3QSnRJF/3g2/esCeM2Qgn08djlosDx/v7/6YJY+GXvDIw66x+rhHic7vc0m
sGFlXfaAC7I7D25v8PuPv19u8J9LcQgTkwpI/EA5zP5rQyjWxSUbKdmechaX/dcwnHANSwc/Blng
ontjuPk26VU/GeT298mTnk3NyToa4UBKDcqYe3ffhefMzl41/RNRF2k3vQRu22xvUdXn+4Nu29eF
1Ti/j1Yv/XP6QnLG0tt7Ftu5gK4E9XJaGgIMevcz2Q3gTLfergRi0bwAOimywtMFrRhDKJBEbDQ7
bC1wyCADN7/RvxXuxY8f6/saDltsBrbLZgBGIHvd9681hu+04h6RP43RjNXICVJ3VgQncur6osOS
opg99FwqjMTbwOa/TqS6zFg7QJGb/J+8ZO/9S+ZZ85pDuSqaaO8PPUsJQRvmWf6k6KjZIWpTNaTC
nn588//+OlYuWkaQ7wKT7fndu80z/FaiefceE/H1/PpNi1zOlMqjIrT/5Av/VZqx6XKMYhEjS9Ik
PPbdVw5DvIqLRveoxUzKa2BNkKdi0LFIg0eC3ebyKd2gRFow6n3Ml17sCcJneSO1Kzb7Jxw1CvA7
DZHphA8vMUVOo9Sj6yFeVuIjbA8g7xJlSNTIR2+fxhK9Lp9Kp8QTRwuiWuJN+iatkuiyywcMYe06
kcY0DEgFOQiuSkqmpWbeNItiIMgqadmPKf1d7xJOivBbLwI75TgFgwc2Mb5enzJ1NENohV/QMFeS
K1LNCJ7eAiuTso4BJTMi7edsN+GgdvSVzuR6wD/KVLdnrg1R9+1BLccwEi1Eq9MT1sKX6ONHk9Qe
WNjcTnJLzB++WT2HIfcFpIadKfCN9s+A6yyCK005VmeXUg6bXzeM24Zb2BtuMp6W3ug3/26oSOKI
HvJuJwFNIQKmueDmgjB2QfR58xIy3z6qh6WPRXo5znEO58yo0RqNUDcYqe1vulsNmHbI/Q+gQQGS
IDoCTh7e02btmVt+FxNXs1lnZZWrz5yhHcnDDLpZBDe6AYcvhIROZgeyqZ6A+iNdUru1m7mfSlSh
Mz4nwGouVQ3YWfs/qsswP+H6ka9fFFEaNkGZjaeEx02gSIULaA4glx3DtbZEfmUoVSpMhL6+tUyr
yH+s7HaJnnBqHKZfc0ILyaYB1Pb26KLKkkism+sbzoxDRROOvLrEwZ/EdUGn8E+svkCxyoLzCMrv
d9fZbEX1pc1slI8KqjIjwUQfjeJ88i3sRp1rUxZEcZz4FbDZWOSmd6eV6DXgRQQ10iKi449dQelI
v0fnNSn8pdwuGvnVVAEk1IJ2auwznrAj/ooLACL7E8kchfvSmzj2oN3fp2L/TUmOnA4Z0t8Voj7y
G9N8T703JcWmoTtNfwGbWO4bndh5eiWvtWrtG4ZXxvYWuDuq0VfMjUSe7CG8pvVWeMs+YGOc79ZQ
XgbVfNSwNHF3opfGFVfk+tpmIgAkZbByKvctTm5t3tBCCGh27TfdgWY1FCL/XuHpO38KwmI0aHgo
WFeLInu1CugCLtp8N/sddrqVf1LDevJXpmxxTNwZD6sOO9w5tIfmivpdhqHqkMcGIPt9a9iYKpxn
xSFSoEBBShEDUykHc9vOPRMPZoIW90uLJQHAtPZi0uZYfo5pYH9Fh+tN4IYlQgp4pn08vwSFkyxQ
yrSPc72mbLb6TtUQCzcfnaRWFikJnjaQUlO9CKPQ+B2fytm5Rmrp0g0nrb1SE2c8DGbMA1HXj+mb
EjnHTBddspIMK6gefFHckpTkUfmqaCGVi2s4aw/5qon5to5UFwgfYTYygVB1dOPntrJh3zaON1fg
xgpZV20RP1xlNCItRxh5p4129pV8BVriPJkouajWjRZrugpe1+ZZEag5y6EQEruvOnlWC916GFUs
8JjOoohQrjVmagmy31mplz57WePvaO7UQpnVccgiWq2Nx7grmtQs4NdGBlmQp8hwUWB3yvZhUZ93
mJz0zraFvxFazds9/R/qzmRHcivd76/S0J66nAfjqhcMMiIjh6qsUSptiFJVNed55vJq5Y0fwRuv
fC/gzYWHhd9GMODH8I8Zoe4MJh202hsbUKshVFYe8vA753zn+/6DB4se2jIeXhJ47/MV8/Rpfo/t
p12vZhbY5M/Mv9NOKT/VTiSzmoFPHLLzKXDWlDv1jH/nPT5xZc/sVR8F3Olj1+rzT59PiXOD96RF
ct4eTuXMs0LAmd52JihWYGeIywylviTxkY0Lw+mjVQooZgOv4wLc7jKhmnVfpBNx/0SCQRhPJUvH
em++fgWne/DvnktPZJm/BhtcxcDpR6DxSJBD3OfnldOl/9wLyij58/wnHvX5A52pszJy1FP4NoL9
BUDlfMypRkNO05vT3Ic5103i/Eljuj7JM40n8hEsPboODwppBh2SM3+2Oe0rBawpDq12bnsKLuhH
TcxprTdzg408nS7ST8WJvwyjcZzThNN/SSd5j+E0+il3A8QyXxzOAKgYp0LiKGZDnQ/jNiP48KKa
USzGyZWDG2cqPUSCOYr3JZQr+jsFvJyfK1xVgh99OppIflNiEL4lEXywk/VXciKpnjthBYA3DsRz
8fwkBnBS08ki1Eox7JY7IlY52a5YtIUE7F8w4KEk6PlWFit7QQdtmEMReOID1+qTsJBa9HOrjOq0
mpg7LDg8P3N0So1t7baiiDus25wE609haylPxnjnTOB83OPgyw5wDEu5BXOIcfmUWTu/hAQQ7KBG
K8K0T6AEEAgnHuV5Qz4njudAPzGOpHicc4tzUxCBI7jN5xviWdnoDN+wBFz20Dg7KbKdc9z2lFSd
gUWyrMwYF1RNZgIxXkPzrnPSx9IyWSPRwlR+3meB+rcEzFTrwfCuoenZoJp5MuuoTnBYT+Y2hyqi
hCQdfo1PjLcz4OGs4a2efyP5Ib8RZbS5CpueGNZnQNJJ8grO4Ez1EjkKeKqaxihr4XQenRhowpMK
WXDanU7JU3VKD8/aRed2o39q7p7UGU/txnN4nqilJ8kE/ZSQnoo89SmzBeGsY+feBRBwwXUCg2Em
2eSpGR0jZG1Y6KFgzja1p2g+qxZEpzUXzVDqWSKsU0CRVjWAJeNoNlmZh9CiPF39JT197PxJwaiJ
sOnDWi8A2PZG0cW5v6x0vl937z2/y7QcL4LZgS4xjRmDxBVg7nKfYCRC9MRV1k59UCo0aQJ6DYUN
GaU3lWx6d278jrWGEOw+9PB9gXN50gekkz4n1dEJqSWRXvD9yxqFivxR7ENFAup0UtbTTypep0k6
rzEA+lPVOqYZTol+PBcrBL9vYmnnw3wLdLuMuqdiM6dkDBGvYzOChiTSPaQ1fELSKYk2A9gYB/EG
2xj9BD2/80P/zvMfhDkWJY5kIuc8yWfrIU7ovFR3M8YpGF7VJ9wKqvXI/rhcQoa8cFQIznX06fr1
blmjsEzZwJGB/phmYrC6LNJNmj7koZ8lt2lSAAM/C7SeVWnGU8/srDXzhwZWAD1CHqFHR4+DNtmy
FJfESlOa+RTcRklQmr+M3BQM6AQFlqBYI5bCkGZuhsoC2/z1gZ/KPs/KMpTHudCaKh06+iuYSCzq
9IJgKhW/PbjJ+rEw1SNFyUb3by1MTwGL01dvDfMAEbmSAG9MbVAn2U4NRwV7VZ0ztZLv4ye1vUZM
TeiLiBa0ffF4/SGXSFjgryhSSVwf0D4RX3rwjkAsDKPolMMZoXbCwA1n//IqmsulojkUibCHUFUE
RoRqnWmY74amK4rikCcDCDpbRvJAeFfloZD7O5BaoJrtlDBQUlc9GceXQZok0KPCRMjAw2oVssZ2
QKaqBG6KYDVF+9Nq0Z4q6k+v+Q9fhn/jf8sfT7Ne//kf+e8veYHeix80i//88+Fb/upz+q3+x/lv
/fWnLv/On9/nKf9c/ZGH8EuV18iSLn/q4vcy+vnpnM/N54v/cLPZ2P5N+60a336Dh9E8PQPvMf/k
/+kf/unb0295PxbffvjuC17Mzfzb/DDPvjv/0fHrD99xL5RQmqE2iygrPXtcOp/Fxzze+Yfnmfnh
u9/+6Z9/+/W///brf/zt13/97dd/+z//5b/9j3/9L5u/79vnuvnhO1n6XsIKcTZqoVqmoYL43Z+Q
DOdPJOt7RZrXIeVJQoyS+Hd/yvKqCX74The/19gPsAQHjg2dYO5D1DmmJT98p1nfm8bcsoRKi/0K
Hbvvfp+ni+/9t+//p6xNH/Mwa2p+8UX1jNYwJBB1Ht9AC85CN/CylodPZymFlE4cOR9wM2vb/qZu
9FtgG52Nm/KwfzZt5+G3hgNEwoTDMsIya1HKAnOtmpoVTE5kSTMzx5TtDn60XYmph+CFbNjXx7ss
VZ5ez7TobcJl4fKlLsaLa0WzSkjVjiHwr76XmgdtTNpHMRlGByuQJIVPC7qclq+/R5FAurk+/mUD
9zS+pWm8Lk9gGNaiVBqnbSghni+S6BX6sRRxl8kiLTlcH+WyJvk0Cq6bdD8pSdJaeTFKBX9N7iQ+
YtFTB+ZavW8zvdilYji614damVCZmCFk6KrQtp3//Fk3pSrqyFSKcXJi1WxuGsTL3VQrLdsc8+QG
fzcJpq2luVwTJwcPxHzjTRdehKdXlVk0hD3tSB7kcnyVEysrKXE45VROHeoaifRW55EUO25ZbNAR
0+pQYiYR2WJZRA8pt0tv/sZtiRx+Gbwb9F5p4ber8Qf0J4KIDKMTQydtBf+RM2f8GkIH/SIWabgV
i9LaZ6JYLc8ZLNUUbXHuRdYEEaISCf60sFDpSYHYtQ08isgUHtGRNW20wx5Qv5ewOYkqG4indiS4
s5s6F5LXrJvwBqJ7gkuzJxyvf9c5EP92Jp/mlTYN7TGRzFDTF882hKSVhedNjiAFtd2XRnHwW4CJ
HexkGjOVg6Wx51SlPGzQb1Y2IBnmi6TNLAy8GOd2+rOAylWKA6OhTA7uC+3eaMbpWJIWO1k3fBW7
+t3113zxCXg3UYHASneXTuQTyfXZaHVKL1sAeoVuR6/tMwjzj6mnp4iRdPlGl+TF0p+HwphQA+0C
KGG5KCVPx/a4njBYKXLcYczpdduV6cb7GMvPxiAyOQpgAwP+0lMn6tn7oEij6hXygc7QNJ49Sk3p
Rmr11aKbtjOKatpNGP9tbAEvvtg8Jq0kclVSQsApl19MkNo66qoIsDU9gsc+S8oHFBVnWb/KdxDS
qd9f/2YLOBOxOQ84Y2Hw1iVPXnZ40rgdVBhimoPX2ogZUhbvqtQPHRBoodOM8aeansJdS8fhHaDe
6iaFrI5mYLblrr3+IASPofDWJp/28s25DabjYAqqo0FeuMHDoXzwsRV2exondore1q3Qgmrx6wQP
O20oj1XcZ27bcahen5KXnx1Umc7RbXJtkFizlw+ik2AGZRqjrlqiRwyd1zvkKlrsakJBLUQWHFyq
v7X1vtgidAadaXIzxpE7y+K7U3aftcwt1ZGFFtKD6WH+gO6PmMkjxckocBXEoQ++MD+D6btiOrAp
g5rcg8GtQfRH2eyTJzo0il4pZVndWbqvOAYeDRsBszI7kLsw49S5EpiwmC5npy3xtxRUFeeqNnmr
Y4zwxkfw6G1S6J+ArlchPSAz2BjzxbkIbEolm3qaHDqRc0v42UKERe17JiRiuBolQk21KGDMoyO2
zK76XgyGLzkSvK5llt7eV/N0Y69ZwFbmJcLw805DTNBvNxbHsi7nwYj8A5Mr1gbTbJYftLRQUV9R
VadOlHbP9UJyQzO26BXmqdNg9XQYRaumq6dqLlAied8Wqe5UAMxv4rxooaHJjW0VfepcD97VqaKZ
MC8gHYjd/PmeTRXkhyJM4HMjGCLDou2F6tWUN7KD6HyBvFSIepK5S+vkG6lifHd97JUYBvBHWHDe
gCLWFivYwK9V6ms+U9PU7Ss4GAisAIG8LWrBt33Jj/c+B+H7QcOp/vrIL08evtCzkRerpy7GlhKo
TlD2VYyIGelZi6OfK2TjBu5nLfw55KB0g31QuN9czm+Za9D7plmYF6aGC86FdGIwTNeXpOBAISK8
9eRJ3YjAtY/6fNDF6yEuajWZwaAh2OODpBbGTeZlXyZRfdQLmG4mrBBn8DvjbgqKP5pCEPza7CZO
+gCiVF2svZZeIQB81nteKOh6sbXca6KYHfFy6vaZGGobQbT2KTWVzZCshYG1xWIb614HjG6Ijppm
UJRjL8Z0Rf8FUX5r4/qycuLMAC5uh1BVZZb34v4iCCqGlxz/AIWRmQ5jv3OyrCu5uqjpwRqndlfq
uYGOY5c5FLcCN7Jaw82QTNqY44Vz+2mHgS0CsNgEjMrt7TKqwFumOTqrolOZdYVCWqHtOoQskFOJ
ExffGfO10HbFrklbkHmZ6CHtVGZYrdXBawXbyT201AGVdEk8Xl9Xi2rS6cHAe/PdAcuagC8vHywY
WxVRFkVyOg0vsSCQj5VZvJHHSUazYcJ3CiLBMYAd5xia5+1GlKhcq2ILzBAocq8/zNrSw4kaxDds
7hXoedLqgTR1ktMbUrcn2fbdQi/CmwiXtDdBavmvvSytN4JkbemxF+uqKYrAvZaFPL3tAgPkq+Sk
EZ6rpdqZN3o6PgiNBVZjlgHJ0GfHFgdhDGi/8eH6Ky8MYU/zj5A3ADP6wJx/i/mnaMuVBEwlUuqZ
Dh9aKe7RbtH3IAnSWbUSUZKkG3bZfEfzjb66RcF+eMWPTbskpd5XKEWx7woqvzNoZZdxa9vYm9bW
q4FgDIsVMBpPehkh9JCqIfBbyYmyTNrhAYnCIM4X+1prrNfXZ2NeBRfXKLYiinyAohiMPWKx9yKg
o9dUVlmvUqx9A/ILJMVIml2JEOx+rEx9I+BenmcQeDQSM3gG6HlYi1SnZ/cfaQpIzgDiZZc0IhKC
VTYcvSrNbbmUHiw92yW15H+8/p7zlF2+58yyJDNgRsHQLy83KrZH5YSEk6OhBfbWx5RyB4LT3Iit
l5HNKCAoVUWls8fXu/xwMrhgTfU0yUEX0ng0aTXuLHTKdwFu9kcvRtuyzIP0ptC8ryZecBvb/Mtv
OY9Ork9iR061/JZtFyGKJjK3Fpx7slYNFnBs+h8StEUdv4yEjXX8cvPA8RU3WGQg5uR+CfbvJeDa
RVDLDlXfwEVKdrbmzQqybNr6oZb67lSH6sZNYu1DUnmcLxMU5PTlTULx5AonKwYVM7V/8MnanDrG
Zu16uLxcgWwNiDOCmgMNS7/98kO2mgKeO2vhfnFFcCUtN1yE0nBYwrPvD+dZ81AwAPgfW/DyxESe
AvxkyQsFRYQpalp0B6QrGlSa/ngxk4OZEtQMryWdpB1w+Va137WBmowyfhGAZfok/iXoPN8J9YYC
2Nj5f88kwlIBxSxTv5YXq2HCPbbpaKc6ZYQme11yBZVRP8KSlX9d/14reQd43flzIS1GDrmMRXkq
4wo8iYy4Zhvvey/vQCIIpJSSOcK1TgdnMi3jMUYeena4AEdVjPKuCQQx3VgVm4+y3FKForTSBgcV
1B9aBw9Sc4chUbpXGjzZTSEbnMb36QxRDPjJJFFwkL3Od1JVbcFe19YnAFOK8VRcqB8tgrjjKDPo
N0kOAmHRjRnp6M+9RnEV/K7UTXbnZ1vLZm0H4mAHPM19he198eqCLzVFQ9HMKVRcEDAdkl1Il5ED
qO2dFwvhxmGy9oI0vrFj5yQBNbmIZxPBWVrYbOoISIRHRRw8N4XxuUvb7I0WCx0XivCPESfn7AEo
LVArSmWg5V+U/0IdT0LqV/NBMvqukAvFrSwH3SHHL+gNzQmc8SSM1PXSNDcCa3VyQdVyugCqpQ90
uXrLQGlVrYhkJypkC7HZanTTXkJuK8gDl4+5tabW9kDLnGsAEmo0gF4ux+ubIVJ7gdnFsjVylbSF
Uq5lwR4rJXljD1RWviQXBjIClWkFe7F4N/C+sB2zkDVTC8ND0ZRHUHY4B1eh5aQl6HBBKkCVZkcr
kWAQF6J1X8nmB9EsBLIiMYeX0ZtvdL9XQXWLQLslHcsbrdgr0xDdoJ3pHUR0kR2sCz/MXjk3ohZI
H2RhCu6QNov3Gkrndiaa/cHLQTvVGInfNDXFIqQP+mMYBcYxlafqTgNqtBuNxrR9RWr31zexlQlH
2wlQOOhpFYmaxTWt6zK66AOhFfRp7OiFXL+hypEjg+5PGytnAdF+CuPnYy2P0RiBpsIHnOZ0tSLc
pxZqOAhZTFQs9fI4REPlWFPd7AtFUPeoF2p7uKHJPori5EgVEWXcUmkPSVPQgK86XL0RV+M5O31j
SlZinsfUaSgyKRp8mMsYREK+igs8ZZyeOL01k+l9Bff7Y0PzjP19Qkj6+idYHc8UOfS5mqnqUzfn
WanHMHwh7ucEzmo7700q9s1NjTbvvmpTZa8ChN34DqufnMokdB+yGTL+y/dDR9C0Gl2QwL1K/kM0
JsUO7LfhdvU4bKyxp813kQJTatPw4CQRxn91zqyevRtI4F5ASkJ00iptPk6Bl0ToiyvC20Hren+H
VWX4GKOL+mg14tseUSRHw/73RvFgS4ZJCQhOGuyglL9FbS1BWbTqxE4B2Ku7oEhSwqQJauW2QCd5
J3g5aNG8aFwrFjGxHaym33HFHFrY9wNdGs8rem2H5laHmhpieLMheGF8FBukLHdIxGm3IGsxLJaE
1Jxsear7x8EKq1usZ9OJPpPSvivxKexsKqbGK5w9FXWfARB8nSRorNuJL2MlmyhDZI9gSTqn1/Kk
PEhGlml7LAJbhJwtqTWhBvjYv2tG3HyyvCT+C6ymlt5E6xeHUg2tH3FcMX80+6Z/q0UyvBistX5K
5bTrbLaxal9obY6PidDIP6bcehKccDGCZ8NEE2QXYtL9M2KQ5Ttx1KR9X8r8NZSZ1FdFZhSfrDGU
3jYtuZ7dT55LPWgSXRxR8RdtdAUviRS5h6++1oZIxKOIIO7gTM2iVVw+DoWPVdhG7K/twdyNxJkg
Aw/oRWtmVh5ry5pSIx2ZmzjTfypBxLlKW0qOqceZjRmMsjHmWvyr1Oa5D3KAM8BlTPqgY81UY0wl
nfpjRuTaSPGPbj3E9Ub8rw6lUOnQyUVJqxbZkFaWnil3DUW3lq0kK8T6EGRt/hOC6tLGrrVSYgCj
y54lUXTjTmYsjjMIxxkGR53o1FZsOMh841SXBvJN4Vv3dW60r5s0zXaFaJZ7a/QlF+iwtVMp/N2O
JIg7P8SLrEyU6dhPWnPw5NY6XN/n1r41JC2gVAjKkdDM++CzvWAyayRP8CFxPITLnDGukh3Vb32X
Nw1MLC/u77vI2MrR5w1msQHNsBHo9OAKkNpYfOwebsFgdLMnmhLT7sYWQHATdaycIOuKLykAV9g5
OK99QCq5xU40HfwPXWQOH0ewp+/6MtEaO4zb/FEaGozRr8+IPH//5dOhIEeNHxocSKrF0yEE3JTQ
T0W8ycPW39UduFU7B0jXYco8mHfoI0g/xdzm1R0qFOAihCFBdlBRysSmzBf+lKGN/hdNz9J7rIYK
QMy1Kr6ahiq2uYnVnwL4aW+KCZay7ZGo/FIKtfFhQAfva4vvlb7xOisHGeR4ilvs8+x+ymKz10y2
oCwdqLEJhoH40fhzXbTqbsD/dG/V6MJen72VeJJlWkkAwWTuUdqipsY8Sx4u1nzaWlRdtETKHcxc
nyZaoD8iwAuuDNMU9/qgKyua6ikNXZk9iyNt/vNnQYzfb1dmRsNtowx96rV5vYOtb6Edp5YbQ60U
bblEUeYADUUKTqPucizDKHNEjHlBIDEJYvZ+4XomR4fRN5KtCLLnQFP3UJicuGmihDb0YrYXyjH6
2ajzYePjrpSZnm50XOpUbrvLLCWqe6vytIREETEx9hgBh440mG6LEBsMHOGzuw7pDHyE+tApNGSj
r8/7S1wIytr4ps4UP5AQkIUvJwP3Z01uAgq4SqUbX1OpDd9NiK7e1ZicHKxUU97EjUlpO06rD6YZ
t++KqaBl1RRMVaAD1G+ywdZCnVtMLY4bm+9a5LN8n+A2wBmWoTgNyBZg0Ck7QlpKh0KMHrByO6Co
FNwmfjRuHGBrt30QcTjG0PLgSyw3NTiyaKmM1FSG2isc+mUyTgZTeUBjrobWhz9sQR3JNhrFFiiF
ZFgaOVQj/Y3TbWVvBagzA8aot4A+WHwSIOupr9JCcPx5hYeohKGu1skbxbeVwFO4oXCqoRNjAIO5
/PC6kXSQtHq0lhJdepOP8ugU/ojPdNcMe5QuMicWu+oI584/tmWfbLzk2vASDQOLVEQGhrwYnk4R
7IOxVqBiUZXzJixvMqwanMhL473aJZpjoWS4i5LyPfhW4fGPh/1cWeJqBicHPPBijoMkNsSwpVIX
4mNlJ2Wi37ViZzlQ1jFy6MzxZu4KUI4cTHw5h2SvGVGyaz2ullGvQ3gqkthRQu2tWfTFxtSsbMBc
IWSOVarbJFKLDTiE4avmviI7UFE7J5hk6bEiPTkq6NfM/sYd3pjTVoVgbVC6KAAgCX9KwItNcYAN
6eEuQ9CNbltV8SulzaZ9aCjhDX5Uxt3YbDX15t+4OKSfNIIA4KOGS5n7MgAjPOQ72K5zXVaxQO5l
mE2KQ+70aVXeB0agzO3F1paVID1Mo9DZaL4M72Or+pxYEWogKN5vTPzKdgMFC9QG/5A9LMEBSQpV
BYtv2VGGsHonGHp7wGfjQ11U+kFOsT+5HoQrZ96T4A0JLLAwtIkuJyD2Z85GkuFZg5a5GxUadyQM
JHa61Zpb2/z8u5aTDV6XsgyIcgO81uVYGust8a1EcWgfN3eIutMzCZpo1w9S5Ixwiuy8r3E5qASq
1enUYAWrZxu7+VqIkZGB22SCgV4szvgQd9U6E3mGycpK1j2mH+JkfMA7pbIrKUIiPcp/uT7Fq0OC
VJpxKSyoZd0rktCOHtSBTW4KmleZ1CekMchQWb6ZowWnjcjh9NbW9WTtUCUVfwKKQpkHrHo52zk6
slUseQRSrHjHMokLNx5aHVPJcTqYZSghIpibLnoCSWB7TWTuJ4B0tt9g36GPmeXi5KO7vWKUO8Hg
A12flLUw57Rn4+PkB4uuXj5dk+BsW6eB4qijBBrEStIbo8D2ZqTC76rRYG2t9PkXLoMP0Br6NQiz
UbBYbGiEAmLusfz0FcyjFFMX0KHOIdOQFwdPKb6Fejzcxn7qvy7ivD4iy2Ltis7MHrJB623L822y
w/54fRrWlh8tBmTXaQzNna/LadCKvs24FAPHBLQ4eTLwMTyenMZQso0JX4tC8jtApga4GPDglyNh
OhGGIVg9p0TD6t5Qk5ga72QcGhWvmBLRpjtfwbTo+uutDQqSh17NjM1Sl+c7dmbww9RGdQQ1691x
8A9TU8V7C7keYBT5eyBK76+PuDah4N4MtnJ039RlUWqQuiTKqkgljzDwBCtV+t01Pluo7E0bW+cK
5oyMhV6bhtQg15TlrTxUAl+Tql6hriUqP+t+F95oonXXIjK9sxA53/WpFboBV85DZSSIy1E8vs+y
UdybWtvcqVEygdEWimNBYutmmO0B+qU2PcJlvD4ra4kOCSUIfAugHMf55ceP/Bq17BrPP6R3sQss
/c844VW3QVWVOw/u7S1Kmujk5oHkAo6TN0afqxPLpQdYFncBdn8EfxajZ7matX7uq+SSY4fPBHtu
i6HJ26GtiwPVRfFBTKP3ULXHv2N1IQ6MDCdtW7SA5vB8dqELeopdmpcwcKBRFBFN/84YhN7h4rCl
p78WdxZ8fnRqFOgBxrz9PBtKzRUfzx0ivfawOTbFLrWTQB5ds0wb9/rHfOo9vphPBPtABBvmTFy5
HCswE9gOA3XFXInqV1LRtoDT68m1BOmXwMzKhyGwottyKL/QUZPJYPAzRz9iOCSTDK6wdcVcEA9W
Xcc7OVPgELDvSkkl2jrXefBBSX/nc1wcfD0V7Tzw+p0glOrGW6xtDRimcd+EDSDC97p8ibESksmP
OnXuuw/7oEqBz2L6c1saJUqlUDZJCyppa8mupCCAVGeQFBXCGTF3OaoijG2c1T1ThxDHHU64ip16
YEYGIw+dioaqoyTqR4zV/EOeN8ldl+fSxmpYiRQ2JwS7AavQGXihlEq3y4sNIqUQ+hpAUlq8Lkzj
Uzik4f31QJFW33aWrBNphM1tvsu3pbJrDZEnq47kz0oNDU36Qhv+gv61udehtR+Mdmh3iCdz89ax
dBusTQmwtUIHV3uKKTQ6cV1aBqumgv4WPb4zZI74CBBH2Rlebtqd1vc3RJ+5C4wy3OtqLNznDeX7
NNQs0H6Wd5uGvrKR/q0/zhxzCCQCG1oeuHk6BkIYc2cO8h7/lcaA3YGKuN3LjYZCvFLYMIinvULG
5vbUXI+JolS7wrSs3cjZuvGFVrIgMAaoZKqcITzPHCvPdo1QmhCBFEXVwYeuvZswDrqbxhwTPKGr
XFxjN8BZa6EHCGVuRUENgMBwOVweJJrm+ynHMZ1T25SF+BgFFldKagAbE706FG22uduGfe8yz659
Y8S3sFKdCmFNJM4Ctl4Nv8ChFLZU5uanXmyHTxTB34eaJ/nZJGLXOdIfYkFFGHHbaNKKrlxj2bKx
mOYN6cUwc0XmCfQiLkm7BkZztdmTqo3Z2HzWKQTtQPygAwMk8IjhLrukJGVH0Veyg6mMA8IelJrD
FrRl3STBwWzjaGs7m5PWF89E3Bg01amEL7lDAQaL5TAfcDrdIoC/IAcDBS/NWq7KvYxt75fQG1W7
mbLpoYeGcwyqOjhEfbOl07oWyNTzIWOwzbC8Fru5hqyhUeXzsooKTGMxzXzgRp3YegZKJA9ibSud
nzfqF29OqVIjoZfILBcDFormaeUAuagQH1XkKHFEHn72hV47tGNk0ndIsX8utRjuuh+VD30VWPtw
qOOPQdUHG8tq9eVnFx0L4UzaEYvuDPbmWjLlNQE4teHO8vTpUCO66JS1ke+1YLaNuB6LK2cnbSBG
mgkE8036MuIx7tOSpiy5xFaBaGe9Htp1McU7Ic8/UR2MnCboyo0x1xb0EwAbaWWW9JI4IIxdXtR5
pzgi5ixw9TGzhlha7Yyw3Dqln86l5ceF5sQOzWqlFLrYFpF1Ql1HqgAZUgV2RVhHtITrwWX/qmw8
dWtHz6lRW3Fj4S9Cvpq0Kf7ksSfsK0EsHQracMZjybjVmqI4ZlmZ3psqBEiT9hBu95ng0JRPEEeQ
s5s+0EYb1VhlN6pJfii1NNjh3IVOIha/rxOolPsgzGSwKsZWkW0lMUZgdSZhz13SF3eySTVRVEF3
GcBjGjroploOcq84xFFgcoqkocwcB+OxalESuh5BayFLLg4V1aQJwf58GUHQliwTVQsVYKlRH9oC
jTtfR7a9lSOP24ko/h1LBKnAWTBQm5vBi/HiTjdCWS3ZH2pjRKhl0G0598F3Fp5k56GibxSW12b2
+XiLJakU4qQFwKmhH7WD3XSVgvZucA8YB98l9KRetRVSKLk0Vq+uT+zKTYvCpTQLsBvQkJY3XpzD
aJOJADDAB8d/MbXMvI1GMlpzGvsPtGvjh5Ro2oWl4e/7yNrCdK11iiFAU7afxXtf8q3xJRLSmJuD
M6GnY4teHn7ySMNv88QajkFm9jtks5qbdFCxUVAb+aaETfE5HIGdGVl1b6G/QqG/NnZ9XyWvujDO
Nr7M6hPOLFvuShT9mabL0IukiJgfS1wvVVCEepd9VYaSi5Kh1YdyBsAXhomI8oijfI6hxN5s6D1A
rkYxXdYrux+N6KEvC+WV6Ou125Fov7v+CddaMBjhcV2lFciDLnGOUi2UksGoNFeEMLOHKVHdPJW/
hpMy7nuE4RzAH+aPCfp3ewXZYBsd4uS16AWVe/1J1oIJwidC8Wj4slgX+6CGE3szaDDDVBQhbZRM
YwxbY/WIQJR/q7e6fmg79dNEBrkPR4zE/o4t//nwi8QqDbRq9C1AdMNQqzgGxCnEFoqYNrnlh+tv
+gQ2XG758IOe9gYRz8tFeS7sIlCSQQ4wK/Zlp5fH1G17EcK1quVHHJPB2KOWdy8XE1rFZTQefNzB
joXJqTdknvaW28zXVI7e4f+t3oLVxOxEGoyfyAuB62aC9ooW0PhZSPRZSkf3dmiC1rbcx8190E7S
JxHfIRc/zoQk0iCZ0OL8MFgdqB3Zz+49uqN7xBLMfZmlyr1GK/pWa2W8JRO5dTEL7nfXp2MhvvIE
p2MSsRahmECHagl8ZS7UTGrBSnJYtW+CALIvxD0DCLDv7RAFUO6R6jRusc0qH6Juwv4qKPq7KWz0
Xaio0+vciDqX9hJ6m6VhOG3RIjHX6/Jrvy2yg6JHGcs8Gr9NMZBarTO2GitzZC4/JyQQ7FXJiwAd
L26e1KJQYk9NCX9ZHn1Mg+oA3jo+0PKoNo6Web94MRS9YzjSwBwhSV/uJ5oadmbb0UXDDC7e0+MJ
bSFq01cFlXzbGNrMGeHrbkj4rL7fyS6TFzSWxAykClJJbenSaEbS7pVOSz/2vfFZAi62cUVcGwnY
xfxN1ZU7vJQaXKAERqqqvjmCWb/1rE5+jA1lKydYHWmW6iYlgPexvOBAdinh6bIx901SHOU0y12Y
XJ4rG72wEd+rQyHLjgYNlVr2tstvNmEMqACk45upOfA7jCj3Rk0KFAZmuXFTWAkPODr0WGFDQA3T
F8dNOmpUOT3aIFXtN8fGV/yDJuXopVkj3OuYhuoobLa6Vt4PATPooBqLH9rOMvzV2jezwpIdHTVZ
t0DwDjSWNthYJW6VdteqgTR3LMRz+EeizXQ5lzUiI5aH+ZPTWVV2GHVAlSHYEVcMRP1BCJXKHeCD
7/Gr7H9G6bC0A3PWKjCD2IGqUh+EJKcIbPnAGZEKcTi1tf1UCua90fniW7yNZaDRSv6tkBuqE4mX
Hegb+YewLn6+vumtZQbgYWjN0f5U0dWeZ/XZRV4q5PCEtIB1lN8gsNYhwVj791VS+bedV5Adt1Fm
G6jm7ct4HA/6IMb3apLmCGJGqSP2UeNUaa881F2m24Kl5x+vP+Icl4u9BuN3Ktmg1zH1sRaVbCpZ
0ky0BVY+AqFWjaG6jQLR++NL/tkoLxYi3uhRL+asjjYPhNsgSKKdir7ATRzg53z9hVYyDOKGhvOs
ZEHELq7R+I2HWsN9HsiDBv/biLtDXbYFGCDDckO04d+Qz0ZvrUwpjuBx043FubJOqKbQdwb8MOMM
FrErtiNxPSKCMFRVyOuG0S1OEV+EvqoP1190dSTScjSj6LehKbWIrUYBQzKjeILcz9/litEfqjag
cK4o/WlO/5Ck2OviW/auqb59ax4+F/8fyIHRE302nyvyX//5Sfjr3//2Kzpg/+658NfT3zwJfUny
9xBYqGtTacZGmurEX4W+5O/p8nJtnLuPM6GRz3MW+lKV77l/QFSjKA+Dmf//q9AXf0SNnBIAlxkg
jZx/f0Toa2F4jGIYGmfsxRKkTWr/L7DBTQR1TO9VDDeNcbIzfcAFxqROp6EbQRmhtg5yoLieFHWv
hU47SGV4VKOm2Ity/B6Ve3T9+3damHW2NgTlfZVrHxVWj62kY+sKZp24gYWqM5rI1VFH3hhLdw/9
aYiv+4Dy7s4QvG+JDKFE7pRoV+gSxVDR+ItRhDbekOmNaWU/Gn5SON1gDrbeSu86XbwRDL+wqZlS
90j5Ga3+VOCDl5U/t7mPnmajp/RWvfcowp/Sqj8Uxe//LzTvLqT0/ncKe/8PCuPNTN5/+F1PbmUh
/Kd5CfzTf/3t1//wfBXMf+usdmd9T4BBgsaOQZxjjoX1N7U7gpiApuEFpPX5IpC+nw0ciE8AG2A1
ZhzSWe1OUb+HigIfDbUvmn10Mf/IIli2hFhfujkL64F8J2tAXu9yH+yTLsyE2coKRbD81hv06bUl
lsHNTKlwYSS1rxAW7d7ABxAOiOGFN2GXaxslgMVe/PQMXPy5z848HOSbLp9h0MNeAV/l71AukG7y
SSxfGZJQ3RWjajrPvs7j6Wh+Lre3OLCfhppxVPAHKZODJF4MlQq11okWno4tggeQDvrKRo96sxKv
Llpt6GnhmYTYFbc2CS7AkkyHfaQJpYh3ygdPc9spH26o12PrkjSd/qo30khFxrbEvarMkBrbiWOq
C8fSaMcvmjZGD9XYa4jUZiUdSL0qSgpGuvU+HqVBuumRrpV2Zd8ok+3nszxZ43U1jE+D1r0rCqWl
Q0lVQnR9Yr34NODyCDbQyEJ3SCTcLf2y6b9CNTGgQfQ+vIsorvNdYBqhaMvjoI0uCgYe/X9fL+7Q
e1Unyqhp5O3aHggcfXPMwm6NUKi3ctcXX4czn7onJZr/RdmZLcepZFH0i4hgHl6hqjQPliXL8gth
eWBMhiSBhK/vhfvlquRQhV86boTdpoAk8wz7rL3BHLEIOno7DnN0gYGsO8/0D7/X2SGdjOpEjHEs
hMIO0uRr3KaUSREp0G+/4j9hZd+PMw6uwKmDbLDOjcydr5ZUu/TzrPAJAxe5twxvUXFotOV5lFnW
HeCGLCmkQOloqXEn6CYnKkRtPIPKO4U4OSrF8vOo/lIqdBGg0g4+VkfgcazquuPn4agR4hjiVyZh
rzkd+l6CP69L4/Hjb+IPUfc/Uex2RXc7BrcHsulyjrITLbRXOCm+1XY7FU+WqELaRuYqzjPqWj+y
yu04Ht1JPAd23lFBCKfxNaSLWewt3F+mJJi9/NJWUSoOUyV8L6mla5TIZLvle5iudn7W2TibxeYw
MMJvdl1/qsz5l2cGfGZjrwFGQLF+9FmPa1OqCmMjfrZ4WmWtzgqXOsOo3BtmWX9+/LyOtyseF5k+
+hE2YEox5tH6MbDHqlcnMGIXId0NY1XumcBa6q4xUudE5P8nDD16NdGWXxASOYiLjvGgkLgrwx+N
NG6mwmyZPu6iAgO9yN97uGAs5z0uaWOcRtawTaK52a/Vg+CnswWXENF0lhebdWb2BxxhS1RueV49
DZEO7v0yyL3Eq3rHjk01AU4z3drJd/gl1beZMMMxUR6i38QNRKGTuZim+xZxqxtPjs7r/WTbykiW
FHk9qib86mIcY+x75eJTfscf+p/mdfFetYezfewqqsltI40+FtnARqX8doUzWeTm7cAiyc+nvM/n
ExH+kekUhUre06YiR/CDzODde8KUAus5X/Ke8jbtE8vucCQKbcAgcagn76nBjfBrJiicx+ug/DOK
Gx2YCWThdzJayp+6HrwmLkZHvso2Sr8OSHHvcSz17wMffXjslXNlH2Suoi/gjCsV41lXff94rR3P
0f65CVbAZgi5CQKOFQGqlhW6c9wSINqX4uAtzXTl0N4GMjBAcm/yoI6hJIVnyoM3P7hk+7VnyL30
+zRZp6ak65lN/iVR9fjk+IA6GLnuy52AJX5qdH1b+MeLlTwQi7Ot1QHV9u3GmoaSfWbbWMvKmfGp
TuvEG4Jy//EjIZI6ugrjONCE4LvQ5mWq9e1VOnpF2BgDj8YsPUgaM9DXhOY5wp2ulfugmgVDXpnD
H4W+vP/42u/CJd4HwRfx2gZgIes/2mgGuUxTXncZWKd8ee19p9h5ebfcuggantpsBMzNJK/F8Vsz
omQ4hqaPZ3rjid/xfr/bsmRwOghYffqh25//5wgLMHgxRpcwxshX2pFD2V97iMRjd2mYozQb6x/H
vbjtDX9BBzZAhg6f+fhkXkHjO+YAWwMLvV2ztP456GIZt3qwYq0CceJMer+UtuvRjdwmKUEw2G9v
ULFs8nFRWTLX/bTrrKlJBsK5E9WOv16FMJCCICOKBBxvr1JrbLDqmbvKZeSeg9NgKp06z4nw9q9X
ATkE2Y/AAAnM26vMYROES8S9RFGP8M6o+p1hcqmPl+bfroKMaasy4jCI5uLtVUTKFj1R00gqOCg7
t2fkF+hAfeLj++tVqNFuQEdYCn/kVP9ZeB5iIUr5bEdBNzLz4SmnPp8ZMn74+Gbef+N0fMhHKAFs
qvzjUWHT1oXnC17MXM3zoXW0c+j4q2dVWfkXfNZ4B5bumIDKcE7c4LEgjIUO0ARhOAc7/A16Fm+f
Y6dnp5cpmxi0NmdvqrV9VL0xHmp4kvsWi1UG2RUYWTU2h9H9AcnhkSAoZeK8OAXM3fbLt/sp42/U
XP0tbUQSvv35fx+2tocid5GQ8LC775iaBPHiuN155C76BNrpz1J/ey2SlW3AC5A6AdRxhRpap9Sm
K1Ka72v0ha8dECZiBKadyBxcN/GbYg6Y+zLpdMkKFHRYl+m1cNrUIU8Y8y+dmoP0TvCvPGh3FNgp
IW8zDmLMq3oHa21lU6QfJQBWDRRt3WmZNupGlQ7xMOohiy1pTioZ3ZbnWJeRj8+AdM7dEHbAic/+
/XPdcCPQ8ZDKEBYca3O17PJ5SUFtZhNhdZM5VmJkajxfHaonHy/k9xs14cM250E7iimXY1kS2UIN
cAMSsSE689cMWf3awLp4p+zod9s36kTM8/7ONoozbufb8Bpr52jFRJ4Qzjpv4ONlDePS6HQTK1Va
sQHi8yS+e9u43q4Zbop8nTMYER2ilbfrE2Pr1K2GMo2haKxxZwbNJWOZ3SUei+khhXkIAsoJvog6
tB/GIZIXplMx/mx51cXHT/n9dkGng7b4Zk/Boz7OGxGNFpPbs3iDaeme0e4MZ4VmniDuJRiReHTS
9aKuTW9vFcI7EaK/f+Tbvs6UGnv7X3LWanEtIUYeOebgblKu5PVDgYw+N/SpB368+W7tMZSNnMIw
h8EtHW3xYyryaqCXmYhy/IE5lLFLg5NU4z9H+X/fKokG2gI2d5LQbZbhaA2VldfaokUD3a1iymMj
iNKzBUKLEU+L1ogbcGx0zqd6MYsLw29mIh6nMZadnrTl7bIyjIrEVYhtEs3rHpNONv01mMWoi3PM
dIJPbAbeuGu82jMT1RjF84R3dBavEvz8fTb2FSSeVlAG/XiRHL8o7osUF6kRgvyIT/IohEGe01k9
xPGkDNbqNlvL6bDo3LieHO8UlP/9i0LnyrgiyTuNFCRrbz+M0nW7TKwGrJVBqHNtGMjSJuuU6u9d
gsNiB2uBbJejeMsRjt7UklPDGWupEg/Nzouuc6AHlJ2MknTPm++A5YswMaNp/KywzGU/nwy2grzO
h69iUOMct46CDmL7hW3iIdoaMjHyQtUgM2fh7YxGIOrrxlQ68exgSYNhY6awOFrL9FR8+S6w5l4o
PFA0QLe69ZyPItpoLtTal6VMVF0+Wkw9fx/m0SegLYJLd2Aat9We/aBxIXhMETNe+3bnnBAOvH9r
fGAcs0w9kr2QOL59a6OocYxF8Z3M6VTj55R27BfrPw5Sg2TFqWG7Q17bdqGjjzibFE45baMSC+BW
3OGNcIGlwClb8T9FrLdfMSPU6ESQjmzg4+NGXq7aomCUTCUi0KmMs3AellgFlfzsTq5+CeZhupOh
Hh66oNC3TVnpp077Dl2wLuogSqAKKKiAEQjF7P14oMCZ686mujN/99Mqb9I1rf1DVa9mdpDlJL6l
cpo1IEq7WFA6I5hJICsET9SvJ2wRu7RDn2U2UTzJPr3BFkM9t3WTFfGcLvWQZIPWN2uFEWdS6MUH
jzFP9Qt+QVpdeNrUIkmbfnoVnbP+qFtdtLE1uj5mt1PUPCG8ahhpEEF7Yss4Vn5tL8uPgm34OOB/
reOp92qdSHwsLRNCsfm5D0T0eyyC+ryA9fKI5VK1k3iL6H1URPkrE4I58+J20MfRiKnfqR+zbVBv
X+kfgg1H+5Z/Eqy9XZ84pkVr2Xg6ceyHKo0TtSH2EmLxk8yB7eB+e6VN6cYhwHdAmnk8BNwtwSQy
o6ayF7XeeL263iqQbntUZgeZB1Uy5/DgEhm4zbLv7NEvd/4oAvveHDP78eNt+w83582PYR8F60I2
sLFqkVK+vW095Cl+GHaT2HPazDgO07FgvcxRFOMkN/4eAm/QTGx6tMoKs7CvaF9YVLxcqiIcQWbx
ZXNNcTifjfHE2f9+ffDbHMpMWxy0CUqOdi2w4rPVG1WbZAz0jgdrKdK9ZnTjN65qbY0rYYRWsa3M
NjqsQGaYsZhCNe5dKzWuujlCp/3xw/p/hPfmadHI5JRztmULMfV4sm8UowX9UdTJapcDHZx09Sge
RvVqHXSNjeieDCL85DQpdiouh8VLqRo4NCBUjBdRLOaTgjj1jF9A+RlvCbQiUVM/1SPmmFBfx/nZ
Mgf9SJ0qfUw9F4qcIxfrxq5zp42JqLkh7TrGo5uCj79vh2qBLSUMv+VIccrwEjc97wZwqPOtKizj
t3Bk3SeT7Y01TgBp+gXLOc3mA7+KySAV/SB6DjuOJoxNNxybCxZPtI6ThFEeQOIjXqLrEYnylZAm
vExpjqDus1uLSJAq2K/C7ufPa6ncdO+aGaCCuffaLnbYVb7OeDOuhybIm2+9x25DXdrKcYY1a6rd
CEuD6WD1i/ejD6KaDQwvvhE9vy/9Q+MtG4SjjZizUG2ozWTwhJqv9QRb+iJEYfTNy2cI056fN19c
OhjsU5lvYqrLGF0fT/Y8F3E5qbQ7wzkzLM/LHplirKdKRrB/qBfsUhBHTwOzocZZUZbdw+i08ikd
s76KV/pzkmHChYACh+TqttKF+uJwiNAqDocKYc6svoX5Ul636ZDPSWbiNr/zxdr8MLXf7BEJiuXC
zfBGY6Nq/WEny818wmkinfQtVqC9Ao6WyAJXbaM0WMLOlDGmA9aH7kfV1FMa20MdFkAp2tWICReC
19Zb9adlTqNPXjDO8z5c2PmpEI/jd2WxfhBXlwAiHCXr78JrOkAy5breNJUY1jOENOqWglLzNZ/9
8rnv2mpMskVajFqN9OwOaNdt8n0k6XncOJSVr9q8LxPmolNx00oRaUSptj9SwE6nLF5GIW4j0Q8h
ClWH6AE44yhvx5Hm/K6u6oxIZ8F/A7me0sAGw75XuJcP3Krpr5G1t9s+h+TlRJwsTEgGv9qVGSzc
321mD9qmkhrIEoLbJHUpvt8FzsJYfOjgJH7GiDiiUr1s9tleLyuVLHQHdn1VWjTqJq+w4sBUrhtX
cLGng11b9oXQkdweXrPuW2XBEMPNeQ1icynmauc2w3BltJHbH9ByB/qgRaoeu8KY6NjAKv7ayk4h
0F7X6ZtIaxkmPnyk/DD6QXozp2RM1+la5k8TTB35ZZzMxUg8p5tL4HnuOCT4pmQZ4JywGSErdeiX
8X6P/CSvLKodk8ZN9Ipad/dUMIlnJtZkMxUnVrv7VAc56Tsx2vJLT2FwVXWDXZ9h6z09VqKRQ2J0
hPr8HNG8qMnKs1jpYLjOwrAjPMC7/sIqvOClzvLxq+5CR8dbDGbSySgVH7alPBEHa1Q9jiYG2lfV
4isbuE/YXE9zF+VndUUsmhQle2+8uBu8Tg2mPezgAOoXZsyWJYZWstwX2jW72Azk6MIPrG3z0jZr
oa7MLPPouZajc2h16JQQEKrmobDDtL2YO0P7uJQ1kXMVNVHQMsQbTgTYkvybUR4VneH6DeZW6Lqb
DwN+3mOS984kd7QR2pul1nRINJp+IJ8D8yi7okyZsrUyKzhsU1GwesMl/6mzfs32DZanuOT2waWP
DfS1Da+NdWOk3Su51eakiK7gvs4mNG90fAiTq1DYP7Kc8erE6TCQ3DWSyCS26M7czLUf7pdq0k7C
NlFGe6fLG02ns2GYgwGPvLswc8WghQon0Z2bpiielLLdfOc1ghZPkIKISNjC5yqGLQd/bIo0RJpF
FNjDIS00UaCrqukPbiRhqoGXdugtd+Pws4jMrE1se3ZkPAhfmee6r8x+3zte8xCs/fKrboICdadS
zldXLXnPbK/D4TEPRQTDWduR2Fc+cL66leu0E2JpTXbGoBmZWiumajcOlbveN6HMX8GHhPM1GBEx
nqvQZETYU4Ba4iIidY1LsuR0V45mu0GDQhXnY7H+Xlt//qxtg0TWzjwmTrRPh8rCvy0zwrOpHPvP
q1kCcQQVTyXKi5d0ugrkQC1BmLdCF3sUOK9GF7wKzzhrMjpGjEvvBJ97bPh637lGjD/TY1ME9xrj
lHBizdCfjNfmrui7F4yaL8ga93NV/TKLjS7jXniTmYS0mVvPv003QxQV1WgxxU6wlkMP3oyvo7Mg
9z+XvXjGiDZxu+EKIlr5uS2L23mZrjy/fi0DK/Zke4N8vR0fIVdgqvLDUgojpuDC5V8YloJp+3yP
LTJKdb1h28JqV7gSwPGAU8LqSC/OFbcRZ4y+fstyTq6mo3LdpebdiGGgAHybjw9pExB7U6LQ5/Qa
rqik8nednn3Ns7K4Hkxxn6WB3pk9nKpgeBwncTAzPoxRtDcp2CYvyHlLQfDJ1fWFwtODOxTo5+Qz
8cbjYFTUF1U+fzObQJ6bS3DWLus3P/f2PcbAme1d8f4fHFs8eUZ77hXTsvk7gT3KPpUYAnvVU5jd
OJ6QuxE5biw46aBZOGrfzb+rPrsMiN5TEU20I9WT1WU3bm53cann9cxZ84uBaS+6k/NnMVhn82RY
cecGF9J0ngAVf7ckMFFle7uacQBmWg8pTZ6YZAZ7C+erNux7K6f2ltOdMVvzs11gAx2l0BhDj/q1
sQu4TcSoq32m2vyzk49xjl3fzpiyMgaytu+NOuNn3PvC+zpZ87PRf3VmfH+N8kep6p8w0ESsh+bG
LvV1VlYg4XLiIXGX1sxu42l0UWaW8y0sePEb69MxZn1p5c0uS5cr6HEJzunMU5g/WxYQEMj1Z+F8
m+nRz95yN2fec833FI84Na3IzbLR6x9mRHoTBS2/zfjW570Ztj9dqzpf9ASxFP103yN7y0qKBUq+
2MbQ7uiH3teFPG89VkWZmYm5jq98+HdtuNQX7YKWfAzY4vpWP4xy7uPUUT+qsZrGGKwpvVRLSIIk
vRnwts3NrDrzmsnh4MDBHD7nLB33wpy9G2QU5+EynJupds7DTl5XDDqKILzuPbeNFe5Wce0Yt35Z
rRzYDm3UQp+nxDFn+VD9JO3Nk1XIX6UtHufQeglkrpNh+D5NvtExQ9kF5sWcabItT7lmmjRtm15X
wtNfMP8yvtmoQ5gyqTNG2KwATplJDJIBrS1RB9RWFn2Kws4uY7ATqPMXAqxop4alf9BYUkcXg8rt
NjHNZQkSHAcsPMHwky1i/H0LJ6lw1/5arsLCoiVfima3KZ6HROZTdRuEvW/hGEDxDCsrzpbBzlp+
XuD6v6I59cOdU7bzlGDrYp6pkrHJZO0YQnMHq7iDN1zAmOSryOMcvU2QjOEmQYrYDV41Pe1X08T5
OVawvdx9KKaFQn1bSsLNzppB8jS5ZSQzjMqJzEL0l4sZpsveXCWoQsq+M3tkWLVOzF1b34XpNp96
O9cPrj/jk11lOYV/1ZRyTqy6SlNkIesc7noZhj/zscy/KXdKWbtO238KJj6uHayisEhkWM1sX8rw
krlzFogB1IUuIf31A6tnbepdt5SEjVWuZInkfU1b4uMKMftQ15RAXNn3ItEcLg8hkyAr52CemEY0
7NeqmK0Yn3qj2429PyH9mUevSCxXE4Z42pI/usHV/BUR+g+Rx9BPjNLBx6WV40TH3dJWNbXnzloO
+dwh6RSIYX8vqesIPjU5eXHW15OLjAcC7s6ZHQ+bq2Amup3tSizsuXU5XfXBihxssSbnwalRe9z2
bLBVYhKjBXvaUtlVVMoCNIM5DyKejNH7XTKRRoemH7Nndwo9B9Jwnb9agD+6vV8p+cVQ1nSNljXb
1AnjQvsxHXtuex1MFQ/2UN4EoeBo90tlyLjKgjVPAJSvbTJ7c9Yze9cL1k7UDfcrTcx+X2hrfapL
BFE7dBfpl6AfmlfPKGwb+FljfbfTPOI/R7O7cymL31SLY4kLMa2CsMypEQcV/dbYA40blQeCzSm7
bHuGL3bhmEUjK7RHl0AB17xGsavCc0oelUwyPyoeqtkSV0Zft89B1U234CO5+cVQPGX6kMZWTZ7n
MB5aM6wRehibSA637C9e2xCdj1Vqf2Pzhm2fWisnO1NChG+uN8JycOswbeI+7bKLUkzF10yDotjh
AQ8PIhQ+UjptO+Or6Wb4t8vS4cN2a4wG7ZJBn6puy7ist+4uWhvGOuqUrxFIdBN+LSOEOvG6hDDU
8EmZLwbHqrcIyRRXTGcVZuJQyIL2X6bFJyMbxohRZKzaEduP5V3qz9Ear+XiO+feKqdb6Ygwi2fZ
zK/kGQV6FmdVYNSnqr2xgj7vkR8b+WvH/+GrXzkBQxB9aDN6TqudUrxoQ2KIgcHegKet7q20br6v
UU2zbxoN+3vrp+0NMqTRSqLJoJ5mEHj/MAicPxUWBOW4CYQVnkHlZk5GpiGVMcLObtylpY3VfDiT
ih3UOlpBLF2oagcm0DeyGdKaYd+tk+edZx3yxXvH7WS3C+Z1/EFxBjeSELzWZ7C1zT3/7PRSW8zi
xhVypM95RJjL3Ng4VnE49Oq31TfpQ9+Ww4uSvpXtl2Hbm0qKBiRBnZszSkwaOt2Us8rPpWzy+pCZ
G1BVtkz6xn5a0daIooKyx7IMS7cD4mDouLRXVe4ZRimerSyvn1Pcj9k1AASx5XWVpI/lizswNcAF
FOtFxUaXdZjoUioI4k6scokdJebrgsliYFoLMvYER/O+SpxM871MhAEXYUZSQyrRNeii+tX8OcN8
DHaTZ8rntnNbRc2tDszE98f8cq3SBqauMatwBxOVn5MZGuZuZQv/TATeVTkI6idyKnMkWo1xxZSz
QX/DC29qcyxA7kfW+KPQU9PEDbKWOmYJDld4MXplXI8GmPI+LfnApdPCMoSTpX+EzcLeHzZzSmQL
IO4LEa0Bl8ZNibIyTDw5VXIvv1+WJnvMTH94agdgmEg2xezuqViwJvpScXBHmnrHTkGYUoecaTIn
mS0dXbDmKvTsQndeLOdqGaCBYJZw5rWheWkplKGgTgNrxso4D4fdvEbZfR4swHdtXMPoQqlqieJh
8shFhqidwnh1DXWF7MGBDCxIRnZdPgU3plsa2d6y+uClb/wmjVFCm98X9jP7MHXSfBl9uf6yl6l7
TbPUHS5W3Qc3CpBmEDuMVX5a8iKyz+pFqs8GkUSPbVTBEkul3zEW6gZMSJFEbxUuxyx/WfVosRjy
vlh280D1KWaUc3yt2bhK/DXbpdi5uo+K3ZABuyKeGNUZ2ExpJvOwjsM+9Md12VNG7WScGnCNObya
8hPlANe8XDi6JJ9ytjITHWCjUA1udqeoebf70EwJbnKIPsYe9/faY11xfoEhz7J7T3YsBn+gJhpX
UeEUSYlHnh2Pxrq2cS6t+qtQo/fTMjlkOJ9Gm5jZ6TjBgR2w54EkPnNXv/1WVpFw9oGeRLLUxtqf
j2KpflB/9G8cXanbdvBZUxUxsU+hUc7fw7nCBpdxYeIhpiM3PYBriH+U1nDE0DKC64ZYaOtBHzXa
7HK12rQsqiRiKulKi1nfkByf0Ea86wtxEciJjCTRrMBKYfvz/8gwLOboekK3MiH1LPay5kFVos1P
9LDfyZLBLjggCjwaDcwEhMfSGttwckmpp0tkmXU3i+UHnASD+9xoKlF2XltXHa5+d05DWZtae7M3
avFoj5o6AdHxZY9MbDNwJ9VzCao+riu/653++W0+VBlm8UCXH4lidNOG2PR1XbJs5Su7kfnBa9OH
Jiz1/uMrHUP0NvoEw3RwMe2QuQnAoG+fNgqJ0pZp1rF9MHeK74oMfketS+SCCxjikandeVuA15a+
OvgMQiZqrLIXWEkmRHSANPEUKNgAmQMzVlfNZYjTS+KVFB1aaadPJ37ududv6u38XNJalORQwrcm
7Nufq+mF11aNV7bhYrxWlD1d0iAaDpB47IuxyOUhr40CSx1pXvr8+D3BxHiJP/FzJLJoVxG+PFCi
ykhsHPMmHDLbAZfjbjBfDH5qbfXJx7/4L6sZVTmrh9FKeuHHglKiwsawFnQ4rhH1v4amjl7zzjqF
8P7LVcDC4GCIGSiApGP9nulI0ZXFUCdKpcU1hV21Y0RhOnx8L+874LTxKbdtgyt0xXDifPv0STyi
NijaJgkru4m70I4O6InlT0/YNh2QPALWiSMpWBw21a71b3q91d5x2HCrGK2scfD1lO2wedq8fxXu
nQC41iuKfsC8a0gogw69z66/zPuM4HX38c9//1Xx6z0Gb5DqMP1zvNSL1h7CxsQUdC6IHXhfBuVK
1IGDN/yrQH77qkj+wCmYiJ4ArL59UN1cW7OamfLo1jY4tEWWJVnU8j3b/g/8Kk4ZZ/2lMQbXF40V
k0WoRWG4v73eaBok8xa2Y76XTrclh/O+daHmoyuQF0hzvEM/rubDHNgYXDKevHOCSZ7Roxb3Hz/j
YwEWN448gokSpnMR6x9rZkxrETqgVg2ba1S/jBKG/hrOzcGnxkbZvfH/UYHF9TZCCA3BbZQJzuTb
G9cpxk9yIX+KRtnc+e7QfBX+FFzPblWeOJfeLx8EubxUjo3t1R6rTEIjp64wU5imjN26MSIOTMjB
e7lxU0TRiU/t/QdNQstjNDcXcfi0RwuILEk7DgcTYzAMS4USaBzO8vmJq/xRVx5tp0y2sUI5AnD2
O264t9VchqVToJzRKvWSJvLS5xCZGdSBqYH9NFaONSYcInq4t6BrAar0EIYASzeQGQaVNogBu6m/
tVdq5bFkHOXOXkL/cRrKwSD2F+sY033IvqyTeRLT8Zc3wtgXk8t8bMzRHKukja4oKF7kHdKH1dvZ
Whu3RWPBC7FG/8u/rmv+eVhYDhEDswHHlIt+SqW1hKtIurmaznNZrRcG3o4XvUM/snK6f+Qz80Tp
Jm/R1sb/xwzjSHxQpm3ajeSA4OYX72wesxEOji/3ZiTCO3wrTsJm3h+sHscG3XWCLoRB7tEOMilr
DqyBc6pGm00WYKefSzvsbwJpBWfVUFFWGzP1ebHClbopnsunevvvhXA+Qh10fRhasxgZUHz7Kbtk
4AoxrEh81YifeWlFV2XbRJSGe8ODIbtUs4EMVks7HprK/CmjzB2uRRdmOnb4DPMEuKLGRM/owmff
KvGkCFKJOVUPw6Mnbm9Tg7xxsaiqly4tglTW+Y+gyNEJDEXjdvsWJrZ/QbvT3Jyk+urFIZgIYreo
Fn1TAWoPE7r1LiXWopMajqZiUjiIShPCS9UZBVpwrW5yFUBrBUgYfLYgh+UJKjhf8BMb27zilW8J
KoolL1a2SY0QsUP2ZRwj+/c6pxTUy9x9Hoq+mOJ0LIffQ7MOr4KLjOfIQrTeNRVzjQmeX/4vJjet
MgZzqvudSxIcPU9StagigWniVGtu8/a6GdOe1vhcvCi76V+ofqj7jKQQjybPV1/yUVGUXdqyQypM
yc8+tAPisOsVE5uSno3L3BIBl5Xv0sZTUVLXbv1VFhUy1FZiiEBti5T7fKa6bDCul49GUqwTlC+Y
nT9doIQP2YIEbN9ZzfqiS/T+sQEP0TqYy0xB1A6GPmUucioomJNNxktI6zteGMF8xqVjfrLddjJo
BJf0HPvJt/pdgJRhimeUMlkstRE2cW0MNa+jKaxbt27QhCzNqrMdknHQDXikNp8r6mHU/ShSXnN3
5e+im6gDqkVMxn7Av/u3MQo8CkctqZVmOn8sM2eF0D5DBC2mesADRNJOlRhF0lSNelfGYxPUr9YQ
rEmhvOnx4+3m/fYPtfMPF8LeuDrHUvRe20UkipyBHk8Pe1r79t6fmR37+CrHmCN2GGJFwjhEUpub
8rGnehZNAjUHPV04RnI3GH71feH5SCCwQDVJx4u9Wutur40UA+2+kLsJ4S8KS6wDKBMGVyXGUzeK
UCvpaKQWsTVk5jUjcEgjZNTtlJDqkkQdIxWj7Xdiolzy8S28jzcQA6MU2wKfzdHqaNvq0qZz+cpE
IooGyNRcZrvG7uVl5pi0YByWzsfXezevwMbMvBVXZKVy2Y3b8N/sdM5aMw9dQjlrZzys597X+iDO
0vP1d305K1q2J17RX05orscCYDoH7h//9fZ6bdlMoz3iwrz7dvHw6+Hi4izeJ+dzvPs0xycCnPeL
7u2ljmIOumfCxPwRGvPwrFv6ItGpSYCNQHGUvr29xNHTWzJ2UXO7m6vD44FbOTs7+/356tOJG/nL
ut4ug7aVYX4MB9yj/LmdzQzBLZfp98OTvu6T5X46967qAy58SZsMO32G2uSCRn+2W++NQ/Ty8Sp5
H5hwbebLycX4Ce9m5ijNSIa7O4TZFCJjnU7hBd9Sd5BqDU/c6/uX9v9LQPkngHs3+N6lo2PIXhXM
z9jZ84AYm6A/+tdBBzaKzRCGdN7fxg2PRw3tXtCjXWRBnFjUj33WeA+LW9LPrPJTMuv30mSuFeKb
EfH4mLc7HuVf/Vm7i9cXCcLU8RKsXpbIiXZGjwSlpvVkZt9qAUW+ZBLkUDY2FJnC7vx/I4xtWyO2
8kj/EdfR3fxTN/lPFYr2HT0DXiQFd0vtaTbO0EiaLxHE1xMpzN/eIO0AVglFtY2n+/YLZ2isbP2C
k7Q0ivkCmfJ60enVObVxbZWRt6E+Ws6QgUJuC0TCcaiP0Ae7xADmPGfhNJ4Fa+Zu4pJIoeVxjHHf
GpH12CocacjuhflSdGb4WQicnvPMta/p96yUF7xgQKlUb8IUj76aijvwV4es7dW/lzRgRjC/hx3R
Bmc9xgYMJe0zdEhbGXCgrrzNdwZt1594+H97KihTA7g57BUUaN4+/NGMBmuhrUSbfhLXqd8En3Jn
gt5l+eWTZH06SB30cGJx/eWVM57I6yB7IXM5HlEM+8DAh4cSp5eP3kXUQ7ZdgvR/nJ3XjtvItoaf
iABzuCVFqdU5O9wQttsu5pyf/nz0uRlRQhPes4GZC2+YYrHCqvWnbOPdLq2kpVnjcEemo2quz45I
wSUYHDPx4lyPVUizSTx6Qq9i7mSZ2SyW6mQv+YEmMlRlxQzH2I7T/sYpJ7nZOMgubIkqImK4Shjt
Lhq704HG9L1R/nKZuSzHO/IVEw+K6nSw1Trc/fPuS3MQKSF1JU3Nv82S/yxdDZLpqIRK5KkNWYl5
DeMQZtQNaN+/M7dRnWBTgbMSPnqId5bz7r+PggRlUO+zV2kzl/WZPGofmXT5INHzeYp7XRzVOayf
kno2j/DMwRml3NnwvF1b0C171dL44xLMXkU/ZPUrSnOEcWNz/yDi0mxcUofnO6OYdOjjQVPuiMr7
U494KwmRyAdJHaInlpb+gc9RsrBOMKs1K2fXFBnS3yLVj/WM9pPooqE6BL3GCQYnZOyRJgEtx2ka
+b288PuyKn4fJyXfmCkXliR5nRDhwc0429YxVYFSoQlWJuZHoU3v4Bz2C5hl72q0v31FHpw3DBDC
jTG8MD1RJSs2bGwOuDMFbIpPqW0PHDoYb8Db6JT4tukqiHR2uBU6wKX6fCsGRAF6sPEe4VRdFa1A
z0mYhbGEGz/8GtdQemlww5D7TB+n0M1kgqFSl7hRyG2QvpPXKJnJgxJa9ZSHjQNBQNtNTifd1l0e
UbwT/h3scmWOX2dzYSUabQqrE1fppPOreEibA7JfRfewI9aMa4GNww81KZQfpTlrPwtUOpkvtZN6
38Nyl7gxGiZS4wDEETFZgy1kpxQyTLVxzN6mKMsoa8pCM130xNIjuZFD7Cmdk96jZzW/Sklu3RRJ
acCcDuTxPqlm+Pq9XSn30MNFu9N7VQo9q63K3x1Ra4U7ZmoBwXqymhp6r1SmLtk95mvXGsqXXozl
Vw26eLXoYsvpWbLsPNirbGfdzsoq6bodCIlaxK/xteOE2PTqAL7PKebEuotiXwtg8Ax179L/lIyH
IsFExBcYLydubwiIJih3rkHnoGFWAjPXkJ5StYOJUwa7abIbVpM9DA7Cf5lfvTRebKQwmmTtsyCD
2+dkMKc8jl2oe6aTA9kYqohlYhCyCZdbyJcPtiD1wW2mBvdApxmm+86cEm1Pmh3k9DQxq8h1SLJ8
r4NMTDtA6fqHWWS4ZtRs3bFvpYjEXDPN+VudfCQSEll6fQthypZ26VzLIREqeVt6HbHV0V5KdW62
zK4Soa9e9qNnj+3cHuZaQCyE3D4XOwW04HpwsoC4x9Lu3/BfgWwlgZNVu2GMCd0wAiu7zcYei6oM
XNglqaX5oEcwk+bdyFG6S1ozvOu7yCx82PzdXVo5k4rtvlgocKMMKRpKqv07pNPCt+XVbq1SVktf
TzuHuUoctAFxse8hTY6VnLrjIBVQGfSS3I9JTuwPOkVjcl2rU616RgoNx+jKSdrBJR8N35aG+Vs5
im70WrknFTUCFoI8kFMyumEeQaFVR/iakAxsuhiD4YgHuZ00JrEeaDnCyHqCbKOCYvqFbKa/2FHo
sFVFkkvuPCxDXZhK3x6kSLSZT1rZWO5n5JSV35VNVV0FSMpsmNhNE3ugzNW8z8xBL2kKFL15NaPK
ol3TKKXGzA8hrzMRM8C1sNBu5l7S210lJ9P3ulaC/tpQy7bzpMRMLb/7iw3lQVqW7qw55MFJFfk8
rlWnjkGQukjmw9SPtYkgVCnKe7vL4Uw68Kqxp8yCAXpLKWEnmdSRlR/nEmM7X7B8Jz+u7eFFWMRA
XXFK6ZYb1dFwW8Cp/9JzYP0IkdXUfsIhCRErcypiw+FWKb4kzE57cLoEL61oVAXiiUh8RK2cvw5F
QhluNYpR3OrNwEZZyx2TJTZp8/h2r3eQuPF+/alPU/veWIlqQ1kZrN8VdQdqt75JBj+Hm3o7kNEn
f+ttoFdXkYH2UBQEzjeIjAGMnj5+JOBCe5O0UX0Os4EbtzwkxsImzXNPslOiJsiSVq6xHcZoPpFN
8TEhpn+DF/GPDqTLUUupjjwKvS59c3OFgBkobY1s5mYHS9/2Usqn+0ySk4/PKxjtvEDk70ZRRDuQ
ewjys9O6wrQFivKWx2D348+7dld66Z12xApkp+3yfXXn3CsH6Tm5Gq/CPcZAe+dQ7FNf8Qm88BGY
uPnddGX7cBg2zskLsPnpL1t++X8qnrq0uloo/DKykt109xtLNP83XBb3JdlHOwQ9G9XABWjr9IGr
w7IAcBii5YGZ+/PZPX7z/Kenz0f7/Ow/fcKqfIomAWeQ5G5PslrC2W4FxlZVvP/8IZe+KFAO0R3A
OpwHq9dQWq0FK+K0LoEgfavq2VA0Z0shd+FVuCtRZ9OhWlLCV68SN9DkQjyBvERK66PRGvLejMfs
sSmLYvf5C50DBlh6yguiLRu4IKyvrYmRw6vHzwXibAG1SNT0tcveLH4OpOleZ/2ImARzhOa1kmox
XBmxkLamxnJnOL3SogHE54HrDUka6t9V9J+5CM8QnKwhz7Pv61h+Ro2YlV7TKUoB38wIkPxIInwc
IJp8k0LNvJZ6JPgHRxeVX6LV4mop5mhrgVz40KCDlkVBxeigozxdIEVod/WIpRx8qkZ/m+CYQLNi
DG/MIicIscl0/dfQpaUGI6ynTDOFkjquGg0QuTpZy34YoTx91c1Im7xpCvMfn3+2CzAL3pdLQ5Eb
6NJ1WO1g6JMnS+kh1SuJEee3YB5wM5tGQT2WT/CkYdBGBuxt8pZqt5qa9sMYAzv181IyWsjaTfKj
yuzose+beeF+q1NOydiW6MSVeT6kaqJlSGYNRGtWVUnVQXLC5GjagY31dVkhKam6qtyMWz2/NeDM
ZIAEGvRJTXbp02HPSUPu0EoiWyVp0ebSnmh3edD0H/VUD4+U1WXg9ZnqdFw7p/JX3rC74ixY6i9S
OJotDC9t9LXBsaWjoSTdc2jSUXbtCj9AL0cgsZW/d+FybvErARRx9SGHbnEj/e9GSues6kYHhC9d
WDPY+c0vtpZ1XmXlyUvTdxOUWln5NSdz9D3kqrxHYaRmG7vSpV+xGO8QoIlpJgfOCnTrSux3BP4x
tAgGR7qheIfuNPRz9J5q1F5e4qTT97EtEtONynkc/IwezI9mzpOfn8/LC0QkrkPcvLi/Khx8ay+V
PsXPLwHw84y6xY+zbAtXxR/1Rqj6eB1rpXVU7Er2kzyaHts4HN+g3KDMURLpwcqDYDfQAfGBb6cr
blJLxmlgHgC19bsWpH5j71u20dXGs/gRws1io8VDYbXGZczA6JmxhmAEiH1XBRmWO5K2xwJAeMFU
NxuDc2FPWczlaRQRtgWasvpKfTfEVhaMBBcDC91D2C2vqnYaN9h9lyaDYy0tN1xIIGeuQe65EpkT
iyj1SKoF8AnGBmsCRRgSvNVRmgVMx8bEAN5s0ZGlcp9PrgEE/03MsrmxjZ6PsI3RO4mpy10fg53V
cp6tdCQiib5c2zndVyICbb9J2+ndmA3tGpJm9Pb59LtAbWLDhlSm0HtABLY25XS6HChRAwrLa7sJ
9lxtQSfbRJL/xPYwh35WO+YvUytzlYtjWz8aSBb+mATHougyO1BiSyv0OwwfBjK5Ag37jxmmKDtr
sYivIO5UPwQ++k/6PFk/68GUR79D5bvZPT+vAHgPbFAWgzV8a9YLugrqQqtz2rxW70i/0wYfBY5p
5amK6RFUYarfUXRWqBz0focld3wMbGvYaSn6VleapOyRGNzpCpMmWkNzYG00Pi9MMY4eOmZ8ViYy
blunu94U144qsNT3mqSAnqoFodTfTYUYW04cS/tDElLz3HSDeK9pR0KAryX1zpnqYtwoHi6Mk0rz
dWHl4WBEEXP6QxpVbuJxUmlpj45x1aK2QoTV6jd03rfYnGemkgsRDCYYpmJQLKg8Vlu9qkUT4hPs
GZs5NvfyaLfX+WymL4aVRC8KpjKdy/IXB06Dzk1spXlINUPcNIpZXpEK1R/h4+b3idM6bhJVxVGS
4vlK4d6VbIAEy9l/uq/RAKMnDfwiUySs8eA2hJ3QYn/pTdogf9PGpkVHKLc3RYyRltVIIaLavjzC
WNW3XILPz28evbA+bGoD0J9VWUJGqVbPWgHBxqr7iY0cZ5x9At8TDdyYFiDIdjQ+tLKIboKYFGu3
syrnZx/3w5sj943s97CpbdRseXObR2Ge7+Yms0w37SfIF6aola1w7fNNGXqbRdsVIMjA/nS1RVlN
P88hO6WnJXZ6SxdD7Eylnv6HT2JDBjLpDmOqsEbenIoretejS7JF0b8kmYX2loPpY6RqeWyJn+Qy
HDStm1OObxj0XLACsTmJSYjgq9BOX5PQTAjvqTTYCfEk2LUZGAHdNGbcey06rD9QC2N/dIpg3CNH
nh5SBzKcGwda9YaEwTxEWRM8Vclcb/WHL/0scPcljgeLN2CN1cAL1alB54rUK5WWpPEM+c9LMdNf
sRJHg7qtxj/12kD0k6lsYnWuvHaJnIw+9kzWMaiyEjWeaLa48Rc2FPr/2EEukWX0dFc1gTTCrUxC
dDokv80vGf0Xnz6hcUxscLbPD6sLj+ISCbqBUw7m6mvQypwUDWuWoPEKBxOKGsuGnRpFyV0xmFt8
B2vZkE+3hIViZ2IWtWwIUIxP98kw6JqgCvXWG0vCGx+QCWa+A5QYH0NFlPeowTs8MMMS4ZZUtHA+
ajNAQNo42pckrunPFNkcvlYQCEm8krvwUbMLAb3K4g93uiUt6j9y6q8tK56+zKqG4bVDrWOgy8lk
697uW83ct1BTvsNnVb7gstJ8SZFnviuS8kt1SvkdyZ38vTabaxC+dD/3VdL7s9NHmJfkM2YhQVIN
LlnPNZnSsdXI+yBqtafGaWQDOpcMl6iteHW31SKkR+iPsFmRUtjanlT2IHO9lIW9O5ZO8FsZEEge
ErL8lH0IR6dzMdnH66YgLzl1xYDlBn21VICsWYnx24H++h4FtVqhaxLjz8Fk9Nx4GNsRzmg/fzGm
ERcEJUOi5RZyJFEutGYF1W/Qxj+pynZy0KG0TAhLzfRVE6a5dYs/33ZByfAdWmxMl/1l1TBA7Y48
izhAj+EMjtyd9Z1eO8O+TAz1Ct8SgaRxbDb2tAs0EM5BGYBncW1boMnTSZUMYzc3NWWIM6GmM6B/
3Rqo5B/nWDbpy44WEboIOSHhSf3VALa1A8vsDqmWqU+17Mx7SGP6UaDR4jonV85tjn3qRgX6l6q8
mvlLUgPA8MIBoDRc/chykNUlEMtjoyMYj15fn+9spvrvbihL7saVbrR+OMraM+F/w+tkF5EKQdOR
sCaRR6JScd8ZcfRjFThu4VRIjXVnXqrBRh5ytyOlgEKsV5o7TeljC8Z8LUk7xcDKAj9pm5oSZX40
+jpZ6c4V4jTxbMVJ/oEGdIo8O3I0IhG5q7lzksQP9WQGv5o277q9INTnAQeX6pqTMCTxJNCk322L
nmXr1F5W/2qMlhbl4vS3lA3rco4U4EzqgBo8C7sC35KdZEe7NvZziB3fI2H197CFbSiZADMapftD
QY15m/bmeJgzNfQSpQA++Xx3vDClQdegny8eUTCDVyUmhEZhB2bVePosETCE6d4HbSCFZCoRuDFg
G6hWuMXXPduSLagbkCvo/MDa1te7f9BEaFHwIfHqVMqOgRU31+j0qGZKa6tyPS8neZat4tknw1qg
1bGamJywwCqGAlif4yPlB6NUfQBcKK9REMbfJb2jnjQExvBgrMMLrFlyJmhXG3ehOisftar8MesO
B8JJm1+Nypp+Yx7ZPsW1PX/5/Ev8JcOdTA94FRChDAKHMMky/77Jfxp0XAJaqykrgt4lYgQOs2ir
gVQLsjb2ulJN0Z0SIyjZlUqZ42hQz6T2BOo4AHPaXUirFCvH2Svo8E9uF0dd8ZD1pbZxJflrdbj+
kaD34PcO8VTM49N1nrMw+HqkzItJT36MtKv+TEYGP9fJ1OCLZcyY8lqjOf0SZRy/97OM4RFSboqd
HPa87gkF2Z6XWmkFJVYZMnGU+xIFxNBhnHjEh5JK3vl7hWxRgxx4P7xLhF7CGsZhJul3+CDZpa/q
KQCSLcFePDhaQbT2xsc4O8ktUnHo1S4Wc2h816Iy3Wpza0ig0TR9ph/7WAF30Sqd6Eqrp9+S2jsM
AXu/o1HkhR29SwcZLfo7wOb/5ZcsbppEj1BbrkVcLYeolqJ75THZNxsw1FUJwgtV6VpEQjmo/biH
q3JcIux31ZwBq6VbO9ff3Xv11dGMm7CLSCXkv6v7X8D2WTTW8hvUZrgfBIxBjJFV85spdDtwG5Ep
HvQRighLBnASWMQMskJCCqyHx4VesmvCfD4OeWBdNSKU7xwdHDLo5PC2HoxuH+VBhanOOB7SSiPs
JKC1B6AmI+NPUt8s9HrP6hZ+VtWI6pu22ts5fgiF3GJXXtjqjV3X7fvnA3++SalQIrEu4tILxV9e
Fc5xjEFl4xgUNo0TvM7y2Ptt0Vl7vGWr539/FAO76AohJcKQOV1UONkkdRuhpuv0AcA5Ncd92aID
h8JebLSt/rKlTj8lFzDojyxhghD4mqfPai1pEmTScpbmM7641TBRsyFhSelD7JQkxA22IEEPjBAj
iZ57zg4B90g4D22dQVkMw6RxcmWrkmMObvO7XKbdcS5SJORDUX1RNbj+kc3ntIWiP2ZhJj3Q/FYe
hWORvRJH5ZVe9WI/JhlJ81KXy0fNnKpjTprIbTUV5YZS4q9ObfW+uNqDLYB4IGZbi/2UqZwsnPwz
L7Em87cc5mm+w31JekwC+CR7zupeOqRj06E4pokWXXFBxrZSgA9jITUK8UFhUukeY6pcjW0nQlfJ
DaPcjYMuX5WKjcqgGqwww4AkNd7VttR+fT47zo5ooCPygDjDWH50RFZHNCVhPYdzgrFP3Ef3BO2O
D2VnDUdnVhO4lg5Nkjna2nYuPpTeKQtg0ZesDYnJ4WgjnWAleKVD+8g1LsdOEBMxvP/Mr3Myzq96
a5cb9NxzvjivSp0L5Q2NFTaiq9MlKvA9pM+H6FBLiiviD5Srsqamd2GsONdBohfezL+4YEj4EE6L
n80ghxhcdEqNeCGWtlr+Z20LfhCzg4YSpH+KpNUmoOkYUA4p/p5GxLMqoP7DQhrdWJQXihQVw/fl
tTlpzrOlDBGVuaPjwjFi7P+CpWgWE4ce2+YuBu+6nsIBykI2NlO/D4s5xIe2DwfYO101vlFQNLmP
300X+lJXQpCZhT0FLu1EzFC5jcKoCMOShsvn0/LSx1qUBKaDGMLk96/mJb2GJAG5hCM+1fZtE2Xi
bVKr1EPMGR5bpzF2QZLp9wXGao+TDmkSH5nx1qz7Zo/V1PTt859zYbum7UPbnyblAjes9tBujoYB
I7fMU6Iu/mbGGcbgwgy+y8KhpPr8WeeNWTpYnIZ8KfAzUICl0v9PqTZhJcDaYFMRTjD6YWReo63b
060e8KxocnrD0TemJdZONg4SWXrYeP5StK42NRVqBepK7hHsaauh19IEeijmM141xdlLbFShr+NC
A/WbU7Gc4+HLBLj9QAJM5ytNqR/mKK8xycrU12Ywpo2i8MIi4e4AA4N/sUzWHRap7isl18KcCwqs
HGFKxpWBu/rWIlkGdf3SS/9GoQKBRLq2wLb0OVTD3gEr5spL4JHdPKuTWn9VHAH4qEhtZu3lVsLe
hdaBhbuh3IRuoyUp/zedwyzJZRHTUM7Syv/8e1wYAM5tQndsMGJq+NXnCDtbhkfL5xAGzcUW89Ub
M6mM4+dPuTDDeQbju4SMLo2A00mHPmey9IgQn8nG+WnuI6Lw0hgyNqYIG2v70gtB2uFmppMbADv4
9FF24YAQO2x75CQ4N9zAobXaiOtePn+jS48hPBlCAhYZsJBXjyF/Ate2Fj1SMcOTtRvducGZZitr
68K40fykUc6kWaiyq3ErwkK124gWZ6yIHAc4ufE1Sc8qKLqzsrEUzhk/8Am54XNW8CCIHqtKuTYw
/AnBz2E7DVwPJNPE4U/JH/IMG9O0UHAGnLV5Z+eFdadqZCkmRS55gdCdBxBFadfJPeVw7bRPI8Sv
rQ7EhaGA4c4PBMUGulsfZ0oJZwGdVo4XaB10LpiV/FudhflzYWjYd1NAzXiMkS7fl7GmF36b5v0z
fxP4psWECzBwkrPGta0R5xQScrPcrSEgb3FVLswLhMoLIx3uhQPSfTr9ChHRM4R26NGzqI+dihZ/
1raO9vPOOAATPVr2b52WPX/V6VPIcnGgiHY1MV011v79iDFuOXc7lYRAWLVRtLOw8rqPiya8L/DK
TXd4nIffsMr9MiuStjPpYW/tccuMX+1xhEsSK05XnEJiHfCT90UNm1XHN6mwhqdSbxcLuir5g4fz
vNeHqbuCRORLcfabcITe10enPAy0hTY2tHMhHdoDbr/LLIE7enbNl9tAghMq014cUHYCJv1xhqo4
YFeV+sBb8WNNd/g5F3OLKy/epHE/TXDih4/EVp/UAY8eu+71P7Vc4TECN8Y3q2I+jm2IVUppWRvn
4fKlTkcN2TcMItr8/I8lfvolsbp1jDLnI0oSNNi2Kew7/FSdm1QbyUFCW3aQ0sHeAHwuPBTjfVY6
sglklfpqks5l3jdGh/NSE8xs+thg3eHG0x6qsZi8KpDyXQFC6H2+Y543gwnlZYKQBMXyJQJlVSH3
oZmoetdU3lhnzbeQSfRSQJL7apeDfo/bI7ZoOMA5P0wzxGCWbouqeLmB8RXq5CB9N8M2/Nng8HIP
i0BdOGfW9K1Tc/PLxu+8MDoLOwXWDXwdiqTlz/9TIVXQIKrYKCtP7+E+s9ET65cq+vzVVmuRcWap
2c9Sj6dHRRLjlwkjukV6rmf2Lihbw4+g6qtXRZFlsV9TvV7XQZz8xpExw98oHjF2/vz3LsO2mkHM
dhg9lI4kiK1/rlVMVTnk/Nwo1epdLCOITpFz7aUw096GvNG+W22Em3QIE+3zJ59vyfhxmIoCk4cq
QbZWA5UiIVtEkQumIA+UkCK8Fy1djg5W7capfulRWLksQBgXYcR6p98Ed2/6ghpdnB6Zu4+RouOW
dty7E/62G2914fNzyGCxQpW6MEVWmEVI0KGQZDALq8AeFPJ6Yf+cNVVcS4484QSMEzZccK2Wt1Ix
Lrwjy2JRwFG40ENdDSeWXimGhzLGLUpd+aLpnV2u54nr6L3YqMfOyYEWJDDIKNDoIHZSKp2Op53H
MHww7/YIQs1tr4SR/TuvEeotmac43CajxgVaRZ/o7EcrMAbfYm+ar8rUxFFfkjDCdKnoiJ1FUSTh
b5uBUpqZHQoPV7xaPYpxzrHbFl3lO0Ktgp2Ef+r30oxzEtah1jukJFB9b+wxF74dUPGi216y1pgv
p69VVg4siiwovWQ0wncq0u5mEaDeGoQRPsMukXfZHMdPny+D8yOfcgmuL5d+7jRwZU8fags6e+S1
YOFSFYFf0o10tXiQ/7084zEgAlCKEYHBNDl9zKh0A9I6B9V2NKlIGCbzyRxn1OmIVUAjAWmPmGui
MtTL6rqUjYoJGxMlvDSBcZTEoojSyp2iJjgog0oL+vNRWJbF6TakQ6miUQXthc19zV+wU53rSykj
7SHf4LuZhggSsCbaTSa+rm6bmuHh8wdeqFeR0cqLgxx3Ir74qsEhkcAxkXJQe2poyz3O0KazI9PB
cLDsUWbHi8MBgUFIuqzs6kKz9p3SVTNeelWa4jAaWMLNm9T6HspZ8hAFTYdhZZdutGIvlGpMs4UI
js3D4iOw2rnY9kXfSsSqZkWl+bjMmXtVhlsR4zjynWo5jJHW1jaRz3p1baTjsK8bIhgxmRfPEF3N
G6DpLRLcOQcTvIwvxVei0uP6u9pqMilX8B9WMe4h3KdEP2lbv5IyjL+FRjn/LhIA4b1DiybwkxIR
it8XXfdC4yor9kFgk6CQAqXgHoFv5RepbrUPKO+NvrObWZG9cYZLrABA/Nr44OcVJnUlfQPmGXlt
UBVOV8BQQXKTa1nCMKUnbaRvUkCmyRiPajUlPnRfHVljOO6V2hzuK8dqjV0vl9oHlsjm/vPfcr5X
L/smfLK/FQIA3elPKbHkpQbHjLIR5Q9EvsqN02m/hrFqN/qK55sLD1osL2iegq3Zy5//pxiRQivK
iA3lQfUQeIqSxKC+4Bafv86lp8BwYpbizLNg4KdPadQgDquWy1DShEyKPrf9scD/+fOnnA8aynTA
AnSHzD1O8tOnqH2BJ4SpJF4UFrW3ECb3OGGK60Y1Pj5/0vn7gA+YGpvDEltOVXT6pIp782I9TzRs
kuc3jm7Q0ycJwf/8KRd2IAjVOn3EpQqirF3t/C1xVJpSBehxh8S5i8px+C0giuzqBtumgan5RaRt
7KLJJTW5m3svVbp+h/tq5Ym8BvHEXecmFRG+8ElnbZzx56MNqUuhksXDBMeXNQgErqAEQZoiPtWr
jyBJVQwwG+05tpP2+8Y4nC9MPDAW9zuAPrjL64Wp4f7DFpJILtaELctvVhI3VtTmGvJn7A/xSDq9
xJnmwYZVd4EZNq8dNJ13Smf1n10WQPoQn0M6UfDJgzd2+unjnIvhAFDEcReRcyfP49FURbJ1210+
7elxR3XocA2H2r/kKa/mspC6Cb4RRoy5WidvDkWAG9ngM1gvQ2LR5ZgOBZb5Sdt3Hxq3yx02GP3P
z8f9/AvDjEZ8AxIGro3Dz+mrImNG78iRhd7BjPbhxGWR5kaHR3+1NaoXjjHekRsRJxmyCx56+iwS
/NhzMzIM7bAgDsgo0qVbH6WtctMXRo5Zb2gYf9JitiJ3KWLuponj2QtkHfKUTjIteV1yDxwyN3Zs
bZR9l34dw7BUzX+Z+uuPnk9aMChNltF16Si/ehwZDyra39cWtuUrtu71dSz3cuQJDfWSnUbigE/3
s53bSEgmLhJHoWFasPGzznchOMBw7AEYKIlYGadjRvBEGkptkhG/0qVw2/TsaGLH/a9HERxraM0w
2fn3MiFOn6KMcSsDb+UeuJT0s0yj4gYofQbuN+SNJtzZC/GoRRO5bOK0zNcvhP+VXuY2hBRnIJKv
jzVx4Nb+zx1cwAl4sOZiI4Hj4xoOyQOJqMIBM3cUCuUVjCu8u2vb2n2+eJbFcbKAqdcXZxcmDSv4
rPEdpdY8Bnjfeqmdj29VEmlvGp5k75bWyEd40KYrTLm+GrFnx+NyLv79q+maCQ+PvePvbfP0q0VB
7xS5yR0LssrSbHXyQ2l3BMQUBDl9/qZnlyLIINxk+WxLNCaV0+mj6BhkodTgw6GqBcZVmZurChFV
1yGVstZuOaJCTDofWS5fCBP5hxJpTQayBzZ5uyIThLs5uRFDh+meRzdNhoKSq4PjGclIhsSYaeLB
7DJC7CbY3T/Smg6Zaxea/hEJSIGH0BDDj7nVphsw5O5QYYeqepliqnDns5wjRpTGhPgf/HuGouPM
LZtxCqlzFkr3DPXBbFGQVLLxQqREp7uIDyBq0RclfStUpvo1DNTW8HQxYDoRtANOd1Y9TNm1bqnw
NHM2PA81Nm5sspAIYm6HXkHH3OpJtAvNQr1vJCeI8QLpm5sOvyQs8PPQ/p2FU39llmMqEXYUz5jh
wytFLN2b9f3i6xTjajgQuOjUnRZ6IPnSj9iKhhsnJBEHIXykMR+EIDK7Gyzpe4FL4hdhBSogdj19
7axG+xBxIX0v5cjIsfQxwsLt1MRy2Hc76Z6EXIl8dX0ocQykIqlu+8XtZlf2LQ6f1DNY8iXyjI0P
XJdYOs5yGB1GHQOeQybMcHYrtcQD0i5KxP5kyMk7qVGd7xl5A7wgYrGvJaG3uit3MmFW0oSK66EN
dTYFBZ9EyHjZSCxSl06m6XdGRdZUGs/4OONcy2caSUqP96Cp5bc+KzIV0/NmxqarjcfXNq1UfWdh
KvBGDkOW7zqnJbAE9m1tuQVc9GqH6AXIwVAmzIsaZNulO0xl9z4Tb/iKGzroclxWbb5PmSUCImA5
Fr5DhmJxPZdYF+HSm2fgAR3+smQU0Fzf9Thv9y6zzDR2+CqDTpEiRMrVmJcYy3F5VMeducjVdok1
px/x3IwsInztVVeMtvJNU6CcuMIxSBmCQtW9d042y3gL9lR1tH4TmyCzofiAHtGNL47cVe+Jbuhw
+qBBMUO49d3SoJcVr1UaWNURBUsII0rrH+UWy0UvD616EcvbGHFkU1gukecJJhKsp9AVwWC94fAR
F54WOvZ9Odf9rcZo8tdZYgmV03p99mc0jmTiVvMAlTxdQgqYiNbCtUsINCsKojXoy7Llfb7xnG+x
HEyKslThS+tufTLpkADmLqXYVSoEMR44brh3oAneVlGkP82jMb0NaYlRCWmDbkZnZaMCPqclLr5L
i7yMbpCyXG9Od74Gqyen7GnXZThaIGdz8h3rNjtW5mDDw5jNnZrE/QGzX83TbFLDEC/TvLGhZilQ
VFzq+Mhni+qfPx+YC+coLVAN/eP/+4WvCgOITDMovY7tulzaD0Weji9NIzsbw39eFfH63AFoGy3C
EoiZp69PI0bN5DDOPGkA+hjmfaA7hCLLr4Yw9lZuvMMluo3tGVdIQl8nHVpGJeSHOus3eldnhSrc
aqTjUMFhnisUzac/RFFLux1UVEyBNgU/HUIhdnkxNzeVSb7Rvw4tSwF8gVQBCnT6QqePGvRqSKk/
l+SC0jqUWhr8KRvrn6MLgPcWcIkeKgIVZtfpU3RnMqwGRInkzDbZD7rQX6OoERt3/wvDBrVm8XCz
aHGBJq6eYo7ccUv6M3XQJ2R11POeeLPF9dTauMGdT0hIWgtyB5PnAh+m1kDILYK5PcNmUSSRNe2D
Ekru59/mnHbDFyEWE3AQd8GFbn/6Qp3RhE0ckd/u4EFCWlJO38ab5WS2/S7Ig9ItqrGrMGYhl8CV
4mn4UmnmUHijMcSL0XzVHTutS/uNhXLh7Vkl8AHp6LBPrRGUJqxSve4HLEbq3PQRJdp+ouD8s/H2
53URpw5VEd1RmqRnk0YFPIzUYgl/GiIiDcYwecFXBql9W1Z7gFzjnmah86SMGjHcuYFETpXakOyJ
0ni0lDR+Y2xIT6Nf77xqqWO6NNqHfx8KjN3BBZ3Fj4Ry//QLBfMY13ECmOQIok5kuaUKd1DLfD4U
Fwacv/1v65a6lEvS6VMStWoI56Rza6UKkXJON9zLaapsTLcLyweKEalK/LM0X1eL1OgSsx9ipVwC
b2rcceDaGVlUXaWBnm9927MOyKLRXz4uxAmIjmc5AEFRcJ5X3CasXn4MSY55j2dneusiI7xSyXR/
7DoleRKBiIiwUM0vep8Yr1XPbfnzof171T291/BL6HrBC1jSW9ZfMCxx/Q4i+Hgm3mLR9RTM8tcw
6dqf3EUiWF9o5ht3qIbcvsEVTHtXhioOr3szmlIvs1v9JQCpeVOSggDAPOlkN1WL7ji11hj6KW6d
vzBkhVOq0uS9SZ2pbPbzPMgfSTsQi0rdSlc9/j/uzlw5jqxNz7cy0X725L4o5h8jt1qAwkoQJJ0M
ECRy3/c0/zZ0B/LkSJZC8mRIhiJ0MX0jehLdI7EKDNS0LIUiOtDNJoBTefIs3/IuVZ6/mMHYyG4Z
lhQUY3XRH95/zrcvl0YL4EY6DdJK4z5ZQl2iT5UE2NBBajZxudpVdIsT+ZMEY+TMUG/zJ3jpaKGS
PIFeQoHkeLVqlJChtHQMpSixvG9EeTHtKinVK1OhcbY1+BfY8FGrz3mK/GRkmCY0VqnyUD84BQDr
TT0jD4S50CSP3cciQfwac43WV4xa+SJH6eSrQZ1+fH9m3x5TlM9wdOA9cl6Jr63DHyrOyGG3rCAE
Uc2lBTgajJr2iKKXdmiDeCGUSM+Rkd/K5K1Ss+h/UsCg68lrPZ7glJxHzFSYFGkq1fe5uWCSLMHz
VPw6NHtlN4dK2ODTpgh3kWxBGTTTKrs3rKLHkqzLopt4DMh2ykpA1UsCR3qfIuvtKpiJtoANUJLd
0fmpn8u2aO4ibhfagFoUf8axyUL2Ezeumxb6Mz6PBY0k7LCE3lZ6Icm8KizT9HIKUl2wsYOs4W71
VQMlzBRyydVVwDQuaZj6IhhzW2wT/KBVm2gXDdm6wag0XtL5UyM0RrRCG4N+O4WECXZBst7/1dMO
TAXbfi2crO5Qp8Feo2FKioEh3mRL215S6O+hK2CgrMJUcN9fIW8QB5QszBWtyktDf8Baj/cfVkgI
1coU46Gnpm1kh1SGGLZqdDVbvEnqLRl3CIXCkK+CMkUd8P2x31wdjM1pTvRAvY++9clage8lhDAq
kU+BEbYHgQAHT7aUPzKHf3ye/k34vbz547xs//mf+PNziXFNHEbdyR//+br6Xtx3zffv3eGp+qf1
R//3tx7/4D8f4mf8Q8uX7vS7jn6I3//n+O5T93T0B4oGcTff9t+b+e5722fd6wB80vU7/7V/+Q/f
X3/Lh7n6/rdfMJcpuvW3hbj0/PLnX+2+/e0Xi0L2P/746//8u6unnB/7/e///fff/t3vv/2n33/7
z7///X/y9fRnvz+13d9+EbRfSRCR3KbuTBlw5Sj88g/j93/5K8ielK3QlzBkIJ+8ooLqQPS3XxT9
V5oDiA7QKAakBTDvl39oy/5f/orAnagAzhvdIapU//Ipj17X/3l9/1D0+U0ZF137t19YDccXBHUn
BT1LQJMk8Yg7o612vEgD0CiAeMoXSbKjHUrLH/I76RNaM5jjYuZQubr3Ld3ne3xqL6UtQWe5GTfp
1riwLubv2uXwrdtVN+1V8SHbCdfk/d8QJtxmH2CSGM/jxy6wEcfxRKfYAZjyrK3sVLtwq3rWxbIb
vkWjTSmLJs8+c+vbeq8/RTfqS7wtD9ql/GRFbp9tpcGWPzYfust2L/itZ113buZTcXCyXfpRvq0u
Ry+4TXY4qN/JjuxlN7NX3za41/Wu+SH34i2qr5ZfXJe348M4IX5pt7fLpbmZLvuP3a6+E66VZ3mv
OpE/brpLfZNe4Q20Cdxum3riHqt0R39Jbso9n/JKuTC2wcf8TrBs69l8wcYSJm40OOGWE1bN7Bp5
BRyz9/U+YFDsWa8tX9uKD+F0DdTAuvnaH+J9zq8Nr6KbeW9do99yOVzyDC+yV/jBDnzCXndED4Pp
axRU7MrP7oMP8q7c8AGd1vlAXc7LvepS3CuXVJYd0Y+u8JLeF37qlQ42lXa+Gb+jCNr0XvRJ25Z7
ybd8weu2/SG4bfCdFS6CL8Y23aj3S+ZOtyiId5od+LEttE7VOTFpjchW2/bRAdXI8Cu+bwpkjQtt
R1XMKfzpQuFzTZfziHS8+RkHFCT4VGfEqPbTckm8fltd1JsUWveu3mqu7iQ8V4cynrmHIr9DJ3Rb
bsILeY/P9hfhKj+YN4zwaPkSMEgv2onoPDHt6Sbe6K5xp2xprybfYJALj+nFcD1uzJf5gKfn8Gjd
ISX/qFx09821qdtStFkGGllbJK10zRa24lXsS57oVpvekfz+ydzP2PU6rqV7+YV0LdyzPgd6rBij
51vDl+zywM+7yCTboa9foOgt+gZvZIOz7+fWluz6driJEe3qbOWKSVtjRxe9wd4GLyN9mAI/Knzo
KbRPqsvBp+ee2/lXzYU8tInQlnHCw03u2KpT3iX+YmNCv82++d0HUMP6Rxl3huSAD7G5/4KEaGSb
XuD0TuvJnuDg7xlv6i/5Ybko/O4aG+wQrDu/4lvCMgJJsJtgikjXOnpqaXGZOhPWHL0v6ZRBG3by
iyAb9my9ZMEFInR44GJWPSmHzr55bn1g9JOXXai24dhB63ZIZj4Mt/O99gBDBTORKr/g/3FBZTNF
Mad97t3Inh4yz5ScbVN6WHrPsqOzFrPLvHaxZ7ARr4G/2mJKYu0zinzzVnye1NaJWbuiF2yQQJ2f
6v3yWIg2pJ/Qo47kJMk+eC4/9DdTimSppw88xh7WmJcaT9k+viYNeIllfTsb98GVwbnU+fO+uFQ3
na+I37WH2sOtvr3u7ysXyzWk8NtrlHTsAd3dg/ZR9SUHUqqLXXLKceSXkl8YnU26vLJMY9UVcGSD
c65EuzBzaKVo6UFfPqgV3qgb5UOzZwvb+oMoI+2L/PPtMGCkPtggZEzDTg7ljfrNlG3dm/wWo9B9
TZ9x2nHrZ0/xvbDTN5bsgwerN9OL4M5U+b3HEo8uG0nW9Fbw2NQ7at9a63XKE/MrfmobV1YfdddC
NPd71TwKXqq66aaaaZjTM92quiebBwUZuq8j8ZO+NbCiAb3d4EJpt58nZ7Jzb7zj1gch6urRhSJt
rcUT6Tri6ML0DZjTPM655qTllwhVK6gdo5sFzwFGhYqv3PfLNo8gdtrdsJe99KPO93xWLwz5UDzU
OCo/9o/xotkVrIFtNToi7P6NeGhM3fli6BvytfZjGvm6/pHCjyU+Es2V2xFn5c7B7a3NXKrGyyfc
hrVlU+pOuputJ+Z6vldw2d2O9+O98ZE1BXDbma66O8LNtrLRJGr23W3q3iN+hliFvSCnYfrz+C0y
L3E7B1w/PraP4i3qzIMvyvSL/MTuNnjwbJXeLR6EG/Ou3X6zXKBWueiiKV0dBPUJs1ahd/pP9XWf
lnbra8F4kMK7wleuEfOYNLv4YvQPfT7acW2gHZ04qwfP9Jw48wYf3dw2drGLcpIb340eJqo0dI1D
4tYs5A/8nk+ZE91GhmaXo8/mAIoW7RuEcw+yddC/5ja/1k08aC/cwJwbdkiDRn9UMH1WNjVdL6n2
ytnOUIg9jPiecb7BbDCwh/6YUev+bKnIudtyfog/icUn6brpvkjhzujIMi/bFwVtjbp61poH+O/p
Rb/PrUtV3Lgo99psqt5FEflh8LzxOW89HaFfdiI63Lb6GC7fhoOUYWlQyS5SyZFXHQbT4XDH9Mie
aJVsUv7itvexzLTnYZXEi8UbbqzC1p9pGC9m8VGNVR9VsEfBjcZD0bvpPa0gqjPW4BUbVL6Tfb8b
UXOtv5p35hUGJLHbHeg9w7CSv/KlO2T7+TK41pzcrb+OtrZjKF5q5ehedmmm4H046qudzu2ifol2
/deqtseL/qtyM27VC021R6iEup3elJcmPtSfRu1G2uouHACfZx0dRfKNCaSfgy6EuG1SO4hYaKVf
RFvWKiKo9OUN5DpNz0g3dbVL4n2wuH257bTHEQ+Bb/0uaNxpcQzBK/I9/SfSzdLY7KM9i4zVPBzQ
u6GV0G9j98ncRljGwUk1/VHfB9Auyz3orKlzvwEJFNXNa1T6l+LzD2XOP6ch91GYvvlernFte/pN
/w/G5fBk3w/M/9vvv/3X3//+X37/7d///tv/OAnMX3/4j8gc1uuva92HdBoJYxJBqhV/BObk1b8C
VFrhZHQDiI4J2f+My6VfgbujULl22xXgUmuj5M+4XPqVBi8dhFU9BoIYcMG/EperJ8UFGjFkBMBH
QAqRPtCfOI7KJxo/89wIxQav8fQ5Ujo3h2zhYIeMUTg4po+yPudPnWEgl4Mr70ybJhgkoj8UC7hG
2q61KyOAEReYc7jTxiby2tRaAMUaeHo5iMubzlAPkuEHRn89UbagLReKiStmCSA69KTCASFbobhu
sma5qaogwVYMUfvbto+FB1nKs/uYfhbYFik1IYtbyzV+csRTFT3FzAmCZSOJQ8r9rsf6Y9arZuFq
EH8VhOctgbvGSFO7yxHjteF200BGF383DPVZc4GTJHxtacGzIfXSUCRbYVfHM5kh5t2ZelZupkXb
6oFYXjSNFu9MsC7I0euBjfFZ7jca92ffigO7McHDefqs5plMtj4+TZ0QbsGjF1eNqlzoQZddRkv2
vQTB5qHqdKssgfYVLTLk1gd8JpZBoc6GOMdMRgAR1rbSMbADdTmDMfnpc0FKgc2wAhZOVwitg7Kd
xBHCzih8tfoWqlumHKD002COhA9JkV5RXq1vfthNfyaQPyaMb9cls7muc4nCBJ3Ck1aLhtBKlqhT
uREUrgI5SdD4TLERtPIBSPwiSn8cYEf1hR/HO6nsvb494zXVNRDbAol//PZosSlonmi446ryfCMM
uKnJ1A9daQwjlzJSczAmeToztccpMQOxZH4cdJ2EH+o2JU7jejOZ5cbq0F+nlGKizhhI3rwkf7XZ
8cdY1KOoQhuSDE/keKxCHKrQxBqO1zgvvqY0HiY7+1YJ94uVSO4chqE7q1boLxhKpB2WBVExJM9G
1aYucBWc1PO8PBQLKDO9pgr91183hXp4orAFkJU+ed1NGGZ9aOTlpsdBsmnjC9AFy062knHbNOWZ
ytxJyep1KoCmrEbqFCOgph1PBTVErBYSdqoZLBGaimLoj1lWn3mkn60oatPYqcNB0EA1HY/SzHia
Nz24t2FGMguv885Z9GreAIgZHG0y8BmQzrqK//TR4NvxZMj+MO7xoLoel2mn8GjjCJt3KuIOYZOk
999/W68V9h96GszgCtBaqziv8j1r2ejHhdthQKBWs15uImMX9ndmQ2giuklseWUpXWRN5Y353Vhs
BeGxr2eX5MZBBMu1hBdRAI5KoSBvnS54mHMSuFLxl8ybpG9gjOwAJEuSgUhWQZLDsB7RtTM2gaJv
MRjIQlrU4je1x6oiaHBBf8oDlGCEvZkZG1X90tVeZO2C7FAhIqTlFEkKaVMGt0pIfDfMl00BuU6m
nrBmIwtYFawnjG70tDL2Q9A0ahNrZ1bBqWYIU8XdiODGih9Ye5knF2xjtZawxGm9oc8qIGejR87I
RrgtMGvwksqgXKXgYlEqHP6Rkkh2YY4oTSJc7Wla3uzEMYuv4qGjVCTM4qZO6OfAh3uqUUgDODan
vhqCX/6/+dgA+lfmMXGGeCpPp2fqMMdS02xm0wFPg8frei8/Gw/KS36pl3bl6Q41kdlugYhRV9jo
d7d/ShH/paDy/8+iL43tH3bcWlQ+rvr+9h/Weu9v//b3v/9Hyr8/lnxff/KPyNIgfITltGr5EUqC
LOeE+SOyNORfgTFSukVwxEBCchUq+zOyNH6FTk6wxxeMThGe4If+jCwF8Ve6B9zxVIr/oASAC/kL
Nd+TwAFCK21XSF+gGLjqON2PD4l4nuYYfTPRjYc7S78rU1zOEFnKbCnLFBCkTXwhWWeglSfnn0oF
G1IPSrY0zNcHPLnlAmuKitIK8VCpixT1I1JY3H8774e38ZPg5JWu8MP598cw7FJ01HQZPMhJrCcF
FYId+K64lM5x0oVGFGzJD3GMXaOx+HOZPqbZFrnTNtvXi1dbDk7fIuqW8L3CXf0gSFhe7PXsqhLc
oHTA/nXUPyRwjTgasaudBdndCUcFF7DFComV+AcxP9u8lK4mVNFKbxwuKopOjQ1yDtgiPNjkKf2m
PFnlRqMrKHii7LaLn+Tu/Dw/I8TZYdwY+iqKmrrsxsuFgXhjeL8gMY64vIrUBwJAwzZd3ODMdftm
HfBOVr1neoqrs8qrDNwPUc7YxND6B9ZBLS+jDbjEi0YrvEiS4S7V8AnWlpDK3qLfvv+SfrYUCHXg
tTA4gTkL/cc7KisAo6IIIbqI+kzIGvUcrWCQzolVrs3m06XA2c6Dkaut/ejjYYZWnqdaJVPnKhwa
tzZctdhE7WG0SrscnlXdXtGbevOUFx/b7ErSroFZ0q32TZb/jGYtBbRG3UkfwCqY001jPabGSDXq
2pD3knERN9fxMNnjEuym8fOsPOivJZnPYX81pV+H4sz+UX72OOtxD5585XOfcviaOTKm3EhENzTB
Ul2vMk1GlvhReDnOolPGpZMm3UYj8zKGyZ1Ky9YweUC42mAli9vS3PTVdU63oL7IlicNf2dKTbXq
ZgYtkfZBDy+zpvWqcZdyV+Mkllxhes41ZKfN5I7prY5iBX1ao/+jgfivje9fdyzJMvw6zjxoWycH
Q9guAZwgfXGzQSvt9caNceFzU5PCKOw1dgsYivcX4KmBzuuYIHeACnBIw+pb5/qHha9oSx4Vsra4
oYqUevyUkcFcRZp6OWpVTo1WD5w47bdIvADUqJRoA5HPff8zrIv8ZHVCDEBTCY+9n3RnSyVA1bvQ
J7c3CrJ6+VJpGy+fiudx7s5RUn42FqiMlYK+bnfr5HFVwehF9O8RJInxN8M1HEqQ4ZtBST1vFAf/
/Sf7yULlFuPqg4L7qi12PLlzhVKjDKPFlTvlskzqxi4TQGo5WRs+jM3H1DCcJG09MzHPbPmfHCyM
DISWu5hL9jR9mKapTutO4xGTqLBHtUtwBtPDM3fMT0bhYl+VOwDs0oI9WbCgBORC5RndqAtXz/M6
9AJVmc+sj1P1qXWNIn+01iuQDEMPaP0YP6xRWBZlofTignosjZYZKFKG9pfSS6DXB7gIWXKNCYuG
/XBD3NmNZw7pn9wNAIZAbXJwqoQrJ9HxYo1Zp+rD4sb5wqsSn+rOmlwRpzUkfOZ5H2qxywo+M+pJ
avb60EBpVvYmCQxx+fFDW1kLlyYLFxd3zRT5S2kBvJ7Qs3jSKW45egLy8f3V+tMROVXRW4IJR+50
PCIwmjQcUYRxkxLigwrGyzbQMqGSgdplhdiwvSTWOVW1n2xImOlU95R1IVmnSXUV5GWLFM3s5tK1
hnI8BJoZBq5Vvsymcma5/nSsFefCvqfk+cpB+WEdBeqIj13KWEFV+eMcC16JeY2tJ6RZsyCd2YI/
G42RMA4mxuW0OZlO9ASzMGOBuGn/MMzyaKtLSTt1HqCzIaT9/rv72U5kDon0oECtB+nxu8P2epJn
Q+KkQRbOkSdhxBeRIv77o7x9JMzmXimS5NZgi09CSgyxkEK1GGWVBfe07MswpF9nJEMx0YrP3Exv
zk4My2GMISmlqXg3nRbX4tpS+rE1RNdSuf7Q0h23iMmTmKbix7mFG9pIy67F/rvVozMlr1PI8bpE
VpoVxEVQxxzcJ3svmuGHKCPGQKEZP+MR8NAmGK9O6pitmj9OKtZuPtNQi8bcH4Ckus3SPtSxem5z
vNmRfA7g7xQXQeMTmZ681WAK9aIdqVqMS/dNZnd4FV0ROKT0muinxQKQpvff8E8fnXCUQIASF7Wu
k1ec1OaCs2cvukraB7aJps5YW7d63aH0Z6GMABr5Fq3l0ba02rR7S30pBsvrVkz2mU+yjnQUFnCv
MPVkfwC3VgHX4yUtCsDpAT+TmqVL78V519khIsBiUgsfa1O7nsMJZ0cEr+ioZh8mhJO9QTT3mhVd
CeoQnQk631wCJJwkiTCN0P7gPD65BMRk7pHMSBasdWGIpxEAFBy662J267HR7VmO9rihv7w/B6/i
tMdzAILUkvGGITmAAH+yEOVQn+QsNmdXxLWuz18GEoQw/FRW39kztjWiix34QeEJdDR031o+5vqV
ml6J7Zds+Nj3O1n4EllXcV3Z9PVv6XBS0d+Go+XmWAAVm56+t/Yd/hS6z6pJh/4+ADoueRUgm/Bj
Mn8eopfcvB3Tw9SeUZPCqOnN+yXSXQM/GJUr0/VkpS2CTmmxYkaTZquKe4Hs09C+zeZNPobIWXyu
AS4M+nUwfyiziwCw//zBTC/Gys8jUhjtqhk/SiH94foWzQk77j7p/aYzEIbaFqS15Qatttny63qj
7bDlbXCvzhyok5XgALHQb8LRa7pdSX979INklymXrOyivxXCb3J2GOQLpXoqi4M6+p+ndKuIHrYD
vX6rSO4Uucqn6XMm+333OET3WXYld1utv7TIoehrf9WiT1P8aVgcXXgJo/tF3WHQpsaO1du5Zo9w
Me5myQkXWxy3hdjZs3bTNRfyAAj0obS2KPfV+Kc+UxzN47si8CAep3SREld+AEpQABVfrgjHs4jn
8NvFgwFmWD5ptqZcVOGtqdEw9osipKP7YAT3de+YxqUxbAhfBHO3hqJNbNcGItK2KW6Hz23trU3h
CHCMG5bu8CxdaoGj99ei7OeAEVCHA+Aj7BPrKpmfdWmFqvtxt1uGr3n0dSo89PuL6iACxGh8A0Xu
ElQGdAbbVJ5E/VDjcmJjHGcMqNFf1N1WQilV3U3YaZtnbvi3ByZrCuj0ypAFKiifJLomtxOuygRN
eOlixSwlF4SEiRcK+SPm2bJjcq6fuRPf3Lyr0SvxL6L79GSg9x8fU7RCyqaZ1hif/3DyYVBtMxPz
c6fha1Xo9CggMlu5adxMUKOOx6njSatnEMPuOFxn+Kubji7fQoErVHt5bnXe5Jeq+TD3d5P6TVG/
t3ViD+3WBOIsi7uodSXIqbhQU9Ef3N70hGrbxZ5moaa3MfBakFpXNz8lPcic3huGT9Et3frgTrhA
/hD6YOlFtyQtKi0WwsCL7jLcG4dctiPdjy66A6IplKZLfjkkkI12aK7qe1BW+H/qs1PELmXu8paS
Qmk5tbQJr4bssuq3ueJbub1TIBevdduh+2DG9wXo6vll8UOAd7WLkbdQumz6iix+roGHYKkkao/V
8tyVmA5dtJojDa45X8XtTmh9K/zUNFcV9AnYyoo7DfdUBAAldanXTZt+cYfxQEsSqAxwigjBa3Pf
tp81Z+5ug+WxzB5y/JRVdtkgfTFzlabsuO9QShrWlpLwpJpbtbpGmsHpEIhu6psh35f91lBu0/nb
+2f/m1iLnBF1DGoca/+Hfx+/767sMgMTEd63ntQufFNQKxrpjaZeLMEcuH99NAlWGoJIImRv82R1
yTrO9q2KNnoxKk6iUsUbaxnPpDaQ3MI854fxNqOj5LtiCiwa++zYU2GIJm0FRcHF2F1MM3TmHO8U
tJYaP13Sg9qz8vTUmHwT6EvQSvdWo2pnrp+f7FrCZGJZFPCY39eyyA+pQGKg+dOnPC9aZVznWZy4
hWyds7L52Sgwlagvr0Q8opnjd9iI7WKmZj2hfGF+i0dECXNrOJeE/2ShrILl9LmMVevn9B6VM2tQ
1DYkgzI0H8t3pPSGoqZSG4S2YeII//5KeRsIrWNRLEI7QqOwcRKWJTUd4X6gYdaUer1NhL0lUkYj
2wE6W7hBoXGNm1F15mA/fUhTIghiEokJqZbyX8czaVbBUmsTOEOlGD9XJVKponmQl6/Y5ghnHvA0
8WAohllppwphN+qxx0Oh2V2E8Acpa0tWf+B6rVJToZ9sPSgRhfRgP8SNa2Bq5r8/sad319oVoPON
H4K89kZfI/MflqQkoBc4VYBOk4CTts77xM4lYGRwbkcHF0ZxOc8uXF/Wj5cKhRUDiWCyHcJsUv+T
BapEotSbAzZWlVbp+15oDuKADOyIuXAvpN5StDBdZHnT9/VuEpdzZLu3bxUxWgamrkN0S6J3PNVx
JoQlWqala2U1ZdZZs/uSsKmZqTV0i3X3/gSfrlwelr3IJU2xilj6NDigvKQHmZBUrjhdt2MZuKK6
evhKkV11RuT3pvmlK17eH/PNS5VJYileoT9GlAs05fgJK33oFgLZwhVNkEa1DCYZYcTSrSFpOk3V
v6R5GZ9ZwK+loaO3+trJpehAEmBQADzZLLHWClLZYztbmjdL7Fup5YnBpdk8wAC7xorWFisixhFY
dOGb6FpU1U7MaTz7g3CzjF/S1F+EbdTYi/glGh4gQ/pAAGMRV4LqsoeOUF3Oq0KTRco7gKDtbb7X
qm56CQkGKOI2v0ATuOxbP0vXHxWQD5GCy6V8eH9y3ywfnnNVUCTwojKHLv/x5JpDqWqzmRbuXDX3
MAcFp65QwUO/AdiXXilnYrA3BwM1HFbO2kaBvgQW7Xi4aQRNMEU5mEyJNLBHIjxCkVLIK4gWWfay
KBg8tWJ8MxTqzfsP+tORIXQT9SH2SbnseORFinWpK+vYnRGFjSYERQwIdk49RMIG8Vz0ERa8STx5
sc4M/HaGeWQKglTMCQ7UU939Xo7TVqmTmC6luJnFEBpJbJBszZ3lVPm5m+xNMwLL1XVe0aZa1Xwo
0R0/Z6atyg7dMrll1tKoal1kNfRt3k6A9vT5CoyXX1hDcUWjDDtNRFYxXTlXc3ktjR/vHlSK6IdS
beaz0Iw5/hDQMrUpb3A5UaTQzrNdjXZgODxIA9EoaMBejT1xfMi3+P18APjcZnRY450atZsi27Hg
l7L3AzG96ARvTp/y8lKwZBy3BltA55QNUtxHdKZMzFP1G6vekdiTh+ap30uBg94I3Ag/qJ9ovsgt
Z//6lU0oIYbSUOCowt2SfRxjv7MGYuLMVioGuwz41VFHLPqX+0O8EmyYKLvTQab6YZ3MBkZQJjKt
2kAZ+iqWoFKYSHNfIEM5210lOSOkhbIvUa8LtduyA+MhA4s7c6C9ObjXZjkwAgqpyipdflp7CbS4
qxdSAWlAmW6JRW8yBbsaPhqTARS7wRcgFPz3t9zblc9NjII+ls+vrdmTLZeZWZ10Td27SwfAucct
Z0libHJUyiLqOWQZTQwW1dGiQ9eD62GFSDAst9TxohuLvllGYexc8VZ5Lu84W8SPmkL25KXhbWC4
SF7wR+G5WLWfbK1xy/5yoOjT2pi/ygC/wWs/LBchaq6ulLt5cF1r3/jaT4+9dQ1ZJak3puQLcseB
PdkQK6b+ymAJCY6sUWLdVZENrihrvEK+K+fPk7pNoxmJGkrkLDwnFx0SI75Wkq0jyVfbCQptaIHn
bhK5FlhywEyKh9aSgWoiinawVju3tdxU2QrxpqWUEfmZsK21DZB3pbbXqDtwUmitN8r1ctONdJnt
7IPxCG4XBEKU4ru0lYqtmmwsdaOG3wrTn6oNteflCokac3Dof1DUku/10C1BXq2yS1eV5jeNjzUO
FsCJuINn3kmbQtzOCyo3TjdTw9y04Yb/qaJVWmwWeTN3u7TwNYSnRj/50ibXoA2lz1Vsi5ETXcpX
06fxJb/Qv8gb4bL4XlNnSTUv1K5D0x7nS/wD7X7wU+UhmJ+b+qFKn+P8NoelBKX3pgq9UNqLFnK7
ri461rfosJw5od9cDevCgdW+2uisXY2TCE7IJKxmEGR3xRY2DGJApoPZ9HZQWjAskxLtoUSrTmyg
bCTSzd29v0veJHLQMhkefMna5ABMs67rH4JWXCYmU+6lztXEwiubBF08MtZ52AhtYvK2NHo5K/A5
DUYAAkN+Trj/zTZlfCQn8KYBX418wUkIsKofJXoTstSEdo9iVucC/LzPlpqqSDGdSULenEPE5RR6
NO4mIPGci8cPa8bR6lgI/DxRm3DbzsGBCr1fzRroljl7CjsWQzLX55RGTnW3SXzWcQELrYKZq0z1
8bg5tt5NM+rA3hMNHeZBXvEbsmwXoI83nNr5RawpKwZCWjVF8cHOdM0Thlhy6JEubk6Y5pVZdLGM
1IGKXv6eL4W5J26Tc2fRhsjvYoH6YtwF4B1x1Xt/jbydNUIIFuca4YPMPkVrLHQbB9QhamzX6otG
67e04Jx4JGbs2ww80lg+jsmZ9H59E8fHKWPKeGKvUAqQ2Se3lp5XJha+KDLNiDdvFm3a6Hq/H2r5
gkaOwLGan4NbvV2IYCioZeNNtOp7qus+/WEjDEFnUUIBEkXho9tnwtcMXg8oSeFqnOsPf3VG117Q
a1cc8QNLPFmHcVkOrRE3pYvajbqpRapxGBNzzgheYsDsCi1rT1h8Tq/k7aSy9kDUrgginVLnSWJs
xZ2ljwWiZrzQ2m6l1gNuI26yQJ69TBI/pQkcz/ef9G1EiGrzajHNLl9bj+ZJk6DQWgmzpxSTwGlQ
bHpAMP4Gapr60ge7QhZiCnHZuE+rHKPmXkYSxxwjZ5DSv3zMYnCzorReBREREzh+vX2VKjgcKbkr
pjKMTg02hJUtwOhyxPhWCSyW8KRH7qQtt+9PwduFdTzyyayjwNXD2VhHNlxjMgOocbHl6K2G81Ry
ZrrfXibHY51sm4r6s8FxlrttLXyZTfL9qMfvEzSv0l0t3aUqJ7WPTmt0Ztx19o63K+NyrHIUUCUD
8Xk8u3mMPX3VRxQBQ9gv/YwgRSIU4Zn87WczSVhPisFFASryZIsiO56EQgS3WMsheMai7s7KCGUu
xC5Zi86BDX6ydCGirMhLstRVIurkakrmVrPwicR9ccqeYz19KSGVz4MUHEZujjKAx0hMHWWGsaPz
GNIVOXc7n+K6uTjWj4AGDEUPRGX1k4MibGhWcjnizDJ8qaK1nF4YEX37pLhE+6Skhz7EFyVCb3an
Sk/qLKCSTiMgi5YAEWJpvGwobOChrUPQ7DWo3Qkxpxnh9hQJBZKUMJPfX+xv7wo+MOLyLDRSL6bt
eCH0ipYoErBYN0qE62pABDBUK19vUjfTZ59yFZzHuDmnHftmYaCoB6kD/VECKRK+kxjKFAJoI22S
up0eD35ZYZOMOIKlGo9KnppnrsOfDoaYBbrIZPLUaI4fsQxMtRvaCCvsGM95yUIcYEylz31VbVr6
tu/P59vBwEdC8CB5YwG+gRqDWxJhu9HwmMLma1OjNlOZ1qbPDbeQav3My/vZYCvijFgUry3aVMdP
hhdC1AmZGbnUL7emrm+0AI1UmfjUnmL95f0ne3MZqZwVdBGIx7hvockcD4YpK6A2idZSTfPANxI9
J7Y3nwpcZKXcGHZ5hAjD+0O+quEcHVMnY55cRkJOs2aIqYZg92rag55uygqycVr04qe+lTwqF7Sx
a6RSJX2CeNZsQ6SH9imhu1Nkj8tCcqZPArzxwMzsAima9z/gm93D5wMsQJ2GhpGO6vLxnExzH3D+
qbFLFoCzWqZk13L3FX+RjV72s2ul0Y2ZjdWZHODN4Q24B20ddaXarDnsyaj5pDdKKGcJ1UYh2GXC
8lWyztb/Twy6EKiWUAcGqU+9el3Ip2gqE+xRKMtB7P4v9s5cV46k287vIj8bOQ9uzXXqzDPpJHh4
yMzIITJyjIw0b1vXFuTJkiNAgqwLCHqfhgA9hr5i96/7k1dq3vYkQEa3QR6eyqrKjNix91rfKqtc
QZVoEPbmtKftWt/1/NGbHMK7BLTPwVim2IyJ896X46vxl1OemzOCalFHN88/sfCqI7Rh7CGO99B3
XvGTx+D7TfT3K415rgG7gVBGb/39tzAS3qxTiwx5o8IrL6mvhxYP+NhnxRGc0yrxPuQiuxSh8X/y
9f9ALuWVsdvSmzyz7MFL/ot2ei4zf2QcxDMhhkMxh9kKe8OhI7lkZ5rO3duoovsARXHqZGJrYLMJ
c6qbowy67mOml+c/vx1/OBx+ux6gPOQc8qiinfyRgTYXlo7sDtKaIDdp47UeIpONlZGOlvTwGLKm
2S9D8oryhrz5kv7yn7/+90vEHy9P0whIPunt4N6+/yIEcdvTVPDyU4+qwZj50Zp7zAT2bdsnkG+m
nyIKv38A//aKZ9g9Q9szQfX7V1TzGBqGCjwKskChFizRrfDWSxPXmyA30Fum6OilUfD7HfeXPEj/
R5zUd972P3Uq/V9ocD+b9v4EPPXrv/vtH/7jb7/+F8zt/+M//7f//k//9e9dSOd/+wd4KvzFJfuI
sFLCis5COu6UP7hT0S/YLji1QQfj6wrOHvY/TEih+wuZo0w6z01AHEcRX+YfJqTQ4a+oelCrOuSF
cPD7KxakH5Y2nlgcd9QDuDCppqAG/nCfgonOHX9E+i4i0d/1ReIc6S88poR4osQw6THpBOibcQEL
rqxg78aFuC7Syr0QBa0rp9ObWIX5Q2aX/mERMJB0NFzahAjcQdX+yUHoB/PF71fL54J1E2krp+sf
qmjNKBaQuPTWM6XicyorJ6Jt3cWPiN1DvWp8xbpTJEfXVbpBeT629/nU1fQco8I5DhBv4VY5pFsW
uRdjJa/ISc6rM2MrGQuoLwK+Hl0U60tJRsG13dbDddFG6UoZH4US/OPljjA9trdmCR5UnGbd2k8s
b1kVaX0Or3fT9z6Lw3gVz8kX4iTn+7wNmKW6oVXeOm5qE3kXKTbkLq0+Un01P4Np/pCTdP6E+I8t
GIwyU3KOy9+vAuRnL35Qt+AwmmiVjEl/yQF2upxYdPtDTn73Olci8lZNrL2jyNza5hCS63ulIvCt
mRQd1ioRbSvb5M5WhgrFZStRyliYLfE/0z39u6fm9vcK5u995T9YZb9dMSLb80ifQL7znOn7K7Z9
p497jjBrdnLrYZBpdbSbwP08EHPQrTCc5hfAHNMnAQN6QNWVZges0F/9tBk8EreN05FMhfu8GAHV
hlkbIR/xbPNst97wnNYKcMiYlrpfDWmf30+qn+/QmI50lhfC8WYzGSDCEZBG/tlcfFyKMgRFxLB2
O9BuiVfBoB0aurmXv49LiDW5mHww9jY8Uk6Lg0GWO8/qbtHDsE0tNRLDZ5kSr06UP0ZSp6+j5xCX
Hub1/SAi9Wm0eRtFsBTuZuHgeZBzlgMJqmPrQ+6O3cE4cf/eV8paDXOVc/FN3ZnNtITJFedL61Yn
kbppagOFJhkccffnX8c3Z/I/15m/fx1na6D9zaXCG/z+67DauutSG/+d9lqx76KUuGcq3G7lVfE5
NyjrwnKr3TRfWTKMt9LJkl00jv59ob0KGwRkoLC3aUF3ILqiIvK35zYu4Fjy9c6K2Zbm9VnsEnpD
HtCkgrUFkxWFeruksDG0o8zVmDYHjoydBn8h+JJsP53Wcw8BSDvTJb7xMkdhPvr8I2sQ69bk1TbP
y+qTlNb4XE3NMuzKsomZAmf5lYRyD3geJv7DAFHhDOgw3dqzi5Se9QQvkzdlDDkAhPBcRkibHeXT
5YlT02y9HPGlZ/fluuxpdVpZ3V9FjJyIRKtcdb1YM07KSecXjdYzyJx5qEhzqEDk51AraCeEwruF
lXVj9ZQ+cpRjfmjLO3ds7XpFwO3OVibbSZVGL/QFg34XNkH+0DGvrzaRsE52k41MXQJ1U8xR8SFs
q/mSdHdStpcknn/So/i+gvj9q6fL9E1sTFv7R+h55S4lhf3grseKm0sQPnhZAqG4bokk2S/aCzdx
UPVvzZLbP8Gt/1A9/vHS7JEMoJgkIMz6/q4jli1Oa124695VQNcsNX8o6LrTsnVPfTxVR38YEdMG
Eyg4emxVQvQ6MQv5lZW0MAwVt4rubfkTnPm3EfMPDwOTx3PoPH6tczrT95flzD4jhgq9bKKFt805
ge0L1WPCFxHIqzOg3lMe6NczYVU6SbyKrKx6ysCvrJu8R7jjTfZ+hOe6cTPvLDOOwnVepngF7Qo6
WCW9z5QH7brtCTT48wc5crm2H6+dK6f+POtRKcq/v3Yz+nVX5omzTi2/uAxlYeZt6rhGHtLSeZAp
fFFIb13yale1NWAF625Kpb7mdZG6KLPzibxMPUYMxpAl8P+6tm98fDrFDpBxti0aV1wbu20v6F+4
+UZrdpgVHfx22znOuDVi6a89GRKB4Ru1DfgcX6oAN7+TaGerGwdjhVC2OpERYt5de+qSVT4v+tR3
1k2R6psl7DCSIH8Vj+4Qgtmzy6S7qXmuP2jHOaczFGq+GpeKjb4egSEWfnofVNV8XUvBnQu+0Gex
WjVd5pys0CzWytJJTLaaT44BFYLYEey0AJpipfK93ry6Q4ygOi2c11o47kwoYz5Nawvo9L1fIruM
QNYeq8WEl/YgntqwHj5Fpko2junDDZG5LJKTyfOfQuj/N88lPgTaeTShz9XPD3OusSBTFbo/ExUt
YFCOjn+oJASvTlbTtmcqhEOYIefMNnoiv4UuqQ0tpcyWdi8YHu+q2v5kBgeTaosrp6s5pHcVYEOl
zLD587vOO1/LD3cdPIfzZIBZw9k98v1d12eT8UaUXWvmbeVL23rxyUKO42U+mL8iDHfcTd7eDhsH
B0uIJqFtP7RTqS+SWBd7dxEJ95vvrQeryGGvOe5xQPB3WhxYDpxid06c+0+tWYJNHyUWBm5C3omB
tLYJCvQP5dQU17CM8n0djfWhs1rrJ2vkv1ypOC5iqDqb2qmZwVJ9/wYtIdK4bjVv0Cnd20Y58bpp
Fv3izkNy2dVltHXIBGDL2njVakpm4jjCiYsfOWdmY/hus6397Fn/od3L8slFEcvERnpW7zEi/P6i
VFynpMjhlHOkX9z6kZy2lumAbdKMKmOnOohOJqshfg1tdkrHv5hH/ddSvb5dw9kvwpiN3gPNkh/W
GyGKAZ8343Gl9OdA+OFhSiZnV7vZ8pNl2TuXhN/dZCQeIJLhFOBypPqG8v37edfcm8KqbCaOPTYc
ZNBR8swbo/6OIu6hMbU+ioWKez0gCL3tXdl/bCIve4YblnWbdEbVMgWBdaK1JJAkJJXzViKkJo4p
w5oA2CNcLQZrBNPrZV80XigxqnslcUOsmVduSEXUeT3z/3OLG8VZ032SVTQw87ZFe0GKzRyT7fmz
seK3/vMP7xrGOToYRghoJn8cR3GIIw9OtvZaU/Vs5AxKnq6YvNR5vDyNxvfpakT6vmuq+LgUWTGs
eu3fNJMfMVPJWn48KDp087wCsmppHtrKEpBJjGO9ZVr0D46lTvbYNY91JxF3VIqcPOK34u5T6y/x
M3VDgEovawYAFSXFdgBgVDtp7BDVcnYEtWLc+I4659gKfePVi3pHF2e944sQH7IGiX+ly/jkwUB9
0zT9u5VCF3lZti68FKsZw1M0Bg3Tvbw8OgvhSoBdI9ygbvyhdqfqVc2OrLZJ88QpbXL2Kocd5DuI
Jmo7BdTau2L3bTX7/72Nf8PD+SetjX+ArvJPv/36j2C1v2tq/K2n4fxyVj4iLj+L1GBqn9ejP5B9
v9AGxuHKfCJh6h6fl8c/eho+zBWclAjraJ0TPH12sf3R0+CvfC8Afc0mxp+fuxB/AavyTXr5zw8K
vL6z4ZVW9DfzHu7lH6o2N5HW4NP6W6VpY7+JqYhuAaXNRK8vDeEtDIr7rmqO6RDFT1NUDYeUmJIn
WrOXLV7WfcLRLxnMeuZnitpMN5FP+JI/zeJ57nw4xTygWzZXvH9+ItfFPH2u7e7jklUTMgNzl6pq
2kdeDbJpTKB1u015rJgZr21iyFZT5ncfO0d8bOf4g9IL2v/GO5k5fbLD3NvJweT7tO1OxB0jKZ3l
kwqd8XrRxZcULGnbkPTVZD50QF2/tGaiAGhNdEFQ3rD33MFsndqJtgXHDUT48/DZt+x7LqW+mkrY
0WjXt4mee4w7s+BwZdwbKm+xqx1TsL8uy7pMRLs2Opw2qdVAoNYDpDHH2plslNuFeKzdoLtsqxrv
vfGXdCM08XBlUMMly6fHolL3XqYIb7Ve/Cl1+aRF8NWanYt4FvljWnZIu2B4Jo1bHRBfkyxD8OPF
MsV/lO5/6dH9V/A2/3Wdy/+XqJzhnz7Zv/773379T7/9+m9/+4f/8PdP9nno/TdOfvTLOQ8GORdx
BQyHPJ6eP/qVYfILk5YQ2XMA/iTAK/C/Hm6Lv8JRg2Hh3Ov2mXDzG/+GTXLdX87tT1qW56Ejes6/
ROR0MSV8t/8z3aDLRYmB6hoXTcDY/vtyJ9ZT52qUZttp7GawDzzXNXhztxunK5kJVz9abmlgxlfa
8tDSNWBNusbxzVtgBv8tyzhvfxycoci2wMc4/LDd8gBUoZ8hZVJmKYPVQJ/xfmiSXHBGV+WYr4aC
zLzVvMwzTPvFSOemrWK0yMvMY4ws0gvaS9tu/Fitay/K9aN0VHClC91y5Jq6oPG2yPeWGczI0LYA
pjGylM9V07bl0W+brt75XaS/6loNH4usc0GDDMTUChOFW6kZJaSJuJ5tb37sRojnad5EW1E0N9bo
99uyHoEXG/EcUvF/tjR7fD+h0oky82aL2DstiHQyO0vXOXk/kNNZHhdZtislKGFU7fj7paDf4MTq
VJakkERZSTByqNKjmZJT0AfVjVdiTgHjgyjD8+96szAQ61S7EUZn26kapuulpOjFQhhumii/40SP
NbDoroORhMAhN93DOKlwG09ZfDxjC9Zo9GCGB8MXWTvzxmmjmywMumM7WRcqJgmB1dQLSuJMGzS2
3SyeyPQd93rKll1kiubOqdy3pCj8dZdU/sYnb+tJ1aLblm4tt4VdvllZ/FHOjbfivmz2ob189sLc
urG9UW1dUWAq7FB8l/FEj7YR00OZMLbjIaAfylvtYnJVKpmlTyUcuY+CO+AgVKi2Vs+MdehijUag
pk6JOSnPj8KZc/tdLwTcuJRqBcKcaAwfWinMMUzqFJrkNJ2j56eKcNiuaSwU3F4daPe6EIw5d0oE
w7AvrNC+VO7CLpNUWZtf5GMcPVjzIM8IaGNNjDsdvxWO3niTE5vxihCkPLyNEMbHDVgQRwbxV2Vn
gzGIs8Y+cW9zP7M0eHs92I646LtAyY2/RFO7b4Pay7d+toz3ma0ac4ob2+k25Ic6D1oF7qdogVBr
MV4+0CJv70CGJHeT7ruDgBywduZwgbI1pKQziCF85bZl6GSN9N6YpwLVsuvhkJdde9WlhfrqZcgU
ZSYbWrWceC+0zMz1mJURjflG0XTtn3vgOHiOirNCd4L0lVGbXqMmvc2ixtu0oVevhxiBIaTTMIfE
zsGbL0CPajrVrBfxhetUhiQ9ZETzglAyUgSmztZJYyM4xMmAxTJFzuxbliFp01WrXKRtf0nKI5E9
vepAO/VyJrdz1ZQmeUvyNj1UwaTIhc3TYaCpkKUHzhgMONv+Ke+aAMVGQ0xAPZFrqhBS78yoiM9o
QrOPLAsvqOUkuyaW9s5vyUuA7aXWcRrj56qJqsgb8bqoAPXLIFHk68DadEW7YInu0lUiRXknimW5
6P06BoyfcbCIb3rhilOXKnlUWccDGyCrju1O72Kqi1eaw9apGbQHHG2Ir2KKh09ZxqmlnLntMzoh
J+1lycoPzj+ynBk92q/2canjfd87OdEFXSRwaE/x3ma6so9dqz9WTB3WxRgs7OkquSxpQF43EHg2
TVLYB1Kzi5POtXUC2+zTrAfZTfO1X/XUWmde67HP5/bB5jmB1cVLloNpH3yTxhCLv11V8px1rFhI
7BKiL/g6eF0xdK/fvsGmV7Cz5sXboPjlN1ih/tLNnTwEdf6pbCxxQpJhXXRNro9ZLufH2PCRsPam
N8Pg9RyECT7P6SYf5TQMu94PeX+t1jttN3iGRyIcIkUoj+gIQdUzdVEbTXoLNlNBpgtyfD3hBzrC
xadvr98kYf6io7Dalz0/YbdZcv3tMyQ9bH6053o4xp2fz1cZfZYXm0fvPWP4fSXpJ78zWrKRDUTF
pz5CodV3C2C60etepUyXt7mekNBH2Qg2ckI7EMx9+IFwv/k4ZFbyGPXYirtFWs9C5e2qol5bYZMg
u6WS8aV2wnJdu7H+KrSVXZV9TDyMsyRrh/O/il8QwiVWdGSKNgPb4zPGqMajjlJsuvDmUNFzKWH6
ZQ1ma4e4Ls6A43CBt5SeJ9aU8mjJpnykpvMu5sjM+0HDSGjsh6Et700oD7P0YAbFepsHeu/io+H8
tnNHc0DJ96bimFBd8koxzvTywo4gHeakiTJo4EaPnds4W14mkZAMW7bdWoU+fpba6feLNVgbfxq5
mcxidqJDYJ9kPWDPMVDbtIm9tZlJOIs5zm4zkTDQp0t06r2m39u5JIRkYhIeyshZRVmQHbqQW7zX
536J6enhtY67nkdw3ak2z7TgsIxHzWPpph9p3X4OWjyCjrQemHW21+wl4Kk1XVTHcettMRJUaiKW
4nHJk+20xNUhGcrwaSaiduPmS/9q8kFtoymyTp2YrH3f5PlWdg6q4D4/OklrWLj9+Otsk0tnIpw9
E6m5lWbLEst9P6TjyermfU8PedKht1HGKW/c0opguAKDiDUgYgS58clUJDSU5bCta+gHSuVPqUSk
aenUrHTbX7RD8dIOy16FtDbDagr3KDsJT3ZwDfjCrKDRyHXVuN3XAZf2yvJ78Dd9OjGCc6IVUv/D
MlpkFQQR0SEJaiKOX2uLo9Eu85ujbyYXh1hYXWbYqAD/1xipJLmUsspZBhlcXUwEBaP6G488r8Xe
mg1xy446Dsl5rW7y9ZAZ+akwAqyjN3h3mtH5PtNTug7SNrmtg6G9d/qQnIAI15OMq/ih6SJ3n0nE
DWWdIqqxKjFvGNGITY8EE5Rd5MvDRIf/Ls08CCOcVTYi0e6xrHytuflycb30dXVDC6jesVafBVzG
su+6OO1eOuNjNUGlOB4xniUbClLOOlnDNhIad7hgZvguJtz/qevoK1sO1Rrqr8M8XNV3wgZXuLRt
diTQ2NmmNRNftjx09Ckec+ZqYCliSDHXKZmiu84uusdalT7ZHVbTwPpol4+Sc+yejgiZBkHXr5cl
03DZ6/DCeMUEna+1TqKOy2Mge3J7wiI6aNar93lsFLckGsai6SZu06y8dBKSWFkXneMU+gYSw4zG
UOVWUm8Wn0Umx0R+BsUZl1Ad/BoMtAdlNplAi8jwOk8uxRJlm0gx9lB1o67gHHaboiyrXWPwpUki
sB+kJrHdeFSMYWyytSoj83FyLYadlXt2L3VRds/pQG+iYFq2ctb5lyJogi3+o2LftjkRGrkXcFMw
0oV9APbDplLfpIs2t0q7yR3+5HMJTbBLWCJtb3T6mV9c3iZ6qKAAsf5P9rA8AfTah6k/rEJhFceF
5BtPG38TlsZ8YeAdvsdojfdWGOHYzEoIP55/EEXar4I01fvZKTQbImMHOB6EeSu07hSx6dekPkcr
o5hdsSe/DqXur5xONHd+KROsaM1zK7pyq3J7vpAMXh4TSsazIF8cmemZtTdQgA5mDLeF4RfFkfzK
jn6/uJ1cpWxlK5To11My3qc2Emft4uVgW3bHQ9exm6RJXt/5JqY/iY5ob7dz9FIlw2NBaQ8Drn+P
kvGzXYXUXoHlbWQJWrXSDptZ5i7IBJNMdjtypd9CXSSbMSs+RdXC7rfUDfmD7U3HM7YqY9+HBzOy
0yp4xpQa/Ro1A2E6pQ34IrWX7TRA3pDSveQsUu/lfKZz2lX+bPu+I2jnVfEpwwW9blQ2UCq7oJF5
LsecvJVZso52nO1WmSUVll73U1xUvL/Clp+G8x1BEX9hFOk7Vg6JJvWFupslrM/RqdpTnZeSr8lN
mV0k08VoE/QhbEPoVRwe/La1V6QguKuph5OVVv61DMJPcdU/FdInXyQCqmqGEV5HGRJe1qboROyq
5KFf1L1Fs2YdZ/H5S/3iCYgdog3H26zR83Yo2y+6tyh0266mYyKZGXuTfHDzaLybLIl2xBWhe7FY
THuhUhXcbGP63LeKCSUFVrjTVEsroxZINKLz90mUd7SWks/T6DJVDke59lHy05Jy0+PEVneoPOux
bLyjZ8XEl/naPgyeCG+msiUhx1n2Vl7jEksAflUNXf3Yz5NVnyUhfrrOXVdjv+zJmM9XbNue3HJI
z47ZWZhJPVlsBrHY92nuWS96QEU9pfOdkeMnZ1HVk9QkJwy+ugeQUTzC5HT3jPG9D5yr+t0c2+8t
opyLxAPh5EXtjT1bN4vdXNfAnHRMpSUzgpKVKuSxDGuDudRjUprkb+UsLm0+15cUv/iKcp3v0UH8
Xgn0qSHBDB2gjfUQgJFgvlxtJ7cq98FAo3GVVAoaqD/Ie+3jWm2tgu5U6pC55Zb2bqJlfyirJd36
+E5OU5pRnlkfI5mPV1ECftWrrelLWsTdsydwJsa1SHa+pUljEw0ewFKlzwx95XUlbL1fwgB5vGOx
haUx2DMmlhtPUPOkfJihrbNbHXlkJaGtvxFNXhJ80zREaclBXwUD+iDJBPkq8DA25fWIcojFGa26
NzNNqNtr4Zp636nZlnjjbG+d28u79BMQVHM+3c2msvbz+RxKsQLSyx8CDt7t+ObnPnLezjUb4jwM
IRYgU9ezNbzlE6xZeqBibXDJ7UMBBKrhwdalcj4Ei6bdHxfOhQhan/ufGTatj1ejq2zdFgR7Gdbs
F2lF3V63afRYQbu7y6bBvyyYaaxhweLUT5JlPWUmOwlZ3k0tE9RsCOlRutULfrTwEPsq2KgpjtbV
0E5HPcX9Ks5bzbIRinYX0tW85d2Jbds31/5Sl2oF2i54IHP0Q0cW6WoOS0LbRuUnt1LKZSsSF31B
WBONW8R86LWDRiOwqURGAJ/UZyFjd51Vh2Cw7JOEQ7mJR85QVBvJne9V00Mfuxln9gJ1DT1Kc583
GUgxOysPjWTkGWXFeMkRddg2UQaPOMdxMHa6fAQs0tx7Em3JymedvWq9ititCjSW1wTl9ZjG07uZ
S9ZxxFWHqKyyhxpB06paYrmdG996HbxwBlUL46nqJIhfq2w/2K2vLsRoEWRE6O+8c9ozDsgP8uc+
L+5yu7nyOfxnuf2xClT/FNPOIuslqnbI17B0J2m7X+bgSbRVsC0DU7/CxWkvy0zFK8/R4qVVUXU5
FhQBTMQ/de6ktkWVmv3YBcslKqUvNoOSU6bz5TLVaGyQ+s0Hr5xJWsDZs8pjHrmkyPqDj44H2QVq
eZVmn5vZ67dpkb5NbT/uq66+6jh+9Uvf3HTRLO+i0IRf0xAduZdl4+VAxXdndakgbGxcMK9Omfoo
ZVBd8tFB9Khifx8ZN9nYdt7foWL3bkcOW4e4Se0TEoBmTTRo5ayCdgw3TOoBOPMZpUzmMLxxQYsk
Mw/tP6DqMNgseWvEyhRtcY+lcD5MQkZ7TTdvnQS13icystZJ11qviUp9cE1LvmnatH5YNGHEWZ4p
PpicEEjKoV2v6DGuCpeUuTIIXG5Cbw5WTgncYAtkcdo3XpFvxyFtrzGYpddzUvagz0zN+E36HxvD
RSEhKhCX2W14cFVb3y+U1VtUldZTOHA8yTu8yKNLZJU8dwnAGNg7q2C3NaV9TPDPHbguQjZmmkn0
Gqorf6q6feYP4mu1CCRNkXJ2uhyqAwK9fj+1tfnQKxYfO0u6asXC538OXeTNqlniT3HQlIQmyPFA
/nN8CJk47Axtm9fKHs22gBKJ1XocnPcEFPHzEKuzU1eMyb2jYvumXQr7s0wGpmlT3K2HIfK/4C3A
GlUajM4FMaRkTshdMtKhcVNuyiSf1TMtqPRtlEVznRaQ2uUQNZeZGsjp1FJ/Fsn4wvi/vEYg0h7G
oaewCZK5+Wjm2b93Z2w1/kzMTyzUwBLix2+TWPKTsmxg62zcNb5SE973gVU8TH3KIty0aq3r80Fb
GuuimbGZ9i1KOV+xCTU5p2ZSGaXtrfzGia/KEpC4Kkbx5pUazyfbTkYSvVsXgO/gSVfEBCk0awJX
Rd9F1x6TY3PSSyLUPg+9fiXqcIt3vdz4KkLT4+QI3MvCmU4j4qOjz/yTs1rWJjdyLqJ7um3llaPK
7FPltji5K6tm0qKXbj3l8fRSO7D3U1Qjnzt6bo9+FqanJBytTWUsd+cSYn/RCGiEowcwrbUs68uo
YJe5oD36Nptu3TqaL5q0pn9WNmKfOi1rY7lcgdXM9hP9xssiKtM7i6+NotQkt+5M7nOJJhWqTqWu
VGqnF6yt9XVeOt4W1ep8w+PBGNxkw3tCIaSa7A2R1psV2A8+zdVLS8oXgE6kTC3UQ5M9bewAQkXE
bRLn7ntdj+Pa9ZKP4VjAIkl5t16dnWguVo8Dvg2qIBfnYvQUaqSYMfL1tY3mzXEGD4Wu7W0cnoat
Z1xSqQLCk9QZJ1HhMM7mAslIZvZBO7HEK02BadTFBLP+obNibpu+vJryDEIQCr/dVEii4/BvXLSe
O22qwTxncnxtWqZMeTBue4m9itMoNBibND2HDmKa1gcecJJFHSu9UsOAJJMm9ymyZXSYnerMwcAr
vPbibJMleUTM0lAcgYkPBzP3Zm861J92Ul40XTpccUwqwB7O/tsUFcUmz9j5xQgnr2n1oU2snT8B
qnWFl+1Vt/hfQlt1DyE0su1S+rRmPQ5Si4H373VOSELjHK+soSjXYR64W85WCa37sbzSMqH3Wg8V
6sdAcoositfRLutNlPv2bVEM1pVoLYc0soUYGLaU5AZzS75NxPRYi8rZOD2KZstoTEvD4KzbwKt2
oNbzu2mge2BrQPW9118tGRV9X9G+HccuOyZ9SLoRvaRd1GnOUR6H7K7hs4/tYN2FjnXhfXtn3A6P
szT3iaRUFlPpA+hBW1u0LSJaTlZukk/bFsk7c9T5Ih3dGSWPVNe6aI5uU7yoPrualPWupsICXeBC
njeRuLaz/s4GArOaIkazRJ9HhwW21MbOcKX6QfwWh33HaUW+0uJp15Mdcne5cX40HqB+lZ7r9trd
wVymHBvrrYWx6G5SHjeAPmfsePa65zixLharXVfWZK3KxENBOuv4JufhRmqhUMQXZX2M6+hyGPpd
7zavmJCRSFQRx2CyqUpfvPSFaLYcH1KoXVW8QzkB5bNEBue0Cynuorvyi+ZxDgr2t46erPTCS5mU
6Gs7JgYyz/W29aJ5CwlXbIsYAyJB86s2V/2qQbqycrvSe4ys/sOY0KbD/hmvMytC4e7bJ+LLMa+a
WBNIFfcnP9ZPvUkQ7Y6NvauV/YqmMmNpKadDOCaPTUjJ1Q7efOXmAokrZ9F9gqDxQgXjfRQS3+jP
1XRd0Rn3zhJ2hfZiFrtAgq9wp49TnjwEKS2Roin2rPRESg5uytqr4uM4l/Yj5WOxF8nnBc8Q/Ts4
i6WdPFJHvmQCUICvAG57Tf4gRvlumOdcl7BLdqMdQT61nPcojWg0QcwSy8rpBrVP2kUeNPKyCy+e
9+yYFWsat0TkCL0352NAUskdKbLv00CKa+My00/9TVPa90vqNxdFVhdItDjZJg4800R+ChlaI4jj
3OOIidFW6vfH0gsoL1K2DwuVzOVCGi6npOwCO5Hau/+TtjPLsVxJ7/tWBL2zwXkALD+cecx5rBei
qjKLMxlkMIJBPkqrsXag9Wgj/h21YLdk2LAfjAYuulC36maeJCO+7z9azu/aES9ZVfzUReGcMmE5
h2oq6wOebJgkBtZzNmbB3mNUu9hhRc11RXy07OjZRIBA07TnfnmNrp8r2zXHzurndZAL8ejFhDfE
bd5tslwRNe0Uw2O2uPSatuqzMFwjlymbNtDoHOnTsW4mgSZbzXu3gdjRYZf9EEY4eBNaHnEbQSBz
13Gk5orvxio3MtB7r22O9bR8Nsq5yEztFs/QSWrUqa7Ufad4AIuAeFWnLj/nzn/k8z4aj7BthPge
zx1JE729BXXdy6p4NjIl4R/qr1dt+kB7M/JH1ZyHnthxSyIECPMnzww75eZHEcSbxiUrhrsGiQKF
HUsvxrOfImRS+QOOuTd6Dre2MMeq8nJ+V31VtalQITi/ZGMfA94GzaOxn1R5FXZ8tNz4GYNMjdK8
ORmZnQKPfhbfWy0JujxTds4Kfk2tEhDKDU1Ap7ojuJust/AtH9qPAHlUHrfiszfWQ4CeHBvCs4+d
YI2k8DjBROZsi1t4XvFhLyUNfoa0LSJqA7kxtXi1c7JImWJ3bejdUZsot848u0eVpPNdhny9G4t0
PcSFT3h0k8LMwnWRGLCZMvNrQbpysoa4OmlrUoxZ6UdwmywCiwkqrNUmvGVcC5XJbT2bzwbn8dYs
6dVlbQm0bW+HPuVs4D2qEwKxSCe9zyAQiKyMTlmcJ+deOgUbntdG7wBipAJnJdG96TjdU09x7hfm
uJBVc9uEY7EDahAf/jCPDybyy5NVFsWVRi4ibRD/gqbe3BBeuAdnKYhytcLd6KKwX0Esije/L6df
fs/ALs2/5ZMnLTXLYcC2zlzto2NZCW+makfSeGYY5SxRfaGH9AkXJk49H2y1MclCPlUo4XQbW8Ln
AT3liNa29A0+0Bdabkll5fZmNPEJBI3o5wgUSHIGmlHo6LmI7eqgI6O3vlS//aoCeYCkArNYKVUc
+QnS/XPrBp5VS142ObmzCoKTSwGb04QaSsPa5Wp+89P21EcVkTq2/RCqpdqSR1Cvm7R/q3P1MGkC
kJeIdFAB/2+FPq3CTjYc2wV3Rh/Ev4esJwLFstVelyHt2Z2OTrFfPo1LeIzTxNup3kvXnnFmYryW
R1csYkuVaHcaaHcI67mGj3c+9RhLBH6C1h/Aeenb1WPATzSKCGNsioDBNYv2M8ToKgag9XKcFE2d
VhvCGe6qJnuKWkALGWkYftrRuX0OOqf4O83SXaeCHzJ2fiht6vUAp7jVonDw1Y9vWad+J/a46dME
KoUAF+1nBc+x95Ar8m9JRIMKqu3fYUVBuxXGzcqP4OeiKo8YHdytjpcez299Hka9ydQUHjvcClYH
GVHVLqPieIeY29v7OQblRfZPceqwcgdPYxgN95mJzGZITXgZOl9t0hF4m7SeccXx6Z1iorjJCyRw
ZFzy06ipMV6cvjskFWM79DlgesoSGoX4l4YsfnOSUt61ogqu+VicZSvVNmpJOEjNPdE5gnGCiyZl
wRjKaov1fgtzSeRu5Q0gQDC4lVveTzYpvJ20XYrIZ3RTRUFEGoQ9FgAGhSp2EU93c3EkqSvkqyQT
x2ItWKW1vgS1/6wXTf94MD32HooRO7LfpKTPOciEzz+6/Fho96dngDG65jpmbbOd3ba+2plfM4Am
9dqhsJSJ3GO7aayI8tiMxa4AFi7BPb037QlTNw9dJhzve8Echci+h70nmaTu9NHrVFSdjVnCeSV6
SRkpnCw2KSfQ1XCUseU4l14MOSEx9dDDRA2ZZZW7QCbTsAFHH36WIq/B6Ue5vOdAdeYRpbxzK2ef
wMn4zSm4juyf3baOwxljd+Clw/1gdWQnVyYetlDtAry+IX/3QJfgQGJ32uqM9BKoEgq7sr6jDTEY
LOeC+oOBMJyj/LMXU+bdjYEfiScXUoxpmue+Ki4mKDr1pIc0YXDN3B6LNRql9tRmeaKIcZ4twPsg
UeFaeD2Oiy60B7jmaukq65yBvc53kyGjcYMgEEiLLldJjlJcsi1Qf62dgoapcTL+R9tPi31KZme5
tfka3xm3zD1hfF8gnuA5nhrsTY51i5lySvInnSZOHlBTxHeYxn+ZPniIB7xhvtbhug7bYj9Wcnoi
IAMtSCn6g0xTEsimQmU/mnISD1Zl6YokzHFx167NXbq2Wyc+IvR4WnQUvDRZ9ZEN0S4scwBwMvpc
4m93WeU9xFPz5aUEVKPAabAsDv4jxHl3yqyYFC5OQ7W8+YWK4z96GDAurnodnpNWvk5iDDlg8p2V
pb9zXzn7hm7IpBz2QjMDD/VlDgoHOwNZaE2JQXEKcyrPlgLUMXJ3kBf1Ud4KjttyXI5O09WbgboM
4ppH89bT7CsG053T0WV5Y+w9T81Mw3ti3HNzC+eLbh9SG2DhxC6xHyyvO0qTzPvJw0VvxXdkFjTs
SP1pEsx4bEeGA25BUF+R7be1Ms7R0BUk8Oa8IdMYOa+pjDiPjRtea+JdiB9oZ6QMZXq09OC/z0aR
Wz0t72KsvjqGjs1ohn1J29UhEn25zohOWheks7y3Ivly57g8qk7dddFAwIKeXnJTmLMG+Xrs+7je
BhNB0WVh/2jHNqeIXXLLeBZ49LCIDFdppEj21mX3M4pZaJNl2fkGntzkErlpbrYkBGmWqh4iop9P
kHbeAaur2iSzK7a+M9F+mtUhU0L0ofKSTbmV5jFzUkx1QUNMHIWvwMcpqTGI469xNDz5bSxesI1U
hOJREYemLzlMfRZtIFf63+lUE1pUJNk2IcIYbkY6B6nReA2DZJcoYWrzwSVih++e9jePiMmhb4+8
7eCucXwuENN89RAHgPvLlvzjabmP3dlet1USrNKA2tsprT4riuU3suBq69zyuSLGeN3EqOChYZ8X
0zTXpEqhdZOeaTBSY0IKTmneOh/l9nZAI3WC8FYzSgs++xWw6ByQHp0sP5GHub/qpA66xzFhOXRB
9fGR1I5BLUAOLBF7WF1OQdmIX4tOwAOxXPTBxa8bpL5W7b9XhVPAMHbiFWVbcEb0qNaWB8GpluG0
3I6s1ShTgr9j0UKHtZcaueC6t8FcRCLkZroNN460lgMzR/lWVoK4epNPJ1em5sQBxmAdp/SxDoLn
YNumA/a0geSzYCXbSdgnKl54+7xRmfiLpa+Va63oq45N2l6GpNp0fj+dTNb5T1YQylOsGpdwCSt8
SBoz7+AkMLTMefuUi/a3O2T0pLWyXVckiT12VfNIaJQ4DoPlP0OL7IGOv4OhJOhgwPKlA47Cxfcf
hXKU3hROam2WMCtTNED5Mp7jMPtBFe4rzKPa4Nfa4kq0jmXKiuwWxZMhenrtk8W84R4+xL1nfbc9
GoMuidZy7val23Zr0y/TkRNiFwSIemJekm1DMpjiIa/8jROkDjdzWF2zyH7WCdweto09zBfhif50
Fv7oHl2PbKIUk9laF9OO0HI++2mSxQN2E804T4RiN+bEXM1NtgkQCLy6YozusrCJJIuhxGtXDvY6
it3x6OQVjau5O7zi431Dn87lrfovFqDxCQkeKodueqaIyVrQXRnzTRXeCwBRQZtGcGPqn7IGi3Q6
JBHz9/TCCEoQts050RPYvquUeF+SJgGeJfcrlTY/GmeEE5/C9rZdTMNEnBjBF8lYXrIgCGjJmaJX
rwr9az0FNdmqSbE3ibvFTvw1J3Ri3KB8/tvgW3jRwMFV2G0b9LXjJcr71t+5mDMUZs0tOFF8dE1h
38V4PXjreMJSB53KNMRI07wMI3cZhAcPdcC0Csd5XDtL5dwt3fijCvrpqiqn2telJC9NZf4ZMlLe
eTh2VtpuCbg06Uaoojr3A7JVjBfZd5gXKIX67TQaiobIXXZ505L+edIdcjZIi0PT60tkRRsn0TmF
Cgg6vHFxGMbbYt15dsGjjteGyB6kGWG36yEaJMofqPdTopyDgpJz57HeNGRu6QFFhCwJ3M/GO3o8
Lg3RqCBjnd4R9ovA1h8Ckpj8SKG9T8QF66KFfOfm2kephBeOvH4qxJxNmKfdqi/iW+GoLw503O/4
fhF+Fcn81hBlvK6jHDifT6mS+F/GsmxWypRPlrTeyC2Y4bcSQcWQSVcjVeBc9cFD1+jqXLcBnBaM
eZE28mxVU7tDDHqAqjOb3GEk7zqASq+yNeKH+LPO7RIExfrtOfPzIpS7HoHft9WgL9NUWjtLB1SO
zQvrIdkQ3zfw+Tgt0bdTjn68dkI9bitGBSw2NH23fFjXFAMxG8j/N5OL/h5GNXz/3fWnkH+3A5X5
ORZd+19uovzfnZgHdrbxv/7HX8q//jr77m4lvv/hF9t2LMb5UX0P89O3VDV/lL/o3//N/9vf/Pda
4JdZfP/D3//uIIpuf1vGl/W3+nbn5n79Pxhe/um//es//vO//uO//C9/5q+ieFKl/hISjYsHGDct
cV2I2/+qiXds+y9kcBAaTXJccmsm+B+SeFTvAZnBJAiipSfb6xbbB9k+5v/w9473l5u8HqcjPprA
wULz/+J3uand/6fdxXLJyL797z937IrOKgiFbJKjv9wjqpP27m8+g4e//g1/m8zggIL8b/7q/+Ti
rPIMLYCy6qMwxBwJl9Cu1UL0zAEcddkOXk5OL7fynSPt5OpAtp7HonW/Wvyb2aEp4K3WiMYiFlCM
vdXKEyg4Nsvgzbso6nhreFspIDKBf5rztP72sNs8SGS7nN1znL+PaRJvbS/R98s4ioeY9/+VRlLz
A0H58Fn2BWIbJ8+f4z4ev3l/3M0kIpqxrNgTj6U1Js/xuMxP0m6mjzFezD27RL6KiW387CeNnMsK
kL+bGU/2ykRF9Yf7vX8qQgvhinS85yBQ/a+kASvvipHkiK7B0Fok4MPgFLIdD26vW8JtS9C5Mkew
3kwOYgosQvV2QUVEFzE7Dz1XUf0+2lioQeNKEv+qJtkRoE7jEkjCL0YuhTY4tdnMVdEfS4tRRXLA
3LsRaJOUwfxlIM03KjXFeW7H+ewnaJJXcgn8A5lH4aG3ZP9AHigspDP4ePvK8pwsbYA0xHjZdyaH
6Sc0E5CnThLilSk2uSMuELahXsr0rhxBJKoG5BOzg4vpqU+vkv2PaMnIuw97ghbWLiz+b7jj7FMV
vvnQY7k8tE1abXMqP55ko6INP77gsxCF+xyVLGTr3g3iQzLr9L5aaHSck1GT9dpH2VFZ9rw1hQXK
4rc9xyQupyNfEOMeIjoiHtrxZCaw/aL26M3qnVH+ca2bmGVAmPwSLU38ioB9Ium7lk1OV7SXPStF
MG3qVhhOKyQj2Ietox3pSu+Qe/gvnmrD7lbz4j0I31LXQhiLp9kru13c4nqsChJDsPkXB76F8jxw
fl+UkjmreFCjRFCimO7GvLDvg9LyUbiJmNg8C13lH+jzcRd3jr33tVjaXSHj6oARat7yYE6oCEOE
9EkebLIW4UI4xQRjlKJOXxfoAug5M18RybeHMDX+W9HP2UNH6v2P0lnyayD9+N6dFCNtoGV1MDX1
SCjjY6Ctfk5fw9DEvyYpWThGssiAoCpxzeYq/6Mx326IQ+7QV4jFbnZe30UPszLWcWZr2aQEpTDu
OXIt0zr8aqSfP6qhLe5F3hT7LmiZb7A4/2Kv8imhFimaslv+4lD3jzrhC2+suNx2fjUSiZNYSblC
uU/3VsJuwQYzsk3w/X3F/iCPjVWgIASiG1FS4trbiNFmZYra3hrgoCI4FZJQdEm1CvoO1WBtwFYy
/WAazT5sJdKL0HNw9nune0VSOa6j1GruyxhBcGc18n2kA/Y1kXOGg2JRPzUgMPPHHBKkwSdz0ktm
Pwc8jw+9q72fno4a6+aSaY/oVcSWE807dYBo2z6x7edMaJ8vzTj3/tx4/VnUauGLihGeWqPodkSO
WFcVZ0wH2m40eQWtTlDMoWLM13Et3AcWjejMoxCTssP7Fc6eeXTtPmeygU76JBwQcZCMW5f/gm6A
d4NUHfkbeaWSxPoMSRZ8TUGt98bDT6JExA9P5BojRG1C4EwI2LSv+z16XfjcwlZ3Wlr2tgcz/0Bl
Pn/Aszv7YjCyWbH3B0clo2VHNmy14VuHETJNtAsE1X1LmdcnRKL91inK6SNhMN0gAnN2au4dUMbF
ms7z0BUcjaXSgJhpeREGNmHFTWSz1Nn2y4zLU26YHOndIiqXczIy0bHOWd1wI0TmodSOuMh84KvJ
Aiv7zmer/OOlMYqIWshya6VhRZK7MdRyNSVqv2LB42gv8fAUt6R394ULqY284r50LPlYJdjZRzWP
h1Yt7Rc/jeIeuXxw1fAqu9DS+l2h8WWkygTGIScDtVzaUQosWm5nww56I31diJrTneYMpTGtS4d1
nYmOuOSgK38ySmpwsirVyL8sdY9gD8FO05busGq8cP62ii7cpwJMab8U7II7U5fD45IYTEvGD54R
MuiD9q34Mtj1/GD3vvvu93ou1pVp6lf6Q/Vl8TsecAvKOkPFtNbO7KGlsw0ybYxNFwyY8+Po1aTr
pwWtVNAuPcnaTwwfP4pi9u7mqJoP5Dx4lKGNOvgTWiiL5tzA25RN8pK2YQXtSAac4P+dbbAwQvIV
x4zQQ/kbYfiElcDXO3DW5jNHivDqTmyemSptw2LSLi95VU0PhEXIo0Zx/8uTULEq7pKrMm1xyFob
jItQxImiXm2mswOSu/c9Dy1OVSS8rBmy8gzmJ4EAeUcCgDC+B5CbiFn6lVNVg4grLXPqzioXWtRa
yPQ3cXYZZ5Kq7L5ZvrVPugNamXS5An8hWA0hpe0p1Z9Ik6x92TTi04pxu06xTbpXVmBpsfCB7QXL
D+784GbyrYqsuYtJJLkHNEHXJSaRUOPBdpmE2r4MTushAGMnrAqht67UQPSidO48eyrPVpKHn04d
YG6FnwjXSY+MPrTnTq19D8Hx1qCGgJFs4kcRFwWXWFU9g1/kx3ga3KNnDTX2KeNdQ7/z4SsJKgua
uac2gItnT0jlSC8HdtptlLXgevSQk/CPoelDagZcb4puq0GaVR2HTFudHarRUohrkTwFo1c++tpp
Xzib+/1IDhb2hb7A5EJkD3ppBzBplS+6iqj+6mCFhya5BnaE/SxNrEtE/vgTmTAUV6i0pTVrHJMr
ovR2HRWWR6dO0KX3bhqUp0CW4+/BpVqxiNHwaeTOxL5X2dYAtb7nptS/iZn0rqn0/cvClPuD4P8R
+4J2vIUZKDWHm2TxWLrN983SsK5TJbe0IGNb4I88geDrbG2qtHu2rTh5ap2m3Fm5Qusmoh5qlKO+
H5roNEuakvipeogGEO/88LOYMiAzOgeBW7JeVWGcEQQnh/eqCUusVqEN+R0tewwQBRPaDG9Ast2f
zvG6bhUAYBQrB3p5bcRAlUVIQQH42mR/tsYvPzu/i3dlXXfbDu3jta4jsMKaMjyU197VOInEy6gR
TvlZVJLUO03VmrENMyFAWX2qAxxciVLCxcFReyflD87bTHrHBV2HeYIx846VkP57MOTuvelc8YhA
IsAT7SxyHwjbek8Wf2TksNSyD6cx2eecHQ+mmrInSOZqB1CMUYFnun8OyFABQsrLNdeqh4RP9H62
boMSETTgSr8xof5JgJmg00vfDYwYe06w9LjMKX5RuXj+Lm0s58gRnb4bx57eVFvEL7ZMspcpnYpL
K+LxRx0twABhGxzTVDX9rhLhN4JIhhJfvvfYfRaR4olN7XojijoNQAej6KmQbrAHXW9P+LjQSWP9
wCVV2ukqBVS6iwNeh23mao54SeWnlyn1WgKv8GnmDe5ZaskfCy+tfgeVm/20ZQNWQUdfeoECWB49
hsEtus/4DpAn+VMtTY+CfZESn3/d1PRFhbSzgy3RaBpN3ParLsc7QShfzQNDoGuzCttppnzDaOya
Ufdmd6rm/HOrYn1LOKCCKi7F78EK02vdU37EBBS2oLdEzh/cMQ8flrZvLiTx1fnaaOKcqKDR7RaI
oUX2brUHfJ/4/9Nm9raFk/X4Z9SwQScX3zlZOZ0zM4bVKokyi4b11MEDRVrdLo208tael4cvcRfr
s8DMCVd1+46ivkGHPrPupIHJfiV2PjwgoiCH3pjwCy29/5ybVB6QB6BihEbvrC3po83jhFzhrsLv
Se1JyeMUB9nbjN5Lr7ypjV6Yq6qjXS/m2ubuoqF7A3nBUOlvW+26PFrcu3sT1mO6Ku3Ottnnimnr
xi3sQOVJ+8snBGTdWxoRfgTrsZunpbmIoLH2ltPmpyIZ23CNuS3cIo9dXpykyI745qaHYI68VVK4
3SMiDP+OBC3g7cmemg2E0rin9ohSA4xf/cljRz9YN0avKyIEGpHbWYd0cLqXerHm75I1bd2RsX5J
LL9dU/rg/olUIaGCvP4DB5/GELnIjahS90tgAn3q/TZAkpiHqL/QcUGGGtFcospMuCsy9Z7HueGq
HhB+CDd6GJQUz0M4FKhHxx4mzgP0qfzSf+BcpLW3K703l45mzDqzOztsISbf9bGO2JMwYoBOmmED
fIoXQ7ZpsoU0sq6OnN2CuhlXn+PS9a6qlMner9FQ1gRPUBO6JNlOlQErKNE/5Tq0Ru/DcTDHtYQ8
DuvI79ArZJG/G1JdfWJx794SyZOdlAjrVo7fEX8Vkqa2ZqgLttx68TpZmug7q0Kzj4VdrRGyt3dI
vZbzoHHFmNCIbYcgtlmhXq9f8LMp7NQYa/dLrJM/wu9ILzTLcHPgxf67O4FJrawEDrydg/ZlAIS/
iSCS17SDFZVgWfO6jwtcM11KX4+0dY4yagzUHzcktms1O6HzMEs7+o0DqFoRdAVhETDp3hFtg5ho
CkXzgDj9WMFRgsbzkeHTgahdx6YZ37ymiH9lyiqH8zhnLoij27MCx1n40y2r+pwRFPIQ5zzk7ViS
OJbmc7yp+CqaFTvXTH5UquherqprKUcGC8vABefjkl1dK8+PrI7BJVARgzR3+aYqceAvqsaQqXT5
0+lqs+urIHyy0yHbTE0y3ESMWXD0ZFw/dDcqskqt9it2aJsVLmMGAh/9oXA1Nd6iKMAeRg/Co50j
imrd9DXpsv4aLn50VVZn32EWcHYSTPDeDSyeimpIfPRD5CDOA7DrglP7Ff35sDdNCeEcK/kclpZ9
SdLcvI9+h1nCKkxynTAZndyoOQgAdZcQHlSpJdYt1NV1eQwIsSK+wCTfUSirH3PlkTGyyIUibJam
lzSR8mhnTfUM5+izZyYWV7Gjd3g/gNgtsfwRCZ6kMQNWJQkAW0TU43KOg+bHhNSaq4fZf4UiiCYj
bngCzJdizTxQX6q4Le8bXMOYuVHznfmxkECSJdFPwxKgWb3nBH4GB9vZ5UvZ+8aG7i0S7w2M6abZ
yqwDg/PLNFvLc9z2/iEdldy1VJBe25uMiEtd7YaBeZHbJxJHDCPzFv82ZqDF0+vMIcMOjydXoT3M
2S+yCj6joMeD5g+u+sxtynfRUtofoA2sq+14e/ZjA1nSR+2HkukzTLveRr0zX5uiY+vjziuZvdru
IENrstZWG4GhgMbnlIXTsvkLQvtV2lW3xRfiUH6D9PfRUZV1xUoi3rXnyG/aJ/yvvLp90T2g8JrV
Jd3Z3FXbWVjt2rZjjb2TiMuZpAqWk+RkHJnvycCAaS3/7fv2Gy3OTYhL1TAxHOY5tK5B1DKwZ5gK
uCZdEBG3C38Mi5Pem8rgNcvZlhrCcvedxeieGcRIY4/DuSwVTaQI1u6g1hSeGkJku1Vqd8sOf6N/
00cjXV3Hdi8e8FXTyzU3sTwwmTgn9nEGrrDOm+fRq7JPsmgBeHpEIrxU7VOto+QrCp2QPD7MmJeQ
wD2KIbFl/gKV84hoJSmBP9+zfkWpjkh6QnHKjCeuQRX1yMWc94ygWp5e8gwsPWrcGu1APxhtfdmO
bNfU4TqZ3ZMz47UkqUubjgG56588/IX7ONUZUxBDH63lIx+rY6y4gadAvLdqfDefoQ4mzkK4KgVz
PEXlASHH8IvKGLNHJMzBXLKg+6swc7maMSE8msaPk9s5J1F9EQbywOaanJMhb3/b9FSJnTP0w503
WuFlnGzPZvTypi28M/LJiDFzrS2vITZDFKreea0JmxMMqvNHFFX97hNRRqhfVuGqHIpUwl+ZDHAB
ieZ1MnX84ClYWPjDsVnQTy7zA+FHMC8cAHh4cUGwz0Cy4WjEOMSzVBKq+6QiJDMrdwmoStN4B8AG
O//Nr8V0bEWEcorkVUOK3Ti+o7miTRPK5xw4VXMSvZfvuEPRgIo+0Xeiz9t9UvgWfThLEehdy/3h
rii2bN6RAgPvurZAup4F7bhr+5TuqkS24avnc0Q8pNhC941TBhcQB0zGo3cTsi7V9Fhp16xVOMkv
1LQTxm6Sl4krGm7azzFodyjKplcTKGvNGum/TlZofcWFpnpAiOGKi6gh1DXrxxeRFNE+8pvufozS
6bOdNTEIoQ2LnczN8igcXz8Gls5O9nwj2r0ibo9NeUta9VtfP/VZV3w3bu9sK5Rg8Ofh4uwSsZAU
UllJciycm+kwZ/LBXkRX5QbdWbYD8ECZjB/5ORdyvMWYQIPWrWX96Tng6hXyifYUmKhCycKb31Q+
jr+ZgRaZM1ugW+TLubM7664yhFhP+dhBokscmXMWLD9ik/PeRYB9MTcYQ2hbZbxNCfLEgBado+qt
9NlYdfepfLf4BqKMPkJfZ4exbocvLN3+1a7KmfiqhTxd8l72kT19BM7ihmtdev2llQFOF1fOT1AC
zrwlWNE71YNVv8tlVvs0bquNaEg8LUrvZsxDwC1f07LHi9rWfXcPmzX89sOKK9c47ng/ygTRfMpM
ulpuYi4Y6I4j1I3fYpdOyaSK/OtkuWjQbNQ7+VwcKpndp6QIrKaq3hBcesCjxwqWEthZFF9lF/u7
aIr1cxpaLhKzSCAz1TYgF+6oYlvIcGQ7quN3sPPM5+RCSbOK494uVkZ38QftBMsfPTnmdW5adQoN
Vizw03bco3Di8Q241E4uyRXlGrxv+YkaniPHb9xpm0QpQTAEdNZXcNLgd8GLqemknNINooL26DpO
ei6JFNiXoSGO05nZ0dcN38e2rsayQ5k4qS3b3mSvLbtBvRotqEvxHo3kZmY15wt+dZhT9HifUnXN
5xBly7MLDPOU8LQBTrTZtcgR/jRAQ9igLGsv2HwUoRDsBGxOLDP9jBhT5SZHYhhG6kVFNjWfxgpP
krkRuMwCLdGt6k9zqpuXYOH0y7JQ71gu2n3hayhjW4b3sjfj4+wtNlol7I4RvfQkmbfubuSU2dap
Nz2GTAvbLKfCd8p8b9cMeEyKVKtTU7Xd3QQq+l7ao2IeVhY20RLTLENq/kYMjHfftC7qmrFzhh0K
WEMC4dz5P1WJbWg0M22U/ig+k9yLN4T9DVubOCKIjNZBeOCrsqfdoW4OzkJRd+WnyXMxFfWdXacT
choyQ0bXD+/cbKAYRU40UPjav5hCD4jSZ/utDmx0ItSNYlkdTLsboE7OZPQ2j3U32rgxqoxd2DPb
yok7ZLGeFf+qCYpKIWpj2e+7bCj3KoOP6iI7vo75TTzrtmNGay1n3M8pr/W0a1vCZWtHxy/tsNTl
qe1MNxNYgmBtjbWc8PUArv9tjqLp0lRao2eY9MWSPr1xfiBn/wNRyUTHhjYJ4ftuN7VHYCX9umjL
vpZpKF+0nVkYZYDWGOIEqZV4fN0m3zLdh2jdeUd/FjMp2SCVw0YXc3opUQW+l2EaXAft5yDRqObp
bEZdw9OIdn8VeTFuohk9UrwjegcLDRsTIh4rKOqDK6noXXHtWHKTkKP9XNIlGyKnHlGbhHKcXor0
v1N3HkmyM2l2XRFo0GKKQOjU+uUE9lRCa42dcAOccsoV0Yy74EF2kcwflYggY8burrLu6ipPhMPd
4e7fvedayBCSUXiHFiPgaqpHLhr1QsVHnAUKqG8LTC3r+whzoU+0zjYlmX9H1Q5QqcSey4+1oOV4
NNXSlQD3WNbv2h2gWNWTf5SDS5Vpu0gD5M76pbjDqqXex0pi4SRd9XqFWtPn6us+tfzsM41EaXes
Ze42A5/iHfn35t3PQZUS911zh7pFpDAEYFV8wCj8tLCwKqh/YySybMd6Wa71ZFqt1U5LfgbdqJQ3
voC2betboxw/oLulzjGmuoE6xZAqiDZx2P8VSkEOHU5wFTBks+SQhvdXsfZZgrhxhSIF/0iXVx2c
l8BMINtnrC9wqQMfqI9QPSQm29Q1TWfFNqcezC2n6ZUSAh+Udo1IHQl6vyBtRZFJApfc44udDP4u
JOiwx4QelFeF3yrxjvvC5CELrXLlxr7wHASycCtFVkQIKqHWr6mBEAXVXp0/lHkc/hnLJkM2MpZ3
ReiBRecksIVWFXN3YHD+tofO6I/owEo8kVk4fiShAGoxco2am+LGl35UymCNYBQy9mUiJh1qk3pm
PGvIXo112Y+GCBAqTliGRgTWUExspJJApKq8CXdGhxyNilXQHGO5b58CJdVwTpf6XkzHUNvAG65x
QbC5wojD/tuHn2VmdXM9pq58xTrXvI71gGRPHgG6JpUVHqESFa8JPvg98za9yQ3P3wE5iu8puHoH
3yq4lIk1XX3K41T9aMQk+VEjefEgyGtwY3A5uasmsipMqnIhg4Mt4o0f99gsYvapf2tWydgmxDs+
FgOeAkjS4RojK3qyUeuoIWn1I8KlbiW5jSrYiaE3j+XQBA91qA4rrn2zB9nvpSPTql3nGPWuPb1I
Vopbt0/QiNrHAbzMVaXIw568Pwp0fSvjZB/jjeiTOt7mufahBZp2A/IBcy9XfNTfAo9SRTiaxcug
t9FGCQq8B6Ii20Y/cL9Tw+daBVHavdQQRWo7aItwHw4eVRAp1X+GlB5UG5iCtMF4XhArU5HfxUwR
XuvIRZ3sFg0sIt/z2o0iVt2mzdSQe49OffHqsgE0NOjhrUtl/xqNFvVBEZ0vBUS9uBGTmhNEkTTC
OjVii+uJAt+cXZNg5nSi2d8WAYZtlPvuCqhxszaTiuqBGUmw/7pmJDMCTWnP9fSPKCpIqaggGb2H
7hCZa8o/5kGiOXxnSYMGvtekQb/FzAt7IBYK6Q9KJ8g+ij8+GbA7hQuCcf4vCJT/H7ElQbd+UZBM
ep5/qW9ufiaob/7Hf/nP//2//dd/SGim/8C/JDSS+p+II+G/QbBphiojKfmXhAY1DNBoiWMRwDiW
9n9KaCagpKWLuiIrssp/6F8SGtQ1kgaLkotYmfAQ/nP/LxKaiY/97xIay5r+9S/BqaLHIPXLVjxi
61lF4wH7yop4ly+98I2OZqnxSbfzpfF2qJK0kDvx2IE31pvqJefas0X8d7r5qZnvnn0GIp98kIjj
K/EIUcQuwMexnz3d8kTs/q7lmfrHFPNQbvwGpxCaX5Zdu2UvFo7ZdsApqAmroP17+g8t/YSJ8/ml
h1JFKjAM8odK81oqrwz1bLjMwi+YEfNRUYxyIOOIbPDU9rLKS7VWmTmeCT1beO55qnCgmBi3iqmD
ekfPnwl1Od0f02T4rufnYfN4r9xBzHPpKKkoxxXvMHk820TYYHrfaVF720S9jfkaG5G3E+TizmDh
Nmt8bVp+1VsEg0vumhhE2Hb1NaVcztsHXc8ibKz57vQz/jPg7H+pzqCv//OdZTj5KJaI4hEL6xs2
SRtonDNGHxY2PAwm29N/ZamHEdx9HRlSjMPAzehhKX1XSPbuzwXlLUxKc/rXvww5tkhlFVfMeEw5
Q4Sbq98k5pk0k4V5Y04/5mvbfUZFR+Shk0ZZ58qaj/kqlH4b/q1Yyuy7zkz8zyyFb+bnHATv1Vyt
Z/EoHjXlr95XxyIOVkLFkSbukJK6yTYWzIOSocvN4kMmahtPap45gK0HPOSe+RmdDPWvw3Plbhuu
pARjvC0IEC6DyPE1b5N4wjpQUw4UnWOakQd4peSi1eJ2HTpPLmxk0B+jKmAcslZKG4MWeumHV1iB
G7/Xjm5+nQ7c+MI3IuCbkJD0lutsxOEjV87xKmp67DgRT6LZinbIMnkTFxHf63ptROWWhcchMWdf
idmqiroboXknSMDRyz8Z6i5OLFzO6rYL6Ax2toGdZjQSIEgPCCLYN5T3pwfg0jiZrYFpF2pg9UMR
3d1jUb6ToCJlwpn1VZ6W6O9e4GzdC0OuWdmRiEedtKGE23a1JnAn6YwVOR67fkCnxSlavQuwQuKe
3VADBJBgOl3gH3PYPZoysB0TnhSS4M26IeQzPQx8yzgBh7gb2zMD7Z+hkv9nqs9WUfI2uKAqGc8t
WqlOfos4vJXD+3SFkZVvHA3tSDXO9Ik2/fZv+mQekMy07EdJqMUjl3uvQ0jdw7zjtIAxYLL0Il2L
EUYbTC3tttbrBOCK5Hi6cVQCkHqTARoOYtyIr15MpdSHtOIx4EtJO+ZA/EyFY36c7wwXc5HFHWsw
rjLZJP8GnFVhG+oPYvhsvxGupEpeafmHRCNlyyZdNydglR1hrE+TbCtDHathaSAr66SXLLt2pyqD
+2RGfzOpspO6W50efwsL4DyGyxXMpmsS+l6G04MwZ4Wd+HTL8lLT8xVcotJLzZ/X6nGW8mNcBzJi
XEg1/E5p3UMllkq++5QapHdz2BkjokdJdbiBW5WwxvTxFdHsRJ3i8yJdhcF9SpBLI0Gppix+Zjws
PeTsA6BTTy0ATA5HJOQ7T+VrJvw+/fsXPmCTYvvrKm1xoACcK/Np8a80nMUC2YfKn6TYSYl0Zn+w
sHgYsw8BNsaQazs+MrXAF/ul7X7inTn99Ev9Mi0pX74xEVnzUQX14GhZVId2g3bmg7vUK7P1Lo/z
NMwl2tVZRtymwfMEGaDcm7W/U8vH0w+/1C+zdU+PU5yDFX+kc+8ynWjF35wLTze91C+ztYr0RyDw
3iAefcrsyq7WnDPtLqxL88hJzEF45tseUJXkrxJskvjosatyES1athaaeyP4UVbYmcrnAMgxWq4w
U5+6unYmRfp0K4aZlzKsizsIn3obbKxKOwQqqawyZTZXQYpYbIWkWxWRhBlP3wfNXRX0961xg+XR
rpKflZoS57OvtVVe53sYt5a4yb1X1QvP7OkWOm8e3SO0Rp8MLmgAoxRQC29KS7iw5dlao+dDVQZB
Mh1SHsLhSuGC//R7WRiv+mx9yLENYJPSx2NSUWvuEEWB7PL1+x6gtAEf9vRfWeqY2VrBTSVcRzdi
qfS3grwv1TMTYenpp7/3ZRY3Cdllcc4GIApke/SAjLyOwwcZG3aUSGd6aOnZZyuFqma1BtZ0PMbe
70Y6ukW6uqxT5ktFWEJjTfhSE9dIuRZN4+l2F1YHfbY6dL2PZcSVx6NeQb0BqTyk/q3gnVmTl7pj
tkBAvqbQGtAdXP05NRdVmXWmPxae+zPg9MvL9CLuysmmo0jnPlaVAPaCXTjxs6d7ZWGoYBX6x1AR
RRWkO1GMRw1ptBE99SIw/2AV8s2Wuz+n/8bSL5jNUipH2Dj66W+Uu1p9NiLKTvW5BPuFjtdmMzXI
4rIZuNw/ZuA3mKPnzvhL7c7mJgLXpDYT2m1+wsxSz22Plpqd/vUvbzOnwBEUlsYVuLjDyOGOzuk+
Xmp3Nh17q0QRTQzQkawGLH2P1NNON7z08mbTEe4suKapYc+7bcV7iTOYcnO66aVnns1I4EJB13b0
RZrjpoeH/HBZu7O5KFsIysPp1Vmca8adpp2ZiQvPq87iob0EvVydT8/rb42HrFlf9LjqbAri+6uI
KaTZKLgGJI9K4bJ2Z9MuKtgklhXtJt59r7wX3d/L2p3NuDrKA5e4QFZ+hFTRtR+WF/bvbMqJfVeo
ccYaSpYt+GE/urAjpvf5Zc7FFIxBp6jjUdUf5fGxPneAnTrymzOlOptzpNANqVHTEXhL9Ki+bzCi
9J3niKW578HKXNbdswnooUQghoe/4lMg/ARSemfW/qXxPJt/eVsVoCdy8Tj665p6T3/Zt1Cdzb/E
DyL+R2FAx7tMW4XWZRPlM779y3tsBDCbhUq71B3hLNTeZbvIeZStMmISwUQ/lSUPeOKhUVz05pTZ
BOzqRMLhZfXHpHPwxwznwkIXLk6U2QREb5qZRUY/jNbPrvxQm3g7NBU1PErkJczPYhPUd5f9hNmU
jKRSctvSGDknc5XUPEnpr9MNTw18M3emGLCvc5KI09yoc+akCMRUFsWtPPAZ0DanW18Y2cpsZhLX
YMUiMv4j3JaVhOrNf7+s4dlkDBVRyVODrm8p0xsk+134wLOpiIC9SN3eZHNqmPYo3waXPvBsLkID
RBSLSfmo5ndKsm+aM2GpCz08D/MulSYJMXBO38JjTHqZT6H3dBcvjIwpx/HryIBbWynWtHpYOIUN
DrYN4GT8N6dbl6Zmvhl48mxSigZeY3PagEnhewVcyoeH5TebAb6CRLShpT1nElYbQMzkCNiwQRHW
PgAVGZCSoXSXBnFHvfvc00yv4bunmU3loAkyQYGmfaxaAytHZKt5g47t0NQEnjIz6jBYNcZD35qX
rflTNfRr77ZZwF9I4uGIOuOuyCFun1n0l17bbEL3JND5ecwvMZrthPfB5eUDQTz91pYan83nGpco
aeyMtlqBKItHyRQfA0E+8xZmeez/+yb6s1725cMSG7qCIEvuj3LJXQr0yKbwIC82Kz97d4l7EayU
oAvhIA8NGnO0u1ro5BBqO5zudW7Ymgz6VQrIqwK0HOp2ZIiHemjPPN7SVJutDaNOLE2CMZsNAGjr
cN8P5w5/Sy3PFgfEMUXMZoVVh9z0bJ8aZ1azhdclzTbK6ogZo4loF4JpT+KuCilOhH15ejB8TtVv
Js3n1P7yuoqwHDC60HyHSy7AaQA3H9rDKkI/RLjMtg+VDyt8FVtrHba/MGeo8haylq2lOh6ZP3Gn
HlsVeTt652RdVZGjJ9E2l3UnHLWVFSv7vHrRhIfTTzvN5O8edrbeEL1TWRWUMkj0BJ8F9xVcVTxc
KNiUM5Nj4S1O0ZhfpzTlnqaoFHE44iwkDOdjqC9b46XZWoHTEKk8EPSjSG2Pg8mFR+vPDPQv72+U
sgiHM7d2HXUSIQEgC6vtdG8v9cVsoQhiQpx7zE3HITtqEYLaM29xqV35n32sgPwskSezABk6lcUO
P/6FF2nSbHoXcWJK5HMOR52iZ2k3r5f1xGxuW7jEKz3WhiO2NPnOK9cXNSvOprZAzXcgoxGCfepo
Nxc3O/voW2FUE0DjwsJ7GoP2Vx5Xv08/78JSJM6mX66RFFTWFFrbchcKP+BwrF1UiqcbXxgVE7fn
68xrQhI1/a4fjkK8omZYXrbJFGfzDqGpUUNZHo6EKHOBW1z4tNOv+DLtepeEPymjWeVKewj7y1Yf
cTbjOlEI8lJlQKT+nWYY77FAssDp7tUWdkfibNaVuvKvWedW2Upqf1h8mrUa7aq70ce9MA62V3n3
hJvZQqlhvAaWUVtr3/xbuemqJqcsch8FAcBshmfvnoELXWUfyE8IknVMlmhxQYIN9pCldkCAEprl
dRr+7kphj5ZvB+ILUHndHXQTDfHeBQtic9O4BtBtW6WK6ZHwX32d1JU9joQCipgWfWkl+M+l+Ha6
B5YG2GxtqDUjKc22g8wDE08HHOecbvcT4vTNV+mTzPRlLBBCOPFgRJCN6Gp045HgkhWqx03SvbnC
vRj8ieO/QvJYdK9a++6x/Tn9d7//PSS8/3MI+r1Yu2nBSdtEkJnu1OHqsnZny0cUdCJZRwI3Dj/b
bDdc9jUxrdniYVh95AGhpNkPLTuARj39tN9vCUxrtmzwxZMG5PrswcNXnc1cPD7oOizNy4r7HGb+
2ctKAlHCVHjsjPwpHazumfuM6Wf/+6AxJ+LY1wVEVyF+yAQaU9pO7RajPRpfGwS1lv5ok3Ob8aUh
MltPrLhW2IFzCSi1W8Ddbn5myH//IUAM+s+HLwwR9IU6vctkC6kMJyOhC9654tLSU88majQA1tQj
njpDwJHtu3x/eqh83lh81+ezz7gb52jKgNLwLq8kT7mXhwNgFCJenkT/2UeMha3KEVttE2fhXSBJ
tiDhcxc2kwksrAp8kuVOU4dDSuFS8aJ1kTeOmBn3kqA5gsApBXBB+rfJd2XwJEq+k8Jt6igAjV7p
xFG/Ov0zpM9v1ze/Y65pBCjSmrLCqT6pdIeoyTX+f8ek5twVf0JsFxn3S56nUB4m3kyE8gk6diSA
NOr3mDSxbBv7nt1+Vd60eYckLXVMtdkIeryL+LCX+hqOCGIeD5Wa6ihIt3I5vdJT2M7qKoO/Y+GJ
sqTnXv2jYKENozcjFx5VbMaanNxm0S+xfjEaeV31EFE8zYbKjDsSpBkxLoP6Ow+ufF9A0QKePrvz
/dc43JhqcS3BVsdAAt1nnxK81o73LfiHChoFqcWTjRkj2LOSJ07Z/4xjKJTij5jM6QqzAHB6zpTl
SoC22RsVyTXEnyXPo3ZnZPLKjYztBJFLTdchAnYUn9G3A7ZW15Go3eiY2ZSrKLPsYbCA+1pro9sK
QBL8ULwzQx1XirAuZQmy3IcIbt0P35U6uqtIn1fIoj79TheG/Kd88MsnZFRdL8PLzD2NAk9g1Wbn
xso0Z74ZKsZsLlFUJmcUKuUxz58y88r8k12Vnm0GeGQ2ubTzor2bnZleC4uCMZtd2FN9FIWcJAGr
tGSq4HPWi7OVyYX1cq7taCWhyQge5o5TkGy9/GmwzRg+YuUqj5/ibG81e1e5r0nMs4zflfeY5d0h
rh6FaDOZlArygFodxxbcEUu95tC0M2Oo402z8yWuHgwQBXluu+ZD6WVkTmzimATYSt8ksrSSUVQL
1prIV/zVECbW2ADltECc1jmqfPDDl8C4T71tbWyF/JzucGFAzGUetWr0Lum2DAgxsnFn1e39RSNN
n32G3bgMyk6gHxNrFQx3Zft0ut2Ftz+XQ49YyINiulgxq6uwPPThTujPaHWnDc03Y3guY0YeXpCn
x6dySijyoj+FNwWXSQTwhJuWFXvQQZCbgXP6hyxsKMzZhsJVomwgh7k/Ru6dVj2V8KZ1MuPaMz9m
qfnZfsKUgnxsM75B7kSyF4J1PrxX5P4Q9npmX7gwU+bS5qrBjNtMOxYxPao4fixz71YHhi5o59Nd
tDA456JmrJICiFg+0BzVlGYTd+vL2p1tK6QYBhM5n2wrtA1IlqQ+swouPe9sEQR50GgKGZZHPdr3
sOW0M4fApXc5W/FSHOtSisP4yIWqY5Qp8mmQgeod4TzntFMLY38utS2FplXNqdzaEW1SvKvCTRl1
EGYq6jyYs4ZJcHxuY7HQTXMdawbgT0hDrqh6qEhyY24Rml226hizVQdQYZaqfjUcTRJegmN4rtq4
MNaN2WSVolgZ/KkqGNTVNUDLfZYF8L8leic+iIJ6Zk1QphH4zRI0F6LqsGXbWGZ1M5QraAB2r1wR
57MaxTuY3ashzra59QswroCWHjqpopKeXt1qbWd30HNDE/DnsHFLCWBi4XRCsC0DC6LZ+JQXz6la
AygMwc38jZJrwYxsAZYg4CCCADenJ9bCLS8WQH7Xl/0FqKBUMUtmVlq/xSTTFn27ChvO2ElL/uWv
EJBXT3h0RpGhyAnvvo31e8P8VZLeUPCpCxNUx2PkyFFxHLlXw9brtOGmhgtQ+fdS9JIMTkIK9+mn
XfiUGLNTSw/Yo7RqCo5q5HS1026V8KJLWHOuRDR9KRSa6SPllb8a2DBh2ZxZdBfmjj5b1t0aX5xf
TAPE/J1md0L343RfSAsScFOfvbqR1IRmtDjglhRLZHAgXvkQde+JdAv2ACuu9+5REYjz93vNLhvN
MdRDnL9I3rtCWlkDEqzgssMY4d7CF/CGj25gbIZvcVescA0gU/tBzIsTx2uc8aGHPR+Mfme0K7kG
64CXVPcku/cwlvTDX8CHcXn0wyuRQCbALskxT6/F8TrWQDr9rUugRRsJNip4xfFOqKpgE9dPlYj6
XBSGa1Mi86gEQGKW0mukRpzvDqX+Y+iIxAodkIR1eVXqjte+AqMIVi6s15GwrmT8MOoHtSZo3r8e
9c72VQ4oxMVK2qpQQBqr0F0JQfRrcsXrJ2N4CvI7uXsqugcobgSo34npI2kRhbsXAXOkOw/gWXE7
FI+hetSVwxiYjj96ZDIeCaq1re4Whh23x8+ResyVPxj6bfA4uO+3QdhCQ/wT191aVI1bs6heB0xP
PoDFrl1VAqHMr2rz5/SbXxpRs1nQekpH8g4bNYwlYX0TCBfOgdlHVk3IVphyWI+djBmF6MgzH8PP
mvI3a+RcE1pgBvE9v6dhGEiURW2hsYjpu/fg+PraM4RuJXoLX3+4GwKPBeOHoP12oxFy394yX/Xg
r9YnD3kZA3XZEX60841HEG2YsFMHMIuqXCaMAi/5z6XQFWuyTSG8YH1KbM04it6ZqTrdj33z++fa
0mIMlDDEGXMcYzgMZLgX27Z/Vnrc29iez+3uFobFXGMaFErUlFXN/r2gfu5wPrlouGmzL7SppylZ
TpNSICKW1olb53S7C/fO5lxTGpGt9B8CG8BAMC1SQCw//XYj80lJBYDp0kPv/VZgyg0HgJTAzBqn
A5FCcCX4D6PHL0vihKFQnGxdWxp/lcMNVxoxuXg1DEOCS8iEF4jH0HEQrWv4EaIbrwP5g/idXZr8
JWMJNBzsgNK1Y+kQ9cLKNcH5kgg15s9VeRu7axgEhnerKTeatrEAnJ/+5UtvavZJsHRhAFPBmb4o
HiKiVbjAuKzh6Q9++ZiHbS8RQssIluS1/rsJzmwSlp53tuAQqaAIyXQHIcL79vU3l5uryx54tuQM
8LaFRnAplvwWPOmmN8ozoteFncKnQe1LT6RN74kd2ONjBXos5aQMibPt2zP9LC3sLj+H9Jfm/dRX
RF9TOQoKINF946h2mKliUeZWqt54yl+TAqabEnullYpNfB7bFTEBQ0cOEEjZwRPeiVf5awniZWv3
XDQ7Il1PMDkM8OLqP8qrr6h/LnpDc9msRzCUqkndiHIdepsjn9vKLYwpdbaqeCYgRYVE7WPDdtZ3
/L+XPe5s2x8IlKvCCH2MrL+WJN1cJko21dmUzaC5FULG40J1601iBLdnnnf6uHzzbVBnU7YVwyYH
lkzJG7ClYYxgrZ8hx4D9vooIgPTaj3TgYEHSXQE9yL/nInMFY8Q2+4fU/O2H5Ad1A35f+Rbgpz3G
b/nQPnbYKOvYdfjKuOSep9K2NyVbrAEaInpr30aZRKE7IHRxTH7Pdmw5rde3XfVGANH+zA9b+F2z
NSOUY1EhCpBNyruSH4rusqVoYkl8XeGqoQ9Hgt64YIhuvXYrVmfmz8KEVmcXATB1QsB/CnV89bbT
hgjKIPcjPlG6qumzvbxwNs22GF6nDA1mPJYlOXVao95UxtNF/T1X7WbEiYi5Mc2nftdUjnFhlWuu
2hUy1xszk3YlAjXeunN+h4X+not2ewX+6Wi0qNvLJx1vb5pRI31uvHVWPV7WIbOVQAHJrYsgw47E
SF+ToLAVmjPbuYVvizJbCzSIQJYm8+y68qNIR/DUVyVhCZc99mw9ULRUNaup8VFbN8OmEs+0u/TQ
s/ko56pXFwF7UC38oVsfQNHs0vDXlz30bFYGbqb1pMuwocGN7a7Ucw89/ehvFkdlNisNkX2zkaF6
qElg3KX5uUV3odnZLCSpMhb1hsc13J+edKV6l9Vq5mrdUShLq5Ab1jwCxESC+C573rlWl+wjboII
Qj0KkiOTJBOfEZMudO9cpEtwy1ApRsiN89a9a58vGgvybN4FjVaKo06j7VW5Pgf8WHrS2ZTrLDBr
sfofT8q1z+kn/bz3/mZ4fV6sfNnFuRVZpbnU98dOy1dhZKIwSfRfndSsMrU6xEkF7vxY6xI5AiSd
AqEJIBu7qUcVkRQiUbIrPdtmnDDCewGxWppeF+lLkr/FqrfrUs8JtNEJvO43Yrl1ASTCALoHp3il
Ecm7ihX5UIE80IJnM7gLCQku91p7o8hcodxmcrttcm1llK9xW+wThevp8AcKkVUqjiQP+BryVz2W
iBY16lUvGiTq5ns3SvZtVh18GNxaP+TXVX3TyZD7awImHvqeC5Wj7+2qWN7KVQPYrpeRupIzxcWl
k7vB3dhlx0Ag4b7byXxRyPHqQGSOeyvr9paVblVP2hKVtkk768kiIdzOfU/fZeS3n34jC695Ak99
/bpn3hhAdM0oFZEZn8E/vGzxm6unCpFR3hucBoL6qpLfdOL3SDA60/jSQ88WP8trgjxVmJ259qeR
H4fk6XRnLKzY4mzxq/JIDOt4xF0xbFpTWqvNW8mgOt340kPPlsAqKbtBkz0+M1MetROoZ+56vn9o
wF7/fINlQnhJK9HTfrtlJ24nyWbaRZ1+6E+t7b9PWMOaLli+TNgyiMsagBLfmV4g/Ety6tRipX0p
/YyMoJbIVhLXJM9JiF9tzA9Bf8vRvUaVS7RXe6+q5zgn3/eeMVcshaYn1SHp8kfRfBOyl+SyPYsx
lywFYiBZHmqHo5y/VOat0lz2tuXZx19qKtjyHcunsvGeh1+n38b3nWDO5fyZaImEbgUUhTbe9XBm
/ExfiX9/w+and+DLG1arHDx56w9HY7QclTvtsUYhQ173eM6vubDzlGcjX6tdpegKrBmKq29SMEgi
GRAxu/2geoqHt4v6Zi7ND5CVqsAkh2O8L64vrFHMBfkRRFY1mjSggB6eC/7hXbZV/rzl+NLpQiVC
yuQe/hiq9TpRHnLMFaf74fvlwJyL5oumK3sRB/KxLvdNr1JCQpYfnrMoLIzAuXIefZ/cSw3PnVaI
ch5FXGiXPfb0B790iAzB1Pd6VsfQeCfZ6p78DDKxwZuebn7puWfTMXGLqksDRkcx3lbDTX5O0zMt
st9MHkn+52MLQ9ZHgkst1TVdUhmpdZbZKsJFQ9IjZGrRKeVgXZ7zfy+oW825pN5rslFvK6rCCrkF
ueXU2XvPTZsm9tsurrbEF6xASa7zsuBSlqpMcxe5zmU9OJvEip51ZEuz9kQPlGzO7Ac/nZ3f9N9c
dV+GiMysnMUnNb2j36xrgrsaU7tNuVF3Y4DNQ7kjs2Wds3ciQXgtigI31Xsimtj7pdvBNPGc/KCF
VZduI/MlEW/H7BBBCSadKDSbvYcrBSTznSu1v7r2Z0RuZbUTJ7x7u+kNc1VafwTjHFry0+jx3c+Z
fS1DspxTRSvHoyJx13NQUYxnOXFLINDEJj2iwlGj/RDd4l5IQENX0n0gP5x+PwuL7NwPQJwqlueQ
02biXzdeYLvjvpJfY+vYmRfWVeeugIHctZpxgCTkZXyILrtemnsCCBmp4lgx+2NMjjVk43Y4N+dl
/uvb6WnMBcNqh+YmzlJ2txrRCg2RIL/07soT38zqd4e6MFF2Xnsb5dYqNX62vkfR/YCGBCZoCavY
sNt253tXZt7DKnvtjFdTP3TSGyPWFglpMsHgVkDDa3BrlngnVVeGsoeR7Td3qYuiXls1Skm+SLMV
EPhl+g6+664Chlb7B4t/xPpDr7qH3MqPUvnbsFo7yAk9USQydmCtqH8zrdrLxpNQmjdZjYpSveGK
fW1q5rYX860cQIHIAqfNhgeCGp0oJ6XrDvIwV4+646auIwruqiTuyeBopRORFZKZrqTXmVU4Xlet
KTmvsMo7ZfiQcDGRjPmqh15GtseDn4sbTXhJ87+5QdjN9H9Z244A+9iM17L7mHoHN5aPJJ1teuVu
HK8QNq/SwgHXahtTKMuhVaWV3ymruv0YhCvZJ9lc2qkh4TgqCWJuR+h3ti7cv2L3s+tN0jHRfErh
R04X6W2z8oB2C+KNlexIFVyXRbaLCP+yh7K3cxG25yDue2LfBhGkofCXPLO7gVW3SD8K8RDV1U4x
37tJeQsjXPU3GrW0UH5N8qPV/Q3EfRW8yBkA5yTnotF3BuGmN9stOfAvlfsQoeEvy+RBSzD/MoEt
Stlet4GH4HSRTgLLR5flTlrneBblrajdWWFjB8pNEY+2wLJkk44medYm9kRHM0oC2oi9JS+ztmqe
+3cUXqu5tJVNZQWPfCX1uWMGo6Maj9yacWNEroq5BRK9akiDtqjTyfKxLCO7jf4aRXCjjuCzcHN2
ys0IAdGstBVaTFuxfsb9Fv2x05X6diSpgbyJNR9S1CCV6BTWWl2H6qMm31XWk9c/teFVG9+1w6bn
/6yn/10TJpzkqiggSz7n0Q3/nPLP7ZO1JWqh2FA5La31ihDCKRAq6WruzrcVCTMy5+y2JeVmqjCv
a/0mKY+F/FaTeEs0mN2nH6b8o4p+K9W7aW5b98fg/pCaj5j/nyFtpzTcwEhWcSxcx+E6jK/d8d2V
d6GGTpgoj/auj2/z+EaO92ynVwIdKhHF40moMR23u06S65IEApFcB9HWcbIUwo2LliL087U43HKP
s/GEYleYnlMlby3pJI2JU4rdRfmehOTDl9duTJZl1G9EOd3UBeIKTC++YO3MtN8l6i2C4FUt3Gjt
dUciRl2TnoelOvlpak/pkDlGFTtD2Tz1oMtk7iSg5F2zT1rX0m3i8cDVoRyFVRK9jtleq/tN6x2b
THZ0r7AD7VCSjKd+guwtu2fVEaY8u6kwW2xkFiIDr19o2JUaIcmmyzvi9JrK4moEgcnYr0yZBGNz
S9qfHTCn/Li5toI7Tb01xLvERJftIEinJiY1PuyEn0Z5L8n9lafKD32MCkVRbSF6gVuvjyidUmq7
nNPN9DECQm+VggM+Yg0gNSXoJUWFGzcPSf6n7KM73dQOYUyckRJuFeXBNRM7jko7E4CEUCAh8BGl
eWfLicZ5tHGs7skikYr0RhJLfuhlhLMV/XnuObXXP8dcpjRZ6YTSI1xeWyNPpbSemwoNFHOPZBrH
8nuS4G4iesAiO0BDeFMYREInO2r8KwHSR4OZWdGudJT+WfmsgipXqoDw572G79xoHfwGCK0ip1Re
LP3RlV+aoLyRQU96+B0tZB2ykhM1lq7z6t1ruXdJq7dS7H9JKPoMS7juKz4C6RhP7MwV+QikXTS7
kDAZT6n3JSemNsKDIOY/MiTwMblQIiKJJtYcUPSwm0g9qJ6GIrWtxiVfqXHKMXCMVNuEw57sTyKT
N763mXJomL1p/zi22FLDdQq+v3rr1NumeNFlDPz3QvrKFaqQHzQ2PPw7euDtCgkR/n0XQTZ0LY5v
EzI2sUMk9ZFyKzFi5ObRy6jJy95Gb7d+uTaJl+m4qHoJg0eVyeKnNaX6gytbR4pjq9QicSF677P8
wGJt4TkTFJ8bOgJMemmdiw+tJJP5Ftit8qwYD2P1Pzk7k93GuWxLv0rhjosA++YCNREb9ZLlNsIT
wmGH2ffNIfn09SmrBpm6vyMAjxI/IlJiUOQ5++y91voQW+ZeLnCeNS+ggVeDk/FNWxEdq7Ly9Uan
rRb7ljoBIngt2x0gmpUWQ3MDcGZgL0OlRQKtJF67+sOAAttR9NXbyrjU0Tt0T96IAyE6mxSgSf5L
6Xcpl1RFO8RSWxOQQYmDwVBXYQrRbC2NcMbCZxRESqV4jq4C/QqAybtN8j5hsnPExei8qHtwmh+t
HRTTWRp34MO3fX9Ps4ctNJ/F+6IrkKBTXwUMky88RT/N8q3jLBUrLU06azeyxKY1gQrpVk1xVR/L
EqiDVVF8QUqp5lVRBfl8qoZ0BS1BzWOgfndKVq3LK8qjWwBWpsCVIj8x7jADbvPotNDBzruNkMBT
nVREO4DiCEKm8dm6tAk5GRkk9EUY/MpyduvCWV3Xm6Xq3LDrHwc2+e5SZMEcnXXNm7JDjM3SStay
tmYzRjvmZkm9SoAIKW+yvJnUvaE/LcNZ0Z+V/E7LB8Zjl0ZCwIWBeQD4o55H2w4UZlDkYKRshyJ+
6SOvLTdXlF5Y3CfjE5RrgBokqfc1+ccLOEGT78D6AWDnHEVoqVNp3/Zv0Qh5vNVBNbdbdQi9FGFZ
BYzAoSAbN1Y1HOEkrNq+cHWbumBpzipQWB7oU14wh6BqKbLMI17Yjfoty/PJqvcDq1NV124SRW7s
dGtJGK5qCUotYlVL0MRY44f6wZGiIBuPqejW4EVJyBtAZwb4yO5imldxR3uWsW8Sf8rzMVP3RfWb
qEhJucuh3w4PIbBFo/kJyNuPurvkSuibjnXyvCRE4i6tZ2t+T9taT352xUuqBpkgbm4IBvw1Nqir
CmahPaTBlVBWCZkF/LNNNxiV3KRMeIhgPXKGWVgBphfHgVSxWfpTY1RekxjrfNhXTnFSanGCvHqQ
CAaapOQAMdTr0dtLCfuLOVmcjH7jXF5PVXdfN41bh6GXLPk6Huv3fmo20wAQZViFoEuqsDkUQpCM
e6E4ZCmwA9Q2Zv6mFhW4i8QDTuF1VRco6iPqHwgjGXiTw2j8UpVtEV7vq3YHyXU18g51fbbvuQUm
J4xEWpspmEZ9Xcp1UGbvC/tbQfUCNtPXbHoQPMQaFfa/0GeZ4anzL4kNziQNeGhPc/RWUUzLJFRY
8WbhLpdN58bGch4M2S91/foCOPEAg8g59hidNOPDarsgs2wfwGWQhKDpZwirreM2PDdpXW1y5XUq
aw/+KoWAqxyVXluFhuq3fRIoiemP3aZtIf3mmAmlaxbGLhuOGViR1Pw09bvQvM+KOwrQvuvWbQWs
N9s7EfISpXGrdENIjGsOYA+WgfUdN0pxzBXD09N4VZjGUa/AdzTUhpW6KeoZZDCAwJyNrcnXXYMd
zFB4NSoX2uaq17lrg4qtSl+PxodwyPqbGTyMVv2iWSdteqrnH9QMG+Bcr8Ag+HptHymZiy+FxU2g
3wIovZYjw09pxS7maRqtlQIjahp4GCnL62a8S4rc7dRLKUDPGzUvRu9KFFQDIC6aRhwIprVivcQQ
N5ehPIylsYKNTrxTc2lJq4xb5U432HLEsOoauJJayVnA8qN0nzQwk3Fr5Y7bjfBsC0LCTJ2OcAWd
kuqmtd0usVxL3jYt1SLk+q7gprSdZ2TBYk2kStd383Bu6jKos+6YWKVb2PEGGbkrkX5h86EW+oy0
Jiga8vfQ2Butzg4jgd8at3mRgL+X6Md042fOgtoSr6NQFC3qZ4/RzwytlVMV205sjSl3GxxEk0OF
TxCNauS+Vkz32SLWJS+nXY2EsAyrkUp+yuI7W5mOS0/4hmbIbl9+mFZ1VpN9W711WuibNowzWXig
ujdWh0o/PnUVHieww5m0IoTaJ0mPsy0+t2pNtPEq/BzDBG7482A6G7kpA+LL95qz49+RKy+xAQlp
DpzJ18BlhcQOQe4ECfk7HYnKcUo/syYvjrz66pg+DKIPqjnorbOlceG4+kqBUH0YTk1t+aa4V9V5
3dMDqmRozo4ZTIl6aSH1Nj2CyBYJq83BsfZUiLBG/9RzRIzMZ4haboM4nsoxjULfjio/WSzsqmI7
2s2nRTb4SvQsbdbQHev6gfSWlalehir5VYDAmllpcEGWoBZBlSJfKECXggMulZHijjhwhVU76Sbg
gATL9Fp1cuy9gU+MgB2ItSWeLXDXkr0J6/uuPYrIZHX8kTi/COarVzVBnlkCPy3hBJT0SPhZxckE
1gblJGz6PEsbuUozBYpceVmrHQUZA5aiebxb63p5KnFLRmy8hnggRhFGEFHlYfUojOlRJr97yDOX
oQ/GxnWnrHOdL1ykVTbNoJGFPworgBWBUMCFUuc38bAy00clyj1Lddx55jzBQVKkiyt4Baew9Ifl
2eooCQrdLUxz46QKG7ojrUtEkAVLZdaTvd9Od47G7qooPYTY8HlpM7cw4tOiO54qb+Usu3OaTxuC
t46Bs9Mmb8GevKA1nybd7TkszHZ30ufHRTuXItwvveqrsOxrY++El4VDOWindehwCo4aT+11cGja
uowt8BPjoa70T51UelL6m+qu1wKrPEXKjkzolaP8VJPnMb6MTrxy+gPrFmr2Njk2MD+HZkAJHZhE
65vy/CiBUQ9DaEpVfseYi/qhXjHmXZuzc9HSeBPOzrbPoqNewHGK1I+MCtUc44OwnuexYVpFxeAU
tGCgxrYaNEfweFhjy4zFw5TWmhPvZKRYcM04kNNgILeNcGgw8RoJPEW0qjlLMOQNzFDah+ZJ46TR
WQyTBcS+BT4Nx35r0daRdhxNDLjXLHtQWxDJfNUBa2/XbsZqp+rKOZHio2BkLGRPxwoGi1wrIjxK
qicBnC5m83WyP5083jdAX5XkV18mT0xlznRFCG9QdmXMDpcP1snW28euD9fI7Tgt3NlVda7jSzrd
Xw+mbkExnPSam4pjXjJgttSjKWbX1kFIsfTM9T4y21Mdsg0sb9UUwXDSVmop+Yv9mtJTFLxF9I3Q
40IiQ4u7gM2Gkfda5djWr52c+L5v31LaNaauU5nlXhN9Qr+grxXBB8PIS1D9rL1NCCNVpr6m8x5a
8YM98gTPa2OwN+bAUaXRDnGmebUJ0OZqpWlhUxnrwvFbrswSn5Vlgie2NkZ9ouPoKvz0RImvI3sD
OBp67eg6UhKYtN5gBnLA550AC9DbeLSn68Kz1aJuQ1qR0b+EZssi+7mwcPZYPtMwOhXSuIkoWnON
84SSXXHErprkn1PduUjTgQ9crm0RhX1M6P1Dqm7s5sTQDRcM0Wbl76R5c7pwn8jw0Bv2HWW+a+LC
t/JPaVkbhRGo4Ta3tfUUO268tADgaqC01J+TsTGoHjgbK9rix/NyRatr28ayOddWXlpEmyIf4f29
lspwgjDKQF9bDSO1eiSfFi6tx97agWJIrB/FspOtlxGJTiT9ruY72hqz/WB4mS+Sj1a1Dw5docw6
zZ0TZNRUpchweb+qxlsR7gSd9nYj+nLd6UGHF1nKjhmV3Nj9SMttRRNDH3xDPoZJv+qRxYr4V0mQ
chqbIDwXSLd6sCyfEwXLwulyIoxb6w6ZIvyGBnFKqJKB3Yn+GrJtAU9aemkJthyy8pSyTjc58IQi
38YNjhZIdEqKHK2+lCP89kRbVZxLl8krOGmj/T5Eo32wYm1TUMIVZrRypteiH/ZyeK5BAlbluYps
T2oGr3fe9E4nNSs5powuZK43kk3u/rjt9ewsGRDVys8CinUfjv7YUP1VnZcBpxyjBK5PSLvyKVzC
jWOvbWZcJlSfxMr3RftcQzuDDUhEtbEfbCw1Mp3c/nqONI5NPO+czsUX4LYW2nQIh1KOtKQrADqz
wmX6oZ5YxJ12ZcadX1UTrSYF84NwC6qCqdHp2CFEBbgCXNqtYdmqMk5lKqe2+t0N5bMVXaPp03M0
W75ssGqYjmc0oVfUgr86eDFU8VgVB2HzoBTZIZpPE9jDtJnuAGfitGcRS6VAV5L1WIX0AfD2l2KT
sVS11qsFXa9B/6LzuKgyZYiU8GmsG+ZLjy9LkZRLozvPBqkudCeecOm6ZL0fm8V5gk+31Tvl2Ovj
cQ6ndYeUVqazrUrbIid2nwbk9a+nUPVMpfStCSLfKG3ZDtW5jTljUo5F47Gff033dq/t+77/qQqk
KCqn0CEUQaSGtHQrAz+w9BAPtNha9GgKzREjVu/kFtDy0l6R9GQyWGOyEXP7Ljv1ulAXr5Gx7BX6
rlAkv68MaS2K1yXU9wZyg9kAXZL5anIl8/aY/+XIm6ufU4couplPaqh45XioCOmYfmrWFZ74aEQ/
otbZDXW2J9vuZ7ywcjti3S6za6S8IOaLPYK7UT6b8aWBzwH11l8kIDp96McZAFlVnLs2n1aWGd9z
KEEd4I0lB3XnR9zbOxGXb5NAumtWx7kxtkrWkighS9kqteDMl8yhOAgJFqIsRQcveL5mX+iSazUH
SREHreUezw/RfLCl85Tyk226uIhdOXqCBFuZlPlOD6bAJqsCzLinGy0wF8CxTXsxyHAbpDSiiDLc
JTzdNwkEeX1dw/2m2Ub3reOc4bR9IDj3x86T3N5baXWRmsZ3MnVXdjP96yboiPWJNNRQ04NDudo1
zq6tVc5mPGH26BAYBA40eRXdQ0HjInTUndxbdDabatW3BjXTUnmSfkqzbYRo+9qtC6K22qjqRV9O
cCQDWwivAtLga3mTI6e+NyJsLGP5Zl+djdkQxI7KEGwIrv8NLAbQ87Jt+N+eIcH1v69e0bBafCDO
slDsVY1NrU8AWFYcmBQ+uBgUSsScTEn9qsfeysS1QFzuKRi6Jb5Y6rACLEov1ficwop0IaJousKG
J38l+d5hZ/TA0trZXhQ0YVpK6UlrH7rKWk+iBTtKd2+Sg2ig/+Sco0TzZEQvg9y4/Tw8gHJ5qx38
B23pDsVryMh1+jTaRyt8Xwa2SckKeqNeNzrtYLI+xvrDqh8ba1c4I3tu57fiOMVl0A2Jrw1n05YC
i79eL785HfujUe+Gblh3ju4R9oqHwllRAOz7AY7UsYGVG82v5byNjX0BGrMoD4753MidXwtlFS0y
bFmgo7Jvy3g1FdVNTAtr/lvHs1/T4lWYsakOdXhFw3jGS6Gg+lLidSK1P5JRfa6FAR67EGtaX5BT
d1K9yazIF/12NpY3mbKznXqCpjBARttQbMKm2QwSwZ6lHMRQeMUwBKFiBDIvwszNHuKPKSvfkq7g
Dcs9yRRstR/2PLnVZD8nGjGTjpU92KniKkCNVxL6syVVjwTCBFGmUFvvRrFn29jygK/7Fuq7wjqQ
jZ8mq1TV1ZtFeYxAl5hcf8Pdn5OBFmNoebOtv/UgaSstuTiRudJG9mijJE2rooG0LOWmHO3Cs2Td
m5YLoCDFdWj3TdPsl1pyILXlAjPmILrsYJvLJk7UbSjJG7m0OdXphzgpLwpCrr7v1iFngrHQgyYb
N/oIeYSxhZIfI+0pm1+q9N1J31PxFrEFKGSbZIdee6sErfb+HBknYV5GzmwlWcERnUgaJpKUg0l/
T7sXZ37Jhs8Ju1U5n/RxQw8fmaBsB3RQtdjwzQybwvE6vm6VCAvmHQNFpS35hLtIvdh0ZRx5K/W7
SVyy9hjVJ3DbSnxMlKM8v0/qNc/7gcfQG+ssGCTpQigoPOnDIqduHmJMzsT8I8bY2Vmn0Tjn1x3w
sYmz+9nkQNoUft6MLjfjo6reWyOoNeSNHTvu5E+h40+Jy0pkk+ASP5jUuwZN+DIm4zPyGq12F6Qp
BATuLJ0DGF5Zbaflp+vxcnbuMuncDnSPyqMUavdwgg8GW1qkMwrcEEvO6G3dGdiGqf6XO0Nsw+KT
kFLkFodBflekaKNpvFDimKZ+Jz1PyVM7uaqyo1VQkhqViWtOTbdXjXWtOV5RzTuO/7l9/b33g6Wd
pOTU9WdDJ7qEaS/DtIju5V5ku3KwtZ/poq5xF+3z6lWdnIM23OvdRBZzKZNG47wN1XA2IA16zvhm
yM99rASctILISSAegrvq/bL/xZp/WSJno0va8RqPkw8XO34pBoTtw5OUPBfMi/oHu/bS2t7p8c6m
NN/o1ockHoyfZbqV2s4Har3u5JNSnLHyM9Zwu7U9IjeN/CgksKfTHudCcXPWYxE2PLcn0MOXJDtZ
XewTkL7O1fCnGV9iVgTZIOCHGpGBAQc/O1mV1rrdcpwpTN0d7IcBbLykcf6R+aIaMtMjSklfHuhK
Sg919FFExbvTVP4yOgdZi/amuhzUmtFz18FjttD2EsCaU4c7ie0bLN9JE5gMHyGhJHQBHjKOpHqZ
BqIHodPbg9/G6JZizVPHJ7iA5AR3zJz3cv+utiJAN7VSaX3kNDKMQvZ6RXqY6g/sV01HL6PmT8r0
aRDVgz08KPL/x9O+T/8d/a7u/p+I43+VQ3FXJWXf/Z//+mcFkXWbEabHUdcOAqFg3nlSyfz+L9lj
X33ujTIpnYqK/Y/PtbugcY619S1lvHUbCyYniVwZM5+bMsgcNvJ3BZM3GtkShJla2yjA5pYwaX6i
vwjAvjD4Wc6NwCgqGm3qC4lNSTO3afI6SqOvmAp7LBNZVV9PWeNGuRoUzm87nB7yuFvV9F8jp/Ui
LO/lLzPL/nItX/wmt5leuPyNPL3+GxuD0ZSXfe+nvo3lGTNh2lnFTyIXp5lRFgPwP2t/vrreqybo
/e0+KSMeYOV/24vpjElR4BhSvCH1k78Jfv5ZGmrdxu8kWmtnoYq/mc2mNIq1Zp84tq/CfPmL+OeL
gGrLvnEZJHLUS2MiCVJMadc17rD066imxmY4PipbKwU/LcEg1LQtJ8Y9fG5fV1/COacMPZcOs5WR
dZjOiBJWJ7kdz33xF6fGl5d2vdn/dlPzMVvkOEJxXND1BheLV31D9kBU14ds+GAGvW2GTdk/ofbR
zWNNhLpJioXUWMQ4QELnDMFJCCrgISweVeN79l3rNu6Hn6OimeAQU1t49JwhpX7vEboRMjZ2MXSd
jNK1ZzQ7q7+H7+WyX3nT/3EbRdVWVrvwwfpa6lcwfL53vTerhSUyRZcck8hG1ZU1jqHetz73NuPH
avWsEUnL5c6qF6E+NGiDfO+jb8SBEPHUchlwIpb9Xs6DZPreSn+b5xODEyijcZ73yvvyUn38+WK1
f9YTWv8jzSdRJcuYLZZjHXUWMo/RuKbR0j6ZloTBdX5OCo0SMLw40nVmTTBIy3xR5Ida/8kIQpIO
erqDME+nGSyWqm+ZRAQZpNxm+ShHYmXFdLpO5xPZWY/KDzl8G5t7R5XXpvQYRyOCqJ2ymMQP8zIV
yv2f/1nXe/0/BZqWdbPeWGoaKyod/30uHmaySkQ7wmLoxE+tbt6Smn9iHE7fe0Rvc37mzCjMvOFR
stLz0gaW/fznf8MXq/1tJI9W6kOp6AmrfXSo0utZ4c+f+8Vqb90sAaY+1GRtcm9GqWIhhsIohTSW
bAjgfwuI/dcz+U/3/2Y1GFNZkxuDdyBVY3cpL2V1kPXHanztc4cuY8gAeTtqh646WPlr2Z3Z1qvy
pZEkhG7Zii4mrevcrZr3Ynx1pIfQeknUn+DVzZmGLUQNSOjddWopEbMT0dqp8qBqfmvMSSFhm2rN
dv6UZM9G4qFlXtmMbFJnrRC+ZDWx21tHdVhb4k6mjyj/StKLobw7y0+6z+4Yn5XpbjGvLLa7onVO
Uruf0lNSITuoGoaMrzX9HbNp76JSQxeJgie6J87QbhcYu9XDpMteXTyP4a5Bn+3souEvru8vNOGW
dbMSmpjC+nQgk+iazcFhEOEToxqyNeeJRr+J+NFxjUiBuFF5NSdhnea7E8Xfip+DLPufy3s3OZUk
MHrtp+YYhRvxNyn1Fw/5beaiWkV6LKEf2A+f9mP9lz39q0XtNnBxTqTKHhvk+uX4YoAXRQpKe8wl
dUuPcP52tOOGNpgixVNmcyXLC4RpJhKR5dXdNs62nPZFvzbymaYhN5uphmWox6hafshJd3b0ErWB
ebHL2CNZcK3QXJ4ScxstmyLS3LhIDjP95Ew7FLBZEu1vzu6v7tX1hf63SqXXc1EumUJNsCOBQHwv
hca6jdEaO6bZbczHJiemccnfElP+2aBi3WZoXWEDWVHwxIQGY7kPjBMbs/3mXmhq/3krkk4MbUP2
3D5ZyGDwi/QvhepXF32zNipSgeO65nPjqHCdkU4HYhLxPXaidZvWJIPrKOSB0HLlneno904bt9lK
naSWXT7hFbF+hI/mrz/vEV88are5SpkZddKITOeaTdKlXvfNE9dtkpIpuioU1zuw/FhOf0v6+GJD
M26ORcVATrseFtRyTrNuHfToaJAsGZmE3Xvfux83r56esqCIXJv21evglb+/96E3RUpKGrOc2Dxs
7Y/G8unifO9jr7/pvy0TRZtw6K6oE1ExMuZyfv75Y7+6yzevnGpErSRUlSOcNmwsBMBFVLtWp621
/G8BvF99xc3bl6lka9ooccmVZyjxezQvKaB6J/tLctEXpe5tctEgp7EmKT3r5ywOUzSunFzsbdqZ
s3qHmed7ZfptgFGa68KcMpJz1QKZ+cbpo+DPP8AX7+RtEJHa6OMwdwqe+ufoUfreg30bQmTqFQNb
mRGBoYRbmvp42v98tV+spLcpRGYYEb15Pa0k2SZD5ER9VcWl/+cP/+pW3LyOqgNSuMDteO3WinE7
a9+8GzdvZD2nBp1xbnHXBfNVL7768/V+8eTdRhERYdCo5IfNIOEQBfcE12do5i7NnPqhvvzlS754
e/TbF9TM7KhP+RLaolddB/MFHdWX1n1vo7kNCNIMeCFRR6aD2XTJytQVr0Ju+Ocb9NUPenNeiAxb
yQabH9QISYMj+eEvVfNXn3tTNNvkiRfzzDWrhifepXT958v91+n4H843t5lAei8MJ3PEtJfxhM1k
AqZo0qbokJLOKk0fSzSieMRX1OHVmBtPmmQsXFsTzaWsrkzGWXmFmutsqjYCYGweTbxOa42hZ7EW
y5NeztdJ/z62VRex5DUdVKvjJ6fQfXs219VCV1ZbK+bo0TBzdSI0wvLX1R0hZTJShdeFQxY0h4NJ
YN+05Htd7pFqPnRIuxOT+TlpsoX1xojeVzhlRbT6TEYucV6ul3zaqn3r9+T72aUnLeYhj+atk/LH
w2+DYWr/tChREONMGou7jjz/UL+3VZQJhYof9YkAO9QFf6lCDOv6+//Tfb7ppWAVVhRqU0Fyd4/X
9jmcngz0RhICysp+qGbuT/gqUmmtOtp2dvqgz9rd3JnMMHZWPzOXF5vCOpYhyeXoU3WSyyeHUXm9
Gu2Pa1ciq3athZlIrdbXCJJJ8zNkAJG8Qyq4jvSKkxbQnOXcZB+p+ob1AYfDY8ngsNQ3C7PnaQgm
HR3LEhFv6Imm8BJ03ol4r/B9EWHk6l23yhELW9OED2ijK2mQMd1YECXlDOqND6jRpthrw88xd9aF
LdZGTJMEhfb8q1J/pZBKJrFN0WUo5z4PJAfdDTPbRnHbejupn7TpXWEOT1lXnmup388ZQ6WRSSUm
5U6r3BZJWYjGJNPIgBXPc4dSerybkcxHBXciPVnM5DCooZEiBS0hdl8a7ru4QQOmb/JYd6dZuq96
NJ9vijKvBg6bdVwF2ZI9T/C/8+S5Wia/aveaGVQys3ryHAel9Sz+UBTPCyhkYYiLhIO80fk/q8mI
QlaSPQ3B+DCrK16D2jyRg7Wa6o1Z96u2uwDQcMtk8DX9PW8Oxmx4qVm6mlBeyq7BpogmnasaE+2X
SYw7qKlN4pC6LsYhkBfI1nhSiri7n5r6qv7SjO5+HnvPxkkxqJKHbmM9JXfopq2i9HMCyi1JcUUy
bkdU+JGVu2AllxrsRLxsJQxW+gnAnpcjR3eMDFCG7SpcgsFXNyhZxggp1nXA6Kt66Olhu1XCLhiF
SdKps1OwejrhhKeq8GOr3wzM2vok9nPEClk7rRvzsx/DIEmcTUm2phpr72WEdBqDVsSA1i5k30xU
r8wf5la7RsS4pkS0b5ufcvUjse5mrAw0SV3aIUhTHfh5hWtbw7aPDXe++g6XEDHRj9ypL/ZCJhMT
FGMl4UeQpKOT9seawW8z+YX+Ywa/uyQHi/i7YcNB6I5+2dlexEFx7pX49xTh1lSQJNQo243KnfRH
WYidk63pKDEXDdcGegu+ejVFAVM6MjhcBw06siCnA+FwFIqMXKxEhNn4Il8eBxtDUINsVNZXJb+Y
Xr6004vMk4g0amJIEI6hW4QVUqli1UWS285kkIB9WRxrpYkXco+7JHazCYtJgTJ1KQKh7WRkDmYf
I2djalmj9s0xAbxVmYatcNuk2iq2NDiJxPwVOBvbQzJPASlQRA/6afaQFTbCgd+jZq8g1CjdTiox
p9MnmkZ+8NF0NfKCNPnewHWNcYf4cJX4rM547aoiiJlm2OljMd93MgLzyHH5MdBY7VUcw06J3t7h
OaYZ2WcvUtGSTKThxVA3ubAvkeE8jNYe+VaB7LlOdoJE83oKzNY8DizQVvdDyvEEZnhFk86Ta8Ka
U0orErcYm6CezePMz/sfk8H7OSDTgTgyar9JbHRVGQPWrHu18dagbu2n534q13JiMXu9ZDaxmfYG
cZDSZ+4Qw468mh/HbFctZ4UtTEleugFVfPrmmPqmrk3khu3GsWS6c+OqwsqZG+NKknnpMPyczeJS
ZTzGk7Gy0fXLzmZ2jqEFrq2zSIyu3LF/shXUm2jsvSqLf8tpvovih4L5Ou/SdUMUBgIo60UXJUtk
6S999BIy7eqRBRdOcTSjVztCCs8D16OfE/BhVjOioZpXVLafU5QeJQidKlvuzEZ+KtDEzwX24qlk
XU6d10JiRYynrF3nk+mZ/eS2Br1no61+tqO5HeUDotSYtBgyHrAOk0BqloGW7Pvxl9Iek/yoyj9t
MQVpxa48MZTsrpG5Yq/qbPsfc99su1pbZ+k9WkN/DssjJwBX53eDBtNmD0ZNJjM2wN5BX9szPAqL
jWI5x1Y9ju2vhol8JNye8HqzJ8cwqv3Z3hrttGqsp95+pbfkpcnoNeazUXxq5sOY/oQb5ulYSSKK
jqH8ZeFjWCDvqJ11adO7ugOXEj2k7XORBLxRaxHyaUaeHKNsvhMwwRJplwkLLR0rMBpcslVdJi4Y
8YxmlaUdnmB715WyKwrEA0WX+kN6H1b9fizxaaDFMZF5N2g3TSoTDlOm4/wM53s5K9HhImCJ4sdo
eeAyPBnRkWyPv7QxPLTyRdKfRLLu6QljpZoSsc2lnRXSE3aOGSOkGhH7NS6lmK33oWLHGX9XePOS
OQ+KYTr0FlY3h/e3+RE6ynaKmbJ2KDslHtZclvHLhCuDId0VaSslE6WwoFC7N4a/Jeh9kWlh3Wa8
xcATQwwxYu/Mp75TvIS1uWtxhjefukjXJaVVj9AlaUsgUNjZ8Q9A//UjU3JFjPct+VzU4j4L2dzC
h7YovMKIqPNUr+L1TCv6jva2H0ZEVxjek95tY2nTDhWqcAev5oOTowwtq8DsEVUhDP5zZasbX5TM
/+qp/lv7oOrjIavjkU7viF4xx/VOeE1zidVh00mNl7AY4zTeCG3d1MvBVn629gca2JWam55Vjat4
wXuJEatG5TGlBo7sM4SR1YItQiwYSCW/0Yc9ssJkuqR17tdEzpvZ3VBiWk3VfXfVEtYUqIz6eh1X
vFW7efmYKZee4IOlF55dab4czh5n1Y8CE6qTLUESkUrF0GC+AEwPKoycyVbgE0v6OwMVkzbDIJKf
RqIZLcwkaXjM43ektEY97oR5n7JPpaL0I86S9mAd0wxFGt38kMoKAxtzhioDkyiwTnc7koKUVdEk
WMqDFsu9YDrdIgpiOVja16XZk/lDJYRd2apeZInoa1qJ1xjaQToYTXTfs3DNOAGmLnCao2Oc2tbr
k4taLRs53c787h1urjBCVSxVG02NXMRp1AW7sF6H+VYVnWuasbewnBkWek7MFraOOFupfd0+lyzK
cjOs/i9nZ5YcOXfl96049A41gIsxotUPyInM5Jic+YIgWSTmecZj93MvwDuwt+DtaCP+gZJtEmQx
XR2fQvpKLObNO597zn9Q64xTHMgnRCLxpDX7Ltn78M/IwmZTqjq4zAHKoZhhl/Y6iAhArY1kwFMT
8kkQn43SI1cGiMxuKYic8nY/hNRJvbXsno5cnmVxZY3W0lM3Uu90e7M6LfrRcadai7zzxks1vTaV
Cz0qV5gdOxpF8qA5bcz7Cl5mfNxzrBmEy7rCSp5w8egJRMz7GDxaiE1E0P6rK7e7leVL33tuy10Q
3rlwqwPWQsL6E/pZ7j3bJVwqPji8zspgcrwm1uDAtaDuU9LCX8H1rAsfFk5vglvGCG3VQEQsE/m6
jy8z6uomzgMAbVdWoh7bqrK2DHePKfcqsncYYVhRuc5z4PeqelJn/nHK68cFIp7FBsgppsceKBcU
t1n1mLhXVXCjJPYWkhCCgOLa7Zt7Sc53MVs6M19Go79s8f7EeQGbt2WK8VlF/qnJrrWaE0KGyOBn
Wxf0pwgYANjSgeRdAfBaVNBEW5lLYLjMEherst5p3bMB984cpFvx5Cr7Vs2cEiKGbaJfoN3oCNQm
AWxZOTrR8ps23jT9fRgNy6zZIlc2GYUStoLC0jgYFXGashVFfonrsMMmgwMPjxnrBjb7kxLuG8IL
mdm3b+B34TtSd0+luxNUhdUL0iWE+ysVIHE9nuraSdD2G8uylyiA1PJu4P5ItMcQpkNv32rWq4Kl
nxFkK6/N9qbm3aSQtQNkRtBAqZGBXzYu0HifGyji/emh7b3h/1RiRB0Gf5MoL249rKyeMABU+KLU
jjR/M3QFTPadQhEzNnj7VndRmEGIjsDNNZDakWFoqxtLqnZyhmlM4de8mQ33aCS8zprq3kcg27Ab
OFj+RrMRMqBKZMBBbGtwnkm98mAdVFpxbTT2MZr6Zx2sfnMA1RovEwP5NAXinWIvOix2wukp3hEK
wf5vjAsd8r/vnk0sGsRTXGtd9za1OY5xD7YywgLJ6K8hNBW8AbopmMNWz5b6tQ/cN/X6pQVpwqy2
gXyiZrc9CTQRDxBFxkXkEpHD5VAMa5+P+IRM82kPm7Q9qtrj6RJS4+It0OKj0BULKOcLq4QQoV0N
pBASsk0SlKwx9pYQPpCsOA4aYNDGUd9vq9A6N7UEYm1wKgQiuTGgwqJe+d4mRHTFqpK9q2ibGiaM
VzZnria26KZtBh/oVIfZW9kfjZp1bDbyropZj5xIFkLMnf4gQftxUw6oau8B8C/Lx7Z012YCvvka
z558cE+G1LyKo+5IsUAeIoRz4Dr7Tf5gliiEucRgwJneDRAL4UX75evPH/yuN/ddZmKWKuyU1ug0
teh3VlPfcJiducj09AZxqEAYAo+ogfjfSgB9Wq/INRCDGAvIZbtRUs6j3jqWq/HWt95C2zuz3bef
v9TU9nffabrSP1zd5WgX4OcNZMNizYkIgiaIcpdny58//l397bvPn2UYtchq2yKmpJfLYlmP8k3n
bVMVq6LuLZCuvEahMH+sdCCN623HndgM4VlsnhUH7XffBfm++wbq5x4iUJ4ZrEF6SB5lhGGvDgl8
kGIFkmzrdjasC1wms/MeH4UApnPFXZWo3DLpSZ3vgLr2qCpYqvxfy/XPVZR9iGBBRGF850sbpbsZ
gwP5RW7X30zlLHFpGin8De6rHeR7p8Bjl2wcvMQjoBFXPJ4hh6Q7AiCsPOJFStU/DV6KGKF6ZSmP
1VXGjTL62rKApMZdsNKgSvfwFuKU5+9lmz8IT1vrRrPWRm3r5+3Klx40EOKZsM7t7L7L28XgBask
uS1Gc9FFsOHy46o6cYfbtC6WqBvZMGKV+rwMw0WCqEhJorlwL4S1tThNOdMWuXEC868o7iK5Ib2G
tk3Nd4BQxuleZRCConFh5g9IhcQubLZt3aLILS9BgTSJSfAITV6q73wOyh7GUZ8lUyZh4UqVM6kM
FE1OVPEU+QSLEUBdBDTiGmaob53WRn8saSD6J6WOlRWf2PIKEqs2QlcszvzsuBrchU6KUCUP0Yvk
KESIK+JZkNWQ6ZVjLY8cBN3gqGbDTVhny7LxjxFMRWnrwRSE7cFxVGxzUmxYLQXe09i/pZm3yyH6
FD74aViMKLSoYqN3JzZy1Rm+BpTITsYxOCuDgNuYuJ1btVNC9kqy9HoY4B10Rm/jrj1dQW3KZKqh
vvYPoaaeptmbyIqj2BqWcTOx+7e5fx2U40PUEfwY8AYNZcWTc5EH3DjQ9Kr0uo1O1egUoCjiTm64
todnkSirQQ73Zv1q+y+a6i/zDvG4xCTxEfLWipxSlRd9eiTl+9rMl6PI37oqPaqlkTfbg6ntAJJD
d61PEiFW6JnwkNcWqCo5rZFcjJDJO/hGZduvu8wlgRSfQHh7dxj3/PjBAljgx9mqye8jEsTNRK9E
SNEcQ9JI5i5RzvzxtCZ6LAfvRpfuhrDc2emr6cOq1ZNlL4rVAK+g6ewzzRfb2hPPgSADAXDDll+l
VsA9xlar0pGtzTFavwvhbaEu1uRrG32NNNEuQlM+UAf5TTFHnd0pRRS2LBm3I+poyRpe9Z6/lCwg
JD7suPEQwuE3Z7k6u19Qa01VRIS6XR3dJNgM69WJDa3155P8N2+8uTy3PaY8Uoikdpl8FHoY5vXD
offj9+eWOrsiTE8JNDK73a6vTpv2ihvgwAf/pro118Q1bJF1qUmmvEEeonVHlMEQkcPsOJUPXW+/
KTa8I4Q/XJ+6mcZVNOpMLEyOPKrxEDRIl21DJEuC8MaXN0Nqcc4EC1uzFj/PxO+meXbOp6Mim8PU
rdJ/EuYUGcLpQwLg50//zaDNxXKtyPeTsWGePV3GiXzXqzUEVEToul8/N/C+6L+5kOfKuaFbg6TV
BTegMUwn9XFQBmdRrj0rHkl6rHkDTtZaeTHbnudtfJa491bJk2RywoNwh8rSsskRDvOGoyjnRStn
z7aRHNfwLSnerctWWYVhvEuJpg9849/N8gzJJhuDJ7t5T6kRhqHhU1YwspMuvor8hy6/9/oalTXv
YUSSS0P0w47Q9DElJM1qR+pAdeVQOyvISFYmU1J6SqWXEBH4n7/b77blrNpVuaGCupxFLhHcIZfI
QH7w50/Wp/333TxNh9mHtV3wDlYajZVQp+FFog+bIvFWdt0dq8awyaClSUruVFm8RLgelR/UONLs
1oYgpJDU9tIjK+wWofGohCApM7Gl2uS4PpjUcJGZz17IyR1dFZNQCWlNRSHMwBNUhiHcoQXlVchp
yUi6udFRZdUr4T9E7lOk5yv4cUf5EN1mQ38UATeOgwtBMT/FZrWxH11XW1T2Jg2Qfhj7Z63X9rhG
kyUQB0bld9tjdpIPke17BZL8OyXOSILEix7BYMzeqOT+E7/+L5/4RNW//St/fsnyoQw8v5798d/O
nloo7dm/Tr/0f//S51/5t81rdvaUvFbzv/Tpd/jgfza8fKqfPv0BWllQD5fNaznsoaPH9fvnQ3ma
/ub/7w//2+v7p1wP+evf/vKSNWk9fRoamulf/vmj419/+4s6IVD+5ePn//OHUwf+9pe//8d///t/
/Off//1//f3f/8ff/+N/fvnN16eq/ttfJN3+qyUbhjAsBUywago2Q/f6/iNT/FVoJuKEtm3quqVP
XKw0K2sfsov+V8NU+QYQtGTZEBNupcqa6UfyXw3NMvgdW+aXDFUjMft/vuTFP7bCPybmex7Y+0X7
/3aMrhu6aamGaquqLpuKoc8WiZxSuZOywV3eno9O4vx6DJyLwDn3nDPfObt43dxs3+5/ba8+DNU/
v8Un9tnnuP9rq7P9Oiauqydt5y4fC+f2MnOuUdRy7vnD8+sJPKnpz6+b1cPd09nu9uzk6ebt6mb3
67JzDn2PT8fF168xO5FkkLnSGNH5LLtV5OfSv/y5n++6+z+N7uw0VnutVhFfoAHn/vYycTLn8fb+
dvf8ipiEc89/HhNndK6fz/fH54/Xx55zvHcujvf745Oz/f5kcbY62eyPN/v9dvq31Xa72j1enZ0s
tlfbxcPV2eLqand+udi+7a7OtpfL3e7twPfX1Z8HaI6+xOoyM7G3dZenj6f3l9uj08fzx939/WZz
vTu995zVyf5ktdmerPb78/35+nz6itvLq8vd1epse3RgLKex+mEs5/DSLMiivBLvY/k8LRvG8vn5
+vXCc64zRnN09q/XAWMZOAH/ig6cs9+8Xr8yvNf9tJrv+Jt3uXPx4DtvTw9nb78eni59Z/t0yep6
uHhjdV1evd2+/SL9wz+3l2+3JPic+8uTk4enX7u3K9+5/HVgfGcI7i8L0JjG/8O9pUW1aug6fVqu
T5dHp8vpf9eOszperzcLZ+GsFvzBOVoeHQgP3p/uPw3mdJF+aDj3yPEFbo+ux/syvPz1tns+J2vn
PHNSOvszxip1Th62t08XT2cHZnLaVT+1PcUHH9quO82LrIFOS8ZRYdwF8qMXXQQgQeoc6RL59ud1
M0th/WOMDVh/pi40RVjvBtwfmtN5oce4AbvLMS9Og+6kqdB3sTqn1d4KE1VzET2O/VOACmPa7jXs
drWEn22l8WmIbrr+2muuPREcyNh9e+4iL6trpgqqQban+O3Dt4riMZXNzp9OhutnKozOPnCeny+e
Ti6eHi7Ofl3Jzu2vQ9tZ+e7Y/djobLmNfllYSFa5SBTCB9DvTBPJYAWfmCvLRhKjdpeptSPv8fMM
fA7+mQBDmJas2YpQpittzkMdJLXxpKYYAdQRNZtKAEDLSjpUUOr2EOtn3pYJ+VJTDFNwR6qa9S5p
/2FY0d2oy6xGpMfHJO606pCHarVO3ZdhkFz8WbfemzIUjftZVnUxd6zJAgHnqw2tZVzU45U+gk5c
DBJyEUY8Jjc/tzVtiY9bZmpLl1UG0rYslWDh82pBWDRttNI0lxrqMud2paNqZ9jxgUX5XSsG+8TQ
TEFgIc8OhbYse1/wYlvaejNu3A5lbNTM7ANnz5dVOHXGsAh9NENWDFnMOpPrgYjMQUWNBcmBta8J
cdeRsReLVDfdbZCUEJwyt6YsHFkobBqW/RKmOijBPx9Tw7Y0y9Jsw2aRzsa08QstyshEheAAl77d
qk5HPWrxh61Ysm6pNuGdKhsQi2aRTqX7pZm6jVg2VRng7TAiptrl/h89qXRiOE2TbaSbhKULYSmz
je11Ydv5BsqKfSHLuEGkquP79iHPpy+bi1YUlc0Mt8O0xfw1DNoUbfnW6JH3UuytX1AaamrhLxUP
PcOfh23mdfCPHn1saxY52ehwJopFW0MJEAW5jsQy8Z0HYda4xyFSCrGU3GWTUHprLrwxP2KdraTC
WCt9c6QgMGLG/UrvxyeBiKcpq+tQUKEUQrnpwz88CGzONkH8LDREG4jxZ4MPmKZrvLrGF17iLbhA
JY/SvzaIDIFct2pXP4/Mt5MggP3YxO66PT9NZQWx8k5lYEQaZuvaEvfC8klEhAAxfm7py3EwTbfG
wqJjss1b5fMGiWoriUWGWKMrEuM00jX5RNKFeWCDfH6d/mOi2Ro8P+iLbb8DNT6c2Ej4BCW6ZD3I
0hbJzzDo1nHXqmfGMLZU6H39+OdefVlZ1rTX6ZSQefHo6hxIHtSSzE1VgkE+KS/08+Y2PS3v7V/a
GXpT9V25C2+HCySgnsa34MLeuqty2R0IgGZkfN5ts68wjfyHPnd9EUtxx1fIbsWVvDfPtbPszdh4
W3FJqry7QPNGupEvwsEBbnUkzsW1duCon4/6/BvMzuAWn2e/kYoBHW6As3V6VFIyUXVk1wpz/fOA
z5cR20MIA0c3xbaIc+bmOFKo53JdgWxRWuqFijWWV6WXyvcHWvmmGU2XORIEK5V7ZTamXi5cBbnA
AbBYcmwVebcc4GNbPbBWSkAksxR0B6kG3Qil2/TI5jb2jYk/j5+7KDaR4DYt6GDF/ditG0TsFB+H
WdDVWoW8+ykqZguFdLwFfkCAFfQHZ6ie6+5BUR56nQpzfqwMw2aUf6lMoCzdTe7ykVGvzK5Hr/xX
VueP3NdrvYzUAyflN/02FBk/JKIry7TmchxZqNnx6NLdJBvt5z7ytMcsiQ8cOt80QgSnCZ3TXzW1
ObEtVIymRoq3Q080kddt2V6acdYf4NJ83wjRgcWBM+U2Pu+K3hjKStKqbqnXKRJwESjBuLb+zAmU
E1MmLJQNZcqgKORmZoG3YXe6C4G+W0ZxJU7wskE4dmisA6fMdDZ+DNjeWyGdIpNdEUJ9R9V92OEC
3Kbiowa37COUooEA2le2AI/cF2OzyRBjW0RDrx5gL88fVu+NmorG+MnsAXO2qUFiZXESsxRazOu3
CBk8FakqkPaLJYlqeWEjnTb6QL1datkHtt93/TWJ8W3CA12b1y90Ae40QaJxSbY8WtYlnPuhM9QD
B+d3K4SzRFNkOjk9mz6vEGENgTyW6MZHiWeuQz0G88Mdf8DKW5kfjtM4alPyjbeZrllzvyUpztoy
q5JuSYESFFmMn2oxqN5F2w3WNnIHqn1Rn6wrI1X5K4Aeqy6rHuw+RjgNryBtoh+Ajb7OO3MVaMqB
avx7MDdfW4Zh8BrgPaAqc00LT22QH+S2RIit8tQFNYr0We+V/LwMKCdSgXb3htGmiMoJQIMppYpL
bBz1ciEbsYqf26imLz/P/jwmYcBs1dZljbDe5lvNgrVSC43cUpoGwn6jHSWDMB0CBX8dN7ge/dzU
9FGfO8/JYCqWYjNDxO2z7aujd50rUAWXbWDhU+eqPaKKQ3TUGnm6cHO4K6OQj/xe3eeyfEjz5Es/
FVm2TN0i72WZ00L/vP7q0i0teJbF0k7SET1jLeZeKM0WX9zOj0vlQF+/rEPWuSqDmhA8lGh02g4f
DhFZiQ1gUeDbh7A4j6X6PhcUxV1zeIwryBQ/D+yXw0NRTEVXZVvjv8E/zaI9SUrSHgsMlBQRAV3J
g9Seps2IZGFdtfvKBJWdIIuycUPPOhAgfDkr31ueIhKGl603azmW7KYtKztaGhhLO6qUn5QNiLcx
9x9LOz9KM4yTf+7rl3OEFgmhTUW1ObOMuQpaIKqevLrBQVWU8iIfPMSOEdlY/tzKbPqM6b1ucCmz
KQT/zAuuiQ56pTbHHMBgqKOWYAVxtTcSoxdUYIjsNxlIvvzAHTBbojRqkuWSxdSmZZFY+rxmUj33
UgSFgX/mefUSxHW0Sbhz8CPUffH0cwdnwzi1pcskJqwpkNa4UT+31fIscEWkJAAcA+XSDXP3OhiT
/M8m670VZSqUqAYhCAmQz62441DreQWURJQi2oyKHz6VQhxS/vgybqwHW7a5701d4RSbbe2gLzw8
ARk3nJYS/HREld5B2IbKgBRDdSD6nj8ASHrI5AK4yFhlMl2a7exhVBtkJ0PodGhjgSnMNTIhqSfg
XFmlHmuX8hDoNsYlxTAa53lXpg9jbkmtU+hgDlaxkgL3VAPT9B+TMi7xIIHX92qlUnmaxX7arfw0
qDEy0lAsCtHxp9i8a0e1AtMcRvblHy4Dwm5BIpOomxyVIs/iNqlqmrL0QSbLuNCtrZEUh6tE3YHd
NDslDF5r3Fc6SAib1SDmIajnZUUm2cICTVSke9VqAhxW0YoEkQHr2LMHOCWqZlz/Yd+YKIu6GOuP
KhmaxJ8XX9HZgTTmTJQYQxSEYjmFn5i5B+KaLyeF4Njlha0StHEofYlJB7toB6mMlzbqWnBCNChM
y47nEmhvPAMeUQPFIeJPe6YoOjcoagmM6Jee1YxdPeppgryvBWMtxG5AD/pDQmyKYIA+3NesdAV5
Q7oGRZVcwhyjgUx747a2lyxB0GOGYPkeLhfQtuS2GHG+svIrDAfVhecHHmLCvb+qraoHqFb0G7PA
1Gi0B+Xuz3tu6DwxNEPlurFmUWRi1VqQhH6C1wshWxDq3TqcJMH+C60Qoyq8mri751AhJHjRMkSq
H+60Hlyh0eRfwOQtDtzaX45ghpejcUqdaLJKSPR5fUqVBd+r1OJlHgDqD1AxxlBTOaRy8G0rlq6q
ClGnSmz8uZXIR9I8xriEmL4N11bfqVhCSn8GqtLflwpnoU1ai4b097zxh3BnlNqhIGYFpOEq8Vsm
MAmtsAmLDgzZl4OEIbMYK2aGbBOP2c+dISaopHpqJq4yCYpwhJwWrIGlUuMxQs4RvmwQHXq5fL1e
aFQjNCZrqtC12QiOQe1lAfHA0rJcFJSjXj7SItgzY1gm13+68DhAiI+J5eglq/xz/yJdr3TV7v0l
meJJ+iwt0pNwjKN8+XM7X7vEWsB5QyGUh/Y8zwZ3SPfKsNm8Je5axn3e8eRAtqwKVGNl67UqXn9u
7uu0qZQm1OktrfPInHcrVkqjIhShuaw1tyWnhL4ecL9NHQwTtE00dNGRzNRu/rTZ6QDTlKnOQyJ/
7hYcDmkopCGWFoacFt3KUGCJbfRCys7rphx0R+HMCpdeAuH154ZnDx12w7ROWY3CxpeJmPzzNPbI
i9S97EuclDji+Bl0AkTMw83YD8PCS4diA2NWOisUES7lJO0O9PvrlUQ+SVYIiUjIyAQqn5sHsVL2
mJmCYkWDt3VUe/STdZKAHcQLSJB+zlWrVQ4sqWlpfr4saFTVbYObiXf3u6juhxPAauUs0QzXXbg6
7rVSE+F1EIb9gVa+LlxaYXxVRZCaYUl97hq08LAiLwjruWzhf5coKGMv4wODWUYhC+vARfClOSJK
VTYJxWmL0uTsuvGaXtMbC/NUrRvlTZOEt7GQtSMVMsOBk+1LS6wTboH3pymrZt4SFUlblI1qQaLp
021qAEuuWiW67MrykErP7LU4RWMqm4E54tUG7WuayQ8zBWffBlyP/5+vmuUtus19e4mPnBQMThgJ
2TvlRWtCpglrdBgc0Y5p/6cPHR4dU36GVC+fZKqzYY0rraR+FOvoJnAdSblIe9DSSX2bFYjm/7wX
v6zLqS1dxQBnesmpc5DUIDVhklmJvvDDBmeDSMpOVQ0Lyp9b+Wb6TNa8ZjE09GseR4dDmyYSmT0Y
HnJUrCSUYZOVR54V4wzFgxD8p81NuwDQl8rZPUXXn6ew10pq1twgi7AxWhirKgacaa+cm4l2CIj9
tWc0NSVrqP6TUJtrfXqRSP14AFGfSAXq661eaA9DIen5ukCx4kAw/XWyPjc2W5oK7uOuVg/awgPQ
usYMF/ZoWiQHzsfvukQqnDudwjzbbvr5hw3AQTWog4p0InwOJDXCujT3nm9amKNYer3686kyObSw
fld52b/DzD40NgYx1emG8fOFq6/x25NXcqDhRz4Y44F+fTn3dbIHXHiGPiX7qct97teIY0KohjSl
YI536Y/CWo5WJG+x8UY2P0uTA9v4m9kiWyGTd1I1xBnl2Tg2dlsK5EchGga1ed0msof6QnKI0/Vt
K4YG7MAmd/clZVopdp5hOq0tgkALz9MwVo+TJgz/+CHM2JF/pxRPlprn/eex6/1azezJIjUxsTsC
ROyDLx6HA4vhmxnShEWWh8NXKNyVn1vho8dKS2WxwEjV/MUMIgNiQP2NiooKJnKJ7fKPVx+VNZla
CWlesuGzBnMXabxJVmKRQhBPFzCwTBxwyUC+kuimVPlzayZf/1MMoCsaQAlZYyQ5K+Y5/qCNTXjk
tKb3wsZc1K9D2M2dfep1ebgsDfu87WTvQEKGp+/Ui0/tWrrJ45s7RSXYsudZyLrFEmOMMAKwsqK+
zhW36I5qEdQnwHlEtVRzHeugVK2kB5Fm8alsJDhwuEOOFZ80huY6stMS0fSsDvZeKAYo0JrSAzYL
tXHRlPpkqS685CrCDw9X8TDDzhyDNYHmURzV+aItNP/KZStgB1HX2c7KpbhceGiBID1tGDoJPKlX
b9RCrx6SOpyMKb0chk6DId7aM0cXJE2taS8av3wa5fDBUM/COAmCpmn7S83LIyqSjQkRzXez4Tpp
W+W49CeERaZ72VYOZfPVltCaSBPh1puocMMTPRg88ofCtTG3rPTwHChLki68oouPkEuMvFVdyMZz
ppHMcpqGVLFTV1F2UuVlUTh+UOAiNJSmWjhhGHoPhStDhtC9ij5VMu6vA76L8bZzGzxsgrbFwhDS
dXYX+a2L8EboNtc8CKOHpq0xw024HlENkhRl32R5OCyjgeveISMV3OuqVY0OGUQw+srYV788RUKx
QEdb4Nq2YjEcp2lt3ZUSYs0gmrQI3qCkXbciC+76Cs4LvBskWxZha6KkXaAsdRR740R0U3JIyapb
9wgP5IV0oVdjeO8ppJsWtZ/h8lEYlUUpAMVpKBSWMsYOm6U7HZFmKzZm7cHMNWKB/lPXe1GA10ve
HUlqjkqJ5WuiQzDDDx4GxfAfhFRI6M9UvaofS5HFPm7APwCDT5sTYmEGbajK7FTWix6+sTx6J5LX
1clKhKb1hDBMjN6X55kJhpqU5BcxdrWTK29cP5s4ImHoG0TaXVsO5VM3VPpp7NbGI8pghrnL2tzv
nKY1i4tIbToVJRqjVRwZjZu950odxmWaW2BcWA15vxoNE8GxLC/GcGkObWKtWgh6aFKMvrSsiaCp
pcui1BdeRGMLEVniuGry5DlSewQ3ujb71fixfefHTdjjAYbeG5IYyaOSa9UdlTQJ3zdFe/FSAGiO
O2ZWuDBI+hUr02zlYz/QCMSMoNWGFRLiGuV20Yh+kfqtfF7bY2csKl0o11Y9tNgkpXZ9UWHNi3Mv
i8RYF0oGuSP3DTxrWUBvvhQCDe09qZIdo0Md1zEi4V21nPDX7WAP95IlowJjVw3mqPHQd7kTa1aN
A5RZYFKKpGKCgpPiheuM6iiGxK0/3sekmrv1MEp4dauDNGFNI+yARTfZFXeaNt5ivVhgj6lUwUoS
ufYL/l8WLkylN6Mjw26LVSl6He8ZYjcYJraLNpThlfZe8u2x2cqkk+7IJo36Om2FdFqg2vAopSGu
VmAXUvwKgxyJNUPUl+i1xShJubV3HI1FiNhtTwJs0cdyE60l0D3426tEFOuxGuNTLMT119iw+r2B
upuB3lNbQlVlCCo8SnGuWqrqGF9LheXfohutnaPXobIphwRzZatOYL/XcWA9jkpfnCUh+9EZ4sSz
V9QsM32dlEqybUXfQ4GtpMFeBULloML1zsQbzXAxVg4yjOpg/7cpYEfiEMZOx7e7Hb0OVftw7G+5
hAxz01QwIJ1ekVKcciVVx3RITfp03VtReKEitIp0SaPr143SVuMyFwNGK30Nrx8L6wSVCa1Ko0Wu
mp62iCIJCRKNTY9MWj5SM+0QoJOXVlGXOxP3jF9BrVtoq8R+/YC/RHUBfdS7zNJUwrRjKN5GI8Sa
s+gxOifHk8RLFk6EtVBclcMi0FxcPINCE06ZjbF/XsigYak3DcNVmCTgQbBm9l7gqyZvOUtrWPYE
5e2RMvgp6jg+KkAOug63at1gbqxLKrbgVR9ea0VlPBHAF8FaNEl3RvVfeXP7JD2XQlvvkVIcsqeu
YFPD2K3Es51keX/U8OpELa+L4kc/LjCITSQbZ+SeZ/cyEEWWbOGpNi/C1XD0xjm4fwarhIuczXif
6mGGtn2rJaxaAzT12kgo1a/cvuQzFU8SOKfjUxht1CRoL/3QlS6pykpPgzx2Z1Nx4BH2LKrTdSKU
28m4DGZcEjRUMozRF3g79+RHET2hCqKNOIy7ceRrW5EmzQvBVH3d9Q2LzbDS9koOQkzzfMGN0Hcd
amB2rBRPntEOHI2hy02iT5KNhC0x5C+rggjXyg1u5byPXWjfsp3KuzENuIc3dR0ll0Ku3WSVDZVI
l3kf5+EiCu3ootSq+lcrUve47+vqxS8jN8Y9noljvbF4nbxU62suNuPZ9oXecHwr/a3XivAhj428
XAtuohQVf/SspL40Hu04ijHSivKydUSj5QGVcql9VDAjRZ9Rko0V+2oEgV5m8UlkhljW+manoNKY
dSWjY3aVxZsjim6i0eK8sWspQHEQsK3ryAUnHwbeWnMb+z1CKbnLN3X00Y3Qz4/7nilFyL/AAHIo
UNnr83RcDgSz6no0PLSILXPUWuS1IEA7dtCq8MqNPOkWnO/6rWuN+nBkSE1zpUqA+XCs9zN54YKw
G4HyZ17huJ3rTR6GVfsorIJelJafZZtiSMxqobWo7HPoatZdVbkWy8DzcT1qkK5BaAWMbIjvXZvU
eDt7E/uwsJsblIbNXxV14XIpeZaCcgmF4n6BYKf1gly8elcUPR6G7RDC3WvLc6nyxpe+y/IXyVe8
Eo2pts0cEO+usuHeD0+LVHIbhLcmb/Ny8H1kPtAM5VRrAgzDozaw12pghDJkgTy6jqjQysu2lHJs
QpUO2TFJy6Tnpo7V57xWsgbp8BJfELnoLQ6dWLuTQRVj31jjPLcxorZjHVYe5qJxHOFzDE5Lca1l
QMAX0tuurYMXFSE1E+XAIpIQAcuy7MHm/RUsJe6XbCmDuL0KdOHZzqh7Pr+ElV20EFg8Z5s6bb3X
zpJL0K2jJY1rqUmSe8JOGE08EOJxg7wCOwYDElU5Md0scI/6djTYdmjOVAj0NMhY9kLLJVazVb6E
rS43a2qMeMpyLSHU5CNDDJUmSKRw25KBxWcQNzwUfAyOUVTyiirWtyQSKzqNY2O4ayovSFAQKrvQ
bxaB1OT23sozfFE1HIDN+x5m5rUZ9WWH4CFwOG+Z5aXhHVPjkMZbSyoL47ym5jYe52kxxltYy+BA
o6AhulgEtqXGO+l/s3fmSHYkaX6/ylzAy2Jf1HhL7isyEwkoYQAyMzx2D49wj0Wc0UahSqNEo0oz
XoC8TVPhLfh7U0WbKsyw2kqjQGvrFrq78PCWcP++/9pEvTgYQ5bX2WKdtX6QvrSXRSXWaV/4jnAu
LbO2d0k9cj29BZIh02auFlggWyjM5mD61qzY+6dqPZtNUqIAhCRL84Nw6HLaS6tseRnUuFS+FNum
8uUcomUgcDzwaQG/RH7TjtfaXRn8OE4C86lhvjFEisk1ePAn7kmyuRDb6AN/tl8d176Y0+etbRCb
zaFN0vOZIyJ49Bl5TilccVp96lWh2+dk9k5x0m7s1MXn2CQL9uK4TByakpeRGqmA7IGSyzNkZeD/
GSYX5PfYIetaOTmsBCiGslq1kwRz6+ijjLxaEyBoSeZnQTQ2JGWK6/JMt5zTT+7AF3dttlZGl3E5
aksw25Q7+3UoY/vsuvW23QcSBFBdFM2iEOTNaPKJViy6WFoKzPLOZFWp5u44+IIWu26epHiJvbFs
7gbExRRV64J0sH2kwty5ZBn206M1xVh+nRT8d8tMxNri7uIA9+MuXAv90s9Bux4Kg/jgKSl8Giqa
LvfFmdTRKm5Km6pgIITTEi9pi75/HY3Lo2VDSbs2HXSaSS8iZOJYj+RakTi3EHfLoUmkmVJGME6R
JDW4mct0Md4qp7Mcrhg8muFo+5ZasykHQ/hInXRtDv5S+d63qCNd94ZC4sk+qqSh5w8DNx0VSzEO
9gUvRXy6/ue2WT+v7mQJDIljk+u7duuA7LNBVL2mC14SVDSlZT+9OXVSM6pNUP0gEqG8pRKWYNOu
95uL3tKEfuFVIvS4syjfWPeS0CWalqSsq+uUXvARY0sV23vXWXrN3BSYL7HFynDna4DzzNfaMW8Y
OcLukITWfl4qjyM6iedg2AeJbmnObbb0EZKIomR/LQlGkyuC4MPgkBN3ZgbpegWdITEbRRqE2jlu
i15ICnbLJZGHiuJ0xUg3bDb+yPvYzW+XUTDe2XXzn/PFlvOuY6pfj2aqy+KRildCSamrXcQV6gAs
Fk7rO22WiqAi8nSorPc08SV2x5lB0t3nedU53920CaLzeChmnwCWaYr7s21Y+uZhHRNX06o8Tu1N
Tc5GebORQFRzkXm1PUxi3tQnsPxl+GKEH9ZXoVXV9DwHfUfcYi3Z3+ibH7R7lqLRLy8KU3POlf7s
i+M0a/WRh8v46sYbvb250Ca+iNawaDOn8MLq3BZz8ZimcmyzIoC82w2OPzdXhRjqfleqAhebAfO+
hJL1CQpsDWsUSJpw78cO4iZzvYWdVSXlwpHTzXm0NxHTEf8Nb/GimXqe1oZwGm76tCIdBkqhopG2
X1b7fVnrjlpRVH/593JzO3lZsVkmV6Ndk/rzUgNqECXnrN219EcvvLX8xbdbEXjzfNP2Y8j2mTba
0I3tSFpjAolq81zRGTtl46yC6F62YUye3VItfsxstxXtS2ikUF+3aljey2UOQwpnc17nkWZeTq62
BBWn2uEUR01FEAcXM1CyPhO02g8fJBH4dXFeTuno3kdO0764lp/LYTFOfh+ojl29NF1ObEqFb4MP
rPooeKTSA9mjiX+U3aJoNJITyT289eSqccgiINHPYX1v/DS4zJeqSrN6Cc11FOqQR2Hsku5AMxMG
d6Qa3sc0u8i6ABi4GcZaDT9CW1AE7o/xQmQKSjqenmadsz4iqBLEri/kkT8PlZ0nivCVFbffzjZS
oZ9d35PboaWQlwDiYRiJHQ6n4HqtCvIae9t749l48jsROFM3NB8LHh5EI7EnD9rW8QdpTmd29Xp1
ZiJF3bdxE6JsU2m+cje3MwGScz4eVpAUkS11VV/FHVkTe1Om9Xygq3I4uIN1vvtj2XnnfXV6zrUz
UGyeVHFaHmEo132JZeuJbwQUgbEhf5xkA14nw9nTu2pY7Y9odqO3JS66htafZXtUU7uCsTnucBNr
P+YHu3nh50lXJmRdRvw3LK27Eejsld+ITevp9iQEj8b6pOnUrSYCMCLLz6HRnDbFcn2L4xG9K9NJ
HlU7EYX1t3Brw2svzedtly6GrKLQqewnEBKa54PK1Z+axN+CPR3q5bKbXWVeNuE3iG5nxL37GQEd
AZxpXOyiOdDebi3rkd5nXzkfA6UwwWFxT4Gu6+xM23klXGBXoSv1zhdHRNu6ChINsZqRqRs2lGnB
GRFhh+m+enXL9pSQ7U1cnkWquq/96Nb+UVmx5pkXWfGFNqJKEMDc1y6Bf6HxiBjyC6aQiiWRGMux
c93MLtblI17GAAS769X32K8Ic8oF8RGpWYhC8GjzIWzTvLqzNPGuZF/nL+wLBnPJyvCMj2+msnwE
DN2PXcAvN12i8skpdX4qZg6ScOet9oMgGJ7ZVdWbOkurInjTftHJXcNv587PFxSMEZMx6GUy0dsI
GGmu1iB030RYGTIs09g8uTPCsqVefeaLAbjvvDFOuu1C0xK26BH+3u3TuejfuqkmeUYTO/lKkEJM
bnLH0L8XlbN1TPHB2h+kTu2XPKndoWZTYN4g9ignPw1XRePFV5Qd+4pIrlNyRuG7YGccLFQNMXVQ
fO+5ut8FuVCQJ2VTsJ/5k2Upbdto2+tZcNi6C1NtxnOceJyzcwiYqddZkxzcEjRXbmv+tpiB89zm
QUpEmqwEq1CY+PcMQ0yzDd2q5P1aZ3wfyoVXDnrqfXdlwr2NKE6jWpgmt6gv6mAWSRa1ZRUdtMrL
D9EajziipApfl/qURZ23ZuBhr80s9qZ3AYiHwWp5a21e1oecI22+KZOm4fRpk4ZeLK085q6agk1m
RfrYZGsTd1eRiPc58AeY2HjVxu5KDj2WzMkMZl9g6kpO6FL8XhCKJHcQ7a13noZwqVeB1ljbyqIf
v63buIA1WkVP9BRMkqli8kcSRiHXZgwq87LtJEgLiAy9YJ+U06ztrRAyqQ+eTMuv/BiblRjJgSC1
iKXozJeqMhd2iCZxSAD6Ow4OZgj0qW7hkXer2uJsTnu1HXIarvTRjKcMfUjFLtwX00JWUeUPneSK
i6kMT7oUyMIsupdMsL17m+rWc7KhIEUnw+reLHsDldbRqqgpPIjTKfKzvg6kPhd5F6QXphfhuykn
UkoJuF9QaCVF8ThP3vIpbdtLYKhB7fnj0TQOZT5iE01142aBCam5dKzb6gM5xHbde6bX+d4bApvv
k3qLnIMN1/KjtUNS7pZl8+VFg8GuiPZsK3b5pPOa2jmLFA7YaPTj2zxhg9khC3Tek5am2EwxLl6p
1lnGM3+bcpPFbF/ufvI9+ziZ2H/m8dDEX8ISX9e6d8OsFY25xdYKjiHammTVUjiHPqxUsSdEkMcH
1Ou58ghg5beQOKRKW7c8pD2R95n0kSWRDlM1zVnp0hS/W6ouhhPZKpBwt49JhtWydMQ+aXKgXdAS
8UlXbVlwuffUh+dllGQCZEZebPPULGcl7EeSebZTd0sHCkDsOoAIG4NZiTvwbHpVbXi0r9qZgXzH
8ut052oK22K3dj1nVZGMyXOiUsH1xzxV7jcUe1PxCLEh23vNtnFbxkz/+zgQIEX52v9QghhUKsCH
5iMdhu0phKXaMtONvgu2VjbXZW1ddFdLcLLa0wsBooexuTa6O4/zhHbDMudDBlNax7vFmM0nLHpl
QHIWWV/pqRnSQ5tEjL3hEl9ycm6vQ4iXLdsKhVWaGW+2Z0Cq4nxafCOzfkk1wJWYtfxVS/mX4m9u
yh+YQvqP6edsmz/E4dzZd40w6P0fbr6p8R8ILH/7NhE88/M/8/9gHo57YsT+LA/nP/3tn/7r3/7p
f/w+Cedf/pnfknCi5Bc0fRihSW4NQggACLjfknAS9xffS1iw/0VhBc8NCfxbEo5wfjmJvk9urRjL
MQq6E0P8WxaOcJNf0EaheMFcSPC6h7r0L2Th/JEkxhOKyuOkZ2OeONGd0U/UtwzzQhSaxOTB2WSm
+nA7i9w6/zuE9x+VM7+9CnE7EAiIB3hLf6RvtZq9nluzOKxaPYoqOVNp+Q207iag3wJoyN4Lv//4
3Vdx/yuL+fu8nT9yqr++Zhzyrwgl6sn18MfX7BLFBitHukHyNTw4IhePRWLya8isb4u1/s3ScQr9
+WueiPt/5VN/fc0EDVuUoGNz3Z89QbRAFGs/WrFXovzspnK6bADnuKShPP/8lf69TzTxIyhjpKn8
iE6E+e/UEW4flnGRTGK/LuP80necin7hNLdgLC7dCbl7jpR0oiahay7+/JX/zXvk9bwgxPJNBgR2
tJ++y3SrWDCJyT0QA2FJ9wwm91PbIxjZ03AN/PXnr/Zvfp88O/+izgjRkSLu/Ol9hiPDw+gGGh4s
Joi3HO2xdWP5l+QzfG+nV+HfsQOeCg//k65qWuO1aapIk4+85DcJsMVeSDQGf+294PvGqILDLjw5
sOOftb5+p3xGiVxT6tGt96hbxNFzKcH581f5+fs5vUrCs3YKA0Gh+nN8kXIlNE9TjAczcXn0rTt/
6v08ulSDm/8d3czPXw4vRcYMkJYTkj5CrsQff4S1H04hFipWuDWlGabwaTJo4V7+/A39O6+SoI/0
+IL5jnDc/fFVqIhpgCvVeFCzS8eNY6ZsXrfir385RFagyWGp9QFETx/r7x6oRlOZysY5HpiNWSXb
yqevIOn/4qtwMHAJcARitETH8rNTaQ3pXWh1tRyGIa1I81aLe5ZPYgj+zvFweix+fxBFWMIR+XM4
nNT+8c96Gb4EbU06OExGI01ATHDn8Bf1lyIAO8qSOuju//xLcv8oJcH0hRYfIxHaFX6zMCE/XyRt
3xnUDM6hHE8CjMF39sYV9RE7QnUJo/KtCNr0bJskG6UMR7pVGoqJAL/+zjs/Rcz99OYxM/F74XZ0
iGfAnvnTyT8GMSCdbe1hLtBf7Rhg0DcIu8XdBa4Wxjz8Tnh69wF8mneca522L7lqiuSBGbdY0RjP
xfvqBGPDhjiQejpAt23oLTjr7nvu0vYSzbVUfea3muPdzHNM2juIw6MAxij3no6QD7R9sOnzhs35
njV7tsduVvra6S1Y5OLLhRIlD76FAKegPZfRGHtnTJeGWX0tybC3beRNh2oyUUw3kJTjYYCpcffj
PK9vY66r7YBEZAsQZiCCIo6Rhe7KKch3eZxDQVHyWBfLlcHpkWZOPLUWAbWc9V6ualtvgbn7Wlx5
PokX1/jBa3YbKNprEsc2Vsm0SwYkBU7/jCW5HGkeGNUh7cLcHKqgKq8qZtJqXxd1/TRj5yK/IS/W
63zyHfXWJbAkGV4lHtmoLmkEaGyO5XAzyBCg5CTEc99MLSTwErH1oBCIP4+xDhSU1KSTg4gW+qN6
V7IfhsEY3tcB7Mcu1iK4QgTG7upvpkYBDhh17MUoC/Kygar2bYqIKqNvAU5yDEBn950LAnvwxiV+
dNoYkHpcTn+KQ1y7PjCqrx9i00iFnKCkbsGO+fijmgaAm7KVpgC4WYqv0h2hc3zlfxVyjrvMRbQK
SU3/DzxAMDvzmVMjmSGNxJ2Xh1Gp+ctYqOVjCzpuZhMUr2YI9LfSIRll35YzEf55X5hxN+ZL9BpU
MCoZYG4gd2hB4utIp3jWPZGIO3Tq6kdtlS/PgS6c7Yh4aqVDHdnOcPCqCm5cE3cJWxLxY8x7ftZZ
DNp79Ne+DE+rXZ+JInZuIZj0y9ghfzzzbURNRQd7TTZ0ladnyGDYSB0PjdY+56YIMwWaXe8t6vAz
UVfx16ko1asgqvzzDLPQtPeJjaqkf6Cyc2SnSuEEzWGKve6szEs6rEvppY98ZV6w98NZlIeasWjO
upTOiKg2aoaiHi1p3DNBFVeJmCi00HG0dcda1yai4SUZOpiecAAXN8Cbu7kIyQtB4upnjQ5KkQXr
6m3XhSwql44lt57yL8QM6buiWGYUEkERvW1eo57UtLApjtsEp5Sk8yKyDuroq5hNKA6dcuOHta8A
x3Mdl0GW27n7JOee3hKAAnXX9x6kEqQnWJ8niw4MyZX2KTYVkb46qdKnWs5NeMGmVd9K3QZ2l7fg
HTCf3VDf+HMSfBGbBUpxp8V1rlIhSQYXGuPUIRdTFe0MpDyRuZ0Mbzzwj/eY8vFkbwIyoUgS8GgG
kzGcQujqiYqhFMkLgR5QksUNcIYrdkm5GZLjczeej16fEC8HbElkftdZ7L1SSPq6YFKv4prz6jAi
ixsOqRSgF5VIcHK0DlqOE9Y1fczBAk6wcshUB6cLU3spw9heW6splfDSFIDFmwUSrt7TlGKlyTDr
gwswfRMqJb8jtKBLEMEZpXVruABpBLZ9waZFCDr6A7TPSSC/1qFTvmzu5H9ptoVmrLxQ6BPWoo2q
vaIa8hOiX3fOhko0F2gue/csWStmC6fs6Q2DKqMob43j4Esz++v3eR36x0TWKHx8J58GUqaW2FK8
soX0+I22Cajo9PIneM7Su8ZJudqdkjV6Dj5h50cfjAisTNHy8DQ8FTMVPSFhAlE5Rh8saOjsO007
wnkerNJmdDnFw0UIzXqOXpMxx7Zy+NyM8akKMp5bEE4V9O8aQ9rVVjc49VFEul/CLd5eW10v6Q69
OXxqjZwFfLEo557zY+VpjBEIyItE2eCM33Ic7Gw6LN82Zx7dXeNNlHJRPWLHK+M762PS1clH2g0q
4ChmCtg1stzEvrCN+h5yBrzh7jpF6gciesBvEVI2FNT+yS2aEicGO68PiDhGc0B1JO9T19Pk/i4x
+XR93UMtzNaXsP2jQJCSlCkYpzZmPiCwcfWhx+RKjc+pAyevPGHPSt0UCMD83rRXyg3qu9p6xLNP
JDAnuxW1W3PISeD7cGXp230YFP0xhtzNYTDKwbvHiBo++KGab5vOaX+gOFR06OmEohRFQU62rQR6
zJ2jy2w2lUANs62vizQTxS+5x08fQNt/K7iD1ovGWXGqVnlL8o1a2xWrVKBc4ELfgbF1Ib7Hy7rY
AviVSVb3tumoVm0r4z442O7RwEWpGI5+4gEr8kmox36Rw5jRIxMGJ5fACdHZcIxioQuAv0Forkfj
2/josfQ9AKojNvUoLpOZnGGhzqNAqs+QXv2cYWxCfzWIqXxp+o48ijTuY3wkq79+BCNQJ4oQ0Lvr
oGtz71xEDcmEaiN/bx9pBydS1Mc1LVRsLo9JI3m0Vx3Fl6A8tIDSytnd0fQHBtSubfOQ+iaMQKAa
P7oZGj8WyAmdCuPP5Nqr1qRi4nuR+cPCFTdx1hrnRqMRDrKhzsdnzpzaR1JZp7fVzOi1c2IbvQ+O
N581So/vkb+hzWrWBhVB0efmk0U3QQ1gM8n6BtHtMmagkJQhreMsvuqg3V6NQx4AxZVmfETrG9wF
w1KHB9hVbpZENhdkXnFPdaQKCJ4xV39do9Ux+2gJJliJfAo+RwCGPzYKos9Ng/xxp2rPI2C6owZs
06W4U/0ajdSA+fI9YIS/Ywxwvgd+jQa35c+GEPf4OexVHkCxIlG+V+U0vDPbBRMVe+H0LPKBHg2T
O+ONV6iRslwsixRa4BZus2EL/Ad3ysWTAKF26ZWa1bXR8YYoapb2+0aw5rA33sxDNvprfZEPJPjs
4Y4Z/OoEseY0pbQxNINrLrrCeoiWvLx+ZMHcNhS/Kvgk6C3Uuxzd53aYtVMzPkUC3PDky0GapSzF
lCiWhhm5ZlpdjFpCupUj+EaWLBW/V6DD5L6JOeF2TFmROmxBWj9VbshfsnaD5nsL4TbBTsBKynnA
mFVvfk6mi563ADqtQo7k+SvB+9s8js/T0CY30LkY7gYx5LROt6M7PJktxzBTtU5OmyhzQ3ngqxpX
VJK5jfbAySTH5FY0kkFWdRT0Ub5KvhiNTM6p06MkaKAf043uEmHCg4YUlFnY9RI6BbR8YPAQJ5km
KPhL4ccUhiAAzYcWPsqrW5op0xnqbfO78MuUTAhftz4dacCtGMRWo3kA+PTFd8dRQ0Bl89w+G8iX
h2ZyKRhbBrejZDPy7H3cwj0cQmAnm9mu7o96NZs+6LxsqmMnF7pwnXorDKKuWtGoRW+wA5tk+5sk
iBYYTrj4H9CQ0D2RN9BTOoar4EadY0zdQqeUXgAat29DbM22syoI3vqy2GjLHUAhsj5hjDqM0Unp
G8UCrVaweLWLxcU3yFA2JByZX1RqPdbDED8yz9F/mA9d+WzZDoZDn4z+BdxODmFbLEQAdFvd/dCj
1UTVOSk9HGFMSUwY9fI9mpfuzvZ6fEWcvDzzqbWQQ2rAfF7llHwFsVTft1HqR/S2ebTLpWQOLpsu
/dr3gHbZSD5VmHVIWG7ZfhzY0qjv5H4uq5NrAPKG6q5gaaGM/Mlx9zA+3bO1a/vkxOBumNOG+CWH
I3pbco/WFINi7iK1CYdw7U9hc1GEa8Sx2cy8j5Kz6cYz2gkp3qjjT2qQ0s2UGNBYhqJEnwXJ2n11
NaZCilOWQe0Cjf0lG90m/U5DpG92aWM9dgf4v2eeLwq3KsSyH7KxjL51uo3fSJeZkx0cUM8RW9um
PA7DXOFgiglqy+tlldkqqvWbMnNiqTeszBfaMvVrjAySysPNW9+KxUHSLLvEvencmopu31uf4Djm
IHPC2uuvpklUMcm6RfKW1EN76QfbRvt84JmvsDaU9Xp5kV8jwG3uijX0n4JUzXdIjgyBa3E13EuS
Faed7wmfuZo99FwGSCnTQuCfEHakIpVq0+WzRJlK3Wy3IRjWuM1Mpuzo/zD8EthGSi9x0KR7xbey
qMWd6Bv7piVDQDaZUxq/bSu+sLGoQnoQy5bZbdbz09oZHEnV6clsYYI/EtbVT4trGnk5roWRjOJz
wOqSJtAh69S33n51247aX7F2JEA6bX6Ikx7GbinmmSahuU8vuoEyc4RlEJ5JFKFDqkIYH+qsVo06
BKEcYrcu79adFHH3I6wN5cdepBMmpmgi0IhKUuaQEGXxtzzuURGKpEhffVHqkYtzgxKn75ViW+6F
gC+xVOnlyaXDl1+W29VJO1tmPmTej7nJoVgHfNXs627jXIZKT84+hrl5DSGD16tKJYFDTJ4wlAba
1HYU4Lj8EGixpkRcJYn7rLYmekCusSJK5u9U73vtiy8Kkep7Opw4l7ivzR03yqKOHNTtHaTM+mUb
0/Y59nvKrdBslx+5HrQ62KWbfiCeK96NXeqRj2HraLUuRFlnaTSjJ+EjRehlT926Ko+4MrUXfJpd
1hp6wPvi3ENXLHcJnoSvpK/IzwbKnLZzXYCyj10qXbp+pogA1iTNy2Nkxrgg7Sj1r6cuALXA8sDG
JgghWLm8/HS+nJSrlh2ZFVBnEp0WJQ9dBGShpz6g45HLfT3UUStZxfreZSloDEpVD6lPvNfraD+B
c1b0Q7mC63leXJY4f1AjitR8pFY45MdQn0MZFvMxxoayvdSiICJ5i1qH4vq5RnLVY/d9p8qRySwu
l3chVDXumnCh3qip3Y3Cw65wSE1qAghvW7ZDsxtsFFS7UG/V13xw4m9BNWI5CiKDbGr0kiraOwz+
/q5QrW0OvS8hqQ0bDH+teGqIOqmGYlXXZTr6N1Gr8uegyufOf5rcIY+857iYKHmkWjfVhrIjFGHJ
0zaFpX4Ag5D+Pq26qTrE/K+fY4TWF7KWRcHNoYfvWx0s7p6k3LG4tuXIhUjE6BBSk1hOhKXOigBb
iZpvh6IJaFPB9C6XQaUiaDso6onqQOnxNMZL9SPyIEe5gCPKCcut6tKMCHH+M7Xx0qFeXpwbeg2G
F+Ggass8tfYvzkJPYDW2SCqm6PSgOkuO/6dGzQAu2K/XttLLh5cK722qOi46JL3sQEGyjJqKFFZ9
HAhVQ+FjHBrCCV1id3deNZh010b1fE8W7v2EwpCZu5X6vln9CCbemJR+R6KqXxcjQmwBS9wU/GBA
i3cF1w2CL5TIAdrzmsQfvzRNd0FLezS8upVJnGvqjMLy0COK5AQcYa8oi3L5pjJPNx3Ng9yvG2dH
4KFdPYKazBwtTSQqn50wT6rrtupyq3FxokOg/1labTLsDGQmJEYSU8KVPSP0o2Iq+egabr1d3/s9
wbqVTC5nNaf6aSml6W+rzu+TPTryBlTTIZJmusy3JDRPWs5IyQHyFoJythoEEGXTFJiHbkm3/Eot
iLiuJR4RBE1OE5vwlshKfpRZryxufwQkKJBfNFlZI+pZ1c1fkzGKmttCzafy+NnL/fgMHWrKSIAM
z7lUcagMItCuLhKibzt5qgmPmm4rH2iySZyzU/BWeoSWd1kspzVN4aGmXC4nUjxQztBeu2rDCrUj
FArB4t4b0rFfs8hOKciGNwJonYrG1xiFb+iAK/xYDKIR5wjVpPmwHIlK4JgEm2pYoP0lJfCuFloe
0wb+naumad7Fkow3tivQCbFxzSL8IT3MgGer6ZkWlz6n1a2dfcDIsAxiNm7eQAdCUw7lipbX9qwG
z5yBFeonsQUrSV5TbaT1d1pxgKI08+uwfUtmW8aAnZQ34RwM+/YdEevpFAE768Irt4vT5srxhmo6
1cz38EUVKZvqRxmPLpZOx5auxw+aAKzrJcHZ9xTanu48IDRwf3qL8WkClHkNbqQenxNtcklfYUfL
ZhF05Scuq7F+obUl8na1xMexD7pwqJ5XkXr9We4PyXCFBDksH5EVrnwSxJ8RCBCYPLla+pU0i6wx
Zmzr3ZqD/e+7zum9NeNk7yNCs5nhujwbhsmNz/0+Ev5FDbXi7UK60r1X+pHzRyie3vcOy+jTGX1W
hLqql4vVHRd3o1U9WorkDFfOJHAojWXhgxXXvjaI7Qa2JKzbvjMSsoQan6SuMluUavT1jByOm9iK
cIjqA/HWZtwOUdzCQv9KUf1/6cDvqnROCZX/d+XA//zv/+F//ef/+Ld//G9/+8f/8rd/+uff6wdO
/+D/KdJxf4nI/SIsDXdwTI8O1Nhv8oEw+IWQuCghKu0UD+aHkBy/yQfCX2DKYh9OGJKJ+OFThvVv
4gHvF2wJJMHCQZHShMrO/SvagV8zIP6VZgoJofg1PhFvJUBN+HPNBL9Qrx6QLSJ3ym19YYjZBF0I
EMvs0rFGGbd62hlprw2Xhl69Yf7ia5w6ZxDl/T6hup4ywGWlXXTaBmw1qneASQq/KM5Q1LrB0fdj
KqKrCcPnFG7zeT8hbzowBybcfDWqlp0yRfRNri6JSRNY+B1puj3msCQAFi/UhJA+9xTrp+9um7s3
2BMv8BSNHynVty9WIeYFMULzQ31wHiw7q9t+oCQTKOAsWEehztCFbjVQvcyXT2ZxI2T1dlx2fPj6
CycAuiGXTrmHoV/8h6iobUsUaF+91YxUj7WT1l9S94QsFlYOr4U3xTATi63EbdzNyzkICyr6itre
99brHY8qij7+YXpPvk5mSx7RDSCFb3sWy+sgd4XPrd9tHEpjGDwPYKX1jkSlCiZpFu2b6+VR++IU
U5S8MFghM8pFEMlD4lp8nV274E6NYyYKZztd5TmTkMtQsJQmM6s43aqhF5X3TlsUJzVljUJ3bfFr
4b+xiw9KYMRwU48SH9ik602fGWgEhg8oiEuYyOHNI3GDjjDElsNRx2uCPLBq/I42V+2tB67s/rY1
p5nLrcbRXEKV4h82iuqIy5L2xZPBhpkMTWEkwrM8Deu7jo2Gr9NjJNsPbVfJ3Sa76U2mi6evTV2I
/IIBWL+usELfOm8O3qh/Q6eO2X59CSpRfG4cMhAycpVbKBME37AD00nA6bep4ZJRwB04sGE1b4J4
CN4LkqPau3oAJTrKUkDhsigt1fM0wt3viajDvSBaf2P3Nny2wFZlfePKiF60ktxN/zg2ykSPcazY
wRwRORfIAQp3z3S8VOgPI9XuGwT+8kkj+CZYqHRXlNeDwp+/s6FRrxogFPurLpbvXi+THCPLcpJk
lqt+bQdGyWXQE0o4hsAHLtVeHEmaaVoQKsw0bC79LC6CJpg/qDZJSwQolZTfaAOboM2QXFLNOTp4
B1tcG/nej8ORkntmqvzYtSiU8fJZxR29LV3E1dowybtYQFPG5C4HdB2HRuESLE6hTKR7vTpdJN+H
Lv7f3J3JbuRIuqXfpfdMcDDSyEVvnHR3zaGQFOOGUEyc55mri7qrfpFeNdCLfqR6kf7omYmSU2p3
RPXuFnALBdStNJFutOH/z/kOitnckvSfwK9QzasNY8j4rfCUj2aQv2/nWow7I6VqvZkS5jsQSDGT
Ql8IYW/LMbcN8hiHHt1F74hfSoLPn1nSKhZHa1tvbqw+zJ+l1pD1OwijfkwGCtxIBmsEzUJJ7Rln
kyOq2y4sWhp+nOA13HMq+Z3I1LuroR5xOSO2DXYaZYHoYgTdvB/BtNMQTdX+/VxU/mc6ELXi1gC4
7zKVFqsH2r19SussRJVJq/QpCPC4bnp9lJ+CTHXQkqf6PdjY+jY2ZtzngdUVHn9OCBVYOEXl1VmG
N7viJNnx0VbWV1bI6JPTNuOzb062fUm2bpCSi+hU2cYYI05noIzzdwPcy3BrDTrfJn2n4X5KS5yA
mdYRoJdNSZJvcMAJ3Z1JY8Oemg02+kI96UZ0lbm8oNqUTJtwUprxCvI1pz0bJiGzvrfbdFtHPXWb
w/71W3v6u/Jn/tjWP3+2KP3W8r7/IpLARWn1/97Xl2C8f/zvw6b+P5AGvtzXl//hX/u6NP8A5bwQ
v5ZtUzMX1d1f+7qj/6Eyq6TKZqqTg7X8V38H5P1hoU5CFIggACz9kqrytybQ/APZiimWzZ4jgfk7
m/oBYfdiT0e+yIEDnQ21ZcAxaG6OhTDKiEEy0WdlO1MZ7SQCBerLdfYrN8VFOjqXBWap9DnPP6by
xpb9VmPjaMfisgLDOFb6PsQBqI7TGdUZL+uFoMXkrwLZibIObKwAS6qvpEYAoXy7AtWx7VR8ztRK
cndoWmfbhNTIIjo3f05nJuHbGYGHCIGj14CSheQhtJscvvgpVgAYhBVxzzHK2kZz2iibysrN7K61
ZouvLUxKg2MKIvXNkCvYfC21owkIj1Z5bLR4Vj2NDBQuh0GV3nXzFNWbLPApa+LGZrkd1EZ5r1Vh
+6lKRuRgOY6uZGNgSSEFexT653KcYwTKUBU+hXFrflU6ORIl7UxT6fU2Be/HnDK6ts1AAHB8KKLK
3y1PYm2btGs0eCHCDPfWoFIGLtH/2ldGtfyaaZwnVGA4pD3QCJCaW0zpvKNx25v7CAbAXrGm2PRS
hTbLLkXMtwuzQLW4shrWFbwFgHtRZeKiHnGDfwpMcqM3ugg1y8vjPJ43aT90XyphYZXlphvuSj/m
AoJ/IG28sJQWmbuJqLNNjt093nALpcrpBEHVbkItm1VIJEXe7kQIqAmvxDR/t/0Km6Pjg/GndVea
JboMJLMI8FFrwWAcpneNYXeUpfRpqRobMXXLGZY9JglbZu0WfMTgb/JQoVzWKYppbVQ1NT90MyU5
dyxs6yP2+1y4Qzpo7QVFpfgOpyjahBeLwBta1EVxtJpMgItsgywQ8FLWOi0HlFqUjiDitwIM9yW2
MOfOSitKWAWVE8X1KRVeUjPG1ZGmHTsaF9T2HGn0WDHKF2QvaEXhqMsKAcp9JaNraGzZKVy5bVHL
anKpPjWpO/e2Hl+hjKJ3WSpDZtIKxti9GaXtNLvTL0Ezjt8CukQ2c64MSPgg5aGxO15Z5oaNksO0
uh2iwXgCdNjcxyHRF1OXcZjru/zSSYN852uRAyElsm+UYRw2cqHvwJBYLMrtuSCeY20h+kU0nxCI
HeSFQkM1tiw7L1R/kgZqRIa6Rmqxn946ou7eOaZVfzj95G+OspDgAH5JDbn18SgY/BDrdJHm6caY
X09Rnm5TfzbOaAsP+tEXs4yHAb3ONNPAhRqOuibOYW9q/YLAYU5ViY2+1DYf6IqJn5oIPG4T4s6Z
nM8szcIrRYAtt0rCM6v0ao69+gtWD2prxLfHY6J51H1/SZGDgW/a3o2jGbdhJWke0BOKKxrWp1/w
6vt6Ne5qz/IBKAn8+prXh91wNZeWchVX4msVVmBs2rIqd+BGph9LxxifEVXPM+rH1e50GF9HbwmZ
zNC4Wy8z/8U0UnIFh4tQkDwmVbDz6Ye6YWh290uB+0pSEv12+nlXastl3vITC1Q30DWZUmtwF6d+
hAJYfDzdqZOtYofSa9RS/xCmlurqXDUuzTRx3vel0t/Nmjn+nKxMPpppwIXr9J/yem4b1K7BYZoc
Snj81RdUoAGrFtMdTQVMhHxj+oOowBOcHuVYzH94Xr5Q4jYkrxeU3TIBXrzgwS40g8IpDUahxk+t
M82XeTLKJzOckRoUzHBUP+k528LrZxMcqFC6L8jDBYZwPGpHOz1JS6azWbbLNb1LtjNO9d8SbC/P
hnKWN4TUBqk7DNjjUYqCHig/p+oJ2YS7MRurPU23+ibT4vTL6df4ep5C9CW1ZNmI0OnK1aFmtkPO
WFSGMDL1w23uDMVHZUQcQ5ubWnwZxGdiW5bv7nhFolKKAhkPma3a+D+OH00ZRxMlGv4yZKUQhJEG
cKocYg+TaHhmqHWADcsyix4KbqEeDtZitbuE0qrp9wbWtkX5NW8DLeeub5Zm8c2Y/Aor2oKF2Gh2
1ffegG7zgo5MkXtTUJXTTSZLtd22QTXeDwEq4G1S0ni9HdEVYcYcYJf93o/OX8vJGkeDsA1IsuAS
jt8M2XlCUgHQtzAViLVrJzi8bTzuVCMPznyhByrsi1/hz7EAkILs5ETPvx2PpVHK7/Jk0red1alf
h3mMS/S6ZvOh5s5cuw1VdB0ATpga+2gcjcClwyCu6EQP+CaRfdNBw187elY0O88kAST2Di0mSo0M
jMpT0ywBAVbRIPecpelTWNKmVLs8PXNXM2l5Bo5NmMklnMLlLnD8DEkCt8HMI2OrTYZ9o4MAuJr1
erqGAdE9nB5qtdYsQ7Gacban5GKhn1/++xdrTV4hUK4ttmfMphrZG2J+D02o4WAZ181Wy1X/iWJ/
d2aFW0f0HYY1wJOzcZMYwEHseNiCthdTMTO2WR41D3FFzxxfba3sNFquVPVhY4cu0sfxsk1GbXAR
UGuVG/shxaCE5A7rgiKLJml0z9YVOJ+52HddFO1NahDYPBsnyq+0gVLsNcZpme9tIhBiz257PPkJ
NczBO/0aV4vn4XkoEDv8ZLrEVLOa4QSyDM2gcktBLtreOjBxPDnSKjk9yrKCrOY2/2jS3PGhcG1e
e2p8SE1ZOdra4qlJqRJ11o/Ciq1gi4g4vDL8rNol5jDfECXrPHVsTGecbW+Mv/h5NAK6TKrK9urk
kbHpNkVssnoG+U1dG9elLq5CWd1VVvQz6wRxJrb8KIzy++nnXq3ky9vF9UUmCFk0hMc5q+8BpJMe
5YOKdqM0+i3F2OZSLXFiW30VwQPBCnp6vNfPabNYgb4Hhgpnn8bB0UeRicpCf1IgiqApeOMAbXkU
WZhfJlyj6RZHobGlhazshTOhRouW0ujpP2B95OGJufrzbeBY5Kgl9dUT+1BsI6AzPHE4+I9SZnYN
A2FqraXvOpEtr4ETvKwsHP8oWS0M/yrpA2ihsel+qCLLHNzTf9HrCU7thgbIUgXg5azNfui/LIMI
DbHlvzXhY+S/jNlOzwxyeKx/TXAOeRoDoHcgrkQ1+dfqsaWpAPgogUioxHkD/Ass83vZIBigf5JL
sctY3O+jXKNnT//X1kF+CJtoLjUPf1ljmX7BZ1qkG9mNcwmlEw49ceOyuYapGGEUiEFrUMIptAw2
ypx+apJkzi6CxF4oBkWC9mRhJym706/uEEm9eipwy/yMlrEcfMRqOjkB0Mk8Evq2T7MdgW4cZGNr
oGWcWd/ncR5V2CCp8jVCYLZYd6pu3xbx6ED1isZtM5e6i2HDfC9sJflw+k873mh43+SKLHlu6vLH
CQyWxxPdUfixp6SWoIOiChOEbVDqp4Tz3g408+NvjoVXiExELIFL0e1VWBay6grXjy49yc7s1TaJ
MZj2KneU6njm83n1WMtlgY7hYkE0+HpWq7ETinaap872qCcZN8lISh+Vm35vylSeuQyt7vm8wmUs
KpiL9ZmcjKXw+XIDTY3ARlHNWCrAlJm/igUJ+EOHcfO7Y1Dwsg1qSEU/dzu1c/QruieonaqELl0X
g0cnzvPM/fD103N8Z1NfYsL449Z5oTppgYbWSJ5eEdOu0Vo6ltZgXdr11P/2iz4eallIX5wepKhV
PU8ZKgqLeou7HxBig7olaQnPOz19jg8qy3umQInNGPQEWw/xZ8dDoWrKHDDCljejaLjv1Xr6WMhA
eUBfYL/vG7pOSZobZza815/uMio77oLG1gTbz/Go9ZRP5IbHkpPzIB8TNVaAt4j4EnGlfhGkRGKV
ssB/EIJMwUkR3rCmF/ehFdU/eq3WzU3vmP3DnFb67//IXGssi+RdblHECB7/YXPex0metNIb7NHZ
lQTUg83ohl0d+er29Jt/Yz5RiufFk6dMY3593x+KoBBDhjEvmwv1wgga61Z39OROLWT64fRQx7vM
4UdmqKXev+wzFI9WT6WVVcGXzVAQYF0zZUVG93JueTgu3Pw1CsWj5cCrM85qFPqtdQnnD4AEQq14
p6Mc/0LQZn49ZjGY2V53uncIf+drGxXfmWm82tn/HFw/vExh0h1cB8M1QTKLMOgkGkCju6KS3sEK
rcQ7K/NLL81CZx8gPvhIWSPdZbJKLzn5R8+BHKpzyVLHp5y//hKdRgO3Mkos696HmkOudkYovFEy
AQaGIfq9sarxLkPWdGHk6rSThV5+kIPaPZVNl58JYX3jgyY5l2+KNf+w5R//1kmEUaNNlp6nqYzX
maIaH0dEQ7u4a584+Xc7pLHh59Pz681HxjBr6Rob0Kud2MoBDNpjJj0wc7ObYEn1Ci6/lyUGl29s
r9P1LLTs49BM4x7h4fh0evi3viRKR3jHuW4t0+/4kVH6gpzFCeb5tlbtQtvo7scM/kSr692P00Np
yx53dOgQmHdejLVamlXiEGobt4rXmxmd8qA1r4q4Mfb4XqvryYLIIxN4M5Bv+vcm8vU7NRiTLwgA
rdsumcJ/Yw2hLsK3rQLfoC9w/OSTQE4dDcw1daoGr8Xyxodd/OIwNP5/jrReGJUgzxOFkfIUf4hP
oW2ba5FGu0atvDPvePlnvX7H/3qq1TkjVTW/T/HEeVppDe8Q9Qbbccr0dyGwrNKq4q1dF46bVhKk
cIMl7LYeFlCsde5e+Oa8Wm4M1Cap6y90lZfbcEehEpozz2xAR/ZmE6WRPrTwlrXIPvPMbw2FEInF
WSwlYLmaVqHfTBosVIYKR7FP69bc6dVoeCnlnYvTr/f41vfn+sR8MVGSWJpN3+L4qZyUPEwL45Q3
5LQXUYfmXx217q6FI7LdHMn2t/IS/x6PowXHYm6c6y01mDouCF3Br1lp0u3oSrmgm84lDL+1BBl0
dReEAL2hdeVjyd7RQdSz/s9ac4X7WrkzQmp1yKfBp6F3dZ02Mm5x1uZ3xjA0Z05sb626L4dfTdkR
MCK0hGXRN6nbp01o71IE7vtwMFWkLq3pUiiK96d/SfHGdwLGx6HPDzAGesLxLwmSUS0UPgN+ScBe
qQDTAukyOTPKm1PTJL8JdQB12HUTG89MVgrJo8WpCsEwH829iq9JSlzep5/nzcWVb4oCAdVyipur
RSaBsGol3HO8xEmZIUpFHcSK2vEiTTovR720HfW+2M3iAkFv+bky5fxMM11ddGGWduZI8eZ3gsJm
eWieev31l6KWbd3wduOeO6Y61NWtyAzntoHc5nVD212efvo3f80X461uPCoWzJFmPw8fOqVbtYHA
5IHk9/dHoTSIb95eMqzk8le8uFqg11MIiGRtbVIle9CgNnnKEKr/xrO8HGW1crb5kGnRXPLNI2ze
d6ind005R9vTz/LWN89B3Via0cQovzrzjVQvc4VvPkqr+mqSAab+pIqHL/1E+2xTGFFF9Y4780bW
labtU73vzvwJb3wcNFuEpLDM+mivL4WpExt+n+U2dO+gu+7Cbt75JG+6+LrEx9NP+8YSQ4QQeh5B
r4du3Wqvt1T4F6OCkWDUg/xLn+Kin6kZNU1R4pHV1V1a+Oru9JhvzEnGBDqmmlzTuPMfz5ZmnBQl
nRgTsO7s4eHQrlQT096/McoSqUaHDKzRekeSvTXj0U5hFjR5jgKt+GVURnpm4r/5+pAM8C8EFOyx
x4+SNkY3WRq/VGRk0mdfgO24pLl/mWWnv6O+nLwfYuRx/8ajUXqzeXkG0tXVC+Qkblhhz6gVtYlb
6q3iGrH/t9ODvLVuOsCxuExzSuFmvVo6GiCwXaZoLB3DmOwTvFSf2jEqdnaYzTel0rZP8WzM+woP
vKuog75PSn26bLBpmxulqs6VpN581YuinKTDZY1ZveoeU1xhSi7RFHfxug8RUSPGoFe4v6eWpTsb
bidhIPA5/RreWA54C/8aVj/+hcMolAqHJumZ09Cg0+39n7NSym3SOpWXBVU8baRRAyewzcltAVWc
Gf+NmpXBbrFoQJYGKV/q8R8QwRht0yKwvTofk49scF3marXZ4nKzG/ls9+bwY24sXHI4wbSnQs/F
s5LSRkWtPGfFFrd+oFLiknRjTr+aQ1r06kgNxRWkEksHR6T1ZtZabWggPOeo0BoIR2BnY7prU+WO
27J9F6WKhslK7GMCGNxY92dY0B1mks6anuZBiJ9N7X8hrs93lTgSl5VDbI8a2fG7yIow1KEw7s+U
iN5aeWjR0Zdg6VokCsfvcgI7bGfCJONmJNLMCmR4qS7m4tPv5a2ZCmYKAiIzx9bs1S9WhTmMKejY
Xo25d1NGgzIulPthpxnBuHdyCMhuUBAXdGbc19uG4MtYCsSUbTm7rXbhPA/ihT5teySRkBCGuGdb
yzDdxeivvdOP+Loqw1AgGnH5W9ww1r/8EJdK5yB489Qhz+6bocNuiUh6HJEr2UaGp0eNb7pWldlX
mfS4ik4Pv9ApV5c5ppxuMNt5UHQmy1f74sAxlN2UZXbge0nnd2QGRVXyM1E6zlCoDcUdiYJwKqJO
tW5MohowC7XDo6JmtEpRy5PyIvJwJhhZ7TLbE1gzB7BG+Bg3jVWSkeWbbRzs1aoXz9E8Eus2zr7f
QtPI9TubDDYMjDKqCQuTav3A0Vx/vxQmnxtSEGaXzLGi2MGeg7JbIIt/h/+y+V1a27Lf6BSDEG4x
XSlUHz+/Q5dZz2OuW4kZkctdyPihpsr523VLRll0GXwrbFrrc0hJepWJrpzaW93R1clnZ2fO/c8E
m/AZjcRb80nnaVjelr7sunRrIzMk04uR0KyWlzI29A8qhNmdUdbmDDGhq37pU7vFtmec6wm8XhN4
SJuSmk3IJmKX1Vejt4nIMhIqFk+sBiYQjPKWfTXag7SRn/F+kBtnofkPbNns+oitsKZXfc2ipm1j
zOmxkvjvzdIf3p+e42/sv8v1llvCotziP6wKUG1jsselPQUo8uEM2k6N/mghB32iDyTuRrOEzE04
UPp9IpajxwVtI56cbT5CmMpKUOGC7abfrgPyNwnuLsslf+ktH887SPKhYzkTYWCmXdylMRyUruvn
H5ooCuwfM3l7JMqcU9C8tbBZiFNpatIA4+BzPGqth3yEUGy9aCb+KIA8suMe9UMbNfvMErrS6lBX
MDla6BZTgUMxqtDVA9Y+SDWQKIpXqXZ6hd1dbEpjDB5YbrqbyI5wncBa07+mbZPtQNh1+yK3BbXg
Kn7Q56z8bpMc+aMcdfXeUkYyKklGjs4svq+OJMvfyMRADsW3oq3rcz44vLBEQOdVuH/vO7NWvuO8
9J+bxJrhyOVRqO5LKxx/dfxpn8GRNfvTU/PVJ7P6A1ZHsXrIbchDOQT2jnAAcqM+zH14rgr5aklY
BuECxsFaAxmqvTrkSjNu2We82FZuaOVdJRi2yOQybmqzv26F+QDi4Mz5YPl1jw40y5ioYLlzUVfi
Px1PtKESIOeUCI43GAHidYIsYNmziLsaqj3WfuXz6Re5Esb+Nd3sJV6aliS359U6bmLLVaUifU+q
ne8FXWB6McEBYJRiUf8a+6z6lhcOTCKgkZupQkdoEeB9+o949XUtD82BYdFr6ICaVr/myDwLA7NQ
vAiVLIQo/IlFr5p3XdmVj6eHenPivBhqdf6ixxkgmGHi5PkormIZPsyZll6cHuStH5EEbYv/Owj8
VoNMkmizQIkVmI1p6G/zGXDdxq7wofsYzD6NKN1/nR7x1YGP2yxvifCdRS6JneF42oC0nFBhVQ7V
JL+5JkpkupWNTN+nYwBxZ+7idJfPZnZmGTg36mqpSgiR7NOpdrweBN7ORGD0S6+CYFc1Tu8RulTe
QGr3z2yXr39BdhdEgYtBCID1Wh1YkUFljaHukwaJz11gsrvBhn6O5Pz622cUtCkccRwOl4vx+Oh4
x/JizzppAakDus8JwYu6wIPDm2iYrQ0iW4IQsmRaomLiNDozf17fuMxldAvp/YJC5oh5PDq2VZBq
hel7E9lvd81yzXKJkaqeLKO5AaukkR5VlZdTE8pHWSXOM1c0FZxsS7noQECq7HR7eoa99UI46mGy
wg2wiCWP/6QyAuiR15XvxTVRf1peJBcj3OOPfo1X0hV6YZKlZw2Zl+swI0+PjTCCf/p6WcQlYrJK
IGV9JQkdtGzCotEH29BobdJhUbW5wVjMIFdlqarc/jn9FLI038WBBmeN2+mIVSQaUtiWlW5BfSFK
DrAS/n1zn3dlZGCUUdNP7PbhJxqw94VvQNsoaf6IbXigcISk1Oeu4xf4KilIT9GWxBvxOTzwO0YD
7NzGKZr6vlJ9Q8D40Yb3wiRztjNqkpViNas7N6F8URAWS6azVx2AIbTN0Et3mYEoqSTyWt1kdW/8
wG0x/gJ1MIH3SIg8SmQdfxpbc6EH0eWlzr6wSoyFWlIjgeF5SlgmZiLVW/8AOMHxDOykMkz+nbAt
mllTLgGi5AsbBcYnmBTzgEzBBwQ+pTigVKTa9+2m9eGNuNoBt8Jkbi+cA4RFQgjhDmxhIweepU/I
2Bdmi2PZ4FusheSCVKX7NCKSjrdtaUSGZ5V2Eb5XBkhomR0n9lNiTDUhXNVQ1QSFg2XuoVvYyoVa
Bc7i/O1qjTDWOaul/kGjV8TFSPJ8WeVh9iaPFK4DvBkoDbQ4IlstnjQiYGxt3x3ANO0BUpMfgDXC
z4Z0i9cdkI3qy8TyTKsDcBMQs2ZQDYJ70xIT8bU+wHBi1QGMYxwgOUu0BKfuLhlaGHsLSGfWiBUC
NwVfpzcN9X1JQ/pneMDvqAcUT3rA8oCBAdHTHHA91gHd01gQVAFhqS1pNwe8T3lA/dQdBvFNtRCA
tAMMSDuAgcrGXCBBSSV1Aqzqdt5KPGrzFWdne8mMEymEVXvSdY9goEAh80VDDdSSm/ZrWiA2o9lr
lFdEUN9TaSFguUmk32wGjg7KLibPmalu9Nadbc6zcEn3ITEpLMx0U5f0cACmNjibQgVkciVl7E2G
DB4qg7Vno4W+vO+RM5LKWYw5bvnJQHelmFnyecoDjgd9rafvOF4Chp6q8hFRAqRQSAUl5U491+6n
sooXvNBYgyw1zKG/qfyisXaDVDT++YgJSIhUiyVo188w4jvmqH7R+dg+UOnph62pU9Fx58CqL6Na
VfuFiyVqj/PR+I2Gc/9skCK2VDUEHkPyVGZ47mU/PxLaoD7S+NS/mtQFIc8tQXgg8Ob6KU8bcnAp
ogJfSMC+Wx4pn9C+unIi34FySfSzJc/xKu4pdRNfGYX3vtDH9srQCJtJlLLJ9w27Ppg6MxxxQIcK
6c8czGLa5AEi8IouYXBjN2J8UGpFfp37xLw3G5CaF+TWY2BMfVjSmY8ZeRNyS7kVCgHGmxSL+Peh
c4hKzXhR6qWiWCTJog0En2NPmJXcjH7mTF08FOS+q0bTeVNuiJ9Vm8zpPcmHQeQSBqoMF5Y6aSQH
caczNlIfi+gSNlv+pdLL/ItGGOtH4NxTsFErQsg2sjGdr3YcwMSZdL+kdFES60jY0OBTu4uSvMVD
XQbscaBSsb8b4X6IjeHJIlvuojFh5W5GxyALZ77qkjQikA4x2UZL0vhzCO0Ak3WZ1CzApll/IxC6
fIKJPYJVsK32s9amlnZhmXKSy8IA3g20WfhBDSzrgx6TULwTdjw2HgSMbPxC1cwYvX4U8JImGMoQ
Ov1+3PNRQGZ2IkPtvkd1ler4v1FUg2eLGnkdBZPSXvpCs4xdWlOZ2gCBodntkH5dwHLypeKWYIus
7RSkSbTDIFWkrgoP+QrFvUqCFuVzhbpzon4tRTJ3FxNoQTK+UmCllLi45WxiUnMmTzZiSr2xA9cG
IVfHRZFDuyMuu2zl135sgo9Lhm2zgSbo+265BF6606gqjZcQ2adeFqEI4C3oSKoukkwOe6Bcse1i
B0m6Cy21jI/wZDt/XxZWnV02su8AKCB3gl4O3Jd/H8h53xGjB+Zct0ayMcNG/aXXi6FQjGrS3cCt
Ii/bjjlRu10jBv9D0ipNfm/o9EH2bTq3oHYR0PLf4jGF5gYYavJSOxk+d9Ik6HOCCem4mlE12kVe
Yo/7AFW8y360STwMXmmPEYxVqymvtc4Z9oEVWR/Uypk/C06gBilMsJEIVQSvZRkLwjYesEbcJS3W
pS3E/Tz+RihSSpSbjp0aRYJDY1TtUmq1hjYRVTqXQLWkDJXnXgF2RB2G0oSXJgC6vFkPo6/o/ca7
OYuH5IGpPRReGJTaRaxFyvdaiK67NDq/eFbplcAXNps535AvHrB2OGTEG1dQttgECmDPYMKlM4gd
mAFQrIgwURPgNWgTEMvW9CnKWu2jAjGvdIMoYZ1QOIc8AwMObkSU1PomTzK2dlW04imwfOUzuIye
KzssLHCZTW/0bkuVtHXjOgk/GbnUArcgzfpDhoxI96qi134pVd/+HIx5+oJfeuDDq0R8LeFwc2TI
J9lvnFkAKQgVtbyeayrJuxzyXLBPZZRemib5yKCwcnFPISX9qstQv6vNXB89EsCL9oNRx9Ftm89G
7TnFXN01/H/5ZM+VpbVV9TD5FkLNI1s3zjPTnaae45wFjeMngcds1oHqWzdxqZZfu6LuyCZUIYxv
+6nFgAzb0Lxuc6dpL4ELVu1eEKtsu1qa6+hMOvTKruhD1k9nnk3Cw/JEvBfEOj76uT3Ve1lGdnnX
g2y0PWugDMoxroOkheloIcOhAKrcukPWvuEWBGhzwjLmu5bST88QfvNyY8TA092e93KrSNKdoA3i
GcdqnhL7V8Xjla8T4gVi66fRhyOxuZVQblMjjBNvpm1jDtZCXmcKsdtQQ+r3YVsk16ldVvZOdYb4
S8H32Lp9p6SRl9clBNO0Fcpnwvr4CM02bJ7raQIl03ODN0mWKu0rWFSw02qChDliIZ97zslLJIsZ
ui6h4Nkmy3SdlF1QQN8ykhjJiMhSfcFLL0A2ZN2LI5ULgulmZEwCjIWYfWXEQ6F68awM17XShXdo
x/LEU1spHlLgiJQZ58K1TMFTZ0nM8VhUOlvJoJcpjkBAYrgA4Om2aGCVYcLWTLQyNHAiEWyCx/x9
rCAc2BJAoZFLb3Ji9WCzym0F/6d1rTCqfohs7H7ZAEwXBJ+V3TpYbUzALFCLACDHlootyiYajGtT
DZ9Mn2ufAxEG7I3vU6jbaJUZkAZdKKSacfJlOXNo3uNvJ1GUyJSYV7NcsvRzVetDW+D4IoERhgYM
/74UEdfq1KxGzZlOoeLhSQmxCHGPKaF4F+X1RBVp41uTcWX0fkynxEje2bId7s3ZrrwxjfxHgnGV
S6WR8wVkEvmQzY5JYTryr0GhmxuT4KR90aXtPiY7w4XMHXGIICixngd7EycNAbJl9eH01eiN+g3+
UkzN+GtU4BRr+zyZu/Pgt6rvLbr9vWZ14lJos+aWpTBvLacjYULz4zsO2KFwR6xbd01nhWe0UK8L
OJjnudBzP1te7rpQLEdnqPsxdTyhp607qHH3wFrDcRyC/uXpB37jHno01OoeqihtVRUxlY4mV8KL
MNGaRyVINcobWb1PJ4wSc1k9CY7Hn04P/EbdAYMPXipSIx3MRcsV9UXDx8oEEeZt4nCvqPVtmiTV
lkST/Mw1+803iZyZGzbqRxJxjkeZVQj2KSm2Hg6x7FNmSBuKMw62PVW3sy6dtwfjOo1MW8I+WBU5
HHZ0URN+SSllLLy6oEnKyfPBmbg3nX55r+/vTBCKGX+PtHp5RVaHqM/51WiIjRch0fMXAJJnxIcS
5S5cRxewSvh0etDlz19965Q1UQ/gIeVjP7Q3XvxiZjf4YZl2DtzoWvMmXSZepN6F5Y3mE6V6eqzX
FXEKcFiQaONoFibi1QPWeVC0jcwcz6908XNwGnPwiIASj8UIRDfto/wpzI30M1x+bT8Wpv7x9Phv
zE5Kp+bSMNBINljPm8EifIB9g6QzfZAfqxRbozSi/s923G+BjP6r5xrSbnzx6r3n9vkvcuHdc/bz
v/+3f/7jf/7zH//rn//5f/75n//xEmF0+J/9yTAyQA5xwSIwDd0Pmv2FP/gnwkh3/oA+iNR6qfDT
VWBx+wtgJP5YxO2Ut/hCHGyui9ftb4KR9geuNHwbSJYQDiyKxd+BGDEfj74LEIdLoVilfkq9hTrq
Wvk4sEE3uuU8VJWc80uSV2GmqlMXDhs69srtFNSPOIByduYi9QHdlqZ+axYGHKEpLcIvykCJhrM+
y/ym1ixstK3O6ZnEBm0hk0pcjps01kDWNRmsLYoGpEwhspqHzypFzelysOMJin/A9swmH/lPfdv2
gMkqTh8bDS7ZM0SGANghierVTSXUKlySadV2GHDjzr3/nvMjsYapK4e80XZcRPIS8hrXNbEP/bLU
ofekbTU9DmzqhLGbjeFWPSv4yBkPhK87lFFmuWTVRI81eTj1nsrIlLj90PcgiBrYctsxmeEKBYQh
hCBnMoycMDSyz0OnSBpOPZcT2oAap1tK0fEvlRSXz9haq7tkzBB2BLoPLL2PAsDdbdPpFj651Car
pSjqaod0j8MpORWWCclaBnTzIfHl26wp1QtKy3m/JzA7+R5LEpm8upwDIj78ll2uh4r41Yj16kPZ
NSgs7KCod/bsVxKTLaAmAHBlvE9Vwfuo7KZ0ruOI88MeFZoWfemIVvhu+jERfulczc2naBgG54uu
KuWXeGRL82KyoqCWE6NxCQRPDNuxzcxPedTOz3KMmCdKiHjETTPQfK4qBjq9SgkGwhvM2PMHvY09
mUFhJLzZSG5qqRHOkBR1om0q2M+Ba+s4drZEhTTvBiSqtVcz60Mvgd5ebDIxzTfSbjHLV0TGJBeG
MQpu/RUVZjhFnJ43VtMYYG8C21fgGAKF2zho32YwzLPW7ZIsKUwX4ojle6XTG/6GQzAQDKOauM1z
MG9UL8vxW5CwUgwOxxNM0JuYMvpPOO2KsiGxbLlGaBrFQWog5DHbgzITwRCYybBphsG+q3Uyk0k8
UJzaG6Hwhbc52bzfNCrH94SvpNk+HZXoh920g46dKwft2zdW/wScSX8YWkQ4hmckWU2CYhLxBTQu
wZtGUhETklT+lykJnPRXALbbVMgUAvp4GUQBswMx0pgUBIVRgHIBljvI7tLE/k5u5yCpCY2i2RPD
NLUuSMvpXQpzz9oG6A/NW6VlOaDw1/Wfa5vkE4ciRrnHhjgEu1zLI3ML37//v7SdWZLcWJJlV4QU
zMNPfwCw0Wnu9IGk038gQTIC8zzjs2oPvYfeQe+nNtIHHllVbjBrQzNFOlMygwwf1N6kT5/q1Xsb
UsU06G37cAyPcmoOv0Y9MpDfahtuK99AwmuH5laQ7DM6ZbTDhLrFTkH694fXBMZLMIU96aIalRUq
KrB6otQCB1luQuV/1xhCiyBGKwx7uZB9EQSWharGpA33JA70eJvGRbRXk7jqYcb2pxeQ7Cp67YVs
/SUWfnxveZCwnwzBLOExhvLyuZHD/rvYBRWuq7TacUOJPvjaIw/iuYEMbN4xVPSL6jKvHAmisMQp
RG7+PIvK8inveezYCr3w2iYys+K7pvmznkPZKd+DTI++lSmNjE6aDEroxDH88rbpifrnXpfZd1oJ
6gW4iOa7NTycX1CHUL37qIhKCPHRnz5WOe/Y3TSyfbeJaVSkXuGsHx2pCNJ4JzXN+FeRK9lQf9Ja
o+30LRpH8MfbHvDiJzGgt5aUZNz/4bVJ/oDSkp654MQmw2mmYCTx1LTpKUI7LbCRA8HlKVk5Pvio
3KS215Iv2GoWyUFH86raA0lkRry6shDOzUwNovoR0nxdgOdQHVt7MunQsCOC0ZoKc51Ge+hs+T1p
E1fd21BpSWHXnTng6lX0y35YZqQ2W1B3w88SP/8K967xQ8xS6UnP6A1QSOokG2sACfQZxTU1g0FD
qfx9LuQwNuhJaP3UwGtpLqytcX+EBiFHnsSnB5TtH2U9BA1d0aIGo017yeo8a6N5BdMxDBG0nHwk
Xd/wBJ/eGiPlSKCpI0+oRaEb5Mr6VPc2iDijpasGFOYW1m6IsbykpRWuhwkSGkxJaO6Qx5Mkp87F
/ivN8YNpi1oNCdw8BTaJyhzZGUuqpb/jw/8fkdMtosjZ3s+c1EfoB039P955JCHtm6OUs79sMvh1
x8f2z2p8+rPmzfmfMsjzd/6/fvGfcc/LWBD3/MzbrJl/m4889cfAZy7A3iB9/Pf/+R///r/+49/+
94Lxcf6pfzI+yuY/QJrrAPcB9VC+nvs9/sn4aCj/ICICAcY2AsUJsOe/AibtH4Qocz2QWjDPeUUn
4v7PgElR/gFS5735F+QYTc3G7wRM568kiJypCNCzPecL2AUwaZw/ydhKWST7MOqXcL4qELc2DfS+
EKHnR38CIbL9MD+f/36ffNRmvjRHQyuPP+BNRHogC8/NFWAx2rghVJHietR+cS2D56OkFwrqs69a
1fTztr3zl8M8PEADcG0yQtpL6WQ6tyeGWYxwIrx2pSBmTw013RcYIVZ7et61j//7NQawg+U1IOIE
1gTN30UBmX8lCVIgPd4dHrYPe3e7te3t3Wm7dd3tyeHvJ5f/d13H3vMn93S3PdgHvud04q9H1+Vr
e/fI1zZH/sh3bw+HB3fPV0/88IFvdZwDv227s/mV/Pr5W7Y5P3942T4cDvw2m19nb+Yvbw9b541v
4SPYzvxv+DN/2di2s3f22OV7+Y2fdw/8+jvX5Ve98W8OG3uz4Te+uif7cHixDxuHn9lsNs7GcZz5
2zb8PL9v/mXOJ/5wYiR8oqfZ/G7vHL9ujvO3bo4He+PcOy5/ZtT7Xc7gHT7ddrP/5Djbw2k7f1A+
246ffHL+4Lfu+dbj/fN+/zxPExM1/7R7OqX2bPbZ4V/f3hjyYmcsV8xa5CJSKH1gFJMeT9uHt8P2
hUFtnD+c/dF5XrG0eJFc7I3lEWtqNBQgFHrcuo+vPx58+8HefL93RHvFzvsr+MYetHBCH3M4dVkX
gTHbYYleD09PrLPDfLMk+7uTe+c4K2DFRfv25cB41X006En0rk4YPLlvL+wW1un2Gv2Nd7w1pHkR
PyQ5arkwPCQbHk+Pd9u7eUNvT+//5Z8Pb1vOxgN79fR22r6dHkqbg3N6e2Mt7U87NtbhaXfY7Xab
3e6Tfc8OOzp3e7bz90+f3rfjJ9u537PenDyOhes83jk253NzfHTu7th9x/1+ZTjnT9PL+Zqd44fR
qOARvIj5cl/dF84NM7a2q9/71G9N2PwRPpiY8OSoauCHtm8P/oZjyXF/mA880/bEfw72jj/Np9q3
GeHxr33h9PZf7n6//6u3H5/Xtsh7r8ytD7RwwCk0KlE6b8qHw8vD1vlrfwjt7W47T/ppi49zn0+z
m2RhWIiNjQ905r+6D9sX9+XwdHJfc3zbzn69+7HlFzCUh529e/ncMX0uXuTpsGPfbY7s88Le3P8R
2cdnltp1Zdt9ZEO8WfaXzT2eZOvae3fziB86nmYHc3tt39l4bo1zzux+mPg4FwaF1upHHPbJfsXn
djaf+/tuaz/97ZkZHk70znHvtnyIDX739icgZYKJWx9h/vqHjzAZkCL181S/4t5PzMJp9munZ/fB
de4OB7z1/o3TgrPG43NL7DabEve63TLnXD37+RZwX1mc7Zt7eHjAYbNvHp582/7GLtqyJtwSmyOn
8BWvfbTffdlhd3g4PP158O0/n+Zf+uPl4S20Xyb7h28fcHb4oYcn/vrnn+xGfP7euX/Gx/LPx/3z
5nn/l4PL3z/bL9wig2379o6j+u3T/f23++N+8+Vw3P96fuSmcB65DpzN5tm1//jERbR/vHOfOaL2
5nj8hM8+7pl6l1l9n2ZG/hfTzeWKRe6W/Yl7+XTn7Df3HPX3b/z6zL+encKze/f4+spGdH6trMjt
805b1fmC0D+RCwZXDLfkHf9j7+5OLlceR9923OPfl5yzsg/InN3cB6BBzs3GnQEfFmaxyXScHjj/
HLXZ6nx7lzanyP4x3/W4S87FweYb8Q7bp/lWZqFZeP70xA8c7HsCgi1/mn/2cNjd88/9M5PmHp3H
98CGad3OtyYn6p6Te3gPF/bHIwdy3urbeQ8+bGd3Gth7thDTj7feuvjju3kZ3f3riUjH3T+4/Mzt
BZhvh/8+ECjgEs+akF3qOm0PlI/mr384EN00IWLUIqJrAjBAs45OE/KXzea2lfNV/qcV2gTpITNp
sFii53OvLjx6cmqeoZG18VC9onV9SN78YSqhE7GE+9v2LkeliXCmiHRD0sTKA+F8VIkE16I1ILGB
RpO6Dc1+2AZJ988n3f+VBv2aFXpSqJ3QYAUp4sKfSS1Y/IruVYSKA/mbGJbpoYGd3L09lsu5g26R
Li5ojOgbotPmfCyAWsQA7arKHtBBRhbXgoOel7CmtWh+jmBKpLJfK5ycP0Hm9ZozzRo0RnQgE64v
wiSyB5Atwg1h52UmH0Wh1NyujqOTOBMq3R7eFVO8/HjnzGxYPBEWkygXMA6nLYQGSDAWc74MzvUQ
jEodpclKkfLKTNKBD+uFwTQCsl/MpFbomYmyRUVato4ObRjpwI+i5pNKavsB5RVjJZi5sj8+2ls2
NiMAOeU6ZLXsdWkq9qnkFcIm6vQ1tPC1KYTqGHSszPDIXp7vEBREoWDLtdK2kjKAUBrN9tFtQrIk
it+VK4O6NomgoWeFpJle8aJkWFa6WUcjAkKjHLstKMD7QNc9R1PN0dUHU11xUFcHR1EEpmFADmB/
zwfXzbpgTYhYMYhJ1dasmRW2kcGEhKRlf38r6iJNF5xmkMbLsogkaBp56Fn5qxITt5ET/b6OJtm2
Ur96uW1qDunO3S5D+WBqccC6CQmcWmJUADUegsDwd2YMnBeCZ/UTiuTl18psX2+bvLYbP5q8mMgQ
1d9YYiKR3UQb1tO2Yd2sdWVetUIBkio5rNA0IpwvV20VQTUJAUWj0Go/xzliV4KZKStdgVetsNk5
zDpNV8ueFU/z1DKwjNLOZ8lIZcj1bdjl+u72jF3b6tBT0n0Id/lclDsfS2XRYRmWemkjW6zosP0m
8TGBd+uvFI7JF8R0i2blcF3b7Ewd7pBaOSXChUU0ZZMq1JXShgBZ3yVd+x1i8R9yKRub20O7NoGQ
KoLiYa/DlTN/kA/Xvq6Jgd9ruIzAE2CeT2t6UBNpjf588fqd7xGSOtBHzHpr80Wy8LiBYM6wOiDs
pQIGu84U8NxTEG2KovB3WZ/Tmgwa3/PieEetvEdJpINwexLVYMWLXI5X5+hAI0DH4Hs4cj5eK0x5
WHbcMlIG7PQxIzNcH1BHSeuVFbzo3JiHDLcpd6YCrFVahh5APU0KVXmFPGwQH0WoObZlWSgveVed
fPrxjlVd5JsqBiiqYN8ZUHyiZuo0UmMdUBorV0KhS08D3R/UZeRBqVBDoXw+8n4kPhK6Af1w0ewV
+skslKblpvcVt0c6Ey1kkupPddsgLve7ewzLtM3RyQZjwkV4NMrKkLYSNwWtEqYDn3fsTAqMj7et
XB3fByuLLYZssjX5JU6bZ13nUgoAeFV6wi6F9X60AOwhP3/b4uVeYlwsMBNHjRnVivMZNak5K0SU
pa0g4uYI8Ds6nYq++m0rl84HK/rcYknvLVnx+esfTmiWU6oFEFfa1AP1p9wcAejFdbQDExv9aMJq
2t62d20e5252omZ4Bi88ghfnU5ho3Eh6RAmZmqsp3MmeSMXWTOuT3I1W4w4+UeDKONfsLsapt/4A
nkst7QT93TtwjTnseu1EfUuo7lpTUx24faUV93dtcudoE5gVATwgjfPJHQqT+mqVMbmhpL1CwDq0
Gxnezl2fWWJhB6CAv92e3vk3nl/4gDckMIM8gWaKsoVnbxWfqlcNhh6KyIzmmbJylTTqbATYfz/s
JJQmgoE9GOyTNoNPPu6cGD31uNcpJ459m8CMDJMsfUS/H0xbdMYSkBAIwv+y7FLOxjrPVXmk/cEo
+p1CB7sdR8ajWEK9klBFvj19V87cmbV5F304Db0v6/Wg461EJAEkpO7p70G8sprGlZ0xxyeLdZoF
QmdCXGJ3QHjnhjjHYRIEE4LJnVgfoXmkTSZLxWOeakjxGdTxh14QYhQCe+Aytwd55SgAnaRaRXzN
g3wJITPiwZzihtt/omD/TA1UfpBEuaUtQCsPOaz7oPIDT1sZ8ZWdaZF34Yag85Z9s7ggeJPojSIB
MgdLTf8bmrl2ISHYFYqd8Pu+GirL9+gaCVCux/PJNYt6rFW/IKAK8u5Ob8v2kCoQTYbwpu0bjzYZ
Kr91uzKtV5aUFAd5BwIRcwbInVutglKemgarSqvL6GyH0JP0YV4fgTS194OaR9DQW7VTht0ac87F
tp0vXTh33+lDuQMX21ZDJb0oSzwKgvNIsouZsiUXs0Ypc7GCWOF6hXwe+Voi1YVvqbxBqfqJPTuF
Dc2GdRtNLk/cZK8URrbCknFtRHgXwk8TZR1rKSkQqxDNI/hSIIGaDTQ0oWr71glysqY9dXVMcKCx
ZGQG9KUTQ7+9MHuxLdiV8ejWxajeiUmbHsqhrVd8yzVT9GXBKgGDMPi6hb9sei/L8zTFVOnXNmkP
gYbE8XuQi+NKcHht8oiFOAJgRQFKL5xLmZpBOMhFYVeqGG4qgVg36INyc9uNXLEyXzNcjUwegPBF
brMGKgJ3SIgL0+gtE3UYZ8o8XaOpuDJrBNRzPg8bMA0trIySX8hR7dE3qXUElziqTT6Y0aNX+tP3
2wO6agp3AR4MJ0UMe36ADTktA9rrClst4fsF5lI7sdKhyi5ZK7WYa1NHPvS/LM1f/3DNZPlYetMY
0Yygd19NI1M2GW1xK/vtIvgA3U16cvZ/+N0ZzHlmRGoG+igkgR4IPRc/0ZVSPqdKnx/AmKlIgQGp
292evwsaFxyDwusLVDLgYKwudvhUJlHSl1hUgSptm1IKXNqDYthukXG3A80L9tlAb/UYatYuE0v5
L2EUjrWWFdtAoZ/q9se5Nsks5MxvQn4WSMX5+P0MbLLpsXMMq5tcoRAiNLqyP3/fiIFAKBQBvD7J
RZwb0SFKDWv0jWxkY+mmGftIb1ABs4o1pq1rq4kEObkcGSpOECnnhjw1zkRlZHOi8jg4UaCgotij
S6N1+6wRxpUb9Nrc0QDP5jFQPeeYn1trh1of0g61XqPRvLu4o7uiwIu6vz95EHhBp6ZDew0X0rkV
VA8qZfTxiFGN1BaSp+lm0JRwJR17ZSxMG48oPCILtZy5OKP5xwrpih17I7hPekt1pFALfjdVNIte
kYHAbcxEjEu6IHPqhEaY934MP+IpHQfZLeg229yesctMx2wGfBAabCSWgeCfT1mqT7kmpuAEo9YL
Yb0wlS0Y0mMO7szWxe7e7LWnApKCTUnvwx357qNOv93K/XIRQM78DFAiUSYg23LBpDmVNCs2Poi9
Se/o36LdnQZPddDEDqBh3yvO0FtJeKg6KB5WNuaVY8BrACwWnUjomS1DOyGn37dNLfqI00iJnUDU
RxeQ9SdF9VX6TT3+//aMX9s9M0KKJQVOekEs3UJ4jyoqXkQNAsDRoAy3RjqtnYTLq+edHNiEFweO
53e8/scLgZyzD6M0y0rTm++A5cwPYzYZB9Wz1siGLmcQUyY8W7y9aUxbPqhmMRSx0pjBHEI1waV7
qgSaCHbki1Ur2q+gpyl75ZzPfv/ssWORqpLVOdOI+6Kr6nzTBnGpQcyr0JWWpYKrWhBmlm0//Shb
I3ElKZN/kAYZ7opZqRzAcv12ewkvt6s0s5tALgb4TMKrnZtPs1L0EcXN6WSufDfRjV9JZbxpGQmq
0spSu1XXosrLTTNb5NFKNY0s65KesO7DKJQlKLFQiOLRWrbtnqOy1sI1u8fFtKL2qHDDsT+5exbu
U44aUHA5HeZVJFSTY2Zh+Ap6OVXdqvDUz2XcTaEdmwE5Iwg66rU74sqe1USdcJYYkOzREj9YTYUB
t3uX20LiAQX2YyDhlicFL3CVIPx0ew2vOD5KJTyVDRjeZ++3GKwiC7HaNyIHX68/4xfjF1phY7dT
q0Ry4cvRnmMFUSp78Poa/kLP8wxbqOvyS1Ahgfq7Tz1qYAS8ZOZmxi5Ao+c7CinlpppK2AziMuC4
dm3zo0fCgU5y2i2S0YtPtflVKv219scr+4oqBEUjKgUc3yVpl5haiVYW7GRtVJOc/m4PVlqrk8I1
OZBra8vDCwwqHHSapM5f/xCgpvTJeyBPc9uvW+9LN0aKsRkly7trQrU1drfX9pqxueeIDCTCyBcK
n40qy4HQxLB6kFk/FlLe3iPJILidnvcvt01dcX76bIJmKcIa8hDn45I8VRuNjHEZkeH9ihpp/GI2
RreLsyTZU9AMvt22d2Vo5OhBHdOcBenjEnaSqEKYtjTDI81omK4QUMCsKsjfc35m5YRcMQXVK7XL
eWhki+e982HJQj0t/LqJIAEa1cq31aFtPcp+mXKQ5Ixc4O2BXfGp6DowMLycOCccz61FQ6Ynfgsv
B4wlkePlAZLqQknhz/HMWv7VjFUn7iAi01deTtfszr2WWHwHkyxOXtv0UgKDM3bpyGrRQA/Ve2TH
U6eCC/BLn6v5J5O+/JXg7trcznrduDoeurTanY+2Mzo1bQQfV9eQJfAyTnkRl7ljGLW+4lqu7NBZ
82zWJCFrDCj93NSk9C1NLWlue/VE1387ybtR78x9W3kROgW+sJJouTY0ntVz+YR8MY/Fc3tlb6C3
aloZJU5VP8jCJEP1rOVPkxmuyehd8V70AdIyyhzO/YeLe1jVS7nxR7RJRT9M7tWK9FGkasH29s68
aoV7V5OR0SOUWlgR0yJOdQ1vUkZJuSk90bwL4LFcoU+8Om2oahKCIrImL7vh64DSmz7CRET/1GA4
INGTca9G1NXcER7pcsVFXtsVZKjmdwxBBQLu56skipNetSF+Cy7y566ZHmFI6G2deMo2yqhccSXX
rJHjmyFUpIl5151bK7I60pWCw12NpX+ko0fZ1rFvHMRhgAekn9qV0V1ZMjzyLB1MYyql00ViMTbk
oh9oCrD7rqArZwpEuXP9HDqBlYFdWTVMzIkxcrT0xc4f5IOPHApVCpqQczx0nZG6KdgB14hzM7TD
0Kueb2/EK7PIJFKapNKOVufSmDfQR9j4MNroVqBlLh+n/JlVqubZnkAil8y/Gvy+d+TGJltKTELI
vby2p9xMh2CQM8ioQs+JBR+eBLg86lYTNqpHMy1cYWsSs9fmlKBam1PQc55pnoYPcxo0kVCkgkqM
icy6TDVxk6QKPVSqvJZgX7M03w0fLOkFsDBQQZldtE3YHXDVTbLJxrgrnDAuWMrb63flqqGfn7f8
HJtwpywGljboVAW1BH/PMDV02WnCZ7RSLKho65mRwRqPRhl63/4FozPV93wceC0tjFap1SOOpGT0
gDKJIVCQL+mof0FkqNqKeqls+zpQV2xeeZ7NVOF4TJFXPTn383mtzSlHkwVCLV5KEhy32dEqhuTb
6AXRzzxV0jctFStXgzT6IPdDunImL18xc1UIF0pETd/V8vCLam4MSgKpU2sM0iOUbqMNk57/B4Rb
7WkyBW9Te2V9ghRt5ea79DrzduWkEEeTUFheR1mjWkjjZEhlywCHKGn4m4iO58fbC3rpBXh1Qu4L
6pW7j/DsfHI7I0P/WQ5I2Hht8OYjVhC4DX3q8Dp7Q/7WtJr/x22LlxM6v3NJqcGTIlOWXTi5oEmF
QKyIINImTOHEQ6P1s9VOsW9XlFW2mpJptpH5Ymd7hRetoRauWX+P4mfa1DnOXoxXyMVQUglDxYIW
XtcQOJjk7vOgd6w+QfAshDQSHq9BLOI9yWLpz9ujv3QSMwE9fXqUJejPfe8A+ugkqEgQJuMk5CFW
Dvzvj7hQ+50MG9T2ty2RIp2p0maDJNjPR8rbQbamhFsy8ywjc7PJhOLIiqnpb/VOG4MVd3R5SpGP
4RlBXMiaklY4N1dDvh4NyBBDFpeUv7hAECuBT0qKPTJwTZbv/HQsvxe9UeyiUVG/3h7s5WHBOqn0
mb/ZkEiInVtvWl2P2xrrIMeiO3TlRBu5Afm3j+RsxaTQT7UHiOkiEOCEmKC0eyLEXrCO0aje0xIs
HP6FoZioOQDYhkFliaupwfoJoNKYyH4qPgNK90aK0LR4rzi2Kyef5DaMnbJhAR1clpOon0KFl7WZ
7SNs4FolrY6WlPoH8H7D0TQb4bdDUnBw6JNSJ6OT9AIRhmbhmJfzEglCpGwSJOXvNfJeGxgu1M+3
p/DaXgR5iZjAnLAEl36+G2A9FHlvjdz5Ro/meVTSBS+pqSuPfXIo6ko8ltTbH7UqKr7TB1esHIUr
PoYwjikl6wQgfokN1pIY9SaR4NuD/Vq2SzKKn1UTvV9bhPrtRZYFrbM1NYSeCWrGamXwl3EBERYt
rBR7yIDrS8QUaiYFApcJdTV0Z7+zGKFuZzKHEWohP6mBOsbxky8M2r/gcDAMvoBFxu0sc/9NGNYl
hCCkwKQSKlI+4aEzp+BVMtp4JXZdHHdOngWiZyb8mtXxiOzOF9jrgiy1VDgAxL7WXGi+652Ud9GK
B10m9f5pBt4asogc+uVbjd7yVAwVJXQjahSNlbRu50/CJkfP2Cn1WkTdpM+OsSJ89gZv2JZUOx+9
tvnN7XzxMRbOTS3EHi4QOXTDqkohuzWgCFTEfpcbqYKU3rTJdQUuwJSEnwaYcXP7MC1urHfrAPxm
8VUyqWRwzucaEoc8jIwWvgXfb4/wRo8b9AG7bR52a2WGa8v60dR8rj9ejpNijFrahW5rWeEG3lvT
lSFEWVnWheN7H5A1J4ZNojkePvPXP1gRuiDWgjAKXC+sjP4ogoL1nHqEovWgjJElPhtF4/1mNDcb
BUnPaaTHHA2XpdKaMqplpeWW78LF5Z804E3unLn6PZ/+boV8HiphEv04UP6eD62lWcQTSDC5FvLe
6V0rJUq8bxBEk/e069f0ABkFHv/2Blk4nL+NEmpQv8A2j5Fzo7lneEE4oq2RQo8BQU1UtOHkGNBQ
QJ8WD8ZgwXQbdJChtiXV9tvGL7bMuzgIRRtcHeNeQuCrDrJHwctg+UBRcS9W3ujoAF9XrCw8OkKq
gIZR56aCyrMHGvTzIbZJSANLLsO1Ho5+54wKhCRROVgbOBuFTT1yW6dZkcHANPkr7vzi+GHapPgM
Hg5OM5D+56atKBe9OEoVRxLzQPosa0VXfg2bRkYPBYxL3axUo67Z41zMYkY8tuCaOLcXTGoCuUsh
O2OsdnbST6YL7UPiaDBHu7fX7oopcvcWKXwATpzDxdAKOrqqGEiN4/Hq2Hhlhhg79zIuraxWFnAR
EcwLCApi1o7TLQOq8sUejWK9lIa2Z1Rwbd8FXlbsBG9KHVmA6rvpqPF7PRSRUToon3pF61cW8cLl
zOYpjRDUgdxhp55PqiygZNNkgeywSc2dMDWyreoViWlRUIgPcvHx9sxengr07alBcxFT0wQncW6v
gKrUi2DjcZAAVPdxkkE9HwbNyqRejurMirw4FTDMW0IJgTjk0aLh+KaeO8kA8k4KrEc4QNfkY6+Z
Izs7g7NppGB854PSMnKnoan7Lk5MzKItCq5QYDuBlihJa5uZOsrZZmySUN3+/mwCHCINQOhP4nsx
mwGpRjD8suAoZq5/D2LKmPC1P/2uEdhOAEWT0aECxIk/H12Sj0mAkIrqjAznuyVC5UMVo1jJwF1u
DBogkIya2zIMYvHFHEbQCvh9ZEWuLFP10cww3whhKB1+dyxYmXNElERJTC1TU3Wu9AEq1JFbqDKR
GS2v21Cs1/bDpftAhREAFVA42kK5W89njFQ9ZPxw5blCN6KWE4hcb70U7QePYv3tAV1ccTOiiZgK
XVGDZqHlFVflc5dtGM7aFY3/c4rb9AWqrHJbRtrg1mYuHH2SqCv36rXxgYRACIv0LPYX46smJtgv
mcUoDEpKxkDZazkz7AGFjZWTfM0UJ4r7hfcKeZHFttCSWdfFYFv0k9I8FEGeOnlnSt9VAIa/fZjm
7j0wSGTU57TeYp+LUxmORWvGbtFP+c6qk78qRV+DHlyuF/uBcgS4//naXPrbWoGLW6WzlQ1ojF/a
fIJhVVCDT/S91if4z5JTNgnVWm3s8nCdW134CU8fc1q2vNBVpG7ad0XY7PK6W9N3v4xFKGqSQePa
pAWd+ub5tteGMYxLgUeJYLbh5xQWMHs0hgxphEK+g+INJr+w95S9GjTeH7ePwbUBconxsoVCkRzI
YoDDVBeCMAy8h3R9cPVWjj/FjbiWSbpqhaQ21X2yvbSRLQYYtcBtPS10DQQEtkqRx2DIpLW87uWW
502DI1Rm5ixqcYtHVW6IaSY1QeSK7eShHdcXtbydIKNP92UqN82KS5y39QcwDMPAHA0pEGjxiuI1
eT6ozs/UspyQcfemUt2hEjI9ZlqYoCI056qstrP2t9fqyhEg62fNaBQijou1ChpVFTqjj1zTINpo
GomalYG89J6HSrPtwJV/6oy6Tje3zV6ZVvwxoBusIqQmLhavQRZSlMoucn0un62WRdPBC1tSujmP
+bWm+SuTSh+DTkmOg8erajGpViaOhoXwr1s3jZ/Tfkbo54A+gGA01K062MdqHqa/7ZZJNMLbNV9w
0IQtpThVA07Gum0ReKIY6pBb8l70vlH2k5J3P29P5pWTQOGKY06imIbKJYKqaQ2qAEGXQjtPgNVJ
neYkk/XrXzFCJpo8B61gy+ewiEIteL4mdQFA95sgE0U3661p5Qa92BekT7jGqPuRs5mBruf7f+Dx
RnExyl16y8vHhLS7K9awXEKWq3+7PaALB8l+n2WyqddyB/BeOzeVIc81g6tLN8o15cUDmeUdwmmk
ydXN0ViHuNwvezNw1L4o47cIwZk1VXBKqBdLx/sJqCQB8owEoZn+/EPwnItp+oQbfdTEmD5wYVIS
GYmaZKr92IGCt04hWAzTaVYiMKs6SmzRTEU9RhzBGr1yY4WilErPU6qMwR8hKr6WeuiRYBC+BkZG
huKbN8ZRFu0NoauFX1kaCZ7pCKHoCZEdxl0WRxvUUJDkgo8460rRbRBO86NdY0WV8tKh8iqgjRAE
/fz9wVQq30sjSJu/pEYs+m+TPOnKfZUaVfqrjNWmdeR2DJFZFfKwjCDKbKL02BZReBQNJFoojkXd
+DoEWUOBPGv9KjK2shpmrTNKcddbNhU2szqJycyWEClBYn4lvSOrdzq9lOIvq6b36UvMgxC9g5y2
KClzmJnUcNGYidqMD58P3rGoorRBY63N+mdpFHTaJfMm8jwXvlszdqKxsaovg4qwx0OVa4KyTyzL
I0HIWHLte5mMrTK5StkPhravoOGdlE3TRYPQONB1wnW/r4Ja6HdNCtQKeeKBavVGGkNz1tOxSiu1
x7HwRDcPPGV8ymEwz34lRabLMD/DFPitrHnOdm6CioJwD1429+6b0JoAO7dSHfJQ6Wo+qg6y5FVq
fZGmVmXKsum50AswrZYPdcRmqEW0JVpDS6LHeuahSV1BQeH5m+aNRv1WtFUStA5Jpqx9rvOIpKvd
ZVFSBTxlPUvaB4rcDE96ODQxrwh/akvqlZEoIGWTyFU7fdMHI/G/hJrZlcIWBoEeiuOk7drg0Qja
okP9JiBqe+x7I096u0n8foycuSpLjB2O+pB/qww69nl3ZdCGfp1GpfcGO+y0SXhEcs9Pfqrc2Ohq
p4Jg+rU79VUkm1T8Ra19zvVA1P6UUeHyY5LSdRnAx+t3RoTMitlVEmpALUy1jetbeY/eUsNBtl4i
D83XU9oWujntRl/Lsu+mFotIgIGXCEbuFlTE+jd8ZSeLdtMiUfS5bE1gkDuhtsZaseUoqzTfif1G
aSs7RNHQQ/I8kzW2sqfXtC0I4yiJrybMyzU96+owVZ3jR0I5fi8Ca5KOaIao0xeIXFv/WbG8Jnuh
u3VIXPhUhR4GaGWCyVtsvMzt8nAUT7MkNg3/JOOnr4kAeqRx81bHeNWXxqcRaRD1axOZ7bQ1vRwP
5AC7qwPRpZVI8oV9OSZUXu2sVMfxe6YiDBZsU3GEpsE2YnECIpJFQlaJd0olp4WFPJxYWaIbNEJQ
dxsRwXbBtCcZuSD5rhXo5ESyqEvb6RdiVVSxXC+oQQHZUj6KuboFIpSZdMxJwjRKKPZNWf8dhKUQ
wfg8MY5PsuwLoFTh+QGWbI+56cd/QP87FKGDVMskPulBAXkCXTujZ8Fn3ACRaW0crNb+TKMxCgJb
kH0LIcAZD1HXR0jLS7W5j3NRS6pD1SRB0e4qiKkRhOp4FBi6Wyi6p32CVFpPW7iLwiALDg3eOgIj
LVkN9NRw2GiOrApCETth25uFfJiUFPf1xUu0sW2fslhBFHJTZ5bRS18qL+ftQ3SHdgFCfU0mGKeh
mQbUXgAN1fKm8JHcgdJ6bKVNjQiRKbqW0EfV5zQqx3JfwucBWbOUIoYT2Uja99YvM0Xos9s20aj/
1aAvb9xJYlyLb0Yo1/lLatCRD+oPsBLAQxpJ81+ygk+25Y5owemHsOvuRB3mwpeRB3L7VWzyKtkl
ia/Ld7UJH5WD+xJ/GE0KwVHYjsWh8qZk12ueBElEX/rIbPm9f9I9OXiYNdS3cmLFD9TVCuo9qYH8
wosZIla3Id1UDTIc9kEePOhF19O8Wyjo/rzKCrnvn4wpVF4bHYF0W2sFwdrxsSg5ICTYQt0+ZImy
A24tJnf1mHmaq/eE6U4cWXL5qrSyKYi2kKYlSqdabCVPchwm5SeJG9j7XKrhMH7C3xWvkyqNwVc/
s0rvpzGFZvoYIYxkPDalOFmvYIHKfFvnQojOuVR0445YFZWjbsgAjW5KIfX+zFG7qz4DWw3TLYpa
g/WDLZuz5zwJuMtjpctZ9gsi6kinsbBiHjb51FXKn6HazeTNQl7J7Gr2iDg8akpKeUqAK1x/zkaI
4I+BEKmzEt/gJfH/4eg8livHlSD6RYigAd2WvEbet0xvGJJGTQ96AOTXv6O3nlFL9xIsVGVmZb7m
hA866kKaOZyjkxNMhXUv8EsfcpuRZFNP/3S8GedHN3LEsrlcXLmKbF6E9L68ydrVZ4NeETVzYEND
z22GE1KBnX+SlISIpqYnnIzkgNIf7ZyFmxrVT7R2Dg7tPfbebMuWhbckn2ReOcNrVMmuomPoOehl
ijJsD72MRD9yLtPVXbtFUUhjO52JlmzZQYf3GG8JXzJ+ilAGyyAyqajnSA/m9aNDF0omYWirldLo
Nm7WoANBY+n2AiKJtDxkRU5TyfjVFhCnr7kR3X+FGsglGGWrG9DgwX11BYhZ5nMW/Swai6n7ntc9
fkLgxY2ddE5pH0Nl7EXB+5XfNKVfqozqM77HLsQvF6xuPmZEPU9Er9X/hVWwdBdDb/3HwZjwkcXT
Yvn/tfBRxO5k2XOcwytlxnJ9plOIgaTLIOnO4465xRlDk3w5OlEubeb3yRRc7LODrAW5b/fauxEP
a9vF5TRtDvmddV46hPLheJAhxMOOIBjbtj7hg57fMN1s5It17f5ZkW+XXA6LN8rjUM4GCfaydMdp
dJtTGJMLcCJ2tzgzfOAaMmzN4CBqy8fyMHSqdzKNaPwwwdytZ8P19uGjxWyzMeeOyYJG81CqrcUZ
SKNqXbJtInrzcq40iWZSx2jHcItLChyErNGHahOzvSr+HwVX1yoiHm9aLJY1JnYPjuAaSt3fX5Wt
vdeg+XDXXGaT24ckoVjPuojsivKJcue9zX6vdOptyfxHYmz/h2Cr/F8Js/PoTtif8I0I4ZzKqodH
cqLJ4X3o6wRP8XimWcU4Zghvhpxcgse+39V89uRcD5eE0JbuafUXz/5p2DQfD3KMBPmvwUzgXtNz
NEMC6+Qx38gvzWp+5v73OYCEbw0BXUueewQqePiPHeROL4Iuceu4ROqIwO1Qrd5nYoLuuvD73R5Q
Nld8Bscu/rkS+8hW+V7VfwmVcKuMtFtx8tn8DvhrFZKiIBgUsr+u8TKGne5U47DvZcCw9OBFE6uS
xDS3eJ2aus4vZEF+QxrRqSDBqOOkzxK3He6bNozLU+QRUUaO7RouJ7+fCe5wyKlN0n6f+y0rNcpe
cj7cUvLqdw5p4Ws3PJlo7oLnrilqNzOhqMlltNEwp005WnsbRAXR6kPhJ0WmChO5h57nOdwRLOtd
9EXdBZe939qcHxKS7jJa3Z0kh4RnuEQLxWzeK0msdafFvYe0qv9y+2ZLRUzNTEcyxQoiAEf+Wb+J
kuaoE03HF0YVtv25UtF10taRPNPjxgLH+UQ1P2SIWvMTYrzy3rUD90ldVoTaqjlJptOykyvaETel
MroliSO3Qe5xleOR/+oFGxbyirBQDPp8XTztUaGcdEB5f211TnOpjaHJ0/uQeIewl4XNMJ5KsF0k
hu5hGz3v7ywTwqXbvpPp4vjFQjFM6ipTuaYwmt2VfybP2f6KviFqTmhZuU/eumBZQDJF3b03E+EF
1aGZl1Xd8VpuO2aLlpsvzCtHPJT0tS/7KrB2cXqvuu7dgDzFHudvGv6mb4pDUZSxf8GjCvRpJwtm
5qiq5EmzblIfc1sRwVHAUZcXlRFjeGqQ6jSpZo0pOuVLDhy8i7wr07K37rs0REsy5QVlfQKEnMlc
1ahBc0uOC6HaDj5EQVF0Z0E/PbyVtW/SIY6aKpuLldoFsxE1HTG2ydBdTOy7PoC9ee0B/ki7l2TO
uWyICWYW3q+wEvqMwbmtL5SMp+GaXoWpreGx1Nj7Jfw7pJEF82G2knV4FljKN2j97sdz9+K/cujN
f9i/lJ+maNobFaDNO/lM6Q87EaQvKhetPTgcqPfVV858doiEfpka4VAzO3f3T5ENW5oCMjjFIaCh
8M+ha93m0m+7+QWePSj2jHmf6W1flP80sWO3HdlAGg5lXofcBYJbK0PGiz9W3sq4ohlUDKi69cMH
WHnMKXaWmZITGn1nOoloiuyfWiVxc7nIhnZ40U503FvNPZTOlfKX44BfXZWGQpQfdcHmfIpozele
6nUz80F3Y+6fKcX9LSKKnBVffw9Zu1mTMJV7jVcAQgoyNybP/nMWkfybZcBkq+t83LLVWQNIy3jm
PkNg11bMIZ13zAPGc3Qvv4aR1u3GT2MMmy5F6Xek6BKu+Q1Zwgy0JIQd74uY/sR51H91ahNk7bGd
fiYCPSbyMIynES8OUOATmyskA9YB6Q2HshzdV93nmtel34u/oRrMXbjL/DNZNvG4+t76SByLac4D
HQ/yySVgq5gIEJcwxboeT0Z2c3VMXBsTc7lW260ZW+ucWuJrviIsSZs0ENvyXfv4JOD0ovzwkFsv
IkZn0g7ATbF/zo7UrMoPsbIXupn9L2PkGrHTs/WfhCoqkpuJeL71ao/Y1bUzd1qAg5/8cQ4/ddHW
L2WASwYrje18tYYFLVIAmaLTDY2PvmgR4W6HkaTbf3Z0xJeabe1R37btueoXbFnmfm/L+7oaJbRp
p9WP287TlpktacjDFbJtUW6267Xo7DAxIGzjvyKU+d/NH4rHlSv8IWzL5YOMxrhLNd/adzQu07Xt
RpdeX/HMUzxYiOZtG+Ja0rYtf9d25YxswSHZ9jcPulzvkokxPK0JMGeq2srfMSEOqgfX60ggHZwq
AJF3cTQ66XnTa1qPVRCdYS7dj3BpghB/klncyyngdfdYu4wAqpjhic21vMkyshFTKUqCGLZJbMnR
+JYVjsba/mqH8yWR1WOwJyZqgfZc5LKco5rvOk2WbgmzfvVWopzniEOWaynv8zEuX1FetC/GW8GB
GPzWOfWHZCQOBQeGkAir2D41bRH86D5pb81czcWVLYUvj0lME3OabBcv5BL/MipO7haX7hi1y8na
JHnhTu+rgw4qdU3cpV4uJ/K0//baF7ckve7ByY3L8q2gYV2vomJKnsok30jQnht2DMBYgjzbynE8
xq6NmovRlarOCjnI/+KRWKPjovL2Wu7T/irNOizZRKqrwvJoEybdeDLnDirSnLQu9/e8sJu9oVoE
3SnxGu/YSZJVshHJBO3sUDDc5Xx4vp0t2d4Zuv2XoPGL52Zi0Tcl4Srw0kLQAxy8ZnP+tVXdXbPu
91vCQa/C06SrIcrYolkeomUj6ZJH6PIF7CbMdtay7vF1821WDnuoUh2LcDwWtO0kMbXSuQy04WMm
LEHgBdmZKEp5n+U3DF/+xxnk/CaR0/+FJtiui3atbbaUbfIWG93/BxLYPkzr0H3Vwe5f9nzMKYMl
Z/y1sES4ZaD5RwdnkvzSV3Mb83vXjRMl8sUcc8fXXurKfOSbpWaAg3jB/NRi7sGw76GKoHpG44Nm
SjUpRr61ez1sIvirtzm4jcJ6+iRNVb75ERRaOst2+WpmnKdSSyCzn81dH3aUvbr10mmd408YZprk
tSQJeA9GOxFf5Pa3hHmQA+oUdr0Z1oImxXFXwgjzqO1Z6xpFSC5VX30IpFkfcRUSuZV7AyshCDd6
8nPrvCGxdbKMQKyVMvzvVT+e806Y2zz+DQYJoWKXdCTzqMjmso/XI13TpjI57/U7Mv38wVtDo9OO
+WjPCGSjaxul7i9UiCdhqgmX7bPCZ2H/Kp626dPTm3wJ90RSu8WuHnu1xG9B4bvbZdIUzcuw1P33
gsT6FvuIfjtVYZVYgpMd/92xAKmpxw3M8n81uk+tVlwBeYl1JiU2jB6tcqK31R8Y5VARy9dSa64O
029s/YRTY9urxan965aIVa4w5ffrwSe0572Ke6zpmBlyBtJYYuY007XcdLta5nSQ7ahTXvHwSwjT
FsdyNJgf1UzEWUvi+D0pX/SYLsAf0WhjXt9MO0YJ51wk7mU8N9FP0Ul1hX6dLqbVtBjuEtsXkOVo
PCBDzk1mYxGXhzgYENC3AGLYZbI3f1tBNn0bYq7C07L03ikINR29Wuq9yrxpmj+c0SQPIeI+tPYK
S5K0Cbp2yhL8H6+hMvsghXirnouuWYZsWJTXYsqq6b0IpRr9dPGL7nlNRGSyzgz+ni3StTcyLraE
q3CpngjSG6O0G5YqOvnxSj5cC/BG58aqc+fN4gNxEevuLL178yFog/mmZTvOXDSwRC+RMFN5hXMk
l2NJW12m1CJxkZSO1WenGKLoMAUxW+pBQZGRgGVXudvu9/PSjslxt2VzvaltChjAgs1PE7HN95UJ
udVUVEBjtuukLqoIoui4ozx8J8pp/xwT64wHnmFzs9rFcw+JmTncbZN3bwtpwF9J18oiC+lQviEZ
tts6Mkt5YGZWd4vdRPvgYMWwFE8JyWPVwfb+QjJPvlbTh+tvHW1Htcr1TuZkmR9iFY/bV7MLZyaW
e+EtEPHCU3Bo1ZkMZ7/xz78CAFacSUH9DoNqUsdxmnfzYfLVfY4hDi82ktB5cXa9vvedSb47QuLL
U+wq9Yp5unxbe1FPmfFF9+FU3Lqpw8T9Zxd1gvFSmPQndwo5pUm4mvYo5jWJj3Yl1eqCcK16Tj1F
XO9N0Sb0LDtj8XMoZ+BF13o4A/gA2O2hGprYptiV9vYYx3XfAHP43XNjMU7APn1XpHBPpf1YZE0b
6kWuio5dyx9z6PXIr7bxGM0HZ9/sLc3zyCy7tduYEWe4VEe287sOTG0YP8Wmw7j4JgseSGFzxvEx
rkUcHz3semg2zLiZbK8CBTIVrYuTCRJcey6VYRqyHk77n7dFDta/PIfKuwgSM/wd8xWn0zxaRz8D
Y2as2SJ/BekRYT9czdIT5PJxIYEOYa4HSjyRkZYp4sEfVnK4b7QjjDrYxTAKkSUZMl/ZCSP5cloG
c/I8egwUMAUy4G7oJmLlWe57qqfVc/jfdX/n+jV920aMenfaQX1lFqoqfOxaVAOp3dYBxK3pojts
6fwoXYZw/Y+FeLumgCHOcAh5zMOhm0QJYDUkxYPeMMYhLLNrnLNGtWsOgcWhExw6iSeOjidv2zyf
nyBVOmb7rVfub/luPysrV8o0Vk38eEU3nYrc1S/eLpP7obOLPSPXrx9mVbjeIcAj4pH4a7Pi6U24
XqZC40FXueVKJ+DM5E6e1gTI6LUr6wKNR11oIi97Ve23jWwY1QKuwS4lKS6wx2EXmHeKdjftdTXF
7sU0DItOSS/PX0pO1YKypo1LsArZFxTjiheqQitTpBa5F4NoGBTntfDj/YA58QCVmddLQSJeF5O+
vub2U6p2cc4lU+olmKp/30cm/FeSorxSt4ply2YOUJQGbbs7p2Yvmv0w5Z5+MYHoROq61UaqH2U8
goSpoi4bugHB94Y3lo0RXfi7AeYlV6C5M3ioBRk8rRnp9k18C0k0/cmRyDkQ/kAh+NmaHdTPXSAC
KjPuItvyGf2oW3E3ta5sv0RZ7YCSMmlechj64dhFItkywXzwkNiazontoqlMHWfewZm3trnMfY+9
3sVCy6QBzgzqENG5TtkKx9fxJPeeAcDKYMqCepDPyeQyV7ssXT5B+bhAGKO70gita5MuTQwntUXL
8LBWtLwHPLmby64p6TF0IfR40KbUX+SHOi39nhlu6qZr3UtvycXLtEv/Ee3v3pE2nycgrI6apmMH
23e79wEAWFkEy5//kwxpopPhx1sney9UvryKvB/J5pvG+ifwG67TQdv9y2xiuvc3Vf6MPRYeDAd+
fj9sKqQE5b33qluJZ68GfbqIvN77zldKHh+VMwYvuq+H1arpb6QEwPy+axy31rhsWUnGygW/tjo4
cs/Jexi0+YlRdR8yvwi2d0TS4q+CmeAiS0o7p+3qivoWx1L4pGIZ9fOwxeWG3n8n+mDwoulncvBs
oVsPfwRGjk7GMBrfeZ6pQXonO/8RtqOzLpfVuW3r30pjyzJ/VFyfJJIvrr6GHGH7FiFzJNK8mt3w
1ga7DKFmyKy07ka/y69U954VIdaGmvsujjTFaopC52mMiY68nvPIsxBMnQ7IZGyBKbHRjr2LdZRY
ZQU4rASHhdTzf3xDv8WKVrPJBuDUV9eUgKXNyrSVBhLYo8CaJLjgEnTBtTtCWYHyuv6x+XUaOCXK
224oe75i/KC9T8NY9P9y0UmZKVuOjMLa759qm8wmgy+v5lMiFaYvnq3cx4kWxMlIaaSg0P5PlIO4
hHxifWRlM946E012YXGAz7tBpw21jvUkXUXbpWQj8CcOSLBPO3eVXcYh2d71WouXwq2nCip4mj5V
k4PWasLkmnS1engIsSf9nrh57kGa3Qc8e3vvgXjhOQey6xriN34ZYlsrd3rLQf6cc+1v60PnuHN3
nYfLvqcjr1d4YhkR/q8Wv6bHv37Dx24mSfXox1VSoeaZRZUhsS2/VAM2yxLlxEArpqaBJhqa8sFj
G3Y9TouejkU+Q/FbpHx8v5tHUzG1TvjYuCS381UX9Ao9atAvp4GYPqqZUpxtteXExr0T/Vt8Z3si
IlPP10MccuVs7Ny4WaQD+wkOHslsRoR8DrG+LS8riTz+95rDE3Mg25P2ry/A7bCh8fIMWHd/r612
SXclhzfVXiOuWXrvf8LIADxj9Izhag0F/La2kY7S1ung8IMiGi+7WfAvd5MeaWllRHbx2MTBP3iP
ALYDFcEvWdyxc6XkzJiFcbzzDXYCLK4oajproA+9m23qnD+tkKN3FGQWVpmp2vgXR84h46MS/PeA
l1z/1Bh/+7IouT74QKS0MGy06hixHRJmctTzcjb4p18B+Dgm7TlCz3RLqj0Ufi4cUml34Z83d/E/
nEBVr6hUy78r2OwHdp5ueYan7l7Hugp+pr0vyXduEwfMH27ua+hHeWuTeDTTMdCJ+41wfNhTopUx
ASCNQjaXTtOaN0V8V3BF3nM+HRbUIBxkFjv/8T7aEfRwhCeudLvR4qG8GY9hI8rhOJN1ej3jNgHd
ZJX8yf0OJMDtY6JiJxOaU1TtqAmrNXAEE0Mv5uK2CGoSoiXMgMgs53U79evqt1nHs7tSbu/AJbOQ
+dMMZnkc1E5TK/I5D7INuNo/BiqwdTY4re9c73k75SnGRMGH8CyMkCpibznVDLBPUSPcIUsCIbbL
aiq9F+SwOAM4bklvEPV4uPSLCzpDKDDuuEWeD/et8oeW4m7Us5igx7ilSfxId3eIHp051MXJiKX7
Gw10R1mlAKvTVhQB95nXDi/LaIP/2LkAn1HN2kfptCiWL94lToburb9t3n7TTLISqd/koE26CKJ7
tLpEPMfcwztUezxSlESwsl6ncYc4FQS4tOe8HaP6muRsA/Jcjot7JKuyeqmbgjhwLzCiOvbokiRw
ngesPCzhnnmEjjM+NHvzyl5XSOwsfhYFPz7th1B5+5JyRcJxrNw0PzMmuvIA4+NehabLGzwsk/Aq
bGJhAfSNfS75Kl+HfWfJ2NZJ1WeiofZluvRKLIdVPw4nIKHiYS5//TlaE7qvwinXN/Y9eP3UmiNA
2brBzodSxrPMCjEgxZB57F3ONe/fJzoBCqSMFESX51NsG9osXk7lTUPqVkAMmJsgjsQ3cWaIrcJx
IRuoc/1zu+D7xm0Q5UdpGSJS2WzJSelF1DfBZvIwJWLXVuSK40yUtQpA9SLewuBnCMbyjXDzvuRL
iNbL3qUlOsRooOTT3rTrzSadvrqhOwtvzOBE6hxopassCDpENXQOoDWuq93p0GlPAMDsBYenDIL+
Q28rH2T0q+KxY+h6s8wErPiIHoODPR7yP01cDBvblHsUZQD/0ABQvdP1MNCmnDow9SZrSapdWZ/1
pzt3Nf23aEVQXVsvDC7Yvl6/Q90GR8cr1/EO6B7Oa2EpcqMojeG/RHfVfxvc6k8L+voqhxDpRD7g
6JP5TUH3RvJ60x0qPcj7BbkHCjE4WHyU9GahHLRsss3DhhzTTTN9RnVPEVxL0HJukiWasrqpfqON
TcTRX+JBSSLEZ/maID36LFvXvjpjFK9p5yn7qTCJdg91qcUj/cSOQmXkj4/i7o+U6/RKWriTpNRq
t2YHCt0JyjE50bRsxVBheRSqndltn5e0wgAGqAEHeWCuIZrIs1+t/AzcRf7xnWh9lIIBNZ1jPX97
TqHoRxiChkMOrXnZ8QFp6fLVv65oScOsrfTco1nBtxqzTx9jWj0gsuDV74Yzd2H5FUkTLNhLb7uP
z9NYhQcpgqg65HyBboYsN+JdzTkHWeX5FbJlPMPgzwcEW+lvTWZphQcs04lYqRsVA3fCyDXDKwZT
7X+N1VOPCn9v71VL53ncdDFAa0Hvdoek1tKebA2tPdqwG7MtaiSfLGdL9LjnXDBw47H9OzRO88lA
wB531Yn9xXM3h60VMZoXWWz1k7dpF9DINbBwXB/9kKHXgJlu46W/10s+3nXS8/9Mikn/EdjJl9mI
8uovGfXmo+i37nkOG1psFOA1mrAq91/LYOvZwN8q/05Ac5cXvSrGz1L3vwpEZpAmNdi4LefVUY1I
9ZpwX4htraGTIBNfwhBRS11ic5maUS0/moWLvyEjKFnolc/76dMk0E3AcZFvHppqycZ5L/64i4uY
aIDR+U3VKKErgt7wPZP87rjpunruo/WNfewIJxuALmX9iaKOIWRb9H8WZXGXlvPvKZ5nWfUX+9Co
9x5CmAOdtLbKBMCAk8IdlEkK6AQUtYdNeVsug4qySXoT97Dhh05jKdeSeI8ScLx1xNZeyC5HODQX
dnks5hyJRf0rtE+lNOWGHm0V78zm7b0fAHXzzdfifpiW4oF1Gsxzc1fJS89dwICnX4kSL1wQYBDZ
9Gt8iADVXgEVhw+nMB5J8k4LLqunyr1DM6nCjL0SgCvmtRBWunajLaPOIt6g9VKPJMIz4InR54GX
C1TygVeALY8Cxd67KP3BHvxycy6MgH6nhhf2Mx6C/CWgi+F7CsX65fo7LD8L8RUxM26wMagLU766
eRXkV1iymns14hhz4lWgsCHN467sA7KQYWD1WNC5E1COMHUIuSq2froRktqSRguB6oelleNOkv2W
37NvoZ+0Fy9fWi5yunDxDLlWLVQ8nVufQ0vK4BMcz1D+ot/Ic58Ne7DYqj87ZkTZY6UYrvmoM9KG
iLD6bGPl6qfi/PAb8HA/zU4X/htk2YZHMWn1+VsemNLgPPDyppO4jHLbYWsIX/oxxsZl36H0C8UN
JWLgGTCKu3ZiuQB5TJjf7VFLot8OEIcWodx7fUjyvhhoiWR1tQcKBHvI0akDYKD+OI1ia+6apOfy
7MbOeByfyb9qAjgnPG+cvmWGCpsnZ7H1t+n36G+JHhxBZuk7b/M+MhQFLa470paobQrPYcewWJ2c
tjzU/hunsL5Biv9t87kdM18NdHtRRX8e7bGHI6RqnYvaG9Az2R2Sk4Jdj+WxjmnZUy2YRNMaug6x
UWK8S0Q5ZXzE6Y5splAJ/1MhhqNa+VzDtdLORTmPvBIA/8nD7A3+wwACrQ658c3H6HFrcvik+fIU
cUNp3dThtZ7RfqUq6atXs0GXgUmZ4JYdbMMJR1xZHleEfRPeUINkmo8aWIxwcp0rHtyEVqOx4qVJ
bIGQ7VeA2AckDp31qCsKbq4+JpZI340/93fKqax/UbeDc1LCLvJMcR2bLFr6pZSoJoAEiQMCT2j1
VaPgP91fJhFNXZxGbJTqC5sEHXxDV4UzFcgD7CUohUUHvPKht7Xf8D7xEPIJHdMShBAfOr5tTEWi
2ewDj9+yVAZ6oGwTRmTLTOhzgSVAK7g3yuWoh6j1TyQFAWnXqz+997VnfoziDsKRC8b5UC/b+Bwl
rmhvEPpW1zXVossi8ztVwTHzRyCXqYo0ovd6x4dUXLO1CI0d7ab+lKU0P3B8/NapmZvkAG7VxveT
7ACESTjcmQfwv4V1VXEwvbEHNwTXZdBXfxAdLAsNlx5WJDOVQDNiWWVpsmlAgXVRAKnNN6zTzrca
ofmaxcBd+wUJiUNV3sO1Wu8FhcX+ReOl0cPbSObz61I0rIIcJyy4oksBlf+Jy7d5t4Vv1zOcfNwf
EqZiNBarwB2S+Rpwu4h28ZFgiYZtVxwmd+XaJCVqsDKmue775xkaH2GVUzlfAnmEOuxVE+RHxCEJ
0ihG0+4gZzRCMN2/L4BcN8wKPRXrMYu5U0I67AilGUxf8rL0Y/y4r75xICt3PiYbyuMZpa253fW8
A7/tVIYDxMj6VCCaXuGH3GYE04yb1wp7BP+w9v2E6w8qQJrMptvAiueAkjO5DUN/jDDERTK2LAu6
FFE2UAyCYwN/i41jM+xRfjGCLVeYFNHgZr3jQRlCwanwhO3YgDcTVmrxCeS+4W7yPag5iYwcz7hp
Z1xWk/YgrXxRPNM8Gn0scVC9wkzGBWFxlBAMxzPH11gHV4Wx7rY8bTbKOzwigM8lruAM0whOIrRd
e+1+Bo3XsD+ssNHEbVU39tD5Wv5X7ooaKCrSaFLhd2C0SY0GOF0p1k9TO7Z/ECb6w5Gp3r7qouzK
S0HjDbdRDf5jVHg4bFl34EQuoVpcWEPXvTU0N59jreNn7IITxEekFeXHNtlZ6dx9b7mb4sr7W/Ze
FBzq2jqXe1D0w/2U9NOj2VTgoN2IUbD3v619l/vNlElnRRVGRy7YvFbh/KbKljm3xhaUIo+IMz+A
jMtHygEcEjtmSHJ91QqR1rVYHyhTu878ukHjONQ4Gpnx//eAXBKd9k6/3FIa4YnREeXvbGK0FxvO
qvaA4AF6EJnP+LGxHzcfRgRv4xW5Kc6/wqrYPzsCjC8DJnC5SpyQBEmKi4iPrvEZPzEeX/7rCm82
NNRN8YrHrn7cyklzwwxh8Tku2/aviJDZnZopab4SLunpGPJiwUSMdTxiQVNH6EI3Ws6MEw/ZLUvB
e8MWA40fo3fzDUavPvshqkzqYg3/CosLRmPmZbvte5N84v2CmgfGOBhhAfYaybIv4v/autu/KmYr
PpXbomlbu0jLrK7qYPml8wKdOVXU/q3wdiW4x91Zt5cgdbCe1e9Ox6wTxKKq3zvEJ47Dwy+g7a5m
s3lL6kSeCXgPpChRGdXFdIyHBNk1dwuRSnEh9yKDkB3vSB5ztkPkhM5NUCjCBirXtP2Z/rF5G3uq
Mk0c0qPVGyj9CB67b+Sm9QN7rQs6w8rrxBFFeP6wUJ/KjDbfZUyr+vXZQyv+Z4C7eQlCeATJ7XjT
9a3/VLe+VI9jbVasdpJKbxderO3zXM4zNqj75GMDNLRLft56v35aB38GeTIbSyubs4M20rtgmrp7
cRMfmZJEeKxkz7ho5zGcDt7CW3MslspSHxMzqUslrbeyjmtknICtBtSHwF/4zyXrPN9DtQ8iw2ut
x9Ggdrf6K+4RTpyxyND5rWbGQdBFUv2TRTf3IxkNeNTur5mLKsDac1kiJ9tQwCBvWJz2y0w2f8np
9P/DFOoXZt2skRQCesAjqzj+B/sgKD061oM+xspykU+Lm5zH1jSwrGwIdRcWfecTs8pAsHHtzcjn
A5aDjLuPbja3bCKmjee1LQoTQJJDnrMmQx8ZRQ9g03SbAVsB1/WE/O5QETEZQx6sXE+Ia/xXbxur
Lxuj7M3aNqLLZftvGrPRifMHVUt0RnT+NLn/4+xMliNHrnT9KrLaQ415aGtpgQhEkEwySWYyxw2M
ORTmecbutt7kbnvZ2/s2epH7gaWWGM7IQDOsZDIrpRIecLgfP37OP9B2DZNdoWXmeylTAfJ0iIbc
NZLSzpvK9rvBhf4Gmqm05OIhsaLpq92ZynuThpbsKf4sS9vQcWhO4A0VRJukzkhNU0nL7xW7td/h
3lh8kaXGALBUFIG6IR5SPsQdLr+Gkibl8Jpr7RE9eQCfwHGzyxriVe8p6L63G36P/ODDeb6a56EA
I0IB9UeTRMEXlWoaiNpqzCI6sSwxV9UyaQIp2C+4SwBugAOAwH/y8ynUtyCSZtrwll3uQdjzNzWw
dQXnHt03kmMg+W6noZPmBXVrvW1jQxoJ1aliUPuL4891mUQPjp84d7QNqbgMvj9LS4FrLFzblKC2
jJFOuj8R2R5JGrhqqKAs3baA7OBCrPK/mSGlil3jVLG+ncBCOOC82ulKn80MrQt5OWFiuUojT+9D
yrIpiA7NUzLbul3unQZBpZsvm6IJ6o3f9dT20G9Sr5t+1j8ECVHMReAywoGIa8nOrkvSGcSb698H
CH/XUZW16ravZfrlkQ2rgJlmQW6MtgpSt58n6TMERL7xOCGJbkez8qCNFlItFbhLldIYKZo7JIUK
8SbJnfs28WfD5bIekjT4isKGkFXpwxBp8wc/6jsFQPhSZ0YMrnvU40arNvNAHWYz40DhL7qCEw03
akZ32VQGEvBZrtXupFnKDXSx+q3tBACOLSUjsw90q8UsyimHkUhPe15tJlq985gM/g6gqB5cpErj
3Et5iIqG49Cxf6P1A90M2uHN1ifsN1AsOOsv1Vh3JLdp8VJu81riLtrSdve4rOYxNMS4KO7VSQEW
AGasgUTjy/S74Mh1XjWGU7mt5VHRN/YMBXozyl332GuDNHhDVyvxzgmdhD0VOiaZFgDUGfhcEMRb
hZJg9GMMKMx43Swp/SYrIMCTmE0JkAunUqMr9Mec7GboI/vOiJK02mr9nELTKsDY3UL5oandwVNg
Miot+6EkudLspnD2x+00UrLaBSGJ8VZhFuvtTBAnt4jpUjGxaSkpVIVU/11UWeQSFdYXEkDPniRk
Yq/+TPMRQ/UI3se7op1QeFlsAG4wRGg/g5nVaUIWjXlTGfSdN9o8lUCL7TJGi1H3FZC3RC5XopHy
VvEVIC8jlVSQeAOw7G0Kf+hH4ZfThyJV4lsdVLq8AAapHVONtbiIFuXvtt9z+aOuS62Q6iEZV2zQ
sGmtVP5Kxje0G64oOSloX9u3SqlVyt7X7flrIA3yDRTTXn4DmUz7MRiKthRnUuCZeAkFlxSGw5n+
qJzfQi7QFDD8WhfSZsfgYAMIiB1ljbF8H2J6kGwKXeaD9bJsPHRNTVu56kzau4ncOJeTFLTDfuB7
v585wccLnWrGZUz15L7VempIaJx11wAiOCUL0CdvyQ44LlK5KXp3bihi7O2oqilgqbAJ3lOTTElB
il4FL5Un9r2ZFYBhOW6C2yoFSez2zPInEOr97XLRA4ojp/DBJKlo7uBJ+t+TkgryptdGbhj6aKfA
RLBU+eKEE5s5KMPJAp+VUq7IYoR1PdTw9O8pxTaUYdUyfAj1vOXmKzvVF3SGzJQiW55+D5SqBgXh
J5SUYHOnJZj0vHxQChAABFnwF7qB5rEbNZiSb9nF01dnMueePF4DCzJQqjVA4ZA2gpPW03d6BJdh
QxfK/GbYtXXPGdRou8IP6HOzdGtPboOaFL8utXKzROdpp8YUd7x4bCljG/YMMDK0s9sFgzptw7Ea
b8hc8sa8COhoT16oK3aFtFwl3TQ9p+ZFUhTapU1NRHVtBOa5whdjqdw2kAF/1L4835qwRVt3AFjR
XbQz9bc7uGc+2qaSVTA3oW4UHi5erXU9t2ZafuReIH2UHAqjtIFKGXy+GZPltkOpfEnzWZfJAbke
fXeCuJdcrl9gFH0F0tS+rECNf7JwDXVouTi5QZDQKI2Bsw0owgMAiqYPoEt7/DYcqEs7rYTL4xbd
hBftacb1ovvwXNwA8wCkP5FrkBE5owopkLtTZTKcCuAPDWFd/Sp1he92SdXtrWQY7yQpRexV8gM+
Xdtt06RT9qeHFwnfy/B4tULHt5GxpQt2yLWGw1q3wFYyF+oV16EUKHN3IYMS1GB3lrf0KBx3NvTg
TT2mwIJPDy66imEwx+iqLNN11MxFP+VwdHzCTIPWXe4mPkeuVys+GynDFtBLuFVEwJqoogUws+mf
R9yo4Ih6SQ7ahCSGgndltp9XfpHIPRd/kSCxAuDZr+qMzxEUOnGYFuY2Dhx1Q6r0sSIVJvDQC69h
o3lpOxjoe9nTPs+pAKhDADR8ouQAnsRZmSlRAuDpZ2FiuKjeKtoLZbFqJEJ3OlfiPAsot8KdCwB2
pFQjk6Ywi+3pWRC1IZbRFoUPa1E3BRMjyKSUg55j8w4SBDiw/U2PLA14HHQp0sLRGL9h9KuuiOgc
W4ZI7immsaxBxRCkLwBINkXS0IeHDqjemcBMSHMVsLitPF6CnnP2ZQ53u9DM19k/LBaHJkhjc1mB
jK8IK9AuYCCCf6HdhxAelCvKv1H5IdM5Cy6pBNHaPj21L1/0cDxhfU2mBDGlLCEe5vLAjXaYbibG
fQMeQwMrXrXbyq6qd46RBrvTI79c2YyM+IyBqLFlqaL2RjMZhRLprGwckuSrAGwrB29ZvFKr5Wk+
MQlk2cDIoIhzuKMZOtKcih2tDUp7ZSzQNztTrmjKD+8t8NYr6+blvkB9m/BB95iGIF/zcDhbd3wn
k1ipdctp1lIa3lBx/AS5Rrk4PX0v94SOzoaFGzntHvR9l+l9pnwJlauux4izwa/U6pIMBi4W9OFo
A8ATVnJNOXfFdv3oiBpCTDDgoSaI6oUKN+wq69jzZSgN3/2JQpfTxkslsQ6TO9Qa7RWdkWMrBOsE
GyKEjfyTqC4+4Aih07klGtcd9xVnLptyW1pNn5+xFLEgQhNe0XW+mjCXEWByMgrmcq6sCqxz64A5
GquVUY7NH3LlCuApXFDAxB9+scECp5uEjNKCEDChFjrzRRyqtTdSY6WDTy3s9BI5thgd2QE9QFpG
NFv2/rMlYha1EUz2skSU3rkfcoRBNmMQWJLXpSQ1K5FEFCladpqjWTKzqKMaIdqUFE6XkgPDPK6V
IHuMaOiBD02Arszltd3kiyWx1PYfT7/ikfDFwYAImUKsxPhNPXzF2bdnzQAk6qIpAKNTsfx9M1Fv
1bJ4V6W+TRVC0/e6BuBx5XWPfE1EYOk2o8lEcNGFRKVXoyK0K3Z643f2FxXidcxZrPQXmJV1uwB+
tHf6VY/shiUhw5pFUziSxNDSDE4Lxi6llwU8dGugbLnrJG3NlfzIV7RUFN1MBZUipJ+F10KuJojz
Zc/5aqKMoN6TJt5rTaPIOyWXQSNHsTzdKuB/w5WAdnRkDgIobJgFopd++Cl9cP9jixuYG9sd92jI
MP7Wb9gbFEka5RuxHbDrAJXTXxn4yDZhPJnsArFr8G3LD3u2TWoo7xYMUyY2KcerJpd7DyVY6d6h
grIS0Y68I/J/GgYmbJXFLvxwqCqV1XkwMtj5cP+2Ug20bDRqiLcRDaT7Epjy50Rx1vSKj7ygs2jD
4x9kUEGRhW8KYRoN5p5NEikI6Mg1cCSoLf4+kGEpvHqROmA+HFw2sL1BBPPwBWNI59STeEEfQaCt
04JjGipjTe/t5VZYHBdkTFYNFN9MURJQ7m1cPCp8YCQEBG6TIQHPF8b9Sip2ZJRFG49/iJ5I6Avh
s4OvkuWGQzPaAiNaKrkBWic0X72tyaLZcioaiqqM+tnhjI1y2I+k74AsAI1ktzXiOsW2qKV2bX8d
eR0Cs4Kavcwhx0o4HIiOkh7k1E/deUCZNMrUegNgcUVx+GVUfLIURS8Li3jSH+FtVBKWYcwpcvK6
yRXBM5q8qAH/UY6w/j0Y1uX05bVLDjFezBqBqBuLtYoQNyJg3dQPyJg1reTKFtrlrpzGcXt6lCMv
ZtnERV3mcDO55x3O3oB+a1AnFVdxp6JlmIbWNWYyzc62unBTjsGaOc/x8bgCYGRKfieq4veq3FkW
dR0gCFJD/w87UbqrfgDTJpbj4r4ba+376Vc8skB4RWzMOGXQ/H9x9UYfH9YKEzmFeQRzt6C7ULTz
69c7mjwUxgxtibqOIDTsNCYcd0gHbpfK/p09Qnhq4mRaMWJ+mRdQijI4SizOSijxwt71zRC5qUU+
U8PaDqQ2qiywZob3QPadvTPYcHCTYKSF17TZ/vQ0HvlypFvoBRp4FSrUUg5XSh/JUVVhWOIWph58
hgJkfIaapze7tEC2wzUTIEW700O+PFYwpmAql04Op6d4aIeDmjsDLtqur+Xz3gCV9TWV6EheSyrX
8zsfBq/iFlVIPff0wEeWjI2sp80GtNl/otYsvpcksOgNuj1qVW9jQ8/cpiyHV+exvJ6D7qUK4QrJ
b+H8KsoRLr8N8MtJ7XwPr9FH5E3KLbZCmmbGygI9tnQ4mqkGLjMKaO7w+3UalljgVLmX2mO0R9sL
bF0aSajS+1Z8gx7hdGNQtNtrJNcPr59Oi2nEbcRm+RjL0nqWiVgRtevANED/A2a6U9B88go0FVfu
qMcWqKVyJyaHNLiqCjkzmk+lhuI8yGQzsdwGwMJXbUTVE/xtdQFPpLk44624SiN0y7WHUH34VjNy
KgUUQVanXpTRFpZ7aQLzQiRrZTUefTFu+UvywX/bwl0fZSpgoSg0oODiwyHAGZiGSVM4Y3qRZIbc
vJth/qxVwo4MupikcO9hMjnChYNhVoEplzM8mwnHNnpUULgmcPAFujZBlm1PT+XLTI7FwQ3V4J7K
qaAJsSUbEli2yOpAiWohF22ieazSz3C/rGqEIT4N6tqt7skX5bAevFimcLOymVeyB+HrjZkTBiat
Cddh22Ve1LfyzTCiIOZEbX7h27SOlKhq9iHISDwAJdpTbjBZNAQzNPJWlu6ReOMgfEJI10xiu5he
hgPITNyhCrA1deBhpAuEL0Ap/vQsH3/nZ8Msn+HZPozNNu1lH/cbf55H0627RVwLq0jd2GSa094a
WShdygP9NTtFsbZMaUUjXG7jyhPLKz5Vx9YXX/wPYwUig7BbC8TkfEvnlQOw4xsdtOpPra4SIGFy
cNU33NFOv/yxKab4zVnCybmYuh2+u27OeFMgy+hahlahuwaDyJqyYeWtji1kCyNxBXF8jW+5vPWz
GQYZrKdjxz0BCb3qix8H9BErNXjEeHstFTj6Qty5FoVysL2yMIGoIwMQUEg4akzEt34NIpBGTbiS
cBwdBVIJgYfaB/H78IXgNfmlim0qNsFBZO+QKdK7LTctGNCnv8+xmcO+h6OVwjvFByGNr0nubUit
DCS18k4Cmb61it66L2EMvz9nKISfnSWxxgP88J2yZmxaR+IjlWNb3tp+G9LhtIHxgiYa4g9nDIbb
FSU4UmxFvIUjZxOiDk3C29OA2XVdi/ElCPFt36bZ7vRQx74VKRoHIHLMnPDCe4Fh0s0mo3SjaUZ2
j5SF/da0e3slVi1PEQMnIsnWUh7ihBC1mPO0N6doZt3lDbhJtwMreklwHD6GVKh2ZQfb5/RrHVsZ
FPuAKIJWooclHH9aC2k8M2mdoaeVb+IZelwdYxJGXh+ufKyX70a1RGdRcPBRyRDfbdAVJ23AVC9s
6nof+tV9YddXQOXMC7mO+pUXOzKaje4y9gl4vixws8N1OHSahNs47XVjkMyrIHOkB6ydoO4o3XyH
RJ+/km++XB9U1hWMc8gjVJiuwl6OZBPAvlRAaqfH/qVU5omamzq8O/25jo6CyyHbmFIGPc/Dt5Kk
3hxn1JlAtKHAqvdB/RYI55qn0pG5W3IhGi1cDig6L3/+LNBSrocdZYOrz/upv1MUf4FMwPq90rPB
/KRWfvr7q1+LJUiRSUWtng6P8FqamdZREHIlQGGMZD1Tf0S59UqPagoL3Ad0whIBncNDTClVCbGJ
fO653hUaKroN2jFUl/V8AxQDgprMN1vZzS+/FnHdwH6TOyUpptgQrPoSBk7vgOdLq+7ammP/Ru4G
bXh1dIdSIVs4l1tEd9UWorudgfcBAJKgjNEWXpZkP+cFalab8ZoN1osXMjWFG7glc0VWcS8XNhVK
v7XUyRARlWqKvmSFVHpJG766Ps8oXE1JJxazBF7ocPkBBAXtbSE3XEPDrdwkt5HCGaYh0W76rgS2
FzcOIDp48mx+lC6r1T7ZsfdcwgY3ciIIHcfDX5By01kIv6CX6hSsTFRr4bUeGdlrz3+Ok8Vji4OZ
k5nQeDiMjDx8py9lPGhh9tbRhp85IOOL03trybUPjhQqnotdyNILd5b/HA5SR3lTt435tYMjXBbS
vRldZLK1KxTVxfGGBAfSF34NK2vyRXVhGRWyEWVdfREMEr4hWELUekfz69hdOaF9nfWeWvib1Iy3
8/z59AuKQ1E7luk+YJJDxRUGtBA8InQlZqChsILNMXiL2om/6YasfyOht+7JJjw1Knuhd3pQcYU8
DUqPn56mSoohlvZiVIeMoRhDF/2O5B5+QOrN9mRvT48ins5/jGKT82raYqwn7Dea0AFywLxaCM1p
AFQiLaVYVJQ28MrXABNHBlvMQuCh0fHGIkOI+nVRYFNmLGjE0GesobTfcaBxYo6t/8qFz3sdDCUs
fMP0fWuuGApu4gCJIfP3iKu8NmVbRqHygzcGdTUiiRAXu04JQd6jzkiQMfYDXWOabbO1O/2NXq4E
urOwIIhTVJuojxzuLxgHc2yYkBP9qCy5xTYhCovpayMvnZ+DUYRdzIUETYCRyyOCoL6LbtYXOVG+
nH6TlwuAcgTSrJhzLN0mS/gqYyq1ajAjpYZpkflDGdFzSCHoLroS1ppV0tPSfR6WSDAYjBIB3RL6
S6JD3YBGgj71dLHooqMiQ84oQda2mutayqq3gG+LXWt23QXir+pmjGL1EpXcdCU2vvh23JHxPFFA
b9kLh1N446xCYT0Lrc9OBAOgQmZxM5rJWjZ1dBAQHswpHRtTFgdB9gUZ4eBLMlWZ42mVZlzleNU5
+1d9vQURo3MRooXCQPifCLGiS9PRCc1xcDHDC0Eul/YHdFOgkOpxuHLHE97oj6HIcrFqpYeNneHh
ktd8K0pyklvXzCB/N7zgtksl5XVB4mkUWj9PL4MFpohEmIsCGak8hGkTqiiwwYi+1uR5rWEnwvf+
GIbuwmK+x3XVEOYN3Zye/pkEjL436ot4rKZrVOS6t0YXGPuQCzPMrtGAiAl/a0gwUYEo3QWXBrot
Gz7p2kYXNuHTzzFpBSxbkIT4RT3SzlUk9JCKKKYxdRs9Sd+MyBnsIrhtK4bcT7iwZ3vwaSxgcioL
h+Y9ufHhd9T1DOnnie8YxvVDB7kH6SxtP/vJBZLFF0ZRf+2i4WunYJ+j++9zo/s80oGeyPqqNrlE
l36tTrHESuEHcZDbHOjO4pUrooWgWMDKtZHIl5Xa0X5m6L8mV3lDl/MO7cw82SXRnKnv0ISLvs8R
atQraKUjk7/Y2MpAlQBMIL53OCF+Pasd8p+9CzQMDV+zKLbgh8ttFcbp9vR2PbKHDoZafsqzO1al
TGo4LcsubE3pMmFBXJOMdq/fqYzisEdBsi1n4eEoNbRWP0/ZQ90chDvVGaVdqaI1dca7cK1SaAHS
hDCFdeTgspAivcY6KuL4K6zo5q3US+a706McWxxAPdgS1Efo3QpRB8BFUPYZrOokUuI9lq2hBSNE
CbxAD9pruUTVQe3K8krr4/7D64fmjAJVBtbj5UaBWp0rQwa1UKM4dzMqxvCIL4J0CdXbuMtQlUM6
zTTviP1r2MCXywTgPPct4Eok04SEww8oDbR2pDpGv8PWq5s4yYuL0GnWui0vp9amA8ink22ZC55Y
rw/lqjflMptcaHnvZNN47HX7wZ/Nqx4FFzRb2wtLr18HayH4UJFUUQugzKoC0RWORfhHA9fufIJ5
iljBZ6dEGPyiVLTI3CAxW4ZoNjYBTRgkOuOPpz/nslIOw4ytcG6BZ6D9AqRGGBrwDGSyhKFtE0C2
NvqxV5Rh5eF1BNmhrdcqD8vzXo6n0woBkwx4VVi5kzL7eqCih9MMyB2oYxZ/SoPA34GzjiE3WuUF
WsRr/n8vY9nSDgSiBKyUlSNWy0O8BiFGo6+IoJG0SeRC2iZ64+xK9LVWYtnRobizQwJFy5AT+3CR
ItQ249eIyAzKgYPKASInsuc7UZ7tlHhWzNdlbbjM2JzVACpYskuvXjixpRHutG3AwDBGtDukGn2r
MsE47ZWLZEGqMwTRE5QiN8vDl3J8AGczGlQI5WV2401DGOfb1AyNH3DDbLTQynjNZ/jFPApDivOY
QgC0cTTYQPUst4qe/Iwtpd1mVdqvvNyLsPIEwwfiQHZF39oUzoVwnkIZSSS0RKequ0SrJNvADcpX
1sXLUahr0IWn0cmRinb74RSiKtrHVgVL2Ukaw6vCfkaxyZz3pz+UuLvIXdhV7CtWuWqjRHo4Csws
Bc8nkC6d78vvRqfHNCnoLifN6l0MiMZ3fbHWHnoxJDPGxWWBbS+obfHOlyqWNmoNRIqoqZXtiH65
sXGKVrpTUFa6dex20aubWu/0iy6f/3kYoSimkqYtsEMGBWx5+KLpOHS9nGAE1e4it9sMXrHXbtTt
WmlD7GQSNA7HEc4cssXOrFLGKbdfP+ZbvDfcH1d3j6df5uk+cupttMO3Gc0mhPnHKOoeQIGLl4en
vEXmZYv/ycbwaL25b2r3Cvl8d/p0emzx8vniDZeF+yz54vqc6vViqSVd6JthAwje/W7dWFevPVfF
mVw2/LNxxjRHDyJnHP3e31fQ6j8CaL7yV9aFeHqLowjHC3T8OJWWt5l3eINsEA7c5JtyZS+/uCeJ
oyx74tm7aFGt6PHyvW4q71uyefhp7B8/vl9zznwy9z21LISwC5A5nZSIYSoP2OkG/QH3I2Kbt/PG
+oB+5+XKSljW8qnhhJDr4FhJ+GC4YfMN0Vf3e+5e/b55v5JwKEcCxvOtK17OsyZvLKRAl7dCAWtD
sWiDZ9DG3prbx/2XZvsBraC1D7YSLkQCVGtrpRMuY/ZbLnZssMj7NLvfP7wN3btm+8idwEVsc+Vg
Wft+IrheQ6RDTZfvN22+zTt5jyOW1+zCt9Gl76b7zl35fstZf+L7qUIUSXQ4lNALl5cMNxn/6C6K
nxvE2VamUzybheUvQnZ0CSuikM6luyDa3d6HClHU3VWfWGvvtLZWhKBhW3Fj58tGs43PnX8RoZVc
qpid5QlSJGsN56c626kJFIJHbEuqgeDYHxOY3uLTsLV2eMBtPkTbaPs7pHsCsez+vvaWT/nnqYGF
eDIEGV4CFQNr79Wr5mPxtrrSvvl3lBuR3S4fp4f8KrrV7oyHlRWzNr1CgAnaMTKLZcVorBmUF1if
/QVZ3sZ3rU3p5V6wtTf2Zg2y/aLYIi4gIdJMap6kzbIxaEDuogtl+5BtZven75ZMb7FT3dVz/FgA
oCEIiH9hy4HjPozYTWJnubwsWUyIPYX9oW0dMgd947zJNlj43Td3KFrv671+7VyuzPKxuPp8bGGW
0ZOZUhok5CrbwTM/prtwN+ymbbJrLtWLtZrZsU9KP4GmBaA6muLChSBGqDqe6rJxa9TfZQX2LfJU
+vSzy+ttPN+ffjUxEJD2U/ek2KFpgPwBLRzOqtlGqh+m+ryRtFbboY+EqrJSR3isTfNKzNGF4MZQ
IDtp9MNBsi10sQ6HSm3VHNUe5ywflvqbwslz8MBauhJDxdlbRtHpYHEbWNiyYl1Fx6UaP0jkjlpY
ubeITlpXdZ82G3lSs9u4zLIPUJmUu1fPIhUcrlUk7TRBzWX9PMsmCoQS6qbEqxHDydJDl5WYqrfZ
PXL16dpaXELY80jDC3KHo3ADEN+AfiXsA9x46tmxpGlj5X3ubNC+aD4g/oaGUm0UWvKQKn2L4Gtm
lYNLZbuRXLQRs7s0nvyPRpu3BQICfd9fVpmp3oMmqfAYqqPSdksZ36TT8/Ii+abnSm/MVCg1gQuj
d3U4MTomGnlrWZhYKn2P54iUBhPREM3acDs2+LwiA230Y7zD4bR/rOk8fg8aJ7C3Ct3BeReXmrnG
cBfzy+UnaawP2ltIveJjdPiTJESaIlzixw0WCwlCw5rqYkaRfaHwjxjBUPb21VSqHLtRP66kti83
m8ZHA55GPZgKvSacTii5SsMEO2RTt/bXCvDGhxbxoVsUN9dQokdGWpg0Jm14qgpgeQ5fMmgWyztH
nZHTi02gFHCdtsUUoxZKn+rn6Y/8cl9TwqTmhWwAXA1ZbMkHljxmBVJWGwspHK+tRwyeqmClffLi
ksNng1WpAcmkgcwRsLzxsy0W0JzQ4rnrN74U+u6Io6gbZ4HmsqCyq6ibC89K/dRT5Vi/oZuf/jSy
SVmJYC+3Hr8B3M3CVgJmJlbaprkfgqJid9loOZteUPjSez2RwQQ6LVo4l8gXI+Xy6tld4hgEH6A+
CpX6w/fOjDDTitSHaN8UKOBMerLLMku7eP0ogJuXZgGYA5iyh6MEQ09vaop7ZF7w80QJCZVhzLRf
PX+6rPEiCpU1epVP3/jZN0wmLbFagCGbaCjzm1RvlG0koT4zoB66zbrR3732rRbMBohKOiCsHF1Y
M+okNyletOjDz1FwFRfSfOnjybJySXgZUGzVgLPJS9FyewE6hPVLS2+ymw3+sPlWltG/SRFpv5Bt
Q/LszBhQhh2b/tKXmn9Asv7t+/jvwc/i7o+w3/z1P/j37wViTwtsTPjXv95E32u+/e/tfyx/7Z//
t8O/9Nfb/mfddvXPP908ls2fdl3+47GNilz8OwePYKR//JLtY/t48C9e3kbtdN/9rKd3P5subZ+G
4zcv/8//7R/+6efTUx6m8udffvtedHm7PC3gZ/32jz+6/PGX35Yz5d+eP/4ff/b2MeOv/f0//+/f
//Zff//P//f3v/333//2f/hv8e/+fGzav/wmGdqf4azRgqQxrhOlFuLA8PPpjyztz/DmUFvhfySC
PR3feVG3IX9NVf4M2oigTV0OPgWd9d/+xEZ7+jPD+PNTKkrog3AEQcD47X9+58Gn+9en/FPeZXdF
hH3ZX347DKMMBKuOXoUlnEd6hb5MQQ7mYZP3aXamb3738dmM/GOk/8WTxUYWThNyi2R06oHYcuMI
gxOEy8979LInnu3kaJ5avRo1XCod607WpLtU0aQzny0mOJ2FXmbiJ548aPNNYajjxp9ScyUW/WK6
RVwQymsIPEU2gLseKTQDtcjaO29OhGhTQEocEX9O8FDL+6s5lxd1oMl5f97Tl/d5NuMq3VxcbovU
K4fa2kR6jJeCpH867+FC3cGakH3WzTHxuixBLCpvHwcZ/cjzHi6cYLPdROjiyqmnNVSKgvk6Qkf7
vEcLNWQDjgGm9niLp1AaG3wdz9w5wp7ks5UlqBRqPUGjvm2MvPuuxZG8dnL8Yg2KHSbf7i07jrrU
6ybtkqD4kBiv67T+M5qISEWrGqrBJDtBZLsb3xRxp2AoKa0AC371u4WdabSW3tUT0xKq36sSefXA
OG/Piz1F3zR9TLNUPiSsUbO0U4Srs7Wr4a9+trAxcVtIGr2wEi8qq1ufK+iFUWIUfNYS1IWlYlpq
hZ94G3sN9q2u0ek/NBAXZz1bFLghVytQjC1Tr56m9PtcZwGWJepadeNX0yJsej1F35yudOrBzsW/
aw398qvHCtvdB6IzRTGPHRqoLDV4ZsSglfNiiYgAyenPVVbOCgzGeF8HeL1iEXTuLxc+ZZ9ghoD1
VOr1VoALyIit2GB31coF/hfzIsKTqMz7czBw8GCbSrDCGZs0fO1y+6uHC+fxnGXzEDTAdq0gQojc
MCFjWm175k8X9j0OLl2GFx5nT3zddA9YPJ61vkXkHVjkPJ4xsvAitb/J/BSUf16+SsLin4FQzP1N
DbKiA2rAs3UshpMsewzxKfp63g9fPsOzw7gy7aYZBy32Firm1xpyaOI6Tf06UaZ//XZhZ0JbiqoF
Zun5TbRDxFe/wIB73J/324X9mRZTpwQyE4NIMi40FOIverM98/zRhRM5htrW5nHmb+uaSrA+bNT+
x1m/W2T45+0cS2loR0h1y1sM0b+GSrzGPfnF9hFJxQroiGrWqthb8FIQJJqLzMrWei6/eriwe9CN
bTHX44cnQ3CVaUbspnGyUsb91bPNw4XYY0SQqQY/POaxyPd/aLLs7rz5Fk7NHIKqY+c8urZa67LV
rCu5Hl8HN//nCteW93m2gRJYAHrd8HCcTl3D2Nb6mb9a2Dpjozc1hkuxN6XDJlQJsKaF9O55UyJs
nSYu6kk2Q5ZJhRhCAxvaM53pw3kPF3ZOigcE1m1Z7Jl4omC8pjiT8cUqhqI8L3vThOPNsoq2DNsU
CsTcbmzpU1hr5+VAYmV/siRqNxpPLqTpqg1KBce3+eGsaRHpU6URxl1vzbjGZANG4N21b5TV5rxn
CzsTP8gOLo0WeggDm+9iefygG4G6wvP+xdYUKbZ+XkXoLnaRFyjhDbpv3HvkoTnv5BRVWh0VFW49
ykJugz/r4NLOz7tQiX3hRgsxXQ94rj9gxYrt9Ngl5y0/sbeN0xNXSiUJvSH3BowKcFY+b1uKTXo1
0BUM09PQg8aMs1Sef+FCG575cGFbop7Pz26N0EOrOvdsqQHpkNXnJSliqy+XqFNFCg8vI7SoSy8M
5fNSNrGvJ8lI8AeaHrL6RhtanOJQLlCK89a2iBiTY9koYSCxTILymg10r7aFet6EP4FPnh0NbT0E
Eqp+oTdiQDLDA/W75MyPKaJIUztShi5bVkqqFp4dtB8b5KTO2zuibi1S9JmqBjzcag03NvYqWuZn
xSmRntcZKvn9xDIZ4nYD1wmwi4ldznkPF05MxN90SK/Md2ZXMj0VhIQDRxrOXIfq4UGPfw7NbEkN
PQwBYZMPAfapY9Sfl8uKGEKj77t+tHl6IQ9v02T4iTH4GrfrF/FbbFbEfu2jkUEorCVbd+Fiewm+
x+dNughR1wMb6ZTQDD2zUuMtSPYWu+cqPG97irJ9ah10AWb2IeGq3MzYOJefz1orIvmrzuy5RT01
9LTF4yoenP6+H2z7zKcLyaw0qGWchIvTDMZlYeq7gX1emiwLuWxQDKhnVzw5Rqtmqi9SjKnPmxEh
ka0nHw9EhydnEmauofZtXOSBz3u2sDMR65xSaTnXkgFcLjrm+aYbsxXa1C+Wt6i9UOKpnCJKxdbp
HBzmcCXoUR8785cLh2bYpCb6QMjHF+11NO2z/ry0RxZTWJXOTD93oQen7LpMU+zSziosQdU/jFNy
bc+j7bT84tRVMMM564C3Rdh9rg8dzk012YM9XppK+wZDue05qwNG/OEvdmCb2CHWeJ4GsyUbMHmO
Vjgtx5cGMJrDJ6eTJg+jznEDUSx+F2rNh7zLk7NiEzTww4ePWY0738gnLFL9fW3flJV/VvigaSc8
GeZ+W2Nh4unTQ9B5+ev0jf7nror0xOFzlVSXYJ6xDUFHfYf94s6zdl7qaouEqNYxg7bNWHZj6eOq
Bchhow34Yp23RIRtmAVp0sjjsqgLqfZmNAu2dieddYQht3M4LRoghKmoch4e5OUjLlHKdWjM0pqi
3S8WoSjFmTpm3ccOj++q2YbEP+7bQNLO++2iVFWJhwFgTfJXI6mrT7NfdOZOszpjPG8HiWwwZA4S
KcZWxqvT+H4RkcaS4qwsE+nfw2lH5ypM+4b9k2XKRZhOuAIi2nzeghHFmYvK7K16WDZntrf06XYa
y7OOGxhPhz97wqcmgiVMtMrtiwQd9r2M3/JZ9QcAQocPT7IkbkyNKDu1KoZhVjBPjWvF3XjuYlQP
B6hlsERGyAC1pM9vsJr9EVeq/u6sXSoyfnB4LWGfY0arKw9IBkA7O6/XbYvUsg4F6gEVaZLv0NmE
Gk4MppPJ560VSzgxraqIJMw3Qy8dYHFGN7MUnZXVv6DKAxRtKWUSthK7uUttSdmZGDRtz5ptURbC
mmZF9fPO8nqn7a87zK6uK/o956URIvoU2mmQZGiA7aK4DrZ1r+eXE+rfZz5dODvxMIs5ilpzB0U5
2zt1C56pDaYzp13YopZVtqPSRkRCf8CN1AowjDLjNQzkL+K5Je5RyZ6nwanNXeI03UUdzMpu5Jp/
XkAXnRdk1K+cOq/Mnd2V2VvHCOZtCtzxzHkXztEc3iRm8YG5C5Nedg24cnspVNaW+xK5/wXs/Wd+
IQKAcg46RMljc5fFRfzdmsf5Dvu/GbXiKt4pZWSeF4JFOBCm8mgYouG6s/xaecPpLSPy8v/ZO5Ml
SZGsS79KS+81hUlR2AKGDW4+mIePsUEyJgWUSUEHYPn/u36AfpHetkg/TL1IH6uqzi63ysyQtFUv
WjIWkRFhOAY6XL333PPx4rp5dWlI3y+lN9ulx7eIQ/BLA+nvRQOzsKtmbXgR7DqIGeW8DmGu9KxP
lMh5B//x+aqiwb95BVWI+dCjD/ax1VGY1kZFby3QW1c+94tZC+vNcgazN8y7BapAIkr/wUilrjra
wor649bE2jZWnsLoAXWyB9RAAIroUXJdIBNezFrSEV/Cr+M8NnUEC/tQrreOouTKm7/YV52pCMhC
cHnYFfSA1Udu1kb8OpHav7UFM3dB+FRh0FhZniSZ2yPE3fa6k92leVzjI3NYc7xVUbXVwZ/ovCuc
8MqA41IhBF9GINc41jMazPKJ9p33o+wrdt1suhQJVYZXcuZ4MLPSbVY4rN9pRH3XjZnLBoXYmXwg
5LFattGi8tn2sA8O1/C6XepSKdT66O8obUFzrnW5Bcox2JjIEVelK2EO/nE2ASMf12OAHVbVwssn
46vNBIr9lc/9Yq5WFgl5XRLcO4VZtXJse6NDep1oDR5AH+89FFJONWsxZqjxdgjHonT1FnFdjH1p
agmfznAClQaTqZr0fUk5z1bf7a/bYS91PW3gRxAj2TAfbfcoCQ0Ougv+mtPCbxvsZceHFqByetaE
uaP6b2Ia4r2v6v6689ilrAd9f03prBFIRA14zdwXGj7g5DotLDTKH9+pr2W1inAO86Vzys8ygOl4
zYbqqpIctM8fry6CevSb1g9zV0Vk2xYBO5DFB/L1qk37Ut7TgQQPV4kJW5PUS1pEQBY2bG6vm6qX
Ap8iVAAvdzEFA7V10rZbQmCG6+K6ZebSu8kUwwAeEaZqIFryqYDQNHMHEIevfDQXczViOpiNjyE5
orR9U3fVnDot6NLXPXjv43v1mliBHIzZJCsvTJxWVDmJyuAnI/68Fv5OvHop8YlqcL9a6oW5BpP+
zJWfbgSdzf7sc3pdMHkpqpxZ2a7FgKUM/tXL2+A64yluY1h7/vnz+YNvcCklqmBfjso8vsEY990d
TBW7FEksDH7JhvknP+O8pv/OU7qUFJVDGGHQhBSc2jncx4DkvmEbt1///Bv80dUvZm4HUh+guC7N
w0hX8Bmq2HZS7pWp5cs+tZbVlUdMQPN1jertPAZtHpvwr3Xn/LYc+xd7rMdx49j2aB7xiuEQWLAt
dAHNdfnlS2VRQ4XGARNDpwxIuAkmr9pAzP0zOOofPfeLeUtLh0gVrDRfwtJuujNl3Bcyvm7eXmJJ
gGMow2nFCZxMvN0BhVYA9Dv8rOX3j+794hRbwjkKKNCGwagJayUUhdGORdF1hTCY3n1cc8ABthWv
EfU5qh2+zcMU3lje/TU8zG9j5lJhpKgojDsg6lO+5208YuPdCF/D6yLWS42RgQd0j0pbmNfKLDAd
qdn4feC9d50CMLo05pxZOFq64PqwvfeCJFoZ2xYmIFeuNZdSo5kMousizFfIMdRr5EzVcW1685P1
/rym/M5Kdqk1gtLVVGigw937wvC0QQUujeM+vm/9ys8KMa2JRqmSXzcJLiVIBhWK2mOC5T7KwdkU
jMNdb936uqP+pQoJh7Y16uAFl/MGDjZeHZSpC9LMdWHspRIJfqXh7AwIkhcIEp6xq49o3l+DT1ct
+pcWKBQDZgnQNZ1PAK/coKqo8hWo8OuCwUstEnibo5g5DfMQChk37dB0KFOsQf5fs0v+bQ5fSpJc
FN0bjqUnl60HUn1UBD/GOLoyh3MpSYKDqzUGKOvcmnn+ZMApvw/OjntXPfpLUVLr9Z5gJMKj91z1
YMjipqxt+uvOVpeyJLgZkpLAUyePle2LfRG5/ScYMUfkumF5qUwi6O4aHK+NczrqOCnQAJeTBfHO
dc/mvN/8i2CrloGOgqGP82mq/TtQdZ1jPAn2dt3VL3bcQNCoK8sozqMJDXVEs/iZj4O9Ljf3d5uo
f7n3CQiAyNV+nLNA1vthQSs3H2Zz3WJzKU/qin7VEQnjvDjbM8A6ov0KRE3//bonc7HjLugLiI32
8NxDsrxAEAbiRA3x5uNVl7+UKIWsFHHFljgnwgMDna4NTAnB9l6uS6BdipSoAzvcMurhG4mSzG0v
QJx2nNG/bshfKpWor63yuq7IG+rOW+lY+B/QWmXXPZtzKv9fhk1f0bgHbDrOfaFIoluH7AbVxFc+
efrx6hWcKBp0KxfndHRzY1XpHyBOUddNV+diurYN2sq4GIu8HBAbw2XEv1OdDq7UHDgX87UqQX+P
SlPksnecDfFJ/WvbterLdQ/e+/hoRn9auPY6klcWcsLQ1F5ODeqP1139IkJmc9wXSFiQvIxb9zmE
70I22HL6dt3VL+brOgg4RauW5EW7zBsducXWqr/oM/5/dld2KWBqO/jqTnFT5HwCEo6Mi3hgvvhr
gNT/e/Xo43Nf5l7M5yJb3viNd1u6RD7hiN5cFfIBNPzx6iscNOCOv5Ac8Mf5zZu5OBTMWa9KFIHN
/vHqAasHT+ihyLt19XI71HdV0fZX5YlAXvh48aK1rpx6W+SMwkjcXWZ4k6xledUqBnuhi6ubsBuI
MCQPDB020PzXW+vBXOiaAckuhU1e4cMUfqUkV13D171sBvnJL8LhujUY6JuPd89bhUop90nuMuFD
8GHt4KYgxDlXTSignT5evz6TzWSA+28dFWZIIRevflBVV62T4Hl/vLqgupunEkuNXkZ5Uy5LvQ/4
/LND1fkN/vuhClvFx6tjn/bYElGswotu9h6ah19EaNufnQjPY/v3Ln8xX4cBJ7WltySPSk05HLdm
Z4suN50LWQp4LvUh+2t4qN+WhkutEyRsUdMGsGJfJgaff+57aDDqp+uWhku5U9WHTlPxFUsyPGoP
TsAD2KItzVXhH5xpPr6FCloq0P04306W2uDgAKH43CMxMl4V2P87rDPuFzVHjtwCVVrkgKfaXT1M
V64Ol7InRbygb1k/bXvBm0wvBjy/ta/WH1ctD5fOQ4GmZeWiAX3L4nnMVEmnDHC2+rql7VL1VJcL
CSuvJdtAI7os+8ZuZQ1z5evu/WLyFmVMCuLTYkuXzpQ455Pwe2BGflXCiF1qnxw0HZSTUHwnPOJ0
2dChLB6KEYjtq27/EhZiJtn3RQSbDDYA82M8o49qEPy6UXkpgVqBVqgCxxt3k1YBAbuVDzATKdvr
2pf/zYJP6M5vhY7kzgoKSleEt9rBr+S6gcMu5qw8c8ALweluqOH6Af3AcBK++hmd9Q/W5UsjrF5o
WOJVM9lVcnhdLO2+N8xO79e9Vv/jcjNGprZt1Q574wfNZ+rWw7dBgcv251f/hxXm76z6lyoooR1v
CUCN2JeL8vkNRbaocLdMgbHTHUHo0CRGg89UO/B771lwK6wl0RZedUvx3XrwBkOBrqvHqkxAOx40
3PzJStQtCc5WgymBfxfLWUjK+ovs7AJso+fMCzzrF1gJHsoezJU29dcidvK6Mr74QmZ/QF/YGoTW
fWfnj8wIICu5PoYzWHSHDq767S0rWd0dKI8G/q47LXUFA7JpHj85UupmAJZGqaA+k0oL/oV41uVF
Ihyvr78RS5Rd0znWM38uFrCRYZQZkPKMhlvG4r6Hx/N8bNUMz8R0AlZQwYa+FcXjYGAkcdujbruS
rIZmtH5kUgvXgKrMnZllywCawUszjk25Rc9BN+xBX48oCMSmNX1mHFDX8f1Lvcr9OgYxmgYcUso3
b2j87i7q3VhWqR2DUB372HiyTa2do+hbGwyuvGMllc5bC8Sy52TGbSucvnpY2bAx7bySc3xZFYlF
7w2uKWU2SRAEvqyNQ0uYpUWyroZ0AejBaRNolj0GO2QPoeKI1E5hhg0vbNHf1Uun6GnkdMIVYEUG
Z9ykAbuCLhsO8QC9r6dO1HcwCTTNLsbZZMAXAp98ydXk4ty5RlHVnOq5HayXYYPv1y34j3S6nbTf
yCapCHQGn1YAlFWTKthjcgmEAVCbOwANKHlvfbWACV5BVchAYZvbbu6RA5mptcAPDXbSGfSM/mhT
tOQtvn+z1A0MT+FSt6g1KeaO0XoLV6mGT6lcJ0JRDOlguF+lcGoNhl+NP1n7rCsvKp9lQaUZ4QwA
v5sqBadrhqEBPI79ch/qnoafq8lr6h/KYWStcwjJVw/go5DgY2lYmnoGKQnfyt0ubTE1JKnhYOA6
MEdm+LmbLoZMDnPC9jr64Uy89OukqmWB3kQZ6Y68kVVpWqdjufrrV1AzFvINKMGmzdBFoWRaAnfW
bvzByrm76RZxnmBMKiA60E8ONntWdr2J5xtQGn13zGuHharbkLhUvpNS7ZcFkGJR1drvHvIN+jFq
+VJNmepVEaZC8/dwHnsGjqSKZOKMDob5KFmlvroTntE3WU/ewPHwWnc5dE7XsiOa2CfvMZKod7oJ
zo3NqQ3D6mBd4TzEXtwE33prepHC4mv96q1TnfnBwmD74/L1KRCu5d84yEPBlrO4ZGvC/bmUxe3c
9EocrRJLYHU6B0Us+JuGMX4vboO1jL3qAMeZuQKyXMRj+TphdQj6zVjPrCozrwhtf2hqvhiZQQrJ
a5kFzRLa15A40/p9JqMZnkPQMlmdAMTsrUAK+4FaT6VbYDvOGuwMbpc2Fubka4LVg8wy6R2UGYfc
oI4/ejvmGDhcbdHqGE5F0sJ1SP5Ac9gAQhWHawrMWxcF85QoUcESeSZhACjJdxi6Qb2QzwjmmjiF
g5AARnPqYs3jZCWBdPDYF1hcvVEspfEjOF82fPcXoriXxKYdA9ybNTb40SiAv05VOUUS8Km2d9sk
mINB3xUObH9/tdzUDazaFuB/tk1BzQgHKjnAKSpxdNlWbg6ADoNMQMBwVnhHYVzHuEkTdNI32RgV
PnQEwH1O7tus7eJsQE0Pgx+a4BDW7Keex32TM4FEfw5L4Gm8AylTg/EuqtmsOUUhhH0q4czgfMFr
1bZIojmiVZtga7DxA/z7YL27MT00KfgM62b7pfb7kWM017Pjjgnh3ezprZCDIhKuP0PI78PSJzLz
FF2dvVMFCvsFC03EEyJt8W0RjSlPgjVW3/eFpN4Wz4YHX5soaF10GMIUkz9jo9e1SJpItByEqant
7D6SwSpn6Nkj6/AE9SHUwFMVmM6zKdON5s9B7PYKLGZvsm9TY4OOpJJWpbCbRs1S2XSws2NOWmKd
uZ3qsjmb5ziVm8K92BEZb9Y4apOp790TKwOlk65ZKq9OhsDOzSspdLj2J8T2dbNkI43DerhZ2LCy
jXWnYb5BpY9QJ/G8btJbyLXdAOwa5MaaCDTqfmm/0GYGhDXp4tIiOVnKMRjqRJdw7RFwZ+Dlfc30
iCW7KObgV5iPNV2braZWIGei92YcwqTzcI3XKWLxdN8KGPJ329KpSxFtO9eMkbNxQXWqbry+c6bl
3kZGeF0aTwuwiLf+uuJdJdJVgBUjebk4hZMBmdnWbdaFeLldKofz4TpRq0+G06CiCdMOnZmLJzer
RZKvS9RIeRfdN9Ly94L0FCHBPCpv/u7iu69wIPe92nwLrI0hSpsnt7NJQ+ZO7UAFsX7KiVNYCQKo
stGjo11IV3k8VSZOaLPgSP+jKlazyBw4rjV+xgrowC4YQJmY5KB+ah1ux3AwAhCKDgacXxa5DuMN
AKaLc6glW+1T16yTuQ2cpVdOqqSoqI/YYsUiABN6zMe1fJ7thAGSepNi7pj61IdrJgirXju/YFWv
yWfNFubxpPZa6BR4Hfvl9zpuuvFpjLTf823Q+2XkprIJZXykjox4mGrdC3BbKnfoq93SzZUTZ7Fx
u8EkcABm4tESZrAkB4EMugc/tKHeF/GswtMK1pDh8Cyp6FqnnlK8m1Jgz0yUEJf7UHkgJNU2FSXv
0VYEoqHffIrB5OhE0tOSqs9ktoZ/H+oimAbIgVurl8SgGl+/x2KAUwzMjpvaf3VNXPtlIsceB5ik
iPRK+mQu4fPkbqa1GwTm24KAkCamCZb6hoZmDB9RnPXjT9VKJWgxBjbcEknYUFYd0l9RiOuFKxfD
IQoKWr80q6bdV+ZVg7ckQefPsDJv4tENv1aUYxtIvCpsqle+8GLk6PUliH2SeaDFGTdT1gW83X2o
yl9gDls5IqmMUwIwJ0OlMLSKpWJ8SyvEsV5awbazxjpoKHHR1wEPGI0IasSxOKnaZij2ZaknPEGx
zO4RMUcQvfgN1sZ8WN2z1Rc42pN4W+CeLfJZenYUSTC1fvHernE/nXArFItcoZt2urFOP3kPYRtE
JImhzHMT1na6T0kslNukNbz3ise+COZx785N4+VrgPeDgNv08bNi5Tyi5XHiy3uxslHoZCmJ36rE
LZ0+uCUr5sTJWWqIz5JBxqsArhnMtDP1tW4UkG1y6XkNn//ZdG2HkCSoArHx44mz75OAg9kAG28a
49+3NQqsO9pil3pdl4Kxw1xHPX3jLtaTr2uPB3YSo6Lmvuxb39zNELaUB0ihGNrtcHy20UGdWcs/
3GHtQB6GcynVgEW6Zb8rjF/rNzHAduOTD1Fi+Wgs8TXIz2hUXl5ENQm5Qz22tG4Cd2rWv4wOaqbf
1jZyO3fjj2YObeKhSGifRCw9BPSG24HuF1nbiu1aXjdoPK1KotvELQZNv7ta1BT7q+Dti8UigueD
jFxF8QxmUuAtYD5LeTOvbbP+6kC8d1pw1KJHpsmI9malnYe512g6Afmlip+rqqpNm+KENNJbImIh
3j24S9X3AkkILx9rzMNf+SQxJ1NBi5iiK8uNffRQusF3U/QkPi1wCJhxeLLEobvOgVHPHkXoSD31
jafKL0s8Rvj6WOrFcs9s17SYbc2iultOllonHi9t9+bPCCOTYQCaaV8PfJDH0Slnf2t0JcQTpUPZ
isQIeNfvmiHoJVaByX/RUGMN97owRmynWhEiE+N0EXkqB8m976JRVm+x88kZPHFvcRNsiwyj0q29
KXOUqZ3jGOgifumGrgmwZkcUoKJKR8Pz3AXIR+Ipr5gE08oUmgp0iJDsRCarkHrWoujqjQEQW2Qm
Moo9Ej7N3mE0PGC7erVNg1aEOW7u/GYVK0/aFavP0xwvM037btQ9dhteAO8T1pO+cRxbho/w2muN
ADqZNYpvIjfSAWjNEZ3yejYCK6EN4LaWByv8l7fD1EZs4wyT4dOZZRnYDYwayu6I4JOZA4u4G27a
SXOe1z5m6KFdu7DY0GCtcdhllSuPhRHO2YxU95W4qdrANtCCuOCh7p1F6SjzcN5t7gzEV9Nelytq
rGHZ9C1PNO4w3LGOV+HdTNGJeGwdlEQyGpJ6wM2i/YsBqxitzk0xhqL/ykPg1t40c6V77zaIonGA
Q4tSeM+HSYybcVKjOYbWC4d9UEiFNd8FFguE0tGdj+gghQNFEtYqiD+LvhrmPKpW0z0JzGLYOoBG
J7ejj0PNfWimYEBoFdWsNMgYeXF724jOW+9MiAfdNakms+PVe7rwgKwZ5HxVB0oIWVgM100vJD9j
H/1RBuUiK09beeZsB3w/Y0eEe0sL8G3Som78+c/THH90/YvUnvQKzCszguY8O/IG5XXnDhzJ6xoA
2GWTlNcqzRAnrXval8AoTa58WqKhOF1175dNUoyuo+z83u4lUI0Hr2zq13PE/JNC198VWb+T/7ns
kuLWHfmyVGLf9E051JsgXOGp6AZjsafQIqF1DYaLPFOhRzDslxY6RgcW3d+rWOCsVfec3lUYSAoJ
U4Re65wGQwx8DQnGxcdGFKH9MAt0G+EfgHbBi60n+3hIajF4LGkaaFxvScy66cBN5ZYY1hNqYs66
ND9zcv2DssaleTPE0ovi9Wz3AGBIm5sxVvNuKlz7o3eUKzIBE5Wf1YL/YJyFF3nGWQqfmGmZ9ga+
d+QAClRMaOZXrtNncb8iDZPQYg1ohmwCiXRaAoCxJJDIuYQiJbY6AEjC637auFSRMZ+bYhp3cet7
9Biagoh06NAxpzeBEiTWSAiMTTfdVV4TIiBTatAgHBR8mobxHoJBq+9gEVDi8DCVkTyc9WVAYLJC
4FS9qWpQLeimmfuaZd5YLhYrJtYdbytC7s1bw0fXPoEShNpG0oSmLeekAC3BETjN4vy+bIHxdpGI
kSufytQpFtlnnoXr0KblBN71hyACifCujUIOPzBhJ9tV2d+nxP+3sv8XK/uzGPlPrOz/87//7T//
59/+439dmNifP/UPE/vY+wWI8vAMKT9TFP5uVP8PD/so+gURNk49CPhBMAfW5L/+l39a2HvRL9DE
QpALLLwbU2B+fnOw98JfcEA+/wfOZBjAwf6vGNgDToT89eW6E/n+ZRGcFx3iXUW9HbZBe4DNapDB
+k4gMCey3cGzczx4aCP8NnblABoVRbNPgmxLuCSV37rqucLR/gVh1GsJ+h9i9niAGAin9EnkDMO9
TmvKypPqWtOkccuMbRKYmZ0iAYp5VjpN/D67Q/kZpfHwMSLAiDAcrdzYQaYQ+cAk6Ifo02onisSj
Sxg/tmNND5OZ+SMfGEJmB3GZm3REI9irHRUlvKsClkE5NBzQS8VfZOQVy87vaKgRDSGhhaSxHIFL
GpbHcKRL9UC8rvKQcpQN0iAji4cNWZe6S6cQCSXw5LHZp1UQYetGXuNEB7E+BF1vD37cTDt4J46p
EyCpCi+XDvKKuflsEHQdwBSPj5iI1S5EQidtBkvSElF5n7rAfoEUMHX5MkiTSrjDbwVi89upbOcb
fvY4U663hYt5cOKMlreStXAtcZWHKMb3V71FC5q3sxbszU4MGda2F6SrOTKac5EKuLvtFno+0Ddh
Fb43Fel3gvPgOLNZ3rSynU6K0U9S2mGHzmidBtpZt3G4jOkYYTVDMu22C/35Kzy0gqTxluUuEFhH
EN8tm0aQ4GmIWHePg6RdkdGGIZgfkhjNn0a+wiiQHmRTIwB1LaxHl57wETEy6/atCOanvjXufdRx
7xmEDRQkVs1Q0BbrCYUtKpIQQKRNQLDhZYtTT4+wV/AS4xpkkOSE41wG4u669QmOVjNpAowfhBGy
VruWcJ4SOTj7oUYKtTciuCnhlPvK/NDPTOC8Eu6Ym8UVwa1tDX8tjAbvY1XYAoWRfjoOckm5Glhq
4BWxQ0Oxn8yijNKyDV/rvgqT2KILhyF1UWNQxixI5MxQniTGWhi7tYSJhFDr86SQUWGzHpmYBrDz
Pvimyg7JDwt60p7YHj0N2I3hAICyGppyg+W2gMvaja9F0CSr1uOUIEXYTlklrePteDPPXcLrVj9Y
JL0fcYDvhnylboH7LRo3SNdS+vd6mfm44XDe6veq8VgEZ9bar1AgXOxNV7buLWd2fYHShUV3fdMa
kJ45d4/NSJ2nKg7Juq26CIA0ha0toaDNuo9jTCXItQvI2SonsnZVSibjEXwSjKAQPGyRtCXtD3aY
57zjyG1noDeRk8fZmHmex2AU8vdpZ6VzuxCqXtF3O9xW3oQDuFh6LVNsXdGWRaHantUr7W5Y4dTo
2qC+JdqWqCjY7qYxThBnPYEaOwnwipKoC2SZtyu6jW23lOjzVCV5Bk8cYBqjR5VY5TwGtPewKEnN
kxIHI2TeutjuQayie78Y3B+QRxYnxOLtiIqR8p4geFE2sY3y4NeF9mO2KShB2QPuAeM9KpdwluoL
F675IcR3YkvgP/pVE9bsw2jFm5uAC3sAgGc56KZeDZgd5+TmPE2gMoKo09/j+ElOPfBEOYGFikho
ySfoanS/H8I2pImuLWkT5EuZk0QxAiWsw9z9rKK6V6mMbXdYFrtC5xCNTaIqFM5g4hYFDxhcy9GT
TBaJ6lfI7kU44lDpjHWcSewuXdJUptxNpipv/N73HmAjizEH87ombTpULXCUMt4RCgTHTVG6qjfd
EEUWNuctA/fGFkEyWdHc0cJF8cHIpU2b1g33U7wEWctpvwG6lPLEk7o94VinVBI7iuxdghAvqbuo
ukEiejoCsji+SjWbBfPRGFSXiuUR+ZhnVrHqE8xN5vcBDvFfojOoKcGz93ammO33vx6qYJXBr0t8
zgcAz/Z7f2bUTJf/6P9Fxs65BfzPIhNAdv7b3/7jf3xg65w/84+4hP0SQDMAHlZEQxh8uz4EfP+I
S/A3TgwkGEUnET1z+aBz+mdcEvgIWVw4rTE39vzIOytA/knWOf8VWGJg6jAgcRhwbX8lLgGz/UNc
gio0AE1+AEiT7yF08i5bG1jp0KUwC7Jn3glNDTzTNyeaLemal2mdmd0t3GU0om7+KUqdA/q6snZb
bdn9uuRrPaV2SW5euPHStk+3/lZtzJgsb+jtOOi8bLM6t2/Ljh7MRh0s2BLhAUJ1mK5Ody/TBoDM
XbtjmwitGkcIyRKo69pw57UvzrJDtXwAdRvo3LVL2ltDHwckuHFjSzrnBraQmzkvUJn6jAgiPWnc
xUmnxSbOmi0Km5tyW2VI+96UJyC1wuWob1BY1MkLSLhH5847NXt4+B6Qwc29w3AMtwgHMvp+Q7IG
FyGZ8xrsxgOQaV+qvNjo3YtNCQjIfnL+CUUSsPtzLuNYIGW2gfWA82jevVud6uRUpDjV3GPlpsnL
4fTyEie3N+f/WdLxiDrT5vOZ0MuS8TgesfYdzntYctMCFfqWPz3x5MucDUeV6U372OMPxYtE5YMh
VmLJjbP1GqALsurcY5TolzLHSYPh2iz5XCVPeFZJvVeZwp/NGfsKznYSptipvozvfiYesW0n3REi
/js08qfVs+t1j1WYVtsaS4rmNmNdmfgn+XXdYpvfqZsAa12Q9EBf4ofgc0d6qh54OmynnU7ce4VV
mE+bst149xW++3TArzC6t+xhfDsDqqOsOvI9xsHLvFkSmoWfm4PsEn/I3SabMsbSzj7IrGkeqioh
UypOwxe44vdBor8P965Ig+80lye91dsmU1/DIUPYc9NVeG0+3X/Gtk1J6spswbtGynz9bm5xuhRb
P6mnLaADr92A5F/iPPv4NnhwtwDkeZvxM9IvTSbK/Zz05f6hK/fv47wvf2hYkekkDJI65xt14+z9
zD+O78tni05eL5maZISYQO5KCC4MMgU8c6HLcjJ2nJyNMa8rT2lzF59QRsiGbfQ63JZH79b/NB7t
Vj+H7IF8ib/0q5M54FugkOOkPn7jHMRdmZF71P/Tmtxau3HSURx7AT1AjgSnE6X4/QiYxwz4y9Ye
2b6bs5WmLkyx4mzpNp576yMVFyYIovSPrko8xLJxYmk+POlfzx7yR3UPCMPY7y12T5315Q69aYfy
od7XRySu9Y/ihEtmX1Y8rYeH4wH3L1PnkwRivM76GQXlpHxDDWR46gwC5LSS6fQj/BzetjflNkZP
Tt7IlGz8g8gJBthYQQCxoV8nfBq0ym0G298zsrnoc37q10SZJLRoV0nmN4w6SZPq1X0QU0rfM4JC
4Cfna53/b+7OY0mPZMnOr0LjPmGRIlIsuJjM/FVpAaAK2KRVoYHUWkbuOPd5aHyoeRF+P/peEvWj
psqwHLa1gLWhkCrCw/34Ocf9wYeFsBv31uVkBlNou4H8xoN5fsWA2XF7o/aG5wdxfi74LoaPmf0U
xlfmdfRJ2zI+mR0szE/qIcnDXvj9M/cVgSoEzaMkbpCFPka32U18vvxlu5v2u/bM7OWoDozW780t
DjpyV8UPbRwY6qNhhvpeXVZbK9gq5utOqT8c1vC62crzZ83vL9k26Xn2V35ln2nwR5+qUPfz7xGs
IMZ0Be6X4rnU/G5vfLmJL70nMw06v8pujDvzBrTdzA6T8WVVB1xub81L44t70ZBhcUTPo/9NHPT1
0r3eMBN95z5GvnZZXkxMvm6ejZuDebdzAv0q+WFeuTe4Um3oOJxdtYdsX2/pJ4n4zskPjR9Zn62O
B+qumt5P9nlIWN48PSX7rAu8g/Dvk319c5ZtzOBh0zAo/EqFG3mLcfA3IzTCOOj/Mi74lS9C67F6
+mISzCEuMURlO2zGcN4mT7BVfJf/owfLZtkUexmsm/niytjqwRVjbj73SWhdr2c8Ap2qoDzUF2M4
bNzr+iD4LQ0/2/hTYIdO7Hv8Hm9X2D4J0dkcckP8/XChB4Vf1BDPfM88WFWQX9pfclDhs+GHlD6/
LH58cXY/7+Jq+IwCrT8vdo1ffHY2UKYwm2ZMcH/RXszbkYIHA11/+pExjDqsYCd1/hqore23I/8Z
NuWBX154u4mSU3JUDWeAVtE1lBXyQn03qu0Y8jO2L3eF3GpFuLrBwvIUl9a3mInhDbr2TXwjd1+0
S51n8KijfEWWvGNVhs5O3zAp0Hz6RAv/7D7Y/9AO1Rga5/a5u/10Va2+BHqmvHiSQX7oODedSx1Y
KVA3TMUJx20btqG5O/4zbLRbpwm0r5yx3L6zKw0//lg95WXQe7v+gptyH0lPr+YL4Ve2v85+cum1
X1UUaH9NVugMIUVtal1Hm1svlDPHV7FT6TVDoKyGc05+wcsr1BofTk/vbhttb057L9RpGFv1me39
08jjj2Cu/79yRwdwSWeqswXPAPhJF0cu+3+eS/7bs/qe/ppHvvrzf+eVR5n333mk4XxwSd7QEAhK
PoES/v/mkbr4oNv85SFwpoISR8+ef+aR3gcT1v9xrqnh2TD6IET+wYDGE3jLMU1AI3gxkk4nsyLJ
TEkzf1F9IY6NZq0ZvtLRb7AWmGj5QyvsYoFZ25I7js6SsaEKJn0U+Z2pujOz1a0iDfKy6dy7Ppcx
ptZ0P4um+woY29WRP6d554QdBZuKw1YklvPtz4uV6+Z7dT90378PTP/8L1GOvLmE/uMflCP/6z/+
8Y/fKhJ+7O+Vo+kfhBA2M3otwzbsI+z5r6Wk6c4HvqJJRWJJ2rWuBb76z5rElB881N6YKf8cEXpE
Uf+5lAzxAb9tFp6w3GOtQs/lD5YSmO2LkkQ6LEgqJWnaDMN1pDxVV7qrF2uVip+6kW7cealyo7xq
rEzlONmMbXvAJCOzUvimMEbDYYGYIpkia3u9Bp/WzWAE7IrUqGwRjGZcjepmXoauiS5yQ9B2C0SH
dZBvibL7US5qzRdQvpjedDab8Arh15q1FR3YznQs/dKs8KPxbeCx9iE28po+ZRhheArtvzXSJY8D
ZueKpacxCu41uh8tLa4tjhgvEUN16VmLMUzbcZXFeN8l2VjcoNIb5SOj0gtj09SLWd9AaYloZbqG
8J7S0iuzMxymHQV8MC72hsq9doLcifNim5b4557FRq8d5zwPot0ge+9+RInWd7vRMqbuXpqd19x5
4yyGa5CP4ovW1ppzcGZIbXtRTrRoKnoVT8yMAR+KMJYvIPtVmeM7sbvQB1ujjnbz3BmhBVWtD2Vf
tVtXKxRVwOhW07Yi6tXXzlTD7cunJkObbalc2w9daRa3dWZWXQBYOdphAomi2aWylfue8c0eLLSW
OdtJPNqTn4N1MunclfljD6P30oRWGgc00pcfjR314zeLhkp11UTw5871tI8/ar1p10HumtE3XZh9
tjOXtJk/NVKkXuQ3caZ6BhkKd02fSpGY1plZdoX7vUW7nD16i7V2104DjepcTPxJm7GvvXqTTM5k
npWqtfDrLxp3a7nd8lzS4KEKYNgqs7RNS9xB4cLb39Jh9jCpfTCiTbpWDp2qGAdDxsvbyUJerB9t
SUxXfpVVWt2vZR+bYbfE08eBrcZ06mxyMz/vYufGMeCa0H+0e3JKDL5AUd2soMqqa+PHZLjDEEB3
mu5Ts6Y6WhnsJ2A2ie66cxiUx7E9VjOTFR0Q3abd2hVNzSDKTVqS0KJhu1WpcmEypoV3Nhit6qCF
gwtu+r4t1kvs0Y+m14LN7KtF0+UmSSsvv8pGvcm3k16oT80oKGCcMsrOSkZCrgBubhpfO31qxGHs
VmnvD42tfy3csSW1EPr6Q0yNa+5Eb7FhRKuZNmOsTcMK1SCKO6jSunuAVC8lmZXBlxaxpeKdbaXd
Ni3STIYpSpc7JAWQZmkCeiQzaafVWwa5rxwithOtvhryCMKnt5D1yx7Oxa6Wq4uGQjaOthsbVbv7
EfTxS9oJGGVaUXvWGhjwpsxD3zlOGUojn/hshhctfTiCNkck6ZPWMXisSDAAWKw2PczwxbqtRePg
U2tBM9hhu5HfJkndaKG7Lm0LXRIpvG+NdokSwLGrOCwB01K/KAvtojDMWPmu24KDwKxzskCvgI79
3FU9ueLSrIvf1o7+kXAb31s47tJzdMfO3RhRNFsf84IW5i4d5VxcpRr01jCO8hJz9TkajcAodQH5
Q0tk8jhNy6TzAE0ODrFquRuuS6k/8ZbnGVKPbd1S3IvFn2dD0+69diKBixZtM+KJ8qTPbQ21Yi4t
mxdetnmYuVbOAF0mDVabODUWcztVJgOS57FKcx8eab4C/vZL1e1T2Mr9NnUgdm2NoS0c2IN02YwQ
IpPRfDXKujoXlmWZNwZ89nrb66o8crOGygPZ19KntZPytpwcIrmx2KOzA1ydTd/K4vaH01ugk0T5
5qEcZypdV09bd5dCutQv8qGqBt+cdT3ejWj8H0GQ649W3PO2wHib5cJy9HXd2M40OUE5VW627aDW
s+BL4XhBOmUxEzo8VLXJ1Tw1lnGZFZqjKOUa2/g8No7z5Fp9Pj70miMHLH/LtgmjJcnzexktnul3
mjDT/QxPQR6sxV6mrYylVl/B4hf3uWO2DDutMjs7gxsrxDZ1HeN5SkxAXC+fnXoDyTg3rwVejXw7
renrEMpySZHEtDCDsIQWNxTjoFTQt/lifW/hHZcUhKW+Tl0wQfRawFOYztMoXyR5qwDGrTFzgqjs
0zE/jnSn/QU7VTkAF/AVaqqeDonLdOYWTpycW/mapkOAfd7gXMis1LpnN46j2MTEAF0HQaHoIKFq
soybvwxkernPvPja+gZtR3zq3U5lgFdyyqIlQCQYEVgmhr0610xXUda+nosSq/G8HUQ4ZxboOIKL
Pg45+fIKD9ljs2WSrgNwU8EnHUKrm0aam8XRfpoJnTBjVWDA4r4rbXccAhwK13yzLIuuwyhY5HqV
9TQCD1aW6gpgxxpjlCicZwGJqnFruakzL35emm18EFAQ9J3UE+PI2sx6eWGabjLu1jh288e8nlZ4
y/DpUzDMwqsBY318KN2+CbysTIbvKZS0+rzPj9PON3XULEW1BTx3hyd3RbZBP5QdRsU/HTuYft8q
o/oMQ28xEYasrp1YJLVm3hyKjEKBKaGRmqNl4w1DAqSwIErZyCQpp3N4mb171mtqtneWUaZ8uDXp
hKUwU1nGZWNxyjFihwDhWhvTFgY0sVrozZiHqSdG6ljH1BfQnGWE4byDYb1Qc+Kti1acpRsTmwzl
Ocklpoaa/bUdpOovJ1004/VcdbPd+qaWRt1DY5gNgJHuGsalMXaafZ5o2ZDfuENeV6HXzo5Dh7mr
1+mmsStNfWwjCIxfhjoXKx26rmWAHnmRSg9wqWmsEsTLrruTkWMDP1RObP6oac1F50U/a9XGkl0R
fYFEWLfMO3Sdj1RR3iUvzlnD1bGq58YZo5YmXLtk09dZ9gUIUBLF6txr4O+fpWQD+UdFT3F6yqeh
RH01RM0eh6diulhstvEB/cCcIlSxrfmGamOSwUSSa+/zsa6ScxWbVnkWae5c7R3M94fHkpXOKhRp
3D0sZSbvu3KsvtgG7IFPNh3qIqhc1Vm7ZkWKsI9zqaZgZqw52IRtFCI0prkbD7o7p9rHgjmi893s
1TQw2b9M0N0zGswEfhgwyd5UQzvfJYKgv/nzyuYy/YYPUf1jOK1qXnRi/svVP8fy9j8vof/j3//3
sf75d6qg/8m/fy2mqb7/VQLp3gfLcqh96M1g7WYcyVJ/F9O6+YESh86LTdmgWz/7Jf9qytgfJPQR
2zEdYQt+SUX1r6aMQS/H1JHZQy8Ruv5nxfTL+seh/tJh/rqObTosduNUNS6K1lu0Kk2CpIHhToKY
hWT8U/jLe7n5m3ry36qxvKmR4PT/47//dCr8f4yUvy+D6AdOCggBLWAKul9L9gJV4wQZOw6gfY53
ttGLz60tNAEi1HZ3EZTgTwTi+XyUdQN+NFRg7BNzDzukJ4vSghSxwEOC6QiHQ4XPsK+rzq599oB2
Liu7/Jjkqijxv7SZNeGZQl550J6Bo6sCmLQel6zemAau03DZdTRxka7fzySCn6c8X8admh0GUuF+
AakeSb7wrViKEBJ2dt7meq4F7G33+ki6H99RFr+k6vx8MbB+POpfQcELq+jli1FRXskCQnCwRmvQ
Vd4VtG+ytE+xfHr7E7BgfuEE/X6hky+wklHo0CizoI3HB9XUVy0KGNss4UKYGx18212Ws6F7z0rk
pVkda8rypH4kNwEJGXQfT70n0nSczEpEfq/KKoB7P28gldcb3CajrTWVjW/I4T0/7Z+GTr8st59X
NSwJFGaQMnqnZsCtsNG8zXiArOboBSg/Gfpb0NlC+WrctHmJHrJ37Hw7wzBF8jPUO0rbJizYLO8p
049g1ItbkaQBbH2DFivmFUdQ7teVj0hKznG5oN+xa9jd05jIS0krf4FztbSmn9aC/rnqLe+KtGhe
QqsvysuWGoV4PxVeiZHjKC50ibOjb0adekixObmz2ny81cbaU2dNp8MZnPIYGAsZtqZ2VjaqZtt2
NqLHbFXmZc//v5RGk547SWTfLJo5zcANmY3gAd3V8zHaiK0odZS3JvQjtenqTN01MWKZwNZl2QeO
VMu2riVzN52pEKQVss++tioX7TvB4rgST9+YDacOxFBCl3OPXeRf4D1pMzeG4diaXzbuCGBvt58V
/OjnZjHUO7vvp1/c6bWAfVxX92iOe+LkWuUAJ558DO8oG9FI4w3MHXCR41+gtUpvsoF5gLhGarRE
DXGl5dBoy6LtbmVWr/tuqqFzazOzcKWZ1GcKmsamNrMsXHJryN5Tk7/yVlxOC9c6oq+Gcwwkv7wV
18kXWDZ9HKhKm3dl5uVT0GMuHhIwm7vCaub3PMBfezk06yEOAAbZun7qazEmEKkGhdVkyx67k4Xj
fo+Mspq+qqaLaZRnR10nWGmxRzfsCZ/CgW6IWSF7HAoqkGDSInVo1zQv4fbkuaRPWE6fUscYqyBJ
J3ixb8e4k8PM0GEXeC4aP2GjQtdPZwGsahrQW/E12Rx3rdnTGUdxz2Z/+zK/xTRAPgaQu6aU2HIh
x3z5KRSKXLtYXaKLxWwmJmEMG08Z9y1CtZvC6GM4csvwTvj+OebyZKWyJ1xCmmMdeRQn31/GjqkZ
I5mdEEoHBEEBmO2k18oaUHBsvkCBBLmYe5Je37GWYtr1aPc4U2wz+/j287/ymo+kMepXHdhUipNb
sdS0klTUGgKLegqWsWy2Sbqm27ev8nOa6ukTQz8BNCZLQZ10EjlLWVjSlQ3sshUlBq539SbPGY9w
nKAEQS+NLevrhAb0EBkgtgAeS0kULJNvTY0zew2XFR2nGy0+gzKNPzLn5FhjCWAWdGTa0IqA33iy
BPBYMBMTzznGQuLJNwrtQIoT//lVbCByG3ic/JDD7OVVmhhIqvU6jbpPH26YQY4EmJrp4e0XTWZ6
Gm/Z3QDhwOqwj0+3ueMOtr4uvGfdTMqtZvf5rh30cg+OtV4tdh7vTQsoaC2d6PD2lU9ykuNbJO+k
PeBCTjKJ9S+fj9JtwguQhWRlvUu/tj56IrHetNvMUl6oDUt9KWxbe3TUkSA7g7revn0HPy03TxaZ
DTAohbR1Ntcp/t/HrRgt93jYzClkA60qwg4zWj/N7ewO2mKxp0OOL9FoTgfLabrzPNPHfa7bkBgK
ZzjTi5mTNabNiTAXksrbt3fcSad3xwIjhaB35uin3vqjXgO9pi50WKfTr3PbHm/jnjQC9GCdLtxC
b95zSHptMXAOHgMbqdtvx8yCSNasTD0OiLOlD794PbdmrX6uYq8IdN2Eymo65iXYonp8+1lfiapY
FZBp0LrUDcLLy8XgxaMoZW3GAR0TUrHOZEE28xR6sQXJI++RjjV9G70Ty165KgsQ1r1wSE6lY768
6mLEtAGXkTNOlCk6zjb+Mk9IpzadOUPSkajx0gBVfrl7+2mt4x988mld2pg0xUhTjxXgywt3SweG
ZMP6SNVquWGmsRP2tl21Z3FVR3ITM8NM2wxkYGc4wJgT/YVR+6EGpR2Le2uN9+0kxI/UiLJ4X+Yx
2mdGnhllgM9Y1oDTqPU5Lc3V2Htji8eCjCdcYZzCagusA6J13uqF635E5H+kKywkPXvdGqU69Eap
0CKWaw8TzAR9AZBSPU7rdVruifiegkbj2p8MdzHHwNAM58pNitHb6VENvDUCRo7+4IyV8lEfJo3v
LJhMAP2PErfFcu7f8Qw7bQcfowiFsGm7R4Bf2t7JcWR6WjFKsbKF4TafRzG0pkwvJhh0XZ3sRrpy
QVbmIkynYr5gpEl9jgZSXHleZu0V04gPrsKqJ0tM7woQ0biezJkC853P/crXdgwHhjrDSS3jNJIr
Q8Y9BlhwfERl/5URzgKltdM7UrxX4qnr8Oe7gtfhsKpfrinL6xbF1yfxShpKDfw/S+RDR0MYdxBp
6EZM6wVsM+3QHVxaSLkj3kmoX0kNoB9Q7ukSioA4HS85zPmYKmVDBsw0/RHNK7wsz4jfmSnwWmZK
KSXZs5ZBrDodU0MBVwrqZuCEBqNsi8mHvi5G6XsRIxKUHOHyq5L5MjX2WjtpdOmW/kh6Y/Srd2jS
HHi2VF31OQFZ9DOxisDTE7x/cL7R33khv8dTNrkF6AFOQ3g5dXlVnsjTIedwLSuHM6JiTmPViOyh
qef4alWeflBx9rAMwn7nbP1pmfwywFikqcfEnSsfqSEvF0MlOszhk16D/0VLtDBieV1NHjQohWeX
t2qx76ST/cPWKtPHeq8/y8Aur7p6rENZJRgK/OkO4HaQyXCKHdPzU4dnpavIEGVL0qjJLizruQ9K
ZYzvXOWnvfjpU9tUdKbLS7cIry+fGjudZnbo/OGhYAwbE4lc2HZqSahzJ2NX6tV6M1Pwf1l1ETVB
l80ZRtOlCvsU3f8WT15gYl14sJoyWc7BkiXPhrNC92pTqKK4DbyzZX8vdi3T/ll6Ig0z2Lgv73dm
alk9DMAD81w/W1mNWUQhtCFI5UI3+O1P8PtZZ4HyiWMxZ9gwhU7eTVxataYr3s0aZe71uHZQYrLC
/NQqYX9ilgxphVT289sXfXUdusdgYKEXhzN0DFq/FK59CezWLYJ16CWfHMTVW4GjjukbucAjSOVr
stHKRA80Sqo8yFcL1m7vTkmQL6nnp9Ju3jESfe2VU0EDdgIvsDtOTl50v2i4qKb8pe7FNm5x1vK1
ZoZwO6fLe8NVXluQ0O1d2O7gQATlk21oJja4gMdLN5jhdzfOdCvguC0t2YYnEi/fY/Zi5hD3hDfv
4zRiuHxZVgD/SeEOqNEMCYHYNSx48DYDDB89XAL7oLCTIbv2WiyxtsNalmmgYAXo+7e/3SvBC9oO
EAzgiAGD5+Q8QYiFY+zIvTuTPt9OWQbb01WeXxcTzfDOKi6NaMyCWBrWewP3fj/KiBXAHD8hc17c
yaUzHUN4KCoAM67Zi8AgBfs8ZCXCfKFNqXY7oNe76LJYyu/CnNePtKazLnz78V+pQLkJywSWBbyE
i3SyYRTTTpYGHbE/WlX6ccaSArQlhlC/yE9u3/X7aXUpFQTT6fBtmR4bHFJQfOkq+9TSuUYuyWjC
fdQk4p2c55W3I3U+iMm4bxD80xFzqWpEYcfI5PpYX79gsc7cyb6GnJ1OWr/uZuTi8WZJ2wk7G2Wm
qJKQV356++38ftTTHOUbHXlaNiLOk22ktKj3eieNQa4tqO/6XIV0Ad+rR17ZrLZBdeo6uiSxOI1Z
dL/U4NZEj9nx4sbHOCcJSDPp9Wm1vbxzWL96MfJJEAccpO3fBqWVtjdYWPRRiWIslnaZ+4TY9XE2
Fv3zH7+8YxOPqhcxsLBPLZ9zBw8kPT7urAqbnaQap02Owe474PPPUR4np6GN3AZ5D5QfncLsZex1
UIspazyGOs9O/a5Z58/JCB/pkKZ1/9UujcQ4OLkBtb9AJrHG2Hf5sRb/ZcxoF+kbFk8uwl3NR1P0
o0xjhLHCRn7BH4Y2cqqNNKiVI4r7P3854B0m5SB9ZOimL+8aVFG6ypyQyC9Ib9LBo+8umvfGpv1e
W1ughOCFhqHbIADH9f3LuVSULbBHzFW0Cr1xT0TdQVrSP5l14lyQx/bbt5/qp7rp9GMAmvEZaIHB
Rjk56jF81nqSYc2nDqggEbbag2EkkKtXnMlimFuYJEULnoAiD+Iin8IhX1YcDmfa+3Bu1sOI55Qv
c7fc25izbVsXLYJHeXyoNfPC8rAJusiGvnsn2X5ln9sweg3Wz9Fc6HSQgLHWiLqdSPNx0GkpS7Ep
05RQm7ffzqtXAe1jr9MkNcUxd/nlayRDp42yoLat116edavEzE7v3hsc/doGx/sPQI2RovZvBxqm
WKkFJQL2TR15kOXwWPcbz8zCQi/xrXv7kV67mEsOyvqiw2eftvaWVUL7LJTmYx6UXKRz2h3qHizJ
wv/v8PalXnt7bHHHdAkoHAwn+5yBUO1ctSytVeJWUeldfyhgrL4Dlr2SP9ourRIAaNA6mjMvv1HO
8Hcco4gmE1SsgFS/29brkARVf7f0VZhNafvHq4LeDNvFPXosUOmdrArZp11jjtR5MQWtj+i8ucbE
Y3lnhf/+oaT0IEoiSvxZtJ7EGx0vLBAOTrJpFMVWaA4mo/ivORvdSeLdn34prkVnkqhPHKAUevkO
x0zvEq3jWtIyRdi6qHvjtl/fSdxeyTpB8EwWhH1c7MaRi//rdspVotI6qnCcn3rtW1fYi7/oZXy2
2u28H4+M5j4rujuRx9nVXCbtucwU0+A19HAWgnA/z+w21LvxWz5X3v2S1tWlZazZ517gFfxOWfLK
60cXQFMeo9Jjg+Mk1Sum2oSIzLI6Kr8x5qvprDjDjLrSjIwvb7/+35cwaIFh2BZMcIri0xhsyQhM
RAch6YWD1qSi04f/eRlUZrccj74uvk/deZDvPOIrmeTL6548ozfg/F/XLGQtPlpgdeZT1jTFlltZ
sZQt5cfCNO1dZq3awVGDfe1N+VOZe/h7KgwStpCNID7kc/309uvgnGMhvDyUuDGaGaBndKlp27xc
KKWtaCl7K3IfkbTNba9WDfV9sxbFWReXMrvHdA5xuYG/wA+3Zz8GXRrZWeh0Q9bgnzFVXtDBUbyq
7AaFUpaMLfUBzlv3tPlsC+GcVzi7NI6Nz5nsFI46zoLV8DTFtkZm7MkNs2lrFeABrRs+aUli+vg8
ZVrgujk0Z2apdPnZ5K2rxDFtRTPnuCZKfrmuegYhH7/kAIhLfO9lLe9Gj7oqWOd5vAWkylCOxV31
baphdJ8Po0TVS0PJQn23mLigcZdKBu3M8r44DsRdOWuPjduhxjgWI6BMPZg2TN0NZolOikPDWne8
J6M5BzvEYsLw8EoM8zWfvy1Gy052IZp0/KCHtRBFvB2a2GyQM2H1eAtLZf7eiQJeSb8MrbqQqRj7
TdzlkeOrKcrGjRjREPj4GqoHSbJwF+ljhRE2HM+dCbvzaOFWW00w9KahwllM3i0e3GmxSXCpN4Me
W/0NTDBHBm5DMe1jMLeaeFcY5henray/sDAqjHCRk3UWR1MNBVJO0w76rRYucPMcH4wQNn7cM/TP
j/ph/daaY/NgD6g9s84MZNJEhj/2C6WgQcbqQ9vsvUAvTafcwkHFIc3IusGCWIATt6/rkXs3J/R+
qJeSBo4xo2+nQEuTxNwlXQpNe86Wxx6ixuOiyluzHbNDl9qdvnGjsvve9ob+DT+P+iHytPUGBy2M
kFU2yL/ceVnMIM+drL1q6CjglGqICaGYNtX9WWRSOgalYZc0yON4+KhPozP4hdPrn6uiizn3K4e1
wzgabwnqCPvEyyGd8/PIxrcysFTnovLU03je5+Wsbm090p5EZ2OYm+qu9jBAdv+WNZ21+pUbJ/dm
dex6q6XvVhybZssOLIi3iJOwEQ81HKpuoGzvmNmDpmQe7LXaiDQtH9u2YGpjHmXVhG46HnSflR5D
jpZ2dK/mwjDw0cTUY7btuvDx9R2uJpUWzzlaiqvCcobnHNPqDK2FnjEyhlQQI1ns1cED+/s6yxId
U9E0RfCq1JGcie3nuarrztng4oG2uzHrJtna+iIQsHsiyzY2TJA6qKJIW3zljUmFQUcqknBum+jJ
WlYt8aU3MEE6XiPaNKy/0k/KhuHv2pLjqeKs8l5OWgzXt3JwElXOXMShteBxsctGDGirPoMx0vYY
hK2NGLug1itgEICu5nNRZlUdFm0PtVGjUfk8OrmG/rtKuxHdg+WuAU6glr1b6ARhrTF7VbdZbMzT
zlPB2FC/9fS13GuTzI/7UJkPedfX2G/qyjxXEZ31I1ls+pHrTvVRH6k3/dGQRxbv0B/dfzzHCVcj
mROMOMr0e+3pmBs5Qose4dvXF5VysxmqVOR9FXU1PVq1WxAiVgBvH3Rrxuio1tr86ICqy0B4Y3mt
FWVtBRow5EeB0c/jeIQpxs7WEcZiOeQFajCKJEyGdfgs2tlEgpzI/nrV4Xj60SqNL86URDcpURtT
M7jWdwAC662n4qJi5VlURTj4m2oHRYETOzKVNZ21rpU2fPIOTW6iV9511dfFN4zkkwl29DpvJJPA
GY+eavPt2qXyuZ2K/hoPsw4xkjWJ5xmrf4dlO+cCZLwVGUBo0wRul+Y/sEEWDyoT2MPmzHS8hc2V
Zmxo2dsBuxj9qt24YvXrerWt0KAvcze7JrCivkwL5lFpj/lpsw5daDGr8LIY8U0PpTW183mEw+gS
iiwtPsbmDP0elMuCn4vxLnqoPLsTbps8U7IBokeR5T7BZcofUjUO9wiRlnUvHNNoAAmANqEqT8OD
SKroZ/gpieoEig67H3RczIhnfZha9KNepHoYoEvk97a5Fo8Eb8+9EBalsl80Tf1tsHF122Ncin3n
NKtCQeEqPrlFu5bbiG263NhxKodAwXAzrvWpqvotYxFEBifGxN0pM+NEBdlCF8SHTVJemEPUXbSs
5Ys5xkSdXKDF47XTrbRiy4yVOGD7zAxsKFoOHxci/RN4cNXCtJljfCzzvjwbM6PjJNJsO8y8VL/C
NpqzapBmr+8NZSNYycwov6ZfHXUhTCI4YV5bW4OfgE1mkIcIneGYSudy1HJE/EMrFrqrmjLwGyiN
HudfOkj3ZdtGd/RBMUUd7LxPtok76PXG6czk0+yunbGLYO90GcTwgsc8i/FCIlXp6GcS0soe2A67
YdrmmqaHNatP7THj1K5620uSIB4r+7lF8INNhG6013rD7W/0MUn2ckiA1FxWDLbMOBUPR2Y6nlr4
abd3eaW76ZYwkJJBOBX+DmVrIp2eCif6Bnc+/7xSuP9l4d8k9rUnbNqO9mzcYLRYZ4FljbWx4VhC
Q1TRXUqDyisg1fWD1KCxrIh7duVsuY+Gc3wazebg8OlbODdoAejFMngNP1+tahMD9yAH79Zmwfuv
EVp9HSvLS4N0kQPGGarDfmTUJ+8RbdWYHrK2Wy5dlgBafOxLvaui0suwNIYSp62fhKFeVtb1MtdK
0sTEQdeP4b/hENCI1fbzfMUKFR0gNuixN7SM9LO0/8PdmSRJbqT7/SoyrYVnmIeFNoEIIKfKKtbA
YnEDK1aRmOfJgaXeSgvdQnfQgd5F9PPkU78MRFjAsrWS2tq621hNerjDh2/4DylKHYnk48S9W4xP
Uep4P63Omb9RxUTBCFFc55Pnrtl0KLoMbVmjbcvvxIEF4g6z17OjJ1OdDpo1G98XgYaUnxDnKT5Q
RRVdAUdY2iFTXK7aaPRQd7O9TH+2+9F7D0J/+IgEYvJsr238Pkk0BzsDdCg/64sBNaCEGvCxqzoP
xaQpMxFRn8Ax+vDllt8J+FyUka1cz46ROvNIqFqaT4emFYvqE5r0v8RLoX/LWzXnllqX3Dzmo+08
FziA+R7KT3SzE/U4Nq33V4bf5vdRp6eJtGUC30dp0TvQeDSjg1rFVaAj2zQFhrFod1bWzQO+CQrg
lk5P9cChN91+tHtVZEdr0Kf4I+cDWptAE7f2sahMoVDFivttXvKkeGiyrCoeCxOxo4ObjghxO2XS
gVMp1KI79giI5ve5pZrvxgo3Ab9x2tHyFYII9GxBF3TvrLGNkB9py7w8tVbhGcd2hD4Q6soyIpqF
al3zINws16kDZl0cKJGK7YY3dSagp3FBh0kZxZeiU7JPdap74tTRT0CnoFdMNFniqvuiIptNDLRa
k0agksMVawcvhspiZflyHCcv/woiCkZh5NXqr1bpxJ+tWpT6g+6I5KEW8JiOVt6UwZB7oMAHtsqH
zsmTDtSpm915mjFnD+40zu8qymS0qWCvQYyrDcTX5nVKESIXTjGeert3JASt9UDMpKu4q3KXEM3w
BPt6QbPsCQtDrTw5BaJUT0VteNyB5joSrySKBylz7r2PWunMblATF/+cpiF2glUUceF3GKdUd/qI
ZY9f1W7y1+RkEb+N6ORdUS0qwlb6KgcHyHBMZlf/wXMpfuUwWQKD+AXGqDFb1Eaa8kOjJUl03+hR
901tvOo92Ow8OpXq3IaYbuTgFvSS/mTfaJNAIn+wT92ILwE+MUr/xF0yTL7VqEv51K0YO0BwjLTu
1AyiuXPsOuuP5kwUcFAXS0efpl+cPujsMtePmJdECI85CGkTKcbaeMxKhKhh61TC76jCoR8GlYZr
35yT9Vew8u2zBXLduEvWBYGEAVPf8pd8TvLm5KpFhBSJNrWIKCMCj/EsVFREkIyFv/+/xIhHG/EI
mqe2iKawU0lQXRomTCHouPT6ToXzSquPkobj4ssAdcEyt4ZWeVF4y6TPvAELVFwzG36OCaSiGlm3
Bw2fTdbBtSg4z+offTd2D4k69Q9FI6I/bVskb6/q2DTcHbi+joSEbqpVC8iuqis7jNItPQmxb+z/
hHMT+WllIiK/k0dfy6Kl5gGNEJeJyyz7VfXSQoQOObaBiZOKHRKk749zn/V/VdLsh7a3vpO3X4Gt
WTZ8CpQU0NGimrQpjBktGIbGpIxk2rSJyfRgKa7K6g0HtxA/o6ScP9tWxRWIEO+XXHGb9+3imafR
0hHfitasJMjwUCxCwV2E+YoP2c6KXCu02ODYKecCR9G2oBwgmmpt9w1w5ZhfKaaEhNQTWeOvk6t8
GOAz+TieLDs78LJhCaMf7jo8foalr37+HZyY15ETxahGPT4qAkHCQz4gnpfV3hr0eCOhnmyMq9/W
It+puV2OzeaXOFVkMQzUCzY1WD32otytGLtbs+WhzlHu7Key/9br1XfC4OiDKCkO9IryZooFbEAq
pAYdMpra9AXPJy1SxUPKGlumXpnHB/Kd8sFQI8xBKHomh2opfqMZnu2stH2x44G+gsChNQswVdt6
fiqd5uEG8oIBztBigjH+dVkJfmqsXZ74g2Knbnplx3OxeNwsCOi6knN4PktFTUfRNkAhe6Wug3rI
ilNsRoW/CmJM3jQ70o6OMHkp4RXPJglJS04DlDP56KlthcrmqD5oYgSbhHNJ4s+6SVT81msASDRV
V0rxlKu1LaZvhnGPUryICUIa+zDnFMjV+inJjEBttZ+3x5Jf9bxwx1im3OhAXQAJy5bAqytnVtSi
xJsLCNRU109e7XTKXWYiunsyEsfScQIz46/jKpSY4pGKALzqupW7U5+/JNpQvoH/QQNTA3cP0+b8
V4Cts9DHleiGaBnKh1pfEc/qktT8VGrd/FFpW+13EU1rcax4dqDnGzqBFdwK96eiqF698wGu1Fld
VcKdVNdA1BBw5fnvSQ0XYRhJWZiyTj8hP2BCASLAQIrU/aVMaoraZdKEcd26h6xdl2MxGm3QYuFw
12XZ9G2i/ncamz463v5al8dF/i5aToCgYLRsMdadDpV7GdgZyC4UR7ECaXDSBS4Udit3xdru4Q0v
LyMgrfQZYIwAb6WZer4OgzKpLRuRXnk1u18X2lOHdBgQZhs8mRLEC9F1hkGkVJ3S552vIP/h51uT
GXIR0engSqTRdj64jVeXAfcYaOu8dGHXNrM/kKLt7L0rS8rO4xBAioEqeYGsw05h1STUMDFXZAyA
UH/odIxF+mrt793CXvYYOJd9Cl4UGmAcFBDKPLrn08qpSyiKxZM2tl383ipV91hlleObAyCz29vl
ylAOPTYYnpLDphqbK30q9U7DRCsGBDTCTR767CRAyxzWNhJ7F+vlRcIIbBbiW3rSTOx8WrED12xK
0MgQIikf7bFqUNrFrYdeYuW+S6ZYzAekY/un0lPUu3nV/9KnFFn6LlX9ZqBgPDp1/WB2gCrbUZFS
CFEU2KN00aJEOz8U4F53fvPV5ZHKQfDqePReul+v7j48+sB+xpwmilXZn3SMpketnrUgVdc9s/LL
G4VmNN8arSmuOiSCtp8CflxeuFXi05xWy/fdmCO/M9St+JklXdVDT5uKb5UN+ughExhTQ2hM4Ye3
epIPp27tsJx0S1BgR4OWhf5Lk3ixtxN5vAAizg4cMAkkX1FXIgCFrrX5jcYAWx/ufeKvtAOXr3Eq
Ys2foW94fkG5WiBkgFdzaGtVMoeD0D0kV1S0XI5T7kRHgZmL8AFBoEUMLsYM2gY7iYPTtAgtu0UN
eJzOj/Ico0TTBRNKC/OhNaNUP+gQkpqDGKNqRrjF6N6NJZZDp6GIxamPMdC5V8YImQ6h5GJ57nHY
0HcOysszt5k65CDZ82YFTGd710RRSbpaR0RdhHXhrOA1eCxUN/+d2oNRI5c3ltmJgqGDKcViFsiB
mtZcH0EFLu8g9ojlqU1r7Kzq2XY+9aOTGajMzOKTkWbLD8fJqBZmyLrUvj3w6Q9EX+PvWVnrlBgm
cylOmUiTnm5imrwVBEPBEs4suvBQIUxnG0626IGjOWAkvqKS6Hmd5fhNt8w7WMjLsArMAPmRYRE2
E0VufVZYKTfVogEgKFI2T4hleCLsqwUVRczEuzBdXWX9godrRW07rcq7zs360U/HBvPVho4mMviW
pxxjMcDEptKB6OnkimzdQTJdPCmS9AZAlj4lzqjWFqxjU9vWBG08n86NCGNkS5CcbNXT7Wv32ige
1yAaycQ04LLOr0JqIlbGYaWIlDgxRXAAA/604vK6s2svrlxA+roDM5obzJEJy/k4Cn9d70scVOem
SY5WaqPbTaXktJRDVYdZLOzHqdMMQMjC7B86K82t4PZML+IDfgHrCSUb8JNUdj7/BbNaTUa78gtM
vVaC3lTRCYZp9kR3NkbA0hgQAVE0L9TpC364PfTFu83QCEojt0bbQ/bgz4cWtNpHNVXop2JzgpiF
279L2xov4LbWfhFoD/m3x7vyUWUWiuwfeEXS881iI/SlAqel2IJzt4oar/lzgWO/80VfkHTn95Ak
bZMJvWhcE5GfzyoiEx6KZULr2C6tr7mL6VSQeLKy3xE1JJjC5jHysAryKwBGR5zcVqijSwMSDPNk
GwBGbUzv6xQpMsXUcPUzaSA+OqNZj4gTVcVX0CTij0hJRu6Buqeq3iNU8xH8mv5cOM7gBDqObSiy
rLXR4zvlOr+LRvNQX8pz5DdXzhT6zBoS8DCd+pJqm+XUeH0ujZSjAhBJj79CtikFAxj96RZGO93B
mrHjoJyF4Z3ow0aweEEJI2esAAo4DmY5rCcKz6V5xF82NgMeejEcgF7ZX1GMseNj1zQo5NBMqj/X
lH+WR6HnKyhz1OQQkyshdNPMFkgAVc2Ai16O4vxvK3AsRPvjxhLHDBWsiRWlbh8O+eoRUaxG/V5R
IuREp6WnU9VzWH6JAVoZB2jbzQ8P+kt0l+hQYb41tJrvLacZsB5JkrX7+7Z4k4To/5+6J9AyX52x
4/fh+7+b50gd/f/6n0G+/qfP3+e0eK148vL3/C36aJj/QpyAyS9PCtAjEsP/o3hiGH9rhDrArRCB
B4LzD8lHXZdKkTzkdOoo3cCF+Ifiia4hQ4/iI6AzyCNIqDhv0Xy8yFlh7oJmJHNQkV0BzSZLV6+i
RwC+ue6iisC2n3rtj4j/D6rbKyS1vyjjJQhqZYnXkVlrWT5ojW/FpojxbZ4yxE8pP6C0EGQlimIf
XxbxTfvp/zmFHLm6txRy/icmSv/2r//93/71f/zbf/tfW5Ec+Tf/vWVgxf0L354H4T/8Cf4WyfEs
/oB8C4AS1Vz5Yv1jyyASKpN9z2NnUAyl1PuPLaNoUniUEArhUYnlJkd8y57ZPNiQ6ixp50RZQUWo
hQ1xvmWsTjqpjh4i6eUwuEdbi0e82VZvLh7nRqNnwsWuiudZm+FItolaAl8iCl53nrKtCMDL7zAN
dq4EjjvM+fx3JI6KtWE0msGEbyoezTme2c+qPaEr6qWt+tcCngJJhmgoflD24AdhiVQfEfnZi043
jzgiBISM8gBD0GBltrIu0GY9TDl7M8B57ocC5ehHYeXzN6UatNOI4cnOxC/Wn+FIiJk4hU4N6On5
vCPdVQbQ0GaQDI7+nGcOjkA6whKHGenNZyRRJw88kLL+4VSadYf4i/vLq2374e+H/LWA0SaIeJkv
SRYxhElBg3rr+Q/osQi0W3M2A9RZvMArxuIjIoC7pGD+Ka+CiL9HARwKL4mME5zt+SgOeER3mTVW
tejqr7VdRCeSrmyHPCIXazMKpABZRSXypGexuf9qNi9CM60RwMHrH2a1X3xwrzb5/7BHx7tcNviu
NCrI0kFdXggY9F62rKhi6sE8FPmj1fX2Y5qp6efbH+dyQqwVITtaEZRmUBo5X7Zq1hoapcoUzE42
nOxadR4GBVncaMyLb7eHupgQhU6TSwVtP5t/b+G7bRznSmH1yP4vpeOrNdGqKoDO3R7lYkIen4bH
RDdI/+Qzej4h8vbFsmoEkvoFw69TlyDseVh7t0586Tf18/Zol3OyoAzDRoGWYEHokX/+6j1E/sbF
x5buHB70ZuJPbVzPvjEPw5e3jyNbVTpjUWaS5jSvx5lEV+O41UVB4yUlju1AEfB+Vr/+342yWbvO
AQxlUsANwO2M9zWKecHUZnts1u0X4h2gviyJTxTPgGpvRsHtFjWxvJoDp2yWd/GEGM8Ic/HXGM2c
+9sTujKUhNyT+ZIs8gLJP3/1ebIqLnNglXPQR2jui1jBI7dTR/U3gLDV3oF9qSy+vhyYGMkLNWpq
gqShL3rZr0YrS2dIEJPGAmw1UiPokzqLEJ21osfcwGbtV9Pu1Owo/8N8QLMy0hGTbKzpGaWMDhud
ZNSMI0IYM8pukYqAQtavzVdgEyOeC1lTjb+mfV23nxBhRv7awSh4BKKXtxiTW3OzngynaH6pSyV1
j2BIm+F+aJ30G+4x/RyaAzUCf+zGTgQz+PzqMW0aL7pHQ9EO18TyxrABDVnez7YyULrKMQxt7xY9
r37V1al7srWOLmkxGIrYqU5sX0OKz3RgCCdhRyAhQqxx9ok0pWBSiTIHC4wrUjDxnC3Nz6hc/8Ly
6G2EYf75DEQIy7sL546S1/lY4xjpWQxKIUAt2Ti0wjBA06VuIPAl37mG5D/qfC8wFGk6tGQHCfct
dXVR3AR3P3MO8lZTHqeBZY6mdg2qqlM+qI1bPyoUaP+OgtGBjP+sr7y0l9v9Rf8DdSV0CLgtNreR
YWitgLaOyUSuqKc0HjHUUM1IA4jXYN391rMFffEltaCPhv6Mfr6YPaIMCUssggXdU19Es7iX63Aw
xmyvQnBlXmS+EEzkrS4f981QOYUYmBVLsCD8HmZNmX+zZ1HezUVv7GwRud023w1FdwbhfZLSXZv3
UI3iyZikjR+aIliCLMhyQ4pf76jf6U9wKcVXb3RxideXTHnzZaXL7M2SlXm4qdsANZsaVMKQqg26
Euv2o1FnTYGgWrusPnDheTq99ftxFOTjz3x1GCSbeLh1vU6vx0kNqqHRaXzav3RrYhzLvCp3Rto+
khCrpKQAWFrailQwNkfcdlMUgSJABICPfvaDFQUDeMOde+RyjzAIE+G6p292sR0J+G3IjrUaYDGO
S31nDxLuNvqxOjpvDGhf5vNqqE0BsO7tJgY8rQbwm1F7cWmKCuS+3rwdmBCRjE0v3KO+vAmbiQFK
Fx/XNViXEtFfa8BdSzK5osSud9buygeie8U9TI4IrdPdDNU3Cu3ANsXkhzbJiW7GAqC5tY63N9zl
TQ8b3IZ0zatPALBVrEKLi14L92WgAwisD5M9G5BMGjX9o9OW/mRAn/l3Q+Y3XIgMKdUJOctQ4Lb1
Ul4uG90MWw3wkf4SK+nw6BTJ77rTd2//WKS4RJy0ukDtbGvsVrn0cV6NKgL/6fJ5QkD7YYLeFy5O
ssf2vLLRCWZUtgZnlsbN5jSZQAlzumFLYMZZ5N3FiQNYGPBs58AdMiJxd/urXdkb5IxA2mgY08Wz
NhdiObpKXSLeT0wI5aPt2m/DXNs7OeqVrXE2yOYuyni4gR+s3BBaAivAq1vt2MJgUsZl/Wx0ebWz
FbedSSIBScLE74ckDtDJdhGB3K5t54Au7Iye1l1UFSgfIa0hBf+1xB59A+1R11+KEdaUgVAOavtm
0uS+47TFJ+ri+aOZjjUmcHyo6PfF7Jpvb113IjJ47nSwpCDQNm1fjDh1GwK7oM9m2NV985ttwNx5
+yBSQpkuhqMhsrHZS50SN3Vm5SIAh9b+XqIr+5m/tEfm3SoYs9rcLcQCcHmBPNFHPX+/tQXFVTWJ
56CD9YMrWaqPCoZCCIE+09eEDDQliNqETdOX9R1ldbt+EuXUvuvUTtE/xHXeFM+l03n24I+K0U2P
cV63eFTDp+zRUIyxeLY7yyxPo2qxN73SbcR9xheUftersI6DjalG2BlW8ylXzeG9SmlAK32FjvLn
vMWCGwHOuajEQzbgFnJcER6afuLE3SiY1edt94MEA7pzyu0GBjBeso/WGIM3vv01Lk82ekdA0aSg
Kg3ZLQAn7pexLhyTMMc1i5MRR5k/pqbn6ygx7Qx1eaqJxUj6ue6pGqNydP5FmtZRuPDbOfDqSoQL
yNNja0F4uj2hi5obACesJKDSMgTM6q2Okl7jEtEg/wd8MPujnFfxU5/7MrBjD1nqZW2e4nGpn3r8
en1FF/r7Sq12f8TlqqIfRemRFUWwBumr86miVjPmcdNOQSGAT8WZN37FSkZyM6L0bZqT7HPKnNws
UtdSTndzV+Y2FEr0kafANsfxoNYEwmuM5tvtVb0yId4ynmLZ2Ua7ePPtTKNTkKViQmQz1SGzVv3j
upLP6Fmr77S4rw8FJJPrQSotyT9/ldGqAH8HJHMYKpuKjzGSGAeZyX6DlZn9M7MC+ccNAQ6a73U+
FN1BLEHSZgraPu3D2l7K3xoaJM92rMHfvb2Cl8kZ3wmZZPosBKaesRkL3oKLk8HIWJ53SrU0GHP3
Ezzj91YClQedv2hnwGvrKC8+etMyAvI267g6zrjgY8KAtRofyXiLU6WawPtJsN68jtTXpHY3lGQw
N/rmKUVqq10qTZ+CIYHOBeMqO5SYVJ3oGK7B7WX0+CTnuRLEG5V2lCzu05SWf/5qd9DnGRPYJ3qg
9quDyozVtbQmiVTbgzq2yJXx5tSYvOpL+rxoq4sljmuuyxtLsmDK0IEESYmmrEmYv/kV62CaCnqK
ekBTXoPLpyDl6y7DcJ84KGDenrHcGNsZU06nj8YBJ6TfbBwbIsUwV6oROAOzwUVLg6Cc5Kfbo1zu
FtzZACBSseI1oH13vq5VX0BNgQIWeEv32RuL7i6pqI0Qz7xRUYELC0gIWArWTYKgtgWRBcZY04lB
D4RWjB8Ku7dQT4Emdns+V1ZNQho5rTpgIaqy5/PRKpClFhZRAaJMlU93Wg9lpfjNWZkHEocl8xAN
NEhUzkdJndpYgdrFIY2eEq953n+cqZR6rsPb07n8PJ4UhiChRGqVvtvmhFmII+YYvSdgfer0wcYk
5TTyH4/2Gtk798blRcVQ5BU0zkwesS0o2sxbI1qUFRhyW+mm3ywj0YHS4zd3GNJB+xXPpTENF7Pc
neTlN5PNP/lqo/VGu2PzlMFKjjzTTjGdJmbDOgsNP0GyttRv3RsU/yj7sQH5ZPRUNns9T3ji8rXU
A3AZgHhWFUZW5E5vjXN5kCUwCEEkYiUKcud7Y9InsBY9FQho3i7mdrPwZ3LunTT64j7UGObFdwRB
VZSHN2UqQkovySpVBH2fw3BSNNx5DrY6oNU34yiX31Nw9JQ/B92sbB89AYAkwvJWrDZub9CLXcPv
QC+S6MDQgaht13QCWRpNecHvMCHOggk7zhYeb572Ya6KETpiv4cdv9gtHDmuLKwhwBPLWGuzvmT8
w2JTQDCE24bT4s7BIIw96dKLUcBEaMj0UJ6TR8LZjGJXOCrYaMCGY4mdd+VgN9TMc7WzIy+ON6Ow
STh1TAQE9+Y9Qb4MQI23WmGD79ihwxQMvkP3syrgq97+TtdGckjhqfFQ4SEeP181bIa0slroRTul
/tMmJvlaOz2S9Gu856QhV+bs3WJO3O/SphNonrkF57VK0uleX6Adgaor7MM6PQrLof9WZsunUrHs
R0Nd2ifR1G+uVryMzNxoeXP5b2OEZuyzCfUWI9R7uyCxid27CTeT45gNb+QJuK4cykHrngYwU9zC
WYULfXGEyRli15a/W7xZ9Wt6Sl8SpS0e7HXKf9z+fFe2I4ntC9qRZ+dCSHdY58rMrNYIocTj0Dz1
5ckQqEDcHmWr1yunxQVMhYHeKV38LeQGkNYU6QY1niFSusy3G5SHT4vbSpE55DOMwzJXaP9giekh
wBS31vNqLe3XNTXr8t4pS9QbuGFRqdGAAvyo57aE4gVosT6AKLPG91bRQ9K8/aOv7GwZwnAdku9z
t+vnOxtOHwBfwoFQKcUQNhE6MEmkxo9Wb7o7l921rwBzTJ5W2VTeJs2Ll7Er1hlSvTIWoAsWlMAV
wIpvnxDlQ2rYXArAio3zCTl6jqKK25oUYrTqMMYl7mY4omGTnmZ3/8RQ8nojQ9eBum5uuZ6MuEy1
xoTArFfoOMGmrVJDCWdvfmu6ys7imMg6GAE09Z/zSSVT1wlMScywqO31oTVT088Rc9uJy67thReF
JIlnI27ejJLhKsEtqxihucyYyc4OnulqEh29BNTz7aV7qSds7jlg2Ghd8vry4m+7NwvefBD0MzPM
ansI5tn2Tpgraicz1vqTronqUcmN+snu1+xzVnfL+yYB0O4oXHsKHIMDiZm5c8nL4Hb7kwhugCxD
6STS3hwFV4FFHRFmhXXVp+9NS9jfClQx7nhmYr9alWGHunt9PDRJORNct1tR5EovtDZHWyPUchDY
3Vo9j46CaoVWH7M0/Xl7wa8dPseRPCcq+oBVNi+YN3qjgmqNFSb0xGiyJ8ZHGKPRzpSu7SC0UolU
4OxxnWxORIqOGvKaC4fP6srnabX6Y0PVFsEaNH7ePCGpnItliPQvBB93fiRir5qaBd3P0CkGOyyV
gr2Ds+pOBnERoNmIOvNKAUSDeMKmOB8Fek9hodRphhU0x2PtzCDGk7T8vBplfV8nZvOY2fVev+9K
DCD7IOR8MMsky/Z8UCuDel53uVQBWjE5yMax+UMyjfqDOouuu88wfZkOYtGj7yrcjW+3F/bKNyQl
g4NKWAracEu0rS0EGgQGtuGoD1Tam6T5VNqKGSZOsid8KL/R5sTBDpBYGYsrADTQ+URF3a2gH5go
X9O1Tj2aM7aPGW2sP9ZAddD9zCNTHLpMHz+45tyLsG0kLvX2hK8uN8qxDhkH+c0WOp/UVT3Ui2aH
9tLkePIW0Qj6u1iTd6oWobnfIXPxkSC9OTrA+ncGv7bafE5Q9bKTTYXrfAkAMbaZ4jROOA16H/Zd
M9+pyN4EirFmp9vzvHIF4OTzH0Nt9nI/TQO1ut4Jx6qzfXUV+kGLzfr49lFcyloG1QPCyG0inCKS
YVQ0ZkInypY7QP7evZ7hU/5PjEIMwb+A9JMrni9b6s0VijB8M680MfMwst9k2Wrn8F9bMEL+fwwi
v92rqtlsrE63NMIOLeQmAtUSn9TVjXe+yrUbxvWoHtHWJSZyNum7sYAxNSW2J5/xY7NQhUSA9omq
WHLAYfa7Oebjzpa7Ni2M7iDN0q4CUbA5dXrmpl1XkZyBA07hszf500wHa88/7NrORu9SAmhp4F2U
2CslSQ30ZRgmdcQDuon6oV0jJUjUek+S43IoXk/Q0bLM46mQj88/VFwZpbOo7LkqJZiQiN4j+jyQ
otfy5+19d3Uk4hWaMYRjFJXORxLJIESZKxYiynN7wq1XOS5wJ49DW+01D+RnOL8cmRQ+VWDFeYQu
APy4NK5QLW0b2067/yI4a36yatFxHDU9iOwhfXPgzHiMxEWoUSvbor+LunNXnlIu41wdPsoO4ZGq
xfw8gQg+3V7Fyx340slC1B3vJeplm0jLIa0s0Y1ja6A7eYewneJ7GLQf/4lRPJT9ycSY2fZkOajv
df3KhLI4X+7wXZretfNc7DReLt8wahw6lFSZNktN9fMdkWUqql4khaG2Goh6JpjNDHOM4mSWzkEx
Twbkr77z+27W72aNYtPtSV7bJbRi/kZOUIGTS/3qjnIGhUqtg8O1VcyaX0lJSrUf23dRGrWhu+TR
TuB++VhCoaYQKPl01KS3pOS6K+uaZMgKLbcDwiNqFd1GL43znzhMeRrqgov7Cyi96BmhR2fvTrm8
LOXoL/R04lhaQuez1epucL1h5vh56Afe557dzfdibs0yjLrEKo7D6Nk/naUnFbu9zle2rGy7OwRG
tHv5X+cj50WPri+ZR6jrlXv07CY6qiLf679fuV4wAaB2RvYhcT5y/q++pgkVZ3CLxAp7psrGAceh
V6bmoxBY7Wyca0PhjsJFJh8dGJLnQ01JLWVadSaUzYgEO3VR3Xurt35KlmZP1uTqWDLEo4IpEQyb
sXDGJBHsSjtMkC2FYp4XCIXz5DWp2COPXB0KQCCwG9DE7NDzaVVKI7HRjR22nSqOtVQCylvCK4f6
xs6WuHYUMKCi2gNkSUcI/Hyozsm8Xjc6Ip3BWd7p8awf9Sg2/Gl2zS+mWTV3Lc5kh7TZvXOubUaq
xUQD1CPJgTbruWBvrk8LcfNqphYmtm0ZZrba7szv2ihEwy9sNdKQbVxcNE6ZLnQ6Qm1CUrOdUQSY
53yv4Xp1FI+2BRYFErS0eVHJKsakLSwrRMEvfd+ZZvlO0Sbj09uPL7Z3PDvsdPbFZlvMiPKaXNVm
iO8DFA11To92rnY7l+OVzYfwrNwOtI4J6jaXRDU2BqpzKNrpuZOgURvB5AZ5yxZY37xsPGmEH4ie
EP8CMNtsAdqoKd3lHvG8ukD8ck6ywKjEXqH24uMwCuYwKr1wh0K+JDKe3UdErDxoThJyKbV3s4Ni
nod/0U5162LZGEUGorKVCsZrS7OKe+ziOmdJQgIvdC5FEQ0/5jZ2j0Wq7pq0X5sS8Dj4lZwfPtPm
vZ7mvIdmBVCrjdL6RznKKjuM3r3OzmWBC2QEq0Y/EPEykulNlF2js+zlQ56GQlaFv7Ru5iAnuKTt
kv2qGF6MO5gyZO1fDVY71kFbaoH0ozUY7anF8kXcWWukKkEmJjt9v1iomP12+0RsCaK8MkiqsQYy
AoOhv632qXOJmEHPZsUaqjphkz1Xfxp4HxgIqiK52flJa03ql5Uj1QVNoyzZp6VSU+PjUKFx6E+a
XeGKsPOjLr+OxCkQLgE9Y3NtZVraLPNKJM3TEOhsKo7j0BYTosNRtHykYOjaH1O3n350UWlpXwsl
m9rfGqjPph/rqZM+AenM4pOSaJH9sKbEhY+aUzd7wPOLiA8tA34ZrkRUfgmBNjtIad0xqS01xc1k
wK03RYtt8l1rapAXAbpRfUDv2bIOFCrSCWg/q3V0kln1jjtrJcc5SxBIrinXcs0AcwAXvrnTdCgf
bVdOeVjnNWrDVcquPiDBFhXfongUzmdN6PVsHBQ9zZICZy50Ub/Xtdr+0aJOkGun27/nIhLl51DN
5TrAdIBLdrMseari8OXWeahbC7KciYep+rpG2nv0QZd3w4AR3e0BL/cKzVv58hJR0PreFqoAfYxu
4/L2eYoVvy8HrfjBTn9zPcNhFBhq0peDtsIWGAcakv5zUpQUTnVo/15Z+U2mDsHtuWytLDiNSBsQ
W0riLUW/rXRWna2mM1Rqhp5kTlWxsFPEkdtxKpcVJbdOj++sxZld3yqQyH2kFNYU9yYH5QdKRmv1
XpS6sWJbNnmNHzsO2uaZnoz4Yg7G1J5wqTT59HOmluZhMgan24sVLs8E3V7WSHaXZQNx81AszhjZ
VtOVYWrjnep7WowBXFxGlupHbgPXhCKqM50UvYjbE0Qi3fY1Q5jKzpa4fEkk1R3GsNR4AjO2Cck8
Ss8o26tFOFpLdzd3/Y8WqYQHiFp7mciV3S61jGWvllo3zczzl3FQUUwB45+HxWSXX2B7Jkgkl/mX
XEd0bB0rZWeDXNnsUsEGrU9p6XEBW1/zsm06nH3CTE2SD8MSWWhQ4R9XvP0UUxuSXXuon/CSNvOi
/5zFM6aQoQWO5IRloo28INK6TyIb1t8nFEZ2Brz8ZHwqi9NF5CTTZznxVymPMhiVHiE9FLajVjwL
Y1FOVkHLoPL64c27g54gvHL4ZDTY6RmcD4WsB5t0zepwtNPkZC+IYx9WRJDpCGfVW0NBkAmgK6g+
4PiNYv/mcm7jbordMq3D1UU+a0GV/TRYMBsHEsmdh+DaCr4eSp7NVytYKsq6WF3OCuJI4Ff6LA7O
rOP2KFRrZwUvdz2zgjfBCSdgx0bofCghSBdqzJLD3CpaHyurh1yb8AIZFE3KoC07w11uejkctmtQ
UIihtvKqZl9Sw8H2IMwGtJayHoQ/GWq/E35eYp/lt3o1zObWGFdiChHzrYTXJcd+zqLvrlim44pJ
0KGgKecbRGzIldtInnqI0P4+l4W7M9drX5E+CMkxVQZyiM3BW3JtRORasGHWdHxfLKDgF0VFsNHU
mn/iyAHgQ42CpgPgU+P8Ky5JDdgQCSKSxuwDhNcu1Dpg1pNwvZ1b69p+AbSoe2AiiJS23MpWJSum
aFaEa2u3h8aNcr9Y+wcFZWxcRJqftx/Ra0sI2poMgvY1I26WEGs4buumLEP8MfSjmqKIrlZjeTdM
erKzhNd25uuhNlsmR6w7sutEvncjV/8CDLU8Tv1U2Dv3yLUVBMaKlRtlJ8RmNneWo3WeXrpxGcL1
jT9TaOj+GpDnCNB4F49aNtk7X0zeS+dBpQnfFuQdsGTaq9s1XJUshvLBGjaFWiMO1oJMqaLuQ++p
8Z+EeOt7Y5ymhyYdrJ1C6tUlpSMBcIPtB8zqfFcKtOgQuWVXdt7oPBkiRXBEzAz0T3w6qbICbRTM
NX3383HWSrESC2WRcEl6wzedCBzqkO1pNMsNsF1HYnPpQwwWBazh+ShdU1OALR1GIWg+Gr1lf144
+R81rdMoPfTaY9ngmnC4fQKurSHQI6JUYiD61puTbVi4gteTXYSaAoSyo5F56kihP98e5do5oyFB
o5+cnWB1M7ciN9EFyJlblU39d2suRPE9iQEqfaDanubH26NdOwFAd6l0IeYGzm/zvHEC1DZN3CKc
sbb5gipFcZd7VhdEUd1/1ctMD2+Pdz471Jc5Z2w/QCDIrYLM3IwHCcYjChvnJ6WE3+9YiK4MsxJ6
qG/tjLR5eP4eigIs2SQwBv5bfs5XLzfFa7Xh/hBPUdvAfYqWBquFb3rhWiMIXmyjnDEWve+lg4v3
LBvpYCXt/+bsvHYkN5Z1/UQE6M0tWaZNVY/pcZobQmaJJkkmPTP59PujtM/ZqupCF7QETF/MQJ1M
HxnxG/fe9Xerw0QpPCRJ6YNuvPoKE91IWZMCOdnzgAKHiCJk+v08Ont27Z2QSvvZOjgTY9Wiih+l
wMjVDL/4mZuLWITDgfMJdGfmju2x6OCC3VnSly+Lv8eIZDiVIn5SI786ADGhyHxPmOpUp1gZPXnt
NONmVtEXnL30ipua13+xu9TOd65RLUVc1Xmm75xNtz6CdBoR8Za9ptxzOVEFKnLRbIzqxOLp1c4P
R0xZ/C59xNnOT8JITEmXmX/2QV/9XMKR+uP7a/JyD/w9CKxIjixkGzdPxcv2mzHsO7Na1QlJykd3
rtSLHRQp9l/4xaJjeqe3l3fA/7bG02ZD8vAgda92QN0ObhOUpT71dT48ml0Kuz3r8sJHri97CU3U
UNNaDqd2qnB1e7+nVyDKvxrnBEPwivT9lq+9Op5TchWUchrsTlwLxSkhPPReQx2r0mg/GilJFmf0
ZJh0nYu6NZYg8jUyB0McoIsN+E64nTw56zIcs2pa9jADf20kwqZO095LeGz74v+O+L+/FIjuJkiP
XBIyBJeTEkJhsDV+L6eIuTlMvTPEY+m6dw6JG0sPiOF2HrE/qXhd5ccdmOutzAt90rLJXwybZFzX
ZNZONStOB4vQ+1F63ed5Ev1vVVBM3+/Mx42lx6WMlBJRFTIS1xdZHTg6Qr+R9skpHdcFAIRtgmKl
QLyVHtLp1cki8SXjSCUJVk1JmGHfkVeFeyiUEewCTWipM89KSjGofdjfzehui/96HijAbml3lPqj
6wMbS1PRp3rVJ0v463Oz6PVV4WE2xbnT9xjRotL4o6qsD3cGZtvzb5ol28G1tAn2X5cU+m5E7H3W
+rQYJF28qReQYxf1ge/8zNpFPrmVzT7YLHjdACX0qjXnL13rqSc4jRE8jeAeN/vGvqWejhYcwA4i
uOskzLBgcJUW+XqKFK4ksbnMHYZ1xmTBQSmVoCSGPYtT1Wa8hIb4+v543JoFnhQ8C4H94Ad8dUQC
z5h6OxTraTCt+T/amVQCn3NJhi4K4raK8nNViei/mYTN3prlSb6PFMLlHjS6tSJxTXoiDCbzpEOL
rT4NnWkeBW6JRWx53B6xnePwd+DYzL8aVF6bR7FYhbfzJO55Mbr04TeZL+2P9wfk1sYhcN+CQHIb
b7IN+MKl6OJwimYIpGqSKJvZF5K7FdyZPjsrR43DncPz1olEumHL3tioTlyHtk4KK9fwRn1CRcvB
GKTyP6/TWt9BXl5VDv4++Mh+b4czfGGIJJeDPhb0DUN3fZI2iahdCtJob+kM4yNjkUP5GAWd/anp
WvdPv8v9P41gktmhLwzUS+fJpgry/kBflVr+/h7SpuDXN3mb6FrdWXnu7PVGv556p/TVvmhhv8Qt
BDOVDI0SB1Mww2ERid8jty7HQz3Z5s8lUPXZn/oM40UMin5DV7bX90bqRmgFNJysKJDYrRx0tSnG
aMGDD+/DU7o47jc5uYYZc5es+7lxiSM8C2MloLntHtGf6TcSv8d1NqzHIsqCLp7QZ/u+Ap2OvX4N
4oGH/J3H5VXWeRu5LXXOPU/unofz9fdRIgez0dTmyZ5Mc3qaotR4ncGEZg9u56oKudBKvDSco5ht
GVHx6qmm+UNWhnfu/LD92I96+VKNPUZdhgb0gXrbWP3BC8d9DpBLxCO1mtLpTnTydpFffvP27/8I
mhUqbmSgcr4Zadw9QoVOYk+gDN9fVG9njlaojBFyspFgq1y2gkgIaOI6NU/OkjblSXA9LvuwaZ3q
g7m2Tpm839yVqRQzweUObNLj+IYYCbvssr2cY6TMAtawsQaAUJ2xd6gWUkF6wrBPHMaxPyNNtXw0
Ai0JhqwFK/IecvdrpZZSnmpHpfcek28iD2Jo3iTIALqkVJzrAqFyq7WEz7Ke9ABrEQpLU+2XbiKR
M9RG/mwEcg6S3mmEuau9qpi+WOhu/HpnXN7Mw/YRDP+mf4A0wTVuvVc+J7Y3mCfZFgFuM/h6whV1
6gPETiViiRvuyfDwbh6XUCXCDvpHJVS4D/IxfS5HA/cxQ1dflUbePFfghN7/vjeLkc+j2g96GG0O
UHrb5/9jMealOQ3pPJqnin1bx04OXjwO5slRu/cbenO3bw0hwQc9gf6+UbAPIfivEN4Yh6XCCjKv
f8+U+m70xn86T+78qjzAtzu83+bb96kDBBSUIxUOGAr8uOwdPpsqC5bVOmkrbZtknIzpqyf7NNth
WdcZSaqm/gMxr1Hv9Fg6ZbzWDl6Kusdq907/3146fIvLOHOUIgVD7ubyW7STNzUejPhRumPUfTBy
Aiicjhz10iEeGB0AFOblbvJdle5Jyrc4JTZWXxAKThFeeU7qfn9/dG5M/aZitcm1kpsGF3b5QZmc
7HZeO+s0OGP3nEbm9Kn0dHTvdf4mzKTf1CtwSSDlsqXkLpuxpgFPdd7GJ70s/h8+NcL+kDfG3O4a
kXkoo+S6K55M0TgI8fAqT5PVGaafORJbEaYVOrfh9Tc2PiXF0IyYGb8/Cn9xqC/CYOr11KM2zTeQ
o8E1ZC1Ya4MoYBbnsrYqb98uljY+QukuUnc3hkvTxEgcKP2x4e9cI45KRPEPaUAo+izFCiPfDAzd
7StcnIddJwDlIC3cmN33CfUWtavbulq+gSRGoA8nY7TbK0jH3X9CLdfhHEEW9kZqnWjr/945ZcQ9
SYHQg3eSjSbShHEl8BzeZSgrQsjTq1C/+ZHhZC9dz4l1akZRG3dG5O1RvklWUA3dziuCkmvFoqL1
ld1RTziHQtvBYcaY6g9X+M4vagVql9iz3VmxO8An3pmuUTo/dKkz3CGdrNwKtlZev6auhK34/kxt
C+VyorjmqUUF/Aeu75prDO0/LfEjz889aIQPgzeOP9sUI7md5RtL9CEPlOkkRhDl7cP7Db85ushv
oYpEsAEIHGjx1Qo2NbmlrLHz85SXSFV2S5vhfFyrWu59zDXP5hKN5wJB0y5WuTXeyyi82acA+EEV
8QcKHRDdqxisWiSnKmXMc1dFCwaSazF/sXEF2L/fy7fDy+onHN64D3DKr9ljgeSaUZ7ZnHHJQY/K
maKl/2QKNSy/axQm/0x5qfxKIVT8O3VHIgeuaHLmqH9zOpCG2Pr/jyuo6v3WlkUhz60qwsfeiIwj
1OHw6Hrynu7h26HcogGUKynIoVt5TRaN5qUOjWmSZ935+sEmx3zMzSXfvT+Sb1tBBZ/EOc2Q8MIF
77JDRl7ZspsGeTYxQk245oOddPr2Tuz75nkGkXLrA44ZbIs3eaZxXtNI2KM8T24kj0aopuMSNu6X
YJ4jCIgGYff73XoTTtEgV/fGFwW1B5n8slt2hPV25QDNJta3zaThlVrtMA5HKlhjjpJ+IBAt5OfM
EK3ajz4X708g1Hl/r6j6JqLiOxBYQEwM7hUCSFcJthnriS5SQXsmsysB39s6PaxO2FrxhHNGdafX
N4YZqgkVLJRfeKO/keCwm4U0bd4B6nTs/WZV+tCEOnqYM8cuY2uQo3Vn+dzoHxhMePpEraC0rhn0
pZCubgevO2eqBGJcl22+j8pg+OEBi/nz/Tm9sVSJRzZ2IDhMsMBXS3UKsZHWptmdrcLpxsR1Mr/b
mfZEpv79hm4NI0WdjWpAEvpNdqVEdnGGvN2dvRZDMifI5YnUVPdig5ADabYofafBm6OICD/o5m27
u9u//+NUoWgUhlj3dWccx9oY23fzSep6ffJDQs33+3azKWSBAGWAewKZedlUUBE6rV7XnRf8Letk
BXPc7nokdKJHhPCXH++3RtKc33dxEQYcz5seIzQGeEnX1GM7ldUCuMU/52FUBFmUdI4lMUYO6pM7
lRILs7L6HvrGyTCXX0sgnvt6jZqD7kjra6LMJFzF/KKmaHNPTpv5N5fq9n8W3SRaCUg6WWU95li2
xY0DaDqpLJeHgV2I2G6lFTtTBfa0xkUnHpuo+J5bmHONTvASTb7FIx+bT9mUmOKIqDqT0lbPGBCE
H/oi71FsUvPHtZpPczvmQ2yklT5rMXV7uE9hwbKAMY1J+Hcq352MHTyssF7MsT+aph2/akbW1fil
HsoXHxfmh9Ycp2QpKBLGRYfRNwbbQ39uU8vKdqUT1p8BDPbPyyrEs1CpeYRGrzkpTBhqOvzQpCHF
xSJX53DJhkM7Cd1O+ePgC5V9L8niv6ZGpX7DrjkVu1ZH4jTUIXYj8LgH/wVRu774HOAH5T+1/spg
RSWGwl+9fiaKR2WU6dmqc18WpESwcpSV3T5EOpC/9WrJEfsw20zFErtxcdC1T4o6zmu7YkbWhsiO
8Xab7kyF1FqjpyIzguab1F3wOyzSsngI1SzMKh7reenz88jVrL/4ZuoFD9JY3fT7htwZ/GQqI3y/
EnOyxuXBC0T756w80e3DXOXuIZoJzI+jteKMZhYiLw5rEApitzHzeRGztfp9arg+C0oPS3EAndlt
0t9KPRu4iP5qT31rxyYggtd57bEgyq3FVskYjBOWWaNWQBhKM5SJ1zeQYCPlYLU3mstgxqqdq+4B
KFHePINZscYHbyxsBTzfr5svS4V3PaDQeW7xNKzIhH+aEAiS57J1zVNtRJ51rJqybnGkL1vbBqFn
ZMP3sSp744uTiuXP0UWA8WvDcTTUiUvFTSSWNIcIrycRzNAhXSLr2a6mLNYOusck27hjDyvWsM3e
WoTEHW+Zwl9stw66E/w2POX61m9lEpEBE/vZ66LPbdOZ2K31GsclYwCMHbtRtlTHdhHt9NXFZ2r9
Bdc5XXzuqkn+nOecmKPrCjDoTTsMPpQVr60/pUNQ4+tVlEGvYj/vSaa5uuQBgCH8mvUx/p+lneAO
bue8CBHs+um0aCTF1AZmZ4rnhYpCYs7l9AqqJHSfkCCsvi3Ihw3JDCdt+NhalXCqmNcn+M+iTKf2
izPUuviQhegFPGVDGuqzN7QBSLkgS8PxCaDXNJxXV5IRHcZArJjK+csCmqHX1Utapvn01Qil+Sdh
OoAjFKpc7AKQqWz2odVpBKV7c+4/gYXrx9chGtvRiiunMpdzh/+JE+dpiu8DyFCxPgWyNLGbRvYV
874u9Hsqx9MU4WZYmmj3P4arYiGFc2X4LRnF1SH9PMLnfha6KMNPEtsrdG9VkOEyxUUwyz9cQyzR
17wcMW3DPK31E9SAtUkqfZrmXa2C5bnBKag+auGFyx+pVcvqxYCkHn3Vnp11iDlY1auNOwkXfNF1
JSXiMi/Lb1k/lPXBLd0ZZU5rxNyeCn7zPcfDvI+9oMinD7a96iY2tVimZywwGnE0iLWNHS8ET2M1
PLnBJx/X6zEZotkNMHIc3W6vmbcxjta+L59cEdTTrrLrVm63liDw9iqZ7Svfndej7saqPqXZaEcx
wvJ29zj1nr2cQVt1RTzhdkqKHlaSF9dN2aexzLdMRgEKzf7obZpySZHW2fq0uktuHU1Tt/UjGXdV
4ItA6iH2y6r/tqELnNg3cjAmRmW608cNhm3GNvsbaOwQDfWpaQLH+CwR0+0/8SGD8WOZB0LewEpV
vm9Y4P5D0FbOuiOXMto7pjp0Yozu1+9e1vqpZHpzbCzGgNR3EgxouCSA/nAxi33IQV7SLNPg7era
0v2ORb9M+2ApdXhsNR6GOwNUXfEx9S2j4RAtJx2HtQiXY+dW9hD3PELHuBmHtfuoLVdCT1BpZsRN
N2wukPwy+aDHwi0eGwuo6DNzp6qHFTH0Kl6itv6WKUJZNlXHYhVt33/DKzeqd9JsOi82QXb+BNEh
fmRhkJr7YPQseRBYvWfPLQWZOc4zmzO/UJHR7XA6BmWV6wg4NG+gIYiFbPAAMMDd6sfCc3M8KSwp
rSctZWHG8AOdX8yud4ek8ypvfDAHpdwdVLre/CzTlnqFUBK5qKKicBOHDfzoWNVFte6V9nvvkwhH
XT4OYhoV8jGz4Shqq9ro7MTNywlWzwiv47fSndzh3BpRMEDTrtIuxhM73LjH0jnJHrmPNS51o9s4
VM00HwuVrjgQtrW7/maVoWgPvkqDX2bpyWEXmhnJXtvscJLoRjdtYgNNABvAS5nD0e9M7BJbjY9h
PNjK/bw2a1MfPL7wdfUtOfzSrhYac4khBS94jo5KHsxKFt8xiq0lJ9AKJyFDHXTL0glA4VQpEd8z
ZktsslyFbvclo7DtIJFpYKNtHyWlaijz63lUv/QgZdRBQqsrklla64wb5hLZrzDwpvrT7JZp28fS
qwuRILM3YZNJ1SE8Sa93fqyL51Ynrwv0S12WWXMsKseZv3UFuJanEaWn6cfo6xyqdjYZw6NtR3BG
C0uB7uhDLx/2EP1EdbQXsyx2a9v5Iqb8OK2PaTWsxQ8IKbiPD5RWiySdvGk9L5hwLAczHHrYai6S
ri+e00ZfA7ds+oe0tezhVZHB9BO79dL+oQ8KDD1amTrGDlWicP6U5UtZHYQRrsYzl0n3I7MxNdhF
UhTVwSdJ8jtppBKYKINNOdubrPRBZGsnX+wyaIJfeP4RIjhj4Cx7f26N6Wwvld0cs7Dg2FoH2Rl7
tKcqwZHkyOwMiqGe9xa7M3iYvAWHQqkyvIRgqxEKUu2Y1/1KpLJVl6lpYbPbenk8KMddj25rZ9UH
2xllQXo+m4fHaOi19YRSXZDGS2PNaaJZ+lQVdCcGqPde4+9MS7TzsRpXwpeutLNvKmRZPLH6Qz82
czJr+zJwKv1cZsPcIzhZ4y8+CZmLz6njFOexDvCL89O55NhIHV09h5mFqIwfLF36YPdb3Y1bz8l3
di1TehsGzcelWLP6ULirXR9diyDskE2RnJ7ajuh2X2V5Z7zWC7nfnTsMuSHiIjRnAj1p5VGKgSbW
VPpXpBLKqABDbWQ6waFOdjiNd20WN6KS3cHoW0qq0NhLKwnGLlt2ykoN45u7ptlvWTna9quRd/13
K7VEnu1MT6vhwY/QwXn28kLqp2IprB+94YL7SieydXE0+Kk6EIS3+gNKE5Lfji3I59GWUfSYRXnR
xAR4Q7sHCO43hzZFxSwu4NlEXFzt9M0j7/eE1aRfPqbrMhZ76NOpOKqKlR/P5tIvu6rx6t8tCAre
Doi9ch/ktBpfTQKwIGbp4g85rVbYJMovHeMMprsu0E+V45N0YFkfKlg3OlEoNzU7SFqb9UvVcwzg
CY8nc4bncb3POY6jJ9sa0HjA33JqHn3W/RivVq80kaqoPxrQFkICMMLf8+JYnbOreO3p2BdL5vFT
Kj+Zh5ESC6a5UfCUkal3Y8Oo7FfbUE754LaiCWJDc/o8tytW7LHb9mLbJgTCR2ZqSnekdWbrWdap
q5/HFfscHBmcvI5Tr1Oss2AFSWs3UcdJNKiufkI2qZWPBBwjUnsuHLAYD9/lP2K1gwW6vZtnh5Si
+hr7avR7/Fvqwtkvs+zyT+yFcoZSkFMAEgIuIY+xepWnxspUdayp13MzFd5SY+ydjfMnp7BE+Vva
rfO0swajRNG+brvuo8xE91PnpWtx8BRp23EQOGOIPI3jZTFJVGMqd7wly/SwYJrG41AOq5lzj+u5
eBFmNFF+XqiNPmmbR9eRXEiUfogIqJxDpMwo24kmXwc0boI+7c+qcCSxFziScm8C/84fRokrAigO
JwucnWcXqNLMcui6XVmPwYrbkCJQ5a/r4cXsG3QDCeGq+ZmYMSye3KYuv0HXH6nclsHqviJTujRn
v1w6tbdLQpQfEp6Hq6kNGH70n5JK2nh2itxD+3iZqgJAlVlnHg+9MjMUFqoqb3FftepoQKvOL1Dq
Axm4dp/ef6NfZowDyFAoDyGLtbG6oNVfg56teqqNPiurI5K6Zv3a1Vq2340yKqGVVf1ax/XMQn0c
5rXJfx15xNzjOVzmdf73A8BabaroFIH9q5QEnBTYynqqjjLU/pNZDu2L22DP+n43b7WC8B7ZZ7hl
AHavwCuYrAm3KNf6iLjTry7mIdQKKI78N42wyUiAA8+5lnV0KIlGnuTUNVrhtIlDWP5EXjCV+/fb
uczi/D1kZFLRl97oPMG19Be+vkAw0bc9CnOoEmVr+1kUhNlD0Yk7tfmb4wYOEqdCKHPUWi4TRpx4
RpAPS31kT6DsV0qJrRGmdTJ7eL9PNxsKPVASMHnMwLuaIKWbNnRLgM7c2uneyJrsjAHWfGe132rF
dtBK9UhLATe46g5XR6XR/AT4jqJZMuZle2ic4J6czM1WPLTS4MVtONorgAHMzaFxTID9xVznL16G
XDHqiAuesO+P2WV27e91AMQN5CjW32BZ7MvJ6VATt0rDbMhxOcOuNt1u3hWu2+ZJplqeyNpFsuQO
euJW3yhIkM1H+4fOXY2gO3QhSQMIPINBZl1NxbIXhXD/i53Er984M6gNYcN42TNFkp4Qh56ZM3Rb
w4bNRYh1TwLkqtD99wBS4t6AF4Cy8ai5bGZ1sDvlTmqOfTCddFAT6bgRmoTLq52NX4xxeJ5ml9vf
e1i1FgAwyujOFN4cTmAorHwo/4A+L7+gHNTg1OXaHB2nHvfzCtVrzI17ZcFbBwYMJGjy1GNtBBcv
W6nXcDKjquJOpMOkP9rhpe0QVZJ+eU+o81aH2FoIQIDehtl4tY89W5WUafvmWC6tH0+9H1BpzP61
ogq3FjVA2OtUV9nKV4WV3garrueOlT+IkMKVkxbji8z0lJLw85r/vL/PbvYJRITHkUtz4dV+1sIU
0N15GZZQZOJ2LvpT2zj6zhV1c5L+r5VrRCHPwnawXBh4Hdmsw2rZal9t6Q5/Uvfu3O1O/b+0/N/r
HhDnpjPhsc2uy37Y+MC/dit5tOfAesHhdyTBG6RpPLRpCNAndF7ZFvf0Ym61ijAwFUDQXo5/vdYr
7YCrEUZzbB3cK/ajGsvhi5yr9Zu/1tFP0h92D4zCtO7FOLfmD/jIJrQPnYQg43L504wwmDTmrwQ0
XaBUNZOACsZ7wvQ32/EBAxNjAOm/nsEoF+tICC2PPanTXSWyYY+e+XTnBL55anFcOPDGuMeodF52
B5FXYQTOTCUVHMjHySWXmdZOl3Q8ob4YNe81VSzmY9Uayy9uDl1UrrM+juEY3PmSmxP6jw+5Oj4B
W3Q8huAT13r+gQMwyeXI+CyM/vsoljZWhfr27zciwOMI7WeiLLAVlz3nMJhLFpDkNd7lO9Lzc+wN
3T0GyK1pRMmM2jFVqy32uWwFWHfnt6TrjhASVNJW4hezior/Yrf/s5GrNUl2o/EBU8kjD410v7h6
SCyYbGRJrHsck5v9QTNpk1ZAvOy6Sot0MjlxmA1HxzeirzBwwTzaaXnnkLyCBv99qHCT/v9mttXy
jzJm5kJesbCZPpIV+tWCq9OENnyR4mdgDvvOyE7jMH3I1Rin9vhSOcuuMf6U/j1q461TFJmA7TLf
xE2urzrf4PFnkKQ8DnoBlRjN8tGaRfs0och5Bx27Le/rUxT6AOsRDSIcPK6uOnOSnoFGR32snPFP
05kNEsXzo9WobyV2vnf22s3GIF6AZwBUgD7B5ehavgqbHLLOcQ26gWyJkkb3uBjB2iRzWdjzQymI
y+4E5bcGk/gSuAssAwxtroK9oJ/DsW/1Rr1d1yTATyahHJPts8Vc7uyHW4t0u82pTUO9AZVy2b98
pOrozqha1KodEG5f5dQnXtAs+eH9M+RmnwKk2DYdMc7Qqz5pH939yiubIyje8dPgLs6+GqVMNCWg
O3N2s08oSkKW2CRvrw/qtAvsHOnp5jiOQRY7TWYcvLXy7qBrbnWIu80CFsuRxaV+OXJb0WJW9tAc
sSdujrNSeVLMU78HObzeiVZvN0VtDpISOIU3AoxSj5Vc2wYFxK5x46xDMjjJ5g4xHLLliJG8P1U3
xo9B29ivmw0yA3nZM7gEee6EU3N0RcqZr22dhIu73nni3ugUL0JAlYgSg5u7Ph6tZUV9HUU05D58
Mp7etMj2cZikYydmr8S9jbx99NWpAXEH/S2Y+iQJrlHWas5J369zeaQCUBln9BDCjDKM6MnzdqlT
vcg28quHTgR+/+CkeTjc2Wm3+guShkME4CTk7KtjK/MAqpa2Ux7NWk8fx16rx8IIwgd4Cda/v695
CPyVqaB2+JZLaSnDNtD1PnaeVeePXePJ75wd+T1h3xtdArPrwO0FGQ4Y9OrGXrwBDICwquOo0SYP
ED84hr3vJGWW3XNJu7EmaWpzY0MBd1OluVyTlaX9inpWdVS2R49mDJdlpP61HDIIcNYjAd4mtfvG
KqK2femqnlbKqq2TWThegsLnuPvX+2vz0MTrgAzgW+9Zd1L9Jn9DKyhf/o7sfp14Ig3+fL+VW5Oz
UZ15N/F64iK5HLFy8idzNCDKp3VUviJORHW1svvpsTJ09un9trbRv9pcBG3EhrSDds81SEwTz03L
UlTHGZTAKW963riSmTx00ZzuR4unIXyQuyb3N7rob7L1xOLRRj+7urwWVMzMqKB4BroGGl7Zlknj
LKhXOWq5M2d/PW3fdJGWtmQmzMNrSenOaZphLtOKR4b1m2HlKH+1/q9z0/8IlzqIV2RUXqzEvXPJ
3Fj2pGdDCBEAX0H5Xk1iNHUFpWvy+Rg5BofVN2yQ/33w7yMqUKhAmHEQgwhxnQuO8olc9dxXxyJY
RWyusqHIvT4WCwk0GEL/xV5G+w4hTDC6rJrrpHAwBTMyqrY4UomTH4Pad4ukJtWm9u+vyluDx5r8
S9sMqOR11nGBWhS6uGigMpNNMTqP8hFtrvHOuX6vlasshWG6KkMstzqarXQewjQVzw41pTs8u5ut
kCv7S9cRgeCr8w+WelsPXsNR2/KWFgNl98Kbht37I3ZrQ20Zuf/XytXNP/uKT7cqzowpnRMAVT5V
8qXe2xn10febetshjgpyIKj0QC4hc395PM26KcyA+jDuKIrMfdYF3xoMu37/961ATqXCscWBkM8u
W2nnEaUESOzHrGYJlPBG9kVZTHf6cuNwAMaNfjlceUoDpCIum2l6WOqLUVjHzHTjxtAf/Qo05diD
pjLbo7DLc+CKh8GvjyhlJu938e0Lxd/UPKCx2WiVIDB22baR5RL1WixtKgO0wkGMjvjm1Ab+OUjh
NU9pDYfmzjK5MXebrChJTe5In/TOZZO2O/H8ymgynKLxoa6FAj+aj3cCxL9s/S6PXHJW3Mh0DNXU
N2s+hC44RfBejhE1/P4QbVFZUmXTII55Vjf5zvPRUTtSY/TL4wg8q985YkpBWi0OcEtIGAaImlxV
VJIryzEe8hn8SOyOtugf3EUTD6HRPERxEYi5fy4Ls/uVGrn8c7ZAPe0oB/L/166VDjHxLyj1vG+o
19ekLkRSp3YF7AsMldgP0hG/tx6qq/fI328v1oCHrsfcEo5sBODLkZ4I3SbSd6R6qNaVSS59mT0a
nTeiCT6OGbVVtDmXpFuX4sPotMAvlmVdv6QCD3Wq/xhc7wILtCRo10aMu6GbJicmBZlZz+ksQTDZ
tTO6d1bk21Nk+2hoY0QDeHG8cZQxpFNkKZSDTpvB85CjWNKAbTyY1iTuNPV2JdIUy4MIYJNxvk79
eSMass3oyGPgdO2uAqKW9HPd37kfb7dCrQIYEAI914W/Si5Gq3pDHv0KCRig6+NLnrb32BM3W4FF
wDNv86C8DqKAwfCYK0J5rHD0OunI87G5F+m/daglfQ+ucMvVwJRiji5XlFO2ZtSv9AVunU4kihsJ
NeYVX975novyzcWLYD8HPM+dNyyxKuyablolojljBbdXmdbr0JcAtr1FH3srdQCNDs2dUPTtO4/+
kcegesW9Atb+sn9t3WkbUar2OC/KfoUrmT2AOsywbM+iODON4TBJapBRYHgP7x/ENxLEPJm3IzgA
R4ve3jbB/8jEoQIxGCmeAUc7rar2QQxSZAnlb3Ipy9gNP1wv9X6pc3bMwzKbY5HoKi39vVrNLkgG
ShD+nQDo7dXAB8EPAWJAYEd+/PKDRjfIFXgjeQQFgzdJHaVIDVvN+JVEWXVY2kr9fH8I7jV4Fa6a
Vr7ZgLO4zEB8mubG+5Cly/zZ9IR+ydJ70t03W9vUJzGt4kl/bU3c2qnX9xPdy0UzfkbJePrk4sj5
ZTanPaDw6c783tqfuH6xnrdKNmW2y9Hc0DhNk3OshbNMvw+o1SWLKObf3x/CW4cnQZGLNTe7lOr/
ZSuoaThhanLMWFQJ94USxqtQznDWysh+vN/UrfGDymcS8GGnzoP0sqm0aF1kLUOa6tvlj6gPmwcj
N6OYAQ+PocrqO0TfW12jlgemiaQmt9nV/og6lMGhQIL0rP0KFkZgJxiZOnvLLL07scOtrm3YGpKn
BGVQyi+7ZhTpbHghufecqsa0W901UscJjwYVt9EcZE+mNKLyzm19a4GQjyZcQVkKYwbnstE8NWwx
1pT3agekc9zXAZS+BQh18+XfTxxBBkeq43mb7MZlQ0atFz2Juj2GRlonws+yL14O1c7Ahm9vWNV6
p2O3RhNGOtc5Xj0U2a4mrlzXLp1tNlpPLjWpqRJ1SWNB+6hRg3zSeNTd05Z/2yK3OesSBXekVfxr
WdRcr0pjmMbSBKMdp12kY4wgfp98/XUCEXsnirjVGgo7HNxICoWY0l6OZ6+6fHSWAbPg1W7KJOhR
qpuh4vzhGSL8iiyX//H9CXy7E1gdW8ESlArUs+ud16ayZSTL/ggs3t27gzl8HtqlB7aczV/fb+pW
35APR+kPQiQ8xavzxHcGlyPZa48t6KhX5A5GEaep6crY5kZ8DETZ3yPMv90HIWktKgpbotNCSvBy
ODukXMyiY/LwPi32nvofzs5rR26r6dpXRIA5nLJzz2g0ipZ0Qsj2a+acefX/s8fA/w3ZRBNtWGeG
VF3cqcKqtfR4Pw2TtpF0rX1D6lrU6qAepii4sEIkj2pDNBQn3zC17iQxIPg7LQE174HwRhsLtuaS
KXqfLBe1/uXRBsCadB3dz1OQedbOC/JhXyG8/nCcCdTrnZXFOWO8pqsiKS9PGtpo+0wPtT2kVlvz
qrdhGVaQrmOJVI1NIXbMuzBl0KewKoeB3a6V0YUBfuWPVgn1Q29U+aeRqbUe0I83bNwhq1+Q4Ud6
oQoQiCXQLOiR6IFTqTz5eV6WDK4YZrszfJQG9vc3/Nq+gJPq/xtaXP255mux3qTlKW285JrXhnRo
oRX57jSbcr+3sSZfkoyACAtyGzR351/SamMmgjuzOBkjlAaHPC6U3aDU+j5TJHozoPjtY5vo8cnq
0mkjGlldRUhzSf75QwdlbtvsIHSFTqFEEM64pJr8P7+QIncYGzjQomPo97/vf9bV9Xtnb/G4tS3z
HmGJPdMr2r3O5Kwbq96WOsaqFeoKkGwg/kNNZe5Vl6FUmVksXtdVGVpfZQuCT1OO931Z2yKgGFgw
sFJ0dsWveHcCrHBStaSAiirLWv9Mt5CrCoWLLxV1sS/3Ta059N7U4pZqJY2ZYpMt0qZ+ZOw0kBvt
Li117+t/sANBAtEwERbo1LlLilFZ4Jja8pSQmP8EYBkz1NZ7gXq4b2ftOSH0ECTzojVtL55KqR06
SE64ouS8HP+S2pEBMD+BvFI2S+skVSNzhPctri0WEQVdJhRT0FpcXFe+YvZJp7Il4BIOzlpWGWc9
94cntVaNz/dNrThHx13nE0I5wQ2ycA6+UUZ/yfRhlygaRsLkTjCAIlK4p8/c/FXmXvN4r5XGGakZ
iFUhp77EdbZymNAjAreXpgM8nuPAwKmtS9kWhcZKiZJwCsSeiBlJhZaULZbcchPpQ3aS4tb5rBQm
kxp2WD7pkJ8+gzWwv8d1GR31wbRPwO6c78YohVtEJStrSSmA3JgKB3nUMrnxNW0E3wrsEjYn+CFb
KT+OHePbzHlbw8PZBg7/n62lNmLGRIqVhwpfFoa6HdPZJnEkYxZTBTnd/X2z6tZb50SgjgGbzw+f
liE5Gwd1fhoT6qGV0TDm5YfeNy8oog2vVu4TyLZFG5v7kZB8cUFq+dTCWTYi8MA8JyGcl38eCid4
uNsg5OX/z8ricQnRFrHCtKWC10bmebDy4Qd8TPbGcVv1hb1IKwjUPvoE8882QAOn6TG+GBZjxCWD
VofWKvqN4H5t50OaCpiGTS8IxhZXo56yNIXKpmNu7utoSNUnleYuvYfAbc3+Wlb9sVeQk4EkCGKp
qtl4qFe8FJytFFwpHspwo8y9rOq0Gpuafcg8Z1gLrTzYUpO2KDf8XLm8iOgYthA5hQJ0aG6HcfrC
tGuQbeC/gpNjTzBO1bLtghzXLl6VPE4yD7MKKQzqrXxTwv2FvY4iM5RhGbhtJf49RI78WR4na3//
aK19vfdWFosne41VVWKsKOi84tD2Rbdr0uqfx41AYq9wpBjsYJnmrrTJIBm5b2UnQbL9nMmdeWAz
bMmorrki2PhRHZAZulk25Mu076Ik46pXQKI8dUkTPBvtYG4EHCsxKVBzloTki2LyUjTemxiipaAI
tp5BiT/jKOp+KGri/OoaZtA/W7kmVbtoiu0nItveOd3/kGt70AROxuQAJSxSpfmHZGbfMvoopYTt
aE8ZM4m7IoPIW21/5DWRwn1ja98T9kYIm7EEz8XikrKMLAKaByo1TOPiKfVN/ZrVSpS7982sXO5U
rwmtiAuopC6bXUxOdUXQRRRRs2D81TM7uYPWKN4HcrjF9bvmEakzVRZiOIoei3zCgW8jrmU2e84k
6S/Gf5RLapiPa6NQnAJDA9wPr8hc5oskwWTJGLvGPmxUCdrWytj3aae9pK3tb9xJqw4R3FDigCju
hne/LBTKiBqmoCxP92mfToz5b0aIooQx7xPiEPVfi+IswJ0lmXvg5X0WeE7GkJnNQKzDDLcGIXPt
fTSt6n9k1ZFL91dznTF5HMogTEOQQ2glakeLb+kgkqIEBSsGXUe1q5RO/SW1frpxplc/4zsr4v+/
y1f8SQqmpMJB6NeiwC3hJXjSo9TfqN6vfkfCQ4TaxPVkLN7jrBwBBhSoLAUZtCqhIY+V2yeFf4S3
YnjV4aN8MenYXBOnI27UzdY+3D9qK3eXKOdTXeeLatSk5342ZquMQcAAF7LDzofcV6JDJ0vyp7Hq
zQ8ZxH4H28qtE3/Z8R8/5WBSKGxrzFcRmy5C/yC0koChWDCjjlW9qAyN/UiVwfiVo37z+L3F7QiC
GVQ4vd0llK2SjLJspBDMqGPKh7BV8xc5Us1v97/lyp6ZWVncJbUfB5oSA4KdGFJ+8uXSNxgELyr/
+B/scPlyXwm93iWrr9OGXR2XeJP20FRqDH1UbjwGo/0fFoiWJfgrlgiw1+KkFYWc2wONnlPb5Idk
LPSD3Ud/FGX+OGqINi8hh0AMARtZkp4q6qSwGTAUBpnzFNTlRw/Cx40AW+zkxZUFU6OFahqTQAIO
Pd/pNmFA2AqiAE3mKDVF+9GczGCfttH49/31EQHSjSVQkyRdJEMYm1vKu7FT81rBUtlBIMG00U7L
Ze0AtwbcWAlz94yoI+p5uW92bftRmxU4RkeInS6OMvyhLXdJKAS4BhPC0iLe66g8Pf6+mIxMcV+J
ITtaWXPnksmB3NQCvW5EaQTJmdofQ2szAljzhXIUeFoV0UVKEQsrLdgUrWzSk40klmuVbf7aa368
UWBbuX0pp1AbRdoInvKlL42ZFAWYDqw40J/BnyUbB4Ph4B9+3OY72CNsmP39eGcEvpS6dgkDxP0l
W9mTFLZViAXpgVCNWCwZ7PIKGTmA9mli1iBtmYFDOW14Gsu23zjMK190ZmoRJ+aGA5VywAAos3/W
3q6s3xov+H8yAkZJ5TkT9+182dpUL5KGbtEpVJMSLHv9u5N983z/o616YlGWEizSFC0Xe6NQahiJ
fN7MTA4AKvW8FgpR/uG+lbWlgc4PDXuaRuKZmruipRoCaRHfq078LHdRS5J2nZE0z2El9d/u21rz
6N+5cw4VQ3uLZCjUSr3uFdLlBn6Rr4Yjxstkv/jyH6zQRIedEAAvaI25R6U0VgVgDDZbH9mWq8CS
e4pHefrzvpmVQwXwj+wbCCDDO8uxWLnRhyIKO2LdqBlfIQ4029Kt4N7ynnRUHms3lYN2FMyBZXmI
g6B96lqvD4eNo7X2TbkJ6Xoo1BWJvOfeFnUxBXnvpadp8P8co1B5sZUw3egerflKx5RrkIlN0HKL
T5rWMvhGjYfLabXARZPZRie3+24YzadA1Z61qINfH4K3WJk2UMpr25OXjIOGf6BuFrFGzxB1p6Qp
x7kwrD3pmHzwmxwMeBlvibeuOvkG+KbnAi564SQD/lOhmMxjeUbzd5kM+7yGHslyvB+TNR2lcEC8
T/uZ6snGqVgJTd96EjQMyG8pRc9XsGk9XzB3pycPVtsU4i1/+qmVUC3ZyHJYX4JGjsxjyJAOFJaS
MU4bj8PqF+YZBQVNvQWU0dw8ZCASdGJOemK6xHSBXkrdTlaS7mCAQFHd+4dG+LIIGfiwIDxFb4vg
ZHHbhHoel5ZGLKyEsrGHdF+rmDnqNNfXSe2t2ICd6b7FtfMhjocoHJBqL+Eao6erU9KzdYdc0DWM
kgENnydrzX+xQ7IG5at40JefkRG0VholOz11ipN9Sc1u2tlgFR+v0VpgwMiAyLJ1ao7zxdLbQsMd
wL55yPieZBTFsx8Nj2lziblPWLg5cwTDvNdEqwsrUx0gTsOWyOGb3Cdh4Z9sqAE/31+ZtY333opY
uXepZ2zWtNk7DQXy2on+zgvIJxzH938lXi8/nhdBG035iDESBUWMhSkjldqCOi6L09bOvof0aj8B
2H08X7GApSImTxOE8TPh8DuHZDhd88zgs9HRjf9GS9VzzdzW/nf/s60dIToZTPrzh2rcYnGoegQT
j2t6AjjziwHLz0pXO7ukkjo3GraQECshPi5RCjNEUHXD2sFEgGwn8Fmcxq5+CezC+yDBF/uJB9H8
wqQAIA+t23jQ1rYFdQ+4TyAZpoK/2OJpX1gSvOPZiY5WuYNGyHCLQJl2AnG8cWbXvKMiARrOEV4u
Ox6BEnelL0EvZ4dt+yVUoIByG9XwD7U3eX80smoeYBN5+HSxBRksQn9I4PCY95lvkynqhqC36uxs
2XXxEf4wa5cn0N3e3yY39x5WyJqR66Z+KTCycyuUlCp5bPX03NrakLyoRd9MrxaiJPmj64UhbgyO
FRkM82CLoE7qwIDXYZKcGaKrmFPVAxeNKyg243rr9VjxSWA8GIYAC0u0s9j6dSipfQSH9hkeWcd2
ZcKSYzVo6qMnjCLp27Q5pNoW2ZLYNu/PsWKAdy+D+MzWCa5Zb3g/IZer4YODxHkXK2axv79WN1ue
fhvtFUwRUHIPLT5hAEWeMbRldDaCoPrswJz9l1f27YXpB2cDo32LJKb5DKxJ6NsSs5K2z53LjLGB
JLqKzsrApK82GP1TF6njx26U259VrtkHWWqdJ9QK6qesaOIzLLPhqw9MacPp28XkqoSvXDDlsJbL
ZKBLjdoz0hSn+7S5yk2cH8Mo2uKzvzniVPDJAsRICRN7wBfm7iKeYXRNYYfnSlYlKEIG+3PvdOPO
D6cWNmx5fM37SX64dius0kcFK07BkGM4t2pDRULtYAzPcjtWX1pNHj5XVJlf72+btS+IHYiFQWDf
1l8kpNbtxNDDcwkZ2i4um9YtKVpsrNPNe4MvIn6CSo4DzpT9whczLRS/N8Jz3Fvpa6UFtudmTqAn
QN7L/n+GDkT0vl/qmmPwy5PTsEvZGosDGKZda+hmEZ0nNVbC745UxZ1rKpWmfZSoHE9neyq0dKdB
nzvtWquzfw+6WXl7+imyd5DhwW2eVPr+0kljifVdlTZwaE9ehyhby62othTsozz9KLd2JJdur46Z
hGyM03gvSu/0/VOCPjLck00shYfIC7vqct/F2xNPBEeLRHxPSoHLm4x0vJpkLZAgugz6fAe7TPzb
QZkUyK0V1T/vG7tJMETcwwETuTBKEssUP+i1wie1iWAiKYqjNTXF05TZ1Uc7r7tnPfHkv0eAYNSM
ne503/LtQiJcw7sKnxNYMpAv871jon4Q1aYcnpHGsA9mnQEAiars0WecRglPKlQafEkxzjq3YsR2
aSq1yRn3nal5IklU4yPTTVCrA+5XvD24ijY+l2YCku5BB8mZaGtwBjl/4szPTaeot5IgSv7ZkUxP
duNOUvdJz2P76CPrgFISfGII2TLbvQxg0YINTXQMw7PWxfYr5SLISJvQVo9N14Ahuu/UzYnHGJUE
MdrB4C4zCXOnSsHmV2hteJYG5a9JahjrGpWX3pE+TlK1sTdvDgK2bB4ASHnoy2BtbqtypjaXcjM4
56pXHZrEM89czSiCgX483nfr5img9AkwCEoBGnnEXott4uWKLKdNwkU2Rkr0AVUBw/jcx6r9O7Mg
y91VrQQbatZY6QY+dcVH6hfMXpEaAhheGgaxrKaDHoTnru6UnVlxT3eNHe8Ge9iiorg5cPjIs0Ps
7IDfZ9Bj8TmRd6D1wFGwI6jv6hhuaU/pvY1dv+YQ+54MnjavqIDNrcA2p9uTH0dnZlMD6IclfNHk
6DDF+RZa/9YhPhpz6uRuBH40YuememmacmfU/XORDt1hQqP2c+JUWxDHW4eI/i2gE1xT1CWXHSDE
yP2psgMVXuc4/jOxydsdrYi++RUd30d3IaagThB0HbSU3xS83wWXGXFeIRupytNkfE0r/1q04ecs
U36VY/ZSV8XD50sXgC5x+3M93kz+ySHVXaYalFMRNPZZ8DLvoCsvrgnqARvXxspHZEMAzCFQYJsv
pbQqgH9oK2BKzqyvyG5OF7DmsatITbDxrKxYYt6AtozIArgWF5uiZTKLuWQFIY4x1XYjGhs7lBbk
E1UNaWO5bu9CEg52IFy6LBmjYPP9l6E50Zs25LW53zW7liEYBC3+siNpX9EF2DC2stm5bsV4AzGx
oi9ruabmq3INoOxUIx38UQ676LmR8/FwfweuWiFBZ+RXKNgugdAKOFpI0FmnpjbHlxCOHBRwoq0s
d3WNQEATOgpWmiXgpGB+u6OUrJycjPkhl5ldSn0lkoN/laWJlPl9n9atCaYyIFa8J4tlCmyf4a/C
UmBaRCRQ6ZXqOBlOcUyKx7nkSEGJ2YQiH4NmN8CTWtMzKQSWcrKDyngKyyw6Z2P1MLuxsCISI6GR
SZi4yCDq0LFjJ0JrxumU/lJnenv0prLayCBun0S2GfhghloBC5B9znd34JWD7QexynSSIDmUUzmt
EeIx0mfVGzLF7VKmzlxPtqJxY6vfLphBZws4NIgIxr6W2wMOJCmMKh0Sw8h3nlJIGtxmcOxrMBUP
k//xRgE5ETgu0B88kHMnpQGtiFYfmAuu6O8rdmPsFHvsNnbg7akS8BY2BDM8FJOWKA8gnzJ1bGc8
pX7SuxDEF26SjuNGDLNmhTaIWCpkMoFGzn1BzWMajTaYGOMJ+h0JvrqHq3yrdnSTMDAADtwCwleF
aXFSv7kVqZBsp06GgVEJXXuyvcz8R2+V4pDZefizmiZ7D4199iPJm60ZgNttwY3BnDpQU+Il8qO5
ZVnuGWJm7uWEDEJ1TqGnJyyzykNaRA8jgsTlxFvFDQVPCBnS3FTiVVaPMopxqm1GYpnNNWyX/nhy
Geu63E1hax3Fj0l3zRApP+5fV7fLCEKOKJ1glP/4M7etq/kE91to8oAp3t8hc1M7X23Kvx+2QmGO
6AlTArgpfsW7UMOSI6vzstaAciowYSRDKuNbExWo/dy3s7JogJsAVonSEmi1RQyfOGkUlKmvnbI6
kA9Mv3b7ahzTfQi257FTxuso0HggrcXtIV6WuUtSm4++rAfwJFqBN6Gf1fn+LkMkdeN6WizQv3ZM
i5XBI+bmFgsUV1y9OWCqizba0k4JAv0QMEWxYWVx/f5rxWHmhTKjTOgpPuy7BSryaRqCCCtVFrV/
MddlxafI87sK3QB1/KdL7Vi7hKONUPH9FVt1753hxQH3eV7ABJnFpYDN7UtCKeRrQxN5Y1+sWRHS
3qL1Ihj0F+4hTilHAwoJl8wimcua1DkHlTT+ftyX91YWvkhWWeR1mpYXQ0fBJsht5zWCQqPccEb8
M+86l29rBUaMGgoALi6ohRm19/KpGePygtLes9n0XzI82xltOyEoB9/f407xMtKGJsIFMrOwZvuJ
N0VN2lyYeNSHPXi0InHVcZK3BmrXtiDRLTchtqhiLM4u+K1Gs/K4geS0BkiVSfBG0PbLh/FT0JZd
9kH2Ar84aJmqj+f7Pq58UQMIF6AC2i/AnxYXcK53MVpzeXupG+BJu04GGnK0hhR65arxNOPPGPFq
EF73ra44zGZkZgJ2IdrQSyb/3FTKyeBJuSSRH7mxYXonRAW90CVSlHeeUkZPtqTXxYbZlbMABEvT
FHq3QhJhkZhPQ+XHfTJhVpV61W1yJ3xKg0n9fN+7VTNgDEV7iSWVF2acNitiB7HLi+HVXutONTHJ
tyAc/S0ulFVDgEgp4ENZTblhfnVB/JTpXWhytjsrdAcfajwJofL9w+7QKqO9xK3PLamJX/HugqzG
As1NiDQvmpo/D5LVng1l8k73jSyiHU424/niBuEUUK5fnuy4tVSvHOvyMhhN/GQV9Z9tWVJvRsfy
yU7UqXj1fM8I0BpS8y1u/dszACiPBJ3KBjMivNNzB3NHrRuqTsUlKvr6c1EkGcKkSj9C+WdZ6BMY
fp0/2PV881fgNQXkg+humacbZipbvYa/ek4gsisp5n8uUkZfDkXSjxfd6po9vc/mz/ufec1VG0oM
uj4CM2osQrtKQmQTar7qotC4rk7yMIIcTXXCMAgfklB12wzt4Y3zcHvaAbSQ4vD8iJLL0lcGRxXb
h/v7MkZD9VI4bat8yiAmSD5IDvxWLlNiUnjmIXaqP+67e3tARMkWrKPYvlSuFgcEPIo51F2aX/zG
S588KU3pYBQPTkqJtaRWC2aINjbZx1L9l/HAyhz7Pr+05YDco1qWr31TbrXqVpZOjMfyPFgQntlL
zV9wxnYWJUl+keELe0Il1fknZe59T1qZpYCF0uLh+AS3gDfI1OJI55cVU1tPwOWran6p/D6GG60N
T0HoVxu3yyJu/ffjEZxwscBRw0M7P3wMphh6E0Mnnptjvst9s3VVD8iehu7af3FIMJxQieOWWd7L
lewpCI5pfMHeaI9222cXLRm2ooZVh2jVMGcMovhmt/OgBgrgifziRcRDflhN+07v+s99FdbH+9t7
dUuwPmLMnVLcslRVRgaymTYbTw16pMhSr1KPXTFAvKCMhvWseIX6WBX939Wiqk0hE056sPrz1VL9
nDgVMaYLUr7WLwMSbjeXrfBz6ljxxsZYO7vcj+wLRup44BZBESoPCFfJIxtDVboDTFfmPgDQ5d7/
hGurxTQAI/xEX0IBYe5QLYZFBt0vLvCmtt/QPjU/d2j0Xf1S3po+XzMFLp4DxVEFwqnNTXVSY5ZV
gqmAlHvno8+Jji2aeWObBef7Xq19u/emxP9/92STm00lLb/84mhRme+pdJvRviAQ3HhO1uyAAOFI
8YJSDFmskZIpkzIofn4xU204xoFhniodttf73qx9ONASQI3oqYhi5tybvATIjAgvigNZUXjPzBRn
+k5hwMF76jPb34rGV81BBEyjnU1uvdFWvvt4kdw3dmZNbLyxLfYIcAbnSC1Td1TjZOMAr30/YsR/
pw9Fb3HuGZMbkHnU3Ol8tWmfo+/nVkVT7h/+fqIryjMoyjpwNc+tNHnjYKfk0DZSb6Bi0jbfIe9V
uw9UdFBKv29t5bUHgkSATe0UAKMtLq33ny8y/AwJRO5Wz5LPUQr9pq+O7oiAYZxI9S7W/Xhju9/c
gzRkmb4WIDIx9bis5IQSExMQw2UXK5XkVzN6KYpdIU/Nvoco/XDfvVVbtKd4R2hUUcqcu9fpaiFV
NlvengKiJilpq+KYZxWrVvuR9lpJVr9x6d7sEpIIEkPCU9oFAq8wN1kkqJV7NHAu8hiOHxIqw7sE
0Y9P9x272fYECqKdQzuRQgh25lYkb9ATu0mwkhv+Tq0a/SXPx+wcOeW4cW2smRKj7MxVQRXBdMXc
VNgjo2xnMNcPg5+7FL+rYyGu9iYK/ceg629UkQIUgEgR55k3cm5Kzjo1S6bav5RpYpw9SXZe1NZK
nqvGlB8NNkUBn1df9HRo+y4/oFbIQW6Nhn/xIyvYo7f8PUOh/Hh/lW62n1DyIJQFig+6ldrd3J8k
SzwrrDvrrBrTS6oo19DrbRfpkq+d5D3YH+BOpzlEg4pcGaJ1OiFzYx54j0xDxeMSEd4fzMYLEuRy
I29f8tcenBl6M0ZJQMTQ0IfQpJ8b05XGF9oy2SUyInWPpKjjTlq2BZR8K87PSkhkmEDsaU/xAhNw
Lh4T5pj73AHferHVxuvcJGvrYhe0YaqfE8Ou82sDf8nwBMA32VcFr5ub9WHwUgZKY2zgyG/WUiS7
XFgqQGJAM8tBbWMSejS2zecdkYzdtZ4jn8H9GT/tqBo+1BDHjBvRzq1FLmWqtiJiFEymi5egkC2v
yRCQv4SNWf2okWp/Zv43ja92i+j8HvhMqGyYvLm8ICtirlOUHx3o4pbTsE7T2EZV6MmlYoLaTcNU
2dmDvjUoeHOjQJ/MDDpoLvC2IJ0Wmyeo2cSDZ3SXfqQbQ6TSupByVLt8MrYoid9ek/kOImeHV4os
TKRFS4/shNPg12VzCVp/+KArIzo+ZVD7WJSjZydBANBWjNbVUBM9FWqWPZO3Wb9RIbbc0NPDB4cr
ODjU0mDQhugKfOXNhC7DHABIy7S6ZFlT/QRHqLqV08Qbm/V2HcmhAWe8hREqAKj58ZRrxZsGx68v
bae3wWEwNenadtAZPBrsiTSa3EwQ2tJ/X4aUkxcijBrUzcWWlOZjmhvJcdTq+Ceiuer+/l166xIt
PPBVVANxjG7y3CXGAvqkl7rskkeQJbvmJBmfa1Uevt43c7s3iVzBE9BCthBRWQKLx6TUCPQmzDSm
viOCgaO+JcMNJ8iB75u6Od+UBvBEEDKDLyZxn3s0TnbJHGQ+XVAOL92g6Hw3jrR4T7OyuqLZ9fO+
uRvPQIuB5uXdo3MCUm0RC9V6CYjL0dpLPKFrnBSNAsMltDs87lsQ4hVTBHiMdIhbG0LwxfYrW1+2
R2PsLnnrj3sLT1/aVCmf8sJ7uGgk0ND0j6nEwztOsjv/iEGdmZDhReqlTWEkgN6tYArLTDcCE/GD
Z7cIfS0GoeihMSgOzGSReE5m4RSlkqhkg41/DHrPQgw1Dn93OtJjRlaoz6hmO1unS6zIjVUKcTSV
BS3TMrfRBs2RRmdQL3KneYcqqKrDhMz20SmT/kWZmu7JyvT0pTIT7294PbYKFjcnjgIPyDjBTk5H
T162e/W8iBi6cMaLVJnyHkL/AZLB+uEEDivkH/DKgoNizyw+LYhMO4kVTkGdDdl+7Mx/jLpU972p
bNXklv4QHpEoChp8KMkFyHa+VTwG+5N4qOUrkznSx55zfi00fauFt9wqb1aoLEIrJJiFlg/OQFib
OqE9XT3ZLgS89Wul959U4A1uExi/QDEf75/r5TUiDBKdU6wlaOY9XRw2JBmi0YJ6/5qk5uD6VmDu
xyGwXF1LvtdZ8OW+tZWPKIYuVPI3FLxuKAer0ihMKy6Ha8to/16vJG/XhE25cTWKpXi/8wl3oPeh
EU+Blst42R+XREQN/K6/+nGW/23kir7Ph6k7DaWXnL2y1n4kUZQdm3wzZF+zjIAWlSTR4mD3zzdJ
o3llalhRf9WVqNwP9VTv1bKu9/yc8WinVv5aD/DZeGXlfLv/ZZeXpvCZuIjGDVxRYrB8brlKhmLS
+r67xk0mH4DiSzuEG2Q386ZH72c0tWirIXnF+0W6uowshxAYitpmzbUtJvMrVAdMfpdK8LWwhq0J
v7d/a76UlJwogAsKfpFALi5op0nkIOyU9jpoZiSjhzqlwTWSarP7xuOYhPtA79Poq91Xvn8eOy2Y
3HpII/tF6ZxA2TkyKKErQZUvHcZEHvy9oaNR9GAcIz4Icb2A3pMM3oz49Lre9+owtFfmqMB9IB1Y
fOwiOz86bbIFFbpdZ3YX3N8OmDjipmUgY3R5GNUo4l7D1Mx3LaW05z7tA85SMWxsqdvDiikg6cjJ
8/bfUGjGfqBkTJyzpeKi/uLYjfptTKIHddpoFwFfRV4EdhYxgLIELchemte2b9bXrnW8XZiYyc43
9WZjiW5ywTczIJxI+rBCXXZ+PtRM9QAYIx8z6Vr+W0bP9J/Bh0KzaaLmEBfm+BSgCHKkHy0fysYO
LkbQ2+dHzyiIOBYNpiBaY0z3z39D6hnTENlyfY0jOXsxvCL6UKnNQCkrHTYIBFa2iRBSIabBY4jO
FnWk0Eyjws5H55p0U3xVI6A0pSG1J7N5GNvCjARbnwaIkBXmA4tt9K4IqE5pU3deal/lpFBcv6qj
o+8X3sY7tYxmhBWed2440aDmkltYsXSAQYTx18Bq/SM6zTaQpCg/Q6rtHeu6i7/pBDxXJ03DYzGa
8en+0t1e7JRUGWwTuSB5+rKvOaVZh/SdZ11L8IAfxtZ8Lom4L+Q205FooTxOnaJ81Jhz2N83fPs+
s3hivFfQTDGcu9gzqtfUhjFF9lW3kh9BCUc6HLYx5JbJ6Na+vBV/3J55Djv08txiov2/fDoh+Kli
sk/rKoUxFJ5+219rHpzDfafetO7m1zrVAXaNYMajZLCsClLbLwHySOpV1VCnA20YGN2VOFVu9xYo
Zi5uZwj+V5tarkB9XNr5x8xutOqSplUegpLk5aFl3qjKxzitrPACQt37ow/pHrijPbTSua5y78OU
5HBBu0xJGL6bgAvwXQZe6i2i69u9AWqYWAYadp4qctr51qQiOZIFGcqVjg9TJqPXyBqCXUPSf1So
uPTHTKoNAAalRMnJNsdC2Zgxvd0j5Og0L9ifCOaQ485/QO9NDXTXvnpNFGSqXSRYG/ubn9njH/Zg
WdMu4Lu0GxfMzUbBltCFYhLMFGjOxX0qERgw1dpE12pKhlPsBOGxBgRxvr9R1qyQ3QpMJSnuDWHj
qHu5QQcovuqFFHgX3SvbYgdVwphsvA8rhpgIZraGzY87SwQuA2CNEk99fE3sguk5OWsOpV8FXx92
RxD/AIJit4gp//lCVWHVSEMQJldwGYzEGmO5i0J4Du9bubn7qfkxjETJmH+GaET4+u5CLqrQ0Ife
C695DyOTGRXqh1yFHkNTkwelDIlBhCkKYwLfxWDSoqlVJzEq5GYUXUETTXupHLwdIjTWg3XFNysC
1wHegsLiksatzqogp0sTXjFWkpooSV7u4iHIt26/m+wLd3ihBYKXKgfrNP9ymd0lmZNm4bXrK/tT
E0/6IYlK4zTosv+ht6TyRGtUebA6ILwT8QCFWsaTSFjmRqmAl0OE6Ns1QOP1N2Mc4+/E7oLnwOqi
L6Vm9q+RCdnm/T0i9sDsAib9EtUjFk1APpZFVNnoRl2J9eiaqlJ69MpQBtXL7fm4Fcb/GAAEAQgG
SZu75kw2RVk9jK9WFGoH3Yfr0lP0LXDtyn5nnxNGgu+mj7t8IoMgiNsxteJrqfZ9dEIiTJ+OWlwH
/i510k342po5qnvU1hG04e1aHC8LOhBbk/riWla+d+0Hnny7VoIjYKNs45K9eVko83LJskpAYEnO
F5dsPnZF3ZRFefUcrS/2DkCM5CMDEWa6A7usIlUbOoVKuDW13cnXCggA7y/gra8IiwBco2Ylorxl
g7crVKO1mYO5ap0x7fnSf8s83bugm7bO+O3RwxIf9I18ks7F4mr0/SqDv7Apr5CreB8KSdIRY7es
T8Ti2j4eDOdsWFP4GHWjSKHg0uDdZrQSNohliSzoQDIbYZOTuE3DiYHHelcOYAG7Ms42DtzKlwQ5
DMMxE5x0zPTFKfdi2XMUz8yvpYJ4ODUWdYp2vdrX9UFpZE/aiFdXPicdV0JlBqM4d8tNCkIA9TqH
eMPUgv6oeM34DMBmfLWYenw1p0R5RfNpS+/sJkYnI+U2E8oEBOo0gObHHencLs68OrpapAQvsLVp
B6sb8gsjdorvZkXQRl+mtHT8lyKRjPrUpKm18Zlv7zWSSDRHmNkWjczlTxgZedf6zpYucKaFiJdb
tsvjsdVZXLHCk8dV7Qi9e4p1c0fLUaXpElbeZSr94JXpuu/MsUZf7p+9NSOi8yRq4Tyy8sJIrE6N
URqJd8nCNDlmY9LstBhy1vtWbvelxiQEEFGBOCCxWaxZzJUSqHrmX0cFTosJ1sprnjLVGRjSFrfR
rSkuTcpGIt0nYVxC3x2mYjJD6/NrykjYsDPRLYLI2ZCMED6eHhru+57d7kZSGLY+clIwtYOHmS+S
lJTdaFZ2ci3iRN2niaZdk3gCWu8Pw4cQ4bijYgXWvqj9/tD7/YPU3BwEslWeCKa/uZCppMzNp4l4
d6V2uqKXlUj7XNeAjehUOzoX4Ylxi0zvdrdgjmIN85FCsnKZHyfMt4eNlU/XNBn1c1A49h7pkfBw
/5veLiEjQLSBgIpSEyKInTvVEDP0yRhMV98z6ZdUmlW7TpPSB/Lg+Nqq/q1asyhh8QWped0U95sB
xW/JGq+KXNYnw+xQ+SnZpTUaTd/vO3b7+Xjj0DdDABlcDJ36uWNOmPUQ6Q8dZXCt9KmDRxHzQTqI
8Pt2bl0Sb6nuEDbz3MATtbCTgdEjU+uumtfJLiKK+TmBn+DYtPKWqtSaS6RoZKZv9f0lE49To/E0
gR+5WlKbnmUna4++BOntfYfEh5kHkuLfJwHUhYrJzbtWDNKgMb2iXC0ZMD3MYVqGSFeAMjfc5v3Q
HQnW5QenjzlbAhRNrAyyg2Rq2SG0skAZPLtQrjFIjX2EWPbOr0Jr1zrxg9rmb6b+H2dnuuu20XTr
KyLAefhLSqK2tmM7ie3E/kPEicOZbM7D1Z+n9/sBx6IEEQoQGAGCuNTN6u4a1lpFT1cKSEt8qLfx
+LYsV3UtU+1izPRxl7EoTwljuXfO1e23kvchoevbmsBiX7uFpYsFLWBDvYxUSo9trKHpJZa9cWp3
rQBBRA9bBnPb4k6Sakj1xK56cfJoOC2NtfpG3+5pMd0Wd+RWSY0didOg77hZzLKuaMCMs3pZnTae
T/i3mf47F6VevVaz3huhQ0XG/Ngry9gEbWuhkTMqSP4cuXqS6UOhDk1yFpUY3HOcW+AyEytKFMVX
y6az4G2WhftFW6q8PKrIrvM/jBWzSrIuITK1OuHtTa26t22SNq0xigs95a2oTjbrbUtouFByz+Yv
Ojz7V4nP3ztJt1cDDCKqbwCxeDSo3l77QEyQWvTLsFycSKlOauXJtlHuBkbcPCnyilNLshKBCyBo
StLb7I/PEqUM4+RiNWuw5GKCfIbqlG80bffx8f1wZ/OoQ+Nrso0DnndzsZpCT52yy5aLShAYLEuj
+87oxofHVu7sHWgB6onMa4W/tz0/abHEaL0s86Wv2+a8tAiWpKJMgnrp9wY43JpCJYD9o7tI5HQj
rW2ZijfUWdRcuBr090What8ybzZe4dooOzice6YoNRO/oKBzJ2Ba0tlzZqO9dITtZ6ax1EE/WqhS
C3cHEHqbLiD3AvsRW7R7CCGufY/RF4meDW1z0XWgVX4el4rtK+2oND4oxLo8jbOW1Ccgx5n39Iso
J36SG9FIBFu+1YSs+9q1Bo78pakX7QV8Yn/sFM05lSntoMdecvtWMWMUvJGsREDV23ICY4axmYmw
20tbKeW5cwrv3GtVFZRDOQbjoNo76fut79Nn4r0n+qMqS5Pwelep9FrTUJvlJZm88gXst3mMlfHT
40XdOglG+Gb0FmmV8gpfG5nysjSbai0v1aImX714cg4LTJUX6gnT8XlTJCSydY/85A3AFvxzqpJb
lReaVkOQFI3lF20UH6o6Sf6DKTDesB3JYqn4bVaVSx25KZrKy2BbP4y11c+wyuJDLHpzJwG6dQqC
MUDetLLpnd+Ib3mLXhfMI24uE53Q76VjVvWFER7DclK1LkvoUFAp3Lmu7tnE4ckdJeIChO/1NwP4
ZoqMmQqXeE2GTyitdYesNNJTnIn0G9OYvR17d3xEZga4Pf0BRGg2ZdrYqlV1VSpxmT2zUPxSF87q
m43a5GReqvj3sZvcWR0a7ZSN+Iee+DbGHeeJbjnNgQtZPirXpl74jat9iWblZV5ncXps7c7aQOfL
24uF3eLg7HQyhYGoGX0qRmWdxFBp7ZFxAW18BobZ780bvXOmgRDSjiNbptKwbay6Q7d6okjBlrjF
/EmNSWEn0Va/P17UnS2kIY64ydv8ypt0ZFpMZFr6aKDbWXsnzU4TgiBhhT0Y5pec+aNPv9KAcaRo
FVhM5tRvuzlmlVIdGuLxArjA9WPDWi6WiLud9+zO3kmJXOBTEDeAL27c3pmq2tAhaV7mbAQHV3rd
S0az6vx4727fMqgG/O1cUDKO2mJwMhoFeqrk40UBxfpFXZfxYK65HfaRUx8Y5t79oiyG9uxVj09I
SjPbyBWCptT1ia7UNLNT5B0vU6sZv6e6kXxsG+fr45Xd7B9GoH7LoWzEoXyvayPx4qZ9lSjjJV7A
JixZVgZVnuyJ496zQh5MvEslgShx0wQpdWPxFGLzi5vXxaEvzdE3vXWvhHZzbOUhQieNXj46krTc
rteCmo4z1KiK0bFfnA/MDWUMgNNkH6aqjJ//NtRDQBhTDpWv/8ZUlihDU+btdFEmpdMvqlf28yFh
rtGztAauH/Idyrt8f4ox27JgbyoTX76aLhwz83dHGRvfYMru56e94I26Q7RErkAp5nrnYDQw4r7F
1aw5XnoK1sPw0tu2le5k9jd+IGds0nYFx0wrDOnzazvDEI09T8l8SfHtA8nj/K5MRPvs9Y0Vbrk3
FDNtV3ezGrjM3khnX71oS5EG69Qlfj16xVH0u9KGNy4nTXFICdrB9HOArheUxcawLFqhXmzkw0q/
dKORIJcPRMCbUIQ5Pv5ON/VHCy4N7Sj+JLyl7nltbl6Zfm2lrAyUY3ZSu0H5Nk6D+akv0+SUEJQA
69Tmg2FEP1qkcF8eW7+zWOIL6uByYh/JpPy6PzeBZ6WawaWolzTRzFe7djwGh1VpkBpps/N43Fy4
LNSieynFKcBybZn3mW1lgwM74KJSGQyWavgwueZR0fPp6Djlu7Ws9ySSb11Tkg050JLHCzRtkyqn
Rl0aC2iIS9sOc+PbivY3ND3vWXCxHB/qAUkzpOYhRMetby5GlnEM1ItiCJCGo8PJrtXxqAmn23m0
bj8X0lSSqANYS7YwNwlYhlJCzlRn7aJWVfRj6ufpWAmnDgwxqDv95jumSJKlIjm7JzEC157hVeOq
lG4bXaK5Ths/VWfrqEJY96PYW56VYWELZUZOI0aiY6jZXRtjmCPXv5dFJOZK+q9dGeXF0Jsnx/DR
/eW950wDXQInRl312kpbQGgso9y55OlUHQehS/Hptt7JFG79HJoAgAqJ4cPLt9PLXVCnSaTm9kVp
0vqUp3He+/aUu0cYJelLNExzQMHg6TIuswRo0MOFINzk3ze+XsVxn/PsOBdDGJOP99ShYoplZ203
ASfvCF0gaYCaKht6vYOjqYGXjnTjYjSGfrSNJvk1S+idxIbivHNjo372TZaVdkDaEgxJsrCVs0lk
H5KooHs1GgaXw52sESWJij+evAR5HyVSGdQ8bwwErutVRVE1KUzZxEoeR9/6xax8r2ynd/OwTjsb
eH0lcZ64+kAokWNJtdkb4Bztxgg9JW04CXcuMQOSzvBnbVL2WKHXx/d/hgih3+YaSk7O5ktNVUR2
sE7jqfW06hTPI1iAsUnfMbBor5l63xRZCK0KidbfHF4jzhJ6Gct4mnrjOBtG96HW+vG3Yd0DUN/b
PF5IEN4SRk1r5Po7xR0cj7xzWVNPFX/yst4vF2NP5ES+7/+/VfG/nSM1gIdJLMizvFlOwigfxi5h
pevN+DWeTeukpEYXAAqzgwLYwa92rcyvvTrsZHPXkcCbYfJhHircA3jg1g0bZgdlOjNITrFmKCGI
6oTAsBdqqNpze8iyRj2DGdRODKD1DnZh7g0xuvMdZQAsO2g8aDfdhYbBntm6Yr+vlMpXpzwPurRa
LmUlsp2wYwPY/7+10nWl9Smb1lsdVaGYrZEWYjotFQolUaR7oVK1Y2iYcXew0Yv3B21dXuWMcTms
0jmmGhMUFrd3fEub6/NQIp1Srbnz6fFVcMfF4IxSYJR9bpkXXrtYkrfQI8aMPegr7bjGbu2PYxUd
Hlt5a6FsfAwzlD4o7SButf3UWpLbuVsN08lsQQNVwD7em3DFGdPdRYd8MnI/Ljo7nK2uD5SOCWOx
p2fHzGn73x7/kusL/X/fgduBihbQFomGuF7vnCt9F5fVdHKixPYLz1VeG5hSYPSi/jQK5Tn++P/s
2Qi6kyugbmtvMXoxOoP5RMH6ZKcZSKWYRtyg1YKWXLUny3DrzpJaRvBHCd4FhLE5x926agjlGyzN
mtYPRpF7n8u6yI8Z4l7DThJ03xaNRrguVMa3TVREKZcsmd3plJkNuVaH4oMPCoMpYE4/fn78yTZs
Y7mHLEzOEkb6lEr8tlcy0QTW4gKmkN2tkXgtxjYe3i/QcadTkji98ceSu/ZHdY281LcmoMZWpVlN
ECveKgIjiZFL8/W8Jk7Z2YXbwwOYjMAAAXqX13qL3DBBhAhjcaZTZBX5r27BsLrE857Tvvjf8kGA
gS8Ak0gTfvNdC7NU2t7DylqVw8WwK90XqtfvHNG7a6EIIF8BYL1bPcLciUcbQP18WhfvX2Sei8Az
52wnGnhD8l7fA7yZSBxIXqLkSW2OX8ubIhStWU7elA0CxcooaQIT3bPen43OUwJk7+Db1d3kiqOp
RnkZFsKI2zBCU6x71ZZFLw+DmuTmR2LRZglyxky3L51NCd5ftLHbqy3dcXSkfSTL4I2ctw0zx3XV
k1ag7FPO7h/Liu66mUxfgW3uTda4s/8ELci0QW4kBNz2K4wJnIDpRjOhS634ouzyoIzmPSu315+c
KEXJG2EauFJb5OSkNbPd5e1ymuQ5aVcgfmr5asRo2Fq9sYO/l+HJ5mMT/gHPJKCVUNdNYSFm2IRY
oBCdSqUoA2dw9crvXGM9WtaSveYMODvl3Zh+fXxdvOXV12bJq8hHkI6gdQG7+PqKHzMv7we6+Kem
r6N/I8jFXWia2Zj5tddo3lcen+kLgjmF81qn0xD7yBPn2snrtNQ7pnZs/qMAQzeDoVgqObuiMKL3
Weu4GROpzK4/at1qx74mJwn/cAd9fUeDqfjSr03eX8w6i9GLtipmXTRq6b7qJRPXfdEqRh2mkW5/
WbNI6fx5mhL9QynE2tHeX2EJSDkQcdaHxWZqYyQm+zLMYom1ozHn5Q8V+bQojEpDCE6HlS7tzsm8
dT8XRBilireGKgHV9aZl+jraUCINWDtrdU6AIwYkw8/Bq+VVRiIAU4hxNyS99raXn5h5Njv64py0
Us3f13CHLrUq9tgRtwEtQTOkK52uH5AiU671pxpP37Ra4fSOc6oVUX40y1k5TUq8vE8Y2n5o2zH5
GsHiOZjwZXaqdncsw2mnDEm2LfOqTWWkRuSidkfbPZnaeLZnM/UXYXxnwNgLgl3v58gWfhQ9WZFk
lDsMFwkkl1N5qO1vZ0NolavPld1ap6lo9cM6zcspbTR157Hb3oRYkYRHSZ+jfgdh/3pXY66umD6n
ddKQQ/WVOHW/90Pp0ZC2kqey4LcFMS3ENrEm/7A3ec8i2jobqb+c1JyRGggUjn8umbt+e3xRbO9C
FkSxhxI7IQzKM9t4KR4Y+io5CKesay07GNa1/RTVUz75TTd7f7mWUPfkvO/soRz9g4gItRKKWpur
aSpgey52YRMwIFY4pG12mrhmjgBc9qBT90xBV4M8SmEXNNimPjLaVas5C6ZGxxj8bNXHIFNheiXZ
uocovbeR0vWQRJQE/W1MzZxg0Dtrb5+SeS4CN871b7HoGKRgz9HHaa2d4OkPRw+cG0SOhKUqI3/P
T+d7rQpLaBILkZtTHMQNQvK2li8hcq7dwSBb/A/2CLxoShNWU4Tc2NPhMhQR0LFTk6XOO6xUp6Vc
RWg7w3IsNaX69Hh9dz4d6TiyLFJYRIJXr9dnZjYhu7RH3lr9UTcF0tRatXxtXUbRPTZ1k5dyCKTK
h1TCBRXMNPRrWxqSnGPfFNHJmcf2TyYqRXWF5u9Q9n8Orijc33rTbS0kr6JaPydahxiUgD87vVha
vLzWPBkjOnNFoh70KjNbWTdt650fuX2bqIORoeJDNMY8qsCb+9ykcCQaU3FOqbUWB3NY+kM5dT8e
78Q9I7SnID4QIJFGbR5ANPVokSG4eTIz5gbAkFT8xe73ai3yb/k5NpFLkbUWGi6yYLq1ssSiyNB7
9U7FMnUvU9ExLzEZ1ONsDePHpY7iF3N11KMz6PHvzqh1x2cXyZtIbeptMpLEt19/7TwTYiyGLA6z
iRw0jw3tZIv8+2Mjd3wK75QvL80P7p/t+yvWwq1rb47DlEnUxDqQkOCZ0u1MD+2wen9pUaua4Tj1
nvZbZK5qlJEOW/1ygASO7nRcuwr1iCnz+ndzow8/nMGYnhtQJp8YBipIDDU4TKgg2zuLUeNRNphx
EnbzZIdGVlrh0JbiKdnC/7PCTkBh46xSlrze7yYyayNdiyRM+rQJ1K5IKIUn9dNflbVAnyHigKxJ
efjaCg38xVnqOgkNtzZ8e86qYKJuuHML3h4QEMWE81IsCj2zLbi4BOAukIJJwpKCOH80bjAbfbXT
hbmxQq0EZo4N1ZDvciPfNM5eFJt1ixXNS48d+N8gY/bPs2vhbwZPynBnMGKyjXW9Y64RJSLLlCRU
CjtC+c1TvjX9Uv/1+CBs5ofy+d/M0Cqj0k7WpW4ejlUx7HnoGGSgjqX97+rN1vpZdxJh+QQc8ccm
8or2oozKqr7LhOn+UJe8syciEcZO+0WfTumhn0FSfh9rhiGeYk/LfxeZCc1tLJ3xlzie1/5iJNWU
+au1Wkk4gsFOg0VkceerRoWSnarGw6+dO8CCfry4m0eKtaGGJjm70LtvhJdlZdKOSJlYW4NAoGnW
r3mVrRelzvfokvdM0XKXA4mZVQ3M7vprqXnGSDfoMKFV2MxHKBlplNJG8TMv3eMhbFNWqbbGuAL5
9Erdn+1TU2WOPU2dB5e+Kc+9nFZjjdZ3ruPflsr+ODAM4uldfKu9StF9xkNtEyIFTUXhml0WWpnd
+CuzsRE9jBgARNv29NjUnZNFwCmBP8SeRKGbXcw8NEazvMlCketF6KntdLBy47l5DG8uL6NO+ggM
gJTCSdffqjVNMmK9z0IFGm2ALnx1cLQu2nG+u2sh36GMAaeN2tu1FWPul1HJKE+lZH/HadKmILPR
UX28Y9tsDmeQrQkiMTJWymKb2MhCUrBJUy0LR4drqDEr87UtSg1qj6l0va9b3fhj0azixUT+/utj
2/dWiF0qT9RqEFjcXB11OcW502Kb7Kc5eJO+HBRUoJ9Cnv3va5EBkZCQ2WFM7sBPkXTdTHWjKg6T
VhCuPtQJ3MB1ZerUf1iLVKYEbUOTYZvOFYURr2OpZmFeWmrgrA6chVX1nn0FiWJpI0EEoVhMkLW5
0/N26EctKfJQX5Xk7JUDGXhXfH68FLntV/EblB6a6fwDbp8GwsbIlJrGMq5NEfbNgAbsSjWmN6xy
8UEFpSdHtNo/jw3e3n1UZZB2Zl4cvRO6VddfyCnHCEIIxSMr6ccP67AYB6FkzT92XuxcRTdLIwii
YAKIjlYjiC3pkT/5woS60KS2eh5qs9Kpr+Y0aJlfxYjOn02dfvG7uRrhmTxe3j2jNBCIj2jJIF29
WV48qDDyEi4lt4nnw6JOU+gyDhJ6M1RIv+cr/P3Y4M1+skrQiHJGM3oGpKzXqzTqwokiCLdhMevC
O0aJA/KoThw37M3K2Jsae295xL/4I28XF8hmeQSyceqoC9YQOvMR8e8/iy5yv3NFG79Eiv3khAwO
NMt76xRz+RLbbnsFvQ17JUZkLSzbuflFiTTtVwUY+l+iJSnX4nJvpPC9BUKLIAunaSCVvq63s6eC
nK/ggcJqWbIG7qoyGoe+j7NzOTnRr3MzFS/PfkBKQ+QWRKIcCNCE1xbjqCgUDV2lMKpWusKI+V5y
N00/KMtSnx6bul0cpjyIqgisUCrfNsa7GBpXMRtV6PChoGCo4ovlpLQt8jGOqrO2CPFsGRZahGQm
0u2i9AXrY7s6Kk+pWfaAPoclpnbifQYu1+1kJbdngLI8aCBXPp+sS/73n0567rb6nNJHCmeNhNpX
RJR+HHnsPq1mvP77eA9v3jEWBEYH/hGX5u2QH0hBTbGkZR3S2DGDNufyPrSNp+zpCLyJVl/dzNKQ
hGmD08YbtztnKsmo430ijL0i+32y064LotVN5zPhMGJwy+Tlfu2mTXep3LSL33PVxZ+Fk7oL4Jem
+TDYuTF8H+2M+mxUxBbTxlWoTH5dWFb0QWQVPK0iaecvoHKsOoDEGa8XKHmrcVlAdtto/I+tdRwa
TftWu8OQVD4FgNkTvmNO9bOVdOkoJH3MzSWmk8MBr7+hV63rUnRuGSozXbMxj7RfRJaunx9/vZsI
aGNFnpCfPAWok65XuVHy9bwMyVnLDepyYMJKWeZHN+sL9jURn6pGFOFjy/Li2H5OLmpQQ7DkZBnh
2rIAStHFhUQ/M+X2DEd8Pkb60ATaLOzf0BVZzo0Wp59cOMO/xKOGG/8H+xDmCACZJHkjfCTMeFLQ
pq3kLMkSra0y+5Yo+RyUQinei05PAoupcb/0yuh9SXn2n02DKVDAq+HhgLROaXrzcAwgSOy1yjmi
Ue6+2Ma4fhhywozHi9xQUuVzAQBH0vABF0lk++b7dl5BA45xQEys9kT/oq5Fb/lpunTGC41Wsfh2
rivj38lgKLGv1s5avpCVNtpF6J2t+rU2uTBMFTsRqDblSsZkC30uA1FBhPU7x5nRlS8aNQ2mwoT5
3HnVYr+gt1dlr4ORt/aOu0qnv3Ya+cryrnO7kddve6jsECMVQNlQCR5rfykKJyiU4ROyNOvx8c7d
Pg2y2C3vMy4cHcmva/ds86k1EXWvQ7SKLc330kV5V1dmFTYiEr4xaMVzU3rePhVlBJCcnAVqoNvw
DIEBd52RSQiXOi6Oa5Z+8lrFCzw92cNb3F7ZhLi8sNSeoUMbziZRnKFMDSRvdRhDyj+Ok6meVDHu
YZVvrxaKSMRGAMBcvG/bTtJX4a5DYoiw96KvvPRjYI7akXtUDRC20gO9Vj4ujbkTPdz5btLVkYKA
REclefPd8i4WYkITNlzNJQ3NDLmxthnrwFzL+Diuhvjy2E/u7OWVvc01xpTkBPDwJMLc6dSX1RiZ
ZU1eGzy2csfvkQMnJoKOQBC99cbBJQDKpkXKQDReeujawlkY7agaB/QanJ2b+c4W0sHlUkJ2UaqT
yh/z05tQJ1XdG2Utwro2QK3N07+zEX9Jq+rH2kffHy/szvZx+dO84iqE7reNn1EFVaK8IsqqhNoG
MfNAD6Xp7cUOt1YgylEbkTA4F+/e5PkMrjFd5k8MYeE5ndTJ7RU/ssf6WbgQ+yUnlgAYBTZFtLLJ
tseszF1HYGfUO81v7FU723FhHB7v2a0zUBF5A/ZK0bYbBcIuiWyGN619mOqLHgfRzLN5HC09M0N7
Ld09MsCtO9D4ldUrfI921RZR0g9tNnTmPIROAkfJd1u3q87EDEX6nuG3ef1RdFr7HONWXoayuU8L
jHUis7jtYyiqU9idpjLkXLOrg9umSlCshkbte9h7I2+3U2K7pPYnnWgKkJsMh/6ZUBtNUcOoH6cg
idL0IEq3e+khZO3Ibt34IcEcFW8yOBM9oBu2eY6zVzNV8TBum/nQx01zkpjJnUf/DbJ09Ury15PO
gJB4E5Dcarq0WjTkTElgdvtUtX9oNhd8qFVx2gVJPsXmcajM9s8lMvU+DaKsnZZ3tVZ3y9nIwa/G
O7/mds00RohvSHpoXNyMpzTLZlKMITZDb0D0P+odNZxcxjU8PhNv5K/rNQM6wznxUZNrf6u94SxJ
bavAt8KxtPL12PVO3L7PzDWtDvSoFNdP7aTo/WHKZuUVPKhnEs4LLX/XUXRbyfhmbdA+q2lb2Wq4
Lk4zwg3pF+WPflChy7sUbc3fKxuQwhFxmcl7TUQNQaZowNeLpu5mkoE67tdD7uiN/s1LV+dLC1q0
SP12KIQTJKtWLq8U0BFALpli8qV0MwjCoz0J4YvK7pyjEKLRzo0KkvF1UDMtP46jsIf3pSdA1jf1
mMWIGZv5eFibRBf/1GXXfzGKzuz8MbaSNmyyTht9t1FgjAuhgQkIPBqBF0Zq9d0hpnxXwUwyhXt2
nSUqfl3jpLcJ86PFPkZaG/WfB5R5nAOZVDr90oE88E4QapgQsVpO3x6rqsi8w+xMykopZ16m82jq
aOxERaJ/Nrx1VTk1Uq6/YTrkv6IG0v1nqSIF+1dkRIX6rnDbrDi20VBF/zz+/rdeJrltRPMEGuDC
tujrWWhzl9EGDDuvEwe71+KAITXi/NiKfCe2ToZ0EZ4MxZbW0iZob4cmSrgp7HCZEvEDIfLqXdba
AtkfUbxbE0M75lWTHR8bvbmfQP4QR0mhcJNAfqtZknnJoojapIeJIuF5smstLCGoBuNS7ake3t1F
wmtCJxhtN9XixDRHGAIcInR4xncV0Db0D1X1PyxItuWArYDPQVLkOr5YRJE0aR7ZoTfGUmDDLo4l
SP1T1S3jb4/37t6CJHUINqCU/dyWv+e87zRRuXboMIHwfYOW5CWyPPHste4SvlBPpYVFcdXYImsb
tS0GpZ6UcCwKHWqFEh2A+mnPbhvIPSjWcGwkuvOmLpa4KyyOSXPC3q2dP2hpRoe0sbzTbDZ7g6pv
XA5TuAFSRkRm9CdkSPBTBKiOHQ+lV7u8U1P0XY/KJUMhT0uZsYCEw84DcWsMThlLo1FPyQ9s8rUx
V6wl87wVL6ygi4Sjrbh/o81aB0nPrMgdWzf+ADKCMp6stlPwI+e9ttXasWJ3qe2FeL8AkdxRSaob
bw8Ffd8M0CVeI9jkW70pIdwM8KnhhWU5wbe1sxrJ8sh92iFYDNcvmE5JMtzylFPF4z7WIi+czF4F
ESB1urKxHw4ib9q9Wd53lsS9Sp0U9wbusD1JMJNSlcI2S0oa4YMyHpCjzvee8btWADrQMED99aYR
nBg5ikB1HIVjbUb5Ia6r+G9qs+veVIRbn+PTyHSKyg8etw0vi9luUM7N7DDKUtPPdDgqldn351nN
zR2M9B1TROvAr6i/4Hdb/VNmA0yIH5pe2LXZdCTOXgItjWwmdAzt095ts2nMzwECBEF9awqaLlJQ
ceeFous9Xx1NL4i1XXDeTeGOcA7WMyB2qR8DZu76DDWOO6DwUEWh27lx9GfW1a76QZhGrAJ9pafk
p+soygOw/fyfRJFdtNXRlb3Gy+22Ai+GncyFKJGdW3k6a6kVQ8tmj/HuXLciHcyAyddeMGS7TP1b
pyQdplgn6Y2kdVv1icqqslwhOw+1slP7YzLlasls6NrYe37vrAlpMgyRe8MQ3WZaUWvFraPWUWgN
ZRcULtWmUpT0A+1lPjx+GO+Y4m4nT6CZSo15i2PuuNjNwVSVkKFt6IY1+tdJBdBZgsl63pIsPZLe
y+Ym7JZrd8mLvGXSVxOfu4ExI5onnCMiw85pypSnk0auJfjCnGjsuYzkuDY1RmNTDZoen3Oz+5q7
4HznblGO8v/aKZHccQlZ0yJhxBzskc2blSgVsO90ic+x2XZBa61DYHpTfHz8kW4yb34ZwQs4QoJO
wJGbZzibU9KxSYvPoq5PCkA830vsf+p+JGmpnlM/IeOmWQSkXm4fXFQc43rzLKPqoXIMyTmJBtcH
d0sVfpi9nbL3mw9fhdDEztxN9DNoKpKubb6RoiedpdStEpqKYZaTP3pzmn9YVESZP646I4D9IWtH
m4L8mjV+zeyj37LWGyo/7xDPlQCaqgjrxGb6sdozm+yvoagcDfhs4kY7wePNGeGBICIh7JZoOLRt
rndEm2KUo+K4PCMo9oeoMjKoqvxaMS5sp7p3401sPHcq9QeYo9R2Nt85qkf4X7mozrOXJwen7uyj
1xv1zkG88SZpBUY97SQ8l5bn9XLaRVur2oL7YUx6OwdIO9S9v46I7/sIBo3FZeVH7qmI3u4hIRAv
LYB43iYE4a6NDrYoaE+kLhkTOkGB7U3ULJEDn9dTavbxnqjKDQ2Vhhm3mirlzRE2owx8bc+bNS+p
7NWBD1Suv6TlHF/aSCv/VRcERo8Q7dIB3d7RY+RzXSXO2fPSegoMRUm6k9FA7tnJGG8eSx4nUjZu
PsJAhDs2AWcZpYxWAGgSLmn0V7+soV4pFyuOv8Zz/i5t7T+MxnlXGntd5tsSEHa5MwjiYeLI1vb1
PridUXl1HHvsg9A0X4srw3fTyA2GTtXO5ZB4r5rXpa9Frc+/aoOi/xmZpfXp8f11ky7LH0F7Cywa
QCvgmNc/IqlH02TWlEekIFL1RF3EbY8MKjKsc1mgm+y7Sd19zJMSLtRjy7cnilIThSB02WX/ZqtY
wYCdBhbS4oW51ojSt4Sz0PNdrfG/2OGyJGFGrAJdlu0K7Rr5yN6D29463+N8HX5Vja7cCSHvrYaY
gJIhcR190c2dSX801Tp8K6yF47yjEc9g9iJdDs/vGUUGjg5RKrfexgqBauHqMbnRSsxmHKcq16ZD
rc3TXuf19k4g04MtTXWSRIJ5j9ebNlsxzYWZIJ+sOQ3AyIlXzxmaQ1Y0e1rk93ZOTrZBeY2CDVHV
tSnTy5UhLfKI7kyb/mnDuQytvNZPz+8cZB85hxAhUMqu11aqro2YF5dEoTHmyzE1MvU8KJm980rc
3t9s209WNtsmwPt0JERRODlp9aFarfoiElM/9ami/0Kf3Tk+XtW90yt1n4k7JLV9O4WdgU/eTDWI
CFuzhxd7df/Km3EOQKvApV8uWQ1O5rHFO19LKr5I7sJbGWVzacEBQIdCK6MwTpYudNU2OySzt/76
2Mod94NtgiGb7gJ1vI1PFE2EHEwmolCJujjk/vPOU5moR7xjb/j5XVM0hCjWSCXtrfDW1E+EDcYQ
hU5ufV6qmcqyk7XEPFWx887c3ToLXLNELkLy2bigqeR0NtAGDxnU2vqDrhhH1Rys5x0diQcZHkKk
4X7dvOZFa9tLnFVK6BVDYweRHUfvTEMyhJ7+RFLVkiCRm1VOab0+UDzxU+VVSXwGglF+ULJyes0U
4QXL0FXfHpu6c6pokkD+IpgHULCliRiFWNnQPjkPla6+9tHivlSK0v3mFnb/zXLadq9WKI/pVQDM
sGVi4Lf1yQL6xslb3kkkSfPkzFzkWfhTY7jJQW8TE7K8rbR/E81G7qmerKT6bOS90/oIIXTtP4Mz
tNWRzrbaZL6IuvIDXBBj+jgg+oESGMwBy6/aeqqCynH62F9dMZqgnYbor4jZW/2Rx3amvoZ0njh0
mR5nvpqvtvvdbpxIsqA1NXkfTToXjCa6oQ/jvlD+9pAmcHnY2qo+aV2feMcs71QY/THkGnivo6n6
+TQpeWD0M79gMqZuCOIpzv6sEA9nMrGnpkXoKgUw7sdf7o7LgzUGQwPRUhKR5H//qUjZAs010RoC
CTwl9W9IoGYnaDr/4VWUoTkgIbJEguaNKw6jU4PUW9BlrxPrSHWlDJqVUsd/WMtPVjZ3O/Qp2yB1
Tc6Rlv1lDsN8ENQxDo+N3LmNKGQgZwQ8ggqDKY/CTxuG3GSbUNzH1fNxkqR0QTu11I5JvT6rHkIx
UsJwad1ymVMn2phipNFilkXBQDlmkJwzixxjFJkWysbdztbdrooeOJGe/IPq2TahrEC5FKmtp+cs
idOjg/zLMZq9+WSs4Jqf3UDatiAPZdviTePiegMLyN+2W6DbilisEcyNYx292LF+7U0z3bkBb50b
UzRxJY4F/P4NWz8qOqOxQNkmdA99XujG1wZvD1F/b+8kxxbePkUTut/XC2r6bKyMFM5pVKV0DDNv
CPQl/QOhpD3e/K0lWctAKlZKatFq3zy6MFNzpATV+tw4k5YFoEFQ8EwqbRoPaumpexn11hzfR77v
0G3o6hMAbs4TTe68sgsvCkt3QXnE1Qs9P6dxETMmUx2SdacctA2VpDn4f6S4tE1ggm3udEvojeq0
VNNQhADdVKbiVRuN4tDV6RC2LnTTTi3UnThm+3K9GeUwv+0rYLXNGVOo1aGUiq5Wt2j/j7PzWHIc
17r1EzGC3kxJSimld5VlJoyyBB1Igp5Pfz/2PzkpVZQi7+BEnO5BIwnBbKy9jHjRvLHbLY6yjw0C
hjuq3Ev+MdtH/O/FxXj/CUk2kMjmU09OwgRzhRUhuEZzMMNDqul+S9N4Kzv1OPkljhZGs6/y6WhX
xYVH1l9+TN4+G0i5Ef/O7D6SFqpCWq/pQZhWGZDakFbPC4TtbjetbnPpKP7LtG68J6p5oncoRk9q
nHawE2X0VnowUjL1Jl9S0Wcd4VBpMe+nMVjmCwfY6Vbf5hXiE+sGXsi5a7jrCaEpyYBp689h4CuC
PsvqUpzu30f5z4oSKJGXxPut7vutrDBBTw/2QjwgSWYqJtvxo2oPvuU/Wiufg2IAEOb9KIbFu86R
Iju4ZD6j37OluiGGLL0VrlO5IakmzsdnD9ct6lFkyBv34+Tn0hdiUlu7Y8S+rx7IMh3wwjQumaj9
ZQluLQ/QfxTdQPQns1dmwewveNQftLKod7pInftFM80rcygugb5/OUtoUPKU5Kyku3EqUNQUlNui
0LnP2qZ9FgKyRsMBubOESspwIRT5anBa54Ji4Hxz88vhtEBbdCuETze3s6yBWetrflh8vR6vsn40
xxs7dYxsP+Ec3l1P7lD+7JOMHLHCUIMXzz3K2g/eegRpw7/aMBuYPKChJ8tnyjTX6EVVHHonq18m
4S8vw9A3zx+7xhllm1eazj4vQND794u0xQnOyQw7O+htN9ygrV0jPBHM+yyR3oWK4XzXMRQ9RkwB
N6eO0xq1Q/nf16aXHWY5/6prvY1r4KGrf3/P3wbhQAZ92hQYXHvvv0d3+lxTRIwesPORj5qnYR/m
yvX7v0c5PxdpKHIMbyfxJgc+2QIALK0Niorup3GyR71MvTfN2eINU2EQX2Km64Ul+bcBAU9pcJNZ
Arh2UjLYyi1ma1oKSgYnvzXL1LhuRW5fk7zR76W3tMd/f+BfppHjERu/zb0BievJskgX+Iip1pcH
p5Fqb06DOJqZMV2Yxr+OQvNjE8PReDtts+T6bFgV8WqHxh+bKMurXIT6pIovFz7mDAlnldOxhA7F
Wa9vvZ33q2IwZ8tuLcCUYpZS3a9OOSb7QMua8bUh5vm3Bmym3fRtnR/nRJnBoeW712O+Ilnmtd2n
1k7rEZzcTp3ttU/VsJilCilZ8ZXIXFe5O1GkIrjahml2S55NJYX3GPwcWedjZMpmakPEQX57ZXZK
2ZE+rqQ51EXayi960pt2nGJI5b4kzsS9h8yj9eJ+hdh8TC1zVLfGKrC4ToZViGfcvdziRyqTJg/T
wTa0KhwrzexuTGv1BF5fCZQYfDf85SrvfK1/QdFjWLHT6g3WOEnb698SM12WnTKnpduJKvNK2Gg4
R0UFup+nMTAyFMamNmC+Cq+Nh3me1LYnaDjNg4kSuEmNJRSlmrKDrL3W/52njTXGszCUcYsVxupE
XeOOMp4qS3R3y+Au+lVR1pX+JHxSXWIZzPp0I6QelFcFZ6wXj7LGzibQnMp6LdygDkKX9W1HdIJS
EU49sU5D2OWEXtxvdlv6rYN8AzOWwCSdDxcj+QND/2p4KMbGN8Np1msn6qVqfs8ejZ5rY9WW6kn5
Ph42NBFJr9EaomXiIJ9RXlYuipd4LubV2/V+nnHm2kkn71qt8oa9prmaeeAdNVUvS0rf6JioxC2P
ai2cKZ42c5yXGXcE8xYiYknUWVcUxldM/rwJ/T7kruWeUXCh05EwqJ8aPUf3O+blCaXHmEq5w0Io
kyER0HW5W3CIFyIMZg7rFPa8MUz3vkOLb9fg5ELMaBmkxDEpLlsB88Rx80ejXywdQ0q3x8ymWxbE
2iX84D6eOqPz7vIFgjxCrbQxY+CWYnosnToNfiMcToOntm2M5imwxrEMdW+0CjdcK62rDoWr2d7P
Trh9u5t9q1e/lObU1hImlZhzI2osQ6tfeq8P+AH8pp/m67ofrO66zPvFuFXIeeqrUguydJc0Q56I
Y0Hlar6hMzbNX9Ns5d6926W6RcibYQ6fZhN8eq+0HHceUc7G9GWBINkfS3rXGXtNH+Z8t9m9NEc8
/GcRrVgF5WbYp4LNFI4ir2mmmaqe/wCjTWbcUid1L7WW+NaeXoEUT9qGjO+rDqLnTsAuyKM0mCye
edNi5Pt67sc31Riq3vXBINyINTOqkMReTqVkbfhVxq7uin3RDpb8BtOcpOzGnj3taGpl/7S6EgP8
0C5XP5lC0+/G4GGtO+k/ywHzv0e9nUw0xoGc9GwN1eq7gJ9Iayjas1E69/pI+/dQu2Iy3yqnnJbY
JAMhCDGn3P5LPXYosZHlor+eCRrJ9o3dO3rYe0vnX41W5gU7AMJEvjSUm2bYdVb2ramH3iIOb+h6
a4/ZqPgBckAc6Gp0RXJYjXVodmOTztMXzelFvvP10nZgt6nB7qNKjFO1Mwaz8/BPmIpmL+BW5Q+2
2WqWCGk3pm2MibGbh1bp99OPiWiv+WhWWAhGticVOIAcTWXEWZbVxm5KkJFialRU6m0cAqP87i96
NkfjKgIMGWEreL+NSpHCFc6VP2VXMuuNaLS6o2NO8JL8dvF3ltO1j1ZOlRHJ3m3TuHbdMYjzQqRd
hPds1z7lRLffgANOxc7EbWgkC9XNs9tkUWsWrppX5BDDgqF/8ld03uFUyVFD2Zak3zYgV2Shqya1
RlyMSfcn1/LkdTBUNl+vckjKAaqSP8oy9rJK2BHg5uirMKVj3uNttMzU+OEwZn1VhJxluX5nZKW9
HA27JEfHXcxM/6SSZmYBJFU5rrErCw035gCR+yhDwy5095GZNddjHaCDf8EZw5l+zO3g9rEcfajV
Yd+Jdgjx3ZPulQoq14rk0E8SvZm7Wl6Jwgcz3Niqsy6/zddkbvAfaNR2fJvSRbQGPbd4zEqVidBr
ZfkDD7gxLdC+q17FmdfjBr06DX9bN1YNNpLd3LrGTZtoYjiudukyi02npJ6zbJPeDz38I/1rfTVr
4zooqvo1gNw1Xgtj6WSYBau4rtpZ1w45s+rsm3lo3XDKGSYupGV86QK7GKKZqCaa0bYYsnglzcG9
K7h0tfssZUXMYauj+7zzbeWY123bj+mV9HLf+5EXSb7eE6M9dtxYram6w5wvfoPp+kix+5S4QaIe
0FyZz0FdAB7J1e4/+6Nt/EywZSaOmpspiQhxmm67dKi+UEOIx2Yc7CpUDT24g5bp7hdkheNbK+U8
R6D0q31LapHnXNM9HLMwm+fxT96uzu9kmikJ7Xxoi4MktZ1jqRGdDkAQOJgH3ReePS9vyhhRKUGu
S/29X60pu8gSq+sxTW4yPJfOYmU3fm9kRJC33McVaTjN7N7BOByLXyWuBLaFZaylqjcD/UQFmV8t
Xk1cn3TNMWTHrdVVA7mzeha68Puw6JPVvhrwkTPXx3b7h7eyzgscWLSysQfBuqVY3wdSDWOkY57z
U7qJQyDeCI0+zLu81+601uofjQ6U/lrzsjbdyiGnCPM2NQcqCyn12FoH54c29xmmVnmWOz9tIgOL
iBgX0TxridOUoePCl7wbEpF1ZuwQKPPHmHLjlf2kJW9yVFW2Wwwzy/8UPMDmSEL3/mi/lUowoBu+
EQKBspGCvq8EqSB0LsRFHkxuxbhxNDeikwRprrTc+ELZyX/qPUb0fqiTGtqwMmMBAJSHism7m0Up
v+n+dAn5P38i8wLHmBnqH284cNL3H0Tqbt7My1gdMsQ2x8oZaIgYq/O8+LJ9y9xej/O5sJ8++mn0
XjfBPo+sTQx18v5pBl2NXi7lQRlzLuLOHJKt5NMvadXOoQaMWui5bngiJNhTqKEdM92salsc5sou
v41lqjrcoGdfj5dV1/4/nsIIajG4xg8Pit7J72Uiu7bWJREHHxsSjW1lpa81NfUSNdCvLrGvzz5t
o6VCV3aBaXAMOGWOyrWh7DWa+jB7HIWp5pc/2JUWNpnV+vLvX+vs8cjqALtDV4ivysaOfr9EigbL
aXCn/jAk3JK2phdRFkxvWPRjFWx9WKOBbyEaYaS0LvgJSbknKJTbZGqeApPhSF+PxLx2m6UK9vMO
fNh/f9nZJAJdsCyA18AK8Y88edfpS5eTpuBAMSgWb8frxH0NpjK7rpey//3hoSgPYelZwPa4mp4s
+QDFkTesDNUHrIhi8LNwKIvsqs6bS7bVf/mqDTOEYo5DDW35k6/S5nocRNsbB8NOyEcwuM6zTfQ0
Otklmyz/9Iyy6C6QmwM1aXP8PFU/G8bspZKGwGFYbEMd4RGb36XeeU1opmn+ZgkzeRIpH7or1zqr
dv+e07P3/zY6TQI4AdBRMHZ4vzArI+0zSzB6yut3zxPc40pyL9HO/jYKdGUgS8YgQ2ebg/9p9fEG
aRyejOZBL2kGYNg5xDquIBeOxNNNBh4KUoIPN6xR8JJTEjFHYrNpXP3DKA3/WFvteizt4feALH9v
D/LS1J2uEUQpW5uFxchg2LedfFSPg5o3yyo5QIOp9/XqL7FuKXUlAnHJJe50/hgKiup/rWULNPTU
YTybB/hCC9ArtYETlTBSj4NS4gLceT5/m4UBx/zmGEwVtX3w//xKASbIgTa7/mEW7tdeGLdd5dYh
T8enyV3TC4OdfRLx59vJy0HFqcg/vB8sk/gtJ+ZqHWAWNFPcL4oatM7K/Pu/F/jZr2TT9kU0y/Tx
qD+rNgTfEiSukR/VojApzPO6ijbOw6sYhXPhlD8fCyiSs4ktBc0P4tD7b3L8oXKrxi6PiPCt646L
6x7zCu1mgjh9Yfq2ffm/lQ1Q8UYF5rwFawGMPIGmC3OZChlo5bElxs7YjUVmuj+yNgHRWM3Ee1QN
soAHc0yK/HYUdfms9804Hj46tzQ5ILOhKkJwBl/l/feuG78sNfDosLpG4GQvhjejhx0T5o64FDZy
vl6I3cL3iR+T3iIv7fdj8USDaC5SeWxWMkvnznVib87c/b+/6MzVh3mlgIMDTDDERjI7GSbhT3DN
yqyO9cRDlURlTuZ4qfQxjwBa/Nc+IB7rCGRBYls9qXm59dG6rg9JueQ2yEO66od18d1PxiR6HB4K
4jriHnFXFidmkhOMrjq/fUu0fNKRYqVFUMSB8IiwlV7jtTunnZf60Mx6P+OONLTTK36NzngbrOQi
7WxVX8qb+D/k9f1SoiWwdfX/k5VgcvV+Zs2+5CES+OmxNCWlz56336TnR92psg2KWlp//OzYzbC+
du0621/mxpRGFvJvMusetkPhxK6DoPY+K6HH3KGmFXPkJDO/FZE7q/FYibwsDgMwEThWQMLers5J
AA8nmJ/y51hC7IkQAOjdA3JnMR9rQeN2Z3h5m0Wj2YokBmAS2mtvNj5Jq81SF7slsbRxV/PQyN0w
KPXpz0DnxI7r0qx4Zhet7xzGiQjkqE4tY8J+Y+jyu3UuZXZbNy0GYrUTUBv5xWqJqFlgxCGWLZr0
3ksxyNw5QzKpMCt1a7lxSqQ/+IxndOofvM7zqwfRVZb7yEZryVVMVVJFxrSk6AF8Xv43opKt9rw4
QWZfc6Z69Y2d52kVrpa1fOf13ug7MXpyvjdIcvCP8AAgX4WGQsN9cDCgUH+KdQbGABK1SYiQXqKi
pCiKai/QyufxyrPM2KVyizESpe/9YY/y1RM2x8NRz6t22K/VUgYRwUrJD1GWmGJagkCgcPE1pwyn
xSVMLBvMyb/qEtP4zpUgKxZ7JtVBX52hidnvZM63Xdnrz1O9uK/aNC7lY18mjrbLkqL+jqpQ/5P1
Zvq85LrCkBCrXpBpbcu6dIp56nCl6bNPGVhqEHuu2z7n3jo/qlobEHI6s3bbL70z7SUpqgIPIMq7
0ByXtom8SqIsL53UE1FljmVwW5Se81OvQLh3NChK4zMojb3cpk2Q/MBcNE9io7azPgqKQKwCEyFv
9aNidLpX6TYYGhB+oVSkqypoY8OYJnBdJJnZeEUeTICvui705lXowSJvMJmdyDdPl2q8mloUrjci
sa1vk7LX8oebCr86AMs12sGxF6t8HgMufmJldFMLu9YLHpW7jtYajYYmjE+Io83XqlrsfF9iJCXT
sKZsSL75Tevnv0Fjq095JvLhSq+LyXlYUlqpsW43sDbkmvOTLCtu9s9S5V0aVZpDgNWYzcbKy0iv
8ULRGo32q1n2/p0Ushju61zTv1UrzKqDKWo/HyO8ML3hMZiV1/ycApm/2SRjpQ/jLNuXyV8M40Xi
yqBo9BcLMFU+r+7RV22DwF/3pvLNCYrFiZcuMAiqBMP9M9OSHsPFHIhZTHHf08NA1/T5tra7qr0t
vDF7xf5IzyB+sPJDK18S93WeqqD/k5kJvOp5KXURqjGRb5OdNf192o+Gu3f1Qdev/LZwneu6hY99
C/VW2k95nag7y24crEld9Pp3dSK6LDY61JmASS3YnUUHYn1s0AUXrzQH2I0lyLQRsryER6XEk+zO
Sf3mgeQAGiMOzhoqElZiBKGBR3a1K7UCpwMC/bBNA8quj1NKVPHOTEByd56OqjXKbFlZYW/peRuD
v4PwCy/zf+qasxY3gHrC2S8UnyLqq8B8wqWsdOJVVH2JUYjZk03g+z1g1JR2KrKmjUcJZOM/zHZJ
98P1FnckeHFp0EYMVj1GmdnRW7IHrRtDp6/AmJrUVVbsQ4ontMjzi/w4mW3lbxIkbCRb1+0Pnp9k
ZZQJjdybocgcvI48MxeRomXyy5xIKQkVhgq0zEHr8sjJ0/Ulo7YTO8tS+kNq0AjcWUbW3iPtZ3bH
oldHEszan24H13ZnW5n9iH9CXeC6v1ZltMz6+rNdBY16B3+lo2lhlLgTfeADPVEYhNpCpszOy5tm
h3X/+jkd0tK8sRYzsa488O7fhaYqjHbGenQ4i63EjTUxe59neP5ttHAtGWFZF/0dz6Dq69CYpFIJ
Mx+BcM32yaCV9os8gfVHL0fxxezpDUQqEK0VdV7vMnNGUVbxZHI9ANJ4gKuZ7vwsVJZ+zQt/CqK+
R6pPppM5TqG2olOOaV374mbiPv/N4Wk1IayuyQhrezbovqHrHOJs1JvPzrD6AXFC64peRorPvqcl
VZzNeNLs8sHPYb+OxNNjQVbRnhZ2+2S3VfB9slRtRrPTVDcd3cYVFYxor7PAHIx4LglGIH3EXLvQ
CJIp2wW5Mn9g7UXKBSAB8ykCLTXCIg+CJXQUoCmEXYgmVxPdgYQHo2dNO1NlfhBRoqwwXEx3bOIS
CcVNQqLJz2paR2CqLB9DZhV110K+868y0yv7WLjGUES9W8PWrXliPDgFAoOdVSLFjLLM8395ZmN+
8uxF18KUJUwTzgTrGtaqU3DaxpEDuM00+LZB4jhxlkxjF/YkjJPrzOH9LRk8zwJy1ovfQT+ZX5OJ
WKZd2fXD53FUNGDHxgs+lenivXhyKAlnHtfyNlkHyIB+Owwqwm6AEkp0NV0hDRbTV3LgTP7vhIF7
vHZEr8Vtasx3CKr7Mh4oTw9aHTAzKDy5f31P8TfiNiOzeEgdLgwgrM7gPqtnP2SF6E+t7Ta/upS7
G3ZQblZRIrl8dq2vLU/8ctPnvpOOFhq5al5MEpjaUHlguKFSqXWXp7M374K2y2WsQ9oawhruOHFU
aDE/1yQvjmE+oUHejlZaujRdWg6GMW/KHUxSca+mHlPaVSjxrNt5L654NzhHk8vdQqTttU7YTYkr
9m41yJeyUR6+7EtJ52A0yffFf67noJlz8LJnVVXVDsJMUsalL52X1qOjGFJ8WmU0T4vznHXahFU2
5uP+ftXs2sNRuLS+aCs7hE8fmizyO71+Kxe3x3oRZ9df9VL7KkKUP9L8SFZEOcZAB/dGdUv1XeOl
47BZjIB9m/iZvlu8zmKGtXn5blW6kYTCretkB0e60K9oY2IXMs8mPb0iE6oIydvjWm4buxqwrnHX
IjJa2VzTZViKUE2lwK1nBMGNMGnsnjHPX2huQ1e/w9J8KAC2ndYPyWnSi7hbWz+LmsFzuqt1YM52
xWrnKgpsQi6jWeuXP9jHO58UnotfKtrHj9IOxo5e2aj6UAXuWoeyHhdu27FofwPrDr918LOAM7uz
3poWcsG1rkvdvBLj2Nxa3Qp9Hf0gt+aqbNpIbuJm9IAbWb1QeDWfqkJ2X53ERPZmGeX4RCJuK/eg
Wd5L2U7GZ5/wAS8cJ2DCEGENZW5eLdqLB93geSRAHAtwVWDhYcy6IFtQWLO2Az+1btfM9rq4clYs
+etxlT39rJVJUqqleZE4bjJv/dD2uqA+Hh4yQwYpgSpl8ZzrvY8j+1yZxmGty6mKx0mbW7YHd19k
ja75y1w4AuNGrdNXN1DJK/bGQc2ZTk0V9qtJVrCNG+EYGp3Rmle8UCZNRO7sLNUht/w+uxo0yW6E
m50Nh2Z0iunngNvPckcBbmtxbonReE2WGTNkvlYlh7YthnXPLJXV1VylLj8o2ZLQ+wdbJV+hd4jl
gcIhrz/bjqa0nfRnW0VDoPL5toEv1z2hfXbb2NVHXmmtaZd2HRJ4yuEdDnXe+7taN7MqEqoT6ee5
yVua6dwnP90kWJM3tPYTLRuZaHLX6/qE3mcsVI9IkmvkDlqf3capqTz/LdlM6fZWY/ZyV/l9W1wP
qcubd8JWY927SWH6tzYNvv670/udttP9wgz2pAx27k8EdQNTYGgLZCXZDCW51ao/Jjlyia+OJJLv
PkhTbT2uyzKZR0JFl8+K9aM+2d5qNGlYIHVq7irEs+49rBD7FRjK1HZMUu6KMJ0TOUSaIpbuiEl4
0N24XctLB0d3ORzVZMjiZtKM0scvc5L+rXJIBo28MXfcfVbQ4uW6rik3UX+keaTnQzMfKCK8CYCy
aWRs8LSafrimo1lvWHYtkCd42Pq3HgXop7ZGp7J1OSWXZW3w+sjtWvJo00ia/kKOcZm+DtqWmxRp
PF/qqKrrrn5zUFEbEQ2WljsuJaV3xAu3H6ZdM49a/X2pBiSpJC41wY3Na9W6J/lSK6+axRQzXTlb
aveYV5HqyFK0TZa88PU02M1ZPZdHyXE53htzRelnae3k35AYPgVr7FeQwD9N5N0tcUsWXxmaiVM7
N/BpMrXPq8BZD8iJHDxZwajkr8rMiOMmHH5Yw9QZEyNC6mJXewlpPY/9iSfsS2k33YIvzeK590XR
eEO8zj3ZjTAZ1uV3084w/cJZLtjizZ20xQ4GpO9fy3HO212d6upZdVptXdGNbHjJ+EVX6teNgIp4
D/Rs8IeuUgV7zVpyMYXEfATNtSvroL6AL/0FyuLEhIoP4GLQcj3FAi1EffjgVMdskMNOpkkSsXE/
AYR2x39DLn8byUNYAGCGJAz07D38YGW+PoBHVsfJqMUdue1fVy8D8FDL548PhFURwhnQbmxATwh8
me3Xhs4RfaR9OkVJohMYD54RCWRVF2Ck044gIKAOY9aB/ciIoEnvv2meC6pkWdbHQAbOHXKTICrK
7g3L2/nIiWLtIHn8+ffXneNj8NGZRvoINv2KM9YlBVXNQ7U6YnrixYOVDpwco/XhH4u3En1Hil76
BfTo3n9YoWtYgeSePBJJkBH8MvXltQApW2ILa4ILa/B8FjcgH3XfBv5gOXGyBlMHrUkqeY1tWKYf
a26NE4Qyhu6Qrl3Ks085RokBULB8NK5nS1DC1pT/wf1lTZ6A07biw4p5qI8e51keVgpgOuxb35x3
//7Vzhb/1ulkj+Fpte20M0m6YburDkPmuCTLEtoJNA4/CWSkAdxeGOoM3Qc3RTG2RRBA/z0D3J0F
AquHJ+FxmWvzzzxXblQNtUvqmtFyIjbjR7sxm0kIRzagO3o4Vub7pTLiMmjow1ocV9GaryY77Q3O
QfPD14b8hZDq7MKeO98AsAT0zSKZpkKALvT9eE3SKiuBL3ucOs2K3MbzXxop5YfbCYxCFYtmgVYd
1fv7UVyZ1CtUmvKYwRml0lzI0A2tvhFQGDGZv2QrdP5RtN4392U0Sh72BSeTOLdzAH2uzI5WshIW
K4JBffPxVP2oLwYtaayT4LpvzgEcjidIvt2A8kJnyfFLxN09FR33mUnLsVLFJSnZ2TrcGjIEv+Ih
uB1Xp2djkyR9bxC2dtSquo0LOxheDaPt4tHNrLck8C+R+M+22DYeUBPfRh8agdL7X6x3F7tf0yE/
uoqColynSWK2K/XbvpLa139v57Ofi72F9BOlDm4flLUnqyO1FNYX2rAeBzubdnogtdizK/vCufi3
UQz07lxluC8Yp4bIgjdgZugUiCOOiD+bpFi+4FQzeBc6+2fHLya0KDAgEmDGg+XuyX3pzDIzp9rR
j8mEVibvg/Y4lGhcw0oWa5gD6qfhlKXr74/O4WZfwTVDZwt6hnNy9gYF7zjCFNRx6QO139Jvo6Yp
swun0/kcbtckMwgrHfrM6RzyG1pDCR+O0wn79m4G+Oq04hI54i+jUD4xgZzscINObzCZ8e4sfNkd
bVsb4mXovQhCQRf/e8bOf6jt6mAYOJfA1qcnbVW2BdBe2x11NXtRrrA0nYqbNC1ufMi1UansSzfz
2R7eZEdbS9XYUg1ZJu/3lJvZoP8zpaCWD8tzpdr+Kkhnta+9xDr2RT1dKDvO59Gj44cYYlv2nL8n
9RQit95YdWM85l2QRh7Z1iFUwuHD88ghwV0FUYF7kqr3/VcxeRaeC15/xL0i/eNlFp1MnFvSNhpG
gp8PtEqCJ0PW9iWH5O0//K4Dt9U323FBYYXk6NRqf+ySoR7nErHiWi9/dGtsdr2Q642+GNVhoSGK
z26RO28Gz4Crf6+d85ndhsaDkhWPzOm/fuj/9Pz7usrztcumox5QNpZyWI5mDur571HOzuDtA4P/
Ul+5y+iWvZ9ZUQhl9tU4HTNl0FLEn+3WaumCBd166cb821B406BvggNFeOTJ0jR8UiTouU9Hs7Hs
UJ9ntVv8zItU4l9qFgd/+dmoBliQXDAs0G2X/M/cYdxRU+fnEK6NMv+KljBtaE+52hzhM0XaTdKu
yYPhDc73UcxjGelpX1/wLzvfiLT+YURBIGJ6oYm8/xN6RVbhhJ3ycRJoAvbmiKH291IHj/Mqp18e
Jjoz7QX969+WjP9/Rw0qbVRe78e0+szsB5D+o2+De+gDYkcCNrwPb3mIKPi7IyfGdP2s0FqANJKh
ZBQNdvyurhU9ybJ/+fe6PLN/o+iG1chLZrsJbCR+77/Fo78n8a0Yj8ITCLOl1nGKJc4yrfegUPYQ
VlZvPGLPshgcrHqZhIvr4nVXeqnW7Q0AbnWVlAp5gqibqQ/7WYliB1fayC8ZdfCXnJ4RhNlTwhA4
hMffybpetay1ofWPRxby9CwMt/td1mN2Ydb/sqTZpRwGsBUpmk4fPkTxFa4gpQ9DJ0e6Dyzp1I0K
fa6yGMdsNzu09rr8nEx8IfbEkXR6VDt+cgkS+MsKgw0G+oBzKERh56TyMPJ29npaKbxlpb8vXL29
wbZU7f79459fm1vCM2ZCPNWpEU8VaSlpnsSbZPOReqPq+GH1zIhmVZpBKFrcPO5Eomn5Hd3oYvlw
BYcTmsU3UgLz5joV6BcJzKclKeajF6j+BnTxKcgr9fF9SnVDoW1vsAqvovdrW1pmOk0531d2C8b+
wqh2rcbJ++9ZPD9vcZHlcuYI3F5eZ4SZmS54Wi8o9XqKwRjhjZeHHp7/zs4jev6jTrkYdMF7hga0
0cc38u77j7LJsp4LYiiOhhwljm0l7+RsMe3rBHHgJZ+zs3uZwRB88pBliWAgcjKDhUyIvU0t75i3
fvMnA0+WV0Pf+dpBHznsYyRJmvfc10bxZmGaZ0UCl/wyqkhSaGhEOcVXgSaVR86SiuqB68BrHpex
aD5ppq36qK0K8UyWUzCHC53uFglVPzb9jdkXhYwyMJyv4zplfgzWWv2iz1dWxzIoy8+WcGg5TSQo
aDGmWDD/HWuZ6qPCasWha60X2SsAuU0iBk0euVfuHKRfVoQ/v+21L82fJAFW5XGQSzo+mdLnvm8R
eg8kfmqZ/bySmtneDLwyoIqYlK+7YU26PrINsNJwnL3xUp7M2VZkom3q8S3Ee0MbT+q7ahgmkWeW
c9R6/RM+nPb/4+w8luNGsjX8RBkBb7YoRxRJiaJs9wYh1/DeJfD094PuRoWqKARnJnoWrRhlZSLN
Mb/hOh1OIq2gfWXYutpVs3HRXW1bRuQmpdzI511Y9Jf7yIxNZx662vLpHE7qsbVThMRDWDPxTp/D
4c1hFihzQkREpEGm6hzLy+FiY2yyCeCGn5kOAg4VbfouD37eP4pXwQCDEEVi9LLku7yal4PwMHTR
gGe2L/CX3PWF2sb007TuyUij+kXJU2vj7F/d0wxoLMtIrsZZXGtHod/gVk40kCG62EgYAQ11NLm1
jU91cxQY3lC9l4KSsfpUY5S6kNFcxXeGdHiRYL4+T2O4xUq5NQpaA8hVA20yKTteLh4dvKjUYY36
ka7VD4lSzB4N+q3ix/W2gxLPg4Pf8xJsr/VHNTcc2W+R6cO11Q6CNtIuUwsanoa+9bxdTwjuy58C
KoVMYMqrLWfTcuXwa6bfyKXxIaFCJQj3brxk1xOiGkx7gESQ1POqurKIfYZaNzu+Ecg4+6S4KbZr
pppU6S+EdYzX+zv8ek5c/iZn1uQB4LVZbYUBfO8om9rxF7H0r4AV4y9ZOm1JrtwchYxa13Wbf9bK
k0Vft1UVjI7fq07/pR6i/lEVsfxyfy5/zvxFREdRADQpVzKKvlgrri49LG4VA2ay69PqgGoFD7mL
jxMKBPUOqpaun219cn53Uk3/DUQ9JKcoVLofRYy+whE0w6wCu8wC9Xj/Z934oBABFkHMRWKYfy7P
wZhnoVMHOR6AqRpZLxLASPuQm3k6f55Ahvy+P9qNpQZ5irYU1yIlkiteTBsOVT1KRrNic8d5MY8W
Ojf7+6PcmhMsGKzsaDIhdrD8+V+JWh/1pZIGreuPOPEC+UoUX8L4BsjXd979oa5fMgw3qElBP8DJ
mzT0cqglXqDdzkc1jSQ/OQRg3oxeyjlulMIToan81uPNQ3hjFQ2KTNSXwGMvBIHLQcsqKxW4ZoHf
A6XbVUqW75R+3BIvvX5esMBaTN8AIyDgsMYJR2CsOlUPAj+C3vmujOP0J/LsCGQP6CHW1H82nrMb
S0k4ueh/q7TSoLldzqoaZWCYSCn4Xdi7nlCg5iuhlXxSqDnuXbXRHstxaLZsD2+tJbqLmF/jYgE3
cPUBFbMdomBMAr/IeKkdZ1ROrjZvkX5ujgKLGAUpG5T5WnN2QjPBMKY28PU5+4mmzHiIaufNKTSe
zPii8NjQy6IJufyIv7Z9rjR2Smwu/EE62n42NHHMMivdiJJvHC4iKHThKQlAAXNWCxbVsAN51IQv
DS3eNZqZH3NrRrZkLn68+WxdjLR60RQTAYUwYCS3QszMhu3/GComR7gvnRwwTYtfaRaI9nB/2JsT
ZMejM0o9goLn5TJqBW6zkcoyZkMc/KBYoLa7sW/qeWeNdfP9zYNBOcOlZWm7w6lYhSFEwVjbUY73
DUKQFx0fNE8tpnzft4q5UTu6sQfpbRJZUCvjtl8z9+ZYn0FG2IEfyyZAMqOGby6tt+r4845S+KbK
wmMKU3BdUYhdbLBaaQgf8XowgUoCwtbq5cObl81lJii6E14t5czLb9SJtLTCKQ7Pgd5mi1Oue8jL
Rn8qaVi83B/q+hqk88cdSwIBk5l9fzlU38cDIMF58nsZ/WvI4Leb6K+zUmJukqWn+2Ndbz3GwtNh
0YNVFlbR5VhajbtXOIyTD4NPB4CBZjza8A6SMO64vz/U9W5gqEUBm7QaOaB1Y3OKrdhJTY1KYmaN
uwas0z6eu7eqY/7pWilUl1C6okC7hpWEVUlkNY2Gnwu125d29LObXQt8lyw3HuLr+VDVoSRq8x+q
ZVe6ZWMJKF8lN0GqY37BeC89p24rN2os1x+Id54OHKkJFSREvC4/UGoHcYQfmuYHXWQcqxb/WHd2
Ci9T5y0n2RsTwncNOi8fiMapvfz5X7c5YI7Czhup+8iJLbIeDgBJmdpvjufhAC5MXpaOaMJe5ZCZ
NQx4WlqWj+UqPdne+R5l1vOcGMPGrXo9HWJf0iC40LCCwD9cTge5m1kv7cT220j9rzPD+MFIpbER
zF6HEAyyTAOWIaH8uk8VhCNKG1Vr+yiPFIOnVwKCR2rNX0mTBSBWZCKQVwDD9lYZwEV6HetV4CNQ
q8iKVrHL2Ak1bRrgN7Jp64fI7l+Vvgo2Zne9hOCMiNAp8lFTgA94uYSBk6HcVXWEKhU5QyNl4Ila
6TfuoBujkLAuIr1gd21Ka5ejcDNFOeWlwDcms9gPZlnswhaI+P3rhzIFf89lOrSQurnCAZFSSdRW
R0mB8FBHVRz4WSdtdy+SwVYf2kGNfqCu0H0Ja2n8KoxSEUc96hbuN6r9tbM4mbkT8CoT9O3OTgct
e9ZiCkevTVaJ4dPSrBfHIAl6/Vmj41scUjsrgg8kq451GJVA7Y4hQjkCZoWi989gBSrz6NADi2CI
5RTVVK0EQB4WaTs+wskZpxPyHz3cKjd308NchbaxV7rGBH8bl317RqszU5/MyeyszEvKqk0P0KP6
6dQj3TE/WIOaBQccKg3jsyHE+CUem9yEjoS81ocKMS3jodBFNO7tJgD5qkx6nsl9LwdrfshmNTN9
XVJ02Zlt3tDamqK6fZ0wk9ZhpdTtf00u2+a5LBN6hlrThZ9HgUr2flCCOXzfjToOBznEumY/cxPP
QLJBR+7tujE/ce6r8MHShUbZHymnXUpMaRwKG6T0e2lrxYdWY8bP4ajp6dFCIrp+6G1jHg9unEnk
VrTMcP3BQAQq2aObn01eWQhEc9RkQn/Fzrv+8xAP079J1aGhI+Y+M3dDoprZq9Rp8mAoqo/wgqRl
ha2XgTPD1QppV4mpp85DxMsFaMSOZ8wZobsMNYQbdKzyDxCxIvc5gs6X041QhXxH6TKyf021ULLv
bSVl9Kh2KIGeDJyrlG+aPcNt6bCrE+dJs+zaU5DYoPw3BmYSHccxHuUDHd/6XFMf/Wq2ZZuci9pE
cA0ylcjBrBjS2c/dqPbHpMC7ZD8i8CVPqtGDxc9rWifnxMRp9myXwDT3Jtox9a7sZScejBjVhn0E
gqg4JRnB3lloquQFNPgsT6Te0+9+MnvtnS1VSD8CVMv3RjEbh/qAaTUPc9UU3cEu2hAJHy2pBrRT
9PlDHASWswPoG8XvjIGCw5M5t2p/Jibvk5OVoCC0j0DCoBU0YpRqQr+SyBlMlVEg/DYJWaENVqft
o8xlGuym3OjQjSi1Od81fSBCr2/1RO6llZhQOkzRDd5ct0jWVBY+tot2UJ+d20AM0ourVG8e9Ab0
1D5FVrk98KZkE3ulUuodQXsHPl7gHTu82q7k84bg7+Ruih1HPrqNNenHXplDA9W0fuwOYzSEw6kM
TfgTXuG22vDi0hDCnGgMFHFA+LuyvwWYnbZP7pA636IuUT4iw+a6uzioouIpHNBX8JQMvVKv02FB
7dK5YT8tmnL5zrEGEXhzCBFhN5SRWu8EWVtAEdiSyS6mGjLtrAwaAMGKEUsPDrmLUSNFmffFJJKP
mlqJjxqSL8lLiJmY+rkZ51y+qOwXxKUxYZ/OVp1K2yvSus3/gWvb9vsBqJrYG2MGbLe2QqfvYU+a
2dTsJHbPpRfnGv7WkT4630w7GMtTLI1ah3RCx/tHF2HvCW4aSlZD3XA0XrMuyv7tzUqtTkOjTxlI
aWX4Auw4SV8nGwzcextOwPjQUvRoPiGAxPePW7f8UoshVPfwglxg4+qIH3GNy8H7pMM59+giqfa9
NacseFZxj4wOCedY/pgGdcSYreC4Pw5oxsJbhfjXPvXd1APhBqNa7sD1Z8NpcSm1Dl1rqqPHKWEJ
4eJE7j9cw0F6gnHWN163GEY+THZgdA9BZLvt0c3wlt/VNkbl/9HZqJxdN/ahhnbhjGCkGF0ViToK
gfOT3WHo+yGuLShe5TQ22gdLjOF86sNBGY96qrVf58DuxvchZJr6ECtVVu0HPiWW6/WkNod8qGb5
Lk7DAGphI3CnRsGpaxX8RHph7PtRFKj2mU1pPPHUBtBVctqSx8gcU3nGSsGoHjPZdqOfI8Al3rt9
lRpeE4229pT2IzSWVndl6ztzoE1PBN2m/jPQTPklk/qgv5p17dqf08oRxdeAmqbyUc2iPvWzXolb
L5qlOZ9yrWjfJTNU7KOVQIT9jNFba9a7rp5MsbeCYRp582UAF5ltguYf6pEOJCOUZqq9Aikoh5Hg
NGKRtOrDY1GhTHzM6yAdd7IVnfYOY5N5PjpjVZW7rgonNtYMR/HkVL2F32U2tdY3bqyu/DGjTivs
XalkBeyiKiiGI12x7pMtJmPa9ZUT2OdW0C7gegjnyOeAqx+s2SqVQy+bTntwG0yYv8MVyppjlFCD
PNJVyFTdG1MRRi/xhMYugPbKzGg0GWI+SpNMG7k5kn5EyML5n8iEDt162hSIdG823JtwBYqyfu/S
v23PwNn19/BKquKHIpsw2MM2IrGNiSN+074ibepSZy4fAITV+I11MWhiqHWF+cuIQ5pv6G+UzT7j
bqZlCnPdbFnnWc9+8/rUw7MrHOF6U5NjKCHyRI13CHJ24rFNEmh87kR/5WCWSN95SJJ2gUf/z6Qo
giklIaYpZnvnlpP2qTLzBu23toTMNc+O/S5UWivxJ3tOksOcGQJx9lxpq4PC26mcLHcirklKBVPt
kK80+tAUdXPH/8nJXgQyt9PRkZQ091YduRjXzVHFSZJqfzKSUXxpYowxXuwpVRVvimf9WxeGXfwh
EU7NsZwRZuE2Q1qs/V4LdL8ijz1SDB/nQdjuRxdxB9hCdA/1g5M1NCuQkUdvDclLqzzNsDq/YgZl
QJ/iRwY895Gt49kYCozEp0ksHl9FJj+jgwcAh/t3fkL8y1D8qUpise9gibW/4jEuMcduhuI7HKgA
9VlgWD8kBKcfI/yU+TAnC0hotHuN+ziE/QPdT2vSY4xc+C/8RWN50CDRJK9m5MbFUx7mtUZwOFRa
6WUjTIz9kvzhLVFMZfwlkUnafCmQz4QWqw3IMkh0aaA/j/r4Qq8RP/BikrP4OFkarAov4h37bAJC
r18lCX+9z+nRJlDjmuldakdddujTqS2fx2EI+2dbKIN8gLaoPMFowL0tsrskY5lF89oqvUGHOIH2
cyrbNrB3DsgCZQc3FzII0SW/CJJ48SFEbLH8oGCjbJ0cQ5o/kTBnt/VtVETvg6iUOLYJZMieKIUN
8yPR8dw8VIEWy3eZkzTFDt3syT4FSq/2P2zU617yedGpxC7JGk/lrMbDiz50+X9O67Sq3xid+kUM
rtH/dIOg1g4F9i7TR4d/VXtjk4TT1ykXUPvxL49PNcGpr6LiYO5QJTFHYreEu7Lqq14eu3xGpKLV
SookXt1VDd4/lYNK5llH1BNwRQ2tZQdaOuCx1YMyPrSK0D+FDvXFo8SpHejAXBuY3CDK6NheLgwY
nL3hJFzZrii7ne6EXfSPHo2O/tGJzK760nZsBh85OdyMTP692IftounggXEZ8ieryfIKYcEkpzbJ
ZjU/hEZvq+9KNlz9yQkrrT/UQSGMU8FtDwzDmswjWaGOpEAK7eWxyCGl4mFjxMNjajSp8wRVaCgf
Fj5R9Tuz6iA7tJ0jLPZzBlNysHN0jDNkNbsT5Duglzg/yMxre00rjuCHbe29JmoRHIo4ClALRF5R
6Z8qJN6U1JNKmCNWIcNY/Jc5Qdod807ONIcEFMljAgHCQGo3njk9obKoG9JiQgGr5kordzKRwbu+
qo2PYd3CeDObWLbP+N4Wlh8KXH93oSLyryjuseGyxi2VYxBAifQGuB7laayCXr7PotDO0cakooeO
y2C02QfTlvDivM6Si+J7AV3hyc3TZv4wmVbHdhNSG77mSoGqZAKvMdoFYTK7HkS7VPHK0saYK+Ip
tBbf0PB7NY5BsSNuAz4czG60H3WuIW9SO8IuHjdryzJnqc9eJpYuBX3SV3JL8uV17z0o8sTMA9el
AqmHp9hFRlV2lv486UhvoH3woawjxCpEPrVIzRpvtbmhVQJ2n5oKxZSF4bQqdIRdN5SV3gQ+kJHc
Kx0Rv4NdgmUebunv7ifRf2qPq6mi30LDhA4zilFrsT7hJKNdCzfwG5RsE086svsRQsP4WELItb1O
q9LvZRrNo5fzxry6aai4uzkV8c/7P+TGklMTU6khWebScFvNGU1LpQQYKHykZktP2ml95KN3R7Rt
miN06d53oxzvh7iN9jA+X++Pvvztq1UAnUwJBrU4HOrWZAZkj2se1iw8c8Lm+tg1sw3TkpDm64yu
KEI+ObSsrfrFekzSGTDRC4sHhMIVJl8RozS4dwMf7jgZnx3Ux9npjHfGhJhDp6jTRlVmqe1czJHx
qKwDSsKxUAF7wZ//XQ0k/ee0s6uKmM6EalbGzy7jQk2kbPfY1gXPBOjDP4nVbQkxXZU8l5Edlc7+
IjFIBfxy5AQLrpaCCXWapEx3aSSm95DXEXJG2u2f+x/yqny3DEWPgjYqjUAacpdDtfSMx2KkAwgi
c/oGDz8/Do1VH3OEUk5RR/oGQAz9j/uj3lpaviCNVMruNBNWm7chVOocSZspVNOvmUt/KYnko9r3
P/WSZBZyrJdaSGDcH/XGskK7oSKOnxNilOsyW9srmSCzEn5td+qhCyriwMyWXoALwP8yFD0k6qKL
luK6XTwmsHYrcxS+XQXOARWazpsgVVNPCLfUQ6+KejZoUsrJrgJig+t3VTy0hG1kQvToc9cD6tUD
2u/6rBQbh+HWKBSTqYxDa6MOtNonolTygmPCF6Mksi8gge3AIm11FG7sxsUIEnQavsiLP87lbkTR
KJGag4NvXIjkc4c2w6tkJfVzY+AdK8bRoSSDgq/2cH9n3NiPC02FpokDjodL7XJcda5mQHxhclYw
f4NHWmfnpJeoqJgGAphFlxxCqY6vadTVG+fvek9SW15wPRjZUGJedwjBLVjNRB3kjKi13DVpJD/3
5N47CkZbIK9rNAxnnI4QUn3AO5er7XKWgZgQspNpcdZrF1tULExT+T2UbRi/S5Wmo+radap5jsC5
mw8qteJPEwlPe6ydoEOlw9JRiWAjKt2X+6t/Yw00m4PJruJkAoi5/F2WvnSqEJU+NwpmH3S1htBr
aUWS5xI2Hu8Pdr3FuOhAO9CxWnAPV8elHXWFfnp6nkcd4Zd2aFyvR8vkUUJIRHRFV6L8XZXkwbSx
x65PkEalE4IoHVpQe+u9HZEuNw22ieeiqsWi2UFeQNTy5ouHUVxKlhoNYTioy/T/erT0NEFCxUmy
M9II4nNaxMFBn+Yex4Vg6+K5PjQLjo9Db7CaC7j/cqgW82AIyRQlzbJSzkmRGKcKpRluiLlG7ydG
ji+DlU0J4813EQNTIsSQjK4TO3k1cKa1MMvz7Kwloj+gUjV6VTYFb+072oyCqhtwUsIO/MUvR7EH
E6kOBIbOSERYv/QcUUtHn+tvgdN3bwV5/hkKguhC+CKC1S6HUshbOLgMFbiNRlBDp8Fx0l/3N/6y
KpfhDBcrQqAOfGFcaNaQOwcFqaZxZj5XmjkvqAhr8x7gAmXhNAWSWzmluUV5vbXlSQYAx4Bb4WJd
/vyvzdi2qtVOY5adcznn/4x9Nj/aCZI4b58YOI6lB0kL311HSzS01Los4uxcDYp9xIqE1Gea+J+W
yNsYUuXt47EnQGNSxQJctD7IU+NUTh5H+TmOcTGc5+xLS6/T69LBd9Xkv/uTu3HIAJwp7HUexcVr
+nIJzd7qO0Tz2BrOPrdleSqN7KMWkeZUuhYcBqeaqKrVG7fIjQ8HaBtlANpP0AH01UsxuWFXpGgm
nVORO9+qgcuQXSm3wsDri3/J2eAGwYYB6bGOsGu1TdJF5eysp3BgB2r5x6jQ08fWnjcJvcsjstr+
xMjEFM6CYXHWJIp5pqyjTEF1rhHJmb0c0drOU0xk46nw27iUjLQZPilN1r6AwWy+j3U1SF8JQhwb
uLmTdg8FZPpYpIiGefEYuvrD1Lt69tikra49OOYs8JYh6hR7DCjy/mDHXTru+5m2wpl3tFpEwjli
x5QE2nY8BR3l+cRrtFh5D33X/Ygct0sQm+WD7FKwItOBugKilalel+G5LLrQ3tEezLEojNVoOiBF
QZ6NkjESgFTTg/RBgDxRdybMXgeM50xAgVRUUz5CBC438uAbO8TldlBIuFHhRc31cl8GTmuwR5Li
bNKn+Ybyn/yAXc2WW+mfbHr11ejv03dfEEdoVCzH468bRGXnOVnfFWdUqPTqEc0Gx/2KXQnd2XSm
1O4pGqKjZxqCtOm6qB67Jy3Ww3wP332K96U16L/RpGzGkxM0VU19dpLRYQ6r/IeASWv6dQKk/59u
UKJu11OADf375/fGFofuD3tneUUAuK3Ob44GaUDtrTgLkYpvGXtwANOmqIfJEuabpS4g8ZFWgU7h
H9wRV08WZlbWpJKtnjFg7B86mYSH2NarIx0xsTGv6+/PdYRWMLkbaSMoussPY7do+egU4rghZks/
oOHb68gR5WN0vL+A188WlSWqOwxGgnoF87ATN1GdmKtoJi7udlWWYYsQ67qXBlg1UfukgXF/xOtP
xvVOPE5g8+epXIWjJRKBTTpZ2bnknO1QaCo5djTSsAtXd/eHur7dF2g28DOAH2D31quIOGzeBMaU
n9U6b/ba9FxUxQ6zHYqDSzkZK9J8kQENNq73W2vqLrw4BZATMemyAn+dqgy3lhAnkPwcxmniRYOz
j63M2Km18XXgnt94L29sFQ34PVLkNgkk+PLL0YoFUVzETn4mVIj2eatHj0aUvZn2QfHRspYhiLIh
6KwO2owYl4r+WHVGPAf/KY1qK/AWlFP5nBtf7caEFpnsBYIOL4/s+3JC/RAigSz66jzkUr7Eths+
BCkWK/f3xo2PBP6Rvx04Gh7Xa2CVg+w39LK8OrfVsVMHFq1IRs+QtHV0sbEhbsyIV16xF5zTArNb
ZQ0yIlQrkdk7h1SDjjV4i2M0ZdPH+zO6Tr0W6hQpF8tGALVmY4w672qQWKzbRIZLaJ/SylIzuG9m
idOZVMZql+JXNG+s5I0DDfGfdxD4IIyWNQ6uteu+QDe2OjdZoxwlsGDPzIW7x1TgzaBznipoR6BZ
luwShPvl1tATJeydNijPUTLO+8qsu31SD1vBzI0JcW4JeEkmKcKuq69zBNxibrTqPHdgkPKwdj7m
AOhPep9Yb86CeHhV0H0k5vCB1l7rAwK8eI9U9RlR6/ZAROPu8joxdpOKteL97XFjE6JyTxEAkRyU
Q9Y1swVD3SdDWZ91JA0NEO6ucA+TXvdbVaZbA/E4LvJauHKggXL5kaSMhwTB8vqMA2SC1MUITUyI
rUz81iguKGbeLRjwQHEvR8myyRjcDu04lGCV95GYNQddRyBtG8t2fU/AD4RkCT5xuZPW/J6yzRFu
lVp/doMktB90OaH0HCtdOB4m4aKsF092vRXWXE+OoI8XBNcHpIxIuy4nh30n3dWp7M9t62bngViB
Rk9ZxulGmHG90xdnVgx9yMCBtq+PbuN0TZtLpT8jiF0fKdL3Hpyydgd5fKs6fGtKxMeW7fJfcBHL
T/nrUWw1q6cSbvWAHKLkOOiaRGtFbHFfbk7IWt57yCI8VKuFg41mA38Mh3OmjvmzsEEaoDhr6jgR
CLjd90/U9YVLDmcu1ku4R6DEs7qNBt1M2gYw0Xmw2iLdj+Ho2ke9FSQPpp318Znyu+aepiwPX94+
MpkBzHu6gTySy6b9azFnw8KGpp7FQ1rrhbUr0J8tTkbpgmOZJrBOT02HD9xes+RQHO8PfR1TLWUU
NhzNBZRe1ioOqtFFjhOnjY/wROPZhT5/ViMTId1ZCR9mGvQvjaU3O/B+wcZyX+8gXk5kCTkYBjS4
NYul0eu2lnna+r2ojVNStbxsWryFe74+76wpN9fypC05+upekVKtOpCdrZ8q8cchyfGtzatvTlT+
tsw2eLi/mNfbFUbJAkJdfOqpHa0GU2MDOJNioQrUxEhvz+F0TMkrUPFQt3D+f8hml7neMtaCi6ee
CGNrtWfCWCsCw4iQ6KnD1t7XEZiQParQvbKXVWykC9QTzMAC6Zn3GDEqTzQghv7j4v+H/ScQQrXz
jEjqAd6ZsusQ0AZad4zFSIN0CPXFO3OsB3BZiR1+v79Ofy689Y8HP0BBmRSFWvbqXI+hloxqXVV+
myVzBNa0yfUXQ0dA4ZBlhVPFHuX2LNqNsszscwDzM9llrT60+7iWKbDqZCDwnqupHY74UIfhIe2o
mmSeDHPVeayURjeqDznK09pXIwLpcBKNk/ww+Tqzl0bcnjidkIHvkyxSVQ+kU2K+AwiBjeNINTv7
oGE0MexDuL1IioF3SzD+CLPq2/11uLVfCPJNPqRCj23totQOhQK4xEhhqgFzUabsK9GC6dlV9fYY
yF7qb9h3E/VTpFo94mjmxvoIwNkfluJNNxrDCYPhEUvMcD7cn9T1ubZRL0AuDTFO5rauqdet6/K2
BYVf8hA/gw7K95lmZ2++PQjplpY+wnbkS2viNclKW9kOvsu9VLI9WqPBg1bl6kbt/MYHgsJK157y
JenLWpQtF4CrzKiv/dqMsm+Nqs3JHg339GRqZZltBN43Fo6O5NJlWRoSqItdvgLDrBb6pEY1UqbO
twVC6Q+88htf5/o+hPG0vDGkFPR213V6UOSlCeqk8bFRGh8Qtp1nZLrbLvaVMDV+BZbo6w1a3/Ui
IkzJ40JUTGR8RbiDIYkQdMUTE2VJ9Ek2xohApXB7jLyJLMeNT3ZjgsurgmYHUoFkhKudro91Tey4
KMGBKhm81LTqBtwgCurHcDIiA+z5RCv7/p6/NUWHFjkgD4KiK5K1Jia37rCm8auiql4gbgyvWenU
Twn+HRuxwvUugVTHGwPvhQo318blLsmMvMLbY+58A6Ns1Wvy1IEi1zRTerw/p+uBcFGEWA2wAjWq
K5iQUDF5y/FuhfPQqZ7UU9Cnof5mDjf8bYI7ikdEIdQ9Vi+Bk4cUmE2j87GL+R6a9UnN5bux6uDb
9MrbC/VLXEwQTsWD0HV9adTY5SpmJDq4ZF32rQdbfQAbPG4k7tebgVFoUtOQR8aRGuPlF0LfCUiq
Uvf+WMjiET0023NCSy6QxK1c/cY3olDKnIjDOc3rLpWtYPxDnWD0xyoVO+AZmHwvYPw37wS64Fzo
ACeoR6zBU1IU9D4M6vvonWGbglfoe6HO80bwdDWXpZ23XE5InSyfaLVsCVQme4gAr5d4ArzrlMXL
vi2djcvo6nqAmMqhASZEm2IhmF5+HCOL3Vjrx9FPdZv6Sa8qBzzGcDARWXwaMaP37q/dzfHQXSCl
oAOmr+NrRUHUS0ctxsd+zH2lwj4eylFWvwYtSk9CDWDN3B/wKqBnglinLYS1JUC0V/dfIzIcClx9
9M16Mg5xGD3IOf4mR/VECvpeDbSnOTe2wovbg3KyNLbiMvjlqqI3XyvVbPHtFOWba887GoyN11aY
wkRRXHh2174f83EjjFSXuVyEkctcKRqQPYAeIhK4HBbTtKTVmlL6TQh4f1CV/TyA7WxzLX0MOiFe
MUUZPsmiiEF25o3xatWG8UsG5uf7a36VOfI7yBr/v8K/SD1f/o4smWqw2Zb0w8KwENjt6/yDoL0c
7rpALRaKUyE+QMsl+7g/8K3dhbjHH2I+RUJ7dWZU2VMe0lzp9/0w4cRl/agB3za4S3pdGf57f7Cr
e41ZusSO1Jy4P0ncLmdJzd0a+xhpx4gy/PseZwlw/cL6FgTmrzePRC4KgArGKvfOWj92DDo8D2eU
PyW+DWe8dKCy9Wrmy0GzDveHur51GAmFFN4ehJKpP11OakYuNqtSyPMuwPavdm+n39OmNjdu0BtL
RxeVkhxX9KIgvFq6SNUw9igSxccuNXkpqsx+zHMRvGhDm2/EB9dDaWSeYG2hyNJHW1c7STwzvWgV
6TuJPR6SoBn3UoNhFMXlmxnTFG//CNiQT/CAr7M4ytOqLeEP+eVQDx/tLBi+EurFGwHd9eHiMeUb
UZtBl5CC++UXqkYljus0nHx1rqedVjvJ5zBeZN8GXRzVPgbFDQRq4zG6tYpgPblIwbJSyF2FJfD5
nEka+eTHIeBHFybSl4FV90QZzp/fugPpCCK8uHT0wTutiz9hOjWtCgfOj2mBP2QdmFkEwuX+/ig3
J+QQLCxa6khgrFZR7f+I9aiTj/zzpwn5vwOoNkivOIVsjHR9okA8opIKPI04m5v58nvFWmbb0aRP
fiqbGectN/D0DlbY/flc33x8GtB5uKMS41+BfmccZKXlFrNPy/tj2VV+R+fTK6b6vwotw/9lMI7u
gvplWmtee5OppRNATPPd3pkQu7Bn+5MBBBi+E1zRs0uwp210Em7Oj6d0iVX+uM9fruLCprSKYZx9
6UDx21VWI3e1AtWldrUWKFcxbczxeoMYKs0sION8NPbJ6rMhgu9ME2gP3wmKxlfRCT/2rovpWONO
GwCum0OBEQNYhZolxf7LuY0t/qvOPJn+QuM/kbn8h5GgPHBDNRuTut6LTAq1F3vhPCxNjMuR2nIK
AqdGxlGzRXyMi95Au4kK6/29eGM+C3xgqRPQqkPb6HKUeCoGtTdKhwQX16Mhb8R3I4d3hNGl+fX+
UNfbgkUj+wNv5NA1W2sbpVnfmnmBul1lmGDR+hzieKbr4UHFNQpnSld8vj/gjRVENGLxN0YQjZbz
KsJo9NnFpsGw/Fkk9nM4g2HoZmPc2O23RnG4NLjd7T/f63IFzQZqISZStq93TsEt6xbFv0qaZhu3
+o1hKJYum25ZO/qql8PEjZMSjRqOP2VxeBB9huExvei3b7rlol1E16gYgY64HCUp3A4HyzTw1Rjz
+jSv3UNPCLex6W7Mhft18dahgM44qw9TFmq0eOI5pH5T9MvMZ+e9kobpxlG9PQqbW+Pe49lYHaA6
iRq1M1MHC+Spe7az0t2H6GBvfP4bB2gJIcCPkDhTZlu9tqFMOhtOpuMrCKghh1erzwiSYm4q0y1h
1z8P3WXOQHmNZ5Cyg0JwuZYVsoqkEmGOMIRKJhS2T4hfel1tAyEBr9076pfMhhSdewreuENS7lmX
HXoPWHQkCHBOHyPc7cT0ZXI+KVO7y6PnTsD/sPJPkfga1MmD7WJcV+vy30b8un8Ur88+geNyaVJB
IH1dv0K9HSY9zgoB3wIkpZ5V8XmstHCnVwZa4MGw5alw/e0Zj731p5rG8V+FDKSpYpgSGESl7kgs
j4pyT2dqC9Sz7NPL7wHInsIgdQUqaJSML08LNi8d9J0ZqcC2GnwiMjoOMbx2D6az+wL2LD3rXVM/
YYhXfCXLGjfU4m6sKiNzWCm9Luys1Q4H9lpaWAGEZ7oLkY++BkbFWC/uiddinqRkS+f3mhJH1dpk
/8HYWBo3a8FopY01G0248Jw60ST/Ux3siJ/CAlTszsRosT+lC2LhYealEfsJpuYv08wXYEtkZM7h
zVsKWPj/cXZeu3Ej2xp+IgLM4ZbsoGbLchpZtm8IR1Yx5/T0+6MuDtxsQQ0dzMb2AAO4uooVVvjD
Wgcme+Tt30xe9gkc6zITIW6o6m4wRz3UEgXWCEqz+CB6u9eHW3fM5ltzJdJppP9O43kLJWhQyKNz
I5oTnHu577TGPE3TqJ+9OqnvAIYmd669jF9eH/T6A6NnDvWOZIUGCGXhyw2GyaCTdLbXnXAgbTj2
EjFiiIiOdE7YaqFkl5ZLe6txzU18NVdyMGPlyKyItSujpEis2sh0UU9x27tKIBHLHoKmacd2/0xG
uB+Gcnl0NaN2gnxU6+Tr4nW9vbfhCb7vBurWqEGpeIcWAqOFlPtIRGnODQTMheJVBfc4lahUB1Dt
cutRLlVU+n1MwPOg6YPR+HYPb+hUt72ZfmzmrFS+FgqtC3rZk9Wv/tslrmwYmze70ZJ9+Sub+tih
GSDamIyu6vNyJyJYtZ9nHZ9vXFIV6rFO1g75Xh1d0WMrixL3wYI99aiMndt8taRI0z1OBI63t+te
dY/2tCp5ICfQ/G6g78pDHUNYPKfRMCT8TAcmmTp4DnSvaNJxYzS0J+gg2CWieNN/kunY9xgVli2u
uUOSaWkAvmcpj7rsVPWbYmqjcqdVy9IiaapUwxfdJFNM/SjOPHVftVGqPSWj504PoiaP+I2lc4p8
QB7PU/p3NKJG3OstSjHneOmRRc20rBkDXdrIdMghi78kaSK0Y5ovuQjcrAaeRCXHTtWzUEuXjumU
zMnE2CkKTs5+cjNpHJzUcapTPziT+JyqZRwLjFLdFM8CbFEbyOQETz7YO21873mZzlHwprQOpkHC
IGyo5upHL6kc545pp31gdKqsPkRLl+qrzGjRPvV1pnhIUehLdYdfUPSnVrolf4KyH/+x0SQRe4mC
e/yuqjQ3qgKjiOB6j20GsT/rS7QsWgpVSEP1ZVv7g+wtdR/RDMaUuuwME0WUVlUfW4Lc7j/gJLH2
eaa2LD+BFu6Gk2HNLcJKiF3jP96XSMCIJHf6vQQbWn8YsnT4vhhoSL/jDRu8QKAKFO8SNfMWGroj
WlfY5UbNrs8Q49i3VpHII0ab/XSe0Saw0H0o5urAp2aPGTp3352xlI29a9LJFmHqJOl4UFl7B7dv
JXe+08r24j/1pPXJThstr4bekjVwQAs1L9/XrRTlbnHHOr+rK6dN71Wh6t+wt7fTh0bHm/lUdlMN
e6QVOHH3AnHkh1rU8PaRi8m6oIwU7dNgzm5zLxOUR4Js1AfrQeez0wbsUGO4d/TEfoc+FK7TNSae
7X1M71M7ICE4OJ9maHjiUWL/nr2XHiCXHdiguvtax3P+gAI7YiU5C9UdS0eLlVAMCVxvVFVs7Uvh
Nu73FLkRNJVzJM4eFBWYxEHQGJmPaWPPaKrobqSrfpEY+bg3TF5P7dRjLGo8Nn0j5H+jpczaeyuq
ECFNYQHiwVoh1CcVH0+kWceLFCuaw+ThmO5TlqqjcHIQjQoWiVb2u1IZ6ydJjSoy/MjIk3dVqrX3
01gOCITnePQenaYzLMV3ofp9pZUfTSUckswbMh/JMq68HfpKIv5EAhZLPIBlWnk7M1ac9tDirtqW
q2OpwqyVOI0OBigz9WHOuJ39KMr76DRTG38CLe9KZKk86wuBNir/AB5HdIfEoNsBPGOFOqeoXW83
Ua+sd5OClBZaKHkzcxzTfsIWxStRZHNmXMI0fG8xhHYtzLa7enROLja93nlURfXHEGzzc4r6WPmj
poTnnhQDN9av1pwmv3VhyuQrvJ+oObfaNPyCEefim4xwlOePaqW6geLGg7lbrHh2jwOPvhLKCRuj
B9WbYuMkar7tJ2vA7+CoJIaT+4UW1+Ipniwqc3h+NtOuQROjRijH6MyTmuJ2D9TOKfJ3Kg/mjBfI
aC2QWDqJJqoouzEYq7hadk4/ueZ7scjxFxjK4WkYu1Z9GHI3dZFiQ6LRL2QxD39ff1JfiGFQv19L
y2xaQENb8GGdsM1FuRiw5hN1Dx9r2imLWbzDG0icDNRVj2hImfgLDc27wayRfnGRaHv9RzwjoS+j
CegUFph6LhdqQdtIHhRdU5fCNE5pF+MdOS1xmu+JZ+BOjQP+wjOf0z7XfQv9Z8zJoP4ztNqpvmi5
Mn/gMirqXSGXHokPY2mwhMdRPMWNu9adIhF77KIzw/E5mEUfum7bIyMBEqb9raec1XEq3P4Qte2g
7EHSTBhxQ94yD+wA78tcGw2PupMA5vKnvu3KoOqRbjs0sBr0AmUr+miNr08mTt++HQ/Or3zUouW9
SWt+fGuIt+oxwnEE8P3sA7gJ8RRE8+QyFDIskBw3AoXnv/E5v8I9zl2F8llvT5l6ev3bXKUODLoS
9IBkkwjTnrmMuWLgdQsqTDJsY23YLwoezmXJzfX/GAXUHBw96NxUiS9Hqau5WBbHkKGTifHebShl
plZr3ZjLVdAKGoNsce0NALUiVbgcZRwwGzSd0iSQ0y0iADgwWEXr2b2VKG1I0Oqd2Ou3fI+uV3Ad
dQUEYiFA03WTEg8edQm0usxTjRBciXoQXis+RIvpRhnhpdnBcKTMTYuSDsj63/+BHqYGJSM8WawT
QJB+2POe9vLTgPOxEehVOYOvMbJuOA+1oXQ3soGrwBwhBdQjmSJ5F8dvM0WrRqWM3YgUzCJ/9fl4
3zTDTy91/goR3fI9fHmstSwDwwsJkPW//zPNupitqqf5fGrgrSGiFEXtUS6qhwOFgQIAleqvb92b
TA4BtZVbQet3C7hCFG62dIXJjXlXBd7qd470YH3jDjRf2CYrpwLbKO7ClWB2Oa+xkU5UFrp3Km2Y
vXsIX6buFzrAssCyEKsLZnQZm7OF2ma2c8t24U3PZih5mGop51pKXdy10orNnciEJaHPeTiS762l
noZd5DTFfDbtWiJxlTiDe7JWDzQ70KMcQTUla135peNo2gcdqcpHxN9GaL9q3C4B0YrRPmrIanWP
npzi6FjRIu4xlR/i9mSVqeyQN7SddJeDLSViJvFDhwYHHKQRm9hVAyBXecfvyZQ5rLQF0m021Up1
Z0UyWfZo50VPla1kg+/13iTfWsMD77UCRQALAIABuXS5rokQJtbwKvKhiB7JwEYfDjY/kps34AjX
349xqD2s5ULAqVs0Tzxpel/rqKtrdpucvM7Kziiulbe2Cb/24qVcZwMYgLIncRCq8ZezMUgBICAg
OIRE63SXCVcGptHfOs/rS3I1ChLDax2XAtvWGrhuGkHOz14EkVQ81Yj07k0ZdR9LwxM37uTrZVvj
jpWbSjV3BZJeTmhizTrU20RYGUX2qOtDPR0ciQrvjcdz/cyXU4KCqqNehA6KCrpr/R3/XBuzOfZ6
OSpJuNClwS9Rg2yxI2yERtw25jL7DVw3XLIcpbf9LM27G7zR9cNcjv9M2V8BiGwO2oSX4xsWbt9F
Q8kPV8ApQDkXvWNH3rlG/+hmw6339PoD4n5MhUQlqqJSsi2PQwpti75Awieq6x+amo2HApaQv1ig
0d96O64ukYQktN1XMarNy23HWATTySXKzySltjz/YxXjm2FL/M0wbin2058AyLZ5Xxy7lHojFYWi
niStGSYC6Hp4M72NUZ6rybis2BTSNjdFnzhu7WRzHMbFlP0ETlCGk5Xd0ji63vAU+ykGOR461JRA
NqMk4CxI2J04VNOMOnVRRt5JtPYtJ80XdsCqT851RHuJkHozTDw3fZvOuQiVQpgfrcUwTphtTaE7
SH33+hZ4aSiUuKi8Ug1cgRGXWzvpsn4pWleEyIuOgUqL/YCQbfKA5Ex1Y7c9b9zLY+SuzHlzPcgQ
o55xRP8c48Zo0XHUYMWOSWkOu94zq8FvioorN7N6itvAlZvsR1NoiWb7moYioz9lHcRBS8yo+S6W
K7L7DtRBdq6XWGoHeyngmhd4wOgnY0wHcaMq/cL35udyGlEf55rb5jYAjcuuq7Qk7E1qiHcadWnj
rl8a0s7XP8P1QGuUAsBBB2bDS7T54raZL02TxlnYuG1JjpCnHyxP3jKwur7H1uWn40YaQuNlmw+k
qYnrBloMYZ+p8QOCkatfcjsgbKvBrEXDNKpv3NwvzQs0IVIa4GRplmwOv4mJaoKFKqTdfkGWCwle
uZdRYr79kvHAXq44YzYxaPfN+jUJ3rOGdGD2U58Pqf6doBXUN56B67NCXwT6yhpS6ghXbd7vxqsd
rTT7MtQnkuugcacEya9e7z+q4Gdv+bStJ+/ytKyqKtwxhK4O7S398mSmzjL3soMb7Jaz+VDBRlio
lPdKjlpIg+CiBpo6+ynGvJhA902UorjP0TZ488ZcEy5yBOykV0jT5a9wlKglZ6Bg77R27FtLptyj
san89+ZReIlAB4CXWqPodeX/uRmmUtZ5ZFvRqY5T7R2kk87HWSC/8f3WKPzfFV17jUjSQFznQQKO
sFnRyK3UPBphkCNs0ddHD17VfBfn6pD6KM4u451wkUX1SyvCq/f1Ca7LtBl63TkUasgOoDJsto5q
xw62aQ4UWydxkYmdNGrumj52qPE7ovEFj5Xmj7JXCbLpt94YfnsMmbkFGRuKIKUACHyb/GRyx2HO
87wMu7xUgk4fp0BX5/hGl/qF9eUGU9eL5RnHt/6Kf74iyXGMlcpShtmsVd9QSC6KoOjaYT9ZpDHo
O2vBnEj721uXFtTzih0kNuOq2YpVTDNC05pWNCFU8z9JM1eftDyf9uraBY4WJzkCDhqDrrXdz68P
fL2oaEiCImRLofFBb+tyuqOKoQPqGU0oDQ/XH4iDD3VX6jc27fbOXqdFkw5zw7UMQc58OUqlTItT
mFUb4uTWnYRLY67vtPGQ6NkYzKaRHN86K4N2mUc8DwIEAZ/NrPoM+TKQ4UXYqpTXrW4AMU859sas
rs8DBFy4UGv4ycy24Aw0ql1XqG4dxm0Xdb5uUcQNatueyp2TacGg3sllbppT06u3nLSeX7nLs7jy
z2kGklICndqK6lSVlfQIgDRh1C96fM+//XTiLD6Yq6D8TgOXjQhYW6/F3abQW99Ovbm6S7p4ssNk
qbo0IDHWdB8oBr4UzJAEKPEg+O2V2V2Sg2fPffZuWavQsQ9/cxCHvEfl5kGT1fx36WbzF9H/UFLA
dxN0fuNoSk6NkVlOoFoKhVwEYJt232A7mkEl12R0jKa6x7oh7tTHjho5xfUqR1sJrGY3+YhWl2Og
qG4U+xPWxE4wRrlhn+co86J3y9jZxYEbdbaC1hrnzOeSStq7PuksDRX4QkfZGd5389+EGrf34EWY
7/iy1+nsdY38axiTI/6UxtItXwzFFMkduLGqplmHFyWKaWL4XOVGU4STgij8Lo8rzzyP5aRGO6OO
p+ikmgMGAi5e08M9rQjjcYo81q3MqVDskF4w6GQoGUqwSmVbX0G6Fm04tcXw1WyN6rdeq9LaNchX
50HazvN8FpkLljuxSHPDAijdW2UVeYHwayI8xaEHiNf2LbLL1ou1qKbanHlzmKZY8tptpz3WS6ee
8BooP9QNEAqfkvct455tgEGNZrW8ZMz1YIDpvTzrqVNyffdzExLWJi5r1sw/9Mquap4Gbx6WW0Sc
67uFSAmROCq3NOaJCy/H61w6u3ZUt2GNFpl9rEbFau6NJbfTQNa1/VkUad/dqHS+MEeEBRAT5BFc
7T03c4zBSuFkt0CO13iKkG1sfMUgW0uN5a0aaywnswNxqHGlQQTaPLp6VM486JDjM4v3Ye2H1Xc1
UkpPZeVVuDB4aX94/fJ8YUFRWbaA6yAMuSLnLxc0h966LNTaQ6ECRAQpCuUusERTGPsoNluPp7e0
bmkAvLCiz0o1rCfiOBDSLgedaaTqonWGMHGxcfelpkZ7teuQUEoh2d3IiK5naD8/RmyX1al4K/Bi
FcIljZvGkLg3+0gajCE5zIcjXLjxQ58mtyKXF8ZbtZogfiLiytpu4s8onRBB0/UlHEy9jn2ZY+Tj
9yqcdX8R+UDTqM2jW3jV6xXFFxNeH/8Qk8LqulxRuogKzj+DGo6WXT5kU5EdCzsWPxpu6RuJ30tD
kZSh3QQYB9bV5nnXW70zMWfQQ/Tk5fdSaScE1Wngh41V9DcCluuxnJU9u6qU0C0E6345LVFrQ0+N
xggXY+xPhDXaWQxYOY0OUmNvPQiEKwQ/FHyIjlB8uRzKrGcURqSwkUXJItKGfr4vGj39tOid2CNj
1715PJCk3GSrgMGq2bjJM8tZoGNuKnaIrUniKwKhjTzVD5WufwLH0t64w561LS9DiDV2ICeiSLeS
2DaZRG+NQlOAqITJgPZegK7AkAVZVGXKp2jIoglMUNSq1KtTCuOTFqMTPZlmGR8VFRe9L2JSy+lA
7df5+fqyr8u6+V06yjrQFyhW067abFxKcKnWF6gOTB22BDkONQddceIb1XLaNdfjUJanKUZ9EibS
VuARhYWWt6oT7FoBuqlcxQjvbGwQjM99nbS0NpvOxrmjwAG8O84RoKtdC9Vupsth19WP0TGyZZ9W
Ve/sEE8w1I9d52KUKAp3/K9cMld/TN00M3bsrRr3F1WbrMNoZy5tXjoUSkD/yK7OVV9EUBomWdTf
u7FVq3eZIaL4wB2VlrtY79wPeAIn3j5ajZIebTrR93SFuTt01MpVfBsQJ7+nv1Ji1YZA33hOPbPO
zgQoZVgC5aKfTOCvBPhRuY+5M04/Sc7A0swV7fxdqruj6dMUlXYANiM2fMxIcPFoJsP63WZR7d6B
nM3BThXLiDNE3EA/bdxMWXYCu87sd2ZiMPE7jYelPw3CSKMdjXHDDPMIMOBh6QV3uNon+fKnrPAz
eg+DEWixQK4xPxhgKeqfbSZyeezVPOedibic0baPMOfqKMhLnjzIOcMpg+sd4/KuV8kY+wiSZd0d
Sb1Z7RItN987ZdJ370fp2U+GUzTzAa9xGvkpogTKwZo8hFcEWA4XqYIqogdpO1G0a4xcfMQGr/DO
oHdw5akbNLBxNoon8q/F+UIFKquCjFCn3ZN8OvnJidLWxIlwLOt91I+aet9lamTt4TcDPRMoUMDs
cOocm0ynNRy0ImvRRYfCU9sHbPyQHwS6pmiHAbbWLzROlTGoiWjVezruVgx11MO9q2hnnHJUV1mW
vSLok+1WZ5Cf1lhr9VHVs/rLjN2OF+bUIb96IjVrcv9EF0cj9zJtb2NB1TwuE7SjG4fmOaXZnE3g
+2uV1QYnwbG5vBJjbSp1bSHlSaSBokyuy/KH1Fb3cQv549+Ti8LyPsb545cukuFsSD5vjUuLvZtj
uj2BYaWlexh61ftkpkac0BgmLA7MzNS+OL1CObqK0EM5ucXIYUGqpouOXqvNb5V8oAYEloCQEVU0
Cm7bIqIzd0tsWWUZGjLPASsVzXsbE6obCeILNwzNVGulCVCzACt+uVpaGw2p3cRV2JmggO2lEfuo
qpujUdykFb00FBNak/i1NrLNsLPcEVB15yq05rHAmsqZPiyppv32FNu9USF54X52nvWuCBDX0t7m
fq6ThnjD9uqw8UbzHZok2qEdS+fura8A7QlE+NDFg4zLQ3u5dtxjA2aAWR2aTlTcT26ZHyWx6psj
l3UUPg/x7lpTW5f132qPYlrtbCR1WE1yfh/HjQKsMgNDiFbs7u0TMqgsrTUs7iVjs2x53CmWLkQT
Vr2W793cbneEhLdCseuPQweTlM+AYEatc+vZ6ykoBaXaVIfLVDq82vRahsgUN2KH64CWUVyXSMxA
9BzYzOWyKRQgzaaVVI1oXN6jWDwfZw3i5Nzow1lQ0z2+fe04p9T86Srw52a8yAJVAYSuCRMb362s
jI19pQ7NjVm9tHYmQsWGpa4k1O3G7uas6EENrF9IJvu6z0F5Vs4tDND1SV0NB9CIZ9upJAPrr/hn
y/GUAF3Pk4a3ubd3qtN7d4WnDUG/lNGNCV0XqBiKiinXAsVT7qDLoYzOIPqRI58JvFaQD+LJHZLj
MmqGry7qREhSGNivaZ9e/1ovzRAJRupTK4UfDbnLYbvMTovI1hvqYkkSIHKq4lCJNyth7a2N+NJQ
NLZIVxluJfZeDqX0y4CPAG6mlmLhiIaIM+2hnZNP4+71Ob2049d7dc2oYMFbm4vC9oRiTmPehHhf
v3PQsgKMJ3tENPOcGyO6lQ5ftRlJFnk60PiFt76qCm+uv7xLFNmqjDfGaXKvyS57H7tOf6d4eASb
c+Htsp4wUyFrfhqB5T+MosRvE4far1Hc5YceXEMQGxDgvDrtfSuKlRsX9LNn8WUsQLsKcco1Tgcx
tAWzTe2kZ0qCN2GUd+Vy8KyUmNRLVU8GpIkFYHW1SaKDVYNm9926EcquaSzvUbTj/MNdUnv0heI0
lp+MZjnuKX/bk+/EHhej1C3EsgomYvuttoyTP0GJ73wb38iPsiOD3TljYiWo/nSluPGp1z2znZe3
lv+BAVI83no1Ex5GnQqYNqzRcwpcMfb7LseU8c0bagVboWKEvCd7alMTkMJVnNIq23CO9G5nFEJ+
qpHiwbShKb8hc0oK/fYBuXBcxsQxgsLO5VEBzLtY7eS2YYyDA/BijCeTajI/6rh5/9GSKLoRK14d
Te3ZYAjaMXcpt/bmzq7JKoEkzUNouRDffUOvuLqXBjvKwB4c4/Prs3sW9bz4aoyy1v/Q5ntmYG0O
aFm2kV3jlIsCt9aoDzXt5xEuQZ174LvMotJ8Mc66G0j45M6+s2sr/4n1Y4lGezTb2olHdXLOc+cm
2r4WSWp/HUpE3Py5rHO0jFu7wRWp1pxo2ZVdNHjhIiKM6UgFbKmDogDJX5+HNpvg6nboZr/TGmUk
n4lHDdPEXvTescpzrT8RF3di186xR2V9BiasfpimKmp/CYWU8XeBqaT3WBglyZCpokN8rws77T+O
Tef8trS4+E5Jfu1/AZNHbU5maf8t4d3Ez742Us/PsNqN9omdOQ8TCJXssyHN5CcUAPc/cyUFffDm
xbLu+6XLpvtqouz41tsfrg3YFRquwKk5R+vx+ud9m+CvgPsZtLAGK7D3vG7wMwmWDz3+Wxyw6y3G
UGj+IpjyrLO52dKQplwMhm0tzJMs+a8ulHZHCQ+WQW8k2Y2o9+oBWEvpRIioPcFfJPu5nFY8zZhT
F50WKpNp/fXGTkDx7FzzMxqH4lholXlrR2+vIe6fFZCO9N2qzbsV31DMTgFdtxih5Pqo99O8tHK/
LG3yoRW59lYBe247QhFohCR1dOq3tadCsjXqsrXCVMbqDrVQ12/UQfiGOv18/aSCrbueGQuJf43L
C4cK8Obqc8XkeQhCLyERpCJ+6N3kDR9tdR6XPUUxOBnRPBgiaLWubj830G2eFgQ+hzCX8IOCkQ0O
/4GqFkalvfTu28IcqBYUbls1DzpILc/1W6UYlg8afJbFj5EEKT5ibinLoJhq+76mfp+Cxkd7cLdo
Y2L7iqPNEDaXFKpEOnYYBMUS2QS/MuNqgpaSxckB4Muc7loWpThwxcz6p2UuhbNztdl1P/ZmXaHe
kHaWAV8hd4HpDxnGsB0nrL3n34rsMCn2NH3kzo+WYOgtuEFq3bTRN2G44jvKhLSvYrFYySHyhlE9
6gio299zVXoGYBCvVD7he+haewWz1/hgWQvQVawoUy+o6djjHbzgJ39fZq79Ix/6PArGcfJSP1km
aAkWifZftaOtxz1RdPYRl6Bi3HnSktpJM+KhA0owJ8QQORQAbZc4eZbgnNatYFVZ6Ur0B5KDZvqy
tCZ71xZoXB1yI5ES++tZ/IcxOmbK8Nu8v/W4KMu7rKyyhwpV0U9EMfgB58uciX3WK873geof9L8I
uRJ/tAayk75bO1RSSPdXuqgztZM+WaS/zGqlH1q2Pta9kSJ+oYsV5X4N9gg361JK7VusjEO510XW
28ek6Rc38DqpiqB0swwyNrYjsK0nW30i/Oi895mO6Oe7ce7T8uBmSZ+cXPSBsoMq0HnHMp5EcfT1
QWvt95bQRbc3lcLDs1mSUsH0nBNoIa8fhy1CZj14NPj4B0AZ/bJtjQCCeQUF0SbpqLyFh8TtMBg2
hKuCAcgKm0YPuc+Ma0Wny+Nk4MIQDPXc3MIePueflw8ozXIKgSinURzh1b684GC+0VWCUhlqVm+4
HzFVF95duhBLBGZvqNVRAf+hnd1qkCXBZ4MFJxUUa0BgO46TfZcU0/Ae53U3P2ZWEeXHWlExVV4l
aZodTThL+INeVUhqeYXyLY+q2aDoOaTeocL0dQgyt8ufZD8MTzzOuJ45fZubu6Hw0ilQB0XVP9Zl
Vesfuzw1ftgx6sYHZRaFFZRZNXZ3nFpDvjMrnh+M7Od2Vv2uKHpQ16VWJzdim+uPRlNV1WlAQEjh
z83D4+YDKkVNhldxmTqpP1tF6nz2aDpGpwlyxYKtDh3vncxVJcU0vUFQxu/73Oq+vr55rkJVnldY
3wAdwNtB7NjEWBU8vVianRdOOBYEHXUuOrrmLTmX9W+53BlE989ca/T0oOJsnr7Jw5WubBUvHNJB
nw/AR3GKXFQsbt3WSu8NszDyfTxErXMjZL1eZlJIAlbCupXnvaWGFTT/p6ZQ03NTDwNdeXnoNKeF
XNudGHTBXL0tdqUqj1bVPb2+ss8t3MtJr2NTMyNCd1fw2OVx8MTk9oAL07PaRwMVX32ofymumn6y
kxiJh1iq7WNSKvIJPEE13E2uEFWgKGhNYF1UWvczXdNv0Au8ArhwMeo7Fzhvu0docxrfiV7t5OH1
X3y9F2hirBo4KzQK0O1mTwJ+zjAoFtkZldweg/V6OqbU529cV9d7gXzFo9WOvCwgty38lZqFucRK
nZ+XVomm0IPH+KhRc5IHW6qYTZd7b5rmD69P7Tr2ouZMig/gBeo9bcbLb2FXnVqNepGe8Qpw9uVk
618do1C4B+vki2lX5Vu1MLHyoe9uQAhcaYnGFdIttQw5Qk8+a0jVVL7JDY1Dq3KLT/fCJ3vWD1lF
01da2CZUJhEWxeyO6bmyEFmbe/B8ZTzdAitcfzKq3FQQqCOgzkDwerl6Xja78QJGYa3Gz3daFc/v
h9apPsxt335MMzn8tNRuenzrJ2MBaQZTdwIsiCj75aA0Asxej+L87GZpc5RVrD256F798pRa25VD
pd0Iz6+XEpE6BKm1FRMM32BNFf7JOjqip7anmX4G8VX5cqH4SZiZB6/Pav1bLi+Fy1HWjfrPKKlm
0hsChHhWpSne22DckUbHF70F8/X+9aGuKKnADzF95f8QjqPGuq0AiTHp0sWes/OYt81fO+k9nlTR
VRb9taVP7xrs4qODXdGh2i+JKeq9bbdS+UxhKXWDqNDZSIX0Jvyashwoeh47w6NlV9V32XnZH650
A/mImXag0Zptsy/Uvp4BsSEZ8ED9bARKM2hKE8xZ3cd+15p5FuRFFDuA2+gt7UpNaY09HtvlD6Xq
l/ZjP4xJ/CvGQT3yIyXrHzFCm5IHivY3XfKuvgOFRWuV8KOOju70ldaINppAyIQIG0KSnSXQvWj7
Rt9XlZ289ZM/D/XscAibhZ7X5Sen95vjtxaLsLWlg8qqSfwZiR858fPx9S9+lRatI/GYg5qiFUZ1
+HKkVFqJ6ZUQJlocjnywvOLJdmLrzkx0bTfVcw8ZZBzP7uw1N+7Xq8PzPDJlfERGiCLszRxzNOvd
sWI5J6tz7zhh6rED53vjNX9pFBoGiFjhTLG2Dy/nh2UelNMlV05uXHcPlTsN76Iycd76DDIXiusI
AK+vIf+7HGUB/6iAPlZO6E3Lh7qcqnPWWbdQWS/MxaJDwD2zvoIA3i5HgUJFeJz2KP1gG+AcZVlX
H3TwPPbd63vi6u4GmAsnnhaVRksNjtPlOGhnjChyJHGo2OrwHel99xvOBh2eBv00O5/HMm+H42Kl
0a13/oUTBsqGMWFc8scWX0pGupJ6IgUCXrPCzKSosJnPG0oCjefJG5fdS8upU5QktuQwk6xuppmS
x06gTMO2c7zhQKtML3dWaXPlvL6eLw1EcQO5NhSKVG6Qy4GqKBV5FkUM5GGmjfBJe0erOXl8+ygU
j585Kms5ZTMd6J4oBudjHPaO8ser9WSf6tEtJtIL1wU9y/8bxN0cJ+53GHigc7ku7Plb7rUU2qyo
H+6gPYsfteyMoNbslCvSJJN/+wRXkBUBBeTJq26zSmdi6N0SyHDVegeHF9GvcQe/kWW9tPm5MKBT
oGIEK2ZzIcZIewy1aESoOXN7KIey39XVJ6t+QLfePGQEwjem9cKmt1EgXCmnGL3AWLncHbSXMLy0
VBnqkWn+8IwG39Vpshd9T4NjvmUI8cIHJJ6lbL3i1KnHr3v1n2CimWKIWZ4rw1lS+RoXpD/wwax2
Q+bRv1ET7S6ibPslSUQS35joC8eASwudWLxeQP9fcfMKpW61FK0uSA7jHSoOpC5WGd841S8sJ3ZO
BJz0vGEvbFv4NTKMXSIhnkGs1I6qNf0yAI7tq0a6b58PUD0kYiHEUErZAi1qofVjPztJOHl9/ZBW
hfodPFJy4zJ+/sEX4R8+zivtb21+A9ravpNTx105l0kCm8lR8IOAbzaKfWutnY3JdVBK4g6n8bXE
hmLFwdAp80TkBOyd3uekTHic12O763Wb0tsiRmQ3jcSlsKSjK6buGrPytHNZia7bRX1HB0gF9/Ol
dL3ib5/XA5QbT5qPC+Ao813SKNL0F2yIlyaIh8SyP8NlJwrM08HSD7ZnNd2dnRtZ/aFIF+NJxCqw
/tevgau8jAcWDgIQaBoMWAZswmFg/bzE8YjFKn6kaOW0867FZ9CfFfVB9vktfuH1fiL0wHyJ4IF6
BNzwywNTCTomCbIqYVvAFVATdGkwNcx8OPu3cCHXB4ShUFujq4gDEznn5VAQGaO6qWBZDWi1Hhor
i49VWfx+ffmu7zeaFx6KDuAc2btbAdbGLO0oU1BBnXNX7k1vbL+Nupvdl3mp7dCBHR9SMdxSfnw2
c7rcxOxfynsrMoCHcEsy7sx0rqlrwHVo08y2/XRU4vZBX+EpJ0UWbSL81Bw970GbdJF/QCGrMoEa
Wi0KCoWqRuI/nEoH9YuS6OnyrSgH5X+cnVeP3Lb391+RAPVyq2m7Wq/tdYnLDZHYiXqXqPLq/x/t
AzzwaIQR9pcERq7MIUUeHp7zLc9NOhe6P7J74wPl7uaLacrpXTnCLYQs5aLYFbZF0fpDJXSUjcwC
tp9atun3tETm1m9RJJaXKFTyvafvbYiF1r/ICFAdA0m0LhxUzUCSaDdNYEmnsvzILbunSY/Ulz7s
pr9UWfWXrkvm4SmPptbYCRe3AFsyUY4GhnPULDRix/Um0vR0yoxE0uI1EWM7Do7Z0i4yZsX+VCVe
n37t46xq39Vp7ZafWPopfNT6tPgXQHdkfLPrdtIPakwJ9tP9fXe7uRenLyjm5D9UL9fpiUfG6nVu
mwe9Qb1Gn9r5g4auw3/3R7k9rbDKPJDTNJzpnK2tS2JHxuC34HI6ExB+vwIyGh/GkEftA/TTec+r
4jYWLdgMtKbh6C7MvdVio/eiG7PgMGEdXBUn01Vo91jAZ6vDHNnjNys1rF/3Z7g5JJ/VZnMRldaY
O7fKmtFDAzpocPU6dINqn+rWleeyqNxTnaR75keb4y0SRWCHuFTXJEEbq4QcOTCC0jiI6pwMkfhL
T4v8hcYvV0zc0EbZuVg3hqR2g3c7zHoO0DrJLBtV450TVwEI6fZBiZrmoBtN9ICdenNMEd3Zyc83
Ng0MdTR1yBtAv661UhAyq9rajarAnNLmrGnZ9DykjfPUImS3dzyXl+B1IFzIrAR3jgLJ5dq3mM6c
Oap2D8JQD0GYJL01ObAKXPvrhHhqHyRt5X7szKH8CCyfnkeas20PVteZ+Tk2DDQWLaftJozv2qE4
3d9at1cDa0BnCMQR5QBoftehI2/bNKXUWgRunffI8hqnNk/qfylw5YexoRhz7Ie22sm3txb/z0GX
uPFHQooybDt3AhacirfVuc1y76gVIcqbqlb+D9+Z5NN9VVKlRLj8lD+GmhDWN+DKQHU3C+1ccF8E
upr3R+zT93RPXkvS6+9MTk8xl7oKdIf1tGh2gW7RikCgrh77jqogGxkaYnjP+WVxGyx3Sl/vPfHf
JEt3fKfPU/iD+qXZ+CLLkrdqIXuLIgadPhKYpWWzTlaVaPBqTUDzr9CK9JWOKtrcxW/1Q2YUUEKL
oB1McbCaqwymU4whQi68COY2xWjUMlvAmk59ub9PN7YMKYS6LC8JDFHw+jvagzkrg1KDow5b5QGd
65nAV8xBL4i794fauLWWigQpJTmLStp5PRRd4VlGpg39m7Y+MIUKS+4qs94oFbAsG2xe6jro3C0I
xutRIEe1LSoWCBYMNSL8SmW87+e0Pd6fCyw6/p7VpqQ4TksL5Art7nV9PPekI4AEDwHmVNn8Iwbi
Pv80oDu074w8LLLyMCtc39+zNlVyOr5xVbcnV866PBQTlqCf1VnDQA1Tm1Ge7DhqFDqtGE0+NoMy
6f/laWX8BQigTC5U23CY15NU1Q5Gb9XhYU4i44tqZrxaWpAk7jOP+QQ1V3usNffUWDVgog5PBfsh
KkateWos3vY+BZOiRZGLdOWDrTRzGftWosVO6Lc1cM/Eb4tEiS6To4faMZvQVj2WrjRLiCxFNvuO
tJoMHGDbdfKnWsrJeeitLi+CWMnU+KCjmF1dTGuQhFghux4yXlTnh0mGYCBEBmS1kroWfZJF7pSn
jkTS8w2ttcL3GndTfyiSZMo+hSEQrcKXY6zHfqLqozyjLWtLvEOEWTwUdebYv4pKn3pYY+5UPaKg
WZifcsTGQEvT6HV+JZYa2oGTlGp+gocRi9/MtrEORusKG7yIMFQq8IVEaDvuPSTDZqRyzxVf69mc
wjb87tZ29UMMc0tROq0RIW0om9cXbFOHnxOl3epoeb1t+uPQ4E/uxKZSP0Sm0scvzoSSK5KO+EE2
voElX3ZBDlL/FsoRlrVvx1Uy9UeEczv9NzRioha6bEiytjJzvvT97Flo7jZgWIoGfZQ0LvCjc/Pe
wQsjslsc2LF/y/LnuePNfhGqyHVfK+exPhtCrZVj2ovY+WscuNv9wTba+QXsZ+2wUgg4HUBzTtqP
2qCK60vTin/ORlzokIOkWZ2Q4HGdb5Ne9J8yNUNfpkubdn721KjNLh3aH+MJ91VuSt/pG7jT/lh3
SfeYhKXSPYxaJZF2djwiFXRPNp1fASfIfYNcbjhjdaf/Hgx7Dv+6fwo3IsoiRkBZdWlR3XTxTbZt
XqRKxcWQoNDfzhKl57CsvZ0kaiNIMg5Y0gXtTV1/FVM8lHQL7CnrIBtTGNHIdyORPPWQhXxqJNUe
snRjWnQteSHD6gNUsn70QDgZdHwQ6wCqWn1Uo1p81WHk7HBob3x3iZRU5SjrkCDisLdGy5uVsMfI
RrYSuIYnXsDHdD+Al2ufMoBt3d8hHbn5A5lsPj9MVYHjY5l4NVtWFr1rPVZGYqXP0+Qm9cGraCgH
Dbdhd1A6R/+GjJ/evu+mYUoOYYNX7tGOzbzmMSTEv3EoM9TJa8VIvljdrEYf2PFG95zMs90/NjGA
TX+0JERUVenQREUowI2PJRyF/PH+/lnKuKsYvlhBLzsI+Ycb0Umt07zGNifA52alL0rhSEAloUtL
0AKIrqQqYrC5Df5IjQxobJZi/77/A14/5foXUD+AFcGrB+zramdZECOmxXUgQNbBto7j7FUfRKsk
uZ81AtflPko99TDplfXOtZVkfuqLuWqOhpx0zS/TnOag4yqNweM7LJKDrXSiP+Vm0toHVOrq6NKL
Jv7Z1+P8IQduvqcOtHEJ2ga6u9zqCCMCqLm+bDMVZ6xBku2PYI78upTHEkmxQ9g278h2rZ1cZSOn
plnDtoWwojHuKldJUefVEFtGmcqZG99iVx8rNOxnWjfmPD9xkHbaasuTc/11yPDAPgPxomi1TP+P
JJfXQVTGfUp8SSf1WTf6Aq5i2yFzn9UPuI2pwZTOLsi4zt7ZmRshAFsfJFcwSKB9vG4bKdIOEavL
KqZKvTFDTfFYi26PL7MZ1yDL0GqjFXuLGCuMESVxUQVGWciD0uIROReNcnTVZNwJoVsTwuuCwjxm
RRTmV0vZ9mZI/Z+hQlcMtW8kQrsUqSl3vtjGhuQtiHAJSkMGBblV42aEiotim1UFfSSeIWgU33vT
/ddA0+zRHNPweP/43k4KcgzFA51vxBN7XbJwkypBgc9pec832WMGVvV51NtpJ2++ndPSZaA8DoqJ
BtuauVKHJsA8VFeCYkzFP4tMORAaO6vea8IU6sEQXv/z/rxu4+JyujhmcB8pfa3rmlJDJXxIxz5Q
ZV6Pp96s++GhaGRunmSahaEPXsCpH0rHIURarWv0h1Tphfhy/2fcnnfK9MyZZwmwKGvt0Nuo+qSG
atMFskhwE81U8z3oYv1ALe5VnS7+EQl72jl5W6u9CKxxzVM4Ru/h+syHni5F2Gsd5JEhmYI6UXtw
al6ihD5+rUP4AIK02jM+fs0griPNwpZfKPN4XoEYX5ULamBMfQqJJuAmjZRPXtw3ylcEKfr+I0Qi
GX4pvTmagKAV1KhgJONuP2u9onbQW8BkHjLN7GeqDHn1E+Czl3yP9QbAcoO7a/hx6DvbvfCcNH+q
ogtjWDsUhb/GplS8ozVU2fheEVPc7NRnNk4H6DvksDlnpDNrGRJRK94s8a0IXAtrC3vI5o8F1Yud
M3gbo5dSE+h6wFHslNdq+R8xuoOijWNQ3wc1T69jQcZQHwSJj/TV1oi/WfmYnUOEnp76yEnf3kZl
cB6BuL1RXUOK4XqzSHvo+lFp+2AGCH8pKPr4toOG1P1zsLGQdE+BRABf4c25vobmWKFVFDGKnSlm
YIxa/k2tenMnH7y9DJZS+qJsi8rXwq6+nos7emFZRBYLWSTTX4Ytx2deh/qDUeIP8T9MyOZ4vcJl
eLBfDxURKwa9NftAwjdF1gDCWW1k+vl/GIUS5FL6hEe7LkW2KNpFuRHJgDRUHsPKGFCvLfcqAZsf
BywlOF6w39Rrrueis/n0JKpkgPy2d060qb3gNTD/uD+XrY+zNOlcbjYARjewh0ZrkqhzZTDnTfvS
ST3mznZK0GOWslNAuR2KchOMNvqB4P9gZV5PSPSl087JQPDvteIxN930l2h1KBO073Zu682hQAfj
NbV0GtfKv7BLQ+m14KJ4Fvx2aAH7kVVTG5DKnkPo7VeC80kp7XXHAbFdfSWAU1NXmvEiGIQyx6SU
me+hUXK6/5Vu747/h/wCUE5CfCNKEOqjSPBQGYK+1/v5mNNYucCzKNWXOOTT8k6qzeR4f8zbS5KM
Gkb10sFdoM6r+wq8PaSDjDHdtrU/Trac/L6oF+MUPQ1sw47PilvuHa2NiYKaQjEIFXEyunUfHRcP
1Dxg+Aeq0QFnjBDtzXD1eIlcu34nSn3P33Bjo/AcRpd2Ec1Eing1SduZIHRIdwiUHgZLb+Ot5Iky
PCeN9N58a/Hy5mXMg5/yPRHxevunqI5AtMrHoHX18gEOw/gIg3QP+7O1gFA1bLruaAWp6yqlZUr4
D2k0BnXZ2SV+ISnuOWWvx1MQ607/NZ8z/e0Yi4X7RiUTuh3J5Lr7XkjavXZSI+CcgrAVsCkRrUkz
M925rrY+FuAbjjU6T0xu9bFGs0zQr+/GQBhlE6ShrV8KAy17FIPqnc2/sYxkTZRJzEW0iobT9cey
JxoeovLUoK006yGaZHqMWrc6xATHszSKfme8jalRByI0gi8H8b1u4PVWqdoNQp+Bis/CfxMuWEgI
Cqt44gFg7dzHW3NDIssyF14Rpfnlt/yR2LRlG9bsCi0Y61I5uQXe3bmZ5R/KGQX9WuyKJN8GEhoA
VLhAhMHq09dgnyzKulrJaZvpqWu9V6l5HjXyje9FmpePAtDpp2xCP+h+9LqNy0szFHcF3rrmIs9+
PclyBPuGHdQQkHSrJy1RFT/Ew+L85lF4wC+wV/JocsUVCBP6SzKnOUa1Zj030wPdIaQnEAyp5Ztf
uaBBUABjDAAhFGOvp9PZOGvkDce6MXo4YJotPs6K0rxVlQaUFKtG45/Gokqz9XoUfLnMJMcoLahc
chpe8OZRINTsl6X5VmF27hQg7JQJwRVDYFznUNSktAie8Rh0wNd9WJEFvjNadnDsqPof1g6Mh0v4
XZS6193crKQCPXbqGMywy/1eKClaEM7edXl7gpcaLoOQuJNQrxGCRatqczuhYs92V/C3HDRfieV4
sXGQON3fdVtDwdaHzk7uQYF6tesG18pMp6rnoHJcur5kHlHvQ94Y0osE//j7zaOZQDXQAl7kLKGK
XG8KT8c+jOVSqVV5SI1Ndn5sh8E9Y9f4Vjl1NgWwKhTiCRfgQ9YE8bZK63ZIBzVomtA76thGHlC3
Kt++fACXOUPck7ys1uCbDrHoscKWB4hjUR3os6ONm4v5YqTKnrzjTRSil8v7YKnk8FrQ10xt3YAU
gneZE7iUqf8Zx7g7VkOcfrr/hW5HgQVCaAVVzIXPtX/9hcLBTKOqQSGzGdvmQt1/fna7Cvbh/WFu
tp2BIx2hFDrzAv5eJ9VDn7nZoKSUEhY8Sx57eIMaNSY51rS3EW6uKI6Sw8ubRjj/B0rqeka9kY+N
tDwZ9Ekrvtgy7Y9dNmuXSc26c9uWe2D626lxdJEXpfkO7gnNmOvx4PYjP5FpQ0CDWXkwJj3xh76K
zqPW7pymrZnxHuFZsuhqc66uR5pqaICppQ5Bghn1iZYWbcJ4LM+VVlbfzKjcexG/VgquCkBLVCJZ
WqTnacevp+b06hw6FHsD0UXhIYIN/uTkCNX1pSjfuWC9fqT9ZD2haefBqta9C53Q4TIDmQsSHQ/B
ySjMd4Y67Z3Cm6yAVcYpA0VLjW9tOavCVBQ7fdkbyhhkTjn5s2nMx7HsyvdRlQ+HBsW1z07a7bFz
b6lTVMK4QQ3wQ7iC0Ju5Xv6xsuoaMpge9NTmvU8i6af8S2ZAzf1cllCgfoTubGZnkNWm/kzdYkLh
pavd9mmI0H8+taKzBBY8DUm115jaBw8xOvMA3sqc6WbneMoOehWKXx3lVtenypkp/9pKaGUplqKj
CpU+T/LmEA1t7D10cerWpx6P4OJdjzGL920SZZUcyYHL1ue5lyn/VEhXR35cc9qOKPxEoY/jxGTI
Y011ShxKiqTNW0sCrA54DfB5y0m4oVBRY88l6YwRuEiAqoAHdN5DMdbBo1Ek7U5Qud0GDAYSHMIW
r3WeLdcfRGROa6Szs2hde/bfRufW4ae6GcziqIeWUVwa0xJZQNdy2iPq3NT3mCbvJJAcZCCUv1Yp
fm0VXphM2GkkjWv6hpe2DzjlAmXr++a57dHAPFh11Z7K1Baf7kfS24DNRMHZ8rSG08XUryeNEHA+
umZlBCWSIQdYs/Ixt8tph/h4G2oYBbUo3FDA2TPa9Sh6NY+ZLmIziEJ9SnyvtNPmCxXPymM0eOpI
1+TDuJNCbnxPPJAA/WLuQbFiXVK0FPRIp4FBeQpO/WG20fyi2agU5qHSR6U7ZIjZhKD2iD+P91f1
dr5Eb8zOKS29enmsPmgFmGW2BtMMwGvZxrEpk3Kiw4mvwCkqolz4ZhPWzfH+oLc3B5CghXFIkXhx
/1l9Ss/tAWZAAwfX5LmPbWgyDJz+xyR395Qpbzfs0lXnPcNL2wSlv7qkDGuMm5puBgqbuB4buvhQ
Z9XXYUbD35TR11bBybmU5s4uut2rlNkX9QcSQJ5xazf1RcJjSAxwL5MN1CPB4+go+7h9K8CQggh4
gUUTcxEJWvP58TRTYa0hMTE4bnsYKyO8dGZo+RVSpTtf7Ja/zyuKNAZbqNekdg1zb00d9FvVuEGu
hnn9XzfxPjikQK6ArNDrdi6An4U452EeO0fRhIaGxjntCDRZrNy6jEnYV8+2IXS8yHuqLA+FIchU
ieJtmSGtUmEB1llNke5RD5a9dH2VL5Ud4iUVJGDM6+7ZmHhRlteFF4DzascgVQcLbgXs0PSYDbYW
PxVupTUHHHPxsnEVjKdObV+EX+/v+NsNQcREGBUFooWvuf5UAwJHDpQuESRq2f8VphUafjBSvtwf
5RYivyATAUHSQ2bLc1lfRy/NHcQC0RYBsrIcKqBjWG5bVoYzUS4phz7gH4Egbmot8I+hwLfyo9sb
qPdMILzko9I38lFvUmWvMrQxfZdyL3ZMFuA8uBLXv6vM8f2YkXcI8ikEkcCb2av8oc6HN4N1Fg7G
Im0AEnkpl6+OezeVcVhhq/uEJGx60Ma2vyg1Qi/31/kmaHIG4C0tSAtKM1QYrqcTDlmJVUlFYYFW
8AevjtqHCgLze83Juyfc7rs9U4abKMaAaJOArKITxHtiNS3yXGUuFMqR5tB7z1GHp88F1aqq9Ke4
Q+26dIr0P7OZJ3SA2Fw7cebm69FSB7LOjc/3Wxh919NFUTgVSgm+ArN30u+CriwaLV5a7KQ1G8vK
TUReu0jBIFS7unvLIk/prmbU87poVs6ZborW1xNZPqM3Fxlny4jGvfvhFs6MRClCXbTYX7t56zos
eqFYdk/o+o9DMspDUyR1eipk5L242uhovuv24X8ZnnvA9MDcHYFFVq6PBXXyLaIfL473t9bGWi/M
Lxx/XfpX2Mxdr3XaVpGTk2kGht3CQbBk9Cgiq3q4P8qyX66CIpNGk3VBGhODsZe7HmVUJDzMttCC
VrTpQ1ch/tHEwgs0tt/O5tnYuhTVF9YKqFzukNXRF8Xc5nTqtWAYVXmM7cRBTMVCkloZ84NZOMZR
aOr0obHDPYL81iRBCcIGhd3B0KssI7EHI/SaBok5ZJWegf1OHxYW2q/CHuRb73sIUTwWSWcAuyyK
MdfrmXdTC8JX04IGDOsD+AHnQc+KbIcAurE36KzTJaL8vBDZV0UlBcmUmmcM5yOpqkvc6P9YrTB2
NuDG92LXEWeW+gsNutX3itvQKWOFx15oS/0Utnr1BLIV7JvR2a0/pbrzOcMx6FSE7bgTVjeHJgVe
NAAWo4LV3sd2JleEEeoLwCv7WOVIuttprn2de1t+U3FHwtzIEyCH7T3lw43Ig//TohkD8ooK+Oo8
iMbq4kHMWlAIUz6HcRudZdfFPxCgxtt1rt/qGsjtzDMepAVVcKiKaz8hQGCatujWo8zvaC+5UvdH
da4TnBclWMH7Z31r1yxVcHYMHUnkIq73Zt2FKqVX3ERCTEuOSZ5G5zIi+7k/yqsizCqkUK8zqK/C
D+SWX11R7SRsoMymHtiifBoRUckq5dGIlHeqGn7NFeukSuff2jA/9pH3t9a4PgYZp94yoLcWunOI
7D184ta8wYFRR6RTyatq/YO0EXe0ItHp2HTFwe5E+pRD5X24P++NIMO1uBRGeIlT5lulAkqVRP1c
1chKJnn+uU/DNAiT2DrNzbwHb9napAsVD9Q8C33jwqaqdV8nDkOpsPj/oUIlAyOa7a8iEsljKrzu
rU9DOnnAeEgmiZ+EnNVxzISimrObmkGb9/kHCvTp0UOB8FAqqjirdu28PYguxS3KWuiMQj9fxWst
abQQazs9wLl5xv3V0I+xar5ZgIZZARABpUTDkLfv6oM1dj/HcB4o1DhKi7KplhxnHV1kNJ32RK43
diDi9ODUVf5bzvv1yat0Q0Azw1snaov60+CE4UPlDuVO1NSWy2V18mhqgOgiZvI+u+lsyHows1A1
gnDuvAv9CAF5shAfpnyShQ9csGuQvzEiXynhb6SyF6dBx4fj/kHY2J0cAPIJblyi11rVbm6omZYl
2prZyFOISmkrAgUWBzCfwcOZ1Ez25Ni3lhdFXJOYg2b5TTdsnIxGK5EYBRUopqOVuPqhqLr5fH9e
S3K7Xl2wKkuRm7fbjfq6dJoqMfTQDCxr+G1Xypd6sp7pSbxw3X924+nl/nCv79HVeK8oDh4ygJ15
zF1vGifPdWMKKwssAnKVFwSnZPzI+2kejh3FjOiYzQla886YVo+83EL1MoT49h3SuamKX1aU5Paj
4vbNSxVKy/wM4C52j2KUsXLQKsVwL44yOB86OE9LFhuPuE0UdqYHnaJm+k+ZJQgVkSz38XM7xamH
56LhfbHseaoOVZSRObU4v3aPYtbV9DJFrQU9QJFu/gDvX3Y+1PVYfjfqycT/ppWKQpwXc3mMxtb8
Xg1Z5p5GXe3co9EoJrBJGE2wYREfd496w9PATxRUYn3TiXQ0tkZH/MWX735peTaGx7TOk+hkiAR1
RhJb1LSGirrVOQNxk/mTSPPPriP03xM16OEgdXPKjyMGNTwdVKF8tyvoqR8stQr15zLK20APnao4
9LXZ/BVNQlQHI1J710ez18geat4pPypFpSJhd7kZ+RNxEv6TpqS/M1XK9DLEo/5LCjhjBxhDjUfg
GlBfzXMv/RlmHizPWs9z9YgFW+/sHLeNzW+D8SdZWXSNb+pa9GyxtsmRM+4kyNKicgD+DPZ8vL8b
t0ZZOCmsMTXRm2SwLKjuewObP1R0y1cnaNGKOe3pxGyNwk1N5sWbnYfJKiRL4BPODJQoaNo+Ohpy
dE6jkHveBlujgDvkUUV2uYioXB+sgZvFcxXBXCxVfpnVdPieyzQ83V+xV63S9fld2CPYDPJZbuLF
SHmxwWOI2mZhIq88Lc2x55JXCoVrhEz0I55nAGNaOyKVnXtULI8JXoe/MdBsjaOWOFn71an0/rdK
jSbZ+3UbdwX8SKLm0sdVAelcL0I0lUCqBLhVG23ab4XVaJ+mRHEc1EYsAz/TpFX9Rajon6kZ0jM9
uSmg1bD30N/6FEjAgaNfdMVuKMSdnZPLIHYb6E2uvYd8H/1Ea8DaKSdspGb0JlG0QyuCwsUaxT27
pkLJhASQsPNrSkR4kZz9Q9bLfmdZN+aDgAoVJ7ghCypulblAOgBgUgs9iMYBQppVuIdccdqdm2hr
FJeTyDmB3MNhuf520rLSgoCrB3GvgSPM4b4NJeHq/gbeuO+Atf7/UW7BfQPKv82gB3k5yOcqze3P
MMx0Px/i+Umr2+pLJsu9R+fm1EyoV+RLHhnE6o3Sh+mcR23O1Eq395XWGx/qwrF2FnBjQwAEBSq2
ZAwUPVZxJlSiztTL0QgSYenHIfS+q+pkHOMyjXYWcTlGqyCA2iQFAcfmpc7uu/5UuLQldgNwDbY4
YEylzuzp1E1u2p5lW6Qf7Fr5XERz85Q0wvx2//ttLCVDMzt2PHtkvUsMl8dsRhcwaHhAnzJC+Am7
hL2C5C1VbikOMDmEOsjAqElez7BWpmQsvcwMsrD5KCztP5m7CjS5/uwq1j9eHB8T5ZtTK+8Jhp9n
2qEo2egvLmgRnyTrSAO29MN++BS300vX2PNBm/fO/9ZKcEGChkCpYGH1Xf9Eg1aIo0+sBO0svImn
2T2HCX5q99d7q4BIPZ+/yloEs5jF9TDkjLSfvN4MBHR6wAJmWaNfLGfzQzxgDH1G1jPs3+X2UGTP
+pxSO9V0hGzOJr1GjWQodfYeblsT5/kEEYJID0R9SdX/wCqCrUcmGRZnkPcYP+PikZ/UxN0TA9oc
ZZGfpIqIP+AabjJSieqYnxnU1tidS12a51jWzf+wnSnkA4ZE5JJ37xKu/phLPA9ThGqESXk2k6da
tYuLjbn7znm9jQyQORaEPVAd5rN+6g6ypodUVmZg9mp4li68Wi/WunNVdm9ftmUooCWUQmlVrBlN
EzL5mdGW3MBqaEGqb+LhuxPtcmG2ZgQ6B6wW1e2FpHm9blJmfawYxDrDMhNUOhIqMmFqeeSvotx5
s2yNBZGQFgGYGY3az/VYkEzBn9vsN5S8w3djbbQHc3CVYGpKb+e03d5O5Inkby6dSJMy+eqw9T2q
/aNiWUE54L9uhWb5oTC74gJAyf0nBkXt17JTd/bga+XhOpwzKjQM1JCoGdBJvp5gnHeF5rSqRerI
y+zDTIn+3yT2iso+llGFC3nNwyHifaZXLzoiDfNJZE37fQAmLA9Tq8vGV3HOeRGoQySgvIcBRQDM
HWApyoXRzCOqr85WVfYfhReVfycN0hGH3jSz+ZDCEpp9I/fCl6Ys4xcrsrSvFFGbxtfbRHyperw9
fV2RiXLZiWzLYq6njY8C3xU+yNLKXk0baYrYaj07gPctfPq4xkND3D+kgohidhoPssT+1MrEeMgE
dj54VmCNMcZx/g7jvPJ4/+fcxht+BRnCcrkBG16ncwrel3ZfjDbuNE14xJ/UgVk2uTvvqq0NRs4I
5YDGueaty5h6j2NI2uh2YMbK+GMc9PaAM0b+INo4Dmaoxb6UlbfD8NyYGt01GsNQAoB/rDsVUtN7
w+pj5JLa8IeGDchLIwv7+/3127iyCdYQi8E7LknqGopotdJ051aKoAhDq/mhOooOzd5Dfj7xMwdb
gHmUCNiFYezqF65sMwyaDMNbH1HcrG0Pda6nse+F9Ji/YKNefnTLWk8fnURkA6R820qCOJ6LMEj6
InN85BdzY2dLbkQargCqIvBQuXLWKIRxHAr+CR0kC4fyiPQcniQdHKUSHY23Xwks12K1tbTjbloC
81zMKafQIdvO7HMtvPao5KVySau+2xlq4/ODU2dSAO+JU2v7i1pmEiuEiVmB+kJ9pqG5Wzp7KdvW
KFSUlvoc8yEtuD7NnSo9PRwLN1BmCySMgeeL1GexE6A3RqFyxW3Jg4he1Wux8o/7Ws/brOqiBT9F
o+rc2fF4Abe1x4rbGoWuiQ6BnU4RjczruUyVZ8ZJDGqpcHt8bZEpfajKcc8C4jaLX+CW3NR8Fq7R
td/jZKYUdzm4lNlzCqlq+tWMpgfHmCGTRfExFvaJPvV/94/pElRXQRdkFH0acIQIHawh8ZVjIyfv
pVbgENk5nkr0knKWv7tNoaErEfHZ7g+4sZbkB2B74O1Ak1hTJqXMwSclUglQS48PlWkkx7i1852T
ezsKkrULegDqPJiJtbIVhBIQ3f3sBAYSJWcv7HOosxTO3joX6BEW1Q2yEJoX6y/WWK3TkVx7QUjx
9EWUo36OIU28fRTomCROC+MOetrqXpSNHPVJUO9zlvpkD/7xbzulOfrmucCT5csAuADsuwYFxgma
Zi0IlAA4QPgy9s54zuY0/fo/jIIt/AKqXGa0igpDY03oPSUi6Nq+ephdbIUiHqpvbu3QdSGyUTjm
QUYqf31eyQjCChltEcxQq/1xBrc8hMWezcjt0QFjAG0aEAksNHgr16PYU9d5de94EC1jMw7UoTE+
VmFoPE+ga7SzOXne5zevHqiG5YFPlYl38OoVjGQGVmpUYgNwa+6jUFN5tGtjb1ff3noAVGiNwSQA
Jaqu0VNYRPUyznIRRHOpkDJOyVlOVRoMerLnMrlxTMmyeALBoF5Yg+vug2fUpWumIhDYu/2m3Ri/
r8ra3cG7bo5CkxiaGjubx931h/KEV86DUwtECusO54uoflCRK/py/+NsLhu1sqVuTYt73elL3AhX
0IpRcLITJ1UPo7MVz9nzsNRf3z4UAALQd8tRIixcTyjSvbw0uk7wSer2oOnSPRTCwVq5y/agCltr
R1jg4fhaBFyXlqyuHbpKpblW4Fn/3p2H+Dzr8Z6Wytba0fOiVM5J4s/VPkhrrYsGhVwxEk71EJYe
d09kY1Q2FP3j/bXbmhCxAYACqRa6tqvNIC1dgSQ7iSBFnA8Ae2ydnUz2b4/ZmPVwXS90cxwYVhFI
DbFkdGODnmQ0p3+lxfgVdLO+k2JvBSDkq5bbh2XjtXK9DaRi5nFWxyKoK0O50KdL32tlFPuxVPPP
jjoXD29fOgov3GDsb/qFy9L+kWxFiA5WLeC8oLOT8rN0IuOZMLHn0rP1geD3gCyFY74AS69HscHy
ygQX1IByxniacewJTHP2Pt2fy9aOc+jN0CxHLRLA1vUoeHjTl2wHERhSi48hDtfPoYkIZo3x7Pn+
UJsTQgZlaRq/NqyvhzKbEiVcj6EAhut/l2UzPcXgmvbWbXNGfwyzCgoNNlVJ3s0EhbLTn9XY+qCU
XnSpFKyk709oa99xgJZGIHkJe/x6QqEmkD1qdRH0bfdVGk5yCZVx8JtSdifEWDP//nBbE0MylENE
UxAVjNWGmCY8VKzc5DZPTedL26f1txKOT3YUOGLtTG1ZpOt0eLFRReGV1wSqgmsmVofgGjQzGT7N
jtWcJiqav1qrF//kyViYywx5mI7SQYbz/hw39gjCWBAqCenAUdaIPjnM0I+kRLkStcFTQfD62I2O
8evNo1BF584AWQvleo14tZQuzzQQ0UEUzfiiUZA4xV2pv30uS7EMqu2iD0zt8Xp7DHUjqMwwFw2d
qiUYDc9hrcY7QM+NFQN84oAaxMqH0qZxPYozhpXbYtkTiDmR2J6O6slunO7tZxf7HBCKxAj0E9bi
j9ZU1WlJbSBACXF8ciPsMATKpjuqK1tzoUsEzBJqBf+uViyekzDutNoJ8tmUfjm44tRZu6ju23OE
2BvvCA4sC6au30Qeco+2hjU2aP0ZP8ai9J7pz7qnLOrUN1+y/P1wrEEHkanyna4/Dg4vWaaoFbao
zmgc1RbJDm7/cmfZtiYEU5bIiqIFt+AqHW4r3co8g1Fw2XX9CDWUgydxDi0xq97Z07dxgaksSR0H
51Xw8HpCyqgMuh6xp6fe/danSiCj+nfo9M/5xEnKp3anRLc5tUX8jA4ldZr17lY6jEjmkalFhaof
RneQn91at95lRucc7weFvaGWzfnHrV5p6Iql6XKQFHX6MuoDxuu5W1zaLPo/0s5jWW6jidJPhAh4
s0Wba9CXTqRIaoMQqV/wruDx9PMVZzFsNKIRrVEopAUVyq5CVVaak+ckO6u6fTg43MivMDIB4O4G
2a81zVIUmWPD8m99tBzxD7zT36LWbX3ARP/cX9btnZK2QHjIKWge+ZV/KOzc8YSs3SWK1/ggisSp
b5c9v72xefSJZBQBGofgdXUE+37yFM+cnNeKIfjlAF+wdRjGqdKPVDHdnVu1ZQyfTJRARIne1ipm
gVDYTdvIdl6jaMp9BXCTn+fLT5SqjYfdHn1kDjzfifNObeP6TMCn7Ikx1t3XmZL0Qc2d4SzoXe9c
qo1PBEpY7hwFKLL0lZcQDdJFTby4r6D2vcMMl9tREdX/Hj4HNKR4jCThA0nt6hzw2I9JrlML0ESn
+F3VFc95pe8pH/yaCb8OHMj6JCM4XRuquOuAf0S5XBkRJ3tFJXoRr+U4pJ8EEPbPIyJ5tt/oM0w4
ntOn75SMm3XMlnyKDzUE+owJG42tc+kK/hMtR9j7mzkutX4QTri0vj12uvPKCaw/al6/LH9H+N3w
Zw7ZndL5amIoVeij3Rgn3+JKaO0BZDl0U/d3UR6te8tbxWBQIkkiL5cUmli8eJ2GtjolxjS8jLO9
fMyK8AsDdhNl+SR737ZJ/uO++Y2Tz0gShWRZGQWTvPJRZumGvWm1KDZ7jO+Jpk7PMYTcQZTbPx+3
JBtv4NwY3iPnvT75gxsacywTN9VEJdMdVOVE1dqhMspY931TG8efQIzGIlQDwFDWcVLopp2pJqXy
qkRFdAoRD3tiDx6meaUcAUIeHgO5f2DrrhcUCn1R6jJRXo1azGe3r5lTa6LvZqfukTFurYe3imqr
TWebSPba0mAURV7MtvJKtdU9DnBoWCCGGL7f2betw8CHkWyoDB5S4L22Q0cmrrsqjgLHqarjUrTl
n44bVc/L4oxP9z/RBtqCI0dPkmSXgJnS/7Uto1EWarICshgYEfG9n4RRfZlrHTHVnHlt24lV3y7L
T0rZPcGo+SWe5r3ayPZvYJ00orgApJHXv4GIoxEa2JZXI7fbf62wa773s7ocXZhhz3loe74WtuFT
VgjnOLq6+Oj2nXZI8eA7+f+vnufKC9CslDMrFBvks3r9S5zOSlWo7JtggfgjP5hwAnhfGN9M4/M8
qan5t5pP4Y/anJXlpWsjuEFqIhykJ7W0VMIjQSHEVUgK67B0zkOufG6TWYFWNmYC57gwOqK9As5U
vjAW43XvUa5tkj9Gu1f6o92ZjIhnjVo1h7wrnNbyndlpegDAQn2tgRvo7xixx5eqYSJOlpd4+bfR
rKcvqTBEeuhchBR8rZvC5miECdrQNmmscVYm9VdjynaWF7UXk/KZaVfqAH6jNGK5IKgaF5+Toi6H
D/W4RB/LoYusV60I7fgwF6X3OU7zSTuEepR5gYHuVv1nPs9qeQDKpIx+bsReXfgtSWf2xWKaqXwa
iBmqI4lLjF5KmNXdIaxiDxyqNo39uXK7UnkzRifPn9y6tbPX2bG6yZ+sQtN8S9HJCky3RzEXsgVj
9kd6J84zwxRd5PrUAMU/qaoV3pnWYecRVmlTyK+btCktD5Vb0C3N1bKdPzhznjUfdVGV5Z/KJCYD
QofOmX9mZhrlp1zThfZ+YvDJ8VOQ9LV2nFMnLE9APOLKd6PEmZ5aq0Cb8mjXkWUG8G8V+ZubeEl9
jPTFIpFd7Fzb4+LfcDHIpFPYJzChuL+OgKKyQHQi1MJXKWscIDwTAVWI+p3o59c5Xp1zsKaMZ1HB
g3BzTRjAYKuSx22tgA/UtUDPze5LGmvjIQklxBu0xPACTaX2MZkX7/1Sq/1nxCCzD/d9z9ZaUfwG
QigfPbhZry9bPRkNooFe+OpAyXbQKIufUr0Zd5zplhWydbDIkOFLlulrK6bW2Nri8bLaaez+ERVh
TJu2qXYaMhsuW0KQqAcA76BErl9bMfQSEmU9i4IiDBks8Cr9D9ndfou1SN2bW9pYEagNeiT0nB3g
Yit3WXaiWJZQUV5DFRd90MPhMzoNYk/O8FcMvDokAK6h7SCfBiKypqhKnS6bXQM7ybC8wUtzUOwo
9dMyvuAdX9rJe05V90jGc5nG5N1sRC+ti6Bk20fvczs/CmAsnTY/Qeh7Loviry5vzoiOnbKCIYhI
qQ6zOh2tdq78xDB3nrWNbBa4ppx6AtTADq1eamhqswlC7SgArvmtx+X7VJGVo9GKt8Lg35X9+FQg
F1Y26qniUTte4zcLJrvQExdRYFhx55uFNr8QaQ07BYGtpxID8qG2ZOK8bvx5TWJP4VRGgeqiVhMW
6VOc5wyPgRW07Hd2OIzIyrg/RFuibGh/GHtn54ncOnzsKQ8kZQnQ2audzevIKJJ4jgJmTLR/Ei3r
Nb8RQLke9g1gYGUTg3IomLvVraU+jtTawgeM4ag5ppnQ0IOI9rg8NxfDNSKxgZfqplUyD8qoLVUY
BfloRtSlKsZOfB292+P91dweRyo4/AWprBz9W0OtKgjl7UE1k0BtBjs/UX8pEUJdMpgAI7130g/5
6MWfjBJyk519vPVLsJkw/A/HPpUx6jvXfglAac5gfJUFumW8ECJkT1B8OsSue/Rvt5UPOUUtIUTA
c2/rOSgFdKoLsCtIeP2HQ61qovDNxkk+ONo0I805MGa0c8u3bHJKuOhgcgmXV4dkCdXWWpqoDGo+
48c510Ry6M0O2qom7633MtP8eP9D3h4YvuAv8i6ICCn+rVyvk7oG8OISOgxT67+HdqO+ZFqZ7/E5
3341ygXk87TCuWXwQ11/NWI7rRsSu4QQbfSQXh5s0mZveqrU+vFCCJOOzBhLiRyu2jr2LtPM0OYa
U4jkhNXLrCXh9DR2WbFzBTaWBOQCZl4KmarsfF0vKS1FBmhB59GKZsU3rDo5VVregznT92ALtx+J
NhQYJjD7lBbhsb02xXSFoi1QigcDM3I/qLp4Ty6IjD06hJuKAWUjUF14DiCsNKlXV6uGHxes6jwG
mrIgDehAG2a8NbE+Zn5pRdV3Bvfi9G1pimJ46kcRIgRUl2JPW+FmsRK/SexE6Ufqxqxl51IL+beF
yYQgR8paY1au06B8YzL/YfyeBFdjghtuy3b5quHroKZQRzysgZrV47Gf0vmPtl+aIF505ev9W3Zz
r0EkSyk92kSQE4LSuP6Aprc0ep8bQ2AWdvRV5N4Q+eCQkKDurZ7aEYz4Dwu4SBA0qAbmuGC7uYmp
kFSourLRh0Doaf0OUdvSz9R6epRwAqETG2cMOyZ9cz7C9cJCFzEzW5hDMNBFrJ/VfCk+JbCF7fEO
b2ygA6YX/0TfXI4bXttpEITR1MUYA9No6YEoQ2c+xSLvIz/t3G6G/mxv5FB+kqtYkZXxsajxIEYA
4cPKFY91USuilxYbr/9frrXl8zBo01NuRVB1GVr8vSSPOyT6PCSn+6flxrNI06S+Dh1U3vA13q5x
KtSBebMDC02OZ1MXyZ8C4aQnSzR7w4jbpvD8+GT82DptUhens+d4GIM+tNGkr9XKKE5LnqsXLVn2
CnUbNxu+e6BXhCbA49YYmCiJuNpNOwZZZRt/62VnBj0B//Hx3WMYBN1RifIC9HB9VCix2JQxFCSm
Cz1Fhy/WS/Jpc3TqS6VAHvTtcXOwDlLsYWLMgzHg2lyuT3U8mSGFzUjOEjtdc67D8du4dHvMilt3
ALpvStZySNVa85QxcQx1WppNgbpMyw/QYPXfQzRr4zNcvnly1uu01HZO4qZJQIySZhxszJqvndb6
MJZWPgURZfrn3FCF7Zdeav3V1XORIyAWEZ7/h/38pZQuWY6cdcsz1xI1tZ10CuxyKH7Y2jyfqcXA
BTZG7d4LcPvgUYoEcEoyTa2Vlsb1t8OK0xBSTUGn9+khVfDRviLK+Lkn3/04lc7wLu9KcXBTo3qq
6nqvVb3lY2h3ET5LPNBNvUCzlmLoKLcG0dgMSHmFxVNXVNmLmH+YPc1Lv3Vp9gIu1JedXb6tl8jJ
Wj4pxAiySrpeej0WMILNHNupaabuFeH4uDlUBgwUh3KIwn8jNRoS34xE+SFq2+Gjpph+TcGhPDz8
uckt+Q1ENkAsvdXLODdStxNdHh7htD43w4LcppL8HKywf75vaWOzZfiJEp1OaA0U8/pjJ7HOGIyT
TAEqM/OLkpjG97hpq3MhJu1dGQ49szuKfiLW20OJb/g9CNml8DtRAFn86phVXqoaVGEnMol6OE1G
l577LBQ7+gMbrpwoFHYUvJDsg6zWhx57UfPoT0FTd/Wp1Kryfef044mYLtl59TdOj+RZdUFxyAKR
ue7UKikiZ0oZAa8Q9jR90vO2cnzwbunbVGTKeGjDWJS+Ec/MLxoTOmgHxWBE6pxHdHZ3TtDtd8X7
ymF6ijoA8de/pUYqQHPjiJOsih+l1//Zu/ZLO05fBRMAPsVlPzT7L/fP0u0XvbYp//y3Bjy6vIVH
BW4IlIELWoNLhAyiSXZO7O0XJbem0kFfF3z3zXSV20YJisLycXYK58+6aY2/zCxtEj90w+l/91e0
aQvEqJSB1zk/qzOqRYK4Bp6YAFmz8aCa43Sicq0cxth73MPLqRk6WwYtIV7pVcxoJE5eRjrLysNO
eZ6TNH+21aI8T667dzY2vhOdVVmggJiUwsvqThDXz1MRj2Q0SZydW+qMr3leRTu4Jrk316EiC4KL
hf4KjuVmNt2d59bI1WkMOofJhbxkNDR+X6tq5k9VXEFht8ultb0u3i4uIXpma+0PW2k6Xe3Ywm7k
ZUogkLhUQ5PugLA3zwQwDGqO1Oa4ZNennIOAVgC0MoHo4asalGhixr8GuGyUD4+YwMAnKXjprVJs
ph5xbSoKVTc2qQ0EXS96qCOBhjV0ik/3D/ltOEP1Adp2ZujYNjKJaysF6VldVtoYNOYAdsbqfETH
s0OL5rVf9GRI/8Ec9WYXWIuES8if85uX0MrR6G3GuoNkTN03Onzjh3bSnX8HVVOeKS/NO/a2TgX8
arxxhKH8U7+251Q2FGPZMAVhQ3vfryF/yfzE7dvHt5H/PyM0tI1x/uvYwZgFEK5amQMDIlXn4rYM
LB5ztxlbrI1LApuVllUv9zdzY3EyLQIKCcc/o+vysP62mTSoKa5kgxpQCAdjHDbfEkgczveNbJx4
4iIXPjMKIbwoq5JAE7Yz1UuhBmatoS1sx/ZHnfTrxWzcek/34Tb4ZJxKTinLah/p3so3LclCBzIS
A8hiOz9PdoqFzE2WE6owtpSQTUb4jsf+kCZK8n0W1p74zdZif/8Bq9uQl70WlnE/BG3DZL6TKqlv
DMr0QdGq6T98vN9NrT5eNRRgoLJuCIg66Xh7seEbGVqk97/eRiQgYcBE0/Ck0wVc7+jsOqMm5iHI
XHc61JwYf4xQPy3aOT+UsfZ32qee33b2zqnZOpq/211tJO39JRTjOASaldJmNJrsDennPSj/xisj
ASGAGzifcIav9tBQePXNmIKOiRD3kSA3Poa2FjK/VEX/U9Qh9HvRuMfHt5T389cJpVi2LqbGUHvN
g0vhyiu6/Nuc92VgpkP3IaWbfuaRbw+J3UYfaN49jBSV+BeGkJEehqKDmOT6vqsu6sMiZ7kK1eKX
KBq+uUMtnhP6oTsB5C+2i9X7Dbu9hB5CmMWHXJ2b0S7S0kyot6RmMT3pSTcBfxA5DLuF5x6LaNEO
Q2kgVpGb7VNSld7ZdGPvKY0oLxhT2520yHNPgLtUwu7OOYeL2BvN/RXF3vxGRrPB3BJj0Ku63o56
ThmuMeMR8uiu9l2tKN5qk1KDmzVHrzMipGYT6wh/VH3OKxJ2xOL0V0Q3dLjXOuW02Fn9+f7R2HIf
jB5SFaAmBwx6FR1obWFpoleHIK2t6Elx0/iLvsAGtQhvb05i8+jL7hmunyr4mqJ/LlS3gN95DJyF
EuY5mYqiAuUQ5cJ3rc54U20lHA/pFO+xsG7dbJ44cjd6+nIC6XrXmRlPTWfOyE5Hu21OlkB2yLcm
azF3ulqbhii0yAIxkKV10cpWWnXR3WIMXBdCiBSlPl9QKdtxwxvxD/m+ZB4j1yZIWB2ijhnbZPbM
MagSG8quyVyI6NquSnz8JrJTtlDbvbGqrWMi9UD4bOziDceWJYDYuLLoN4+a92VQh5lrlswXjcBo
xw9vLs/lJMo5CTBPKw+ZloVW9nk4BKVXqu+MdISkpdDtwleHGDn4Kd5rAW1+NYC9cipWSjTKJ/63
mKQebEXLq1QWL5YkfBrmJc/8oc+qPQ7ZrZWBU6VJzTApelGrD8fMGBTYY0eOC3JF961MIxbvjXn6
BvWkWZ8rpa13ygmbJolLCPzJ1W5muvIFNS8lIXXyYi1+EmNffk4a1Q3gPTc+tfSDdm7Apj05SAFW
lALxL/bg3/ZSDCKr4okMoBDmUW3S+VwjJPGi2KV9MN3xj/vOa9saA6wADiQ6afW66LXlRXYMHNUo
4HFHy3j50rRKyxiPjd5gu6g79rZOCo0SmUQBhKLcdX1SoqXU7MT1+IBQ/2t+PZbUKObU/E9meDap
7DGnv5byLPsyXbyEDp5ou+xTprXTexg2p//yqcDp4EKAIAGhv17MHNvDUo+0RjSli/5SYjs92a6T
fM/Hsfo2Ztle83hz8yQ8lUwXLPYa4KuFwhwH/EjQjnOWnpWwQ62iHdX2z/uHYstVSech83g4htd9
l0yvvDHO4yng7XRPdpnVZ4hpu1eErazDfVOb5+//mVrnu3GuW4tVUn6FFzA50O2p/UjrL2povjTd
LqPx1vvJ/pE1kchzOFbuY/EQVakbTh/UcvbzWNb9yWtRJR1gyTjNTDlFfkuJ/PT4Gsmh6Fdjkztt
XB8TveyZHEm5Yy5CXaex7aJjOwr9ssTgKnyIJPdkQ7cyKm6YJLSi8Q+JybXB2qpCZVj4fkB4dCRc
Si6/Xw1a/rULm/yPkbmfU57Nykc5myj8Wind//2HJUsGKPpbPEHrIarYtZSpzmleuGqM6MZQeKpy
cEZKACO4VMevhJRNvW9z69SCDsC7SIFR6I+uV62UltIzZDIF/Rjp8yHMMvsjAVL6rsp5JnfO7dZV
ZMwXNJiHUg7v0bWxLCy8KVTpWKiocHwW3BHloCrOuBfxbdqRYss4DqLL9WtAW5KCvC0oZucagNYS
tco+HsSOI9tKGBnepL9LSA32YfUKpCI2mnrAihPNwwd3matz3yB0g/BMuhy1zqhexqUkvizscKeE
vvHVGE+EwwVtTtqha37/OlOdhSCebgRACC6HZx2Q3In8RWmLxw8IA9NsIuBYHtc1UEURUW44dHkC
tiH66hjFXPi5UjintNS7p4cPI/00yagA3Ae4/8rTWHOH7o6WEOOFSwSpXDRm1VnJ1SV+1bVB7BWF
NhwbaEimwdGZk/JBqwAsGt0ZYBTT2aEpNPcQEkH9IFjQdL9Xzf4fqS+1PNlu7pg7pdGN88n1BrHK
c4QQ5LrpoKpD7WoRFx3O4Oy5gWfvLSqrfCde37RCcYinFsU52D2ubxtNJaEsHYcEbEXxknV6dJjL
ZI+/fOMoyplcID/Mz+gIaF5bKZ1iKUvRT0ElLPvrrJftWwsG4avSlhi8fz423j1SRmqhNB1x1etx
hMxsI6HYHse+d2AkTzrTOnihBc/3mKRCP7qNpT1+ybEnKcGo/NLvXJ0R15sSZDBJO+jTtyGaj7m9
XHQjb4pDD2zk+0Duk/hlUcfFgXpYt8fdtbW9coIbVhtJwP9LSfS3wFZjvKZRxAyDQF4Xn8YKftBj
3CCDerDbbmp2/MrGjaCG/gsmTEkdQovrj0n5IXVnMP9BJrwBQse4VfoDUqBLddIyfW5e6iqt3ztJ
rUXn+59247DKTAiPTR0fyubV1S+kdqHtziozPkZx7FQnfe+0tvUoLB2eVu46T9CvQsD6hU3RBKU5
b6ngFUUdFKrZna1YMg6qg7tj6haajC3U1XFlfDnKQ6u9HMxWIKLZaUFiUeDzl5gKKTiSCB1VsEgX
WBrm6VSMaWEeKABBBV+GpSLHBLvYTwet3WNV2NphHKuM65GFYfzy+tum82zHVKTUQEAF6PepOpx0
pdvTu7q1AveWnGAGzYVs5RppLoQ1FXnaq8EIl967XuncZ82Bpf/+abl1BGB3CdFkcY8cYv0dvbgB
d06FNpg9kAWTpxU/m2qe/qptpUPM3kz+uW9vY1XMrMr6A5TmiDrLP//tFlYNap30oM1gnqv5X7h3
5/k4e0a8F9jfhhQ8e1RXKD8zRX8D6UhaHVENvSyDpEqMt8Huo4tdKvFLnkbNxzQPrVMaW/qTIaz6
4fsHcFKX1Fl8NQnuuF7h0DtaU5qlCIo0TE+OtdCBh4TF+/zoRkp8JjzmBJsozazxOZlhzUzAolTZ
2016BjI6vi2Gs5eKyaN8Xe5koBNNIjngAuxoPX2i2UJ46tg3gaXY3bHIndwXs/UHQCyT6kd5cmBY
89um/Mhn+Hl/gRvgBmxLgn5CChri6ipXt0Rq9vWsNoGrjOC8YzkoUriOODJl2vtl1fVnI6+cI3V4
72jlWvXZgHvr8a8JLpX4kH4Gj/IaMWqMFIKWWml5lJdk8kWi9tnBXtp0T+jt9iLK6EmGbOTWVL9X
FyNxQI+1hdLRV9Odr4yYdfPRjmbXQy7UnPtjGunN8uH+Ft8+iWTYxE/U3Kkh3KjZ1pk5KWZTMw5G
s+QDWKvK+VvMaVYfp4LW744fv7VG+MsMMikSwRrTWdcXg65QWeAVfnUuqiejW/QPPa4aNpVyt06/
YUvWRSCfRWZdkl5f27KayDOjJKsCd0zjZ9tOmToti/xZWXRt56W/9WhE2oznwI9Gxgn18LWpBHc2
ssNVUKlNe7Tqqfu89Hn76f6nuj0eWIHal9kAOVrnrY6HqjdlGDHDGWSOJo5lZSuXyHKHwF0S5VMh
Wm0HS7Fhj7QZx8LLg8ThWlwui5dw7vWkDgzRmRD9J0Y++8oQoe4NSCBLD5HFZOf54UVijPwB+JAM
FFc3nuHxpjAyu+ZxcCC87Zb+tQNecQrrvr1ktR3unP/bT/eLOoY1SrVchhWuP12exT2lYrpqCK99
S41OOUdzM53uL+r2JaIVJknGQE3bEM6tzoddwgvSGaBS1LTVDjEMA59quFaeymj+7mhxHvm1U7on
Os5/3jd8eweIHMhoyfSo4zLLfr26MjL1EPIVYAhFOSzvPBKjL2mjzcN7sLLGw7cAB82rx0yQxHCu
L9zkjEnFyDk1uybKAmNO4kNDqXwnrb39YP+XPEvmtuA018TIeZOB0nLjJSjHKZqOjOS46QFC88l7
+CQyLAvCAUQ9wBsSy+u9S8IxQwup14N0mopL4cbDoXXi5kOGBOlx4K3cycduvxVoB/D0NJWhJ6E6
eG1PsaLURoLICApb0T2kVI2yPkyhaLxnszLtj4+eDLQWuGZAYihGQIlybc0SgLBT7nXgiFY/LFAC
nCNrit91uarsbOTGK04oRKgM1pNLfcOYLcZOz7057oJyCPNnN9UZosri7menM68OS2EyHKvOUY4S
jPY+6+ukZNTEmI3T/SVvnBwQxrAQy0FKqjCry6B4aazwJz3Ih6w6dl2eKW82PFhix6XcfkiorkCX
EpBJqpl1lpnoYVo2VjYEsA2ZNKF02oig4JWXuBu1nTfhdk3gpygWUEtifIZ87PozAqnQih6m6MBY
Iu+oq/V4yghP/Ps7d5vJwhwnZ0LpZcjBtNVhQXgp1QdkaINmqpS/xtid5vcd5cCnrB2jL0DeUgWS
ZWvek+uQv/469GRGjXoIo4VkCszGXa/OsBvNEVU9BcvYaE9t3Y9PTAdnp7bKsvcKXIoPX0GI3XBc
TK+D8+Ttu7bXOZloCfHwYPFcQMeQdueybc1jwhzNTmh78+Eg7gFVzwABt4LEdvXODeVkjUzxGGwp
NOKDNjrndkiyR4+8tEL+wRwZYReP+PWCYquwBZglIyBP+ldzG9fXh/rh1w0jEjMoUaS4rnXplnpK
A1tnYjPoWsXNl7pwRBEdUicukidtruz/FX3lTe+irMvK56w2cncnUNnYSyj9gAFTGpAp7MpzNlUq
siHP1MCjZ3juVMU9GHqs7dQZbw6jpEiXKn9UPAxyrtUXi7gajBl6ajDQHnpLzIlZOE1p2zdTNMlp
tsdofPQ4shTQrESvFN7pj64udxIONQoaphag3hB/R8PH/ViomfuuqPTsr/s3fGMLyZHlJ+TA2DeU
c51FIlCHrhb0AnnGcO5AfjKos/N2b2wh2l40sZiFQ0hszXGTmEVIjOBYQdba0+c4UbXDVFXKEUXA
4uSMRn6+v6obT0wjhryfMMEmKCcZvz7+YRfP3ji3VgApt+2dMqPWqLq5Nah/bXGG9OW+udtN5PkG
0EFRiFSR4sa1OU9tjK5LNSvwiBhQURQ64uNMKzXf/4Md/CE9X1CYMFxc21GTCVZNJq6CXkuH90Ui
iCLrqt15xm4/FoU2IAc0Ksk1cB/XVsKGSde6zu2Ai/ci1KI7KlYdNJqrHNO0+XZ/SRtfihfGJjjm
XZZjMNfG1NBtErcaLClfnRwNT8nRtdRLaPubvUmjDVOosFCWxf/ytKzRbFHYud5gz06QKwCKfhaG
U6J/UaswTic9ZamdQGtjG2kEAvWhckJbcA3b64fYySzo4QObevYrzS9H+JrX5U92pAJP74Sy16rY
WCCbSFSHx+DvdUpTe0RQtl27gV3147lT0v4c5qiZjYN4GFEku1lyRAEaLkbE1jDPzs6tWp1HTCUd
Gh8wtBnDCU4bZDirKld3/PzWwoDdSVgK5WvsXh8SqCHKYe5tL9BDGHR6pfkjcZL8udX1nYu8YYiF
SUo6nkxm/1dxQKKJyE6HIQwKRhSCKXEH69SJVvxpdpGyJ6e3aQykI38BsAT1eL0qZsvyIkavEDYK
uzb9JHT7v5Q2B80BfvvHw9cMDJ2sUvCIkRSuFjbGkRoTjodBqlvTcarq6lk4QGQVYR/vW7oJGUlh
KJkZcpROqq2tvAdg/qZ2Gi0MbFGl3yjrWxd417VT2UzzsU275amOvPj5vlG5VVfxojQquQoh3qdM
sm7SLWVuI7eL0UIx9HPm0L9NUnePP/72RuM/pJaIKrFR4GJXHyzBOw2DxSu2FH9V4/IVODUEqpVw
/Dlpft5f0u3pwJgr6/NUshkkWJ35NHIbpU/wwpHWhCetscoXCsL1s7Gk8Q7M7Hb3pCmJDgH5SF1Z
rvu3urw1eF0/j4rFmHWyqKeQ/zhlZEwG3PfXtGUItD08j2yebDlcG6ojMxZhnztMkJvzcx5b1jMO
Zk/E5PYE0kelUCYrc2Qtaz8vaE5Nk1s4shKR+8hgQsJf/5h09cXqvA8MjX29v6pf2oHXp485D4aB
gQUCU2Wa6npZhdLYSdKMTpBow7s+Fce0nmGwZ/BtuHhqf07MFn4iytPV4r1zyjE6NI6xN+giz8PN
jyBO/SWogvNf3XBGxHBZjKkGNpx3qHfkTX7QqU4+FyKGDrOCiPmYxfXsh87Qf7q/AxtnFYy4jBek
6BcZ1PUGpJliWl1YOfKsCh8MjPLMWD1sbiLbkzvbMsVHlawREttzcwcrEaOEuzhBChr+1dUzmxIa
LcByDLUdT7ZxWrlRv6YaQbzd+My0Lh1EY9jRSmTin4J5n3+F0zxM/0g4hzfhxQEuxeat9o7kqLMr
xLyCbIqzD5Uzxu9E2is7wcjtWrCBpCGBATcP3szrL5SH9ZJb2ZxeoPY1mLZiRerBjKtxj3ZxwxAB
t/STHEQgx6srDvq3GUZhphcgNSqUEEp+hABQ9x89cFSmGTjFCHg6ZFCul5MoM1F4ZKWXbmqnE5wK
y6EfTO2Jjob4D6ZkGgHIHuDozQyEEVczTHZVdolzR8teJ9sJhwNNhcV4Lpuw2BsKv31jcCGI0RIR
yHm1NUtnX0Bey6ucXWC2qGx/aY36oAjLeBe1OYi9gjDoYacsLUqSJWINnJh6vZcoFcRZ1ozZhW0W
yMx78yklgdp5oW/v7bWVVVE1zHTGY7Quu4CA8OD1tZMj05KdXzdJvrOgPVMrd1wpTSUS9EMuqlV3
F3cR+nuj6dsPszP3j1a+aVggkI2erCWhXWv9ztKpScIMTE0RjGVROjp+Cx53xxFtngmeFRlsc+DX
IE6FImtadWp2GVJV8ZG0fJo6B3IQ+60XXf1w7YElkbbQt5Ct5bWnQOLOStvayC4jMfbBK4b5FIZ9
8uqm496H2lyXLYEUBB63oLhqqqYCl5VdEmN5l+fpkTH11z7WrIMYwr0x5Nv3kaK3LD7oTJ1KCML1
Me+HuXBKyoeXarHir07bLoavo2Si+anWjoY/lJJNw5uGfjouubNLfLh1KiGykWvF2wNtvrZfqwwM
GEWeXUSjGJx7uxOHDJxcdxio8uxcgQ0vLNtoRCWo0zEQLf/8t4iuQ3EjFyl3uoNB9R0Bd/VEcT18
uu+FN60AZaZrjXozuNdrK3bs2lOP2tklGScPgW4zeZ66Ya/KuLFxsCMT2TN04VARXj1dxqzq1FY0
HHAFs1cSOgsk06EL052zO4W2ZUsiRiSGgcqmujokcWUWeZTP+WVoZk8/aUUd/XDCsF38efCq6dDX
Fe9m6djMnzXQ7/5bMo2kHbTCUenSQwn6VinW8m8vSu9dlbqe4vO2q+bD8TpQbsjOcAV4HfpU1/u+
9KrWK3mYXTJKXH8Dam5O46j0P+5/3Y3bCc6J+iOVT7CT6+JqOilNAutjdpkV+0tmJM8ueM7jguZh
lOl7H3nrKFEDovkLNgA80mrjmzgulkqU+SXW3erc9JWkjZgBe+y85pt25GElVpWTnKvs1Oagapnb
5JdGCfNjDJ2yHzuJeby/dVvHCD4nuW1gHgD8Xn+gJh7rpOvr/JLUxrvJVBSUfsTiD3P0eEZFUg/G
QbbOQZ2tp8kqyxPKOJj5RVmy8Vh4znyei3g631/P1q5JnXLJ2yKjhNV68rKOO+qf+aX02uJYzPkA
Oath/v0frPC84Bxld2R90XlBjRjekPwCULI6j24mTmYP7uf/y8qaLY3ir1rrkZJfmPBODuPQEqV2
8x6/xtaOyaau1IzhDV3XdpyIJcY1VjooYg/VkOl4Ani3769l45yR3gIu4G9aV+sm4GiVitlX2fw6
F5FA9g3lg+FNzYzi8zxFxh6/86Y16XRke0oFkXJ9qp04SUwbltbXdmTe2XdL0z6EWmYc28RUvz++
MlsCQShokuqt+UliKw9TuiDzq9643ROo4Sz3dfbzu5bHw84zJn/3deYs+6jkI6CvZQFk5XtqdZzL
obaW1zgF6g2koMu6y+COan3K7DAxT5mSN+rBRe91Lyi5PSZSZ8X2JAKFzsja7S35Upmg2PVXE6X0
r9YIB2JqMfFwfzNvrTDlBI0qZ8UDFLwu1mZiEuwnIht6ZC9nPZyrF1Ub6kchXoCOZSyAxoqk9ljH
wopWiiUye4Qc4bz4UCG5/tIrtXaGJX3vnb79YjJXlgR2v9LA9eRWhJ7iPDlSwS8vnINR28UPXWnM
970ZuUdtVrSf9mA8DNJjfcj40WmkwUN9aRXt6Axbz1PG+uhjJotv915/1Gc+32FIQNA7wzDEO/d7
c51Mf1JKZaHUN69vnFuHDOxKLXAjGVU/mpyYgUzEGwSCmWdqurOf2vbnhw8LsQX8t7DpGP+Hs/Pa
cdzo2vUVEWAOp6SkDtLkcXvsE2LssZljsRjq6vfD/g+2RQlN9AcYsAHbU6pihRXeYN80dSsZO2Y/
YUeRze500aZBfuIhfrcNGWV8qHCAHdcyO0ib65kF9OW8qtIZJdXAb7uZ+WjFevfw9lxer4nro426
Gp4BPJArvWKLXwj8rNYTDQH1Uthi+lakVlkj2t304nsFhC57Wtt5U1hlzTCGMfRGOUUqt1F9czod
WXIi8yqOhLGs/5ug0/wxyMDenvW086bQCuq+PNpWOfQhuP7AQXUwq2QEsL/Ye7ZuL19mwkZYW92w
qrdPsEKIqrE9ZiI6C+M2jAvsf/FRxsdUFKrZVWm/c2WsmRIg9FVRCf3SzfeJZR2kTp2elTO7+lEi
atY9BnrS+Q9uLAzjMk4oZ59Hw5bBC8p5dfLEL6yowKiM6j7KuHUNJtnRushaMOCtQideVIJAojZ9
N6UntchfrLj+kMneHD4ORTzlUS/0Wf8zc6sqfnLtrpmQFkDk/2UammB8d0tpFfwjP6JwadBi31z6
ztKrThd6cS7aijx6WLJTHSTlR0EZ7fj2LrwNpHk0ISpR8AZJTWBzvZb4nCDpkvfleQjsGdaXKo99
7+tgCNg9caPebV0Dah9iBug/6jkQ9zZny2+DQo9NVZ7HuO+rg3Li0j8MWFd8Nc3c0XfiqVdDhesz
BtsT0XgA0ngSIyN/Pb2YhiMdCoarMMEY6lDJzpI/fEB63kEWFLrrEG3rwINwYyMBFopcOEk0Obrf
fsayHZRDbsjsp9W7iNfSqRfuqcgTw7qkc4d6DHYZQf0SZLk5H9rEM//BhzauoFQ7NZz7xNLSoztQ
q/2tNEnGTpql4GXMKan9R6ceg3+oN3V5aPJ7grOSiy4eShScx51vfHNe0FWg57VCE3lo4b1eLwIk
0zpfmjo/j/Ngh4un5YciKPeQgreAOpBe7FfKMiubl/7r9TCiHVRh2VDeevxRjktvIJzs1M4p7+Mq
HJPUDDG7wQ+pdhDgobv4IBaV7cBhbqcKtRc/6FcoDCWGzW9IRVMT3gLNR4zBfDKmWHwz0lR8e/vQ
3Nx3lNWQmFoRiuQ30ImvZyoDZB0Qq+iRBY3bw+IvbZRXsfng6Ole5+TOhGBm8rKDVFydWTfZTdNY
AusLtz+3pflzcAobCRc8Yt6ez/qHXJ0S5kPWSSkaJvZaYLueT1GlrZ8o1Z85CoV9bBVH9BDbmWMd
tE5MzpNO5cA9TpQ6ftHiK5ZQCEvbe0XWb7P9FWibMDz8NGa6ufUQ1BKd5yK3XXVN89HJxvxhzqvp
AVtGB9Cu9JKHevbLf4rJ1XeARje3IFnqqssH1QBQE42I6wVYqKHaPcZs5ziVv4+FLT/FUrw4nW89
63la7txK63nbTHT1+ObFJAtb7eavR0PPNLa1LBvOWtO7j7FuQTtv8wZN/aypYhEtUz2SL/e+2rsP
b+cJjXPts6OlB4Z4KxGFdp6DhRECKFWPQufT5BVMtzON9DR2Y1s+93HTdTu3z+1nZcy1HUJEvOLg
toelwtltyOP5LNRI1FLWk6Z/qHs8rrKD0DtffBjjYWk+tW1avDSNUMvp7d19e1qJE8jYidsQxaJ4
dr3cq2KHMc3uqkNkOL8XZaA/2bqCdoW73c7DfXtakVLnqkV7mSiVNu/1UNyMZpvEyAGVZjZ9t2W+
fFqADu0kM3dWdC12AAqF8gtlbTMhelhar5fcou5SOFqEyJc+hJoHi+VYN+PSn7GO8uIvPUniGOpU
WqudW/Z2GxF4gSRmB0MERNjmeppSGrYoGxircEm1tRBSuCJqErfKPkAgQqSzhzS0x8G4/YxrkkFq
g6gsWhXbIDNAORC8rVDnpBibQyKnIAx0YIHwPV7eu2G4fSiCw3rCCujGuT5Rs0SFxYBCmjnuI6IQ
4mh1RvJgtLO9k/3eXgV4ZdK6Y4NyIsm2r1cSnJtdF0tnnL3SidHpkqaAzLKYXwkNs6+WMdYfJ81I
d47knaXkHCKtCgUfTMUW/eWggbSoAdBoMAn/EfGPeAnnrOu/pA36iW8v5u1mBa3Ecq52rVx12yvH
W0XQys4xz6qikI5PhJGS5qdoEJ+61V08StJCyk+uUU1/JFNj7HUQ78yVzGTlyP8fNHFzJL3YLCDv
6snZXi2+7IVOPB5C81ONIeTOuQTcy+e6vtlf6wyr2SSZMTHG9ec0xmGpVTJXZyhIY/2p0cZcholw
UmWE7oAC23PSjyo/JIYhxBPXpe5Fpkht7beyzvLkeyehoJ5t0APfR4EgYRtNrtLRMpvsOheHwY9V
dvSCVas2C/KxfHFjl77rWIaiJkFN2UUvpJV9tAa7kZoT2wulrRUn9DGq54LH3T8Vcye+gYLQosJF
Krgakz99Ox3DIkP4AWtvrzSQcEcRIrTHTkZN6ZRDKIq+aqJqcr2DcJdfXeE0H2hlesVnw84MC9Op
Mf9YD978GDil/SQGJ84PcaufPC1Q4ohNXg7LXA0iAIKHHG7o9jHVWr21jLzjx/f+575sxz6qgi6Z
0tACgetHQgu8ZwfzTig7w3KpLHNaIikX7d9+GInTE8jJP1dv8jiaMyP4WPvDKZtAJSEF34W+NMpv
/WCR3/lqVFbk8aCGierSBwuZSRmRz/puiLzZzzo2rHAwEeSN3ck5+oSMc6jaWl+Ao+G8scSWAuHk
tIfMSzgmPkpGYRy7czThCiKjoXFP1lKiHWnX+sHnGdUiSHBAzescn9q/Jf/DT3vpMOoU/VLYoQzM
oo6sPE3zY9FLIZ99dKymCAHFtg3HQgXeY2kOkMrdKnaGhyxRVX+wCuRIjrh2JMYjVab4h63PaX/g
40hOcC3lzE9NlarCVKAIEQlb14YnaST1ctKXSomd2+vmbAGxhBNECRTVQYiwm4dISWduMXuEmSD8
lNYTuINvZi5yO5w8XXx/+yK5eVt5TyFZgZG1UbPhLrk+W0HaGuZkS/usUbU8Orn8vayrPSX2m0gY
agwEP2rItGHQJtrEoIm75DrfxOc+ztBttCjNJJGylWBKqvS/6IvfxJFvjz3futWK+rNWt3q6EyDe
vK/rr8BslR8AROyGx9/4jaXRvPTPs+3T4U50en5BLz44bY5beYDL5NtLe/sdCXBRjTRwQ6KydmNl
MskBCVmJdpshUAj1kjn7O63joD1QaO++vD3Y7XcE5LxWAeg3r4IzmwtZ74ZOT6ngnEezLiIPetlh
rps9PPXNKMDdV4XX1aEFfPOW3Egt2UkSLoyzaHIcL+0uESlg/rgOdr7VzdohgkAmCJfXY0TyhOtt
aTXlGMdV45w1zLjcqLSL5GUcrf6fwZmzHfD7nbHAM/OQrVAslCfWf/+fzvniNGM6Zr6FZY/oVIQg
mnCflrw0jQNOnrtaLK+f4uo5AyJFqQNtP6JZwoXNadCmtW5USUqKSTtKSopjEId6UcnpUxCnWJ4u
eRV8BWKSZY9mZ1LzdpRfjc9O5YzDocezwv3QJMRszwpryGxn5W9iJ34d/T6MBtaslYW5Xg2/T4qe
hx8eBcXgI05N6Ye+12eQfVpDwWf22g9VD1trJ1m+OZxr3s8GXvFIIGy2WmkzvbMEBy/3vMyp91D1
QTn9SOau9B5kG4/NkVxevbenDqWCvI2CILCr283cFVkscpk03LNjEZ8K28NUTCh/2rkHbmI1cDV0
UtlZaFNAXNqsqLTr1B/jfDlXtREfM7j3YT6Nv4K2CL571oKYQRPbX5J62usV3p7WVbeV0jF7m1/w
Wlr6z8a28qKAp9tq53Gw3bMYpvwZ4Oq7a49UaqDNgiZGWAiE3iY6k07m90acg9TH74V97Awvnuzi
jyrYteK53ZsYOGKZDSlgZd9skaBBJcVQe11AIliUX6X0/Ie0HvxT50/i4A16/I9b7OlS3G7MV3cL
Phy9tFUz7Po8yGHI2oUOEQDm1PpItlRijjYZXnnwxaItD6nWV8F7dwzVVZriYD3W5J6dcz1mTbOi
tp0pODuG0f4+qNl7tLK+ioDf4M3sJmX52BVl8VdbD8ZO8HFnzzA0baBVZx4Rwc1mrbqJQuxoB+e4
iM0j3tDWMShm638ZhY4a1T5WFOL19QQhZGVCF05wrihch5MW26FAl2ZnGW8vduz0eK3oNa1VcX/T
S5v1cShQYQ7Osxk3EYJT/qFvp/7iNtTI3/n88sUYgPSE6ij/uNklXjsHo3KB9IoqN/6itth+qOsq
/fftUW5uEkZBqZWrGVQq6OQ1zvrPgfbSphlUsO5/auDqp4eTxydLiXr6WS6pLyLNI/492eiKoHmo
GdXPt4e/tze4ZzkGayTF1XI9/NI2Um9kEvBQxlkkKsxKdCXnnQfoJlhkklwpcDsYAxry+iv+M8ly
adWETol/LtHHsA9u6gmwc4VKZShLPcjDDFesv6x26BS9SpiOoASKaQ9lc+dXgEqxCd2ouqPEsTmC
xOCQFUmzzkKOvnM05Vx/krpa9DC1p+BiCZkGYZmbSh1QCE/N3+0qxYr43Qu+SvPSLKUkhLfmps9i
aA23gxTBOViy+mjHMcpiQT3sjHLnhuNqI8qi6AUlbVun1mJvas3e5zD6Yx3iYf5HExtZaFjNH8bi
vf+hpwcH/J0rc20zbgPVJYvNfEFNFI7cqH+EzpE8AtIdPlo9ZmqeHe8RNe9cAmupn1h1bT5Dbrze
Tm2RpJTd8vg8YnyHFAHkpHzKgtDrXbVTwHtdqevIDlAwgTHMEDwngbdej5XMOqoiuHVexOwrcSh4
M1e5G/xQw6SorS+zV8TlyUXY9t+xQY7gkxukfhZqAq3UMjXHMUotdP0PozG14+9NXYjuRVcFkXaK
Qm4V1q2/eAc9CRLnU8vyzp+MBqf6B2V780/COqd6qMZa5ocR8Q/9IqvBbw7FEtOim/EUlwfpYjrx
WI0dOtbWJDCFMEfOcjh2/fBxGrTEjgxP5UZYBDLJP9uy9sDFOL2bPbS0M+bIgIkxHEYwk/6hrGLL
Pk5irv8uPTT8H1TSWyOH1B6bKNAM58eIy3QdTsFgdwcdJgrIO63Ju8fFclUTdoGbSJTk18vZKNS8
PE+1hyyv1xKZ7ezx25uT7BMA05ofrRSFTW117HUJFB1qlZ/ol8kbzcgVpUWRx0B5PUdv5vMKzPlA
E3vP0P1OzPJKnOTeJLsA+nC9Jwh2AYm2nC4o18sR7Y2ppjWpFx+kzOSx8C312YgLP9mJp+/c1eAY
aLpAm1lrZpttX0yIY07poJ31Psj6Fx1HEzbhZGrVThR9u7JAtrg4yOudtSG8WVmof1Nq9GNySf24
+1p1Y5wdnGlYysehj/0iDU16lkPo1H7nfRl9yII7pdA7MyXthYaErDjtrS0VC9dJb/S6BPahlPlL
s+j20WpGd6cKeW8UGJurdPl6mWz5TnPh4rfKUT5Pi50cs3TOItsW726qoL1B7k49htiLLsQmYgmC
joRFQGoUY19PoemV6hGdnTmJtK7es5O73Zk84cwHkVMoZGDurncmDoz21DVVchHJLC8jNk2HcWZP
lpWVPlGAan7grrXnKHu7jnDF0KSkbU6cdCML0Ks5KJvRTy4G+WQUDH1CYNa9G4278q+RUaSytWr6
bDG/BR2Gfkzd5JL1ifFkV774LaC3EabmRNn17Uf6zjISkdFMhmBOsWIr3EjhOQFpZCUXu1BR4w5/
o42CP0szPLlUsQ6+tnPgbh805kbTBvDnKl2y1ejL/NJI47hIL8Hk60mYlFkZ0SW0X4KOMPrtud2G
BjxldI1XayYqFttdnxSNpjrsby/O4NFCUfMPFKV+xa4+hrCw9pyRXuGk1+8nlS+s1YBRk5fT2rje
kbOHLFLbx9p58jsjj+SaNp9dZ0x0HotM0/+Ii5GbE43vtIgS4EpIRgMqax5GJKH0UKSlYT8YheMM
x4Geyx/IE9OYGCazQcWpGXwtcu2laX+9vUh3Psgq4sTvpetE/ru5al3U1j1LdC6i8ijL02H/lQOe
es7Mcif+vr1qqRjBVeA2R6OK4sz18iwBz+MYFO55ALIACZK+0leChHmKUs23PmHlIM9z1bmfOzsV
f789yTvnFjlfsBJIPr8Wrq7H9u2qcOcJoQFy3+yUD64eUvULdvbbnaVEMIQNR6sHVM0WWKTob44d
DOlzlnnuh2rRaVrAwJ5+QDeJf3//jFhFiIskMyve8npG3VyaBAWuR8VpqY9JXYvn1vL3bvR764bQ
BULIDEEVZrOlu3yuu3pO/XMr6dW0gBAIN+y98ObOOaUkSyMeX7hVwW8zF2GB/RIo3eMwM/2pderL
3K5Ci+QOodUhpvn+lWMfcjFwzZKnbZ78NG9zRyWjf8a413+UTW4dW83ZQzjc2wuIhMCeou+Pzspm
lHY0K7QxO5oGjjf/ttAl8kl4wwlZiH/fns8txgqEFUpQoJhfORVbF86gmhK30Uz/bONx0YaI/9Tl
IfDl8FQ7nkwOVl9MP5qRPDMk8M8bQGiDyCLdRR7r+PZvubdf+Bm4+635L5jc6105NX49lFL551TT
DLK9ZIlst/Ef3x7l3try7tONofoZIJ9wPYroUw++jcuEx3wMNXcaHsq4lqGnpr38697WBBpODruq
DdD5vx4qj625bS0aE2Ai+98qXx/O5mjL3xG2NEO/MYMvb0/tznO8uqmSNthEN5y56/GkuUxOWbYB
biKDmlYKRvfYKAMkRdoM32jOVlEq23cL8K9yDeTOqwoBHZItQi4TRmPM8yqO4ufIG8VS+zA1VXP0
3S75H+6ttQlOq4KEBu3h6wlOMDPjNOb0qZF2aWIMXiRUu+dAd28f0oMBMIuPyFr6vB6ly5J0cnr2
oTGL6Vmri/QIDX8vGry3OVZRu/XcwZvatkISdG+Ttpq5HUd2+1Rn4+csbeoPs6fXj0lSt/+8vTnu
7Xvy4lX0IqBOtxV9a80uIPfloOcEV49LYjjfFx1hRDe1rdPbQ71+h00wQ/UIRONrD5ApXq9g6iOh
FCs9OFvOjFEcP6f8LIPBMkKlJnuIKs+T1ce+b4w09DULnUSz65QWJo2Wf0bdz3oZRrc2npeiKL8H
Tl6+JLaz/GiRYPlRx83yGdZK8kduD7keNUL7nVKoeariHNCBCKb2YYo7Z360h7asji1e0OjuF6Xy
jpwF44dd+oN+EH4+4LiTVdTWjKKyd/B/r6S37RKsWB96Hkgxcr9eL4GXwNyUMemMWaZ+0IVlOesy
zHsLwC9iGQ5VJlqWc/LTN0vX+jPFBt0/WI1jQ6LMADucdTRha94wgBpfp3Jyuwgjs+QRXkaL+VFf
q/YUC5HHT7U+iPSzXWrlv29/xtsds7JooCkCzSK832rb9HCVO0GT6NJabvZ9yuw49AulLvgtDTuX
8p3wDuUJmF1r/X0VH7heLTP1alDQXMqzWSnADGZiICg5zY99szRF2GaT/yTnZTwaZhO/v15gUVjm
ggbTTMlxy77S0cdSLVXss9/AdAlyhAcIsN8fpxCf0L4BHEUYC9LueopF4UBMmmGaz8WsqMFRawaL
YcqhOuR11hK4yvL9rWRiCASykHgCj3rTNPK8qlf1nMBkFBSXXFFnD3nTaeHcYnH29ma5vc5AaHON
AXQAta1vyTs63uyVjnvzJadZBNh/EUcwmvLJb2br0BTlvHPAbi9pAK8As3VGxbxwC4xKktgOxLIu
ZzmPx5Sy6gE7t72Q5M6s6DUgQEdXmDrP9qM1xqIXS5OWF6fIFhw67YelpEA3V/FJ82dvJ7i8Nxow
ulWAlGsDaaLrLTIRJzeB2YDNMAp56PQ+P5m1gQC80f3pVk5/evuTvdJlr+8o1KChlEDZXasFW0XL
YibZ6rKpuljWYOYPlCZAVmkQ+MRjbPtVfilF07TPsw1vIZwV9IPDtDiBHaV6bv/Eg9n3j5PeiPLo
qh5kkdcv/ccJHgbo4yKf/mp0q+mpm1aZRyW0mqu/FgKF/uBPUvy0W6rFqBFI77tj8DIdqrkJst9S
QDHqM0HM0h/gxBT60SyQ8zo2WiK/yt41urCbFrMPq5nbKbK6Wf1K2OhjqMbB/+yCWsVh0uzG79K2
4Ts7pG75g9vAEz7sLB9fY7N6ZGlkHUTqq5Hr5pGbtdRUNm7bFzoYaWRYajxUTaWOb49y7xJegblr
d5m6wFbKzADa0kqnqy+J5jjfTW32X+Ipbn4MdvZuVjodApqu/EWdj5hkPXL/6T6Zwcyl1Mn6oiem
E6JvkB+dQd+TfLk7IUIC+qv0JG5k+zJPBiUwzfqyIJN/QqozO9YgCk+V3E0o7g0FwXUlISCdQ1Zx
PSFNczPUn/r6kmaxetDwFEEgtiseWkgYO5/pznVEErr2q1ZsOnCa66HSOqi0VLPqCyKt8tS7fnyy
KQLvbLm7E/rPKJsmKPXmJm+qub5o6J3/JScgNGL0jIfZXPKd+/XeUNT1VoAt1Z0btxSR1UJH/ZvN
IIav+Ebi3zckaTTP455B072l+2+YsQnqi7mYgBgSZiSJWZzBIWRRGWjB89vn6O4o7Gv4l6R+N0SF
xEr1TsMj/mJhlB2Sa+qRq2X+w/tHYQDAb7TBEDbaxDHdOObuaFrNpSzd+KjhT3Tsh3rPnfLOt4HR
wjSIVSj+b7uWlAzSrKuN+lLRagppiE+Pld9/7WKtfHeDAQkZQKvgFunwkxJttrVBfWiQPoe1nseM
BqmRPCWF9Hc+zv0J/f9hNlsgTv3Bd4ReX0a3/GXknvlIEjCFaHftOUTeGwk8BFUvWJ4W4rLXE0Lr
sOkXqdWXXGb+CYpSO0S5lTifgRjm/s57fmcwCJAkedx07PCtzRmwrywve7e9mH45PmQZMipN25V/
tJ23JxG2hgabx4iOPaJW62PE7lu3/3/ubk8kQR50aXdZpThQG56NT8OwuOduKYzIrDLnUvq9vRdA
3Bl01fZetVFNyuybeKVpOi/xx6G7YAusjafBTWJ5SEUwfnv7VN0CEvBRo1KzwqdfS2LXkyvJisx+
cWsyj/nzLDrENvWfRdtApcyf88bKwmRZvmHZ/fL2uHfujLU6tqKR0EqA7HM9ri+0Zc5j0VyoWlW/
d4vMPuO7Ux93RlkvhetvRxwBfgYZuRUjt4U6ZK6aypQTfcmWbDC/mrVyk6i1ueipLdZt/+DrcS6/
TK2V2h+kAzwwHOwxGaKAt2a+4GGcpx9NRRPjeajMOfhQj8nYf0lMmTUfVIwUWahmlQrU+eX4Ahyw
+zsI8jx5bmyVVGeXIq33YEk85LEPdVrCmIRPfgw6AJjA9aBAnXWQ2EakT4K0aJJ6/Gc62ZUb6v6S
/OONM15JRjs23bfJa9UX06nK8aRKW/taUqrCbFbk2b9B16bjwY1z84fRDlN66L3JlTt55O2JYynB
IGFgtGIpt10UDXleOsNlc1lKaOOedIdIOnAbisJudg737ea4Hmpz4tJS9UNmZ80ltbziiNH5cOyg
9777iDEKRe0VzcUrvK2kdPOMYGLQkYPHifZg5JYVtbjD/A+jUNXm5YLTjKele73RpS3TDKO3jkti
Ud7jaKVzi7LE4uY7i7b+QdutzrW3PiokpGTD1wPNbLXY6dnqcdEZUe/P4tDNE27wttbLJ9yJlbFz
uu7tCG7glblLaZkmwfWIwi+zcSDpvdjp4P9yvLx7sZqh0UOHVsTOMr72O2+mB9oUlx1CwRvWpxek
haUNfYdeQOdg3+cUov0y+226nEif+h/SiGX73V9QmqIi5Rr1QQz2Mj84sZ/93mVVq4fwkPX64Ndd
HkAQcBXyxapP/yihXwSR3/H2RpAzTIvmauCMUTGocvru2mPphcM4OP4pVfAKQjnUS/CVi7tYHmzk
Ws0okckAoZia2BLafubYD0Pi9jJsuETlAYdmpUVJa3hLiNWf2RxqDMgSP/SpUMgn3ZtVcTDrNC/e
/fRDoIR1iNASmDfaENffh0VYHYsU3yfL2iNFSu1YBHkR8tDtiSDc2Xx0/VcgDMkujfhNjN7AwXGH
1u4u/YLHRylGVKGFNdKZUvqDKpP3g+tRXEBaHuWt1fJ3KynmJWZK73DuLk5eF38phMVk2CZtT+Na
y7Q9LPKd+4iprcrQCDGtHcTrhcxQDnLbjNF0XYkI4lgeeWls7JR5buMM5uQBjgVbumInNlWsgEJL
XxBKX2aaNV/ZpM1LIbvpwC1VhJOVqA99GpT/vP1C3jnDa57tAdR4LY5s3mFrUoWRZQzqlLMZjnop
OQP+L7ua1OF/GIltSDzDJkGu5XoR66Cb40b63SUZFuB46Fh0zqeswiDpaGc8LTub/943I8Dge6GH
TrF8E0BRr8pzHS2fi9Kn+GhhgvTJCNSeQeS9b0YDanXqXvln205DkNt57FRtfwk6XTl/O1DTprAU
GW6hees3wQWrb9s/akRgeyCK28gNgCHxE7sfMhBZ+PV6FobCcXby+stojvWfBe/znIQaPEMt1JLG
KMK0FgPCRnleqNBKPK0Ps8JK3Z1n594GguhAREB7ahUluP4ZvWk06SjK/uIYjX1qe7v5Ek9298lR
Wf/09g6690lpsJD6Ud9Y3YSuhxoyxOaxgekvXRGM8UPipKZ7mmMUCI5vD3TvNsOocUUmrLTibR+z
lwbi4o7DV4W8+ZyU2gAupBu758Bc1IsL3HIHfHNnQHTQaM+up39t6F/PzNWUghwjukvujYB8rOyv
IK2L0E+KDIzyHujszifjkqaSTJOd+W3ryU6cTEAueBcazeq+pEUnj5kQ/hdpz3tB451Ptr4HNPtW
0U0QktcTa3NMuMyJ6wXkIMDmQi/DuR7t938vxBF5fkBdEGRt+29VmRkTfUVeH17xb9Q6FB2grDE/
OtPs/oYs2x69/banQu3r/w+47T4rMBEoNrndZWiMklgk/dKU5TcFmBtE9QewW/92gbPTgb63lKQy
ZDJ0HQjCN6+5zGqW0POYpNKMPloWFVQR0krG+0sgXCYr0A1EEJWQ7c1pWHFWD+Q/lz6Alhq3gxbG
nVFH09Lt1XnvXJ8MBUYQfhZ8iq25lJYtWh/PVX+RrUUv3den5RLERfZUtUvxvOTmcKz0eA8Ccm9U
Mk9qFcBnoIZtNqUXO16cz6m41IuXPMpCGKfEnoaTNG15sUfRPbpTtRex3B+UDg59PxQ9t+WeqSqS
wC7j/lLT4XjqOzWGpoztVdmuP2Q1727Z7HaObk2vWVd0zQHUcGtSJdk8EsZi5UDMGnEZVdf1p1gr
2iefpf6C3jjIXbcRNQIUZX3odasAU+27xQVCEl5smQPf/O1r9c69A3jCgOUBP3GFaV5fBnkCd4Qn
mx9TuwA1uvkwADKOEixjd2C1dxYbTT/ELmCpwXXevo3xqMp+QvDuMomp/JlZevInVoztMyz9/HNg
aT1BSJM8vD29OweUvhkdVsSZOTtbSRy7G4k07Ga4aLYqPqq69p7hk9c7o7zm2deJEGUEJGfXig2q
vdu5mcGEEafNKrpd2x+r2SgRx+9dxBpwHsWLNYe1XqpDWWTDMw3K5VAN5XIwy1qehkqiFoYIa/W+
LwuxHP+EtcG8trIpZ27Cf6Hcyc0HT551n8qKFbf1U66C9OxM6p3sw3UogOdk66vTMH/bDJW1GQDV
PpvPyEJqoRkYSch/7Z7e9S1fR1nZ8oQArDOybtdbtcTG2vLmbj7rVqlHqaP3J0KfZSfi3yIZGGYV
xoO1wkVEc3JbWoSiUAx9lqmzJagCX8qgTfuHqV887kLaBKDcDSGax9aureroYlf6M9OEO2KGM0q0
Kmjh/XLLXNVfaitVaRUO2eD+UcDntY6WXXsXHFuN5lhA0uiPItG9d1rLrL+fGcAeow+OZcm2hEI/
1TfaxVnO9exS+YeLkfAbJKisyip3Nv6r9c5/Nv46GGca6B7PEjt/q4QbUAm19SG3zq1rwBejQtYj
H7ygQ8I+oM/vohsnyvwxp2hmhqVBffiEJZjeRYaZN/KAi5DzS/AYDb9NVetmnxK9GIuD3dUpsqla
oh6CZRm9sDA0+TKYU1eQdpVub4bV0PrWUWRDX7yMhtK6g+3IwThZKXIljL3kzc5kN1clbS4d/Rws
iFatL1D7m+ZAG7uUmLGnuoyjj5SElEM4ePMfQplyJ3a6M9LaVUFujwoOLY/13/+nul0NUO/9yhQX
SkcdL7D+p931tIoS7fD2kfL4gzafDy78WnGg5gbXcPMUuTB687Ys7LMVIO4CnycfDkrTk6g0Y+fL
aGXV343Tv9PlZd00SFqvMGqL6ZEJXk9vkmikaK1pncnADDe0QUc+KFh/VWiLXVLO5gV4HYwOAUR7
mBwUSdcl+M9aOpYQQZEr+4xkmMWtnKoDROp+p3G0SRYYZfXY4AXg3JEJbacEX9/svMyzzwvSmE/2
mCbfrNL2PziZoR6x/512+Gf3xgPQuZL5OOJsxutZZWUwo/KBaEKWxW4IbKl5Ntwsf7JkAt6g7vcE
+zbB9ev8fBouOIhQs4LQdz1ePASiQSfKOfOL0j9QeptOLe2qpwaiYtigzvOR/rw6CZTrd56xbbj0
f0Njz/JKOwJ6ufmAojF9SK54CHZa1occy/RhiOd/BEpdT1OWVpfecLJDS0r2UMRBjctlgN/Dwrq/
fVZuDuUqFbb2uwOST9znN7t2qKFh99QQoUuX7onCwxzF8E4OWtvstYg3ZYTXKa9Kb4g+rWJd26R6
FIHeqC5xzj0RW1iVjX7IqqY+VFOjP5q9PEvJwMtQ4f6XNslOlebOt6b9CWcHrAwMgK29ZgXvpXQG
Ex/KRrlRl5njA0eIhXXyASGgNj3CY0d2qZDLzr23RWevE78aerPNZNsLV+tS99x33XQcjAXJkUJ3
Ptlm650UCPso5rM/j1MtI9HJ5MFO3gm0ev0J3PGr5ha85xsirg3bt2j93D1neeWeOsOQUSq6Xa3P
9bG4vnlpfkFW5zVBLIFu3+ZAEdA3aJzq585wZ+809jFFhqHDBvE4ZqnehB4Cn21oisz4ZItunA/j
QOcs6gOvGiLlYnS2k8vefnYIVPREUBAnmzW3jNbSRPpzKC39LNL2rHha52dLeB+In/Ht9pyPOXoZ
O7HW7d1MIYJ9vq4zwIvt8wPGekGc02YRKqc8anpqhBgZzjs3yO1p4ookQF3hlvQotnVpVZQdrb3Y
Oi/SmSLZyvFJgOU91GWcnBoA0ejcq/YnOlUU5NNxT6HuziTX93XFM1mEldt8ulsUpausss+N0Tho
HgX/j7QzSZIbS9L0VVJijyrMQ0tlLQCYmQ/mJJ2kc9pAPBhOzPOMZeWmz9G7rhu0SN8mLtIfPLOS
ZnC0oZ1dkiKVkQy6+sPTp0+f6q//Hx4NAA0bR2fVCo1w4g5PaHOJD8wkLa0SoVdvybvFG756/DHy
Y2NDEekZ17NwWxp0ZEDcc5Sol5XFAjVhKPUK41bMraS7LcNY8qFAK4G1oclY1NkbWShq7Q7ixsa/
GyPdGmw1yPwnczIi711dFK1I5IrUmOE8o4bjIHDg4MqfshFFsSuBMUJRs9PKMz4GYIBHByLg8Eso
mnDelZpWgiEV4lQ03pVSUvd2OFJ4cmDKiL6LStDJ16rRNhAWCLk+vJJIlsBA3CdA8f2enweL2KQF
wOsGP1Jvh9LM3pTwmzNLbcRfL98yLzMybjA6NjRSYPzgIJ7HBUqpagHtgHqb+d7wIY2n5oNvNozL
d6Wyo/Hc7Ssh7dzLRleOPpoPM76UlxXhfWFUlX2jlie0cwupKa5kPRUQM1SUK/IKFR05K9xVlhk5
QVPGWxQQK35LZ5QLlY4YNcnl7S4neYgoD4p/SJN1Lsxhmhu36RZh7LoV7jMInCnuLwON2OCnYNGN
26Ebkx2dKfUG/bWtEvXzzNridFBMIrel7D5Pmi1eCKFUIYkQMAEWQTGIKowAHrOXUGcaqnpf6lH8
dYpF5d3Qi+EHi6195K4L3K6qu0cotMd3l3d1xZXmpzK1eYrz1JWX7+UyQfqtFhCuBLJ6Q1fkro7R
EjIZIg1ab3hjCUq0v2zyZY5EPWue6mTqgpGmZeLi+36hMaIND1omeHdNa6m7sFfrq0wdxI2o/nJL
2U2eR+wmFVEYl84PSthqfkkuKNwmIB50e2yNQnZTQ4/kjdT+5ZrYTh08DKNNXJAvynWmN9Acq4Vb
oRqGrylv/dg2ykp+8Hpri1f05UGcXYeLYu5cUUhaHER6dGJmTSa2vCgzHDHp1MxOYzMvXYBQQW2L
ahXWDqQ9owKhfiS/UnyKIKeBfeMhyP8Hvb9MAqx8mmpfyvwjctOmXVBRd4eh/PJaL8EIXK08oumW
UQg937ogTJtGhWLyaNSFbqeq0XxkHHRysjbQN5o4a5sH+OIZnEjwXo6lSBJ7lqNdcMzzVL6qkHrY
l02q3eSBL20ct1VTqPmSPSHkwDPwfFUKA4w8iRrG3dvsvgrV4opS8sNkJOVGIfWl50NXAzJ6Vg0B
mLS8IgqriQK/tvxjU4vCXSN26aMUqJl7eZNeRg/uOuBncB09k/QsNqn1wiGGTzQ9Gqk5y8y22Zeq
qcvfC0ur3wy137wrYQjc2K6XS5tvWcLVTEkFw9ii3Z6OqITFeghc0QTLxMQQ/5UpO+P3y2tbMcPI
JceLDJ9FLjtgA3MO3NxNgehcTV8jUcM3LVfy4fVWQAtyH3COyPPnL3xSeQhIcSKvBB3jJW3jFEAx
nSSVtoYoXrgdyTNJETj2mQ0d2Oa5FThk54EeoT7Kcec5ic7d6UtJDDHHa5HLzyIQoKPn4tc8u78M
DuDgqiIGkHfbdE3zQZm04ltXKK8EdjxbIV1XydXxgBdj1Lx9u5EXPyxsfth/yCaYYadQbzYy2Rcu
AHgEZBY6GjBckRbMn/Vkc2oSGuIQXC3NIOVuVwS+a02bDEgvN4eHNHUn/o/eFnjVcysZhCjWWDJq
BW2UIu3CSY8PVmopvSsXqIVc9rc1Y3TO6OVABDhDmM+N6SqaCrXiWbdhPwX6dWbKA5XULB09W2Yy
dyOIv6hAzUqb8y1BUYj7Ynn/FsJU5CNghltNLXVbT+rYzrVgJwzpl2DMtogV16whuMcLijNLt3Vx
loZOgHLbn7xbkCzyt6EYEPOMC+G64WXn25qvvbJ9jRfOs/XUtql/0NJYPnTEthUtAQjnUQHR5JZJ
1exaLRtr+JibIjuQT76Sjm+2OOt3AdRiCoFq+qIiECa+1vTobKO32WlPsH4I7yrqwB8uO8lLv5/P
FHPLxFmGoZ6rbSd+nzBtK9GKKo8wOskfrcIrPzNeVF79ihVSMyLFPE6xWEvGEBKcV0AMLKbtd6hS
U6Ar+y3OtBdXFPVhNmeun8yEm8uKHPJgaCHoTXu0ssl4G4thuevQMbhRIoSeYr0fd0khvRJgyTbx
CqQ5TvYCowSTD+enLFErTYAnuj1CVpfupTyOXLFqIYxmcsC9/BXnbO/sObEwtQjtrUbLq6InfJRT
c/qg6JHqjsGM/paU0A2TIX5njUFyHQtxv7ts+eVLhkM293R4EvI2owZ5vkqo/jS4u+X2OHR1cB0H
oOtUPcnd1oxR9/Hg/u7qyc5rzziUtdBBeM48UM28L5hJOzHrdOMXehnbSBjpZtFtkhhnWNJk8hGK
qRra/iiZqKmA3RTeGqGZ7QYorDfy/RWvAucHBHnu586d8fOlQ6JaKo0aDMeujpIDs5K6nTRdb0tD
laBzlY+7rgyUjQOzahT19nlSHQH35WgBvYU+ESDdOSKOmd34wMT2caF2Rwr95TsD6vLfIzPa6sO8
KIzJwB6gQ+bOoO73AgjEQ8ZPqzzujnogptHbqMw0G9KyJ28W+ZrgPHcS+LztFsCQdOg0Y5PkdWVX
SS5n5QZotua6+vmn1vKwq4vG7+Gd89r9YIyhW3Y+r5zWH643PHo+l4vDRFFzZqMy5pHk5RBRZ1Fb
GEalR3jKrzM78ytDs/02TO6leGa3UaLBe8xY5WS3khwIbtKo0PlPXUmFyasiX/v76f7X78N/85/y
d3+3Xf/7v/HP3/NirKBRaBb/+O9vi6fsQ1M9PTV3j8W/zX/1n//q+V/897vwe5XX+Y9m+W+d/SV+
/j/su4/N49k/7DIazeN9+1SN75/qNmmeDfCbzv/m/+sf/uXp+ad8HIunv/72PW+zZv5pfphnv/3j
j67/+OtvczT519Mf/48/e/OY8tf+/I///PNv//vP//hff/7tv//5t//559/+88//+B/Lv/70WDf8
IM36F0ZE6INSVaGGOv/g/un5TyT5X2YADb0vKi0qAPTf/gJXbhP89TeBvwO4lF4NGAHSLjLw3/5S
5+3zn6nKv8A6BBofvAJtcoAhv/3XL3q2Yz938C9Zm77LQVfVf/1tGaDncjK8ZrN+I5Uzakvn/usj
gtBYQS8fjbfooBH5QvQMvuSFm72So5RJ7HNL80k6ubYnxr9jQ+vkY2xKdiju/PBGB+Tm5NKbqrwV
VM0+2ZJ/rPR0Zct8a2lvcTIHaYIzX8FeY7y1S/O6S1xveOV0xPOi4D9ggJS0FZqOxWuvUNUICcFR
OoJmcKPkm5x+r6ToEGwKHi7jzLwaBoopNlDBIa4vVpMaYFPGzpfhBTCvy7BwTDNw4uLvB/rsPJ9+
sxUrlDJnxWZKX7CAzzH+ZI+SDjQJRDDq0R+6/iM1o8JJxNBw46Teui5mxzoNZixonieZH8vzu2KZ
nRpDFWV+UqnHknElx4A70GVq/ZUI2Hl/SH+ZLOItDnm9vnDvLpdJn+AnO4JyDF2l0z62SIvspsIs
7sYORYfLPvc8H7hcFaGZxz8X4ZxinX9A5vGFEsU49QiuuZUdITXShxxFmwhtncFnTHbuTNqhVjGa
afadeBODoXlsK0bj3Tq3am3n95rX22C9qsTpjMJ4bCPUjPcSMKzAnoIo+pgPzQSYV4x+BGXVk0Zl
cvfVDw25fdeNvXUVFTBX7JB4qfqN5b1oZM+fk7xbwxOprBHVzpfX1r2o+lOrHpVQDHaNVL5R49B3
IXRTr8TJcAZPeJuq7bcCNqObpBZqu6xMZaN49KLFym9BbZF4SkEDbPxySFMn49ebjo8sK4LkytRl
Vau5ixjSsRl73gtiudOKBgEb8Tqopq0jv/YRoL3kQ8zgfDKPRXal5oboNZQOoFAsckfxi/E+k97X
VT3t1KZBU50kF1xW6Vp6RGZbKW+hBNM3OtwrvwWgGWCm3ASkHbT0z7eiMeUoBROlHWUpLr/obeZd
iYb5lXHm+CqU5X43JjNtK627g1A2xU7yQumqHhJhIyt5cY6502aeUVp28J8AyD7/PQrFqpXezIVb
PR71w2gZw4dJ67fG6F/uOWZmimv6+cwlwM11boa0ulZquRVuKx+di+kGZYc/rFhgBEEHSBfRZ+7h
OsPdwrvXvjehr6RsPhdaCCMMwS2+NKW2uK/8Sbg1pZsKXHavf7scNV7cVOcGlsB5ZGcrMZZ74VaW
79PxBgWk1roWtY3C5DI/Zxk8BhhtApc1qxwuXn15YkitBQMIpS9FcqRQ+8AE3z6s5MiNIi++8s1k
qxewsrAzkwvfqE3kXevYsG6Nt0n5VZIfzPihVh4uf70Xd9ZiXQvPAB3od/BTW7e++K3PHjXpuk/u
L5tYWccMdmbAiKYxl9biluc1V8eCClM27xtktUzHkpnY9kGXbU0ArJymM0uLTerrKJPkKQiOzB3u
c808tOHw+fJiVvxgzkQZPCfvAyayiOGl2clDWkbBEfKa4ACA+5oHcU2FQ78Fyzze1UH42kYXrjdf
9lR356EpIL3nh7dLoEwviwaTfnUox/5rpRsbrYu1D3dqYuFqXeWPZV5iAkIbpMMMRvYKbSulnE/6
2e0+r4NfnxgEUFhbKqxLk9dWhdcGRw6q53c3pnAYuc4b3ADKQLP80JiKe3m31lwPEAnPgxnbCE37
+adrxbGUEwWTvnwHycvsdUJ/H9avZNQynrfop52li0uFxYyQ1gdHPa4Oai9Bfj6mW+XdF4+N+fuR
V/JYp0MPc+r5YkTmFEKtw4j0Vs92OaxhY/K2i8aDmdpCuZWMre7WibWFo6foyUxhPgbH1E8Pcpve
SJX4RxqMdm4prgdtfFUXjtZv8co837wvvOTE7iIHlEa9E2IPu1XwHqWrQ221rl/eFBGEzjIs86Mb
+5pNX88O29ZJ49sgefKDq7T2nFD41ld3afi971R78ps7v+9gPtlFerxHfORQK9phyBs3g4FdEq78
avyFSHe6Q/MOnjwAGtEozTQRgyM86XuJnIJP6A6Cgsr142XHXgtDp5YWjt1rDdDdEV8I2vtKLN6U
U/CHX332QzSihbZ2LluT5/P/YlNgfafOOhNeLuXNOqsVemNSAuo0oT2ZV9QprPqbBIHCNLZflc78
6PMgpU+MMHaq2V5yj2S3HVQjWsvIhGc3UXevR6OjGFDqGXtf2wKJrlxjtFh+/oKLLw9dRCBWpkXk
zxNrL5JgvmkHVOXUCQTh5Y+xFitpzUPzOxNl0A473+RQHHSpaKXgmORJ5bZo+9mtqqbXl62sRa5T
K4tjMHZ64KF/xjEIH+u2uuuFb82o3qTy1pTI6nKQKwCwQS+UCZnz5UQM2sc8joNjLH4MCjph8isJ
sJ6DI02Zf1jgUXluIRSjqa86ltKADY6tyjar+1/JY+j86DNC3wKjv6wktnkzTlU4BUdPuvdHBSb9
0hGU4uryrqy5mQmYXGbahyLikkc6D4sMMRqPEIzrC92nYvrWFxtvk1UbAAjmGWIUeF6Mb+i5CJBb
D45RduehuRnXh0grNy7Glw8gLhPakf+0svBiRZlYYRmEx0HORGYpVNmtdT+4njy/AMgn3+lK8QUa
Sqf2ta9a3aQ7X6mGjd9iLYqd/hILJx80X/GoDgfHaagFu0xUyx2HUAHVN2jwpPo7Me+3ijSrNpns
mRmrwLo9f5iTGO2FowipBFt4ncKW1+UDiGYwbvLb8f1lX1k9wSeGFjmVNuht1cGQcWy71haUR426
EJfUNL62NTonH/SY/7miRQofza+WbjCDY259aLrCHszW0ZQbsyg2It+qZ8IRQF9+7n4tJ7C522hc
U0g5ZsKDHxm7anwQwq0EYPWzMTs/s4CzQc+6ASf708ql0ldCFB4j+YfhT3YcvbHMxFWbLYnQ5zmu
5aVmAmLgZUwVgFryeVwa2kwwqjoMj53CBMXYuGZ6KPu77He6XXaWXQ2OGNmT5YrZvrZQ7tlw/pWv
Sa8H2kEQgyolmYX5uE+i0BjmhVoPjfIQ8P7aCiVr7/4zGwvXkCuxyQYNG2ADDmTBxo0+hrtiP0u2
jGV9EJI/BFPecJOVGwWkHLEYtLU5I5XOv2tryD2Jqh8eTa+/j0rNBS0Y2JcP1+rHIw3GDEgrSlnn
Nug/NkKNeO0RSoA9T2NBiXeVV27kPasrObGyeHm1uhA1g5KFx8CDYQZwCAiRXzBBFQrE74z65e46
X0hedsEgWk14nMy7Nqv2fvdKotr5+p2HrIB9UyemV7LwAasLEqSs6/BYiZ9C+a4f8veBfKegiPv6
LSE0zCqGzBFwgs9Xghg4mhylhj/rT2r6XugfmmQrzVt5lNBs+WljcWbymu5HBFoLcqOpvfERc3ba
XC0OlPRv0sL4HFl1fC+a5X0fxVvPrzWXO7W9+I7NBJ9i22G7Nt9Z3adI+9pYPy5/wuUY8fNendpY
eMNkhjDL13p4FG5rST9oV3Rfp872/MhWntKxhEX5oKJtw9PLSLc+7krkPfu48wc4ibyNrPRt0Cvh
MW4TG5mMUvscgnG34u+XV7lqh/QZgTYofymrnttRCzAEYqCRRH3Rh8e+26nlR1F8/wtGaPQwi02G
gWDUuZF8UEFLzJeiYlyp8SF0JOM22XKJ1ZWcGFl8MRjbhUCZDC7E0ep3Wh2+ZzB1tOsqVpxwULem
ZdbNAVqb717a2AtzRqwKKWgnxkcC5Or9wtWbm6TMXNRnNsLrSpJEhwBUNVOTc9FpEV4HVS3byuDe
qCCsJ6OWo97Rw9ZVB3iI2w28xdpFfGZtETmk0fPKNsLaVLnG5xROnIqm/GTTYArq2zZS7GJ46HPC
r7HzY98eR3UjCq/GFbpo4L34D/Hy3FuyoYg9ySBGDgwu70By6k479qZdiZ3qVhKazUmpTC7C8/0h
94p6w1lXQ8uJ+UVoQQlMaqT5cwsWaAvIoz3hYbMM+wLSM18Ez/y2c4QBcbHY1ClFpkBsqzlANzb4
mbIL8dK7KP0Scr1Z1WfjQcqvyYpgpt5iPZvP9CLXMmH0U4AMonX/giWoRT5F6oI2PH4aET8IwtxO
usDJob8dlL1i/MI77czcfJJOQlkO2WOaVJgTwQlqxn1SPU3Rp8sRZm3TTpe0eLz4qsBE+4CNorvJ
88ewvR+1jafg2jE8NbGIlKYQBGXZzSZcVb7L5F0pXJnjU71FcraaJzIXw+5YHPoXo38eM13IIeH/
dcBcZRjauf8e+J4btcIfbVAcxWzynKy7buJ4Y4553fTMuwy72pwBLbaq6BNFyucrPS185Vqf0tC2
+nZwQ6kwDwYDELYPhvpAfU86KlXdH/Q03Rp4Xb13edfQCTRpCqLucu4vkZCEJZIJrF++z/Ux38Px
5k6d8kcaVncKG6AIE3ha31YKcZcIh66/DjNxo8W06lAnv8SiEiM2VeWH6hAeS+nOqipbrO83m2Wr
53Cep2dAkJfPslBtanXcJU1OAlVJsZN5ln6t6X62a5NJu46LVrWrcbwV4YrcuPRXXRl+GUml8k/G
vriPdehT845ZryN8jIwnduohkqTJMTO9cw1fM92wHMbryyd0fVsh8OIRQlRHq/V8W9ti7KKkLQnr
mnDXlg9xdyUru7xp9pLgWtQjW8jlY0aUpGRHVWnXfb38C8yLehH1EBSBdGBO75+HKU/CUN+YXqt3
8ysl8u6MRnVpT23cXKtOc2Ji4TRmFOp6hZjOUcw/TUXpTOKdom/p+K56zU8jy7JXFQQiU/8YEdLi
C9lpFH8YjNZO6/C+C78nyYavrOU5OCcCKbMcIVTB59s2eWj5jVbBmtKbaRyRkrmh2hykG7fuqktC
J864Dviil4BAaTJLT8clB3O0gXE5hvYt0TJXCrfP3eqSgB7CEEFVA1c8X5KURNWYDNiKBtMJQ9lp
8h+FPO60fuPKkFYdguE7JtiBmIAzObdk9UnRFDWhPE9qe/D+gIpVbvdQGk+J51xbZuHQbAtRCVZ1
xyPD0rNu349/XHb8rV9i/vMTx88a5rpDiYMXRY9BFTpNeDOFv1+2seqUVInmIsA8u7qwkcIyy1gn
sdkiPdPMqyGSnKB85wd7A6WgacPa+op+WltcU74XTxrCyeFRC4BJVG5aS4gy3l9e0mq8OFnSMqXI
VAiiIKo8NnLp6N43v/ilk3xiYXHRGQrwphxtnCP8CY3+3k+9HYQo+6QbHOtTNW3xWPxfvPHnZ1uE
p3YwomrwOmpskefIw9s4Lu2ofpuH13MrqA1vigG5I018H6FnrSmwqeeN7eOR8RbkZ+PbLoMKvLt9
FKasPEgiJzLukVW1L+/eqosAMQZmA8CKutS500+TYAVGMhIlw/ZH3RrT9aRrX7JByTdyptVgcmJo
4fklXMtDovNRh/hRSmMnQTYrSFMbBomNJW1ZWni95FUqGDksZZMGi01+Q+sGmIOb5Y+Xv93q7pws
aeH5Zpa1hdL0BIzJZ6pff4rDasv3t/Zn4fsj9Ll51WJjMh7SQNll9e8Ioe0uL2TLyMLhwQgbKG/g
ZiabEns/QBxsJnHru6I987vNeiWL/UeLqE7VAUdLpeTQZ5MtpD9GcTg24YajrS/mp6HF9it+FljM
6VJwQPE2VZ7MEdbcytxwstV7mJk1FegspBLPWdzJZVE0vZGPMsn34GsGKC7FsEF+50glabsKFlF0
3BEI/pVt+mlzcVbzpAQ+qmGz7R5FadzhccVQbBhZvaFmQjxQT6QYy4BQiH7Ay37iVZH/iBPF1rsr
NXzqRKeCITcTr1+/JMiXnqHvUDQtvSJrojaCFIpaf5CJhzIXVLfwov5Qx3myYWop3vxcp6TrBOk7
5Tt0qRcVm7qNq1YFEwkkabqqLcmGGO8YJ7s6yA95cbCa/fyI7ON6F3eja0z3SKt+aFr1phYbJxbE
2J6a8XB5/WungsEZ6A5IfSxA0efhVza7ycpjfqcwHFxSOSn7kcGSOmxxs62FKjgVgRXRPAXPuDgU
fTQWzWAmiIX570f/B02wy+tY85rTn78IhVHgUXkSECPLM5A9uq3AGh37n4uxdSouyCx2L9tbfYGD
7QaeCW0gnYKFwSBmgHNq5gVZfbmvyljdT7Gu2NGQG1d+Icd2nVi+U+qxBZ37kH4ZYdje+CXWIs2M
bwMaRtmRidzzzYO2v8k1nUVL/ifZFx1aYYL+6fJC1zYOKr1ZVFtjimw5rBFnU9tMch4dsyR9qHnt
28DDil8IZoTkeXgOajawxecLKcNyHPMxi45lnalOKwadg7IPHB9F8b0uOi5rC96wywtb8xhasgxk
05yljLjwSOrC1SjmY3QcxTu/fui0xInzr5KXOml6N1pbQiDzXixftUg9zZxVhDa0Ys6XOFPPDdSJ
IgbzjU+FAmPu10i+GrKrcPDeScU73p8b3rFqkSGxeST3WR7h3GKuiCFqn3rERN6OnAfdZN4tY+Pk
qk/J1LD9cvhSIgVx+bM+k22cL1SFNYUzgRLOXLtcRjmtSAuGxWhUfEe4LXHL9BZe1/Z374kKzSA5
1nAsUZvoHSYRuvgG6ncnAN7ib5bjX3ouvwhvOpiHgDiBpT5ffw+YMCn8Mjha47EVXWifN1Yqv9hS
DDAeA4EA6jZAnM8NjIFYQoYGTjLueXI0oTtdwQH9Th9LkNQP/fA0ZoXTV6WjCN6bsd2iq3/pwJin
Mwm7Cu1DOEHOzZeFoaOIVgdH7hrbjyu7pyPfwafd7Br1K33FVx9SRsDII4jfMDOgEXxuLzGKrGLq
KziWcLqG3be6GJyu/w6rX5BGG9fSHD2XTgTVJaAhuuEzq8rCViGkMPQBA1E62MXSD9NHwZiAQkN7
8ur6IaPq0A2Qt/AZQSifW7LawAhiJCWhOv4RRyRRyY0Uhxuu8vIowhJF9JwZ/wk1y/iWSo0QTiml
oCakPZI+lEPkWI+j/ihkT/Jnq994Ea94BuY0Smfc6nNf+XxNFfJOWs1o5THvE7oigqt4n5GxkWN0
Vi0Sqj9efxDO7M0H5SQXFUCkIATIM1/Skz1UZ05XaNdJYBxMqfukgBv2hx9T8024TsLG3qporNQr
54/7c7ULv6wCE1nxkbIJ0opXhjnY+eTtPaO4qcObCH0Dq9V2dWFeefCiy2LuFp3m8AbYOB0rCcHM
BEaDaKZ3QIlskRAwoAOx6FxZgbztWm5kCNq+jdEnlGAPdYIEqfJ1hOm3U7buzpdJAIfSgoOM+vSc
Vy7seqko+VaeEOZgWDKtzqaFQ597y4VXihLA6AE7zgMJ1BeXPky5NtTGBLT7NP4hHgLRRa/IidXA
CVTJHlP7QbvWD1N3lQkMuG80O1fCAWGW4jvsAczELAme5gBRjn5I1cr4jty6nUQfq+rJit5F0fcN
X54jyyLynJla5FSm0aqm0GOq7B+j8SnX3sAhauv+e2M6qPqNZ+7z/POGzZWL5NTmssqiToZU0Ezh
vMa1Xb8JtKsQ1TrvMPzeVO8DTbX5j2pRQTtsGF5bLC0kqi4UPXlkL65I36v43ANHB+1itXsSy8f4
qRYVB/FGx2w+qqa/T4Wtx/4cUZdfWGf0l61kQpLHwHm08HKpaseB9/FQ7ebCrmdaDOROjpxthMGV
Fvk8Jf/T0pwhnMQlM4Zk2p/raBAhOEwxCvXnrJJ3PLkUi5lZJxcSZxRvgyJ4J8vpIbDee+PwaoAP
v8OMU2IShXP6HDZOfoeh9qZInFfbCQJaZkJf2J4BQERXoi1ij9UjypsEFiDgFXjU4stCtwYbtDSG
jNLmjqo0V0nx1k9p5V6Vqhqj5/VJUpmuNTzXUNPd3CWUk/gYRNOukr2NB9nKlce6f/4ui2+vy12k
tDl9uYySYZFZtmc9xrOWuW7YE8QfURA6m9XttVh4anSRElmMZc3PeWKwFD9YhYlgmbE3+6fLx2Z1
aVA/zAqCPACXnxn2NY0hEovjOklXlXlQWstF2co11eopMt1JVZyoFa8uG13JZnka0d5h8otUc9nx
zbOu1WF6pfaSMCbRFargpIqyJUmwdjZPrSwuExn9bLPsKb7IQnJoAvmqLe+VnsLDFg5g1ZBE4GYy
me75kkssHbSu9VoB96CQtgPOVxxyzfihcgD3Uu2bG1ne6tcjWYaWhRkg6j3nkaCZNLMvc5UpqhGE
zHQ/QqJ/eX9WFzRPHpIeQ3y0LCTFbQ2SUiCGp6XlKNqdJOY7wb/ZrC6u5Rny3A37L0PzL3ISUNpR
yKZhNiQFGixzwa4MZCcaumu6BK5Ud7odTsNetKLvlB2+/v8tcuEeg6L5cHljW5+uIqhlk3dFHtmS
P24kU6vbxbtqpg7noGkLO2bBrKCnMTlDPgXr5r2yKZi+kiIzW8Ek4vx4gpttcc0riKokjIow+SBn
Lk1Sj0xZl74kcMYWtJuNYeOqXYtMzHJAcwjiHHOLyKQkZcz/zORA1OxGHUjsVfP6Tgqz/ycmFo4x
CkoXMcYZHsfmfQTzde0nNorfG1uz6ucnVhZbo0BwJAs5kwD9j5wlGMY94xzwQF92tPmnLHOE07Us
EpOCZBfGAdYyyJUNE/UO/ZJ4eDNErVNEu8u2tla0cIXUymgIAytHuam+M6MRlsunofwsR9X7XzAE
jwpVVjBD4hI638YwPjUip6cUR1ctPyFpdFeL7uBvcQGuOtuJoUUeAIwLCrT5uVlLBbm5NL8ALe2b
l5Xaxq20uk/MpwKDmpkUl8X6Ki0kK4vZJ3gBnFG5iekSfmwi2mpqHvy4/PlWj+yJrcURkgCODlME
LsRQ6+ltn3niIR3Nt40hPVW1ER6g7PtdF6ct/ZJV94D15plrnWXOf34Sb6VaTtWgBYRgiE2+M3xm
RfLM+5CpGqP/kCNtnK/V0PcsCgN1F6Fvscp6Eke1hOLpCOdcaGt5zGXPCN+Gz695CJVrk7cq9ED8
l/NFTZVXGEWR/B3qxxlulPvtKL5lZHGwwthMO3NG2cTSTaNVzMDe6fkWP8ja95oHJ6j0UcIhMTpf
iVeUYPMtah21oZQfpK4sbU2I8o0H6ErvZiYZ+2lmsS2R36oNukbcupaVX2VRqYC1S74lVZTuk8SK
QBVLo+tXU7sbrFbfeXIsup0nBG6GAMqum+J0VuBRrqQgtEh+J/8G6pjN0ZU5j1nGzdNfc+Gsgy/r
fwcBVbKT6z2ogWY3+BBVKNqVqd60HpI1scNrr9msca3vNqAtBYbpmePyfCOk0kssK6SjVSPvtDPH
ffZw+fyvxRoqdf80sFibokFkE05UmUh4boEYmrtKzXaG1qWUd4K36hQeLhtcTbXm/BS2NTikyUbO
l9SPtOz8kWxYKwprV7RCjpYIIhNC1sdIUVWxjZhG5mQmj7qiyYuvlZZvVZlXPyuRgIxvJvFftimS
qNfbwJO5naRvzE4iZmgH8e+XF7oWWanWM54JyBiet8UZynyYQGS0Co/QLonyTanUrsDLP/sGYsGv
N9rjz9XHFz56Ym3xVSUr18VMIfaEsrg3PEccRzLl8Z4m0K5rir1QfUNqk6Ss3ZlyfX15qavhAvZn
OLRnbgNzsVRLCosgU4lJWXeoTGf4lfDNXv3z5y8W50HCa4kCPx8xV1eSc3sKt5LjOWy++H4nJhbn
QBgmYTRQQz+qZb+P5XAvS7f12F5F4sdc+aQN9mbyunryTizOf35yBTZaHwnKxKIi9XsyCKaNgrkL
45Nbj8FTtCVmv+rxJ9YWd1MqCrKJljPWAC9PZfV2vjQQaPqFwgx3OsItElUZjtb5ojzJ7MToeXoh
fiyj36Po5lcmQrg1KArDGcuEBHME5za4GOK2GglZU+DSgvuYmW5Zfxy2WCdWjxQvJQDhcxmYxOHc
TguMIglECl1J1N42ee5E6cdJB7DbwMJpqLap9NApBJQowvYwpuZWcXhtyyjk0b1FcIru5mLLJL1U
w7znNa/JPxKQTjRRWkxfProrUYqfzlaRtdBXW0ZjRUlDMcsxUnW01JTaLtpDEikuRQs3D3K7zzZi
xcpBwyBvNdAo3ADLJAnYyGh4El1pIHBO5EVvVZEbVYZGcLQ+aVp404o3jbHVtp2P7+J4g3RlKh9A
PRSjy4SmEvSqbPUyQrOW2p2uCx/rML5rhNJzM9HYkvhY2TmCFZB2AKHwh2iLwkiuxkOiDvEzLiOh
RVlId715f3njVsLHmQ353DvRtWcIwIuiY0ODclS9m9gY7WC469tPVWi6l42tesncp4AtjWbIskvp
9eRwit9FR3V67uOnjV1qarCXPTHZ52KPeIif877Xny7bXf2QJ3YXF0ujmgkKFEV0FBpH9e9E87He
IhRZM8GyUCqaKZRevERy3liilfTREdnQO99rbqmYd8MGFHrlguRFAOcZEwCUGsXFOmq9a0XLx4gh
g9J5yo2tCfI1/2a4gIFXa8aPL+PuINUaA5JGdJyzRCgawr0OAjPz3l/ejzWnOzWzuCVrJfN4uIF+
CBPoa5K9bF7LV2GVumr05bKlNY87tbS4HSm7lUo1siBj3AtdldmJKH4ZtJJmHwTP5i5RXj/SqEIP
9/MTzr/RyX2cqXQRRFGNjor1qBl3eriDWxmJ9V8IuKdm5vh4YgZpnaYmW4yOvnSNtpJN/nuciz3x
p7is7KSoNuLtqn//XNayVRJ1itYYnoJ/T3RpDa926pnjsU1/XN6wteuS70cjkcElynFLIN4Uawjz
oRWDejMILSP9itrctdhXb6K8+V52+058qp60gJLglItbxC6r7gKyAQwqdGiADs6/Kop1lVcrAkg1
E5BfXWSuLmWM4UeJXRgMq01wOG00NbdMLupBEG2hPJlispekt0lLLpJBzhjB5FHX12pS7AI//4WY
P+M3/muVizACX2dWdHIcH2M9cgoEH/dVquR23kuCXQXJVdp38YbJVfchm3tmA6cesFhlMUEYW80g
YjnZtbTZI8qT9WuVceitcVvS9mE4ihnfJTfaINQFgyq0YdT2Ecxm0D78H9LOq0duY9vCv4gAc3gl
2WESRyNpJEsvhJKZc+avvx91cO1uDtHE0fGDYUOAdldxV9UOa6+127bc/Fqkncv8E4RJ+up0p2UY
Q4pLxhcNspNMDJeJ3/2SrBNYo3yWfedPTsOFvdUxT4QizPMKe2UUvwTVYM/lvTk/SdGxl5uD6CMa
rNwl6ZdyL7/e/GD/Gl6P1SEUIULkoFCwlu5ylRlF3TzQ/H93e33bVoAWLk8m5221nWab+U006mBv
qIcbxX2d1lBPnW4b2Xo1oWpE5RU+u4U77/pQQ99nRG2GkViTHpM6fehV/9ttE1vrWAB1FFuhPYHX
+tqELocDVRdMJGDkp/ybar3CyvcHNhbpZEQKF8q8Vb6Sa1nRaVFExNveC0z6ZVNtx1Tfb1vZigDA
G/9jRbpeiRn0cNXoAfd8jdr3fBhbmOWye03Qdh6U36OC61j60tLqrtVH1E+youWhDIP6Tki1zB4B
kp3bLhwPdVTWbqC0xosowKhYqZn+LpbTl2YYvhiDEdroaI+nYlFqLBENdsMpqmxx7mZ7DEVolWvz
s6kHjNkXTNY3SmDdVXHEfF+UhidjRF+jBboPdSeJEOz8eywrm+5AfLvA5On3rzEjfqlARUP9+XGO
Y8dI2wORewQL/+1P9Rs99GYHGa8lf2XEGezf9bdS/Jl8LADmrKVH4M73ljI5ppotcyD6YZLjVzn9
IKsL6hmUV/0S6vEnKa6cXn+n5N+7OHTnobhrBg9e5Mx8AVR/FOXXQJAdLT+0qSfAc2bj1MfbP3ur
XItALHAhsFGAIdZZQBbDMCGGRON6+RAP2UvUg+6dizstRHdkmh+nOHxqMzDieRVadh9Co1x0p6pp
7ALRFdlQ7qdIPvjVJO7ctpuf7eKHrU5xghwJQp9AtvVudMa4tKP7RvXPt5e/Z2T588vAbYwtJVXA
bDcpop6fqvFXbu5UTzYvPCaTF6llMAnrgcmqmir8pSY2HN/HVuyI4s51t3lJXBhYrQHx4GZCuZqY
JXWhPsW9ZPlDEny6vVNbWQICSf8sY/kVFztVxH2RNzHJ9mje5f39MN7D6ZB6cbvjkFtv+qWdVY5Q
o5eCM3ERyZpnCO4I+hpC0Fqw6Bv8xANvr+r3Pf3m1IKfXWBHHID11+lmE9mDCi8jFFLk2RkM5mfH
DMDT+6Zx41p6IMnvhb2EYbkMbpldfbPCF6RiHiiY1IhdQ2OpEtDa5Tw6UmjYjWI5+ighE1LtYes3
v+LFcldfMRoiM02WIobiPyMXp7IwiYE4zTrURNS393bTFhPWyxAPHep1wWRqmDSZNL5kb9ynbeLb
icRUftqfGz+i4LtH/7ts2ZstvTC3esFiQ4t6tcZBreAbfSWIBl6LbOfV38yHGISA2hBs56LWeX0K
rDpTtWJkNkH2R92RyvAezWpp/uYzcZ3B4hK0pzITPkGam9fx65/s5z+21+9YPldZPw7YHtJ3/tSc
W7VxQALZpfnLQnL1trHt3fzX2CryCHuhLkqDmQ+BLIi0JC1OHbDZlzyZsz/A5aLRAZfSMvFEp3WV
jqhSWNTFQCHqodQqRy5hHBbHnV7KpjNe2Fi9JnMHu2A2SFz0Yme3relM2Te9jt0BWnrafX+weRfG
ls29uCs5DlMBkXb8mBnlZ0mIDr5m/BQt3b1tZvvyYtoaThVYBpAqu7ajd1XQhjUjaaVS25OWPpe+
9lBm931R3AnJ7JX5fWk52fcds8u3f3PSzIXwbaEQBc5wbXbsxNzIZsxWfuMWseFk5SscW23/cSxT
W+kLW6EFeJqrPczd5lNKl4ACM3kl42TXhgUCmHhGZQNVhcxwjGgc7wZfbE6317dnZbU8X2LOuZYX
K/DVOoJRTq6fcH3dtrJ5wECCLDSpaBesO4mgPrt0rHl4DDhru4O1kE3PO7345fu/+VAXNlZ+qFZM
N2QjSYoSh/JSm9ecORV55KbQGZlJ+h+XtHLHljqbrjcsSfHvzeGb5CbJ3sjr9oog0qLTTHVXX475
xclKkI0LlQkTInImyt8aRGXtxzjP/sAFlkI8eDp62m90tiddNaJh4C1J2xmowt0U7sk/bn3+Swsr
J5ODGD1fuSFbMH4UDYgH/7mqdqObLVcGMQqKCpFYuJdXz5UQjUIqDDz3dXPPJPIYuGacuLR2XZVs
bHLG9EnKzoJYH/PgfZZ7uV/v+MTWvcuIG80haEghyll+4cUHm5K5R+WFD6bi4DDYwz/WqYdO19w8
0t1ZS17/+2N1aW/t8qnVWm2GPSEz75hdd5SufBKKaSdv2BqlYXRPQYUZol/CxlX+XwVplGYjiUPX
l25tPFnDZJfVPUU1RzJ6iBRD087I35TcFUboyT92e9oDmx508QtWl2EUi2WfT/wCM//U1dpxzizH
jPc4eTc96MLKyk+LJEpGo8WKrh0jwzbFnXd5bxWrt19BdRGYwbKPtcf0P2/kIOQ7Pri9BqZmoc3Q
KHKsfLCXe0FDjJmd8pXvYaCbTlhKs/snjvevkZXjxbAy5P4ymEtBKKrke1P70fr5jttt79a/RlY3
bKI1uTLMS4wblWc/MN1ylM67iPNNK79RYtAzwoewpGgXZ9bsq7gwRWK/Qq9g/eig0Gt6yC0RxcyO
t3dt83pgqH4R7gC+bq6OUSkhbBjEmAol/WD8JUyJPRZnbQgO6h/tHYArnHmR51tT+qZhoVHWmpce
tejkwdcFdt5kO+j5rfdpQXX9v5HVoVTUVuPxIvKz5Ei3pXlAbW6YjKOiZjncYMoeIndz/7RFppDy
zTIhcP2pIsOskQMTcW1dkChAIqPKBE14FKSkdnML0XY9GrKd3GBrcFlhUvofq6tnRQ2zcm5r2k9z
U9/LzezokniaJKitivww99adMfWu/E3treMYWT+ZDvEMLXjU43dzEt8rwsuCVloYZW4706bfMgNL
v4GBKSRHrzcDKEAlz5ZJ2E31LTFOtRo4Jh3T/83KavFa2jSTVlm8aCK5Hp1S61Wf9qrkm34EzuC3
NiVjsCsjQ5CLGZFu8ljIpgv7oy9CvWZNztzvOOz2nv2/IUTLrvfMLxgSmgQh/l0rT3r1XjRaG5HB
P7kd/1kPsJRrMySRYtz0rKe0RlcOrLOuJi7yyjvfZvnC64B3gWf8Z9sYNr82ozaxsABfYEfw5SMN
2XeMzVtx5HTt0zIwyMzHHzxf0ErC9wBbAaOsq+cr85NYRB2Z+0v0xvdSxpp2lrT1gS4trB6vchjC
aha5tsLhQzj/mvqnLtqrXW/aAGVAt4RxHNq919smF2ViQnZNMJrH57BQz8xZx1q44wNbHwdsJvPH
BO4LucO1FUEwmqBL4uQxaibEjsdDAgKAboYk5I5QzXYc73ycrctRW1Qsl1lcQ1OXZV+8YwrTvsrs
twnzP11k593k/wzmyHDMqjed0kJaQPalP7mRwXWhR7KM48BVfm3UH1PL7IcseVTVv8r8yGN6Ej5p
oRPV5en2RbS5nxeWVp6hDXk9ojKcPPr9cFxmUEP/WJs99BXceVY1BGdR2fPGbZukX0yiMaC/JsHp
q0EulHlIHrsKzDSN2eJUtkp6N1sJmlTJKB5I3g9REus7VfTNWge0Nf9YXt2IU+GPZQ696ONUT4z4
SgGI4ump6ySkBR3QYaEto+RUx99Bdu+8d1vHg+BkqWFCDMXg+vUnzVNGY+VCS1A5SD6P+TTdqVPy
VzTpwc5lvLlI5u4siFaQJAYLeW1pqkKzSCMiVWUoD4VPyB06fVIcte+Noj/05adssNzG/HnbkbbO
yYXVNYWEPPlmn6mEroX0FLYPeSmANP4wBvcANXe2cutduzS1egeyQYYMc+kiZEBGGiBtVf3URAFN
wdfba/otdrp+Ci4trZ4CgTWJyYLOqgs7j9JDFQEwGrNfANwSnwqV0R8TMbXViT6kP/zVZad4vC+G
b3PRe8PeUV2O4psfA44G2gP4VYA9XH/XzggyIywo3ep16aJvNWbl8fZ6t3wUpZF/LKw2NqI1BpkM
FuAcdbvEOLCxu4nBtn8yB0ibkFjzzRCT6BvElNFIDB1qp5SJ9EJkmIiY0/fdYe7tQhllu+26ByHd
G9nedNIL06tDaNZSVPgzmUKdHiXu72C0rayGPL51Bn2Xmmf5IG8/2L8LXb1VppFphPLE1aH1Cn7V
0YPo2DYJ2oWyeGrU0zBCaGmJz20s7Lz3m67CsCWdUwVG9TcAYT825EBboF3BN9P/Owh2DsbmCbz4
+1dXTBmhSpPUIOLQvynr+tnIT1pYHGCH3lnItqFFynKRLydEuvb5eEqsMZ2ouKtycRjTGcE66TTn
RwE8/m3f33QNIjAYoxa2uDXeQ1NjIssFfddmorM0clHfPkSNeagUza33RkA2T9qFtZUjhkqT0KBk
AwXryTdBfsClr3+9vaI3fAz0QQyItuD144EHX7KKyPJeNOshnAtPbk34q7tlIurOj6JzIj9lwez0
LYptJh1CHYIW4VntxocmUx46qGlv/5L1g780ZJh45B8QNdT8VzdX0oRtqOrVogB4lksKQD4UfFZi
3pf1uDBFdO9l+hu3bb7psi1GaRnC1ELxctGNW7nO3EpzI3eVVxfmuQ8AIr9U2WfDf7Ykp1GZ9Yvb
czR9CORk53laf9vfhk2me1COBhK9TqfNqYhkRcorT1Lzv1sjOMTaABFDnO7s6pYdRqUAKP2nlbF4
9EVkOiR+0kPmUXpJgvKTmoJX0z/5qabv2FmfjGU9XNSqCUIJNN4alx+nYjxWSlF50CUfMqRXTSh4
tSGCbeyjor27/dnWN9dvYyBFdSTy4BJbz18FUecLkYDqeAuS6IWoPj8FZmu5t61sLQm4lUX5AT4J
mmzXW1e0MPUbVlR7pQJ5gIxegXSq4uCpb14Hcdrxh41ziAcu6kbMICPhtZZUZ8mCNVhxjkbYXdfY
gmWb91OX20n7rJ2yg15+9efHPEK1xPgaMy/4364VgLnIIZDILXkNlh2/cBNRHIoJ9pPSS5eKcvBV
VAJHme5ggnetSNm5r99+vmtjq3utSwqqb2VSenmr2VGt2cPuzOVbt6dmjrjM0vJifm49+CjUIP+M
3ky8ybGOxb30oN5Vv7QzbWwncQK76G0pvK+MnYUtHnH5lpOqYHUp08P1wlikfL2LiakPSi1jVRLT
w4i4RZKSbDb+0p19uf3Bthf4r6nVm9cJOjUzQ0u80m3iyDWN90m6N8a7Z2PlFEIdCzXtqdTLh1xv
7L6M0ifmBExXR3jg0+31vD1s11u38onMTIesFK3Ey4IKhPddleKA5oOoFA56Yv+brdXBruEhzqln
Jp6IRMZRGz+134PCdNJsTwHwjVDN2iFWt682znoZZ1jS43MxOyNNRAvyfHtSwg9hWLul8IEG0pA+
D4H/W7n++Acr5VU1YTuigbSeW7JaRKpVi12VBkZikdWNm+EoTiHwEd9ti9fb1paAbu3+JGryUvNe
Si+rUAKq/FkfxST10uoJyc+uPFF6a7WzkDz5zYsq/rxtbnN3L+2tAkwjlYsp07CX2IItHnL3+f2P
0p4P2XFv4HcjTqCc9O/S1k04eYY4tk7SlBcHKc+HLPx7bIGpTJAKHYO6tJWmtS3knsqx/+9v5qWS
hZ7t8gHJh1Z3Sj2ZyqxkqVePghvZgeqZiDzU+Q9ICHb2c+u8X5panYswqQy1LjA1zp/n2JklH3xf
f/SLhwj3TaaTYrjBPNiCXEIlUTmRf9Sb0W5Ibm//EnnJId940sWiV+cm9NW50/SCm+eu8oZD79Jy
aN3h0L3Pn8Nn+UvwNLxrD3NqQ8eQlLaTjw79o9s/YtObL37DyptNNakCBRFsTw3+4v2Y/zJ8Txid
7mP2Q8x3YDx7tlae7KdEZ4NZpp4RnPKwRHPdVoUjtAnZT904ar24s7Y3NYvlYlKoMaEVCrUUAIxr
ryJ+oyBpdKk3C8f5CBvkKHzP4F/P5rM0vxe6n8p9Pz9F+qesy9y5PkzdUd8dclinvsuPQC+UEXoF
umtinusf0Yh1NMU6O5yBxVJO40P2V8Zgg29XP+fRDvY6A29qCr/tLfObDB5AHKCs3sxaEJLMaNPM
Y0xKkdBqsMbAzmMpap0g7qXOHXSjam2j74q/szgA0s/UWJrD8WdUn24719ZzpxJVLoIfsvSGaquJ
x7EVKxxcU5ujmJ1lzvSUPmTF87ir7bd1rC9trQ5TJcZ6YHD8PK18gVQ5Fd4J1k5e/DZ340sudVro
KK1FDvH6S4KgLruu4Sa2ksGNM6cqAjc0TXtq3Hr8YsZ7CMwtexp3Io1IlEZx42t7OgCgOe+r1PPn
p8DwxOiXrt8F/cOkfx2s8+1PtfnMMG4MQfpvlcd1YhqFkVlMooCx5hPUTTQTewm6kH60lVyyRcHO
A522gnaQ5x/TntjH1kqB01AEo7tAy2Tls4VS51HYJ5knoAGfZeHTQgJhBPbQJY5gHqY9FMaWvSVZ
ZM6UsAEimuudrQNFiUZpzLw6Epn+eJBqwfH994HqUpBzKLjtaVlsXX0GRSjOwVKwXNNdqoxVVV2m
ZjzipR7brf/yawr5709B85FBkJ2Lb2t5jPjRuqVYBDnrylHReppNMbAy7j0ffmbGHAKGJnNHi6h0
5B+K0N9JVX9XEFZPGQBCBVVrrjr0ClcVBiMNJKluhNyb5+hF93nDCsWbqlcFUgDlY0//KzX9pwGQ
lKYcxCl35Megfxdk4lM5906D6PAc/RCYa/+849YbG49GBbxXEEiTQ6/x6FZQopDup4Vn5vFd1GsP
dVt9V6zyp5afTbSBBhxO85Wj2qDBwHBITSIa2kFI+CqpxdGvdUes53dCfGr3KrBvRkVweOZEFJr5
/DqI7leRiIIQmKKPQuEZ+q/Rn55nGeysgMY5GDnhfQ6yrH7R58Tt+hBlqLOKTrjAULnQo/oOegRK
gNubtdhbf0SaMgAqGO3hklv9njirVV8YgszzTd/R1K50VCN/ioZYdsvgw21bG0+DemlrdV3XfS7q
/qwusYArdACUNadi45vUzRDzvG1rb13LcblI+7MgSs3GNHgalPCglAwPfRDE9pjvzbBtPb24P41R
k7iDB3gV4MTUjKC55hqrB/mUJ2ppizD4RlbiTonodPAyhalynP3QNbLk4+1Fbrx/2AaTtei9G/Ax
Xy8SWN0UZ32UeUFXO0Vk3CVT/WrFe1R/b4B6i9NCag8PAJICMvfLtR0p6ek7+03mKVH8VDfjQYyG
xy740Bnf0wA2Ut2eddUd/OgcNMM3VX1Nrb0BtOX6WvvpAlc1GBXULWpW1z8BqVtlnv2c601XU0c2
i8qFiv/X7f3cehBV0FoWnUMENuGCv7bSpmMSajULjfK/zTS4y8LsoI36T7i47jUrBy5tOFqQP2qD
9mSKboMG5u1fsOW2PIg8iqBzFw3I6x8gwxauVmmVeQVMT6gR3qU9mZG+SAlPO/f3lvPgs0jQIehJ
oLZ6MORc4WMNbeaFjYg4TGcJh7Sx5IPkT3vapZumfr8StDAoH62e3kZBrDcKu8VUDkGYQkTYNI8R
RYOdU79taPmCzKwCU1ytiUy2aiNj4Pspqh20r9FguO2eHOqWEbRr6EIyGgvufPXuKQLYrcIikBDk
wTz0hvxzqAsollt92vGG5eeund6iaEqZG3wfOtnX3uBnRSmWPhEERM4Ui16KaE+WZOOp1JZTrcgc
LQB3K4fX+t60xqrIvXruC/8+G9tWcny6cqdSmFr/LhQUcmXBR07GFZC+OPFQiXsU3RsbSiWadgUM
hIsk8OpHVEo81WHb516cvAcfdCw6GEvD8+2T9XusaLWZ6MogYiEB0AFTsrqoM0jrTdBtBQzr7mfr
0Nu/ettw3nmvnw+TndifOju290iEtmrfl0bX1RVIoTM1zjCaNLULVW8VnkfUMhFYPtTxXWs5Y4/I
6cFXz2UCPc29IOxRhG3EhRpMa2ShMK0xNL7a3L5IYb1VktxLalE/GlHoH+pSHe1s0A8UzMtjrdfG
cVbKvcL71quhqRJaIQoVW+iLVocxi8ZCDvmXx8tVfqvEdrjT0XxneLNAmrc1F4+S4lM5RaOtZZXu
DJY8OJEUZy+5LglOquTN8bYTbG0GwDao/aHGBSq6inZGIVbS0rAKrxIS86EuIINuiIvu5bIS74PK
Cg71wKgKDD7i+9uWt3xcZ1iBBqsBWfoa/yKGU59lZl56gjYf/RLhgtiZKvF028ryPKx9nJwK3CYb
Tva4uppEK5whsi0Kr/MPVfVN7s+fB+3v3XLolhmITAySfM48l9P1vSQW2dgUYs02lglfMUU3UhvF
u2FWnot+1lyKEHuI0Y2Lih4SUc6S3nBVrE4vwuhjlidF6bWDci/lzxJBVpsaT4UiuVp67k+itQd5
3zq8lzbXwOq8VNqy7enbtsMHM3iKxK+9+b5LmS2nKpcqz2oMZ4z8bo5UN8s/1gE4rr06+8YLsLTO
kBUgmyG9W9zqIoy1JJ8ZwrkvyatmRxi/NnvMKVshj06BSiSGZbD/zYSpmIpDklcDzenkDJBPtNyh
JGk89P2nIYU0uLOD9GOaHIbn2666EekwKU8sQNWKu39NdNtPOoAXheyxS+H9yNT2m5J0ipMYkWhn
pVm6t81t+Q8cxYjicPaAmq42EoBp0WXIfhFYdXNl65FYIlpehC8SQL8euHWV6PJd3ccVI7aCuBNr
bdw7BK3EdWioi8RbK+8tKGwbcSTQhLQaW2tCJ3mKk/RYK+dlUoOreGdzN9zGWKSMCO54UhkdunYb
xZ8SpF9q+pDdZ6lr7XhPwnhjQVRXkUpmvMtkkmsVmcSpnsn9zHGMFbU+B1MZ2oU2Tu8aJU08q5AD
NxPk4GRWgbHT4tq4SAEwQudBL2v51+o9G5RxaMx6Lj1Lgl+jt9rHvpugh/+DVi53DaJGsOMhHKKs
InE4DjtpmBLa/kyUM/BiB8rhtktuHT1gEhqQMy5RutOr16jPk6wAcFl5QS7cm1wy/dxCEOWaTJAF
ffE+NBpkBY3eHSrT9tv02Gb1znTjlqMggKdKyxJ5olc/gSG9wOoiwBrwsdJG+9h0v24vcs/Aahv7
xpwZaUsrr8kfRvHzWOzNgG41sBhWWCA+7CNBzio51UohVMCQV16eHhea1TvLd1W3aM7yUYMUtbLN
vf7JxvNnEEoRTjG7hsrKymIewnUQTUHlZX7vwYT5ZGQPvnooFHcsjv/99jEet5Cu4ChkHdcHOZtL
0SyLpvIKo5YOBXzdDlNzOz2arfUQmwCWNWD1hKP02oguJnLRlGrlqWXtdLPsivBf6E1sK/7wQka8
k6Qtf90qSCGFZ7QEVl6Tm3h1OdVDDH61L2qvSWl+BeO9AUGSwg1thzsL27or2DsSp6XM/KYNQ1FZ
JKtJai+JzeqgWtXzkHTwaUc7Tr61gbyf4oLaIYdaD3PP6dSNTafWBHfpcRBCTypPkObS5i/fi3vN
zI0TxSgqKcwiuYNWwOpE6WUdAg1PG0/3i0+zNTrQg+80PbZMEGUteP8lWdJWz1WSDdNAjxDsGDNr
dm748YFJ671Wx4YfMLTNLf4fgsk1Csnyuf9SCWCVXJsPvRHbwjze6Xrm9nvUXxuWfvPFkoRwlkh3
rh1coN+aKmXRehlIQDX62RafEGi2K+G/vk3BovG+o7ixMGeuoWKykJW52peFp8Nj9DyiAvM1qChv
3r4T3oYyWKG9CR6Hotwbzn4xkuMB+vzCy8P+UR3y3JV7X3KVoLXu/LgNoJk24aMbG+FgtpN1uG39
7V5y1RKTghPlwnjDHzDWbck8lVR4zVDm1G5j7UX1jdT1i5Ea2WjsTbxs3O/L3U55FaQHFc11oDjK
rWSFall6yhCUEgOUrQQBRWzaqSQYj2OTx88zHEe2WWe+7+iNr/+l96XU2/mg7SE53x50Pi43Pr8I
R+IzXDtSpGdDqPtkcZE0fdJ0/VERv6BI2cG3BSXbzu21kUBjDZV6dPboYhAmX1tbsNJDLROaJ1zQ
mds0ZfWFG0YbbLVP5ZexKKhtC8hsWG4uROpfJu0v+XEwBzl0hgTMfq/0QuUU42zs0Y1secHCbges
lSuc8vP1T2usPjOiSiw9VACn4KWNX+rIqYedWG9ru5nbAgsGiJtsdrXdcR1ocZ/5xHpNo5+noPBP
mh9JhzSJNVfwow9CXMk7NjdXRj2UI2yx8eukr5/EPFZjwom2Do8i07rww2T3RhWXqCs3324fprdh
9FJ8pWNP/EWgrqy+sJS1UPjLGGuKiblwzbGgwZsnZ0LFrEusAxXvncd36/IgXId+h8yLi3f14Rgu
GIgBuHSb5IMsfi2lQ2jcK4HdQgz2M9b37vi3LzALvDC3+oJD11hi52NuiNt3Ri2cR/0LqKLIvr2P
W46CtpK6dHYXFpflQbtIk9U4KCsjJ9/hj09DGhybcXoae/IDOfWYwv4Tc7z3pFfc829qah2CWF05
4f1mIp2iECz5bHW/ZsX8Lk4/Qvhbbq9u8wpcdNKWigu9j7UEHNICYo0oTunVj0nyd+fKzKi5yY+m
s03JkV5fb5vb+mY0dZc2C01dANbXm5kkndD0jVqC9YTdvwEdrwa2BTPobTNbB42RdZH5eAbSaD5e
mwkDv7KMbiL1SFUnb8TSnbTgyzirHwR1T1Z8AxUETTzscfpSQuLqXg7ihYNIjeGHQiJjjDqsbOTn
cCiOo+zMoh0pzqyR4pVHefpkWB/ERLUHjeBteBaNp2mPLHDLVRf939+gB0DYq2Xn7Vggz2VWHvoT
su410UNTfzSCsyYeb+/v5vNxaWkV9SRa6qOcZVRUfm3dcLpDYac/NIY4Q/sOjQO/s6PGnffmYDca
omw14gPUOsnLICm93uqonZOS8KHyZhF2L4q+kZDdIYB2J/qanVoSvdDxNS7T17ncq0q8kaTEjySw
5uQxNPCofqyuG5jFcj2N58rrAfiRXOSRW1dPbf0lQ5agiJ9S6b0mfxPLGTTGQ1LEbpcJ76ZuL+/Y
+MYERngazKZU19fvlhylFT0idj6bdFc6Zo7MnKekuDuB4MZB5RIHSaDzRi4YjOudNgpjTkNfqLxO
NjykvuxIfkjD7ONtP9o4p1dWVtcBLFyzHGUBdNVpeq/rDoqHNrWXQ5vvOOzmcihDsGG0tAl4rpcz
BEXEmFhVe2bfHUQTUYdSvmuV8eft9WyagdZeh1CZ4dp12iF0KNH7M+tJBcVya4qjTlKl7SmktrBz
xW08tkse8I+pxU8ubh1BLLU+SJizCHscIHnS4sAJY+FD1AqFDf2BnVS5w1Duzhu/vUK6kwa6FQvR
ybXZqDf8WtHi2rMIUtNz9MPfy0E3fQK8IR0UGMwAPlxb0PyCsLsKl4Q3tpmwOMBjeq/G1iEpdoLg
LUv0cRd6AMIk6tPXlroKpogprmsvAFkRpbqrJPdowxyr9tdtt9i6tyRm+hDfIKnijV1FRlYjycIY
QMsuFVIHd+xUH6Vymr/nmtye6kV5spTUhx7W2+OMbFEbFdLOed66Nhb45m+AA/CgZS8u3CXW566W
Bn6BkaSuniV2MX4MhGMkqMeq+4PDdmlr5Zq6kPld1vYctlOv/zKfjf777f3c+nALOdcyT0glev28
CzAf+n4y116evAbpSS2+gs30pdfbVpbL57qWRCdveWRUBs3AU62WEaRaOTSKVHtze4IgHdnz23//
RoAuAeFFbAb9aPQpVg+KbjWC3iYEKYoQZs8h6/ySCcW9GPN/lRkht9Cmol0V1R4v4dYZpjhCoE73
FATA6tYN+kYY9YFBsLQ7lNYXLXwxm3e317Z1O12aWB2tuk+7PNRE4oOUrkdugDmnG5tP71WrPYji
u1Q8yNXpts0tF19KceRycC5yBV+7eNdQcefPKo8T1Gu926tfYWyb+85R62CnGrN5oiGfI4gl3QEO
sjpPYh9ETDnrtVeX8je4n6Vjb5iBU6vogDDRJB0lJWmdIgty1EsBvKF1bO0keFvrXTiZljYJKex6
ns/K+mCMAyqDbXNfRtYjCcwHFG1PUiA9t3v8Dls+YxC36+C7MamvQsuYZkndR1HrhVJ64LXJmIbx
9wgKt871pZHV1R80OcBZOWy9NsptqJlm650wQLv7B/c+4lK0PjnaIFRWZqAesEK/KwnYrVF8gqsS
dnjjvokt1Q0LJd65ebcWBS0FaB5QMAuT1rVb+m3O1MdImR03qOw67lu7lerBTbXq7Ottu2Nu40PR
9Vz6cr/xLuuqPkJg9LJTv/HqtsX3dLNyaAUlIOhCYcfUVhZAk95iBnoh9CHZul6apPiJFdZd6xlh
WTJ48XcO244dBariTuNseS2TTUdzFtQz/EKQlMlZ/jyERn4Ms9AEB1v2O192Y/E0GtAWBO/DVq+l
q6vInBpjjBteOWBngQnZaefqyun2RbN1+GnQMP29VFbIRNbPuTxWXViHnaefrOreNw9R9dAaDY21
u6IojrIRcfLvbhvdcCNsQjVFnk7mteataQwjZlA47bzInk16zF5afNv5nhu7R10R7QfCSmysY4Tc
z0auGTiYlpCy096XkmLH3R5v/NZCLq2szkOTBpVSzzUsHjMUl5+61i2kdwOd8tv7tbUY4scFWkpW
zle69k15jP20zaPB04ufQ3gfSo7S/rhtYmMllI1p0y3eRqa0uhNryS9EeguDl81PcfRaAqv2E/lg
5d3htqE36g/knpTDQd9Qml8SslXU3UziOIQC4gNdDPx+CsvHuvpMYXwKXWXImI5k6IYytWKdi0x6
XxsPqvWlD5xOfp9332E/mPXnIkfklw9aq9Qp3qX5s96/6pHuRAMosTY563H1cvtXb20PsD/aSJYF
NHMNioPN1rBmXxo8I4rhunMrpnUa7TXSox2/3TaE0yIktlRyV4HUNKVlqhvd4DVldvLlh75S3gdR
8W4K0mTH1OI1q5gQWAL1Ww3xS0Na367jLI5jkiiDN52C+G7QtRNV1BiqpXp33vtteAgdK+cQYUeV
huY6nEHnYRzFGA4CdMzsgPeifYjdKPxRSX+Xwt+3P5X6ZlkQSMAvtnyqhahwdViU3gB6Gcnk4Yhu
jtzh4x75wNvjCM8h+CqT0iZl1LUz1HOlB022VKPTWnYpotmDGqXMRAw7/cW3kSeGIC+zDDoHnMzV
UuJm1gn+Yuojqd7aYtgAPzZPYqQzi5kt9Mre8Nwn6U48uLGBVIUWOjFaKUvv7Pq28UcjbeaJpFVS
q6e01r8iJr5zCWxUaoFzkD4yY8Qugqi4tjGKjaknESFnN86zm86S4RRG9qy3YepaFcySvRrVblLT
qZJDs3HHOXMgQNkbCNxa6m9ALWMwPIFr6sOuTEuzECmlFIl0SIT8oPo76d3GJ6TbTXmLmuoiEbTa
TBonfh82lLjKskSEBpK0LukpdNX+U6lKrRuY6t++DKZT3JsEeHu8CeVpjC0Lo7ixZqoRek2jzmfU
XhSkZ41XUA+fggW8lgSPivrh9qF7e22BvYOzBR0k2p0UVK6/p6yCiGZUtvcmwI13pZKr7v+R9ma7
cSNN1+4VEeA8nJI1SaWyLVvydEJ0227O88yr/59Ub3ytoogi9O6GgT4w4KhMZkbGsGIt1UbVJWzb
6c7SCvndvgt7sH8IjCOhy5IbTu3CQsl66LOmoj2BGftW+mrnSg3sGPrU3+uJfri9wLce7Nrg4tWq
kykLSrXqP+SOdVKZ2QqrnQW6auaEJr56ZJrseNviYkt57MHAkdCSUENh8SZLUfRAG0a7KS5VrFgu
MMD8zhhS29OVeD6ncL9u3MmFV3uxRyWY+RjUvHmbxV15VVUJlcE2fLkoLxYTfjrN04gCf2X9vL2q
JZjrxQyktcxuipIvWL9rM5be2CmNQ8zEzKZY3Jx7xe+gVo/L0putQfvVTmnyuR8CyEemyTr7ig6N
Zz4MiP/42YaHXVwS8WsAC4GqhEaXqGdZGnZK+pUR3OgXSZ+agzJHz7kVP5kG5CvovOp3kl8P799n
nltQAXTE2OdlxSLPGoghNa25aJxgho+l8L4dwoEwZw43jtASy/+yPF5AqsQGs45kN9ebrRcZlOSz
2l6kUEmsw2Q4PtjbjgFWJ4kkgvzITCqAlnX9LSyS3t5LSpl3UKtJwS/fSIzvXdNLj0k31TCMd3Pt
u6Y955oLJUhR7+s6ZVQ5yHM5dJkwLjfqLstm1MuvN7kASJ5CskjF4/rXMwHI81TZzaVW0nJwkyCu
ToE1Z5DUWkJFsB8k+hNBfmg6uCETaZT/AvLYqm7YVdJBquL8kMtSdx9HTvNV98t515d+vfE5lwnU
y68UfRTQ6vQx3lSgkmQOpzC3mosFrwfEF3H92EgB4DB4yLzATquD1HSpZ5ihQ5vHlNzAhpzs9q16
uTWvYjl+hEiSqWe8TNGSWl1vVTH5pRVQDLvMfmIru0z1jWCnjrMYEPatkTyriJqv3G+/O4SADbtD
DTa0dfNpDP4eel8DYDa0FZGZ0lcf7WwyvNow4ntIWfKAfok9leSgY567dhia+d/RNPatl6e5T57Q
B9qTgdY2FBwok837dOz8Br6wUX66vcy3LkoBN4TID7y7AhG6KHbU0TyZyTBBsKsqxT6vG4WxZFKH
3nA2y9wi0F7uKO8K8TEemO7HYke7SiSpsowtqbd2fpCqmtc2SKdJjg9NcuD7z6NVAKGUwulUax0X
QZ1/pBpTKrcXLQwtfwjeAgIXQ9TmlgDboEARTzI4X4U1OnsItZ58M01O+RBR6ondyIyb9z2uL4eJ
gjSzrhBC8ZYvvIbV6Ead6HN7MWcELhGcLXbtrKNn15nBnnM2HIHCtXe3l7kIlP41Cs6R5MCECWJZ
h4j6wGZ4SmkveR/Vj7QNI2iN8mJnQb26Jxpsjp0S6sdwQk/En813qor/ax5oP/dYzKcukREyFEpZ
1/G5zdKsPd3Ihh+5Xylu6Oi/k6zJ7kxdarykr1WP2uwW2mTZkBXmaacQq/EiCjT6Iu0zZNrdti/1
F1Nuoi+p2ZQkt4jcVvZoHqMqj/baGE37sSs6LyB6PzRtJXmEOZ81gD9eW6nVrsiH4JvVt1vduUXo
8/LbyNRBoQLZU6nPXvsWuRsZzVKG8hIEVB7slimOXrc8shPFrSjcPdo00j6VqaN5t4/EynWn9yhy
OUhYCAQWV5BeUtnTGqwvfZwno1sHDcOejmR28tHXufgbJ/BtwMU8kIaUKREXza1lwDxbXTjEzJFA
361Wj6nOzJduNggrGiXTHUlpRN9ur09EVIubzZgFnlGoldAkXMSUURCH8Rw59UVS4/kgiYNH7Xur
W7a6LFE8otZC3XY5/EzTZgCGFjSXbvTNzGuVXqsTj7JVKX2K/HQm0pN8lB42ssgVs7TcTWwyyQGb
zCKcNKMZDKBYnDr9RM56JwH+ziR4fIJ2I8VaOZ+EUYgaU7pVRcn0+nxapeLUZJPNpWrrXZsanmW2
e3MCtABeq7SKY5NvsQGsRLEEJVQYaMIwpEbx5NpmOdR50nddf8EzOd8CI/02mmmxL9PM2IVGMu2d
UUu9nrDVTWKp8KiH0RiNdKN0x97fol5cOUhCdhy/xf8EVuj614xxUfpNDl8/47z653AM5kPaN1vV
+BUPTWkQbk4Fjked+e9rK7Dpy1UUqf0l0bOPneMfEkveTRLsRPNdUUMpZmlPgx5uROgr54iqEZPK
IDzZ7aVjHpU5z62h7i910EH7DSBHabOfchOeKv10+z6uhMuMRgjeMrSCeWuXHIhZQRbe+EZ/kZU2
+qL5UmeeEOjuHS9u/fijGXf558S3S8cNNfz0Ti4bcKNtXWW/tUBPDoNcoLDFM/YxKKPxE8XvH1XS
KCdi3OauTiTlU6+FxoaXXNsgoWciSqmEB8vWawA+rBvLYLi0TMUMhtODOun/0saq9Mo6Pd7eopW7
RqWTqQTGEWgjL31kaQ5aVufinRrr3pvq2XLTNP3dBurPsG93TQkoU2+34r41q1BEMY5Kgdog478+
eXFndlZXRsOlNo0vTfYwV7/69Jj4xCHt3pDDjamwlYOOzxIlt5eJv2VSaA9xKY1tMVya3jyNgQW1
6NccXtYy2Ttafsx/+wgw3d7XZftJPLJC5lG8dzRhKftdL9GemPiBI3y4WKiEumU22Xd9avaHgJfj
2OpyDxN0VJyCaEp2mWF/J85s9wq1TjdzwqMx2Vtz4CvHSjyCuDnx5w16XgksP4izZrgM1HHO8KO2
x4nK9BE9VRXN5nlrgmfNHoSugDq4f7yJ4gy8Kj/M3ahIHc/8RdHnXQFK3uXm/RVoxXdi0fb9dwZ0
I9EMJTkBPFscqAzdLnOO6/HSBfGPihKOM/9TGtNzYFYbMOkXIqrFI0/tDUwqTSgy/iUBY8wjFMtO
1F0mU52e4NN87pr4BxLr5U5GYPAcqKmzC2vNemJOpfDSoak/BtKc7C05ikLXiYw4c6cy/2N25lQx
s+CUXxoWdvCp4LphjBB8XCTjEfYU9TBQddi48ct+DSeTN44mnZgsIAtZxg9NISH80yTDJdatGMYB
qUvvSB3sL0GgHZK+j09B1taPaWQHp9CCoFlRQZ0PZk6mG2XWoQy1EbpLU9u1dE2OqKY6h84x2lOB
pJhbJkp70CXTd+XU/hxmsbQLnY48h0k2L8ML7ZIyvY/6HvRp327xYKx8HSS66LWgpiJGn5YY3pF5
LnRW2+FSJV25A1gUfYn7JniK6Lnth6GvMzdEL4DR4slrZ2045NY07tUJNc++G+Y9Oh+dOzZ9ew+F
NkqEOCivpsF1dIzAPOaT4bu5jCJAoVXyPu4KfeMgv335+f2CuFuQbOCzRAj96tbUspp0vmEMF38u
fcZXpRKWJmuLLPDt3cQKASSPPm7ReXFer6zYzJTLSY4v0Fup3eWJMj8EajEcUkvud9bYbYlgvPX3
lOMBuIgaIeHMcj5IMRutQZFovJhZr3qJbQ0PEFjNrh5q/d5KinCHqmrxYUiNLRrGNcuwTVFFAUYO
vmwRSSU9HMl+iRdqxtI/RmrwHM9Qtg69AQO0rE4Pbasdy2bcqme/fXJouCDCYTFHZqkMfF9/RzPr
TMke6vnSt0cisB0MQeOjYTYI1hyn0mu2WNBE6nTtlYQ9+EleCpGGLf7+1Re1aCqhHxfNl6EcjmoU
uZqCmmrwWCm6N+db9B6rq6MDgooxIQqv3LW1qRMbbnTzBXYHdFOcChyHI2ncdMNxlcn6IAGg3E2V
qDqZ5rxxR1ZOL4V0BpFEdk0ZcbHWkdoMYET2dlAP03iHxnxf/3yn2Ijwkhghy2LUG4KpJYyvLbW0
yCcYM2ul/dkgzhSlPwfzT9hbG5HCypfDkAMFGQT54BoWgQKDa5YyyM18YdwnrD/K8Qeje5aTyYMh
bCMmEQH94pDQpGMx7L7A54q/f3VIwtGXTDl1pktQk7to4I33UbiLE6+hCKF77be2Td1aBRhp7DZM
i3u2NE3vFkg4p0bMCV6b9v2ib9Vgni90WnuPMl07eLxB9oHTYpydMaxcyYgozhlhtpssCJLCqt/S
elh2KV8+KqOQYF3ZA2LrRZiQ6l09Nha/Ild32jf/icrHznTVne16IJRvL3ntu762tciXg6YL7UrH
FpJbOz11Z6o6yr2Rhh5vzMaXXfFypMmUiahtch+WFI+zMqrjWOjyhbrLAw0AeyCuM/i/Bulf+10t
642I+m0lh7oKvk1AvAmql+Aqau9jkVSTcomM9E4ia3jKCmSyylzaAmu+3UYs2aRx9CIF5HVxcMwy
LJtm8JVLA5Wt+mhXv3vzHkodl0H0jV1cWxTOmpohUR2tnEXEqtZabTlppF5ye0DJqLZD17Al7dCV
rfTj9uF4+8xrjDG/PIW0GZQlL0ZbKbUVGJN2ifu83NPt6bxxtrcW9NZRgjOjtk7AJy79cipktPI8
kwdZvXS9/kVFe0OuHTcyZq9OtzQHxWe4vt+YwqUwp0WWBRz4+n6TWZjmFFnqBRa1T5q8U+QHlOcO
wSQfIVo41lRtmHZ/X0nqhboRfDw5jRgLhvfn2uisOnnTjxYqMfGXVt5p2s84uo+fb3+qxcoWRogj
ro0AnDTDUkIYEk0daokaLFaquY/HP0ownCQtdtNxa8j0DQGP4KQ0ASXxilKlVZaF0tjPQ5plPsK2
49NgfJK0eufUtQv44KDNsUsUPbphbZV7o9AsL2y9LK/2pZ2Dtd1kvF8con/XzwtIPEpA+gZV5Eux
krQNvyXKIredo0vxotnUEsZ1GxdwcSvemBI/5dX7VE5Q4DL9ibyQHB4buXabzexn4U7+NQH5Di8u
xWEe+WsTk1OGgzmiJUm/FiAK0waZWxGhpBFj+FvTd6vGEE+hEw01Lepv18Ycu+ultsRY3YRfR/O+
1euDFHRHKbmzy26rhrlwX/8uDept5mqJAqEEubYG12DfAnlNUK9+9K3Eq/P7dN4q4a9+IgdZGKYb
WJaziPxgCWsSw4qSh6yVfhqxNX2SrWyrXrN25FiOQilbwBeX/DBhGFVGAjHbgzznbpxdECdo3T4I
EWPr3veQvWwa7xg+i8I2uZD4hK+OXAMIsIxjdBB1UAte/rP4dtt7rB2B1//+4k0ZjKyU4qFKHixl
J8/aMU/DnZ1O9yUCwkMaH25bWzsCdBapTcA8x6oWX8ep0t7IO3zVyKxaVsyuFjuQIG/xwCxb5P/f
rv1nZ3HUcnkKpERBxipNH5KicUO59azmWxVEruJnB8Wu3bH80yRbjnH1YBAro0pPWY3u+PXX6tM0
K9sQX5T3983QECN+C7Pf6bwFi1875dZ/dpbdgLqXitYIcER59rGOPjbh/n/4ThT3ScAZ8n9Dhmwn
FOOaCDXTSrmUSb130vvQ2ULArx69V0YWR7sHABKpFVc1yXd+8jt00i9KYtLHl+6HVt4qi60evVfW
FgfdzwD0dNB8P9TTIYfbKzQaAB6e8qNsjmahPkyz/TGVv5gCQwHYqtW9pqnuSkb9Q3UXBT+z+jHr
7izbEzJd6We5cDvZat2xMj7f3vu19xz0jOh7EnqB97w+Q1Gu+GYD0cFDntJ7/Kma0t5of0uD5UrS
HaWhIHm8bXB1Z14ZXOyMPVDoNbsEb1aj0OKUuxisSz5tTBesfu1XVhZXwwptUCEyVtruTx7keyk5
yc6TEe9A2uxuL2j1dgDGJ9mgygeb5PUOauEUSeOEe6ZN/MtJTn0z/rptYX3L/rMgfsErrxz7o9La
FXqtQ0kPrs7ineaX9Gyg57ttaNWhELQKvjPBbSJ+yCtDYdbYUaOi8uvEP320npPhfvCRptu4HS94
6Ffh8b8O85Ud8Tte2ZGLaAgMiWcGdfGxH7y8P4/R2R6qY1n3+yn1/PTvUH3uutybxrNDb96Kg8e2
bE4AelC1bzY2ePW0vPo9i0tQV9SkWpMNHndWGJ8Gw/pSAB+rqu4YtNFWHrL6OUlQKdoAqSKsvV49
IAvflPqCK+ekblnd1/3sbgqEiWv0ZotBTVFjAL31Zvg310pnmMc5eTCs4XsV6o9a1BwKVFOLXVeZ
h9hCE+T24Vk2jV++KuOqjL1QHwettbjZcyLmVHpMBrbmDdKpz+796rtkdZ5Rnc2i2Ol659kNUYtn
Wj9uG187uYRhYsQHmOOb3KcYnCmT0hzbiH/M/Z1TtAhldl4ud/9DlvWfpTcJkMDJSLXM11Pm6j7M
pYNdPw6O8YnMxf3/s6Y3nU/EfVu6SVhymCfQnOljGoB0zDpPjpL3zoqLFOv1qhZn0kmSLAqlFEFx
NIcG6Wdtfxrzv/6H9YD/ActAm4Vy8vW5R6YzLLKMW9YOR10Pz2A2EkSW0nkL4PUCr18eflh0/s/S
wiUbCOEEstpznycAxdHouIW1hw9QqmECbMzfwTBd0rE+Oln2aYpVL7PyRystPoFX2SuzfGr+AtL4
nMT0JwMFgXXrmAw/wmE+TXLjuKk+Qojdzi4aQ6SAMIje3qf1i0QfgooIJVCKPdcbBSQxzbqIn58P
83NsaG4XHevpl2KHgHW8RkrOnaF/MDL7HAbMTSjahn9evUzMrtGtFVSwS7QlIKxyUHWLywSh4lGJ
bfOuB2r7VZuZ2K2lckuSZc0him4EJS3oFJlAul4vNe0xBq3A4UubZqfLnXloc9QuhrJSTxt7u6i8
/uukKKGhjkRdBmaEa1u9OWlaLGGr8D/1UnmcLbvwirT8gmLFvWxPz3ZQ702/P2jZVu1uLVBgevz/
TC9OZRu2YzlVSvKQKk7hWUZvQfutbuljr24muqsMPAqc4TKgU+cwJtZDYd0oK3GTu/ayrV2/dkKo
GIAlE9NVb/hCZ18mHqGj/1Dn7d1s5XdhUp8SFJLgN7E2EDJr2yamZOlb0X1g2uT6ixWJ1kDqJJHI
q8kXC6FsWCq3mJzWNu21jcUJVFspN8NBrCdovGgEa5LvNmPS1U0ToRXwIlhxlhOvdpWpmZE6eKV2
PKTBzxJx+DDqDnG89XKsbtkrSwsHMjl8CsO3saT9YwNqlvt/bl+j1f16ZWARMJWV7icwN3Fj5SPl
ODeJZG8zhNnar0U80YVW7DO/xXshXeATvrPry9QfVPm9hDPi7RMcRVTvmdZleOP6gBkDYp/oK/DO
1o+IA7r19Lwp9776RV7ZWOQjfmAnUwr11EMuPfdN5OEMNl6N1d2yTAMtCnAM0FterwI8XFrbWZI+
VEmxr5v22GqPVdLuA3MrS1iieYUPJdcBUUAVlPmSpXiRbqpBlTsdLqaJBlcNCehQnht2itE7itup
QXLuA1/2wrSWdrrfftcm/9KlcX02+iTaFbKU7S1wmbUtme8/mFc/bXEwLWkcYwSayS772hvG+zY1
3cHeSGHXN4A+ryKqfsxZL1ySFPRZN3ZS/CArwS4o9FMcPDOsUQHILPyv9eSa471k9a4elF5kUl84
x4PshuoWydbKNXxhuAIzBmsBocL1N48spZetgioDlHqHVto7ieppW6KnW0YWL+aUM8MnVOEfUKug
TTrtIxBcgDA2XuaV84uoMAJDzD/wLOuLL5eGY0SMkOHmY2vXga4Jxx1s7Xst29q1NUuOKuA+OjrG
4Gqvd83PjKaG+IYzYln7Sgp3YVceFOtsDFuRnPjNizgU9DMUJwzJ2ixr4VkCw9JAlJBPUxGPdmqr
31t5X8Bd2vygGFZ4fVQG+3d75iuTCzfglCZkkgrViEkwFfnT51SPd0H8TtT1iwsQ4jqgZeHk1JZh
VFIrQT4rE19rgNSs78PuVPWnsPsIyfcWCGjtAJJT4mjImClKiO/5qlrgTwP88TH+WZ+e21NqPG31
tFacMxhAAlB6xVCjLgdClBwKHKMN0oeU2R8XoifDG516Kz9eWcaVlcUBl1PERZQ8SomZDiPzNAlu
k7GIjfR01Qpfhdkx6JZgjb3eLKOqK0WZ4xSOJcqK8+eqvtht9en2IRPndnGuBdzl/4wslqKmISLZ
QcZbU1jDfh6SL/JQgwyPWxsQeJHuW6mzd/Ecb2SQ64sTEFJidxiWFxF0HHbd3DtU2WVlBJ5cNfui
HYad1b0/AWJ9/9lZeIhUcpgc7NnEvIxPTv41tAbXKUbP6jec3oqDwBBTC7g+MQq/uK1DDSQiYs7w
AYrvk5+1OAn9g5qqp15SFHdKwrvbH251A2HJF/18KiXLRrvmdHVo1Xn60GbqgcQY/b1/mtTaOB5r
9T2G2IDRC7ArEfvC76VlOKtpw7KGEYm/RIFXNk1BtskX5jTdqfM/DPbfQ2x9D1pgIPN9CBI4iVM3
eUKJR2rKZzvfWvmK07/6SYudNpzQ8KmfpA9jve9JiZL8JN6xvttC1ax+0v/WvqS1V4renqa+SR96
JugQdFKagXJXgYLzIYN0/vb3XCsVIEUOnhior4jHF9c9VBtASnBqPBST1H7tsjS+qwYl9HrmnVCM
zPJHu7QRldaCfj/HqPTYivqXPujxY9Xnzvfbv2b1dJnMqBBPC/r7xbUxMyUt4pnTxUzJkyRXPECM
UORJsLttZzk5K14fkkGwHC/qC0Adrp2czcjv7EjssT+nTKCgWY3jMXKG48vHWvUPctwwQtUde13z
fBmR9n8ymsDJlyR9HMONw7626Fe/ZTnYp80wVEBOnj7EDVkdsAT0Q/dFthFyrp2q11YWkR68NkjB
53xnOfkGaaSuuz1iCcaPra75Gtbi9dYugX7FmIXU5isamS5ikm19/FM23qS6WupOX+AP7/zdP/6G
W1+7m68Xt3DrTI9kjWbjLuRS22d0ATIUlarsmQbnRpK0el+AOwhQAG4Xtpbrk9PGphMgAMrtrB6t
ZkfPFIc0M6Mf36nNLpS+SNY+Uby4/7JxZFfqTiQM/xleRNGlNvCeRgP7OvoHqb8fuj1aNcV4YPBA
NARlynzoPW/clNXD+crqYmfLrk6D0O5wD7GJeGzjwsW4nQ+tWoH9BoJv0KFwVlxvKmQxU9PPnBnG
JnZBY7vO8CwNj7d3cPUG0OgGCgQYHADOtZG+qaWaKbj0oVN+hlp9ZMaPfIQpP3dMpa1jIn7xMsBh
5oghICG3SFfv2hhcJ8zy6Xn2YOvdvlUV6IPGE2NnrfnFke/8od8H1d6ofsZbQ2hrW4ngKLkcojIC
vHhtOCJ+D6yIGSDgr0NA621A4GDLyNpWCgsWoAEBKFkYMWolMxvLyR5qy/zdDfJTU/aHMVOfSvBb
Y7QVkorX/mozcdSgt1AepB8F++HijZpGKs1SHIxnC5qAaC9BwBgS/zbKOdD0Y9Bsiaeu2WNpPDIM
eFNqWzxDdtam8TiMw1ntnOJXbkW1h8tDr53e3qHPjb/EeMepYMDXu31El4BaYGFiios1CjgogzeL
lcqV6Y+1PAzntjPjT5kRJp/HxPwW6bNzypPko6xVv7tWVh+0PO4fQmb17pi4UjdO75vPy6/At2kg
N7ku5NTXZ2jIm6lrpXA8Z51GPfZnngvC7erolGeZRv/tNb/x3WIuFY4jUmmIgEHcXhureyMpg8Ti
444ftD7eJ7pxARBzinJzI7N5++rz7itgFYCpkXS+qdOleRAmk4Wp9rt+P1wkz/Ki5+A5ueif4g/S
ff1c/N38PX1+9/owSsWWGgsV4jfPO2I0WW3Z43kC7zcNhefYyV5FpCjb5Ghc2UqSAEa2eJu4/Ms8
d5rhrSiydjqPCUOO1X3ahnANX/Lk6+0liU+yuI9CaUzwQTEvBezv+pNZWWEiGN1NZzX+FlTf4y3s
xdo1YFwZ+CWuE07epfd0aK1lWmJPZ7gdDpL1NVZyTwiLxkX+YKf5LsyJ8kvLm9Xvg2kf37861DVF
AEqFh6T+enWa3M1pETnjmWRf9VqGt7wsrbbkVFe+1cvcN60PUZNYhrrtqER10gJOaGRjb7Yyuify
pWgYJGB8dOM+r/gzQfLIuAA0MRr13esVqeqczxXCz+fCLPtd25sVRC9DvcsLNfs7QijxoeBznAii
5P3tvXzzGoGipyhOYiEEoMAIXVsOZyuapswYz2XKbLLSiuNYmRvJ9qoRweEDWRqv+7LwJ2tSoaRq
OJ3lxHebyvAwoqp/3V7J6veC05tsm8eIaa/rlUxKK6MrGU3nLv2TJK2rkJw4g2dvbNiK66Uo9iLi
IlAIy0oSgod63VXydE7NX5Z0MOiKwZavO5Fn91swEnGQF9eYqyXSLGjKgZGIfX1VFjM0qfWjNprP
NBaOWRk89XN2P2n/xLLqqaqnMIlpjhtB2Nq3gnAJdBAumIB1sY3jkEsVPwUXbMaurz/mNnx2wBxv
f6y1XcTdMg9Akww10sUVdsAchcjYT+cSgEwi7ctG+5NO5YeutM5DukXWt+IORVtRTIDaVIOX/AqF
rNd1UjOqmkdd/cfOUubwweXZ739ITLhm4BDHu/PVRMj56nM1Y2oWsW5M5yhs9F3JbN5jrRkaBId4
+0Jp1Q0msjWvAdMzc7liGICpimt7WqsPjm9p81nJs5NcnrVQ+tXXbm0lh6aaD40RbUQ/K+eRWEBU
5ZAcZZULN9XEnWMlKCafZ6bWQ2Xe5wkQKu2r2RwzdT/qO7pTGyZXbjUmofhkzJkh5CXZWtvFjZTF
mAyr8NA62R7Z7Lz6o1Ube7lyIJnmUBgYZ0iUR21x1abZoogFL8vZb5TS9adY/wlHV3gozdA+Sqme
fpRnf4sjfeUDijYIsGWgOZSmF8/0ZBpRk1vqfI5GSN+7g5+eE8VwHeRTijF0s/x0+9atbeZre4sD
U5KD60bOgUEbJkNyat8e462nbG0jX9tQrw8l9K927Rf6fO6NOyt9HNph76hHM72U7RaVw4qrAgUh
+jsgwBnuW7iq3DCsvJiy6QyO6ig1oIqzfl8P/od37xopFN5QwN6wtti1dqzafNLL6TyNClOEfv04
ikno/tyWW73NlQ9kwyAP0Sw4XQLuxSnMkqSO8iznDSu9pE2eJT2TIbdjXs8INqL6tc17bWpxlwtr
UrVOwVRqfFbg5+Zl8ecNh7hyFsDr0YaDxlMAFBc2IH6Q5TYep7PZFZDLftR/dT14CMstt+qFKx4e
107DAEeBiIi+OHUZK4C0Btfrl5orgTBV5z+3T8HbEQBSRoIz1Ht5tAT+8fpgS22oKqOusJigfCyi
T35wstunUr6rBzS0q9CNrPtkizdk7SsxFIXv49zhcBfvJGdyRttU5UkxpMmVovmkaUnkBkH3eHt5
q4aYkAeNxgl8c5diLdYCuBdejgN8LLu4JpPfZIJb30Skql+SV+wsrqxtDvVkSnwnVFZg3vkn8f8a
DtHH3OvueunDtIWSWXGwYqr5pZUkXuWFuTagIGdB9XEG4bALZMCqmSsl1jFW7+tpug81aX97G1cu
MAYFW5QsBM/thUHYRxm2h0PmrI8GYNyieI5CABM+GIsDNJa/bltbcq6IUEYQqkP2RSDK11uYc9Qg
tBCknc9VpQ/3mjUk7kjX0LOSYTiVjEy5k47iR1SH9jmJRu2kyRFc41Zq1oyTOu05yeYtJriVq0jr
nSAI2DNqPsupLFWZpUltW4KtLpSJUR2okKuydm8vfeW8YoUTBPGFaBwvbiPl4zwIqm4+D/fy4/R7
a754JdJBxZ0ipCBQJJ0Qnu1VKNfKdqDLBZRiim8da5+5os92+iu1krvBRwYmCdrkThuLp9uLWvGX
EMURgSA6LWb9F7dd6nAlpjWxdebowoe166fPWc5T0My7bv77trG1HP61tWUba6g7SI/znrN6b32v
vkKxmR/s3fTd7rziTt2ytrqj1HT4g5PBk17vqD9WnOGGHa2t9oxs3IkJwlPlm09T9ytNPxr+M1NN
F62Bk3hXlWfIRtQhfqgygr7Ay4zPmRzKp0hLNs7R2oWldImEL4kWZS5xml996HA2ZyZqOUea9llX
L/EQu/r8Ic62li+Wd53KQfzJwAXvkwwK1lCv7QR2rQGAxROZw7PufLHo2Vfppaj/MZT2axzpnu18
9M17yX9/Dolh2nWClhHC9yX5TZDNXWIZFV+5+buCWisgvLV7zzT+1D9DA26YrVm5tx8aEAcBDK8k
lIdvJkwm2RzTpKoJMuX8Az6SBmzHFywfOpVxi+EuLhUhtzJtJApvHYIwKxAkIhCgK329wYMzD7nV
4grN9JukHVvnyxxtuNu3r4mAp7wQSpCzvhmdrLuU+bIQE0W+n6ZoNw2aqztfnWkGflkc/HfjfGHl
E61WhhspcsGscr2kDhZ7ydBxB3KqqqdCp/NLBhP+VMpoo0Dztp3/YgqaSorJMsXJRaTWTrM+8pTM
5/JXXuXHTOp2nd481O3otlW4G3pSyiBnwCo8j80HeHYfs/nB1FOv6IKedv/g6amy8UXXDhIH1ua+
AMLjv+vlJxSTlDDjLVWyH8ycuNOhoyeqnprgoaXQ+O54mLyWKwoKXcBeliXTOahsMzbl+exDyyP9
w4BitwUqfPsyXptYLIj2S+0nusImD9/6+W/t/fkQw0BM5dCCFFJiS+nTFkaCvBK5Mgj0A1p+XL2w
+yptylWv3QM6nThNSpaMyC98Wdsxkp0EETk56Gbz2IEzuSvrD+MxMB9vv1FvH0RW9MqSdn0EZtvC
l1ZYUkNIwpTu4DgRggPaeQrCne9sHLitdS3eAp3qoTL1WIul+z9q6wWaZ0z7UjreXtSapxIkgDBS
wXdIC/B6UfVkZEZri2OQxzs/LXcl7b9x8jdW87YRzp0GNUCPiEdXNFSv7YzwzhLDUF2QcBlm5A5a
58bhlLtwz+yG8Hfu1F+Usfw4JMFRk9wmcjbe1pXw9PoXLA48dzf3CWd4Ctr4IIXNg/CaTuDcT8mB
LCaV269pVB4if6ciY9Z6o7wFOV3da8EEzUsE5+MyA/W7Rh/g4cGFIuEM1qAwHqT2vRP1Yp+h+SKM
oApHG/R6nw2pT8u2p+JhDn/l82dmnjYL6GueQ7C0kNjy7DBhcm1ikPO25Z0gStn1p/r59nl8GwLx
+1/944tjn+kqfP42/3gr3SfF5zK8zCbzmvvbVlavMpA0SmzEQBQErpegBrQry8gntq1PfuEZ0nko
3Lj2uuFw29Das0H+yjcX87pAcq8NyZPlK22JIfo6qAbMH1M/+QOHwFdNPfl+/6SS3btWsVE/XDto
lDm41vgr0S+6thpLaZ8MciKfy6TxYkGI/DEHH/8/LO2VkcUeGnIMjsaI5fPYO1/LAJ3nsT9ATeCV
turZiF3VlnVAXm7DYa35RfI40bkEc8rqrtcWTTA7FUOFv6+fTOuTWXWupn9kZ+OYfKH+dnuRazsp
eAxJaml6QBlwbU1Ny4nDijWnHb+jQ3CWxuYBJs2722bWTv1rM4tF5U7YVlVYyuco3xu9l8XnOKee
/fW2lbXDCFDgZYqCt3LpgwMnEfIvtXwOTqnyAcVBczr0e1/a5cdgi+1sdeNEuiq0sWGOWqxoqnSz
GlSeL0OldhwGeyX+5vC83F7R6r6BC0fXXBARLZElTpdXDaMR8tmOThNTWr320aLT1icbVde11UBX
AwkP5SIooRevV+3DOlo3PcEMTkIPc1dhw5T47/ev5rWVxWGrcy1DPHCQz8Nj1/xRrO/SdFTfPbfD
A0FkTV5PJRQK6MW1jYBv9mkhy+dJvZ+mYyt7fvf/SLuy3bhxbftFAjRLfJVUsyfZceLkRXASR7Oo
kRq+/i76nJNU0UIRyW0EDTSCri2Sm5t7XGuXDpINWzOwUDDUZTCzhyIo39CzSFbB6dfzbKiYHL2r
sAZz6Pwp9gmbN/LKJP9kIZwF4g7ai/BvoAWKxdZq0pHgmhR2Wha4zP2UZ15WtdPT9dN5/+aPYqBt
eLp524Swc/h2tc3miJ2a8tQ4L2O1jeipqm9c/auifW6bIMqO85v5AHbSsjqlgPoo5hv3KVWOyZ5i
MCn3It/8bgxBV0hemZVMpoa1//k0YbvVuevIhCnSE31lhyJ4XHbz9qt6Y329vgVrPtSFHH4fz441
y0kVuQnk9EAqAAJknHkGOCXIpjIOoFMjX8c8NI198iy1J++Oy7XdF17SHEdvgFmFnVp6SNWDEe2s
CqlnTweqX7cvsy9m6msvSgJup2gblX76iSoP9RZQNa1SeORxsZFtjW/y/WJudPLW67vWvgGKZYz/
mXr6NnnOHuvYq/pm3ynHysXw9uJFlcRgvUNaXFsGf97OdhDYq6w1GGGnDnPv6bHNnl1w5erjc6/Z
Xo5Ki+N4GfJNQ7JdRj+Z3+htV9JtrDym2S5HB3lGD+70YtXJwTxZ8YvWPFRVYJmV19cmJuJA/pb7
1uBV7nOm/OpGsM0AVSKTvP3vFchry+BPzdky7GRySAPa8pNZPaA4ONXBYtieHe85+MziMZ8+Jz9K
rz04UbDAXg6Vl99b1LdxCg3otvwy2acAKvXz+MvsBowcepYEefaZqn5jn/r7NJwO8VHfmEB4I8MG
m+bhWNqjVj7RLX1QJl+f78GVQcIye86Vu0nd1d74NH1uNDBt3bM7Gzzmujdh7A/NrtE9KQOg3ZBE
shEreUvcPHQ2cThGJHvEMLeeXaWbkHI4ATELLX9z2W3stlkOZUNj350q/ZTRovRiw74v5nL8VHZD
BtTpWTZo/g77cnkiOtgvMFWKqiAf7xDuh1awZmBjOp4WqAt6MH3NYp8Y8t3IrPpL25/ct8YxvRaN
FLTRNgWxN4Z6IPO3HKCx2WhsJsubkWPpPaVIgZudb4AxtufJ3iLJvQZs44Pi97vBbvcuz+xjTtYt
T31n71Vb4r5K1yJcEn2gelMTkHghCAA/jfNi7RVcC3pvnOJ8M8UuenA307QnQ5CWgNpKkC1GaZIe
cu0+uzccz1T26SZlO5r7kR4w+pNuwfNqgVIhpIOH58Kz/tqDw/aj+wzODooteIwuL0RSUzYadjme
vpmHB+Phr+3u5a8LG5IaCYLKAr8e9SCxUdttCRR7F33r1OfVDEW7I2zZ9HP5dTBuujpG0JTIcrfv
g+8fNAzTNeDMRUAD//tyiW7WZmo5ZCM6SuZ7RVUegAfm0TF5oLl1rFJQ9uotmpdhxoA2H82g7Gr8
KCp2VCePg7s8JWz+gfzdbdK6lQdCjVvWRHtUbR6juMSh+qlmBDFmF5UtmbR9tYyb3tga7skZHscK
7dCO7ceK5P5+dCCxsegEwwwj6Ko/NJHUqsHKwq3GUwtYeNJkAQWJXNRtItQ8rp+hiI2O8tilKEFD
6lYzmzZuR/gO9mMbVxjaRc8KtUOggjwbVhoUlYK+bydQjfmWjcULy+ugeuyTt6Lrgd5f7JmreoPx
OrZHozR93Zp2ermXfOVHXwpfyTsM4OSgMCpydkQxc2mXLOMpLlIw3ClsW1VaF5SxbQeV0mc3VInu
0DMOm5+bm0EBp31vsixQupl4TVFp/tIpJi7eMGwbNJRsTcBQ3CRxBfAJ8J2BDhso+3NZIs+y2AgZ
e3vb6Wb/eH0Z741hH3QVvjS66Tn+tyu8Txh8ACwG6cYTBeijowP0EaQenkKtg7mA+8E6uO5uml9N
xSfJbUOyrUu8Shu3rjYfangyY/6qN4vk8edChY/iFMQWhrg5ou4HVk+0x/KtHU+jGz1WZNfTUIvN
7dCVe7SlNuyULL3EM1w5TojEHCgvTcJlFcKwqcG8MclViMxbf8mOgI/8l0UZ3DyhoQ2xhXFpFere
GZW+QPd7BQcgSXa9fufohd+xXYGa83Cks6Qvm9+TD7t4JpAv+cz1wIhkZVEKgeO0MVLPxQiBtZut
DZPd2JW3HQw5yClzmAZU5cRe7JYo01hM2DzN2Wc028PHurXuYvWu+9F+ZkW0jTWJkeB2/OPa/kgU
IsCocKNyiSExzfadT3+g3/wAYOfrl2NVCFwWDoGMir1IPDSAWse1qTaeXHAclPM3EinbtHw0EnYY
ym9ggrkublXrz8QJClKZJWjvEqypOIy3qu27991Bybzq2EkUY8WWA5ryz7oExZh1c27yGYJY9qzT
Et7oT0e5AUiX5E6tRFvQizNBQrQ1dIVdOi5spPFS7oa36GvpG79MzHd63fH63q2r4JkovuYzZS/0
pccMOURlDy2AnT1lM2wBmr5tj3hAHMlVlm2g8EItyLvWzgRhs18+Yox/vAeKhGRB/LQ/aPjZggRP
JjNQW3Bavnf3yQPrvf47+zIEyVHdDgc0tA1fJPL4jbkmT3gI8sRqOwpf4tRvMRzQPJc7Y6feJJ5y
sNBRLIN6+JgnutAMsW5XNROhpjOPqDHs2XDXTdBFWZPA2tt2rn5i80LKhp6kKu4vaH4bsFbuq8Sr
lmA56ZUPvUi85KTs3K3qBQ7bJN8kt2x1idA51HLQCI4h4EuNVKa0qpQI5hfTCMeig6WfNK+SDRKu
ZBqwk2diBF0kWVmmioLLHJ8WI6BvPQ0mZBrYlo1bksT+DHj9LNkA38qXuECyBQoa6ii6lmX8yTTz
jZvtEmvnLlJ+qtWrhowyqmEAmsIQ9OUu1iWYknqmI1yoDuYuuzFOtPBsP7tve88GY/Ch2KjMU0Kz
lTi86xaFz4yBBBjOtTgz1gNdJQd+CFQU2RCmL/vhhVh041QnNx+B+oqpo/orMNP80Ywk9uW951y8
jBzAhpOCQnvEGLVY+q7uIwvPW5OEZrHr7C9OwXZmdbOo95YB0Nn4e2t6ZgY0LGDZp2lgxqeh243t
p5l/HPmqkm1s7v8eJNbh/TboakTPIe8NFaxElFIGiNgCgyfpYz3+UpZv8/hZYonW9OqPjA9NYpme
Jj36bqZTdmPZe2DrbYtTcmd70x5wU6H95I0HQ/L0rorkzibQv1SkR4UXUVUqJ641LGueXjv9bqI7
0wmvL2vNmUAT/m8R/BPOHijHYHozYALrFD2D6mbfe+RuOiYyV2zNhziXIhgdkD+lCD7yCSbvySG5
Z2fKbinQ8GLvWvXQ9XspGJhIXsjDNVwPcApC15FREecn9HosK6BKTCeAZWzAFLdBecG5a26tI/Hb
PTtOR+ch/b5s7V18bxyub+qadTiXLVgHp6xca1kqzJTtGKonmM472s/XRXwcvOfr42xXGMjTAawj
yCiRANLMDjLaAP3We/eQ7vp9vnP8emc+Ktty60pKAlzZxMt/LlDwA0F5ZU59DYGjP3ky5KPVHTtb
jaDpnVGOTtaX2LFyxIh7c69N3xOF3eEEJXdK5Ab/j2KciRI0fmqjOZoY1qE8bZvH+lO3iV+BsXRg
nntY9umxCfKjfWgO067Y6y/ZnfM1uptP3YPENVy922irAawK4E0xrXd58fQsMns9x4otoHvfFYrl
gWv+X7w1zNeg4QucIrCNwivsoh+xNviZkW363D+ZR3cDwOl9etPedYeBbSU6yX/ug4qciROeXiOz
c0qrGlOOv7o9eepx84wtGPBO9X58GF+Su+L1CflfyYO/qjtnUgXjn1dLkdqEKybg+scN2iX9svmU
D5IknkTMe1RxZilLdaoGakMMc/dK+8SW+8W8m2WZ+bU0E9oyfh/Z+/t/JgZA75jvcSjENPuyDNxd
fbAbz6sCsG0E2rF7Mr0FAIoP1qbxjZAdtaP7/9tP0beZYwpotaHBftovKpgUE83L2wkwthJ3YvUG
vEO4YgACDSd8w89WimlRldCun07NskMTKerYs2wgddVmnYkQ9L90AMAbIcF/mkiG7tQ7DVsp0Xlu
Zz/qPAei/c8qBJ2nac2y2cUqynBsvOqrpXtFBdb2R3TNvdkqpkbRMS8RqvN69TWhgsrbDkjPix7r
QvY89ozvy8386u7aPVDwts6t+gMOr/0j2x+NrwgnlNqTQTSstIPh9fm9segyvzw7sx+mnHQtPmC+
7zz72Pn2T7P2uhHJHA+T769D/S/28kyikFqZu5apaY19BiSEq+zSdNP1khdu3XxBFTXHwSUTOVfL
WLHN1oL5cjHRYX8u46fmAVjDnrSGv+rE4xb/liScnxo1Yxd1uGL55/EINNytfqj30R5slTtptmN1
VXC+HMzHchBj4aGJuiVR7WGAQdGDe4N5C/WMl/Fu+UJiz75xjuNPe/CjHxRMdl4lo3FbjQMBm/Nb
unDJ4yipTMWBpmalDxIX+osg5XeI33LdQ5bRfWp+dpW0mLMaqJxLFe592tZ6w9Dygz51VDZJfKMa
ATins/vJUH23aD13DityiIsvif2dJOCVzbfReEj7H3lcfYmr52xid/1s7GfZEBE/2Q8392w/BHPR
AHyLmjU/jfaLqSvASdqANFr/UaVhXPj5v0Wq51shqBpNgcm9aAyqFm2MJtDwKjf+AWV4PJeo9HjV
/qYGPeMncvgXw/hnpWIuRYtM8PlGWGnWHIqHFnxzSvvFbrcx+9RqP5viG9PgcrlhL+01WPeNz0QL
tmJQCAalMhy/Gka3dtj5QHP3680YuF4TTMfW0yWWY/WdORPIH4mzp6wnlppGozqdYpdqQaNMmEqM
FEOSuln1QM6kCB54qmvFrGcjlpXtW93TEFuQ/GhKI921nNuZyoiFQmumeR4P3NQCOeKgs6+lej9o
ppdFnlHbvCxPlXtjZpJXjav+lashAhTA5zHVucDygJuU++Qu2rr7ufeaL9cVc83twEw26FFQVLEx
WHJ5VmXUJlnRL9OJzqlvTztWw2uUwcCsCsG4Cob3gHAFSZdCJkWjVdYZiNz1I6k1v+lD3ZINx8iE
CFYuoYBTsSIdIa7xOR5cT7UPffV4fbfWNNs6W4hgr7LaZHGnQ4YbPUXZdwVEb9cFrBnEcwHCcYzt
iDkJDQLQX+XO/gDunXpjNwcMikwUw2qS/NnqepC7woAjiuAYWrw8mKzutEGjEFcfFF8GDbF6IGc/
LhzIlFhZTgf8eL5HSfBFkUQg7xPb4g3hw0L/+3jhMHg2cpoa/L5+W3rhdD+BnshrwuxVC+NPvf8L
/7G9fjqrpvRcpHg8rgs2T0dDBJk+AwcIjXnRsXcafyitwO2AENW9Ae6smp/qpkWLoAp01Xbw5vir
5Dv41glLxxgKXziSfASz3pfn1kax2WeOiQtVgEXdZ5ZRv7pumhwzfS7ijVlY9uylo4qmMq1Qy6co
qU2gV2SaNh1yEJPuGeaUi0AxGzUHLFvpHi2rmm56iwwx2sRqWR//2vfymVKcFmzNhxkoN3MLpR+5
WncYE66GUvlBm6bY6TGZ/SqykpOzGLJhkFWh3NqAVQpDTmLBc9InNQXiOyIq9qyPr6Q7NLWJuOdn
bT5dP48VTedz5PDHeZYfhHKXx8HAzVKMBSTlk2EGZpPY+0xvqY/AgEi0fmVRwO4CajoAbxH7iicf
G7UymCq6asH9ojY55jmXG5ByRcrtbJefri9r5QlCsyuaSZAq4WMMgrbPpDWjzozQeM/UL8i8otWK
3PGRPIPeqdkSAEhDkn9dedMxYgXKQY46AVoBwXNgqBRhvF1TMclA4m255CRwQW53GAAB14HfZHd9
gavi+EYioYyxWTG2Tyq3omOF7mECyEwDRRKlN3e56r7FTit7nlYODnNJfJbFwAj7B9TV1C3BqTYW
2smkEcCDWz+ZFj/HJLttLp/aXlZyWjs7DUB6aBhRMbko4sk0deLYPRragaW0bNN533ctCdJM2bix
c+yc6qWxtbe/300O8IKdRF85AEKFW+DEqhqVrnrKfxml8avsG9BN/NB069c/yMGRoelEwyy8mOvt
09YBo+2gnar8uTJzH4PqveZ1XSN5HFduNUwHIl8AA2u8G/JyPZreWFXeMwAt0uTFIfV2XKwA8KcS
JVwrwGN6GOO1wGwwEJVyLT1zl2mXdzYakrSTrtRLaFllH5SIwrbapE0blzBnM0999+aSTAFMLosP
zHJlqI8r2skpgjkYFvilPoArDHo+xSlqhScX7al9zraFW2/dOL7tib5J8p/XT3At4r8QJ1gWzUyo
CfoK7eRkql+jKFk7TWBO32FCSZHvbDxAthn7U2VvExCR/r2TBemgFkCLI3obTSEgmmYtairgsZ6o
Rj0nwpO3RLuRuGiXvq3rXaGaPwullgzBrlxIvNfAuuFzNyDkEYS6ptF12H3tVFbJJzDqVl8qZhwU
9RO1iq1h15Ku07UDtdDXCAALCLTE++9qVRIRhoZdADsFVYbm8qi+SZt8W3YxCFWtSJKQWlseHFdM
+XKSIVVEsdXzRVepXeqnOPEXFZVQtAPGzS2LgRzd3mRoYLmuQqvrA40KxsIAxI4q7OWl6ed5sClq
zie6DB4HPiY3VpHuS3Rll7oMnGvlncBEzm9hYrLbXsbJbZxOPw0Msz9MazDQhKC2TNPkoWcyPkXB
7rgA9MH8NRKKmC7lU+OCpixGXwB6tTLC1uz9JLt3kB0ap8/X9084r3chQDXBS4R5QX5gl/uHyq3h
RGZrhO746pBwGTsvTm/y6ABQKUbV4Lo04bT+Kw1OBAwMgIneZ+TPTJzatQ1z9MkI8yVVvDFLN/pQ
dBszdYIaBfSlZ5IUhHBi/xGI+Wn8AZUi2tkvl0emqQVVsmaEaKvLhrBFo35VHGNACV5fmBBA/VcO
LCeSlzx85tt8tjADDHcFhVkP28wYfF7a8oxYG3bXpayv5o8UQdnrdLSylOlGmKB6anU7DiY5xY0H
7ufrgtZUDzOaiC3AT2R92LaiK5ssI4YRmorql2guT6nlATvjupT15fyRInh5Mfo48chhOaZlbcf8
DiMknq21nnS2V7YcQcmVBEOX1IQgaB+GNh6T5rPrSAztmgYA4ZPfVOAbYFGXGrDMS2r1Bi5ShxZi
5HVTdp+bhQyrb+264mlGwhoFO8w8CvpMyTDy7jkzHMiTG99bKmWPBOD8tc6eYsUADpE+TYfrx7R2
aTFFDz8L6X+8IMLKjKYeMobpu7Bq243bvkXK44JiBibHAlAQba8LW9OJc2H8Y84ukhtNXZHVCnRC
v63Tr2Z9SFo/siRgHGtLckHt56AdHMZVpBRSGMCTbJqaIQBwPlvTZsFEiX4D4I99r8vwqtZk8dk6
hOgO50gTjswomhQkV6MZJp9S9s3GCxgbP8uebbJasncrKgjV44DdKGoj2OXX4GzvdDOeTXfK7DCO
lvaAJl9MlxRgAr9+Qivr4VYO0Rdai2DqhFvbtq7WDgCrDuNq0IFzY4VMa33UgAGehlyYlcYv1wWu
qARGokGGC4BKTCOJw0jWYuZ2npVOWOP2BQro/3ynsU6YOcdM2CyDM1iVhkozqkJAodPFJ6rPx47S
DtLm3kpKH3k+0D5NVjEN/qQv7ncAWCaG5PVYudWY8wRUBR5F3oIo2PVhSI3ZXPBKKc2tAUiMBUN9
1SGr3DsaoXkubiWKsmIPwc8EuHZEopiWFQeMmxLTUWVnGWEEnCCbvpbJ5C+TLKm4upNnUoQ3sTL6
pWko7Aba8QyGdko42CNFqe0fXquL5Qjbl6lTbmWAjgg1c0EjsUZf7REpQCdqpINxa8rv4KiQRYKN
RwHv8oo1xpjQIYuB2dtPO3MJlTl9aGKGMYECDAN3xMAAH/Ua8OK0LjvN1r0xBkrsJ8l+KYH21zSG
xP/lazvLAHLHQ3dAGgFcJrT4Afv58oMqvWzVqI6McCGI0aJfc6H76R0gY5YorLsSvC5jvP/7+4iA
AlEFUniYQhHOdWqonttlbYUF4G8cEEmy/Kmc3xKULK8LWlFTjO5zCHK4GujnEtbWVbOj9uCrCGfl
zkXXKDAgbUk0tqKjFyIEk5ktc42CRG+HybKkO7eyD7maM8w8F5YHa0MlK1qx0GDbcQHR5ljIEIrY
jDEbk0x3Afms0zQ+kbkuPaOKqMRCr+3bO7I073DihBGXOuHO4PXqWW6FcZ/BmwdyQJsCQ1gWPq/c
BQM1ECgd7gPMpSCms+HEz2CCCBNzkzkYvkTH9gJancF8VkELfV0XVvQcwuBfI2qG5yMqHUD0BiAE
t1aIaHZH494fAeLefq/m565ItiqodfLP/yAR0AhoEAA4IXofLncRzO8xMykkzrH+bCRJfhxK47lr
ewfN4WCQdoo0ObBZUYIFSK/BdeErL4IBcmXAGeCdtU1V0MtqzuMozagV2ubWil6NQPHVYT8Ox0w2
S7V2AzA0hpw8jhKU78IyG7hJkar0uM2K4ZX6t2lIvCLq/JyE15e0qi5oacKcGAJAAD5e7qdNxgkp
zsgKMVi16dW33nh12sce4DSjrFa7Jgo2A1UYw3BAYCAYDtIBWAsmyg7Ro3W7xN7k20RyQGK2jhte
Tt76W4ZwQr3rZIWWV3bosnmbjc1zbAMqoH2jVenXfQKC8WnXxdFDlspM/tqJoYKKFDhP6SKMvtzI
oZrGmJLFDksbnCSL4QT6GPlWT+5dLf11/dDEStf7Ms+FCerRx2m7VNlsh7Ye0XSHSoqqbkDAXN84
TCM/tGW0ARmZ2g8kZ0eGoahbpRvybzNT3G2iuUjKRNDx2O9ynXy5/m2r+2BawPEk+Dfc68t9yJJR
Qz6msMOooT/m/pseAyAgLr+VkZSrl/+U8MoiAQOYW6DkcTBsQXezqGn+80yAIM4DeqaiBVHl7Pte
8RfNS6rGG2j31k/lVtder69y7ckAjSky3KgqAapQWKWZVrMNUCc7xOz6rhglT8XaHp7/uuDMW5Gl
aHaBXwfmBHBTcr9YdsXz9RXwmyBuHvKdqoabCBhZW4i+e3fpZhcouqFL72IMcE/68V+ib2wNLjvC
U1jLDzMYVtEXlUqdMCpPFGsBX/v1RaxtFNCSAD7GkUzxqF4qWzpPsaM1jRO2CccymuM9CDakADNr
W4WXxoU+Wxj5c/jfn0Vwsx3RvJsnG4mqXYLBric56zK3DuJpnIsQVHkGkYE7MYhQlXjnuOhCIukm
coFZkW30JvbbST2k7egDQ/Tv0z2AaeJhMIjHcIkEf2EsIiQuuN2i0abNSKB1jgcyX31gEtu89nie
CRLTtKRgSs4GHTYLM88VA2bEjaIhIae0nlpqHjEkScbVUwNBBFLDMA9gLLk8tcFoZ1eriR3WteWh
e3cbuxGag2WozxIxYh1b6xdjzBaISVrHvS87bdyDoOsHeLolvtaayQHqI5rwEVYBUkswOQq4Cxsk
n52wd2Kv7DN/bGXYPmvXCePH6A9GBgZUMoLdmRdMTLZLDJug1L4+dmAxCks983op78+KJKgbrizA
3XE4YvvqXE8JanWKHTrq5xH+9tKeAE0Dfk2Ja7/ic1zIEZQg6qdlKDOsqAA8jPuIMT5vcMrA0cPZ
GST5ghVN+CMLbcaCB0DGIRorrnBqb3g6Rq3czHfN/V9bPA76gWgFeQJUAoUFLXPCiJrhaYChMANq
VDWgLZfW19q581rdkfWMr2gdcNUACwtEXrg2Ygqd9JobuToSL03/Az1cfqU9XV/Q6q6dCRAWlMUA
0opMCEi1r3lx1xkYMI0P12WsahtB1RvpKvjtYltxXvZxV8+VE1r9QbN+oSkjrcMO7QvXxfBPFYw4
9uqPGMGIm8zQlHbAUgo7jTZWCzxC4G0wr6Ja6nfd/DrQwTo0NiVPSVFLzJ1YteU+oYmoGQwu6AjB
rJWgfuA/TiLMcbmhhXYJnc37igHR+xkRpwcgvn2SPOnl62A9MnOQXDKxw/6DaME06Y3SLKkD0QZk
akZ/bNtlpyV54MBK/aiAlhxH0yY2zH1FivsuKiRuwPradTRSaDoAY9AteWnrxxzEUA3L0aALQKJh
io/gjToiCQKYmhvMlp50OzlldQ2sNpc+0vzl+rmv3RE8MhyrGdMwAMO8lN4UZs4oXptQZx3AXQs9
91NVlbm7K+8nSoEErTBQYWQquKk780KWhRa0bFo3hGfoTe1XYD1tR/MxAy7PmG7H4df1Ra3FGCgs
AOgNPiIfoBAupoUBKWWKVBe4IcE0PeVuQCkAHPe1Gu1BNBv0dhss7ieFTc9147UkAbKWrLCyZr4R
zoHxEnQ3fG8v11x3A7S1L0l4G/fbSN2z1neVoJC146yJAZwVCvJIKaA/RvCFczSPOfGMFL0y2puR
sD16ZTZDvKlt+xDrEiuxZowwf4OgHhJt9PVerskZGlC9jqYdFlMNEJgK9ciiM6xDqdf2VgdHl+R2
rhlY5BAclKbQ4Yey4aW8eVZiJU8NBKYEwz2qVRsecvpATctktFyrK+Popchfoy1N5FVwgfVoEYaV
zaxHS5MDiICRal4T3ySpLXkHxbGid5tjnQkTrrzVg7S3g0cbgq4Q8ArjXNj72qJArVNAwxQAnZF5
rDG7wIhTutGmcmPpGcZJev0TjagKFAM6b0cj0f0xcrQH9Ic2m6lojCOiomqvzBkG5VMZxsaapeBb
g8omQD1skSIkQcFWbYFWHjZ0fgYF+AG7JXkH1kXAsQKjJxwFsRCUJ001u4iVw7Sw32qt+Tars2ym
a+2+8C4IjvjLaXOE+6LHeTf1vYW9t0a/iLSdOwynyY38WGsBypP83SzB+1Ejp82DFBTQEO4JGlzk
ZQpgLztcylG7tQyOcTeTcWeCWfF7MU0svG761vQYYSu6T6HDaF4RlkeGubMZgXOaAGbImtGh11Gv
AzgiqbbXJa0dFu4LgP6xMLh0ghKXChpXR8rdYOak25ngWtp2I0MKWV0PnHoDqLIIHcSXo+4wJWHX
3MWqxl2uU+AfAqavRhRWyCZpVhd0Joo/YmePlGulqTbZKEOioZgFKUgcPbe0ZdMXayYNzigAwS3d
RslDcHV03m4Rg04rJFGte4rdd17iLAzAWpEsJJKJEk5oHAuGqip36qm9G0vb9YYUU2nFtEj84LXU
JbjC0OaPGhYascWRkgjzgrltZgi+qoeM/VKcPrCLXTFtUycH3mC+IelDLIPJWFUN5O9Rb4ffaojR
66wBh45kEGrV9FgO5kPr0gczAdyn3T3+g67Dm+BQALxTWFCNpInGmRXI1ahmcWckKAmqfzld/W4o
EB1zoAFO7CpWbPsitltSTk7Imv4wknabRfHnOlFvQB3x/fpq1kzgmSjR2y5GN28WF6Jyszta9ltq
fNGHZsv7r6UcOmuHxMlA8IfDnolY2vATGJI0rhOOdBMD5rgEtvGmkDXky6QImr5oKmbS4XiGmu7V
y2M9Bchf13R7fd/WpKCxEwyyiJWR4+R/f2YgsEat1kpYPH0ob9L0qMeGN0+Nr6A3668loSgFi4cg
mUd9gqTYXVxF4/FQDTYGH0HXC+hjNm5flp5LGlnwv6IP8CCRH0QWDxooZpsiEhuz0SYknLp0Vy0E
HghO058V6k/58FYaUSHxgFZMrYVBdGi7gRQ4yAYvd7JCN18zTJSEll28NWkJdKZJkTGDrIS0aE+F
P4gVAdXPFZSiK1urHMeehO3g6wUwdqEZgKxcGq/+RuvN9RNbsbUW/uGohUApgu9yuaJSg1fhpgMJ
tWypPTXTY6+z00+1ae2uC1o7LCTSTMQVvFwuvh8RSZolMVoSZtpbVx1Jq2xtCCuo7jvGl+uyVhcF
uE8uDBhTIm0yXPIaoxozCePhEU1ulXabywDQV+4Uj9N+i+DLPbtTeZak4IRg2Ddi+iiUbGOgIKtx
FaRjIrlUazuHYIjHL8irwsW+FKVPadmMDVbDnO8sM470ucWE8sLnm2QFtTXVQ58K6ssaykgfJtyL
ltqEoZoVshQMk37SbO6yo9sDeBkVpetntJY/AKr/H1lCTDbnbhvPrYodLPzyuHxHByd5TA8p8zYK
kLlkEENrB/ZHHPDxL3dxjGdKFUDnhw7QTbqT3txMX2z15/VFre8fR89FEwrq1fqlEIwzKJ07myQc
x29d+lkzn0sSjN3gkfheN/NgkhEXrOoG8MX+J1AwSMwaLTfWF4KOsNhzbaCKaS/58kDVG9Z0EuO3
dqtsMHZx84eH5H2U/0zlKVO1GWUygkp82I2fGH0Ym96/voFrpwTXnF9aIHOignC5gYs9zV0J6M0Q
2Gm+VoUWnYLI/CXlb19bi4NRFnizwMn8UF6qMDnVax0UPUr6PEAzaf1IWrW8rfRq9w8rwtABQg2U
y1Avu1wRuBvbajEj6J3xGYNcHk0fkVtJ/qHywg0EagiIv1FgFB6N2uzpSNQ2CtsoyC1/IF7pfLq+
EhEyi7t6kEHQtMCZ4j6+FWVvYnZSjTCqbGVb7G53cLW+81uzynwgP1c3WpF90XW33SCXtvgjoGOP
FXWq3VBqyn02aywwl2TZlYmhbgyWozfLUOdbPQF8TI+Z7M31D+berZAbfm/kQDILrOXoYrzc+gZI
jVPvkCjsF/U2auOHSrmpoqeCsZ2F0tRMvl6Xt3YZeePI/+QJFi3Kkpgy4CeHaLEnwJhGmbqLX2MZ
Kcpa1HK+LtE3VRXsl2ZFUZhY+k8SaWAYysqgReYErS1Ax9cQukTbrMu91pTlBdYuDhrQeHEP2dcP
F8ddinzOMbsVpuMr8NU8pf/u1rJcx5oVALgzxCCmQFZFcEocoDsbaZ9FYTk7gMVWxnyn5cbXvjEB
KKrYMnCxlXPD2BOfZgGhCeg/+OecGTZt1EnUJzA6lvWop7+agfFbaoO4rMokKrnyQCAa4z0aUEfM
lwuvEKkXdAXXhRLmID00KeAny9nX2M3M+DCyb+aRv1DZq75yZsh5Av2Q8DgQT/vl+qLKLeaidvg9
mNEd5iVK7MmUck0GpuU5NxnS1ljepYymVaZMmU0lzEZ9xzBcElX6luSS7fsohbcKImnMWctBDyVs
X6w1GHCvoRg67lecmJ4BklHd/OsBhkspH2xppBF08kShXY1+ZNIgkfGTfVRwLgFlXwuj6iCbETQu
Unlb4lhFYQFoQ+MlGpNA6W9L9nDdIK1v1x8xXPHPFHsY1TIyUop7VCntKSXmctSiak8rIoMW/niF
LhckmNp06sx0AAFf6ACtpwuSwNqR3fSXM5l4gFBpQhkW+RrDQbO2sG1l2sEBYTrhI1pl5PqqunXQ
UZUBujE3JN7Oin/K560hS+OtTkgOXW5ea0x9qdU1tKDflsO9OjPfMm/msfSVYmvnD/9H2pctSYor
234RZszDKxAjOVJVmdn1gmVNIMQgBGL6+rvIfY51hoIbWO3z0INZt5WHhMvlcl++VqF/TQdlX3j1
Bjpk5Z5dLNsLg7y1IDylz4aXC2uZhc2s2x9a/o0bfuVAfaHcM/ugG/Gc7dsGCDviPiZPFd+ryg7q
Gd74qGb0zUzcr7zcmla7Dlv4RdgM1QA+EoN4UgSBIpBlENT4MdT1vQIRO7GDvj7j8hm/6SIL0vC2
3y5/3OXFDWAMCgiYHsO8CE765dajuMg7ZNgJKI8QFHmvZGFeM3Mj11w5HUuavqh54DEP6cpLK4Oi
piDrb7HNE8IV3SEl9JutqcKVncMYCu4W5HYW8jJp52qH0EFREPDnZtx7bVD0LxhkXhJBNoXT9LN0
ft3eu5XsAOoOqG8DrAu2fsB2L5cFFSWzqzquPDt1O/Jdo2jgKVAwKgP+lLkbf9g9z3Uf8x7lVwWN
KRE0gO92mBbvvL8HMiwO7Dm4wiFvDgT25U+x2r5R3MpSnrXSQnO+ad5Hs98aOJQpxJaoAAYSXAh4
GqNvevWym/rRm2oDC3YLX9fLk+lAMQmZkDG5gdftiwpUcPeuQR8xsrAXCua1/h48iJ+wIHkB6wLr
vvw0sirHTtHYVZ4H/ZzzVyiuuW0A/Y7bn3bNYT9bkbaT8Ylaiecozwp7a90nA+qqbN6wcZ0zYyVL
JQgJCjpW8qEQSsc1ntI0RumEFIeDM3zL63D6Uv/9yCOKMwtly0L+gCK85KYz6AqGWSvTOE8PAA+H
lN17cx4I+s/fb9pnO9Kd4bS2aDu7SOMsB/Btas7NMrvHNm6LlfvvYjVSyCZz06aWjW3L8xnNkXPd
HxPL9qsMVDRbn2jV4R3dw+E2AXq2VckPmrFhQnPbNJ7rfwpjB+LNXHOPhqI9WeYpY0WY8yeraPzx
udWbkxibLfzdBz2VFKAxaPPvL5A+ng3BR5a2XRq/ENsHEsHw7SEsn0VEHD+jASMoHQU8Ce6Cstm4
Hdd2GrfyUh8AsfoVa0CjF4tAXZ/Gi97etMvb/5E4HKeNk7B22sB/j6cOyqJ4+koP9xncDyBkMNK4
4I+M7VxxyIYN31xJA0Ha/a8J6Z4bFEuvk9lM46WIqBjct40Hp8gOm2O/a7cQGGSAOnYWuJKcy3gg
nHYywrO4e5rIuSW/Rx51rAlI+i74Y6KSLXDQkojLDvLJoPzOqWbIQXO1y+LKtv1+/t0oOTQEscBk
IUO4q7XM10HFXuStf/u4r8WvZT7XRikeBfSPrO5Tyrv0XaEsD8OUsz11LaRJrwPayJOJnt69K7bo
ydY+4Wd7kpfUXYl702mz2BNgXJmeZ5r4C1Pt1iDHx7SlvKNIiVBFwq2Of5EeJQ2oJsa2GrJYp0dr
emVtlNk/B7f2uXMHyBlS4Tq91yFKWcXa/H2svrTKvin7A2n+i3Px+YdIK3ZIpmKARc9i3kdF+r3V
X7Jxw33Wjt4i9W6j1oQLVVYXLbx8nDPdyGIGP+kSPVBBRNn1W92qNV9BT8wFXQbmRzAufJmejEI3
cs9OCTS4Qq3+PrLmRSuPedw53Tt1v952zDVH+WxMOutuZnI6dG6G9B0sk6MZUe0p477edrv/myH5
dig1II9aJ4sJoSGbfmtFFZithsKJvmFJ3j9MoOH+XqYMUPCB9pR8tXY4zUaSD89NtfNydd9qIWvA
3mSE2bzzko0r9upBJpuT7lihgTCUTHSAsoSJ/C7Qq1DLfszOz9SOdVsL3enXRPYW2UDCyBcOMEOG
Cs4YDOegagmxgEsv0ZlFLCsx1OeZN/tCgWCl6Q4xH5UyAFHRqSPqn9sfcM0gXluoES3dWoxWXRos
Nc57m5YakLOQXKvsY6G+OB1uO4sEPdmS/VuzhscWimzoV2GkQ/qI+lA7zWAw7XmkpAqs1vmRVOo+
4e6b6KdnkppbjwL5LlrkNJdBVh3vAUBtZMCAW7K6ZRiBeJ5VGji9dVcZ84uq1GfUtYO0EE9Gk+y6
xt2ohSyf6XP8lMzK4IGJgBN7ojCLxOKPhyTFU9uX2x9uy4QUonNwXuCZmaH+S/VzWXR7NDw3jpwc
GRf4A4DoKLDjGIELQPpanKUZEw5JYy8t97PjHXBdHAl/vb2Q6090aWXxmU+XqGl7pE8K5ObqWEB5
sw4qwwtK7UtRUMgAo1Pn3aMR+eW20a2lLdHmk1HQNiZ638GoITDTmgIJWu+8Rts4zcsGXboBlgYM
KEgQgZlEK+PSykTNmY0WrJhV6xu8CZx2CDBNWuRbsKwtS5I3JN5UKXSq0hgip6gujOoO+ix0q62+
umuQGLIXbiQUr6X1DFYlxpbBigUZpcoDr0sTbt7HVzUFuB0KlQu6B8cWlX/JSqMw1TVH5MLD6ABW
nyp+62D4uHhq9xXNPmaeKabnQnBGPN/2iuszBctwYqStqIaBnu/ye1VFBRET4eF7ZXqJ5CYH7Wtu
OvvbVlZ2EVUKZI3INcA+IVev7cpM2wS3Wezp1QkcCn6npSdqP962suIRF1aW//7Jw1Ml0yk4yLJY
c91dVn1j9jnr2F5pNkb5rx6Iy+fC+x0PRJSeUHZalvvJ0Giw3DBLJDZG8k4FpF4yN7SqZzb+afhD
2X4XquZP1mkYMZYBtczyb4lRPuyjIAwUCzYVY26X9gGmBxA2rQhuSS3MIH1ajd+mL0Dob2Xfa99t
mQBYbmZwWlnSGdPT0m29DC+JPJkPVQ9pg145OubT3383DCIuaqnA/uDtebmcEdhBt8hGEmsWAbOL
E+jJY6sC/7ylYbDmIOgK4PECNgHMNUshsLMr7gh3IrHlHiBCeELMyFRIho/JRulz7VSBTxRVdNCd
oQcuryhtUlpBLyFOjOw75Hmpr6kpDW9v21XChhK9CvAcXBG7By+Uvg5ICqAWXjEal+JbOT0LB1z7
WncqzL1L6z3gH8Hc5D6eMFtDQVdzFItlPD/RPYQA5nKiL7+YLibVTQ0jjxVn8i1IKc7uQbUxlP44
KvOxccjBYYEgkem0e7VrQl688XxLv+R6kwEgXHQiANoBkEtmi+IkSZhCEhrXz1W8RVxzVYLBEjH4
juoEevEfbnm5xMocmJI7aRGnJWYZTh7EsZN4FOKO9PToqTsK/B15cCg7uNkB6jePXnasmf6MiLPh
TNeHEBOf6Abj1Y2PbH7oGX6KNtwkINfppzKeip8G+wWcZDNsRLQ1E/AkwPyAMrXQP71cLNGhUOAB
gx7zt0Y8avd/jU7DboL/518DUsTMssKqwU9cxoll+UoTMV+bkHDf5yjU3z4Vq0sBsy4m4nCRQnX2
cilTnnSlGJoyHsR4GpKjXVcPhamcblu5jiTuslVI54E7AbhZujb53PFWmFoZZ5N9NtHf0IsfUBV5
Kqdftw2tpAawhDO2VCbwiJYLLg5hajolOj5N0QYEzKTiratAtELPtWgDDQJItokkMtlCxa0dgAvD
0ut9Tm13UnIYtlmcDY3f19+IeWajeShKFtBeCRn+QQMo3Bu4eMT0B6mrjXKhF9/eAvkZvPgOqNPQ
/AY1wcJmfPlFQUoFEPdsl3HTCz/NUz8dvtbDyUboMZ2FhHrDg1btfeT/ACcD0istHMzaroOiCM6b
Nn0zWQce84JVHKXW0T4NhpYHs1YV+7w2++PtlS5h8zJ5XsY5EdDRXkKKIcPJi7pXRjDpgDbQFGe7
wEvACV01JK75OirjhrG1IA4uMA8X4VLyArnT5b42hcUhqD5XOCklkhXATh7NnJFQsCTMlYEFZUe6
vVWaXYhJOOVQu05xB+UcftLqMjum3URDd6yKjWGfte1HcxbnChEDVExSqBgw+FhNDUNI96o7M7G+
lXZxMorkNLHkoakeeQ744u19X/V18NYCWrQ0uNCRvtwKC7rioyB2FTvaw/iWDYfeQHgfmwMav016
6JvMr/sn2znrWusvIBn6UpzZFiPhyoWGNh6GjxYGP2CqJEevG+By0qSqoW6PgbbZaNydBnGrjetk
LXRB1x36G2gC406RsoZOM0sdb6c6dg9oB70UTqhufMG1EPzZgnSADGvi+qzCQoYUhOi/svnZ3DDx
4ZzSUUHhCHM/GPQAWtxavOjTpdgOnT6gvFPFs+r56M6Yyluy04ef5sGFZknFQjM56pnqD9WO2+ei
eAdH2hAloLct/0z1W/UAeoZ53A3dYcCLy9L3QkWX5bZbrewDtljDAUOJC0AraR86RYC0V8N0rp1P
h6lbZADAOZrxrTrr1awyIiS60ZhnRdPIXYQvLzdjLi2hVWZf4Wlvlr7DXPCuqwEQ4TthndUfjLww
dMeZFdAkVDbBCysOdWF9+e+fPoVXzfNQZaiLq+Crch/m4UHRzpS8/xebubx2PNRE0ZOWqnZQGKQT
AI4IC4mChw71O2gR5NnWi0eWp3Q/9nJ5h+OFsAwmS8dDrSDnrmQIBel8bBnU29LHHrX/1vNnwK2G
/J6zQz4PeMHWgefGFdkDgwgatABikj5xz/k3Qh7Tcd+NgcaED42GQ+XeaQk/K8NGq24lXuBlhOow
6G6QIcrcoqQbwD2lO1Vc1KCBslzMRApGt0BBa58XWDAQEnmLXo8MMmDeOI+9bVZxM7yno3ogYGyu
Zz9z/9z+wNdFMfTEF5pPTDmBC02ei1a1grq0K+q4cb54ALyS9o+b0GACEM37MRTPQ2JvnM+V6/bC
ohT187Er8gytj9gFn1xThQ10kxn9ozdl2Ctkw9jqIQWtE9DdAF4DCCk5sJZBomA2hzqepiCvocbM
XmrnyWvbkPMuSIn9QsWJ9yZqFuZzQzZqI2uPRWQUCykS7heA5+UYUQBxhzIMcrma+dUw+irJ7hO3
3zeO8jSw6XtVp74p+q/l2ELYvZ03rp01Z8WpQhUcdGZIcaSAnU0k6TPAJONKTZR92zXV69Qq6kYp
YcXKwkgLkDbeS7hMpdPr2VmRFw1l8di0zm5w5/FU5lzbSJ1WXBVVESRPeNkvQ2zSXraK3XhOb7JY
mG9F+gBt5UOiakeNaHuPOYEzAAnR/yVoEnEJMDmgGgEwxZUnM83xprY5lJOauKSdG9habQR9b27R
jq4cCRiAd4ApB8W6DwWkT7G8mLMqVZS2iUGQ8lUtdiTtj046BMT+vYk0WLkeL2xJ9wYzc7epUR2I
rQntx9mMsnY6W96w4fnXHwtODzXqBUGEQoEMarSqUiVtU/FYNfdCjMbR1Btzz8f8nOfsQSf8e9ep
+t5xs63RzetMFpZBerukWsD1yxCcAgdhgjwZj6fyXOd4InkPqAQpOQ0NL1aTrYmf6/1czAGBsAzc
ova+nI1P3473OpBnjs3j0g7bPlLqB4BmNqLYymbiFwO8hoIEulny2DWHbc0rqi7WhiYCAO7Rbb9T
EoFAco8W3/ea7IzN9Ob6THuLx6NeB1Q+kj0pcgx80CGFkHfYMmbtpyHXA0UAoHn7+lnZPUzhG8vw
IaosKFVc7l5v86rQClvE3PmpWM+VVftl/nbbxtruYfQGAiAL/zLu7Esb3kAb4jBLxLmhhSpRkKjS
7Ny3RXCGQsofylKAjbYkh1aq1cCle+bC5oICAv66tAq9IbultOtiqzQe684DWtE4eX3qo/nTZNbd
TIhPaf4maBbaCQn7/CEv2o3AvFLHWH7FIoK6tHrxurn8FSVEovNE1F0MZYTQHne4KH1R7NrpH9N4
0BTVr+s+aDATcHvLZc025HOXdpdv8ulUKNRthmFsulj8GdzQNX2qxAykPXNoPWQvULrJdiO6U4bv
VYGz9UxZuXUvrMsKRWU6W7h0YV0l6jvvfw3DIU1Nf9TaHaL41B5BpgUOnNDEpXt74deRfOkjaWBD
BMhwEdS9XPeI8qaT9xyWq1+WddKHE2XoaAp/btvdbVMfFcjLx9ilLf3SFshAKcULAB62cDIdWPLY
mS/VABoDiGCAGXpqFJ/9+McYHqs2RUXjrvR+ognJh9244WZbq5ae0OaEvn6b9l2sZ/3J8sAGARl5
673U3bvJJBvGVt4Ky7pRCkdYwn7Kj1CIMDggOSy7mNmF/ss1BvWMepE3QeNX5X/ELAYekCnp5h0F
uYPw3SRXNcjh8arem/0gdnOSl+yp6dCiSkvL/NFWOSt8MhbOl7qsdAZiBjpYu9nWybOZc70NQVFP
lYOmFqw8ZLUl1NPY2rkRuUqVPRJjqLYY42Ut348DhFIMaoFQUkFRRr38uK3w6KhbEz6ur+7qw3jM
H42jc0zO6g4ajpCB8AdxsKMv9Q87hZJw6GzUplfj1+cfIHky4cbIrWru4u6N5XvTT5/1XUmjcfw5
q8e8Eb5z4k1ItY2E9frdg49r6IClYDYBwwKyU7MhpyLDugURRcDsJPGFXpXH0Un6V6dM0njjFC0b
eXWKPhmUfZdWNfdAMxTnYwOln+aoA4fj6Cfq1GGHqmM5vpTmHEBO/LbhlfsVLQ4MHeDvqLDK5E04
p5De0vQuJqVuBDSlg2/1c7q/bWXlfkWBAoEItT2kzPL9qlgd71SnEHFTRh35J9F/68ZGprdSxsMD
45MN6Y5xktRRU2gZxbb1pvZxU5x7vht2dXM3gLKgjQCEab/Zvoj09p437ykA2LcXuRrvP/8C6bap
9GFOxUAFsvRzlop73hoh5b8zipnoXRe5RhfxQXzt6BZXw9pHRP0H7rrMzIMn6fKUsqzVPYU3IlZm
V/1S50hfMBmQfLu9vlUrKCmgEo8mEeqll1bAUZM2TOcitqxaPRU6b04WJok34IkrT2VU9ZDAggAC
iEy0Vy7NJLzPE0YNEWN2b2++uwc7qANItL8YQfdQmRv+ry8HSz54n81Je5cZfScY0UU8EIzcWmSk
YI0dxXdzsLNwZrm4Y1yZHzFKiJF9Q6siw05QB9JcEYCwh+zmOe1C1DTUB4xv5+hgl+6pGKt+r2bz
sG8VzOGaetK8NNQrHmp1Br16SrZGiK4TLAD9F7w6ugdABlxx8U94+pgtcfu4VFj2y2iKLKgGrj3V
Q6rdzS1LMIdtFGA2gFYDCHjY3J01sMn+vO0hV8ccvwLPrI9RaTDtya8tYTh9O+XFAPi4cSLgJeFZ
euq6LbakK0dczMANUaODqB7+cekhSjYBqKWLASfdKt5St7NH8LoMmHW4vZyrS+DDDsrL4HteilNS
TDaUiqbDxIe4QRc6LIzyT9WDEdAsJqhUkTq8bW1180Bq97/WllV/ylX13LWqFAlTbHtVEnh2oezm
AizvHIWSvw3HHwtDm2mZMsbIrLSBFW34mDTtEKPl4Dd6ci7KPnTIvHF5r3+nf81Il2gD0E9ugDcr
zlzrK0bbk7Pee9lG3F/dNhAAgEhYX9J9KSoRVQyMZD22LeeHChKWdsPPg6vtbn+dVV/414wM0hKe
Sd0eY6Vxp//u+vMAIeE+/9Lo44adjeXIwoYOnZmlWPg0LiaVHXQz8lb4dqdvhL0lql1EPdSRcIZQ
jgS6B8OHUpBlHtUJTcYhVvMm+6d2EjCaZjzp/UG1+50JjHiYEH0KIS22VUVYWSHostDdAxUF4Evy
i75gUDFwymKMhdIGboGHoM13Gqamb3+wtRWCQBWRAuoWYFZbfsan45RpBLum1SOKWTtmxnoLhepi
1AKeYWnCBUy83JrcWfGRhTofk5yAayBpljZVZy04BPV5BGrEKP2GC8h9qvlvktWYzRi76Xh7hVvm
pJvL5YbR5/YwxsMw7D1nbv0O/AE+S8oxtBJ3415eOcwYcIfDoDqCmd0r+FSn88rI1DGuivJoqv0B
za2/hY/CKT+bkI6yKfQBfHH6GNvFq9kOYavcU/M9SbbkcVY98N+lfFymn1yj4gKobN0YY1q8QpRk
p9EGOiTTRmCSNgylFh1zMsjIUFICjF9uAGZ4FVLHbPSoYg7dq1YCVoysm8PbTrBuBQ0TsEAv/fLF
ST6tRaVtIhzK9QhN0fGgE/uPXZFy4yKU6yj/WQsqY4sFsNPInj3SfBYdvk9UQ2+K+bzL56dK5dOT
2bJ2l9Ua3SeltUuZy+F/Lb1T6mLw8zGfd9kI9uYMTO9nps62D8nmMbi9BXLm/z+/blFJWUQ6gO+8
3AOXjJge0Ac9yrIZEzu6r2fegdreadCqsCyixAJPNBFRy59V91A1jp/OL7w8uDrqTs7GOVkO+afI
+vFjgNVauG8gYY5i3+WPURQ1LxV03qEPEYj23Stzn9eHZJp8m26YWvv2NjADqKhhEviqqpahvtTW
uqJFrWKJI4WvBQUd2YYff2h7ySvCnDxwhvAxtD6kSFpUnJW9SOFiZaEf61k3j0OS9UdrxPYSt1Lj
2ezysHbT1zrBd7ayQT0MhjiZCf0KGjtxEi6STj5BvEnrmmYPgTsIQAy9EZj4k/2cJxi4r7gSul2h
o8YLtts20Yqd69ZK6BmzfewtSB5UVaOF3aC8WAYtT1mvJdhW9a0Vo7kHEDfb3XYr6QL5+JDAeGmY
jAAs9YqktXFq2g+zqUcNuGeOwlWTyGSM/jSz9p+h7N0jNETdcCy48ee/MIyXOMQcgXG4kunLqGfU
Xerp0azYe56whyqr9qzlj446HY10OtfFFmf9mieBPg50qgD6QsRAynQVIviYmYURZSjjQsvrPLbT
VndJfh5/bChmzjCYAhgXeghyOgjiOBT6DcgaV4ep3TeH7KX9x5t9kvjDL/sH3RIGlGtHVwalVaGz
owk9gcHcGP203Gk/FOoX7/YXSnzjPX1KjVAk/hYh5LpZ1FI0KMZjuXJ2bTLqaBz6w9GQPPVZWDzS
e/uuN/eq8LUHUHe8iCfebVwDMp7rP2sF/gNRxwHVr0zx21bmOKqYwotaIYJ0vs9JWA87S311c5S4
c7/2fKN+yVXFL/I/m6i51RAMLk3onAMuDkSZVCcc6wSS3EOiR4rigoIqNzGnD2rUOTDdtDyVNYjB
e9Wed7OrtT95qjT7JnXqc52aAM97zZdK0VLf1jqALEjF71o+frl9qKQ7/z/7g3kokJygnIc4dhmW
iaegJaOgVqoxd47rshU73eisQ20MW3WgtcCxjF79xxQKXpemgFSpAKdNjWg2djbJANE8eTrqh0V9
QlJwp289HOWKibQ20D9eGhzoZHOdYm3CZOep6e+nUt0PSvMAsqR9zuuA6ZFmFHvFngKAOQNevd/e
3NUVo0m1vMchVyire6M43qP9SozIbAE475r2jalqqDvzd2ZTPGHm9FARupHgr/kc2nXYaHR40YiX
QQ22moxKmrtqRIwzHd1DYqWBOekP3vyre02h72GExnifOiwCeiac8UMaZzhM6H1tH78V98J5xyWM
HARS1jKrTJJ6SZXNhRY5Zbkn1tekVaIGRC5kV/QPE+BlOlPPKntM7SMHqLZKnlL3u5qkG1fHSvKB
rBM9WnwDkKVdPXqctC0Mc9CipH7Al0b4SXbTnADH9Jt6ZCvmSA+Qxe9gzcVcFNrbHgg7L/0OAnHN
wBJdi9yU+5Y27stqOriMvg625aPnZCQsJFDhK3Thj1bkOGlYlenzyNsnUnU7ZdoqDK1dMUsNAOIK
SIbRrpBeYP1kZ2WtOFrE1eZl1r9lJgbGi/KL14MtfwLd64iCh5eOp8541ast9Pna7i/VL4RB1Ivg
CZf7IahtC29EPtYryr6czlpLd9VQ+JhX17Zw0UsaKSVlqBX9ry0UZC9tGbzOXPDQaJHWnqeXrvIH
0/de7Tu7O5PNJvJKerBQFGFKDH9bcPyXxnJ8erdgVI9MA3Io/RR4IJfNfj3n/GuNLt9gp/d2NwUT
gGgcAwrJ8wSFlNshZu0ngKRwGS9UAU2R4bGeLXJqCg8HDPW+UKlslMicYqtPIVeDP1wa3S6UFVEc
Q5oixW7dHAmGWwgebX1y0FJgsK2vBm8Dm9c7x8jONbgd+iTsO3pSm8pPxqgR854x9iebtIOHCFQM
BMwPv2oIgo1zedJYBgSxeoKY78bxuw66SxLlgJUSsAg8A6SoX5gMqpG01aOOiwGvrl2TfiPdrjVO
ahKS1Pl9+wOsmEMuCiIn1HUxRSXP8xt2rmh8xCOLpb0XDBP4jLh15FYdkB4ypR2fcIEPWw3IlWQK
0RSkxijzWvjqcmaqeVmFUKfpYEPwdpX9o0wATfdCz8rvBWDyzks+/yyaX2a605aiC+22EJD/n1+w
6D9iNgZKt9I+gxDFUwZl0qORDDkGHupTzpI7oUIE2f1Ran8yJf+SDtbJUdrfqJnhnq+CfuwPt7f/
+rwv++DiQQIQHahZpNgyZkWVLow1kf2ttJxdZkIButwLwGGEZx0b+gwow22LK8H00qQUYipep2Vf
4gFkKUKEhBrN3plnI9a7fNi5E1THzNysfrUmhiB5YRRBVxLXVwTb0kpfDF3GussfIt0zde7aBEFd
jzwlV/ZjkTVPkzcXe5P36vPtRa8EANgCKwaQijj++OKXoc5W8ravgeaOeGbucxOIatskL5ARrHor
UNpHAnpyw6/HcceSGiTsD4Xizy+dHdjJYznu3fEnUBaTBpAnyrbUh3zL1me5vnUvf6G0G2maUXRT
dT1K6+SXmREfSkJgatxNo58k45kVXzDXtifqa+KeyvIO6V+qPRC8s8RWTVzuOiFaXv4U6bqdOSgY
Z2xmJIB7/AKBWk0NeuM09MeiCUoW8nyjQiiz9/3HIgD1GHpDigPGvMvPA/4lD6Szrh6pRjv4w/Bo
D/483HHm+rmlnXT3V5OzowakAnqgVbfn2tcJJC1dBg3IZj+lkaCBm278qg9VTtlB8XNQ/F2qMKDS
uPxVjc6aWmF4PkPeqfiqT6TdVWk/huo03/PEUB5nKycLCa8T532LaX+vUndppz1riQNWNdP+xxHd
EHqJ7QZNnRUh8dz+mHntO/6nyMOz+QkSFG9a59Bz5xTVc0318kGg2R2OwLQF5lxOp1602n8RdBax
qiWVBC5bLpQuV77d98pHCWTofdQHp+da86BZZdZKULv2k+GlIKWsVc3zwTbh/v0Vh7xymbxfpEqv
WsGmW3a6Aa6oyO7NsOHov9q+ywiUcH1lsn1IY2x1DWQ00+JggPMAJo1viX76R3z4VE+1HcVJQLZs
RKUtoPPbq/zL2Lt1KEiR/QQV3XRnmP2U+6Sl1RF9cPBxzcZdSjUOxAaZAOdOvfeBdRpA3U3x26uh
NFkVTXanNMkWX8VKJMDVj6rNopGHqTHpZqJjWuSN1hsRuBYPjan3ftYIPRTQZwh0kmx15q9TMLSW
4d3QgwZlALLsSy+vxl7LRdebkdK96Sbx6y3yo5U7DgED9IxAcWP2zpPCCehXuJkWgxkloI/I6yZs
0KYx7GeIDy7cJceC+u3r7Xi//JHSyQV1L1jXHUx7YNJXWlNd1r3DutyMZrTwj6Wh5veF4GA3zFwt
UEWe75iw2f620bW4iascrQ6kUoAYybQwNoJYZxbEivhcv4Hc8NQY2deEeMdZiMemj9IUot4zOZtJ
txGqVrI4vFMBo8UbEQUPuUw0epXXWL1rRh7XvVMHwvAd5N/BqA2p3j2hwLb7mH74zauUb8SSJQZK
O71cq4seCvJSPJUvvSdxbOGCX9GKit7zaV3CV1/4tHF9r7joMsIDxikkxJhOl7IkIJlQiEIfI6Ic
nGgpeGl8T2m2RrvWNhHoSrRcFs0N0OxcLmUsFQC6J8uK1K6PBtMInOx9TE5Zmu3YlKBUuymltGyO
vHl4U6KuhrclEMTSunqoZ4uOuVY0pmEaL00WxB3Vh+Z8N6GRGfDvf8qt8unK0UAGhDFM18CQEQLN
5SpxK7SC1aUdeeRbVe5VeiDgs5jSMqjouNFjWLOF0iVItDG54Rmy7LU+NqlAE8mOHKEfiI2WXKNh
wEo5GFXpe9nb35+/j/wOGlEoRkNL4nJpQmsbpTM1J+qUe9A2W92uIoe6hlKrTp974d55ZljWW9qP
124DHlXsKCZglmmqjxLup6uFNy7JrClxojIZdmml9UFv4b3g2RAxHIfQNso88Pi4JbN5fSY++Lxx
KuA6GOKSDh4oPOYa71U30jmd9kzLj5zmW4K0Kx3CSytSrX1SwJZSm5UbiSZ7M1LqzxoYSpQ8TNx6
b7RJCEnVp+HVAMjdy6I2Ufw++9XnZMe2iFyvfQm/BDEdmYOqYRpi+QyfttlRmlxRRepGrFF3JblH
yZtNwte9DG3IjarE9Q18aUtq9iVe2/Q27oqoyvInqGfhGW7vjOKRFfNW0Fm5NBZbKK8iIcKopy2t
qxgHs7E4dyNt2VKlJ+8EqoVg72M0FCmnARCk+jktbeAbAPi4txs6vN4+OGuu9EF4APvotMrVkZHW
U9IPrRspGfgC1a4bfIOZ5uG2ldWVAkMBQBvcFYBDyZfaITXVuRJulOZfRsb8rLT8wngsQbU6quUh
TxpEPjfMyc/bhte+Joo+KKah3gApr8WzPnmO7vSjYCl2uG7K5jQP4/hspeq9k43qvWEP6unvzYG6
xcVtCK4xXCiX5qgC+cWezu7HjagojwP/TjI8XrStIsraZ/tsSIoA3mjUU9NMbtSDuwFPZoxe+beX
smVB+mIQSZzEUMKCaka69zJlGy6xFjoXNTLUH3ETXVGkj8DSm0qnuhEYZvzkV/8sHo35AHona6uq
dp2DLnPx4DvCKBWudrmXUpXUKkehuJFX/5NUPjJpkYbFtAuq0R+sv5vhxWMDSRjGMZF/mioazVL4
IC7HphW2G5UUw+lmnfAAAqfWRpC6zrwgloTmPYgl0N3FiNOln/WdLUbOWyeqlG/1qAaTWwfFtLGU
LSOSMzMKpUqVdE6U65nf9qrPtPv/sxHZkQ1RuQko+qKqSAOdPWBELQTx7G1fXlkJUi28ABdidcxb
Stmdp+Hprk+ZGk0kPYJKMSINDRqTh7fNrLg0XlEINSjgquBIXY7Up2DD9WGwCObxI5uQ0EvrR5be
URNkSebrXIDyuR030Jgr0c1Azgp2CdyJSyX30uBUzeWMiK1GzDnY1lcnqA3ue1sVmrXdgw4KphuR
NQKPv/yKT8uq/h9pV7bcOK5kv4gR3JdXUtRKb5JdrvILo1xlEyTBfefXz4H7zi0J4ghRPf3Q0RHu
UBJAIpHLyZNyNHZTNssH+M791o7pKpVya01GUa1nSRBgLzYLZkCZcfXMR5Istyr2D2j3t9qsvJw4
j309CCzPohiUVIF+geG9yrui4GmCRhpiNLSpEuuOJKfOePl7VcC785XPgi7w3j0pU7nUnUY+ZFXr
TvU673u/Lz/6/BXT4UTVafaIXYYSGLrORvOClIJNNmMLPj8gBEU26qDyIbpvw7u2KlaVaSJZt+8E
oebCm4DuGVQHmdlBPoXTBAw7nOXEauWDZL7r4Sd4om/vmuj3ude6UdRUJwN+f57u7eLnv/t9+Fks
IQS3/ctLOdsobVQSalY9xpPaVQOjCdaJ1Km3txexpF7Ib2E0HrjKUd/gbHNlZKQuE0U+pMUH1SoP
HGOYzCbwaxaP/EwIZ5tDQ5EA51Gxkj4GdXD/AD2ODPJTk9/QHyBwBZbMzPmKOButNlGU9q0sH9q+
2Wjqz3zs3NRMV4ZovOuSAYWJxkwk1ocPEuFLRdYmYEV7HN0BXPWFGzbfxvmI/lnNXGei3MWiqsHK
4FVAchcUDpeiwjZC4No4sNWMlWkGk7wIzLC0awYQ0Zhlwjp1edi3bgzKjBBfPqCj8Kfa6kcZwxS0
xKVRur6tcYuSYKHx9gCcBBtwuRYiGbNFUPg8mNo6012jQjgKfiNRB+rS6TDrjHI8OPhRmLoUY6f9
QDJ4Pgejc9zuvlV8CTlipbcwV4igWC3wpZfuEarhwH4itgZ1L2fVyjglhYYUwsEKMQsPlWr8P34h
GnexgLT5AvTitYFrCHwB92hnCWBEhhWzCn91l0fjIU6NyU1ye90ae9Pp3DaOXAUtUm0RBaNMV6Fo
9PnSvoKLFuQ0IAeHz8gZjFCNnLhWUuUwta2rd98K+9FJIWra1OaqoE+3lUUkjVOW2SxNtA5lQJhm
xK310m8iecDwUteO1rM0+VWrFQJvdclYISWDUQosMwMo26XiyHlKawUDig5luNFBLWcP/UZ1PpKa
er0+vv/9+oBmR0ANfQCGiLvYcpWkPRo75AM4UABXdg4dcjB2NK2SygUG0zViKjCPi8vDmEeQFKL1
AXHm5fLMJNKUsYCiqgAGq2CE6HNM+Mi2yDrDyRShJpauBSC7sJB4iOHNcudnm8mMUmGjHErMgzD3
anhnJAIyroUyMdyJMxncTc/muHCMFHUqjC1wgffC9dO91n4eFGU16RiGlG9RD+vjX62I82JpL5nv
B3/GQFsp/0LjRe3UBl1uLI03gzygiH4NpuRhWAncTYHZXNpJMFFgpilcdhYYXp6bQnqtmyLIMkGg
HqbGt7wqvbbJBNq/LMZAchBkyYz68FIMniDwoSgdin7Fk9ahWy91ByriFF16AqAMqFQC1YyEINvX
M88GechKQh1GOQxR5WH8YyRNbm0/zqMgJlx4NnWcC6amIhmvIdK9lJObZSPpLBYYaTq7I8p1W7Vo
RIMSFlbDzARLFiFjpPNZm1lXprHIR/lgd9noR5re+NqsuH00riK7lAQWceGAENsguQgyLDbUktP2
YigMjQzwpfTklFh3c3MUTolaFsGoMmAEUWbgLm2IgKkLO7zQICRxMPbavMunpsfQn0ZwPiJB3FpG
u0nLCos9mOUn+HpL8jQZAid9UQQqMYwllTX0cg8m+qEUNWZrmebctac93i83F81sWtQzsFsxllRc
EF7PMimWYjIQ5aApIQY9To6+Q9X09fZTsahmCNNRMYAZAM3UpTIP6G8xUqVUDlQf2lUZGqkn6Ua4
bWfS/I4dQGtvy1uyq8zbBGU1SISu+w/mxhmMosuVgzxX3Q5z7uaVblSJh1SPjFyRRHwrzgzMbq2g
6H2CtgpFLcFdNogQUEsrZ/lmGZkxjIzhVb51Yvg8UgKXo0jcSL1rnPBbn69MqTsKlsycFy42Rehg
A9aBoMsGw/nlHqtoPpxA/6kc5nWNruV9q20JdTfpM1zGVqCZC48HuOgZooxl+2DTL2Whe83prQGy
gPxyjXIbTnAwMN3XKsu1rr/cXtmCH8UQBUAvgmofjZfcwkq0EY9yg7MsskOWHyQbkFzzbe7Kla19
62yBjVqWhuIWrLsKbCD7+5l9V1CyrkiNpdV4gTMf5I+Np/+u6pUiItFbUg08Uv+VxFn4tk1g/DNI
6jGs2Hovs7fBGDwzF5zVkhU5E8M7vXRwYnDSwmlq7FdwNXky+Ykx37ePiH0qr3vnMjirG43gnsVI
ReiDa2+KctNZ/n07e93vgQpWs6R5cDlBxgeyTlwq7nhmx676tBjhSmilurKbOfd1K653cFE7L8/K
6AEjtkSv5NXygJGEtwnsLLA0KCNz6t6AE9RKgIE4qPPsqmG0G6L+e9utR8fZ9XrpxvPvISXfbu/p
1bkhzcTMMnwMQOYA0r9URLmO9b7uVekgZcWDVO0SOTs6RiPyQK/MBhMDLCxDjrCAkw8ZQIcjOXoo
HWhWrRTn2fyNuToV+qTQehetu7jajbkgmbqwMjwFKOSiYQltNXy8nqczmhp0mQQpIEhsTF4/u84g
UEmREO7JmWD8+ypVSRDLOxL7mCGg2d//+oQu1sFtXYiBv1pmQAQxG8yP+xxwg0WDF66eZxYon+0V
p3pS5SCoGyYSmPt8Xf/1m4FfB6gEtwkpZ9atd6ljfUzx8xZOYsjvkdN3jVfH+kHHdTTu2+IzwgRw
u/97tWZ5ezbTCYVmJKAuRVamXmI03UwwrxjoZ6cG47Dljb3ATFzZVrYw5JVYXwk+XOZs6xARlIJa
kwTwsT1JToH5aFwl20/9520duLJHl4L4MErObVNqMBAuAPEKgt/XLA5Cc4PGQ08WIbyuNRqZIEYC
hMQT1nT16IaSBiZLIwtiXJsKFTwaufFfvxb44XMh3PH0jY4EyQwhEgFPlQMJUrPOsr++nJCCbljm
1trXzLjhZCR9n+hZMNs/QeDm5XSfE8HJXKMq2FLOhHBLaXuSIl2oZYEVATCVDX6fWau6TL9Pdn/n
JKCxHsLaVTvdJxNQiFqNFsOyCoBT9Ma6RDOSKH2xdIAmi391Rs6Ddr9L1SekLcY+j+PAIUFpWChT
bSpRS7tABj+VSJ8nPSEKiYPReatlx2N3uOpEeWqRFO6911PiFE2NldTmi9GULiZwdWrt3r5aIiGc
BR/yZipjJgQzlmIMm1GmdmXEkSCO+2Jhu/Bd2AgYQCWA8cHlQm7w8lQaNY4LzCXPgqanbmqT7RRG
bqqD1tizu/RO7kq/ABkFmAECpXgFnatG63XfZMBrp15KP6A8W7nRd2pcunM9rG5vwrUhQ3yOsjO+
EPlzjT9PRyZDCRxXEZR6A+iwJaXrTjEzL8Z4T3/SunhzW971e3MpjztZTGWJlNQiRYC5qCt9bkD3
8f+UwB1rSjsyt0NaBGMaeab5EYvihWtv7XIJ3LPcy+FEDANLQD2z72q3TiBH+lDMp7owV0iL+uYo
eEhFu8a90iAJRUhZ0iLQCmOlGHe9JQt2beEyXOgB+/tZWOIMRV10YVIEnbIZZ+cwG3sjFVFdLwqx
ED6C8Re5J4s7msmISUTHsgDjIyIRFG6/9yVsSJjXH3+vZez9R4iOC4eq+uVq0lgu0OBaFUFGQPOJ
nvlYv0d3mAgMtXB5UA6Cc4NMEIaO8X3LSgMct4TW4SDDvDHLs78PDXotRWTyS1LgZIDmgE3vs/kQ
v2mp08XwaoJU8rNSfgI18yfY0IBZF4FRFtQMJ4O2ObD/oIbBN8rmAxqRezMvAmfOi0NoEnXtxM23
22ezoASs3KkghwDnCMCXy7PBkBW71DO9CBI5anYjZq6/S+OQuC3SdyITv7R157I4hRvsVEVqGLLi
+UWu6p1h/BjxJuu5iJLyGhaHoBEZW5aGgVd4xcXZ9hMyJ72JG2pJawqPwJvTblPWtadpdNXLGJla
RQ+UmLumfby9oQv26EI0t6FIKmWMGQK3ClVxF7qvrihcUVL4Lf3tJLVrSTTo4klU7VrcXPAyo1Ed
ziLGP1wepJKGjZLWRRE07mg/UdklZGv1u9uLW9SWP0L4KBUEEeAS6XGTZXAEh+VLl2CIcG71osrW
kuojVYK0PlqDkd/nNhE4Ucwy6SZoZUv0vVYU42qi1ejeXs21N89SaCAPYa0hGAPL/n5mZVW7NlI9
jEp4T6gLStlhtLp7ZMJ+xWhrdR1dFUTfi7uHZhDoI2bCgSHoUp5WdHoOyv8isOMi99NpLnyJ1va6
kImItGxpA8FvyIowjNeLt4VN2hlmraVl4FThplEbtL2GRgeMzO0dXFoRYEUwHoCgokeCV7pOyfAF
RRk09uNkYuInIqEm6/3bUhYWg+QBg34BJwX7zp1TG1MbQ37aMtDlDXicIeFf+F1IjMAlBCM8KF34
p5C0iURJ3VdBGpePdkEPBZk/dJV8GLn210876C7QRIPIAKQnqN5eKkFHszRXnDgLkuSnVLwiKtCt
p9v7dX0qlyI4H5fNdev6IskCFPvGPnbRZKHkL7dlXJs5yEC/AxK1AJpCBS6XMROMqahNyKB9tQtN
EKS/VMOdHR01upHBTyMLNI1ty6XffimP2zawCqNspkKeg3yFfDd5af4y2DtZNLJxae/gDWEqHnLq
SMWwv5/bhBT/IIOfBSUm2eSReaDxnQ5yhtu7dy0F7hCI75APAxMMBF1KsZMiMqV8zIJx1P1xOvZ6
vhImk66PCEJsDcVsDV4RvIhLIVUF41mZCO6HavaK0XL1Ab0G/WdMRg/NlsWmKahgXdeP0KVIzm63
k9paXY9IPzEkTxm+WUDpQSEGUdp+cf/ANIpUKdI9gCNcLg3AotgcZRVyBt3P0CHlgGlAiKFdWA2Q
B4zR9Iumgqctn0o8QqlpZYFaUs8KFURlGZIG8kl4VNcWDlb6TBJnR6c5k8vWgCSne43HO2cQzeq7
FgBEFqYJwDlAPQ5QzMsNU21JQUJpCg9Vts3TZj3FInje9WaxdiQG/oTvBfAn97iB115TyqZwDlJX
+6n0LcpmNHfne8bOfvvyXLPZMCwWwEvgbkFDEsK/y8VMs1KC0LEKAaP4nbcrR/6Gggc4+0NXnVxp
Vre9tEezs2RP7yUyCWUbRPVOa2PfEDXQXOsh8lmgdwZsi0HT+U69MnG6Wetn0J1N9hCUVk/9eUCZ
oHbkbCtYNdvASwsIYjnGk4UCMaCWDmczSJ0A+5q2IWoh7aa0P1qS+FpbbEdJ3Y8ZfTRzGZn8xu3p
O0iLXwo1EXSeLSwWm85qFA5AqlfMhgOo1hpEOdKh1PqVqgVx9JJHolzTtZ1HgIgGcbhHePNRBbw8
27EAf/DQIsNa6eHaMUcX1jGanPVE3jrt5+0tXVgQFBWFEIYfMBEyXsqyjbrSyj6KA3A2vlPrLVee
0tz4dlvIws2DAcFTiTcSrZw8yWHVZG1aGWkUxGPVrWaQnYHzRBfhVBa2DXy+eI9RxYRq8LZepV01
T0hOA213B1aWe625T/QnJesxdPX99oKY93Cph4h6UeHGSDUFXY8a512oGbj+SSghUWf3q4w0OySn
Q61ZY0KwR8vPyhQk969PCfLQVM9OCTeMH4jSEbjMM3FizLictjqZA6OUDg6ING4vi99Blp1GegJd
24ycC/95qQyxPs5WnHZIcsZZf6gaqUIJKcvXciHBdwZvqJdgN/7ySqH1DokXdBgA94N/8yNbsySi
OqLQJGjyvaS8sJJS+3l7Xbz+QQR6Ydn0UsbQeFVYbMLYytU0TgNioT2nGKNTZGSiNu3rzTMQbIBr
CIquooDJzvDMa4oHO8HYwTYNQkDYbGArQkv1p374VYCxMMGI1Ntr4lWCrQmAItCHASxlYVmcOEwd
lQ3wuAVWgxQtmOQT9Lb8uC2D956+ZGBooIOcEpseyOmD1dlxUjtjGmByuDeVgOQUP83xEVwG7tg9
Z7Xb129/LxGdvXhL4HYieOMymXOmxllppxQs+sqvuovnR4zOHR5sGPZV1dTJjoTmtBmrodmkVSNi
5OKvNVsvXhUwOiF9AcYQbr3yCJLaWk5ooDvgr0hae1t2xvfWHlbdMG60eS90epZ2GBhBk+0xGn0t
7kEb61aPMTCFBvaMgS3o+NW8cGjXulxZLpXSxDOoVvhZLYeYMNU3gvt+5UVgwYjDgU2GGUMuj0fP
Sp3U2aNB82DubDircVVvDIX2no5xMSurGcqN3JaVn6plt1VK0Hy70Zg4u3wcO83NzXzyMY26PxZt
SA9xVhdHigFqgmTSwuVFfz6GosHFZZgwztb2kYHBN5pCA0y6SX0q6fUbNaRakJe44m362go2UBIE
JsBS8p1IoBHLbaWyMbX4pSg/kwfgHYuN+QwixvAuVb0SMwM+NGl7W90XbAaD1QP0CHcGV4y7xI6G
0XmzguMvlc+6/yD3qrTPTsnLbSkLan0hhXNL9c4qMtR7aJDmhwjOUYqJ6tYz+LAqg7qyiObH5N7G
fzbyz5q4K2xorRWViUaDNjNGb1DrCNw1huyHVJv9qGmj1e3VLRhCYEVA/4GrC9IX3rnoozRl/D80
mAqwNeK932e64PldOiYsC0xPjDcFv3Zpaw2adg1uEA2KrsTwVDlx7hAUkX2uUOuxUOnslrXI01w6
NIBUYAzhVjPu+0uZyCDFbZpBH7vwcfIxUdZV5l+k+kw+bm/fggUCvz7yPohYdOSvODmTTSrZqhGG
N72EplJMHDtimF9zV4Z55U+DZOyQbiX3UyG9AzUrKo0tSmdMsCxmBsMIpyxSiu500OJkQTWma0IH
8NFXP6wK+Oza76X6NDfkLU8FGrOkoXCukX90kCpDC8jl1g76UAHHaiLzEKYuq32O5CmsT7Z/e2eX
FBMvNGoxcOZBs8n+fuYQ5LHRWgMm2AW03Tcgo9Giu1JU8l/STLROfhVy0XHI87wNmtENk8xkxK61
BXgBIwus2h1E4ym/WlXOPV52qzE2GlAwFpcAPX25GAzz0QcnK/NgKh9jDAHMI9kDBXfSPGmyK+fg
2yvWWQdMwVsdtq5UPhTOKpQcvzYjd8A8SxJqAFm3Fhqj44dm+K6QLWa87stZFBkv7fr5h7IdO9v1
rsTn90mTBxpIdFGwxmz09ZxmgrO9ViEEM+B9YuMtkf/jm/HlrpqGKQVOTO1f0qOGmHtW6BbU5KJn
6Xo5SM4zEktgXMF2wpuBtuqAZizlPBizwlXA2SQp71WXuPJceIwTxBiAJ2rJi5KebFlCnJ8CnTq7
fWesifT7tkIvuAuYmwKAKx5JZIivgsV8QDPYZIbA49TrLvfDe+ps2vl3nO3hIKxJO2yzWQVnNkbM
jb9LI36qtNqbzM8hXt/+kisIA67txZdwVms2q1JSMTwpMK2VPvlAPD10fr/u13RHHu19v9OORe+m
vdvQdVncz6mL/ovb33BVYOO/gXtWSw14EHBTI8W8+j74xEt9t/ve3ouu3hdI5vLqXa6Vs5Fx3UpS
1jqwkX7nK+s+aHe6rzw762KPt26fPsX7+dAf2q3lP4I9di1twBq8wd3aRA+f2+xUu2iL2vabYpX7
YBteWwJzev1S4fsQ7+AusPjN5OxcNdZJBSLUPKjStF6n2oz7b1u1p9Cu28hGovkNMUM/z1vRESzc
QkhmORIVMYPFh1zaTBNTTZI8SGfJbctN1Xk1dZt2d/ukl8SAvQmgetb3hYTnpUnJJLgF8ljlgWxQ
isgHUyP04q7G0KxYlI5Z2ksT0QfGYiFgxTDBS1EObLntlLBeYw2yPgNg0a4PtPAAJjXgcaofRioy
MOzjee1i3hPjykWvAt8NMdt0AoSK5AHFfDa5WkvDh4WFJW8hmthDBQ3lFCyxUWAo20HQ8n3Vs8Bu
0JlsPmODZsiwBSo2D+r5l0M2jYIEdvSDVi2mCblV8dSNv4p+HXWCiEIol7MeIea0pUkBuY5trq3B
WWXNY0F2yt6BHmFY9tyB/3F6KzAb5LYmLVlzDMRBSZJV8pAmvjzeRC3mvJ9qXBWpTjyS5gkK8cgZ
KU0hqrEtaRLKs4wGBa4VprlfiiL6NKBhUs+D2ADNr0OItOnAkuNa4TCvC6dN/MS0OtAR5pXguny5
jLxKnYl2uJzikFUzBY49DyLT8LRUf3HMt3ZYK06y7vV2p7QYq6j7M3g2T860Qnw5jPtYfR1rehea
9WZqH5Go36qPZoUo8/YBXLXkMpU7/zbu6C091izwjuDonb1qrRplGxG0qTAur3U0PTr+iJgFz5cj
eC2+imbXm8I620BDgYEunODBbCunyrEp2RGJlN0DONDDb2bhfdSu4iGz4rYe9VW3dF9/YNqJl67Q
ZuKVXryO1uy/0xX8KT8UuDFMCa4+CrkjZNMZKNrgLFtbt6YjpQMMaL7p4sIrpoc5Wxc03xC3Shy3
nkU0cdc3AJ2C7BCAVEXKj6+WY5bLqHZgbwsSOhuuVUeH0JEjVyLV9vZJXxvtc0FI2V/qf1Jrjaqn
LWB9vX0IU+s1Ap1XrdteLQs2Ub/aRCaJwZQZwS0a4C4lYUTRgCwKgBpOR96RXeq8nmZE8MguKO6l
FE5/ms7sSGv2QHZZDpzA1lPLD6eqPER03lTMLjEwFq3DcAPJx1iFxi0NXZCbWzw6ZL0Ztzs6u76+
8MyzNvRhlka2o5bzgkRtrdzJ6svtQ7s2Wlgkeo9hrzRkEPiXNq7sJg/loQiGJ6vdV15puDPxwu8p
EdiB67jpUhA707O12GqVJxbw+EHroC1+JZWb3lwbz3ItuPaLcr7uO8twY0WXcqZU06ukk7FnrYHb
9KokJ6fpvLje2yDCvb15ixp/Joud39maSNhWdhlBVgt2IM2fFOJFlS9MhlzbDGzdmRj2GWdikq6W
9NAeAe6yvMh00ToN/FPkD6uo9Ud1fXtNov3jojk7sussm5QiMONPmyRITB4p8n+SKSS6ES2Le5qn
Ls3ykqqAdXUFurnyu8Qaa1dVR1cF2rnP1+GkPExaJOgMEi2QfdbZbjYD5mVREwusZ/2OhvoWg9hX
xrBFjsK1NAHye3mNMLqWxXLsPH1to4wR8NMGhI2fYfzbUFvXyFwoo5LFnvU4KoNAJZdX90cgd3z5
DNjHVGFTFeM9Cd3GrrxmF+oP5vG2mixbR9Cr/u/KuNMze7hWBMR1QRIH3TdDsp+n1h+St6nuN/Ow
deC3O2m3Q5yOFimBjn61oVy+ouxG/BHOnSH4eamCGLwMAF3P3bhsUlcyUmTya8Au3cicvlvKhGIF
MJiWn6QOyCy1Kn4NTTNZmVmS7+1WAsWnBCZvwbawp+fqy0wwLyJKQhZB5+5qFjm9FA5A22X38aHy
JMuVXtLH7qRm7vz4b2Sxnm02UgqABM7UGVrWOPGE54HYm1j/rhWuFo6eeWoGr5V/qDZ8nHLzr2Q6
SOMhO8XaIy9vj0PxijQGbFG7nmTDD53vfXVSMQNaO0rDSzR/jJXghWKr4HcULG8AVyN1iPYx7hku
FaUJ+wxGdi7zR+I4d60y+bdXtXRLUf8CtoPlnK+4IwaZgsAwt6HL1raFGRiyA+kGb5Afs5C6pH2r
9L8rwTLiAMz2RWTLgNbI7XG3x+kS22paC8NPo9bT2t9K8xLOgivKXp+zjbuSwV2SsiPjkBfSeMSs
OJATpB54s70+/HZ77ziD848UUEYDFcNwGvyg2lwqUxrWZDqG7SyfCDInK6SXk21VKpkv1bF6b4bT
IHCMOK/lP0JR9AW5GzgEDe7hrZy265A4HY+k1k3Gyy9lmBdLqmlaz7Fe/wIFkP4K/G65HogUNrvb
S+bzUF/iAQCDZNBXIeLjLnklzbOUSdjZISnv7XkraYEB7HPR73q0mQ5qcuyMrTP8nWfzH6lIgoJS
C44Nn0Q3jTqfkyGZjnp31CXqd2QldW+DuR/I8+0Fsu/nNQciMIYN3CCY1cRtb5wCAUUcMh4tBykX
O6zXYZGaLopasqeFuihEXDpNROhoVgOEHJSb3JtlZek05MCJHadIa45OM4yxayS12a8dMs0UNW8b
8wGnaAITT2gW0fwvNhZONstpof3fNDgLo9M5VfJenY9zWQO2GK/szNmObfZBpfGHpvWi8bZXVwZz
YFCAAbUBKHGQ5eK2F/mHKuurvjsS+DqTgTEZKADX/btEfuWiyW9XR8lkocqN8MFAopBPbynaXNNG
srujGQ/rvFRB9AgcZh/tVFWwi9e3AqIYJzBMNBrKgf28fBqKdOitRqt7VLM63xzuoK4bPRzXXfib
WqUbdaXbkfi5MyWBz8OZbxucyyrMKZ4jtqUoq18KtjJMWk4HG9PSy8gb43eb7GMCWBDmR//oQ2Mj
nKuysKlgVAACFE8FemVM7VIgRaA+F3ksH2ugMzFHKiTlkzomCON7wRu/LAkFLaDfgDvhl2aTuK7T
IpGPavxaqkDabZIIKQtJBIBb2EI04mCOB4aIsNQVt4WREo8jmR35mNbWfam2PrykAC2tlVW7bZIE
5Zi8F5mgyLu0uHOh6uU2KhEx4g4YhGPUxF5DdnL0G/d/0t7/0pqBEgbwKry3WB+AhNxbm8BR7KoJ
ayO/ZYz4VJNvplp5kyZ4Fa6s2FfrJKMqYaQDeJkuV1O2UTMoaaMcS0J+qJOOZqZVpiv3OukDwBk6
Yvq318UnVaH3yJEz3CKyyMyP4BYW9Uoka6OuH3Eb1zPmu6EzcGNTx8tV6iaYyjLaoB/vylMlpxiO
9Usg/vr4kJEA7gq7yiBsKtOps0Cqr0OpMMzZPrZNhwE+93mRbvIadfPML+STE3+W449kfso3lbZN
4tQ3zTcJbQ6CXWBW5eKtQiYN6Ysv4huWx+fuojPlWh5SMzxSqSYMISMdBviS2AtFhJu7tttAzwP3
h9Iynio0hVwuOLYnqlBTJadM1l0tcKSHqsGzVHph+iLYW/bV3KpQmod/AaAF2uN4jMCA0CSzpi4+
aQ019lFUfR+GWLlPp1xdG7mUvTpUBXeMjKFeDZXnXaWYD006NPs0bw+aKakCh+tqlw1sMNqDkSBC
fxRSapdLN0ottkoF39PbD03/POSDn1raWrDqqysEKZi3wupaDFrCrzpFX49CvlYdrbJP66FfvY/b
5DP2hh8FpuSWnu1S31o5iTs+Cokbr9+vL+kw68BnoXWBh/eXqhJi5nwfn0Y7dbv52cpOpHtq7Rho
rM+irH0VxeBJNCOIC28YuhptlkDRoPUW9S5ef2UVY3YBpI1PaRX5xgRmPiNfCfaVWe8LbeJksG84
u6lYFWoghJ3ed7hWqpesHD8u3P6zdMsXS5BfWd7HsxVxuiLFNFd7uY1PnT8MfiJ55qpbRZ7Sraxk
JYJ8iLaPu5O6IaEtuoMwaUzcUPsdE0fgXfAcD/85IVAoAniAMvxXZfxs97TQybpogF4gxbtLD9GT
4/d7AAJ6X17Vd8NWegZngAhUcWVr2JFpcNpQtsFA5K+Z72dC46K1zFTFuhK8xB4Yo1bEoniPW/vY
xOlbporSYlfWnBPInRqlBPmrCDoS5ZGbOdE+Ud9r87tZ9gL9WDIl8NMY7xAuOlj8L5WxiWuaqsYY
n2JFRzHOxKQRCo/RG2xZRNEmEsXpvUWoCmIjiJroaZIwEMMJXUQbIgVZvF4IHdCSgQzflf9pZlE6
zmqI6yV/RIWyMUn71GTaXTzuKS132s9BrXYSle5TS8Tiy4Mo/1HOM9mcD0VDrUb3kxOfdMubqRfb
q3INlqo6fK+ku0p1rXQX9Rju6yKsuW1VFhQGrNgg9EUsylpmuXOMaiM2lR7XQraKXVpNR0cfHZei
nUHr2kSwxwsnCWgeo/RFoAZMKieMFi2KZjFOssbgbg/R4lECiHbT25pgVQv3jlXlMUzUAq0fXqNL
7cwHm+JDcJbKg9GdKt2PNaRr/ewvOVTYubHsINDx8FnQYMD5btQAx3MOWsQTPPKt5Lyk9D6xFUGW
6cqrZ0LQXw8zgqECgMlfLgZVv5p0NU1OYOCekyBu65WkHBNlg6mX7li2K00SOMF8ZvafdZ2J5MxI
qhEVcTpI+ItPAPBJ4X7PV/aPD/W3YnmmqzquuW1EbWZ8Lvo/QpE4QMMB+rP4higln+Eikiw5zZqX
fRb32ZvuD5t5Z3plust6zxbAKJb39Y88ThubxKiAn4a8vts7ryV9IjJYkjy9Ajh7I8KAiYRxh5jX
k9QmWgk2U+Jgpimiv8j2rHFlSafM2Q2jjdBCNDbpOrT40pw/K+SOsTfqpKMJVhiFA6ADz5Xsjumq
1AaPaqOfhh/RsK6RqzEGwesgPEvuQacm1eRxgs4qv4ou2fWKvZVeqmg6JW3QY7paj3Gadk88J7nv
GhHTANtLzlHChfmzbGYdzl5dHW3Fcga+/9OkS7lPy36Gn1Tl/m3LueQhIWCD8TTYLHpUKS/F1Fk5
FX2SJ6c8gI1wVWtDi12sug3xa8kd5oOoKrSoQ2cCOauWAYoAdnwcp+nN24S4GIzroqVkev19e2U8
EOWfm3gmiHuOqhAzHFUFguJv02d5sg72R/YT1FCDTx+UzP1FXW3/I1ALdx69/Kh4ysvtD1hWn7MP
4K+mrI/J1EJ9ismNjhi5q90Na3k9rKrndmPtVgJx7B5cKcyZOP5yAp859yPEjStMfH5TPx71h9LX
iDduAudxlXwYAomik+QuZklaIwP/cHKqw7teBzT+NCDVoDAMDTkWz0kiAn4uPfOYRckIWDFpA3Wt
S12VlL5ABwhOdCjvR0CK8k/6Vhfr2/u4vI1/hHCXvtKiZIqKJjmFlYqh2bP5TtRa8eJpFA3CWnKY
GHTEYllDgP35LGWeJnmDMW3JqTUSNGXsp3W404KueTHMfZT8qurt9Iz5eyCbl73bi/w/Lscf0dwq
rUYFsQOGmZ7s8SGkH4150FqvwSDmKnIn+dCoq7r6ZT53P5PO05tvkU7c8BcF8X1TPRnOq26vEwCZ
bn/U8vH++SbO4mXZUIE/GNsRJVK4Mqq0W2cYurUCX+dJmgf/tjThFnBuD3LEWVxYBR6zhqzrL2oA
2rvUeY+M/rFtURMf9yb1ynI/fpJE2Q32dlTWSYrBq0AVx54646F90rRdR0V4n+Wb9Wcn2N/PbD9I
CcHMwk5Hzg7q3vTGbNe7zkv0KItYJZhRuDYa/5XE860ZqPsZZsE2wagVd5rqeNXouYip/v8whX/E
cEa/0B1ilwMW5DgvquWnQV+7qeZmK/s12ZOP2yfLz2X+x/KDw5bl4YEx4JmAJNJJbdT2eGIyX3bu
wda8KfpnNsJqUteV80J3Sf0yNN6h/G03h6lbU2mHCr3y4/Z3LGvYn+/g31bTScdO1mFKcnNbzJ4B
2PxGn++oOeG2P2TmPSAAbdm4qrEaMaFjLBpWDgHBb5A2T1K47aSfZubqR8FnLaS20Czy3+3h44qk
n0uNAjRx6nvyQ7LXebOdCKawPyBYa2jxpHeVh2ke+7rc/g9p17Vjua1sv0iAcnhV2rGjOr8InSxR
EpUT9fV3qX3umb3ZwhbsA2M8YwzcpSKLxWKFtVLrU05eaW8T6R4Jf6YkXt6pmOfYlszPKzfTyC6T
ryJauFNtHJTBzkwGIs21ssqyqzz5Zu4yHzAlnOaoawTqY/GWBelddUU3ozc8qM/xXRoIa3XAxVvg
RB53d2czYxCozpOgCqPJZw3oOtUKlHsY6lmlQ1067fD+YPSxcA+A++D8tGcUtBuSgcORK2j5LgB2
SKOd2N8rlluK2zaekDh/UCZfb53J7O2QPjAQxzBbpU6DYN9obRqtmO5iWHj6TZwvLjGXKpRthfUG
sW4zvaoCPishbiFMvtJ+pplpl/0bahj+ZeNc3OhTwZxXHhR5UqsWZyaODkUeKMBlVsiNUYEJ4KYg
PqqTIQZx3dI4guj7suyl9/apaM7rlkOlGMkE0aUogHwWQ9XRkZaSHb+Y8toU2pLfPZH1s/4nHl4v
aytp8U9QF5KtisQe147M0m16KoFzuaqaSA2KTUlAZbbNmLyjVbOdCtkRjXils2zxiYZmc0BcA6AA
BHicrIjorJRFaNPkHm5FT3g3nHJTOuNVf8VWooRl0zwRxrmCaTLauuoHCBNBn+sMndsb5aH0QiCy
pt1WmF6YvsaLvJhLONWQ8weCjuJ1o8Bnyj21Welo7baWnfrBugFRRRERG5kMs3MwtmAITwBLvWyZ
S97oVDof2o9NZsgNvF9YmcUmQk7ItUYV99aA8P6yqMWr+lTW/C0nlhmXeZ0XwFoJouKgTw4VrySx
Bp7wldnZwnjsB+JE9U3hm2uhyKIbPNlXzg1KozFOKYPg2NiOyl8VUhiWM9oAfNkQ48t4uKzn0iV4
qibn4FLB0uoSL9+A5Ne1mHsJmqwwvxj2yBRFE6Jh97K8Ze1mlDhU6uci8Pmy9gCpEaKWwcnvtJkv
GMMQTjlsaOuagVKv5mLnE8fHdWgG+q84zl4jJQVGnAn1LIyXl150Jd0bDujHEE+ArxxZ6LW32aJD
QwYRJULgmyKXfq5fXecdrUMTAmPBspWBTPakIYlweRWXCiDSjID3/2K460EmOboBCe7lJLuJFUxF
+0Z1g2F2HFBbnVl3v4Gagy54PbcLFtuK7Bj6Wlpo0bOefAN3T4ylhemFBN8wgDN8oxwkyRa/i9wp
m+f6S7ktXT29zqQHs9w3Qo7S+1qOkR/H/Ylv/ywCZsXO1zqKeyJknYTLWUSRdR899rmtmY9dim6h
TQVKknTbpvfpcDTviue03FjCnmQYA2SJ08vJhhpAxJNvSfU6mPcJZZv/aY9ArH7+eTkm/5B8wedR
cZNh6qe7jttN135MqZ+DZcH0p/BOSI+t2O9EENUkU2+b1RoC6uL5/u8m/YKanMJR7QdZR/psY8Uu
BV/LXbBGzrF474GkBbzjsMiZaf1c00yWu0qMZBJYhzRBxUNmnkq+qHHM27ek7uyulNza9LT+dWWJ
Z2/BH+9TwdwxmIYUoK8DI0GYPnXxX/ThGk3xe7G1I/YlJHb3cXdZ4JLJA94GGD0oR8wwaueKli2L
wajewG9oCUa0bkT62ESYUErW4u4lN3IqiFOMZFMrKmaFWuM42CUZHM18uqzKkmGcSuBOb9hXmtE2
UCXVSkcGZ/c0HNPsZkg+qtzX+jXq4UVx6IoGYBsyVuAaOF85KhFV0OadaqXKqcrcDdPMpg0DQJCW
OABElVwlqf3LOvKz2j8eYp6Dh2Cg2qBadS41kQSjBIcmpLrtpxAAPVYL3VtK7H5buemX4jly72z/
aRc4L5YfhkrHchKnCmI75Obt+iZ6U+5Ff3oTn4V/E96eaMgjIEmE5oM+oDiWZKGj9wfFcNvoTrdW
woTFaBOchcgUz80mePSdryQ6X9SeKXO6Ou1EvECE0SUyKR4x/X2U9by+q1nKbFpV1hEwNe2tmmrJ
7vJuzibCH/bTT5gP50lEZjWmItAuSQJDctW6teNu1+fMzs2DoK4E10vHDx2MP20vmGjjM5Kd2AIF
qUI6KDIrc0/LWrOR+hLcywotJmgMvBZgmph2xmzUuUZG0xe4yPE2MVjQR/uhesK5U6a/qu8cLZuA
betSm3xNmp98hKI7WNuw9IAD9XH5M5aUPf0K7pAUTOqEpsF7L4pEfaMXJbpSRZCMXJayGFCjDxWt
WjNsIKbkz5WdOr0PmwTBexZ7QOMG+YvsAUNQKG4xSIV726nMK/HYt1/janbv55zzpnMqmzOddhoH
o7YQBurjDZg49mEr7LuC7uj4KIv7XpyrkokzNq9y+Un6zGGSn/ZHJqDOvOubD6a5fbLVpF1T+LB/
NwrfhTLZpVKyVQkF2YawS8bUI/3mX60ZHgPo3kXPN79muo7BqJYhWh4o8IM+CvFqmrStYKuAuJye
4nRHkA+tS99YuRzmvfi9XhjSVjGiKqGz7nyv2skCtTpipKCJVbTYZBbALJS42jABVNGXdVy0PsAu
/r+o+Yo/OdV6NkxZP0wo12CCwIvbctpivuThspDZhC/pwz0DejNEz2Yr4tlaStt0H9fM0aPUjqMw
CKP3cDA9I1prg1qMigAr/l/NZs1PNOurEI1LFJtnStEuAiuAlieOoeC52hE3Ugo3RnekPh3HxhYT
5l7WeGkHAWU09ymhHxqgQufCMU2X9wPQ+AIVMGWeXGi5L6Sx4KaJnv8LvzxDvYqIiADKyWMYC6D7
wii9NaeqqN2i/k56F1hVntjrXpSvRGCLegEBcsbZAD0K7zKRYa10lsRpoIQx2LditNiSoSFul09r
j8c1UZxfVHOGhhZK06BqM32T4jnspWlEfJGaa8mcRQc1w4/+Ry2de8qIXSqEcqJngVjWmeK1Zt1m
dmQ1RufXpJ+qq3CSBsr2goZcliMOCujnBjKEQBGaJM1LUSokXqnLRNkqSZhKOzoZUXdoLXmUXZkk
+HOk5ErldIMh0DsjKkj9lyTGFfKIujxuWKglha3ltc4O5iAD8jrSx6ba1mIJ/pm+F5vWBkBGYTo4
RhjaWrscFrzATNQxty4hKwAg8XNztRjNSCUrKSKmyvuY7Mr9bhxif2Ja3U6AA3D5cCxdvIgK8SRD
8znatXmyi2pKMZRotllQm1+SXu8N3EmhGsboqBADofhuSoA1CUg9Z9OxY/nVQDw1fciH0B+U71EI
Qu0LDBxfl79qIURWkIrBWB06XYF4xjnd3BqydiwjGqhxbcuCaOdi7usZcM9KH4AKdjm8Xha45KEg
8WdeYq678gTNCBzLhgmEBq3fSnYOIlTH/lbep8cuAHf5vxAG3NuZ+Q/IlmjoOt/ipKNGARgnQPHs
+oBuusrun7K9Q2+SfbXSDLRwctHD8UfUbG0nnreIIUvuZ70yXM+xaXzHZfyuSXTN9S0a0qmk+UtO
JGlDGIKMDJLYfki3GJpGJSJkjyCqAPDXthCucg+U7yqmMjFi/GSKz5hqxmxzUj6urO6S8cAbWkDi
nVFe+RubmuDTK2lFg7G+GmUvHZ1MHD0LoFOP8kt9X1VefhflM0c7FZmdkftctuNxoxX3lz9kIUif
22f++x3cvVMb1ZRUQkEDSlsbwCZSBfbMubUkWoOEWnIZp5I4e9LLXB8w1UuD3Cd3xVoR/mcKiwsZ
zhThbMiICGN5iAUlzDEKN6k3SfqQAFrqkH9XH0Vs998TWhIc8Zlt80fzesDGr8XMS5XTeeIAk4WA
z5uZDc/Nq83UGOw1LcwrvK13unldds7oio1tdXb9WveONHy2T6BtzGu7UUBYdlv1trQxajw289We
9cVjhYY+UEbOiDoWt7c0n/pMrvA13X4EwfoUvvbCgZooRLFy2woH9ATE2quq34xd69O+AXgr2Wvx
PwRrml/XCiwMgN1oogRwIecn2ykdBUnpafAkqe9gRLJNE2Q6vZdpgId15X4bSoEqvKbq+6CsXVSL
OwL2d0RVIFSZhzHPd2Sswqo2zRH2fY+RT2+n7qaPakM2dGfc9d4joOAc8cNyRSCgNYduxa8tmfwf
4b8SnmLc13mpTjQAOjA6FZoDFVdb6+dN5O1+fosCjRc9zCAFO1dQy1gD+GsRJjft9dLJVL9BsQNc
p472VD9aIJU2vHqN4eonI3JJKpce0jCkCNDhWTO3dwcvdwkQ9Pz2RnVCZo9256a3wl7xXnftjXYc
Hzb5fX89Xsdb7a/CRQX4nnxcdmM/+YxLH8Q9zWMM9zdmgQ/SbHnfvJf+R+w0TvJ1VWHioHc7Twus
LcjSvqvtXXGw8I31Qbj/bFzDizbWo+miV2DXbqOrzH5FPLeR8P9NtrHpHhI7cy5/LA8E+HMiTveM
M8q2qNpI7vGxAMDEnBm9I7qTBa0juPKzJ91rXrcNr8Xnbtc628uif1876GRG8D93ZqPoyee45aYy
ElVldZAJIPgA0KQV+ygZd3BPyLKFSPpeljdrcr4tGHmCdaKjeG4W48srpZLmfVWXbWA+QtF+94kW
zfqJumv514V81wwnOvPaAOgVRO6ck9EG1aSYkIMgsovRYNDdW/JxGFTbGEtXSHdVhzHhld7w+Wjx
yhkA5pqzlYCiFrkbrbH6qCqKog3URDtICSZ2rfir7hW/l8u/Lq/jb08CPjcRBFQSpGGqizPvcKQq
MdFaFUSNeASsBF5Sa5SSvyOBcxGcUZrJkJc6q9rAGEY/a0rU+LZV5RJTQo/Myp2wog4/D5SzVO80
Alljq95HWeor4VoX9JoIziDEUk8KqZvVYSATjDQ7iZ4v78nvs4TNx1MdaLn49y9qlrgJi6rXMuxJ
ycBgguGsJjbdiRSulhVeUg1/WWK9Mu+7JpO70tFvo4phSNuAhomj6NWOmZGd01v4E7vr0Wujbi8r
ubSMAEsAkMFMcA0AnvPrJVESI1dzLKM2Md1jRgJEKF18uSxkIdc4L+UfKdx1MkS1mlUSzLuym0fA
grnp8Tns7GnvaMQdVwbCl9fwj7D570/eAKTNi0mz8jZgDmM2ebfeWgbYuqfLOv0Ovs5V4o4TtWqg
54eQMvrxQ/y0dgMvndY/KwYMjXMlpAG7ELXwPVqjesIUaFaPAC/ApEanrlxXS27uVBR3koa0RMPZ
NPvw5rMECA/QaR+FfwqLijtxXi8DfY+gQ4Gb45yppFZxQwikTKPg0nJDJMWvleSj7Uz78s4s6/NH
0mzyJ/tvWXEyFnLbBkVu5XYog7ZYyg/oO3oSqmIlAly0AgyZI/hF6zemf89laW07ponGYGtV5OYx
uvGkjwlB2WWNls8PImtgoqMj+xcPwIAe+lKaICaur6IGTdly7QlWvitNIGzHnmxE18CydopIeQHQ
sjdG4+vlL1jUcw6vMWwNCBuekZFEFCAdudgGWfpaWFAzO0bxWnvxmhDu4OodeNVpLEFLS/DjIT5k
wnBLBbLiYxeekuBqQjwNHIIZXVbivFEYWUJnqCEMhH6HyCyJJhBBMweIj7QGwWpK7Wz6lgdgNSug
FRu9pKdeV6AeUSQ3Wlo4Mp6gFXkop3h7eZUXAsfzL+NWAN0qFelqA1cOHpGuULvhfY1G97/CyaPX
xnaQ0BXsGo/Gtdb7+pcZmGFja2qw9q757XzwGaip440rAwefH2joWjU3w7HHcF9qObF8O8rSIaN7
Rm1NXy26zVfaeZQ1Z6rxmkZT9FzQ5HQWBEFjjVp2czfyRGxGd3X6Xlie9hZV73jj2uj0FOg30IRW
zu7vqw9tSMDUAeQL4i6LBxk2yxEgIQZGGGPjTdMPdfpxeTcXYlYImPEJVJTzMKY8a37iiOpOnYpM
TfqgbYZet60yFaWrPkWl/0g70yIb/Nn6kASzU1yVmhOo6NPK2MoC+rTcy9/y+2hhgB61vvlNgOlQ
vgIuplOUmmE8BkhSS8QFCoe4TZguli54/NbwJn47YAiTwVcyPwpm1JlzvTuBShGwLMdAyLKdSlnj
lBJ8xpiMeDvma6HzomoK2ICAYaKglsmf5nEqOrMpxwBtLuIeSPD69QjA251siMlKZLEoCt1rJrwG
SI74Bv6Q6GKaqz0UY4CuwmxqtpW1QgEkNYYNL2/Y4hrOtC947MyPj/lTTm3HJH0Vh/IYJAVp7Eje
xilwRxkbvU5jk3dZ2EIb6YwrhSwlWkHmaQhuDVF5HxBNlywQR8G6tSK96e1Ci4BsBUAha3Iig5Xp
Lc5x5qRRVPsGbY16Tyoj+yi7Hm8+owizEYTDUv/QDjSjT5c/8PdRxffNCKwYA57Z2rgQpe46YFRj
JDAI0Tx8oIaaz5Nd8soy/F7zH44nEcZrznA43GVuTJEhVIrAggoDXQdM4bO9Lgjxri0a8iCqQ7XS
sbegFXYXmDjowcEYNfdKurxCv01zxs7887O4FUKCSA71SGWBfqd8pDv9+fKPXyhNnP98zpcB0iUC
tRx+vgxOgbf0EAc7q7ExBFY+0mz+fUXe7yvoXB63FxpNlA44tQx9m6AqOWTNRnpO9Lex3ozoFTXV
+1HwpNYWd2USOyjS2cN4V8dflbo2w7/Q+X/+JZw3m0pdi8pRwXRt5CndQX/XyysZ6bjqPfGr3BFz
DbCvVnfzvrICc4R/fi+ey+U8gCWrwoTaDQs666Ws3DrdNpNPQx+16ufoM9tcFrdk+5hcnPtXpTkB
wT1nlB60NLTJp4CkMqrvBWHorQ5vLFKFdi8XaxDEi/ak4NJF9DVjfPMQF6RpZ4j/Ygo6RXZ18p0C
W/8h3L1O0rbrTaCOE9O/rOHSadOBIwOoc7RQ4BFy7lGZJTVEGcQJzwK98RMxKX1mtGuJqvmn8Lt2
KoVbxyqz4nAc+ikw68KppXBTlJvuCjP/dngwrWQllF06JeDwASQnnu6437lTmbVZnoACbQosM6LX
It4JdtYa1U4SGmXTqEXQJ0mx+xfreCKTO5m9VA8DnDRkin2CJqFy3NCqMLf/RgpK8EiIoZP114wa
Yu3WaAmqv7LaXoFn/GVAr9KKkCWjn8EFrZmyUEfAe24SYwrq+U5EiVlux+gqkgxfDpX7zDBzlxFN
XVm4JRcND41+K7zgNMzXnktD+lIowpKKwYQrzh7Mrv3EMufXWt5VKzfZQugJQDNkEmc4QyAompxh
RL06qU1oTgHaHpXdOOagCEmbwgH/A3PyVIye+hZ1R2MAD01Vg6DZGCx9JVpaXF3UzhVEL/iNj5bm
wRTJGJC7mJA33ScpSO6J0jE3RebEiSfz619YjIku3DlKgDRuM6dUpqMRAlbN6MfGn6gk2mZdCs4/
l4I5AgNdCjOuKU+yqlFBrrQhFoPCGO7yNK3szuru/zcZvA+xOsEgGWw/pYJkk76NnN5aq2UulMrR
w4YoR4NHRIabx9c1UiM3FTpCCjL4e0zbNgfDZNYuHFl734lIzKVmA66sCND+mVqjvzRiui2FEfMq
NHp7GhEsf2gGUEVUbHI7QScPUalmTpwxsjLJtXR0gAGDmgbGEcFDzN2FKKVXuUVlEf2fYeimuJ6C
vgXgU5dkaXB58ZdFgfoQDU0AOuVxc4VEzqMmtcSgETrmyFncPxaNqdoaQyfIZVFLNxKqlgAnnEmV
Qb9x7hBGTSMkaxTYkthF11OSTJ4qt+K/saYTKZwraGsKchF4bEBQd6ofd2Wx07NOXYkfFpcN9NDA
/MWTGpmic11MORv7VI+kAMgWQODs0TtYTnJyjZSUvnIEF4ZtYLl/ZPEA26WKJpxEMMWAIqOACpBZ
5/1RAtnFsI2USeyOPSMKCMebqa9dxaoo2yrEEhsb9PQNSvaZ1iFFlqm6LRKtiey21jD6XKgJBhUu
7/DyqhiAXhUNZO34tyk4FjqhlUIRA3JpuZdaQ3th4tDchV1hrZRc5gXmAw9wkaKRD+8XdEhzRwQt
cUbZWqmE7kb5cZy0j7qS72MtiCQMgCB6nntL2pWQakk9gE3Ndwxo4EBEdb7pdaxO1dhA5lCXMeDl
QXVVCnHso3kiWhG1FOkADBz8ath7wFkq56IYwoFeKkopiBOg2R9a3R1DD9yz9bASEywdylNB89+f
PLzDMEzlxCxmQ85vaUycLKIriaeFixHXExo3kO8CnCwPbjyo81N7toqoifZ522wSoHvY2kDR2PJ4
2QCX4mxUaGfqdpwFA9Zxrg7r69gae6gjAuvckaPe1dtY9clYj9emWgtOS4rh2NYqKvuaeaV3Jnum
glKurOrC5AfSJagBIFaFrUh8ArnMMDsNml4JbRK6HRXZ1ahiNl9+qk2QIMiSU+3VFgA/kewOJV74
TL9uss7rsv6GFsVOyKNx5WgunJezDzLPF6asC0sY5Pm8xI6uEl/OikOIVejYYKeg/KzYUV1rAl6w
LcgEIJwBd4A3FndezLEEsRhpIDOirprcivnarPiyVn8kcMdkxJPLamtIUOs49DNU9Kwx6AbyWPc1
khnkrhzDY2UNK++QpQTSmWacmU1I65ZZ3UoBy7/09Fm4BsmDXUzsIRHVTZEQu2jdkhHHUioPE7XX
aWETawWAdaFKgsUFb7WMnmf0aPEg6fmUI6YW4CPQlaWgT6UUBic1NCcfJDRr5hTJx3Cf6K0fSqNu
54lyVMY1ouHZbDg3fPYNnFkZDW4Ui+EerIe0excFES+/vO+757FHpDQB7Ps4pL3sTjRfI85edCsn
6nNXsD6YuURm9Q1MIwjmJ6JXRzU+pmwtmbzsVP5I4i/gqq6SCC3L8JFBBhp58LxfI3mdPFUPw436
sYabsnDLYEmBioXyk4JgiTs1dUhI3Ce1FOjtUVUCofFVtpKJW7hdzkRwx6bv5SxjQwXvpH9CI6AM
yvQ9GkxcZ7vLDnl5k/4owx2Ulg7aoOs4KHRy0CG01UxqF3pxk40rAdlSfH+mExcQIOZkIF6CK+iQ
n63SXU19vVEdRf2WUacU4sGVJEdIlFsQ0fqjuSl7bB5xa5X5rNefVap8a0T8uqz+on862ct5eU5u
VwlvM4lqWGhTeo2JK4alrYLBnrw1wk0u3ShxcFne0kMYdWekWHXgMmPmkBOYdwlJkKNA3NDbNWxV
AUrCu/5FZdtEp1J536y1wS57oROJs62dqEiLSWTjvO5NHHplBcakydqUIERl0UYV3ov0OHTypizE
wm76J61dccWLd8yJeM4BdbRiIDbt5pZLC4SrppTYTVQl3sq6Lh5KUF8gmwH4TCBKnmtpFCMA83KI
0U1HftypOP0TILqOso1sDcA1nLVnzOIRPRHImTPIiAgqZTg4KvhDWFbbnSl7gvRKy9htp5fL6q1p
x1lN1LUlmSzsYVmUb02X5Y6ZSJJNsyx1LktaPBAnanHWMhjMGNgISZPWelS7S02vVraNfrSYU5aT
g2TUisRFD3QikTMQiw40GQxINPp8Y4Zb1r80FENzvX9ZM/4goGEOs4UnlEGcaspUqXJCQ/AgdS8Y
4HSkGi0/hlQeZKSDZp4UmTSuahV2Tu7N5j5mYe1e/oRZlZPL+NcX8KpGFWkx51wc8fAFdV+aarGd
6ihbGPQA7nB3EjaXBXJ28x+BaFJEmgKwlXw3siq26CQLobKaIY0dOjHdhuYaiwi3gT9CgMaEfktg
XqPhmrusxinPzbFPiuOofSnjISwiwGLZkbaiC3/L/y1nVgTTxcjC8h07Yh/FAD4Bd5YVZa4pv1hO
JhWOpNmSY8kb+aMvgjYmK2E5/1D4kQp56HZGVzmGJ7goRmRqWaPwURyjJ0HYJ0dA4SYPou5T9M8r
GyaNdvUVEr+qNhVzRtVtVqGeZrvkrUbV0IeJrMycF+PiDXFSy1ARDPA97m8q27LnX4pv2S+F7cvo
D9mX7+Sler5sOUumqhpoIkKPN17S/D2ldKMySAbo2jIEjG12QwBnlpWFQ8lGVq7KaG3CbUkeohBQ
R2PEDcbEGREdGq0XIqU8mmP7WNSPakGu8uwlxzveEEDt07R3lxVcOhq4lsBJh1QwsvrcqkqlVhZW
EVdHuTb760Fm3S4bjH1WM2l7WdIPyQS/gUjmzxSyyIigf/P8bpLAzaTXBqmO875F23YXbaNtvRvA
Ux41drhB39TO3EeHdpdu8ezd1vFVlB1FF7htx3htdJ2PQH4M+vRruJWW6inNzSypjkrxWgiJE5ov
SXiVhMam0QW/rLQ96FfAAPh4eRUWD9KpXO6GblRzCgGLUR3HcfRV6vbUdACBE46P2GMpdcxKcK3o
Jcp86b7H/G1xU4NorVs7TgunCQNQKG//8J9JPC1GrydhXg74jNQa3MS4SurRlsbOVrTIUYuVPPFP
+p3begnVe7SBgGFaAU/G+dZbkdGqgl5Wx4Mxn9wnACK76Gj1i62G/377kOy5+zTyYv/vf1LnG32V
DuaivNCOHM0RXckZPQZyY9FWVgoiSzeighQpKODQhjNfwedfl7IezTAj1kLtJhuUqyCCIa+TNt42
xrQTEwEjCVfoBtoNKfOYlm3bylhZoIXdUJA9mxHAMcb0qyaTqllOzYE2x24ACQ/IH+2a7WLpJsHr
+LL9LTgYnHP4F0wjoEmEH3gmaixOA4aOjoN53QKdQsmuGrF18mlfjwAP/GfPqvmQQRpKobinNKTU
uEOWGINcgliuOTaZLW8mPK9tusY38fskw4aBd2+CuNKAiRlcVKg1RZw2iDePWfQmZ72bbk3M32ad
m8mGTSq3L8vrcA2umQsQQZUAoej5RIOphjyyxt2HREhzS2uH+Ig6ZepNvZwfBQz+ekZfp1c5lQun
wZyu0ykN2G0mspKq/GUvQOCfqcmluUtuTvKeW2ychfpUjFN8ZBnYrgZU+pxUpaFngfVqHw2g2k1Z
R1fCttkznR1ijNzOjMtzVRZDVT+zQCcvqARpMjPLlfhYyKJThdLr2ACX9R+a5ywD7fRz1xiMlL9v
Q7XpRtmAjDj2cs3DpIxh+aGvZm/RWu5zYQ3PRM1/f6KOkprmZJZ6fISpBESpbJ3dav29UKm3Un5/
Wa01Wdx+FXJHO0VT42Pe21EZyC/RV9iDynVl9ZaOwky+gk6seRQSvHnnOvWdyEwtl2AXyXPd6aBA
vjaqTXaIUjc70HbajuX3Zc34Ppz5IJyJ5O4zDFQJCtVmqyjHezRUHTJcV2TUXJ21jhmBv5q0INIb
78QxsoGAP6nfNE03l79icX1P9Obul75pa0MToHdhuEXjp1t6ZQgYhbssZf4pvw7AnOkC0gfGj/ik
fd8kU8lkWEwTYzYYmSJi3E3ptLaJ8ooYThmWtnmOEjEMs9mgxWdDpsK2FGEjkTviXmHeJS/u68le
HT3/9YCZd/JEPc6PFjIdBCuE3Fj+js3Jm0bVGQiar9sV7/X7wv2RZIAOFI1NKLFyGloTZijyiZBj
aqqRR0oV/cXSiDT0VARSIhGHpvkrijGfRYvBdMBmlA6L8wcFnegrd/+SzmiDQOJfxe2EMun5gUnr
eMxZBZ1TudxrxDPNHtPgky2syFnynWDJwrAFqj0Iu7i17ayK6E1hxkctLZtNV8jPxqBWKw76192O
ZT0Vwnm0hBZSojANytTptz44xWeppk4kYfqaAGaw7BLn8oFYXD0AP831XDBY8hF916QKGWVoZYm3
KXu1jBL4iU4rB5fF/H7yQjFZRnQGMBNESSJ32ZpapJsJhvSPRQ8yqY3U6k6SAI8Iw4XopAFMtyPc
Ashg5SAuLaeMjmILjcV41vNWGqkkz7V6hJWK23j0SeEYH3XoIEE4FGvg/kv2cSqLs4+hi8OUUMhC
MdUZKH6VK85rTQJnHFE4ymxkkACoRWAV13bW/bMU589NgK5yQ1HRZ475a65vwkSwJ2fNRI6YaHXX
EvRLvvf0h89O8+S2znqWoAsGJiBWtTPqbxrg+PLmbcXQ5uPOe/hTKdz9aUpanOv9rAKKQs/E67ef
pp95ur29LGhNm3mzTrQR5VoTRAGbEUePwE/fVGJlm8pa0Wt5y/9sCOdms9DKcqYycpxSzSbdHVX/
xx3nrDZU9cJMCiwXprmcPL5rpGzlDK6pwFmtUrfopWRQoQOmNwN9YktWGjSWfJiMUB5XAO50hNXn
WyFIUozWWmxFBZ6nCpCceWJ6VvNWld7lPV90J3P2TJzBptCrdi6o1/oG7Mk5jrip7rSEPFnKTaPc
427C634eQGErRrZ4zconEucvOrGySVYrrYwgMb4VkFVRM7sMsgNzNcOWHEDe9sXKfbBo1icCubUc
RAyq6khZHSXjMUqpV4FkUF8TwmNL/PgZ5BDQJIeB7LkZ7FyttM6bumpEcpTvdHS+HcTMVh8jT990
Xnqgb9qd6mf28JC8G/sksndV4usrNsO3Ov39CbIKDP45n4FppfNPaCqBjnKjk2PG/OFu+qSuXh2s
cD+Vd1qmHpny1CCLdSN8RnFpG/+Q6e2XdG4BmjiLBobusaPYvCvoyiat6IjVlTl8U/ZvLiakzfHW
xHShhZbwc02tuIi1PFTnI65b9syC4gL5ZK10vXTMEX0hxyqCghtdAudStHCGewJT6xEtH1vLSvYM
I8KXj9/SOUfPK0a/0IU1Z+nPRaCfp0MbjAnXDtxEtfCjF509jeNKOnW2cP4C0QARNZPCa4B64C6Q
wVSI3EYhpGAkPbcRXvqt2jktGsABijCx3lHiNVyLxVffqVBOtVTBMVd1CKXsDXWbIRTteqM969K3
HjFf7+Jd2D9dXs0lPUH7CoBa1BmRleeu4xbYaXqYWOSIqEtAMjfypqN5W1H/XykHOEykpxH4zXnq
831LtdAsiiZOjsY44im0QdHPYMTWkY8X4rt4VOyEgKVrLT/K1+l/DpmO2A+Zsh/6E85dF01T6aAy
JUcFtw5RGxDrUsCDa4B/i5wqumbPgnQDmJu9HN6B+1b+AOlO5dffif5gKNqK8fITqH9/zU/9CjCo
Opjqz1dBMK2swQwYOTJvDNSn/M78mPzuProb7vUdqmhbLAym9/u7Gnj7HyhQXN5ued5P3q7RMo6y
09/yuauEmKiWCwrkZ4UdXmmu9jneovXYHu5a9P29SZvpYHmCRwe7D68jB+hPu2yr/x9p37UjOa5s
+0NHgLx5paR0leVdV78IbapkKEd56evPUp27pzNZvElM70FjMIMGMkQyGCQjVqz1fPkrhE538hHc
8aK34GFWGfxcH5+ZjUYjwyXN4jfFTnc2CWoIOcgqL5sUHdoriRFCE6jm8Ag4n/c6zijo4yEjny/G
wYYWutNfD2XAEm8T3xU/LxtbF/HrJP8xxl2nvHT0kpjC2HxId9ljr2NrycKg8C1lAw4MXNg6lfw1
JNX6XqmgkHgcVnBjAb4iu/uII+hDm8ahpuxuvZYaHr2Oo7cUKNzLQxRvKxQQgRdFFRr/Op/Qqo6b
qIVK2XH2ER/pfZUF5WP2benIuB3vmniT3qq+91Y9Km/K2+gFEvPrG+TLFIOLByBPkFMhKX1u3tF7
bYnRxXa076d9SoPohVLCvkV3EWHlt98Sa8Jdg727FhdA/8P3RyZtTZUJxADHppt26ng/Xru/0p7o
lUuU8blrfCt4ljWJCzcJHBWyEahbghiAGyHSznUJDt9j/8PZ9c/UB4gp9dFEIJlK4c44scO99tD5
VNZDNmZHy3rxFlTr3KD0jqb5Q9kPzSSJP8Ijbn2D/2dU60yfXGVtHU6blrDWBR9ISz1FQX9cblCw
lKZQVw/44iHOikGFd6xecm6pWDovogrmr4IKwJRsGHoMfJbsUje098PLZGxzSqqX1rnWUSaNZAlw
0TUFSOp/zHOBvoRyXVRTDHQz/TTAkhZLYozYPf78PhfIqeNFi5Xi9/VrcybeKvBRXjvOE1486Kgk
TGLu/7Nwf+xxMTubXDS1AxZxLFvjPcucbVkX+869iyobyGZ0tdzEBsi4ZI8tySryJb1Bm1TdLmDW
2NDjwQ4vb2zxcfhnlXjaq6pMs6hlmMVhM4fRj25jot1m374o37zA3caHJCe5SuZf0Zvz3dSIej1v
QLuns+3l75CNktsV+jDUy9DiM2L0aarK92G4bZgsJ7LeHr9sCFybUXLSkL3kp1LJEoTMdestQXx4
c3azb111r6kfXTX36SMLM8mghIHlxB4XWFSzUl2wSmZHWm0L835Z2dLaB2O8tubbCp3ul6dQfB6e
mOPm0FKaAfU1mAPsnWQDWOHM7VIH7OhQ36rvGikme30CXJrP9e9PQlndewBfx5jP0S/C+R4XiUN7
/I1mfjKF7f5fIs//7+J4Mrx1dU+sVYY94Iz4tFYfdd+ERNLwYfkfl2dRGLVOrKyOemLF6J14dpsp
OxY7924OzCspfFNmYf37EwsgQynLxICF/sd0hbv49XRVhHWYAXxEN9CLCUDO/ABh4Mvj+tSFuLRY
XDgGHBzP4gTeYW61AR32Juh/2wBQNeAS6MEL2xr90XOQBK/KVt0Zb4nPttVOvUIqYmcF6C72582/
hJJ+WVIuhC8js8vcxZJGZgE7lgPQZdHLgAKibY87C1ARn/ckvsDd1gmQT4kC7XXQTSRRjQyDZKML
JxeoKk9HCWFViuEGghQP6hOph6fdZoB49NY8jAe2HX7n2/w4PcZX5dFDJqf1m117rLfdR/Wt3RZP
oIkM+30f1Dfxr3orTe2s+51f8dOP4g4sI9LTOJ/wUcpts9HDOmh9NMiG4EX2a9/cXPYvYfX0xBpP
ADPrad3meEnjIDH9FFTejPwqSeGXIC9Aq5zkzmaIYs+pOS62LjrKl3aBwfXgDh1307ff2iaBQye3
4w/jVg2huvTahMXB2mq76LbGsZVd47qjE7Twbbtnl0w7ZVsAtnN5Gj6pZy5MOl9IQldtb0QqvitQ
r5VbZQ88/N7ofVBYNBDcfkohRjC/GLvyBx59B/sK+BjnPgmhGvhu16TFM/Qp/mX46p16zEh0k0gc
lW+j+dxxp9PGhex2KSylolglA2ilF7b+cfy3hWj+4V1Kui5xQJ6mx43rnJkZjKkHj6TE2G6+QfOR
ZOEP2VtQdH04HRYXtS0rBgxj3X+5+d7nd0b9UchSlV/hbkjcndrg4navqJkJiiM4OKJmcquQgYAz
fjNv4mACYT2yN9uXj8veJHxjntrkgjaUexXLa2EzdudN3dd+WgJqFuXbLp53dbQclL7dpWN3P9H+
1vWSmwGM9XUOZq9l3hoaC2PNfV76W0VWzZDOBhfxprnPvHbGl3mPFAC4OTR2PUThcsjaK/4QKsH8
rTzUkl0vvIOfzgcX0vpxZMm4YJ3Vbfqw7ADJuDeDYsOCTnJXFD0uTgzx1XQwfES22mN4Y2gdlyuT
eNssHElyf3mBhX4LUiTU01fKQr4c3NJWnZUipkeaNkGjQaGu8jNZo87n6fMlJv2x8jmrJzcOEzI8
VqUk9Kg1+zT70KZk57g7D6+maR7uprQmie1BGKv2s7L3B2PcJZpfRLPfAeKWL8XTqDik7LutEVUb
8DiiyGfuKFPCOGvCzjFuV5rSiOWPHgWXSyvjmlg3Fvf5QN6h5xv5dFSc+DxArY1A9RZdcjTRrlB3
DTEh/qnHz+UoWQ2Re0GuDDkdZAeBredLBEU3QTyFOoDCdWxXuflt22xSGnrqVqfP4FBrhxgN+7L8
g8AJcHVwII8J/ikA7jmnbtFrghdemx5jgN+aAXzKNm7PlUykTGKGz1fNsUnbvuiQ+OwOaHcLZi3x
OzWXbFGRFUAYV1o6sIIAMnl+u8VCQp/RROKthf+EvfouLdUK3AEIyT8W1i848WameFVntiik5kt5
NVbWoXCnTdPML0uvbi5vzzWIcZ7nYl9C3AClTqAT1085MRU1C1tmHVVhPQ/pkAburBlhPoGLIgsn
u823Q+JKEEVrRP9q0jJ0EIAAmehwSa90HDI8XjF/4xRC95s0dIREq01yr9wB7+BfHqBwtSBB8h9r
3C1Kc9rJ0SpgEcwx6OwfNPoZyW5EsgFxr1JgOd22V/T02DnLtI1A9hEoBbhmrWJ6760EXZ2mKUvy
C22ik3PtdUALvMU5oZY0raLkKPVpIOdPrje9s2ULZNslbyrBIYG62B8znCe2tVnrcYXaKWv0h3IE
LUEc+Uqn7KZFC1mtpCu2R5lkesHCDWAigeHpn4333KLlOvRmrdYCGCIbf03WsvX0JBhpXvkUbSyX
HUS4A5DhBloJ0RcCDOc7AJwt+sg6DDHV9sw3gJY1fNDas01Ub/87S9yoFNOejbZEXQYtVFr83MRE
N45ZOHdXpcSS0DtOxsR5JNoSuqrXUD9dm7XKsE0PbulH9HmM/iYWnhjiLtsgbmtMl66GMnWbVQcI
WYQFk6ChRNgIF+pB/ywR5+wjGzyFLliixOy3kK/fVD+SYWu7R834nhfb0kE5zU5I3M5+20imcv3t
L9HKBjkHGE4/yR059zAzxbYYihDG8r7E95Osx0T2+5xTOEbUdgPaCY9x+mGp36Vniej3wWUAKloH
whe6vbrKSYAf3Nbx5q7AaVWDCjYxlsOke7I+RdF+PTXCXZU7q8grq84+9xDwXhQdQJl55/YflzeQ
KJajJXAFFyIB8aUcZs7dmNoaTY+Nd03pe6PLlEdF+wYJRJBToV5uWyY3jtlyW0gcY7KQu7KbeavG
CkF0IFpxUKCTc3k0opcqbkN/rHG3ooQ6feRSIHCyZBwpaKFA8DAnMdpo8s6D3r0+hIVKu6cqa+8X
B8o42NfjTd+XFshnizYYy/HZpUsuCYhCj/nzWTwzgbs0lZOMK/YpjRV/NFVzQxtVpmMrXEskrEDd
AkAXkkrnftm0bO4GmwGwaUw+QqF8MUVnF9rz/rHA7ayhL6eu62EBmOXHCgIKyhSRVB+JDZFV0yS1
bh66f6kQsWYfwBVnoOpvfFIYcka1LtHW0jxOLhu8MAO9atv6ru9VX+vWXqEk3l12IsE0ntnjIr3j
FhNjDPbgRwRaOmhHup7ZX5zHZ1a4MJ8kOR4oGqzU3rU5Xef9R55e97bkRSocC6IsWipBMQm42LlL
gLzCoCrYR49gzt7l0NpFA9m/ZLD8v/UBL5nl6KC5Q3/qmY3Lcy9KCHqg6vrnx7jJ7wF8s6mJc6nN
+mxTxum+VZL4ru2qcM5S0M7RstpUTvVBB0qPmc2AOzPi17kxln079bJW7U9gCXdW4XucVWfDWane
zgf3P3ZspWaR4zSOvfyqtNlBjX/UNHpNU7rxEpvYNRLwBlo3F5JB7QsZF+Lmm4rqW4fSq9wc39TM
/nl5kgQhFe/yVacaeHdQUXKLasReV+QG5khRgnQJrSs2PCFzlchScTI7XDDNIlaDjRGXq6SuDtD0
2qnLQFhi7bVKu2qyant5WIIT73RY/Itdze3CGnsgjqDzC5jdEAVRdGCt5PEis8ItaOtA/25OsKAF
UaO7b9R5iQxJABGbMKGYiMa4Fe96tiH+R8usLpoazJsOhqFxOoxBbnwzhvu/ma4/VtbVO7mFsMRJ
6JDDSuqQCSqYR4+G0iglOLiwJnhTrvxYeMvyRlrTzPoF6DPmuj3JJsvxZzrJ4F2rw37ZZCdWOIcG
TsYtTV1ZLyEHxx19EzSx0XLXqhmxIIjbyXgbxY79Z1ScYxtOmyEfkKIob3VXmV0/0/x7nd+pdgsU
t4xT+OLgwIHHncqF1oDydIVQZYYOqj9Idec5Ub/11S0FabU0HSWM+Bba59cGSbRmcnOJZJGD1BDG
NtY+zsn2bcyeLzueuW6RL8uFHjvcgKHPA7TGuecNpjtV4FpCFreL0zArHBbEblL5M6MKmYcye+pL
1SJmT/OQZYxuII/+bTLakXjg6iZa3UKD3sbimh37AMtITCDaYfhLOhQ+9o7nQ4f7h5W3Pem08iVJ
Zho4RRaBB1RzSZsYcYz2ThBpeUs6v3h9HfmDFie3yxhrQVWh67RmuUtKNjQhkiJgl53s6agloIww
1dIJtXhUSGk2NqgaDGNzeXLE0/9nbrjpT1xGlzqLs2MNJqM6GQIlljzdhNEFjWMAN6ET7wt1HqKO
2yMti2y2da/FR2Pe5epALNmtS5TWxPnyx8460pP4Yve5k1Uq7NiHwgtBP6VYfmTirnxIfyl7o5JM
nDDSnJjjgma1ZKhEOHCq5I70Eh4t2ZRxDgua6k6PNPx2BcSoedsclrfLqy4zwK26PXSNXc2YqziL
QJTz3IyOH0OgJHv57+xwgavMDaPuGOxE+aFrti4Qwe21qks2uGQ0Hhex+qpXtcLAdEXP/Y17lz5N
kr4ZYUj8s9bcjfF/HAVCBgxIT5RhtZS0Kvpkd8nPsQs92YQJI/2JJe46CeyCoS8FLGn5Bm2kPWiM
YoJ2S1XWTS3e9//sFp7mWY+NGaVzGILukTOlZEiusXnI5eUXjgalDOuT3QrqMOdb0mzHHqu/Ln/z
4AFgpdg9dqVLnHdbRlkhHM/6XMc/yHPwd5hWicuqnEoAP9Qtrr/EmArCZDgy4XgcMNCuOX/Imq8x
4STE5GAzUFKLZUd3DAw0/pWtQwonIWj+Y7bkuiT0OSQ/kbUGtzQeGOe2PAb9uqpCUqgtwiwNp2ED
BF5VoLE2rGUYJ2EsO7G1brCTcSEdP2ZKD1tQnAUyLZGcALKf58KZvgxFZI6AMPc9skItNZ2gjyNJ
EBA6wMkYuJAGxZGicVSMoZxuOuvdqg51mkju4sL1B+EINFTwPAW8/HyeYpQY8GpFYggZ92RBy2Gu
kSZPSKUex1yy/sLzTIfokW0CGAwNIG5R4rpX+gXXlqOOYkk4D8uNMzJ1G7elFsRzn/poTrs23dkM
5n6qyeRqtSR6i6Z0LdmiYRhwH7Dfng8XSrwraUGFKV1+Z/HT9Bc9otCr+vP73Olgu0ld0gZwaxZ3
QUlt4pQ/mSHxC1HvFxRAsFoGEvvoS+YWzWDgakkMVATr8SpXGfORrT523d3UQ1JWZ1DbSUEYDAQL
FpQW91nvbkarI5N156QyPRbRjOKmiNarT/k5lZtRqJ/Z0ZTgWzRI5wTICTG/yvPboZU9hYWGVpIV
QPZBWMzzUrWVF+kuCOSPw6K/L1HphUaq9EGKfRdejvHrIvGXaxCVGzqoY6DIwNd106qbktrp0XBW
0eeh7o/1fFuq+2TR/bb9VqGVcSkk21AUGjGDIP6FDhciJDeL1tTTqWknvCRpvCl2DeQJk8yfYx2q
yjGJZPQHouvFqTnOTZOiq/RG05BfS5295hVPeV0AZKAx0qjp/i9m88/QeEQGJGLACDBgaG71gnZ9
kowNKb2FTA+Gfm8kS6DK+g9EgFqQj+BxhOoXqGl4nyw7lmZLivbMctpYGr2qwJaUP7gQ7HM9SPhl
QXJlp7csHSWXA9Gp4KDd1QLTsLWyBJxHl1LT7cE2kdhIWBp/IB8PYeex0v4ihp1a4a4gauYtON0w
OmvIdrWBJ062Wbp6c3nZRC5yaoW7thW5N6t9DiuOPn/XW4JL3AG0ZH5qymAuoo2NbhwQX+H+gTQf
d5a2cI7EVPFcjpAu2IFx8icalVU/Taa/qAGA3wrPNvR34mLD6/pNzC2GaH0j2IsLTs2FJkHeMpnQ
j9AL/ljhkQD6DLEww0TCRjHeTbzJQQsj8TNhShTIExCXAO/igkPo3NG6Es2PRofKlMVCD2j/blM9
q8oNiwk057zuvZ/28290w1vztywu/Xzxi2qvt3eXXUR0d3DRE4leU7TMAqV7/hXGovSdw2o0AdN9
OsabpNqz9Gaw542RyNpzRe64CmFAGMoAPoVfOsVpmq5ugOgYomI7tP5bkcd+Cu3Ey0MSxeETM/za
JZpb1I664iqee0rskbi/1bcou6WyJh/RGXNqiNvE02BYbOhxmtGP5g2m6EQeFiW0o0DWXiDaXigz
IyrZKioDn40kJzdhF6zyuAoh1t82jyCQ+/ewF+/017kaSgOMQR5Z+PUCGJdFPULHgjao11hvTbS7
vDaigYC8z0LaHZdVNP2eu1uhFGBZWzu0y6l5sJn1kFTdzlLe/8IKKg1ombMsE3yb51bmBL/agQDo
WHQZqFOJOT468yBxM2GNBTVfoK1AkwwqU+6870eqtlMOcM3UhAxFC4P1geU9UXAmFyVUdeadV2zt
ZAuWE1IaB0V1NpeHKdpPnmvb+GMAgcBzTlC1yfRhxmQ6TdajSdzb1MBmBbQoGxIrcfKv0z9Iu6Ib
/bOHH11t3KwuvRIVtYenTDcxf+hA9MjG3Zo4sWrJdePrwGAJBxec0tUhpbV60Ym7L73nxKxB2xUe
gCkYZkAzo6ZNCFULpM62lyfxq0ee2+I8cmm1vq0z2Cpe7JwsWEZdYkE8Glyv1/ZzcKRygb5wlbps
LTzP6Ai0Z6YZ2a6sipYMduoR16Huf2mP284LiNKtduiBC1HQ4eJ9GOUHdpiU8UQ8cUiOg4wKz0GH
c/+uYXE1mDNe50r9A9jVu7LNb5Q4l/EnCTA2n8LY+GzAM1GnW4+wE2+ISrdwyxjj0fKS6HHiO4VK
bLxNWJzhGt8R28t2eYvWkvZHX++72gkvu4hoAdG19s8HcCNVCn20lwUPwsx71qxrqlwb4SiD6gku
vBgmXkWo/6KnGJII58NUy9ZUWjyqj3kadk1NUAJNxiyIWYHIghYgM/EHqyQmCy0Z9la0lCem+Tsv
VJwgNb32kpXoxcu3AG9osmSL4L2LsraOW9tK2gt9FG4XQDGvUOupwyT2Smg1O/etRh88Kh0gBgmS
+dc0B8wafPB2G1jRnoJsDHIehf56eS0FqP7z7+B2h53XI2tafAd9eW99+9AE1vFn9JZs6hfvwDbK
wb4rHp2nOJDYXaPj+YP03C733mds1marhBNB/LsMS9NfcR71KnGqH9QuRM9ZKctzCnI1sIl8EEgv
VlJYlbOpekU1RhBJOMZlhy5802+h0zzRcMXC2dGhHxgx+mOySB7Cgv6Ec7urv53sWLvpIH6hYY4r
olTkdrC3SWDesWegMXHb6x6YS+yYJJSMr/NPyTyvfvRlnkEliXyYDYYWvu+lTimYOBREW1OxiNr8
8vokTJJpq3vTpk+q66wr73IIAmkDBp5/t8pZdi1c49GXL4CmJS73K7aXpxpp6iFiWaIifzSPN2qD
9i+v/Yk71itrlet2MN8kIxZ6FpKxgCFCJBTap+ez3S8FWzy6gB5ArQIg3Q+pMkKsoXYfrGc381v1
tZn2FjhdCVUlsy2KjPAte+VBwDnAs+E0DkNRu9dRwryFL5e3RhnmkiKHcDZPTHC+5OAeE0WOhuif
BG5BSdmAf8omStr7TAYW/Prqg9+e2OLuAoW9GPHsmEhu9+6vzjMJRCkeLq/WuhhfnAOSVwYQJ1gv
Plc/l82AZBecAzKhxOiUEMWnagCvmvaeKteu0pNKdrKIoruBFbIh4QZyJD5ja9jLrCaLjduUhe1v
fwfHk6b3kvgmXKYTI+vfn2z5rKlqMOs7eDAXXhVmnh2Hg6eSpV1FpJ0uIQ0rEolNofehU+STFwNJ
N+5cbjIX50dhZcdJfynVhLj0xZm+VwAhXl4z0dhA0IwnFoRmVjaH87GlII6r9QYbbMJIAuAmh+Mc
WUNgLkPq6yP9DbYHTWJTGLvXwjR40Na7x5c7cJQMc+HhTB7tK/Y6zXc2dH2aNPaN0vOn/OCy+8KR
7DXRhJrAAIJUH24C7zwfKC2zYTBcbOcEdEyKH2VIQSt3ELSTHBDCCT2xwznLQu3Jym3YGabmp1o9
tjTZeq8gr9zMSuSRy6tnCnYcSHaBtlzTwbiAnA+KLXVFlS6lR+dVA72CjDd8dTJ+Q5/+POccRq3r
UzkW9MiW72MckRoM+LXy2CsHvUv8eXq/PBrRZj41xy1RjdsTwK8l2slGi1TjvQuqNinJpyhInRrh
1qf1uoTlzQoMHDzwVN1FYx5o0701BZ4b0hiQLymQfk2rXppGbi+XSjdNDRR3j3G1LZtdFr+AVJcM
yDErzStEFDXrW7aY95cnU+jvJ67BnZw1qC2nosspEh/g49Ie0JFDNO12QS7nsiHhjQiJG8cxIW2K
pzqXVe5bnUbdAnWoVN02NnjHupzEowfxkT65nZV0m1p2OI0QFaf7QY02WrGE1aMFqrBFra7UqJfs
QJEbgRISAk9rgxVqueebYtLyzlKshh5n9doxn/FElLYPiCb3M6WIUhoUPfkhQ6DKTKfcokfkJIg2
fKxM13FrE12Tza7IXVFKQwIMajZ4W3A7XNVLT2GLTY8VKByTfTxoV10ZX+Vr33d5MBb6NDQSQLAo
qKA+gNwEErigu+ZeEYNjzGprmPTYGBPJ8CaVAtAEGPyV/na9KgCEhnDMBZam8aIxZSgKuvEtuu39
TLleu0THYCy+L1daje4qA6UJvEjVsB03vf2vy+Owj3vDpzrA2vR37iIsUaa6WB+FtHfLTVIrz6UX
/fvE5rkRbgeaCXTTwI+HV2FUboyGksaZfDn/q8jdT8byedie3E7ilnmda+AhlLf6Pp7ukZvcyf1Q
aAUgy5WQHB0t/N2urr3RXRE/x2xBo0apAYDLSu2H4vUyeifRoYNUEpplQZK8Ntqdr03t9Sh8urj5
1Eruj7m3hQwstPZAO0wQhbZ9G6sQCEhuL0cx4Y4G0zpoPOGOlspZjVMLJSp1vR40+1lxrhiaP3os
F/ur4a3iDaCjVMEYpJ8Pz8ByNeU6PIDud5nh7MChZWV43KTGpqhm6BHIrlvCpTuxyO1nFW2zSWXh
jszovDfYtp8h2WJJrlfCVXPwwECzOUQ3eJYOq2FG1A3wD2p/Q+9Mu7GivTa+sBqHTyOp6wgD1FpZ
MpChdhEWz6ewS3Iog7seUjrO2N3Fha7cVgXrw8seIRyRC+g8np1wRj4lDFl5Bygt3K16ZBnX+gfk
dW/6Fhw6l+0Il+fEDucQauvQdHbRRK+HbyqRnIVCt0YTyUpDimOKh9ENVtxXLHGR19bRZakvfjdB
dly5qwrJdcMQHVTg+oVUOIQfVkac80VRsWsX6LQjpLej+9Yp1ArmaPJ8YGeSQ7Q2q2ZLjLRBvBwz
luk+iDUSYpq9fVUPSojcux2oeWHu2KQ9J4oGEaRSzze1l+V7bTbQKx/VS9A2WfuadpO1AU+FStwU
GdJqyR+GohmJQ3ukYhK9vh0yfEc89RoES+p0N+Vj6lc2IHdqZc8h0D90O1RFchXjl4mRARwFxSOZ
2PsaMfhb36odhWc3KPJwLzqfEJA8M7eyFnqcFPo4d+YjUhn2fU6NPGB1nLwlSmNJVlt4rgLhDJgG
HleQLuKOnCa2azs1JtxLZtJAJZWYvveqPTmv9F39VfzWnCBrfCDoLnuweKT/WOWLkmmhUdXIYLUO
Kq89TM5b3LwrRrwfrefLlkQ7HyTvHloqUUQBocL5nFIL/d5thTk1GQCHjUqfmojJJlF0XUfZ+JMK
AMQQ/P0ROa5G65WZoiFK303dK/WaOxXwJG/aMm9XlCNRc0b69Ony2AQ1N5xrJ3a5xUvxq8rg4d6V
VEpNRpU+L1rKbmsrUq+KKS7v4zLO0PYyzsHoWso+0rVvZawZwTQX9R6QgUSyrsJ3+skX8bx2LlBw
TEF7GDSUSH10fsbaRv81/FBJXwVuK7EmClWov0F3EzVgvNG54Sttq3V9AmNxhpa9Zp8XaP4tIKQu
664XGwLiB0kAlCL4mlWamDP1EHWPkNpRUX3Quo44P2Taz8JNAcwi6D4gfwU5yHNXbecW7J8N4pBD
foJQzj/kW4m/CDfDiQXu4Jj7ph9KALNQ3TOgQXPf7cBisjPC3wmZAyVwwR/0X1rkYnxuOTQbxgEk
ys6vJkSSLzf7N6XsdlqyA3QaqcvZvbaGihjQB3ByMpQy5R/RobwiQf8zq+ucnFx287i35mmdVZBX
BKBT3dNt+pTIPOQzrfwldp+YWc/sEzOzwoooa2FmQhQlFpQXoX21TUn8HSl+smmPaNhKg1fkAUOU
AQK2j2+H8Pl9CWVQP9F4kXRDQRoXGrRtcOMdjAGEJXqEU5UtfgbWnAZs4jV7mc2waG28zCrJLhTd
RnAFRpIMTPB4dXJ3K6QJU1MrshxtyFDE8NT0NxosbwoqS5MJ7Vi4JwDbjfZ4/nScG8AIADCBnfZ+
qg+muwe96mV3FZhYaYUxa/aaDuCzjE675DmrRuhjhtZrfpXIGHcFO1zDDd6Coi2a4nEanTsJSl59
nVZTvuY9TKAGdmyARqSvR/9+Sc7scEvSmoNT2t6QH4v6Axhr0CFI0eiCkAg4CXriMRB0AvOCuXFK
qavYc36scwca6tdr22qrvksR1sIlsb0V3Ixqt803uSexp6h5b+fHUdta7fWYhQDi/MWqn5jg4m7s
5u7UZDAB5EpbHmACHPiXTYiq9ivGC7AYfaWP4psskOPtlLwHBifaWlfRJtvguCadP+9+P8vyP6Jb
wZktLsojjT4YSQtbWfbsjAdjBCs4QKKeURE1CUo7AHV1U4Vj/mDkv2QpDEPoGCcj5SJ+GvelwtaR
Kgnxfrk5ma/im+GoPi8bpGj9/OqntuuC6aoL000f9I+Zn+9YUD33W2geX80bc9eEKCSkK3HrI5jm
pJFacFk7mx4uQJZ2UxvFOj0vWqCGE1n2Oqw5vk0aPwpeqzsVNC8vHknCyz4g9OSTieE2P0R3lqzG
/eyYj9G2scJR1bfusrlsRBhhToxwO3/qoV9t1zBi1U+4XhfKgzq9av7sSRz6E03FnXdns7h+yMl5
N6VuZVrraLSgJ+ymP2gbd2/7Bt4PlZ/42V7b0Zt6swTOlR0wX7v53h6afQJGvq0RgDo9UANzAwo3
v3+E9pe+ye81aNMmu5nYmHmD0CDdyDkx17Xlv3otNa6pZ5yPfBax9qKZ6SuQFTrizW5egsuzL0Kt
AMqHQxdpRgsUwNzWSyK1d3IFYgo1GvoNshSbiKLzuHtp8zBmpM6JYxe3hSM5t0R77tQst+d0W2lz
K8WwnMzZdBOaXeikHzW7/2EPiUyxVHDBwBihpr1m71dC9/OVt+HGsWFhjFS391m7RZZNK+NNvvOs
TetIrqwif8bbFEk93DAgFsHFZjONIqte+1LbpvEztbxCbjtsq/tUncBj/e8zUmu/wj/GuNUrcig3
RANg20Yy31hOex33b7YzBGnDiKrRzWjKxMSEC+dBtwpdt/BIl4sJboycX12i6SprAe2bawbSZRv9
SmVjaiRDb8jusoOK7SEha0GsAoB+btd6GajIvAHtSrG2/77PMtzXplr2Gl69jd9kSGGgmII6LRJJ
XAxS0ynW27UjqdZe1LreDEjb6Omjzr4l5n7s97GekBytvw59Z+auaF4vj1EUZ0/Nc2Ocy3Re8qiG
hkJkA7ZbIXsVLY8xax4u21lfl1+HiQr4mnZGtofbdDW4j2Iga9H6ZbyZqnVlZN2uKR519wfT7vKs
CIdORjMhHtofk9zWi4EWBgAEqCn0S7QBKNbezQ4Yv8JmkrGJth1KEf+MjfPL2CiURSuwhHPWbDvb
C+p5uO/cOvENmxEFGgOX51IUl0/tcS6zpEqEprDVL8FklJoPvfv7sgHZzHFOoY69p0WrgfrJ6hO/
rh5NSxKEZf6wxs2TE5FlaNEYGPyu7CFPloMOtscpp96BeM+gOXSVPgxgvC4PS7hOGlpMsJVVqIVy
6zQju6noBkDI9d2EW0zs03FHDdLVPy7bEU4fEoRIB+Nl9IXFMGIqjZYVwpa1zs85GqgfadH1NMko
O4V+YOA9sZK4rT3J53Nosdxyy26Fq03Pdr9TrMe/GAfoJVTTheYCZLfPfz9N+gopMeCNRlBNFRaQ
K8CVqoOMdkBU4EZn1B87q6+c+EKkzlSxR9Q2FA2mok1BwTSJ5v0PpOG2o6MDNsNMP2/cN3RXdaRs
7ywKVLc+HQssZozu2MvjFsV9HcEYWWV9RV1z4zaUic10XCtkyBVae6TzF0pcmRCQ2ApunxAwAw0f
rwOkQFNYsRaMGsjgtv7Z4Ulojncmldw9hc4Iarn/mOGCRRHbYwdaJRSOwJgIgWM6oR8ol+EW1yk5
Ce94/HsYBeL6Z1s8/vt8Cc1G1+CMnfZoNgVJHsdsq3YmiU3QhKQs0IpespW5UfH2+MxpNJkZ7axW
e5zsfeuAWTgqyaJKeltkRrjrFIAdaTSnGJQ+emFv+hSIkkh9vuxs/GP3y1D086nTFWg7jA2sqPft
D+h6bR+i383uV3bDEDckJxXnc6st9NAh+QRML+QB+Q78YvQMkPOp2mPVNNbRiyLtIaos9WeCJ30A
TIklqSSK7QFXsbaXewafpDUzwwUcCPYGZztbV1OlEUUvgdRydpJZ5N6p/29kfyxxszh6atWMOIYf
4yq08z3zcC0sr7PAZG9tfour2zjqEh/kjrD/M4lL2woWxv/whXQTlbqpMmbtsS6Xca82NepkTVlu
PIBtw65Xlwcra/KZFKY57eLJNPaSMa/+x206FFF06CWglxGdRKv/nsRNtDNk3VoCfyxest+sJdOT
dTN+KyBB0N2Uk2S0gs1wZoyLI8qQd3YFa49tWl8VahPmHfXnuQslg5LZ4e4ehedUtVHBzjjY/0va
de3IrSTLLyJAb16Ltv30NMe+EBpJQ+89v/4G5yyw3dW8TewuRjg4kgAly2VlZUZGGFLgn9pSBbfR
tC2hDddwetxCDQtiCEROslPRaxs1jrdsENuxzxvc2NmPv2dxka/mmLoL0GYPXqNewrD9yfXFLZdP
hzAu9ZETdmECVHzGmkxUr8zC4rm5skq5Uyj+ZdBqh9U+aa1G9i3PC404462mG1dMrcw3DW8ZmDzS
lB6bqAEPTC9O70p9nERlLZFE59n+OS3/HtJPMuBqs3YQagMcBUNi0+9Uee+qZNtyKpm43AxznpQJ
4wS4Mlh5snJGJOhM0OV4TZNrZTV/fPHVR0h13uV+h83FINUf9tIWucyjGMk7qekMqWw3SQJifGFt
jpd8PA7PTOMGIjVUFOZFuLLrl7HIKCEDV/ExNCiIkY5M+razs3OBRgbSfTzetHRm5V+T/W971GEt
I3CQIrOKRQ1Up4CQbREKZp52+lCg1UlE8gjlpBRMcgOYoWsttFbsL24qEGEoc78fQJKUN9a0WGrK
TuUuWQvcwBgd+jEC5Kw7TiiqdFpvSyNyWaO8qydA/FC+j6BMGzoyM5FWWEEeLa751bdQL89q4JoB
fIDcRUisnkVPA+jPDGU0UeqdkDeN/5srD7xvmF2g5pEguV1qcOuWCfrkucs4fIBzu58sDopNa0L3
Py1Pd77/ygw1KvT01lmv5PwlS6B1AMwY2BqLClh5kY2gZNQWaP3Uo77WSF1Hnp5KwHjVTdGbgppr
Rq1O8ZavB88OWmYwO378CJWh3CnQLNlCyEk0Jx7QDyXOJwO9P93RT4to83iTUK+Xnz0KSkPkxFjI
L3F0Pbr3NUTzos9fYq88NVV+8Vt1rVF+aR+iDg2C6LnwAqHg28UI1ajt0P+BWZLH0QkFX9moNYeW
fA/6l4+Hs+jg8IxBlAPZS1RQqZsi70cRefKCvyix8BlHsiUnds8feQEMitBaCXkjYX8FZagncW1K
A3KqWa6Zjz+CeuHimQYcDahR8LzFLxy/2/EqQzF5oVLXLvpq8VJLdKQEDU/4LmTf8Pnnx8buYn5I
LKDTFhEQ3uoSgAW3xpiQGUWO6Wq3i4sLU/LncICmddG0pGCnDTMV2Pdsz65cyHQz4DxGOJWZCWBO
qaIn9tasD7boKRWG2q2n0VKbzi6SfRWfcdCYerKa8b1CmY11/cbsuM7u680EWS+pMR4Pntax+vkM
lD/BL4KnFQdE4+1nxDXorUdVq90pfJlOmaAD/pR0ttISD03j5mj7jKlkALflcz/VLpStlDPbc1GY
gbRtRmixknIfcHYoENTBvRxs3EY77LiEtMypvqzlPuiS+z/fywvgE0QXCmJGyi8FSinUcenVbrFR
vtK/odnpJdT/Jsczmh37VJkC7qPaqazG6p12DwmuS79rjOnEHkcnWtmn3J1TnuU5rr6Gcl9MLsaM
GmL2eLs1kaPWW9MnjI54HRejR37/HY2IfPvGyjNh4Xzw4OsFAwgIqKDkOv/91T2ctlPpaxnbuFxo
DHKut/zbLKfN5fCY8J2Pt8i9R4DIBFSOkdoADS02LbVFynrsvabBTo26wlGyys3iD60q7DhooAPl
7/OYMyYOYgZy/90wf1v1rU/WwKn3ocf8EeIMHkPGHD/UKY28hu+YQq7dGNoduVwBoRqd/bOUG5HI
62Nj5IxPSq0zvbKfu/y495VZWHATyIWBpARYAVCvqtSce2EWsmoWNq4YvXkQy+3zv5HPb4Q0I63C
EqU4FXGwGV7ratMXhyLxnSpo9FowJP895MAkyosrEQEN45vPgsAh6y0iL4LONoW6Fpiel9oyFRpX
qMF2JuzzSmd8e0A0OkQk1yRjaL/DwZajp5IdCChBzFjgV5IL87zfXOD4BvRLIe8Pgj/8h/oGuc+q
zMP95Pp5ieqFBqSk2vNrGIr7SHA2I6Era9ZGEpQ7oYQqGMEs3LUuWsBrX09jM1ZfQ+GolFbSu15u
oO+zbf+srPnsTG4HN4swzVh20BfCOVJr3mkAiLJRIF3UyUFZbzyOgy4OoEiVdtpIEBGgbjkMzrT6
mrk/cwA/gPxBxXMcOTXgwm5POAN+ZF4pefViMI61+QpNdCwTTtfl3Yorub8AKEvUwUp4qZG4CpZG
u9hXm8wYyN+MqMaEoq6oQ/NAtzjIzDVOh0JtZ4a2asgQnOPM0Ai2qcXufGt6Wms3/GlRvpl56qvm
iOjKw+WS0EoS/MCl1Ud9MKI/6jbbZNB2hNwDEXack1iJket/AbMCfsNARwhqy7LF2Lyl2DwZIfoY
W4WdrDSE3Pl76rOoB8mUCGw9d9ldeh0EwbpiZqQAsGtNkYvu0Icc1+3yUxuPA0tcnkc/dvJXqLhj
0Jnh+uT326+KeKTee4QlK7v9hxX9bs6R6UeyGHhHYHxu51xjmT6VMkm9TFaPORccyZmcUOe20XE0
UgOlWH1WHTS2mFf78Umbx0OZngUZEIMA8wNmRcp0xpcNP4SddglyV+UPJfQCo+ojLA4JKqSPTS0s
IVK8aPDkcXfOaa/bUfZCJwdVhPbEcCR5qQNw7qMhq0DcgnyMwa5JBs5fTo3s2hytpDFxwYStXDIX
BQXQMvpK6/946ubqNXQ0QDwm4KFGTZ1UDgJXAe7nCk1BBKkmamGBGUBHAKFz/lrT3P1Czahq0LjO
akzIlFMHQGT8OkICBNYAI/YEEHV98G9ivRvXRHMXDf0I4eGUY2fMf3/lABJx7PKsEUKXV0tAKszU
LZA/K50yXLlF7/cD5gwocRDTsBrcLXWBtch9SgoTRq5ySWTAUMTEzL2GlIye5CRkeRNMP4934P2j
F70P8kzswwHELN0tGTJ9eRHFfuQ20DxvD1/idtS/GRKdUh0tkXYM/coP1mjsAj+BuVawoeHacC4w
D4ZG9MWAjheO5nZqVbFhm0FIIld+KfXJgGCnU1t6+7YyyrtHK2WGusJ6royqKEgjNwUuVgI6djRL
EuhfE+E3lenbIgmOrVEBIJsAQfTxUui+sXaP8PN+vD1+t2OlTkeCgEWpQ3xE8e47DIFgkN6RFq57
giCsaAzm0wSNYPCrk8JWCZwruqxOLMlWlnxpN19POXWdyVHK+TKLKVfIyJ0ERRch3Vrs4uryeNLv
glTM+aydgmy5gmiMdga1OMpyFjeRKyExqGYBJJ9FlicKd+43UB9+bOznbUhP7rU1alRl24YgV6kj
t/4Vm4neWRrBdtJVk9d5XbEAhiCtVZgcGYzJ+HoG8NyWAXEP7XwPoUnAwRpSf8ik3bCksqFxabf6
d0UihzEiHVL1xmA0BrNRV9aCBiv+7H9l5vlj0cGHu4767CCKuirmxcjtLMHodpuJ+I5C2vMEkWoe
QO1RZ7eNUWxKO7L883Nr9ZZM8g1rCQnu3l+pkW2HgVxCg3la00deXD/cTvAOigigLXU0h77BbRHO
n9ZqgAI5TTsZTck5MuKMSCAp+/x4CZeOB3pXZBbEt+jFEil7vBprKdOVMTrx5E02JXrubWRG2TNr
ib77AB4789oS5Q2qtsSjboAldiSC5ZdW2VqesktKWzQY5Bbe2Xzzv42NOvpBpRUCkxUYWwtFneCp
HY5dOJBmBT9Gl/2xndCLMl++oGFGVZLW0A3TOONArxC5vGJU7S5NXB/B6LRBjwoRAMNvRcSj065j
nN6OLxy4QP7Waz79fh3xDdBUmRl3EEfREEd26gOJY8LYlUenUk5euPPKA899PZ7RxaFChOanUQVo
DY2KnQZ+wMubjWN3sLST8FGa6XfxFBn8JjYVG0AoE3IkOSlXUtErZu8SED1a2HxoIsRus29t8Zyf
a6O1NHPathZrFVvFgOc58SuDvXfZCBBxCuc8HfK7NNY9Sfw+ifkhdgPG8g7isY6d0UOKgVtBadDq
yPP+QeSB0yfLII29a5lmQ7x7C59N3Glfn98VUhIE+hBDscAtTJ7tp/3+zf779Pev996f4hNTkG6N
+3phqMgtQwQA+WsQNv30bF7FWilk7EGgVWau95lZzC/OhKK2sbJ17sMs1HfRiAt4jwB6AjrsHguu
9LpqyNxxK762n8HJ/wS+wpYc5nn805j9xXuDYz3ELMkLI1o7o7N3ub2pYH3mZ0LDGAiN6QR61QtN
WgZC5hbGsEdVYOfbAEhD2QU3fXJYA1z+5G4fmaPcKjdCTimWZJjbpE56HqBmrbMb7Vjt5A3UMB3B
KF+kY21BpsJu7PCSvWiuZ7JO+6ZERD0yH8nL6gKsTQHlgFktjJhCm78JAPjCkvXSDiwA0g3eyC3v
uCZyurjeVzNOed+i6MIqzJXMZZiGTOpZSA7SeBJbXatehF4HefXjDXYfbd6uMHWpF0ynDOBBzVzW
O/JdYgjlLhT/Q0rk+aiiwxtd/xKKi8iGUusayv4oKBUbuDU4e7i3Yi3NtTAIkCYgbIOkKR7BAjWI
LtNAJ8lzgSspf4bmicns0FuDHC0cdkT9qGaCnwFxIk3ZOkipNohyHrknwRDNZ57UKw+q+7Qk3hbX
FqhbAmnJjPEKWOD8Z/Q9ETV64pIDO9q59EflrdwV/Z24l35pEGlCDffxPlhInVxbv7ssUJFKeX6E
dfHTL/X+Nf4rWdMu+eoN/0AEZ4xMcRMWm+JFIPKanPXCNYxZ5UHHhU0CCBmVKRezTGiFqsSTJyU9
HjtOdZbXIGrzwbn2LQgxkIuHEVBkShAfoc5xPfVhLed+7vojQ2LpqCIjujKF9NmlTVBnN2s9pfFT
mMj2/TfzG8N5LV/5X+k2uIR4K0nb2CPTd3JMn3qXXclH3iX6/zGOfj/MJMZIZxi6qq9ydYxg3BV2
xVugBxd5n5jMEw5DQNZuBvrE0dbm03J19cX5UBbDbA30AMbQ7JMAaY3u9fGE0lH9bASxLwcNLOSb
7iCSYJCaylZkc7heVbbKlzjVhwktUmsk1ncve9rQvD+vRlP2TZoW5ZS7AvFG3d/lL8mO2xZH1Vm7
4lZNURMnT2yh8iBmcpmddyg2ycm3/X3wHJE18sOlFbqevHlyr8ekxXC7MgwpEl7s3p8S/Sex/XiB
FjcdSjsiqsAIgCDqcmuEkxkh9jgud/utCKpM0n0Vb9oLKHVflCcpIulK0eTuNYSFQrITgndIRCJx
J1ILVeGmKeaQxBVOfEL65/qsnhBp7oTv8LTmlBZ2340taqUa0Nv7AZOUbrwLtw3xnNJq39YIFud/
hPJKN0aoVQpkdQDPP4wEm+RJcNgTv1/bcovjADoQUph4S6LodbtGIQDofFyUpTv97n8Jx+BLqAj/
5v16vBV+mjKpkeCKR1EXenjoCaYL4rwUJ4Cp56WbvAf6sHu2LWvYEUSKR4+86WcnIq3z2OTC3MGi
yrHwdnM9l7r1wXAYtz5bl2767JeEPzU2tt0KcfnCKZpVMPCSwWab++BuJ8/PmLjMGaZyWe4QJRph
AUz3/ZWLY8kIynNATwO9wUIf8tYIKEtSriuC2g25TQR0GCgNVQAJHs/W/f2H59KcvUcxEC8mGs0v
JVpVFmUGbIhSoOCYQMsjb5PE/N+sUENhWwY98+CjRr3xwvA5yYdxZRx3ABBMEwaiwQeg9IEHEXWR
S7kaRrUHEy23ncRfLKNZMq/LMtJRT8VIRqvRu1zX/C0jgENrk2UrW2JxIkWoEGDv4VlE11y4WI4l
wU9rd+ggaA7pzVRvq5FbG+ayGWDqAS1GLZXGuUhB642jD3hNhc5bCZTeej7pWadDiwUQSf6djT+7
6RNdM1C45NaYbuiAbJ5joGxmx44WbAAJb3fkxKSA9nnAZxRj5UjsmydH5si/QhF6ZZj3W//WEBUy
cYCwAf6u1C5Y9/QUfXxdge4O+/GmvKuK0sOZv+LqLmQkLpeDHCAIiYAuxKoPw5f/NwOF9yZzgFJC
TTA0CttRejJYlXHmyTYgLZGMOfvuI9F+afHbx9+0tLzQlgIVy0ztf1eoDqZcSlMw8bm1EgbPnMZq
xjQF9YqLvCuZ/IwciH5cImAb1GivrEzjFKgq06CYoG65XfpsWKyeWdxOQeYJGNTEkXeo+fKGrm1W
LusfANjtjYC1vbJN+c627FjAYWEbHB5vBxSj9cKoNvK2O9UWMsJWvvmVW6nxyoJLJTEvfx5P8E8z
wyPz/O2iJ10hcK3vty4gmJZqFycJKSLWLjZeQpBjtyR7cBS9t1DEeOb3wzHbrlW97zAC9OzTx6hP
h54VMAO+qufNl/I21FtPeW8CS3mLRJ0L8MirrbgkNWdnzGSnDVTNDDb7MwqgZs33IBOVlRyiYIyR
1xF4CHSZMVINfzo9t76dD38laJP0IMPPHY21Hk/gQqiK1AAg27iUwGCMuuftBEp9JAdhC+yIX+hh
sa99U2Z2jFO/ZQdtv3aZL50H3Hygg0K6a/Y9t8aKlmOrkmFbl21/dWJMuD40Ho9nyachLEHhArgb
tOZRsWMYhaIyRHHroic02Q5Nnm3AFFjpbKtpBBD4csXeQrAK6BfwN0B/odeGoyF39RijvT1JWzxf
JHKILtLBuQDS9v14WD+1BnqfX5uhN5mSKBkTwcxoo712K12k39zOsg6cIT9Vjre3pU9iE/LckeeN
Zka/TGZzPrMk+Dy3wHtcCn0k3ytDF+az9eib5tW+crhsVU+S1uKb5JHE6i5SAC17ZgNLQxUD1URk
Es/pC6pahTtJVvsO+QLQGwGRrRilM4JlrjabFyHacd8Nt6n5L83gJVLtvdEI1vJfd5XO+YxeTx91
N1Rp3WRNnbQuH+/q7iAUOmgVvn0r0zVD70m/w+8gp0EiMzIrW+efjXPCrRy1HzTDo/mi9iY/dCzD
e3nr9qk9xjaA6Tn7BbyWX+maw2jnWtpq6TntT2UxEaHfJcUmZL8KOdEThaBekqa6wLxPqh4flMrQ
ZGPUnjvg3WNTxINZ3Pa8lfZgfP0uNlUPBgLCMXYVn/LYHFQdqvVcewyK4+A9RTUooWuoDoLgoycJ
lGb+xqnd7tXCnGRL2IS/Iz/cqT4wzcQfVql47jMovAJaYfxCUW0ust/um1qrO9DNt7X7/nn6AmiG
Ic0GepZPDPmCSjFKz3P5Gdl9BlQkPiiq5p9cx//jDxmAio7HrbllyfZX4rwIJjgRcbVfIOIA0NWI
lPU/P72T6TgDj4/h0mmHNAk6fkWEpWAlpLxlW1VpOigjwkJlk7Ds71BuD+Jb9EthHFmzsqpx1fY1
iqq1rXN/0lAW4OeOZnBo4D10O2NCHiYesnaN20vdROqp/BQj7Z2N/IMWTuzKuV66EkBCClZ5lI6Q
zqVLwEJUhVkrz7hdIdmlo1tLtVGwoqEgMy2/R8Ip7UhdruUmlyKJG7PU8SiFkq34GS6sncA1UzyJ
JUku8dZ/kY0euDXB5HSeMBvW4JBmYzY1OGlKJ/hPiyHwFCjnzAnmGV9zJw/SK2EhMuC+dHl2GxJN
tfjIN5qX8QKSu0EAQMHEA/EkFivR6+wrKd+AahoP8RvghyD2Sq1wOkapWLGIYxjpkPM+qfk1zNAd
avJnZFcmqPllghI5qcFr3JKzCywlWEo6PrA734qZbaHnBcLf/quz/f718alZyBpgTq8sU8kJuYh4
LQ0wODxirGoDOmqc5L8d+f0b+AYsJ6dXuKR8Q8PPGg7jrj5KD5uKOXjRz6Y2CACOPYjbDn2c8Cn+
NoBPAR6ef0dvFigprXGNz/MOMEjbpR7JveJVvspgumuzAlQj0GWdA2Qw3ktAwQspHiQeya3sHBsa
gC/8SuH0rs5AmaffBFrq+V0OOmGkIIs9c1SO2vPwphyVw2C3X9pTcFhL2/0/q4wULuDWaBShUciV
z3eyP+DkeANJX+Pn4hJYk6Pp+e8Agw9ICs2ID8G91Cbrk9Twjqr5eJ8tJCrnffbvL6CWmhWAKEhF
LHUhmEqiezYEx1InBvNnRDyeeCe2NNn+z4rVpesMTSqonc7ddmBlu3XOKsN6mVAjDOJ+DxsZ/axQ
vv9kTVGwQn+D9m72iRv3Kh6XFzFx2xqIWF5v4pX1nv3Dvf/490dQsVhfSwkbyJh8NWl7M+Dgq/tQ
yPVOLt4ej3fRU83qzHgrqOCopixp/qDxeSGhvWL6y+cHtmr0xwbmVbobypUByhVqQtGCtIlt3GHP
vEuOhIfQbnqRVyZs8Zb7UZn+1zgod8hNVaYIPde48bfwm3mP/2ov6l68lKcsXxnQ8r68GhHl/6Yx
K6ZQgKmpJfwnJATTQxLoJeDCO3Y/HDTw3n08nkNu/ifpSQTTEMpgUA9HppbyPgoLshrwbzZuAYrf
D+CWPtKtJIFxc3iF4E69U9z0zc+gkreS8Vi8Za4M01JxYs0yCCs0dILgEV7tZVt713YQFMKT4Du1
wqc1xfAltzOnsHBpIi7CpqTWMcrQhZrxePE15QGP6kCubCl6qcSXqpycZjBzVJYgo5EAtDqSgXVE
Ua8ygUCzt823VerpWZw5eWbla9RES1Nx82XUsrd9JXDeiEeHGDl8uZPQfdI9BfxHFkMZ6OgxVvnR
HKZtEn09Xvw7h8Shbw4g5JmmA7Eq3YhcqUHftAinzuhH0wD0l3Vcgs/t+FR6lcn1Hjr613Dj9/la
YCpnwmGsgArmLpqrI/RrEYXzoj4HzMkfz57GGIN4yhogdqrt+BaAB0/e560lgPhZM6LRZtu/j0d9
nwXDJwAWgM63mT0MYK9bP5wXahCEWlOfWwVtx4QBlyT7mfCNGeSsxUmMLit4ax3DcZOUGyUwyvSJ
Z76ncUTrVnnSoCrzx2fAuqu3zMqC3Hm0+cvQgTRTwOASoqvSk9S0FfpG67NQB0Yn7kvmu6ndfnxv
ZM0RcF0+nom7u2A2J4N0GxE8woCfE3P1Lm/ylAE7SF+fZT+GFMJOAyOMXK/hzuZr7cbDUFZ4arol
NU1GeajPffqtNB1pGjDAd6VRs8ggsc9xbEW8k3mpXrZONr1ABWDFrS4v+NU45y+8GifbBpLko/35
3JZ6FGS2wjRmVGaQpBo39ZQbXKiLcUEmlCjjj4+h3IvxZ9O8gFLG9ALDy7eiUhMtekLvGednzn+x
CEjGYkOyYM6l46+cz9hQjiYoYACC0PrO4NV60m3+cyNIdqHpC2B5CD9TL+lWVcOqUbz63KnMV12H
lRMrU2Kjpr5G7XCf5cRyQ1AEz/X5cAFCfTvZtdAGIFbjmnPHNp9y6Jn+cJhCoJRFm/drHWwSc+eR
4GSpUQvPXfssDFupdcKnchd56J5Km/2UXALeAgVS8BnqkdmjHzb1Tl25yTs7V0gP3o9SL8s1xMbi
PplDsxkACm0FmkIlH6C4PGlKc44ZbgfOJ5PpOzIG43OI5hYxF/VUfWLq71lANagRmipfeIeTOnzq
QyCLIRIUJxb/3uJ90hRGIrIGdI5X9vJ9iIDp1aAtqKDJB5WYnwTW1V4WxzEqU6lvzmVvQLwkxo20
Rxe5Z3YVKS/KH0A4R+Px5lm4Jm5MUv6y4SJfkiuYhG5semiBN2KGZ2E8d3ioZL/61X7BeTPSDmNG
A6M+jVKrSNe6QjhIZJz89tx+Nw2a42WiPafe8/jUDxVBnOqE0kpD2oIjBHsCxFTQTjK3YVLvgUEA
SjWT+uGMbM5kpEWPfhGfj6F4qazJ185RBjW42bsjh47WY3QZUFExm2tVwI3TcAbmyih4CFppvp6X
TuuvcOotjunK0Pz3VxuF63i/Khp2OHeNrSQFaaJtO66xHt3F+AggrkdDxVRqXeOOrTGaPn7zo6/C
e3289e7zaJQBau+NHieHkQ8DEkc4xelaPRgttEWg7Alu3OnYvXYr8f79AoHHYPZgLI/KOAZ3O28i
3yax4gXDOc/D3A6kIt41PTsa6jTmQKbzazz/93c+yhtooEHCDr2/UNe9tTd5UgRIRjWc/VBxmlMi
+sTzajMdW2OKseH9aK0L/H7RAGAANoOHWaTv6B7sTgRNFYpxwzlRNaRNQ7R8x5myZuX+ZQEmhJ+H
BWTX4bToi2BMwBaphhImsiuVTZWkqgUcA6/3bBEbbZUWzsAwsZNUeFvUY/bdqe1ohoPSER8CHCZY
nHyCFpPOAkTPN9V4SGzBr9aSzPP03p5HfCXkRoU5k6eiOf92+sNOCrUSpLVnreiJpoU6C9Qh16uG
2luRtsYCsDT119aoxa41rZb4EXFvV+aGX0uOWGcrwNGlAfE8Wk/R2D6rClD7FwqjYtuL8XgWAPby
XkIJ2+ggC68s9/z4bPL3gR28Mw6KiG5+xC60amqceKEkpu14DorcCpJPtrKg4E6iRh9O1ZPio71B
fQvU3oDKEI7tZxg9p74daTswHRToPe5+Sx9ZqBB15uQYVkLpe/cHHo6farqETDjKCLfr2kMlXBvL
fjyXsb8PJUBBtHIkZZCtsbYvLSnQ8CoelkjJ4gjfGpLzVuF7phnPk9ocfbFy+DR4eTzTiybQP4lp
Rj0Bhm5NKAzoUMUeYwm4AE+WjAP3cMmuim3PgTh9FGYsLC6luRGWhoaNucyVlSyN59yDlIgHv2D7
CtcYlZQ3etCq45sU1p2TMUGlp+NYmxBfTbdNVdV62kS88XjQSwuI9xk07PFix8Gkng1J0udFFXHj
WaqVk4SNk7TpCfRG9mMzC+5+FuTlZLBxobJNQ7qSRMHekNnxHPbBcwZWjHjKzKr6Na6xjS2dSxlq
Srhc5iI6HedPUi3zpRBP57qL/laxZmT4D0GdyOAnzS2beq08cx+24U1/ZZA6AU3D+4La+zDYNnbP
RTpX/BYzN2EB3Ca8+lvozMdTuRCbwiKqT+BUAeoeTv92n04geExTAJXOabTlWsHgua0nJ2A0a4iP
Z7Uv/hlb0Ron/6Sw0abO/JWn1NI5QTMiKBXnzBHi5Fv7fcSVArgspzMwlJNeCX5hg+J3TYzgPmGP
i00B3gyOT1PwoqKO41gFTFqGCpIXSuxwhdGNRhUSvjG8VCbRRVBsNC2DhcsuGM0u2tIQJn4HZp8a
pdkw/uxlJ0rLbdUIl5X5vw+c8WHoywGVJ/jQcZJvx5/ydVNlEj5sYE4yYCy8oAeMyZcn7kUorFD6
7NdyvEuHFBMBQBGg2eh8ot6VvIhSeSwKE06PbzKeYAFTscmStRfI0iGdO3JBoimAP58uevHQZR0S
dprOw9AlaC6PwF6hlhWRAxAo9cGfx/O4EJEh+AaXEzJU2Mi0uF4TFLE2ND575vKGtfMwflETRtJZ
X2j2aRaldlpxitmJw1rjysKJhWEwiEIyGdlYOhYB3FkVxzqA4Qu/rdze5nt9yrbNN9d+PB7iwrrd
WKLikJRNBa6IMEQtzTalBMoPUEsGo/L02MzSgFDsmInQ5n5K2iGIaTJpTZaPZ/WQ6Dgj5etzLulC
oOcseWxpac2uLVG3xZiB+MbLYamKLU3+CxihXrHnGP3brOrWnfXY2tK4gBrCpgfw/J5ZzQ8Kto+0
ajwrbGIqgQ8gFmcIqjGqULRmn7MCBVLPfWxzaYR4lMxQTFDi3HVNQTYelLwpjxGiI0E8j2jpBnNc
BoJKq4tWwHprtqiEWeKrqpdouHtZnT3mwPGDpoLf5StWlhwpWgWApeZZUCmAI+jWX4lNrqRqKY7n
UQMAsc1PeZ8Z0hBZXiRv4mQfMWYFBEr/JIW9nU3NK4OMg/dHk4+sBKp7vTqP6p92+v14oheczc1X
zX9/9XAeGK5nmBBh0OCj41ntNnwEYhzwg8UgDn5sanGeryaAOoaeikMILc/x7PNiQuoMVR/eh3Ak
XiLYuVGPJV5TxF0IQ1ByhXg92uPhZOh4Z8z8OEqmEB67Yc+ebxcea2rBpku+oBv+eHRLTmYmWoSY
BW4G9MbeTqTHTXFXCfl0BriudXpPHS1GxFMwEqZy89jUQlkB8FmMaVZend0ntWPzUYbfnIrpHCeX
in9N47+J8rs5qZERTsemek2Yt6zYNakBTCWY7CL7sf2loSLwAFIR/bHAZVD3IKsydR8kI2ZVHGI7
zerfUEv1zamGesFjS0uu50c7DFeEivuQ2p08qPu0kcON2w96+ixc8vEk7CY+BMGB5QdrG3RxXLNS
2b+sURu0GqbCZ3J5Okslao8dQMJqaJatv/JmvYfdzdkIXOxoqcCLEh0ct1ulGRGg+yIzncXOgLo7
i3R7cda0j6wqSFoD6FWYkeR0TKX30Z+qNjxkR+InTyBRvC3rTclHBNz/SaHz01Ea3LBQSdwrBzlb
eZQsHVhkX4FIQ+sqOkCodfaGUhxUyZvOQGyzRKiEpxbU83oXV5yuBWFn1CDD1nO1+S+yROgxQMYG
eVGoptBp33Ksi1oBd95ZeYfagcjXhuoDIr5Jy8FI3x5vsYVFR5SFkjdiSWDR6d7BGJ1OIx5/7DkA
kaDJBSlHiiYPzapNCuexqZ9sBPXmRJkL6tx4FCHpJs8TfuVso0jre1npubOq+K6csKmRe4ick4Hj
9WmsICYIrnFjqBg08k8yGCqlibPaik0dH47suQqHDCLYYUWmVo53KqJfS+m63hLC0CdVorWHiBcz
Q024CgIOuWpmVQspqUn2uHehG1oT2WbBBBYifUpGNngeAl+F4myXGwn6vVa81MLNAm6L+UGLlBMK
b9QuL9qmjII2E855u0+b6pCOT2qNkoGqrmzTJXd4bYn2R2kQ5uXUJcI5VSzgFwAgnRAJVWaQ5Q4X
HpUEzGBQiosDkou+FX2O3q7NRqIMzMfjBRaxftT6ziy0eBOyUPZGPeh2fVvU/ipNw4ewXGbUIhLs
a4C4e9wWjsW1iXk7X22hhkmnQcti4RxLOzk/KhUaDBBL9C1vK8N+qI8KkIBIqibj/v9IO7MeuY1k
C/8iAtyXV7KW7lK11KXdeiEkW+K+7/z196M8tquyiSKkOwPMDOBBRyUzMjIy4sQ5rTl5KuxE8V4D
9RO//Z218hziRufSE2eqlKRJmtastIshS2dN6j20xreeeMsT+uX3/M+G4EJx3clK25baZfJybZea
x8wrUs861qek3lf+Lv38/1qT6Ehqz3hVmrGmiNK7ATILCPZ9Cy/xNWCDGEnhSEDXwyiasCRtrMvZ
ziX90oyPo/mj0T+1rj5975B++bNS99Lhvr2X0Q1zjIzRflmijixcoE2rznUIQd8FzzxE+Zsxe5DT
ZsPIS7dH0VVG3cokRNJ4FVIf5O0aM4HF8zKEjK5PeQsrN12ljWO+fJlbZ4B6gOC59JL4D1Oot0hN
ZgWFZBqX9mBW0MjPZ8mTokttfP6gxFv4yJXvxlglMyBMYFPttIRUIE36oEmiwLiYVXaugI5Ju1zr
fxlVi1qdRfFoEcLmlhP9rR4tedCshiX5ZX1ApLpGN6OFBRZZoHM+htHe1Gf7UCWD8jCUFlRvnRW+
trS2OFZqUDwMRhJv7OWyMPErM3VHQYlLnytRuKLqOYaZqC+NS7O3rc+S7Fb6nwNwM+l43zEXx7u1
w3wdnmFSQ4NK7wWLVDubUJI3ymUOd4asucWf5ngwpq0Rh5f7qIMQ58216A8wWyMsJ1zoj6bMVHhB
VukROjUkJGvN2VNPqx/ur2jlgbfYWs61Rh8QqA1LvgrNDleobDSGclHmT1HjfNLGeK/SWk/k3dDs
eyvyOqtxGVls7RnY1TEy1YdEd4viMZIAaL2v9V0C/qb/6/7vesFuQeOLMV4cefnSpNFCDKhMaN8j
eleXARKtFibQbnguq89NNX/rW8WrqFmmPWS1gexp8Zu4iGj8vamrT4U8vK9Aipi5+pc22xsPz5fH
GTyUzociGlLpF4OG0g9DDdGhelGkk5UV7jAVyFt5dh0eivnjKLnltBHdV/KExSTWFqdbrtHbDRqH
IFdi/sklezv1GWB9fxcXaewGcuJJLXmDHNtu/7pyXDPR3oTDXjZiz++tx6DuNo7Zz2LQrf9DawQ/
8DL0BTex6P92VST9MIX6Zah9Z69aSXaofGV86KequRR6KbtlIfmgxfTe9e3CfJBAbDOHOvQ/Ntxj
ic4vfgnHXVn02gCuCo/JpG4yM5Ai/WIpo2uEe0v6o2UCu7FjV4FBOH3devKrCiFia3/f8ksP4BNc
GRayJblNLK3R+QSJU8IpORVMvGS8ZL3MOUnJcxNuvLtWKvbwMtP1UI1FslsWS9m+LSmAoGrzEp6L
8H03DRCAH6VLTAlSGty8zV1jcBtHO8jlBuRiJTZgmnCH4MMy0SyioRMt86Wg78yLZkVulGmuo38Z
fEAsBAc5RMU4hWbyUJd7rXGDPwkTRb0vUUr1y4dJf4rixyBI9449bvyul9F++VkEe5hTEHwT8Rmq
HbV5rA/mRTLUB615LAMosWdllxfGwf91EKxiaApyFIzi67iayGvbh4o+aMZkXTpGYKtzDU/qUk2M
p0Mcv5vA/76ph6dCfwzj6ZWlbCWTL28cQwNmI1M5Yf9flGe7IadF4vTWpdX2AzSXpv+uR4Gue5f2
f6XVW+vjCF12PsbHeZkD+wRyaxo3xueX20Y4ajc/QUiUZOaw6zEarItZeop0UJOPYE8pnj7Z7asY
jvD75+vl3Xe7YOFga7Yy55I0Wxeev6Y3lEg2WeUElsQuth7sL0G9bC0NIvJAskwKt0JyNuTtHLaZ
bl3GkKHK8mNI6818pcxgufWifaQ6EQO8sHap/5R0z/fXubqxV7aFr4q2Tww7rWZdHOsYlc+F/zZA
BX4jePw8ocLegezQOCaQJjLZvXztq9sdCIORN6kWv9UlGQ+pUl+PdoHl9/Ag5E1c7ZxYoZHcVhqY
jqiFr/epapTxU1QGZeXGTEL7D6PcRF8rBGs+SY6DqgxNlvx1nI2wOfTFhFaRw/852OVyylxGH4W5
/9AmsWx75ZzONmIZYHl3fTBY3xlNjkoPtt4i86JRqT/YxpB91sNJ+lrMSzWAUzBbx1jLuN2NYbbM
E4QhUnfQ9ZIyoRKBCfSkXF/+KILz3pC06dd2btAmgvEDslLNRyYprQEimWEyfhrkzh92eWT2jGlq
Sublsca0TtFWVu4lZlZ8jq2x40VmFNJzBp0XHGE0SA1vQkfQfh5rcvfvUJRrOMEwUsEAAT59q7Oh
yd0x84389Uys+9Q1XQqJPGMb50RJ08oraz/bwTw2QC/Y2ekIRVYrnWdZCxCPosLW7Ey+TbIbjHn4
Zpphk3lN1tN86VS1cI7SbOjB18wpiThyZxTVISp0+DWnrOi1D1Ojp+fJB6G2UesXTh7oH7qDXOz/
CE8Krwdr1Kc8LNC31FLapZFkXroo712727i7hRv0bzsL97mN8A0gf8EOnDP+PCMWey4y33kVT47t
adlo7Koki2A4Gepj7TT2Y6FWO0mpf5FV7H/WUTngDbN0RIUzn0xZ4geVFZ/7s/ONbu/9Uy3Eyp9/
HYkInshka0vB7Pa8xaGa+Fo2x+c0nfa11T5GRusNNLey8r3aHAvz1xCEL+wJ0dIZA7uyJOxZ+Kgu
JUz+Fe7mmJBw4b6wIuQ8RdkouaQoDKubIzvkPM2N88Zs21PvlA9xshEZl792FbP+tsZLRKd6Dm2x
2CJfOJEm5DXic63PsldkwehpozLv7u+UWNP42wxsKbwYgfUBK73dqrIospax3/hcGcVBlx8koIOq
V9vDcaYmPaXpjin0XRNvFTeEwP/C7vLPr0JyWYaapJlsmZm9dvpjmzUHp3zuyq0Frn7Gq/UJx8xI
E0UtqkUMeHSnd8PGu3EtWDB48O/XWw7C1Sokh8uzX76e2lCnlL7KgQz+b4tTZ9UKAMhFNQo5HFk4
TkNpxNVoSBxWpzwOauOamU6a82v55N87cmVFPESOETJjFTDNqXw0/dJrVcJ0Ku+L6XujfbjvdqtH
ybHp11A8AcO6BMfr7yY3hFmYhc8UoQ1XMyAY1JJI3ql1EB/RJIc8vky2lBPWPiMEmEvAhTqBl+ut
0SD3FdwsSs6K/r1FH5zaOdMUl/srWzUC9x9lO8aeX8wS+iw3K+08OY+68ro35NdBa7weoTW4b2bt
A6LVhwwdwGkeosJm9VnWT2pSJWdrOiT1V0s/58EO8shdsjXztb6g/ywJUW/oGQiRVCSl8btHqPJ4
Td5fyqoBoHyLrhAZvngVBYM2dmWLgUrO9vZ4lCemboIN514LN7Sj/jUiHCEzhaJF7orkXDIpk+yL
4GTlx3mrKLi6FK5Uqo/LY1UWdkUDsDwn8sDm13u5IjvMvZDb/P73WlsKSfoyeMXrDzTrrRsnc+HD
MG0k5zrc64xa+p7DM1zd37civnp/hoNrM8IRlUmwGkuL0rNcM2BOkWnw6ln5Q5kKep6zb/qInWfp
jgpVuB/9jhmz1mLkXpc6V25RYyym0tOsKT/yRpX2bW1CvBGNwa7X5t4zxh6tuUmb39//1WsbcPWj
xVdqrZQlSE2+zdCfleqozXvF3LiX13KbBZJu4Ks8h180gPs4Dvq6pYlrvuq6D5UevVGb3uVxilzm
90GrNzZidUngFB2eLtQoxYmPSg6KolOG+Jw5bbzrW0N+pdUQzzh1bBzvf721u3KRmfvHlLDlda3H
Yxx38bnZW/st/rv1dQCLA0Fjw+glXPhzOnRKvXy3lFl5+gFeWM6eM2yE39XDQYvmHyvCdV9rUzCn
OlYalV5qUp6MKfWc7ivkLO/uf6zV9eAGTF5wqXCP3R7DBrB+OUGrcW6jr4Z1mYPLkP7OYgBvLb0Z
BhREWIqZdtWUtqSATP9Og+5aM+PNzmUzfV57iiyqgv/YEcKW7jSJpM7kYlmn7Y2SGUOJqTVp8hpY
dhBi8xwFasxw4wOupp6gxME0W+BEXgwYTbRokBokeZqM0gvTN9SUj1B2jf2A/kXkhf6famB5dsPk
6/2tW/Vz3iXgFwENUMC93bqyUONRG0gE0jj2Kv+HU2xNT6w6x5WF5Z9f5TdUsfQ6bHjcjf6HYTxR
HHaH7uP9VawGoqWByzCmYWoin2QYmeZgxjzh7PwoR57PoK+yd5pDjIDaFmpoLd342Sz+ny3hizVD
nwC0wFZSghcu4BvU3wDJsvT6oBpbwKHV7VnKmuAx6XiI9ajQnCMGT0ih7ECWYS7Nn4si3ajmiUqe
P683/vQyRUe2RivjdoescZkTrOPkTJ/QsRuXWl4TnQ6j/VVS923xUX8H0Z2cfmK+PEb6r9FcGLbG
cVcOiZuo+eH+Xq5934UVFOjZMgwjPpg7qZ2nMc2Scy/n+zy7qMA6Jvjy7Az0lLORQKw5JyP0qEEt
0+0Ui26XXviUeCOZ3DF9LOTMrZynDJWS+wtaCynLwV6UtOHuFV+vk+KU/oiGx7lrpVMcZ9DDpPuy
lt2kV2qWBWF/1rqFIW1Niq85DyAOUBxAXpmqERK91kxapZIp38hD/i5nz4Yxeby/ttXNujIhhMuk
081Ogln0THHPtPR3ivEUa/UhrzpvtLSNzdoyJpy8bBmvlQxjKUcdkgHFRph26ugQ6OO51+0NY2sh
5frjCWFL6kYF1W2MJeX0xkjnnRnpbjpke8t/3aT5PlU308xVZ9SYgyCVWliihJwjW6ZM1bJJzllD
ncPNqe51XgOPK4LvoQoW0sxrSMbtLIfutFOYAo+VBvXXqVC/6VlrVW4UVkBQSUO7P7Paap6zKYni
vTFM0WEpvSJxVA/fA6cGEmI1vvw+HK3Id80u8Z+7VLF9DjdFxycpSceNVHF9bQ6vGtpG0CkKKY9i
j0nSofwG3o/6kOIG7QPsLBsnbdUIs1YgOvkXU5K3p9kP6P1OlPPOkp+46nxkhtGV9a/3XX71VNEA
+ikSTuwUvVBKc14cCY/AAa2hCHrWfTECxr9vZfkeYsmLeM/XspmLQW3wdimxPXe1jbbSmYGJbmBI
BRDdaRPGs7oWcMWWBfhW5gK4tRKOTd5YFuEPtkLH697fX8PqdiyzNrRo4AUVYSGxDX99Y/PXDedD
Er+2wtptw4/3bayu4MqGEMBlHR3qPOLF3CDg+egXueRWkd3s7lsR+bb+viJ5yy5gJ5r8YmlwbiUf
EOPyZp4PU+p+tp8mtw8Arj5Qo0+Tt8aDnMWe3B2ND/ctr8U8YGm0GXnwwFon7NA4wWRgpiYXVJRN
+ybo4JmwcrTZ+7l4JQ3yWTXyLQn6tX27trn886uMTenkPG5aHd/LhwNiB09Qgeybetz4qOtLQ+jN
oCxOp0EMCVHT1MNgJedQ13boKO+qWN+pcv7sdLKb1Ru9DBGp8HMLQaoZXIc4+wsoFDr2vV4GPb6O
pGz/OkSI6FTnsJmcOvPYfn5w3t/fubWvSCWZTvEydYaQ8u1XtMacXndL0aAqnlNTpSQKNUVc7O9b
WfuIqISCjQNWTr4kWCkjLTeyXmKvjGnH7PXUwD3nvOrl7FwW+W/E12ViDCJhkAc0S26XREeOp+Ss
oXUfw/VXHVvkxrutAYTVFV0ZEbIWyTR9qi0q6VIxenEP8DM6zNro+b6907rL/c+3ukk68DAA2svB
FnywmPK4r0J8sJdrtxguS0uv30InbBlZVnx1nuLCSQY5x0hC+y6e/SPz64DFoo3ztGVGeIU7Wkob
U+LYtp07hsdEetqS8tyyIFxKfTZPTVAvJSUARWUPoz2SvpG1ASdcQpp49SHR9M+eiIWrKTDGQKv4
XLbReD2UevX8Gz2yJcGiaEUXgehzuyHG4BuFby2HJjZdy/kWx8kuhzjtN3zLROFgmUpc2FZvrSh5
1TqaxDoM+UdePwVRB03Bbx3JKyPClpRR2vl2aifnqIGVxACdDuv4VjtkLRlhbOWflehCtyApo6EK
l0htK6fqa+q/UtL9FvRi1YYF19FCpL/ISN1+rRgYgt1kPslv+EnrfuTacQjPlb6x81tWhAimTHYU
MntKUFae8h2T6qTTz32/EVXWrTAbtzCvL5O2t2upe16wahyn58bIH9TwlLQOAqpHp/h638OWzX1x
UpDY/seO4MeBHSFdUTJzB8bBUR1PLhueKJNrI6UXad/SXvY2E66ttQk5dtHR6W6TjFr4l9j50L22
4CGB/eT+wkSI28/LmoI+SQEwtwVYe/sFgeBwXfItzvn8PNvqw6hBDtw8pq2ntbxXZLfRv5fz+2oG
eqbp+/vW18Icg8vc2yC0F8q7W+P6nPNKd0bgCAgjQx9bP1nRx/smVgt+y8ywSskF0g9xitJMZKVx
Yrp+pe6HniqnRz2aXls9HDLpW21608EzmoPpNJpfnIZaPq1Ka4l6wPI/SGhvV4e0i8aUDMFvLv6Q
wKtWrpGeWtmjvf3j/iJXXAXJS4W6HKYYuxLcc4b4YhrHipFQkNeU/vSuOqTJQ75VkVu3w0pspGh1
S1SArWapjCulTs+2Ln0Y9eZrP1iP+RScCp6jG5654hus6T9by2+5ussDuagQvW3Ts9WejGjPqsJ+
I0atJEA3JoQNUqvEmAqL5fQVF2AWwb6navFznSYX6HQeHMRq7u/TyoULgB26c33pO4JVuV1TpmlV
U+j4ohx+moHM2lttzZU4dWNAWFFqp402tuSNs0TCuK/U6Rhkj/ZzUIQHs26Ov8q3/bePL1QP6N/Q
LxDJisu6NZQUOavzEJjfJdV4RjZ8I71fdbpFdYCBO+i0xCxldGZLGifW1HZe/lfZvgqch6DcSOlW
dwaYHsxPCHKBH7rdmbGRfQQ1CPA5Ay+9bRzC8deTLa6o/ywsv+DKn2c5cPwqSjk7oenSu2GC43dO
zJWF5URdWaA2r2XTjAVTvVTAd9L6L5qpv2GErhCEMzotKNz41ogRW0oRpNwXmfWq/NY5j/7GnbC2
E9cGhFWYQznpSY4BrXCZYB2SjTO4dkToazGlQ+dJhsfwdgFyLfc6bWIWIPelqxsBg5TOQ6pargWd
qz5clEl+Z6jhw/2jv+bF12aFkzlObTrkZZ6eQ/9Jbr5LOvVvxjKDrTbT2n3Hu/G/9Ql36kgJKjZV
1hendnT2c1Xy2nZIdzB5PafGm3RS3kyR8yUfdJNmur9FX778eSFTujEvpMmB0ne6WmK+9t/M6XuG
NpCh6KALmozCa/yNWsP6V6WhQMWGts1PDq4rl4/6JkxLDWuI4ISAbFV03tNTbmzRdq7aUbXFwk99
acHreSkroe6we2As5u5kFKc8PSEFct9HFtd+8e0g4wLC87NQI2ydZOlxHcxc45jwhwsr2WxVb5kQ
ticNrQbmMUzoesf9k1ifQHi/sfOtsdP1D/bvUkSSysRymJC2uVqTfIG+oKcyVwfnt4IRQ35kPLxj
KUcLZ7kERFjVfXpu7Q92YO8IR0NZbQSM1YC0VATBzTKC/VO+58rHlEmqfanlk2mSlO+yimaIFBu/
yH/18yLldiMLtjihlOpulzK1uVooJVYaxdyx+dDdVwq82v1OVTbcbG1BXEX0cODVXdTYb00Bts6t
rFXSs1MW6N9YqexR/542Ptuapy3UFthBA+UFLEmaVaMHyk0cikBha/4fCwtD6shbXe81T+P1wrGk
1wGAW7i5y761CyPV8GjwPsdkcG3Ni6yNd+bqYigN/+xGLGn27SdLlaJuA1XlZJKG9B8hI7ObjVC2
lozCXfePCZE7YdJSM2xVdiVDTLeOH6b+yQyOimwhObRVy1zzAG1BXjBPx3yJLC5Hi5JqNvrs3FTB
gYfXUna+H8pWLVAnZe9VcGG28KxMVYk3c0guokmJK0EvmP8GuI550P8sCE//rOxHQ/v5PG6+Nkl2
yrsfcvohsNKNi3v1Qr02JDyuwsCK4EhgKYAd/eDExKl2MT5QZ576gw632fAbGda1PcGh405zhnpJ
45ZPt+A4amgKNl4+a4cGTkrmDaBE44QK22Mn3dQlJo8r1deOUm26SYPISPvFL7YIdVYtQcsB2p/z
yRDl7cmpsqK2OoUQrckfi+rZoaoQafTAsi2hmLUjqgOt4HWlgSUTIWuh0/qwp4w/34tNpD3iDMnm
tbbm1tdGhINDFEjKuCWoBaZB1eAEocFv7D4cy8rSV+XFYy3LvLptYr3z+67HwpA1zAYBEDG+y8bG
W2T1W10ZEe5NLVAkU834VnqU7Zzux3JAYRrZ3Y8BW1aElHfQ+yBpIqyUOVOCaW9b3mhX6KVBa7Jx
2SzfXcycoKIjejpMJVJ0uf1q1aTnMHASn/vP5o/0XT4n7oOEPkf9aavZtBamod6GogT4E29SYX9S
GUmGfI6zs1NDsTzn9fBXE8CnE4aydJny/Gtvdls00qtnCJ9GkwfcOkNQt6tTggHt8jTJuEp9Wp+j
VyeNq+X9zhy+39+yNUuGSaVeAWVKPiVsWSSFUlXkaXZWjHNT5rsyvEAO7Er1xnDcmmsA7VpoA5DW
QBP9dkXjUJe9E+TZudv7lfet3mJ42fr7whcr816y64x1yNarrjgDuw765/ufas3lrpcgnCHmtMa8
RJZ2qeWMw6vkazG8AqPrddp3WgNMT57u21sLPRAFAJhEnQj9eOG+U2gJ5bA6ZpzZCYIe3e1+A9tH
NriUSkHGkIkIl4La1M0YIMx3TiqfKb9qn5ufoz9qaIutwsuSLaG61YsV4M8CwQHpT8S7dYJsJvMs
swJ7fvPcZOGloEUQyEy2xqbkjum3IP8xRAfFnze2bs3Lrw0Ln7LufVXJGgw3Yc3EHzLYUX/ws0u6
BQxec0P4CJfi9sL4KtL7tJFh5JODm0vd0SpOfnf8nZbnQnn4rwnB0zO5nMeGearzz48VeVN36oMf
911vaxmCq8PZEwcjxN9npFeGeJ9GT9Z4/P+ZEAKPmYa+U0OPu3wp5iT4UnqxcYDWV7GgY6iUL5xa
t+6mGTGEXXWbnVUtmA88w5DL06wfxqQE+/uLWQsNvBMpF3BT0PoUsoQ4yEsl77Fkjy2cEJXS85Az
QBQ79SgjqxK0T51vVg9z1Spf5l7dauyvrvQ/+yIcqExRTDGQWj+b8hf2y08+/N5+2ZAJcnwJGuLZ
bQMpXfqYHCG79OwCteXZ07dGA1bP6ZUR4ZxK9sAVbNnZOQqGYxCMu6G/RLb6XA6/kQ+Bzfp3NUKK
n/qObE6ZQSSCMJQJNCovVrORcq8lDvC8gv+GToRkWLSRQFRUGX521kIZXuunxq7dXJbc/UbWtVaA
445Y2qEyz+IXJbEciZZG0n6uRVJd1D/Dd/b7PnzavJHWVnRtSbjEjdZscrvXuQFRfQjzD371Q0/7
Q9v4btlvvcKWvRYzPGuRBjQAnsPzKpzeAcQ3Kk0YS34UENQxavFK2z3bnTf5bvrF3FT5XDtD1/aE
xfVZ1EdKjEtoc3e2enNEgKvw7Nx0zTbcT4wPgCgej4PzHV6zQziop7YzPjvq6FWJuRG5Vj80FY6F
ARK5XFH3SvZ72NpQZjp38mkItUPX+J6Vv2qNd/6gP96PXSu2eBgs80oLxf0L0CWCFJPN5Gp0lkrH
fFNNsulqAZoP0sBAltVkBZprRboRMEUxjKX6pS2Q+CUNgFZG5PYxMquNUK+Izgy3eP5HyETgCh8d
t1LfTGW1d7ToWYmfUqmHfPDLOFBRVj4pRbdvwx9avkW1sxJ2+DFLoVe2oAkXwVfm4Eid0ZfRWXXa
Q34wGqg/IF+qio2n3rqdpZrEFcEVLuQ/uWGEcq52EfMacXVg6qZxdT0a98xjDQ+MuVUbkWFxWeEI
IZomL/8mwWda6fYClCBhXeSb+Mgdk+pz4ue7bjR+UZjg7628siIEbZRFI0uLsaIx+ZzXhzA65Ga6
4aUrp5N6H5VF0EtMPYpNHKjNmlCvh+gMo/vRUp+zUnr0o9/Znysjy1G5eoqXWc7z3u5pojAbGr/3
te/wQWob18KqEywfjdc+5RixupxAz1gqFivpVe2UyPvv8wSlVbJRXPz5Onix91dmhPAZTcakzv4Y
nYMk9BLllJhvIl06lsbkDa3+DkI7Vw0uSv5hkh+dxvScZtz5VbPT1dctj+l674xnK/4K44hlP9Ta
A2f5LCXNYzFALau8MR5Bz+67Utr7zZO9lbmtxSSApIzwaQBFbHH6sVeHqggVLTpDxlZLr6rH5I/+
e/kbKDJO/b9WxJJlhlx03+pYIQUlt/MSqNa6Vt+oVKyuhToF6E5GYWSxzDtmCl3mxUqueT4Nnnn2
gme/hT3o/a8Hcq4LUNTUiIFfLI535b3KaEld29ECNIBTP6d28FfdRupu9jPpaAQTFeySa+S+zbVj
eW1TODFzKA1p07E4rgzPzL6OyinqNu6KtQPDND0jVNQtDUZ9btdltCNcMWkUn2n+QP/11FjfCusY
HO6vRF8LlswrcQNQh6NQKixFidNSDTLMVHv92J+lB7gW8p3/CF2QB9s6HHCu5Spu4aVudggPyf6P
D59qTzt96PfGQ/Bce43qDo/WEbIbt/aSx2T3MXdzLz6mj/33jd/KisWzff1ThRJrP3WhH1lhfI5y
cqHmW6gd7xtYA4lp1xaEB4009k2q+nwMzUyO9OMO5gifpvw+Vav9CDeZHZ9qYyGntiw4+bYG3EUK
259XypX5n1PjV67sD0mQ6x0LVOF3hg6tm93mC/BLlCfe9F/9z+3X8TWy8uGFkt/9la97AYTEQMdW
2CDRK+rlOC3geKlQ+U3TvNyFlmJsHBuRcPHvBYLOt7nKGERxhDvT9POKC7uGXEw6GPEXf4j2lhk/
lJ2bwG0UueituDQE82nXjulbfXigB2ki/cWEZwDB07TZ9FiLUlQV/v1BwiFzMmQ2g4CJZgt1+5q5
BySqRtXydJ/a07hxma8vf6Gu4KRBO2sKocoIw0yG+Bn3aiav9JPdrIZu4n8OoSnvnrSn/NuoFq7W
H9Q+PoxPylt5OgTKc0HFBrXF+zu+uvKr3yKc+ypGTa2AP+qMArk1/zlIcD8VD4XplslW93pt1oWp
RwPIDlXdJQ28DWUp4g+OMTBl78uXHCbJNmzdRHmSqpM/WQc/iFy/3VkO2tP7caH1Q2Vi6Dcqsaup
9/WPEH2vjOgGKIyU84IfXvVELW9ungI3KtzgffvDGXfKl9idGHh437zfmv1buzCujQt+FoJ/0TON
4f8pyHaj+YWWlbepYbVEpxfxker5Qp3LRxaTRSeqp2qcWWH9mJL4quqpyU9D9k3Wzn3/FWjHb9xQ
zKGANYU/GfaPJahchStjLnMHuUwOT3uqIjqToD6jgrrPFjJhrYKKCKOGqhFFW54F2q2lIC59CQhe
fM6T3svDt5VieUs3z4fqzekZ4iBK80h8e/+IrA34QEUP2czC1E5hU/DbTEtiKwsZdx1L51DNqTen
B7/+a6hd5ZzEzpMzf4DZ7hRvpMoiZ+DfYZJMBuAzeRrdkNvlKnJYaumgxmdH/TNWRxqJxd4wInco
XuVhsKtDHSzX5LbI0abz7JpR88Aba6MSsZZ/4EX//gghWI1+HsWNAYGAbH0CcecN0BQw8vkY/yLb
6c/V4kLA1ECKKuzx7Wq1MTNs9DQTVruz28P8tU3doPeiP23O4sb7YO2eo6XAKAi4OMcU+z7KaGYS
AgI8dSLjO8JyA8pYsbURWpcfLJ5Di1lzhuwoYjCHdrugJhnmjDsFtzH2yGuG1V77WoTnDkrBrWbw
WhS/NiXEFQBw9GlLTA1e8VE5p+9KUKPubxyDayPC6dOLcE6SASOWuvvSDUgcu70Xz64KBzBwtMt9
c6tfD40rGeolFfVowZoVF3ZsB1jzLflx0pf2s4sq6qjA0AHjb7Ph5muR2XIAidC056iLryELYvsF
I0TQHLTIyyv/yUnTH37tb13+a1uFtglaxnRVic+CV6BkHDiJDN9Iq9UPhoLASfZqbo9okSvhK0QJ
gip3I/O16nxEX6geDqlsPjS9F87vA2ULs7R2DGw4SQEb81+I1dx66FgMcg37FZxnWpk82lYb76Og
UTYO29p9xCEDQQuTM1MXQgTJi1mbylGPz3PvH8NU2ucRcP2w2SEw77b5qan6S2yVGxf92oYy7KPC
+EBewX/crg0qHIY/aIKcw972YHuwkJndvGrXPuC1EeHqU5RCVwYw9Oe5vpTzRz2cNw6duuYu1xaE
LfJnCjZGwccLnTeF2e18BvWNrDjJkErk1uxmwfKszjrpFGZv4uRJImNNDDeukkU7fWDETXd55e+H
NALGab2Oh32QzgddOzaKmyv1Q6serGhrXn7rVwtbnky1xPD0suXJeSrQfLcR3PgSpR6U1htfaH2f
EWiHTxQou7p431X2AUmEkRQOlyRMAOCVIleipJgqh/vRaHWjAcvTNSELYKDh1goaEWqf+FgJaxug
eeTBv33fwuo6riwIGy01yjyOLZ+sUACqDqZnQ8Kdb8GT1q1YYOCowy6qkLfr6AI9zbqGU2GN1q6n
9bPUsMbpeH8ta7EbgYB/rQhrySK/CiEfgOtoflJ9Y+cM32n69XVKMgp5b/BrGt0/MwcU4lH7AhFD
FV/wtmKYRj1z4AqJ8tfU87Ixeepg2QSpF/yOswGronytMlFoCAuLaj/JG3/8m4pyImNwhg+qssXs
uvxeMXFg2OBfK8J6WOqMFN6Ms3XlPu3QS0Q8RgpOc7P13l8LzUuJEX0J5pTB/N66g2UmdWv5bFRq
RoSTwqsMz0g/M6pR6sle6fdUSO+7xmpkuLK4uM7VcY1yK5DCiIPUFP3OV9XD5FSBa/fBQ9GGn2p/
q9Wy6ooGyLJFTIPpJ3HHiiSrkpkVJnntML1cGw+j2TzmOboNVRpEuwF/QmAq3nqsLH/4xSZeGRY2
MYQJc4xy7nlzGTHvnlT9O4NWv+OPaNzqQOgWnkJV+JqA5vzZhy3Xd7QjiNCEKkpjbmRiq1sGcxg9
XKKfKY7ABD6k0VFLzKAB6nZa/Dh+cnqIvPXi6CTdRtIsalAshxkRDto1CyHGMt98uyQ99/umlYiD
dhm5oTI/wFfp8NLq6Ygj9lp44ZN8ytx9l6ZHy9xb1dv7Drpy+Bb1cnR8aYihNy089sJAkxQjTRNq
U5TfYcT/XIXQbBeD5flBsZGkrBqj2MoEFkVr2RYuL6urxzSRoHwZ5ClH1yztvaLNNNTmo2RPQrpF
3LRqzwaevJB+0C0XT0NiG4MxtFAgjBoDrr1yyqbGk9G4VqPwz/sfcuUAgLRGRgANH+5NsaKcVbZa
yhw+2uVMDwTpSFmJ4fidXvrxhtNsmRKCSjMVcShBnXNWfCoAUecqY+zWiHPcX9FaYRbPJJYslLow
zwpnegiicqK9wGyt+RaVCq/YJe+TR9n13xTn0usPxknyikfp8b7ZlfN3Y1UI0qQFsZTJSyblhZ7l
freOye6+heVMCbEK5SiaJgvNHR1GwYKUovbSWcxp1kMP/YyMolI4/HHfxspVw5XGdLDu8M5yxNdw
iLaMVRpMTupVOCLDa72Sg2Q/Fwh6KPsiyv5Y1MSkH/eNrjkGyBAdygcm5uk73waTaUjjotBs8lDm
spL6S0odX9ran5UrhuYWE2hUaRiYEMG4mVlbccsD6twGjZc46kEO3hqn0PJk6cMm++2aM4D4JVjA
fISYhPB8zKbORF4BY0X+MXOMQ/RFi313iDMPQN9vfDymgEDMLzysL1jeyrKWoRdhXXGhuYEvyUdA
WJlX1tOWovfqqq5MCY81aUYWQS85wBGgALn9P9Kua0dyHNl+kQB58yqbSlfpyvWLUF3VJe+9vv4e
1d7dyWTqJtF7MYMZYHqQIZLBIBlx4pxffX8a1acKeZKyoB3MS86OxhMEW2S1ULwgAnzbFW2S9hiW
5p866PimuUg5lZfylDi6ZrZPFekfNMTful0U94HSCzhD0EWs+1qJO+8IPM1oxFCxCevJCdMvCclv
jf0vemJnrkU85UUVzb2kwwuMHPd+hObhAgLz711p4En/2CuWjhAo0yCgw/kg9zFvuasLHGr3QYSM
GnixxuSStAPkufJ1GGlWSCuDL23ea0tEtO2CcGyhRgVmt6aCHEwoQwPZG3hDlRKWEgBppogACPGu
aMhz8JCUwXeRfnfVL1WkgJqW5w2BHFsXyXmZ2LiVnGpJrmA0rBgZOZMaAMhmuW+HLeW4WB4LQGPz
ixgdv6R/l0UyVQXG0g9Wl69mjRBKYnp5KP9YIIaiCoVfi/C0rToav4EZ8jb/TXcLEEn/mCAutt7U
QlZ4pk/y+Peg0KvuY6IderR5ImIOqFSyAFyG4A4oXNGWIHm3erxTloIaCOpmknIIGd+VDeRiDLQx
BNsHVCWqtoCi0y723F49fj22sxTQru0Qy1EJMVSHM9jpICQAflUmSp2/twBSbCRYNGRHEdZu97zq
SVquDGDOqjgTeJhReHn8+z8gTfICcm2AuMBpRc/wXjzTKkD3XKgt3spzAwU6f6VM5z78njI3Qvk9
nay+K4ziFUpk8gRhvl9jqunROvLdwgS/MEMjAFnyERBPo20U9z2AyYiBjyPTVLWK71JUMNIyfwb/
SAXjLi0fqlkooIFkBGctEeb6UhiUTtFw9kFyt0DbgShR9utSwRk3r39MEMPwfD7VcgaiT00arXx+
N0a9IQ8mkPpPXgT0ueCxOgfQ41BemkrVy3Ocm5Ahc3IuNoXgJIWbqqDhWpZuTTOmBW4FFAAeW7c+
NQpFF3ctvslX8h0vn4Pxi4vKDZ8J+0oQXQi20GDq8yjvnAzwlvndM/eaEROdsBPfgdARfBH5geNK
u1C+2jkjnW7k9PmxQy/hzyClNvcBArcH7yFuAAXEofKCB3uWupPX2ZZdqTvBbGxp0614UzrGRmrJ
53DXPE2/QVNoijpEwUwGsJ7GEM3UVhxWp0sjL3raPx9F1t8HJoWseoyP8nhsIjFa4dptdJq4ClnV
icfabEBCKba7YRQNNQyPWT0c1EZ9BdLXfjw/S1CA6/khqyCojDReLeIIYZ7SFbOK9+nas7lXbwXe
yW3ktC5NKnleXHLxsepoyERXO9iSiSApenHBD/OZ1aKbNeh1fnjtCtCGU7IHS159bYY4t1J4Os8E
mOKhO/OlEeYWDuF4hfjUUCwtVaVFFDdALY28He5Jc+y6vohVYidECmqYbSmeNan60vxmIyZSo0/h
RYVUamxlgDV4lWJylUw525YCI572eIjgRcfhVLg1XrdMypfg+N3GguNNilE2gT3kNFT60o4FNBtQ
BgAhkaIkZtMXRkEqI2D6ECp0OSoZoDGhQqqhRaLoxM+gZiilqkWDqNeCuPtHCZUISshMNc0gY04D
V3Wl0E6N6pjR0giLc3dlhJg7ju99EDWLQA2iVtOBhrDUfvEqZYct7XW0Gv5nJIR3TEEHALYshVtb
pyz9DzUDuZWuf5qIo21RK3Ex//RoJWaqxxvBiQog1ESz2bJ/6mN2mDbcm2BHrmjgtXgAG4LDDc9N
uFZp0BNhXpBH30KcbBpb4bGj4Vu0wPQ3wVdgSG+SDdQUKuGJ5a2FLWfjYMvsfhs0m8EBpig+iJv0
fbDyJ+8zfWr2sR3rw7MGsIH5OMgt3mquJ2oOFlc7tAsm1gt8eBPCmwVWWMQDywernTWGRoqk97p4
1xpdhUMboxu6A7PvvxorhJzsSqE8CmiOTZxHCj/y4TQ7dooUVfISmpEbUJqKliLsP6PFOXs7WoYt
mgAqVHBrs93JdrWjTOdjj0YN7vb3QynJWYnBUrOW5RuPl+rx9KBf4Pa3M9Hrc2leKdwqP3NzMliT
1s/6eNdDsfvWhMbEHi54+HxZ3rDpupdXnHp4PAraDM1/fuVvjDy1fTLDkZlujT2q1xxNNYI2T3dR
xQtQwZnnKdE7AbygUE/4isHeg/zG47EsFb5BuP7vAIZYdTsYDsee36kwZXr5nje+AbR9j8x4z1sX
f9M/h6X+BxyNvB0f+M2I17QTv3XPyYrWtUubUyLARKwnijEgIdtJ3eUDbmkB7XI+++3/HcJwebgd
6MSxflW2OA5E4K0FPTa5l8ZBBfMJksvKU+Y8nleaGxKBoIeamlAlOLizrT28tpR6xmL15mrVyOSD
AIHRyp8H03yNe8YYzrGTIBM16rxRnPG4C1dVse/z3Ui7Kizm5q8tE+GBD6p85EoMLNcLU8M/tlGn
+yv+vXZLt3e0PVrZegjGUfx0nq8Hq/cDJb/ac2IXoDXUg5tO4EZW9Ty0a0nvzGz8FtRz0FKchWaN
CCKlMjAMCJ/DbWWia/OtW8Wub3BGYP2/nIREOwwBIw4hPwcSxiyDwo6FxCplynmxOBaoh6AHCIU+
tFHc+n2itFqBxBvGgqM7WANNJljBYKSv44ZGm7bslle2COeogiyQ/QjzxjJAogy8rk28PgyK02mA
y1QjRFLeuFwPkvQYtgqA0Ikjq5KjymmnNzENAL4YU66+hjht1IEPmlHFUaCEXWRMg3ISC4GKtp5/
5c4zr6wQvqKIY++xs2d6u8ScbGXF2sJW3eK6EdqdTWtoXzwZrqwRZ486CoOMbDFO/1BP0fPhKr1Z
KP/NpfbKCHH85H3MaQM77/GMs8byeUwZiufTloY4dVpRaspUgwUt+5X2m5ylIS6Wn21XYyAOFHQh
BVLfwgIjvEStaHmRO0atncYWsCRhv+aCzswh+aAiY/h4V9M2HHHQ5IkcsfXsEOl3uE6dwuI2zLOI
zI/72M7/sdt+MI4zvJaMiVU4VIPmt0Cj8jH4f7NWknkjbOM2NIohzThTZfNRwoMuHnsd4s/9MeJU
CAqXkzJBaiYXilXLc1noeFkqoxu2CXEcaplAo1KbB3y/Q/75TmKHBB2qvMhSIAJ5tjjgPl4VuuXz
h6GnzMji1Rg8JrNiCdqFyJKTzE28LMz9RFXsGeiwgbi37fWl2TF/KFO/uOmvLBGBju1CQfVHH2jt
OjEiGW0zGoTlL8OpQSfjswiBChkRDWJbAnd+bHpxjBDZlkQ81UGWSvi1VGsJkwkpJBv5VA8jgdM7
VbNkT1hjnWn39cWVuzJGuLIwsXnXDuhaCcLp19j7gqtkw1xeC1ij7NAqNULfzFbHipYQXtxD0MuF
ti3K2OjAvz20oH5aSUEKmHDj/daQHQ37p5Hf+r1d+U8R0EQApTye1sWRXhmcP+jqfpFIHOMFHQyO
de+A7Rh4pf0ANpyAQxVJksxgWj82OMfQu02hos0CYB/0WZHrOJVQ/gC0B5v3OxKy9cjVLzKHfqDH
VhaPC+iqCiI4jmdSvtth5SGE9dShjra2Ak29wYHmVSTqPo3HcLESC7DGvGDotIfI962dHnjBUckx
mgyMBhM6F/nPPHRGJtG56oDGVD0vAaWlYVJ/WN7ISYT0DPwDja8owRHDC9sg7yCYMnfwDdtxJa8D
p9/5v/qT0uvtMT3KLk7h3zyjT5tilR1HO0f6tz2XrV49I/Xu0F5TiyH5+oOIeWj6SI39+YNGQ7E1
K7YUI3eqTWTHz6IdPwnv0XGiHnVz/Hw0C8RhGiSj0HsejLIYf3T47ZmVxTiTwW0/0wPtYbPkUdcj
JOKPAqYbpWJ+pjyz/6C5TM+sxz77IxD4aDzE5p9qUQrDHiZQbNprUGnea7WxRaZ1wx+qU7kqjHaF
IGRza+/dd6t167Kvjz9h2Z+vHIsMBymUY+UWn5C4kik68brRK93Dq5f2BFgK51fTST7kvIr30liD
IdD4VM2xKNbgwYZg2MvjAS1Fm2szxHkFYOEEtTOENyTKWV0waHBTgeIW5F2k86dKlTOMQ3gqV601
oAjjGcW7uNaVfb4XXd+a1oMjnCWjt0czdJJMF63sd2RP+9Ec9sG2f8W/17we/w5WmSFRbgZLPV4A
Gf4nUpBtLtEUBchh4vvG7KUC8G8nGkWghwkkl4xwn5ms8tvTNjKeKY8nfvEeem2YCFFD7cspeLQQ
oozeYPXIUDairpqpy+sqZeMsnWHXpojgM2VdmabF7EuW5FYHpAWsOeNJGRDNlYho44uNAK0lWNkN
X4fYHfRa76wOPvUHMhuu9pRSch20UREBp+OasQwD2GtM2dLs1pzHRVOFoG1DIuSIbKGGWgcjE6cz
+2kdw8bjefsBtD6IaiRYSQLvD4aBbmS0byIrXYAu3cjXvCWb0kvxxLptZ3S7bD+85Ajf7dcHJGAe
f8HiGNHUOZdlAVsSCPfQppCNlAlntFYd0ROrDb9q4VlpKemGxUAA+hS0F6ItFkwqtzeBEY1Ovpc2
AJ5Lepm1BuTZIs2cfIOqKL182KJBAC30uHEAUnlrKgeTZJYK6BIQzgrY71W7R+eLGr4MHGd3Km+g
BKu36L1QWhE8Q2ie20npRwoGksfzulhkRcMeujfRQAep1vmxcHV3jNhUHiIPQ+Yaoy++fNkuC6uD
qsRbyP6qQKUkT4OuRamVSttJWNNwkUs0CiKovWeJBvS6Ictzax/BPVGlYUanF6LRxp/iOOgiuCKz
ftV/p5HdQ4q0d7lhPWhflKEvrja4x+bGQWBNScZnVg0ksQiAIufVTkdcHfL3EJQJ6EVixFXesnaT
OihCz839uDYajXhkm1KfxkKf1VFoWlrzqXy3xYA4gC4YGKJBsXE7ERkU1KQimXvR4kzVk4o5t7l2
Dhvo6WloqbSiJAr0HuhvUGzF75SpmI/QR8aJIzZuiqpiCnRcQIjMDCruIgrvnb9F94k7ReK+bsGY
lvpW/h38FyoCIrC+qOACby6BZPN22Mhy+HnToi8H0i+NugvVbV88DTS2xqXJnRtY1JkLFzuO8PIs
Dyu5kTWcLlW38cNszRctRlZeyoDHa6n5mCruDQRxn4/ndcnDrs0SyQOvntBfNMEs7zRoTPCL1GK8
TPeUcteMLWUrL51tAO3DkzXQ1QJNfzuToywwRTNhJuPiG2KCOfptqcpRS+cZeI9AtTrvWZ582tZi
EgQMEl7wDN/IhXfc+sQ8M+PIGluwA+UcJewvZuxByI5aO/K/6BQgwiTLl/m/WnMKCZXR+sMvQf5f
1npWHbVVmzB2EaDKhK5pVkMFIVyVPBK3zWSphfpRBCyleLY4xeikAfEKVA+AFLmd4pZhE5EJsJ6C
WOkM9xwL6MhVaP13i9cusPlISASBGBHv61sz/RgVfKwy2BPgdRHctol1NlbQF9mZXWSBdEUsjDAz
UPt57K6LwwPfysymC5z6T6366izwpklKgyaCCl6nznoL0iCbvUdx08XRgXFCgqQQ/AiI+9vR8VzD
J0LRAp0ehvlGzVjBiIU6sDSPjdxm4hsb+U9hMxb4T7n6LvSlvGmRbafkopZIPoC+AtJ2hu4BJ0/c
BZuqizQGGcdtNx782KzCXodqoi5IK0Wx8smSGGEHoahyqk0/C955ceWJOwZJiHzWsm781d9P/vXn
EJ4ObWypQsMNoKZKtGpB+jINzxlD862lQAgeTLSwg60BPfNEoIeUcNb3JU6ZtFYsRfs1DtUmV9Ac
LIPEsfb3Cl/qZU5jUSYcCyhzJDnmFibsZA0UVUQcRL93HfBpFJ44Xz4Aq2P58QejDJQDfd59V4fY
bAXZIvz+TL86MyfeOha4Skst9rXoBJn2V8Zr9uiQouWkiHvov2yo6P0CcT+YAMg+dU/gOl8cmOiE
R4TRBZu0X6ugg6m6y2NvWLQD7h8NuWXIkpDynYzgNRlgiPGpiRJz8ANbDTeiV7pKSEEzLU7alSFi
Nw6Dn3EepNFPbPPby56n6vnxQCi/T6p3Akwpy9OYxydNiX9r4HbVZFrBk7zD/mtR/hmDSCw8CPty
ICzT+ASkwa4CDwL+4jZQd8Oj1R2gLGaUIt7ljwdGplnurBJ3Cq+UEkZgMDL512CPf7yD6AI5uPVe
p/fHlhZ2D3zgP75AkjT7MtPJOHnj06DWNpuoaKsMW3vQWFrnHxEc/ndEANLNbLzoCyDmEdlRIC67
Kj5FiYEWigjUSnqV6uI2c+iJv+VR/WOMmL4ukDIkNmCsUJ/Sj37P+HpdQgzHzHRozRvDLkOG02z/
LsreDZGIRH4ojnzPlPGpFYvtOCEfB4wiGLVoFB7ERenHDidruIyBNWMGEt/GIq8s5KDwFPWYePxh
wjvOKySc5fJ6bI5N+h5S+8GX9hkPCgu0UeKuhGPt1mAYgegOypraUejPnLoeoaz52AsXDczvE1ED
Mckd+QnPdrUMNkjtWGtbUX2afNoTf2nKcPlATQHBFawDRCRqwWKYVIrnHfOGNzzuaSahD+vUBlgJ
2DuxZCmPffIC8LNGeHrzgMb+q2/hdsq4AmrifBkwRwhjp6MuJ6LZhi9V/1J0o5sCqlGabXvWctSI
XthQz8VU9zRbKgsjyilR8n4zANaPwhCYCXCGgZ3y9lPyvIvzshiYI/q4DaEarBS6e1pE4UAgE4kY
MSRK0bqJagcatfEWujWTMKVSelnknza/x1P0JsnryZGAcnTDT9Ez6oJaU7iPKDKU2zAgvGgxKjJz
CXxBJgZSEp7kBilwxJJycrJD8h2EnO1ndkhLhS0EZbBv42ozI7ihWEneARSGHQa8YcNTLkhGHaSO
qL1qn1JgSpzRcsl6UoLdhAa7x3tjySxIzQAZRx4DLaRk20CkCDmIV7rwVOM5aMoqqkip1imWJ1T9
KUrLzFW0HnmUog/cOCy5Zw2PfPvxR9z7EN5kqohuO7z/ZvGI28VluhTSY/UUnopwVA1of2P7NDnj
FpJHY00m3rXwI0huzNcsHpgc7Y7pXunGvuPYKDspZ7/W7WEdnert49Hce86tCWI0Qit5SdbNJjhd
Zaym1RUk5TL1OE3JJvFXaM63/t4iQie4JpF8mQm5buev88NUDdkkO1XgFvP1SdMzYetrZt4anSjq
Mq0AuDTCa3tEvBOkjBNiCfZEZNTZSQ8Ki5esKV7PgMnkwp8eD4/MOP4s2pU9krTAS4opjEPYYzhD
bT7kSpfaTYC2/qZYpbnRAXUQuk2ZI/6IRnBsgD+mCfqReeT5G6BIzuOMwgUdHS+zD1+9MNM6YbtY
8bKTXDa6tK3Gfcd8eP6Oay9pvmmLz7r4raW6+j1wxyZXrSznjDpMdGEIN3Ge64mfrqeKpeychZNg
/iwsPeIjmvHINokWpBsh+trwWanJ+FtZ3abv3IdgBIrO/vbPdapXjrTr3drmoSJMCR4LfgDj6F8A
axBSN6QaWNQkgCTKUX7iWg2pC7NF8HeGAlcGtJomO4Wyse5fFhgrni7z2xtYk5/n+dUSZC2Kg5XA
ZKdAzC7xiVdxDUqf/SJ2KP62ECTmLn4Q/ODph6HNF4orQ3VdNWPEJ/mpbz5Esdc1b9Ob2Fep9f4N
wM53CMyZeqklZDlywE02JeVl88MWcPMeRHs12JChs4hVRaKB+ICxFdhQrlnxVFrFNt8nrniUj/w6
cv216k5H7Vdw6i+SA1yPWRmaS1McIRMdKk6CG/uEs0sq5MdTJD5PGThRuvocliHICk1Qm+NfByjo
Ad30pI1oU+xogsE/79BHY5+94Gryq8LPBkRw8cQbmQtwJrBczSZbNSu0PWyGVej4rmyjzw8s5fxR
OMR2bvMr3kkcmoj0/dE4zwLykeDdArsbS3Zx9SULCmwfsyBzO7H4EPk1Hk26wLoS4wj5qZHsHhRv
FN/jMTxy+GjdR5P7zGGFTpnb4ZdyUQxlWEonSee/wW8KjdKdv4Ug0MHT8yca/uZ+pXHRwD0SFxzc
ckRoSN6aY0dVrluekU9vyZP/S8yMNtLlp2KHp9oUmSzlGne3sYARwz0RpK0ArMxNT7fWYtSKYz+J
tROvWW3nJmB/F41RZwSJNo2LlkBPMCuWYnTkDqq7sq7aPNFO3arbdK/Zudzx7x76ZNRV/BQ5tRVs
sz9iTTFLs0rsm3hMUK7yYHUMvr0j039DgUtvHCWoaHF//qUbN5ln8mp8xC5J28qvhxozWVToIHj1
GfCUl7LenioWKHBDG1/44BeqRHDXVYsupoyW37578+CpDWGRn9I+WtfIF7dXoKoJVKx3aiXA3oVN
bPi+s5efH2+HhWHeWJl3y1Uw4BKvSPup906pbr/+dRqEGALx8FTbnGFZwIhP7R54TeXp0h+8Vi90
pOGdx8O4f77MphSEcglMXTiuiXGUCQhumV7wTuyRRf79U7Ozs/fOunD8KDS8V+1AU0Uj6w8gZcU7
AsS+4F0C7x64VG6nzhtZX2wlzj8zK38Tduaw0UD8vU7tc7tif1c7dZ+/SqZkUkY6b2HCMWX4AwSz
wEnDIj99a1ZCinYKxCA4p6KN10ptQFJCAH++ANWJ0qbJ7C54IQinkfdHwJy1dokNV1aqVvZZGJyh
puMoqd6jG+PJS3WW0plwd/XAyuGahXcnQIMIXMSNV87jLJzAZIVHA9rpvvLujN55fWxomN17RwEP
sgoTylzFmFmsbqevyqEk5tdBckbRTXXkPxWrB6/BK4PTYBvawR/pa/g7oAcwwLcWiQUbeM8HytlP
ztxnVujdKxRLahRT9Y5Wo7kLjoQhwiHFfih91sfQQl8fdOmkQOBdWD12v7t4QdggL058pyQcjphz
d9AsXEQf/zp1dQh3A4GlWkYCfj645PvaiExlH8ur9s1MTYnBTVAHFIFicv7im/1EjIgI9B3YC/x6
gsne+t0/J7wB4MrRUpu1Z3wdIff72NzdjZ6wNq/hVbzV2G5SqnmAJdwv0b0DsPu47U077SDS2h2W
bGmIFODk4lFcIcGrHN9qJVfzWKtcB/iOQYrlc2wNdTV3htEwCvfTCLgKjIAlAthfjRTmCQYhnno/
7s8qE0RPbdTXKMYqNKKdexdHaEBpBWVI2AIw5Xb6ArZhyj7IxHOcmp1kSXgUbpr8MInHx8t07+aw
g+ceThPc2u4EV0VpTJKIacUz+F24BqVWxgjV98c27q+GgLpfGyGcPU0nsSz7QTy/xR9wh/AU2Mlr
9iJ/dh/x62Nb9w+eH1vgi0brCFaIjOMZID7g2pvEc2MP8S/xV9bpeFhrwmfqHeLYlYpBT+JNDxka
5Ly540x9Wr3Ulauhz6LV621CI9ZcXEkw7v77g4ht10sTF40JJ57Ll3S0csgTRSLoW8B+JriUsc9O
cbvDMc9AEKGqPKccydSmUExtzUJP8LzpjTcNTX2/RGuCFE1ghsZgvNeXj4/vUT+3Oq2H6u7wnCf9
yvC8Qa82u1/KWdwEAvSinmMZ4Mjow3dp/PokSgrHy7URcD3fGmHFbFKUiYeRXXEu3N+eGzsawFia
AzZu+/FU3ieKCGPE6YkKANKzuPWeu2rFIjH0pJwEX3f0Zo2eXt0/dHvZMxnaPC7vlP9M5N22T/JJ
m9gIExm/CBfeENEIzx2VHbNDQtV6PMS7iwgxQuIQ1Yoy4SJEhbNZHt3uhaGkWO5vjcTvEweowg1t
3Hjwe/6YlkbEm8FhTM0WXEW6YtXYlamJlpfPabRE6tN3Xh1iI+Aw0EBBifYT5LIIfywEpkdNN5DO
1RZUGBtv21jeE/zEqTc0CuelJbu2RZYtIi1PS1nyxDPrDNvI1D8PklFZ+XY4PF4vkpxo9v8bQ4RL
1mjhEZlQQag+VxdbaPRmw76Lh2xTm62pAr9bPQMtUujMofb//rpya5s4jrpyECDIoonnKrD8jXc4
6JPD/JKc6Vsw/ECnGlwIKDdjJZwTrNh+HFeYVEmfbNbqVppToeObMqP3R/ntqAgXTYt8TMuBEc+9
EbnZodz5pY7eC0yoYHTPwbp9rSm3yoXD4GZcxEkIaG+VgfNbOqtOrm8Hi7Kn7wYEtgc8CSFLJSI7
wpGICTFuBsBpRZBEgdWAK17BGkWZsrsjZragcEAszUhV/H0bhEMtSecXonIu3thvxY4ibGam1kc7
wVXcis2AdlO+8wRI20PsBO8y5CmgvTn/+dXRUoW5lIYC51/AgsRd0LsO3SlsbqjaKJGtVkA6SOAB
P3VaQAvGdwFytoy7HpDBSBQrZOtVIIR+N6WDf1FyV8VLt8TVtW+/KBN698r9sYLUMGjH8Mwlr5Oe
5wfQI8H4pDKwhdCq0Hfc1AAeOGI9ubISm4nDNb7z2OzSrKLVCxVJ5BLAtUgsowBgTQMldP8CwJAx
yTtUzYwC4nV54HDRp5BM+mN7d34/882jxQv5T4RjSBPdrmIjCEEljHxwGdes5a99l7N6Sqr7Psk6
24D3z9xwoDAna38pM4Ra2InBJXDF9bAdNrJbb0UbsEzKJr4/2ghLxOx5QjkqsSgFl8pmQMoFCu51
uatWsVFYaDE6hi63hvAdDRtwfwEizBKTGEN9t+0nmO3XwSFciUZ24I7v0b50VZuKSV/wy5vZJGJj
FrQTw+RycIn3Fx9qc2foeNvRrlzltNmcZ+vmsCaGRcTEkmd9L/YwLGalOooNmr0vPHjWnMWugh1D
udgtOuKVk8yb/iqc9KkqBEmGYYX7J+41+8ht2njmu8X9cMCFiJ0FHB4JXM0ELZFiVggurNFb8tpf
DStQfz0hD/J4S93fBzBvqJQBXjO/fO/8HUn/XI7lKrzk1mTzxmQmJmjzNrIZu5MhGNjMZmijjXL1
QjF87xqz8g8KaGgOQcGffG4Dki8rHoDyP+4PCmdUUpJvxRE3NLryhS19a4lYLXHgKj/pYKkxO3fS
PbuwXgWr3uSUc/MePYd+mushzW5z5RZBn4feNA9JwLNp/6s7fNqqKe1GOzj57yiM0Y5R2hQSp1ox
RhOA6rA3IlIxhmK16ItCRpVKMbBoCBxTgFDL6OghwephkoolSPyjC9KaKK+b3F594iy0ZJ7F02O3
IOnOVMCVAAr9xxRx6c7DSUkAuYkupVVtE7s0EvNXZ6d6uoJM4aov9PHAP6lPpSv98HaNp+HzCx0k
NK1Z2nfI85RcrWWU4lQvG3xHv05cDjuj2apH1L9YY7Qy27d8J3R7u32L3eQl2muOYDToRVVcqlPN
3nkbCW4mhGQyDtRSxQ0TH1KYjVnrU20wp+b18x2U+7vKCW3P8qzorwFdc2cYVNRmFDAPFQpiy8Qp
n3cStPAunQ10g7ANjGkzeYZqsk/ltvlYG9Gx2JWvHI004z6w3toldlCaZHMyC3b9D3HNbXgO9WSW
4mL3ofXWBrFrhiIIgbP62TXoCNd/y6Z3Tm3aETGfN+SyoQ0HXPgSQNm4zd76D8OHzVhDYOiSSds6
OozSlzfSgjdJefezWa6NEMdr4XFF1Y4wwjri2nPYdf9Tk6/tEACL1vGc2qlW3HqyFEe2czO3+xUt
XXT/WIDO2Ey3PNNiSrxIeMqoNb4AGvnkIoNPdxA6PY6NxyFhXg9yJq8tED6RtFFURnyVXDo08o3F
PlUzoxstJoZm60lo8r8/ESEADab62fNB7U5WjCJeiaDZJMaXWjgOrdEwgNpZfn9iBHCGcZYECIKX
sm7e8k4F8kOwbUE+2MzRTVls5QBUWLn9eAKWXAkvCIgE47tQrCNcqeLTFluRxxR7RWsivzqZKSRT
rLirPh5buk9DYN/PhCJ4mEEcFvvk1mv7SVVzuS/SS/td77lNamx9t/zknqMdd6CYWnIcoF/RO4HS
IMjH+VtTRRw1RROW6WVKppE3xtwv/oh9GzJGi8aoP0rT5ArkkJtpiw6q+m3kh1E2Et/rdzLX5Gib
ZrQID52aST5rSW5Lh/J981BJt7v+PmIqQjkafb9s0kucb4Zs3GpgzggmtLCzocknXznOBFHKIF1b
msJzMACI0R8ff8LiDMkgbQZEGMSzpEiixIZMn05JeilUaa2B4papQaj51zbAlzwL9kHRCI9H4pgr
0rT1kQdOLypbALQa8b6h5Z1G8eClmxH4eJQZQoSgJUlElEBfBhpapjS7VGZnTiaH66zqyqYIiLq2
RsF7JVOQHfelMYReyB9CqglFZ4hqEO+BjEtFBqxG2QWErzMRKHrgD9ZH4ayUA+2CubBOMKWgzwwA
KRyY859fXRUkpSuLxsuBATMOtPzq8sxd/TgxDs0blGysiuzi1W3/pDEV/yaNUXVkirY1gnlldY7t
ZBUUy0oBnyxqDkLOAMYKxiAjJ+A0asolRl0kMxY80OqAsrb3tRIJT3IghAXUzRCiSCRi4ymjX6hK
d2ELQwW+JED/F8iljqX/p0HXMeBQ2qnv3IgPz+j408sWkuL1xW8DY4TKlGcKjKUJwDmU24pGk/bj
vrebGN+GLBaq5cAioh3vdmnYiS0Tman6C1OuSp+zC+93yyJERyc/QCv4tBqz2oqlUk8VO2RC1+uA
24JSY1rqDLRK3gbtrWG2gK3kiS1LVpCukuC7hSaw+qSCTQz/d1vtQKUTdgCZT4UORj15bPS8sBhk
tFgU9Yo3RgRJ4a4sapP1PjM2t4J9+CftnCr+LUdvWq/XgMM/3tX3R6YEkugfvDikQHkytiKINlHH
Sf0lBRpBz+ROttg2YW0xCr9rsQRJNq9+dS1D41r+Oe2J+UYyVEDjAdJByOsRZzUXgvCsYVWAAYdX
TxrcgbVz382z05if2PAgKGDIftGGl5DBfTnQC42ziifht+zyzDrdsudIMSNVNaI96KUK35C4p6AG
ktMVN6JqS7LJ7cYQBNvDURmtwgoPvGZDDUgvKn3Y5bLThUYpPGt/eM18PKH3cFtcB4AJxx4HYwLS
T8SlMZPqXvEqpr+wcQCAL5iDxCdQudeyoYhOMO3asoAitKkcJUPeSP5ZVnZlNehK5Kj7NNCDmIZ1
FeaQSU719RcRrj1U4hCPgddfujDTObsv7bg8xJpR+41RaKkzypA9N1EVybeyKwcf3YsX6BVzkFgj
bd6YzoT+oKeu4Iy7MbAmxeTTXQZOEsbkAFz2VnFSwnOMsdn4ZhPQTv+72grg9dBohlwHlLaB2yLO
nbiPi2Hih/gi6aY3WuOAl6t1HnXpQCNKvrs9EZaIgkfMK6FYZH18iTxGcgdojhvVNKhmz4HX67GX
3L0sZlPAVaH9BIkb7IHbaFN6apeU0wSVMt1URrszAJMB2yXtjXx33sxmJMQzAcepDDL6/yHtu3oj
R3qu/9AnQDncVknq3E5tj8c3gj22lXPWr/+OjBfr7rK2C8/OzS4WMys2WUzFIg8vydRmGyXowAYZ
Cx31yJBaKpsNL6p91YwvFAxk4DpwTPNGKsC/XZKRLLlIDbnOT3U1COvMV3OgyoqhF6+kUs81mo8G
ZnmSRq1WU9K2FU3UJDRpH49xRbpSRO+TMIVmQTPshxpp5o1YE+dhVRN6v4qwjlZR23b+MRSEICAD
RnYkoiie/FAWigXVxNqhjqb6WCekaLE9hopB3MPLVp6FglSg96+JJUSe205ZoNApE7qXMAdoPRWr
0eABVf4MwxCGgq5U1KnQv4ap7kthiGqV9aklJafBbTblUbHrVeCGeKKLjq/qOhlIy9GlnwkMQ5E5
Zb1ru6nzkfU3brE/hMo27Wm4gYObsLVCsL17bn/xj4x3DpWY9p2h6IDGwXaLtGMVFwoaonDPODZu
X7voLsYit9atO6fJntRd/R5glAF58HWz+VmgA2GMMmOaQUXYAEDdpXClwvRGKUzTU+0YRN0eAqpv
Gmc8cZz4HHwYhb4gw0g0MYIxbbCN7NTS9PH3wyevoYzLBxP9agsQCn4BAt7K2DVkf1SciND/vaWR
ERcTi0Sjm4qinvlwShLBzZjkGKAhg3KOZUkfzo+FiTBaOHm1leJY0ATjgiXX9Ym6MYlPjW1E/leI
LCxFhxbgroOHP/SdYDH8pRZ0lWhWoTKTs3un2cgftU26p4rov96vM/YjO2IIMeoWDFM09kWYnp6B
QbPzSeSkLkfVfr6yzDRwaYOTRmEdWn3JDHIkPO6MOWi4NxDbZh/vH+64ddnFEzqjIl9SicyyxEwZ
qKDsIBFXWmO+E60lj48F/eRcRpeEht6BGToaMD94k7gkNUhmnEihn52EgDznAxDgI5+s19dPZiGA
orqHERcRD6YW0vZLInllKaWqtLhJEe9Fuck2HRGbFa05oJuLhnpOZ5br2Y2tReorCBnoPE8esQ7E
PzUJ2T6YvDHwJaGd02FUOk+UQbFC0PHuZFpT/QYPKg5H1X7kgdC0cxqMNmO/Z9sWepOddp5GMNf1
PvCwHn9WhRgSjF8TagMlgbaGuJKNvBKp4AgvCn3gPb3O0mD98zknszTPTkWcGkULJXASbfStW+3n
IcWNUd2rGXkIHnnF06VocE6NUWhJ6iRrrMEUphFe45DQT87BzIK/wg67/ylBsVCvdNzcm41qR1vO
15fyg/NzZ6eBigwrKbEbMDvpWywQ1xydHCu6fh+pQspf182SpwBsSdSodL+rgjI7jRQJJ5m3mpR2
upcwK8OtC86Z/zWxMbYJxPGuy7tqPhckAq4ckdgNXcHmaBvHNNmiTdTrg1BNULbGHh6w8H1V0dDm
7aT52QB4aTlsbSRPhrEfYwiu/IxcdfNh7TYYytSc+GFcyzsZV6un60fFY4vJcfpI0PxiBEE7vP9I
99s1jyWO2bCAxbmXiJ4igsCzSqW1+iehvBcFHgXGDfRFKbSTCMM0D7vJHQgu2zzb58QZNpgFqj8l
sYbD74HOUa4qZ4srOuFEzMUc4NvDYILu0p+NANWSjbqbNXmk3R4w2e+9u12bVNi8Xz91jjP4AdhT
+ZOaVgqMxg5oZN3tnUdRJD1Rf9UByShvyoUTP3/eFJTal0Rhdm2urWENBy1eUzvZFpQnwqUE51yE
jDPwZV/y/OLLGcx7PkxauZOtrasdsNUbShPKkeOclv2788EUz+WR+bWp5pUym09MXpRdZOv2/jG+
4RnR9ZiNsd5LMo1XRn0zQn4oG6qbGjvN1xxGrntRld3ng03SgxxW0D1cVJsH8zbYUYeavMF7riLM
tnwWsrOibnoB8B8n8ZOQ2p0oBeoj4YW66x7BUBmP0GWKlI060qie4pnTpOgAvgloSFXSvWa4nxqf
7V5YZQ7vQrdMd+5VRKUKQwCMM439avBRnYD3dir7UBPsTOe462VH9E2BkV+qhb0o5kl2kh7ye4E2
WwUPtTwUfR4bjPikUusrERgQyKpfUIp318rtdW3jEWBSKVEfQlRNQCCdSEIyYv6JHq9T+BdF+0dQ
bDuG1WJcZhxB4tCbtk6no6NkzpaOvB7lWRY/HcA3ndlBnCk0wP+RV2VxhhqB+BTZ5s1j4nBsk3Pm
OnPJmbcqqVjgOGuzRQRMuA3OtjhwiPxLyvbNCOM5o6LTxsqI4GJcc5Wi/1kg8aq2o2Oy5pnn/IOv
yYxxmklfpUra4GoY7XfAnHZNhXT093TI6JpXFVt2nN9cMY5TKpuuj7QQr3rb55DoDxxWfnb9fOVr
399nLD6z6lCqWpyNVG8NIsm2pBHpKBzxdkNStyJOgu6n+/v4I6TGQGRkVxyHsKzoCorHMwYfOnkZ
jyBrnVYE7fyYiCVew0YixhrNRkAPo7xYN2vAj2M7o8S4BUx7tkmh4U1W/ih9WqGkExDL3g2Hgq45
yfZS+XR+jv2HK8ZDGGmWpGEHrkaMvQAEev9KnWS9/XxSkKXIHN1fvHh9E2MhC1Ab61EOBrFgEzzQ
0r3uihad3dnXGQ9hllbuwUFkp6eXKSD36Z+H699fdA8ohc6QC3PxnTmWEl3BQIBA+msPtp2ux8co
JcisrhOZP/Lj7M+IMOdRFGVVSAPyHHOFQLp6xMzH31FQmOS3EjCCFPhIsYPniWCBCmbYxTUnPVw8
6G8u2C3DgD79v6z3fnXH0djFUz77NOOk5TFEH2cNAclP/UrDQgJ1zTlnHgXlMtIUTWHFGG6FK0Nv
XeM8ePd/yQLjlj10uaFHBgSS2472tsO9Qi/7qjMhMd4YCGn9GBhQVQDt3L/l9La3xX1FOXxwdJV9
7kqsClBTKqiMd89v1isyzPe/MgbW5QaW0EitDALBaVrHq33uVqvrFBbD1pmgGJsexybNNTwhnZKN
/yhiIxwnbi1H+zMCjD2beSGUyXxPUldPla3szGD2Gdg7y7FqDiOsazXUforiEmZRHrFZ95RR3s18
4bDRbqRhRRGankR0FF5aRVp6uFA0So60BTdz7OlxSebzNGpJXBdUZjbPsrwCI+UW/oGnTUdx3ySy
wQILPNWMvPR+wcYv6Mx/fkZHystsEGducP/fzAIbebq7cCAampvQQg/gHF1iu+hjVcGuRV3LcRN3
5QTtrEPJOfKlGtYFCUZYQOkH2ooAEt5L6/RPN4VbPxaOaEtPNH4PCMfaF8LfBTVGZFaRS1NT6Pnp
2Tu4YklVIGhgpwCtPq6bJI8OY5KVbPZNUs900GOOndlH6h15Fy8eDcYqEUMETe8guZHqK+8OlUYb
vfMVKU/XeVmIg+cyYyvNcWP0RjzTAXoyyTtuMWGhKqJJ6PKdG0PRTsfuzLWaXpKECbIKn3qnJia2
ZxMF+SLf/JcKWRekGJF5Qg/8NhmkNEzBGri0uAG2mkMDAmck4i9ewWfxhL45+4pwZwZaR0obRzNn
GrFcgXYU+8k/OeFl2ducEWEyRln1h7YdQCQm0WY3OtMRdZJHTi7EpcJkLKPWWEYggkrpqKtDvCup
/yh9Po6/OIR4ImPylqGYYrRJfImsfZXW+oOTvXxe1+ef3VYAgUHntYhBTaCdY2HBpd/Me6mvekOd
r8jeIT4Wm3GbHr3VybPDQ3hAK8T+9/A07nMbfRDOddpf32ZS4wvaTATy0a4sYuUfihkBTd4rO7Rr
rHGxq2CVOr66boHyXmKSv+q3nY1WcOyR6RQqOiMFZsjwO09nrJBwhzEN9TPdGk65VdwkJ2ZF0oN5
kLcx9u59lDGpIpK+VQo2tJDoud9nvu1769ZPqXJIUiyOXIuvnrnC5jz1lxnTYHhF12FYnZpp1WXY
YLJpdNL5nHfRheALVAsNs5UYW0DPD5Ozd1kGAPBKwu1XsovdpJHH0OZkKjwSjC10Bq62itXPNXGZ
uvr+9YE3eLGUlV5wwRiCIsj6KDdidsor8lw6MlV8kmmQ4x1vtnfJW12QYmyhxeZGU6/ATe1EmyKh
z0BDrGiZ0PndxdiknNi44OcvyDFmYQUyMPNTkNuJH2iFkn5fV/0lF3LxfUb1VVNNmgkdo6fpBq/8
Bjq6ApqR9VO+lu+vk1pIjC4oMTlFic4FxZdAaVzJ9FCvzD/rvyPApBFqrFWRok/zI5JI3/TbisPA
ghe8YIBJHwapzrMsgqmgNLxRnSohr+tPznHzbGX+DWfBqexDuW9jKHKImTt3bJ1RWfPqTdcPAl2D
lzSwIbfScwM02s9DvlLt4snjdOJflxTAuS8pxMrUmJ6Ik/Aec9KdeovQ3KacGMtjg7F5r9SxXbgE
G7sOhfrH/n/FJJtRM/5xjD8mcBKpHpRSxGtKTg4hiex77PTkTWLwWGCMGyj6mT/UI+o+Ih4lExv7
ijlTfQt3hQsuGPP2hEzvpWR2H+EWfcKuzGs75zgQnX11GuKwlj0PFISduD3MryaA0hrcR9/mzb5e
tw1dZOxbRI1+qg2cSFkSk1AfnQjlmuvfZ+1ncoELiTFWXuSGpsQNzuQZdysZUd6g5d542nJSqut+
XWeBZjCCliuZCmZOm4bwLiEcSbEpLrRataIEHxc7251I+hEempJbTOZI6kszznxVnqZq3Qfwhz1V
3Jd5rlIn4W3Eu+5ynMnXk/sZGU81As3LoWAacV3xgb7nDsfpLlLA4i/AfahY0fDjrqObwEfoFBiJ
gW6qfCLaHenfOVnQUm815jK+qTCuvc6UKfQtGYayNohdJ+sS1QcXS3RtAGbnxMPjdrcS0VScI7GI
j/pq3WAUv/316byKN1teHXXR9Xz/GlZFkIuHiiCC55jkL6X9G/3VHKkuKuEZBSYI5HKe+6UHCk1D
LCrc7nqY6/WIv+jdzkgwIQDDkEUmZyDxhGPTQSX3yHUKPCaYbC/C45CgNtDxpLLdkJj7QCcF5agG
R/++XlLONDxpg1LuexDRSNCRGjcP68bFWEx+us4Mjw4TDNTWrMOygbhG+lJNroWhCOpoj9eJ8CTG
pHnVYIa1jlM57aq9i95Eu3qqOOUpnu4ygSDs+iHOe5AwbtxuF615no2nVjOLZ+dR60ZulTXOA4PG
WGcMcOGH6zLiEWBcgZVNeNeG/z9ND8/afety+6oXXfO3YXxdts84UKMhiNMZoh7Y+xuLPMfHgeBZ
M9n67nVOOEfxNSh4RqgdFAz0CiCU/cnJDSw9fOfY+Nd23B8B+YwXxshroW31VsJpl05jS65INbwr
YX8fHppDzJR2FTXunIo8vPOa4TmazC7009SgnWcgZyFKdh2RX9ueaO/X5ccxSRYjHDuUirEoQSPa
9I759EdaGavp4+/8y9cL+NkhDWZrFZkBIj3VcsBu2RL9XR3/kghj94pXjglgV2D35RMc2DHdYOiK
8tpzll6Vz6MoO22IANuM3axw9mCtMA7b0U1zKp9jV33bqWseuZ9oC/Mt4Ez5GFcQ1V7XdzWU77nb
S7oT7g8nTCHexgOmi4et8kTpMNjgU4qdT0yP/sfKxtkPYFxF1PqJBiCAWQkP/trfqg8meTBs87/c
2L7JsE+3ajf0WTAH62dxtRu/mlQwSZi/Xdf25TrNGRkmJ5gCIytKD6c3IDSgD+791aPZimNTS68X
54f2lYmd6bsIZzEaAWSGXtLewfoiDws5gWQKUB75EJEC3oOHHcPljEkUQi80MBwHAdpNRvKIvKKO
FrprLD/5SxGql8Ep6KNyVEOIELfS9DFc/XrNqHHLq6hxfB/7JpeIgmekkvbV8jsQf9M54v1fMsI4
DIxTDqk2gMQhXbtu9J7VLk2erxNZZAODjHNnDbZCsyO82OxeDlVuIlMAqPPvHOBx+jr8L47vjAZj
oUUc6oKUgAY2H2F5PJW26vO44xVRFwPFN5UfEb3UNDxY63PuFv1W7tCHPzf7Ghxelm/zZ2QYA9VN
oE8YyN9O9kiDW4tgcTeRts1xff1cvjpafgT1MzpMUMfmBtNvctCJixVWqb54ZEYdI9QBhuZme6xP
u2gjuOa2JgZuRAWAejFRzbmCL5dyz34EY7M5sEL1IpyZlfOdf4cFQvoDYsivgAir1ObFkmUXcUaO
sdwp8DDwOkJRdgcZ07K21M1NMvKKx9Zi8ndGh0nzwzTv07w25qsdXibIc2f72+nz8/oJciyLXeVa
pV0S+iKIYAytfNrJPcHNCMMo16nMPuCamrCZ/mAFHsCb0ZIDoCHSYxXNf8r1z4Q183kWK8YsDcay
mxVRJ6qN4eb3v+OA8Q6h3GC8qcf3B8yCHDNuW8NsKFckxAZuDIGPY6xBQl/PtO6b74Qb+ho5PDSE
pckGwDz840rZxqugl1EVE8DI3Ncg05uJoOsX6964/f8czWKjdzfoXu754CglAH6mLQnunloMCQs3
wW2xqcRVh1dhjO0Yp+snxfGw7Oy7YPbZ/Aw938KtB+GmOwEvwNUDm6PSi+wBbGzu9UOTOStHzJ9V
8K8WnE771OzizWNsc734ogc4o8F417EPY6HvQWOnr7K9uJXsgYwKff1v90wT87vAqwR0FIt+ANis
OPSxiBxn9ZScALj85JMQmCkITdcPZ/GeeUaI8Wl6l7Z1KUYzIQP7XDAdyGszXlbwMxJMPoJNzpOU
TPHchiQhOx2dmn4MFLHcDgivyryoa2e0GL82NMOIHVuQWxfTI1D9cIMIbYuXMyxHnDMyjHOzJnMq
jAhknid72t/qN+3+LueU+Zblhq2dmOKHNmNdwaUHrbtpxCKIbG516Nz8tX9FXkpre8yJ6so2V+Xm
DOSHw/smZ8y6f+aw6wjrwgSxyHGZndzxCSiF5Hai3rPkcCLcsvTOKDG5UGllVhdpoCRiI/ZNYKvY
y5SCIZ4yLOr2GR3GWrFytRUUrI482Vi9ICDOCZw3/kVODHRoYCHIPKLOPvK3vdrFfVpB3YAmqdM5
75jLzfxO9qV4fU6IEVnmeYOees1spvExxMasrrKb/dtASlv+A42o9+Wpof/loM6pMgIUhcZTpxEC
VMj0nOJe2QBkvkNNiEdo/hCre+eEmIRxkDphGNM2PxmoCya/VVqT+4xMTnUstpwS4aJZndNissUk
Ev2sKXFmjYsMbnSk2arc2i7gLXhLK5bc0TktxrtqYwsl1HFs3YyWu8YkR24Drt++7sMlnnbMf35m
ukatWFjsDTIF3jtn1GHgmt5gUwVUvqONgy1kPtwgFxaOR5ZxtuiRlYzGqmcHNbnVBiCHtvqqOuhd
bpzkOLxITzp/v/2SUZ+LlHG9cYL25Rh4hrCEKSft0+gYruFaz/1rQH08lBkmFTUnveWOGnEVh/HH
YacMplaB3QpSxgAbLXaAkAF2bLHiglHMSvjvBvFjs4qSJrqcqLPiuPKMnL53pb1OU80h4wNPe5aS
mm+JAmzpUntwzY6EBmMyUNLkXXZ88qe32423u+No6fydazwx3qTvi77RE9ABCtFb6gTuR+NkRxlL
JLg5NY8lxp9YU1z4fQ5Sk6vi+R8LhvCwnaHrkZvczF+6xhTjTTRBlcWgxEEZZkS0vnMV5WNU7yw8
PmaiXSGvrmy9W/fNympfy6L7n2GrUUfFwlT1C0cN4MaMUiZGGFZBPc5NlwbehBQEU6fAjT+j109v
2ez+ofMVCc9cDDJuTfDbLzr1S+9KTrb6D/2jgM0EQhYA1E0MODGsCKYqNIkxzHqI2cf5zISD9srf
Yrikh9j5auCtXpQxFsZ4EL+3hNoH1i3QCkTqZtCOW231GLvv1yW26C/O6TD8aFI9Bp0BOsDR/4NV
uyTcjK61kvD47Nu8Xv+vA2AV8Ywae0BDqKqpJ4MalgqTt2H3Z3ra8tCSvl5NrhFhXMXk9VUZzG6p
x4q6lCh/cJ2z9ZEAy8i+uZ9sF7fXW3+jqs7wGa231oa3rWXxmeKcTcaJJKEop52IXzB1Wy3fPe7u
/GNLRHLsN0i7TI7WL0W4c2qMH/GmNjaECdQ0oA6gkNE+N6/XtWTJrs4pMP5jUMcBSoqg4r+it64L
qLG5TuDnzmV4iHMKTA5iyKPYaDV4qGx5BrWZ7Ax94AbRNil5Pvh3IU1I796qvj08OvbrNqOfPC+5
dDU//wlMftIKhjX52pxyAW8gRiFXJp88bHceDSYZMcIUu1zmVKt92hRO47z6No+NxbrmOR+M5yjr
rBlN7UsdDGw/PaGL2PHsDt0mj+LOur1+cDyGGPcRJKKUp7P7UG7cmcxARzx8XKcxf+OKPbPF78bP
vXpsECdRCJJfVZJidRt2K3AyDI6Os2/Z8jjJ4RCCSg+1A7jzFNDj598xwriFTB1qUxAgLDtEskti
OtEYHVO8vsJFfwC8SFMHdKGqsVdyKyqkPO/E/PSiuNMmvlXX19mQFkX1TYC9hBcCljmH5QQ+ssBx
9a1OB4BARETOSYWofswqyl2XNruYH0pwRpNx6pGS+JFRIu4CEZ7mRMew9pzd6nZHRZeWN3/LI3NW
cpkXVZxCiMjfVSpgKaL8mLgx1U8dfQ0cYSPOA67diqOFyxES4PqyDBtWFFbZu75QALYpoeyw6uzo
d00DkeSnbTRw3z+W0k9A2/5DiZGooMIZjQooaTI0vnE1chhye1q1MneciEeKEWZv6PkgBfIcodzI
jg/7LSD0+a+w82d+6sg3R0wgBJxvaKYKzqyO1ygXY/ezStQ/kkP7yeXpB48WExKR0GZFlIClye2A
OB4FgJRTaH1zF2JEhVcjWnzTPj8rJjzWvZalQNLEqA8QmBQn3VsVCgHNar6VoGVwl6/xXEaD1XVD
X3S8ZxrCRESgsg652IGqYq7q+qlob81mpT2KyaPYuqlIrlNbfH1EuRL7voC5jOI4I9K4MERBjBXc
Um42Ltrt+sN+QPfYf3mxPSfDyBIr8ApAG6rz3dwirUqkXfGiv/HseLaen7r4zQwju7gBdLzkgxn0
9JUkeJ6HQfceMZ6Abnhdbsun9E2JySlarPydaguXHtFJnY+E7OcrJC/H5B7OnAicXa0qq2j9cj4c
O9kfMhsI+4j0isMzq+XY9c0Mm094hiroAchkt7Y72K1TP5Yb8WF47UlEK7vllK/nX33llNj3MyHB
yoncgxU/TxkpjgW6OzMuxtSXz/5BRcUOc6CdzmumZ/d4JjtJAPhoUELjZig9yX0ObfrUhjReK+vA
lU/ozN9094nj8ZRwUTPO6DIeHu0Pql4koFvhReOlfLwtb++u696i/M4oMI69QBdjpNWgsPMOGD6k
8OucE+LxwPj0EUvv8VwGCti6kq794+ABHu6mr9d+/1+md1Ei/z4nxgFpWeWPpQhaGOCzpXuRZKs7
3rTh7F0udQEg3ipmxCXsvDJ+TNypqt8kuaW2J3vDC7Pzz7v26cvjvn6wP1O8y5/JHKw2tWPgT0oL
RJXaTQ+9S3kPrjxBMAfbAwK691UI4u3+lteXyvs2c5D60KR6a+DbKeXuCVu4X12Kho0fviW0ANNu
T4p9X9uA63H2PoLvw/vD0/UzWJgZuKTExJACnlDoZhHFZAPU4p7s4DAedJu49OE+W+1ebNibYzsY
PXQ4HYFfD9HXlImJKh4mKuOqgwIc3Jf+MXw0nZR+AHz6YHc394GNde8bug4fHNraD+tjanvUd63N
+3UJ8M6RCTrYGhuJXYUf4d6jNsqJmz9DzaV0mVDTduYojiY+PpAPnpUvlNXOP/5jys5sNa32fa09
PcWOcExXxVtCgOEePdoCb4PadbNnx+3+RuDYd3kZqWTJmypNngV+yzlK3q9kzL0Uas8LS+jyX395
pnwWXbupVSxvdlXAjuY1dl5XQJ2FbRwFMQ37Eb9aI4RwquILdcpLHWHMO4vTJrRmHQH6/X1tOXL+
eJfcNy5Kyvb+fd8CN3Tc7ZWnRqPGIXgLBhLtIx4Uvzwf6b8b+o+5ul7yRsOcbQzLrKlCYmxddPdz
Xbsm2bp0nx9Hslo7n3+pDoxlj4aRdYIIwQ6Ecj6t8FSNMeyhQONnrOPbuJTFJYnv8tXWudmP5J7a
dy3Zr1/p+0O7oyt7xnbbKpFd8vJYzk9g6tzXbfLnuiXzQk++UvMzBQ8DCeMcE/jZvbQEL9yR7R68
TUVk4nxgC8B1atizd10hvlzbGbletiajT6CWJdnYFtkMtvAWk/cYT6b1WiCbysVYYUrykqiqHR8P
aJDRNoKzCdzdZkR5W/aJ8najHZ+bjLby7jQA1B/bclPnoBHRJ6XjF856Wrer53p1Y4qO8ke/k7Dd
baVihe/K2ivYp0cCk4RYPjlsSyBbEPMg3QMVhPgB2lKTTZuQ5lb/lNBFuQH8Av7CZIe7AZs6sfpr
lex/fSoRnujNY2VLD3VmR7edhxUe99m+aJz8yXBz2uDnCn/MVy366oiIMtKvFBe7RWua7z0Ul9KV
hH0fh9t8xkv7OIibxl0V7odFNEy4bvBiRsVt6Rx6EA3j9WBHLd60UdLQ3kRn2g03JekebkwnoChk
YxOZTgO7cCOTPG9KggXTiGY5HW7Qw+sKDdm42gqaaqUU11EK2GCFvO5Xa2BB3Bur0HEMBxXpg3Xn
74oMzxh35jZ1AO3ZuwWezpM3DRv0JjLag0StD2Mnb9SGaClefI+3gZ0PZKOHc9+UvkOB7q7Bes3e
s981TGeYpOzp/lV8S1fbX+XuWNra043cOR15wPq0zE6B96RsBPvO2xaPxkkrCBBXAWmMpUGOgNR4
BcBhCe8a+rHr7XEtOpt2+5i/pTXVVoFNzRa4MaFrHBH7nIYaBZC8MNeGFg3oCJYJxBOqd97GKdYP
PVGAiZt9vve2fLN+f+x/aQohwdbWt+PGvMfAxRbdsmtSfeg9WW11KP8kkOZASYbMg6pwXX+woulk
KMStsLoi+jCotYmOaHW5Ic5DRRKntGMbSF8ddhz/6miHPU7b2P5sJcBArSuy2SoHOt0dQ1ck0n31
GMADnpD44jy643GD/9ntSTFAaKhcdfgttk8h/bX+ftTQGURNfBSSEOhzYGdv08oFOnuG/5ScXUpc
7Fr6JeCx/91z8rceENcJmnNV0tth4ViJc1z/osmHurrJd8eWglMAShh4El6F2I9yKlbWrSTtEtLa
8eMHotwIzd97e4DHFod3DIoStSDv4lom9Xoy3O0q2ebk3nr3MxJ8hvb47LmPxi1WVhePLd5ctzlG
jm0YmkgGB/X6NVFW242Q2Z4PrQyclmYHPHivqPb+GlOgxyr3M+zPtrXrmpJ1QiDaP6iECptj0pDx
pt4lThUTst44JUDiLRsz074j3wrId+KbgqxH6kE2n/BVwCMlze7x/Tm9eUrd4S44RK92NrjTWoQx
tMlhq4P/6w5tKcxqADJSDVVRMeTLuk89iAxBCL0OPbiKC9MfyEt4nBsyErtJiXmjuzMMvLXBUW1D
9H1zwhGXPpNTSVOtVIlqdYCPlFIq7cLTyQ2Bp9+66B26zTcFMmfl1oIbzQ6cG8QXb0xwv+Cdybr0
NIjEzATtciQvJwsoBiH1CKqU6+tCXmjuwQTCmZDngHgWNETRNzAOLnSnZzt0DkC9UY7lM4xFwzpf
g//G9bO6dkmOuYP5ZpNMeoUzLQry67f0FJGd5MIAeGwt5H9gS8FKFUVWdEDUXbIlF10gd57fnyyC
1/5MdOEhMUqf36LXPQIeVnnLRZBbeAGYefumyYgyLqM29U3QBLJ7FiAMYrdL6H72HN54Kcola9eP
n/ct5icPSi5HXYEMxb7n/Mqf5Z/L3Ic56MCvpQrr3OYE3CKxox01APf3JOeQkXl0mFwcEGS5UCeg
8+wCUI2Qw41AXw4n30GoI2ssW3raOSJ5eFrz8BUXNOysHqR/vbWdGY4f16WUzrcXPGbxbi+8TJgd
gDLMoeiF+frytOtcN7BPEfpIMvLrhATEvSdrZ6Ottk8BoYCKfx/p1rd57TJfPeCMB7rgj0nGPVVO
ymYAf8+2fbh/v7lZl+Q3Ukt3l5PUQROl60LPc7rrdp6NVVPAf/OJPeFxlH6u7gbqPDhbdfeA0EBu
Q/v+E8F6s/1YfxxFRKhfCjkcAqRga9O5rtFfk6RXfjf7DidYXQ3ABmTBknvj2YfNwe7xU19cbV3j
2oBhtdRVyB4bDPMb3gs+x5q+7gNnKhFNEpZRz2WflDo8dVN/PsVdGNTXdfDs43ofZEM5Xybsk08O
m1nSK+q8ndASExCkaZnd2vZ7iLvgiJrOnK1pNkVqpRNcnTi13S8Y/2tCvvRB/08p9ESIZfwY7F2w
N8/3v/w7dfO8Otibkpq3DXHWK0oe8G9MzqCtQHcc/EC6Wj9gySZgMtY8beUYI/sCJQSGqXfzoQNR
kReKZ15YXi2U/xUsS8XIxI9QEox+2qRYmosLSyUhDeqfzTXGRAW73vFOecmbndNi/LEWoK8MkHYd
vGbodOs/HnmYz/K6iSwlF1hV/c0R45tHL0zjQdeA8EQP8f1bSpNXTDNwEeAXIAAQDc/oML7ZSsw6
tzTQMXDh650X5a3CShCg3WYALhfQko8tp8R5/Kzc6wzypMiUQNs6wgtv8iVF0fFfDMSeB6MnvKY4
HhnzMscIImucwgLs2YlHlJR4f1IoRQILvM7OYqUHgzrYISpbX1v+LglpgRHn3mAiRztIGN5CPKjW
Am6cAZqDKtwiUtt3+7WxST5mhIWSY+xLLwrn1BlblwqlGMNypt7e39ebzHm/zt5iyfWcAKP0Y1JX
Uq2AgJS66WjnhiN79Le/EWvHeho9G0fHW1z0LzSBD2nIhoRd58zZiZMXC6MFoz5YgCfStxEK440z
OTR7/E/cfVNi4qiAba2tEoE723uKJru2cXmN7XYt4sAETmVysQQ0z/r9H1ts8AOEeFZ1IdgqbI30
2DkpEW8jYlIJEP4GUIkIh7mloHRO7/Ll6v/F6jD5qQTmkt/TWjuuqIyH2GDrP1yns3QVgyf55ou9
inlB7akhrkMopORr1VY6V3CKHVop5F2KBV3JwUNegXv9NsIbun4sDcJzKkvp/cVvYOwgwPaXOpgP
ckTBKHaatbmXnIfy7a+FytiDFwkCptNxiCN26GB+BKt03Efz+B8m+Wf3/C1UJgxEslxa3fjF0Ixi
lwJooXexXWvF5Wi2pp8h9JsSEwhC3VTHZABH875QC9BZHcbTMT13nKfnPORKEeoUIQYquZR5CsqE
gkwUKsuSZjt3AV15q9vCygdF6fa6gi6Hgm8GGXcSqUEmBD6ufilmRuJVAszl15DbTSTPKnZNjowv
aRXTwsolnJh616Oiip2/FADCeGAskNha1HNDQI2uOnjPbXIQNv5Nveb183GOkm28SIQ6lT0VsXWk
9WPbAjNG9wtbD5zO+/yfZQp8W12VZSReALllji7tx6LKBTDbuc81QMIqTB488GLrcv3jjApzcnpr
TZOPbeCnJ4sENB7IAMRWn9S2jCaZxAld/2F841JdOMgL3piDVNNEUVMVatm5Xzkl7qqSg1qku/3/
pH3Xctw6sO0XsQpMIPnKMJGjZOUXlmxLzGCOX38Xte85noF5B7X3tct+UZWaABqNDqtXCydvrBzY
mai/en2aQInDarl7uU3QG6t7ivtDBMFVRUK4d0CmtApDkDyiucI6sjeGPFm707zq3nqY7zNzaWEG
3s0p4agUu6/6Xtn5sN7MPjwhR+q6aEF1wV7jkp0lBNmveaEXG8C/HUU+MbacMPaamE7lWMDy/Az8
u8/y+FICAWjT3WRL+ylAFe26Cq+9GboMMKiloXkG49852UwnYZoksAuTg17AwPc/SqF7+N3hzlmF
CyHcw5QPyQA8KIRUXn5j3Wi33VN4oPtqq3vxfYqe3uVNvGHe7jgiFf7VAZD1xe4lpNDtCY0WouTF
Wnhx8T3c+2Wl+lg1Br6n3pwUj2j2dvT6mxYALVF7uXB/uScsl4yyow1EucFSh0nBgfz0w3oTRUwr
5v1iRdz7RYC3zfQIYk4/w8OdCZUZbOpd15XVK3SmKpy5U7qKVNoEGeVd4NeetrlHDC9w5UXr4Ixd
SuUkJC2yr6fkLvZ+SdsaIdh/eXMvdoszbmjjUZKaYCWV13iF13kAYeN5z8UDldfc+HNRPKA9C+VR
x8M7PKJH2TaO6jFEye2m2LRP5Um0rrWkx4UwzshZM7DQmoTdk2/lVwJDctobqH7K7gbNhu/aYTqF
h8ylsCfuW7d32Ie+KxzJ8T1Vs2HaAtup9ofopKIOhSKYF2xuDrv+7boWraW/Lj6StzhRr5TZsiPm
iGaFl1hF8Qu9zsawKfpdRLedaheqG9dbcMYn8m082bPuRLNTEyfLvSBB8QjA+an0kshN5kNd3jfV
lpQ/BJ+5fMYVm2VwNivBTtK2RdmBOMFBfwmP43flc+uRIwiCd4ntYIN+/q5AiBJvngXC168aNVQ0
WWiYXsMd5EjppBcRDnJyho9X1CoHu0XBnLnxYThlJup7s1POthc/ard4uTr8NLWHo+WWruBLFkl/
bQNmwFK4Oaby17hMokhqKGGyJBzjpEeiXEYZHNXbz2p/N+5itDK9ofb2I7G1I7rgXFFT07ql/lP8
IZylZmodWFGPsErtnPQTg0fzPS7pD8EqV63OmRTOSIdpSWUWYruJU/+WnPQNWXkRL+76S3AmhDPR
GSihFDOBEHgSzxRNOjGiweGR2PfXj2wlG3JeL+PZrDtSkVorIQecww/KDxUR4O66hHWjdrYUzkrP
dW7m7aKeeNT628+3bFe4At9auF2cjVZ1tPbWDDImTM6Qd+WxPzS/nWQrmoOwetX+rOX7O86y1mHU
o2b2rWHQ7nEvPdBNjxzV9R1bN3q6oWoUCTINOVpcszMpsUZi1pXpgLQpuEWCZyt11COwInCrzU22
c96WeEwBOktDlkB/rre/BSq+7mSefQGn41qUhe2sRsPj68hsUAmGh/5oAbmwtNUlNjmyk3kDHkpM
XmZbYTSxakzPhHO6P1mqJo0phI8dmrT3zA58z+49T2C012CtwD8bVNcw+NSyNG6RcRJ1aqTXA+6Y
BqRCH+NMQabhjAyz2E7xTjtUtj677UuX2M0jpggeywpmiyQgi6Qv6Q/8vytFqLFV63L2UdziUeox
Zpr18JswsylLHe3xCYT/zct1FVu/MKasosFF1lT5exbNmYph1gyLMwwQeZwOMypJb86TsNCwbN9f
j4GJZ4AQim4DftR5gKEIYxSMy0rYK30/avfZLd2PD2NuM8zqfb8XAWnX8gk6WuJVHCfyQJrBHWiB
/nVdCrLhMf5Kn5e5s0tmOXb8zcuvG1RxQts4yfczcDc/om2Z2IItXd54fr0gFUUdwlSorqqcxzsV
pBgTkg8wpRP6K+rH1ANnpU8wvHXc/hB1KsuLEbgmjjOrcSGXsZlWA+hmMBuiutmMoPAPgL5ypK0u
okP7rvX9JU3BXAXdMHBdeO6ekNVDxUzoS+2Om+SxzZ3QcCikZTvP8d/eZjiDxRtBR/RvwbauqZFy
JpnzbtpgDoq4b4Z/aPGBqPKXzAZG4P5WNopdIcMneBLXbuC5QM7lDCc1KKQOS40C+6T6ma1nNtm0
IiO/ZuWgqpZqGIvWUE5d+nSesxoE4kCzmbaKcYAVcxrtPi8xw5h8jOaGSpaDVjvHAtdTcRNkb7m0
m4yPJFLsvjwUMuCNrO9tWuzkCM38RPCBK71+OiDWfz6QU7BGKWK1XG4TrpKxSQ+hHZ4+A1BmvIUO
2WWVmPZzzRk5l8i94jRhvWqG2HkVzHfVIWtglRt1QSFKwSul+5v5ZKEgFDk9fHzwUQhZbdf8VwU2
kViUWjo1uA+IYkk1pgQfoIOv0n+w0FQwOjeSMI+7bqn+CDKXPO+Z+TWHeprbRceeweyOpqjX1NY8
a8N+yOAuP2jQBPfmQzmWTsfs5GDdtSdRjmutCofj/d+18lGD2it9Sip8wnHhM+/3w2d1Kl/Ycd7m
+w90kWK8/c5LvF2yDW5EiaQ1N0rRKEV3pWwofxHizlmgZFk5IaSulqwZsH5CPMtKczjU90wGd5aa
mQGDV0DGqb1jqbPkUg5wXLZPyEvagNBIrijlsX5j/ojky1WBXJXDNMwDCtH6MUcUtoBlvTsQtkcn
yZX31U9h4W/10TkTyVnHIEjLKUjwyLrLWLPmHhO7wTmGVmNojZgMZlWarmJIqk41SzO5PSVz1mNK
iYYnfb+JicNc0B/R28Fv35PDJEjurEZzyJX/jzD+yQm6HPwpDYQ9G8i1oDYsY3yTAmKiTOQJrmbN
z0Vxu0jjLAVXrTI8Btv2NwikohvF2DfFBn8rL0I5bnzStzPSjkMnqLSslTgxPffPKrnXxuqyiQ45
RLcbw75NFK9tbeAksvsWmAygwkVO0qrndy5wOeMz05OzKk8xr2TJMSUyUowwcKBZsyVAF//Ly63T
ZaCfahoK5VzZFDHZlFv64gCCygRwqiWGGJ1firuLPDGuYDXQhKOgKYjB8E/ntFNNqSSBgQZWZVQB
BDY7qZ9tUqfzLc0xA9nuu8Jq3TI3QELaB1Vc2W1WyzUGIZod9YJOab9UyZB/Xd8GdRH7l+uElltz
mZJsKd+Qv7MNJ3MqFfKQjo8ZQjbNkbvXSTlkqj12g21FxcYEp0z2TkDAKqOzxnxI5l9dalfqfYYS
Ufaqf1gZMO169TOT7xVmK9MLUndeU58K9StXKicDLFP5mZZ2SgAMt1Pm0Ho7NXtQNRhUUJFfNdwg
yIGXDU4oi19LoSfEGNRkfMTIwYR+9j9YAVrSj/SH+nR919YP848kvjBXGXJYKwokJXsL9N/oxAh/
TuMhxSwsnN57HG0TZLWGvUDsSoFVR3Xufxb43Y54dliLtxaCnGxEq6MMjB3qdKpzaIWZ/jVPZxmb
DKiGhfmsBudbJaM6Ewk15McYg0znm+ZOlAv7jjZ4rTuXwF0GU5WKFO0z46NRAK8qBTadvMmrGdpB
4sPsj5bd79ltqTn6qxLts2gblOhrwXCW2O7GHejZGkdRXaJitOhwIsinJdDW2ZnKvRlupQOGQPb0
JjPdrtxZwlBqzTeGTVSJqslAVOm8UVQHkuYlHtLazb9OveTQfYl5K55TfvYnsdu3ptXn4jiTODNt
qCVtWGzwErmdHhkowQzvZamLmN7XDyRNhUmONQ04l8nleKZAHxsg1QfMTUce8RZsYAXmu9B9DvIO
P3ULF77fThdR8qw6nudiuRCZlV0ezzPEFuCyBh/ELSgUYIpsbYB3r7mLZ0R2AwCN1bE41m5yKjxU
OQXppTWLuCRdgAGjBsaHc7pZ6F2Qmw1Z4AU/M9fwZucj24r6LVZzWGdS+FwdSxDEhZU64CpX9s9b
yUYJxcGovtZuf6R+cjQqUYvFqgN4LpLzI4pWyUARhYVNnvY5P7qbd7f3NTe867faLv0VeQJrteaP
ncvj7skoMQIkJ+SdSsxXikvnc75JMegbBZklPvstSn+uxeI6mJxkGReTYDD3pe/QSmmZTz1cMq0P
MjcyEKGOcZs50gz6xutrW9eRP6K48HiYAqLInYmU91Z9bXS7MlwDTVoSyHyVzawJpK0+NzooDjUD
5NEmIDSXKwtbGgeRhpW5cG2bh+IQuHheHugxEeID1zfxjyjO9nf9JMlDArdowrTNcT9VduACXYAS
GvPc5oe0B2hApChrge358rgbR6p5jAFwXgJb4nQ3oferc2dAJ5iwfK8tOsA/PGei+CCoroZGlVSI
ynLoRevIWuRm1JGBw5oPaeeWLPOy32N+KorY6Tq39Yb5NTFnewAHGTuo2ska3CFAhvAQN3s9DKHK
Tt1tgs6x3jvrMSuOAfX67FcbvTblyYp+zyAwYbsp3UTgGAu9ApFXHej+oN2S5iYZd0EmGGe6GlsC
aWnIhqVrKliCLrUFiWPTzMDC/Ph6fCfUKYDo9Jx7y/0q0T7nCkFK314Hv6fn8rjjC4haNL0ajODm
noCCtMA98ozSnrt/2D8Yzp338mZMtqM72e7QbsFPgtHJ4S16EX5fv5PfTtdf3wHsB2B2iqobGvcd
RYpxt8wcpsfXV+QsZhCogtdv3gGqMKJtxPZt7yMBmqDf/iidcvuFyeKoRR7vr38F91qD4V3RQEQK
8hJCqa4YnNEDEjqb0kFP/NKA/9s7OAlnfjZG1c7z2VFmy7kuj1Po/ysPdCwyhiWokHp52FMzmm2I
GQO+lT6BWHaTJAcTOajOFKyLswv/yFGxuyYmv5q6xpuguAlCc7ISX9K+IgmeFRCurSIJTMGqFNCv
W9REYYno2uVqQi0d2r5lqV802UnvPsFmtwnnz+tbxjk3/yzlTMjyEWde9FTlVdXNZepraPedqi+C
lm3tbs5dNtQCy71875lK/iWKe5IkKa/GZsR6QC2MEaYdKQQCuIfoLwHcsbAmjTuMfEh9OqgvMljw
QOnijbW2NxB4RUTbm8HoxYlR29f3cFXtzvaQszHBWFhjyLCwsAl+t0Zq6/H4e6bScSZqJVBxPgHy
zyJ1KB0xDITqvI7XYAgyQkw29vvW06J7MjqE3rF8Y/a3LPwwZeQh5pNhRHZJTyF5DXM0p0mDM2ai
mcGr6nn2IZwHpZeWMmgDPqSME0dWnhSa2uW8vb61qzqDmpRBDcTksOKX6mmlZTGEPdRTDjHABSOd
oowKtGb19M5EcKc3zf1EpR5aEzbRTU1116ibTWRov/OGCg5vdcvORHFGOagKbeiX1cTNFylBHRZ9
loZ3fcfWZega+KYBLpX5aFwvNXkgQ5v6NWGOKX3WJrrnRXVvkRDu7DOrzcsO980353spSG3Sn/rJ
EOzWqmlCyfd/VsK9HkM+YW6dBSFKjkG95baUHsFS6sx94RTh23/ZNVQiTdRAFdSULvVMIf0UtjWU
YMkyVfVTaWh2nQo0bXXXTEVHbROhMsbtXArp43zoo7JLfaMJBpuBVX1njkWwactUVDMQiVp+fmbW
hyKT5aDA3gXsmXWYTVbdY+qTwO6tXk4TlD8mUocA9HNCphrYh0AdUr+pjadhNj/B2CPQAT5O+8fc
IXtFiC4bxOKHLOVGRLW8mVI/N8LOTqP+RtbyI8szN2y7TZy3dy2uqdInJ7QuOFXvURbGXhNHbqqG
/kADgUO5urFn38OdoSKnfRDRcVnzZBfDfaN/lunzdWVcsUg6Qfs4MQERA+sbZ/Rq1mOdHfSEdd1u
JGaypUqJzG8G13EgokiRz2svW3whjjOApWIVfTjiGPNy2LAa5mL4Kc/kySTDC6tBNpztU3QMobyn
5rnHSqDVZMExrziKOsbNEJNgwUDSqJfqKo0A9rOph6uT1DZpcluXOgADZy9SEGqA9WH89+/KhUDu
GFMakcmq59RvFRXczZWBNEDATIGUFQt2IYW7IA3GXWgMo3T8qfgyE7C5yPp2oKFdpt51jeGD4n/O
8GwDOfsFP6NL2gJnOHUPEb0vY4y6UE/w9/W7FHdFw7j4+tRiJkDXC4zA/0O0CnyOCtIyy+TOTiOZ
SdJGxaNGf6R4ncNyY8Q2SbepHHumPmGEcHAywZNDlRt4gALxK/cRW4wSsKKqKvAcnMvPgOOYWKqk
/tznbtoibMU4pOzh+vauOJY6UQ0dVVCDQju5d9ssM1OVzS7x468cQwvvA+0IVLadzb4Cby+nn9fF
8U1n/5zmH3nfHdln1rtqirAmfZ/4Ub4Z2D7y011032VuN9yiSGJn4MQZ3xvlcQI6Ry68UPusm9+y
fhtkDtPdcGGd8eRbaQsKmP/PL+MefsXS5TbVsRM0s2fFVt+CLZ6yeBf51o/yMURGemveyyC7tmyy
1DtsPfIIuWNB7uyATXuz9tc/aOUJAsYPiq+BSgQhPvc9o5G0Vg8ggF9qXyN9L0zBUazeYA1/MAMY
GD8eeCYlHZQvIomPSdXHaHiOe1sBj4/+hVkft9eX8t35ycVHC17RNChukYYX9dIIlkoot0qMaFlG
sU96GXJX1p6VFjRNdQPT+4hham6mGb5ZhOAi2rDxNtI3Vd25Etx/St9HUcFz1SojukUHiUZlTec+
KMaHRqOFD+rIweq3tAR3FzjON6Hy3rGHLDtWBmoTpsvKbaw9KW7Zvc/aLsoS0FJlgnu+etC6KZs4
Ccuy9OWgzq6EQaJ0BrNr4o+0cHT9zYoFj+7qHT8TwL2Cc63KzBqhSUHz3JnTdqjGvWoe9OpXrZlv
o/qcgUD7+omv2q4zkZxZkRPoQdlDJMuetPgQAogdZ6p7XQhfRf7HmKB4pRgWOGKUbw/rbOdgMws5
yU1IKZPCy9qZeimmM24w3wdvrdW2myBmsx2SMXVjdBlseznuBQ/h6uYuNQQVKRNgzrlrmtOhGqJI
ggEtP9QXaJGHuJWRFJih2TGN++tLXtVb3CMLBbulsKZc6kpP1CDMA6x40vRbWCt3nCa7GXZ6zw7p
3UhaYYMGfuFfN/dMIHdRAlJEtToiH9S3p3BGACGL1H91A1HrVHVTpSbymJdLSuNS1lMzTn1VSu0k
+8g7R24c9pOmXsBAaaCLfPt1gQBWLck0gFy5dxU8BgiUVNx9Q49gxzU/GWdPSzIvzCUn0V2NeJEW
OtcPjgeS/KOrCI+QqcVCwX19ucyqRb42CaPUj9ohc6tcjh1jLKnboVqzzTuUQoF1nl0pM7a1biU7
xZjqh8kKY4G+rt1MVE5k3QI5Kp4Xzj1UmdXGaYfvACUeni1Hebm+UH54zfdCzwUsH3B2KUNVGuSx
wHnSrermH6E3bOXXfGdsol8taGoeCycBiMUHJ96D7qgqKBDTm2QP5EBzm/3LYY9/fQvnOxoka7Ik
wrfApaFbuSCerH71+rDJ6/u6e5cDP8oExnbVaTxfP3fQ49xLLABJpX+aMrt8Pc21O6GqAjI1xHMw
C8BRiwqqay+IjDo+Qm/kkoAcuNzyIbBabSQZchapYUfVl0Lfrh8qj/P9vxv5RwJ3SYtaUmm6bGTn
RMD4omCCmUC+GqMnNd5ZnrprAjueYsErIhCrEu6qthPparNJkYjr7URjH8rgoZW4699Y0e/H9lbJ
7HB8DtlTmDX2TNCLSwUGd/04FWoh6W7BZPDdcFrV4IlBGsOnbfmZ9qy0jUneZAm60NrxNjOyLVq1
9Sh2pHDXhMpBYcpOsPnLE8LbYBl+mqmqOAGFB+lOSTaWaARGTl6OnlmS2zSBbZwlJ6fKTkGTGVFG
G3ztTpdIm1H7L/byXDynXVlPsAEmngDdAhY4KJ1KrwB8liNtQcGQ2lWNRPCyrxqpsxVz6iYniV6N
5fKodh8sRs8mEnEhEc3PXXsIwE0OcjnFNDSZdx9i1hZkkoPED2dwqBIgFiOvHl7V8J0Ufq5XG1Wr
BTmWVZdFJbinyF8uE68585um6OSNGgKLZDRwEV7b0XLT5DXOUeplmN1bn4Jhvs/7QfD+rJkIFY6+
RqFGGBjJyTXQwliBZxip4JTa5givVhSuLraU11LNAI8/AWUDalTcXe0HeWpSCUaotE4qgHx5/NyN
qMmFX9evw2I/r8nhHa5IaSMpRHIeE6TcrA1iR81UOM5Kh2cFLyziiVTUE73mdp2vjXO72rmsiVki
hzqnG7N6Hn+bxXvnKvVgZ33zH04K7oFqoHnRRNqI28ewxtCeIalhaosvKQA/rv5+fQPXLhfiHvw1
EXCA1ebytbDGsZaMGWn0+UfSnKQxdOO2EVju7wL7X6dkoShtwmgSrORSCIg2w9DKkLxo41bZxYE5
uVNctC7mSEtOI6nybhpCyRtZDHBbn3UgJGplp9Yr3VbMunzP+vQ+tUy3CIPAiYxh8Zam2huL2nSC
RsodKwtVwc6vbQycIviE+GpAvriNSdGIlcREgmvUjk7a7E3Tpj0V7MyqEKDNUfjBHdG/AUNn7pGE
Wn4fp1Xmz7Fd5gh137X27voBr911PFi4gwqBT8DDB+MuQPE8ijM/Q8Zf7r9YIWLpWrsPiOJhSQA+
gIryPk7TlFpEsAjkihwJsUfehE5DTzDXnYJa2SAwm6ubdiaP0yaNIX41kRLyQ+W+zrVNXwyOMDe9
tih4/vB1UJbRkPy/VNlI73WmGE3mJwp6ilKYFHn2dDJ6Fqk3XZHstEbEtLl2UuciOVum91JTJH2d
+WX4gTy1S8xCoNOr/su5CE6pLZLpbR0Mmd9VvbFFs53ixCRC43VVhVuGyM6pi3belsQoDlJcIvmi
Ql3yCDjfqrXQZvjvdfP8c9TLTc7mTOoMHSuOEO2lJlrARQiGtVcd43XlhdVvedgXXTq7YLo5aJVR
tJnfFvd4fgJXTk7UL3xJdwLBXJA1tYRLiCHyFnp10ABxKaqlZpDlfZn5en9UlHu5i2xFerq+YWvP
qgGYM2oHaKuXLe7hTtEbWgfycn6F5fQMk5/UfSejbV50x1b3DY8O4CwGihW89etqUNL1TMt8XBFn
HuetRt4T/T1i+iGICreeDC9KRcH/qnrimSBLnWaZ8cctDyAfEHPJRuYrGDFNBv2+YIMTZ2iFVR+H
fvbU6SU3UsdIUCeNBjewKlHwtOZPYAwV8C4Inyz04F4eIp6hPpDnYFl3NNtLucimM0ucdjQPk8E8
CZz51490xdBQDJKTF/CiQhWTs2azNhSFMuaoyEroWMyORun22u00Y55i9h6LnvuV9VEsDFcCMzAp
/e7zPrsPAeuqaMhwrpHiK+kLG3/VH2VxM4tKe2tyjAUQBZYJtPJ+M32cyUlZaqAMTDN/YEct8FOq
305N86SDjJ8q8sf1LVxLp8Cx0MAeqqF0io7Qy1NLrdg0+kVaY+Qg/ujl0i0bMGykdWKhvA2EnpX3
hyEzWgcDpqhDIm3Yplktba9/yMr1BHpYoyoYiRY3hzvLqpRrInd57kt15fTlr7lzTXijnagrcOV2
glsDlQAVw7ZRkOK0tJWLlI1jmfu1hiTn0NqNua/2quXIs61pnwwkW9cXtnqcfwTyce9QNKyK5EVg
5caFhwr7/ELag5x51+Ws1QYotGaZ7m0sJVLuDcRdD/o6wA42yY5hGMIXuHo0t40cE/jhhxCphpd5
O35haoPu7DJwNgu8pdUTPJPPPZBlEudjrEN+QhE7kB9SGbuy1dttMgu2dO3eY9Yibr2GFaOsdqmz
aigPGPSiZ34ReBJJNmmCThqdRpuhsHYsqUAmZimii7I8qJwjTvEImsj1AW4H9ulLocrCoWcGbe4b
wPvejA15kwMK8IQVRJY9ZEXpmGWab4LM1G+6cC63ijmypzFlkWslw+xhAiuC7+tnvvJuUlSRwHZA
ADRUvy/3manQhoApZpDmPgv7fDPnWefEEQyS0SsiOM+aGsNJ/TZ+gHLwKKs6LesEpLKZb8yftJ4O
PTkMLoK5bS+JgClr+DW8IRqG5qE/HfMNOU0uZTWW+5jlvlzXw00fGYEXECIDexiFHjgD4l3BCtOL
gQhwJnkA5gOvhDcOXellQ9148sB6QCHIcBxnzIEgTVUINn51NygstIXhDyrqJpfK0KosJ9NU56i+
FsU2LUp1q7PI2qQFzbxZ1+I7LQjY/vppr10wAD0XPJ0Be82nHpo2VucWaEx/NgD6NtS7aXqtKSls
EojWtygzr+x4y8GmoWqKhpLt5frkLI7DgUHZy/qg0/usEF3hlbUYBKWKZWAhiqZ87wFTMWxhDnHE
pf7Qxw/oaBpkzKgRDZVeOSfwEsOlJMg8GtCCy3W0cYhEijzhnCK8pyZanGZbHyV7Utp9Nf66fj4r
m2YATEfgYmrAUxNObWWWWyGNZNxGdpu0p5yJZtmuCQDFNwJrWHdY2mVTz6772LA0kxOspilK00tV
GbNqmtbYXl/G2tGArAadKEvMiyrLpZQUjft6H0DKO5B0FtrIEjsTdWisncu5DG4llJUL7+OyEqCF
kOJKvRxd8sABiMD9KxZyYd7538VwF3WCGk9ZB0EdSgbqODvy+IQE5r83BxdSuAeJNP2UBwWkSN12
LA91aGvmfi6cuBAUYkT7xnkvgUIradAgaJi2M3HUr/J9mFwqup2rigYoi468CkVaYvn5maL1U6Wq
OjMxEFpDpb5GkOihiqYIdm1N0XRYAJWiWq+iLHAppcnHrkC5vvBJE3xYwV0QGZshNXdhVgpUekUL
AMtBNhVhgmpg5PWlpFatYxXjCXA+ZWUca60BH1+k5btYC1XvX98eIBAgYkH9Iy/FxeVVbY6g27Vy
35TQ6Fs9lfmX2qCJohYkH9cCPhR7F4JwC0NkAKy6XJOes9JISyX3l7zjg6Q9dxQM9j5YPe1BOprO
rDpDeye17vX1rSXe0S6iwnhjnjLWyFm5aAwW70LNfVK0uylKPa1/sNhwHEBhQsfwVOg1MlhHg0oC
ySvqAmAsIiMd5g994crlgsPOClDCglIuEW6rqXZYvI0Yz6Y8XV/hqhzQ4qBTFYl+hY+/SqmmYyXj
BMMKLaOjXTSHrj4xER5vTScVbCHm/6Dt5a+nKWwAzS67mPmZ8lUNJ2t8lyOBtVgXAYyDpYHDCI0A
lzvWzfBXiZEzf5TemfEeARc2ZPfXd2vFVJiKhQAS3QYLyopTwygfzSihxfcydJQRm/y/HMeZAM6C
FyUZa5pUzK+tExDe84wG0PokrIasnfpSwcKdAggFY9Qv96oM5ZIlasn8Sj4Bs6saLiK0QGSI1qQg
h6ChaAXcAMBol1IYmfoaPKfMl/sjBkraWvqzD1/j4vX6oayKQZoXOXhklYEVuxQjTQqpq65jPtDD
29xrwHBaKa1jVQILzrfOLeVsU/8j6NtYnD0Uk5GmtVT00LDOslWz9SBwk6XxPZzGpj8ucU88VHam
PyYZuDLnkPpmYx1mEGr2n8R6/NfLBpzn2z0GjgmO2OWy9VkupzZC5Yyxd61/C+iDRO9i/d8/JhdS
uMc+LLuhkBkK2Zk1HCxPT8FSWooaZtfMrIVwEx3zwKyiN5d7R9BZpsSGhuoVEBfFZGCQJPayImAk
zQ466EtiDCtUmYAQYsVgQKhpLpYPqCieECLJS7lKwCTkx2QbgR4vke7kVvBwrejmQh+HLIWsYy4s
Pw0H5VpMae0mtHhpk9sPIFQtik2KhqsAvc7X9WFRcy6KuRDF3TarBjy9MiFqIiea9McYkwVrskfO
y5HYZ9SwXSh710UuKnZN5LL6swsRqIw0Ywvsvzk+VS4rjoZB7Qa8g/IkmtAsWh2n7VE9g6HVgKhS
94LnqSruEnpk3XtN76r0LbBKwW6upQotJJhR6YRmgBmPe4BxKYJ6kgGIn5v7hCh2LUXg4q28WVPd
KYpsLbaHwlEMBAx5Zf77EsGFcO4+IEbNZaXEWSrsa1BkW1bvaff7+uGt+VQXQrTL0zPaSI9Mc1kh
8meJSz8k2THAzEZsM7ItYk8SyA63lW4I7Ojye3mtOd9ZTlERJIfTwLA4uS/cvuzckFaC/Vus0jUR
nGJO7RyEJABeoomcYQsAIgUrWbMXFfhFK+GU0pApcGKhnPrDYTMK3Jn1373MS8TgRKQ4uVcNHZRN
EVjYJeRoFV/0eKy9ZTj8//31PENV0dBeDpZKe7afnrRt/pkfLCf7AQTLbe0dCsmZPGu/EMVfVzrB
qizO8UjyrikHDZlEqa2bmyYMGi+QJSHB5JLp+Pv8/6yOu7y51WR1lmN1wImDMnqZFVs4GgbYiqad
rZmlBb+ry6hFIU3BaQBILFo5THVkRk8o+EjHCKTKjYvyP7Ivgq0TieJeYpRpVFZ3EDVgBLFqDU4Y
ma5cI+2svDbtPu0e2CTKjIlkckookamumwoyC9Sy62EDUJtdJ5tm6nbMOnbk05L2/0FB/mwon8MK
lUiCUdawSnmbtls06l7//WvpVsCg4WggEFkIZLltjMqiCViA7hxDdSz/oTymB8kzfhbbxv6lglbr
gew0TLO9LnXN1TgXyu2jyQap6w0Ird3QexDxca49w5jKi9SlBrQh+qAvDbkSI3KWNAtgQ+VNLk6E
kB3NnxD8ZMm/r3ogvvojidu8wIhkOUqAdTEqt4hH+2cF26rlm+u7tap1Z1K43UKA1eNpCJaHCcOi
h9IZ9ePcHMP0SWGYolUvOAtRUutvw4Rc5uLfI75DLKpzK2NKGJugf0dlEICHjSwP90NNRGqw4lQs
UpCbJco3zoYzf3TKwO+WZRnKYyO1M2mT9E6l6lull+0m/DWBVo2N8bF/DnTBvfrbEYVkpNG/k6mA
sHN7Cv+adiYD9qaXMWZNQcVETdxIALgRCOH5U2hTxvCngWzQlNOQZUvo2qhPgSYQs9IDe7EYvviX
jTHJZgXAnqwiuyJ8TboSwWXqpYCV1u2LUj3JyJpYoz89Jvm2ZwbwD3K5m6RS0P61qjXI6KEmT9Br
9VcfnFSrtM6xYJrfqCg+6vPT9asgEMA3vqm5VZdVVgDHAcqngL0nor7PldALe7mQgywQz6Usfmk8
UlPt8trAXioReJ4afVM2d4ycenaXTJgGzw7ZSOxwEvGkLffp8oWG2AV3jrQ7Xk7eDE+6tXggI8Rm
HkKw+rci3eVx7rXEdIXYxdVdpEh4ADKyXD/u2o2JzNL/Q9p19kau89xfZMC9fJVsT5+0yW6SL0a2
jHvv/vXvcZ6yMxq/I9x97l5gFwgQmhJFUeThYTfMwgKDGMIjHtOcmPbWwUOdufiCRjU8Kb+4yy5e
QpGnycEUQEIc6IigMakCfZB5zktB8MTMil6IQQINMM9ZTAqI1UyYUGeHUWv/SpkZuWqC6AwpyGsp
UYX+6NabUENK67mlG+2Ugs8JbxearEGRB5PT5uwmoB/MEydKUPZUxRiqHNWUoOnBqvFsPEbtSpU/
tFqhvtfQYIzBTwLOZl7ac9GFXIpnVjIG8Dj0UhwsE9PTDOOY6i9yGFJTPAgJBv11tlCALqX9MCPN
aeRybYAsMgWHGNG5lB631zdWQkLGHhksfSYoul5uTGY1vVTFCVRXZfXTDyu0k/+O0FnOX/TbuPha
FHPLDX6iCVEJraMqW3kgIPePYxi7eT/SNLRzMyVST7Of/9yHXerHeJjC05tuHNNkTswa6mve8e7u
+RewvgS4CHQ5IPrBHc5oVVZiLooT0IGiiB00nDJ89v1XX13rq+FVEDinY8lzKbIMfw9GTfCwMOok
k1hk6ghpod8FrlSAfcMbhRGC63ijt0YCslY06BtGYt9fR45gFltjVEqmgWIcJ2aud6z93k6kn4O2
0uKXACjQ+8Jm+79Z0z9asi7TrOQi0mMI68NfZnrwRs7vXwoVLlaRhZNHCYCkdTrHI7lJNPXV13yC
4XBEyjjB5LKjkQHUm1N9OoBQ18fLAHuNIQ5dsh+RReybc+o3xyI41D9zYSsrPwVlJSueI4KBsFO2
YKS/v46Lm6bM0R5SxyqyRtfSZ9Re2rbw2Ap6Wf0NkinSc203tOx/3xe06EUuBDFqdpGgFrEGxGc1
/O5Uqu+jzKkxhAQt6P+boFnjizsoSsehnRpoFL0HbjBijkKIJhTOM23pogMYA2lTFDJB2Tab54UQ
uTSiQimgzZB+oI09rA9ZcL6vx6IFomg5Q+pxAbE0DWYeDIWVyoj4MRUtpRLlhTiLO3IhgNGhA1gm
HmQIKDYSKMB9GlKRE39+tcfcHNMLGcxVLYhGMuQKZORbnbyqJN4CqL19tJxi/bsiCfUwMqt2Kvor
w+uWUpO+KW7pnNW1wPmSxQ27+BDGzsUpSiJlxIco2iZqjmLviuXL/Q1jWVFhDLi9LmQwJg7qqyqq
c8io9jL6l3flLv4MfirnGqNCHRBOux3VKlI8Cy/murRbDh0BO9zxRjxj+G1sBqk0QXzrGC7snk4k
3YKUIC3otFOJQAyau0DM+ST6VjgVpuiGdmVjsJsrrbLP6Zv8I/0hOdJGxk/ur8yikwEEZ6YBAISB
5QJo01iJWkGBs/5UbA2Qx7201jdGuP7fxDALoEeiL4OVFkFusk0xPa8/V6CKydZK+Quo2r/xABc6
MdfsNFTm5M3Acm3wSeNhxBFSuQqnPLNotRgGCg57VQOfEmO1qmclgtlCiBG8om2P6MK3uurc+8u2
kGiH3V5IYexWStG2HclAqxvYm7C1W2+tqPtee++MD5Rey8akoMWLAVsNeEWhRSdniSYaFgGwBtXA
tR9Vci8LBQ9bFkrtsPInRSWjWUm2lFZlRkpT4QGAF5pvoSxK8HgNf923jNdTTb/pw8zE21yd7BZj
zzsMwgJ3qqYc+gIDT8ucVgj2tafYR/EmBopC5VjO4mm4+ALGJ0ogSfOFFl8g0l77XsU4j9kq2QK8
YUS8YHB5ff9oyxiQpQc9XhIeXNIEjpLg9xC/CB44QKJv921oKcQF0QcGRKGbFy8m9jQYGrB9TZTu
tbcA04oMuza+Z+H4qPkPctM4cim49wUuNORjJiNuRUDHgetBZ9u15QyyBp6kJAAAxarUbd0rKWmU
JnLCrutBJxan4IfSJxdP/HDTjnngoHlPWFtN3T70caFQKcekn77xhFNueZ+ZkbYolyNjrZUjeBrQ
V0oyEDs4XdqivyhrzW0cVCowSoN1MKXQ2gHG6m/u67S0WTN1N0rM4P+/YYpM/FyoASFN9oJZu8jG
kqIJaSPGTmX+cyYTrJ6qId+ANwleufL16nUYJBnrYHvda7ic5Mrxs5IIImePFnM3MzJy7vJRwAjJ
WMXcFOjVARzL8LP9QG99vkKBckCECU7ZmuMqFxfvjyyWVypvIhU0zDhVSMxn5VbLt5q0ETVeam/p
hQqILGIyvOfQtM6oJKqTbvgzrn7yZY9O/ejbhdm9q9kUUivvP6O4TVypSqiqpiCk7Ebnvo0spmgv
PuBGz6Jr0BcClHlhI42D/peTTK3v3Q+/I0Jvd3+T0QG1kYmho6gz38x9k81SzX0R+qaYLZnT0dUs
nkaLSwoMNfhY0FaLot+1LYaqXtRlL8BHVTYY3aZdk7qJegiUJ/N7jKEK7/dXcCnsnSHb/xHH3HbR
kITAc8Mlokj/q0peJa9b+XLh6GlkNw0nKJvNgY1/0eWGnh4wsug3JAdD0xSVZWC3FIFOmSv8TOrh
GJkbzYwegFL9PuQa59Atqoc2WdTbgG1CNHq9mqNnlF0ddOk+ThvbL3d6i/YytICg+hfEnJtsKTxR
AThCqxHoOcSvJNbFK6hqY3mUYmDg87JyS6FwxNza5hiU8hc7diGGMRAMbVTNNGpnMegQyoNVB54T
IIts2Zu24WQ2HHmLZ2xGLM1Ng2DiZic4ioEHrk8DXUJy/m1o1hEILKusWqs+8OqYKJHlKxSvgvKt
qVWO6KXY4FIyExvISYASqp6n+863ay3BHDZb84dVUwtbmB21+qf7S7u0g+Awk1EdRkAkfyUnLnZQ
SoRILlW0Tkj1U6aHNAsPYc6jQF4yyUshTMilDyJmVXgwk8RYB7lEoii3e1DOx6s25WH6FhXC9ami
Vw+dBmy3iqRXudoGGhC/eqrSThozOgmgvzQ0kafWoihd/+KGgAYs/Zsx1ZLRdj3MUukwzECaRjsX
zY0MwD7nTM8GznoRtDHMHYh4CaBQe32mc2XUp7HwgPI1CyK0g90G30RQkMWF88/NAUYPXWAL8FrK
tSDMDwD9voKmiTHe5iDUFTfh36hyIYGxhabNGnNUAJQO6kMeO11FU2+T8bL3S8foUo956y7MOopF
DFOToEeoucIU2333LKqkfDW9zDHb7nR/1Ra350Kn+ecX0gIwwrfGDGjHU3BwplBBo2Rr0KEwAlc1
8KC6L25BOdiBJOM9jTYagOivxelRr2WRijulDgYyTtte/wGSS7nZZuUxjTkOYkE3JP2B3wR2D6lr
loTJytu86NvZIZXrsd6jHzzQPdrxpmgsnCVUcnD7A1/55Y2udYrR/uBnQJXtRXRDayYt260m8A7s
gh+6EsIsHIoLg6bM3QBx5rQVHbsDqLazEpQrHC++JAh1NgxhnOn7wElyrY0yatNoxTivqBwGvuoI
w4cuJKTVP4A25ljD0gYBZAvAN4p7AEwzpi7LYypEmN0yx71e7ET5FgSPU8eJe3lSmKUzCi2W6glS
UmmrYWy1SOTyKeIFmwvgl7lOgqZODAnD4rGVklYowZVSxdk+lVHUVU6miYxVq+LWN/K9Vat7pT4L
AJyJqGX7qnmORXWF8VooaQTSTsl4RYClzAi4ZIC3ALnQTLogX29kk41NpqKBEfUoJxgCYpqAkQrV
Qcp9DE17VBOqWHbbvfkWJmkn0u/7B/2LTobx+xAPXC5wwOjH1hhnqQrNOPg1AN1ZHK4Kb9v3m1LY
VYGAkl/3hFvH9esR+ZmaVkMrUi177cUS0wMOgw5ShZ0m/PYMt41XfXvMgOntpW2n/M6Q1BDkXSiv
0mZj8nh+FihyQOcwgw3QGSkCU8wsWZWKQhtMNaD7hp2EqJ3o/jrBmDk0+AQUY5M0UvijI0gTNYSO
4Ks6keThMe4P0oDJaJOxwnP1oa95L955rW7WEhNwwRmgaqCKmr3qhZMWB73DmxcgbUHOfWdAkLwq
1LLhlI0XTr4pIl+PVnZlbvSYf34hxR/UKrCKEIC0ZCuC2Fj5xHvJMh55JfCF/nI0FCBxNr9jZv5t
RlArebWqVWBbsF6CftsFP43sPQMxTq5ENBHtqp92Q+0/WJ9R9btJfwdh99LKFcHdZ4jxGq3pnKfA
goOYCyFoSQZ4CG1dzPf0MAUDUPKZjz+mTdKe20leTZHx3Bc8N74kCgyP6IdFyQwTzhjv2nnh5JXz
LIM0jG0z2MgY5Ynx4NTKeKiJZUl42KBhB1t6Q1qlTqGpFoD9vzXWqi+Phf428oBPS1UDMHb+EcIE
dyjhClnfloD5y6adeBYVkh+CmVHN147G8KteRRqyCWPnmkrzEni1HXjrRulcH/lgbCeQYMK++edA
Okxan7taUdqa21aY7YwEU6+KCYDAqXqTPDfst3rxPvDa1xbO5JUU5kxmYqE16BFES8CqWHMMcv5C
5rybaAdHDDvPmwZNwPVJ1KSunhoPENum3qIRNN1q1q4yd+f7LnohboGbQ/c3HonozmXz1yPolVDb
BwEd6oDmVBBguYj3/BcycB1aqC2ZQFozQbleAemPeTXIkcsnbdqnPrqAee0ES5Y+d5f+RwZz04xi
knplBRlI7gIwqdIodnHWwX5p2fe1WdrzebIUyPpwOWB8x/W+wFF0hR4ADBrmRzUE/7jPY99ZiI8x
D/aPBMaqPAv4/TSFhHFaiwMAVZYLFii0DaAxQtM46iwuHNqyQdeCplb00VyrowwVFq4DTCh81kJn
VJFMxczt+0u2ZMpgGcDvn7PdIPi9lgFUTyWPHmRIb4b5o3w22tfSR8cnJ2pdXLcLMUxq08jw9DTa
GWn3IQDtSXQPbPDiSTSea16UsJAWQ4yAwUcz7gaYT8bccjnzzSkDbjtL6gdDrV8sXzwmOuovZqSf
JEFcoXcfDSzpwDmvC9t1JZiJlgUwgyRhAY8j+4NdqzLy+zUBBy1RxYrjgJZ0nGfdzjMIAOVmM8W+
Ohm+0IHfdELMOEkbq/9VPGCohPSqiDVNdNm9byVLIQGqBv8VyL46kEtp46RBSODlpfSoGY3vRkoW
H/2hSZ20aiO3SuSGtLGE7gkPM6AUoE6oNVQjDUEERvou7NwRCftT2iehjgZFLctdGSSRLoaODZyC
/FKS7epz2ZMD8lXF9EHAaqbKPrBegzJ8jDyw7nq70CI1ajdR6tvtMBJT++ePWmt2PTBogLJuxkPE
6EyM5QArpeEl2Egj6aQfpojyqi5wfLc8O2fmGpqnByEkMsHGiu7f67PrZVlpFDKCFaUGxXDpmFFD
Bs20QZa6Vuqdku58zKJDTZDWZraKAiIZblb+zMJ141m2WKwszEAckD4GSfnYkMgq3pSWd/KX3jkX
X3nDztmMtZ94eYt+lNTp6ndkzMg4PnRK6wogyQUQ/HuASZJZtam7o9LGj/ctd8HxANOOyYOAH4HD
mwWOyVMhlEGMMCuZmcOedC+jQkGlbiS+hznJhvQ/ymMsLyn6WJh67EkT7tFjRJRe3fjWpmgwABXF
P+GvxAGNB4Z01PC/Hr0Xb4JQCMwhNrC4oCglgvkqKDXRjZ4IGPohyKfWrzl30he+/MbovohP5vZ8
3OvXRlfAmWXaiOEyWo+qbxejJTEKSaA020rQMSUUMzUx1DN7raJqnfSiG3oGNcvpNR29jSc9p9O+
UBSQIkcPTe7mlusr5rf7W77khzHndr6mUaTAbK3rLzT10jeqEG00ctcBnyGgsV82GreQR0eflJHT
brfkirH08/Ij1AYG5VpaUBitnGNcwj7Oc0fFfPgMOBwdPWWK/1hiAG5dy7+nTF/f13EhNpz3HABl
JM7mWsK11KbJwMYEhDCIk06CkZFpWBvT230Zi+uItt25vwvYeDZhkosl+vFLxJ9G9Nk0+tzRMFOV
hrwJDUty8BAAJdyMEwFY8FoXL/Wrf5HIytG2sEaC4eU0a13d56Wz5l/Emu6lIMZfCnKtZL6OQLQO
Wjct/dNgPmGCSac2q6HyHKX2V/dXcCG4AqcVwFPoVZ8B+IxtANySd80X+td7HXz1kKkHsaOFaWxT
mUd3tygLLKyoiINoCeRl16uYi33nNxLaMcxQBcd73zo56EoL69jE4RqTu3h8xYt3LJIQ/xXImGDl
NcmY6sBTh+mvSXCTQH2VxB+Y2GDnLR38pylSbQ/HHGzEf7GqOkqQMx0Fhpgwb5Yssbp6aNEipWZ2
QlSFjoGd8p4SS9BZC68vJHPQcwe+UmbvQMWs1ZEKqGdlWP66E2ZYfF1OtjG1KspLprDKdC/ZZXHp
73S9HJzI7J4CybdewlLWDhK4ETiud+nMY3bunI4FpAqNI9c7XBtdYJVJD6x8jR4L62xWT4PPiywX
txXlujmZhb/Q8HYtpWwMvWsVCQgitT/2GEiYD4atdelW8nX83azk0LJrQd1q7VPcTO79vV1edrDp
zP0X8KZsU2k2KZkx9AYeCn6CyW+e3NnlGCaOWAR4PPZlR+H6GqrGmWdH7WCi52nIaKPj4dq1hbAX
J4wWvv9Ni+sODBtyTDpy4OyrUkyHPAm1GUfWJiSODDKNH3HLY7leOr/YWVMC4eA87I85v6aV1W3e
z6SjdWlPAH84YlRYxAvbaFW26bFOn+6rtSQQSS7Y0Uzjipv8eqMtHWTFXYd+vDrSD2n/LolofT6o
U7XVw3hzX9b88aznvZTFGNVk6d4wzY1WdTAPhpU9wfFH1eBciou2i7mQwDLi/Y9X83zTXERDuWom
vW/hzEZWWbggrImcIDA9F5xwmOQ69sNaE9vRUQYpc/RksiSSZV61H81UX91XeOmqmVuiMD8AVSfs
5/WXKHk16h36sPfqVICHtwPg0Acxttv58UATJWgwwsA69WHTcZzE0mWKMBAEWOiFNfAKuRac+WWg
Rh5WulPOFRL2lnqo28g2/wLzjPyXBTHITeg3kyAKOa4H1YOCgAwhyDHVeI06QWk3o8970C+qhEyb
DqihCJZIxt+PHS6BusDNpimA91bNIVYw+jc+4/nP8T5LJx3JUkCR5vFU8PrXi6cWqtfXc8NCWj2j
SZ+EmPIlp+Nf+BMMblLA/AvLQK75WgpaykEU26HGmiNKP+C58NoogbGeLN8j961waeUQIyKXLX9B
8pgjLueB5WsmCqzR7M5LYuTHIfmpBZzn9uKyXYhhTvc4ZV2YmKB4RAVXDs9+rxGLV3VfVGWuAqD4
g0EDbOcRgP5x84VftKqnwCts0O4ZmCsXpJ/3l2xRlz9y2PciinVZZWa4/sK6mgdZBxj+UcQc77Dk
DvFkRxl3hkhqLEsdHFMR4yKBO5QUUCWltgdju6/H8nr9ETH//MIV9qOQCU0GEGbhrTLPtFX5EY2E
4l+AyPEw+COGsWUT8V8lV9AkAdJCem2tTeX9vq8Jb7EYVzpUVZv76CjbS4FJhLKkvmhwnObypv/R
gjn3HpApglrO1NiSAS7HKrBNNJuBN/5vHIyF4AZXro6WR3bGB9Dnlm94ENSqsavIn0qM/hjzfH/B
lrYe5UHwm4HREWmPeUEvtj7Xg8yPe0CicBwt46PWBIJ2H3uIGo4Zz8vC3uoz6xgevxaQ0qy7DPVi
9CYLBIE6IsPkKew+0V+fY9JIIHyvBt+Rhn8csgAHDtZ7AOfw/w0eoYyB8jB6HM54QIvH+DiZNRF9
YPnleNNX7/90GdG4hp6bL8pKJI8Yu4uHEoQjGfACdYZBl+cx3xf9hw+urPtibiMFUDojVTHzC0vY
LcZ5Cok8TXKFBJW8Ch0Yt1M4Ek04Z+h2pyAE4TzaIDDDRmWZRcTcSC2rAmKkB7+HLtqmmLpVV+CC
G0F7pFPcIJiyPK7vq7YQj8101WByBC2rgewxc640pR/7NEAqHtS1UbjSlLPSexEBuI0KoMCJ1ZgM
YU7jadyL3j8+05CNxCNONZYWXdvXpyBMRGSBElRqcLluCgU00f2A1lHeGbg9bNdiGD+r5mGjmsX8
GC1rEqVug5y/Lj3rpnt/LWdHen3WruUwjlbXSimb0IS9N/vUiUvAb/tDrzR0GE+9yBsTeusPZ2Hz
tEMYDGIHJuKSyimKhD5AxJU9JMmDVDdgQeAw0LEvPXMmn9Nm9gMFXcuY3sQEJ1rdmrkVef1pJ9LS
J+0xcDFP1/UpRoo9Davz/fX7GotxsYA34phz1oiTmOklxPU0R+MNOWBocVrRykG7xjdx78jvxwrp
2YrQvUGd19A99yR1Y3vLS1+wtZSbL2FWN89zIIBHoT8dTMP+MH/HT5Y7eOTZKHb09dx8jnsaoHXx
vv5cqcytYCVt06UFpNr+s5uSeq2hi092AoDgzwTADrkj2So4GJxtZosUN9oy57BLtKoUTaz7+Iqw
vRE2OobmYI4NHTqii2/541DS8L351pzL0aeYWRC61mlSv0dHHQOsaRX9uL8QjCu8+R7mwAaREcR1
jXVIkagmK9E11wUtKCck/nqu3zM35rzWqNrUXQUxnR1PNNuIW6Ml/vFbRD47h7y0RHvoUYN4lumw
mdA9aXyEq/Qgvx1Fd/VufVakWnmE0u4sur19fBddhT7x6stsD82/1wIjXOYSCbL5jCViFE8cZ6I/
nGIC/0iBe3PAybPx6T8lJbuRxFhf6PVpXoyQNLn2cIqQt4sfGxq7nGVnb5wbOYy1GepghqhHDKe2
Ih/dpkBvah2SbWyveRMZuIvHGJIy1m2hJVBJP8TH9tgepqO1KmqSrHhnl8W93WjFGFOl66kVVdCq
sAXUWwwRQ3c6MsgbySDZ+WUI1mixKrZpSlEFKk1S6psopBWGSAOdwLmI2ALQvz8G1QcNbNQzMOH6
YrUyZANkA5Zd7A/mRFHOf5YCEh8ejZHk7tlc08mpN9GuOvRrzp3+/9wZf2QzMZk+tXhUl1iIobLN
z6HdVY+VSsuKNo5+yp80twEqGinD+y5jWSzmACGMQJ0CyddrlYdYVzoQUvenOMbE0iejeYl+pb6y
UsBp32EGCahbfyoAUmnFhtdEwYSH/1rtC9GMxmaRhZU6zteWdRRaakZkGG1L240FpnRx9FyWpc9U
48geIbK/VlPzQX42dNjZxm23EyZFknKT2r/uLyZPCHPtq5bXYCwhFJK33sraJeRd+pZyFFk+m2gN
/I8mzGUft3muT7P3lfsT7rYBsMEHdVw16XYc90b+avqc63U+7Dfu/kIg40knqwqUvIVWpVP8UrYS
5bHNc1VSrzenmSy5wuzO/qQRu3xGrAkfOjjDKuacb5Yd6N8W92ftGBfqFUqNMiYEmSsN7foOulza
jL7LZBuhfft7T0zHpPdtgm2c/rdMAEEwPgn9NSazXyl6bZDQh8yeGi31zugVD95j5zH5zIpdaifO
y32B84G93a4/8pjtGgMx9roA8hrtF8rlr8UHJsl2r1ZTcgT9P67jjyRm2wI0r8ZZFwyntx8+CtH0
UbXfk3W/rte8qUw8nZh9s7IwCszIQoCnfQ9zIAU9WnMQyP+PEf7Rhr3zRDVXmzlgEM/xa9CQjIh2
u/NtgeMklu9xJEn+YxCMx02jSm6mEcsWnt/gZN0NBvuMtkx2f+UpAJ3B6MPZ8FgWhFEUQRPg5fPV
CjTT+sGg39NTRNb37W350rwQw+jTKb7aRCbEtBoYhqmWuALJV/rpe/yrcdK3WiD6HnRDpFsJ2zNa
Kssdb/LiYtx78QXMRdJNlexXGr4gwvOHDqQGM4dJPn3egs7+++ZoXchh3vxR5BeNWRbzggY0cr1H
5B4378lTv+ZBbTgasdeVZMaR4tWQlDv+MaDP3jregFyc45t4Upj7asqTKGorSFFegpNOI7u0RXc6
n+8byLIH/LNsrAdEW2hUTDHEeL+Vh5wAVPzbckzbc4WnxCkOWx5987JjuhDIuMA8LWpfTyGwcw3y
kB+atb9StseRWJudtLmvHW8NGScoxmIvtT5kWWuw1sD4NGevvvGGJvGkMA5QC0GBZcxHWT4ILbGI
T8QX42CSnGPi8+9hLRxtaxj+AnaDOUNyfRP3UlMr6hiPp0bsFPBuepXdhWG+6ore4oQVi692VPzR
noN6ODjDZp0vcrmZNnWJiNEbJ4P4u+6xeADZe2SrxFhJTu4Rj+huQHYmBj5//NUD50I22+2NoYqq
qiaQ7SYPwYMXPHZO+120bNPxcue+gSya/6Us5pRp+hjWVgFZbb5Tp4/EI0loj+0mcUzPjsVHHajW
eFPbMk6fuvofhTPRR+OhMg3WbDiSs3fY2Tpo0308yef4Csggx3riyFsKFi+VZY7eKEZJp6aQV9nI
kr+FjkDFjfaU7RIP+ah3n55zj/LI2BbjurnVBP0m4OvEG+ralEpzhhIk8xX0fHBDzMCkzzoJOyrb
Ly9n3gifxUjhUhoTKYQYKY+0IaRhNtKxiGm98pHQ2E4jLySZF+vmNF6oxdysVe5Hsa5nw8lWJrty
ZCKT9frsOfqR9wxnkaxfUeqlTszBL0Swg4Y1dHrL9gaJj+qnktom6RyegfB0Yk59rIcBvAwE7dyA
dt+NXbhpPta2R4Fhp/eNcclpXujEkuxi5jzmVYwQ5X/zS1LvBdvmrhtPBnO4xzpIwqSHjG89fdvF
xw/FdgM7fNWctCD0Bcmwb/eV+sod3zEKlTnRk2/qSdvBneweaho7P36UZHNwP5TAOal2NDrtHnR0
L769psOBrjOk1ja/eHO7eQdOZY65BxC44knzLh4KN/apvwHenK7Xvvtr3fFIAxcj5suNZO7YqqyU
qp2g8kjfDJI86LZOZl4/w+ZB43jbyTgSzUsasSwhKSZ2eFRtf2OSXwrn5mP7U/912AwdHIhz1Upl
mVvMvkiSspJwrtXP5iGRnfa9+4FW9D0eoM8K0Z21/VI/vNB+h+QTKOl6gnXlpRMXr/qLj2CcSzNU
Ug7ed1iufaj2waPkuu1nSbrN83ck23wewm8xKNMv5DEeJs67qjYiyCvsb29AvtHy55HSJ55e86+5
OR5ob0Qh2gL3G7u26TjWSpFqWFsEFk6/CQjlldSXrf9CBrN0RRyFY46u+JOdfqaG060tR7f30uu2
JbtDjpwMBwm/mHEHzPa/SjFrZzVWNYghBIofHwaRt7Hv+uT5+XkiqKpu09XD5hTYJSiVtuXLef2U
/3haBw59pc5w7hyfvq7pyxN8H8+QZz3vrTXjy5PYBLCgVHFpgJF3N27ue7rlO+mP1l/38EWAmAS5
ZqQFfj0acP2V+rLdrp+enjgR7+KJvxDCOPC0MySMO4QQOy2paoPDjsIq72sy+yd2nQwRNP0gggZl
CxvpipWE3hN9gukHz0os2UUsc666pbALE7OBAEenG2J3JiTx87hQoyEdT1kfuZjtRbUSg0R0gKN5
Nx5LTfrlvAwMdJ8pNDAglq23g+GtrXUU+U6HH4q+ConRkPT3M4ARruWoj6sVdV7E7+fqI/5Jq1Xk
nDFUERPZnV+cfftqCb9Z1IvvYDaubYKuLTvUiN/sQ05K8hBvUWBTCT5FEClZ0Yq8YLQT/pyTQ0+G
ztlxtlW6XXUdzasYtYfeeMSe7C3YY0Z4p3pNf8IMKaB6t90e7HkRKXbhvnEshNdAFK/Rh8XZ7FuT
vRbLXIeeXnVTr0GsRjxsgLnZo9XI4V2FXzPMrhcYYnAy4LSRpNfYHgkJXAKK1479SV9hHKe39TPH
ItnLZKMcYBHrR4QJXbZKi31m2Tq4PD/9n5lPqpqo5aH7FvEGJy24g+vvYbyN0EwNxkNEeMrEltbZ
uVFaG6nV+nMhFioo8yVjyEklleXJGjsTVLWKERKxb+WQeGqORpJeTTOeC2QHLuE4zF+lA06Poz2P
gsPZv3BSqRHJHpgNkIsnOREsMPVW6Jg9yg+1fTxn9LU7vESH/Pt9h3J7yV0LZcIvUQGHhWdIqAGs
ytfa9R5eEAqt78tYsrKvsdkYqTMfeqZiYslmL6BFZray0YmdwNZWGHNHeGa2ENzp/xrP/W85zDlO
0iasywJyWtq44bfJrb5Lx3RTkIbyEkPqbcxzLYvZLCkejcjKIavfZvsTxkI/lEBMGDY4RJXNG9zH
ducTDfzKLWbPNra+lVN7dPLnzcoP7OhzclR3ok64t5zIs42nfj8SgK9tTMY92Nwcxe2tcf2xzCa3
Q6wmI+wblpVsSudwMm3DkTc62RYrj3Lc6ZJFXe4241MqcdIS4Ibn3X7DCT98ZpSr0Ly6rEO5lMEE
117UTpagYvXnfQbZKEryzdqgwkHYFvSf5zavV4+5EUtjLIO+/1q9nDw0O891QA3HCaKXLoBLjZhA
0Cv1HFBFCCkP0grIAh6KYfkMAkCEViDg6FigV+L3TQ+eohnQ8eD/dj7P9e7b35zyPxKYZWrrQRjj
ARIMnPLILtYmSW3f5rrJ2Vhv9/6PHGalxlY3KmGGymjuw1tC33Limu/dt9TlBuezv7gniYmVfS/Q
qiH50ughXEV2SjOCZ3C/5j6Clw/oH52YC6kWxUixMMr8VDvRqSQIxnuivugEkJto5dvljsc2sZB5
mo36vxLZtOVYpoUWWVjFb/VTSX9P9Jg++DYnvFi8aC+lMB45CtS4s3RUwjQyuT8CW3z39hIFbMyw
Y85FxtWI8cihngWiN+9WSlrHRUX211Gw2/Xfrdw8DAnh2szbyDhTXRT8WpO/YCYf/hPu54IAcY30
K+GhwhZeh9ikC1GMK+2zwShj6UsUshVuToPv6OdyhaO/odkqrWnJuamXr9ALiYxjrXXwtxcZKorR
ZrB/xIdhOwFm57tPvOB/0R9dCGK8heHVWa3GyO6WzhsYQkhsg8lrc98jzZ7g5vxeyGA9hdBVYWTF
A+rlbwlOU7LlLBdPCcZBaDlA/V6BrOou2UzrjsQbVIZ4xHxfnb331GCcg6RMWiu0WKrsrXJH+hG8
HGoKwByiDaBqtiKVNpi5aOekAEZO/qW+G1Qnqmu6zrve4h+1PT7Gm6226Xl4jlm/O1/GPqtbSQ/y
soS1HNTthIf1POiDN9Ty60l7TwjjQ6yhaZtUhZBvXUYOHx5NELNomJtwMB891R6oSALnuH0mlhOu
xJOd/U5W3EPP2ekvR3cRm1dG6CWx9eXILCIeDqiboUNv/Z5ujq80B0en/syLzBdEzhMH0FY7M8/d
8j4mQ41xCm1/eptcJLibdW3nL5yoY8nDzDUz/IcR1zMDFnb4Qi8DpEahN8NYMNfJRTrB7Xa4C6iw
SpyAnD366/6JZKm25jcOuN8gDEB7zJK76fWOM1UYM9jyrtZpiifnwc2BqkRA6oPwwpVoamcr8zlt
iPh8X/QX7yxjR1eiGVUFOQu1TIUzLc9oUka6a9iDC2b+grfgUNgfANgS4VgS/COwDdq78qP6MtDP
+GU4qjtK8/3W2vwfaV/W27aydPuLBFAcRPK1OWq0ZSm27BcisWOK8zz++rta3z7bdIdRX5yDIEDy
wlJ1V1XXuIpKnm/HjvrI8Z5mapjfT4Z5VkSlLQFqjpNBn7exROgAjMCDYnUhaeyTdrAO3kFZ80rO
Mx0XlCpAWDA2iIHIW8Vxcv+pUmHLQwALJoEitpagXmPH2ECKdjDVQAF1c8K+yc3CBGYgIjaeNMy4
Pd+oM6+NkiDQLj3kyAVHdPaitXThxVv9JifqW+pkLxlP3OkdszKwwngcFiajSw+9+9/FPfLytvFk
sKuQEit3GgdxA1E2iw1943hxg0jfsD+oAU6FYnPjIVcYw13GTd9GKkobCLnUrW1LtrhRSfhQbgMj
PCyc3LLcI9rJiWW8DgT7Rch9kZ/Vborn8s8PYNmFU5lda1pbqRF7LuE5JA622e6zjhwAVQvUFYL6
33/h82FiD+3SSGZhlyI7Md2Pq+SaSxrSoOIGU8S2jcTe4RFVTf/9PnszxY/VN0qMRlcYqQkDyUOJ
xe3RCxLjCRztApuaJJ8Ehn9O0T49Go+BZS3eQsM3RZ8kJDRc9bx85Nbmqeiwlz1lm9FfZRCGVG7L
4ax7fb9JgXD1JkeFTPKivW7LUA0MT0swvCEkpSPnuex6HVreOSfC+xGMw4gJ9qD1C5y9dAr1dYyR
/5Zg1VdrN4oZK7b3qmILHWliI0c3qY72chtASAKMWru+/0tmDf30OBjVbkRJjZtGReWkMBc7uTcy
yVEzV46MlSn0m314NYbhoPrroN7GhugIxvBLlUzOr5jxAL9JCONllrUICIKlDgcFkmiuTAwV7Dxs
2mqN1RYexJFXXpl7s6dcMx5nmpRyqAGaAQqXwSN6eW2dgfCYmvG6vjHFeJ0p8rWICsCUJBIg6YjL
HMBhVrCuVANLMpMkIvL4uNRfGv0jbO1V8BTUZ0Ewi/qYKA1nu8JM7vy7DjI2LsIouhKnVNvHjOwT
MjbGW3AI1/t0Ha7LD99SrVw1g7XqNGZKXrHI2LS0xDB5+Y2Z7n/8EOw4ASgHwF+VPyYEvVrwlMAf
zs/95U3bv6F2rv+MnYNJ4A1TjzgweUnAuYztN5qMzudeqLZCCJrCUYFhWZ72gStb2IPzeDVrt8P1
YFrKM3jpgjmX+BtdRs0X3fCPWKsAXlUrd6G76klN34CRKgOavrTROdmiSdJOIqOIt1pqSxopxR/S
crMIiZS8YIDoWtl6R4Rxq+YVKep9Ha3z0vBP9zVwVgEpTAlG2HQKk/v9wa2EFSorRTCcJVs2Foa+
OfCyNDwKjDaMedUu+u46nBM3NHUjPhj6x30e5p5xFKf+5YER8SXAMHShpDwQ6ZfROzwxmjUa/34f
XUffz8gLhUysB3Bgjjik/KEmr4b36z4PN0eOeZ4AC0FLh4D9AOYjY4/jArUZBALDudqIjmwpoPQE
6GLj9wrtce2R63rMXMs3eozlHeVakcUF6Oknmo1HdrxCV+hq7TudrTuAmLYFtEOc73M5YxkBw4XN
TWjxQKjBDt1ES+C+lwMKeY14TBcYMtIPcrkkTe2mPvLrOWfh0czFfSPHiF5R+ZlehyAnQQ0Xmkrk
9NhomhEuM6InL57eGHnwfJ/FuZTaN6KMNPrLYnVFy8eA5ofsuXGafYLQ8L3aST8C9BzeJ0btCCs0
k/O82dxJdDAs6kSPIxRor355jrKrWQ5X938jwUT3cjOI2AkJEkmD3SflrzBe/xcEsBcSo3uQfcjG
d+3S1azyGyoTWgRHVM2wvsa8T4Gqzh+nNKHAvALaIlCDwBuGs49m9avZcVSX93l6SZNLiCWtkXoJ
DARAhRUjU8dDG6g8hZ3T1+WECcY+VIsm91V6D0oMHJwmJaKHcaBUN3RAoVQcr2FmzBhIShNqjHWI
l7EajMlyOG+3+1vJHTnvc/x+zgyyJu+71tpFO/KKkU4jtTancp8a6f4DOWPyv90c8zp5C7HPwgA/
QxhbUknvHRZP1wUvDpzVogmzjJmoYgUj1bEwnNEtjYqg39n9SuQIyW1d3D0hZMxCqAdYsYcYBG10
e7t7CrBS0Sf6oSfh6elJqhAP7VKyIacgJcnD6VN7+tzq54/t4Nw/0bks/ORm/8AxVRd11PYJpFU4
Xh/7dfLUPizd5MNHkpyHmTp7rlh1QHvfgCh5O5KJYshB0giiiNvzypRo0se14Tpasw/KhASj2kqo
BatkAAm4VCjK7x/G9Tm1z/0WuT/HsXadmaOTtkYIf9LXnx8cWz+r+RPqjOZfAU+ihCruVC8vSvGS
plZSce5rlkGcHhKA6PjBOsXvxqUfQqUP2mA8Y4vJuxgGZqP3ht9XH00h1NYywj4ID6vf7wvJLF/Y
db1CbmJFAbi+E5ULNHqNQTSey2LvRYeyflwCXPd/o8Ew1mT1MsiqeDyH2q+saYkubhY+b38zjxFG
6WQ99mJBD2G6ytaQpHWbL60C7v99VmZ9N6yzAJgLsP6A7CV+P69RzcdmOWbjrYq21ZwFWZKF4dkp
WTiZCZRDDsG5xBVddXvDh0MkxeKmIjExqFqfj/B49y3SOFhXuivP4vOvh+xok8LcqSV5LZ+Sx5IM
61NquMf7HM9ldr79AOZ9kJW+LpK4Gs/bSx8QH57c42Dtf+W2nRhPgVGYVmPmhZH+tDaiWaJCFTyg
KMvL6dyK4n8Y1ck5MIJayaO/kgBneX5+3ue7t4r8GjLDJ87CcDDU5z8eRIyiReYVbbUhwgKO+s/q
5oQ6I8LauFhgp0w5ntv8KPunDnuShPyHp+SW2MKp9ZYW59Tpqd5jlxHnXtC9QajB7hatG4P19qDb
v6p9T9a/A8OxQuSgSyM7nY4L88h7iaVZVfpilkUUU5qoSUSd0t5eNOct/HiTf4zwp9bEsVqrM183
P0+bzv3cCMR4bS3rR0h4xZDZ9+QGEI2ljQB8ZMxtLXf+NRlSnLf4O1s8lfL5/vnyvk+PYPJe+UEn
L/IWahwmb5H2Y8UDG5z7vigAb5ougQFkGuNKl6FYLft6NZ7VVXaRruVFz/r/wnIDw4oiy6GZD6iN
31noonYci6swnr0iIPqwbpTnbDDvH9NcVgXn/0WE8jk5p1HWqzBURmidYq8MIcYgZnk6vySi6T/W
VmejG7NJiHrmkKVWlJV+CoiNsr6sA4eJUXZBDRMxa/DWd2G/CI1OR/+34ft6nQFRVS48MiZV4BmJ
BGO8XQ26vg/CpRqTukfnJmmCPLaLOMOS5/u/S5z5XQCqxLZsupQLI97M7wpWXZmihWIJ678QjSta
uOxin+zPIyoJix8ouYZko28AhbJx3cZ9du+Tn4s30QSMZXfA0sU/WPgySQuSxA/H5dm87GUj2GCV
grX5PHJs3VzjwZQMu1Ko0KJSU0ZwWVgJQU9P8oaVyK/8Thtqw5hb/kaHURJPia9D0oHOwoU/t3/4
1QNSyBgdC8aNnI4u7w2Ze7zRKoI2DvqgYdMBozKS7xdDWyjLM9pGM3J9WDswpjvBtjYc3fzzuVAh
HZiBRF84dqUJjNpo2GdRBA0GLk27IsPrzhh57s6Mc/+dBGPBPG1I+66M4dxvxi2xdpvDaeCI+4wg
fKfBPP1+EYwLwKljbhSV4cJYk91gWpyjmhHq70QYnRIDuBdXIHOftwsivx7QQmCYaHHhvWrcA2Oe
8IWAJkV4oUhK7yXMqaRPvMl83qUzT7Y31FnelPTSq+NwOa2eOMaY8/0bgxNbrGNn2zhm+H6FUDIl
Ru2cOPaFyv93hfx2FTd5mFAIpBYdAS0oKIROwgfG1XXdD95N8PigRnZCxc/HpGgVXET0U/8J1DLe
7MdMqfU7G5TNCYFriDUdI7qCEX8rbubgqDaQqoEceeg+M8303ykxeq6EGfLRMiiND/tLY1wub1fD
fciMXw97O8cwT49pywd4aRyfnKczbAZZyP2yUqjyLy9vjy0hO8sKyQ+OZv5pnilzmIIA4Ctdqsco
TBqu6sArM4yEoBkDhhkBBhlf74vcDNjadyKM0ox6IS6qZXqzlD+eHgC01btPT/6+qc2n3TEaTT0n
PlpXkdXlUOawJzOp/mtL5+BFUL7umif0vOyqglztwKldDUe6fNqRFytbYzz3B/pM1ddPf8SslWZI
XH2YKZd9O4Nbt8xEXvMFcJxKAQf9rP143uPFsNfkUTV2pfViHQye0P7FEP57r+yoaaVVun9NQa4o
UN1AKW57NP8rU/VFgtHAXl5hso0mxs2CRJnxAli8kLdWdqas/f3YGOXTaywD7rCU9Lw3bdv+LT46
jzuLjnmFxnPC6Vbh3hHz3PbqVVWHHIeGnN5oP9hLXJJTuqm7Q80mRwcoH2PozzDsO3/M69sKcdnl
qKGcx21jG/r5vvz/xUp+3RHz7iptihWxSQWOLtFhj6njM0qz5OrmB5Pbh/JnNPudFcaUROitC8UM
p2fue6BBhDaGHgxinQJ0mOkm7wGYKYR/J8cYlSyUK0+QIRnbbULMPa5rvX5sDed37T7Bu9xgwFjH
gAfvYfuLv/TvkbLDNYNQYRZpATYT31DeNhBFDY1ilcsRxvkH9IsM4zdn2LmqYEwbmdCMCOvVg+l2
vMYGkX7jT1fgiwbzSA/JEJT6lcq7ebErA92syLWsTGJZxil3MLHJCzp4TDEmQxmuXTQUxXBe/VAQ
ZdrrxPgtmw6G4F4x8so7Qu5VMcZDWi1rNVMgImkGYDJ/X102mK4/HjlXNdNK+E0U2e0Gy6uU+z6l
AzGEzUAdAJ2xjmVYrr7GsmRenor3niqM0QjVYtSFOMdbkqBB9/aWnH+Td+THEVMZrm+aHxw78mef
03cOGTuiX2U5WPmgGJG92e0rG2/Kg8khwnms2Q1ZoYdUbJNDOi4metjOZI2cP0Z6MTu81SyeHs/k
XL+zxNiPKqrEbqmBpS3IvYHe1X4ivz3bsVL0B0KvP48fHwJnLdesuRdFDQvKBOzMuQWvEy8AQ1QV
/HtIitqQ7AIo1ftHOK/Rk+8zL1jeDamH/ay0deIZEwxvbw9rJPRkgmYgDUfpujyNphr7hwmZEGRE
sQdqwBKJf6gYyl9AKaOBvWFrVvt6nzOqqvfoMAIYK1jL0zY4OMWVze7l/sdnMmCQhQkXzNOVr8pE
xaJMemwA8MQo9G65kYyNqz92hOsKzhrBCTFG8Bp1qFZY3ITydYy0AYqEvMTEvD36osC2EfiNv8jU
EOzkyCE9wKz/puYIyQNAivBs36xlmNBi3qlWGtAE6eFidDt8yF1UO6/k+MFzLjh6c8vZTfSmjv9z
/dIJgO3O/eufqX58u/6bvZ183a+Etomps/y8/b+O1rfItc+Fs3aQiN+NRmdah0NiJraLKI/H2ky+
8Tt15pVStaGuRR0nuEXT8riOl5hCLzH8bteGUf0CXKL74Z5+CFvuSBDVmTs6xY4oJnGJreU0OAob
I/Zea1JiAaZoXyWO0eMI/M0ST45XTxdp5ANn+aw+aGsFWVOODM777RMZZIxDuRwXUZ3REzRRy4CX
+4DYqkYhozONzeDy6hY8c3GTpwlDZQt0akBU05SZinEG+/+MrGkpxsb8r7IAE94Ya6HoqaymGoWH
wJSAaiydV2NzPNYc8zofL36RYccTS2xKyCN6hEFPBIhCB8RCzMCLKicin8GS+SbtLL5+pxf/CN3W
FCzF9TYPxeVH+4YxJu4LP+veTnhi3Ns+WGbLpKBikZDngtQ7W9nBq1CRDgbAkxVdNtywm37yjkqx
yecBULiAD8VtIStFzIr02/KkY7siXS5932jNR8YT7hizURVikyghtArRDw1+fgPNDM6LZbif2yMP
UWA+CTahxjgWghaOouKBMRO1gr2dWGgdWj9VpvO6sTYDObkIT7Yf91mc93ORlQJYiaxhpz3ztoht
v6rzJaJXCbiJD/npvEZ8Iq6JhetzMRb8+dndMn4csvOPzRdZRm7yq7TINfFG9nJ5wDJibCGw4NQb
yoE69cYn+nhz9JkLLsoyvKLiTP2CKsgXdSZGCtDEH4tljbKYUe/C89t+TXoD9M+HAw+d6y/u4hct
RoZCbK/ylRG0ts/b2qSdYQGxn5wapQbYTguO9/2j/YvQfhFkxKjw5UIoafBMI06YTcCwrkwH+a/j
6sChxZUexjWVEr3CAhn6qgvOBTN9e+oMe/aLYx1+WvCGLdPlcEe/+Kf2f3HHvEOt1oZhT71vvOQk
gcigdcP5WTpclP+/+AxflBiHtUgErJ5bwLQ91+8qkaAdayd1R3j6L9gTMhqyDdgoDnt/eWa/iDJP
kXqt/kmmVlZtbq/oUNF2xMGsa2MYH8r66Jsfz7yOMI46oM6OM5+8tXV9lVud+rKlaV4EY6+6D+ij
rszeaTj8/eVZ/w9/KrtbVbyqSZLQWOZNf/DMNZGRczduETWv0UyiR/V3SVEFxsTUQQeogysNPk3b
fKAu+lPi2MH2DUlOZGDA325nuUvDOLkmcNbcwDzGP3gptPns4L+mRmUn62HS1aRU6QMJ3bfPAUE+
howb5A+4Zzv/Fn+dLWNp2oW6kNSSCiyQCTBomboIsLUD58VY8cgw9kWTfKkrO5DRIqJfMX12GQzp
PSG1GQf4Hx19xcBaRdaphp+xfnec3etmg7joZFlkfbU98/39BQMsF/TD6sdsZ3x4CJo3GwvhM3bQ
c8L1+QTV5AIYE7VYeVXo0ey2CVi9fI0p5wXchiPHLM2HaF9nz5ilAFOYvUeTDhlGbo3Fm2AbR5cH
6kUtzj2JZiySukwzzach9LguTI9QrNP7bMwnbCaHxZif1hdrserBRkSQPDxe0KtCsfOeMGVGaqjq
wTKCR0BLno5bLkrtfJrj3yNky7Jhrni6QCPEPahWhm4J78bGrzk+HcesY0P3d2MXaVUUYgsjtASZ
RPhY8FadluyQkC2NE0AheCUcjknHatjvBLOhR+QbIuW2fSvoKDYcrKfHFRCcRPK5wW6FU+jcv0We
yN/ig4k9b/Ie7Uy3WuBq43VkeYQdUDrEG+b/SIixOPVVyIeahtWZ473iucd2A/fEFYz7vqLKFmlD
oY80qYdgPG9zYKDoB+E1OMXG8eYb3ufoFo/fUbEbpt3k6NqF6AfKgkrH836/xJOPxTrEiYzURW34
ZLjSq8oTEM47dXsyJyQjReuWeopD3F7R0mtUpn8+8szTfa8JS16+y6APJPs6SsDW3gxcpD4ekstn
8YLlGggpuPC3t6U49w6RsSLXWurSZQqJ723zbYu5yf3Def0U7H+f44cn9CYNEvn9mxCjQos5kMT0
3fYUnQbX5Z0sxxVW2SRdWCE6Tanqleb28vZgnx+xsweP/umormOD4wzz1O4WCUwucpCCMS4o2wvX
zq/EcyXLoNi0nMvkvAJsnk4JQuyTplVuQOG2przXcjLGpsDTbR4ZJkYKG++fgottKy4K6brxRIyf
G9TwoXs8F5SjA7fQeHJ0o/8fQ7Ldo9LtPQIw7r5i8xxPNhHX1sjyVCto2eCYSCg9rEO73r7D6tNB
B16vN8disdm4Ps6VUeshCcHmN0bFPzi88K6GcTaUPJH8gtbQTbRv0+cE7eOORW8GlbdnDjH6sTvK
zCbirn3c4bUEL0AieDsjb+rtdrcyxzb5xUsn/SVz9a8PwELBDrkeSDmV7SYxBYWkKzdU3LjfxfpJ
KiDrheyk9dOAgTfeqnHOmbLJubSNlkK7BJvb7lN8LQ+fHK2dmW+e5hz+WHrZNEEcptRtTn7u0X0e
Gc7a3suODVF88h2Un8nBwiBTRz7RYMWRfi5xxgfJF+h9Litwl1kXlCvOb7a5lffLwuyMMbe85qg9
GMOLeXQ/T/E+zGC2tv+jdWTTdnUTrkYNnRK0/gNQZnjJaPeI8YfD61/SrP/K0G1Ob2JLylRa9pVM
bzL4iTYy1RAv6FrjUOGJCxMEIaoLMyywRe9PZuTuimTngdczzrGJEhO4DFdVC4QIbSuIyoON6rg8
K8WL+9nldstUDxW/AoXLPjkIxhvJkZMCILizWHOMCMcgsi1wjSTXzYoCiXQGNl/sfBI5T87joXxC
5Z5Divrvd+zVLS0wuX4/aqKuw3NyNs1uRUb0kJOfyGReOU42RwBkJmcSL4qmDkZwhGAyA6wtghWZ
U9PhZNcAovzda5MWQq7FA5KknQFgG/MBG1t98hvxNMEU6SG8tSFUWMvGA4mfD1kkbGTTFQzRaTfB
mZyh6C891admWHef7cg6r8zfSNRYqNrTbAm/p3jWPZ3QY7TJ6xfXKkxxZwrZ9q7+I/p1Xyjmg74J
AUaXaoxGxJgwh6RjCsh++4WgD1XHmJDXA2plx+1/J4UTgswTnUpqpDUePUGyXjueja4p4lnD032+
ZtVqQoUK6eSetDxJ+yygbv1oAieOZ7JnkxqTz7N+vB/HV72gqrQ6Bk5MbiUBjiHlyRrro2OjxD/B
wmULlC7aHP8b4fjOKA33hMwQj6fZLMMXT6yT3o2Sdu1odvy6+4WrUbEHersClotuLl8rXiVu1oRP
iDHPriLoqSj+HzFzH9vCu2vy+Jk1dxMSjJseryJdD25ZTtlYPr0gy48Aleee38LeP4zqhIr8XdCa
uK2SQMKpxeYb1vn87gF/RQDPgxYeP7fuCzWXGGMNCr8bBkkDMfNyKXcJ2XaGjM5QW34VtIdi7VaN
zaFIf/499ljzUKQiYPRAMQJSfuYQZIcJCiausuZJO++6GLuAfV9wpWlDL4roGNRBS5SjoOS8Q7EE
Yam+7jD4+nyfO54QMkZigeaRNKupFsslWUSYPeGWnHjnxxgKKdDzVqdCmK6Dfb/VjR79w5/UuQvx
lyPy8zmaL2FkXfVm7FeFroPa8x55fRwhMGTNJwBg4Q8qTxRhAWsFGiKgJH3/KOdLtBPSzIscidEi
HHQISgmYUgpUqiJP2hn6KX/wyfD43tntZtxIez+CC+2696nPTytMqLPmJCqyNqH9qtu35HdlK5DQ
o2Y982Az5hMZEzqMTZHHwRezEQcsEQ+Q9oekw/KdjXsKeMnY+QTNhBJjVwKx1rtQprK5p+2BQJKP
oAsb1NVcHu7LfMfWhBZjVuREShThCh+gNC+NhTIXHuaaYBUFxuRQAuLcFUfr/vDeMx8LYKnpN9H6
+MuH47Z+QiEErQPYOM+1z5yXmvXklZXiLeoB1BpjXxDfWjpYcMPRu/lS1uQAGUOigqGmoJnzZhPv
sPbgU9oqCfGxsO+AHTqfXB+KxxRjVfrGE4RABb3b9HRs6m+Lx/u3xPMLWS9+jCTKFEjYD4mFJFdL
3tHiq5EDUr1HVzrfJ8eRCdafB45sqkkeZWgfm8tDSlZP3AwKxyVkh1KaoBvEmh4auuzI0286imCh
W9k6lpxHk0eIMRLZSq9UNQehPTbYrgMOmg7v64xhyENJlDSasN6ugGdare9fBM+S3jZhTBznWNTz
tBLx+cboNmZPF56/j5tibWx5LjpVij9dixUiKVmnC64Zmx0o6JAqQsRw2u/GNDITuxx4GxdnM3TS
FwnmJrzFSsy0FCTs5VZ8jInINS88JpjbqEbM+yYevBa0PO/3zVtoSgBseBlI6mATG7qhkC/i3NC8
o/TFFGOtNS3qSmkASfEtxhrh3aP1ujE4D+p87CFjKRTQZAGcy86ZLEftumzzhvp9CRmMPfwx9MvU
BPNPmAPEM8TxH2YNwIQe4z4sOymp6ajjeXyPMbgjbWA3OefGI8HIm1S2QdHqLb0q4AmgjewBsxJr
ZBuRb8PDGvGqEfPeGPb7SLqkA2yZxSJTqkHORgoP2hgJCSoyuhROhHplb1dTC7be++aEGY3ATvdS
uD3yGthmRXNCnhH+YeWlbXMF+Qf/CBfl0+c85PNJmAkBRvYX15XWLj2KTEquu/3VeLBDs/mxJk/C
BzoBe+eE4av4By8FM5/FnJBl5B+HrfrDuOrPvTmS5EfgoM+2quHVcviblZcJndX3yC7V+4WQaNid
9/ys4tY0c3goXjgyOfuQT2gwQQ9tMazVArxsTQ+IRWh/Qdlbef3gkKE38YepnZChojIx6tjPWl5l
uneweAqwrOXp1sOIktVp4DFElegeJXqoE0ooV3WxmoChsAUmWV0ZxI5++46vrHmh1a1U9HdSItub
JSratViNEL8tmkJXvyMReNdy4JQ+sufZlWBzC0X5vtrC4cM8qiFms7cKR0TmHb9/D1Zkm7bSoK6q
YYmDNc04JwQNfilJn04n7rodjtSLbM9WDiyWSPewbnCbt1tUzhLYDlddHzmSMutdTBhijEYXxt0i
AirYOYxtP/VJ1cYkBIxvu5YFslxuAlNabb368mMxPtaS3Wlrzg+4L6p/4lpI9XVMQ3qre8HIX6vg
EAN/ZFCRI/QsNefFrfPVzwnDjDUZUTAslzrOVQ7WmpCSZWQ0jvhePjeSIcgkKEjvbMSPfjtayvWy
4sV5sx7KhDxjZPRO9VadDEDl5DOISPC48XlP+XwkOSHB2Bgfe6LVKoSMYq4YME/RFk85wRIbdfNT
sk4mdyiLxxJjbCIl9QU1pjdodj+xY5imxzuzt0riGhzDJvJoMeam9bE0RwtA69mkex4yC7tfzOyw
f2tGQzuRbL3b5VZjrx6UEuAFkclLPHDos51ZQbkCyHYF6UnN+tfBwjN0Xx14DLI9WU1S5J0e0Ufo
cvE268CC/bbFNQp3NMVhZu7W3axs1zC5qQ4qeXfMK9uc1QPsOsioYpj7/GPdk3Pz2yd27nqyAWht
Vznf53Q+8PgSU7Y1S4tCdBj1N3oZ6awr9mJEu5WdIk3GoXT/YRfZGk4eKNjbSm0c9csGAytod7n7
HhPacXv4mWEBtsnxbufzRhPmGCuTZasslwOoeWY9y5/1Jo/JhjvLdd/hE2/Z48nbG+tB1cgjHD5M
wC/eZaPfJC32Qt8/Pc4DcbOnEyJ9q415SLXbfvq8/+X5FofJITGGI2+6uMjpOoPSbFRzCIzoSZWd
0rPaguTP+h5NUY2b8XDwuILH2BCtWGRpW+PYrlc4ecSBuULvFxJ7vKEZjkax9ZxGKvs+ovcT/QxP
40/3/vFxTBFbvpHSVSAJAy5m7zm2aiccU8sRLra3SlOjIpDpKaHvL0Jh/xWgbPcZ4EjWLdyYSJYy
LJZ+noEBb43pj2pz/+ucaAwAqN8902XbtIPaUe247LsN7caud2lgV7EBQEm0mh5PhmG9Hp6cXOEZ
nNmI/Uuw2Q4rrCESdaWmBmdz0Y6IlPLO/ODNws6H7BMqVPwm5yfnLca/EjAIlOWl/UYBDhyAKqN8
gn03BreDkJ7Xnffh9nJNyAE6JOiCiJ5nbJY1MUSCc0S2GIVJrpvNO0DGMiwXPuawFrAMTUkulyw5
5W74PHqnKy/m4xlqts0qWqzqsqHmrbSrvYdkR+nwgSjuR33Y7v39psRl5vkS3ZYyYNHSS7EvWmIc
+WQ4KssOO6Z9JWqNiFis2+xXhvYYGS3qd5jnGkyc3FZ65Pa38uIhFrtWiCQhTmSQVF1kjC2CaQbX
8O0PXtsW761ge6Z0RQiXFVWpTjEzrNE9nD6UDxTUaJ3wf4yJ2LYppZOEsaghfREKWsFzi618rdli
ldgAjLeSaPXGEuz71urmg9zRrhuA6kS7oiDKfC8GTakBeMhTTN5rQDUBeojzanCMLluMyRpJlBch
lirpNQk8UvGM+l/iK3SRYFOLpsvslE8RtG0q6liaArQQM7UXT9H+1cDet80psE0u/uJ82QKgnv8h
x1j5Rs20BhveaSGBThQeo+1ZW8vvAVYV6qa7CYl7co+cp/Evl/VFlPHumlxY6gldSjI+bO21vTDG
Jyyz/+RaeBp8/ykUX3QYC18NSSu1C3qWW4BzPqw9Ey3jFJGqxLY24OhxCc5nc74IUp9jIoU1oCzz
qweCJdoh6fwbBjQpgCb1lPGu4FnBOL3JEf15R+aLKGPsBcwkNZIGkXzegqS97zrs2nz0TqIpAE7f
OBZb3ubQv1j9L5KMC1gIRX3tBFwgAGYqoj3uKNQdQL44nM0/mf+SYaPFKxD1xpIGHs/xbj8Yo418
UbYfArpmmDsOyhGWG8+Tu9OrhaSI4YIuB7Ptt/Qs/4wi4tk/s8bi8MVTOjZU9COhTmW6ogpzQ/5W
sW2MnrtrskGvwenHoVlL8Ax47T3zzvTXWVL2J+wt8qUnaxmkJFFND+unrwGHK57lYsNE1cPqabWl
pgS7VkVykR1Udp87zVnZSKebnFeGJxuMDcn0yO9QfIMh3mLUL3i5L3q3t/6O6WBjw9aT/DRSbibK
vIgbbNHGktFfFHKrx8RJYNQYL98la/T2xIDfMmMHc5/3fwL3PBljktdyHkQ9OMx3yeFXasKGVLvd
yw7Pgctrq50N8VVVw5ZLDYtOWWe/wJpVMc9D9IdWwC/DJgUbkCbIAN9nadbBmlBh7izuOznpRGBk
LmojVqwisxQsAQvXYb5Nao44zjaqKytJpduOsGWNRekHEkFxXQ10Wt6EjWp/ZQbgy2D/9cPvlfmI
9mTfbra+vTp8+AA81SzO9c3p25Q88/akSqGhzgXy2KGaoTPr+vv+Wc5Wk6YEGPFYesEAsHFUALd7
+5f9e7WuXdrQi9JmCmH8eF7Y9wnOZtSnBJl3Zqkm6apLUA8ETtFWtnI3eHS3z/eJzEnIlAbzsPR9
LetCABqXi232wKcKC07UPJu+mJBgofSjuuxCiV7Mdp+fwpfiHf0ZfmV8cJciz73LU0I0SJtY3LZZ
tlpA4RowpuBtPPMRDUIx2VGf1F1ZnIOj4sTaqykx6plMiGl900tBD2KVhXFti/d6zAYqqqQoAP5f
or7NZkuWfrME7LRA2xxUTGQva6IBeK0EL8dFTjB6weFnThCm9Bh+WhFt3F0AelJAwpeYXI8pcFHv
C9usCk2JMG+ivyy7vhVBpLQvW3hrjfWWvgaW+FrpJFjXCpL+HXj7dD3BCJ2CCwxxe0XYW5v+APrI
TW6t8+tgpSxGGIkI+ZX9r8IhCAOXDhkt111yWpS4d8iY36pbKChsgF0Qs/YmsN1XZ5q8G8Alx/rN
uviqLKK2vFypkqgxIbskLhdj0dH7A2OX5T9GMDyQ4YVnM27h/x+nOKHFKNqAAYPEq0DreasS+y1/
VN3woUctziwB12aePAtNgCdjZQMnEI8aN488f7CTH8AIaxRhgq5b4geYlzcPOIiIMFx4wyrP55lT
8umhMvK68pNMSnLQ2QL7JX/xT/f1YVbnJmww0phFi97rS3w+RpwkrBvTcksuxvNcLmfKAyOEzTXL
AKaxxFmh2+ttTQKnNWRz95JimtZoyHLdcRzF2dTHlCI91YmSjX6WFV4GijQdcbHthVXZ5HTizkDx
OGMe5D6QOxEbYijEE+a9dVAxNvLT/Suafb2mzDCPsKwO/TJG3pp6NRjZxEJ6mYgvHMM463pOqTDP
cJcvRx8NBKCSozt5hDgkRrp1rB8b17d5poJqxx/qCx8NTVOahjEhhtgqSzFnpUggVtMlGtYShU8X
BpFzclSw7pBhk4i6p4eysJRBhvYzXXpTPcgE3eWozf1Xx/fFEZtIrPpY8bRRpRzZ+9RELbw0Hg1y
hUv90f9/9OXPW9sJQcYA+VcxEhVfpONdGCG7/JJM2YzRefrJY222bV2dUGJMUBILoR5FOEWoErIN
18cKqAYjWki2jwIq17CvwUnYgu7HyuIpMkdQ2LxipuWV5hUrQOyb3uPo7E4b91NZawbv+uh7cU9S
GBMFBHo9GlvQ2XYb3cZIwMt4XBpHBS2L92Vy3gGZnCZjmoJAjKpCx2k+R8jTo8HO7jHPqBuO4xyg
a59HVzPuk+SKCmOl8lWd9UUEUTFLU7k19vW2ZIrr9Fk0N7yTnDWJE/4YayVdRV+71lAEs6U4BtIh
uywUWHlugzdPuRkbIo+rIg012HgBSYd2vTjE2+r98Nkhd1lwt+Twrk1mnJt2sczDpMcZFm/Sy/9j
7cuaW0WWrX8REczDazFptCxZtmW/ENvb2yBmECDg199Vuve0cTVH9UX31y/9sCOcyiJrZVYOKzH3
pSqkccmz65cI8BtQYSxM1d8j0Q6oqbgZ4lk3/X2obO932cfqWaoh/eXiYqV4+OBtW1/JCHZOjfs3
8XX/wus8nvc6E5EMvgSgBM1FrA+mrWMAzcMbUPMLayBeuB+Sc8dVBl/SDLOi1UXD0bqU3rVsiOCq
r4vP+7dg7mk2QTFV/RkSoCVSKIIr7l2l+OfGFzBPuRRfrWZ7X8xsvIZ+bSwcwyZHTWSuNwJj0xxl
E53H/viw4I+Gzh/W999n7nLSiLLe6fj7leuAP5ouy2i9wcEc6n095gPciSLMPT6DhKILLAhCk7vt
JIdwFW5H0dZbUm/3qPw/aMee07b/X4DqWznmShtdncaSApkayLeJ6GKRM4rQv02yiiry+cllFZi1
CV2BGYsSzs1kDlPFIucuoJZXIzL9yHfZs4a5igap2Oa5tEPQWPNHLqkOf/M0umWa6OhH7u1GkDYJ
TWWMJTRWgP2iIFMA/7dAtEUk2fKyr7EgZyCJt9intiz+Ix8wEctc56geO+ssxyMiVdwxKbZfn+1F
u14oXGDW6H29pyFzn5UGu3jkGKIc/b0gipc7WD7iHTAk8foHBdZH9/Vt8CQ7IM+r1Qodpyf6tEEI
g+rX5ye43OyHN7yl9gAaju+dt6/JITAYECLhn5gFftlWWWhAtAcsUARdhrTk3B36d+6dABNNtCJo
1kT6jaHattjKCgmXdml/KY/FWnc5wmb94EQpBnGuaqdXcgqlEHmesPUIyYQHCQeY2rz09CwpIla2
/WW7zH0Jxqgz9YGKAguO6Z8U7KQIEzfYLCizz2Jhg9y2IfoVg/4Y9adxIRZLYbyjXeM9zs1PzULt
5NewCGVEoZaKWJp7ct7HtdJ6ln1z/9GzGhLuxNIt1Lz3URlwagSjkWQF4miVdnQib3lYRjszt5EV
O8fOAqAY2Ka8KMFKATN+WtGNU/sXXkQ8Gwp8a83mMsWrEknJGbaFT3B13y/YEBZsFB/T9ahv0j1e
n//sGTURSYPnCWSNl9gc0gGaBwnxqpUYEwExiO+esa1job213G4Czpc1GLAKgwjjNgIErlUfwYeU
oeayEtdnbKACX8UnL5s0ny6YKMgglhpjU+jYUXlok4+fht1iATJPDvpwgN9gwCcpz32hGRCCAmoG
ClGUabn5Zw70GgzwIFUvx20T0jXFa8/yNNF24cjA+8rjxOBBqcGgTivAdwoXaPOCeBQ7VXoSgoef
Dr1zju2WZr5z79jd2NnV6NDdG9DOgasdbwzMJQF1kLGVHkRQd1+WX3uUcgJbd7mRKQfHDQZhtKC9
iEKN40ywrMM575UDnbvE+ImdC+TfwbjBwEus6iEuNpVVk/VpK+e2+FmixI4VpkRz/tmb8Nvk2WRt
meeNkSfUSb9f/OQ53IKA8Qn0TVcibHjZnvkw6y+3YTL4cc6jrLwWgKwtMMv7yPHizdfgOD0/Ldb/
MEKeaMaAB2Zyh0QAuw5tYox2I57UOEHe4BjP/k0GMvreks0ipDDsJPveQF0EDZIO8gW87RNcSQxu
tFfZlNsa9o8Rq1uaEfxHGxQL1lycpydz56aZDHoYSZgosRqNKCihdwbUVJSEG3ELr2eGh7cmAx5y
XqZCrMDW16fLtiP5oiTgI5K588yzXReTgIUN8AO1yPOsw9kNflQQBGNnV3ANyw42eUPKwSlropPL
BtHS5zo6P1idff9W35r57h0pgyCCYRVBPMBMkOzBiKhuK2tsUk6dswsatWVQ2QHIjr0rGkPlsxva
5gIeNUQsQd87fKYkri0xINNKcpboFW79sPK8yrYGrIoHt7KwRIUEWxXvKz+fUv6+iewG42SUxkIR
YU9IUG6xMGoJhuft4dUk2F1mLT850qjRsEdtqliDoSsm9nDfHrSTKKVqZa0bjRThoOIUWwWDgv7i
vMvtz3j7iWcOR9rcXZlKY0x4RBKv6CxIw1QNyZ2z/TogOuG+UOfyklMxTMQ9pkWHrpTsFjQIJAEf
5GL44NWYZs1iKoWx0jzKz/lVu8U/aPA/g8MN5PSoZnEL5LMN2FNJjAEOVSwlXQB9apQHmxEr3zDX
btNGR7wfvvBmsbBulPet5l5IE6G3HzWxjFTLgyHS6Lc6OZ0I/TYR5UnEA+mTZ4Q8UYyr08wxB8UK
RNHk7smxkL64kstJzSDt5TM9/TsrZCcODAnZi5p+uMCPnpSR6BnqurTaEPP4O2a7o6aHyDi8Gizo
oXmBZoNfYYRs7WGy2MTmC/Q6hkSznApd9La4puKNpYEW4+CW9OXyy8zGg9MfwvjDJJK7qKE3z9k6
TUMgHWvK8d8XcgZIwH6+cALQ2SYYUzUtvO40Hd10zO2IMkE7C+UFQTUmqGGt/2Fa4nxL+rv/jl/f
YpirEVpNK5hdDvzCbBcG7kGX90zLObxojCOHvQ2qNEqNSa8g3iHhPsS6ojPIDgkO7r5Cs853cm63
Dzm5dkaEhoBQgULwux5lWuoXPXjgkc2jPgdpgTUvxzs7xzkVSVF7IrLUsMfKTCESjc2gsnnfKl62
0rbtUkQl7gy/6tzXcbYrdiqQuRVK1wnm9Up1THcVaJQX+8HniOB9L/rvE52ugzqmbVtCp9O4SSpi
7WNES7Rv1PnkbRGS5p3oX0bIjuGkqp6IYgdbfzkBshwdHQGgN1qAeYGjFbXmO9Z+m1yfaKWZYqjL
54q+Hx3R3kV2UZF6oR6N1deT8Ub3wv4/bIblacd4U0GTdfA4Qei4e8E+B5pijp1ynWySI3hVeK2P
s5xRU+NggCNsinOeStQaT173FAcOwjys7EJN+PXz64tL3D8fknx/OwZAxEuICrQKcZSP5OQg1lwY
9vXIBZDZmMRUZDCiW4i3RMYgh0vW67VqIpUM9rLrXnO1lR3LXupz39+zGk0kMQ+SVk7U0IRSOEDt
NcYAFYanhCV4CjhQNVfs0tABK6lY9CKZWFX5847JUZY3QaPiGqv+sfywDte3ukLb0Dr8uG/3c3XE
H5KYAKGvdUHITQ2S1qed93FsXg+W++c3wUsfJPapfSUaNzKeuWuYeZNEybR0WlxhPlggRkVVhNZ4
1JGreRFIYVdX2wSZrls5z0/ltvT/b5bzkwdec/EeamAgB5ANRRXRSPjzYM/DkEmJWogAZC9YHel6
a/I2OA+/sAWEy+13m2hiQOWHNAb+wzKv06FvxVuKtsBKMtzwX5Z3IR8hib0DeGzS287Bt1/1g+lh
5K+0wb+yWOOpdf8zzz19dBmKy2ChkAz9ZgYTeDt3Wtnm10hE9Wy9ld1KRSEcUbUIiYsva0kXMXEk
UjBhdP8hkfnIjTic+x6rO47pIwrDhgG+VaSD0fM0vO4RV7/wEy0zse4PicztHDohDscgFmkpcqs4
wZEynyHdwl1uPBdJ/JBEcX1ymnmajSD5TWBFHfKzu3F05M/Xhd0urOMn/KBMCQZtdIvyvJQ64zB0
WZItVIdB8QQT/im4LmQFz7wUBqWR3utgxOMGdDouVt0bBB4ytml1FFkZTApUvvlmoivgI321fDvu
7et6gWU3oMS2o5fyYGe7J6fjpQ3nWt5//ELmI3RRdq2xEgu/sF2hMIFVFVvY21j7jQuuQByNTWxz
k6lEo7s2zQ8wMna8vvc5+PzxI5jvUyVqkkUijgl01hrB8C5qEp5JYm64Rc/7b0Y++R6MA4/j0Cpq
K4e2eHV3T/JbdnSfv6oP3vN+rtL1QyPGdV/HEaFdBI3aleMsrAbE46jWBvvtWiMKiTDYWHrJ1sJU
ASJaHyuct9hTAoMQXoxkYXOrxnOPnh+/h/HtcgJPrHf0MzvOh/o2fugOeFjAdtmQDiOPNGe0DixO
AmfuzTeVyja9CJdAvqQSlbreDg/nvVyBFjByHtWlH256pAmwmStyB4LFEWjfu6w/Q2dYtx88aJsF
mu+vzna/xEYY9ZaJnzGgiIgsiF8vAq/HllULq9c4MEoD9jsWxjLuXcMitfS0EuGfcd2D2OkOCyQm
uINu85g2UYp5OchtpNZCexPkIS2eKkQKkRbvbQHjHBjosKFcmHN3jd0O656CDKQlIGMSi66EggUZ
3GRV2OMiJB87LyqJhtabhzQlhYMgtfSfVr1vP4CzyW7PoMOiCEsf9SjZm3by+k+KVz+sjYGy8lKM
VqTjzgFPT6heYcYLu/X4fosDIjfQn3gTI05CsEzg5IP9IJUkC0JiBl+ZE8ZeVPy6BiQcHSEmWKdh
rQb1nWNgMzHtDy0ZCCtKS+3EAOePZJRoC2dP/VTP6BIdC493bzjeS2VADAOHaS4Z9FM7dHGoG2Ja
f0Ofc+0i8nmQSX/33+xKUXTRMiVZM9jGJ6EV2svVwKmmg2eR9PqgB7/EtWG4/+T8JnKY8zN6KcDp
Qc6L5wQxQZZERO8wtUuOoFkkmAhiTu+q9FcrutT09KiDT1at9xbBG9wXM9ddi/Dw+9wYZEfGsNGC
AGJau3G84UFZByB33JDfS3iWnCya7S1zkW65yZJZS/yWzI7axqoZdl0LyT3Wor3+CbzwMyZjb6cA
IO4attlLNxHGPARaHVwYkkXhTnYv9hl+KwDMYHnSE7eaP/M+nZ7oLVqZ3O+07CKsV4FeCtmuJTSy
a+5b7fMSGLzTY/BbMwJNU0tIEXaIrt4wDY1+F7Rf2PftYy6l9UMbFq+tGgyw1N51w3bkP4EDPm21
xJRyuxScxSdtdTnv9nuO1FmXO/lcDBabcl6l1zM9w85Od+am9eRT8+CUz1+C8xn53PXVcyWIH2oy
IWRmZlJdGhAIUgLJuWzbljx9tR/AKu7acWkWFyfKMRByueSimWlUFpZSvVfEW4YkBdfbEzc/OEfA
+EMtBkTEMcYQQgZRpdN4dMvpubIxWGwR3U5c4ZCd16Nd77/G58VT7n8ZtHWI4wWohDu4fLOvyW3A
lqHIsqj90HdoYeu/X3gdaHOP/KmSt3+fiDDBwpFVDUS09m0DMF7bwojR9q8F+DPtTx7VzXzohLyT
iZe1KEkmcyWyRBMuV8yqHPVVXZLrtviTbLPn39Fi1STOU7vDm3dNC5qck5xridXliVzmUvRGG0tl
A7nRZn2qj0hIKSskMuwnNBFyLuBMyuaHKOY6iGFfny8CRCUkPUoPKPc/fXKu+CwiT7RhbkEShHVp
mhBROttd92q4GJV7WqQ+L184/0SdCGLugFmJqdaqAyKDeoHEZEaSL1SFMLdHewhltzaJdKjd1kmO
rltiBt0T9lc888kzr6d57iooki5ifRoKSEjN4KpM7PRsRGKg6SNNRpWJrVTE4QVBs3kfRZbxGpPw
P5Wl0r8kSXgRG5PeNu8QdG6Apt7at7/2VzShYASY8w3ngq6pOOZoFa2Ih6GAuIQ47+8j2flgn07J
w/OC2zE0+wSdymICFWEQ4MQvVDW8gben3dED3bUfLFQwnCB5zo2/Zr/W91Gyj88UiV9TS//3KHW7
zxAM4aV9DP3eBcXq5z7i5VJubzsWKicasu/MVAlGvA0M3O8zUT6ScSVI7hm72lfmeuX6GO/7QzYB
eVgRyjKk66u9g1Tep34ALdqvEOwkDufrzoHA9PfQEGRir7JZC5VET1zM3Pqy9v1DBP7e32/2gFbI
L7uRvX80xKtPZTJhjTAosZZecAbr0ylCkpi8PqzkRfDACZ94qjEQbipCVlcpxOD2txJWW537fSP/
CgVbrH3L2Nw/SZ7tsoz9hqKHITrscPOPIaGL0Fwrtpe+T9ACjqdebsd/gOEVl6dnLtJQZDSkSBJN
BuvMaXaoRWJvSIDHigBmZXIC6RymHYue9JWN0gzPYOZi0qk45lSzDt7pcoE4BFHdpo/teGHvA4yx
Le+f5/zV/FaLcYSBURTdhRqmcXhCgyImRu///VlPO1WEcX9ykJ5BuCVAEaeX7ehJ8vXTSv3A3vtF
uOMOd83G2FNxjCsMG1mPTQo1WIqbOk6pLgYvtN3Be6uWq+Z9wR0fn2NaxDX7PkEGuLP4amJEAgqi
UJ07WP+DHUSUMtJ/pLsDbFodvxLTbYnu8s527nk0Fc3g+CAnoWymkXR8GXy4YyxvTK5E55k+x0TY
NvW6MC9KUeJIm6erA3IKNBhwIGT25TxRxKCKTuCxulzLYcSaFwQwlKoSBOc2HaY8mBuQR2A3368n
rGr+5H67uZr/9Nux3elKdx76wgxxgE7rCvhyyNr5vLB9rnj8QwoDHfkoa3WXw0JenPc0JtjTHD6K
5Fkk6J0IHbodixfe0r/4d/f3l02yZcLe7EultnCebU0kEizHjPZqoIKAmusX5+PNlgwU7M1AXUVF
Zw1L1ROPtV71WiYd28F2xGeJ1qseikfb9Hj0fXPdpvpUFAMmXdPInW6lEnVpjhguzxiadNvdapBc
bqvZLAJP1GKQxJTTBvszctjGyUnceqHYDnjLOI+D2ahvIoQBD/3aX+VLCyGOWRHxt754yl45AEw9
xd9sYSKCAYlOLcc0qfF5rrCFRegeL6SyzaXxLtmrRudSv8xb+7c8Fi6qUpTrq4lvhHqaspYW5WOZ
2WVVuoLlRNm6H93uSmrPShwQ68slJjeV2C3ax/tq38LzO2qzkJLn2JmhIGl6XF9cjLqXHVCFTky3
IXkJfMw4kPzjcEAx2Yk9DfRS+vF8wgzZcuVWS70g7RJRPrcnZxawJ2fDhIF6lpetNsTSsTRJcl2M
o41U00C+9Izj1nk3xWAwx6o0XBUBXyGXncjCWOki2i9Wz6uqJFzuPWpB946aiVW0tDWy84CjpnmR
7XYZg+ysI/5m87ZacVka53r4phjADsachTFDKhfStv2ZYNdlbKun4JVHITebmVA0Q0FuAtwWOrvu
XG/DRmnjAtfGDh8Up/KDpXLIF/1BpUt3azxqUS9D/UT5TIj+fN945/3hRDhzZ89xpwdqXkmIYkBv
vN3p9g7R7qFBbqt2e5tW5xeOevhHbuNbLEuyUaZS1WAblnTUykW+eLD70FbXaKugy0X+UQF4csC3
iuXE5/eB1CiBhANGI8u28wqC9VtW5yD/v+aSn81aqK4iyQR+PDTtMOepKSCfCIaa+g1PdnUbD97D
b4J1YqunLxCl3v968w7xWxp7jGc5KNtsuEhILtGiXLjqP+iIalI66CPgyJp1IBNZTORkZVY5ago0
227j0NGvriqjibbynpv3pwRrYXyex5rPi0wkMhgW10GujTW0U0jn5bK9WYHe1u1d2ULxxvkcn+5r
yPl0CgNkcV0GxahcpaN39fOF6j2JnO3a3M/FwNc5S0YhvUJCLTjDYwN+2QQbdJZr3tTgPCZPTo55
a+VRrCptjpNzkKY7uygSYwwS3fJ8cvTZkH0iiYmTmgu4C7RLLyGZdHLoS/UokWP1XNhLc+P/su1k
t3hK3SdEn7w+m3ncnIhmw6ZWuybytYGS6/ftu3ccKoJNisROFxERaa/+fsGDLd4dYIKoMcnKQG2g
Lc5Vk2yxIufnfE2n/5+GhjzFq/aj+LhvlbOFB7BC/AdR2O3ykWRESmlBpujjhY72tKt73lq1Lfj2
pVylNj+JNhuPfktkk2itcs2NSIOZvoC8J7LRLz/61fLyYfKelbcr9Td/PpHEYEpc/+c8tQKsFKhw
eBSdX7o3dCVtc886aIc/hyO2SrbP/UKI0CBULPUrqle89y0103s/hIEauWjUupeoLYHVod6lXg5K
v9Pto1KKU/RycL4q596w/CVGWNdFGuOGNujc996bpUUuSNuvr4g0vJX+gSodR+LsS21y1gz4pHV7
tpS+pTdV2mHB9XBrQVOPY819ZSu842TwR75ElmiOkFW5tUeXQpzyzWCb4GYuCIboJB8kbm+96776
KiiFMFuDhbgo/ViOs+YdNM+YGYDSZFXXoxDXJ99QG/u42PquxoXlvhipTvdMiIEjCS3wWWBBZxDZ
qz5oE8G6Fr+W8JG5a/9be2WAqAkkKVcMCItTe7v2PirNLkvffHDQlRrb53/CsK1PQEhlwpqCcjfq
Isx1jegQ77ozsWx4yEWAbNN9O72Fu3fOkd2QWV4GVSvO1KO8OMUq2l1iTH0tl7vcqWxBI41vI0hc
p3a0BeNmuv3kdsXeNmzc+wUMKoVZEOt6O8BNe9s1tr5sdxf740yS1ZKSwrvpYlUS2Xt7fuJOnXFC
EI2BoTDrzbwLAUNbB/24l1eeA5ujWZl+x9u/T0LhoJOwulXq8B07b4teNcUrveL5armWi84pvNqe
rh+5bXf+Ci2g/u/Ofjw8Zn6LjtTnCBw+YOjwR1/cPXQuNp6n9uKlv/o950E9m1nFGladvobQyM92
BZ0vjSFUg0iRSlhggDld9s4lcbSzJ6TkurReVjXWra/3vPzSbE16Kpi5wn0XWY0U3gSLe43kZ4KB
j9NWHEC+sGrfxGqL0XpeSnI2KpxKZe5yFaaWVIFs6IjM4Gm3zQ5JaEsZuulUztWaDQunkphbnJ0b
HUxJVJKFPnfVzhu7w1muFFfaGm/37/FsH+hEGNspBF7tVi0SCFtjBCmsvOQ92unHLHLapV0Y8DmV
u8BKsMx5cB8Ue5W7C1xs3SA8v0cLtOxtnv4O5jaLER7eRU2VriNHOKQDscsVZTG6r+/sS3oqh7m7
UphXfWaN0BdjZLtdZR+w9co3bJes4NvofHZs80rHc3gxlck8Wdqm6KJqhG59a394MYoBaNhecTnS
eSZ6a8SZwEalJv9nouvmSfHfQDm4N22ep6YByL0PxQQNWTyGOj4WDtDabbcJZrHRsRtZtK31k1+z
pJ/jnjQmLoi7otKjANKCmmC6frXq/F/las+xvrkwb/qBGESxzl2TN6EkHeVkKRxQjx4jOxB4E99z
A0L6VAwDIVpryV1uUtt7QWvSDq1JywN5fHVBrQRGoTWfkJr3rRgkGXspvsQp/VbrxnE0ED88o796
V3mRhv5bblZlLnad6Mc2YfTXNMUEOMSBRcny8jVGJLBvBs0R9+/wbAlR1zH1pGuqLGls7CGNWiQp
YDA8FuPCoGnc2B4/rpHzvEIJP0bswc3gzEXKU4kMOjVSIUSFpCBqXNdoIhbQsIDHJDJh+73AKWjP
2uJEORagymhs2ys1EpyimtsaDvHl/gHO4tFEBINHtd4J2DYgS0ehJdVWewXjTmufsfD2H3myiSBq
nxNAykcxjc8ddLnaTvpY2HVN6BztmsvKNhfVT78PA0pNGBldcMb3WXcBQZS9esB252S3f6LsQdxK
0KydT9RiQElQhCbuBRW+yvhdvklYCJFJTiI6SJ5weRN5lsdAUxR1jWrczGHtve9GUsEcUEEGvQH3
9cBTi4GnSiwsEBzgEEsHLEWjU/jGs7ACTPAKhPS2/A3UJ+fHwJIIgujCbDSaMdx2R+mwkp1n6nnv
W/ls5mliFDrTE1aU59o85xCDhLLqn7bv77slxjCw6nTjoiL5bK8j/75IHjKxDJBdIuSdmMAywAC5
rfGUld2o9uKHdRkTPIb+5UHqDFZczbpVLBHiXk4CUZfoLkDHxn2VOHDEtrlERtU3UgwRUUyuf0R0
TdidzLOIec+IirFBZ6oNzWIQKRywSCYB4y9eVIEP37j0ln8ez7YPxwjyJRsLSfn5s9mIcyKTASds
cFSbKNRxizH+9d5thgcBFP+82O8WdP3d2L9VY6Cpb3o5qi5UDEY3Qes3ktLDcm3kqgKb11xDweCe
LAaYsvramRleD0eQ8UuHgKy4j755c/jWhoGjs1xrUlQZFPrwNjltK3fbRyD1VbbqKduV/teCH8XM
g/u3TAaXsOOoBn89tEK68VTLpImI4aa/wpI8IV/N8Y3zePstjMGmUW70qEmhIBW2PS/v36bZNLH+
l9HpIoNJfXuN40SBLob3gVbqw2GZL2g2HH1/Bfa72Rxxs+HzRBwTt5Smeg1GDeIERBOnq1s+pev6
BVwuDkfQHKQbKI5ScmQVzZuMXYjXKE8HdGNgjNcJ3h4zB4l9zC1ypMx5qKkUxhJ6TBEkWQspKCVY
SOqrxFVc7MPjaDPbUziVwxhBnFZXZagg57ZHBmQjxyX6YTHv++sXFqnzmkFnm1Mn4lhHlcgjaPgz
iAP3juOFiCeO3s4gLXpYtsMezQoG2dFRBnK4vA2PpUYe3WFTY2kqRoIX+XZfvYLv6P5RzyZZpr+J
sZwMK6Gr6EI/aO9sj5iwJ1gHi6YhIDLISD+tDefeqXPYNRXI+DKtNxIFNXYZ0YfsJwNR3xEdZF+o
MFzd7Y6ct4fCTr3j8nAAnX5vxy/I8Wk2GNozC42sruS6OXmwUTvjsfTNIcL0hzG+qdR6Qa4L/LCX
Gm0gFp9vcA7fpgIYRzTkbdH2JT1qb3uxU5Eo/v8yG0pvPG80m/6YymK8UWf1+UWk9xRNqxgcRAYk
d5ZHEN6Kb7/jV50UyxLj9i9VwGtB450i/ffJU0Btrr3WURtXsHPeekjd+/Y6m42cKsYAkJyl0WW4
faX16T3C8ueD4W5grTE2zXPTEnNe0DAsS7awjQ7sAcwpGo0kDj1ClmPdrsDnJHsN/WhmsjENThA7
G1FORTHn1oltM+QYiTmuwTH4/p47YLVxLT9zMLnMgVeeVswRgno46rUcokT/ZfuhHhOPg6uzrTpT
ZRj8HrUGY+cpJJRPnYvJAkoowbGDeRfx/WkY6LYoQb8RQoRDcQMLW5do0OH3wM4+LiaqsF1t/Viq
Smx11J49b9geo90f8pt2OGFm9WtYLGKf93n+CyT/pRrbwTaCA6gXxxZe6bT1wLkILPQfESLTwT1e
xmO2vjPVj4HjQDY7vZegH4gxjsU+JOEqjdBcT1AL9LFu0X4qK/IF4nPhkXYzf3JscTaXOZXPoC6d
8olHGfIHHx0LAEU0q+IVwPO91BzYiHkqhsFeQ2uMYGxgLph7uZBw29B6Cccm/wvofn84Bi5SE2wT
cQVdkAbB1myStCCVjEnmOaXf2KsvjNHtv87YDsC5C3PR31Q5BjtKxOp1W0AuzAUYb751C/Hj8sET
wztDBjeG/j/Qu3bM/cki2/ZXs1AbdKXF+GpgHvZp9wxHt7nX21Q3BkoyqY9S+QzdsPRgi2V/BYl+
8RTjnR+DJboeJGVJnWVB0kcVFZDb4BrPOuYDn7+sg6Vr1uo6aU0FJgg717zlR7LC1MC4Qbhn2bje
0eFhZbdrdS2vMSPBOUWOhix9s55rAhAfkLL2pHW4suzKO3trUC1y5Mx7/28dGTRBqVhupREnuUYl
s2/IVaBNFA5yWaDQ/MgaVMP5+xhnJzEmNsISOY9WL4pWC+0oaxp6j25Ehdh9hnGM34/+5s2N3Nsw
xoX7UOFcCXaMVSy1AaVpeq796HhLtBaCdeNJeKT9/WCs5lbjed+RQZjkOg5GoeB80ZqB/bHKAnvY
Lza6/N/orobQQ2cXdlDf/6g8f8RSPaeyUSK7ASUxGwwaSPja4x8flDkbFyP5vCOdlWZKoqkpqoQX
ra4yAaQVZ0KQUBW3o4cUEboNSOW8av4KGqLtlnC0mzvSqby/HWljqil9AIEJb4Xk4YUc0RruDArR
7AfRW9kYVLTQCMPL4cxFYZh+NmRNocGlJv3UU07LqBuw0xlG67XvBhrUS961n7POqQjmNmpxdZaU
iwTrdJzdx9V74oDzbHA0FcA679EKZS2FAOS86CMDbRl4P2P+ycXMCfYZceTNIehUHGMaQtFVjXDG
kZk16UL0mv/hCJjtcZ1KYIyh1aIe4x+QgKoxKncfJKMREEgE7xsdVw7jsUFH1gVtBzl42Z/AnBnZ
R9/YI/QBfwFHFP3JbOQzVYnx2tF5SJHmuqnkABhTT/LBmoerxMuozT7NppIYV93WVYS9siMFJ3QL
ShdQtKsNRf6IrMDs6/DZ7ueCg6lExnGbRlfUSKrgc1VEPSKg43s0zjVlczZFU0aJdoWIljboIXZE
NI6M9St6JPZfL/e/Fce+2apCXlZKbJx7HODgRmfPlPgLoefR7i/UYSsJhZBdiizAN9IaV6xfktg3
ehIJdn22KwlskkbqyE7ZH+8rxgEitrhQ1IOVX+khgq0jBi3VamHztjnM5vImtsD6jTTHNDLuFc14
nE66rYKmElC0cc/HB2xl5lr7bCljKo+BCrVNErOjYOScpJP4VZB6uUOnauarV3vEeNFiVUjkuYrI
/umTe9V4n5HBD+0yquN1oMKdK3Y3UcZGHm7MhXJT/Vjc6KshlUVYCkYnLoeLTdeqZY8PC6ySRZcz
x/J5gKgz2NENwSCnEbWQ07YHNaN3NJ2DT3r/+ZMTzswmJ6aKMaBxKXNsrVVwy8Duriwuv7W3z/vW
PhuPTiSwOYOxw8oE7JaGMlv4XWVxJhgOfjrQyRO0LaBzz3+6YtnqmlfZ5UA9mzjItX4cpRiHePb3
3GZIHryzM7OS0iWV2OKvvzja73W0RL4a1cjuqGp2moLuDmkeblXtv0SDf+EVO84WpYGpCeHNpyAv
hpUmIIL9CN03cLb8cu3LkueZORDMDtAqoB7vjZhGNPXj+fGJxyfNQyl2iC2RjDpFow618wLxReJm
iwvZknNIlJCoHfji2wRBAO82c8+RAYwySXoFlBDUJLHlelxEDl3c/QvLhhd7dO78y+vMLnwSuz7T
xxI3APHN1pOcY4V9wxo2hS8BVZ88qOL4aHbHU6BdtSqWb/dN87bv0We4Tx6TY7EEVv1/uAgMgJS6
HGZVT8U5CBJP2xfRP1leLNlhQYIDCmJnbJ28Dym8y8cmD4w6GEERe0NjZF683cFXj767Wt0G9LhM
bxz3wqYLKvOsDLkBDa9oqjlttwHKzIW7sGJ3z9t/wQkNTOaNUmVNM6rK7dsFj8UG6QFeXWe2Mj+B
YzY90JkFWg7oMwhs8Xgsg1H9DbWtJ5QLeL5lNps6FcW8UJKsKgc1xzVDTxeIyfA2R/o2xBLUR3ND
yOYNe1KwrQe7euhiIB6VEA9c2OVP6CaOQlmCoiCE8FKnXvi+7aJDCi8Y2lnBecTcmJPvvCzYvECn
xZ2WDBDX2khUIzWODdE9wYjlo09eN/kvxF1Pw+tTui8pMz934myWxGF62EyEkmaG3hsG5CckRweO
6gRn8oVHAEdPXsBgMrEJWGfOgqBQ7ERtPXMj9Nrz0tNcG2UwZdAFA1uWqI3iiTEuFP8ZnSMO14nz
QhN2n5OEVOdZqiCn9k5oHsG785iiEh04h2VDVIeguGq79iIRbF4ygmcuFpPw6MA5OiYKRJ9oH473
scQSNHiFfkE3y/r9PvB8nfTYmbKxHzD4QC5rYfOZXgkv48MgjiFJIDKzQO8lqqqM7cjM58yCtBfj
MEo3avEgjzb2+wi/YsEtMns4qga5D9xMSPY3Yex3FeuxNKUw3ZSxeFAqi5hNtZWvF05Qy9GJfaVm
tVmYagGdAo0UIxlFMmB7T2qHMakLGyN6/0or9qFadUKQiSK00tuUpJdtKe11gxNFM++P28lhYts0
MSSnqyLr1FvMo1yjMUs3YrwQf13erRYNE8Of+4rwhDCfp7lg9W6qQEimdFh6e5CyxNbVxB6sf/CB
dNWQLBDXGWAVZTJlFdQpu7RIN9fsQvRk2ZtE6/5cJW1lCJpXZrKdZhlH5pxyumZo2NmA7kDkGH9m
GKVaN/qxK9ONEaPlKFiWZuidu9i56JyF6XNGPhXEALGiX+WrnF3SDZZL2Ym4Ks6foq5wtJkVooOO
D31gWOHEBgqWNoqGRoXIUYTD+tPIvhWu7pvDjAwJ1IIyVtcYCpqcGIi6KGYbixcx2xhq7OXVarBQ
URg1zu2Z+S6SLKkSJIigFLsB5aRFor6e00Gz1GyTX4W93heOeTFtQ3uLe/++OurP1B+9QhBkYGzL
MlRVZbstg85sc6wvzDZN21N1KqPkSKBfdhIC/K8EGcOUqqWa2LHA3B8zaOr4WkrZRrrsk2tpm2Ft
p+dtZYXeRePQbs99HPk/sujR/TTnftCTLhbxcfLUcq/x/5D2bd1x4ky0v4i1xE0Sr9AXdxsncRx7
JnlhJTMJIEDcxeXXn43nnJlumdOs+HuYJ0+6UKlU99q17xxnVw2/L8pY+AFmEQ+0THv5iIu7iQGq
paLKLsKWsi6UdpkfjEaR0GlVfLh9O6vngRXCQjJk/x0d0E5IIg1L5TJMybHril3vnVI0zv8+ERe+
yWLpbNfTmZZyl9udFDKM08euBhDQsm7NtIN3UHGYA85Ri3Edq8GJC5rAsMlwZ7R3P8zs9I6fxwiI
5zgmAYqOdvPKG5q+KksZNsnedB+YPDrlO14+1PK/JLSX3zHhTJnACYZ578x/yvzM+1/vOAU1TbSq
u9y0iaYlM0DFkcoGibSaA4NAszg0IO6GAK8pF5cCBxGA5KZHdWdVSBMOjgKV1qS7IbV9w3p03a9M
pO+5cw/7o5CtsCj2A12/FICBV6yNTRlO5d5zlktR8vttjq1pF/c/Eq9JjYvHyFRbO3lmydCLP7vO
c2u7xzmlPsEEqGFU+9vE1hi3cM3j8AtNT9fKOeMNkjOeDMdUnoQjArxHs5S7ZFYbD39NLV9S0nRM
bxrVHPdUhqb/ddh471unWP5+wbKUFrOTVEyGLtbkOg9tsm+Lh7HZ4NXKxWDHFkQYa5EwaP4KOHBB
RZiSe0ll5OGcf8OyppMp72aS3hW56wtzI/xaOdEVLe3ZkIlyIzFAazg7U7rrSNCGubklzWtUYFtc
TJoB9ddzNb41VmuUhpJFSLAj06+NGKtN678wO2XtGCmiDf7p6bjFbi6m7F9y2qHmSSQZoyXIfWuT
1m+RYC+agxNHftccnfqLO/7tNr49+YU48Dh0jtTYtUPo2XEANbIj052xxYFF6jRTfvVJelgUl6IQ
HjiQqPtehvPwMaF3t5/YiuCDBIMPh853tGRY18I5543tzbwqQmsCgnT82WyebxNYP8N/BDQvu8yV
OyQLAcZaX9gn2XwavMP/RmM55IXs16yxp9ZoirDnTyp+Hnjk44ndpqGnA/6vfPx3kOWgF0TM3lFY
zAU3xHJpH1hm2j3x1uM76gKaayzr7qNdxeUho2ayB8ofsh8GMQ+p02WnbvRyFNksN+ilyj7f/rCt
G9SeSVzEnGULgzl/ktPfhvrxv/2+9i5S0k0OQM2LkObz3nPb+z7JNuYuV2WEL5sPOXAyXb1lZzba
jPYEHtHYHdWTYZ4f33EETs0FLAFDEq52dWrMWGxk+H0zQTNjch7brZe6egkXFLRLUHYqWTSlQFDp
m6BIMTawFTis8gjePPknDNK9YBvmKabA2wsN8T0dz0R+a+WGLlg+8o26uSChHQIFOCqnBiR6jMwV
VdBbB/I08XbDHq7xyiY2NkVgnY1n6nBNDmmVqHsEKGn/nXTfWnvcILDGqgsCOjrTFPWDSVIEc55T
HY2hfygoASJb9uu2VG2R0fzTlmaxGCjIOIr5HXswUbNnu9s0Nnil782aBsc2xtnCUeLeN/kXi/99
m8DandsmgGsQJXCkJLTXLVXvErXwCs3nd6Zn/aTGh4rFM7aIb3VXrZ7FQgSPvATFS9dCBlM6LEE5
GXFc9TIqzDu4W9PBiz3UBRhoKP9S0G7EqFxvZAkOE831L8myDItUT2XdfmHOn2P2MLNki+LWmaxr
o9AUau6ZtZwpz3ySP+f9ltlZvvntmWzPtVzH41g1ek2hLwSgTwZWhCrO1a4xk5+e1ezmrLV9G9tO
kIslfCdm98+STCcS8cNt+Vju/y15QNRhfavNEBNfk5dTNU+jwwu4lRXSl0lyrpVzZvJlHpxjQ0a5
EcKsM/Q/epqqjucK8ROFlVXus6h+KrVhClblHVtT/995NHa2Vj+X1MDvH6xfzp9fN359VSWA4chW
YJSWvw5aXfgIbt85NjJWRTgaB5dj/xi5z8stmVu9kiU7QZbdrxCM6yuxYwRcJYtlWEziR50jtRyP
e9re5Si3bGV8dQThV6/HdoG7iplx5OZ1tE4z6+OhS5ERGXKVHCNnin01xfPdzCcVmK4RBSRz6RNG
ytFFYZfiINr6sRLiq+IG1jtWsxOoOI53pie8uyzqch7UVZoGXj9uxXCrzKfwZbkFhCaMQ17zpaBV
09ddhjhLuX77U5AenPn9tIeF3lCMQGBrPUyl5pGPeemwppDwJOIoMGcvKEFrFC+3H92qkF5Q0eJ4
rKy3C8sBlSredRhycj7MzTP/6zaRdXb9cxQMw+ppKGF65oQtlDJk3bnzDunw1IkNErfOsZDQ9DGh
YsjihVuZ3I/VWToPVRVspiS2DqK/B+RBjTgBlbr/MVXPqvnQN8f/jVdaEOMKw2bYR4+DWI+o5Xjm
eZ737yDBPUgXygKYb9N45ciyFDxpZBjx6IM9uanPDJL4yH/tbhNavRQPwR6WEBEHPvf1M4kju54N
iXBycJqDCdxmmZg+5i2wP2PDrV/EVLcdS+jOGcegHvL315SI6CxidtAdrJOBER/4sOPR38b018DF
XVJ8n1i0cbY163FJUXueOZ+GuWoLGXKChabeS1SXG77l1pm0p8lVhcXABigYw3jXqE+AWPc7eq65
5bcNemv3mfh6+77W1P2rtnGZZyKE0biYx4LIzMM7HQniF3/CKC7fyW9O9OU2nTW5QJIdGXZAeptv
BNAeyplVNQRw5neV+Jjf9/MhyzaIrF2QC6EDuKWDEU7dnExFIYp+dqDZ2E9boGVcvOMZIQHGuQUj
Tz0dKrztTSpYBeM4JrL4yvK6AWJakYRC9fOGKOhNCK+2kWIFPEPJyLE9pskCs7Hc3pihFVxsWPXL
RyzAO8Qi3RMrrIj5OOed37g/C74VbK4pPBwO06/IvWPz1vL3Cy+jFiWr2mTAu6qnfSWSwEt/ivn3
s+82CvKovGHlG6e6t84SMQA9Y8xC5ub0qani8WCP9niuOhVt+bgrfjscXEqcJW/toMRzfSCAxfRD
zKcsLNPoUCfpRzvBWnCr2831cWTnqBzhapDB7+xna6QB89QjVb0vH7hX+11mFr7loV2vjPqPv/0m
rj5sEecLTtNBdSTzVBaapvc18ZSfYvKSpuJOsA1dqSMPLsJ0RUq7VEwaA1G477Mw66eDJH6dnNP5
ueeeb9sfTfsuqkI65jua7sdMwPyku/cc1XMQmnl4QK+QnxdHLV1F8giZEtjq1p/iX1ZGEKGdrK3m
shXhxTn/o6OpaNQLJ6+lbhYWwxR97IaiOLnp9KVVQL29faJVStTCGhSCF8qIRom7s+EO1ZyFdix3
rvstSRq/HOnhNhUdVuSfi7sgo2kBVdMorywrC+kc2MxLA2Qb/FlGh9lUPzLlQAfU+6xrHlTsfCDl
cGBed3SsESuSybzncR+QgZ1uf9Tq0fF0ocY9mAwdjLahdK7ZgAcFdD3fOkVR5ouN0u+KWYLKA6Ye
YEhdG37L9dOYc6NEn5mJN0t4etfIZpe74zNt6seC9C/YekM2BHSVILcX52ip1HnaWxyjoU4QuWVh
bPyRlO6OzH75FXBWu2z8dZt7q+rogpL2FG0XvjGtQWmavljAbxHAg8Y6M8qR7McaxeHLbXJrmWUb
iT38h6QIg9a9ZqXIPJHUwsjCQZAZkOmF2LsVMPVym8RBN+YR9ppl3c5MohHzy7k6AQG3vnMqia7h
JPsRVd24S7B18j3vx7PBCG47rqdnZflgjcol+KxWnlFn9uu58a3+6fbhVyX1gojO66nvE3OOQMSH
N+iEgxncJrDi1jhwdBkKY/AJ3gAWSp6rSpgsC8XUeDtneuyXTFpcPSaoWe5v01ouSnN4QcuBJkeD
BxxszVWT2F1Mxgq6zZX2t6bp7pK+/XSbhD6Vsagb0GBwBuFFwWhqcYIolSJMgmHdXJ8kL/xIIeim
vtdmgbTQ61O/lNnLXADKm+ZfrUEE8TjuGAoQg1kGckLZqtv6ppVLvPom61qAa8tFoY4Dg8PL7D/n
dL7L0TThFJhfsv1hfCosIAWbaqe6D03TQpjJd2GV3xzoysxJN5yJFTVx9S2aXuoidJ2TGH1waCd0
TlTlzCfZVJ1ZX0V+PhvFYSzm4Xj7VlYv3nKAnoakAACCtUuRaVIN3YBLqV3RBlXSIvowyfz7Wt1B
28i/VDQ2Y3ttxfvYg0uWHD3xkbYnGb3cPsiaT3tFQ2PfkLZeziuwrxieU/hUFnwv0vzi8a+I8KCZ
2iBh9p0BkJrbhFefqcVNz1123lj6fE7WW43s0YUVOuRIi3OivnfPpN0gsqZpcbr/qGj3VJXAAsaY
Vh4aqWuhDWPs9nmeZndN1Zn5LlXmfM+o1/whBtGcqn40PiC7hY3SRg3AaSMSARdt75ciijbcv3UB
+u/DtKvN2zKRQynysN2rT8aGPVt9nhen1u6U9u0UQQmibZNIv3Xr3TT+TLfQcrYuUDNig5PZbcMh
OH0c7+MYEFrTrxZYtx5PNuzSFiXNZBDZeYk00Fg7j4fYepjv1HzX2L8f/lxJyvIRF+5w12ZDL2LI
49if67ja0ejE82xDHld1FQI423QdlCa55jpmfY1c99Kz24kocPsD1KVof3j5WZbfbz+vVfn6j5Le
rmUV3YzLhy032XCe+88ipe9RThcUtKdFY+TtJwvKaSfJB1N9KrcWcS3MeGNcLwhoTyQulBCdALPM
wYV2PReY4yzYJ0G+LI5J7DQ+Fszc5tr6/biEMhcY+6aeaaelGYlkQn/rrIr2OLdR/NgW0TH2Ir+A
soIX34vn2yRX3yqWaDsoUXhwWDQ2llCDEAhEE7XzNfPuWyp819jqQNQHZf9xIi6oaLycKQeG1khh
SYYkdMagFLtB5v7oEL+yRunPTotd8+1TDwcUSKeJP2Stn0nELAp5XK9o97YLbAYXO8macWejJatz
d7KPkGvpn5iJ0Y/bXFnxyFHqWMr3NpYzuHpyVI1q6QbC96ZV4tN22g3JX7Z9zsmf3QNlW6Hw6h1Q
+IqujVwEwO+v337aCRylX/xx3jwQmKVj11tB7QzeRh/VFqHl7xdKRrGRdEUJvwmtA4HLHlmHSCOe
Npi3+vYvjqOpssSCc5ZTHCcjd2il7zd8H33m5x9hwqUg0OYovb7Ot1ycwmjReSYanKKWZ7OWgSlP
meyDrkAJ5otM6S7u9k9MbsWD68fyHLSNoIkW9bZr5pV5UbXwO7PQsh4dFj8w5W0Y5VWpQ5Lt/1HQ
Egg5YyNmEWADeq/0R5v5Vkq+pfG9UdW5z5NwdLYc6eV1v9FxFxQ1gzDJKK2mZTQlT4y7iiaFr9Se
9RKefexjZdAdHU7CJLs5yf9o660M8G2Oum8qQo6Vk4zhvA2VJ6sr7sp6w6qumu5/z+fqBaFGtHD9
RpwPIJ9+P8efeOp87BzqO2JrNmHrMJqK65N+9LKFlSnqNQ9bYevWr2suVW90ZM5HsKo+j8e728pu
/UFhnAKLilE8QY3kWrJVapTDnOHTy7oPGqGOqqS7ZJpPcjb/TEsbE6BR99R4/VPSJGHSb3X1rx4O
G4SRU3WwY0bPa/PBYIa5DMa0U976FsZVPsu6GX/cPuZawyXy1+iOsABBglNq2s+zksLOhcxDZD6D
GdXyEVDus4uoMbaCsrpHC103Cd85O8OXtJv3mSKHKE/uusz20dB1mMz61AjzMNZpOCT0++3PW2PC
5ddpWrPqZCHSEV9H2tyPW+5X2cttCmsODaJ5smxq5nD0NAVm98zOqhqzQEV+ipt2L9L6oIbJJ3fw
DhDPqzvpiN1tmmsezSVNTaVllMvSYAvP4+9COUGcAUOl+hKBnVn76zatVTk2MeuChgjPgpnQHoly
8kYwE+4Ts18KNBAWtXcq4/FrptxglvTBUXuzifdj4n5Ls3LLedPns1/t0iX55YYv7BIvRVLweMpD
zJE5jGdHlO4xrlYfVU0euu5zbCS7kaJxt7mvUSGSQ6L8BsmDXZ/skr45oInz4MH3mqM5cOTWrok1
228ugxmcL43HehHHTLohKVwwx5wOZfqh+JK1G97FaiyPxRgWw+k4OkW0Sm+WUbspPUS7ZY3F5lES
qPaz6ZZBEZPPLQe0TBTtOSCBDLXhcawVM1CG/Y+ypsHMHFijyiJQvsPsp+3kJ8MH2f0cq5/1+NO2
Z59IdJjV9wbcSjNy9u2Wcvn/nB3TfYRhDgK17uvLJ1bMSwVgh7AnVcDqx5LLpSE3UNMczBZ61r3i
HHf3Tao2tPfqC0MGyMHCN/S56XnxrnAHpeIBTI+ssHAxF9PaQV82PuPtsU63hhhXxeiCnCbkaODI
G2DHwmOIP2dDfTSSR29zrmTrTJqmntOGmqXTI21iY59t7T005nezOGPf7cnMiv1ttbFKDDNYGClE
3tnRgYl4OdSYkoPsWI0XpMO+wYoZQb5VSOTN6YYN2qKlcQ/gZVw2Sz4olXvRIp5rf0yG3yP6oU5d
bbyKNefHvDiYxsUqG2FTFmJJoQ4GO2P4+oB23yDHW7jNwnXNe0FKM152qkhMDAuJBfqjaMr7zLqP
XGMfizKY2A+4rkqgV74Oq0pteHir8ugAIdZBl6f1ZsB1NmhDPQmla3LsRR1+NWkdDNUGkVXLiejM
Qlna8VCvvH7cPPdKs+vBSTPhRx6fW1HsMgVlHh069QWpRL8zyUauZvX2LmguonRhTRi6yyiwHvPQ
a06F9U06mLK2iyPg+D/fvrxVQmAdegoYauGvmu2CEIbesOGwq2Gi83E6lpNScIOqedeS2PO7vtyI
OVYvjCM7+E/5WUfiSLq4qbsBdiiPC9+0nlXa+HQrOfjqy+mBjYnmVfi0DnzaN5NpBNvEugpacfDy
Xcfb/hQxlGPdygyKnvstzZ8bQUp//ku0+bFCO4UyD0mR3c3xrpz4VmlrlcceDJSF0W/wWLvMpiN5
33uQ0qb/ULfF7POy9x1n3tsCTsDt+1xjsGVivoablCA81oQ1dqOyjywHXhA6TkFKqWe1+eIXRaXz
95KIdiDHIl2bji6m/5Nq18hzgZ6u28dYU5WXFDTP0RzEYHUJxQ2WeWD1f5vqiF10foc6r4Xhv9vE
1u7HcjjBUhrUHdFKe/3YJg+Rdgz3Dc0nZVBLca7G6dQmH+wer+E2qdXrcU3XtjlDh/MrnubFc6vQ
QgIngOdhRkXQWDvZortqawRwi4jmCResm4qEgnmu9ywVlsOm+7zI/8eTaMbMicyBpTYDroU6c8MM
qHwwmq2XsypoF+zSbkZmGAaqGrCLDAG/q4uNMyxS9EaO0ehOce3w21ztDHMvhOvNmCxUtP6C9GrQ
zNlz3zvn0SLHtqz+ihNvg+SqYKNXm7gItQk67K5lTVnKyGzEomGa1qFL0Vpjn9IKlUN0OiPJeVva
VtlH0T5sMhS9YU6uiVW2E9Vtl2E4n3SwxYQNRy7sasNWrYobEGwZhkEx76TLtCpsmRhjgbnBzJOB
sGoncGhvwh4P8nj7QKsvlXLMp8NYYVpby1iNhvDchmBE0RucQ+W8NEl8GPvMZ+LDbULrZ/qXkL54
sEPHKotKjLlV2APSqHHvDc9ZTzfuZ+M4OtpE3bWImea6CF0W+UPBfzT8U5LX+4LG+9vnWZMEmyyY
N8gvum8G6LOpzFuHxkUYdzM6rijAK//CZMKWwK1JtwPTDpcMqRaisy1XttP3FNZnmNT9ZMDEVnH1
M+nNz06DyngRPd0+1hoDobFtbxl1R5exJuB8KOIY2+yKsG6aQPKfwkL2xGgPcni8TWi1lntJSVMV
BcMYwkDaIhQA2gmsKUHHtNe6j63D6SEmHKtep6Y7OXGmMIfh/expFAe9TQxg73ihMGoatIUdv+M9
XH6Vpk2MFEsXxxHvobJfGP/bJN9RzkuKLQC1tdfAXTgT8LAxmuFoh7cGWSRoToQeyao97c6LNRm6
LUyhNW0MiAr06aLPa+nhvtZWNOccoJwYCLTKNvZ5v4v78hvr6nNrGXvRIyedmhvPYk1+8CYwLeBy
tEK97ky+MMeNG3cSdcQCg5Sz7Sfqk2XzwOyxhGLst9TkFi3r+nhoKOu4u4yLodvmT5nu+1zsYiQE
omje3RbWtVeINB+m8tGwY5l60w48p5IYk1uEtjWGwjXDCOhWZtsd85weqjzb6IFZi4/QS4bN4GiC
Rke3ppQds3GqokMT9FQASov29EM7/mn33n3i3ttoAcK/Onsj3dDQ+t6Q14Qb+tgsivknBtgR7e07
SU5HI8GYrZsgq5R0j1HafpRIEhTcPtouMrazDIpSPJB6uKdz5KdD+w7143noyEZKzSSeru6sSaST
xTCH6031eajZH4WwgypTd6zeqg6tSg8y12haxtWi5etaeiCTWWm6mG6Q8xSO3vCBoTlQTe4D3/S9
V0ihGgO8II7mfIT12n3KTgKVf0KjOZcvWMgXNP24qyVDv8DzbTldJYRIEI4QIL4wxXZ9JsusXFkz
3GBtPrjc/SSLX3I6G5T9ftDpEkwaAEjENJHn0LJzbsszpMUwReEY5BSjrbEgLVCvN3TxipK8oqJl
IWtnTFquMDlRIW0l2GPqAgO6fIfLekVF0yL23CXYG4zLUcr4qNCTSY0ny+iWAqHs0l3EuuD2Ja29
M1BcYH28Vxug3VI1DYObVssED6O9n9M88LJH6r5MFBa92pfYlVbGyq/JHzFg5jCgc7r9AWt8hXAg
pY+8Nd67JvmlJw01lATv3Bn9qviFQOM94D/uJQ0t3GwpKiNWDxqFU/kojdvc8d1io8azehDU+B1k
AWBz9P6ONM9Ri6wAZiOsX0wiFdE8Cm+r2WLtTVkEACYcpXGUyDVu9XNNVF3mZTinTnnsJ1r5UWH/
rEj9EYhazYalWaVmEhMoB6gggtz1C+6FM7pexjEbEs+nxur8uK6fejvZSbm1+WT5cC1WcwEdAlWL
7hhMiGqCT1yANqZOXIaJ94zN3HNxEvSeDXe22HDK167Jgh1DtgYpJE8fRamJVVU0MmRI63Ivo+6M
/PBDpuzPvy/Wl2Q0dTEK6qEgm5VhOyNSOmL9hzdszJMsL/MNyy5OorHM4u0IpHNRhoPKfVP96uv6
XbwCehlHpwwiwEU+Lvynvk1IyXocgtYvIEC9Z6J+3ebTinexzIL/S0ITaDZ2fE4xCRuaGED200k1
vtfNaE/YZ+l4z0ZnZ9TVvVHQl9t01zx+5HwxI2SitOIiNXR9NoDEx13HXIBslI199KqiOlap3ftp
1AEHn3CoXjhax3G03JfBZhhBrliQSWHvuWDOCaVPEZBqAmjl7Q9be3MYxWbo+sakI5rNte9qhmTw
kLUNrXo6uh5DMDIfJvuhnLfyYmvd39hNAwy8xa2DiV6eysX1jqZqERDgKZjCPU28PszZya75ng1e
wLuAoJQ6pN4dkH6C+JPXuYeIDbupTD8NfAys5ok6W81SayINYAKGCRDAAyCbev1FzQT0iDgty1DW
bu3zxomDxInUhs1bUwGXVLSH0wyDVSobMjeObQP92biBlQAJkkdTdbh9m6vmFfYVQ4Q2NmIjU3N9
IrssrdScZYlk0C+GDRwD2syqdClSDgQIRveVeTda99gMGVQeO9F6fIcKR28eXyDPMGjyOpJ/ccdV
XAhayKZE6fI8WefiW1tV/sYbXuMn4jqGUMTGPic9zzENEijffY1ba41dmh/nJtol40YYskVEuzR3
LAAdwXCQEu1t8L849u9ZW+B6q0SQbIApAmwnYpDr2/JI1No5G0EkeUROIKibB6mGd1wJ+mHQBIpq
E/ilaR5vKOYSLk+Fgfy29Fn+UCnx03IxkZi/x11AhxR1MMNqcxQMrs/TCsDQdV1dhaJpj0IaPybr
L7NI7/F4b8v5ivmGhXBsPCtU0bC/9ZrQJEgK3KWuBEpOF/leZRyMLj5zhtBCDDu3+OM2uZV7uiK3
6JELqWZdVCAP1pYh7yc/Kr+bGepMZf37egITua+FJg7HTm+fjcaiJklEINfoCZZde4zvUjfbsOJr
7Q2UY4ZxuR8HE5PLWS/OEpEEEj1WVdga/Dh4zqckfq769IFifHVuq11ZfkcrbSBF47cRts9II8jy
buN1rShelNOAIvuKIooGj+uPwCCFzNO+rUJeVqeyac5yC3p3RUIw4IecOFo7F22kPS1ULfq8F3kV
Nq3r19GHxDnGsfTtIvGjccu0rRwHyWq4FaiT2YzrAyCMxpKzfKqQGjHteQfpr7+5SYKQ7bYcrh0K
VXUXdwcib3q6B6eP5nmyoC+8DquBakue6CDFQUnH9KMKc358TpwNsVw5HHxxVJhwOgBn67D8Bep+
gwJIW+jm1T6be+xMEdY7Rt/BOgdXtYxH2npY1plYy+KNXoUJDI8fu8rIzmniGWenHNuNF7DCxOWW
qLUM0zBXx8mVDemR1EW9JMX/cMB2afvs1H3q05naBylTz2dlZ28kDdaYCILIojEUh4Cnei3wY+f1
RhHJOsyj5ruRLC3qXnS8LR0rWgpN9xh4R6YOk486HGIauaQZE6cOk/aBA3qj8bAoAeMfv08FOTL+
2mCJLint6WZuJGTJRBPaQM9l8zNKwo2x/99oaI9XxKPV2iJrwry0g2ON+T8z22jDWLsQdA4gqoW3
5FE9A9apyWr5kDawiuKOz83PQrxniBtQTZgJQ5sc7kQPMu3OdJverhpMMtNjzIydWcf7vo/ubnNr
kZ3rwAyHIEuW20FoAUDja9mSZdPOQPJEkE7jsHG+UbPxG+xGVekW4OYWpeVpXdiOTlQ5rHtSYvTi
iYmvRYQZO/oxM77ePtDbu8GBoAdwNQjW3txNKxjtJlvBuv8wJ7/bCsm3fl5LM1TAdYp7eEShkbGd
y3YyoxtvZIuC5nI5NU3jpMcBhn2LHUW3ufP2mSNUAd493CsYHaDlXl8CGhamrqL4/CY6Mk/6XffC
kw0duUoDuVpkDWwIlt7FTWqJxHDMcAPNI09fAF1MrOfbx1jjEXTIvyR0B9tq2rgeKaSWT75ULwCg
u03grbAChQoKd3kWMJj6s8DanGTKHbMMs3Zs/ISSPmzMClX5qhLBaAzzhp18dSmu3+E1Qe11VOOA
sSRA0YSNCvh0rKpd+6zqfRMfjHMqH0y1IQhbB9TkOJbSGQnqlSEtIzvgTh2dxsL4KgkaU+2maDY0
5iK0b48HFAjMcDO4+MuFXjz+IjIS2dszjmfYw052GLVy4AeYQ7O31N+13e1GszT8aBo29Ntbg73w
FQ0uBO6Vi/Hxa8IqmlNmR4iS0LZTVIdCxjvsBIjaJEizx9sys3bGpX6wYKpjgEpHO8fomOilBQfL
Y01YAP2OlecIuxt4cbAi4Zec+XTLqXv7EDBdCEghWAkYbaqviCuz0oaTQ9rQtn92C8T2Riv1Cvuu
fl9jn7QEGzIbvz+MKRIPHyJfxB/L1M/4BvNW5BGGDmyDB4JeMR0KYoHo9OzZauHU/z3kHyALLmby
is1E0uqBFjIA14afo+8+KYrWZfMYtWFC3buKARflS2+UwVyrc+5u1AUX5mhCDxMOQnAUECvpbejl
hOjZImkH25r6JWBtnATRxNfbUrdKBHtIlrzngvWiuVRNacwxd0AkBr9K8aL6Q96+3KaxItmcX9DQ
XCoDe+9lH+cdAGVIwHNxrtHcOmJNxJSSfVL9tIfMHzsr3YhYVoWbM7i88LXwsjTha5QT0WkqOqCP
fJbycRi2csarQodo1sbPI5Onb1/KeYlhurLtQlJ/yscIOZpxB400Wtb+NgNXToL6MENZdskU2m9O
ImtiT8PYhykgHPb2UKtT26XelhFZrLcmcOirQcyKyjc6oHSr1RldEnm904eTnIPcy1/KhD8o0zwM
WefTYvg89cVnZ5ZnNz3S7GzyF6q+3T7pW1FB2xXaexY0WsR9uqKHfURlk9oK2CmR3CfoLDgIw0JW
2Boiv7GyfJ/EKM1jtcnJHafidJv62wsFdSQOXSy1QC5Jf91dBbewq7kKMXAXKG/2c3KEefcruhGS
vVUj14Q0e2YqLqM4YirMxJ3MD0N1GDDaEz8YdOtOl/d7faeotMNwodoIrGI46dcGrE2jhrdUDWE3
iDoDiHden4kt+V4CODdIZyBYel4RBeg+b/xqjM2DQdryeJuvb5UMPgLTNAh4EY2gbnj9EalZUNFB
gsNijnZjDAQJMfpG42w8+JXrQ14W3T14KCga6gnoMYrk5A6AY+TDXnxq42VUMkwquUHmrYwusTsA
QLE1AsGPu3zGhTPSonaSs6wBqqBbk/vK7ueHxMCsk63y7x0DKjedSHvn5NMTGtHtDYdEX4yIRC1g
WjGdA4g5NIUz/ZDVrGY+lswMXQAXTQ6WYc1fqvwh/3sQu+zemz9PlvCJCqL+4Gbn7jN+6DhFX9Qv
6Txl0YnQNNjCYHvLd76MMQNlEXOJyPwvDLtgSGFJFxPFiRWmY1vtp4Y07NGTQtWBm7glBvMqVHQ2
VOLKoBLA9QDkswxM4Kr18rDqrVx1+Yx1Rkz5NkbPCg+LKBn3AWrqO7W3K3O2n2axb+jvq2MUbbEz
BKOHSIRhSu/6vLEp8rLNTTO0CwNb8DLqhm3a1V9uP5oVrqIZCJ1cCB+Abarniuq8Ueh/j8FVmZon
omhj+CXG8fzeRqA9AIpgQym9faWwYfAH0US2YI/qebBazCNnWHQbYrrSAmQfBZbWj7xxm+JBjGXK
NyR5JWZB9ct7xQtDhf9N+a9sUNcQZWuGhO6KOnAYtrn5lb0DfD4WvHkfCozhjL+t4a9paq4IEZHb
DLw0X8EwquFTvyvdOgAG+e27W1ERQIn9P6Rda3OjSLL9RUQAAgm+VhUIvS0Z27K/EHa7DeIpQDx/
/T14925LZUa1Mzs9EzERHaGkqjKzsjJPnoRWAosHlhJDvdWQKMejApk+ZT1LtLqgvX5REhpnRYp3
SxzlGQVeF3NDjPOlZ37QowUtkUDdeP8jfl4yiL3/1TwCDogfvM4YXGZIrVTjIyRFnSPHZLAWnGe2
Ehazhd6f7KbSTgKzHJM5xOAgZUP+BNW424WDKL9vQa+nrNvOWHfTYNOhAkiyiVlg1Ie89s1QsMix
nQZaAwW/GeBzoLi7FRhLk1K7gMtwnabNryBAsyLYJtUEEEvQTjppGFEpK0keFQLtHTEW3AIwf9yu
gMHweF2lCNTi1MLnASUoWUbbXN4zNTHpJSzrTnCJj3gCEHjgEkf/DzCyPDu6mSQINDHNABxP/uFS
o409yq1qCi4ixCb3deZnpIlbDfVTpF3QR/CDNDdqpHNRgxAOkwC04D2fFrWtSoUs2LxxKUgUA9QJ
u+dxeb6O8c8KPNAauOoTSbpz5UTnRoQUHzsivN7xQ1ALFAaHbb26lprmkjXxLJysjTjp1/Kk+tIC
/0JzICkFXmVc0tAqDOgtSiODVVxJOsPSojCKJ2sv1j/aRn/s9MtWqr3f9w9nVAxufQQfCNHBmXYr
BuVolE/jZAKgjQoCn9Y350O2xDnnci9Iwg1X2G3YiDmL4AEGlwvGiP1Q7z6Qdan0pyo44eMlgFF0
kr/khUyT+mEiSXP8+7eXhoocvIaCrqWZxi8tn83UoAIQf121r2kfExPNbaqINuan2qEKDY0DAhO5
yxk/U1rW4pMOgvApSJQ1tKifu9dw2kYChzQqBIgrFFqGUQYG55CyUwF9bn0I0cpKZnmeoezXGGfj
9E8EgRwcRq6jmsS3xJhVdM5SPZ8O5Jo5VdMEcY/fp5fPv3syOH7USzHqBG4dfX+3Sif3hRZiyOcU
A1HLRLZKc1bnTt0hBCJVmivh4e+Lg97JqMWhMoKH9a246uIV4HQLZut4VlSkntWPWmA4079P1QHc
zb+Cj6FbdMKJ6au8AQn1abYOpHw9SAEJ299O35jAeiKzhmk9ACXw9D5mnEyzWPJn6/pyesKjxUOV
b/aZx4aoE+/n9TAIAmvtd5ISTvt2y7QQ5V/PiGYoKr6VkeRmGHGUaPZJESUIxgTpqGfjZtAwbYqf
kFo0leydA1A4TzOT+g0Yen20tctgdhYdz31JP0Z9NoBoypWM4wFtlqVe3ibGmTUV2DAN0d36M2BB
oPKfNWEA5O3mBZfcxIMUkibeRsmKLbiYzlK5Vfwcj1RBNnR8VXAKGLUHum7+Ld7kMOM+x/6p4Smg
qa8GdnE+PWRJlq5SoxQY7ogjArgMOAugTAHz4VdWgbi9SuQGUUOAyjyRFP95BqTzr/v2OiplqJQB
O4IIjO+6PkWq7qVqroKZKDznJJ2oxVxB8Pe3rz7QxH/DtrF9iC05Hc/PysU/JyCIv8zimIUm2nZi
SZ7QfKq01j9YEVpAQL2CPhBg7W81IjupStqUF0R22qmm4Aiuwf8xMwQVjdF9+x7+DPcABz78/VXI
ANrd3jCCGlQXYWIe0GEZ2tM0MNj9tfzQbjD3wmmjgW0mI4HIIyylBkR8PkiP1lXik8LTDhgYx8oJ
rvOZ9jjJSsHW8fx4qCIMOoDLGmBLdFjxMABU7qMirhXVjQjbbOpFTj4W7oLkjJzJ61an1JHYXrBG
PhPwQ+iQ1rzaSmminE01g9BgcWHstCy+ls7q8/5Gcqb7QwZ3XC3QKSGSMarL3l4EwTCPm/zx21xY
p1xmp8iL8dv2pl3s/EVIltTxLIEYPnH0QwxnQrWkeqUJoL37vNFJRnYtWcx/PawJ3TqPDhPs1/c9
fRVA/pDGhcQXry+K2XAoK3ZU7LdNc9gtDr/mljTfXiiov6hIDb7v03sSh5D2Sg065GGifNhGtlHs
YtGzt4AuFgtydiySktqa0KeQPH6ZC8FS+TzGj6VyDqPX5C6Si0EwqJpfeih54whXN9xDf726H5bs
Tf9/dSvwXhFmu6R1FiE7PPx66WxKpddPdl/jx08QKN5hSD2y4VMuRALkvuqLqaS6xwvb2CXZHQJ2
mP8i1pko1CPLPXuWbIHM0VVeyeRMuQK+1vNCT3XThdzPt9361SBbK2Plbkkb8vgok0fn+b5MHhr+
r+O7ksmZ9ilu2omJTJvLggXwqbQn2qeyzD6hLI7P9ntR+8e4v7oSyNm711TY9N5U3Yb6GlEZczz6
GQpyBsOP/NCXKyGctYf+pBmqVqqrUfnBO/yvm8aZ9yybpiEeDap7ZtDGqLdqt/3owrUTz50nWjzt
YyoSyT1Jf5wTZ9+TJpFOF4QGbkezGJn94y9K081ssXeWwFXYe6E2cpfnD4GcXUdmhSTPyZ+4bPrp
fD0rgqQBz+3C/z6PZpv1XaHJJyjeaiORkmb4M39V2TIgDhOpw3f/0h19+NFuEPmyXvewZsx2pJuE
bHa7nbs4TBe/Hx4Itd7fIXbZEPYpSoWO3zt/NJFHogVSUE4kBZJXx5ZtAmovFg9kbZBXn1L6KdAS
nhzxx6ZyHkQpq7LVZRxasF6xt7eS+qQlD1N3fukIdfaf/odwawVOiwdRFAU6H2p5igWubNyr9WPM
ynnAUIZRvjrSrJzosSM+C+fCS0Fg5Dw6pTCySQzYvepe7OfNJnjYRI5t+2Rx0Nh8PZuvqUJVVlDn
c3/fZwosg2+W8sGQl0UJTPHDPRGfiBDawkPkvAvgCEWcDlfPhrXMtntymD8Qy7KWj1/CSGU8/LrS
T86vzIzk5KcNNGb1Vu4xmPCB+cwRxAh/YQSIEpF/MtH5zPn8/hQq4USJJljRmx2zHkq5eMBdugzJ
me6d/X5C7h8R3/T1b0P4I5G7ANAk3yrdIHEVL97qhZZSBF71piPOXkSq8Behwh9Z3HkVp8pvFdCL
ugl5Zm8Kc+0DPMuvOaGx9fS4338KtvMbIfvTm/0RyJ2Zpympn09DuGb2UR12PWjFGUbd07wlPVlg
cg9Zk9Z6Px2XzqMfkK+AxPvh6eH0DxHBHSV42I9fTX8+h7spzOasKVGJ9bPI6RqSLJJHJpr/9Bd6
+h8hfO/3JU+9pL5gzVnknF/0wibO09J5rsj/tphvVb6Kow21ml36DIvRPyKXerQiuiC05PtAeN38
1qcrEWetwPT1JJi4z2w3Da2GLZesIU7dEIGijMfmIC75t93xrJJJnAb9GZ2M7oTo+HNsLLyxlIYx
wb0jPB3t9vVRp+klDM4QtJIeg0evsjzi+I/7k0xWAlF/cZX/WRPnS84taO5P4aD8myMGppOOYlkZ
eZOtt+QpXvnu/oxgmdJ4+0ofQ0H3zHdi4o7p8ZmYpjISTy5Pg+kd7Td74X77sjkhFp6tT7jv8Eek
L+P33J8Vc/6lnvllPxtkVvR5uiw1tl0iXJEeVp+OMFzhADM/dJNzLVlX5WF0hm6uVh3d2BKx7cW8
JnMLD8glHsr33bTAc/BzHZu8ybvQhDQWeETZX56dL9GKRKo5GVZ8ZW0AsoBxRh5WhNEDy82AC3fP
KzTgpZrIdwhlDbHStawM9d9WGSx7Y0/BwU3hf23JFb2hRPcpn7/vLt70PP0+pWNHp/PN2wdxycPL
62vD3vEAF5yScFlcVAkOEdDQRYPSKwjxDLwN6YnFlAniqu9C4R3jmnBepDKDOJW/L5Lj5rx4+5AI
3vgI6MjMmhODvIfkKUDA0BGEDAK3PxrTIamvgwFh6PDilqijO20y0bIJHgil1e/ZSvD7wx34Y2lX
v88tbYohmAl40RGYm3iBIJV/IfJntxCd1Kj5XonhnKMGH+zpwzKeEQzPNltreFzft9nxh9uVDC60
qo2TV0YmlpKQiw0nsbFPpF4ZJxa54SaYn1krQOYIJXIOsI18z0+TdDgcdX5hR5Ogh7uleNE4outl
PHC8Wh3nAE/VZYbJesnELeyCDSfVrouYPT06+y9RVvW7KfeeUnCBk9H7SaNp2MkKcpgdsOnagvnu
RYsSKB9fpVA1Weu1KdYUojHCffxqiP8hUAqB4n1HItee75zOmnMCEc8bjeZPNYnRU23YQm8+2Mmd
Lft2VVdy1CjHFGgfcrr56jidvyVLqSXp1nFy0aaNB09/NIHHuJhGkWSejtPZbEKAYC1EFQ3JceUK
836izeOcQ+xJOehsISm3jmxn2y05pKtfMbEQ4dLVc+bcP6zx6+NqZZyXwEQiDBk9YxMnJCFHpDcX
h8OMPlzIw/rVialBhcc2ZEvvHRvnM6K8by8esBvu6XkqzVtqOc7edJMXwPkELz/h4jhnkcW+H6K3
f3AWiHhnBKtbzA/aUIWx6BIeQ3BrfRMr3Fsb5zHyzDt10hQCMYLubbXZ2YsL6bflL+p87ff/YCcB
dkDBDPiUoYzKv4NqzwSGT7sgnBloju0Z0fZBzmp1iYYC4+W+onwX+26XdiuMi2caNBHUSpTDqldH
pK+Q2FnM5+YeNRP8I7ghRzLRt8IGHboybVOqc5COD8KQ4iT9GvOjArYg1rashpKQSNygcvfWxt34
eakVdd9AHAawX1hH1WVOwBrMZps1mnVcvcUbhgruZ5FMztB9Le2i8FRMXCD2ktTK0DveyI9A6wrO
7Wc0c7uVnIEH6SmJWwVrY0e8jEDycrLKzl6m1qPj9JIw7P3pv27FcdathJKpNBWWtTpu5ClJ3+U1
DO3+mn7eYbcyOLNOi/rkN+iCc/OG2ceAag8yhkVRel/KyPV/K4Yz5q5oMwPkIxNUJ1YyWICszCcJ
7XZaRSsFAYdICwctu6eFXAgwM8LLVCohj012m8KNJNJvkA8TeimB5vGvoK4HRLZQv48o+V08iRRu
2JY7y+BhUmeEGP00x+lEHTlCCWDAiJx+HWumWUlwmAnkCfSbf/9Ipqn252HXNs+n98BuHlKRUxec
y4TzDrUflehYxYK6/XEVulrDppIdP5+RWFgJNHskvL3ROf7ZI+mnWdIbkPW8YRLZEG9RUzyxHhsi
SpmPFN9uRXGOYRaol6nhYeOA3A8vpHoIIEeUDRrJT95K4fxBkGTaJTMg5XlzrJ7fOssk/XlZsWI6
PBwfLTolrzEhW+l1tVlJu82K0XyHujEqP//rfcmzDUxPGejN20HxT1NSzX+D+AqBlSPGYYg0hvMc
kRwbVd/hYm4oaoJNuJhRcHqlU8IoE6i/wBdOOKdRKaFfXvwaOUqyYueaAGv+K3oUuSaBkWmD17+6
j/sSBIhNM6ilTjbMmJvk7W3nkvkcY6MD8ixwvIPm3fEgGhdqpIUXROA1nLjH1rd0UqyZSXywaFj6
vg424rqHJpDHRRulmhVqAHIwlCR2Qb5co5o6o0x5MFklSuCNFAhu7IFvrJNztZTjYSdxqXhvCLkz
Yu8WKOv4i9NiDWyQ8LYU3WM8Jeus8i5+3mB5DO54tyHJpllQYegrUhHOnfhlbniXHlIq2iyTjiDp
dUkIkZ70OTwlCg0ityyINHhQe9l1JrjJoSX97tnY5yhVVcJU0MjD7/a4uFCjCLKL1zTlENAfWY+M
V8u8+SYKrPsqL9o8zmH0GM54aczBSyakX6WCXxe5+h9taeegkOsaq0iesykxlqczLY2Fhl5q23w1
RXeY4GB4BuW0LDsw+n/vWc3kZ9NWPyuVqE7piArOItXmSehCIwaN0QSi2AbBrcJseVPa+StuMlFS
cCTbf6MJPNNr1RUnoOkhagrMwHEKxkr82aHKVZKFv5Qfi9Rq5znM90v4HBI5DR7gnqfTctKdcZ9M
UObY2KoFPNcJL6JkM7PMeVUTqpInWtEzSzcCZyy4X/hxGmoaVVEyXGXxxdJ66ko0Npjei15DwpPk
3IfiISStCsjpBkMLGJ5fsY2cJUIswYpGUm23J8mFJErZd8mkPU+A2HneoIW6Oujb/g3JNh+lN2HC
baTEdyuOcyFqjc6zfHiAARSxOX8YZAjmVsIq9/DVdy5NvgUf3f9JIusQ09Dn42xnM9VqKgvFqN6y
nItO7zuskUzH7aq4uKNQsy6aDk/mZ11BfL/qz0SeNxTsIxY6zCgJiePMmCESO1z9d1bJE/n6sZaA
M2rYTExZOnuUyiRiX74tio7HHTJ48dD/iToADxeOsjYsmqhDcFxRTA6Q9lpJRUHV+Fr+yODCnNpU
qg4zHAfntWpfLKQ4yJeojvIXaZs/QrjYJjeSou09CDkOKNCSLhIK0NEWiKNlOnf+4fvljzjurTSL
GnCcdIgCVpvjJtnQktFHpBEFWzc4g59a8EfKENBdhaPTaTqZ9hgA7D6fZQL6K5GHGDbl3u9zzqi+
qEakFPj9iDxvJkzZbvEGc4QIrXGT/bMMzhHlWd16bfutAOW7aferjY1/ADK9fJo03eYn0qxp5+A2
M2z6FT4JTHj8nv4jnnNM3SzxtKKCeHtnAwFtoQNYEAqMIJEHL/FHBBfXnNJ8Gmj6sMIjLmgAkXeu
C9CbP7cAggesdPllsi+Bcow7XDCdDLwZ3wP+brVDirQGJM89nkQBCdfRNn6Vf2u7apFamAfsPYaO
EL84spNoYsEQlYHCDmSX3DJbPTF9r+5lt/PKHnO5Jv6rH10waD48y6jx9Sd1nRlm55xMFcPo0Aq6
RYz0N7usUK7HTCg0yOtDUyQm3XOWDpyYokuSKrvnch/GPpmklpG93NeZkZfSACEBJQqaKIb5pLdb
Ozt5nZyVueq2kTtVpuQEHsr7Er5bfzjbg4ihMehfzWLcMgwdHQZqXqgI6yNyjBfI2r/5Bd3FqDH6
291CWR0kOk+d9cuUNOxMsFLVrtblems91fNHgTKNLhgcx5gkN9Be8WT4EYic9bQ6AzwcIGUwyZle
irg6xuIRXQZdDagsMMUJxCC3mxon6Hf2Lz6iuws9grc0IOaMNGcSNQSJ2iUw9G3IpltPsNMjThTE
bwN372QyAx06d4P7huprVaFCrDYhWe3ULVjyhBH6oBHccYJGEETR4G7CEF0edoSeodjPMxMeYJe/
1S/eWlouv8Dvrz+w+4ozZvY3krhLIdIbvz8HkFTYqxkJXdOKFBYxZ1URgxb2fWljzwF0iOgmBiUM
Y0j4CedZnGsIEODZIhKRTZ5atUp6H4mRCVAyh5pq6LQo+620aaeknj+hxMUEqjlWJAFiRR5oKgb+
Lf4AO79tC82TEDIv1e1H61xO5OQgQJ/J82RBT3ZKWb8T0cCNAEAMSMWAF2Xg0gT5y622hrp86Ts5
0dxJsQhNp2qmVAa5Hw0P57k5XVcdrWagHSD393vsIY69RvcXdBW9iXwvmtyAF2LmKaaLxLhVr9RF
vgiI+rIX+fJvnBGnsEOb70AvBUYb9LHfri+Rwmna5hMIYl1HWf4uD/iC4jkmu+nCB6hSIsl7jf+b
bJSAvmBScs4mS5kATgpeOuVBdIeORdo3H8S5h1Ax00ssqaZbWv52E9unZUnffEcis20ck3obWllA
9iJk4vCr97aB8w5eE3i6jy51Nz4R8xCtYUiPzv0zHYmxrxYGlujbnVYqECfG4KZ2u5qlATjkV+1K
W5x0UTQ3EmbdyOE01qjMslR8yFmFi8rqTFo3trnVSOlSK04ZGvrJEmON7y9u5N18I5S7xsKLlvgV
WvxdyOwtEPLUMsu890sLHKnu3pclUJEfZKSpH+lafp4OOqsum/cJa0oS2gnVp2S7nFBresyYME17
X0OmMudvgyaWwj7BtrJiIVkt3abUF/j0EWPEcCA03IMzSwfTPN9FKZWlFGeNZ7oTNiHpHLN8WtbP
e+o/SbvLon7R5+VTiJenTmb6xo8wsNSOIuqjQLfoD+e3mBQXEsWur89FDBQ/Vw9SUxlDa8B8JGPx
nFLJl9ZP0J3vuX3OpiWacZNFppmYyAKYcBzbMxGZ7U99gjxMkwB7x0AtNeXeCm0qYzBJHnnuUbZc
N6CoXBxFl/V0OLJbo78Vwvm+KSCf5rmAkOfj7rdtrwy6Qq7LVphSk8TJ5hubrTZoQ9gt0NPqO8Hu
4XW5tILt+3a7nSyTB7zG92A/J8vlyabL5SN9FyVvvst59z5xOJerp59/6v2pp+MTGRD2Hx8msuc1
ywBn3uTEnW+XAE31y6VCe8sBVACTREQX0WC4Pz4AbBYmeAwAEeRv3f7k62pReB6qgb2NWcK60zvN
67kjsZPtpFcRhmX0SP6I4xMeCUjGor4wPVczzjScHvVcQM4wEn7i0K8kcJrs5xOww9SQUNjp4lSS
t5zIVr7MqUmDrf96Ju1zQVWB7/8GR/PbCH4TDLUGbZmMzbw9x1N+Nto0S7WhKzYjOdHo7kTsA5kD
d7SGOj0BMSNSnpFuGsQQiEUHQhJwn3xXX6+Vp4y9sDw1motHhcIAKAU8J2febvvekMyqrBliucf3
+875u2TLrfRGKGe56GX3FO0CoQWD1ZQEbUmn3x5b2Jvj6tNkn5+Zw5rayTOYzTKldD/F2Kgz2f/9
a/B28ZxxY55zLV1yfIeGRJCdLWN22vt772FBumNqTV+0D8m9v/QRH3mzcs5WVdnQuzCvNDc9kbfz
hEwXYGEWRcEj9ngjhAtU/FAt40yHEGbu3qa/D6DMaecoou3vr+VnsHKzezzWKijTWVuoteYa82B3
eJgspc/7AkTKyXebdKfzzJNNSOh38tsFiaAJQ0fBYk40tm6XzTEm9KkReLORDgosa4pJDyAOAzUC
37EXdQlob+MOu4dWcfQw+JZbblwiDc2Cq8N8RudUp4/yqiOnlHztJwvBoke39Uo+l2mTtBZzs/V2
MI4EAMShimPn1EXwsllE9OFl6LHePj0Gy8BC1lxwpiPJ0dvVc6aJCC09hZhH7tbH0/t0CctsHQAu
4dSth5d1ttiCqCEQwRDGXN/NnnOGiLc+/nrY86EBldk73XEXUwl9cIeZZQFUsvzqPoYd9xkTVrFG
reVqvzmTnHTlFOkMyAYcw0cp8Dl+XJB+b1nJw7u2DpGCpuY/wUPc7jNno5h8Ws96jHXDE8ZOmQvn
N9cAwXydifR55E0MSUjBYdApMiqgybq9VqbmKUx9Q8GJwnw+lNViHpM1iAgs1CNOrCMi9NEIz8et
wCH/cXWlZCd/dlF6CFyxzRtKgdChg8EOUzYHxFQdYlaKBISw2jPqWq/WOYQN12IBVwC4H2KBL9mc
bUVbxFt1/TlzV/v4bWh6EhVExgKvm53lLHXWJ9nMbCGxoitmR04+r532JaPm4TfQQ/MLKk3vT0/F
JsIum4u9vpstDCu2tK3A4Y+bz9XSOaNVL4GuBAk+JALiZWPXC/BNozFkflqv15PlmSwzBmSR/F/U
YcdCpZs94Cw3x1Q1RY8gOreegWdDX0U2LzoEvLKzF/ZfjUT8N8I4U9W8Sd3WpTysM3yoU7fKqD4j
hWxF0900EjxXR7Jnt3rMmagqTaTsfB6k9bRO4Qflx9dlCZjjfqiKsvtuX7SRPNc6yHAlHzOyYTUb
PC8MUqPCho6eoZ8HjCECNz8CA79ZG09EZxSYeDwp4PSMTb4Eywshc3QToZkNbcc0tU5sJrjWRgAX
txI5N5QFUXSKLpCoo4D0Zs+jhSPYwdGL848VGJzfKftLYsQNJJyZrTuY0bu1rO0Szx1EPqJk5/g9
eSWM8zaniV5M9BTHVTNjWRKVMvc7Pngw2Fyax05iS0xiohlH48HJlVjO5QRmEqpKBLEJWW02aCZB
PGQvDEbIL7JuGJ56S8e3Px1RM47IxRici4kxPiruMgh+Pq4Qkti2Ag+TPUkWmf9aW3hVLh8lltKY
hlSkq8O5/XgtXK2ZczHhJS4brYHojAQPU6oQdCzgMlkDJmm9W/QRqb698Q+egNeuhh+4kXRGiFw2
hMpDSxXO1k3oYTH37PlWBapKoLqiJXKuJgyi2NQquJrVatrQAgXioRL9T9ojboyQnxpx0QsjCkCs
7wavwaP6OUUNVXptyGovUtRv+OOdQ+Opd1tTkaZyNIG+BGt9F23RW72pnou1wj4Ww3wHcjjgflxv
VbTib6cE4fzams1fweN/Gpg/oo//bYf5tFnoN0pfDfaqWgrBcZKIztfo2g0s7XBf1Ag06XaTOT90
SXVl2lbYZFioROR3e9ESQk4U6vrUztGjuf8SmcjPauutSM4b1cB7xXKq481ytuMd+GXlBfAMDpWY
yZrVI3h3fGa+SutSVIT4RkreO2fOIYWhrxfxBYvF5EmGSen0IrGDjeRkNc89AnwvcMtDPQgoWdjR
iq0enUf6+vqC0KSnr1tAjO7v/ghc/HYrOEeFMXNFcJZxC0w3ufUh4eWyUOa1RZE9qcjnfWGiCJCv
jBjyuQy6EvsefYHx1ELCzQYX1uI0VxKi/nod2hVnayQzmEPfkQ+Go7z/AcPu3tt9LiCaBlGVdqGG
S/XjVyQaZTBSYLrdSs4rlZNs0vgNzjaE2RLws1nbd+v+AgSPBUxMuI3a2/5yauUenk/3V3ZOIozV
eAgo2koklA0l0lRzPMIuh5BYuenIJH0SmM6wQz92EOyHUxkFdjBUKrfyZa/yTyEGn7irdK1/aL/A
GiWQMBqWXEngAp+im1yACYCEKNirybquWCdRXSLP93dyPIC8ksO5HTBKz4JJD12UKeqP1vzh5UWh
A/gSsarowT6uGlfCOIeTXDDPeXhuuReTFOed8VUnTxjvTNrUKt1uVQFQK2IfHwz33klxnsY0ujot
Fezj6etYYvyMtKxEg6LG38pXy+KcRxGEpackBiq55DjQYA38FYenp4EkSXBcIr3jghq5vfjTssMG
rk4p61ca6w3GhFGqSPc4/5CqUYhpOLMhXDyi16iVSfzRWqDHOLGvxjFBZvQsxCOOy5who4JRgJrB
s1bIoYmrSAt09GyxeAdHiIvoq1nhEeN8Cgv+g/H8VIr/COMbtwq9lrImCnW8KtiGxRjwwQxCwV0h
lDR6xWKOwL+Xxfdw5UanqL5/0vG6QCOSSbKjkMdx/MV5JYNzFV2BEda66n2nMN7qgAA8MVfJEuRE
8VygfyOgBTj3K1mcu8h6jLbtPMgynQ2bAJdlq4vWSl63lahVfDJuuX+2jnMWgIRgRpUqwQPikIbS
1NtuU1nnBSup7R4Oh7lJz9Z6vn6t1luwWCy/vsAQKOwzGX+BXq2YcyCt6QW+V0AxTTsdusi9hV0t
1JUIRDiC8LvdWc6JRCetqkLPhwGsagamaDzQBpaOdIV8EGpHS/qY0v2eiYi2xiOfq/VxLkVp6tib
dFjf83FznNnVpt9vnwb1ocLX0Zj3GmA+mJUta+Cz5060rup84jWx7pZLlEMzDDVCekR6Pi20IwIt
BJufK3b/eht+kTd0TPDACAUVuVGNZzbw5fxcFMlEd7VphllqJ9KKYDxDNMNLwJhDoARRfwPBPKce
eup72Uwe1kTOCikIfVd+i+6w0XDnWginG3UVxJJRZzr60wl7K9+jrUyPq+Rrc8R45wlSPaxb/xf0
t2Nu8lospxqalk29cz+I3VxYcBoa/0t0PXvuhZRsDjIo60KXUMrP+4c2miW5lsvdP1pW9VLTJYPT
nGG932RJ4JRcW0/gtRMFJWNKeS2MC1flzLhciuSsu31FjXybeMv+PYjnJhMxUoxa2h9JP4LWS6nX
HoZxYjuPwEJPXqL1sn4C+6BoRaNpumtBXHRaJ5EeVIOgCJUgMAjbyKeD3Xf+gC4G1dbFXEbDD/61
EQDHh7+/SqKHmnHRquHAIgImQqC86denmIVCuIHc5YMB4HVc4sEKMQU7GvMZyt0zwLjOq+Dgh4Qx
0U5+N33eWxjnsfrQr/QJZpG5yNUfNzpS1UfJkXPSm2z6izLneeCq7Zb4b75Hp+3T09Lq6UsaA5RN
QW8j+p7Rq/76ZDlvM5nkbd1N8D2oOtmJlc3bQ205k0b4LBg7UczEBW8TKkAYccKdaAE+uKpNGgiS
UrIxjyroZG0f9YFHkbGPBX7XkrhD1WrJMMMKkvpHhM9STGfEtGt4GsBA4U6HRDaBMglczJjVX0vl
DtZUu2TW5q3uhibpIpbM5QtSZ/0D6j0DG5aK7O+nqN4y/CavTJhzYQCYrIPXnUc61RiVfik6XXeP
RwV0SxkAj0Qhga2b7OzkBfOIpSMTu6eVk3jgC+3mgkWLPoA7VAwvRZioaroLPKb3jtnDqls7ckD9
5F2TKfC1GToJunw+OQkkj15g10vnDjksWklqYyw9LVn+jAqt/GrS9bpC6hmhBpnNX6gMXGSw70XT
0UcfuNeiuZNGQtafxgFEn3+pVlu4mrqYAupeecDBNUx9NV5Nk8reKgJaPF5m6CkT7PqYgs8GVDEO
XcFwRW7tspli4X0wQyIapF67zXN28PdBTJ6empcAdc3P+/JGCN9MvM3+yOMWnCTo56hmkLcKz4jP
A4VOWU08NAKeXwBnRv67s9fgZTbXOphLMyuYd2j9cib/oLPNBORQ1TQVoxyHKOz2VvAbOdJB3jdz
Y/QtyRoJZvvG1peXobbSOc3Hfq/1BMAdkZ2N2PaNXC58SIpZ4KG7bYbnOHipQZpxzNHS6n70sLWD
ttDcXymYf5f92/KycaTF10zYKyb6Ai6myDE9rktVfIHv6C9oQ/5AT+v++agtj6ty+enbnSM49DEt
HzoDZpjJh/lN6Nm53evuDF6NBDAxt4keTq7KUNDpVok9pHH25SqY66/3teybq4NzZjcCuSV2cXry
41qClgHbjUmEAd217OTItSU9JYv35aO3fVxaJHj+ri8BNADIwAWE1RF6CASfMlx63KdoGNeJniH0
ZmJMCPcpJSZYtmZTSq7h21GbEG3mGh+FNC9ODzr6lJTzspm8Zv2M6M1XktlRtQ8bdjJbcpLP5Ky+
5+eNHhYkhAuMwQTqROG6wQi5dFcbtG4XUlxR1XALaRv0Vg7a39+JCC869qy+XsJ3XeQqgOrOWXc5
YxqnqzyWX5PLQjUDUP5W5sZTrPNeWuQerSv3/r6NhYk3QrkwseunSmMkueRKMisQO9nhp6RY+qpH
OGNTYuyospHdJxlYlr0IjTn2rL4Rzt1FcZDMgtjEitMKYOPHKJaZ/zCdHLozy3KMDZYOaipIe4+g
u2EifxSFp4zIJ0autcZZcnWV5qXtGVRRMRbud736AGXw5HdeLKpfHvk100mvwSfmoSK6DAS6qnHO
uY8ldL6p2POJSkOV/j7shtLk2WolC22kmEfhCA552Mcb44BVoC/JwMBQTLH/QW1mVIYsyUXrub5B
7U22PT9qVmjPZiRGvXBr0doCoocmO4FRfmvsPbmcchVnI9QDFXJLZXF5KVYYJAcS+ZJOHCRSmLuR
UVCLbTIv7bmbsv/j7LuWXDeSYL8IEfDmtRuGoB3OkONeEDPnDOG9x9ffxOyNXRLEJa600kqrVQQL
7aqrq7IyTcu1AoTPgWe/RIYmA7yZWBEVnh7Pxn0C+nc20G2DiQA509RNSmzaybLDO6f8VfOJWoak
+Ubx6TuP9UJ7YdiayNlC7HO/0yc2J+5JbSon8UQBQGvlj7DRjhJdn5cor+5LSrdG7jKaKbhD0Xnn
nJAki1e49BTyvsn0xjPkp9BCs436pDiGBOFk0AKZuIFR5LuARoIf/vEOH78E0HooSksCh3+4vYm0
vG8iPpExXMFBwf/wfRgJpYNSTxx02Ky9bmGn3WffJwYn88vmUuHFjeScumJVVQBbN3/rnbIbjGK/
j09w2aaP7CC/WrB7H2fd2p1qbSRNljiYcee0CS+b93CfktiAWGz46ZhvoT+C5YAyGF8v2tPxJTq+
HBf28uzJ/t9EK5MTpkZpxAml6pxSibAlqVhSGcwxfkJUA4f92Nh9/8g4WPSrQsdVkyFCPMlA1W6t
VazoMaeNaDnH4CnZOkZPAgOYJiquQRMOnClEMVxrQD/QR9yM9Xn0cr1cHn/HfZwz+Y5JTAntXDVN
OcYBnYAV5hCvNvgtDXVf981LYFQ5uWxk47HN+0baic3JjlY9hoNcsMucdAhU6ma3NaM/J9MPycne
kfZTFMiXbK74zbp/O65WkaF8ffX61xlR7lJkO27lqVOF4j3gxVDfw3ticntobu6WTo9IB70jry6S
gMOpOXjv8V6k4Vq12l3LkXVklHhKiittXX0G64Kuc47oS11ts17t+lMmmYhe6ArGqfEpZbSSqreO
pZKwaV9cjgQduu0Z+/EicOPQJkPXQM2Jt8s4djQ63LqVTG0ryA/hlCNOqffwo0YHoQvUpDwUiP4+
Nnb3YtMgM4TbUlFkyB1C1PPWVswqcarJ2GRSRXvw0yUbRkUv1F47PbZzn+j8NYQOSUjbCVjViaHK
D+oiVwIEJESPn+vPJkR6VT5Ily9ej4zmvELKX1kkE7jPIt2anYIGm1BJkfKErGeGlBnmUgzINjdl
E0H7ksTSnOMYZbvxIMNfeAQgt3MZdq2WBilsNSO249isTGHVnsPP0+gvCMA8kP4yXsS39IB6FWA1
3zg27aamS/jiuav/5kOE2w9J1Vyp0wQfkstE3AfaWnYMnnbqsVb+VDSuSdYu6BrcZw/Heb4a++S4
hlnPdkMIk6+bXadnf03z83O32WxWGdjsykOCUyzTQ/9zKnNSn434xI1ZgfwD13OynKSdPUEop4mS
AE1kdCrdTgDHpSEKMBJzilyjzsBftWHdQ1ZB1NysNUuNqNzt/Q+to21jlZq5sNVHJ3l3fnGFIF0K
0AT6jyfWM0306rqFE1WIs0vQo+RTN9Bbkwen79901ARZojifHTCWQEYXMs8Jvy7l6lGVBEwYprUC
9Vru0GBq2TRZigHuyrv4eUlDkgNPT0gzy9M5zRy36+vaO/PqHiADGge2EB4z5l0WQX6bmAyNDRl0
AI77mggf6kYYKCa4z9YSv5ECY9CchWhz9ryhn1wR0FkOSoJfl3M1aMjWF6kPTMd5YI5eZXf5UWzP
XfdWIruXUTWlfP7K9xURyveG14NBMZqBDK9B+6UotEGPsuKmujCQLPphWuprPh1Ss5V3iqBDJb7w
q6V4cYwcphtjFAWHRLwIUdEplMZVMgci2o17FkzFgRZC9C4qCBirhAw1EVOqCkZSWLlLezzR4qfI
XQgpfgPS6QeAUEGC1jkPgogp5lCp2riMcsk7xwlqeE8qGPh1xHGJ3X5Vot5+DWCe1svXIdtx+UeV
gShDBrO88p2mFNCVIA90yYzBUmCqFa2FMbcpGinzNTzn51ijnEtY+VnUiG80vcFKRqyYEJnlLGer
qVQzu9CW37KBDnvfrh2CDnRO09O1J5sOOtT/OkhEnKqdQyE5FMREYEjt695XC+0v5+/jIzrrrjRB
E1VAmsZdPYmtvLJ2JNaRvTMTUO+Qk+Cdp+rao5FughGe4gDpBvCICXk6iHq0CnUje16H5pfytVJs
Sa9MbdW6i+mdmUtSQa0MLCbjmw1cJhPHHfOeqLi9iDM27LiM+APNnmqFJVLhrvJ81+z8mDIRSV/U
VE+YleS8FB1pniuZ1uLS6bp3KfgWHiqECIORxZ+GwT2qXMnQB/65QmdyZvecHn1hhfMfKTD7sCNZ
eCpcynM6I63HOKglZdCQHiUF1zf4yGRsTaJJaHDNW8ssRYf3zggJZvwHZwlxC6rRty42zoI8TNvY
P3s28+6ZqfNUBiv2UuLpvXdykqGpOiUh82f4icPPgN1pAZoF2BX/j0HQGr5DxBZCezVkyYRJvJx2
nVxUbeGfo/5Je8HxkbbxGWWGuj8ytQ8WH7P4kZGBH3RWtfIXpVm4d2deZiCaQYWFG685KKNNJsJn
4qHgPCY45wAYNLQcaKrQ9Kd03lKD6TdtDkaRbUOKeo9wlSmeu9TMXaNVSfrtHkJp5zAI+8wyOATP
VUGlhSTEGNTd+pvbrxv32JWHLjqvHITx6yq063o08HExwQUPOy19dljSVPrjcz3zQFZwI6AiIEBJ
eWR2uTWYF0PdV4MXnwN+m0EP44t1jDrQc3aT7hzHhIvxT2yx4gTindOADjlxlxAM9wlOKG1DMhzE
PCwqYNw0DHSSImAbIUzOtZVA7ebJ+QDEC95Vb99qOzqz7sK1MnNQb+xNtkAsQ2TbCWAvYS8arjsg
Jx/P6n08Mw5IROyOSEqGgPjtpHZxwimuliRnsFe6EAS+tN//H91pY1Q02Ss3ViZ7hXPQVSm7RXJu
VLs+dhvBrDbaGslqt1ilurhh6oWzM+6FqUFBUxWIIADRwk+TCsB7VIwgeOnZKS6VZ3bVa5NuH8/c
zNMRXKJXNsZBXx2A1B+1cXPYyOz3iidssJFPjMVuih5Vqce25lZJxOMK7loRJUWbzJ+jxS5fNVV6
RixR9wayXQl4x0uDe2UWOwnn1ura1uSYZU0eRNJQpmflT1vA7xB243nbMHhlqoP8Xta0bMwoNR4P
cCbPisAT8a2Mzn/cSr9MFFeTGdS5kGi+kp09aMoPCCCU9zCxG8aE7LAnbJtSj0ODfRIueTQQ5LOr
8OTWK+boaltG+vS5gPAcyd2VCjhWS6RA52MaJStFea+Y17q0h9JQS7vxkW1Z94hM0KLXI04MaFq/
OEu50vvdhxwlLq/xWCGcnr6Hs0RoPL9t87Pn65L0mSY7sV54iNx7X5hADgEZBJnHi3sMR6/mK0pK
h3G0IT+D7Zt03UsBmIH/zLbSqreTo/z8eHnuSw6aCoI3QQa7FOIGZC5uzQENJ/QsW+ZnJEObmigc
bWyvsLx6L9ulXjxzzxIas7UwRLz5V84tZumwjX7o9kDjA3CaNWTvEK9MaS+CIG5jzu8w3g5gO1Ci
uUj/AznckmbnlFR7qleZuHDj3HN6jaO+MjpJTSpdywK9CaO77sSfv83v4CUa9GjDgXFmXaGxwzSo
YoHk5EWyadCsHk/63BJr42sC5x66Y9NDn5WNI3BtlZ+lQc8c0naqFXZAFWuannz5FZVKlj62+MvE
fDfLMo9BgwCEA2/g7TJHmlA5ed1Do0kXOjNFXTFJOMLxhnrJX2tQFeVEMxKGOqweJQbnm3VKWpEO
z8DZEH/TyzRB5e0rD5DD5XsdkVmEVqMCokEeLSI6uLR86n6SjHaAjNR2BvZbn9bDrvNWRbySv/mS
Nswqz4wMb5NF5qx77QE8JEfSOQxMAUnbdBNxHe+rQyMVZ08gbBXRqHgLYurmZhH2VGg//dRinVfN
M8OPXnruRF1sX4QfFJkkCaT9NNHA4GYKqqHFqwDlnRKA68JuAKPidRZPUZTClJXW6Z6yqTk91Uz8
nxLy2Y8X6bf5brJIN6OY7EoujzKZleTijJZ2X9MVAI6UnQBWrmFbXoZvoCVQAnKs5Ada4O7HoNpB
YHKK5fRUUVdlQMNhzbNWr/eyHlSrNrG04SlityJjpJlZONR7loRD+qR8+s9CZvjCm9tCURKF5d5w
D+KfyjGUdAuNROetYzaFJchrWTsqeNT95IFVxDrjv4aaVYaHkDMHZuWEJi/RYp/izZ3t+yAzwian
okcGC40SHn7FWzMSCWQqwPy2zA22MLmG9u2T9117eq7xSOXgz6cW2FdPWpjO+97OyaYY78MrT+pX
pSAXqlic+XVg75j3Q23FOYmQS7NYHeSdHpER2pLhJ4NkL16vRmIVlm8ulf+lcdmmyyqjaQDRJYhQ
uN/XwNV35A3jgZhMLc7Cob0of9J9vq9sz+RAAuGe4q2ZQGvm0NPBDPcuUXaSFeyhoIr0/DkibxRs
l5AkYqFBhl5Dlr5Cy/e8kize9A/BwutxJgWpctdfOnkY9UUqhCWjFGdWKWlSXsZ2bfkleZYsrGpo
ekv27qOfW3uT9HKedYJQuJgZ7lCYJeo1o2LtAFoQVfdMx3ZMbi8eImgX1wseeKZMc2N5Wo4UElaO
4TOwN47hq7tppOfhQ9y1Ki1LItcfQ28j7kj1IFynErYG//L4qPMzt971TAuTo96GsoPtj5nWVjz1
Xdoh6Qw00LuLk0B8EzU5XbDTTUKlD4eW69RIN4I9glMef8f/Y2/KIJNFMxiI+SYrIKES2sbx+B2b
/Es+lrTbJHoxmLyM1+cGx4Ud9R4jO0tIfWHfsqcu13MkWvbVXzag2h9lFccxkda5lTZGEBKHMCXR
csqA2ag2x10THtoTw1ntsHVopcd6s3d5Un8HxwZOZB3qjrIwppnwHWurCMAUAE3BK7+l6KvzxrV9
pMWKX577Vvc6BI8XOdWomkSrmt+ybE6DnNkXyj9+NcMqYijkFFQNyZfJiqpsE0u+5GAvi4YTkfq1
6zyifHobt3mRlxhdZ6pNozUFaWoVj2bl1/ddjTEXeUBymKA8e8julD9exZtytSvSNwCDxGw1BH+k
xieVYPlQLKhpEvELEcXs0b36gEkuLvBqr2XTsDyLoR0BJIqw265CWy033YKXmEn73Y514pXkISk8
QcVY2fWOOQSnwWS/DqAOkmm8qsZWNmT8qrFtn77VoPKJbbzVSEQTWhlfGcnNS2SvoJyAq4q65tKr
auZFcLMQkwOEjkGhj8Xx40Kby1ZxIBK5e358Su8Jo3CTKUgv4kGA3pS7UyonMtKelfu7o4PyI5dO
kbSSDnEI/lXlLPebvLaYzFTAJMQAMbHLK+Rpjar76MCL2Fusf3j8QTMZm/GDFLzp8Dmo2IyZvuvt
p7pR38hYfQVXeO3tO7NF3IeoqYIGKLMdIOEjsVTVAOIhjPMUUelvtE6WAJxzexBPS7Ayyjh3YFa+
/QqgleUslyrsQXD217npeK9D+scpATBwuoV3ypwt9NEqijLKBYvT3GWehWHbyl51Bh67+oNAhkGG
G8lC1B+Q+V6YXn4mYlBHZCpAKgqC2skb0FPKpkuHvDoL7Ubl3tULA85hRQH5DwldS5BKqrpGXoZr
PlxIr8y9B7lr05NzzclZnPlJVp2LP9x3KAhU6HVRommlgjzKpyWpRT19kSWr25eiTxOgDNJioy49
tGdKwECEXU3B5NCnSZtC1LiszlAWtk/BiwQ396FYLyqSxQdF5xeO2KxDvbY3OceNmLkZy8Gew64h
Nhjyuxwas1mAisuxam21plxIWI4qzUo5ac2CN52NvDROGHH3vxfIZMU1YXBSpqqrcx2joJJtMtEQ
c+p0u6ySjEILaMmhDSAnjnxa2GvjL0+j02vLkwXvk1rmSrQYnYOyJXWCoFiJaTwYLotK4E9Y6kP1
leR/4v6lrDe8Zrv9W1zR7uPxZ9wzwIylQETIAnwKywq/AdOVRwk5r5MiBRPQIwh+Agu6qPMJzXd9
QLRz9nlR90cJNRzf5OhZsuONagRGTcqVZPNLR2Ac8d2MoMwmIhM8slaOp/PqU7zQr4U8hUtvws9+
1+QG0ozqmBnpW4hpDl9MuglFW/Go/84d1FZPs9XjyfiN/u6+AKyjSBCouN2VyZrwo+w6X8blmXtP
DempRUKw4iMisgbrb/BOAcSptIAXLjuz34BbxHIilOSDnwqvrXVRoA7mv0Nwd+e5VOqo4luADzbt
8fFXznlE5PT++5GTE5o5Oa8FEqapSEmfUx+3a7zJM5RpXYqo8bGx+9aqcX9oPJQPQGWPZZmEVxIX
Q9+0LHAFUhBkycQe0C+Ah6bev4en3vYMpP4W6lWzJ+PK5GQf1EoSgr2qLM9ViGwiHq6es08CPVAW
HgMzBcTbsY2PhasNV9RBCu3x37FpoBrJtjXa4gQdWXsDfRE2mEu3AojOIiMBpfTjeZ1dxBHR+9vS
DmLIW9NREjVKVjflWV1zh9aNaDHASlAfImXhAh0v47s9fWVpsoDc0GZa5MFSlYBIvk0YyXTL/O3x
cGbKOONU/m88kzVzhYBrRJCpnZFSOzPf8iXIVwkwHMJWTgib2t6udBaSiTMRILjqRY6TOU3ioctx
O4V167ui0kigp648I4BvDLMPSVjYI78P0sn03ViZuITa6VQfJFnluV33VDTqn3zkws70epUblR49
uRvhu0NSjqOs2VAffxVoazcGa3fog+324csSQn5m62DXgNB3rJap6MG7HbdWSMjcBkx5jto3X4HU
dnNs0JbqmwLe0G3T/ZtpvjI32T+t70X5wDjlOU9+6hTiKup3FvoLx2F2LUU0BI3LKUNn5XZMiMCD
oYI077nWaOhcYgHdFOESIHjOCKequFlYDgl+abKUGdfVTB8E9dl1DFeEYm4FsvOltrLZDQPYD9q5
UH7h1ekdwhSyyCBSrM+FHtmdzunijwcO0gFtqQXaJA3V9mlsq4fQxpPRewbLOOgNqXAAtMIQV7xe
kMvjszmD/AHEH3l+FqkGVHmneTCtdVQtT9P6zCUkt/Iz983WumtotDQr5LgUiqQ0Go5FFjQeurTd
oPFKMUW6adAY1pF8Ey1d9HM7+PqDJquthINWJ2JSnxXu2ZdpGm2Ydu2Hvq4GxBVdAjga0hlmrBJe
aNfDO2/JENt4lfsF1zh3AUDASENbHAog8t1DpuO6Qm2aoj5vYhTawR1mN4dhpTz3hx7d0EiuR0ZM
mq2erbldsXCNz/jlG9vjbr26fBwhV5uQxap0KKoP3K7q0oW7e9zPU9cFyaQR6Ab1EkWZ+OR+EMss
Hur6LMQAmnW7Kts49Soqn0THXNhioxO4NqWNOBz0MKLGARQf/sftYPyGU5VadNuz2+rVO+BMgGRZ
AFYkIH/coZGz37pgo1Fpq69QWHxs/C7vhPqDiL4NIJOAIlWVKWp16FJxyKK8OaWB/T7giFXfzgFk
3+02XbgNphv315KMKiFEWZADmqp8NlHtpFHA16c6Inwbr7OW3XkBlMS86hj0NpCzCxM73ST/MQiy
whE2g+a9icuSfZYPqkKtTwyPfDD6BhuxXPDvsyZG3DhK78DkTEE5kBKPklDzm1MUo9LLe2h++YfO
/XcQaD4E/EjSUAifPPFkzWOS2C+aEzfIJqM95UJIXDdfGMdd2WE0AwgJlmbsc2Q14XYP1nLNNcNo
ptBlq9iqlrpW1+2runZXnJ7ojKEYPjRtcpujmpXa2b62vRVPWvi7hQ05vWjGLwFaTmRFlMXA+j0Z
MDeo5YBgqTmh0OKv8KJSQUdAYgZySRuPXbFbPrXr73RTovrxz02rGvIyELFAYgbfMZkENgrUQgu7
k4xKgm/0uxTq8MG+fg7FF6k8ibXd8DuZf5ISI9iDaW/B/tTlYOQqsFVIjwq4xKFdNDGvZV4epHl3
8n2P5gxwj+oZ1ahStEtl4eUqjOt563NGWwIaO4DjAD50st5qKzKt69awpbAEV6sWHMVmJ6JYx6Cn
Gf4c1S+lifUALzhZsWLRo0311ykNWShIX7x55TrMXttyE6HXXdiEnJUmhhOQrKIytwYM94Wr1nJq
cCHQjrm4dPfcu8zbz5+slFQ4LVMomKpKsXn0wHIEFT/3OdQuUUg0gUQajT7/ze7gAKoVAabABp1s
TN8TndDzmu4UqnpVrkpDqDfZplnzopG9pdxLD54kzW7CvfRRAx34b6xDZQaPa0Qi2jRwRa9/pbBD
1Z3q4lnsalqg/7h3CI4zcQB7FDjCZ6tELZCHsZnA4FKatq+c2i18xzixt/tGQy80rkR4CUSb4mSP
ykDM4GHZsSc2Cxma8WKMWLNPFpzA+Pq4sQIEB4DWYPxn0SeCKuTtSchTnuk7tGSfIjUkQrTre7Nl
n7jAeDypd726OG2wgxr8rx148Vs72EZO6ONfn7qD9pIWpFx3dklRDj45W5UhhUuadbzdfrR2v/HW
Prfg2+9uxF/zCi5eAKnGlOmt+UZpoKyXwry0dbud3xqZ/9FwKCdyIyB3WBjtXfnwd7Qiolj4V0kE
gvPWXF/LHV4jMMdlp5xbKfmqTIxYgA5TQPxSodWQrTyIKJdxtgvq+svPyy/oX9Ggt/IlNz+7wsBN
yjI2Eh7yk5kXhjBJufFbugLkxV1kDcGuYJ5CYXHU4yRO9xLgkYLMo88O7n0yyYOUiyic+txJKg2x
PyYnMaEq8xw/82N938Mbpuh1tz50DEcAYtLDMF4I2eeWGY1IwM7wyFWATuB23mXVyZQ2i7hT1F4G
zaqiI1/DJAv2+egk5exC2HOXlRzXGfOqoikEOgPy3TWW9knYOQoLokHwoZDXDRRsPg8H+2Q3oKbe
vtU6wN7kxUMT5er4+vhIza3rte3JbMdCyWuuN57cbl+Xr8UmB+i/GqzHVu7web9DVCXA2hDcjTWm
2ymtg9hvKyXhTjuMDeyQooV3DuTtiJlSC2T/lhWCIdo+cSQ0BgI2u7Ng4M+vseu+J5dFCqG7h+t/
PggxFFh9sNRTdFSjOEGUyw570htQKqf09Ln7fH/fhXSgtdlauR7tC2uzennZ749g23p7PB93hYfR
PHwYVEk1FdKHd12zLcDIXVhyJ6U0ynMMuoZILqiA/HuQ5JA7FAiPCPLYDB+xkqy1pwXzc2dMASIP
lyLI2u44uOK+cRFaFtxJQEozAry7WBVeBLzSUWs+uzZGo/K54yWjkiBWGOpCe8rjUQnt8WeMPmN6
0kfuWB7eTRABDLjdFArakkJP7LgTL5tpZOQtqtpf2Ssfmk179hHMPDb3W5Kf2gMUH04MLZSo5k18
WFFLapmFHHeS033IQQXVGjoNt/Ee+vBViw6AQVoJkd45puboZXYOXkUo3smh1cknISayu5Ul2kF8
KBgMtqHQh4uLb2C7IjvtdkOZkD42siXhv7ua0bhVEFxiseCR8H7nb2ep7yowexQ4OogVvPdh46Mo
Jq44MGy9XMCE+HiOZjaGgkogcMmj+u8dgQpwb2HEQJP2JLwDmQ4O6p/Hvz+z5De/P1mCQXbzRPAr
cKj/RfpDQq+u3WxUyVo9NnMXmY811P8NYxqPaCitBE2PYXziDaL3er1wfhemaQqsiZXezXMGv8/p
jq7tuI/Hn39XqMOa33z/ZM0rqW9YucHvj/yQCv7b7sV1YxPPp+mCrZkL4MbU5GGhCW2mZBpMObtv
35B2wfHxWJamagxQrzI/me9IQj/+Pn/xTNTqF/tslgyM//7KgN+HdS2NWyok6Ecjw1ZFu5Feb9F3
fxl5B5ZZ4RY28S9l65XFwfGSFtg1EfJDJVTeNHLgCF5gAIf8AZbO6M1uv7osgahmgpKbdRq3/JVR
tCgKRRxjmBCvkCnztVKf/z5eqblLCT4G6SWkB/Fimr4xQ0Yuw24Uz9qxu+SFo+m6IfVTABG5TbtQ
9Zo5oDemJrsi8P1OEZMeUm4f4UYxRJ/wmyWi1SUbk42hNchWeAJssDktKfH29dKEjRfU5EJR8brC
gwCdL3iTT86OFylsxUTcuPWAqKMADVigqO3Jkp271/PYQnZlZzJbUILgRQbX6MlF2Vr8sl1bsMIn
QGj3SywP4y89GtFkzpgwc4rEx4jAxu8sPEVn1+NqFJMYEA8kKQ0D/HZcEmBj2+1iPmhpniZnREyl
IitHPaUTdF2fAR0XTQF9Bcnz0mGc8QA3CzIe1qvDKAPWXgweDG3cZ/M7pILR6gvB0cx5vzExfsKV
CVdCt0LAgNtfXu/cjaM3RmuzC9fkjO+/tjEFWAVgR5UDUCGe/Ofail41fUmWc9YAQmxQDSHGVqZh
rhK4vANgFcIJwukugM+PPdbSz08eyNAsylIxxs+Xl+AptYYe0uiPLcxFX8Ce/W8Ek5tYdTi+cuAA
xob9lGBXPXfkZ61ZL6toYcGXBjNxJkqfJk2HTOdJl5A9qWl6WhjK7OmAwCwqj+gHuUvSRGHsNTUH
PntwuKbEJz+lzi/qus3cxmPy+79GJktSJX3eRC2MeHpmaP84jTg6wqtfn6wGq+RS3tf49RQvZZ6a
oNuRIFK1FAXfFfgRf93YmayFG/hNWCbgd9ehCnx8TWzJ5FZcu0iGPOtHrsYzceztILRwWhjPGLvE
UIQ/ZZa+sOyzbvfKxsSlYz3Y1A8wltdXpOWB/EC8Ai3vyiX89ng8LkFV77B907kb9/mV49Jkv3I6
3O4nf2XvlGd6foFG0uZ9r2/Pl8dDm3WRVyObuPt0yIrWDzWElsfIFO3tAA63peEszd7E04temAZq
hdEEdkn87fpyfDyGuVD/ZqtN/HyPtmTI6GJ5dht3n9in03MFvgeyYGZ+o2kgPwM1JA8c/u2iDKGa
FJUkjcqkCbojf9AYc06XWPbmjHASymq45MEqN0XXNWAZCdTUA7EuVa3e4PAyAgsAKRbiiDlHeW1m
emgydJj1NRQRVMtf4a1uuQvA47l9dW1gcmKc0lWYaoABoGAu+Zl//xOs+6VjOeeNr41MjomTtlXf
sTDCRtBjLIlwTG35wK1dvVyl/+Kev7Y1OShBDq4juYMt3uK2ziq1l8L5+SVBDVBBLQzIi4nXB+8R
WJ076HsMGvpIiWgHA2KihZMyt71AfCEhg4gMjvbbnnflWCq5CcLCEQS8gN4FvXhLNsjG0IwiJwov
toEs6uu/sYiciwrsOdLv03z/wLp9lUJW4eSTdEfcddpZ3brZ0xWQh0dJ/8uYNe0OS6t1p4ExelAw
9fzX7GRr9KkTOEygCtCi0CWWBC8JWt/AbqdfjuB3u1zQeYg/ypUKbKoETrOl6PY3Gzt9BVx/wGS/
sNBEbZQUH4CZHkxcga+vlR7uFIM8PT0/c/uXi2d4xmX19/F88+P1fWd3hKiga3bsOpmc7KRx2pjN
gvE6hGX0VsZnGZy5GaiZ13tqcFhu5xSgXgcMMVkc9dxr7hek8n+tT4691PB+UPGw/voK6xuTC6lj
y7ZrfazRJvcCzltfT6wlgNtsrHFtdrLaULXgKrmEWQe0YOrfZA3B0lHB5fHczh6eq6mdLGnnZyLr
FrDCyvphZCHtCJ6RnLcQxM7mEK5HM7kvlbKqmaiBnXINTsSU7NrneidFOrBVx78LPlScu5yvjU1u
tbAKK0aKYEzcjYmyNiLCynnSnr/BMPbZGsGboyNcHzu+O4y42cTyU8qNHMwZ9TOIOFWEeUp+QAHq
6i+X9fnrjFLDwsUrjaHi3Z5G/RVlYBR4JHniGiunlaVQbf8T4r2/R7aCJJVCVGvkA+1W41KcbFt8
6jlA0Fkaxgb58ycEWTlkgItVZlSAW5Z6YKjY/uvV38uY0HLNhF4y63L5u+jz5p0Pkv+ANEhAdExB
OALvRmkfIwlUGvwx23YQwzmllmd6b4VtllZJXNv5k1gCXfsH8CvqqY6WbfvxZr3DYf96wKuPmOyi
oIvTcIjwEcIh2gpoZo1e4l141nY5rLmmt8mflqgVR99yt04AKaDmiG43PJFuI6S8VQohywekdLMm
oyMxFEUglS0cw9lwT+AEFjEY5KhAB3hrJmvVFE18OZSj3tH8ag92KwKeoQNcZSzsvNlA/NrUxLHw
LSPIsZKKJ0DUBlt6S2yPcrmlfV6UACBMnoBm56Kari4vUB/NxU/Xhie+plFByCoMmXgqtr6B00dl
NAwsObR7IBwUuHBJ8QCnaSywUJM3WlEGPrBHynDKypxI/VtQvfSBlYuS9dZFgCZzBRGTpZLVzNDQ
LoT6NwB4+PsUupt0Yh80VcOeNppklJbzB7RB6WGJoXvmJrqxMvFrkVhlDY932ymQLu4XU9MGKi+D
GXV/+78V6CoUb7HKdH/14rSPvShgLZYkXpmcuDBuIkXAc/SUQW7EiQRTG15LD7V2tNu5Cc2a4gVg
61KkjnT2eHPhvN8P+Nb6ZMBZlddd3nDtiW30Ad0PeSWYTuqTTLSzSqSysipCfgNKpgW79xcI7KoS
qMwEsDGy4iTgaKO+Vns1BSypN6NmzSglGdIBqM3MEMO9118KzQxc0Id1G0mCZoemPAPKa1UpdZq/
Vb1wn82EAvgckACOHcXAsf7eJVcRrui6vBJqRXdS/pTicSiO+bBKmc/mIjegXXjBHVqvlughZ9zE
rdHJHPgi4l5OBDSLYStD5UqjqEnTbXMF4pTBqu/fmQo0Qbaatt+p3geHlgMtIeOTIfnqxV2VnBfW
ZLwQbx3x7fdMPCSbN62P3d+dhlzvk40S4mJMDTlBs+fR5Z56wgepvoiT+o0t782CpAb0CUgxTVsv
h6hNc65puxO75l2qiM9K2VkuL1nl/yHtypYjxbXtFxHBKOCVITNtY7vscrmq64Uo14AQSIxi+vq7
VDfitpMkknDfM7ycjuOdEtLWHtZau/7OvH8s99AQ/sBKaPJ/9sFHnKr7ursplhtruLfKkDefJmMM
evpizUdiP3p5sxNaqXVf+4Gr7zRQUNo6HQhANlrfal+jx1zSO02Yy85tvCACAxmLY/jvVqy+gFvM
VIOc5/SSta9F+tmF3jOqoODhF/VBIy8uyINzZAH2hC3gt20Tmum91j0z46ktPxvmQc/+2TkTW97J
BYwPhAk0w0FYO381nXypPSszphe/zL0pFrwuwswu7B/+7C0H4TS/e2DDH1unSWPdmO40BpQk2tg/
xtLjO0VI5YvefQfQHKCbrxgVEJLDqLu/KIP3l5R2tGurtk/K8uA0p+9zcUxPHXgwdpx/sCb81xb4
isDNAIgESPF63Rg0Oc1pL5NC14LS8ENf+CE/2Nm8c7jU4VktCv4PkBAIkKoKzuoxTacOpBTDlEkv
h9fMm/nB9zVrx4i/sXXQvCXYQeycoh2ff0ap5AQy2S1J61TaEBJrLsE6EIP9VqZl3UcO04T1MGHI
X3nHwF159i3q+cdiIKV7X6UVaCxea3lLYPsY7YbXaCK/rL526jh13Py75zDjpUp1AzJDk9+Ds99J
+8Eax0JGjWY0z7wVYLf2deW/VhO1/lRz1fx0enN5BJC4eBGF2T6V/azFZZZiuontWvXnwZwGK5BW
VVZRvcjxmc2SP4KTBEVH5vqajAdrbH6aoire+JzmLyylpQgcUVdPabHYZVgvDrm3ar2h8TxAZCBs
2px+o4Wpo8c2oJMMGv04H8ylG/wjEHElhFSHqshf7ErQCnBKf75v7VazDzQ3tVvgcqw3kjIdmsVV
b+nQY83Lp4Fri3gQuYYhNIs+Z31MUVSEQgGH2HCm58W3xR2q76PbuTdMb+Zv8IMFJDaYFFVoidb7
IVhZNnHHqwG6nUD+53GJWV2fs8YcdFBTwXmLuGM0LOx7gae5pH3Hg0aa5AuEHCcZd4JVwLeCOPeD
5pVTnOQ0gy2QSkjwDjprODRbm76K/A4Jb1w0zE8DqCmN/+Qiq5Ybib0jgTOMmPsyTxnfw26uk0V1
l8ByVXM3Mawa4ovKx7y7t7nJaGeO05hAKFlMoTEPVYdKKxnpQV/8sYxSOI1n2VZQB+Oln3/uq97N
sSEWJuIOssKnMBp/wOyO2eA/0roEdsgtICZpYkAKMJkGxB2xK45NIrMm3hCXUNstwprkHEC3wu3v
vcJF4SifITMQpparZIzwGN1D1Y7Hbb00P2W6tE3kG0v/W6szUURi8HJoyY5QElTIbHoHeiMccs65
djJkyeUBJP52OvZ+C4SiVZaTCIDfdJ+nbtT1SJudDALq0zJjJrjTZUsdQCjPBaG+bb15J+pXl3fl
QkAsQnVZcWMgK7dyIWweairIPCYjqcN+PBKLHobmt1bugY3XNQb1JSGBgoKcAflE21qnqJ6GRpnU
synxWGY8LxqZAt/vyAHiUDrehgZgXDn1LGiEhyQbukiRTF3tULlzAzqjD41Tu2F7ZIANDwotAQd1
byj2IXhbhbCTNRWkt/mUWKhOh5aLEX4lIX+uP4SreBUrR2aK7QUFFPQjqHSdn+FJyq6Sub0kxHUO
GIUaUre/lR1B9WP+jRG9Ow57y5ziVSAaJb5rrjHsy0IGu1oyPamADH6UqY2ROTUOL2/n4VPFFze0
MIA+vr7Gy3OEJ0i1KZCJgHy0fiRKr3PHbtKWJK+ZHztS8hPeW3mL57yKKhBidpIA9Yaen1tlD58M
OSQGe7irczt0U4WPSvWEstwNs8yu7/1BG9CFHbSdxG6VPf79fGBw6DpcNJgy+iqEc0cU6FqT6Ynu
pPONQ8QPs/fG45RDesFOl+VBEKMPS0NrDtf3dOPKKBl0sEHxwqvquUrA3jk/XcOcssq0lmSamtBv
zFj3htMo/SewwsPZht7l9DL0QL9aN3nVYSbYgtFbdboHBltXltUOKOlddJrQ9Uedd/U7EHN2/tAL
I4E8vx4OFcKrwB3JgHEZAhIImBwIUf6WhHCVEIhfclRi2AByZC4L/F+mLODj8LvJXTuURi/uuNS1
e11fli/92IGATXkboRlR3oh28k+iofVnNKT7YBZzehCcNQ9eVvWfr2/u5c3HmpQElOUjqAH9cLW3
dW7WnSn1xJrmh9psvva1ZX/8kBIcUx/bhvQEjZZzG/Wctxg9s0zJkvX9vYmJUhHOc/7mmtI/XV/O
5X0A8gu1AAP4T1RV1hwLbg15Ra3aTKqisQPf6edTxxce2lM/7dyHLVOog6GYBv0svBjrnROkYhOi
hwTFFDKGXXoE9Pj6ai5DTmyZ6qaAEazQ1iu3jHF5VOU6VtLqeXNn9h3omoNDngWQ73eICIDvlQRi
mBPJQn+ZMTf+uv11To8Tr34AqHHqP1AyWhXDWr9sHQtdq8SYDk4xzkHqY95D8abZduTPcQdRG3uB
/os+HoasCsV8819+AGTaUdREcRMjzs+Pjsc9y+dE7YDNIzllMUbahqXe3Lr28mroXxqjuRGulTDN
e9THLhjybsejb3xmhF5I32DfVQPCz39BI2F/Hgy4vYoPX1rDrm6ZW3o2pC5SVOmur3fjg6voAFQ5
dV2sv+WOd55utFzWM7vXE65bbYUQfcHUr8G2D27Rja+jlqdxZw7FQbjoL1kLSgvX7V8+X6DlWhbi
CDUyByjz88V6dNJSnCYdmsOGf+fM+RDjlHeIaUn5XQjtgyxddb7Mv4I+BlqUHtQbzu2lhqYvje/o
SS4YObmGELdZ6pUHLzOHT2WR8gctHVGPqNxmr8CslnL+cmJ/sc+mjUKs0gw9N22WqTd6A5ZamjRM
K/9pZvNrpaQ+5QiOkv9EK/rSMXDL7b3K3eVLqkx7HtJJ9aCtX1KIYdDJg/pX0uhCBQWox/1TscQm
RQA4c5h3x+tfdV1tVtt8ZlCd8XfHysoxs9yWMOg3Y6A1/xRecegs/og5igGE2W5zmt+KBpL6o2vs
2N64PlCiIfi+iMWQEJjnppeitCjRGjMh3OORWWQGukQDx6l2ih1Tl0+Zbbs2AftatdlRdTg3NYPI
Cui8MJMDRp/sBJPrspLawvd/fP2G5TX4bMj4zWSqKiThgZjkrSfI/ZKWv/S8e+hBS9SK5qZu8udx
obH5No7DV+Z3UInS4rQAF0gHzJr9MRtIyY7k0/VPvHFxbYTuiMpU0Ikn8Hzt3kzcmk29mTgWuLOk
CvPmOxNjWEDq6Lol5fJX9+bM0uosySXjqRhhyaVxrUHqB21IWt59uW5lbz2r2wnQF8FQwNFMimKI
9OG+J/0hdW5qf2+m1KYh1Azh4dGSgcj8+cZBHc/vprQ1E9H5D2P7nfX1wRsdsCJ3QONbhvCAYrIH
VE3AD1yFCw6bJtCjPTMpWRkJ8qOqycmyxlgr3J2zunUPkFoil0PnFrjulVP1UxdaO3ZmJQ7rxSlz
+RfEEXsC3RuhAUbtYD2QI4AiGeaCnW+cAcC9kZWFkVhdmoWjJ8ebrjSyJWiJKTEY3VligrFJp9ZT
Q1Yw2jieEYZCP9bvv/i2O+xs7+Wi0dJSnhy9aryb6zi2p5o90LbQk64zl2Dolu6IJlQRXT+Wl94M
o4kxWAHZHaTgIax4vuiicPF64kMmfGA3C0nv+17eZGQnsrx8HxDAwlVaGN6AqsRa/aafuVbodDGS
woSqGcYdN7WDKt5yh1lkP6Ap9mTtCYheHk60zTAuDxL3GLAA/3m+Lm77oz+gfp3YQixPBuTXo0Kk
5NYjckm0kezp+2x8LXTnLQR26IFilatbp6Hg41VLi7CuN8UdrQhmuRAKTvT1z3VphqAthlxcjdQB
MmcVzrAWDeRcn+yk4jaGG9lFdxyr7OP3DcAxhOmAuqKzinNxvnml1hYD7WCF2hx4pgkVnUpyb+dW
Xx49WFG6mvBRStZkdd8Wl4t06i078aa0SZA6QhsIQetT03V7YLVLF49jDGtqoBboNOuorOPGkrOS
OYlW9+zo1Bwvli70Ey9N64gW8vxKNbn3em+tTzH38M6iyg7BrPNdBIU45aLqnSRvbbAnqWQMk25R
YbYDu6sy58NHAxR4KDrD58NJIrk5N1eJWdbL2DjJwhsn9IZFHmTX74nCbC1KDUpBKop6wYVii18X
w9KAX5C4mQiq5dEvoHDCzB2vtPW9kL1DXANXyTTXVHtuQwHT7DlJci/HEIHBLm9IaY0nL63oye/R
DICAURZfv1sbSwOxQIlxoqPkgAm82kCbTIMvbScpSD1EHqXoMhdjHcyG3++Y2ohfgZJQcpNYnZIQ
WX0sa3aK1k59J2k8tzxWfNbuoIRDTsRoZSLdNrsRJZWnWSNWaI8mu+PTbOxiNtQNO498MElUh1SY
jUIm1MlWNzCfhkwfUkESXxfICqbb3s5iW/xDSijnGUFlQGGZoHMRWPyzu5s0bO033nOIJkHCAHUH
9c/fxfB16+tZuuhOQgsXJN6OTpFNMZUMsXe9s9+bppBro1cIgVnkKOemsklzNSk9kngE5Po7x+qm
8ROb8xKT1rVhsnZ6kpdeGuNcUBC3IZtEbHeNheFlSRsbgwgSrcIk5rZ0u9/1lOo72cHlopQVRAcO
eoWIWVYRZbcQDd5VJ4nZeu0Pc/CtQ2mh3RXkRbeHhdhcEeI8E9opcKFrofPKBbCv1KAP6fd0hNao
1Y0YwIh5tPbOo7BpCKIWaOZCyQsqDOdfymg8R3QDvhQea/Fapi4/YVR8vSMpsVYuQfKjXjclTvYX
3eGtYIAdQ8OnInmaOJlfffNr7gcQG9ce27EdbuXo6HfZtBi3YtLmmEF3/lAwnR87zuVzY5Q3NmNl
qBcpxiqzJj162mB/1wF//MrquX506Uiioe2LXy5aiztufuOrY4omaKH4FBA+W89DdMcWqX/epYnL
szSsMpRTCXc+O+UuJP6ynoDL+XeeIOCSqCusom7pTujAOmaa9Hi+MDdGp/QbwVsNSVKh5T+bijQv
GJ/aYLoMGSgmTRZj9ToUjrG35DX+UH0tBKgIh3Ei0BJfN3Oq0oR+HqNeknqMRTXTp5dWo34feVlx
aJibngZM344KjrCuhbJR3M/pQ8799nGkY3FfFt6r3TLrroTj30lTNz4HwhfEY+Do4sCuJ67phhz8
XmZe4kkyv5AMbcmKZ/XTgmLLztW4fBSRzWHKI6b3QsgIJL7zq9FLVeUSdXE/+jwk/KcFzlArwXXF
DMWPDr3ClvtgHkOiCNJ9QEeulSRnK+ukU7n8vvIeiN8GxgIdq+8ffXBVywHVQVTR4afWxWAsBd21
AnLmi0Bnlk/GLxsqaiHJULO6bukiGwAdGP1JUCFwb6CjsHKVVuELi2ZVeZ/iMX0si1yVXqkblqnD
bnF1hsN1e+r5PntYFRAFAkv4YOgOwpedfyqqZnVLdNfvBdftzzPKLNFgS7Dh6fh7SXsH6JR+iQxq
+c+mPokd6xfZFqwjcEehG/4B3YnVamWT9lbbD9X9UGT2PROQQqrNaTp2tP9daDR/rKjehtQvjM/X
l31xQpVhBLoKGYS3Yt27syS3soX71T3Qg/4SWFaGKV5ammbQMYfqyHTgS9/+ZvU0f/QWwjAcFCrN
yPXQ91m5qhxDMQZh0PpeLgI4E0SUMY5THnjl2O+8upehm7IFFVfAFOGBATs6/7bMERB1s6Dx5DRj
Gom29pN+QphmVIbxaaE6/eMBcH+b9hPQaW6Wm58MfxKn6zu9hgkipsCvUNMY0ERUk/bUp3gXPI1e
RgFlqOv7xWjJZ1sDbEV3JoVecDHt18QULjbO4qBD5PMzd6QzBjmExp7mqi+DxS/ILaD67qFP/Tcz
W8Rh8SGTQFrMAiv6+sf133rhIv/+VHQc0HhBoW3tvet8cPw6b+v7ImV2XGIotUCUfayFZ71dt3QR
PMAS/DC6mcANoue+yo7R9ikMogEHt/hGHjVkgL6tPvEdP6yuz/nlVrdLcfcAVVVtwPOtz70ubXLS
WOiApn0RNYMwUf1tCX/qO52NIRG9M91cX9nlHkIBAnpUKoBVZY2V70cuPpe41SRp7CVbPoumwKAZ
AXxR81hPFWZ5fdScjbawjpOF+3wp+uVIa1x6WXpJMUoArVx0bb17qELrTpDrNOs+jNZQ8DPcKDWh
D6/YutZV223XaLPnJplZYPZZqntsOAiId2Y7kfnlPkK0R6ksQdFFYXpXlxdHZmkLkXvJBIhfCLoF
zQNAxYrPY0qdPWHpy+N4bmz1CqCCRx0BaadEAt8TIKOCxunEvA97e6RuAPGhJAT0DcDB58fR6yq6
8EFzk7wZzKO1tBjtjFM0BLkNwPg4YrIDcXpwWFuLFDsgo0uHjzAUFS90fhAsIKQ+t92lbG5Hh/rJ
4k1RPaR3+ZQDHdC9LINxbLSX66dyYz+hDQZ5NAiug6S7rlVm/VyNDBFiIptydoPZ0Ust7D1S+Dvh
wsUpgfoVchzIqAKEqUpG58uyvcZADlJXiU6KU+7ivTalocW+udc32zO0eqlJ41mpcCoM4CMDRl/8
qcYnt8533oqLbcNqkCHqDvQm0Rb4y4F591Sk6dzRPJ0qwIZ6dmBV9SJ0yXcqvJtG/sKtUDgHsVn9
83dGWqqVWuphlKAccgAZnUzmD3omhNhxvpt2oF/7vwPhMXv93I7jlygZ+V6VTFme3owco3jQV95T
DV6fa7zqONMIYwDqAg9h3eOjPfeUPJlzR+awBvFQShakLG7d+ThlH3TtsAWYHoTXTKXZDmz/+YpG
MrtO7aTOXal/8vopbCK376PrN+ciXPhrhKiGn48CCGAk50bmclaVCp/c6YxowLBS9rrYrngdkBLd
NrOffeuRq94uwOgdM2vJQ8/q7K+6JNkTmVrM4tM8EbR21t2KumzDids/q8q3MDeP2RnZCRjW8av6
sWBdIDn/K8e/TnGR36XMWwS5y17dOj44RyMe7od/rm/JmlkHAAh6U6g0YCIrGhKoz55vSW0tc+vx
0rsDuI+HqS0q8C99LUTPpz2iIzhFYm4xZ2FqvIh5efFAOlAQtJ6IDCVBmd5WptfEqVvRB7fr0ntX
y6uXVq/655J7dTTOo3ZcFpqyqO0yPep7w5cBmaXS0XSB7w6oAUTvjudaxyZYFBQMXUDLgPlE3XTl
UACu5su0EO/OLmckhkfD7G40+b1AfeP69u0ZWsWftT4D19G53t2w3AHagHmrVsDzx2J4/Q928Iyi
QoiqNpqa519pMUXf5zbsuM4caAuJfZF/r+0mnhb3cN3UxqVHevivqZVrmYmsdE4976735aeUk1e3
OfTzfe/ogWmOO/5yz9jqQ2kuZNJMKAneFVhWFt1r7fOp31PL2PpIPh5EiA0gU0CZ6nzzzFLm1gDU
N1SmFxGOFhc3XdV6J2+WD7Y7Gzvfau2b1eED/MMFX14xKtci6Ppg0dSoYG5s/SkoiJBRa+Zi5+St
qUHIIDAKCAGc4YIXB2mL1ZEoUPNivtvQZDTzGjOInCzFzBzaD1+7bHAxyMYdzR/d2ClfOpd0CqcO
9JlQn8x+DovKly/S0wWN2gwS3gHq6lZmBXNV2FZgZfPyNhBePhGBIdmxKGwzRfiUWcZPvW4xL0Of
ZTt6EZo+SGdzM2v2umIXzo8YaImB7QuXpJChq4vFLXtaHOZod4DwN18GNyAnTCDTGKY/7WzkRSaL
jUSEC6F0xf9wUa44Px51R5jwPJklkLLsD81DE4g3RX7lj/Xe+3NxNADmRePSRKkMyfcFHNuYZZ66
xpQlPgMmZ/CegOg/2S3GrOpCC3rj+9BguovF0BnjXxf8TwzX3ZZDPGt72M2Lm3f+U9zVqjnKNUaV
j1nSa7cc80xN2RxLqN+OGPelieMHfcpfY2BIYWw8IGjrfu3YV7ND+zlL8vJrbmnxMP8Z6EuJqSPD
9O26qXUsia/p6qpx5eJrKlLP+dfU+sICHH3JEoM1kZneTuA5zHRHi+XCo4CRiqoHnhfkvyqkPDfi
O9Vg6pWbJy337mX6mhrFcaQQEJY7mcUFPAnLgSWsBdRb+C5v5SAH309TihE5iW1od45bjbGFPKNv
rOrz2IDUV0zVFJeGkx1IZhSfJup1h5lC73yk3nAEH8d80kfA1isDoXWDyOVTirD+UQrruRpAHAVA
edxVmd/YHgxbR/wL0pb6BKou+C4KtlNwR/IxZwkF9ca+MbJkcm7Q7+Wf/FujiJwf3a80jQ7pk/iN
33z9+6u//b4sAYOwjQwa/hcfZ11NJSKlnYHGRCIxtBvzg6tkeYK8gs+O04hBOteNXYBlzq1dSBbP
OSDsjQVrDftFs+Ymr+fIXOwj3MzB9cFEmu8GCP2Lr/ClpbvsrHXTPJrDYAKoCVyox5xvdAP6Tzvr
DksMPgR2UwGUlqJ96QwBqEpBo094FpxPjvNP1n6VnR1RBoTe9S3Y8CP++5+wugqVURRO4RDs9/wj
Y6/u3EP/PBp6PbT2kFYbb4LSigIiA30+leafr5ZOrg1tLaw2nU9j82dKIW46fOdgOZrZF6eQOznW
5SmGahB2VnUAEDn8pW69O8WjsPqyNSVNjDwZPBK2HpRWgAl3+Nv1Ldx4gWDJRPoDaBeg+uu0xEvz
zGSIoJPh4EBArrkvgyakBCPOup0De+kdUTVTsxAAacHbuq7ajlqte5VtUVS0TMW4wESUL3zPyFpO
AqEJrMALq1oMinTrliwzugUdxCxPxnhK0lsSPhM7ziItaqO9ue1bH+m9qVWcwEoBbmgJU031W9PC
7En4d327k4ldEFXUggAohoyUiZjLWvecCJu7vBJdnpjH5tn6psdg4wWte3hq3spJybV8uX4itj7T
e3uriLVoZsdkEvYqowvLOiopWk/zXnnz0lWer2p1nwpn7jDDDlbyJc7jAzBORtw++b9356xchj3A
1yPNhEd2UcBdB+Cam1luSpwcXJSvrsU/6Vl1rFz67LXFoV78MBdd2Nrf/AxaAl7fPi6z9qcBD1WT
p+v7uuEwkUEhMURqDVgCln/uQhqE0bXLOUvcR+ORvHq/SPSzivQTBnji39eNbR3N97bUR37nP5Zp
rn0Ft0o6cVubIDS5b20jg3Ha04jaOi24z4gQkHAg2VV+852hMm9oU3ojS4jGQoGRdtKBshDbiXku
2s/qEoAqgYI/prKqzOPcjIIDZKJbWIKG8xP7RG6BCeXP/BkjARLM642qAlrzJ7njsbZ2UU01AZ0A
ZX+UPM+tUrvS6GLbLMl0GWDaUAC6c4AazWDvhFqbXkvh/dTkA2jgrINUF3m8gWOaJ9+cA5mD5W7E
8O4y7m6QAO3Ew5vn8L2t1atZL2wySg22Rghf+sH3LviKKAGihH047jzQW5fvvalVQNy1EE5DdThP
utiJ/9MfB3AKHWUgcPB6nX8d3RhMmqXgOHSsh4oVHwMVmEUfv0jA5P6fkdUKkB0aZJlahJOYhE3q
/rG2qqDwn7J2T5x7c69QxXd9pGmovK0OmwnBEd8vJEuYy6Eyo7FHXYMe1/XlbD73AF8hqMDQLJTx
V1ampqrbtsR9nc1hOrbUwDPpL07UAiCM9oT3c9YsHT1Tp4x7MflxOvp7A/suozbEyID4QSoCVxk5
zPl3Qzo/EfQP4Qdzh0aa7921oKHHVLf+zF3tRJON3OL6sre8lA/vAYYwdPSApDk3mS52O6WFusjM
P6JYs5yQ/BYhg6rtzgZvuAxEN4A5AM8HLva6DU5qXTajyIrEcP5U2D+EBFbRhopI++ElnRlafciM
SlnbTGOJY5YxMOq36egkEMSIr5vZeKdVrgn6C1RGFAXyfOcysPQHnhdFko9+E9epyMZgXvw3wjBU
Es1IjL+GInTQC2/MwPIfdyFQG5/u7AesPt2i5S2Sm6pIOkP/Zmr6UerOYzlrp1QnYzB59gMj1tcm
a06zmlmGFifwk6yB/gyDpOtUcow1BTI5ur4tW78KNTa4HbS5wd1d/SpRAYsHdYcioS1GLEwsLpdn
t3Z2KpRbhwntNnSdUdZDkWiVyzbMohIYNrX27r5pflDr0TDzk49CzceXg3loKEUBmQmHvbqSOepQ
ue6XWI7VxoYNerD71jUfbulAkP+9lbXDlpY7ph0vEhkTYCCo+GJ0vytwrL9cX406k+dpuBpmg5mA
PrC1wE+tVjNag8/GdikTzfRF2A51hZR0jK8b2ToB742sFjM7fW1nlV4mtISwqymC/3C/XZTrUAoD
Bxzhz/nF41mLec5Ojeeg+2aWr8w8tezP9SVsHS90opBjQkMWMgqr/MVoeApBiQYmsgeePk/FjUwj
wm+uW9n6GgDB4rEBqABTe1Yb1cjUaScHHtGCPPVvkNe60HHAc95xvFt5EoCx/9pZvdRtV1faaNAi
qb+ViAY1GqQYeJwOaaBnfdg2+jHl5W1ZN8EyJ6VLH4Rh79zXrdf17DesPlrVlbJ2dfwGFMHEL3St
yG/vn/qu9SJaxfTp+sZuvKNqgoCiMQMvj/rc+QlBVph3zsiKpNKSOeePU4nJld1pLCBFW+9RszaO
OwqoKBVgOjce0TUyX7a5nbnMKDAyewl68ifDcKfSdXYu1caJBIUH6Fn0/FFBM1YnctAaOqbtjG/o
vemYTqplB+jQ4CPu4Vk3l4NiMNhhQKxdDL5imSebbjLxTMs2MKssXJbbWexhHjeOvmqiKvaT4lFa
q+WMjcg75rpwqx7BacxCvWv/w47h06NnDeyODXT9+SEox45lfUeKpGl/5svTMECJDKqARfv5+mHb
+jIg5oE2jaOGwG31FGEoBgbHOT6WgjjYGil0grLQKo+Q6tq5yFufBo5CYTeR8EEe43xFaPRgUKjM
ysTBQGJpf/Wh1OOyj2d2ylUoHK8SOllj3IuhGVI+dDBC8iDzYj97NOh9U+6hSzbCJ7SSFJJLNZOA
sF0tBqySqeOw0xVpkOdF3Lb5TUEajF9Nhiq7pdK7BRHieP1jbaV4sAdmC44FXvQL9hiX7byMBh6n
xHwCY0AG+lE8elBXieSvoQAkb+ejXZZHFX7iX4Or41HrDASrQhl8MeMy0r4ssYitnZdky4hCpwEN
hyQJtMLzzSycRed8mMtkMT4VEwbXmzXwfodfdv11Z/9UhLCKIBy8iqgfAuePeu/qVjGI9gO6aJUg
qwQ89jAu54CpvO7r8hsj7ua9nsXW3XpvbXXihV43GuqmOIxDBlT5m51Bb1Lvwv3iqPpL19alHNa7
as1SZQZ1NBs7KO8WtzxN3/E0ijHuSVgV4VDc5ezQ1ZFsbovD9S1Vru6aZXXr31muiWXxyTfBarqv
aTLF3a9OBt7b/8/I6rYN2bLkmYvPNnXH7+xH8c8CWdLn6za23BOI0EidEfwDsrK2obdU+nPJk65n
vyqQb7oFbCbSRf8/M6unQ+v0ic4a50ndOSch6M1Szt9dm+2FTVvLQQj4F6yOLGPtCAF1Sy2xFDwZ
wYIOJOg1h2LMVKPB2aumbb2GeD8AclK6igjNz48AUCMAQBmCJ77FSGikIOoSzLy+vm8bdwmQe2Rk
wJGiMLSOIKas9f1xgY9AbTmkDoQEOjNEaxSYuB1Lf1Pf1ZEGExhOz0DzHk2a1bV1vcYrpTeVCZO3
sqOB0z+Y5demOsoayIuf+nA75288+4HWc2M44dzvhReba1UiPijmKB2dVWTN0rayphHHvdJPLpK2
Oj+MaR5me8HS3zN9sVL0VBD+AbgGzuT5l6MdtB3xX55Ae/Fgh0v0xm8x9CmwULcWsRMWaK9c/4zb
m/vO5OqwLEU2F/aYc3Q9hoN+O8Z6nAe0Dz4Zt83NdBShs2Nx4yIQ3QV73EcyBMyHOr3vHJRhVI4/
6HCNacmPFfTA0J3S6Kfry9rwgtBnsZV4nPpea+UhSWrwPvq0TDDADtTd41IaYWs99emr1u2UzDce
S4S1UO6wwT+BztPK4fZQZm6cArdNQPwmGHjGIAnI+JHP9nRTS+STHBzM+xwMzP+wk2p6s+IcqILC
6plGscY0Of6VuHYyDL9lwoaPA0hANwNeHT1+uBIIp51/LGtIq5pmlCayf6sBw9cdUCHlLQd11Ucj
+vpH2zgZqMgCOAL8m6KXre45NMw6oi1zniy0DkVz22U2Bm7vJHMbdxnRIUJoAHiRjq/rshD55Gbh
2OiH2U98kZHu/CE+ehofR48onte/dlbHIncpAkMb7TDXeSapG0ntB6ueAere8Y4bJx0+Hn035Rpx
BlcBoWc4UwvZ2jyB5GnsIWGIcsdAa95A8MmL78tQGzufaXMH/88iMMPnZ8LuDKsG7yBParcMbaT/
JnsW0FglGCf0Hw7EO0trd1jWTBgiRUuxSwGlGnUskPyYpLuTpGwevHd2Vj7Ql82kJAPzhDfo4Fks
cjjSyD1hEHVXVs4dgQzKMzaggyjQre4S+Gtp4XgCIIrWmY6+UZwGa9xLU7eNAJkIsg5QieuPU4yd
o48M1Sx0YReS/YGi9q/rH2XD32EZ/1pYfZQhywpZGrBQ6F1c2j+g4Bu2unvSjHvoFkRI7cLrBreW
hEwYXfm/Kf5aIEH6DBRgAoNo9T4KKCPoc/t63cTlAbDUawsgk4JoYPPOjzQ0f9LJ4PDhWu2FFS2C
vn+b9nojlxunjEAaTqkBA5u+MjJ0brFI1MmTqk4Ppe88MOtLTuw7Ok2PlPeQa3FP15d1eVMB7ccD
gV4unBF86vmy2lSzfWC4eQKSdjDgIZo+Zd7LwD7sEM7NrK6PLf2y12TFEzAIoK/syoelfiB7KLm9
xaxeh7xOe9qKGu8sicvSyYO8Q4WRN2XQ+r+v79ulT8WCVGMJ3TsXbeLVgkxfKz2mjxyIoMc0r197
aNvUU4dlAUNLSXTd2ta5gNQACuhqfBmICedfKdWlhkYBImnK0NnPURzTptfG7sOm7f+A77RflLk4
7ur2omWGaFaRFNfqeVrm9pO+1DKxS9ZGHSCaEZS6qpMlpz2toA1TiB2g3ADcAgL4dZrgAltVzdQY
kiJPMSppKr9NmMx6WFxHHq9v44WbwJMOWISS+FBUJn31ELYpMbWmGYYELdVIc+uIljtlEfUXzhz4
uYU1NoKnJenaGmvBbdUCKXUZw+L/kHZdu5EjS/aLCNCb16QtpypJLLkXQmpD7z2/fg81uz1VWbxF
9F0MprsBAQqmi4yMOHFOZU1Z3DgA70U6w1a8JUq1ZgzxwJ3vD/A22TTbxxWPuimAr1DruN4ogZpz
GYLQbt/9EPlHUd9wCiSRMmA8wZypV3q9Mt6bjfltDwkTvLlQ3KH7nNQ0l+NSxXiHWs9/BUBDgYe+
NSZm5Zq/OW6UHWpcXekFaPnkYWewfKkkCu/6RiU88KtF+cXdqPw7IuqoCa0Y8Z6GEWHHly8glt2E
vzToXFVmqJ9/s0ZsrazZ2tDmn188dnw/DCCmA4OH6ccpMKCxuHI53njFee7A/o3MJ6rGuMKuDSBi
9+u+xNxNP/JQn/ScN8z7227NAuUM8wIZx3TeBbW8S0Br6tUSqE3BkPzjvp3blyg1FMrBo3u75UtJ
wPEKn6LaCKuTKJLG2XsdKRICbYjXAdrjEqQP/5+GZ89ysUiFVPpT4sOwdOS1AjK1vRWU+mtvCawj
bd+rz4KszOniPrxYtfnnFxanpoy5gMOqNexLLBxE/yURVmhf1kxQWz33QnYMIxGzKZy64atXD7nw
sTJxN9lbasWo3Q3c4pSm8+aLg9QA7ZcW6OJbUZPYaJ60zPb4FUex5OLBiIiGdMTPeJNSYwJLeiSA
e7Xbs+FAWA+XsbCmkrY0bZcmqCHVAdqpIz/s9/xA+o28C1cu+7UhzD73YuUhxpDBBobQRB98c4y6
p5U1WTNAXYOBwDF1KQb93kP2odigcaAMHoTP3u0O6gO7O4fHSE8e7xtdmTSa4j1pfEBnFb/fJ1lp
5Fyp58AnZmvabotWwLcBosM526LOP7+YuiIE90CSYWm8QecJgADVii9duu9AMvXHALW9QKLTJ3UT
9/vsJ7AbeiS5dWp3nVmFtrhWilj0dniiQRdERbEP5DDXowmyxOPBJNTvR+6DnWnILWSoSEAgsarq
4gcWaWV0S9HLH4NzjzRlsIuHplJmg3oh6GyoK18NWFp6SMsgQ7ayzZen8n9HB2M311Ib92qU90hk
jr81QobfnytIzoXdACIkvHHRj4HwmI7R1Vbp0cyGPVdUj1nkJsFhjNz723phEFcmqAspz4tCiUF2
uue59zz5ieNa5sca/f8nLl85tvPWokLLK1Pzqb7Y23xboOsYEi/7NKmR6PgU1PcBCiLc2ht02Q6K
vSjFfmtcXNuZnVvfCThD2AJar+qZikQelGFEbW0HLEQ+GNG/lihHNzNgcKOCw9TkkR5Dr0fMGDMW
dMYbiLwyews+D6TRKlIqENHUgOW5HpXPjvyoFkkPjHtLMnEiPbJf9/fC4sRBu+f7GQ0+Q8r5SJww
NXGBDd2z27T0LVAmElF2xCF17htamjckrFFRRhcM6vLUTlDLQerFpB3Q9N+ScNgkxauavc/5Na79
+/ge6XGU52f9iBkHcj1tSR71YSjkA3DynVszJOPMotSBN4n/GpoEIr1LS9SgIJvn96xYD3soHoCJ
SogCva2ytYf0LSpoNgOoAf5H5RCB8fWAQPfkK1IIBcFG0Is9a3q5zTLOIJMpsctNvtadu+QfLs1R
265XIXHKDFiqQIh38k+G941wfOV9k+NsoIz/ks4F772rwVGrNSIvqQ0xBid1kZHmLEmh2vyX3IcA
qaGgh1sJeGEAadDOcT2DkcYMWVRPgwtkF/QEpUzcqL68VrigJu7GCnX3ZXGQhEICTT3pLeptUKn0
HGgWnyCqx/Rv948T3dBA26K75+SoElKmhq2Y2TPpu5qClOxD/uCzfYiqWtORIHaih3x45scHvGzX
ql00Wu4f+yjGgsQKL/eb4mUQqqUAzrfBRX84mOWMtDMJOOakTXRA169qvdwf7zcO6eImubFHHbVM
zpQQizy4op00z9JkdBDStKDYnKGWl9m9M37hfye0RvzJbBLbkM37n/AtQ3jvEyhf2c05p1qCrI/K
vifqsUGTT551Zh45NVpWo52CxoueC49t3BhV/i43nyNAe1O2QcFQV/NdHPzKS1OG2OCwa4oG0cnT
lNlxLT2oDPQO1V4vmFPdlJtG5ra92OvjSj1gedMAsaQi6w/8Ae3tvUaW2zZQBhfqEqzu2fN/1QbC
sPg70IfKGng72Br3543y/P+sHCB53yy1KOlQ3qsYNfRY8szgDoC5iUaRlyjo+KMYkh5MzoanjBM4
39C0ft/s8o65sEu5saH0G1mM5cGtebzuOyPMektCfCB6JxR4YjG2euaVK2y/O7TapvdBAKaRkCdy
LxmB/JbGQP1KvR5CiTPb5StfRzfs/DMrCiq5YMWU8eijwtZEhfjW1GEpKjEicvgzKR6Q30tUVJ02
4ChSeoZUW2+16ECzpv5jd2bemVOJgOxSD8GEEdGE6mM1pKCzIhnsL2AakT0IuKuZ4Wkj8f0Esncm
4+0q5Ay4Q1G4yFpw4ICY2pCkk7BTIJYun8Z8W4BZ+f6iLU0LXkEAnSGtCqYQOuTp5D6TvUJt3Wp4
SCFdVIRP2KuDGOpxl0En0PUL0o/7NXn0hT2KFi0BfIBoawFtED0rSplBJY3p3Il9qbncnmS7zktr
yFJT6P/uwTKvAGyBuAw8JSjt0EABTUvR6iCqnSsOx0IMSNe/xIwl88jK79ArIz6tTCmVzfjH3owf
BZwFvHM0vWknMpk0cULnjnGbPw+Dz5sF7KLFW9RZtAmZQgIhmxCL+cz7vbJNMuhX3v+GhYsRJL0A
AIFJEw8bWhS6EJOEr0Ktc5/UgEeGWSQsmiiZn8lU6claV+13wZHy04AAA5MEH8eCSpK6KpJJa5ks
lXs3lsfsYRIl5ilRGgbqhbEvg0KlybdDix0vFNVo+A3YljPU/bNRa81wnPg9M6kQWZSFUR89kGwh
PC6sVolUvW3KdteG6hm6kYKh8KOsTwoYvzuvyPRSgzODyG1jCpD+rLi6sJk24Cymh+6nODYiacHe
bYnsiFRw3QrwN5JQTisufmkjw+eBCgQ1EAB6qY08BGzph2mMtEiSvYJ//VFkvpT+sSsfauF8f1Hp
vP33xgJgGIgD1BchNUZFbona9OBmyXtX9ExN3ECrdKNx0NsKClL0vzuQDgIN9jrWvZ4qDFDFa2V0
Glb0vx+AsBjyuigG0ijLomv9SWHK3i1FyxtUuy0Da5aALXID5Ie7atpk4TZFJV8Wf7Dtc96C4LiU
QRfzlkX+6f5sLG1xGXzO0KqEqgOegdcRppRNUidKRe8y3kfZ/hi1Y1yQSiZK/rAaoFMpj3/GjcIT
auEAbgNRfW0LZGNpH2Rt7/JN9AUYJokVGTFYeJR/dEyhQwG45VfQQMuLfWGTuk39auCLnO96V/CY
H4JqR56dF7hC/W2e1DbgLcbYgk2HG4iXTQbfrKLl5gm8OdXoY9HmUjMLFunrQU9FAzZLrundVNyJ
0aZs91JyiNsj1HobMxz0HF06VbHjIrjQycgO0xoT0+IKX3wAdbSqNi3Fcd5tQsCYUpKSQcos7ySC
PLwFtZiSiSsx/tqI5w+6SJ7gCpejSMYyRyP3MHD1pky1vdSu5R8X71wc4D8zSz1bmB4SalqEmR2Z
2uHi0mDxKi/kTcgMBDJ2yNbMem+BFUkklez7x+Y/7Ks/xukcqzfwSj+KGGSTWAdZ1gsT2Xb1zZzO
z7WzEnQtryCUEXHVz5IN1B5mvApJ9hq2lPS9ZJ0mfs6A7xyfBO9FWzG1PKkz8aAwW8O783rxwsAf
+JCterfPfvXhQQZTtYfXe2agfQ25sNyzfufN7/9mMtGJBb7qmRz/JnrKm4xtOhzSFneXCrodS8Jz
qYDWss5opJMctW02beMEv+4b/qYqvjmcF4apqwB6VWqSSz0O5wQGvidQVZ4nFnCTAj4QfjCY9Yvz
iLAhxOx8yGRs+v5QNKqjIbjrm0iHLOkmEt2gPJXsM++1oD+2kesakFRr+Y7EoqN2Ky/K2V/c+2Qq
SqjLvhnaHHMFbqFkoyLD5vdOw6z1LC5NDdJqYLmcOTUR7lF+Kxj6vJ0gVuFG2kGyAjNrdaEuSPri
SbbsQ97aSMALAObh5Ks+a5XLZGh8mDySa96JZw54wcv5AURm2wrYk9Mw2b3gDHjf31/BhaMB/A6L
JiBwrOM1Qn0lOpEDrmDm2bDTaTt4j5KwgQi6MYrHUlpjOFw2BmEC0A3jtqT7MLxwGmImlXAOMxAg
O77QQ5mAyPEPFj34WRetRJ8LK42x/WuO8m+AjHOgchd7VyPV3rMtZfyvJu+PARpAEQ2SBK1xtneL
pNZLVjbH7NPf+rY0ocetXyOmnzcmtXEvh/PteS6uhZIperEeMZydRLqVqfrGrdz75ZSLFAuhibMO
v5yPnj0A4XilRr5F3GR+aVRiY9TNkWmI0mxUnBRvYEHUJALJUx0rr9ryYXOIx7UUNZ3+nMMdDBh9
dkDnoReJbscF/zLvo38Ne5PNT5riFQ/BmMwK8g2v6Go/xu8dJ/1CcK9spaiuMiK12V8Cr//5BvRJ
4gOAfoUW1LU778Si1QIBW7YoHwP+CbV0SIPLvq+L/Ob+SVy6EWdylz+mqDgjKodcqwQZp6NUjmXm
NG8l8qFjWO9ZZhv+qCQjOnjgYfHWVOAXNxZeDt/ZARS3KI8oxJ5XVRwDw22uEkbroVU8RM3aFlsI
a+Zn7x8z888v9m89ZEU0ql7vsqOjhqPV1btcH4qKtO9+a1ftsd2pEwE1UTKCfDL75FYm+Lt57WaP
X3wAtZZNwUVVIgVIBm8Gq3MhvxGS2GztWm9OR8kSrA+GTMYhYsloPHSJ0+iD3eh4ReTO48paz2t5
8ymiiG5zdU490LQtvjemLapJSMglDwN0yoFBYUEmWhlJ9RZFNuI/UotP5VtTN0SYdG960NqnRm+9
9/sfQhNy/rO/Lz6EelKUcZ5PaZgjLXTscvKG+eee6tRpFIgT2CmURROsyJMS6R3erXy/n+InrrKa
Sa/j1mhKCwwg8TFAh2r2l3RS/3wZsvd44M2JZprIu0YIrKlhOLhCl7+FWvlzbHZB+nl//IvrgH6s
mVIejNH040IVmlHiIqxDNnAMsrogT/bY0JCrzMy9BoyXa/jBxbM2FxKBm8aFS5+1DBWPPm2jwQXZ
R7QV6in+HIMoW+knXzxqF1aoozZogpcoXIm5i1txD9Fif1cIQWDlUqM935/Bbymhm62M0gqCHQ0S
5zRFitqyWRU2mELEU53VWOOWt3kbTfNnxgrs4g27xRp+GNGG3dbmOB5z29+/xpvR0j5ay98UZmtx
dm9lv4NPSdHrdoM/O/M5tBJ9LSBYCs41PNT/fCvlAcDPCkRBAQ8Q8QHJRzJwyAp4B2j+xDxP1NLx
/Kfm8N9k4q7MUp7dAx9HKDfYykxxCNmP3HvuhI2aHSXAwNJTwcHL3F+UxfW/GCf1gsxjlYsDNRlc
pQvHbT4MlZm3XbWR1XCt63opGYPBIYU1qzPinFKDq8DynPphNbi52W8bi7ezE2cwP+TneXVBi7+X
rcyunfsDXDy3F0apAXbMMLclZPCfTO/toAgW6kWVi/uqDiQS5IJPAABWVsK95Rv6wioVUKZg01Oz
AEPl+9wcHKmZAG0+Vg701KrsAOYj3kNW12TSNa+xvJ5/5ph+VHItIk0PlW2XlZojj3cDCkwq0684
w/9wPP41Q18GCZTi2qZAoUtDmv8Ua6resdvQI7zy03/vsoAo3DOzFnsulSaQ9udnLkm0Tks0YDz1
+JhrQaPnhqzjp5quIGfahFDMDQ044400THrjWYAn21XmG0AgGSJ3qrN3rf4slQ3z6TO/+WEHzjVd
FteeLEuls6uPo7Y3VzFdFgs4Sqln+pFdt49N5KqiMfabFK0BOsTLc0OKd1GrkgYUR9rfJ3av7FM7
nQk16FszWPoi8/XQTPN9rJhNUelKsVb/X3wv4d4VIFEHBiZaNI4Rsq4TK9wanvjGj47cvssM2Hbs
+0f3Pyz3v2aocNOT/WyawRNuxFgiaBpQChHV5yY9otXHLNGshJCHB1RENRLsNQkbQgVcLUf8kSoO
mx8HpiBJuOPiTudDbuWMr80BdXOGjFiqfNcMLjjidDEO9MyzJCZ/bFcJEJcd58V0U5fR4OVKx7Et
boU4t6JwH2sPZRm9F9pJi5zML3YT+y5MTym7jRrHa1sDvJdbRt2X2hpgfWnQoCvAhTFLUd6o+YZq
0AxSPsK9KOXwKYbdbEccjKGQuX2XptLaLM+blo4ZLg0K1FOg0cQoKAEi8B9q+SSwDQERbhtaYb5N
+bVywdJdgdIiC1LnmSWRZiBRx0bgh9zDCf7086862LCgC29Lxe6/7u/sJUOosSPZw2toCaa7rjxG
6tWZycwdytKYCjgxpj0XVe9MeXhUxTVvvVDfA8oJSU3I7836UpRnGGO8z70OpdEpV+y4PfdDCpG2
TlfbraDttILbCuFvLfvLrtbvuPzSLHUJ+lwjxFKgjG4IhpB6G5Zv8Rrnw9L2uDBB18gnaRjzjIEm
Y1e/9d2xqgbo7VlhIhI1dqt47XZdWjdkTTmgEIDIAAfA9W5kQq8UmJwZ3SZAGifGs0955FtH7Vsn
QKXwbzcJGu9B/Qb/h2I3lPaujflqNURBABVMEYCVyur4T+Ej54kSr9wbt2f62g59xNQ4SkIfdhht
2ygfk/JWoBf06f5gbl8z10YoV950CQQYIyBjgHQodV702C2Tj6x138rCwx1mIJ42V3+QTaXT2xA7
HNkOUHlXGjh9UL8Q/Qw8OGnNiTH8GtIi3SZ/48OfzPiSSjtl/Dkig1AEjCEBNVCKkRM0P4Lwlwho
w7jN1MLhxQ2fGz5umr7toTSxMi23+/f6e6m5B1o8lJQeqLM0P43TY+PURicTtLLI/gpqeM0StQAp
gCpol4GlStkE6iaWSjP2X9GXp7MRC7TGCmZvAVuDkeGCQDoM/aXo0r7evRgUE8SDhpHFyUHoAqcu
zKp7HoSBlH37nIEtSLX6miV9PBGASiKR1dFgS0LPbthN2+lc9hll4CPsUVLa8GtN6rdxsgw3j/oH
OMBUlIepz+s70KQONT+iDsJ5plqVI4kL8At3cfRrZU8unK/5SlGAhAM39A2vlZBzag2YD++KFa7o
QefQ65WbyvisSU+QuinKYycHJGaeK19CFySR8seCeWwAMwp/R9IuCqIfqfpTQd8bNLvbN4hQMq1v
5c3KBln5TFonxOcKuDBP5N1OjHkLlLRmo5ThFgnX+BSMzVo7yDenwfXNjvsPAJeZynQutlFPCFCw
JWkMLKu7ywnSaSU5yvrX15eof532r6+v7+/vDw+f2zNSbOR3TxL9518vC+wjj4P+vplnh24FLQJZ
7kHTKrnBHjgLItuDJVlgRDr4dmg3O8H2LOEptSdH3nBmfpRN1lYikmyj8ypt9+39PKuQKTP/OmQ3
blrXQ81X5QSaZ64EYAKxGghO+SC3Yt5rZw2iuJAqR1kT9wkYSGaoMK08wwWRElatIrvsNnjXrMkB
qctDZsrgCL8/wdx8vdMLPNPtgF4SPSs3abmRFSJhbDXZzclx1MEMrr8dffJLJKVx2r9vA9KTl/sm
v7ErNybRJgUOmTl+o0nJFLRGFOAil11jd6hO7tH6sA5Goo+6FpIva3NE6zRxLQK38lSfHMfRna1p
2iTC4I3H3cq9uvAgxFRffA0V/wQTyuZsXsiuQkIz74z6DCBf6EaOrpf7YZsgm7RdgzatGRWoqjJ2
NIRoB0wBHpwv+sf4VSam8CrspwcomnUvDZSkn/3nlXmfr6k7804DONkwwhM8KDHvxsH4OByt4zEz
rGOgM+SjJF/zpFsp1OZIvqkeDMz7c0T0T57kR+dROrXEWdkItK4MQs956kEMg1eKNnPjXd8+VZbI
/jjUsusd2qeDVe2T0Nq/8pZm2uj70blfj8B3/h63yho8cXHTXxievexF6QIqQEgP8zA8cQav5wft
uersMsb732qEt/vTvpBlwihBEPXdFy2iJeja2AD6jjxkG5ywlEz7Tjv3E8g7ToN/8F6VUI+eAgiP
rUztbQgMaDAknsAIhTYD6BBd2wQRMdOHg6+6BVZUMs+FnTsrw7q9m69NzKHMxRxmIZSUe89TXNYW
twDcmpEVmozekddXVNMc0VmFYqxZpE4qgAitkPiM4g5GZ/S67zAP1S4+c0+8kVvYoE528Fbc43dV
gjozIHIF0FODxDA4F6gtKnPlyPtJjVGCI7/bBbpmlvpXYICvXE8Iyv9WbmXkqbTLbWnXB6AhrHkO
UtsnrPWUGKETGQM5SXZFIjN6BEs2icn89S3+VdihkRBGfwV8Ue930iY5MJtG9y1PDzYlePKfGUtd
GdHizrgYELUb5bRKQ0apFNcoLP/xnB/X+vi+CwTUlAGRroKeEQShsyLt9cZQUKZv0k5R3MYQdWHn
nZinwooszJg5OfFHYEyOv61t7rW2KqLucivYBaSxGzvGInpPPOYB5N6O99Cv36sLLhC1GrxegK1c
oHuI1C7M1CRUXajMma35UW0Ua9rzJvHdJNS91/tnZCE1BmzEhTnqjMBcmkxZpLqtif50QPMtxUQe
iGjmZ26EVmQHJmJqohj37dLNm7NjvbJLnRTfqwOxEjBM2Va3zSZ/CMlAOtAIvJabzu4ePPO+wQV/
+o221iBaAVYSundzqiDEHSWD6np2ZAhOs8PCWqxTrvicNTNUMCpANAxZU5hBGOgMG/9RsyOn0JX3
+6NZAE9AmwXg8f8bDvXsSCDxrJR9r7pv2QYNOFb8CETsk3+Q95PdQiFDwRWJpOY7t2Z4/sX00QHz
HHTT0UoFvlZqgDJC+TyRRtVt9uVW/pS3iVGZoqHY43P8QzrdH+a8+WhjkF5A9kIE5leh2XfYyCu5
vgs0VyjNUCTwUCii+WgPWNPnWIpmkX3+1xI1n34jBBDDizRXC8xelwLgWve1YMTts2z2nM6vhHSz
C7sdmAx1C7ALwW3P2+jiZqrRutJMaaa52T56lp95Y03ybHnm/higq/0QEuRGbzYgHxgHyPAnf89a
4spmX541PDSglSWBJZBO3wOUoimdXGqueGA/yy3/s/oNIjOTf+JX3pSLlhAlzOAcNKkiiXU9YW3q
ia3S9JoL+ozyKfqhQD7NQjET7M7Tp7Ky7Rad06U1KsfRxHIXSl6rIT03w8XQJJM/+o/codopD2ys
Vx+QnuRTsvbCX7j45lDozyCpmzxCA7PHczCrHcFr8Cz+5H61a+zHSw7q0gZ1uWp5oXBh3GkIaIOO
9J/oCDtWv3OrWSHPWKg1qLjD0fuD1ygaj2jYARd6UGFKM8814pokp/684U+joUt6vefMbXhMzvd9
xUKiCAYB4OKQi0GTMc0imbBdxqgNDLJbhZR2gCeptGtxfwaoCoNnnvBWCgyAoEOwVG93/dcqC8ri
3F58ATW30B72IWaFL6gMNHQ9EsUMLOGrtuXN6wNvgNzjPTlH9pq44q0vAQ5iLp4BUwLmJpF6qI1q
lXIgg/JchZ0sj9+UFbedfjNNb92f4CU7UEvH3IIpcZZIuD6ClVzWdVvUjMtqxRZx6I9y8hUHlG+d
WfADuxIgzL/tykOKSC5wyGLghQA2Krp5bBRiyHwUMe8mDJxw3FeZkUOdweSFVliJN8WbdUMaHpR1
KEdBPWtG0F6PjA8AjxknQXKZ6YErt2yxU6NNoREFnWge8+p5P0MomUQHFjAT/3kaTlJOJP6MKE1X
BHv4yfqfraN4z0WiT2cOFWz8/av6zHNHU5/7SmfR8+TvxgGKY57l+UZbGw2aF2RIJ4H/LyXta5yQ
pjPlEoF5ihrYeYh3gr+C0Lm5EjBKXKGIK2dhw5s7R4Q8S5rNL8osUD2zrEcInSpII0YgTjCTMCqd
gC98s2xHb2XnLFlWxZn5Hxo0IDued9bFbSdKA9gBmUp25YFBX/cAfnlf4ItNPWCSQ0lLbaWOs0dJ
G9cK/UtLO3coITGLUAnFFure6Jmq9KGgIAN+A5wERxgPGhvxVsrOAkeKQxpYbb4FUbocHSZ/G6nH
TIv1kjuwvc5yTsDoE8iSv7RxN01WXRFfPnEt0JjFB+87sWoKoGquLSZ/SX6H5SFtPPRw2m3y7qd6
J5E21tUd/5ZtJfGRVScrjIjXW5W6F/Cv+4fzNo7/3sFgNZOQ+kNzITVQWQRnaTMhHQcp2xPeTxWw
x+CSbMvCd4q6GY2qS3gjroRuU0r1Y5PI4Ooay2dfTluD5zxVlzTP6NPsdzqPEHoxud4IqRISXkgF
UoIPj3SZMmzuf/ctAGTG2mlApiGexRDoeFII+F6efDU5C7WabEDxlz7wjLwJEugbhACwdwMU8wRv
sLQCZw0hcWFJafS34tZwV4okQaYYj8E5k0w7ty4HUD6qJs8tIkg5NFz+GOHIilVPQGFCSqxkLDen
QHkJuRXvc5t8gWkVL3dQjUMUg6VjQdGThZKtWP+c5rbX64LTc1bH2n1jhOe+2QKOKXm/xNUuq3lD
XDtYmMWYIZuDd7BES7LIcS6wcZ3556jVVJNlUC7qPdYzx7wL7DrkIMrb1bUzBZ645QOms9BXQtpo
KgwVwu2m1pfNWjh587YQwajCaxK0XaEPgqif8hNdA971qPbPVSwi0xbVuszGkj6LZVuVkI9WC0ih
ETelams+O0ETrc6sJoyijTryawiF2yQBvgZk8yirQ7gGroO67/yIDQtQbPhn7lkN9DQ+jL9ZEHNN
OhpKI7yzRKPvzSw0Be/IiWbtW4Dm5GJJ2PSY5D/4PY/+78JJobeVkAjVsZ9jZ0vRNpdMhdtJgqFp
L8rZF3WFWZvHOTyllnZOVqI3B/c0iK3n++7C36YSxBnytMeOevFkEvh47wr79LFVHkpRI3Xzlve/
xl002ak8rfih7wztjW28PlGhwp9gErm2PQo9D22Dwj/z6gOch2f4TyMDaBwJim2r6nznxOKpkSzW
M3ij+kwe2af+RTTHwZCiHacrpsgT4SS5qWr0ntExpgb+/TWnc3vhY2kvPpK+kNpSUoIy98+gS9SO
TG0PgikoW/8goW7YHDlT3EFX/k3wHeWRgdevDE5npZVl+i4MUVMFZgScwhnEOuM3rqdKQGdo30qq
f6772Mwfx/IlK83Bt71cl71fDbPvCrts37MpIoK4D8YfFWvInK0AFzRIhMts5Bg6E/qIUNYmbGEm
nSEy9jSiNeEhSczIO0EoQ6xMJnZajXCJKT0KP1Eh9Z61pybaVKCSaJDcZX6J8mMACoKWO7TbqXlX
NDJA5jXchM/xCDmWbNtIaxjOb9rze4On8ggik3ZiCqGms3yoZQvNjqQenkL/oHV6vA2j17IkmZPG
r2hpwqWN5vz37BTlTiwZU7D3G0uWXvnBGH/K/sZnnkQgw/OtMhotPLZWH2UvIUL1BG9DsuGMNvRx
7h7Rw/6kyBb47JUPT9wo3TmJN2V2BMowmDXI97JiidMhK3YJcKUh6ZiNr+oFCsf5S1YZhWKWw66y
Q+WxeEOTyv2bcOEGR6FJBkAfIRpyKxKVEB+VuvFZRvbPTWzJpQ5sfOlvwITfGQBrJYQPbbXRx0Pe
oF3NRPtbrWfo59rKqi6PB3FN1GPpWrr6nDmou3AiSQYxo772/PN4SEW0/Vp1bPQoogcsyYOXZtRF
0RTZ2FD5NTqNhdN5ZZlyX23CD1MqMv6ZyUiaJuA5KnStVogkW2BWqrKUoON8ZfZvn/yIjRH9w9nP
HMKgp7oeLtq7BbGq/ODcsA8Mbp5oGg6Br5K6AJ4im2kSzbgeCZiTthyC5k7FcQzGjaau0trdvLPw
JcI/jUhzfo1uuU6jgi/FVgjOuSr1IOkLtQep5Qe77BRO78c629dKoro515/8hm12meYPRp6OIAUL
OP4tl1tNH9kkNviSy38WjLcG9b592uMLIUwKlQEeJHig37ueK/QjKWFaB+G59QSnCiNDUyodUPZa
sYvaCtrOrJlNFnVQknuKmJek2muVFSuAK3/dPzO3RUoUu8G8hbAQC6cqMuXI5UIURjnN47Nsx4A0
ca+KNR7grGJR570NLzkV4d/jI6iCzvct3wKEZstQ8xVwwwLCKFGxSgcsBl9rQXKWy4dMsyofnDxO
Hp8U7yzIPyLlkNbEQ7sF+9DIZq3WRuaxbwXvDmAMCLJZSiMH0PStZ4GsTjxdLcItTEELsNEF6Weg
gismWHkA3qSXqE+ew4aLE82Jicgg7orPvJwK5wFuyIr6ugaKJ4GESBVlujjkwcpdu7CbUYRDJAJ9
DSRx6ewEkwHjG7JVcq4AidjXa+Q281ajrpGrX09dIyHfV8Cp49dz44MyvvQ/FWFbPHSqvpbY/64J
XVtCFgL9OgAjIfeNHNP17ClV6uVCECfnMZm2fnQQxy1XKQev3ZfnchLNPn8vRqfTEVsYjOi59/fb
bQIU6R0gXMDlAtFBDsrs1+ZTnhFbL/CCc8XNNFhRT+IRHZ9WlxyyKiJpZbNrvSu3++XaJHW4khFc
UVynBedZTCTmW5IIHBqw3qdJ+sUgyXR/hPMAqPlFcldBzQtkQaDUow7UkOYDmCqV8CwEfWIE7VQT
Nmd1pldi/b6l26I+5hKykED2aQK8Bh3Z52XtD5wSRec8243yo99NoP1Brxn/Cxkd6RN8pUlmlhYX
kX4vq0etsaYD+HlIW5OM38VrFdxbgMv/kPZdzY0jTba/CBHw5rUKhgYQKUNJrReE1FLDo+Ddr9+D
/vbukCAvEbMbPRPTMx2jRLmsrMw85+B7wBuJFDrYp2fhwsu11ZoijkUujU8N5/UzvYRIM+5JefRt
biJFvs0OOkqSI6mP0slQj9WwCQqk+SArl69MzXVdaf4UGekDtIvOBOmL81TwQ1YxcGWdKvm7KF66
6rHmjlIGSajQCiKi+gD1xydlMCXUiuWdD7k+hJdiK0KZ0rq/TLe23+ww0H+J2g8um8tZSVg59AKU
OE6tJCEcMtrcqaS4QV8umzaxVqYmgoS198stoyBnAqcP1gI3y8KoktShkIVRckpDXd/IXc1v+/aX
0HR7dCFNeOLFxsqL6UYG5C9/AlYeAuMzV8TlOMfShzjHiFmd5N/yuB01AZoMeG/INcmeBwTjdWQJ
raWvtQXfOnAKeHsAwefn7NgizBL7tojxCI9PmtpNngCGkyQD1qWpphXfNd8ry5OtgYBKQIIFJH5L
sI3U9vyo6WGCBAfkj6QIzmvlkrnlnMVzE/Oynl1tPnwzUP5xcgprgQh6QtoJcfu3hNaFVz7/NUoE
mlJ14sYDGVZKU7d2zLnpRTCkBpKBcKhMTnqhaKBmGTgapwJakgoNz12N6aCdyjLn358NDS98YJdU
dDwuI7ApDIWJN+rk1IwxALMvvlSaoRTQeChwHrO1LXp9y87iSDICHgV9QrjJF9PLuiScGMYIuKpg
s14XoaI+lLtJmJ4gej4rOWiJGSBW3Qhtgc6wGFBdOWwjs+EqUCHoU24l6LG321r91uJRArUVF+2z
SVyFtM8O6mqzodyERDfgXWDwufzUBsQYRTYJWI5s3ypIuwKqR3TpoYYe3LQDNJWvnWSNr+fm/sMU
gVcdCmbIfCw8OM+UUZJHJTkZWW2Cyhu658/cRLP8BbluqbJbvNAHfV/zJjC/fLAWBc1HdTloYOjm
2qgBUo0l20zD+2IxiUV64lkXeRzTAaHW0/QYy+EpAY39IZ+g4KbofkbHov/1r/ci8heou6FDE+ry
f2P0s7OnSEFSDEWTnkBNBLTtXlLMvrTkHJQsH/ctXUPHsQXPTS1cJZhVIQAl1elJ9IC53L5rqd34
1lv7HlEQCFipDRDmrkioBqm/7BBDv2sTHNTVavR1TIuOXx3ODFKUs6D14shDjleakijNTkhP1yYT
BTCOJZCY/vcX4IWZhYMudZZmcZ9kp2yKgVLegWsqFPdgjxnWcp033lEXI1oGt2IZhHyrw5T0LDoT
I9qb/gviyTpUYGhjIQUW2UNPUPt6XllR8XrnolcZTYCIxGYl5UW8AR7/uKuiIjuh3cxCwv1zPNVe
bP/Eh5rYsamjuaQ366O6h/jruMf9sRZ83bicLj5g/sDz3TuqEdoU8+xU8blBRtVIrSAZc/v+OG9k
UzDBZ+NcxBWBzNC5X7DsVJiqf2x7E9RxItR6wYVpc+KmfhGrnZpvVqzeuJsurC6coarXFRRPMDjt
8F39zghqU4kpvw8UmeBtRaUdtcavx/tGb9wVsAkqbFDT4cH3N9FyNqF8IAbgMGiyE5fgRQlq1C9c
GlCyaLuERl3EOW0vDlTO2VpD6Y3U8/wcR08NGsuQU13qvqOCE6BQ1KanFOx8h7gZCgFXcSC3NCg4
Ac1YSjnpz3Pu7TXgk7EhQ8oqxS0YaxiNxiR7DYO4+044o+6+8d6rR6Siu5YDJYehVyHgIyWYZCtB
LiqTj1Vt8gJlAo9IVNWFimJEb/zmIB2s2EPCZIaUoqFYQjqEX9IQBZHZDnGVeBDyHnLKchU3gqw0
eW/en/6bR3kmAcMtjQsQRaXLDS2yTlHKokxPyCQ0XGfqNREC0CP4j5pBe1dBwVqnSQQ2qJ4C3wtk
6/0PEG9cRlBp++cDFkdalvk8higWHsrxplV4tJC2EaSpk10NNXaJJmCc/Q12ysHW0V6K0ogd1kTZ
cy0Ylps/FfcevmKW0+apCTDjETGy51L1UG35X3wmWp1BjwrmeWRwFk68B/B1LOIpBXvYT/TJb2KX
C2WQ8lZ21Jpdb6sV6XSCRxItg5ZWyjvnP2ToxO6oUaV0QHCebH3fQpkyEWmVbLthW0W48UmpEX5N
R+Ga2gs3n4zyOXp80a2Jl9nlqrZIkHPTIKQnNm5Kdd+WCUlCG/lBCVjmWPpp+8hqkNvvYoF0yfsI
Bnp/F0GBJQH8BwXMcqtLr8ZI1R5otrcxfhrR3pCZVcmRfq3ofssD4A2Fhzze8/PT7fJbubCK+jE2
0hOq+p0ZtGphltnoEwNTbqGcqpI0zdimqrg1dqwbT5q5UxC8STMgBwo3l5ahreSXiSpjllQ+2NSD
VKPRYJwelKwsVi7nWzEACo+QHkH0Dc6yRUhcaGWgVFMEhy4JMvis29GKDfaKMs+OT8q1csnN+wNB
LVS80aOPX4tDxSG+jFrwuJz4DDAnwbDjljSgxWpe1NFGPSB6SyZzDNeurdlZLAJL6dzs4nb09TDy
47LNTqVK1PKoKV7L73UbB5RL9sXgjNXKw+a6iwsbHeS9yCyj6IoGssUSDkpZCyEk+05jhxwEOoug
lvUlolm9Jq34hmKIfgwRDcUWN5pdTTWbx02Kpn4DXNbTH2Hc+fLKJ93yZ+iXAc2thtYZVKgvNxVf
ClzUchxio9DoduChRetIozyLXK14EKEO9wIrA8pzWURbdOyuPC9vpQckuCgDDy+UxsGVdWk+0fwQ
nOZJfoIoEVHjd21EdU/ecNpOkpx8aJw0eKz02orWpN5uRtswKsqzDgRyjwsPKQsZuog6WO4VMpSP
NZ+bBoRB/NhKuoxWPKO1+tY1LrD8JMhsRa3hGvEWLCzA7CcBhbwQIp3gFXsYolc9NXmfgoXvvhu/
cQyh04oQHKlB5KyWx5AbGyUWMiE/QamactI2qDtwYnjGWn/NjfoQOpjw4jbm9KSKJpHLZSjLVtWL
RMpPqVs9c9uM1BTiWeTpSXj6XRFxjcvxVk7wwt5i1/VT3jVVCHuMeKEt/5lBG08/08MxcVXyVkDP
/FRDLXH19r5x4i/sLi6aPBdqfYrF/NT9xjsgkfd5+JlrjsIKUGZAxanSia944Ojih+ea2/v4nMJM
E2sAdKjds8Ji6Uon6Y3zd/FF8xY4Cyi5SVZ9PDvzE4rkM0qgMDs+w64fiBD+1MMqWchNe2hV48FP
CVDnkl1oHNNIqwvYGwfAJzdItpItc8LnAWuOznrKE1p4M0rG6kpKNz0xv7O9X5PX+zv7b6fEwvfO
scn/fMfi+GUdIMehgR2wBw0JMYiEgjABnSv23U/7y6lNN0dLa0F2p+f+6/FxLf16KxV8YX9xjdd5
J5VCOc87QTsrOAgrF68WFjvDjvkYfohHYWQ+Bl/3x32r0nFud8k8FI0tWCYijLulo0IAsscjm6Y+
5C0cU9reN3bjgXRha3mtyn2U6iHGqGv7DiywcXP0x9ch+FltjLmVIrowtbhKMz2R2ShhWNIhA7wG
mRggg7t93eNpSyr5If7o0aLo+WsZ7due6599tCysKEGAoCLEiR6FDStJyyjv8a/8tEt+0JkzJSYH
2hVmlc+iupKvuemczywvfBi2T9+nE2aXlx5VAa10sT1AeG41OL7ps+ZUNkhe0TixZNOoepWT1QA9
nQq3n3seFTsTAHYAA/6Wg+6wNtd2Erv6FN94paW8bhvxA/KTGYqERrXGXj5vmetj+8/HLNxV3gpp
OAhY57jwutAa8K7hKFQXAINP0bezz0xuLS92exf/Y3L+8zMPOT96QS6DeZYUV4jtBryo8jv6ioVV
KpHl4URFCGz/Z/pQiyWthqE3RqkZXLF6QEuNSvGo7B74zMMjjussbgUns3RCV/YW11HvC2rfKxCI
YlYHUH18YCfkLkyfNEQA+jAk35kZesbmvltYXAH/bRU9oeDvQTJheWQqAQ10dVMN7ljuI78CUTBy
YeWvqiSS/62nttyGK3HMYglnixrQR2CbnztAEXJfLuFUVkna5j10t8zSK8jnbg3zOC/M2ba8MrC4
TWpJ7TguGga3lzymhKTy//2cXYxgcV1ISDrzcosRqMlg9UlM24KAfSBRJJKKGu6LIijM+8u0eO4t
x/R3s57t+wE0JEnLwaRQQotP8fAwgBjHysosHfeVlcUdMQapbxQyVMPQBWhL75LdfLnKbnxvLB/Z
SPZ2f0zLa/+/zeHBAZFOJPSXqpYNqI8zuceO72l4hLTXFrKWRCaKU9uKI5sRsqS1A3JF92EaINHG
AYuaAVz8ff8zbh10LOf/+wxj+eyIAfrSC4iZu0m87caATJJKS8AVulYlSWzyQUu0iUq8uhL2zPvw
ep/+Y3c52ylfJUGH4afb4qW3/F+tWzzxK3t1eScuJtngF5cxCFbiKTOgpqfXoMg3hZaIfTQruH+U
7bsUMYtHhyUzvuREISPSQCh49claCuH29v1nqIsnhQ+mXhCeY6gvR7pGIriyjZA2unQoPssrsFzj
hweiTDhoF4OMxVRDr8FQY47WiOMnzfSzpzK0QHM05XYNLZWSpOhUhrJ363SlzTp/KycFnSYH6IXG
eKihuXF/n932e8iioYA0i1Mtbkv0p3djY+AIt7xTo40NsGsDtUXLF6z/m6GFg63UWK9AlIZTbEPv
artrN2vCTv+fTfXPWBYulhugWZKEODINGBtinFrB1ohghp8dKA0fTWh+0/tjun1IkStB8Q3aeOgf
uVxkXQha2Y/5wY0EtChCfaFqKpJ2Py0aNjTAqf2HuLHbaK1lYRHX/ef0nJlduPoJlBhKFmIuB/7Z
CBhJ3wLZJ1ywdkpvHpD/sXOV+ggNVecrGXYk41NPnfTIdc54Apxw3sHhry74qM2ik8jUiPhnRNdQ
wTfCAOQweQQASEah8WuRehELJYiBk4GXiHhgdjirL/5Ag8OeQEgvRp3NDSfO366s6XzqrxzgmdGF
A0zbvkEDFIxCq/lR59AlGAKjxXboZVCUfQCyPfFV1tItj/Ma5ngVsZWYa9ke9Z/lhXtH8koD/mFZ
QhegSdWLkwDXr2S5IzUvrZRYjV9/CKUt853VauO27EukVs0Q1HU5pHAS4bkDWEoM2TYJoIb0oRle
m/q7LFi5HpbpsKuPm/fM2Z3fV1CUA88d/Jqq2IqfmY1x9FtHGky/8npMyZMwbgsI3t9flvkkXa3K
zAUHp4xIbfkozTOW+VM/m/UDOgVOI9E0C7yKMz6nQbF0nfuXeb//DPTM4mIfSGMoVlMLi8ozt3nx
j8Ju2InH0jS20UrIcdtxnZla3oZZlIblAFN1Zgn2i2+qpuI8WBB9ddIHd42J4bbXOjO3uPfyMspj
tD0PLieY40Sh6Km63B8uM4vHnK6lc5bNylfzuLgIQ91IIsDtB7fIle00tZugRIetSBRXBblF6NWy
gD96lZDOzJEBCCCGiGLOhOuokv438eqMfwRplgHl7cWSqlAQY0Ug4lNaR+w8RXwppJVtc71PVSDp
IMqj4zUMINvCNbO6GKSACaP7jtYICx5xLbC49okwgEo9cqD4Deqtl+dvGmspGgsY0IL8hatoDRI6
5DMi2SpLBuXoX2LRrcSiN8c0a53BBwMctsTJ+GBibCbUcVzpvUf/VkwhW3Bs5/aO+2f8L77s8pBj
SGeGFusj8g0k80YYwukWafOFFKO0GV8lUyDRTrMGK9rW9k9lQQKtBBDBNI791/OaRtbt0QKZh0If
LpO/laAzBwdAgDooFSZYVGlAKyrvOXOt6eH6AsdAoQw5Y4Hx85a8DYZf1rmaqqOb6dSH4odeWkJs
1quEwzfHcmZncfYSSONNlayMbvzCqySvHC4j1VvFP7YiW4mFltV/nPPLMS0uBk5Io6LhtdEd7ITo
VmOD28eBWO5Op+MDmUAxZcy/aGWBHYUmTgH/tsvJrqIzu42/GoFfBy+X37OIbMvEYImQ6fgePJXS
2PbVGgp9K6O+bQQUkwgYQLKw7B0thy6Vgh5GVNluUOYdJ6xis+K2bjjseSj/WFnEzgZa/wqVgxU5
fsu1p97JISyMGCiVPvrAMrSMSoOyMrLrhwHQgxB7BuUfjgLOwaWfkUN9hBYPbGqJHRu/+9jRmofC
oAbAyPeP/Y1NivLaTKI8TyMqPJeWRiGTpaIuB9dPSPXig5px7x+qnXG8b+bGUoFiTZ1pofGuh1b8
pZlG0EcjqZPJLWIec9YeCsOdotK6b+VGfISkFXo/5jsGRpYXQFs0zdBP8eRq7MCeKrfAqLJiI7UE
bYADCONBcJ7i31bMXi/XzCwAAgpsQkG9KodrCBi1JMfodI8jh3zb2LzFrAmPIM76aW0ppCNoP9aS
WtdLd2l1/vMzXwnkz9QXCqzWskJFts/RUzNQRXoJ4pg20WZlkHNgcnk/XJpb7BR5hoUoDcxNie2H
nlyBf6Z66fqd/5SkTqtxlixZ3MyyHELOsPv6v5lf7qAgUaGf2GST2/zWTz06jhiqwDY0gyonsEEo
ESEAX6serKzrkly1KYH9YHk+uXlUUJl/L9W38Z1HLqjv/9wf3m1LkHcF4hq9I/rCX8p1m+K24LBN
2ueYO/H+R1j9kfwftsaAcyOhh2WcNcnRX4DN+lfU92zX6EbXRsUYTm7camYZR1ZSRgQXLodEYt3Z
JaOFnwJ67I4C91h8dE29wmksXN+/8xdAlkpU5h7lZUf8lKJZd2zSyQ23zGpCk4Ub9KpVlv8cPhk7
nz6D1/gx/Ene7k/xdew2m50xL2j5B9/CYorFjG94I8D+HdHNoaKfwhEm6CGQpklpqe3Ep/vmbtwb
l/bmJT+baDFrm6zS4YtG3uOm5/qTUeRPAWKOdFJMW+RLVi6N2xOLCQU7PfqArnhbQRGRMa1g4LC0
QVhgedUBTYfzr61MfPIdo3gbrNyON33QmcmFU9BbaaiDvphcngp7EKHtlK1G1jIRy7YY7BVM5T9W
lmyslRYkXTjBSmvlB5G+TCSk0+bw9NWRXwHQ6Xin09QBY58p0ZXw++ZmPTO9uIk1YEmbhIcLaKaS
RjJq0FMFUpAD0K8r++X6irwcpLjYL4baCAqDJRmEnWJgqtlkKpOd8C8sfQetUhEqoP52RD6gRSFs
8VKgY71t2hVHO0elV27+bMDzNXC2bas61+vBwCYy/F+R8ZUMK+fipqc7+/mz/bOfr09AMYVhOa9l
Vjzp/msqHcTSTOS1t++NTA6QKWhRx99gMca789JSXil+nVbYNYMNSpfXaTOQYtNsUlOzDzmRdgKF
I7DBTwNwzNuq9VvX5bn1xTz2QVt3XAzr6k6xUT2gGYWkgldtNCuiA8UHUJ9WpuzF4BSV90ixk5VU
1rKL5u+xQSvZHEfi0aoaCw8E+jGBBTWmurFrizug59QKbMWsrWIrjsjNoh2y0QhSzmJqQw+U0dVk
xy33AL46wOogcoPS9GISUP4a6y7sJpe9Ni1NnqqX/Ch+ap2ZP/Rv4h5oX0iPQZt03x/WcNrqzQU4
s73YaJqS6rnMt5NbWiUZ0QNcbavjsPX/gOnzEWkX2UQfkRPQz18FfVXwCmrpN8g+rZPzcDrpJKIG
fUrJZ0B/OS812YLqiHDoe7I+3YAOlvtQPYi2Qhvn+dTv1ae1mPKW3zmfudlbnB2Tdko1kWWYObCq
u80+cyHGseJw5v2/POloF0W/Ovgs8YBcxI9FnadjWk/w3UHqKSzMQHlU6xuO51N0Hk6cl/XAfEp5
3VGmgmBDY+U2q9oY5aFAsu9/zC2vA2wcXiDoLgO6ZHE5N3wnjGUkTm5U/tbCQ56ueNdrr4NBgnUV
TRLoWuWXMUeKBj9fDhXdbWSKJrLWzUEcfn8IN6r1aPwXQdCI7Y7s0zLAiMRaTrU+9l39VL7yYL9D
iyBN7YHytrgdTZWAhS+1+rf7Zm+4OZgF9x/63QVh5my/3ClKCOq/Wqx81y5Ca3rLSrLtvuQXhFQQ
yXUKMm7lN7T7g3IGVCrccVh52d24nGFfRWSFAw43s6TP5rJA6luQf7l7I6XqTnzlHpKP/Hsg4tb4
MLzeZC/lsQERbL1RqHTkH9Zgu9dOBkwEoOKXdR5d19KyZQ0dTL5fiKrvBhkIOaCBMB4V7ogEGRKa
vbjyxPybprw8NZfWFqdGaArBYIrmo0LNCHeIPjky0+iITm8pdvQEtkc7cVRzIEgLkpcn1QzI8eEN
XYsPAs2O/XaweFO0O4dHU8BkQYjGvL8frk8StJ6ROgPGGx27aNi83A5GOCUaSwLfDfOSyAAsr4mt
LDEWuFYuLSw2HIgJU78ZOMOVHc5W3muHnQqrPnVvxql6YM+5IxzDtezkjWj60ujiMvczgFxBmO67
9VOzn8DLPFk5TUhO19oqbngKpENAyQYCLMiFLi9NvS/CbNDx/oGsPFSrHjJLSh5lIYGnv79Qtw6u
wUO/E8awTuLfcP7Mxfus6RuogXNuBlYiLzx2W2mfPjOv4Im85bf+JnwYXeUk74OD/8C5a8yZy4Gi
ojgDywGhNUC7AwDx5UYRMrUbykLiXA4puiD6zouOpNDorKSasnJlsLeMIQhAlg5jRSp7YcznR1Fl
Uxx4Tb3Nj7hdNlkwET0HcHdaoVJYuoN5XOemFjulGasKYNAk8CTf30LVDhj9krPLGom6AJp2MbIE
fLD2RFk+LpdGF4HOMAYFqHkwvurloMdm5KnbBN4WW/Tr/q65Cur+Y0me3T1qlOjQvVw2pCKlHFJL
2A8QM3VFWtipGZvVHindFEEL9FWtijA7OxjHNRHQq0O4tD2v8tmOVetWjlugAVwD+kNt8KJOTt9v
Ai/aDsWfYAKnZPR9f7g35xXhO7rOUc8B+PrS4shEX6s5zKvQOKJilgNP+PeYBUTzn8atFv3bkPnv
COE0UfGGD8W1cmmPJb2YTgk2zxSlz+nAzLLLiVAHSKttpVOYPYvRKfBnNHPJDnH6mGoFrcHYPpNo
AX9U/IhTRO5PwVVcsfimJYlMKgwV5DkwB0ZIkGA8+LvWS05jDy+RuMwFIOKh3c5Ct2S1AfHWWQL3
BMp1CJDmnOrldIRNn7dhUoAaDu2UXvy7ePN/FYfW0WgA6ZVJsuuQcK50Gm1uu6bBsqQEw+0Fy2fG
F2sv9GU76gWMl1ACyKxh3xyyT5UymniRq4QUwfm47yz++YE7dkByrQH/lyE47MsiOgFmmgED8fEi
BGcy3GMLKWcvyJ2sPdTh4+AfRWENtrVmZnGgpbwfhbKFmfpPt5voijdchgN/BwHqW8DzZ7D231fS
2ZHlFSHKESDB8erdLz+qtkGbrCT0/qZfzkOi2YakgMkUJQSwdy3hWSF0TvDO7kIPVJROYeu7ycx2
tadsPM5Sv2uPAdG4M8zJKx7BAXvwkaXZbFBuQJEq9QzU9P/9gbn4nsUNkOY68CrgcfXq6rXTP1AH
JAwUeeAs+6WXp7E2sXkqyAZX37WbtKQD12p2UpDbuf8dNw7PxWcs7gTdiDQuEjEtKWh3DbS2G9Kj
zIFVfyclTqysWLuq32IVFBRYoNYzq0Th2X95VqssBCqPDZEXMohEJVR4a3IyjgQcvlAPmDI0DReW
fBgsJBz+jHveDEvCAN2gm/vDvirC/OdDkN4FBSfSL3/jnrMt12vpKIVqH3nG8CwqJJce+gDyudFA
wk1yQPLTU9aeAH/RWIstqCCEAhP43AePnM/l4IUBCLLBGCMQj7maXQ4A8duVtotlO3oc8o1k2HIJ
7DlERL4DOyOh7uI9xPSVNbhKrs9DP/+M+TSeDZ2DFlsfqFPkScFnL9S0QL+oXx+yow+ys2HfFi9i
YRbQCQMsm1Pe7k/8jbsSyM+5hxqs4aixLfzlUIXgogi02EvUNx10tT7IYwWfJB8MimsR9PnyYpVF
5yquQ18CXAsguSIytFdwISgblUWSloOXEYYECThraU1UKlrdUaXTO/7zx9fx12iCQZhO5K0iiQkt
GeRPCvQxTIhWfv4qEk10omgo3rTEMHs8jKjJI7jfB2aBRBmIqKDJc3+ulslWPJV1PNVR90RiSgVJ
9uVCTYWRtC1aYL2ueIm4gEDfWQlXDsKV651tIMKfEflgcVoiCNMw7AKfdYPXagXpQd6YALZ6fxjC
EqaozQNBbo83ABmVMI7ForcN16dGGI7eSD+8fWdu6HtlTr9BJ7FB1lOkXwN5i8hHhhl8ly1ysHMT
jPzo66WHlwN4UQnZfrxsf0NFxXybBWieHx8lYu7cjv76k5Fdb8tEJUekhvCATelmbqp5EBz8tjL/
dPTzT2slkP1LaU//qAcZkCwJ//rd2Qr+X1rZzzoZqE6SbUoekGRTDkjRO67kvPXmr5yc3JRYLb0/
J1fHYDEjixBOr3h0oo4BZsSZ6heFM/nfQ46tyYOjZGvkK/kAaZ7gC89zaW5Zl+Q61reyBnN778Pj
qZmQV0a23vfH1nnyTO+wrSz85Vq73afj/lTO+8a8P96/usP3vmDxtsqiIc56AV+gfjRm5ap0+3Gw
f2z7aJkWfD55tjriqMQh1sZ6cOnrxrUIOZIdcT5Nna5tyVse4WxDLhVL1VGWA23C1ySktN41ukrN
urK+S673LlSj2OhhoIG4BfoVcMn9aX+432prAYWZY9NvJ6vey4c0egRClDfzd8iZ35/z65h8seoL
R1/rOjjCS3wEK448mnPR6yzOADqCGB06yuE35+8Z+BsAEg3Q+4PScZIDG7wW3K1N9iJEzTvfD3IZ
n2G/5jjU3vuBEZ7uE+KBzYW+EBw+ij3wbttPDe5/17GOO8d9fpMo3Z8ecQK/15b/+iYGpTqo3FFu
QGIZuHHx0rP6XWeMRQRixkxEf8y2rk81y83yI8rfwKrO6tjMeBeEIPno9T7la3Tb1wDzEwARjHhN
inwpjzq7R4hYznzq6DwEue3ibGicFvcKN6XeOwdVN7PZBvvc5B7Sw2DmOlEg/gbBA1Nwqo2+xQQ1
DhhtfThLE7zXZmn/ib3mlK+1/d+YIxGvCsRp4NxFk/HflOp5mFByeS3kYe1FOUMTMxD0Hi6jxPQL
n3cM0W8sUQlKRxiHxgIjXfNbzkVjC07i7CHR0tRMxzy0c12MrNwYM6evGefxmhpYU8SvoUWub0p8
qwyG/Dm9imzVYqcPojxpTIxrr2C/WgnCytlzPKwBvq+d6GwEKzUT2ap4qlxumlIzwrIzYESds7Yv
ANpPIKXRibrGFQbygPlnXbpL1BewJ1QJja/z/ri0NTCRlVLFDS+IasB5kqJFb4I0CdTV5TYQPgO5
i39P4ZDyFLI+gKRyXPMzjpCWdQBN8qG3Oma5W/XgSzUjiM98VHkpPIwjF/1haaLO2rO9gaexBOxj
WiAc7w3mHyak+l6rvC/A0dUroCXpqg5dlF3FdcFGQlHF6TkxGByhnfKXEIRpCo3VcID0hJ+i0UaB
tKIzTthLxB8YJ2xTpUvfyq7XwYItVQMA2b3cfJdDrL9WrAylbQHq2ZaCuhEExaKWTq98Wdc1yMHK
jI2FqxQ1yIkICO34+E8oaX4AjJ/uQ9AKLaZ1P9lMVnK2jVojG+0o0XsRkOe2jb/GllMQzElS1Zix
0k2IJKIRZDtq0ExjRcZEikAdUyQyiHfUUC3NtI5i5UFmOsu2tZEDECcUEVjyfKkFEZSqpJNPxylG
92XS1RJvdbNmGJXKRM8ccVLbaINPQfsNF7Dmuwmwe9ClLLOUoroLyvaUR0ucruEHg/1Fbd6Y7g84
1EoTqXu558BnnoFSYwuU8/BUpkkFnD5TCjdM1aYzu0KoH4eMD96mOGu+KjkTecpAquuJcWI06GIC
ZVKpiUbpxDzPOJKOctObwtgppsIScDoFRR2DQL/QE9APtn31M4DsSzAVjVWpCX2oEheUNMaxPUZS
4uPtxyvbosnEnxKCI5yTyzmH+nPOgcOE6cNk59q83IPUagrR06wJQX3GNYEDEYjsxdd44JHESAlA
zRSHFWc2AOtPyNgmvUwbI+cza4Z0eGk9M3P3VVIc8jxMn5UmZSkJgCuP7Kwq/IZMY1o9Mj8S4v0E
KUKMqQgbJ+oLX6CM48Vxo5VGs+8HfpwV4IXgJ1FZxG0lBrbJbVQ1Ym0zIE9iMjJe+Y5ZpUE4pGep
YYmclEqkGgB7riTwZdCwU/xh00IuuSVVWfOCachJ+JtlevvbkDoAkmKuboDNVgbAaViuN69cLXTg
DFQnrFcQNC1EzVWxAv2BPnWZlRYgyDVVuTOQqZaT6pQkosZDpcUABz6X1ZFkVoYaQOCrQ4YQnFnC
SMexA0dIHPLhHwUwSVCWVKPiFHEoCFTiNAaTPBqh9AirYTMBiAezjXR0ykuT0I67HmrPnKcBG6t7
NQfcmiXkEUMGQ5lkkaIS030OfWW8DD6vPvaYxseWbwwnzdHLTEEGPnx3IEaEblqEFDkV+Am1uIg1
0uskR/Ep40AnHihq6BNxMJDLarsA42c+thjRhlZ947New4pC9vAH2Igcb6QKhI5BHOHoN7j9EiI1
wBKhe7+pob/kg9ULrCWFkRKtThkwQ0OfvApt0iQUuerqa8iHYStw2RiBvEQJ97kWGqVV6F1g0Bmr
thmYAZYnzCLr8QVjgg3CZyJp9UJ750oprzZC3KYd8rCxP5mTn4UWX1bzDc8UzhtjAckHUKqWp6JQ
stbtdDHFbCURN6vpiNl32vQlKGPaFh8aTWqq00bJhAicHpEIeVrGg86pgSLcCzo7ShREfIAHQLSp
4K0GRLvyrVR+D0KKPjQwaFXN0IzoV8JJA3xxNJGCUL8qrUHcN9UMoiUhHyUveZQNn0VfJiHQubEG
dZJwXtTUiFCT1OICpFY9SEfmTQaHYIhNteN8oFBIkqtwWI2YKvl/UXQmS3biUBD9IiKYEVt4U1W5
XJNdHjaE2wOjJBAgEF/fpzbdC0e7eaDh3sy8mecjO/zo1jGn+d9KgFPG4FflJ+comOr2EwLYGQMk
V8Hd0A9uxeZHfUBWgOND2C3f0nMQdC4hcijf6JPjYxlLH0PF72mw6Bhb9FXbIjfOz89qr0OcB9tZ
vKydosbs+nq9U2nTvTdyyrxrtir5LVeRZ+5EPuvr4e/reMWmTQcF38TrL4OWuXhsmrztXkh4qcOT
N0ucrCFitod9rbsPfIhRrsIM6fA4H5NOr8fuLW/52HufgYT74W3D6QdzMH/VAUrB+COEKKoZs+PU
/w4hvbkiCo7lv3nN8uUMRND+2pGlvjndzVERWpG84I66TKVQmflyLAOsSDTuSVIyVRwxv5RJ314F
ReNxHvIVRLmt91XexXE147sj6lFdvXZIbdHVk/5ieoj3W5CuXnqdE1c97QE3TZn2lh/txTL7b5/V
1D8dyWSXUg7MGLz5iYGtiKNqGh/3eRSPY0rMESdRpptTpIewLzcxLesp3JLaPRAd1xAf7AdEAs0u
Uuqs6iWHTK94+jJgfY5lioKJ19h1A26GOxHLVBrEa5FbmxwPsplII4hNLLAoD5d6LIMQFLlsIjP/
QAidvep2a37Qs20dF3SAJXCSt7v5NG/VtN566e0vPSLN7jK1PjXQkOQaVudw3tn3V+Ix8NzasEFv
RMge70VyF9bLSHRS2Pn5O6Mih1eImhyaU6LMagvhLcfPOvF5CRUvGn82b4t/RXb0olIx/U8S4ijD
S6PAcYsq8Kv9LpkMSSTQg21Lhb66+g0YPu9Pcp3xzbMNXkQcCjod7mvX19mLbXNW0Sj9bCnt6FuM
xz7U2SfO8wSRk581imk9FndZ5fP4LurUx1N93j0k0kO9dNd4GWN19mtT/9uTfh/PskuyJwRFH8hJ
lG39adi8YSnmdJvYoC1qsVMFGGpO3qbDlaDnzPMJZo74v1zXekLvEHqUNLsxzXLPt/CfvLRz1cMc
rLK5kSjh1de9ym16tYFevmStUF1pq3H2L1Mq++mhblvvwavq8Y/qkuHVJZaQnqUZkBWk9bi257xe
NrzAJh3Pd/kRx/KT9tyHO0KtcIXABgDoU0ehDS7YrduXIV5s/aajfjJPYpyb+kuyLOFXuWiBxzXc
2fyQLqGz3OYOsyem7Ca/fVfL7oPmxhU0E5UHx82yT24j6YYqtXTLsSDsWMb1m8Ys/N9hh1FhGxOH
2w0VbFsXFO55cKmWaaDWowZFySMj29Al69Re1j5oSbfB+vOss0mMjB4vW3KrQxxRXw+Vh81JjJOi
V+vx9Xir9iqoT76rsGr3M72dar8a4k+ZzY7udMzrWF+PxmgUoJgg5nc0NDTBwd5b9cur86x+q9hD
svA8ZGGnbRWbT4XVUz9RLYhsc2+61zb8rHgqfbLZHn1bWB0/wyoNxkt18I+tWWr5oltazCJHzvs9
Cry9KSMGal5nrz5+J4svmjN5bvJFwhzeayvoVWw79G91lXTYfq7Sf412AQn8celSVg6h+AOg0PyE
6HLuVVa9qC9K1hPlw2qS5uI36hjLZg0a7PFHXXdlq+zUFJqK4ZEkrv13PFghiq2dp5x8rrZCbJca
vqHhEosKUvhi/jSs5Z+GRIHpIvVq/slBV1+nzAbzeeJoHMqoTQSZxYJ5PdgmU7fnSmZRU9hDQvM6
ZfEYM5E/l22X1Z871EYULv4UPnOHpEPRC6d+aEeZU8y5palw7cY+2vsD63xZ85YLsbVNTv8xWPc3
WLLuJeirg2G/Rf7OOdU+UhEtByNZiNiZUGrk30KVpFQdXqpWRgsi95i3c0Pv4keHPIcdt8G4NPnL
umfyfdyD6tqrEEbHy5Nrf/jiW40b9yfrKftCxFtVlUNcERYWWRP8zBsf5KZZp47PsYgYT9Ek7m+k
q2V8UL2mzTWr/Wk5N9O6q/tw9Ud7bhNC2ordP3AggeeP49McL2b7zCui/m6FAVYfcGGDbZpG775O
aIzPyd5P71W4AoI3gjK/OAZCCAqv2Zmnm5dQ7Odl7/Ps3Bvd0N5NeE9RjFRxe0pW7esTzcyhKN0P
iCIAdaa4hqwZm9Lrsnz667aMdx7NdYNPZtfK7mq7fF44trh+Hmm/tLmaLpF3SW3a/hZ5Ng5PoW/G
+SVDmynZmNxZwzWuPdudmPfG6SUboqFU/orhi42BUvz6o9IIo4Eazd9JfCwJiM9EoQNBrCZ3Z/p9
VSr5Fi0dDccYb2T2eqKb0McsdvvsrSaXxZb2fQIHgNQOvb/dTek00YOFrsfjnHBSE/RsINwJ0kkU
8PtGUESRhtH6UCdMXMtE8qvyeNOfwrWVOZVVIO6ndt1RSqYIbYtDeONR9H6+Qza22fc6bHHtmpVb
Ed7uDlf/JFb50x7peCyGqU4hptakT4t4lj1hkcOHYyfMiPtd1dng4z6bD92pWVKrmfYY1Yvue++P
L9YMjC23EgvExQyqxJsO82LLetJl3rZ4lSUmfpmHbRHneDbZXExevdeFkWH26DV50pYuhigpGNqG
H5mWlkp0Q8b+z0Dd4AMR2/hh4s8Iu7PJ8MSMGW27jHr514Zb/znom1qdxWjYkl2qRFsOVE11ObR9
lOEDnyXMUHSKZ0pi6559v+nMxQ85aDhRpuwLK695s1sjwOr8pvZOQT7g7Tyo0Dztu67NeTiYSMaW
ihfA36G3Z1nHfneup76lhbKCZJ0j7IfST0e1lem2qs9rCrlQBx2mqBRuR00bu1tswu3mk+HJLMK3
JRq6V2z1U3CmlnLY1z1ZfvIjKIR4On8i3ondQGhdHPCyZDj2fztpAoKzk5pjsLEid+c8PZrfbp2P
16XdYneKKiAO/pOue+DNGjxug1R/lglNK289895cOMS/Ah1p/+ybLmXOMuij9BSiOaiLgLC8d07r
XZ76uuuXW5U1Lj0JOrsfYqhin3y3VD7J9tjTc+4NzQ9HtwostCZLUkwj5RBOvoN4YjBX4UgwOE7d
0Hht/rola6Svcds3WC+mib+etzVpydfjCL5JmFSU9UYPQRHGov4RxLFV9zQTOqAkXMEtW+HRriKs
PAgzqIZJnzMX1MG5jtL+Nm6dy87YezW/p8HKZw0e3dzCqY+m2yTnaXwb83rgsl79WZebVYhIhknK
mtwqZdqLaI4lPgndS3u3BNJ8xzNZcDPOCebMUo5H+XGFZkV8+CNtMEnATVnLeAxux7BP/ZUs4CW6
BA31rmjxxS01pjEHl0cUkDDtBcFTWnec3Lvy5ycTBpriuvdC9j1pUbjZaS9sPmkTmPUhMSsNIyOC
8CMIZHNqfQD8G2PHzYFPSrB+nJQhU7JjE2OY3CwyGouUJQjUvncVryuMR3uamz0WpWnpA05gw+/8
dfuVYRsQp6ZO1m+H0Hovl8lomjEPqvJJev4MArMARxX5znTHfZQEe0tFtRhxIkgjY6aLlRCWgYnr
gPwK5hKKLOvIMqhpnydOqDlUD2kXVv5J+9vwOcplPhY0R5x2h6/iqNyiOu7KKKvRu/dzrbNzpY8e
jxWpJvSZBI8EHH1tdN6Crj/e1KapJdXHUEvhosqbynlI4RBA2CHuBe3JX//Q3o9jSpbgklJdL1ya
fRwRlMx0e6HSdcmfxqbOK8D+PnsaTb3lwIR7oKgue34GKUo4kmhTh+I2RIn8mQfT8R56oWPiw3r7
v1AeO71MtAaYlce4VYvKVa/55LHit7Dn/suimmt8RVHwzeuEpb9IeuCvHMhqYicrdxkFRzTN+/px
6h3MWV7op0fEYUM8p48rBl94obshIyAkbDljVyLfxXnoPBJCGpetc7l1uy/KrsL/o2z2dPkRzQqb
vKarTVzQXoP2NNt6/BLbGv1RLkqBb1QSvtnJzRiTzdRG2J3GbGadNTrCWl733KF5JH/bPs1VmX5U
+ICDRnKAz3X0IcfQqyqXJWAaYMgHzrGtpXmqpPM8+i6bMeET9vqp2pw4zsLfx/pEuEgUPQV7tS9l
z3Hwdxj73C9s7OtHbVQENNjq+VsYJAN2sf6xPAox6fbkNDhN0Ta4uj7mfZ82tzSzc3AJ3RaFl86z
8MFNLxWbLKgie4Hr2fAiST683/rQ+PXJs0HU3Sxn+3OedIN3CtsUgAkoKWvL6Uh0+5Q4r2sftqhT
dTEHAQ4qZiPdiOgq0calm9bld9QswXhKgFbEOQ8RhJZjIFuBt2Yc/icYdOXbHP1kMWg3cXg+ono2
pTXh9k3YzH6WxNVyC2Ctv5ZhPZmf3urlVK/zmuDirQYCPVXTEeu0BWP6fUs+IMgdJeSdzj293Y3a
b6ZydEGkz55ak1sOmuNOkrGAoFC1DG7ZSgNyzvNBtlflpBQF1E/OWVp74vO0eAQgTQ1VlS7sztFw
Il8wYj7UcWF7Dnxmrc3wOsl+ADLedJpduwVXz7KjsBKFdWI3wP06YkCH0ScySrpYVGUgax9wWcKs
XvLJgAxP9GUNcY/4FeIu7fUnxJwSTM808cMcT5m51fVHazH1O1us4opA7A6giV4uk2Ypg2nPptOq
wv1nxyrTZJQPPUXvKFpwrbwZT5sNu3tvTaWHWMaLAGF4iZi299yAlFnx+EAKDFDODlj6GWN1cs1z
urabITN+JqJy9zewb6k/Lc3q8wjJiqAAEwnseQ7d/haN4Aysnf8OqNO7U4AZJgWTYuiTUmbSBF0y
brkQ20fVBlK0iH9Bm2PC7mk7+9dwzLhaO4fU/4SJh69uFCJSlwFr9Lflc1EVuLjJrpkDF/6+Rqb6
RUXmmrLp9pZ0z3Eaw/mm94Ao92zypXffBWraLoflXwVMEhyciNYpxN0HbOrD70YAC7nVZSfU/cJc
EjWnb/0U9PdbPaSMGY/xlJBOyYzse233fnzxBlsHfrEdfhsWosvJftl7BNTTvjsHZbVWhO6CqpTg
K1FS+IO2x8n0FZa2GRDxd9fuVEhad9srsdzV96Q5kt9T1R3qe68oM59nrpDkS8il7e6Oqg+aZ55y
JxvMnxOuNnzqwgc/qcLq56bNwQdT0/gpGDdpS5UPtS7ZXxZzsyibiOvBKeSHYXCKxRAr8WXaBOMC
lW8lxYm/V+rNjf3GsSYlLruURq4WWzksWmKeIOYUO8vKF7F+2uJ91nd1uOgAoyudTuptcF7Atxht
2j71Xdd5p4Qyly9tdPs6DLpFhUW3ZP8MqlsEADlkAW0+Ig+ZfjKRIiqoag5fXqqq8fKSe2/DXWS1
Sb3eL52XhRzYqvFOHtXqdo89SPAVdHx5nDIauGtPFUFcmbFd8uiOzfxXD8I4BsJVvHyOBh+XhKhx
EgSbbpHWO9cClp6/Sd7J3trptqT7PpzWOdvtvYWt4pj+8JegcgvWRzkbN77PLh1akAedMr4LAs/k
5zzGt2FffXlbrEafXCRiX6orwt4+OE9dJfDxwyyhIaHm4HOt1vN/UOumXdGJ3sfpQ8gEPiiIjo9n
IoG93EYfixWpNx5vlWn2AGA3z2cq0wQjdLWmcxEHBnWXFwJ5lP1i0/HV0CMN51Zwjp7I5qmmCxbZ
dXVlPiT6GmdUKbw20Xqndhncz4ZEU2rIdawqez7QkBEvu9mhu1vyOVYPeyDW9NR0pOWd0n6R7bft
4Ei86yrKmwqMzwVNUHBNLMnfyE99VHVHkN4tdbykRa4j8YMp3+C79ObR/WmXOqt+g9Tt2QvXa0QT
4tSHMtFIiqQmIFAq1jqDu2oHqlgFUkNp33i3OY41QJdpNP6mFdAWrABiRbcDjpk4P26cVMYvj5xU
kX/G6kM+eEkjt0szZuqJMPMJWZx3RFRpZj5wFGxMOJTtNKrjtacOefc6CrzSpenwBRIdKgfHVu28
+7zNrfg2DiFOSNNBLXFgjDXcuYPPU47Cl+Opnn2dXVO56eQp34IWL5Gxn/8L2ihFkeu2oS9GgrzS
m8DX+Cnb5i4t3LwE57Qja7gKWxWex4qS7xxpeTzs2jdpUVc58siYZMc/YdP72aPV0+qDRQGEUaSm
e1py4MwNHvDWmNdEhzs8h5Y+A5ZdT7Fb9zIGkt6FBOFcREMrEjJVYZU87sJJdF+aD5Pr8+ClyD9X
S9zGtGr3aqmu2zskDcALirsxLcZR0xE1lR++8zLFMx3G/tgvW/rT5nysQseNvWbtUYkiS+X840jy
JSpkMlByNVMa1ayCbEKkP7YLAOlm0pcAHFOCF6QZUx/TJPYCEMCRarCl3pceyN0rUHFWHPeK8AGM
F2va53x05FXAYsSGp9FMo2Tc0eyiKXTnjNP6y+ZG9csA3z13dqEO83yjy5iwyrt2AHs6j45Orwz6
hWdq48FM5Ada/5+SQbQU8TgF34fG07/qsPfWYrS7fI0psOLTStO9n+fQmJcN9xHyvMjL+7YOilJt
FCo5H42bSG38KDDhL9L+vUkPmnKZNlA9adhU7/1AVkCrPoD6hcb7vCN6aKllp247Nbttt5PthzRn
P8TmLYeDBqNaWoeSECBFlXMz5t9dg7LybqD4/3wwRPhWtxYOrwom0pmqzbqnwTNA0IFr7K+6yij3
m3ZAuBGAnN3PquvTyxao7q6aN/yBGZA68KgAyuQ70sizRr04v0EBJRQ0nUyfHRjAO5dD9BudD8yQ
gA2HY6uO+IvXcbvTMa3je8SLxAtecqcXnpGEMiSqDX+l6yw+z8M0wmAE09SXnlgsh1gUmvcl96uX
IMZ/QSxH/sWJqvehdixm1EFrAPqHdQCx29vAvDDWlnRnTkeqElnXybc13Jr2OmXYvjdx4hPHAw/1
ad8UAVxe7wjR3fMFdkbHnTVlSgV4t+ex1Jhd5sufOoMDKQA/5de0DhRAGKDhK1YQajsj/Z/zstfO
x9YuaOaoTAaKaHoIW/GlGxfdZ1i+dcW0t/Z34yvmKLmUAWqDZJu2GzWkjQHpobJLpuUlpNkY791l
nCv/eaomPyu2HZyrFHrn+66xvy1XMxLXQwo7M0H7Fkq4ZDvsX3tbdf+2MZ9UWaslg0XqlvSL8pSO
sGiL9DtsP5nU+UYPXKp5EPrKrw4/103cHsW8tfm1i6gY4CAqBp9l276a6Qjnu6lfWFQxWUeaJhHX
Nza507dx6oiLJqKlf2um+ZBEbOa7OicrJlGlHznx++giBs9WWW2vCAT6Z8ljPq11srEi5g9Wg6Z4
+a69RX8CGKj/ONvMtI5Ubb+WKToeZR8C4QiX3svgY3bFLnnyFjVNwsSGGtJ/aj/C/Gy7NVVvewTV
xhp04926sKyMH4ff6C0+IHOboTGztdIP09oMM4BbOFMP+eFdM7gqO89R4lCipX3zKx/25YVkOn7q
QrfsLuCTe1XuW7T/8mKl1MWtZvyOSoKqR9RJm54oKz28w8ED7rfQYam5bTUe/8pvyc/ppdvGS0fJ
+5Y10TH9QHK6kmBjEj3La+ShoS1l5k0Xb6/N9LDOOUxzGrmPVdZN9rilW9jEN/iKsIEu96W8W0dL
0tie7iR5NIt3hLduyOW3jq0Wg9SaJPoPLHYJvjJUG5kf1JY16ooNFx/476i5hF6ng5KDO/gBAK/S
67LPrX8e9LbwAs2eerRR/K8B8zPEZesa4NyABHpJnn10AZSDbTVO98lBJXsKYYR/pApq/FRxRvln
NfQxkgnofaTkdB/tjb6s2kqxb1V+OY4FZ6a4B5665l0wTMyXuQmQItv0X5FDQIG8dct7RlMmWO0p
L9IiXOxLNsTyexBCSsThB+NM+bp5wf1EbW8ukVwBwQvZTeqrqiFpfgv+OHsYW99rSzOSMnomsU2s
0BG1jE4H4XFeWzioj+xkDv7CT5xpcf4wVnNHEBj4OedJlT0nLo3/rZPzq/MigjEoatdmPwVxF2AR
/urDBsPEX9Kk87Zb1zAnghyahhQxk48FsptjS66mWTSQAVmm3nxOtp1DdveAJy+MJ6fzmWUHKgBX
HaOjO5xioN56bFTlPPkc6b5tn+ZEg42moCcoIWLUNffUrTEGYa2uMGxtYxREFVeuLIckblUZmdBR
uU4iefOD/CB8anS0ksk89fD2Mps2mr28AUqL/H64IINhSt7FSI5gPTMFVbeK4GsfBh88x4DHzt3u
tiortLBpwLmdJ0s5NDnNz0pFLwovAyLdcjjeEjhe/Mc+3hGNjOsCI7kvc33CpUS4r2FvuPGF3Bbv
jHRq7O5N63cszKOBFrPIKNKzTelaSw7UbGVKqnbRCd/0lhfkOqlPvQyj/ane5gCG18DPHWcvnLvj
vI7SNc+7qVNcjWYYqOckQvjXcJ7abH3eQNO2k0r00dzr0cr+yaR+419tPITbXW424Ho5d773jKRq
b25tOuQZ7eauHsWs64Ui3Mtt9xUAr7c0OqPRr5Fxre9gfOKx/RJUSZ/fCZ1BuqyDlyS8YWDmb3Uz
BtNVBRKMPj/87UtEe5YWDS77H+a7zTycdpdv7ppXOgO/6zymz7U37n/QigGHESCc2QsyPzLwQCsj
fen7Q8yXykG26tht/9nIW9dL4FVKn5QWbi+9wxC8scUagZ7juSBY6O6eZWPX+mYxcOV+Ulu1PyC8
W4iUEDCzZZNY4AgfCArkUm4qL9eP8MWS+mNjDkmGzMnJ5QCRFYsZx9daNiD1XLTbcQ76hLmJqc0/
hEX+lrprP4nlB11O/ZLtNXxImLVzWM7oGCaQD+y3zkuv7KOB5z8u0pvqGhMFCovvnc0WJvTaUVQX
PjJCODXA/pKbNtbLadxGnaOqCI8c6ENV06e8I3e5IB5q687trllMcol2RGVm0vv3AakiyXEmnO37
wa/UL3OFMu+8JjJqXu0Ke/69Fl4fI0KrMPBOAj1Qc++DtE+GsYHHiYCm5VsQHnbEbymd2G2Wy7es
phbz2DqYsbIda7xJ86IiGK59kxKGpqxixguAgSF3AbWao3p0SsfQRVnWNwU8Rqru0Eru8b2akdme
Aazb/TKuObOgdsz34EKFKtIzII5ixIBPXt25tjZPHiSWvjnGWbq3NQfMevfF2IT3iqun+bOqTCwP
gWNsuegyP9lvbuvTT4HOluZaV7s8StW4AJfSFCHKY7UPzGijqsSraj0O0LnGEwf9NqRC+9Xzs2gm
sSHT+ecl98T6Ix6jjtUV11t4f1DnYPhaxcaUhh8rT8eyddCRCEZWfKGGgFurrzLxCXelLL+uO/zi
bRiWvAcrTanmymVm/1xhgue1iGQYBxdsLDt3nqKkylllS4YgI5nj5l6JjVW5IbLar5P2U/U3mPyj
Ra8VIXRbxjyXcGKz3r2vIu5lcu5Wr+quqDT2/uQlNhifOJWH51EGXIM6yMbteeDn5Tdl9qF6V8Q1
2lcff3ceneuqeuy3ivJ2l7b+HXjMZX8K+oyTOQWj9h5gD4kpGMB7MWkYm6D7s+1pSOjDrCNzrncd
w56Cw1d3XQswgGLj2GGkOLj34Xzs2xCQPyaS5YsHpbN80DbwfdSbAk0iIHXV3K3kYf4GidiUVyC6
idxJGVelhYXDG+5WmADY5Fya8OKp3NsuiZ9gwe7CTtT3qaeX8JqQsvwlU1V73DzXhc3VWvjvYjZx
9btPa+Q5K1PnAywJ17YuwGIAdpG80GzQH6+MWWXeuJ5gxlHje3ZJuT5yLmvEaSb8kJLM2XLz9OqZ
B7Y5QgZxyLj/Tw30Y4ULpyA5b7kN01Ns1wSYKAjHFNu0XXUPqc7sQz51tIBu8bBlWuIj3olC7Eh7
8Ylnby+e6xGMRImO4zKcExS/3JJcq/7oaAtMRS099bCwV432eC8kRY8pfCsW7ySVwvR6rcIGZhvQ
BxoDgRYTNjnU57lTU9r96PXi/1TxZCcwB4MOD91FbgqzZdkPGOKY5Cqhgzf6IzyO3NTFHH3dPLWf
IU3kdt0VVM9dp6KPvbz4O3u/k3sKbZXuXNMmTqdy6o0hn/Lw/YXGjQnwe6/2QhbBkQBuh0nfHcUY
f/RXZg0jh25FBeJOMQDgbt6hOyhZWVOQeXESfVQQM70o49dJflIVsgnawEFgR7QeNfGT4zz/k5ok
uzrtuvQs4VZeDp2C1uSr8hkDrrLjnZODSaOJPvQlyiFDr1M17183r2HAP9dqfgXQH59yMbUVLdDs
3loMPbZrOylzXAaa+wM14RT9VaympADmobJpg8jFUKZHCrmYbgHqolws/xJvdvGtTteAH4/nRw86
5Fp8O7LE+wWJsrSo7sb0dXYwbeWad0aWlVpQlJnat494ZFjcV6hQglvg8hyvwsU5IjP3pfnmt3n4
g+5s/GwlGu9i3XK/Ly1q4+BmoN3+eGHcjQjHU2lKn3Tt+gTvOjNTmHXTIybHNYNVTYfIx0EcfM0Q
Aupb5tAI/WeAu1ekgRnLFv24bO+BKeIJ50tp/WLdtUBVVrPmz2jGtoUKMGTB9WbyQRfmdP+b2eEg
WJBkV++y1BZVxU60/HFFSeZ/suye/qTyZKOE5VvAPCURxauZ2/CKAWiONEAJGZ5VBLZ2WpHscs/E
kWtvla+NBn7oF3VVusX7j+3KZHWWLh2Qjmj8uyMSHvdmFg0WuwaRPPh+jk7RjASRcBdwaaEw2Jv6
kq6dCEsbUnSwwWY1nhc/RI64pxC4tFgf+sE0XHdG0zS6JViFLXAkd1Qs8Mo6Gh5qI3+/zbKznxuU
4goojgoCM6wOJwwDtLydKY27m5fnwfgIhZ5/yeH/h3MWrx46+VmmSbl6wxHddchR93uYA3aDdyCr
Pst2oxbYokmhY+2Ahcq0rSeCA8ds/ypS+qMSlJNs2i0d4PD7OTft2aQyDkr/sD4sn1ynV9MRp1kk
mVA/tjQZkdQ6W6W3cBU8s9nnz9HSi7+J7rw3JDnZs60MWoNxRu13z8OAf+1dOAzlmG4Wtfkk8HKi
DXC/l2xK1PfdjP5YZMqFc9GnXZ08Q1ZEDUZ60pMhNEsdB+HdAEfHsoNcDlDhozU+G39Ojq+NAL4t
QKBaLKmXCJfTPh7X4TKnR/I54OvkpU5MO3360NL8AhKXQymPqZ3LSOn6teoMFb1kZd1DlLD2o4Se
8qLaeX5rCOkh9cVBJl6XpfZAO2e/+s55f4gLJehRnWQ1As2ZmR1eZofq/UeVRe4WHXON1tYtilK7
XYCX+eW99z3LDkPn2bcMzdgtiqufC0zQ7SNEIkGowRL+n7TzWm5b2dLwE6EKaKARbpmpQFLBkq0b
lOWADDQaGU8/Hz03NqWR6py52bVTuYnUvdaf1rSVZtGg8dfZ+GAYTjstex/I46VsbU2/omoC+Mix
NSzS99mJgTKy6a4IpxKNl6uZP+EpfCUb2xJ6vCrY4h7hYfwfWqJu3Od+073UaCjiVS0dvi6BvnjY
JdorsEh7zdTfVYwpYrRUPDXxs+cM8bDh3pZsg61tPPVN7bnrNGIfXtZ5K8eroYpC7aHtcOybATdH
jxhL21gcE+kFC1CEud94WRi4mz7JqjMskwUvnrL817ITo0IFXNqPRqGbr05tMN2SIUxTui7dsJuW
XTL7d43KUs5bdhq9yd3UMjCwR2RMIeBQ0LOln9nhAUFm0qza3ieqjLJD1g+wKS4ZexWF6NIbXCLl
TaVAtNupMF86p49PaRPbjM+yJ6DGPKddO4hgZqy0ipIRNcxg1KSLl60vVmenRw2CMeonMZSiXqIP
CR8HBmMpBLBJEnEksJGt6YyL68JrfQ41JwKFpq7CgAGcnD+Xpmp/Uj9n422VaTAbb+g7f21oUcX7
hKfwq5Uqy14cEzsImBQ7z6rvBtAKW2uO0EAxe3jVyChu127cRNl3HmCMNJsOtVuNWOBJv+U0Llau
7WTfFcfj0RzM8QUNbiaX/izRL9VWL5vl3Jju9260a7lp2TkTGkO3Nr5Y2dklB/XMKV1WYTC92ngY
jplCa/aqdToa+wZVtLlCr5fU1ym5gvPDHEFlLhM3BVWA5QUPXmOiKfI9aHLY/KQMcsxN67ujuMrG
sVRHw9KafW2cB3vR2wP8iNTatlA6WGFmX7eTbMIVAsHOJR+n7Z17qUaHWI+UTWA3cy4wfCMaErR4
SvTxVs/NkG1ip6nznWyiwrvqOaKNPRgxBChTYeHhXctprRWnY2xuIiHhxyOaMTAPP2rvkyagWzel
Uz8NsXKnhXJ9GF8LzdSDG7SJteIwzAlNFdjakVbE0KFt4dds7rOrDmpixDrllHb6DRJsi18dTsji
mcIxIrCbbTYNyPC+3NbaqJwbXkcvWo8tffwysgDCFzVOC2fLPjh3ywL/rLELTAsVX4sqjNubKUan
m4PxQohD/ZDrVnd3QZPbzroazPDVbVCcJLnMw9VQhvHPaHRCexG1dpLcjt5kAMhgyYpvBJHIryAb
wWtfebTA2WhK/z6n2zeRmqBoy7YZdBkSY5jC7iHE/4QUIy4ayk8pR77F2QvNTZO0U7wfJPJf9ikz
Hlamtutpkw+NH96YZig4uQZfqBPjUWLmrevmrN9LXa/xXxyDXoGXNJ+eh6rNrK1laQTvfqgC66Z3
Z9ifsZwn+zZ0EMBsLE/MFBqWJXpPrUtMFnWHwidH4AYKVo4q3spkkgpBQ2Up8ABHeqQ7pvPESgYi
47IIHOPWsoBlI75eS2JDhohWjwWUY7kpAATmZd2Egr0hKLKfCe8bekq4U4/2x2q7dWGUmcE5dx7C
lJrpYH/3MrvBDBTYA+41Zrw35Fc08Qz+TC02DL1+VfBgv4LJKTERCoIN741xKqN4oQw/B8ZQk37M
0tYMKMINYVTXrZllbFF5pJ41pjfIo96svs1q7B+1OXX2fTBGjIKqVFd+FbronGVftIO5kIyJdb8y
WUChHE1Q8y5EPBa8gPNQAyWmFFNiOYxy8je2TxAGXh1vrjbj1IzXwtG0P8jU5vg4gFRZtMwJCE1H
CnH1w1EzwHHrVy2D1XFv2MW6Gfz5aYoD/1RgVtLUyyL1bk3gyoJhz2Eb3fQiTv01Kq4ku3VMXUZ3
o13OtqZ8CpICJQPl1YSAshr9uwmJc/8FYtz61pgwRGsyPIx8HbdoXdimY4+DFnxhWERlR25Iacn4
kbS5rN/1FipraJ5xLI52KM5+Gzx3Aw0gszLWYW5waoR5nP6AWDeB9xANdMHJ1YTFPeQ+gZFL3kTO
F+TV/re2SYvHzIPjwUlTFMCy9K/WpskCl7cpjFuxRAjb3kD90r02lVMc0D+frdVjI4aFsCb5TXvm
XJzgP6meRoKWo5VnNcULuJXNKQYXifankxXOCQvgvXdTpiLLOXHxTJRngbOZWIN/gx4Bqi3vvAZ1
FE1YvoyyJAs4lxXcfyj5r7+Bf6No74IiVZvERapE1YHQnl2steoVxk+ruA2Ze2mtEypeRDB+3iOK
zE27GI4RFWOyH7x07ramWeqXFPaa6NXZnnr6fqtPFl4a179GObovsVkrtonSSpdp72enKhz8rxZW
kBfPSDVCxAi388ry/Eauyq7CHqqtKnvRQ2dY14m08EkgZU/6tYiCZp8NrWReMVo5eWO3Q9J9TbXs
wgWfsMdMD8hUvfLcBIVz5xiof1Vgk8iflrkNF16P/jNlNQNEXUwJpDyFEb40FP/oIYNwGnlCXheO
Z8/GFC+49dRbfdbKeon9uzUp0iXzN1VTWMO3rrGBB5l6P0Y731EOntHg7LyDTKKgXxpQSDH+xwl/
mUDEfSd1b9+CVrQdGGve/ihH38NvI0FCgZuw0cy/qJfGpxGyrdtESlGObiIP/Wy5oJcaVsKNc1Le
6O9ovp1s7JZ+EjJ+oqmrUqzCWGOzKJ24eKgCN1ZIRwpXL9s+rYntt3qjQq8Rlnf4NnnZAtGbVxTq
ob8yjTp+YMKBY1zPorD0Kh27cDo0blxQ+2oVOKsAkD+iBHPZq/goEHdobbXPjNJq3GXnwfiFRNX0
MHT++BwmXTw8z+MMGK2Fm3RIu86v6RBlzi/gGp5Div8y3JlMOKX25rPmKY2zLZaQh5In6fRMFXFQ
Zq282jHI2hjOAEc4n0ulOrJx6jYBrCaC+sS8npIAa7soEuexjuqa+Y2+QIjjRlEDnhYZRsdAoq57
hPgt0eTkeBDA/5MwXHlCD9eMh0mBRbmTR7rz7Oi2IZYikKiqWMqqG7o1o7PNftE1Z5e0NEwo3QS7
p7OA1hTXYCPdS59Z/bAY+3S6LWj6Eg7AMBy3ZX+WbMJCm3ejyU059C2MxR5arVeEBDblD8TzijZd
yvLADUxHUDq0rdAgia03VpBV8Ay9Y2EwQtaIR6Ka9akxOpWvoryi4zcCfsRaOtr/btsddgOgUFTo
hSM6SvGI8Fkmd854vvkcihp1wlnaORgF7aPplyb2XUSCS2DN4Nn1Ave1NNOKfwbVfm5z07yhjU3m
ZQXr9BSFlMxLZ5grrANdmN01mNishY9qEZQXcG6BnBx8hUMJza8CZv7B7ltHG5T0WAZ5JKO9GZNw
tBbSzie+9yggCpxqqfNuk9lsT1FiTKdYWKW5gqIu6q1bBOPvosaRskhlC3/o06J+gcdQX7AgcUz5
dp7JndWgwr/WMJc/iizEtTBndi/XsRtn98Sq9rT8td0dpIKmP8sBOIbHpi4enFHnYk1KGsrJaB7T
q5A5bTjySpNcF1dJj+bfssOyZAtOVHDLHmwg/gql8NESWEaiXhz0SCTg4PJp0u8JikgEi7wRxZXl
GPWw0lIGGEci5i3cmSZ9+MmpS19fsXf1v0kdcOobGq0u3taFLJ9HpqBJ9F1p1TymyqmMTVLm/iEB
n+RsTUweLBeCqK43gUaIErCRIqjUgdCjTW2dawtPZI3dKR+dYV2UIJlPcyGj0zBC7N0AdZr3menn
+joNXFDt1lZ2chi8RurrsLTPwuwusOJ1PlK9Y0TK5h/YiOGP6HMobGgDIZ4hiqNvfkPtxP8Ryt+2
B67L040rxiKyDNRui+hwp+fBD5ZlLsIj4VJJt+7HoLkbDKYo7yVssfU11KH96LRp8312rKFGp9Sp
eOHkipYVwULQeggoisyIF10WMIfQ80J32mszN+dr3DCVf4e/enqwywxBxJjW2O7PhVl71SgvHnmM
OTY/3B6waWOe+sYqVbpGQJkMdrgWZsFhgZAq3EEV9F9aUdrPQC8pc4O6NiVYvXF9fxnFkX6Zfd9G
5N2bk7nA9JF813PQfguo5PgARwc7yoj49KegQoJGbMBxlsijx/55MLIOKq9jV9zA/NjOTWON9MV4
itqbHPMrFrkgYjuiic9WwVSNziLyCyTTPUBExZkwQxF2tmPimiAd0904JnX+XTAMQXDycA2h8vOG
6N4ANeyPozsEhDPYtDYlqLuB4BZDZ0gslVEiqikwqbZLs660vXPsGCVaRk/hrSaIvWBZO1HzWGay
xz/XYROC+fXCde/YprOvm0pB2cSe/qa00TTbvsjxssZdl68snbguu3dY1qjzmSdIuWV+U/1swkeX
qgJwTe1iZ4H3nm1suliDTMiG72eci2WfCvq4zhHxbsjZLK7ww4fo25PMGL5S7RTELkF2JYcMAU37
izauJEQjDwkHWoCR5h7nejwdFC6Cp0G0iGfLllpiYQsx1A+TEzjo+WY0pfxcX+ZP1KRdsifbq/+Z
xRiUFgiWavYH5dnfZGlMh8yceAmrpFLZpq879WVMx+LBS/IZSGKop5eOw/pnj0zFPRululMZJ4Za
kdE9CdT9Jqpezx/lgwwnNIRS+/ZzHqvzVjB5YbHEdFfmPA9KPXSAaCsXSd2SpNM6yMJWAb/TW0zs
RU+SrAkUVzqJntowzpIHGz0X/D/7av5QizH+khX+OKFVbLsT6LBWvIozZpouMv1+ByEEEC+jtpAb
08Kuu1AAkL+8iTpz1dhzeminEIcujrMGxQvWuMecDLoQja4guoVRoxMmmynJX9pZ+RguBwO5Kkfj
d5PPW68QkZYvHvg76VN4EfsVZg5yDMrB9JZQ1MMzCXGTgxcxTY/k9QcM3/NNw9y2lJi3aCPiZ9RI
KOqlmlPiVYnueMbi1esNEcVRvQ1RPUUIxZus/j5zjlODmZn9QJ/px8vCLtH2m0mj79CejMkVuqWI
f+0OY7l3CZepbua86Hb1rDVvCZRSwrvruAihIQaeSe7nEXhN2x+yuXJetEB0uvCYfUyIrh6Auo0A
Qw+CIhfVFNBw8+jQpP/A6VG02yLU1m9yO2qxHpn9xFQgOHqmZvbR+Wl0IkFhT6jZ3MHwmbPELKIU
BG+tRGUvvUxNxKdzAcbB03P1BEAG9ROFQ/nMplseRmoCcwlO61MtNUl3HnMfJz/YATprgSlsDG4m
UisgjEUaXIEX23KHFLbI7h1SAXouswIN1F3rUyYG2XDrOaiz2PIUKaJJTUm1SLKcDafPZeN+6cll
i79jW4niben26Q3yKTsAXyTZiJcWbYYCsBx3gCt1vWvijlgFmSKiXLoiZabW5JieWM7KG/AGyDL4
eVZY3fawCOZ2bvxBUrDXk74+Y8nfEwIrMiQKnv0lkyIAOx+H2D9W1tDU97BVeMwK/xxtYCSZpQ+5
XbbZuvNK+bVNo4nQYaqzYwjzRC2P8OmrsiZMLb0oZ0hzI5lKRhxPtMhBn/UwAFWUlyBHZ+0GKDwv
Ap9CjcXR7DX1vldP1qFs5uhIck9601kuPuwFG5zOHgpse8HB9YbSokprU5zfS9MxDcs8EMJCG7Gp
0lqGPtLeTjavc8E8Pr0CvUUuuyh8xxvGDfNee6O7Q45v1dbJnzr8VVsrFkmBpwc/YBHdBxMJC/W1
b6MMplOk37KjtYujXnoYVHCHJ3um+fkGc5ullRvUqTquv7vKnU06QFRPqyzpFcb00vXCTRIyPqdc
VVoIYklTn+qbBKjeLH+rJqpRZsJaD8OtUQVO8IBGffbXohoGKi8zIUbBrlovXHS2Nf2yyW6pruaQ
ggOKwVHl45CEhbqK2QnlqmP6xEtAeJN5auDzz25tNnn/p9EXQ3QS3hTA3PgiC0ioHJO822dG4c3b
0h6Y/3zOEwF4GaIi+j5Pri72kxpie9eCeUa3wUD45xWpf+yZopnjYjWYqTc+tHzTDCIuPdfFm0Ei
wlPdiXS+bvxMhrc4jPBbCRpUXFxwooghLL7+ViwQ5GHLWpR8XZK6FQvJGuRDG/eAJ1h3xgwC98og
YnNcmGTA8PXMZBSQY5QjzonaYOKPhUrvF3Tewxnoq5mHORQlkrjAsk6E+GYo67vRmrESB9AE6C7S
L7LX7neBiYbzQg3BvaXmkoHGAshzgmDELJQXKZUN505JIx6EcpF54XRyQun0RwgqzjC+SOdLY/uM
4Iz4xg+90fcEHvC4gytD6uDHGNfRa8YNmNcxwnAToAFkZ91pt/lRxAPl4+AkAKFeAYsU2gN/ZhLO
A845R8zf1BwZ4U5kytA7SLzxqS+9YVO6rmi2bROO/aEcNdErPqqChz4A6EM8gRN4N4YK1ynpPwPv
ipeRftrzBh7mihP2OvYQACGeZHcgMCgN19DdejcXc1uvq7au7qfpz3lnW+OX2oaKW2kRw2VioCnd
Zcy63jIeAmsEKZcZXpO6c8ZdWGXxM6EjCV1DVwQ32FlJPBmcvFrnjiW9BXoLtKqJRIy+AMDtqh3b
u2LPcnrSf+Y4vgPssvSCth24rjHpwM7AlWWvG5yYDxD5ENR2nRvHKY4BbnVUYF0P+6D7PQxuS3vK
B6TWKaoKWnXw4gqQEF/aIcIiGhL8UFndfgRDufbnFun0yIx2BqiS4SOuO1v5iK2jBgWFCUFb80EV
Y7qObdVwaVHYzjfCAwzFnK7Dfjk0YNOki1gzDUlD/PAp1/aYbP3Gj882rbo2b0SPuwACwQC3U3rs
x5VZ0HEt6X9NFBRTiiLLqxoMJVFP0AK8XLqIGmFXK5FFwy8E9PR+IbJTQjJjr3O2VeNFGEk4r7cV
0aLzmnQweR/XZCasSO7o78zBh+juwpDGCZUe71mO6u1LG9YOlHHQNCvPAXFGQGfqOwJgEvAsjAv6
xiNo7GmqhjE8VEydffbNSa8yIbr+22RDfIOmT0FK3Qtrz/cNW4tdlkBQVI66DxaQO2a5JCaUgBcr
BYpcozxB6WoTMYDsgtbMwrGp5bM6tz2rUJITzC92VbEPnDn8ok0P1zP0rXzwlDmtsJb3x7rX+WZG
7hqhpnfbn5j4UfDgDwGFJ6ePZmMG/DXXdPHmkbiZ4OxXhi1dgEBmONaxcFtrA5cT0R2okVESopzA
XKpm6HZR6Pw5K4Y8vPbz3BhReufmqkhd4gICy+fvAyVJORvkMN/WNO0/KswGWNWNIb2PZy0FVjrM
MQt0yJ0NW4nCeJNa8Py8Z0FzXZlWKJh8EujyXjkROEppls3v0urVawU0zC/QpU+TDmIwvfay0N7a
D+rxWABtDYukDO3gl2saEEk2DP02srKA8U2T1T4QIuEqnON+QVfUqrJAL1DbV6OjYVKaUsbRvnIb
f14FEFFq7XeCuTo+2vtr6xw0tJ6quD+ysfbZGroJLZrFdmBsz5Pb7IMqumm4xg+AbWIggcTa1wkO
sYCmGjWg2TSvrucF4w2+kcA9gV8HDu5YjB3eGBAo1Rs5nxxew9hId27RYQVLHC/+jm8gRRfcBEN7
jKPRbW7tbjyr03oruXXwUMTHrCsK59bswxHaBENLkm1QM/i8uEOGMdDCA/wjAQP+HuC8OKEeQvNN
QdF7xAQFOB75e1HdehgcjD1dSy9wB7dVvq7hoioSITDSAEokKNUWIbWUsQyYMZZtdE7jxJeVwA0u
E20bYuXmoR9escuR5Clt4ywlIlyPNJp+HroTsnyCzHnxlU+kSTSj+2uXMnE6+xg1cAbxAj9xMnCo
xTg09NJisy7uwYBmHJqMHpOboQ2iahfIDHsilFtnb2ayOZ3raYB6OyPBgpeX43dFazrHyyS32p9D
V9unwiHXOl8GHSjP7cSgQaKoStcM2TKjqa2vkdoUzleLQAmoYGkYwx0QVayf0EzGGKo9tATOKkX0
giZGQBKCDZKrUj4lXu/+yNlo0IDYcBTe3DuwPoNL+CPCNi9fDRoxOppw6NdNobI23OeD23tbsnp0
sw0GChYORJQcwdJMdaZQPLsBiZqjTrurqizwJMe9tm/HMTKjAJQ6tuzXuXT0jShB9796yLqsU4sA
0VzqeWr9+1S1dXgTYJUEvVCGQU76zDLbGtut8dVymr5ini9/2kPugffvglpD6eOBEYjwMIlnTrES
YVTftUZbin0HtuATwSTEQyqSiCh4U1Bc19mAvsc4GyJLyAjzipo3SvdjxBe7i3kq96226DID3RI1
UHh+/EKDOTZbYjO7Uy+8ulkng9v1iJVbI9rjLI7MpeqrCU8XVgTLuPYB7wntCoM4vAszJX6kyojq
vfJr5aNPD+hCMPi6L2wpLflCLZQdaU6R32eADZ7tQ6E1CGPqr9XMAahw0RVxdhXHqdm++Cb1NtgA
Pvh1lUy1fZCk08W7KkWPQDAa6VELCZDHgOA8jbJnglqG6KzUleZ9VTeqOjIDmBET2naa5tQENaK3
mUdm7nELRdTswpB2/eh0yoWo7hpAj34g8W1VNLFTnIDNx/HKdhH/GL3t4gfwnCrEzNb1DpXiKIdb
Qqfnn47fywRxbpu+fhKC+zbgWhBhiJZEmoLjV1yEq2Z9Yfnon9pb1MNd8iDyYl2gxGNBJE7mYjai
x2jON11l7f1du1zypD5JX7beSyf1BSIjk+EgTAm5+Am1W3pqDPgJTLWbiLuO1gSJrFCH3BZ7BlYs
o82n0wXOAbaX+aGMS5bnSG8by+JFIKrBZfW5F3W3Q15P614zAUUjxIIVHhgviJsAaUXArpaNdbcx
XO9biXFtb/axOEYYFcJPoojfjI+wRICmlHn3nkmE6mWSuexI04mrqruF/lj30y4tfgXRV2K6PnnY
b6OGz+sQ9s7NJvvHv7jT82B1AodSd+vfje1jtZzGvXcrjXW79KzHpLzVKzvaFsQxLCumOR6Lzyaz
vPOk/1n/IlcYACQWZCzgQP1OR61aJprKNaa+6ae8HTYIzHcwJ7G1iYNPbrD17pUDYgZMxxZc++WV
ewmj+My2Y/6KWs7dYSY1g2YnMrckEAQclFLhK/hN2wnsvFZn4XG7n+zfYjA2qso+eeXf3gcAONM8
P+7zpOk/k+D/yg7WLTbPnuSyW9idY1RvoNBu0/r+46f97iIWwxt4vz3Xunyp4GjtMcfGcGs5xR2K
vmu7u0+dh/9iEVpVaAAqM3E5ejwrI7t1nbC/Jcz2KXCtX3jX7/zY/iQk+/Ja+CwoQTAFegG4ovQv
vlfXCBrTl4ospeRZW/fC++LXnyxx+YawhGUiMSFNWFIzWhcz1yzVB0wWF+kRNapq1xpTqbvT+Q6N
xce37PJjv1zo4lWkhJatT1V2TNVdm91n4W8RvOru+PEq79yxfy7n4lNLmFkw59pKj41+FclPPzjO
nw3p+uyOXQQ+yzjL4Sq5Y7mzbLqjzeE1rZGBu/qTfeOza7l4+soYw3hM7PToJV9CeQidn071yZyH
zx7K+Sf89UUSxTY6Qc/tGsKTjA48FDO9n5r/8Gu5fPQX413i3sZqZbIKSYLL3CIsw//quHf/vyd/
fmx/XUqCW8BBBpoebQwomfGLEEHsl5+8Xudb/vcB+r9XQmFpW6bgy7m4EvQBylCmmx7PWWQLiLMr
s8WO+/GVvPtQfMh4yaHoonX790po5FA1MxDlGKujT6JsSuSolfzUg/pkoTfHw/lyhGSDsT2AFNu+
+Fq8vrTMeMryY9LegG4kzY3fEeeMinBW3yYJagfPRUrmZhbH0PuaEfBtF/5yhJmJUWAGhIF9fOmX
YeqXP+ji2xrb2ZmMkB8Uz2KdE4KWSAHVG620oTDWMUzl+eMF37vXf9+Bi2+MERih2wAKHftgK76X
5EsWPrzmp3f6/MwuX5y/17n40GavBjSto/yYkWJaoFzGb4c6iNC3YEuoXoABMxs3Hg6Ij6/vzxt5
ubBve5x6toXY+/KN7fzMMnGH5MegNI7YJ9HVnYjYww9AfJ/xkN17r3SK/U1x5d4UhDYBg382Z+S9
e+w7/nmaAcWe417c49SOZTeh4DuqVdytY4NZKvj7ZfnZpZ5PkDeXKi1X4DOQTPa5uMeT5YdID9v8
WLf3QL4LMtNymjTrW7jw7pwNsVoI+vLlJzf4cqaHJ5jcRDnjmhRYrnAvtoQMiZcGYJpOgjgPkz62
IRuCAc1pf+8Oj1Z1DTCYAth03tYXr2Odn87PAgHMREiY2oF6bGRffPKr3pxRFz/qYjNsk2QaCX6b
Th32y2l8TIhDCAgY60AvrGrz8S14symeF6O2tonXCQSzM/7drxQZoLIIuQNedA/ys9D613++gMuf
fx4NRQzTZacEZInESKrpNMDi2TZB3ca3j1f4U+b88+5wDX8vcXENRj9Kn9Z8OlEPLVz/JnZ+cs0H
J1sPhHdDi+8JAunr4JPn9H+sSyfmeZICLLj4NsB8SUAs++mUlYdefSMUcWWczXvB0fAJQ3odO0In
P5vu9uaD5GK5jR4TAhl0Qgn77wNrMLTUcPrzySBSui0wSPBNoly5deJPvsn3VmI0tkW3yYgMBof8
u5Jfh6Eeoto8OREB7ARLheme9HCEUp9MsP5socv7GJRj5kS5eerIGDiQ9msAV5Kfy4eb79sp8Fcf
vzDvrucJ8Pk/zYx/cUZPgAt0xKN5Ek22yNuHgPqJjPy62H+8zpsDUbhnjMARAnjUE+LiUckIbRK6
FxMbvHdsZbZt68eo1gQrOdAz4tRX5sPHK4q3ewdLetQ2oBI0HZcbWoHDvXGGyTx5FemquWO8NqHr
fylmqJ6C1K9r6djVVQNtd+U0s/UTtK/eOaCgKxJjm0ORQmnNFi7hRRilxfXYonUnw01ekSey6Fr1
0uJ7waAt211PPMWihfpYGoNxKHyZ7kn2jL9hNI8/+dLeu5E2XhhisXjjhbx4ExHTVNhQhHmyhofy
W5qxDy7nftXqg/rkVXznm6a3JSkSnIXt0LocxAodY1SNCvi8yA7PlLVRrrtO5ivbH5eKjJ0Rp84w
k+40T+uPn93bR3feRphp7rNJehR2/35uVZMJxnaM88lzjQ0ZCGSAGJu+uIrRrzX2y8eL/RmG+O+e
+e9qF7cUs7/FydfPJ/0DYXr7bf5pPZhXwSbdhCtnL/Z9RA7iIvhe3ESP3aO60puPf8CfcTdvfoCg
/aZvldL9M2Dur5LfMQjwQYw6n4ar6B464ZphkcZB3rureaueDsmpYLZrsG926S2KrE8Wf1NtCK7e
sX1Gikv+Is47xF+LZ4QjoRD25lPUEOGEw+o6duXOSYuvVgH3S9ozCXHtK7MotjjHVq09f/1vfkEA
0Mp7LWxAgn9/wSgkanjSR05NY/Bx6Sdw2304roZU7rGrv2CWRovv+tmio679ePH33jQqHkZvS+uc
zXqxL3VJNKcNrP/JLptH/6rxlkFZPhTzb19t/18r/XkL/7rPMaw79hX3zztdLRyc8/DxV8Wc740B
n5NfPn283tud/QwbUasDdEqOx4vnWtrInoIsMk9c4VXnhhuioEmGUPd+/8lK724UwL+4fjmMOfwv
lgJ0jmfHLNiTjrVbYfz4kTaPzIVLsbwZoVrUubmuK++z/endK/xr2Yv3hoRBu8g0yxpes9H9Nmk1
BhZ1m6fhYxgKNOXrOGpuI6VJil6R9dUZw1USZGsFOq8/Gz9+rsovP2JOGxBKTxLR5l68SaOo+oqU
VvNUDnmyDfrxN+OGht2YERPw8ZN9752lA5JmYDHISF6+SYUoJWpWrtuBf8tmYpp3CCfV8EXiYf54
qT9Q5uVV/b3WBdo161HVTp6Zp0F2uL6YLLOEft45RvkFUcVhELaxTJ3xZq71HaTWdTE7D0U+36Rk
Wi3JmU7XTYEYWhKyv/ACMrtKy8bSZR4jwqLjub2LEosUQ0PPqwoEkYQLiJnQ+hn7ciuQNy5rEa7d
fkCULZpPNn7rbcEPVUv2hR+YAvQzuLg4r04T5KeaokRIco3t9tBl3bMp53RZ5KVaop98JRB5X9XO
C9zgbeLHV7muBD5ie4cue/7kbH/399icAIClDBEOLooxSk8Q8LAzTy21xGKQIl2irXU+WeWdz9Wn
QJBMv7Fp98Aq/91vVRcwbyszrFO1INf1athWwzo9ogdO6w3Rdx+/QW8/0n8Xu2hmNU5+w7YjcfI1
/gklbgrvMDNiDeW2uft4qfcvjMEBLryQbYrgYkOwiYK0FYaeE76Qwd2kK+8lPhDHhWH+y/hfXZi0
AyFMiufAvLgwBNFz0oFI82XQj5KpGJOfitAAK87Hl/V2Y+EOUsKykwcwXpcVH9FC+exOLDR3Dakt
op63LdOttlFlR59U6e8u5ZoQ5wGxKa44F59/nVGGNRWqowE6afjv31jGkmWUDOUPN3F/fHxRb/cw
LurcDiD1E4HpXz4qYqllELFSiSADycYy76+QUxQkaVX5J9SAdS7g/t3EWCwgqzlwfYtG5GJrznIn
axhbIhBNKCKBUd15XxgutXO8x9Z7KRARJMkTLkgCV3cZPk87/mQ8+9sPG9rcpQthu/ahCC/elTLG
QVgPDArxJ6TslDgFbHvh/hcvCl2c51DKWGg3L1Yh4syCmh7EiaLeRBnjoCcU5VLcf/zo3vui/17m
4rR3NIZ8RjeLU5WzCV4ZyR2prmjBPl7FeluXcs/OJQxXxHt/yfGqZlZGSCTdKbV/TWgjjeyxJVC1
LHZZ/gvB0sIpmK6Oxvvu44Xf+wb+XvfiLk4K/N32JnGKIHCd/yHtu3Zjx5lun0iAcrilQue227Yc
9o3gqJyznv5f8hzMdLOF5pn55sbAGNslksVKrForlXdavxaKxrktRRAXdPJcDLWLklpI/ZQK4n2W
A9lA9yQrBxeZXVeo/s9doWD0aLoNsqDqCDDvcAsAyvQQa3G4HwFRwPiaWRh1QUBZb8gyfA/cgkrd
RrnJMPbf+9r9iM4d1BqQ+QJlh/iVJtmAIG7t24uf7xslztCQmxtwPzhZWpyHZxQ1lgEC2EV/JKCK
o1Zm+sNJLKCxDSZ7/HYXlDXjDl4LNXgM3CuyrqK8hzQDH3Vm2zBK02GMLdbuw1JYcxmZHhPpvh+F
fRw96OrWUBnyFk4YiBWygVBQQiIL2tZLgZIXDeip7I17UWjtEgggdXgq4w2A3AFJV5GyQ9tJ68qS
YGqY+YXxYOzyQl6LJmUdI5mz5UNcOqvg2YoNjNDokTwGp7R9V4w7jKwSOVoJaImLB7NFe88AFEZs
OVgOuPSE/sVpPGiYmgIgVAnwsFZNQUz5ZSildfv4l3ZG05GVGBKIRJHzUrqfY3IarTyCdx9j5Aat
VHyN+HGLxvQOjfEBmFVRGMKw8avqhCy65qtuldkRABRcmDNtxFM0WXs3SQ06b33/1Lfic1Ftiths
WgcFRqDgH7R2sA0AtFYcQKiMaZWnByW8F7i1H9aMK7fglNDAgSAeyRlCFiThl6eD6RsMSQmxf8LM
pCUpz/yEqkr1mH+K6N04oIGXz30TWDtWX7xpPsP9XleRLoVTjr7IlKYDdoZ/ijPdKUfAnAN0wZD/
APTdLND1J3gs1t9Z2y/vPDYbYPsS/BMPxHHqNoQgM8E4meSfAOGEwcMQXW2AkzTWAE1hvdMs3PQ5
uMC1Q2ehrNHvNODvmkZt1PyTegC4pBxusuGo9QZJ1NjOyzdOZ1w0ljxqaXIELhVQtfmnop0fo4Au
k+1bEPVhmt8ClOjty3Nd1pTQeIJeIxRrkG8jyr3UG/TyiSpwUKLTNB79dSJvRv8gRz8dDjCOnloZ
r+zAxS+cUfWPSY8SsikMn5EFbCbOFLmVwe1qgCJ7wFEtC84s+xUmBQMgmidRyEo0rs788lMlKp8B
pSLw+eM2OuXPwRsOXL8vv0t3sNtNskU3muuhVZ2xPVeRFiWSsvI9yGPBXthHp7p/k0Dp3X7f3v4r
T0n9fcqmAlxOq1UPf1/uADqilyYGhcvwvWvf/r0cXVRR5VXhHyU6ZNW7qsnGaYxOTf8iV/VRL2CS
UnU8hX7PMc7pKhbHmnQZ9wWBI/wyTx1TVip9w8Ue1qSl2Yof8gQQpCVy4KnI1/XYdhvMfTKirOtc
TUI7EKINmANYY5ToL9WYH5GYAkBuOrQmuEzsfgXt3GD2IWS2rV1dT0hCcVWaE2oUaOiwOFUwqBh2
Pn9AxdoaNtwxNHWHX4cMr3atGZdiKKc2GlqQRhzYrtvtYMVrNK+KrPz2WrlnEQYeNdBVMcdPl3tm
hFrKc3LIH5oNqtMWhpdIbX369+YWkFP7r3+rgRfC6Jch1CvBmzdh2+J1YBmmuBc2twVcq92lAOqq
JnN8NPK/59Lbganv0T7AOBPx2gJdyqCua8kbgEjqA/6gPWIuJMVQC+ZvHoY9tu/FuwtNDyvrrfAe
Re9j/2mcPNJvMIPiaPuWccmuPO6vFv59drp0eXYNqH/LtI/4Q20beFcwTGMbWhpjvddJEyVl1qCz
kK/HdE0NoFFoiNXbQK1zdEv+JCJBLYuxnuVb9c96KKcH4LO07SKsB/Nnu8jiTO0krjmLJWbRTpzp
vE5dK0AYY9o4wwnWNrp5LBQEYSey927FUkeBdUKURQIuBrCEO0jyTsa6tedLjPmSU+wWO+MobiSz
dMQXcH8ZlsRwWqybQEVjILAHjpoIyaIZmMVOsn32PrJWR9mOqeziEvNc/GFyDCcd1tIHwm8z28lE
MAFXaqpH4x6ArUZr+cz1LaslKpoIyNDMiqjlUi3LLJJDJUhmtWxtb5tY4qa00EfigPuJYVWuk4v5
CpzJosyKKHogIgRhw2E+xNGO19ras7J1sJbs3Ers2zZs0b6cCaPsS6bo0jQPTh02D2uWh5z/7UXE
TC2EshgVilalhFaAQwdNDO0Uet9bg20iL7fCl9vrWL5mqqqhewRFALyEXZ4Q8HBSjstKHj3k8RqI
LXaxi++Lg2dGDLvBlESZKJkDIn0gQdJ8wWriWcD/2mZbz2TdKqYkykQJADvmy3lNvd1tahLaiAct
eV+tckaD66ItPNs8ykYV4KZJ/LGYbdRgyebsLrVt879vHW2hsnbMdQULAjriZthEVkOEHxOAXg//
ozZQBgl4IIYQSVhQ5QDHgdTEOMamYIJdiqENrJ2jrFIL0vvMi7GiFl4xwdAIYkCzOfGMBS0av38O
iH5Y8QqulVQD6xms2fmKGzzimyzLs2DF0RWIgF2AkcNbNnU6aNXH8ygGnCEkMCMIGffpf7imFzKo
g5kiGQRk+q9KA2fIIg0h+YbbsLzuwn5diKGOpTBAgIVBk/lYwNxr8nB+4KRgnP318xsa7c42TKW8
gg8MhHAKweBdEozvm80ePKNWBFsdAn4cwySJqbNEStc29UIk5RxA0iUDbgoLk+7U02xXOTMDkjxp
Ld7a/rDswpLfw3OwgewGNQ90jVH7KAAbMMo7bfZ7w6Z4K3YDbpH2Hlpg7WMs7braN+/mP7Lobuse
3KNa0fzKSo8dkJsfelijGuUIcIntxUfvTjDzL5EkW37nPTCN7Wy2KW91IZ7aWVD0VZiN/BU/m/XE
Qvvo720uHXAzmAHyPIaRmv/ilUQ0O6JTE/uL1mD8/izWFQVVSADRh80NCebLd4Utk8EE5bsJjGOG
hV/UVWSr6AtFAVGRFcrRNzXK700dC4c0xZB1gGd99aQgBXud+pPib+v0JKJDSXoCRS7pMfKtcSpr
vQsJ5pww//0Js26frVcIyjAG1qwAdyaaiWUcsw8MWPdv3hrvqqZ+5PaemX/wPEPu7wghvc/ncimH
PQ0KB0gMyK1t7g7I4pUVWro57fsj/OpefA7NFBDaIK+zvLvmHZhUVs16wFtwE3g4M1TkvXgKvaqG
APsFe49eT+TWCrh9reApfAgfZisLxiUn3YO7DcxjwUN2rEhssQzV4tU6E0+7D65OUHAD9egh2Ct3
jXWo9vK22YdrxxGOK5DzvoPV7WeC6mUrho4v3SrFUGWMeGK4AT+pM1f6XOTHGmd+am1lXR8C+Hxv
PZsRkYg7dp7wW5O7Ou0ziZTJ4tVu9KWwEQ7A1gNPsd2b2mO/mkOabF2bo43EEgUboFbthk2/mhNZ
bz2ZBgDdP8GsmJDSYedH4kIojFaXv7dBoTxFxIUYLp6wDcZaudNPeN0/tdvJAQsMgi3Q1Gcf9Seo
6FeFCV4LJPQlEgvGSSxE+hefQNm33gsjYKPhEwYrscBNYOUH717cTGa0zg4gpja5J1ZAsZTKXMik
jA7StVrlwI+NYygKEq+l30QbM/MW2lX6R2PNWOO8jTfOnu400CpJ6SW9Eg5/pF2AuHyAkhWmYTEF
sc6TMikNuOLThMfCJFyn/FibnAlMWBPgKL0FLu0NY12MW6RQiUAFMBZvmtfV23Ne7yHISLcdlpfe
e7AX/n9KQi9OjsoIkGdpVRrNJ4fLMqehw742tYdsPVroTWdF0UxFoULPmR9G5jwoZ7DvrPQIQqPf
0+stYBFtC5ZDYG0nZZSGZkaN12AiWjiiboMxNbCxWY0FrCpb3HhrD0aAOykIsQtTg/KAIxy1Luap
LjqFM6NAWSrdB4xBpeJUwcj7WxcCypTZ3c3GSrYAfW3W97MdMCyOWcyTZl9746bQoasK5kJwP+F8
9ZO3LY8whTaYNo/+S2OhTRq7focy3x1a3tYGeGVJt02e1cqaTHDVd0TbtlZyTI4gcP2PNcBz3VMp
SwWadN1QOihDbj/Xdo0a5/1KOfGE5RYXo1t0DRuCinkPhNWUkmPKPo7auBcO6mH61H4tBtiKbXCE
rJmF3KVg71wWpeEV1/ZqDfST3zKg8Dg4/arbgE0X9j9b+/cN0VbJcXaLES40IGPIbRMyq/T1ef+z
VErlgR3egukA4tstcDBNFI7h9CJWQytrkZRGR6rkhYB6h50yEbmb2V14ms0iaAzu/lMmdLahtEuF
rReANw9ZeHVHXbV78qxu9p44PpHI/y3ZQ5slRhbQIovmMkorEylBgWkU/rqt0V4/ADYe9gKHt+lw
H3QnsG8f2WLUhpBRBR6DDExLlTqztNf8NAOx4wHkiT+DJT5LzeaptIRVuedGG3BL6+KQO8EhR6LJ
rRRWzLp0mLBOgIbQRADz0RvcjoBBSsGndjBwM3RoKPpeTWBlWYjSWdnJkuM+l0VtbtnqfNIAe+ow
rpCxHwxzeGhItv3/yIPme0ZfhHNJVEgCUMChliOsSrsDWPx796StIzhUfd/8VO/ZsXRkPAJ45vhw
+zCv2zbmobyz3aSSH9gZgOZ2WCHIQU/5sUNMquw8q/rRtr4pffOkAdIIQ+biCaKPbu6KAq0nbeQ9
zxPiSmlF+DmOdHf51rdxiivMSfO7/2JgjDNZ1AkKgJAJy6mBtqznx9Dwu96goZ0RxC55zHMh1OF1
ilIJMQAJf+/8bDoR1q8UBHi3N44lhjorpar7mRFm3rcYtfduCzR4gi5uxgVf9D/ny5njlLOEuBoL
EQ/WnYiH3e6uPkk7385RqepW8kvImJdnLYmKIBuxF7UJJN6/b8ig1q4t8CVD21knxFwT5VND+Dgd
z/EifOoc7/v2bJYH0yPCoXy5fUxL9XHMWP2j35RPjcGVmQs+FlVZGLY5hnaA54VgjeDtf1QIyhLn
2QSkpVm5Ade/n2tSs93HolhmcD6FK+N0tiDKf+a5UKszoyS89OzT4rX8Ph7nJBVgihaQ9a0pXxlf
/9sualRuKnWe0NQBhM5PrjwKM6k5bYHgZ3oMe/Q7BkYtD1AtvIRStQ5aALpnWkuBgJzIo4hnwv4Y
r9HMsJeszwZdAL2F2fB3FxfNLh8ffet0Ym3tQgB0IZs6whrAmikGI8TD7rW4F+14NxFgcpudCcGK
CfRaO3WSFWtvZ0txa8XUgTZaKRXigBVPezz7Ai8XxXvQ4OzT++GoIsiUnhiHuVBjO18mXempAWwn
KgmWqZGDYPm7wrnb3NvFsb5311+MPV2wKReyKJMfTeh/liMsrrXBGYuELd5HpF0rjMu3FAddyKGs
vjEMIfB4saZXgIe/8SaHtoBps/lGoy95exMdoG2C3A/qympVkxdOT/ht8lE1dPrTbZ51GDeiMZTY
TLk9pmXlxkm8YhzYgo8WBXQvyZhWwLSbPH/DmQ8I0fcjSGM9X/m/nl3iQ7FrjvMrPbO5Ynk9/8ii
nAAQviXALM+yzN8SbEAAfT1HdnPpCW+ylsExk6wlhUSv6twobaDfj6fW14Zj1bZCJR4itcYIpM3x
b1r6o2pM0IklQSKP1lh0TUozrNrlRrZpG6dCJIsHedUhk8crJoprmwd0x9qig1qjxcOFMw5vyaic
y6QWp8QyGGASyBTuvFP60D5nG96WrCcQJpmVnT0nx/SpOUp2v74teOkgz+VSB4lUJOfANCQegDIK
wganVr5vC1gKVzEX9M9uUm4cjDG+JseQwAGLccZD1iyv2PEeqFlyO+uOdbeqio824zaF8qKXVgUK
YFb/+ZJ9Of8Gyr0DQFPIGkwYHHjT28a7j9j2bf4w+yeAd8KM9haeMUC7iW4T1s1f6qW5WD/lLjqx
BalcJ4kHEMba8bHbSHsBI80d6UhCgCE8Wqoj2ZUJc/fE2HqWUlE+QxYKEUMEs6f6OHwAmJY8PaxW
93gYGFaPPWG9Qi29jpyv9Nf6nhmgNIcigVsGqZepribroyR3fxJrA0wUOEcVnrma8+ldT77+103+
/bQz0UEDZGphxCaDzAnvtByZNndPq/u5CvIO/iQUb0+ssgFDp34L9Wci5UrUBjyfzua2h8jIAbAo
qu2sDOIa0Ak4pEDbmDEAMGok0UiHWsWF4IlSZv0Bk0S075w75y4k39+VXdmganr3zR+G3sxukI41
zkVSblJqgIMe+thNvNWivSLflijzNNvqQV0XJvNFa9EEnS2QMrcgRGvaoMQCgwAVaefw5P9eDfGV
/1S2nFVYt1fHEjf//uzcRJnTwjSEOCXOycQf5TxiSPj15rf2jzKqRheBdcL7f9oom7Id2rmJ85pv
QLKuzB/wEDFkLl51TLEaoFuTMVxAWTgOJRbgBqjiIXv1wUvYWcUL2m5LyQaF8O39oyRhNAoN0ooi
zs/4mMJUKHsmigCFNTIxcx2A4rsCLOodmOPWt4XQkdpfUmaUGTxpY/CNLqj2fFIIcSFn7jPabqK7
AG/oQCgDIYK5Ba4mAYHHul8/mj0RMlZuQcVRV6KprTQ4zfcTTcrcneW034E1oV0qcyaid5sMKNOm
+ZMc8o++sH0nrk3GOdIAGFfSqe1V276PswYLrz5ruwgxSpuS9smUntGVYbR25Zx6cpofatYsyfLl
rf9LMrre8MCNAXBJpW59KHEBaKLD1E2kT7BVDcCeV8uARFOIPmFdf64DoEkmADfeANC6mjnCWVB8
v0O1Zxfn9xNg44AspIp44qXLTJqc9AATr1J3AJ+XvqpBVg3QAlu0R2Ckm+N3GjsjOGTi1SRvjFV8
qO6qEi/NsqOC5H0vfE+pLa7rZheF60y5v62SVFT417dhAlPXFeDNGDKlFn3kdyBP5FPXEMAUzuW6
iGmhDKKjwgTVIOtNZ7YRV1uB0XTE8ZjL52nInrES5FI1lNRNhxF0DElG5ArMObqwur2sX/BUWhBM
Bq40ZGG8lIrPpDHO5U5tMlfFE9UHGO5y7h6jO8DS4Z+Bs1YS/rsugInfg25pG2+qwOEqZ4I/+ByG
FcZ6tMhKPHtKAay/9UMwRm3jF3EvP2DEF4T0Hh5Of/zUnmIr6E+3P52eG/s9kvNPp44EbCsxXEeb
ubpq9UOKCR6wZpKkP/AIp3ZctMlKkq/7O1aR+RcI5mrPtHkcV8LAxhVKTRiDFcrXYAM91dTAEUCe
YjRvdtY9QPBM4G6NqwbU9aT8Cle1OzPugAOzQXHgE7DY9T6UN63COEa6L+CvvTj7JMrnoOMvCLoB
n9Q41mjL9vjtbNT7VQZf+ln8yGt47tTBeNMKE2cPt89BWrIcmGj7ezsoFQqERgtKYcrcaKOe4vdX
+ecufNB26ibdh2a186NVY/+gUGhu08fQUTZHzLjeoUcE/98RLVaBki4c/m4F7JeBWXqM8V4BbPFc
PjZjmeauDCDMcgO6LwD2gx4yfe06gX9uQtB1WhIg0pHpi2H22E4p/wyc+fQ1l4zEZ/iTJbuBIpUi
YdYdOQgdJ44BfgcGhtxtm2By+DrPQEyfftYNrzx2Fc8aFp91nlJN4DEDxUeWUM7EmD1+fxbeGIMG
2vNay11MlMsbPRREp+BLwdI4cDdJJTgekyqRGdpHJznzlgN1HdkyOj5lwLBTBRxxFGKhaJvcFRNL
VUgV2biSVb6WHio06ayE8UG2ykOl7iRhraF/o8LjCCsgpyPlvz4C71syYFw1CThGl0uXxmAUlaLN
XW6tCgcR7MQyKfclwBhHgl1HY+Omlu0MFEqtAzjQ4lPb3L4IS5oHI4ppJOBG4kWRBuuSA1/UAqXM
3Q+kmKWZ/smfGsxKhB8MOQs6BTkzkKwMot8r51BkojTxAVbqoU8EC62npzIAMz20qYzBhQvSDJDT
CQqAXjnSVr45TbbyHAN0plT+7Wjj77ajE00AmMMMe3S1aFB1Jr6c4ewrp8m37vaRs7byPiAIUr6e
GZXCJZuPCWGA1PASrwKtb7ZFZ/pddUE4+MqYuzFBYIIQYFeB9CQzlSMoZFuiZU7BEVZoRD0q/rVE
mBPAfgOCHOPSl0LBv8AJLZhA3Z4veosrR42IrSCvC/AFEi7PRqJ1oAFLAv2pN3xvNXU86wlOXLjY
uFw4bIQeOn+FrN8JZeTh5uMbPI9/GUKf+8oGyZCsDNSLwEmocmDNI4Dqn8AziSddI9dr7ejFigGe
Uq+LYyvGaC6o8YbEB9352LbRHoNtdWzxYyy+ZIUkv4AqFfPwfFD3mI/XQgE+Q8uFvd8nvEEMsQ+e
vUJUnqus7tBrqHGyK3VZwRoiXvJlmPMEPyawGDEmTbf6JSBCrTxjpotFX6Nqg89N6wCKFBMw3Jhc
+SG+4XO4rSiR/L4vQXIkmOpH/1o6qmfqggmwNKLyDSPvofteZyUAWAK+BwPqCANpgHgRxJdVGwi+
O3PwaOj7i0U0ParaagCH2NbHREoPMrZksCfpePu+/2Zvl0Yd85oKsOnR9AlY51/Ld6b0ZevLegx+
add6/TPa2QYdA82GI39y8gcbQe5qjIKVZo5nTH0Df0+I+Wj9nE7mFkN81n4PM4ins4S8meb6hP/W
I3l8zMzHwgSpOjqTttut+cjKJ65tFC6MhJ4Y9Kji22m/B1TItJQMz3sSyjdwx5G62cTBfTAwXM/1
tbgUQ1UPAi9X9BYA008os9l+cqwBIQIAIUzs7iRQud8+CHqIEjpwKY2yPn5ewvHEkOb31mgWG42g
8ean2B8OBwcsFJvvz9Egw3YwyX76ie9ZnRQLN+NSPmWIhK6peuBVeU+WukKv98H5qE0QD5GNfH//
wjsFURFQge3IBOY/I465TkguRVNBni7GuhbPokFbKBc/QnwXg0z19v5eB5KXMubDPtNzUNr4KcyK
9xQkbtmWJGwYN4kuzfx1gIo0w+mgVAJ0lUsJHFjN+knKuad07d1/r4Zttz0C0PILr9k7xRoZ+nJd
K8F6FETGEDdzMlB7xpeq30lVyz0BOosMzWamXhtBIlp+NOpLrzBe5hdPCLZpdlMaaDDEy7V5YiVP
3NhBmoKpg3qVas8S2sFvH9FCjGPwgPiCEcTl5hHWXkoZJ7z/6xnHPeV2bKcrfa+T7Y+Prl9WUXfJ
gGBfZPS5A8ICidalIBXNe1o9eNzT4KfOUGyjWiJ1fSibfx8yY0Vngqh9k2o5BzUsBBlZj9wNLRQy
Dx5ZjYT8Z5JMrA1csljn4iiLVdetXHuVwT3twCGJyRTxhG5Rgvz6UzDtzDa36o6RKC9dK4SkAN5B
vASAMWonK6mUkknGAhOjs1WQ5SnI22+rxYLuIQAU5togXjiB6315WEVSN2DRTX03UauXKqz2YK1t
SRCm9m05CzcK76ggT8FykHL8tv+eWQhdi/qom2rfzep8C+CcO0+JX40s/JDKkZRp5wgiz7hWC1Up
40ImdWCDPASBpOe+e3DugLUPsAH8GFCB35DVhsDZmtu1d0yQ0z4yot3fSSXK8V+IpsyVUClq3fQQ
/frKm8+q/dyb4HtcK8RynI1h4xM+UC73CeoNFfjfdrKlYoDLbFaoEtbrXWFZP4zK7IL2XnzRrAhn
B6BxkhEpTem7YWis1Qlc4wq/LwfBSqvGrGuRsfmL4mBk5qwKpFIqpVeRUOiemPq+G4NUWbTDVgEm
1zpudkWeMi7mknPF+7IgSxhVRvnz1/mfLU3s4roZZN13222pm7WPDZVIphOMl94195mleGbtkQYj
28THLKhHZO8J8LXvfVmR/M2rGd9Dt7LPvurieyjvAbZewGtzou9iUlx4PURojXBAm/cToWvI9Bie
kXrOuhJGuV4w7CpxB1p7t55W5UO354Xdu4JCknIY/y3w1F+yADaKGS68IaDqeKlD3NDwaRkngbtL
yWEigmCPX1+75wS1qa9+LbHgKZeiNjwk/COPqqlHXqB0PPrU3T7adM0OkIfxLugcDYzLPAm9NeoD
4QQs+8RKAsmS5F0X3gn8a2psxGaHTiaeFNxWy2wwZFtDto89jRH3/CaQ9D0//0KqajMGyeTxXRS4
mJkGx6GDRw8gxRKEl1/+1jwKf8R5wrmxv5/u7pyHPYcOb/PxZL0edutH+SO8C63MXHv2l2b1pCdr
Vn/c8tX4ZwfpDt5M0opJDuLAFZVdJJLmpQYBLObIVTPStsCmzrcjQI7FaiNayWlUD+VTLZDhvXng
MnPUTkXAKMYvFJxwN84+iLILqI2EYV/jSBXQHXhvAifYirGWvMLqG8NVcicHaqyE2hNfAbN7WxcW
+HWN70o/gKmeJB7rVWwhO8QHAaYAhCGoSgBu/1KnAeIzlACyDFze1LeyXa+mF/E+NPnX3kotz8Mg
Js+4sUuu8Fwi5ZbGTDTSJsgDV6vWammONabGs/EPSvMBq4a5vN14iJBAaDGDFVI3qEWFt1NGbHcp
OxLgF1JLfqyOAeYdDbs/JiSztOCu5vEYsJpAG00SzME93fb8y+ZQUWceOJDfISS83OF2Zh4HByiO
vFlNaoX+H2kb+e+9b5Yi6rtZtEn1eCV6Gtjia1NhPUkuBb54pQaQISDbJLgiymopnQqK6gzyx5VC
yh8Q1EcEzNGCacYOw+/TTTO/FhKbjVoPyAYADkipdzeBGLfMxsDFrK3j189gDE+9wOr4kxjuInXm
uzZD8HmKb2VBfM7iNVPRnhkbvhTTnX8EpdJTYcxAdVPgttpjq5uGvhYwrTAQPbfGUxycxrG2hDwE
sJszbkSk+GolMnzgb+MGbRjR3wnKCphvwLlR3xAXk5BMDb4BT6FOmlhCQ94wXHrMjq7rpk5sYWyB
/MDknf7L4udKMvCTQedJz5APtaI3Pq/C4pmprQFiisOgy6qz7XfF/Mo/FEbpeNFHIcj5Wx514mGt
yeWgQF67RTNr9ZTdx3az19b5QbWC92otHacttzqC9QGsWduAtB+YJTNZRz5vJ73daCAAOg3yVQXg
uJd3rPKrVkyTOgSH6yN4r8OTVtkgdxP9rWYc03jvf3FbicWktRjlnkulvF8YKMAN7CA1kEzn9c8h
+GxXtVkTZ/aDr8jMs81oaujsUUP7XiUqGUM8ph3dI3i9SEXcx/Fl1zI0b8m66phvBx8EFO8KW9AA
sbGRal7ghsUqaJ6qdpeJbxqGQYecsHZ9ttT0rs9GBbU9TQDxBBVTg3qymBKJR3mvt0Pib8dDSHQw
1B5FooEn7r/4ThiWmS8W8xxAgr08ZKNCA6oUc6Gbt76tyJ++RiTRLgZgmxhOq97zuRliwD3/aYBR
uE8jCwTepiqbabVKDFbyPQuj1o7dBTOerOP98ArIDc9gZRn6YuQazUpN1gJ/6r1VpDACrIU0AkPj
qMRAwAw0SmnYIEWSBL7syO2aLSeZjWTF9hjc69PXbbMx/x1qNWhX0WQoDSIBxLeXWyvKra43Cpe4
cVtY6DYGyiyR2014qKR1KPoEXc6MxHth/yQ8KsoYJQMABFKzS4mh0KlBPBgJ7NRdsx0d5rjRgnJe
CKAscFVHo5e1EJAfp11mid/FDr0fiPfQV2w89R+cc3sLlxeESjciKbSC0KCeZYYQoJEhTx5JV78o
2jGbtlH2flvKwnMKCtOqpMK2A0fhiqVLSNNKrMsodTEYmleksTQSPTX7bg8w1j1y6ok8dKSw7zOg
ymSZ3TwLKJM/rm9/xZy+0+py/hHUxQ/Q4OR3LT4CjPG2jGmq3P+4LWFhN/FGiO5BHrGpBAtzqR69
2GpCX5do1BrguKdNCETUvjz5DC1cWAichoxYBTCsIGyZP+Msda4yLynGHAupuvRZ4xvdEaqqsG+v
ZSkCu5BCLQZITHIgg/PcTYy7rttKey9MTLDzJMJhzF+laVUPYGBkxWLXj394+TlbG+UT2wpUylMR
pIjsY+1RmX7q6RSVx8x/EmrkQ5uoZ8QCC0YEEa4MIwKISzSXUBXWKg+NLovj1O0V0jYxieKHcXir
GmcQ0TgYnFj5+JWOwCBCEECJUTRG5kIdXqeJ4BVU88wNxwgIuUmBZ+MVaJJCM4lFhqJcGWJKFnWE
sl6lgxDFmSvUmhWBmC/gnRQt4CFIjlr+87bCXGklhCGInsuSgKHC4i61Ms+0sdZC9AeBK8nwu4+u
qr9uS7hO+2YRc+MD5gRQ66efKosZd0cQOvQporEiwJtQ9/oqACpOcfx7cbfjWMp4FZNj7gHXCy0W
oKMDmyx1VlIBohaQOBR4/obBwtg3B0gyn3yrmPqeAPeBYPj2Cq9Tf0oidWJ4h1eHmJMKd1cMuw/w
Q6w6dAN/R05HQHZmnlrytTbjTytn3faF05uLfnBqQBXk0RFInV7ohXHkh6WL7Mb6Y+wAJeQ5xBet
92ZlRBazifzq2mGhaKYAQjwcqYJk41KeH+aq7g196cqrHI/dduCAi2OKSfE9MIqaV7ElJWl2uWfW
MkoNlBk1SGrDr0S1HluePI4j46axljNv75kQJeLErJuFpEQezUxeqwZxdc9iJEosMbQLU7lYrDyh
dEt7bjyOUIg27DggwpvyFIbObWW87v6Ydw5Y8Xhk0GGwfr362aIQJyogv1VLqL/6R//jpH+M+thu
gIH62JOkY6ngVewDcTLe+3kMPctgMKAWpzZB3RTou3TR96qRXfhe5k4tWy9qRjBaqKbMGafrQsss
caZtFkUEkjAsl6fGe3JRA9e6cvG6NpIJ2R44e0Coc6ehaoUhA/kJI4a5pXlmlzw23EPyPbEiyutC
C/UNlOZ0IZjYajCIuZimaGfgcKtISROYwOjYbgeFoafzHl7EQJQ0ao8LTeu80hgqt3KA4b5jwZIu
WeiLHaUsJl8HupSrdeWW4Qb3mlgHRy8JX78NsbWW7rUnJofhHHLfWhFlMTEcF4u531ZuZhwUddW9
ciK0J0pPpbc1arTNElYpkKk2VIwSaYUSNxLURsoPAmdNKdpPX2S7SJ3os8DQDUb2AcKfiuiWRmMg
EbjYlN7QKqMwr8xVtITjnCf0ZgZFVEIVyuc2fYwORC6tXcF/SAEQpWdEE7aTZzaATexPk816Y7/u
mIcXBFvzL38S7v5vLe3MJiCGH9sw9mp3qF5jtMO5yYuCkmQ6t6lHR51oh2wH0rRpqzsSCkW3LdJC
PAOSKNgj0M/JwKen7grPd1KUGEbtFu1r1JqdpXaPaUF0mSFnwWWACm1uJdAQ0WDIg7ILQZvqQp42
bhQ9TNJac/3qAEXqSTAw0Dqk+UJQ6gtaGAHvMgZeZ8B5eikKNZES7IBS4/J2ixrMB/qMNMffhu7T
IaowYf2+FVF9AboMwMZW/l1mmvbDY/W9w0wtpudYA4pL8Qc+B7UoMMEBMoXuoZjK0VC8Xm3cpDUD
sH86aWln+3CnDT842TUAK1eTsYubjTKtxYD0qLdzlnzUf5LXKmY4hOtyJHTt/GOoq+1PYdT1ld7A
qXZfGCQE7B/aXAmApBGG4cWDkBh9aYGtkR6IdDtW6WbWJvpoFBE6gEATLDg8dTRCXagdV4ytW6lg
ffIMaTLTAoTWt3VaXHB7KjodkRXPnYYI8C41oOpTyWuBtuZWU0XAECQ+J9VmJnIkdWpHgO1cB4Bu
0og/2XK/KtFMXYP/PSLdu96/BPoukndta+bB2+3v+q16Xy5fQEMz5v3nFBM/KVeBZD5qtVQc3Eog
6oMHPuhVV9nSJ2CO1mDrm/xVIJOxMPtyP4lWn9uCdJdEJOXXWmb18Q7N4O1qFKyi/vIs0EnLBng5
bW/6isXJvP2tC3t4+a3UHqZJnMeCzw9uTQ7QShQY/uDVYO4cmOECQvsp2xVHxXxMTEQSXwzh10HZ
pXBKTVFlDPW8nAakrH8S8zDaqFnGoHz4mIunTweD/HkJydu7shJM1zy+vDPkX3diz7RrMzMDkqM5
/fo/0q5rOXZjSX4RIuDNa8OMN5whOCRfELTw3uPrN8G7u5rpwQ5i79WRFApROoV21dVVWZlUUorR
xC5Rc6lDmAaVgdAcljHgh2FhJBAUcA2JtOixd/QZs/eO69YqdTpiQatUUdI6u+r2vYT4LCqhpLmM
uTlkknB/Dm8tUVEaDyVK0S8xPism1sF47/XOqs0BrWIV4BemvkWW+hOUjCReoH0bHeMF0dmNDm9N
5vLU970o1FyP33p1/WlJ3Mk553R2/JJshYsIGvFheYpgyoM/yvUKG8791gJiPKFsAFaMmZuJ5k4B
g9rtZFCncuAAO+JqfICbf3PVJvFIJW7DWiR88hYG2Qj8BCU4mdni9z4KVjnkZUbhb9AKU0kSxndB
B8oxGDbhvizvfHxfMV/VKrBkkn18CArQsM7B2QskWrAuGVkpZz7g/kbGB0AoFelIXPvwSLfzLrm+
xg+q29sw30dkh57c53DtktOP+L04raLzAr2C6Dz+FPffy19Q8c4V5e87t8aJBzQJasPoLQH06vYL
GCYKRCeOe/tl83rY+ZtP6O/sDyhV+eSUbRaLxd4892S9/ihXe3sdmR4B6Pdp+fJ4IsblpZ3y9VdQ
y89FFZ86fIR5AANicVHKkIAhbma5pw4clhMrPnJbABd+O1RADzKlKLPe9gfTKRUz4jTz8TCmlvPa
AnWki9JJZa/Ie7uMQTknRUQQcHDDhcsphhTiudnPqiTfx45j+f6fQVHrx/VBB47ltLcz42W3Q7Eg
JZv+6fV19+7ph+d894wr3kg4/dSR1UBWzsolz8JmFesLQkzTTjlie6C0BHz1uDwHZG0mezTH2r+J
/m08npwpzyqM6mxoyUR7KJ0hFJmxQBvjsLXxKMb7FAzvGbqaY3VmmSftAGKNtwPgstBHu13mwBmG
IB7PVIZc+Jj6VBFcsTIAFNXv4xFN7dqxsI4WGgC9IPh4aylzhKzptbC38R+1RJLQMCjzLWmQAf2P
DN3R6LSYu2g8pFr85vCbirUF7vWxiclZ+2csd9rNbV5CqjboIUMN5md3G+NhwIUXN5ur1c1MGg0w
bmrJ1XCb9nYtdnhgJTiHCeRI89BbPR7R1HG/Wh2NOoxSlfZMr8CQ0+JNpaHOn1b/xrpA/xIhLlzn
2FF0uwFqlRdTNip6uwlrg4sAHnX3UjCTrqUppP/uxmsr1CXRKtCgzRNYQapoG4+Pk9fdgTUP1jFb
NuTUbU4n8EY15tuHyJMPlhjoz3g8lX/1Mto/X38C5TqBnWgcscAGzIzXTUoUDW5mZ1mHE66qxbA/
Ck8J2X5AEOa8BI4i0mdcx9RS/jXOCOgLBL6BOtI9j87Bv/1fdwCJpwlRw/fHI5zaldcWRs9+FQCV
WSC7QYcBliEwC54huy8ZN4fQ+z9WEt0s/z0O2mFIMa+UEaz4wTImL7t0RCccVicJGXH71B6/RNIi
9mhA8gCCFX2cS/RgzPjHmaH+hWJXQ1XaAMKuKj6iGv2j9iPZkWv9/2cTRTy8/dBACToJ6lxwTZfX
itvjXKB7u0wky8nVVa7N4cUnXtIoFgLTA7YqpDXQKHS7alEYiELNNwPwLuC9xp7sVmg+N1bhjpiQ
P3P1Yq18ZPpyrrlsIrt5Y5iurkHMLZEh+TnYAim8hfzhh5vynT3mDXHQKCcutWP6+XhKp0ILBIlQ
3MX1iZoetUFZrggqIS0HOwaIqU9MEaCAoD7hnfweBjPZm3Ha6NMOO+jlRwsqi0fy7bQmPVR+ypYf
bLVPSB2day4zMoGwr0zwpAnZOs7nenYmH3vXJqmVDKokTeNSGPDY2/Tg+AZcSHeX7yCvslybxLWe
APcwhxmafHUg6wYuW0iooq16PCpXR6HlkzBQG3Wwh9DSIivvWNKFqRELF58hLbutaxPdqqvHKzlR
f+AQMvxjdbyKr6y6tdYlWu4MdgORB5kkjQkQsSLqTf3L6Vp8hEIuKADiV4dfPrY8ua5Xhik3WkRN
zvIZDPPa0V9z0C4J39j0zRMWxTqeY0CbCkyvR0ltolRxJEVLRmPuUwtJeOknSxdR9zSHLaG5w/+u
xxHZx8ILKIghqXs+RGOtGwvSYO92pb6xkEVaNs+5zZgLdDHqvsUaNqd/9Zb58RTDRdTLbPEbmPXm
aeaSmhwwuIlF9DDjoP69tK6WlcsdwW81bbCRqRdUq1oKng4N6LnKyuQiXpmh57VMa1HrYSbJds2h
z0kLR5CA4U3VXioImDzeMpMpKBm0z0AGIaAGG8DtZi1rDrLGmcfaHFmtGPPkms+Hz3cJTaOHz9Xq
tAK5iuUys7jk+xtfAZgNJTPk6FBGpfXT8rpO6rpiGpsdeJuRMl0S5ryccH8RjjbQVgpWBQSKLLVx
0sL18qIOWhsRDW5iWdc+uQ1uYpIcVj/J8usCUXPg59ZlRc5L2yHe8mO9BHGOYriXmVm+j75vP4Wa
ZSAMMiVyw9Z+EYhwAPkH4Sw84AAhihejUB27Wlze0CO3Lw/np3wOp3qPY8JRvJ4Jyg+qDHh/+xDm
Vfu1/0Xvv37giDUaR3wnb78u4gHclvt9pffEe/9Ftf7x+KdX+5+VoDziEIqlHFZYiay/xNUhV2Zq
5RO7+HaAlOer2jZSXBEDzAzws1uvlqgPY/dV5ZKjmaDMs13ry+W3as5Kc4yb6PYuvbVMHVe1Zlul
SKMWgWUJ6ikWL1JDc41YC/UIRC5KudSihccdCukYJZs4m+02nvsA6mYdKpUd2hBzK5DXcP+OYoxn
PAvL1YqIxsJkrXW2PsMjzkWZE7HZzcDpGFDxhi7kRrubBqEZeL4i6/nnFFxAiL/WPXPJHJdoln28
jyaS+7dGqadSzChBzKcw2upSTUA89777bM7P4dNzul6tFpJ5iZC8TghrvSE4JDU3luBbMssPN3Ep
3X4I9WDqpTZJ/T/fkpvjcW7N9/fqWSPNmKDZyfpzYJwWyYbE2+1bKpl7+HByHttuQPo7c+vPne6/
eOTqYuK1Ok/TBJufWb68gu8iR2wl69YKPM6g0j/9KObWVNDlzxPOXj9pxtPM6Z79gPH4X31A3TV9
HHtYlZEMEExkiO5wf2ASfAJix0W2PDKKfjHNNWYg2j15i5kX9P3NfLsYlHvre1WKGwb2PbQXOu1G
zWwO1CZOogf5zDvynnPu1pX+9Y5fjTVQtbrTRleamzFKejvRPKyg4nI0ufVe53GRGHObfnZ6Kecm
lFlW1xlMApUgWZyx8s4uaca4AO/KE+BO221swHGv0dF/+X4SvuXTXF//RBr5doopN6eEDgPJ3fG0
g9RgMwIVgFZg18UWCz2SW3ebUFf04+UCaQpQSJhCT0zoBCbEOWQEEHUs/XI5s+w0wTciw9uPolxf
mMS5WzTjR0Gp6IBcI+52pD9Piy8Cx+cf4fPB7f0trB57ob9nwwOf/7dHrvbAoHlMHI52QyLuYmJU
252loNfWMU6n7rQlzBO2AlB2eJfOHLWZnf7nlK8sO2DWcUIWloU8XyFfZfVZuvErVw/CwUob3nw8
0gnYxM0M03C3oihTL85grzBe84+dsEU8SBathRLdEUM8u5Yxs6gTb7Zbk3TUpnk8E0YwmRnOzllI
lr92luLB2fRzfnMmPvzbXleTGcX/c4ONvVq7XbMdUnI4JCD8dYmzXRyRcktkAj7lM7bRrILF3FJS
TqvSujLVxhMlx4uqXDjouI8hxTismHA2jzKezkcbloq/QtXJskKDrX5hBD55xRWVEwvlJwx0dToq
+pd6fkvhxwz79wn0BpuZbStMfoACQiII2YzqntSiqn1UBkGCKEkEIX6N1GauW6dwd1Kf/VaHANUq
fFp5VrURTqhapDg6vqUnT+NltVSHEbM3C+ScgIxgn119EnVp5a6vFlWAT+qfxBBEKDu4crJSBuBH
HeuL7JGiO+t4C8xMxeSyX5mllh2tgXEeC1gK0FMZsp6pb7Gf6U6+iDn98eH9Q1HdrfqVKWrVU0XS
okbDvQG+46fma3wcswj+ef0zQRcolh5/cZvnArtghVO93/MGir8pKoDo0rWKl+1FAIyXBVlQQ36K
ipz41aW23oK9tDZBEmQ8oU0AjN1buZ+bpHHuH305dePxkcd3ohi3du3w+zpkbYYT5urzEzXxcQMA
zQsIEzvWSG+jltxJcl9Tx7AJGSlljFiQjXJw+hVz2AORhq4OEz0sywTFs437ucxn28fu94LK8qwm
KwJyqGPD6u0XDDlfNkqFgmXNRkZQVavaYQqddeI9ryokYZXIeLwluHFMtxN7Y5EuNOVJw7WBl/S2
wfAk/AkCqGGLmyfGwGacMXXvXW9NUdPbg6cqHDwMrtXZhXTYbFR9swMXFmIWz8hnTtX9+xrGUCSF
hxnzXzTCjmvSqmg6jMvxdD8n6Hc1Zk7TBHpyNCGjDoTVAo0hlfP2S3T79QMKsaDXGJvu39/dJWgJ
BnLpD2pN9vrTkFiP53DCRwE5DxIxMOOjvxDtlrcbREPNrgsqd8AcQlkUgLHPw2lYykZpAeebrohu
B2ZLfoNZdeSJWxhoehGNEaAJQtsC3cfshHhRMLXU20G97lszU2RQE+3LCpAu8L4q1RcIG0iSzSUV
7++JW7Pjz6+u5IbnPd7PYRaZUxO/O4Mgcxu4OjMTwt1zKUi3hqijF+SF0njoVrdfkGRLjAPyIeHm
GTx56PnTNqX+WS4OPsQAOWQbR23mw2pr8hvID9qgG17YqSUvm8V63SwganSudPy5Tq0zS1jSo/d2
Dsgytb1BcYR02dhlDPKR22mRq2CIMskbbK4/J5s8tzXfCltvZotPPDQwKVdmRrd8NfucWOZa0WK7
8ev6KRfRxfEVkYVp7sdC1e85MvVlZS3Py4/QiBaPt/qUK0Q+EK5YVFHuUamdzudZnMVCMtiu4+qV
dnAE4NGCDSPEaIdUZ4xNPBxGgWCNB0czSuKKRL3eNSdAFTJFXSDZMpsMJHnYAgweDydF/0SN7qJi
FSFKuUP2pFjMYaHGrUX74Gvj1GLyTlkUdYQErxst5ZdMRrCjIMvL/5ZwW0WOAKSaJZ6Y8vvXNqmV
bTRPa9wYA+a2HVp4s6Wi6D4D/uNCID2qoZdceXq8oFMeBA1IMuT8gNLAU4QKdLg2iRoh4hpbucDl
g9I4tXLRELVdYzvxCnf6Y3sTs3pjjgp26gLqXG7HNra4Dgz0xIFzk4t1pjy63sKpZlg1JnbrjbHx
51cHRYwGqYpKjE3UFcbqEyMvXvND5c7U6SbnEJHBiORFyRaNybd2tKaSoRJQtXbHRtFRlsKd2qY5
8ZxeMuu8YFZtEHNEBIN1XHvaQhL7OSkybtwZ1G7FQQGPP/jVRkQtdY0DoQqZaUFrbL8z2GAhZSOT
JbOOL/wp/cw/hZbEn49XUp6IHG5MUqOOfZnLGgcmRXaRFW/1J8N9ir6e+Rs2IVxu+CHxuZXXvbFY
5s6Qsl2ePGXgsU0WnbaLnJe4P1SAU0rgvP0JNWidJmsVsqD9LnVOIv5vLTJlRCVYPOmpfwd1gdxZ
3mDEqV5CxEJdRMmihlL8eVgLqEpW3wFYc9cJq+fVxYu+ZOkraU9yrQvtSipLPXa2cmZ2yspf50ED
jpNKB7Gr3M/p00xcApgWOCs0NaG3T6L8RtPVqJEUKJmI2WY4l5zOWLV4CPuxpSr11nUHImdTUMHN
fkzQgn3p5rBoE5fzzQdQTgSJhz4SEh9pj9YQexL/9t4vStRxs6jlmZ0/0V8AXgWIgY7NIQi6/vbI
1QkT2KziK1xGNp9bEskg05xBvM0KDo1VWMkiWm1UT/esYRPbjjVESCsKumPFeMKelfc/ZWzwYDAz
98ZUDHjzVZSTibKOgYIMvgr0lq+SQ3aAzY7wWcZ8ZUDUV/qb2lvomT3jSyfcDTh1WFUGXbkEvQsq
WInlTAadcNTZySBji7J6AoHzBCnlHG17wevj4zdx4AVOQTcsinIjWQAVgqEAq0Zpm3e2UjH+S4PX
KRHlzpnZzRPlA1XgVHD0gfASLCJ0r4qkpR7vqIDpKxCsgY6BFTmG1nkGqJqyhhSKPaC8iiq9gwg3
NnwBoIhWj1pFF/uzXKzLEtx1BbPMPJMTrMczcM//CW43BTq4QP3hAgPI5dbtBqrL9eGgdHaALqjO
KuKtKGXkKfd+eHBhoFgJRmG8pUvDYfQ8X7gsefwBE0/T2w+gj3oc+HDIgI7HL2D4st5b89VwP0Py
9LtEZWUJXtfc1fm3hiVxv8G/mcvBTZx0sACMgOlRihc937cTwOcNHlsFnlMFsOvIFjmtAXlN6zAQ
9iAf2q1/LFfBejkz6okr/MYqtfOqdgCfEw/g0qayIiAmSLjPiQAlo+dTvPipyLa1tl+KDlhru1p3
O1uf+YCp1/HNB1DnDHOB8FQcX8e4BzgLlD6N0X3wLiBaZ+PxYKdmGIVvEaQBaKcHKebtDPcpy8hu
zyICRf+ZhEJF95IMz0O87LWVos4dtokbVUCvHYDEUMLAnqY8t4xQISk7brC9WBde648QMAok345E
Nr4ul31joj0W1Ik/5yLESOemdc76+PMrX654TK62CqxX+Q4cnPCbAhp/iOYMpBf0HKEMiF3CpeLp
/LOX7+eErSfwOGBmAoYakjUKKGJpiEMUhnKYVT2gVYqV7zyOqO4vgAAbDy/ZyNm60mFoli5kCVnz
/73IN4bpgRetAr6mDu+pYMlza1cmvLpVxIakvO6lM6+3ifAAnTTQGgEoFZ3pGnU3aXlWM2qBZ0Ul
bJtPUfstumdNmRmRNHEVifyYFlAVCZQh9DstxwuRqzTcDgJ56SHrKL0G3/Jvt+UssN3rkpWT98Fq
DFYftuqi/eCg1LUAtGHQsw/c0vm2MbdvaHNYm4vt1vzoV5wpQrZpdRn07dt6/TunwzpxzERRARk/
D3IHuDLKkSpJw7ZByvd2lD2BrlLLDS1Ep00FwRkEzY9Xe6IsBCmRK2PUKSvQ1MoqPoxtdgf5IzJA
t24T5VQtvxYLE13RIJBkwLnOX9pZhz3hOm9MUzut0YQaEEyut/lFjrDIJ5/W5vtlV6KLLHrRFusP
ZiXNeLApb3ljk9pwbZklTiXBZkzyF4W8Bqsdt89eghn3MfVYF4HAVmRQjyBFQG/sSKxKZmgwrSkS
YImR6jLeHKCUZld4wJaIvxyrMtXX2MgPzEo5fkvPoL14npPzmSiFYXWvPoO6ExsncHqvxWeAMJ4D
j+++wuTy6+HVFA+M3Xyi17JD8x44X1dnDv2E0sz2GncP9RADBB2/ZLRYgG6AWmLRKVPMAk5en/6U
wb5UT4+37x+Y9t4AHhc8urPvEahDMKCY2pWdDTjHOxQojWErvqhrYPdlwAkiqNa7i8IMV3lhKAv7
jNKIZvyOIgEgV2OODRoYK6gHQauSzJ3i6aH/82XUvYwncM7GXdXZvsKWm9CV1L2kRufH4x/n78Hw
/7DdV7dU1WqVwGUFjDj8G8+79UueILpE11Kye2xpcjhodwPUHTTsd7lVt0fjQp1jor3AO+cqeu2F
uQt/zsToF68GI0il1ARO3dkvda/HEIDAkh4y6w8TtI1XaD+UBf1tfUaN+vHYJk+rdDU4eq34jhm4
P8uv/HpnjYKi6eLkLxC4G7lhvvHYH8tfbRWhqjKXWZtcwn9s0+lyORHUJq+bzm5kadmyL6z2ycqD
+XiEU/fs1QAVKnJjK6YDPxE2o5v+VI6hdBfOtwIvNv4NM2g5GalF0EFI0x93JQh8GqHr7CxzdbX6
dAWryc4lnt6P7Uw9dhAv/GOI2irxEIJHhe87W+VKM07QrS05BcEOSkmCxm0PwOHQRzIt4H+FQNEz
MO81DcpTjiRaudKtXF580bp4ZgePVu9O49VXUdtIkACG11gs5YAi5jNfqqHlRQWAkhXwJ56Xh099
I34WjCrMQAmnAhxJQtUDPYTo25TGk3V1cmJIgzgSg67oMqueWt438/ypH16khN+w2lzGfQIWj+oO
Wg14vIDRHkonoruEwas/R17WKQGW8Q25IIkGxDgpIaI3fIsVWvvW0aUCkwvoOrpfOdYHAcyHM/nM
ybsc6Rb0AvwpKtInR5IaDcI1QAHnv7H76nCiEQlm2uwC4UMRraCDiA5UdQbtdWbzjWl9eplHErOx
qKaKqN/dzrbn8Q1Enl0WYA9WT5Em3jH7jMRH5+LN5FCmcqmgsUTeTIbEATAIVLiS9F3jJnw82AZ3
4UBq8rmoUexOSHmpZ3zgRDCGGxRCPCgSSoiTKUtCKA+Fk6CWEayqWu+MEgg4aDhHp7mXDYij7+cP
6Gl0vEpgYRCRaL+dvzosxSrMEPRrUCzZad3gyGZZIRlsgd6YU0mUV7yn54MjdlbEK8xn3onOa592
DbNg1aSTiTs+DEno4UjoqeBJoJFtZCb96QSvCp/rBMKG6JFQRZewLsDvOmTAw+SkyG4J0FGRIw/h
R2kWbdVK8WVTzkQtNdMY2dtvqNc7rAU1OUZFglVNfV0VJbY3CrFhk0PnxdIoOYaOZXNsKU2spAaS
lfAQFmZMDaIQAnHDvveNrnUDedUOrfYkxE0kHFIl7aKN2Ke8uys8v2AM2WMcgUC7O2MXQ4o6ygbE
CnxwiJNKKl6VVGnSYxP4hbbqKqAlF0UZCRmudtkHRnRoI9HSukjgNmnW98Waj2VnrCHwjrzjOTZH
c0rrCJyVRKX7DB/odee496Ny50mSp+gFOL+hZiflIJxNCz/AK08TQXquyaJfHcO4zQJrAGKsXsSp
phaGOGQ9WjP6GOp3vsOEYOLhI7Y2JYcXvCVXqJ0PWqecDe1UjJrkS5JiINmJNyBL9hnzGQ8ts9BJ
GW+P+oCYPclxq4lLpQMx/5OS1x56yvpCYAhf8XlqRqUS9Zj6ovMHXW3jNH5PwFglmz4SBuVXpfJu
8SWWdeyCvWoomWRZp6LWrl2GkYIXMNp4gemhCzZ6TsOAD3NSlOikg6JBHMj7plEk34b8gos2NtSA
0ESvhV2Gek/RaEjKu26tQNe7lBPu5KZtPRgR/jmvSC7V+HumJYkdatDwNdvMbdxNWSAx8hu5nB+1
67KJJG/P1LUsveG3yQCPiJW2ea+EqqogX5doz9EQ9T3pIGbIm3kdR6nh5CBkNnnMNL5IC5RuXxUM
NKPrPuDlhZtGfrCtec2DThgvOqG0RYKG8TdO4bDJjomQEFvAgaj4TdFhvhEGsWZI3DRpZ/Z+mkAQ
PnXKPNbLIpVCXc3RDwz6qzLpi2cX6oZCAOUUrU3OWZYpwzZRcgiORHwXMbrIoD1qKSQhD7llBZPE
kQzJitbAt1TuqoK+agK27iThzJophHiTp2yCyfPaSoJaKqIaDq1vVah2BM2SGkOaso3zVRy3XH4E
A0GkAN7b532/dHymZM+S2gEyM2hyob67raIEn0NaZNLC7Rm5ROFD9huzcSKt13nebzyLk91QwFIJ
nbgfZLAk4WzU+ZrzehmkFRkE6hdRWUQJGFtyTvtikhiCCKxbu5IxQO/tR0OKx7OgYul6B6/IPGbP
FQkXmlHs5pXJqH6XWpzPs1lBGpaJBsNFM4r62yYJY4KuZbh0oPZxoXrUdj8zl8zElQ66ZFR8wZWG
XhCa+0kcmhC3cDrYfgWN7UDbNIHNsivFt1GjJJq065L3Rn3Ow0/gcUju+b9dlxma8+PH4HnVfmc+
Z+LO+xfzlQAGNxS8qeuhiIcEQJOx1O1aTEUgWsctkE5WCScZar54bG38zagLFlV1JP9QM8Lo6Sbp
ROMcBryrrJ3IamwJjPoiqb6VsHVgBGwfW4+tTTw7cOVBxgpRCxg9JCo2FooxAG/QxNgHUm4kle+a
wM28PTYyVZIEnRbKBwDEgKrlD2x4FaIJVa0GrIf2xYhBgzme43W252pMX4XkvPQsDWjEqAgeXpUZ
uaDU0AojVVVDnu1PpS56pJPAwHelp06FzmGdtpqQQ09d4Eg86LKEN7LPG+xX/e3PIWOohbyzRQXE
rFwUBZ+o/A6xeLA9tRmQ1Y/nlQq5aQt0DFiW7iDKPkaTIWjBMw3g5m9VA1sjyeawdzMTR7+hJN+N
JMVT+J2882MEfQPEU3oiuHq/RLb98bDowO9f4xqLpsgAImNJM6AIUIosUykQdnHgWI23FQoD1LmW
M6Twvd+av1fZyhDAgjdjd8wtXh29O7tj7Ha1TeWyTbRYhV0UE4atjBo9RCh8tKao+MXtykN7mQP6
0n3L/7IJeBqKaiBBu6sRS2wbZVzoCbu2N+NlKxOo22p6+YUrC9wB3E57mzM5uZQixCfwVAIfHE3l
VwJJJdZBKOyQW1UjwopGIhH/u38O7C6YW8rRf9xNKV6FYHtF0MvfcfX6pRrVECHd1b8gDlw2S2Yv
7LuX8Dm0AEd7vH6TA/tfW+BRu12+tqkHqdUSTKVEABHgnmUEpM/ud2qon48tUffTvxbtyhLlNRkX
SjFKC0uqqkuNBfLH3yxH2DC3IanHwp0d/nZEoVjIfDjaYQi789/VYBQnAWtno4fHflnY5aeyahUi
24+HNzeRVA6+LFhHHYRY2DWxHviJmQs/MaRJQRjgbZkAcc7lP7NHveA9gFkyJ8IwwdiOTAabWUpB
wmNwKtbM8T8zRR1x1teivAuwH5lzeAKvk+mACf65Z8kcz/HcHI63w5UvcZiG5dwq/RuT+sJdQHPs
++gz4VydE2Y2/v09AG0CUGH/qT4gWqI2vtcOYQSyZW3XVSr6SlgSRZnJZ4cIwFoGavVuPrcx7z0l
aHqRBAAbwfgy/8tOXI0uzINMBYTX2UkepIeLyswddZVw4EfsayPBuQOAJywawgQhJIyPNbRsekac
o4+6Px63X0Edj4wJajcdYmen8D99uEgT9KnORGNzJqijwPAg32H6yNnVIm8F0QrvrFac69WaNIL8
FYi/EYuBieB2r3Ca1iO+bJxd6ZakyY5Vvq21GYTA/X4EGA1/gOlSRAKCdo6i1DOQ3Bm8vRqupVfu
kAkmG3yX2iFCx0xZzCQDqbASjuvWGuUg+xQid4AJeXtXcDW9jhOOMKVY6I8PM43ugRkV9XEZAgUg
1Ecq7G7je3GQKX6wr4ZkFadnX0R5WE8jgmeVEWQveIYT6GiY2kCKYdUKAOIpGQHT+iFoMjOQG9Pp
5xjkxsW6vfFuv4kaes5nTBUiAbIPRG2dJ2eh1VZu9NQkc7ufrpL/jR6KoyA3AGs2kD/UtonqkTwO
jcR71a+MXLlkCaSiEWS6nqE9scTb8z7pfjRpxoXSnDmjXQjRApoAij4g6+/eDIMPeZe0jvY1mDpR
rDBRMk2MwHIXrskZjFkaqgFAFykWMSq3AMsuZCg6VZbNfaszaVAadXb3LZQLGLSgAl9IE+0jnjTe
Ef1gfoWGYqEhSb1puE8uTPTkW5AWgaroKhQJ+oow0RIgQJ55raA0/+7HhlpvGMZscyIFlyg5x57B
BQFxD0VuBPmhl0j0LhSrEOkD9qLNKsfenxVoDCAChBwmhNHv2hSCIez5vJCjfR6l32ADRmDUnR8f
lHsHc2uC2pNeBrKVKlKivQs8ZtqsOtlA1uyxjanteDMOailEpXFBzQkjaB6B0tNQETYwu2Qp7AZT
k/S6Inxm9nNB39zQKActNL7U8z2sQsQxZDelb/L8zDOLzrWPmwwyTiNPMcACSNpSboZtXVdyyjLd
M0VulcqRK85iWOstgKlJb0TSSgODcluGC6+eMX0faN5aphbOabtaGNIq3cfq+V1IC1ON9HH7tnOK
bBNvrltL1OqVGi8nmVun+yy0FM5wVTMPgH4grbqodj1pvZkQYnJk0H5VVbTojK7k9s7LhDgOtCrF
yMQ3pkKKSUH+M3tDjpD4/FyANOGTQabxjzHKU7KdGPtcnGFwdaMHwUGoP5R0UYC3beYMjLNEOX8Y
AuIXwk0oXdAuWQnyoQhrrJfX5nrJrWRvjaBdQXsAE+w459zJRwC2vPEQznjC6QVUkWThoS4L9AyV
2tCGpOZSJk/3zrAqPMaAnA5LihSdqrbCHgtn2wUzFwFdCxvPBZAN4JRGdRVCM3ReDJygWat6crb3
PwYrOX4yensUIV9oqvD7/Eavl5GtzCuI3Ie7t2bHrXUVfLKlryI5rGT7vv4Qf+IG0CwnQnxhlgwa
gpdyazpffLAQ1V176EPNblS9694UaGTLrvl4weni+d0UULNedS4S+rKQ7ZklqwtWYIU2D07tbgO1
jEivAmiqDDqIaswCdBIt6VGUgZKomV7EWV3h+wjvdlrGn19Ny9BngCdmWI1gNYAxFigQ5Lj0ZImG
0Fdtl2+D5S86I5mjanKrx7MwuSAovo4M3uhnZ6lJCPhcZZUkyfZpluq9hNdp7+phZwU8kkMQsgS1
wL9hUB5V9UAogG4gymDbV66HtHG2L6VXEOvrbLsLHNdAfaNMATWaQ/dOuA9wXuOtAxV0pKXpHv5c
GRinr/lsH/fePnSSBePkJMXbuNbmItrxKqEciCTCIY4yC8jR3DWYCmzM+YWfj7QwjhEukJwhtnvg
ZwAtUzHctR06cnZlweOGAHYaK3qungew/HMkODBmbjSQG2dMBHM7VAcMx+r0j564Z89UlzGA/FCo
PGurOXWNiSAI36NBGVUSVAX4hdvNy8pJAOcV5/siC/Q0DfS2nJnaKQt4+EB4CC5SuFOG47M66CQh
yfelH3ObTlE9M1BQdn28M+kG0D+HACznqMk2KjnR2jJamjVckVf5Plvx+giGDpesKZrSpiNbV5eX
gxmdMt1uR0RWpM/l9qYH+Y916qJLNQZVf76GdbUsgA3JuCPv+f2M1/urv9C79HqQ1GqJUhsXdYFB
8uvkmXn1l3jesSQwQDwvblXLh4Lu28z7dXJkPI/5VbBDgPS/3SBF0kDAFEXWfTiAMSre/BdpX7Yc
N7Is+UUww5oJvCaW2kiQLBY3vcBEisK+Jvavvw7OTJ8qFG7BTo/JWupumTGQW2RkhIc7qpYrTmVe
pfg/S3dmYhaSaL5W6nXcl66xlffRF4jcvA9iVTa/k2zvQKDMutY4tXiDgtPxn1HN1mvkkhrmHKMK
dtqX8o4JfY2s6jM7hDvUpo19dNSdwJ4UGW9v06VoAelfQDiQ/yVT9vlyOkM/Cnlg4PxrWc4UbiJZ
5FkiFLg2mX8v4ZWgR+XKAfxfbIJnWkPHqi7NQz4tg2ZPjPSzW0MOXbadxwSUqvs1mqvlOSWI0jE+
w0AF7XJoSY+efGXoSpDEk028TRzBRiQUeCa/UyBv0hyUPxNj/99oTZB+6QWkwW3/P8s/E3B2A1eg
bEulEZa1h96qQKSkHYF6eBjN34bVHOjKGk7b8eIQqmA1hIoxdHkQgSH/dzlOrcibgoNQx0VvUG5W
NGi2BGLedoWXmHV7u8zZ2qBge2lrduEGnmREmR+Xbtqf0ujP9/ArgDa3JdSHwfCZrj5wlEqKJw9U
LDXT6ofoF/4cPqt+3774Oz44iS+vbae18c/WuasaXyp1fBNR3kFCLNFdID0LwUc5BqYYsHjXxpsI
zIDoKR02Y2dSacXXX78LL2YFybvLFVAMpaeygi+ou7/e1vP+plBkKx9GpbP46EC5Ox9fpXKN0n5a
14t1n7IuKIuiwxShCFDyM6uFWIctaRoX2BC7IE+ttJdpZiZQMK79P7cX/mqOoY5GcS3LcBLQY5iT
PoZUacqSkMot0+S9iH0nK6B/0TSvt81Mbm42JJTVQe4BLV88Buf1/qzXOi2B+LvLB9/OlecQTatd
jpLYWsvF0njODc38bcwxtWkDQ8AKnaK8MPXUuB/VfGXaFsaDho4pOTZxW0CS+XKJqMoLQIBCjKdw
C4iX6sELLZzcWCsxL2wFbATEGQhykT6ee3EpVMG33A2VO7yqCVPN6rFU7cZwbq/OwqRdWJkd/oJ0
rZ6rY+VSMTN59BjaI3LGt21cnyUNexp0pkgnihCEn2sggdenADoh4q5EBLT9tqUCrk+pai28a6w8
0ogZcy82izYuTUP2S9ZzIbbbOl6rAi/NKcEBQ7/M9BuZuRUxbauu0JTSFWnLEk3diOFXrGamR0P0
wq8lca89K8aNKwO8Rmh2AgBxtlWiLOrkRPcrdyw+Rv8rL2XUuC1FRqENNWily7dC8ZjkwUtfOMav
rvY3NajjJDcQt5rcmqhFENoA6wnKpQejBy3B7XWZs+chlzF9H9KTYA5GkWm+leMqbjOx00u3qYxt
nWUm+QqUSUbjl7SPuBmfCsoCZSuI+yQOHV3ZFf09D+hG9+xBva+gBJu83v4k9dpZoKMCqVIQX4Cc
SpcvD1fTjHHd6xQx7lC+lUZo1rG6Emwu7HgqA5SFWoliQBlttgfQTRX0WVfWbiGNlhzuezSCxWTF
SSxsNPRK6yDPgJjSdIYvxxE2nJZjzGs3j/fS+Lc0DCuKDFMORkaVZCU7u+CRLozNznCS+xLJSFW7
WqWbcvMQFF9t8R2SX7fXZvoxM0eONcG1pKio7+CGuhwTKix9WwV545L6UwCaTTfQeuNDWE6+l8UX
DaWY2/aun1t4DICDBGlEBRUJbIhLg0rnF4pKusYN9I1SR6g/+Kml8fe6lpliuHwHvFhI7eErP4mH
eJefQFJgxHvsVJccuLq9/TnX+0ZF8g2BJ1ROJGBjp617FgAmaTIIiRo2bpo91uRbT+8imq+cyCUb
SC9Chwu9g6jlzbZ/oOaJAN6Vxq2A6Qwh1Jcjz9T+t3lnDGHKd2ARp27+eQNmkYmER03RuKNT430A
8kBwNYKPdO25fL1fLu1Mgz2bMLSba8BDw44+IHsm2nq0idJNO0IhZuVIX3uNyRLONN7mgKH8bKQz
S4HSqQWKRY3bKCQwa6l/kMEHu7I2C8NBKlsSES6DoQwM3ZfD4aXvj2gcaN3McmITqWamrqR5p/18
ecAgtnFmYbb6DSmNCCDm1gXEBZR8kJzb6c7TWr583s4Orw+N5olNQJQnocC5AwypkVeNErVuoqb3
3Yl0iODrnVGhVTF8SYOnsSnexT7dDdzbJxD/BO9jrzqcqCYU7/1TAHgw+v+T+zwzlfI5D/M7MiYO
epoE73j7yC2sK76UIkCVoflz1d6qD42Ex0nZup7OhV2dtKHd8uH7tpF5y83/nY//WJktbFFVfVUM
vHXT8b7xIbtsJgHuZ/V38Kimvak9+B26U438sRez1+IvCZxotH05WfEvC4P9UVCChAdQAtIP2fLZ
Jm5z4hV6xgcX0GhmtA0o/G8PdE7yMA0UFuBTEVGCTmyO12ozpROLtB2QkECfu/IeH6NT89rf1Y+g
TdkQKwGNaPioB1Yw2nwnsz/Evv0F04mfbXBNRNAM2C/CQLQ5XR4hIYi7WODy4HLoS5A0MKX8kPDa
um3l+jrEMNGWqaJjCFfvT1R2NpEkydN87L3BlbJ+S0AaoYGnIsve5LWE3DVEARMqYywTrAPiz+q0
pGeWujojYs2r0R3M0ep3yqF49sE+3JudldnDAR3Gj775N9qMz7dHuDSP53anvz+zG6Zhk4lCObrv
1uPay3va7fM1Ov/Z0+ye/WxVjmoZnSSjazB189keanDbaeZT7KyhThei48vZm8VIQ0UF0DHA0mB+
ppvIyu/1nbrLtuOGv3PrN98OG8EhLrLS0J6sLM/OV07cwoFAWI4GW1Qb0PYFB3M51lEfaVZ2uez2
QxebwPczT3iLxJCp35poQwYFxUuTeqDJPubya8WdvAqcOOseQg9c8khSFmTctvndONjymq7a9XUD
DNakE4jqBJ6ZP2+qs3WoAhAvyb4E+D/g+WY+oglslEmwTfoChCxqShyBiA3K8ArZ3N5dy5YRI4O9
AHRs8xwE1XNkaJG8dCtgTDpgLzI9ZWK/8Xc5fw+hQH3b3LXfA8BFgUAdsD6I/edeSadiJIxRpLph
Re41oXBAdLMS8SxEkmDZEJFOQ0Cua5oy22rSQFPUFA3VrQO7eIw8VG13o870TfqduOld4coCi2XW
3VWppahODfFA6VFyQksy29VM4rV/uvyY2a6LPOh/xp6uusOTCFICcpBAfYUoLDTDfsebrQ655NP4
Crm2od7KjtHsbk/4dRIVIk6AVaEKJU69AfN0e66X3QBOCdUtVQGAT1ORntBzQ7OXIpIZafZJcC83
+1jfaxKjo27qiRNpn+CW6j5vf8l1pernS3D1QscF6ep51ljQSlqSEQ2U9EtPgPpman2M/QfBDB+1
8CEFF4mwScv78iDvg73qRk/kodonx/Fb8myZyW8S3QJ6ZWwV3QQN0LhykVzHY2Bc0nQUwQ1cyqD+
vHQPccXlvIjwdUP91YD+sjaeUuXvXxX60aWAZ/nb7dm4rlFgNs7tzd47ApjjOpLCXt9u6L67cw3I
BLz8dp//rAxMmS7aSycPS+ATwpwDgn+F8vLTZBJjijVXeYDYr44Ojcd+dPwjWt00B12vyabTWdcf
ge+rcuYfyldDcuT79mP8Rdt7wRlVW66dkT5pZJsJvVlAVrp0hE2orglqXF91l186CxnquKpbSlIN
IJmWkRKa8ONeU9fADteXHqwgGwJoN9wEWl8vV1oOpN6nvNNcbzDjamSGilfEMUQ3WR9UTA2YqqKF
JY6dtYjoukVgWnPEuOD3kqaW45llA43dQyq0mhuWX9pBmMRDrYxbLYg2h20dPgwAhTficQxXhrw4
r2d2Z6GLNnhSo/Fag+d7rcJThhUv/tXa6VNPDtWnoHOWMKjqThjifNTcJqzdkcbbVq83itavvP4m
5321mc/MzOJ3FAsDYvS95mqJttG6hJh0KL4qJGUTo03tMGmKlStr4YacLirkzLF2MhLbl9tFSksP
arai5ibFR1yB8d/hsXZEqzrrhHAb9IJ92zMsjRDqTGjZnDhZIV98aS8nMVVGn2hu12dM9d80udtE
3nOGtsm+SlcGt3QfT4BbpOAQPEMk9tJYGqI3FXStmgueScKEEaxFeZbRFRe0EP0B1PpD9o1yIV53
sys5aAQN7cyy6hKQi2U6WJzjY5q8qhp6clSbYKP0tgGBOLsD7z8FN9VnnDmlMfVwo2XOUD4igK1q
cE42qb2aUFgMGIgugW8Oj2R008wmQWvCsZFjorpZlOzrUmcQbbYErC8aNAIiM3Qdmxr45jzPy83x
N8QL0Hc6kcYrysk3toX2ZkDV+xkS3m1zl4RrqbHrIj3cBhpfJ6ryqb9vjkSohrFWOh1XOPgPmaaY
MjR+K771LDBl/vYsQKMb7Rg+QsnWGsQXvtbFtbghz8zPpqdXkbDDdkdw2qMpsw7ASR1GZWlxHw1k
mE1gI4xBWTkFSxsTyHOIzlGAZ4CLvtyY4KCkHR1waXky5xskuCLwXkJHcOWsTd8+dyfQxsK9j1ck
YPUzd0ILBQ3BnYJY8YQI37ZVdjTMu6PPnF8Gc742IbsXTeg6O9QVLNO27/Zv9jf7fff75bk5gGv6
TwCW+mcwan1st0/b7fvp79MzeAOtg+W774e9Zx6e1iBTS8tx/smzS7LQu7bmA3ZrPdZmH73Q4dDR
0mmlBwlwjdvzsxilnBub3Vhe6o9cH1TVVQCxL6o9AI8yfVEzR/oUSkdV7fRF2et3UXHwQMR+2/jS
rXVue3ZrTXrXPMqwNkryoSJ52VUWuthv2/jR9ry1AWbe3ffEoqh7qroHcC32zsTYAwI10DDJIDql
k56THds90y0o7Pjo69/zOzyPITlurT2RlwJQnYLDDGB8ZITnpzxWG0VJYtwz/vAr77ftdE/7rB4f
Qn4QNafK0pX5XTpiqImA1wreHwHRbO+XtV4KE2eCW3oi09BCFazUEH7eFvPJRZIWvkvCCwNvkMtD
DERBBhhXQlwH+obm7jSyb2Kp7Iva1Pz2rO/H0CwtwuwIKI7nLd0l768pg2LG8c9aI9zSOT//kpkP
04delcd2Gqt2GFxP6fAC+wUgxMp2+lmkWyOeXXTgZwiGjGLEKRv24O98N6Ab8MmZwaq790/ntNOt
7x+NG8swH7+6d4g0sYIhwQxWPOf3ROMVO0+HHBKar425Rhu3dKBAeClBfARk0ki0Xi7HWAZ6FhYN
uCPA2NEM+1bZ5mm7sqsWZ/rMyGwGBK2uICPEidvDV+hAWIIKpQGjaP779sld3L1ndmYXBKfIFtc1
BtP4PcS3KEejSBkPK/HR8pSh1326iNAxMH3FWWJGrPTMGNueuOARwkPhrh22Evg9bg9lKcI0sCTA
XVPkRVT50giIQVo/yDLiDjogk6/oSSheaI9OUSQn8s/bthaX58zWzKHLIrijqiglrm8cxi8xsoqy
MiW+FjQvOTMQtv6UnHF7/2hAnM2b1DZdRYKSuAXIvCNlx7loDkFp9f0TgqkexUTDON4e2cK9iHXC
8xbXuAH8wWx362Bl9otEIa6hDcNBl4LSrkNpMxbkniNLBCaecMXiwhaEWCz0sVVQIkx44st1MwYV
ghwCnIpSgdcoQoan5afbg1pYrgsTsywBDXMZhBHwJ1KsMgWwXhVpk9FJ0zXNmIWNTtFvgEeAOP1j
zDZ6MoZ+HUswVJZ/gAwJ0C0/9Cu9hGs2pr8/2xRjLVKfVrBRx78wloZupX4FDr04X0hmqhoSHRqC
t0sTBhnapB6wvfuEZOD3GE6E4ImvCuD4itHGcXt1lrYcmr0A3NPAh4Gnw6U12c9SyIZ3xBXkPLDb
IAdn9ajHzOMBWqfSMNg0ebBygH/0z2dXDNLElII2Dr2SWK5Lo03hBY2UihgiCKLvKbiaX6PNa2V1
kH4sIaRRmg8+g/Dk5vj4+PGoW0c2QDPuToJmnNkxGQyAHVuLXRYn4uybZhORCgAVgusBu8eoT3XY
62asN5BmQCEGgsqs1QqV3Z76pb10Pgvy5SxEFVhQ0A1HoBb1rFTHSN4l4UqFdtEE3AmogHAusMaX
JrqsT8EoJBFXHR86/3lEG1Wnr5zvJRcCgNk/NmZOy/BBpB7WKvzk2H31Uv0l5Ny+PVNkmoqrDXNm
Y3YmakWsGmTy0VKxH/av3Mab2qyxd/Caxq+YVe/Qh2r27wqrHATBp+/cFKaNBSpXhuaF3Dx+7444
PjuChqDQhDYN5Ca9gPX414mUFFRViGHeWhPSSCLbatbTv9leREFCBPQTAKPMT3XL1aEfcorF1nzV
kf0EdFJp/l4MZCc3cvpA0DNlrczawqQhZwrxJwD/QII2mzTE6bHU0YS6Gn0Zkh1eQDkUu+Q8/u8D
DLT700ldHX39IDm/3GTp0AxdJYUUYQxaGMRMya2kRfW943q3cmSWDul/TKFYemkqybSq1DQB+5lX
z5Havqq9/EZDqWagQ9fMAFqyzu1JnKsaoQg9tYAASQOE10/O89Kkn+iwGabUfa8hGFzhQfWKdI6V
mBHeWej2MpMHzsCn5dSWbnfmu2xDG5tUWxQDbn/J0llGcAWddWR9rxubMk0r+0StqGsIe4E8ieK3
gdjnto3F+QUshaCFG5HcXCpCoLE2tH5O3TIYIxM1sEfoySM1oyGnrDyO0ea2ucUhQeUHNe9Jm2rO
rw3g0iiHXk1d0MExDf1ouf67Hl9uG5GXLlRUTZEnRyMMAIQzz06HQBXCoaFuBVWfoDt0YM3CvT38
7etHMWGt7hg6miPFx5IgQ6duwNiXeIds5CzbhsKxb2OGOgfrBZ8NXnfvByBPgqhX8yiuQY+vuxKm
zYZDBNgpAH/oGrvcbF1fV7yqB+p6QQqouOIE9aHDQ8/fybWlSSZBe4bJZeNfrAPFIqhTrxfqjTMX
XnWKDtYOhbpSBwVqSusnAQxtGw/JxpXK5k9lYu7Jz01NO/AsgKo69AkIEUw1Zuv0+KWhWD6Azx/p
CrQoAUV2zHY9ZKANRAIPCAN6Fps+iN9H9C4m7NHffPs2uwsxCywwzGD/9NSYxr+I8ihgH0B0Ansk
zq9NJNAzLQGDiBuO5IQg6EQqWppeL4sr5+0nvLqaDgT7kGUBehQSgZfTEUCYDVSOBnw0bqpkF7PW
kpzB5uwBZaytZD2E7LtlXwm7y3cFSN5AEoGqr2TD1zEM/PZJ+Xlf3Pqa2ctKmiirCx9fk5CBqY1l
gOvzj9BttHrjZQeSulHATYUgZ2egPwfCSoDfQ36F74bcVjsZLLO9A5IlqCwBli0cDGUH3LJVkMPA
t0p00CM8p2OzrmMQBL9LwT7tQ9bED7xxuABqYLx+TaIz0Q2haqam3OoIxB78nVYMJmnXBouZvTXW
Kaw524hCBEbwsafwCi2aDUHUi9bN29O55HdQKka9enrTIT97aYHHcYEz7usu7R/rEZyd4UlXwIDY
rFxRSxkbNG2B1H0CDwGAMTtTKFr4YZBh2Sqcm5y9g5PJooiNUJNjuJVAi2Gg94+Y2ExHCFbY3186
+/pSGflRVKhtU/yawp+B6fZTbCETwazIXCugLGQIoAUDFY1JrYcoZPbSbEu5pkoQ6a7i/xaH31nP
wWj2u8x+G1ppq3q6cltek3HAlZ7bm0UlUdmXSl3AHtU/Rf/eU5wSgnm8c2mAW7somViaacfUxDIO
YdSZRu942S5AUEiGp1qOwUPTm4lkK4OCDQhReKDukTVNn3lpJdLHIJkjtAZTgRXlMWlf9fY59pg2
xttYWOusWLwWpnmbmjiACZlDOfumy/1SS3U32en9hwdOvQDFpp26bSGerrr9Sq11KWVOz+3NvRKN
iRGUsNeCKnXM0zfNeBObwCQPWm76xlOhw1ODHGEMbRI/gb7Q08aVSG8umPATd51/w9wXBSAqmLoR
3N57EAPTy55BM85C6MxIlmFs0P0hq0+IYEyFOmMKotPepuJvMayOVQBdJ49Jq12705aZuwzUbUGN
hHIRgMiza7IWA7EKY2ypDuvvKiUyQPlXUZiE7BN/W0Yr/mOhDWWqs6OEiugdMojybAuXkMgQcr/Q
XahBKNzWHjVgz1y//yjNOuVsBP9Hvrvts5YKiec25zVwZNkLj/g5ph0IaFD4OIHZbwUb5D3sUWdv
GfwE6NAsCFy6aMS20pXa+HXbIo7t2Zjn+YiBlDzgk32td2pODm3RA3nZQi3PInwTDNys+QOIctPs
oMoWz9caQydfeb3G/8z5DxLl7Fpoej+qtQ72S6PYK8K7rphU3IkK+ieDYGWPL+4nRL6QCEN9ENWF
ywsiUgNt0L0Kx3qQGNijTINbCSLSiB4E8igrpRmvFYuWXcmZzdm1B+Jq0KwCuOsqiq1uOgq9akwu
CsFAPjBSvxUvkvf39p5aivJRe8fzEIxC6IuYDVPXohLMsZ3uhppo1dm7CDROHp9uG1lcN+RqwVUM
9kqAHC7ncqgaSc0rnbpRlJqhvPW6xKKeXavcFNaENX9ezlebBHsEjOnI0OHVe2mMCC3w6hyOAN3f
VrSLdiJk0XEgmc9UVIl8djJwDwdggUIVbrQE9okq2JbcPeZ3nfUxYaQ8lu7uXjr2JzEzhHIgR0EV
RXZe/tyelcUdhrccEg+YmKv3ciAQmWcdHLkWZK7uYQcP8SFuLLxCnHjof8VVCQr399tGl256yJIA
ZQw4KBAZs3BElPIG9XAY1bnCshjRyF26aQxQr+WISaSV593i7jqzNluLsq7iqNSwoQlcYiF/qvKf
Aa+120NafEMinkB7I9RMsY9ne3gw0jiThQCuX3hNG84S8tnyXdOdfP89qbdJzRoA+8QQt9F9lLmp
tO01CvKPHFiQz8i4HyaigAY0VENhV0rxVvv1pgo3hb4puu3tb104CYgQwPoDtnFwoPwkX888WKwq
Y9CBHt71+QDm/A/VO6JzkMXdYxWtEV4t9CIAjgc4OcB5KC0Z85dSbNAhN5LJhSHQR1xSboNgM9Lt
UKksgtRrRtlYx1aMJF3L+hH/UwYl8EnrVo7/ol+bsIHgLJOQZJvrBfvSWJeF0Oqu5NuBZuf5Jj02
lakhsRAAGi0d+dr1vLTNzy3OogGaqn4UBZNbC/FW90fhw89iO/dq9Hh9VXH33iEkub20ayZnJ6vx
8iZKBpgc4tgeVcT19alPHnJ0KftJZ6uCttKpt2Zw+vuzvZRieCNv+8ng3tunPLyLvT+lf4RYg5WF
7fb28Ja81SSRCMeKO/GqUqk1ssIrZHDcFEIlQnWQ9G0nMAIUIwh09fdGWAmwFnN76MCeWNSmpr2f
OPhseF3VZUBPAKcmAyKj73u8mvxt8ag4YA5kv1S7ZGQ/1SQkdopBntSyEzdHiqevnSUrSzvtltmV
oiNFZWDY6G8FYcvlTEt+O0BwHPlhbGSb+p9ywbc11VnerXEzLfmHc0uzNU2EIgHXBiwl3q9arNj0
FpL0xkpiZMeElSVdHJYKnVZ07+Hyn8+w3wY+VI0D6qL4hAgqclQZMi0kNyVxLTf8A3S6msKfFg3g
T1DSnG6Ks9WMi3b0yzKkE/okjHZoBBjpjuRfo9UKH3Fvx0FhxS9QZKg/B+ku5IMJHgjAYZqd0p8G
spHjtYrkkleCniKgb8glwSnPsVllbFSZkCJ5nHbQ2h1fKumo6nZAfhVCuqP5o+Lnr4rydvsYLS7w
mdHZ6y1GbYH0GYy28LlC/w3kolXn3w36RFC/XLkZp7jqatJxIaLgihsfmePLSRcFhWQhlDVcMUxl
M0mAIBSSco3zY3EbnVmZnY5mDBOxHQsk5KT9kKISh2pQiy74DlrewxpgYundBV4Y3GuT/CaQnrPL
vlNABoirG2mw91q0PkeoeHsg3Ynu9KP/mqwgjBaHhqnDGcELH5oAlxM4SmWUZBFHWj/60Gs4cfWT
8zdZWAO1LC0UQUQG4MzUC30VINMwUdp0oG6vn8LR1euVUHNp100I2594GIrzs3FUtPVqdEdQF1zM
TCs/epBAGNlrCemfTvt9e4dPLmq+6dBnM00XWnGuWuJLpYuiCG1u6Ai1R7liufycjKjBPHGkr9c8
81J6DdDRf6yRWdEJ9ZBEBn6auhnXd0p+L+Zgloo+KmEnZb8DkGp5ZqXBswXJIUoCq6gkcPyM+z6p
bAiyszF+6zn04vlOD15pnzLPePC6pyCHgIopgO2+R5I7PMRQSxF3UxvwyPfgndiB61xvcXCPaBEG
OwjLBHSOZHcgsW4GJqRH6odMHqzbM7twBV+MdZazBPWzF4L8grpcDo5dvdGJYAISj06qA1p+ul0t
rZWclvYlpDnR54nUJfzIbHY7RI+QvMJapjQyo0y814Vid3tQS0cMwg1omMOpRiJlGvTZxWB4TTOA
ppK6ca6qrE1kw6QKiADEFBmlwvfpyqWnTA7ian8aKLxCaQBEn3M0FBWDOG1qj7r37xqzgHUBFPN1
yvC//7r/jKxPqHKzd/zuM5SkzSmvr+LXhiRm+3J76AstnwjQ0TOFxxgKz+D1vhx7EHToNpfxKWpv
Kw1LqZWSQxxsSbMTx13bx2bn1hxM33sRYLcxwLvFQewOlsR6jb5jCQR+8ViYfYuhh4ov6aXuCuWW
1OFWKG2Cx8lwzMHuamyQ78iiv55iVnhffYNMZFirVC9lly6+YHaPlFIPoa4Bz5Ug+ZVTh/Nm14bg
i9McqrG2e5p6P8bvIolZmu/6NTTG0isSnfg6+iORPsSGnEUoepO0Qt7WOsiw0c9cyU6Tjs8qcDd1
8hwpD7J3D4V4P/qq07+acoq63fA1goVdQ7Ux+hDDwewLJimcVTKkYhEYSvKf+iN97td0mpeedah9
oeSN0pRIALa83DWNKkBPq+S66xnveMf6qWe1aDXUs+peG1JTV2NmRIe0NoNHxcjMwtsOo4X+GUta
m7MF92CAY4CiRozwCYWDyy9pfSkNi07Cw3sEFUm2T9b0HpZue1jATwYZggEG4NmuDHwlLwiHKGyt
bxqo0m6F+knS7ic+mfKpICor+SFcY4CYVnrmIS6MzjZi14S89DJVd43spBmfU6GrVpyVs7/ghowp
GQYiK6gpAZV5OXfYJW2h5wIyAWIEkHIK5nk1VUugE/KXDO7JbIM+cnqAjlHz7aMtaBqrezFq9CdC
BcKkwvgX2VU4I8B3saAUHBiztweXyyyVaqxmLdxL5cZ7FLRDghR+erw99IUAAXlAQBopsgGgM5pN
L6/LSC1jTG+MpJCIuF+ODw3fomThI5oL1rIPS6t5bm42rEHKB49DvQrk9/e1/LsI7zXQcf//DWl2
JA0hLppxwJCiBtl/CH4VjlQpTC5tehf9i3gbDeZYJkmZeJbE2c7R5TqJGzU33BTtxLF0UhoUCIX3
Rl7bEEv9hBeWZi5RBb1VHmcZ2HHk4i1BD9AAJdNK3XDPoR0/5Aaj5W/e4Cln1Wug5UU3B+UhCneM
TA4wcpcHRMoVbjRhabjyRh03cfyYQDzAa0xFfoglA5W9ndYca2NfKCcBjL7Ri4JG6zW9z8m/zF3B
5OCQt5ZFkInOFlYdVCXkGjfcFj39NQg9Rg1l8so3ub6SzVkI0QE0ANhTQ9QMRt+ZpSyXwzoaBQMN
SZml+XdD2rA62knhk9693t6tSyfiP6au2AgzKCH0Rut7biruuQeCArSMAxhw28hCcAO/JiPriH5N
9IbPQXW5F0aDEGHzhMlzqVlZYmrNu8TxIAjv/W6XAIkQ7rr0FxUA2SltA7yIzQb4t1rY0hXIyPUq
IsUhIcrCH7hI5omOBEC7uiU4MUkhfuRS+Q6QC9RoaOckCl97dC/kFdDhjf5fJDsnneGfxNZZRCuW
EhCXnYSVlDQT7FJFNSVdNYToeliYQ+KITC3s27N9vaSwiVYbvCChbyz/YDTPbHYxcv19HXlujcjQ
r50G0rDdCjxoeWBnRmbXPa/lQQz1wHN58jeKjoaTZQyEmQRyxl+CIlrZuPYuvr4qoKUAVRswR6Bo
oc+nEo30g+ihhOIGCiC43kceErfy1U0b/EmyO+BS/vtZnFYN9E+AE15RsLRqEYD0ITJcEX2aw7gv
d2IZrRVRpzfTpUvBmM6MzJwqV8CCUCmB4apaY0vKXQ6VBmqg9UveZNFTb7wR788gFCtnfiGSglnc
FwQKyUhmzoskGe5jHo84A13m5nK09yDqBk0MVu2aCSZEnS5oN5UfWqsY5IWnxaXp2YVlpHlt6EJl
uBXKmH388tRDr27bW1CE8qJNZul/jBrEAa1Dc1vQTrfX9H8ZONLIAAZg3HM/RFWIACTBNN9S1rCs
+46AaLpX5G024jYbkew0Fd9/4aO6spsWiBGQpZIACVXBDIibepZ1IVpRV2GGywPyMccTCIqAdf6i
JoHqjWD2qEhC5M722a+R4T+Rwt5UR2s4GBawVlBLBMTduT0VS6fp/Htm5zcqUwU62fge8qJ1oP/0
TZnYLZKfkvyhrvLhTKOb73MVjNXgqAcgA3Hu5f3th4CfEb3GYdKhsxDiQRRqm1J87zzDqaoAssWO
p8JZSbpZeahHQZdXuaf9iOedxk2IQ4vNH7FyaILcEegu+Yau0RZM++76C0GJjL5ciFKI07Vx5jR1
SYl9EoyGCyXsx0AIIG1c+cfbc359rWMPKPC+4OoHNHiuUJlLSc27AZeBAWppDqaPqD/yHFK0eNuu
Eh0vLjAqi1ONBt2QdBYyoeE/16FAg4PGFTOWdngR+gDU6nrOuJyxCP3civAgxptQ6Jkg96ZONnkx
omUqtrlOmaqffIgu356BhcsXXWeKAVokNIMCxno5y2pSBSoNPVyHgLlpBw+JNQnKF7xeOW5rdmbP
ikau+FiKCKCERr3nYbZFm+BexdMtWunbWDM0e1CEVQD62QqGht7WDFanmyAw17A2i3vzbNZm4WAo
5WlhcNy1pI1/60EMjA/0WW6vzOKFfrY02iy9p+LJApJ8jGT0TA8oO3XjY9+8fNHI8pvHgTq37S3Q
NOAw6GhCwB8ICef4IY1GYiINqefGTHgWAXwMTr01gTNOoECvkWWjGwKGsDu6d1sQ1dy2vnQSwVg3
dTWpYEf5AVednfZE7dUJp+e5VAtYhtgPXaNK9iZyYJXblTaxpXDs3NbM06J/XhLaNEM41m2o+qtM
n0ptxcTSWZ/47yjiPeAJ5sD5kHuJh0qI50KynoIKOJJY0x88ZScpe7K2ctNum3tKNKvAEiovEOue
7UZSZmiGGjlgZal4h+DEROeKJQTCN0EivNLlO7n7qrqVF9GK0TlFbA1J74IMhec2QwbUMtKixqES
8fIDO3Y9JuiApsCYy8Fa0LloF8KHyA+Dzhz9QJcOy8ORyOOq8gAgUvd1gQPOxsH0JIvvtbX35eJG
ObM1uyQbNSvSSMTE+tnfIj7p6p9S+DcBJ+q7/4xn5oBTj/v/Q9qX7batbNt+EQEWe76ykWTJkhzH
jmO/FOLEYZEs9sX26++g9z1nS2VCxFoH2OtlB/AUq5k1mzHHUIwE32NagPXutbs6hPbSML4l6RHk
k0Vkrnj8hboB0r4Li5Ir1nUBWlANFi06nDtxNIBtUZ0I3ZRjVDyWqCmDYtci90OfbWqN7W5f9IVC
8mweDGDgAZ/hJtJpLTKrnMYM5h10ojxihWP2XpJfevTNLb+TbOcK3VN1j6f7dNSD/F+8+BfWP53u
hZ+ZphkFUgoKNBLxKoCMzMHe2X2QQQPYWnnzll4JsO3jfyCrQJwlHdWkNvKUREj70NqCggHb3l7J
xZuAGXhMEEJiHpil65swwhGYrQk3FiOa823RBENs2n7R0W3XhcNPUfiQeVoxulD4wfbNfxojHlgS
OWBo+sp1yozg9MTCL8AlCnyUshumgEM0yqh+CmdTMj+O3mJMlm2Swq+ql5asSoYuru3Fz5AOsYoe
c2r1+Blpq0PDyWut71MZRuG4MbdDAKY7CuwJqP4qrIqycoaWnLuNyTYUKwxnjuSuF75x4mgoYjj3
MdmJ9BXaVsAYeyWvvYb4hbnG1LF4Yz5ViOw5FkbN79pewmywy6vYaEA3/MHKnjvjrnJ9g1p+kd8L
EfsqWHprNQ1L9GJUEGu2/+I5m4fcNYxfgnRZhjbn5ZioygRnj6FJnyQbt9xiNIVWgabdO+XKy7Lk
dS+NSXGyo3Vtb5LZ2PQ8T3DVR8iE/RsneGlEu15Th09jlClw7Qg3aF0HqfbGdZBxk5eYZj7po12G
AWOv7adNmQf5wNfu0bxp8qONw4P1VCHLAu7N6x9AW73hLLPpKUHtkhs+ADgBZiCAWkLBLTuIbtPy
d6c85jFkjOKNrfz4597jwr78foNLFJOS3KIQwwx5g2Rz4I+VP6qb0uy+q0j+49VZjKU7C3gDrg6w
WsBsSxs7qkmidJqLe9Nb2yw9mdrvqX6p6UEt+JYaPVyXHUBuj4j3KkpCUHMeLXe1cj1bkRceMS5C
B1BToAIgPbiaUEUJzmsFbhOTION31t45FUjHQDoYCVBLDp1ngy+g0pNTUZDvt1d9YTZj7gmAEAdi
iyD6saQ3QXP6qoFPV07J/ay2OGzApY1yCzYAehindOvcxaGShVq/yf1qt5a3LOUUDkINFLAxjoC8
V9oC1vZNnWqGMh97i6cBizeZ8diF6dnFAF1ItYeV712op8EgyGUxDehCeE/ylQO1M55yTTk1tuqL
SgkBcWlHKNI3nkO3dvlXdXtfX71dC5t8ZVbKAklGjBK7p5wK/n0gD1oLUmPbATLSA8vFBjSWiFub
oGZrzPHLCwzgGvDDBDwkcjGbsJjpU9nizQejLok9zEllUygcoMc9cWgNsK6usfjNB1Y60JAQgugK
4Emz9IjkymJctcGpYXJUwF0ObSwGXY/IPIB94u72bi48fA5iNpAhgEzeAlv7tc8SRdtbiYJHtyuc
OwdVCic+ZJmzc6zYJ/qLDSbR2wYXr8tMjQNuEgwM6HLXs0yGphoNDW5aQRsEjSXQz2FAabDuYifD
GNk36K37EGsISQEePBsUzsC1GajgIKoOEu1nHn3Xomd9LQJYiqFB4jkT6gLZPhPIXa8Ei8xY0/NE
OXUcSlVKaOb47z7R4biQ85Hca8Z2GzVbLevDqliDg8yXRt7xS+vSPpgkitqmZcrJplPmNQ3gRebJ
Kr2qM0GUtgbFXNx1MEgY6JcArS53+WNeaxCOKWENUqAswbHO2t2oxwgzMKHAS+gikdU6/MJbgRE2
EAegszAXzKTUKxet0mI/FeA9oKCnaW2Qn12xKeg5p6WHMQlQ2aJuxsCgWhy06pxnh2JYeSIXP9ya
yTEtDIBA0ep6k/W0560S58ppsLZOJTZ2FQc2Wsa4zbX+B2JdK6d9IfABEQdkLUHFCZEeQwoJGgv8
3wMqPtButtTALdHAiRWSB51drBGoLPopgsWFWDnuMcpM198mBpVGadTAFmoVPs7yTmHqcNcBfhU4
vDhGLmb2U16Y+75go8+ItfYQL64ueh1IXdDARYPs+hcoI+Njy1TlRHFyXY6qAUPL6tCCMSYRr4y/
rLiSpZcI1giUhjDdirbntb3J7ceBZtjNJjvQJA2av4blm8I8Q/HBNlMP6be61m1cuqiXNqUdTUEf
1eoENrPas6bSK8MWsxz8nfq3P25pLSEVPRNYo2FsyN/W110nFNNVTrVFX/Oq2JQclJmgPuJvGN4w
RLTSsl2yh2Y4Ou/IPfHYSalnkRKtzVLsXWv7iYi3yrnZklbz1eppyHa3v23JE1zaks5JGscqLeZz
0g+TF7dA3K+506UH9NKCdM+rXNi5KEfl9IMJLbT8JlZCBWDR298x77XstAGWwGuBAicqddKNs2pL
kMxF6GVV1nFwdtHw5NC7sgL/PKnwgITs222Di58FFNrM/44G2yfU8qLUYRpF0syghVM+QZJKcX1B
IQSjq1t1Tf5nyXGhoY7RC5Q5dCigXV+tqiWllmcI8krzR2/d5/ZPtjYJufjiXtqQrlLFcRprFG5P
FPzVNGx+TM7OTn0sYe7ZQax/uB/OWktu5bts6ZgPjuB06mDT1f7y9q/jnsvu9fYmLTrii++S3aCl
KyikWDjeOnyQyg8EBMj6SaU71Ivrj+hlqteYVZcuFEZmARwGngwzpVJI7la9iFtHjc4279Vg0s3R
m/J8jRFjqa+M+BeYdhMFA2jFSi94FlMtqssS4Jyg8piPDiPoyeywDF+fS/Bcqrs1i0vn/dLg/O8X
571qaEmJDkhLlbvgZw47972rCdjd3ZWLtfhp4HsBLhhVd2CCpBV0SiYcJ7bQqnXbIMWUVTz9qvaY
esh7gOjLfVofmbuZ8MiMBBV4em8lr9n0uHJylh6Xy18h3TqzYO6kMBsQrOyjBU3DXvys3WekH8C8
Dx7o0FXohgRDcRpin2r3+CVKez+la4jXpWWfSRCh8mNpAChKF5Or4BXvtYGewCLklSlgoMmxmlyv
S8WKB10qhKEI9b+m5GfHiiYn484EiAv0RR1QkQGXsM+tZIcx1nPvdihHPaY5mMQdcjSNx7pdwdgs
3RwIRMxcP7Nuk5zMNknZmHmO/KdRj6PCQCWx4g0WthQXc0aZzRgzPLDXR7iz7MJ2pjw6Ny7oxuII
DgFvXvrGKqR0zWoQuLB1LtI4DLuCAx6BvWSOl6SJWp2zc/bX2GPY+gySjH0WpsfhEcMU9HsEwtoE
k8Gb2yd3PhFXLyEkTmedDQCHVFBlyR2AaOSJXnU2O4MOftCDGXVgNNAD8cz4vrQ3Vb8SrazY+3TB
l45hnPJeFLBH4hxSlm9M454ynt3mBxQQgzrf18nD7S/8so+ziCuKe/g+1wRcXbqaLRFR0VMjOncN
D6vc2NX9lqffKtd4pkpw29aXTZxtATcEVNTMBiZPJ2VV+f9tAYUFqMy2Au2YsJXtKmZkzZDk0J0h
a6MkdaJzSx+qXgfPJZSKM82r1ggJFg0h3cKBnHHIMnG0gwpVjYwhOg+dHiSYEXKMh2Ry7wrt/fbS
fXUo89rhChh4nyDzZ84X/uJk8EQF9W7P2BkETXUP2clkDFDkCIys2A96fOAc2DZwEWCUB2dELd5W
v3XpbF7+AmlRZxaAoh1Sdgb+YqDpndLtGwtigEYWpA20B3kWkOjj9mcvre+sOkmQYqJ7ITeObL1s
uO5m7KwiuQSrhNGDPIrerfY2l+3YINcHYA93Yf73i9XtGgxdm0PJzgbfqdHHTLwC8gr2j6l/sYlI
z//XjOTFkgqjspaAmS4awzKGml4KZrS08ZsKPCxrh/NrwDabm+HGgCqglC3ft7KCJjSyMJgTo0/g
w16TuPcoO0VOF5rPo/IzTcjKHf8Kk5uNQkUPuQNS2C8I0nwcK8FHeGqwhW2VXf8tuWd3rDnpW2ut
tTb7Jtk7O5aDEv0sDIIK+fWuVaXoBkZ6BrZhDKncR7gIRxo/K9qWrR1Ed855vtiazwY4TmZIrrR1
kWI63Sg6dj78fLO9JjyfiXd2vT+bzflug9mv8+bsPYaPkGDwHh+TYPPxBKJDH+Fk8PQRPjy9PZxe
PkBJ6N2DUWd/8l9P4cPkn1j45++3H+7dt8Po72yv9fbgv33dff/2Byzz3/zv3/xwv7JBSw5/rqP8
z4dIDp8XGPyz5w+JTsaD8Oqd4U1rBZN54W8t1uxKLq5Tqk+x3hUDbEQJYh+rtRDoRWtBwWcQ9dUM
nmbE7QCIyyO8oEi06hR0pGdiJp5V/OqM2GMp0Hfjb6hDT0bsa9mw7coQdbmq34mp9sEg6qvpU209
5hDg6ZUCA2F6AMzX9rbjmp3hrZ8mHU2MwABvpdRwXHtIJ/1agWIsri+4O5EuG/CMcrnPUgYeJ2Ri
5xSEfSnHdP9KxL5kAGOrEJWdAzy82Ncb2Pap0fWFi5vFTbj2Cq6KjXUV3F6kBa87S34iEoDoDmJU
KWm1ihTwduogqHv0HkxfWwnCl87H1d+X6zE0Rj1PzH8fU6cTy0DzT0JbnNEw8OzdR2k/OSSw4h9K
xkH17Q1GUI5eWt6p5C/jHFHDv4CKomN2+cna9cJ2ojUrZ8TCdl1mnJ3SJHc67VemzZccP3oQ6ETg
+8AR4EpWWJd3MZpceKpThuEhUATuIB6b6N8gkJ16yLrWpum/QpTn77qwKJWMelu3OaGwOP0GHNl7
coKn9/ND6qd+4/9UMAOLNM8T+5f713Dwwz+Ov/d+7fRh5dZ9nb2UfoZ07UBkIlKmU3bW03vVgVYF
RjAnFDLnflPFLWDDj8aYBNxuPbt1DkRn2wFSFuSgOH8EKXxzfC+1VxY99QMGNbddErQmqLpY7MNL
wAOtBN8LD9jVqknXLMn6vossBQe0AvegGiSAErZg63D5S8ErzJAX4e0bt+D8rwxKcU6aRY2aGVgf
tPgemEuDRj24lAVKsXIEF4JFGIIeOTpOYMaQWe30vtFi1qaQilNfqw6QzDzQCfjkmiDTIYVmvprT
z9uf9tmvlFzuHHFgMgcpL0afJG9iWHWe1AWPz3r9kzjw7ERAD5tpW00BUTh170BPFrrKcGfFz4ai
+K14mDQAg/o1bqYF54kxL4JBr7kpBODR9R1v4lptigjfPtiEgUZyBGVkVv5jhpf5qF9Ykc6OyNUx
F5C2OnfJm7FNzG3Lfog8BGX27XVd2klQScAa5lhAWyPFC3GLnES0Y3IWE6a8TkW0p10O4szuPc+Y
52Le1Efec9vm0r24tCnFD9SisZIpsOkifsTQa2iEUXssmOlDlOGfmwLCFrN5EATEKPR8Yy5CFasa
Y2SIRXImwu9mzfEQSM3KeKDiqKyWhRbdpKmhjgEWLXRlLenDuq4jICoQsJapoQIJxy6Ze4P9k1Ju
aUSOcQftVSjpWt8UtqmAsagxGeXGT0OCJe/7U9V99Ir+O3s37pvGr4dfUPit4pcWjcYBwU/S3DFr
Z4P3Rtwl2ltirNHvLPkPgASxXoi6kTpI/iO2pnZSkio5x5PYohEGIJuV3WcEXJVrHfylWwRKHYIj
hzl6II+uN4aKOOWKy5OzFv9BgTlZK9MvnWsLLVsgBD/LZNLfb6p4NN0UW+EiMFW66S6ZjhW/h/aQ
B0xiLyBBIf6x9iRuEcpJGLZHfxoBj/QuJ3YDdi/IO51zCyNDeuclyR6F0ZXbs7hyF1akt9hARoSe
UI+VsxLXy4TzB5X6NbG/xeW7MCI5OSxabhG3Tc5q8XfIjqYbkPyH6uyYlXpO8ZqsTV8vxYqgPv6E
cwD2/5mfXdxT0usjwjksHYkClt5zNfFsA8xH+Ron7dIRvzQkfZgYzAZCkzCk2d9VswmJjff/HNvN
JjeC275n0RTaUIib5hKqjFXElPAQK1OD2yTqQOse3RaNXsV36x+J8nHb1FJaDj4wgPf0WVMc5e/r
66SCxA+KnciVtMh8yMZ859SqN2sB0XQMUzoFugliY99RnuN4Dce9sHewbSNHQ0wwU4Re2za40XNF
g+1OfyzLXQ6hAbj0NYXwhdW8siL5JisaFBeVfHZuHVJ4JZCnVnKvQ7B6mKzH1LhbWdD5R0vhBohs
gOpHLxvDabJI2ajFBkdlPT63iaYeaMqrQOU2SO7LvA0jlfPQ7PtpO5AKZLqlTQ92EydHZtl0g9Gq
HG3Oovgx9sg8hd3GKydr4XZCJAnFf/joOb+SHA3k3QhFKIzwy422DYguUFb/I4zMGzKMgus0II14
g5z6r9uLsrQmn1RNeLxnGLm8BQr0zI0Bj2k/lE9pmn3PQQin62tR7FJ+AyL0mXFuhnbpcpnc1JpI
JHbKzyDnGbeg1q+8dkqgORqdFIAINBEh4Cs8qB61iDzLNeXbhc+E7CHu0H+otuRXsNM1Pauyjp9r
cN2ng2+9ThCsvr2UX7vI1qyt+F8j0vuUTratCLfl5370qhE074bigXO08pJfRQDusA0Lb1tcuD8w
iAlbzFqCnlGupiRqHlOKeZhzXTtpiMOiHhuHuIDM5eynTZrqITKyNW5R2SjKk0AfzlTbAJ/gcZTc
ErNUmsWgvTj3Wgcc79aOTiZAaJVlbxN9pWrypYY+G8P4CgibMEw/Q0uv/ZCuMGsSOoxF6mvZgvua
KJ5WQtEe7DbO2bWDjry2EKjKVI/axE+tlaacfG5m+yaUPyyQAhkaijfX9geLukNeU37WKfdQzR4A
E0nNf2NkZl/BNoJMXgZvZGh+uCkQ4+fabDzLfBlq4SmrgquLn3JhRXolowlyFmoaZ+cR/Zse61fM
3B0g7r59Jr8kdfOS4T9Az+fkA9snLZnRN0kvCD+nKdk0DsQGWf6MASeD7sjeJlvVzO9I5mwMRUAp
pAHjHaSo166inI58/giwHgJXODOIymhwQmqlax0sKRCMTiBoAJYtX/hAv3vK/vufP3+zcw9kx+1P
X7oZs5ICwtOZckLuIKOtGmUOx2EpBHsE0xwKnTifdEN4WKhriJ/FqzGr5yBvRvEez9n1OtupxlS9
nj9xglJHGXQIr1D0m5vkHEWJJh3uYnfwKuQkEyQWSvY3A8/xv/hiDWnzzFwCqJb0GyDGQqsamjhn
FW+I7/R4ViOER+FoY/aYlg31eDHEu9tGv0wJYXOhpoHED1V9TBbLTRIwQUy0d2DVBBuLQt+KaacN
xSvXfLcHtwdY//sAjJ66+66aWeCNAqoZaHHr5krF5Mt+z210gJ9mSUgHOdb87xcBrtoWlDNgVb85
uqKGKlV9C4qh/jROEQpUJogwi6zZ3v74+ZZexjAgc0ZIBvQqXmuUaj7nbC9sKiZThlR342+FGFnQ
MI0AV69NKw/L18M1mwH3Ht5LHbQfMozHqGdCLgNmQNwi+g9RVr4+kk0u4o1Vgqagf6nEgcUd2DFP
cXUSXKz4xC+V4M8PvfgFsucFos3shRN/sziYanigjIcuvTeN8hXdsLYjHtqLfMigN/R7wFAD5nr3
bQmyM8sT2lGhO4zX6Gu/aU7Drhb/s+yAlxbxmQ10tnTcywkE81mLDe8zUtzFRdJvU07IXqcY0K6i
WvempCEAtRIBXm/TOqZlIQLRxNpGhTLqg8GceVZXiH4/CTJ5bkq5r5QQxVTxeAdlJn4w03hXWqjD
V26chIyhGHb7AMmR/UxQg9+P/iKchqnJOwsx2IqPFhfHltA2zA3VCjq8QNtkSCAbAQ3Zu9v2vtzW
T4MAhMENYxQJ5+b6lpgTY4oiKnFkaF/l2aMjHjVER1392NWDZ3dvdU/ulLzf0pfmrmeH1nyH+5qY
vfIwfdaFLndv/iHgAQEZB0EvDb7j+odEbpc7fdGII6Q97iKyF/0LZH+g/F0xP4ri0KhA6UcPbgdt
bgX6Kt1DxEL6wNv3yOw2ZXTMDWtX1K+YPWT4PyLM8XTNefxhKWTbrxF+fhmY//y10P7Ej0GmAi6h
6187xKjZCT6II0o6+6Hw3NYAdbLtjRwii+IpSlto635YGDpBeXiv51PYCDOA9kZm3fXlPqtnkvUT
a0w/B6us6X43x2HmNF2Bv3xmvPKqYlbhE6CFwF7WwFHrWoDxlbdHbmfl5NW9WX7LySzKq02sBYYq
UmMj4LXFXa+NbHbQRh5Trxog6q7G6HQ7GJkFbaFRa/FTVQJG7Vmt4eyTig552GY1OSVpixnPiiY5
UFGKk/2ekgjw9TJqk99VZfYReLLr8jggoXhjaa2ieKvVyRAYuXCmTa6nOhACU7ZGxibHGPMOGah3
4bXHTA5mKK93yDBi0E6ZqDo2YC8taRyY3d+cvAk2gkzk3lmblJBfm09z4FIxMKOJudxPl33h+ck0
tlZkwxzgWrTCSQ02Hvb69m398k3gOMdDiPE8oHrhKKQg0SIDqKhZoRyjmB4zTnH66r1tTodUORqp
QO5Eycttk18cEkyio0gQfYIWAkJZ18vIpkiv0dFVjlayR6/3rhfHASlibDzftiO/nHirdWzI/GU2
kA6ymB5po65LcXJOqe85K77l6zegHoSZMMRjcKrI4K+/oR3cyrZGZELKVHvcqXd1tYcuVNiV40rw
I0fx87N8aUlqkGZln9cNt6LT5Ey+pkyqp/TijyKclT7Xl9Mm2ZHcD2+qLkKnCHaM9h6BZlDm0cGM
MowCJ795vdY+mF/OKy8CB4cgcib7Q3QHtqrrBRxLI7WjEgtY3iOYOQ40ALeK+YzcoCOb2+fg6xG/
NjX/+8U96vRCb1kLU4zTff+oVyFtj2n2hggP0cPK4V4zJkUMCilsA21LLGMe7x2IjYAL3yszE0PV
wII1kwcS09uft7BxlyspVyitqJ1AxgaLRvY9TtEhcWgwgf4Aw7cs+nvb1sKxv7IlHcbOahUjLd3o
pAKYEfe+0d3nyDRGayWxWjj0V3akwzjEjd0ZHHam4hXoADBfaxtSrpyLL+UbXK0rK5IjQiw9gFMB
VnrlJbacl45mP3KqHbQn/q0yAiWKH7UcM3Dm1EIBcWUu/at3ujYuOd6pKF29JhSn0n52+48x+4e5
yufHzcBfjPYhcv2kbLw49VZBaZ9NSnTiLqgbBmLG31tL6/2I1OWmq8riVLXDWhV5ad9AKgBUA+CW
4C2V3GKXKdPYx4Kdeq72XgJk+z6zxxxPsrpmasmBoHwyB3eooKDbdX2rLauOkRQ07CSMKlFCcFMg
mi2aDLhfJFMPvMmiGvySVTFsq6lqQ6pG3RqH4MJ1mLMlCDhj8M3A6P31b8g4XEs0xukp6vv4px67
wOu3tA/JIBR/LOtmpRH6paiKTYU8rwv4HqZ+0HuQPrqwuTsNrkhPQwfZPY2C+xGlTegjRnUfplO6
TSj1Wys+aSBdu331l20DVIcpD0QKQB1df2zVjIY5mSQ9gd+Y/0jcQt2OegX1N1dP/QHob3BFECWs
XOWnIH0fVFURrbyFC84VYTyqkaiaQ8lE7s0Ju0w0ZdDTU+F2VbYZpsn83nQ1cECOy4pqwyxD5b6e
V3kc0DhlaxM8S/bxTEJDBD8Dk5XSfgub5oqVT8lJHXVotiUV35pt0z2rWoQhFOTnB5UpYmtbmbY2
ZrNw1DD8gp7uHHGDUEu6WdWkjiRt2wwc8SQ6F2Bw27qipkFeOJuurozt7d1eMoesF5cL3AYgIJcO
2pi0WmPXVX6KphxsZEhni6z1K7hizBet6bNKXgNSXmCsANwcOSO2FQHb9clCsaVPXdHpIGsGNxlF
pK/08aZzo9K7/VVyleM/lkCjjWQeIq2I364t5fUU8SSztWOJ8bmj2Ym3TpTA8+RWucmK6AFz/m5Q
KUTxOxv+JCWgckDBhHnTVJ2rWKwlfdIj8Pl75ll7FHjQ3UFt/fr3YDoXgTBV9WOZ5l6dfej0x8oX
L62tAy2QeUwV4vByiRIi9zWUo4iOnAWEGR4BUQimj2myK4wRoBe10eofcRX34CF29Jh5ullzLWgb
Hol5crEdwr4VgwLuLUwI+RzaBFBHbEX2uvI75/N7EQ/OK4EJsvnAISeYS//XK+FWA8N4vgVWyBKT
KSB5sLdtWneHIgJ36ejqum9ONdRzdbBCk8p5x0D3uBJISWf+8yfAtaGyih1BpUQK3Xoztdu+BqFg
4vzS231UueApzzYZ1VbKStLT9WkIKReCXtT0MMwmPf0jxaORtI1xbMsxDw1MdXh85nmvS15sTbVM
whIK8xuFC7btBn0t9JYL9v+xj1QPszKAbYA063qtI6VMatINxrGIzYOB2ZxETR5G0ewGNT5EGNnu
9Dsj/hWDcKICajsyCSpVDx2ioNubvnA2jZmrGcNexMZqSO7UpubQot1lHG2XbzD2mXm2Gx9AdvJ0
287Sxs6v8zyXZAISIzkzV01FnWileXQhSek203ZUeQhUH8oRK5YWv+jCkhRRanHtFJFTmEdwygVc
vMRZvG/UlQ7uvCzyVUF7DCsD14HUUHIamIKkZgQMBIbSGtQg+qH3kT8/p3bnIPywLH8k6JDdXsKl
D5v5EzBMBpVBIKOuj4yR0wa/0TGPQ18Zu360weXocGNTiopvbpta2C3zP603gOcQukqvAWe6BS4j
3ThGZflgueDlYOq9Wf+p7LWmkfScz/fARAcX1fwZLwWJguuPGsuYuQXqSUduWnvF3pd6HDA19yry
rtcf+dqg2mcjTNo4FFoQHkGBDIVuGf0IBp+ubMVoHjNzUtEpiswRgg8uGTHtPg21P1TMPUSFm/50
shzsJAId2a2t5AmYxI2qaHY9Gc1TRdxYxRARahs+N/UahBl0inIw6Qr2x9AylgbgQO/BBBRNIHC0
7dLy9MSO329vk5w9/Wf1MHCHT5pnLWRwhU4J2AhizTyqo69VGMalo8eVdFtGr4Oj+gmpg1I9tykB
ywqQxeVaRCTDZT5/wFzhRcUUXVSiSpfN0CtSO7VlHu0IgIKCPvYc44XNC8TNT+LFVvdZ23tCbDhb
V0tYeK4wIT4ryYE7/Gu7ZKhSpPmTbR614Vc8ARdf07e0eQDhmV/GKHLriW9pEImx19pBC28HSKYB
okXOoUNk07g+s1naQCDExMw/7QCHp0PUhSwDjX7eudMOGWcROrVDwLlaDpHH3UEPb2/7giNAdxwT
PRpmEZH1zP9+kVZW+jQhvuq0Y9vWegDmOh6YiVv6VayvNZY/v0W6L3gbkPOATBl5jzzPQ9lk6iND
tJZMSagrRpC4r1VMz2mJtq7uj6wJU6BH+qiDkspThJFPpdsBNlWapzL64OPWBSMToQOI9PDCAjSo
k40tfDfR724vipwbzUcRiEEo1OE9m1VYJfdIbYy+6BbXjwZ5peB1qRr3T52nAdhSG5IFbdlt6kHf
NWmz4izlZgssw3eBsAk9aBN8EJ9v/cV+0AmyMgkCJ0S00U7Toy1FJ8wwfzolWKm4Zzn3KnrBRmpu
bV0EtN2xWOxoPmxqk+04sx5vr8TXt2n+OYg08arjR33Oul/8nBiQygxMLNYxicMe1Oenkza+FGsK
CItWcJdm8QxkB/IhrO10MlmtWkfUKwsfXbp4n4IfMwSWSN1Ehmb4Tev846cd3de50T9DiuDDpWdp
1BOnpDS2j0UzoXUFegAwQmmZl3Xgbby9iF/vOMrVGmJ1QKMMHeWb6ztWqyWqG8JAN7F2/ZLr32ow
cvZZcZoGfeNErV9zC9GFeLht9uvDC7MgWMBoIPSVgTG4Nlsyk83kRdZRyZ/G+oENv3l0bOBGbptZ
/LoLM9Krqyk5H9XIsY56UmyKpvwgEwE5c3tOeuNEEYmyyAp6ZaXctvZx0g3Fxc2zFiHAEe9quhvs
o7132EprbOFYzuwoyGTQs4FeheSbO9bW6Apw+1jVvb3VmBUd2ADtGs5z0CAppQidslmry3x1yPOu
/deotGuCTZaNgTr72KFqEACkDW2prvgZVVSEtzduwcvBFKCKyJsBiEUIen1AoFQ1mpg6s465+ws4
tEcbwDPV8TWu7nLtkNb7ju1YuXZeFj/wwqoUvVdlZ2bDfBvgzMEii1gX1IrTSu43b831UzN/GiqD
KJgCtCgXt0oQUrEoQwPfwoT0tMM41u21W/6I//596dBbpWE1Y4e/jxTP4+jmkh8WTf6PRqQzrvG6
yZV2vlkDiAhsC4ob5n25hohe/BR0bsBAjM4a0IXXpyByE0uBvg6crxtFIQj1iN9m+R+wg3ab24u2
uCkzFs+BXjE6+NL3RF05VNB6h5C7ydOdRZLKL1NlrT20ZAU1a6ApZ13nL+wKTqXWKeZX7WOfA+Ph
9KQMUK35hyLl8zuNpwqdfSRus670vKoXD2NqTabFqHCOuZo1YZ1Vqs9d6CIBEN3swaI/gWmveufM
XqOj+prkwBnNYHwMYCNKkKsaGdqUo6IOzpH20whQd2ZtCGBKAVRLp3BIbL4jQmu2ZpqvQYBlHej5
m8EfBuUyhAQIjWQspa73OeqhvXM0y6dJBR0W22Rxv5syDFbEb4ObhCnZGaYSdua+m+s6QCI7Vu0l
xui5TbFjTrNHb3cbq/HebkCwbfCVovbiT5zHPRCygbsBtdXrbYkynpR2rODeC5589FFRPrWKShG4
0epsKAYwbpWeYi7OMralNd1Xk4Uw1AGApKNECRymt5uK9CbmOOCa6sRwnhO3t/zIsqqgJcr7kE3p
Y6wq/crdWHhFoQcArRUkP8jL5VJ42ZaGw0d4RXsimBU1AzUPiu6FqXdT8VtUD8R8/ceXEREJQiAg
YyELILcZx3h0y5Hm9nE0FWgZcfuNiswMbhv5HHGQ/DBwOgDrAO2He+JIftKuuqKAIKN15GN1LNww
sw+xdhQZBoPTyYtctpnGd4t+5AnzQDkRdaeRikNknXRankjeb2KnPzRIh2rgsaBW8NQ6u0q7L5og
d6E7HsdInOuVuMleuGJYFKAnTBwh4EOku60YZdNQeMWjOpECZxvd8u/Eqt0nUHGJzAd8T91qrd1l
QZIZuOCGxtwI9LX5+Lc14q71Kt0i04aoQ5x5jFXFK61d0PXYGlWhfG/z/M4yZoZ5BgyoCLRMqU7M
zMTvYTLBC5D3aawHJJ2M30nrmizQ9DhX/QZxeBN0gBWBj7oQLYfeUpr1QcmSNvP1OknVgOWj+2ZW
DfTtTSWrjtRxAc2pI6pVnsZN3mLSTpt4wNwRgggORGKdkpOfBkspShCNhvpFYaakhS+jCrgROEkT
P08zd8ud3niJJr3uPXcw62fBMowD1V2Tv3BbIFWLMH+JpMV0W4+TqEyDsq/154JqCiCebozHscnG
pg3GvufR3ups5Jc1wEZpaP4/0s5suW0k29pPhAjMwy0AkqIG0LJkl+0bhF22Mc8znv580In/bxFk
EKE+1d1VvunazMTOzD2svRZaQ9GB9p5eHpu26X6IvSDJO6GNCvXAsEGFoqxhfNcDVDnoEWl+4Bhd
Pg93QWEaSAHMslbuUqXMX8ROqY2NR1haR4EMnFCVgwNGpLnMzb2K3oV6VgSBi8Wrxxj8rZ4E9TKn
bmolHbtYGu2ko5KqtAK0WoKgA+EKrfSTIchmYiNQND0UCJI64mzKe6UfYoRme2n4bdVp8DWjwfnB
mBUmXOj+YWHgRadkse5A0Gi32rkRKOxFYnkAx2gdpXKMXQvi/4dokNudH4ofDZT/16gFPnAB+oOA
P791xVqKxKKP9Kcpueu+moXqzsVOavZt9NFyxWLJAm0kAh/ma6zvk1oMwQYqJTmNBcVQqH+1qu5I
XeiD2QX9bq5G8iYJPrFlnPp8QSjjqqWYiZSDGGLnk8qQ6ZvDQVGajQvyoui1WOKK4TkhF0XmfRUN
p3kJh2Dfak9T/HtsmpMSV4ehf4zyzG577TSaykHMn9vE+pnAHnf7dl6/OUtXn1o9zEb4Citd2dYq
GOJmn8jPn9pDKMf7WqntPNfuDeZ6pIj/wUv6QR4+GKLPja58RdEC2DPg2XhSwp9h+oVJTC36aA61
2HiD9snqEgOqKxuppTdJzMv31FWxHbZwnQqNE6jjxv5dRBvYQWsQDoaFFkSH+O3cTbou9CXIqMwn
qcjNQ9qYojcwy+AIgSzt5a6V3QCkF+T5VXOMQ3P+1uhNuTd761tiyN3DlA3S0+QTKaW1Vu4nrVWe
BF2PbaFN4qPaZ/WDr+X63pfCcMPv1ujs5TOgyUgkTs1cIWBaxeLR3BWK2sT+U5QGtpLQFQ4FpCMC
cS/6j755qNQHqzYc0WjswBceh6neofNg52LnlJmrCS/GEOzqQLLrMHVic+v3XVSjKf9SJkT/hZ8G
mOSiNQ/JjEg93X+SpD8hHzGu9lLznOzUKnBzcd7VTH/pUGvUUvNYAEO+fTLWOcRiHWyBQVONwg3D
hucfVm4ZtEWBAQRlj0pYEQmiHfr6RgR2dY0QKdE7WM4g8LRzK4IUGmUdaMQZQ/VXMcqdFct3/h/B
dwBTRn7zqgXDXgukfdxnThCLr7cXuU78WCRwAAUqGypTiCWtwpywkGn+EMo+mWpuB2K2F8PYRQDA
+b+ZWYWAiu6HcF9NwhNc3XarHYTytxRtYcMvahnLYmQI7iHAABpKA+h8L0FUqkHiW8ITg3QHeehh
uLT1AfiB9r3uy9xO4bE2y9aBJmvjxX1LkN/HuItphbYTiSDDieCIz01ncYtuRQ4u1ZcOTJ26gmrc
YV3TP/kQHEx+bcOi+itV+hcB/osuU/8F8Ny2KiHaeC/nOgXsT1HqmNPn2xt/EXy//TAGZingsznM
cp3/sJASeaJXWeD1zU4ZPAPGOAUsEQTQqXY0QKILvRvknzO5tLV031qxLRefVfTZ+9500VqSapRz
4i9xsbOsz129l+N8V453cdxTh66dqLw3G3UDEnX5JpEukGTyKi7k42/R2Lu8uujbWPHlkt8s7CcR
AJYO5N/uomJXxIZjimxdadqCX2+JCSxuuP6KzEqgX0NYQft6vVlhDByKKVbPimRvMAYUyiqPcdtd
km3RLFyaeuvzQkbBHC3323L7vFtjKhmBlIZ94lW+yWybEe8bVZp3Qf5jquf9bSe4YosVLZzxC/k3
FYuVLSoXUqbOqVdB62fT37sLcv+eXp+jalvi8JffDvz0O1ureqIhp2WFUEDqzVPKEIDpD24xTa6l
NuY+D81vsaDO+5ARxmMgxs3df7FQi2ANThHaM+vAt/JxJyoXKdPIj2Kw14vHtI5cq9vqYl2J2DQO
FLcMw4kQda27zFSz68zK4swjN3M6iCyK+kup/qXwsJvp9Ka9PYSHKhdcrTA2wtLLZ0mzSNoh+Hsb
gBFXz5JijotuYJB5/LL2Ja1U6SHTEuX59k6u099lwp6Ql4eJyRUoNlcnoZp93zTGJPO03o/uRzp0
TtgbJYCiEdWSASz5l4w6IvxSCO1tuOs12wTD5HMLZwK9sJW7+oWYj0KTeT4DYVBuimqVOFBrOD1S
t4msPJdK+e3jy4XzhLIWvrOQn5ybrGCmF6xOybwAXG0047PKwYi/sc/7BKHTpP96296VfJIRepNR
fZJK0PKrJZryVOTKyGhP3seKSNljCFEjKYtxyD/VDPLLBysx5/oOtFFi/r5t+5oDQU3G2DcfF9WK
1W3QTlBcNc2ceXM2AYKbWrqnCjxRH7dCX42jQbpPbLHcE+/uN1lICjBJYuYxb5Jxt4nSySqlaXfb
ypXwCewKY3CAZ5mC4604NxNkg5glrZ95dBZthEEdBDuntL+D9cMJw3EvaMGu1e0wM18EJgRScyuy
uRJEIxMFhT5B6iJ+svZW0aDFYGlThliUXNiiHrf7ysg80ch+yloHmnecQzspDK6jsfWdXJ1/GlV7
F9fitPebRj8wIPY6ctSchGTMXjCKTtDK3c5QMnUf0Xo93t6za6+BuYzDk6gzTCOutqya6zxKEn5w
awl7faHL4oVv6k+MAG8c5GtvAZxLHGPUDIBmrnygEq3EqtRla+q9Lt03h2AXDfdxfsgZpd6I1q+t
CrwPSQL8PpAkrQJZSNjlThT7zJM7P/lqdnCsFak2fhpSS8XzNHnD866dYLJlzjC600DWV7mT0SlW
rmecIjH9Y6GMBfYHvbJquM+DLSitcnVtOiBxCu4U+y/muVD3q9RZYB8joXxO+nB4kANJvNMCK3sM
oahy+7YoHDFDqM3KBG7ptMtd0PPxIdbrYq8omfVIpB87A0OlCCBFvZsGtfCcoRJkJ1Jj3k1Wa7hN
E2oPgcasOe3bU4Cgz06N8xJQtBLci8qgQ80EE5ZqMhwntEXqFGJd2SUFweMkNyS6UJPvqer5dwFD
Kxtv+7VXgRIc4izcJ4Syqw/cp+BZKSnmXifMfwj+X0NGBCUp2XOGHBV1tEkE0/vxo4IOGrJGTOot
XN3nt0smmL5cj3XuRZb0UMOjNwuPapg/Ge3324YuvYkbjPuYXBOSafz33FCCQiPDs7wHBUGT2O4z
KXVbLg/YSE5ZP7/etnZ5LnnUJYBGlOkoW5jLC/HubvZnckpLL3NP0f/tjbuqchLUZ+rhrxqkDwwW
flbVL7ctrgdhF00wmkYSqGUE3ojMVgsMxjYaRKZUUJXrC75bN7UFqqCR9bsNC7oAhYTbOL5i1QU8
TAYsYEOTCiclHIt/xKTQvsgG/J0MGpczFJKFrsCRICbKcW5z+XsBD9uLFWrVzwAUSe+KWRaM9qSV
2o9GH/29CoBzY0HXPhjTGqBu3vAq6+etDxjAFpIh95YZ47xEUECrwalNr4k5OFoXb7EOXvtkZHH0
+thC/lpdN2MYNAmpVwGYQj9OT7X+FOSw5qGkHPriHdMa+44/3/5olyduYYtHBwSo1ptc3bmbTD2j
ReYU5J7OBHBp7XP9R2UW98ASmjDcWSTTt+1diaoxCBegxrj0At5c7sF3fmlmcmSA0GbgWRRaehHo
dXzLAOjfB0Ppf9FRlemdTEnMlxC0uU6MllIOHfsirNxQQ2/1v1m/vqBm2AEmglZB2jynFnV+5iXQ
BkwcNaZLGObwzY99Am9NZRXPEPNkgNEEa8Pycped56FsBPS/DCAxR3mRh3Z0SUQx4YCacOMu1PJJ
clBC8cNpNttMoE8jiq3jXTnfbl8au7Hxp9wbpLtBBMIQf+5p9QzF7BjicACRtaOs8UFQxnIRENZD
d8SoxuLK50ZlK+lTEbkFTxk0qiQnsuONyPPa5sEVs+hOQV5PbfPcQpUHlh9YRe7VyX4oiP2Sp3Sz
9X/t/CsLWhuAAX3mdUodGujIELMxS1PBw8mMRSV8Hv0XHyRSsCXjcvn8M0bDw8e+4dbE7OcLaoOx
UqZRYcuUdDf3KgFux0DUvJP7ZmPA8EoJjeoZZRe4Y6mgcQ7PbUHOWLchU15eIhQPfvAill9EFWqf
yCZyy39O5o/Gqne3z/3yQdbeDjpt8YyFB+btN7079lkvN6AhC2xmg79vGFR340Gs9retXF8aJHgc
KR1L63ru1I8NE0RN4Ukhg12Am/tPYV45/vSa3xli6ZamZkPbfNvqNWeEj5EjzPAJz+3qSuuVNjFm
2Sw81Xgos9dUu4ekduPevHZPv7exehuo4+R92FuF18STLYbHuTzkkx30NkgGp9uqKF7z/PfWll/z
7ms1s14bMBaVnqWluy6RndwobaX8ipLYnaYUH6528KmIVRQJ+lbehtVhFoduUQQmv9M0wCIxxLuO
GZhbHbgrJ0wydEZOGYsjl1xXb9NRqto5T0ov0HOofGdDQfDP7+TDNGbRXZ6qyufbbnHF5VkT2bFM
uYFq2fppseK0zNOu9ISiDPcBfW87Qi50w/muWOHhAgVF3gBf3/owjyhQxYgW1546yv6p7/QFrChs
EWZdaY7rNJllcYnMabStKTQEQO1JUY21lydUZYfXcgwfE/FVrQcS3PJTSue5Vabj8s8wnneKvjQa
20Og1siy93tK+a4fqhuO8wYkO7tVqDJSzaHex49CgnDlp+SdvdawZq83uvF7OiVR7JRxTz9umBC+
aSslEp2OtkDsKlEiwLyl6QdVYYTOlbqs0uzR942fCdiIn+3ky/d9ULWyjRfWjTPFk/ocz1HNjEJt
wS8jDoWxU9twGJ2qboBrTlrVMiChyepvoZPVYC/4cYuYZKAPf+LOHMc9wtpD97nI9Xa4q8s6UWxI
vprGNgZLjnaB0S+Vy9xP+GMw6eApys3508vqybJHlNgody8yOmtYg5xY5WCVoU4UWylHPSuPvogc
8dQM4jEH1egYc2tMdhSGjWw3daAwwCnODkKZEdQoVbqhIX8ZAPJqL9NIQG4A1lE2Ob9b4iokFwV1
4/GZWrtIlWORta5iHaRUcQ05uE9naT8z7BUk8fM8+BsB0cVl/WaeYhfpJYhYbeUyUZ5KZofiuTc0
wT6vdOipusgJ/SL66I29GKJqgGsunbc1HXVVxV3cz6XuFWYOGCaDD6gmg8jsut1LU/s4+O7t++bi
iTg3uFZ8sCpLAeZV6B6THnYn0cwpn4ymdNE7so3kj2B9vW3v6pekbrykDlSZmAU+/5KRaYTtIHL6
AIb3O9LD4kGJ1L8z/C17hgngCoyKWX1tKiYW+lxBjnQY9IOgidV/8U1BbfNR6c1jZ+VSWRaqfVJM
gMlqye2sgyrtKNZtfM9rjkOBgGIa3WoyBvl8tQRomd6ObG8LsLGhw0lPnHt/4zrfsrLa08yiZBP4
OVaa+5aippEf1C02vEtHwfUphNMopN7BH89XohppCFxPVTyfkVFmAWXpDsmpsmYCP/0qReaGX751
ZM5vaU4a4yV0UZbTsC58hGIb5bUWqx4hVOaAA55LBuM0cZdFz3LyaVK/i/JXkRK1qOZOS92qhixe
n8WnQGV8KN16Ma8t/93PWadELWTGStDwcxTlUfUrt9AfW+sro/Jj/DDkGz2Wy4gUmBJBBzACPJRW
x8pt8P0kNjTB8LJW1B/HJDfsoAQO6RPN7UGb1ug2QmkW8KQ891o5OZXhx/vbJ/UiRuA3QOeGRC9d
QCipVoUZWQkTkKGG4aFs49DpcpPs28ct0AHgDQaLptJVOncpM1aN2Job0ytFFNoTDjuEzaW4cQSv
fDk6AMBLqccsetGrdTRF0xUze+0hzrYXlD8AgB+F6Ek9ylHqkqZ/+FqhIkIHBeAGUDfFXMXcfSQk
ci8kbJsp3msyJfRcGxlY1LfEli4PPchZcjL+DnIWDO357uVyUkpy2BjQU/QPedOidF5Ez0i+bJzE
ixB46Sa+s7M++HJDo0LETjLMtpmGJLVfASPvyuHjj/xiCcgJzQf+9BaUvEsgIlzc7KUJKVQuhb3Z
NYotBkFqd2CRXT/1hWPfztDMSpHmDv4o7Lsu17h+cnN32zHXIq18O1q4ANn5hsoShK+SXTFuAbgG
vo5YqIAcXOtk2ddQ3uWZ+uozblodjNmtyvEUa/lLOY6v9AcXwGuaVBu/5KK6t0yG8VguoQeX4Hoo
Qg8qELHIannkKPSTpbw5Vqkx3E1KnuwIvHuGT31pX7WBcfQnWTre3ohr5hkEXwhQgMtTZjj3sVCv
ytjKMS8MluZSanRLgzAwj41H5CuPsyjYem7Lgrax7ItU8g1XxRVIYXNBoK3uv6YuRC1WNMvrfqJx
DQLFfxhVO9uoOF1dHXv6/6ysns2Iwx8FixXxWXT6T92XPnbok/yptvo0y1FcvWWLaPf/N7Rcte8c
Wxpl+D9nDCmFTanwa/rn9me63C6aA6TBFDCA2F4o/MU8zIx7aJ2nTic/+qZRlIzmP2Z+9LWN5Oly
y+Dh4daHxB5AE8wq5yvxJyHRurkevdkqHEno7A62dcH/hxJrNajUPgVHF7dK3Jc3EEYX5BZKjdAu
r4dapkEJBy2QR0/SPoMXI/p4MtJPub6lmXVlG8mFF1u0dhaO5/PFNZ3YTGJojF7F9GVbQeVq5ozp
A82XXqSo2qiovV0i516hUtui0EnBk/70ut1ujaGf0KqYELnmNv1uVvZococ7lWp3qp3oDrw09uH7
l5fun/og3Kc/QOG3h2gfjnb5Z/xTPpf3ubM1Z3/pqvwoHAlaFOp8F2WVMhC7xh/iyWNA6XEA0VEK
0wE6zo1H+dpWU7tknkelU3KRz41mDIN3W0xe0zC9PnwKQ7D7ud3WTvlx6oAll31vbPWCdSYDGPqY
T54xh7inIxa1a4nBk5Jmf3P1Z9089kL5WJR30RZl2LXdJOhYODQW+N96jFgURLX3oYryQv0YGcIR
zSAdBNKHTz9Yiv8YWV2Wc14wQyxWk0f19mAgOpQO00P3CLvtLGx9tytHEfQ1/6Uetsx9r0K2kblG
y0jq2VNiQK/Rd6WRHVH8ZSgbQceVCBjeDKIAdJlAawETOT+LtcG5y/Vu9oSa8QjjYH4TIZKntUOM
77bpLk834rYrJY9zi6u3LhnkBI4QLBrdvDfV4nP3aa6gEqUeVUjuWDyOJkopoy33G5bfksDVRQAu
AaYzJg3VyySRWZwuEuVh9r59e4rs/dPzQ2H/OEWLmilE0XZkP40uIb4dOpUT7I7JLln+YIf7X78q
u7Elm1mp3afP/zy+Ft8cxJJ23337S2hPtmzXBxLoQ7ijrm1Hrmw/33HcXMN92dmfD4+P93+fH0L7
7++/tz3ybb7x1opWL2ttmaPRILbiaXaBEOvDQ7+Xd9MOALFj7Zun+QGYy8naIW7vWj+ax/agaU50
ap+du8G+B/pu3yn2xmN//fu+2+XVIxwn9ajrwfKbTn6e7erykFHK2lPb15Of9TOwvGb+vBViLP/S
1UagI4Tio8nx52+rJyWJhWGqpFT04piaeCTskjLZeJLfztzaBmwUzDEvvBDMtJ4fFcZMxcTXCtGT
0Lf9ldkW/4ndyEntf778DG3R9tTPG9/3yjXAZOB/TC733ruAJkP3aR7gBPRU5bvuJHfwtzutnTmv
3xaH/QEPh93ss28KW+w5f01POYLXs/VdZ8uuiGAC2rA2b4u8/z5saRZciVDOftrqspemOIkMiZ8m
pspOE0rSPrRoo7ptiFOiXTNFntLAm6KKG9fw1T0BlqyQ9jH2sUZPSXT9pUmpRc/ou099cZdnx8b8
lajd99ubf7lAxmyZLYdCi+sR+s3zvQd2WU91HEie2LtN+2iVvZ2VniK4k9w7uaTsjOb3bYtXLmNm
mZGq0pmap+W9pqjIZjVtpUSXPNjZ1DlD1U5y5PjvkMLhhd5td5/0wzGIsk8bdpelnHv2MkPNjA5V
aJL3NRRa0TqTvFmTvPxRMO9mVaIgP+3G6d/etpiAbfOXSs/RA9vdtnsZnCxmiX8AjNGcW7fm4rTj
ru5MmMkbMo8EcuwfLYqZ0SkSNiogl7WJc0ur66Ev5VaKEaX0xDa2u59i8CqLX/MqccN7H5b828u6
/hkheCQaArXEBNu554i90UZazLqaaTefLCIFOGN8bYDzWbLLHNZ26XfAM3vb7LU1sl80qGkdoxmz
WmNkwb2mqbnsmQYzndY+bD8h5QPPXRf9FMSNDb22RlyU3jvCPjA1rSlpajGCBNwsZC9jAhNe0qix
VYYqK3OHUFNUPQl9YqfTFtXk5dlf5v0X1iIKo0gvrHa2bEN9muNU9irxCZxplzS7fHoNumEjbL6y
l9hZlkdERNd4dblVfqpElV7L3lg2jln8DCW08KIS9B0XvqXdp9qGwbV+71LFOrO4+nppPvazZjR8
vQKlYoStC1S8+m8AawTFqcbq0Auu2liOHBo2lT5bCC1mRdyCP7bjv41WPfjWoc3soWoctO3tJjIO
eaAf0DpwNIUhly1o6VUPAOXJdbEQS+J1515exNCx6l0le6Wwj32qB3Ht5nsA6VK1DyY0fA3G/P0N
J7/S1liIF9BuoZiwdBVWj3A4SSWolh6/C7XffpA6oxXtFl51cmTxN8mrbTEy2RntPfMBd7dP2GWQ
sTAv4O20xxhwWM+jSlo9zF3dyQTlpgaFUFPsZz9N9retXHl3UKUhQIUDDb6btRLEUFezmYU+nhDn
L/44e9WsOEXUuZDkQo0g8jkVquHNxmV8bWfhYmIMbhm65XOuvqce1kMtUCn3iv5fqEkHLEyCm2q2
QlRsIlFmK38aQXZvr/aq2YVv6u2YgRiSz90o7Cu5bGqB/gMz2lO9b4TJHXUUy5Erlr6VSflFF/Zy
9Ajd5Eakeu1zvre8Cp4LRigSIwk0rxgrVCizgcilFbdUNa99Tp4BmELQm0A3ZbWtShopeeyHmhf7
dOATBvfbv1N1FArVQUlhNzxXsXHY2NMlaVu958BdFvZAtGoZp1oldeKs0SXmyHpBY4u7dnqR4Z2t
4sNQfEGpcT/MiS1txBCXm0nySDC3XGQL3+xqMydYEITZTGYvlWNl13WRfmwEoz7eXtk1K2BRCI0W
sseLEziF6qwUYTl78kx8P0WSTAap6xsn8KoVtIopm3C1cSTOXbL2xSRPqmr2dGHO9iZqL3ijEm3c
Jpdv2TJA9B8rK8cvMksH7EKe1Pfp+GhEQbybIp/oXjaFo+Wrw8beXbHHu0nJCZQIs5JrwOxozXLq
Iybn+bGi/yg0a9pLqBo4neaHtQ2qKHZvf6zLogxx7Buz6f9GtKtthJnHqknLCLoAnjFk4bchA5fw
OApF1fYbD8NyjM5d3uDCVBkBJ71nnmf1fob5CFIUXSmvRsPQmMjaR/Ly+LMW/JnNByXeOGKXm3lu
bnWqx0oYEBucMQdeU0snhwPnNNqX+uO9mnNDy/XyLgOU6TypbSAawNeKf9MyfQyjeLY72ZaN0BaM
B0HQFuro7qT63wdli8ln2bWLXV36IVBZkGqtiXwMs9SthDjXy5if/z0FR/17mf5JII287SqXJ47K
2jL8xfg1s1hr30ybKKwEPzG9uQ5+ZczH8ND52cYLd+mPGGHU840XfUFjnW8lGiLjaBaZ6VlpFjkA
e1kTvWZGg9rhv1nPO1Mrb9Sz3NRLiKhoH5u5bahlvotGuKj/i117Z2XlhEMwx30xsSDTz/ZtO9tz
sUUTd80B3u/Zyv3y2mzyPuDDZIabC2XuZCABOuPV1FN4meIvtxd07VS9s7ZuBy50QIXus22SljZ7
q/M7N5jbF6R8H5N62lLnu9IYwCHoWcNTQVnwUp1vbuqoVyrTm6bcleFHRH/uqbGknRib7tzfW213
SPr6qMqdI94nU2pHnXSQiu6HFfvfys9Jb/xBe85W5oMikfzQKgwT6ZQpuj35rgHlGV5wmBjGKVS7
T3pC0s+3N+zy8yx+jCS9QWDBi7h6Q+Y6gm8eNB0clouiasjbLrstkl3+MVfNrTv2SmnPNHgT6VES
l5Kwr9xaRY/C0hj6IPj+J7bumEDPipeG5mRYQ44bdZPjj+1fRfgUZrLdZcKHCSGYKl7IgQlqCDVo
6Jyf4EZYIOdCqXg9bLMuPXLFVmNxCxt2JbNh4gKBK0p8DAURhp+bCSpBYEYv0r1KKe28cVVhR85n
fJX3Tf06nPKw3sj+Lv2ePhhsciYsJtCpv42fvbvkrYKJr8CvgUj1kkgJpvqnRGatEZPvQmX1G2Hv
JVoUWD6pBawTdN7ZxdW1oXYJhFqRDuYwkXdVPtPZl/MDwC/yW0v+BXhykUBFM0rv02Pmcy7aNjlo
9ML86KjIpQJRSlrfq1I/3U+19uu2S18BJDE1sMgEwx3Hd15HX2YnMVTnh4YXmNLDIOiPdeu/wKBg
F9ZXmTRIN2dXb7o7v0n38BRn6qOm3DeSuZP6k7yFHn+LW89fwOXXLIPCIOAXlNC5LwzCOFi+D8xE
/joSWJhQIXy3IE93GDXVul/Rv9LgWJ+M7u72LlwcbKgTgWWx37yuUMSs7t1OT+QGLjHLm/t8N4Xf
igw+m+KTMb9Cf33b1KW7n9ta37oVME7aMdhSINf76v+tTyM62y6SmZVpb40YLc51tp+LMca2aPeD
PAH1cb6fDFGoWR63GFP0XVO8oIJhCzmk2vRWim9bBfSLg7WytnryFakPSm5vy8v1v2g020x4wojw
faYWd3sTL2ILDCkLnwSM6aBn9ZWbSLU+CakV+l6qI1rOMyyHP6xuiwXt2nKWqhcW2DnMnG+ePgQx
2hOR7xmym1guUPwsfDDLjeDlqkOAjgVV9caBvYb81yxvSA3MzKANnue7traDzIlpafWpE7x8fOeo
6AF8AiEOqmLl6WLcqXEpxD5pSQ29jivlv5Rs405Zdn/ldAypsx4w1stI1yoflpn/0MUyEDxNzxp3
0ArBVgY5O95eyYUCyDLOuXDUgfbHElNJ55+njVM16cJU8Pwv9SfpVZVoejndH6Tqpml/r3/W+h0D
wfDab9i9SPeRboKjF9b+Bc18IZvIcFQtoAUmeGL9GNPhnzQN3eofeub0SE2qviuXAPCkDZe/vKLI
IU0uahJsBinW7Oy1VQmRVirBiSl3u59/W21j990vQ/qmIe16e4mXtwb9F2q+XBhsLr5yvrNV3MeJ
kM/hacj/jJH0anZPYtK5oPGgc1TdQd24ft+An+cegy2qYfy/AcIzAXhusKvDpp6LLjqp3E9Z87Nz
EvFU9csQFsQq82Or/TtAStl1n5mWsjOL6RGhfYBr7BAtbaJvyC4ZqA9nFgempouyRdBzZfOBPVLg
WaIx8t2Vq6GNrftWNEQn039MyoACmbYXmj+l/03o0o374JJgDUTywimIhy10QOvxt16jxewj43HK
+5c4/+4PX+bpcYIw2teb3SDh0b8rwY7IPxhIz//N65MMHaf6T18qUE2hrakgQtMu8xXBFiL78mQT
DeL3CxUvL4a6cgyxZeJqypT4JEXApZucynk6+tbGCbvQTCDmxMU53XQ6gJiva93z5FPohQTlpMkc
5rZ1UzE5LllkCTlfIHxqi+rYlaJr/OOjMUwlRQ5BoICzzQJad+k/zEM7AvnFVO6meN++gblH+JQ0
N4u2zuVyYa5cF+T4It0BMwKcU6uyC6hN3wgnMTl1odPkL2pR76tFz0H/1cnDnZ8h97Rx8V1xRvC3
JKI0nujHrmcbwlyW0tkwk1Nt3Yf1q9R9ioL7tnkElL9xD1xmIPR9lr8AK5oL/8/qtYBNvILk2c9P
YdHvgU3bUYJMMCsdZA0l4/pEEQE39N1k+ir5+VM19h9eLHsL+QEtKFDbTJGsboYoMcrBrzRPECwn
mgBbNNCZ0fWQ04O5gVi53Fhoe5d+F3NUS16w+pSBPiW1bEa8W7nW7qNMAGwyavKjX0hMcqmNelK7
TYGQ60Zh3SQCWJgJl7v4XTIyp+GcRWYieFEpIQeihoPp5FYg7eYU5L84NY3TMs709aM3PCA4aq1A
KzjOFydMKvReKuVRoAJk1rOTl5GmO6TvZs0NXzS+3Uy+Rfc0EhtxB94rkzfO+BXXorvDzBNFRFDA
CAqdr5v6VKZKw8wv8IOwsMcUBhiAv+FjTmvA6XMOap9muStA52vnWQJvrF7fEcrKB62FDe32flwG
lChCEk5Sz1wo1NdJ2hBGeY5oZHoKxVHa5QKKlNgEElB2W/HDFVMUTRmPBXRAzXs985UPVLjr0EpO
zagobrJgS8eaUbdqnLYIAi+5elgTrFYArdED4FJdnO+dcxUCINOoi7NTaVIMZqbMrBoYZGunf9CJ
Vbg35PEL5/iRS6Sf3Lw27to0O5TN3kAytq7H/ZRVvxqmhuWNs3aZ6S2aOMQWsN4R+l7suKT0aRi2
WXYSfWuH8qgdSYd+yly/ZA7mh1R3jqHtFZQL20NrPKSZ8OEvDuuduYyjop/F/bI67NyuaisXRnby
xXs1VzlzqZtttYYuDjcDJpClwmFjgp0BDHu+/4HacQYQvyKuUe9DVXa65tmClqbTTnSg97d9+DKR
WFlbLUlTha4LpqA4zWZ/NKvBFv1jObpfYvhOIbDRPFnZihQvg/DFJmH4kiDxEY2VTcKxprfGujg1
sNXYodQXu1jOn5kz/VmrU7PnsYoe4j6CYb7LJleZmvgeAggYmUWrcEs/Fn6GubDVt76271TRYeGC
/w7aktW7FfTK1E79VJzonOFFkcGQeNsbzDzEP8IhrXazuk2JKfMxzyIBtoJ0BBJVCmYE6SujtRnr
zdDoxSkfEGjSGlU+Biqz4tWQBZSymuDODAJeL0EQXD3J/Ac9F74XklEdh6o1/244wxKSXvwayigL
aAtK13XyKprDwMCjXJy0F+NOeYhLykp2b49/Fbjc7ehYtDazl1tA2sv+8rIJLF6nnEdr8q0a9u7G
KUWI4o1KLU7jXNxVkm4Hz/VUuk3f2BZSjIl+31mImbkI1t1e8NVPvuRH8MWIKG6t3hMrmiA2mYPy
JHbtl6ab4p1fwYIha7N6iHPRgBh1zn/dtnlxlbNY2Bc54RRCzYv5WU0AMyfMc3GKqAwzhBUjMVp2
glMzAba7beoi8l5M0WAGhkfsRxJyfpPo89QQa0nlyfB/KPIX3fpy+99/kfKt/v2rcywJoabnsVqe
ZMP1v8YtOhZ2XTl5esBRbptazsHKM5mOWwaAyDJpt62+VDrXc+ynRnlK/pbH8lOS2KZbdU73Gqr/
R0vL93vnjIOEPlhqKeVJs06GeSx6t0Xlufk8vQiaK7Ub9+8VDzxb13Ii31mL5Fkf0mVdavqiRTtJ
ew5/BtnrZgHiyqdaBv+IkHjRl3+e26kQkks0c+JT6e4E5+7wtyJiEoMXqEidZKzc25/riuedmVuW
/W5ZpiVMBIGYm1GUjV+7LSjDNXcAtQeMBtoCgjDl/N9vCaaZR5T+T6lc20Lzqk/3if/Xr45S5eja
7PRwsdxe0WXsQVmDdJ4Mk/Le/3B2Xrtxa8G2/SICzOGV7KjU3ZbkbfuFcGTOmV9/Bn2Ae9Rsognf
vQ0YsAAVV6pVq2rWnAYSbNcmYWpsay9is9O6PObPAZI88Co9kWz+5b5BJZKZxxAGgrWGn6WZBOEK
4yapPjRcZ2ZlkpY0HLJBzPTRF7ytipjd/ZGtWZh+/mGtKl+EMM7EAh2FwjaJPDjHBpL4960sbcD/
JQICT0H0NvMVREvAWqDuPsE1Kb3F6lGp6BE8hMO+aVbO1LSX576CUrgOYTvxEymp6wHpYTxYUZAV
J0/f+VDOxxc5QcvbWAE5L83bRzOzlWlhvcuqajLDRqjTB18+3J+yJQO0XtFZAocSOtbTlH5YmL7W
h5wHT3EyzcqRkud0PdafpmI2VZwg0Bgmr0jQRjO3ECO2qpGnKk9G84AUCr1W+rHbRIT4irETg7Mk
H9rB6bf9wareA1/dynYY2Z1TNhtN2lFWSdaarhYW7+qL5p4jDYuk6g0KHEJ9ECNx2ot26v9pxX+u
B5Ang3aB4cMtQV/nbN97QkagJxnVqd+F5nvcPeVrNcMF535lYXaVhElTI2OCBaUbHLH9o5uPAfGs
FHpI11zub5bpd81WkuZUnuWUKOFGnEtO9aIeF3mS16cGgRWHXKPPuyGMD3EIhuLfTbEp6eKEbIhy
6Cys6PSWyNGv6tPYSY4qP0shiYdhf9/Iwj6AimKKxKn6c4hnmx+7gzkadX1KIMeOEthwoui7kQ0P
RZevRIG3aYUpY2pNMkZkq8ijznxT2FW4WFQoTgh1PUrVfjDY/OqrYrwatB4mariLoAF3BfVQCfre
j9e4nG/HCr8A2XmaAAF1wnF5fdBVqKkREymqEx8CHvd3LL+5wqZHsP7+nN7uEd7NIHP/UrKy5Wf7
ERWOIETxuTpJAlIUaQYht7wXsrUM4K2rBzPHgMj+TUrrc7LfGqUGOW3H+pSqod1Jb1l41EdnUNCH
GFJaOo/3R7VgjgwYbaPg6flvXofta0Wpu0ipCaj1z0KzA6TXVo7YvJXOWIhrpdjbMw0v3/9Zu6nE
9sB9/VCqT8Uf7wKpv+Hv3ts4Xos2piW/Ps7XZmZbUoKAGs2QoT7p6c8hpCvWeCyLrxJil+4mCAg1
XNWuw1/3Z3JhHyrIbJDL4i/OxDT2DxdOl1W9JSRqfVL3MAl9ap7WwEO3YRuj+mBgdqhh7LSaKMQA
pGGO7ki2vlH22SbY3R/Hwj6/MjN9xodxuFFcJiWqyKcAkVy1fZxyUW6+cpgWNsKEwealDCELXeCz
sUhxkudD5tanOIc+A7KZjgSom4Luv7hGvuLdF1ZmEllBcxIMCumfmbG6Jc9rBl1zGsL01wjfUggo
rhyljdatvYkXAl3I0P7CakEQTdmJ69mrB1HvVE9uTv7Re8mP7U/xAY3pff0QPdV/3C/tyjwuZKCu
7c28kpi4Qh+KUnOqd/WRyONNPeZb+tWO8Nv+8764Gtk0yx/2hdSJYV4rIpbUd8srfoxW9K33/h2P
QvYInBc5chJc5GpnZhpNjzPCmObUhc9ueNIU77XUtoLwoJd/9A7qHo+SoyUdwjGBVD77lHqH++P8
29kz8x6kbicKaO5P9NhmXzCKLhzYTdacLDOGCNjuRMX2vUc527naeRw3Y5w6pWEPPiTY55ocXG49
reFSpy157xtmzkSWM3cY+7bhFiBVWz81Svxk1tWhKgu6Y8avo7imL7Nw7GFi0EmmgcrhIpj5zKyR
qw60dnOSh4M//E5z386z3crULjjmKyOzx0Wbwp9vRn1zirvH1gBhKTm9BhmM+Enp97F3LPX/gtf7
NqfVuplJQLfsKQBhN0F6JoeJnsBDy7YNHAV1TsT90v9cba28smgHTl14JMlGAvW9Ph6jbvlJrCvN
KQit7x0SiqYv/EjC/wZ1jUFq0ccAiPh/pmY+phmNuAM13ZzyHWFBvalNOy93WbZrOtuPN7QHlfWm
/7omfbIQ6XE0dWVq2QGoiqLLbIhtKI1izhCtMHsKoue6SbcFhB2UcjbgabbdSDmcb5BaF7K1/l1M
q9P9xZxGdrOYH75gtn+Eqi/1APHUU9yW51Cu3zV/bR0Xz8EHE7N1bELT6lIgVSe0FraV5NtW+6Tq
K+P4G4DfG8hsCZOmGGCExIpyCL5VMNz/+uFLdrCVIZov7AQg0mN7iEkfk0X9Qkm+OuS/sx9p7+j0
T6BxSQ24d8LfqziUtQmeXSeK6weZ17C1BjndtNLW6Nbmd3n3QptJixuAXnQbrneRBD+ggSgcwu2y
rUa0mPf+pjz+lPtd09rh9+gof7q/aRZP5geD088/XFyBAttRoE9jeoiP/U50OmXlTXdb9ZsurQ8m
Zu666QIRTWRrujLUt7h4DjwoXxwEB/P6gdT9UYv1hzRwVPqi6JV6iUztydM9W+uro5hT11dbWxUG
W0P40exWMi0LYePVt82in7ggnutMhl9s87ogPXHRL1L0Tv+k3evnoZRXXhSLbgK0LykX9JHhWp7t
bb+KmkoRvPbU1J/EAWCMFTy7wYTQkp/H/lNK4n4kB5iI1b7UxEPv52ukH0srTvwArJW+DoKW2ZNQ
h/tt0OWxOwldaSvevpI7Wyl/qmvKLEu+YpJqRR6GhiNtjiNMKyiAIkvqiFJIs5Ba/zEWw0rYtRQJ
IOYI8wtMSROP3/XuVdBRKWUj7E/FWGxD8cmQt3197nt3k/fbNSHlpb1CWzBtpzzSKKnN/GtiNYIr
60l/EqLW6fxwr9Gfi0cv6vSxDQ27gCVeHDb3z+fSW+Cj0ZnHLQXK8HES9bzWfvvRzjDAVH3RsyMP
t/uG/tY5Zl6XoBKRsglNCPRztjO7Fkb9TMeSkXlOGVROapaHRqzfaJ/fuNEPNf2a1nYRVKeA1ldU
ufe69DUPvmdC+00PzP0IiZteptteip1ccXcFArvNa10grCMma5H9wiYGI04yACSOYdy8JCTN99H0
YS0S8dBkG/0LEpFev7WG2EniH/U2+RnQA/8bzrre/ekXdruS2JkmYz5ZH+3P/DQc2H0F6Iy9EMrH
whBezT5bC7WnzXtjA74REfdJgWqeQTXKQIq1ouhPI5cACqXfTOVF1+rnJDv5o2lX9HtlzR/g8ltj
1NYmeNrMc+OQwk8Fa+DaZOOuT1bcaI2quN1wihurc2RzOIgoqNJJrrhvQtD+EBXIq7xa2AeFXGx9
ET3sxgg3/Sh1K/OwcMY1SJ2Ai5N1J88/u6FagVdPnYR8iSp+LbLfotWcUSZ2OoHOt2+itdYgseC3
QDtSpac2Qtpn/vqGAFlTu7odKD3mjuT1BzXftkbn9H5sjz7EqN4D0L4h/56o/5WFdSq/N577EIdr
zGW3rRAMGbg38gZTVfJGc8RMKzP2qnE41ekphAuu8W1ZeTTavWlsh3rXGtY+h4MKBvLj1NMrBjsR
blrpd6p5K7t96daieRTcCDV0lKvEmetrTdnwGnEYTlX22OTEVvnGau0R4OWL3G6N59H8YnhrjDtL
W5C6DdUD4nkgA7Mz5grjAClkMp5yZFl7lIP9Bq0clJ5GSgWAK00SjLIdeaOdIwbvGtZaQm5hBWjA
mHjaEGllBeZ5fD3I+tLQlPFUhP/Ba/pUfWeKHovQKpyigynKzR1BdPLBpl2mFA5eA02U96tN019+
9OO+e751OLAOkj+G9ZR1oGX2+jyayoDCuSyOp6YHTqsX4xFmkbWK4K1XvTYyi9SkKNV85B/GU1w/
ZDA35VS4tqtk2EtWwKpDHAHXDJf27Erz205TyroUT1roOZkh2xDc/Inbt3+fMFqdWTcwwtzXk1v5
ENiaIfqhmlCIJ30YHjvZCGwlMS/3bSwkmGh759bkvUnfljU/F0IJhJKeSPHkNw9uf0BkLRCe6/Al
disqucpGsTzHV9fagpf2Anp6VKgB0k358OuhyXmIUI+LVWQwBxtOymhrABRfiduXlgmSWMgu6Bab
+BqvrfiRocV4JvGU8fvLyN0D33tF0Pt77gfb+/O4OKAPpmYDGq00FutYE0+SOm7b4Rk5g5XBrFmY
fv5xN6B/rBSFigVxAFpYZLalxCux/e3FQQ7lL1CeyhV7bhZY+2EgG6WWiBMmJkLMTyyeM2lcGcgC
ommy8r9tzHRDzqOCIGuTJjc4PWkLVZ3Fm6ixlQd5kz7Uz+m3fMXc7byRklJJacBJBeJnjvMx/KqV
GJR88tBlqMt9jCrx/bW/nTV+NXEGGU3QFsBQr1fGqgShCqtYOYkjWL243HZ0+CXgs+6bud3NRFI8
uKaCNzfYvADRl6Ros3pUT0MOw454rOluGrWHIFrD0y4YwhfQbzTxR/AsmflQQ0jktosk9ZTWxS7U
g3Pumn+Uil6SOvnv/pgWFodHHIJwUMTSqDKvlvJ+SxNkU4wTN6Xti99yHOl9Cwu7DQAbmGjKh9R+
ERO4Xp16ULV0rDPzZIDTS57qYrhUroTX7iy7CpuUJhDhuxZ0IC76Zwv9oJUPuJ1N0Cl4INpdJl80
r8AFtEH2oxpYJ796bhoRdY9nvSSFF6zgf1fszGtv/dB6ld/61knwQ8cNQrsF6ytbxzb+cX9Gb6PZ
aUBofzKblNPn0WU/iHI5tJF1yq3nQX4gUWC7EO426XfJk440pH+6b++233faHtMDnCYNesSM2Qpm
upZGEOwIJ82v4buVD5X0IGbduTRFmrRbByIc+MLoGX+2xgvwf7sSfuWdQiADewwQ2uDfw7rrD5qW
4oMrtsxaNmLRFE7ypYht4YtW20e3dry39KF9Lp+F3f0JWJhw0Fww8FCFR+NqPuEK/OJTcdw/G5mw
GYXvUaMcSqHYBi7CKh0QvFUo981ewhAdjYQEhI7or055hA8DNLXOc2WvmMQ+Xq0BARXBI+XcGsKf
DuX0+6NbtjX5NJ5GbCj52lZdNmXim53+0pja8BBU1btZoRZYFqWxCzUlXpnMyXldvQonSheaBMDK
ExfzGrg2V+Zo4talBht+u8kbJAX0fVu2r6ruftbbaM3aTcJl6hWeekIoTQJnFWeu1Mtzta5gqXlp
jC+68V9beI9aaddGATU6qSvVdNRmbUJvR4hNYitOKPU11vF6hHHpZqRjoLwo2xEe3KI+E1vuy9Yl
8RwPmqNZNJndX8PbIzqNk0MxNZhRW5r78S5KpbyJavOlKKGAxuYhM/Rqn3midADb8ag0bvjkR0K9
j7L0a0bKwYGGLrc1f9RfM6tAFrI6g0ZyT64+xpuiXaUHu7mkVUp93GXTusNrOIfMGJ1gBbDvmC+h
UNMNDCWZ1yTQFCSvK1Oh3GwwDMFCTmSLu4JO4nr6E0FqEUH1YOJ/Zryfx3oPX3WLom79TkuMHbwq
f4YjOUW1Xst43FymDHHiXeOBS6cwjAzXlqvSUv22ySHhD+NuJ5U0LtL1Z67EiLcNCpjhKU14yLuB
6ZyFO5rl5W4Zq9aLIZb6t8FruGskX7W+GPJY/SjqBCc9dJ71ZYShorAbN4g8W8DX5Lt+6GAmaQLf
iA/+mLX7pDS7NR2PpWlAQAc5b7RCSAdOP//ovLxKTJpJ2qkcvfEJ7avM9uWh26+s84IZnRuQvgRA
wxQ6ZtOgZ/BQVLJLk7lR548jwb9lS2UErgYtWVsf9WwfGYO5VaNOe5EUoNKpnntO3SXNVjBDY5s3
cozYcrTG/XjjcwB2TkTYU3Zx4mubebiq6PNIDKPklMhyfFEDX9p7blxfXE+qHD+g15HOIDg8zWKg
LwtmjPsTc3PQ/ppH7XTSmQR+PJ9+H47qJvdpQzISa5O2YrCNRjcgqVn8MxxSx9uYRI4axV8ZaZjr
lR6KIIYKzPTPiMN0v+KEAL8NpPIwVLFI+4zffL8/tNvHMganyZ3aBqZn6+xFHump1sSBF5z16qfa
v3VoLEOwuQvecxnBNr/YuYIjqGs8ZDc3JJLHuCw2Gd0YeNjZTvN8hNyKyAzOqaKWB7mQvV051uo2
0qvcDoZ0TYXiJt6Y2ZvdyB2KcjnPdkZpPBbdJ3RJI5pANHK0ToKo2v05/fvUv7qQsTYpdyIkgJIR
vAPXi1jVtR9XZKLPnYM43MHaxpt2A4HvxtzEG3hCITEXnF1HUfSr/DM5N5KjpU63BouerMy+YqLG
FAln6cpFBP76KwQJ8cmGBulzopGUS5HnDVtoUlTtB1yqPyLfM1fikIVFJaQzps6eqZFwfkzkRlWF
oonjsxI8SSOS3eP5fajWCIeWduyVmZkzkIpKRWkoiRFO8PZ0hRmp9yh5wT6LtpnnOjHV70YxD7lk
rjy7b7wQ4dzH8c2iEJTB4t6IhOgsIi6v9Y9hfCp6mPTO1KBsSPn1MN/e30lLS/jR4mwjdUJUqxzO
+FwOL4JVbhAT9Z6FfFeiNX/f0sLakdFGSZ6UvsHjdTaphoAKpBzIyVktSai3wT4JPitJ9zLK1ea+
pYX145KBWnQiEiLGmpNUmGVo1aMcZechM+Au0xzmMegdJL7CJDxIkpPSTaSFNMWtGJ42/PWBAMUM
TouaBc1uuJ/rA9GVWSB3xghlT1V/K3pnGO2KtL21k/1tnRyluLBLcS8F8UFfZdO7nd9r27OVtOIa
NjBRwnb/6kMTGKeHpPGc4b+VMd7Alej44QE7bVSNiuGc5zoNs9oMoyI7C9K50iCprbx97z6F1iMZ
Y3KiMCWcNeHnfat/H+K3M/t/VqeT8yE+GYagN9Isy84tDi56L1+1H9ElPLWP6gaWWifbg6p+ynbi
I627p+Epfwm38X48i5/kT8O+3mnHtaN66++vpuHvHvzwQcmUOqibKjtLtbAR4OXRetVJyqMkIrQy
lg4qo1/vz8Gtc7i2OLvRSr8PPXFk4tvq4om4+fE5rXZFsAm6F/QJabXY3zd4E5QQpYFF4RBNCXto
QK7nvE7ytCViyc5wAzmtJGw8Uz4k6YpSz5IVLg/+504jEzg9DT5MpFUVplVkY35WXJsoS/i2it+5
zWZN4Sb7FZFI0llAGK9NuF6f8lz3i7Pgwp5EEaLddAiq2opSKdu64N+qPhI3WY/0aqz0yX/0+yRO
5Rn58f6MLpxRKpqQWNDr/fdRdf0h6eAGRC1afg7UjvfapHb6QC8JFPFrhBULs0p2gPoxxNnUyc3Z
2mU5hVrScvk5awY7FftzCQ4tpHHk/oCmmZsdS95OkwYnKVboKmaxnaUmkTa2SXE207jdFb4IUXUz
rmmIL+x8Gk4pysJbR05wbqXyxyIqg6E4U7beaW73AFXFJXwUguGrJJjfh3jcF97KabutfRJkfDQ6
fdSHfel33tBkZlWcByE7RuHnoiQrVj4kQmunZW8bWgMQ/NjnTioI714ZnO/P7NIC0mTLlqWmAMZ9
dixa2ej9pJWKs1tru6avnbZttrWQrdyVi2amHAup8UlBZbZP3JGclpWrxdkXKOgW4OyE2twNuf7r
/nAW3CXI5f+zM7udTD/QOvAOxVkzjnJR0gz/JqVQtj9l8Ym+/BV41/Tb5tvSnKjmpuZU+t1ma+c1
TRL5Wlme+yqtL2oW6p+bLLIcqobIUWVyvg2lcI3kbsnNAJrgwTF1Ct7SRxkxqdZCTcqzFvoHseZw
F7Ym/SS3GimfYOfifdWM6V6I17grFyYXvm/KqgCUqHxqs8mVgCiYOaxI51HL0FE039rCzDZ9Gl00
GlqD2jQcS6ASen9Jb8/+VByQMco7hBzKtLU+HJAIEEISC1V1HowSxIQU+58rXQ8v960sBHOTTCoB
nUZ2glTubIemRSIKQaIyuGSIDpU/6A9aYQUbRdA8qHjE6lNWdP3nUGjo39YbYRfx/j2sfMR0t15v
KD6C/BDCdWgAUBm7HqsemXUUS1Z1VspCttE+J+dWWt8l6ISP4wCy0Wgn/hBXS5wsbrJt7JUW2djw
nxs4pxQS2Ule09RmgGxdf0dWQVVP0qQ6N2QitoBH6sMYJsXKxb+0sh+tzCKN1iwpWgUkF6Gg7ba8
WSBdG6p6e39Sbw/pNBYu3knzDKKGmRWXbu4qSJhTqSkeldoNoXLSf4ayv/c8T3N8vVmB+Nz6OgxC
iIFJENucl+vJk4sgUQQLg5o4oG3uSz9lyc1oWS+NFa86/abZdoE5jDeADHBpQiNcWyLDadDCWNbn
qvzV9p8VhDaT99Jd8akLE3hlZXqNfDiAKZnfXimy+kzqDoUSGAptH6liWA4h4k3ViLaQ1FgjrJnv
DcIRisKUlriPYZSfZ/CGko4/q9HKM7iZzsnzoiRB7qsrD+EbXzo3MxubXOfp2BcmgHazggsKMiR0
sbvfLiKicnUx/N/DUB3pdMn+cY/M7c6u3bHL+5hUcXm29M9duK+H9z78fH/fT77i4+b4a2KaQyJR
Sg1zh+apVIbjyqvORvRNrhCfB06KFvuWdha4vOmuUTUb3eYVb/1XUXpuFs8BWGXiOCDlfb1bijEp
89wdcNfqLjwF7/JX/S14bh/cp/SP4XgPGRkjVOmd6hh7D2G/4lLme1WmMQO3RYWcZNFU1rm2PqA2
6LouZZUgtrWfaecfQ1PfFJK20VVrJXS6QZ7Pjc28dR77sp94Un22YpJIOxGmAKT80oG2sxaxLXsU
ouGh7/FOBzXtDX0ryGnlO3VTwhGqGZob7F3Jaqfu9VyOD25RGaYTRwHdcXqAYPcmbytxPMh6DM5H
yfUqdoqxHf/c3ydzJ8IoAICyUqAaqYrMWbN4V3p6HY/tWRnacC9Q/tlHg/9IE1J4cIcyXbvjFpZo
OthctSTzQDDMjlyQZ52SxHF3pjNQfg6SWnivhsQ46kHnb12hrXAv+UhiUaxaR4lyYZPnCjy+etg6
PO9kJxvlQ5jn5BoFQT6GGCP0SlY7buYJCOZlImTU6bInysKVX28lTxjUHuri7hw2rmXrcvaoWWX1
NR6l8ilWQsXuSRNuCz0LjjTtSA8lAiUrwMjbIzyhv6byOvAvbtmZf0+7VMmzTO7OQad2D6R9XgSo
FL6oZV5vA6HPTk3gvhue8iLl7Rof+99S5PVBnkpIeH6y6bxq5+D3WB5i6uhKfw49uTiVsdvvNFkZ
KB/5o0OMIu4ihZbARhLaJ2tEbFdPWv8AzDvfJl7efQ/jMH2JakV2wk6AnjPWOhIYKL4pfWXYUYd8
Y+wX+Nm8NB4QyStgbWqjF+gPO6e2VNfmQQTJbOZqji4On/RgtHat2HoHodVfy6xoHRo+twLxod0l
NSpUaZqtPDsXrgeqsdD3Qt08xfhzAF7qRWXsi0F/9q0fTSZvvAExVv8zMloHM5LPvQsaS94RCL7y
hfeP5cIxuTI9uyEoEqNHM6Cqm8raixa5r6Uufemt6KVqHyKBlPt9czfx77TdKb1Pfe9UxOGmv97u
VQ73XS/G/VkKQ1TJ1E0IqS8IWSeWFTsTakeps6OQA1vx1N2K7dvL/tr2bJ+radsYpZH259YYUBcr
aMwZ5U0b7xvhe+Iajmy5myGFv0Oton0X7AzRdIBMK/Ea9HFp0v++bmCjpbNkHrpZoTi2RV+y3mFj
04UqEge09PQN1R8QFyvBx9KouaL4WDIAFKVnM24MVqVU7cgBCwVqj64mHbTSKv99H0HzOOVoFN5P
9Mpcr6up+IllhmZ/1hPt0voo76o0CP5SLahf3lfWcWH6KMKpgDrxV/jO6ecfIsXM8GqKSPpwDuri
EPiaXZqfi+Go0pgzdIItWeODVlmnFA1Bn7ozYx0s386MQ2X8TAF+p2W8v/9J81gc381DlaQDRSwS
c/M5HvrS1fIiGM+eq/I6bfoK1lzgx8HARXzf1O1yTnhJ+ikYPJf3/HVsIeeppGMyntFx7eyA4H/r
Zkq6uW9lIejgKsIdwX0DUJ4kwGyOWy0VvKCUzpHX1ts4DupjLqqZnZtqt+8GQb4MFO4hhfa8nVco
xoaeeGMDu6650dqx3UuxazxFVpbuPD8pnusslvaG2BmOXzaoR/pSo1wsiHxXAt6FuJBECa5FI9VL
l8WcW6PN48FszVA5D16yIWOhbv1NY/1RG1vPdxr0a4MT2mgMQoMRbCBYTL+M07kr7Xwtmbjg6q4/
ZVrJD9uUurghaAmfoj/oTrrzN+fyO+qyu2It1JlCmesrFK0P4mhAGZPm/ZweRbG6qJOUVDlz/dnJ
tniQNuHup/LgPqZO9Hp/YyzsdGzx4sOVQnU7b2cYm0z0dAlbNfF9mn9GULW01uBLt7HiX/GSCVLL
9gMcdD1zUKS2fhUmyrmM3uHv24VDtY07BCX9tamb3NLN1BHOaWiHT0WBmaVAUQqz1jPlHH/VhYOx
LfZDuE/LHTk14WHMnO6gSXayRja9cIbJg8o0JIEJm9Kh1+MLu4BNGozaudT0h6EYVEfTImv7zyuF
H57UPyeUjjlnPFfkLlD7qDTPtdSWGyOqY3soy6exDtZE5Rf2BPvur6INlEdEstfDUeU2lntPNs+h
JgQbzQjqjdqoycbKoLW5P6iFmaPjVASwD9Ub7WSzy0xUqjrxQ8M8C4WqI2Uim6h19mvKaIsDmnw5
FJQg6OZWDKFS6rwXzHNSKeWxJQoNuEWa8L8aSZPL/RHd2CLunbRZwBuQRqG8cT15huDlcR7E1rmS
xewSuV6m7AQZTXS7pDlvlUr01hxgGWq6CvTF06aYxUAB7W9mbhgCsX5sW8jlWO43Q+mQ9t13TWIr
0Xgeip1Kn7ZeFrZXunv+adsKlCW9FbTyzVqy/zl33Jd0BIEinq2l1FlaULWxdxkyaC8QsvoTjd6a
yMCCEVjHISXmBUi/wTwtZxaoqguW6V9O2xXfsfabZ7teFCyJa5/fTMThrF1jNx5wgsF8+OzJb324
O4y6yRL6Gv3LEPyHJzlq6kn4EsGfXcEpF487RT1q0Vvuv6Te4MjlsyeLj73ulKa1EjQvfQitBmwX
Xiagj2fbU5SSqgpxxpdaDQ9+ENNEU9Y5rbFGakfBWpf9gjXycPzhIUg5ft5UJbiSEMPMEF6KdrQ5
mIAK243oQ9u+vX/qFg0h1UIUzgUCRu16fvG5edSUbngxTeFxHLuDlYw/QjNyDG+VDWGaoqs7Rvkr
dkNdQQFFwUv32paWxKpJk214CUL/3Odfk3Evtq9NvG/7HxqBoqjboYTsE60cIzkz0KKUCOwSVfjw
ty7E5/sjvyFnwNuQgGEtucUphluzoadJIw2V2EaXgeBvH1RhqtiW1eV23vkPVmiln/oelXHZImsd
Shm9x1rkH7tW6x6ZSt/xtGq1EfrmGubakMArT+2JE/fv5LU+bncrRxS5V6OL28VvyHqeIrPZDmJr
y29ZqThKtk8pKxM9tqbow7U+2vHaM+k2XJtY9EhQidScKP1Ks4gXUYLYr1EFu2T6I0/YlzC6FNHe
V4+ZcaxktqEAzkWM7PvLseCPeQOSoaI/mVzm37rth5HDxOWZZFWiC/GzHUxKAfmfxl/DRS34Km5o
wg3qIAQD87G1vieWGlDJSyCZvVOkIs/O1hQ298dyAwFnaxkTZTnUtqg/A32+XsY8NFRXM7v44soJ
Kt+7UiN979fHVNsrQgrZ0ODELYwZWW9LdbApzcc2/gXaclMCCFOF58SNVs75Td377yfBeUdsN2Ud
1dmq6r6Wa24NCDb241fLNY9tVv7Uup2WWj+LvHUG17WF4TAovxHsrKNhd39KliaeMHYisp5K0vPO
M0HoUr3N/OSS9uCApR4RJc2Dg/e+lQVvBj/FBA9D1ZAk4uxIh6GadlJSJ5cEcSulCI7D+DYm4auQ
/H+NB+wJTewAYMncXa9wS+2y9VWd6UwzZK6PtdevbKKlA0EOEroNimmMZXatBtLYKXIQJJeSzgGn
6vSfbt/AOy6kaz17Syce8CU9bkweN8E8bo1i4EdNkaeXYS9C5NLpu2g49PrFDT418lkY3grx3087
dHiAWBgeaKQ5WTHg1zFJgMdfolbWEJtsBdsSlKMov9/fEDcZXU45ktlc2ciQSPJ8Q+RW5g2ZGqYX
VXmrYRJ2RBKK1nsNY2H5qZSLlWEt3HBX5mZBpVuGxhgPaXoRtQx2j0FpN01e/w4GSPHj1iofFNMT
/n3PY5MkCDUYhTWc2dTbSnKlEZuh9Hts4p2m5o42XoJ/hkJP0TnKeJwrggUkpOZOzXUTQY2r9OIF
Th1aO2nY9u+0m6VkEUQewfdX7i830ixawBx/UK7hPW/O3oZuaobI1STZJYxH70kJ1GDr1lF7lqu0
34ijWe07T+w3tUcVscxldVeUsuwYgo7SiBf1O5XktZNpyKWVglLtkK5SaLRXLacPc/1Y9L04qUT4
G7nTNTv0w+xRTCrpYLkdlHceel+pXje7En+1C6x+2Ob5EB3LMA+fqiLQ7JbugfdYGg3HZVLAf3Y4
cc9PP0WFFO/LBJ3xtqHYKBT1xhNk/4HUdv4gk94+VWOJIIvRNPv7Uza58PmMKRTdEX4RSRdYkw/+
cIWWMrcNP8wug5oke8WV0h0xf+9oBinmPomlXVsa5bsVN2v7/jZxz95QRUpaBMjEU/Po2B8tpUpU
3m0NtA2q5LSSvDfHYxdcem0fleGmEKfrLt/R7ny8P+oFn8+NQnMLtJc85W7uWsEczaIOs0tnmrRP
fW6D/GJMPnnlnC25ko92ZheorDVyhrp6dnGLnRK9pydRFWzD/WJOlOHtj3qNNXzJl3y0N9v/Nf3t
HuCb7FIG38z2UwdRvfUQxWQe2T33p3DhqiH1A5hyEk2YIJvXGyczIg80kZVeCjlQj60ZUHkxUVLu
4vr3fUuLkwhjLDkmqLRv1OfcNsniNGFQavuU9ZpjUijXQx96vZ+kuf8DNVatZULlpdGRjqcDipgP
mvTZwglWS+DZCjhIfyPlRy/wbbP8HqhvndzYWhxuveRgatHOzJzM9TcdAXdoawdepXYkPHiNQ5Qt
B5vaehrE+EFv0XrTgJeYb/en5oaLc/KvpFkI/1kLKoEzR177puWHFg4v30zNug4A0qx0CLS9rXis
vtDfgvKbX9o0+r7eN720Kh8ty9frbzSjGbhalF3S2nTyUd9VebQZqf0IZrfL3WIrFv5n2uBWTtTS
DqclbWKOpYhBv+u1WbNIJF8J8+xi0hZRtYnjp38C66cev4XWp/sjXHKNH0zNw88mz9KylJlbrVRK
rgb46aS4ezZ1gJ7KKJdb2DHQCI+TNSbZlTHO0y49NadUqDJ8cp++jnpjD9JTXuSbPvgSR7/uD3Jx
GRUc//Rqm8S/ruczUtJm1Nsyu/huYOfFKaMDPDqJZriVreCli5/Fci09s2RSZ+1A8AFwRrvy2iQv
LTnXmyi/jPDjQ51WHFItSWxJKVQn9vvh0Wq1/+Hsy5bcxpVtv4gRnIdXTpJqsllVsst+YbjtNidw
AAcQ5NefRd97dksQjxC9ox/aERWhJIAEkMhca2Xmo1KvHHK+8uOY521MPXTBmI0V6qR28WudvSkc
qDkeXY2RY5N27Kjjik+1vA7vT9DeVQEJJpRxAFLAPWlcfy3z1BQJRdxSKfcYSHh1fXIJeMFZq2SQ
ZuxlAOe9k2d7bkHjBwRM0GAFe+7akVWpu4THJx78W+b9dl5c/rqwa1dCuFGk+HXDHWJtfqvqb8Q6
pSmEeKA3eZjaH8zNws4FUyW5P49/CFlipIEGJ2hnB+Q9WmkL76ypa7wFm6hLxrWL0uoRYk1vo+EF
ZuFGVJ/epuoX5HJs/sD7V0om3/u8ksfFIgGeyoj258dcPSgVusHND5BEh+T2Q1b6tSLTvLnZ9ago
A461Jf2BCLnhIKhrabd5qXSJ7SyQ66cBT59d9jSo6pG25TuS643kJt17ZmMMSLejjoJiiqhPkJt8
8DyVY2ZYxg55z/HoJ6AmoW3ZGpS9Th5y3Hs+1zk9jpa1vOjlUh8KY/JClAN1mY9sHnazUDgMwJna
susiqMacqDZVStclZpdFVDsO1E+zU+M8NEqwvhrOgg6IL9VPiXtsy39jFbQMHRVICJoYgmciQ7aM
q9t0iVpoMYD1LUQqsl8k73w3s/7uO14HlLvfqyauGu4rbvY8z3Mwdytuf+UjgyybSbNjp/weDLRv
korH7B1aIKMDc4HXLkTZhM/r0FnLVvnUJXM3f0ek6gXKAPkI063Hk95BCsWoXMDDmGJGytQOkkzI
n3hDnB2sBGo3EP7atL+vT4XRnRrFbWgHZdIVkqGU18g5lm42ffPw3nmaqZ1ubJYV3Smxn46MUYil
ecwYTmNZ6p2/OFn3qJpD9rVrJpT54VDsietmN2/VM+iH10b17f6K7sb3f0DoODxB1xB1FOxSzWhn
qvAjfXloLX6yaeqXDcLeOYvqN8N+zNNg7c0A8lWSKGEvO4HHBVS5EAFCbl6U/tKgmtdWXMd8fVSP
xHfxn4HatSwl8X+M8R87wvU5VrxySg927Pq3kz7n7tbJ45V039beDYBfiDzb19zhxZNF+rfXBHbJ
JsO+SeNgeoXTlJKBNk6N7VIAjgjNHSf/VUtZDDIjwl3kcuIhf43bQk+ytfXZ+5A+Z7Prs74Ly/JY
k7PxzbGeKsSbAJKFLYJQRRItbMHAtePjdQiYD/Ax4L/cLCS1aGqOy4zr0CSxUbN3pspEu3acBS9B
9D1ADhAYAGzu680FIXGV8b6mibbkQQXeC2lNH1SSU1E/5RkE/pwloOqXNpWM7TbOu7a7/f3i7a3m
1Qx8Jeza9uPaP3DtYHqH0gkMGXBsbx2RFdxApAYIqSJErm4NV2myhiaD5eHtlE9poFgGBR82k6K1
b89xDArXPI5DpHzQTu96UD1XJkjk9jRp0MS1GM3nDm3hnY3Nl+G6ot2xK5VHPYV8rdd8lpw4Wywm
OgskOyFyBH3EDcV0bZum60I5yGGJB7gslAUQaDhqbgN7WPoeOJmcLm042BDqLYeBRA0v+sBd5uHU
Dj3UidHEW3K13wQTuMvQ7dY2UR4BqkZMcaQ47axlVmliNPob0LGvNmsw/87P1lpOjdkcHS47+baL
SJyDLaMHo9Dxxea5ngNLZ9CqmFuasKGMnBxNIOzutMwJ0ug6XcIZoTUKMUEFRd9mQSvQdJWMec/Z
QCHb0rQbZ80UPsCYwBdB9QnOZk+ILIkNzX0bkQMaA8rGehubQ0biwtT2KRcbqBzrdq009ERh7fqd
8xKhwu9sJr+zTntYnT7ojfmpsL1ANRefV/XjwMwgyx3EL+phsY68kyG/9saOQpGGWhgqLzeyjFNF
PVo5hCaQTvFVovqoxLJOFjDuDRuasFv2Fl268Sa5HnZlErSIQK4nsVN2GDrdH1Tv787sjlAriCRb
amc7I0cHCNu2oCZIude2TKoaBZ+8PnFTJaJqF6jMTcjY+7xGdm5lynvbKhCKptWzncf3je+c/cCe
eyq2Dzg6QExd20bVoXUgDNkD6/be2j8XRxKh7MwjcjwgcukAA+IK3f5+4T6drjZcXac+AYNa0YHo
WJ918pzJAEs7TnFlRjgRc3OaOkuDmf7DCM3P0/v9Wdr9eWDggWRAKg716etR9MNiTOu09gkBCUcl
0QJpcjT4+i+MIPRENh8VZugaXhsZVKcgHVC3yWr2Ac3RIggl+PnfUto2EgzgNf+xIjgbnTJXWyZY
6UPTlxxLu4v9z2+LVR21YCN6HGAVyprFDlEC1fhN9R9u/t841YUdMWbK1IKSGXbW8eSmEG7Ket8r
D10lO2d3sAjbbAHlh/YFOOvF1L3STOVctjq2JgH6AeI5BkP9oPYLBRAk34NSM3R1mwOiz/zMmHu4
7xH78/mPdcHtSNFUM0WD1AR9eALDQIrRhggygzIAhKjvm9qWXbjSQLHAvQ7KEFJG4uOn4WaRtgMZ
4Hy2GhtUIQdFZ1DlBtyEzFoHLUhd3frW1882AG3Rfet7+8uAFhMQKLhO0ZTr2vWB92q1FqSgZOlf
wbWJCSv9dWklVnaSABvNEpCuP22VgAi8NqNozTDpdjcktNBAf6Qsbg09Rt+uR0ufYi9Tnrr6CImk
k2dPYbkasWUpx/sj/fOyv5loaH2iwyOI0qifXX+D7kDOSnP7IYF++LfOfbaA61cVNVo84qO95ISE
S9cooTXrvu4MjU81+qSsxjHvs5hZ71ouS8bszj0eOAhZIRQG4M31B+Wp7bYcmtoJqGKrVfgMBOp8
lSQ8tlHdjPrCiDDzWbuAC6qxIVGU9bDY1HeXF6P/4WavmgqdFslCy4a0xbAXl46bl7pCgNlLlLED
PXOq/MVOar2VbZq9/bm9Df936sQwjKhKiVh8SMbUN5t3z139Uf9opMfQdnvdzh6orWiNBZVYMd5n
amfmE6jXCV5J6G6kR1l+guSTP2hmtFiSydsf1D/GBAct6taqrQzGGvu3533L3DOq1gaSx/c3wt6B
sxWroc8BrKwtuh2nLYIGvowJxftIbX4y64MBKjjzg1q969lj1X7cN3i7+zeAJd6ZwNog0eyKz/nC
YKtuoWksonYaFHMTDhb1KYgXANh76rF6Kid6sKrCt4C0+bdkaCgHb4CUje0H9JguUpTdJcuKqkVu
i3hnBHRlP/oD0//tnCKvCuF60OwQTkLoUli6bFwsdbVtJCymV37KTpMdO+lBUx4NwsJchly92WWC
NSGSIJUyVYtqdcDpJVo6BbNZ+FSXAapvy2+bGbxANs4EVs8Tzien8dIy9dwuoQryMM5s04A49IFn
quLjDWZ+no0SJAo8NI+127QHXdGVyCWTEffL+IjbkvpI8cxhvlXb77vU7gwATba9+oHHEyM2D4Kg
Vc7SLskDs/rVr++2THnuZudvg7+wIMzxQkp0eSthYSjwnuya2MB5SSwffWafjUwynNtM27U1MX6b
qJX10wBrpAMFFfLdZjkGaEYWVK37rLbM75FdHMvcx+lAHe14fzZvniKCdWGhlXFeybg6XWIpKeQw
7TUNCqeTwQW2PXB1lsIKoFso/uDosSCsJdwNCHJclmKMbn1Yu2NpHZkC5uSpRunPkezH3QnFNY8G
UDbCjhsSuNEt5eTxiiYWZDRAPP/l9G901qKuQv/PsHe0aFjmcau5RRCvSO7P523ObRsq2gzh1oDy
LWAY10NtFgiL1T0mNDfR06T9Dc5D2Jrje261CS+VZ+aYD9DdebVXmbznzR3yx/LGcwJnGIlFIZ5b
27bWrCqjyUjVwwjZLOVHP3gHCNKd7o9xbwcCVKOhwxZauUHy9XqIZd5DjahHIkQl6GieUdcIcrcH
TALVRMnuuHVP7C2QYaB0tzUrEasTbFqY6bYaTchK1oA71EZUMcp6IcusCKFL2ygWGwubJlwPU8Wn
NLw/YTsuifTkHwlCPAFRpxT8XyHExv3m0CR/H6bSb7nrz+QA6fclNwI7jTmN3fqFKF/u273pNoia
E9pfIubeVMGg1SGcZHw0nVIbCrxleh1YmRxhr8URMBVqpxwg9qKjGm2XoP1XczhDvgRcW3RDAjEC
0QEjZwB3IcmY9d2rYeY86hv1fYU89XFBl9RgVuc6rhUa01RFVGSqr62Z5c/V4hgQWSIzlGJMFhe9
C6lOR+kljrF9+fWJso0MGxwFV2iqiTymdaXMNUiOFIrRR2WfRyC3xC2kyD8j/zehs7WvTyy6P523
p9ilTVskWaJlFHpwrVmfKF/rc/Xd+zL5Nd4MkvNrzxlRkPdsCLqicCq+VSyQHCq37pD2QL/EgKlQ
IxhXlUreBjfqqptrQMUdDCPgTfAu2j7jIlxXmr6FsFHbJ7r1mOXkK1+GAGjsTRofyaPD2JWhrXiQ
U5tDFf2gs2x9yVeQJNGayi1+GnYNXwEJrg06ZHsr8qmboUSAQnZHP+7P+u2xtn0o6K3oOIFYXLwf
K6PuUNqv+6Su3lb+mJ1T8PI0Cdn+9sqHEUQkm9IsxDRFAjrgCnz1XGTk9PQzHdensmDBlJsPyDiH
Xi5RVrg9P2FsUwGEdI5mo3HH9dQ3qQfdl6pHes4BsKmiR7VMEVrJ+kvsmkGZEPTrrfgjFkfyERtU
H9Q+GSFzFK6tW6DgY6hHaCvIpJ13pw/vWNTWgbVEwu56RL0BoShuan0y6A+Fp0KW65iDSUayr9ko
mby9jY+KD1RDQF5HIUY4SouC0qyEGlcyFcqveuvjgJfz7Ks9oB0aMuVq91WlMjDprlEUf0BCAnIa
jLHr8bVrm4HigJyQMx3SFJq1rPAh7tYGBmKY2jlU06/7Tn/LWMb2xM36/y3a4rtJXdVWVxobDnnQ
TkQJvxqBGS9xFTI/DduAB2gWEPUH480NUskxt7eYl6YF90xne+zqVcFiKqnyZnn0R66NYdfT2nfq
uYHAhuFKCly7JtHGAlkiHEUIFa/nt3do1pRbfoZWJzMiOMJHDZyMQ1ZLqY43eX9MLDRGIekM6ZvN
Wa9Nod+KhrIhkiIL/14g2A5KM9YrO9SsU+5aMVVfvV7WN+dGGX87bNF3YdM2xfmCkObaaJcNyHgW
+ZBYWth+p+f2vJzLT+lJCZwICrofuhI6MnXMvXsE4Em8fhF4oyeLYNPN9dHQWjokQF0AbDOG2r8V
a/0zKhyZUKhB6hwEqetR1X3WNqbGB4S6r2XznQ9HAm6El0dggkd51gRmLksy7V3BkHAEiglWEdls
jnRxa7lKVZpLbyBvllkPzkfZTgftlUDTGUI0X/BklEQZMnPb3y/MDRmZnDQ1h0QdFj9F5xhGIbVU
NT9641nTHzvkMe7v+12DKK2i/AeSxg1iimSto0ydNqAqZa1x5lbo8I3G6YeqaeqjN/MxakfUxVJ0
BpScq3u3BSLELVGD2ioe19dDdXujhLKhjZkdpi0gzYc4c8o6bLORhPcHueeZG+lqkx1BKVdUw2U5
5UufFmNClpZG46w3vpPh1rhvZS9uuLSyfcXF2hnaqlWqV46JTVK/KK3IzF+z7GzSXrJmu4ZwyW7Y
LsjQitU2e2SWN6bTmPQqDXQlDw12LrSvoycztDNvaGHrbYQxYOGhMHY9oqLz+mp0cpbodblGajU1
L06aVRLwxo4jIMjCax2NQjc0snBAMpLOecbQFgLn/BkYoGTN0X3Tyg/3l2fHDJJyGwkO4j/g0wtv
rpo0Xm90zpiwovFRVvcxa4YmE5LauViAAQa1FU3Y4AwihZSpZrp4RT0luY2G8crUlEE3D78Z4JVx
DRLiUzfbg+TQ2B0ZEmeI3rb0lMjdr8pa16iSw2bx15h/MuoXpZA87HZcDpcIaruQlYSaiSscg5Cu
HbgLwFsyqCiEkdnSQ6UDfnRCY8NwACRN4uI7nmcA5IHnPqqxkLgVfALwIW/Rc2tKmsGj8TLaK1SS
IMN63yX2Fgt7CPLHqJeibi24hJWuTmpX84QsEUS+0v6pXa3AeNVoF7ukeb1vbO9NDpIYjjRsJKSG
xatk6JiaZ4U1J16t8Zd8rK3QU3o9ARvTOip4zwY59aAMShU9JmqhPzDdZnFfQYnr/pfsDRs1KTCc
Efxs2k/X25qaJercTjkn2mg3B1MBLr7XeGiPzbtuV58WuLfEQ3ey8oDYIRcHqjc4ZRDVvTbpDd0w
eKbCEnstcHcCoRr2WlHEXleNqHV27cs0NmqI2EJ5wX3TPdaZh5SFCtKI6iiybuo70fXV1whXj4Jk
EmezzRI+ql1otOkYMdtTAohHNSGvjOJh6gzw+KZhetBYJkMW7dy5QBUhmABWeRP8FMx7dCzauq7n
pMFF6/Tud2d4Hms7WMffK12PearK2tTvDvjConCQg4jpock2LJIcrbDYN3qu0v64Makg7Oc8LfnX
+x62c1wg7Qr2NbKCqPSKF24LxkGT2i1PVsj5NsnscT9dkPuRNXTfOflM5OhAawZp/5ZzZzjMstCX
gicl5NEndMBDVe6h0T7uj2bHCkq5JrhLFmhH0Pq8dl4XuLue6POS9JbzZCjgGmcmiZRxkGnl7Jx6
uG3RXhcYShCCxYSqOo/ZCnW4NSmZrTygz8YQ0k6nksDr1soGdPDgfbh18X9hL1J7XijEZlmiFC0A
mr1vyuBktxMGC8DT4vEKagpyGdcTRvNMybIU7jYsNPIomBGOUwboHyw7VraX4XVSbjOEGAiwAsR2
qmCoQljKND7Oibo8K0b+RFsIM67l61bo0/1u/dbkf6fzz2mWyXTfOjiqVNs7xEXfMVyIwlvHLIhu
pmTgCf9ZeBED6mkKNUNyCe5N48YmspH6xoJZwq41MpZroNXypF8oOnSPIDG3wej+vu/dO+4AID6K
JGjpBP1msXXVwBT0I0dr9ETNPnVd6U/rX/cN3B53cAUwVfDraFGDZ8a1N2iMlb3dZGrSO+0cdaVq
Iodi889A94VNvTU/RCOwiM9WLblx9wy7yGri9QbUHS6ea8POYGmkWgsVUH/X75fY5miGpgRcDQoG
bAKRaW/vrBfqv1gp8GGR6RQZYIWbVrPJ8jWhfPLV+WhXzOfL4f5sbrtTcHmwmZAzxEGxcc2E3Vsh
RYUzoV6TdjnWw1+5YQYV+nLjBWW1ElM7Tr71n0LYB+11CJILeZmla/hseP0KpoYbc8Je19kOZzQL
dJT1dH9UO05oohEm0s+YQGhhCyEJ8sG9W6hMTVhNvMCZ1DzseyprwLyzQKjPgSaNPYtHvZjDTx2C
xiweV5OsnoOGJGtGA0em2rW5s7BAQMBD8Rc+DxEysXN1VfTKmCqGmtA6WtZPSuUGaAWFzuUHw4CK
a51Guvrj/uztLBSEBqFfD1Ey6BWJCwUseFpVlqImE7fQjmmooSdczqtf2fQ0Vp4qWawdF0RJFXpu
0CZDPxRRsCLVqGlSm2pJ/dKjAxp1nDjVHl3gmXgjU/rYswUxHt3CEYhcgQiKaSfd64bU1hJk4ouC
hwMvgqLKP3X64/x2fxZvdWMg+AGxAzQjMD0Uc0U9PGPRprIng550inlI+XOuZND7630bQp2d+tcy
+NDQh0CMFptN+0xYGql5E61zd5py7aXLWKym3tf7H7Vzhl1+kyjpOVkgz7a805OqK6K1CHkaK/bD
aB5q9zyZo+xCvU1Wbuk1ZNeQNMTqihxNnrsryrqVmij2kWS1nxrvRU9CaLE59UulnFHkBVMzvj/G
nc2P6wFNxbbOrbd9sYu2N+fRabRkrJfcnx3GQZlNDclptuNJV1a2TXSRnnFqkznrUGrJNq7WAnNL
G9F0Zg0yffGNUqIqt2cNCXXMo46XD7ii19ZqpLzyijItGTSI0XeBnj6DFszHsB4kHrKz+bd3lbE9
qzZRl+3QuxiXblWdmmamlhS9E1klq9CvoGRQWQeEtSGydPaOPyJ1ouO08Tawt1hKotbczNaSaok3
D2FqZy/Q6yitd4191xT0uJuT+66x83BE/AhOEWQJUXNFxHU9url3KtIQoCZ0JNQoe1/b30YzBo22
nCwr4q0SuynEqqsnr/KeWCpT2N8pi2zxKxK5uGwRMYtXRumMxHYziv1X/1rK7OsCqUc0Tzkpo/3Q
OYa/AIZU9cYBkVNcauqPgS9BZrMTbRPIG56LOH/qXsE4vz8tt7q4OHYxJ5uaFnoJYf2vp2UiaA9F
HSQP2rEPDQKb5ufeTbQ5Ju63sswjpP5dFKqqvyfPz0Cd6AHTJmcGRetB/RsC608lOGapJ/uwHTTK
9mEA+QJa6EGgSVgvAmRDBsgY5guPlwXdncpsCcui8x1nirLJ9RcTAi9kOQzSzmo7x4iDUAV5XhTp
AUoRwhWNzsQc3VlPpgkNcJnCKJDpiqzKsbfdQMiCKBTEXjYS6fXMz7OlNYAv6YlJv/C5DK1hRSrD
iNNGppa2c4Rsvw9gOLBht2fxUBZG7hq1njSrEVZ1FgLtAqmfzC8gvtO50X2X2reGKNnVETLjsXs9
rjrjBvROsHB16ToxtfCsyUCFjTkESH2OlMVvZc6bfx9JoJsshLxQqPqDvL82Wth2lTvOogNU8cVq
nBDw6GhSnudxOtiNLOuzgzHE7YInKcLn7b0jSpGYfT6N6GCvJ5qyRi3aSE7QkLEzI1rVJYSQQpDa
3dEuXrLih9eVD9P8q9OOswEJkmWWbOA9L0JiBNIEeH+DfCrMNrdnja76qifucvKGrzN7L523RdZ9
YteKiZSFAxI+bhzhlNDY4jl8hEi2WpLPGuPPRl+3B8sd/0o9WwZWucW840zamE2Q3ENd4oaytdhl
3VY4sZJ6QOa7P3hVDER4bA3VA1eHt6x4bdjPzovGyfRXT410MoakdvBvJ3SojKm5M3bsUKhRg7iM
1IDY3m5tZt6UDTGTtj54fIZIUO1b/B06Vvf3zS15BDixS0PCJGepZTSEVzBkPiozECpZFS4TWrt7
/MloqrfFfYWuSa+dGh3NrFbypR4USWe2nXcNKNoINHAv43UjPjxLh60d5BTMZG3SLCrGlh3TsleD
1gSd4P5wdw7ZS1MiOAZtxQuVltxM6lZ9Ujh5r6CieN/E3spt3BTg/QDfxLtTOBQgoN/VhWkmajNa
r4OOEm89t8qJo2d7bMqrAHv2sITIJOFVCH6pYK9BvzVrxu5J2NJEvTWGtnPuLDPMRkmha2/uLg1t
H3IRqWmTWpU4DzB3FAoxTeHPbnJ/6vYcAVsdWEmccCARbF9wYcGdesK4PlgJikEUzcgdwKYlwKW9
bY4CwD82hOlCi6jOUeveggEeLV2QDydPqR61dIgX9dTpwBKv3YtHwol/9iz2MPWfuuk8q3EP0sv9
4e6t3OWnCBOqbvLlNdATuCFJ1OpDsE1qgZYsnuzW351YXFII5NFdATi564ldrGHBmxETSwi0wBoI
QZ31UpKX3Yt1kchGVIdK9aZNIRjxbEohAOBYSVqPhPiVNiDO7CykNp2ehW1qZE+6xl6ZWTsEaPfi
ZKSgpLST0z25Zi6jGexOLi5mMGOhUHwj0Gt5jdE2LLUSPh2a6ZENT9ZZ6rAyI8I9COW6dKGQO0xa
HW2y1sc0/0zSMvjv1u9iMEIqsJiAsVOZZyV91fl1+d2EYiJTJNHMrpNcGBGSWMik1UWFFhyQsDjo
HC1BXtHh577H7x0hKMH+Z1GEDd5OWZPlPcaBuRrMn7P7rxnRuM2w4uhm5kFoRBOvktQDxEb1ejvJ
vZ+9tgIO+m01Jrxaf98fyM7Co5Dy53iHcOaNpEkKsSxWmA3s5JCuGtDNKEL/xz5qq4I+gzomG9de
cmfLlqIWBaonkHyCBzjdMPalWtjJrH7TBzTXcV6c+bEZmheSZ4ENMdxqsT8X9qG0/dpyju54Ymez
gl5S1MhEnncHj/zSFp2g+66YIpzMdi0baL4lKV5vdfuq9Gno9C/eIuN67LgLuvf+Y0jYXlM/uR0A
HnAXO/NReYWc978PPeAoSNoAQ4RMu1hCr1DAV9d0W0ed+12JtDowZ+nrf+EsF0YEr7c2PGmeUTvp
9afFeXLqR0inzP+aXQ4xYWBqkLFFVRyIFMEKFJJHN+0me9u+KNP72L/QLpdcWTsoAFjZXiEqKi6A
dG/vsIsrmnVjbi3IdSSUlMvTbKVnBfplIaMAezmkUaGh70FmEK+l7qQx1z1UawWxcWCyqvj+rO4c
V3hX6oCr4KrZgKbXX2IArbu0jDiJ5p0dC4277ZhKC2W7Rrb2d5CdAWBPDK6WYuYzdUYHKfcT9J4M
/TEdPt8fx95uAuHgPybEcUxZV2ktTHgGMmy59mPqPiYC7osmgbDLDAlLl2s5B5mGOonRf6tyN1zZ
OZsSNsnKwDI7YhygpLbqThPsDKd1tt7qbHnpiuJvpkoCUtniCE8Xq3EJ69PWgceD2sr9IXfR3Ob3
/eWRGBFfDMU8k1RrOycpVZSaQT9mxUOdhveNbFNyXXRB7hMFYDyAUMKBO1/7sjONqU0WD2lJ9FeN
cO7pgV0tRtS3qxcUYG3kRZYfc3eU5UP/VHovLSMWRMUAD0zU45AkFCtXBP1vWz6m69n6tE5+mkYu
Gvb45I08seP6odDD8MU9Ae37WLuB/Tw8l+aB89CxoAQHQYGHERJrXfQlj2vIICfT8d9Ny5+PA5Jg
gzg7yBQKnpS1XHVIwdRzSu0+mBkqaq1W2X7X5Yqv87Tzq3VS/YIrNLpv+UZnbTMNvC6qbWACIX8q
3LceustDDX5Wz3np68nqvnKIKPxY/nIe+urgaXEBEaHfHImswECT0JfiPS8ksZLoeH++AAgbJASh
SALWzrVPmOiIXlWFo56JRWZs1nrxdao5QZeyXBL53eCtN1s4SJF4BIoRR6pwd6gWnXI+tOo5bP3v
1P/+MUXfh4/Of+gO9+f1hmElWhI8fZhADDbUWj3XPgstv/Jbf/vXFAGVcrQPng8mVUB9I4wL5j80
/mfrMBX+9L6Ekn29u8KXYxbmtyAONLotfMlH++cjnjX/dPjsr8EQPj2UQSPtRrMdR+JWuzQonL/d
mNGxMf6fwTF0/JAxP6TBNj4WZUEQgFMmu673nOjSprCDyiHTjQzdxs6Pz/Fff3kvh4csDFT/7Sg5
im/SSOK6CmdxMTvTtNHlz48sDtfHLjZPQR2y51CSIth1VZQUAUHcuE2WKP5vlXXnMtRaz60PKfnv
eR/1X9fXqvXt1A8WP5/CX+Xf951WPJ23sW16pTgGUKNGOvJ6J5IyhbjKwNVzbCmB9qqswUOiy1Rc
ZEaElbJ1hl1IYIScPJ8/QZ6NQXHA9yQ3zc1DQhyMsFAEbbk4nuHqmZpx+5V8M0/uF4CW80+QGXAi
8ti2vlMEELYe3Sh3fPO/cRQbne8gCrbxV8Srbm4BY66XWTuHtY/nf2X61PQXErsfL+egkgXF28El
7jloBTooYwKMi8LA9dIhJeG64FUuZ6XVIO72qNVqfN85bhTCtwm9NCGcaNRBr85VMZbz+pZW/pfq
x/dY8+NT/8j89RWgJ997hgpP479ExyNASv4vif3tJro3ROEcaysFDFqwPM7QwOij2g+/vxdRe3DD
4lDNDzYs43A5Kjhb0sj6JVN/l02wsDdUjc81ca3l3BH+4trtcVIGWTeHbQT3RihsDQib2ToqqctZ
z+J8GCNVPbkdjYeUvt+fy11Df/iMAEEBGyLsDavPLXM1yvWs5Wf0jPbG3+0amzL29B8FW3E8qDRA
/WIjNKID+rVTols4r1s3Xc5fDB/3gPaxBB/9R/jxSfPfuV8HWua/zt+KIIo6P8j95fHtPHwOZEf2
3tVw+RXCykGeri77UlnOG/feelbsx1kmPbE3n5cmhIUjhVbTusHCobmDX0E805gXv5+eVl3W8uzm
Xbrtwk2VFx0/THvTO7ye07Ew9JY3xXouT9ZHfdQeoV1S/lWf6s4naAn1131H2Q2bL8yJinQWnd28
qjB5bPKn4PGZ5yEP4yY8tcHBCZ6iOYzO39JPX38iYIuiH28JdLgkznpTqxaGLKrDz3WR1eaar2d9
eaYOQyP2RHUhR77686T51vADuR+lKmQYm51FhVwDrl8cp97GlrueaUj8ZlWlueu5frG/AIGmxdOD
0z+2cbme0JL2pfQVdNd7qtAQNpOEMzfS4RgyOpyhIw/EsSAEKOJWHQJhgJJO6pllP7j+1pKvEBbF
PvXN9UddjId1/pyjXpdX5ttYsFOppAeKHKPzMVn+UI9gYh9pGtbjD5q3oZX9ttbVV7/f940/TwNh
eyNMQMEK+ceNRyi44rraRK/Ajz6bz88fGgLqR9wL/CeP8V4hiFXaPmxeskD3g7csTL7ct77nFZfW
//z9IkGzZNBiGZplPfPhYXqdHb92vqpKzA0Q1ULsPkWyJjdp/21NcLmi0KVur0gxD9O0LmNMs9dz
yqEujV4xmRelRQr5wReI3zAzR6ME+0F9r/VIN2QCTTdF8T/WNVTgERGiI5QoylbaajHlo7Kep4ch
+uBx2C4HokSQeA7eQjb7Mnm23dU1LgwKx+a6gIvuQnrqzKnld4AzjHPQshbCECH/a4KqlkuCvoE+
GvuZZcDVvCjaJ2WTsw8z+zCbh76IvAnZCg8CpJKtuZkWHQ+Jb7RSgGQ7OOxCJGJDl2NU6hGfpvnf
XSi1/RgqSb501wSwu9uaO8i8Cib6MS29nmED1j7EDtajd+ZfyPm+C++9EW1cvv8xItyPFXAco63D
CHqSh3rQBsi4HHCw2kEYr3H31Jysp3i2gXwL4VDjAUcAfcsf1MfmuYhlOYh9/wYdDul3gArBWLw+
7wytY3rmdOo5c8yf5VRE+nDq5ypSyG8zfbfnuFT+ntDmXpv9xgrvT8XeswqpVqjIIyoBkEbk4zlt
w0tjpep55orPp4/CVyc1QK/LijxMHN09yeznjRa3aDOjdF9IKUlO7j0XQILYRA8B0AU+SXD3iazQ
q8qxFmn5NtkfXZfYh+mLmwV5Hpvv5pvBoX0/qJA4PwwQKUP3v+kTOCaSQ2Y7MkXPBtd961CGY/VG
mgGHQGcXxFbPaGtjqJ/pl94Li9OQh2Yf9oskT7oTGAGGjHwT9MbB6xWZvY47rOZMMu2suaifYB8Z
pj8NknfQ3i16aUS4JBZKdV4yGPGGA7e/lL0PZeyafUj8RwTEbsfjhRnxwqwYHXRTUeA/ixM43reR
fanLxzxPXOuZ8IjNra+d7tvcnT6AESBLjxDaEIWCW+6g/eyaa2dDj7wXlkl+/qa1258h/fP74pBG
wFL5pLb6/5D2XcuxY1eWv1Khd6jhTUdLEXMOXDoykyToXhB0F957PI5eJqL/oh/nt/Qjs8CWVJkg
IjFToxuhqBJ1uXH8Nmuv5QieB6bRihWDExDBOW96rBynUFgeoRAD8Mz4xnVlArZt5D+J14L2XA8R
KvZE1Fq8TKIXBJrZDXlshJLbx6TTEH8baQMkZi9kFV4wcAGBPqJuENFAogZag6xaQOc1d2uoTCQd
E31CGK159VHxBEKnHPEiIKUExmc0q6lv9TCMCuiAhgh69VXHpRYntV1NAc5AinVkEAjTNE+kW7aF
b2IkQiw+ZlyqivoA4HqFMh6gMFY+jMDEy6MUQ126YJ7Lrux78/qSLToNE4DkH2smzO64qs0SLQEK
3NFrwCGIYidWgqzUSAFoTq3rxpYCZiQZfzfGX16obCcMBdOGnFPuOd2saKvHm9EMbPXL5Gl9O97x
pL4Z9qrJ6v6ueQhJvIJU+AE/nW+hWaW7AQ24LBXTFmWPKmMwoOeubiVhX8RGPh491uhzW4VSZlya
bPGMHkG9lVNddE+Db0Z1a6TqUYvXeDqnYOjHHXc2LVOkfea4+VAbLDIZN0JcGbh42JHG7hNPCvv6
9C+94OezP3vBhwqqO0MOM95AQmGv+EarWQIyTUm1clIXvXX0mYErHO4wKIlm06xBTwryNVhoiUgt
DZDV3QWP7aaxElyoISn27F60Qfpmx9vw1L3nNC6mjPNqEnTavT9n9vfvmM1slPtpxroJ5yStXh9r
6Gft1H06EoOq5dP12V30RyfgwdT3zYGzfGaL9eO+GbKUc9jBkC0vtjnoSHK6dvKet+5HdZuPNLlf
WdJFF+Xc6GxN3bFIhkHOOMffwCsDIZU8TTHQy5Wu3rZOmZtQHL8+0MX3C4hytFlMjTTazEfjPR8a
xXXOIevFbzNQkVYG//9K7vF9TM9szHwPz8urJOdggxEoe5JTg02dTM8Awh5W3NrFNwtYPbxWiNfQ
HHR59rBmqVShnd9RY8uN3yV5x2YrXsX0oP/YhKANY9GThpbI+YTVGRR5e4SLTpYZ6PRFWSn09rlM
2CMEcQJp5eytWZtN3eB7TSxksFa6Vq8Q/tad0iBRTe/XmtIW75OzcU3X2tm1xY515PEtLKmxXsMF
9o9FaLTtO7AU13fc0v2IhrSJOAdEq2gwvjTEl4Pn13CbnOBX5BFTrgPChS8ZCxVs+Y+8h+e2ZoPK
kBnr0qbknfGWhTOhBYThPgQop2uQebwtt/laVmVpA54bnNbzbBblJpCUQYPBSGwhjWQL0nP8dX3+
lrbEmYl5ykoduTYD7xjvNFRMjHH/2u7SR5XT/ZX8x+JtdG5o5kzkXd8O4GjlHakYN4ynQgLz0eWB
IX4bsWaFd9OL98194TekD+SVfb/oyZwbnzkXap+BiyVLecfXtqMLZROAs7BBSHpKaZCvnOnVoc5e
OFfrKxAkY6gV6OBrmsUbLz8y1TbfB9ndyPY0rs2gsau13orFZwZVFKhST21T6Dq93C9iJRYJj14/
J4H2xpTd0VUFbf12md/2D5BxTjd97RlqroPkRDbHNfz/UhUO3dDAGQlgcoYi6+yA8FXGuDijSMTV
tKzv05wOOrSCDSHbcqHFyvtK3PSirh21YCVwWsqeX5ieHRWGH8q6RsDqSB9mZEvmuMHxLPcMGfXY
NBnqoqUTLMTU3Sgn0c58Em/5Hc8SHn8Yi7HE/QiqQqQNrh+vpQfx9xkBWuhyRUKpSjokp1kHdQOC
9OtJWckFLJ3fCagGnXV0KgAWcGnAY4q8d7uSc9DSOVg5tGZzwIWo94Ck64qDvJh2gGwS+iGQhUED
2Wx5h0yqY0/s4Yvq3Lur39R0iwrSyaVrymJLg8LjgeocqFWgpzc7QOC1iiOv4zgHyJMuAu5fy3Qg
wI2ujaYOahLUxzhfpXOZpmr+FgNdDiIgICmhEj5zXnJXYdshVxF82wkEM4BcNKqj9OiS5GhE97ts
t+bbL5UnoFkGukd4TBoqPjOLLXqnxyHSOCciu3J/6KxYIYVJPV28u74NF28GlCMlqOVgcOg8vNwm
kGaJfL9wOScYXjvmi1E2nfcpV5vUyK0ypDwYaVijLGnwEna7glt5pBfX88z6bJyMWA2am03W5V2T
WeJb4T1F6qb0biVkhddU95YiDGVqIITrhiAe/MqXg+2DCj8aAt4ZgDOkPOD8GinGZyE1wPVOqgh5
IqM8pJGdfFSFcQ/akwwJsyy3pQ2Hdm/vV+oB6DG+XF+Dhe0FyM4EREYxBDxQswewGiG+lqnc4EDX
nIwFaIKgYnrdxNIJvbAxe+eaIWllHm2kDpiXzI5JTJER93LldI3dl4fQO/SM7kN6MM86MytuufL/
+wtmRzctB74ZI9S9s8EIqtYqwXYbV6LRwzsDm3/teru2EAjYiUjV9aaoJZuiWsFILc40xyMTDUAB
YpHZdkNTdtU3PTs4g9C+9mBrZsJwZTF/EP8iClGRgf2XjZnfqSoA/xUjZnqwBivc+xt/Uxmvtx7B
H6sm/R2SSxvxViYv23tIguvXF3qp3gDz0BEDeOH7XF9u8bCRuD7uUWB/Pry+eySjDE2s2o6ohcK+
g3eXdKSyfeu0JrA9zd3skjw3PK/zDTVwGtAaGpxmtCr5RmneuvQ5llcirzUrs7Oigiq2a0vsIojF
QaKuaI5VotpjiJQb2zDmH5pMDRltsOjhIp6dmtz/52Q2tNYPh9vUrCzwEpA7gtl8UUmzKcz70+da
W/HSNkXgB1SShuf7h1Z52LPSAP0/4ArkbeTd8fJae8D3RTdfrDMLc+eeE3o0zImwkJBuoOpBttBx
Q24fsDljEj5qB+3Q05p8JLTHvg1IqvNGv/HpA8oqX0+E2daWRDmK7DplBNKt5e+/k77Xvm+2zExc
S14a4PsAtkN+EVm/2AzNzMoO7tHdJNQybpzQiMzSSkwol5GUdoQxUwqn4/oWWHqJET3+ay3m7B+J
2mmAPYyjA7yhSAG5foVe6WG8GcI/stnOLc0uSFkpuarQUAdOMORqmnQMWd34oCQGKOfFQ43yHl4i
ujismF4f5bczeG2+px15Fk9GuE0STf62/foA/npSAGbpb8BIjH/Covfk+NGYudGS2v7aP0E5i9wj
1UuheqdXu1WU0OJzhQIO0M0o3KM3Z/Y9olgJguuPA+aifMgiOzupelfeiMJ9wnF6YKZorY8Gqmyu
z8NSOAjWs9/tzryhVJYatY5hl7cgLP9cfbkaoYlpr9zSq3ama+5svtugEzoPiszw72qT3eroR6BO
Rz5XhrN0W4LEAVR4qEMi7poNp3WFgAcBGgsz0sft7UNhbSAvGerjY5biHbDdm5Voa/G4nFucDWz0
UDPgOlgs8mMq1QDr0S5GOnEj6e3eP2jSDfrdVka5ULQCVQWS1Ch6Tk2tsxeXYUUZqtWAQh5aHam/
1yCyPKidkSaia7QBiwt3bmsW6QTIC6t8NCBsa8jhuVPBFa6MB92Q1vrLv2so8yM5EV+B8gIuIbyV
yy2i+oOrFR0HjDWr0sYqlD1oBY/cNtlY5A7tTcSsTPorPageia3TTnh4FG8eNT2rcBWurep03H5+
C/KQkAgAKcn8bQ+rcUw5EaM+hM/eSaHcltYWuGvILxz+lU37Tel1zdjs7u8UMOR65bScu9F8fzVf
G6uz1K2JrXt3p9GWxLvjw5fxZLwV9Km0eiemdmxoune/Hm/+IESZvDkkYFk0waJVWppjJLpejWKN
QS2gbsV0N0SJXmoxFJuA2jEqIOu3ENnzdW3ss1uW8fBYuYOyi1I5ewzklN1IKM1ZITsqN20WxPhr
eWcJo6jcVvgPmu08beUGW/T/JrFNxMZQbsZnX24bZgz8fIROLfIKumspLBE76rJ6aOt4G7XNKXv/
xej2Tto0RKVraJfppM2XDozo4E+b/N8fYOsizVW/y5CBr0Zj5N4F7mFgTJ+gqXflzK8Zmjbs2f2p
hiAXdpHsd1rFeRWbHBR3pxwTmnMrhhbd+fMhzeYzlIUMQ0IaRUmJ/ryDP9Kg9GuUL2gekgzkVCR0
JRzVHdS+GfJpP67cbUsnb+ocnWomUOGeL2dStpoXJzCflx4kwg6S8CWGEWmCgIrMLxe6LyxDxbZA
xZFU+ZbzjEgcH65/xOKeQn4AzXOoWgM8O7vU6zR3YzWqOSf1rGg3Eu3tqTKt2iNHyzC8l5vt9qS8
4NaBouZ1y9zCA6ZNZw8FbNBMY0/N1jlhBGUsAR5sthE5IO3SGeOA+S6RYDoJx4asuHtLy60h6YK0
yzTpP9i5+0iNRYihcM5O8KEjRJ7KXyl6PHJyQ1AKSammF7uUCptH274+1Gkks6MzMWgj0AC8DWwQ
s+u+6HH/CCXPOmlnaulr4X3U3R5C0A3w9UKot/xafWTauNcMzo6QxKeS2iPR5oQfXHZQuFKX1TWw
38IxRaCNplgoyYkyLqTL5Ut4lpGzAjaS9jC0xkiDUU/rNYqGNSuz7SnKWZX7AayMFfW2t8EpsllD
INwHr4G/TpdtvIl20j2yubGyXZby2lMmASk6cBehlXb2VgWyD8GLFretCioGT73XuH2WGElkAFhS
9I1eQqiv/1KgqsXQuHKy9+ubZgFuhcuB+6ZMmrzWOfVskItc0o41D+wof1I+JihGZFiccsM+g3/N
BgqhMlxjPF43uwCIuDQ7W9dR9JlUzWAWij7y4Ol8ClDdQTPVzi5boqLrMVdMTccnJP6bdMcizyHp
4r591CK9KFe8k593BD6GnygkQGWIlMfs5LReV0WIZXm4f5uA+Lu1os309y8PyuXvnx0UpNCFLm5G
DBYsN7KyEQOfIrVIpXGXlvciJOrZ6qCFejFssvFQt2t77OdBvbQ/m2wkIUDmM40PxH3ZU3+spAc3
0t3kLnLfxrdIvlU6qnxmZCDAr15f6AV399L27GjlytAKhYSxxzFFzaqtcsJkx/6pqOwSOGlDrNZK
CZMD/WO2QYcDYn80mEJZ5fLKaPh6iKQCuXYhqmOgNdkWnElKE6OBUulk8T5yefa+qYJWh5AX+Ou7
1JcEEpeRLBOIzgNa2CaSMEBhQw12YxLlORn8rn+Pxm54y9hk/MwUD1yl1yfq5xWEeTr76llYMA5g
SNZkIIRKqBKylWwLwG1H/k7qK2hNrqm0LOwINC1MuN0J6/lD7obj6lzN0CzlBNKTWGzU8CFpzOsD
+vkcoSl/0i4DlhNUBHNcShOrnZAO7YSBSYBmjOlQVBvGj3QlfxRivYsTmmVrKZCfzg7SXQCvgodD
+pZtvlx7RWu0pgEzuTNGZWj5SfzWt/6aVuaCTwErkLabOJohJzKnFE47MfHcwOcduQK8P95WJQnE
QwNGmSh2zbYFN1dVjrramEHyDC7UJjklaUGk8GMNW7VQfMGnCOADwRMC3ZE5V7RXRQ1YkxPecQ/5
Q0ELXTI2wTbfVbqhktFIRSKs+HILJWiYxM7BewzlXpQdLueY8dWhYSWU6oZTRirkhhMq6txNT28i
XfoD/huy0GjIRgUSDetY2EtrCJoUJehigAhivESAMeaf7BtPExpQlSOuT5pnGf/jXfe0xku8ELmh
GomZBeKIR9/gfG6DQYa8FpwPx88I6lgDCWx3U++UmxrJ211tbL+KDWD3DkLHlRhs4Qo7t/z9ep4F
J2jLTGKPzwWHa8FMnFtsB0YvQDeNMdZdf+XmWRsnP3NBGH4EWxiDcbK/cr24EfSNt00oukHd29IQ
0R7mIoFYW5FPirV62uJROpvj78DhbKS1OoqJG8F2fuxrAuIk3dsJ6LmjrG9QKNA2O8wvTZ7+QMrn
YnHn3nINDx5aLDCs5Hr0JtL4Vur3EmUf4GDE4YqDsfQKIq8E5kKkBtEsNhcGSmsk11StB0Kl3/Ut
bTXy6UlmrunARnf+21itQWKWLvgzg3PGHH7ktNFvWzy7APAPpOcJDz92jxZ3advt39ynbYwYZC16
X7M620lIdPd10cNqn+zZlFaN1ch/aGSgjQClBy75HwS3TMc3dRQKwNvwjzUjbiAjpddcSCTeKQSi
MpuEVV+59FflmjFv8qHNuHa3piC08LhJ4A4G1BSvKDgEp5+fbdvYj7KcDVLB6Wi/id+bjWdiPtd8
Jx6/ZebJnFuZL2Ke9TH6D2FFPCREfO11aKm9Fs/ZBmX8tQT+QtyK9x6B69TmDpbNeYg+1HhmYvl7
SHpiizVcctrfqQ8f3Yf64fBE44i84w/jLRp+fVPIiXiXrkV7C/fexTfMXLe+GqUok/ANEdpvwEMS
HIUtRK+7d39Ntngh7roc7uxdCWI2VJppuLcjkT8tzyJPRNj+ygzNrtaKUQvHAh0kAE1NUzulYy93
C1MObthPtg6S8bm6S5Z/O2I4iKICqPgNWTjbiw0ve5kmZIJTmtAjomZi3wVWpbOmkb1gm+jX3Tpu
IZjBYH43N33OmbkyUqB8p05rREqz+tVZAFbjOWRvm/19Y7drlIVL7gYuzQnPDfwMKNamQ3JmT1K5
Io/SRnDcJCTdthUMXj2E78EJFC5EPLblHTvuqzRbG+fiXtSQrcZFA2iFONuLTYhkWhd1vKM/89sR
oUpIb3zSO909EkenNbzOAshsylHhFQApD4ifxMmzPRtmrUbN4Nc5gCWJkbN6pFG3CfSYjdHDGBle
rOqpG2MO9nkOHswcSvDCiVPggPmd0Q4OF+/8cRtnPK0yuwYIJN9HvK749x1HxZLKr4KP8FJn288Y
dZTYWtkUS5M1MQmBwRpJDFDiX369nwM13UkN7zzqI09aexPR1mZxOSLCK9B9esfv9EpBvhiEOtdN
L/TuYeLOTM8OctgVErie8eYMJzDpon+v1t1Tq2tECojwxJaG8YLcGxUD8vJi3bQHO11tbF/cowgE
QKY0absjNLgcfu+hqUvj8bwLJEQWJ6MuR2qKftDTKr/70mk/NzWbadkNgBMeYepR15/FbeGRiCHc
gYWDZtviCtrlm/R3/gKBmQAybKAeRNvJzBqyb4pXRnhapefqjX1Udr3ePgg3kfGgUGvPgUIGTGun
0rm/FxynJMR4Su09QT73/uSZKydyIUsD4uvfv2W20Eo/CKnAqIBjo9EUlEymJGK5xbWMxdJWhhI7
OvuBnWN/KN22UqFEgzoKTi3dhRpJUsszeriGqRFEzvW9u+R5S+e2Zg/DwPS8O2Qsrm4dzTHavUjH
98BhjMHcp28q2W7tnP6iK1aXcm8XVmc3aotqRxV2vOBMJYCBcHt3K2/bByLrR2O/Lwlvvo0j9W2J
Vp/XB7y0ecFng6yADCoWoHkvz0ng1unYRDIiDZW2rUe6+7B7uW5iaZcI362rPKAv0nfAfHaPlmPA
BXyFwcUDQLlQ+BSafZhs/RWPfqGnbApbQKYx6XAgyzTbjXztqUrCYCgd2smGR+8JrcPHCoQMrU1I
sv/ABkVI/NGSL8Z4FyriDxa3Mpvy0nSef8PMC60k0fe4QBWcTMoYtDVFVSxZqTBqT1rhF04dZcOD
B82NLxn05Y2eNS66xUXGVw69N6IXUCvaOoG865By6BApBoFIEVwMIucR+84nIoA5WYuiEikKpoLQ
o8f4OO6hm6Lvlgtj5Kk8Kf2IZTGJTdlNFKNkmvcRLSc3g9/kLenKsXkBHr/ZjFzfQJJLYyRH4Sv5
IcvT+MhnJSQHiprPC5oO4HKiQioLnlEB0eThn/3hJcyUErlSLs9tRkzgmNWKBsC5H6qHSBJiO48V
6P/lsvfJS6j50kaUMhqndcqRMWnrrZryzCbOUyUgMZcrLc35uIGeQhqznZGWaMMkoBIAdDr1yzcW
2jUskbuucSkadaP3BFNVkUl0c031dPHF+H3pfqiHd0GLxk5Q/TvhQwGBcCrdawPo1jLCbPyda2ie
6fkrCblFl/fc5vy2UeVqSFFydfy9TP3721D3TpzFgRciNmJLWjmICzU/nBBUkNFAjdP+o2NA7SAg
G6Yudqfh7/XWPBwiuwAwKSPP0i0Y0N6ynIqFLseUMpmlr7wWy6OVkdtETWWi75gdDkkM3EHuE9ER
W71lTmN2ih5FNAqVhN1gTykCCIuqQ9PfDGvYuOk3zx9NCMP90/K8X9jL+CQfpUB0tGc+pxERSovP
9llrVe3xdP22W7wB4FuAuxx3KsQ8Li9U9IRC47tPRQTcz9pwaFqABlaqF8s33ZkN8dJGkg98ILGw
UZqHHchFwBnk63dfruntW0qMrX3/y1Y2j+pq/Ls4OEAmRQ6YasRO08/PrnJGGJmB80bR2QUwc33i
Jsflxxqd/e6Zx9bI6DEUpt89OMbW8QEAvP77lw/4mYGZ56RIfShrOQyooe1aPoCFz1mLkp6Icp6S
k1E4ZY1MtGzf1StO27e3eW1ss6epUBJswAKmM+NweL01gdYiXQG8D9gG9/tic3Oz5Yl+r4TE09ee
xSXvaYK5/nPNZqeu98I89HxWnNoODsOvV8QjRDTQILS5i3dW/uvpJXm42TpAkJxs5BD+0KH/3fwc
lcpwOSt0IYbePnP72ykAcPU7hQ639zXQj1a4sosWLxkEbPD7EZ4CZD+b6n7MKo4LcKVGQDseBgqJ
4toYHrbg2fl01/gcl+b23NhsbiHKEXrjICGNIBrRVqHxnc29rGzb6Q2Y7x2sHW6UiZwabIeXZy5t
Iw9K6bGIVIWZ71iT2qdPu1mL2ZZyCAjpka+AdBxo3uceKM6FKim4IYOSur/M94Kk4OUn79rudvPS
Gv6dWuo3VIiI0zqRfn99jEse4iRtD0kiSITiCy6HGCtNIhQtLzqh/F4Mb0P2kDBvw5pU9gIgFjHE
mZnZGBkBKidyJeD2ep5uTZ+2xxCIqYK8P3jEx3kQCdkzJ/By72kN8l2QVwbmQBhd08Hd1aDicH3Y
i7sH2BCgU7lJQWe2e3KfL1h+UESHfWVu486Smw2EstFBIa/U9pcNTfrCGsJGLO/l/Cp8wWmZ6ktO
rauyKbyzrp2mRhvZufbr+pCExX2Euhco2ScdxzmqEKK5TJ4kMJUZlaEQ5n40R4HGm9eDCcGQezTt
fnlTcgrqD6f4l5GS6AFUmskRXcmBDmo/5/r3LFUzUG8GD9KkMwYkzvS9Zy+WmzAa5/nYWvqhowfI
oxOU9Wn5FO+SvbT1ZdrQtRPLL71k5zZnz7MquT5TQ10XV5CA7AfotyZC3f7exDYj1gfZG3VBDXui
YD3pjysDXloANB0BvgK0E+Czs+uiqsWJ6QD3LXOfx5opxM+qfyeAJqhPDfCehX1O1cKC+8Vgd68l
4Rff2HPrszdWDNoxE9VhGvpBL4/akwJJePBhhfQX2O/slbH+BAnjukA6cMIJIz8+z9CNqttzTCCL
ToJ2mHpTWF5JU1/Ro7BFX7iq96Fe+x/XjS6+5edGZz5QEwxplcO9hc/++OweAOUih9uKbL664/H4
lO33Ar2htk0f166LhW0FzgDgA+C/g2dNnp3iqAjdUK4SyeF/gaSkQ5pXB1dNz1jXB7jg412YmZ2Y
TPTiqO5zXBbSmFtjqGJOmSCkg4sKxHVTS9kWQLvhyYJGEOS685Ddk6NcGttCcpCLJBNj6p11tGhJ
fHIPPOvK0ZiO3cVDiscN1nAuJpJ1ZCgvr4JoZCGvJ3mdA854T/cbDKzp/MZYGdOPy3YyA5EOSNBN
z+m8H61DJl4qPbV1+tvohtMFOzkgLf4Fui4roNLhqTZEvdK19rQyvG8W+h/jOzM8O3tSIIUpGG06
x5Nv3HLH3NcbIdkEvglUa1u/KfxnMlCfyns03WRm5Jvv2lssGgnCcw16IhWBsuddoQeHwhmaTRQ8
gZ8i5mm8963SJVWL7oxKr+A2G95DdpvFtN1rDhc+qQn19cQjZXzb55ZU0CoAHZid38vFsYRAKaRD
B4aEdvpWgAOl0kyPR5wr2jnafLcBQKDhPuH0jtcTGqFGSVIg/CTV6ATAUfiaRDf91L1/KKSEoDEI
xfaaeQKbCfICouEfxPewWm1tn47Stamc1vjs1dDcAMVoVWkdCQ39j1VBhRp0yHsOZH74GOUkMUbl
G+rd9a2zvHNQk+JQCIdU5/zdiPyhVaYF5Ez/VkGuyvXIGpXdmo3Z7dVmKO6XOWzsRAvdb/mOXzvT
Py7l7/3/+yhmD1Df54NaeDhmIKvX09saUIXHCFuEFDv37fqE/cTazGzNtnw3FKnUcpMtgmZBKbOF
2JBONy7JCUcLs9tx9F5LVtoVF6cQEBjEwHDewJl/uTmSQS6qmo1gtK4as3GhczVwUW9k3aZMgDjq
6/4x9dk1xqqfuNBpsChmTFL0k/rKbGKTLEyUtMXSheErO6JfjUc3zE0acBOeuGKJAMbJ3pI/A36f
f7G3papDVoCIzYozOXmlP87G2WfM5hy4ySFl07Cbqv2pyaAMXmLIrhGgnlPcJopgXl/k72rpNYOz
wxhK2Sj2NeZbLMzaJ5IGxYAg3JSiXn9kEiS3ICCQgfKNykc1MJJNpNjZB/fVdrqPENtgPzmgCLOn
61+1uhoz573ygyZTgnjaellsR82dxFH/3csfNJpkRNw0z12wjzAlKalkPWJ2wbByXfyss03PC9gZ
4OpBuAPF1cuNmPJJ1SS51DmVvAtk5IiP6VETaJ3hyn2R3JT0tpSSeFNI0FZAy0hItDsueOoFc1Bx
sxs9ml8k5HI7aEdbQneQxY20irNZukqnd3AisIQTPs/+D6iOiXwq4yOhQr4NeyygfErFjVxbXm/F
wTaSXivtKAn3Kwu09NyDAmFiyhAUFpHP5ewIiCorRq57qHfsueCuGns6QtlYKIJjKLz2MgtKn23J
m5wbGgx0pWTttWxWkK/zUABNjtAnUNGrxyH4Qng727sR4yqV1KDJ6lm0nrFD1JCoLwgsrcyCQlND
gVQbbIiMounSvQOySpcPKaAk0vef6xMyXQ9nx+jHp8zmgwGkDGj+kXVYwNqFqCMRewMwt5usjHke
A8wNcbP7UQAFQxsxMFSC4TDgPnv3qBY59Mp5Qyols05oshOaGmQ5r0OTrtwWs9vph/GZk+cFYytm
Fcs6dfaQvbnJ/chug9YOOJ2rTZlZSa7NnoIf1qbNf+YncCyj1syA5Y1QzJEfIBQE2RxIzZW3SbTW
27E6r7Pj7sYa22cS2jDTDWt4lVmwdtrQHoQ7Idq6hdSGmPgqvcb3as23DfAWIFbgZHClfAf850MM
ykGBzC+ob4FFVy3Is5gh6LShFgH0Jfe+xnCzOMqJ0ghXBYR3APO8nNImZEGKCii+E4qGFFOptsON
JtjFcIQT6ce/Ks0q8eJy7sf14zHXgvleSzyvLNKGYKMBfvfS8BgVSugOaD8TGt99lJuhs3oeFbUs
9XgiJP7wOgRt8sioQrjhWGWwE2ZAG16cvSRj+Sviks6qFDE7xcDC3Y4ZD9wSK73lQ5jZ17906SCj
EI5OJoGXRYgvX35on7B+Frv40KAyJ5lwn7MyXVBXZaFmF+j3hEyeBhAk8oSVmrmjbetWHcoZIAQt
ddSJaHgES+cxOclG+NlZNWjuGUMy9ooZbCSr05MNaxYolYHc9BTp2gaiBfDXA5NZczCnIzzfkeff
Nd8hGce7goDvUvgvOYnt1qyrwOiR1vG8V6VDGCOkVPpvq//20f+795Ud//v3V3/9D/z7R5YPJbS0
6tm//tX6QtPRWx28xb/pb/Xbb8ZnUP/H9Bv+9Tcu//5f/0cDRca3OHhLfyNN+fXW/Jb9+u2+xq+o
6uCjmv/di18F4//4uMnWxb8YaR3Uw6n5Koe7r6qJ62+zGMb0//y//eFvX9+/5WHIv/7yp4+sSevp
t3lBlv7pHz/afP7lT9/ENf92/vv/8cObtwR/7+9/+99//9v/+vv//K+//+0/8d8//ubXW1X/5U+8
/GdVgDofkCLIQeIxxIp1X98/Yf88AUbRRsFx32oC+EmalbX/lz9J8p/R+I3E98QXIIGJGXdrlTXf
PxL+DAFRBVjTb1pj/Lp/fuDFOv6+rr+lTXLMgrSu8DGX2wmlYiSFgV0FLxdqvnBUZk+06Epx7OVS
riuKC/hvjqZoaNSnIv/GqF4d6VnSDk9x7rcPIN19jdnKpewYKJE5BmPMGQOHirQeSXUCfVkIExlj
laCaJGQMWGX51qtTowmKVjumXjhUux4Zq0EvK7l/vH4rwOW7OBcKDiiGMLUaIj7gAYSdDUStVPRV
MpDZlbvR1+zRA72epY6+OG6LrhQ8okRxgOig1HZKwhZfQY6ucOoVXeWBFi/wYlIqgSASpGQKEFTw
uQdCljI4yq6YCHTMmngH1SD0Lda9V9+xXh1IBPgzOdiAmkaNzEJIeJ9CiSb2bEaR+8Ku0PhTkI5F
FzUJO8/DlVBk8bPbdOy2S9oygNRmF/ooxwL8ctS8LnkUhwBclVrFxiUSh0VZALtVxx/oQU5ao/OU
Ptb9eHBd2rGZ7JMyqNuChD2vCmT05FAy0k5NYhIMbeRTdJpyBWlltMBSEUodIKAtQc7nC3UXUw0Y
xpJUSqvmZuW5KMeBJLbd90qtnmQ1DkDtowhda4RcoAFRklWIMOtE5ipb1jymMxu1K/dpUwzqVpJS
N7e4ikdIJitx/qkGSrEtRk3ahSXSI1EYpuUmltryJVTCElokoSdgkpiiKInqcylIJQVttIuy8V6k
sauPrV8LjRn3PHqiElVtb9RRgaAH26Sdr/PMyMgGFytQEsoTF7ldZvAaD+pXXHibBK2AfI+Wjp+Q
ZoUCSuJ3wq8iKjWwLIP56oGLmxaNi4LPf3l8EfrUj6BHUA9MeMP5dcjfQkOF3/8f9s5kR2/ky+7v
0vsQyOC8Jb8hvxykTCmVGjaEpJI4jxEcl/V/Ca8M2+iFAcOrhttLP0zBC7+Ff5Sq/638VK2Elg00
UBCqSkoFGYzh3nPPPaeb3IlGg7JhB0w8cWUluLG3Xm7gQW9M631hJdb0ElNWjbSIqhaL7ixHvcA/
GCsOc1o9bk5rlNaOgNu59hV4XJTGjd/s/GqokoPZ285D3Uj/UzZBC4hcmCxZlKu6MKOmZn1GZk+2
G6VJ0MIuK8y54+ulS7IP6n5+sdbppHeiNvJut+ajb18LTEiD41zmY3/Voe7yZWpnVnMQQxeKjCJo
1IGVaJQIVA0refEIy39qq9TbAxgG7xZXu/yevdLQQs2tifcJBMpkN+WO/Urq8YgGI5o9olgkLM4Z
SkpoxaW7hquRLs3BWOJOQI9eyhPrb1EwbQrnKGwM06MyE00elWs8vUGRrqfRvPKH26AzFVfoqPWb
ODf9l+j3rNO9JVX+Ni8b2kszf57e291YzmEqRIs3bd1jCunUtZueIKoZimJ1234R3WB+GgRU1WhN
a+KStsFzNVn98kvtLPqm8ormHm+xqFBDPLIdaPYPSzbxlRH308cqTdxLp7Lz9Zj4TRzWvv9Og36p
ixW5ivtFd3zsVLD6UAHQn8rWaINTMCxqZX+LUV3KNneNnTJavI89rzY/LkM+mkehOv8tvV+jvkjT
GX3GoG2rKQyC0coilczeXqtiNMI8ThvUJ76RhciXrH0xmtZyWvrWMsNOdTOHlCm8L9yEZn4ame+d
n7oNNg/C0+ae/Mr3d0bfN5TqOLvrKDUkNiuq6eC3rkGCintvl+qjdAr1xqkT1Nut0ogvk7HuimNl
ePTzDpatG1i4SaIibiR5r0XBZl7caRh29ZqsLMQpFXMoJ2/5SL9iU+/Ri9/nVCWSu8YyVbE3GY/e
oKk2EaCnMtzsR7uHzZcLFs1u9Xv9puBoDaJCZrYO03iYAVOd1HP3GNVM1pXhVdVeZXNwmfDfSDq6
cfEmWyaxHNy5HK1wnjs8NtuhTF6mgc7HyByyOYlM5df1VWAsbRemDvYcNE0CYSKtGsdO1FjWIMPe
nVUKSdPMzNskNm1KbVUGNkEhvWoO4PA5XdwDrV0HTSiLXJ2jk+cZcvb6QvR2zAx5k+dfV0EB1zPo
y+mDlH1671vKrqK6LNzf5BDY894Yy3G8djnQq9/cLIW0yB53Q3+NtWQwy0bZpJfBeilERnCtcrey
d62sl6tkkn61m3xj/lD4hXmTzbodIg5m+5ODN2cWsqp1iIAKR1aTuQBeQ6DlqyBz9dXUlcvrdLHo
aC2Uqu8a1fgvvLSQdzKe1Zfeb+THaazn/lAURP4huxcd5FgpXOhVUEiCaGGx/XWs3X5fcnBT7Z3S
5AWQG1dFMzm07bmsrrDo4sS89lutPizZWnh4BQQK5xdryayob1u9RJn29OvM9qCqbu0TLPbRc5aL
WJAT81dh5H7wl1G/71KD8vPS5w32ommRzft4copPqeM4864e/U0eHQuCfOd3pX0Pd4o/XVZ69C/1
sFhJZLM/bl2rmo3QSYRbhN20+EskpB6skIhmTMOEJbbzpkkBXw+ZWsPRsZ3iWvZNcDshoXq/JROa
9v0pvl36jp6dwkrB/M2u7v+U2fmlCPom+9Qz919+Hja/aD/Xr3T/+bO++dD+OwiSUZH7Llb7mhp8
C67/DJJ//z9//O2f/vj9n38Mkr/+5Lcg2TaId2HnoasAqVvSkvb3IDl4RtQM0dqHzU6EFxAJ/xkk
C+JnJEX5f5QLMEYxjc3t/s8wWZjmM/pPtxZm9sfX0PtXAuXH4SWCReRcSFm6mzo6Sq3OGawzZoVM
tCjzcEjondnncWVccILMyfG7yfkzQP8+IN/St+/SO8ahuRO2N+57BI+Od4bgLIG7dFXM4s8gLhX4
E0zDp+1WfgN75alCz4/vhKQOk03A7NJBe84OKIiFm66Z8tCY03I3VAOO2HBtnigYnCXsX9/IMwjJ
oUUgcvsV8vgOQkmVFVS4qfFGi5B3jupqauEyS18UROctMbBRfctWHyWrP51DXNFJ21EZ5P5Byv4M
lyqkrfyub5k9W6X4T2bZvEutHISeyHN+Ao/44YOdDXYGnHTGQhu+pTh/TH8B0pU0PhWJZWS7bk66
w89Xxw9fjG4WPF+31A/SOuuE1fP9XGrDqAdnhFnRduIubz3aUyenf2KUv3glaclNM2bzNcNW8PEo
JjUeLdNhM7Ze8qsis/SRLitsgSEiRL/+QtY2FgmtTR/q+VBZaQ3LPBUh8Zt5ojztRGzo6YlN9VfT
ZsO75bCwOGHOWXhlNTjlsiw0iKEuciwGDMrM2HmKfPcVDHy0d/k6MH9Q2aEqsUFHj+dNCq8Cii/K
sEhShMcxzHVLn0lsU32snHHQVGv0qG5aejo+JL3Il+tiqDvzOHct1eZqrfr+Xs7s9qhWQVcf4nmI
/TDDQ+QGSrwPrQMunBmOjZ8kkZ616xxdt5gHiPMNuSKizo0I+8lMvkwqs+KdtlYK1c6YBx/c0usW
3KmsbI1qp1Ivg9zoulOWrSudXBRz3iU0Fzwlkbu98fmMsFAhHKCRDifqDKzjNEhUKuwiDJbCR11q
2eoOXlPegYIUL93RE4Tig3lQ6IOiqCKy4Aklnb/48pQ/LBwTIZpvC+zxJ9FqRL2duCKcAasJX/s5
hJD5lADDX2wYAGJol2xOaxOkfzxKsq5ihJqAiFU3LJEcpXNlIfOxM7rCfQKo/eE05UgzNsYcrwVw
dO5Wn7sOwIOTlqFd9PVv3jwWGtM1a21Dt7eyV7UTS+cJ/u5fzCEiedzOFhgL0g5nc0julTWZz5Cm
uel02fN4yDL/KQOS81EoEEHtwdyCmjKNMsbZKJlV95ll4hPZt8IsdoOTqRlIZhr93a8dORLlBAgw
xnYhyW1ZPP5YyKqoJhV5Feamm16aq2OGHiLKr359lG8BAzg1S2/7jt+d1KAIXZqKrgrpsrfCYWhz
QOrxKdOMHyfNR6Ip4MMwCqopZ1FJNZm2ruVQhcvkVhhXu6gojqV4oua9Tf33uxghItoINzsfinn8
cjZjeUDQnmSoxQVqbe+wtK12YpDLb2ZF2qOg1qVPkVXRRjkfk5iNRgmuum1Y2pQfz189u4kzuQr8
rOqFGymjBq5Kq1oMeDqYWX3yh8B9YwPTxzsZd5WMOGl0HUGW645r1Q52aBqlLC+Q0dLDfjRIE3ed
myAIlvfdUFGwtyZ/DwCnx6gfquWjCkzsTcxK9kBWTV98WSFM2ajQ6V7u/Mbu84NrrfkcBpZWSIsZ
dVJeOoWdtjurzccpNK0VBZA5l+KFLFcMIerVs3W0WNb0yglm+32i+EAH2mplF5ZJ3FfhHFjoS1Eg
prFJ95ukhujBEcqpU58XAJiVhFq6SxRPCPaFS+tZIHfmOJHdcmka0Ryb3YQbW5m+Lf3OXfdm0OZ5
ZFNxbHZlZ/bDXoEdzmGemgAEi5xAIXFdM4vLdUimgNYk7rH35WzC923AAo1DNc6QmNwVd8Mhi3vj
BkUM76PdLqJ7HRiD74W5nuzECuOm9pom6s06t8tdUrvDemkEC2SEzjEa741MUzflCWfOXG+tMxQN
F9NpaT3o8NxLynm6X7mIEGup3CmL3HGZYvLRqfbVTgJqiF3c9ii7NsE4exeJsuhZCNra+mSxCMqd
8Ef3o07B9x5EU8UfvAbVsFALtnZoOf7yMihd8dtcmNjdDVXV3Y9DbouPrWus9zYhSRZpIJrqosG5
7lXiO9j0tfnUQOjI02qlcyzoxGusc2cHDYfMfKtdlb4XS2s0URvI9l2HmjN4ktKeSnb5NAGJ2xIM
NaKNSqEpJavJjjpzTvyDm6dlmkayGzrrshiXMT/Ygxjf63o02vdeUWl7L0Y7xuWuJDU4DmuL3JNw
S5SXOjVa4iBUIjd/sjUG5cmnXB7tFMp4GNAP+x5jd4W9upuvI3YYCes8KCzrZWmkmRvVudvp3+wM
05ArVcWWOPlOh+pGZ5SJjkRg6PJQdMV6y7zDZkNexzQ+9WVc6tcLyay6GDqzRGymFbW5W5ACfUt7
T+zukrHNX1EDzKxTvbRMbB2U3Xiqlhg/+7waE+MAUFpYUYfCaBrmKmu9L25lVAVzZtn5J8CHWaAh
iuxBKLPGyi79oNP5dTcMCS3iqTu2H5VQVZ6EAH8AR0B36XrhsOPb3zqjzWry/ql3dwvdxxgOgu20
d0swpUBTdSXoSXcX6ZDyp86wK8zSrcJ6sHszTLvBVvSeV91rUyY0fDllWwEgzaMPcypYvWTvWBnc
oX5MiIEbu802DiNtgjdplhVVvUeOaErso7KqyXV2ioRWzIAyjcEaDwAscQNoHLveMdNFcQnbrYLx
R6qHlp9em/fLmMhTlXszKKg5peogx96knlynraM72MKx079THiQB/bnPBhIZM5QORCBvPwO++8VF
2uPzXTzkAEVJNE9z9mIcyxwjyzbHWNEIPTNP8CBeqepSkx+Bqkx9tbpVModzuZYfYqbVD722H+Z9
28rgPki4NcMkG6g+TGCeD7M/0sk9VXPihGtjlfWhmcoRENR2+yLqacXsIywEdUD7pgXiZzs9kWqQ
9t4aKlPQae8XpAsXQgdOvxswrR5+m9Z+QZRk7LAS1UWGWVpNlGocl3lM4hs7IU7dt0W2OFHbGSn8
7LXq0tAfc8O+mF1hZMBrKn8uoAHgLmNNzrTPdeK0p8xXHpY3jd9WkZys4La0kxXlIG3y9DlRC+Ax
xalXenb86aXhJqQxXRN30MWcuFPhIG3NOd0W3Ry5bWvcidJY48u2ngBSWWrJbe6W1QsyckFpdYyz
V/wd7ozJ+GysO+oHqrhqSp+z2VwUGLJvuZMfTTm1jdOqjLk+mIDSr5gpWYWWmKq3zZJ4cWQ2bvkZ
Qy+aQetJIi0NSB5kEYdOnV1ajR9/FL63DLuWTALUNvdcEbWjaD8KOdAspfO0uLfMXA+HORs746RN
s2vwyBTjjZjiWh6pDCcj2YgPG8pJqqA8eJwqDyB0Rrsz8l7ez3NNDtmaYzqGfZeQSqgK7wAkSVf3
Q8vV2YaVITNo7EI276tG4+a9UlY6BV3WdKFUZEKhJwZOa4Dj9UF4ROMHqdN0ioAmpys2h0OJyqjb
Gzv3MnyKBmMw9quMaeBNjS5xMSPxrSKa+0rxkqjkvx5y5ThRVU99F0H6sNPPWcMeec1jOg0sw9Er
WUAid96C0bvtlQbFHq6oOldtVJke9PChH+o6GmqZxu9tfmzYmarz2pOpTJpye+RXpx0dyLYTUWpK
nSinFSV5Ncy2k+6tKoFN4PVyaiInLgvjRhWCImdGJQ19YR/QnwVayObSL2uwe6PthmLfyE4MxwBE
xTisaRavpyUH7L+ui8bKr3wOHor00l7yfRMHi/PekVlhG2ExOsV0qnru5IMXdEv2MBh2F+9pQubX
CcA7ft5Ws64Luo/q3rgOlNfBIgvqWfl3TtK1/UcqCG7/ZcrjQdNsXTjVRcLtMEPdWNrsYlUmfLep
aCXmT5wt5kVAM/brvkjijq/qYpawKj9u9mWWCzt04kCUUZYsVADdKV10uC6a6lpnQzYIYYo56jIv
gaxDT0sqg+mQJXHo1G7NhUrsZN1nhjVYkZxrgw1ekvtf1JS6M67mkV6YSqLKcconw2d2RTEhephC
5vcbizM068gG97VbcIeRJDfEMBluZpdOQHmbqgJB2ZIKZ4PVg8kJO/C/533mQGEbCVsgYq7cW8eh
aHJqabPXfFk4Zn0879PktWeKnjXJSRFfUSru3QN7H19aYbTNpjGugptkdGUSdQBFXTSZVYyK3OLm
r1PDnKzdaikHkjgNrtm+XYZtfstOPFTVyh7xy9LkknNKsR64G9Z+q3o5R7vX3TVd6nG1D2A3W5Bk
Z2uIRtQcHwY1iheq63x3J4Pe/eLz0YCyu7Vs9tp1Y2M/xhIXebL6Vc9fTIre72JhuOP9nM60PRgx
8We0id/BTEqcvke5Oc/fWEXsfKI9tq2vixbNGAp0tc+xZmFTfWkh1SEjuxbFsXGnZtgMdmsVoWfi
F5FTps4UIcUQvM77MoU6GaSZCNWcGW/zwRNB5HGVEn/OvawOoh48EIe4sV7ZVWX1pwTZOgyHerPy
cI2lXHvwqpKyuxpXxwm1QoUhbMTATnea1Lkv3bz5aHvxlB+7JF5BmDhRKRAUK17mviNcb48l+OzT
CQ+uc3CTUXnPnTrnDoRtXO6tIaPEXZeyu1yzGSe9xmrMe1c3Lc1sa1F/GLVXMz96Dr5exL2g8NT1
kvexAev6vi+wTaR0lBEidNZvQ9d7Mqyz0oZun1amFaqhafEaLigwu3iAAx7WRUB9w+/rAkY+pQ0y
jJSriPR/q4Tgmn03WCzynRzhPEaYhpv5rlRmQBGeNSmhfir7oR2MJIiI1sqrkdzGPziqpSyr7ZF6
GHW95e7niah1jhiQSKGoSXKIPqThIfz+OJMyHIJTc9XY1WuCnkubzZFGho7j5bpJ+tg9ZKkWwXFp
Y3vdIW3YZRCr1+V2NfVMLF/0TXFYIM4su7QuV+eIszNlLNttdXNbGo5Zv7RHNeJxSMa2HvxE5PKU
jLl8pxtRo5A8cxrekWonWVQtdQZXr3Hdd5DuUu/eXD3r5Oja9RCnbJMHW+bzQ75acfBiKbNNaL5g
XRxFHOPqCpBEmafqp2F89/M5+nGKIIzQsbKRiXEMM84w3LRL2zipYQv7NUZswl1jbNhyicVElRuv
S3sZ7n8+4DlgBE4IQwXihYeii7S2asf36MC45J5RLBTUZwSVPkFbqXYkHcTJzaqf0nv/i7EQBDGo
kKBESpXkDJxC3WTUKIA3odMb9r7rav9QrmtyWt2i3v/8tX5M2mlI8zcQFD7DZv31+LWCOs6UUyVt
GPvt2yArlpvFz/on5u7HQeDj2V/rRFvV5ysR6DtkJe+CqnPHmcAkHfIvVS7T275qp9OvvgqbRSIr
uu0ZF6mhx69S+T2pDUlOmAbleGFmRRaZRl0dfz7KeQsHgOH29wOpwOeS8LnOhnFcqBmO6mFM8ZFo
GgVAngkRTbeJXNU7IvIHQ3W3cWaiWFzMQoyvclK5dU/KDtNdLostr7mZOve0DObinVIzKbwo9qo5
2P38Wf9q3n3TpY0UqRx+2X7/u3m3glbAV9vm3dMvrdYUJyUa74lqyl8OgrMLxE7qemCCjwcxx2CU
GnfuEGkQ3RHXtjRyLG3rP6WH8MOusMCjWaUU2Si4wRt7PFBRe2PX66QLIcnrg5hSTVtF54totSeE
X34+dT8ORnFzK7VtJQjIpGdbMF0HgCtnhWVvrT2aqQLzp8F/6GVjPPGRfoDqOL+QAt6MtxG6B/B+
/FrShsRGSWoIWbxDaC905XCb5S+ytEluYjcLQj0Exq9u++3QhMAIyr6VcJyzuUz8fpDKp3iQVW28
w2ygOUib1fx1Ev+jgv4PXymhP6OZ/uNWQf/bf/7j93/84/f/zr//33/650dk041S+q2OLrxnrOUN
2kb0gpAKePhfCukieEYPBruKShhQPqxmqjV/VtI98xnGrPwgYASFCgomf6+je8YzFORc7AAoCP4S
1/Sr+Mu/4sgOUhEWCtxo43GsbvYXZ5s7s5NWdfBAdpW71mC6ZMEnuFL2QbkeoEYZe2AQY9aMoG/9
8LxLnCG7MlZjVxHh5jjJw5rJljCJKcaEunOILlM9VRAA7ZQeTRrWsjcjoSOUlcyb3hOSZ94h1RtF
cM4NmDszkDBcTJkM9Is5I/q+zWqELcLGt66REWRfdWu4zGapQgtFw2BQXnZc4c6iB2G39Yd81SsJ
X5wPr7Sz7LS3iCwqMmW8nmzy6+OYBdXVJIy131kpvCW1dkC9oi4ma1/1Kr0EL8o/yWkFhKOXOcrl
nFy2MxWViDx2eNjsU4kEkq47qgzHSDadWR7rQN8HdYamlS9XqspdemHHbnGohdlkEDS9mIxTmB9k
bwaQzge/gGiq5Ie5zfX72h/bi2ZC5QWObvXttP6PLfkPWyPIT3bkRvn+rxv9+/f/8f/+y3/64/f/
9cff/ts5A5y/4c89yaX5zLRhsdB5vbG9N27yNwa44IM+g7VCbAYNgyBgKx3+C7sFAgtnOeUdmNlY
ERseP/Z3cov9DDEPQlaKSy5qb4H7K+SW7Vb4bmNuVso0aNGdxkgoRZz3VPQa4TXbGb1XyDRLlP9o
GXSAAfdFieFTnGv1RHB1VinnPUlFYOZ45CX0cLjnzBMprKCr1ma894KFOnVG8AMyZKb+5RqoYefT
NHcNeJocjM62LprATo5qEWO9g7qXXuYxW3fGMB6k3x9RXM6s5XPdDu8qH0gY9NO0X/b2Ur5PhIVx
WmyKFyL3RrG3VJWBy4z5h9kuEgMArjZ2KTBVBEm+viQxpR/uwRt8YFCjW+W+hXL4RK7xOBb49uro
F2xevRuL47wPn+6NKsa6Vt8X1ELJJrEjhs/2du3NP5s2/k0azONYYBsJeg+yNSjaQDvA7/FxLBBo
WOSWdqt71Ob086xMzBP91eYu9jToIYdxczVMiTx8txNuv62a78k3Zy1T34al3QG7Vutr1sEt8yhO
TFOKn+lc3fedZR5kNoAH6KDf2dZC96Mj6SlIpiJydXpde/OnxVXz/c8f4Uzp7dsjgGgQBGE5bbHn
Hj+CYSRLb8uqure6Wj5Puj47zj5Yde9Uz/HKkIeEDsB9S4fDITXWOyNVwymYWIhGURT7Dbjegy8i
SYMJx7vC3kpvtped8o256Qbv4iKVB3Ru1+sSC+BvZ+q/+dXO1wc+Yz5rY3NxQLDl6038/fQl64Ds
dZCJV7nxZoOjGnEpi6eWxvmG3wYh62AAhIQ3d7PHEzQm3MNZUohXblod3ewzyOmRU+A45w+/HrT9
uyM0bvn/Tw7/v/3PP37/32enPafno+MeKGETAQJt4dgmmPp23JvBMzBi2uzQesJSmXDr76e9bz7D
lI/gC2XA7ULY+s3+POxtgjO+FmfGV/s7SEa/ctZ/rdb/62GP0CloK8cPNoycwJvB0ONvH+P+ZoBN
41XdGhChh9qgTJgMeT+8nW1Nt8G45m2h8cwu1/7WMPTqvox9P88vsI0NFkQt5hYlrJQAdGMsW0U1
XuRVTzZaLpoGB4jwxl3RBM0DkA9anX1V5hS3piJz9g2kbvfOTp04PlC1FfD/zLr2extOkmhmdVDF
0qVVZOTu1INVyOElCikGhU4pjFu/7tUnKpZiuW1FkEO9n801GpXRGNECKdo+BvTzGFFsD85bc6BM
H8o8SKqdQXgGeXluyxtniqmeFxk+VxSzdG9RFaxz1DQyj0pcnjnFS5HYEr+HfGzLgyFH0z0ZZr6W
9oGclKkqqQwj58mRlpBnfbeS/uLwfLz5v30bh+gcDMUMNsbr42/TAZhJ5ozjWTRJzrEz9b3ig7TB
VVWYffZEtvj1snm8FhyoWdB6vv5Dyvh4vDhLFIeEtnNo+qjUhZLSpNrlbmJPHw0JnB+uOuvSq6Zu
FnCqQJn3Yzupt8ukWAILFJ2n1I632+HRE8H0JXfZgh7+hUP88ROpRKzULmszgxxvuMHOFoiCEaYL
Wj8gw65HD2a62vtlgK6AhIDb7OvK49b/+YeQGyr6/XMgex6wUWyU9Mim2JqPn8N1EbUWZcyVlca6
dHdNFjfyRVEXpNAFWYdxsGNBYwANf0ZxNSeu9ZlYvduZs4DwX1BuWT+AH6nggSXvE7+UGP/QcVCA
c66/mdqKvZe2tiYE0eN1iT8546xa7D6khm0f/fxlODrO3oWNTq7gc514sKjPEWAKkUumnTYN4W01
78FcvWrvplaZP7GeHl8rXLbwojG5wireo4+YOOvxpGGUELM6YnDM1IOdSHuPX5o3djXTblBXc7ZE
k1OVT6n3nW8aRmXLWPRqAORgK3t22+Nn3bU0BSEX48uElLBol4PlNvGuz4P+idv5hzd0COaRNuUd
cST9QV8MXm9QyqIc0jB2y7ndmVYh4wu90LBwuXTakVd6mOY5eGI5Pg7ltihmY50TmTM85ddzWEfH
o2+hNgy9i8q2G8003NxWcd5B+whi9WAuvUJZwG0//Hzh/DCzDOuS+huuT6ROF+Hj77nCYVka2G0M
a6wrPWnONN9AzWmBeszG/vTz0bYt9WjLbSR02l2x6YL2Rb3i8WieLiT+Zx6Ej1UUw0Xft94xJhoC
/i+DW0XEua8A0C5TJviJHULK/sPgDrOLMycQCd2G/tngMZ4/Muss1o+K57ZOkOq2Vf1S9fVafCiJ
olQQugnPffSd1aN/qUiKHkrkKFB3pncSZckY3SftmvTnFL273HpzPtZ4RFrKjWBtl/JFN1Nu5Zos
pN5oZMParHdTo+bmGPOBq7tmrXtkGiZzQdZ6oCdzedlqgyY7GbvCvVvjMVu/WFnXOtMFjmzFAhV4
8oz1NYQeMX5OSFkSkAgok0GYL35e3NhTJu3nWW2Y3V0dVO4cJTJp3DyaKM3h6ksj/yKpdU5+HC1T
2SzPVYJG0n72565fDsmayXWIBrPO5JtcNNodT+Rild2GQ+4F5et0LfGPT1HvNudd66WI4eQWdJy3
gy8zSGGjUzswVdvEpQnRG1Lhn9qynPIrnRhW+rwf/To/uktTwfBIcNpeD3SZNTHNeoycfyxr0Jtr
SDp9uSvwGuPoUIYr/OZ56uU45p5YuTQj7trZAe7WKz553Oq0CxZ42noydvZlJ6vZuq3on1zsL7Xl
Qiq46NqqFNmuseoAmc1a2F3qRYMVg6WHyTIu9SnJKuF/xiU5GF5LaoDLl8J1Wi8J5yb14F84sGai
DCYbXZkWrWV6H5iTUJ+JbDy985Y1zT8HQVnWl8KKiUnCuso7eS3mugVLymioa+BLGPOEt63OiyK0
J8qNkURbonxjk4VPtKyZzXQpB7cKLiZ6g3FnTFo9ntJ6FOK5ayzU74GWglS9SmtU+W6JXVrKIa0f
vIRbPm3ijq1jFm9RL09S7vSS5jQ6SefFuCEqzOTLpaav5mqc4awcaJJbIDcUbuZc+tohPNpltZPM
r5e2ny+SwIuLQ9vYC89lFqVHx3SVTyhIenVPwb8yg32jpxr4vBTJ4K4f/VrEMxEmnwyvshL6ZHGc
TGXV+lp1MjXdY4t0U9nugqlI8b/1EwfSidDKigxVr1eT64/WcVZVUZ4mSH/xjFWwzgY/uaTC6Hjd
ngYzO78H2qiGBxo/12WI6Hs10tNsKZGydH2zmg+FtMrWRh/KyFYv1M5kdW+kHmzjshkp9wMsBrFL
z+s6l06Du5dd0wQUDhMVeETaRDXtemux85M1j62IdNu6LowrURjy1ndJChPYKygbf5Q9wvcnPm7a
7u3Y1GCW+FTILXUjIDWmac7fzzKnku10TTc8byWK89fr4pvLjVsN8B/NjNoxDgFy6ryLKTbG+Xpp
PDM9+pNnJjdQc5PswaMxuxhuRjrtfYUIYtrQccfisOdTm1HT9T+WfRKr13G2EazCtc9ho3EZT1AN
Q3+Og/S1Gu0su3Bt1U7DZUXhyz2NhUc/88GfUUmQLyBpiRhR8kp7zR1dh7MSVLEtTopwpXWyfLdM
k9RvBlH51MRXYRoPlQep58ozqmY+CTCH+EbEqX5pz5Ntf1q045VPXYiPj+tNqIROjk0tlxSZrMk9
C8/i2kkL4cfeoYOXSsd0oU6qarrd7HUAujPC+j+/m34cjyo6agnfTKsB5R7fTTnItjmMS3Ao4im9
qNNGXTR0W0D14pBeV8t5YrzHd+H2fuh5Uk8xwMgIh8+xGxG746gnPzi0ReNHrMb5MKfjGtk6Vtf+
AM8Yzqu/w+/hSZ+hLUj712v469CbTCSoCYen/IG5PjTEFaVcSdCGFMi64KiYo2Uu4yvDSLs3MFCW
U4nWLjS9vneiJK+m6pB3uSp2blObTyha/xC7ElT6tMLRIeRSMjhn65uJJTIfbtMXet+ty3ww5Qmh
5qc8qx5/XuIrSh7gVUjuUP1wnHNP8lgMa84rImTDhduGUysMdYTf09bHbobwcQg6WzxlsXSe6mBt
hos0IB2fGFXirxpr3xVU3XiZ28bT8ReYi/4YwTypiyN+2fl82BzaR0QoCx1HutcUKfjT+uTHubG8
/ZWVvb065VYquoQ/BuHlORQ0O/+fszNbbttY2/UVoQpAYzwlCVAiJVkeEts5QdmxjXmecfX/01q7
aomgNlFaJ0kqSbnZjR6+4R2sOnBEJAOfKCAhO1ZT2OQ90BpHNI81+WEIaLEWon7nFreQ2KEbZXNz
0cYQpvzyr6avixAtgdow7sQQWwnOmdPcHR291z4V3I7RsWxN7mV9Gaw9lJdY3N2e92VsK7c51UHy
FNTZMO7TLXE5vKKHEv9Hg2iG8nkHTq0+hfoYPQUFgdJG+P7GWBR2dO6Il6qbvSq3ZXq3iIQ01SfG
dh9CIq3dZJrpc2VBJX3vtGgkyO3EXhY6zeDLaWW9OoyzWSs+/G0bqYAJnFFYKoB6VMCcG9TOy7Tk
5arggaULQdFKIotWmdesxzriHyHF+aRx7pMGk7DIgKehVziWoMmkAu5MFLFxJbwxqnTTlR1J0jDy
k8sphk5L8CsMxc/MrPtY6vp4b1nAZPVJ1T9nClA2TRnMZuMbruraTBYSCpwrtI1prEpAzeWwDkBZ
EehufCzRXFSPOZQPAnt9LrOdruWW76oA/ZAjQCoGeAaY8nLfzqqN5oPaJGG38XOuthSlEXpG0r+P
NJQ75PLXhP0QhJVFVNUnmjLuUUVosr+HvsZPc67j7r1L/nJRSRUsLAX40qvnNpEAcqg+9dFxmqHx
QcHXe3T/RjDgaX7AeKj91VsxtMrbm/nyWmbJkQwkAeVW4i0iN1sNawx1OUV10B5B4amfE6GPn9Si
BZfb972yo3ZDq/f2iJd38suI8HmpP/EASgm21Y5WU00RPeHfMRw1T2/y8ENB6+hYAEr5yqb+phtJ
8SnvwukhJJz7eHtwOZ2Ll5eQH7Uxohr5UaFLXn7TqTLUrLaC7jiXJJ1pBq4+jcv2S2boeBcVreaP
SmWj651OG9935Rsh5y1RW+TdCDfLBFxut1eXMeg3JYyGaTgOfbgcYwdZG3fK3X+bZZju5xiVC3R5
Uml8FHvZ0I93Fu7kx1Q1XSCDcKr0fhgOfaBXW5rqV/ucbQTMi08pKMVBiL/8YWVl8Th0zXxU8HEF
qdpXSKssPyTed+PmvFp9RsILUxjSuFoS6i5HMuM678t2mVHlbPQ9KkDqaYna7j5NTOU7vKL2AeFr
a4cBXdduDP3WJCELytI8g0NRvhwa0fGiMRZ3PlJVI8YDmQDDOwt/uKztr9t7bCX0x5dGudkgdsYA
CYN3WsiXYxkKgN5EG7UjK9B6iMrAiO2a8ljkTnpf4xCB7HSQ7XVUjJ8md9YgESTW3lEb9XO1zJa/
ZPVXI8dHKCRR27uplj/maRr9LgBSbezKyy8itcnAizBljFE5/BSiL38qeAV4fZWTHBD3FtopUyZj
+UdRMoULIAzSD3Zlt5/yQbVKc+/O4xasaT08Vys9Whr28jkFPbtaqXR0piGzwbSOpT3cF0pVfDTr
4UeqRcORCkK2pwXonlCH7/zb3+jygeONkQPbBLuA7GxDfTmsrw4jpLgptaZI9ekQFr8yUPKAQuxG
nfa5sCtVYvHxVaJd9NftcS+vWzmuTKjoV7no7LM15OX4alxNT8vQbmYV4p+jHym664einPRjFiEr
5LZjdv8/jMc35mCTXFH1uxyvmsVEsYdSuolO7NlenPFRSejiNEvyM9ImdeN6fWt6uqyCo0FB92vN
BVdE1YC6q1XfMkr3AzL1ZG1d1Jvwf8qKshtKbxuP9JsjUq6VKEO274ub5asFLTvhxhrRuz8aanhQ
3Vo/zpQNPRFgS5tPRrkhyHp5j/znA/LdNMJZqbexLhNnBtyUqdJZUEMKuEE5+DTyb+Cwzs7/MJQA
s8pgssu/5gRD4iZ81gP8TXDf89p5Vkx0qCfHS4MpeB+//j/z4naUVglIUqAlcrlROkg7s+HEmp+M
k/nQmpHzYCHwsSuo1n26vSevl5AHUB494loeQnu1J2H0WQuiZyqkPNeGteGmOxWiyF8p/KF3Rc9y
VhZUd1ASCNeQgq1jDZhxeQUHXfVhpFeeafTGoQkTgPQj2b5qRtjUjW66cbe8NT8yavnl+ETQ4C+X
sreiUR2cTvUdMHKgQQOj/DIZo8juiYvyrYft+gqVeD/BhUKkzoW0er11t09hlsW6H8MRqz9opY0I
BUqVTgKAp2lFfcgiNKp2VEGd+UsSVpOINyZ8fZlSQZB9buaLqsC6cmOmujIvA3QUfVFa2nP5tC+q
rPJrCgH7Ck6dZyzJlubNW4OCr+CyQdIIfNPq5bKXDJ7TyKC1ZceeLAHch7x25zm2cbYUs3nI+7l5
95EkmefgAx7g1VRfiCCvbhsWt0e2H33zOLG+DZhH+tpcGHszd9oNVY23picDJbYv/RJQXJebSEGl
DaZLKXxVEIzrRdbfkzcRI2bpgrmOC3xSqbYwK2/sXCgTjgY4wuVUrDNbEPhwYJdW8DrN0aGzynzf
10t612a16d2+BK7vbanzREMB7Rvei/WeiQWFXMWaNT/OERaABSWeRpgxD8GkRJ8yPU83xntjauxQ
4j4gqmBD1uLLuVUOypgwnl6G4gBZZ3o2ovwXfNTu7vbMLstpL3cO2wMCKpNzUX1dlQfoHY1p2s+L
X7lx9w1BzbzbqVmRbLzs18NQeaBqRycNbVvbXQ3jogI7NUWIsIsaoQHIK+9ACSx18fX2dK7vF+oq
IGoIkigi8TZcbkTHVSalTQzNVzOHPcFF5C+UgX9BH672QzA0HvWtwU/ceqtAe71FJFTHRKKbpjNF
pFWi6BhdnIfLpPnkJZo3GKPiF7X4M1fR9Bhl8JRuT/St4ShN0qG0yL5RtbqcKAxKmgC0hPwRFfsD
p7zCA8mEza67YX9fxzME1feNKMvrBvppksajATBdPRSBUgclM+zoj7l4xbna7163T5NVBTv60ONG
3r0+AYwmEaHsf04b/fXVchZaPsCcdTuvVwb1viYoPCp5iR5EnjnJlh/qejFfBiPUFRQfpbz3ajFN
ctUy6his6vXoqFcu9vZ5D5FwCCfovKW1ceguiwqytMzkuJglIowy85oW5cQq/d3B6KAuduZ9EVbz
x97NAhPpgjw5M177GCxNcK+3lvmNf6rfeb3I8cHbI+5O5QqO0Wpx25TYaUyUzuvCDBuIwUqwwJhQ
/O2aZWPXXH1HMBgGR4LtCCADXMblPp3cIQAAISpvbK35+wBTOHquIPwnJyuu0ufbW/StwRDQ5sWj
BMZRXJ1+AWRNaLFBnFQVyTlw4LO5JS3Szm2r98+LeqOsRZhsTggRq3mJoDdqy0DfWotQLc7ccFB3
SlC2NADHuvjn3RPjpebw8fgwmrP6YGlvBSDBOHshPXWfNMn5O61daedWGJ9vD7V+yqmq8BxIVzBZ
fqDUdjmxxEZXtgYR7OVB152s1rontzA8y3LIi2a8Fapq+X9Mnv8vxFWTu+C/hS4OhFRypBxONRH8
OnWIy0FxCKdDnZVYJFZu8ayYbBPkXpvubhlp8Aappp1tvcfQN2lU9MaFQFFjgpUNs1fJP2aFQbcv
K3HWe/dawDmjck4izNt4VX9zU3y6bZr5YO4Lv5gWN9vXRjl7IQCdOws1cL+pMIh777D8cQjTScC0
zNsk9+Z12t0lqOkAFRk94BJwuelk74zGFHtAW8u92jVUHbRu44G+OjpyTIkz5EuQCqyFo4JwUqYo
LUcPmHz6Jxa967cEDPdlpbbv3cxyKIP6LV+dms465BBJD997jkdvNEzk3iCF75Mhq5GNsdONuFSG
FRf7iqFI7jmkUiINYNLlSqJlVy+1ZY04tivGU2LjvaaqwfjeIyNHoVmIMhI5Ivi+1SgZ+g61aY9e
0IrgOOmp5CnamU8eQEoKQu3cdPriv3NvykFlz4MzCkRJIodfbxJhdr2oq3Dy9BpVcddcagQnR+dj
VCERoKWj5Wd9X7z31pP3uMTVyXmSMMrw61VGEQfphHoKIjE0Mq2DWhrLE/fQ7Gl6vqVseXUPyaEA
oCIzR5vhqtanV3NX9A5F3VGfxS/oMBP0KFEE+6mKuy+loU7HgAT15+1VfeMYvAAiQZ7JQttVDzJS
o0Y02ujF5vBH9KX20INiocxmbNHw3x4JfCQydxRHXvCmr5bSyNH40hCt8YxYDe8WC5GN2m3dQ04n
feM+WQfFXKlM6r9Dre4TG//VwCjm0XOctHpI7LSodkMVtHj6ig5gWBA9K/Dp9kpTjhuRzgpGx80u
x4ZWAEaSqj3b5nLHNAna/1W/jF7XYaylEhffuzgfPGf2NAEvRv0JfXlI4p/QAHARVnBm91kdgumD
2jbtudaVv/WsDe+GeM5hkVe0wslpVWVjhd64J+h6895JZiP9fvnfX32MgCzSNSg3elrX/dGKbP4y
QJjYuCauokyWgmcVDAfITTJz+Qi+GmSxspT6DV8cAez0hGaY5TtNIB6cIRKeNs3aRjnpKsqU4yGc
TMmBJOE/BhmvxgNbVXG5DoxXG9BTOlrbojdinyqUdnCcvvW5PsJ9O4L8zzByPN4+Sm8dYCjVAHLA
UPDhV2vaG0vaBwi/ezVq7Y9arQ3qsbWc6dEuGwwHnDLrP3RmZxobhltvLjMZJhgK2TdbQzcWLRun
QWXHZSLroVItzhlNNv2AXE1zGFJnqyvwxha3AEuw6zjFKFWqq+M1tEAbF0sbvKquM2TqWyv5TcnT
/AItYup2Q9YY/gwY99eQoG5T4bVTHxTVqH+X+CS2OzWqOjgWCNUgSoiyJu6BVnkIkTr5cfuDXN84
bAaSRckdpNK3zo3bcsgpSg8DNiwkptWSVppHxlhqe406S7ARi19/BhlP0ESkIoSa41rIl8MmrAqc
mydSdUDiI1q+Q9TgkgkwLRwCRfv47tkxCm+hDFxpWaxOl1ahYzYszuDRydPx6KXaOv3OOpRY9w5f
qHz/cHjQk+dTgxZgHlbPb2fQVe8RrPfaKk6P6DqKr2oI3jrQQ/QWb0/t+naCBkphgXyRCbLLLi8O
QHQI2avZ7EVR3/7WBwO/itQev94e5ToIf/Ei+u8wqxVsjbEZrXiZvQE81KG1u+ibht4i0pTEyH9q
0drKo4aoDrBmZei/ghAVhwIMrlemrTiqRlx8ruM26A+3f9fVtiXOEeQ9rDVlcUqjl7PPSPNESZQA
E7PFWBf0010ZYew2k3B6t4e62rOU95GzIF+lPI0OxOrKCutwCdIUU74yHvpnsGWGF+bAv9S5Lurd
nPZbWuFvDKip0BPJ6F6EZuTcX13R0Zji8IQche+0ZvGg8vH/Fg7cHseNzMcIjaVp46G7ehMIquis
8ReqcRorezkgCVzWFXOi+1jjlR/0OLQ+qSIVf0Io5xGC0w3MrAkh0/kUIguR37WxspVUXUUjcnQH
jgYNKdnIXW0zQj1XZOkA57KI6u9IT41PKjWCb2rblfM+nZLw0PaqBVlDrze2+PVWYi0l35quN9y5
tVWtHY09RPlZR23TkNwm022RdjT7+zCfDXdjM129f8wTOrYLx5tBqXpeLnUl7Mw0lkr3h0kpDjEg
5E+s6J98DuODCb3uLhu1958VOgfct4jk8uYC2rwcs3cHfDts1tY0x/QxnRW8oOustWG/LfqcbOhA
v7GZgIMiQP/SQb0qwE/CVUxj7IRPEhsfDH2ezkuNznmpieqzqMbGV8M0exwk6S9T9fL37dN6dS2y
UcCkQsWit0HQtjo8YbIES19lmo9wUX4Keju4X9yk2/iMK5gXy0gIIZnZdBmlSMba908l1cmxXjJ8
LIaCr/VUjPdtbATf2jwLrUPXBwr67lGbRRilmFO1L2d9+Ifqs21s/JI35itdICQXBSIzNdHLj4tU
h9lW9Mj8KQ3Nv2tQZ/dD1tYbKfP1lSQBR9wOUFiIFdbvttVAjMbtTfhZE/+BM01BCxHf6QxyPH8I
HBDy7/6KvKGki9QjiVbXx0SkKLmRmxg+wcK/EarWB1Nxtvo3citc1AH4cIQEsKi5/IhFV9ceukQR
knKt4RuzCYO6LqsdCVh75+pderw9n6v1k1ImeCQwioTQuvJaeHWld0VDYgdf0cfHyxp2YQhEyCqc
4hl7q49Bkg6H2+NdTY3x2JQQuLEjJctaj2frGOwgEsb2jIK/VPBxB+D/RXswmkYEGx/r6k5jMBud
Ccjikve2brnhZ4CbbJJo/oxF0efF7dq/8mwBniyW6ERyRkO+XJaN8OeNQWUJGdEC4jsVIuzliua9
0sBoYIaAPKuHanDVs1Xa5pHr1fIst0V3xYQae3tZr489qm8qus8kaqB0keO4HLVTKheRaqaqoTj3
rOlS3zYWzUGz0PlLIkX1ynyZdqjVlH6vluapKZytp/KNbyuPhOzLU7EHYnr5G9RiDBXFqvi2eWR6
tYqVVGsu2LJFwVbH8epyYbr0bcnX0PygCbLaRlWv6EEDZ8XXAzd9HKc5PC8JVK7bq/rGpyRY5lhQ
ZUT4dW1WoKC96FgtV3ZdRoaPDmCCGWAT+Wj5GucQ76szRI6thv9bq/jStAIkDDZlnYhavY0/pcOX
nPjS+z4rshM4lRhcLGye2/N74/BLgQ0kleiEY02/uqIdTICQK0HlAhdt9VArQtlrdoJUbFXHD0qo
b7XA31pPXgMiXSCxlORWX00EME0kVM5Hk1H/oHcIU2SFhk5sOrl7EZQonVtp4t+e5JvrSauTIi7n
gsv7clfmOhqoNSB5f3RUPLm6FB1+XXE9FRbbxlBvrCflEjTGIdiqAO9WhxDg8qQPDeIaCKnO5a7K
CGnocBrudyiXhtTQbjaevzdWlBEZDig5ieK6XpUjmj7WAVEb/pzTIcQ4EYizbmPXEjUP+hz9MyO2
tVEke2NB2ZaMRXOVN2p9zCO7Xqyer8wVnoXo3huJj7kc9nRJ3h5vf7ur4Nt8CfvR0gMszoquAsRK
ndCkdwPVF/A5/RRRqwOWVfglVxiMwuFb/NZZKi8Ixnc3zOTIQMWpk5BnUvi/3DVG46D12eeAm+Ig
PwAq7HatUZJguc5WafytXUPdQYZuRBZAmy6Hcnuns5A9Vv2kQnXeqadln/RD/kGPsI/QlW6ryPnW
9xNk5rIgLvnmqwORgtAO+5kLJpQbx5qBUARGkN+BdPh1+/O9ORLdOdIXHibC3suZJUqdohNaMKlo
LvRf45z31kdNQZB4N+vh8u32aNfrSCrM88MDJFEb64d3WRpdpC4XdUXe7CuGm3oxKSPKS3F2UjPa
kbfHu56dlJ2gRGpJUjsWM5ez68ASIOtQGH4fqeadkYFuiPSl/sdygujT7aHeeN7lWMDc2YtA0V4U
g16FaT16DuT/PRoek43K/t4a7QyVN1xNmvqI9EIS+mYHg/XJavQ0zfcAv4tsVzWipN1HcS0I72//
ouuLB9FPclMA97IP5642bUV3ty6VlJpwiE1lveNFTMOfk2Us+cHEISD3qKQD4rRxntM2xn7jQ5MT
0+SU8BUpC3y58KZmV9oUDKYfYj2BI2Xh6Cc8XBwfJnC9t4Eeb4R019fQyw1Lk5OgznwRMnsdJGfx
MhKCFK7ft4gJ9/MQfwucobinNqh6Sa20j7kIgt0YDOXG/X5d5eKMUgwHewuYWjfXVdDI7kRe9BN4
zqhSESoP+fhDDQgwyfvqxzKI6ZwX0FNjJMwf1AnQcT1U5bFcsCcx7HrycnfRN3bj9fpT3qJyKbMu
VwoxXa7/APtbxFZJWGSU0dnU295L56Y4R2W5PFWm8/H2VntrOGBz4P4l+J9073I4gHw8c4B1fcyp
+8+1jv7APnGGFO0de1g87DXdbOPduT7a1EFkWgnClFh6XXnhY2LSA2HTF2lUtBiXlHCsW2xr/UFz
wy3QiRTJu8z3QIAQOSMXi94lyL3VY7NoJPNGyIvatjFCYw5uwVbb65+mbikOVjt0BxOJ7j0SivlP
bs9vaGbYe7wtJs8srXJj7tehtStvNFAJ9CMoY8qT/+qqyVPQWb3W6LRb8u6I9Nmc7uF/RVuistef
lXHY1aS4aPg46+BabXVMPyKqW3ExR1+wQIjPVqbl5xww4c7MnJ+3d9Eb0wKeACxalr9R7V9dGm1q
FWFkgC5NJ9YYJQfzyYlKdaON8MbGYTY8CTKbhlO42quV04XVQjHfL7PE+NLhS5nv3HQcz/jk4eN7
e0rXdzBtI1lMQmYRdNSaRD7X6UwCHFAfbKPoR6S45g+YSOFyTzlYaT3eCXT24wb9io378I1ZUo3k
OuRNlyBMuZ9fbZFOszsZrcmUaOnPJrIZ8U5p+xrCoKL+dXuSb2wTxqIpRzgmI93VdnQ0SgSTQT3L
nKP8FHFZHhKBJAIskMiL7DTaQCG/OZ5sAPMZOfzrV711rMnpbYuXNkVGPUuc7GQTrNw7dWocdCo/
3v8wP/J2IkAJtF5zBAlpG6vpZsMXeWJ5rg6KtkwDe5/KRGwOrG7rRbm6bHivOdwELlBXJFXn8uOJ
dI6EUzuGXzeL3fhV0dmflXiqAWQETeupmNFoO7AnRrhTqraPDnbWusdlphOsFlqzB1y8deVc7Sd+
Egh3Llx2FYqa6/sP5Cla4ZXpY52RnPnVs1dMQDQye04P71xuhpIAOAsOLFXS9dsVJc0S0xQ1fBqv
1VNY9dMxQuLf6xI4DAP8543tdHXtMB5YM1mkRMkRXPvlapuYeCMUJwy/0xt4hm1Om3u3zFpnbVwG
V2vILUCOBCyNkjklw9WjnKJSZVdDimkODHy/m4zkOLuN7nGTf729hFdTAl/GvcOHolmKtcYq7p0c
pbVCMN9HAa/lM5vGxEZOjzbIc9ej8EfTEpcXDI6H6wATuRMdcHdrHrVSEdjdpYmuhztc26fWeffS
cS2ShUPRxXLXXrd4FpEZWEV0zjGA3fQv/SXrLsB75qCl6vhu7K4NVVViaBkJWtX69GW21pilqJ1j
nBq0j9SmOyCOJB4C0Z0zVQk2eh7Xq0gOC6AMkIQUN1vviiHt09RqKudoWPPkUfdczgFSEHe3d8RL
lfh1wRpKueQ1SNYd1TL4QJe7fLCwecJcqTyMyoj4rtCarGjuYTr31sFNKj0cdkMP5OyRE8KS6hA7
giN90kicICdI6/YXG3ellZbuY1NkOJ6/WL2HUzs3vgYU/5+6N/PfURU2n8dqcT5AAhbPJm5tGfEw
/vFAaPtzkFr653HqOxXzdAzh9hD/8Z4fk9D8N5k6HOmh/aqPk4NNfTRKx/qayvC5S6SPva3PKU3F
RqqkUsPi/kuNCt/7wp4DsbMgMH4MRx3ahqtD4XxSy6EbHoLKFpNXZqn1yxUtPGM9MqIvQZONP3J9
wXR0sCmOPIStgdwRl0/d3QVmFz6V7TB2fp/byuBbONotB2BsCM/byFXUuzDFVs6zRj3Unp2man+N
fZkXRzq8jhegYoNwljkt4y8Rwqg8hBOnEXiiiMd+Pzdmmht7HHDS7JAZyZRXp74YURVIcILsULPq
Rys6amaCNNmuc7BQKXDwSfv8Q9FmYeSFTWgGv4Ux9YlH4IG2ZazGIr/vqmnBiyjKa4zgYgzUapbQ
6KkeEI7GtZ+L0c3dHcZIUaD4bhsl031ZdNP0O69qs6b8JtyB66if569DYIt02WEq0bjHlva8cdjY
kWy4iw1JfYOTBsjFhBV93WYomkWroiH04jApj0lldIcc6Ei2i0Jj8Xt6E7uwXGJYsUXpNZ0TbIy/
jiII6AkApdICLAuienlbv4qQhgVxeMjHiRdYU3nq7PZHMPSFbzlK7dt62X3ZmO56PJJ/bi4eNUmF
p824ipJMPYiAddrJKRR4GPijq+eNv+B0hGYp9rrGYYnyeLw39Eo37+22djoPwS79PC1q7x7tydTN
o20k8eIPQa3i31U3GOrltYFqUtjGTvpP2UZ2tAMTPamPZa+mwWd4a7CnBPqj9dM8heqJ3qqod4hp
8VeFs/AxJwwfvnahrZWeXo96d0Aon7KFKVIUqpvW6lAFy0ct+JAPZdkeUO/Em2i0QyIh2hgFNoLA
kWz0GpSInixcvC+VDo//Qwqc/UFTKuzi5KP7Ux3iwfCaOkmKJxexB3EcOzXS7nRMcP5oRpLijaPW
pFg7bo3EfR5tvfrUJkP4nS+VW3sN4b7HRGvj4dE2lcUbx7qLP4/Id6lnfusU/0xN+jd/h4kSLg/d
MoMgCURtl+gs5DaIyyKFfYyoAPjzSWvb8Tme0IU9zoqLgbWbTuLRLbU5/iUWtziSzwI7SenCuIaH
kVqHp2tPOzraWyZcSuo1SdPMhzRucv1bjcnHVN2NcRRVdw6atjESokmoAddC1qzbxSNWTied3FQ5
DI1bh89iTtTpM0qD2q+OsE47UzTTQnRxKpfmqKNnuRe4SAXujQaVsm+3dyKp2+roSfkWkizKAuj0
Uulfbf02ikedK688oayk1e2+ppZj+3CJOfCRUpZhtzM59o2P7Ib1JcNg9Y8bci08V0XA056WIIV3
bYOn5q6jvNPfLXYR/1Sxo3oKSx5yL8dqdNhjGlUZXsyBCMUO1SFIu6gSzvoujyO9+MAeHxNEO1U0
YKsZLyi+l1qWz4MSjtVHcNZK7ptOjm+cqo5mvC/qQjQqWmQorT0Mja2lu25W0ULZq1EBjLOEZJo+
KnkSx15R51gh7xA+jJyvxtway3dLWRzzm95k5U+njQRyfOhttfdOHGLY0CO/hTod94GePbkzWom/
4zlwKy4iq03mp87KSu0092nv5cWiJ74bZW7TsExCxHsbYGD7D709ez9nVYDkW1S53SlZIrPKuc/M
OdjNQV3HGE4O5YL7VxIGfkId8MnQS7dFPrEogu+WlQ8WNhCAg+7RNC9nPwk53Y9BFlag3tiM3T6I
RXIK2kbBXyLMzXb+iACa2+90dVps34zhjKQmlZiPzTgWd7MbTbihWUav3s8FamZnhRD/o2LmERYO
TjONWLPpejMre3w1u+QvFON1hOLzAJPxseH0oTCj1FFzyDMsEA+qiJX5EGQVcuF2iYfans4G3oD7
Fk95JAiBVTlSsWzOMccshwrLYisqY/WDWqD89K+9CGW5S2ZR5l4XNf2o7gB7JtlHAhfz76ku2vQL
leflgBNs4pzMxAkxis20T1UfDhr2Q6k6H2pUL791nJ/wDsUnPnIC8rrGytdc9KNQE8xeR6uEeI/K
lPgGgD42Edjt4wNPp6iPMdp/848iHlztQ4vwyvyjclvBZ9L0KXua0gibAOgq05cQI2JcadVuPAAn
pjHbDVlxF5YIRx3msUJaahfEEb7vKppZ+i5DVDf7q1Bm7CCVqhMf4k5b+ODJqEY+7Ov8zhyVWf9i
IwMWP7QIr1E3qoYy/hLgGYDd7pjZsX3vNuz+ftfEnWjqA/WfNPfwCyrmL+hfmr8N/iPoEGMB8roT
KKRm885N0q49FiHP3F1Ya1FgebPRtMY+Saol+WEv9KW+jkFgKATnFsoP58hREuMULZFj+4WWiocG
98nxbq6g/T5Gbm2L8xIouYaqflINtKWRIoUY40yup5e9nv2igTa4Z/4sk2A1EH3lqXZtH3trDhFc
DONoEt4QKvGyL+FQuDuRtm31z6DVIvPa1tL/VQM6Af8OVRW30pasCz/i29f8bWg1/JTCmsR8nEfd
KLFjjuJz308YfTVwpyYKULwuXtZhDkVNQyH4GwZi6F1fu26f7GZ0UH1V0hhwJBzz6Bskjqx8TMa8
/6su0Pj+QwwmCuTGgrI6ofw2Sj9tVfsVqlGyJSpw9eSDi+Wipf8Nzody5SqPT4xeH5S6VU8KfoLZ
UcNbedmlNr057LLNVtP2Xd8oyuet+319vTMstRFCGgTSDWvdiQhnQAbRVJmnlHCx+Og0C6Lqewoj
zb9CWmY/mc2wBAj/ADrwlL7Jp2MV5dxmxoSF1LM7IYa2c9Jx+WPO82LiolMMXY/rK0qgx0UJ2p/j
2A7puOvGUbUh22vOA04ctX7Ih74f0o3i8ks7/XWkKAn+sgUO6lxmzms4tEFGlk402E+O1obwN0XZ
Z/eouOH4gFx7SthctvEPnFKdv4zCrHOvzu3KfnaMWZAJTHQ/HpQijFWZ2mhGvSvpQAefSLIS+F1h
qOOMnhe58NB9KbWvbdolWBhWmvm5MFLjq2N2WrfTYnRG73HQyZ0NdPkLEOJyepIdRZ1eEjeuKTBu
B0w1CMVwGkFFVT6GKOpjb5FJV11TfEhm/Nu8zuiTeOeGUxCB9G6/N3NRisOMeO1JcebvBr2d3+Dh
MjCl+Tz8ZfTDLyfA130ji7wKHKjKAEHU4UHzalPYvIyZDTqujd3OIy5D81yNuwnTY4zWk4pm9G5i
Q7U4oSbqk62OU+lLENx7BV3oUSLeLjvbwGioCMgj9ypqN/qIPmhgqaeOmudfNLE6rwaGjqBqwpMz
hTmx6+3jpMlTevl9VKD/yFngKYVox7r2wFS7ylEK6wTQI8HRxa5wjXUGkouzXYnEeQKgjXbuEMbO
CQtjRcy7ZtbtZa/1dhroO9E3rv0xHdol36Vtlg1fksRyEtCqJkJ209jHOs67PD4W/1Q94YwOg+X2
HNZlaHhduEFS7n4peV+pDfRZaKemmJxT2DrjfUVA9IE6vPvQ1JP9u29GZc//UGwVUq5HpQhLTViA
M2fHrM+tK/o60HvKv1VmJ+axSRp3xCjKHpznMJuz6Evqis55cDQkoLdiXLkTLz4aXS90W4GyEOYi
SrDaJ0WKw2GqVvm5TVX3wRkdFIg7yEnhx5i26LNS12O1S2phtDsNVXz9Q5QiROkb4YyRddogjnvH
x4uf5iQZmgK3q8bMjlOuZ9+mUIcFInDqTlABrIo/LXMUqKgGlbvBa7zaeS9wZvqWcA1fYNaXmz1s
26jX1UI52VaPiGQc/hjNbv7NW2I+8xaG3qxF/QdULM3fs4md+O1N86IddLmGiKqAyiFb4D1BDvFy
eH2IqwKl7fSMq3KtHSI3HB+yrrao1hB65IcpTlHBnkRk1J9tyqU1L7/ZPiOxbk77oEpz+7sIzTL0
dJsAN9gPSx7kP528jx9nO3BKP11IOfflVNrttIsApylexh3dzDujd/TueQS0/oAEpIGpvIEZAnSW
CrKktLE3fhmmYpCJTjNSNmGnWZ2HuHoUnulYufq5n/XR2c1tWinfq45UObk3xGg5e8GjiW20qXUw
gtUoaNXj7WW7AgJQNpT4XkGlF6Avf7tctmJcXApjanIerRBfOOHO3Ulrl/GJCnp5pA6QnF164ztV
C39Vk6OdYBV1P27/iPXO4ZFEiQLgA6VMUE7rcr1bVnhmW/1wLho6QfdZQCyy44xrWJoMA7VNIRJL
PRhaMwpfMUs1PuPfqmb+u38GHXHJ1+MicIAhXC7FtCyj5mRRd07tuRHeaNnTvkfIftqbOg7Iu8iJ
O8/EJehxmPD+noes3NjEL2WV15uYlQDlqVJ2AYcI6HH1NRo3oiQXR/UZE4zQOUpRhgXHaAc10aXr
MQGJg2moH0ixmp9G3Tk6DgBG+ZR2U99g+zfU9qnOQtQoqqFTWr//P87OpElOo1vDv4gI5mELNXVX
qWeNG0KSbSAhmSGBX38f+tu4qhRd4euFFrIdUJCcPHneqc3GdtMajZv3Ya+bc3/wR30QOwTH3Yms
v3L6GfOOg/tRVf6xtGO8hzSvqO+7IGmx5vfbpiYYnOiPfUwGwa183EuMgZ8LCr/+UDbX1X3p/Ikr
cpqXRPOqo+a7vyedKPmNSPOvadPX9g2I8QoTX6/F/ACCAe8X3O/iWkL0fkHITXUclfabzOzODuNC
ksEzkjK/rwdmo2HWWl61a8teflZxmm6WTA7fmciNd5Dibn57lw03hV4HXWHpvxsbXNpuzAw0VTuL
9qhBfSUtvh+TEMvjpo90hxFmZHbZcksL+y6eP19hq+8UXQnrm+Jx2W5TTlx9avrhiKWdz6nIKWrr
MFZmNx5U3uOraVeNHLNjp2uJ9jqjGqwfG9IuNvlc9MW3JWVA9S1g0EGEaqAl2zIo2iMnO9NjNNoa
w184xpPU6LlLEe8F0/s+XNzEyzZlngv3+0jeCXuWVWbKeUDikqtnZF9supxr+2+aXWWa2DW4DFXR
OFKqGdzYk/+AiKhJth9/7leDJZ4/RCucnuErrTzOixVRq1izy2SsjpZr9Q9z6ugJvJOuLg4EXpLO
3mO8kGxapyMEsxz6+jfqjsnfGUKoGVEdi/QecYS+ySB8ZFhnuemXok6q+TAthiY29Wxad6MTDze5
2Sv0dvEOEZ1wzFh1LkBz5vln05OfqVJVtUfPYwU/dhU7+6eMdPWtYWC/e2xyw3nQl9aJ95pZOOmj
Ntp5Fw2Wm2ObTmSP9/XGo1yveHFHIK2rUSif8WrQfn5HZqvPfg4bgtJp1cfJHeFQDuRMGEb1ODR+
+qRUED/R45t3reM0ItRxNqtXKuv0NWkhTd5oIf/waWGvQGYcfNKVvXfxaqdUxkoNhXXsGCQz71nc
NQaxXPZ2A96/6MDQN654tZFCt1x5s2ClVJfVwPH8EVTDWBixpvdHS41JG6naK6fI6mWmb3iZsi7D
1lZm92II/qOtXzFm3WjMjODc5IXl3Hgj1w+An89N4MmASujqbpRnx4leu+3R6Tw3uysWQLCNntij
+8tLVFZvOjJGtLuPl8F7s3C+DNC7g4KvOAleV5fsYVPkZHtYdX8sGXVbn0heiAlJGAVcW0CDLH6q
c1vrQrhgUkZxsbi/a16TOsEGSh8CbWGgXSpiancDFij6vT4Fhbbn++2qsErlrI61VYw/hIkYZ5vN
mraL59wqb0CcFyFg7L6o9oHY10B63ih6+PM3mYsCp0/N79kpirx7IwzUeBSF23ThRF6UCPNYLNk9
+v3xsS27oXy2emUOkMdMkX6hgyxvdAVX7RFHAor1apqEQy0E2/P7sRMMpzB+zk85z7Ylljte8iXC
mrmzwD96DoJhnXjVFzMjzWVDQpHB/F9bpHWD6XH9esnOZKrBiXaFocDQz2+kc9pgwT9MnERsTw2W
+JXq1LfKqcwgKhH1A1zOXtvbh6xj0BOWHTjuZimN/jTbydAfld/2TrqBlZXGRgTZz9eLUBsCozWi
ypK6/zc2nRPz+SSuTl5N8AaDpwSvVTce5/avjxfr+tTO1iqET9Suazjm6kiqXzzVFMhJ9UlsnoIO
L4CvekVeiVmzYRENM9ZiiNJ6jp3d0i59+fnjS78TqS6vvQpb1hBchGauff4g9RGTsnLo7CNAlD2V
UTlPBA7paUYjDIhJgMSbwOmIbFIBQOCEVpcXYxYVsWq7LmzIS8KXyxAxzI/eTb7R4LF1dWPiO7vM
SoW1GZ0+P8pBn/wXE9QuIrzE1fRQGYXUjn1cNt9Nf6hetB7wFa+voG9PWpzpRRXG5ixROLe59Tpl
vezCdJgmkq6C0nrsiUHS9sUg5uTEBLK991OAny2gcNJH1kj219ZDj+V+k90wlzusyqZPANxlte/z
sUl2MBLr6bPJqPVLPwKtb3rAu9+at+jeqers1IhEV/m//QxzkHsp2/EvomHZJmCDd26ImZcl9xXu
xNPe9bT6WFQOuH0vTXvfEUTXHEBUCnPjxUQLrHF5CC9Ptet1tDEdStydWzhzcNRW9/+9ajzjLq+D
irSmwR7n7Y03fLW4VnIEu3/ATsAQcC3P/xr8SKx9LHNYSHStEIJukAQMBxvrP3cPl3A59PjI3Cj4
1x8nkhQuiPEdp9/r9VzKFmMwKtCpqTJ7+CsYlfkD7qU/7tGvJzVCI6y6or6JSfQJA1qyiAEqWC5b
sXAUTVoJLpDCL1pChcQvuc/zzJj3S1I508YWlekylg+yL7NWq+zBSfzKOwyN3d5KM3iX8198HOzd
q63POsO6YgNLfXagA2npyWzrXtypXpS1wfkTYluIkZm4S00VZ/dBM1SBCH1RpaaM2tabiHjwejrX
MY9PMLJ6c1v5fSUw34Tn9BU/8+DREeNK+rPNgug4ZRZJ/gARbX5rakZO2zawcS2yqPL30DryV0K3
jHLPJ4NYY3Hcdsk3U0dgVDhpAsyWiKLYJNqvswsnjI3Z8wk+MwMB5eTj1XQ5yFzNIkxEVTji4IFG
6TxfTQPmKE3SB8HRU1L9XcPQ2bvkgX1bDDt+0jXeVjhaitDKKS2DG5vPRTQ1uyEX95losxmCPpC5
d37xwJsJIpOuf1QyjtmIe6GcLsLko/zlpZVIPnOeLTwQicD4mXi9k33uOEa4vxxfEQ2ZMYUdI1cz
jZ+Mf/q+DXEUmx8tlXijcW+IfBafORfiQh0WPkb6UwQKqX3hI12Y1TqxTB7iJtWzDUC0j5p7aUe1
y+wmD74kRho8+vFidaxqilxLJgzzTQ2wp3qAdFJhhTq1za/JmCpAv49fyfszP1+lnFfRUKyUK1rx
y8ey4L1qurXuHKeBZAuONyCjwYPhNMN2kkvT7SyvGfeOFGTYpI4mv9katbIK4ZY0S834uRPB302b
utm9nqZZFpa4g2jfg7YBJBKSADM8CR03K6IkG2w7sr0xdl+n1m96bVtBQKADKU1UvKEhCzZbxxd2
s7fbNd41VlPg/nAkiWKvRjP51Sc/J9l043Wi4w06/gxYP4nMvmstrWxeIZKW1lMO8Ws89VizkZmR
TksdKSObnS2UnCpToaxNY2MO/lLu23I1EQM057FyX95zKzk7PgReLl7K0mviIZzcGbMxv6ub+Gsl
dLEaSc6NwsPDz23xzY0tDrsdX472uW/s5Wj1JfGAIbtEcCCulpsljY0svhCb+fafLMt9gM0605Iv
H7/Hd+b95Xvk0OJAzYc5fmXQmBU6rOZhMI5F3WUSS6jW/0mTmpDu2mHk+9vAbjMNeyNetnDD5mw7
IwxR29HjA9gM5JElbdjGc2d+mtsxNx5bj1SoZ9H21ucELu6KRElQsx8Vjlrea5LmbLWOrhqLXX1J
x291V3jp7ybFmrVcT2zBNmg6O4iCXrD7+1iqvhINb2TgWkLu6pTW8wa16A/VhXtCFu7ikkX27cVe
Ba/JL3wZzEdXi/3uHs/O4cnSbGv4xDdn6ke7HSHUBOOQdZ9Ery/ZLdXodScG24+RF1PAlVx4mZqj
gGqRk4/GcXD1LvmU93ryqbWHfoyMItbT7Uy6mzzCqVra3cdvf+3kz18+Ddg6gVrN/UE+Lzr9tKgg
pQ6VOAFXq3y79Fr5PJkFslXdqb0blfQKOnvHFzxOpTDIWG+XLpa9o7cWfgn+0Ujk2HIA8hMrOcR4
2eAIZKmy+jY0kKEjZak6jxgkaw6FUNOMndR70+82xTB36tjMYtr7qPzsUF8SMT6XdVmYdyxXJYmF
xE08ufGYrl8Qq2Klma7qAA6T6wr6VzejG7kv0mzUjsWU+cYeRFOXobfUvnypHBjcneuMX4xhlXD+
5/eDOxyPCviOP63LPpkki0nrRXbyU1z33hb8u8zP+pDA0QvpgZ3xVu7Z9bcA/YKBJF2UzlHLuBgB
J9M4NKnIxKkXQYVdgg4jcTPSQsdPdNN+9ujrsVGHXd+lvwZURN0N9Hj91i4W5IpirFl3DAVRlZw/
aU5YnpicLjg2hHDfT/Hi0qt5uf484Fv0ySziZbzRW1wk3az7O6x1irqzApygARc/2fYDopl0wk9H
ZXgMmAnIGp+zUWI/p+lV23wrkj7ronxqM9hBQFN9RIhp6j8ZySy/u4mRxNDVRoh1r3KcYXiY+izd
W3PLP7S3DiRKFLQMTVGJXPr065ry6sBtk1MTxPSO4ayN+fIbzuvwoM0MQcJWZguEudLywrxI68dV
+rXSsPrYeEzLui+THbwdrT+5PUO10DVlqj0EZeFmUTtXfnfQJsv5pcWGRqz4wDsod4knx+TGdOH6
W8LLkaqCqJuqA8Z5/obLoamXTsvTUzUZxr3A0RVKr56l2iFLC4OEdg3Wb7HmeZf1LWD13avlfHkx
nMEffM1vQd9zKZGSlkO26iS8oypU/YR4fvzm+GVHE9G4pdmGXq0SSsjSk8tpd30cY3JpKjvjT6Mi
dob4ndMoZrwvZshtLTs4huk/F7uQ7WcBKWL5Aqd6mLedlgXV96aZrYPj5mMSQ75I1+N8nzBi3wY+
Y5toWmSZbyroUN22UziXnxpDDuXvttHqrH1MiTXv2m2qjaJMwpncRy2I1OiW3mmy0Ky+jXCf70CM
anvXSVC0kMLNb1iQDnYh7ITyJ5/qwGnGCYiITvJJ+6EsPZmKnU3mLkPoj2vV1ZSGb4dxPm36atPh
XxZJT3h1R2Iysw530VWU+yZU/NbU5NckAZCPmj5lLLzDqA13qazyyp+iMmxtuDGD+8P6clZVr4do
DBHXpUVpDulsnQkkJ5+KKTdkD3A68NMFiTSQh9ovnetv8PiCCvbx7//DhVdNCqDBCiuwus4XNmg5
x5EE8jvSqyGnjYfC3Y7k+mqB1mohEz9xAru9dTb6w/mEgAfOJ+jd4UdfCVq9VNLJjvFy9NEceV4E
D9BtdzO8hyKsCn/8W59qEYdExBrBfWz7y6e2L8ses1pla6E72BCrVCb8oxCzvx3p9Lx1rGfEO9yU
sixa9EBC/dPB57/ijgYW0HVy7j7RvBr+IWYcMR/TYBbucZwJqvpZzFCPHzSP8ffL0tj5z3Ei55q4
LpW4kRPDqlPbwYfU6m46O4/LccNw+hb15X2jOv/SV3YOTS37GCCzebFl96bUPKvUg6PDh2vcEZ7l
tRurz8v5pSmr8gtfLG2CFEnwxtmg+g7hcfQnzLLE0nmMbJ203Jel0P7CWB/WysdL5Q93RwmyMFfC
nHNF4y4HiWOrOWnsF6epGJYYB1RRq/TONjLOGcGS+94+Maruk0ox/v5s1hPZwSGigQyn8ckY0rdA
MsPdMOPO7J/jjKXkraCi68XM/Jd2R19dWlYx5Pli7ld31smS9Wl0lLjXfRE3m7ZlxpLckU8t5j1m
LZhT2GoQZXujT7zuAdYjJUKSNQIVGevFDqHmfslHuKzw0Tv/H/QoCgZ7mx3anDllaLh1Zt9os64n
3sjuGenShPsrefoSFDQ9UZsiNuXJmVxBH17EmXsIYuXv26x8Nghw/CcHPgkhEM1vbqsw52hUUD3r
gIf1jQJ2xWBaHzmzPBplog6vp8x5Mvk1prf9SSyjNmeROdb6uGHc5mPRPzuTYT85QBuPA/wYLYKr
6hTPw9KM6GsyOWuLBuFj8lPo23qX+a9NpUbbDRc/7rXPXaHZ8TNVSEvvuqVY6sPKA0ufCJpv3Ftt
s3v1JinCcNfhEgHzrl3s+SoqIDRLC0/IU1L6ufghLCstX9x09OGbisC8t705q6AtUi+hVYBUbsa6
yNQX/J7yXeZqUPfZuowmjwjZi0vIXAyAImqq9z02PFm+kmlTvujZTKEviiX+EecjCdxNxQa3qWrp
f848TjcYY8+Ue2HZsbfH3bcQxJDiyGMXAFC2re6dKs+sSEvjySJuXPiG1m96RGDyEA+x9HeLMp3k
h4uyatwQ+6s727wyKgDjOOV4u5gdmh1yTwf5kDiFRfB8Fdg/YiUM7b6fTLd70YoJv/i8dPvQTFsC
nCGSmNmhd9qsRbgGJfVuYF02oaHsvg9rPcmCLbEvyrxzITXEh3QyAA2dwqS1g9vg4czUB8vyk9RF
h6kbdiN1gj9y25puRNiIL/MQ0nKhfXXhh0JCTK0WvtTHVeyqRmCmuB7j6Jxxx4M3cv52seVzHTQl
yUlzS2P4lTqjH+HkqJCgqUHbBAOJ8wnxCdat6nnVaXBhSjvAgcd4mSJxfuE+rcFDfDc5zUuqvKiz
gunU81B6GCok3f6AlZ1191lj1N6hhaVXRTMF5ZejSvc7aYU5oi19yoP5u57pOl4AgAMApKHKqnK4
y124zfeJbWBSEfYQ336lbCS3RNHXbAwPozAANniKZJhdtfPmlC+WNEtxCjTGIHtDzN6GGCj7wbPa
+ARuA0XTR9bCMKtQxV4ySkkjWxhW6OW5BzseVuWNOch1FeSeVqmuDmoKXfNSOZ1wwuvbQsoTK58Y
eXIIbOIejKr1Tl2SZFqESoPdGiWBteuSpv1VenHwHZ4/mnzNqtTw5eMFdl0+6OMIXKJhWs+il/yE
pPfoZQhmONFKkHjdDLPc9E3fKviPMg2HLr4B8L3zbc66Bg8eIlNFjsDQQKBina+sgrahyAk8P2m5
X6dQhhrES9D/9XzLOM62IkaYWU5fZRdtOkbzoHgMG7+A1WaHMtGa8cnIHLc80nInMCNgCgewt2wG
FwrH62SR6Y2P4erAjhT6PTKbuQQD8stgJVgHYHaDck7eZJf3Q155r37Rz21outXwis/GlIc46GmP
5Zh6Nx7X9XEKFSyucSvTAAoT+9X548LoCCrfElgnFo1f5ndaZ9RfeluvkNYQ3IFeofes1AHfq+dM
mlsn64QTh9Pcom3xhDH6ITwTZwjZb3U9TBEF/Ep7f64+1YXK22dbF928r8y5MELwwtKMWjhSz6oZ
JwbOEAitNPK1YFjyrdHl2fyq65rt/86NNv/bzssMyZeZjcQ/S2tOIxNM/S2rZ28K5zlzvG1se4PY
oDnqg2OpT8Sc7tTYkVUV2gmoY1TZZuOIDbVGMzazji3ud3Oo2pMSaZOosEAKaQ1RAu/7ebKMwr8x
Yr+al1EdqAz4pzurb/xV/C8oIKPZRi/vp3asnLAmNRwJzuLpe2cuhxc/y9DYOavIiqPXcXYGuVOx
Vx30GukaRZvcYLs17m0j9V9EqaBfuqgKQ0Sltw4hl1sBIyr+WQ8g9Gs0tBcVOYUrJkZLtvfNgnOT
XxTZXxXD7sPcaNq2NrEaLnLtRnX4wzUhKeIWzMx2vf7FNRkhVCruNHVfNKN+yKZ6jGLdLCMys9TB
oDEJM8sbbyz5tff8d4GgNrzzow36M6bFl2bUtajh/vrNcCjtRb45XuzlYQp4gJmZzkT/xgq4LIDv
V6MWYQvFVPjK3s/rAw1ETx8ONSpt5mBlpqOc6bx6MxtTygINRusWc+jqsfIL1wkJ/AZWHeKB8286
MUfVNEhIDkMROF+JTyISqvaTvHywJ9GjfdPa4k32dFs3zs9/erTshhzVYJzgBWueX5ikqADjK2M4
VH3XbjzlVMvOz7usC2FUeLemFVePlmEs0CqeAd6KFV8yzluCjbKSc++dtHFMnXJXbAPagB1GQL/a
mlb/463sfexwtnC4XoD9LPvr6sJwZbwtAzUE5eIeWuhzBeKrZk6GIbLLTIqnRhi2irxhcZdHN5vr
+zbXavdUoGConxrZcuZuFiP5gXTCzDat1DQk/70FeUQE1PaN6Qrnu28U+s+GikY6y2wzrXJVJd5K
3FrzLRteEBwyvzSf1Zxi6ZuX5lSdyjZw1SHICpl+DghKcNJd2cdzY25ZcHb8O0OzaPxMgYUpHhDu
+kVFjT70xe+WEdQswyZxxmojhdOkmwJ8uoC/mcV91Axy+G3GjZkddY3UpB06EC/5mnPkHe6w/Ko3
DcLJ5A496thEhKvgH11SZc2Tohfe4qQKJ71trNGNkL6OVQP5wTI4BOFKZt+Xc1IOqxPa2L55Ishv
GUv/YW0wHiQYbSXPYXJ7sa1phs1xSBTp3VwlxvJmpsIIq1zqf6upXYaHYsYv68byuCwrwNrMdHGH
YhQNd/9i7B1kI72eU2R3eWsUD97gG3hnE5P1gyzp7Fba1mXLgMrifzAGrjWo3N4RwX+hGbKqemYI
M2wftPoWcwVGh/Bkp40f43CgJW29LTtf5+ylkbnyn38oZCO8POlf4YNderE6mcIjVQwOH/kUw8Ig
Uz0xauuTvZjj748vtWIjF1/cmmHvQ56kPzEvudXE6S2c11r3wElChY1ZCXQJyBv/azoDjxPTLUrm
e+uIweV53TICDJGhnPiHJKk1++uoj8q5l62tD7cq5FVphllKsAkWLjCXKSUXFTLLTFjuaHcOAwGC
j2Cx6kVPfAOLjbJecLAowM4CNRY3MJmLwgzxDj4jXqgrT5iZzKWpPEk4EzxwF+MDd67AJOdhedPm
pgfADbK2+W8rZL0a8CDDDwfiEHKMi22duIcSwrO32h0bS7llRqEv0Uxw8L0lC/HPf1ojXMzA95iN
FacaqMTvp7R/fQr57I5OnS82yOfSoojG8QGzFc369vFlrp8ghFhAG1AtMnmwiz1fInXgTF5M777N
ZLWoT6PRuelXNWDVc5htP45fP77cZeO4OlesixFQnyM47fnF9G7Wx3SIHeE+c2ZxDBFVS9DlCN/A
XhkgwudWe6UlY3InjXFsCEsx52HkwB4Xv7TVyGuLf0Wah7GCLztupb10C+O/MlmwhrFrXO9dlnwN
92jUKtPY37j7tdj968Pl7tcNEkAOFJAog8t8uHlEme/Zi/vcBa58gjcbCCTSdiBDJKCflsqVP7Rh
ScIFtot7qMuqeJF1rb7Vtim6G7PIi09uvRdugdPN2hDh+GOdv7lh1h2mxXb6UiZeZ4SJzQw7LSbj
h2pT7zWdJm+LmKW44XF1sQFx1dWpmn/44vB8uHR8KEWP/EGN47OvyviveEjlW6z5y/ILskpXbYrR
VvONsKjLw///rgkehwErHwLUzPNfWko8wzAe0J9n3k1wV0/pXB5ruyp9GZZxsXI+LJm7+7hLJEGN
weQW9XcN/cKymQOVtFs8BwjuulENLkY9613hirfGBuNiRrd/0Y3Wix0X09hNz3q+bHuPg3bE4rhT
prAdkuA48saTTSVC219ahxR7t/bG1nw5q6ceEcaO2gAKBrUX2uL5g8mh1PX5HBvPZWMkWWjWY+bu
25o56zdLxfoT9FhVbrN2bMeoS+cu/RxjcyXvS4yWdeaapCoaIZa5jiTUiXJ0y5nn3eH/X98LN0ih
QLSOLw7tLDd6foNt1XIK0XsXM6XGWAhWHTDFT/CagcAbqlSX2slu53G6w0EgSOFLDYsH07TlwPms
+yoYdy0WR9hpYBFnQ9wvraJ8NUsr6Y4Qqcq7pUJL8E8Lb9POwkbD1ABbQiW7FT1RcdgOgzAYTJcx
we2RYbf9q5xk2mNQNNeZT19YwyXfwHo1DoacHbWbjDmQjzEAb77TgkTk4VD74/zsN62LzlPrSdyE
5paqrSgSR7uv4sxpo2FY1BsAU2Zti7GPB3K45cyJZKDy2s91biZY6xSaUO5T2U0kqpdzg6zXTeN6
OJhTRoDwkuvaC3dVfFuRAB86cAK/zClUxixXz2d5PzTTAx7EtnyKq3Kl3f+32ra+K2PtfjgrB3Sy
lyKsWquw/LN7gxmGGk9lEEuklPPMhETUhoxKW0DgzYs8U7uEGr4xJ9VgGJSuZiHEcLx9fDsXnSB3
A16LnwSNLjx/+rLzldNXClp6ZTcv/RI/qm5KDwGi+kgVHRrOMs7/8e0yPhgjbPT/x4VRN6/4Dl/4
5WlIU3ZtkkLYvkyBnR5wAYFOU+IXyF/LJ+HP2jeCh/jLlmSXw8eXvtSprD+a4or+C689SJ2Xbt1p
DYlHn+b0pVZeGmy6BigCaTzmnxG+4Xnk9nFhvWWj4QF91tmLgnb9tQiEvFFYrh/+SrvlWP8+Pwd4
On/4mqlPrai04WXwWOl2bJgh7PT5BImk3et2k/0UuptGBcT1Lx8/gotNjSeAwBMBw1pcYTNdol1F
beIZIyvt2TfiSewKZ0znUyZaYW9srCI3qHNHA4SkCm4W0/dfdV6smOeuOg70riD0/sU2o2fYDbZB
V7yo1YMCHb7VFKsma9YNAszd1cyxgvshwyWYSN5KA7tcXqfJQUTWz4El0k2mTUKdlDaa7gHCoIqf
Tcrd9M+EQ9ss/p6JYFCfZly3MGkRUqX7PjGDKpoCFYO31kPaQAfIzTl062mCvby0hvnc5mV7rFRS
ASR1fIXbfsSBQvrCnCOp6xM5DngXcerOjKTemB5J8kR0p3a+Q4hejTvUopoQYdzkQ/dGY1Y9uda8
/IipgPGzUzWNu58moyu3GMkuwa5ZJ5v7zoPIG8FW6Nch0qB7v5ceb+YogZIYw0N0CooD427+X0QN
7hN8OXkqBeDKfpYBJOTK1MyBR8UD6+/bnsnQpkYHPmw85kIYGnemi+kRjhzNK/68onsqY7+XRzU5
worWiTtGMZUzxkYZpUgGMLqZ5JTvvBbZBNbXXhV6adx+zfFrQlrXiWX67rjS+bGqFP2tq4buCTex
0t0P8KUEDi5tilO6Gkl+6k1dHXxZauqLsuf2kMOrwiLOtVrtpBQtXujXjCK2wK05FgwKAlVrRoHR
2eKvVmEYQ1Qjsppyn8yN3fzw4Uu7T6sV+/KEj6sGok+IcJdGc+Ch/KAjsiK6OGtpDo0q9U+CCiwa
gLultRmYDGxvizfzSU9VbfXfW9dQKGxst0C6iRDjbzVL/6mEXf7FrNCihARajeUmKas62JgSPyd9
LMxisxTQc7Fa45CEpASDlShIU+yYMMP379Mmi+e9o/zqR8XczAyVv4iviOWKYDNrq0OZW1hlE5lL
Yrbz3lX4in6rLHjQ+3qp6znCfQa7QODBLsCPG4IAxCylyBh0oDUXd7M1Ffqdb5Tjr6aQSb6BX1DV
M0Vz9D93yOms0wCG42Gan2oNgrF+9OQBRoMpIgrCeAQy9ezXfkanEuoz9G5Cu2Tgzo8shEL+7Eza
nId4Mit1pwFgOKGjaaLeewMyGdwUVS6PaCd7582xk2Q8LY3udOE4pebvZZlzPi5Vk82jTOk7OXTd
rEnDOB1lsZ0AZPfSU7bxpmEUtiQ7N0u7O7zcSkZua1NDRwWl4fOk1T5opeHWkCK62Kl2wsesSj7I
Sqpa2zopwvRoEXn3PDLiKp7MZZjJJc+ldgsLui6SeHZjB0QTDg5/RcrFvhSDKzfrX/DzMjd4+/lb
Uaf6adar9HM1gFjXMKH+64a8Ui4pyQRzrMJw+6KVQ3ePMRW29C95gYeElEX25gu/+h14Hfr7iu/Z
OC6rvV/ZB+0ti8XrDQnZDLgfhdfR0bBe9NqSkQ9QpOU8s5gXA8TFnwZLhi4fKABz5tr7NJ7l+AAt
BJv6TZflWfrfN2dUL6jCYA3wIK7YW24nF+GiP3kpJ53WqEWg8tgxw72zZRO/WqNuHxxrzg5uv3jP
U4Apt9Zn2o0T6MXxi/2RjzJgg4LPBUxymSA7iXYqAqOSL4UjjTyJ8j6bExQnsCq2CQ6d+h2kX9e7
0Q/86aornEYA5SpxuWzjC4ks3YaR8QKjKX2uyJ3/G6EalE7sXElDhjz+35tRd1Wqrp7DbCZX7OKx
xg2/scrqpfOSsjxo5ZRPW5zs7LBtqsrbMCX0/QdUC1/KRBN7LHM6/D7p5j61WJQ/fdyUXK8+SIMr
3cVm8TGUWb/Hf41i6hQnxxp93Itqq+JH19fNSaI/jBROQcccb4opksgiQzVpw42v7g+fOj0J8jHG
CuA6V/2Qxy5dTE31Yg2deBgHS99Myhl+Tkjmw7lwONuKXrx8/HuvX7dDA8SjZ8plQI65aIQKoyFu
e67FC4zr5KnOBLugpiqIG1NW73DBANf7+Irvv+Oi97KAiA04ipSXqw9cuS3dQlfZz3m24NxZapXF
NMP10/GQsLMa+252it2CYM/aIUopNep3nAb9V6qBRvKa36z7cZ9Uzf1gF5Z4YEbBphzH5vLKneML
THGRSxpq1WwFf80ebNY8zGdCjSMjlrPVhUPW0sttPv5hV0uH4CQ8nyjSNu8PUen50sE9u8KiaRSv
0hPFsgk6pzlouDnujRpk0AuyCsk1IyIcERHn3HiqFxMKFus606Nq0VFgXWKt7/lf6zYXEF4kJMFX
20nVrtN0lgydEtEhRROVSGIORJxaj5ZV2fdaJozXj3/7JZFkvf46KuNPaOHQQi6uD9ppYMTa6i98
LQoSkygCxOIYXv0NopY9M7eyAY90r9sLOM5vQ50WRehTGD7jnSQxRZHOl49v6epzonYxpl6nEUjn
mHmeP5ECJ6FGKwhJEXlWvFg4Mh+gCy8xjrW2cyABMT6NS3srX+rqeyK0l0+XqTjZOczJ10Xyr/cA
C6GJ0ffbL02MjOc4A0ef4kbik1s1QX5QeHD+/vh3Xkx1efJAlevjxVVlDQxe//2/rphq9ATDlMwv
w6TJt67RqhcvM8Q+LeiuP77U9SMF3sJVGFUoGzOuEOeXSpIUf1QVJK91WrdfK2V+V5nvHkuO9zIc
4gGET6vFfz2k08WSvcEhFVIx4qSL99hiXYKBXxO/ZJ2VHDmzQe8ymoo27/8oO6/duJUsin4RAebw
ys6tVnaQ/UL4yjJzqGIxfv0sel6sbkMNz2CAwQ2uZqpwzt5rR86di9T4RlRs+/B3Tf2VAujlrWVk
xI8wayiI8Xa/v96Z5uSYF13yXFOb2UORB/Np9DK+jyT4/SvrIFAD/rh3E6NJpw/9J74TviLe3ffD
odazOUOl3hPbDyEfYUINgt3WnJcDARKl3b7pHllE+G98PQGqbBA3O7IFz0JENoTNh8sim+CKUQZI
arPRfvpC5Om2TdPyYfCDMtpaIK7Q5mtZCruUKlNyFDS3rSKkOa2QwZAD3QIhStDZAjToU9ImIU4f
hgHx6QO7caN7NVKsKnf54hXllJXbxnivFqhPqDTyO/bd0FYpLRlPfGnKtPws6GAWAP5SnL5z1Mfz
Ju508WowIeA6cDMZr6astXok4FV+18oOZjcbax1OWlLJN7+1afBOXduoW0e12rfMsfvuDrZj+wUJ
o/biY+B/LWbDyjZA5ecH1ykjexX3iaNOutU5TzY+0FdYqBw+CdBFft9PgbuCX44wPTVNTJLFFCe3
g2WmRD2Rb54dVZnVT11kdBgbqnZ21mh/ulUTgJ04xjSfqrBT5ayv0A8P5UZ3xznee9Okr7RF/P5F
jIYW7DBPNr+GzM/5KgoSOHaFrw/Jc8XJXXuTZi/qBzRr2ZptZT1unSCr9ZuIMssJOU+hhRR21S/+
B5WXTebwGrj9YG1s1aVVSNGm/6wNdMi/1rKpjrJlXTjCn7f8DXmvqImmxOi+Wazp9QY4PVFHFPDa
HpIr2NqwASbLxpm/7uIklQ4EVDPHm3s3FfEME0anz/Xgc1oat75eT/JkU7tIPzttVop1xGlvXLVG
bBX7cWSvFiYJ0ImVY9fOXtZVaayoONZ12NVdZu+ctCy7WzFRO1m55MP2XzxH5NGRIMze7DezGaUz
utrGD5rvpQlmLHREXH3pYPPn6ynuu10/+QkQBNLd7dAyCwk1i61oErI/nawwMQMOqKSGzuM6rWv/
heJ94L4KCfxzTXCa+izipdmqzMzLUOG7Vb2elDHZp9LHUHsAMZz+6GJLc7c12kKO8r3VISbomyF7
jVmmvsZWJ76XBaLzUNObagtfLnDusjT2bxGleNVGRMidXih/182a0t2Ebt9sgO97vP9JmMKLTwHj
d85PJn/VPnbOMN51GnrnNQBVmgYdk1sXlq6iK5bWlvGCMFjpD7maXbAtXuq6T35E0R+MXknFSfaB
vucwyCxCTSAfRBdmKhG4ffJUpPeQAMZxG6gk9j7X/WgHaH09OxlCfuqkI8coaSGtnESrSHCGrAJq
ooX5tm9SXja+m7wcoUe0/CKwV5ZzmyVSvchq6F4Xnt/PwuDlXqG3t8dT2wft94p4z/RURX1WH8ap
aoi0mlw3tNNs9A55WzrlQR8jrWc3VqUvTofN6WckfegkouiQCZtdZr4Kmz78Pm/QpoRYIupiPSCQ
S9dGQl/wAGC2cChuECj8CGiY9nJuyUG9Ru3U58deiXh+pplfGPtKTORx0s/S8p3Ix9JBn9IAieZ9
BO3ss1rsie4caS/WMif/K+lz0hnTtFnpwH/7tcHOfGRu8OJkrfd+ZB+0pMvio+dFlc0dNMml97PS
jKjgFamxVpFEKjuP3pSts9pJ0y3bVezho100L3TQ8VF0TkRcRgjq2JqJC7WtaaNlJgqXxcHzWVlR
1932EeW0VWn4lQQXiRMW5Z/pfhkiAd8+sqW87birnbMWE1DjG6tJjHmLHh/9v60Z+JFHx2k2Gb6n
YpXbxKuswPdm7lPgdoKJOcggXqxGkZOmadQ55J+KFIMNf4Apdi7xHm85Tfy3OWuqz5ZhtN2+D3hA
d5FCpAgdWkeKqKe1RjHec9ofTY827Q6qt9ezl5KFuQIOYiXHSeka3JREFaO3hm1fmzsNNr7/mDSj
/FUPQYb9qKi1N40Moh4+c+CIjbAi71qs37l1gS2R73lAX9kA0rvnNPt+IfWaRoEB68WzHyfJeGiH
yj8kguQkPHU00orQaVr3V5wH6T3FLk0jXYGv0ah0Sfupg2y4Ia8od1YFIlqqPcIu3wxPSurAQ9Tg
uyRwWt9lqRxOOAfK4J93WRgsl+0jmx2kDufwwRhUCnHyiXwuMTA2rFddsBkLww81V++1jY1zYZ0W
MSqnj3d3l0eI3ypw7NH07C+bQoHUNW6cap4tAhNY2gNZlzvV+fCBZ9T7zLgKJ8Aq7afhZcg7gR9m
xiVy5VdcbqDZOpsLHpD4AjoEZ88ODVpeDNganmdQ1//h1ktguiXo67uk1lYQ4/XDx5d9ualFBMRp
n8rFQk49B4bZFsZKvIDWE2qA+NQmTtasEVdWD6MztU89vEVyW+pu+OfrZFigYAjyKLZcoGlm2ZZm
Gw/W05AEbN3mJNmypPh3eTGXd65bP//7VXIWoiTsE51yceiG3DlVltlaTyAe2+/jlAGcyeIOB0hJ
ybdzSKEXQi/+tZpCD9/FzUwhDR8VSNr3H2LdAGMD9VI8Ox3HkTAOBHloddnf4whSQahNjRYqumtE
IrT+tSDCy/cZIAgZj1jcFjvkufwkLfWKylnvP3VDAyAeQCf0WRMzsrScpF13uZ3u25niIuaCOfo6
DJF5rbb1l58AzwGlFIfCJSjs7GyGZEBiZc+rZzXmWjgNOenRg7F4o2MRNLTI5yqM9cF7qQIt6MlG
cvorPufLz4mpEE8W2lKsxvb56YlKrt7nwmufOeZYO5qKgwrd1rCPaMurp9aUV6Fa54cY3LeUbXno
WNYpK509cqG3mQap1nw2Oju9FQPhC0NqO0c6O+II+Lq/UnW5bKRSOEQP4VDUWUqm5wVLryaxnmiJ
6NmpcY/RQXIVC1WAcCTsNAA226FO3c/QLbxPtttB8TWtob5Ht21fy4S7LIIsP4XrZhLhu8Y+9/51
95xGWSLro2e76gaC/+zqzvdFQ9BSBWHcKKp0axqVth5iPfpWmFGxSg1pfU+mznhq/Nm85tb/yw9C
x8lawmK4SHm8sxPlhAbd95nfPhmEP510WiHf0FMnRD8h3U+I/2zTtUDJRHnMnKdjHBscSPKAr8Ex
G/0/hQ9u9/E8dPFF4KJxDANt9fKsLiyneRQEQhpJQQdGl2PYepr/Q7XF8N1OZufEZPEyOa21B22h
HzDEOteUn+ffA5pTMKC03pfhF4je+0cUTGbkFF0hHzWRNskRWrcsHrymAjwAwn6mdtg4hB18fNHn
SwyD8lVgvLdQtYNuOnsMVbzIqwvff8jJDvupFKfmXctfNXcmpJVh446l7LbWUAp5Zdo/r0ky/4EK
QTNGtPQiqD+bgPROIlnTKOQjYwn+i1Tp3jY1BvFNZgZDsHFmWEeF62v2qnXbKbmytJ6ruZxFqIm2
AcQC/2cRd7y/2yj2JBZjJ36sKzH+GE2NlJFqLpuV1Rb5N8zQahfAVXwMah1qFhFmn5uun0OfDfi1
2tXFPMFvobhOV2Nx7S2l7ve/RROR3aJ1KB4NqE5HnxzgDaeobB+Rl3ljGbF0wy4I4oiktbbcRf6c
f+nlHFn7j9+Fv/wOJiTOoChLuS0XuNssNaxuoFj8OPV6dZDTVN7ZcvQ4ByJResVdbPzw7LF9tlCi
v1GgjIlScT5//CMuXwuXuhamHuZMinPnerYgJ8AIvojz2PW0OFdu1WU1yGdb/yx1ZU/rxMbnBFMq
reD9mV5nbj4e//KDYDHEGY/HAtIxot73z6IjtD3DUjQ+KssqH3NjLLez1wUrMwJSWFiDduAWXdtX
L+/6n+U1ttILj8FCp4aVST+vz0eaY/VNGXePrZq7AEpZFTThUDjagcpOdmWeu5hnGIZ7y+YHgQuf
wDIP/lGVTVENSHhRxiNsTUwC2L2pVZRt9Csd9WgbW/Y1m9b5xLpcFxJzAAx00BY33PsB23Jsh4zU
kUd7noP92M/VrZuM6XSH7KI/8B7nX+hkOxtquB5f2Fwk/pWH+rdLZlZno4PrHz/t2Qdm1xMeTV3o
jzOJntGWmlc/3cVdbGwjCGjGoaCFV1wxQl28yFw1ynruHtFkJke+91edoi8p23zSH50YNfrKUTMA
mRxS20r3sSefqCKVL1QEo3Jl11Hy8+PX+C/3fFlLmNIptrCxPrtiVwm+mUpaj6xptQpJEpBfG5BG
21yRn7hn9cp2VUKVChCyt4rg9x8+/gEXr7S1SOfoomFApnUaLLfnj7eMZkOjT5ppPs70f9TaTpH+
H3KDQFoZRHF65WB6Di1fdnOcyZi4TC6bxvTZ9bZJRaqmHgSPFbZ5QrUEttgZm7k9nJAiqHrXtTlB
ZmWUKIugBxdZZu0AfPkPMYkFDTXue2vfVejMMJan+bYL+qKwwt5OEC+thN208MXaSW88AtBxAdEr
y7CXZQ6npAY7Ct7DFg5ZORHUF84uitZixVEVNW7fJpTE06bBqtOOfuqsR2fZ9KvAVvdpj2XsSmvg
Qo+73Av21AZv+tLrO8/KbvtU1XST3MdiGik59fUjxn7styoicrTuIrbzSVp4N13a1Jt2VMPObtzq
B8iR6YVcvH6HdlS/9qOWB/BuioP+vSg3lrfRWgJb378PADUhhhDI92hUFLt3cPpkcOo0s+yMVeFX
2o4b3lBl7A0RbBoFnWQXM4ulT5nRVNeCrC4meX4M9hD0wBwIgLCezUho3xI5j/X8aJpVUhD9lkRr
GAlwKD2jcTYkuAxhlkfWlQPB34YlxCWgiMCexz/fc4B+98CT1cajV6e6c9Bc6aJVrxOq1kI0vXZq
kUVtW6HUlUbVXz5G1rPFKM6Kxolz+ft/fIyjJJ4CXZ/+iBgt/+VKf14nEgwm4qFAF1eu8jyiYvkW
Fw8fvSmUQRhVzvaULHYV5IVef4zwjHyL0Qh1q45zWUWhr0jWKAXm7Ab5/rBOusYzN1iFaVgYVSYP
Bhrjky+9qX9Ie9196c3cMkOhLZSzMZb6WroqmzZDQzfiuUOgDa82kam3JqZR7FNMcT1GtKYK1vaQ
FphHZL9o341JpSEh5AGm+I+nubOVBUEGICNWN3ZuVEx4p97fWVAYCQVOljWvRFaw9SbuzjYwRf9Q
tFTd0coqWV/Zp509zd9j0s3nPjK/ezyh92MCnivh2kYaxwI/U7eTLqBn2ZBC76ay+/7x9V2OhT+M
CZz1i3rJhf/HE44oKPwHhwFWyuswltGmA3jNjsGb9Id/HYvSHjeSaRojA8eR99dVxoXmx96QHH2s
OXXYj+RDWnB05Vqhfr9WU7x8clQw0RJ5vxdJy1v+/h/fxALKcxGNRoemCOx9EUztg55NYs0GzF+b
Ztle+Qb/Mh5+LXBL7D+4pecLIkmKepnZiXtg1elD4o6Sfa/XMEmUIJE4oxP6j/XKRSzEiBRW0NCY
yD7OrtCgLzvO3ewcKuF8SX1hPOjSaI8YC4cVsuD+yr5yeTx/zPD/H477Sf8dUqB+rrPIFe4pLtLB
oqmhMZldO9Qcvd5YXW6Eka5N+7RU8zrugmIXBVa5/fjtOT/R/R6fYyS3F0WijUzv/QMtXbhcmir8
A82J5FtCcO1NjEjum17a5TeMWGrv1IGZk5hU+aeSVNJdRG//WM62fuWnnG39/v9LmPtY8CixXQCR
HasU6UjJ81BB412TjTO9Ak3wthL03X1mKOIdGwCye7oe+dvHd+Hye8VnCRibE3WAH/GcmzUz/7ep
U7gHDd/vUVHf3aTkMD97tbhmH/3bC00ZjZdMxw2PTO7sfgcRGvGBoZrKbrZDl9Zr4Vf0AoZu2LkT
Ia4fX9rZ6vn7rgZ+wH2lQsPyvVz6Hx8siC1MOJPB60yP1AoHkbU3PnXcldHqRBhNUZavuKvXslQu
LxNr52KzZHJiMfu92/pj2K6ScC3wUB088pBfekMi+Jw7FPlWq69AIxpXls/Ly8R1/7tKicyC0ufZ
6hnMqe2SmUowTGHT8BtSc40FBJVtVEVOKKK4eNA6s+2v7KAvXxyGZWNCSZorJUL3/d2Nq0hfZl2b
6bBPd0YsnIPf0temFOQ+/uuDBJ22uDwR8KIcPveLZV0atb0q7cMkpP6rxXL5NcooWdL9d8mlZRWa
bynJ1uO/3lmOniaOCjaifJS8Qu8vEZ4eIakU9w9uUiW3wgQNs6q0wDmpcjJO2hjgqPfd9MpqffH+
LKNSyuC9ZcgLd5yHMLstu94/IKLxHqgrsRM3aeH/QFJTE3ie2/6VES8eJVZ/HCw24zL/MPG/v86R
Xk3kj6SukwZskoxRlck+nfQoTIpGv7YZYb/DH/d+3n//OK33w5VE4tZD2wJJdK3hqXQqwrAa6cL6
MEoYcOEogzwI7UhJ566uS4q3sInag2ByUge96scItnfq4D3vzQGOg4UIRuIBwJwEIt2ci7CtsnLC
XA1hYGNZo/sQZ541rC190j+xeI8tVo140kiBiAfjkJLR1z3oFuF8m7mPSvHVbF3soEOpSf+hx8NS
bPA1Nc7enkQl1xOZZubLYnrqVzbuD/s4m7VXbNGo6KgtZDP3X1rM0dYzi5tBuEYJ8z/UJclXYZUX
0efarpZ6aUUPflOTe/6lqg0tRgGRdneNRRT2yuBi75AllcmNGAbxpGXjiMQndQsysXpbPBMJ6/7w
zNJ7VnaEfIf9g4YiL7Z+4dit/9OdvtVWAP2rOtRsRJJhU8AYDBXd7QM/01Zb9ve52AAMTbtj3LXk
Kc2l6d75bonxXmIrvPdSPX5aUpi+VWwWoWFw+0IP48QxQ5+TrCyqXvUKEJ1ffjaMKu/DIR/sF8CQ
MoHJb8xiQ5qksnZ+V403XTlqrxI9trkZNOEYaxQZagj597obsM8+aMZSkpTc10Vzk3pTEKGMzq3+
1usDIcKsJW/k1o+aOlsBc9AI/nETk7Rm3In4dWC6P3dCxtGu7PPkVtKekqGOIeY1jx2K8RVKKyAY
sfaaeQYJHb5pFd/iIgOsEw5SUunRCPVOTk5RFsWDSw9Q+y+3xHxsy9gP/huCvMy2+DJEue57rcfR
J5oxOGpNq59oDVAdaKdJlGGMGAvuiTMZ4r7yiBAJS7Mp7K3h1qyuUjcIQEwQyt/HGDmdVS96AQ80
6eN8RwBXO65Sn6De18bos+YWHzQgW2EjQf7Vkn6ZrBySjwi8LJWF9swqnV8NxfBix5whT14Lc9QK
S9Uazn3kjA0B5+5cYz6C/LQGwBF1X/RCjpOxsjFFnRS17rbDzGSIgTiOadTeShHMj7Yv1fyjQxs1
VRuC0Mv/GlLF1TdzirQfzaD4eoQj0Q6GTUQ0GAErnNqKkB6ESQewll2tiN5J9PhZJJZXrXNt6osb
j8BeGuy5q085M3aa6ys1zy1qjCTPtWe+xl4+FWZNCjAIRMDcSSu911yZGhHdc+/JLVlA+NVCFu/k
a55pcYIOGm1QyMvsvOq0PMW+UAMsKXKdlmSs2HxWbj9b+xHI5UMmO8M7uq3WiFWdTsWbFKmwibFt
hLahPi16fltbqK9g7AZFTmxaEoCqEgBQk0OQYVzXg9hXsxHMiMJsTLVQDtR0U3TCbn96KSCun71m
N81DkjeJg63fiPpm7yuqPyu77OShqlUndtXUD1MIphfeuRYMqJiASDrNCcayXdznw1jAGbSs6Sec
0mBcFylTNuDBKdXCvgUIvOHOmu0DgQa2v4aMZnyVcqgeUkdz/W0skbqFk4l8hwN0jt0TzkD3XLmU
p4Ee4j4Mk6bt4lvqSiNp6J4Cl2dYpJm/8fon/k0e696tH9fEALlEswcHhDjx5wrMMDA/L+YfCKwB
zbnnxljPCLuXW0jNxVHalCNCSmjmTaktsPuyUkW5altNklVObhsyPiX0L0E5a3I9EKQDWioduyIk
9L08+JakpqZIyRJEu88gdymfkcFDrIVvn4SI3e9VOfr3EEBQNrV219GBLuw+23g99+E/OWQjvrum
i/vV2CPiWmEFzUF1u2NkhdITbbxtHNnFFOBkCuyOBBGqBMmQvWkIb34NmND+G109+eRKSzir5Xxb
h40RjD/7LmP2sWAb3mQqTp5mtwYV3gcDE0eRJMEXTest0rgTPRM7sD3zIeM1bUIjqqOvY1wIFDp+
l34fc0+/9QSSybU2N91tYuZ+vEqQQvUbv9PGQxC09UuhYW8Nh8lsvNBXmvoSI0j4ReWl9Va12wqx
ibAKUR0ZvfQnmRLIU2Xt1cFSeCyYhICPa8mu6e15OzeGCnY0iYpprWSvGaux03lIc6vye6REfrpi
pzU9mpSyE1SpTlfcB0k+flFWXDxmKWJGrOSuqO/tDIv6o2VrwbSItIhgO4wAtH+paUk5klYu8sdi
nJ2bSQ3U4zVtqr43kRq/6Ylw8q0OE8nc0n6Vp2RpNNOnQJDVTrlrhEPnCjAruOXjHU579+RVhmaG
3lhXn4o21t6ArxniMKIahZMksCWENqhzDt7Eqq5Q+LrlirzPutiKOuaUHKmGiLwhgtW8t3puLiHv
6XALN8m2WXDs8hb6Lh30qNHBdggnOLo5C8TaxSRZHmQkhvZgcfJTG4pOnY5zMNAoB2UdIetF1oqT
lfaFXOWL2Q6NJkWlldOagRFia3OGW4dAjfuBQ7ZYZ3rV4o5oS1uFKGfSUxHEASJUPPDWyQaI+DOT
kcESB7cZdPxQqgwrh9U++aXt9RyM0iLbcPDv3jpkLd+UBd5pQ8tV7TnR6hXIORq0mAGd/LFM8eOH
U64XfWgQqQrVNOBh7dKh755y2iNgZZAM3U9147HHomvzLcjJ576vCtsfQgKMQK4ZnFmqcGzZwrDi
VDWETzSlWmjnhvKYhgLj1bPTaoCxPqhbpfnyh4bcIz9Z+tC+GSX1pBA7b1s+60BlYp5p5X+1AKO0
K2Mo+7dMM8b80BF8V+1NzLjxDf+EFawadKpe2JrkOPvkKWc3ftIOPz0U4egfXOGoL0at8mYTt1Lv
VrA0LWPvpr+zeeYJrGFqG8rcpbOvnhz0jSkXyJlw3VoRNII0imRE/YRU8alr3OaYSBKAQ8Ue2Hob
m0qlO6QKqHMRYvaboG6RurJr7N961hO1rf1xsUfFY2zfOvngwlOMvfglsNtBhsIVZoa6iu3JyolB
bYRmDyXmMNYwFHaa7iOelcjD05vOmFBcIoCLqn2RD8kGviI5moXXWl8I5p3rDSZ5SWGym9iXBcE8
PUP4HcUuHdlGbig5uxSd2KehT9ZGx9uXQZA/aamGqShGLu+vmtnzH7LYMCbSCQzjtgmsOj62GKLG
0JoMO993eey/JQHaVxhUsne35Vhl9apMkMezvkKWXyNZ5akHdVKpI7iFEjYY4vvkq4AsJMM66oyd
Xs2ZvnYnNnhrRG/L9UwzkUxj4xrlbQT6N9qJhshKxL9Rmh3yKDb5EAeiUEKqjlB6qyl1kWiTxVU/
uZB0hmPCS69DTxPRJ29ONBmaWmx0sIaD+icJN/mTMTpsBR1MdP5xMKH+dkPBB5Cjd7jRC5cnRMg8
5V52p12xIWVYs8JWjMxETjWzpStERsy8TfuMzEiv46VfuykWg+WlBkFgEG68qWw/0Z/TsfaMh2Am
yTdEDZ+KUA/UQCwz6J7FMDf663Fu83u3NklKJVFWrduJiQPUQq34ftsGceEnR3VBu/aThl/gzU75
uULZbH3SGyMakJdWig8ApXCwRUNd02Ky2sQ4cLLvDIxqdaPGe3Mg2ftgOljSQ0y/ZcIEnjSEfPdy
iEM0S+QgLVw/dtmeiX45xIjffq19OUqqHH4fr42+yOotiQxesGlFpz3mQV1a3/2EPzlsUlNG2BiE
q60b6Gjag2psg60BMxeyb9kwrOjMsr6FddqyTSkL7UmAWfrkY5pObxzRKcgOGsw9TSrmb9zV6bjK
NVXVJ5OOaX6w7V63QiOoeXK1MUy4HKgI4cGuVDPc2m3JdoYiY6YRcZ6z9XJiUXnPqFy0b+RFWtF3
7CLyTgEIVzutFbp/pbv0t5oJ/WVqUBSQOf2eFS9gs5CyqWL7EPftce4L9WwawlxFnWZv9XL61faa
eaXa+bsgcn7sdTlj09ykYw/K+f2xd0DLKAhWsw50YL3sZKFot9YY4RPYw8Q2p0sfgt4DallhHqOE
aShsht7c544mzS3ZRWBXXfYkn/M4wdQeM4V7IbXc9Cd9Bp6Ca8TJSZdJJyHDpO4nO+js6gT53Hil
uFZtzSmZklvPyXl4CiOCtu76jtDxVuOw+dR4WWremONQjif4CDnqFrvouRltnq0Kva7ufSgEKO40
8sDG73nT2E5Yz779C+AS4nKjTPzP0J+j6VSL0fnqKsOywool5BcgIQ6BgRtp6VbZs4ZZzvSb9IZv
VNBpTqUPHjYfFCkadSEJSR7dyt+RxdeoY4rFYj5MSaqrLaWh+WZyB7PaGiS/GZtkcvPPU+B3yedG
w0i95kgIA8/ucisL50lFV/oNF4ULoqSWbjGpMdSsL7h01NPawVvk4VpQ2U8D3u5TXqZmiXi4GClR
x97rpGq5S8bu08cVsMsKDdZWOmRUo9C90oZ8/+7EnOxRV9XZMVDuEZ1A9AarPdhaxoDe/+OhLspP
UEoBNQLRpnKziIzeD0VazQihK3cPY0o4PEJ4/wZb1bRqwAl8iqJrstq/VOEZj8olbTEvMAFKvB8P
BXdDHyByDi7Slb2ZztmDNsN5WBfSnb6YEpGrx4tyY6YdOZJ95LEHROpjH/VUm98+vvaLB+z6NOdY
uRC5GNgPz66dbaEZKIwBB9L/+r1sOnObjYRi4R9EOU6CuPzeduZ/WRJF3pVa49+GdvHKgTFaFCfn
IT4GKd80DHX3YMXLvo7jy5atgtyCkGNNHKOqe/G4TTdervXbj6/6b4+AFgDSykXlysWfPQLLFmBQ
vMk90A4BkISD3QuZGqJm3fgaZrGcqCx8MkIaoaFgKId5O4LDUqyadyBti/HK7PyXVxCnGP8FZ4NT
8jee648KOvKYpo9x+hymuW93zVAFYq2Nmn7sxqJJqaRlY7/5+B785fYzJHQEnKBLUfuslQgQARdN
PTgHpyvNddol8W5w4MAmqZ0cTWMad61ExQWwq3z6eOS/LEX095E68W2jcvj9cP642NYYwc+PdCkC
pXyURnH2g6prT/c5QDpGCuUShzCX//66wYJAxbh8enx0y/34Y1TLLKN4qZ8RWZH42o+iCKxk25tB
vhpMb6jXlFPild2RfrtNpjm4Fkjyt9u9dJ34D6AEJtT3w+NbmhUQFC4a8+O2QoR144/T8CAG5VUw
32T0GuMx30PX8csrC/Fl2xGxAagwyzB1TKq/1+k/Lr0aKaVS4KCvCrXNCzPBpLTioE6SZoC9Jgsz
3HSrEb0M5ODevQUZXFyZYy+mc+CYzK5Ly3pB4p7PeQS7W0FLssKB7ExzWxLFeqgTecq9ar4iKrv8
tj0sKODsEZT7CxnrbNfRekNDVj3zSkdNt99aFYhaVkifwlmZ2IU4QZNJ81ASveVtA5Fn4hGlsUq2
c575p6E3+mttud9yjncbIRocRBYaXDcFISb99w/fxYBokDKIj6kRzs6UbOJDm13/zi2C+YbYapkd
EzrRD14hVHHT6bgBb+zKtaebcjZh/qFIp/hnpHKjIUO89nAuPkga/LyUTP/Mh+jMz9qUgd+yBPtd
diyannqsm/VbGqJijc3XfJvtetMD3LmG8br4IBiUliFwFBQaAAiWN+aPl3Ju7Zb+Q54f4aMAiZBu
bN4hvRE3SRwX86HFoddRQ5myZB8Dd3P/dTpgeFo/yEmRwjmE474f3tGFyZprk0s0KJeJ3TdIJKTp
RnkJrMY+w5eIZMSJ+o0Wu/3zxzPg5bUT3fR7M+76yBzOhRU8+cGc6UIfolgSMmI2RhnCF6O1gKD8
qAMFOKDiGcRK6J3+6+Oxz8GueNPpDjMdMCfgdNDPZwMcPNbUlKCb9amaPgPHkdVON9TIySujVd1i
aWpOYyXQl7RYXKMvBNegVkDbXVoUEkjqXdsKG3W8mgniK34Y/tiYN3iCYn2Xl9Lau10+vnz8oy/W
x2W1IBJg6dn9tsO8f1pNNWjU/uyGLVN0cilSvExEa2xNR/7sx8C+hli8mK2W4eD6Ig2h2GyfSyWN
fqQ1K9zmUMRwzG0Kq79Id8m3qgJg9q89+2UsOkm8ijgHGfD9pem45bKxFs0httP2Ke8UkTG6hkk6
VAYQo83g9/qnNL2KR7icJ7mjKIloulpIl6hDvh+4wzHHzNgbBxmU/XikqmpulFX1tylbr2+AP4db
CVO9CmHTkmYPZrB9kzUy0FWJPPWK9OfijiMhRSFG6CRVfxSZZ3ehmTQKLUpYBwNA9NeWdum9bcVW
cCgDu6/+DcirE5lDQjQvk+ECVeCden/lZC8MEHmR4VDcgs1H7LI09ikvnn/QTOQK8IlkjpVAkNxz
xUxy8SJDZuJIxb6WMNalBvl+aKFqkVYccg+zOxZmaPLt3FoVvana7O/dxrv9+Lu5vK0Mh1wB5ofP
Ee58nxuT+zpSU+sPMnOHdaOm7EEyme7Gobi2v7pYRLgyWukuh30UL+jm31+ZY4ODTOeqP5ipnu1K
24w2WY6WqIwpdZK8Yt6VRqz++UlSzKC6zFPEeHqxb0YGQrQFTIlD0FWDv8Y+VvSrvtDp9NC4tIt9
PAvxlolyLA4f39mLKRxMzqLiXPbP2FF+R5v/sXw1VGs8H7PVAflY9NUGx/dIudZ0NlbU6+1xSj2S
uIhe0vDcBlFqbj8e/vJu/9ZwcTzGgLrA7d7f7a4kD5vTiX0g4y4QodK9JCzsoj6qITc3OPffhBGp
K1PV5duEztFjvmD37LCNO/tuUmyQ2cRaeqjTJj8WhtPD0WP3LFca9aVo//ElXnwqWKhxXrlLlgGq
yovqUYACOzM8edOIZihDP23oYEGxoX/oVsMblV3u8D8PuZieUOeBsMYVsNz1Px5qWiU+LJRB3SDP
M+h0DgW9t/9Rdl69cSPdFv1FBJjDK8nOCm7ZSn4hLIdijsX46++i78unlqHGAAMPMDMYNslihXP2
XjtP2SAgo53EsRaNvHKX6zN7tzWETY1Imw0Q7l4W5YuJj+SJMmIg9ScVMqe2i6Uj+0MtaRj+/vze
LjXviKo5ba8THtpyLni5y2tp/YNcV6dT2qAJO4DLsMsgoXSb/BLdZH91LYjHXrBQmIO8WCbuq8r4
LW7pp6Rf6NKOyc+qdEbbJ1DaGa+cDz6+bECZbEGx27I9QfH0/skrnTNMsOXVU11QnPR1Ak58HR3B
2SX1al90838tbBEpisIJ5BKPn13vxTxMAh4+0MmjeZtPk3PsnMW8k431hzzheCciW+vPaWOo+3QY
r5mLPnxFHiZ9UNucRQEU4oB5f6taPFpEljjGCRvGYMMOwd4NHmeK7OKGyKprPIWPA2y9VQS1FLgQ
dV2ethdpEEOGM+tkuFVrPilOpeZbOOtWfWUkr1PO+5HMydogCodeG4aBS+6kW1r0ZUFInXJ2NMm8
kXU1AC5R++y5sGZ3OiiIrtozKK9i+GlHZvX6+QC/vP5q0sSmDmMdMZmNPfX9cx0SobYshfFpEkrx
amS6SWSfpWOW7Dty4tsq/TFCmtmZypCL8PNrX07Hf6+9VhdY/0y4gxcnqGxqlC7SuTZWyNRP2rg5
0gKho+jUy4sci/Jpitvp+fOLXn4z60UZwRwqkRJzjLhYcfnYoVznbXJKIj57P0HT9GCODUE/csIU
nNJfF1cmyEv/I+ssRVIWHY7yJDRzcnv/kJE7Yi2CM3QiJTPedHUcHcYmk18MJ5GhDc9/TyxbHfRk
8mpBKxGrOb3tXXna/3jTay0BIbxK7Dpmmfc/IkXX0nR0q05GLIxnjz7dvVJNxckdTARqVpROR89R
xtDykL5+/sz/Lqz/O8rXB8BBBCEomx2XSJv31+5Q8GiLIdNTTDcx32d0gCe6oTSz/JLwlsc2R89F
760lZ3Wpl+VQz7ESBZlQaJzLcSAPqdXnbT+jrkKxj9OqILi4Rqx9opWQ/sALdS3/gKMLP+riR2Np
56NgaLJbuZxy+pIDp92Wy7GF43JnTyMPRxmRrfrwh13dT2RpHC3iBYD8Nsj8vqSpEH+63nBTYoWz
0nlsWVC+lXrT/UbWNT4aUyLyPSgcW/F1m8XixkOxmLxC2IXEHXlVEt0UhgBrNNBsvkFvU4inuDHj
31OiZt4G3vP4ZEg5DNto1tv9TDsXxXctlD9xHU3abUM7GwZABzu4uadB0d9gqIV55VO9K9Ow63oY
2TM9+mw7NU1tCeR+i6rvMBeYUCmFahU/iqrRNsyqSvy9WZq5u4MF3TeMSqQwwQqe+dJP5VA9VtIS
RMbPWi/kpjA6S92bEE1/x2Q63Gvx0n8vJ9BTBFXpw6Og/QScckmmP3LUagU1Z5s1JH4anBQ9przB
N02ZnHAsW+amz51xW0UWlaaFkJ2tbsRudPS8ljhMqDBRFiOsGfJvFaKX9L7VJMBro7fauxHbL7IE
p4+t/WgtMt65FZ0eEhcmRyEoosmK2zbPooNpof4BEmQ3/Xm2m0kLNBxS8F5y5HBbgd5MhI1Devcm
EdQDwkQtxscRn1t5b8Ihr4KqXMjzU93BPs2m1USB1fcUhb1kkYes7nBGztU0nCThnRiHCPj6XhK1
6+D/aKYsTOl49qEghfSVUFpT9dMRDyC963h66xXiPP0E6dhvd8TWezdAfgIZkuv6g9fPrbgjMyaf
b2vmidKvhgabZbZM6FSKWRonO4XSBhXPbbtNQo/gu+1FHVb4JVuzap252y0iAT9EDz82fAJXva0z
QrfcaZHJEEF2DzJ8cjvyIdphQKbNSNMDgndddQvOqS32WPZVAZ1nxOOrlY38Ncyi+amqtZVuBnry
+RfTiersZoElpe2UwWq0Wy9qDOoyve0+LXCd6oM3IHXBZTj252TJDe2GKmL+05niHi7MotM52aVD
3THWOBDCNCJj8DfsPlGfaulJNIHwkb8j73DFH1QPcXa2xsKZ/lh0+rJNSUpPFBYLYbV7QzQ1EcEA
SRAoUJ3ajZw8OKVOxvylN9Ii2ZhGI+Rh9iZRbFKxoBKF0N/UYWY2XRdG0VShEwDraR4mc6DMjupA
1R74cBXjKyxC5BvOEJPWjofb/Ek7dsxDMayKpywpTd1f+lzKR4RQ+rMbM+19wbMsN12Vq9q3JO7R
mkWYV+1wdphZXlJQohylZ9JuvKMuFvMXsBnGA2oftQ2cbCnOywLbo8hFnIU476xHSnFT9qhzfssf
S9OZOj+n8tkdYLsZ83YQSt4qgWtWo4ZbBi3cEJIc45U/mK67H/QJl++llqq/VKhOCQnPSG++yy5r
K/onnbsjIM3TwsyImmEXaYD2kCaQ+onXFPU1hoWB/xDgmmiPWkctBiRlpz7k2bSWBydp3YxqgXGt
m3qrAb9XROWpIcFuCcxBEN+6dAZ5KI5KBjSYsP5+6hpK243aLsWrQicFIShhdXwf1tBA+Bq1tr6h
hxr1G7VxQBSrk03tTYeYdCQyjdXEYGH4gfO8FkB2PVv6LSe9E1yWqd0s1ehYGLNri9h3mOrTpkqX
iLyLeWwDCptkjiCFq14Gc0b8CfWzfZm9mo824jz7bCTCe037wTRvHV14oQpMpT8qMHh3XgVvIhhE
1xd7KkYV2J+cIu6xXvQk26EwZXdT1EqtT0EKqA3JJ6yuB1iPs3msCLaMDzqM+kNjLX11rmlh17pP
4nushUgpk1vPzPr52LOwH8lRSbWwbKPS3qx6+CcvR48ZslUbXaB22ghEca6M17jQGrGrPdTQO05s
qRO6iFPUAHd8Z97bWqdEwp/RdKiZ7w1l9dUrWN6eoULp5Ze675zu2LotMiHS2evivmHeUfZVXIvf
UWdpi46mWx/MjSw0cwqNUSI/npFCkodIH97F7Kt7z0DGkiVQ56JwiMcGvx4iw7VJeRAI6A/I2d1x
n8TA50Jk2hL9VNpT+7mfpYyquw6W2Xii9LWgoS7WCMLUr5Kyk6+jGtfJYfT07iZ3vSwjtaOdjoUa
5+rD4E0m6Q0myMuk0ZU+nG1Za+ymh+ZgwP6MQ873enGoh0Gma9zO6IUW55avWEC9R7MYTROe4+zE
zxFb0vHLKiZ7ZQKp3qQRK7dLkhj5MZ41vX2xqHKMmxiqAwjMSCm00K0bM/uGeksD0uxG8Q6InEg2
2LmF9oOjg0KsuA7EdXXEHJS+IFSxyO1qaFEV1rqFBihZnA7/Y7LUu6mvl5ovGUCIvFn0WTh3a9pR
+7u3Y+d3nFdVtaUKZsq9ukj5a+4EeuCqrm1UBpGZ0grWaABX4aqjQNTEyWK3WEXbvlEpBYlnu7n5
26v4KYE3T7EGuIfyYjjZwtJ+1rGtlTfe4kF59DVE2flz1DBOD0QFavEfgtl1089oNT9POZa3vUgW
iKZuXgx7jXfoHgwlsZ5yjdpkvylmlZoAFeD45FjzZG3aslWM/aw4jRlASdLzE1Hm44/EScgDTy1F
VU5xY+fiZPZOLgJPJKZzEw2uugPCyiEM3GaiPqqT6u1m2jqVj+hELbbgv6ryTTBPiKCswNf5jjM7
UTChKbF3Oeuptl1fJ1DALvISH2KssgP3aTl4Lah63TFDiSRUhag28SCpyBXKvGRkosSdtMNaA4SJ
cdwtnhQjRZVZK70ZbYvSYMFvSHrYoqrRx1BPSj3egUec0y17xAFBYiIZuwMI1Pm2nNFKBwqZXf1G
E7kgl0JK65mAlFkE0BWRLLRa46SbsfLyt2ZuEm2bewPCRYmvfuuaMTC8xK0idmheg2rXULxH0pec
7s1JSQbJ2FOr/R+ncpCKVTLFmjioCfXDIdbd9LY1F02HhQXp/5YMoNw6zI6bhHlUJNZGWSYD3KdR
2rOvjU5nER1dG9GGLfCM+s3JbBPlqeIk31eOCnvdeJzuM0qokDWRRfZhUrqDe0c9povvC6dM+6/z
oJS7gjwLtnR0tLwdLFCnRDpZiRnpXNO5+Kr92oNPKX2UnM4XvDxZfdsmVEweqCClTzV1lHI/ea1k
t1VbehOORj2/KNWAxt2v7bzQg4GWeb1XOnVwwjYBbrLBi4Z6v7GQqQ0l1u1gJNNjwhuLrAzaZhMr
4089qUiSdurKMDcMbkRqrl7MFCapZQdMOIX9PcvMrN1ETTpmzFSU9sJJdzp73yTkjAupdCJoRqO7
TQy7s++cGv+Z55MlYNWnilRkEzQ0uuAgZl9GWLWSQrBcctOgUzG6XnmL0rwmuQzcXkNQIJvj4mZ0
yNZgzOYKIguk1uuOmyL/uUEqZLF5NBsFziSSPGZmuyjg1itt921qSysLtcotxSYhcJFy6lT29zak
o/nnuCiwRbGljIdGzVrUdsQdeLciypexA0qkRPqX2hu786KKPrvBXuG1WAs6rxUlTqJKVW+WQou/
24oVt4eo92bmLSojOlg9mS0+dgv2nrhQO9JgXJMh6gs3Vxzfqxp0A+B1Y2PLitoXoZvSEwlBX5Ui
LMWY7+0I3sRtrA7WG0L8mva69Jx4p2T5sE8Mb6r9tM2yzJfIcNSbcRkVI0Drn7ThigcptkXCfi2Y
kNl849IFiONmXqpj0rT2uGMQNRb2pXRSg6jzjOx+zrtF2VmdVlAxrGPyYIZp8IgdSNgumTB9tadi
WTWjOaSw7EgAzxw/TuQKdRsEtvXeBoatbuAwc8ADHiHNoMoQX4ZWVYE59mkFKVHiW43XQBbib2Uw
KKlTsBWR2fjmKmxI/Fy61rQRnperIeYyYF8WprX5wH5El/tlNVMvjWe3vk2VPkIBSy+RjB5DQgri
yKhvugTjgZVpmXtbesJcNjxlvMmx2nLSkPVifytsnd3n6kMRp24uOliO0sbb1MsJ209eTAmTVSU2
Y+4u8Tdz6KKtxy5flGE/eu2TE+lDemxIGvqmJbMDMmrGFyt9mWJ59/W6T6vNlJT5FAxt3+b7bmj4
52td2AU2rCkFm50WWT/i2t6KQcBkqN+LxLZeo2VG50lmARFGaEPZOYNkq6fCH+QiLQ6RSqKB12aO
qPzEsPLsBqCK090qtl7duoTR6HvRuS4JaRiW2OeiMJQQOeNJ5b0VcxYMQxu92C7yH9/Gf0ZoEKdC
30Zd0gQ1gXrOUcQoqzbZNAzf5x4CL+hjfeoAcygRTx/Btf1ESDO8kNEeAe2ypLsbxZiWMtRk5f1u
mUEygvdUW7Y/ZValr02hmtNTkVdY8tQ1A7EcE+MnPpBmvnU61Kw74IfiOxkbw3xUC9edQZFXmTx3
USuPhdlqVRiPhTHuM6nrW60mqRi1MIlGx6JyRKUi2F9KIkAWL7ZCYc0VC5mR9GghqAYq7jfVsIf2
OHL++tGQLfGnTmy8JLlrtuaOVI1oO7GQFaRGWuoSlr2hDLZfG0lDRFC9dNiA2J8jg9Q7fH6+QO59
1vQpU7cIQvPlWFJhlltnqeop5FBjjQFakOpxLhpEo2grbG/eFE3GTKpai/nskLA9bcCgaPVGQ3iu
hY2R6EFPQ754rjJuYlvEING+6miXu8dGkY0dJksBP0YsJJtsISC7DiRla3EDHQsaQV6dPU13LMLA
fpi5C+swUJzm5GupKMyaTJkmJszU0dHjLHl2NCU/H68Is5gIREqteJdlBAr6aYq2G6Cxp8fkMhRZ
Ud6NpdBGNolQujccdNRqZYGY422ftd0Zn0iX7my71K3d6jM4juRuqn+T4vho00VrdotGLjyqj1Kt
bzM+nh9twkQRGh75qNuUeLsZE0FDWs8mMuJiuvPsRjpPLLSa8ygSje2+j6Co/aFFgMa/NBiFtRu3
o+YaEDbcLLcYnzT03/DS8Kc6jffGzMo6VlZTXJOrzG7SV5sZqXbb4YrZ5D2Ev+2UCvW5Q7KpBm0f
I6COiPpG7TqP4rctUqlyjrMVKXxTSyKlvFJl/FjTNSxQMBSz0Y2ZtE/fV/pabckYY2p70kjtGu5T
W4PVjwkHTT9+ynrXOtQjHgpGbrf/vMj48cqoHIgMJ3rXQb906ae3jbRz06zKTwZJj9u2KZmIFAUP
KDzxVO66qsmHY2q2UMk+v/AHTQDtNizIDg1ymyafp11UN2WGsUjoXBlVCFs4TtrA7BtR6/TEhVBx
ZDnFm5gyDBw6BAffbnU76Cmy/NIGUVxpXv/z19AERDaHMpI27kWnpHMmazQtJTsVLvILlvtlOVIy
hHpu9XX92KA/lqc5a2la4fz4njoxJQHkK9joNFwYnz+bD0VnJg/+YmfOnssCP/B+OCjTnMeeLsVN
Mlj5k54v6QESq+Ezi+WYf7J62uuSHDni0OXm80t/KPQbaKRQadKZJAPCvYyzbvhAexMVytHJquJF
79toq5gGzg/TGE6YL6+lkX+4VQY+YcXoUWBxY9W66GZoMUz20piz4xg3FVl8o3VvNZV2u/AbGQJr
LWqUz3yM8bU3vrYs3hWqufLKYtG0tU5NQ/D9Q55sDsat6eXHbkLRvslmt03PhtXPEw7MvzKGXjiB
PaOJCdx4KgnSIPg03jolxJRZbfEH2XMPHr3NhtJ7TpVJXXYZs5O5tew8jXc9sGjzkLtaVoYRPqNr
DZKLR/cX7ATKjRQQboMkj4sPSEsNo2+xOZzr1BMbYmxsPIe4OXzsnvUenn5e+gtxNn+UMjavjNC/
Zfz/eXp/L+44CHqg1K1N87UV+D/ta5OQwKyjD3WmRZN0IOK9LGoCziZDe8C1kxtfuyEddxOKfvUW
LWp564HrzqlMWepJxIs7bwQ9CmsTK4pV3KbdMN6z4rj6lZn1Yjz//Z3IUen1IjtcG77vfyd7xSVi
06md29lRn/QyStMAgXUfFIqSlyH1muTr51/Qx9eyCqsRwCATWeOrLq5YYCbQirzVzwiiFnHfl3P3
yOqNUXRyqGFBklW1VwgAsTgYTmc+fX71i1HN/dLmBYvCnwgn3Mue0SwHo6avpJ97NDrg5DTrJyW/
IVBK1dwrTeGGgKy9LUqDgvAne7kyLj4+bk1FzwBKWqPjjPXg/ePmLk2KQotxxoEvN0O12uStQn/0
iAjWAvzGcrkyYV30m/7eMH/QnPybZ+VdDETSInsvUggJixJBnnPmmCSeVCkceJNq1pVW/sVq+f8X
Y6OEqoqHTEP//e3NM32fri6ts5zjyL2bHKn8ITgCWT9r3AT7K4u/FbSaDp+/1H/dI4gd/kLDCi37
4h55pKlSMNbOiqdkb4riEiUgR8M5moRXXiNx/ese13wwh1YXjd5LlYhOLsUoqVCckTaL1k8nRTnb
Q6TeE7cp6iCG+xpWXT9dUatdtnv/PlvaiVyQIG8bNc77Z6vj1G31KjLPtVjAAMxmjHC67506sBLK
nWVZdL86ddbB0SvJplwssYEEq79+/qj//TPQJaMLYVuCvOz9z1AqalyT4pjnwVA0UtGMbGuT/0zy
mCiVk4Yp+minc/0T15R7h8I8AkGdXEMTXm5H1oeBVAepJAsj84R+8TBsa1XvQbTiJXR9c9Bmon9w
nhvC2zDfkq05tLH9Zckwc0HAzEht8cZxWSeUmEZxbDbz+fPn8o8Pm7MoxjqUdwC9LlUHnIvKPGsz
88wZIDlybI63klyvTep42Y2M6vbKvP1xyNM+U1f2HOgwF+ny+9cQp2rtZFYfca6HQujTBKmf1Xzt
EdP0b6/MIR8nTcioqyCWYx/778uVFHRWTJ+hzs4atuX+XrbpYuymbhxCw1biYkPtiCpZGTfNK6ee
/MWj9oJ6+/Mn/PG7w4hhM62smDJe7cW6IY3ZUipOqueKxsQbv6cP0nE08MNXhbvsIty+pywa5ysq
gw8vlnma0Q6QHnUfMa4XDxqDzDAI3HYP2dRO5dajjwZl/WDRbem2NYmIV27z4/WwYtLQIEkDaSzK
5/cvlqozFeJEj85VRgnqQJGv/AbYo8vJSxKd3GR4E64oN/95SR6oazKlsdm7uGS5YEgZYWueO0vW
PeQnK9k1ueOVYW2V07hTF9vMrjzWv8eXdxskVPcccYioBSaNqPBizo7t3PbyqhAPuaYLexUnle0L
UU3u8m3qJjMN207zuqPeePmtA/Z43syemMs1vbuYwDE1bbMZRhsj6efD7MNYp1e2asAdHDp8XJfb
Ey+erRrSrIc4SvaPWTsWL6Q+oYhQu7XLNTSZ+gNmRZ+fy6EoN17hJP/NgEZLZLXmmOjSQIvDgb4Y
6AMcqsqYZ/EwpMpIuzbRX6OKyE1XtiILMo445pUxt/4fL94FViwGuEcpdc0TfT/mpshTco3HcSZl
fVFOlZEXh7x2Xb7mCTAe1fLaxIxWxFmwOhmuEeU/zGUm+QFo/DCe4IEgZeP95XNtkNlE5NZD3Mgo
3Y6Zk++6GqPxjsbLVQXOh3vF5rjeJ7kFuuVcqtsH4F1lhE7qIVUUeagxpXxbrMb4LkzrBU1oSmuk
qiD7Fqvp8vOh9XHtXN8pkaLkiuKLMi+vbVQE8zrEhz6kpOM8EQaMQGKu1IMclfbVjq2KUDt6/hLT
paA8m/yZ4Ahd+dj/8eGtKcGrth+5NEFFFx8e/V20IATNnY1uEmQY1oaUwAeEYt27+UxoAFHq7F4S
4PpYP4nnjfagXrLJ15oxLYNZj3U82vqyXBn2f8Mb3o9Coj4w40BeQBv4YYNTykovB3Tc7OJY2jdS
U+juV23tDH7eqnMSElI/R7s6pht1cm1K1oGkmrbBISDE3q2VhdCvdIzSgM56SgwdOrRnCGIueiq8
/aZvct480+pWvW3veNMfshSHL5Ks+eVhbJgCg8hWm3oT1zJ9u/LmVw3r5b1RMEDySSWQZezioadp
tmiOHPjCyIho0f8YHJ1J7T1Iphng+Ymwd5NmkucAMuCUzzqdVafNbhx1KK7MvB/WUWS2/JBVlYks
Ef3c+6+tZ9lxbBDq5zkzrGIf5YYA9KO1Du2IUQw+1WSO4sJu06+fP4R/XJhFjfQcOKWcRayLZ0Ct
AvAMU9DZs1pN3Sl6Ll4SQguHHdrcKYC2PXyDLaAsVz67j9MLOzL0YRSKqN1Qw3t/w0wERoqQTjzQ
FcXcpUJHo7m+QgssbUr/o+WR2dtGcoutdQ2tZShdPF4XBRVGnkw89HkufseR02U7OaSGvEfpRxNt
JjSoDMqUYukNtLS4+opsQ6lDQ8saI+zURrnyXf1r1uG4si5nmE7YylxMr4oQ4HEGO35IRtSDNav5
XV+p5FFoBjUbwtAxl6OtOVAvx6awKMPkj1Ysd5+//b+y8YtP4G9WxurUwM506VhAJ0GKkxTeeVT6
sj6YGOhdwC74Uvwek86yKZIKuTk4+5bm7+BYL8LqiEGszTzt91OllNFjZMBVgCmYz7+n0RhR4nmN
c6/3cfFl0eK48HMoOE0QzVP5dUb6YSFRmi15R1bXnPi9WYjbRcT5b6dn4+HZXmnctB5Ur62gxJV8
dVW814Fidy4BjhahWljQM8KmQfhG9lHT2nxj9SJp6f8pyRzQw3W1nVXR8+9zlyx1KzI9B4q3Gnkh
cThV8jOlgLdvNZRCfpbORhqsbA809UnXuVtGbBf7njtn2qn3xlSl/TCXX5o5HeYbeJNAI/tKQb+s
aotq/KB3Zc7HTpr6vKGob2vhELu0cmjcLvdmxRpWe6Xm+XCMksfPX97fU93ly6MRx8phMXvZzsUu
eOirnDa5HZ2lWc6/5nJslh3WbdsODYJUaVmiNu39aZZwQ4rOLfo3naVM+JBminybdTDA/Ba11R0q
GkGJ1q36n6RTgh/Moqq7RpEw1g3Lxc+lAOFqnPk5L/CT33/ySTkNmSY85RwvJSgh0ZdGF1SoDlWu
bcXxaUDZ1twL2anuTsEV2G7MCATkpisi5Ik1eakcqihhDo2vQC6j6a7b/b7PO+BSy2hob0ukMg6M
nAaZNqbZV6dQU3ND9qc60dQjj2xT4Ra+t+rRJqcys1HFDl2RdmgrJ71hlA8oAX1Pm9hpNTwvv46H
ucH0V1wNWPjXw7AgcrpU+Jx17X//MFQKMmqN8emcFBTlfrDQjSO6J8Ivhd9CizNfypLseqBDc6ne
Oa30jl6iKtWRvF91tIJokPWxoupz7Qz78dwBbhqY0woqhv58CbywJboEGybRQxY3XnuPMnl5pZUy
JHftnFt7IIjdlXX44xWpxq4mLfxpeCovazfxZOCEyLziIcEJp/pRo7OhKRxokqKbz+NcZVfWnn9d
EKk30x3NHGrR67//nzIwOly8RlFXPxT26KJM6I0M2l2e/KqjtgVp1UX1f+xYsQA5KvE1FDfJNPlY
ec5xXACR6usHtIYdLfTCee1yY9GCvijTwOiLrPHxVHn7z6eIj+cm9jecWfkDufaHbUVRTYprJU75
MKLwcu6SVkdjl3pT88syqXajuHUXj1DlwXD9xaJfDCiO9sk1f/8/HjhfPKc37HjwRC7NRIMzJHrL
DuYBWh3WqRVhxnwYv9omVMkKwdmV7fQ/rmdQygW5TTgHXfSLxVVOAqgV1O2HCvn+rqii715J+iXR
s90O9FD88PlT/sdizq1hT2bY0J2BE/N+QJXEEdG5NZqHKEultk3nmFakCyotYpOMMrdlvxFv2ONo
+mmgnsyiBNM2gWM2yiz8/Mf8696xzjI9Oq62dsTe/xaVgJQadGn7IKJo3Al9qW+MTEOJBBbtHj0d
sSSfX/Cvz/D9vL5aHtlD8hWvnamLu+/otnvU58sHOzG7KoxQKr9RIJu8/VI71NJTtCOuj26RS6ug
rBOfM3N1D1O/LJE80CoLdCx3JGirJaA2u9KcXeVN5AWSD55xxG4Msw47UaploPaLIdkzeDZyE7c3
XjGTZNAYWrWM/dEljTpU0qqzvniTY/7nPbrD+KXC55lQKuhxvn+yHlpLY7Jl/tC0ff4NFaq9zQul
4ILGeKzrJTuw7h0+f7j/OBjSDuH8tW4VMSldlhQLPbfRAC/Og0ng5wOvsw0dfTK+N2Or72ylS5/1
OAXd7PU8aSEAGjYIc+CWIXCBPRxr83/+tugS6d7auXBtLD4X4wthb+J0MA4fUDVkQHVnGzlPk0QT
mldXv6kzIu6uPPiPQ3otJ9N5Xw169O8uNg5xUo9ZOmTOQz6kpUL0OsmuPIT5MUnVTAs82U5XtlYf
Tydc0UDYsBb8qMCs8+r/rBDjlFRuLrliFi3La5yg/8pXMb6P1uAaZwgXA/+3dx+QRa2c8x/rH9MW
9/n+apGVNWzyYo9Z2ln6H7EpO5Q7bprn6RtlGMhK+FTiAQRoJTFKT+WIFIZ32wvzkS87914ImkMU
6fNFNfMJqa3SniGTpfnequxc/c331tmk4aSDG1bZ6IofUifqgK3xklhBulQ2RpC4FMdJTdv0RnUl
+y2C1ifCzVFKfxMAYM07xSZs1a+tHI0Z4tW0N35QoLI09iQ6Ji60XZTv8pAoBGU+gujQb3VRdFYf
4LcF/VcjokcWD5pdf1Q4o7EQ1PFEdqczLNuctncRWIURbSvDbkGQqi0iJSWNnGdnMIa7dUOf7Vs7
tbbWOMUybHD6lOHI95iTCSQ84MOKOsXQCjyzVB/7xkBHivoLTkE9tsvZVRrP2eSWN7zFppIiUbQq
9b6Qo/pVmyxttmFDmkN0SNNqRWjEAtuXm2jWuXCjDsaDnmvPQNDw7tDpj76k1TSaGE+Mrg0RNOi/
2Y9axlPJZ1idKmHhjxiypXlb4rr90UJNcnZ4SboT37Oi+KkuavSUWTUn39qKhqsx9vkLgIDmnJgC
ySd9pOihyChIEbsKabYYKNOF6Fq6E2GrqIYSUHkPdi+Mp0iMw7fMyaKfQ+aBj6X6XhaHQRfipfYK
7zelSS3aOFI24mtZ0eYMioxzgJ9XaWcEKbL2/K40hmi8S9WxenOkwylq1uAh+I3hxQiF8y53/bhH
mr6bqRfWYeJ1qtw1Wdm9LXPduqdYi9PGtxRXR/IyJV685ZAIItVdIumdHcdbLWFqYZ9c4j4eKXdW
6bYzvfLENs31gtZ2Gzz6bTwkwZzMzdleSoC7pAEKiZjLrmsOZ+sE4HgYoaF/9N536DHVj77Wx+yO
m4rDZR7cfrOMUXyM8rHQfXNU+/Hr7EJNDJelm6dNC+/zdx1FZsd2Tx2XoIqcPn9EBqzoj42ojClA
IqnBtHPb6G00Od5+Rc2GuctVM6UJkP2i9cepl+QUZGbk/Ijl5yWoa5SBMH0XSzLM6bb9aCXtkKCj
4Y3RSGFHxeeFKhyRLcySsKfdXm1TxPicxbBgYk2lBKcGqdrgS7P1QXsZSlmMrxqiRP1eoDDvvxo8
/hcqONXwZsYOeE90b2BAQHTk4406aG31HQ9j1QNrZzUGvN/WI2ieoXN+9p1Ixz9dnJj2XedRON4S
Z1POaKpdeazUxJv8JV9qPGIqOaZW1nn3tRm1FuzvFjt8nyPuJjc0Rgc6zhjvBMqQJLoD62kVR/7D
fEMcUDPZAao8ypM5e6U1Dpq9wt7F5po8FVYWB3Bia3nIlwb/CkaGeUHOT9gwoM9iccJ5MRvngYQ9
gdBNyTo3VAqVhBLZNuN9uywLoQyqouzsIUVdHpdA/0MpbIMIhH5Ohm3pyaw46RBJiCYWbicO9uLN
y7fBrL32jvuNqsc0TSdOk3lLap6GlvaLKaXQNmYhi99S8bT4ylK5LoXv53UdYgEbQ8gtqOQua2sG
5ZI6U8f5QRW6dY6IJV2NGxE5cUMkx6O5IMvbRXmUXRM0fFi+aFTh8lbp5fwfZ+e127bStu0jIsBe
dtVsSXYc23LsZIdIshJ2ctjL0f/X+MMPRJQhwi+ytlaAjGY45Sl3AWwPt+78QQE5F0Bi442201z5
LymCU0PJIgKFDGdrIfy7eJwlp5w0ke6fzN/mrHbVbIfASg33KYcquivElP0KSW3KlT9a1pPeVONC
gHsZbdOQoE0lZwbcDBDF+ewmKkspSsvhc2717hZjNfULMr35f21oa1+0qh4OuBgYN9pkdeO6dlu/
xBbEfLsemM0zK5rcQFaoXXKry6aZXJZ/IoSILmcWFk72rI9Goa9gKmDR0RbRLyD48Q4NGVIpZLar
4b6perwdq6z9dEsKayYI5tSubQrzzlwxD9OUGMUKNX3WRFv6OzXWBzT7W7oUScXDewhpCizkk5ct
fgudEQJSZkxCS75zPm1NgTFmcks81UYEH8dCHTuGawkduSQ28IQmQNrC5NiMdVr/EgUC4pS7R5Tl
TIq9n40LiYqlETu5DsEohm/nPybG8SAL9Hx4cvGGXY+4Yq0HhNpNAMqN8+g1SrAA9/jgXNEDlDqg
sr9/obgCAtgBZ26MTxaAaXSV4R5nRtJ/Q+IVOsj1DTa/POQGo8FPOcRD3BVey/nkkC6AuIfvwjO4
dj3YeJIW4ED1Sx48J27u0PStvtKAzP5cH1bWnf69sxgW8Ue6jqBqqU3PoZRhL7qxqnTx7DaIQTz4
ec5+4iDWrxNiAjci6Ipgk+XkW/eG22av10efL7AcnYONZgEZFujG2fYiusMhA2PGZ4pAqPhleeE8
Jqne7e0a/sbCRTK/uUAOU+JCAJGIHFG/uVegA8HSgEPsPOt9o6JRYHrSOUQf3C19NP2XGYgwXBjy
op1GK5+0HIUrjC3hh85roGPU40VSeeUpUwzE0leZOlowNezciQnLyiy4BR3Za98KdSBWJ56foDYk
g/GrCHRanxUSOCO0tsSZtuTZaIIGQ+zGO59FukMk2+aBNQKlXoeZO9yTYXdSEdguxbop4jR45kFS
RxRzMYpepe0w2M/Xv9/lpmV6OgojUhtNqhKdb9o29qOebKY5NcGQPUm04l1FhnBKmmFcK0NtHxH0
D/9eH/QC1smA9JBcCqnUe5DElXv6n7s4awNXTG5enDLVQwcdSkoWrFsnCo6B1TqomKFHi61LnAUI
a1aWc0DLsLsVOJEYN7hxd1hz2O0obkhoh1scLVKQyvDUhqfrv1PWQc6PFmrNQIZxCuJIozF+/jMj
C0hMUtb681jlAhdlqiXNjZE2+sK1eHmIGMdjWcnCKTbO5ZphrwRUnA39uSvreETK3/nPAnMWrbVO
pc3x+UlxHUptTACavIjnk7KzRJi1aevPSq5EG1psebh3JqMcF16ejyb17zizxQPbH6e96uvPZAMl
IGsPJMIq7+rR39D3AUp2fVofDSdlywxAhWh7zttzYqgcMbiT8RzR/5ZsWzTurSj9jTVRvlQdvdwX
lL516gzcvAw5ByBEKOA7YaSTa/hJ/71XhG+vOuqaL5+dEnV916H+zPmUErPnX6osVb2K6SKfgqHU
CoKVZuLhpNu2juJK/3V9sItnhGogzxagDqTuCFJmBRTbDFrNLZPoZBQJ6vPwZrxfpH64lbutOd6B
E4tOVhSLv5PpmktaWRe3kBwcCKLE6CNOOUeeAhcwoPOO4Ym8CXlG+OOZsUGvy1vFWB/6N41I8r3m
29NCse6jSeMGSwwMHI4IYXb7RSg8RbVTxaewqXyaOV5pbtECCU5TPIlTkcjEvm9VO1qhI2J/+jkD
wkAhBRAeRAhQt7PRnQkQiyHK9IRFLJ3rPsnXzpArP80a7cw2rJeqchdHRI5HcM2mBd6LtNP5fgLd
6YcZwMITtsuucgh7LRO7ofVT8DNJPi5pGl2cEgPtecBXDhtCdw13dtHoduXg49d2JxjoTUbtJDP/
8yaxZHj7Xh8/u6UNShgglgktVURl5kElrFbYTGU2ntyIAskPGLSGs5mQQ483cdW19/DV4QXriDb5
cG9ptKL1b5clNl6WNx5SbL+g5Nl9Pd36kQWdvLHE6G6TDqOAkLx3rKZDCW2vOrluKG7h3CKhDiIb
fWk4cynqurpCXo/gLjl9c6MnKYIZscjtl6Kt4p9hhAXSZ98LdH55Md51yYBJzLslFbGc0/hhe5rg
oYLHGJw3DTOIm9Jul0S+L/YMW4X4x7BkjHeJeugnPegtAqATcoHNKQwTT0cZoH5qB2Czu+tX0GWs
hYKc7IyzQ8F3Uaw+36AgbiOSR706tROc8Bt/qNNbpzc9Y236UVP99dQmhhadTJN1ExqteAbzj96F
Pw2UOzS/zgqAuxNySng2OcrjqGb4gThlPQAb6AJTbGMzmH7HgUsvorZb/a9FvHZL92AUO6VJMD6N
lbAukdRAU2gB0XJx1WBVgrSNKSkTBMoXuR8d2SSys/akwfrBvrYSAZIFov066FXxOuq4wplGNtzE
1J0XtstF2Cy/nlRLB6aHV/I8Rte8DG2dcmxPuMMhDqulgta5OWR4kFWRWtY3WRhM0cKgF1e6PI20
D6EOgZcBKnX+LdvS5ZEUenPSSq0dbhR6mqBSRNwYG8K1/kseS/2EOvn0U8K4NBBRzCMagI4zezSr
CqWIyKi6k27UMbpxSa0eIPjuXRg63zsy5IjYUV+qqVwcExkdSlIlgs4OEdws2OnCoYqR1lZOeUtV
c5V7ADkQb1HSbOf3Tiq210/KRVZP19IBPgJxm8eDa302S9BG4NpyGPAjaPVjVNKMRoUxvqPWdx9V
xY2NEtZDHdf1F0p11m3LlL+UFZoC13/HrKYitfN4PFWJ01Lpps5lh1WkARveTP9Qq3q58/1R24DJ
LRC3AlA+1qWz6RBTuIF0is5X10QLyzDb2O/DU06wLAnCA/Q4e0BjP637gl7QQTeS/KbIUTlPtAwy
NDf1K9QFb2G82Z6meAN/1YPASm1XCkzLv/8nbRGTz6IrU3oYYZDb8NV73X7CV89VpSaeU//OEMEL
UVsh5F24Pj4amlode5t3DhTe7O0W0wjCpwlSBFsz9QuMxSxaA/cbXxQ0JeI1jZC/gRqOCxOe77P3
GUsykEQAkXbqs32d+VjJVu6YoeGjjsaKGKW4ccc8fgoBv0LvL21xwzsfRRur0d0vSdbBqhaKaf+2
K2D313fbh78GBi94Y4B4XC+z7w3QoQ/dyU4PTa3IvtGQ+duuTY2TqVADW2Ero0v5BG/6piZ9LBsK
oo7XGAdO8YNBk25B4Xt2pb8vjsQoknJIldB52maLvu3UTM0OVP7/RBQ8tlNeIbAAPNNetQEOXI6O
7JIa6ighXF8Ki532T8wjhyasYhHQQKSRP4+tUqxb1Arcz0EJrfLWDrWCLlfv/KKdH7xcH2oOWnsf
iwdEmhtIWPr8lGk6eiVdmxSH2gmzvWGkirWhpRU9jmFSFKd6qIrvgeoo4Q5hMRHh+9lowZvSIC1z
NFOKcrjHxoW1iryq/NPbnfPSGmGi7VStV8fn6z/2o3WhooANgw7K/KINnJZT00UJttT9qI2nugy+
xWPV3lNn8Reuvg9HknxY/lAQ1WfvG2J2pavkgTjQxNR3kx04aJ2FldhmIuiThcjog53GlSPNJcg4
0RKWf//PxePVNbpqhiYO+IsaCK84WT/sEXEOvgB51xBI7IzsGbCKKbBezdx+YaN/MFe0diWbhhKy
zFbOh8c5eApbOxGHpsziB2Ci9td6qul2qb1xe/0DXs6UgTQdUingairEsytWKarOrMe8OwT4r22S
BtMo6hTWvjL09F5R7PBebSYagMGShvEsWwFvBZuAQ0UPhhkS6Z7PEZSA6vjoQaEa50Z3Wct+RqfE
MReW8uIeh3hMlcfiIKG/QYZ0PkzjRnak0yk/TE6qbYcGo9Q8qKYbVRkVWmdVfTsE5ev1Nb14pU1e
Dln9J/qUAfbsErdrJ3GEbYkDkqcRpoFNWm6LyDZP6oCJD4oVhfO1EJWFQKAfoAiRVGnz3/Wf8MG0
YY7T93iv+4ErO592jYJSqCNttKfQ5aB+2IN90ST5IXalNncBlYjyZt4t7KbLjyr5WMBegK0z8rzx
pOZJbPXIPBwKbUCYVOuU5NFo0A+9PrvLh4m9Q8pC+gleXbqvnE9PiQSScHg2HkIPPfIXKsb4JE4I
5xXfqgl06mqM4giAgRdpyj5x9byBnoPMz8p1Uyylb0WLUdvT9R91+dWlewCi9ohXI5Q+J6hUYvQ6
hFy6Q9raw0pvrBJErglAnVsmN1YYUyd//Njvt4iUi73RoCt9/QdcLj4/gKwDOjzLAldmtihUcvTW
SvuDpgbGf8aoGC3IBHP69IlyZZkBJg4RuE0Efj4MmXs11rBbDrRoh++pkX4jhaQjUA7izm2QWu95
J/fXp0Z1iH/17AGGnUBmTAzi0PsAdHQ+aiQa2Jq2PhxGdu1XnFuEWPMx1BZ+T4HckILI+ylyGgPF
mQZX6j3OoZi0Wpo9bnzLCPTVwHaNvliREh7yzvTH1QC7Attqq48J7VA9cDaZNvjqGrkrZHcqIPtI
z2LWaBJ21Vg/ORSunlVc1Iv1kDXasZH2v7grDW6XrcLJTx+yqgvFcwLIDjNQtMqmtdM17SnwbEqi
EQIT4hm9uArceR9F5slEJLJ94EC5t3kEmv6Hhqiv92fqtDqhT4eE6raNIAveUTD3tFU12BV1T61E
3TCyQ4ATCC3RyxNK0bw2fiC+YWnsAW+zCuOnrqv1iJ4RcCeo1cCO8o0tvVPWosSFhjJZm96IQTT5
KzGn8idHoNC7lTZKKCGxLMXKdxuUc7ps+BsWg3cHEhFUAnuvcZHPdCbvplNbtDwCS+vuvAH0KhAN
v3ox4zE5JZ0TD9hT+h5qs11tdaiGVslwU+DadsLlF11GZJ44HxOSDWiAYyMQvk764Os3cWvGwx+o
AGG5HQa1S5EtQu91DwwXj7fa6pFvrRxDuUe1sXuOEQMrv0e91331ga36m8q00AvtnCmYHoQr825D
r5z+qy7CRFkB0oyefVRHknVg+2myNUtK5XutbLAuKmPAzps6giS5okyZVX9ZJFTlSpGH+bqNXWlr
nDnuDz9N22IhunlPZWb7m7IdtWDiDYAQc/7shPoanGSrOrhGr34LXRhFODELWZHNauNNR52U/lCM
M/a9kTqD7q/t3JAbTLTqA5itAFVqv2kHvKeASu6yhtnv43Ayonhlk8KgFegZYlq6iGVNcf6z+bW0
lECK44Q4e14BbATdqEb1wWnRYrVxFoNIoccF+qht++JHzvCUjG6BCUKVfalxRLqFAa0dmqRyf1iZ
Mo2fjdMpHnkwBuQDBD3Tm717XWrmWUMl9NBi9rGm/43C0Kj01sYLtKWGyxxmQQhDzCvNamQfD/6x
XJx/okRcKRFmdfL6wPHmQ/H+YNlcmLX3mwpC9zUD3byuXJJkB8bwUziU4c5PKVUt7B159c2+AR0E
rkwufnKUearqkSi2FE9xjKlH+wZx3+4+q+pomxrFJytbYGW4fCEDgtQjDqdxcT5jHekkQo7ePGSV
Xj6mSY6cbReM3AxpEZbauhOheLt+9V9EMjADyCtYZEi21APmz42g9NqXenkwtdB6xCu+2MNZUe71
Ipv+KLDE1l4iliDilwEG3DsKPcTg4GegP86em7jLdfBSo3lEbB11YPQ97R8TrXdkzuy4+Y3dZx3s
rMiqqzXB7firB8IdAtFqlEjKVqsLb+5F4QXCI2wT4CSwTMH4znbalMK4CwLHOtbBZOwnEpZdk5rK
RtNbBWk4XG2uL7o8tmdbCu8NusX84SuzyWfTnzrbqcwqNI9VZ1lb3oP+d5zqlbYDMWQUW9Wt48cA
1HF8j0+34S1s6ItPLkenoCh1E96bVOe7zBzrcNAQTD/6Foe4BVtPsb/qj5VloauJelr2FXykoi4k
fR8sMrooJCXSYAvS0WxzW+VguF3r6kdEj711prlR9Q0IQPQ7DUHWf4tpKT9dX+aLkJFmAs1GStQA
xrmzZss8hnilKZ6vHQGU6t9cZAt2Gqq0N/XoGL9xKPLQZkfRHc0+U78xKe2JBbjOB9+Z0i0kJilD
Qw44K/AEfU25FmD9sYqC4i0bWuNZqVJlA91IuU2yQd2ndlDeC7VoyoWPfHFroREgITTwWAFLUVk5
/8h620DrIp44JmMz1ivcr6aTXnkQA4EkLEHyL69qRkMRA7a+JNATo5+PZhoG7HDu4iOHVaquKcU2
KdVGX4XEuJuce+1W8UT+p0Ty9BnnJL3fD/oQf3q5z3/FbM5mF9X+1Ksasu9+8ArynCsTx3sD+XF/
mL6jOGeuAZ4E8Lq8PChur++2j1acLroGtIL/cHA8X4MxQ1U1H1hxWpDOukwGFzVxXVFvbVKtpXbE
5c4CXUHLE2EEmQS/Ux3/eRuDzM5Uu7T1Y6j2iXFsVRcwHLoZe5xs7AjtYLP57SvJFN2nftEu2fNd
HmVqdEA88SQkVaHHfj5VIw7HAosp+6hMPoL/ASqY42Zso/HBEU4EHkK3FurFH44IdIAtS92I1PR8
RBdfAq+gVno08kxsU7wt65Wq5toj4Fp7C3t2CWj4wdckv6fExIssFSblJfrPAput5qt92jvHUku9
owG7M9tmCipkaOE35cLW+eBrGjyDAFhp+2LxKv/+n8FsRbXotjgo1di294B4kv2MwOh00LupXCVq
3otVYyXRBuyus5D6XcyT0ArmlE1cg/3MRQGn79AwrbKpOMZFYNY7NRlUIuNkEgU0nxJ56uuH5OI7
Uulmx3Ih6Mg6wD89n6mKvQChjVoy00RsUMiP9qgmJbR8jBDk2JB/dmUhxHENevQZyEV5ec7HQ67A
CSYcJgDPxMpOwEFcY+nerEO0JrZakWivCbjkFy3tjMfrM71cWKn8xGylVif34mwD0SyzOksfq2MT
N/qjak/GQ6JkyTpGwVgsxBMXLzqzdGUrVGaa7KLZWGHGze5FZnVsgYbsraBJDjQOkW4uO8QMNXLB
FQS3pSruB9/Sw/cc2pCkfvPnfG0D2r9ZHgw4y2b486zrPlJOVWl5zx3KuVtU99uFzXP5zNAipPdK
r4SrAKzd7IqdEA+DvKI1R8U3YcEZkV/9ttXY0diysNRS9OYjM/7mW1b2Hc52XO1t1fJDj7pUVNDJ
+ewXphGNOSAKiTawl/mvwU6AoxW64xEBNmenZtLkKhh/E7Yt3beX8TL0Thoy1JK5d1ns2TYumqwN
K0ebjgE1hGyvTzbJeaf65Y3e51R284Eq+WYwAmdbAqKoTupEOIM+eGGO4wo3MBG/XJ/8xZXFL0Ln
DrydSQiLGvz5x0d+oTND3BiOYmgCF0tqrU7XfkSKdMT8AQJ1CA4jWgdhHjU3OZm3e7r+Ay73PBcl
t5YEtBJ6zGPoEf5LQLNsOAJECL4NLopYa7oYqX07lZFu7iIMBPsfVuMai8UEnbn9E77z6EHKA5NH
pvbevTPO586F1VjkC6hUelY5HVNwT6FzTNoamd2VghFPiSBVXwTJT0ipSbsNgqmInzBhSLxnLa7c
1kNCy2rQKmZqziJjU26Gf38elw7Ff8JsidDQKMuf/7xBDgGRrEfIYPTMGqdoEKackBBHhFu3UPoH
gN8YrVOaH5B42U4+Bd50NZVOWeyVJmzaVcOdMS0d39mWYbXYMgRI3BgEDZAnzn+XP+WegvUV/ksU
8sZVTwm7vg1BVFWbynb6Yzda4z1aLFa1AwOOqfr1DTM/RHJ8ipvvWTzhOPTR8/Fruqka66Lfla4h
bjI+g81joAzT7y53ghtddEO688YUZNcq1WAR4Lscq+PGa1DI1Ayx6Oouz8jZh+IHkZ1IxURiGo71
+Q9CGlDxQ8i7dyk+I7eNQzFxFWIhsfQ8zPIgJg4okE4JNubcIhePbtp4o12nwrlzUgXTGsxOhmTV
WYnjrNMce8ItkmWFvc4xFMtW42T70bocaif73H35fz9D9i6oOEitodkl1tLILo1Cce8SCyeDVabw
o1dVGdXdysstZN2vf+/L7cas6V1A0KHFiErh+ep6qQUIcrDduxZI/c5NRq3Ym4qPH1iBYlmZRsPG
UTQbbFXYuQsv1UdjW0THzFXKE86rKlFbZmLoUvdOIdOP9zmlK/pQfq/vQ6gxyi027oG3CqMxfwba
aC/JQ8/uRrnS4ApQXaCNQFA3ByuZmMl1IwnpnVJn1sEMuhwUYGjtJkWr19U4Krdw8ZbCgQ/m7OE4
SfmE9gwxwex4aVz4VqI23h3peFxuUjxTixWNpHEDeic+BnWPzj0Gdo9G1WtLgsUfzZhsF2klfI+p
TM4Gx/kOZiLFpjuOqdg6nZfejrFv3MONe63zsNtSQXd31zeYdnGu4BjodD4JIkh9+drnOwzB92CY
pnG8V5PAiDdjbNbuL0P1tVNhmSjMBlbnZatI6zr7lKvowL4NlaBDSR8m+pq5qfWM9EeaPk1TZw7r
1ApGy1mNg5MHr2jF+JVA/hDNDtT1xHiDFva0hJ2fxaia7ExzI1B2pAKIzOPsEa86VylQiTDuQAwW
KCnGGlIgXuXdt2o0Kgvncf6JKMTQaiG90cgYeWFm17+qZxOsX0s7Bhj7bDXQbDSRih5d2G666alv
P7WdtVQGufxEktROXuOB2ZV2wuefaAinVJhKaN+3TgzZVRda7Zzo3WqtunZiIxOnJjPUhqaUP9Ds
wty3wcKlbg2jW1BOnx8PJq1awHZI9tkxHNDzX4KeBKY31PnvRxxmMGT0lGnaiELrO3unKGN/I0qn
r2/HHMLvDz0SHl4l1/fre2P83/eGih/a0nRPyfRQ6p2nJKAp0TisS/UOMRKaxnxkEdxOMSL1q7gt
HWXjB1NyjEdVRWSbLsBL1edck6vRqAPrW1/0aKatE4+O3pfK5wpAIQx+1LSu1dLz/RV24EN7m0v5
nAc8O+wBFxkGOokgDO1tqqGUsaZ+FBqPmd8DeR2GbnizBHDKveO3KvTjumq7m8DKim4bmKERrhtd
DR5qQvxwh25iw/9IvQqncTQH6mqV+7AUShp06HPjD5M3K/IHxcRgrGXxvLAeToKMsxErGopJslGs
2sGTqTMsbFjMvk+1x1QNhn0VeMHwoBm1Xm3x/zTMTY9Nj/M97qfpBOGCzpQWZsmSGvzFgYBdzD39
nkJRjXVkfvVP1o8RlBMiNhreBXgiajtL79CeKg3lS41DzsaCi1/cEkwuVUVnaRunj7tKbkFU1mn5
zoWfjCnoEUUQ3p1rlDDQoTrv67xgjvk42I+o/6Wf7KAwIgEflQt5ARPomLOtn3uxoSR67N21ueVu
fIeyTdtYPaB2RywhVy+iPCnw41BbgMVHt4ak+HxVk4H2WF2J8B6c26TdJshg26uQZrKxmmhtjtTk
1MJFvWFspPGRg4Gi0yBBvomkApg8xenCyb9ccH4RSCfayHINnNkzUfsu7e+gD+5zt7J+jbiWvpCi
02qvpXmD1mAns3DQmeL5OWdArj24NjQN7TmMlWgPBQTdCO4Ly2iOOsPuaGlGB7sfrIWg+vIFoYVB
gAH9TdZ951dKG3Y+eZaN9icYxi+tHg1flLJCrLSsl1hK86scHVhKcfQNSINpxs2jZVihASp7jX1M
vahUtk1detuu8S17Ndoc75UiGm/fo3Wwqsxw+O7lo/P1+rrO43WQmkAzUCKl0iLdEWZba+irVpRV
2t6roWMXm7Q2vPQOTk02/rw+0Du39uwLMpLLg+X+X01wTm2BZGuXCQ6kpENFl6/rycCNuA8NfyMy
3/g6FiPG7eWoiZAkDmuvdYCkvbLj3aUGvqojND5OWmuL6j7TO43cIm17LHrMAu9HF46rn+ETZnvf
GvL1fGUAaEHFw0MvYCEOvtj6zMMDAqVLrBbI5lmAoVVVS2k2qO+pjjSHtsauGdqAdvDRLfjbVsoS
RueD8Xjc2IzwZmDFzyMyrau1SrPD+h4NoGKdmn72k5dKH1eJkX3NRGHfXv9QF9ufSjQUfAlJcmxK
b7ObDfNrqyMcbdAZKRFhjGzkxAY7mX6S+bWn62NdPBdyLJ4LEH2cbTqn5xcbOBgvdtGgvFfLSr/X
cBjYeW7sH7Wg1Hd1aw1/9RCS6ycHpR2NtBZQH65txpwlUT2msD3meup94EzT2mutBM3DPrnRWgG+
DoiPs+6SIvlxfdSLgyZHJWpDfIXSEs3p86n6Y6Fj5dio90KbQBQqVjR+B2UY7q8Pc/H1QE4RE7Fb
wBO6XNDnwwh6ZKahWNq9U7mYk+m5iYAHj8uj3jva9vpYFzuTseSGpMLPrKjhnY9lqsSXEZ5z90Nk
5gfOgL5DfnY6WJGnWCvfzsW36wN+NDlZM9SBC4KXnEcXQo2og8Udlodj7akrdi9ekBNAq31NBLC0
T97xwWc3Fik9LwFPPAskKcbn8xvdvEyc0Uq+TH5gujDVKA9vBi9uafdqLcSzsjQ8XNCt6lsh7OQN
AFBSU5ksbQueohrfKFQb1bUeDM2TAVIJFrUdDQ9qGaU9GjWWo/zoqPTWK9MvRPq7HpB02Y6Vk3Y/
CNwwS9+lrcB6r0vb7FuPxNRTNRjEiGo2gvfHZTESr4BilUnfXV9n/XKhdTQpgNrK04m67+wO8Ktw
AM8QaPd2Yqu1Rw5RuVO/tknXcOvBTh7mLpJQD9Ta8KFAlNr8GhsCd9HYJPanQ1pn7aFCwUrfJ9Hg
UmqKLWdYZVlSp1unpnyNAJ2uJ9+KPsvCfFvRRe/vsrQb4L+MQZlU4cqK9KJ9KrAeGb4TCWvRxq/x
41i47WY3kAUUh/lRTCHORyd8rr3Roc6EMG8lXu1UU97GIuu+KCjdrA2ASNvQr5NbYfnZwvrOi/7/
Nyp3ABVNhzbz/OQMeqJNAhX0V1o26X4gQL7tMCU8xr0GdM/Ip28JhdDbEmzNYQjSbB2NeCVe/8gf
zFw+KtBVQB2ROc3u3mbIVIiSbfWKuAsG6Rh0bobeTb8brRi+GMgPb3iO/IWe5yxjlBMnWeY/ynbU
t+eACc1MSWpLo37tkEfb9vSwN0gojvsw1F/CsZ32Vlooqzwbu4VLf3ZXMbCU1UOKm2tDRnazHe1h
d9hqddG/srj9vqmNYM/tpWxxTf2ZCbdeuIYv5ymrc7KLgtIIgZ08YP/kQWDfuZXQ5n3Fmri/dWyY
LuXoDhuchY1NYKTxY42X3WPvtUtlunmyIGcKvYKTi3IDj8C8PAARQEuHqBlfhe91hxZzSGqCpkeT
LtVeVF9NdgKHMJg36ONBpnTHTQ1J6nZQPs24e/8lBElQYanGUPU/X4RwmMqs6Jvh1R9G/U9DwHFr
GVX8WpdYsF7fzPPo8n3WkjdN0glLmzN9PlbSRYqdWvX46nWDR04eTVOLAnEALDaZHDdcpQKUI02z
PEI32hLTr7bTNHrQHQ2OfVh44QtRlpetWz8uHwyBaOUmEhhEH5Ksz35YVppqKMxpuYm/ztgEcM59
6+X6JGa37vscEEShQy8L24Diz+eAt2lJQcAaXllTOnsjptnFisRZ3Ji+US3EI5cHAiEB2TngCafP
p88/TlcWU+M52qvjRP5TqKHjtp2yqWk3ndNExrbUEQC6uT5Becj+eVCZIGkODwohyjsKYXYIraBD
xsxotdcM37e1jpfqhlQxGFGqV9G7q0LtJi+xAG4SfQqoiyTDQrbzwaQBWlDBliuM8uXsRU+l4RQu
l/prT3KxjXW7uMMFWl31QrX/YtbcPV2f8OUdS3uTPAGlMj7oBQNJ96tyCmH7viqN629tJ0G/jkG3
tlZ5OyUQwcYNDW1zfdAPJ/mODgD4Z9MwON9GpAquEgGBeMXoubpBKy7dZ23WfLGmRmxzttPC2bvc
tgAgZMuSnYs08MVD0uCpgn2w8RrQZ3qDddSgI49UxeM4dJa2UAf4aAvRHwVnybaV+MbZ5KYJJcak
Nl6dvNJCWBkepbAet9pqxb1PnbxoSCMDs4/LrZZmztcsUpxwYcYXn/VdAg6qNmGhjHxn+5hepQgn
Wvqv4D4gK5sVttgjcEzs4wukgJApFF84cmKh6HLxqDCsC6eK8jwwE57S87lniuX2FhyR13yCZ2CT
F9MBtTx9E8eK9epUXXd0avw0XNTXbz+5pzw5KqV1UI6Ew/OciROtKFC0rVeRR/GPNFLigzf6zqMp
9HzbRyLf/Q/jgd6hgE+FHQzR+VTdcXBHHnHr1YzNnGvbof0D3iOOvrhdEd5UZbok73f5TWl22IwE
9QsJecM4HzFuQugfnNVXXO76FymF+GB0GnVsraLxE+bdSwUMbUkm4oNR4YlLHiQcfCnOdT5qkk19
CgxYeR0j58ULA39daFqLQTwJ/rpsjD+Z2tRLUOWLA8sVTN5G19omEqO4cD4oZfrU7DCifIUPkf0U
jc07aJTipesc5+X6d7zcsnIoaqSyZMdFOLuL3EQ1yZp65dW3I/Uo+lDcGENovlWGFz/3pkly02DE
Q4wKu+Z/GJrWMEg38hh4EuezLDrRakMUBm/GGCTjU4qn1ZNnZcH0E4t6HEoD0uQdwgtQXvIe5s/C
8Be3sKyCv+NGuazka3M+/FjGkldbhW9mLIq/bj62h2FwykdIrypa9VCTPnvtywHBq0IilCXwuQqa
OXi4rgg9fEMVNQsROwpfetg632uBJJqiYjNwfX0/2EWIG1D8lWhJ2Bxya/8T4qZNZWRTYHivo8Bj
gLiJYGKttIkl0CXkClpYz4+Gs6ho0PaSBcR5obKz/ToYDcen9WkkW6ukf7lSdV+91as+LT+/lgD6
uH3QqkYifP7xcAQba1SqaW5qRqnd4pti7ppGqupaqqJbG7sW5f7Ty8mQJEaEYhIHq58vp0hsQQAb
oS9stXDmjbBTnqu0wJ3dj8r/ro/1wd6UCpuAr2ins56zUxnS8DYc5BDeqsQTG5qIyQNIM9x7xibe
gbH+8z8MxzpSNkWIECjx+dQUyP3WyLX9VrZTXK3quDEPelw1u0CzJgUeHByY/2VEqivUaXGJsGeH
Dw3CFi3tNHxL9SJp1ih3Rt2hjnNH31RTHiebyUowobk+6Ac7VPp5yXSH1eW1PJ9mhwL2lNByfFXi
VFHvS0Q+8nUvorHZwfy1lp7kD54OLrd31BEKBxfYBCCfdZh5WfjmRwVdRPojCrbtXqvcTPFQintR
d/dJnhcLvJLLWeqcCp5lzj69qPnLrGVVRPacRW9upSO3DcbVWhfVwEutjUvH8MOxuLvB8VL2uyh9
64WWTElfRm8I4Ol7QMrGDjh6e494RbFw4j8eCj6DymAIE8xus6rBPskQFdPCF77YDIWqb/02sR89
Fc33T+8U1pCr+v8PJl/Nf65OtRcIp6tu+CZQvC1XhdONzSrQ7Vi5deN8qaB/uVEYje6hISEKsKBn
o1WK1nqKwdSE15njGmHHdO0gHZuvYK0WXybEQ44518Xps8fhHUbJLSMBOxe8OlRVQ9myjd6o2Ea3
Wtp6byAaYQKFyqL5zAdfj4IHmRbMeao788dB2BD4+lCP3lqm9eIJRMdT35EyDEW65Fjx4VhEMmD+
ALVQyz//eKU+DlnVT+HbiBHzHf7Fyn2KrCsq3vVSJvfRUKB/HNIM3nSmdj4UCjap0FA5eJtCHIpW
ZV2jsm61fR2seRiccGFbXj4LUrMI/oVKzI0u1GyjxOzLVreT+K1Cf+Gr3RcvfWgrcD1a7RT1bft0
fYPIf+6sGiAf13+Gm81utIvQQssgfMv7CQQRiMKMx6fvvR9ubZcPXgCH6FT3Ai5Xwg/aXh99YbLz
jEaJWkp3aLi/2V3UUQ/Qu5VP9PRVwddg7WvmkhnhR+NxbfLCc/Ip3sq//+fM574PCZL3782r3P6Y
eLHyHLhOt/WS0fpZUfpfQg18OCC0HQh5smEyJwAWjV7kPB/RWzd6/rM66Pl9YWPb3SAovwds3X6O
qYR4NWRweGn0nVAgAUV+PkHPbI3y/3F2Xj1uI2uY/kUEmMMtlTrLbbettm+I8djDzGJOv36f8gK7
FiWI6IMBjDlnBlOqYoUvvKEHkvduUlA2/AYeuvrcTVE17ArcAOY7r6tUByONcU429OfaFWH4a/NF
awciowSTAww9H79XnBYJNXmDl+ZA87Ikfpqc6pQXqvjFaqx1Dq4dThSmJCYZp0Vy0fPxskyJjagJ
4vesrPvP2dBR6zBABd7b4VysWUJfHcwjgoL6IdPTRcRGn7SHfKVG70IJmu5Yt311r4tyKl9GQIkr
RfrLEjKQZhhQ0Ox4NKQH+/nU8srQBqCtyXtOXyqg51zn+IGMsQUYyZtbH/2T7IcLmGejR9J5C60b
PAd1LX0aScTubx/UK8+XpGVBPwNnfakoVRRF1vdZycHRhG0dMT4fabJFgbcfAnY2iiFdFN9RWgMG
dXvkP0dkcUNJ7rKEtulAbpe4m6DNYyPr2vQ9KbB22VZBO3017aDe2E3q4bLKvc+fUtcRfIIoT5gF
FsQOreW9THPXP7d6uQbUlx96+ZNAz3JwiSBkg+H80xhl7ki3g+S9yK182uDdg9Ql5nLh4fbcr5wm
iyo6LR5yb0oFi3HCEYUEC6Thu26WIwm6qiSHeW4y9FAmWNRd1Tivt0e88hxwK5J40BVClHhZRtRT
nnfLivL3LMyDx2miVYriNtaCfqDPv+LKUz43gdZA5HKdFePQK5OVIEIuZ86ybNKfL2pqR7j+zmb+
bvTFe9WoLQqMdlxtw0wpkNCyV+/mK18RRW3K0FL/ih7fokvfqzgkdgB63/Uk74adqCCS+ohw2O3K
Fr4yMyTIKAlg1krCt0zSx0wLQSeW+XuZmioeBqARt2YdS5ijVYmtsJs1vv+1ywOVYEpMYEiki8Ai
iugSw6oR+crf6zjQ97VDP3hqZv031cXwAVPN+I7iW7uhk2xaG9mXA345J/tEU6avt3fUlZsDf3nK
TjKrBjCwuKH7Sg/niW/7HtW6p1AqTbD4QZcP5EDjvOM7gIaykaq726Mulxw4LJRDbk5y3T96rOeb
SQhgllRLp1PVa+X9IMz6IYk77s5y6H87qYcp6McHREmCHht3FIHQ4qjOdc9bxEzpqxnu45iE7b0Y
5nrEBKbvnrTRiz8Y2csZksnL/onMA5cKHgDTwlxJdP1k5Fld3EWIMPxGRkhptk06r3X2li+fHIy+
HtEfBWiwrnK5/4qbMiqDtQuU9hTMaZZg2eDmzWfFc8Joa1RFNq/cQte+Hv4QtC55bNiIi8UMCkFI
5WrzKcoaF9fBROTZEwIZxjen89wt7rlju739/eR/8u8rXc6Qt5aiDxJaPO2LIas+0ryxaOcThL7Z
j2zaGrVqFY9DT4q4ETMpPDp8+XfKNvOhi6V90+0fsDwnf34APWOqwbK6vwRzVlZZln2ZaCfYH1bu
651ufM4tmnFK6Jk/e6VLPvWml325PeryDvy/o5KXQiehPro8neHcWT3SzdpJrSqt8LFu9XQfsVpz
ZXmvfFEpAS+zUOKZi1relMNgiMtYPc3OYDYHq23qftuN5hwf4kRX33p9sKv97bldHVNWYeXxUNHF
ON+0Spu7oeoJ/ZTrwutwJUhow/tDWsbJQxdQ4fMpywnl++1RL2AlLCnrCeIALWHWdClgbMz9QOVr
ME5JM4tPkWrmWxWBp2JTEYXztxEIcRPWXj+Z0a4eB3h+em2vRI9XDizN8T/lfknVWe6mxGi0Lq06
k7qwk9WbxrWDezWioeVbmb3GvV4GDXLGwK/RhSdhBSC9WOjZHMcK8X/jlAbT7GEfrVTbEvpu66U1
2n2WR+2mMRzxhE/dWpHxygbmguDEAO8Anb0UDorL3CtpVJunfjK6fAsCH19krw3XlMyubCbebmiG
1DX4tstovMj0iuzFMAELWbX3EOcJuttNFJjvwzQn3+mPVWsWt1eXVTLsaF1z0y/x9HWq0AuPA6Y2
DOF0aMISFGYLrcb0A1wRn9rZyzDlHs3gPRvmNQjLlQsRTSuJSaYSR3tB3ld/XfkQkAq6DiPvC6Kg
/5TAturDWOR6uo+jeHgYlaGY7pveGz5bWKI0fmIhvPPxVxzFUDIOqo5cicuEC+pM2YMM1U6wKZL0
cVKg2fiowZXeMYfurz0VuotW4u0DfHXi1OrQZkBXDR7X+cTjEL4M0qT6qawjPX1RgjHfNqqbqDsj
6wdng2z2LAPgQlhbi39Z8kQi7f32j7i23Wh8/L8foZ//CEVHzmzWSv1UqVp7BFGVf88pj+zswmo2
JH3GyqSvvD7cEsQvUrRBujmfj1c56OCFg6efdAUkBq9y1qM7N+lv6JB7yW7KwulXPnp2sPIuXBuX
54TomJo9KP9F0N9OWetqfWqcIlE3/0SIIwfPUa4qyj4Gh4ko+JS4P3TJ4fr4+vLIk8sbIP+IEM/n
qwwNUPXSNE6UmJsdVFlvH4BuzHzdnuPdbI3z4faA1ybqsItlRg9zVF0scE8HAiRIY55coTVPqTf0
z8IRCayVKnXzvVIUEWB7ylb1x+MKoGgIMzG4LHXLnfbXOcZP1S2cWhgnZRDaPg66wh+GtH721AFW
cBkHot5AC4qy/+HLAlJACIraBeIji2OUm2OvmWFtnGxhNC/j1I2f+7yn36Pj1xL5NGVHhGPR5l2j
c1x7+oDByAyS2wtA6fmEtSoS8RCrgFMMIJ3Ytelue1BHs8Gjea7L4X+Zp1SOAOtHhrP8sFabhQNo
H/NkY953Sktl/gRz0w38Qp9LzmodGTsRSa352xvq6jS5mCkR09m+EImY9TQS4DR5HdwI1qs2zfSf
4tgrkGvIKONsbg93bf+iikAYxUsOflPemn9to6wwp9Gqc/OkxvjlKq734gAX3rPEzR679/koDGX6
fnvMa1Mki6XwhGQdYfliTC1U6qDriaQ8day/Gko1q/hhR9meQlyzxuK/PhjwJLyEoLEtb0A0AQOz
7B22TaU4v5VI6NlmHnqQouaktuP+9tTkT1+kGzK/ARpG6QH83+J04GAed5rd2CeIq8GjXnYi34pR
PFd1/a6USXbQuBXdB6R/dT8PgnJl+Ctfk5sIZD0vHGXwpdIx+KHWURxhnzCPHe2D0gd2iA6iOZzq
YpzrO5Q+IK6ZeTxlKyNfmTh7Fi95gHgILi2bREEyODb8dUa2cEdCetHYBoket35bBv8RZGAuGWII
F6LiIEThjyI21Y+fWKlHSxUTACTZyGJbJWjdCzNXnZOA/3noc20GmjHS24g8a0YulqtiTxs1WzlB
8qJdfHI6VVJ4ksiC3s5iWM2l0Ye6p3OqBkONd5VlpL2vVd5/ShJ2ul/ag/E/rLVEb8mLH1+CJYdu
MmaVzxw7p04Zwq7bZGMS/Sy7JI+2at8Fyt4opkY5eOYsHL+rHf2t5v9ZE4m4Nm8q2RIoKIGJy4dg
1PVJnZBLOiV1XuMTNNi+Uo24L1sJRtAZxcaPv3iIAf7/ARexkyUw1M6mwD6pnSKSXQtm5HM8emp/
F4A2wS4PDJmvJaFS7W4f6itXCAk8jUJQhqBrlz5ktY6BTlZUfOEiwthZgTT2SLepSDZm2HYrOEQZ
oSy3EzAcNN5I3YGPyB/z14Vs6CN61WZgncK0NgNfoVRr+oXbr9lGXZsUCRbAMQQxgY8sbirEj5F9
aYiUUmS7ZoQX0D58jcYyRfpgNKb69PE1lNgNFLWkgP9yt5hqBudmNqyTmFCifYgj12k2QWnT+Eyq
wl1pV11JsWSpBTIEzxoAqsUiOmaYqFz11snGP1zl+QTVpA+t+qXIc+er5XX4qONp+BldwXHlFro6
NGh7aFsUfC5EY+wioz4w2OZp5M0FyW6ozb2ZmkVyrwM4qh90JLaglEdT/Evhf39QoQG4M8EKAg18
VN4h7HjOtw8eE32Ttq1zMiJkqaO+T36ofWVupsqpV/Del48NYCrMN9g+PDeEhOdD6ZhwDNjs6KdA
Detho4im/IUajT3ts8ywup2rxnCl1aqgG3t7M11ePTq1H1YYIh6P7fLzusrYtQOJxKko7HCLKFyY
bxEXM/Uv0h7ibrbaqP/v9pCXx4Uh0SNieaViybJ0qRl4SA1WD0a3yrunUDHjfFORw25UJY7WusuX
dwAIbFU2MYjsaS8snhTVm6HFZ7F90nsR/6s5k9bsw8yr1gSWrq0jMheon0i8GoHu+Rcc9VazQ2Tc
T5Y718UeZ9l43iaTo1gH2xDONrWDcU0E5cqukf7T9DIBcdE2kOfnr/vN7Ry7sdLaO9FxNap9Uwma
UkmV2BKp0wSPpdu7v+H9VmulyssIhSyYcgvpsLR0WapcsYgTPV0wo4EQlrdByzzcx3Q34z3e68Y/
eePO22nQMAJT1Kgzt6ivpms1iCsL/vdvWLamKr1BEDsM4/fCUtNj2LRxskvLXIit26FhbhLsBx++
CmXyD7ZdFt6lRddivQe37XrUx955cuboERug3thUsZcavu32BVp8SVn7yZS334Kk7Vau/cvbUI6O
1IaJnAMFCLkgf33teCJzxgosfNcDS3ubKAQEG8IJ+61uTTA3Y5F8IkQVyPBjePnhE8tpJUKi+E8q
ZS+uJ6Nq7CwzbeU0Uo15NBX41nnqKF9a8ECH20Nd+6zSFIsIAb7/hWhMBvFyLsY0fEedpfbRPQk/
eUkwbbs5+6KPnvV2e7grR8iWDQUpywGH1l1kwuBgVHymUuWUFVFSbFD8GaddzuLHO7OB5x369QQW
LXRGe6WXe+Vikqx1hkVMkdx4EYI1XYhKox1E79TZJ3uf9kPoHFocJP+HBaX4i0QlWTDlFfk7/to2
vVEmAq/y+F0r+/zAIzOiSglVK3PnvjnElkKJ/faaXvuEPCn0wuiuSsGb8xHrvI+9ZDTi9xbS4rCP
AQgUBw/v5egOFoFT3+eoA7/eHvPad4S+SABPP5e0ZXE48jRAkR6r+Xe9Ra5hmLH0zhUMLyzReq92
Z9W7xsztlaWVEzmPL0F7SDVtoDwMvqwbKTP0Eh1z0PcIFuyIv6wQ93ps5K9NDWXx9gSvjoXTMsk+
ADvq7OeLmlCfU0AVgZrPhuqTmqrlJkBLxtuKblCLlYld25uEXXw9OB+g5henonDQS3SQFHpP9Tb/
R9VSER7aLK6K7ccnhVIMMTqrB/tg8YA10Vw3Rpp7pyx2+j0OYE6wMdo2NO6taW6ct4+PxtagVSDb
E1TMz5fQsJBN0BTVoxw0qIh1NklU+GarFvGuSYzo1+3Rrq0hySwNdqYGIET+87/O3RiUTpQRaZws
2vsv6DIBAQIUVae72+NcexZ4iP8Arrg2l7Ibkr7lpl0WnOh6WPmdFzrxM40S93nWgLEigeYWPUgo
pAb/Ccnw6pXhr4UCVEdIW6naIvO+WFRV7V2IMZVySmfPzX3FwLoOgr14FE0PMX30qj1LHB+wO0mb
XV40xdfb87928qXYHvtU6o5c1AzCKC2DhBs86srgOYDX9pySszwV1pzRfLDpCtW5sXIar3QwgZQD
k0RUAqoH0kLnX9cstFAVQeydtHCq02ch6sBvHD0yDhi5mPgHFtjQuz7yarr+SL8sfwmsoDHfC2Qg
ft9egKV/EHkKJTJQxeQPpIOUAc9/S0jZtS89EZzyDPsUv2a57yDNlwGCDFr7oPYe9rBa2m4za7IO
CpjgfENaqu0CumbTJnOqdFtZxRrv5tozgFkTpw2XN7BZi0skbHRrpgcYQKkSubnFgLca7stUjaF4
T2F3p2T6mqD21SE54qYtdwItwfOVQJ+3C3VhOqexnRFWU4yqfebnDe7OMEeD0CzKrW8rq3/lnAPb
+QO9A75KLnU+ZolIRpEPnX2y59LVTpHqNdOenaFoe4rMdePDsdANXyRKXm+iqA9RAjXU7+k8Bq+B
p6LQm4qouPeqYCzeDaXD0OX2L7xyQfCzJLGNHF7ulfMfGDvCCwwrDOjjlEnle1PeeZuJPPrU9rqS
DH6pW/nOMjLX+mSVjbGWxV/5KFJ8ixIMIgMEhIt9MGI36jZKFr5PY4OjbIwAn127xcZMSB0025rW
4JCLCUP+pNovY1U2AFq3yxsB0ZwGBANKilMaVV/MxK5UP1VU7a7yQLzus4oc+y5wpFAyHBF73t9e
b3nj/RUVyOFptyOxi6wjYjNLADXeVG5ITBc8IwQlsKLTu2DY9NLZg4Yxhiu3R7ucLFee7LhLJKLs
hZ5/3UpzpBeP0J9LERebqcuinWNG+d5TkvjOclNx73ErbGFNrdl5L+9AJvqnOELoA52PjbUAB9rd
1IRdNOvPdhsmj/VYxdRlInvTJp7h+CA58m1ZtvpzW6nGnT25rY/7RLNWpVlsL36FrEvxF+AZ+EzL
26+I1MTskt58CjDYODYdkhV4r9e7IBXTRsc0bI3ZvXhw4IlSpZVYUwmE0uEgnK9475Fci6nllc3T
+XdVJ98H6dqbjuRjedaam2RO3LvbX/liT8kDBM6VWAk7SZTfz8eMW1cJwXAnz4NQ4sewG+2fXmf/
iD0vX6mZXiynBHDIiUGeYmmX9ZLJCEy1HtT0eU5FgvGyFpTV1iiGyUboJux+QApt1w7stdkZkjdC
dCsfMfnP/wqVurJvato96XOWtMX9HHYKFkADGDPs28K3j6+k5IXRXobdACzwfKw+cpsmSuz0eQyQ
nXJDTfvHAKfx0yjifi00uzYv6D6I/VKk4dstzqZg9Dw0tZSzWaI+VFs0cly1uwdCmqxkk9c+G7E6
mnXcPhLteD4tM+p5A4I849Ip5bbv1Od4SJKDlWC2sktCrV3zc748Btw23DiMSfVQW9oGG0ZCpNnw
0WLKtN+sOHG/uYHbBHjlJS2nX8zIGwCtWlO7urx22KEcQQD/lL8B3sil+Gu34FJOTdR1+IJeH/1T
WKm567MGWDJueu2+nCbnh614WrzJE3P+Qa9h/KbjeL27vY8WcS+3AL8CzA0tOipCAMnOf0WXWVY/
zTEL3qnjJ5WVt6LqVxqOvXpfu6L2SZ1mY4sBTrhBKHVN8PniewOaoywvq37YpV/0UWYHFrWbDdPR
bDPRP6KwarY7wGxJZSEZq2YhN35vBe5KLLH08pPJNb1J1OgYFUDKH1D1X4vftnFl1qA0jk4aV67t
F5WSfjGMCoGkTVWXvegJsiL8WlqKhJ816dP2KAILWoat5La2mQI3+YXRpGj9vheDZ/nALp3hwcmt
bHpyglg3feol3c/bX2sZI/O7/yRIMG1BsgCTWlSwBqdEJrqvupcYB9GtmKYO24SoFz6xl+FuRINv
otMowWPkacqXOBXeIfH0st0MlVqpG9UU0VsbtOHKLvrDYD4LFtjEMDfQHkbQQRLGz7cR5XUvEErf
v/Tx1OHbWWRZtMlaxT6GZdy2u95s668ImUXN5Lsjtp9taZsNwXTtJhtQXuX4mlpwNDdqrHvJURsT
RVu5MS92uqw6wmkBagVGHTLt+U+MRWcKtU3SF3UaS3cTGTpil52VvOQNRtJbkQyNufeCzsW+3Q3q
5mAjGLaGWLm4bWxiHCwkkb4As09aff4jXEsMCBXU7YudA8npoFD+tJJKbXauV1AMFWm/LUxnPt3e
NpdTp3CGEiiNNjAIF24OrdXVda/Y7QvIq24/VkF/b0/JaPstIv5OrG+ElSdbZSrd19J2+pU7/cro
tEigzoCRJbhZEjhFYA9jp3rdS+ipyNa2g9rtLcca9AMlNTX8B6Z6+4nEsKQ11mejVM5CV3elsHZx
0fyBjoKOlYgE56IHJ0KK8LwA7Yuu2MHeVSIyCM2dfrmNFmwqXam/317yK+NJdyvQBygCAXdbHIja
odBL9Ss5NqTyoT9OtRlvvCItP2l5Jn7byAKlh9tDXl4OvNB0vjiDRJDMchF/TG4iUJPvimNImOv6
kwimUPEJKhUDjbcuwE7bNqKaY1fmprrLR8Xu9oS+dSn8DlzXN0uHlvlkpJ0RY6pqVpE6rlwU8iec
3xNQjQglpIQ7qhIXYZkYIk+vhvioN1Oev4zNFAKfqrvgW4po2Ros/HLnIV3EKvOwsP8oNy5Om4ZW
5DhU5dFzigmnaWWI+JM+OiyuL1Xrfkfg2PCRfrAfpipW1wQK/njQL2ZLa4nMjWMHo23ZlKyTvE5g
n0YgpuLkmPajYWwgnYv402gHFfDH0Zy6bxGAjmLrdGlSvkR9amZ+xeX+vanTKUDKznK/caHV4aab
Ay/EIo10bJ+pORlIM00WsGC3pFVWjgm2upYj9PHgprqg3WAVRKEzqAK/UYVhvhTs82cUNpPX3IOl
7ndxXLxCT9W9Q2UNXb11xnget02FjMEuEEaWh2AAGlwzoUXTOG8C5UsiYj15jUKn/RngfzG/2UYC
SjkMPXbOjL4E90iV6m+Z4gTfMNPyjAd7Hqdk52ROkP0Gm9KUjymFe+NrEasQvzwjq42tFZlhsIW2
1FcPeWtmA51HmfiAdajKPQxwa3wo4X06D0beFC+j0ZTxxhqdublXcAI27vskmeojWwjk49jPFAwH
4WVAfJSwcWCLqmWk7G+ftyu7i3QVDRia6oBLL8JiFcfLqEjio9W2w8NUi/FNx8HvKaCOyekzm+q3
klbWhJCpFudss2ytEnz5C6DMgLMhheMXgNY7399UzztON1EMOqXd51rJorcoyttt7ajQSJsM67VY
Uc0XMy6DPdDcNXjV5ficYjAVqBywi7wlpzurnRnxcz2gKAjscZ8IDwybh2hWttHdVFKivHq2zffE
7arnDkGmbOvRU01XXvY/Fe/zc0bCxR3L75C0hGUPNbPsaRaeHh/jYp4dH1/SWP3i1kbzNAx94/qa
nudPvMvOe4H96wMiHdk79N7Q/Tzz+NunLCnL5E0LaOh8tzLE1B+TrFGsNfeKyzfBJVmTSs9EnTQg
F9dRU6HLgjhDddRwVnqY9ARma5TzNPkK9TQFQTVV/Ht7jy7ZgYjpuLQ8aUlQ0oZBthwzzvEl8ry+
OPbNrA07RR2Kt9htinonesngzSILY3E/1Zo4+TpHnpFv9EIZngctqTC9VIwwtb7f/k1/HvyzzyXD
RNaAsrNk6C9rPdZcIOIw5NqnWtSZ91IGUdd+mkji9adQTZph2zeRZ/sAUb3odbJGS3l20nLCUkoV
vcQTJ1H2huCeGDZq2+M3oldKm+76eirSb5heDOWhzafBexvLbgp3AnH1lxoZqPEziqf5uC8DI1RX
gpw/+o2LSdE2QCmOd40/lg++UXWp2xWm8Ql79PlencL5X7cThfHF0YPwYLSVl5ziquJcetEQew8e
CgTZvdl27cmwK5FtI4wMn2wzM81TnUXVkzNQrjhgSNcpT1qR9vlXz4rj6XPuUO7c1IWTn7JAj/uV
Es2ShC1xXzAwOFCUhnigl6SIyB6KxMmz7qg2qNtBFjUEorGqEOHnfmic2M9nxYvu8tgasGjPuspv
geB9mUMzNHYpLQz+7dFuy5WU7eKu+ZOf0xagTwEGe9n/jaOk74q8H49FLhztDnW88GWOK/EQQK3Y
pEWWf68CI4Zo6/Tj2zy48UrocnF6+QGMDQCbsuzlJdMHidAHxxuPZoclo48Di/krt+vY2gwacAW1
jdbw5pclArpuslgGIg+YBgJA5/e7EdFtNjFEOqoQ43+qQ/8wzWGyl34kfkJa7vmjmyKtpjmB+NSQ
6D5TOlmD8V7myvJXUPKWpUKaU555/ivGUa+MlqTkCPkKXd2uqsx2qxSj/qBASwo3vVJo473aI0ct
0J0qHo3RTeLZ76vcGKWUCJzDUZmN5Nmy297cwsiA6615GTX7wWrgiVmTtmb2ennx8aupo8KFJWPm
AlwEwxqsD1AuE6XUpsQmNNP7n7wf+bwTnT6/BO38r8OPTIHH1s5OaRSEv5KheFWErXwQDsyJAn2M
xhFRN5A4lFjPF9CMzbArU7mApenso8T9ZaKP8aZiIPySZk3pfbSWznh/1MQhvMDfXNZ05liSuVp3
OnKd1yj6N/OnsnHNgxvr4Zeomy1/Hj3Oh9PV1vvtu/0iv5Ugfg4oIQHlOxiC51OlZF9Txu7t49z0
7bc+SJsYffFQc3YBPetPRpP9F8PQ/HZ71MujSaZFnZfWAaNDIzsfFfPO0Ssbyzm68KV6H/hduu8d
e/6et03y3FXxf7fHu8hiKB8Q0Uu+nlTjXwJlG6evm0GJrOM8AwbJK31869q620hP+g9fe+dDLaY2
22mtuCKxjnaR46nnRjV+LypwkG1URcMeEcD4kHp5thuNMTmiBbDG+LwMrqAwUSakbg9AjwBmUbII
BerVCR2+44iIYnpv5mXZ3NVBPad+51X1HQrPQG/sxM3/LdpBWMQM+ATcZ21lvvR0jn4ac5+8VnhR
dRuMV+N9kUbTWvfkct8ZEsGHajoJMI41cof8Vc9ToP6PBKH6sVQGhNTVsduqdj28IVmCfpmuzNkh
oJMrPtplwMFKyuxJ0Sjqccseiu0ZY50QoR9xPFY3geuUmyYynVdBpfWOQkN4f3vj/SFpn0UZSA6g
SAuqDGt22Yc8n6fXxKNZwl05Ttyr2iElrDD8IM1szS9VwC4PUasiKe2q9nivdQPA2zZsPIUXGRrI
pofBr2yS2Ar6AzbR2pEsahyejLlTMLOaTPV3qcfudHDaor3rNHUKQIyJKvUrd3REvgl0NdkK3ci8
HZihwTp0rYb/lh6nvUYdyXRTX8+LSfJYnDncNrpipa9WZ5kHNAU6hKdUZfhCQbAufoBf1b+Zxqxw
M0gukt/H5XAftf0UPNQAzt5ztF1e467pgqeBNFn4NUbhSFcXQ2v9vr2ql8cZ3QEgV5QHaTwA4Dlf
VKtpRCdqzTm29MuibZBbgbIroJvT9ey6YI1f9UczefkR6TVQBqEKLT2WzscDF6RAGFCto9bh6rox
hEn0l9Ka8GvVUg9O5TTzQZviLvdJ/3uxM3qu63sAcMpdFDt6+2MQYNURW5uhN8je77YDmKP5sYdZ
HRIgqUZZr8mJ224v1LVfTnAr4RlYs/GwLFYqL+EMhUPaHoMQlJ9T5Xq01efGPDpUTK230OyUDSBw
Rf8vT7t0l9K+cj9pVVtUvl2gvL2LQZkc6pJiAZDaTvSprwKf6P5RPCE20PeK7AsrHs5r7eXL6FGS
uXF3RCQEy9+l+nqYxp1d4etx5EggNxaLyFcLx3hohCj92lO8bTFWP7wetX7ekA+3WslK2VwOqGrI
6xe3E9ZLbpEOXXuceDlfNS+IfghgsAg5x+Zhnrr6W930/RpfXm6jxTYD0QSEAEwoQdDyLVbaTJlR
GBbHZsR0Y4vcW7B1Ste4K8cm2I5u3bT3XI/5XR4K/M1ub5XLJ5kUgpYAjyMFZ3c5uDCFFbtWVh9z
+PR3agW7a6O6AXErZcj3IlTTf24PeOUFgG7LI2WhQQrkdrE1UdgSdj4l/VHAU+y3YyBGTeqwh9gK
RMMm6suQVCFPv94e9soiU/eQtEXcReDYyZ/118PTptU8u1E3HF0SpeydH4Bpp+Pg/bcdwqZsftXU
XaznYrYK8cUJpnbl7ro6PnwdnQnS4FiGuV2tFIRhoju6+EmkAEGwXO6MCfjt5NVBxo6zYXkrE5oc
B6FY6lrn59qyS4gKX5hWJq/v+fyNAf/LTEv7Y4LHSgUMMYndven2watRIPGHzqhC9XtU4pXCxpX9
JYNMqghcRtAVFp+bRpfXl5PHvGfgWPoQw2qMMFj5qQcxt+kQeGshxpXLD94QkALZM+UZXgqoFHZq
VOze4Ti6Tjw+FKNR/Mcdnxnb1LHT5hHN//RXKluIBy3zgn+H2umVbV2NfbDRld42H41BT5WDUtQK
TqmhnZbUxxw795FX7UCmmm6C6Hkf27vbe/RPVHB+E0jGE4UgKuEksMs63aAnuhBTMR8TLR5edQiP
xrZEW4xevhGUT2OYJp+ikPL0ZkZJOtopNgHudu77tn5soigWNEMRg/MFDi5g7LA3rfzJoye8Qdmq
9O5K+AqNPzh1aTwWmtDT97Kz02EjstH5T51b7QTNnvMXU4f2DoYYECQd5hC/6NsTvdwUUGQQCJE+
kRKztEi0xszRSsNRUFEw1OSu5lH6GpJ9PufQTrecin4lHLtse1LG4vBJmwBJcLUX6U6rYb/tqXV/
1NwqzWa/K8aEVrBdNb1vuF3e3XMNmin+Zu5s/oi6eHjkLEXezkJhN9nqhYXDqRVXxgnt3S5+1ezZ
/vnRNZHOUtyHFP8k1nNxQJUcFf+xMeej7kWa4XeYouJ/5cUPPfnxHlVmTP1uj3h5JTCi1HIi0wXL
sayE1WPpzYMyzMfWrBN/MDP9IRyVt8AtuaCE2qn/FtxEh9uDXn56CiVStYXXlVL0kmUt3D53a+if
R6GLaVsUqemnI8weN1PvhtGp324Pdxkyng+3uH5wpMETMBjUYz+h/Q7Ppv2BMPN7nkz6ygNzGblI
OCx1FxJbsvplcJq65qhldakey3xq9k4/BM6e2pOV/WwaaeWS6g3qCkDb0IUUc+qmm3hMR++D3FCy
HAoJ+IBI7QMsQZcpdhfnnjNFgXV0tKmefXr1OjjAUN01uK2tHKsr31JG4lztQPO4cuXi//WmmpFb
iQIJi2PTZ/MBSMWE6qOV4c1bN/Y9OU+u7W9/zmsj8oA6AAPYQCQB5yNGQW3imTxqR61SoIA6aXTw
RnPMNmHehdt5aNailSv7R5ampNYaECCQAOcD1mGjNcC19GPRz+O8M3Ordz+pmenhzaPrgbmSp8qL
7/wBIAyUPDep9yLV+c6Hw95N9/ra044i5oLJFYReDjgn1vpKFfwyGpFoQrobBCIyw1nAU5SonAEN
pfpxaEW30RqTRlBmDfscm+gNWZV6j/xRssVrlTryhz8hJ4SESloeofW9+IR9aBhjRWn2mGZV+hCh
pnRvBCBPOsiZW8SMVmGjci7LNYWBAbOWIIbNuviEcUVxEcdCHb/lwtyMUTIehNd0T0UWRk9akHgb
D8fiV3xO9Gck+b1NXHfTDgGwVauGKxeuVPKhSgO4BaKLvEL+Oi8k2VVhYGV35EnOvsy1lv4qiP7v
TK7dwS+03Jy3mqK7yso5vbaJqU6j9Sjrbhd1xm4op1iKyR3p+hoHb3D72FfkDWQbgbPyjF0dy4Ka
gZgzddplzkwBykzhaKpHS1T9jypR6i94HAKI7jUrXHnAro4lcRTkumDTlgVvgUpDpI/MqzTy8Vcf
hNjnktP25j+iczGfv71xr309KRWKXZ4qSXSLfaQlpjfXVFKPCOR4d6jioxqXFM3ea9T5O81+OJH1
HH+9Pei1KYIQAQ/0ZwsvC1eiNLuuq2ftGP8f0s50N25k2dZPRIDz8LdGSWVZ8lz2H8LdVnOek+PT
ny91LnBULKII+W40uoH2RkclMzMyhhVrwRj/CUEK9SHTK4QPabzQQf0LY7KLAXcBBdP5+RSNW44+
jY6nIpni8qTCO7k3XAVW4UhJrZXPueDKqcyAj0NbCJzVVeLZuy2kRzGu3LZib5dA/qSSaHv6r6rq
lV0L+/g75ank22gRb+ICCD/YwpnrmcIsNAslNZ4cxa12DCoYOZPLbryTzBMbrTacA0daW5niXdhC
YGRUrnggaS3MG2KjU7d9O5n4n6jUf/Jsp9pvainNHY+cab4XPgWwCElBWkAAZYE6yB/zxsW4ZAfe
NNrUV6M6ve/z7qVsmPAQKRVyzmdirKkJLdwKDEraf64EAezsVjhuXg4RNa0n2yjV9t9O0s/dUYO0
2iNn2qf8rSNVuhMw2k8rxOpLpok9HPR8AfjzZS/XGqVWDN1GbDwpjlI+g97KkqNjjJl7BLSW/CJD
6pmwzfq/iXts2HKgZqRoQsV99pHtIBF5iA9/mhQ72dWNk7V7LZr8xylwqye1TYt6paC3dIakuJvk
spV0JrOlBkg5qUZj6E+UjZXnCLkfZ1cVXZwcEnvKkpUPu9CTsx15JSVaA6TGvBE2aCVjY0wqP0PO
FTy4oZfZOycTlA1yZXogQIsOnZbAWiYy8aAYThB9DEsleKCeon2+7ZOuwXKoYxF4kcfLOQSGES53
2TXSIGEyOn2OApu9LjphmJsoH6LPRT0NJ14Vcd/EYwmlvt0zoW4N0OSVQ/0H3CQ1ayRnii0D9mtc
8NcRFDVmChuSrok7N28taTVgOMcS9bPPLEiyifySsAKw1gcQQNSD9V75koCt2kQjmvEr796rb7wM
aTh8ZLNy5IdbN1fUAcWWhMh2CQ59+QI/NAj80LI+wHHjHEMtyT7ndd7thR6ZG7sN6ofeirsVR3N9
+VydIXZ6TnKq/Ip+mNI4Msa5OzwT0MTtdojAwA2URz7BSxF7G1dnBrKpVH1NIub62eA8UpwFzkSL
i+mDy+OQlyLtYq/sn0ff6F4m1xP3zAQ1yjfg+zzBlhk4wbtfKhCmVK8IyhFwuKpYmmOGTpII3acs
0I5hnej6phFxwQhb5n7Opsr/ffvIX192mUaiVgZbHm/A6+1848PDKeoFxM4OagaieOm6zqI+avs/
enTFv9w2dX27kBUG4EP8JOVhOcqXn9PMAh7bPKk/Iq413bfmkN+3VeEke6/P/Acz9funLmzVfSgS
o95W8F1+swwRFtCka9E5NMbi3yjRCrFywq/yICYuwJ4adG3BuABcu/xZeu1XAshL/TFr9eqFMeKB
WSd6GcXd7fVfnSapD0UeCZOKZNGfDzMLL8pNzW/Hj0x1uP3RzENujClI0a0myF+CybYP/38WZx/c
j21hjrDGfmyZ1Gi2imumd34gmg8ReJhjFOnH2/bmh0nqVNABAmAAqJxTPHurKrtRGGqKsscyN5N7
nmXjsTD8Jy1M3j0a+GoKxmFIWvgbZczLTUurbMyDMsseI8enx2WicQzELy3OgGiRLXeF/VuDQG7c
JhqkLbeXOXdH0jatEwbtKXCD9dQubbeNNeh966aPw0BPKkormzHAzN0EdquVsGK5xksO+fTP21bl
2/PGD8vp1tcRBXw6LW0gg5dWnUYTqj6o/o8WxYjsHzMvuzNoN/+uGivVe4yRjcs+ozpo2c8afFXe
tpqCNU6D2cpff4Ms6xPuSf6Sq2o3vazOnyblB1zafrirck8lE6kAiP/pqWaWQK7syge6E9Tl/vby
5+/Q/9pmxJb7Q5ebFtbl+jXazHoH6/05Hrpu77ZBvC1V3zoUoa94d46VOP9VBG8fGzOvj2ouwng/
2bWy8jMWv8CbXzE7d13T9E3XoIA4GkXT36VGOYBujYyp/mRH0fDST2YMPUdcm2talnJ98/2nkcVR
l82zq6mo1M/Q1UoM5QcDXyiHl6NpfGpKsgmefWQDb3/tWcTx+rGB1ZGaMafAVJT8DG+eBSuy1KoO
+vAMkLhWP6t6riubQUNudkcEEpzMRrjJCzFrf8zLvFlzJDNX+b/miTkkdSz8n/P5O2eySuLaKjj7
NWKIXpnFT1OeVz8TD4w+UVZur8S8S5eLsQxeAZqFJhftcr2GMnpBXzgBehm92+8mivt7EG2xsRO4
NPqxpuIMuy52x3grCgautlSTlWolFl7aYnSF6NlJBBFP0eWvmKqy1YqpDM4OCtx3veH5O2NsrF1l
A9q+vcHLpiRgiRybtEb++ZsNVqwU+5MVnLWhT77XumTK0T2mfzTROWt525Ix3j5ia4brKDjOHKah
MR1vCwR20fEcHik0mumhTKsSdXctsvT35cCvhwfhdiDVvOWkL7OvyFveT41b+T/CqtZAuSRGOB56
pQmmPaO4vfO+R/bVHCh18u3XAbI5OZreiCEoJMuSVcFv2Tt6skvK0n0ewz7YBP74fuJfSv8EUVL4
A8bC+bQfxbUg7dRS+WESp21Kz4E8L+2C/KtnhumakMzCvXDJuD1JN8Dy5o0is4a8U0Eo8QfIkXDL
OqcHDbDZfTuVd83YeV9zI3IORqL0ycYtkBpfuZcLJ4dQEUck8x/+MdvLkg4YAKomOAttjO+adhSn
NgSKwRwSz/ztKzHPROVOYoxaOO0FYHxzpSmLmgw5ZqvwwhZ1/tEJFOdPWOZ1tOP/X+2zPq6j7ZSo
VDTbaVKLbeVKkF0ONqfbVU35brk6+YNAiTKcJttmwEUuL6kfDNmQphpHq9T6I5MV1JCyELLWchDt
g8Y3WIOHLO03e015kwEA5+p7Z0mk1E1oZWdT7/4LnGzKdhRZPWPb4PvunEmJnnxGdva+b7h3tbFm
fmm7Je2erJ1REnjNIN54pUDPTC2NfCSZrNj4lbo9ZNrhZP7Ocfx/bu/2oimqq0zmq5L/Uv75G1O2
E7SN4dXxuY1Cxd+qcPjkG2ha+3IzqGm1ktYtvKeE/PSgNR5v+lizTNLUh3gQjCic06k16s9FaWXq
sx3bZf+NOq7jbSev67J/fU1rjrVFCebT7dUuPKgu7zgPqiy10pm+XG0J8NkPUjc+l4E5AoqA6Pg/
ck3zq2M0VnfI7CFcAzgvfmAJZJO9EIrYs3gVBjw2OFHis5nb47C1B8tJidjo3j358aD9ur3AJWuy
SGZT5pWA9Jk1Xwy1MURVgnLY4GeU5qtgcp6yzM30f6K+N9//xkD7Q+qsgt+SdCyX3zNtM/BDqhOf
CxO5sk2Pl8x3oimmu8opwjWUyfLi/s/aLOj0deaotSCKz4aAluPTWE21fwIybf1xRbjGfbBk7FUz
S45kUuqbLc0CAG92CtrCeZn44vMQp7G7nVrEaT/pDHRbK1536WZIGDGjwPicK0wYhb5CGesxOuuK
0WUbq4QyR89BL20ygyLcMehdrzCAkHbNH8iBe/EXN4PWIEdGYvDgxL3cyZKufRGUTnJumtr53Tij
c9TiPtkXSmN8igCnrj0zi98XmkvJ6IdkwJzNQph2G+mAps+9VqvTzkvgDtjokCf120ytVlugi+ao
7cNBAh6eJ/RyfV0ZdqKEl/pshwaTrk2tTcm2UZ1sK9y+XpEdkh9rlqPQeZCZPxO2FJVmgd7oiyYX
aZyevbZ3q5M6RpNx6hntWIleF9yZx6QYnU3Gkdi8mTs1HC/o6srIzn422OlBi0wrHjZRX48Hq1Km
6aFwUnON8WTRKMSw0D7qkCzMA6/eCJ2qk0KU7eDn0J8NYHY2Sjv0zU4UiWEfNMhx16QmF7YPJVc6
nNCgUZSfJyYBRIaWXqnJWbHqENYYjQKoWZNz+2XEgGzO7M1tR7q4St4qhtVA9oNruzwvo14PwdQU
ydmqxv6nlw93Y6Ab5bastExQ4u7FWrIn3575oaFdxqgmOwpQZ/Y2aYDR4xGCmvOUFflnc8LbUuKd
7HZrVXjZRzrmoNpVtXWy97/KsAvDyApZO0/jvKc7MZHmIq6QniltZ9XBKiGScZImMx7TCRX5bTjo
RtRugtJX3W2tZJ37/fbHXtpd8AkyffAkR7/88zdBCKRxHXQmdnbWs6T443ae8mh3hu1vGVAfju+3
BTUQCYOMQEBIXtryFGh7I79GWzOorA+RluffSI18fxOr4vdtU0tuQFJa0Kqj20E4eWlKMQWhCMT3
59wPtGGXjcIJ9sx0rUkLLH0+AF4gqQiODVzOpZ2itvXeFE5+DkLX+ofetYuoZJtD25GjhXt7TYu2
JEqcmoikx5m9E5Bf2Qhze9nZbaz0Dvad4hllZ8eBMcJYm65btIX3BKNNw+UqXw5aOPcYG03PVYL6
1X2S9M1R5LiIo8Zw+dfbC1u6fjpxGrGwxzGcV1LhAgi9wkKdNOliG+UP1dq4TI08JT2kI5t2GF5q
0xjubxtdXCGwFDCXxPvwYl3uHNMIU9GmHPw6acwPqUjbP6NVd+POEuCRd7eNLbk0arUQVZGnMZYz
3zoJ2tJUTn6c5qlzrHMjGzeRVoPgUCc9QP47Z2b+cNvo0gpJ0ulbQTUrx0IuV+jBuaxEJgqsrloX
0WbwgLcWxuieysBZgzcs2pLz3JBKUBMwZ7Yo/9m6P/nZ2bN62tA2s2H7wuqRldKMcK0huPQ1X1kA
WRpI1/nljkwncu3Uhs+RQnh2gHgozYAC1/Vey+rQfSAnfmcfTibmjKkDHv1/JmenxQVgXSLJlp+z
BnaSD1FqdL9QrKqrrVup7ee+oml0e/cWFyl5oHDKdGvmgJG4El3Tp6I42yq6XEyeDx99JdLiTYee
+/2oxfmXvzBIooQTk6RJ5qwJZU3NVGpeVpxDJ8yOPdu5se1I3bZZ3Zx4nqYVd7a4wDf2Zkemt4Is
NYO8OPcVzx4rZBMpPZovxN7571Qr3ZXaprxk81eesj3VRpAxIBxnvnpsOC5BUxdnR83qbFfbg85c
XOFWK6Hh0l0gQpCk49Ds8M/Le1cOrdcGFHDQG26rn6lmKHdNkBWfxOi9Dz/5eiol+pYAApEd3rtL
S5OQUy55V5zRBYz1fQpO43eVhqsh4NJWSf5ASbWH3NdVFzrI4xj9muIcO3XwKSsq/0s8Ne0dU3af
86o2VoKiNXOzjepB8QIZjYtz7UoFvi7LvU2Ra0pB/V8Pyp3tNH+RcjIJBcRAnn72bhaaEDd7U6ub
+bkGiGDunNgxDraf1dUXq9aTNZ63pZNITQLWNEbXpfrK5b6FSl4lQdgXkNNbznOstBGEdlVprTxx
C4ktoTnBJQ1CPMk8z+uHLvGb0crPLRT4/snVQ7U9pqVdHUsylw/CQsViW/thoTIIVK6ROC/t4lvr
szdPdRoZrriERpOhfgqKJGgOWaYV3iaBrkDdeSUKTLdd2NJ3lR9Ugk1lc3DmwvLahoAo1vLz0GZx
f9QVra8OeaeuIQeX7ZD5MbsHW+m8EViJjII+qcIZclil/NeLtL589ij/vJOa5fWCS2YWmI8lMepc
1zZ2hrGYopabUEWZcgyz+sEcoFlKc+djWBR+/hePDodfhrKkQbRYLw9mXU6+QhZYnM3B76pN2vvF
bgzS6a6uRGtvQ8tbg3otnlHAD8wRgBmkXXdpMa+MpKwapTgrSl8/uMXUbHNwWv9NtAWP3NbmE3Jh
6f2g8/LdPixLUaf1xvLsytci740+Tcrz1MTuXhn68S5VmmyTNHl4nBCs/OGVvrL7C6NAQCXsndr2
3M9AqlMGSIoXZzjQ4CFCXtDdlD0DyjGhzE7FjbdbtzfXnqTFA+sgLI6yCsgXa5bglklf0ikPcDgu
vZOj0iaOu5eYt5Wnb/GbvrEz201vUqlIxDZBS1/tmWyN/kU+UJOsUzTl9xEc5Y9JIMSH2x916cGF
lpz3ySb8BMJ3eYYi2MpA8Mn8YcqU4RjDNaceKmMojQ+wpVrjiltdNGdAkykr96Qss8CFrKFph9pL
znCg6Mo/qFi1yaPaWqXdbWS3OP55e3lLmwejl0r/hYkMYFKXyxPmwNsbipyhoZpCnaalBIRV7dlr
CrFLHpv+gJzIougKQ+ClIVurrALx6vTsJEX0jyj0YLorGCHMDyVDUozlWUZ7d3ttiyZl5mdCVUB5
cLa2SR8NdfREdkaSKwufPAts+39doYnmIRAISWxTWNTqlfhiDgN7dausECwGQ7LXUqL00CtHjRwF
QcApsH43E6jdA9FUpr1oZldMu8xMU/3YdtCdPqV9qjmwgdbCsODAM/uw3TgFs1vHumrC6MNIsPft
9ldZOmHkpYCvpSAxRfDLjWiEHbQV5L9nswymLzkzjd1mjNPxPsg878ttW0tXlr4QUCJ2gXrJ7DST
/Yo8MpT03DKLWe/UMCz7L7owY3+jUonfekn8y3WnzF6xu3SqwaJxhVjgNcACSgVBFMKl7eo29b4z
xCyUaKuhs7qG+ls6YzIEgkpYjprOS1z5UAslLsfs3MB85e/0yB//Q2hZhdbXz39ZjTYeb3/SpaVJ
zhdqGhAkXRW8nbQAPTxGHGolE8OnUEx1eqwLN++3tw0tnRN5eQxbAmSvMCO8YNaU5GSlIkmNcNNp
ddTeuerYNocmHHt35cVc/JDQRnJVQamAobw8llnZIQdvg3DLxTAcI6i6Tu6ELNsmEpHjbONwGPy/
+ZTogsvmO6WsufBQnQAsU3UlP2sx2mf7qfDphphAzl9uf8nFpaHmJQM6zuS8tpZkJdzAguTXVkRE
+6cNUV+NIEftt7oYQnsXg6dbE8+TEcY8IZUfU5Lsy6mQ2dXLEqNIRujUzoODfIilxnm78e2p2TmT
OzKdS//vA3A7/y6Lk/KZumr5z+1VL9190hCKsSSrZKqzDUVVCe9Ox+CsIiYfbXyhaiWztyJgkqkE
bqU2dgVxZuTY328bXvrcIIxZOIBc3Nws9orHmGeS5P/sFoq6J1iHl9ruhGfvaAY33xoQbNNKkLC4
VgIutCYlM848ZlfL0ugcoWRnkTt9fEg8plUfFKVs699KPIVQHtYChakNFHPJWpC7bBtPILFseITZ
d67S0uolFvQ8GVQEAivOnBOKJBKd46b5z8ENG2PTGSDpVrphSw6CpgI9fwbBr2dGVHts7FFpqLjH
UE6iAp40w8m1cXyfmZuJw7US9RKABUQXM1UAn7i285mqsoFu2U1i6u51r323hvDe7HWq7mo7BB9C
p05+1XEXPsSqU3/Xkxy1FkvPvmjtaH26fcKuPznvJ9UzPjqdfx6YS1+lRUPhTIAGz4rfVOiDK87J
FVkcMhUEv+WmBFMCYt8bmufbdq9PNnZfSZ15bphWmAU0HeiLqHPc8Gw4XXnUU9OP91xcS2zTqJ3k
VpfJSjy6gEuVNplhoTEoZ0ZmfkSdBoimIHIk0xaJs+mcKb3TKYr23zzFqOsNrSXbeRgir0kPo5/8
IU1ovGCjx0O5NjV47dL4KSQAKHvTNLiah3QcZt2t1onOcUVmMzG48lL20RQ9ZBUqNXt/sAdxVJCr
J0NQMndricR0jre3YOEQ8iOgPmBag5LtNaU6pYHcymjoOzERLCTahfg3N1prUyaNvXciZAVQ1wS0
xiEez5Hd8y/TAKpxspRmlePnOhqQvJuShQXeSkDD8o6+6bCV+iQgFB3C8zS4NgQVZqllB2p50Aze
XveiIQl/l21TyoIzp1qMKrglLQjPVciYLUTDSdQfUiet13A1K4bmz0at17ZVxRWGDK+6iyhSwKMM
o0S5spFLdwnUDkx2EuqOQ7n8cm6tqkniDtG5SeB421DpUtWjCTdXf6hsBu9hKVSrNdVXmSxePsqc
GmZCGaBhxg5mzUujFa1aJQ/06BzABxKeGCEe/vG0NPg4FPmQHkFVhMPG6KfumI+Vnazs4eLZZSEE
BHKo0Z6T0OqR1WpGVaHu2LXFd8cI+w9dKALrMATUhzZpE8KYHRSxPe1jqrXmRhu63s6ZPHC1l7xU
RbW7faqunxC+BxGRITuP/CUd7ZvjK0w19n2vjM9xb+XfU3Wq6bWgSbe3M+7RbVtLBwsSdlhMKTLh
0mZXJWxKrdGmODkLRoKGR9hZdKjC63rw1oo/y5akWIVUJ70GWkZwQIqwYVWBaY+7EuSs+A9hiHKt
q7L0+YiVqd8BLeDvs9pEnOpN5SgJ4B49/agOYfFT6cS/4zQ6wcrRWVqSpC0mhuUiUAm53KjUh4gu
Q+f5zM/o0z0srS084/QFmhXk2ZKPh+QPURYeHGAhs+cms8HB53Cyn6MwdMbPXtGn0W/4pKJ4gyhj
GX1M3LDzmQlUq/bYKSJ4Er3tr5HqLD3wb3/F7IFXjQ5phqyKz0I06l3nphAEZgTOO9HX5oOVWvoJ
ZEXbraRcS2alc5CCQ+AK54CNmCau1ZZhfHbCPk92QRCY99DlqF/BWaFGN7XQSXxgeHVao3VfOkhQ
qoM5knw5Vz2DqO1Ria/0+ByBjz8BpiR+0R2EoyTfvL0GKV+0Rh39tQQBHHcWsXrhyJh6P8RneMPS
fTUO3hcvKkdKeEP05falXzpOeHcwWxKfT3/p8twWXV6ZVpnEzE2FEDsiFFCKDUOgcbwNmsDSt41j
AMItkySNNgFjqFtVC0338+1fsbRgSEJkQkJKAm7/8lfUWttOHQNxZ9eHBGmrDpFWfiqyqHc2Rlcg
envb3NLTBmUzvevXUfL5K6MzIib6lCe0pNDz0lnq975FBSGGNPEbmO54xdzy6v7PnPQdb5x4UJmj
NmUZ8ra2kdR7tOQc71M5TcArSG6jtVds6ZK8lpQkalzGPJfmska4eq0VwdlG3Cb9kOmq30D9iM5N
dKxjT/nl+FVv7UOltsvD7Q+7uFJKFAA6eD+uSmc8g+PAWBRwfcvuPyOCJBVVlDLduTmcj7dtLW4i
U8nM/8nphKvC7NiDva2xFVZav0XszDpVZatugOmHu9AZnHc3sOW4hQp2m9lc2E1mHl4xoxG2NyU4
T6aZD7swswNvp0xtsOLgl74hwTvldAoTvCczB+/0Ary90sbnRlTRU1zXmSy6KElWbYWut/rKspY+
I6UXkIUgcAFsza6el3WZ31aE6wP9J0SaJtP6rYyFsXfdPv4+Dcbq27G4wFdAo8uTTGR+eT6NhGKo
DUjknGdBd0i70Cu3SlII6EEh59ndPiWLxmgsy64aD+Z8kA0ZgaCAeDE8h7pRZ3t4D4txo0MxIiCu
gzzqtrXFjwmECuE2qWs0R2vaDbr1deSE554WxSOSCuWjBmJzBwontraRGhErvt8i5UeQTZKDnqz3
8mNqTOeMcUt+AyVvDueO+M+q/eRTXrX9Xuu7cOVzLi3wjbn5y1TbttIWUDufC0Srdvk0kMZBUbEn
P47+m6gmvPzN8uQsnAVE+6pB2Q7M2SNUxPZBp/gHINyjNdrI3+WtPW780ur+wlXTHqRqTLAoxSgv
P2dl+1Gl0Vg4d3aujdtSqcavTSJ870ikb9zfXtxSssMVsORQPMQe88qBDjNU31OxOKdape51an53
JTD7kx2qnrJxjaaAWFv1NhMSPb9vm17aR4qfDBIz8k7cOjs2iNOlKupfyXkUxs9UGdR4YwdNcjK1
AU3TQE1/3La39CZR6+TD4mGotc7sJUnWWLkyMJ7h2NULpVWR77IiyfedXRh3hLPenefX+rS/bXbp
9lPy4n+SavdqZhqyFCbbnBYgZTvo90NPIWpb2wwx5XGpZCt3Y9EYaYbUaGYGfk7fJpwiagI1TEGp
dc2ZCWhuiOV07b52zHY4/MXKwKKSCQCaAUJ8eVBTNcpFbKVI1gSMSkB8mn1ylZSGUWOFfxNQvOLv
gMyA7p9POGZDkE0dBGLnQWmr6c5Bxee3XYb5MxxD1kaMqBhs9C7Q1yaeFw8phDuALyTv1rwjOgyO
E5MSk5DGVf3TLFz3I4HsdJwiOFPvMgrrzsp5mVmU4EnuPHU8bgXJ1RxqlRAMe6USUqESk3rSC/eH
ZjYhYhbThz4rk5XYe3Yp/teaQ0whGdoAZc+e3iRWQJ5YInu01R7d2QBGZn0zosDj70stqLcNw1oP
U2Ub7cpJvTbMdB2HhuIsV40xpsvDU4V+GiXmkD3Gfjg+BHHxrWVjG4ZsfO0uSgbCjjId3tdsZrVU
JumjAxthQ+FjujSaMbPqW3mQPwauOwI2TA2vOaSROfCOWL6B+l/fFCuv49JCAehBTQXdBtDf2UK7
KvD1mKvyiLfXDkbaeHeqgexWgPTaczPa6Rby+TWjMz/wulC4YpgmJ6kiXJwZDcJuZGyozB+r0Wj2
XTRp5j4I2ukxBm+yNsdt8tXeFMyo89JQMUx6yFxNxA5mfqCpIh8wi+XtAw1EjSRO9xkHztRhLeOf
Xw0MeSC1aS1Qi+IuzlZVGZqfdlnj7UMfxhZ/NM3PaJF3Gyny9SRcUay8xIv2iA8lkbNFXjqz18e6
pvSl4+3jonQOTc7JzMkE98CGhi0j5Cvm5pv2ujwZZ8jaAjWp2enU8KBuqOjePnXL6lekiGpfCjs6
Uqhem/Jf2DLwcawLNRTCxHkBV2ssxjFrE7mErLB2RaCLba6Ld862cDBozdLWlGVMkI7znqpV9bFv
5IO3HxAw3wRmYe/NEEkFXcuzg63A5lUwJ3+EhEdfcaLX68OyfJkgq+C1n5NuolaY6b7defsuNryD
rfUtGn7B2pzSmpXZwdcDD5RGK7w9fkw70eGzD6GN0sDtZ/b6FMq1yPNHjgmIQR6bN6l70mtGmRu1
t4cJVoot9iY1EugEXEu0+0g03ua2vaVVSVQTdRDZwJtTyzBTV9Umknn7ZnLiQzSRP1NO1A+3rSyt
SiKKLRpWiA/Mrai+WtYiC9x9Pbn2XcIoX7ip9dyhw2+MxPKgX967LiSAAPGDftOk2t0c56I6k98O
QksOU+cWj8Ieq0emruPd7XVdXWJiE8Qw4L/BVXHkZ7sVJJotjAQxrGrSq61q84YOdR7vQRytMeFc
KaJJxS/cLa8ZDCUwo83On2KXitLoaAo1QRV/S+nLHi2vVaZtpunOLzNrxTP+P9objRuGG1FY/pOw
G/slyJoWNSKoV82Vszp/7OQvYh4D7BjfGFL32erLKUVuwO+Tgxc22X1mNPnDQJS2o+ECp7w9aQ8j
HN8r5YOlT/7WqDxqby9IFBR1CSPNATbb+iC02t/5CgMFXYxm9/t3l14BOTykJZK9/NKUVfN1lRBT
ZlhEsN4gfIoutxhz6s9xvsY3tLQwiwdPasDQTp1zTbZ+0ipGmyL90UQMdJObuDa1T7exD8D0qzUa
xKsryebJRFBS1dOBmfOjd0iOjCLLkwPj0NFHFaYwZpNgfYnhezhksfNO8JImDwswIlYG7SJPrHRE
b/YNFITfmTqvwGhWOvSk/bCHySPfVQFR2e19m6W50hSjC4zSEIJJuNTspuihqQe51/l7M3cC91vH
tG52ZyVhUd+bKY3kbYr0iN4ilm4h/NNVPVpkt3/Bwl6SkkmAKueHVuYs0FY1YQRO3Cp73e+tP35t
x9puyIzy2beiolhxQgs7SemOZarAYYG8zUoIajAxjyRUIomkGIDU5BGSO8KRePu47XsPsrJ6KldA
ldffmItB5kkAA7SZMbfL7czTBFYiVyIM+szZ6tkkdmWvt4eJYZxnzmy7E0EdQl5SBivLnVuW1Cyv
t0T2KZnhn8VpwrdRigJZc8oQd5iOUlXiV+QZzUemxJjnQ/ey8ba2ntWnOAkhTXzfzsqGOzmfzA6Z
lQR9cbnuOnYCx0cq9KRmrltvEaGs/kXVxNh3NHJX/Kv8b70NtV9tATtGpZ12CVnppa0IBAdljLA7
BU2nh/u6g6wEKuGxuk+NSBc7r0ri+LNrB/29iPPA+UDI4AXH2wueO3l+BPgpUHI4QFLVeZxqhEqa
JF7cn5irKO58Tw8+efHofo7LxvsEFEUcrEz3Pt82Oj/SWGLOnvxNHi45p3O5csGvmZwS8FJYgRB9
YTqc8tHBY7hK7JVYm8TvHDcSvq/ATw3u0qr8VW9clJuEhg5Tc3/q63hKvmuTk1q7Hnil9cO0mSbe
klb3X2+vdO4ppE1AKzAlyL40ieqlTVUprE5v0vGUK83k7mE36rod2miJtnGjpl8TUFj4sIBliPZe
hcbI9i/NdSVV1Lz3xhMabPaxs0TwLTF5t7tRD8ttO8bRWoh0fX4AXdO8gDjRJhqbO2NFU73KDaPp
pE14io2lCfBhVSO0ezVQFfuu4zn4KCAjWOlqzKEVcjcJyMB3kvSAzJqjC9BMqC0/GvuTCDTlm1v7
bbuJssjRdvWUP+tu5TDQBhTx2W98Oz7UZqh98xU4Y+6BKoo1Scprr0XkhufQoFan8DofWvA6UxR5
Fw6nKm6Dn4wjBw9Job60faF84VI5T7Aex595rtZqWtdORIaMsscJc4yUiLnc8Slus6ZSqv7kD/lw
0CMj2AUgp7+DUdM+5GEYf+rppj+a/tQ8KZoNo9jtA764cAC9kOvhymCzuLTvd8CULYdtoK7VfYFj
3quhzu1gz4BRw562YRCl3yujSl9ALxbfbxtfOHw0BmlSEKGDrJ8TbIXQZbb+wOLTcFL2CNAkj7U3
6EyZj53Y9ZZoEAJU65XUftEqSZykB5IY+9kbMcCKBMGE05/CIoz2o+mMJwdBgp2uJmVNmV3kR3zm
mgbYHBcoDzx83ZLb2pRP1FXJW1NDS6CkCBACzv5RDt2B24qKrWaH3nPmD9G+K4bgYCXWkyIjPw0p
uuNffHDQCjxZ5LEkRpe7TfMNrwn3/UkJ/e63B6dWGKohtX6aip/9MKo+CyX0DreNytDx8p1k4cC4
ZR4ilXdmRiF9EZMm3IEHv7aPCtQf5QY6Tv/PbTNL20pYSeMX4gM+72xbmYSXxNMprNzNUOO9nBEK
OlVRy+2gR06wNZpEexrRGC5X4oCFN0KWE13pz2AMnl9hc0wHP4kyTrFTlgc/E/5zX9Vf8ybLV07u
0mXFjg17D+VacIyX20eKqLZ60w2nEgWVr001jt/0InHvlCDV+4PjjO1ToNceuRdDyisOe2GVvPUM
ycGEh6uc76I/oXFJzXY86VCyb7hA/Unv4qJ+MCZNW9MXX/CKVGdxCMxSULNyZk+9EabuFETNeNLq
TicHKY1daAr9nhQbEFOU/dFV1/jPHuKvphGX/777IL0WwSEWh/gOztPLr2yTxE+d5kwns/NH/0BM
yQTbJiorP9gOY+uFH/IuatWdA5R2jcFkYYfh8gV6Q29MymPNIqvWiBl/TAaeY1RqlA1ScuH0wZzG
CLy0S22hjhGeVoWiVps46vK1CddX1aTZXcUtMvpJVo3K6fzDt2bi92mtsMue22Ep9yxlFxjMJj/m
ejTl214Z0yLcVvRh8i2UaoF6n09aXO4oQNg6RLdxWO1NyT7/S83TqDolUVrsWr131G7l6VrwK67O
paM3yxT4VQQxSbbFyNCHk1r349k1fXPrqFX8zo669Nt0gJlUMrh3xIGz49BZqbC0MBtPlBZiZ69N
arY3DVgFmA7J4vw4WK26kr0tHH9GUKR8PO1DEnN5St5EupAal3Gsj9PJoyyEMGPddR+n2FE/5vBa
PwmhBTlqCI5R3Seh3f+OahUdkduXYOG60yOFqgQYCBWIeR/BZMpfEVas8hM65pfUpI2++ogCVnAF
dmn6zqqR/MZ4TuJeUF+o5c2eiJihQ/DF/8PZdSzZqbPbJ6KKjJgSdujdyW67HSaUw7EQICQBAklP
fxdn9Hco7zp33C6LDZK+tAL3L0Mq7J2MNHyj7S6FeR4p59fgXu9ECtRruy7Kv6u9tg6DKQMbGki5
XUhEt2NHYvORQcX42Y+0fzLErIXOe3ulennvm0KKECk2cIoYBr+60hAxjQh46186eGaU85THN7O0
bRHIkNcA20GiEFDnDx5h8qGJFL0ShN/7zRD12b2v/m1ev1q+3bIW0OEguKAJmf3i2mW3mAy1N4MM
AlEiw25Fldrda+Pv+2j/f19fKEg1cHjQjHjb6CVe2NJ+WoNLKqOtYVCOcIO+nxCpoT/QEG+Jy1Bm
rPnz92Xfu0ehooXogYsBkfLVoTWRP7LQw8FsvT6qoHoTPRHrT2XggT0GQfOungymi9Fghiskn/fy
PIzecGgxYETD/vUUN/Ex7ei22V1WtK9YqfejM6MvMAXZpyHvdVd0K8jo3xaoOrW3mNYDQtmDUQ99
wyb4zwZk+xnGIBAjH3hUQfPoVfcpHmMcoFW6SztO8NPs4UIGqlNbWF9uld2mpdj8dTpCETM/6w5C
LI2I/WKO2mtIofcKPgABd2HFvR8NyNzLSw3a+7QjCZ5k9Fb1w+pU/jC98cp5puzErImqzEsFcC56
QhfdMStu8gVtlGCjOJF/3x7vnAbgBFFoA8YAicfXKNcWEbAjW4hvBC2yU4LOXI3bxm0VNCflfdj7
YOWPY6uuHMJ3diVAL7jl/kUNvgWFt6kYMV23F5t7sw8Ss7Br2aOzQ2uRkjGBivgMQ0PSGFl1cYCu
4ZXf/c6tjh4kZjwYRkNW6HW1H3no3GmIMF5a68cH2ThVTASMVcKz4L/nqrtzCcbdEGSDIeSrExgL
M60Y/SGGwdz3YucOVDecSFlsuPDuwhlWpsVsu55DUiKK1PHvH/jdUwhMAY4hkjiMtV6FUG8U8ez5
Ab5wsLJyjW1yHwR9LwoCa/kb4wlVgfogHxIeo8Q26K0XiRLgov39Od574buzKuo9oMiA6Xq56Qdf
qCCZ900fB3DZGy2rqLQhDOqZd+Unv5MOoZWDZsouPI6sKHy5VAQnGg0eln9BsRV+UOkw1yELgg9/
/0HvhLEXq7y6T6iaAMtYsMqSDsGXxQzN1zELySGYCNQgA02esrEZzkB1TVUEU44vf1/+9cEF7xhb
FP/hv7JRuKhf/khkgiwxxNlLPzX5HckG9bVXpvviW846RJIwHwvoOMdX8pPXvxoGVzD8wWQEZQXs
Nl4PfzhmPlMIvc8LgJsOSHggdfIiYsoee75IXdmUSTRapXpSC1mnaujR/bpCx3m9lfZn2NNPUDxQ
Tb+5s/Jgm3PbB9nFkm4FsQIz07gKpg4oj6Gfs/8I8kLuiWkmgUwRUAPo5L+uNYccEtVgDWYXioz/
M+edKvnc8Evq8u2DhbMrqHvkmrz862zh30XR5cW7xmdOX9/LlOhOxuNILj3wR2UuiQWebFmyJxH3
0z2UQLO5/q8bCmRr6AwDw43Pi2T/5YZScsanayW52AYkb18v+kNr/OmSaG9m1eTN4gn+AaO7Egne
7mMs+y89FC03uIO+WrbXiUjioSUX2oXJOYg0bLWRg+YfdKvDio82K22TmWvX0es7Au93B1vtY+Hd
D+E1iEZEQwq1+hx7SKYaMjdZm+cVT2OY5fz9tb6zWbEQxgMA48OX4HUdG0+6WSgExi88QwMGcu36
oJokPHMQna9cCe8uBXAELgXYg7yRmZqFilm+deSSON3ezVMSghGnZLmFVFzZLO8thXiGwhjTQwJi
58vNMoNWloFpmV+kTtRd4A/bATCo5Mu2Ztcs3t45Cfgt+/x3x0dgwPNyKRSFOcT1eX7RHl0fJpfh
+EH2+7I1tH2cpcnPf/9g7+0MqI4Aq47u8o4CebmeCQRU5bIpuHSsX0A1cP2vJmzXKy/wvW0PGCWG
vmhA7Qjcl6uAKQSYCbK6C8kELMUtn2cgTbIlOUvQh5tjlDTjcY0YuQbP2L/M/5Yh+8bfxf92vMm/
bbqXC2fNDDyq7qOLDJfAFTBQtDcxvM5Oc+IFTQkAYnjkqW9vNay6vbJJ+FXU7Ovk799HgFESmGrQ
DnoDeREj9k5O0/CyaRWDmxZnopoGMRwmblboTKWDRJbQsaFw4YD50t+/73tvPtvFFtEgBez6NR15
w3Wg4phGl6yd4RNo5HRaRxwQ5rXTk2UeKWY4AV8p/t7bVPvNuv9o8P9fnxdgbzy0s9rgEkGovmIY
2/1ki1Df/v7T3uR6eLPw/EJrOdlRs0j6Xn5cfxSkBVA/vIxj3t2MGNLU6TLDUc1bwhoz9gzQNk/e
KwoX9mGxTlQzy69JN7/zguGGGOMVY49Bj2q/O/6nZxMmEEpzPA8uJonXmNbwz57jEpIpPCi5iUy/
1CvmVzQswbHDGSn//hLe2V2wCEdfGMPvJH1D8mLRqtd09uOL3ii9Y5wEn6hYskMLgayltM7wf6Js
9CpC9LWu9DtXFXoKe3Mft+L+IV7+csQTMdtexRfGQFE4QSBPJ+UMVs/XaDaJbGu1bH5Ir1wl79zF
EKDBNwc2BsuSV+ifhqrc36CMdDEQBqubxM0fwawgoF5H6env7/adywN1DGqZnWq6N99f/kAIOFC5
SRlevKgbxWGZwi2t1onKOAHAFoKYZYuCInnYYm9kTwpO0Odxk7n876cJiiX4uHjV+NCv3zOsKyZk
R3kIb+R8yIuFxUNNMhm7K1vpne8JiQ58SdieQtr+9XEidgvJHLPosrCc/hFoSE2FS9Rc05lshW7X
axTmd47OTidAyxPjOPyAVxvIESgyiXCMLuvmux/D1mMMOLsPbJXkCHTxduu6nF9px733I3FefITx
feHXeKc4XDVcgdvoMsww1CbbGgNvBExskOi4RmF8DQT+7noY8GIHoQBH/+PlHoKOG7LXFeKsrItZ
lTWxAf1rGktIfw5HJDD6/Pc9+859gOYGCMpYDp3kfH+e/7mOekSCTjuZXoZmDSGkg55xbr61rSW6
hut0YOipmXMMeyF333rmsEGr8xrI852LGV1/4Kty8Hh36bT9w//PQ0D+RMh2GdILUTGRsgx40MrP
G9cZUoyJKf826bp1Desl78buE4Aj0A4s51BYXQyN6a+lv29fCsommI6huEHn942gpsnh62GFSi8j
OuxDTcWsb/ouWUsaxf2HHrpPH8jc588kGv8f4R9rA96NgRI6Im/JK9qBlITNddkGt5oSsQQ6k1SL
Pis9X8j1diMLW0u03wJazMC6//P3DfH2vsRmh/wOIhPm3tANe/ktXLiIgHlNfIG3uYgLN/LtuHKX
doXyo+HKVfX2xtwX29UtAYQFnmJ/mP/98F2ISBiPySUbma1J146HXrXZKdrmJyQgzXMOP6eHMWrH
o9NrN165wd5dHu8Y7U5wfkDQfbk800wmsHOKL1jP3gKRhkkaT5qPWxtAXcI28r7VgMNWWzZIU8Qz
KuAr6da7bxuyyPtbwE39Gt2SQ6ssy1yGcJxw/sn6w8c53MSZGXPtoL+3EuisyHwAXUH2/uqgT050
Km1JfPFUe4J3RPOLstg/xKtp/2NHD/iQHTEByUvYneDLvrrCEG7VCAWjBFCVfJaP0HmCdtcBqAFu
Hnmr4Q5ZwZ84/wo8p08vDqq/z/99C++uQAh+MIF8Y0bGor4bEpUml95t0WUaZvPRb5UuWgUnqb8v
9TZz3Qd+QHRjZrIb3e1//58N3Ns+0mLNk4tHobpWglkO6DZNo/HL39d5GxYgtYmODvriiOpvYrqD
NYaMpcouqJfbQ0DMB6hAr23RN35UiMZda2S9t1vQO4PMAa4/dHheHUwqEQuVxnpNvFpTzHOEamjZ
xvGUrqO8smHexnX8ONCQ9yYAgtDryamnZKZQ5mQXQYb0GfT4bbrk8HHhvy0x8fQj3KCUXkzNIuIr
0e+914oLBpKP+yAdrf6Xn48sekv8vkkvk4+ReUESj5RSJEnp8aHri0D0P//7d0SqhPsVo1KckT3y
/M9+mSIVEkFJeoE0klxOZIiGqYiXgT6sE8+3GnSpa72y994ugDXYPki7AWd69SlXtZJotV6KjF+q
R7WO66nNVPqQSD2cHKP+XA6Ejdf6gu/FUNxnyIcjZBVvLGpwb/YQX8QOyqZYlgtQkShYp3647Zjs
qiBZrK03qN88Ge3/R6sJhG10RICNhE8IUjcE05dvORTwBGMtI5ex8XTZusGrGW/ZYVM+HPvghnhl
G71zWkCfINBB2HV43yT+OvTFHPhYD03d5AyAHrmFDhT/vkUkuNLdfWfHYvfsmoT7m33T3c0MithY
WXTmUhnVcMWDEGMDSogbghXsouwasejd9dB5RHoGdTOMpF6+ym4dmjRr0IAcl1WBCe3l9y7l8qfz
7XzP+/UaLPy9V4leMrTQIjByQHV7uR7LVvhyezYFwHIcq9ksiMYdgJ8mst41eP+bUSPSu11gcc/t
QaeDyvbLxbqRy3nIaX6BbHpyWDjzPnHSwe51VPbQJdNUxl7U45bN7FoFUBqlRdYkwRc0ZaMrsKm3
xwWPsk/8di0ojF9eXQwpQ46NOUiOcAVBXZCP2i+jTYK1dmwZzmlgo+c4VlQcoNIw/vj7pfRaWXlP
c0HqAgoflhTAmEavolg4ERrC6Da/DC70QbEdx7nYsnz+MftsHQoT8/Uc51zXXiM8XSQig3dhki/x
UNl4JV9GuAs9ZB65do5xTb3af9B0QzKM0mQ/W5hZva6HqJKyF5MHFcwgBEBIJH0flWiPLUvZ9pRH
Rcobf6hWa7MPU4JCv1gmazA91DDig47VNo1V4uX6M6yMk6jWLXAAZR5p1FXRIJKpSgMITzVQEElq
BzGsqDQmhgUwBLBMBd6Jdc/7nOcUyMHzyi1pusiW0EENzVJ2XQ6pnJLH4RDo0kC2iupiczzoXLnO
K2vuO+eP/RdMu6b1B/VDxQ5jihzhBP5K186F7NKkefZ0OC1h0fAoMxCkGTxL4ftDpmn7ZxX7Sz6l
dt28FEqvfNs+xfFE2Z2B37Q+tDCc9r+htSDsg2RiZOdIxl7+NdnajJwa32KIWMwIAcFa5Gpt5qMA
NxB2V6GjOb+R07BCFrujKT2nvozhWLOSJnhMiALitZd6lWXLqEldkYCXJaFR6OMNub53/2jm20EX
Qew6ebZTCO5WbsnEjjPdFL+1RK7xQ0thIXCBi3PMjmE8DwTC1CH0vgpQnflJydwfziMYp+YzoBmG
l2MwTE0d5jaNIR842f7ECFq9dQTLDVtAXyJJDt40N6SGmUPAS4x/qIInDA3nD5sOQvcbkkVhdOdt
CQyjQQMe4OeVJ5ZP954Bta5YCeaRjzpNW/c78aaeHQhMUtq7RcOp4WB6z18+ZHQc3LFPoQhdgcq/
s6kCDhLBBei2lZoz4K8uL6dhMOQrPCCF+QdjbRNA4z1FZXgzpNAc/gVLhlHIals2y5J6A986LoWC
He1cBJFTw1CQdqQtL4DOinRYGszYdk1mAc7W51BDSA+e0I23iLt8sLKp4FS2sKUYIkG9DtpI0NK6
demI8ZonzLKdQpCG8M/cwIRkJSZCacvuGrdk0x3zQEGDhWpqoyGomBoDdzKYZ8H0eQIe1Lun0T5w
L6OlT2lbyo2n6osVJhhuOpPGzWGMBgD+aqe9jp4SA/kNVSOXnqCngjYrWbYisGprN3CEHZB1FZ9w
SHkxzo1Mb8Y8A5nYYUgizpDcn/PHQLKoS8tAw7L3fm0onX/TxvWshJpINwd1m3I9zyXMuAH6iXOV
9tB3bjxcTPm24RWXmEu0kHgORIt5XaUTF4x10jnj6tEDIrUw2suzHx70j3Z8YiDuptV2omiCfsmL
nW7En/vZM7pepITSTo46Fw1uPsn+GT0Z4kGwvVnkwSkM98IyCts0vM8w4nRVs85xeKuTVCVnSzKU
UtUgACA5hrbh6nvDMSS4GXlK3NM2rMq0pWdnHRTd5nr6W7JJA9bjBw3Lkc92ynd+GXp+Oh9Bvx+B
evIyAb8c55zf4K4imspT56tMn0EN64Y748+hfZwTO88b0K60yS9mookruOiy+HcvQpiVF363rV3B
otzb4ahr5je/m5h79kckhZyeoTVq5M0EIcX+I2UUCjKg4lCoe6HrFKPvDsGxQuUuzh+bydf+TQtG
pbt0XjqH4bkVNmtkMQsMD6qQLtD0OPAkBV4Ccsk8/d5GyqO/mF6nBAghjC7rNtSdPvZS+uoQ6jWk
N/i4k/wlITUx3cHd17N+kca9j7MA1aV2+6np2LsDqGGkG4pAJ+t6ohsEKRBmyBL8Qn/fp7SAvKRv
P3rNhH8UEdb0pym0UNTr0a2jD3JWer0PWuWtZ1/O3Dxjg2RpGW1G6TKd4lke1zQw6tSGq9+e7CL3
7T5OZv1pBfRD3GVaKEZP6ToE3XlZxAbnXMvkiktKehgIhXRiwY8VAIb53BE16oNZ/Mb8GCUCSkkA
RoKaayrILroZ0WmXxt4kmednl4sYwsKNisHc8Gkb+99BC5XJzdhaa5fDYCBv9RWqU5B/2AiCQnBA
2OH6mMs0lzPsvQDprFsQLpaslK7rRNk12yZPiIFKfYIwhpi/AinnW1GnGjrK343F9kGwMPOYocgB
fkk+hAGDxUZPAEG7z9IWvU3Q7yFajrmvGfMS4qWpOHNfM++MtbP0yW12Y59bilN99lGhmpP0QgaI
eZIIy4ohztntuqTNgsp0JsOPJPXS7aIxB9klepfeJs+YAPTDVzvILQ3hX4szc+IJoAoCQbOfg2Ov
Equ3wqKnnR41ID/LR/SYY1EhYxfoTU4ykaksAFNDtZIrAAUfLfraYz12BMCDgidcEDidCgZ7Joks
+k51cCKv+5V40VIAsUxZxUG59srRI+msi8UgDS00hEXEqbV6QrBQgO+W+LYhJDg4i9MThXeJK3bv
lfySj75o6x46Z+23JBW5vYlSM8VbbSKebTcAvpP8m55Xj32kax5qyK3OeopO05Q1eWHmBYyiYlCp
DFXl45zCLB7OFJ+1D8TwrXZx4x1XNzLW1kAMs0xCmTJl7kc/b3L4M0/KxxMKdLrzRxjRKPcsujbu
u1KiYnaljTm85koTL/imcE3LzYNb8sge4HyC6dLPyHOrikvESdM8NZAtOMB4RS2Al82mPY7gJYb3
lNlWXDA7A8G1AuejgTJQsL+RAQjK37iVRlMvgg8VdA1AyrShg1L16NygHjvl4VPZDV6JJeA1flJ4
Mk/+DG3PnrJpaldEbhgw3Wi9zsjPqNGX3tjml2IzpvAefPpUbdvMkyXcj5NvSUcIu5dyJP1xmMk0
HvXYIwH3oYEBnjNUgw4gdsJIUMsmRD8Ulq85nlUH4/02NUmG1QB3PloxN0Eh12X9zYiGmjQhlH2f
ooY+T5H1AWuk2RocGNfDUxTRJnkwg9u6GiAQDVWdfvFFfgTZJe4P2mZK35qeT/QUeBrITcUQRm/4
MG5PJooa86gU8fJvzdgHrABnOP0Yo4HsffSgXrn9Uhx2HIEI1qhE2tc8Wpfgc5poTYKL73P9uwcB
ri+HWMZP8yKiR1guu7jIxzBXF6gW9pXdiUBnX/hQ5pCZWbqKB0uKTBhanEjtYElpSkttII64bWly
kuFsYtjQRvOTxBSAISjgNf0ziVhNZRZAz7YiaaNpJWLZPjUrNmQZZB5/YkLJ3z0hS3MMcy3sd8ez
aPhtHXRFS5v1KXZzKwPfVBAchUdQu2Fy+R0Jps4/eL0S2/MSQtMOyF1q+MlBNgfinNzr+C3yJIlO
9twjmZkQzBXy9UZlHxDemH+zYTgZVzmxsS4gIEz8A8N2dbyIaJf9aYDdQnGWozw8UmBX5FF1yJbL
zYqmByZgjfVjOGGEeKsDuW1fYw9jq0IKvY01DC9ofuoFhgZIohylx06nNEoqxcMU2yeJTFYvcZvB
qsvCEigPcA3erqv22TGIqZcypHd5Kgq9Jv7HoR/MP50/8rVK8CSf+sjLlxohLA6LlKyrfXCNDXJU
UTHSBPi8O5uzykHcQJbJoFRf9XaFoj7Gy7ytOhXA6dojNJMnAX55/g3hkyd1hyjlHTFMM64pnO9P
XrUJEMIwqyZ8PPYRmZv7duoj+qXPpmysN+nP0bHbYl+Utk2S6QDVGrbdzXbSmCjJcRY/0DXRQ+1l
PUIcjXCdfVOdE+F5xwAykBQ2k59otEXiSxSv6RF+0ROgPzyymhe8N31b51vKtkdUFtlWIWckHaCa
KnDnUII4imoRIs19c/EF6SiOddRlN7hBAHUtkolMadn1Sh8ooPxrlW45l3ij4YLZd2h4U8HBZ8tK
UO1adXQgai1FTGjPv4jJj9YD9yPpqkwbbaueiAb+OjC68c8GXnVpHQ4TFEM72YOOGPUJtZ/cNmU+
fPQGYctRQHvcxxFCikVPqKusWT45dFEBpABCO98A7Z2DhevC61I6sEvSmCxQj94aIdRuJfwZgxCN
+RTziGEl/k22DEFcNUrNxKAkbmmGBBa081vl1gB6XLiKoDcYG/kPW/pIgTAYWnuXcgjg36N2HuOf
Lb4orzTcBbDf1mBBDUdjLDXnI2CmgdHpk22APq06rVEEGchvfSUAyePsTV701cYRM+dANQOGNWG7
ReeA6mW6kWFE4fpGbD8WzJ/zJ2gsJp9hNG6/J8hl/cKoFTKWo7aSgJsS2KHGKY6msk8tJT/gUud3
pacxcwEjdXBQL5d9dI7cEH/gqLfQKJmDXJ3t6MGUTAVjlBYQDrGkkpOYl4IZDwKnDckNrzxjDSmF
FOuD7gPAhILWANkwdE24XHoRW9wHoIgVHfqTXWWDaGoLsVsJnwzraVS2QsZf0fHI2UEwskQl5XJU
pYK0jqw7J4HhikibxbDJ7duxGAlPLQwEOcKc4+DJzvPop0UcLuRPvs7029hCwLzI4jb94085/Zm6
zPFy6yBFFeWTDPCnxt4l3o5M8IdkzZBz5J1XyzymQxFKmnzdMBD+05qVr2ULXxBbpvnKv/fwjUfp
xHANVACNC1Q/shubs+t8DbdZAQRxGA0sAeITHZVqiRmyfbjRx0ERQWvhZ2K8TRU9hsymUFC4+JRO
KE4KFpq0q00/ZB4QctnQlxvYo+DcbrqXlects4e7NNMfxo1Pedmgi3HrrZDbK1aug7lWsaXQYkeS
6RXRbHdp8dg2uhThxFnBnR6DkqE4actNTHlWQNGxfRiNb6cihfShO66oQR7Svt0h501i1gPI9TDK
Rl6w3MJfC+xbE2v3FURg1H1boxy6A8pAUptCJuSTDjshyi2L+18ozwRYwt5kp5PZz97tCk+PoAwU
YzBgW3MwiXM7B48kcj3kEfx8ffTiuNcVsxaW7iPgUrcb1GjuQJsYZJnjgoRMIp3ln3DuUr9uYEgl
Ia3kiePCcUdXQEt1c5nBbQDB0kDPtRgoyuLCMzkmpy4foeI6p1P4x2Mwdi6DGTIqJXbZMJUrVGU/
xniyoAbWi7b14lvjqpZZSOr1aFpkRc80/yTH0GwFMRLRoZ2R0Fc0ZcEvHvlmrbQIgq7q0HjEs9Au
RWgGkOpRRwb+XGPqtT9EuIw9aL297xUoaIF2T/SwVcgoF3pwKE7uALVCFxSCugkKOgPGQw3xqnSF
LmwPygjJlvTLJlBkL4Qairo3XZ4xJx+TIkpcFOJ2dpGBVp4PfOXWARrYmBlSZfm84AN3M0GCQ1yL
miCIOt3gHe8ZXAjPgrYSS/o783aKKg8tK8M+U/AEsTg3fvDctzPZK9vkp2Rd8N30ZKvyyUJWx2/G
7l6vaLbgNmnIJ0XtxA5TlCLgtkD8qEIBd4MeiHDRV8ijBgOoFIlEWY7ewQnHbIxwUaqAF/M2m6jo
IhVn1Rg6S/F/b7yGOJMEyz+CUl0B4FK7VYGjYsDbQZgoZhMEDXhwPAand7QpctAMHhc7oD7dikb1
K3ioNFhVkckupBAQFJxXwUj8+5TNi4/g7EOOEpDpPCxp2uW/40gwcNlw8X1lYZuwIm0yaC5m0yo+
IP9ZIJAdwU+0sClckIsQ2cD2AeDFBgABi8dSOLkKnZVogG7pYj0kPVKqrczYYOKHtAGiF28kCA9g
96PDFXA/aaqEjewnMoYQzBulvd+bmPukNsOUPo0IyrwUupWor33S/vG7RSw12k/2Ow+FFhXXqNqK
pQUzrXRwW5mfAFym/KHNFjPfCz9SN9masifWTUQXog26O40gPR4cAcz3ZlgUHnLUWSAwXdCNrOnI
Gxh7bktXdkYOCZL7CJPHGHn8qUczMSsh8Q4eHgjhaVNgbzlRcjQk2gPgbIM4xOg72QP6hyhaBKxe
CziHOsR1sTZtGUOgeilpAg5vjeRi6i4D+sys9jFRyT/5q2vQ10y3AYUihJ/t5jFSK+hdouaXC+/r
UPvdh5R5sX8OcWK2EsTYUf8aPB/IaDFMsb4NFFr850aDg3BqmIMtaY5cQFYw2Z2eZOQ6tF2g0gSQ
xRgqdIVRJS+lsnOGGl2G8Z3FND0ozAiNB2Ct0yQ8UjPDfcKuusU/WbKYnpGLGL8k3HOm8CMoZJQY
mGLWFIywazpJA4W4krAEPJ2ljfHXQW+rhL/RZvmd57lxqdY4xgkOYarln/wOIEA2ybQ/Qny96zAG
AeaoBOXRz0tU5CsrMGBv5yNXekT5lU9b8jVLumw9ZDP6QeWw6I4XaIcuyy/JTIKBgofas+woyXg1
kgQamoUjIyPYAL4I9nbwv0mTdp8capr+A3Hh9gz4GpOllCmWGhcYb9y1Hbrrx5Fq72lBhzcs1MQn
hgnUKjJRrs4LQMYSTfonDiUC3Aj1F14olqMEHuGtjXMPaI9Xb6iKTOnCOTzLfFHqOAJ28UyBueTl
SkHnVmEi3KFJ9PQ89Xm/FBY7rasG1Hsc2iMY6NSI9GgZRmJuszrOePbA4TCDA9xui3/o0wG3Ha57
WWc58/oSowX7MVQe+epTj3Q3hDodPIZKceQ3IZK3GuzkeSoQVVR0t3dtFSwHrXPnDICsjwycjbna
5haQ0Z7jUB4Ct0LgHEdab2XeovY9g4TSPCp/oarWMgk+IubmtGq4P36dN52owu2yLRcGz9G4HmOF
0iffoujjgG4pKyQ8iX/2GTw64JiDSwAEai3RjmAUf6SyDaNSp7E6w+HR6ZLGXP/Bt/f+0TofZdEj
H/gDvUsUN6Po3FD4U2wwi1CU7bpRmCEc8m6gXb30a07rbtwEKYdsHn6JyMm5llA8Qfx1dr0XSxL9
jPfCp5gdyocjigFOMSgexM1IUGtXlrRhU21y1d8YF+mPFPPAP03AxA+ae1AEbBpvCgrfxaGpEVyQ
VXUzRzNs5hBkue3h8VTDlHAWVY9+AH4zqrpCJr19GNZ54uXS2eQDvm1mcZjj8TlWmeiheNLuyrbt
mjxzFDtBSaTTMdLXNNMlno2LA+3HFX3DmSB8NRDpGAsRu9bUGjf03X4qP0MAq5lKArYZrxuMMtwh
RaPnSZlsV0lIts8TfItMxXru1MmGRj8BxzK2VTwt7lHNiHA1GYV2F4amsK1RZuFzMQg45CVfPYyC
QjjyUbz2Ne7KFEoIU7k0KtpKiRbJWE9wD1qKXANJViRmaFGqQRIZ77kdU1a6JXb3XO9wL47c1+Cj
drlCq2BmWZVNilTdsEJ0J4UA4wG9hJAeYn82vwLE9LSmltPzCpmwvhoNhiMYzM3QxNmaFt2PLhbt
Qccj3uAI3VpRCMXaJy1S9NSxd8evIjAGudKWbn3JIfIoi0WL8dEpplQFFfH/4+jMluvEtTD8RKpi
EsMtsEePsWM7zg3lpB0xg0CMT3++fW5SXdUdt70N0lr/WL5BtVtFAsu9f2czi1Gq6nqQSV8V4eva
aR2c9K6z31En6usiBjPdK9/LL4XMR5/x3l7eSrkYJylRVqxQS6bdUnxF9H2bIi8v1a6D6BhmREIn
EuZIsNmZ/ArWsphYQt1etYdGPHaGfViS2RrzO1RI1ZDUvpP1acVFc2Ub1iQOBINr0makZSYZNgQn
iR76/Ia6RZ2FhwBcEwh17qByK3WrJdG7ehsJatIHCe/EPMYkVqaVEuaVebqb49mlQTNe8srB8I3l
/J+bhViEK6fbH/jB9/xBSpEv12KbWfWdRqqvkBwmEQ8zIHRyKwJ+oCK75OympPuz30IQ9LBYqVor
dT392odNZPHWhDpLJrCJ7agwz71bKx5PC1buM8t98eYpK/uiqWAMmXsqsOptjzDqAr9WMQ7hzroO
ruoovrRzeecyk86J623t2z6o7N/KCbzFLNHVk4eP1I3B/bspXglatRNl2eKzXAWp6lXECpggo97L
g6CPDX7P7VYnbrI2rJNmEjeBXuUAP1V9RMbR7PMgpsuMi/Dgmb1g1Nt66cf+1JPO00UqKFIs5NOY
hm4ImchqzPuxlsMCMyJk28RYnvScLoNkF7CGfHOvctLCTuZpBCHqvbl9DujtwnG7GtrEiBFr/ivX
qEWTlDXrr2DuF3XcZCTmFLxozi5CDa3zKBCP1kflA/ZyXRfBPcHYiwOE0xS/7IkMQwZfp2tAC9gT
aXTQ23y0vdrG2uVb3JT9bPNuBHrTzJ3bWny4PY/fMchzo+Nub/PvUIc78eW2KfiyKsi9VECX8vcb
ZwnPBRtNeJxkDoK22oV7iry8zk+ihlw4DX3bz48GN2kQO+0CCAjvMbMnD0yyB5xDOkyYZsuC/Y0z
+ojuK1vOmW0mzRzi2D/LNcj3E9g1g+zY5EuVBmTXrE8FhmDenLoBtr096C84nQay8utlsLkk6DCv
eeEpmgMJjPZliZXvL/2pMKNzaHJPm2PXT9SYb1PYVzEIQmSdfa+WH5ypPJzUUlQ8ffWittj1Jym4
4BlKsKUP211fDQaEchFmiwWIVREbWD5welWuJSmCJoySxfILnThlzvwYsSzXcdZGhO51INMfDm9r
lq6DQ9dFt06Uh/Ho8adWdnVtyjF63TvB64zkDfRxbvebgctby68NCoeppkW2cMjV5tjn0h62nalO
Zl9uExFK6671tKdWIPJrQPrOh8lzVMx2OLAnoC6J6kPpL6ZnrEdygc7NIoC7mudCJDAL8h1zbjkn
xBdUezpNjver1Wol3Ea74QMBjQzulr0M9/AXnTpBGtrNNQxkVj2IZhvVT1xmWpwRm3Dl27s3Q/z3
9vYZFZOGE2uIXLiTuijNB0/E6MSDNARnlEwOYPOZs5RJG/ozhJ/buOWhyPuA4z4o5vColgySS0j3
JRqy3Dmsayv4ryu/sIiGVh0DuoUb9eEmsNseFwCY5p3XMG+qOIsWZ3uoW7tsXhfu/PdMOc32Snwg
HzmRWGFzcMl6+OMN7tgc+bYoBaUUIXOfRoOj77NabaMfMmTd02lx8vEQzkz3565tuBL7naiU2Bs8
//fauYYY6YaX7tyRuO6eraVvrVcP+cKeblvjjYcx9AcOZXJjNo5Bs/+wiqbZqCic4Y3i3R5yeWoB
ruxYtxA691sP8hB7jKyGsqeVPyuQ752lnNgneXFg1INfdYAgBcdSNK/P/Wr4ha46dAx4aSm713LM
RZPss6vLO8rWIvfY0/EQPe+zP4uj8bu5P5Ci2HR3eUh5Xuw6UKhnubfWDNXsFibpWm/p7vOixvV6
+5CWuzbapf9zIap+fbR5whSzDGSefN3lSF3HAenjoMuDV7AYM0zS7PRQrf32t90a7q2Za+c8hE72
voA7YT2aV7gwmPcwiPU0DHOaVWr4M83Qfge4ser3jkAoP9DgVkfp7G8tfmOT14+z9LfmosQ0JcBB
c6Kt/AcL9cCZVj1x37xnfpglkT8Mf+plGi6caPIXZcEeGyWtn793PHfi0V48lt0RBwBvTPhFOWz/
HizyoyKlg+ixun9Tc1jEPCI6dpuJgyv1qq49FYOq322zev7R6msDVJCvvwNvjSLuqjqb/qtdu3r0
LXrZUW90/hR7Wu/iOkVF2CXocsBCy2EguMbMMvreJwNVgZu8OCstIzoUV4CrLFPBX+16yjty+0fe
SxdsvXPMmdbWtClVRfSiVfmxnAvfOdNGtp8gzd078C5wPa9rXhykqEfwjbCNRZHPfz2HdPMRaQTn
jVeawxD25Xxc2s6sR7eInP2pbMgNyiURIQcY//ZgyZxINuxjMg3ZSiByglJ+lW0ODBBOt+NFqS37
A43df4Xl9oTQPGrTKqAoIp6GqOXydLDXxaNoUZgJ7QSHQRnA0ZGm8yndFzOfaFT2hsQ3VmMopeWO
inNaWq2URyfqYk7XoWaQZLUw6z5bvLYeywKFE9OPOVvGy1jg8GVpiqrfDAjNI0pXixXMH+R54Jl0
2cYmF21mr6rwWNdF/o+0Lh+om23u0yVPyWY9C7e/ncKtkCxZX3wHOb8UKffc/MBvGsTI56oc8m1q
H0u5BvWR7q7B/aW3sP1e+rUCbLYMyHRg8u2D5FzFerDfACBpW+K+aqIh+rWhAHIfS7edf+X7MLUg
jc0qzlk91SXCnCFaOFZQr8S7FEuQNlrw9ofGgS8cUBOf3GwPsqO2gmJ40KJefOi+XH7nYWf9hyRW
jTFufMt62ZiKsO+4xVK+brWFdbIJ5/CbAkbenGwtq0PbrmN+kksA8zowhN0jqaquaKxs8k4Uag6P
35WAx1jHg5FV17/wCLIA9s1a2UfLWOOSFD6lI4eF4VenmJI68236fJrR4jhcNoLz3z7b+JiANDUg
W+rClsz327Bqm/+djpCPc0GrU1GGlMOztZicGb2V4zG3pVoSBEJt1CY1EpAqzQKbToU6Whnhh93n
u/Iztr86QHZ2nKLNY9dm5+hvpupxTPe86kVil3b/4deIaOKl8CbyRfRehvE8qQxxQ+SCjroEXUQM
Nx6XQSjyYIwHtP6IwRa/Kq5qsKM1Xvtefgszt+PjJmaGO28nJRIpCs1DFbGkfykjM10yesNq6DtT
yGeWENFqurWmFnG2lf10rfd9c463zQDwy+Ip8hcQ95hb18sOZuP2iqM1oOpO9bs+QDug/IhMGSE5
8qaCwVEApNxanVC8lKiLWKQ3DZXRU7k6XP0u3/1zgOfPpEYOarvUqvLyQ8EPI4/z6oUzpI9s89hv
S/mQr2X9o8/X4YOFJmPhFlb7ojJbXrhrjJVG+6TZRPf2BtVPtbgMza6aGKd1Vx6yYmhfNmjcP+W6
RY9e7/YLc8xQ/DOMlADOMLBdoiYIfYDufXbOweYyeyFveyqtbf62RFHN8Yp4zo0bHTV3ZVeaiwZo
JIEFrus2mdrUQje1883S3iA8dJ3mZxc0VZkO2oZ6q0ZV2zEqLitI7NCsn3XerBfu+/2OSlELbtPL
VZ1yOv1Qu8U/QZ0sWKqFHaZ1WG/EMC85H3yQWcjZfLtbZAz9sUUHE3rD1Snr5d0jJV4mXZZ166FY
tvq6wsx1VxJHa49EbjFJTI26fHbUUs13MwWN/4oWGWWMK59sWgcCzKVO2R7eN6fzjyMuH9QEtPWE
x5aJ+hZ0VZSsJkKPAZBJldWx2SOGcWct+jcZls035yECkErV+bMVWvnhdtXvaTi5YfYdIgk8hmEG
0VraskYtorPhPSMFAzKWwTgkbT+TdVo1LWcBNzkhhU6OgIiXpva40NaNO2L1hmWitgF3LGIMtRxn
NPv30b5yv4BW12NC2vFeHJB4QBuLbjb1S1Xa7afXgFAki2c37qWyalPfB51qYLWcqe+3tMidHBIN
feUB7sfUp5GfE8mpkbKJQZvaFv6ex/ggh7zo09rXHvyCW7I0rDsp2CfNGtE+mmiylksGWARJSl2r
1lv5MkKXVweTq7J+rbMKP1PJt8vs0PAjUk4EAULtqeWdTZGZil8EaZdXumg6k8i98sAXBSqF+1Gx
KqXcf8o+7cTOsW3LRSBZaFoHvM8XtXWuEN2z+28k1iTGIS4nNmXdTmkdGPPfWlUq45sOqSAF5keu
O7H8/PGDLndSKGKZJ1EtXCuprSz4knIljGGFuE5XpTHbd1WUHwOqz+9rbxn+8qmKb6vf+v6gWUKt
s9sGAdQZEkrYqUwxhFL2NEwoDMtu/IPEmo0dAbnzQJP8/nPkdeqSIhPz3cYsvh7strT+kGu+3G/k
beWnRVjhy4LZxIudup6Gsz/tTLOyMZWT8KKUNaZd0goTt5kJxjKoSEGydNYxKHTENLEgZMH7Ljdg
G+PMbnT2+qzPnsfaU8VlQ9DhJ4E3Lw2pVYE7UVhYSOdYiN7iApjoL031Tq4urHkdWafN9+H4Brse
H3fignRS2dnY8YSizpdxZgULdMEQRfPJy9Y1Oy/OgOLJlFReyz5kIKnKsHQvLEFY2SbedplwVi4C
Izvw33GvS/eR3FAEIrbTF3ZqjTvgKmDsFMRKrlbPLN6u+UdeFKH4vbNAqVMHKFYnPKHdbFP21rfL
hQtSzikaVfC8FelRkFJziyLbI5sqOE4BmGeyLNJfzgt5P03iV87OlY1KTvFM91wnnd9YXxGi1u9S
GqfmW8hGebJZQoLb3+RuLjdex1e41HJKBpGF/E2tOKkR2lgvhfIXBMpYoMrYE3ArazA2v8oMbdkD
sbkqP7pLu35UlRmKZClK3z167GbQNLQgT6dpGlaOgCio7MsouK9PVUHi7j2teb04sn8FdNlCZwUn
ZixQzBIQzzrjYREi1cs83LlmotShzTgHwrDi4xVC/zfXvj+dwsJkHhNIUe0cOMIb7v2VX17S6GL+
YRrUnOBCcnDjaLjJ7AW0bnuU2V6qp712TZT6k+tNR587IvjnBH3wjiU2W48rHGZwLaNw/OPyXoN/
NA6IXO9TjhVbALbk5DUKtco+tE3C8DQ82L1V3pX26B0rMS8PUZ/bhAtwJTx2NBm8IZEc/cNeY2lA
FBiO7gMCX2gyMbjujz7wdpUMmuzSK7Wv3k856Oip8fRWpXD9DS2Rs2xfMQG6zZ1C/jGDLecW/FiY
ifMUaWAVf+0c6xBAObLTeOX7NimzvzVl51fnnZ/4EUtoRZCbjyDmJCqnv8cPhNRFzzgkbjqRUnNt
49TlUveVn6LyXFTsLcZj1t0li3HgjtjNhUc0B8pEr4FJijIDikYUakIoqvpHQmS0nQI8R1taRvvw
F1UsWuAcbNtAbXj7ccGLfbCLPLsSh2v6w+yuxds2+jxrNzbzZdsUezuk6k0+rnJjJWYuis9VAPvG
PvcwQtfsd92MwT1E9foDKcr2H56oAJ8BMDcIDSJX0kvyqunu58JD99Ius3eYClm+T70NDLNwE6YW
otst7mF2XtDJTH/XGeUki0EZPLv+rZq7zYkou2H6/d2k1vA65l30s4MyfqQZpv4eo4ltasw9cy11
JZ8LZ56fusGeflm9GzF0RPPypPnmAPp7WX+UmqF+N3JaY9MP3nez86Yi2yLrrVKyuWv0bjF3YcNL
vchaH3RjQSVylzQyoMd22Bt//2tPAO/9fBPnG9n8MiHbz1bWzDU1lJejfCvRobcebsDxoZh8fazW
tj/tdtB+92vtXkwm/cs4We3baI/2nfJGAY3qsRLJts/TqIPqk6PzgIByOrBHLz+Qnv6Xt7Pi8+Cb
aUuSiURtM1mQzISSpcn2c51HX/jviPgob/xTr09W0JsndHD+2+2FPlUOlJ5Y+baX3SvOravMKWzD
e9UDgDve5sVE+UIwS11/IuSNHuF+j1FU/2jr0IHe5K5Nusg7lvM23imyHlpr+o1C4buZFqQI7XbX
IVGM+bcUnbr+ej/2Y/czGwjOTIoeJc7yVvSC9Yq0zykxYT93KUo5/y28dWAdZDC6Scuu+SBzP0Aj
3pvhP9/fHf9Y2XXwsI+1viyjPyqg30GjhA87xCPF/IhvnacbzAC1d9hO43Hv5m465GW1EWbT20Hi
h5X8ZZxd/NgxgL4PIaaQvFPDUyda9d+CXpzRihSHL7/xrI+JheK3GIT3sxWN/QSb3T1bY91ctRLL
mFp55R4Vd8W93c3NIQKIvoPVZ0qeNqf51yGzRGjTrXkcer1/mFAOwb870eNm5E1pNJsDOGv9267Q
RsV1ZJfXGr74FKKRhjAjbf3db7fwy3DrXx3o0n9Rg+IoeLThSTRa/gnMmjlHH1FKrA+kVrZvyjZM
8aHWd0Bl2NYbtfevTmasL4nz5MAYAHk7a/C6aHc+xeAhFd0r5zCNg/cW8q6cq2UuoDNmgMyielXc
28924PKlxBA4f4roZrpYpULvJ7crZ24Ne+i0I1L3qLCPkGvBe6T25p4RmdJgzq7g2a68+oPLOYC6
y5yrJQj9RASxZR2ddIV1WpewvrNalNkIh0QLvWI36x/XE/mP1ceXUxeleAzaan3Zy8FZY3fUznHu
neK3mDP3s1gGvWK4GLYLw5qYsY542SvZAc3nSpwPomHbK76HPHP5+iorgEb07PwGEDAvGJJ61Cqb
zzO3djVfp4Qgf0YBTokAM7aKLnbjCbDICAMTxwihNVuosA3MC++b6vDH9G1THJZOuw+IKfs7gzzy
zkHAEZug3Z9WcsPyBHmeLVK5tAghw5yjrmaPPAAVds9RX20w+iCIb5kaix8VpDfSUkuswM2qU7+n
LWsn/FZIiMwuuv/yaVTpiDQujH0jI5YGWdBKYZf5plEMevIhYox87IXBluTj//oLr4IC0fXC/a1r
Izz9EQ4vjGP+zYl1VUI4fxivGhq2UIuay9572Y1Y2Z1cnxlKbO+Ha6zCubKNgRTtkRDTd9foxYrB
2Kx3N9ejj2wcR/tnNiOGP1daLc3fefKC6WTwH1a/q3prLBa+MBsO7C27TMJJVD9RQsoacUrV2s0B
nQm1z3qs+51lqvVtkoj2fsCWs+5tJTt+uKVyrtg9qu3CrmEQ8t1aOfH8ADaQoKSxZfU4bampDV8G
vdXmTfg5ersEBr/Yj0Wgs+DZ0LjuPKgGcfRBShVe8MTs/xGPXTRJvjVTfs7ZBbrntmFoOKILWlfr
mA92E+6PnfB10B9H9oxSncYArK6IQz33M2a8qN+KV63R5c7ce2YPP1uoB/8gi6IzPye3uck9arff
NlwLEt3yeHIHVB0FLrqdJtFug3s4IJQNkTGYPdO4hgVSCuu+7lAx0jwHJcN221mlM/ZovCGXdLIi
tVtV6i5+bj+2ME3h2WlGk/F5QubovxxyDmDqsmt7Nhcno7Ljoxn3WZyQohVmisMZLa/LAJ9N1GZZ
4RhuI1Vk7MzWMQiLRf2cRMDFHE7ETj4iixkmMI3RtSrKQbEQvPl2PbWXGaddACnC3H31kAxErLTr
siSecjLyz2uEmYcC1V91n3uByVJ+7mK0YNGccP3FbyRHhu8v69eE4db6uQ2clL/HwGpW9gPautl7
1Kga65OAbIfkmZ3JtfrhT8YeHnsYXeeClbpzTiRoDCjlvQFyhieh6jFGrXVTPPo9nB6iyNFyDx7U
TXCqu6w1/3y/rUaYGhTIr7gasvajcycbHnpxHBASd9XMq3PR28Xj2uCCBTinY8ZJCoxI2Wlf/RWW
jSWNq8O1hGHwbVCfpiok7ujOQrmR7fg9Qrc4Csct3F+5KQLxAOO58esdRjFujxkUV/gTZwsGA6vN
O/Ju9y4qn2ukwwE6yNbNzrgpgywmXX7bL82GQe9pjIoxg+0PXPaLXfA/zWM+rVCdRTht65YUYGVe
ewTN7YofpPXI8ok2Dw7kPbSQVLR+L8GAaDAbhieRz0AhsRK6UlFi4C2kPPEDRsHZtoIKpTLO5Km+
YGWfYI+DASo99pdOKYKd2KDlL6sOJ/vLK/0Mk8hi8KwccBb3GZQnZqhbdFA2RNOpUwxBh57v0LHT
2oyeObkbHZvuhbM9ZMqeigGsqHV61/3dW4JHJBgr4Qg6qAN271jg3dIz2VkZ8ys+G7neZzPIbcxJ
J7o049cZTKj/bmBI4oq2R48BJJ/Z76XVufpZohgqnzI7hBfXgBTDPzSfjbp6IV8Gt1KOdDt2wVDU
tTf+Mp/QMC7ZF4ncy/Bv0J0cL60DYHtA5ZtnPLNq06cpmJbmnqQFEZ2CEODirIJup0KkzbIstQME
oUm0eK73G9epVx6I0V+W5xI9kziOIIJ4Wlts2PEWhEBkuJFhsPOWpRw0UOn9IJTT+zykDqk7qVXl
i5PaZc2zfwxBvNUHM6PRLfy3WF3rKiNdTMuR68WBQBiKoBB3m2jQuJrCEgPEdkXKOteH36JvZ+hZ
l5rdrp2GO8+box7SdTSll+rAE5sBLTGb/SpW6AdYJpbyV3/HJ4L41nbnB1FtbXCSNZzQ27I2NLZh
bODf3+hhdAXrgO/rbkEmNN9kyVuZUBKo9Sdu43K5qM52JaccrtaOZDpZYm6IelMeNj6UaTtnkhzb
10530AuO23nlXZf1FjphV1kwAIcQVFg/maAsy9+9XSpeVXZ9Z6/TLsAqmx0ZgBrHHKfS7vr+0mIz
aoZTzUey9e++Aa//tPCuOBsgLa/9cxfKsfbfnMzF3xznlDP4qV1MYcFGpXQdXttetf9mTpIoEfVc
RkepzIyBGW2+tZ+y1a2WeyLKscLubFTzc4CXFGcruTQ/gmW2WYjcqlmTpSbWhzdjdJ3xT0fyuo1b
UUIy+Meio0PkaYq6oWoSEFFR3geyEt5nsHd0gVJyNLXHtpcUOsQ9R3FuYVfHgnfRvhdl903g22AS
NZV63lXgva4PLuclBy26xuhugwDoLkgXJghs7bTdg3b6qroG3LOQOQtkRxcjI1giHqZ9sY9+CzJ7
rt2VpkX8Me6gPlxRqe4MRhkJ5zzbW+/abwOd9NvfPHC7/KOtSPJy0aPioDUxvOM+omaiu6qN57Hy
UQeVBo3QSkNDfpAz+ILDGrmM5jq6EUDVYaHNqb9vjY3hhoykKhiTkYzU4kcbQlS3cR2uHaJjKME6
3sRQRF8DoYGjApwXeZETHkhm9tEbSm9xDgT2++78FMqp3S84rPv2D/4ICA9+Clf86HtQz3s7REyd
p71Q7GvNsk7ZC8ZtQ+HAAmqRxXiFETh3Dt3YdzxfbgVltCupMItmYj0NTLD/yd3X5uqZjDAKMfsT
jEmgo/51t/Jo+JULZAUe51oV9VcIISOAJCHIugH3h5ex51R8Tnmahwt0JwOP9pNVhVV1YlnvsUHU
sqn/1gSJ5c8+oRfNP1STOv/nLrdOT8rsiSdH4Y6YbWNOKyyNcUtLPJx4CN1UOKqRwLHFrN7xONTl
ZUKm2j356BHyH7WN7+q4l17QXpatNAxCOwlQ9cUtOsnKHOAqxOIZ7tKCQkZq9zW3hjuJqD3D4DMv
Y9/Mx7o3osQ7bqJtPuXSslWXljNcwRkbJ6R8dmttu7Omym8Puhns762t6+oHMn05zmhUefeuDXqu
a+kAlDKqYwf+1U1RmP1FpT4tIq4nFNWpRhUWhKmf9UH/x1qrbN/Om1LB9C5b8izaOHcIdooVqSVk
vMDpAOSHs6okUb4yZN9andUPUt2oeT72UK/6sxkA23FHWvb6geRibjFbcP/YP10kNtxMwiu6IW09
5GePvbOFsF6bbamTRTgYahivXwRYkl1lRy5/DtYZ8By2KtQCinE2sJ/H2ilvwjEoUhdC3Vqdi+2s
Q3nKmJemcxcw7pdMgGUlPnegDpStRWFFH97UEeCQAE9mZo2nwCvr/xjxFcJd4mfZWiR8bHa/uSbQ
pHQAtr5AAU1uUqLdZuCCQ22fFQKs7V2hASOzQnBdp10ofO8v94u2TgseM6JWswJAe84JBChiV8tM
H4uocPQjtktRHEKz9d5/WWAF85h4VuMtx5L0rpKRBP3yyjeo/OEL8IrSYI/kqzKxhQciFOO8w4u7
ydpB560KQZ7AFMJoCGs2BMuN7dxTQp21o7zNzKp/E8G8IrqXU1E2RzOYIP9nMo4zFKNqrZef2K/D
7cQZT645C9CqCBxnPrRvHjKMjYgF2Uscu3fbP9veZouV9vXMLDENMy+I385b8JPc+6W8R2yDq7uc
b/qAIZiK5lx0k4UGha4N0hrMWLnbT89Es3ejKvz+DlsxK5UIyq1cmSHxcf0mW2QYTlriQzubaK07
w5Pci/WViAkYvGO/jQAzm5xxGZ1app48pVXVsbejWFAYn6pQsfDyq17kqZGTj5oSIZPj4isb1wyB
fLcpjHZL5tTyns993x6nNXf7o2fmOfqDJ5UTK7VCY+hGUYWz/expv/1EDeZ99p69cov1iIuK+3KS
gIEHZKYkM0hnsvM722kFBjCe83JAP2LAoFKKi+r93uSDM34wfY76w1mwY9MZzFW13NeMD+rMIBYM
6TZhHq8vPO/tGKYbUxWu2jngAhXsUbMJf1oVXovwpEU1KdSjWblTTFW3ZIaHfbSOR12Nm3l13MYs
C+LSJW89yIce9SadPWiNxvOIS6w0xBbtU/dkB7zZLTD/uPMI90OZr69o8EX+vLM+b78rFCriS5I0
t/6pFIWNl46DtdhRmlp29MXH2m2nbfDRQ2GeXEuVWk1vVuR2OmSltihA2P+SX4bViWFt9hze1CBC
Iw4ZlhfCjaUxAAA8h3oWOiYDwxMR7CMqbW5vLlxf3+9EGI/DAbgx6Fr0DePsu6lHbkRTnr3Z7cs3
uhU6lOWoHeT6X7SrYfsLJGCZvxB3vvMy4WAN/uVTtTjf1qrHuYohRb3aeahRUi/jIbPauT1pqxh5
v8clmoOQS0otRqb22pEokQR66HG31JYp6lMN3k8sg4On/QzbXnindVZt+KNT5KLcEXGqzUvV9qF8
HLTI2pcBirX8pTukXcd82aP+0YKN82NXeCUdPOz3xZcE/M8uEvk09wi3qJ3OlGgXiZV7VDPaUEDe
2w7+779YGzMr6Sdue/sKcNz367yF7nCTUG4Udg1cIRCenTt7zV2mrL3+kLKW0QueNvz7rMmV06Z2
z4l8jrLSt88ahMs7BB0n0J3hudAnwp9clD69RYhwmNNPkW4rnvPrVmhruYUM7OwgkliGlUNp0577
jC5n986+TeRTwYfiTpM5DWGEbgbae9lx8sgtKK4zD5jvp5gIguYCLaWdnRxqD2RnUnshDg3kjTTc
uajJdEp7R478q5OhGP6QF9PUU7JgniSdf9Ni9e76xW5Xke7wWP/f1FbsyOh9S3yYuIF3WW4xak1X
fC8u40hPt6SfrSdklEvxKDXWG2qudzc/qnpU8mw8oKucGAp2i+u47pi88Kl3002e6mPEfuC3Zm0s
xXbTIwlYlHYuOLFb79juojEMH81OCECHgy18YAZr7ecZ19w2HLDjEy7hcLJOD6bUfnvM9TrJHiVJ
ZPlfjOo5uWK4gFnJxsZv2TPRyMBXo7oSnywQcuWJRry0Jp6HtH1MkV4q0rsLjBxzeR+tedGym7eV
cT8FWNX/ODqv5kiRbY3+IiIgsflavkq25FrqF0Lq7sElJC6B5NefVeftxo2YMyOpCvb+zNrBtat4
YJ3zBYvjriELTEmQd9YEqaTyvN3QREmOllhmTXkxOKUlzKKVhxlglg6NG1xMlx9W/kF5nfLI9scB
5NXw1hMguT3ftB9HH7Vle/8HOCFp303UKMpcqVhi6ncNFuoHhRoXkklElvZj0tLvDx3rs/4iMmBT
cnjQSoo/c+tO7ZXgo8MgR0WRrzHpCzFdHQvJGB/Ny9cdcUtVX5Pa3CIsXucx/veJoTE5RWp24o3U
XdpF97lWhOv7jFjHYR3LyRwtmJdiHwC9CGE09OQv7qsspgUsg2WpX3UQtPKprVbcx3k0/KxzwvTm
7TjqZubPOefX2zL7hDx7j3WJzHRRaOPVPuR3L+W2WjIZHLM46b+GGwyAjqe0REkm35u/EzNCc7yg
9WE4sctBdWGe5ojgfdzSBPydJkGBNs+O1zLzC3yH8mOFTjAzsRGerRjsIxKd5NZSioRkJVrnS8E2
Hd+wpsbmHc8Yf3SjzZDPDyQR5vX2L0ZC1bOkeSKaEUW78GRj+ycv77Mq3lupPUTodPQ5FUKclU7L
1Lg+nfZOjPaR96bGlHJG+h3ELXU1TDlmex6wE5RVONTkh31iBCW6VvGYyqBzthRCx/57scPansht
62KbFREAhIRxh6RRkc0AQbk9Y8Iw2SAKKIyWTiZL/xDkvpLvS6slqd6gTdxgw+Mr79g/BKyeDdLY
EtKFSTr+kxNapruCDlzyvjY07alaFimPtX3hlVxS6kM9UifXXexQMAszr1l32k1VEjxmnmDyOFdB
x+3mqNPCts9kcEwevrBY+dyu5iprHLyV0vXn89IrANQotojQWW1ljM5UFv4BSJ4rrqpuivEaWhTw
9xF2gvfpJpighxRQibqjSwzPdXInnaSbKA/TCLRC3CaPsxmr+lIVg6YimhUBV12OuQ1mjin2PuT9
koiuzUna6tvFUrxxUdas9mGjyvG3lqbll5F73mVOpFM80YhrWQV7zSizayiFNEdnajGIN4QTKfnt
gC4RBMC5y+EU1KQwckoeVR+ztlIrSPt1jwOMhpqQ4WcPc4oo6PcwnSb5hLJbFyeeNjhS6H2OSL50
y9T7aftOoBry2yP3TxERRYwWsBe8G8cyLm+osRPtAseIuIwlFLv8J7N6leeJ8mmwK3lPdeW2yBr0
zJgjTOJFpSSVxm3clNn6NYLCAAzHjShNXoHQd8pHyw8aM+1lR8aUYGBeemIPLIjUXO1OyfC84kqh
/xNakUTQHAP3MrYZYXPIFKo4iWIc6/zhhr3p96pfLUmmgTWseaoQBdzibG5zWcEgQSmw2Zlp1GSU
yG5GJskuiFTsfo/tLKkrkLgPR/MfmzBtyS2uzy151USlWl772QMJduAiu9fcsfVb9986dLLzOeXX
58I5iGCpDAeDjOY3uq54EDv6uqm9qjZ36xcAL0k0n+PVD1p1oXUylo8UdMqDZvmu/qGiTwkCUUUI
b6SGCkxEeObNmyPD+tqO85+Fghjvy2ydX9Alkvjoal38zTPyqJt1CY0fo7q6g1NvVh5f/sExcv0V
8KX4m04gm7ggBF5sw0rp31XB0s//Md57z1nQFBiaJpfeLjTUlShAdeJpGdCoDspJ8+rsJKI51Mrm
Pk3NZbhO3i3WQXB5in97SKoa0sgMUobkEMHKmcJy+dpDHGwec97C1c9Er9P12MplPiE6icGf33nO
xom/cSMd2Y9+skwYG1YlTx000twtlirM+ji09BNpLK79tPV6b2DxCabbRhDokOvN9IFI0+Yd4SWx
0DEnd01s/jDwigeNEWdDfOXF4/4olZMAp/TjX+YwzvWRtDOL+QQaTPAZ1Wy0W1MJGvA5HbAUsafA
Wvdru4odnl3zbxINDPyYmNQbwR2foAMYVPE51AlnNpQmd3YKTdtVlzJpfA/6uazFvhmG0twXJBm7
a8hJNP8XAdwx+JXVgRFPaYKYcedw47S/KwgdQIlRUS36X0iYQXiGj6Uu7dAtyO1RIyXZGzCvR5nm
gHT5YZ3qXKo0HQmlZjryf0jqNb277UvAcGcyOXF5yP2V7lbkudJ5HAo1IXbXlo1ng+WbrB95Fdbz
A0EioBDz/2nxcLbz54CoKMQJNcr1ImsnGr8c3pbJyLiIqImq0uT8O7h/4xkib/C2JiIoWHVYClOX
8Qnku3KtXLTWldlhLIoGEVbW8bLnD7fImooEqQnsPa1qWW3DYK2If4FjQyElpps20y8fwTQgfZYg
33vV4AR3jFGRe5eRxTN3DnWogJxopSvzKwjDzrm4kpQ+8nu4CFJwcpj6k0DDD78d2YGD44BCOJ/H
qqJ12kpdPRE6XRomLj+u9l7YMzAw18w8VZJ5jWC8AJGpyLxHkudU4fG/zFZDQLmsl6DdJ6pZooMq
JawdAQSREmFJwbXdkRMZv1mal3mXsIVTKC1n+7o4ZYmCKmYf2FJGVPJRdPOqbyWN6JlT5NO0V3WW
zfsBC7J8ntNZ+juXN3r+aJW9lRHm8ndBX+cxI5pII88j/ryPVGhfupKM9b3vAOS6W3hE4mlVvbgo
ukyMyAwdSOVrTGXqikhHmxNik+sfO0FzmuA5ivlz71fpWfHIo5pkSMk/8e4phk3Cgyw53eIvwQbc
ROvxSUgojgUmiig4xcU8PhGerfw/M3yJjOZowLkfh2Sr7Sl1Td1A6BhUWt4BKg4U4ZJ+K9mxQzSx
lqmXAyVD2dt5z/VeDhRkLus+T8Y5AEq7LXt3nCBZOI5kvtbefzxPFeGkjhJd3VyygjBrcKRIlpud
hxq27ofFZgGypqh/ksWKdtguSae/YHpSJC5iUye3W4ejI/mQomDQFqPo2hJsbPPpwhFGxR89FaBT
jmvYxBEkd507+rQurrJXIB60qditB/tucyLGkGmaMrBPWlf+f53v6390Qt3wKMMke/RTRsx9WRim
KrdhR2FVZiUkHj5wYZlWWDF+hsRYp0PGsHWOswKC9Jg6CgDFWvj8t0FVuGnWdTRWh5QMywux+JLy
Fi3iexCCmvY4mW3vwM/hv1D1ar49T1TFqeSPUx9U34doChAa7SZmSHEu/I8vh9KJ1+K1DZf/V7oY
xy6py0HYHcgDEkEsrXxx0ZUizIo5/+OraHqLecL9cUSQ2PuiG+P+cdRu985PNARfWV0N5ifMkYAQ
tceqOXnF1OtzrnqM0U63WbrHRIaPksmBXoJnKcPjiuhq30KbIIKeF7W5CiLt9uQgTYMy8VSV3fPR
an44h6yiw9oX6YtBCvR3bcB0va8JRk18CqheIheEebIDh0q0OuPCCGmWfnDd5ttWY5ht+XAzFRWs
ht1ecI6h+qkaBVQKYSsdFAXpJhSl2LkONuEmkeQqaZx1aopOoIkzABxJyVhIm6Dli2T3XBrT7RYn
pqt3y4RG/tspgnY5iw5kyLPrZqm9UaI4sEqUu1Ux0IbOY8BcOwKtm9IdcOA2kt5duTdV4ZBAAwsX
PmbuMP5Dr3PCvway6Wc/eEX5ig1MEiTGbX7EHwQcm6yzOOOV8ZbPOtc6J1TO5C/Sk7pIB2IXrYwg
b/dBHMdXMuJjeYiGGTgL/U8P9jJ44BqAAMekt6oHYweohTI1OVr6Gk8+LVdkwLQrgA9Uq0OLLxxb
sZ2w+rt3uqP9MUX0toxYFXgNIIWt+5jCzSnPWoYEjFM/W8NLJ/n6Y8N7yVPmTo3ejgv+ygXFcFJM
VC2Yvkl7xBxbXjQ7ap5jC4zAzo+CdOa01SDAPGJTSfw6s461h54PzH8OMNUbiUBbdlSyqe5BVmmd
HvMhcc91q7rgHsmSfuVQ3bAvrFb5W4XkA/OPbUFsgbAmR4vBiLwfKo8GuMMJw4euibsnlwPJass5
sObvzAcHT3biiHiEisfhCPx1h6MlNcbtxisaL0IRIQyyq5q44o7xJIf4xCSAMTrNlUvkDPuI21bz
2r/wNCDMuxb5sOxgGa1kLTGefXm0Y7c+NnHYPo/pHKhjdDPEI0yb+Bgt7QCxVdINKO40J7sC/9Dw
h6pO2CAZSzK7lrfvnCGM+0vSIrt4H17rhGO3p1yYEwWgaVL/nk3klffVQH33yNRWjxxgjdK/Foft
LjVe0h7HuYR251M8+MzJhWOUsjN/RHA9WP0Yn7iREfGecE4LUOHxe1JUaY5Mmmuzy8qQRyGyPJXw
rIoEXzFm5+Aug2Po7leELvsNCgVP/8d2uqFK7aZ1rgAOtqnLWVRquUlGRqJL7lz+ybh+w3lredPE
HY8M8iE8wYurZ2yNnenlhZeRJdJ5ulhLjjnL6g81yPWkB89kn8pdU7CKAkDSdCh62/Q0LUjq7swc
AaQYhOf5G+FP8hHCrsFN6kiJHIjh4hk5jgNWKPH4vpHC7rmmROO0oizN62slXr+M5rMAX7tACdJL
tfMBhsk9vj/U3n4W4HP4hFxc6pj9aeJ25WNii3jZxbWdOCiTT6bwXjhFMlV/l67rcBDSpAXiA2zG
838RouIEwl6wGumz6GNQU2Oj5VeH8yL3SHKo4IVqhTm19UhNPEkzc6GIFiZ/Egv24ZNnvM3vgU70
u0WSG8dNMcu54FeJMFIn8KKJZxR/RRVxeJq3aGjxH7r5iR1+ad4UzLn/BkP/j15yq8APiHDlMTk0
Q1XvumImU0xDyGb3AVFQ5JxyBvkhakI6ZwFUHu5JUVt1nCu5hAere2VfC8HBUIxUmbSXDq5pTkpI
pN0x6euQpm2LrLspVyK1aMHwXyskSRyNUzvnC3msBLhERpS+PJDXYduM50VdIyzxdleMomoPSy4M
QBRV8e7MEjmbh6Ut20vLZ52uWbw6x7q9HdMzTede0650kn3ph+Z+7VaPHPjKN/tOkSylMa07cy59
qvi7TJiKAoAtiIWmqYcFuuH2V0vQcIyH+4USOhvU6vT3TdbRoWsmBra33uHNeBQTi8wmtmEZ/q5H
GlebCsH/L6/Y7DkZaOAfqY6VV2d2AjgIN7MI3blfehJNePDOBo4H3tTsLeHvOLo1VvissLnTMoS2
0tE03Vmvy597AAX889OU/Ro4Jjfv6FV46jc6u/E3BAPXR6hGY7ZFPYrJm6LcweVSIRFyGYuAUO9I
xejgUchut4mdnN/R4IwLRUaPFc6UIN2o3Y8/i50obN1wDQSSIm64cUFueoRlz67scSXwfdHxCATE
84laQTGef0coq8WTKt3MUFl2gBvyyKz78Vn3vaD0Tu+oPOZuxBxrnIk6Aoe9GnyElVMj/TJQI1gk
IGnqdnVx7LXfmoeOSdecumrOfqaShzDKqru8ZXaa/b2xKzinAveu2yEIMdNA03a7reIizAlw+IRa
n5fmTWZFGB1qf57NYS7n7k8uGbRvS/H40pROCKDaEM6DuBP5kHWI0c50idfglyLkr/ZVZf1qs+Ql
H+JA8eLfsMnPnzJr42anmsYvd0AfJryuViTHZtUFhcC2uK8zq95HkBOEJJum+k3QMFN3LSzcD0/A
0bkDX+Rf8fnVB4idFTdPZMMlSSZDw5wgDuG31c6UKdNl9dUj8bTkH45qFp8DsG/zhZCd7h5lFDZn
M7RkSgFGyHeK10DVJ0WtmuBV2drHoM6o2BcVFlw+TaW/x1Qwe3KFln5YZxSSDkeg2hu2KyXcC8hI
/oumqbbzIWCfnw5lG+I8pAIe96HlYEG6BUIhL1VKkGVHT7GaT9XkR2cAieMRhOFI+WDOJcntmeHk
kW5l7e4LbR1a3S23LCjDEUoXxG2PhZ9zOWckasfmt9qKZ08Vu9EBMNn67qWlcB5yjVl1Q6D3dBIh
BfAFTsFlz2Pxhf/q8pG17STjRxWVqfOCNYV7lCxhP17cqPOH89Jlqj8UBMGdTelI+XvpUlAUiokP
+O4iqGNFw5K5J9qRbL+ywRB566okxHR3ljj8pGxeJrw9BgITbgW1eTeY2Es1EXJbIhD5NsY3XOOm
qXdtClkb6Hg2mi9PSNaNTTrk4/vETTC0X2/sd2Z04uJF3cLCm7GRTvdU9dyQOo6KY4VnKqGOPY6l
G4MJmzqCO2tXsc8OA9rFdiVnx+LIvav+3kxJ0/wZIB48zSNb933ag4wlgkpOHyEmABO+GYcyau5R
+AGLwbmbOlITLg//2dKA3Ol1La9VEKs/KT/j61Cy7NDx5xeJaDlNb+BBxx7BUa34v7EFug/zHHug
DcmD+20TI4VnbdXsinhN2lNkyWzxWKukd+ljGV+WwfofYVLUj5wvBqzjEWn7yF0BkSuIBaRSRMzl
1TI+wX+hYD48EJrEM88WApyU0o2nd17uNPH3OnMt48L1wSQ/FgM7OVsm2vCuhV9HidiBiggWhcdN
OVLN2IoAtusmBofzjnfLH7i0TcpzIZ+W8cB0qZJdFU4+YGPtlJ9DGM3vYMzREFuQbx9kJdLqntN2
zvAVZTHH8twp7w9oFsp9BMAcPjQ+dgNOZVH+sW7W3Oe96st/g/DdnhstyNIM+gm0U448YFoxDwOv
nCY74nDNwdp9zlTjqLLU/N1ORPfL95GjCdX7OK7dQ4L7W38nYRB2z+Sh5v9GqH3lVnmr95tpqm0u
MKr7mizEXP20oVM914NbEdCLBGQ5W7mS4Lo32vlBhC5dIjYalJNRun1/lXmI2Rjz1763U1n8MX7q
Oj8uVVkKi3Fv4wMfi5RdhvVL7TwR0wvCIgxOy4AUcIZ2MwVXfLjYfalXJhEevrUOlzvl5iK5xvTm
/R2J/qW6eLoe/06edNujmaXSdxyMVFg5RYg92czkzjZd0i0T4p0d3N0sItSlzRg6a/eq2qCWz+Rv
xcK/snH/6aqQwUWEiXA/6bOaFz2qdL4MRT3FVCI8b4D3Sjb3md1EpW8t/YR0O5FbX/Y9eNiXhTig
xnIww1mWaO6vGkAvtzZ8Ex6rZoAHznwPcYl6Qkky4ouYWhQ+JJB3i82UkPfkqhhHF06VJHlJ866U
1WFwE0JhEntmG8CJ3gMd5ySnKQLHf+5nrgzep1aMRK+6yixbXDBkxXqWyzW3GUe9GN3HaWv9Ivyq
lt7T2VZnXj1v6jatyWeHcO/IqHQ5TR+GApCIfer/CzSSwYNL8uoXxL3SPaYYEzEUITG+hDMvqV2U
a7FyXKQtx78hcDSsPokyA5uWX/a+5u9MuGYoPKSVddDhriixme/zDmFPhLUJPuOxM/5PwvR5HjiQ
gAzIlZrqjx9Yf9gy6GhqBnwjiEOko7wgNXis9Wvd3hcjJyd31OJSOKuarWqbu/hZG6h5/VcTeDl+
ve7DkCZx3P3IqgES0a9BX+BIjYT/wfmuf53UZ4MACx38XWvaGg/ZbCwmV1KleACalaYbjGBVYxXW
Gy56MK5B4iU1MPXKYWttJuh0YDhjPksqUMMTt1YQbDBus3gbVrOFZDpw57EnfN5DSqq4M8KapW/Q
QcJQJ+IQKaKYITHhFfD3sJ7aaNhyu7bpUHA88c7EHkHi9xvIYlUFmcXPQ7MRvJb+8yyhcui4vf7D
wYCMoxWsFDyKU3S6jTul4zOtT8PbmxdkDjgymd9mYiZ/QL5Da5DFNFtWBxc+GL1nks6hDZeTx3C8
bNBhaHt2cJuuA/FVsoIKhsqmIzHk72BCmq+8WmGKVihXnFoJ6qh8KNYYdEZMU4FYbzjpz3XAcL/F
i2LgUnP9olZrjnxiAPLAPHCuHZmZlIGt7C6+lC61ytAR0IIrE/znSxdZw/F9dShs5fwQryflFfay
fDJLy0MuBeXVov6q/oOkBYDYuOQWGVqoGLZVe9OMPcoOt7oI/NCd9Bfx0YrcfR3qSTd7DGny15Wp
BX+JaVr+IpTU7yFFwBAkF1bNRtS+4QIPygndCch7NRi4KKSmWq9fuurUzxqJHJooJg3H8uqAVls6
jinKXRVFKOhoqxvPT+qXfI5JIamZwC0/2hT9sTBVT/zRIrvNoXh09OCKwjm4edRyH9zewrZ1lbfP
Xd2KjIJngeBA1G3Mt76VgHi5GLuqrcd69maaqHvm1akAFIY80ekzNhy2j0hdf9TuTGZ+yfX6y9QR
IUC+mXW+jacoeSq8iUGBTdtQjBSOVRvjCUKikDY1vJ2Ukt0hpfmSbLnpXHtsCCUKONn/9mMaxPoN
Q6CMKWySns4wDIHLh1P+320/Blm/ustrHFchODfCVoxx/L6Z2TK0T9tw5iPQxqHnZukpu1zUeOpE
vMDahdebbG5xyyNnZxpJx7an3F6ihhTbku/zGb5d0l2swg7e5HAt6MvmCfnWmd7L1yyqmRA8CNjr
VAl8JdWkyR9FmRaGSUTx9xC3UfLh2RrhXDHDvqBx8n+SZL0dsCkGvpjOaNp4v+oY1scAdW/diyRV
1yLz8u/W3MiDNO6cQ8NrJ9/27cCnCxpO+hh5NX1ipgfMQn4RvI1tKhmm40wuersUt1WkbhqmJCUi
ne315A+IfmXREabgdtg76VLcdoowtyq2lf158oiG7EaCBv+c1cn+cQmoFzj5iTinUb3+mngOmq0c
VPy5LE6fYzoVxTvl4PlT1aFIqIEF5ikBluRutT/D3ptc3lqbglX2VQ5eioAbGdhBWNgs/X5JZB0h
ghgivaoqvJTxoH9Ji6p1Sfnl/SFGCEcEmBwr/lrl8SUmxloclIaOQAhgNPvGpPFTFFrH7Iewzu9F
vfBI9pe0zGF1hO3TNDTJH1vwdTlQyJDOhhtKot4Dj8RgnLAp0KFxfzlHELGHru2C6WTCZfZ3YdgD
WcWM8v56eeyR6AuWcDgVZkivVe2DxZgI+Oe7BXax3mo9zlCp+sIN1Gb2heDD4s7BhcaZ8y2RnyQz
+FI98rvEtx44CXnG+uInoAWUmUPDNSd2rGFp73SJ3r1LpG/5/yD1v/opZlq3weLxmBkB9VN2p0hN
PwUBqPbu/dxJASm0MLd+laSj4kMyAOunCoRm0j+rnmjshotKfHubtQM6gcucJXdZWCQ/rugJffu6
7/6bJ5IHnAjR88jhzxGw55/Vg4wSbGqv7ZPHGx2ANBofK03oDYnaJ8lPoqMRxxm2t/lUdAB6yshc
WFggE5Fc4r5MWpzIVrdoCYQYppFLsC6j7mccWjT6g2WLDE/gUrE0cdTgD+Nk88rp8mQ54TdTutJT
b08lhxGYDeMq53iXpJMd5n73XfRRn+yT3FNAlrso/2l5MH1TmeBklx61zNmwc2S7pRlprPbok3+l
bKM13dZ5F4/6sva+n5wRglv6tpJYLb/+PuxNcD/xIqr/cZ7HstWOg2huJ6H62yoDxq1mpWilkb9j
j8DYDlE2CymZYckcRdvk935N7Hh7G+Yg9quFOpqlBECjU/VDuV0LNAejco/Ov5/O33jSAdEDr22W
ewvgXIKOF9yW55er65nYEMzWqXsJaVl0Ec2emFsfBaM7ReYMjeZs1r5/r9ySf45zFLZ9KhYEkU2s
nORbplCtmMroGGwaMtfV85xVAxdZqrT6iZFc5cnEY/Lu9MlsyRtG1Gn8Wpv/OhvQEauhR/KHcUDz
ciWarX4Ppy/pj3Lo9BuxxT7cGMZesBVNXHMrJ+uX+H3kwuHbDLubMIEvB3vyFh+udcZRHXuUFKvb
fagbt96N8eg/4vmYkUcBumuyoa9VdXez1xfjT4bN6v5zyKsL3hKDgrdD8fs4+0v0nM0orr/aYsZ2
Ln23nc+6SmoK4aDTtNoiZhXq2+B3jsOuyekbM1PYjDruxqP159yz3PDlIiUd/53MCAKQH8VR90Wz
+hIwyxBiJ6dlF94NCRFMjioVabkZg7DltBRUp0E8JeltDGw5ALAC5MwjknB+VZVEQObZbrHdcuBc
REPqZd+6Ku2hdovKn594tOT1vxCjuz8FCLcc/jCo+hsoQlnzSr9d2xevjOyLJcKKVLVMCV9wHUEv
5LNazFDh11K8rqjvOa9xOeXvsJ3l8isfyknfu94oxEPOKXAed2UZAFOgL5DeGbJ8nDeqqcPt44h6
Eu3j6v8GVNk/oSSUEI/asup3Lae8GVVDHJYNWns6PCWmt/bUKd3f8XrnVUPfbp7+Iolx3igkf0To
wKYEzEwj+vfMlk38MFehDHeu4b/4lzKlDj5plXrxNYbtym+bSDKyK6QswkNcxjJPPMQ1o3ULm26P
V5S6h9mY7Mg0XsRbNQuMdj5+Rm9qkrzDN5lwhFA4R2QeUzsj3gHtASKZqWXq3mlLAcLIkj41j1gC
Otxrg8b+ZVa+I4q/GRzfA5kGVVzhjeGQBJFRH4Qmu2gzdnZ+yocZwlGzTisRUXiu8clXYbvcYep2
4kMP7TrtnLDnDOQG35tO95y6XvkfZsHin3s6F+PzwAG89kP7ER8TtBRkj5BENh/6vzO+LnmiuCaO
sXpDDE3UkLXnTOZMXIelpOG8AjD6gOoM9lF7x0bK2lWT9AmuXKfok3cfWBfNV6IY6Vciotx9gW04
gf9iy70ApenjR0MCZbhX2LVHtI+mIYVPeOFMtQSIz+qhSv4A4wxxcwg+C+dcTE5UvjEwEpQHzK96
d9rWJUWWtyTum+CNEpgPThAdjgofQUhnOwCwoDBIJdmFdQ5D4K0gCxEdGffdE9EIlbxh/nGTyyNX
WezayIrnuS5yewqBH9zPc+a9pbKigOjQFthXpikuYeOiveFZZOBVipphSY589LeLP6n7pbs1SiKD
d3atHbz0y0j/hlYvdRG6BpOFzkOscHTOK5nInBajC5vwyR8yLkf66zDbR2wkoppc+C7835WHa/vF
d6oM9wQ9iXywqYS8wo0iw/mby/EEL2MkBW65qbifao7WWxQLhtyYVsQmDng3XwQiV/fQaNx7mmHp
+NBJR5IIdIHwxTTSJPXUHvueBgJY6VziB4+EpR58X3ZvhJyab3bYOP2W/JjfJh5QNCshKpyUYm3+
o+fWJ+hlSuAhLcuS5+dFZ/mVFPaa7UbwB8PWgHmFXoJ98IDa22PM8Vcq1LYT5e1xFNLm2nZOLXZh
GXT1S2rbwTsEa82eOi5kV8GnzKvl/pcbP4VJHSaHSjYIBWGS40Q00wLOI607uQswlfjUFcWsdxPv
Y+cjRNKNPsfRec9o3FCm0M4xiHlVBA2/4Q2HIUTywIWXdUK68TWv9Z6CkWBkla1TPupgWSkZj1WB
Pdl3OGqJjZf7UXCmmjENlDlHOGRt2pX6QqIftHL7d9v17Q3ntnruc4la7Dz0INKDZ8j5VXA0fNv7
Y2L5xn1owXi1GT14c0Dn5FQdyzGUX3mexP8SIsQMBKuc/lZ1VHPsYTAtSAKA7q/9GNUc3+T2TkMc
p1k+2GvJdNhi8u6DhqgUF77mnGGko6p1SlEwaV5zriQ/e20IXIiEBDXSteD6wrGggvEdE1ywrzfG
gX2ShE5BnXaYuvvaFlmxjUgWlkfldgWnPuvuj5LK1ezZTktw0pGzf8oY1vQ+JOR/30ls/R3Kujsj
KrZiBrFK25ucc6WeJtuFOEiQUtwPiDhQ6aBVswJOcS3W+2UtgfV6vmzNqY6GtjtYF9GdcE4n1Jar
r55zquhus6D7JYwuEZHw3HKa0UURjGk57VJssGvIHAlRFPbxMBBeNQWfQ+s09lfw/2szZbcUVG0F
Z98eiNgvZyahIH8QQrefbKb1cBReFAJFGAyA9kzkw46aVksrB4LawY+a+eDEHAnZcEvXLod6kH1x
rgsy75BQPIniyZcGlS+a4+WY4i/Vjx4TwnoXhtEU7sc0Frc7H8VU6pMI8+A5NVPQfoUFZ6Q5HmIH
c8TNjT9SjohBY1P4nbSyE6BsgOU5V1AIZ5xZl4SAcRAzUQVRFzFuyzyL2mtgPXUOIlU4YG79YT14
iGPtczStwz9J7hULw9rEq+8GndmdETcWNurSupscxPo71FrsDUdTcHiewPNz+IbCxbMSSVscPAaO
2yUTXQafHaF5yudL4Xx7vku/DacnqPek8YxfbCfgE+qE/bC+rCLr5HIU1JECBmwq+oI/x+zjzPur
49wRaSIfUtcpo2YWOfiwMPWoffZVeeBx4jyTYGy9rR6pWkuu+1VRvU+iIJ62TY6lQLq699lMTWN+
2yGp7sKFoNZWor3LY2T8qIOeBNsnYpSMmXC3to563uDUAeIzy7S3kO2PeBHMDbhiLJEV7MCKnxnl
kuxrEy2V8ysng3jXGxUv2whejj1wSZBDqJ1DboCJkkkYsNE6/lopBdUHonggkkcDooj8sL7ygHNf
ORGSrte+ixnw8DZ1w6y00DlT7Y3BHIa1AwhBjZ8criPU4ZEjIhHbpO8pSbjfmImi5G+4IGAQjhL+
SddJ/eR1gf7WzY0esnYwkzsprX9fOgMv/3EVC1ylUrt3detZ81O7hWyvLgXGAwNzy05vw6h589o6
zC4xRre6uAhlx6DweyIVSyPca4t9SObDi8R34N0+KUUiZu7+6VD/j6PzWo4b16LoF7EKBPNr526p
lZP9wpJsD3MCCQLk19/V921qajyWuknghL3XhoPixdg8F+CHZh8STZJSmWiX4bfrZv1u7TMo3wRF
Eh7EDsHLXxc7p/6uQQ4R7SzfQrW/sVR9jniiPA90UEvLTT+p8kUtYhZHXxPAuYGDwZCFvRogjVkK
jDrMzLWTHlkmhywOxyyNgmM69/q2DBm99cXPlf1L0kX4b6AkuocKmSNQkKRXH0cVzes7YnKqjcC1
6V+l+2y6KtdJnzhwIGQhXJ7AinmgWzfeRJV//n9GyJcwCxckGniVyj9TlJH9LAYMJXtI5ZycTZ+3
zrcz4uyVUlXxY5UXwQdmj078Yrnaxi+m5ZxESslVKAhSXvtg6wZinX55dhYOW6Ob9GGX50OcogbB
urwxdAAo5Ju8V+cCMG/0hkbHB43FUtT5Na6+fwfqalEABEsXu1RSaSjkOvDgpwv+BTjVALMOFKv2
YtwoMzufkuceqd+YXfmK6l9YOitCN8Y+mol76MarHkF6wrjt5/lucnNC5Ta512S80Hzl7XfGXCj8
8vtxlDQObUVEFyNXtOr0RHwtmu+XCg+kls/Z05DDHTeTc4/5D2zMhJHlN6yDJOYMEOl8Viq27amO
0Ose/IgD95JT4QUn4QXptaaTXJ/8fkX0MUarzQgMyWV2pgtGjb0RLCrTy3DL4n5CU7CuR1EEvXjU
HhDyBlgaUgC3gWul6kFTpbb8tvgfq0QGz61XqcvNJLvuu9uCAFiG9xQCsvonF2ZpuxmVFGphcsV3
OADdC7bgkCVcF2fZ+FbNZpz/TE4zthPCLxUtL12c185eGXt70KUMaR2opN4yWZEMvTE8SN9s5Bz5
66Zw8PbQEFPvyTWFTs5JT7N2bZoovKxEWwT3qCuZCsa84tMnQ0xdH5Pac+w2H5MJGsyixh3olHra
jwwtuE3jmw12W4d+aL+XNB3hE/P42mndJtFq3h1A3t5jANaL9TP50oz7d/3iYIK/9WxXVO1qeGCW
GI6HjqYCFUZe07gjaKzs97S0msGi6s2f0vTp8hTMdsC8Pc0JwTmct1jbAhPMz0xSXBf93U1fxZWT
P8DAjBomcAzUWOYTqrWVwWLaZwI7x/qYzywUt4YMkYtoppC8CzNxilZF2Xc78H3R482SS7tEPqO/
Ca3bOE8tmWTLJvBGolamAf7iQRjs4BDACITfmcDJXskAke4FhW/Er6GzuTkoMAJvdgCwv4WgHpGf
Yuec9Zudoyw6NIXrXEhSQrMiS6g8e1ahVFP9FLvDtiTaExdOibSJgI6ydJsFinAm1G4FoxMePKZu
PyIpl5R1RDI+MA66iTOh0e4y3Ngrn4aF14fxgwrE5Bo8GAOLpj0wgGHFDmX8Rj6T5EhuownWuDf0
VpFE4/Vmx1C3e8pK/NjbIR3pFFC4K3IRbgnBiwtwbhtPzizY6k3Bn6hvdPc+4fyWj6x8hdwOYeYi
/QRYeEV3WN0paIvrdi0xlpGS1pTmQtBe+c8FDZQdMtBnd16kigzugTfY97YcHOTNU+LclaQqhfeF
8NbkUhRBVwPM8u2/RPa6+OQom5+bpIi6C7tavLKbiAXZc5m49kYqFoZJYjyjIfUItSTI3PY0F4aV
KYMolzLH1RMOWnKsp33a5d0XJsS1fuTbbNsLHjqC2pYCHNqZHSKmAh5zb/lbUvJwZ+hwbLb4+iRJ
BZIR9o6Lhv2806eGmO6WSCIK6rQOSB+p0LX3+O/jjavxVsWAcwUi26K71MCkQfgwDTtFAxEUsAQZ
Zu00WigS0FmYvqwoA6MTW8LQvtdThAllhNxwUr6qsi1S9lsGJUE43cuUod8JE9M4r7HFWsnxxrLv
ifGB/+x0zAWeMj4h4tLzlBGPj4H1GDklItWejdd31xA5vOmN0mgLIt8enaUpruztpX8sOUEuRliT
Iw0BxvmQ+IEmOYUDuPTwvgZx+4hxVhxDUm1AVnatGg9LjqD/lXVl9kaQatuf2ip2jqaZSCMRQ6wu
Vcy88dmy7iy/sclrOHdxuBZ/VekQiAoXlAefBak3fM5INi6RMwgyMy2u9XlwsuberLhyN1ZVHpzj
CGP9Nsb13F8WDR2bLVgS1IdIOxbSzkJ8A//GQNZx+T13DhkPTCVmtmnkqgTZ4wwCz14g+QBkz6F9
/gf8UKNlYq/3wvef8/vFURHtKw8UAXqCqdafdZ12+KkjdoaSjGImkOxb2j3XofKPE7cOzhyCndyN
WmpApFgt9H3Tsqt6EgoXFLML/MMkohbd3gwl3EEWICvlLxhfUi3NmK771BjQuQEjmejeh2b6lM9k
2G37PK8+pyYuvUNM7HxBuvoaPC6tO6V7fEpDgFvxBuFeWeU8I6JhwcFM10MOUbrJb0xIAG8AiUzD
Q8dQPNqgq+l/w6TLmTylN9JhSSnHYmzGQeOEdUlgX0mLtwkWMAnPiRFoCaUo++eOqkycaBTkZzBq
l/VwGZsT+aPt+mQF6iw0aGixcVOv4g7VEcFjVvVx8pJHTaz2qywVY+FJ/sdE1NDe8eT9paQ2F4Si
KJAFZzFolFmJ/27iZxIoiVX0LkPY6+cYnlGwdRyD/Ad1Gr7RheCvGx17IKNIV/VfdyxQsG+p7OID
yBY/fdPxmF9cEJf1P/xLHvw57K8SJV8xDgAJDZN5Ars9K+ajhj9hP3yaWfE3db2hOMXonRgKYmAG
me+2b3MaoJ9Z/SLD/5sNZIHuWJfN0x1AjBiyPHai/QqNH6tC6y+vIyAQKq0kX5JfZAFGEHYkYEDI
Jm3+QMjCwiu9eIiPcieSBdhKW5DEWKAlvUvjovxvjEI0ZiH4s4mhTFy6mBRuWZuY1ymKolllr1at
871ZWBZvO0Jp062YmoXIRIxmj5K7ZnwL2jjtNuMwtcWxnR0fJERiswdWavziUmnC9Vq3k3fJBBNw
o9IVz4BBwco5hdjlhwpbZ/zFPnP3jdJkIJ6iGtrHSY/OcOx8XPpHYgpulaHDov08NEN1sgqF/3ap
oxVTX+aqO8Cy9gd1T1MTIEGl9bAU2k93+djFsIs1+vcdMMQAO2oI7ACRPREOJ6HiJSOOwE/J5nOb
Kv2PcRFHBqwQnezomJ1vdNF0j3knQDmmvq+bj2pJV9ZMAdb1V/p60KlORMu4RSGBdkyWkTwRoaeX
Q7h2YX8xdR5095R6lv9QOsF/MPYmiFWjjI5pEscEHIYN+tsMO/1wJk8Q19wCayxllM4H9hFPhfcG
dj1mQxziq4JLk0l4GyVCwRUXhjox3einryzuoyi88yiTl1/tapVztkRxXsewwYrEpNH/CBGxhNti
9InagmGwEsJgnG5EAhjmPaJAsjABAYhEhUfen9w/mqSC3Vci2nkbFfFkJxDoOTw6VWp5izbwIcKK
kYEeizqadjlXtIZuoisHs4PVN9uQiPe+GpZHUELSRx2bjLe+Czv1XpZeOh9gHJATgwIfLnc3i1ht
CJeFScqFq++Js7wBrVDn0pss1gHS5JXrjjWCVrvELOpzNmQ6UcMgSNszwcJ9EEdSv8PSncidpA34
pVXHMrlHTMyxDmlNIOQntmqT0s4kRCyP0wtIK7Ip6EkdbGtC9hc1mlDdC5rhG21xiszRFe3wwGua
r3dLNfu/S6eiayelY1zvq3IR3yPBRP02XfvofTRVS1eOl59kUk7SfIt/ullY8NMO7GE4hu80xxk5
CqXnDCSMiOTBVmKKr2NtuKDBZrjvuRmSBybVVcGdl9fMyVtj7lvZEQ4FN2U+qBU02rUyRfFoXRNn
26FTZO05pW7zCxdP9djQthIF6UZJfLWMWbFqe5P3Xwl94+hGS4VeH4bkgSmIE14gYloOC5nmT1xm
wmxYZIfu3qwFGsy8AzYnUcLwOA2D84WdX/6J64F4TZzKw5E4oPpfL53up50IT0OElDKIp5Mtyxbq
bOY+BeRXQhjypYMUE74ezbBcmFJsR3dCh566I2vd1JtIbu2Y3t7PhLnJLS81FKipX5HzbSIe3mWX
rUugt70PtWfnGqc6dAzyvG3TF57/zBa90ntLlNNtBT+rdL+uoL5RqzpNf6VoIPVvM5No+MoD05J8
yPSSLspLp4+w6ijFREmsFJbvBNWoO/NS7NsYUfoO+gFO8RGX7z9fzvF7RVlLOrPN+x/okqhFpDWL
vvamk8Onx8ZvH6laB4wMHRYnMNynTyI9ADSFaBkfRZ+jWierGcUOaK3PhiyoZIv1AnJEwWkfsKma
p0vQxFbsKumxIKnIcX5afIbdp7Gc7HQ2YxG/gDRgbuAztUj40TWJwwWfOXlL4HQ2BFTQ5bdJSoYi
jtA8PsVDECHlkbguz0SFI0YGQiaJ+iNC8sOjh3B+0BincLmMUlcbmCx79uYITTVzuy+EPgh+ggBb
5Z7JU86SPav9dvwMujRZz3RreoYv2iWg1eN0FSfFJ838mzRAcaMmBfULSRzL46Ij2pQcw9kZj1vW
HHoSM7sHVl3xHSTegIcuxLQDcqGDO72SW1PfNaDZ3GOq/s9nt3EMnrQDhj+RkbVP1tRXx8IH6/Eb
lb58NJaicOcSiaG3UkHuovpagG1sEYDkhJVY00e12vQQB6ojPsEZI2TguJLLy3drcgi89XmWXsT0
tzLjcwO/jYnxFODh+ggEuQDfDYiK8C6BMwtMLIky7fZPce6jqd7xt7WLw3VduYwumHl6LEO5EA0M
pLgm+niFM8CDXczM9l3ENa8gFUx3MNbEzxSWfrefVtve9WMt5l3g+njXu5WC5Iu2KM+ObA1mRuGV
HC+JBzVvR7HhJft6Csf3dtG0B30uDNShpQhOXcTMeS+VDP9iEtYcjprrY9O3rfwsZxnfgZ4sv+KO
kIsNES2avDwVDt+dEnTUQ0fcAlG4KGY2AQsyOhx3Cp4Qc6ak5UXdGO8nNbYdpseuOnuIbPRp6Trr
HxnPkBxECcni1lYorY8kNnS/VjI8nS8hFrLWHah4Nf1MOp9IL7VPCSZfBBbOUHXfjoNMd5uAPaCG
DTukhITwOYw+ctV4v2HZrtV5IlDgOgJYsRuZLtN/UC3KcLf6HnbZNcTRfSKHwoR7pmddc5nNerMu
AGBCtkoKXMJ6DyM7Wrdg/BO5WfCT9wNW79iZ6hV7HfHP+dzilcClWufnvHWdZ9ztClNajOTinnyG
VNxRn6dIoRc5mODYEaKVnQnprXeNTpFrbCEfpc0pSQCS3BlvAUMDjwAhm89Ae0tH0+R3bG6X57Tg
IT1h51y4m8OcxE8VcIUi6YOjc6CyRx63RmYIXrHFEdvZZDr39tiPsBEgVDUGNIZPEhNkNTqXYmR+
DhHd03mxj6Y6JD0DTtFiby0E/hIwJWr9SmZtgrMj6rH4U1UVFkWnUZLwFXD8aPk21I8rlT1/Ds7e
gQ1rpdxdiaHD2xMTRf5e2Pk0tA3t3AoIAnsgyVH8j3cYq5DsA4iY9lT7yT+NjHRCfjywCOp82oVN
QNvPHEfV2WfmtYw0H0PWMOkreXH4LIE0Jhg3eUkQwtwt9dh7/6hC1vIwc0H968jC+dVPhGifk3iA
ZmVY0KwIGyRbE57ANrlgr1AXUgmy9NIPo/s6JWHDa8m2wj3U+KnMhewI+x+pzOJPyxSovr0wdbzH
fBOyBJ3ift0pAaEbLaEzPoBrM867nLFCpUvBlIF5Y+XRKGcFki2mY5V+awDMiGuaMcv+21fEBRwX
JIl8pmCs/C8eQMwX2xHSU3rK+fLljwon4Z6XAjUf863eOvUpijxRYV6V/n800QMCfstXdEltSJLs
znH9CX2kzxTurxOUFOAx7x5hCemoxBkCFoZiBylvenIXHspLitsVS4dEPMqJJKHRp4Hw+4gkV+TW
2zBllKt30kKLBZ0C54RNnOcEXGPa4xISae6E1x4wM7zRhKJnnyXA1/dgN8LwxXUH9s7YXebiIGZ+
4gfU0YizzBioc+g4oXdeo6BmJueHWLVmSF0evYwTDIdsiOoHntOUhLOZKT3Q4woATTQ14b6AjuXz
kbJMtheRI8JjRhzE0XuDxwFQXK0ijwVxp79E0cvvAe1M8jbiTgSMz4LwkphRk7YbltEL57xDwtli
GLXCJmjv594niHNYG7T6EGyS08iSilx7d/LuNNhge6TEpNnunThmuoivpdkFsfWDAxKDqP70SlYf
59xQkr8lOQiTjZ6yPLwSNYEIGq50WKAuKJswf2UkG9C8VwwKwuM0QPFmtNvcwBRJAJ8VdHrE7ma3
Zg496yYaSDV9RWDlNw8rnKriwCQt/Wk7IKV4FpGjHZqJjMxt4xoWUrRI5PjZqLdfzjrbrzwyoXPq
gz7yr8zU8PIhpax2CkjJ31b3PnLGsPTguY6u62wavN0GbWHIoGlFq1BtllngmS+1tmbfEHyTkGvl
9+1pcsix3AcqJtNVAGFxzl04K33hZnLnU+zRfb3gpJlv3sKGVnfKYLIXCcv6zYrTgFAyXxC3E4s0
+E3xwIkytlRiR7kwsNikCBqQ1tbEGR2bxCdmHoMnqFM5BeYJ7XVcv0eM7W4Rwlre8QssHicjcpFd
lSYQNj0PRm9S90v9K8GovkAY6IvZeQnHFplLoYGs4PJFr/EBsDcEJYhzB8W9QR4Q7pUux+IuJdMZ
Ea7j59Xd0hu//bWG5PZ980Op9LsP5BC53+3I7vSEGz1LDp03eg9TTP+C5TvPnO1cAbW4cN+s0Ccp
Afk73bB1XkpYVYxn1n5Yp1fTia5C/a0hDlw0fLLwoANGYBc2E3r5zmU1f91IpqBmzDozd0xTsQPT
kPuMbNwmy8+4qCMHAnAfoQKdslncOUqE8daSPtjfh/VMsmLCCI4BcuFnrSH8jLMTjAXkuXzrVip+
uG1dUC2VRQNZUgP02iDsje5KmWZkiEO0QfZOejg9MWIoAK+37qWb16g82rgp/T3pN7w84QjkBXIi
D8Irc+YYttCScLaDL3HM1mZo1tC6Jj63WDdl6R8sLHPy3Ctu3vvKriGfT8ifTR7LUC/jG1l4qnwO
0efc1DnaTakayMnBvcwy89zCvQLFB5kPb325FCFEK0zJh8gmknYBcn2PrK9I02MX5sD6N67lc8JC
UUBRXXeN9ZQkIDzy208aXfssQq91AdEW+BAYkIUXwSLJoYl3fITxUSVfSd9eyeoyNeCOPdbFJt5J
jlUcNUXfHXU4DNG7nxR0lSwj1wM2bFwOA8yfCdk3mxq2T4YtfhHJ6J3jFTU4zuGQ90lFmjhESFu/
xzmSf3NwcuiKOCrhkCaMi5BZCPGZM3glkhLFINHkog9+26IitZpShGR4ukyCJtOeIB7YJlyXT6iA
SPLy3NZ7HJYwIFEN2jj1YjdGnGObIYXgg+1cwXuQVVKI/YKs6RZ6EgbiuAJofWPRzB6lRVNdHUNG
GsjAsv9HIgPtwxWilRQX38qkhD4fEiKgGioZFoQTCaWTsv5vVCjQStiY4TFcYubykFaHoL5LGhUc
PIYUxLoMdWh3lI6Sk5UsOpTlYWlZummN0Ivzp4fLjjuC4TPXc7qFqpH9KyYxELjYzaClk9X7qwtS
+LI6LX7ogcBaoEH8Cz2WbAcXj/jZaxiVbQggL50fzmGk/OnIQ7inSCT6s3bcCElZDX3wvut8eHS+
p4f2VFhUsYjgAJU/5LTbvxtmVeUuUlH5Jnr/0Wqb1I+qtPI+inRlt4sKPDJilgiMY7I4wjsNofVB
fbAOZCYO9qHgiECr+UqfPoUHdqsraQarpsyp66WkEm1G6isof6tpsV829I9QihAAQrBvq+eol3Nx
1XKt/rhr57v7psHaoPnNHNqeLf37+lMtaAiPzer1dos6lejtTNMTXlxGf+O2jdyy3zhV2CF5aBvx
qebKfA7uEA2HJjZuslel63h3XZakXzwT83CEYxpkn3MNkHsbOSMD8ihawmuz0FPsYvR+xETbPiPm
aUjlwg2byrckNoTT9cm0zh9qMCA4TRKI+46Ek2YHqIRkUAZfnt11rp9/tIvAeeVVYDKwGrFfTHY2
QW+3FXYcmyveko6Ktm1R7SzuIu7EEhBW3eM8BY4RZ1qgdisbar83gfNPvMxYsIo7AtL69jdj8wku
tMqxSi08iTatX+h8sy/wewzXsGIx09JRmvnbIBMOXsSsQe3b7EZiBhDZdSEcua3KO2e6X9tI99uF
vqd4nYNBcYjZKEh2CRIzjIQzYz6wZnhSLDJjNaS1z6GuBd640dH8jDeNCaYUBqygoHjAZ3fMjm03
4n7t66ZPYKbDZupZYwxZyeys7PHvDL1hONkWoUboa5zYRR6ODY+moh49txPHnEATs15xHecsZAcH
u716kn0xuAc6r777WFqxktzlef2UHKoiHfGRhzke5THE4/zS9L7mg4UsB3QCkbHGbckyO1kuakXG
eLDE5TTXIW7D8L4sJs7HOzfzO5JVUGrHMzg7zjkf7kEf6CNrea1/2EPZ4CtlQ1p+qLxBy0wECqyE
rTsSarsrVb+294JhPWqyhgkumLA4ncBFDRHu+JkRen10W/74a17jdwKxxqoCoW6vA+dSaubUx1U0
efE01Gg1NzT8A/9RY0wOxC4jLwDN+6zuJ9fW9leZdZIANmfxiWkQdbtNen+8I4vGX18FnDnv0s81
cCjHXeborGmE7aagBCU+lDwKZgxtuFDu+gMYpqNhffCH/sfgDagiF5EZRSRKKi7pFgpQBjaITgp6
6EWxUtXbVHtypT8Gqb1zIXxCQgiFaXdTh4Z4l0hH1y+iJPNPbYaQ8NyrWri4kHtNAJuurB9C/VJK
b2yvFFLL+BEYul9mm1WW7QLH4hr0EOLCLgm76c8UeGv+gGte3reuVm/IvEVz8gYJHSzEDCIYGHTE
2SwelWDdSmZBndsKNkHFMN2XVsNBrk1q0ZoM840I1gGK+tWWqGOxAVXxT8X7ZfaARcOaSBZKzs2U
AxJDiioSCOh8MX509IYEVXcBijc8Lck6sm4jMbPeotgiDBVUM26khDKQANkIaB+rdmP6q+0kbXo7
AJMmateiHawIXUnO1eTr+MtlbPvZofxF84II55rXZbE+OPMsmt8gRlTx1GK4hLQDJmZFDq7qJHrV
9GnDDtaC+e5Gh5K9C6hMTujh0y+0wf0ZWhmqe3Rxgpeedup+bgZUjNOtUCPWkYnTGwuHIboDqIuv
QCC+dLdmsK49aXQFcj807hQ+5Ty8GMJqCB8PjibTYWe59n5ihZz+KMNA5zggGS5ulBuH5c5t+zq5
8ESTTgHh75bPYPpfbEZqtQtCegFIIuNysXzfYmsCBsv3A7oCVBuwZ6c71ffZqk+BXt3m7xrEi3Ph
b4ia18Id7BPJr1bcO1IEn1SGflOT3mxLcJvQGdCWbPtyjN1P2/h2qY58F1XGIhr7YMBkkYjT333u
6fRQe1H5UbBKJWat4uXDtncDqL+ysExy1t9JO72nZZYpLPZSYaIEhVe7h4AKrb6yfk7T37y8qwcM
l4U+2oUhz8SODvPm258aQ1wy/iYVNWAAZFl+TxXAzttZSQdUBlLeWCdVEMmdjGsGe7pORzSUuij8
4dXwj/W5CjiFOUOZPPtv3TrZS56UIBgG7hbSbcoOi3IfwowHEhzcHrWqDL9pw/zxs8FYeuEJM6jo
5xhnluxDGkES1X0ovxkQ4h98WIF/iuKSjPocsn3/WbM56Umc4lvHzL+4CM0GEIMHiUr8MyAu/gEp
A1GBsK5GcyBpTE6ILNLeMgqJmokRVex/gIgMiWyrZ8d7R6Pvd0eD8Mg9VzcCEOUUGUYvYYCfR5tp
rk818PN8XwZuj+8TcdydyfssIUoJl8Xec3H+Ubo46Vn0Fo/RuJbVDy+5+m2wuUOTDYX3xf6IXLoF
KmJyzENJaDNbtP6rjVKXCNt5zD7WodFPYKaYXHe4HZC3ESyNw6Pz5/aHqiwx/yrH437pA2Ixd5lW
hb1gLmle2kTH/+XgRwyZ7NLEiGFjyFhlPrXVFmm4XT8i68vzuOCV3DoeW8vtxES2Z4XDVXRkoZoi
BW41lJSiDfzXLlZLhdsKIpVy61vF1LuNx+LiFqmO5ry0jAuJGT3H04yspunnpjkUkw3VzlCZEQUJ
kZ1EYYTG5P3anrVxnmQdEhlVMLsET4mYkdrMVSSUaHnQxJQ7+yoIgqusHI3mY/XKR64XNvFzIiUs
eRUFLO47Gw7RtnA4nQ6kqNj4mNroxgYHrl1On2l1ow3VKs4Uuh2BEXPMzPhduQXYtRiAEIZf0hBm
/Acjc1PpNW8twhzecwo5f2MwqkCNxR4txxejE+QAG7T2q7zOWIn/WwtQ4VtlfKfaNguzHIgIZOE0
UN2yV1d6OKt45pcPNntU0DAA6caZQ4zwSQu3Q8IbGeffWA7Fnd90SXXp1qzPT06Ytde2Ijgb098w
z3Jji9Uju9tnqrObMZT9sjjksksRQuT7oHIo77RQbXmz0Cbd1ZAcIf4sgSR5Cp9uCnLHkeqLxwYu
d4ZJYdgyPw7AG4Vl9uG5mGuOQyNRWp4Bezf214w3APmqDZL6qJmcvUAIjP/OyPjQ4c+N6/8y6aTt
lZgfojzRxwJshsXfEQI2YcLfxLns2TS67R9cFvGVqFwEDB4uj9fISPKH0Uz44jF2GHoNZ3cVK/tN
ACz6oXWDidwYoRr3KVht4R0DbqMEKbjjV6o/6LmqzYAIndQEDTwMASEVfBvEYrlLqPwikGRu5M8b
iNCVQ7PCCp914SDiv7iiYp8fgvznE3qcOSLuGGnupilGxg/4GQ04HDEu2KULdwRk3y4hFCmfbgnH
XYPbhcrT3ic9ydwH34j4Alki/ZkjkJo7Xbte/0UdOZdk2nNWfEsgGR9gTDSxIFn7L1KzOba+9T6w
ZET/cm5koi5cOgI84iRzEXT+kKAtMDs5wMLDmGK7/+iv5+VkRQmurycA5ANNNoc+hjpu4yEVbEKi
QTKlyU0YpHdggtffqFLWb2yZ3m+wxvwyMmatwwQPS90hQkJ0i9LBdFcQ5rKeVk3JsMVPgnUpoRT8
IiLaXfnkk8SeSOLQN6cgzfkjc+MyfEI91QpkLlRcwzUoZLjeQyt0lh1uwQg/OREqsP/cG3dLtXRJ
vNsRYECFrqr5GfrQjOceQBNsg8gr67sUnpUDkJlYlJdA8KfKTYoqk2EwWnuOT5AR7hWAa4WtcFbR
y9pPpGwg0y9IsNb42ngbSEQuuELfvV44fzHCu94pgk8mnm0+pdzeqAkITcGX1u2U1zTlw03d/s5b
Qp7MWNbLFgxOKVnFLtVJukMFsrpKief6g5cF8eeUSv+kiUVhQVr69j5MytE/l4RywmSj5odmj+WI
dJUiYW3ffTh12dCIFXTNZNliiN97c0PYjq9nOcFdy03/2yqpop03uNN6ZHFbLZeYuRa7d4jL7V90
xAkfRMn73f1qQkCCR3wFnjncwoGWj6By5mlbVjf2J3AL0kRYaw1p8uKVvOdUrn6IZwx7P5ClGIyB
qnrSajclWpWN6Byyc7OMcuoSJs04AOJFc54ebtc5MJiaJC3pTzd1q+fKt5Z1Wc4WdBnbrUfQutyu
BHTOrzWVfH6AoyVeugz05kbcvmUGm81UHLH3VAkjjo4Ttc4mg5LINOJeiLg5ETtJVgUt0jqcAPcg
FCgp7X+VS4SZIeGkPc2oXPl9kZ89AaQJ0x/YYwXemSwcKHlSRR4g66Xlyv6C5Io0DxzYl3MAqSvm
yH03ckF0p32XfakNPQWpcXKWvZDe4D3ly7xy2+DkRwyEfvptyuWCE3EthussuJ4T2ZvkkPsukykW
su2K0rf2ybtF86Fe6CcUJl58RP/iZvCGOzIGDFkFttD3vPdNhC5X9G8IMwj+Rs9B/6KcyqQACRed
73UXBI8le8IVfiaG0UIN60/H+57RXWm4xozlAxfXJos+QCgwbVOoCThfiSqITnhu2IEDkoG5N9D+
IbnyElkePU6d9jzShc17BWm51QeWJ4Xc8726mN1zE7NbqrW37gfmO8m4Ux2blvCIqmPifBQFSEr3
RVYlXd6gAsc5Tp23qGMgRz4FWbBL4FHM0IeUziLetR+YmmbLQYnQC2ZOO1EUafTPwndJSYEitQOh
2QA4r4WDjcbK2JFXjMlq/YJwcVkeyh57Fc8yGNtOzz2XKUkJV5ahmoGo5nQ7AkgIvllySISw9NXT
cWhBzp+RTKKwKiqICtsAp8bbzQiWcz87AzaJdh6vpUOBS7bjwm7HsXJiNpxNVI1TLRH7EXKQ4RRC
zzBdjMOFscMEw9FJ3lqbXULyb4HVj3H2yFQdBpDBp2P2Ueyv9n0uJzJTKBty8HQZqZRfcSXqa5LB
MSCRGecMhm2k4JPnbxmWcpynzhD/+AhKIOINaHh3I/NyRgxtrp/XbCThhMlDfCF5g/TFvkqzO7dy
4uRjEFqfajJAqk0Yz0gjSAJbUJMxlr9pA4xafdEeYXZKc8/2NY9egB9B8GVKHz80riCoqsOb9m8l
5XLaIaA0/lbcbAqnsMktTKMgoQt3kK4adFWef+rzBYqrDkgboABq4/hA/aLNY08q0r6mQY/2GSAO
736MEzXsFUEm/mbW4AgOVSmpuGby1MqzBYv2b8gsCjvsiIA2yQX8T63kx53yMALrDbGFRJUTy6di
PQ+zAUhYlBTsvMk+wepgslR2nNjcsNKNBq7ohx49SeTxbYz9fKqqcfw9lnYKUDSR93xL+QbnwL2t
9Fj093hnh3g+haTxjZdKyNpFx8N1+uUOPe6DxsAcQpI1NHw1Rlo2mwOexS1CdwCOijbme4j6akZx
sAzLjDATvMuvVNTdEZxYIz58xODVC/yOVD1YQFgr5/7/ODuTJbmRLMv+SkmuC9JQQFWhaOnqhcFG
nyfS3bmBuDtJzPOMr++D6k1GSAgXtclFMDKMZgZTfcO951JbTDPMRb0FpSYhNjuH1TOzxRXSAno1
PMO7hkFb+qwLD/WBR662YXEfUxGn1O74lLKo03d4JsgBYgOwMVpWwoWWoHI6tgxZNnabb6XIyLRL
MgaKwlf6cUnIHTh7seHM2umc2TlJdj1RN6h0Of7ZjOcLq9nwIHNT0kbxVMowPToxIZfwWQZww09Z
YQt/A7BY3fzkI9FHZtGouuh3GRGWS3Skwchls1+Xyv+hrDyL942w1u5bTXJbts9RJN9hOZufEytM
px1+VwY9M128CTrIxbclA8mnoqVQZjfZTVeucVFpKoz7T5EVJXQzEyHtR0Iz04uHaHo51ZBq5btF
t56S0YL6Jw1GK43A+61JDpeyG7v1fZUTQtyAH3cOSNd2phr1LByyzz4Zii3/yp90c+cy3uI+ZACK
ht2oLA9ZlyIpXfpdEdboWWwvgccmY0bEd4OHvOTaQJFjI1iE6CP33HVKHsnotgxpFsSTV3ccgKFE
1Bkp9o8Y6QFrBS3HkiRf3IsgywCmgga6p3+rBmfnsHCE3I6OLcm/jIsKjdOScxkdPllbANQyohuR
JFIHxNaN1czOcjuUkap/Mgycmd6EwtaY1ysnEacS/BEqvRxDOwZ5yM+r6Q/I77PooxLGdw5yjufo
2gG1MpBsKeY4XN9mrqufMWq4mTKqs/NHwl3wI+xrFCIzxW6Xi7s08TfvFM3v97bAp/fE3tGVb7Xb
W0A8HDmK5Kay11Yd5hmcywG5cDb8kvQQMmSpGsPGaEcuX3XH3lYVaBmrEI4tlY4b3xvi0QWKpiRt
Mdvly9je4eYcswPnYF7eA4iSaAlB3EU3iUK68dAKGuzPcO7gPh1EJ+eQ5TGyzhivPEsa/aUoJ5xN
+hvmby43Gx6PgSnWlW/DXH5bsOYhgS+62k7Yu1XsiqaJ1V69dzBt+weKfNg3/BfBDX/487Dq6EVi
b2CpyIol8U4Vq+Xxs5NGtDhz49o6TlWrxck0PTXzChYwhkTkkbGx71CE+YRfmXCyMU0XlFiBY5Gh
wp479qobVOB+RLhaskoWLqhaxujSiVbZcLsaPS2fFbHB3mmUmhUpRF6cye9ZSt2M8NKJo/0oq3pB
XDn5xc2cNU5FbnpMBz2GMEA+xaTg2EyMonqED1wC4T3MD24HPHuCVZYf21B3y3rEftoloCy9sQbq
ApjZ1M5pTdd2voNB60kmbhByEPzYs/9tZuSRH7rCX7zTgMemO9Zos9M5KFRfkHgP6cZ+JjuIZE2G
U057sd26I1c4kVnOmYelxwVgUoUjg2dQk5ZHcvhMb4aZYnUSQIKIgdDk+9Q30HDhMRyhCjZldi6A
PMgKAwaHIelpoyf41RIdlNq7hd14/Z71fa9fdINQlrylVhNLNHmkXgZVOsVuh5Wcjpb9MZMwv957
KdYS/iHbis9yWLIywG3XTbs5Cm35npm4TeNrfjeeiy06Q5df4SUAmb8jLoRTmpGwTYZfZLch1DIN
Im5n0kZDwWwleQ2sw2YAT/CK8BbQMde8mZaL+21m9uHesK/I7F+6RFmPFHe2wBcjlpaGMImMaSjU
YtLMtY1sHmyjJ89uHQ0uEsOFlcJVoZm0nidpks3taLuc6kSFkHmFeQYNXs/MP1BIOX7k1HHjT/QN
jP2IMHLMQBpKAyVFQmjpuPKmyXrqCcGgq5ITD70UjdYa/zd79VsP9Lh8MC4EnQGmLkAnnKBVPDwN
lF+Nf8U0uwMUF+D6TMDvlNh98+TOgxg0pXfACavJHCsga01zwPfrFCAWS9uzTQA2H5/0QvbBhHrd
pOt4zMrUy99D6oDx2vDk9aepbMmmKCI/mVijl51/HmfRT6faFiTwWZ0EV8TYAqPrJJaFdKWNMnph
3N+PyIBjdJxtVzjgwSZjSFSPoH0dikHPl5zeCjUoH1KxL9CrsUhGrcDALM2TJ5SyDXN+NWYkGzW0
DcGCD6LelyU1/96a/J7SiPkF3Vpckk6HctrZde7Sx2cGNmo5e2z+7D0rLfvF4QHyzzahyp+c8gwZ
i1TLm8rtCbF12vW1yW1nONhFVk7YwjvcWxKzCDMlFaIiwG3AXLSe4/FCRFT4q6tc4pRrFZruF/IQ
pT5obUTNV4ICLtDIWNSZcOVmekQ9R+zNMLvQFaq0K7wjcz0YyFnTWUFFtBrrPne0RpZ5nEjdvsbT
N2E0WY38zMxUXaMNSQHqZStdlKBqpyDK1YzJI3IwsxmQpBjGmyy57rq28q+BLowVbuYcHVtEiL1z
YDVFqeZFEZElXprwYHlWlaLerGa1cihCbkTKa+I3q6+S9VyAbOx4tkUZXnMKIJPqR9N/xWwdX+zc
nln54jhDKS8q6uFSIv9gNkWdwFCchm1nMlOp3YxdDqjEovkNWCBPiVfytf9DAAlQD4tLIXKgutEI
UGhQ4ivSZbzxHql4mlw6X/X2tTfnizqQDBF/60ZpDOpfesBb+OXN99QgrvzQZcRUrlTgtPahYi9w
rDNh/YiMyn/1OMpLvg3RfRusdcFSReZfEUwovT6BxWDxJ4eXFUIdbvmbo7abJyzJhXNZSW77yiNd
V6CcIIyj56vXhMTAaHJY86XTdQd981c/ogGDRur76yO5WfF9BfFpOYVFoZqADe8WXlPZXnXwSHMm
ZKb1yjMq41juRV35DTNQRI6PvcOu6di3xFLdrz2T/We2VaRw8PnEFcct8Ug7FgbqRIsELS/usu8g
FNzfqkrSM5JqMPcYt5IX2QxRc5VqF/QFOTtw0bWx7LslGnH+Ei1aPI22HKtjoRdhSFjyJVF6oG6b
ndRJ99yUc8ZwmsPomCJuLk8mqaJ7I1ltn0eXaRexO7mPLXUkKvJgdY0GHiXj0N65HgPo+7gsJg1q
fJCYG7reMJCJUivQIsGCQAaA9C7MWOaLZwmc3sPkSdqEMsLcQwZ0cweXl7gdS3s4TgXiIUJqscYQ
Q+Fr61S2IakYGUqBjOmzbInqaRP20ASLWg+VmYESwrVJ3R2itAhVJk6n7bTG1HZsND/jjzDCyLb3
Qks9oTsCWj+UU/TYFHb6U1qpfVMyJmcQ99+QLstXyPazdd0ORLz3iBKLpYfB3qeM0sDxljcKTAX6
sL6zN530HPpkIIEzyzZoYX8Na8BDbtat3DY6K6YvIaiBPZIMoGx4VXIZiSLY5ky4/5ACjpJsLmst
+r2t62a5Rtse1TeI07BEzGn8TtW3aEK86uhlwOuhriYVk3iFsyF7La2+/kwJj/+ZQtkUV1uS84vV
IrkM2DKWVw1vKdnHWMkZ1wjyNl4q0fnfI87RJzVndY7+i8PXRoPf2i8FSN36QhrPeGTvx6dsQo8g
QrdWU+AhPu8obgDHzsCfw0/GVi5yDihl+clWqeuc7cYkX6ttrz8NyyUSF4c1PfkQbHHlWbltzpR6
C2tKn3dPQrUdYVXlp+PT5NqTty8QfxDtFanupgckKNmO86QwN6kU5E6ZMTMjgWm9mobRg7+F0P4W
qVUfXfgGXaDNAu3zvrRVxqKj9unoZisLgXT3eSeuezyMyW5wZ3xV3Lzl3dIm04g9YRJQiRxR7t0V
us7NurbN98Fkwxs+R3A6vmWy7OBF1JHB0IutQ0yi+kfDMAjmScKQ7b20xu5nu9oY7/1+IgwJsUiq
zXXulHr8xHnHeBb4sP6MpoUf5eDIZt6x3LN/EXu6/GLTWg43zRoix9zpMoy+BBKeDE7d2rlnk5D0
vasA7nCaooZ3jsjITXk7NEaVx462zg1cr1HtsyxCFuHE2vlH5IEDGR9EuW4/2rZ/mSIoLAfWqBtK
EBEFAUnU7SSowX+h203L2MVxhNAtmHqJYSKKY+ddsw5WNx1pYPNLiXsaqI0bF8T2IlrC7GyNYH3c
0BIXM/g5cS5ZS1ms+1CV18jKyAgFOFF9pdbKNDqhsH82lczecJJFnyEcvOlQLtzdqDl8OtN+9HC2
J7K9D2uqxCCKR6jpVd9G76C1sR+BbdKs5qqwYRgUscRD9KgA+6BrHPbKc8nCIqgqL4JM4vIn4N7b
QgmlJZ8Q/7Bw1AlBzDPx3OahENr9CTBgBHQuW/cjj9GTnLFb0BG7FWIfwr4W76CJMyrvXWwjGfd3
Ymd3wsaodzclrdooqPAPMFEZ3OX7XJn1AnV9BlFYzCAT7cKv3X0yC/wu9ZR1kmq+GUBjoi/sz81Y
zYDNoGmIk/BRCPK3Kggv6kGR7GNsxfYOd4cZHqeWlmdnWqyqV1Wn0nM50CVcL03cAAhvmQDsVhog
dYitIfWOnN3LhZZCIgYmylVbd5PEhuGd7ZCm54DB1B1fGYvG9n1Rs0f4ja0Gn/Zh8Gpgo8cRMXUS
3bL8I0T6xKLB7fpD6uEppf9wRpXyOWfRszXbKgHG5IdDe1MOyv3GIe55BxXHaRcsXh69dzgmup/r
gr9aHpjl9iLQE95tArulW3w0ca6vhx77APYSpAQFIVBojPfZIofmFiHe0h2HaakQFCKJsea9ohIL
edodCxdkEzK6e2LHiyNCwcptdtmSOz6MBs9pXzWc1+qEC7eu7hacoRa2yRDecwCCq4wfSP5KHCbf
K0MbVDcL4mEWp1Ad8JeTiAN1TOdBZsl1up44GJPzygGNzovYwAgPMiKjC/qRnmZSeuMWNKB9Dg0s
b3mwKnv+Fq9+K3H7dkV7RFYkioNAkfikIkxme68gP4hxipV/S0kIcG7DWlO8MpBAbspkv5XfmMoN
v3x+wNTKRo1EAs6aaxnvj7bZBhJcG/DUbMe/VzXFSddq9M61YLTMVguEzZnljhP9JN4LMSS4QqmP
VR0j9PYw+MZnEnQWl8W5bO3yWsVDP/zkgneSW6AQfF4phr0NolPJZ2er159QQkThM5SpbaO4rBI4
Qb7wWB83x3h8nFZQX9xxkXHOUkWILqlih1dviZfkFEWY/ndNN2MqoyNHsk4vbzNYiQXNi6ZkhEyj
c1MEqaHmDUoUSuJJ0dSzWyiIUk/vY4NBlRsAhFS2QnamKIL6CLzBGGUAE9XLA1WPQy6AgQp1C9xR
/eoAdCw3jDFM9zIKm9A3ZuINAiLP8i5FBiTpcUoofd9qHBP67EYMh5BQlRPW83gdd0ukrOE1jpWp
rqoJQW3AZLW2ibdqWv/erebOPjCotLkbiKesfjuCleAR+ZqCcRqXMSNQF47nM/r2Mb+M8cTIjHmM
j/QpQtopH10EqO8DfjD3tiW1uD+KkAIDhoKD3WfJ+LqOI8ntGy2inacmwNwXk6DdtohOvpiQ4Psm
JUDeIAacBbB4ogyQpVphHb/UhVk+qCuW8bHxCXAmomgS6oQCzsEyZNXSFDu05mV9G0Vll16T1uCl
d3XF8mfvAzBkZY3Xo2S4A7TbxbCJDRAAv+NCV2UAbuAwoceqG5+oANxq3U2F8qVvH+dChenLkI0J
+n6+Fg6tJWUZzzXjh9ZDooXXti90GhPRo5GICjZQ1toTRNHIsNevNQaVGYjFgGedPzGu/9obf+l+
pj5t9Bkj1KDOo1EieeXKE9YDE/MpfJJR2nRnyhiSBafZc/GMu4IrpVCdLB9mtNnxYdv5iLOt8Lwd
dIJyi56adTa7JpsMklBiNw8LRXFKmdMRMwvpwmoRHckjs+mJCtshzMhc1RGGm4NWSVd8ASSAazHH
XvLWyCm6zBIbCwMlh1wsRCPjN0cz6UA010zzRYwpnjAZTforJG+9C1oG06QPZRaXqOePzh2jcKJI
spRndb/dYHqbuupX3wEtxMAbThQLwAosDTIh4JtlJ9rzOtrDRqtqMFTZPnJPVjZLVgMVMKBI29Ks
V6GHlYmZ1wwzshmN3QAInMjj6ZgLRUHWI1BpczP/sMokf1xiP44xTsUKxSZSbMjNMPFe55r7EUtk
G32zY5gvTOcn69bC5IBTqeMHFSDIo5pHtCbHLYI3+Y7euv+dTDVqJAsJPhvlOlH8XyBkMFC3EpDl
FIA/MV5jQVaoiUN2yHj99iocsEIi/0aaXE6rec10llb7Brn9G7p+lnuJnidyZvEZvqOpcQgMIkvl
ohXxdYeRwfj3ft12PJ1TLHctD+ktTEMGm3lWmeEVrGj+sa5OtyHVptAKYm9wH0EFTU+TE/bvZFaW
v51OZp8hebNXjjMNQBxrhPm7mcscmxvSog+Goyiv2qVp60MLh8E6+EWevvlDCQJPoH9+T/CpPVto
42PkzchP9hOWxbsiJjBr57cV+isgbu1Xl1GtsGd3skestO5333ad31mS/Hda0zB4wWqKFnX2oBsb
8qXIiAZEfcz2LirFXguHc3FGeprt2SIX1wZlJuQjYo6bHQpGmMoTuNKSQ6/Bv7jIhvQi7JEsMtKQ
c41UFBZHhdGYhByZct6u6YKNookRr+1MZ9MR0O1ZOY4+Wf1uZd3pgDTN9hd1VpUcnKn0EgqYEmpn
WjredY/o0MZJJdmEm6rmvTaE2yS0FZ6fX2k37zEWcV4NhEUhXDU2GhX0imk4njgMil/T2MhPa+K8
3YDghXU11Lr58ljx+Wj4ipLkV5+B/CGyIF8dhlU2d70rzDN3TqTPJPER37CgmwWGUfI57QbOVbo3
K/HaS8sIFLzfGOXPbdMRSulwX5PoW7G0PQhWLr9lN1gvE4rg89rUzj1M5Y2uA5apY2eWxQhOuNqD
yU+d4pSEESa0Jc7NdZuv/rcSCsYQDHAcUDdWFbaRxKFIQQWCvddnI/hgIZppLlNhnKdx7OPHJhTc
hZEkQAvoQDTfiW4sAXMgJXd3MXCya0x966c9Up0HsUvW9U7PdOFsWAWOWjnO8/fJXuBk0oyy92Rn
3aLOdktmwrFfXBRipzEYWtU/slZrXtJoqW7TknisHZoZBmeq87rHHOojY5rIm3+LLEU7wiZMn9ys
z6tjb5NPfrQsEugDdOcEWJpmXn9gn2qeTTtGiEjszRvcj6IsjtRNJJrzu6/GwLYopw6lStYpmBID
3goxnb1jxpc9pJkdf2J78pgRTZVK9ngY0yefxtajagyLj8G1vC8/7cd0z5NARlZNS/bkQ/vhryHw
8RxYIjTX/mZTCNaosJi0rXX2rfUXdCqFNambqBalc/SpnJqd16UcoFHLIInYIM7VnQ+c7K2dZw/z
seb7p2oIeTS40BAIcTbAZh/qRDyQhcg5BZBLfETsiXioqkGeuqXP39Tg5G+AW8r3vncRVgp7kTcs
HNKXsNSwoPuScf1lLNLilM/Q/vYze+13ZDh0SKHXIOWfVkRQ1A4pZa/nVJA3HdTm8RnKA8vxDnvr
eJEl7bMJEXyDd1rYc7X8GMEz1TXlAME2iKyEZ0MzpnckTzJbvS+y3NsJjJlq3wq6zWdXW4QuYwAx
2IEa93HBLTQfLJxYP/I4Hu8ng0mP8tpRFG1jIddNiMUUDKRc/s2yUXrtsI7aaCKjyJ/2THu69GAj
AkLI2TEH3nWDv+HX2bYwzak88d3w+2WhrssM9PhEs7uL2mjoA4ZDY81eHCXAAeEEvGdyjbNXRfCX
vVuziVjzrO0MWLkxJhmi6UJasAhsmDwWHJV3xluja4Qx9byHf59G72kXu78TpE56h4arY7ye95gw
irj6SEA1XNvJtMH/JwGdmK4jMgSrLOUr3F+x3DOsbaF/oNi6jefZKS4inSGZAO0oQBU5DWTPlMal
OpdtugkvYVDAfWpaOzpYoJfHa1CVLBNli8KTYYVQd2NTWL8GxNgntf3V4bVGE9Y5Ek2/9FII1O/D
JmB3R7VJXrMWJqGf1s1zNhfep992E7coZyA+VVggh8V2JFQlRqE3cpBgNmnQQPUYoGn5idRDuHHc
k820ax2nmIk+ACCHPBQbIRydJj+RWFzhEGqiMD6ruoI0Yiaq90MMf0xxqKvpt0uCUXQQtEI9W+zO
2kwJdXfByineAKyzw501N1GQMK9mn2uBQQdGOnolAw9bhTtuNFYjwL7YPgyJ8Z+QqnF1Y1uLbtkJ
s8ay7ZHezhZT+ZoTjptC16/C7wj1sXWG0eSe6p7FJV8OfnJBLuGWmTmbzV9d0rs5dfHe5kUZX1NA
yHu+/wZVeJ3Gn1iQq2+FKRg/16GMiqsIwgaDectmQpCwSuqO7Wiq55CEHMrnLFK3EpcT+J1ZT+9R
1HNLs+OQ7T4WTuQdRk2O/c52ihpdDxPr/cSmy+zGFIckQv2uvXdpfPHmK6v55JdOHobWYfV7xvVD
niwSC4Sqckg/jI+D2h3oJI+lHcOBwpnXP/rEDTFqTKvygoC9Hpk/ecSObUUnww5vdl5zIPPsQ9gV
b15mYmjAVZrykkfxNv7vMvSCAyZh8grYv3IbNTFqW9edeUoJmCnvZoDbXxGcIsJu1iZpgrjPou8d
ctKZH27Z35mqmC2WGPxYd0424F7J3bYn4cAPf/GAM86BNFwyXE/tZ07G4jlay7bcq75bfgisF48s
HHoVMF5vQH3Dw7oL1357Ysise/W8ZbqQVCvtYO18e+NRhcAzRDRmEWCSeX0TSJ1vcQNirLAHQBp8
fDZjN0+NNTp9wqYnqKIxjEc+DLr9ZRawu2wWqxQtmaWqfe5b7q2gACOrJSnMNenfWJX4Op1q77Yu
q8NldinGegIm7cCaWocdNtUJViCx+tOhzSzdHhBp8+lzDHnfc5kws40R9zD3aGr3zPPPW6sL0bxq
x9C+FfPIHKNH8Py4FJtViuLW7Evw+uk26MEW21DS4hvKJW3ZgGng3OK6IbAlGcdvhBqWzzTe4+cc
pxm2oo6YHItRQx2UzCyLXUykuB1EayFOTk/YIfXqZt5t3TL7jmS9/d5B3ku5HDcnQ2ItbKx9YN7w
GFICvdwx8X5zqBhvj/ckNYcp76ePGCrW61qzf91plynugbi4RJ8bg7HsFFGz3ndmoPVCHZ6i/Zry
5LsrcS+A4iSY/irurPIJXWGMVgeDPD6tsJzf45paK4hLJpV7WI3iwslFQ98hQsn3FnKB6YyVILrD
zMVWy2XyAZUx4dohmaxQaYDXUPt48JOIO4BVN5D0qJo+i5yNzxFnVHcQRAewJWwQ2zDubFtrzxZ/
jJ+YL0eUW3Vl7WeckPZdP6di3vtljs5sMaxpLz0Joy/4ebszwECb9eCK3JF1LStWVthOOhzSYQ1B
L/BIuHtIPO77YPVwI1sSKPtLbDCzH7fHRfHx8is6sM2GuUEDCq0S3WBLJpfl6eZoYXumgSIOfIEl
SOr4XDWUV7mRsCGMJNwAkRK5r2xWOxsEol9NJyOmZggoPrk6sCk3Tx5ZZdGxEXr+0SXzRnxpHQzD
rFwlCgbkHsR29UP1waxVgi1wsKHsLOTG31KANlBiBBl6u6ZEfLmXWQaLx7YTxCEtRG0wdUklPvoa
yHTAEe7cr/CGkMmoieyoEc0WQay9XFjm+xtWtouzab2IOU26Y1no/NUsS6x2NZQtBBjUC/m572qf
FGmcfOGJrC7aEKaHoEpbWpvf6ZDigXR61FyXwvI6aIWUMswe5STDc8SoBGv7TP41vKH8dl1GaXG9
RGP5oj3iT/bYJkL/LuV8/jHEU8yuqGqM2DdlONG+kuf7yWAA1sgwdzVDJXZ57iNsmLrd47dMH5Ks
dSdkDfzhHsPyyu8CKwmZ24YiZ+8qK35bZYHqO0rc6CEfS7c/kO4kT6Nnk6k0q2y4pd6bk5NDS5ns
JBeRza9/gKbTWZn4AvCUfogB1kvQ1lbZvsBpN4+FPbBZnFantU9qQBmKbrmluWOHkMDvhkDFjMdp
0g9sp+UvzOWiCnI7xLNB9KRYD5bUsYWjC3cHx3piMVOhT4G0R3EXk3o57rkwWyoZyF5vY2YA9bVD
rz+kXk2LN8YVCDGjeEun1sN4DgclEUISYVceDRXvL5cBZLRP0ZFTYGJrecAuxIWrKtZ2mLD6X4YR
TctIwvGAKeGKC0+jjeseLIUqvqMYYnVXd708MFBBEcJEj0Yuh7TwwrytvmkYyuGxyttyeikAGno7
BDlsW9DmkKqMjNlhLJl66YbrJ3o0KlRy7mxVeDzFxQL0nnHr8HNFWZUeuhaJxV6g13jLON1/lhxH
zwsI2iQolV4PhpYTPn4Vqe/ukJbXdkeSyV5WLlt0V1U/Cs9FRgNDqn4AbBbfr66RGA2GfPnNlHb+
ZWNneaecrK8M89Z0X4P4g1ol++KQQxv9HvMFP7GkQimUDYz2k7gCXN/4pURTXmyTNr8eupklTkHs
FGae7I5fGEwjat1xqkG+E+08/KT4YobKj7JO80dEM7FGo2qq0WEUwfG8F/EycIjYjhr9Zx8vWnns
41F7O0csU4bdprW9cNwVhj30EKxiXvqbJHMq9ssIrbof5ADwMXkZO2YG3F1iu5cITv/A6qZaGpRH
jJXZs5erw8QrEFbBBjjh+dxiNHo3OfXEBc7suhebX0ojIj+T3HpoYS8bpsMl9b0BH9Jnvjs/OMhm
8FIoTrDmIXQ8h+UNbAFN/lqq8yH67mhhFyYY+M5xgDapAvwPIwuM5XNKKDSQ/Kn2hmui63x5lMOS
qpMm0LD8wtPqePAinLqbYDDWlT4AdgCSeOX6kFmp/yMxAJ2Pc6Fx8TL0nPvb2AxeV56NT+aSvsav
zwLikMQm4QOZ3RrizqHLcEfIAyjCGYxKTG7dzma+b2/dAx0+nr6ZUs231occTn9xQvLN6g6EJ4dk
IXsufG6ozrtKyQ+0glmUFakTiJ0IXMVotbHAJkDtKenjK8AckoGDOMayDnLB4fjB/RO/pj6EsV3a
okulskhKgYdWK5f+nFpvL4ksvVNI68m7b5GK5B3n0w7/tfWjZeD2W0vZfmeW23ZBCmqAgqogqCXo
k1C9stQmwWeoHIEGTxF6vk8qDDR7OzK5G4yjbn9vkmEyACaZbtiTVuHDR8pO1nnmghwFQC5px+bl
t9EYrQnCLmY2Qsj6qXywNGQHfFj2GUmhoxhB1O1tPVhq2UH79j+9fFqOkN6ZzhOp0aM8GnqmaJ50
UcVNQ5+8z0j0f0QE5SWHuXRL5k40aySOsRdTZ/4e7N4NTcN6xjBFlQ8gmKKsnhsQ7tGqBsn/WuZW
FjXgb/o6DxHQ2uM4nDXVagABNGwPEI8IiK8UqSLJWPpvTNaRr2CFLfSVZoWPpLLLEED6fWE92Voy
n1Fu2vyOGcIuQbEqNVybtHWeqflQbkU+hfFutUkOPUwSzctOKcBK0rbd9EL2CX6SumShEmB+RH2U
OIYMd1daXnPVb4/IPsU2Y53saV4TCFIC8W4Ypl4UEGCWgvwQq/mm6WhZpqKjcMjOGx2MYGg/yRJp
MtLUpwV92MwaixrOYehT1xjAOR7IP6MJRuANjaAkOGSIW6PPXVv2V2nYRXqfjM40BkaFDCPAr/Bv
w9VRu7Sswk+URN2rjyqUIhWTxS8lGvcngLCRx0QvPNm10wOLn+HW7pIeeOkea5t89W2mv8eSKfUj
gjHmS7y37DygsX8EsTR/qtKtbx1NoO0xYYcTHoiqkf6hI4SNG9Pd0EZuy956Lx2Mx4Fq+ILJZ9Bt
HpCqwVQNlqtv7yBtwSwwY7iwLE3Tn2Veks1adqV1B9Qph/3m2e1VmZXwlT1tmlOREOB48bHcX9t9
m715MQcyGaGABPfwDtAgom5GvyR6Lb1duCbFKxoPgc8PGNdnnGTL1wTBmP4atUm3U0uUJDsGw/Q+
tMNAZ/k4uPk7ZqLfdOxM787aVw+h4otivlgyiCgtuPVEiLngcpfJ/kgLVbKmH5KnTGwT1qRwlxHI
uuF5k2TOYb+bmdrQ7WEioHjFEOBFU/phV0BbRZaMeBYsQA74ntbk1V+Ep/cxWkL/WLOgrncUBGwK
gCorTHqCyxrA+RQDiiBgC+cv9jmS27zpi+ZvISa5mftrvkdsQ6kIk63rYhq3GziKgFnWjjIbU8F7
V77cbMlrAY2G3qtEDkcexT0t1kzHbiVqODOZbJtg0EI9gPGZP/Avth8pHcsXu9xooOFb57ccb/ET
+8/+DWx3+zzDKIcyFAvwOsLVvGMgkHwQ/4nzDfUllf6hgU9anxvbiwFrtP5IBtdQswi6StD1E0+l
8RE4h3/9x//6v//na/7f0a/qocoX1uz/UQ7FQ5WUffdf/5L/+g+2Cts/vfz8r395rrJtqaSPqtJj
4IkGlT//+nhKyoh/WfxnbCdx13Ysmmu36G9HUPh1GI8Pf34R768vomgQbF/6RjhS+a7W5q8vsppE
GWAR2VtX2csDpxGJnVYTPbahkYG7rOj34cLEpz+/6vZf/be39v9fVbskt7isoIT7t1eldR/NALb0
zfe8/jFXqX523dKyDmSDJTi6FkR7Jtf2idoRJ/WfX1z/04t7LmRmx+NbkX/7XBGVMIBATfqWdu1y
s/nLzCNlVXgDuTUsL3XbTliZ/vya//gxG4d2BtK853rb3+nfvktRkPOrezt/I0MLq/TK/O8nK9Xk
fVwxpi2xmI7lJIi/+fPL/sPnLGxekuRp2/eJZ//ry44IzWrVJNmbbuanImSwPJoMlQ4VHxv8mZ70
NRObDAk5be4Hf37xvz2/25fMixuWmgajnnDFX198cRbWjGWXveVOQyFa4XC5QoKdD+c/v84/fLbC
lhpviOfwRrX/19fRLe0mL8ObtMi4sayYc50LicHKNPbfJwiPp5LIhfc/v6riv/q3R1gg+aRY056U
ODH++qqGbfMcll76xkO+YUcxZS5EB9QpssOqr+PbP7/cP36Y/Fx4ZCXeDG/76/zbA4TJgYAeq87e
UA6x/RSpeo3dGPbVn1/mH34bwvZtjdLcaO2pvz8wYu1miBb5W1jN+D3J02kJVGd35nHdoJ9qYic8
/vkl/+nrEzaPJ2p9FLdq+/N/e2ck3ruKaNXsLZmkkzxNJqOas3il5RBNtax+mCayRwieNMdXf37p
f/pQSVniB8IR66Gc+OtLRx0kesDYvNt6YU6fgt1tQN1G4//gCf331/nbE2rGbDUiUThEENxh8G6i
ZyRvzYH8M6wGcQJft4qSz//Bm2PY5WgQyw43yF/fnKjNyrTYzd88v+r/H2nntRs3Eq3rJyLAYuat
Oil5bEtWd9s3hMMMc858+v2VNg62miKakM9grqYHKlZetdYfus9xXGrdVwso0/Zv2tFdC8SqwzjO
BhEGnp0OEH/PA88vhL9rdfKf8gr848pCWZwtS1DdcHSE0uYdojYPqKjN0jMAZGl6bw7+DkFT7Bev
d2hxQbqaSiFUFbajzWYrSUyPdFuQnS1YVC8EEIHY6aruosMX1TYvPFOvBSi6iGj1estLuw8yzf9r
WVcvp4wzDD4GmLgz4uHqZ2EnaCty9AhIJwgD/6ob8lzXW1zqq6ZqiPeAXtfYBpctImgV4SFZZ+eo
BdTrEXJ8aqoh/aoibIxwY04xk5RRvNLq0tmpsSQp/lsWbOBZq2FpTEVfZ9kZSxWXAos6Fb/QICzO
Nr4Nv6/3cGlM37Y1W56UdvMBkhuzGerN0VUaKapV4kw8QCD+2sE3f/r/a3C2fFyg9KreRdk5dZKK
zilWmO3gFhXPotaM72UGo/Uv1g2nFyLEJCx4WM7GM8BDUiuwujvnfWIcKJ2ZzScnwthuMyWOiXqa
HVnlw/VuLu1GzREG164mTGO+S4CGQ3+t2uRMMbguN5WHuexuoHi9MpyLK/T/2pnvCTOLShE5SYIu
afCTSuwIzSHQv4ZObDrfsIDtwzssfO21gG1xib5pdnZ6Nmh9BJ1dJ+cOrSpB9iT1wCWVFP0OeNIb
4crZttQc15/juLbQmMrZogkaJDWmMEwB76nePoYndUdk6CMwnYbfrk/c0oDqgt1uWo6lYgByueW5
Dgsfmivhr2YMvyX34D7TgR7cJI5/4LV6yzu7XZnEpU3I8WKqJv9oYCMu27RSEvhmwAXYUw2yN4gf
FXewnOwHvLp8EohZWT1e76WQZ+U8PtN1uIpgWDRXc7TLJkfkChtLMbiWnCb4aYM7qLruTulyQBkg
qWR6COIq+aCBqqHiFM3e7KWx5vXPWJxXC9AWmpmu7Zjy9zfBzeQ2lZnqTnRWfGQxbpDPaB9Q14GK
zYuDnOv11han1iEYNgUlPeb2sjUzUjAkHIPo7AFNvoMUXACuh2T8ZKVkAIukdE6DqxorJ+zSSaCj
KCrjN0OHYH3ZqoFkmszGykg4UCETjF29rckkDtvrvVsaSwIZImAHRpQpZgs3geUNzqSLzwZmQA/t
4BXtfoinUoBMKL2V4225MZPd6GiaDIcvO9XlPXYX7hidUTM1fiIDrdyruW8h1aq2u+v9Wtochm6p
vPOpALjGrKlGH8FYKTqzJlQHD3kKP5shKMcv+H0Ap4cgWK7M2NI6IZ1lmKgcOKquzrZjmeZqakPP
PbdNhVhzkA/9r7G2SLO0OmRiDPyqoTqQj0GT+Xpfl4aV7QCz3uDpraqzCMepvZILURDsk7HH5zMs
xG7KTL3fOqg9rDQmFlszNSy4MXlmhc76yY3oZSPIrzPw1mpTkCT/pgkbjQ+71A8KZKoth0AL49sa
+2cDEWVUIAPL+VJDEnygbmiieITFGqUtcr3HWCmtu+vDIeQXzE8p4kyZhCHBQwh9ucxwXs0TDE+T
M/x5gNqehXeaUk3/xhDUwa+JGNCuqX/tXPwqUf8UDRYlvPu0fYAbxvVvWdrGPJ9dm81lkR+bTU3T
96pAwTw6Jzk2jggKqgiT5L1aB39x171taD4rkTbUcZHzlE3V+sdUoNKy1TohxF2bgzxf2V3y9JmP
sM3StQEtaCa0+ssRVmsTjKZTkoWgLpRvAMoqYI8qy6bsg94byTlsPQFph/8gRFRvro/pUuPIB8kr
Tz5vNbkR3xz/lk6GBJ8p52SjHQVyOoKf/gV3B0N5Rlp3jA4lFc/oE5qrcfMtsAG1Ha5/wMIOILxn
/ZN7gh0jZr1viz6oar7rZGooVKE6m7TWrdGY2REIVaB/vLsc/xT3uelIi8zf00mHvgMpNBcuTls9
I3qJ9JooURjZmyD+w62d1SjcZH5fPSoVaL2/uP80mxiDQIMKLQnyy+HWBgiEcWm4JwHK3pEZa45W
Evil+3UUeNZ4BijmJxOXv2zlblo6alCj0QzLBsVDkWu2kSU6rIyofJyszqLO1rWa4IjxJ/dLkQIy
3pMz9rMn2ENgDh23V05Ez1AmVIzzdornItqtN10/PPoo9uA0Uoyt/mkc4DKcry+I5Q915OnLPue0
my1JnVIhHFPNO7koLuUHMnR4U6tmN35Bz0NF3mSkKCY6hwqa0wxTe+epEvoRhOFA5bzoTO/gl1xX
mFi7sX1gNTgHkajRSvy2tHDJBrncvhq715yNZwUxsfcK1Tn1CqxNnO7bxxALit8IqLTTx8MmjVCY
GXk9g+e5tRhFTF/FSfukd0ggUwabqBkWZS8elC7zS5RF6z4wNkUr3PDz9emQ3ZidTnJ3muxM3eAh
POsmZg2DRgTinsCzo6rQNvhN9IngxW9kYGA+15WZ/wfbP/lRFyJ5GtAdj26vf8JCMEByyGSsIdcg
aDA7jrGkNyGIe+4JdBs1WjRj4BYXufHSehO0GK2LnB/odsfm3fV2F8IeomIkrUxdZ9PMg1Wcs1so
fsI7wY3pwZpw52ZSQg7ta3+KwwNiwWG20ld53M2HG6VhIbgKHCoPs1BrMmLUXgrPO8XIKof3RUeN
LYpzzcXxDzosrMa2or4EhxoFtqD7fr3HS2saOz2KAC5ZamHOWkcbLRNwxJRTlCrauIVhlwCo1ZxS
j247o6nGlatPyD846y4yPoyypVsciM5sr/cdqwezdY9UcS1qkASOfTd5cS6OfjSoT12Zj89RM0q5
/rAEVTdo0a2jZMgfppgJMzRZru4Ux1NXktlLYQ8RDylmVej6+0sZpxJMpwpdOZlobhz9auo+xYwN
pVXkG6NtV3cpEn2NhSBhlkAypeztfkkC9JuQNpLDdX1iFpYiF7Fqy8eLIDszuzc8mzQVTpTKKfEo
GfAoNCPj3ykJwcqRlaq2BO6DtrL8F5Yir3ChozFDCQp66OVdldqWigOj757a0tbvc2zjsbbF5NrZ
ulYZA1PD6qo+kPzwPYCfYeIdr/d5Idyju+RRyXyrwjDkYn0TmogE5zoAGfZJ6eMUN1K3gHM8duCl
rrezNLZULUykqqiL69rseBEg90qoEe4pCVNwU9ko1Ec76PDlqJFGRfo/77qv15tcONF0zhSyN7RL
7nvWtUF0bh7gaHACS1U/RL3eB4cm1GLgcBgObgBPUWLO/Z5T53rDi319rZ3A7Od0kXP+ZkzNFgiL
2/fuqUZk+j4tvBJYlIZisa3a9ksnfKQH/qJFUu8cZ7oQljNbRR3l6xFNC++E9rF7r4Sa/x0aLQwa
krZoEWN6KvbXW1w4xLipeILLuheXxmw+qzYHtOs17inmMN37iE4/xFr4La6G9uV6S0srlEiSk4st
qZmvkcyb0aQ+XzZEcM5prIxwCxMJXxGlHyftL2YNmioYX5VK5btTEhlP8uyp4pyMsm4OamOUwQZu
gfWkK+i07rNcET+u92xpDNkQgCJei7LzK9caRBvCHmCdSGU8yD7UEDcKMCsYbB2GUh/PZeimcBlG
8osyE3W5LIcgCCPMtUn+AGoDTJlPIImCHoET1YGScr1vS7PGjW6BxyDKJKC4bCxCrhkd7NA9OSzG
nUmRRoKPEKP8i1l724522Y7elYOedJN7Qs2pf0pcLO/2uQ4BBYkeqZ/gaE3653rXFqZNVlsc12Qc
BTHbZZNidDpsR3TnpGjaT8OL3dOkT6cqLq2v1xtaSl7SkmPzCuXmRiH/sqU0G5DxQKb75DpYSaZN
pX7C/cm30fWtsgPiKNi9mi5E21wJnZPZg6vX6iL59/pnLBxnBtkAohWTINSeJ2sannJ4PQ2smwY5
ej2yxEuPm+OG9tJ/BP6nK91eGF8eySRKydSosPlmh1mOLWrYeq5yQlGfAHxy/K+xFwjkbDS3/fgy
lXGnafIAx5dPnbXlxqWXZprhnZQpQ0kd+68Rx9xQZkw/PIgmdnSCRBsBJ3mIy6lExA/zsUgoJ8Op
Qd+iKA+ms0pNpb7FVi+rX0QE/HrlWbEQXHBkyO2ugxagtHfZKGQfz6+ayacghEHVc5D5zk5oA14l
Zo9i/RbbEi34VAR+iD/1UK4tnKX4jvZtUB8UhYECz9YvjptWVQ6ef4bwIrq9xkJy4QZ00ooArN9X
YfraHWmJECxmhhlQPCTZd0jQyEpDC8fi4eNzwKdQOHYJFFVjtnEt0CFaZiv+GdoJjEGBfixF1Qz1
iRjsfGRO4tv1BrWFrQP+BaQy0QDXpCF/f3N3AX8rUJOymQBHQQmYvIh5TnkElbdjLwIb0UEsJf0v
QDh1vMSLIjLOXdJ1E7ZpOCztVbQ3o1sfLxUUCZxJhP+gcIoIbU81rNq7loF4k0gNH2X/idu/Pw3c
oJ8ip1bEZ6eWdCtuFjUGupn0wFK9wrB3BZAO/xFBsKb6db23S6uNVJZK5gClC27qy876yF/VvdEq
J2zJPTsGkVm6w+dUjNm3ocvsr6mw07shsezHDqOk3fXGlw4NnjfoHKLrx4KbLbWyBm0eupF/Rga+
Pnoh4j1YumX1TUyWc6Ut+bdm7ymQTDahnU2Gi8fLZUcRgYDFb47eCREJnogoLXgVUhQoFyHA3H/C
rRCauwk9uEYcvFf7G+TgjWhlMS9Et1R4ObU4vTTS8bM8ra7VbTU28lGHSBkOrlhd+c9eFqhPHORJ
v20hpX8aG3NI//v4SHOnywIMA0A68bL3vp3CzrEb7+Sh8razagi02LrCRVMDczpcb2vpBjRtFywS
iXtwx/PESFmawIthzRDDBxNSDUXqPaoK4EkEd6Lhi8hxgto7TqOhMWZCicKkENwyLMlqKFZSUUvP
aNMhQ0LJieLsO1BUhlGqwKmLd7vlhI8t9mxftMK1Ds4ocCb0lOzZxqABSw0LZZfU1I9WgiVpXSkT
Ww9trZtw8HN35V5ZWgZMhkXWgPomgeTlbLQuCYO2c7xToaUIZFsAntXbHNt29QZbhULcqOggoqlj
23+x/hzDNUnIE8Mac/CGb7ulKDBcPoWJA33Prof2sxpIjzaf9P1mUkBb7XCexsb5+ppYOlMdEHAm
jrIm2JHZTRoEvemjD+ie9BhlRwdZohu1TcLPWSTukFfvV6Z9sTkUR4nDpHzP/PmhTjks5yZgubtV
+mINJEBvikjRNoONgsk9N1/Y/XO9h0vnCwcokTNFXIBbs62NykJfuFHLnHZYN9+EnoVLKsoQ8T8F
pTgYdaWRQgaL2+SlMupsbwSN83z9E5aOU3qLbi6xCsrdMrx/c3HlELLqarDcU4jlw21HkNQgZWr/
aaOgy1dC+KV7Q14XBAjkB8x52iWMyaRbA9010UW5hcYHL4dLcPiTqsBYBL7XyldratCkdgpQnn9x
xFgkfUyLHAEYZGv2ghiVHI3zlpujr8juBFjiPlm+ZUQ7A8dBY2fFPXunGb3zqDt7PwAEvzdzsJ13
Hx5xEpJgPshKWlxis41cCwAKFarkp0ZSwwatsMuD2Tc/O6Usw5URX5hdXp0qKSfyj6R/ZrObxhPS
WNgGnKe0Cu9itHBQnMRqc2+aRl+unFALG0hWGYg8qLqRbZW/v1lKbacO2NqE4bmDev9VQtBuRi9N
PnUw4zD2ytfq6Au757WQCtoCds07xAd8uAg+ZhmeWz3WITpH4YAiddVUyaPlj69qeqP1S00n4x4W
QBA8DGqLoe3HZ1MmY2TOAo34d2hIfMNjPDjADSiytA74Lf/WA/g8G7Wqr5xQr/WsWTxivW1stnSa
DmpQO2jhGVU993cIJlk9pJFoD9WIbD6hNuoPN4QSCIiYvMGfm7xDOf5mgNwF0wJeDtln3bR+Oko+
aRsoumO1sgaWFhz1G3lNAdpwLf1yDeixAaw/4AtH1RiQWaoCxzikeoNuOElwVJSuj/7ikgPrrnKC
UobUZ83hj2cCtHNproIavU807Kf2A5LUqEYC9AkeDav9db3J5UlwLcS5bQoohPyXXfSCwPdBofjn
THNBVt3AFrOeMMUZ0RVAnjq/7VRkfO4aZIYes9S1sMZx7dgOblrEW+9UYhfSWmUMGAnfquKP0xq9
WME5L80CuRh5cZK0I1F4+YkZ/cd6Fax6gPBChCSXgZsDrgO3SoU4z8ocLDYm678gOyUSaTYeSD7b
aW0p4Vngz+l/rielafYTdqfNYULS7b/rwy9PrPkWkAUEXUbCQMxmQUHZmaON0UB0TsssSLZmDV7x
CbW4afW60JZaYhEDJTEFuJlZS6DSTWRVUpQ+SwUNzphU909EG+CPaRgflxsQT6g+aIBmSTZHw52n
R8UOPGuOIaNZ3iIo3+2v931ptZuArrk5yRbx3L6c1qQp2kDv1ejs/IjCqrs3M6X8R3hB6GEQYdRr
5/lSTM5dCYjtf9szZ+nt2qh9HZ2K8GwYkeju8Ntq032rD7C+VSt4KMmyeF/wt/A3ltXgD8QLCCZ6
GpR58BenrAX2lDQ/SDfm/7Ln8i4hgkKgTMvScrzBxjbaTlmn/zEpoG4+PspcmoZF6lQlFpyt56np
3QmiaAR1x0T+vx7sFJ/IFljfjdqVGBYQmqkrsclCZEQClVtEJ2kkj5bL/g2YcGkiT8Nzyts2++R6
Q9wcBJKHn9BJ9eN9WPb+eGgLRC+xSxkytOevd3rpLmUDk32kKuxi3n35AQUKwIQExEZK3chsRdoV
yCNR4Nk0ugJVVA347N1A0vEFI5bwxlYy4y8guPDR6D15UJKgujxo3sQPimK1nsruPuu50h37YsSk
OXG5p9IuPV/v7tKZRQqGeNMkFBXzWnRFdA+SsA7OAXpg0b2FDN8ODwl9n2Z5q95eb2wpOwY4hncM
DDSyCa/77E3H+qFooV+REsSlASeFKhU/K/IO+kGkObdGpqvTfdAkCCsgtBK6v1qiF3SgI7fhv9R0
YiWOWDpHWN86pGAweXiJXA50qLeZnXujj9yfYt/7E1FSWxp2uCtGxD+21GHSL9eHQK7f+alNuobd
RORL07PlZQ61EUU6d2bqNagVa57WGfcoalr5rlBMf1MqToc2Agqj/srJsdwyxcH/bfk1cfdm7FUv
VjEKdYiAHafVd1R2ze4JIrMLhH1Q7E+pmwLUcgmIst1f9NmxTcJuMFIgWy5H2cD1ReFy8c8jRKav
IA69e6dGffNnx083Hbgf596e1PLfjzf7ivGUAYpm27PJFSAXSUQ2Aehc0ew71MBuQo7x2wAVjGNX
9EODsEIUT3/RW4cSIfsJVp42f9uhdWu2g0/KNUf5/9nDwea5xmHvvlTRRdvHKf5HN36i4Jd3vbtL
yRoOC255eWQDc5Jb/c0Eo2ZkcvuGyqlFpmt8cBAev0PkAWkbX21s3BohwydOWNkPQGyxMLbtrVKy
GDaiaicEAtRCe2mAVvt/EYNRyaEUzrrXeHFefpeOipHEh/nnZghg0uEd0f9AgrD548SN9/36ICxt
aNKDug2aRx4ys7YsJFxYxYZ/9hPE4jZ5Zw/dtqxgD9mdaLcJgkt/M90G65qsASRsS4Zpb0adpBe8
JTUJz9ID52mYsJ91wmL4T0vjDhFfsgpbVVmtNS720yAjC7hSHt+ztY2uQohmdRCcoymcztRzWvVL
75b69OQBa6q2BpKyaxV3uX7mRxfRLfkgEhdcjbOxRXAIAWGzC89IjNTfq6iWapOTU2xsPXXalWv4
XchFzYLnOg9aqFIU3edXRTakKZCtOHqp/ZpMZxLi12sEqAAj01AZJKSmoH5EHBWfQ8SlBoQDXacS
iOnU7gdnWH6JJIgxzEDV+JrLGeYlU1DKGKIXvVUt3CpaLzn04RQcRDFVZ7cbdW7MulrZNa8k97fD
/VqWl8A0Dk5ycfMkTd2ADQoHO3lBha/4DJcLSZFCTfW7qpcuo55iKOENuo+wupA/sQ4VnsafHLtF
d6ItcAPKxiAN12Zlvu74KEIicpDQuYmQ5in4yHNFj5dF8VIg5tcgB+m0W7vWW8ouHHT1Db4UdnPT
KPAHt7i+VOXt4ERavEuSXPnmDGX0pzQU53eqNFmGwBhF2I2WBO2h7pN+JaX47jwkm8jDTw4gcH/o
YbP1WqIVWPPuGp+FQMID2U3uf7weQulrXTV1f9OFfh7d1F4iUBTvHROvBNdM/jM6JT1T9KnHB1Qj
82MbCW1cmd3348gZzS6SrxfyX8bs1CDBDym3dYfnZrTrB2/S3CetNslgoz6E3isjuhZTLraoE9JC
tZI0S/n7m3MqMzCpypR2eE5CDwM1hJK8R6ieJB5TVBpC1Fx0nHk/dhrLGaB7sPNIgnFozC5+1MNT
jRMYEwbey0+wWxCIaor+JMY42kqkzX/X25N/73LL2GSQCasIZTn93dkNKMOuhnkcnsGx3vsYZ+Wb
0ErGFzKLSrl1daUm9+PWX8rKKj5Yd5ZdJdjQuXZcRxbKLofXGlJ4eVU9PuMVWt+2jmJuJY3id16o
WHO2pnGnorL7kmZG83K90/Nj+bVlUGyurjlkczVt1nIqPIcCO8s8neKvRl+UFXLWQmwVLEJWlu1C
WygCmkBXXyEu8+vVL0r8vDCVfcbfDmcz8rcP+Mk07RYJPkP74POTjtEYKXliKbIP8/qm5cJ4ItoZ
n2MEhJybxqkrcZemLTXHmvwlrhIYHq28UBZ2CSuVWirMFN5e8yAZExLFHbqGDvrm76FyULBzatxG
92gVGxqSNXXRrMRtS2MKoobVA1EegerZMSVCCw2eqKKbYVM9F1r+maK9fkzG8df1hSL/0Gx3QEH8
v4Zmu9GpsIdynWl85nhGSkvHqtutRm1Ttan94vWOf1uakfn7eqPvBpT4hIe0xVOWSgMkm8vVaZbJ
5CShPXxD6QC5OhfwFTd47FImDPMCEzLLM3VvZRZfC7Jvu0oCwTE5Xbm0OYFISl+2WpdUjRLbLl6i
IdcLcM0tb7rBTYge0KlAl6aME+3O1yLttgxEreydqRTqXaZprXsgj1eX95M42VZRnSjC2l+MMqv3
Gvf9Y9lrmxL51MTucF6GtRS0m3SwRvUwYiGLYpBiKuhJ4ZIQYXzdecGzb3jDbeP5JUL3QZ1ZN34R
+eDsSIF80aUq7G1OMf2I1Xaa3HDp9NTzA93705Pcm35m0VD8ybvReRy0TnfxQY6C+lAWmhOvDNq7
x7nMuoAFhh1HqhS4zmyqjKKzgQJZxQu+03GyD/A0BcTZjIN3EFWH1U1R4KOxjfQJJdTGQmQwMXsb
CTpTa26Rzifp/7G1Y6C4qRL48FI24DDZswWrFkVQ26RSX0TWuwbgitzBWYNU342HnHq8TeuqX9mM
76Iu2SaAQYRAIC1Jjv7lyvEHty/7PO9e+ky0PUYJY9puos5IkBPrp97Y4YfZ/QFslzibEnW9T0hp
98N+KjqjvR3ElFebkTRZna6MxfyUkN8F+I70q85R/y4lNBR9Y8EAKV7spks/+VPr3QK68id5oSHH
+OGBB2LhyoQQgR4EsstBqNrAqpEqr18MM9B/eV7r/DZQ6fK3ddOA2w9sp09XVt/8cKJ/5NBeE288
Mah1XzZZ6w2ZA7L1Lwrq++hMZeURvp66r+uk/11xImKYaMFNXQGIyiV0cVBQDyTRyP1CiCg3wGWz
uNab+MMbyjc9ctP6oAG8/6y3Tv0dF+0Be3kOfY4rkkQPqEXka5P6CjW/bJ6FbZMRcSlMOva8PFF5
Yc70dTYGjBWScuaAyRq+Ff5obk2Ies1LrbvZA8VKkyWXey+O0LHCQt41Vjea0cQ/U18P3UNvcMoe
RjOon50xSsZtrMF62GEzo2XUcVEF3ZLal0YVQ4W041S3TnVroD2m9LwdXJS6DwGPBVynvALjBPwZ
8L7cDgW5pL3dqu6LM4ZqdJi8rMIAwhcR6qddEB/inJWA409b4k7he5qHL02oNJ+GAZLmZ5Gq7r88
45zi3z4aR+N5rGO7+GrWo0G7HVAeFbm8HIO7TxZUK+fPBxcx65e8u0XpDWAlAcTl1IZqa5cOVqff
RBYgvWeTU/uGv1b6UGghWQC3YqGs7Jt3i1iiUXhxmHAOXV4Vs6u8pBySe2GZvwwQ7aybJgqMzxjJ
JO0u9S2E1oSnQz4RmFJ/VEqIG5ZDy5ZsS/SmAMVfdrY1vUngU5O9cOv17JQChEijtZ/tTKj/AOPJ
NyJBe3Clv+8qgK9CbYBhZNxJ3eH19zePCjuuuYi5/V4GAkKofrUwT+4Epgk0d42vIA9rqXSImiAW
g4r64BQT0BwQPHVwT33HChETzMeCckLY/EyRKFgLruYzQr0KgWVUOqSQNV87299UR1SM63LlpY3B
UdzYKNH/jLBWznfeaAw/ByBtz+XoOsrKPTI/rl/bdbi6JNlHJ7S7nI+g6qhGDpl/VBClfMEcA8Xq
qnO+hl2Q766v83eZkv9tC+gjlxaF97keF7BKp8ANXnkBAFY/NHVT/Ow8FT2wUBObQpShji9MiuNG
nXRqdMfbwLprTLteUz2bn6XyOzRk+8jvk9onu33Z59gYsex1B+9l7AZHv52wvzgndZrt8qJH2Ioa
moEgsN9O2mMKO2ONyziPNLmrqCloeOugegZ5cjbVk3Diwvaq6Dh4qoqYQK+2mw5J81PU24ATXU3x
Vkb+fYdli1Jhg6XF6M867AM1sRQ3iI9e2bf3RmwW2z7t+3/SxMHmg2QZYsG+hddrk1n14fqsy968
vTlkb4HXgrUiUOPBMrsvJaOob5ImPmKErh7UulfR82u9vWNIV2G1QpK/iXTzs23n1U4TkIGvt/9+
gdNvXvWE2DwG1XmJKg6wGUTvIj763dg/KCK3D2Zm5ru4NZS1a3JpnFnb8nFEFIi8x+XCqgFLhx6g
qOOAhfS+C8z0e404OdayVXzIOjF9B1407pQmidfeoO/PD0kbseAu6nCGgYZdNt3ib6Vhxx4fnclK
9mnlRs9q0Ja7Uk/N+4nayQm7zDW5r4WVDGMMzCX8eXDUc4Icng0IJMPeP6KVLgqs2A0Ma0JhlM4m
DCOUpoUxiGBlQhd6Kh/2UtUPvYl3ihGKNFauwjw9pij+3zft1HxjZSECbsehxZNHt87NpPgrrS4s
Ix20KwNLtgY7t9mmjRrXm1p9yo6Olt6jN+Hrm57syk7rsUlb2a4LW4b0DNRLUmvSgUt+y5vLKp7Y
rEAK0mPued2P1BvcnUDxdYvoenEXOKX2UJCX+u47hfgE3XttVpebt6F5QD7kaTp7WTD4vlI2FrPa
DunwMFASyXDWqsjiprjtPJVjhw2G8FRziyd3uy3VJlqjJC5NMmkNMIfIIrjCkSvvzRA04UC2GvTT
0au14Mj/UW9ju3JvmkHNQzxsRsxPsKz5YG6Mswr7ethsgNSJxOYST5TU3arH0e9IfdW/tVzgwrus
UutDjj6AvxlwM9qomdsHm5IH1vVzamkv8XSyiAFguRIJXvaYF2sUs1mzoz0KRd30eTZgbl4P/+Lw
7iY7CGFwr683+e4hje6KybkoKRAMNEj1yzYD/GpwEtSjUwHZuSW1DOjsEMIf2jWmQ5ifw37+4vtC
+WfADBPih9Wa9zYi0RGlFDVKVt447wME+T2vBAUK3YRVs7tCM4Oxq5ogPI2er6d3Rd533iFkq3C2
GIiYbQLeQQP2LkUIPWTAMXpb+QNfjgW8u4ZlfrcNOEVBT8tABeQnCenLwRnV0HM6TfeJE6PmN0VZ
+zHoIaYf2mgYh0NTq2WNO3hRmYjTaFF0B33lr76BbDCCGVzgAKguv0EfExT9kzQ8VTV46p61c6sU
YfITFcKfvTrZLyGWK9I1NZg2fhmvycC824UMARUtrm32hAnt+rL5vC8wS0si/5QhxLdjv0ihBXJA
265p3O84VZSPGkn5lZD0XWoDLRZqSTJmAD8kBatmzZaIcWJNoMA6D+JtPlLo2YQFzzisdsOX1IAb
lDnleO8HavNoVHl024zx8OT4av+5Z2Gu5JKXFgIoG5mq54u4cS4/Z+BBUmWT7Z/0oRPdTZDpYjuM
+aTu9Qy0kY7bwaPvxdVtPmLjxL5dK9S/CysYD1mbkGUi3ofzx7fALV2JrAkhYCv0v2VUNY8KnhGP
iW0kLwioWdo2DMvkN6aM/fH6EfHuVKJpRIkttiVPIKqcl32fNCxooC76JzHU+W2TGVhzFSXJpDIc
73FSWhPDWVhxPEepWZETRVtk/kTQp1B0AmTiiQirf27VpOEppqkbKzRVJAY840vgsxo+3EnWtmT4
8zoktyHH/81lE1PeH4Zei04olVqfUWvgWMEw53lU688V7rYrj9GlPgJl12Q0gWj4HDk28jSwatKC
p0jxnUddVaaNRtahBYbXuRsLnZO9riXuyuH6LoABxc9dLsvicEXf3epK0eOHOzjxKdOxHFNRTtvr
7aQecAAm33J9QJd66MKtdzQkweSb9nJAjRY9I1pRjp0t3bpJVj8XGLpvuimyb+vOxI9wVIOv1xtd
2CUSzE2JkshQFsEvG50CS9FVvD2PSqu4sL3cKD7pfWZv/cTstkTrerfBQVR7QGnTXrm8F25SYlGy
sBbURZLT84IecHlVi0zLO2IzFWc3mtPhCtcklRZsilp4P9C9xvgtMZP0xiV+bTCvTR3SsMNIhbNJ
+sP1sXg32WQIIfvxvmUSZIR+ORb4zHhj0ejB0aoV9c4aTVyZkFVRnW3SADxYme53h4RsjXXFA0Su
67lAfaVpfly3aoDvR+juvC5VEc2K79tM8kaDYnSfr/durb3ZrehpeBEMeG4dWz8O/51sD/stxHlw
HBhb6xeclGYNUbLUomRZ86TjXxLOl+Op4n/mV7URHMOy+Okr7bjvGjv+Vke+Sgez8PzxDsranolo
K+n9eaWNonAUkW6MjmpTh09G5ab3OCNUe1SoXAffj9qJ7q63+H7B8HwUEnCHypEkzl92MLTgQjZa
ER0tFaJe6XZCw2iV1EdXpOraaL47HpByQFaI4YRRJKlFl405aUZOMlWjoxNx1imR0nj3WWc3xRbj
oxEqke3pd0C162R/vZfvp5GGOfxschIcFXPugRi12Kwx0j4GWMViKl/gErPFQSIWOCfZ9UsvxFSs
jOy7Y0l2lnKiKWVjMRaQg/HmclGBbgC1auNj0zT5iwd9HVsfrOL+sZXB+YZ+0/jH08GXbowEg8WV
c+B9RE2Wi0IqiVZDSmfM7++8CUNDifX4SHDj/UgrJ/6K157uH5TUM3/lVRxG0tpD+6LbAW93rLWG
HUr95cp3LCwvsFGQG1BRpEw+T4x4XtCmbW1HRwpTU7erIhOXRjXuR4p0iv3t+iy/i9dknyWNnEjJ
Vt+lmCsu09otlPjIfYDpoZsN9a9qJG+LkOO4D11SBje53hQ/ssz3KBPERXy8/gUL64y382vATmr1
naZgGgaTE0/knCKtbbWvxVQEh9inNLRBvcffq4h2rfFHljpNSMEzRR5T78puSBBpAyr98XEq26re
lj742I3lFPmzojT5rVPV7m9/tJv2EGEn13AbeMEKjmlhW1PMJpcoiQ7c+7NLJxliVzFTJTmiVIZd
eIE4+qcOr57fKmlld0cxokd7L+7zlV1tsIMuMozMN6IwJncv/F+qKJc7LK5yArjKS44piOV6F2Wd
Nt6WrZGuzOpC/yi58jIhHUHmdn5sWa2LhyyWY0c3rPWz2TgY+GaOsqmdzkG0VPifIdCPK3fr+8cQ
yDrWMc8/6KaknuTEvzk/SjGYfu9F6dGaksH/GXtGkRw6X2tJQCHx90woWRlblWu9/aVCTJooilUZ
nHfRtXf1UDY4AJZ9tPYoWtjRaCZI4AsvE+u98g8OYX7qeulR6GUQ7AoMfm4oizjdA/aKOMBe31AL
rUlCO3pRkjaGRNXlIOQGUIe2YEbzoG7Lr35S2vYNOU87/mN6mhGunNlLzfH4J5JxLCkKKlfCmzGn
JlblagWizmqaLt4rOm+sDfmu+j8Frur3631bWL6MH2tXkvYBn8iPedOYqNtYGa0yP6aJqU9Il7fZ
cO9FWfxyvZ3FTkmZL6JUVu+cQKFEWg66uc6PYxEX34Wr2Dehjn7xTS66lRN44c6zZIFPSjZC9ZuH
4jUq3WNvVdnRcqa22xii7B5wzBK3yZTwdq8t8a3XsmifTHr7QaIEZR3uGWRjeLhS35nXszItLdGe
H7OjWqa4axpWxfqPPftQT3743H7cnkE2KCEIr/Uzici6nL5hBByqJ3Z+tFVfe3L/h7Mz620b5/r4
JxKgfbmVvMRJmrZpmri9EdrOjDZKovbl078/9eJ5a9mwkQ4GGMwUA5oieXh4zn9BqWrT8Aq7i2aR
fYhDWaGwpDlAOa+v5oUrBgw9QKVFJ5SItN41bdUmk1HJ10KfqsAuO6ggRoYxMVpjvq3Mt14UZ+Ox
nkg0Q5ldBGv4l9Np4onVUHIR2qtJa/ih1MsGcItJ590XVEkDBE20W/3Csw3LKMtZpwRF0QZm6umQ
iulSZrcr/TWao3QXi6n5mMVtjp4D/qy3HuXnmRILSdMGVCQWDbDIVreIMNoSmLemv6bQ6784RTV8
wpBXcXZ5DgQpGDIJQ7DXtHSHLp94xDPSOYAWGG5EurNLhp+B6CCFbzDzS+p2OmmDtmPOLWS89rzc
7rzZHN/wiDN8ImtxcBtrr054C97YTGcIZHIlqjwuhbRFdxOZ+NNRC4FpQ5SZ+uvoduINHYF0P7qN
86lDhz8DjDFiQT4aeDar7fxWSKxNx8ixP2AFaS3m36gzTXU8/vvOLc6PWqRMgDkt9aB13a1EfldV
O8vAwlokP/sGgcWNnQyeviXbifK7OqkBf1wf83zPMabFK5ZsgoO1bvO0PNbTcrSNV1m4zo+0LPOn
asjGTW/G7/SOW8h5oKrhDfwmtSE+ffrNEW2dlwvUfO3HwWxx6YsKsakHJd1fn9KlHbXUbgmJJIfo
O56OE7mdalZTZL2qQshH2vrmdyyRMeSNtOYf/AAy4XeGcesKOI8XxEWIairlBwMFklW8sJUJPyx+
0WvbqZntd1afhSSdGDzQX3cwIvLmWxYrl9aOHjN8RJPYfwbDrduKNkZUG6/QEMxHJXLMai+GsQ6q
snfbG0Xhs1ubxwwqpABhSbqX0U6/atnSOodxarwiAqcrT04N7mzbIuRt/7q+fGd3KQMBzmAFadWg
UrZaPmDkAGZQH3xNDLSMQEEt73EvC9XnmFi2K9xYtzcDUrj70XEdsb0++vnmYXTiIiocSya0pqZR
NZRF3NnWq0y0cd9gUXlXDxVUaTzTN1EDYMX3MOvcXR/1fPOcjrpK90RWJULoCqOqU/8lnr3iUHam
CS9Dt/5LMXq8cUQufWOyWMItaTruDqvFrFsE3jS7tF+VcRZb4eL5Sykx8Ss7aj5og1IFaYiOED7R
3V/MlLlSHEAKnctu2WZ/JH9pH8l57Gb7NVItsXWEqS6293hrbkuva56xeELE6v0fd+lsUasjvT0r
sfej4yVRLezXSmTmHcZk4dbsCmD4QApt8LGZXf28PuKlTUSTUSUjpLvHuTmdpDIBUcxmYb220nbf
eqRc8t2YVJ0epJHeWsiklTR126aP+OZ/MzTDgprEKGxdfRmZUWVNpvUKGj/2rSKsP8VZTfewrrXm
oKA1+xqB0Xfvrg+7RLeTJykEB8otS7EJtWJC/emMUZbAm7eN87ceY7w7Sx3tEZhb+a9LS631hcgt
no6Ds7G1AoEudKquD3+2nwERUoeGlq2ixnRWc+p62JHjqMi3Lol0fzKb9k1LtG7LfwsD2efGV62e
jAc8ym+5hp4t9cJ/gNVI0MJzCoPU04kb5Wg1jjJUb2mUFgGS1hhlD325x+85OWApFt2j13pLZ/TC
1wbZBDZoUTQlSK4GraREyBSM9Vtcy+GtLqPq0QrTep/0NIU9keAEZ8RyW49T9WwOrXLjDJ+njnTP
l+7gQho2l2U/nbQsIssrMqN+s+dO7/zWUbx/bVC580cVe1akhUmWsAG2EZQkdUmK4k7R2sw+ZFOo
3IjXy1RPNx4dW2ilS0XeIKysIpkcM5MFyBqcmYumw+3a8M15Sn6k2mDduAH1syuQadMYZIsvHfIz
JZeoTj1K72b9JtJYekFEWvtlGpxO2xb4ND/WU6dgUGeq4bbN07jwbW2mXF6pzVJ+ihOokeaopE2Q
2YLSPbEPasmsiCjxXVySPhmxpYS7CaUrdFhkirKw15Vz4vdD2rWBm1e4VMVlNn8RTZ1+vn6Azrcx
+bdO15vSxlKmXkWsWZRDhbZq86aL1trMZVj6me3VmyRW6kPbySfyOnlDcf3s0uNzohNCA+u3edIa
FggkEiCmE7Vvpsgd5tqNu3GklzTPdbNVXfn+2vAy4ILUXzgLYMpXxwZskVeHVt++WZ1uvsmG5iPB
X9lFjqrcUzAE7NJ3VbrVUgQvg9hFg8AXavT87k/NjGmDLs2ARcfi9PD0fYPopSq7N3BN8Ud+6TcE
46J9b475Vu1q/S5s9VtgrvP4SMEKUAfxGaNW6NCnY6JFA3cMa+03UXkhDjqcaTAkVm34HSJI94OT
u3tDx1HIp+Z0vD7f3zS31RGl2sNbi79hmlvrwXXZIGbXizeq0/HXIVPzO3esOyeoiqiALlw1066M
RpH5LQrQjyM+xN/jVov/U2qJPVrXaB28uV4p/xmQxPiYhqHYdVZZ3tlahyeC/BSXO1XRvbsUXt8+
6YB637hUz+PtApTi2/F2WV7mq9ORTWpf5yIRb1Y2pd9auFmPrZCxjqtu1m8VoYkN6tm8ER0R+9Vs
3NLlv3BSYL7QU6EkAZB8zfrw2rApI7XM36RrxJ+qQY2fYkWrDrneegBZpXOjpvRbEWy1ZDqWu0iP
EBO4z1dL1olMoOOoFW800evHRneyu7Ivej+x5xnb29osP3qIYL5UupN3fthPqhIUrhV/xjEhexK6
03yZZtTX/SE1oRvPTvVKqX7egL33NsKy2w2AReUzPUyEh8tGdFkwWnN4Vxt6/sWAIRY402wjhmtw
vyV5ZT5mWcxL6sbOXC6H9TRp//H8hY1Mj2x1FEfFM+oYrco3Dxyy7Zvh5Awbaddl4bdWM3wHK+Ud
vC4zseND1ibaol+cycOIe6axm9LYbQNEaJKfzSyVozfHZr2DmIam3CipeSxAmSnxBcfsHrhOBYZM
j+0PUheFElyfyW/G9HomLBN1lAUvQ2fz9IBX9HjqEucO0p6krremnhqBI+O8CHSKxncTfrvTBvK4
9UQvI13uF8055EYUvkRWOX1uBnP4Yag0zzb24qK5SdFq2OmqIoIqvqXZur5rgAoDv4MAvjwAQB8u
f/7HE6DU8yKp8R7GgztudD+XzvwZ2TGCXjkatdgJJ5vRlUxKXb1R7Fifo2XkxUsMKUm0BumdnI5s
gGtD8Q31nlio4Y8+i91Hd8h6Y4fy9PdqQoX4xrqss5PfAyJYqYNyXGqXqwFDRehhmRrxsVywvYFO
J1u9zxpLttseSb7kxo26DvMMhyI6GAhyE9DJ62NbuYYEmIHiRYzOX/PYGEMpg8aJJjfI87mZnroO
/tGdI8JE8xMlm+SNzPDCfGlA0r0B5Y+5y5rxbMzzXM5hjdxhrOkbqUvEx0BW/jNhk/Tl+pa/sJaA
29lC8Lp53K1FDTV6njzn8vQ4msU4bubZ1OS9gphkv9HcEf+owSum6sYGurB1HWoS8F8oEkBzXq2n
3VUVkpxmgt5ar208r469TRhpzn9enloPdSTEPqSjPt3YRuvE8/e6cn/SMeQvxF9P960TaV0PexXj
qQZfPrQmkl5+zjt0FG6kuBfnR3mfGSKohtP06UCTHep2VI+YpZm0mQIhnNhDVQ58wsaNkkZ8bkrD
bgIE/7EHfP96ci55vFkgzjV3+QZ/RAXKjVWuTsJ7c6OhfLQxRtz1qWwfcA/WN62m3OozXvqmXKpE
IGoCy3PmdDw4HJVI5xangj7UhoNmZbhsOfCeb8DQzphYy+JxJNDQRS6LfHd1l1pmWyie6Nw3DI2G
Q1oqcYC15nCYnEkJjDHJXvRcrZJ9BPWpFoPyD1qRtcvrqbWbO8q29Us5O221KzvwXNe/+aV4AVwN
eQJesHSTV9+gymeS7q5x32jieOp9JVBXu9Odduhe0qy3Fb9SzO6ZN79R7U3kraPD9fEvnWFkh5Dz
xKmVf67W3Ol7K3Fm7LacigS0iJtpM+H5s5tG2wqqOfwLZ/ElfYNKTeRAk2G1FIBOYiMHnfbWUAX6
qUpDLyd/sIds2CTw3+gj0eMeHsZZn5PP16d6abuBAKLHsdw8+A6dbjc4bYueQq68hVRpm8BQqq7f
5q3T/PqLcbjjSGoWG4l1YyM0nDJ3YszbQJaOd5msHRGYFFxuWUhcivRUHmgVLzwnsuLT+ZSxNmul
hZ/RorsQ5CXsTXBdzQ5H4eTr9SldHgolU3q5lJbWzdUib5USbwqmpGTZHWC7n1lYD19lw136FyMt
jzO8RXjhr8O73uV2qldJ+Aagpd1kRdn7PEHUR/ZweOOqvjQp2qA0XZalOk/YMqufc/TqSdjs2Z/y
Jp82TkLtGRECb/hyfV6XwjpZCIUS8G74ay8/5o/YWoixMTo9Ut7sOJLJJlEHygqO7OciyExRHjx0
y+d7z5jLG0u3HKg/09Il9gHhQNuG9x9KKKuHkyEQdLVwFDuibVb/4HzIL8JRf8pO9x61NIbrENpx
7Y9ArB9bMC030pEL83aheVAnW9RuIEGezlsJMdRuox59s9wrvihNPk4Akjz5oFu9+G5XXvKl9rJW
uxFWL4Q1HvdcLBRSFqbhataInxRT5GbxUThu8W25p/FuaqyQNnVmPpM13KreXBxw4ZcSwpHUW+/b
NuQhJa2UvDaay9dqjsNPYxN90fIu07hIxK1ywnkws5Ze7ZIFEQC0dYetEhYeTYBr35aq73OomdxX
JGHGj3duWzYPKwdNB4FXoL3LtP/YtgZgyUKxYnls7Fp88QrNbX2q+RLw62S0D/CH3cRvcsu6sX5n
22Y17upapKuYjlqkl0cM4rkUQsf67A5Duc+VYtimDvx1f5jC996Fy6DgUenHEA6w4DudrBjZmAAr
5LFnNTdox5mbrJaksXYMykJ25XtjHePR/AcaiuH2EsNPx9MGtYEEFMmjbcVWj9GiNFS/bW2pfExw
LLmFRL30Tbn8frOPATStlSazhOecM2TV0UKXeJPFA8QRUCt3WW3VsM2AG5le69y4dM8H5fiDXyM+
L43ntcQNHVmZm9ZYHhf9xcOoew9ZmICdtgfkcvMqRbo0HuobnLqzyA6pHNQcVyrNNXTGV7t2CMs6
znWnPGreoDqbGInLZzGl6rSp2puvoIuDAT1kKSHRgWU4XUUwGlOfN0IeK/Kd164s5WdHYhEwt4p6
SzPs7NQvE/tjrFW21iduPehTIY9isq1x22aRKXzcirJbat1n4WwZaHFAIFFbhNpX7QV9lim61oM8
OjQ6Pg9ZV+yS2c6C0In0+xTExo0U/dI2QQLNpQC+4N/WCQY91r7G86g4tvS4Di2b42A4xTT4UvCq
c8pG+Vwl7fZ6cDvLvZnkn4OutolmJQWqkGl5zOtyfmRnKF3gJGOfbd0JIFlXiehn7InU73MrvBFY
L+0aJCEwR8KlyKCKdbprjKJwR2dg7M4oGgxhhNtvxl5x7A3a+OPb9Yle2jaQlgFk88qiZ7SaaOgK
Bwu8tjxamEd8zka6o5uqBIq8uT7OxQ9qIFSD5gX42PVh1xXDUdBPKY7zhL65l3uIIHrzv7Ua/hxB
Ok1BV0K39FVZiBuh+yzLWZbyfyMDpTr9nNXc61HY1cWxZr++Shf1TXvGMUvvInlHIdV7mQ05Sr9w
CxEGOjTCl+tTv3RgQMz+lkdbemCrPMfsBk/KxCiP5mA96Lo0n/Tabba6QBqqH/Xi+/XhLpyX36Cp
RQQUBfJ1mUl6BG3OfnEMSyqjUh3z2Ue3RvcJHtmLo9bu45CGzu76qBcmiTEvL4BFRYWy9PKr/sgG
Mle2hde5xXEYWuchUUvEr2K1uMc1WY9xa7Pn6kYecGHnsqz0ORcjTojhy5//MWIlB3pCZI7HQrbZ
doxrvbqrIWncgtZcOI4n4yx//sc4pTUgl66lxXHq6rAPVIzq933XAzDOWoof1z/jhc3KY5t1YzFg
fa9zxS5PSAhQEzg2hqw0Gl5ed9CAyf5arNiOVZYqee/TxjZ0iAJ14z6nyqh6++s/4uJaWviokn0s
IG/tdMZ1V2kJxV/WsggnSkvZvI/a0L0jIZn3c4vx3vXxLn5hsitQhox5lux0mlI1Q28UR5npFXIU
RDm/Qbf9bgZqc4tlfnFywFTptKk44K4zOd2q2tAKo5JAlHTBFJfzM6L86qFuYu0pm0R04zhenBwv
rMXQhhOy7sZrTjRmw8zkaEbVjyMyH40vuyEuNkoyesaNY3jp8EMGoDzochR53ZwunS11pxZNUh45
HaOfprnrz6GjftbcrvvEpT5vQ6Nx/nv/+qGyBiCXJhjFmyX2/3FCIlstMjueOCGm5n7wpAYLeUit
74WTD4frQ11aPUwZQXIjUr3Axk+H0kojrQYEeo9tmxbjY26kiXJfjp02fSBHHsPvaoe+77sN9H5L
zS4q3LSleTquQoBV1pSrsf88plJVX7CicY19q47ZT63S3RfIhR9KNXZutY0uXJnab0EEihDUVtbl
Xqc157w2mvyohk3yFZGJym87Xbobd0jowYWF5cV+PLl6eRcD/otv9N8ubiUbjgN0LWBZa/UDej1l
iPRDfkSDGMVGSFN+71Wh6yttrW27eNZSvLeM9+IOFllf0IV8ZAIBsWcV1qGdtLGMY4LBUOdYorhz
wB0p79JKt4IIqPRfTHNxZgShQrjjHXu6o7DENYpYRsWRTqv4pmRatakxOP80w2E5WC2WVEGmR/IG
OenS2rKH4TbymlxoYaejuooaIpdni+Oo0/EPp0LZkAZFb5ragLMYOmXbGWb7K2vj7Mv1E3RpWUmj
UfvllkafZ7WXAUraKJqZ4ljBGf3QFFobRKlVLSqVctrodS7RvJP1jZ71hXuN6LLYCTCqSZH3dL51
r1ZUcCPmS7J3R8t3eB6iCEWRCUvmTdJIe/CzouNai73Qel50wH5en/eFdIE9TMJAsctYOn6nv2DO
ek0NEX3CdGl20/ukz+OP9E/ccXd9nAvxnnGWdwpdC41HxOk4Otp1deWU2bGKHLcOOjF13aGe66zc
Ip9W3FIfvTgcWEbKyQvlY40opAajU46306NhuQt2BANY/dEOzRA8c16KGWud6/O7sHPZt/8/4CrY
zwOCTlNqZ8eOSLtpPHijfqd4zZuseQTWPboMxZgUP7NqmD9dH/pC8GdoOCa0URc/0dVRdepSzzKn
yo4wBl3Tt7vOzXbFrHevlTd4/2Rpbt3YNBcOCyOiuQJVllbmOgQPrj22ZmNmx7qqY+BzsYPLy1iK
HwmVif8Kpfd8Udr9LU2pS6flz2FX37jrq0LRIMoevaj+UcrSeUD+Ost8JDerHzKsH1y3+2i1TXdf
qElZbf/iM1OOBogEOZlE6XQHN8WEu0rLCs+9jI6jkz9UeTT9aFVz2putM7y71EUgpPiEbRHuG2ee
VPo0ICcyZOJod+3Ppi4nUpRIOyq9Zt1iKV3cuzT5iEHYJ55hG7SuCwtPjcXRE+p9WMn83qhDcDCN
EnX7pEUoF9GL0L2X0fsN1dDPopP5v6FXS+pVbpYMTSWOWp3iy+lUnrP1FNN6a0kDb3zRS7uWexK2
CjAOIt7qCsXQjt5/ZqbHMu/6Jkhnve3v9Ur0za5WHG+TKXoV+n2lWfPd9a1zKRpR6KKNh2gI+rCr
rVN0kdcK1Ay5TJ3pYbTws3VxFvxldk333hbNIkhGDki6wN4BVXG6S8NYDzstVtIjHmb1AanM5tCX
WEeLZuyf/2JWtFGZElA4brDToZRyWpBlcXZM7DzdI3md+Oh2mk+Jw0XyF0PZsIsQzqOIvyYPOzMb
F74vAWeuQFT12WTu7NjseghnTnmLx3rpPKD1+r/RVhtlkSlS3VTLjnqM+v4CO7LsD1o4mEEiMs+v
nDEPfQ2A2V5aTXEjBTrDKZPpcdopPUFXBLu3dlaYcW9So57R846E0HfiQTSbRtcH6cOmsRxM2kb9
kTKc9SVPGlsNZmwC70UGJtd//1eHvUjIw9qVN8wqN9CrbtLSKs2P+dAMCCVmzgON+XprW5lyS5z7
0hHBEA8xFBRROCmrQGBnLXatmiK4UiJUUHJcMgIJgzuAG03r+frELn1jcDigwJcG/tLAON26wmqk
MhVleqRv2k4YhWnZsJ3Uudv2ou7MvQFKcwgabbanew3O5JNnx4rcgPqqPl//KReCEu9DAiDC5OAk
1yqn6N/EYyOa9JiUwnkskgFRdqD5vhX+CvNsWfNcv7W/LyQMNL8XGTuIZouS3uns6YTZ8yQBeFWY
Vv208PbRdk6dJ863Ia0rD8Mht8jef3vS5QMhA9ViyfBXSUqrl6quzmNydLsivQ/nsexongzjHdrd
6lPUq8ototmlWS5PUxC89mL+sYqElgjVeLTD9KggJOvjOu4eGiUVn/C+dgM7jYZbA15IpXmOspCk
CItE9GqKxtCWqtMzYKqldtC1+oh+qTZo6o1PeWnLoB1BIXNRSlbXdahGi+wx0lw+Za9kn/W0kYBq
S3OIHgZanNG+klCj/HDsnfG9I3NiaE0t+DXKRKAaTjdOArkNAg8eoQjo87DuqZvHQRkZUuAEluFC
YGHEVQfwLJx/3nlMln3DtcYTDe0vaEKnI0cDYF1ww90x0miPB46WgsFFrinGEz6xRyPQirndTT3W
O9cHPotLDLxUjQClcJlSXTkdOC1cNynHfDg6ZVt/QMn/Pura2fSnMh/eWxJbkkrQKUxU1Wg2rjbs
mEx12Hixc8zMZnrLO3N8TqIwDrCEct4b2ZehaAkTcQA4cEpOZ1XVg4VKXuocO7AXw7ZEyVTdQuUY
H3CUyTbXP+HZQVymRRWMrBncDbip08FkCgVmTk3xzcXmfhs10fyfOdjTW9yo5ddln93KZ88OyDI5
UO+ApKlKoYZ/OuAsDcgmbVZ8G9D23Zp1U8c+LN78QXhy/j4Yw3go0sz7i2nyjl9097nBz/AFYdja
xYjD/bfKq+1NUaiK6mNeCfLRs/M72aSt9lcjWo6+IGQQVFu9qSUnMaUZLr7lch78EZPwD7nTRR/i
KS12snRvuVmc5UV8V/Jm16EwRCq7zi0nw5YDckj5txFD0e3UJcq2Va3xK92WblfHUVz5eTamPBy8
8JYauMma/QHK4cLgFb+IwkOb4guvn5x5kca6y8SQqKv9uZiDtru7vk1/X/p/DsGH1JceA9ciskQk
PafbBgai0tmNof3QxgpyRy3bb5T6viOuqOJwbsTf5Ii1y6JD+JW6Q/OYds1n4FDty/XfoS/n/PR3
APcDeM1bHoAj8fb0dxRlC1JEnavvli5sRfqGIsb+ITJwnH/oOq8E3VFiSphsLVpJGC1maWQ0PiSv
dPg4C3M276LOLbtfbdvq8yZvPffVCe36pwM5ajHIHDExPChJCZABbKvXP9WD3fwLVtd665RWbdCD
zvsnQ9pd8uvG1Ja4cjo1hBtAxix0HkLdOu60dotwL9rb38cBuPMTSIf2ezol1uiT9oKtn5Dn2GZt
6lp3iVGZxrayR1UY2yIpxPwwqVLTPjmJEgt/jp0h3kwF5hZYRSez3CtTmYVPGpDq8gCvEfImRK00
PMhcz7XPWcYfOnaPhvn1Oa2iG3c9wAkOPIJsXP6wZ09XawbQFzpONf0Aalw+6x3sY9/TYL21uhft
7KK/UTKEMbn+iPAXAU4A9aNASvK4jqfJUCgCK9/vlkiktVeaiYeYDzC+su/nHHLatupNLwocYDHa
hxr7kY1nF960tcJSW2zyHDPf1WnkfldjGDkbLEPyFAGuqceDJrFlvEuVuC6e8yZTMx93wOij1WEe
+Wi5LRY+iMoOxR6Ba5g2jRmG0UMdSnOuPs5jK6v2Q5tP+d406LE8z6mHbXtWdjka8jJVZO7XZj32
e7ox9b2aFnnj12LUkk+zFg0fCrvWXRyQu/Sn3cQJ1upmPb+YheOom0bpOZPCEdUO84+xv2tzBGP2
ZdrrTTCKqESvXlRpuuukN3b3ozvXVOAGYwrtp7LPxa+MsljvO3pYV1vHUIrkx2ROies3mXDSQOSZ
hVg1oiFmuoPpGCZf4IGIb97EJ3soaJTD/LJykX7AIrLUO4oFJq15v7UqS3kwqtD57pAewUivPPGx
qucOsY0wTO29lUdptG28SZiH0U00uWl1cJPbua8HuXXZ2BgcitF7LkSjY10xWI23B6mHEMNk4XUf
jFFj1JtMGlO7wxS0Sw61Qp0mjdNZeW64zMK7ctST3Ad+NcYvXjVId1toduxukHu0m8dCVaXAdsbO
vX4baRnkdbC4o/PQm6Xm0DxowiKoqjDFX3Qa3VeDMqn94Ey6V73wejK7J6u0CpwVtTm71zvTKL7I
mDP7iIDV+KRaddfBF4oTz8+ruY4OVa+PHhdgXVlb0yi1fK90npN+UDM9s59kgmg5Trn1PN81iZui
Fu7GoNjzuSjv4BMqD0lHQy7AW2Iovkcyjrpg5Jr/6dqNMwWVXcpPhM/lq0HTGrdmqcfTg9HWQjw5
5TD/E81t3B1ChGJk5qeloWEkJdQ6dHRf9sngBtxZ9oQtVzjmT9g6KJrwjYzgKjdKHsfRB2xB1fBF
S12tO1RItGkfTLVWikOYl/VYBkZXFflLlOdKtBv7aox/aL1dFR8b1RFtiaeRCPXtEOqyk76TY3Tz
GipxB+9u0Bqn1IN8SHLriwr00H7ISyBWB6cqo5KmEa+HgKPXtS+qq+hFtNNnw5BRMCSK0/tDbpvh
/TDYcFAhGkVZjT18L9wUqnrlJt5bHepZvNHtKaSy3lQ0O6c4Ur/GUa0+zzQHI/iIoAQPCaFZ2y0K
FaiWe/WDqaHbhThFNvVbva9V42WOlWn4gaC3ARylV7v06yB768lUjBjSdsfd5BOhdJrgqDnX91U4
eGMQWXqL5rSH1Jk/6GWuPqdVnv7bAXW1nlSVd9FEZc9GER6eVlCmqbXHZCPWfLV27J/2XBhvVVqn
Gts71uqNPc0psjXSwBcNFawGnXPhxhHUsAi70gruW+Pz/+s7YeZyBHCEKHHQTHP3y9XiKQ+aTMk/
NQAXXRyFSne8K2i2TH7fROHoW05R5vcV/LZmp8ZtfJgNgV503bYTUhlTO7WVT/m1U7ckVWW+iYbB
/dgrM15hjWkX2sYMrTLeG2aqm9k2toSCWw2W09mhh7nUgEUQwrO+ofaS/wp7WMi+6EQTb+za682P
GPq23T2ys6H5iGR92ue7VJ1N+z6pw/gNKe+p2SC6ZcU7q9bNInCqyHqZdeQvNso8Ob3rW4PVl5GP
IREbUk+z8mNkZmF7FB7IpYA20WLOVKnL7ErZKxt6+7rckQXo81Z2hKjPZa/3d+pQIH1r1XBJcJ2L
8/kB49Sw+4iBu9yWAovvY03z6D+uNzP6GhXTtBu1plB/tY4d6QF+qEC9rDgSzd6Sc/FJ9XDiC0ob
5citMZqd3E20nPpA2pU57pCKskBwZ4Ut/QkZI+9O0CWJN0VoOm8FGI/pYWgXu3JXWGZ36Fpv+gQQ
ISn9YW7b4rHOwHxtpZ2M9qHQBvYzkhS67dNHLOtnE9dRuQfL1NvbUC3ApDfYdGqPfY+OkLZpBivS
fuK+JpInFZ9qp8AeKxX6Y7QUUkEDRHxPjzujC0JeM4gypIMskz1sU1NxNhBn5/zG03LVzqDxBwNs
MTFY2LFshVW+SfM87Lwpm3+kkdX02Pa14qWqtKj7GBoYZ/ku14jmc9vY465sW0P6edFhkHs9f1k9
cJdfQYWPvAUkIUoUa7af0aLkrca29iM0RJL4BP2j1now2gdb/Ht9qLNUiaF4u1MBh0HOi3rJ8f8A
REBeSOOolfoPomJxbKY2enDipP7eynnq91Jzbkrjr14sTA7RvsUXAE0T3vHrskGGRlZGYhv/xKsx
tnzFkcOT1ufaY6u4nGqJUr5TSoObv9XkjeU9/7CwxkEqL88K3OrXALvCGugM1Ur6s23lWAXZZCff
ckpSG3sU4tabYfl0J4m1C1D4d09u4dKiUHj6aZs6ci36U+mPKG6V5xROVPuBu6MsNxp8BhcHSQq5
+8LqLe9jnuMfv63UtkLjNZpJyjIjhVkAp6w6hIDyX0zQwD1l3tbr/8M4xS3NTa2JLnkdlFhVd/BM
cvWAC0fzT1XYSOnVMJDKhxmQY39HrlcYN7CuZxuH74cWOk8zDiOP3VXdqU9Hu5HpZP2Apc7zj9tc
iz5lelw/DEqPhxyVamyJrm/Ws+VjTLT7aKkuUqngbE+/aN0V7qRT8P2x3FqdDz9iSO7xUqgHv/Si
rru1W9ZPIz4OpZGl7g8L1kO+9HS8aEC+YY4T9ceYetO4k1Iruk+j0gzzg8VDZthatTbD6mH1rE2h
C/c76IxeD2jOwJaa8GAdhZ/C6BRf4srgrb6HSTrXT7osOiQdp8j2nmckuWXipwoZX+FLA72Vf5NJ
hhbpeQ87YfTLLlSTr5KbLNqG+DvkT54r8jzQgS5mW73TtW9qbA2ab5tVBXZS0kXjkSPT5r7M4zl+
MWtp1Z+iQi/RoZiNsSs3oLzVKEBaXVHcoDaQST3kJqBSjEtChFgmSJvK1kH0Oe2D1u41fN7o089p
MJqNg4AhwYIC+TbvrX4sN13ZFjTRwlT2zTM+wUPx5qEzV/xEGtlq3lm7IlYtREGed4uoIrWrVchC
BzpNhnqYvtEviLbJXCh+GCfukzMbP8tBKDf6XOsrwYb9tsizg5JAop2W1ukmaJHn04a4Vb8pJW+F
nT1l0W5SMv2Tiih9tFfdud/orjBSP4uNKvIbu8zeaXFDsZz4vIRoSiC029ae7EOkKpHwCv0bHoPw
8d0seymGMvap4JukHFDZbhQjzwovv0fkYIOeANp0Zq+bSa2zqrTRvzkmWUXSurwn4jrZDQjk+8pg
z/smKrWgSNpXJVHSB60zo8CthLa7fuTXYYbfwZf/P9LOsydypG3bv8iSc/jqzsDAMDOk+WIBAy7n
HH/9c5jVK9Fu1BbvrQ1aaXdVXeUKVzjDJNg50e3pOxyvfmKIhAMea08emgIHGebVRsdX8hbglXzZ
1E23VHE6OfNg6anx8EDJLDevxfGA5WA1ndGZ+tMQOtU/q47Na4e8x7yETmPJbtCEtrOua1S5dhmJ
CiluKZWbRm3zce114NO2YC28hYLGrHo6fX8bsRkFHgP1WnQPj3+UL9H1h+qmPwEDEis1TY2NnRWN
7I5t2v1NMrQItmOpefLD+dWfN+U+BqaDCd2GVxObstmNW0UD+DZuxichbO8ejEmZrEu9yvFUrjVn
IzKB6nzkheIpcrLyge5puIF4KyvffG2mBYD4xy0M0Bgix2wBdCfIQqPrjaemau2fYalaK88RyH/E
eWERdNpZ1OzOz/2LNZ8svMD6EgRBqZ1d/nQj8RdBofUpD4L3sNOzS1nPxmiVQLtaU66r72NKwN/D
DU3rjX0LjGKUhcjB5i9Oq1CSkJPGfGr7Tt7rskBEtBvH/hcFbt21EX9fIuN8cb1h3j0tKmIPwFpm
K+sQY8dtnhpPaYke9iYdyvHSNDtrdCNL8a7BZ9XRSguNtlvBB8pWcqkNC+31eUQ4TZqpUsCmMYCs
0uyMN1pRy3HFpGXUAHY14I8LYvRs1ZNkreUI6mESaOl66I104bSf1O2mocGNgtACv4pu6XT9fAp/
G40CG2pF9lPQe1H3I0zZEb9ErBugQTC9Rvgt7aPyGqq3thrMxtY2LRl8two7RVxnRq+KQxJ20r41
vWZ8L3ljm8CV6ToE2BpbSv/a613dhG5aC+XXCL3CXuWQua6gBlX55vyGPb0qqUDSqkIFi+4RAPXj
uaC83UhWFrOMOU94aCDZ7Ipej0FLOFF0rYAoWgiQTvcOIwJuo4+EbB9KcscjmvieKzU16qe2g3Q0
6lL92Ev1sEW/L7lwYlXZV5o87HKetl3MQ7pwKUxb83OADcqN3ifShARp03mZDS9n4O/Jjc0npxXN
TrWxlvWF02990Y8Lz9AX7yGDcSSR5QYoScPjeKqCaurg9bn5ZHZlHKDK2vSH2lGQRswKU6/XLfK/
VLEa5QcKOamzrzluG5W+FrC7IM/8b19O/ByeKSDsSJ/RTT/+OVHt6W2My+tTMajtrTC9YiPyId5a
IlfcEWbpblKFWwgKvljvjwWHpIQyImqxx4P2tgT7Mq/NJ0JEa2dmcvcSWhagEITI9O81XrkIp4+L
hgcFfCxI58kTJWINcbrIfFIyNbzvhhBEiDqEhyrL0oVve3r9TGMhrDG9+ODHZxd94QDLkvjyT7iP
1y42RSATfBWT9yg7BDg6rrBiT7aq4QcL+/frgRFLxkkQXtt8jkKjJqS3hvkkdZWz7oM23VtOYrlp
6qBm1mSbtiufPUNJFu7buZIIi4uoDoOSgBNTnqi2Gm0TGLoo4r96j1LJH/DFDiJTtq/Q+sU5zM0M
uj3bIdE6fVskemGt2VuRsg5pNiaXulBqNnyXU0WuWi3caFLdagtXyxcHjp4iEf6EoYXQPO/8BVmd
RVnSa39FXv9FqS3aGm0oVhrytuvIN5DboNy/0lHMwlivj1dV7zu7kNLd+vyterrpdTrCH8r/CB7g
SXK86etArhohWvtJhbcA8Kjtf1ZFKz0PnSEtVZ9OQw4QkKhFkFlPGtBzSB0A8zwxycCeIjoQl56i
lQdPGCGge1m6H1G+dKu+XDrV06k9vkXpE3HSqP3QmycIOJ5gOPpWPJpt8LdUNZoXNOGfGg8hTJIq
vVnnZdP/O7+iXw3oQBnj3ZjKTnPdf8oSnfB1OfzbVsbwAIC3wqldlXcQGobHppZfzg/3ERzPJ0h8
ATVlsuKjZX08Qbi3Vt5Ylv+3COzc/J0lkZqvqKdV8mUs5MCVckqjCGz9q3rhXZZaIugTWbWyy4l5
N5h+RSApu6CJt0ZXh+1jDtV1YUm++PAImSEjP2mnI2Iz22SDgxlC4FX2k1fq+TozCLzCvo6phkXd
q540tluKkAfm/Mp8sbVtzNvRlyC3QhhhSoU+BT9SFSMxOJiMisYLcKVIvRqd3niU0RZdMrY7vevY
W8R2kEhwC4BwMBsrNsJYoJv2V7aCcFVUWbtLyip2U8L3S1PIza9BafIVdmjfZDlw2TEaRAo4UfjD
n9AO8lp4VdeI+C+SYpbmglJKV12VCtmNEl0s3BZfbDZGA00HNBOKMmLCs3mmoYWDRxX9zeD/qKu0
Lvp8letpUvyUQiutN3qdGQPOeqh9beKoQysfqnZ/k9OD9VxD9eR3uSlt63LI22LYiNixwz9RXbFP
v/nxyaXAVluYUlBoPqnfBVhiW7VXi5cATb9klTVlvCZKHryN7dVL+ImTrz9FKkgqk8KSwQLmOF6V
MUpKowsd8ZKoXnTVmlG8s3GH2Eksj9tmknZXmsGVVrXlwhN7ctdMZSJ2APEp8lQwMo4HFmlPpYzC
3nPI+/BMiW68bNu8v83jon+GGmItHKmvxwPERRxOdeqkWJRaWqb3kfrsVUm6x4tSemj7NN6kCOYV
rq/I8UJ16qsByWDwbqI5w1M5m6DlxehDe73+DBDDfh7b3vyZxnTH5CpI11qrp0sbfLoUjm5Trids
RTjDxGeA2eefUpFF2Riq9GonZWOuJ7lfMh5V0AL3nCC9RAgzbl9iZbAM6SAgPGe/QETX9e9UGwp/
G2hjW5T7BP/GauFbE4/Pf9vEAYYrwSOKCOdJXFPJfljWfdK+ggoQkrlWnUoQSYHlDfAh6REW9a5s
ajc7X7Lj8QZ7QEOmLViR3EmhIZzr3FeTNSI0eF/2ipF013XeIA2TWrpc7cvU6tJDL/kIDcUQrRFg
BBRl7Mcq0IN9OShyu+0mH83H2muAP1Ko1OKN3dTiVSNWEC6xM9F51ypB+iuKkwqgJgzQdAg3Zq6V
ReGmdI7v6N9Kw6MjautJM0iMfyh6oD8RL4fx66i3frMJnTQWKwAL8Yuoaytw89SyH6TcEdXO8Quf
kkHbD+i7qsigrutc439dGTLJCOp7dEG7Q+bj5ffLCsPmF1qVXr+XUi/5jREDugbShGNaD6FFG1CK
+vxyUGv1z+hUtfJ3SEandPEXScKblhbApYkmZOCOdBTjDQZlZnJX6b0sH2xMb+3OHStw0+vK1MIr
B8qrfaH7iCG7li+V9QY5cxw01CB36gOdElG8VQmVo1VVKCUdmVHNfoXwkXWa9EEUX9kDGkJ8Pse7
M6ymSreVgsGxa5iRjnxQh8t7kEEN2HmDL115SdI7q6CzsvKPWQxC7jaNXuRRujE9w7LEHpNIYW97
IO2PoxTK+iuysGG3DRKqvFunkLR3PfDGLIHIZKOevTY7IFHdwm1xci1O5awJ8E18C291XtZTHF8O
EpwaXrki6p2Iu2Yb6LW/nbJqtwR/t5aKoFjLQRctpAAnI1uQxADR0kel5MIzcHwvZibSAMnQ6v/M
Tk5KBCbgFa1B0Cm39JeyuxJ0zui7VD8zZ1cLH+WUhefnpHRA4IEoC0pT4AYnotzxDxiSPjCSJPXf
azT6/FvNru1HqVOwnIqT8gbOeRhejoVXbkIMEO94nYaFi+wk5AJnS+2AViSZF93mWUBCu01JSVyi
F8J7ZRfYyaQvnA6p5qJfci2lY27TTHeQZz//7s4vbKqJVDIJuAm5p6B7lm3GdlH3eSmbL4MEQKHA
nP6Qq3a+i1EfRSGxMJciL312KdLGRnUCmQY6r+Bv5/ZMTezjomn1zguKbdYIhghHLWl6oxdAcPNo
ckK901XlFTKmzNKZvUSyJOUjr6zzQqUoQKC+av8YmZ+8AboxvimMhvwTAgVTPEn0gvr5nOakDigs
B2rnvchZNu7DaqwvqqCQ0cVFnqVoy2zho53UwT8GBJYE+Y/DQhhzvF1jG1uVwMkcmtaIU1ut0954
NiTkVu7qA4b31KC9nJpBUub6QcPqVq1zaX9+55ykxB8/Ak4XcRQ7F2zA8Y8oWyWnsR07L0nRqOXa
M0fbDYjw7kTdDhfdYOsbYYbRa9f73psqxu4mNlI5cY1Etrfnf8v8/vjvp1Cqpj9EzXhOko7TRu7H
unVecgTgzYPTTr5IbTPaADY6VGzWmlKMtB+z8FZpBv/2/OinW5rPj47K/xt9thAIcelGg9znS9Gl
CE1X9uCvNIGU3MJnPz2rjGMTVkFBpwYxJ1sNmtp3Tl2x4LEa/dYdODnmWBs7nsbu0gyccaHN89V4
YFfgP6uEqmQQxx8YsyUTf9vBfuk7Q0PNtbfXzoBRWis5+t+6KIOF+X11ZCFvEBlzaIHHT+v8KQFs
JyRvn/jOS+yXxk+1L/2nVNj9YdRDRPTPf7Ov5kYnnVLDRDYiejweKyqJCEs1YCwBCWaXNWZ8mWmB
PbpSLDnpLsXD8e78kF9sE7ACCtkNZRvEjGbLqWMUY0th5r1IHgL/q4rulb/FU6tbkgD+4jQw0PTR
6FTSqJ0lfXlCIUPPR++lkvNslaWeAyoilzZm0Hh7tRwQP8+88k8YltXu/BS/+IJTlgF9H6oBdenZ
F1RrBDj1onReFK0Tzm6UxzBy4SWMG7kHfrcQNczfTE49cpQk8Igoovg1Z7WbgVrjUeBLL7Eu6dVU
kB1it1JN8erlUkwUUWPWojne4/lJfrF1uOQRgKAyxi49qTsL3aTCbLC8XukjNJG1e1LF/iD1sB2M
qCm+v1Vp9E/EGFI4xpxil0/HgmZgGSvyIL1M+IgLCVbOus1gUW0kOwivdFZhqd3+1WfEPJC+Annq
xAI6HpG2U+h4SJi8+Ghu+mtYtd5KUk2MgFIRLhk2fnUsNINMiaP/0f86Hiw2OlHlovVeUj1vVBrJ
OvAypR/lhdvlq91C3EG+T/ee7TI78U5bFlqEx/yLlfjNYVS7YRPFUXBB39q7sooxPpQDVg3n98pX
gyJuPiV/8PAo/RxPrsdwxomqxn+VyBRwBi+7Teyl5l4Ipdg3eaNjmxB80yiQcAQbFoqZuALwSHCb
Hg/aea0ceLLpvzaBgB6bGEVLhwhS2tbusVRK1dLJXVjg+vr8ZE+/JONOERB1LWhAc2NaNA/L3hcW
ZyKqtdIt+BCEJJSM3s+Pc7o9uUDRaGI5wdvQpz2en9mEZlJljXjtO8u50oZkcMPOMn/pquRsvj/U
xKIA70FuwA8+HirxgyiUGxEwVJdcDZIa/hFJC7YZKYtvXyvgeSYxKFw7CGHmgbFfVKKC1sGsHC39
kUiVdOgHhaPQiitbVEtm26c7k+Em0Snu0EnMZrZJdC/H4iSAv1PJlbEOrL5+dCQtPiROGICZQ0+m
SrIlYfZ5msUi0kFBJ5zWBWW++RzBt5SpnmbBqyx3Hc48obfW9ERzgyHSrqkw1/AMe/UekEe/cSLZ
XLhJv9o4hBZTKWxib821+L2gGKxCk4JXqnPtgWcyXOlWGv+yxnbJefr0keAYUslGGp2zwG493jhG
ZrfGaBbJa9XHWrGRkyCLftpI5qt3VKjqWz+HdL0kPPXVoNTCOGgkk4Q2s2+a5FEEhD3LXpUOkq/s
Z84tdSHtauhTsUdko1+43b4YjzoBiTPWYaRy80AjdcyxBP6UvWqlZbhAmQO0RbuqXndDp7+HlIkX
XvzTDzi9gjSkKPRR1JzXMwEGhfjq9vGrPKjj1s58664NNAMafjuq394siHEgWUw3ApQu1eLjL0gY
kYmuy6NXyaNT8GeIStJ/D6NX6ZBBF/jzzYtmyuNgv0/CVrR/50uJyqSfd1pQv04yT39rtI9chQCV
x1datHQ9WUXGIjMDITGVOiiGHc8M9FhuymPQvGpyZoASQNZqw5sIwaOSgqUWxMk9QxJObXbKjZgZ
eeLxYK0OZ7nw1P7V6avqSvMCc4UApXHTt+GhdcJNoKbR4fxanrxDoOUAA4NPUzkGzhyRmeW2l8Z+
qL7KkUz4UuMBLW9UaoULed/pOk6kPkTX6NRTpdOm4/EpMHOitmrJ09TXmh4F7Fo8Ri5E77X1Kpad
pShwWqfPhe7pe01YO/in6C/TAz4eTKkMOC+NE/+LjUYD/Jgad/BCw9XYxxYA0ACTxsFzNn6kpv/O
L+dJtQGZUCQWJpVr9GdlYBDHQ2u9qSVN2ZbvlEzN5wChs0syq+FXEcI2iku/+5cjHvgn1JX+QtdD
+15Nhm5hrT8Unz/Pn3vb0tAqpZBOXMNfxz8iSKXey0ajftM0sN2b0Qy90jWCxi+oiw0N8iaBjPYR
Yv/6naQnAlDcoCn7pDPKiJpxoj7XEej3QywrmbxdWKH5jpsoGjxnCNWSJSNgMftxWoCASB0b6hti
RdqvFmv1Zwmk1SMV7zJZxQp0tp7q0aYgE70swrTFF9CQlInTmE3BhN7el2PUP8DCaJYUGZRpZxyv
HJpBPLtg/tmpwIePV04p7bhulVF9k8va+RHQeXpUDCkuXLWytZsOjmDnOjWySm5HuR533MASYt2W
ebevdQGFVuiFMBa+5/zpmFaMRJhIgKxmYmsf/yirJU5sI1N5G4e4fzMKJXs3YqqqOl/tF2Jl5mbh
E02f4HgVOKDUqCe7brJvfR6JQyxKhNJbb2FWyrhRdGmNKqKV1G4hKv8mq/JUvrLEILt6HDb2OuOp
/uWleuvCD0z+pQPxzFaoOGCuz/+y05Wg9Dsl6yRAYLrneYkdZ+hKNIr3L2qMZykyPdr9adtdeRba
jUlYvp0fbn4fU+mltw43n61GQjKvVXpOU0GFUP03n0fAHWU8YiqpkC7LvKoPnZa2F3pni4XVn19e
H4Pi3UWFH9wuld/jrw1dTsAxY9BsBLJaa0Lf0fLCatTIlJ8Nuqe7Ho2ZQ+XD6D0/3S9WlzuaujaF
7gmsPPvs3SgKw8C/9A2dou4pr+1sLcJAu9SbPlr3ttifH+5kdWEQoTnKLc1rhwbJbKJESnIQhGH4
xsGpEldDWOu115qhQqIj6VzqWij0Gnq7lGfOnyKkQFjVqSACqOC0IKzgWtPgGhG9lTFHB8pNtvYd
TEFXssm7990dy2C0NmGWE4pN2tXHXzMvLbW10yZ6A1oRDG4Bp1XaxBrVD/D30gbhjjL/ZjDG/CZ+
1AQrNqY66+wOgyQZ0ihvkzfD99N96dn2JWxg7zAGQFjPf8IvlpKhAODy0CBiM+fcjZC680jOkzcR
q8EmcRRp2wtVTaElUiBYmNfJ9pzmhePIlGFijjHXIaEKGSoStmNvoBfFKoh6bd/QjNoNQyv9TPCc
+/8ZD6EakC/UQOy5Y45cg2oKlSB7C0LDRxEiz4r6IKu9cemXKR7wea5rC9DJk7M/TZHTMF034EPn
ny4S9OSlyEpwUg77Wy8sMHDOQtMtmwjAjVyp9VWhG9E2ICxcCpq++JY8L+ggsXemxG/6958itMEg
YfCher6Jpsf8EgxLtq+KLgzodCfmz/Mb54tvyWCkJdzjxPJzqkaaalhia1X2NuIhvcl0s9kAKex3
LaqMqw7q3cJd8+V4vJy0Tics2XxhE1VtRJ702VtThuaegkSEW2CZ/OThSvcVz/xCO+B0MVFXwvGW
P0nlEDg/XsyiTyy/S5TobbQ6+VfhN8WaAvPwk0L+Enb8NOQkiILbROL8oXsmz+5RJQffSbAUv/l2
kWPCM6oxmgu2+eBUanhrDyOcsVAuQE612o0J53BbtWOx0EI8XWB+BA0CXg90SKhsHU+YquQgh0PG
4bTGcGdEWYjcRKr9s/o82ldO9l20DiPh0TUhxNDsQE9qdq+ia9zmtTSmb9WgP1dNUe99jYcLm9l1
QKq0Pb9dTz8n0DA6sZQlNUBXc9kqKEJNpHlS86ZFuncdyCPCNaGDubvWvn1/JJCEhB0092lvz2K9
wMEms5bK9s3r1PxqVB2x6Vo/2CaiKHfnh5q9v8C6kLSc7OPBcSIDNrfjGcYKqQ4pUd/9NNPhC1fq
hqqaf5/7lXlIbMNfe0KulkgrX446Qcq45zQC7GkjfbpmOoCaXS1q5R3Cg65vahyw72u9bnYgdLRX
DWfchwaRFeV7l/k0WYohtHhI5nn+5/knnVkQ0Uqtvg/qoODClXraLx9N7luRVJ7ihlHZLrz80zP7
KYj+b0RE+mg9T3fAvBxq9vjHqH6qvYueLpKPjfu9GlrSQpVndu7+G2WaFTEGlN45PC+pKUymqaK9
1+B4DgiuAJPsJKifWZTiMjmo+IZ+D7fGkB/VeZ4oUkzi7dndZvdN70iJrr0XWd71m+nvya4YAigc
QQNIaiTgOL9TZ8fvvxG5veEuUCUktz3eM3mRohKoxvo7EMRgUzmheQgEaqVSq0ub80OdrifJFn0A
2mT8QVvueKimc4LJmUv4eGoP5QBCbAzWRpV5iIjLCdQJrXn59ogoq5EQazrQDf46HlHx7awzQM74
rh5WzkVjO7chWa+zDksdom+FgdvCzjw9gkiOsY488zz4cBiORxw8DEgjHekOt1HQVfvRQERBCEQa
3qu4tzf4nfnPGmi49Pn8TKeH6PhEMN6kOkgOCzV7DiR2IkOYTlwirArqU/7h9404oBJmu1qR+w9+
Eik/0brB8cSq9EtzkK1m4RI43UfoVsJ14qVEaIIlOJ54rTqtWctZ6LuRoQM+wdLxhlWGwq1nSwyR
k+M/6aACc5nGouw1N/vM06yTpMpqffot6KeA2EbFp80TP//u12QgSDbsH2hUnMfpa3+6UK2u6Iey
lXt2rJeM0cZBd19dxzUiXrcpV6Lpgqir/YtGRYFj4fb5AOEefVIGJ46bKof0Kbjnjgf3ClN0+aix
lTzoS8N2pIqoXoo4938GiYYQWWxbtQw2HLDhepAK2blQPKTJYCGN2aoIfQzeizQbaleNuoQssFeI
VUIXYYRA/5kl6KqtkFqodRekrIk5LiofwbMRNpl0a5a5SC+MUGpliPaY5bmaKQ/ExUqPWFLuenBD
g36la779glJR+igSgRqjOVql1my8sbS1bE0RaIQvVKLW8Xh+t5+cMh6byRuJaJqyMTLLx0tDRbnQ
4l5TfNd0kuqQVl7yQ9OLZCVEnv4lEewfK9sul5gBsxSCrhEqGdxhnHDSa9KI42FbA6EZvUpU3xVQ
iKpDV2RDuepalPgu47y14gu4Ut0lim55silogizlESc3KBSYSXF46szBTZ0jb0xoXtB7Ok2gRKU6
gwvwtaaODZZfXmVO2ryYum8s3Nonk2ZMpC3R7CBymsq+x5MGKY6QTouekqsb2b8MK7ebFH1yGred
c6H2vb4zQPdvzX40F07AF7Ml6sasmqd3omPM7lLSo8hwIrQU3aEM9lbtF9HeV9XR/1UHWqVfZUTB
yUKsfbKz6JFTjJoEQCFaQTo5nq3i603YUCgMQeDqulujRFivlNJQEjfp/Hwl5ZLzowTA4i1cNR/1
taPjTkYDBnJi9oEkgfJ7PDJiSZmTaBoUk1pu6/SiJ52sylXeaEr8UMP1B2GsN0q9t3EEDOqVZQPf
uerNIG1+WGnHE74lo0bjokT38aZpRkm4SqkCQ0+kpMnXtlPrO0GwCo8vr9CPJshG8M2Fyutb/0QU
m81aJzyWD5ZGsorYEj0779KpOc2qK6WWEuCXJVXjRk8SObg2I4osa/Spy3wdA3L8pqQ30R13Hi7w
ZD3oXFLIP16PiPhZJu9RHzqnWRvqnRMLNxl+f+8imQ8yW/So6WptVIT6oP1GLkNy+8ENbpyFPTXf
x/NBZklkLXD/NiRffSB1czVl5UsXZXCwl/R/51t3Now2u51MC0p2Ln3Mxd9bv+Tfw2FpJvMoYz7E
LIPKfMMgieCbIDQgrpTalYa1+er/qe/UX+c/zPzWmY80u3UKKOSWXDKSchNdoMJlbIwf4gI7lvPD
LK3Z7CFRwfpn8O7UB+9Hug7X8m+c6n/+b0PMbrGg02tP8gL1gYt6pa89V2yk7fkhPiRlP98d89Wa
BV8BFkRaXjCN4rm4LnbbANaB29y14PT/BZIbPDoHfy0dkIozliqic62A+TmdZ39JIBVR3TG/0N+V
+r7yVkPyU65qt5SMC0V10YO5NuyNrx0UTXIlowCQc5Dky7Ha8pvXHZod5h/E2SoIxueXZR6Szldl
doPIgPfDuGcPCesl6W6r9KkpF+6PLw8Ez8VUf6Z3MidtqoLIDw0O9k/k/kkulL/OX3/tb7P9+Zl8
uU0/DTM7DdkQBo6IGCZ7j/bZ6/AoHYbd/zbE7CRIZl5rCe3Kh2bjb6ZtOrjfjaY/vsenWcxOQq1B
Jx/jaYiL/Mq/UA/FIVo6CdMNdHISPo0xOwml0HOr1BlDuUkdt70Ck4XrWvmSl26jraJ/8sv/tmyz
eKHyHVmqE3Z/9j5eSvfaRbpb+vhzXvp/J+zTnGb72IoUkUuISj94f/MrdZf9NX92vNsXbbmt78Wd
Prr1o1gwZ1nacbOHsY6yvhQBYw7DSnowi7WUr5w/5t3/tnqzlzHN/RiFR1av2/T7/zaddjg/xJeP
L0VT4mXEuzimx2EEDjsjIL1IfbDKi0z6beu/jW50te7pfxtmtrflzPficGSYXGwcYxdGF3m+CvSF
Q/rRjv68vUnxoRuR+ph4C4AFmj3AtQXvvIzl8cmpbJG6StA3tx7wxhaaOMT0bZZmKBOihBXsJcw6
0nWEVuN7EJU6YQdWCAtVh/niAsgAdzWBWIG60Dqe3UtD15daWHvKkx3F2L/JfXpTEiETrhWaSxra
L0RS0yoeT38Sw6HDjRgQRdU5OwmlNX5O5Ii/vpE4uuuFQYyrs2cthYXzl4Pon6SHPADcKsCZuVx9
03vIcuuq99RWql2IFVi3Rr4gMR5tZUWzqvqmYxeAGmByxLgg5Seu+8cj+6nQEANXDfwyzv9qRWKs
OHepvLIl3KwsY8QCOKzzJdHA+QEnb+bJmurEiF5ouMscn4uaOhXYKy14rlQpuBxFFNyYeBr+QNDY
vhmzMbuKAewvFBtPvt/kD6bYLCrCNLRWZocx0WK5lxBeRsFTBYVC1WGHMYC6On8WT74eqvhTpx0g
NzU40F7HU5NyG8H1REmfS6lw8hUS3NlvZ7JU3gExSRZenNMpwYSZPDbBH5KmzkVJ7Zx6IMY3yXNu
ps1ViW3jbVoYSws3fY2jjQ8AfoKRKQgKQWmYQ40lD6kiPTLNu0Bk7TaXTONHawXKPvST+85uzb2E
bUXuSpLSrsam7RYy8XkfDGAIjUSbvBQODodv7oBtyHFUSMK37wrBswDVtbfLZ6uXAY6nmWhQtrXL
IABrPcLi/YMiZao6run7kfQWxfxnC4v+AbCcrQd1fzT4gJjyD3OIN8+hhzC77t/XEtrHSIFElZXu
jKZu/dsE6Q7rsqxTXVnTgS6rlY8QsuPKOrvvd4naQv6Gh28zeKsK9byodk0I2WbhOnFlVheJWhn5
mnS3bpPV4FPc2g96FerftDZiSemLwHUEEcX+YU2Pd2kRO9gadJF+N7SmdA1KGFHhlu7sQ2knSrtF
BCcDBHX+ZJwcepumHqUpjiBNIoBPx2OWbGBhm4l9lyssGkVPz0UKw7pAY147eOCEf+iZVSy8wKd7
lzMPrIjZksmDxz8e1FO7Nh7zyrsTlaDxVYZ6FeOkWWlwxJvatnZxpynDIUhaOYUZoKbeWu3gMC/c
CvOM8sNxGG4vYBBOJDjJ45/RTmmYDsX6zhz9arxGUcUv1ziQm9pBgDor1mNJPW9DhSYnEQwTz1gI
dk6upUlVZOqwUE2DhDEvLclhrhuBrGb3YzQEHU2BsO+3RuENwk0b01+6mE6GY63B27G5QAABeJ1d
8LZfWrhtWNF9PMYxNZ8qhQEvhdDK3Yh1/3N+Z52s7kRo4cVEsom3GXjo8ep2ESQyQzTSHXZTw23c
aM0qj7V0l0d+59ojtaUhDvs1BTt7YU+f3k0fBUK8c6Y/gPLNNjVVKgN9mLi810QpXZeJ41zpbehc
Z0NjrJi0fqlFiXqreLq41hXxrip1shCXnZwrXrSJLzgRBvmHOWPQMZJIl/yCaJzHJpx0+aJNrnbR
v64z0gu98J8CdMs231tytL1p04OBIg6CrzHH7Bh6N0UUjXFf5ln6s6ILetslnd7eIh0+vneqVZvr
xBiL8NoTo7fU75l/cMrP9LfZWPBreG7N2XFCGb2IWrvr783Msq+8mDLkS5WrTrwKtLCkawCaJ9kN
et3tsgFR3O9+9Y/yN88hTQD+foJy8Vqf0qcZDPcdyZGyEqFqX6SR3UQXWosJjZuBXb9OKzX/HRaV
eZG2Q/CiZV5vLNxu8xB4+h1A8yFXTEhGStXHG18ylM4ZmkK+L6raG1yChLzcdWodlwjh+T7IoibJ
FxAwp2MCPEYmgGH/a7gdj9n0CS4PSPXfO1ijrGu9dW7GwkF6JJLWoHyWBJ/nuxtcGKaK6JqQdMiI
zs1uksioR7Wq8vI+HBEMEW3d/UDcY9xKjuOrbsFGR+M3qf6d397zwEqDhcALhbwqu4u3fnas/cjQ
chDzxr3WYCs9yVyGD4Y+aEtv4lfjcHhQDWQw+kmzjZw0nR2U6P5wT7ZScDF6UmytErUs9YUtO7+Q
mRCITO5ikCETLWb6959i/KoeHGTaGuXej/rKjRQv23QId7tC9pYsDE8PJ0MR1UMIAOoK3PR4KKeB
OonJknKPwHl2pY2lddl0ukdrli0KGyFc1yIbX+IWiaPzX+10a8K4m3zoAMDwzeYoYqVyLDRLVfke
8zRrm8alJV8URBy2WxC+/tEabJS+PSLUf1rBbFECwjlkootSOapa2b+3RFRtPdOqt46SOhsbeRPX
glC5ANE4OQ0ATmFuocEI6gWbr9na+ind+yFtxvswU+NdOVBWSoH3rmTOyMFPZHOTZ83j+Tme7FEw
wxN+QZ+e80lr8/h7Km0EAb1Mx/soc6SbKNb0rVYN2cKD8uUoNmgsiOgQ5OaEYs/H1aDBMvDeUfp6
PRSxjuWQ6BcuTH46v/Zz8I7g1ISpw40Xj0RYK7Ms0GjTsUEqI7jzpFJC0K8cMCw1tayIXnqzCCrZ
FRHsCMMFiFY4oauFgUgfx7I1kkkRHgT1P3AW1bA3u9jGZqWOBS63YYrbzCoGdOW80Aqxhsh1EGPw
HjUn9NpiJQmzKx0XwHUj8UT3pjmutLHzkptKyxroxGlf1eaOxndDoSuEgaKsuqEURrT2MHYdeoR3
rTy59HMP3wCXzjyV311VsUnEKqxHzaTabmMZdMDZBSy/Czc7tgF/lElLP16L9bw19g0mwJh0DJla
KKYrQEhHFpVJlCfdtoOkceWEONRcw+HQym6NoFBfRBujqOzoEl0ykT0GoZplv9GHE0F4wOBNhw3d
mbKHq9KQ9oMv3FxRsfFxBVI2heSqah5jTqNoWUueI9Um/cDOKIoDlQ0lfBhDFU97V3goVqju2P0f
e2eyG0e25vdXuah9qGMeGl13ERGZSVKcRYmUNgGJok7M87xzadNL7wwY3nhlw+2dYdiA/TZ6Ef+C
0nUxg2qm5VUv+t4CCiqKeTJOnOEb/kMZmh2ZEvWKo0w2pvmibZBC2pHV2ckXcF4O5hO6QOnxIjCm
jrInloXxtsYYK7qHU5Xnmwi3GBJT/AvBmMiAzvuTgRsk2JJ8m/GXYmwTeVuh6jN4RjX35jsN8aTK
1YxEzbZjVMzypS30sD1VRWpEuNhoZZcIN9XCRSYubrETdS096dLzVglSAC9jh7fzERRqSzoSQmv7
ax0cTIZ2Mef9xhmd1LhMajxa3ssyhZbRU+IMGQ4P1pKu1SySvBDHiioVD6hml4tyrTpGmyDVBmNr
CBxedo6TS7I/qc3YvMFXsMl3E6FuuCupy0/HoVmmvV+OWhD7fR6KxrdsSejeEAzp8LoTWq3vsGlx
Bq+uNGyX9KAv6xOsJk37TWJLnX03BZNTz17cA3fZjFJaCC+qu9DYId6ShbATTLvfEo/BWTDsBpPd
dLbr3p347MjvFfApiedEOJYgMAPM2Zpc1RzspGaxY6G1QdCiwpwPp8N2upRCSZpP6EiJ9mLoOzV6
36uNbuyGADTJ27lPNdziRToOboYO3/xRxHjsbfBC6bKcoK5ZDNwovjXyDXQc4NOWqYWmvdGtEh1O
1El1bWuaWM6fAbTUF2Kr2SPc4orGaOQcTssEXdy1O2SkXC0NmvqGr2APxyNZa3oUV70jbzpdG7Pr
Aghq+VCR5icY7CBtcjnZSmXIXoQqFlA4dUDiS2X5YbpTzfpUeGViGVPuyalSN+jUExVnPq9Oi3CC
mzFPOS/10MJDOY2CPvhQ8ZUw5pGwVgsMP210RDiGKg/Gj3o/jgHUHE0g2pzlHARncRJk4hh6Z2Sb
XlG2cbu4SMm5cmNnITqZOogBwqAoF/FsuLBQO25WJReSctT3QNo/54AnovYoUWPmw1crMqLPcCXs
aJPDQHI+vXxfPLuFkdz4bvBJNka1dBXT8DAxFm+pdKOkTQ4GTAZS6KV1PZ6ZacSBI+dldOBaXEc3
UJWB1XJskwNCH12XM0D5AA+qpex9HFpV6wdCdeptJ0XaeI+cimF9efkJ1xGOvsSFQLIIusFpACbc
vxHzGGMEp05qhhscx+uCsg4foC3k9uuk7jlz1CS2+pwXP7fNLlSNUXn/8jd49sAgnhbzcwegLcz1
NToFSH9ZcvCktyW2bbdOqIWfR9lurlS9ws7vl8d6VPZZ9BqB965vZq3ByHBqrfi2Q7X1qCiNUfWp
S7e9G2aVXR2I4Z7NLa4e5NKUvXW0sZCt2p9bVZ8knNu65FYZCtzSAL051/jTtpdDlGU7DAnV94S5
ieqXVlrcvvykzzocIMEpJKDdALQfRYB1PhXphoR5ctbeoicf3JRmTPli24ixLPFPlnK926QCa3sP
D031vqgnMUJvgn/QWZ4666Ny1VuBNB6oWz82Fp6GLCgnkhowHRBkWG7rKWmyCIakqOV3aM71WrQL
UZBCNz63iUwuObPGMd22gJ91CjrxbFFLjMPavhO5lQHFa/q0KZADl3G+8Zwqt8URBcHcFD4WbJwx
WjkcVMB8tjzJianqI821qLsCVtt/iY5UTEILcvVuRBDQ3GVWlahHQ+kQCREhhYcyjmdVmEVpnsiR
qBgo/8Jx2R8vqliJ0WTId1k869o55Xd19ANba8ptNFYZ+KlBcDzsVFVqY8W1OILEpSiNQdvWhoX7
5Mvr6NkaBvJLsAx4EuHo5Svtf52xklXR6lZ01zSBtVHSZAQyh7quESuNr85hvw1mo/JGKckP9Kie
T/yiBcI/yAEBHDVW0S0vX4pKboU70jLiTW0OkU8uA0dH0hX+dvaLtQD0mwmjF/6EufCL1sl51g7N
nBH63lmzlRzDJ4uOzcaRrqOwjY/NTk1/Ec7CeAh/KRz3j84ja7OpXFLqNkjH5k5piwCrI7PP3rVR
FtR+WxVq7TazAetOywL9QA/i+bySAi3698v+Axy/qkIMtHGXo368MyKMZ06q2JHyszDK59i3cuS6
D8zrTxb0cqUhgA/LHdXxtYhFToMsG/qhvpMgPsk3UdwQtzeVneN4Mgk9PqFCgKxegf1G5oMCbkc/
RCUy8uwiSg4VKdYXOqnfItbMV0E8GeTzMjlPagdZktlh0g/h3QJP9SfDDI4b7by2NE9Q0zp6ee88
n2myC2iAVI6JWxhxf7AxUFH4bibnzkYy4S0UBOUyLk10tmXUL69fHuuxc7R3si4C68SusA9QQATX
uz9YYOatY3a1dJe1uSCvQh/XaiIP+VmHTmhRptl0VRDbZ6dIWskS7q+ID7wrK9p5p6UmCdHS/FlM
LrCBqYfgrRxX42I7jWGsfVS3faOcJVMZpicZ0DWE1DEJM96Goz28eflBnk0akH8CAqqhSIPQpV7e
4JM31AocZa1cVm5p5FjhCWujem+TFIZoFCSm5P/qaEhZoDuKVPVjL2M1a1pWy+jkZuatLiXGLYa2
wMpMydhUZWkf2AjLvtp7QYtqBrpmsGwWxcx1L3xCww1LWtNYMKjKko0JP6rm5ihDJt2nlaK7Ma/1
mGs33ohZL341rlwElRchdrwgwAGvO5+dAWooiSr7NiAfiegYOXmyTQVeKq+FkB3pQOzzbKNBr1tk
kmExLeOuqQUd2qeUfGR0nI2u9fR+1ry4E+KEKWiAdOfxAZzNejxWDQBnetU04SnmrgFkSYSltTPI
6qdeNS9tuxcndWJ2N0OR3ZIRHXLkfjYarYmlYg9XGqkcsMb7i7RshjahpzDeQxyg9z7XMj64VuFE
O9Uqo3IzoU58qCK4rvYAVzGXKH0hxHCirvl9ad/WQ5fM8r3jBPklNIv8dRdb1YEN8ZMnozq9yJ8s
Nz4pz/6TYbca5bpdyPdSF/TvjN4YN1gZpH4xIdroqlL18GsbEF8mGaA2BXhq/sA3VuN1+IUTkgbJ
PVbmsls5Ybrp+ylz+7iaDwQUzx+NLgsvje1O+Zhwbv/RKEQxt3Xa3uejWe/kch52JCVnJQHkGYpK
/S/mGo/od/A8C89hYb2thiOIjavJnCfUNofFWcNut0IXqWcW5iGfqeWjnh4tBkE+9ellD3B0Iie6
/2RjvGAaLDR5Gqsr8GnP5uMIdYbTEJvkdy+/r2eTyIvCfgCtMS5RMsZVeIoKrTlps9HdT62T3tno
tNjCikp8H9vwqBbmgWttCS/3n2zZXlQ3qUdzka4XvSHP4BNgyNwLq7TujFg2qKGN8oCxdWeN+Qad
DSCvC/RI/OJ5SRMSWQLaYmy5xT9nFffrQylPs51n907BLecSxQXuTBbsjT2u0AfWyvNZ5Tyhl02n
mdOLxbn/Amuz6jGONSbOE9M5EkXSf7FgHtzaKd3zThSHzq9nYGPoL/RZF3UJEClgl1ZPR4krTCE5
SZ8QuLHHTyYQt/lYsuIoUDw7rYO88ax5Skp1M2OjMRyXY4TRRF5FRXg8BQaKhG4fsRjdsrPbzG/7
KM5bTMGGPG5fx9wLqqvIkSx1uA1pQaa4HUJClpfGyBxLOI/WHQ0UZGjK/ubX1ueCBUHbiBuAFjZM
ulXWIDdKlk0mwt9ToEzXBRXMo9SZqg1iTsl7Q5mGA29uvfVgEFGyeHTu4Rwjb9t/c3JXSoFa1doH
xIxiD1zI6OJzn+wSul+HkuflLHy6GRbBJq7uBWfGiQKZbX+sImIP6KTCn5B67M2HUnZiZMXEJDop
9Tt8doqtmCvKyGpscBt6fQQIcnSjaiGLek67WEV40NViLfYbMF06fix63bkcv/gVHJiYZwUIE9kS
oDEk+gsZF7jV/rfl5gz7NCjT+0532uFBrTCahaDaJwM+3dRypY0WNnLy0AsJz/mxRZn+SuBQnHvC
ziMoSjEdsOqQ5vLqQKEYs6jzwElic2MRtI4TOjKjWZLk9toqCERUrXe20D2os8m22CRIJe2assg2
Ly/KdQ70OCokVseCHYyn3LqIkIk6DszUaK8RBQObEw/hUZo71UmhUvyojaF/TQDRb3VObc+EpneB
DeohYPrqjFm+A2AlAk+gg+yQtSJdZ891EehOdV0OSRl7aJwptpd1k72z6sY+b0UUHuL5/WSyqeot
KgjAssi6VgsWHO9QjoVSXSfdpF3mw1juJNxo7kLhtL5tc+TMga7uXp7snw4KKpLOG4CGZ2qiUgRA
qM2G+jrDiuc4pFexk5UqOkNSLfAgM/auVMTDgTe8OgYeJxfJMINFRYULaNT+Yq8Mu6T60jbXUNrh
msU1h5wGhBku5a/qtH8fy6ScSPcIIeF1HJPGUk2XQ62vw0Iy8+OOAoKMt0ehB6/nuWnENodYRm9H
tWPlulZiffLDQK1jV7cltYXLpojq1y5LdD04/IgGFiwhCKk1rHGG6DbSFSmuhy7W4L3Z6VHryDRT
gjE5kFisDsHvQy3BACNSH1uLeCCr06qDnGP7kkbiTHKUftMV4aFge5WsPY4C/ZvDlvufAGB1jbRK
RK5Rlfn1WEzhWVc093MmjW/AuoUIMRn1RkPOAwevuDoCQvnh5RW8XkzLbFI31hcZCAiqayhsLAkr
7oUeXUuzE19xS0ueU8z9Cep4xYHN8pPZXNCESyBA5gQKaH/d0oAaU8nIimupR4VQNGN7gQNA8vHl
B/rJbC6oEGoTIF5xSlsFjWmWBBgGSeV1osDWwxWt9uIgMH3NCa1N3+nVUT/ptKmrxdccA/ZDYnHr
o29RQ4F9zoUE8ndJa/afMq2SQbO6gUNfrsMLOSjpUstaJKc+Gvzlh9wQwaG7etnwT+5qFtACDyXn
RgZuUdZaTqknZQxQHWUSVmp3jXcpYmyNIqu+ms/Y9ID7yYWf0js9z4O2u3eqNjsBxdLed06Y3SsI
+n1KeY4fjlx/dz/+PTprl98Hb/76D/z5vihh8oqwXf3xrxflQ/6mrR8e2rOP5T8sv/p//+r+L/71
LLqvi6b40q7/1t4v8fk/xvc/th/3/rDJkb2drrqHerp+aLq0fRyAb7r8zf/XH/7l4fFTbqby4fff
7vGPb5dPE1GR//bjR8eff/9tCbr+7unH//jZ+ceMX/v2x3/99vU/fPv639a/8vCxaX//TdFf0XBD
J4RqM5qfAKF/+8vwsPzEfmVhybqo0S/+hchuEyTnRd2Gv/+mvqKuR7sKOQFK00i0/fYXBKqXn0ja
K2QGdE4mciMVERcaeH/7anvv6M939pe8yy6LKG+b339bHQWsInKtZQ1ZxLRoJ612jo40QdXg2RnW
VXylF0Xjl5FZbsZG1X6pLMzmWOC04MRIIqmOcuztL9i2tKYgm2gpK2XkWfRv3REN3k0ZopL7ZPp/
POPTZ9o/c36MRKpNIMNEYWa2PxKtniobDc1VwwqEcqzDcByn0X95kP2JexwEGzHeGVVuRP3X1TZh
2HVVWw6KolZ1JJxCXDRTjWC6GhaHIJTfgTZ/bvblYAHCCf+DXGDp3a43e8BN3wkj2WgBiC63K9oq
OHOqLEqgZqR26QcG5nSumBuTpluvda+pFweNW0WzhpJ7YGa5h7VaSyMwF03l2oISoacN9QiqAj+C
+Y3TRbK2CQDt9V5c5Kp6LsImueBYU+tdK2vivlICR2wMoxthLxRWcesAUcs8gS2Zci5VKIFuVFGZ
X5Y6v+E2MqrnW6AsxpdojiTL4yP0GMBrxcBKJCmfddwP4C9qagHYGfSt4SUlyu8nQWyZpdctqJpz
OcnNt1AF+GxNnhOQEUrW925dt9a95eSc5b0aKDDsEgdtyAQo0fuxkfu7EIpq7IEmqkO3TvuYknOe
j63bWlp20odGNWwDS24ecuQ2gg1kg+lTHwTj7Thk2ZcsjYyzqkgGnDW1sLseR3uOt4lQxRLY6SF3
ZRMZd9iA6qU3o4GHA1NlvQ30LHkbtAb+phG20rardopo3czJ4u7OjuNUlX0lzNq7zB66i9kumGmg
OuUHuk/5tVoLADLYYcSnmaTYiTfo1hy5beO0d7WRJp/yJoo+sWu6j+HkGLEbz3hgeUGhlj03jdp8
tJRmTr1Z4c3IkgCOA7ImQw1am5KBD66G93BwFGOX2RPikjMh1Hukn7RzVWucq7oWfcxkai1fouqT
21G1YWNqGDvO5RAWUFXa5E3e1Wrl5dhOvlP6UZJcpZuqT5HjtLcjPn7vqkQKcPQxp+je0JLmTQN8
DVeNCRhqnQww9sfRTLGtnMV4ajvYZvlKj42cG5aj/IC+e3zfiyKNPXSqDGPJ4cWVKtSq8zs9bzAU
M+w+2QUgCk4oE2B05bSRdJqqKZoaSZSXijeigVD4A6ivq1Z2ug74Ta0FfldPquUqhaAEZ89zNl+N
8yAuc9gbH5LBCj8JbAisa4gx4q4zaQq4CHXk5E0VLAxvkrjYXUwfBoX/rhYzMJ3EFC7lUgSFx1gp
75uq0QJ3iKzuTimzonNVa9Duk6LNBw9xGFJfMxgrtECsAr0KOZaSc2mWex0YDkohbjrO2XWu2eFp
kMCI9WgX6+gP2FgwUrJPpg99HOm9m1akQO4I/iolo07ZZSkjphslqMvPCqmuQWXAiBeSgjTofth0
GKHF/fwWgK7t+Hh2hZ87PR1QBGlC632mVeaVWuND4RUpPYHlyySzmxP7X8ldYKivqcOAjmsTJSk3
cINY/3IJKc4HUQfqyNEz432DAPi93ZjZ5VR2cQFcrmTdOI2QRi+KZQsIkqNlqqeZAa6DczH2d3M2
0AMa2H/3IwvoWovVu8IJeFtJ2w1Y1Y/Tg91HrKSuwtPeC8K8SH0nCexNIoq88+1SzlMXcb1O8ius
I9/VHJkf6kDCsA+p66HyOXDq7Ngxg/xjlGGn58IdCVhRiFnFW1E0ApRfoOWRiwpNnOF8NYEhblJt
OiuyCqyGrEvDBb+XvdWkmL+gyDHgBc60MfOFCLUvkKfE3eiMGqXBwmwqzK8DRMfyFAtDcHVTeqXO
RppuVL0YrgUPkGz7RJ49/Ht736xxYwJcJipr25j6ELioX8XjVjMigxLYRMFs12M1MHp9rGqDa0a9
+ZqGxPBeyY0SVFwW8Z2oFw6pV5YkK9sgxSvAwH9FP1LlAvWjqJRtX09HUbgUNLOTNk3lwo0KBQmQ
CNUwd6zGBNVxjfPZQiGl16rjqbNrbdMrSJS4zTDKjqtMlXGJlV4RuUiLYILAal3Svs6J/DS008yP
k05DZU0MXQaM0Qnfo3kUTScjAe9DpEyGvhFG3F/qKWqsPhz/UvVsuR3fdOi0FTyCjkVsRldKP0py
OsauNtLigJeA/K+XKH1zD/6rCz3sdbXMx12aw7eRWuXIyUEtuTC+cBdcaOS3mESA4G8sq/fDSJIf
uqCodHdCppFKv2UeaYCMTZcgKEOueW41aHgqpHY9tx2vUszwtAc/Crwz0F9DRklv5ASbMqky6g+K
PaaNCw0NuOBQt+LMyOzmvNXkUts5YE36TWFHleYZYRhFflan0VvJKuVPQxGN17oyIOfN7S4luwIO
22WWB4g56ZNa32ONrNyKsJ8APAxSADWur+LYreK+TrzOtKpPMmfbJu1sLfc7NSg+5cAUrxCj1nw9
q5VLrgXrHLS/PHh4YGxVybLuBz5/cpUm7FXApm1XHyX2YF9MADpZ52KRHatiIy/Zf3lzg8lreE33
dpy2NX2Gz+g6qqaHliata7wEZq5di/PL1RVwkCDEDMsT1BCFNw0wH71abe3Ra5UQBgWL71PFbLQe
QotF6vaaNR9ZKsQPl+JU5OdOg4S/kkfFJuwa+cjIFXZkHzrVG9Fb1seoqhrLC+Z+OCt1sw6A+6mt
sdHaODvm7m12Gak0kMEonm9Zm8rHwql0yZ1HhQsk7qak3WlKz3KS8ywtXRsm7nvqyyLxpyniBIjq
vpncHHDHhaW3enZaTMbMnaJOse6VsMreGyy+ZIsiV3o1Ib3+JaS+ct5xUbCO2H0CQWYRfVAxBxiQ
StPwjlUgplkecI/8Ft5p9MGMm5CDvTekI70UBl6xWdD4Uo3oojfi3Q3FBHPKzh2ww30rhkZvPTm3
Ot1NYd9YblaPXbm1AOtmbhxPPNdANOmAjBP1KbC9vkAgSIvw9GxMWWFO25ZbedO3sxMq6JPL/RUm
ZEVypVR62r9ulKpKtONKGPqValXD4AJ8592REzcNgZxIJ48TvvrUL6BdaZYUKIa1wi09p33hJ30I
BoqGJ4DmvNcG8xhjXBVrVqtQtA06Iv1lLFS12HV2o0mvxwmokou/jtR6diXmwaVSWd+UEXGnG/Mr
dDiSsr1shywPN3Zm10clwKNkM2Zm07iTgdwfLRedN68ryfgplwbV9Cc6vCexVFWxO4RJFnnAiUPt
Apx5pXGRSOqV2qgYjhZ9PIFoGcF2XraqSUzUYJrauPKs2qd1KVv9Frx3bPqxAL1/HlplihLb2BDY
dSNi++dZZY4f6xhEsWtwL6Z+ImlW6Mex3X+uVR2JdTts6dLordZCBNEzkFGLJk3u4g5o43zr9Ljh
irntT3D6aT53MzQmvF0LbAUTwKVgTGudC0c0dQO82JF7FKoa02y8seUMlotJPh7SVKr9bLBSG+k3
o6yu5nFsmrO212Jn4+Dy62wTQ+6P0j4L0doKpbJP/LQHpucqtCM/WYPSWBt1rhMdVLSjNjMxUxNr
F1GbqtvOkdT5GNPUhI0RmtxAc4R6FaD7Uao3QDbabBshS4etN1Kv+lFgijYofYQzcqj7mpgzvyCm
MD8qIeG/GwQkIdzLsshN+GSWNqZuaNlcB71IHP2ssnWJ7xWk5R2NSszCJ7mJ5XfBUIzlRyTPneoy
0ZvKuixVoNBEFoI7mLjOTB4eE7VfKkv8s8WGvQLFi8WLf4FlCWpqT3LWpeyxqkv8d4oS377+47ev
//Hb1//17eu/+/b1vyz/5Y//8e3rv39arHj8oO/VCusVIIAFR0Wfl27CI/P4e7XC5CcKXS8UZOkG
k/BSkfpRrVBeEfZRsFhcvOn5QXj7s1whvwKZhbQn/wMasqCOdeNXChZrHBKlUjQJYFkvDkLUp9eJ
d6qr45RXnVtEuucMbXks53PDSaVrR8A267MkQCfBG9p4Ll0r7YJjCxlfZBHnUCP3k/rUzxAXfwsW
vyJmsoTitWKaP0xQJai82sWNzsI/5A30KFn8ZwaPMRCyALZCy4B/I5K25hQnOtzK2nrfG2WiukGv
KJdhJCa6JEkTXwktid3Q7vMrXQuUEBfWQFwgXl19wfpYO9OgEZ1o0AneSShtXaSjabWeqGzl9Qjw
n4hM6of3fVbmN7xoWd9k8jxtWjkyTykpKJKL+at0j7b/8CBHfXk95AudmcDtU6z3tC0EuMs+7HUU
1us8PgWuu02ResYVfa6lnDZtwkFiU1z4YhCEe2VUGKdA1g2vKxvp19pnVDqQ1mDdUZUGlvkcZYY6
qZ1ayzxZrQ+v9jzsqshL6kLfQJMlskEoz/3X86GdlrIl+P6XzwfOhP+9nAZ//KdvX/9p70BYfvP7
gWCYryAoIuG6gIOWPhvVtu8Hgs5PKC0sMi9ITrAV/zwQKFJCQ11kPykpKLgULEXPvxUwFZnf05em
ANBf0PdQD/+/C5g4M8KDW7aWiUCDjmzQqqyYTxQlAgd9hA5Tzy24qNoVwaD5+HIfsr5e1RW/DwUd
FHzUomfxKP/0pOSe65SH6AsixYAUgG9JmCICrD8khvZ8FE4LNoH8yF3kzNivXlZFNfVRlUqk/iQ9
Zt3om1wS9i/1ZZZpA/nNh1NLWE7ktehAJ/MMAVZMHvM0H2UBaodN20TbJwvqJ5XYlfzH4zBLGRbW
J9wWWKarh0ElHxGnNA8925o+V91pRTw05rqLdqcXq7CNZusEOWCX0/HUoH3fZbJviMIv5NqVq56K
waVaymfWHL55+Zst7ZE/z+Pli+EGt7j6gFN5hBvtz3IbwimyZVV4tEkChFmzN2gmtq5jh4PPSpr8
gILb95Nmrz/ytC690gf7Pig9etqXCD5AQl9e/ZMF1If50AZxQCqRx/bxWEjFcUtQjvCN1ewQpyn9
wayGjZ3EA1ZnvezVinmeh+a4I8cI4a/FlStguh2ol6urWvYyGahdLIoI9CjYr6u3VA/qhE10Hnlp
Lk2TXzjTVq8h2vkWGsOm2yk9xVChTMr1nI5vzFEtXHxUilsbjqdH/2I4tam17mYLxXDYaeIB8Wxh
+akmItXtykJ86GZDeo3O0Hzdq6BEfAlqHQzRiEC1kdTMq7WIrOflV/x8Iy0oQ8BqvGRg0ms8wsAt
OTSjTAXPmkdP06J0Vwl98F8eZTlfVgsJsp9KTVJeIH/POtOJNplGpIWeBJZskxbmCNY2M/2y0Cpv
4TZ5L4/3s3fFwly2L/8HVry/hnQd2xNrNNhRIfT3gajFlQEkkeYOhxQjfzaB9BlBoXLsc1gQbT5d
rnU6YWtTEY9Y5gwjUFboJcRqfmj17TdvH3fFYz/rUbQAwsCqXaN0ZRvGMjM4605+Hg0yKbrdkpJE
tr6jbSRvZSXStl1nJV5Kv+oiiBV1O5vAfIazPtjgxw1+LHnThvAZwqnNLkO6zl7USMZRpcYf4N1F
fiGkbqsrwbwBPt28NvJR3qQx3ZFeVKWnEmwd206QHjj/lu7ZanEgAMe1BAVt6eStNrzco87XhWPo
tamWeJFFc1qdk9S3nFT1OrDpvqR3ZwmwoAOr5CevziRUBxQqg8CDdLL/6ijrmg31RUpnkxYeORVK
etJSn315Lf7kEOXaxSOAsJ7cYK26PoxWWucqCsQ9kHTuq2nczbBrfYT7Tc8epnAbcKAdGPRnc4qZ
J46X7DZFfpRYfXKIlgaqy1yPRMmk4d4MNvVUcuzkTdqr1VEdKdFtp03p1rbyQxatP5nUx+CUZwbn
C69mf1IT9sg8TFHkTd3UeRIGg1Qcq+7AfvjJBie3MgAycEksGcP+KHarp2DeZA5jEDpeoqrjkVXJ
k18C2ziwPB+Do6frk/gNW54FPg9AmnbmeplMZOxKW+puUisfyij1sT3yTZS6dkONgZVZNG8EoKOt
ZJfR5VTneBkjHwhGXt3lkZ3uykrrjkcAHV5h5/Hxy6trPd3fvxyKW0tnHHDbsvqevGgn0CtbU/hy
c2eEVwONmzPILodcvh+NHp7PwZ/DrN5qsXAZ5lbW3Tx0po0ydWjU9KXhSfM0f0rkIDxujKA5lYt+
uqmgpSOzb2R+1IXdVTROhk8b6H6ErOBGka4d147SbaUpe8+VYW8sexBXOPHQgbPibKMNCSY2cZZt
MOZ8eHm2Hn349p9jSTHBpWIwD6h4bbrJwUyGCb/abfGNtJ2o+ky3zXnHxo1k7Jq7T22QR8Q7akIr
gD6U4Q2NgnshPbzeLZswxexOIhvW2byUExULuGKSQVGvCk15k9KBk92pMJTK6xAoH2m5DUPnKaSQ
whV9lOq+qjcBHRjRC6+ayWhffsCVoSfzxTWOETNQBSguJInLxnmyHqo5oDbWTAa9ONC/RVQM7x/7
X2MUOidEHYVPHtPTPZPrDanRcB0ZkRs5ubnBgtfDvPmQffmyO1YzDmYCoye68yrR0+p+bNRKOIk+
WcQ8xfguNbQvdAwkZGwpnNPgmA4cfCvA6+MEwK+h/AGxWANjudqtGZSQJmczu8OAxkWvnCLU0nn4
Ekpe12X1LiGgdOcmML3aRoyioFHras5hWZBnj82WeLSG4coHwbLal/SnqIgSE7mampWbQU7ETdst
4vss/dMuzGd/VGbjTIVK+1qa29QbnKr22qywN+WIu4UoY+VjqWYcH2WWnER11VJ/1p2bPukrvzX0
ByRzDlAz1ocqaeiisLNUX0BLobezv3YUo9DKOWgl16wnc4tKxH0qFNSQ6MwdeEs/HQmcBoktTiDU
vfZHaquqrPtqQEBbyr9kWVbtSoM2sBPKh6hl69uXZwKpS8WE6wKYy2NU/2Q/TKU+KUbtIEFRKcbR
h+PRMY1tkQ0D3UglP7D7nq11yvUOeHfUYIikob/uP5YyU4hxhoJIppnVnR724L1TfVeUG8xiDyVK
z58MyupSBCKvRydurT7qlNVog78QXmDOAYihvqg3ShFUi0R5fbVgyV8rqGwfiJlWIGr2FycMhQny
YegYxL2rRTLqs9y2Up54Y97gidLd9Nl4VtCmj2vndRwNJ4ml75AxOCWuO3DXPVs12HVQnFsQxRQ0
QGTtT286GR3sMsSJtLDXgPmUgRcjJUPkPRx6k88ml6FAE+Fqy5CUTtbMjKBsKxpzxBciV3HtdRI3
HEtrk1PN85MYPP9QVu32wOG9RC17ZyUaaGxBJhiwIuTn1dnVI65jBLSrvIikbFchj+DHyG6c0JcS
O1SfQdI4nhVr5UUJHfy0qoP2QhGdc1yL5O2B77I84bPvAtNt4Q0sxtirtWxHfTWPvEN6L6PkqxZq
Ma4DwMM1u6H00sAqdyUElIvSRFSEQFPOadHK3QFC4fP7bHG84jhC3pdCO29k/53LAzZYTZrRCCK6
vuQoKc9MtSy2NekWyFXxOTHqYBfWQwSIbVQuzKBsdu2gTD6VA+N+zLTd48T8a6fkN3Uh97+A4Pz6
b799/Tff/vinFYjz8dd+oDjVV5hhgyVcKA5Asha5i+9lUIWfcN0RmiAlQGjCfvvRFtGVV5hCUf2E
623SBFE5UH4UQR9/tGTxhDKLTxA/+oUa6GOB5s8VjaoK5TUiEMJh2AF0bla7qy0h4w3YLLkOTtU1
gal+FbQfA05MyugNurjyzhrfyKYbO0cX26y8dqILVRObANdzoFqulJVbTZiu5AAOrG/y6p1WvjOm
t+HwVp7Pw+qyays/3qGI4cYUo3COsK/M4t62zoFyWcG1obz59aV4U2T8s4YH73Xs/tm+3r/Abt2i
bPHCEvzjP3/7438+9uj+8Wklfvmt7ytQM19REaZkS8UE7iBRzN9WoKrTfzMg5cO9Wa7nRVnvxxLU
aM1xkbIyED8CZrzsgx9LUGV1UgOFVEEtktIsI/3CElzuxqcrEKYTVYBlayw8HOpu+4eZjcoLHW4T
31pbd+1RO8qK9ASnEzeuSsSkmm0V3TyZn8vvn/20mrqfHlLsX0ZcmIWMynW9JlqVSw+8ni3xf5g7
byVJsjQ7vwpEQPA150R1EixJJM+sUtyKOufsuoszIqBBA1ZaAQKEtVWgwAxPMzZ4DnxePcBURhYy
UJBWaWuz7qobzi75/3O+42WWfaHJ1bYIz1VRTnuNfxuDtXIlJa28gNdXZao09EMHdF3tp/sFPaHq
m9/DQ7JL3KNwv3Gl7mB+ad0DmQtndgQnu5Ef17eSFnhmzDsyD+j12HOODqctKRaH7Ze4O+ZshACY
XdRk7ESR5OvydaFWXjF/f/+2vh2XEwZvGcnyDL7OXq/HTYZhhurHuGWv+VlYbaVWua4i+8LUAoM5
Q6T1rQprzTbPuFLWV+TVK4Q7hCoStQi2tez6TgbubamK5lnNyMytVnF4W7qahfJwHB8qTZt8C8WQ
9/7FvnlrVywtFWJuMTsvVuKTax0pukcDQ3b1/LkTYjxYqd0jZZNuRtl6bEEC3HXYvM5spn8x7Lpa
0BFnF7aaxV8PK4uxsSowcF61QG1zJ0X9nIVDF2Bm2k/ZxOJ/0FHSfHn/Yt98MCxfKgvFCuNagSEn
9xf1KAFAc5SCXtQ7zcPWlT/PuV2IzfvjrIvNyXPkBWJ/RdrEekI5mQrMKKdp1ZQI2ojrbiplI5AN
VXJ5Mc2/GT2G54bm32pUhd0PK+H0lTHRulsGNV6vtHo3Wa6FymRzzmj69r6tg7B1BR1Mjf+0sFJD
5a7IXE9B/SXIiCxo9JMYg/dv2rrZe33TGATc7OorxilyetMKUaTtgNDHa+MqJNMVlb1Y6k9aKsf+
74+EQ4qVZM3OYPfx+uWLUidV+cZ5DeI1umL2+irHrHkuQ/ZXdw0xCEvV2nzBWfJ6GKtKaffUJGBH
avxgGe19k58N/f7lGHxFUOXWPsXpTZMmegfkVKBc75TWy0JNvclDEtvHtrpfZLS6BKkgAFSG0dck
J9u1DimQajnI6O1HRWX/b/SBCH+Xz7q+lnxk3F5aNCqEvZNbLBJi+2S5ybxsKa3I7Ytw2lD+CO9+
+0nSkue9xNTL2fGN6VdSNOC9duotFLpUKpOdlLs6BoT3h3m7CnI57BNY3gGIU1o8ma56uVZoDXN2
Q/b9uXUssYn69EEG1+nLmSFRbKu+OVZlfgDT2LhxZZIvgWy/OySGnF02UZPs9BSed4NhYrAGYpoH
rXUnQKH+QlzL1/d/7ttlhCxKdtS0xhCIMCu8fvFMK6KAvvo/lvk+F1+t8Dr31NtZe3x/mJPjG+sz
d4U6F3hDBRwSn+3rcRRnGR04hpA+R/Mw1OO0mbAdXdvAtiSvbDv4bbjyCHGcVTGZriba3ZCpQ9CC
QtrOUlaZgZw3Z+betysLW8MfTkjaEzi6Th5VUXeqPA8da6gUeTbQvRvhjJ+yfjcYezzL0q5slHMk
nl9MXXBc8KOt/i5u+8mNMKWiZFVRMq/RraCabHSASXkIq/6MB/j0a19TJvmcAClxbEbie/JgU4VU
sqHgwdZI849wHJELTGp3ZpTT1et0lPVX/FRVW7Iq1JCo8u0iBvVjLQIqUS3mhYpGPiCh+lxCyund
Ox1v/e8/jRfLThKNI1dltFe6crE0T8rvzhM/hkD5Rcmc3T44ztdDmJU8tL3DEE5+aZaLWwDmrfRz
7faT8jRHYhnnLaAKdBUUI1lfXg+jZtmQpTC+PbTF0yWiYHMLnkF8GK14vJbltvvUdZ28SZbGFYW4
6RRmraUalu7MfHU6Afz4HRQpKVhyHH5zuSKflbKz58yLung7lkaLXmdgXpKNoFflkTjVc+irHxP6
z6v3H0PSj1xDryiqnUz4NnBEGLNUlHRrEFu9LsLbYhClG5pajlRiTO9Bcxr+nIW632hYQGBlgYWI
bzKFqFo5vV7KZqdZt5SJmgd0tb9lvfzbk1mLt8x7lArkk3fMWHTORvrEzwun7otka9mmcoisVTG9
mWfu/i/eZ+SZfx9r/b5+ep9p2VWGmjItzgj3Zln7as4QMJJzodvrO/vmjv80zMkdl81iiqeFnfuE
ZvMyKusDhC4sD/pxdpK7WY1Vt6+GT1aLd+j9if8X0xAahfXkzF6NvfvJyAs5RIak4dEwTOgzojWz
i1a1z012b78mlhUq+zC5aKdC9zu5jyyOMsQMlW1NEYNYKYrdzLHPNSrZMyhMtmn0WE3RDlTXYRzi
Lc6jM0vJm4MgW3e+aRIdUCytOpqTmRD7UysWW289EUVfrV6/zrX8Xq7kxB2K+Ki0/YM8qH6XYLRt
w/37N/nNW3Qy9skb21egWrNubBEGfSGVCC5Y4gqyCd4f5UfYzau36GSYk5us1FPVTJQRvGaaA8sa
dpaUfOopsbhUYg9mQQt0nPdNPuw1S9LdsSxjX+nG7fs/Y31j3vwKGu001eivGKcHjAwHtpx0POo+
S2+aeDwkkhRISnoPdzsIK4wgvz/eOg8QOsHEhXbj9SdqW+GcacJoPVwA2PisrUCRZfJO0T8igu3M
aL+8yRbd7tUFT3/6VLCN5HoEGsKzbCZnF8Ozjo3xtnOSQ6k3t0rqXNUmwh1lsS7rJFTdGtMHOeLn
5ujTndH6NlsY6vmnRbPsdGcEmHLCx0n3eolhEz/0GNwzb5E66yhljd4+lRrF//tcJ91gI3IEAHfv
3/Q30wYH4TV1juId53A6TK9vetmRp9f3bAqzZbrkLmMgNePfrKCsh20WIDgDFDQoB56swFWaFJUq
gF/UIv+AVduL6vjG7p07U65eCL3x/j8u6afh1NeXNGUxovoohbUhJYO7ZM1BjMP9+2OsX+DJt/Hq
kk5um7D1mGLD0q4rq+GaE0lgJXJ1EsLWOeHMBcGtXm/Rq/E4GINkZ76lDsWG5uTbCA0JXV0R4wwz
G9kT3aySTTcoUvt9WMw5d5VcsiW/w9AXBqvb+L7i6Gm4vTkAHKDFXM+LS4iSgf7JTuujHeFffCaP
z8ivExpeqF3nkShrt8d+dq8uFgkSkyK9zKVsXWgLJvePXdeEsW/2enWcKk4TblKHVezOKR5yV+ns
YZe1TXuDoLaov8G1Vo+hjGXw0VEWXDaSMiyXk3DuMCfZQWdJ1iPq3OJ2UuPJvkzUbrJ38+RIHxQn
6UjFmLrqtpUrzVOUzgxdcxnFkzypI1uSxZ6P+CeLvUD3GMiNGn5PWFhfcKrXV2qlWNepRUq1lPX1
Ts+y74bRLfq+y4QzuTUOh9mL4iXCG1thjepbXc6COY8iczurHBG9kv18g51b44REE/JTntntJiEp
61BSl52C0ZBjip9YGV/k2oEr1IXlJf7EaGXl1Ut7GPtEu8n6dJOrfXwxGWF4aJRs3OTIJDh/tiZG
+Gxpd8asyJeyUuq3Dj0zf06XexNv9nUDMWNPz7VT/ay1N92AXK1Jy3CvdA5WRLWKg2kq434nVWE1
fe6MHN5BP1TTZhz03i+IKzi2Y4/jLMzqISiMApEiT9RXZmkZ7iOY3o9GL7qJklRSG75AzlnsR6hU
Fziq8cE3asGNK4K+kgZgA22DARaT8c1UzIeJAA16ooPb2HKzLUhMeDGrvPveyr0WzGN7pXSR6ln1
4sfy3NwUoi5c3szcFbn4TnIgO3wMc5krx6UUuk2BCmE+qDK6hCXXza91McfQ5MrIzdIl96VkMgO4
1OSyqHqkXTeFmt0oliTf8rz6o0gSohWcZvmMxnVxAaprkZtEOfdZL83KzdhRa075XRsFeuDUvqnW
ulKFFTBKY3jila6C9pP1Z5wkny0tMT+kRM5dKt1UB2G5/sAkq/djZdb7pLIWxTMjaa/W6vda01vA
EFPcuEWWBHUkCKt1XCnPHlOB4desq709SjMVW/0ujL85c2eXq89behFGdZwrnjETE8b9WXtYtLby
pmWuD6TDjB7/k7RD3zQd8MDLrrSE9kXN/2qE9aAeEwe76FJVs7cMcRUgF1U2qTIesRCrXmfOym4q
ONuTG5KLJlhy+SHXmhErakq3wIjWstc4uo0mko8opxK3M4rBE2HzRcPCEzRJXl9Bm10ObJ2y1dGj
fZ3EgEMcDrF+CNuPS55eUJhTUI5A83FeLPAJawRO3i+PhfFSh8E0KNNjxetR3qp2LAhEnIaSIKdk
2MWdg3oPYnp2P0k0bFxZadT7Qf6uL2ruy/bgm7Hj23n8YVHVT5HEayYUFPeW1Mk+j75/yChtXXRp
lz92oZ74CgEiATXyODv0TG3NmMTuIDXERpjqF8BL5iZpOmdfRMwKwQr6lzPlqq2xf+e9Sz5A7sK0
+maNyUWXGweiVzbTXAdL3/EBYVYk6lIUwQi/LnJldRk9TakKz+6rp2jMSRwigAAzOmSxKW2DpOgK
TrI2f35aUKLEO93ugnJx9jF6JxIgPhqDuiHvwe9ZIPIl2Yx6iZV+eBZWRl5kwnCpnyt5/3UoInD/
s7zrFDPo9TowxbCrh12qCRfJkDvJWOHH0GchcMeqmvrdWJvaczMpwi/L7oV5zHdAWowHQOMHDrst
p8zlu2kDJE5q3CG59dTXYrxOTaaFyITbgTBO1BuyjJXPiowndzTVo8R7cdBbfbmSM81sNvATJxVS
BQenMRq6L13afLEj43aR83xnpyRQun1YNMeapMxglFKlDczSvtcinjQqt/iYDgtKMBvJ5GZow+YO
r//C89ZwIFezKt+oSp57+qxnn5fFCvfjHH61OzgqRTSaTzJO+t2ixVd6GV72sfRUGvpLWo1ebacz
qAL7BjOCCKxO2+Gbw0OHauuukSx4HAAR/BnnboI7TTS8Twg4lL3RKCAI2lnot4VDgVARK5cF5zfG
aov1YcnD576sVC+0hzQPirKZxCHkYLPFcb0NBZ93uEjDd72oBzlI52SOH8q+nG80ORNbSSqky8jM
Q3O7ADK66MssljAOLzYK8EK/wi8IEzqNLm27knxAJ17dUe+OU3QuvV24i6J86QbxLI/CrA80FPRg
GKfwi2PNonFDIS/bxTBuSNupObEXmQ/c8DrRqnnLttaXhPA5L/hQOg4IWd28rYMedIiaFLo3zvHq
kRO7BIQl3hIseJT/Brvy8FHKz2leVvpBzstWv+siTfvWKg1bnHoa8LpZgdyaV5ocX1Ei2XagJBdr
8hb8Fc11Ml4nHSW9GpV1msfVPs91wnNh6JDyl5rNXTu3wyFHOQLzQiNvSpns9MWO4jk/dLEgk0c3
mohEEpG67QygjQ+aT9QIG7Xdt8aeNNL2yRGZcVjdW+4gl2BfIOjkzoWIjAW3TMNOAVYu9kUAm245
U8mhTkpMVrzs4ilaHuxxqLhAhESPSzuN1JxaRvMgwpSBE4EGCKMBg8ikfIlkrfzSQZ/rvEqpX5ip
PlGErima93rnO4KQ0kiVpt1iFs11Lo0pbP9QFoDnoRVdS1peVK4SCezfiDGn3G9nDJYitasa/EOI
i1FI1ZWwZtmvDC19lPASkpg0pgJsK1EkFYUEfOtQMpKd2lhD57WRE12nS2N/bNp62grHWIgkjgwR
+WpnT7jylVIZ/DFxGgONNiCkUnhpar50Vg1xLpcs1L6juOxVaY+J+17YSvUxsYx+m+tLs6lNSbG4
e9MU9ChorwuzmG9i4kfcRHaeCWlvrmrysci6mmJfxEaxBfQGtBOOyVERVQU7i5laAkziKmNYLC5E
mnoD9eARZAjdjgauMJFwTnrVF0nlplEUvURqxQYlTGzm0KLZ1X0Zp65qLB/0mehN0dnpzoy0XWyj
RcKzk9PAHyus+nYPkUakX8B2lb5cOpNNyUjchnq4tcbqQjH65q4izMqfOayTVKhnu2KI48uSnKge
foJCqTEKEG5/aNNhPxEyGINmvy1C+6Gsy+7ohNYzuFj0w6W2WYwaNJUQZKC1FCclPRuLl2jhrlzk
HeCfmvUBU8ESXncZoWf6Mh6dIr63M6Pyi3lgf4h+FF5waRZ3mjKOiZvxLaF0liyJxGj9Lm3U3JXI
Tj+QQdVewFboXvJZ3EW5cqtBf5JmbYv5vo92ec6Uk/eBoZWwT2BmmZ8w2mpjELYasZZk3qU3WsJi
04f7dtHHm6SvkD6nBvHfbmaX7ecpLpvnPrTbu5qN77Hpyh659VI/DEt9MUtj0frVVN8liTP6ag+7
Iustv6rq7PsSy9shbMVLXVtF7loJxVoC/p5igDA+YuRP1pB8K4pFXMaqiGpYL0Z4aK3hKknVaQs8
R9vC75I35MQ/aVpV+W02FP5Efgq2Y/Afw5RfREZlHKM8VbcGWQ2uPrId7+bkOpLly75VA2dRWNis
brpvlhjhTyIEGqHa8tMq+WS2sWeOtfUdnRrFgr6OjsVgH0xgZLVtbjiceia9bH2opC0BMlaQN0Rb
TopW7sbKGTemHXc7kOYl67Dd+g5Q6IjIGagmUr2s36NXxeYN7k13zNTmyspNsFZzBgLCEEW/dTLO
t1O95vSotH7HC80YkaUKpHKmMFUvV/rvIq0o+MqEYnRuJeRim2n9HHkWh5IvYIxBNRmT6kGHnsAG
sRMykuizqZJFO4QRXsS4u3Oc6mMJQiIgr3IpkCO22B5mee75AOJs3w7KcNXUbLLivhdHpwW4SBy1
qDapYwp0hKgL/SSTIxpk1AtJdIvHoFbMTaPTBtIT5lNLtC2xNktYfle1WNq3onYCoPSpzrJpxX2Q
wgMCH9ZSmAKLEKgZ6BpiEtMAgOPncqbh2YfJc+aEowvuN9rMScMknuFd2OSANHaqBfyERkZCxG4m
nkodoadeSSi2su+VOrS3qdmX+YakwPyYIN9Xdz3TaOwlw8Q+VOkpw/gmQduRz4dTflqIdGkOnJrD
6AJuX11eilKdyUssG60sdpmROHdOuEo0OGJGwh8UeyRiOOyLbOdMQ4sDD3xZY7kOa2Z/lRW9RZsq
BNnlO3XGb5sVJzPvWqo32oaOy6j4ySw7eyG0XD3UiJ3lG7LGQOxKcdlNu1HH1u+2aS/5sWUqwZDP
2vyctGjACXyb+AGp5HQu/ZvIrXvbcrO+dBCfA0MMn1Xoa8lW1uOp2SqxkrauNlj1p8YM28hNswyM
NWrW/HHuRisPQJfNj9T3M23b1LPzLVKzsfdH3aovx1SLb6wu7+8dMxo+DKoRloRrzLG4rNNxItxs
VKSPU2RHBcrh1n6KC8gg3lzlQvucJLVzw7GjYlauU007siGxpqd4wGMXRokDKCCRZvtplKIyPIIy
72zE88JKLtOhM6PrSptlY0X61UxJRQ0w3ekv6ypWdqKdsPlXENfJ5eVa2m9tnwmPMKy+cyGUsb7S
+261Q5GVjfNcleMwXFCOzktPqjVnm2WGswXBNfQ7ASXEp8BTumptRFnA4h2avI3O9RoZfUUP/tOk
pBfEDcG4Lhu1cxUJyibGizH7MrVR+5goU3xZt3POkUshA7Mb9Jg6Nh6Sx2TUYFOjtn2QnPskaQ+J
WXEQT5lVFq9GZ8hKsmHhq8f4uooRk+nfkqi5h+KlhQdcSOolR/PowGoKXkrnFCtvFfkW0AwehEjO
RVC0mlXs4sWHLxglEwc2qVN8ZI8tS/Ag+x2ZhpchHP5mU/ZKMNraUvrc6GuiBy+0xAhqeb7Q2mfd
+jgvjre0SrIJtbm6jpJWy2/bVjXDXVp4OGEg90fGdR8b1W1dGr613DBg9TKpSr2ZxvQjpt4Jv7PC
UetqCZ9b25cAHeriYu4wPpNNSIUubZtNnOqfKXhI3gSzNoHHVl7WXXIZN3J/1XOqM223lrhL5tQP
8FXaBPpTj5UhkbejWORvHV2DwU0Mgg0wvaLmzDkLGGQJOjMNqbG9APyh3RES0DxNavNYX+A1aS/J
dchZLWv+9jb18BkXEjJsgIB1LnsVengCc4NMVa7NJo1KpnPTkTZ1OMXKJpez8JiYJmGWuKJ8Tuyp
O7DZi6XPKvAocyUvmj0xnkyyBMqS/1p7c0bin6IE01iazO557SUEMskTu0PukKURYFPTotwbztLk
QdKahURbLXGY4GAbtl5pxrezXGjSRm+ruL8qDOkQq+pHZ5nJTCF3zq9Uqc6gIoHVw6rXc7ixSvNT
meE23pUVRZmWenx5aWdJ324kkceByjfnjw7m5krO5+46ypqQgo4WIviJQVG6bNzyANaj/oBp/iIb
oth2rbL+IDJ5b7XhxBZOH8QUVBFv/DXxt3inhvihWZ3dwWTp3zpdI9+teyakVpV3RFHFFiWr2PQt
2pXXCkkGLtFKVZDxnTywJ43ueqfeGLmpr1Ld0NirCiWoZZK1oz13XbvJybLHh9MUowBbUuHj07vG
SxQ7nPzO6gI56h+EWdbm50GRw8s0s7EML4nhwdVSsKIapH64Rcd8V25iqwyl/WBIqx9V2VRxe5iq
8Xps57Xy5hwGqYaHBV6krGSSrcA+ZT5xsSMxQwPh6hEarwleJi+OkV0Cg116v48kXqmlNK7qph1o
N4z1JyWcINvN7LQPVlmo1BMyFHcUE4SE7y4Xx7HMmBXtZOEcZlXf8zzO09vSXuR7J6Qv5MG5hEIn
59JzlaXxpZBIqDuSLT2zy+tFuB/sBiIEZK+BUF0rbIflMBqdfElUKRXRMKy6kt0CxCwrjxYwV2xw
NxnVi8p1lgyHY+ZM+yU24+cq1tLysovVSvLsLG/UIDLVDDAgkfbpdlFnaz4odfTA9mmWAkealt7V
hdC/y9lcTEGXcT4cJTWFJxDVe6dU+y+hbk4PHYv+11xuM2k72lJxu+RWz8Z0DBU/q7OG00OHvY6p
pkA0u6AliaN86xhz9CWbevnCUdJoBygNBkwIu1UzXWDO2n41cAczfhrD3qSdJZpyQ+26Loy7urfi
ULBpghM2NdgXa06jH6ZE0zl5Sbogj4C6ssUc78pDhApI2cThwl+xJhdI0rBdzJCudlzXFAaMMolv
2EPpj9TEb7RuKXdZoWkX0J3guxUcjBSimQADZlN6iOAOPqQjbxZ1CaXqvEIebZ3zWUESq9rMVOF3
IpfrKcxwoKpLI32CAip5kqyHOeA+McG4c5kB5t3vdRV4/X4omvC+kiGCie1150JRdcL+qqmFedH6
CeWvmTncdB5Ccabrc9p1WgeiqWdi85BtRJcnDUZVNL1DNlW7uvV7/C1q7RWEOWex+cyhdfJpRvUI
iPRzGJ3TbtOPcQ304rSpZY24x9cXGCMIj6QctdtY4LOTMdFcF7A5z2hlThuX6yhEGmPRwgXOP05u
Y9RLfUw+NI1E3fS0UvGiQm02i2VvSuIG9/1IkPD7D+60L/xjxLV3acF1RmJ30uHqwSVq1UQvsSyO
0nzhdLpnAm58f5DTntM6CI1R6BH03REXntw8dpYlirpVKpjsKTtz6gqcUXMt1rTfHwj69w9PiaG9
ycKqc1Uv1FWIoVNDjqRwm5ZZe50NZXOXhOfs1L+4qjUrjR4oNmEdL8DrVwLKG+yavGewkdMhWw/2
2V3Veny9Z+7fG+0CNxAvDDIQjAA/SOWvhyKvGygeBWVvfHGOZbgx28ewgPRNWE9LvTzZ2MYeSuTv
300mOS4RqROugNMLTLBCRnLIuSjv4hL8bSODJVYngMV55YdVKp3RKPziG0MQidnBJCttNVK8vsqY
Ii2IDF4TJ4tSyrVy5w66Erz/ivx6EAzdKkpDzMYnT82Q2S9MCZ+YpVCK6JvM8LVYn888sV+8GziV
kHog4oNTcereGOiwdpPGrSvtYzHeldNXPb5r86f3r+WEBrSivej+r7MgbhSyIE6bq7IZFiTDCLgo
Oa2yNHvqkukTqx+6nfygpekNop6NJoOGhdvmWq29y1LzUrUGQG/2o0pmtyt1+kxYhXNjTd3vvz8I
FBCM0j6HVWSfzC1xX3TNwK6B+pNSQKekZD/OdYmlX1Y8DZ3R7v3bsT66n1vNa4NZXblVvKxomI2T
2VOZLA18N1+J3WGtimYvt+1rrKacRecdKdKbOW4/91n+8v6wb581/nHUvKvdgS/+NJ41YfVvMqvl
w6+LLSuHL4DtGp15F/bnwEK/HEo3MDnwVTpYD15/IaIkynhcKxUFZWGiVmX0JkrLMfvMOrR+aa/v
JAsCylAWOsdQeHqvxylpdzldzTyqNalPm9bvB0DKyhJMbezPvbLukM98MW/kv0B7ZSLxVs0OrA4m
gtdj2pOptZLFyj4ouubOQtn2sZKtRyBa5fJjp2Qfuqojak31GpnzakbVTuvv0pRe5vsP9M3VQ0O0
EIGvpBf0zqd3eZSUbs5W1YeRcLXabTXJHq1CV2s5puW78pxp5s17u45nMEtgI/lhlH595QZ9Lrmt
VLoGQX7TXyxu46P2e+5/UxXFDWaXggUT4bmzMgFfD1OaFBBMzg0e5fA1bbYBtRvOd7UhPbAJJb1X
Hf33b+Sb7czJiOrrER0Q7IVKE88z868tHPoRCJus0YSQ+k1anF0l1+/7p7cW+aC+SoKQ5LJBZH4/
eYOQKjU95G8usBoOihlea13h15xRKY9U0U5dnE1US5sYAsqP6/wtn+//g7ly+61aA066Uwfmv0Jv
JRggAm9W4dx7DssfONQ//ctf//Ff/vof/vu/+bd//c//46//9Of/+Y//9a///J/+3c+ey7//bX9j
ojr/gBTIwGkBdIOI3fUL+8P7axHhwrrMYiarKhPC+l/+7rzksYJKgPYpowxeiZ9/c15iyuQwgM8H
rZaC7xLDxW84L9kGvHqRUL1Df8AAcoqamMJIL8w+CbeKKl7GZFD8MeqbLUAaZZtFzDMkcxWBYaLG
TxabMqiMJLkq5d4bKF9tuZrB40yXX+YS9rpmThtfKsBLl1r5ESWZ4o66vBwauy4+tVE4EvkZFhvF
WPDMgFFwW7j/O6EPEakThtDcviO1IM2MR7NKvjS5RXkiUuvrPBsQcGZO/ylxppmWJq39WYTJpmZ1
aFjlzenzzMH2MJSpDOCZ/gw1ycrDDgXDXFWdQ22OemDD1djwDuAlswsdk4FcpagWcVW5k7DNW0gs
nStwoTw11L+8ooKlTwIT8oNpqfxymOKA6jQfm1Nw1CsXsU8UQ3XHsX6WUqe/r2KdaGYOpU+Jg9Zi
SeL5GzSoYeO0eExnG4ZHKeemp3Z0gIospUtSMbWaef1dkpWe8ztGVzY//BxzsBT6TuN21PPApjfm
DZx+N3Rwkgeo2xSNqKzCWbeSwVPb6C7XjTiItfJqWgZK1qJh+zFEU76TVMrmDvzvr3lfFx/zNLLu
7JLgPrOalitDnUdf6ltxWSbdtMmsStoQTNwdUEDvSlN9sVGYB7DgZ8/QaWzWGHnoROj5ZtZJfy4X
s1Y5dmcWDOzF3iqTeIibdGuvvdSCmLkt2Y1XZiZGrAlRDBdhlHY5fu+C+73VLGHhQ5UfFlsE5pSG
e3r5LYkgyOBmu18pLzn6l5HeW2mLaIei6LYwNcpDbGYvB7r0t2bbQ1nqKMc4fe587LReI0Z80A6R
qKGAL5W+G0O5fgLvVt+PYwHan6bxRZOxh3NzrQ/RjJImk0+co1ORtE/D0A1ba5loPklmsXMKNX/+
/Znz/+o5f+VM//X8+q9x6lxRHO/Nmv/8lz//+7/86Z/+8uf/+Jc//be//Om/vJop1z/8xySJ2ewf
cFto+CNlA7IG+73/PUtKivkPmMwRk3O44F/YNfyfaRJ6AjAhDoPgTmGR/MxIgBOLh4uuA7bVFVf6
O5Pk66XdwE+8MhMpxVjQPtet7+ulXTThPIIhP0ayZM6e2fXayv4v5W3IHwJLJLWPct4q0pmt2YmG
/o9xeR2hxdp47HF4vh63KMeqGevkGEeBrlRXFCKRXVDFb6dLMym+6bkadCENd0fLXn56TDd/7CN+
tsf/aujVBgeQAl/WSgJ8PfQcWk0+Ne1xTLT2okjrZnW+lMvGSRMFfRJwwOjKXpJqs0SDzEbHNKeJ
6I1WPUuZ4+n+tNH5cRNYP4FvsZljj3oqfZ6QKpr6HB+TMopVlyMRIrQu10FVTEhWB9fuFqX1c7NU
SM1oO8tNiyZs4EnlWe1FFPAv1FTqaSKYXX1u8/yLF0NnAeV9pWSB8/bkfF06mWSKBc50ipwOUAHN
e18f2+JxBg4DDg5pYHUxqn1Zn9lsvt5F/3FT6FdaPCMAR4jwXj8eY7b1IiY1TOYd+FwZQ/WZ7BPT
D1WRHHKlUJ7HwrBuAHJUT7KZRmfOuuvD//ve82+jA0ter1ijeHdy9ixkvTONzrlOozZ+SkzRf1Y1
NcbXqUbb99/D9ct6MxJ1mZWYvJoD1wfwkx9Ii2PRLFJ4Hcaa/GgrXbNTikE5M8ivLgdTIMRwKBjs
tk4+77GCGRyF2nUU6rWf65F4pP0nB33T94+/fzk23zEScbInMBK8vhwgkway4+w4KObw0HRmc7Sc
tNm/P8ivLgevFtMVh1nwySf3bMiMTO3y5FgqJEu7jREXe1lvULBU/XwmR/JXj4cSpEXRg60tIMjX
11NNE7uiJDvq7TIQJRJHHNajYRBn3rdfDoOmnmlcX2vFJ59Zz87P6rOEm5UtD2lRR5ddUp4rDp/U
HX+81WuVbK3/aZwZbRann9+1CdIw7pH4WCUy8OLGakYEsTjvoBRa7UupFf39RNNL9mlJqsy8KTkk
Xlvj8YJpo7CFff8x/uKiqXzweakyy8+bguSSm/+LvTNXrhzptvO7XB8dmAdDDg7OxOFwKLKKLAfR
JKswJeZMTOZtS/L1BJIjyZSrt/lfRB9Y/d8osiuq1NdTxHU6OqKDfQ5wgMyde6/1rdophX/qZdUR
YrPoh0Erpu3PP2S9pnfvF0srAHbsvtBX3nfEm1JYSDyNk2muRGUVK+IBq08pkXFT0P2iz/KDC4JX
RMODViEthxUS//399SRxroEznZjXJEePhPWIWD9n9/MLetclfP0V6XfymNBAJinhvcEur/DEEn10
CubBPCt7t0I82OCI8BBOtiCzNm1sEgdAbi4itpi5ueMu2razc+tiUVp8NDMR37WtzD+YeTLAQ9JX
8QlBXreOCqpfrDzrq/ju9rOG80DjbAJ4/95WZCuzaQHLnVyz066Wemie3ARTRDfbQYhkTz/oo/4r
K9EPto43n/luDUJZN6kcP16+OuA32TpPTaepPG98hJaphW6CJDLpMSqlF3bhYla5+flP9KPnADsV
6k9jbRi/oki/W9PRtAYZi8rJi+WEALnrLyfSr37xsL3rsH17Dnx9nS6tjWl8xW+ftr42WqOS+om6
wrK2akK0FJmpwSGT1sjw4JR9+qg1ff9BBTMVzWJVPtmQLsIyOycCEYOGcDUmyyXSt59fv/GjG8BL
B3SEnBQK13cvwmKYeYN++cRz7EcxCoRbQ2biqU45Fi5Fl31srbHCKdhbdcg+Pj2QiGZsUzQO/FsQ
XGfxZHwVpRx/scy+1pPvH0eAQfSxeX/oCrx7NIbFCcY+0E8Ks9GZl9agUUQxDGf90NuH2pmyD6rr
60c0GfU5mrbsk9VLBFKo91EFC2r4rZt05nFqquKsKrXm7uc37of3bW1V8MzQ/7fefT23Ub3OMeFE
TmG176ugo1/g/wqs94MVERMGHQjgPvxG73dPREZJViTDqWwMVHittNP7Us9d+DCxtHcVUX6/2K5/
tO/QDDW5Ih5VDGTrfv7d+9CQWmbYRn+adCXPDYlcty9y+zOdDfN67CqkjBO8SjecyZC8tDNjOqAu
Gz7EC0PqXzyaP7jDvJIMmw3y6YEpvSvsSEWsrdTvTiLR3O2Sqa+6OYlf1Aw/vF6fypFgEDpbYEXf
Xq+sTCsu0v5UdiYUYT8Xm7Truz0x6dYtc1N6SR7jNwqJmJkVYEupofGR6bbqOv0X935909498PgD
Od858A3Whvzbr9LJzusyrTsRD8Zo3TQem0V9GX39Ka6Djbss+54x588f4h+9/R7LG+MbGnicHt59
ZoHMtXfq5mRh0kIW22ETyG1nAxdBwlUwjnaFkkrN5sUklk/auk5a6saZ5VaiBE/WmuPnX+hHvzkH
vPWdhx3KCfftPVgsvx1wCZ0CguKOPN5VFMyO94ur/uuHkJaBGZ0qngoAts3bD9GqpBu7uj2Vk5ne
Z/iV78gBc//2lUCowyL7SprFL2G9/ZDamEXZOojiCYJ7tka3OFsQ8/3iStZv+vaR4UNgxvHGrjb+
Ndz7+7e10gLwme54kvgcPzRykcd4WSrI2INT/nJM9NfFiEMJRBb6G8yJmPW9/bDZ1fPRTruTJ7Jq
DkHZJTfp5CDNhjbGfGoiQNFE+3mvxyUkdU4uv8+GmZ4FlnmZ4JVqIs0bgngj8BG2GFbmotj2Vt/8
KsXiL90CAh5gdYEIoT/CUPsv64ZDmjPp0ieCSAHNScxlS0RaYXbOoD+rGFE6WbmhBc0YxB17sk5d
Oc8H7FPIS//e07x+E84JvGFrVx178ds7hjNd+Gk7n9zCQzPo4Nla9Ez/xTL5/hl4zbMAcscEdJ0t
vR+rz76faDJRp7EC5NCN+Xjp6lNoz1X+C/TGO/f7KiFBeLWee6lgoCm8p66prrRGkil4b2R3s2gu
3HWfwIizbAysXdZn5AHPrrfvxvSmq4b0unJG7YsMWtreXrvc/fze/qWmevdt3nvxMw8/p4n3NbMJ
FmQTqa5bc1TXuj5etprtbttkTu8FdgCh5uWsSephN/uTcfDchIEfmsriVyby98Xs+2/07gWZ5iXL
CVI+LaOmtzSHjJdY9OJmHN0+jAvikqVhO5DoUxIlGxJzf35D3q9q66ejrADbAhFgTXV6+7ApUgxU
5vQnr8Rp6RPvjGnMKX/xIe/PCK8fwlIDvRPycaCva8R35QF987YTCHvKRpq3pCzHkKLmS3r7jN+9
LpoJZPsF7vwvO/T6kRZMYTQXaxPBf1cGCK3Kl0C2p773GYFMjFEuyn5ePvhBDXnANKTCo6bXCeWB
n93mE7kZEYdmHGxYL43gF2/bD18CRmC80hyFPcqSt3cAHaV0DNFzYkmC82UoaeZlBM41G1hZD6xv
Rriq9NBI2lgtA7eMVObrOw4G1XVdNu3vP//R38VefHsnqVssxAI+g72Vl/r9DyKH0ic9XZ7kgAc4
MjF8PGKq8PzNQlWZbxROp0tiuPqWQddKKYII7X5pklm2ZxoiZOLQbX8gbZvQ6n2ezbhFNUE6zpld
tn+mVzIrSL7U19+2pTdt3PX5/363Wn9JFmaWRBZDypz1/fnu4WHX0OupLk+DVyXL1ipszPS+vvj8
XiMT0VAUUqOJAeuoJZhel9fKSbwv1jJy8uWXJIno5zfvR28M3QwW6QAqKgv12+/TCTUl6HhPhtYu
2QZH5rh3DaGGf88jA3iGmBUgpDBw3r00gtTjHBcl140JK4Q2ZeSbIrAERVVR+Uhfy/pYEU2xYKFV
y4r1KAzG560FaIFo7XITVyOjyZ9f/A+2DdIXOPmZDIPXM+nbiyeVKDEXP7gELxUAHbLFzWCk6eds
acYPP/+kH9xmKFoIWmiaclp6v1Cj2LWLWGiX9exNR7ss3e1UtNovlon16757tugyInZceSi0zN6V
Wx5FeaxM/7JZ/UKwoFRU0S6+KYoGg24wVOLw84v6QZXBzJsAUaiQtKsA6L29f9US43wbh8seEMWD
3jXShnEwrnHUvrIRCadw2Xf9gsQ5DPJBCFajcX6phlj+CvXBuvP+4qnJmDcFvF2AsZiRvP0unJ7S
SanmEjkd3P1iHFrirpkzPEzdEjw4lhzvYfMyjUgLqq9n2x7Q1Wj0lfrridaVxfTTTp3LvIzjHp+W
V7XhgplMHTE5L8XeNOpFg0DRe8vZ3Ar9TFNWj0RdSe6t6hwFJ2TBcL0xXTmdjIUAK5K522fmAeRC
M9YGDN8vPjRHb6nsMrInDQ+ZU3rak6pUcTNkXQHUjD3xGRMuZiBcSs8OqU/2tm5Fzxg6E96BgJrZ
OiZlMZEj7CKo3rWk1zzP0hLaRtIMzaPaKtVtbxtdvCY6EOthEDaudjrmbeAHplm8ePh/sejhZLpt
l6HGTG/21RDqFC/HIieGpamsGb+bqWEHqwuk8pE3WNZn8JTwWAfNYcCVgBPBZgZdZ8OHw+2qdb1S
Z1MeKBXiG1cHWTGtMsI0TyE8zK1b0uiZDJa0fdAEBgYKf8b9StwOjshnWQDl32B1Gewo7Wz2E3Oc
5wqZ1St5Iuj8cl8OdRGE+TCkBUaxzEfvzyxad7WNp1nKP4CrNp3L2HfTJcQFnU27WGnBdB1UA/Nt
4LUJcKROqkNPKOvXKs/0Ea/3OEHuwSiw4MFPkNPr6/JM3vhIiiF+z+VUWm3B5irdtgBBRvpg1Lli
4gdEhuqEscEbei/zUagot+3izhycTkXB0GduiJmpElE8cvAEFOA67dYimzYPh55fJ1qCpLvRSott
03SFeeOOAj+O3U8ea2A8YJwsnd4Q26VX5L4b/LiPRQ4fdCNxunJQTQmfJ/5HriYioUjH9oLM+NJr
9HLx10+fa2WK5awii1rbJzbUabKY+wVMylwRX71gUtgUiaw/SJHUfTTbPlZFaeUGuA6kFNezNIvb
ZGl5gvRZ4LxUbQOMIw4mj3ioLsBIyCiUpzogx0DfWHipISzgyZ529VwZCV1eayBbu6GVugEkImgd
EHYQbJMgLrttWmq2dWEKkiPJ1suT322ZSn2XWJX3oXbn6c6aTbfc2WCVhx0DrynFBT4Vdzr2ZvZH
fJgEOWT9cD3E43Bj1AzmQsXWX26zKTBf0Dk0xq7D/rMtAfadg1Js9hY+RBAfQ3+oEyu1jjE802zT
BrEbjmOT37vebJRhrLr0LmsrA9eLrZ23bpKiV+uJTMH+3Cj3WOM/upMK5v4k474KsxSrZtjSLPoo
db+yNuaUBjiLltFmDUnaPokae5jUty31b8m+/t/EC/+/BWEzJftuI/prEPYf/+Uf//rfV7z+GnT7
PxEzvNEwrH/8Z8gDIH2O6MxT2ON9xjYUN9+EXqgUaKvpbF0s7cw41gr3T6EXuof17ExGGZW9x75G
++WfKQ+/meQjrdRcdD8+3XLz72gYIJ2+2bIY0FmozBzoij5aAu8vtZcnetNmxBOKIc+aaT/rE0go
y6yxyUKgmf1T4yWEzE9DVqSXSnqSDGUpuh6iA4E6TLpc3HaT6XZ3HiefPmqKMRmvgtoht5NVujVJ
+VSt7p810qjyIKRsMEXNXxS4s42+4YluS13LdoXpdfnBm21Os42e1y6wkJ7tcU7WCKou02F1lRIH
XFi7CnnxMOWc5CbNqAmVswyb4DxR44uGVGtdon7SPi9a5q7JXqMOiMLx5ku7DxI8kxlIbKtE6YTl
j4ZuWJcwLENYluwphZ94oKcwoZShXYzlssljM8/QaucBxyqm2myQuTfKUGZpa+2swQW66+pZU7OR
F+58sCnhHgKvME92atfGVsK2uuoWGfye0vx/qBPpvzSxGWAUIqEnC2lzDjiVFdPfhxgvWPkpMVrp
ILQbp/JyJgivPBuHAuUTPJPYixT+I/9oi2quP1gLhutoaZbR3NLaCHroTZ6/bPUhjXG2Osr/WNe9
ZXxw6lSh7so7dRG4sT/xG2qiYdnosbIJlBH9VQ8CQxzNXGGdY70szmGx47LE1jg9VAnqsl27Jtn2
WKiq+CNjicHeAf1Ky0Mfpx2lCy5OCwpR3z51c4XSb2l97znFXc0iac72x7F05KOeSc3ZGpww9pjq
mnaTNpX/3Md13UU5poR+3y2FM26oVbAeVr6DQ53GSneeOw7GPybkswOoklVyU9gZMHg6HYMXVqq0
vM1k8LX26M6x3Xet6g9QsLSXdMDEy3k1y84N0F+3msz6r/Ql72WWYOdMe0PH4i994Doi95lmjHWV
cYOKdicEE1xS+7qOlK/FtDB5T+CcChBmM959x7lV9pCj+MuVTmZWKsiHHwQ21hCTSA8uFCgt0xkU
oJupVdWzCT4Ibb4lWeLZi5ebVuAzpiQxsnJnWgQehqKiEqArpndfUrOMn7GAVldsAsZTpi+52PVJ
PdEJxvcO8nWInYJ/ZuNnnzefwkHpZreP9Vg1YTYHTIogxi6/25rTXGGLVknYtgA4w2KofRnpwGOC
kMYYO1JqZnl9ZsrO6oGGmCBBEqe3RrhcI3l+ZrYYy4Mokvi5ZCzh7fF7m9W54yt84rMCEf2hSkyb
AOs4IOIYgFlxbeSOeRvPTXFhQCnEjdwV+kvbDuayS1CHlLA1cv8hdxL3RroyeKg9T1Th0CBhPNZI
8eojjKfyqhU1OJhSmDGVQebl7PXST76Y/awnodPBquI/Qm3d9K0/l6GDlQvC2zSJewAGKcYHM13U
fV6L5BESEL9PIPIMSpDkGB+588jSN2UUPaFwpxrMNI1vFikjaS8DPy/vdZNP28a4jz4uM17Uq6Hs
O5fn0FXFbTfZ1FAW+q8iiv0lOdhm2nJ2NV0Y8EnnTmLr5GM3b1Rb2wm8eMZzYd26nR5WmU0xQhWS
9GEBf8wkJ0dZTWRXRsmRc8hTqMZom1SY1MV6dUGm1SS71gM2ajFkl73GMIHTuAvmwFj8Jo78zord
3expw6Ome/VjabeYtsdRa4ZQawnzieSUcbYVyqf+EyqRUCW83r0SfQWKjoPoeTMlyytXq5JhMTdT
E/Wubd3ywE4YQeNSBGFiQzjYZhTTIsrW3kzU8MIRq4E5d9zEtrKqzez6+Qj7tGnSqzjV0yO8kGIJ
F/ARtxnGYrpH8aJ2HAFYk1ubn8CfhYYEljqFQM7FrepzWYq8DBEQJ2prswepsFicvNz5cSmDLa4f
9MR+y0OhsmSqNrINvNs+1uIlBGWL/VnQHdJ5rKfsEdIcqtiOnEM/4hyZ3TGTgFlADFx9FjPf6bcF
MEXwanYTy5DVVNfBdAnVcWRAYh9KrQQiNoFpbCPq1AwASG6WH7M+javIk3SEKbwc2IT6hLTUzGqM
9p0qePiGTCenXFSl85jKtEjAfscZtXu+AK0xmhREKRPXlynI6FOy1+ePvhO7enW0xx6az8fYLXmh
QzftjJdRltVJLbCC6bUt3tHpi3LYx5lZfM2JSz05k+vcw69cHoUyiXfRWAuBQtTui9EjYSBnU9c/
TnUezKHVd/VXO3HS/bR49bkwluVzZpjqkq5ZW4dpXFtB2LR5V0dtKzIC1ojcuJ3lYnwC0UQoQOmt
x6CRv36IGUvXIX3K5bbItOVrocnhzOAYkG26zJb7UeSE3KSDF1zZZpnNYc4R2gmHziTIR2/Teghx
YEL0Uh7PjBoLl6WRl4YOmRpxSFbZ4N4ViYbiuehibwhFbMt2Z+dJozjAdjjkB6fQL1PRps8AUQsf
sXNj2RsH4o5/k1iLITYchCwLzQxgmQ259+MMnimvygBqVYGW8fci0CXGe1AohjofzQSUOIQhh8AM
0x0VLOiAse8FBMEhZ2dZASt3riC9IGJQafMMFN4UQ+LXOn0MA6gGxnHWHKHfdHPrGxvP7kQZ4ZUL
qqhwrebSB7EnziuZuutJPDeePT8ZxxdjnpP2ohb0aGggZiUrEzwpSEgjMRTrX87LRsyp9ZQILR83
lj6XEIKAZMUyalUWc5ybpB4fe6KE008E0Gr2ttf6Kr+T81DVkYjBax3ibEzcLHRZ5Q1OdzM3JpDm
zM++wKX7rGy7t7ZQEwKG+6r2PdQGgRhsn4VLENa16xxn0L+0BcsYdEjGxvvZzTGqRwN5UkAjIBPY
/kWQwYb9KoNJL049C0S3k1bpd5dM0evuMtaLHLZeUBDquQXdBOGAiQxa+F06NuixkyK3ko29oMC7
MFG8J091p3VBlMqJY+yUO6XcZHbMFzVTFY+HKVY2HdNySiz7RU1SibMEynJxTcIq4JmOclrbV32L
IwCaKsBcfebZPYhWa+HnQEhF8p0vEEuthXPnx15fzGyftB6lMA+yM937Q175YeU4Y4YFwmxb7zEY
DeNhirXJ3Je+ir/qClnLvsJdOLNKFDOO9FjXkRMtPMwR/WEldwxVPXmAWVXMR+55oQAFDlm/cbu8
lVc5C484R++hvsCZGC/9KfY+ezRrvZ0BzCHbGV3fm3sCaQkVHqusIuGQACMARw4CoQjuXuZz04b6
1PiM07bEDusN9CMnSS40LkysTQoAEj6l9hR2zIKeWBMytXOgwPCoG3oG58YaB/9KepAoQsMXVr21
KTtaqjWVWOzvJuHUqKH1ry2oPCr4YNXcucXSWltXmS0huvCB4gjT8CSoQQYp9hQIdofkcOJ9iwOH
Va9h37y3Efzwr5bd3tU21fROoedzmJyNNq5+tHPutvGy/BbMS/q1Mt2cqHb6siWtHXs+lw24wrCn
pJZRXXk2jKWuV3XYt+4YhB1Nav/MSBNucefp6SfNaDySQtyk0DfS6rDmV46C5Da0BXRUS3WJOlZO
nQFlnGZVn9ujgA41pwS5bBgj5RXAobohO5shCNBupYrqsgXUTkNc+K15Dq50hdHg34PvpKBSbvLa
GLVIIzrDCD2o2M7WrhfAIQX/M4CZqk3jjbS7Ar5nM1dwlcd+9qKRLNCZNlgwPg/aArJk6dP6S0KO
drBtYeHkT42AW9RFbaJxuJj7DC7N4hrQ7jYt/hBfbaxEuh3kjEGqibO/46FZ2XHsCBxC4sH5OUi5
JkuLt/NsMZyCTOR5Vz5rfny2ADVhrrxy9T55AI8UtJyOdkyz6Sj+7TtKz5z0gaRrSuArr+fn/2gl
/AthjD9vJeCF+NZH+D//+ON/ve0j8Jd/9hEcovUY9wZsE6CkCSv5Zx9B/81gBLxav5g7Ms+hTvi3
RoJp/YbYke2WdjRq9Fdt8Z+NBMMg4Q/zRIBSnGHQ6jb9G44xaODvGgnIRZGLYI5Cv+JYxBTz378f
KnXtDEephjIlIKiVr8tp97q00oN1XtCs58AaVax7B+11Da5f12OrrGNtj2jJWDbp65oda8Egzoi5
cOyX1AdBdj36lnbS85QWeJw3hEHbYxt/Eo3vc3Zyp+rZwW9M1lruX6JZgViqHNFAlOtb60zhK02e
VmISiyCF05lvynpPaz/eiSoePCgj674TG6XOJhSUnceWFLzuT3NnN93lLDuadQ50zPuu6lwKEEbL
ZWjmVbvQF8WDDJu3Spev89LM3oWLOTkktyRvVqyqlwOwC4g9n77tkaA1bTZMwn/WBXHdSKtvu6r6
tsdW33bc5XX7LVkPra3M4yn+7L9u0eJ1u3ZrZRmbeFA5+3jpriqwZehALniaE78oVatPbTGzjLQz
KwbWqUrfqQG0KJ54f7jFVEVsh97OHEl0PGzXheqdKrKA8VzUtZ110cQG14XNa0khdV0xUwVJHnV5
Y66rcbmTzCnOKVRJR5SzeJgNzfLCWgvyk5w1n0bs7JbPpBwX40ZOVfoBJ7XF7kyZFY4dHtvSdvLP
pUVqN5FNa4kDiIByR2+67hizKZeM5cwUCeqsc7Qgptk+FSLtmyhDPWZENKwejXGU/Wbwl6seDDl4
Iznts9q0dl1qurdZYzfP6DT6gkbAmHFkN6oHznzpYXktw0oa3B8XUTovlVMEBjyc0a23DIg16HU2
BpKNkcfF1jdS80NpqYG6TqvrJT5QHHKv3DGm+EPIltR3YpCc2whz9dTnhNN1cQGyGC56ZUufAlI5
LiKY/ZK4vfX7+K3oxOhEE5zWVzHvuteitHstUDVzLVZ5L4p6p+N8vFtmJz+3Wyofp3Avhnq6ZAL/
VdV0boKGzW6OW46sIjvCNJ43QK8zGmWOivQ2wFDpqwtBBy3sUlE95U53N3ddt/Vx2EWq0QOONJ4P
Tq1pI2syGUy0MOSBXDoHwJQ+dd60Z9YCfjgVw4FuH/Q0yL1S6B8LO4YIact+t4xFEYq5gQfTqgtw
g5ExZsVOcs0HCFx7s/c+xrq1paNy6H2MeyZpghwtGcZpSKi3xaK/9FP1sMzuEyfK84xm2jK5yc4e
bf8LWPEXTSxh7sfX2ryYH6pO9zb2SLxPVhe8+xBA4sY0I2sOOOvkqQD/6r0k9ORDd0YBkJpjErmT
HhVO0+59ZVwt7UoRizXIsFOfhJxZs6eB3/t8ioM94RwXQd/y0IyO+amqk08SElxA0xBr04cxt9MN
E7DPgUM7o4UVCIpJ0R/Nk8cmLW8Qcx6XfLAOOfA/xC7d2eIBISNI9ypJIbrFAmg/iNUygQdH43fc
9KYe3zNidm/7prl3mvGRk+bVSP+n6OW5nq9spFpdTuR13LOqA8xVsv7qklq1q8c6gSXjUJ5P3gTb
vXFvc7ye9HGHepsmZPB0CRMBwRh900Fi3JrLyubNKuxig76AIHWHhUYJhtiuEeBTiHQKK1M1h1zI
z1bWDTsSB178vCsuWyjRJ5S110k1jJExYHQzYje46Dsi20cPBOrs9P5Jr1y8sMq57Xrjkxj1HbpR
PQxAuN7IQB5y5kShVTvHXg+2SMIeU9d+qgLslk0e6Fhspk+wtuAWwt3c4Wxwtq7Vp5cV58+2gErt
oHs7JJhr6StbkSKw4MxpgPWYmXVpZUF3nrRmfqY8pNleagLeLoZzv+g/eKq/brScJaQBZqC85ZlJ
8m1pOKAnB9HBZx0fhEjKD11tTRusn23E6b+NMmmaByOWB9MYyGDrhBUlHmDZRtejzGov5GRvpVnW
ULm0/DEbrX1nJ0/lqOy7YbSvRNlHNWh/hAY8pnlrBIcyzXzOMENzcMbuvp/US+nWoNGy86qhJdPO
6mNZW4+9j/qCxUY7TXL21qErcGmtuRGcRMLMnO6lPk073TbOdCy79brQj2KPd8LcGD3z1cJlwMwb
FQov3me2vS+UUR/ctN/BOhs2xJHsayeIxKzxdLbEkqrhpdbLM06fJ8tojwQNasehsm9Y38qTt3DN
0pdZmGemSyO9eZmr6R525VeacGeunW7nFmAbHOGLgabjvkNxuVsq7QaIecJAsONdn7Rj2dpnUBDl
UzqMW4r3CT81rTrDpPNiC+Ft0qV9Bo5/jb2lJmVEwtyz58gn+O3cRo8Le5zeBBkrOxiot7iaOY30
blQOwYs2LVdSCvumzp0zd/QuF8PPlzWjyy+rA1t7waktNgXLXaU7sv2qS724g3PG8LRNaDDajHR1
foFgtOydVXPgwWuta/XzZEzou7vUs/pNkNIA+Win5byLE0/iz04Nk2cK4pFsIQRa3QqRE9I0umq7
MGtfVlKopZooAD237mPk2Pnena8AmV3Iss2PZmCAtiMVVzmZC3K/rIN2pzOPVfVX01BeXR6p83MT
bh1hTK5OdEU+GDSak5Gse75sT+Vk9qN5nhkgsj/beisnD6RwBSF6z9k7EJwXoac7+Z5ulzmhkAcu
q+3ThATvoLMH854fz4TJN9NiATmfBtfT3E43fZ/pT63OexQ17BXmhvrBSacPnecUtXPwtNTlgFsO
1q7t2iVxPhWgmAF2JQWy9LCyeYZuhMl7qG1rSAC6PNp5nfQ0LyePeEd3ybGPcjqym6R8iGdUK5Ff
1/e0/UehXWV6l/XGUfmF/jhVTEslMEuJloqNzzGrRdbAAm27nS7yfPQRkcZZm9q3JsSLiPN6OYVF
AcYw3zeicDjIWhyu9maQL0VKax1pEb0Qq5svS5Nz2IoXFU5Jb69keMLthdeJ4zxOG8/Y+rVV0VWG
RweE1hce60KxsNGc0rjr+mtmJlB8xdpguJnLeQaP2ROMMckEATspYn32WBndZ8lGkN0bSFu9D5OR
y+SIHrqpnzKbB3VLCXXdaSpnP1mY8HS7uJPJZcoRHgp10A0jgMVsGdOyCPO0Sath3w+yXVgKBEc9
+FdOrL6gJJmz67HwJ/kga7Jfj/GgT7TdW8qyDQhsbWvbWVZEGpzY5Q72v+3uhl4b86vFt2iVQcTs
fG8nx4BJUzbE6Z5ZVE44uwfY/BNYxf42LtGBhUnvrukALagxFHerZSUdprQOMzFn475a4XuhDHLZ
nyEIcQ9xIFpvn8Z6rvN620aUUjKXW60M2EAX1GQ0/eOA0LWUigbSJ7FkUWPBRwEPjYiJ/nhb9bIt
YTXXRjpfEUBZebtYLwtxNBpyXT6mUEs50yIlL6KmXPpgO2FTIZcjG3xwndaCyrlmttfOi5SbTnO7
BwLHiTedcHv1YBjPSmn2O4Wcfg8yeflkxlbzqESuaFhYteiCbDv1jrkfizxGfaAljDmnUkHNmuQx
yHsHhafULiYCS4+uW9gXxaCgy9vTeESrA89csNo5s8YEs+9XwYdg3aRdc7FMvnnwhJOe6T7LFlcJ
9DHt/cjrXOIw6rgvDm4bs48tSXHuC1XCqyH4nLiT+q4XhKH0ui82gOntS21oxO8y99RZnmr5x3zy
9AtNJd3XaqaJi3jAqb6IWHe/ds0Celv3TO3JVwoeuMlbfppcAQa6NJ2wyYolQm/CqcGofUXdk5mQ
PEuQllavPwHmh2GD3HI65DPBbWUrT7CoYcBZ9RM2BvIilICoTI/zujXc4okza7ptOk0S3Fzkh2kC
i7Hp2SuPDHWnnZPOT1rtjAwJyvngdHjJNzSSadQCfN1mzIputKRwjwkS593cDv5GmdUD284aNzE1
D/Y8JFss1yPwqTj92OjlRAyJPA9Uz6ha0IGTRcPxxFOusQsU601YDdbwKejjDrJ/5kWAOYuNP7v2
AbTil95vk13vpDV6YUJwqqG8SDIe+2VkwlgwfqBoBeRjlF4BU6wMzMgcW/t+ytQ9Kpv0mOu2tvVL
d2cnXhXVyeBuk0Y3zoyEznveZtlzyYhzH3tlfVlW4J0MZeQRqhrxoU0QK5kjo+zRhiHClVCizoEa
9rClZ06SuXv0YmM5jWXfHCG6e1z4MO0tc54irkQWu//oycj5+PKf/mV1cP2EUPHHf/3Hv/63f/zx
v//xx/94/ed//r4rs/7tt6YM1B1nVdKSVAuMDBfLvzVlTP03/Ny4htEYr70VGzHmn+IOT/+NDRMS
DjYf/MQrquef4g4n+M1Djksnx17JW7pl/J2ezLuOjI7tzaO3AwjOI9D5L6BQy8qzNKjgwLg8nF3o
CH88kyiJ7oPaksfv7s8PNMVvPVMen+XB3KBeWbUkKGffqTAZ4zLSl1m21bHQPbGs9JSfpWtHY2kA
43O0ij7qQi0ZOpUoLv8dH05vDKs+bjnLWoWv37WedJvs6CoxmKnB6wYbXjT7LmgtoAsxWQUlHy15
b6kMCWj5+Se/U6H/ed3IeuisYQ0EYvb2o61+0FoNe9y2sbKZ0Doj287/l7Mz23Hb2Nr2FRXAeTiV
SEk9eEocO84J4WTbnOeZV/891d74/xbFLaJzEhhoIEtVrFpVtdY7NIDdkrIa309jRcPKmoziqQ3r
6DzjZHEIU1t70MrUOvb5CBV/5wddY7v/+4NQRAS0wHTwy65/kFCBpamhE/m4jg3PmVFGj0tidheW
5HIKlrr8ScpqnIOj9LxP4jQ9aVRAPknm3w4SeMVpe/kpAJ9QNQDkD7HvBTL/6rMs6Gbm2F3FXHBE
8i4pkF/j6lq7D5YS9Rks2ij/KMbWiU7CqMtvbtYvPzs9Di2wrKEb0RCdm2crohTq4UICNmJnqiQa
9/9DlX/9PiQRpB+qKnfcCq07gcluZ2vGOssZ498MZZj8JV+Qcmkc02+KqD1n7dw86VlTnNpaxNTc
y3aPy7PxvQByqfgbg8qXyeL6ezkiMqMg4BYYGc30oaZw5elLA+C8b8UD103bm83QhecZNulzGqUg
hlDfHr7bVuZ49yfkNl/AkILCBsVVYeWsPZ1hmcBlb9HjL9pEQ63OSE9grLpzF2KEcT/UNVD619S/
CmWuRs1BDZ7exN5DU+p2wLNJ9I+1CIK/TC7RH3tYw79Osv/JebjGvr8ElLNLqgb3j/Dfis8Yq24C
4KlNfD1ylWOr1zwqjULfyYJyt69WFBsFqhWqpKjz2KsohZlrgrclK2oEkNGlekXSM+HoZbZxcB3z
u43NzM5XW/Gz/zs0mgKSC8RK1ldzmYhZxFPIXcnKs/zU5+n8MWlJhjn3QwpXWBCa1VSc2ADusXeW
KsbfmM00por9EcaDdlY7/L8OWu+afyzD1O6Ztd4uKxIAPQhU7lRwS9ZqUshTWR1jBeDzTtbORV0h
D5rxUtBr1NHeuqzQxKBi4OgcBNTw5bJ7lXF4/ne8Agz5lc0B2wmwSAE/7HNYZ4O32Hb44X68raGh
j2GA4gSU+asn8ipePpVLi45D4qdGF52K2jLPQa9MDxZPZv/toUxTh/DJypLssuuh9WlDFi1DxN8G
1/YNanaezjv0NI2T/asT9z/3yosaxvUyhsIEmxWdasrp1pqPg+qdHStRze5MXbyTckPMj+UwTibg
qcA5JmM1o7BEP/i9Wjbzc58a1Tu4j5EXtIH7s0ax/WvcG+5HYN6U1lpqcaXoaOcaOUps96fldsex
4RQIPciDIU1hro47m8aOqwSU6oMKObyxo/Sl9mF2Ir3pnmKB5oZZvieJsB2UCYLtpfDpucC9XmZL
Sne6LObUx+6UG7qep84nk011acRS/KQLFL1PdV38fX+oW4tNErL/G3XNv6sdugM0Y1I/cjvjKXaG
T9gYWBfBI3JnG90mSyYVARJWGYw2/UaH1ppT6ruMTy8Tg0PQNd4lxuLsUf43B/QqzGoaR7OKMcxo
Uj+ljfFIoaLmsR7GFzVUKLzoSd8da7sEI+H04mtlBiYlDzRJ+oNtpLyYo7T+JMCi4nrVV88makAf
70/47SElkzkMTnYcvCLZVn39mQfgFPMQlak/cLm96JDU/KpzrN/7yC2/jqMWXO7H27gwERDpb91m
l0O2XC3mUqk6a+FJ6C9mbf/d0Wn9MQ92RfENZx0Llxt3/LMbouJjMZrOJ6cz+ukhUmOkuzM0kCra
HYHyHWc8C6/x2DDbnZNmaz7AsNN9lqmB+8r1fKBWzVKLBuQ/+278fQYWIb3ja4GP2JA+FdZcvvk4
RcSPhwWKfaaDdq1cp6/SK97auj3a2HgmoQpiI1c5P2LNTr92Nv/qEhcHimQo3E/3v4Ncd6v0p6rg
4tHXYJjoMF+HTSMVhlje8dBn0R0g/wR+PWm05Bqn/GCqsQOSkT4dVKQJUV1b3VkGG9uC8LwlXtIa
7Kjr8Fo919iRlrmvOVjDWyCBvbyqAL/o856E1lYoaIesOMABUuf+OhQFNYdSycjRjNCn15ZD+0Td
zsY6agTxeH9WN5ImdED04VjXBkzP1cekPUHf2koz38WJ7uDQpj+lqJRCQcIOW0W95tz3456u9MYA
TV6+tmGCiuckXgUdMBMJ0EoM/ajpI/ChNvXhcZmfehzfTvfHJz/LatWgLMVcunD/UBZaZYvUMUP4
USFg4T7RHybVGPH7Q17IjKIO+24n8uKpy7GBSX++PTCiQS/3HtTw1mxelusYkMrBDFrh9GemYkFY
RFp01rkEUYvrNT9xnPQPefvde0JtZARuCgrEJR55BvzV6/WTGTjMlnEV+sJwow9ZHf6kBWIB5Aqp
G5f66N8f6VY4olHUIBtwlV9NMc9s3iiBKryQbsi7UJ3tr+myVF/qqMh+U4NA25nZzXiuomH9wAuf
s/56eLUlah2fUEG1t2ufCw6rQ2twuwwH8LtK3u28BW9XkMt3hBJEMPk95c95le4SwFlD1A+RvwQg
0Xn9do9d2kK+y5T+LKLmYxopvxcRFL770/oi5nK9dAmM6DQwcw1QhLIq3sQ4tk29q0Q+hr2gM6ws
7z/AXbOms51M7ifaokXhTyG7Gi6GiEva02JOnyrbmh7shCvgscVY/UlTJmDaTaQ0/wHnDHh41BP3
i53o7oc+BBxzQMhvjHnJIvNxiGpacYcpNZWPeMe3E1I3WSG8ONSVv9QqSJxjHdGUUCs3/K9W+f++
395mBVQDLAXmuyJlCqXg7OuJboxeNpHG2AcQCvITnLsPRwuVx2miEuuowXFYusEvgGNi15CAvcVT
CQAIMsdaVqtHQaX6KUKi1heaaPZu33IVr74GkrbcAVCodcmYq1+nIb6GkEcU+wBEtGNnLgg8qL1y
xCnNvChYex1UwJAH9I3pfY9jD74Sn6sitdydstrGNFnU8ygmwUQDJrZa/rmuzkYUm6FvqbSgQkSA
jl25hA/5UBk7Z97GI5byqayGMmSAXeu7Votcc6cOaui38yBoyM168zjo2IPGaQy+3tW65A+znRT3
UNfh8I8Qkd4BQB8dz7IWnELrrsaXO1dOA1YOpyTMUYm6v0tuzy9+IdVUlAMQK3zB9L1eNMNSZVHV
hZGfJXyWstZSb4ji5rkyK8fXBF3GNG/27gKbQeWscE1GdUNf7cywdQbFQJTd7ydppg1EK7qkigsH
oFmK9M/RYTMuub335WXeXi9BRHv+X9hVXsfPFnPXCKVvlIaSB3QTGkpyxXx6+4xCXOJup3Ji8lC7
3oahAVUW2m7kxziOPZiI3B17OPO+E0TAgJPC9CcIFTufcaUXIMsl0tBCl+o5vHAATl5H1ZYIWG0J
akEt4CFmRQjbKuwzzzLF8hvqRLwd5dU+LQxygeRhU9Gw95a7/G7rCSbvUCaCgYmZ1upHuFXAw0X+
CHBv+gfDQM0ch8HmvZV13Sc+7fDVRr3n0STTPEBTy2FEmRjepoV4tCB0vjPNuWh3Zub22uty6KBG
woUbAOf6dFUtXpiNTeGIi3jlt1NTPAnXHk/xhNNplVTdc5fk+bmLR8fvKct691fDRimd+Ggfk/M4
BKldX3+YXp3CQQTEb626PaEJMJ+kNOiz20S4lAtteirncVKOoZol0JUs/V2xtGjdoJCAPgEeozvH
8Vb6MzgUpTYHas5rmS2U1+qhbrCX7sJ4vqi0dE9T6Hyhc76XWjZnnlX5UpmEkbtaDbzwcn2GXe5T
jjcvwE6NbwOVtHPlzu0E/SgNjgA19Qsm4dH7YJi0b/enfuPiQZcIXRR00aEhrwVHVT2GMpVx8cgM
qn9zHfzQi6L/DLmmv9hVBE7FipPjiNH99/uBt/IMwu70TjAtgTMnP8GrG0++RJM9LkyxNOw7F4Wb
PdkBFfD7UeT0rTcbvTiH3E2XDoz0dRSrpF2FSnTk91Wh+FCyxmPUmthEl3b4WW+KfKewsZW0TbmT
pFYk6o3y769GJZZWjaEJco+LtfnRXBoFGlOAYw+cKlf8wd0mOyl5kjU7G3grLvpFFqBu06T8vJrN
KYVAQu8/9tVyjs+DZv8diVn5YI3xT13E6qW29J/3Z3Zr4XBK4BRCuZC4qwweCVwnQq78fmMoMTCn
uuOOOts42dMN+qpa8UCTK3M/tnmzu2m2tidiKQwXuDnybqujMbadIkX6OfYdQLVeD3AOs/MmuiCc
Z+xkgq0F9DrU6jgsCrQ2hj6PfeHkwwHstnkcdNU9wsjrTq1q7+khbX5InjLoe3HjQKjpegFRZBGx
q9axH0BIPjaLg5xOoOlH+BzwnlIlQAY4G8/3v+XWfBKK3ghXT5bQKv0aLdCUAIaevxj4hiWNgAKs
O/hmGzCU74fa2vakVXIqktowdFbzmWLT5nJtojFIie2koX90mqsw8e9HWYk+/zrpbSn2xNuN5spa
hz+Fwd1h+pn4do4N9KwBK6VzTQNNxHV1yZzweVCS5ptqO9VvNlT9k1tX3U+QVT245bq+cAkcPX2o
dD8VKv0pDe6moWPDinhztZOCtz75L0EHG9E4fa1iZC95mnZQjvzFUXBfrnF7rhpT9xsFTtdQlcsZ
Xx79950Zkjf4VWYEGoBvI4abFGfWD9wZbxvcIZvYxzKyeNa0/qvexcuXORDLEaUFRM77Ors0CM0e
HTQtB0sbd5rEG+OmVQ1owNCBPNAIvV7qokX5pSvon2tYpvqGMkHuQDnu4urC8GCax2dlKaedyV5J
2b2sDIo02OPR+tUsRPquoyKhDCqw4bVRDU6DCy1tMG+wIxt116KjOzWkp0U18ndq1w3vhVoAsV3q
ODnFtGr31HU39h2/BX0QqqrksvXLp4cVO+UhbsyFFSonHD3mD/YA1U7X52GnXSXT8fpz4zlFiRky
EPfg1RYPYea42ZyGPnrCqvGYB130Tc+tXPVreixn6Obpj0S3W+ChqHIeEbJsHu6vuK3PTQmQD8cV
z7hxa5yAe3YTmr4+rSfjCbaL/oC1UfyQherPGlj3YYiG/nQ/5kb2pirGsKVENNT71cdWJ57HSYTI
aazG6VlHv/1BxL3zYCtWdumrNPpyP97GoYgErIJoszwZsY64Xlz2ZASYtRfEA7/gwxcvTlan4kTt
tf/0lTE9Q3oodq44G4uIs4INRFmMS/TaEcM1BcJE6I5CSAKGUhujec50JT7pk5l+uj+8m+nkwYLZ
I7YrTCXYvdV01vTZFl7xqZ8Io5cvtPaslGTLwkD3UARKvTO0283KUuVgUrkgoixHyOv5VNHtz+ss
FV5k9C0er6PpQxFDK6JS0vr3OFXh0mKShZP2oJ4wui0/R4mb+zUuxTv7Z2PoNLI1heMRmRqgXde/
pB3NelA6qlSlslRHbAMKv85Oo0QJN3sCnzdnpBw1cvguhzGloLX+N3wB1BIUYuUKQF5Y3vlsHeeq
0qOdw3hzUOCXXgKhUCT//uq2GnZgm1Wlk/7awqE4h0uOKMyBxvngHqLZSo/318/tsSw1h4C30TcF
kXEjQ4jTe9fP9Gw9o2+qs9k4lddAkX4HMi76Ubd0cBMtMZ4mSA7fwI11H4xoMr7lSmWewnbQTnbh
TocKTOalrp3iW13YzXOKRtCPYWj6ncV+s5flb5WS56bsBCGUdD05bggDP6hi4QXxVDxqQo/+XgYF
9lkahvChzKb5htBY5TtNLnbm6WZLy9C6FMUkW/NIWi17AOnDWDg0LJQOSOOQ1NrnVriI37jJ3nm4
sdZAG3Ij0xCWpr+3WgJ4FaXWaAjZSZ3DR4DP05Eqe/zl/offikI366WXh/DV2ptyCcYSxE0iPCfQ
ygceC/1TX1V7vfmNKDSZaMBomEiwuuQZ+Go5Jyo8BwrMgTflhv5U14V70AZzr4CzFeWlasWrXeHk
Xp2ksQuCxrHHwHORc7oUtUhOzlA0O++OjSXA04r3scvrnOGsoohe9NSwIJvFY5w/hFGnnwbTybym
glN+/+PchKIcDn5Rdjlg8PIav542C+YDFAfX9MJ5avzJ0GMM5ZeCMlwe/nM/1M2esqgxsZ8Uqqg6
LbNVqNGoFHQQR0I1GEo0qhH4TWpGXMhV69hGbfRhDszP+dhp3v3AG2M08a/HG/kF2WKsTq6m69Mu
ARbpwZKIP8D+DT2j6h0/WWDuvTmUxQUL56AXB9013KwKldAJWxXepjIBmOmGEoooL+On3k3S2b8f
bGNC6e/R+AO655hkjetvN1hWjZbL6HrOVODFXifO9NQEYHhwtm7t733RVl9NJDWOPUoae9LqG5MK
CwP1SG6IdI7Wd0qUSYoqV1F8aDrnrzigaJmHObStAHzK24eJLTqFPQ5hnODlL3m1sxc9MUYSFGBQ
5Ob6Q4uXGjTKLvrN6BcUKfMpMlBLdouvYVAl3+7H3holDHtpCKGrPFZWsWNzwNBzsCDN5TwAIInb
vj50+Kar0R6e7ya1oOgOmAyuPzr1VBFW10e4W9h2ZoHrtaOrPkzKMjz2wmp3BnRz6ssWkzRHpMKA
bYG1ioL+ejjmgD08LvrFo5XN4XGa9eI9aC3tEk7tngvDxgTaXPpBESs8+LU1Ms8EUdCUDcKleVyB
7EU81KdbLi5uWZk758zW0EDcSwtIhWvjGimXjrEWKaJ3PEGt+bErk/yS0KyF0ofFiYZ2QDfEl/vL
Y6WBz4OS6XS5H/DZOEL59/Xa7JF446BwbQ9eoG0dhrnMEdqaM9Uv53CAbGqNKPpl8+LNte40hyAX
zqNwF/WYIr/tu1aJfEqrxH/c/11bs46GJNAlHgU0O1epFhslvWX8Dgd7VPwFMSUYvDAc5jMC/MsO
WmojFhgAOe/UkpGhWHULzdII5qkIXTp20CrbUre9vIDUHyG1eLo/rI2E94L640YIqlSDJXGVCaBj
BmHeBajgtkN+ihL8HsnhaomIeZEeI70Zvjj98ql18/LH/cibg+RbgjEF/0SuvY7cY35UOTODXBIs
4OshqC8VoF8IgkO9t6ZuijPU4BTu43w6HsxI71/HShPcP7TQYovmgCxrA0JkY+QjtDz8YCynzk+z
PgTn2gCMqSFQdwpdo3j7OebwbJYYCLKSs1a1TxakyBHudLx5BvY0LKPxmBWq6pnFYPx5f2q3Pirw
Gep0vPMQEFoNNxzdsUPsw/EwXBU4jM4Qveg+nwKkvjwlSUzetlpxMJIU3tX90FtfFTU46Duq3CaG
zCivTpZG6wCaoe/sBXn1I1/s8RzqRKbRsuyUuzYjcfMBLgz4gBLodaTacOs57DuHi4ebIQFJo3FI
y7+tcXR3vtxtFgQFoMpqLukWAOPqUjACzEOxDk4pzoi0q2O4aObYGAcnK61n9MCynXi3IyMeVrgy
1UADWqPWeqtEMLARtteN7Y8mcLLL0CNOXBvT+a0fi5cv3QZp/0pJR1ul2pL3ntlVpuWpIGEuSkhO
haqoeLW9d5BsDYmsTkeMza7Qabj+WAUCmtOYqRaAGBUR6dg0L5gATLIuJv7FoDizePLjgSfV7K9D
obCUzGrWWF6EkMcDvYYUeOOQH+PO7Y9vnz+K7vJA4DymiHMdClKWrItWlqcHSeSlLaIWkxAtYAbN
8t8cClIBrzH813jFrF9JlagpO2NZ6ZloCWKb1wfqpdKK8gMiruPf92NtrHdZdKOjL4cFJO16WL0S
IIjoFBbamfafQGenD1LWw1vEUNDQ1s2d7Hx7SwMdCtaPccnWpblaGxnOGahzj5bn2m3gJ8qApAV+
TG8tOJH4+VS/kFnsrNWgXJ6wMyVoLHxjmpao/UnMCdrLQdKVF2gQ9DLuz6J8Al1ViFcBV8OCEtPy
HVmHajqj/2YIx6fIUR9EtxjvkbiI/dYtqp25lDt2HRQIBOaCfD929OrmsEzYRDQuc9kXufXOdSfh
d8acXZwpik8ZxdRjvUz2Aywk4yEv5vHL/TFvrRyImtQ9pN8mqqnXK4dnYF8jCWt5yEgEx1FFDBBt
m/yU81UvYH7Vt8KqmGNpDkS/g2oIQPvreGM5sPNQSPJ0pTG/JUEnLPRZR/MRF7dyr7onV8jN3LoQ
QZHLYguuy4gQsFHpaxkcMgr0dMZwesjscr4Ao0ze2vZmXOwJ3L7A+EqC6/W4CrsfczQ8LG9E5Bn2
kY4u8jK2npI5zW8c4MnHrC7/xTEn6Tfy4OHcoVx6HbRDkrN1EnYI1jrphV5R57kT/Hyg4epx6BLl
7dmT1x9VEhqKlGXWt1w8evpcixlk1eXVabDsGuyjIR5cpYw+3V+Xt4VvOaGSOEUBmOrMOscUOmbr
TcxCsQw8JI6D2mfGsRmW4NEA0vzetmvxx9RwMcJ5u7xMatP56EgZ55kXxs6wt9Idi4efA/gN9bnV
vZf3ahoMg86wqzmhY2uOXmlH+s7taCv7YEr0gnvk2eKudoao2wi0xGB6mR06Hi+q9JBG+nAwink4
WYE5eDg82ztH7+29U2Ic6Q7TquHyucYwGLXTAPO3eMuj6XA2Eg2E+jhZJ3RZsTOZscVDSnR4cCPU
Iu9/4K3EI18SqL2BRaPOf71255yzsal10zOdKP+QIiiHsiQ0/vhAlxmRZIsq457N7NaH5IlK05e3
GlbIq2RXGrPIW302cbKdw9OslTiXZMii3h/ZVtZ5HWV1bgUgs+MmXijxFUrvz6JF5Hdwl2Mc4q3y
9lCU5wEScNHAO2B1Yo063gILXiGUyXWwYApyqBG9Ab+ozNi/H+oWOsh8wWjm1Ul+g5oi1++rd8Iy
IRPloPeMgnPUK940pZpzCM3A+TPV4yJ5SNIIMdhedTOEsKkGB9YIcmN0wmln0FtfkUYYfHspFMAV
4fqHxAUCQapKCdXUoUwMXWe/i3Jn+Xp/vFvnsrwi0jwFJs3V9DpKgwtR6CqhhYxVpRkoi1nBEzS7
McI0chTR0aij/u8JAcPimCxB+zi5FXe7+79BxlifX9wLJKkfij32Ste/gXMxq1IUrbzMFYVXdNNy
suxhbDyAV9W51dT4p2nhwv4vtiY4oV+SBuCRVxOsJ2bZhQ7lcBw1FXJugyBg5KJYbQ/6dKo0ZH//
RUSgaeCKFc5PICDXA8XbYYqtuLe8olSsj60ikEosyeMh8uh+F0P93Am4tYYkrBgWGeYXPH+vAwox
YDITd5bHMxfxPCMs348uSpP3v99WJnBkpqGSAWXMlr/i1Zaps9CwZ53zElCjfsyM0PGHLM+RrEnd
z/dDbaVTKpaopOKNCWJz9YbCsyTXh5FEbkUBjFxTaPBw0dtz8EL1minfc5m8BaySDl4H1K7HVmqR
iq42i6SrkZpTMQ5ARNPIj1aPJk9d1+7RcMf0pKit866u0r+cscEqxA3Co9X18fn+6Ld+DeczhXiQ
NFQjrdVutRDILlyLx9ZSF/VfMSjZ5iiaCl2cWJj5j3LUl8yPEECGcoXmoGAVx/kzshWCQkQhqumC
PFL7ZnQLDR7QPdzq5R1UNdZz1Oq96kzc7Weojf7UUQvtGut5nkp7JztvrOerSKsNVCeGFlgNkVSh
fq2atEDcHvmp+7O8sZwJwhVFtoMZ0Oq0UedgUfRs4kHWmNnFaGaum1kweriG7V25NkOBb9QgGfOK
1lY7ZzGLEplphe9ZJLgx0GV5rNL686JP1c61a2PjkOBpreBTREZYv79wtilhzlMRsHE9O2WjZp8U
YG8XxykMXzeTZCfeRk4HjkOLgzxHa31tEdgnwqn0nMwz2pBuMMnUj7NaKJcocWrcEnB7+wPJbpD3
97/d5jBhjjmUWKAcrGu36uh29lRwnTbR4X4G3jJ/pDzB4zJdgvdGYy47O3Lj+KTdSOteVnQcemTX
6SGp56YwwoWnl4pa/yTKxTcbbNQO7Ajcj7GsOTfh7LwbY/TOMevqd+JvTvOr+HKBvUq9ydB3FS7y
TLNhLBctFdg8Z5rz2DWA+nWw5EiSJXskgo3bNG1dWBXcTmg7rO8MjoIZhzFltpeUbXWJbBuB8VIB
T1C7EUZBbfagq7iql32h7ez/reFyJ+IeT6rhAJB/fzXcOamazCatYIoXRWdOouCg97F+jOcSJ+C0
ry99Xr8Zd0V643pCwYz+Jx97ld4AcKQc0mzSxKEwyGMh97qsSJ5JpHsKJlv5gBIJhBGWMN5Lq8+Z
zwiQDjN1z8UKYSAPZoe7B1q7A12Enanc2imvQ62y3DxY6mBmNhe/hal06kS9ZCpyunOFRaXJReh0
f2fesr8kDIDJejlOqYKu7iJ2GImW2h3PyyAQP+rRMh7dtHF9uw6oxgRLhMWf0rR2f0zmYXgqdQHv
K0Vv3BuSsfFFbDRf09A0j3qfLL/ro7D/vP8LNw4XlpWiUwumYANP8XpxOTp2m8gv2F6YB/0zN+N/
xrCuH+4H2fjCHCsc4S9VKGr210EQ7+wre+xt3Brh9wWmSM5TinlPFaMJeT/UrdQAhdLXsVZ1kxi5
bLcPUBey5sYuj26Dk4QnrGL+R4vc9kdcT536AdKAnSMxF6ffrLE1wmMV1qk4ppEFUsymvWD7+dRj
kFOhqfjmk1bqENEMok7NAbhOJLYrlD4AFeMhnN49jqJBmhdHaT8aa2fntXr7cXldcCJBeaKqw53/
et5Fv6SKk2Qmcs6m9n5MrOWhcpdu5/i5zYxUmbk1yNe+vKisrqfC6vRoEQkPVS5pJ6TBMbiyQuo6
aTbN0B6r4nM7jrqn0XF4K46I5xMvOK5ftGZpJa62V9PBU6GTZ3pBx0nQqoi6go2fTnOXpd79hXW7
hglFs4z0z6uNx8X1XAZ1kOnYhZie7RbZuzRKlMsSIFvJC+bLv4jEi0JSlhwZ9DqSxGNP6K/w1dAK
BTzdS8GllmvtpOrH+6Fujxb+/9yPuDNwY7khEijIlloavkPYnxRIUCPqSj7rTvaUJNz4UwRg63SP
vSBz7PXD9yqmsfpm9SzQ9GiJOZpi8BQnjI/A7+tjPFXRKUaadWeMW5vg1RjXy3OZ3G6kl0M89Oz8
xdbqUxjp7s6u3hwVp7SstPPuXKvTLbgr6EVgAu0f8CAY3dqBfj3gUpsu00VYTni+/+U241GrkZ7f
ZO61Sfw4ZtaALBOGvkqCRMDcOidHQ8eozqlghma7VzfY3OS0JanJcMcEjX29KHtcy2LqpKyU1MlP
iokgdBDN0wc45tFR03rnKISVnTVMVXYOj62RSvomdy46YDcvE6tpk7FNXAOngC68NMnEO1R0xaWZ
lOZBncW3+xO7UQuDu0rLnCObjMJj6HqkdTNoNRBz09MiETwAt8FLzezQ6seG2NPNrPcDNA8PnN3I
zOrFn2qq7JX+toYMaFUSZiypfrbK25ykc4PNEO/vyk792kzs8BA7AoF5BChw4Er3YD5byY3aN1c+
Ouo8EFZj7it3jOhom17fsvMXB853Z1Wz3wTl9/vTuzk0JphqkJQfWj+RMF2z+rqiloGwWOXjEYVI
so3QV4+n4BMG0OHO6tnoNRCNd7pDZVMz0bu4/py61kxjiYwKeVtCs8JBOWEQj1VC2GsHzY2rh0yE
1lGdUbZH8Kw9526Ez4eVujsHyFau5aSiYyzNbW8QEhrg0I5uo8mN2g54gob8p1NUb6glwAeXP/sC
e0d0O2G317Ms7jqy5Q88+XoCsrTH3lLr+bZNh9Pr0rTab6OpZ/h0xfk/mKOI/5gzOguZHRsfNTvo
z9Mo0Le//903VxjoBkmNQ3FhzcS14laflrCi7uim/SUv0+hbkPW/h9minv5FJFleALrmwGZYfXAY
qlQDAq4jeefo+HT27nNviPZhocCxM7dbg+JSL3co5Ua65ddTWytWOAuFUNpszJcYOYGj3SfNaY6z
vZN6M5TMvoBEuaivefVhJYx2jMlKCa+wYwSz+s8FLx4vwCT1n/sTuHVgSgAKdw+AL0j9Xo8qwzG2
WUzV8OBKNd+1PuZ8MTCevB9lIxEgqwPaFTiodGhezV2zqJ3a05NH7T9CdL1v7G/O1AzPSKP/1vXh
vDOojflDDkoieSGkUbFdhdNwvxhUYRiYQ1QQwnCS8NiGzndR9ii33B/aZixIIAB6CXkjCAXhdDTy
ImZZwAOBs6zZj51p/K27S/rH/UgbpzLnMc83HugSmbj6VF1B/9C2uUtlfYXBQ2/q4SdLDbEkRXK2
0dEodmJgi654hNs77nzBrcxiAM+WVVk+I83c64XSmqlWtTN3glGxkxMuMs27Nu4MTzii+5ylGZIK
dtImh5C89FgkQ+VDTE+/3p+CrcmWm4JVhG4SIivXP2Iqg9lpJm7LmEJ2yhFb7uoxcSCZgEKo2p3c
srVopdbqr+oeddLrYDSmtVHBLMDDgIJrVkJv4TCaY3dqsKFKPXOpxfwvFtPrkHIJvKr+TNE8ON3c
mp5rDN1Dq+aT36mR8yFQ4z15zM3VBMMP/Vqbt+kal6lPpRJlNc/FqSwQU+W5VZ8neEq+mTo4HFHo
Tv8IJrv5IqxR3bl2bcVGycCRDSJ5YK+GSYdjLGsShlfmsfrsuqilhJqaH12r0X1qmziohvl3fK2z
nU+6tX5YPBxN9Fmprrmr+V26ZaA+a3hFYytnG6trjK5141xO8+K/falCLIca9kJJtlY5qDBQPVks
ytFW2f2nsFPzY25l7Rnii7kzqK11aqgU17mq41p30wKjto0CXomJDMnVG9rB+DhMDSxGvKVR3LH/
vj+wrUsWCBka/SqpVSKlV5MIdBgLapphGBdH33GIqh6iOjHxntKKv12KtZ9nWHo4dEA4izFt+ZTP
tI5THId3uqob5R/Yt6RDWfKXg1+lg9gdtN5quF86vBYOohHzc1UCX18a9VtVLRWleSt+qo0mfCgC
QJ2ukissMquixpmiEBZmNERNfQ+bKBPD6tFLioSNAAkJcN2aiBaUpomdK8d3KlBbcaEQeooS6oc2
5M6AMSdmXMu0J8G9cZBfBV1lqypD9jCgxiu5OsOxtLUWcwam5v7H31prEsWDHw9fn4rW9bfPAxfj
3TG2vLjSvvR2bJ6XDpyAqSTPaqAUn+5Hk9txPZHUK2QlnICUd66jzUIbociplqcEpXpQ4lA7NLk1
vo/VIb+ESjX5YYIznB5R+xuDPP54P/xWtjBNFgCYIbgeazCw6SaD9DUGlRUjYRm0+LH1jRYezTgq
zv8mFDAIIOPcW9ZdlgWlr9aQIN2qjKYLYuqFz4u//pCoWMLeD7X5CWGVUHFyX3iZ15NqBmmVozlK
L3uMaejgeP+h7kfVQ6gP+aiq3MPqbM7iq3irhYl8Y9ViCgvGtMKWcIF9cuQJt/iucPbaNptDo3Mu
ZZfoOK5fPw42m1NLQc8LEQF5ok6RTXiVVFl4yIp6eGca8ZulR9E6oJgGE480BGVGDv7VgW3lFOyi
jpI/3G77mPexdqgDazm4SfBmKvUqlBz8q1B168Y9QwLpsIzWIVb73mvrYtipIm9tOQpMdN+pIlMV
WW3wth3UJmFDebpwWykz72BZH6juY6aFytmMuABmlRs8lfFSfdfcqV12lufmD5BgSFnnRYl0VTFs
g2BuEbe3PIREMEZNUgAX+jC4P/ISR5qkYL9b+iBOQoSZpzrxnjDA1nLFgoNmGEcpmjyrM6U00EXm
giczXF/MGFRW+XhwIkf/fVriJDje34ybo5VMI2ZbWtuuPirU0awwA6JprTod7GDspY+Vgr0eolVW
HOdINYrw2a5U691iTnu9mq2LGJ0CSt30rSgIrcLTDlQLadoGAzHCmgq/9G+9kojfVTPoTtrIx02H
CrOpvG13Et7me0LK/VP54vEE/vx6OU92i6ftBFLIVfvln8GYuhOF+PLilIN7qVFRe7ZF2RxkqQNs
KpQPqinVXjdj69CUJgd8ab65tSYG6aKFGD/TXKaG9aHOAvQxw2DfzmQrL9HyRPNVilpAL70eKxZc
JS0E8Oim0v40slY9RVWVHKbM6HwqFXuc+81RvRwkwCPp1ayXcJE5cdCBjmyNJjkuE50na5n3Si9b
S1feAKi1QezmMng9KOzD3HTqefjWWjjpR9HhRNdk6FyeZsTQYjzCtLDy2ejorfJEVkOvt7PpX6AZ
OZ7Bu9OkQQIISY/rn4EoMLYnKpU2HKXCPxVOmsMwjsWjKO0M36rJxmikr04KFngHI8/Ki171wQ4W
fuv7vv4N66SpYIiVtqA345lOs1ii5lltc+2S9hhjKQDiL/ezxtYHJkPZUNrgKd2wla1+Miw7pGRs
lOV4Kc1Ou7iYFPx+P8pWJqTUgJYvNBvirHboGFG1pOFoeiNuG/8EXW3kByfPhvjgDsGwh2vZSkWO
IWvxsGxQNVrNodrb3Vxgl+oJPWlgmZqu9ljFYxYdnUjHhqlTY2gFhdUl+HgiIL1Xsd0cLfeG/+Ps
vHbkNrot/EQEmMMtQ/dkzcgKlm4Iy5KZc+bT/18NcA6mOUQTkmHrRoB3V7Fq1w5rrY08Kc4ADcPL
c6S305hLXUtpwZjsU110y80KZgk6wzwd5C1i47ZhLcdS0InQxQBRdmkqmxazXOnd+KshF5GrZL3j
WdJS+j1YziBBmdXPluKIQ7Fr9bUzrNJfeXdomhLRokJ0bjMzr24rM/tUwTo7y4gy3EsT8oFlxE39
/SNEEY5C8CvAZNv+rnSS0dfiWFzNw2MbyetnZUz6GxinhzOj9i6FCGgpu2sKdbjtB1ShuTGrDth9
m1anClmdx0mpooOrt3dMRcYGFgp0kL1dEZN29QFBYcOPmdL9n1F25eS3iM+fl6TUfXiFyV2P9hpw
oXw6YKbsnVBcLSB7/uPibR5rfYjU2ID45s9DPN52MYMrQ3bjLmqjI/mRfVNQGIiA0Njaik05SgNu
L6IMjJZcESxW/083h2OAMEJ/EADtWCKfZGwU2v28xFsn004zM6Uy8J7WkOgeWjHh3TjZRu7q5qCd
f/s0ortO9xsmMMXDrYvpIiYgMwvE9PslSvxeVyREWu3lMc7ILq+b2nkRMAXGiSNCn23LxTV1CFFa
So0kqgbpV8q0B1dT1fj70DYWoNriCKC68xjT7hL+E81bwipxbN8kB5YyZYls4lKYdVlKH6ZCkj/V
zCxlpsbU1dNdmtS5fZrtVoe1yEBvZhlPy9/X17xzAV9HI1EJBx1CBnb5G+w80giWqfwMupl+Hp1h
DTpomr+uW9k7MBT2oXdSWKGlsHnv25XsFQ1EghslZEoek8//bQapckPCkINcaM8UPCHqDuTK+LDN
puaV0zF8cNZ924nbG81uzOcyIrIx5UN1t11TvAg26rl0sbaVrEWmujxDEPOtsV6DiEmkt9kAlXuw
ouQgWNn5TKJP4SAZz0UAPXX5mUyzHaCTMldo1JL5FCe5dU4sqhrXP9POBSAYw/XTwRKqP5s0Th9s
ICXitSFF7gNFHeqv9jgV/zpS98NWk/7HdXM7+yc0OfD7aOGzqM2nam0rDytKqyibdPUHZiWhw+sM
U6Aq01Ggsrd/SI6IVhYzs5QtDInHpzeUleZS0qrKjd2MQ9BEmX6wf/tWdJi5DjEJ+ejlVwqZFV/T
wtWJBKqSQeu2+mDDnLv5g22j6wfEA8oBaeCllczpmbbW0E+JmLJ2kpJxJbsf5cfRSv/5fUsQX3Dy
PM+I42/WU8pt1aM6Q+W90/UnuVzUm3mJEy8z6XBeN7XjC9HygYVLXxja4XYWYVGW9HI6IslSyZl8
HNWaq4RSfCPF1t+alMe6yzwV+aYdZuSFjY549rr9vbOIuiAES3yxaE1fbioxFsSrkugcHrB8hsL5
udIrSpexti5frpvaOyXYYAQrRCGqh5sCqRyWDKFGMsDXm7YTYvML0hKNo+YHS9rb0rd21MslZTXD
gSHCcZuXbvhmMd7ydl1sZo1baX5qrLU/j0VtBLFUhe48dUejPXZ3VOQ6IJSpO2+dSZ/W5tR3+PyV
8ewPKnMs/rLkdXGNUPl0fUP3LDFCU4SRcE/eydXN60rXJFFpwDHe/oZRuM7HuCNLRzTXPNjTnXic
9SATQiwpoH/i2755smdntqu8o9eH4kT+0xl0+c7o5eyfCEDDHepmxZMxa+MfXHiaEvRvHRoUxrYB
1gGTyFPkNP0lzTQ37mmKjGXY3zggDfzrWylc7ibLEe+LqKwg/MgR3axPU+p21WBKNv1MMpOFQ39O
qiq/jzUrPLW9UT+jGC/958jZUVln7/HhdaMxBKgK6vHGdKuq9SjFMb3NTIXKWNHwKa01c3kjtKCT
y/YgsNxbKmEetQxBQoNdfLlUKTH7xSQ4B7SvGrcjyj5MZWcud6lFnegtqm7Vl22QxP0QXN/kPQcA
uZEuiNBpQ3/30vIIH6FZuXo+9hrPmee4cGWnbA68954ZYllRq6Pg9k7Nqyn0NClq0XfPCv2fivkK
5zpXloPIZO9GEDIITVa6E6zocjFtDJEkCtEjW/XmuSoy41x3hXS2aqkErW3UXhpK1cGF2F0ZzxHn
FLGed6O1+lrrVD1hZXQFc39SYZ+Pq/Pz+lfaWxiPEXpvaLxTj9t+pUqKHTpJqMqoMi2XaupdRDo7
j/i8c5O8qN2hSoYD/7KzMvH4CbQvxPt3Ar4IX8uVvEjQH4xhGF0rlev7dk7mA1T2vhkBJybkB1G4
WVsSR4yOzqnXM5tA+lUvRv5Zqa2jbvquFbrG4L5xJ2AWLo9GXGg0JTKY+1ZtSjdmJC2p2wyDfnAC
d945dLzFtD6qasDJNovRi7GS04E2nGGl+lOpSD9CtHyRrdfuchBZH/p2/C7PzHdQR/uoPrPz9KDp
SC9JyNYjRbhZolIDiijCSIivRc592TUoyuqZObutMuvWweHYNYYcr+B18QZtO6sNatWtnog2T7E4
z3LYW4FqFLSL5aGu5uD68d81xm7y9WDqEgFefryxi6IFjKXlV039C+fY/MXsUYYdrMkRu2jvmMBm
ZT0EtACFNpb0TiqRRgjpZxRNe0KTZFrdhZldRz3NHaU8DU+IcoYofgvFhcsl5ZNM7a7hY8ktipX1
osYPY112QbJY401ewd/z82nV/MZMmLE4j5H6PCLQf0qozUdeO+UNZEgTFW//+lbvHmCwxBRSGPVC
SeHydyko/kvrAMNH5Wn9nrXxcEeKXA9uMw/hif2wHaRp0KJzG03OEs/Miro5iL/3PjclRlA2opIL
3f3yN1RpA909a4FbkAg8Qu0fHtLWnE/tpB7G2jueFRw+uingMqmLbWNtJTHCQaOgQdU2tm+rvpLO
izG0nsmR+4pa4OypUdL9wXkmRxcgNCL5d1obcmp2llQAKsw6c/miTkyudZR8+F6Q0PzBPaUeTQXO
ZnYbUKnLvWwBOeeoR+MUVNS53VANrf8yNS/K89C0sn66fnr2rg8CvRBaxQAdwAiX1kZGZqRRxOmJ
AWdnz7ldo1atN9byBzQNEk60GAAQcUC2HmFA/kUig4IjttYfrFax/22Q9/nv+mrEr90EoEw5g6eE
9qCoP29WE/Wm04YhPk6mFnyPlL3yHEIH9OJEHRgcPidHWdLewdepK4r6A7Warc4V85sjB9Ag4gdO
a560AhhdmvXDaSjDI/nxXVOUcAisaYBSH7j8UrSmR4VJGjC4JYaOdb2W3bRjMwaVHR+hmfZcCg3q
/ze1uc5aq1tV2ziIumnwE3qTPoU59996pmmi6Dw77rQqaxDrbe8WqVUf9Er2jiRgPbTQwAPicDfJ
dNWnhmrQ7vL1TjdeMhgnp2Iq+oMocG87ycUIlShd8gmFm3mbi+Xk0FMKtiJbovZmCRfGrgNRfEBO
fDpdP5W7TwekYkGie01pN58ujSow800EqqhRQuO2zcliPVUeW8eVEOVEdrWJ8M9zRPn4yVwjJqcw
WqNqXHMxlW8g+uezWjbTz6nXpergx+3tNpx2wADwmsigNt+6g8SUK5qo++tF/XmpwHgA8v0D0AxD
5imhAXUS+aF2udtRXId2psCcH1olDCy9+6eSG+kmUtY/cZ+CEkngCAKJ8vilJSLy2ZhUoJHoDzPK
wixaBA5yWWEwaUYN6UARYPcUUapTFIS1yMrE3785RepYzrWSCdk5o4m/O5QJb9JcVj9lYW4elKb3
3j0hd0LlAAECpFUvTcnwKuK+ECgZmKSBSsbrl/ZEfVpdIneypvlOMmPp8/WjK/6nW4cqZJ4QrhTD
/rY1SWUpYx0iDXex7eOH2agtF9dal27jdLJfd+MRKm7XINEIidMrRGSzoSEDFuyimtG0Y5g6AiCK
86OxIPaMnRZ/jSvtqEG0u6uvysecDGH3clcRyJGcRabDFjHA8CnXeuOzIhXDaVy1HM2TJpG9HtG7
o2hy99a9MbvxCAbM1p6ZTXjYSVa9NslrGmH1EalvfzN5m4C70NTY1v0LzZTUWAg5lCQaZJyGwvxa
A41pD2oLI87IDdE/v35i9m6EUMtWXnM2PMrlhmZt1o2gfGhZxrr51C2FFkSTbj1mtp0cRJ17mwgW
FFoAgRK92Y2pSGbAyEz7yTeGJIvdQgbH5aKVcJin7R0S6loMXSJ+hQy0MbTQbSqVAn57N1ZM+ajM
fj2FytTUwayWDFrPHTtwhqb/+/pW7j3DFhhYQhoAU2Sol1s5gOmJMnIrP4bKck7tvv9nbVOwGHGi
3RuaZJ5McBMemvItvFfdOXA4e6hvus74NniZ1EveZeBVrkwrCBw6jA2ydhBsqmcjZlSfy5R1pfXb
dZweer1mKro+TAAvJ6Dxk1sPto5MiN1URz3qve8ACB13JII8xsxdbghK2XzcXERbVa49gOeOTqTM
me/0cpm6q9UoPqpA1cE+7FoFu8E/eEBAppdWYdmP09ATVKaaLCqKlfYrzeb0HgHH9alKKL9BrzyS
Ft3dfN4VIXUnC2Lj5uPTiWKqFJp6fgzi64RKW+d1ZRs/o/5ieTHY4W8OGL2HkseOORCySawQJl/t
Dvmt66dw75YJ+hEnAciVvg0QVCs2R6bssOljHJ7JFZCok7WjDHLfCtR7NIQpp26ZTtKcA90dSOPN
aU1vNXXKH8zUkA6ck3Cr2+dMCNpwhmiYg+m4/JRzKmlaK/IDZ8o7qi6meU7nbD5Pqbre9oNVuVWI
9L2Z1vL5+i7uqFyJFjkkKnITIHrbtNUaFJRo68zGajY8q7Yke2FeLF/Qg5+GQILtPZyzTFNrdzTs
6YHJphkabuKDF7PxrDdKegS73d0MOh6InMlIY24FCKuwQdahsyxil3D5oc2ymgD2spnQotZI297p
SoQGTqvpD0iSHmkM7T1N5IGURqli09vfXGUmBStatIpZB2ExpE9S3eV+XKrSh0jPmvGbHEf60Xr3
7rHIKlSZCo4YF3n58YmtEqObWO8Uho7xqPaW9aIyr1B+UedGfc6Wvg06o9EO0pmdlQLwx2EBuhUE
XXHy34SIuMclhVOGcrqlpB9yleurrEXxs2ulr6sxlgfmdh4NphmQjjIfQxHKwJfmlqzKGgpQnLNB
M5/zpWWgEMTS72ZYaou3jI5+j2KN8skpxYz4VTrSl95bLqWZV6IBx3yr07nkbSSpuW6LVmxYu9KI
bIGbUUD9vraDI0Iqe/15cLdERri51mTfSFwIeTPj3d1qiwXBlba3/Lmr4y9dM6pna8qiZ9g35s8k
Gwp3Mfu6chND+qEtWu8jza8euMmd28RvAIyDmC/o7m23uzNTpivMCxVPq1zPrVmjLQAf7SZcrcI1
Tah3sNGt4pS1RXrg1XZCLtI3evrwZkiytgoYQ2GYAKUxvRTJ8rHpa/sLzFX7Vlkd+7+DrRan9d1W
g52moyH6NVuATKFR8ogRN/FHp06fCAOcXxazV2fPiVVGzIapolZEA1n7ZE2RVLuLXMrqKYn4fW4p
p10VJDSVEFTsihhX16r10YfY/4WcBEoHPJzbzrEpDXExZAkyvKG15Iy86YsHqsfazfWd2DNDuUwg
QviXWQWX96wxqkKuEs6cEsZx5S9JBVquydf8r+t29u4Tuw3CC3QBaeYm+jCGKu0dDV0y4F5Z5ClD
2nySOzV0e5IVdF2ij9ft7a4LagsKDoy1xl9erkvRsnKxbYLqxF7Kv0EbyD8tczjCuuyuSgCfABuz
pq36dVeXurxYqDgV6zo96VVKzwMJbr+RrP4FuYqjK7Lj+9Em0LmXlDmATWx8f2XT80vT2fLraZBy
T0ZzozxpRtxHXrwORXSuFMDrAcOg46/X93PXMnVq8llL/LF56MzaNhanI3ewpSz9tOhh9Im3goOp
1ibvfqFQMaykxb9ude8VoM8jpGPoA74rFo4NQbiUErTXo6MNAKPW7rHO1OgDBD5Yt0qqSc0pSbT4
V9wmTuzRel3+oBKDLDWwAyHDC75ts+fmqpQIfVMz1zulodkkl9E3p8ycxdXn5ohVs3egKGMBAQIp
yxCFzTXpHGMgiCO86vM4OzFvM3NDc2keyij8sZLQH+zv3ldF3YtCM6ET3afNK2tr06TS1LXhuGoP
a6i1N+UgfzCWsjk7C6D1dmiO8J77Jsl1kQMgH9gSV8JcMgsKhMwOQl4MfNPUwIbv7QWVxtX5Xplp
cc+EJOMAgbxnVagCAalgW7mrl+5AzW3GvsUy3SWN8kQhxVIgGVF/G62p88NkmonHXKhDUZe9r/nG
6jZYNpEURsyMroS0dPKzgwLYaS7k5ftS6rXsEfpMqjsMKnUMMzGfJHXQTw26jb7ST6uJMBMoRzOW
tc9sY/dXlFbLE0ME+ufrd2zPU6KtJSYdMQ6QN/9yazRpibqKJoQfz9F6rpwyfOqGuT5ft7L3uKPb
LS6zzVOzTYzaJZQzgx6QzwQEEMxFqXtyZso+MVx/+n1TsDGoMNJeoy4uvsqbSFWRmdLk9ESqijMy
TFpKdTelAnZGfCo5uD97ewdEQSAdETR9NzmjMAnSyswG0pvm2YlxVNIpV63x4PDu7Z0gYL0CN0EQ
iF/xZkFzmjEQWxNVtmL5BSAvulHb9Tu14CNIyZ4h0kmiKlWMGN5O2atlZajzBrSa1NI4CzNt8vQS
PacsItr/7Y/EkCLYCLTsSJu2La5yzdJ8FFDHClLoPYr4WaCCO/egKrYHIe3OqojxCG/YQjKXrZ6B
rmY6HHbA82uShOjSD9mporT+Y0U//g9MkZGDiaMJQZtg86WiEdWACSIvUY5Vnynsx4GVoGrQpcpR
xXevG0P+J3g4AruCEM7lqSAPipUsrS0/T+XqrKiN5CWMlwyWMRrckhqzN2dWE3T2uLjhEkGnK5Tm
HK9z6cbysNx2pZEfIGp2/B0NL6aYCglwmr+b52Sxy7xVS5YvD0nj9+YIA6tSiI9VM/GMaTiSnN21
hwYIPVITcvQ2eOXJZkBaAzwjniQJ/KhirMHSztqXRQu1mzBu1YModu8oOdQYdKaZw9LeDsgYOg3Z
w5EoSJrq6VeaVtHtRCQQTIXTHAB6Xjs8mxSFIpIuisKKyIQ3m5lNeQhojydLUqrR9KqerX2SlLZD
hYve+gvjos3/ErVrB1/CnYbuSmSN2guaVQ18wXQe3cUgYfSZlwL1eOqs+iOxsGIF8doWstsZzvpc
T2AcvXpVx88pLIjSXaMchjt8nbh1c2L52Ct0qXxKc6E4IstDr7pRxJiQn5Uyy4bLRPvBPMUE9RGE
22akptc07Uu+1sMvdW5zye1rExmzZSnlxpPbvlo8LW6yl2mthvqMlJ4mB2ndqZJvtkX7V5qqxr9r
U5kf4yJyPrZx2K5+h9zYUU/hfWQpengKuSp4CP4UAcMbn6oPEqhhZQSeYKv1312zMDEnMfpzYxjl
2bHQ5awdots+DRWeQ/nTde/3/uAK67xOhEBCaGXzRA2MPArrTNzdLowemdvQdy7pqPFoGmOne1Os
2j//wCLIIoaAoV7MC3y53mzh3CgWpGUbh/xkggLxFlOrnhUrroOu7u0DT/g+4KLOSqKCeiwrpahx
aa9yjFhdRtp8PfPd0DCJ+5Om2r1XMRuADFpZTim8qYNtfX89MUqHCIVx6L3ANC6NOlkaFRpezzc7
M//Sr4lKLXI0nkKQwwdvsvDkl7cTU+j/UHikmAzy89JUlA7StITklzGX0SsSKfwQpbJxULPfOydv
rYhf8eaUJos2J6VJ9bxeJesub8rhwcq03ItH2UhdDf2jP/ls9KCA80G04dm8NBjaSi5NeHgy2L4P
KnXNPYDl8zlPW/CesFxvUyZR/nYswF4KEKYAv4ke0aVR2JuaAaWHvlQfdx9NPQndIRyL56k5JKfs
nRCkwOBYIElKNWKTzFXN0HeSwbUf9BK1En1sPLQkTRd1mCNV470bwKRkIYyCkhJP9eWqyCyE8AUA
r6hnZnI5Go5HUy78jER7/Wiuk+GadnFEbd87MK+scqqmdAe2YVWyNlq7qmxlAnhwOs9K0r6Mua0G
aAU0vddoJXoE1z3L7jqFigivIopc9saTyuh59J0NoLBpEvWWCbCjD1exeSgWSD8aAzjO6BJU5z8x
SkouCLrUSjfXT+/tBA0kYC9dLleQ9/vvg0PcHUtS70lLNnlZqRwtdLu3sJ4FMYbQDqY3bntzdhCZ
gaGYZWtAJbb0uyxifHlYxl5d1LOvFs56UJrbPlGv9ghaoQLgP4ldLw9QmHWOvIzJGkxZ376IntM5
zabhexYuzR3YQftcp5H84jRV6KlKg8bP9T3eWy9L5nUUijvvvKlVD3QyzJn1WvF3K23nlwRauWvq
022hxdOv69b2VkuRh3mY+G/AxJvdrUlN15jmUhCFKrOOlia+S+tSLk91tzR/yVINF09Z2m/hMOcP
/Wyr36/b310tPWL4tVDjiOAvd5vRf9LYduMaUKCwkZ4wMl+P+/zRHBTFlZbhiKL5TkZEfF4EAdEj
o5BHW178oDe+fWLM4hjqcCazvlRu1mm1foqk7NwNvRLoSzH5Ui2pwbA08r2uZPFfMZi1g6hg6w75
DdwdC0AAMrfAUDcP5kxXo+Mjr4GeO4s/AaPwUiPNvRSOUnB9f3dNcZLID0BoUbe/XO46RYVa0TQJ
0EYZnvQ4l099Kdefx7k84jnumOK6cEnJL+k4b9GMa58Ydtcx7gNYo/nR1ApSgylL74tMOti/re9j
/6iYoEjFWwKuaDs2doxSCfhGJAdqbsa+JK/o/82L9CMirH9KkZrU3FIvuoOoYG99Jkk6oSn/8Gxe
bqVGBVQtGTcWWJ1seSEqNG5IF/S2SQ/nDu6dUhBF3AvQE3AStysMe5ZoKNIajI5ge8zWvFAYSM2b
gsbHt0XL8n9Xe7EQ4zXUk7LWtowYDoqMB75oZ6OFHqqg5YKRecfVYPLHYLe9JAd9Nn2RIl26M6ih
IcpaLqd4HWnQ9HC2Dozu7DPxqygiIYQIH0X8/ZsbuhZGrsp5pASkJ8pZiSLpFBtz8nEm8z14z3a8
H8kUfQQgA9R+t5S6oqTyrpiZEoRKYwc2f5xtBdHppFCXoNHq4cGxkUhkEEfpV8OcHSTu71cqhDVg
DTLRXPiBzeXUpGqWJaNUgpbZJv5cRPHfkZO3/hKt6+11P/Dezwq2M0mXmCpB3WLj9pKiTVtmiChB
ARzJs4p8uBtkdb2ra6d2tbbrP1+3935nFZkBBWDC8QeCo3L5EW27hU2IUHowwwNzW3kabzqr/1cb
6uzZUKr6Xuoc5U7mS7trXeb+des7GyvkLYk24eJT7t68amqYh1Glj1OAMnx5LyXxf4XRRM9Wl8mn
65Z21kl0ghoVVQ5Gfm1VqRZzWOzFxhXNrToHlaNmHxHfX24jo6TgvfTdfRUx2VJS08rX08k5KFe8
8jPeJkQ0wPC1iLNwUsGsbjEpQ0NnvivHJTAzNdbOmhlmskvGpyJabkbxY0cxwvEY06X+a9dKN51E
SzD1ErlPX3JSp+JDyzTO1I3VyKm93kiY5yPYJst9T6xe3w9m0VPDQqwquc27NGzdprGpdGXWEJ7z
Yirrg0/33uXQnKBDTBuLtdGtuDw4dMcbJeorbn9oV2e9tedAqWWxedRN8qhO8IZhZf66/hn3rXID
VSGn+G6gUdHmaFrLWE2KQT3DspvO/TLMT85S9v+1M2l7MZbxP9eN7pxSsMa20PxESZvCxOVSzUkq
nYVpCoGRh73LQA3t1jLKOZg72zw4prumLFppNrKDMpXLS1Pg+7TW7C05SLpaP9cgoD18sOShI1kc
fEDhtLYnkuiZnAQ7YHM2phBaLsoqzuSgMO3M05J0OZuhnbiyZJsfnNCRAjNp76nft8HvbyfxHNEd
ODvQBZuoamKK2lKD+wvkGTqhqfI1ldhiqJtiRAfXbud95rbxQIsniv7NdgZDjUcHPJMSgUCquQVe
921ZnfZUlPQ6Mnlubvq2b+9mDVS8W7Zp44G37A/Wu+PSufFk72DiyYu2LjaxIhMaZcvxkZlxnQ7F
cJeMafxvCyTsoWoQdzl4mHcMChUVIeQLQAiQ/OUh0uwoUrWmWYJBn6tPUZVS4Y6i8jZhElwgkYIe
2Ht/KQWzkYYSkQu90u2sjcykHkfnXQ5sM4nupdIegLNpIXIMsdmdqnwePy2dpX66fozen1+CHTEs
zyLuoXMpPP6b8EMfes2OK7Z1AHDkicIWE+il8ktctuU9pJIfZSWAZ4Z00BB8f0XxBXSZ2Fw+J+nn
pV0tI6hbWl5M1eicl6zPaNBmSX6XZHl8cEV3NvbC1OaKRvOgp1mFN3DstADQhkplHhn2B7nVptMa
1rWnaGt/EIHsrg+YkQxbWwiKbaAhcsU81LjmayqVnv4N8rr4aRm8J1NcOAc3470p8kmcnNCFg8u8
jZ6n2oyMvlvaYCDu8xYKRY+rGn/Ua0v6bb8KPoLjArKba4iy4eVHQ0AjMbt2BfoXtrlXoMx5qjpb
d61Ekj5eP5fvIw0BxcDXcOeFrMXmtagTJBHhrWHKUofbehp7V7La4qTMKcUQzqO7lAzHQzMH8vvy
+4NW0RqSdTRrqfwAg4GNd7nUaSjWipHWXSCvSXPbl7P5JR4tzaVYpDxVal96BEndTZnXwwuP6Hrq
IVL6I3CD3ItmOh4H3mHvI4NtV0RcK2DdG29kI+zchiikB0W9Tgi2FPJnmiN0vRT7aCjb+/tiK7yb
pLQ4BUqmm6NrMgG60NawDCJDKz2ELH9OZu3cpWPfBdWorR/jpT9Cq793Q8ImkaWIX0V8ebndcm6F
TU5wF2RSGIkx0KprSuPyuGT54CdiEmCzLOrJ6eKjibLv3Tw6GMjs87WhttHAvbS8gnGMilKtgiqP
DSJXRbmtU3s+SwOzEFcCpZfrB3tvd0kv8fWEDALnemkvT8uw6hW9CoxisoNEtjIPKbAksNdOv0nb
7CvVzKOW+94aKSpCLheSmDjeS5sZQTshn1wFYTWrXmo1MTijmMskz6kXVbb5286Pm/PG3sZPTIbV
OVWiVMGs14mrNrX1WC19eZbt2jyITXaXRpGLGQ08nOQGl0urpKyrw26qAr3RRxfRT4oIZS19yBDL
QJ3Y+f0KHksj/UGUl0AEutClvaXq8pgcha2cs+jGzqpfY1YxhbhFmrIdDOdgJ/fuxSuqgFEQxM1b
j9upZqtl9lAGCJ0ZXyI6/p5jJYlfMfvL7xrFejS6NvOyVCsOXhWxkMvAliYdGv0sBoE3WguXC9Xh
Oec5lJ0gDuPuA9z05cEsxuygyvQOYICffWMGRMilmaiutUVZjDKgrZ+g5txHvqa33YMdRi8ho4nv
YquIgxiQtNdG8LLilN3Wp2F6YI5cT1g/6wc0xb0TRX+I0I/eG9L6my/c2jW5dm+hML8uU9CkfROs
HcPM5WadTnbcH9Usd+05hAgQo0WpdHOCu8FklCmknKBV7exnIY/W37WqTrI3Ll2RuXFSjf9ed0H7
FklaeMFFYXHjgsy060nT+bRz0+luS20vGJKwOSn6EgFFt4/o7DtvFyJDhiirIRtCmnv5jftFB/9r
6mWgFLbqMwTZ9uzVKW/ruukPztOedxVlUh4TmkXwrS5N2UM1I0Ri8/Hs2HnUp2Xym7Ky/gq7YnpA
/guftwyA365v6I5VdLdoS6GsKsScNhs6Uoy05lGrAlRyu9tqHqWbYgQuWxHwe0NlKl5Kt+rAqLiA
mwsqdCzQKXztUG2VHlPQuenq5E3QK9ZIRUMPH7NS/2mM2uAzRmW6iw01eh1Uc99NSn5wS3aWjJAT
BSdeEzL6rZplhxrROmlImSlTOHhlA29gciIE0dUx+2SZreIluno06PEd0YtXGhUiikCa0LB9t9Fl
SWXN1GrbByhcmwGdlBVZ4GY0fhAb67dRr4VLUDA67kMxgxu+X9I+/NupoqT2Z1OSDt6e7R6IXyO8
I/JSQAAZ5HZ52BaddmeRqbaYMbncpt0wBGvbpIHRtx39NFRMw6o4omVt/TJGib2ZiErlBkjAVj4E
NVjJiLM89K04Lr+w2+XXpT1khm8P16sVAEggdimhvgPpKaFDDWwsQgRwCu1BlST9W+E4nR9q0XA7
t2N+6rTacPskqe7L0T5wUFuHIaxT0RQ1Yl3oDoiNf5OUasNgMBped/xoqNeHuNTutEge7+qJYvX1
m7tniYiIug1ABEGIubQ0t5U2IUoB9pusZ3KNkpKUCx2z+SaXa3kA59g1BhZHkKdfSU4bY41jTOuq
Am831qzz9NBsvYnOaOpp6rp8ur6yvXMi6Lf/Z2zzfnfOOizSAKK87esayLPdni1gMuc/sCKyQZoj
hEXblkJpLpoSjgJxC7PmpCadcRPbvfXxupXdjQMQQoead4Lzf7lx1lQzXxXcvI/MYfESTtFn8HDD
aWEi78F63pW6xNET4phge0hA37WiULqw1LTWILCCUqUgquXfG710PB6R4b5uY8VrQlSzkaHtzlo7
2s8ESr+LXn/9Da94DrBN1Ew3EcFUN0Vid+Dz0YtM7mY1U1xZacxbhK0XX4mk9U7q9eng5dwGBRgl
+oLwAYAdl74lUPdmqsdykuLMzHrwC7ntJi8t8aRhqLZniZT24KPuGSSEFs1FCqeoNFx+VGgtYZKh
+kQHOoTv1EAtZbtV315N6U5JD2eO7hwirAGjQgiUUGsrzzBGeZ0OuoNocK9UN1ZdjHexvpgni6j9
YC93TfFCUf3BtTB583JpZTjmTjnZth+qU+krWi27DeXoU6PD8vvtq0E9VAh2C54ZUM1LU91skgXk
I6tKm+k2rqMfNWSAF6UjEbpuaedJgNiM0g1qUqgFbYOcPpVGhdkvKAi0ufmyjGr7lX5wApnNKD+R
xpr3ZbhGnhxNITXvKTowv7enjHjmPQLSCJp74wPCdmmAbYNULaisnZSubc6TnXV+u8w/ri90x3NS
TKMES90JDfstSCRmNpE1z/g0p4Df3OiS803NnPrgMdg7/kDRuHNQegW66PLD1WZpGi2SLH7fTsVf
fVvEt0mUjp7eDfaNQuvOu76qvc8HClR0KeBVo95xaW9gwKi1GjRe824czksdST+LxcxfZKXUUyb4
xN3ZHO3yMTSH5mtpddHR2JV3qZ7wMEIfU/BduYDvSs3J5JgUeh0fCr4cnSajDb2wGfIfQMvlz21c
l6dUiabO72tTnxlo0/UBww6dv2jnFkz/cRLrS+JE4x8cLIvUmsEBIh96J5QQ0uDry9VB83XVTvBn
FtfWUB5q6AgeXNadgFGIesGsE7rf78BOeiTbKaoUjr82aA/g6WrnZYkHW3GNyBie6rTTgqExjg70
7s4DdwLnLFr/IDouvz1+VrM7SNd+XsXJ57RR4xtEq+oPTRyZZzKjanK1WRWz0ms5ciPZKD8nPdPa
Qf2PK+Vdeah+yEYRHmFodvaDi0ZRE3wQr8+2upFHej4MYeP4dqtUbs++3awdBuOFQmet9FXitkx1
PV2/CTueBN/MhBFR4BRVnMvdMOomizK6+T6sypVsQeuDyTBGBgnPq3/d1M6lo3gCusNkTgznX/yU
N4HsZIBWVwreuCmR2oAx2+AezK6GXJ31Xk+acGvm5We9KfKgWNGyvG59x5FxzKBR4sdITLcdrCrq
+tR0YscHsKjdtMxwJ1ec4gPHsredDPFE7EOoy5AXXK5RH81VCzPeVajz/5RGGX2OOIP3jEk9IkLt
uEwAVwImKDRwCdQuLTVJE81lwR6OINe8qkHBpkJd1bPWTszybtKb/3H2XT126vrbnwiJDr6FVadm
0pMblGrANsa4YPj078P+65UyK0szytGR9rnY2fHC9Vee8vL8XRsPRHk84Eg1QUe9eFvDTokpTDQB
VsUIcNXZew23+2Og5FCPnL/WSv6vw/dnRo8NArvXrQMImX4Uni6+TzvKsEgT2dmhHQ5d2zlIMhe6
VnE83iw6WE+tKl01wU6y2mx+qw6iufc8wbYls85PNst/QmAvrn2OIjq89+ZXJuTaUuP6KHB2sALo
yzxfgNgCm0oIJ6BVdgm2M82fJpHyCsDFZv/y3L821MVccLyaWgwYauahOPdRIdC0S7o3GaQoXjmk
V44JYn2EvKANot97eQu1tLX9DOWPnUoZPabrgJbvGshXjsmVzYQcCcqRkB+AWtelogYF5NeMMAiF
ymuAdR3WklYF1dF+TGfwlkyZ/355Bi9Lx9t1A/zDfwW3EFCIiwQQnde1yXNoVjVw2v0QlahHFQ2/
D8Zu+byg/PcAsQVTDWvHX/nSK0uHKA1lvv8QOqAVXewSmYuYzBm+dHMwKKF1UBE00x9SqsQrVair
37jpLWHAzSBwm/Q/7td2WVA6jWmzcxDd+QUCBtTW2iAcFFSkVf95yWj8UExBc56UmQ4vz+/Vz4Sh
8EaNA8rkkuyymdskBTRCEOT38Ue1AGe0lFnDKyLda0Sia2Ph3tvAF9A+Bpb3+XfKvkiW3Oe4GUoR
V3BCLW96xm7KFfSmf/8qFF62TBA9ZYRqz0eCMYNHrjk2kEHrVLBHuQfQROuEtHXLXLe88kRdy7cB
eth8QqD4syk4PR8vzDoYEZdts5udRLmSiMx8yePewvGrDKtgZaD0NPnH1SgOMxaR1sOgx1c27JUL
AL9hg1yAor4V4p//hrahKYhgA74ZnjmfoPysPijkF6986pVgB9V9tIdRvPuP2/d8FDycgcxlgcKd
E2G/L0UrwawDw0bZaJdCXCg7BJGO/tUXFdcAiibYoyhpIOK8VF0MY8lYl4bNbo2m7EsWzvn7fqbv
/3nXPBvkYhVJ3w7rGGEQn+gGlBMctli29CDUPP9+eahrwSzG2ji2UG6H8OHF9cK0aFiR2AYi5Iu4
YdSTqbKF4R/imK3foiDvbpbAs6Oak/4jjXtfA2I3tje6nKSoTAgwvHOLfG0TbZ948XgjUED1BIVg
YMIvmxzB3CY2XaNmZ9uoP6KE6w8wyduMlxpVcfWapMq13bQpjCFH3Tr1l1lLuUQug8UAhotp27Bq
AuXIViiTre6Mjln5xjtUqx4AodCvxSlXLiMA+BC447ygcvNXN3lIPQFTI9iVTQpgEqTv33WKK5hm
sSX994jjvz45JMQ33Mll5S8ICj7PiYFbO49krZkKUQ7u1H6ORHd+eWNdW8CtJf//h7q4BSKQ60up
5wDSWiLZcU/sAfKk7kACa+oBSdor412bxgwKZ8CZQBwD+MPn90FEVDOrbAkgh6PQKW+i9Gfc+U8i
svnHl7/s6pHZSukQ1cWz/xfG3BUtNVGMFVuIXL6tCfRBqyScvlkFaWIf5/G7LW2Hpi9vKwhnFGdo
nqSVCoGO1agkoQ6Zqt3Lv+nabG+AV9TiEtBUL83Dk8YEvAjCYKcLAgoXmIfuUcGdrRqg73AGbdf+
qzf7dhEWG6YH2Sby/Uugx8JHFYSLDFAQZwaRdKG/p9aNe7hhPawkE//DlYhqB1SIUMRFNelieTvb
oKEQ9ZjzchCnXlj4yZTgv3Sb//XLc3ltJxVg+eBMAkX8V9MTITljc48bEaTx5gPv5WcAWMghKuj/
smeBwQQ5Al04xFsXd29E+lV0uQ92q4+Lz4trn6Z0mnddF79GXt7+psvrFOgKgOmBCgL2dPvmPyK7
pWjZuBDsD+ZjvRtZqqsm8K/N3LVdiFIwqEmYuPIv/XikmCuqPDiDab5Mx1LP8yfAA5sq4IYdKANh
+uWVuvpVqAmDggHQcHGZkQdhYZd5k2q0TIY7X/TqyS49AOkvD/P3hkAiAzQBIE0gc/1VVwlXqBUO
kDTaZ20uP/EJAOJ6HBb5xNp11K9ET1cGQ9QEIhQeI/zf5Z7wJvaw3ZR0v0ZirRNDyDHMmqJ2RTy/
Eu5vwefzTQGJMrgvAJyx6a1fgkVGyA2AgZHiTM1J8R3sNXocxjnUFXwj7bkFjvcUqcxm1ZqlxFdN
ssyvnOq/FxC/YCPPgMPyH6vt+baE5UnczooEu8jP/NYbEd30A0TzX16/v7flNspGsd247X/x2hNn
Ft1PnAJ7QyFAFXTiC2RFeb9v1Ri8D6Khi3cvj3h1ERGXQv54w4RcFqqaZYQtEzMUZaiJnPu1a6AF
odJ9ix7HPz/p+Lg/hto+/o+TbRc6S5JOdD9JxncmG8zd2CBtimnevH35q66uVg7JemyaGHHERREB
FgNx2beW7rUvYTwdaf0upET8Dx+EztJ2129FkUtek1UpGfIWUq+ym8ixzcYfVFB36AoYQr/8PddW
CQVktFm32Pcv0MXUJGuS+IaCr9nRcx414dth7ISswg4l3H8fC0j/jZKLVxNv2PNlisquD70Jgp3K
Q7trAao76UX7fQ5k3z+3y6CssiWdWCPIAVzKQaYiGdslMO1WChGnlSb0NEUKdlOZfw00c21H4EEG
qPe/AsWlAUyYzzSSNm73oKSavdE+2tTs1OHf526TN9jq/ABMX9JQUzoUadOpdj9PrADtPzdVDk+D
c6Loa7fvlatig5GixIwa88YUfb5MzpN2Roe/26PdT+8MXHUOSTAXeyUEPwKVlL95+dOuTCCIIKhk
oQkILsYlUBcAdBblKmsBcknnR9jo0Ad4OSevXIB/ZzcbNwmWFqDSbUCui0JjGgRUJRPp9jJqktpO
iatzgIZBuO+DN3FPu32H8PmV1+XKVD4b9OK2oEwo6tqi2+eTlAAXDO4N82y6LcQ6fy9Hb17hQ16Z
Sugrg3eB5wzt6EvvDjvHOo4pbnWhdVJjJckZ4o6vWR5dqbBsqnubdQdU6bDtL3ZILzfZCWhw79dw
DfYNKXXti6nZS9wmdd4H8dkNAz0asENvsOBwzY7ZvH9511y5uED+Ru5RQHd18zd9vkvJ/9njUbZf
srHd8VW6Y2mCBh3HgXz+96GQXeMuxvsMOMPFKnKN9hv4Af2+CcV0Hn3QVWs0rrWeyvKVXVriV1+E
I5tlF2qdYJmic7j9+z9eMpD6YiFbDuMMVy432CbTE4xI2NHgNX1U4VZ6cJJ3iPME1BNe/swrmxVj
AxyE/8H46HJVIZ5bRDQTbB/QIN8nq5cVZOWjOlF4xONxfk0U9NoK/jnedmL/+FZFG7FkKcYDYVjX
ZT/LuqTpdBvbhL+SGF85/KjubDAUQBsRzsXPhypnYUKekH4fr234zQs0+X3K+yfVpcVQcVQCvyK7
E8eXJ/TqByJBRFsQl85fJFqLM5/1kN7YqwzYSfw5fgJgJLohyravfOC1oXB9bppF6DgjjXr+gaHe
khFFsHZzN+8a2ncf4wB4hgnyy68MdW0uEfuAdY3iOHBa2x30x7LJSfBJo9u4h9HDAKaskgcawhKl
XVz6uM5MHnOQFV4Ju67tzT8H3b7/j0ELkyUBHEFwLopwvMkNjeqx4/JGWtvdlM78qwgOTvqG59ny
KRDoQd1/Pl7aQtKHNS3fg6h3L8SMN922R4Rf+bEBR7mWpHwtjrg2r3ie0E7fngxkc8+HdPES5orM
3X4B2hh2GsjGYOSaNTvwsLO2kriCjt1U/nuvFULN4AABSLF59lye+pyFNCDx0u3NoO3eTTB1CEhh
7ozNfv77cQAIc+MGbprNly7RQS+BS2zCbg/afHbqIWRddz6x9SgD/T+cPKjbAwgGaMjfGMzYNpMr
lO72fOroY0YHfgaWfDktLnmt9f/3k4v8EbBSxGQbhim/WDbbl+iJr0W/ByBteAPoq7xLjXrN2vfv
/Y9ZS1DVA5gu3fAWzzcH9CVcYzcCVQLPW4gB2ENeWtDSZfhdLV2ye3mltkD8+SuEhjGU1JGCoPQM
He/no+loHUg3AoldDK04qpWXB4B7HjPLVFW0bj5pYjg09ExzTFL/WgPn74MARBiK8FAJ3EiWl9X4
1s7CRh7MMNY0GcT83HIDLwr5LiXWQFVYaSAnyfT08if/fYFCkzJGyQv4ZChfXTbKS9YX6VASvUcK
5GrGtD7CJjmo4Sb3rxbw6LeBDIIkCOMB338psOUb0rqAOLEHKRI2sb2lkBOneiCyivOifwVR/ndE
gdH+44JsigC4ry/WkuAiyycGfc0mUTczYGe7FdoOdVwANCTK4a1okuQMoMrp5Qm9Ni7Az5srAEhw
8Od6Pu4wgctpYqBQkl4U9y7k/eOcwwuJzsG7VsTmOPSQqo8XbOWXB76ykkBebdwXiGyhmXMxcBfC
FwcTy/d0muZz5Nh6jgtrAUgrefiaO8vVryxRWAGREnrtlxJwJvEqt9rzvQZvAt0KG+mq0CI8MLs8
MjWr9wMRS81c/hr27dpnolPyf04qeKgu1jX1Lkb5PWD7MQsRDwqXHFWz+vMwheKVLXR1KBAzQAzB
/YUj8nwpYQiIW7TT24yWCTph4I5lwUQfUzUOrxzDa/MJcBGIwIBJAmdwefOonvA+kHzPSnAlQSPU
xzFwEuzgOProkjE+LnFmd6CEvObTvmWb+I7n1x4e/Y0Qi0oZYqlLvWLtZk1Z42FdAG8hl1TIPSJ4
u41wk6t0GwmItTVh09ZN4hdcQtgNamepkuku8H28o/DC8lViVp9Xqg/Uuwj9iAYazomS1TzP6VkA
Pa/qAbzUsSrA5Pk9BXh/98OS0u9LAY5RXRBPRKUlUQqUVXiUVGNaGNiQwtFyrpduwcsSi7bDOF3r
5xPIDMOI+NIkXx1nSpy9a8p5FxubmNqO+JMYiEFjthVAKlfzNLJTmDGhazHS+HMH2e5pZ0y7PEBT
gvZHS23wNVsychpyynQV+a4rjxRfvY9tB8ackd7GNapRrd6n292yI3Dc3I1Br0GO1FMEyBCm8Bxq
SUUFpROIIs4EmimVhmrYve7a9HcP1dWpNj2sG0C+c6PCpo2jtipVEPQV78L11nVtkEBlp+/DcwAs
DfAeDhlftUiULo/NUvJ3jkZQQewoLY4sNfD71OVIfqZxoH8AZMW2YqDhN7Y3RXo7qrJrqznO3Vw3
aeDObExU9FAueXjH8nBOblu/0o/IBuInt3bzt0F0/Askq6dvgNKMrgp0GRJ0WxJ2RyR6WvtGZ4Bs
NVmQf4sKJBX1VJQzPYQT8gsdhcsjnplpPOJx7p5CDQZyzRqnTil0qCBObbqc1y52Qu2cglJ1FUIS
oa1WMQU/VDD0tmrN2MTA+M3rWY0JnyoCaYOxDmwYvzEJsEWndW34XBtuk2Lvk2JABwCGmrAzSD1g
fxraQWUFJR3zMWp18xAtzHS7aUzN574N/IZ9ZQWtS+/4vUKe8ivuEQVW3QiWwMkB3vk9tHPLaiV9
ktzHlvaw3qIcwp1ZyQa7izopPsFBs5H1QlZ3M2lqxh00CeTZJUOeVkHYgKg7rnb4wB2FsJZWjTd1
YxRWgnIFpzIAJ9JfqGxxYIbAJZ6q3FL/KW8Ua24EBvsBHk0iavhDAGiEXBnRAJA3y/cZ8k63bFD5
T8hr4RVjpFnHvRBQGdwzqCaxfVJY+UaTJCgqHZIprGhu2oNGmbuo+iazv2NUPX+2IZlv5qxh/BgG
a/zeFAKWS4Ecco05aUJEprBSO2ATQ12mT2m31MXICYX2fdDpA22dn3azEFF3WEI3SEgOx0zUkDiT
y9Pa9Wu+5zPNBeS+ZH438dmWFepQ4Tc6hwP664DXnuckZngGR8Z+OAWPzmoRIrhtE0e/Q+lleZeZ
GDWVtPdLVHOU9u+0BgSgBoO3S3+ERUeKNwuD+t+IGrzbpYUyoPKno1f12qxJP+w8k2N7WHooI2M1
kHLXA3WAwFibwysaQBnyJR2DKH1qYp/ABkQboAQrU8wzP7s4GqHfF2jVmgpsleybsLBtOoxFzuVv
QIYA7Z0gdBHuR8T2jzbqbTjUKW+btMaPaOQNhfAzq7rCtPMDZdHqKqBi5rtiYkEKiWUJiOEcTFP/
OQtSACx8NAwzjlJQnKGrM7nKRqHWdcGbRr93Pk2Wo5yoZdUcrNkv+H3Seyjy5W0CcedoeUMZQqBa
zTqgVTnOniJc5YJ9IyCVTRX0pG3/aGCEUU6VVEUbvWUlSgH1mvfdh9FGAamKtHMMDn+RA/IBykLQ
MxqDGQBJ7Y3ctZQnSVUu7dIdSeLspyyjTV4VjJbxya8BIji8+UV7EEvno8O6Ql3jsEDvPr5boOMj
frk1os27ZGoH/VY2Mn23Ap4OYweSGvmQ9XHc3ZsSWpk/edBEwy0EDkj7UISex58haBeX96UbWbRD
hS14O47tyHEh0DQHsFNDXTfJfZzU6cL67qjDnP0ivLB32cxmc1IRrptDMUJD9kQKqRDWd7ZVkKpS
cq2HvM+xiF2g4WyRz+aYtM3cHzI2QoFCNIX91UZdmNzPuRC/fSezFRSb3ChcaoON73ux8g9j4E1z
k1NwnXdj3pVvCxtGYo9empgOS2rl79wWQw4AVrt8CIx1vLYIBru71nQ+PxD8nmS3WgL/uXSJRnoT
5o0rK89V0J14kEJu35ZQ7IHkkta3Sdpl9NtinOx305Ct6y7lfByr0GgWv9WqG9o32ICK1blJeKBq
EWK7PRSIxCA63xWgmvCFx+SYjyxXVT+liQFvmRbFW+AaglDVubaiOUjTBX7noAQLETLNpkUfOD5G
3Y+aAhEbdpYZUUPHYk6qbrL5LcqlTpyIWwty6EKx4NoMvEUVrYHDXrovqerMzy5Z6ReTZL2u6aDK
Yi9tlnzgRThPdz2Nyw6QPxg4vQPEO+93Q5rDKgYyxjYBf6GMW7t6yBURvSI6KVu8pveuGEUAqgE8
twmFGF/rye8o4W34yHkUuk9RE9B23/MVnGyPdmOWHPJBrOVh0vnMN3BqPu0hzQqRDG0owBWHWUSL
+hxSCHwGVQsoEjsEOnCQ9BpS2M0fTd+zsUqBt+9/IWiE9ineZ1S1FQz11BHN6Nm8z4NwWmo9qha3
IiRDo91cDBIo+XZlePOSxRIc+Ugmh760hQJUb5rGSgKPNVfFWozhV9KVvaw2vaoE6uJ+JKgTgmZe
4/Ya5oqWiR9rDz8EFKDhN1XUYcxwA5gQnlxbCcUsd6DBQKJncU37aF0uln1rm6W9j/0ob6eA837X
TYrfRYQF4iSg7R3W0czpd9djDSHzVjIObD0AUXXfqRhlEm4sqQAAzZZdawXxNybFJVetMZ3X2nOv
Py+QNHl0w0KAmJ4K39R26GxYNeAxnT2lcwoR3s7gcnOx+WRdSyzsRHKaVL03y+PgTBYg+QxjWi+4
Uj+SeYI/E3x1+CNUz3HlCuCj2l2Eq4BVmU3j7k0XGqQ2UcqEqBg1HdmBImEzhTvMxGk9pfEqDkaH
ku1MMA/xYWk4kmkGDTG+S5JledR+mJI6Qjmtq2Sb+xRi54a7GjXnPMZmXB19oKDKtD+16I3ntXQN
A2YdVbmhzniJgDjqoa1Z4UCU/YFLny13Y5np9KzTNolPfPCdP2U6MuORBo3Bbwe0RCywzpgEyd+r
cckVQwhkdUMAUlcFrdI+G8i9SiU392Pfpha/bQS9tYqLdUnLakmLQH1GuKrGT4UaZfPYCEJxB4aI
42daBRmz462b4xWl7Ngbc4qaXDxQQDforlCsNee0KTWddvhH0P2aWioyVL4H7XYOkpLDPg/gwFj1
fYnoDJeDSCs6RWigQxREd9VCBJT8vLOlPKEwMwY7aO8n81tYKKcfIvxt63EFNoNWPoinaS9wDsZD
HC7lN5mvY1PBkVsWJ6UpPAqQSnZ6n5CmcbdzSvT7YkWZc58WcwEWzUDhfNBn2kyPo+FBWPm8+A+t
b+BFU+CCaKueZxo3UQDV7nuP8BmShHha3C6amu5H5otywXnps6/x3GSqngtCnzRikngHFEZ6CvIQ
amQLJ2i8Ib1pDVxHoiaGzVmq77D/muCY9GCxVgQNikedEOmPg8a/G8o2ZTsGzPRveKPAw3JEr/Rt
l87+i5lF/6B4gjJxx8Cdv2MjTxF/qIZmqGfOVp3aUFOQSSSYqXHTNm6XRyxp91AlS/mejC76kLG2
mCqTLkC0gSQ+PMKqAzzSgKcTqUFgiN8oD4ZDBaYVMUekYOrnuhpxS2xZjicv+PwZKoHkvl8IDHWs
A4Yd0UOE/yJ3ZNGnjhUHzZLgcUgHiyu4TcqzhR/pTwZH1+GpnG38iI2ZTEgcaPAOeIeiRYjH2Q0g
D82HVARCVwzZxNuGNTTcpd0k3+Oz0va2aAeKYboyfPTBQqJ6CCJzT3Ifxgh49drc5tKnn3SIKBaf
0izm1C+5THY6ySDWgext/QTHDJz4hNglPeoJdpJnVSpeVF5gfXalbKbHflFTUTHbU6gmSIfZDvHW
3YZzHP4YUsrwzkKP8Ts8ueKfgaQQhVwM6e+9UXjZSuvCruIO188eRyH93HNlhr0COb6shckyXnfI
eLJq6Xpw/NLSrFVEu+hcTvFWRZpLCsGzhOua+NDFdZIaW+xZ4qI72WGPQnY7a0TVa76KGkXZZjiR
OU0HaA1AOXufxX1wg3wioIdcTvmP1gbA+axuEh3y6ZUzvDAj3pA1GYh+QCRmh4oOOosOGi8AOPZo
Qvwyi/RwGnQQQjqyjDXfzWp75Aq2T7I98Pp5XskYUKUEeS4F06eNt3QqyJd3iS4jxJsQ27gdY42/
G6i3kEP7eBjymq0LP662mX01dCLp31oXhT9gypjbmqqCDQeReZz/Cal0j/MLITO8C3n0gxWE053M
IgT5rMmHCAl9BjSFRN3S1ybnMd/1cNRmVQTy3Fy1fnBpzSVwxigeORRZ83kGQD0YUtBwlM6/udZO
fo9nm2o8zFxFVURClR5ln8VsP3jVu73NCuifdNKQOhhcs2CBUWY5tX0u+yqaJlvWeUrb6cE3fHwQ
0McyFbRySHnfINk9OS6STwBlNbaSs5Yajiokede3QDej2tOtu5Zvb0NiY/iYhuGEsD7uURervS3s
2zzVcVvZvE37m0GhwViB/J2+hyujXk567MknEG2Tu36i0ddQ84HfrR3Ux/Cmrmqs54EnT/EAv/Q3
/ZCP3/o04MNhRVT7y694jGuOn/hbglCDm2RZi/tZoONUIUo03WmJpcV8JkEnK4CaYwP1DtmRSpeb
VEHcpYhYhjX/Og7e0RuuB9g45nOZuho8uwzNsjQTBXSdvMY2hek3nrBcc/Jgh3kpUM5BueUR8q3M
VqAa6KeYimY9zKGXvwTzi6vLzBNEU77JUBOK0vb7lpHgccONPR+Q7rqfeAiiDoKHQweJOW4xIXnp
u0OmPBzFUQ9Yd4LKgNympo0fAX6O3g0jCds6dIs9o6PZImsqiv5pSLPFVWMMGbMqh250WpUZ1x+i
Ju2+x8mU/jLeEPSmm1EevYEGWY2UDal4iuw3wxEk6oaVq9OVGUooanZy5A3u82j5hbu/lDAbtvPX
RIYBx9xbiqavYeWj2LQlAaVqxQ+ZzmY+poJotcOcwhElp3n8tlllHFXer4moAgnd92PCEQtUmOPp
2xj2g616l1tfAZYh3xelNHcZCAOyGrATHifZ808dpNh+dW3WnBDJBjMUakWP2EPnZzav6vPsQBSp
RkVQJBgSJVAvhxMqOreFCQQCRhbdmI533TERMUVtbUKJu4K5o4eMFqG45vp5mrtzDvfysUZfCDga
aUJkAqGQ8YMRxQLDn9a6CR+eRidMxkBh35Ok4x5/h3sHNzu04HqRKLajyyyx60k7eYQBZvyOgksR
Ihah/m2P4H2ArRDUiap+zsOfGVrbtGrHnpdgLHH9XYARllfjNCFn9ZMvH6ZpktCSFX30LgnC6Cvh
7RzV3kzxD8OJfOqx4dc6U7G7KRc6FnVgEIGccwtFYtQmM3kDjzpS1kFv0kO7IK+F6WtYzBWLSp/v
i7GZAwRos1hwOY3dZyj48E+KROyz7kOUHnS40OxgmnH+rl0r35Jeon6pSa7jXTZm+Zem9RyThmLT
isZyEn7vUpbczYDBzXXYBrDJWgtHf5azRDxokTvhHoiz8EuetCNKWtRRhE6z0nc55NsCJOpsvYML
89rWjqzAZcVE5u8j3afnmDn2ecggyrVvdZb/Qri14DQGKn+nCygT7tpwYZ9Qwu2/RzxbLNhg0n2L
wHKNUVZYEQPl8KNvQciwQHnByVx+XyIgtCtjiP8IAKcwNbRZcuxS+AjFezrKCNFTI5C7jdq7o2jg
pQvVviw9qaKjYcWZXFATKW3Q7lgzbTc2vHQfFY88Ra0sK3/4VulfDswwXQ1lCd+XxKBYXhdQKnoL
EmvB60Ur9SPUuHX32FbZrwXX8kfAxOXHLtMxqg9dhgiiCSQuUM7VONVFx4J5vyYR3KNk0eNXs0mH
JYoQ6NZBT5C4YOdJrransBzPo5txFcw26R5JQKFlmRdm3jEH5cjapR0eoRkJ0a/IIIgCq3PIzsIK
+P4izUk/mh7AnYeMITGs8WCbAsfDCCiom5Z7iLdCofIcdp2P3wxpgT20OhhO1u08Z49oe0KLKrFt
V54mVHuR3ck8bW8SFBn53rQ9vxkT79xBhIEhVSTCzNc2d2NUl/DFQOfCp7mrYp0X3wC+mLAsS2Nj
lGwGyOBFKDEfSR/NSU3R14CQDmvZLYdBWnCf9Mjydy4hwViVJkHdhtAsBdqBJRGicldK1MR1r97N
LmTdzsrUm8oIYttH1O7pVxNDrRsMGmbeGJFFgNKtQ/4ohpHTM8cr/1bK1oGt0CL434PaLm2lwWLT
YLN7hKtDJNOphn1AdDTa9nyvFifeTaZAqmp9gWC+QdQxAamTk3sJBWzoiRozP4DQhzoRAd94rWKb
413LeFYoBM/JyiqhZzVWEaqN7+JhDtoT0X3/BfEQ8sCgGQsIihMUZcDwFBoXEnrST3RI5JeuTJsP
dvFzvlWRIQxv0Jco67lHRlOvWmc3xcBGVwuq0BQjUMyWlUeAJo5eZKU/S1TqvsAnKX2iQcG6WuG1
JxXF2ee7cI4iCz/pxt7TxBdQv0LxJaqgOYIK21BmwReP9OKxXTPzXrmFvZFsRHA1lLJ8j2OFRRrL
ht3KuUF2D4ZUGb8NSRB0Z3jhJsDnmnHY8orc4c8E7lZT9FuWiEOqQZsUOWGKJKJ3iOKWDFnlrikd
EHtwCR77Gn2i7JhSF8PkaWCpxBOZyyfcHsMbOXDf41UAgWo3NVm0TzI1JKhjuege4ZvDUQKhKivv
phE10rsJORs0ASHpdcpm756yOVq+2sGa7oYYjWuQWh2ftMjbop4365NaNln5K1BZ9Ehx1eAIj9Sw
PS88+QChnQh12G4oviyNAshwJqbEBmts8Y7paejhQpGDoTeIaSyqjkCvpirZWLTHbo5tdAhL1APw
uikKwOXARYN6XkZZlUyF1VsYWx65RPlu53sVvbdpyj9k1KYPsKNd4Kw1haj8SuqXI3AJKfpQydCP
UAMNCJS1SNt+noxt9Al4WApXHMJ/LB1IEZVaCyRE4BKE4lBODQ/3+UCyx8FYHI7W92ji5DT1KGwi
1gx3Lm/HpwJtsd9prFwPBWIEQrjZUWetSioATOArzb7z1PTfYWSnKCwKenui8HBkd3KwyDRjPAFI
XfLC36D0BqXtiRa6exqSjeCWDZN8BWT6N4CCAKq40aIQ9KINfgGQakI1KUh6ox1tU4RepA0PY6gj
mEu22fueav/h5S70FYwkBkxh4FBuMpvQHvt/7J3JcuRYmp1fpSz3iMY8yLpqATjc6ZyCEYx5AyOT
DMzzxXRXUuZGZnqLlmmjrWQmtZneJl5EHxhZVUEnRe+olRa9SktjkHDAL+7w/+d853HTtC8E0AFi
OAjSrJZLI+rnIO+ZOuOeVK1IyymncajYl0U/bRJl9LZDmR2DKz8Dt+NDoI1cBesreO1AnMJgF/j7
kxJ1d9SdScbI9eCJ/C6VjSNCuOrsJJMYSrY/yoT1B79XG28sAHynEFWo0L78UJ5qZWiwIqgix4yK
IP7cx89E6FpdJi1Zn/irq3OO8PW71ijTI6Lbp21c2kLI5t3VQwJX+vDJL2ZPX0SWoRqDkqNrOTEB
2NZZXMlk97M3hPIHl7+JOIdd8OGoSmiOtkXsVaFXjJ4/JM10RpdDPdJ/f0YQs7pS4RMgxiF6cR3b
P4jf6lJIw51LbqjvmANKp7ivZdu9syIbJ6ok165T2vn65Vt77inS4LA0RL5rFsH68x8uSj16Qjfl
lqFM2imo3dk4Mb062vZJXR1RFD77riC3W43oKDeemBAUAtEkCvoqNJP4QzMg5TXGsQ/o5FXnBHFE
JzrAxC3Qy/5DbcguKAq9PkYUfTo2GZQ/fIaDsRnrSmxMwuN+Z+BBbKeK6jxRCv3nBQ5rFju0ZoQG
QFQO5iHVIRJ5oRYSci3KEr2a3VInJnRWjuYtzRi2A1k+Jp/R1BxDKD83BfKAV4Ifwc+AaB9/o5gi
JfNRVoVVYQ7nqdOioVySDlUBND+h0EB+eQQ9ez0wPDa6afAq+qr1+GEEpQ3efKXooNCqxRJSqZ8C
S8nt7WjRjBtWLO/L13vGk8pXCJNmzUZ1mHrXr/iHC+LQjNXFKqowKosm2ecLVwpq3YrOl8nOLrvZ
EG/7nvZcRbYNuc0TXWMjV6Tt6+bohnFdWqflkOsfX/5cz44s6GZgPYGR24cYvKGyjDSCMxkSsJx/
UQYs5QqoZ//lqzz7tAnZRr2NcIYz+eObT4ZZcALUUZVJagCpp9Svc22iM80p76JjV3FkLn9mUiLp
hYkWyBMF4kNRfGK3rTVyJAgJRfX2+jCILW1Ni6oZmi81EtYb6XT1+LN3ueYeQPeD1wNHWT9Elco2
10x2rVXYV01071hZ/gFT1HLZaLPcLyaG3CO3+XRuerginmrSkBAGHrpGkxIYQLokdehYIgPEa5nv
zMKjdOZKJ0jReAdVwfBeFkHZTnOQUJToYV7+bp+ootbPADHVRj2LLvJQci260cyyRWFgq44Nykq6
p7m5Ot1G6u1VEetbV23cIGuL4WeRclwZhwaPHM4DH+BgVNFGM0SU9bDJSd0+GUQbhwhRer9ZJrKh
RvMYIvzJKF6vh2GLWHrmqSe7JlbQJV5kWZN9o2c3bmI3xcbhGHUr4a22gS67Y6kaT8YxV1ytx2tE
CnquQ8jCXHo0AVF5Y2MZyaNz7P71mCBOSYnhOUPa4Fyin3COTAlPFtf1osjgHbhM6GwP87jTYaxc
YHB1ODRu5XuexBtJ5xKdYHFsi/Lc/a3LN1dZ9QpPoeuKbtIlqcLUUYvWt5SyLU/Ahmmub0hV7Dg4
5F8qHu7u5TH78GI8UtNxjyCFkdDzooINOhg69YiQBDlQEypYxt4KjrHUxDwSwYtsMoCkwav9QK0v
C9smdj+iR67oNo1RfJ6gxaIlgbArTNBzXCeJFrl+odPw/AdmE6xS6x6RNsQT8y97T2NM7KgO3aau
ThSKaSG642bnetR+ErmMr19+Js+NbuqpaO3Zzq3L8OM5OvZaUZqc8sNmapfAWopkOyuJeQazLod9
lR3zxT4M3sPvgNVwNbxhaOA/jy/Y2CWd0FI0YTSZlJ3VSF6xuYjns4gAq9fOYksRdktifBaK7lxm
alVe2frYRX7ZSfNN0yN6//lHDmmT6ZuVygNcsw7XH9boUTTt2FdRE5KCW4ZeXzcn1F2SEDCXtnVQ
OxyZv5950zTwG4RUEAiEq+lgv0W1wqhideKRZ0Z6MnTi1lrsOHQh5mxf/nKfLPNs5/DFc8wC7IYV
4OBK0owSM9bplmRslnvfVlPjHlLeMcDh07VgHT9QuPhKV3nzwekmnshtIfurDfOqUbcofIBLG4Zy
6soC5KKFPqONHGPPieEYnerpaXK1iSDOZSbBHgb28/F3RwK6VzuT0YYGnUiOzzmaDMdJNgKe1Rg2
g2nvRT0NoZ6wzzGF17xO2qH/xAnpWOju02+VcEQDQbtmabxJh4ztfOIYqaLHABDgRifKPM1fPRw7
V5Ow2uHIiH32WuwrOcRT8Ifw+Piu6Tm66J+5ltuqwi9mA+iulkl/XpY8fHkIPXcpTJUeYeIaEuRD
vlo1WE0tXasN1aU3NwyxYq9H5ftca7Mjs/PTwbq+hVgvYQkDrDyciWiVGOhcPb7KOZe9T1UYSWjS
x0185Ok9sZIwZmDKazw+0sBYDx4/Pdxi7WQOGUlS3fKhF/Y7BffDRo5ZH1o2+dPSoPzkrNqDVmnz
I6/kc8+TW6T0sTJ4WHAfX7yvVWNJJHc5KYW37ejQ7BEjpSd5J5sjl3q6zD6kApJczvvPXuLgPnEd
aA3qmC50Mktsi0a1rxZ2TqHqRA26Gs5IFq02rztS63j2nXTom/31ugc2AN1uEzUnYhUFGXPC1I7x
vixdbatXTb+tSKPcADrs9mXmeawworuWZufeVGRWH5vZn3nYHPSoELEnpBhy6KCRZgxwOK86IkAG
O0CRrp46JdbctvOOWeWeGb0MWYYv3Gabr/bgYZeEIyScz7twoam6odokzmrK219++m1c6QurcZQL
UXd5PHpgkGqsj20XktlV7ZpxSUKS63R/rrT5yCr1dGOAuZgTDac3HGRMsY8vVUPOi91W5y1piy50
CzI6496o7mdeKt+dIeQceS2fvSAR0Cr3oGM4PliGE3fW0IM4HV0mcI4TbupNkVt3qAlwH1h5ceTt
eG5sMHlCFQMfg6z5YG0kjTkhA6buYSTERpBWluqDNVSDhYd65I14bmxYxLjiNGR1gAH8+FEil3bm
wiMto+Npv9EmEsA2np1h6np5dDx3HXbVnBugttiwxB5fh3y4JsnzGASvcN3Qi8QlRpBjuWnPPbeH
lExeKweD4cFFBg60ShxNXTglHrhYmgXb2Bnkxqp4z1++n2cmMKK81swKthbc2MFE0muWGLu5IQ3O
NNbYX1B7UdqjcRnT+QL2vB0M6fjTaEiGPb4i6otrBdY5TC4jaitpxmzqQ63k5O51U3eCTeWqWXrt
yIL3zJNkHlDdNUqZ/dMhLkDDVVhNXtWHbkbsx5QTcZdhGw4ml6bby0/ymZHBY4QM5KxsAgyFj0dG
v1q+2T/1YUGYyxVdKMc3hTUeGefPvMEsaxobE6qmnnWY7WlXQL9maTLOi3wJs6ROTip6b2Qt0Paj
lPwPbIMwhFIOhirLZHjoQNWj3tCKZRBhneD4HoiI9duKbWBWJvP3osM//Tr/h/i+vvp+QOn/8s/8
/691s9APT8TB//7ldXNfXYvu/l5c3DT/vP7q3/7p41/8y0X6a1f39Vdx+K8e/RJ//4/rb27EzaP/
CSuRiuXNcN8tb+97Co8PF+CTrv/y3/rDP90//JV3S3P/519+rYdKrH+NBkP1yx8/2t/9+RecZT+M
pfXv//HDy5uS3/v2+798+/3/fPv9v3/77X99+/2/fvvtX5/88v1NL/78i228ohoFXx6OCYsTI+CX
P033608s+xX0CB00pwFNzVRXB11VdyL58y+Kpr7ii3Pg4nj8KrsN5oC+Hh5+pquvLH3N/gGZSkDO
6tf862N49IX9/Qv8UzWUV3VaiZ77WmeLvx882ZEzLFmbNEp1XIg0icfvgKQUVeW5MwdV7minSuvM
7+0265JNNcxlIAWuz75v7U3WCkQOopbZzaROzteWCOIjE9vjA9PDR+GUsN4VvAIOgevM8MOJk353
rwAOXwIdevkJi7DcOEo6ENdRYIAqzUS8yXH4/NrO5s+x4FzOm+zm1wIDXwSlnkMeo93GytQbst54
SvLBFShPo2q+z2Zk93F7LOLl8bTzcDGO+Hxx5orvAM/y+D55z2zK626zwSuxbMgAuDEa5ViYzfMX
IZkZiy1j7HAhh9nUxYWlNBuEMtpeqTP28tSIr38Y9X8Mpx+Hzzo6fhw92OywYAN7Xm+FtNaD0dP0
o6grbRCIWOo3lkI1CCvPO0To97EmP+ey2btjeVV0x2JvHzYHBxemzfZAhKdST3358TOk0NgpsbCH
TWEhyAsGbCTLNmeN+AjvxhTbSJezinBOvTEiKS9mpfbeJWaUG3471lFJYkqJSsFq8W8Y7eS+XxbF
MxDyevNHDlyN9LEnqsmqTFOkX6LpMtmbSBG4/Wy8E73LX+twX03DKOugy0Ft79tqkZcLG0GdIrss
dDrnPcbpuqNi449D7Hp7bJeOpPdvDquQLFU+VJnxoeORxSdGN6BF1NDkaqGVWRhGjAanub/Ylvi5
bAAGIF80wACWPkoD0E4OdhA1h1clH2OSfqo+v8D/N4Qd/rQjq+vjde/hKg+VLIgq7B1Yih5/RXiF
+lITmthMqmg3Hjo5X6rRHGCIVrcjhc4j+7zH+6KH6wGRptiwglxXHMjj69lK2VhD0omN5iANxfts
+JPdmqiTMyJ48tra4JNxf/4msVlziloLp1RPD7YQnpfAz7AjsXHy4apfTbsCIok/Gd5VtRylqz95
qddlxAKm9B3Cddg6kgyOsdPcAU02lOyym7TN4M3dkXs6aM/xJOEZAbDAlb8W4p60PoXW6OnExAWE
La++rA5wa4N+Lfd89LruO6xt58qA62Ij49VGubROua1Ssxuwe+jOO5t23uu0p+///Rv+qe3G/3MT
8Wjj8eKm5P/D7cZDIM4//XUdf7rd+O1fH7Yb//Hb7//jx43Gw69932gYLtsJau8cPlA3o9pgKv6+
0dC1VzTDWOaRJADNBh34t42Grr9CEkEgHd/LGkuw0nP+2Gd4r2jtrJk4NKDhsIIU+JltBlKLRysF
GfO8JZwq10oyw+uJ1sN00fBJYX8iQnyw3yXt2Dou4nxs4905kNzYuaf422XUKCvZNx1VyUnRlxD5
SQkNxkg1jNsSVYOtzl7ebEDcuVqyGm0pG+16UxZpQP0GEfglpIcF41SUugNK4MTKzDWu3Nb7EyBv
g0Q8OeG2xdhk99kFisPY3vTRbOiX2Zza/Gksw9WUY2BXSf3YtnapJbt47l37No6SbMm3mIarXmwn
kCi5c+IgPRw3bV9QACiQ0tpQuVoPVj29kZb2LgLxeudCf0eEm+lzGm8H+gnY6mU8T3irFIAmp7mt
xGj+RLRwMGDLgfJ5U6zfJTuyxrLusooUi4va6iyS75YlRctLEbtKt47eI8nSpIt1uh1mJGR11Wm6
X2cVZnhpDmUdEPfDLNwwQkQQu43AMh3LFkn6BKQANSP2wK9GXZf1xpAWZHpfNWKnvc0GBCWXdhzX
XeVTTEIcKZcOO2A7F+OAdpBDPWJIhLwSN+7sunvBiSr/utRmpSP/12NvOMNTSscEfV+NXlAvVg2d
odUfI03MYAQ6DP5JVEnBtkEl0LxDVns1tKNr+7NnDtd8XdbwHpGQMM5axczzxUejblzMpTukmzaX
VUvC9BydgWbp7aAdKkVsc5yQfDy9kKOz6jZkh+6w0u/I9SWfvXG7DmgFA5j915DkiJBH4qlPS/xN
qJk1/mEcGRXq2qg23MBZshT5e04WwqllT+pH90GVaGY6v5la+BqMbSpL501NVDK+1IncML+q7Xwe
A1W4PMxqmhc6h8AmEjSjC3fpjCROfdSKkgAwpRdOE7qoPAHoSEW35k0Vcwaug2huE9cviwhvNAWL
YmxRp+uD+xofbGplge4qxrzJyzq9myIjmXaOXXGi3o+aNRsY1/PW+KQ2dVyz+WgVjC+BJ81R31d1
j918N+ZTNG1Qr9c6Eg8J0m2OGxL4hjg1Xlfe3EZhJ906xiyIlhaPGR6EoDax+fl6GhWIUUqvWXa5
q1gU2pIsuRo0q78zB9C1vszchca750aoqo1GHfxpsVOBH2mMr3hj5w+MWsSdWI4r5NlLZlmB4k7i
NRxa/jSiX36Yjei4CZ1fem/rDUbz2TMQp1M+1aPdpIwlK3vWiS9VaavXTiTNL5JzyYem7crOH2ej
Oi/Qp2snrkNX43xIkgHEAAubS9kMnACWUBvvpDQzBluB3Q3dcgd2CGurMOSmpYGUnjpCdRFKTna9
Ny2ckgjW5xHToNd9KoAZrt311QOA5JdPXUU5Q8VJ7PFzazLFUCxfiumkUc2lPu+kIrfOhP/yy5yo
ooZTYhrR/FpAWBGB3sTJMvn6hPGQxoXbV6fCTu1hy1S1GBt4XJa4rpEwFhdVLOrFx2tRl1ClmspC
GKhj4YFEkdclFZqAHZIjP5K1piRvkXOLOQ2UdooQ2i76ImdsULPZmsiEeU0xPOld1G6MSG/TYJSN
Fe90r08cjVGao8DdmJOqdfuZx1GuMR0G9M2SPMoz0IOm2LOravuLZUhc5Yz3NnFOcVTQMadQ2c5d
oDi1ageKrnauDIQ7VpijC3us41/pmSXjl9mLOkSkpAg3AanxmvKxcsdMX8BENl06IvdRcN30fmI6
jXZLSdaV+R4MaKyXNtLbTs3wqGV2/F6qPVuOuETwIGLHfD+RpF2cx31sGjtYIl23a4phVu3yEzJY
JjKE+ZVBjlSiySVRr23E+OCtABqmkQxynOIfsz7PlfNx0JvhbZXaWrMnJY+sSvigenJdJiM+w04W
FfpeI51b36g9TK9OIgZvS1jRSpkVnmq8RQOuOoFL2fGNq/XInDo02giqSyVbMy+hH29aqCmXMEcI
E64oLd64apF02zIaZqh9alJe9lQ3ax4ctk1eqnVIqqlV66TB41gI+smuigurnTIF9oUNb1ZpDbZl
OXTKy9VFyWLaWyIdfCQO+mvRF9Gya5WinHb9kkRXUZ0mwG/wDi57CqNqHai2aO97224+2ZWUy9bz
MudibJfmImZtWoeGqp6WOHALf0pVLzuReSQ7vOe9VPd4slg9a9ZdHfUsk8rWIfsk3tIHWIX0WUMl
eSvhAdwoddncxd7scgbp9NbeZkPV4ITOsLQENIs0zR/x1zFk4j4yfD0y1VPs/Vm3AWlC2rcPHYd8
jd5QcE60LaQ/lNMl1jxar1a6cUHgn6UGYBdc0db0hXBJcCtz5yXFNqqazsOo4KAFSsYiVoPEbdI8
WPQIu6iDgtrHzNOWvsVwPcmF10/bOGusL3OTxCv6Jnca+owOHmnShpROnuCVE/Kt3faJHSANNXbj
kNr1KQNqHjatN9sy6LrJvnbVFmBvNqvJnR0VyP9JmFhO9SJaPZKkwNdbo2nGDlNb1J3inXpbtLLm
T5YTibQerFHfVZYKvEffvJuU3nbDeVxBLL6tp5VxgfGQMZbGlba8X+wEN0zTp5FyEoGbfY06jH53
32Za9hqXuqz3mcAjFbD5SBDkK8Zng+ZUemKaVnpPp5hJWJSZoX8a8aYP76GuecNOsTN4Oh3dQR2e
ozmqu8oZ2/akEo5kDvJKpkXHbBHzC7sEWf5mthoDkEJFf2OC8UDEbjCpnryIulS/Tdo5vm4Ns5a+
kmDajOYkKoOUaEBWG9TzQ7jwrN/qo9HkmJM6Z134ku6dPWnqHefoAeJHEkNzmlVD/krPV2OatSDM
cFIvdCTxTuXc5DOVdJ99HOgiOubGmSqsnG+4XyqAQexiphAOtr63Sh6Eb1cm/KIsNccL7IB9wvfW
EFFZCQ3WQe2xqYgzwT5RIfWGCkAbL3FYjX3KdCywPwaZJtvbEpU8DDw1ETeeVotTuzOSjwrombda
Yi966Cy5mTHL1eMFkA5H9RmKbLNML7YRAAnRik3FCrvH+lV+HS0rOe8dEX3F+6R+Gtj6NTsIidbO
LtQhD7pUYrKs3bjT90IZ1XvKEjY+P6uNPqjp1H9NgB1GH9suM3JWtqacQ2/ME/0zuJJyfFeTFOZU
AVFolbPT0w6rFYkrEP+OHNAfFwTWIwDHV4o1a8XIRkq1HhF+qO95Y2ulCjflJy2qYL4JcvSAPKv9
m9SBzcHA5HD7s9dcVU0061YhLRKnwyIEejJrdPvU8R0tL89Mo3F3MldmGHuzDPNi7MOfKYhxjyuI
dC1gUljlnHN4PQu+GIuChmB4id/YrLeAJvQhRIbghbGC20vMuE70ofIQtM7HZEuP6wMPV6cnaaPY
QXYCofugGiHzFjeYhm1xrqHEgB4XwaxXdy/f4kGDhltEtY8eiKYG3TQOnY+/xgwrUDIzmfvKaNoI
k6mxMAeruPQoAt78I9dC7kdqAJJ6Zx1SPwyZSMtgPqS17ZN95m1ErJQf28lTz4cuw2Tz8rUOIxgf
boy8LJQjFKsQmR3UnxWtnWQxNzZnGmYfe3Gww+Jflidd2wos9sUUNuy6Ny2OHjrmhntLudoOE6Nl
w9nEzAuYlT/OcytumqJaTqWCIf7Ih3z6Da9AVuilCFw5tBsHRa4xjo06Bxbmo11ClDjiBzeVLNo+
PIp/L7T8wkTww6h4Wmj5/T+vhZbf/uejKsv6O9+rLNorKitr7xXRq4tscm2XfK+yKOorkuxW2eba
tMG9jmjnb3UWTXtFCdRa05eomFMC4Uf9936O/Qolq4G/h7cJKdHaHvxrGejf0M7RH2wJfy+M08FY
Zx8iZhjFKvvLw35Oo8rFcrKvOFNNe1dNhXLuZJW5XAxDza6qc7xO3jROjdGpKj3tPOnnrAimFHqV
omvlVyfREbwDcI6u4nKOPmRs1L8kU968p8GUqKEO8zv2VQu7Gn4kFbWq7Y3iplZ02iTKBKrBV3WM
Sr6ntdTPc2sc4KAo7Kp7L8GzmrhOBSTRNOsrAzDIcKK3HUq8hS3rZ23qzeXXKlo67SOgjSjZdf3o
UXzJIChe2G6e7j32ZOpmyogheF9pTe3huIw1+72h6Dk2VU1xt1C1JmB9RZ3P4egImlmwNhrNCJ2J
UCFW8EQZ9jYRas0uazlzbGe4D9nb3sSmH4iYU3o0KKZ9rsZxeUHtOO+2mVMLkxbHstYlkr67Ze8u
261rC05dcV7nsAA4aEwUKtKrUTOzBCBQpFFn4PRllEAI0m5cXncD+20fDYsNU7GFfbqRqyXXX9p8
dT6kTYWHsHWGd4VmYe/0dDZcW9kuHJJ9Fsyxv6NzoXAiV+zmvdXP1mUKqmewcPqkkLGkocfDm7X0
f+cBc6T+YE7VV1NU8dlYOmz8sg6DVSsatwjwtk/1FmqLhfm/jO/MKPI42zhWn7M1wLfpq+Sfu9ul
ZhT7U5V1125OK3FnxVB+Nzj02JCPaQ7MEZezTPZeZEl1Rw5mey5w6uExBHokfCTLSoF+Noq/4mbE
8M/RilGAkTPqcA0p4wx+wsOSXbeyvetZqpPdxCklw1bKDowjdOIMtA16jtN923vvswL38VgvABrc
rFwkpYZ4glXbtNGnvmjGNNCLzLyhCHqWenPV7HgjzdGvoiG/pvPDjfUI8qHqGAQRMDwddtWWon5k
493XZ+uGALe71RcrAmFy3tvGMOUBeAkd47dwkiUwuri8s1sb8JAuWd83vReBttJd2m3seBv7krJf
ei/BYTlBX6X1Gz0tCcyl6lLfFm6M7yxJwL/DDEzKjVFa4JMXerCfZksXtxlgPCqUSenc62Oa9vtF
etltTMYi8EBQl0HqcMwLoNysZ8hEgQI2NsRXcSQbMLpnjZkafp7Y8X7M41QvfLXKsrMpTRGRaRZF
CII8K+W1Tt7DsPHmbFrgcYiJ0B+YcxQlqVeVakIha4A8OfnExdIUM4QKdGHo+VZbmChfcHPnnxUh
anYXac4m2yAM4LZYDKBLZumKDbYsoiQWp3SiE7cGnhl6hDfbgZvqpCdJLeOjomO2r43MBN4IYUnc
UmxC/ueYYwaOj7LAzpvHxAq4B8fauZPa6QGRYFofRJFI4DQJobwXxCsqOH3T6L5A0dhuFyOLu3Mp
VXKJK80QjU+maflGQgW4WBU6FfHzUNBmQEjvk8JLgLYy7oEWgcN8G1Nowj7OhmYnMx1L5Ygd6maA
vfeFETOroZoTEghuFfQttxw1p/CDTd3Hp26/B5jeTr5EUGwHFMkgcZVapZyZY2TdwwY1ALTGo31e
awNF4RWAp/tpD3UoZKfQ9Scw1AStQgcUABNqZ+4qTqnjxhjnZFdwBs330IYc7/tm4t+XeZZ5Nk4v
9FN+/0/ffv9v337/L99++9/ffvuXx4s9v/nHYq+9QvqO52CNXCLvbu0ofl/sHSQYpJ2zzqOScx60
6n9INwx+tK7vaxSBtSpM+Z0/VnpDpdmCTxOVBY0Yluaf6qg87ryvkQ5ISQkjw+kNyAoS8+OdcYYG
YlaXksq8ppZfcGokp9IEJ5dEw3iNirbYLJ2cr5xKnc40pftJbv+aKMH2AuHIeoJCQbJqOX7YmJuL
AR62MJnQW1u7rCs53KZ0Ua6ZI4+p2Q/OGzpWKlwBrD2rip4K9sF5o1QiqhbgCH0c8sU7zHN2UBcE
HrZa4e1+GAVH5Qw8VATB3BUnJ9Q6dFoPTgBGV81dN8MHVy2gcQKCsUJFY6TDAjihZi3Winf26Jba
dokT776f+sXYv/wRHixiP27g+Azs23Cemg55eg+7yB+fbA/Ph9kOdaeMxqw+mbwpoaZbFWRiujBv
wHNAHtl2SyNPe+rOn63Y1FV/NPLmAzsqkW3R8Mg7m1K5HlZTB7P05Q94cALhGWH85UBNNIRFB+ow
fDaF6AzIhWpM5cj+AlvQeLo6lY7Egj2IfR4/Bg7SmJpVKp7UJQ8HWDtkjddqCVwupVqhBu68WD5S
+JqH0enqZ2eO09floPR5YFblJHfqiKzbn0DR3E1l1CVvwO4kb9q2GmEjs/QrED1TIIq499VrjHLO
FAz86TSY6sKBABv3lyX6ZMN3JqF0EEoW3djiuIGa0LKu/vryUzyohSD7AvGPAJs8UqYXzraP3x96
8OXCS1b6+gBgALa4u2153fxpKacQg8R09fL1Dg+36wXRRhAcAm4fhbR6cEG2EMPk1rL0tUTd0cwA
CmbYG7IqwPnlX9you65dix0xFoPa/Dyp9ikYZ7r+4P/t6iJeHyJQ0SODfT2t/vglP3woooRpMTNj
uodSRYedF3vApfSTzkqvG2aysIyWe9nn7tlMsyoo6KseqQgdjl+SGWy0Y7wUvOGr0e7xk5dg9+bY
9DLfYzXf02nKtyD+xiMkgOeuggyFC6F8QUVxcJUhtdw+0+FuQZCvYBkJI4js/phR/LmrsArAp6Cy
xgHzYBFYZhPybrVehRr2HmGwvak9trQvj51nrsIah3Baw5KOPu5g6LRwcJSZwEY/T9ubVXT8RWs7
8+7IRdYz8OPB4FC5QonIMZi5/ol3dtbsvtZG69fOgz7sqwnikxMb9ElzbwORCsZGjT/28VyoJ7Fp
KjoyeOlYYayNMSWZqSmmy0EYQMKsNDUzf1Bzp7582F9DccuWOJilqNu9MEWMAXfuBEeFuef4lfZO
Yb0px7ktznS7cI3zWI/5XdjBS3OaRFbD0rOomgzGPgKO0gPrzjdVl7C9BBxJlBLRcfQ8sZKUm2hI
spM47whCbWHJ1pxVPAcAXmmNOY39bL4VlpZDQhZTVa0Y+SzmxWqm+HUzxsbJvHRz8ZGS9OIA8HeU
/rxIgBC9HYxWqu8jYtV1GgudkOHkad2v3qzAY+y6UrqBKuysPHHSghpvnnZ4d6pFnWAjOTrwelHr
QE+7sV/KLYoCN4YQKbuPKpkNiOHUKBY0nBpAMm1HzsHSue5wCqt9lJu8smptIwqaXxdmA2B8M+lz
vWys1HT6jQnB+N0KhYDdZSWetgWfabu+Zi6kILSAsNudLqgrb6Kaaj3KglZh+aYRpoWTVgxx0I+a
ccK+Xu22sSxqY09gL88n7y25d3OHXHMa8+qXeilrDvgphCO/yS2l3RI8wwEK5iRPkAzaQoRI5eI3
Yp5Z8lLW7MuFWvbsxzzS9WQk3H49OCqQazM5fp6XJr/vJoMKsAMyn0Yzn/59N3YMgsI032pi0ZTX
/LEugZ2t2WXY5WM57/RmbpaQk6/8mOvpol7MNejFFT6n0qZe5gqCdllFe71nEj7V6YNP6ByMvLhS
xr7ttlquA7qysgR4pNAG5ZOG62YJFXBErd9wuv3sQny6jVLaUj570jS9WOiR0FjO7Dm71OCJfKYJ
XbhEwqR9etJx0NQ3vVq2d6PRAlz39HQ8SbW8WDZxa6NOnPqi39cygWhUa1Y1ExMnFy0kXQEBzehy
SgvGFuEFe4gS9dzSWYYRVAQ+3Vp17SrYJmhkgjFVkmFL+oxWnDVaPtILyabsdIKScNsurFpBLWMY
RI1tUq6YnVbkhB4pNfNe1bNIp7UDBdxBGXNit1R+wnJR9Ft3zqEygTumt96Vs0JPXy3FZdnOlbNv
jLjqTrMIaNeVVXgWb4oKEjnQcz0i2aLt3BlJTaEZG2f0nGhLY9FOwxhxPfwKK0eDostGEZeW4Zow
cJdBOlfD2OufbUQ1zRXAyzh6rwmasqcKjVhA9rqWk8UxpkDI+7FKyJyfdTtIJ9zt2HyU+TP9daXH
/D2P9SaaHW3c9l5ffVm8dHpjJMUKK9Mjx4X9PbWWoNYQWdnW7AUA1QacGhKVesnljnxruGRpLkWx
05PcqjcpnabW72hbGyduNaCI8RaIcWncQ1aRFmxqfKpUHwP4xr3p10NsUIuSnjOERtW5Z23Tjzqa
l9JDpYNp/bLoi6TedCYZhf48laa80t3BzX1Xb807NTMibUcgVJps7WxOEKPUNRzbKG8gngvnQqfR
X4coN1iHh5k4Pg2qqxJUmduc2bT/3/GRogt4Ay4Cl7oiFongot7YwIBvT9KiA8qvZl1V+CNn4esU
xetecTtUF7ZamBdQtGCC436FHm5XTR5v0iKD4Q0uzDvVk6LuLkggZzeUJUZn7HW1ia5NR3LHY2nE
VLcG7RLMvNPu1wAHUjrgNaob+haD3OWFJ5uNYTU4OsYI8N0e96IZEwIzeXZg21Se/NLu25vOcpcz
tdQoqpg12vdgHJPigzaXXh3Co+92kpal6RcV9f1tSnLmEFiwMgN6sjapC1J7LYlc4QCvWFCOE8m6
5se6VSIsMbVT3s3SOLdBqJ1VLVhrHoTXvClQEv9f9s6kR3J03evf5e5dsl/PW9sxR2RGzsPGysyq
9DzPXl92bIAlCISExJLLDl0J8WVoEN+Cn7P7nO6sPnSpl0hHXcps1ZDhcNiv3+c/Jusyr4Hrgozi
Bnc2BW5gQblA5MVW3BqoM4T0zr1AOrmmGC8FWt3aGeYKW6KZhQa3LNgHaE6ItscxLb/qnWEMpgRk
R2IcLA0UAthKIIidsTT1Z1tLFOGGIdjaGoChjR08eW0ObppJ56kn0dmVB7ouCNgamzctHxp/TZB3
pCz5/1bnNlFWy6shLgexalU1eIx5OOV7HNShQkxMUZEIVhjSJSWRNj1V3VTc+EZERFWsRCEXDmG0
t0k7Wnf2WPrvRI4RpS9VlZCPTFMj2QbJFOWbOSyD94bwE22nJ2p2P7GDQ2kUNHQIkbpLYpoR+SpO
FimwLMf36xpE22/QoXIZEFptlmewt4Edo9+LuxQtFupCObOe8AWWKNPT/I60ek1xE8RFuosisqxc
imFQuBDONE0rCv9U68ok/3PcKt2oJZtpmGpps5wQsHKzGPZhU9m9F1o1lCvxW8Nb1ms5n4Qh44fN
fKlET5JUZM6X6LdVJ4Nc9o3WQGLXZ2Q0C4SbpSOUTpa2Krt+HlPEkU8qiZKIh90WBcQtiTDLp9rn
VXahzXR9e4adjOQtdFGNJiGtJwnAupTN4Azolo839IEAiboKSZLmvuD3EKFMSjAhn8rNibtMpEYw
pd5ojp21q4g3BhkohOqzyk6N+t6FmoKEpQrQYK4IuzcoQfnY2P0dZPoHBAu/2eP+DS7prx6h//EB
NX3CmT7+8c84k6R9QXQAQ03ZHHQqPhS2xr+wSor5hUkR5zdjBLtiGoP/SioJ8wsgAfAUxgvGGLS9
f4WaFO0Lpg9+G2ho4aGh2v8EqfR5/495ffH+oQYGhSEiSnyfaiaM1i5QszxHPNQI8uVR1I2YK35z
bv4G9PIZ5fnlRTDUg3nAhNEn+Hks07LMRAIaPA9Wgj+O3HOniSRpL5eD8acAjF9eCV2zQT7bwpN/
N5oFOmmK9mQ/KShLiPEc7P66nXIKF/74Df3+rAGVLKWIhgEXiC/48xuaQZ5jo9If1arPLLKXsu62
mML+R13Ay3n5dYRe3g0vAzGOsBoNLmL9zy+DnjGyLKSeM71h9A746gPdAT4cllA8AG6cMKZZbhPE
JD+YcP/WCxOMAlpG++ESpvH5hRMuwK7W5Ec1i31PVTISJeUmKlxECGDYSSY8kPT4YpKi6gfhLJ+h
z5/fMjZUAtKQpZvcLp9fuYhgG2tlfqxE0MZ3I0EtvjsYzayv0YZK8rZVc42yhJFM33UBq0Jpi1UO
PzKP/v6CFUCfgvPPRYtN9bujMODr0rkUjx11FysMZPRiwM0lSab84Hr9/QvZQKwq6QyEd2E2+e4T
5tkcTmTwP0ptUq39jtAJgukCUvyDHzmLmba/v5qQWhAZYhFAicaAiL/PpzY3JGmQq/BintQA6a4W
US/hE4FGem9RZjdRPVB8hUgXfbugqWVPNwVCX3SVaBIbQmpo4DB6nv1NS9Kolxd+/OqTqxA5XW2o
L9nQwuMxJdRsUvMq9z2csUmxYnAh0amfZmE5goEGMbAcpDT0VLlsOpbf20jDYRVhIv1GeVtaeUcy
rWbyVzUffZqjKnSpOBIhs5mTV6opoVJT1ebgIwc7WfpMiB46xnGdEU4brYeqK18sgAxa7iR7qY6A
i3tQDfAEN1VHudjSMm9D08QxWZGJovaXZWV01VqrB2t0Zh7JkSMxp95QYZ6NLhYLgnvKCWbKBYlM
bFdOs+IrPqVYX6VMKP3O10R9O/Xo3hyjpMwGAWEmmduS/f2u9MuQ3ZdExYRb1Tr6E30uom0QBBp4
IB048Ng6sa23ppzM6oEAZHZDWRL1z6GUh19rGW+As4jpErz6KGn8F6Wm7+u1Mwz/eu51JqC+I9aW
+p3aYv+IClLixG5kKQ6rfdUKNZRvNIu9tsz2XFGlq6IDqqKKwB/zxl6itupqTs6+HiX1ELsZ5AJp
No7qtyDkq6ks655+oXLIG+mCti9awp7KsohimgJmrbSyrTwQnH2N04MoAyeNqcwybobCLloUsHVF
aUTLfqiNDhkVZJW8ZkvTCwxwiR6CVPSOKpECSLI+UeStdUvfXIVN2ZUwkykyLntmXVQAih7S8SYp
SZGqmmeA4GAF7Hu10xyAio64lBTbg+bv4Est+yP5XG9v03GaUQKq1MW/z7Xa0S8FZlnZyyabzOFj
zwjaTWddRDEJ2olaqnW8AU3S6TnUScvO87smrOOiYhdJ1zdlKXQAlp6m8lKRk0Xw0jt6IUbGyraS
s4uQqlr50Pe+IW8aNarf0bMOM5qA2jrZ0LYlIc+Z9aBS7ly6BCun3+K0EMF7OdZEBzfkUYZOXZEx
fSmCXrpsCaDwNyOrXng/WaGoXMXKZbExa1pHEPbq/RWPBT24HGkFpg6kyuOnsSBJfAO3if+DtpZZ
4WSIYSweQqGU3SacAa6PreGHxjYa7JrpQl/8tjG2hPig5GH1aCRCrpxsht1eQQUoktsqdi420jCa
5WsQJmO7pqVknL0RDzN/VRtlQmtsHIfB4+DHhPe3du5Ld9PQ9uqtMve+fxm1nZKurYl4rEdMNrp6
O5GJFX5Fjl8ZbxQBqL3lpNmk0Nuqd5koHqpCsZHijtzulMbIlYHuzW9juz31dpvRjtPL7UAeWdXU
fXyXzID/nQswZg63k0q+OyJlfDAdaw2xG0epCWY+yzDAuaPExpnpm3xKy5CoAsyHPr0i5z6hsS+S
WXV6XVSToyCAk1dR3LCtn7pSHIe0JCy/RPhxpRjheEalFmNtqZfmnDYto9HTdH+pJ9Aj5b2rOKHr
JopDy6XGCJOSWprG5MmKYjRONvThKWNladxJQZO7od+NJ2yUjVmyEaPhXxHLjY0Cr5PsjtSqYaOQ
aELkFKHmdZsgskzaUfr+ljIk/a6QZvpItSDTAs8u5npY9zEGg7WgHQuVfd5FS0VmHZ6wi0RPzTSo
Est8PJ6pydBV18YvGpGK7EsDmSBBLztWrmeXg6qxtCtTpN/ngwierbarqZ1MJP9JFnHx1qVyfzvq
Q0EWeijib6E245YIm6h5pnBMPpUVPISntFGyNDW2crgaZGt6Kvj4aq/SY7N0Q7WRGHyVwn7W7TwC
d9Xq/DBPeH8pZBuaBzi48Gmy9Ow1FEPJvFPn1WubFdLoGtFQ7MoxL6JNiPb4Ih+VOdslkiZ3a1J6
rR7twxy96mamX6FuT+8UqVNfYsBuA1xsyhO3h+S8AUprnsNR0e6Y3IY3Vqg4xoUCJODxmFMil2B+
kbglrqX1MMmIoBmczfcxGC3kKbwMxVPVoPpeKdcDVyARHbSLtJ18PQtGOF6krqnMYK+IYVlfmnSs
wVekNW+a2tVstpN2k3JzZE5pItfmTsxwb2WdmDQP/zB6fDVIhgt5bobDzF50Ok9kDL53UdIeoWyG
m5RPAOSFB2uOk6nDRMKt418UiD4qz9AsxFm5TZguCy1OTs+y6hDNDU9JGxuZNb6peWnCsvXAHUBO
SfA2xeYSAWiHKijgJLEWMq23MbIevQB48s3ekeehfK0HvaGSDqkVK009ZS+GVVeKh95YktbqlOtY
VyqTqI+Z8LvSC+Zy8Df87TpFJ0a9zgp3U3cEHyOLMCPiJF5Xkp88csvkymbwcxG6pF0skeRpi0zH
FKV+rTbROP9dDkmOxkfMxZIn9Ec6iX9PxsVP/+K//vSv/+VP//a//1Ynwe7lLzoJ7cuShcS4KUNE
aTYDya/jKwZTCFwL4eMyoNIw/uv4qn/5ED1abGtREED8/Dq+LlpKQsgQUqKY4Of+qYgL5LufdrWw
fIh6UXJAL/Eduuy7HbSlSG3QJQ1A7Cjr2yKOm9xLRzlqH4nOls2apbMmqTbKbHgUZGPK4EkJJsyD
bUudvdGNquyviUUW5olKPTPeyfTM9u+LjL05mIPfr+zMLLsdjoOk2Ym4U/M12Hs67jQroOZEmeXQ
X5cEHnf3ZkJJKx2IrITbaq6hVpSxC+1HakyW290HDBturAoFIEUtI3MF+iI8ZR6Jj1nzFdoA1ptU
PypWinSIvo6NWG48o67tXTxpg3YZRnVEFHii0PEix5p5FeG3C8nCQvnkNToRnbeUztj1piu60Ysm
6bYd7DdK3qimJBhBrZMrqIFjrUaq76pSGrP317XW2tAoq3DHyW1bNicLt829LNfPnV1ScjNqviq7
wsAUOcvmHXPDg1a19n6ugMdXpU45lCfFs5VtcD9ZtISVaq+scpoEsH0YKjUrReOjC1WlUSOTrWyD
w2AnqKxpg27uUThL88ZoEELM0dgP9zO5cNgMeQd1vkvGQr0sJNM/dkw1gJzo+3d0dC21RUqZ7RpI
vcYNq1q5bRqNXi+wUNZ2q/MtfzeTHoHXstKUa+Rrhe0q0VhYsUvf1/jK4heN64IBSN6Mk6YG51mq
fNUlSL55FQ1rqOrHs3lVDzN9hG6AfZWN+SSeRNVNL0lj1VdDRK1TnIYnuvzwGSeqBOFoVca1LfV3
c96KHWZe9VvaKOG8icN5aGKnHI2Q6OsRkdObNnbwHlrYJPFG16axo15xjClgae3+MTIsiyLVqck2
mL3q9DnGiTZt/EohkCBmA6utoJ8q/5pNoHU5tgq4P22UQWJ+QzaaKt+YeIzxJiERedgRFmzXF+mY
yaztfZmiJnVlBV8GHbMkhyDvLRplTtRtYxbxYvkVcSLvSnmMxJthUhvCJhzCkSC9rs3Ch7LVZ/PJ
lCc5Ome17nffgHMWfNtSw5phr+6LvN80GOMK5P1tZWmFJ1I1OJF9zsCxlmtuyhVGbsiHpGia4pVO
lS7Y6fC05k3J9jy6U4OmkQkAjqMU36SFNoTnjKja5tzIdpResD0204oyIjlVtuhxLWUFj66rjh51
it1T9WrGgSW5fahmpHZg0UYCGhsW3XR9vRFDk19YlZ1B0KqnUO9nWudoxLhp58B8LpMqOPixIphA
9P45oYratW0zec0GioiiiqQap5XxNSrzDDfWDEh5k5DsWhCCTczUmdLNZrLTm5IOP1UslcL1h3E+
iN5CfQp2m9yS7IJ7N546Lt+k6+6nrqsPrHHx1oDY2OcxoJVvD+9xrAUXoOu3KeEQ10UyU8mbmpz3
IkDPkXRUPDj9UuNVg4pdZuWo3tKvZUKT5kgNZVbCPY65JHc6Px7WE4qMdaCMxp2MYvQKl2+zT5F7
Ur9S95Qk1chtbUvatPRFjjgb1f5By7SyX/WVavdLoHltrYe5ljeVGFBREQRxkC10lA6brHwTJ1a/
ncupeCL5kC0WvW8rfGTYBENqyBwtEqgyVd9iXwi100KqoyhvpJ1II+nU9c1ZaUPOV9cw++WY1+Zq
RhxAVwt8WE2lLHvm8dbUS/StcdsdqO6yKfdm6z4rGVrTfjpNozS+6r00bEHx6+u2GaOtJEeWqyHw
d6VejGuhJb4rwZAetMhq97h8w0c4FpPO8QEuWzbqNYC6v4uy6oZwPmIJDGrXB8sINrNOIEeQdvFF
lOnFMWYcvo7o89r1kTE9waVQUW6oknRbheUryTr1OhqH7jGwzO6qaiGsu6Cg25n9KGdk2IiEfkpU
vGJlZbLt+lLW74w4fQnmHrexwl9eLnnlFMz0ZBEHxDBpEB4wMhSus7KZXA3lxopwG3sbCmPYdaMp
TmMoaY8iFsZBI8xj19dRuW/99NCLuvFoM8WpPcv6qqi7fKvBcLIZ74dTx1C3H3vdZ0oI/Y0q6WI7
lkX9Mvl9vVIatdoZJWBgI7Jua8/tq8lHuNIjIa6rgXKpLA2PSRDnW8WY1IM2+9ZTKi9KMhnh1VpL
qFlxNb8tXNwX8rnM0/h2MIT2JGi1AjGxqmDTRnq+K1BpnZWQcnUi9yx5ZwVqRx17MOT3GkqOQop5
IkqyuJbwsOGwD6u1IZeTJ4ksvepN+aavdXMLbmk810xbbC0HTPwyJPWUqBYO5lx9sCdT92KBfwf3
+5uUdiwt0JiCn0dYqO/C7EFHUjDdw5rG6o2cGLIjEKnVfJW765Y7dxUOde2wdFluTUjSijbViguo
lE5IUDqnqmXwsqAu2otQWZ7iYKxwzrh50nqdz6p5VQVGdRTJGL8Pc6A2x04O40hPuAjULlJ6vAxd
xP24noZSwXi8GWjyUkvNMSweO8FjhyFQCc6Adh0ATdU0vgGbj311qSW1f0Fz+pQWIaZHKzRNn7or
9WcgiA+8BhYikF008rgbPgAkHOFhd8FM3GTftA+kSRjdBOxkBXr73DZKsUPGDyNW5fZ6TNGHE2n9
nFZU2Zv4tLcxVPvZaiSKz4wwvU1QNVobGisJ6kV1ZCzWgzpYUywfZy6Gr+K6lfgUcuQXJzzBBGB/
oGPYF6c1svl5m8z0SSLhCEg3Lid3MmmA1vqmC93WUuudQnr7TpKm6DiHena/BJrR8Y355W0QPhsr
vQhDFOwFVH6em2u1Su9y3bDBiyRzD/9NDaqexCcJfcgL8gz1TurKQVq1LSEcdTK0e4r2APvKcibJ
wLKnhwYP+xadSrYeB1rv42nSXGy50iaYzZfBL9nFBaZyZfWpvbcyo702u4Jlgx/IZRN3Zrcj3hNR
OoGFOdszga8uMW7KxrIQjCxYpD5J1hsZIoj0WtwJlZ49+pTR3tDvi/YRutW8akSvrqtl0ZLx5CDh
7/x0zXikt4eyaGrbG3GJ3gyan1U8dNI83tDYqp66ag6fx9G+UbLQOkPJc8+EDIDKFMbnKpbolR2R
P5V0c5VIRVSqoZgojex5pFrgBDomtjO5Uid1otvWJFdrk4ZmuqWdTdATRy/frRUZ4zHCFeuGpNyT
WSLp/c6Ku8LLdLzfwzy/4imm/KonvkSn2PWxNSnMMT/QXzWhz8GZRYEpIY8Ufdq2SLdC1HW2emXM
lvyIQgoMuQHCoq4bqf0DWWDa20ysxx1Pxj5323FOOYFdchHmIWs4VuFdbMTKbThZ4qRLQ3CfLXg1
zfHBSJNYMd714FxbE6SAR3k2ECqLZOU0BWlzondbPqEd8EluiVFlaFIpH+dsNm5zpa0OyKOXYnis
JpqnzOxjSn0K70yyY0/ax3w6q1J70yuD2LRkugB1zuNouew1/OY5MBCgeImgw/PbmOXWNUf6QI15
gefPH4jyrstIQTqDKVE/1aBb0+XkQ509VImkiMu4U3oo8pGsBDA3WR26W4WQkPIkgQ8JB5ZbbTxq
BRrI4YgJBpodrxQqXpvwCWr/6lHST0oPnLAKMlVOXCpaRgW+Hwn2GqFNYjm9sBKK//Q+XRl+g3Nb
SVMXLZ2/rZVsZ6kVD2TmAjduKuyQFhHyQ4/3rOSOCiUegA77tXKXEedxxDI2HYZOf8VKNJ6mmSTY
ptLiQ5Y0YB841Jx2gLoxOtQgGSkzbqqkH8psyq/K+BDqACL0+JXEbkXZzjAD9B569tQn6VUn+spL
NR765tQ/La0GWFmiwhuTFFofIxPVnAIXvojUm4Cl29XaQTy1wxjeKZWd7O1B8TeRWRknFtOlilLH
Wy6pcvTSoGA6jH6vvsilZrYXg1yMb2NjmPNWq6UpZFQaB2XXT4yDnpIadXzBLt541lHBzvuhVzLJ
hbZvq0vy3uhUzaJpJDBP49EXjbKVbjPF6KtdmPocGeCL2Fb9YD4TzZLlK1XzbX+tZVEn72QwwNCb
bE3fDSVetQPVuoywc6aU9Uoepj520ySmV7PzjaLaoogtVVILiqhj9gq5hM2MndnSop1oewFS11xO
FnKzFw2kXKxCJBZvtP+qgJgV8RBOo/LocazSzKxjl8NKvZj0JEgnH1tfdiWZPafOCoLWtZNOZTnX
QUH3sw18SOOKPIZuUUa+6WljqVJwoXaBeZX6vpK68dCUwZWip6iKtL4uda/p/XB26c4e9JXEm/rW
0ztRXBAAUmMkogtIX3f93PjbhMZWzZsliU9bMkPtGBacPof8O+q/5QZ/4bZSIlgqpCndVoq7ez1q
0j0WRCzYU+evo9iWL8uwiNbV7GtbRLv1mzy34TMV5KFjzqnxILXxvCrRY2x8Ch43cU5qDZtzK3Uq
vBk4IbMxfYUPC6gLVFUsuXIqDtaIybuSjce01nuufNnM9mHdSPsAAeVKT7IZbXtieiDrxHrkVfHa
iwwRYMq24C0j/YRsI5HaCOWyFKtakdZbSa/br5AAxR5KxX8tQVBYA8lXsL1EnrX1pJQ5olQyJihv
b+dwXgUaQ2Asq+VGwhkKLN8lkiOTi7MRgWivMl/xD+hF+g0gujhPco6ytJgpeAjae1yi09pMDYWW
oKQ+9MXiiZhzcbSmRJwCcquw6ZW19WhHGRiekNtXtZC6QyrX1GUIMMMssWgyL9v6EILR4LCCy3bk
yqJuecKW6ig8bZxO79LYHZFluwipmd+54dd6BgEVzCRQVMK/UqeayXpU/QPtGJrHeJ3soESbduUn
mn1s22kJc/T1G1z3yV1Lc+0uJ/hJ83CgdTsdBSGKOaHspqkidKEjMCpcIFGB3m/bKjGmzGBh8Pqo
PcmpRVGB71flUxy1SRIzEOSdfbl0Ybf7VpJ0nY2kHox7VLrwMGUVYotMlFqDKTNTsOuf2e6/62f+
4SMk7v8NPv7vf/yP//Of//mnf/dPP/23//Jb5PHjn/0Seqd/oV6C+gXgPSGsxTz9i3BG1b5gGsGk
hBlLRx6h8yd/sWgpX1DaLLVFH7l2H5hk87MZW1WWqDwLhgv629IX99af0M2gePgEPJrEQVKoYOAy
QABiypa2AJO/cUml/dBxrSTjwuHs4uhY1eoFXcavRcmcFop0nfvROVKNO7CofammeyJUAHicVEsO
igoTPMs4XUqFuROkIFR5SsyYUrLgqLmo6WevsPy1wgOpFc+SrzDsLfKxHne1S2b2Sx8JJLNsIhFi
zk1zzHX6TBk0uc+qF6FthNjGN3Z82SQbAEW04lO59q2VUbjF3i49TGO6ta+s82VLqJCJKjQAOzsC
JnabSltllIoEKzhvoTgDpEdLg5njNOZqildpvsMzOpYrWfPK7mwnV1FHas+1Hx+icl0Vru57ZN8h
8HYQiCcXNdppbZfepDexxx16iV+4ulPl6+qkyzRGu3xVSZ5L5yOb2bX+IPneBAfybE2b8obcFDb2
t5Likl0EDNVE30LlOr+pLee2Si8K6V5gRdZhY4LApW1cBTSgpag8UdYh1wSCxC7a3o0fRG4ZDSzm
s7dLx2NtV1ujY5zcIHyuOvMwKKhBU7ehPFjZNB7gHauW2z1Ob9Kz9Dy9yR/f5Y/vy9fwpX3/+Wv4
Qkf4u3j7y3/9e/yCl3qjvfXv2hsxLrZD2iFi2Omib1gb17gHkqNgfdVoshYkrKmd6qj7tMTqdxE3
a3lAHFk8VUSqml4GjfKYvmgwnriCk1uyza5HeZe0q1BsHMXF5TKvRuK7Auh2JBSXhEMp+prOXSTm
RnFZg0fPl4bqqgIbBGTbhq/oCLPikvB1Uy2cGW+4kwm+5Po6lFbj4D0B/TCRsC6rwLl7+lKX78kN
Vet0BtLz/Ny72qVDyQSS5ZdCY/PsmM+bjDT38k1Ylzpzf0jZoLxZBgbTNca1imfxzPsMfbdaipg9
7bYYHO12OoevPg06zTmLDkhPR7HNkXZ45RapLTk/vWOk14H0FjSXmXEUu7RbBxv+eRHejyO752c9
358NeR1Lj1yqgVZ5RGy4StB6YsAlH3OEU0G/U+AF4bLLlDzmxiTxABgi7VDrtaOO57Dbqv1Gnl3L
9CpphcrELfS1CXIJmgJqhLTaLYMN4Ijqn8pj2jvjWtsX7dG6etbnmjwETwtd+7Ju92FIgyH3N2lT
t410bnqiXGcc1jXG6XMM4f4e3kYXJ2/tWeneel9Xo1dIF8PLSQK4dFCk2G6uufO8jsKrsvF6zW0u
ZIrYvWZe2bQk9056K9GNtuInEqGpB6tmWo2oclp/n4pjkr370QNqAYc4epB+9NPtyyj5q0YFf5EJ
TNORc8C66iLzABYcspWJGKJ/fZa2dnhIgSqU6BUIwxubfR0f4RnzoMOWcbShf/1FSjyv7XZVnuWX
gLEUTfw9TYfVdVa9J5aGI4OZYlxhES+uAZvcEKxOnp3SYoG5FNo+buRt/pVGWNgGIhl6zAiSU7Rg
81xSjPZfL9dByqHxiUL/7xQvRWwru4r5nPiTG5rf7EF6wAiZ6tu03AE1ZfbKTKExgttQedAsnXe6
yeV1kt/n8j3Fv2V/mC6sFxEjYgpJr5Kor9sP6UEVYFPWqjMYOtddepan21i4QJV9cOxO5sPAeqg4
xVV2hUGCX5NGM/PyP/lld2pOH7/N7/38JzLLq+awVpEnHbgEPP78S8f+8K04RSM5bjsWxvkwP4Dn
sE4lowx9rHgY6kfHOlfahe67yvTKZa9GHhBmAyWcNxekiXIlPUgymz0v6rinKgB1OWWhM9lMvir5
7AXStVlLLoqxoARf4CjMnGwpXAaL53DIuAP2vliH5a7W7zJKyFaD5SUT4PPcRSzWxmMjs64SjlVe
c1Zzxc3Bc4EX9IBz84r+iFf2bEyrtoBZoU2ytjcFYh+4b8e3y8d0MNapl6+T3iydnhiuF+MYv3Z4
hJKG0ItTWJA0el/wePQDTPtbOsRN05lJirugdijTXJ0kJfEIXk0BK1RLLxGQOa7IeHUzeXE1zCs2
peeWUNlMjknAe6kVe5XvdW7aqH3Q9HFVsuG3W30tzJnmL3+dDuV7oJMICgSDHRMAplhgFSbvO1qf
X3mwP8XkyzqgxSAyRC/oOLg6+Zy19cqnOIdcR2eer+RC9aygdwObyahTXNT/uyYnBTYtD6khe/pk
edBoXlZQDjK8D8HRah4SadgYhpI4yEnWsX0G0MsIH0UzhInG06boCqBTW0mWvRqxwLm1LWmO0vQH
YV9m440SjA52ylUitJWcIz6SccwRIpk5Q8+MmmyIb2Da7C+SWDmOenppohXJUuOryLVjAEeYv3zQ
wn9qk/r/W+Yyjv4/4r5/+k//+f/8h3/zv/7pX31PfC//7JeAACz9hCebBnM79ktL409+1m0Tcvxl
cf9biJmxtUI9/7r9tL4golY/3LhLm8qyZ/3L9lP9IqgPReUNj05hCET2n9h+Kp/FnOg4OTSboyPu
HYYHS+Xn3aeeKEbAXBycY6nhGaqPRFrohKPq3SBdgPUW2zHoyay1WpVFemDfyagG+CBN7dHAPuT5
Wqpxa6P6O5WIyzwtaVOb29kMN2R6Eljxm/P7NyTgynfb5eWALapzFoO5jKBAEZ8PuC5Dgq3bGsha
zNKVGpBXPIqkW6c1O0+jyx5pflBvtZypF+jfKDYA5NIPelQX2e6veurlpBHsIDhj/OLj+9jS/2bL
3lZF2Gpmil0vNrRLH3/OS9Yr1U6LErtwGhlEB2Y7fPjBW/8s8l1elg+I+gne+fI/y5X020khJCy/
CkRTnENUdcYl6G7+xAwsMDEiX9LIBznOZRncRknGKiz3BSCpDfBskXBI7uw6G3PrSqB3I5IzCXLy
DGvlBzbg319OApuBJRgssP5jKvh8iJmvNqjc8vTc2lN+HLQlkNhumtqhiHICXKpMZTe0pBJR1Qlf
84MTtPz0z58LjSemiZCIe43sge9MyI1MeKGJmOCMvoH+yzK8JQ4aXA0C5wSjEe0NI82BiEmDdvG0
1LsGNtKz0yjeJ1OoeD84nOXz+HQ4Kin8+BTQnxtikZV8PhlzbNql3hbRWSvTJW+4VIe3WcOXJtvU
HrBHDvSX2ZKau8KuhJsUZBezjy+nYyAVeXBKcpGFbDOn9g79yY8+qd/fSBhDSCkjdA8FAJPsd1eT
LqEwHLvWuqxKudgZYzFfWINonhSljzY5RjyeVLbYqrPWHtI4lvaF8kP/A8vYd2eIxYclEQCMeiVo
4M9nKMLt13e+ZF2WZojSNCvLaCP7sn4AB2vvEg2++wefye8uES4AC18NoDZiH7FYZX57D/VN08dl
FkiXk2RUq1RFp+6M5NN+VcQkX05loV1Lxdhv0sCyT2GkjBDLHBwRnm29Rw1p3//xAX0//mPq4YAI
EkTluoS8ie8+BphtKwSGky5nrcFb5of2Wz0DIsu1P6zbpnlP+97eBKo17UwqoqCpg6uptcp3WwOe
4nqRO3cyysrLJTmmlLz2YYJD1ukosu40wnK33dBFmz8+auWzWoqliFwEbjL6t4AwTZwdn0+j3Nsi
bXE8XLY50e2E8bdbqQq/anKSyxjt/WeeOu05yGPSkDUj62mczpeUObK+uyIIT2gJVaDNgg1iECnK
uZbbejsEZnLI6165sLLUuvrBIf/+buSQ2bjTWgHIgu/p8yHTEZ+HYRZSlJsQ+2zKjbrGSZhsIlam
dW01+gFYf4IonvQnVPANGfHDk2Ip06oiB+D/cnZmOXJj67WeiuF3GuwbwPZD9F1GRDaRjV4IZSrF
npt992gP4Y7jPnlIZyL+GKoLKyPzKnwOUChUKSWRwdjczf+v9a1lRwlnEfVXE+6UT4vJ+CgNIrIt
FjTu7mLKZK3JzFQq9AMMl/BRCMtdhnpQn4iXj/G8epy3OwoeBepo4ZoOdoqcskYcVtKNUqPwsL1K
2WsD2T2uZpZvNVMwyA50yVeeH1K7i3cVjR3Cdu4RKMknE1FSx7S/pEA9RCFZ0LSsO7EO+ih7CZwh
xMTosN1WhVhrRfw9DcIIBMDQLzF3G1dW38+TBuHe8AvZCeiKZl1uWSS5UYpCbtVD0sTMpX4z/HCM
XMD69kBkl9W163011sdCn6MQs4X2Z3wwv632rZqz02hi9aDR+qNSlr45zM9LkYX6sUATs21JKFxD
0WmQu1rWtXH7adU/I0jG0YFbz4E9+vHyAc52aLG8ah2BCPu24qBp9aa9r504WSAx3Fj6EO2wqgSY
N0BNR0ae3xokDE4ETI63TmQPdpt4t531D3wTrB4qEFlYsnhlLr+JBEB52RtuefBaL3vpnRjTSjau
JkFdZy96yjv1dw9CDHm2zW5VZfvLivHxYVSWMo5Do4Xj3jIII98pNvEoEQqUUp0KKTVhTgTDNJDR
F9cEisw6pV9gYrmW8al8nk409mPjhKJQ02U/+PFO3LyzPSmzu4Mv+94OcISzyOpcRmXk+dqkMOTg
Jg5Ld95GSbSr0jZA8BU40HTQfMShRO4Gr+yzHXhXjG+fdmAax4IxQ2U8JfD1jD//bbSiLPMyNqjy
wTLbYKl0TbGBLARpPhLmiyIy7FBOT4VLDMHqypfzeaQim8Xqx0hlOsNg9fHSikF+ldAr/WCXmXXK
GiqHosL5PylCp31rUCDt9bKxjmgJCBlxY5IVJAPRlQS5CxK9nM0wI7erDtXOykYEcC3S6vOLzJAh
xA2VsYko5TwT//Zochm8aJur+oGGd3WqK82apnldf6sUv9j5RlAdLOR3gCAZ8LOent7rlQf0efOh
jc/mHECLSe/yfZHNOAIqGnBkEI70BGYlnwZ2SftX9ZCQjquMRRsSgL5EbFgOj+ax8RAOIVF12pMj
Cnn25xv6Ygx/uJ+Lma2284SID18/JIn57PnBRnHCn3++hPLFoCClg0HJWY2t+eWgsJUmLGzPVg9W
0Qfy1B6qeoFYVqzTwg12tRd7uxCEyyKVRfaCidBYoVrL19jbI9IUEFVNFV2pfog0IFfUqZ0rg/ar
22OoyuyF2aVjo/44ZkvcHU5jhtqBl6Q6FW2RA72JsQgmBRPm/MrD+GIEniPAONybnJIuTwSSUYHa
thv90CMtjCdBVjaPtaP5Wzspu7fEcKqpWdoBcF3Ji1Zs/Zs5AJ1mxxb9hMoZQRjo/nzhEf4x802Q
KRAji3jdy165HNDOrWTcw+nkyl1/XnCxdPOUNUfB7vnppIDewmgNpMwHPJGtRw1MItbC9PKdQLhR
T1IH6MwkQwGwtcKgfrB0/QeCb3gEtaL9rFqz3aiilqn8oR41Syl+aJSyOl25yfGo8PGwpY35aqRd
AjEjovFiLA/2oHDI5SbLXEbS0Gqhsk+tKF3o0CWWXpw5695xkL+Om4ZBqduHFMZOIpB9Gw1JBjKi
sH/kwekGyW8jBJFHOD7Y3yYcrjnoUo7eBt+xsS1LpTp1ipXNXEA39yEz8LZ3BTp0NRymlhSLb03V
sKpJjb20kWHfS1Wt7UJRVSejtds3HejqP/LYzkUospUt7vRi/BudrKl5GitUE1pln2dDfDRC98lp
s25bs8ebJmEWr4CYii2sx7usyJjJsf+tlWyoDkQhXHGMfx5rZ2Q2+7pxLaE1+/GRFcIXhtyW5iGI
maPPq3rQhTw8vc1ekJaUVx7A5zeS6zEvOecjKEv6x+v1XijpSRcZB2cgKMbQBJhEJRD3yClCDqSa
NM1wVc5p+DsbA+PItSHyedjanPuYIceDyXiq+nh9iSAFx8xs4xBJBshp0Xmr1I7Tt9ztwcGGYx7h
uGD1hf/YDHZ6o/b2Q+nk9TSMWnPlFU1zpYLzxYTNHdEOhztIZibcvY93BOhBxp5qmgeJ7+eEb9Wj
igQzF2+KZdO2M62fug632AfwjBVFWtWkti0V30+TCSSkbI72OnhtZa99wwhW5VdO8F98YTwlHjVL
OOeQy/NypmvgrXGnH3SFeHo847pYl3XSvoW+KtaREnVvlUfuzfkI1HVYpq8sml8UTjivs/c08CtZ
uOTGO/ztra465HCBXxsHYoj6u9KjY4PNYYoQJtoKo6q2pN4MC0Xr3FXQdfEyMvXsWhn0i7IBhS5o
DiM4EEDF5XvL/lqYA+fEo2PUGzYw6Y0E7GzZDK51jKVheLa7Fl0MuSfUCBodtXpwSwJpvdXgw9E9
x0Q9L9Xye+0p6ayr0+AHmsD6YEqKALo0IPuLgMpeGe1fHHXZshPsAShkJFpeDC08hrrUZVV4LMdj
E1JICwGeamz1jJgbJEno9LCcXDv5f76qZrLto2pK0jVesYtX3DNb240Q6h2crOVaaZC9NG5GQS72
6QqB7S7uNY/5+cqC9KlQrXFZW1eo7QCi+vRhHR5nXEipevBSx3sF4Ylnv4YYzc60nEvq0N6GQ2ps
CyezbjWVnB3/XLb9B+4CiChQXJN1F43Jx8HqRHCfyBtRDqisMgLFNLuc1pLpz0NTwe5ei1cZRdt3
Le10pL78elpX1zjA5+/149rM9w3ihDoj3z1bn4834YdVqw+l6h8h5XlL06gz1JOSWIOtQIycwoCa
sPWxb73IZ76gRoNZv2zAkVNEEsfe9xWUlWGMESzy4sde16FHAYPLDB8eWlLrxpaIPGNLal375raK
ddvpeTbVOUwv+qh7yDvi4ieasABSOEq9csN828osYLMauwfxPF6K8tvt2bL0YzlWRtl3gn83bF1p
IKKuyus7f3DEi+sDSZ+ELXQD+E29MhuiQF0VIugPDj6Ttz9/d1/MdHRmkCEhNqJ6fLkUJo0ZFToo
46MetObOSOVo5etd8+xDSqU5HjV7YuIBofdZMtHLMr2yM/7q8tR5VGrXKmkxozjq92nOc+JB09s2
OKLFh7GTK7iw/X4szRbFKmtFI008PybhQLfeskhTj3/+9Gfd08dB44xbObpgGvtzbXSF/n59lJJO
I1pv7KgXjIrGD9N57lAXoh89tG+KrWcv7IvFuutlZV9A2fyJe8sfgHvEjj0RbPhvAZ3lS+HaBpk6
ceYXKN1LZd+YMDXHoDu+Rt31IT/qpcjXUtApewgMAWqTgB8pokZ1QQAfuVNMxMW9S9Dc00CoVk1p
PLbpuhuO388Co+Om4Kop+xBAJDr/oBs73kNVoG4cy5l1gfaabnjKRg5L2V7iPPcW9bWx9XMvefbl
Jj9VzuBuTKntt7/mAbOQCYxUy+wlCcbN9J+f7ldfrq3yjMzxHPyp8N4YpQb32YiOWB8qInnpZBwz
RfPWKtiBleIO/Ws6ZsglWu/Ppd7TrwyuLxZRmpcwo/CrwOhRLkeXVRe1pXXqcGD8+VshBnFDQKn+
FgW6srfcVuyyLt4PbRzMWphG34dSt5d/fgbnUsjHEcY96Ixu0LusRmdL8G8LudUqWWWRpnfoKFxo
cyq8POzxeOCl4+nMTQKqBHEUmQtSu/297ufKfYcG9x1LjT/gijeyF9cbtzhlW9Cu0OpyDe5BvbWg
p26NsfzlBY1YF8AaTgk+tHWGGQg9BPYAUlnZmKJuqWAEoBNmHJ97chae32tfNo91nOYvPiofk0WA
7HoAXZcdyzht8sirqZmeTyKx6CnFWDRbQJZbtz07jW2RSsYML+B3PCbxXTq2CkFKGdtaqimseYa+
DGS13xWpeu/hV51Dlc0nwiEmLDYMxCMlToSibLW9qIznQmsY2xh613WZWMdAKstHjt/N1IyEhThm
bId1naYd8qG1+1mD8YejYZA3MP50JA1q19/1HExmFQLISR0OJmCSsXPGTp2dwrmo7PQB0YVqMwdg
Km1hFuaburQJlYkqYx4BAX3OSQw+ZrRX5r1CYVo42JYNvfNYCxXGVmQmP4CSKHfnWUTiq1qbgGJQ
Nfb5Q+9k9c+hylUk3ZwJkkb1bjBW1UsnVodFSVb8o9VI0muWgKQAX0D1UeP/qXipBR8uA6syswjb
w69r5TdubHdLaj4MFao69m3TpmJt00O+xfvsb5OMDgT5iBgorCc5kG7Z7utLDwk20b9ZHbwJM7R3
Q+ok82ag2h8qmb3RchFuCqsMlgbdwy4J/UVkAfjrVb+bF2AblqrbdNuhVeN1Ok6GYd2Qk0j34D21
/GgfhPT5oNCO+bBxu821vFx32Jqe7LR9TzEt7dtexdgt9a6/LlwbPqSWfE9wim6o6UiLuhqDekPF
P9hOLe0Sd6hAR2A2W+nCOCrAOmdmNuyCSHJKtJ/4vozx/JrkWnOHQ56FFOXBo6XE+Ta2S6WbQl0Z
NwLjb0Ibn+6Yr437Qok2borwpYBtS/ZdG3hb3JrxrxOxmXXq9Lz2gztmXk15g/0wN9b49sSRdBN5
Sf4yr1wOHfWWfUVNpNxYfArGw8J555DX+JCS85em5TxIFzXGaxhFOnYn2VqmZddP6gZ0DR5bL1/1
wEmGttxWmSe+aW5zEzeKteU7raakH7tTjtEmDAEic9wwLmcx1OQlnuzqIcO9M/Vzw9gFRmlvQKF2
GFdJNo3UHBiupyfR9rxB9XIzAOORD6xkBJA+ABrObhQcwOtBt6VNFot4brW6vg9USGo9O4LXVuTi
mNKVWHug0mdBBxOySWki9kGbAb71qqVqCbRSGMKluZaUzg3uu7umsYdd6uTdqmj1aBZInbxwGcm0
PL1GTDPdV15IkwQ8Ivd5OauTDGpqVde4EHUZqxLOaG1Cyo4/U8zanapZoT+VedD9tFppLWVwlOTI
sbeAcfGi5KY+9dvkUSktlanU/Z54cXRXdRaut9p/JvhHmdupniy9NOYIk8fExhVpuzrPij6v2Ymd
6YKWOTcWpPWs7eJkysv4fWBy3ucycym93W80dFVMvqlo3ujpEYkCZokES9hNQASaQptBE/reYmI5
UVxjoI2r7K8NHWhvBiEtxGGd9ML/HhXMflIYEecDxZhDlGUvldyPpoObA3DuC2+HA0Bfmo07nPIY
143Te/2iS8D3lbVcHonb6AE9V95BSirCdqw024O6TbYSnHsVOo7Ui4kNXAmYpz70c0j/4cIr7PzJ
DmV3jxXQp+hLuhHmdaRpVtXfuaqTb1rZzF4yP2cirDo2p9OMcT0fWuxAEw2My7oswvzFzyE1A0Fl
sJ+fXtyb5nGoi40fDsmbmweimCSGHy4TCHUoGP2IE2QTv9Gsh0cIrvZH4nXippMC0qRB5dyrdd5v
ylY1FkVXamvZQouo6PjdLZd4oiFIMtB6FpG7Iz47cUkZB1qTT/EhV6fz0S4lbDucDj513vNU1ndq
dcoyiD0YumN15Sc0wFWQpNQZO2PDkqM+kg66oUAqHtRAvhkAssNDcFEmZlJlkDEdK/Adop0mKcMm
6XOxjPI+2pU2wtzAG51NPW4X0BA1fSAi41s+pwCEXVfFzuyc56TSs/esctFdWJmKUDJt5BdhBneQ
imhdtvTXQr/Z4h32VmYU64siHuybCnfcerQUrGwQ11O1MScYQvDvB1l136ttOHMK9KMqkK6bxE+O
ptmG26aujFsIg8YWcj3f3LlDVoaekmFDHiM1mW7bpLknkYA2L0GQnFOH98Cxhpumj8WvlgVpV0z+
gaQvJWycCI9VYxk3Gg0CzYO65Fsw5xygeBNT8uUdJXSSLCKnXDayoDebhx5rm+Q/A4TYmRLQ6dbz
2q3costNWiE/JGhylnaVk6/GURAHVuzhPBoKz5kMdlWepHCUGdVOHswyV6HZ35VPOlZljwaP3G/B
RRM3LOWU9suw38AcrSkSWcmy6QtOVuTP3hSBNE8GAr0KiMN7pUPI7aZRjuHca5d5I0uzNmnfhdl1
N+Tj2BgnNQOpqqHsY0sP7qHXmRsBo3vRq427AAxD9K3UVVuVZKQDcYq0CHQ3N3ireOsTpv+TGejx
oSsGDyFSrzTfFDgfD+dWy3m7l5siuB2TkN8HFw17maZkdJegpkrJJCfB0F38B1SSlZbbocyDbl3v
c+tgoTUCnRUr08pp+8e4B0M6ZFCKUkMt9oKpeXlukFsyKmxNhlwxBeTireucreZM1UpBGlpmPrm1
izAVkd9Nc14h83BYl5xe4ZqD7KaDqYI1LOuQt3yoHVYzMajTQMvaQ9iM77LKps3LhXZXj53n1JHp
9hliLiAserMo5knVtk2LLaTQrPGa2c59r7Xmts4yack2SDnJkrlOo9YYGHaGTXsysFD6NaF9m3pi
3BWPSrHWM81vctxJfPzIt287bDPtxIll9SVjW0FdATwVWl/R8s5VVIsL5GcDv9K2IJDP+8h0aEhn
L8a6S+cOIW+Aadd3YcmvDqPix7P68pkwbkagYwtCucxB3yAx8zdBqJhvjtpVOEAi4PV2aQ/ruJLK
bVAKdSRplfmrrudcDqZzMHrj2ocKOeWDl9nSwRYwzHJt6JqprQyQAc4HfVWC9zdrNJX7URqz1496
1GB9x9go1fvQbatpEETdXZsGh8iFhg/6m8tNAsNq7mlQlz/kWmqeK85LOxE4iT0j4tTY2nI3WOtz
Lwl4hvojLV3pWWbXK7C0aeWtVmf5uyhU6hFw5OJ1SGnwW6NabU3ENPC2qempwRrXyCKA1wZNI+9e
mHmKaoK1kYaYZoubfKAMaxeZ/C1oUw8Mf+K3225QT6Wd6XdETBz70DjhyXNOvdbZa+bRZuLULTev
YLgxvZS3THBCdqmwqGw0CEUIpRljvUyn7Fc8aWpCWZxmQpWwcmMX0SwU3a4cranwIIcpC1w2VIdf
fCtrdwpy/YWvNe1Cs1xzOwh/o4cG4RwgGZ5t7J9o9di5+S698t6C9a+quT3zOoSbUdXnS91v+kkc
9I01D3WteMMLnCKm9syhn1UIY16zMiRa1Y8rdw+gXUuJx9X0H4w911l33F94I/zIJipQ9N2KyFXv
OTUzY0+EXvYzdQB+kzcR+E954ujhU9zL4wpgdzrIpU4rnsGJl9IuaofGm3chMRg7zNzSNz9oLIwN
JZb5ruuXkPJtkAoYpzzLOyS2tunbpCa6oe32rQmjTw3j/CZ05fc8IJViFoKbuY1Tm8WbdSD6zoyo
9WSjdJBizIDJbI5bWd31xERh68kc63vZsJefxiPAaBOlqf4YexUS/sCpu0MDNKA+uo3n57jt6ziP
8Car8iN04pS/z+6qEwJjdkAGrLpla4l0HuccLpoeQkneuCBT6GZbt4Ospcb0XIL4tX+Izby0SS0w
3UMWaPXhXK2gTQSjQXKTOfUP/svkHKv2Hbto+OW832rS8OqoieDVOf+2UMY7OxN5JYBewQuYaL6C
6PS898jGrnaYcEo5/9bSZb8Vj5UPr2lNe+boSQMyVR3bmVp1jAaGRgFwf8+iiXoBysgpSYL8JQiL
9o35vAVczlGOZZgruuOp2UsyNgWgpp5kUbnkfpo6PeNUi7OXOupjTDVdYAK6a2EqnveScToeCDCj
hFvNFMbWNOtoFucdkjnCE8VjNR54vaSl+0slkoJiYDPX6b3COd0JLB9nW2fz0euxw1hFYKzwsJkV
3rgkw9DCHgW/rmV3t7oblwcJ7/dJM1x9YToer6Hvqr9uQ2Qlf6HkZedZUuepQeZI50BvDKRMOOg3
1MeVhRxlwR5ghnAn1CrovipEoNOn45NT2tcnPhb/BQDWbtUn/s+6sTXS1pCxsRwc2xwPOWKpdJ34
DimL+NBPXluwUQhqFik+4oTtrgduyI03UuOEBMmwt5Ls2LsvRaLe8M6SgEWifDcN9Uq5E1Vdnfja
eX7sNqN50fnevAIl5JJqkNwmujsMUw1UxybzpQWO/fwmqcp4n6cS/+HF38+VEKU1OIyXMo40OXJn
qMcwRcBn/eFI9nDT2zktCMeT/dc0kHk4pRsA6DyX/wjNYIgBwjzScda2naTh9OuDAJENi1QMSfCk
AGZ7a6zIXCWs6JxOSEikBmXcgdJfnb/aIZRlTjCR7MbzVOds35ZV8mqx8b5vUk3MgzZ5ksjFgCJF
uuuUHNlkrkP7fMBDgjt4LM8Ug0zxI+o8Ejtjfx/6MtE+7BDuJdzALdOly/jw3EBddBGnBrAQAcdt
RnAYUef3IprmYCtCZrlRdPBrRdVcsLk5yp11PlYsfGD8a/rx/aZrxcmXglcapsYhzDGdswLq/QzC
sUqupVrvSGOwsHpo2m3dFwT+6K59V/rkfzI18MD03JHeS4s+7hQYiYa3iib0LSe+bO/1bjWXzMHH
pRIG2hscHnlldyWcZEeGTpERsvKqWDipSYxnm4gVPl7kdhhMXa8BZODHkHUkK8YJ1EWHoQgLcn+l
4Nu5QOPFEi+L22cIbYfc6h9/lc8t4gOmbhNrJ8pYT3rcJ8Ekyo3oGzFtIy1To6R6LjQjwU1/xJ3r
Hs/DPfcc91awt/DY7vJ2RzEeN6oh2m3VwYkZu+SyKVxvpio5LCtK98wiozYybyVmIy2gCJebUsAA
J5z05td0BLh7YlgguqEOlBU2pyog8jWm/k9VWnWWMnifaecKeVEp0UgaTYvbgNwiKCFSWwCeiGPE
EAPHbqh41ZjMUXjC4E9gDQfjS5mv8hEsEviigkFxy2bKvtY/nGc3HTXWSjUMiNmBjaeTLd/iXCU8
H5GodOSwXK1YObpaZpyKUW95Pt6xHlEspKXCoRTd3a0tYA5PWCXdnZAj+7ZFyXQazhNxIfOhU9ff
hhWxtlO/o9Zdoyba0IdrtrJeZftO1fGOdRG/NEB6FnnzahSmO9eCXD7Ko0tfxES5GkFfrINOnxdw
yPcUx6S7lEr49FzpyyAVvlVKGuLUdaTkpjWy4oX8HnOq0PCZxkXd3Z2bXSQAV1sT/vVN0yUwtg19
TfZFeTiLfuuxtHUuSNKEEU+xDhfCLD3BQayXIIO4HpCHsURUQhm4i4j73cfo8m4boMEAyupmX6M2
W9rWOLFmlvFdU614K48Ln+/BJPKdkABkOWx/IhDBqdg0ykQuYAkamsy2ETyYO4tbdtBdIidHOY/h
9FS9j9JBc96soadmg4+gSa36tU9kkAG92CvaoMysukqmqCNcdkXkIUslXS2w3gw6I2dXDiY2KycE
WPrEjg3oIjsSNkiRpkldArTiFF/FwXy0ifczil9EZ0dOXP+AcO3pm7oP+TQ1KbxvtTEY2+jcfDqv
85bXsEZZw1gIsHKZsWZaMd/DKDMRTuBOBca9eVoF3m3GFL6kemRRvJD7u/NYwimiLISjUzQQTbrR
anCPKTXYNZpxe2VDjFjnbhKCpibSPnXlnSI3/kMTZd/7oPZ3bGjYlBlhtJMrKEt6o76WmV6d4lHH
ZWeWvpZdR104ReLfoNcFAQxH+yFSne7BRSa+dxw2Bmaq2UsjrPRN0jTqQuj23uJQvQMGov5gPAUv
YN2N7XnE/7n4/4XMAbWLhezCZprB+nQhvMirkFwVUSFqsqr4geL5D5IzxaZs0wgFCG7gQsj2sk2K
5C7wm6emaRBbqZKtAf9M3fdfbo0cnecyNlv3SvNr7G1dlOtRlsKzMnQTKcxl17aG5M0+PhoOMuMV
QJb5HAWSRp1E99Vk2oDi2dZ16qczmUxrZ3fl0YwN8Y9Xp98m62xoTKIvyG/g57/1RdyYPKbWyvVD
44HRxa7ZZS/nGZkqlTxXgii/kX35sQW+ximiyrSjlgn/PZJjcRNbSbD48/18fhh4REZPkQ3IbXwe
H2/HawUWMz0WR69z1Z0eMWtNAPlgOu5R2QJ9gzqLbzzV7Q1KHu1KH/+zIIlVFs45KY1jN9K4eBhm
FedDjHnoWLQQN9EMmGy2Y1veWyX7RChzeOD+/HnPuZ4fnj9zAeIB2xoNVPTNLzqffgTSJbHr8NYI
iO2pwY1rE4AC2sIW7OzPmijsZdnUrZWKB14VRGAa1bFIa2luZclf5TW1sLAvl041oZDDE7NosZ31
6TTZuy2ksRkwg+HxbALDiCE//PlT2JctJ4RvloU7Dqk+bf9PTX8LQmdmgNM5eGWQ4fpW862hE26n
l/p9z7o5Yf6JdkTWV8MEEn30Vkf5qVCYIKmze4Su0NJfU74BSHse+8IFY8Sh4dj2TnIjwvQ5JEKR
naESDd+Y/sWyGzsvnmbnD7avte+Ro/THc6uVcgj1FnIi7zoa/j+c2M0XiWzimY86o/uWDKr6FNUW
hn5qINs0CLqVbEMtyAhNWal9Lq2UKCLxqm3MGYlc6SJpLOfgKpAlDUGyfNUb9pzqQaYwMJ1kKVoq
xMDegu+cA3SEJn1cASGAy7s8i9nSUG6PtoWneBiyRwkh8g47RzFvjLq+H+PCncE4qPoQLqgtOxOa
cdL3BFTqbUmbYG4mrAN2VSn1MipksL8W28tMraKfviOlp/PxDVSNGt14RNCd1DSTt6ELDwSO1PCG
p195CRLXWqOlzBeOS1c8zQkvuDKKL98bLC26pVCgQXiiKJ8cQobTEsilFPIhTynfSV2NKsMYW+S6
QdR7E3a/1BJ/l7v4QST886/jn3kTWV8EZDyczbH/8383wVshSvGz+uPvWr6L/ffkvbz8TR/+5vLf
zz/23sUY6/Thf8ZVtepv6/eiv3sv6/jXXfz1O/+3P/yn9/Pf8tBn7//2z2+iTsGf3717gUg/kG4Q
0/z/+Th/+4//+tt//t+//Sf//j8XIeYGf/CvbCnT/BckbejZZFR/qIUchFl/ZUvZCilRNrVaDVKN
gaCBH/3FyFGMf7FRpjiOauJJRc3Oj/4yKZNWxe6YH5k0scm0oMLz97iUjY9zCf199Ii2xXqtYO6V
Pw+mBsim44tkUc71apc8Qn3cGc/eHeqXBdkWM6giC+rJoOd3xdpeZuthli3qff6tYK8zaX5GD7k6
SaabZt7Omnk/O7Wz+102VWfs8CfMjZNyjXd/5gIikAU4/cUw6RfRj9+e/PHXBP5PtCKPIkir8t/+
+cJr/f8+BbPi+VNYzoUWi4qCaYEPThbxcz0HnbMulz4QPopwR5XklUdzEc69mb9OtvrdlUt/fBv/
ujS+R95GmGafVJNlQG9K0fNkoS6HBRGV8Kmf6U482soy2qJSWUOEi63ZkO7TKyHdX1yZieA8CyCD
xnb5cfUO0CHGNiqABRvkRWpHu7azUIt2exqnVz7lp0uZMgJ1tBLolSxG5cXzdUtNI9HXGKUV0YQK
BAXquYeqVxT2/M/Pk5H92w6Jx3lxpfFOftshma0ckIzLlRrtrtXv4+7057//whQ4XmB0CGi8QTrR
WQyYjxdg8Q/ItyiihU5ybP7Ul42pLjjdtOIJrl2S7zG5gpYxJJqRPxNsSOY9ZTonW0cEuXaPBB3n
pgWXTvTlNkukqlkJZmCkF32lN48EgGraHIaeW1/ZuI6P+H+2Luf7ZgaBV8BsANDgMqxb7oQExpI+
ZtCcelpfbBDT7Mr+9PPD5/1BseOYWDkZWBf627jTgqQpucYoz6JRaMAQufL4x83/xcdgHhy1UaqN
cvNS4ltbVah2gxssOK/+yBSAiko4iUDjwPE/OVBaIixUue7OpPTKGP4ozDo/QK4M5XO8soZF5OMX
LxfgKRuZK5s33l1/4x6rTXDslu3TlU/4+V3hVeER6kzr+HQvX0sDvWAoVCdYaJNvZArvtIk8bafN
DLDyfFh6D86SRtj0ykXVrx4r4AYLZRO6rvOZ7LfXJiWAt0ydmLTbZbwWe2NVrdzFsAn35kpaK+s/
X21MlPj0JRJnL2v6mdJgXMw8kgQ7GJsBWV5Tc6lvpIPYF2t92k3eqznZNvNmDi5m7k6ApU78+bUI
eW386y/HkPMrUYI+LK/yx28SM4rlqjQCF/7a3OR82G7rrs21PatWzUqaRzfWnXEH1hXED+V54FDT
8D18l35oR3tv7q21syaGZyZvrbVx5clcnH1/DbLfbu3SvQ0GVG4HoqUWVDBH0BTju4RxuLQB3RDH
izAAZT8dnGyS3I/8xvDKQNC+er8c5mll1ILL2iXEw0oF9Vu3BUkx8VbawplJC3tDNXNlz6O99Cw9
B9vq4MKJAjJ1dA/6Qt1Ka2r7O/EgjrQ4V2hyrrzzn2cVFP3jtDWiAkeT1sevq85EZjlh7eO5F6l/
Ixt2cRcqVthdOU9+vg5roMJmC9klM4t8sUgJiR4lGRjMkERrADOLUYZPmO+C7soa9XkqZiICb2iz
/1YVskE/fqC2VHPOKjkX8vQ3M6ntacO7Mq0HEuz+/KZ9mkusUZ6r4YPlsOdoY+jL76sh5mAptbNe
mnu5tHQSc646G2KYplp6bYW/sD0wcsdLYR0YBcHAV84v3W8zCELwErUJ51xjEt31exxIr9U9IvoD
KN65fYiOaIQPwwmvfPpNfrWvfFDl05dnyZTkNXME71goky8+acbeFARfDN97AQVr7W78qT9z2D6p
i2wPbWz6489P9vJ6lKVU/uEsxc4GXsX4Hv32cRWOrEM/vidpUMyLYEpw3uzPV7j87riCNhKG4A6M
OZWX5Q2/9gn28vtg0U/F1D5C476i9P30EXBAQGU5HwEVncH48SN4YHSo/UvR3OsgyvsG51kYytmV
wX55FQsrzrhcMtbZ4ILs/3gVKTKLuO4BofXS4C0Q8vlbUhyrv/OzWBx/MLFq2EQRLrNGf7xKKGkt
gzOK52ouZTehpbh3Hkax5Z+/kk+fBcwx3m0ikTQUu58saU7clk3VC07J5YC+SSGVMbcL98oX/9VV
aNeP4Ak+1SeKAm3/hlYlgc5EoEqEwJe831O1Im/kyktzOQ+xzkNsGmXeqsGOyhpv5LcxTHCQ47no
K+cp1ndKqGAbBz0hIy6R9SuXQmN1eTWTei4vChtDBQO8fml/tyJUGrFDBpzrevGeZEZLpd1SplVv
B7M8yYqE9pxhJVOK1YxHnCZDOeto30gTAM7tAzEH0TBDnyxTPDPkATqe59O2KRwNJGFmtebPqs+0
A1tUZU02QQWbsimVV80Xlj+Xew86o0k5dOZbHqIQAhezBYVebCQUPhqcBjlH2f+m7kyyIze2LTuV
PwG8hcJQdVE4nc6aDEaQ7GAxWKCuDYaimerkKLKbOYTfyNloIrmhp/xfCr0lpRrZ+E0VEXCHwwzX
7j1nH2Dqok1DOZke4r7MmiTiJGV/cYbMmAL80sYRCxlwwX7TfBn5ckL/R4oCmT6lnMYkcIpc3y7Q
Ouhm1GRFuhGLo/fL16IneB6isuUvDxbyWsQFmZFNMiyszCoCr5KZG9p1vUx8kFLdjRk0+Ggr+uIW
a/q0nBmb8G/A+c1fvHLlg3Zgy+ogWwQfEZRA9Yp+aYCB4VWMkcskGe+dKbWv+kRHA0jvF2am6lwD
6e9EXNEZNzMjQcapkptpqunV8us1HSxGZaAk1dSKoVnv1LuVdhZxE/rsXjvdpJpYzQSr0tPNnTvV
FRsky2LT6wPJVIiNsk211w0fqgt9zoHfkp5AKu5jasmAUd0+NhtkN5OZMtQQcTfHgeQp4UKEm4tk
JlLFTONx2+xbr/PmJsxWSVjexlpcAilMJjKi7pvutFYdVyNWI93B4LgiQwdUixE4uGNfeovBpXk0
VhclWEqUzqeJHakLXebLbTAxE4IFUYwt/iG/IN2nNoS2hmUxaKRX5FqC1kEyfM0Ihsnz8wpoflqc
DXOHAN9ca7SIe1pyDHF77SE3WnAbDNJpr3ySQsZo7n05BhMGxDSaChukxCgKX0N4qJbnrNwIDywW
vQIW6luUcB4hQDRGiSuIs670FgbvmqiirpnlGhZ5syYBVPHhMYVuTfq8mKztUq2i2HXbSZcfXXKS
vdie1VLFwIoIaO37Ev620ZpnKyNLDAwjvQeQxA1hRrPfoLbT5GZ9c42m+WqIuno3vdp+dVsd9zMq
ArDA0m45U7nsPcfZyo0H1vRmHwcHVUVc8H+/1k5dDKHmut4bOYouoojRVZ88W1tPnyIRRrC1tFjB
+spZBaM56iReLHbmnktGAdUhtQifiYqlgoQy8Tit0eqOBveL8OJn324XHm+/Y1y55wh6j71ps7yI
SwC82Xel3hzNvstlOE/sboGOfs6LMlP5F12VrPCTHbWDl5pu2K4s1XQ3hc0nDfRZVssZjrshO19S
jspBwwnlbSyIeY0ZKWoPuiVRooxZjtiR/Bd7CfBxMsHzt4zZUu/0lUJTWFTVWW4VjJyTFmYlInxc
yXFRePozoQ8mond3cR+JTlLPnV10UGlJrIw1rS5VWJP6edZATrj23FW3Way1fWnXdjFBo2VKPlmm
uvdko/CvNY5PyEyNkhNacyEvRo3AauTIrv5hLlM/h7M7utdFx2EfQKU/TmGq9cvykC0TcL3ISFI7
O+8zE/RlgaLhkwmpq8MaETN531PLW6s3fcVAXxn1ENuTvZoRHmfyr4c8GYlEHVoa/L4+9Ywj6vq0
SHN5oE2s3ZmjmusI2rpmxqrV7I9Ua4R/3hF1NBw9XzrE4jBZkJGC7YD4Q5rVEjlQIgQ5x7VJW69H
AGAye4Co2/gNrN1mxP9QEhiNYUMuzGRxhjd2hE2TJ10j6W04pC0xxjH6wzo9o2OWmpEshsSG/awy
OCZZQukpMjSPoOWT5GxMu9KIJEJkVOKZn78MW+6TacAsvb6GZlU/VKwoIMZzv0IFngdgpoXqyU5a
2jofoCN3ZINu27ikYZG242s64WaEwywq62Jas9Y8it4AIJ11mfcxA0RiqRXjMCEw650CIuswqdC2
eiJxiI7avvlj5xtkrPl9FrplB2N46Ex4o7VXcWWvQg+FyjuZr2aV5GXcL0aXXSNJ3am59aSgGntW
l5A35ucjX90UT2Qbm3ZowRD7JOIlc2JWOnqcSRoA9EWjvDQqsAjs++SkAZmFTYHsRunjBzaaZUMh
RnwelqfFuq0yEsxgSwtWpOHpuQM5dk3eJ6/Od1IqaUJQ+WZEqE4GMCQwF28X2eYTyNJSIIdkMSPa
DMxV17IA5U0nQrrP8HDHGnOm4xYSLrQF8gaxcQqnV0NiB0gWIeYFG4riwcBGAD4VDrOBHYq3hK+e
08la2rioyXLdx9lyQttMTHA4tkP+1KLl4ihMLNo7LEyEkwAmO+OU7cEpu6Bad49EHJlo4uZK3O1+
wS/gRADXbBwA3wu/mS58j4AA3Ks8UQF9S83kTVDPN8rramKAzdl63xj0dmczh1PcQcnqq8jIB2Ie
l3rKvyCK7mFuDgBWIs8aZ9AgcyqYBjXux+riZeHS2eRSzqSLRXzyQAHhZigW237/1/NkE4rnbp4T
dPpelowGbsnAkvP6CzZu5dGqR8OIiXcxjCMieX7j0HKU9gxraUuQlRildcj8rkHU45J9bea12YU8
ccWTJOucFFenp+YQy1C8qKVl/+kZmAIFRvjzoZyu42bMu0RAVmIPL1f9Jnaxg/7pKBP7rjsj/wtH
mqBEGOqbfB5qq54ijfwoBMvCnL5iuIJ8jOaSrAabkdJDwYvWiB29UA/Jgio6Jqdj2UJcnfalS4/m
VeTJvjjwRgkWA9rS90Jf0GiNmo4jNPABLHTXQ64W74y3bzseJvo0r8NSG8jXWFLnhDJPCCWLzv5W
ofCbwkrK7KqX9eqH7uBv96uLTSXEQei8NzKb33J7Rihkl3tqvSzs5L5FuMTznczul9xB2KEzl8wP
xJDbkglo3hCFlBDgDeE/p9d72fvZ9KJ6bshdM+nu50ZHIANB7dQmmhRZT2cjchUDze5sgXphr7Di
drbEpd/31IPmoNsk18Aw2ohWXKpH3NTdRvpaaj+Vk+Q4rLfojWEMOYkNwqHCaW+lG2NzMbrLbaWE
B0y9Fv1buo6bjDps+lVkL5b52WdryrM4tH4TI3QAdE60sbqcDLvwg26t6b/Olc0W11s+oEgujGmG
OgJPUNEDvdw638JoUEo/tiur+Ey8bnAO2dQkcZtLjG+VoBjSVUIRsxpr/ZWkz8m4zdeCeNVjskLk
+ZR9rq2PdLGttQgpjHQ8IVgP41rrvfGAHN4u7zdLqjnaKP5nwLPONh37lridZ845nXOdIcgivBRP
a3dt1WlS3ik5OfI4ZtKcz0pnVozY+2R+Yn7ri3j08DwHsh2a9awfPIukzJIVGCLy1akX5oKw9hJC
Qn7naQO1IzpcHah3Zax+UNRJWSPxT7M3WrneBwwK3kx4aTLjTOvrUnxFyJl0IUlF+rPg46bnDfht
/QoD3macaN/ne6A3Pg4tLE1y8sxokuDGLnPSj3wbDHzjXBKkYlOYV0Wt/NhVWEKcqCAP1kDN7iUQ
oUsnX8mKWXwrhri0vUDMFV+RmxDyUnLQUYSUl712VRTst0cfJuwQsoHbeJFag7f9goIVbTuKZQ14
pEAJmV923WrM59rINkKMYboVD7xh8fo4FTmrZ2a31ekNMhlrPmpiY8+m0nfx7U22sx3sJVfzifTG
XuHhb/rmJMZ+aM5cVF1sQcQVVeytif9FetOWPzVpsz5pFo2Fs2Ru3O3EBFx/89cix+/P8Hw+OokS
QAIqewDbg2dwts+KLdVz5Mq6kR0mtLNtPMplNe7oein32sRn4sfKxOUdApsUWuB6Kq0iF/iNuC9q
HUYH4WW1i0OwFuOHmZbNcjYMVDunJjFRyBbGZuRR0/CKvhHlUptnfWGb9gPewuEagPbi3WlGN4nI
H3/BmnVlWdrnHnWi85zr/DbRNkMmCxJKUnk16mBpg57MBj0a5mXKI3fR9PIMuZU0Y7oDhDqUTkPq
WQWQO70dqjUDIceDPcOPQ+eHpL9ayhija9Lj0jG1FHZDawFBRjXKisJjUoWGY5DWyMmuxMhSIeMK
BxLnVCy5VemLpU8WGRFl0433G0605tL2ZO6d9AGmPCYArRWRYzXuQ8O/uVf+5N0u02i1Z7WjD292
7W7TyVY0RO7awpq/9enka2dsEv6M03Boq2Ada2lcTXqr9Lh3wcEQkCXBaprziu64VGY7x01Nyj3+
x8Qw7mWZNy91a+ZED3mJ/2mgl6tO8A2L4XrU+e0il99XP7mlWRMHh9jSuFHuUG7nqh6wNLC+x9Ll
PWsvax1pXcbNIjmvIU2zmbwWJGW+2y6NtPokIkxrT32XZIIe/DZ380W7abkWyVwQx5zpirdvutIj
uXasQSJq10aePgk+JY2N2QMk2la5kV6MJPIuGBjowYZiynMD5Tv9bSofPTEIyci3ekpOlkkC1ddW
6LwxK7LmvovEoTbJLe9rgj3BivLeUY/6aGMvwWeFrN9cZ+2jSzhIHza/H9/QnmkcxXE7niovh99u
pdP20Haq6wkKy9IPqYt5iIRWV9Z7PbYq+ToQkvi09lmWR9tGupufb0Cy7bakqV8OMwcYQVfh3Vvl
UpyT6Zt/muPWayH8WLt9MlvdmiIbEl9zgehbe9YosbBc9C35UfbW1VDzrXxyLghNTFnixlQ+ikb6
XljO5jzc0hDKHiu7StuTAXKVuKVaFhopDMr71jdb/0114CsPnFx7xO223ifEyoPQDpStmcAldEGQ
n6Nm6lHH6fr0uG9Z9Y1UDq9eExAVFAz4R5zrFnO5rGr2k4BwS5vZNi8dvttYKpfavzUeM5yO4MD5
yx9KPaUEyEp7lFeCANvmAblzk9/qPtb2U7FtcrxUIIBTEj2c3k8vO02032GiujRZZKecuEaPM0b4
DlAKS4ICmkNrOtldzTFCBg2BWNZB5Fthh/TE6yJU9qBpcd+TNUgnSK28aNpemOCdMaRd5Cln2DfK
ttI/rr3npeGgOiUvVySIt1OVeWSHpqXDAW9zJlEGKLybt3FIHWyFZg0qVi5eT01iGp+0YwDD8kaU
A1rPArFagR5AjzCO2ewovH0lO4FFzk8ncUWHOLGX7KrtJ9XFmZWgcpJUokjcHMoYbJx4uSLPTQCk
OBxIb4GMD0TrTJmO/UdptZM9u1nafVkzSyuOKtU4c60sVTtY0eWNJ9LBEuwaWgcLozJXMjwo4hWW
8S5lDS5mArOYaGVsSfvk+mWUHgrLQaPcCBaS4b5ih9ienco0n2ZV9ek5eilD0C5aWWAa6ub5WKTZ
HseDAaG6XZdGsAKscYqUvQk03CIDGiDKIvVDbvpaRYnmkKgEhEjp5ymHKytYiJQm1dxi/abAAq7M
nEQ6DAcN0N+pJ271uKrSvk0GzX1Jtiy5d4okSS5EppVLlDBbAVegzcyoppKVV1olkl+OOGNzNnCk
P0FCWuRpLGV2myucw4Gtmu2UpZgwsbtAI8ZDsnCK7rjXIqirkS7fMm3Dl1yVLaVZ32AfQsFN3CMs
iQeh3O0hqcuND24scHxMH9s858FZvXaiW75jY7SHKKN1qQJV5+O50VeiCjeDRRQbSds/dq6mP1sJ
vx3wJxt8YEdSNv+zCzwqwIIlncOAxlxdon4b52Dp+mIITG81bi23wZqDDpLX5Lj23cPct97dkGb1
zdLQ2g8GqZdP/mrpC883lAw6ytk4BoTaw2CwCixdi+Wm9wOK6ILUHW19bzA7VQGeFueqnHQOAa69
0elzG8e5zqtE2mfKqfGRjMWkjcFYI7gIfULsb2db8XJfep3R5LZon3la7zlRGSbYuPVW04wcV1T4
u0rdo+/qMeA4TwY0nrGdyYZjf0bfgFNSSsNm7IwO9ADj2/nE8iHEiL+cnWVshJuH9KDEpT2NLmZK
nWAl9OJrh/nOyQmmGRo/43jRp4WHvR4xLNuUn6HPyOYXo7aMjISiNj2KrXWycBxM8QC/2X2ZFCqg
aCmw0PMXzf2nC1W5DIqGpPeoJllwDEwp049CifHNH/qhi+spyz8dq11pXhtz/Sg7f3nuM72+8ftq
6Q7abMsbyJJkpvB+Gj+awdKe1TT3ZVS2xYpENnXsu5ZRwKPdyYbzpFG7UzCY09bxpsbwFFvObOuB
qPCsXzjJ2j5JGrF6lBuVfspL7OKhqhKO42aSeG/9LBRNVkC7F07fI7bx884/VdZoa5AW9hJKNtsq
Yl7Ye1Y00vInGng0dD1/rF6cUeT7kbbBbm84g0cyKrZOI6yIOX4b17JZQ4oxoos9bBQrjks6YIHr
OL3Bb7mSUuwuqvleza1/DnYLQ5rjsV2HxFxWSbytTXMHaBQl6CLxMEVIRCU0hHSmqKbcIfd3xkGX
nfxW1Q+mS1tjKhxe+L2euV9Q3M9fpsms12BICzueKDaNaMHRlHJmrn2N/nKl3rPMQ/rRuzPVYJu+
ZjkAI5JctYJkXCIxK6sXJ2dI00NvNdmEm5bBEcRdH0NSlTjzN5eSLuHkWxRYCT3/WdKY+OySeTya
JikvMQ1nSWSaTsjQfuSMzeyQYlNzQgtCxA3ZweLLlqnqhvZbckkwMJkGfVapFySj23hweUuetnRx
33d5tBujVbLaC1F0bDJbW2xfCPPQL9LGIxRh1jsZgi3Z3rUM1zy2uB4X7rZMz+00e/TMtGJ99ctl
xceIlVsLcmEXl5zyd4ANjecUy2E1I13wt/HVYODNooXr80mqJ2y1ppiWx0WVeI5KJl5TiJzd/y6k
YuGx7oYuXNgit2jrxvZFaHm1hcacWCqgeZEZbICz+2BNnG15q3XTVa1l4AZERTER6Mp1KoprD3nt
JKE3VQuBOgEh4/W7p/fuV52R+E7uWOsvuT42jya+CCMyxFKPkbsu7krxVZgKq85IykIjJH7UosyT
a7kOox0I/JBtkFWN/+JnWePSNEpoc2D36O8tl1T2lPqJwOyh2LsXWtF8bNawPLqrPzzZ89KwMkX2
QfuSLS5h+tpGyhfDZaFvzVvNWLchWbpOcIA1hnVeAFTpY79v8scigx1BRp3p3ou04Hicb6Sd8/Ah
bYtScl+Ng+1qqg0GZwbo0XizRShlT2AhnTJqhHDqwK+uqSlBinZ+/b7RBWGtzi7G8bIrUt7m+MsI
Px8yXEM7MvXNFc5i8vlUe+VWtoEeke6+Btxsw/K1meAwD32SI9vRMOwOuHR9qKp5ybtccwqTNeeY
CrOhQVVUSgNWmxxq/87lhP64YVAQAYso+b5MjBsDQk7Ie8poXXFsM2EvrVhSn4W5F2W8ziYHtYlB
kPTM+HU0F0yRyNnaRYOv4nFqA3zfiiwN+mlfs5agxRcbxpSQSGq2RQ3JcM71oKW9wHdOcruOKm6i
DCCGFGvol6NJRF6doONenHVceV66LI8ZRSbTUW6JOYae4Dhyxe6Ph+zP57rmj7PJXd+5p0+ggPJ3
/O+Po3CGXrZR92SJuV68lGdFYZ9vPSDL4jSKR1zEZ+YqD4z7Y4wwUer7oWaP8WRcON16beCRJd7L
ohvIeDqy0+lANrai5TmI5RzUxKaVfzFO/VcjYoBqaO0Mugm4QX4/uVVVRQdEYxCdmXb/qDEBu66a
dPvbV7F0Bt7CsEx/9wv8oFPpPangOssq3to+eUJM4oKm0rTDn9/8H3UOLg0zhxk07VjbpLOy/za/
mUIXIyAwY7OL2JbV9kWfB3VFdwIRPAVm7JX2/DdlPr9cj5M27Aa+m2X/4OFwJX0b6qwi7qyBpsFa
ULoiiPuLR+pffiv0lvxJJDHIrX//rSbmvSiARIHkXEdSZmrdUdiUrYIuzbFDD/sXooH9Cf2tpo05
PrRaB18Qyn5DOD/M8lfwwLZbWl6023qDBQiRPjsU8BwcOHRrN01WpX/xFX9cNFzS358LnUAfB67Q
D1+xyM0qm5jrRW1Ldnir1fS35WhHlt40f/Ht/ngpnkN0t5ieQS4K5we1jTZuMHKWac/u9ZtQ9B1j
/x3Btajqr364H5cWZvydrWs65h75wjPy+x+OzctZJV830pKMZlw2eE409Pjd/+bi2q8jUN/zOLIA
sOH8/jrVarXYZnMRlbNlHW2XsqJdyAr/88X1x8eCzAEfDi27N3oi94cl3K0jc3F0RhGDB+uebd2l
eNPM+lBmWfkywUGgrz4t+l88Gn+8iZZHCI2PPwGfp/eLWuu3axoEYzKv9Kgap+0O9GiMc1yL2eHP
v9y/ugrGL7TMOhIj3/nhFuYFrxpyAUSUeYM62blAGDkPf3e/+EXQtm+BQNYZr1o/SIvspYR05xci
Umh2OM/rKqzIfPkLadGP+wVXQX3omDjLUFogMPr945BLjk6T7KzIGbaFgUliHHAGEAsIADeq9by/
/dv3zueu4dsAMGfCK/799ey5t2c6n1ZkVMZ0GDRf3btA4z/+/Cp/fPwwn+xqQNKc9zfs/gv+5jnY
WsTgdDgtermOeQOhxToDPTB+SRpXu91KJlCZ51Ec/vlV/7hb7MpVtgoXCTUb/A/30p82gA5VZrEX
GhvAArqziZB50CjCKH+51N/yNv2/GZdu1Mcgp+Hj365eu/HfDlPz/ioxDP0X8DHtfNc/8zH9+88/
/c+ff/rfP/+3f//Bx7T/wX/6mISDV4mmimthmeVlsWdN/NPGJPR/UGOQvsi2zmsEB9F/uJiE9Q9s
TbsxxTF5iUJN+A8XkzD+QaVmc84yDV7h+Bn/jomJj8Jz+J9vT56SX01U1Gds/JQGv39O677wXcV5
JoamBcKlWgtdHWa3c76CBBSSoViij4RTK8s5OILThKkq75VPvJwnXluYDNN2C2pJorHG63YzpxPr
oqguRgRfT3YyMYWXnFLL0EOFYJ81KW0pOrVK0RxwmbWmqdmRg52O3ousHGsKRl9f7b29nFw1nM3J
eZwlBN3MbbUWGZnbWRzc5uUSs6HFAMHYySgocMob5APFMVe6fykZJl6nZt++cjLsP1tERREzZP11
21as7KANymdmh8TvumsF9siFun29o5WeZa/cR7+pAb1kvAUZvxR7apGzphxYkpngi2Cu6k0E6EXG
V6fsjXcY8/QANWBz30xen/BL1pSjdULca0NTTO0t5IzzXGDA3n2y6QDi5iwd51wDCnFGMwNXJYC9
cJrJDTIzmItn9dho1wNdQaAjtCjes6LUSLIWAr+/g+CXk6Z0nTib17HiAGEbRmibcq5CMWhKRbbl
jzmhyc3uztYw0sVFZVkJeWfEIB7wt3dXbZenCmLdZL6IsUH01DrVcOfq9H3Q3evtUyG3MY30UlBm
0HX0bobScjT6IdCMw55kEHoZotZN9D1i+Ga1tv+94lStMz0qU8R49Wy8Ks0A2UQ7js4EDSh5UntN
ccTtPxOL3hWIDThBgPoFDNR7gVtP260zmlSkzbzOHVm6u9wLyUojaCcxnmaWP9NI03Fvha2xeTvA
Nq9DLSkY1ENvw7zqSWOltkWlp51Ni08mthCaC0Ri7BD2VbYOjo4WWM9kut2lQyqZOvMoe6DRi/AB
eNMT8FSc+Zmk85sTExP4HKcfvFm6EGhlxmB08+4XjL9ekJsN4eHIw/pPhpHrGLrgHh+XcthUSEuR
BgWniNo5bRxuSUfgrfRapSvQi4TK6KL3pmSAc+W1DFa8hOLVdlCBxnbdWXAxNs27wiyF7EPMsAoD
E76dESRArrygdMdtOxY9mhIAaoNtH1uP9BO0X1bjEQRfcoBcmSS8NHLxnztGF8xjpFftoDIx0pLw
aSIzfJvXAyRr//uA7m8/wJJ/ntFMvNqQydvkVxX6UUIfLuO5aFm2lrPMGIGdDFmpD3j6s1yM/Nmd
NuSNrpKc+4pisNfzzPFz+qI6OwRwi374NFKvssKi1UB67hPhFKYbRqegsjQGglOe2N/cum2Q54uF
lpyEAMHNFGL4OjZ5RdzgrL3Uo+ytgEiz5EN2HRU+K3C+tpW5ER3QkQEVTgCCjLCENIk4x0d8HSS5
sTc/fRPRmNU7RuiSeY7IVWbTxLDcQOuA9adKSSAXDEcqw9v0cDUa6NrMtWl1NTantBOdGLyaQmYk
oVslisOgEzPr1Pa17dZb1jkPezur64jebq3TBummgVGu1iQoYUdXP3dGby7OZE4LHjcL3sQDcGlz
PqwaiPbIgSVsHVe/zJl0r5Lt0ErFUAHMHSD1Mfqru3DrZm04ZOR3qgOD98o/6KoUT6099Li4vSX/
ClbHf28TfXrCwiugFur5qM6IIEiBWExSfvGX1UESVylARFMnTRw26zQah0Qr3BmctJF27Dy6Vbzx
cZbpPHfqfDnQ6xcvC9zEOeCLA513yzSL605TM5T5abPIsdkMeS+GjCcEdLft3E6MjqdzbqP22qCE
Kw/zPM5d5JdV/67nYOy4fHIo6GRH6BnvBA1jNuF+KowQyXLNk1nLo5kiXIDwZocI2PhZ0RXz80E3
D1LSYALHrjGut+Jya5urYjYFksHk3Oan9/LmAo7GLRj32E9XYuCNOSCj7bpMKTJZxnWnbkSPApJr
UwmqAH3nqRymMzqxGG6ZEGUOH4AYqsjyGjodECyLuggsf7sZu96L87S7ADj3BB//fR2Z1oE1Igvm
oAzz1UhvlYQxBeeL6cXRGrPzURbnXerHKxFOm96EjHpvlnyN6z57GpTHeNfu+6M70OZtEgzDBV5/
y9mJYc29Ilkk9Hvgdol31WSWGcJVQLXJBjO9IVJrQqWYIft7Q11PzwA6wc1MvBPpKN/s1cI6VDF5
KYoq4uh/0DYH0heyrY0cx9FaT8yyoeyMlnbyatiEJXHithijDlMnlNuj2SJ3bKHslCkjsKzxjkOK
VdhT97TFzpXjn3yjY+8p0Ekt3zdFv7KZ3fWcP/8tGdJvYyFGJs+4Ucv8pNzswiutyxLKLdBTTBe6
vp6pnjOYpvPXdqm4y6rljRTYJob7OfrhbBsKQfwwfm3odjc1C3UADiVIfEc6Vy7bRdHphO0ZF7Oh
MXpFCN3Z4mZCehEO7DhEf56nychU2/P6J/pGUV2UsDz9GDbNcSrMo756X7vR3RWv2RCutVd+3fAA
6E53M5o5YBFIpptXX7EXWYGz1DkUrKKNs20uw6wxvrqkyQXS2AuZSr7lrck0qfZC2r8+tiaIPhpw
qrb/osziie00tBnHnJPAAW6byYWULXtAbvOeho2H6UxfH3q3vej76pUew7clkR7sAMP44poaZB5z
CpAi+UG9a/I1b7kaGZgjqM5CNHXLHfEUYL5ZQHGLThZRoWaKi3oa3jyhFWHrKuNqNow1kMsTvPOG
p9r54HKIJctr4okbFxKx7Ue1nVCi1cYVw83YQqYEgNV1IrPT3gnHi5pujreKZACTbvnDKGhbM8QM
1aKdtPJWgBgGhnVP1HGA8GnKAybRQIV1JZ6nQW2XW8ngChWvV/VTwGDlzhTzAVJ4ZDQm0kqP37Bo
xG3ddChdrodUpTsw+Rr6dwhh93yg/c2dz7+D8rzaahlsCa+NJb0G/nguV+cWn2xIgUHyZKdHTW09
mDbTm2yeI9PBWijcCcH5Bllvh8SuJW4HvZdmJFooeLIEyDbRbNbKK2DKF3D2b2El3jduEpB9Gtvs
qKnu35q8Z0hfCNAnEl2SlEe/52Hz+7MUXBKzJ6t6gZhy0IbxkSLjKW+oIrI3GEaXorrL12ttAkrW
tA/Tap1Qv+UM+F4pAjU4PiN/OD8ihJtvp/RrVeWhawyHZJCHyX/XWqbwNPAQXyVX1UDwhaQDXtU1
qtskmMyP2UBp0AgjZrTbo+hekDPD8zsbN8bMzTAdjXSMC5DCqJi5FKK/l8RvCYNOdeMssTZGSroT
Mdz3D2oub5g7BpWP3GcknLo1t7eyX5lul+heDST5SKUpRhBIwhRFyDd3CtEPSvy5EUffqa9ne7xo
lqGB+sp2MuZPUOcGVAPUte1c+kFp96+U1urot68LjULIzPrq77P9OntxJT/Qebrp7rtVyRuGMH3G
sUBKLwZfZo7BMno6OodyGlY0+nX5AtwMoUfhVF5xQBu4xPko9SzKWmeeQ4lM+lDDzZ2Zr075tVDz
CLYo33snPSPVtwGt/Su+AJRIAHCSLnZAh0Kr7rCmhImNZoTBCJ63SE2VcbQdpTuhvzi8ESVtBoYz
CbZ22JltoMGiPnGAmT64t6U6N53EzSMn32l6S+c5d0Va159MNfwtYH7Z3Q8I9qg8vR6WIji05ivW
jUxdagvl1Y2T5PLW9RWm2BFR5ENnpqgNCM3ELZGhyt4h8Ev3ztLSgdYM1aDvKJitDqdmYki5eHyx
qHMlMceIfJO7eTbHEe+JXG8qrVMyhqvq29Ei6wX5Qr7oOISWFFUt/gQ+YM0QuTqhUQXtlqGeobCE
cA7yGBnetxkd9TWFydpflKtTxvW4uu+GdHjNdB0Esn1Wt33//9Z46D6aBzl8fEg6D/8F2g3Gbgf/
k37DT//j55/+188//fTzT//9t7SVX/7Yr90G+x+mj7+cgYIHAOWXzvSv3QabbsNuqhc4Emnv7l3X
X5kp2Kn+4TCI4E+apoCttRsu/y80hf9GLjWGaJ0WNP+VIcUv9Bq4Mbf/7COAnIFt85///FvcyO97
ffuF6fj6ZAYbPk17Pufvuw1abyjTKhceX8vPzgrbsC4nJysPtOPeeNXVx9/cn18v/9vL/b5Nul/O
o+6n9bJbPfeA5t9fTiwQVjnf+YEcEyaNK3UAm+3wF/3sH3Jjfr3MzqphkEacyY8JmhnZZr1WSdxQ
ve+gfO3TU/l/2Dtz5cixNEu/S+tIw74IrTjgu5POLbgpMDIYxL5eLPdC7Jba5jlGGBt9RujH6Rfp
zyMzayKzyjKthBLKbISUIiNId4cD9z//Od+5lOtgaLKOKk+KbQzagDhHb2aoGf503bBjjv7ktf5W
+/v5t2CbZLgXSsdfw416vCejbGcOBzQ4vOecBm+XAlt2nH82TeN8iJEjE+OWOFSuWa8WI502uVb3
/brui/bGxb/46mTC4Khs4SPN4wxdb6rK2xE/68PocPNayB6cMoG9ZKU3pXE0NCLCDL0c2IG5+hsY
cfY+mSYJvkBrQIemelysc72qw87Kh68UqTnp+mJUqYG1ig01fuNrWtfz69KrGztoY6J28Mt9UKeb
wK/mB08zOS9rfR5Vk1+xivfmPv358/tHKJn/bDcUmx3OH91Q/he3kr+mMHHf+FW+NP2fTPYLbuBx
F9BtSDa/ypem/hMMGJ5R5K6QIrFR/OWG4vg/6XB9DBYUYJic7yiFX+4njvMTPidkUEgiAQgAPfh7
bieI9r+VL9mK4Q9nycN/lsdP+t2KosAzURMl9CKk0vqzCobgpaZ1fKE1aNyiLiTfCmqG6tWYSP8l
XkpKKXw1yiu9E529MYLSfmTtUNAow0Xm0Y/iJvlaWeQU8qUliNKzAZShg60eyCCShaDDqyzrKCbi
8xIbrjOuc1ah7iGQo2eEJJ/Mbl15uPDpPI9RnEbY3hvDAbtxtAY8/fhQ0+KBd+0iL5WL/Cpt9tnb
yrEJYC2tL3RMOYY+h9o8qzL0LQkclgxFl68bBlm2V9h1V47EAhnGVZk/W8gJnExcrBIXExzOLItc
rbOyMPi8lZnsJKw2F/Ph0ti9vjPnQjvEhoWnTMzLzRTE9afAMXgoMma9mGnsziuX/jZ2Cgxm+mIK
uanwR1Cy0/jjkzJGWJT4PoIrtsnq2jFpmFzNua0elSLoiFewTfcBUka1QTwzXvABEaFyW3sKNl0d
L8+0P7ZpVAR1+yYL0bucuTUTvCi8LqygjL0x1Hmtp3glH7yPftayJIQvjKWmbjPnyhtdDqnMR3YS
ZRxoP1MnyR4TolgTHicftawWHkzRfKYIjpF41q6MlLDRIec8/0W1lzEuAPb6NGUlRH9seKQdR18s
Fe0cBqnkchDJ46DnuLf6quFIz4SuEwnKcfmtkJ2QMTM6X4fQXhzijXVJNRpjBAWlYbzU3n5WKJph
MuXGB3KadbBaraJ+zeiTglG9GK/JiKXY9E1eDh+vBVmbYKJ0Nu0yjQdVmaRVYSAhxxVxNpMmA20e
R4PwnCSq+6Htd1MzGs9kWuCuS69H49XMKRobTXlrox3Rn5TdNVBaTDGeRpzwdcQ2ht9h8rpk3o2u
p94tzamfbXpUuWYwqr3brV4Sv7AvwL8RoGdGpY4taQ4aqR5aUZK9gMgf6/rU6yyHozQjE4SsWjyR
P0DQaAjbfMxxrUFfzTwXPHqOm7OgMgY3El7EYj3N+N1nNvjPw0RIBZR+SfOW4vaO5CXLqkVcGftu
LZtRe6LNAolqKsfkU6coQm3rGRU1ImWUFWepF7h/m8DEzlnLVm3Tbq6C0IhNqwxds08f4yUJRIh2
HPfbpG/BMRLCWx7bHgA+koyJb3BQgpITre/nS9bM9FJsRPZYhhWOkIFur3mAJVvyxCuSuaeegGjz
K9FT6yn2e/KjFpF0gnJtH4srCzZsvjKsglKRglBAdWgquJ/7JGnGfs9hDCiUKHPbDytTOsO2pGYq
P+OjH/XdTJwNW6dY+MxhqOP0sfu485EuyB2HKvOSmQ08AIst/PPYC9sgkDxKMcTLgzTS+MFTDd9k
fWnmNMrabLr1e78xDkRvSmcn4QjP90zBhfFK6xeUxkufMzZnOoXaqOsXQSea5sBrpyJDriqwyReH
f34pyPENlfth64KzZFAWfEDnrEid+DaZTS+jOEETE9bzPphPI0kBY1tNtZ1es/PJPgdXptgHimC6
YCLLhM82K0iIUXGoP1oswvx1gOvrayGkN2xmWKNm5FmkRN5tmupe+2ZJPtgIWx99WumXcPdoz6ds
nBZM0xhbHmmisKOm5T4C+NnQnC3EquLJaCx3IHUzEQFjy5AgKJuiIxOmZwCHW2d4qqu4VNFo9zYG
TujSDfgPUk4rx0H/CO0GWuXaihEJbgm7r6EMtshQolveqUfUqIeZrSUNpTuPxDF9ZzFXVp1ZD4tr
J2gAujE2UYk7sls1+dQXW5OarcPQGDV1MqUST51dindrBti17ptO0HsVwyVbxYbd1KEYNMzVvTP6
fhTLeDTWXkoLzAYFKY165s18r+ma99mKTrphlscWIsnEXXwfuylxKmc2uF9lMeopl1Mx6Svf7ry1
H0xsEvy2rbB6ppLJmvXTPOyQlf1n9nsz6S/LNN57vWUTYbS5S+7H1CZxSHH4Lbs0g2a6n5p2wN7f
jQb21W550Iw4fhBgjMUOp+iL5tEDYFd2vmzLNGHZEffzuzM2yXG8NGmucjHGE766KRwb2Tz0tj9c
zUJUn3Q3Bf5WJz0CBD+9sGP5EV/b3Gk/JbVfYlWSheZhMpeTiSl34Uk2Ey6Tq65M5Cu3b4qdWFTm
z85gG/ODlhs+iSF3eILWLwBYZXK8uewQ5nWxxPMT8ypH0tgGxxfyATlbr+JzIeuoyj2RXyImSk9V
s+k7F5N+DWWJ/UFxcW5DlqMsxBimLaq8c9+QcUo4jwJmXacObGkWSppbAjDQg5eJCK23tkGYvhVi
XC6Deq6XK6rriHSSgjNsYBR0hay4HS2fvJ6pp9EVUtJW5RhHT3Gt512katZlkV/38pz2pA/W7Exk
FybY9LGZ9piq2X/Fehdmosal7AC1Z2M0x8r9/2djIKj7j3/9F6JPf3g2/rf//E4o5Xj8v//r3/7v
7/b73//yr6BS/SeoyHgAL64SNqQXbN0voFKXZT3YPKqSmK0taBMcT38Fldo/4WC0gOowW3+f1f8y
cxvWT57uc+LmsnI5J/OL/m7E/qOR2+Jl/bDh5xczL44k+3Lk1k3ANwz3PzpReuVg5Wa7GGWEgFzi
isGaqsh2o1OKE3TSwfrrdPdzGgyn0uixuSpLUBCumiOulfpbmTkcHr3BU7fko3wsg5W9vA1+kp4G
sMOnhcxzGeGT7AaM+Ol4NmV/sui1ueFcF7zVkERuqHRY7jRiaGHiO2l3JRQEFkyWbrYiTtww1lUK
1Qr2Sr1mFzI90ip/mxX6WIR6GVc7OSQ/T8v/iJnvn9a9QnL/j6/w//M3Gbzf/9rP17b1/UqEx0Qd
LgAj02LG+/nSNs2fLjwoLlOAbkDqDJSeX+UkRkaPcYw/539AFLn4TP8iJzEaehCXqD7EHkfm8e9i
8EKFupgS/59/BVjJxQPjWDi5cN2Bg7r8+Q8+qwHE26iRdVr1RTwEEUvYOjsEZoUpG84GuTIj5VlN
RQ3r8U/RG/KpG2KuTgqRjWTWIkzo84e0cjVsCeUk3SGodF1SoTZl/jeHowdEiL5KqvS6ZK2uh+QN
m+YxQ+3gG1Ukgdwvee4ar3QIFOVN5WhDvzFyhBH8Lkq/ZTlBgTEIbLaMMXGt+ioBHE4isiuWkQzN
zCKmrtVm0Ublb/yExCCY36qoVNibcAWmFRt8C0Ue10d/BMHu2lFrzEJWWGaU1t3GeEUu2AgNzgpr
QTfx12PTjO7OS7262HLkcjicdskrJW3fVzHBVTZM6cMCcuOYkom7l0QvQqIF8rljNDmooPb5xcR4
34ul3WRx88IC+gIboviExGRkkrg+oiHjMKFIMhpxV7x5Om+xB5pqHwdVucu6ud86ssmvdH08axeJ
HaQgPPyKTbYRpGJdQEra1dM8HjmuMKDo1osasimMW90/1pXwWLHoMbZ+/b1mExrxrBt3tfScNRm5
J+a56WghwR+YhuvPlHP1gTC9BXt80jklz1aE34MlAyx7IADe8OzgQSFiqJxVDq6g68ISYj+hDiw2
9nDGeFSgM+VDC06BvVpuFV+k207wlhG3FlJJdBv1t5hxl+BlZsEjjtj2+Su0M+YmvMx+9AIZYKug
h+hCLLMufg+L3RWVeNCLtDw5otWabMwLvPbXtHTc1ERxE06ZYxuva1rVaVAYC+6ugQNaB9WF8jtG
HNP9gu8DNo8cHvAMscfEn8WmoNdCqdkYTLx+ARRS0GnD9FQHE3dhAkP8Dbu26VXFHuoHdxmGZexb
WjBeiZwyVjoL5tuFbYYXqgme/H2a9ib8FGecXgDw+vbOaocsPiw5hK4rQZlfduADL7yTUXrvKUUL
9l6z4rE4OK2egk+x+lcYv+N949aOtyGhPCdbrEJmu4urpd2V3M7Npe+A1bTDt8UBol84rv1Y2ItY
5UT4byASsb9S9Q59tQWhBVDhWPmaT+Co90TkNBbjXjlnajMmzJ2rxSLv+lX4FrOgVaTQQGFbbI3Z
y6GWsv1ge1GqvmCTwSpr78P9MG/ctCV6lxkmWR6caicIAneW2V539FpsAQ19swSdO5PuWyuzYdbT
+OeaZ4r9uubYigKRiZLU4qApFdfvSZcDqR9Lu50jT9kl4Y2idqgN9lzRR1TkMDEQF5zzr9hnKAXS
R+9aaxryEPBJHBMa1wjli/BpyrTl2K/U4zF1N8q77JD3Bc07J25Qhgf4W/CZAilwA1K3NLntDUgl
T2SGDjavs97MBBXfeXJa7riaJ9os+V5a8oN7QevRCuWVfkRKhfV9XjJJbpJKZhBOJ3Ou1tpicdbP
AtQlrgmxROlcp/37VALiWcVWrXXrCVMdSHLtkqHlJOM0EWeXONhpHe1X675n3pnakf6mwHVOQ20Y
t3x55dpRFcEd1xu3LX0duP7K5UXZCAnbwZ210JuEHulW8mHnJXtyCzcOepy+T7URJM00L1+UXp61
BlA6JA2xNYtLcfBYfgPfoI5g9rWNGWveEY3IOrIstA82OI6v/pg53DiThnOF43Y6XbCj6jY947q1
8TrhbLxg/FYkRRAZRaZeu6F+gqLkbLLKU4eyawgVicA7GtRcKgw6OFYcHA2W8zHTOXs1DaUPOKbu
1lwa9hMLfLLVaCMHN0v7NU2pmOImYn/4d+ypOLku8Wz2D2IHieNbkDXpHffb+BT4Sxt2sWRTmCh6
p3qWLlvPrdy9U4FmG1p3ec2p4tloMPpeMTFnZUTGNz/lZV3ubcctGPPt+pDL6gzn8lMC8CA6ynBx
cP24OVUMaQfoDcOG5gjzrlj88blDuNpyp/X3ZKSSg0/M/YvFbE70pLUIaMM42htKzOeMR0y/Jseu
KHE0nbcCQ8CLpepgHZjZfDN1eX6LvkSYGzuJZ9BFIcus3hV6p5FKJ63XpnUAD8jlTZxCXfCbeO5J
TsMxI/d37c3ioY4rXAQWLeP2GhHt00/lHeqtvcfLMV1SyqdUIWjFE+9F0+ya1nxrjZEJUNyQtHBX
rPM3sPD0e7Ov8TTmt5XsjgmgMs9DrFwCNR/NzFo2eds2tGMNu7wfu42jBlbupRxCPXM2g9lAWOBj
26AG3JmKe7wqiDvYHf2wOm2ZxiLWvP/2Y2DP/FMz4ymB6GCLvpVcQZ7TNzz1uVukZXzAFjKEia0h
YBjjeFiWxdw6ir7fdPKaK2zmO6+pgKQEWDJKR33F0jDf+vOyp5/0oRfKplTbPDttslMYZx7GbKJg
PtPcWWGeXFjLj5/N1NyCzlrFQh9Xg/UqevboeXoQaJh4b+Uqlz6Z0PQp6WgTGPVz1hsHz0TwGlx/
Y2VZcoUHFLZHn+Pg6k5BPh9Sf8nXOrgK9Nzm0ZydHZpD6AhIKSunyw9shI55F6i9LFrTXDFqqq3Z
LF/yjE4RDFagDz39xp19XovcBA2xfke5PHn7/sW1RMXvRKbNGdRMk5tCG85Y9XFfsvW7tACrUmBr
CpcpU88lG6VHn6ihhgFQqGVjtAklaPWEfShqLyLnJoB7l+4XYqsdsm6K1tcLF5OMtZzb2mFZn1Yy
slzKtP1J9AiXkLHIevbpV/rIyn03GI0+XMGNAi03YvlcTVZZov2pgrSBQdI8LvQjqkf15M++gv4G
Z0qBHCFs2FEf5G75BrUbWEDWHjQFi7R8rM4Id+llI9COBzNolhdoDfrGoRaijPpMeIDyA+1Wq7m7
rIQxA061B0xvW1/35dukKNrUVrOpcZBcchik0OpqNmtLkVlXiWVO3tOUoDyuER4wRGWTSG50cxjO
izDd3ZBk1nlktU9KOMG6t5ovoukqbad8P1MqygGg9KjdRqq8CXJlX1OuKSNir8V6kUUXTkkxrkgm
Oju8LMEqqV0Vibi01wNhxXObDPoVXmSywQAPo9mexkcaJsrbWRW30Nu0MybfJQRhQHyX0/52Mlt1
dCanv1LOeEdr+0sH5fXW5wiOslacOQLKEylGaN5WUuA2KId6Q3j9PiFJjw0KNdbP+0fdlX1EAcHJ
1Jd0K+20Wgv4JBGmsuTMqQXbsFdfz0Kfzwlf6LBp9J2eWbz78fItcbW30jPSQ+rRm5p62U712l64
+fzm+IgqsAWC9YxbZS+bjqZOkwfnapZz/cDHOr1U6ShOWhKwkVm6zQRvcdcI56nVRE/4j3rtC7eM
dGl9j6TII0x5Co27Ff3abri7hlpLZdpqsbNqzbc2PfkOz5Nwctp8hzPauum7crmn07g4sJ+xImX6
V7CZnK3jSorYLZ4l9Nmph0qm9ZPBxL6dXZCwdm5QCdxmwUbmyqGkRuPhGgwf82jdZo1sn2mABPpV
6a/WAOzFnfXqNo61dm1UMvka5GZwajC1PkMZ2KZJw9nP7ZpnEM56mNQJgpms7/Wsrp6HbPxAddtj
ngFOCJHnRRcsiKc525VJZb83hWgOjtaOd8NoXHbGcfLeDp733ljOeO5T2/4SFL3wV0bs5ZxUYue+
nvmKJW4z3I/6Uh6xs5CxZxE0fjpKUxsAt9OWxYnYaoPHM80UgHrMzntVMC/OZYcxP8HrzTE+63Cl
2+WDcvi1fTTse32a92U2mlu9tY2vpQ6ShESWBrtK1q+i6NJ1o3xjXcgxP0+tHoTCtKtz6Sv9Jasq
c6Njd49Mv36aLGlspXXJDfsNJUmpRwY7UTjm3X4/2iBbWs8skVYXuuu8Bc6N7jXbRRiUx6IwZit9
pNEPk1QfH2VsTNsWkugt2dEIKX4MzbIn9e82+nJT0AXMambMDhB9ii9LkU5hBgNhyxf1DgSqOADG
FCvVxrep0i14FAMx/5yW5tlLnaPkIB8107IGrNXtdcxo+Zi3z1mvG7dD3zxYetUdpZVcJZU7Q2ka
ITkwa+6swS/ODdyqNW49GWpWErw5IuX75o8vvi3Tm8pI3GO7GOa9Iaz0hJ8ct61tYbTPkn5NNfWX
uAkOxVxiD2pSnH0ckTaJpoMVM6DFu3XfrmTZQ7BMnCBDu4zVw0Ruwl4XoyEmyh0Vq1abgU/xoPnI
66ZYc7TNbhoMsHeM6UyXMdnra+IUtJFKMxxzq4XC66fJsWu04FTHGsSHDnQHIwwsrMVm5oDiwh3E
XuCYqOmoOXOG2N/dTRef8IAddO0nDjKAVjnXBYrxlZ/j6mYpU/B8hIMRsyRD6sqCXUdU8MLBZKFI
IH8D4NS5g7ZCqd4sWc6Z7Vfdi/mGdkaUFYG1AixsIOrz9dzPM89Us+30jYVHNZegIeBEMocOc8vs
3TY7VdoscGtKlkNH2t+6hIowPTW/4DYd6bjCQ1cYSr7zeTkHbfg+KGfPoKHlM5fzPm6AyXhLmWKW
ttkCTVPb8fLdam+3ebmuEAouPF2VsNUhBRGVPRWpdLtTCu6kgHFhMVoHchEOx+gEp56bn8C/+dvY
ia/oAbgzTZy7Oe2o12Pqf2kyMI86CAt2ZleWujSZdL4K56LgnaqDW5oyWbSNE+n6LntDJ6l46pfD
1lWFfTSmdDfW+bKiDpbK5fJ1quw5B14rxJlMziPIQxPsS+qdAdOVx5iqeRUSpSjn8iu892SXOsN4
5QvP3ZmIBa+xB6A4K7HsUsS2hR56xFTf3pPuz96ny9N5sOR61NriXiTqRKFme4ohv20S26seOq94
QDgSj2IM5jN8Ii1SrEI/mA/e/Fa7Zi3zFcti/TZL0Z9KVcAFs/JZ3zVJS0GoDryCqg4RWebiH7y2
XWtuoD3hrs22Hjmqt9xwnWc52zpYv+5UTqkMucnY7AAWYGddbPW7mQj5jiH81Wrw6o728Oza8oNL
JOZrYTXnVpjaVsazfsrq5kTKk+Jeq8k3ZMHtTzuG+eEi6mDRnXATB7igGwX+aRljEjEklViZWF9x
57AU8WmyjsxOx5lrTNWFbTFw3077m1y0w56RzY148GpROwLOaVvIqTZ5jEOJirIG5Uy7ilMOG7dy
DBgPEIAdG7v5YisWf4HRfekmpBFNknkq63nBrWuXh7YwmYD1z0WyOqWIK9k0hK4pJ881cd+q5SOH
rr7yFXKxgNN2VWvVZR+MOV825A56jaU7ti2xbfSujwCoyKO5BGDLu+WaqPdpVt4TxyMO5XYlrqnB
qPZD2dun0reasKkvqEgMjd5rnTEAB236KRXP8tL3ukiA4joNuWzXXhx4J/pGcVG0aq2nzmOJl3k1
9vCk2mrJgdUFmMszi8WtqOVbORjyWnRNuXMag2RCtTyTbFk2pCS8E/Csih9t2t+0JNZCvdLs23Ls
KKHWrTgykoH6v1S4kcX4eyCAYd5nNc4PYWKJn/TLXEcfrQxHn5mwa7V+22U+VD6Nezz8IzZGvncL
DjKNml43V9SfVTtE827fVTU1NAMA3T4zP1GgfEaI/F6YBdiomeWt3plgW9Ia93fRGxHq5qfJDvRY
T5a7Y7VNkALfOQf/LllXQX8DGdZDaTGp1nEzh2egqA4z5yfamwYTNpbIaSVzkTv2M0JjZKNohvo8
kE+bLJjDsh5vNbdoNiWFTch1PdtWKFERpEFOR/EcxLB1lBdNQhJRcMovPKAbaC5qWdcxZcZ23AqI
SbUe9qn2yhNPW5vtrB99L6GF2pypG86ds6qrPXTh/GgkEht4k0LFiD3OjtwfmO0HP4+UPddAEvxs
l0uUJZYsxhZaJfWJZmusgVOKdeWIL00iHwnv4TXgM3lNyv69bNwzlLI+qhZnfhyGQFyuLbGHKTJu
EcHPcun1qHDtbzpP2RB4EfGn3i02rebhDSgVaCYQSQczHrJTjK+SJtrcuylKbNlNMsFflvMe1I0K
p0GhINrpm5zi2Dowsw/x0VRpIldTJ9JmW+Bank6kBuV9l9aOs4E5RAYuTlDiYUrGeh15k5lAZyMU
p87CWvJTZum8s25s6RdyO6BVdDPMwY+dB0wf3BogEhXkef0sRcFCfNClJfGtVP7zvAB5I37klU+l
MbcP2cT1xu4SsOp+pBkTPFbSNrD+A8lM6KcGBG72M4JlI6kzrAiTP6tp41Uttzyhl0wps8rvW10k
xjdtQK679XBaa4e8b0yNh55lVTiSLTmYt8OkM3CDhhhxjgd4Mq+suTfNQ4dlkrExGIz0SMu8Na0d
oy+aiJumsRy03MXaMieq7A/2zHdptZDMkSdQjyOxDC02z0Puqc/JddmxwlDr6kiKAfUTsud4g/If
7EDNqJ1bJw/VMtJdqVyOadVVPHpfSiNeoHUiwCVz2d/ViXPobOM9Nmu1KkpjWE9VASwMZtFEmvqR
C2H+gn6bk6mSyuRQV6onQxC8KTDUh5UWyI2QiwliCubZqqV+5irIhZ7gj4GtczmW+90QaeWUPwKR
6odbDDo110MvvV1QISSHejzVdxkCEp17U11W93U/t0e810sIJQavDukbSkF96HXVDHxobhfWEqmx
MzWjC0UK6BgwMYWrOOwf5TQ9lZRTVp0Xv/V+Yd+NmebctYaqQzNVJ2lyRHQ7t34Z7JyzxeDcy6Rl
LOAmmXJTMqttR170phrSdl8EmofciWT+uNDsvrdwQGy6POufTYraP6247raemeVqZYFdAOcYP2N0
UetkkCBxpoSSeid19rOBGzXoR1oHSPpApvMoSjOufNm3oHfkbHxIPIXcQpbWUdD2sUPtqmwqTVxJ
qAU7awS0s+WiD/LHLBMkc7MBou4+SzGxA19vu946SjN3srXrGDGhx6zrGSBMFj+MyG6DiFvbJr/u
agrydZBxQ8CjMolmUxA8IwY70nn5UNhOL9HUioynqlqrohqligZ46Uu3I89aC45FiTfPJyz7b6yC
4goUFRGmYSGKAx1pWS/j8iTT5gZp+kDkk/hmalF+p5p+Z0BNhDiZ+/ualRIjO+jKZVb6gR1Fhhsn
IzVpO/VME7XrbKwEGdvhbkexerGEcNGvgknPr9l3rGbGlZek788lcAUw1rLamrOdbIpSuDsdQtEZ
S0kTtYiS9D74wN24uxPsdEkl7+MWtyHenso81vrSvi4YF56TKfZOnWGTfFqs+TXt/PQgkUjxOKSo
srS2oPJWS7NJxuBSyC2Tw5jCxt7M7dC3fD6ZWMih8LTHn1NoUcklQyLTtjAfpfoFSk4gkFRfcef5
weuSxMY9i4FTZRgY59IWfpBM58+lhzIBJLblG1FizSEhvp5IUYSlwAgXVpi4Qp6f7Xly+OquFl/D
T4FStSGEaqHH21iSANYZzdMiAqddJRBeQ8nx9sXtxDdSosmq7Af31FptEXI1UedLvgzB0KSOWC7D
+9T652Fm4MrHbNhwQg/2uQ50189SDBhJZd6mjXXtBjg3+0Ft/Sm77gqx61s3OIKiJ/1pY+M4B9B8
r2y2A+EsgjnsCaWSp0laI2zA+gLIURfznjc8aF58zbaDhyLD9G3ncVXqiIB3YHSu3I5Kx8U5ZKzz
ehoIgRin9UunNR3is/fmtOjUts2WiS755M5QqbtDBUhvS4+cWjDZ5haSFuptyi8dBM1amUHx3i75
XgTTW90ml+cFCqXlElpHDYiH5LZqdfmV+231NPUA5bjq4w3JnDMIHydKPIz6eOcor+itAhUJlBK2
wrZ3qHcJqMDQLw3tJkmknZXLOVJLYUKgV99mN/lSOTrrL753lD8oucPgttBHQxNNUAXXxGSSG/o+
yBFnl7NC6eCgm4iP7zvJrqkXPLTLjmrmeAKG1wyWdg3yu48Mo62OUqMTPrW5P/OF9rX70m+6ewyX
d7Ryd0yw9rTx2W3SPQP0WGvNZZ8Aal4Z5I739eg91bl1qdTwsQXOcwXXzWQIxEFYmrYArIY3zBiT
a+/ypvZG760Z4PJIrywVZZzm2kp77l3T2pEn5/iWN4/YQkVY+ETrc2N+mzFKhr7GyT1Sae6D/hXs
Oa26ukqG1o3sxP1aew5LGoqeHmqfZwE54yvXSZm1jGrZW0m84QUiR7v5d6nsutYLtONarclka6+e
Tb1Ky03rICcAY8YIfCDqQN08TAAFxLGYp6m/VoJjEng8EbvHCrU/fu37KXbWQynleOzwqa2myaCW
MLdEGM9zIreatI465Xw9vSScdjt7dkmsVWb2hcVHikEyYBDeFWpuAEXqetq9x57uHvvYBTXfjaZo
f+5u/Uc4N/7Z3PoXXMsfufX/x3/9+//8BTcCdOTfMe9Tofwfv4kCXf6JX3xJhuf+BIILRpBl2z9b
LX4xbzCcYlmCOwbuA++EcYHC/WreMIOL4V/H0mEaTBnfjR2/mjccckJA1zAmObrP/Rnu1d9hTPpu
PPrBunExJcEWsjGRYBEhGfQ79IhJMaua6nx4KT3pb5wkUU+kUy1OTq2Gz2Iwn10oyEbkluV0FceZ
x/qMw/Q8OD5GxqAYX354O/9GWui3ARpMLkQWeGEs4nXsJPr3quQfrCRczjHOisx+gZDtH+cs6w6L
NZShLEznT8I6l5f2m5du0kioY8kCYcfbqP8utpAFtdIrT+avyLw+Rce4s0kyrXxSdwrebt+EZfZn
5Z9/82caVPbxg0lh2b/zgQ0OUCXp8zM51K+aLRUv4aXa+c+gdt8jF3/12n74OVyRPzpygIVz9k5U
/jpsZFRvkkOy7vZvZLyjNvzjD+xiMvrrt/GHH4U96ccf1dHpWlq0MryCwuRFEUUK4xWA2PBrF+1o
k1i56z/75LzLR/PjyyNbdYnDeOg8fHJ+8Lu3saSBMcZJbr7TxwEZJ699c5/kvd0ihBKH2XoEOpPI
qyZnHRutxqbXbRp4F1iXgtBMHBjJrtQgFrZWg5bZkwOI2RL0Lqlp2DZVGAgdnACjMDJ1LOaSvVDq
sbsE8FycWX+QzeZ477/7w8yKS7RSEvZQBvf7JUtYx/et477E1eTuFk+fCKfLoGUM0wN3K7JlApPB
Fwh7FPuPi64mAO2W0sN4S3tNveLOP3yIJnPtkJ291a+ln8dQU+c4f2il3sRwahiBSUPb/gNACaOl
yAqBd1cvGfx/kqEXL//sZME2I09MD2UbA+LLCSYE4UV9DS7AXQEGBOavOCKqtkgjlZGfREAfRDhg
5vKjqdJ52Cx10jr/zdl5LDmuK2n4hYYRJEG7lSvfZbpMlzYMVRvQW9A+/Xyss5iWVCFFz+aexe0o
CCCQSGT+hmJEhKj51IzmXR/7TDkaKMXcTKjaUkkA35uuJFTTpxH45TlT2HkDHXzsOUJitiwIibo4
IBD6JEyRndXTR2hMiuwrx4OsHbUzCmiHgYdGsWEZHgRFRrJQZNrfxqNwVVLqgf5RuiWU5BBMS+Qm
1OXq6qyL9PH2ZSxinOd7TAwloP2xMjeMaU2mxge+dtSAurCkI8qln1Mi4k2frpVTZd+jIYyeUVgP
fqcl6jdUGLxk27qA1denj/AXU4cn9qkT6dpcLgc/h1axJCSPTD2XzsY2tH4TGKq8rEcoO6eH2o9/
HFSCusNnJAV1Zx/Gg1VGHjmGbphn70THdJNAY6TPAPB/HGEYWeArlq4zAGShAH7bBHr2cnr4/ZnO
w88Dw3y1uJR5ZB2E/AkLnwYdWvGOgi7sR9+rIb50Lchu+9/UAT+HcoDtQx5yXVRdD1XgqNJ4IQ1l
671CO/6BV6O18TqADacntB98/xtl3rJcX+CXoQbv76SGFvXokry+I4wcL6H91HeUxAJYUNF445eW
9nZ6PM/bJ/sxIt9NzLDRGRoNbvpgs6jSS7OusMUOleTkA2MkT15oNpL8VAHqLgfQxa25QFK/RXg4
byWtbi/OkQfzkAJf5FMoqosMMztwkKT99aYD3/VhVpomFp2nYnqGthEm1MLUxN0Vg/IaQHcnq76M
EaTP4lH8stN6hLIGMp+HXaCFV31jcXlLg4h5QR4V/5pkhTlqbAHVukLrT9QX4Wij3T+ij7QNoljI
S8/mZlgjuQhGjFf28FoGaYwUmB+6mEvUWvCtdooALV5EHLzNZLmp/wyl37ozob3R2UlkEy5w3OnR
uxqEhnEtfUqsvcSEZoaXZW53lYuOkvNYDOq+L2JeuQ3I7vKiR1pN3/jtaPgr9BHF62CV9H1oDAMb
bM20wHBJlx1N2zK97PxJEytuWGNApRMY13IE+WXdFUED1jGS0jEuEYVwp7vWC6b4EukpYT6grSGT
yxRDJGeD2HF3z1bs0mXgGGlyWaESdI2ICs0B0YMuvIBKlyGBn4A8XXpGmOpLUeowrAa9xD2nlFR6
Fr4psxm6iszLg4/1GjqeuHPUF25TUlHXaOCq5SStROLHldfjir5TP/f/PQC/bgE41vV1bl2rom3t
I//kc9Ad6mXwkpEhwYQaQqWpgaxYRXaCthP2D/5tEljydQJO+5QkWTZtwtycX06tpMoqOevPE6WH
16zQIWnmbm0/5tLHTzZGYDpF3ALnHQg+rvXWUXQF7NT4VKzjCadXPUUhd+UOBiJY6QxMEhUepo8g
XmbEFU/g5irlJd+tQO7lPdrUPkZbMaYDr23lV2/1NMmfCU5M4hpKdXXTD1ZCRynFgnPdtb32q4PZ
hKKFmJIclfXCf5lqk/4IAivxGlNSVslHnoLtjBMN12oswtcSeiVFmaGVVKgyM3nQXAsOY4sw7abF
7UCtW5xgLqRoplcHnmqxMBSlbtpIw5TT+MJPHrpWFCxH/Al8lK4duN1AGIfuKuWnPvZBY15jnAcF
qHQLxLI0SAvlshl746GcbXzWwiYJapzasTaimKr4OQ2RN9iSSnnRr4TMx/um8Ly9l22uvdhNQ0et
08ekv83pYMa3ug8+FrpC39MNa8YYB4fRR05eq/MMZX5zSDaZ7/YdtlNBiVtXE/fP0kl1KoBqsO6y
Xvde/KCZldJi0hfTcJIfRe2zSxNRoV1jToH2VMVeQfKiACZG46z7ovLce+Rxb/82LMf/A8HdeGuy
IB5glNXSvKpxGfRZVihKl7KH075KND9+QnrJxpoCZtKjwZ/MloXM6WRiz9PjF1BBpufHD9UayWiJ
/l9vlfe2rJs7i7owEjhu1ZIdpihpAUvq7Zl+nD5reouwvKD3hR6f6B5F3QbvFRA9imVBbT7a3hi9
dhUST+MkChhUuIA9aY0Xb0PkV5kK9H0k3Jwi/N7xsaifpx6EVk8PAHDBPQKT3rrdnacVNJs0DVIu
dooJS9XmXY0vy2wL0dEtpzfvdbqz0BPb/SgTrEgXQG2oznXNlGK9hA7CH9fFE61SyRjQgdHSu8rR
1PfI6mZGJY29h8DIEY0iZqAGm9h5/jD7gRcU2SmeAuAzmkdMJ3DOcUUSDdSIEA8EP9fJX6OdItg4
4A2FQBCkOer6WErRuCKEPVQ2cW3VO5r+Q2JUFS0Sf7Au8CZ16HInOiW6FDGV8ZsrKwOVnBgfbYQQ
fD9mAaV5affkfbd+NjSkqDTU+lWSuNhzELJMgdygKOo1VAVMZIIK3OG6S9FsphBVOG8O6HS04+ka
3lckAdEaeQX4nlqCIxAshDx9TxLTerFdG2XFRqvTZFMBDKJNGOWzDUOUNrhuh9DQmxjb0oXqnRbH
Aen5lLcHdCcXhcyK+woSNyhaXDv7pYwDaMBRJbGIGtI87FadFisM34xgJMplqFEs3KmEsG61s3hU
gioe8kiT0V/HYqTY2pdm/IJyRVasc+Fqv1Kj4GZvtB6go9NmJjpmsgd1WIEtUiuLUmvN+jmzGlnh
tA3ihX6G5FOWA3vsnLYV66hM9VtQ5dX7kGvTuPBACIOoGjG8pVtem5s0dEvvShRZR9D041DReTHY
1DklAIW6DhiYzQC/CU9W6WUO2LXap7ZGYz5YOrR1niy8+X7ig8STJyhDdWPGZfSUJ0P0nNiA1Jcy
CupbiholzFoQgORgU4ZFaUxqhOVB3SCpNoVJgyOmFgePbWc397iIASUWjeH+oVgB9kizaDqbidYU
607V066Tlpo2PaVMDCBl9+INXakhM12PcETNSt67kYUbI2kEsk7SQKQcdTDjEcC687OhTfAnE3Lc
eFpADEyxLSlXqDSiimdKxUtOht7wrGe9NC5aWfHosinZ4hjZj2WzNs067a9kpY2Xk9l527EAKUbZ
Oemf06iKMN6NAxu9MdPllVoH6fRg9aX1UyJWEABhyXnrjbi6f8Tt2NyrvHAgPsCJD9c9Ll0fQzWM
LJmNqMjScvMOU5GxUtANa/lLc1P1S+GcTfvIMJI/ZLDjjYTivFbFY26lerpENd/LNw1PkLcGeSDu
1wlnjgtlugPeP52WQF8tHPfOziJkjbDzCit8V0VxCwGWTpA2gfInRnjMWcAU+CjyYjQWkde6l0nj
0MQvfHCiM6xGbnFwil76ED3GFSju5qlByAZQeqBTkeTGDLcqzJN3OqVIRup0XHckS/HPrDNdAlfR
AjeCsB8/UHytynUFuj1BnDHn0SPDzn+jd64eRDYM4ZpbMUaOkYbmVRY2PX6H0asPyO++yGWEUCXc
zgVl0KneuEXtTgDhhLWtUqg/y0oWfrjJ9b59GnPPDVcDWWewyAZkTfl3AMKJoTNkCyTqANSP7qBa
Cvjqd2ZrU/GHlw5cvwK4KQlqhKnIwE4U8VuRfsMXtanQ8KtMFAXpO1NpGcpYrdm1g7qcpbIusxE6
CjsxuJscgy4QR0N9NysQMFxPNlEwor0kA9yEJ8PGMrXAZ26JH88A2QhUO1ib1BneLM4pUmvI6lJk
GYjAZjzGtyL19e/JpAzcIYBamsvSTnEyojM06isH5l5FP1imKJg1cN0rlWbBvYldzA5KjQNPGWgk
iqV+irkuqB6WABprNXykSY4jJm1OcygQqmsxy7hAtiJDnKt1Y0HGoKGhnXat/xbmVfGA3Ii6S4xI
wmUCAYx3daJ1NPzRFV4VUeM4t7kF3aXFkj7cBIPZ98/ItML3mEkZ8Pcxl7rXLPKLBRWI+HKOKykp
cQmQ1lZFn18EcZo8x101V1QSAHcXrTk7HOv95DTLlO5HvwxCQL4bHSGGj3wc0wfVCgCPMVf7lRbR
I5o7JfqjMw3NgJ1h570EAc6DVyNyuuWqnfLIugEAEWS0Tcu4pCtVum3VPCo9pw8t8VCRG00rqOMk
WUGcoocf/IySVkMJhFz+HlniBIeeuo3x7FFuc5/WiamuLJOwiZchjWgAZyXqeYY1mtN61OoQKYfJ
QXvTRBDhgdJUp28wV0tuAKUbP7Ii83/qJeEAxcpCxzZTGAlNYJ0cZCkb15+WaCELY0PzAQtk+EHd
nQxtroUA2C9/1Jmi+8qHraOhjNFvhryKydTruhxXjsdzGCppod0rpU/DpvINyOeW6XW/MA9DusPo
eIBRMVJae+moGEFlH8mIK2whEbbzqTLmi3K08q1Rt+EukHp5hU9k7GwqKApPHjaE9OWBi0twYsbw
UHUdyBmQgvDhXX90f/sqAESYwt964+UX3JPGQKIaTfQ1LOQHVyYKfSCeiFizRLXQP/xCjuDz6+QJ
6RhzbQ8GeQ5IbueJTeF9OJCjUCRc6fmTNbDLsIVyvBdesbhwB33d9Tdcxu3OzM0Wnd8x6O7hcDXI
OQYhDpJpmYLAJ6QFd6MKkihaWrjZYQ4d9lKuwBDJVwnktL6FXo5pu+jmiQ1O2oTXGdZQ914Qoho5
2naHOl8Ud+/waHz4aLyQdZbBDq+l5rDJCEDFrxbADouHmgroSPC9BY5rOYYPBFM/gKJldyDdfOPD
jFF4Xri8YbEeasEnRlE4vrERTIAmIhIWqO8ifwZ0ZuSrMISZvwxjwarKpAkeMxRynp0SM8sV7FL3
psE8VkKJqrPHKdLT77xKs61u9TqqO06qveV6zjlUMqlfeZyHrxqq3VsbgORHr6f9axcoMeuv1NBM
0qQsHjqvxSoVyWStrqiumu29QCPg2eq67GPk4CBXOzr2eze6EGGg4yPlF3UKwC5OtJKOHtZMP0dg
p7MNphnoN7pmClQCEdnul4UfJz/4EfUbnGTnO2AyGCpyJBC5DoCdBNVisnR8lRR0F4eivYs7GcQn
ZCgXQxZ6QItrI3KuwKCHF1khke50FDo5XtEDxvGtafxZdNGHLjn+qwAH4puWWjO5AaYUqzYmmqCD
Cfp0MSrRWGCyJvulLhH3X0ZYZ2yUoYOCoq0S+ssAzne+KkNAOdxmIxKAedJL3vihaH40lGio8mMV
bt3BUXKMC5WYobq18M8s18hlU/nqB394i13Rai9m42X53cjqIQ47Tk12E5pO6aCVKm3EJNoapwSQ
GmT9QIwb7E1FZ77JKaTHiaGMRI3B63NnbSC59CcCf2ZtYr3Io02ouZGzHMNmAhjuWU5/ZQdWQM2N
4uqCKnrxYgEBzB8ki3Zpy7ysr/z5eC3H0vM/+gl25Y0W9ahihHWdX9tF2RqXeo6E5IKbt0s2ISgW
iBrFEJRkSl6JwyaIDXUpzLi3ccIED7KBAzaoazmAoVr3lRA5Kc2g59eysvxkO2l5VS8B2Y44rTiy
jq4iwA3tlcQYvbrxoV8l3ylA5NZrBEqpXrMg7nTJd0E5OcWmrF4Fk5rvt9gMH5QSSbMc/ApJ2kHP
uufSNMQP3kfwwyp7Sl9DBPpI8nRFrh/A/4WhQeKz7GbX81ViWdZdOuhWwN9squzCBclrrFAypmmQ
kvXNmUVRfE9CFb8BMUviJZo+CKU7iZ1wFErMwy8jK+GdjRIHiZVRtRC2uBvHl9zG03MxUJZ5jGkc
4hqildWbkVqtBOPFprhBB2x+X862jdCNgxLsGbzGH1ia5Whod3bxjGqGDuatzZCU/R9q7qZdZq14
bx2n+F36qGksIigZv04X//YL8Z+lP9wThE3VUp/LuHMx8q/e3DQBrVbT6L9HqYPX8AjNGQG6M4Mc
VTRdJBpo7lgegoFEuIMKcZI6FGioqL6j5dWAdhN4+wAEAo1ZkK+28XCm+L2vzPDfpMiQTaodnmki
irY/qcGNlPL6KHiffFAzBfk5j7tIv6MEmm+CznwN4ZBvgN7Gi9OreTxR06Z9RReL++lYsLDuFbR2
leRb31X5RTQG9Q0MdZ4J2RSs7KRVj6fHO/p63HWz9KTr0DZzGXh/onaFHVpKLXbr9/DZhsRzUWZu
qjPLeVRh3xsF/YH9UdzC7nFeENQ0MIm+MQvuOydU9RJr1PKfnLT4crTP2SGkI0D92S5zpfqv7ah1
iqTblflWFYgcZTTp7kfEAp5PL9vxhGZBEZ2Ggc0ohjf//3+NQv1HBRi151td46iGPBJ5HoYfKAUE
Z2r5xx9of6SD4zUMlW/7mFdtNU+qK0HRDhZW+ef0dI523Yw50J25lYaUhDiUaqh63dPBZebbtJcJ
Ar1efo/5R/U+Vo341nuTdnV6vE+vpf/r3n1+JTq1iEbQb6HNbh98pSapQXlNVbMFnaK9S63EwbpO
NPt7VkOpVSBpkBSQz0GqhgdArMNGqwXsQqASzuPkKJimSAX8GCyln2lFffFhXX2WhQFmQag/VC00
QPJ3JQduaxM1LxqDtlPb2NrVVLY/T6/BFx/WFQg3ulgk8rQ7VECtaVpwXQ7VVvV1tnQLM1lR1A/O
xJOv5uM6Nid8VvsQh2ZHAOfLsrcytYXNbVL8weEx1bJlSGf4zEgHoJHPb0rPhVjJHrIcDuD+mRh4
srm9xH441eChZG1hXlJbz+95bBiQ0oP+EppdeNdoSfea1gDiHdWXdxO+jb/tTsozceDAPufz5/Cs
nwEBNKeIbAdogAH+UevlI0hJK48NfD06Hi1+CJ42JTmwFtgLJuY6gNWGKAZdiJXTNKWP7qonH/qu
sH44garMZWEFyJb1nT+0IPVaG0S/D/E2N2OrXiZObjgUa1p5WVYiu9PcXP5KRabdezYIYPD2efqi
ibzwFn5NqRRa5mQ9doT/ey0JwJ3945aab0l0XedvgMnZYezD7LmIq8nxINJFxm0RD8aboDKxOT3K
0d3IHze4hYHJGEQL82BhS1+1IMtcWmaYYaLrR27VkjluFGMjsW6HPxhU7WiUTWdG/mIze9hnzYZ7
Bh0O8+gaqRD0RF9/KygsbMluq7vOMbINrJhmdXqSXwzlz41amtGArozP3fVXgHeFgd8ASmvb1M4E
JghkyWgHvsW4xp+Z1FHrFHTBvEUNAQgRQu7BsSk1W9q4t0/bfoYuYiGzJu8d1onR/4ZQFV8m6PT/
49wwqcKQcYZ8AiMjzdg/qFHbYzLtCbWVikejnRrfyarxRknD5vu/j8QR9ObJgaL4ROz8tYodRLkc
M/Zu67UUlIIo6TftaKEibLrBmQ92HH6Y1ZyGuqShxO/ZzevvKxm1WSQxS6/dIrEy3WuqCB4MLNKX
aYYDQjF14J4rbX5rqPeBZ+0PLW3bSy0K7ZUeDc7r6Yl/JqR7Fxy/BukxS/C0xUjMd/Z/zYgsI9y9
stvizkMP24c7N6ADu6FjSpt4QA8viPEF8I3aeXKhwa555tuvdZbp1Fv8i9hs9PfTP+loR/OLZpwM
gkxzdqkfrI/mNj1dAtFt21aPboGe6uuwtSHLSFzoTg/1GQIOZm+bKJazowEjmv4BoiJ3yr7rzXbY
ai4mAlAZqAYCHvQF8jCNO96jaMyDy2vN4dXzW2oFIrX9i9ouAACkKuu/QWkYJrg18GUWbpeCwNLd
Jv9jhZ8FTGoI19TyeNzWLNQHckD5q9Fr2msah/rz6bnMy3I0Fcc1SFrRqCVn2f+QJgShKY3EsO2n
PJ+VABEQ8IL8zG1lfPF1ZsyPDpyJZ/ZRFEjpzBpjlo/b3ECwRKtc59tUIvJUiTJ7CoXjLasM3HWY
VcY3F3LHwwTt4qIeB7UeG09uXJW1N4DcrEvefMPl6TWYN+vhGqDV7lh8VCTCDo+WYdaJgmU3bgfD
bhdkSHj8VvK9CjhjYdcX/3qN+bN5HgrxrAR+5ofGxz6tjBlGMG7pV9DvDAZscSGbnYm7X0wKeAwF
Lu4yY4Zd7X/YWiiEms1y2mqOPpdcIyiPMzkBQrh2ZzbG/2NWZEco+FsEXu6Pg4hgtkC3pV+M297R
sWMxYY/jCpCsT3+qL7YrjqDC41pGG0OIg8s5Q9MHW6IaAZ1x4uOknfaRFYV55gsZ87Nwf0fMpgRg
VcFjMNasPf53sB1ss/cqPza2+LvV121lD88IPKOMrCzaSHgZ6xeqbrMrA22kRdFYwbagarpwGpHe
RjaMJIXg9makWIZKbySWmheR7PvGTYuBIJoScX5mCx+vC0mw64Md1rF+AjG4/4Oh0JZQ1Q1jWyYy
2pRVZi5QkAvPHOPjU8woxLtZ89x2hX2QoNSaJ1onCIxtnPvBRQy7dDUiG7zyVS/OTOh4+wKas9lN
8zXDkZx/yl9Xa6wLhYREaW89mwr/iF/1snNr5w5/tuGafrxYnd5YR2kKe5ahdIcDQyj4fNH9Nd5o
hC1wJt3fMm/jwk3sDkp17DgorE3Q7802Gi9KqlI/Tg/7xUUKwZrXBKUlLhNxiIo0bSRmi1ppW+BY
5iVRQWnfysoZgpuC3f1N6xJ5V4xJ2T56wGQbuteh/SNAZRBPBGTVto1FNxwNamRjztxyx1tq/mVz
ocbmtQgyf/8LhL3jo3VtB1sFYOU7Rzt8yVwEtE8vwBfrjg8oxQxYcRTjP9Oev9Y9MEvktFSsbZPe
SNZ6alYrRxrVrBpcV98iJ4ouRJ/LMwf8i1HZWnxJrm9gioe4V8SjAplXtG94wWhX0jCs30kSm+9x
qsILhObtdeKnye3pqR5vaUCRDoRQXhX4hXsHC4pE/uQjr53tapLfKz8ewDKnyOk1TYEjiT62r6fH
++ID+roO6J6vxH+Oqh6mpndxNeQ79hgpIvfaXQSk70xMOB7F54KZax2ujb/CYemSdmNlwmgrd449
/cKyuVnpTXbuMjsMPLzvHR65HE4KpOh+iv29SNfKLMFR2bsycO8ITM6NG05iEdqFffFvi4aHMXEH
nBUcldlTZZ7uX/sxhzhmlOSpuwyZ+xsbTO9ykDK4Pz2KOf/gvy+YeRh2Hw89whwVyoPw5hpQ7kyo
Ursp6jMQmb1v9lcl9PnotnI1G6stGd/Rm8BaoU8xLF2VHtCZlW93NlaHdABA4itzM+WG0BY8cdD6
HgDvXQy+EZcXeaQ36A32QOdXWmF0j/7k+a8o6Bskmlmd4qRZ6/k5UsTh/v6cE/ua02LMFjsHtdZZ
lhqRAY+l64211qcQ/jLY6mqy7sEmyDOB43DfHYw2G4f8/aGAZGIggVPLrlVGuhJK2avCxZDt9Ic6
2njzd5qvIXIOi1BxsPHINZSRWW62qzDCXaapaJcYcNSbtO9+/+tIZJ4zPnzmOFGXP8hswqaVeARX
4U5CNV30GjYGNEqd5QTZYPXPQ1k6D2TDIDk0+Vz7S5flFYjYdIiwyBzMm7ToZ6kxZV8T3c/Zgh89
W0kE4TDAXOEmJ/Qdhoc+5tWNQH+yyxGahyGCbmsBph9wscIkz7YQjSSbKfWFhXrP707kaKnVokeI
L8QiIqabdCaxON43+z/oYPKabJykcfVkB7KHdqCRaZcyNUntTq/xV8NYc6yi6GzYXKP7a1wbXtbV
pUh2US2Rtkfb98ETffFxepTDPJXVRaJzvqDn5IG378EoKKOpvFfFTu9wfbJTvb2lKjLcAIn331Qm
eGNid7WexnJat7hKn+muHJ940mOKALMCuedBl9gf3rXA6AIMLHb03hA8MQv3CpU5G1vdGFmbJCR7
Oj3fL1Z1b8CDEBOY0MIn5RU7lbTZhSP76qL1uu7MFjlKylhWaqoQDpkT8cw5WFbbQSET+eFyFyZl
+KPQggBcXBWDnjDadZkCwwoNLL4W7NH2AvE3B+s/24ep7lPznIj5VNRsf3167l8sNj5D3E7/sSNn
q7S/A17cAPZCLKPeWYC+b1PNtV894IAAF1PjrlXSPhP6vhjPg/NrzfLAwjX8g9CXpK0bxTwbd6Ag
p/sBhsBDVbnDQnq5flda6MKdnp85lxr270SHPg3dJm5FQAfuwYCirApXAEPdBW5t2OhOZfas/aiA
Q6nOC39qSe+9+pOu/VIJQiQRcO3LsGlSKHh9kH2rB3bqCtkoHzXTKnYWkdOj8FHB09IXbZHYSDbw
jzc1nuzIHAye+8dRAELOLNsXW9RD656cXniwLA/bBNZgayh4NM3OT7GtQAK1ucEwITizWMej8DYF
ZGeSqdAytg/KNm3U0+IIJ7WzMURfSy1CQKqq8n+eC6P4HAJTFxSIvIPjFqW9oyywfDtnwu7d8BAW
BeMs/vVQI8Zuwnz16PRZMCIOvntDuI8ikUy7jKfeRkfEYg1gNjpzfI5CpeAkc98RMOdXHvLve8dn
ZnLUeui3O9o3WrMOQwsOi0hjYx1IVd/FYlYg1Ks+XcMTwEbe9dMzmfLRgeIXgACFHTXnR2zw/V+Q
TSPvHKF3OxVq1s3YIbLKPgZklQ0AOmZk++kDtf/I4c6lP4TLj4MmPl1jsov98Yy8bRHiqSaakOUb
IE8EW512QrA1tcWlbYNGwYGkOEfOMubE6/+O8X/DEjMow8IoPK6mAYVRbWkb0xYx6OIpc1FLgNjS
gcpNHA8j9Ml1o2vXRcZvaYmww6IcEjYZXJyn/9ZQ+fwptks4mbuQFqZwB6fEjGZFG4samJoQjnC6
HL8HxFsuysFv/6mx+jkUc+UZD5sV64HDA6kA6qZ5jRy/DoPmAgtYGKJZGFwCLz33MD8IlJ9j8Tpg
N/Oa9B3TnoPDX28UEWhZWg+pvkWaVrpLexqThyJGuA0QLzi8dW/K+rmLwbmtyPV8G5hxJ8VyxAT9
VhdTgIcR6LZL0IPwVYQsdXGjqby6z20/0B58mchrcEsadjs0/Reo1njPmPo0L6e35/6B/G8WxBVY
+IKqIV4l+7MYI6ceaJuwPR2jcaFvKOPeMhq1rIZ+RB0UfTo4M9VHJvLubozd/MwbzD7epzM0ZK6P
En3ot+2PH42Nljpimrad4TSrBv3VTUSyBPOjLs5E6y+H4nIzKFzy2Q5z+27IldJUpW+tCLZ262nT
lR+kYM0amCGnV3U+1Aenj0uU8w6uZyaTHayqSM1R5LprbDNgpbgbaOXvJkjMZYNyf464VHKrKs2/
DvUw/qfyxn/f04VH7FN+JMCaBwEWtyG3KyCUbIe0qn/G3Bxr/rU1V0GRT06b+FxH/qtVpaoh5mcF
Be6j1kWR44E0aRw5+JUrKEredYNFwipEyOvM6d4P3fPcZtoul7qHVANtn8O9gjQJB6sSWysjpKJR
GsUb4VfVD0jn0KaiMA/fTn/HAzGD/4bEpITCChk+63owJBxTFXTRpG9RJ+7cTedZZbWGaxU+9X7T
bzGgA1Ud4Wj32FmivCXm5rc49WF9yl88c5McbyqT60q3sIAgIebA7h8VsJwd+d5c9wXCEVGLQKkv
mkbIlaaXRJAw4/Q5qhE+TPLS/Hl6IfYznc91mMtl3J2zSsYR4GnSMGVzlBBb6cnuGvP3dKX74JFP
j3K8l0Dq0NCjEMkxxT1mf4aIbyAm5kt/a2q44OmDb67CutvJUSVnttLxSABv2LNEb9J5uoj7I5lD
0ytiXbyjy2usjNhCzLzW2pWnRercO+Z47Uh5dcOFUOtYM6t2f6yQrnzV+irZldLP35OBlhpQTXMt
JVDjupNIxMN5W0PhtV613rEI+0rH3DMHVAqtZem2AI8R/T2XCX2xBhaILJyhYHHbNAb3f9ekVaWn
tW666704XvlN1C6LsZEXZkRX9PSH/WoJ6CAIzi94R+LN/lAAm4fQtmW2y3GuudCnvFgXoWVcnR7l
ONWyXQejIsu3qRkCedofRQUN4gZ5U+66IRW3NTUe+rp6Dx/HjiAeDO47MAe1Oj3oF1NzeaDxSMOJ
dnZK2h+0VGY6wPopyZs7hIctK78akcH957uLIqc+Sxhw/vnfg6mhnYZ69hhXvAHSYBmFFYACTTM3
eRLEZxLkz0br/uVl89rWAejpJMnEvv0ZOQC50EhtqVjrroRk5Svnpye18EYEyXDPTkeknvxeQdky
bAQUUpA4EWKvrussew/5MZ7B+LBOdaohCNJjQbhIMTd90sh+Yefkbmos8FJsns0hrJONjpHCtR3p
Il46Wo+OmQF3RSzawWVXUgjW/+Dgi1TgMKT2y0DJAU9RYg8ssfk9tFDoXr4pgMc/iiBr37PS5jcC
h2iXNX7dz0BsO4xYE2q1Ap3GcuWbtB2uAIdqH5OelehslqW10fVOVkvKCR0cZa8qf9Yo02KrBAYI
sxRQi9MirJV507jw1ekaBPEvt6tMCDm5GB7wQaN2VgR1May8xoCSqfJxyhdDXNvajYKVpC+zItFD
iEK6DFYxXGZtaSbK/CmpzT0pzBn/FLMFML2XAHL94KbVzsYFzVzWSvc+ctEipQ7Yvbhzcm8wFplK
MmrirorzVZfGMF7zSWRQ+obJdrBqxWGCxhlmtevMmxU+IPx5r/iTZOeqmF+kwWx6l8BGo5aa3mEC
lw5mx7bI650D4w5hXZAWN4kYf0eZLB9KfyY1YwdwGRktWAwk3vkpVokLpN1u0MAIV5WhEqxd7OLK
Iv5fTU3orZucmoPU1XDNAxByZpmaVygvWGcugS+OLuVk3ZzFmFDL+tSb+CuDD2EdDmY01ru8r0se
ZDWgb6cw1qcDxBdhFu8/4NZIXAFuOFSt6BCyd8ahSXdVC8119Ht/NU4dzACJnv+/D8UNKjBDoxpB
23z/5EpL9PDTBRHdn9zLzJHOysCX/goFonF5eqgvYi3SXR5FeRrQc/zbHypAkC7s7DTbzba1C0Fr
g9tD1vlNp01VuKhV4D+pchifTg/71WJ+vrbAyVAROYy26GQgR+QG+Q5TenMlhCjocQRiOUVeeCYZ
Oc42KeiSbrI96ESD4tifoYGHlz84fr4rhEihS0OtCsMwueytVlugXhufCfFfPNkdHWEYHbtaqko8
lfcHxFoh7TEXp4xMh29dVVTDk7iPVii/UjRDg/5NS5NwXZMUXFuWiNYWXegzF/XRc5ByAQrebFOP
Gg09y/3fINpxCKhj8VljWEuKjtadwD/yW6YZ0T3OfsEm4ycuoHkk62oUw5nL9GhX8WxnBXiesYFp
Rs+f/68TabmxRD8kM6ikG80PNvFvjC2LDTye+ApR+uHS75vizHc+njJ3HVpetBvJr6nm7Y+ZT7kf
cw+aO9lMxXUFsbhalHqGqlReNMg69zDpmza7c6u6WXtTcw7pehSFmDO5AwvP6DM6a3/83klD6ATC
3FlBrVajbQ238WSfy0I/kd5/3+rkuMAEaWqxmeETHJ6cniI5wLDM3lGJbQwMXyJuZ+ixPnZaMm1n
3QwtXeEb7f+wGghuCIRIZFR0nue4KBWJ+hZqnvOufA3xgiKrYSohflmYsIk6u8MdudefUB3xbtpC
tHddHgRrBc2kwQID+mlBt3RmEgV/XMT2fwb5RPXaabJ4ZbDbxLKpxjhcIdRjXELJLpGOTDvoMFJ0
07tm9mYItzyA9z1U4fRToFcDXBapY7zTEAN78YIakkRg+lgPDqF3ZYxdo18YToeUTc6FLBd644/4
5gWFYaP4bncVeCFY52tlhfatiGTXL0BJlvdFkZnWos5z/ZvW2vz6IcZBQdpW9nNIIgsFMjbuMstn
y6UJ/wpMWzyz2zbwzy5810LOLxgyvE1OR71P6cH9jwdPiDBrgjjlqnUPjuX/snce2ZEj25adSq3X
t7egRaM6AFwLajLIDhZVQBq0nskfQw2gplfb8/9GBDMruH61q/lEJujugMHs3nP3niLGi+tpMl6X
JgxBDzuYurEyGBYbMdXasRMhvKiOZXIdIrkZdoyNMmZaCzZ5fodGGytHpCU3uhD2Y6VRg8V7Yxu3
85gMZ5XvpN8XuSu+ebBIGHPr/vZnG8yvUPgzDc5y9Fou//svjzPIAHXMKsZedWaqGfftmUxtigxm
vI0cPkgLyiNMwF7QBho+sMbvQ1W5j5e0fDXSCdkaDbUyDCw7Co1N3lXtsYva7i2PU3Hn9sJs9lOh
wYhQdUxIXuI206ETU7f4RYn1ezP0AxCTPHTSd6bBkTr3wGOh5l6mCodu1N4sDESJ1wDbCL0ltKdw
PeXYLlbKiL4Ea3kIjq3UCobBXEBE5hqzV5r4at5W71B9RBNkpZD31jhM84YItKGuRje0Zt8WlZly
04WZewel6y+euAOAK4y7/A622GT6STOWVxy58HIRAu89jNXLM7qO+aA5iQz9uGqjU591kErcWTAg
ojTZcmMnPVDlKKvEtodmPa2AsKSnSOmnMIhdsyhhJAAWwW7Xuz+sslfvkq7NsxVOZOctj8rlJBlI
1NbgskSLq26k+9wYytVkdvMz9UnwAoNisuJl82B/GlnP4BsLcHhTZNIZyH6VmXvo8hKdaAuoyUu1
BQIQCA722Fk8AjjR8cVbRtfcmqWs0B62Ddx3Jp/N92wEI8yXX2LrYrgUQHydJOl9jXZPOckOfgIm
E21KNxUs4CUY66JUA+y/o3icBbHiIFbUqA7SupvmU14vzLovJDFepwof4Nk1M5HeMJwcpi9WFZqC
9Fjdj0zMqolob3VA0g5MgzQq022/DNOAHqeYrfw0xhd3KclMgTOVNrHwyyYqH1KG/qBjZyIzgjTK
lJauOVUJr5R5v6FhD2uD80AIh2i2qk/b6ronZ1j4R1Qzxk4xorW5Rw7Qrq0qQ1+2hGF7lELECvO5
KeLQiSbqnsOcmnlt1IdgDueBHYasNTc9z+GESwQShjpuyi6rIVb1ab8d9bbq0LE01bDCGR5LrJJi
zhBlKvknZQbrOBupmTIpppkAbkbVOlFFa94NvTVqn4aAdQCvljJlOIXQBacK3ghQIBBbpFOSCbCP
IiO/n3sH+japT/4bAh3xSqd8vOzo2hXKvjfSWQA/nrUjtr3YCKSoobcaSGe1HVSk+jaaBlHsik5W
2XHATp9cNaNuk/6noLFTeyxSTK4WdeKnYkH9Eof2GXWhxZetj3irXA3iuQfR2T7xOdH4iblgvQoH
qz5DzBQ/+64ikz2j0YXUNMkQ7kKehqfRAEOyn0o1irbEiN2tGrNH8rnp89ZXOh1KdqaPvbaexikp
zkZl5YnfqmEr12o5QEWgCwllIC0dae/qOO71LbE0UGShEjF4u4w8QyT8W5ALJX+4VzpT9W5DcCCb
qNH5W2v80D9cRoo7H4/vAPZNS6LbQekkfkUKpM+0lWEtq2LKZvy3YbjrgItcjBh2/j6oNfF8LY4X
JZBzw7I1opddaS5/R1C5UXIwE/4+aGeIKz0MfvG73iamvrmcH2sS25V1E+GWHffQMdGV4taMAqD/
TCMB6EDqLXIxA/00FvuyUGr5gx1y5vZaUFX3C6/Zn3WfoSCDKxgRvoaJ48Ivm5OXsHUgnDFB7FbM
ui9TsnF6NXrCkUGsQBuc1mJ96jAh6iHqU7/IO+PU480gZdIsiRHUlCpQJxrgeziQ65aytvqZHlgH
BDXxoF1xegihcCEncbTlnoCPSwo9rLvH2Sirn05b6C+s5TCrSj0ynrJ0rt8qLL14p0SS8s3qNiKN
uansV35cxJpVZ0+89LB23IsqwePC/qLXQMMlw4eRZ7YaxHxIdvGdqq70pAGFaiTxVCFMSuzYo1CQ
4wIzGUUP8BNTYlXBLPhLmpfKqmOOEItx7+ZwUSUd5mAZHX1TRpzJ/LpRwgettNqC3olIH5j+Nh9m
q0MzRUEj0VYdyKJnqm6RE2iTm12Nk+SLMN1aPTa66I6Q27S7tCisVztM+KcAjPRHxyq6yFdLkbyx
cBjSb11YA56uU0HY2OFinIUcISCE8wzsiZ0kxZXOqUAaknF2qWBAFaKwEZb21pppSwRGqGCFbHQl
FtC0rM7xxj4xUAZUnNKLkkUWBZlUno0kdx9pCcuY6au6BxJepva202OTt0Olaj/jFAGj3yhZ8l4m
UyfhDKT5wejypYeTVCqQT6Zy1AIAVtNz0w7xyD66rNN1WeCLAhIBfwrARQ/bq0B5eMPWDqBY5VrR
j0Ukeb/P6IZDnijrSEPF6OYw/hcxVCtWmjn22eLwYLXFApFM0eP+pUYy9I4FdomA2WfKJp0TkI4M
q897fcDgCOsOoI+nybx7NI2oe6mgl1y7oxrX297ojYjXj63dG3g7bolGVdeFjAnacvuyI8w5dq+L
UCsVj7H+7MpyxLtV611BF0KyouKH7VOiPwmmBORDqOcm1RUQt0oVRTiV6AWkA7DdAzsThfJZMiQf
4PokBC7KptEGanyRwjWsDP2B1dtIoXctGiQK2ggcPju9uLapWevABubF2LQz+mleMv3IcmEl+meR
dbl2lUd6iN5bGWkMGBOQvJaRsgdWdd4yU5saQAW7TL3FrOQiHoDI9EDlQ7EPieMgF1DhluQeXa3Q
uStYakcfNMk4P4/s+6H8T5A0Nn0LK2hNMbft6bfQE9wghuKVP85QNkbQld2GDQdPUwnRZN676aKE
LwYVqGWXxWpVvhWKBYFPWeqlXyMysV4bR2ANsXCX3upGrUEvGlsz3/acAJ/ovAIcnki4i70FZvQx
RlpFtc21XU9BEgs435nKFzdRcxBn4MrGFYALjQma0uGfiDkI+fSLUnkzqXM8nvOwqcyf/H698pyF
pJhAbCaKsq9ZZqJV5zZafoxZNIA2d5p+K+tmlFthprLZ6/kUR1guss56rOC2HoGXW/eJavT6mua/
+hMgxNwEloy6LOi4FdtAjswXrVvsxhm+SyyhNJH6GntBogPbpxWrrS6a34eBVfkFEEvVB/DzJ1xe
utaVhN1Lg6KaK+rnQV20ibSjMkwnTc0X+3pGMDxtcLo3U2AnzhihRayEEtCtmlIWLm3GP95l42ef
zjZWVdcpX6SKF3I3y4ZNRGMR3fTo9eiMKBhSvuudhRdGRyKarY05z6IjRI7klBZUMwM15CQHHQAa
E4oN6qp+2JfMDVHMVK4J6o7s1B27fRy6eKx3HGNA+fCJ5UdVKfa5mgch1oLR/BmDTWeP/lCoyOBM
FqJr0wRDuQFjN9irNuosHQ9v035yUlbuIfd0ryzRokQvxkCFa4wyIltkIchWhYFgKR/QdIdiafnK
OUysm6RXjimHVVaMGcls4Azowz3+je3NhJGDM4esRbUBdNOcraZWpvWkcmILdKnNrTchgQ0PVaZW
R0k+A0oB7tiO+f5F01ZqmssT1iuKnEptaW9TXPP2HmwARX441OoqagUp9hJE99qIFsXwun5Iimd2
YOnKmdrSZ4wM6HBlMsABLeligXajmneaNs+8c9Nmifx2ILnnxRruuaiWZUNSwtWxtUJV41hhoa72
4lkuCWhG4BAbBtzGZqO0mrLB8x0px6pk0ckwOCrHDKPjtXR7JLtGE6XS6y8dTk47irACZO3py2Qq
0w9FnbMCputEfrdsWrcJylZcDN6OMEPfHGwFoT3tgGNv8R9wcdJR4qEyxves1YyfyKzd29kc1XSX
Cws4nojTlNOcDH8oiNWvZCqMxBs7xXwdgFIasF4Rba5ZbicCmalUu3PVhGZz1qppeTfDumz2zTzC
+g6HC6EZYC7ncV44P0e9sYbVMLs4ijp5Ifppzmzc5cWU6nwqItyrsZ1nUOfmvFieBgvYPToQtpZg
6OtxDEa8Hue8ZzqWGfiRF59K/GjykyItk61lF/EPwYb9zQ6jpfPBfCpMsAO24qnXBU3CFKvNJ3Rc
qd93E+0D5oza8URqdh62oUtXY0MpdPpZw3pjY1pM5hs0NLcKSrDTZlBZkQsG/cLYSr2cqOt9DgQt
9suK5hSrFo4DvltOnHzYpHkt08yJOa5oyCMvur8PFwI5/C5cjwXWw9644sBozxyQqU3w3jHseybg
HWYZNC0CMUR1tPNpPIL/KZmzAJmLHvIMEdQWO3AHEuoicEp136hyhkOrDxTcdRH3D8l4YTYalrQZ
Qw4zudZTes6XngxdFub/mLuKzKTxTQNgzlaoQ6GvtJFWLZPLEmgjRL3kuq2ay3fQmOojzld6J7wQ
+1fMPvOZ/jGS8VTO4c6AS1Cz4arEGeJJNPuGXg7PTP4MNFumqTwp2SzBr5HHJpgy6fgO46QN9+6y
kLycbRxHtbTrzyWErbrSGNsUXr/gDA7cUZb3oBebQ6xTmPJKC0qYl9d5cwewt2citutmSpnCVZCz
m2lrXgH7QFsrxxLpoEqeYDtoExtfurnGgcEzOKihDmrfl80MxdHolfQ0L6rxOjW2PXhapvLqBEwV
G7i1OEV69mS2o9dbQ/e8LCUcgtK2JUdJ7E6HCWgIIjjdoO7Rs6NSvCm22vuLKuJhgdB+dHXMbJiP
0QoEZmrbV2FsWGe828uHbLGEYjqX9c84z6yPsWbb7Ll8Xy+gDFv4t4mtvTJGmmlcMp5SLyxz/Qdl
vOguG+A+cTpPtMEb2Pi3oOfc6ppB8IhprlKwuFQk0m2WHpDeq04xJgUfMfIpuMYQKClo9Jiu+ooX
MvuBtjhaRJrBGKIEaDe61XQ/milNfn5T/LoUt36rIpG70KhNkv0n10LX9vcqUpWx0hVRV3ywInl9
9FNKZw3zdXHuCwTLLt5ZpdiV6VuW3Kqw6r65+tfyLPmd367+pYalFpWr2HZffHCIOrHvrN7LO+OE
zfOG5RGTE9LAyg66zZ8v+7Uo/fWqX5oPhe5UCOW5aq4zZbOY77Aw90I03tRA1zVX1mz4fTt800C/
/Fv/9E1f/qpf6nUZbkgz7EY+K0Q32+b7fQSik/O1dzBhQ+ObZsPlh/u/X44K4e+XA6iqKFnIh7Qm
Lchz6c/KT2FnwBfjbxpjf/5gtKh/v9Io+jHUhqH4mMRwRQuBK+m+5QwcamBqdWvNvf/z7/fnu4ab
9/cLVgXg9xZ7zUeV0QPn2yyS6z9f4Wsn7Pc75G9pIBNzlwB3WnxQV/Mu82vifZy+ucbf6reXe580
DlFZgiukA3//FDTjTZp8avFR7NqNEdgbsfvvGTZgXny5xJcvalpas3MmrfggR75q5EesfhdQ+zJH
8PdLfGnwMEKowlHiU3Du5S1baF7r5Y/YLlfL3r2Jrhc//n95en/53i53xy/Pkcm0bAvjv/iInX5j
YArvqTlujLLY5NG2EE9MbX3zKP3j/fbLFb80zrRmbhs744oWY0Rhs47a7xq+//iw/nKFL6swtWP2
A1QuPxShrA1h7Cwo0GG4Ry725xv7b33Qr7fElxU3ZOo3sfu5+GCaYkci1J9t7GNmHvTNCWC3r6hI
uovPRv0WGPWPywQJLZgzlwSx+eV+p1C/VDSDiw/7jiDHXj4m+xKrg5dtjDsKMlmQnoDf383H2ftO
m/SPC/4vl/7yHNCUma0EIf3H4L720wPnv2jEjKx/KNFZ5PHG0F/+/DX/4/rxywW/PBUEmwt9buzi
Q/LEud0jQ/2+Al78z1f55x/zl8t8eRQWmrm2BF/GEqKub6+vwW4HII2+ucw/3v6/XOXL7c+MRqz3
lMo+pI1Bgh1tkqz//EG+uzW+3P7abAgi9HxdFczcbkVhSL3wKfwJm9Z381X/uOz+8mm+PADCyNAq
qVyrdHx7bb7YLyCT5Tdfmfq3qzgW0Ud6/IQgkYtZX36ZeikjQ1sm9UPDIHhN6AtQ7WBFDLSnOBnj
S7a27qITzUgdzVKBfHlYsrcUM0DQTwaZ9bSVkyddywiaUgy+Sj6OZGjlfPeHXu7Ev20TLiGMC3Hq
Ms3w+2pq1zR+sRWy/0u3gM/RTFuv7XP04N5QQ93F5Rlxy3cvjb99OV92fdrv15Sp7BJVZ8MgHZyl
8csSXs3OT6JitMy/U4r9Nen5tw/4ywb3y6NIZBuukGQfJF+Tc7LPbpyddU3MzaYAccQRFgGY/pTf
LLP/+Pz/ctEvP3+oDq1JmoIt0Xy3uE9V5cMe+/Mz849r2i+X+PJUzmWbSlquvJQIoXlCvREk4ER3
nTXDs0FRvehf3fj9z9fU/na3oJuH7HLJrxCmYOj+919O1/rqwpYM38gXk5GhEDFlvo0KLfZpfiRJ
0NU6v+SlwORVfQoghYkVrDqD3to36uTqII/NpTi46NffMuZISOGM+ogM2NK6ak8myEbm47g0WXoR
R568BFa8QVscJsV1GNKhxlDkXx/q/zsv/3VBnv1Jefkff2ku/9df1sv//avp8vIP/qfoUtf+zVgV
sSl+bAJfJCT+9V+eS03/N2iJi2OSyV+MhzqL+n95Lk3cmKRoTcb+bXIJLH//+h9t2Xfx//yXqf6b
gi1pQG4BbiXULf8dy6UGvum39esSgAC1xFUYsyGXDAvt9ztymPQoSyjqU0bVMmOVNLm7Vqfa3uQ9
Kb2oZcVcLJsAQa8GTS8coo7R1TDWYIJisFAHhFX2Bnr9S61Q11LdJfaXEqExjdidu0DCgd4BcZoP
4vWtgoion7fSKfM7W6j2ikwZ5ZSh2dcXK7mTiktXAAgcLSq2wW0vAswH7R5z0saSy/QQOmLwaEN6
eshADv8vy3fHxKKynE6+m5NsnrukIi/UVYsnbZoMsW1SYEcIsh1k9VwZ7U0UEuYZmHvD1dFeMVH2
aGYjr4kwVo4qqZ0Aa0XmKYSFV4rdrcnbVhtLr2KKv2N7kEQm/cp1ozX8OJJKdTQeUD5/jHEB9dcu
7qP8Um7Kx5OmFO11Ooh6Y0SRvS7UptwXUaHv6Afp66LVs62FiOTAPUI3VMFlIetcbDP49FutTIRf
KHF/mLKegF9mx/HagWS/KTkrkmDUFwHJUbP8oanTR9UhfaQs43JPXsE6JKIKGa3uKdMTS9vRp5Y+
/f+jYSb9z653tp2bLCjlh71BB9CPpUqAwFGP0AtNTNTakZTWvE9lCNmff3+8imAdkuZwPmu2gjBI
7aHye8idlHaK6aHOjA+XuuCBTmK5dpvG2i94Fbfh4r6aYrkqGGHydSPT1kMhWGqXrL6KiwYJyMTr
cjQ5IlpLqa/wtFxP+pDBkCxfoBNsJwaouQ3oEVMLQpiBrtz2J7Do9ND7nZ4TcAgFxq2hTMagyjKT
Ah+qrrpLDhSZX9y4FqsKgH1pgFpTF5e6+ygpr8bifo7S7jp13OYFS+fiJ1Gdb2kPhIeIlho1UGKM
3uwMG6WzXlPVoKbGKLcqjhFtVSOvEeyQHJn4HU1yP2McMVJjHePS3EeFfLJwCnGz8Vs03mAs27RR
HyhIpR6ZSK/GWeXNdePJyNgOYJSuZJHMvkqReBvqsl4pZl5cFVPSA+IiOcRjAeuPx9NoHztS5nA0
7VLZ58lYH5JJNA9D3/k5YbOQR2uTdUbh8+0fmgYDtA2YssZYBR9a2wzNyDdIUcipDWfbFolz1eqR
/p4y2OcJUow+WY92ZShM2BrKmKpeDNaaiBHdX1UhaNaaNe4SvI/2CkUdPXFlCmQ30irJ7My7IEYR
ffBMtBgATin5kpu8a0eDm4RKYEYKRuLqSttNmehlUORCZUpIGwLFTJVAC3MLycwiH4xSJd5HWvdH
V0XpNbuammg26QnCWkDDh7jxyc9Pm2zp7dTrSVF5BBKna25uQh9af7fA7fWsUpQXM1H6Q0PrhJyo
23Zpv88ZzQjUcg43Bo7y0K8dGE5Dn5t7wl345Ra8rPk4buJoir1cwdcRD2m31+1X26rtwzDUCjmc
LPG1uZlOTdNfejkAhLBMVEXQq03mudYibhKNFmQ3pKxEsVbQDp7CVUO304rnZ0LkxLc0Z+NmMtxF
tJaygowVs8+35LsHnwix8CV5qWAypb2eSbZtinSKjkkr0lWG5W7PprMCJRap5rmssH9R1RXoDczw
uqzis62xOJhK6TuJJc5p7P6sODpxhEr8IclezMbST4SMQBNo1kmxR3Pb2vHluoN5FA4NQF/Q3MGi
UtDgHvr+irZPeUzNAmEL6RSfVM45hTEduG5bn8Gd5g+qPTg4WRw6uSGMvklU475xwfjXjV5tdCRF
CGlMe0OPkGDMkhnZamCQw/Z6w0YemxsrI9XdzkeI0CYwjjH+Gc2Qr/OwfW2l9DQEM7Ror6Qrn+lH
7eJlwZBir6LG3k9kU9LC8lV3WBm9zSts9lMX3gJnBkng0h+I7/T0TiwbW0Fo82cnx5AYT29o53xy
riM32ZtkkuqBKQBZ3oSpqINOo55pqmkUVCrjCv2Ax7ZjgiPBCTI8jUZ8Z+aun6fzjdE33Xs5a7mX
X2rAVOK9yc2vIxu6HQpAQxQ+nVlUnr3xoaTVLlXfhtQ5YTkhnxl3TFvHdRLf2LGuXLllqR8rJiF9
hQ516bNhJHU7yZFAVJnvZmt076vI+SglbUHaVg9hNY0bs3YH/thRUj8atWkzm/VwGFQsHOlASrZT
4p/cYc7WNVMK72ZdJedLmmqlTSMV+O5S6ecJEk8GXpcgzZrwipY1IQjCImOLwFfqtXqYi+6kxSE9
ULUdo23eMdWn1TRjPQirkkDRGAc2Bf/bqnSiV2Fl6qPlJLyr6tTuNkYjCfSgfEtOEymhvVuE9Wmh
FvqjS/XtxBz4W2zP+IPa1HprMj322j7mznFH9gz6JOi/dpq5xZ7J6nwJj+yqBrlUDVv1fiwK9zzb
SnXVtimrRZxdVG+WVWyyStbcc5f/ztKiz5KOOfkia9f0riT4xzjQdZaaPzTRzjtam+QpnGEfgyJ4
LvuWEehoSrbY3Hg4kSHeNA2IFEILQdaJ5R3qv00MToNcPcW9PMZqmwA2FMa61J27MqQaHzrdW0hz
AB1m3HoS3SChpEXdIYGo0TC5UC4tS74NQ+yeuLFeSlMJPX4imhmMBiq7OsmhgTamcxvL3j6Dr1Z9
dBvWdlCSc+jEz1iGu91ULc+FKbf51KF+aHowts1s+uOcKfcjE0q7DlDZlpJVsS7MqXySsjTJnS7Y
/7q4Pon/nIECqbBb+tE5YltzV+gXI7+yG7FOZk4X3EHRqiq65RgRrt6MCzKm3qquUpcBpC5jgIhl
YrQ8Aw+En+LNSE1UNZ0s8yfLNb3MBEOv0yu059dkCMvngunMtVE50z4EC5YzljQjAY1dUi56G217
6mkrOi43WWfH66aV2aY3W2BHrrvsEF0kmx7j1KNUcTaaHW+vYZTOKhnIw7V1JTcu1uWENCCM9VMb
kYus2VgGo2GeRDen3tLFD8xWBLZmUjiTL3U83OUZQXrFXjOQdZ230YqeV3iNkS7Z8SOaHkH/OFDR
hq5iZb5flsx86snJyhnkn5uX6btTM84CnKLYtxjtrslvX1lzKfg1L0NoMune0iUcz0uLRNgfFTVf
mZVToKWLrrtmyJ5sYZgPuizVK+uS+mUQYGLnrHQe6pLyPudbPLqRdpGAKrVXDnYW9MNMtIX0eeab
UHWBpoqgG8LpIwsd5VA7Yg1om7hVnJMbDOV7hNyl00iWmm61trPxjEIycNFnWdboa4m1LR1uUrOq
bu1p2RnZ/KOMop3V6zG7AWPVwl9NCmOvpc6PZJqeRoStjamcR9tkczdFG8UaLrEuGl40vmMv6t3N
hc+0lWH8mFomqVpG1hD93oz9wr5NtozVuXsVD5cTjmEwYg3aLEt/6+B0ycx8De1iVRfvSm8Hbawc
sgJ3B39M80LB7qUvw12co8kbHCIqjvzpzPjIU3LmhN9ZBJ0zQLTRJ8h7KoZpozvdHkvwKi6jFeOd
dzBreF2oll8tKpNx2i3DBPJzGHMrKCd72td9bx6rrFfIklrpoRXUcS5iO1Z4uqSXPviQYikSESGx
2I7bk4gsgo+KdWVHyrNoef9OUtN8w9D4tVjr+JOSfEtN64m4KMEwlVVsoVvOC5nEqVpu5FITvjXn
63yqcR3lO7tKVliHXPbxbRSQLMxPdufoWwwqFy8pVGyE7Nk1yaR1H0ELHpkUiFz1WQXc/tKZxjmi
ue2l46RtQhln3EfFuMlVPbolKKO8jnOTr5csdVep0n/qsahXiABDr42jPqAfjUUptMerOXPnlZtC
jXEXU7+S0jjrTn8zQSgmRJWqr3aSV2s2UPFnmiQ2oTolfSuW9jwVUDtqm0dnGJ6UIi0eXLVaj0aK
iB58YsGwIZYiXgpoa0Ed+nZWTWf65R9WgX1Y15vuzMwgsnaFYiaSOvxepvUZq4x0zENJdLsy14hy
7NNc5pRvGHw3D6YW6vukKD/DvrWDZcbJ7urRQ6s1hyQ0SpqhCAXTudvLPtdXajU3m0TNTlqXRq9M
2VSx141tSibBaBBFY7wgn4eRD0B6ezCHJmHAflnhlhpXbD1hjWZ5fDW19nq0pSU8XntyOzfGtjWZ
g7SX8W6emxvLqUjIFfVNacZ3zPT9sPPuRC8aDVmUvJkxurAoAsch3K1Iyz2vtxgwVJ/sG97AJ2dg
v8BylBAVYJTfaTsrUHAXM7uZH8OWnZtbF/RuBpXljzmhp7AhuCKN0notyP89N4YK9g6rgi6CFAI3
J/huVdYzAX7zUcoO+zQbYwMya27GVLwad9vw/tnkuLr80TUGr3fKgzFGD0NdCyy58w3JlTfLCNH3
QoffWAPzzCVJyd78dMzstRvH1q8m3b5PMk1ZmybbaNIoaz10dTRdJS+2RE5HxYIiV2f5NZbXqzAk
qaR1+lYVr4MUjPYMa3M0rG2iVeiYxbVZWPlrNw3Eg7Q03znGyG5W8PxR7USDsQzZFtesfk/IjSyI
2ThrS+8OTdtxc9l4IetKVXx6ie990ux0u5YHJsHTs7Hk0woDAj7soncOo9bcuRnHGjNsyZzbBOLG
0N06g2NtM7fIOepAmapTlbXVXa51IR9oPtqrwahOyWwPAZ9nryf1Y2+UxNHE0GypbpSZn3CoOwAo
4GjFHp+J2IW8u8rj6bnMIzieg0Rz30jjwTFVks+t2rL90sSOqGL7ZJBrP8LxoiHYEnDqbNnddP18
cXEuQJCMIYbXmOScUHMVVW4htfg6qaLIq9WkDMaYLUdnFsOx5DX/6c4y3c4d4VdLSeajNK2H2i6q
ra7l8o3po+aeQRRtVS8JDSypW/sB4t7aRuIczFoofdywceCGPYk0TQ9Zc3RslFaR/ajzFD0x5thX
zXZwtSXmZ6r1yi5zcuYgSrteCzTfxPAom8TSEd4QK+UWOXm/sSfeOuUYV3vFmcs1vjHE6HKhuhlX
YlMLC2bdXI2hF+aiuuWnGYI2d7F/hknsK7MF5avvawiBxWDfIYxl7tsy4psxLfVbWiJJEzRikttu
mDhK9VPBLzNfAkJmf60PdXXNadw5lsgvPcXt7MMk4tnPweD4mdP3/gzq06unlg1IWS6BiKtoVSzN
vCZOnuycRCj3g6Mmp5DMFMMGdnYiFBXMBMd8J0zbfYoONuaScviBm3E4dhPiDEMplR2aqrskx6ve
c7dEzNityZsSEJ9GltZiMsZDX2hXWkPq2xzGCX0pE+d8hcTZg6pexjfDrqsNWxhyV1gzt/DQ0ts+
Xn7oijyhv63PSl45K73MuDMje9qMZad+YCYPQQClvP5BikgU0kXISEDJBPDdlE9vjJQsQInq6C6H
Ux1EM7oT5F7hswqtO0WVSA1B42x9OdPXmyoWciWxn1IjbCnBTOFon0nG64GWRc9aguLZS+wBTkad
nFxhE8AyiR54ZQlHN+zzdgu2Y2CFqvjejOTZkBVI0lB5C01S5Bpfz4H9JuJDY0leuyq/i8P5WYzN
0QUwTeFokEE9ENGPLOInhb6AlbV1tqKgWDhTRct+lo69HexUeXIyQVub2LGD3VoY0w6KV4TUxCEd
GqYRKVIG8YJppnLRDYqzZTwpf9J7Nd4WiVT5xtTl0HBzH8IuTq6yyJhuCXDrT06uXDV1ZSC+rUIW
5npBWOm0+PI6hhhXAnU4syOhdhyVZeAuXOazCTmaM10R35RlLffKgvHGiIS+jl3Uo2zPUoMHovuk
ShMGCxbzvUF2bxv2jHSlYjxYqS42Sq2pV7NkOoVtKGa+ta5nTCFMU3hfFeVPrHJOEMJ7YZBlzIhg
uLG5aRYtXfVzJDyKiiN7tVbsGpWD71/V6QuZvPY1ERW0DUOmoNz/w9x560iSpfv9VS7Wj0HECQ3c
vUaIFFWVpWU7ge4SoeWJE8oidgB6dOjwBUiHLg2CFh9mwPfgL3uH5O4QBO56BNppdFdWVWYc8f2l
wSAJg6jj3NtTs5bPYU4j2JXp+/SlOkkIMhgWJr+zTiVfXlZW2PtEv9DdvjxURpJeySURO6Ul6XET
1bzrmEPenELG1Whuh6HJhst6XrlGWfatoxvXZeZWj51NtOnW5cAn3QzVZFdcPBfXPCUo2i+FlXB8
LlK/QCO3nPIqX2/alYskQ6jYi26sUUKmgJ/WcFDaNq503kJSJi4fcD19p47wI1lB5rKcG26jB7Xe
vxmVqR1Q9rOalloP+swAl5CJdEgvV31IDKoTmFb2bRF2iDISrzHVdxfp3EaoTyx0ucVm3FlLe1x6
ue3acvFoMqXAAtt9y02vv/PzEVh6vKEH8KRv3c3scxNe9TS2emTpFlALqn3BvtWp2KnVM480s2Nm
39WTNuI/0V8ZzC7oWo+la0dsN4SHeXn7BYYRSV97aGo35d7apx+UekS5Vzm7JrP8YNsGEcxs4S+0
hV2Mk3Wv252Jorr8ohDTj8Hcm2cYIlw+ekOm9mZMQW8uP4ymSHbJXN43STrFQ5XML84gyutR9LQn
FxVJXBNSZ8fI3shajubOuj9XgJn1BWW1VFXyRhJi/dWLFufVQJf4JvCCOSLYMknsqDkw1nfTtTMa
9Lfrbn1hDkO4efaVlw0QXoXSsPSsDygYaXZI11drsGmn15svY5C7ttKTfd65FSJLEWTa7O1n4OhD
XjT95YK0KZ667GJ1V3VaZT0fTIXuEydjc1n67pvrzMmHAOWck+3JANt+JLg8P5+gpnE51zRvep0R
VAU4gSxdzpI1N3a9jbeK+28TWlNu3Q4JCk7u03nWRaZmN+uVVHo5AN4W3TtjMO5k0x0xpOcbW86w
GqY8jave7uRE83ZQuaULEFcqo4/XbsrqHw7+BolruUC8rTBCCzqSUs/hm2/uGZCeUnTA5DztE3qF
mQrmBHHf1lfdhzP61jUSXq28wEdaqDjxcu/NgC3sUL8Y7fviD74Xkb6d/yCMY7kQkgL2iYznFfBa
MNOXzfi80nYO/biQ4o6xlGflRXdxZ1JgXWQXnmbiltzwxKrsii0DrI080Cud0eShcbFkWoup73Ei
EtJnj/41pu36YW7K7HKrcypINR+PnpYlejQlE7J/zYK9wSxk7FS7urc+pSWxp6fZpd6NuCudwjkS
WBHZWeGlgZZbd2rTyNi2vnUkeYGobBcbUlTseO5+dT9Gi6VEEitY2PqJHLt+UUDKNy51CxgGuYyb
qnF33UiuGQ6Cfu+vdIwlm+YTAMN+5medR49nmqFSn7/Nvn030uxL0xnV8uk6p/e+BgMFwxXYtBKF
WrOV1CIXXEYwcu0SWDLBDYzddS72my3j0m0uhtKqLqaSSc9IDUy9xRRR5rjGBkbA/SLgOaoahLsY
Ew/5bH9v9A6YWwa7q/vv0ySX73jdi+ucAm9UDBvu9RXLcew0LDkxk1IYYF9Xd7Vab2sbB1hBDzx2
a+d6HYc5ttqZVTy3FQ3SmtibZFYdZVo8Md888ZCS2GLgDjT1t0wkseulj8rbjkPj3zXZbH4BemEa
16ieivSeFUQ3eRUrreaxQAX/6K2Le0Qp+ZHO61mt5gF3z2ZxaK2c3yrRsdu73XWx2J/Wxmnca8q8
odEmsBxCqmlOAIBOsNzUwcoTrTx7+wbq3sTG0qw826WKWm4jiMS1JnJUBmVTGvZBDW2Eb436Xmtz
kNy394M2HhOZwBX5DM1s9ybluXRvdzg+KRl3i702b3kd9K3n3I71rMKa8J0dhvuUBJ60DDEm4CNZ
XOfV11qHPUZPvlRZaRzitfaqDyumU8FxjnfbzZt7rLrVK7RbE21caBmRm5Nc8q+tG0IIu3eMQ3Zs
ek3+plfFN6B5NLctehCebo51gm40orOdYyVy2JOyaftD0jJHj1vv03vaPvoG6L+F7wWJvffB8VfF
eZeEpLvFFTU7xI7SYA/6vsQDhuUHyynF6fwJjm6ahfaAA2Hsq3vUqjlP20bLuwYsOVcJITVa1YZa
jv7ES85mh67Zd1LKyJ2cPN7S6Sip1wraunyfLPeJqu0L8mKDSisPqWkDZ2cl6F7lVbu+Hp492KG4
5M3mylz0RNtRxrn22q1rkUrAgrDqGwyvE6M2Nbm1XCn1xlKzDd78TdKj/GCYo/48F4TupmPvRoIB
4b6pz4WvJYY7oPMitrCYXkE1ZvcELuAugaK6Q3mtruTYuhG69EPftv6OWkQjrMgtBO3ZuupRclGM
6j7xo6X2taNHK8jD6BVyx3OnxsAs1oW6LWvdYQLoIvY9M9Jnp7xMnX4k4UG8c1qKfV/MnO8DZCbe
ZuAPv032Y58/mJ6GM7m2d5ozlFddRjrDTOvbya/kc7qd0TfRRdLpP4UxHrE/cdbXefc0ZN5p1KUZ
eeikcLBHotMiQpgCgi6/K8cx42HxorpIjWuR6u17Yyv0465ZhYQjVFHjMguOtNAfeRiba8/J7cuE
Zsao04fAqtP7hB/8goAMIjvPHBYZxyJCr0xI0NZYl3hAMw7pAgcHzoi+YbXqLueXOZ7aRbMueqef
D127RgQSNI+MhTK0ZvGojdheO7u9bTBwxJQ8F0HqSzt0maYChSsizTAXW8Ny9ngmYLu1ihmRGoKS
RMKMpC3vjhL5GDTNmNxhj1uCTmv0/QDmWzrah6bSml+taGE2izEoit4/iWbAduZRpQVH3C8nq4fH
ddb5eVTqc5zHMmgbZnRZMRK07auXLivHPkisqEx5i+k3XIbsgjq+eJRJPEkji2og47DtxSOmTYJN
i8ueDp6cS/y83aVb4Vxz6Lcx9jQzLPQuysr5qqfAPMgN9tNkkDR91+lReCqJXIenrMQGwdQAyq2Z
8jhOFbOZuvMnp7zANHqVT/112jv5Kac8Bla0Likw70E9sPRABLvW0wRZckhnrbhJMIJG7lAA3Wrl
ACqKmP6CzIDHzWc8WvL1rYaySFmhR96hG2+mKo4qZJBdNOG5qP3AP1N/FiTNYZYETxhZoT7WYmSc
XtLxvvS3jjvrZK+4IhYQU5GMMdEL7hbgglqIZHS/2QCCl4bEoFiPzk42VrDwyABsm2GWc/vw2sF6
8NqsgL1euoM1tk4wp01z6WUKm05ujNyQJBlqmo4pZcWqp/dgv6OBubWrjdu+8YdLtXJeZfZSRX5e
bXyIUvcit7HGH7Q8Wwe/cN7m81ZX0uwcOK6CsHDgG+tG1EerxcKM5Du9JOb7AmuRtm8yAMrSeyNj
YOOnyjhZCwTyCPTjPmeXLVfNPM1bxf6fHeiF+ZDC5R1Zw3Hp98VY3bu4RMvpEoAtzMT6aPYs8Ry6
13C6iMoejOuICoizKKqT7VUC88Rr1YEne/2DZoOi5HgaTA1fqw36OxLXIeZiNwvQ1V7sR6Lsncm4
Hhdv3rXT1IbCn19YrhezPj6QPtVjW8YXiB+dLPpYX6eonpoYCzKjQhl3YtyTZXte/pDB2IWasVx3
ZW2CJHCOyY5delNkx9eCoKEmzDXjh1sYZLTBtHiQg6nO84kUmIiduMdO22z85NnY7wkGYKw858yY
R8YB4AXtIiMMEv65BtuHIEyqvcFF87i1loGOU+HTVnWbP7XuUgZKG/OY0CedoIrydmJY3pd4cK6z
McFX1ZEPbMMOASvxHurYg2Ztn7ULXekakYaGoni8s7zsRqi+JSeA3Dy0N2skRqUfnAQsqgRWPBmz
+EbeM8KQ1iiPrA2rvMqxT9+aiBnCMS/IIugVN/+W00yX8sfiEKDB1nizNbmINEhRzm3rafQgTro8
q145LRAJNLgnmGT8fTaUb62EE+z6rIornVZSV+qfXmOtN7nbiTBfpGJ4zPGfGyoFsnadl61WLOAK
Xg8svV/1/TkbeyhcRnDzzWREaRHM+2IIqKwPmrP/xZzJ7e1Jvwd4Dku2RcSgxiFx+4h+SN4OL/9g
bomHvt275uof0lxeGJ3bx165bFGaK5xlEhE7UGVC7Di42Ku/GkczFzDTc4TJiQnK6/yomhgdB/Kc
8/O+WHzik9plVhnOBFqw1ebkQejmyZ0bMCguRFJmD6hQ7L3oRbNxp55OiFl3tg6y34p710D7KJnq
mG68+7LyXpH4ziEd7y6wLjcMA7qmsLmyDrl/yyeh3XQMCm+mIRm0x2Tw9spqUNxYxAhcz+A9ZxYG
Ul5FLoqv7stkrINCrBfvME26DLV1tY5loYfKzkD+Fz9vzwTwE0z4pUwh8YXBsVaYq4ozbKNXvlY9
+KT3XxJE0oe24zErKWIliiQn6yPNgC+qy5QJn3zrkLzGW2fJb9y8v9+0/LnTMIETG+oNzm1uufci
r81gA/RDTi7zKDX8h1QQCZeOk4OJ1q9h2LLtsrF6dE46nxeGzUz/cg2vmAKDTsYXo83qWEfS7Ye2
6RVPjcFZtp+yLC12ENHKv649UO+tN691iD5AaveulTTYr3JXdwpAxuDU8/FGxnNhb0TEtQ4Vj5mt
A0K7PcmjWPz8bO9RwEuEg6DN9tEf1iZqM5kdSWTVnxZiNIqIOd/2aUpBoBvYbeLd21XJSsfCvsNW
2t6VXp1ecJNEeuabZwxLZ1+aDCMljSVBrpd4BBdsUYs3/8hQWpG2YtWxewY2DTQGxK1yIdKs6dqW
bhVK3bhxW4yKqHA60gL0qPWTh7IjUGhczDGUlkiPbpYOpwy1Y+zm/gqOVLygjcsikhxekI8xEpy9
9u1Qp3fUg7IrwTqQ2h0j7vrUZU9ghcgDS/PW2CRzK6g30wwcn1QFzymIpJSdvq8N+3Fts1udbWgZ
57uCBy6kffwCS/+1vogb0j2ezvjnTroGsY2e4YfmrFc70qawVqoRjqvN/ad1WYbIXbTroRRsCg4Q
g4LJg0Af7pGZQWdu8QLcHrRVenZM33jlWX1+poanzYxaw7w3tDUGFiVdXa8eywa5gm63D1SBbLDE
rh9T0pSco6OAuBjZB85wALO6l7S3STrENJoGNNJMFjT77fqj1vDGd+7qh72t0tCk8ZIhsb+akLhH
DYlCWLjRIM4U291zn8R4p3TF6dNoV0bN6q7EzyU1pbuOpAJyLArScvzloSG7DAIfpNlblthN9D5U
2YSwT4DUd1oKBz5ZPktqRvFkKD10zRxb3WYSB5kvF9xL+ssO5/Z+KNvxinfEJXi0qt9SlQmky513
1eTc+Ppufu0ccz4UFvkwWiLbSE9nZILbsO1h67zrXPafE2QCKUvpHE9Lnt9qkxSBzf4cw7/HhIe8
143iTpelUYNs66BN/ryrp/PN1eJWBkCTXPn6/A3iVR7QdHJ8upoZaebkR6SipYd5c8Dmtzm9VeCx
ZGYYdlSqc75Qa+nXiOkG8kK65VFya7ngez3lZm5HBAZpN+XqtRynTZ/cbpo1xBhv82gQA5kw7lQ+
ctNfwhXoOBDAOrcDPtq7vsVXu3ZchZg+rB/poM+XFGVsJ79bSOVxVJXHPibvo+V0XI18Ve0LQymo
/7q4o+9VXJJxOJ86VJp0c6FvceDO3THynH4IQb7WO5LDx4+Z5kbm5yLxHknxveUauXkReVjE2Cz5
CEmqp3Ajr2s2UIVaImyromqt9EiDFIaugAONNH76aBqIXyIDq/lqO5H137rEWymsQhT8JabeZlND
yhVk/oqGr7MtlLxZthiX0pQt96NOnoYxm/LduJ5VHxUPqRfk5N7clqLd7jrRAMsQEMdlrF1SPwvT
PuskAb0OalqTngW4gK3WSc4uHLSrQx93ZufuWM9DpPztvbPXcW9vGWl9tYtmw8q5tVnkuBxsJ43U
5t2KptplLvNKrjb/TjmGjBC+6pfWAD8WW3kzmcfSmg2faRI9CPbvIfLL5TIxxWPX+tVNNnMdWqfy
aiYw6M6YhNoV5L/RdHCDgcYMCtLEyOIR/UVd0vm0JNDUdYuDWaTAZkRC++xG7hu2TONkjPkx1RDo
J55xSxDwepjaNqb65KbxgN7d6ZVqYYrAVGz65GyM06XOp0Mo0PfWT1+KAQo7y2QEEnCVOP6RdJNY
p0kRSgsgo1icMTAmrdwpTkcyiBwzvehTNYXugiF/AiG63OQ5b2zMLKrchBc71WxepgWZIgkK3jNn
NH0Tct11rZ6cm+DcnZEt3LRTrkBkIukX05La930GARq0WWJ8l26Bq2Pqkul5KzT3NDdJQYcSBRHZ
OvpONJChFA+mrsKRy22GZGRIroyqG1+5gN2ZXq+AgJfUO1CfNe1LJpegqFviFhgaPp06L2MA7vvW
tBZG4PUmE/pnawuYaO2oF9OVXrQ7HtLrvptCOQ+o+KwrrR0eksb+QcQvR3RjMTcO1PHtMi/Rdkuh
dU+OgBsmKWi7LotzmmNfDkh162Jf1HbcTQuHNiJ7R0TKI7HvezW4EAPmaA7hsDXm90Eb6rdl5GaX
pblFUIOYLIa86mjO9DuS1bLcto1xo+ZBzZEPAnnlzEDPAcN9+paRlhRYVes8l7O9BcQMV0cQk5Y7
qMl9mDPRncebOtPFU11WXOyzHLEPjZKXbuZbkAtGsiPzULwBs97rcEEXbsXyYEDQPmplE4FX5a3/
VHc8JmW71heiw2O02KSBJdR2vWY5RZg1nPEnCor2ZNVr8Zgjl4WWIOqjET3vR2d8JzzhvfO5/eJT
L25E0rypSlknxpX1RRciOSChHu5WxD97iYrlh8OMcFRd39/oemfdoq4Xl8IpiivJm3vDrgx3MZD3
DMS5kF3SzEe3KMsf4+CjCEaZ4S9GwWcAyoeDT101YssIaF3rOK2H6NxZGA+D4R/a0ddfisX9Qe7R
eDnN4M0O4UzHhTf8urBXP7IX664e03I+lH1Ftj/p7KTJtNkD6zWEJaXqMHf0I+roq7Kevxp7Pm5j
Ol6u+kQ4rT0V66FS3TDFhJZ+zg0KsLwin8IS665N1BDZav3Q3GmMZd61d/45S4NslpwTy6ju3GkF
W9Q9Y0dCgQ9i3a/OQ9HywjOig7DSWxkJt3xBqml/G62yXKNOFpEcPfXhssH1Aa0EklGa5QXID0gl
N6PbE38grruZi6thFj/alELgYbY80oDkp6zyZDwAQNW7VlPuAxMYuS5OOu3agncnz7tv1OkyimvE
02Sep0ddvT61Gg1uPvBQ6Nv2URBfcg0eZF2aTD5IC1j7a7G9uRmCTMhjn3ZY0Ty4RslRICtnpVTI
+ZYp37+qzzSHtzTNU105BBikmAa2iQ+1KZGeUMbD/p1Pn61jEm0j6megU0DgrdHFDmQPKZZaUY6Y
yUg0maltu1nqqO7rrCKXq7WBXxZTNjFqsfpgTpMNoW7ATuF9olEVmEyMzpGkzMuxF+isuoTyGUe3
k0uj7K09MTblMWeQBf0wkuNaW0WoDDXter+4tLHZXIt29MAniMQsZ3cvG88NOx1Yxy7LMnCKzLtN
ttFAZuJqe1bEBgW1JY+i4srReP544WXIKrkuVIdtw1Q3Eyyz17lwfUcDiBJSgPW6oOrc+4z1qkcv
FdsklwZVarxMiZPuTeGj5p1BGdm39fQbmAkXI2fQH2rI+zClOiaUjiPvK+lf+CRDh02+nMjAeM+3
ToWQkcUVZKgfGvi54gK1BE1MDfOOSaPxgXi4LcbJtYXTUr7b1fzc5czBKi2RyfXqiFluOYyapWIS
1o1dK9dHejLW5yXTblBgn0Mg/CeVk+xYtPrb5G8cW9wNwlw/i4d7Mrib5rqprAffx748u9SIcgJK
IozUBrZuPzlcIvZNk+jx1Lf3gmP6bpal3NealcRGphcHUmiIH/OQQkUl7pcn0XR3qA3ssABBRDV7
ZmBX0Fi9WH2Sc8trKIR47ivrsf/5cDSNfW+i2iCGbd3oX+CmJgQIlF+ANAaj52nhtso50gc91HTG
13xwIl+ZbkA27Ugm4pQfuGuz7ZA084wTy+Is64HzWq0/9HPuhb5TNmgN6VjINM0+2ENhX2Uke8Ze
ir0Axe2omCUHs3lHP+Me8tJ6S2vSGGisOelkKF4rpRlh1lsJ74tY9zVnz45OZSNsbW40yEIYy0lV
im0kuIvZl1G6YatSEzOuI/UgK4zudha9eSM9lPZmukLda+TuPSMbnw/D1C1XXL0GGDXtfZuyMzZE
ch8P9U0ne+46a1GDK53vWmm97P3NnK8cWazXP01s/5Cd76b7bB7G4fNzPH3v/vn8pe/ElCI1zcZ/
+ee/+9spp2xAtl/jH//X332R/Jef/4zCOvo+fv+7v4BlkU15pz6H9f5Tquqv3+D3//mv/cd/+vz5
Ko9r9/nnP723qhnPr0bhQPO3rjwKeH6+FfwCv7/+7193/b3m63779T//9uu//+3Xf/vbr//lt7/8
199+/U+//eW///aX/8hf/69X+au5z/8F1ZhBJTVtcefipnNd2/wpxz//yf/FcvF104JOsxoh/ueO
4N/NfZb7i3BxG+sWrdLiXFn8v819/BPuUDx4zjnsWyfx6h8x9/3MI/8/zl2XvmyC4XVKBCgZdEhN
/4NzV6GSd/Shd4JOcPQqh4C/baRotyzKaE5GtUvtyrxmpaG1AHmPzWVzI5P8w0iHrn90S3OM+sZS
J5JjLfw2UyjG9AeJWa8gCyxPm5IHVPM3LKw5KoFFi5FQ1Q0BY14OLyVehWCoPGDPzu3O6YEruPFQ
zNz7sSOSr5v0SHfq9gtiFzlbO2Hoq8/9IZrannCgQFqUwj12JJsBEDMbNdRK7jyvsm7WnmmQmGkZ
FXp2q2nUwHo4lgKUpBPMRJHvSVzLdj46Uybkwr23emVF//g6eWxr/vzx0f/XLZC/+1/7z/b8EMo/
vtT/h6tIuLhR/9+u2P/x7/7Db3/5b2dL7K//5g8r5+dX/m6LtX/xLXrVWRw073iUOv6vlYMt9myP
9jzWD11/9tlC/fvKMcQvwnRomTdYa6ZunztX5V9tsXyRfzZUewZDKsWClvGPrJy/99fTleOf16V1
rnpi5Rrm+d//JiElzbxscYfqzS4M/dEuUxNtdFVdEA0KjWdx3HMmcgf9m7fp9q/r8p8aVQPLNqP8
859wGPCyf7Nez2cSNJePR5h7JcVsfzCH234NY1pNz+0AeBOrEqprj7gpebWA3Hwe9Ym0MEQtFdQT
o0VYZ4pgta4Yf5DguZ7xGdOmrVhHaa45eWHsOzXa4nlxCjxWAgr9Y8pXehWdROokp1m8BFhkYcdS
EXG765QS3V56pnMiJ216TRCXcNaiYrZPpbmZTiy9cr1JU96GUCDpl3vNVTMocVV651uUX55Mobv4
BLylZJAe+Fno3dC6ziaPjqmk+hpzXSZvroLtB8DNhQ6Y6/JuC5xi5bYMbdw0uUvRCh+xROq7DJrz
mvk0IwUGsYh4HwZqeexz17lQ/rsP2DZHBE12zZ3IW/3HDMn11mY5TPeSdYN9j07KPFnI/NLnM/+F
Sn9BvavtBgzMS8jUwR3VMgr7oTXU8qzB/GQ4Z+SGWjWbzG7nZ9aAfaxXRA0C1tWpSvc1QMt9Vw2J
t2t16REK7eoEgGewGj0PFfw6d8uUQktm9b3CC2fs87bWTnmxlLjOxNkCVzV2CmErW+emnYeZmOdt
6IzDQpORz9SAcoJ7JG1Sce02Z0edLXAjhFIqa77rcm/MHjO3/iGGuaMbYLa9Ocr9WYKQbc63rmwR
ZhTIgiYElwpVkWujggrBG2vE/dvoETqpLVXJHLnBqpam0ZsIHurylSS3CWHBWBNHvxqrF+l+wq2p
GQ2ro21BwSqvAlFJMC4FcRN1zv3/Uh8rQLJ+7p7yYXLekgxYKZgc3rc9BdojZQgKhQI+iypDwu3L
uj8svMbRT630crNWvnfmFp8KuvSzVuVGnl6VcevOpJ19SgARK4LgAmyEgySymbWIprgT8NcmtUho
dTggEmGlCjXEz4MpqeerYSlR/604bkvgIAcZL4n5+Ydek2McUrI0vKots83AlHP3kUpg3whRdHfR
1Gv/ZHWi73fT5hKu65i2rQI02rN7nJu52deWjVNxWc1k70L+4Xen9QWH2YrABRwzIUjPgkW6J8tc
ftSYDe/nlIJ2/JT1cJ17dvts6ZPTxxu58VfagCEhpDV3uG9tA/F8Vc4jLet9Wu8ndLG7IkOaBI2/
uHtjYLzFWLJsV35dbhRObw2RURWFUggcXOmSN7fx/RiSzNnEiEhZfVCLfCqhRwekpXUJ5Upg6CSb
IDMRge423SZfvsNn/OgNeXdXlClnaa4N26lHzPFGTqD9rU397QW9B1EAiyjUrQ2V9VCUqrneagKN
o3WY/S/i5X18uwtSzQsjrRhKvbnvXwkV93SygB332qigudd1YRETPOjfW4yfz6Xaqu/W5GdlnCSj
kWAL0ZDtM8LqJRrJar1tLdJPQ8/X5BiTAl1qQbUZqEgILYXzkqJJDe4rGRI235gyESeFXeq7Unl9
m0dOZZceZjcsxlbc6yLvviwWy0Npp+7wmZuYknClbeMJlBLNtum1eKxMG01z2NHHhZKqTIUIBsXj
HpKiMTDiCElUgZbBee3wmORk7Xf2QGEUEllPP6VDZ9sk/XBjuQCh6wGR7Y50UBD1LVnWWE8XShyI
n/Q77lD6klp5uvO2rZtDD9umu+CmkdozH3IOhjDQ6RiWjpk5cUfEPcrSFg9XBHFklO7BbddGjjut
c3lfdkQTe84PB9lrtsdWmLvlLunycsZmg9WMrUigvj6D3Rsul1NLAHoTyQFFWSjayZCHrBGZVYXK
HJiDrAXaQvDSpjmK69Kiw5FHfnJWf98RcWiA/21ACigg8YTuHKKndQwjbrkCJ40L0bB+1lIWeD6i
jFCWJrjpoS8UaqvNq332uKwvCn24Qii5zSg1fRMoXS+kdB7T2rA8k2KuARkau2rjIgt0kNaFRITX
02MylZl4I4W+RhE1IH+LjLEfkhcjn+UX1tfkeaZNGoGANgExigXiHWpg7gPgNYUNF53PfiKzkrMO
au+V3S752mgFvRoLvf4qsM8di3FEGpRqmtXEsvD689xsu0x1XaJO3lpiY8oGE3gmhWW+d/I+e2Fm
HC+IkBm/K1QViOhoePhhgZwSPV4v/MLUV6xpnGwdQpOUNPIuclrO8UCbbMwH/dDpT2weQxauYgLD
IYEerUFJki71D5k8Di7ylZhDCEcZNvTECDzKOy6x/WEAqRbTI1Xbbdzv/ZLg3LfdjvqVGqvthpem
3d5lwtkfSEsRl5CXtf5xZmUfFWxhEZocdGWwET9PPUJbIUJexUhwh0nXRbj5lf6OyAwJqN8R0+kP
OenCG890AO7LL6rWbtEx2WB44dBFy5rtuirL7BBjCDd+xGLLnT173jOxD+cKub6qCZwFrHdjLgt4
sJbWrKdwkAQjRFWRzujDGzm9zSZ9HkFbrBkZhdJC1Vj11EGEo5G5jAd2Oe38Wjp0MmhE6IEFjuZM
EoRbVbvUa+GnoS/t0MQ1+bGwrKF2NgWc47B+gtpqfBEuKaazQK+UomDSL0DNu3zjyy2y5K+tpWwY
hARBVCENptBWi2aWU8AWfGa7zFa/9LPFT0I15NxB2JAnFeFr7ZxTPQ0V41FXkOUqNLYvrjgbCoBa
O3/vwdE751hMlvYC1NP87GbGM4JQDoW0s1jIgi2y9/sDDUAtOkS/ZEd3hvXspClFhiWucpY18ua1
X/cbTHC3o7KguVtQCwN+S1lWRzm3kxVTrkko+rrZagtHk4hqt25c5yLX8/6AAUYjlVygLsdxoRz2
JY8dd5idc5NYkSRXDf8Z9+GoGdi71mQiklLLeFInm3KGQ2pj/g/lthQv89zlbL4w61OwECXyoUbN
NYiu3iaaROZsxYZP88JZvrJYt4UxeXfTtGgHY9PJHfEXm/0jRWER6o5mX0tKDb/5dTafrNFh7y6q
crvm0Vy+0aidCWSbuGECgvy1C2+a3Bt9cXDJ2muafyINWm7nzdbG3YKR5YXf3HEZPNPpEbt7SbTM
6pJMY+BxpEti9azvrds2HFG++QmIiLUnsRKjCItlrNntsjq9WZpC++YV3vCO2ZbiXHqq/CHomyF9
Xbgt3CbJnJ0Idi5f+LTUsZvsHMbB6wmeoYyw+2pySnkiAWL7iMoNNMciwbYnfpxo7H0rXTTdvVR2
BNzvLyBNXvE2g5EALP5P6s6cR3Il2++fiBfcg3RkZCYzKytr7drbIXrlvu80Z5znPl+QJU94eMYA
gix9mYGWj6Efu6+uqjm96AYg4Mm8M11RUcE4ESfO+S9dpo2HfnDAWEyK0s8QngoKbKmKqQ7YNgjf
eGy24i6NizY4FNCVsboBAsYOTcb0ySFVsTZpwhFDbyOm+Luk+pxgYIc4AfCzDDecjSAmgqkHWCJK
A+CLYVEwpak32hdDF8wgCsIYKoJm4vFmoJ/S7F1AJzeR0yifLT1QzueehHEzNJp4ztnwN00am7fo
FzvHXmQWxeY4AcAGNoIuzTgoTXOsXAGsoPYD4wv8wF4c3v3wykpa9xMQZ+NtxllDC4iCtbJXUX8P
dxYpeLIRymTmezQzKu3Imy25iMdxuXoc4I37DBgE0hvR7PTUUjkcNm2fq5EXK1pW7fhRstAKky7A
Npldv9GiNAPT5Ae56w2ttfzzqkNdxCWhaw9UlrubvFKyyCOTYQ9GblFfN3YCSrLEz2AfwyFmQrmV
Xwvajc/QlugbzeD9QTgBMz8WLVZc+zho7ALsrKZ8ytHtRoMnChAKiJHVCXcNv4+mkQPXAKKOHdp3
FOsNipGkiShCxNl8bas25Cc/ikjy5roKMESJ+8a6wBU9zLd+XDnHoY6rmzSYlBqj02DBNiRQK7eJ
ngx042bL/QjsPHpGJy54oCTp4gUxNVh4gjOAl1YqfgbjQYwvUd+w3I5WGO+dWUemvDf1FsfzeVTf
5qFL3lrqwCc4AcyHWtd8+LGKX9z0MxPaJkXBfGjAoXJsqkwC0033jVYkvsKMSwdRIiBnu6FOxcFs
emtBFwxLKbVUe1IQrauqXaPP1LmFldf21kBWAGkN2O8QHisF0QFy5MxzjQ4VEIVjFcqb0qDwEen4
4OiK0dKmVaoeJXeklaAGknQ8FENlN9tqXI4pOMHchqGpqME5hz3r60IEyCACcMNBZA2U5y6D24pm
TQoWBIl+oIUCaPrWp90XbsipLJ5Z9hRPNIzp08CzNErAc0Potzyu9AKyT8+NOAoNe5eA1AVGnNrP
Dbs2HJ9p4oMB+fPlpx8WX7+pLf20mPtvsMAkVMTxzJ8Wmf77v/zr//yn//A//ut//G9/+8+va7N/
/OjXKpNm2r9RS6GGZFlYaauLQfrX+iyl4N8cqkTYwn7RXhPUWv53fdb4zcYUThcuJpcqDiav6rPG
b0hSMqJw9MXFGTG3L+Vwqsm/F3godH+tLn+n4LNSXlu0wklkqYGh54Zyh7oSmJ7cpE71XK0f8Jij
C6OeMtOmiYgEAdA5fhgAaHmIi+n653UmimXf1pm+/GIaObZOAuCSGK4k32xEicnEjPahDCdvIZi2
pvkQuYmnpJRVVaRDeUqAWJ37ywr2EcUuFMgKmvKbzEB937UO8Ht2jdmcm6O918MMz/fJo+hyluv9
mxhhrzTueLKXxwGC7VC81zLrMGXcTwGctjS5L8r3oYP5WJVdkFd6TWbfx1PPGwylKteCYw+Zzs6h
UM5INwAUph4BC9Z079UWUKJRAYH3h/j9ksKrTXqF5hwP/egdN1h37GuHF0QKjqt8QfPugRzoaJDM
p1H0MUSIIQmDW5v6TW934GR7XODi2rkaUhjr9BS+vAra+ojAHf1RZTgmtQNfr0fAQfcRwtDtneKb
O4yePSVp9rhOwCdQzmPd3LXU4D17Ti5y1f8Asas+UixATzn+yBsm3idozB3EUD7DXaUCPr8dJ8QR
uObCvToqe30G92gbD6pZ3Iy4FwBqRDa7RVi/A/y5yWteOX6yE4ZLJxjGkEib87K0d1yQF5qjeHYB
hSuaALJ1X+vcP96mS9nxVVly2S4k4qpNndZkr7rLdnpVDa1IzLtRQ2iMYt0Od8BTaJEHVBPAa+t2
8rt4Y9jDtR5H9wi0nkI3BZzKdZCKq6jvd21Y3i1kqQrv1s0cNc/o4z3iw7UDdXEI6cMBUN+hjeKF
Wr+zIvNMZPrt3NIq9xfVNwQvqe9c5XZ1A5vgEQDYJlyAdrF9YVj1s+Z3O2PwEd4fT1Web5WBvGb5
OjO7GJrxru7ddDtqHdTHZYM7hhfh4wm1pd+mqXVIQlx6wvQtNchNklrQAAaMBJXs7YCHJSCMDAZQ
t+OJ85Li54jSAOJaUJKM4Na1s5tMFxdxOl4jrXINYOIOojRK8coJDslDCKqVOvNDXwd7jdfU5Gc3
gjCBo3SV6Li+m+NlH3wwhYktT3YTlMyVWzR1k12lsUO0dg/K7ujk3Tkb9CKc/V/4S6Mo+p0Pqxmu
gdCubhr2uj/UJzWud4PdPNQqqlK2ex+rqeekDjz5+rlWc2zetPE6GkHStGhLDxQ66uKND/sUjTkf
J3Pszg51FV9EjuupBRVk2rd6qV+WwMiGvLyxfeXenBbchUDUqjp2BvIVCxlA0cZTXVVHa7QOpujx
fcSXHsmJVgweCP8nn5OwQXAgNEA3EW+xmE4R4NbSLg5+Wp/7QCXRTnjvh+kFqGf8J8OYVtXwWDuU
hjuDGY1eEWWe3XSoNbV7d+KKDjisRgS7QSz0QKkqXMGQBmDpyxvU988mq7sswcpj8EoMJ57gFCrw
0GpBvuFBd50Z3S5ueDyK8YTnDKRGlL614TJz9UOO+xwv0wyfNVrOvCfhKV2F1SPZ8TU5xFmRfHQd
gVAdbOdRgCv5gJQFtRPlnI9wDlbxDNWQmxi9nA3IgSPIuEPsK78QzDe4Q/8hkjXL0DBvwrNEW6vP
xsKmXReVzQNrfdmhC6IF1iGYLMC7+VlVTddUks8cP7hNhX9TgmBFteGAgxAsIZaRzVHmxYsZk4qZ
YIDDtDgrZ3s/G1gbmeaZb5sgt5IrhyLzWHRPjZMfdcN4qPzowxIlvF0PAcd+bfeAoRffbwcNol9p
zX/vbzTwvDAc1dQNmyv6m9PKTPUKJ6K5fQhjAXqC3zno3VKiXKTp4l+cjdr3zkbDxASNIDItOkff
/rZeqQ2k7rhKzaI9t7JiLza0UNuSWjVIFuTZxHCaaPbXdbEdc0xXOx7J+IBQkkdC5ecXu72OZ5rK
yx9M21mzVPRkl4Tj1UFt0KkSxtAPD5iv4idXHRXarOlyqVa5fYGOybYsyTJS8wAM7qwvyzPePlvK
lfuMeOKBTEUKI5fWuGpTbtTRPyeRvijC6hlU0E2cB6eKE1Xv8TNxu0uqVDeW7t5EVv1kzsEJBCmY
FrBuSv/Gbvkz86l7yiAMGcr4WKfGBZ3ofRAHHxeCU49OtTN1l2pq7Ywk+tRwa+v2eN3E/BJSoMzJ
76hZw0cPphqFRbBsjj894n0zbiq/BJhh3CJRVeMcyTmvK/coLlyMRngq02z4xUdedszr+88gBaTg
iA03jUdLaMuOe7WsJcqbURiyrLZinIHWOiA8+vXTLcn1Ojf8A0jxNVX84z//3f9dMv/Df/VvMJHn
nHm1gxfkx7d4i7/87Uub+J/+/pf/8ve//vu///Vfv/znf3qd0H8Z4msyr+j0eNFYp2lBWm4I12D0
r9m84vyGPgQSwi5NYMjUPCD+SOc19Tdhqjr0V6AYuomi/B9NY5NsXjeEyo9qLggOFJhX6fvP0nnL
/VaF3yI3sixyahziXQpL+vo+jVNj9FPElbrMD9p7rOrdL2jCwu7um1aosJOm0lbqF1uN8+htF2WJ
/gZSrT7VRzWotKzdDW7Qxs7HERNA39+HNE6Lj0NmuF13OfpO/jz7VKEorUMuvIjysb6r2lqQdkMR
ven13nkP9DZ9r+Z++ORA8gCkSa/dPXYYJaYbC/ojxZy0DqZNqc3jZ7dFS5TuLS01KsMUwHZm4ozR
RWKCWcOAWOvu+45zZEPJhRrVPFC/o9lYJLcqOmxHOCLGpzlQe3L/GiuqHYuiJdeTWsbGfQGrKHnW
tTrqroLC1Xjam9lbK8wqGzQXVfF6G7bD9DnMNR0o/MJugyYXvgW9Dh/RVIP+wlEGMCW22zJfP0n0
Aa1ztBn7i2GO0UPSbCfByA+f2fl2grGGDVATJNRagWBqj3oHXvIiKo24QM+h1I3Q0wqBN5NN+xW8
XRoMT+gFmMlpwhaL3mZrmI8pV8cC8QsSY1uXBY53gD1LYKU0zsIjIgRKewkduGrfU+aMxTMS7lQw
YZUpCPdMNbmkVSxyE5XdA3Lj9QeFCYNta6bAWSPxoJVGMlGIs6gFTUDh0YKi9frRF0EX7ZF5LpFk
8ocI2TotuHLtJjEp9hrIjCqQp++VQc+yrTHbVbItW7WYr/Atn+5JJH1KGeOomh8E+Y3JpUchkR4q
ZsOk4yEVFSvTZxQD65iekoDu1Bzirsmp+SPai2Vs28WsuaUxsNqG3TUfnUpLkeBXvYWbxsOvUhdi
IDLfmu3FWpe/1HTK8y/0D3uD6i6twUZN3Ecggi2tegpEx4GuIR1zRQTmphs6B7FdnW8GJAi47EHX
2BRbK8RBBXCP4nwcMAIeNynEZUG9JuymXW12YsnUW1+cTACS0HDE7N74wTC/QyYJVd9J9XkODRCj
Fu58RLF3Ls3xraPo4xutVsW7Bixzu3HsIIo2faL7uOV1KjnYhFqOte2D3kfc2cX9FLkB9zGqWhRw
HB3d260ZMAZY9OY5VrL8thcpmlpu0SSf4kqHbl5kQ/QeeVDzbgJcgKV2X49nad/AD6kbF6Ktw2V9
aCIRzGesTvl5iGtq/REYlgdMCLNH/qW4KdWoDj3Rd+0d6HDjInPjHLVGzaDbrce53m4a2iX5djTp
bu/K2O1fENxBvGPWaloXOJsB2Uc7S/+sobbyJjcIbjoppo6aVYLoAHaVQ/sUTJhmbK2mteI9lt5Y
1SIgll4pwC3w8Y3b5gM9d/UanTlb7KbKhNPep7N9NYx0Y0BKJKp6bDJ4wlskiNqtXwv/HWLsseLV
cVdPm8qEYq1rGdLbCtJBUGLQ1uBbqIAHtjrFu3Nb5NOLSvP5vTEuAr+G1plXs9miWps7M2QXNQmp
sFGyzR5o7pbmprHy1DkGQd1eJBTv36cu7A40SwTVc1Utslt+KSDgtM6RW4FnKa51dYyedN8BaxLQ
EDw1pbDfF1MVg0yu+Dnq4uH02HRueIUBQ3lXuUlYbdAgyR8CfLDfCN80ML+rUn0DWwYQrYjabiPo
YD5H2eDMwM8o7Z4jqVRB5Gsa6yWNWxEf/UrxRwC+fnbbwRpBtjPIAFUYlYOhfFmp1aVAWwjBazVV
rlAsTDDPgTd/lxnRiJhWEdV3XV5SMAytNjvxdxf1LlLC2dnyq1Ccq11NibdOXNXZpSWy5KWrnfyR
6nStbbOmx2PXHWwVQlWQVoOHYnF0QSMEJyIbxZZ2G9gF1RvaVRkIBJTm3ytGikan2UDT2wlfqT8k
dRZPF6ITCjXOOk4/jRm8bWC0vn+FPhJn6RxNPeqJ3XBjBBTAEalh1iCKihjzxDAMP+hiYVoMSd/W
m7Cc8g7uU0VjfA46uBf4TAoBNcZ3DnrjwwWdhhjDogxNoc96aXcvRqwEKQojzZxsg0B1q23Ba/Xe
NKhHIGAaoMeklL1+2SBEzLvdQWx5E5MKPMD/Rp0mT/0I97/Q+Oj6gGloK+bhcwAGAXtAFWgE2o/N
I0pRyTERDZrx0EzQyogTbDiyodLxgmyM7GVIrQmMhVmgENtZJdtqjOzuseYz9fQOeTtt2klgoYja
jvOhRQXkAEWPgpnpxw6uhAnNxD14aAuhSa3JAi8uaxczUq2xnI3l0F6Cq1vD8c2RJTovJgWOZ0xj
6AY4aIRFtqkgMmBWln+dG1FWbBts3pUdSgaUQBJFHc7aPDHcnWtwpEPRpqO9UYwcrwOr5DYcQXHy
AuUUbbY0Wyc0qhxjOJV2i7yUMzujxe+dmU+T5Wh8ICRPJQ1ZDXvYzX1qP4uGd2gKw/azZtcIIuVa
6mNoY/r8Y5zhCxonWjtU+0xFZXqX2EtpzqGrpx1aR5jNJXbAIUUytzQetLhSPmF9Hd8PNrk9Oqcp
f1mrjxk8bVOn/c2A+bDVWiM3TloaiHxjuq4eAjBvlPuM9ilAkymDU5PnaWrskNtYvCgVzJoVPaOF
mhu69c5PAE1sspYBdgXUg/dBWePeq0cIu3F8OPqtb1baZ9Qm4jeQtcSnuszHdkcFCfmrYgCJFRei
hwKZwjsuta7+TA+s++CoMyrmA0JEN/3IO5rbScNFkjZeDSYqa0GphnA5LoJGTz445owDGHJLlqd1
OjHn48bs7l30cZA6srX4qgW/SPlOc9g+PVagFHwginudbrcD+tsmog+AKcp3TTPAA+Ul6X4YrC65
ADBlPHL3ifjE/kezL8hAqYRBSWUshU6RndzOMTtAf/l4OwBp++iijnVPPTOLdhHW6deGXpIxFXmN
indAdz3eCqsxP5VuTS+kNsLxGkwXlBqL089hawMqhyiBrfgm1CYUNjs7Vu/aDrzSeRdqpXsolLY9
YUjN082a0vo6RWa63ETsIVrDCTomMc7Ol3S1bE7cTFBBzmysoSkfO2gO4XCN1Xs4i/ZF93XnVBdx
/xCVYkBWSeTxIc/modvm7BiS0V6UN3VCArHj2EPanf8eTk2ndy8KJ2XFqRkMJ53MQpBroTaxAWvs
FNgRc2keAqrtT3ApCI0Ohi19Qh1RQ3Oaine1yx91XiMxexwT1XgnWti+QY5M3a7HRJp9A57vDiJM
gJpvoTdIFaK9ZxNXNT2xYCxNyBGKZZ341sODVpvuZ0R8EZeCiWSqAKinBEs9s+uDbe6L/q0FpS5F
b1qJuAr8Vj+HRz68QOysFVKqMr+vOG3ukLDGxho5AgdnA0BSXjqU8VmqqJ5QctGBs1Dso9rq6Sea
TvF9R19NPQOcrTyNtD6ewKC5J7vpoai0qYbBBjc6tW01sAcV+Z55OA8g6POnIL5y0sZYkE8GjvIp
Lu0FG16lubtLnBqusggBbuxBJNWH0EZRg5IFvfI9LvR0SK1CdG+yIITQlCv2fOEMdQCndAZMugvj
Xqf92tHzouDg+9kekF+9N8IKgRGrKUprU8Z6clPriI6hig/4A0Qj0pco30Uj7kV9AIMiq6h2br88
Kf8fvKz/f2uT8WT96ev6r//897/8ywLFhsTw179986hefvLro1qI3xyDFhhsIFN16If80SGz1d8c
xwSAayPxyem7vOV/75AZ0BT4EQv2ALwfXtxUTH7HYYPeps1GP4v2GPwGlf/rTzypv628KDpeh6bQ
VWuFv9biOUzsObe9QtVB77ncLEi77F8tx3fabz8afFXOse20GxOfwTUle8Sd6UE364Pc0Eu18FWl
qIXciqI2zFPTyrsN4Ap0UuPZlhx9+YNejZ74ANyKBUEHNuy6NN2TETXp167yN3Wo1yD0Hy3Kqo45
TWDxQ4LQ63rlLabKKMqQZcitCv3U1/MOB7SCEC+1qNOZd+mYvGuGTvJbriwxA1OpzHnMbE/MkQrz
z7d2gwUaWG7iqwatwWtuMCF5eaj9IcslimM2IewqNbhJeL1eFaO0BELmvuUJMMsA0a3PlQF2QW7w
VYfXdYdh0bOzkIww4c3xKtl1+a9MQX+wVyApfTNzoddd5bQoy7hdodz2reocEXIGbC0391V8NkFo
987YWZ6VdS8+vU+bnFJu6FV8FsNMOl0ytIArvbEQ18jM6ig39io60zqFha6TCJZlwMNH9y1sONpP
coOvwtOPuxHhZmQGA0x047S6iJBHkht6FZ3sEtfQljMrmCrPxz4TVbE/Zeb4xzEOJ+ebjTKbpd3o
KvySmFxlg4bafB1EQY2lmX8pN/lVhIbwcGNtiqDqa+oRbOwpGD5KjbzUml+H52zW7jyoIXn9YJ/X
Vv+uDH7lov6D+Fl8/14PjdtLZQVpYHkuj6lj5vjJqdP0X6A8fjT4KjiBKFU+Crmj1xvmBXZaZ1nV
enJLsgrMeRjwlFri3uwTL9T184RHqdzQq8Ckix+pUNcRL0Nm9TwQSvOZtnX8IDf6KjRNS++pSTO6
7k9PZlcv0ueSa7IKTB255slHS99TVP3jTPkeoVjtRW7aq8hEuh+7ni6YvMEZp73F026no5Aod8wu
id/rXZhjs1IFfTN6qWXf+GB64Bvcy018FZUKPkGVMSFZD2jwYbDMjxHixDupsRejzdfTTs3EoFje
jV5UWSczta76pP8FMOIHobOGRcGc6hRc9SavQw0aW6z4Kh3cj3LTXoXlZGRuX6goeOdwrGG39AfL
6N7Jjb2KS5jEIeKTaDvBHwTxKNzPSjZLrskqMKGHFGXR0uFB2uhTqaB4+iun7x+t9vK/v8pmMxN8
uBuz2rWWXaF6faWikSC3t7+48L4aW4sNswRdN8IppKSaU8a77ygZyOXh+iougeJTHy7L0RsM50Nq
mXdZ6v7ixvzRoqyCsi6siop9NwEFg0Knhto5rTxHLinUV2GJ8VgESrUYPb8bDlpD7zEfd1JbcHkr
vv6YiT86SueWyLYpdPPAUtl+KLe7tdVtCXWL/kAAO70XHSqcmDyGHfJgcvNehWUc1L5tlfXkwZN6
RknopIH5lht6FZUBVicYE7FLkhw9Lhe1tS0krFpuh3/Bpbza4b6DrYTPTkS7otc3XZjO8D37t3JT
X4WmgQSrk1RslL5TjlFuPGMSJLkqq/uS0jm8F40NDlAca4F8DLdGmsilstoqMLFaA7RvtFxpiFKp
tBA2napeyK3JKjLTag5rU3CkFDUQslwYuzlKJC81bRWZVYGWQ1VyqdlT+abFJKpLbLkFX9APryMz
1mrARqyzZ5DMvlGaqH+K01ruuFJXsVnRRTWdNqP/7+f31mi/mcNU7rBSV5E5UptvkBxa7nlEyKfe
+WRacp9SXUWmmY92i1w2WoiDcZ6hE4MByL3ULlFX1yX9IEftaC95tPEs2ILZfZjMkmOvojJI6Ekt
5lke3h8ow7dIoKdFtpeb+CouyQRNRBoScp9afIb/BGYCAo3k4Ku4HFrsCuFEsAd1LEntIH9X5dOt
3MRXcRkCZhgqlRUPNbAZieZZTSSXf6/x+W6nGmnoIOMbzcqncXA/mOosEzhUV1dRGRZIqoZmg0a3
6FXEAnXYSUr0RmJJGHwVlei6lS2sd+6GfEIPnAqKSJKvIkF/rk7I2KuwrNMMmWSNqwHhm2o/WvZw
1LNBkQl6Rl9FplBb/NB8tngb4kGKiGu6m5Q8krkeGH0VnCJBubmMq9kbYDW9pFrrvoO+NxzlVn0V
njEKA5nTWKM3F9YDrNo3WMfLjbyKzRawRIxWI1VliI3RECFTaChS1TYWZRWbTZ3CpphZFL00b3Pa
xlmd/+LtsHy1/4Of/L38w9Cr0FT0GJsJbEQ87AzRYlTBWA3vhyzbaVG0k1ua1cVpRmnSTB0UkrEK
98Cq9giryO3FNZjWtpDuDBRmHyAuAvygexioqEhN21lFaDDqgSjnYvJEVyqeifAJrFrlk9zgqxBN
sC+xEQBBQ81oH+N6eFuVB7mRV+HpizTUe93gHB/Sj2krPvGWjTdyY6+CM4TFVcfjPMLGK14K3b9R
w/dyI68CE/McjHVmn6stbm+aOH8KwfXJDb2KzFStI+w3Oa8acJcImTf4utVSNTHNdVaRieBOilQB
kQn65i7Iyzu1dTy5ea8iU4TYXIsS9eq8zM7M3L5rzFLusHLWEZmVtsOJgolkqyxq0zYoB9l5i9W1
2beK4lv9wjyq9HPVV+/dSSoFhxyxCskQcUgXO+PJw070iaT53MZ7QGq1xSogMSxzBhfTAWwtxV0c
2O/mAk0MubFXIQkZGUumyEYIA4rGxrRFvYlC80Fu8FVM4pSCrqla6p5VjqfRUW9nYP9yQ6+DMqrL
SDXZgfBo75WqQdy86y3JRVmFZVwElVmO+uRNRXTpaDqKxO0buXmvgtJu0ZNS0aPxtFx/jszxzjEz
dSM39ioqkTc1E90idEakFLY29UfhdE9yY6/CslcbwwYBs5Cipg9pOb84CiBWqbHtVVSSxkXNmFCn
dqfkughgfkw8fOTGXoVlCnQf4mWhc1Om+9zvz0rsyH8+9BJ+30lPFu3G1y9j0OOYR9kw8lSA+++x
pd/mNTD1oAAPbW4t05EMo0W17vUv0pHuUJqCSqcw0peFjJS2/sef/w1LuHzvb1hFKIiiRJ3h63sq
D2+0Qx5m23mWG3r5la8qTEJtxkmYLA+aoG/Qtt4qhSs59Co+A7vr4VZTLQzU7hq01i7NK8mhV/GJ
iezUNBGzRjEP1SwL9QqjkCmLwRxfxWfdiqYJk3hGxL0cd3E6jce8UKZfZMs/+pSrCAV83TupqDkR
Eat4ice6ucz8qPnFZv/B6NYqRscJb2kR8ODMbe0DHJNgY/b2O6mdYq1i1MysoWyXTBlhqNtuzPBp
qF25c2uNBBqRjxxtl3YmdU5kjhLY6At+X27iq8BsWiVGdp3mnejFpY7ufGAYcvfbF2nWV9FjYAdt
h2iGe/jwXSCbhXVQk9zLTXsVmWipgZR0oe536V3uVO/wJX+RG3kVmNz3jS+MYPbaIXcOWZfHJx+k
7y/WZDmUvnNYWavY1M0hVw1Mlrw2CnEHwYhgvE6tuX3TgGgOd1J/wrpvH2OPgsIIf4LlYFsyOU9a
6Rzkhl7t87A0ag7ykNWZtHdKrVzFky5XVrFWR8uEXyS0JZqxfqXlmx47wG6K5I5Ea3WwtIjIQAyg
Kq6rLfYjzl43flXY+8EXXWOYcjyLNPSxqDQ1cXG0LGxtw3EjbOVXXPUfHFvmasm7osadF9UVLyyS
u1BXHubJ+Sj1Nf8BxSSSUTPDnJZV3mHQYgDZRXhwlNsri5rJ69uzU30zgIoKlBdhfxeK7DadEXWQ
m/rq1jeHtFF8l+eVGpbVxp8hsKjxL4L0Ryu+/O+vDi7E7pCgRSLI8yP3dkjrgz/aUk0rtLFXx8uI
tXgx2RyKroLvgRbaHwZkCrdyi7I+XWIdeUSLiWfhhPfMGMPRkYMwMvNVfLYdZgXBRNndjw0LZHV7
qHCck/ycqwANFbft8Q3hbm4Rn2iyjBMAh3epZVlLGTeN1ha9TfQP6nQW5JmX1f2N3NCrPT6ocYUB
PZ9Tx/CpcjtMj+NHuaFXO9xOe/yCelKtWUHbybKNGCO0UK74vkizv97ibWIMo0HL2qv95Fq0DbZQ
kufVWg4gSJEyx/oU4IEdv9dIVDTVupVbktX+BknnRG7FrMvQP4x8TBxzj3JDr3a3luRTUYhh9LQJ
NPTUnUA4yGW1xmpv23Y/ijjX2NvmvPeb5KqL3b3UrNdIoMJvos6Z8hmShIG7d2ScIGnKTXsNBVLq
AlBkZKHWAt8sG/27Jizu5KYtvt19ftZoJu6BHCUAZ8+Ejz+30w1yh6C+CklIZaItXZdD0MIhc8Iv
WQk8uXmvQrIqC7zkQ47AwRzLq36IMA2sRrmjRF+FZDgbsWYCcvU6tE43TTZBQMsLuXhfo4F4QChV
KBzS/Eq7VOv85Be15KKsgnIM6fbir0ICZMBiAT//WeSSrxN9FZUORF/s/9iD5WBdtVFzcgE0/Pxb
foH8fCcVX0OBEFAI7bakbGhB3ELYFclJ3Ea0yD1XMdq7681UvRTz6Nwq2rS1p3S4xKN8fsImezhV
XQC1y0ptGxmd0YCDNvZ5eTnoQ3NtIOHJU6dV/SPF8fB2GlSlkEG2InGyCpyibZsRrTPWWhhPpu6f
rDI/+/l6/CDpWSt86H5v1yDdeqjt6aNe4y6fwHaXG3sVN1NY5mWKwK03u+/Lyr5tZ8l3oLYKmkGj
v9sqRelNmeZFE1xi7MHkJr3K1BZ10i7RxtITOZbnlUEF2Ja72tcgHaWPctsfqfwOip3t9ApmfiIG
ucNVW8UM5oDsN8T7PR/64daEb7mBNCNFwGEHri6zKByCNmlZlUrNsj0S/zvVwfLq50u+HNHfCck1
UEdPfVXzM77mCIL7jVv0T047IeSJQ2Jau3KNxzVgp0HetAC6WHrzgBODhwmMe0UBER/yn/8RPwqk
VZkJadeknEP6sfbgX6RWfx642i+GXuLlO+uzxgGC8iirVuU4dJQmfqwVUhbEERZmqZ6zalLzX6OO
UKWK8kavSkgc7bTrh8xGj3CSQhsuijPfXv2FG6NYb9WlBwUZYQvRHoo0upeb+bJsr95t0zxZmp4w
c7VTDgkKZ3lcydU91dU5M/eDFo1Vw6ZBjaDomnOlKuXqHl8U6l7NOlOCCNERLJ9RVUUzTkCYR74P
WK3coqyuZ9zHlIKJmwANkdkbqGSjE6sbe7nRV4cNtvPIXNlgulEaf9KR/EAFR7IdvsYezQnODg2V
VW9W6wst/CIna0p9TwRIV1slwIw3dxKYSkkXe30YYToxWpKDryo2pppUU1tjnhlaCEUg7n9ZW4XU
OwXbrW8nHqB00wuHRRlqBO2RIRORI3VxYBn57dCViV0b/tSwoJTFd3NoUHRpJikiIX5hq+AUGbos
UcPokY4G5RSfR8bwi2vj+yeus1BxX8d9Efkzvq2TBSnUeQpt+wKfU6n97ax1P7VGiBHlB9vDN6ZB
RNz95AsyDZngcda4oxg2m+bUzFvtsA1vxWVvyMWls8Yd1b6G30QCbdOodcWrMM0LEX7ayc17lQOY
adUi4VfihYRP5Jka6XeDOaVyi7LGHCWzPgLLiBm8LB+7Xnua814qo8Ne69t90ld6XA5I/XHzR/eV
rW0DV67XgXHXt0Oju9SrRsQ+sXO0J3Dr2ZsWGkNS670Iu73e3ya6K3rWwN2CQzxvjSZ50Au7lvuY
ziousb5JAtsXbMJAvXJydT+juSA371VcDlwOllXNNm7x8Xxs69YEmRrqcqess8rP+ZhqbwZMfMSt
mRr5U1nbD3ITX92ZYW9N+JDrDD0IrAxwcolqIXUfO87qxsS6rxwnbH+8qChP6lSdEFyTXO9VXA6T
E8dNPEBgF1rg9XVy26aIt0ityRp3FGCo0PUFa5LMyikSPZpvpir1rHX+AXikWkDROyauOki0qdSu
JxzTtnITX4WmiILMxCLE8qYRSSaRXyFRKlWyccQqMNvOsrMAa1i0wosLf1a8RMgBmJ1Fm/11zIeI
H9ozGGavIjoPy4ESYEUmt1HEKjDbIE2b0GRJrKF+9Dv1oNfZrdxqr6LSLrtpMo3B8qDn5JsW+ZS+
LCS34CosRadi6dCzJs4EUDeL1cc+zMpnuYmv4tIfGgebZr5ljTEJpkOpimVUK7nBV5HpaEqOaTGk
e6VyLrPJvceKWy5DWSOPVAh4BXJRtpd1xSGOI4xJHMmhV/elEglVAWW9SAWU6FNZmu1CNy3Cc6kV
X4OPAiwq2njZ4pPZ7q0RaWUl0KQIiihLrUJzVDTRFBNzN5VHvUXszcW4T24frj0qNQD0UZtSMJh8
8x1mbJy1mSuHocef4dvAt5wWy9plq3TKMN9HkWUfkJsq5W77L/LJrx6b3GmjaimLVJc2XhlmejnL
NVDwafp23toIHoMgsj2l7s7naTjz21Iub1uDjpoKo3kjxp8JYevLXsdh2vndyPZPcjkcexWYKl22
yFlqP8K0C7yzm2hfj5Xcu2QNOCpGvdWbGdu6VA9OCKLfJ1MqtyRrvFEW5JGGbRz5vaVcG8miqJoE
jdyNuQYcaQvx0Uc+zRPRHB3cJjhOdS3kdqD1vzg7sx47ce7rfyIkjBnsW+CcqlPzkFSSvrGSdMJg
YwzYZvj076pH78U/dKcjoZa6pShNUcbD9t5rr99uYQJOtgQgySdQYYFh2fVL821tAn4sutprjup+
xDYew/TFmBpUMToBONBqcfCD7tam6clSVyFGnbRrchZIVz462SffDu2He+tk4Xw8OygCYBlAowKc
WZPH63Qsb7AXHol1qZfJ4eGyF9+B6HFAYG4H58vu6DQR6lQN+FqnCBDOfA6lRlth8qdb23vE88+k
J9trd5Y4yFBGwYYIMnB9vzVthWbfjlKA1lJvjkVyexXPYOIBvwM6TiU4XPUw5jacDpXeYE3/68aY
trLDYfG+C4AFDCBw5Ys5XbdjodxewhMBOgkLSExJVSM8lGIAvHLZ4mMRwF7CYzQebkmKoH9Mbhqb
flh09uXQbI93Aa7sKnAPEwwLBbvioU4782bhMP167Om7ldqizYoriSlJWfLF6+3K6OlQvpbtFTxt
oBC0aNiE2dH1hWoiRIumP5b0hPncr7MlWwwcHd9Rp2iehWurlS6f0+3gmO8W6tgrDy4pPqcT8DI3
MMrOYwZS6rEx352lwaijrIEx5KlukzvEMddpckyRxfaKRjU3AVwh8eLJe1aF1HJCZZ8cq3iwvRnR
vMAalBvkVAHczpsYdp3oNRTHgsW9+ChWG+DR4Iuc3knPpYjIV9UfqyMCSv7rZAHKu97SBXdysfpb
Am82sf6pcfF9ofzLrkt3yxNQIvf/pwrvzounP0PvXw7Nk732SC0cRtER3lqmMMnM6ua7ZmAZH3s4
/XVIhoqCP6koZooFXLuBFBNuxj//+9m/OYnobm0mwdp1kDTDQwmGz29m0+IOp1Nz7r0/5E9C2N6R
aIlw3WcaYwMaTQKT5sze8NGOx6LGvRKJcbDftQ4x8k6AZzxcgKo9Fl/slUj1ICMagKQNdmOGvjf2
re38ITnmP1BtJIMMrgFqAsnD8N4j0ZcJI4+FLtEuORTGRmqXoSoRgF96My8bOydSH/I/IWwvRarh
xFHDIDQ5qYC9LRqJEB5mhwx+8PDdCtVV0iVo3UFBRa3q0kdQkeIuMx2bKns1Em8FmL3vWwtv6NdK
vjuK22g4+PDdIp3jmvWNxcNrZkswi2+Z/JO07DdrdG9MZBpXVbBmjU/gV9AMtIZo+r7ogMGM3gKt
fmyX2euSgAUaQLPHT5mrtr2D/z6Iq4s6ZBCDL7s7SIFsA1AswqRcKLjBzsOfvIqSP0S6vxmgvU1R
n2VAWozYIOfA65e1/p61aammNP7D839zcOw1CioD0DQW7y9fudfUDJeQHGvNYHv1UxyLoKv8e27R
RLByHqJLy/h07JPu9U9jRcRqwQI7WaPveb9d15Qdy4nujYogl+7MkuK9G91SCDbskCMPeCy1uFdA
DT2kjqtGLldAsHbqdHijg+2YKIz9j6L5f9JFwCVbC3I6Asa+v7dEP6YKrOz/Pk1/N1F2p2kYxT6A
szjs4HjzkMbVdXbIaI6wvQJqU9MGSOb7ps7iF5d090zDsPvYW+/WZkRAb4tjpImX2mR564ZPywr6
46GH7/VPSwA3+a3FkPh5fa1tfeG9OZi03Muekjgwwxrgxadly8XYvQZgGB177d0hSkgMa44Zu2Gm
o3dt7HYOYCN47ITeC4beMQmVz4AVZQymU2kYnJyZtoMDvjtDST0sTGjMlFHUz75zj6YmH48Nyu4G
iptz3Ccj1iXECC9rGE6nFs025X8//Deb+F4zJGUHOQIEK0gSR59EBBYGQBrduB07n8Pd0oQ6u/bj
CIPQtLYrPBe0fTF0lsdCxXB3C7XD4MEBwBe1aolLX3EItuqoO5Zu2auGgjTUoDRiaDo5vIBZeEnD
YwULQNh+vVsEepoHKbCEgDkReVsnT5Xn7NBUzPaORRzYLtrMuD37Qd20Wr1t9THxWrbXDAXArUYS
pOeT6zhgFdtsiiXzhxY/MD6/DoqOvRrJiFjOzEEJvPztCqDJf8/yfz8hwKL+9dFp0OM2lyFUof0G
kvvUyqJN1h/HHr5bn6oVWcjBUDlFXN5Xw2cd09djT95FtzIF9BzcKqz8xpZZD4SLyuZjivhsrxkK
GQ1AZ8TiMSS47/TbEpsPx157tyyxxwIPmFE8maff2jH7MW/Zt2OP3h2anqh4HmFIekKbF8+ptP7k
j1mUkWwvGFKMAkXcx++xePaCKtR5Ak/s2KLcK4ac92ndTxE2QmC5oO2RUQ5x7yEBS7bXDNXc+yV1
GJUqCYtY20ft0kMbeLZXDNmoGatoJfFpSzdoy+34PC32UNkW/YS/rsqwrkfKKMa7seDmGUNBkgN4
+9BM+Qe5ljmpbfN+8shhfG4lVR/YakFBPvb43dIMvCRWGIxL29GikRG4xccS8dneqmj0lesItA/Y
T1bgFgMgDW7ZDNngwam4W54TD2AFF4fxad3mB5DLSl6zY/vs3q8ICJ9NMjqiJOdA/Oq3+ntN17dD
I76XDW0JRz2VYsS7qH7wYRreMtKnx6biXjfkBxLycMGLuzR7sAF7hfn46dh772LaRIkoHB2Ezd5K
D4RQNbhLC8Lbn9qPfnO27aVDSbpWSSog/com/6aiDgREACSOzZW9eGgD+xkMK6gRAUw9DbR6EPMx
27ZsLx2C8SvYpANqw2bw0U3qRFiQuFv/sD7f95B/Zp1x2vy6t9gglXY2I3SCESBzvDX0RxU1fZNz
W9cHv2z068+o3QhDJzBB0E8/s3zIgFwMsv4Pv8DvPutulYb1uuGuCRVEqIb4vg/gSYyGmWPtnlm2
O0d7BiDc7DA8SJ+B2Uq/8QFgzEMTfq8jmkjaNs2ECuiQjAwsSnYZ296Xxx7Ofh3zEPXPjisEtyu4
1r4WbRHL1B+b7XsdUQKcBqvD9w4HSRqQv6YG/VQOcLRj774LcEG59N0QDUA+AFAbVt3rth1rRQJN
6tdhMZ4EM9x0UEoU4O1VIB7mYj3mr4ob8q8Pl52qCDZdCHL4agumtqmcWHP0i+5WarqEi5+BCz2l
GWDMI38M02MFc2ibf31xMiA9LCVBuix9pxiS9O/ZHpwqu+XZDbOU1Qx5SNfyId9UK0+qCo4VQBEv
//ria5UOfAEJ8lTHc53TsLkNrDtmeJHtxURayWytSJieNIymH2JdudMIovKx1b/XE5FocjRZADYG
b3fMw8Y/9MP4cmgB7eVEm15aAyflFCq5dbnJNsvyZmnGYzHAXk80JDVtafceoo/fo5Z/VuwQe4Rk
ey3RsOi0GoZ3VfIqvqq0npA6q4+ZUQH8/etcwd2zG7ZeIWdWbRDKZs063gXpwj8eG/Pd8uQm6IC0
TVK0N0LMEtrkGq5A5tgq2muJgAXlnRbDewmBXsGw9OT+2AH6m/NzbwIkDHiqqJrhEuoScb919huj
Qh67Fe2VRBbBhSQOsSh1Q3AKe/dz6u12SP2Q/UNB5KfKilEiyeJ4c2pTsEbRWXrM2SXbi4jksMiR
Mzxdd1Mp23gF8ftgezZwg7/OxcjW/Yp/kHraiH0nb38BPf2QWgYqyl+f3fdO8tThQgda+60coq+s
kgdHfHd6EiCBePKeRwRp/en90Wkynw8tn3i3OnnFdWgH7OR24SUz7X0Vm0PZz2wvH1JUp0EyM1zN
hbfFglCIq3A4to3v1UP91LlhG9Bno2X7JPRwP//pHvc+qP8Sme/df6pq4unWbojMGxqegKdLvrkp
QDZnq2f+4dio78/PXoRBgCvWCZKHi5iozAHxPXYP3SuIwI7ujOxqfNFa2mclN3IFOZQu//vN3+PY
fxmdvYJId0NChcblXImlvQPJXHxIRg+BJRotApVzFWV3KovJz8Wk4ED/9w/9zV65VxbZTvh28BWu
1lN3t73nYARczv7w8Pec9r/9Rrt1O6YUjLYGxyqah8MP3Zh00anlbERP6AJfttMwL4DM63Gb+kKI
LIbhIQ2mYxNhLz7q145PDQso3IKrrABk9W2wCf3Dt/rdsL3/+f+paYYNWop9h29lovRTP1pZECKO
WT9ne/Mj6kYV80rQ0zLNMt+yOCoVd9mx5b0XIKGwHjTrikmctOFjbLboOl2H+NjGtJcewZ15Edzi
1Yd1vHgDvacgxw7eve5oWXSsA9K+V3yQYMJ0nZ+hF1Z/MHT4zeLbS49SYHi5aSd2WtDYoE8NI+xj
KHuUfL1tgOTEkRkO50yrFXUP17Hx2NG2N0gKp34BKxIpHO7iBLCQOOB3gmigoA+t739ok1CPBMgD
qyBtvcm1IYDdE3lsP9xLkzY+2TATKjtR00UffOzax8aPbXtspu7FSbQJKwngNz1laV1MFdvyyZCD
pbK9NikyNpqrCgOj5rkt15remKo+mE3YOyWlacAVW/FwwtvhHAbdV7utx3RD2V6dhDtWMPrgfWOr
mbhS+m2ivT4WDu01SR6yElOvOA4En5572XWPRIbkkAYv20uSpvfNvakUMKahR+yZsr/e+3D+e57/
JrTYK5KWnqxKhhz6vnpw3wAiasMcgflAS2vU+vrfP+Q3u/5eljRJU8swwOjIYHlDAG1zosmxC+5e
lxROaCNaPbblMB1l0TUQJmuVHJzte2FSGna8XyZsnmlCq7yHg+R5jLr2D4P/u3F5/yj/5zRcaNek
FggrRC7zt0jIO7ikH9u/9lZBcJSiAYN9wskvpID78kNfxccu/XuhTEZQc+4pxmTbQiSHmyqCFdF0
rEUp20tlbDz1Wa+Q21IbnXOGmzlZD9F6SbZ31+m3MOzCFlqZwE4f4Gf42GdB84eY7Tffci+V6UCL
HwfXvaeHZYBeUHZqhPtTwuJ/grJ/iQj3XK+tsbZtfAz1Qzey7tpV4ZzlAa+D+KpTk3rSoejWvOfY
QQtWN9nHAApSX5IETgj50MnalQ4iuPf/HwSl82xE9CcPA0L+t1n8y9vtZXAVZ1tYeZQ80IPExF01
pZPNG9ZGQe6sq7K8Gbv0pamcrAuS9kl/rXu69OYq8tb5LTfrBjdcCKPaleDPFnR1tDGpL43L1p9r
ozOeQz0ty6ri7uJ7G63nOgmkLc2qoUZegbh3sFl3sItL5kDDY8c1WS5S0731W5uyE5+bpSvbzQtZ
RE6Lb4lfjS4bKeePS2hkdQ/5YeZywYZ6KNbVu5d59Vv2M5KdqGGA1crxRvfd/LgC6xc/tLVk6R3M
uLbqbksAZbiVga4rYGy3Ub+h+pjNt+vc9n2XzySxYsvZOJoFIPQQQMBssR1sIwGAYssZaO1NQh/b
EwgIqRL2GphW2Vz1MxJgn6Y1WvnVujIVFeM0iuojOI7DU9fj4ve4sUSpXNJUNzc8jNvwQbcjoQU3
yGbfBX3dzU/JOOiF5jVscRJsYKTnSIoq0Fq7QklF/Z0b+dL8NZOImEu1ytQRNJGlY/McUFB27upo
c3BdIi7M+mcXu8qgbEsg084jN3vyPLpQTxdE9BXLu6VnE4g/at3OoMsCul0mo1DTKa6rPvnL6mAe
snxsXaTWcgqziTE4nstpBvHAdZJ/n80gyE+QFsbhA82gfLozKpn1YxBnAb8d54B3j45tHh+AeSlc
Dmqz10mBdv11e39JlPG6IkNXQ/3Bty7pH6s2YW1cxAOQWybvLOntHVgCKXuT0YjCk5vkJurrNsQo
o0ekqc6s3kRv8hQqr5fKJWR+tF2HJESma98Wczfr6W/ez2J0JztoePvTcZhuoXRmliK6TtDminbn
xb9q0aKuAJMmRT4oUdOoNH3FynEyYVsGW0fw1ZM4BKVPx31dhNvcbijPdPZhyKLhofJNDEvEquNf
RMxMdZOybMRNbxLVuOEXClqFu98Q90XKuvfBMVc9RoGUlMzjVFqZNJ/Cre+nK8q74AYZyTFAmrbu
wtM6mviJDB25WObpUOiub6OcrJ3Lzj2tJMt5DJx0zgYFRiaPE9Hn3ivkphXwDl+6Rs9rzipWkbwL
UK+SUzheMUAyzrCQy76g9Rs1WzNufaFr26gyFvO45oR15mo0M/08j+ma5FNijIRQuWFzCdZx5a5M
EtO/G+sDkFDb9DUbed+DCt1uokyyuOqv+8GgSuPHrcpDn/APdE2mUvN0Xs4T7E7qh6XiwTkA2UFf
IC+cvgwDqW4aV9dfI0nwVlLCrrBQczrTi+Wi6V9MAIRXURN46pSb6gaeE9Px8XlYmXxWPfrk83EW
5GkRktXl1IYhK1PFWpDbuv7S8808CxPgsrYmgfCl1dOLmob0es1A2CoXms3jOej0as52JOt8QvSc
yBxWG+7HWGka3oe17OscCpShva06hxpajwax+aJb2RejCJS+ppvQ0wln7jrdQxV80Wwef5Ctwuh0
VVtOga8q7DMDvcie2Dddx/jrqFgMtmhRJ3qu0Y3P8ihck6fFD5m8AX8pgRagaqfkTOOFvcqBSHcb
TwatQHVvZnl2bmuCu161broGb2a51Qq45JwZuDIVvqLR/BTRFh6HdNjUuRvXZQH5OVy3j0az5SpD
jeSuietWl4SiwTiJkdS441uqwmJJ1x7dkr2c7lQ6p/rnOCudnavEZUvOJRujPOh1szwPvEYtpKJb
h3/H6FhGBVAyciJzImS5dtpDEbTwZnvpk3qmJWyE0VkXunF7iRNsGUBMcCO/OG5hlQ0inqdlo+v5
XkDdiwI3s4s6zWtE14I1sILKpUulu2qUAts2T6hXOUWn9y2hNT37rh3f+AqW4byObLweJBS9N+O6
ruPT3GkjUHOCyDd9Nv3aunucRSK5nyxfP67ckOYcbGi8vmpZAM+FQg4UWDRAatKfVZZO6B/nIRVo
B2wkv1EO5nwXDXdeKfO2GqgpnYUL1r31DW+AhSJhe4sZNdzXrGnQ1j53FaqvQPWc1qEm87N+p6Q9
0qTtaeGkIX/FGZznkM7rKljMv/umfGQmG2p1Syt4n5SwwQxFA9cNS8omZuHJ9tXP1gT2DQn7rUQz
CiZ6zflQBBm87HA9iLNnhZrVp3Tq/Xe+qWXISesyXggukotpqIEH/7zcx1PoXpo2ZmnRj7AENLKl
t5P3Xufx3He3yNhUhUUbXUGMCi/xpPnt0m82LGeWgmTI8JfaL2aqzV8x+nefZG/qpc1jYdK+jHvM
+xcIxKb4eqRbqPMlm8L63CrJ26KdlU/KIXLpFyJ4isx6YJetwKqOg7yP3EDesKicKBcug+GuUlsN
C712689yEk18BZlVa3JMvelWxRMc0cONtJeaAiBcBMzFQw7rvey6r9vNFrCiGOtrJnl2D4rc4PK+
CdRyldRtE9/QxhPjinEZVzvnY7hO9NHIOouLWQNYVHKpqmc1mHQozRQ2H6ponFQeipnaYmqVzbUD
Diwf01TOD0HLM1c0E5eXXquuu12ybFNXNpPB9BJFZHMF5Dgo99EKIUjF1oaeGTNBf920bYbMj4u7
HD4/f3fEa30ek6SdSp5U5EYufdtcMfBrhlM/h02pUjYVNPYIpyaZ9J886MY+txPOgHwl6otiI79t
0BGewwv3qZUDQLYNbSPs9GihkWW9EDadI0Qc+YLFKHK6EhzSPmTtw6LqLm9COYdggftrK3GHyGaS
5bQnNMdP6suRi8fFNZ9XA2wwXRJ6vTSeIQtjUtS8qcU55uIW7p7BAl36sw1dl9wIVydV4RczuXu7
jcIX6VQBqGSGOkjP1AxoL63Q4he5HEFMNV9IqLOhULZrZb5E2yLPhqV2eKC+dq6wtqPVdb9JeAov
Da+zG5shHsmHwXj3c41UwvN4U0D7eQThczmJmalyGKooLBqC2AH+60s4fmK1CKZyIEy4sq8A6sQL
LdMH5MlMU2wwn75DUI+efZoI//fsGPxp+liETTFLzKbbNBv4AzKym7gKEgRXV6qfkvUDH0eVYC5H
c1joyq7d01B7+tkkJsIaWYMeEQoXwVAwWNB2qItHfVNOEyzermgAF4IzFQANXMCCVLykLKyqlwq9
T+FDx5MtyxEOVNedJkGEEegi+4BeKdGV9TwLXhjFySeXBYtE7q1Jpb4OHCibuW4QtxY8aTr6oKBQ
qAvZTOi78cskH31kUQatY5g45OkGqd51wmupboeakQ/IzfuswL6pr7KIsMd2WUNbtqlpppeNjPML
3jv8RpmAKWIP04PmEm5goeQwqWX+++ZXFp1A80aebunsvJZt1kzZG5qL0/E6xdeXWTFmhFffXGdB
Rt0aVGnzatH8Q8L6pYWpc52GpwBQ3KZYAxvqc6Xhrlu60br1Fh5TbiziSkdDqRyc7AoE/eFdU+nF
I/qdlL7t4HP1CU4pLMx74+A9ORi7wFg0M8tXHumF1BCZzLO+njw26OtJWd2fplGiOw7v6jn48m1S
QxyJo/fk6BCoR+zjcnntHXqMbre1xl01WlbZXZYl4VE5ZmA2lWIhGyuJjeK42Eg6xNfNHDHsNz6q
Ydlt7WqvyZbiGji3oB+/4ZvT5BYk8W78YTSO0Kskjbfhq4zQXlTQlFTL05rUK3mmPnD1CTZBgpW6
DbtzGmfkcx8R+1BTnP1lRAaX4LbQWfQ/UDQVlyoexFZy3Tt3baalpSWLWx1ceA213TMCUeoKgDab
8SPrNmPuJdzeEHF5vSD1UdvxHOLJD1psCDC7rqbqYxslnbtrdZLxz4FK4v6zj7owfSSLndn1ii7e
D54m1GCeKfPY+zFprkfwfZISYTWRxQC/f31aHNdRgeaHkP+gFNrCPm/INkP2t7rgLshSYW9ig7JH
salBGawY02/50CYcCt4MkrvsBrOeY/xh4BM8NqEQwRO4UAgHWhFgBeFjt3Wq0E6F73Sma7jOKJ3A
/CwnqXUh+hXi8UNsVYpJh77xpf9ietfO3zlMKMV3KwXZ/uYeM3f6GUVYqOE7q1GNuKJylorCqSh0
+Zr1Cz1Nwzsirmn4fOvkNLalWnB65XKscLmtGtt8jbs0/bwA4PWelTdVmAIXn2EFoEo0V2fX4cxc
SxrgvwIQAOnm5VbE89CvTwSEy3otuKfSmxJ7Qa3xUR2DJUqLS1NfRu2E24ut1wi2fKhB8hNsfidZ
0kauUwEOQhTmUOJUBrvCApcQj8v2m5doOkcSGq2JXVYibAxh9p5mAmLgnHm1xp9J1NIMkUZPgiKu
VVM9ejLT6ge22UGXM8dcOtduyNiFJd6AtpDwZeRfeD1G04urkSF40X1mVDElqa5wy6gcQMKKYvPL
sI+KU0JI1XAIvCzd7vFZ0+Z2A/fkNdJp014RT/3wGEyURKXHDtPe9P0wvwKACmKr0a6On00jPaJT
5ArCHy6hMTllIVoLryFq8lsxIuT2r9M6hT5Ptq5TN+s0C39VT4SizLVFP6HsmcN87qvla4gmglfm
Kod2kMBMI5xNHdWl6l1sbrN5bn5ovYrJ5FMEbzGE8L3ELCRAHMrzrMKsxW/J4PU/mYfOsP4ai9B9
rkMlWE69Y9dRurGfbZjhupqGKkuKFcWS6URlk6l7i69i2lwODlnqfLVdr/KtnSm+hNuSJ9Cv0fS2
bvGSh/i85TzZ2JdRMkRPKbeRvqUo11HEPjje8krpZISAU7kI1sMTDj2QLzk9RwM8VU/cRFR+X0il
3Qm+olMMvGFNONYWAuzCmBF1FRuEaC5ZEpU8Rhx4u6cExKy+oEhD62LDJVmVzWan+nZbmmTC/qZq
mkMsjSbxBvdPe6EwoL9fnavaHFSpmd1N8TriDhX0tJlyUGXTT4ma2N90CUL7JSTTtDzWGTrxzkjq
wlQ26hOBX2HRCUhgUKfVRQoQ/TMeMSR3ngXMYh8ixGHI4SIHP+FuaOV1mM4dgOmO9Skt4F1B3kiI
zFO+wGriVZIMWRkgXQRumkvaswvOG7QTxhBLXZBZ71OAzSTlyOfAgqEIg2FsIBXANgejF7/gGpCa
MC4H0UPH5rpqELcj0RtI5CQTUYErHnuZ64FnechnpgvDpuZzClO0i+3FGBVV1LGPwjGopQfD6w9D
NaSfpMtkUpBQNl/R/rW9MmAi8JIzDnTcfGKe+5ryp9SL5q8sdIqUwSz1BT9kfaIrDU7YWOWzrFob
IVha5q5wgk1XSbXY8NK1KxTUMfwURGFkAmBJ6wFCOm8IA6ozzLRNhXPOgT41C2yZN8E49/Vr9S78
/ctIgzAnQiUm/om23Kp+7SCvR4mG4JRCvobh6tAIJNoeJLfqblqT8NS6ADY+DYZjOI1jK9kLTHHD
uciCCLuuwKmlXYnyeSLK0SG4HzDBAoJUWqDGPFmQRSq2pe5gOo3sSJ40y0ny/iFKsvXjHEl3XSkW
rre26vX4fVpCgcOis7a6CdapQxdkyBrKfd6ipeZpCSlVBZdDN+RxRoPgiQ5rfW9pzcKisia7bGwJ
xGXSC/y/eymq5mNXgZ73JFgTR4hRiV8K11TVc5hFIDDxyXUPyeQpACRK9Ov9gkv1hQ7zcLuKKHYF
7k5wGUoEDlKLK5l80nHMvpFOqaaUGSKTvE8a/kpBF71BKdzAxsr5EVGmb5Y35Gg0IugAja642rS9
vQ3GLEVhdpzXT2E/zxcRjBvNFRftg/F991ORLBs08hAEu4VY1dbddh4Xvls/Mt7mbiNuKVa54J6f
aBXAHCrBN7tirfJTncNGpxGvWVIZdhu0QXOjjFRzMcZyCW4i4ZzBaGb2ByCCssoTZ+ssJ1u8Dlcx
TKa+OLYsvkAcJx6baI7uYsGfnashHoXhHVtKbJvb/UQbE90pFLl/oJE+e4YRBP+yMlwubnRNlLge
iQqTqzBOV3cFzMtoczvMzUuC9sTn2Ip6yEeRrV/Qtph9jvSsb6Sl+hRqf15r5FoS/X2mWBJ5PE3z
Z9QP4hzqGERrqNZj5+zDhwr3y0eK/DfYWRMkAieP8OmtJttyGXB2PqOHZgouXbogRapSMT/HPNpu
/JQlTb4Krm4qc/XdbHNuV5DOljicy+zKclhLFOl7JrgmbfUaqar+TBgmV8MaDe1SnLgrsCPRljdC
vmgK20l8ihYYooe1UtFDWm3rV4Ek38cuEdPjargl11yTNx6u+TqPP5PKf9iUIkgs26q6aZMNnmcM
ks7bZKjrCz5MkJsJkBXoaOZuLe00zl2O4U8+imBbfJkieB4LF6gGWiHk2H7SDQZzWA0UOWiQHPkL
x6X5seGOPQa07SacOms15QTTFut0WtVzG86LP2+GxvJUNyvyrj6Mhy+guIQRTm5KkZ3vgmfCA3sh
NLRAu4hZf4+Tbf3BVm9CJCDXZMCR0LGfGk5of8eJb/G/poOXhcC+K5D3QGoemcg6eo0qJKjRYje7
L0OkuyifNYWZgRpHK8qeZ+2YR1UiFgSH63LnlqVpiwT5+Q9QwdAFTjyBrnApnea/kCI0+uzTgf3A
woqu03R70AHtHnhL5D3dRi/z1FD3OKS8usd2nX2THWDkf1Bd/KbYtLcGgK+znUzSQBaf+eiC3tX1
/7F3JjtyY+l+f5VG7anL6RySwO1ekIyInAdlSinlhkhJmZzHw3nZ8sZ3ZcAr7wzDq3u988qAAT+M
XsS/UKmqlVGNkisBAzbQQFWhpMwgIxjkOd/3n77AsryX5eA4hxNSCh1ow8wrFCPc4tpIuVWY2vuX
UcEHIvA4bdJ2zPbkoZEdZSPLkWFOLxt14xwOimhHO60VQ4M387y/fxomh6froL3Mi3Do+zasekki
ttENWZuGe5RKfT0xFUzoy3SPh8Zv1OoZgDeSymmSr/XozPSydy+66Iem72XJgFqSFdWVrfw1llea
NF92Jx46viGXMHxU3CtxHH1opvK90bk/Evb9/btcHlq+h8opIivh2CKO7pS7BpnzshF88tDwnaq0
ENkMW5to1b0o4bHi8f4lF1seGr4t1leLZAACzSomOYhJWpCgjy879oEw0OrbxKMrxJRdmo8rBIvX
GvOLCGyEW8/FCFBHGGLavT3T0T4wJK4PjbiwXyRCIwLo+cHpbObSEhg0Sb/JwowG+i0UWvsiRYL0
rOdHt+wFAFHtb8LBiM4MoIrGWl96cPP5wRNW8anMa8SYg7qQSxaYjXpRfIw8HBRBViTAu8Q8Zffz
W6BFJqgndy+7Uw7kvG4PV6bh5tlE3WJdpXli+9MaDy9aUOSh7RtaVHprkuCy16ByplY7drLkZQlM
8tD3LSZd96TeENxlgc3CXSBdoK9+0XU59H2P8Rw5K/FdSO+8t2MLJwVA98JjHzyd5UwyP0g38pLO
PCqcYVNUxov2Hnno+x7l2kaOy9sGy91OVXbv5fXDy67IwaPZEZ8pxT5Yz7GGNZisfDlKlVrDlx39
4NF0F4QFcUS8YzZ4ioHhXWgwlOIHO+beI/Fb3Yk8tH0LcBwie/HCFNNA7RhbEYNUO31GdmE18MLA
WlneHJXSmL+N0PqnZ6HV6i//zJ8/1g2YAbOZDv74l9u65J9/3r/m1995/oq/7B7ri4fyUR3+0rPX
cNxv5w0f+odnf2DkLirZa8jg5fWjYgri1+PHj/X+N/9Pf/inx69HuV2axz//9LEeqn5/tDitq5++
/ej4059/MvcJlv/0/fG//XD/Af7805fP/+7L5//w5fO//eY1jw+q//NPZLp7rzy6ZKE7FhClsX9u
p8f9jwxHvtpX7GKvBtZ1Zz92o0LcnfAq8UrapukxOtLU+a++3xlUTae3P6L+yvEMaZEEwstMlvVf
3t3Vz9/+z18IV+Pbn/9UDeVVTfuj+Dj7/etvN4nAsGvp1Om6y5sDoDs0USjHhnptRP9mKCKyr5dB
ns5WNN8AvICZD8o9rtRc7rD11VfmaDUAwijTi0WuV8qaR8DWvAiKpNqhCUgCt27zM8/r21vC3Ksz
p9Lbzf42O7I7tZ4CLutF2AgVnbXJUW72oEw/EPc+/zgu4bTc3LZwWB+l7rqH1agOISoj27JvRD7E
YVxW7iZz3Y/6lP0oVJ7v7bsL9+1Mrm6YrvA80zsU5Q6Msc6mZhA3ZokGNUlm95j2L91VoilP4ejl
eTM0S4/RwvhRNNTf+ZCcUQohXenRuO/f2ncCycRl6KsLO30DpjFuqlXFp0gD7TPs+8vmu7v579wf
vzkVNxnZtjqf0eBqHl7PjPtm9DAb32qT7LfJIh9KmeiBNhviB9/cV6fA3+5ELqhleoZtcBtKQ6Bw
PNgnnFqXcYl54DZ39G0Zq2PXFVt37c+qVt+0c7kVgHvCOq7iPBjtuxZ606hB4BGIRA+l8wjiE3Sa
Okqm/gTWj4DucBzt49IuUardiCF5M4sysErnqGjUaVamp90YX/WJiTPbNK5+/7rt3+zzD2PrXC7d
lPRbNjfi86/InZdMJmaR3xr5pG0dhPn4qirTL5e+DlJbq36w1v/mbrSI93A94QnLIXf00HLaTLOT
Z0tn3+quLndrNK9HyK2K06mMquNmnrzrXKOSMtEY/eAO2W+Ezz+p41rCsHnydGnBLD3/pE5G5K8X
p/btgLhhEzdVFCozKn/gAPkaSPj8NK5pWjb5R7AIRJIe7MdGY9QZTizzdoiM+ijTkvzIzrV1B34Q
wHcVoPG58qPYA4DvZMosx0T6nY0UJyu79KIZKosRbzskDj8oEH5z5W3JjYeIwHAM12H+9PPP38yg
WXWGBBFAFt9R0Q+XjqHZQdSMnW9Ys7kZjeS15mjO9e/fYl89Bc8uie1I9gZb8C9DOQ4tLEa/kiMm
RfcGcx0CSxWKJEl8cp2uW7XcddZ4mxWEdTqxp/tLYX3o9TicrC50Sjvy42a4Qh2k/GUxHuq+2eWD
+RgbVu9bnv2hlmtIDPdubtrNrI8/uFm/yqyfvXOhg7twx0rTdj39MDFKazxYQMjpN60wz6NV7qai
CWvXu1DQd1llB6KvYIHsO2P4+T76QwXKefqxq1X91B+WH88qlsvmsbrpu8fH/vyhOfzN/wcLFRbO
7+6ffSF0UKj865fP/+nL53/98tf/8n2t8vVl32oV55VFnBZ3M/eUy1ew9wz+XKtohvEK/BW5A7/P
rc5C/Wux4r4Stucx9pEFz3Csr2HI32oV+5UlBDWOoetCCJ5b74/UKtZX1+/f7ht2dZ3ENZ16iTqF
t3roCnaXwh647eGILKfeQt56KsgLF3V31KZM+u7hg2vfnKoRGTi0EAR0ZuZXLJuN8O2k7eXWtZAe
lhKd4jYaVhoocvNxdU5o9fUwX1FShc6a62dVnODWkrUzvCYIEJZ4qVQSb70hXjUY3bTbjVGdJlvF
oIPIL7S89iBJx06yBrna44wBET3IEJenddLVnT8U63SiT8Os+1br9Dl/YaCfIWqn6YLSRMg7CdO6
K6xeuysBNIwju4mzWzcqykcJi3vsahVS7JJJeOXUZEezVcwQIxWbnuz7lQF/TZTddHpT3U5pozQf
y9n0vs8L82TMmzTyZTY0zImNnPGe1XqISQde0PXRadvIjZaqq8C1a+8JGH98MzuE5p/C9trbAZXq
SgKTTOGcahNitmP0LpyfrtwbJJRp7CfVHJmhVlrd6yXXrYeK6PpjzLmZfiKWpX7IZ1NbgzIvtDM0
ss3gJ5Q1dwxvS6tdqgqozSVl6qRvMWfA8VFIj6dx27lt2A/m8D4z4wmbdlfJQDMSdw370WmuSAws
Kr8uYY2CFYZnlzXO5AaNQuqbiel1RKbDabw6/fvWQOG0J9+YSUzaSGqiZ+/dFg3yKonwa1iC4DiN
i9ZLHSsQi7fsh5wU3aW0VgQTE4LtUys38neOWXVFKIreqU9GPtxNb5fz4re9VUJJLk1cMgagwFJm
IpqYGVMMq4qATkgf3s9+JEnhoVqszPDjPOsr0HgxxT6xivJyajxGNEZGp25n11s/jfoyX0NWMsS9
rIVXnqZxwxJt7jWN0o2RlzZdavh2mRbW60ik1WOllvpTovVTdDwSmrdrIjTTYQ8wc6nJeh/MgTYB
21tmA8vvJe5HTNPJ2C1UJAHm2R6Pl4YGnV40BppbJrHceYyRg/to0qUKdKOs7hY3NuvAbDWz35qJ
Gb9RfdJ1TIEznduyn91624i5g/tljvh7Y61pnJGmNpqf611zYSG0mvjGar5vvTLqS1ESmu7HVVsq
fFare79gW/IC7vN82uTUOOP5ggahCKrUQf3K5PNF+WM7tGiNu7xIts4KL1VN0zBu3YwDb1CErUWQ
kAYxBxSbbh6k5ph4PlaICK3r4CC7bnMFq6ZDO9zOll4+oRtl9LDlWEvr6/Ggvet7lOHBRLuMR0T1
juEjDjXr7aJNHjqfHPVKspCL5+vGZHAftup13S3GeVd5zvvI7BFEVJ5HM6XnnTZsIbznpy5udRWW
a7H2vjBL7Uq1eoqxwiggLO0YEh/RUav8WqsNGcJ/rnFg9Jr2kCUWCoHW7CcOp8NlrKKQ527rzkkY
RZbwjhrU21WwMCgOZtsejjC/r2XYMTuq2TKuq771Fkle5WKrRp1YjEJ+kjgmLumKpB2UbRQhbPHm
Qn/tmXHy4EYmqw9qDaFqH7p2dUJJ5VP4zYhk7TXJYyQO9bVL9UDlbF+0C+v0tSvztCNyZ3EpN1hX
3M1oq2jbkzeLqMLpWtxzSYF4oXVV964s4+5Eqmnh2YF5vVyGVr9Iu6rrAM4SUfmr56YfoqHp34+z
p3heB75+vrV6CnM5Cx42Oekf3XHRnM00L177OjXNvAuzRF/fFsWovyuzgsV1jAavvkHEjQyABy1v
sstp6q3lstT6YtkWUws9HJtOOYR95hjrFhVn6QZzX3iXaMwRnmGfiRu1qVBHptcW4Z/E5S8qTcJV
OTgNCjVmC1aXaEEnqbrmvFHogYKYh+weu2A+hFqfifrE0fTmbbMkVRvErWjGraURHerndesOSWCN
hHyjLumMMjCFVmphyUR4BKMKbd+xE0+Dva27gqwkZ+nz4waQ633nJfp1VCypfoomvDLChIhJHtbI
NW+XbJTlEUx8f74sKl6vqhVp/I7Z9fkunuPK9bOmYs/TcT9g3Kvz+bWc51n5lT7u568k1RS5p4Yh
zflyzxXqx7qDznPEFlI1l4K59NM2gVrWw8HN1ZXGFwknO7KkLU2WRYgM1DDsNKMej75WLP8o3n7a
Q8W/AzL99b99+fw/v3z+l+8Lt/1Lfq7bjFcUVnLfbJo0AhRIFILfyjbrlSmY5+qx2dvevhX9G8ZE
RWcQ2iKxVunSQJXFq34t2xx6VlPnweZotgXp8QcgJhr4Zy0iZZtFCJTF0XTBO3UOk5xE3qDt9B6S
pnYzP0HGs1BYwaAT65Jqb7rW1M5AU3THZyBYEwXY1XG/8VhjzaJ8aI6RPIopJPwkW4Ku0a33Zq5l
2RGuHbs9MdYu0wJkhlXNJtxif+txsFhXEQEY44nSVq9J/TIbkBdbfZpVpyqb5/xsiZcWYS7jxcfT
aDRZCBo5MPkhqWsvGLyGo1lVlunHhXRQ51j7NXrmb/pbzXGM6ySR+LgwrD+asmniM23pB4MqdE6y
nTf37R2afgSOtsdIvFMT80h+tGaNEg8IlRf9YkVy3Ry53ggXJuOmxBNjWIxuykxjfHI7HQ2Ph7NR
P0Z9rqyjIeLCkNtrYfkr2QDy426wk13tJcUYOl5n7xpnHIeNS71T+21RdeooU0kVb7DCNabfGEPa
QuKP8mxO902fGCPxWBmVdipEJXGWFNYiAwt7+eQ7xNS/cVVpm/6qjOakJjdob3EZvfpIkPqjb8aB
HGgKwvKBvXMsAtdt5S6ONIJFRbyUr711Wjs/LTBi+kRD5G8oerJHdJ9xHeI0Ss8b3S2vHQeADAOB
bheI3kXSnc1rrLUIjJfocWijVmN9ldobLeqTmKO5ugq8SUfLlZlsdrukblMR6F7U7TRp5Ma2wmcB
3Njb/Qc7QygegOE7N7rB5CTiw8xICyOUzeiwa3MsN6tDCXA0LvT2vlUy9ENgtLB9O7a7Dwjczd5f
+V566ggtf7+sdXnfOBqW/tbqdY3icbGCUZvniVUzSdDDxV2CMa3yxi25EkiG5gy5tVUJe8BQWWmX
pujoHOCFEx2fN6jVlMepiaUBW95x3tip5ctx4K1mmuLqGYmGbgg9In4b2atcC9acOd5BzI5xRdxf
9sEaCUc8jm3DeRwZQI+LQ5j9B0kp/66z5KAI2dOoASc9iTCUJe10Skh9/aF06sza9EjSr3XMqE6A
VCR9HGQjLyy3i4tNbpRzE5ilPa/hMrrdGNpdXH7SegcN7Lg4puLLKOccbcXkvEHNjkeVTVclAWYw
wrZF3Rt3hXCKi9q21trvyeJHK4XgMaf9GPKbplNi9NOECmVnDdEpwT3qgzXV2GDj3I7e6Vk8ydCl
eF19ctrSOJj6jmlPusoq39UT2qB8tVPbJ2sJTX9OZ5Ps8GZ0n9ikAIFSD8Ggj5AGdHnM+x5nVqTQ
3hpyiJ86PdeKIB7NrEenVfKFprpqz6JIrPoutuDvjqc0RzOsGDjJVxJ744IZxfTEru7G7gbv4ND7
bqJMdxuNiPap/2Wfb2wck3ilvPQTdY4sgZ7yqd52feMWQd7Z06ZrkZv60xhpJ4Y9VU+I3jBiaHll
foocK8tv0sSZnhwnnZ4SikXHT3DlTaHw7CgNhso13mHScd4J/KU44HLDfdulHcHvk+4U9za2pitZ
d3PirxMlXppkZrqNcBM8LHI/atYpqwR3Bxlh5zKO4kcLEej8mqElXBfJLVnQ04rypGyZrrcZ4lnz
I+Sg6hjlH4tN2e2R7El42v2qCe26cbEpvEXH7b7rFtyQ4UrjG5QVzrZArZEEc6JssXCK4FXbFd48
l0dV2cjudW+Zcnlf4DhuT1xLd5DWYTj0RY07JxB1bbm0mrXDPCXTLS4s5is7Ww0N71Ouej5cNfSC
gOd+tc6NPNXGnZun3ge0Mi7GBJkgD/S6qbs0GhBJv/OyahslZCz5vD/L53ZMWNMqTkbifG0n7C5a
f+WuUWwFjlgVzYjAGBAgGVuqUBe5Ox8pBLlYWGZH3grCVepg7NuYXBI8LYE1R93rSisWx1+7Vqyb
rNWIPEI+hjI6q2b0o6kwzSDp15aiS6jKCVOGUaGArQqT52VCyoyEvOtvM9fJEQFLldv+ooz4ohDR
9PV7r88GLEfMgEVk+4nNwEH9jkmn5GplzFgVcZerAJWvwF1sINzfNJJFzUdlGfd+vTDlMfS0GtUt
eihD+YWhMhR9rtaySjq2Ro1YooI5xuNST8cKgT+PG/4yCzueI4tQVa39to2w6W1Q5pv56WQv451j
zkgtk1Ev3G1u0PX6hd5kH+WUxgRNM4cobs7GaFbG2zkvUZ7NZZ0Kv0envF6TRJXpIblgNqaRdOzv
1myZpx2REiv9MOCPNvuONkX4zLDPn8V5y7JsWXFyn5UJ8E5hNOZ1jJnlaXbx/aOML1sgmHFty3sS
fMwjw+jS4QKLDj37zNuyboFa1py7QiexiRmGw7LBc2w9ts0swEsZZ5zKObuWq7PavjuJQYU8a2fl
XdVbNhhNZQy31N4sKha3RHrWseY2oVe0SeVHvRt5OMjX+SlCWT/7djatCRc7mgt/oMzyjl2V0Q0a
VZTc1XpcfFBJ5utFot077lJddX3nNEdtVnQ3qC4bfBcYI/kOIrd618aM/wIdGWOA59CI1DA9MYVp
ee9ZrfhUxiVJLVNr47kXnoXqj7E1FSdFl/ozOfOPyvunPc30g8r7v3/5/B8PUNP9q34heC3oWNxB
/KNDFrv7MJRfQFP5ikk/VOYmBCvkxR5P/cbwGtYrGFcmx0KgWSy7ksL8W/XNj3SQTtNzwGJNRA1/
qPo2DmgC4ViU/TQGtucYTBb9jRwAKArZZlFcm5R+WACWzL2vCE+7hgkr2L1EFtHV2Ubae7fO6Kko
mFXr3eqdmD6thN0oP8abeLI2bjn5gHXFHT4eZMZak3nHBUK/O+Txpr6zWuT5LPfYjuWao+BvSJw9
aTuYj7PWIWDkaFqG9M3Q6+19R1DiuMP+MDFlvYtUe55qiY5HhoDgNuhoafB36uO1JM3ADOe2de+9
1K0r1tN4aoPUaeApXGojw8/GVZaBjZVPBbK0lsk3Ad5iP0/2QcA8D+QMdxqg1DKMaeYvrldEG+Yk
dv2WQ2KZb1oLk2zXujz6tR59VGuB4ZqVjlp7zcho2MSAVVFIPU/exuLSqnuzvVQ+VGU5bpXsebgj
mvS9V1iN2IHNiRW+H8es2mj5PN42em9f9Iz0s7FIrsLByj7aqO1tj7qxEx2teGm084JdjfyCY8tO
lo2mo4+mYfFKOonemcOJ5fJuQihuBSiFtXRDy16NQdNlqbFZG5PcQAu7Tuw7budcpBouHd8ku5QK
e4r0Ged9lpvBMiUio4bs8vlIK2oKumj0TOjU1fwkjMQG4KYuKMI4xbpOqUtN5o8UjDqt/aQB0xW5
SfxMqZOw3AIFFSFC/vW2X7JFN94qM6GKHZp85FUrzukjcvzN1e/kCOo5kWBxVkzZ3G+dqMzjgL29
KTekC8yvR8K5TkqhG0VY6PE8+mXire4GDIVtMs8MapehnsDz/wEo9MtetmLsBZa/t67925e//q+v
oMIz5crXl/28sAnzlc3UFmggIVxDJxngl3VNIEBh4RKQnt+Iol+XNVO+YrgZwhVkK1Smzj4g7tuy
ZtqvbLKF2PD0PXezF8L8EVDhGaTAmmbvI/Tw4TNh1uU8gBffSyBINNEmg0CCENTNPjecMjtJdfMH
DOtzapuTCGgrpDbEjUjTwOb2/CRDveSaK2BMp0ITJ6IzxFHbLtEPqG32h+8I9J/PsteqcDE5hTjU
3mWuAvTVCR7q20g/ZRzqbSLA5VIcZNta134UePhcFfbtdK6+h2Fcm91n//PvxCMR0xJAiuaOdJH8
YXBwKcad14QrmjQf9HUClVnSHyhQgaZ++xFdSDuD3WyvzXl+zhoMcWkwmIZRMRZnWRt7x33eLczv
tPa9w1j7Gk52WL/lmCr5j01u+PkTO5wakMxGViUOFArjYuSkkHJ2r7Ucf5rGMsQjoQImfcY/+KDP
ka79qfCvcw65v8P3d8/zD5rG0UAn7A5h3C51QLXXbFtPdfDZyxJ+98Be/cx6fq/cMuT+qv2NDd2f
DHhO7gVIlqk7+teff/dNUvxFOGvQlRfNbE9BWw/lSWo68U2K/I+9J6q6e/zrEx0x407wb7vTcFyI
obwv2sja4ceZMj8rMnHeLmP0llIkIWBgydMnlwlGBPBUzru5zcmUaGZ9S0MG8OLiAuksPfObOiqT
YG2UekfIUHxnj9F4Dz+X3kaSDNJA5OseEIt6YivMQtlRgCID+Xdiz/TF7j6tpzRs/SzB9xwFco36
sxIjHBEYQ2sDf2Ta+pbeyfgYrWBdm9FLCzwymTnPmPJM72muU08LJEqHLGxbgq6BrWV06mSGEwBV
uedeZsUPMAfe2x49ypNTxyBVQ9FURAk0rXE8EfNihH1flG/SpMBI6Bq4Xv1uWN+kq3BvF3TZb6Bu
2UerSM520DsmGQ+xYWvvM9dYPprLaGCnFVNmHNVWmV2kctIwaMMkwBb3IOSbWGrxEAp3TAQHETM7
+tzPAYotBd7UE0mBrXFVA7k9evqgnHXQQ6Y56xAwk9ROB88tu7Bq+uVjg4H3UXe09nzMs3bY6V2b
vNNFlt7qE47+vftT3q69NZFoljnFJxeYj/wc6ennSN/aCzNb1k3vMCsCu72HixSd8mXXe/pJ2WCg
821NIxS469wZSlQIbEKMeNekr1n9tB2XgRpnqQ2xBmO3hIOwtKO2LOSFYSk1+6WXeZ88EteuU11P
m51uJhlUM3lV51qyJimW2LWiXWzW7C20jsw2fKbI20y0vokPqoP9sslt6VMKiNPc6rtoayxjR9VR
NfOlqUZHoaKxy41OrB5jUKVdhzHeedDEZciPerqkT0uZEcQxL3iAgsEogAKWSc5PAFj1W6qO5UGV
3Xin6QQwAdOtwiRuyEUeNBuNfOeKloSOsavHATvFaN45DfSO1RhFuU3rXhI+27m7mOCdDwOJVq/h
2VWY1uv41PcqC+PJUHhTk0q/NgdDVT9wkXzVEj5/0iErWbANVBTI8A6F5c2w1lZvLypcWuweyvPJ
YdpN3psqNn1vmDcZegIluBywkkN107SY805VUQYkZAjvbC4vp6wNF+vcjajVNviWtrMqdv8opr4V
U3tp7u8VU/9jr6v5/C9fPv/n7xkaKqFfu0RhvfJQ61psftRGe3HNL9WUJlz6PcOgQ5cmw/O8/Zib
b10iAmEDzuZZDfZLl/gK5zC/79HYU4kxleAPVFO0hM/2EnYRyb5lUrEJyzPQIh9UBbGJMjBjCwL0
RorhNyZMwtY1M5QrBZE3yRb1RHMpaZDqoBzm6a6U1XyKA2naM7Owfkd2ZsRvCQAEbFSpqlY/t2kW
AmM20F+W5f5/TdlWm0z06TZDnSD8hLpqW3Ute9N+Gb1nzW+Jo8MjYO1cR6WsjjSOcxhNojxdkJM9
2PPAQy48Uliw6jq0BbnZ1Q4RMxE4m7XkuE2ZEw7MV6VDc0m7pgOfNMzi22T13O2YJjYxpjlVOOMB
UnokJizCI6b60nECsnvsD+44zn3IhOHE2A6kC5H/p5xB89FkFG3Qs3Tk10CypH71sVjKDYtIwQDB
OvNojCxaXxa+xPk4uW7ylmi/ad3qQHdzYCSzd21jtHiyMea/icSk3nRE7Y6+58bWXTfECWEuJjRV
2w8lUScQ8QFe+zGhi4yqy6zCkh4AR3ZEFfVlUgQ09JF73MTO/ADUmd0xcFDeYzsjVmnMkhm5jMew
67A2snQIG88c6zC3VvrHRevO4WhMqpA4ej0RIXOHRKTI/STLC4LVS2gDXaXDbaWrqAstdGEXbRJ3
WmD1rvcuBfG9Lhi9TkUVj+WuaXQjBd+V8TYGr29o1czhpBuLtPRNDzYkBO1llVp1Q7bnNvEBa5Ba
ndkEinBBDW+v1d24hmoTv2UA+AMJgaY6A6DXZBgXMQeMJ89+yrJpTEJGoLhW2PJZUXY79tqHrdLa
JXSURgjXsHb2vF1EXF3ju6+PCNUi0tFi3j1xMiM+Lr8j9CMPXKtJH/W4Tt8VWRxnREmmZROsMtYg
fIqEGQKyJ+TNj4qqlr5CpJUHq2VrLcAdZcaW5wj+PuoMorKgK7vYX3s6+1PqhcEl8MDIkgdQQ7zd
+A3mp9K1Z+240Zy48zOXQWjXcdE0Gk7Zwrte2q6fyWkwjXCwte7dXPRFDEdQ6NmxjLroph+Hmk7H
nvXZfINwUrQflFfL7HQx1/HGaKbRvatsYaFcSyUxUIbQmvkI5CW6IT8y7oNBq6hi4NkcElL2SS6v
NUmQCvn4Gh7zQJfMXz1KhBlfjFFLGpdjG9RTtiqcZFcZmZWdTeY0naO2dgb4JLL5fAoupn6YQ23k
RFrEa3/FoIRGIu43e7QWuhpRfNlydvZULxQg4VwZaDxxfmu7q5bMGE7GWFj1ka7VxJDlcAd7f7Eg
i23MQX1VjYAjIKZpIIgxqbOM8WtNI/iKFPQleJqO+Dtpb4iIy5NNm9uiP9YE6VEkW2kOgRS996ma
EM2GmZdrD8VU5ZdeqkP61BBbGhczsx5sJxvvpybZVyhzPF045gg6MkO23jarl4JhtSDhhI45K6bv
OBs14rtq9EyN2TbvO8tY28B0lXwf1fC+QSvE8lCYBQyWSUoLpsH6iaiLwfIbbOR2AFPMlIK6J0ds
18rCgqPynORMFE3Xne5nynxCNltx9bJ1uiT7ZRi4k2QpL1o7NUy/rggyIs5hdT8QKmAZAWFm6G0q
VRTZMXD2cN16TNnb4bUu9cASKQkFZUqon1/3HcU7zGtz28wEc21K2zplqp1Bsubo5LBsAkn5Tq0p
w3/6NHZw4CeOOvZWrxg2bd0QvmDWTfehaEtkgkuM8mfjkZJH0e2A5WxaOycKKB86ByNEPWobFrcg
ZQmUBBd03T0JO/yua3dwuos+g14tYjrPpURLlalYP5oHEbd+5UYJsNAcNfe5q8b7oa6QS8q1AxAq
2gVN0OgNQ6iTVDP79VQkiJPdciwDYowI11uydml3RMqixunqrL3Dhlw/jrJaP1WLpl9asLqsOVkn
l3ApTJs7f1YacQ1xEaHHHPF3AfA5VMC50cTYu1NlPAnogCQYSlKCw4iv65rwQnGf7tPNTNc6KZzK
xW6adxGLZ7lsp2VmiJwal/HW7tMFa4GS9g0xm814pM/7DqDX6+FDOsg9sFVq3od06hm2RCaYydiV
dF0XH8yBZxNYM4I+T1v32BwjwwZRk/nbET8kob5rasdhwzZ+ThcWF+HUlcONqVkm+b6ZTWiobUXl
OwkDoyHERCWGdo44KvhrKHOlTVXs9yThCDjRMbnVllG/G6XG01GSMWoEKCMT99rOBt3XyqV5HVel
LjbRHiH0EREQ1UmGb7MEq7fm3v89TG58JGWse/wTAm31p+1QfXrocW/9f6DV3tu5fqee/Pzvv/z1
v+Is+76Y3L/km9xHvKKOxBbmorUGz98b1H4mHMQr8h+p4miwdcpGpDu/VpKCF8k97qZbaE5MYx9P
/q2StJ1XJlCCy9RqfBy8/g/xDQfwEvUqOIEB22BIGhYcZc8RkJXlAHB+TYNoiSCBfSUrWL0eOUZG
jOYsunMYvvkj7jD1AxztAA7Zn5mrgieOJklK63DQkDNRh2q0aIFSZRn5DoTChxZ03tkwsnsZQm8i
q+mY9i1//N+UnUmTnMi6RH8RZszDFhJyrsqsSVXaYDVIzDMEAb/+ney7uZKutextetOtTmUCQYR/
7sfpJIKY+1/X6H/pMb9uoR0+n9k1r1nD0x3O1b/HMUC0twNnW9LnDlkmZgeladwmus22GShRG6FD
/jD1pcYpTdVPkI1EWrbjoJr/OYcRTvjfkb7fNKjb3+OGArRv4izi6O/FP0JtSlRKBdhnvlpH1SjS
V9OY5sOUsvD+5Uv/pl3ePgt1lOgPIRiT88tvCmk7t/OKhylnKYtNgVt9cTdWEecKsB+d31w0lrz8
++/85w3G19OJHOgmQjKE419vsEHOEnQcgJdxLefMZ7xlFXu6/LzKHzNFbnuZqe2dsw7qx79/8P/6
XU37FmYgsUkM6TdtD2ens+gt8Dyljnv7jolxnB8gaIFPUhK8A//+aX/ezQTIEPY8XpJQyv+4imxI
J1n0mEfK0joO1fAFmWucovUm0AitiBQMo6h3c13/5Tn6Hz8wK8gN1sY2ykNm//UHbqfRcClyrYJC
2tZR5LIIE6GpmzLJv6pe8/bF7b769297u2j/JXDc7iOPsy/SKe82kznBr59J4n9iQ9RVASN69cPS
Gu7UnJXqLx/z5yU0ieFiQ3QA9FhItL9+TG3g2tGZbwWzxfLgK0VKZKye1q+1Tqv+L1fwn/HAr1+K
n4+PIfnC2oub5ddPc/Af4NzGMS9yM39xBAckNE912moawdpQtrZZbPBEsJ3OJwPpcB7H0Q3YgShs
umqLgT5W3L+1Z/35GzgYRV1V1/jRXf33VoICRRg9HnUaE5+xHG8NCUE9esV8xprm/b/XIl44Givi
P/Nnwp2//gRYHc0UDiNrYjtbxxHTO3Q0g5TaYM7t2//3Hrq93NCMGazzwPzeRsp2ycx5RppgziZv
a+Qz91CFN7P9S1D1zycTad8w4FJoXFUGY79+pzHW0J5rsn49OaNzDj9tu84zQMgVt55PWDD5VBVZ
PbF9gzX479/xz/XWubloGaLxauVl89saBEc9GWXLd0wdnbfblLFdRJXGL2LrJJ3OUwsk8y/38Z/P
JolS4p0OqwL+gd8fmk5zExsFvAooPZAXBXfTCyuvu/n3b/bHqnMLMd7kr9uyhzPi9u//a5gxOTlV
fnxjv+415QIfNT7HzOQPRTbhSAD1/6jx8P6FMPIPEeqXR5S11XFcwvQ8qHzq7ff+r09tekUohpAT
XcRe6h1j0N87vI2tXwDRdRmRr0uyFYVbziH0Vm6opbSTL5jh8GoxKXt7gJKFsSumXFv/cqn/eTZ+
+btxoeHk2AYcUfPP/Qyzd29chMIu22qbLePDXGxz24JZrunCxZXk5MdR1ilO58S7tX3U+yEXCY/x
WvzIHA/ioCWtrgk5GmZ/e67/eAicW7qeHY9+W+OYq/36wwmZrS4dt2swarn7rR9F9Z3UBmW99lJm
1xW6rXrOSoUbk30i20COgSRhl5UDCkZA45tFTHWnT45wbhqSfuAYOc+h2U9OshnKHjNEi/229wsc
MjKkHEN0/uTNND1wGW1J2q0uvpqemykQOqzRaJEuk4oZfBkUTcVkA2i2Cwc63ASMQGwJkazSavx8
sZ3nkWy6co5a3eW/0xesOKGuFiDnFo94S3J7tnpcqEy5UslfwpvGB9lr2QUcfR3pFdwYXBWy/KT0
ZwnUea7wQEsOYoHJbwJbTRHyAp5UIekG6PGoJ2aHd6VljkK2p3KLt5yE0l2mMg0K//0x+v26sKqz
j/ccLg4hTf7563WRZQHDUTR1oNyVIqKJ3ShDEIv29JdF4fa24H/1X/enybSaobXDdp/Qs8V099eP
yuXE/KhPb3G3zE7fFTKMzO3k0mBHpK258dce2KGotQzlL2+hVo+48jO0sliNBRhSTL0n8H/WHbMt
amcS28PZPKxRWaQnctMUFejorz6FambAOy1+wFa0dhuDBy8N0wrCPEpauSUVp/tgc9c+msfs+6rT
ZuZXK47HYc7skN6GMsxkq77Pw7JrZJe/qn2BEOfGxfyYQXJPfDY8ru/yazIUbnXO7zDZ843dddfb
kphFWIHNHYnO9oJv3xWnLCtyCKON3W/zUYWMN7o3Z2IyxcaB9cDZgOfqae5xnJq+zewfoPvsOte5
7a0zybWAAINqR1PKOApVQenarVK09jZNF3nTFvvG1yZt/WYk2b41oTa9c9G1wBzghTBmkuWwpYfG
pHSANw9NGmUlnugYgeS7TkMwtAUpSjw5Vw0qcMpJv16XUOtsxd7hqlEOarU2mxwC7PU2l3/oTKd4
1PW0+mEO01D5Hh0hECdLa9CCpM3lNp6SeyIRnbHtkchxFA2D97Nvtb7hUVOs1xhS9RLggXTx6RvS
CUZjMCa/d+R0ATPcXTVLlHuy4Bksh9g6KKMR2XQHR70hjSM/PhU9i9kHrank28ydBoOkpzX2OK86
c9ypmvUjjZfvSk6XHGE8Yng9d9RDqhBPhKndIUdkM8bQWTPesJdpu5nqJb8u4xerRuXuVXyvAocT
xEjmD5kLL99dMekHzSKWyOtLAvIkT3WssKiqVWVZD61HX4y/TgnipMhxaPFh/U8Ja9oNGoWt6Va4
k1bclXH7CSL9McsH1596fV62KM7AQgHgg/VnhvNCbwjw5ZgRS9TmLRNCBBoUUgsLXQI0OMnWz/7m
6Z6sPAkGkVH8VBjTg1O2Y0hpQ7eNvWqFuI70uCVPR96XG3HcsGoNdGZM/IKAEexwUJTxwChprMI6
LuI4yLLeedLIEKd6jNGBQ0u5L3rVSDdVnQ1bnUx0Hq7jUn4b5LjySxYWlSV1kvAaUcwykKCXL9Wq
qNtSzmS9NHM9J5MtDxyzbR7u7E2AofObHOOqQSHDWM7kFYzoFsLrc+sl5+TIAEe3/F4hXSpjGc68
x6lk8TRfT+d2A/a7iMpu0qxwFZ71RVc6impFfgDfsVHL+7YZREydb7L4sjAIP1jzCgBUdv5ayJ6Q
YWJehdQIV/QpR/gRxVjHy42z4blmkrp3vIRh6NhdCQZlXymxuH3dYEAZhycvs5KNXVF50FvvqKLv
xBRLeoTqQnxnt/PlmbzcpCI+etmZr0zPqWji5LKXqw5+RFQP0kvulaWpj2pnKt/yeL23pDMHhDqI
vn71dfbsJt5XOmv0W7nLYVGTM4sU/rxJhM44bLtV6zbebSIGBPqNDi8RlJZ+r1FqGIxWG+X1+kzb
kwyYgB0TW57r5OYitpvnRNGMrbUUP6fF2rSu/uZZ7QcxkmcPsdK3iVYxoutcOi6halOMQUSixa7g
eA/SANpJjjRSBvQPXVMK32rbOmhoC74JsaeWe6xMMVP32kNHkD1IefGeGrDOvdaOWCuZKiGtJpvU
1u5Lc+EKraB60zw5sf0smZc0yDytrTNAW5S7ajRnH+2UEipAyHyCah0k/oaN7s7UQlUNUdpaCbrE
aPBrQ851unj2R6PFpjMaO6Uu6PM18qdktrdsdVY2CBaaL88J1kPVL9vkEeHX8N26uS8WNfBGGMy2
nv1w09Tcs3uzaJbqdPCOuWZ9FWw8Wj+vFPk1ltb4ao1afYh5zk5ms7aBWReR1mb81aXi7ZRW3BcD
4HWh6PKRucwYEIF+VhdxXB2Sqr13O2Qk2URkE5Ryu+7ZTZzXAcKp1yHXrVq7KRlbMWyvjkIbXusi
Pgx9GW+Ja9a+YlJDYSIWIeZ4gWVJAxtWloatcAcqIspnh8ERvlYNL0heOU/duipMmqbnfNQixaIa
hf2Xj0pB9saar0Xufib2IgLWWMJonTWGrZJ+DnqSbYTOioiXZ/EdcjwB+EVr4+mUuzGq+9TT/tAx
tT14o9H4sqx/utQb+Hx29pPjYRqYZayG7tKkX/S11Ue6NaqIrGH5yMSlfF7jjouiE7EWrbKG0Aeg
l09auimSIgKjsGXXvG1nvBXcEz/0ylu56xA1pmHJzhl0pj3JkodUM3faLB4pDDqNU/sAcSp/lbK7
ZglytZI6S6C37iednEnYpKWxJ86ho2cteWhnSPda14dxKUHGj9ndyur80HfigZkfcZBZbm17CcxG
no2OCaPVms8Qp8+x6yVwfRMqWnApK9YJeNNVJ3mzmSZxp5ugtZ32KV4FO05Ui10xi5908DS0WCyn
NNFYN+r6JPRb1UNC8stUVILVXrtwUXTjmBkECC0dcEEz2MycmE7r5Xxyh2TbYdxigiTIvgzyatTc
/ZHGD+mXtwtejW9OIoaNI82twoLT+XB6iztsXNDbVPs2UK2fvbH65GSDwacfZuL1ejNteoQ/7sUV
M0/iLHcYow5j760htuU3FnAraLP1e3zLjPlawkvcsHP2KUpy0jJdPZuybH29tIKGDq7rXHFTIl2A
wi/KxU8zqs5qDF5+v47MwJqFkGacR5iywk4ttqlLiNlc+G/G7IGoFG9ycIVENat3sOJOUKz1l5op
IyPI1IvcW37KxCZQmWnPqMS4r9lHBxSoPNl1d7LLHFFGt8GLe+07zpqjSDx5TyRr2lmJqWHEHrqN
sijfRGtn57JanGBq4zsmEnGoITCUVbFXy6fYSXYxETx4yKHZacdMTc9OmocqIbdtXONHmmNF9bui
a0iMGnTVEK8R6aftZHuIOSmQivXJUm/zrtV09rNFjyoWIv5EhQzX69Dgi7R1fbh925aUkzKXOWZ2
/eJSaWKpj51lxpHshq1tKC8xp7Y5n7BAmBd2GpHqrZgbinaDovGll+RUs+a4qsqWPqjUVyamKqD1
o6RYIuG4F1TlZ7WKv0DjRNZoEfEBjjkxS2ycR7wR9+tAkclaFW9Ov246Y35u3Iylmzfs0GihKUwz
GvW+iAy3vKCflpGcRBPqlYFr0ChBltQAQrSJy+HhiWvqfLhj2s6G3SYUnrK+G/G880g/gY02tqlF
324y94/47sJeUdqIzAxoLgjoPuTLF3Vk7udI9VQq6oOeOHdmhdxkS+VIz2AelmoxHuzl5qsTZLDw
IBwVExJIY1HTBPSgrnzALt8z1J4wLpb+9iqgt8RbLhB7j6tbn4AAiDtRN58O9XKgMPP81LjsyNlN
f3Or7uK4tCNOzLB2FnAv+He8uits6LqS7YwlVp4zTiVPiet92LDW58zZC7V7ACPzZMVKMA4IhNI2
f2aOKziGAnoWjvNd9XIyrZRnYmTHR3CDrGeuXgeMeoGhOOINef19Gl0mcAR6wNy6T/bM2DbV9IhS
KlhKq8wPbmU8FYn7mKaKg6zRXXECXZ1ENneAAvtgbdbv5qwc+rElNmZP6Qba54MsBfsGPC5hlbQX
hU4XzJTEi3Lb2bNJ2y6YZiOqPwgzpVa5QTS/J1voBAPR3Yhxy7Xp8o+ixxy2KOl9Q3sk+z5ZSh//
209TK69wbVn80ZHog2tfBlXHOba0X40xX4nSmfvWXYxnRRvxc8wUtZVxsuCxG+RBzOs9E8lxoxAu
jqwkr+h2XCqHgGT3TmfPSS/bc8YL7NCtSky7impveF9lNCGycJy579YjBVZvIxQUChcX1jm2IytL
6MnxMlIXlWbXuzhtPpWxkAfyhGPgpNl9N8b39ZAdZsGQvK1yb9s2I2+dxVFCxZyLQOtbGNpuqgdN
oTHC19c+zA2bGAfRSd/Lq5duHXYO6YUN8VgMmHSmL5VSnwAgrz66x2ad6uemUn6sVude1GRIz6pL
t13jdHpUZVxmSqKVkKq+5EzuIlKLeJ/O+pbBkPImaj7YLpWtVzk8Qe4cb6kBoEakjtyB4KQYXxov
G4J5SfaOQ355UTbqSJHOII1TMw7XhjJQX2+7E+1WoWfdMolLbfHyYpNTVOnD5DlPTY4p1Vr7S6da
r0vt3XsTSfFK1faUEIzUsRHSKac5zJPh2VyVZy3r1GPnNtfZTR46rXmoJubTlKi8qaLbGjXP3WqZ
J1E2MmgG/dBb3mFdqZvr2jN1XRxLOMHwqo7SWxJTaZzInPrtLGWIjrGHbKLxYhnqO9eiDCmw3Xo5
6b0lwk54+6yKrxrlh4FwCA6TSNl7bRUZ1fxC8a6Ly0cLpcahVhZuGM/azxEDC88uTTgpWanQKZ3W
I/jHYA3Uva5yZm0EUVGt1LEnd/k827BO+n4KCgtbJAfG8dFTYzxSUAKLaqPIlmY1mAExCCRgBesd
3SpL8WBDHWnw6nrlQLRdpGe8RMVVJk33kw4/Fj8F0lRLDob6AL3sG9SsbDSVQyzRfIKksfQvlBzr
RREVeRo1ne9Gw07GrSYd+QKPqb1vyXvGAf4ozPyZNemXWy0mL2tNxPYeb3EZjpZeuBseKXhH6jCT
35y0p4aiNe1Ea4TzZLdjetFRlTdTstyvevzkucsVV7j6AbQD16n7znrXBvnyYfTr/eyQdM06PT/Y
yXKzTKd5TkOkqo5vkh+IO2wwfI/iRE68qbgCo5kiBz1LGTgs5Ok5VpInaWrEZPl7S1k+xByey3W6
6Il3RQgG8tGDXKIM7V6mJdLH0uRnXWJRC5J4oEIYD9l9mrch2fuC5hs1iNfcxbhqfnS964SVHs/7
kiExa3szm/yhlRA/6AAs47QY7Po5OdBHkYS1LZt7ykaOYhLfYM80/tCp01Pv6G+1274QlEaEw56F
YpM6HzllJpw5YnrXkhzSqEcpAlz0bynNK6iPvSp2NNbYfjlYLyW9wY9Vm7zqFQ8s90Zj+QXfyaQe
Z+OUFNay6+tWn1qQ0UU4wJ6YJF1qbFLRz5sqqXfOIPaKAXZmMu7Hlf64VOrxkfH6R1PkzTbJFvmY
tkpFjzCGxXfOZclHV/fuhaaPLpKZWz4krY6ym0kaW0bFYpYwPyBQbpbEPaRYry9SgIxU+mTZNpPN
epZrnKTyND+pYJofecDfh15eaHEY7umbyBvf9ZoiJHSsPHMQRnGFcLY8LmO/7nktAu3ixfrUVpzx
ynXNL44zLQdn9b7REKkcXM25JEb+zeQ6HBuTBrbU8dYXKjC5Edi0DeEwuOpz2XCin1IMV3M6Vs/e
ioAABcJ61JKEr2BrFM8xydzDv/A20rLnCzaq9NN1HfvTEpZ4mUqLGpXRfOk01T2mWVXe54nCPtyS
+bl0Y8FWgim6n+V0g3VY/b1FP0IgmALZWhbR3CFUU40h/iA/c2c4c1mYoM39O5PtctNb7ZW+rvm9
TVGfeGKiSlLPqRdmemQ8UhPBb6u9qMdp7zZltSPE3e6a1hLPhlziPOg9+1WnMi7s2EQHbKW0yPQq
DSuBTgmRVxUhdtwwQxryzW7Rd8aN9SPkYkPGYe5Ny+ujLbI0aGh4OqzqQFVKyVw4s+jFcSw2Mr07
vM4LEV6jjhYMX2HJXjGgJ4pCBhre6LpaBryIorObx6Sn4mNT6XZ/Hlv4PSSghfpM6TDvBb2lyynx
8jdEEmBls61KvHaWdtQzqW49EqeBoiwY7sfpAp8JZcyyyz3V0PVmtFR6qzscVZHAw75bWmzjspq1
nuW9VPbNYud3fWW3hywxFXBd6dJE9DklpEeS5NFRC+tc59NJqfRqA1eKwktq5d7qIbckwKKZ/EPr
qO96WvQRzEDjxy0OxpAAVDA+q6x/9zxK3075QDqTOXqZ+nk/aJ/tTWnmvNTlGxARbFR4dhIzkAQJ
uCEXy3PphCkWtotyaW0jatdJICDhQKOoa5AmcM1GpXDB8yeTG3K39P3N/4pqzfONg4vWodx7B/dH
l0zQrilEl8FN2vhAYKVv9gLESI1KjbZ70EYtM3+M4yx4erEfQc6jxb7/Dl21n18Nr+ddoFGGk3xQ
X5jJk7qOdrafq2lIQpWxwstQjf9MJWimDqeBxwunsdvCzBXs3oKFXf/IXlvVth0pHGvPu8JuOALZ
SfaoVqb9ASbFvhAUXZOd8884gdrQId+zPV1MNhT1sJsIWbjXUrDJO5iecIwohhAy7xpsj98au+Sm
qgt6UXdSSANT1wIo4yaEOEp+SHW59EG6TIYBDk6XpjwA+CurO6Mz5aVcpryPjEk1dqkQNm1cFuUe
wYTuiJ7dV4v6UXW4C6tKdZsfo64M5v0ibJIZuVWZFqMyC8gosXVFRr1spm6HLE9bm0xpIw1vplHP
582F6c4RrVfQAkt+Hh9vw19P0Tcct7faqlwXvK40knbASmjl1OetN7cPci7m1yZHfva0T2XOEQqH
+75oI0FlGLpwy3Ljad1OIDFfV+TWjTuk2pGr/Zayq03F9MMd1ZUK6Hl9GwD+gO3FNDjQNFmsaHec
uNAbwmXm5EOZl71ZcgSX2yE+jcymdThqfu/TmW5e1VYYGyWDFnGKjytfGCsdgzf8iLsTyvwd96x9
19iCZm1PRolIunv+iPmIZF48Gd5kvagaCMfJkh/uaPLqTldn17HbDjlC4WkvO905NPxd/bxwXC4x
MmU49EaNXlcIzyu3Jl2B9nUuS5d+QI/KuETiatwOpnCBZLSL5BGxu8o4TY5afyTmTKy6AChkHrqB
kja0htu4NdJmPZ8hBWUc6E2r6Gm0TEfOBQ2lXU7AuXGaUHdKj0oldzFPWZcvTdi1ELGDtG+zOjTm
znYgkCkDeZ+a8qCIG4Z+WwPftXp0qkGx7uNJOPYO+B+0NlPBYhCTvinOmkhU+ziDc2r2XN5s3WlC
11eaO6HvnBynwzaGZ4QpLG6OZI6abtSLKztmmTxBbysNGuuhTkW2UPjnwirk+qraeOPGaAcVQ3Yd
A2rw4jGikGlIo9QyW7ATMQ3tftMXjXGqtHUxHguAoBqNoNZQ7tQMSueO0llqrP3/LBPCzQnMCZsq
uYs50Nd0hosBgwOU50BjoNEmw+p7dqUqZ9z2erbj/0xPdtxTJK2NLtALo+/ugQpxwtKdYjlYTcUr
0SyGe+7hdYx6AfIzpJIsmV/o4/RCo5cQq2D3DLtK4RhYlsgbl0Jt+x0+MjL46/zSjQMpjbgdvE0/
M71M2HferQn1r8zifnrO+o1XKocsNuDHrod4x+I9HjPTPtbCLXekq4FEd9PN+TGj5RjWuK30Zg1J
azX4Q3sz0DqPvVFtzvt0UGh7vw3fF8lcK7BwNH9RpKdEzMzjV6jWg3aT1dLXCjLeHA0zpiRO+ZTQ
7ZCgbwnyflxOdd+mbOoy7gVrMLpj6RgIQWlpe3dQNOVOz9yBQ5eHKXW1aio4m4JoH/cyO/dqqIen
21glmgh5vsq+8LjNDbf+7JRiCafeOlHzWXxgvF+uiubpVzFkc7ad3aK/OaaT/aqqj5Ne4/mxVGrH
ZWUj5JQYnckmxsFCSDMiqqcfMpaI7gC/UtnqU/mjTJR8U4CVetR7wogBgpzJN1lWWg2b/jvO9/kx
ZXzyvcjqeaOW3kDXvVkH8KlKzVfBOa7hktH0Vy/IW2uvmruVarZDrcXy4nBSvRAkoCpPN76Z9apn
AZNa/aNERWBw5oz6hgnH8lwwaCVaYzRXWhRfDfKLm1mr3LCSIr7GJOro6nOXS9XHKitDUwaQStsz
RmjKfZvRvS+8aY6R8rhOhFjooK6HQux7qgO3kBu9j5mGhW0r5uZEN/NwZ8Tq5DsolJy+LZ1i1ttq
16UvmhobR6BdH32hlyBj3b2TxfK0yM7e8MYY7+iqNA7Yi1omTH377mRFFlNsoS9UOGLiB41iiAbs
bmKEpdXF2QZ4hfkxKTR9klWpOy0cbkGAoJjt5b0DaP5Pj6zOsT/PLvDQ3NfUXMbXuQQeQe/ZVeH/
dMaFb99PAOJWNhj1eiAkoXibhZHZ3cxWJBpoqKT/rBuu9ZpCK+ynAxlRdCPNnp0dggKqFQwGhCIt
t27NzM1qvKXd6vrj4nYh9Vb13WDiUe8dfAC+i7lyDbQpL7ZVrpahjVEHvJi6pt/T2HYjJSUj5Y/M
tRnBttDsTBcXddVKdOIUqJhS6HSsohlqHtw1N630OZhbS0XdnxONR8V1N+RtnEeoFBwHcFRuGUh6
DPXSWN+mpc6Z3VFKehTneo1WU+3OiSL6D2fJjbu8ED8mtaYKcOjWPWeaJHCaeMw2BtzgfV01dO/Z
bEStwrOOWoaWFa+0AJo0/yn+CCP1KnVnfmuHVvc2seiWM9B366FOZnYefVuG61q7oIlmF3Yl8DRr
3XF+y6JBhe3VqvIBT4jytNj1eO2ZirF9zeCmZjTQsg3MI3CbxrdBs24nt9gy9onFnehL2TgPcYYD
wG3ycu/1AqhpPsU7gqwodJm3yUlxHXhk90Wdrm+46VC1E7RHNbf7q2KSjUnZ9nOiHcBoTcasvc63
MItVkCAThp6i49j6vS69lwLuCv6Zqsq3k0V6V23wFmDHS+nn8yrOdoO+K7LV2MZpMV3A4pZsM8qY
+z+lInmOh6+qoFExr6lr7KbpnVY9544wUjf47YQD1RkmPoeZHsNuGaiMxAN31kG14gY+LM4QuaUm
fIbbkdkpOxoBxN6ikhC11DroOmgTw8laAHXL26CTecFI8kx07tMasZk0lCRrCyEnq1ZPUIFpMRJA
jhl5gjpVO7vIMQZVY6RUt/0Ncd5NvdS0WKLTnQpO43ScyfQBKbw+SrV8EOychVtlNiimWzXsxDjS
wHZ7aMgZITUtHJmTSlnS49B3WeQJkRzxeYxcCNZEb/Z4AVdoWKVYH1d1JlvGIhoKbuKgnAesVKpH
8ZT55Kj5R4VfLCLemmwYCIbsvbTnUSt2SO35ofKW7+2gDQTpSu0HyDMm18acmYFtLM+r287Uwmcz
lsFqWJfKz6SbHqjA9b7FVVwhWDoL+fGMZPjGFBVZXDfmYDDR60aazAJwWCocqxsxK09yaMeDPs0L
hRHkjvuU6LCHmoYIL4f7oXMRlGiXDhgTp0e3cOogxah555YtGjqy82K66hZNkUMIx66AHBrOP0/Q
79tV7VOmKtiVWFTDuqysiHjKHIFVycOFbOGmRXs5J0QwQTpUSIKguAJtcLzjCInGT63EotvOgSUL
DPfZouT2vUKpfFVsZQ+k7EDMWaWEOW+aEyp2oI7992yyqss0Wd7RzqvsoAMmuGW+hufYNbVj36nu
qUm67gvxWD1mSpdAdCVsGBtwh5UkV+9xeClxyHrG1IExGUOfpA6sMa927YKJkFQie8aGjmUpjSJc
ytqLdF2xCIYV1niZ6HG7g6bdHBMO/k+t0rqXGMdpWIIP3OnJKsmKL2XzoOrtu2uQiR5KXofRsIhm
57SNHWYmrWGjXMYPb2TKD60PfRoI5yGv9KMtOXqdF2TuB+qHmQyvVP5qgUDqPSgCqfG2ZWQC1Igw
BvC7iUHUbtFMtINDqNRPY75BDX7Zz2eUzagoh+EAMcejKnNZ3ENTjNltyN18X1hp5I6n2nuEhFsm
Qd5WcpM6w7AwyVSa3SI11oCsHMMFu9qugsEb4k3gacusvv8W92wx0T5cr98I9YYfRLkD49Er5iFB
UyGVSkP3s5no6s/UXbzd2LMnE2Ax1efWsofrbJrKM2lVHYC00x/IEX7LO7c6S45YV1Dm/aGK7eaB
HA6UcRjjxt52uqlHRtfXKpgZjkGZFJzsVbmckfbL0OJgqPoCGb+BXlqzytsi0dCvk16YEImTPrDt
UZ2Cxmrrz8WADBjSvRo/A8gvfhpF7DFTUXgXuC6ThnGk9JWkmsi55bNG9UA/ZPmT3i4WBMYeIZIg
fGexB9aG4zgMBV1BK3u20qL39OYOmbH8Olo0jKuDnrBi5LRRmItlai7wRlL3qZpZ/ewFZxyBP8O9
7xD0cgw0Wq+9mHgq2DzldnJw65rK93GyjR2FtIuvthVYZ5k2jDxMKUh4pqLVlkADbv9DHXPBXJRW
8LZNiwN8PO3DGObuMBJ8bTeEJZliGOup9ZgBJqWoz82sxN/0df1ISZgykWf2XVisY3OWnYrCkXeG
VIvIaZW5ZTR4OyWb9Kq6835U29jvvPxMV8Bbxk2OmigzHVh+KjAmWW7YSeiQm7htof3huqrvLRxT
SYgJjVWP3fZOI+joZ3qGsjQZOZBoPW62WlJBqLWXquE72YQaU8UlBWY7n8h48AC7ejtY1hymUz2c
y1z0QV8WKuMrIgpYsm98ctwteW959Pb01V7n0BAY0v30nASTA2bKbdVp47dc0ZK918TJsCnHrt8h
R3U8QBghOOySQOtkcuH3xkeEH+9IqTF4vnpuKKgliBMV6YJ4vHKRlHQEI8MUQznScFs9iYaz58au
ZlfjX9bn1dTWi+u1AN0pvFVWao81ZrQO02N2UIhezEdNhkF+xc3nhjIb8/2Q1OzR+XdqOLBIM0CG
UIlihkWFA0myE7YBnsdS5/+j7kx2LMnSrfwqiBEMLGXbbFs3gMHp/XjfhTcTU4Snh/V9byPImgBC
YoQEEkIggcQVEgOuhMQAeJjULbhvwWcRmZV+jnv4qUgJdK+qVKpUZoYdM9u2m/9f61vt0kNYsqL8
pzTztJNXRMJHKywU9IcsiQirNx5b3TAUFv9p9GmGteGEVd+PadBthJ7HbBxscldTfMT3emPQUM0z
ad2XhoJW0CqH5LR2Dait6kTKZtPn0vPivOw14C+Vtrr0dUqaFdwJ9qFpNh4FFGAPii6RVO5KLlHp
mDDjLJ28DTTg/P2XcmXQoxJIxS9y+hFDeD/vEtMMZxTmEfVItgjMWdOps7bco6Gz64806y0aweQU
Y5BxOAVvOteNGbF9isCV2bC/cOhIshsL+zTCx6yDXMvj2leek3qgORM1WdJ91Q9/F0/wz8iJ+/OS
WtZ/e9LkUMy+0PO+Cmn5P//xf/3xv/7r//0//8Nf/eV/+zt/76//3b/647/5p3/8T3/xV//yX/z1
v//nP//jn37+6Z/9/ZemwC9/3C+uQKH94KjkZlBPhciva1zoqytQTKRvh0QXst7gE5EQ9SdXoLB+
EBqOGOwEujCwcaG6/5UvQQQd8G9sOVj5MBqo34XrEpN8/7eRq2Azsab/iD3HjQLlFrVNW22NMuR4
AuDeTYgSV8+iTC7Gns67rtyz1TrrjWamlahViSFYBLrHnIhoudPzJ8JF5kqub1482Iuvl36JT/pi
Y3rrF+0rpI1ayzprqLZoMbdgUNGyZTnlQyqrx6h4V01WUlkpk6WiD/WJbYRIPGTFEW5sfiRN5kNh
1/BM5bgVrcBBPnWXFKpwVqUZ8yCxkpVI4xuLo/AqrpE99CNWNTMLrwAzZVdCUjNyE3VL9skDdGQa
rNnNCDuIX/5hIMhtppE6v0njytskpUKf3s5qsLL8wEaOz4btHgH9XISjd6Fm2Q3c3psiac6sBMWv
X/lwC42QAkEQzAtFPHWl+kE0vUnzWb0ejMybZS3/09Tm+ThWBwwck+30rVc8OUtfTkqizk2lLvp2
6xC6wFxtIw3gnj3fDpbOtHsHXWrG/qIJxCxw8xNCAh6y1DrKgD3PJBGUbVUh/qAVF0NsoPj9XBIB
n2D/tsQsVfoLIhQUgKyxt2KCTo46L6fpo7F5dEKtJdgk8YjvaZtFJBFujMUAjFaaN5ZIOU5b7WVR
WAcccntA+z+NZr6JnVtlU8oOT6F5MLjdRRz7x2UKNrbUT3nIm7qlvNRKKFO+4Vp3Lgzu2cBpWgZx
yEkNooJRF5vODFcUhK7DLl4bjvaEH9Vdjwj1ZpYX3+sZ6nMGe3qJ1Pmi8ehCvj/s91BCv/306QN9
sXQQT9QOoUJtq3S9DfWrdWJMxLyFg0rA0rW1Kt0ru1xF3hQK48QPral+MKN67nA+imh75hZ1qpgI
DdR2BYZzBi0CLXHi6FDZrezK67vr93+q+NaA2vOW+GnuG5GFMLFpEAQFKYuss4xaFylXQzhK7z2V
BsPHzm5iPbzGZdDO4QaoGwlCuszyE5IrQRqU1nex3X57cnuLLn74VhhGUsKrhkIZIJlt+LIO5Utr
2jc+nz0bRUopNvQolm7lkJ8UcXFS1QNCahOyidFqDooJEKa+ihEC7DAAG0Y7wArOS1py7SXI9UPV
P3ep7jZVVbKVjdY6PfgZbNcHNY6uhVZtOPw/v/9uvjGdqywlL0eRFUVYc7Ks3PYpm27v2ZksOlDZ
DcOj5mkdmFL2LCa/PfLpWb0YrOAtqiAJGsIdYFJPUkB6GTwfrFiaPZMiW1jkCTWScE3jECxQm1ak
N9aF/TR4N0W7gv612HbOeC0H+ziMbNg8ErZ11ZmfKfC6wPFor0dUK4Mh3ISmsaLWOC7QBsOSZ7s6
4xRSI0BQ78MC1TWsnk9Ohkc5sWm54cBPDljEvrAa3/qte2uYaQwKnH8739KlfCCfSZtxdkCnIpsR
aeWoIQCJOYY5t5pW0fgY+7ktk7tS88WMtGTw4/QqB7W+T5opE8E7qwW6BsdddBJHgU9Xpg+eikC7
6oZ8hMitqYscrVOVqKfvD6NvzEZYyHZf8IjwrPOlXmxHuDCQolI442hbdfNGHbU7o4Pqo5F9BTem
9UrMXnhlLMjWhnKeO9UpFrM5Bs1LhZ34qDVXXaYeE5nzxES7oSaEn8crDrkg9Wlov37W5n7Yajrx
3RPXKbZhRaqj0mj2yUivEQdC0J453WguPbwNcx+q+KztelpxIgKBnKvnhvBA2sVYUSzwfjgD5IxO
Xj4z6DaDA0z0ZR1V1SbW3FtaQR90V9wOmf7oCKxEXRSvmyr4qFYC/hP6ozmt/WwhrOHYTqDwYMe/
0dNDrq49P+SvHxyuw9334RKbYmeSsA8t9OdmGhybprtNTOe5paqUpc1ZVN7zuo4NWjCyrI/V1Fyl
caoc+OAn6vWbD3lvyk/tumw0RuY2yiht47pMKPWw6aGm4F/kbCkc4hQWIk0EIs/uU6TLp1wp6nnQ
oAiDjV6uJ+uoag/eIh4Il3CaH/sEm0hvINSG0IczLxFUw/OyIIGmLxJ0nfXlBB3c9NTIE5OmYXmc
xO2xVPCDoU7uaIXaxtKxC2eVNtoJhcho7SjeJna1j6Om2GzNMO0USYRyVmE3RQuAcmV8hPWpn6xv
mCEKlWQwDX6iXz4abqhTkHQvKCyAs88UBKz1bRRbd74eUdOexNxxdpJ4+iaHOU3/uVwVvnw48MHt
mvZ+e8F7ixgBtJ1tolanPcKGtvKKm6qFv5+38O0bXc2poxDqpgMkoxKMAooWnrY0mRQXrMQRmm2K
gXUkPzp+zvY8J1PXR9O8BO+5LQEyzHDJ/AJn/ibHQk67qbe+uL0Vsc1qr2j1pt0CxTkr21OrPSO3
/ELqMaVoxLayAcbbWYDBLbEs2RegokkJfgD9xoah8uJ1j2El88fP8CXPo/5h9OJTS7HXRQ4w2y42
ORY1rIGzypKbkmJ/LD3u1d26KNfjyEQpgd4ne8QisAEZJHDkl1cRfe5Mb9cmuKHBFUtFu4zNE+be
mUJ6UfsjjRMSKKj6+PHyd76zvcXWHZnn/K4tt4biyHWN5eUmSiNrUZNvcEReojV37YBmtkqpNUOK
xMhUF+QdrTFUjR8DxGNA+UYKS0kaLysUrgudwuIS9zBWAunLTTX046Ef+/Y2hjVhdwZRAKOrnpfU
VG/x7M4zB2lrYIYDGl/fZa9sn3tx0S2y6QNU9QZ1QRbWc8/JTmDje1dVGlAWpxwYXNhB2Fx3iU3i
zSgB1bWpNsfgU4NNVRXKeRGis+rAfsb81uy+dz4d0HoGiuFk28pQ68WIqH4W1ZG5iapA4G/I6TT5
+PBKcAKLQZLH0mJamZkNCCQK0ifhGFzhWTrPm2FjiNzH+MCeOSdZcdk35Ou19LlmAbQccqdD7Hw4
e1Ym9mI0XKE5y6EbYkCw+nklgofGIY06S7y55mlyg9Yj2uhaQQaQ0iIC8PkbhcDpGqjk5uU1Wuxy
CK8Ml03ftGt0Ka8v/KjaUHR/sLHDBZ1Y5zJOTvmKjvBynREgugxBmdE/bPwcKI6KO9iU1RHpdRHf
0bSrV9N+XbXmXR3VbKph5i7RP0xIPAzwVmfrqwND+1ujZW8DI4oIbbsa51tXqXleKLiB7HU5617i
9kSsQIeftH10L5vnXmrlrFZyuq50cIg8RdOc6ZUBI0PcicrYRqN+iUcTrbRfcDrRUaZq7YmcpKqp
Lg4sUd84lVDP3x3gWZen8OLyeBtF9p3f1o81QhWMHp23yDT/grrdnaZZd4nmn+PPrddxVjJTmgpx
himOkEILLqpEfBzC4Or9h/jNX7R3GtWZcv3eSqlkQNA8F0OoMv20Wo0dM934itkBUHaKxVSpX6Lb
FgvSz7oN/Z5tKTPfWjPBYKAdqRmdTl3cddkQDHTgt719UEDqtvu0NHKi6orK+Nbz0UqoeuHMDB3z
E24TY8kmqqeXq9PINs9rj2Pz6NSA3kxDXVqJQC4W9/IcRzVGxa7RqCdgbcoZiLMDv+4bq6G9t90Q
FH1tZNbtNpXRkTaKdZd5C1WxTy07OzL51O2GNB3DnifCvzxwzenPfmNV26/dopekHh8P3dYNxLqO
3LWakGQZBOhgXXvhSnVdOc6iQI5JZgQUN/e2qty1FhBLSpqRuRh1qud+fYCII76xyNp7iywv3QCH
Kfot+NNbPcR+odfYegiDvHBDrHQR+VnoBNLnREHgxSyh+9m15NQ/p/1uLNEs0dkU3lNGljAy+fCj
aStn7z8qbfoNbz2q1wufmjdK32DxM1EPWa33CEjc/ywG4cAVzSr6i1hwCjajQdAeR1TD6O89Yvg7
KQOqAS3ikA1hzPmKigFiG8gQl7VnIoMQ8ZXR6svRDB8QccHuVIdlWtQHsCLat8bV3iLoEhNA5c9u
tqJob43aIcGCbklfKxB1y+QB2ehj57FAyEFupaw/WszPM2SoGMYa/ywxldOKACU2OEg6vZHxzkPA
B1QEz17Krvb9xyumGeutx7u35pk4NX0FUSw9Y0yFCDNOSR+B0KmmP+pFw+kp885NDr64/YoTW6IK
yljuaBfzy4jwww5h3Iw2C1bh3lklm7OmWyBUq9dfft//tx7BdKEn3Jhl4Pl19Q+/YAEhqE1F952/
WOJKrIfL5rkcrp4rpE6/gpSnf/LP/Zu/ZK3fDPnzP/i7T1mT1tOfRnE73anXGy9e0avqPxlDP//h
L3/+6b/8/Ie/2P+3fgkbMinya7TVwD5bzD9EbPxa5Ufk+IMG1EoD2mUAg9EnHNWvYUP2D5pjmsQD
Q6uQUFsYCb+W+e0fBH+aiaOKHoA+cal/vf2Lr2OFJ/fNLfuXcv5vQ4pfZE69BEkuAe0EGg97Q2tM
2hTgpQdxRFeJylaDO8+BQDLk2RPKzE9sVy+bYhAbX4vybdUy2AYJVefFU/vlV70s7e+VjaZfYfAU
dInIBlv5K5qYjFuKLZ0tF5xs1OMGUbedJs8AaG96pToOQvKSCT6cFKvZSTX+2tz69lPYXfS+Xh93
omOD/bIsoe4tL86A0LcixmCRADtGZ6whyM9lVJznTPlgQZCMswNXBKzoAWJjTigcDmTSNiMINpyq
Z3XSEZfmkZOBxj0KfVAkDbr/Mis35Hnm2dc9zXd9aX9eq+38by1yU0gG/XvMzX/78x/+0c8E7f70
33/+6T///IfdWJzpX/4lFkclxgZSOc00CDvGl8/sa59N6mTfIFiknazB1ySe408foEILjn9W8tVO
fCuGJsvwL1+gotFpIxgXTZ9lmwxdimR7n9x7n+DummkLcAHwJ/kJBH1p0ye/u/Gyc2LjBUi5eevH
/RHtIyZtr06/jphvDvHdEQ7fE6MyoWf8aJOmIfe8dxVpqmzGCfRujeKYvIrbyaTVGP0yc2IkNvJg
hsv+bXEpqoRkrPFsIXdYe59Uryc4dLyeIgT98XN/yN21g0jlwMzx6ioaSH3uSdUM3q468ftf1p3D
yEsQOlCsLVSfsAW10tay0uXFi5H1xvy0u+Xi4WmgeHRVJ8AIziIQy72rKPDERJlWODlxcMJH5nv3
VhF0HCTQN30YPjU9UMn3L7q77ZwuClpNY+RaJOBI2EC7Fx1GBOBdpVQYhWh5isYkhSsfIDUr2nCS
kcR1YIQw2F9sLqbrsZpIrkT6nYp5Z/r7L0r41jCorm1SolN0695yYfRzuWwu2f4cuNLrl6YT0GTo
yNpg4ar7QFB3KDO0kj31ASbXLWb9CFpEE/+Oq2iG0FhVUGOLL/voF/fTRl1ogiaiFVP4RbQNBzIx
GYxF1R+40KtPSyOKm29YhbQ3Led7Iz3E0IN+CgMvun84J11E2RGM6tx2A0wdSqZ9rjj8b94fHW+8
LTxUbBJo9DMZ7bNNVcs1x6yJm3mtScSrMsW+gy5tlRb4bt+/1P7rcgDHTXFXSMeB1Dr7o5/cMLPp
ChKCwg7wPsYS/cjtDkpl9p4ig48ZirGuMgOqU7zG7vArjcjP7BZbTjS4V4ZRSwBM7UneBcs+VY8Q
+3oHXtve9zVdEGAqagmL7Ccb2cTuBQ18lHnfo3RWm+FY94kLdlrHQuOECK+I/PjAC3vrcpoJeYSG
BGNk/3PGxSNtwEmEQHBqRgmNOA6dlF/Ex23cKgLHFmTy73tz3KJmspnhmAphU2eHtXuL2B2BXEUB
VRnCieCSOddRYVTffWPal/AsyUOEY7f/4nyBsNuoMi7Sd6Rb44g7YsseLn1knlTFUXt913D8clPT
9AQzm80gC/TuTUl7mvRRNMNxEAFdJkTuseMpv+OuCPBhM+ewQ2bHvXsV4heCIRc24QI0OMBtIM6m
MwAzrSa2Uq0jsfzuu2IdYyjyvtBs79+VJZWGGGaG/+hyYmfqjNDl5v38e6/CK2KTwX+n3cB+kccZ
MnbaA+7kIkdGXrdViVisylbvX2VvbuINMdbYcOA0EOQTWntvqDYdQs6ohZPj6aOP4f9iJBxDjFW6
e+CG3rqUYTH9TpB0xvr+pTThWWNngf8YKYj4jeyvK4HlykFt8vH774onZ5GWiB8XPO7uiGgQrMS4
o4kONb2bHA3ycRsg18wHCADvX2lvwv3y/EC/EzrEqZCFee+mXFXUAeEykJ/Q4UYISJsphj6zfscN
Mbdz9mSnO93W7g35emZ19ZQ5ZRJgfzoq6ijONEoE3hmGlPyAFuOteyIvidQ7hgZAxL2piOCwgv7H
lDIbI83i62pPVSKdj777ydkkI+mOzkQr2Ezv3hKemc4Y+ETnXZmDD6nGBznE1oHh/catcGqGyUI+
MMxGY2+lClqyYlzQKrSWadMEaSnPvbroDnTa3xjZO1fZezta7iFgINlnHridv7HzGMhBTZsr1jrr
+v2n9vpSkk3EhJiWUx1C7tX2Dby/A/27aI6kixMuS2G0QG8b3sV2oxx4Q29cy6TSwMjGOoG7YO8N
OVFEHq1UCfQxQnkcUdM7qTsv+MhZQh6YG16/J/k12FFji8K19p5gh80mwxcR0Wobo6VRDhN3CxfH
+w9vGri/FVCYCdhfQnaGmY0CGcr83mhIQ+wLdgo5w/dyrz0lYCe7j73Iro9bUqJyhMsKkevfe00O
IeRIsp2gdsFMsTvMOw5XGgXweJ4LXZ+5EUxSJSLuJK5gl0u9FAf2EXuFx+kmEZZOydhImAXnkb0L
Zrwd4WOVn3uN41ZzS6fAvTadHPkj6Sr2B6UzHWwEzIflbGjralgOiDUftCqv7mthI/Nyw8bT5nmq
YbUFG9ucS9xXaLvNqMccnQeVsiJLyTwepe49vv+0Xg85g9MGxbIpYYGstL0fX4JJ9ITOcoQEjuCW
eGyrnEPB6H5SYheA2vdfDVa9I6zpbMMj2303AAPznmoSVwutelhNvdXbUhY1Yn/bMfwDV3s9+gzy
5pCXT+m6KrvZ3atpbkBUGLHgvHWMLL3E57BM25huXI/lCTNdnpWX79/g9EfuDnguycVgmmsWY17f
vaTqmRSjIxOilaOuiMV5HkaV6AHVXwRFHs2kPCQrfOsep6gQbYKMkxeyd8FGlRWBYSyHAZxHLKP6
ndMHp1gTXaIWEJ6+f3tvjBYeJpUiCyjixKffvT09bnULOzWwIM4qwUypq5y4nSI6CmWgH2g7vHWt
aTmknku1hDP+7rXs3Cihi8SYuOyqX/pmphxD0Qi3Mc655fu39cZbI25vOglrtmF9qa29PN2nfuqZ
tltNqK48XxT0sG81u1KXmcTswRESytsweAfWsNdvDmCIZVI44QOcvr3d+8tsrRmDQOVbMKvqlMKt
u6T9Ko6cIMQPRibN6ntv0p4CEUE8czCmkLz3pQO0hvpDXjyH8L5bo/YhP74JyuYk9jt1G7q0yhSt
MBbvX/X1W8TaoWqSyC10WKqx9w1W9IYwEnHVshvxFxYsZDAKkzmpcIcGp80D2/32mL900kXY4uBe
33+geuhYOJ/yhFzftGln4yCTi8IpVRJG0jH9EI9RfB3hJKZNOTSEDrx/o6/HEOUGxqvKzU5Vor0b
xQusyyCPUkg7ZX0KkMeYF3IKw8ChFZ4pRhzeuEZiHNrjv1rHJQUpXNl8/ypHzH1CeoSreUgxGs9z
J3GOetuL0TDDjnj/5t66CnOoxGel47DYn9ZGcNODWgSczxMjX1hRWc4JTGsOjNBXY4XCFx/C9ATp
uLCW7n4Rdd2XaJPZO4py8JfThgyHMOJCZEPj77kUNRXOipBFtf2FCAJYWSdkR3NDHTQPs+4XUiX+
Ug3J3PnuZ8cGC78KcxnTy37ARiKg6wVanwB9wvWWqMw2C+DV2OB+x3XQZEzDn5rX/jak06omTFJc
hynSEzz88OIe6WI3h5K6Xw306S1ROmHjw6zMLmv3LXlKX1YYfImpQwSSzyo4V8rczhGbRbCrj/pM
QaWLoeFQUMkbY5CjrJj6gWiKzClX9uUkHWEeDc0UKSUWwEn3r4QfjQjQwe95jFPzkEOfdBiIu5ch
yTssLRMeHgeQxqDMC/sflWaaHxgWX0o/O9MVz1FX6ahxJZolr+7HirKsGXlf5IN79rA0fe8mJnFz
lhjxUaYinAwo3kB8h+trN2uLVMADH8FbT/TFL9iPKXLivrIaU3AgbBSoXzYm6DvMBsbV9w/Ml5fZ
W+jMKuiHio9r3up9f5o49q2eZO2BktTb9zJNH5bJ4NT2RqXWtqPSudNea/CAdRELlM8VAgnVA6/t
rdFP8QH9rcXwp66yOzzSMmijpoAoaoSFOetkL64qqYFv0tnxSVBDhXuCfvPQIePN28PcxqTIbo+K
8+5lh8bIHDXjsnIMpuxxcEd3sdfoB7avb83ASM05GFGqF1LXdi9jtgPu2YL9nasakzN6kCuUT5RZ
ZKe7w3cvKnzMgg95qqBzsN7bumpBI1vIFpQK8q6ejZmfo4OHX/b9XzTXYRPJIV6niv7qBK/nAuIX
E5Y+0n2eoRT21kZfBgf2c6+fHSd3U0BEpelJrtfeK7KyXuaa9FpGwoBReayGRQt3cGYLQNjvf1HT
YN6dOthSoQaYOohUEeXek4uHHkoUR8m5j8BwFWZKsc4xjp37psg2UZpUB+pTexIEZnqL0ztpcVNa
01Ti25t7QyM3Bk1pekL4tCg8zwlxy8iG1fWSs5VT1pe+kat3qVU72TLKrVj7YIXwBY7YMyj59fs3
/+o5W7bKPp2GJqUSmiF7z7lMEfUDSsD1bBXKKrDUZK1SzMCxjLf6/UsxTPaetM3nhv6DOdqYJBj7
m2a3wKVfuwFh2hnJz2ilU6V1zq1BShD4eq6G8SKyuwLE3yhBt3RzTr7jeF62vl2vJUtHOI8pw94U
UR8FH8OhKtNFgOqIvJgxM85iTlqIXmmjb8F/4f8o8070y6G09HsZRrV5jLjfQaNU6mY/1yZZ+q3C
+vSlO0LUKvVP6MK+vtRwUtco/XtojfaMNHOVV+P04EHOgoxy35Xr9LIGUEEcrfshAe20qRJf9tHM
C8EafZJE45rJklUK+OpMHa0A8pqWDXoIGEJYuf7J1QZgEfMBPEd6OfiRYhXzjOyGCcpqlwkVOKe0
quQ4i1BBL5taABWYdbGn66jAQlchQMesQDMU+qBYSMwj14uXjlMmPdl4hpGOHiqWsQl/BH3qouMz
7Nidh6k+9E+67SUBFT6/6IwZTNAW66VX4epB8IaE747YFR+yfA/3zbyy2sxxjkq3TI2LrOkca1UM
pl4d1bxgbY6H1RFLM5eDyq3LlPiQLnPCYi2HBnRXNMaDM++qts9PSPkuhvNuLGPlVvESDXhCW5ft
DekBALxFIFQyn30wxkoPR+i50NzhOSRVSzvRm46oItsPTGtbWHo8nhKNF5ZHWpl2zZHnZW65DEIK
wfeguCIDMl2H3t3yXO9HyabKDmYjZtKJGQpj+Fjvei/wFhQD/eBOkXCTZh6TcoY5U5bDUzpg0cCC
IVw/fORri9yFCynGvcYWb5tbYeS2taoirdcekl4EIbSPtDQ/9iWC5SnFKUiw1w21VkBwSCs7mUV+
2atXiNAalxgAYITnaaQV3ZKwIpX76VLnc6k52nOZxRVaWMtMvI3eqNCJnSK3gKlGlitXXqYq5xUH
UkhKVRf0NzrsSVg6lTSShTa0RvlcwPV4gNtIOk9s8tswPyEEn41FkBarMkq7E3UwIXBTzlPHO7LN
ihpyQYAVTXUJYCbAgs3LTJRRcK8BsAcnVGVAPCrDbYpFQ5ERzqrvIfqOZaoytsfIAnqr9vqTaJME
l58zIp1yaI/hX3ImI0loZOF5VYfiSdWqKICzM+Cn6CKlv3FcAuuPDLUB2uprFohSX1YZcK8qNcxF
EueFsUpzVXv2Qr0G2+NpVgtOZ/LxVGLsu5XbRfWDFSa6PPUGxOvzYTRNf44QxLRnqUf2yhKMH+iZ
DpDxIpOZ022t3ODMVfpRHm1BZ6nDSpJ1/IRBLFSWWgIGZJ4Ks360xtCobwM2w8289MhDnukAM8sV
hIviukozdTi1Ik+r59jUep/aK1wLcmxaoGRnOYCvapUakTHMgFeTZtKC9nRP/dy1dXjGtT0pshvw
pV4Q6jdjhNzybgyAYs2sMAwhpAIq7VdhLeQtE79/l0PWv2Lu1qJlWgFzuFXSPGW6sQt13HTMmZ/h
xtUPRpuU/TFFg/DBAW+XHA9qB3bLrQry0NiDuzDEmyh5JilL3PotjWpQNJI4d8PTWmVNEb3w5h0Q
f/OxzdpAveyzRFR35DirV2qp1OdiFBSPSGyQ4zHzUHrejkYTHylJ7mQbwy2jEROjKK7zuo3iOWx0
+3M7uE52NNR9U6ydsNGCk9wX6oPiq4a3zgcM4WuUQR7oLCEwGtmV0x0lTmGQg5aGBKn77BjtFWRy
EP5e2jliKzvVuCMihtQMpZHafahyYLfZ7/tKwcfe28F28CBtiAHE20ne+CneQSOLlKXdESNDOBKW
mbnjDr7Zzbqs0i/IYfTJaiiqpJ2p0QhaJLG7rvnk0s4vTgnCseqZ3vjIgplLQNS4VgJWg2DwkZAV
SmqPpVqpj7bpetEtkqdIHMeVYsoNNFqm/IIUexzQDdzguWgiJVozl7Qg4gEZY+oe3NEUC08JBnK3
9T7x7mPRR5/yttDuzDiz3ZUUSoIYQo8BPKs4ZsiW6ZuuLajHYGO8cpW4Sm7iSC+dOy/KA29txXyu
4Ac5isySTNeudA1G81wLyb88Fq4z0T39MinnKpz1cGEVRukvSjtqkDuT3ZOee2mbx3cmGfLaOnLw
J55YaJCbW/gtmTvr8pxVMvLbOFlEtAltBmJI+o3jlx1ZYi0m8nU5MMofFDgs5jys22YrFfzfR3Lk
5WGZC9QKPGCJM84BZRZt0qQfs88l3f6BM1NLKohvWc+k1dvlUx9N7GFGVGGAOwPWD3dTwYoS5Ylp
fGDaiPVy1rix6lwyW2GXJIzI67c53yieyKEmhHfW4MvvAbLGJQSfAlLntQJ0TzDYbaLeA7W3y/XU
52+vIgAMPuxvt5ZHIhM5QzqxG/C1NjbrhGykMYMsWfl2wygZwyA7hfjaRdsqL51443nSQVg32nIg
5I/zTHmXKnVYRwQPQSQDODTqon2EKZhUH43aq7yroAXW8wR1p+cTClzfOCsSz36Wmduy2KtOjQsf
2UYwS0MxjEewpJUA9CXT8to164hQi960ecLzNOuD4gM7o4JhnMM0tDY9pF95Iwk+EudlQi3xzmyi
yrvuedKEQrRFF5+XcizEivaiT3ikN8D8xcUe33VIZ4eroQUpu+D2w+IT3dbag4I3yObICLRCPcIP
MRKRljYWZOcBsqMBJ7a6z/2RmpwmQqzfBt3441AdO3tDGiXF816AcZyHVSug4kYxCLlyaDV9IexA
5OcV6HimIJyUnZhXsubDhO/fpMojkDulWwsfcvAKjv5onEgt6MhJsbnH0wgIQD/vaxCAs6JVQ22F
DAXXeeKNWn/hwezXPkACUs6KssmsEzg/Zv2UO2rbnUlvyKi2WJEU1bWvoR+BI9dhdawVKxcXVhqG
9lqtpfNRqVW1+jDFUKZo5HKHAIa+URqD2AgIWLj8wkwq88g1BzWb1Z1vqx9zb+iU+yLzgonMlwy3
XzbT/y9kuflzel2Xz8/16cf8i9D9T8L3r1L3P/3l3xAd/KQdek+Miwz3f/z8h3+yo4Kf/p2vGlzN
+QEiDSIy8uwdgVaOU/dXDa5m/UCTjA7I1CNAHj/FZv8igofG9APLE5VS+EkcKr5Ii37V4OrqD5T5
qYWjf5u0C8b3SHD5x/fOmwL+EypLfiS1AQrA+0euygIdqvYWINCmbQmoYM/aUAkhNQeeEnu/szwp
gcGUSzm08UmsavWyzjDn6sUj3/eRa7aboqIdaqh+syaZYqWVGIQzDfRAYfUw46FiNo5zGbD9i0Ah
Fh8z8i69PmE9CrcDKRecTu7YfZM0Jesz7Oc3gxXU50pVrKxaB51i/WgX+lOb4EUsu3jlJvVFGQCJ
r8NHZrlxEbkauQ+y6T+kNVh1KuklnvvygwsY27fAJwYckEjw6c7hxx0XtS4XPlaRNA7WplJdmFC2
56aPlyuFRJpa/PhWkwtU8MAwMxJZ/KZ6NvTxcWiB14YspAB7V1gdPxe92a1Quc/5uj+FUXxOT5fs
Dk7QW/qeIGPDRyokOOD1cmX56WdlJEWNwuB9WcJDHDhHOCr8ZcN5MoITaeBC9T/0StE+hqpRzK3a
JkjWQD6Ud3SQYwAt2A3ZqOA3zJWbNJxSiSbLTsHuQVhXdmQG87yCyZaPwDSNYrw345rU7l6uVTDQ
sa4nC50tol6Jim0EaQxBdylb7RwN+HxkB0m0zmnkALQj9uthLEU8c/J+C3KLmEw1PTUyN6V8XyJM
VLJ8aUfaZHpzw/VoJZdTjkYMCaC14Y1446V041O9TM4UR99WJaRwi2JB2YRX3lD6c8WDr8iiMe/g
4T8pvXuhWOa2t+AqDwX/sD0tpXo9FGsllsmidXQHcyKM7mO+lVlD1jUnzoxjbnwWh/0cKFpzkZY6
i2mgXEO29IAWeOpMdE66phX3QZHesYyy66IcieAsik8kM6pzouzEZ8XNtVkzmN2mpVbAzmdwPwQT
/5Pzo7fKgkA/0rDCNWE4LuPed4GsFgHJIiRaEiRQEB8niW2rLsrS/VwI/ZScprs0SstFmZEo2BvR
eRAUnBulPyHYrZUzVMNKcQ3qLYVzGpTDZgjguRq1tfUTcpHqoTkTRkVUqhqXZPAKecG5/aMM6hEq
rYVygFBDEOP+fZTxjEDLDbMokP0MQuFJ1JT3ZITeqgo28tgfVn6hYhSnRXEm04TkG7azcPMfOgJB
aVQU7VLV8w8Re3FcnxkU4s6aU+pIll4cfNLD5lRk5HOEFs31AKMa5MBYEm/sBsC2a/IwpvRGoCGy
E9pUnzhW4IvOqwq+u/SzZBGICTQL1nPm2/FTJ1h8UoqA5GooxqIOm2Ps4bcmqcoL0hA3SRHzgfv+
wvJM/rWwf3LS6KStG9zWrqGu8kqhTJJsrZ6kOQWBPXFwn9jArrUKpSe2k3RBKSHhWsbGCfpJ4QcY
k0qEH58HWlwsCWEjaOIydZWV4zyGWMkYCuGT1520jQ6bMigvfMnJMgbWRDu/TE+a/8vemevIrqXZ
+V3a5wXHTdKQQzLmjIic8+RxiJMnT3KeuTcHTyrIkyVAcuTKEiAB8trR05TqPfTFrepGVUNSo/22
CijcE5kRGdz7H9Zan1oqG5iJmzxZpmr3VmGAfdPEEDpQgTb9Og1bU0/Sg5GWzCWU+l6KdtouRkyw
r98/OXK5W5JbZD1tB1kNEIRb2rNwmZ36ZwNlggA+goKmysoPNrMGZlBFQHK62niVT5qQ21ytdT5j
Gzx2hjfv7QFBtzLILOdxup987bS0iig//3N11TMgtNfbbrKv0iaqZu1XJhQUkEqPN3oSXxMBOXI1
j7ZaTkNDOpBwIG/QxQGX9Sx+UKPth7HQg8WZpt3QWNXZXCxCyT1SZJIMiAHcBk3dU3Je8oZtKDb6
ci8nMpKTZDpJxzsOBWiE1q/FfvX1O1lRcoiRyBdKoV85OhXIxbd1pukB+arN6qjXjQLEPEce0O07
hhb1jtSgkbgDMsrzYXa2VudijayfHLd8L/pHplb7etIYk+REj5Q2UCKV3BJOyuU5Lg9r03N+Y5cd
XxdhDmctMY81IFYIWcd0mRDgoUWFleTMK/lj9rSVmYnrPa5IWTDW9qdecHwu9NfnQqRXrSVxQ5Uj
YY4yBXhZjvNWd5PrVP0wi1qPnEbm1GvLpVxs8UPJ9jNLwKX2RmqF9ujsex/7WKNtp/GW5t+ApWKo
MqbiOCVr6BrZRcuy19WB/Jwqoua04kClzoqob+nTwbHQIAbeMv5aXJKvuqQ8iZhUNVPU9FTISkOa
o7BQ9abWuWM6ec5G76W/9ZIyPsHU+NSNLlwTn3BQYl9jLz23if6LuI8Xw41XBBC9s017vkzEklZb
kTKlydJaRsBmCigF8davSfcfBgv/6tzJfZr6GbkbUjFpnB5tpb+DVt82zK6Ige5/FLqGscHgAJiY
UBBmXhZnABBjpNbpPXPJFCVz2oAlMpBnAXiPL7oX99ulX51tzirzNlHQyUvV1m8M3d48gY/Mmhh8
OvQleNDMGQek0+5np1FhWkOoK5s0/8hycG420x7+Q5hy0Cgh13YQm4DSZRLYrFUd1mUqyNC05Vtm
m8ursyzN++LX1QOMmI2/QHbvnauTbBfH6RgdzWGr9CdLs9+quhie6euncHXf6tYZD03c3bBitqJA
YgTRQJ3ZaoU7bhxUD8Qvxd/9wQV535J+nehTFdlduh1IbZh1ivG6+zUNwrqLDW+KVs3pIrU4P3Kg
cKp2nUNlaPpTl4xv5iK4y8gapzsaJ2W92YQ/hE6vna3ErIPE7OrjZIykInQG4L+B25LAs/Fgefp2
IdwZlEEY441ldHFMff0gZxOypwHvxyAUrO72I2e8SRzoLU+8cAlzuQXYE0dkl3SyGRkNsQhqswwr
3PDxNPhbgkSGLRwXKxy8dr8UxnPl282NmMtgYU2CFtDYdaRNT8fb8yiSqIWtVyxdSN73Js9d7szm
TpfaZk5gvggeBj++kmL4lJjW96VBFsMooyr7A8i9LTkUL0M5hyTmy3DNtchfCA4F6RHAkAmQnGzK
1IBtI7nnJ4JqtYh89bCyAbcO5a4x72qdrF9/CRbEIk5BuohzD3LiZ2m2p3UQEdnNrCxn6qWEB8Gt
IldLdlUs94S7H5uOfD9vCCm7tlIIGOCjRwZ+z5+cqItttiQuJvj1sajFxSKmMCiqqdsl8/rSoMzl
N5mc0Eql3HdyevVYXUU2s04udsL/a963o38krjgZOvfZsKxfSk3nrGtAcgIGiIHmlKTcWpl55UtN
yZc14bpqgSDdZyKLuqzsvRricyb7j354RPj71NoiKoY4aq2npiEPr03e6oZIjdHbKr8/rFpJWI92
cDv90jGhndkyRMhKSKWZZjaBUCbmoQNy3C9fTeF9c0quKs6GQnTvjdv/snWAYROBcjEe1KzcTeRd
aZm9SwszcLJ2VzjTp5qqTSamI6GC72u39/Vk13QJ1Tzhw5V/ZxUXpDLf1WLegfXS7Ue0dA/N7J/A
bIXsW7Yeg+o+7e+E3vHwQiZOYR4EzdyfepvaZknkWbJkEdS6bFvQCfgeNVNbf5iduReDFrXFGTI4
/LoEmZPvQSVta15m0cVXXfDFppq277CwUlH5566D12b1D0pztpwfZwGUxy28e2euNmv/aA3aHOgg
K0gTuWKHwNzemWc9W6KxZ0IwaVwmHTkP7JHTg7+8z0rfxqJ8y7LybFOoQqM/uab7mtnpC1Ect5F/
RoqZgVEKtEqZyfuGyWOWkAatGovUp1TuoRyxevoJpzzy2MusMyvG2tNIK/IPsvZfR0Hx0o3yuPQ6
WW5Wv5OW9qAs46Vrv7mzuJuF/5NvUhZVYwHKFHCvEmQP04wkmymdPuAR+BuvLbZmadtnUuGtHXqq
/TqbAFT1+0msm2ogIJmlQBzEmLmCyv0lMiYlvVxeMw30M/Kq0OMaY/wZKuW/z9RKOVcZ4Ki7snbD
dQYDLnatBkjFuUEjha0e60zd7InXbjYIi5angjsw1WbC8RRXgJydQ7ySSyXEu1JXLJmXJenPluY9
+UwBi55dWQyEimOPOwNpkjTbF7l+FOJH7kC8tMiLd+51scEqCBe0SB+WxdkPqzw3AN4fGCJ+zk12
bnTnFUKIEzo2hA97JFNpCNNYuwD4BEhC1r6tbvSTL99ogCqqTdN+M4kiTC3INnl9SpjMXRLDCdKJ
BB1G62yarSOXNt0anGiIPtHN+1zM8TYz5MHI3CBbxWfd4Q5Kh+YArs8Mp9I1Q20iAbvVdpm5btDs
7fu+/1542lvfCuQN+bwl3KfYeD3aF42roaymgzYBiOgpSVeNw4a0KRVkA2OpHBh2GNfTBmpeAolE
eYGTtl8aYQytGSM8qfXHArbmxiWgNshcNUbuOFkHY/LAw7pNaJXec9ym721VUGwpeZcY5qXtulfY
TkiarHo6MtqMw3hxXmHMA1It1BpZVv4xtvZTo1nNrh6LH6lJLWl5TbejMn1R5KkEZtwxjF+GQGr9
NxV376TWk1I9aElI9GuFLSv/CckN6Ms660eGiO52lZ4MMg+o2EQSP5sXnJ/efZ/nHa9WQL8CoWXq
8rwm4sICrQ7yHEji2nc8UQMxHzEppmDb/SEouuRdExwDpExXe9dLp11us8hphnndEbwG3pJgDqbH
kORTf55CX+T1EXcGWF4IDW8GO920w5NGfzzfXk1eC05iuHIUyGafQlQm+rvXnDhggdEGnixIorDl
CcbkegMhPpQEEc2T+Qj9kb2Bv4mzoSVlftr4TffLco37sl+3AOhveV1xyQSEcfm2n+L6jJqMZqLL
oTtitI9mtYxb5LE+ubyZ+wQVK93wkZLaNh8Ws6KHBDgdzg3Js3HBzEao+A4gOlGbVquZJ1uStd1W
LWB2n1lhxhzxwI6fSolgVELD5uogNCjb7vyTRVnoAT5ZUCxlhfut0by7SaNRAq8qnOqLoXxgLRXk
GN3b4y4oOKfzCbSsqb5X2fQa5/VBswWte2IdV3TL6G3toNStO1PxNZ9r80RpWgaCsyrqKzIG29tw
2L4TDiecazTP0mjhcCyoDyj7tJTRbkugC50HWEP+mkillsbburWR/TDKGYddocqdT2+9S0ZmMHMq
p5BY/TQ+ZHnpIvdbybftWYcFOk8fp0d8ypMYUAPOgR4UdpiUGhhj13yVcfoh/SIyZgjeBDzbfBMB
sv1I+KrVrvaM19mNmMBvwKSGZV9v07q/BfkaGyclTy5mxE7Akr3Pq8YOoH+ToBnLTU3ajCmTvTAm
wBPkR/T+siWcco5kk/UQDWowFzcQDotCsyabLvvFzB7WBPHEmbVXkD3s7qMU8cs8ePeKVRF26a30
zKMLHBVPVjhImw2+Gr7HfhbiZ4J2NF06sn7L5T1xgSbUy4NlJ9d5Ac8BsB6i596haBN4dCs/O6I4
fQBkgzBnCYZeS6Nam+4IO7u3qoJJkrxP1Fs35495e8tTWdeN47XfmCrYB5eSmIKxGbhiNZsRAdjF
bZmMxrbMl+xOSylP4+4i2WdXrN3P8ayupek/8FhGqRie7QQ45KqxXGAzbMm3Ke1gyQ3NKavBss+m
f1FzLl6BR+gb2awRgookyEorsrT+HSEwW2KNc7cx7rRcB2PNPQVb0j/lQ/6ihoRxVjfNxyHNHmIL
lpejE/lX1N1lVDd4kgQDU4KNZyeJrlF7G2vjmszAA80GtKNcoWLVffcNpPmCi8941PyhpyIqX82m
gz1EwKtbwg/QpL8tlBkUmCyoUNKvoeibQ6xP/hkb2cIoJ7fklmzWfZ8V96wxuBY9ml25HRrv1U7W
F9Pn5FRFtZzi1T1YSXpmMOSjbUsFF4Olk/do5NnO1ClyzDYv5MZJkgO8GBpE231K6vkpz8pvinSt
P6uQ/nWg/3eCCfz/Z57/7/7+j3/4z3/8w7/963n+7Z/8eZxPcAbWaQPdEPEOrLkttHx/idQwfiM/
BfUgoTLk3jCZ/8dxPnH3KI3IGLipUPSbAu8fEzUM/TffYNTvA0i46cuMf1Gmzd8KCXEFG5jUKSwd
Xgl56z9VCfsNXLh8dMnhMybOHU+MUe5W/j+jkvy//hQsBvgMDbwG/9R52uXZ6k8LP8Ur7OUuATf+
SkaE+c/Is9h2/I0863ePoXFLguDzQfGPRehv9YqlShE9TILpphxtkyK5X4yoRblw70nW87ulcEFK
F17PIAF/fZi0gFQiH63UfesLAHLsIutnaHbMVyoMu81ZxfSax67Q6d6tpJ/dLRmVoCyzuqFIHcfY
X4O+lvMQzY4pD3ZuxNkerrjcGe5KunLEAbfINojBgPGr4KYCrihj55EkTb07EYGDzddiG5+xyrCT
B6jMTr3XgUpSeWW1QJwUo1BhZzF4e3sejZ0bM08JsNH1hHNK1HcxUxkCQcU0nybXch4dxFrZVQd0
9bqY1EGBJ/KCGqvydTAidXNBnzqWW2JIJVSNvJqHHcD5qtpMkvuPmezUkMaN/J++KVagVfNVb9zw
5qlqN32fGmiriOu1BYSvNH6tp1FBlDFjx9u1hceUPyt9JvyyEj2Krjir1UlzMsbFo4loOaxrsjPJ
jV3Hu8mpbPsHWkyG2WIYm/oVf2h76vPV7vZ94y73caaziDX6yVJB6YPBhFa8cHD3Sd39yNvY/zGg
L3lBi9N+qcqiZe652b8nyiy/Z7p0fqpMWV+27Tv1u8YEi0VHOStjY9Soavd+qjE9d5gkZXvkIdO0
GZG75fvWJPLt0Rdw2nljpcoJKyLT+aQTHYeazpiJ6MdRK83vIyCkmoREUL68vZGkVZtCg7x5tE/T
ZvGJH6OTk74ZOkTTzodexCrbYpPV3dBK8hHVGVfB9I2NPNQnguHrdt+1Ir86a6Lu/nXhOi6Hz3/z
dw7P+f/7fP7ff//f//Rf/8fv8WP/6Y9/+G/kH/3p3//PP/3H//Cn//K//vrEvr3IXxaw7m82rkSd
c4RJi8H//sOJbdic5baHmAgjKUf6LUnkH1LIjN90HZsPZ+jN9+Pezri/7F/N30wOJVJPHGxPnsdW
/1+yfzW5Pf72mDP5Bdi6sgfGicwe+Pec6b9Ka5FD7uKRLHeU7VWiWNc7g6Xtx7YeNtpNu2P3+ncx
WO1Ob3353QbWHXWTGK8tFPU3w1XztU/aHGmf5tbbJDYgB9rsbrqmj6OVMyoC9C12LhEuUQUhii6g
151frpUvRwfMfPT7K85dNkeaLD8WjMLRMnDYBj0Jk280a2N2WOy6PeiynV8Jvh7vOscqHu0JlKkw
FlTXnBP865xkirXr82vTruIlTtPldVY5q0M5fNqLwSsODs3N4OTuHl2WdZ4Ec3LEFnOkL3PN6VLW
57IeoiEuxyvEdTZnjvzMudEubgnpTKACOuCu1fdWCd0wibU3jOLjFdu7GwLKbN7IIHQvEOrYIqSa
OlRL5l5AWw5fmZZ9qIqm4vYvtYlX1AvLedbk9NlRv59U65d3CLeW12nih8+z5nx1WubuM3qhvbfm
Hy5gsGh1reJKS7EyBb29jRQWNhnYfE6//5YeY+arbnbuhTT6zynjXxXEbSct0a7ZIIeogTS/r7EL
IrManS8715s3X9r9GqL3GK/SqPS9M6TF1fHj9GAa6RyNLq8wu84Xf1X2XgZlOnIXbWBH0jFMZ/NQ
vFg6H3NepTorVTVt4RG4l+T2i4/g3a9L3McbouyK62SLmjkw37jLKkzeCUtXkMUtwXNywC6+iLLg
OOYy298iuTY12vs6MFCaRVacmp+V5DWnwootVkdazuLk9sfrlpHFfONCc+DDzVOP5Q/gRYuAiNj5
Irzuo6tLfqI1fVZ9zsxSM0O8iM3h9rHW1ujuCXAsrvXCB2x11ceakParNH6o2ybiy4NI8OXYSXaw
aIH3UKvcfW4Nn9Yciwsk6OXCwNv+TunOp+ipSzE6032N4DBU4H0D/tNXPdbvDYgtxG12jXlwWRKD
lpm68qnvRneTp5N71bKugIIcZztXTQirPJbMr3phsEWMewLyx8XbMGf37rh5uXqFz+LKt6ZmSwCY
BqluusmldLnR25nli6NbZzh9zJUxhr9nBUMGATDs4Ft0e0gxFMKEcaZ3Gtzkc2XtiygJeFDkmLBK
XelZn5beEGuJpJntdC/HZlPFvRNZzTqcx6RtmcN54698ciDoKh86VjL7K24jrQxwJA3XiS+817DK
X/wZOSM8Ymfn2oV46PTJemulNz3mtossNTFTRHjWQrereBDWVfQnryRKP9GX6ZFRd37hWy/f+lSD
jTbbnQoL2SFi7fTkMghy+Ikh0bcGM4BAoHqzgAqIbtOYk3nBPRw/+g2p7OEy+vdSz4o/C0yY8prn
YvHXS4JnPCCwwIrsAs9Dn8GjxwFBtH9PemqYjL7ap6gD2TnXibfLrDUn3TkXlxG081Vn+v+kN3G6
xUWlh6vjJsQYVWUeaN4szvR31kfFj90uc+kcZNX8lK4YHg2Oygm7Piw/1qVsgGr/IjILrm0S66HR
Dc9Gzd8WtXPdbyxQwhsrbjt+w5pptuKRABjqRGZm2gfNRBEg64rJt2a/Np3f3ANVNC4585qXQo/7
Iwst+2MYWpsO1NQZJQs9NYIKfuGxGkxBSvSNaGa0xsugi+zNh8f8JltxtFb0zivqrWdKx2YDuMjj
C6d10WpUyz5bSX8LJhjoR7se4lfHZH6TFeOyj8fmhrxkpNxXHhn5ceWw67SIcp3ytjiNRq6dRe8i
4y1WP9Rj9J1hr0tYrWIyoPHm2rptb+5lYoyz8pOC+1c/Es3HzHZvpYYbLWLNngA++HupIcgl6+Ym
Sy20PN7qM7tSM+3FG+pT88CC6hZIMhf7fk7dzSD1/sLnzybBZmUdllVOPF5Wb/HAdS/JBEFIzIZz
BEuc3CfJrDGhHT1Wc/b8PmMAOaVr7PBUSx/4MuoO1Bc6I18Azyka9kD2DCPwUfVukLjJj1WavKc+
hcNqIsbRV+Bda7xawdw3Go/K3BTH1Vur8+qUSYTI3GTOfptNZbe88hruNKoa1uddNfsbMm/3id3y
eMej+gls/tzn3hw0I+/X05xTOc925A+lOugCcGYbl4S8eY3TnMoKeAYT9B4Ye8Ofw8gSaOctg/tT
Ovv9aTFTktXpn/hCGU73mOptuqcomcIKSma4+PF06HUl3nqFzl2bvOmntiQeNUALFwGKOhih6oXC
eX1FM+adiInXb4+EdXFTuh0akQUqtVF3TiASQc0tJs15yLKBFHgWkAdsA/VdvDTr3nJctaHHKCM6
xzqSWuxuCJwuL3ENyMdLh25X8YtsNOQoodIbHgiPC7lX7nFYO+vI7NG/mg5UWZwsWtDebiruu/xg
pnb+oCXJYynlckmcyT8hZik+5cQ2pIlv2vSmfo5BWoTKgDHdWmb1Czx6fRYVwq2BSFZCpu1m28u1
ua/K4alK0MzQJcUuMRPx9Mvqkwrh17zkA/JklLd+DJjVq4X2oFcijxlDt+6RMLebt0R1V78t9M8c
K+ppsL301RTzu7YM9knHu4BMnbHp1ney6qEcRIN+g0NNNN1tMbVOfB2z5tHC5pyEveHUgdlm8XVs
uofZ1o2d2QIvFXb3wHy95h9ofNv70dw7vP7W0ZB9aTMuIVWrp3oakC3niEnjtLoCknotFhefvh6r
qB/VDcqB4Sz13cDmwrVX5Bg8q0sIacvCmWsfJ7cfwqptq6vbd/eDxQWQVeZzmt9QlusHFewSxXOW
bhvf+e7HBl/T0bM2ba/j6e1pvIybIQZH15OVQT3tkU0hBWAeXy1EvFLfQO/1xwEdXUqudjrWG2Oy
jG0j2WjVbaE+VjU330GfN1kA3qG/ro4xM/aP7etQawhH7Nl/zFrfR0vC+tD3wVz0fs+kU1dPSJzi
KyZjVjC1pzZ2ZyZblVhLVHXcc4IA/x1s2WbjZHA+zUbrN0orrU06Wcs2x/SzbSdp/7QyDy1M6i7d
ZrFAQaPVeBFcbucqnzsa9QXTsm3KpQ1qrMsTTw3oO69iComzXn9hAC5+LsZcbmsK39Bxh3Qz+KKN
llgOO7mM3RaD97y1mnncespzQx3CZKSKma26w75f8kgfLWc8Ex1vhcxkxQYRg3PM87oiMLBCLuWj
N+vFSMbeUF+QLdmRlw3ixRqrt5zOebMaZrcZXVs7iGpsd47Dqj5Lsat7JVSGHCFcWClWDUKbHubb
ltjyMzaKHIohEWBFdAsICZIGvjkutgXMOmt+tgY2IIqeBy1V2Ul1wAo7e5J7z2CVjdkh22l2p39i
9RI7diYQatG9bXhPcZRkcj3RKK/3M0VBjVHqJ3Is4quy/vvgWzBNgCE/rNQrOwvf2R0+Uqph5V1a
B8UM2YKhMafMhocakB9y71FAoa5JQQ8buXg7LoaRqBwXHJ7yteGnP6/2e8nt9jNOF/9Qg3nJ4ISs
xqGuJ8/Y6vGCksIpNOtMEj0BzGzxPDOylJxOvtf0B4LJrXue2PZgrLZz9tregklGkNg33R2KO2Sp
zSVWGP1CNoPzsxq17keGcD8i7jDd+1AN7+VgGKHRqPwM/Xs9eV7FRrK/BcURz7MiclBG9+igB3uo
fE17N6y010PdEfFusgbVbLhViEGyzXq5V0mnPd5geMjQGiv+wO4R76kJh1cn1lkTCcjgB1Yu9gt5
3M41Yy6xjXOn25HtgaBzzNEYBczbPcRdrb53EQFO3EZj96BSv3YDiwkSNtdaycNaue0HUxL3k4ti
ZV2ilBmNIknvhTLX3djwzUsN3OXATNzXac4n1hXp1AS6asAo+GV1qGM/v88s9sCBqQZ8T5ln5ee0
cM6GhhNDuMOKKLFLU9odFwZCDh9+plV61IwxMkYKKyEJckjb6keRQ9uphkGdvLnONm5K7g8r6SlI
QDwzHXe+zWjysewYLxW5g2Htqs+e/2uTVDo1I+jXQHJP38m4sNGX0p1UaztsOtf7MbZIL7teyX3S
p9AyEr28U8n4o5AVyiRDatsZl1CAX7HnvFvSTzUSrJpU6tFd251XdPQwI/Mz2DihiUMikWLaKFn5
2PhwmfoVSrJZOec5H7Kzba5Am0RfXG6Lji/Db42HKUmyO9/Ms0jWLkXZwjZ/tvQbfVx/cOvl+2Lg
h7QylZxvHhAcTnA/likWR9dwkiOp/doGDpQZwYm7m6sB/BNNadQndsOyPF0vbQ/ffXGV8Ro7qHeE
u2BW0WqUBOZ4p4rlk7MT3i2YJ6De9rbBNbbR/Wpbav4r/M/nYl6eqtGptqMYijDPlue6YTTZo3dD
9vwyV64XYtS031tg86emyt17ZK71CyLKODBd63WV6j2u1vpeImmgDzSwTfAonNs25zaXn1nrYP6t
jI+5IhRylr6KpIdUUe+FBOubl9vcWntkp011l/PeDg317rZb8ydGDAc3xfwFFav4VmZ5qPJ5vTJB
sKI56z+WTP+ob7VUplnPPWECWz8mhI3K9giepwsR0H7Xihp3q+E8xZP2Ndd8B1f0G/r83tzYzmKe
7isHWULtDstNuKQdxYhbaRUWmmeDRU2c8vZrPO7S0N4MNBIBFeDdJD14bqpwOW66fOPjozxbeas2
3Wo3Ryw4RQAVxDmSgczAwm7LnZfkF8pSI8h1+7Z/ntFVpmAZWpG0h9UE9ZaO8s5yVPOTCfHCOBDi
cpA7xhr5XHLR6M/zs5a43slblf+dEOkhUp4DuaZE36mbdPu+9VPn5joSrRaQ/Lz1SiTZRMtc/a7G
FkMtHDIG+lpGVx6mBf8UcIslQFtobmP8bfxp6lMu/O+NrcBNgh0kGOmcZT6RjeoLkMJPKwGHhoiU
LQLKS2qKbHT8u6aOT1nDvckk55L68Q5jc6RZ+Sm/4RZsnYEyS8hmC53gtS61k+bnL0PWTmebYObH
Ns690DCbL1HkW9mbn462HhLfQxBBYmA4OsVFynaKUtn24TKkajMaxlun+28Z9S1Bvt1e1c6pLbjm
PNhCQYMvEetYMJRMmrNJE0+KS7LgC4FpQHsvPNh1vV/YiK6mb5CAokozvEDRFiZi6gMtT2itZbOL
bfcK5PwWxZk6gZVXEm44ZjHPnOaw87KRln794gu+8m8INTEafRdX82tLBMoDmdHonPz6iBmjZQBQ
vugGIrESmkiV2RHX9qs2+vj6yvlo6vIX87k64PN4L2t7wC84WM8mnPbK0taHNtffm4F4um4avhla
99A4xq8K0GHn+x/TknzltnenEMwlFusAy/9KSuPgtdTdZmkidq1Ggj7t9HGV4w/i6KbTtK5821r2
i6Ike3YU/bdW07BtGkZxHVlGUSvq8Z1bNTm52ZYblUlaUGgO2NVKYQZa3/l7brw28IcKtTbQWxwq
gd6h7iwdrJBtdZwHa4eI/VjBmwxMTey7ZP2s1xmZ3ogzvOgwVCHt4MN8GusUt1tzqb2UOK9SbaVV
cq3KQ5b0IqwwRG6aoi/3JT7vbVk3+I6J9izp04J8Mp58EwGW0amtnpFTt+p6i/DeJ4isfSyozRNh
4W4VtE2lez+W8a7xq6OnxKHPWGbTVQT+VIFjFv1xTjPCoNpAW9IhqGTyQ+QWlwgGPK+adgyb4hc0
MKTGwYOPJxPrl3LbPXX8g7ZqZ56HHa/yKNb8amYg79fVudhxfhhBHYeLV77lyfCo2CRkcXMiJkLD
Fy3R0q0v7YoOf0kzLUoKphmDnT5U3FtoKZZXc06PehmT/IcqE5jVrsSziIHNP6RJEYdeJvdCtAmU
RLK0dSHfRTyc6Ie7QNWVjfTDSPfEYBq72UxQdA0u3940ZSTctHocrOyyf/S9SQ9e5H44otceQnxm
7ePQqheGhMZuKDXjmCbwCkeSl3Z4wbtyE9f58IrEkH2TTBsGGD7qRgr5HOmcy6mYauN6JsnMO0A3
GrcKgCEDB9BsJlPkmQWay6FJDvkR9q7/qzSVd4hdhyIgHeYP9j9+MGZVc7T9QZ2pVOvPpbDLt9VP
+gOu6ew4ukyGmRHgDUTlVtVPWHXSnzHkqXdGbPa+hGV4DztgeOmHnNCNHhGkOeY6bfkYH0t018cE
MrdEb3v7lZpXKhMXDBftj9HR7g0UqhGZqL9WQytPPLbOFnEHHzCC/C2xDDN7REQ+nBPD46Clt6HR
KGjlUuMWMbOqjeH267VAVHheTNvemKWf3qcdnbLdGv63QkoBiEYo/xZm/eqqtH4e0rL4kSxFt5uB
YW/TklsJCbN51PsJsV6GWIGPVbLRN6SRodHJh/e8T+OIjCrEcL3pNZTSZrn1bdowXY7TruxddUe3
zsBh6OGm8sDVRLkHXqskziaAMZGTOfGTa7Z+5E+dASJy7vaD05XAHF1n3+WV/eAt668lyeMzbyk+
3HQb27hhGSf0hIbXSPTsgNhpPHKjDKe69LodwW4mJJ3eMr5BmVJnmo56k3L5ohBiRIAE/wYGSYrH
1F+Wp7RpkoPrduWnlKP7mDrDN4tgvCFypXauaAajOqOMjymM8cOaD6KPEQHLpYkg6vFwd0w0en6h
H/+HvTPJkhtJt/Ne3hx10BgAMw3d4e7hHn0Eo+MEh8Eg0beGfvhqCW8F0gY000i7qY3oA7NKj4yk
SOX8TTLPKWYRDjgcMLv/vd8NEznf164m7dEVRBXJNx9YxvQUI7rjuVfJeUtuoD0TTWts+06ycPUt
fU4wPn9oyKFRg8UTuy69+CKmn/Oi5/13oT1DBDAPnROWjmOqKDqqelcfZVn3R3hnTDyVMK5jM/04
ipbVqpfcLw7bFpxT111uRhe1WTPIkOWHRHT23aBSqo4o+iNqQB9CTLZ+Qfwy3S4I7RF3lcAMleOw
wZW6ZBetxww2ZUx75heNFUgmhsWmiMvhyF9bfV6yoT/HAjezY8Ae3UfrF0tbd3vCNTQwV+E6cGfu
otCzLkdNuZyCNBkVTrfrU7PhbT6Fm3QuXLJrRYrrOa12EZVYQR/hUgJrOlKr2JeBmIbohDXK+jRZ
7BE7u02J+fBUsTuvvsSWgmmTefHWkpG/K7kY+7Dsu0Oi7LVPmtdNNLnudT4PH/p6nu86h9xHFZnT
sZrLgdUyRiLy3rfd7Mq9S6Qa/EG2nBpGwUGqqmKXJqtVvJpZkq/iaoratq3jIsbfHSd33LndW5mT
I/Kwcm7ylJkJAxs/SOzW2vt5fx/29XDfVV62WxjeUDM4lk8ZSf6d500++Sy+DSTrihZQ8hPEQDDX
OnZzQGthbOIZ7pXVoDC1YdrcGpnh4Ulywz2f57LSGRaCzHMuQZIUF7bMPgpySPtuFvmxDwcAPKaP
gMKeC3wXzAvmhid+v/bNYI399ZBhfYVugZnQJWbQEQXau1H/0nu13o6ZJy/CUpRnCSmrQzJPr0Nr
hkE14yNDmVyi886YTIxJ2fAWpRpDV1Es1mkexvIQC7M9VWbbXDKKSlfQxx6NazcAy9jbordYb5dL
YOelFVgFZm9Sde6upJsQtEBoHqjnKM8RLc2dFYtkn7rZlyEpnPMujaejMzHTjszUejWnUu5a15mC
ONIC9LYFsdVDn63NWO7l0kynoS6zrTcukjShbPYTAUP8jw3P9biXl2gw/sPgiJxuvtoOxljrXc0s
aBuhtbd1TjaraPUHaim6neoaA/c/yasqle1pnh2V8vPp82Pq5p8YNuaHJjfHy4H/eksxk7FLDd8+
05npfkiWWm66PA/3ledexIVgaU+gbdlGGaG+IcInHnoFv3Sf6iS8IB4lxuBOtryfvFubhC4hCcC9
rKC7Obkn860PVeGOG6xgySH2IEwAqqrL2zWBjcvV8R6sgamZpdVyRldp99ns+hoH/TJ+MfrVpmmQ
GNxMOUOxkInhJQ3UzUFPZGk6NJUbYF6oFb5voPwm/Aas0jl61eI8W8sqr+q8eJTuUKC7ivzRY+cT
5Cb6Mx9T3cwJU67JGfJTQaw4WNQwPMBZeEvgC10VkFxgPxTe+FgPxnRVJyke7EW/qfjbFJe/BNqb
Edi9b8I58QbxvPATvzExm/K4s+hHJpR7Q76lsFcYGCwYgHtQGGYnM58awqbB1HjDSwGiFY9FNeKb
7gX+V5BIlcLTyGeLYvl1YlGE3krSPpBFOQXaqrvTADDkEQiDDlIWhB+nODWe6qHrzkoZdafek8OL
Oani1up8sk6REGQoavl1BFIybAxm8S+FtPSlrwZxjV3VPBHyICZXt1xMuPs833xkjpYp5CXukOpp
MLl6DOe+KiAyx3aeQ7abDDjFxBWIOmBqm9lgqrOMk/UmcGgxmplSHnVR+tpINd422JyP5TwjfxnC
PDT2zETZMXVAe4+6yXDlHqMkxiRbwFP9CjpHp0ExD17QTIrllW9jbKYIi3ztgqIRc+vYkqm76/cw
jmqLjXU78z9sCbFNwRTPaWAWJFCatIzOsrhrbmKKC64HJcKj5aOn9jyTj47ZiufGbrMdvzyu7OLU
ZBXX8yX/Uj0tFjnPMmQouunz9bOB68EsLCcmxCOC8OViF2yTZ3cp8s3Q5q9DN6YBMyGoPz484Tof
3tyKm0UVOR8/G6r6yJid6MtomLQm4lqN/MK55qGqbkqXz0LtSkEcom2r19mtne4NolRTG7ccpju3
3ZZnOR55+Wg53H0VQ2vcws7i0y3KVSk515tQ8+wK6oI/x8aDstvl83IjRslMznltFtBE7PuUAgeR
mYRrSYuKM7Q+cilOU8fBMsHrxR3Fre7krytNz1mCxpnGtxBpd6vo+J7RcpRVvjBmbzFlmXU0XbYE
E2qW6+LrXAy92jKtjpuLrOuSMQjzmIOG1jy2V2qq0y9L2RU48FNdk/sgbRWMEqfXOZbWReyIR7rx
nY2J/7oOTUfLjWFaVoBRoRp2usxdzdtkydkv81wQy35ZSKSHqCjhfTumQx8YMrpLE9jSvDcb0yOi
ORq8key5fbNhzjCR5RdEoLsvlvaqx91vbWyt22ezIO+1Kt/5I0XeHm9TvRhPZM5H/6n0RFrscbHR
OQ4+IjvPK5vVxlzUsFxs1Xmkx/1UPY9uZreXjGkeegiLwTISe/5URLpcrgRcVnmYKrogZVIBVKk7
ihgeE2Cf+NPJOTZH0J3RHIx5irOZr+UBvBlbZny07s6v+/TZdLX7aXCH7soYB8M5o9jerhnHZo3A
vB/lpCGGKkaHaMpbGUXmllmTFTKCjXiQnvncUZjnbBlY7E+jQOLZHoNV09sTHzzTjXG+mIRSxtxc
2n3csy9iBElIBgBUcpgBG90gbvOMcGeM730MOg2r/lzLkxD1BEFEh1N2EGMGQVLpOE13BCCSvD8g
fZQMRKuuubCbpkWsTL013I0BWbdM7iyRB/GQJk4gcS0QRyrigjgMAOLLmI8BiwfKWHiBViK7rRt7
3pdwgESPYkGDINtocGlb01f5a+6WggYV227eYpcqlGs7q6Jy69nENTCHWddGY4pw43OwOzV77JEd
f4FoUpdpcwd1ZDLPgUvN2TnT09pD6amT69VhKHY9DCS6YfnUbLcAjm1Ls2PhmlKSuxGqitd8vw/u
gNudskwfZzS17QYd2zYPZhPXtzK3g7/42HvIM0I8alRhMC3JFrzRZW0otdcTo46vEyQ1XNHMq30y
MwG/P8hF4RwYoVUcnYWYgjJM7xpFRB+Mqitp4uzTfYcZZ4s4cMCy3H1glexw0br0C9uTEmq7xiav
/HnH0s6LWVvkj6zRLhd0g9aBXLdJvPkoLJLcBgVl22oBZFo1U3nL1STsoOdneg5k4IfzrV8N5jbJ
kdBZgtDk1TufmUey/K26p4Y38YVgIB7TZ79PPeMjlnI6DDvrFiZP89b2PCxqHp2dEsXBGjXGhZSd
Cer1+YQIEgyjF17UnnNftC0wdiGP+NftAMD9GqakE7iucIED0IsXVA+y1xMsItKfrKhoFZuR0tqM
TTZO2Q1Llf1S9+pl9mE05Japtotgd833B3/L5SVbePLDEokGrwqKOk0hKKM8xphP7fxp6Ehyl/IJ
xC2d0Y3FjjCdwAelxAsgeto73Wbzwo3KE7GEWn3ZVkt5lSRt8gRIiOth1zq/qJuy+eAObnEZz9FD
0bA49Of6UaHQjiHe0JHYhci4vps6nd3iSoa+zEEGuh74wCYEicG8uqZ3V0XbJavcHTb+6QbRYDgR
wG5uWP4kh66jyjkKp41r5ed+P966RRHUqXsjlppMFbAuArG7RqRiq03jBnGs3Y4V64uiaG8J8/Ac
yOA/blQ3Vdukn0eSF+quzJnmajnuOyq0iZf6F6Yk/AA267o30XOJntf7TAAcLBcbuU1kr0uqMfrS
CnBvgm7a1PVEFCuc7QPjPnOLEnzeT2Z2AK9TbGBS4pr1OpaOjY48BgTLGrGg1COI5hhORBSlcMeR
POO2O0Rmnd4WuXceNVZMuG0+Rla+M1AHjwDYnwTkirFrojNkQBStcOWCKFLwPU/O6pFZ6fjJTipE
tK5uUSgBANZxdl462UdH2vHdlNsvU1W22067xk6N0B7m0dQHr412jhr2dbPYx1m6HjkI3k5meNda
47Qzm2w802JYDjXxgy/KD9+sLEaRKos5aAoGg/mKfGCAfBy1K69wJSLCLTFslzIz1oFjHTg6OuaG
M+2FydTCdpkwKste3ngyAf/As/TJo9H8gqS6uc+RX1pEHmy1GK1JkT+HvKj6Ka4uhJGjdESf2Ec9
hxpCJdQJHpRifHBdoulxl0cMUwZjoyHdXIuEgXMn5k9yYtPsUOG1dVLxxYGFtxb9ltfSWhhcy7ja
87V6u1BjLBmmlS0o009+gTuXcSwzL7vHoeOS2oR1Om5pO7hnbPRG2IdFxTRJRMYUP/a8XMZ2KY/1
7D8QYZl44WMjxIPDKMJ05EuV2f6BTo59Q6AQ9cPYAoH9mA46PiStwfbhKwSDi7ZUn2WPVcWzlwXz
TMFyJSrbDykQ+o1lJWfKMnZWS5DYhJtjGae58G5sxbeubZkfwU3aV3Mc3hb28Jqm9xVuYSJ7/C6U
CJDZzk0zvRJOR4QyNW7sqDbOCgAhm94pXv02D+Y6utS6Cp/roXrKuoIMI+GwBmbcpjH9QLdh+HlI
ewJv8BFa12YeOd+1UiJrSf9kte1VbC/VriRMZPjZRzbCgazjr2aXksf2kW3A1O7GFvlNZvBYw/E0
547LYstRB0e4rNC96jqd3HSPO2U+WdBPkTOjcKdT+Qwz9zltSb0mTibExkxFsTHFdDG1INCaQe1x
uQOd8e1otZO7ly6bkqInRm57ybXn5g8ykseY9gkqm8nwI0ixDRnYaw2vKq3Re4tY7SojvYK/j0Dt
tw9VF5+6FrJJVn8CvcbGy9CbTpeftWsdhijvSNrRWF7Bab8OoeDldvoY+c3BiYidGt0tGOZzbZXX
fjKeLVLRQp+fOUkH7aL2zrWpM7HBYsLKh+5gNnQEAsrkJAqMelXJ+B+zbOC3SBhlVT2skFinFOFt
m5ONrmZjv2hx6vrsSzrYV1nVnLPFsTaZLNMgBdG9MYGdOHm8xgEgBVTp9Ap+j1UDcvYudCr3owNG
Fq0xTrYhnoYNDqQcZi9u/qawvXVeZ+9bYxqR8/zxTlEXchxGC23c6rA7wmXANDT4bhk0Nqm7vrOu
tOC9ZXMHhNuIxNo4b63OdeMkGNu5K/Y+HtKFgU5jVdU5YUNuCbiYDiqLEjuZlEBPwusWk831mGfs
eDCIqIwPlo/MtWpeMcvg3uVu9ihZ7m9jvLpnkh2IUQpe5WznPJ6eMN8u2kZssVTxGSF9GlsrBhFC
4zkaatwfmV8O12QixBaOsXHTr1AIDRwkd7J66/duc1EWUl7kaUOgNxtvExEeFkbh7CWyNjCzXhyQ
cOSp12V2GPV03jntVWK5j7zazs3S9ekqZq2U5KbAxGp5Z1nVcROMorjtnNG5aQaAKlx+EOpZeJFG
1q4hYMDmhNEkylAW1oe4aQH91K+I08wagGVuzUpCWpFGkLjtsfPHC6NrUYGiS3NxjlWXP/Imwq82
BcDSH+p8xOHbj6g28GtXDmMo36hMdMttDzyl32GVcb+MwkkuU1WmF0wn1SVJFIxySeOkm4E1YUC2
Q7x5Duu4pCm+ZorXJc6TIijKhJW7r+Wtxep4O84gZPHlqoCXjrwaGZldFPJfDOv/So/922+qmdc6
5v9OI/M//v6/6Uf/PpHwn7XMlkf5Mkw3SfU41QCA4f6VSJB/E0qyrCQK6NiSnBhBsX8lEpy/wZCj
+dw2TR9RxAZm/c9EgvU3cgNK0gJM6muNLfylDNmaqvpP/LhP169tg4LDmKBo6xDW+uffxRGqTFtE
JtFO2XacMYdazhsHHBGu0Hn/XXDj5o+/8/vu8x/Bc/86EgfiarCBfF/211ljKsMyD/KS1Q61VO63
9VeS7QvffF2LPbLfRMp+7JD544Brq4VHnoOEnrn++XentvQY2YRKA4pbkkPbTbyZ0m6av86SzWOu
k5Z08mAL7AWtMh5/fbI/u6y0pSmfFybSof/usoY8MCp4NECtaQUKcAO3DF0tTdu1yS4x/82l/dnR
JB1c1NLYjmsp8ovfnymUsq4UdK/T41naTwa87CSA54d8OtaYt29+fW4/u64kYTg1mwbXP7H+E2vG
VZRXaO5pccA/YwQdAXKo2KAdYKvQH5I6N5nNP3593HfJmfVWJdpDdMYFXu/x/f54loPnwk6WVTAw
QyJ50mxdhN5t6jmfqWBBcDPA0vz6iD85U0Grk2170BeJBr27riwXdSvbIrCcUjLahcp7ljVhfZmt
IQ3edNaFZS4o8tHY/6aAwPvWZPDDD1NQo2D5ju3wT4y17+4g33Ergdl5j4FNl5t5ostkw9dPxAGj
s/M2+jZc58oI1Zkf2m4DSDX2jnHYmx+YL0TjdvR1024a15vvZsPOzaCko/qL1S3Dg7tyQ7d10g4L
EPXMtBE0++oCI21EQNrqy9eR2hTFZtoWNwYD8olJtLaKBwHst9pInKxAEfUUYdf89t7yphCm0tyX
87VA+rqL8aTD+JJpeUvI0TV59+VuuMsJMpwMu0JgydI8tIAK+5j3crG4825qNXtsuN4s+4ykYpYy
fFuIyD9WJdO3JYr9x3rFL1Q2Qzea03Q44BdEXwf7ZA7baUp50zJqYn1FrqN46/J2YlFqEIlKrCS7
cxehvdtB1e6e0V9TBnXsZfAhx4XVYcOklUFAg5+tD30gk7jVh5ZEYc7UtZRl/iiNBsuLkfsLoGoX
lpJPK4azwWnvvFSDTqs9kJHc3eCRzz5GnseDphXcYAF2HuthrC1RHhS8PIl/HsrxniVd4yDODMgm
ixl1V+482ezY1t2auXjdl1gP3UyyUaVvTmXNqydZ444jd+aBaUiH8Az26yAeYReWK204yspjoTSr
5QXyyPySVgkQpRGfs/VMuYBmj9yBZy6ugCSx32dMbQErTyddxo9ZoXHib3hfhGEwdXVU3y4FlK/z
uUlz+IUx2bUiRD0WWfNsZBEQXPSeOL4aKna8eDDKnr3oVTl1ornO7AGttRCVSMFnFQmdjVTlkrao
Jm/kWVj2poITAxbsznSTJD4V5jgLdLaBGTq5GyaIcIwJubEzN9MiurCK2jWe44LrAQ5gMjpsfjHi
SZUEcmax82JHST5fSJ9F5QUt3no8MBMamremSpoR88yUmRF5XyJTTskXxPdyZYkwiT4DqaqseyGn
0MF/lSQCHaQxfDdwixi/0WLalQe9irkcW+NWhC/8vtp2NXvZUTD7bEA2RVf5X/tc2JA3QCOr7Wwt
Iz9HJSlKNyldGRiOjcOHwm+6ZWNGjm7wDzKu2GSemJ/jQY0f5ol91VbXpPa2fr3Q+5WEpXEfyXF8
rp2kuevxheNZWjR5klYNNaaAPAsvc7/1XpxIhwcGiW62WpbxP89GSgJlAtp1ZYJ2MPHcM5vBVg5O
nU6JioF5BPmZX186W/exZy0PhZPPnw2gGJ9Um+Uv4AjGz42tJvaWfKZuV6VmDlUrNsl0SfVGfXn9
aSQ6PFB12/bdfpLsN6C7ziE2xMIzbr0mxsle+a7zOfJ9iB42k9H7so8BlJix4nouK8IwnNbnjrTR
1EHGZ9lXx6aCZJsL6X7yuxxtJ3KNSm8h0AEkaRL2+pjN3dAzy+MgyvTF6seFv9H3xds8sbfbNB4C
xy6rwiRgC4MqS4+K+7Kopoq3TZ/FiE4uNRYAjMz6sSYrPm+9jn9h4orDko14XTxmiM1AY6ycCM7Q
0FK7iUuvROaLFgzNQDMXc2M4qGwbaWd8caqwLb2b2TqcoJCuORHkgA8GZRgSelgM16xNBve5lpll
srGCeRnAxQ+52Rvl33XEREo8Bk3I/Y6Q9FEPzBR3BNKSYi/SKupxieLQ2QGmhapZoO5U52E6N8Wl
VDRpbyCosNdq0e0vsdSQoifuGt1phtAL3gMdH6Vf1/E1wJ2E+get4irDKFnkiqE007Cbuu1bIncW
lr3TVPT2QgnK5I8nAUbOO2h7VN5+4tfGKJvwJN4Vw6apwqac8tLBqB1+UNApl1VAwm+XMVgf7tHF
6AUsG68lL2jM7MaLUaPziZT95tZovIlS4dgV3W7M8TCRcDRFHH1R9RCph6j2o+gCt2U27peYNuqD
7zOFYM672r1sdP74zRJ6aNlOyhl8aCLFfLSaBlvM5DDIvMlqqEXnPHP9hB9iVUve070qzrLM0PVn
NdcZMBG8b7uQ9SAuQvRsszyfRV2IS85rWZ51L9mBd3R5UDDKuiTp7rI07Jne4XvSbIm11R5YqbTD
uadtcz7F5oI1tjFU0jMNH50meiWBSWSdB4EACaR7UJvs0genCvpBFxhGkjG5r7AfURHGow99ebAf
oj7RX+M6ju/GMUnOO4oyiDtVhvGmm16fWRJU2Wa2oCEe0ikW/taavfWXJxK9jv8ilGnb41D7zHUZ
YygZteeVdNfckbUia/QCwm0Lpgl6QIcTpQULKPzPg2xqdrkRir6VdFgLpsLtXghVisfEKzHwGGMr
P2sqCnn+JLp5HWNe5btMaWByIrKighCh7MR+nMrw0cvncGBSGYV0C45pOD3TLTyB9vKM7BzUrFy/
b3okMcXEtb6el3w58fZfDYEh3Evivyl9lgq31nJJqbZl3cMylo+a4CNpzZpqnp2Ofaxv5TIO9k4s
KfiL0WUWcz+41A0eF2Ern3gD3KBNk1l+cWJMNxSXVWnhyO4bl0RG0kaL98zDG8NyZlQ9A3yAEwjT
ExTqyJLuc7N06pPbecZVNFol32TnWVfoPCicTeYRqsLCCLCvRb/cxa5XObAZqrHbTB6gZjilhWwD
ALTE6ypeTAu4iA51NTPpcjkTPOXzTcTPB4JivjIRW3KMw1Z7jZ1uo2qIPgrXny8TdmN8sQOLH4TO
2Pho1559qXML8lfjxvgguiojfuSE3vImwCZfVFlc2JdN2SfjNhOxb+w9F0Y9pJlItk+j0XfGXifa
8V4nCRjz4BtzmJ+FDV/OoaPIThFb1E130hL63mlCoUTvZjgV7uNs1tHe6EQMKjScG/e8gSBXfUjc
WPYXbTYN8bmZ0G7APMoLa2eHKRPjeBqzlNhGIuKH0VUGW6ONPaYoNlaTiGdwHhgdi6nDz+hkhAVZ
GfgE4kedk/UchY5O34qdtp2K61ffWmbwH8AkWJCq+RJJWba7NuRVxEqnyNTeGuc5DgDj8RhOpySh
xmHq6SoKGHX23tvoJRYYsYzpsr31fScKv6YoPu2BYBi/SZPxf/pUKKcG4IPrOJafFe0XMCi5xR7J
6lWvhnJTTseeqUqwTR/qGzWm5ifsUfNyKnXnJ0Eax/bXYcqTq44aqBfdlMXdwuzfGe8IbLdVYBtM
r7e6xELadWPn7jHbzYfFl55x5qc6viqTbAWKO+WTizURMpZwYAf3jFbHjRyi5COJVjtCHMzjlT3q
1FeTlPKrt1T5rTLgV+3BtLYvOByYuVTZaAKVFJ0oLhY7na/jdmAByPOX7N48ZxEm/Hri565FzvPV
Inm2YwqTdYehrZjdsTQWBosIbX9iFkthnSftEn6an0BrTwcBlYPWJCox3fEyxpnnc8RGfupj1dwr
0RAw46s3cUtV2NXw9C43SVGaHi/81jyDUYIYkKhoRB8OLeM1Ht3miAtphZ2NJnZgg/09QLY5yz9h
M1b4CGzXQCPEmdEYB97lRP11Bk4c4ClVK2YHUo3sZVs8oDyOzU6xYvR3HpsLtGePWQ+mOru4CfGm
4OwPtfMMVWB8quemfBJ5mF2xIrPKPQvR6DJs05b5Xa/IYiUWESOnyz94as38WGJ05y1kEdykGDJt
3qajEX3kceUQ9HWG+HlkXspkQrX+CSgBpBFth96Tlfb6VmPq/tBFGS9J3ze7hBrWaWBI3s/2uVuU
bryvW4v5fJzGzgdwKURCaoFMeI6fS/iBB/R2jXmoXm0asBPUcvAiv83rEIKoELwZC2ysaOiO3Sla
ifI2wQY9Ox+6sWcboFhQX5kKKv3ewl8F28XJuwv8t2XFDzvFu/FtL/1fGuG/WR66wf8bYfKPv/+P
f/z7/0Ie/Mff/2PVCf/9f36vE377P/+BLhHm36Tjs9/np+Mgb6wK2R+wKTogbMuG9uQJn3/Bpf+/
QqEBUgpgiTTRmRAoqLXjw/xTKTRs72/SozPCtJRDvbUQf6k84keVib8GxZ16a4xzUJocjvWj/mJS
o2JgH0b7Ni2D+FXlXhRkam4bT8vyN8rLj2LhH8cCbeVhxOVdjQLy47EynHaDzmsedGoIh23YyoEs
7+TEn5l+DeeOzFjmf/et/ESf/JE/9e2QVEUgqlKNbPINrGLQd3Khm8mCRkSC5YY3ArHmdbEr2zg5
/vooPzkx6dLt7qK7Iu5Y70SsHA5WQwQaJmqkyvjou5a39Uzp9vt1OskLDINBuf31MX/yxUks9ASA
+cH73A4/nllMZYXvMpYA8zorPHhzEWKnXVLoM34fHX59sJ+doGJ+i61IcRHfy7xp6DSWncGfIv9a
s1JS7puoxuasMYb6REe5Ur/53n4U6bB9ub5CFrQB6iCX8e8fz44bkoBjVk2bYWTpoedX5NAawon7
qFOiTkXpnceN3v36LN/fLOtBpY8Gj0MRdfd932ncwQTDV4h7i3KkDaHzCSBjlf/mZvnzUZD5EVpd
jxXQykT78dRwhBQkbHOmp1Y9XCX0F1/yZn399am8vzuctYOZMQQjCHRyW7y776cZbbNua0QP12of
1JjNiLdeRWijL87+8qFQ4vlBK+Jmfz4fLaI0hmEybwhsmcs2p2EAqAy7tWdnjPvlN9/R+oz4TwV1
vTEoo+V5ZSL+Cx4i764eEZGmqHC8kfWS6GRqDp9iUhRPbQMCukDFrkGM4xf+9Tm+v/+/HZWSH0VS
xvMY3fz4nRHNYg+Kj2STW153m4TLdJ5KVV449RqGI4Xu/ub+/8lNgk3Shk5lrpxCd/3z755bdB02
0ixQzZKwkTtQouGZ9IlR/Pq0fn4UoIVAJQSriXcP5MQVxpQUNfkWG0INfoEomBT4u18f5ScXTzHG
oAWXmiLedfaP5xLmix9DvAJg0mLlrzLXuAqbxD/Zid98jfuy+c1I4c/PDomRRfH8WE/Mku+uHa0u
XlFhrNkgq5xxlYeNRCWC89E/14V1jWWdQp3W+k0F709+cQqNHqO3RUiE392PZ8ksgEhLSSWF7GYf
WIhb0argqbPQWPqHX1/QP31t6zMKoxa7EqZu5vs5VOPVUL6cWUAJcvTluETpoSyb9K/egkDNTIRu
6fvrrGJlrn1/Cy7YGVNh4YXJ5gQthq7uia1WZ93/xZNZn1Kms97lvKFBsv14GPgQiZId1rrZAxHi
jUryhkam/4tHUStTU7Hg4gXN7PDdDxhfKnqt4CZXTYqpfkD40FXpB78+yp/uAX6xJpZyd30SOly9
H89ldi0CdJKyGV9I40SB5XIjAWgwztLp/teH+tM98O1QSjCEtj0ba/GPhzKpnJ1RUPA7uLGz4BXu
TXGc68S3d78+0PpA/eGBuw64Xctdn7XQSd9XWbeD7KvOXkDq1h6FOM44dxDVBDVOW9ufR4ZN9ozD
xWt8tECD6RY2I4bC018+X4/FB/c9JEa+Qv/dpeX36qRR4vts/YcpOiFTK/NgO0Vd/eZ8//wdeqTN
1qcHC1WO8+53bITMJVoXYEuOb2/PTtffLP0CtsCp7Q+/vrR//g4xc3jCNW3Qhawb3z1+PZT9pi2g
6Othqa99wJVnVDf8kwL8efpv0Zfq/2MJ7LDBUIJNhs9ReNavJ/zdq2QuGVIwBKA8V5awYTKHfX8/
xr+5bBBv390okj0MZEbOyORl8o2d+/1xXMzcy+Bjfk3JV0w7DFCF3plAod982YXti7HCC0gjNqxP
gy6pQ8/fwO2j6z3SWVzeey0jrL09NQ2PT8Ogj7q1yekHdsi86gJc6fJG3N1BSkznrP1CezJhNREK
7OJzos32ngHM4O9D3sbtbiHzXrKVj6ysPZkT7QQopLGDsn3SpC868oHkgjAOjVWcCXXFQ5rS3yMS
nUpu1634sB+1jKAP8D5rhlt3CpGLU/4Yl2ZZ9tat7yds4606pZzErzNFKiF1Z/9AI3cbn/fEDx5d
IFgHNCiqLtDLdX0dCmX4L3E7zvmlqQt/2QjcBuCwBo90i0nOlVl0QvrhZlGY/I70RyzZrRGKhFEw
fRbTBevtmShh6dO5sCkZUa6lM2MxEVq37JB3auZW/q6b7MS9qzQ42H2sKc3YAiIzxG2G2TMJMsD+
tyl4VbURxLHo/6hRLXACs7jaUMvMGLV3tV0+E1SOzFNF9N95sCGeMbSpJ0z3n9CmPKqUZOlQ+h2t
IUvLdPuCkl3ZdGetGHyqyDCc+UzmxmilC8loi6nRzgIcaMmDScR6OUoF3j4ARCMAxdltldz4tOg+
yNjO57NqkTjZh9Z3vi56mEy8YjWxY3JetENtxmFu24BS4hhmfNjHtxFUw2pbkIuxApKalPrkBX/7
LQRJQDsGMSsG7QT/wAvmsCY2Xl/k3VUWm546lcyCb3qaJrwPs5B6PiKXlS4eN1GMin6wIWLqhngJ
Gr0PxknHxqtExoaYszjmpK9aPJHt+UiHBVwmIx3at6SA5dI6s4QkXOfo96VXsDETPKtpWbcTz3b2
UyG79r7ucKK9zi1xHAcQrylbOGVO3VFZkXnKYBapw8qkLagsmgi0V9TkaiQq3UTm8KYcMt0XuMxy
/aVv0rami5AY9xLtxexYV2YhAXDoOiLOP7Te/2HvXJYrV84r/S4eGydwTQDTjX0hWSwWr1UkJ4gq
Fok7kJlIJC5D+Qn8Dj3pmSPsQUf046ijn8PflmS3XK2QQnMrQmego3PI2huXP/+11rc8hWPbjm+N
m/TRKU/j6jbpXPXhjGJkczSgDpBXT2OkQQbsbrhVHoSYkCNfENi3jeJbvtVJO6lzCe9H2B/uDPL+
hPxCPZSfKopkHCgXVA4NNdGPtNY1HEp3I65w9hcuQMaqNs42DG/FHYiVmL08ZMD082LQCk5l0Q0/
E24qeypRg923bgxKAEiOIt4BTnK9bhdk+CMOGELqAcEaF5wvOYZ9W0aWfWxQFJ8WFIj2Ht6GCI+6
q32fPJhS/gHaT0FpdalrKGRpnqw7L2+shEbBs/OgAjb6p7LOO8kGUfAGW8CkTvAHUsBBYsjFl3Nt
8Ne1HVx7QrFT4QE6BJf9GONDOiSkcgc4nVVATiJAqs3QhRRMgNrCsMjHuHnf2B4zAJf0b+8kco13
EU1zP79ETajGy5ITT3pROZpgpxy7IrwFoDGLb8MwTdX97KaAkURCc/LJB8KF35ru4eiIIJl+Q/Go
PkOtcAqy7fXw7nrTWNANrlZuTRPiesDdCAJ6LsKkpToxaTk6uYN3/oImGgltauJd1wzl4zDX5EV7
HZMRabj9b5qln+lqoUt3vYiLgRZPbwxpWqsFB34QoqUX7XtAIPjKuRufBxKb58+s7e7GSfcuCZzW
uWkI0j/w4Kc1pQ0SCpoC3/LUAM2H4Fp2snmk0EB6mY9wrUGB5CSwNkwmEuSp75Z8f+BwkDV0RGiD
RhkAnlEtK/IokJ+PoScVLQwLbeTPBVMNR3dKFb3rIDWOvqE5srpECYvDi8GL6pqiDr/qX0wxlTV2
6S19ES0vzgxE8Cw+lFpL9yzw9uYTDDGaoij1nv29mpLOuRYKdtYeu0grrrb5LDYVs0sUjZf46oIC
6tV0wNBr1qNrLawY3FuxpX8hgDTjpSvsxcIdDCQm7hYPi2/tjnRTY6u4UragqXURMgIXRrFFfalc
F/G3aKkwfDIGwDfs2LBIKdor0ICXueP4u7AUYkYBVEjOCPOdOACLiH/wWFPuZ0FI6DgVEQEUbhZJ
Dr/KMRGU8RDGr7ZubZotTuc2VytZCOwKpUdwnepXlhJy3fiTzMU04DwjoVNnkHCi7ZDqsHimP4xV
2rqQwspy78zg2WQcYDufz8GGYvHFmm2E4LYMeLt+B/iWUzlbre2ccUEJZnyUkovFjhpmB1EMtRvm
hso2wzvgtaKt+aFGtDRZ5whuxbbVzhcJwZAInaxZorctxeF7v7YptXENSPD9mjrVwrMr1PWR4JXy
UfUXrD+sGusPMgckfUzq0Yc5Tt36I5FqtCQjgzk5NFpNPNtFkTj0YntjsgcSNU4H32399sLtJDDN
itaTE8r4iIkXj5af8dBNc57IkBwTAlH9JXKHMyFZemAYhh5YFOiKar1j67eSDBulCxXDd2RC2Llu
PxmE6YSuxjH8Gm8Wim83ehxMR5ge9RmGBofzTELc9rEczF25oZzy+5RYGCIMV9VOxQJ4DpXw6UpK
fyPGNs4NJ04oZsMzCEpMS1u/YYSxSoP2R24JfpbxOXTrzAFrLVCTADHxrCqSTh0aC809vAwoa6/7
Nqu2pv++6pCSDokt6dEmKQaFofXVlXY1CCDPqef2IPo6PsSFHeObAARIAsouWRIGpFaBgJBFnu6m
yHf9g1Qxtip/lbm6Bcmqii9r2UrYJkXSGdpb8PHMn1Rfb8EBk59bZTFFkuXnpgHXvgN3Vi8P/tbZ
KBuALRCgqMPNnprQ1AvS0tmU05Uwrj7lpkmbT5JZwjz2dep33Gn4x6srEUz4DXZOOYYEuYYoX9zt
2DlYCi4HtQ2muPYDyPVvemZU4P3qq7jYp5oXqdjZmC0Q9SlOEMpXxhYfY+Q24u+p1YyPKnS66aLi
hTieLEDO6KIqSJtBtulyg4AYR/JcCTrijh96u0D0bbZnBfFzutJtQttM30GdZPSM17tkqhQZhSk9
F/U6Jc5ZnYtp3W9Y5IY9ix84CAxd0PZLVUNJFYqP4MA3E12ZEXPfaQpNeweziworoaPt24D4NzCD
q0ntcTSF97qb7VU0NkGV+Tyhros8CBGiV0xTGSCpMy4GqpE+zFQn2Oep8INnAv0ul5ufTmd2nwFZ
l7pdc8bHrKY4nCsWkFjhUuGFED/Z9QtBy9uKCry6gaJ+laAxyxcN4ViOvBrBs/TOjavdWJxNLjm/
3rCyIrfsFIrD6FX1cw7hDwOOk3cAvoJzTCEYKwvzGFHtu+alPmeTcnyM8j4KcKbbfP6m6iSkx2z2
Z1qnPSkeMdG1LcBrD8nfb/GRIm12lUuir9A0g/mJthdr5yHrtZvqHyPcLsik9MfBhRzX+BaQCnyi
oG1pDAWMUT/78IPqjID/ElB62uKl7mW+8tMRZ3ZqWpJ7/M8O9ZBE4fA9uUVHnrVU9r01ZxhSsUpu
w1rVo95P9QQnqQhi8xXDSPkGSYmV6ZZ4qUtIPZo/+mSV30RVi4swz5mlcAlxWuIsgEmqcJrxGvId
9yqBZuwrrgFmtOtqlqCUCMWg/wTHoe+zY+JPWx/SgOcXNRxLiMnlLWisTj6llVaCgqV45FJCA473
xJO8Y4cG6xw1hklxBCZMnXXcRySP6qEngml9xVuPSrPtburrwsBiiMPr2LFFcQWi1HlSoojdJ5n4
uB20buyXTYXB7YI3DVhTGTr3VU2nw0G4VhzTcpqulWupVDLRqig6a+Twgz7d4RZaCt7S1W0gpo2+
UKB9pxLWW+f1bXB+HeT5yQ+nermsBQeNO3Ye83uh+v6jlTaKgIyMvD2xFvp6n3pL/30JE+J/hRuC
J8z63FLmmzVFBGNgF6/9RloOGAGPaS6foR4/QaNeUvCxULzvMEcWJN9NSfPwEQeSC5u97wiV76S/
UtyZpQGcpi9lD8oU2oF0R1zLDED8ndjN46+dpkRyxr9nDm3bR2C0zhyNPWaA6LkYa/sYchTUWcIp
NNh7Wz8kXEr1ajLstUlC86dnPy0bQ3tGfJhjCHdrxUXngoNeF0yipnzXRKJCsqLJ9n1RI3h9ZWBR
DSlvHa5TB1CodDAVceIpmnHHI6P/BOiyLI9dmpByhgUsMO7qkQl46/zgK44f96uteXrzsG1d+Fmw
Wi7qnhjjQVGyfdOHAWVyhIpFScC56H4W9EimJ2rZmmcZtfQdGoPztZEh3aKk6NLnaAHXe+s3gm7x
HSahSP7AAGWXx7ZDJHvls129Q+PMOBJKPIw4UJdJPJUSIhxmNETQnaNiHLp50Fl7LCiuCj918RQ9
EquYsC4zCuIstGwT0jsaAMr6EyVfCQJ63DhgnuzonljIqjdvjai9n8EfIcgbel44KONnObBsYiAf
KAiRmVaSk4Idl+iC9s5W7BTzJgXD3rI9bjREYfpNiUwNGHyekzUSFC/yL8lUZXhVVLOwX2f6GEZu
DldFB644ZgfWp0CZkkn61J3G7NB2rIel2dOtUIBHGQnaQj2z/VuX2o0nHyrtssP8SyXgZOLxKuiH
aTmskINlxgAKJHOehum7M5e6oqZl8AxrEHyxJ+TPnDStdKd7jfls4DWdLDfYobr04A/Y1njJq+V+
M7gcTht1mtAlrONUJGfZlHLp4SHkMpzFRRzP2D6tZfG8i8AiqBuK01PGbiC2MWA7r3ju9dksWAkp
odRFnf/oDKLDyG4ZdnfjghOF9tdaf4JVtCz7eHPqr4x8KwNoyTsUbk/Eza/mGPempsu83UWGugTy
c+kUQ94N9Vs8FPO488jGsueJPcro4UQauee65HFI2yjhLafo0mLfFjV1B81Uta9YgQGejWvImL25
W/vkqGT7ktfF8q47BeemgFJprmZp7U+uywIWvOCo+bFBRlAnl9nYucqxx9FKb7bybMTRXnuR4H/t
TySAeHMqGKwBNErruq9dF27Nrg/qRh20a7YfFG/w3Jm6kk7AHK/aZeNs+iUIhWZospVO4IpuDQST
z86aLH73UK5TyP2lprU+zZKRZMLPm6yk0YkDe/th46T6xuKg7l7dWlg6NzUxk9NYSNZUVPZxVn9s
GONwS8vZF85zG+JvekBUjEk653JruE/LyG3H+zZoI1o/xYLggpG7kp+TXMwf89I4gMn7BQgTD29O
y9DibFbForomVpq/R2TmPhhupxdp09L/ZnMYiR/1wvR9JM6Bw98Tg+9drqOsh4eyLKQ6+W1iykdh
EKvZAqj6mynMfd+seO/ASnjwWrg0ANUy7AJG5VgUlftcRv4Fn/MryLhr1esv/RB+cN5t9qWMYUn5
y0udJuOhS4r0JPCujueR05HeCcOkIdgw++FbgU20/PSPklspp7EBD7l2vH5vx8q5xZIfjIfIryde
kpJiPKCsowFFlkANoq4CbK8/ztGXf0yGJdea4x8H9L5YwNnWdCsbXU9f0inwHjiZgXtLppLxdJ2T
8VamhIlJTE/N01/fC/9/m9Q4TlBEPKIi50Yb95e9cJ/aiCtTOBxAamwSrCizBavQnoj98je0uV9X
0BwM0V3QkPASCErPfpERogX35iZnuludqvlc8Brch2Zd/k7Jm5+CJOIieSOLYI75ZXk/CvzAGFsd
OgNifcUhqL/G2BL8jZ/yB5vFn0sV/Bg62Filo4yRmvF+0YbHwujQN2A7U5gs+RFeA4N4jptcHaBI
rzeVCYlLxi5niqZQzhPW2OIDIxqjz9//BXouaSbvLHiG8S+/CKTv0HMcvkAGZdC6JqYO0D1zfJXz
J7nivx1Y/xByrf4VA9bvsF796+9/92//91/++f/8r//9Fwukzv+GP7qwAu+3gFMwj2oUwPOljgb9
RxeW5/+G2BOjOwYxEUy69/7ThRX9FnBbnBUTcC4eWU+koP8wYXl0CBKuRFtJuOC4Sf2/p0HqrE7/
op7gweOFkHrn/yAieucb9c9UGpv0vJTPLmjocnO+TwFQdljLK3oTPgZ3hOtHhULb74aADQ97lNnL
YUP7/osUDod6jz17scP5j3sYYwsB4VyL8tKaFJtnByEKqnYHbhYyqhvfwpxS38U0FQ9l4zjuAU4L
Rso5XwAC1RoYFX2oKPo71Bb3MmL5gE81wWC5q71yENk2EHPdIytVcLxrHNE2nSxlPMScviFiaQ73
Q9s+gZgYEJwCV4I/zYtQZ4FdNocJd9Pl5TRbYwD9dFT+UCQu3soyX1740E3yaWhE4+xoxmt/5ryY
OHgObAYm91xubxoBxiTdeJCwkiQ2oOkyOXfEzsN66NcRWPOsVf5UBVX/FoUR0p2NkgqCWEUyG0Y+
Ps9xmHOH/X41Jdk8Ov3rFG6r2C+jR1Gc8UnzLKvsj3rBpb8DnDM/OM2CmcaYNFaIL7P6poJUy0Nv
aupLvNElDueZAH3N5PiUAcpG6wqYDp9P5ptFnoeeFMpx7zP2EarE6p9sDC7JOYmxt9Sd6F3cWvhW
nMG+dCiqvIWasIAf4mzhhalS+cF4C+ynayq7XCrY9/0FRJJqO6arAkO0uWfzfRiGeKZqAyXiWI1O
yyfCi+8BOqAL9UU47iMFpNEr+DX8wHVjkq+RJY3GWrnmFJCPqAMcnCjbjaEVbRhg32nlsF9tsJz1
Q51v5wSMQFYZwvBnPBHm21VV4bIwT0N4bDqyMOU576z1YbODxj9Ly6PYedbzxB3+KjXSwdqHTn7Z
zUkkGd+ISpjPzdhyoA67Ik73HVit5GDzhCKszpXBiey+86rI+N4wC8VbfvIkq7cLoSWw3jY39ZUO
ipRBnCSRaz4nBUFD7pytQBNrifyh2hU4upEmz+HgvIeBfcdOXi0l30Sv3WvKYQxoxEV1UX6jja/y
A0A6/pqkaq1oQEx1cGwpFZkvhV81IaigPF2j19VHuzqkofYqZFUuxk9bjdvkGnUr3y5znQ7Mvb5y
aJ6UDAmHFGYynAeEkuFKJg44udqeKfqGQBwNb3nbuJ+dfo38Z6IIYQG9tK/AFogpjLKRwrJ5T8dx
6z5ZdtBbxv6wzF/p4626r5MS/nzjsg/DI0eJT/RMGWbafuoZ8zZ/JycCNFRy1bK+b+PelscFw054
73aorVk5s6E7ucsyzzdSTrGF4d37ao+SD/YKucShBszSxxFg3Qde8xAqmIaZX6P37vo6119qvkR+
jBdPNSUiJoheWgdXymHqlDciEVTiRxd24N/cYOvFS9FWUHgIibVfIdCKOXNSvYCCciKanHW3Jter
GGemfxOxEJ1bz1x6yAXvIUJq8pnDA6dcyKlhmFHVuzhfyPgk3g46T2hYnpXB9H0tw+0hr6vYkJlJ
QP4vbYrNzlNdmB+EVd147/aigUbEbvEunsFMoPTn9k4sPju2hIF3yxhlEA1zE83XFSPz/FH4G8jO
3HI3A6mifKoK+EphG83DtIP57z+wyqi7h6iuqvuqQb0morYVF/PKkhUcpy0sM7CJzphZ34vumnEd
3zaGf2LWpXyDDuoSqokWqgsKLIT1zsyazaSpq3LB8B8QpiqWsasvGFig8uIdBlkxiYrfpDBt7Bxo
n27Hu7SvIEohLTTkA6eezgxImXxYzuTO6lwuyCaDkWj9wjUwhqdqCs8SgAoBSfnpCqdFlFuc9awx
+306tcMXk0Rpg0FHqnT98KG9NieSPgn8bMhQSWaTtmtpQ64SebLWba8aWZ9jnGke5jcN3fJPArqp
PizC56Gb5q64bRsRD7u+Xc4nq9QJ3Kwoq+rZKBu8tPHKkZmeVfkSCrY9h3ntyekNoh3VvSJWdB1t
ApI6qSf8mZDyIJFs61amew6IPeyxdFoPHjlVpk2/ml/6oo4fEJH0SJwYX+dnTxbNDWHA/GMYKxwA
MC23x6EwZEuVx4V3IQLLOj9PynM9lTd1jzng62lfLRM7N807Jz2fGxbwWp7FzEwqbjgFako5Etfn
XxUm6blFoDbVegyjIubi6FMupSjy2RHhY20tohxrxoPtEsSCjqZvNfKgPpSs+dt9agaOV1XouAXM
3rwUO92hJ2YF5TjwUcopfsIzPUmgg7EFQO0Epsy4coOLwaH4hgAkz7NdHkwga0oWS/zVGdzrTpJZ
3YXgR1D5fOprcO5sGlbKvNCLVknXguCHKeiRyRypzyH/EJ+WyGWpYigzeQRJyPcHYCa957iJg6Kt
q/pHy5u5z2Z8x2Cbc3pYRt/LqWmpveDJyg0cfTO34xeuCfe1VtEIZlRW0M1GPo0fTDSRc5xjs8Db
n7sf4DZorpjPwcQdFOv0fBkHziMb/PJ5a1T6s/UplTiPAA1A+qDgl4gUroksTjuX12aZsB/U/D5N
S6bi2tXI5LvJmwiLYQk70+WTeeO6XzrEEDAdPSUAnhM9YOWEJOn2Hg5Pp5AIbiN7te46bvuiy3Tn
Oe8kq8UAz3quw2NhHKoiyPDSwxh6BYSx2UufUaWGL9OCBA5lhhxWBjBZf0GpJdBR87quDv5ST7d5
nCtzWpBYqmxhJ4igkxc9u5qq7dBMC55N2gy5OgSQpDHfOV6nyBXCnDiEMuD/nldbYjPWQ3Wzq5Rk
TmkW3NHHogH/hX0ukZB2JwY0ElHrdtqKLe9vtspZX6xmmXaKrN0+AowVXAxjlSyHCE2jux6Jd8ES
NcN2LXQgf0ZL5Xxrcr94LNZCCmyNc/pD9gP4JJ6R63vHkn/ab1yYL/lC6uk4b05wrelcwoG+hjrc
8T9WsL3G7XugJ1zwfuuwH9J54HCNJm7dM9IS1Z08ktS71UdQau0kp6xaeJhkgAyjiYO8rj8FizL+
QVUqv3IjepAOSltz1zPO/pyLTsIOq8buYdStek2pnP9ZmIUtoosLxdIJE1Tsh+Aintmv/dNU9uv7
IFd5y0YQtSbZ3PQRzbu5OgO3vjO+5nx/3qzfeCvrO5hRi87o2mG/hcGi/lpFlffh63V7SFGRLman
G/iNkSZeret09xN7B+qRh5a8OXJX9RaCzmYuG4v0B+Tq4tsatwSgpwLe3QLO6IfctG6ziR7FaxMI
5isanKlaZLpMXjqulM9LPHkkveAp1bs6mE2X9cSnyb65fgsXCpzy9RyvHRbAgrqsPf3hMz1P51oh
PMvo92uDRLszepKPBWCpC+LvdFay4EhuNUmiaTf7aF5kyLf0YQWAig43Um/k8cgvsIw18zeeaaTM
iqWl37rnwV1kzh+6kpbg3JtUh0BWD/J8tfiNTcqdElXbHOJOEwccEx3NR71K8y79Ub+GDpVSmZiH
HH4nGH6y675xvuVLN78RX3cfUQMTCVTOUBJVMeQ/reQJCZXSxjMcIaFuVHnn9FcV7QC3kIC8k2e5
WcR6iCJDXLaRZcWZP3f1cCHhQkA6ntcC85Gnm/5ANwIOK1MT7IQ1UrMn32Lm6UzXDcIPbA5ZZzke
INTpVjqP+ZgbUOpOKK/4R/KvisxmSzSwJHSY0JoNHK5JWCYWRkE5WFr26hc63US0U04LJz0UCMWC
QDNqVmQlyyPLxJ5Z02G6ghnGy912eDaWxYr0kM/Mu3CHdcjIuqa8WRwR1N8NVwnSQwCoeSeNdV8X
Z+YEaPHMCJ4O5yIi0I4myaTLDz1U8xI88z3LW6+poheNGlBk06RnastS8q3Gn/xdDAg7ObANKb+W
XaGSI5vac6cQJKtuzwks3LL+XMm3uXUe8it5bo2Sp0wBSdydLlj9T9EhB1aGgtVH2Hb9wsWyqznq
DfuEjhM4ruRhepbBwGsQc1tRHsHSAy8koMzBcvQ70nqOaX15gU+QPekQGZeiGzDszi6ceNYcR4hw
aueToeerKQunBM5CvO00gk3BU0EJ2rGuQywfEcULnDqKlQR7EjqI262/TfoGXY+6w5ZulM8xCBH/
WBeJN2RqcfIBVgCPsr2Z1njZtRZT2nHqcWpSxOq146ERgL7Qc0UlHtqgbukqcwqOpPG8VcXFAISV
lVwujETEFbYG0tDkeDiGgaYiG3SivzTYdXritWhnh9quvNBdOiqZxbc8nfYRb5YAiXTp+xPDzPjo
iIYqS+gHCWi0VjY8MhokzX1Ldee0t0UU3aRbFyS0m87OPYHWmHWwBu2MbXpq0s+0MKznLrmEP1oz
p+nPWjvSZgo6Jg1Bri/zIxYK0WbEmcf1qsHIUV20obFPqm0m5yQFy9PdkI6+f+WXblo8UZhu3IOs
mhlS74oXI9Ml+9vd2nrVuOd+AbiwjWui9vGi0crTgtfQboSBOkB/59I6akqrSZfapGbsDFqu3xCr
oLcn49w6e46EKt+zKmM7QEUCS27qiqfkBMG9za/KYCw59XRtIy9aFdflpY/uBLKcFzNVcHOra+B+
BZRsv8srCI2dS59Xz5xXHshVrOYS78XQEzxdEZ0N5h2O5uBDy2PiVXzNBE1Hc8uYPZOLJfbp/8zh
rsmjhD/R3RToTX2GDtiqm6UMeFN6tEMQzI+oqLmQVpTegV+wGY6NLnRw2Ijht3RkR0YfmnHM5b7g
gPhRE4X3TvH59b4nH50GuH98Zh8Dejn5MnFWb28cHG/bftlIBfHaXME1pNEaTvtCrUuFMWL1aaef
AbKjxXL1343WhwffwAiJjjJBIdk7qZsPp9DNc3y1QB3hj1Q+Rq+jDaZxvpzh2M5fVrm69DuYYeo+
eTwjCBMPUlePeaxamZkqt/MLvBquR4hI2xbfW0hb5XWKegAucW7G5WhXHvGrtLq+Ik4E3m/2JQU8
NBkCipikrWhv6pMJ6OQ2KTDeiiOu5pjO5uTABaWg7Nf8+WmUgJsBvFuB7upUALmyXUJMgpzhUQZU
J0x54deh9DC00Rq3S899Q/uxrCBxCNGn9Q9kY+c5ibtOXUlIAiCn6VxBPuYj7o4wDY251sG4Gt6o
1Ur2fS3oRcTWNMuTwASK9gpYgG2UtD3GMy/GVlqFlBYf5jngy/CJUlMhaUZsZkJhzLrEfDyNl7zg
oQamkdbiXgVhWd9TPeMpnu2b7E5xEyjvCFZ5WmhArXofUc3SUzAEfJTnlsXgGmEOZ4epjBgy6saq
FTdDoO/hVdff5x4eyk4CLZ+yddKMvhpAeLcbJnYOe4EYdEOha3yL8b/D8Gzb6TUxkCq2ZbQJgNbW
Qe3XGxF0+m8xxVNMyEhYDlzrM6Tlh8pz82SXbzXdlavf0scptkQ+Cncgjl3OngF8Qmx6BRLnMGrq
Ju6TrBo8MKaYhNtb1gOGUpR2EZes3gaKlIZaEN5Go3pJlmXALjun5qbahm49Ohx0n9G90q/IeKvc
oZv5OMamIX7F39X8WL11c9CxEjwfubNSwNrayl55IeHuXePzOfO0ZIfI6xzRdLfgTCtwz7Yr7q8u
TV9bx3hU6XmCacVj2OJVQsRC7XQ8jD+5+XGGpbFW65W1o7d+0xXng8uVJPbXaeospcgCY0zGBL8w
ijYWZZVtWNFM9Wdupp5Oj9UuZr5p5VRN7aka9MggNbicnINs6ksoLwJAMG45BHHObad8gm99YbhK
ICUx4xSPXb4wWtxqRLLgZnS81DoFCmHYADZOO2mOrpgidrX0mo3ywW1SWBARCyVxiPK6md+mBCEQ
Ck0YDYXeU1XpMLjnMI9qzPuL2z96tF6oQwKpf9oraFew4RL2RXRurVSTrLsxnNTa4nn3ZegcoTaw
6iwtRaJHqytn4g2QtuKC5Co9QFYNQl5xFrTbIcT6yZYCKEEUAXTyokSfaqoAvO/QZ1N73xbYii/C
EiWXLxv3BwKfuy7vo6VRqN7pduJUiRk6joYTiwGXIwzO5Yg3DwfkksdFI+dkeivT0s74VjUnOx0g
yXi7eCAjVLKng5QPfWv2/Qb4lepW9SOv9Zq/4qlppscmp19E7io355QAQEWwGMNyDJl43cUEU8Nn
BupyfIwKiMLZ5tMa99Ov0M0xXDH7ioeYMlti+d1QyXYXmrSC9V6Ftv5C2SStwLyQ8ghzma4lRE5P
GSgkrbqqg2J90qW31CdLI7epUQLjs6fpvAkj5rkLnXC74OivqIXwnQnbWqE72HmbUFcTbA4sEuWC
SWteyvbdXXP1LofK+0qVN5seaAZufwgUMi6HCYGrfeawKE9gROoSR0u/UYHbVD1ePSw+17E859cw
0y1gwGSSwwT1QrqAF5ygC46AykOXLOBL7TzO4TzF6Ph+GJ2kAik0qtnQSz61ekeNGH50T8HfYy3Z
e3TqpcBfOZZ5o4+Fk20S6yFXPaeeLH+euTq499bGeZDlkA6IAbLzDysbJtqMYBqFl/0ylLfW59+E
aumYz6yJink3qxlgzTyY6sBCc4lue3+ABs36Pyl2ugjAizfl3P4cElpHxg3xbl+1Z86hdcqzC3um
LolbO68+PLag/BFwYEPn0tHCEsBfRio5nbiAETwk9k0FWDqwrsH5YC42nneoaYZ4Bu0LnztprX9P
idNiKT5dvTeOacWxitvmvumXErxeUjq4poV6SgZI4tm0RTESsIFixSL9rK1geq2TPWJ9QT7E5Bht
5oTT+BJ4ask2ucWvwzKjOsaFr99tPIGvwfHU3K2wIIpDssVcZtYFnk553Hyf97BuDisr9vuQAwr9
Mm1dvhtGxHvWIXw61uCJNek6sQzETEtBDkanW6cqsPpP24Lxw6m5kzOmh7qCLJFM6070FVCJ1hnm
b13kCs4YMtw+Y/dXVKIvxCp4auVMoputOTXOJau/fcfrrzlUTcu6o6l18t2pUvrpBld2HwPI5Xcb
FHhxWBLtV8WD4trJozMTWncUPJYsonmVVWvvwH1PmhfsEZQKqKFg2z876/wIvCItL9PWKejr6ADJ
QPRQNXRbJ54/L6kjBracYf3OOQqmHIeI5LojNEJWn2abfW0T4ZMhkGQI/Iq4Q9ambfURQRqpgH/2
yDWRjNivhEHNnIyFxt32tXTxDfPVhrTNhALHPvEZxjbN06+80lMxMCIbFkhDgyMbalGDM1/xbHR3
m3K8x6JorQvAuYLrn3bJmO9SHkuYrpyCSR8trG/OGxrkIJFojpxSOyw+OPQKCk5xUxF5SrGbbkF5
F2AL4iqq4aLtWjZNPxse7qxD5sRI9jiW4zhrjNC9wjCp6FJWy5PHnUTyIvfGGznhTM1iMTh3UNMI
s9TxADy8GA2q19T6+aMOvXxiYRtAPAu0w2FepYggN4yEyZ1cqPqmywAEHrvsEbtxwd43vthEJ9z9
1KryOVVL4WSdDcQFMalZHhNCyWPm+kqxyhHAdzIDfxx6tzv5D5zc4qu8YEQ+jGEdLXs3lx1BH7q3
OBtbckXEHftNZIEKdP1C9bL5qDGT0DNLOfzPGJRRcy/MaNK9754XwKxhEIKSZJjuDREf55OI++DG
pNFCPgy777PoWvcOAgvYmlCG2J9Gfr9rRcchQaAp376GyE4y41UXuOx7evkBNhU0mzv7TBmj40JT
h5Vb3ltYiN+xoqkGq6Eav6p0wOfhynZ4+4MU/d+i/D9Ax/qrqvw//fPv/+l//v53//L738FH+R//
hYly/if/qMY7Ufgb8X2qcUOMskLw3/+Q4x3h/0ZUWgiy2/wdjmoo9X/CJzMl/XZmDJ+jwn/6m/9P
kPfj3wRWDV5Q6B4Jkcfk7xHk/6sDh0gm6pEP45cwdySSSPxi4FgbKjNnUXCLF+1D77El4+AQZBIl
YP9nn89fSGf+5Z+EMwE9HQfOrxF8NC3BgqluDlSPrNzsbnQ7b7RnDyxB/0YG+i/9qMB1Ad/yCUaB
+IUY4of/TtuZLDmuZdn1V9JqnEi7wEVrVqUBAbAnnd43E5hHhAf6vsfv6ke04FFlyifJ0qSBhvFe
hDckCNyzz95ro6tooInoO1ZvEaxkV1GNByKYd//6V1rdPP/ThvPnxZMSQoO6RkJ5Df9qZcBqUbfc
VRN/reDJ3HYiB8ayUj1VdmfgAQvT13/9DVc/1P/2DfFurA4OEl+rT+Mv3okk1GNMsqlvFE1255T2
RzImzUXBcbGFC6kgH1Eq+a+/J6uH9ff4y7ddA/K8ZyBDVODX/+tFEuSUGuELjXwdLvZNGebsqwDL
zmOUIl2UDvtxoJ/vSjra8iXT5J4JOTtO1WBdGdUhkTYy81iC568OkgrqVEN/K3uK2xIxDpMppB+P
UfDgCIV229C0HpOBfgpqWhBWW1QSd6GeUt0AO+hO1ZDZR3Mq0/dMwwptaQSN3LRe3eNNiu9UDA2Z
ojmb1LdgGZDhZWq90y6c7yLodYRj8UHc2YNu/wxEoH/ovHUYZhemr5wJHtsF0aYz/WHdp4UrI0qH
xBXSuhIDSU6x5iA1kYGlk0p2Ca8H0aQpNlS3zuV0AsuKmVLFV5t2SAgq7LWrYdWjr+ZDtzXNnrYm
+kiml8IyOHCigdylo42KV5nxQW+cbm+I/FOUtQbMjjmZx3QbvtC9pX5Sua6SoQyNciOmtOs3+Tz/
ZBvM6ChGO9tSxkP9sx5wlMrwEbPb7A22QHHFC0xvRH9nJKJGdqyn7EdnOsyoHP7OEa1PQFt7AT4t
V5q3IWvTB3qkxicrqqh0nhMD0NtiongW2g9zkTSuxIJ1RhFCQV6CWDnDcLM9JRYkINdxh9yWsir7
6hN00V7Z4KJldGU1l5zNsqEBJc8CipBt4WtLHeLdcVqqfmV6l2RNSFtyvfbKdQtSHv9x3+eCLV2S
Zxl9qysRknwd0DVYt7QnacOxGtrukS7RmrhFXowqU2BuHbvEiN5DVZpr1woZjGXI2MNE6bSVi5BH
wv/Fp8aRjV1rl2g/OXzQyQw+uN+Pgd3Fm6hrCFRojb1X47W4Cy/H7OMhUok/lMNOlPFd3FpL69ZL
/6vjFnDMJ4fDiDA5wG+kbNQHJN7mqxeipXM6NA+m4MVdDF3iVVnqyBXpGA2Y5CgkrLQk4zTc1W+U
GIYHNFa5xrEivyckY3myHxYP9zRRpzxePDkP496ZVOOlG4fyBkmRqjW0Vzcoq4Co1kJ0UUvMNxK9
4mjnUfpiiGHBd19nHzOucb8urWqXLPZXpxbFtiti6w1+muohLc9PeKDDhwJb9NkcdOeZOLrGxt20
8eOyoWWqLS6CT9/kEo8Tz1QaibsehuwVVCxlRt1STI+My8JLcR1R/hhGd5NRMJrOVnpyIFneK6xF
32xZWd293lW0OiNvFO1PJdKryNdmh5V/V8yi3I7F0Als1c7SsTGLmqB8aNJW1ruQoEa9t+FT5veD
QL4itajU4lfhZGO2lcPQB7tiqe1iF+CFoomH6HB5iUQb7OEBOMkz+30Ji2vOxK8WN5e1ncUYzn6I
bFS5tQ3e/sIjhdd7CSf2mcHc6R+ckxlvJtgQVDOhfXT0iKX6eDTjyiJ1ENo30eVQD2E6UEWvkx5B
1tJHijDhGO8LPMn5J1Cb/gn4oZ6yd1jzbivu6kJ5HKn+bCaAfYyMMSiPhTMPr0Uu9GGnQhz9zAf4
KBwPW4PUmdZOPzGHKcuuL1r5wpnQsY6pFXW/86qdH9U5h7XHnNQZ7oow7l0L01l0ADJAVDC38mo6
RYnEucSJIHtoQuq6lBgHWZA2O1wlGPV1XXGDtjsbogFwHWIzb1or8PquCbYDFWVug0+fiWc8hgjf
ddBzwRVz8CJxf/cuCLLfejTj2alAg87stTOXy2niL1Y2W1iq1nahIY9NQWA87R1xUnrMowGvx0EZ
lK+EKfQMqbG6dVVMMUmGdMTCRGPfzwaGi/8x5fIqwb+P8A4ILybJDn8C117kPLV9e8dUsmc5ZVd8
L3xVed3uqtA8ahYLQ7ugaYkaSvUOO9NLv75GS0Qa2/btujlZ3XgyI+WQV9YpmzDsjPWbUdbxDh7C
T6NWP+Ww0rH1ndoMZ9Wsnm0RDc88h3b1bO6FGWYHtDaDFVBM4RHby813uXIY9oeyKHfMQQrdJ8sL
hWeEbxkrvMpaPrO4gXaaXnhK7jqn+d2W6q6U+p1OW2yeVY9lnd3TXoT3Rui70ZS72Ir6j557A6HA
oPXg/x+sgUYYStL161AEvyN9fCICcAdmdNc7xX2l9VfCWY1fRs4r2GOC3wH7vLkL8m3Ytvd2xXU0
LHtL1Kcoq3dAUYe14/jnRNlbxZQdOl99xRxWG45HY9xLuUYiMmPglpmhE6QxzqlAumpdnA1jeo9N
a0/XkkvIxJWrhTJVIY9ixOm6z4amUX1Rz1BY73K9OTYRUqYyq5w3ET70rt62zehbiXWHRyXH3mle
Q6z3m1z2F0O3tUdM1T7oql1NvCYPR1p+jaa81PCx8ibnOtJy0ubqdq4cyUQ8v+NVqhjSsuMIAFwn
3rHBswFzdK3gHAen9MZSoXGHTYsXopBu5mI0XVbiu6S0a7CWBNdgX65RIcrcLW1H5Jq2wrm5KVFS
v6r2wDJS6s1dH1s3SdyLhewky3O24GLVap1O857GpXigwKYmDWmlGaRZjoYiLS5mQ0YcfsO2X2Jo
+fbJaKPPrEx/FVLUD5Ee+rMVzayNteOqPw+VJO5pxo/M6CDtQ3lHJq7AkKGQpx+4HoKk8OkW9CqW
k1sLEWWrTPbrHMxfDIkcUAyzd/sSB9SMyOwu7bg2x6nWvWYl1TUGUu9lQNY3QjSY44B+olb096Kr
nINTGm+tkvCStfPJsZJga2biUC+52IVV1z0MTU/JcVmPhE6DvbNoNMUpU3SpaWo8UoV3C+JiPwtG
d4i1yyVVjAMrk3Ifj7Aj2HMR+lY+JM/6vdrjF6VR9zIs5n1B+nrfaAyuWC6Td2gObqRUVHc77Rs4
C+mOTYbppdV2czA+FHm7bjnxVjnE6JspepuRgvk7YetO9sQ6KX4BBvCQ2/rJGVu6FjUquEMn2BEs
0a6qpWC4czAJmh3VmV30OM3iqsrhAHnnnmQP8L/2PKgNq7/CpAvJiQpsVKV9UUE/+7bIP7I6PJl6
s0cXuysBnW7nXjvrxvRUzepv7J97S+LrioIXXI0P0pDXMG0w3kS3FFPxlt2Jz7IAJxtKsos3+qfJ
+msG46in9sHpmn07JjtCh2dKS/mw2POWJvBLGYXXLCF+bNvxtRzUH5JWr6WPd0NHYhJyEj1Viv2h
6vVDOKNWGrp1l6SZb9lyq6XqXdNSeC0sSkKihew/enu3iB+FikugyAYvApvm0ZaicMmOIDYkfKyG
Xzy0WUGD/EeEw/G2iUb6N2deF55Ly7me1PNqk/II23IvpPMM3dmQD1bd0WpO4tWmDZwlgtK5oA2c
TVURL+wwZG6cSntWWvVAVJBVWgOLKRfDfHBGQLBKo/0SNm9iir/Agb/kqqlCdkgXWyPsTXTrEdNw
1D5npf5YRL3iWvGAL3fEVNBqBobzRjbxvdGQuSTDAUlSw/uYInxteuTUISwDtxiqS2+OyjFGklv4
aHOpOG9tVnxMTeFZxG4fl4nkZoXStUmphHYRp+ptNTrqthuyV5wZM19yfJ9z9ZLjSdxYJmIz8rHh
Klqr7vWlLb1uapNf2mD90OgPn1saKpryMyAW609aQLGg7eOfR9hEjmRNm8LHpd9gm0RmuG3sCs9F
ODw2gA82uJUO/P78KmZxTeLqK5vaky0Qawcaul1RIzrFLTl1DcvUCecy57dVSzJgWm06LWtPMM71
LXFM5bBk9GPQLlxiOE7SYoecn9C6QmckZ9aw9tSaJkhZYoda+oq17BDhByR+jGexYH9Z17DYe+ra
tD6pVp/49AITfDq2mF1/hqzMn1KnubZtMiOsN/nj0sNbWyqKqMco0BBBOwYR0Zn9iygs1U1zzsdg
lcYfINJA6mhEzvxclvZjrAlOACEz3/pZ5KpDoHPRWMovdYqWs1LFxgsuAue3FUbDDliKQtowTypv
jtOKpC6+GN+mI90Nhyx6iGzN/EyJk8HykZcFD+J2FHZ6zdhGfyX9YnWedFrzQwFR4/a6YvB44FhN
tD/AudDWzqGw15hU1Ir5EPcrl5vkmE38sGBoCtVcO2P2T46dUMEXj3XtFWzBb4FtEi7DAXtFC+8e
u6417qSV5pcmdd5L7NBu3An9K8hUlbZz1qh0XuC+C+mEIPzalWcWP86OqFF6rprUfGzmIvGF7I1r
h/NnU2rZtA1qGioqpZ7X0vThrkAbfpmHlvY8ymUZouaqvZjjYJ3aGBwEBqg2uK+ckPoDtVRcSbyP
+r66f43nSDsViqreIw6sW+pIphd4BfETQiXH30DgtnVTI0i3XLHWTwJBpU9Uzn7F7DP9tqy+8Ydk
1H4AXMzOuP6JeZpzdYryJqaIwUg4WzhJRCdPHY65gznJro7pOIY73OzWvtaD7mIEHfzyWHz1bW1t
Q+F0nh5E9lMyTfKudtT6kQYcxZtxtqqYGA8R1mOaXuxfxBsDP+RGQprO4Y2eiC9GyO7zia1Z/9AY
+apqWPjJdi303ILiGN6pY6yHyhozYa3MIv+WCa7b+YyLHE7x76Kd10Jw2+ByuFmRNs/9BRd9DGmm
Npc08ay8EwKpfTZXK3k9s2dwM5AZOSl1K2NjDezr0jZkp25maquvnZ6DODSmBNV9gErxkOvzWTUw
1plUThxEFMIHoHs13WHZt18xzmNzw54DE2xkRY5i7pv89BxEI7ktgkbbqmpWn8mqR74ZQxW3p0HQ
6QjuxLBJSuAOD3Z9bhpb1THH/dALjifL4DdyJt9N+Wo5rl7LHBpCqSaQiWzZEUvV7DPoSxvTUnBj
0UXYYaJHlaltIv9BFQjtjhprEIu3K62GHb/qdEx1vNKM/I/smcf1DbYPwRyDnehqH3ZSeElaojD2
8mXGE8EVxSDpLDvFZyEmj1EV7GhQf6BZ95gieR9xwYwuUvZwnsK587JFBTs/NZGPU70/dmncXKrO
Hnd9tmSniB7XY5wQ3FBmKd8Cx/zJpnqtwTVgcYm42JaZ2fsxVGE8BPpToHEInoHy9ERsmSi0sHMr
ckouDDXz1Gm4BOijGC4NjkPacYvm0JUG6dMces+mWCbl2ue+OdrqdsIC41nVTB2GsfxwmogrT4fU
msOm3s5qzQdr1npS5pF5b+j6qTFmkwX3cubnMVxjdjQYHCmWMHaPsGlscVji0jrzUYYnj53VVVKV
Fz6N9DsWKdeJnRNgJdY3oT45x5rEFGgJSDOvbcmug8R0OB6osPqBhYR9ftalPtRtSuDttNxN8zfi
KTTcUMjci8f2Ey8tOEBA6i5Od4VKqJAGksWu72oWF0mIJ8BqwhfywSGEgTH1sR980BbBxkgMgZ9r
pbPn846DaTUrarXD03oQWyJC7DkLFeZGXtTbAN+6S4EPPem2vCJ1ztcapZbdfpR7jBj9yQD44kLF
JwqUGca81TSdVDSPNVAJFsCDlL6Ymg2VFSrBiUHtkwq+341ZnCKbW/O45Nk1IcxziZ3gzjYyxolG
G96loyQHZ46mbFMO8reqg4jb1JSGPRsDd8EsD++rTsRnWym4qS3S2Q4iifbYE8S7yo35UKWiAf9W
Wxdu8TCDarvdM8ZA46D/c4PEkrlTErMtbizjIFqj9ylcn94W5FWf5qz5jA6eU0I7zgw6SfFDCYLx
Xkeax/RKLcO7QULHr2w1OAT88n5bTYtfa50+bpDwgwPZ6/yoidnaiqYTDzSB4U+aGwXTfK6IZ7um
sUlTpOkD7Okfi0KRJ2bxyocNVb+GrCVxedb1JRkL50D7GuXYOIQQNhNCzxugf1RvVbkdXBVzUl14
Dy8zFTyHOSA9PUCSdg1gJ56m0UMQjhmF0CrP4VLhesvrl0WXVzWsxF1YtlRhWw6nMgvuDQljOWZ4
uaCYvWg4S70YrtduchrlSO4wAyGQ5YgQ5XNaIbMvnloGZWS5AeVgHBYVhQJsip0pR7I3qrG8cTkk
+7ZZdB+TOvv1ZI27aQNH0IiPx9pBo290Dsqt+kGDV7mXnYroLJUaflJ5Myd6XSI7t7drudsa9MPS
Z1fmbaiz/Ep36xW8XNZimJ0BlsTCPChl/Nxl6jN8sBbpk805oCjOf9SHEHhouEtwScCzg6gyYGju
zJdakbAndZJo+bJdmBJHis2cvvD1qXq3EnsPZ/wGNe+DKpwfHKUMjrh0wdUsSu8iffpFtQrV73qb
+4FuMXa07Y+IjXKXVvOhxuDuVbUgK9SMxo3PXHNZyhQnGI/4fZ4QRKqoEttHdTj5ZiXTLTRRRUDF
xnc5jzHFxfOrrOdPhVg+E9s4PxaLaB/w3vFJ6MJwdrMmN32t0+6qPueYiZ/VpvxIHaEojqde68dt
YRTOa4BB9dWQFXMUwLNL2XN4zmKYsNVEgIcOFUqwpkdzsF8sxzyVIA62WZ56WWrwhGtC0h5T/V6Y
M8VkwbirhulIKGLPocFD0IUCo9sfOHuQGCLhMU/tcRk8jk2MvdH28nR5wCtGoRiaHG1YrReL8mIv
g8bZt/AkliMIb3F8PxKHQQD3Gv5RaXAtJn19GIv4YE3G1YqdN1gWJ6jebqVrRAiSY1jre8wXT5Mu
7G0WYzGP+31fcr8EmNkq/ROG5OemoBCrtPdoqlt6lP0eOcTJh2PYxlD6zC29GV8dC4JWpVjQbG+F
shgfmia9ZlS9DL8c0wVtH7XiY57x23JeXhMr38PKYoVjuNkw+9VKZs2UE8wOnk/OSVowbHAvwlOx
txP5eK6Mm+3IrWPkL1UOiC1u3mdcKC1qDAth7l7hkb4zNzewYqliqytz9z7kJnFx7XHNuFaNBtlI
aM5xdsxnsAeu4Wh+BrAhTxbPSestlnoOtFGwsVD+TY3nm2XhHZkCYmm/cllhGqWubz9CjeKpcQRQ
VL2NUh6xHu6wfRz0iKd6HEyHMJQeUcqNpqccEYrh3JXFjsGUazWQ56IbDwgGMHuoTeQnpbzsvUoa
L4Rkx/ODWuDqxjb0DXAsyIqQh7agCNgoHooWAckRxGvJLa0RyS3eKrYCUB7z3k0s8zxBrorMwUXz
uElZSReGO+0B7I1wVStOWpx5KS+OETzBn+OU8VOO2rmN4+0Upzd91E910qcYedsnYou32Y5Qlye+
COozw46jAb2h6Ct0iOY0cf4I/euSzahfPNFlRyFknQ/eZJJJLUZ5H0Z97S7Ox5wr1DX225CHB/qo
sgc24Uu5aCDTpnPatJfWrrhf2Belr044rTCE81lWykMRMPb3fMacicUfnpy+2fCUv6+y8CyH5GNs
+9tMzTcrhO6oJUBA8bU9IKzjk6Mmtwz6zjfhuvQ9tUuKsgqYDTlfrBn3MtWQtYnd6EuX3Hjg32dm
d2k4Ui4iRUDQkNb47VMwXynO+dNQRA91TESwWYOUWMmJa2H7GMUujpxtpasnitjwJY9OgUMsuhVG
ftZlnrlmOD4MxvwYZYFnJdoJ4xUpH9mOfi/JrXZUFXqBAv02KmW/7WKxjykGZa8ij8y2vglBT9pY
PGnLfi/1/qXRuXUq2bR4aWuddLJiHm0xv8TY83Tpf08RQM4xOdBD7U1F/D5E1j0bo2fNoA4vm/sP
4EanBTDLgV3Ek85dq2I3yI7zQl3Tj3mgF43y9yAxb7OT7PGdc7tk2aPGTkQFnrO11OYBAN3ikuXC
pBlPp1pXD0aaQx41nu1FuaP0gSaxtd+1DfXHPi5aGkE6Vw+zyzjkX0kpN1Ot7ao14WlGn047KC66
yyHQGfzWUa7kVx8V8olC9aRIT0YWnQJnekhNahXpRcbr3gJ3ba88/z7Iw5JCV+3nDLLSLtfwu2aW
7eP5G9x8oS2+Sc+N1qc7eO2vbLAxC06n3OnvsgjaIpYscSb7ED/Sy64SpUym67KwlRtt7FHuPGj9
IxV+T2mCayrC++avFCkiQExah0gP1IPl4JdXRTqfsScN+ICWK/7rbg94jIyvqLNDO9cWAEwQFRn3
kH1XW+rzvO4FRRih0Kt2h8GR1p8Dduna1fpiDZQAsdqNHGfflARIFxeds5xiIdWLRh7GpSorq7dA
gCJfbZr1CGSbWxbJLJGx/e/TLose8yXAUS215JZRCYpkTp58I8cAc1Acaw+4vo2btOjsI0DvhPs8
SMXXMOAThI809tyIAhiRYbBUW8KZP7IIiMo+IG8KLykJ+/eV8MQTcizHm1r31ehODsg7v4Opt+dr
/+izQHODvGjua7aH8K8161GS/Hk1FTzyVT7YV8WBJUyUhInZicPFawdd+FGTTTekQ/lOTZT4GFGS
9+WYOcRBsqDagusM3IQ1HG2EIQWwudXl28CKx4ead8afOd74QdVyqNJ4hhVtGH9C+pYoFkvvmVM3
uWzVJefxmbtP0k0no5/klnWCxsEOe54RZBk75pa5MeNwEWPPg+mropJwY8fZqg9afFlZUbxHhTa+
ZEUwuQGT+3EwRvszyh2ezxoqKK5jHWZXP3ijnk3PosdZCsr2K1x7r8p5jutNN/IAgBNHrk8r+iMg
ouU8xu0vysg+yEh3dzHqga+Oaf2Ew1j0G71sh7MzpeVhXvr0sTEQVqsxRpRBV/UWGDdgKimHSlml
iBzlh0hqyFISAdWwlh8Fu0GqbBxnPExKm+0qkAmbTizW1oKYcqrLpuADxK2NdKWnl+q1RHPfTshu
D45Y0lPcGTuMCfeshuRDlC+cg+uGvy5w9XgTwSl/4LT9OrXTcsgksSyNCu3W4ww7+EYIZnOM58Hv
kFA9TSI1DdSw3eo4sC80USvXuYRBsbGGCdO2EU8oF+WQ3WnzyMqs0MOT3kwjzw4IDzxNcFxsxirs
rzEUY7c31OQURHpyL7Ci141Wb9F/WqKTZrbj7ASmBapVvBElD/Y+7LorIUKyiGbSsmxKHSM99kbq
PDowJ+FdUWP4a1HJmrlh3+Tb2hr7O2irOeOaWURev2j9bhjJ7fDTmhMjvqXvFr2lfiKeE5bpTRRy
o6EsWqeObNKPAMe7o55WdIeRLQT1ihE4HbY5Bcj7ngUorvYwoWHZ1hr9iRizVnnGJBec1QIFoAsX
5y7Pe0ID1azMnBi7+UqIn62WGnZvaqtSkznE2ImNEaJs1xmXmEUdX1MxrxVEBM9QElRKYw0T2kmp
bf6+FDh2ql5FSiC4QqrLDgV9cG0ITZ3wCnUAjpmY0RsdUwq9tBGbLc8yJyEPf+8itVZrVpF+OGCw
Yr1hhyq7sa4WV5NYUrf7e4rHszUlQkUFt5Oe1pjv5c5c4zQmVHP0AqmSmfjbt/P/w5o3fDVd33z9
7fJZtX8j/vXrs4vL4t/Xb/WThGjDpr77b3/9Y/vnz4D5vc/u8y9/gAUSd/N9/9XMD19tn/FP/yD8
17/5f/s///b1/VWe5urrP/7tZ9kX3frVIIEW/2y10+U/eZnWL/+f/+z6mfPP/vt/kXP+z8wc/u0f
l55q48TDDUJZETUg34ib/2LmqP/A0URJgqTCHEC9jgPsPz168h+WsE0BhQl4JCf3lWPTlrjb/+Pf
FOMfghIUFdodXB2anZz/F4ce/Lu/2K9sYQvHEpZma3xJ/IJytbv9EzFHU0yVNlFu9eY8eTIs5/DC
RSrleaqhe56HRhFYwJeWtQ6fwWg6TtrUvEU6GyuX3qSydp1eAY2/zOOceGPQ94kXktFDthpKky5X
xE3HTemsXr00BvGlOalL8l1z/EL0dnRc3NITKpk2Is7INAp+FwYyCFpWrz+1FrcY8DZWf+kkgzuA
FkkfbA9wSO4sveQOp4OXgYNhLcywcO0m8qVrTqX/zqyA9iO/on5nWQalRF5CStX32nfaZcD6zoEs
UUjBkOEPPvQOkD87gzUnk3xnZpbv/IyIkQU3k4E8QtOxEV+c77QNCEXc8Mt3CmfolfRHTnnKh/hO
6UzSILGDB9x5oRMyfqsbGuC34US4h8hqFWxsJ1N/l1in1Q1IUpJAjl6ah3Fa80FlXGa36Ds1JCEf
2mSsQi32FywOmEm+U0ZxyeTjGmv4KKZjseFXimfdM2WtIKJ26fJIPa4pgOETYFogHZb++J1rQr0l
4ySnmJCgqPpmF5N1+4ASi4jlrNEoMzCba/Gdl6q/s1PTd44qa8e0d3WMHADV1qgVPJfmofzOX7Xf
Wawmo08AW43FzPWd1hLfya3+T4qLClR29oXTgO0WVp3vNBZPaAK2mSQPUzN05sOSQyBk3yyG9jD3
ilUd2j7B1ZbryJF+6Kj94pGthlifO01AG/t38qyt2rRxWXiTSBsGbap2HBd0ksxhtyg7xcB6fk4z
p+/OsZko+TYyzWryVLMRtmdr3BqPbaopbzXoj+QHpjSNYYOfA1qA4rCR0FSzVv1aTYdoHyayTrz8
O2dX/Mnc/cnfSXD15/k7l9fGkoweTri58uuqIdCk5GMJAnVIUnUz/An4LV0dKk+cD5DJQ7VKOfvO
SguCJx2V1zgH07ONyP5QS2NS13KOK6laD3EPpPSZ9Cu+pKnq5vE9jxMA31E2dPFTpkRjckmLoD1O
ozXkpzjutOFK3twZ75rOYQqux6m1t9VCy/gGQUsGb51Gh+tvfm6l3DlzbJMq5QIyti1Y0dizSq2s
7o3v2GQo1ghlhEoc+9MMU8CrorCLD2piE7lsSirKvBy1JbsaaNj2HYtbTJZRMSmSmEzIeMT4J9Rd
tCY6LYOh3FuTOLhojTX0KXiGSZ8hNyu39XcwlBpmQqKT7ESyY7cTlTAG8qm5hMEgqKUI+iq/alPI
nSsI1U77VSbFhMsSI0B3wwhKYK//Dqoa9C+tPKk1wFp/h1kjMEndofwOuVbF+n81WaYxxhKdynDi
2G2yH0XTlldN5c6zn7hZRIe2HTNCtJjaDBeZMQ8wmAxkBgu4f7gIcVDpLoyBJvDSWM0Vz/gO6Zat
TmCX9rtYf9QZ9uFRxfpkAMaY7RfdoZnY5d3nHxVWax+DqRhqLyI1884Bvvldz4Hxe04n4tDshcpX
gbRkuDQ68B+UaAAkMIkARHAPOJ1Nik7mivubWNPTJux0rqEu5Z3Qa8oZAjvLUGmm7k4zOnVYkQfW
NRoW8asiHVfvc+SYhvt3EsFgH634S9Vqi94BXlfsin35GmGx/M35VQT7Vteb3/OkkM3V1MIBe1Ou
5mQ4OHxYo6x8tSHBa65RtuWvALQM7xcG3YabEUUfmz6oQFpRpULUqlrmd2cUBTBluAUz6dxp0tly
gl32YgKh8PQlkJyDBnVH32SxQbK3odeg3y6MAi8j0av6rOZx+lSBRkx3o9GMyoH8yVS6PDCUypOB
Lt8MYaRS2YdaaZBCbqCVJC4SdnmG4CyobCtAtrl6wsXmRiIfnnPVll/xqKfCMwHhPAxWW5OxnAQS
dxj04imKDONgBppBJrtE6t7rahtc0Iblr6bHLMhh0QRl3qhdC2jluzI20CkD2JTfTbLfpbKqsxbM
Rq1dXvux5+TGIkKC0FnLaIc/xbSYzTUXwmsDdmatroXpPd+zs9b1HTCz3tlY30W3Beq15amTlMWp
/i7DhTasPdV8e1x333W5y9qcG3yX6BZgeGPO5Wu5LrCN5anCN31vk0l9Tb5reKFmWEfyOfh0AjlE
bymLFW5mzRR+UPyg8X4DtYHTPtYUFWBr4WRuSnhwi2D6NwWRkq3SJM17tzYEA2yjLFiuvcH12iBc
rV3CRaZob4ogKbtBfM9vPYohi3ak9hy1AtoY5LJwqKG5NPmz+l1YLNW1vLixcyBfEHTwHSYJI/lO
nxWh6MB2EloCNIvUHzdZbQ79askNlYR9opl4G6X1SwsKUGLTaA73Aw3aMNyMgtUnzIBwHRGwkSX2
aN9xCMAPI9pooKmgqIkXV/ZC2zVstUBggCWv2BMrYjcHDfeh04Lyx8qJKbzInGwBzUrWaP5DjbeX
ipKAcqXEwtfTqbH6qo9F85Mhdm0hbvT4ZuqA44knlm0OHSWeHiypix9aOMfPWezEsVfYcY2BbYqr
AZ7WoskdVX3ltcwkr2xbR0icGubiTVAbzYcdC/hkvZE9aWFpnNRogkbnZEiM+pSVvwxLyzGxgA3D
FVNOEioEX7jems5qwckaQ3+tuQ+vXsZwfZNNVd2XjWiY4WytzQl08+BwE5XyGxrE2sjVphJRShQE
KKEYQQrf67YOiboz9awEFdRNj0qcVZorGe5xjSOl3Wpt0CnE5kDzZRjAJo7ZPETQpUa4soolNMo+
OElxEJxnO/aMzsQ/3wubbtuBqOlKpNVv3Yh9kNUcVRF4deo03S5ywiOsDjrCvAgh/voQ2yidWXgY
HctKAZMLy2ONuIsyZUVdBfo+gPJ4w/OvjVvIGiPPoPVxuhGQOMggmrTKxEZmUkEFwAzLLQ0ZIKDn
xN41Y61XjLhlMrHHHtCrZRDiHDAauEosB6rsooRgMbaqXo4PulNYmT//D+rOZEdyZEvPT8QEjaRx
2PrsHuExzxsihgzO82hc3gQEQYAA7QRttBYk9brRgN4mX0QfK+vWzczOm4lq4ALd26yKYDidNDt2
zv9/f5L4F3Alw2btATOjV1HgtKYKwXHBWhEFDxo85fdap9+/Alo2ZjyYeCcXeMrI6ba04ZzoIuTK
TdKqo8exyoJzYOJENTjdIZQJK5N4rH4CH47hHj53mCnSy8t6yJ+jtKuyvdWZQ7VChO8yK8eN8VT6
o3UXF3GnrXQo9Cne7QJA1+iaRGWGUCNXGdQlMkfwu7ksZaP6GLdYs7O46wjJtSN1Vci0eTVx46FH
KMb+AeM424flmZmxVF4EpZGimTo1so2xWowlpA2ETnZ2UTda9OpamXwULuPKBSleLnkjLLDU2YEe
l2sibEIwiVFlGScFteZlkNFaoJ9YQULv8M1YJOFU9mXQhM6joeilsb3b4ZseApJdEbs+3QrSEG6n
JhgsrAASsKKOkgZ9pF+Xb0nkdOmaIopNyCMjN12MaeCa6C879GKRm6inOAMvwjAvtwCpiQjWu5QE
1ZPpgqco0PUeu4ejJ2dIT2x0/HpYoQKzQ5KBXEV6K32qwHotRwnWDmdFD5etMQlMw+/7OqB4ZlRR
JcQb1K1RTCRd6gOOAhjss/LHJb5OjQCU6eUqVjRX6tp9YaEVuGpQcr7UjIOe1DQEF7Qzk+kSGgmQ
pnwaBnsR+gXfKJ3bjnKdge+l8lq/WKVRTj5QiPJaXxJD65/WHIdNyJK2fmik29OyJQsIMpk51d3K
lUZwifdJYvcmEQgd9jDErxHDyI9oUhhget5oAw9Hx37aaqgreTAHBHs+iJZji9E03QAEbq5jW0Wv
Uc4wZqH8dLizy7q7H0VcvRj9qGlAuyzWqI4WEmT+NrluaIdgg4arR0en6pP7eMo5EGlMkONlR6F6
aeWecaYcE65TYo8NiCcggFujdftHx1QJCdw0ZYPVpAFnnSVGxX1VTUi5nNIMX7yCMwOq9E4yq1FM
xBc9TOXnjJnMC6KQ+KVpvPYB6SSi51QTbrLs0OGdijrgRMg/5yg8k/KJ403KVMGlUSVrq3nwYtg2
6NmwGHQPXR+h0Y9Mjm/gDLMaKr2VJbfJyBhMzwvtRfd6E7EY1LyHCfkZ/bUAMRKCR3eKUVmEKIcK
EONIJCN5VEOWvU/DOCJ4CqYXZ8SwtOZET1RZCHFsw4OVHZycBKQFYCwk0y4oSaSnDbojJLV6/5Di
z3zCzyadJUnXzOQjEXYuABd69iikCMBmJ2O7XRNcY9+2oDSGM4/pFtrmMvXcQ5e1kGrUQCk6MEcL
1nqkibdIQJ1bTmZAFzAEi+Ys6QDLeQHL+g29furBLLL5h5zQOo6eRipgwOQqo2Boi3uLRjBuX+F7
JJfoZvDaJMhftxY0mHOKYjSzXetzj/2ONvwaOVwxXVsDpyn8w22Vsvq0jJZMQ2FbN1i2cwZkEy9u
aNOCY3dzRHfCpmqv/WoCphXBzChXbkWhiIZkKvyjN+FxWFQJ9KYrDHjN/D+Nof44Gm1MLaU1IMj6
JUBIsu6GGqPR2pymwLjHeR9dBDNlHk+STNrs9B/WWCs/5tcYfT62dNa+7Z/9u2ynGeIX/bR//vyX
/zXbXj/9389/+d+fP/3Xr3txv/3w77ZXoX8waKRge/WEywndoDn2hUKtwZNmpMxQmd6ZjX15zjf9
vaXmfZg9rVhDXQOmuevQ5/q9o2Z/mJcI13OlMEFbe5b8Mx21b+2h0rE8l06ftLEhyPnvm22dX/XT
atXmABzdfZd64lkhEVH49br2Bb9esf+q4fgD0+u3zsnfLgXcn+6hcECayO9bd41gHa0qBpDSAl3B
tH6hy9b9hd31xxdxDNvBoinpYX77eQzQu8gBx30p7GklQYGukXaoX1zkBzcNfDiWC9MSukPV++1F
RvZzhtmM9MkwfrNpHu4Kqq5LJnT+2Z+7Z5z06JtgNNVRmVvC+87kaudEqRIFsI+li9sRNBUZGmVS
NKt/y2XgoBuCDivSu28/UGsPXknK2h42onnTYTFb6nre7n5+kfmX/M05y+fQ6SwbOk+1tPgszncB
B7E3dbRirJ3MBrWlcGD9Mxs4aESTCn2vUFD8Ipz7+2dhviBWctzj2MrZxL/zcxsNLb/OMXe2Dd1x
9tIttbJ213/+U/FqOw4eZMar8jt/tdMWDOoyc9eDOAIwVvl4UFFmwHGN0EElv/qmfnQT/3Y5G8P7
N+9rmtVTP2mCLp0nN3psyGWLQeUcuJa1YR2pLn/+6QwWve+/NMlNpNPOLSRi4buoCOyudleM+S5V
Q/4EpDt6KYFsc0pMBIcXekcKcTFVxsUI9jBAvFQD5dbowd7qAYjdlQLTQEhgnjqPZSbArTtQTrUd
aXaYmiYiO2+bDDIzDKywQVmU6P0zB32pXdYj3NxdiqhF/OIb+/7tJVqDxc40+VCGzQs8f+SvlrzW
y+Zo3W4XqkZuHW+ojxktip1C5v1ld/y7Icz/+stiSiJnk7jLeuTMy/vXV/KBhOipanZ5AFQPJKOz
7GrVfyQXElUMCRzjn1yX5k/GZRi32Igwze8f+LRSAoFrvcPJ2qwm2ttb1wX+meKSvvn5c/GvXy2u
5DmY77GHSPl9XvYYN/iwumpnT9O0bCgTV2kOUvNPX2Rewdn82DHYD777omg/0pTy0SyODo0Th2zo
aMjE5ucX+cHTIAX3y7ABP8x52d9+R4ZJedghN+vboiS8FAARst6B/DZZnfwbrsQF6Bvr2APs+Z5+
9dzJwHMxYBS7GHTMaSxaDZ9YXq5hhpq/YDH84NshbJFJGCw0abLgfnulSunGKLRspwwNJFSWzBE/
YfeL7fxHNw4IqCNN3WHy9z3wIZJJpRNyuxtyYJ8DRzoSfAVbSN5ZFz+/cT/8OJQmBpnpCB2//zhD
FqjKV+lO8yLiFQYzWtVW5vziYfsWJzHvTvMnMUzbZctwCSv89p7Z+lRYYAx2heM90xNRx9JBwzlk
hn2VG716E+VYPv38c/3wkhY7u8UcUzdd49tLhnog4dTGu2S2wZOfnm84VGfAExUWQdWWJaq0rPjF
56TU4td+uw9Ti5o2e6NgxxK/LflfPYeYUNoArN62sSGHrnt70F+BqnFsb3jZQDUl6EbjVrXGwuvK
9tEkBvQF/z28PmWSGbmmktXPSrpZ5yjeJw7RdNqBUNj1g06rGxsmS5AOOKBkHDVYDV5pRJ4umPOG
BNOk9qIabIR0nUvYPdaZTJy6u4j7AkidSPOkuYJtj34DyYDucGIHiw0+nvzHiuTAPnyWscj1K4hQ
JFlFPDTouyqcYkYt4vdIelVz8BW3e137WnGjjRp4z95okGfANN3pEyTchcnJ6ajTo3fWTcXNWDoC
y7lpTHCdSPzKOOMhLl0DQ0Z4NnegzrB++I+2qejlZKI3QJ4l/ntlSUj6ACjUQ9pZSFZioN89f04c
fNTyOF/5wCSIZ5E0ljZBIPpkFaGoOnWLtkCj7fjkKRS08u0VE2WM/F5ZgcQuK7pHkPHpWNKvwRKz
DJhiDTtaRGpYJZMrkcRajiLRitguAz8uwo6170zWQw/ihf+F1uN72KgEP9XIodc3W/+6YjYDbx/o
0kapIKmWWj6KNyvoabqljd0/6sz1pjXKxvHYpC1dPgK11JumypqQhayhO0xoi4/1kczLEyhqhLAp
gM6Ivqu8tXeB6op8hR2L8UuuyTBdTWmurjrL7hiYJO0LkNsJaZMVEBIGS6y/iZVTXOFqgZhMgzST
5g5EL0EENDgFfrcqku4peb5RvFNNllxOiNcxpYWI7OCwimJbu2MqaHw6dDjL6gZBaOrvXCSK27Jq
CT+u5GAPixIjwxbXGSlnFe/aFbE+AQzQNjcPrZskd0q60xMTfXEEZxncU/WPydoCr9aADs2wPDMH
z24CuyUNQ06V80BQRdGtHHZ0ZhLwEIBWODVjWuwCdKoit21eFLwghK6hQOZvEpv9TPC0fGvaSAn8
5gFEAEzIZXYSZwmvOPJgMGMCOOt7UNJXXDZpajiruM3C52kMCrHvSxiQt6XWcLcnaZPJMrT4e1YW
ONxrxo5mS5aGRxBB0poOQxeWFOx2DN90LH5E1C4qqU/HwDFoCgFW5GzEnGAkVkSQ1udZtbalHgro
wfWhdmcCYhQrv3PsZFmMFcS4oG7VtHE1v3xC/BnxIumd2oasaUyeHcEYw8WNJi4nX2g600C7vmdS
jtUAmRGTQqVS9y6tMvonOTQEa+NZOMLJ40g8/BT6yMiLID18eoFOm1rqAL+IbMADUTr81KL1BFbM
2OmscY3hPHtNRhVdp9EkQegNvOgY+p0sRYCUWe+pKnIIoQ1BcospKxk4mr7Ez+7xXTA0wcsRMqoC
QruIZO6/0qzHSKjCOMJf2RJetCntBgolWdC0sh077LHWFcb4GmP6GjclATrTslaGiuDZM8pdVKGk
STj2jCS9FapFxnXI1dvYP6WxSAKECkIDwZcQIjwS3tF+2YH/Eaqm/2DNF5N+CLvlz4LA/nkOAvv0
nz9/+p+fP/2/z5/+z+dP/4l/+boJ8/sv+b0NY5sfdIoUSbYfpT9iWHbb39sw/CdaKWDHhIG8id4B
O+bvbRjkUJzyaSSgYUL2xI/90YeZ/5OOCYCjLL+Y4uTPtGHEd9UUHKsvaDRCFKmrqQ6/rQVaAjVi
RXd5RbVDfLiwGXnL6o78b6so71qygAlszm9Q5QyrEvQVMs4oZfiEtF+z4/s26gArkhW7+uqu/qBn
Y35Xo8x/18zzQryle1R78635umgd0grurOzNVYkNddESJr6TmES6VL2EVamt9dR/0toWHV86XZRl
fZHkPPgM1O7w76u9k26JPtBWdeneCkFZMEC4b1JEW8GUnjoBuitzjmcFU3IB479ZOQPjJzb6alkT
urJZBYmVYkmagGsmVgFWLCS4EY2kmzCAYxy/tiz9pJzYcH774P+Id+s/rGKQsMWvnoYfSAb/5fOn
f/r86b99/ss/Qfb7+tX67Se/vFiG8YGAR9Z5nZMnaLS5nPzyXgn7gzu/arolLUcIGH5/vFaW98EW
JnLBL2pBzqp/vFaW84EERYFWkDYUP0MH76+ayd+fV+SWf/cEzg9+e3rgMMyv4TTMNWbnIH/jt09w
QyVUMzWgOV+TFfPog++sqW50bMAQqyfy3o0aCykg8oh13ZTpGzOJYDF1YuX0XbEbokQRqOGB5Vxq
6exn9834SfVRvvcHo3osBghkUSa8h4DZ4V0WN+ay1qcb6KRz4IDqUM+U2c2k1XILZwVgFO72jzPk
/KQnAuoB9dN0Fdcxw/M+OM0wSez0KhnXTk1OMHSeaDXkY39HJUPmQ0VnxC9b7bSMZ4C5i9BjI50h
22GDZAZX2fXBavOXWr9jRLJIgqc0dDaAwl6HOL/wElLa70rfzy6LCbmCNLOeRBuEkd1gvZWBmV2T
DTOeDzoEbCBjRnvmlEK+BDgdrjqnmC5B8tsPNNKSfMWJGlEcxHsMUoN9GaegvTzUx4dYx7gipdse
SmLOHOkBah4ZuOgdXj8f5tOiImJhU1MJrr0OKc8wSP/BQ4xy5lsVgQDlqsnGYdtbM7RIxeSeG+50
xozmlsxzEkK0CkrrmiiC8dSsyuEkM4ZpU/TUDR2hVqedbPytD3rabuSrSJB+tYMYL8DMjcfezPJT
ctbF0rcI9SjQNEDgEqvW1MeNXvrx5UBZYkTUCSOCu5Mua/gIKXZQGz7QoUCwvSpFc7CzrFzptfWG
vtneR7Uk2c/ObzSpyaMXorLs4EhsHWljqTJKyhozDu4Hpt0LJHQcf+iq3caRfKw4Al5oLdFJGj6E
U6xB5ZZggxEjMFkgmAg4YKi8evVjLECDos2YyEk7GJTia7M2i+cuu7ObUgVLQhougVwZx8EkvaT3
2vcSXSzFfdmJ8wzP6iq3i/Y48net55TwFbRWwv7GWf7PpDa9cgNsfGPfw+5KgnwLgoXUBxXwfbRj
eycGZy50uHF9ovR7s5luCRruT6ClBLifGpj8OeAWwE4DhiNA9yWmkqyC/+4iP1iUkiISAYYxHOhm
GwxbQ+upZMC/bUIFSqkudWr7alybSFq3PdC/tQWy5jwGPXQsPZdBIaqaLF9p8fiYG6PaSZF250Xu
WJjk1UiaYqvudX5kOY1REOwpiiGdmDq6CdU6uzQSUIMq6ZzXDILRWiHwvcutaT6PAtPK3Qx39mSE
kI8MMD2wiWkVY6/ANOnfZpxnURvA+zEArm0SguteWyuHXlyKaVXVgbi1ArPe+z5lMAHZbn6oU4iB
QidBMIiTx8HBd5S30N9I8dTXRFhfjZ5E1KaXg/fG0/PsxezvzTR2h3DA5m42LsFDCm8UvWQ2PTSQ
FNxoxBq9CDbjZD8xJYy7ta40jypYE7wiMTnvfVWdYFL19gOSZFwdFZKoabKT1WQ5rEDAhiA/T815
PpT1dRYB39edIluGRRKjXer7Eyms7MQ3LPz2g/Bu7HioTsyAMTuF0ZyZpiljgYxMI8fTgAJVlMYu
HzrrmQkqYS4mnikPjeMypQ254RBYnbgMZFDVELQepNYpo8wjFUf0aNjuFbTQRy1qunWJ/efMAXR2
SqB0uNcSQhAVO3tp2+dhnkVLVNGI+nilAdiM+MOGvlsBZ8TFXrntqoaoR6MEuI9BEbUKiiE5BUPg
oqyxnBcrUeoW0wmE58xyrjFJosqo9eDE9325jjuKmoqN6LTOPOTIDO8hjSNhXBdlz0zC1i8CEb9E
xg4WHAcOx9honfUUaMwUsnBlF5T3IDU3Y1m9oH2zik0WDqdApRIsxxgdOAtH2pWBvvncdBFYD6VJ
TPiwphYs1x6sKM4dQYsEsy/xNglaJeVQ7xHmoFhohnstkaBMdMLYoevkJJaDVJvcZR3EF4ymFrRN
tZVJ/tJJIIx8D7w/XBCqbYCdaq4tNzpH1ReBjOuNdWMm2Rkhkf3F0EXBve635boztKemmqBbBdK9
6LLY3IAMWEe9/5BLZ895ud1x2vEOg+XtmEQcgEW01w5Tf3xUADYHZ++AKaM21U+YksMxUAEqYj2w
iSVQVbEJgAeNpvduxvGFNJKZjqChKBmDZ5JByjVOMgGppyoPGA0JlMkk/klY768tarSVS/LaMrbh
qxkh+GpbJqdaohNzYvg2w3o85bJS5XttJI9h2Qcc2jPjRsvrYKOnJh64cfgIuQReFgzo3RxTsJsM
TYJki9zTpgydtWY7EMUqCyYAbbDCx/K+6FirxqiXh4KtfB+7DnpJIuhO3bI7jqpWByfzqBHEJS/Z
Rtgh1DWyQUOQqWeoL+LzLk0Wnl21An9Ab2LEGjiPIvhtNhiVCbUHi6Zv7DIkQDUtwnev9/tbxrwI
da1h2DqTqZ9hZ3sqOIXC5gicvd0M5t4O63dictKNG3pzMAas2+sETRiSDnTDhO8EJ7iHtW3TOo21
0J0gwTPqy6tqktZZQBPvwmVsQFxkrra4drMr2SY6BkLPPnRT6x8z2mibquqIt1NpcRIKX+21aAiW
49C0kGBj7Vbvw1kgOwy0j2J2O2asHYGxkTXdekFEIBEBdM1HQFwoUbASAu2oCMR12CdeyKxxFg60
2YOXF9gniOu5i6du7vlBJ8c9M7zl5OJxYtfwcSGLDI5ZnLhYfNtlMPSn9C3MjZXZO9np+iZN9Wqv
t6rcOEa3In72WpaF9ZYMoK9mjfw+1c3stDfbft0hZl775Pstam7+bCC37bVuav75GCu5qyiyYHoZ
7g6MZ/DUaOS6RUh3Xe9kNBQ8cgIKCNGwK32jmw6eBgkEQ/cPSdTtqzgn8ys+QWloQD5l8R40M9wQ
13aUuB2jQJmHgrYAYV5jszJTk+5jl54WbmZtgMhvk248TJ5fXqredi47cDibEdn9xg7UK/rQvc9o
iDbGQh/VhWrx1kEuK6KtSVSOEwePY4L6XI7FEXLLmRvABmk0ddLi5FoWPMjbTtb3IpmO6EY5PmZy
Yet1Q6DPnLTa4rtsn70Ei6OW9BqnqYzfDWteT3eZZu1TiCcr4MeryvNeQ47LK8R2yYJ3ZBNl1H1a
3XnbEJFMlwwvlfbUkssb8Y6K8eiyla3QYyGw99SVUvLK9euNPXInx0aQphtbp4jKb3sgREs7LW7c
kMBC16HqCooTV6Ul7o5zgCRQBicJaBVJsiqyGrk6JNpW0cTNg/6tFsawMgcw+rqGItack7HJyAoc
avCFmWd7zfBfi967k/YBtswRLyIFvynitaZnV7Vv8xn6E6wRkHe4z37aokQgXGMROuyPqSACzAzJ
7PKQdikr2lqBuCEWcCdiWRJ92KhzP2zfwmE8GcO2h+SBbod0irvWMjEAd09mXlwXbQpvKXj3k2o9
6PEuzJOKZmS9rSMqFpUoc2XK6BLeSUeARJadarpdbsye4hd8windf28l9OxgBcYm7GyLVhP+2Wag
vk758olMk+41+JYlJwI0qIjXNkF/H5olGkohwI+oYNOH0VkgAzZMg3i/wrXZodPbvKCrpsrqjobg
IR5XZN6AQZRZe4mKneiTYN92VnEgqWE8x6Y93Bvz0qn1S6980VAHoNnEaxiK6FTjbXYpdkoadGrs
dnVd3ZQS3AshbTlyKgn8JY3PwGPUBwIS5U6FyK+WPHneQ1lBymsyzXhP0V49pahSR0hbocoOVPx8
qUWL0RThokkIRDqWZwmPIueLMVzJ1EJsRhxPyA7g1B8xik4bZpE002GQ2GjQNya0xbXSYzBOUa6d
DUQ1rFpbvPDpDqmmHSFQz5bFpj8npcO9RQCIUjUb9TMHEBWFEdMKKLc1uZxdtapdSKaAbpt7ETcD
erD+PBOANeF/FpAFK+0EKw8RcpOXHYlgsG/dRMeMiW1naxROsW7LK2WC8Ug9Fjt3JUW9BFAFlAA0
Xdw+99hs0a2tBr7CSbcZDxBORozV0raMs8KPDmVUFS4T9AinaLRVffyomImcx60kiDTpD0k+r06q
TzbJgHNkcM8ibMMnjdVXm7CuxJG6xF7IAb1mbo7gKoujcronJu026XzTsSGyF2OGZe570Mu7ZoIP
0FXuBduAsdAm/6QdWtK6imq8x9LO2aIaPuZY4TnxBDreLf/Q4/Ngm5jjXoIeZmVVQ8EKzWMYNVeo
3+INJ0mb17m0eE+ih7R32D+IAlxkNhj6Xm/tB0KRQZGypK7gWtBX1toXsivIWDUDPldqOhsP4l8z
FjdWmt3lesJy7tnvvfCuQblcsSMCkwMFwXu6d22k1LVh67eYmipoPAQbqlTBfmN6vIgsz18wG2fS
QsI3rfTpMhuGBGgGCJ8gQWE/Bz0mMUzNBAA28sHJeJUc+3NO8m00J6Dlcqvn/iFP0Bwju8vWASOv
dSDL7F5ANkIUL9CognpPoAP6GtElYFzvDBEAgfHkgZiBZZV6pyEWwkXnmbNYCbSIM7GwTqF2BS8j
JFxOHlMY1Sxg/qrRiANWpHRiDHIeQXQL9hs7PdYFVKk+Ml6Zat1RHJ2jbPUvnGm6NGR0InPr0YjJ
eUkh0/cZpC/X9X0qkxhfk9DvrcQB+mDl1Oau4WOYGDCH1wUa/Ilo95AZmWlDjaboTbeUneVHkoTU
AcfVHFMMDLcEJMX5XnZvxL8xseM1BRnfeKm7V7kWPxSu2x6lwwCGuDkAcj0kXXyKynnOs8nY1rbV
z1mRSQqcI/MftKk37ydFcw9DnAaFiaiYAA70CqDAbEQJpq3CQb+v66m8ZXgHVBhrUcdjOOKI0AFI
XSgSyNiu6M+PXibvM6IxrU3nRQ9h3NIYmFil0fkbNs19ndwFuzIhiOipfVNm3WtHyvY+iIvsUBXI
apLSNVa9ojzOtZ7wOESvSyN0ilMNzME+71pnhfYHZCw5fOA3Cn3PqhfdALiOEejrGsmNGEgXTstQ
Ebpdc9aaRk5+lK49DwhEL7sWFkhrtfJdyzj3MUgVRy/2xhusJfkOVwBZMSDT8kXFS4ruF8Zu1I/6
DktTsudl7M95oQxraajMXdglE8xFY2X+tZA+syrwZoDwyry6GuoifuoaW+f0VcudDEkum8JGuypw
wpygCY6WRsO5HtCTXJsZKBQ78V24gr6+deNGI8MwSgF7gLpdQCYOLz0jpXismQ95WM1OUg24cYOQ
66UuTedEdI134C6ChwgdJ19aTc9Fp4YXsYezve6qiW18zK0sguylfHOhufgb48AYN4Nn1hsC+9yT
JMGbssz6oaGycSKceaPTLVsJpNUNy2rdOy5qbMyD/QliIfuRuBr9WAdtC5SDLG2nSqpDEnj0nQmW
3Bs5oTJoaf2NaxnxrW0FzxX9u8vRUc9SowNYIC7ZVl5Y76UPnCf1SE8dQpYrohRAOLWOBWmZmGa9
WKF6WeFdOGZUKEzCaNP50x4dx6zngczJEd+eZpsFf2x4g5YBhXMSrsqxE2+yc9wDhT7eQkdOu0ir
3J0sy3Ib5p2+R29oPuYVpJ7cx9wBwhe5n0llST9Nu8ibsPWW1piFB01voh2+Eu+10Ity53W1hiZL
RZu2gDxAEDb4+JYMlltXtfI6d6aPseaxWsFOWOTkBV1NOs2kng7NchjJGdB8Wgzs9tpKZG69q5yx
vxjFUF1aRuncs7qk914vo5sg9Ik+02nAF0ZjXvldwBqQCo3mpeFZYPlEepdX9hnMd8gj7ZgPWCwH
f7gmlpuKzhWW5lFeGWO+lEigz8RYmvemDMVxROmMnjmwOIHhQNL3BNWL89G0BmdtBSo5TZDcO8uY
uezWcVRxEehjcWXRtaEtINPucSgsLVlGkQweBratmdJFEyG0Y5kspavh42xCMzDWph20JyS72l90
V39qWHD+sxEb/eq/wQOO0WvN6/fe/kdQQaMv/MkU7tP/+Pzpv3w3djP4kS+jAfMDfXdhMXv+ks1j
0Xr/MhrQPyCGm4N+SMAhnG9WM/8xGxDGB0B3c6aPLdA+I5z7YzZgfzBMjsO0839TS0vnT8X9mGIW
S/5NCeMYQAws1nuUz0hWXKTU344GDJX4vQuReShDdPLbXtaulS+EWWEBnJRhU3B08Fz7cCJskRm9
5aKXoYH5cdCmFK7FQASBlQk6iCE4cAIqyroAHDb6CWw8puLYjuCSpzTwWVw4J1YGuhTXxVidZ4IX
zshdcdOO0j4LzZqXhgKOeK8ydSvjBPMAFe7QoYI7crqdrAUXLmmjD/zK3UT4WrGUjOdiOo7pUJwU
EkMePNI66PZOExnhRVxpSbQo2zjBrUesETWqFpKz3Th6eG+EAf74xsts99AMw4jHrgZtQj1USwws
Zb/BxlunK1aCvMJKaqmTMUBZAk8XJPJSxFH0XjlRfNXFM7GTX4EUoquMDngmcYnhhqzU6oYoSdrY
lVX7t37YRMSbyhE+YUW+bL0gGry5ZukoNcDFLbGVVkmwN6luxfAcVXVtLCpfkLM7okVmG5ym+RhN
rPY7Evu6W/dux1otJwQp21BDub4eYw2ku9V1o3ue5T20VjZDl66bL3HgNqVTvXgYlVkGibtE2vFb
nq1WdsxXWdLhf3aC3IvU6kk5A0tTkOppxHNErQwldsBeA5Q8APZhIgBKfm3UDbx1w1VJtDE1S1Cj
jr7zFLODHaPY6D7i/DbSE1nHFbQePMfA1w2iMvkaZArIu+qddtf1RGiQxcIZZUXuHamQ0rXossZY
udVK4NS0t+Tr+u/K10ZjO3JHH5RBqMVl1IfZUyEl3n8sYTEAr1Jn8b7FNY89rIkdM4KR28bBcoqc
lioa+jXbE9kUhCZafXZB1Jqfr8PCix952JueCavkpNkBq6NuaVrzqVCl84zGGMfSOJnVhSVEry8o
5mk0xgxlh4XflXRMK+ip2SqLevvU7RHPrfSmx1SEv5C8SZ/cXXwwVVKgbUHBTg4Jomz/XHayfW0a
orb0wNevc26Qw+/uw1sZD91115uFt1FuEkDezRL8luk4um+g1K37GLAUu+2cDrnwYca86KLTzkCB
o3HyOrJKFpykRwNbq8gfemyoD0kFN2mRQpvQj1o5mjv8rf77EAAPs/o0eMPBZVy10jWe294kcXHI
c/+l1XLzHUdo/Wh0PdyFqLZufd/OH3VTNdXOjHvgNiU8H6pIWYGtq718POg2zRgGMrbMqoWlB8pd
kVGf8mDyQkLCCoro0aFw1zaGTwG1iGojxOwT6BlVLpktsOhozXEg0el+kj8S86Ou5iK0C+yq65cE
zOAzrzyCQpmfV8yWMImvYgYiF1GN1YuTpElvGgNE+FKEbv9gulF7O7C2XIfUwtmqCvGv8bWo7iMS
F77rVlTNWZANxgVfLzOqRrT7jCnWSx3LFiPtaNUvs4uCwJMo5hjpNCb2RZzrGg2AxpEfaXe1GIrr
gjc8LGcSMsgh8YSjvQUW3JC8FyZWg1ndDXyHPzhwvE0iZEIMoNORBENijE9cKX7DU0x9oYulcCIn
QsQxh3DWrJGbh8hAnbvtaEIRHVkXKCUF7T/GOo0TRRe5tMytFhfJeUNAZEfiBWS1DdL8+kW3XAdN
uiwba6UVcVJvpiDIjl6nWfZpE/DLa6sESDDYuYivIvxnJDor0ZMbXYRatzcx5Hlz3pYwiRWtjApr
H9kU49pqZv5BKy13U/cGaW50em3M+GXh8WfFkDhA3lUZpnzHZa4RReF4rJreC7clysVwm/mqFvel
Zgj1qjzXeDSrWi8ByLO87TzLKi6I66ZPkrhZ4yyLduZKJyFzr7C0p3CB0E8jZIOTIBMszahQqHl9
+xwEupFzfqxM3OqDDxM2j/JQB8SSlLcR6OinwI99YDa2f8GjzsvikzH+PjgqJPlBoiqZxt4Rp0bY
yy9ulj9VJ/3d6uebGumn1dR8vT/KqX8f8CWwRj+rkxBQfPrvs5jiL//ytYxi/qnfSyXrAwl2aLWR
4/LCoif6a6lkGh+ML74c1EtYCeacu79il+QHDGL4kPAwMEenovqjUjL5fbS6qGpQUiDOoLT5TjXx
MxWFMbs8vi6UcNK4aKJNd8Y74eD5zgVSeFYPMCKa2D4mHKIwWkCJ6zF1+ZLWenfNALy/1JJanJL1
5L+ARsLUCbC4fhljG9WoUzfGzsms8jYWIxVVq7nt8/9n7zx2LNey9PwuGosFejPRgJ7Hhc/MyAmR
JoLee0572PMeyww1aUCAoPdpNCC9hT5mVfW9N6G6hTuTACHLZMY5cQ65uffaa6/1GxTD209DbFT4
6UySQcEvH9veMVArq/1aLsAK/mrQ/w9gpp/TPSDecO3gWksikdzQAZ38GsvUt8bScJiSHE2C2Nln
PVFhyDUn39XOxUMC2C+ihvn0+se/FgdG1JpFUYEp9NPgWWur1ZDOJbKcDUB07HJrtixWd/u6o886
XzlMD38+kfxN3Mtv4WQGSHlD/PV3Anb79a2uiOEpLdhJZxPXSIpbcLpopdhdJ/8dDLt8fNJvp4Zx
jKYKaB6kmPazv6SIzXomtLnsZJJCKbpqZFRes7mgaZfXs/A8bpZ6rtKNZlszISBrCyIdR/Q9eo9O
vX4WhEYL6WMtsz0XlK3sNlWwmV6yqYgkDI++iFpF3xrFu2miVm81960yyCVl7rn4C+jrb46apP0W
7vZj3CSIIKYimixCTWZF/Xrc0D5X5bpBKzbPRVLxtAURjOK2OOESJkmEfC2lnxTXk8HJv1JI2oSq
2z8d6jRZAJClPFNalK5xDLnd77HwAcGadPNbqm6sGLXszCezho6CeASAWhfceDPZUtlSO5V+3Kd8
3LJayEU00uJDEmKi7GebCGDMNoh2jR4Vg2Yly97T2xpttVbY7cof4zscQ50dg94VW9Kh43M8iwUx
Tk8VzVhyaeJSslVa9Ilcskf1bWPDRD2C+NGcYG42M5hfHKBcE6MaV9r39R2RbkRkUr5E8lKIbTtO
2Zbyju/MLqBuQKnfHmXEIOxZBr3jtMoc42GkLWp+QVth5cOrtR4RAerXEqQvBHubnZraL8KFsuQZ
8Ex5uOQPCBFRIc2fNms6dUm+euD8cTVc6jx24HKumleLsgxeGijxR/rTCDQWSK/j05xMj2lTqc9b
ocyvndaK4iWVjG64FxPEXFyI2dVjVY5NhBP7NvsUo5b9u7ZX1e4tyNOTNxvWuiKaWHUJdXIh6zxz
HlCLMJs9wQMJDwKcY8Y4CfSyUGjBq3kP+h2nCsNGKdFAcGTqpZkUbiijSasoGVVJxhEQrZ7dB1C1
yf5Qj7KnpTpHxWyYGyybTYPixCJoy7NMGnCSxayqAn6LaaIbU4IKiWVh/bgBdH7SdSGhyBYn8jtY
dgBVxGPlrck0FGM6BD9QCy3m6Qvn7OVDKzWL6tDkR+o26agNDnkjZghbiGAIYCQj/DvPeLxVPDUU
zqoKMdM4bZc4gM+TUS7p9c5pwGV9wjqe9kTWrZ0DuLp90Y8gvvyI5/UR2ulSE+XNI+DjmSddhmMT
wBl2fPr31Ybd8tj1MgrPQFTapNW9NRGxLdWtVCCbE1fBdPVBxIlIwdUHUbiKE+7vx92fMLUsZh2p
QDZAHRaIyrI+FvuviC4c16mw48nu7LJxVysVwL5tditztAhF2QWSIjuTLL+3lNhja4Qyh8e5qvXW
odn6CAQl7Mra+/2LYof/bbjkmkwwiWgemTqb6k900V8G5nDNRAP8x82bBb0g7ceY4M3E+JSjAEag
O4ZtOwbwxzX8/zTs38HBhWr/u6jWf/3nf/pf//Rf/ud//R//+t/++69zsX/71T8nZJSejgyKzApM
ODpACsnEX2CtsvInYOSKQgOOCpQE8PuvCZmswc23oMMhNGKYIFx/gbXyEthy6kxIZ5pYisD++wMJ
mar+dh5xJFBhwqGu9NMGpe2Lelh5Kdc8ys6cSW/CnRBS7wcUbptX+XT8U72ZN90zWnv2B8cIEZR8
otMl3cUP2W32Y6++bh+3MPZWv/LyuyXITrLTu8MpvxRfSvzGMAq1qY+0kRpMZ6RcXbqGjuTjUunK
ru7ppzkqvDkkyvD31UWt2y0e45PsdcF6BoXqdGF3HjzVwbvmjNZ9JISbg+hySN06Qm/JFwP11AVF
kLubBwsy1E/tU3JSXPSvbngBr/Z0ldw2an1QZH51S25zY0u+4o4hJ7jr0sAOss0LTpFhd5NPxp0e
dLftCh4rUt39VN5gbYWtX4VDgIacJ4TIJ5+ah/heuJVPxcm6Ndcq7E6gmzxEyrnP1Ek84QoZ2Ikj
5IbwMa6u6R3eZvFio5VTvMT3k4pUy9fqNEZ0Bbycj1X8wX6LvMGN/WdAL44U6G7myV78rjuMq9+G
+o/LQD4q5BPcLsAlOMS3JRp8T7yPL+spC5qg8ARn4M6mgBO0v/hdtHtK0J8nVwr6UH/tz4Nb+Yqj
u8qpuBje4hsBmVGw3GMCwW8tj9VD6u+B9YAB2RBhwfCwuIZTBNVpoh8azA7ensHmwgF1Yjs/paf8
ZPq4vZyK++K7/M36PIYN1zG4oFafHRofLg4CDqLMp+Gy+PpdE6l+bM9eEbQhgFw3DaeL8RDfbZfN
7VzAMa7iUJ5z9bv8UbxU3/cPHY3p2U5mR6aENzv9TXSxqrwpN+s6RMVT+1J7XbS+i/7oaJHhoiDl
Z/fpeQ7kMA+0KPdGT/IKP7+qV80tg1iJUvQbVTt7Mu6NCF0+RhswjEPDvLivT+huuXmQuXQ0w/Yk
n8HNRZW7uTIXa3rjN5wD+SOG6mN1ViJO1oeElWPe1EfpnpkY4N3tl17HOhH52ffpXL5I99lX1g/v
zB+MaAvwOtFPaiD4mFQ/5df8Ip/Ki34FtPKYXw1WQH/Jo/RUn9Tz8HdYw8oPBvIvGfYvS/3I8X+9
fTWTjCItDfzNWbwZEU1/dOknO/DkbcNuuYbefX8fg8w3WJVlBHzLVT3Rw1XOFZ6VCLcjr/qS3i8O
/SSbRp6/eLJDG8v+kLmZP9mLIzuyh1hWFkpuH7HC/CKUQmO00U7yDI9Z5OAp7CC07xt+4Zk8b4VZ
Pp7V5FQFhYMFk4N2kIMFSbCGzQMibiH8PDcJkiALsjcKYKVx0mjive1fq5c5HM9FULygfbaGQBnu
6F4x+4vGmc+PWBQ6wgfV7fnZGMavqY+f31mNsHN2mxfzNbnKkXRDXdRkLl31OyZklETy8/6oPcLj
9OeTca0wWoowHrmQht9if/DVOy1QmnuTd2PT4aC5dl0DzQHF7KHy5YC3dLDR4efv5NDOl9fS/gaw
y1tYC+SpLurlJ0zv7O/vOb+/uKxJ3hs7ppM7m125fJI3RNppueThHOQEVvPWhaMP2sOfI5SKJBcj
B96c+SSFW2gxH4Vz8pEZ57bOF90Wo8wBCmUfF/edGH7B2NaRr8K5vuz+7E7e4jTedLbuS0fjX8Vt
90cfj95HFfxDAOeMqScHmmu4OAq52MJ5NNfsOhLuttPxveV1+5rcodqV1DYmu07uNT5u2qEVdWHj
qUESit7qgu5yQOzdRgfDFkf30NV0qJ2fUTt1MOD2Cx9kh43EcTCx1Qwefrv2ZL8n7AizS9S3V7eO
NNdyqb5bUc67ulB87MLcMZ6N18TtmX7Zp55PBx4WCexAAtMYrJoHuN6NH40ITq4tB0LY8iHpqX1J
3Mn5/bwL4shviSC/rKOfujxATjBMoypw7Tz9urOVgaMO8Hx0URGtWRcmN7z7uBY53AFDSYH+kvIk
avaqlaGgX+s+0f7xsYzjrxmj8YGevr95lf29dmpnshs7deIALJhtuG1QnrZwOtOvZsnN/rFkJ75t
dT+bgR7gdegZNlJiPvUGdsXB6/0SEDLT5tgkecFNPK6QzRUjVF8PECCO0FolUPW+SSiPvZIlLH6e
TmV0fOAQ6swxuuW31e/4W0rQ7LyBP5PXr2czmDzFBnHy4wfFl2M+D6HmNvxbdPqoeFT5oM5rQosp
IfM1eUSVmps9PrzzpChnsqDH/+NGchKFmdldeKlrurB8mZV5xG9d8XVyDLv7MHF3iIA6uB1zy8WN
QWMTV3yiF3fO2vCbL/kzn8+4ynbvxB6gzGD0d8ZTcisv44/ukFWc+DyGmzkl3JcvsQcmi0va3nks
TuuyAL+Kop080e1NX4Zzx9xBZ9/VGTlQOY4eVTxn2HPEztWveZxIebuWj6EQ1vUEPjMYebbbMdFd
0ZvdjYWzOQJP5njtGDNcjHiYiZ+wd5TesTFqTOTFpjvAamTRReBl/GMqN57F70kuqsR2zT1UQNMv
kl26nCui43aOVGn0p/MWEgl4emCRAgaIdwj2MfVgGTF4dbR/Mq/LaWM4Bq7a5NmTTwTY8l5Q9D11
x0R19UC4O540ZkphTQwwmMCYoQal1ztPCCxyDxsTrnbegcXbCGPaKVGhYM0eY4HJFxcNiOnHII9c
PGBhZo/MxqH4rczltMflhPJ5DPRQD0d25cxFxC0UzsSgs3C/hEO4MY+P71LJ8o41kri5l/6YmBJb
xcKF5k4LxMcRopJwycbjGay8Y0rUF2JTWB4zmegiMsVSgkfs9cHIEJN3OPTgHPjXn/ZPaQSKZXPT
gHAVUjTo2erAADC/D0VZu2TmiezK9PUiLep9mTUrB2mwhLCZf8zU7GYG8mn2hbD3w9hZzlaERV1w
LAfoQqxdzp9E4NnbSEMQ7Sb+mI4QptH4TSUMW5cjVpUBVF6mzDEtF4aWTh0jCnaMrzCYVTJjuXmM
aMCSejBf8LC7EdN41pWL9a17jDcax0y7IiT9dfk0u3AXnojCZkKO5PdcRx2Ux3g4Ge/ZuP+GiGAG
C89lucFvIZaYTEqQhdHESkDdkYWMAjEbBeuCNBq4zlX7prN8xQeEX9hiYK257RchwNCb5U5s8JoP
zACyfpk7GdhcwI8ypSFs8M1IlPq4cJBIkL86pG0hMs9u6wPacBK+W4pMz3Ibl2TOKRnk0WdgXfGE
/yZPFf3qH4tbImIdO8+xWjdHOsIQqu4BK9VRyD9bbh14MLUCJolA1ETs1qGy5SKI4OEbnDKMpDvH
rselzJeU3AKJTZtm+2P6HYlrhro7aVwopRaP6MnrMClIyc0gf45Jsdu7KuhIVFIXIA9J937e9Wt9
Vz1sb2t4JAojmQ1O9mEfEjlY6nFAESWwblZlz2dOJR7WUEFxBSlaE6SlkH+ear86Fafk1ATldqHY
ld7hbHTFmuotJVvefCvQ7cIhCYJl8lL6HKlCrsUXbIRzbdFngtmpi0W2s9rZlVORDdWALKkJWj8L
dzIoklvynJwjRWZTmiYrOtIugfMJLtzHHx+0/XfBSTgzYEXvHXlL6/GA/O063daL7uB67Y7e7lnB
SKK2hgjZDHw8oBdOJXGkxI51a0MlwEGRlB2f66g9a7f4mW7/yF/EJ+Ol01+oyuoXEjEPNtFqV4HJ
UUILwEJyCrAzhsV0LU9/BgegRuM5jhAsPe9MFNWV7xC5DuqzfL8IFIXs7EWNZDI45bP63XxW77OA
4eG9+VPC5eiv2Zt168/6fRUkXulXhY0BLiDKxEkeBE/w+rAK2CJJM488VMKjxksCweu4T0CHTsKP
Y85LlQP/y5nc2P42hgWZlBbwA7tzBvue3PRL/QUM8bh5xSW7JGAsnclXgsVvPdK8cCi/qF1Igy2L
rM9wa1J+7ZOMb5mrMU/4S/PMm8n5jscrHIc+0rCefFFxTMawiY5zmPXjuVl8IL6KX9T1LHwmPWUC
CsMF6XEX6O6zAjcJlmC0B6nfOLWbv8KXdr+tPMT42+Iu/up9AYRNUOht0zZZiVyj4YB+snVbZ3ah
m8zcHfnX5h5pKPAyG0AIiyphjZt2SmfGLGzOXBwvcWoMDtvbgJ9uAsy594GwOmJne5TVuRz5WxVl
Ue+ltx3P2PfNp5TM1x3ZLQ31leMXwrsMbGyj/sA1/rgK28LoPBQeIO/5mOFxGSN5cg5x9nv5WN62
JMA8m83tSOtIgghrMXO6DTmIXg2P2U5YT/zcq1yd9TBx5pN4T0tsYM/hwTF3nS+jo7DRcvHOsWha
vh30xo+kO/OPZPuY3Ptpd17e8+DIZ4/hOo4giNByORPHvGP3ED8C/OMj5xO8TRvhWva8HwHFRuOa
e9rsnIBEds5BAKQF/78wZKiZsbtYLn0KMukjqxPOgBjJqSWvJti5sLnYRs3jPhh0jqFB7Y1c7OSi
CsGdxAT5Ix20SKIz9kPT754bgj/eXcEa9Fz+7gnB8U62X2e907gBNbROzKPnLmK82JQWb/gAfpDc
A8Qce2/uzYEZtpw22EiDo/4yBukRhr1jlDkCEJRJCy5zZjfvAxmj4GMD6eXewt5C4mLzC1wwiZSf
RuIpu+XRkWObBmm9bHMCUV0IySRi2PG8cdRmhzmOi1j2ur+ff6sHD/xXlc9f0u/j5786xpq4t1Ub
zfMrSSqZZrU7NYUl9nXvO3kKai7Oxh5SKw4HAB4AhkRssjO1ICpHxLSCCKg6FludZh9p7u4mYXl/
5Fs0to59IUgJcNSnqCWRmdr7HVija3ztL9ZdH8neHOGDTYXDImNFfteVSKqXk0bNaPhQPuNPEo4R
DtBshjoRG3bmUagJq9NwLf35jJYa/4UscGwa1/GsR0dEnHzzCaEftq3Unz+idWvfG2xCVTC87HZ9
N1zzp+Ht2Aak52N/qyjeFJ4WSnbDFjA8GOfV/oYTDJF+/RGqMPrmD/gIjtszyw0qiquB8bJ3Xkbe
mRBc8ubcxWz9OFQe+4rp9meBaCi55kl/p7dDXAH1AV+LuInpJ9/IRhMeW8rOwXIhReX7HSonzuYj
r8Q5A4Qpp5pjU1pZb4tLmOA9R44WP4DGJbsBB3Rkzbb8YXeP3OAo38le66P1xaMxHPbSQAh0v3H3
H7eTknxCiCJM8USgy3squ3MT7adaeRh0lrvdUMqaiei4EpNJE8lxfaoD2OZEXP2JWycMgM/35g/C
A3Ar4gGk4FPGUV9j155DNuZgI14qHouDc1bm5+RKZrCS//T+kUdabk2GeOTYnBa4B/RcHOzSrPv2
Kn7MH6o2zJCp8fLrwvI+gggsh8RxKpKw1slqsjvD7d1jToJzd3uOWuftnPgveEA4U9TbAC+IEeXD
qjvpqT8CSHgcbTlcs2ZxJuYISIDxUEAnqZrIf44UD+tzTEdTuz2VHo0Z50gMVwYOdInTEEtaosaR
0sF9Pyo5JHWtcjkOJQbrEaAuUYo4dom/lbfkHuMgYtJRcqgIM7hVkM/+/mpFE+VvrNafGsdIEmlF
mZrGNX6T7qDsNTZliCPfexEf9ydQkPJ19nGXJEk1CY1Hain59b1wt1BlHl+1KHvS7pszVbWH/Vt5
4efvxc3wlZA93jNPJilJehdTPz6yh/g+OdVPOGaepUA57e8N9c2EnGf3ZKqcm59FOonheOEATRrD
0TiaSYk5xPl9uN2V5Br6fX82XvYT9T13iNg0veLUMEWyS3UZOGJeX9kcySVd8VYQ8HbPg1QXyffy
63iqLuxCJLQye1nsTxQ5obB6ejhE1oOZuAu+l3YXdT6+p2frroyI70RxyudU3pQ7+Tac4WeSVB8H
fExfwh+P4A81aZ6biv/8DBP+NfrlP/xNOM3/hSCZv6Po859/qPj8p3/5h3/8SW2E3/tzU0bV/0Rz
nt68KiHtiqIHUIo/N2VUejIqXBMLDUcU/Hjp35oyqoTIsiQhJ2Ki+4lACFP6L1LKiglCGfgXHTlV
VdF//EPmZEie/ASGEHVEF1EKAuRB+xaszk+lJnAc4yYYE3s/BtR+As/YVXXs5eFNGI6q6sACOwUy
J4DMF2WpOJtW+mdVUd08K66pUHDCND5Uex5BpP6obPppSJOz0Wwu/dVw7JWwaQ+9DIhOUMpUf1Xx
fU/q6kMhDOm5yNuo4JA8VBYn675n7VhZ+VmpMPESk8E3yv0hRnAc2LEin9ZCuopQsaUCxp7WIy4s
rZONyh/FWWP9msQYLapC0qBMAYRMSaunzpzDLDctb5+GD0i1JY7aLkvUabl8D3l9gJu+P2IwGKAq
l18z8PmPel5ND0u+547YjaWH27gUYrI7wosl4INnuJuapwGzcxHctYJm7oNcJDBuDpxIPAF5WGO6
3UNWgYbIGx+ncOTlet16GcT2LgHW4ltVcWsnZQy3OWn9fVXKr8MMFViXCBbGBHME5p4j1THHMyGL
lnx77WToPZJSUn2r1guaFrCwDlN0qbDwuF7GYDUPz4Y9mc59AS46Nl8GVYC6hppCMeQv9PM5nSiz
9CAPExomSmLZc7fCxBEeh/i1AWRg9yQ99owGBsrfhgtfORp3A6jf8KaAJXVqAUyBpWmq27W1uxiL
3YhjoC3Kp7qa4fqm++fYaBPYUYA/V2SV7FqbnnCzoTmFbWkDWbJ/AZeDQ7YAr9A0RvGToCujLQ3i
i2Xe4UBy2+Cm6sXwCb+Tx17XT5YUL2GvJxd9HEg8BxVZ3gRbhxxdCri1vaMeSOJdWMYPEKKt2zCI
CFLu7WdAHstXdNDQsRXKl7k3HgXcgHckR/b7Kt/QSsBwBi4fAFuQ35waBfki4xjlKobMOBoATPfY
uJQVNNxYnhsvqYV7Kc7faouUdsPsoK30k9LAeEHog5SnL24xJlsyujduXkxfc/FD0+cfehM/Kjmf
5q9pveD1kxUAifqFHLZbEIBMoM1UYiUg0LEMobGm84d5g4eNZtHmdUxJvL6Lx3YxOVubZXIPUzh1
89nQHGxkNGfSl/gN6xFO4/H6gtuh4mV5r9wgLa0O4mGYVeNEh9nMLofJcthXqjF6ghpQWqC7q480
d835SU9o6ptZfrbATXwDbV5cZwk1kz0jGZhzZ44jo9usK6KLGYu0fNkVSXeIXw6qiwFohfEBGZD2
U72aK1B0sXwxwFJhNyUxOQHEwmQ0mSha5dRKQgdCmB7nHpEULUlqd0Px40GTt6+WWixXE+r3aV6H
2hWB63tCO3Yo0ZRjOaLzsJckadMCVLs2umuGloJdxfLwMmVq6iyJnOI/r9UfC9SN7we8QkCSpb3u
Q0EguRm06ZuANimM3rXFyyDXSpRl5v2BiJm7mYQaGY7sCPZIQizdFXWHHiIaNDLJ6T7Jx4TRMWxO
YRiPtb6cy8WoHw01gcxtbGZH19LqQJagQIDGYoz6gb3mE7IwO/SJpTOWF6tOiVWDEaufsXjIThOi
mS2Y45qFNGGI6kI5ruhsIZHzJUOG+mNvtIgISBskgcEc0bnc8srZ8iINZTgSwLTNtYoGfcXfFdMl
y5PWIf1QTdzMDrrSnkVRuOhQSFH7wCPDwSFRu+Zmt9yv8rx/GxSDblK5ThEmYePXvMP5p6jHGLGE
qbZAsbGIJ4x/vqqTITmj0aMWsQq42kHKyDgP7jrHFTDb/q5h+GoLsj5/qCVW6qD1jGSyo95jqLth
g31WfeDFEpe57LurKL107ifMjmbuNxK7FOvyfdUf107szyCrlrfO0un9WwYaoVvf0nFC1vPFyFoh
WjZ5pZQyNqwqM58MpxPq79uQ0rtBIfbSK2Lsw22hxiuYli+keXfGGIV2LaH4htCP+SmJ09IT8MYL
sqWG4NkuGn0mIUezVi6r+EvXJTAZKrWcP+eLbt7JcjKGXSEND/j9LpTiZ06chDhH7o66zySRG+pp
+QJjR/CmXZoiXVsQSmhh7hXsq0GvqbDHVrDZWAhVo/ZWWbl0mdKi/oypJk7YlYQJVVVq3YtQW4OD
kq0JzeRQPp0sO8XPw4b7pl9Gcx2uMaxaTlUY/BGlaxnSKtQ9x2ogK6TyNARaOlKvkVEhKayDy65m
2MZ0OGnhtAiXrGn24dIU6W63c6qf8f2cPppptj8kmlg8ZHHyZYxTyUc7ixNbaVIuWJvaX6dcdYdW
kLwV8uinrkjRCxWy/DlBH+akTLJ8tkSdT1dx24FVv7Q+si4gFKQJ0fUtK5qwEzUOYG1b3gsJxigo
eS03rFVeYM2OoQXZyWkNFPU2Xa0eSIkMd8zRFlkNdXSbimiHFFp3KSb4NnEhoe6w7EYoYuMOV9IU
QjNF4yYpGgW/HtC9SbJ3vqCMIAaE+GNnJts7hCcyZ7lqUaCyHoS1QsJE0HHUGQZ/VRZPakbcudm2
2w1X+KrETrteI6gZUa/MT0mmeJvSpZjIizMyfl/7miOfhQlAzKFNqr82q3FaEQCBY1y66jjINqxz
t21RNsWvZnDVhDMaylKlLfSy6euJFqSz/imZldVu9Dm+cvGOqU1Qyhs3VleQm5O+hmYrl2/zsBeo
Ocf5h3GlGDYN2fAp1g0GTKBCvOlCMOaSci22BaERQ80+mutsPW5Q7W0RHpvX4JPgqFnKKa/JxRM5
BH5ZhVMs5FsZDq/6Wnto8iD+mht3lUp5sjdB03fUW5cMUESq+6UuPOpVj9xBpz6mgvq6icL4SUvy
10pYpYtWdlmYkWi1tFpjGNsaTewRSldpxi56ahRPtqX0x2rD5DZto7lL3oWO1kXKhtzVKCGJsKKQ
R4hHtxpqRATyUB3nyh/0RQSR3YHl6+CRm1X3LIqYixsCGiFaEXvFVjtLRdUYL6M3k3U7Lt3jWj1N
xhLCx3u1MrhCinITUXO2MVPyjH3zq04LJuv72myPfV9UXreg/m8R9N0ZG14Y5TcIZzc8dV+nzKxQ
wpjvB3bSIp9LP6kHtDvWYOx0z1SU1dMndG8zyBrnrKz8Qtwm1q71Iuw7ZTpjexcHRCFmHQf2blbp
upTJSoaa01VWjVdT1gJz1r2aLPqkzZxKs+q9S2ReXJ5aRJxLoH5td1MV2W+19X3Vt5dJ1EBMyNJO
bgRLLUkC9NuGC8SdGARzS20S9eAQudDeRmPaCtC2QJNZm4RPIvQhdEEoYUxDEuy1HjSb5u7Wpthq
UuyhIO7ao5kZ53aYcCRT44dGLk0q0WC2g3HRNntS54c4k5o7tJdqIBIMV91msIE2jps9ROYqJaDj
qyUYiytvptTgA4dnodCglxw329MGVYoJj8/UmAJ4MLBUEXJgQGL2Pq6F5ibyrEdojtENLBEcMJYa
FQjYfGwd+v4xsVba3WjUXlsxB1i9cw5BGv2MpAhlRysxztpcwborTKH5uPRUkRMEaiIIkiWwohmp
HGNSoqbvUTTpa8Fh7sYvYiwB5Sgt425K09HJYYWdehzEXUte6QlkM+IkHR7rh2JPkIDIJZymd4bY
iKFejrCPLGG+4nmD4OY0dY9xraWfoMJQiof0fi6rZEfxUDerSyOI7Gn1uj1jE9rBmJmTymmtznIM
vLCQQzFmZ8VJk0R6zW7qMsNx3ApcF3uS0UHaUGnSjXx+Q7p+CvKpRgSm2+/hZ2KgCUtfuiFkbQKg
a/PTAm763Cgo9CFZQkt/EeWPk7wXF/gz+X1NjuVKNZbxbau13iigVthqG6ChH2Q2pRQ+EQLMz1NR
aOd1I6OHkjqdzZHhWWQF3/Ot+BIrpMB6JdShamCNkXSoUWjj9woZAFOPJ2dqpQ9mWwd5CihHDpBY
+ohc+8nc32OoFMjKvwMeRpu1BTo8ya1nTNWlH+NQzpNrLBOIi5UaUhMH5l4ikGE+j9X8RrY9RI0E
ytRQl9dejTO/z/ERKe43aQ8lnXwKmHJQdemxTLcid/s4n4Med10nNjEMii24fQNiQPa8FPOdPkHh
lnYwX2N3X47zSCHf2ktP75MFlvuafMJUdjwt1Z54M7J+Xrlq98jrIciARBvhNSUZTxvheY5LlAaA
9CbfxaxApWwYKTfpc9OQhRctJ5jK8JRsLx+yKdXvMmF+1jD/U+xewJfc7kFDv04osdFeHVeK8mXX
fZ2U6TAyREityYYD2GyJKxIzcR20KMMF5TD13oiCwptc0dxDPpoWkLItwwVaOV0Z9LchDWKfmBdJ
86EtjPIid81LIebjk1x0q9tJQoEcQbIOF/ZENoukwYhsWDj/AUuGbr7HFgfzTTW21U4QfQSarYpf
EL9DMLBOlTHopBYQlSkiAdUt5vtqojxlTqpMc1bQs7AwqiHojcXyMKbNgz4u+0uNoD2w7nYK0mqp
kWJLmw8C51tbyhvjaW1jmiL7TMV0HucAQ+XWz7M4DjusWL4K25ick1rsH2Vs3O1FVqXzXEIMPM1a
VQY6cSNCdxu5SRRUMGLWPymzHJgi0ExFVAZq9LgL24OAmw5ExOXTYZ3+OOoYA6K2otBN7gekchZY
mQdLbf+yJ+bQU0s1lFuaV+TnikGrRi3mjwORwhf6AYGefI79ON4G0ri5nv1MR1dVGEkmS+hyF7Q6
K07sKBc6Rlp+nHSLMnLbSq+CSR6LfLie2UKcbYPTyyqI+CRe8peKLe60qeV0Ss1K/G7EEwow4jhZ
J5kt+lwBrof+1ifCbUbGw4v7WN28Hoj7qVrLq74Z7ZvclW/QA3Mb9QzwcbyIP6hRX7NOn09DX+Pd
idMM0J2yh/eiYZ1dy73wbKklfgS5BWHbQLmkjk3ttWwqNgNhLB/qcpLPMkIO3pSI00suq7NuT8iF
ctJDFg1qyaBxwi3EIYAmTNMOSRb9tZJ2GAomlIgHPSatwNVQ9qgczSTZi0m9qVjKE3Jry7lZRy1U
ZmX53IoJ4a0Rt6JwGKjxcyq3b6hUyffdotCzU63uallbATyfHCTfFfwg61bNmAjpckVQd3OtbUMZ
Z3+dNeq1Gd6w1G3OY4nJXjUZf8bs/6Gq598saf6m8Pn/GkPQ+jvVz3+m6Pkv//AffwtJ/2vhU1LV
P1majlQC/ytqWO/8tfB5vIIzE/wdGQ1O+RcsOt5yOkwarFmoK2IDI/P9fyl78pKsIZx1FCihIcDd
+kNY9N+2CkyYbeDdqYBwcZIEJv54/VcNvgQOoigvSXW3aO34bFbTFMZod3+VZtQc7USZ64+ZbqQW
50qxjJZ9AbuEn2/i4UPJLF/G7X+zd+ZKsiNpdn6X0VEGx+ZwgUrsS0buuwLLvAv2xbED2nTxAShR
oj7KmFGgQmHepl6EX8St7r7d1ta0Ekmb0qqyMjMygHC4n/+c79S72DrFU1SOa92m4X2ulHFvm1N8
w2JhvVDdHT8KsL7vwD1t0JycLTqdXgtuazgFIZ5Hnu5PIbVTx9bojftzGHYVj+g4Img5FvqjnV5F
tQSkC+fXZ0W8i8c0pVG4dnq55tNXInq4s3/IrWpsNkRt0WiHQV8REeAI+ceV/f8/73HqtH6aM/0D
oPj//u1XoP3/7bdf/zvliT/f6pfv/D0KC6jfI9pAt6GpLrf1n+91MhSWLR1OWgokPbL9X+92Q5CF
pTSAFe/cVkYMhLzG77e7AaIcxhnNdmSc+PIZUf4HshfMDf5mNubCOQd7aCqStRQ3AsU/f/2nG177
BXTmnvOUoBi9201lF7TFQ1hxXAhO4zwnxjYiKS9OSdBglhB2eYR0Xj+O8C8XTQCyw5ae2MQ6KZd5
EFPvp0b0mrjq3FXRwgpaAhK+n6T/4ir3KBtr3FKSjH3Ip/z3/AyDtkkIHT11PgLC63d0RS9QONwv
TsF+VFbNoywHfwMI49k0B0lbhRkZdz6FydTZS9hRi8qZii+22WX7iYIiNlUdknA0F/uEl7+r+F8e
KscPGYvbpX+0SsPbku9jsxKU1rKgHxjtyhzOJeMRpS7VqyPaz86NjraX37FSmYu+88kJE2wialXl
nCADxnzOdAsqbKOm4k7WWKUBw3JwjrqjnMKEsemEVAicygri7/ZoTpzzQzAli6YMxNYpR3NfmnPT
Hmoz9a4IJLofPBubRTL65RKAHQgJcZa10mHbuqS+YHVgy8mpmI5oaIxlIrAtA2EilzkVm3qQDagE
OHCGFcdAlfsvJMOGO8rYqxs9haB580Rde86A6JvOwJZ9ns5pEzx1BSxrj8NBtWjJMC84kgF6iZrb
mU3WnqYYjAlUN98ITWxgJO1HxtX1lt2Y4uli+rNPjBaIVAFWsvcpeUdAKtov9SDmzRA34nXOe+cI
A85+z2plbPOkzncR79/eb+GRL7qYMjmPID/T5LZg3+QEnLnppV/RcHXVtQMMhjSfYYgD30xFhLxp
DsO0q5RZcXZMKgewoTLJXlT9/DjE8DV9Gt3hLkr3LvcjYyerOl6Ndueuq6hKAXM2MNjBHHBm63gP
Kcdulm6TyS+lP5avfpLnu5QOaUCWo7V3Rjt5RFYfN/lcamrZ++RcQVYeotCqjyrwxN5WoC40f/W1
DwdhAZ4+xF1fUcy3HkVqbLpIOFdEtY2jl1D/ssrDBpU/m1yxDeqs/JiGod9OroF3tJuZXFnz4O1s
7Zv90k5aJuYKmkNG1Q678Xbeww8euK/9lIrdyUUHhCcWOD3OT6O3v0S98SkmtZXFFJCPaQbjWWWC
LqNWjdugK9VHCd78yXAi54EbB/jELNNV46bjnSNK/FNNSdmVbJsv4ewYBzMJ+/s6nTnl1vFLAXN6
6zK7YQfmQ/OORgjwcx9dkZ8/BzpzLLfGjK/pTD5zQ9NY078tsPqZTZQvUjuS3/WgcSeqwjnKZKJV
HJ3VKor4rnDHLZ3UN3UXqW2dY481XCzgNVmqNsf84oCKG3QBr9mqttwG19DoHxJVfJRwaxbwdXaD
13KqK6rzG9a/Q+U0TnMZ3ju98zm7IW6bxKm3kUY+QClIH4ShJNGwWFz7tXiVo+M9AwpINnZhIpLU
zq6X+UcKeXtDgpr25AwMc2LMXyAb9Z9Dn92kgXosSzyPkyCY4zkrPwgprpyfctVsgya9y7vpY7DC
16mXT0FOIq2gWMlvCywVJeNCr1kTrty6Xv2d2XB4LE33VWT9F2nhAS+YAa3HLPwMLH3jm3P0HrNn
WZQz4N/ZGqNvTD7vVSSvmzLXx2yknzwWmxmg+rIgDc005piP+A0i49XoB3lr0S+2jmP90of+ktr7
RWU3IM6r6DaS+mCjGG6KwjwYXVFtkJCu2Clv+6YHrWNXGyMOk7VGDEobia7eVM6D11qk0ZKJpVGK
OX4ctet+ryCebQwZPtgOUe/Bm44+xdybaAiKRVWo67B1kG8KNG85uzMkxsFdO2L0cEupkTEsSZD8
q2OnkGM1rWqsGSeoLiUbdEUGwSutQw5EVIURcSHDJ8RVqXlXZ+6VNGAKtnP2BeDgN5LcCF8WpSpO
BIJQH0AvFosRIDtoqehL2CYHzh2PPtUvHkj7BST6dewHJ7vUNfIxz5S2lt8A40D8Kby7aBge80wd
Rz4ZC9lb1msH/XXVxclN3stmRzEWBKXIukMAWZtquM2Ep76nIVKEm7beJmqB35S1ARqcp2fi0Xgr
+QEbSCrj0rPLrYwVduIZyHbr0AvjuNQ36b4wVxS4HRPSzcs6mp/MXIKbOhexn5nAPLTa5iHSNZKL
Pb93DUP5IPGzbz7K4L0ClrCxa76XWnCOS03Stlth5fqLT18AhJ4Rs2WW1l9nDrOrkr90qyxDb0tp
+HIV9kOUHAepWzJ40uMGn+cWM5fTqmFjSRVcl9MMZSboY1dA/hyyz67t4wd6ynoMRhB3Ooq6un7Y
dVOZbLT07rqI06jRwc4KWxILndK4U2ezOFhZg5G30f06Z5gYO1Z6lbexXDhzALRUOfHSc3Wx4WK7
1wyotpbBB84o9LwUlk433lRL8Lzj+KHNHEx7giC5Nusa0HLYMIpeeFNljYemVZDle5Lq42Pu8Rg8
xGUIyRi3Qsto3Bs7o7olOm+BbJjXecVcEbxsvkkKu1vHQbwLe/T7rvxwafqiIGFlqXLFk4VW+/TN
1E28iHoTE2XqvDDZa/e8Mbdm4y6lRq0vTTIsLlZIys+BDFIKkq5UljCViXkCLKuxN9HgxZFm1c+q
n5BrFTGG0byrEpBooHFuISThIDfPDQ1BOCznXvM3EhktgzT/7puE/2SJ29gTzJe5hEivw6woRJsG
pJws+0i8CQwW7a1LpwQ0QS1FMtbxoiusR/rh+Wx6tsGqUmYbaAGfUzkmNx7FiNtc2a/lGbcNAxMX
q1uESwOXx2IqvadYE1DNAiY02obzJBl4ZUatFoHJICXIuEsdgJWLIZ3mVeBOJGz9GBtibPYoCG6A
AwS5+ZQCODsKf0h3marJdk4TX22KN2h6sIHk4BkmNVFxvK6GNkAy8YNrmh4zxghG8jzofD72VIM8
MPR+l5HWG02lw9XUt98pK4AAz0sxuSWNfKAXhtHXe9IIyTGNMQzyx9BA9QV7XxMWha8M+gFzy/iS
ToEmwZSG6zqkxzKGV05/xqvr5Fj/wyl5zHM+8HVpBtwCkIxhjPEQdHX82WnwxlOuJ+RPiSdBp3X/
oZN6xTDPY3PT0hgAdqmYMIlaBXFcYJQVXknJRTUgCPMGlGXn7VI4mXKdnCfSaxoiUnCwRTgZ+k5o
dtOkLLKcp43jVHN9LNvRJko7ibHGWDnpjAqQdor1vLDTcvQ3wxjl08YKu9dwiqdubUSGXa/yyDfy
k28UFDT2nMPDvYwn885MhEHwyvGaepObc3weyU22eG+ok8EXo+wmW9XxlJfPEYW5hOnaPAWyBKEi
Rot3JvmtKsJhxFAe2UF1UJnEfaLTZvhatqHsjZVHE50iQYDW/WLi3fg+itBGBR9jOgczPkUJCcvQ
ymJGh0GjVnVnNdWhCTy2hIY0vWOBsKo/q9bvMA0aGKp2czxHyVKXxkynIJvbQ+V14zI1WM+ArOiI
5EJiI7SZjXNAZ2RSAXetOzZ1T19GMTVD8O7xC46x6Y8+QiYk5fp6cPK0wS0TRY9Q/hjSFS20cmco
iDxBWh0PXczUaKptv95ZkeGW+zBXOX9x58Q89ssC5sHMr/jw5ZQSGc6nDqXLg7o4XIm5wmVe9dgT
rl1v6jmZWADc98yn80eVuu6nSvLQ5OknfCKUs0cxij0xWcWPNDVFx6hlxnLlOfNs0TlAz+q+7xPu
smGsfJ5dCNzvxWR4ROI8P8ZSO1aCNugurqzXIWwMecBx5LEeFRatSLbAW9Eshiapq1041qOBkaGe
hyUVnn5zX8SeVi9CNizYaJwx8ehMGS3Y7tYksETRUpctdQwefgHcLG0XlRXGxqroa21sCziyBVuA
NvROVJLG9mEUFiP2UMS0pONU8NgFs3LUX+2eoXspIzo4eDCN7lVqB2jvdaDCZ/qfxEfrs/wuyiKo
n/w4m/IVj4Z8QJcJ7pldmd5qnmQ8ntA8ml08lrP46tu932wpHDD7cNkKwZGFUWA3HWfk+muj5SG4
5SPmDYcSCPXCHAFnbgG7+jh1m9YkkZeMY3Fr6qHiYZszQl3YScyWoK2Al9GeMiymRrjrjnqRMve9
+9hMiSFk+bnBnGdOjcuL02xPB1c/plSxJGqd4C7aNXBpACda3d6nH+NW4ta5tcyagMKguK51FcBh
aU1LUzQaiFs1Og4lX9ET5ybuT9GZemFEBY1OFh++ZSdU/jr0XnIj4r6LlmZLD9RU1JilfOGhmUfT
aH6ozHOwlPqMmZpKtgrXgh29cOJrSRboUTYHIJ10JETz1B31WHiL0KKJSwVjS0xMiwDTQFC36tAr
H/5nRdvlo4fZrk0t7xSXCsxxINSy853r2eq7dcYFKMLuZCU4WJIouWto+Iv8hAFULrsx4ywrsht6
X75Pmhm4DEu8alMF/W6gt32tNdjmHgQdPRy2330YjvN7fvY/hdl/EWip/wxx+z9++/W//vbr/wR0
+7Ngdf6uH3qVpX6xpe3Dq7UQrFy4W3/Wq4T6BfatiREUxQgY2zkS8Tu6zRASBC7SK/M+XKMQtAB5
/EWv8n4BIoKjgG/C0+r/QVsq0tnfC1YupN2LNOsJGivtv7OlDn4bmnWbVwu3hu23qhnPpJ9GlGIX
cDIxsJ9il81tFcCAujEms/QU7ZON390O9HgxYNfGRLoVPFO2Cs+q3SnOjY6qm3AIydCzJrrrKLey
7irswlQdzLbhaY15ommf5IiItqcVJHxBshlJK88TnTMK9uaHObCpZ8pOtwOuwd7/gFyZJ4tIdbcB
I7APmdhAcTkavsaSo7Y3QMRlYU/fIMe7xcoN8k+lBvziY+yTaaFswghV/BrAh+SU1ZLjAuX9YhRu
9h43oHwc3WW3dRZznhKiBYo1kjtzJtq92PxHt7QHB6QjuKTYizyDI7zPxBG0PD1qHbTIR2us9E2d
G0G+ynQZ3nVj6B9z3EHbGULVtSwAaDVzcl7cu4aNdtTb12JoG9J6evS+svN9UxaVatIsmO4Mtbht
woFDtRyCclM6c7GmYbosQdjqcTu3F4w4CwXFSxwYqJQo/RtMb/EnDdhAyGT26FK+sscMFz5SqFRh
icGhs7O9wV9PU+w/xXQr4EWlvnnt+sH32q/eckyQy6kD3cql7Q4NoJrlMKEI2pFy94Ynsm0eVumT
Zw8bYyhXEU4kBsBzKDalkRmryCvcTRl0lEBXcb7lghmr2W6aJ3BP4iYKBMtb+hTbbkrsjtPTyoLy
9jxPdXDMOc5iggn6/GtNN8nKqDMmzTbHbjB8WXTyBgR8iEg1k95EsrvhteVYI73qpuEkcmgkV2vE
ZAxDpVLRvgtq8s2OZTwor484FQlnBRI0XWPxIu+DI2ZDa4qmptl0D0GG+zDx+2ljp9Y662PF72uu
PcpzFp1Ng83IXDWU1LY1NiRnv7dPRT2zA0vVdKXAmnOsso9mFFDMlk00lTS1tW0z6zxiH6rHIpH5
dVC2ydfZmTkIT02X77M27rejPZG/dCL97BUZGYqCw5JWfgT6NterZraTbVGU7qotzORae4Ib0ID+
zNt2G9t+s29ySy4jY9aH4gwarumKmVNCLMiHZ99ih+MghF+9SHBOs4O2Ki5CTueAb3lIo9RPMoJH
SY1U1DwCCBP3QGitbZKEHA7j6cmKqZF0mBYBuimpj81wo3S5K46zERFns8T7YDvJvs3t8D5I1ACF
1slchBBa5ZgBjzd+MUZr9q/JyjR63GXK3M4g/m9awy02FHnZJ3qhFWUFBR2OhsbnZ7vNcY6RaBYV
pWtfy9CxwRQ2w77RI0yjmMZKNlCvohaAEHTqo3tMxSkRYbuUtvccWrhHj2GoMp5+KsGaBnBWHBDP
bOakdILtp9B5LAJsxAuQ/nLDIXJ8beeSWFEMs2HSXPIoDrJ3f7SoR0/4trYuau6dsaV4KOSzhQy5
CkyXsgGODxR8DauitigowbPk4zurk31QeyBvgjB7GbzOPuhBOMd0hEIvmpTuJxGsTVl/tfr0MxaV
vGUnhRvMcGPK/CYit01RNs/Y3OZpy0EMpyVddSo1F1zanXE2UxYg3Yyh+2xEGvVbDzcoWL46HI8Y
ebBXhaq4Vmwma2xLLtGAfiw/UgdCLy5iBc3f8U5B32cmnfQmQjEisLiXjUISqXgP63SdnhGvyHys
PpbdOMQ4cy7k3QgP11+IC6V5ECUb02xjl5Sf9dEOobNC6Kv2WZZSDUQpZsDtt7PCSWxFTuAsnp6r
sD9ojnt4ptIrM+7XKpA041WHBDdcJZ1Nwk5tqZ1pZ2bRdWjB/e3L7KG1W0JoHGHLDKQQNQB8ddsI
cENDwL+Xu8wbcblPX5z4wQxY55ima2xhMOU4j/bbsrdOvlVvCsiNfpbTY8FpP/GP55MD/tNjn9vH
YARzxKEpmGtmDHo/JTQvNGjQtQWfFFxBT4IvtDdFMN9M9rSm2HCpwLZ3tJ8uDc6sokXQqnDjc+Ru
DobralDxFVZfI7i3k5HFwdqlPIi6IrgashJi+HTb4nkfW9N5ZIFTgoxFj9LtRc4iGaw4WsoiHZE9
Om+6s/MBGkBX2ags0Z0GQA3hvLjRtk0taPKQckCvM9xWBicXmMLWjv5N5zrL3OirYXG2OWAHEXei
5mGLBa6hTTbwnohu1ITjRfokpYx2WY1vPqF+t1jMHhVDPYspg5A437gqM9YQJ9NlHUp37bbqu1Xo
fNvn9F7MhbgqnPBL5bGkeKC3F31E+xzlKB2Tq+EzGJP2FEQmfPOutvepjoIbyt+LlZY2vle7PIw+
ZSe0ZXVroH2ENhLnwLKIAXqAFcWBcaBMtVqJMtqFlbqhoJdkaNtFK9xKJXUblAWWgeQI5p8/yW3/
NZjLk4jHvfTT7nMubMpq1U1uY80PEP/5MJUPrhk8uAaWETYvH20CAyeve7At2bm4hEA7ayhzIRDR
iYEb25xPmZTTMsmGu57nogLZuhwLFpNsDF+SHkMhUORDNzWHMGjuzNC+0oPFItlnO7+zg4Vfm/nL
kJfxil3EsGs12H5d0HUzMNI/ZEqDu2iDBhC6GsHF6wz8UtuJt8ghk+yxiDd2zLhNMvrG/lL53xtR
WVdenudrpJL0NepM422Q84knSYYW5RdoR3B5v+F4OXigMfet7oo1a+CwLFw6zKTnvAf4n9cYTMTa
HUwgM53Miu0Q+W+CykechcHDkCkCjAmrn0dZKo7jcwNZWWNWong0v/UsTpFm124SmwdTXM0vgcLD
omrU/PnsfHYpgJsb1kAbelhNZHGYk0PW1Pt+MN4wY298k0qTyG820UhDV9LYd5A3rWvKJq9ysgaL
3BIG3O6ZlcIyvjfV4JzCeaCjJL3vXPTPoQIFJir8Jh7Vm+VqjFT6PaGtamnMxDECuwUbQGds0qsS
q1OPoZltKkD8s1efE9ii1eb01IDfX6QZG7FqArXaCvvNh3ntBom10TmWx6mqaPyrYL3m+sXD3r8M
ewJQdSJ7lMCcFrsqteNV75iav4m+2lMVjNlhzqielfPwaFlsoaBkfgS+QDDWzbxPe3NcyV4vjV7c
R41/g9vBXupAi+mqjmRzy2yAAV0bkQufON/rgCFrimfya2jNdbZkhjg9CRMReUlNVvjhNpAKoC3b
JFRCmo8WhTFdlePY3pW8YwsVO9rEh2k+g5VHJPMHe5XM1ryfjJ5/7wZqCndEnBi9GaGT7oLGBQnW
lbJax1xTQqm6nwhoexp+X55H2NUi7ZXEg0r7rmjs7J00GL/Qmv2bAIj6iYEgptlhDK5Db5xv2yqb
ESyRmgcaLLzi1EyWfjfHgVgQe959KoHoJtnY73WE4kqHAUxiYfhXBm042PZm7m1ppPY29yu9YeON
DVwmr0mOSL7Ao0uHS49LrRGhg7Vbs+Ghz5FGNVdvyFoRAY7i2zmCp++O4+c4dED3LoIEpUCIE+5F
qBAX0aI66xfpRcqY67oZt+ZZ4ajPWkf3Q/cQP1SQhn7hZptc5JHxrJQYKgbhLi4CSl7698FFVCFk
h8DidGP9FPkmHxj3rMD0SkfP2UWWMc4KTfVDrXHOyk3+Q8S5CDpDiiFsNV2EnmJyEvtgdnkMW+4i
BrFW11QTXUQiIy4QjOqLeDT5dDajbF9UJXOizxXYjpMwe7tIT/hDkaGKiySVXeSp6CJVjRfZyvmh
YY0XQau8iFt0eyB0zRfRK70IYNVFDKMPT0L9OWtk40Uuk3ke16v0IqORSUFS6y/yWv5DawNzjPCm
LyLcfBHkRjp9zWVw1umcs2KnL+KddxHy9A9Rr6FnaiEvYh8lawh/6ocKaJ4VweKHOhiclULqvxAN
7YuAOF/ExP6sK84XiTHt06o7DgHbbbvOWcRs7KBzPWkE4LCFQlYYHGRopvo2FX24t1uRfmZRAXAM
CeYuMFp370+Fdxthw1yW3RxvuD7IgbLxl0HvRfQylEqt/NGIzrGf7JFk0SqT0ZLbco/Ajks1mr1F
YjTY/aXxVGTGjZ3TiZ0Kbx9gmkREoiImacobHhvABQtOs3lUvyaZX2F+1zC4kEIXqeo2shH6vovj
Fn5Mqa7Toc+ZLPgfQdP4O+ccD0KqxQAi6xUEaXFrBTqCW+I9ZDmvs67yp7mLynUeALUI9EHloVom
3XDbxs5qwDS5sTPjKFJiCIlhP57rvxKnoge0yZ4HnA2bCXsUqQxSX2bp3E2l/UY/8oFTAuw7hSnV
qMqtlbbf2hKubzk9D4O6HqbkJegmh67KbmzRD5JnLvVbqxmZli7HPUN/ZOVt2aZ7F79DYpa7nLrD
ec7dXZ80b7Q17f1RLXP8vg5x2d4bxCLEfppo2vGSyHi2CvNeN8xHe3HTqZpkeF4cCIh+MxXJpipU
8IEMmo8zWtMyM78NneE+nfVJaIthe29Qf1r1pzFojoG0btsRkxexy+/KQhjRKc7JcbqybYIUJQYM
pgHr2LDYGOv+jlnPKw0N75zOh52dwq+hOg4/MickPoaeWW3PD8Ei3uX6exJgkaBbIfN5lNn2Omu7
DYtvvxxM7z1r52OEok5/R78K5sbZGAF9bBw3wsz/bCfeD3fa+5b9RnhmUWD9fJuiZqS6MKZNOHjL
/OSLUxbWUZjFO/rHfqqxurJIkq8Lic2X+fMYWuYaj/62M+WHQURrZcwmHRdePGx6czhHh0v6w/DQ
he21rJx+XPbW/NE63I5xkfC6+5yOw87ZdyN5B21iXfFme1U2vGSLn2QxcIKbWyKbMmLz/exrHUNx
bSMUXxb0pSWS45iZVz4zxKQSCSWS1bkQVJBsNe37QSZPRereNdjJGYLXd3FvceL3eZd9by9VvLfY
3fozxaj897TCQeG32QPZ2V2LoaaSxTZMrAfGXtfkl6+TdHweGf4/ZV2+pnJpJa352lbpk2324DD8
A6PGfVkZ23iud3L2dtSUMpVpqDiUSOtDA5zKGo49hvk6mA5+13K2T5+Ywy89H/aLE+4LVTxYftUg
2WQHgTdG9E58pUxxaCuxpQR5bzfGU1B2xbLq4m8j2Vqa42Z7azrtIZiKdWipe3sKII/9mM57eiEj
Z61FSmEpCkU21bf+bICp9PQNOsoeyeY1aeKvhKSYM0rqYdo0uI5tp7sy4csveIq/1dFkH1VlURZI
bqaOWDGSvhC46Ce4PLWhboeBRGWfFOGiMhsoe7p8HkdhL8nAAHNiULaygza/y3DmIBdUx7jm8Vu3
zHxSM7vJcvPBa2CLJYAXvIZ2X2BRqbuZB6XuuzBCtzAYh02VuRwF5F9bbfPeXpJgdYjsOQchSbv3
6dpJW2OHwEP8KLPwWroPjO6wnVVLnm3hShv6OGvfIeGHnoTscRfY3QFxi1M4CiXVs2gzASSspN+5
uLm22pQba8iDs/nqc3ais53/IEkKoDfxQYmJWDppcW0n9rI21V6HLFdpQ4DFkwci8FgmFJuaan9O
sod+tnNG0zgZ9XVd6qv8nLobJs502FAXjgA/A/+/cIKvxdlGRTrKrkaf3US7SoKpf65DaDo6fGlK
mzu22TbMb0rOjNJ1blmvcaUwZnIpNW3Zx+fSNk6WCyo5IMtbgPZu77MKoK32iTzOq37O75kirB1V
7zuL01rBHp0pwWAxuJcdhrTZRCssoTMzi3M4m9MxwBEc50iqP/xoXodT+FgPHMXjLPE2IjS6hWuk
NH6ZeteX1rciN3azmL/7NU2kHeVgSe0xWDKD8y+giKAd+8dY9qdQ8NIbMC525t1H1QRmKfHXTeGi
CZqtBl+gv/a6OFAq9J4m0Skbgk0rxpWXzS91lb0JQnFuAIuGxCnCTFEuO2O49UN7XbjtcSr0aWCg
Rk6FnkrneZwZu6Qifkny9KanHtfpmmOhnes4MeTJzVk73AARo069YiGDcO1NLh24zk3q1tfFZI0L
YSl4qGbWLutW7NlIPFclhK6SrXhXvqGn7Ucvx8wVk3+h4HFP7fKVqRoTUg1Sr2VwJBw76wnmwarN
Q+yV/BhqMMdTMuNwp9bzwTfzNz91FK5ic9NQ9rYQMXES6gAOrVuIjbBCe5vo/CMTOSUC+IC6sev8
vcDOz6rovDkjYzVdhcMmc5C4i5ijINHQ+lARmCC1VoBBShmJcwlWsRoAgHnk7SfnLW0YMYsILlum
aYIti4rGI3WXJ1Q5B50aXhXHKKZysTOpGYxmhr9E81NjbCqrsZGai7nz89DIzIccV1km1ufGzanD
jRHXNkybnnLqzexjfV5ZFfmpzWCI4L6J/MnexH4ZQ3NJ5jTaZkHiPBEUYzjgBp4LnWzwxGNeZRGJ
aCejvy4OXPl9FjRNrmkZ62hA4M74Wspg6DdpStVpXLTy/pxYvdemn0KmVATHFiO7J0lhXsUaEWYO
8aUZVxxur7Cu3kgpCAgB9WSAokAR4UmXD+l17FXMFlRvPbFzVgA9Yx9/FmGz6XWU1cTBMQwMekvz
LuJUH7FO8Br9+MkaAyA2TdDYuDftQXrLcCzmYJdqzWVUY1JwR1SUAOhtEc2y2Seq9GgNHk0Sil3a
dAj6mCa25EfzdwtnxN3g1/ONGDEwLQvBnnf5n25xcBdf/8u/KOgp/2Tw9qd//+3X/zj7xf+Ea/w/
fp69nb/xx+zNsH5hoOUC1sfdTXWSlH8JRvAljxZJk39IJTi4xvmu36dvjvqFg5MHQl8Jx3UpifjL
8I0vOeeCBr6LwtVzoOIPWMXF3/YmkTt1pIRLwxzPM+kDOHc3/ewUtxhCYRclpyrqSB09I0ifDd0l
17I0omNns1K32BTRlav2pM6qYk2F14Ldstz89N79g+oj8XcjwMsr8SkNYFLJO+HbvBk/v5I2yIvE
pwiX3r4UkaqP3wPPjq9sxv3fp6w6b+Ss6N2f3OjGSaOwZSgiXQL3Q/jW4izNFiFtsncOO1bE5h55
9TyquDeqab7556/0H7zQcw8W8pTlw1aQfzer7D1a4PjMs0Puu2RjcD7Z1vrAso80A6Ax94Pq/0JY
F2eQ+l8B65erRBeHyXyWQa5pnUe7P7835Kf9PrAA/NMp0+VztCOSGj0YwjQWFLKXm9CboE8F3Wuc
epBUWeoX6NVYA3xcZI7PYtMNabwdeB6t/viH//+1oJPk7f0nH+tf//W3P/3bb3/6Xz9/oM/f8uMD
LSAyMaG+JImYs15G1X+u3fiFwbLnMC1mFMKQ4q/DdFf8YrrMyemU9WHmXCrSfp+lO/4vrit8kyk7
ZKgzMuqPfJ4teQ5U/XSv0B9meySqXH4Qv8flx/7tvTKFJKJ5AhbLuC79h7JIbppxVjtP2U8JAsMe
toteTAk9nnWMC6Tu5IdNqv4WeIRcZwYF97VPIyGECB2vyVSfDzjNVV+VFGG3DgZst7h2HXWUeQJt
chxwWxbyWnYcrtwGkh5nQbp/8IU24zGrm10VCZiHWGXcJFuo8lSH5cmA4USW9qTc/N3LzS/lEOyc
tv7ORvlEd+PBrOR9ZPWbzllH2XOkvpXjsVfP7Wzu3OAQDociia+E/5Rq+xrbGhQ0wKcm8Ixg2ipM
otp2v6jq8xwr7sOT6QEQCQQ+0Di/xTS/Mv8Pa2eSG03WXuetGJ5fIeJGewf2IDOyb8lkPwmQ/Mjo
+z7W4B1oGQI0k3fz78NPFiz7F2ABEuBZfagqVjEz4t63Oec5Ehov1teoekl7aN0kJbpgV/3g0BAF
4Jjcx/NtTk8S9gltDTAF8R0n2jM79N2g5rPL2Hes2IOpJ1557AbWJa7fZ6rhe4FQTkCKMuIlwn0w
FqfJXNLZbhz7CzDH1L0EWbnhsxygq6joNBpn2e4rbV4Szl7g3f8RgXjKm04uQYeQ5HSdBOxh0TzV
wadrYRj3l0EK+DVcpjLe6tW4ZjLn5bTzA/U14ekeg/5TaJbbWQuYXkMiOzlzshFW/e2Pwb4x8BX0
o+WB7jg62nAJKZ7HKdz2UfRF8uSYfBZMkmmw4M9AMshF5Em5iYLyYcr1rerF0hAXE5cGkp+s3aEq
iR8C/rNhwMrC2Bv9tZYvsWIDYIFBRzzd7mOMKHnfA5vRmHuw6CUuozj2CWs49KIU4vVjkEZIHq44
6lehAxe5rq+B3d8gKpG9Z02bxkBkX8b8SUzZ+1hAmHLYSWFjPhi9BjqBlKzcnddaO6slVpt1OWiP
kBBQ7SXJmzGyS5IWs6pZ/9W1H8xAjieL/jTFL1oD4LeH5+2ANe5fS+RKu5Y1E9HcHgGCgO8n+dz4
yJeQLA4arqbJIfRqpxAuMEc9MNUGmsTMzJ5Oht39xs54bsCF5LVFU1zci3pk4+9ZCZcejWPjZoeI
wtPMD1N4q6vBqyTAbetz6tLnOlDbAHM5kwLPuqMo4hIgpXtsWgTYhr6ym2iZh39CjDimnr62srv5
EUTxFNHn7GJPas9qeirmaWFGzC8cSKtluktNsR2M4TQV2rdKrfdw0r/jmki4bSNAAwK0Ulm9M4sX
p3b2fe6RWn6pLefWIUtdjEx5Mo3H0O63mKUeEEf8hgF+kQpRKkQuncU2CBPIR+eOae+nI+tvVWOm
+evLaNcEe4IvJh5nFCZjp7Dau1P8HsJqUS4vCYrP30ZpP7rUULu6bDhTnWPCj1bhHB+kIESVFjwO
squawxWavgek3dU6s+ZyOSfwv/RhvDlx8K6sBPAqA0zkQQbATAAAKEPgCwcT4SquCNZjmF5GB503
ts/nifeoHjkbtHSrDQW58+8zewbLekv8fFv5fsMhcovab92fMCJkUO3zGdBZ+KW71Tl0poUcevZG
TGHpIUC/REJwBPnmfEk7a3zkHAUL7ExH/T6Ckrr9Z9AwQxSYlx2M1alT3YhuPUbA/3Yc6OamgvaR
J8vZlP21Cpw3XyebpC/MW+Kw/Z1RTKNx7hduyjhN85vbdEcD2ZN8AKJyqcpkM6NKz+3R3bvp0EGd
KaFe1062KnQBzzjk1XS6AepnEn0ksjkUDBe6wr+4fUGkQHJ0C3N6sjLttU6naxLHB8xWZz1vlr55
6EQAobWPftpQPM4D2IpI2T+1L+MlohTXa6Y43KpJmquB8d++NrPRy6zx2neWeDda1UM5Dl1UPZYE
ijV17aKv42qNetZzEIgvTOEfffICz1FVQWfrA4ZoZnp0LL/a+u00uJypeXtuKzNC1+XL+wR6hfoc
WBQOqZ10USRppfEMkC7bxUyZMaIp+yZqq/OcGmMDTqyTj3vqre1yKK72GL3UbTkQohuWDzwg8app
CW5xsgjdButQL2hMQp/SBu8Ny55VGqA9zjhgvWqyfW5FAsYrnXVQrdYV2/pqIiwOXtYGnfeSY+3b
0gZSE+MacTIq0lvg+jCQO2AEQVgWO31GCSWLP2Ub3HRBOlYlivUkH5uoMI4+NB1P1iXZGJxY19qB
02f3ys7PtWESxB224OWEahdzak76bnIM5kAOTIfOkvnZGdzZw8BVXRryKFeT/SSssdzBEuB8nLoa
QcKvcb/+Avlhor32Qld6ajCgx5ftuElJ0DEjMgzNygfulBDy6OQms/8Zgs+UvLdjqOEpYHDiqPA1
DVCmasYxGMtuh1j8FsHoOZlOnHy3Wg5LBdrD3k9md4HngEQDhMvskSADmeiL+GRSfTNUhU0PHFEW
2PIri5GLm4HOA2vfjUdFc7VMQeJCnvqwHEULXYJARaA+/DSjw0rQ19klz+WnoQPqsdAqL+A1MOR2
nwZDXizNHZYG0dfHTqNQcF4wu6jNjAR+iZdmXopi+pI4cDglEPa4FpgkrXGnLYomuWn4qmFLnib2
bzPF0vwbtJHuKVFry9SuX+c8/9PbwUNiVdoKegOngUxPgNuejQhVVICdItMfZgFb1si3rdU9SbY+
OlV85c/fo5N8FBVVmoDZysceRekGcePGdolvGNe+eRxH+JjYO1Rh7aPG2qiEEAbq+Vgf4GQRFdGE
+zlz0ZHUHaMPl4uqOhUW8WFjdgkUTNzhUjXWNs/FuShLUqrsleiZqfkUbo3JlCXh1TD18sxnTwVx
EyY+mjLNnffCb3pk1aRQL1XI8x9qLDRSIbplkwHLXGQOUookq+/SC80EGKjp7iYJ5Liu8370AH0I
QhcGM49WbYXWymMkm4IYbMpqYTS9tQ0cJ1+KqIjipVXral+VhnOgSLa/EkEBGcK6OPQ1Uy8aPW1T
QCd9sHWHmzGUmFqaHk2fmH1tYwepWsvsL3Fxa63IXdXRN3Ix5arCShKa4lEPFYE/w2xtwbDpx74u
4o8pmqvHomiKFbo1qqQmmv1b5RfQK42JREpXiw1zmWMyvoAtSHZVaWlbVsPVa22izTLRNMOx6qMe
KVyeb0utnJ5QSukn2CpIFk0GSZkeFiRiD+2D0sSnNZDZygI7bs9ui/aNjHXqmazSMJFlYbJGLRE9
ad2ADpVfHfWK5jzAPSFLpA+sXao75XZU9/2b6NkR3TmFGoo2zx4Q5wz6kO3rSHJ7OCx97jQuw9ga
pbEdUztA4B29yaYBxore1HrVU4kctccV3YCBvSqbuRD3f2N0nNEOS+vS9Z/tvlM7U+QzXyrT26D2
KVOmfFjqWUP0U4LIbo4Rrhpx5r9lmEj2hsEsf0liKaViiahk7imMRaVjBjWdptsMzLlOYy7it1ql
7m7UrRGb6JApKkx4b3/mtDS3Yy+I5AvbD8tuNQ5EA8q76MyTZJMdKWtjjQVT8gBLmg26vpYekpN9
FQD8saIRqngWCjap4oRlGdHU+GImxKFMw1mOhcmj1I/jgfK98fDikZ87CYSVif9hmIw8dfhwRpIf
8bUfVcgNOLnpjlX5kztkzyBHkIWhTDNBmpjFE/fq3mjclZb3JIuQG7u649EEu/mFLXS2/UgWKg3W
zBA3V9khA0T5wsgdjp/ivETO4p9SWZxKPdyp5pNnEIRMMhATYgcv5N0iO/QvTSUkBaAGBKkIycRz
Ib0mklwLGE5wVwPzdR40iVtB8uE7OKal+6VGGzUICcALe4qifcwOA+FHBQdgnM2nOYXVCDxAoWqi
8zNjXa6LWK9JZqyf53RWjwkzUJxJs7tEzYKwX2GKdEjR8tPigjORxMWEB98NMM1rjl+uxlLsAzRz
mJ4eJ/2DvNelUeLb7uuNr7Frakf0Qs3SzIkktuNRW9w3mZ0YGU4SLQvlwutlt7aQNC6q+wIkFxtM
WcFZ6f2frrEIjKTC9jDHk0AV8ajrliYwzmH14DfkF6YHGJKDNncA7fqCNAEn6byOOpR7QmDWaIM9
Q7lzIJpujwn4WoZsbCPHcjfIrttF1ISbUgCRh3/mNbEdYrvOmxHxbUbuVlo7+ZrbwTklvUV9hcRh
a0WGgc+JI6EJbRvFXYID1Mw065wCCl1lTVpdiCLuV7qewnn0UV/TyvES6L7MMG2l8bpAFbdlwBTu
RZTmz6MgPdV09fCaYqUClWY4r0baTRucrPWm9cuIHIF5VHe04Xy1e7t/xv2X3hyrk1vN6gltqv2W
hLtUWa/SatNTiKb1lALwvbHgDzFSpYiaG7wjtDNDhfM/QgfGyuQpSPPskx1j+4Xnzt63c4c73A4h
DXeV3j4r6MSXLsnjvQjd9AMUKDaPHgXTxsxryOOWysikwaP91lrSvwEeCh71LuIigjJBnQskIXvq
jMn4mPHtJhiqHWR9o2RJYKhy3HZxAnhe5s4Ts2y5dlEanhPCkQ+zHtGCOTyYtpPpN/zSwiuiWpyQ
+E27DErK2U8iC+6nXXLUx6mBkL6dKxsZ9Ezai2nStblWnb8iUCeb2ZpIIdJq86YUvLZROTXM/XBq
XgFStHJtzqN8YYAw7rCvmGzfEpytVrybW3DMYxDVSAXaWj6OuoAinFPUwqeeEj6anovZbdQSnC5K
mthkYWrnwVXJPvxlv42cEpcMSwS/mKH2+k7ob2YL85j0Jc7uzqEzdBhQHhJwdrCSEiBwI/JLhImr
vGqMVTzkx5CnNlIAG0ZIFA0mQA3eQDIylDBb+ykT9ZV7FrtXT3XgW8glOvOmZSEtTOJ7KVv5LSTX
bEmJCU4gx8Wjsv4uPCPuE73Ysh/j7AcrWXvuUwJb/axn1aMA0ltIG3zhrhKVvBW+TDfSCdeDMlex
wZntJNFDbDWgCtyBsit5z4vRojWXb8i/zyVSdF5zDUs25s4F7lBGDnndUTdItFf53EPUvUtLfmdm
JThMgHFor1iKd6pLV4Op37mKcC/QXO1dzfe9NsVplrP5jAZE2Vk6oPIi/CJxUCvSgBll5tGN3vvH
B9dJgE2Qcb6FTEdWSv9gz8/x3ZueMm1gnuTi1i268EmLWoYDRgGDM5l3mlNsrRrFRjfoAQ2fXp7A
ULXygiob8M4ISSTOzkw9iPpJbGsZjvjyxcAkw6nKhU3okDpE1doAxsU7hKus0YKfGFN4nOGhHCN2
YZk4NeNQrwj+pqzKfHOrQ36968zgCcflhU5qx0f5RwDMW+CWFKugaddJMH7a0r5yyHHGs5jmt/0z
9flKK998McP5YFwS+z2iyoJOoK3uTVncuxwICblIs8b/PqHxXEzipQ1Iu8oqelJVHrp67g5wSsjX
CJEy+7ZaYUcbPQTexARmDAktdMxaHaxN92hAw4zjd0bqlyApv0WoBi/quDMD+HP4hH3YcDnMRG4d
d1GnOb5YpELrMGSIguDdWGVADbYVr9Ayk0XzEMyoLqrG5Whhxao3T4hZjn4HgSJJCpbWladK9xP2
FzlCsCQ2ugalOtmqjqlEK8aFTOaTXoO1yLJlGKtT4GvsCQH/bqsYBX+JdnDFAo1xi5q+fKQeHVyP
M2f2ANu7OZhRP7PxKKCvKAjgOop0ZMpHjTkQOz0z/gzmmIfQrorXuRh/ccigKrg3nlqdEjfsynOC
hkAFiK2m+DONIu1oBvaxawRASrY9ly631WkcjPGSNDWr0oLNZTgditJfdVEnuZWsX80GX5k62Dx4
Doj0vam6LF4MaLcrM2V+O4iW1J8SVezYYy7XQpb77V2oJ5g43QyDzyaoBgJXmvYMz2NjR8HDXSK/
gIT3MtFrr6pZnQ0JdWqRZ7PGSKZJKPyJCusTnpbgGYguAT15Zx9s6VOwY9Vp5mLtYvxZ1eF41fE+
PuGN9iLXEOsgm+elmYbOpigqFA7FFG/iHBsMdbz7gFnruxqCq5zNPf8nL9yJJ4FKN3NczIo5c61J
chTG3I1+EO2siI2oDg0APLe2skRxrXzFeNHC7OGyqpA+zAE7b6vVZAL9pOKpoGl+cFnp1PbRCumq
e+yghlBSaLE3aAhUeowMF0oD9I/Nwb6/F/1gGp47xA+JQjzY+MGP3ockQ9vztw0rFYN94N4w7PDa
J8UDPmoOyXrsQKXXxYOdVAm1R4GNAJ61u26SWe5Lq7SOU6qCSwGVZ9voKlpHQ8dMZkJEUKH65eK6
prZPUktpvxhdshkmt/UkJMArF88mrzS11WfXurQW+vKcM9ix8Hra2c21Ks4r409fzn/dSnwj/lR5
PKLJMqW08fK4eracMdkGJifqREy1SRMRk6DUVS+G/QFtwboELIIvYbe7awUc+dBjz021T8Ec7uYW
1gDv0a3QCAGRpvMyobROCfKluceQgntgdsfuAiVBQElOdrU/aycr7ACNxO5751YUhlH9UjESY8zO
wdvl95ZpSLFZq3JZVqBUpTOWx1hDu6N8/iY6keQQkumQa5deWuM+FkB3AC3ilujhomItrqEf2AWK
pJAXIrZRj7RiSilUGMp21S5R/k7TSdUOokWPqKtERCOjZ4peuexrua1wHKwsq13FMw0xY9dXNp3N
KWxCa2HeedJN1ZHC1MAG5cxNYki6vulWS3mHImfbumUogjovaN6SqkXJURXWAfMLkW1RZ25zU4VM
DCi7irZpTlyX1gKTFvdgXP6GovLGAu5E5Gohi5I5XiNIb+j0UIDuNQjBCwQH6DHa7FuCrE2q/AiZ
GAdCl7zVU6Ad+s6u90ky7DJMbdsYJghq7hk4BaoFj53FvBi6Rv9xkY5sBtkdWYRiRst4S4ym2iMu
JYl6IlcKUons6y8iFLDYCvyFS7QwR5iLuBd8hMpDDADANXvPwCa0z/Tmu4PI+xT79k+YW14fmPuO
CfIQ5mKN65gbKUDW3cG+4BltNd0bk6z5gu/1mZRQbBPVG0+lOzzxGFy7O6ijNIIfqh95LFW7Nwbb
OowWScI9GHsNbyeNzxCtcgPAbD9iPUoB2eqxuQjR3eyC0siXMJLyZZEBt47HK3tpQoGDV9ERNJmZ
2caag3hTxfBi7nTtuqIWQEl6lPGwNzMb2oJUQOIpbUFL0cqOaKtwgZFzGu+hFShktaew2zvZ1kme
8uTUlvWFNtVzJe6rybG5+220GFXLuYjfE+Y0bOhCene5KzPDtVvWJ1MLL72pP3RYKhYhDqUW+x3F
jboASxsX8zCOa5X+CAASGQ9+oRViWeDfvCNdt4bWXsc2vlnId3ZWN1x0dsb1UBDvKqdzl7A2qrQ/
vk2iwyLCrllFLWnQ/AMXpwsA5Not9CrL5D0zsMA5H1qt/VJqb+G7kKogurWY3Juq4mMOk7D1uz+5
GRlHtzHVIiqgZsjAGi6TCA71RAdXOvNrCwZ+4ZYFF/c5E+mDYqXOqHAZzWovDJJbW5NwAcBH9qj2
g4LdwMdPGv2QL5pqeuhd7VJy5w3ac+XwYiIPijOE40mD+iwNVlnd3PhaFxRKGepkiqTGV9cpub/A
ipNZ543D6nkxi/nQTdJz+DaDgIFYPnNrOH74R4bBSc/pelFbMgBOQTJY6hVmBM4zdpBOrXlucLXv
83ldvHZWhIBwii99Ec+ea/Dyd3ExXyKdVwpGnO8lBH3smKm8qap4wI/F3TOqXd6xjAo2eA+gko3A
zCz1bvAjO57pwSCgtu3+9OFd/U2sqAUd/axUxsI9XCtHnjBL4KYP1yld4x3kk+rvqQScldlfQwgN
krvNLocVvlkp9aepPtm5OIF837MPXrqa2Ha9c4ki/1D4sHBUHseUgNEyQ/yxqpm13eyCF98spOtB
Q2H8ZtMqp9p8Uyx2n6pmtG6lM8VQXGC1GcUQ3/HfARZQBlbFgWZ5T8gNsGblZyQM0N9NpjV4Bk/x
X8Ix3sDGk1VLytosdkEhgm2luz8KhsxSZ3m7yOWcemkRcnH3E8b/itTCJIN2bk6wmmLSnu9NUNnl
BDRnsaf67kJgBBWVNinqwBRFaiEekq7eizR4wMLMPN28hCJN9nWYbUSiEROp2gMMy3CvTEHQJGEY
SRlepprsyqAGTZCOzorxnbMIGCRh0Emhb2gjZl3HeY6L6lfTGKlODn0nMT7gyAd1czgBPWwIDLny
1NwIwywPQrbbGGI/KSCPmURPSqfy0Ddm/BC2IQs0hRtuUUYUU1KJYxk2RH62l7kieRD4kMDB007f
rV9dNOsxL/xtl/VLUMT0caRluGmxlg0p01P+6NZEOOLrUcmfpg3XlPXb1k04WTi6dpCr1nnXbzTl
riPGbVVQseUmQTM2qDJI0Sk19JjHWO9BAB3u9LzQfCIk52JwnAdhdY6k8Eb8244xENsww+dXRk6S
dgM9vO0S+SJaQpwMlGn6Yhh831nig+wXSG7gFT+FATSZ+sVMp7VvJefQJDy63sW9l45Hywkhxn8r
2vBuInOGakBMDasaiSftVwLN6OuR3wrEcxK92e24Ntrv0FxrRvkG/ejTn8RVG+7aAgPiVLicQyZA
IPfr9pgmcqlFn3lIzDDtZswxXGHZgpfWkqOQMZRJgQdn5NmC1/Ao6JfUgHvH4tuHyOqRB+A/lRX6
T19ncpeYurO0u1TbzS6t9sIvbe0xhjtyq4OmuhJQxH94rvpdg8Z4g5RDLqVRR18aDMJN3vFEgwYw
kD40A86mrC8IAmC0wP4RZMwhcXEOoiXgV53C6VSWXbP3jRxkYw9Avchy8yWPJM3b2HDUx5J5IjQ/
8MRheTHjXH+3HN5gq0SNhA81+G1MJ9hpCUd0bGrFa6e3PdmkgPbAOLvl45j6pE6n8SW9a1qTCInp
Ikayc/cWZfz45ppQDjyNFPXLAFKHoTcs8qy3SvlbJytucS2eHShSbPrTd38qVyV4Ks9JOUQL2T00
mkm+XP3CwhxzKfEySMRzf5HRJuSgZO4U8wWzaX8vlVsRcZF+yxiHiZu8yJ543DD8HayEFuMOZsTy
1RIUQ8ny2LruXvnMdcvRuiiHWa7mGxct4m1plApWqCGJpXrjlI+8pOiYCRvePbqht1gDorZEPKXx
tgzhtmSLYcpiWJDh8QDfyl642PqwgW5nZZwRW14qy/kQ0no0BrGPjfY4YzKNraFmRjAkfJW4xoIE
V0BBToaMgtuowSQx2jeT2xWiz8wNTtDMtkwF6kkbH5oZ3qrRuGYaCfGCqXSBxnQY2Td2rGn05OT7
ABMjp/uykt9aR4aqUdwv6VJRkjDiNZKxWdCJ/mKMQ1cycLUFEMUdHRG84i+mkeI07eGhiZA0h+7B
bQHr+DN5y2Py0akEP2VQ/nR++GVoBeW1He3rUeYbIxdbP7AADocjSVYkDprV2pmDvbJZ+/gwicIi
OMS+eqEwPONkiKkQouuoKerN6YxqcDH5FuY+HPixwXVaGC5vXx0wI7ifyUANbT/0/GGaEE8zISkq
ftHET97KGQtD2O8xmN8Xiv6d7edpRZluSouWxW8/pjK7AIvl7nfDmxZiO6oql72k/9gZ81JL5Udu
Tjuz7QhMIhWZWYUflr/SFNo6kOopKtBOwJ9pwWDVaBsxo1UbKLXGFuf8RFrIaKzmWCqYdCbXNb7h
kUoRT/+1z5qdHYMApZn81LE+oXgTHzo2HsaM+m+sT8jf47+23gyRAYKEo37x1XiWWnARmLPtpn3D
dHOBYATJcHp01Bf+pSjVzqwLCZ6F4WUhNKSBIRZ3gPVD75No/TaNox+LdSiGPWwQi/hOHZLEjwr9
lLKgNjFdoUjexQzXRj19nLqb6+ymCGNInj0QSyIT3IutfZcCWAFrMqte0qTStvnJjnCLQzU5ySoc
pIWLwGLvkkcHZ25SPBf+JY4KOiGdqdU8EytQ0NkyUaa4hVsyrsvK2cSOqoEp0LmrFEZQnCLHyew/
Ys6OSD9uVkec1gwKteh6ItuZ1rUNAnURT9hcmZv33GlLeAVvaTntCZL5E9Tt3lb6I6s1z4ndEzOO
Pe3qxD6MvSb95aKwwV4EfeZsjGryIIlspvKerQJvYI5rXB1tJze5LhmwYx7jkWMDSRlGFkrRHztX
+2PG3cI1jeeqzL58JztAKP7p0uqPEP5G6/zAs5ERLGVXf7du/CAsElS4Wx9dpJ0hSSERUG1bBkcV
k5aXpejhYzZ6v4TTEFTr/DSJ+1yPyZnwjPvECwdvnVbHtiUxYphBoMG+xz+fLRV44KCbi0MRMoIs
RiQuZZy+UeSSTlV/pl34NjS+wR6CENxBf5n66jdnkQvTNBOMv8WTxqutM4DazNPPbGHTSQpOyUC6
0JLsT8bHeGciE8xgWF25i/fSna4uOSkUGJu7KgPjyJql/uCZGTiLuUvAf/ONWpM8xnl2YWQHTiMJ
i4UayqPIUC6FCdLyUJ9+o469VU2l2g5u56Uam9mUYIJABMcaDJSXMzFbNLKdWG1ERGd1TPCKSezc
qtcWNgoZHuVxjzmXFBSTyS3aFH1d2uqChlk7+tDRlnxG2XNjp8tCiq+5bRFEhU8d0VZ6hOvK6WNY
GokbHqJw4uMr2YoFEuRl7OiHnMXDsq5IZGxreM8+7yrXg9iUaHswf/bm0pfRrxWr22R2DKdjydwu
26ig/2jtznPNY16ygplqPuiQ1Bynrz/yejya9AmwGczJX5glkgzbelEtCuFQs5hyNP1q6rHgTHn4
Ker42RrN8JCPSnqJTK0vQ2i/Nr7kIdQ/h4E+KyvLdxnFx2gCdTvK4L6Q+mob+V5o1dJic0qY0lLw
LqAmqjjh3maFTGJIKaIMmR39sULIEO2g1l/5ug5CIUVjpXSNU6KENZ4myU4iRfOQ+iUO5UvXnFR4
HtsX+M6m19r2LpblPsDrVVX9o5um5U4rebUsHfdSayOOgK2zmHREjWrY28b4ZsXQXbQRDxUb3Ntc
QjhR2UEf+zNgzadK8hGSGeSE9dpkIrYYsntMlKDKCYx3v3ioiURjQTevhUHOWNWxz8rCx4rZNCO5
hRmqBx1dYxuMr4GdflRzaGzagXxokXz3CA5958egbGhY8g4Wnm7qfdluxLApk91klagV2Lom6en+
WpCAmeJODOLnjr2e6h4j5gHDKjG9qaav1VhylORUMBExJqSGEzOjNovkHv6wtgcaeQxxswtXWz2H
aqlfrPuGHTFakDxU5K49RXAbHmuNXxRJqraXUxv9OEk+b7POED+kniSrNOzz24z88dcIXW4Y2a7h
k5S/2RCF5yizhsmTlm6yap3a1wSR1hkVbbbJgW6iKOjiA3n0LkbGysBEnzfHiRLomFlJ+OXnxPyF
gr7VAK2CuAefTeZr9VY4roWZI/HfBjv49BVaFiv+dECcrGQLexaTP4se4cgVcsDy2IdzfUrjkNBh
I9N2etO/kOeCd8pnCroyRP4CgxQACzw5Y08uW8BCM/lTB6SK5OgVArGewQiNne2FuX4pmvB1cmE8
aPZLQzIiqVI5fnMaYyeX0hM555vBcv2pim3x0CkGn8ZnQWGxLCM85p12isvkWmHzCzp/KxhAbJkj
iQ0bZcKyTAzzUd9eq8h5rEM3esR766FGRi+FUv/uBZDemDZE5KTdGRfKG4bgQyG/405bRj0dCJuZ
lm1zyz4+TjbJBBiSHZWvRW+udhp8fGLgE+1gTQIJ9rdr4ZArxkyXgCHP0X/EwG4R3HfcCY9Itg8i
G2boE3H0wntLXB09phnMHyICmtQJpn1BI1CIgAVbuNP8aTj+odWQnFp2YWPwHkqqRWefOAQ7VPE5
II3WkixxpwDBoIxea4XNi+6l4lQJvDluVuZI2RTnyLHEtQDyV3Pwycgz5a7IsmvlmKQ9R93KSDX/
LUHfCImGwlogdhxANo9z8Rrmm76MDkU0PcT3YRL2HX81CLBJU6PocMe78bW/pZ06+r2roOmqnEhH
yCFyjoNVEA/osaGl3xnQ6uprwn25+5nWxqyo+8sQVAhRcH1+3wOgW4OPghSU0A2PAOCVntxrljoi
4t3lak1H21ngvlrWVkgI3bzuR/11butD06LNza1NBJcIYZT6oyRHJOMV8e7owD+n0ApOsX2PdhHz
QRTDpk+nTSLsmb4Y/FEEl5g6Sw6LfB59pGH+H3CoCwApBLir/lR14dFpf6JGQ5hjUiKZ1jSDm4ev
VnEyBwPqt2J8y+diBcqcXTZXOqtyjI4KxEVfUZhl+rcTf9clVAlGfafBof7v+IOFZHRhUWSnZd0u
Sw3fm5+mMQcJiLHIKMMzSjpIDNyLmeMwGe1Id1XB09QGxcp1Decnqwm4BZrReoFe7ln/n+pIe2HD
DVjHTAcU11Y2rUBzgFS7Y6v+P/sn/k2kzL8bynGnJH6TbFpHQdg2//2vQO7gp7gHXPybP6zAmrbT
Q/dTT48/TZe2/+oduv+T/9G/+V9+/vopT1P589/+6zem4fb+0wJq0r+3TGCMsXFA/PtGi7/947/8
7X/+j7/90z//P/6t/+21IE6bwoMQCxtfBY6G/5OmjSnqHwzsF4bkiMEyZGLC+VfrlPkPlu4w/UfK
pzlS2v+XW0gGt80P0V2dJG1KIfmfipUxTH6dv7daKKkMzB7KoLNyHKlrd3PV38dskBIrBSrPZ6uP
HzERm6dKt8XKtuKvou3KVUgSIyPkqvxq41atk9wpvC6BfGXLsvxMeFiRx+UzHsbUOjOcJTsREjY7
odE+maRU/S/2zmS3ciT/zq/yR+9ZIBkMDgt7cXknSVdTKlNS5YZISZmcp+AQQS5dS+8N+BFswztv
/Dz1Iv5YXe2ubrj/Ri8M2ICBRi6qU6k7kIyI8zvnOwwg12dPGPegymbC6DFOZytTzFrrdIGtL/Lz
KjiuQBKijyHS7cXh8Hli/IrJ0W29fTrARhhWWnGdksdhg3sCqxsSK/8aeO4OnZIC8Hb0eoxWRXXG
10fQkvToXqtupq+WY4XVkc/tuoQCqTaDTtyGeyfCs7nQ1RalzVd0IsQzDMp3IfEigEfVm7OIR05B
F5TAj3rN3/IAKPv2H6LEfgYPxBo/wM1v15+HSg67oeyfpqi6WDQQINSvOZLzSkGH1X4l4kkbW4vV
fpVQHzTU78MKC5IKETimSVj+cMMEjdMk18Foredclm9E2KN4yNonAMW3phu27fgWCZ4j5qCqHWIG
NG+BB10ZNSzn3Mvr75SNnNo51VVe59k98zAmQSNG+ptEjnhxFtQX22sfGlFkFBeykStNEJ7gaVc7
qumcCxMkVPx+OS2+eejAypAz2UF0/ErAhOISTYuErfkUtv/Uss3Si3pqlvQmWUfE+Ya/LMmO73Rf
YKGarXcsMADJHQojGme8xXqr96rOAvhfcL7CzP88NfkHpaYVDXds2rYa1qBaQBBWKue7Nzb9qmgZ
OB0MlZTKYoySsJ01ua1ubb4eN0rVK4sPVAo1R7Eqix8J5RAlBOQdz42vUVTSipjixa9tZrMA83jK
ZxOp8KH72hWRPLfAsOCoCOciGsodNOGUO+DLw94IdryRhHzYztPFJNN0CRiqA7kF04U/N6jdTziH
uzfHsfvHfJ1eOy1B/U0h4wYK5Pv8rWNIyTCifcqQGe8603wdEvWUeAyTRNE8Dbzaoqc4HISGg3N7
m71kR9S+8lC49VvAfmkpQDF5TKv3uScs1NLBXFPC5x29pqOZMaOOEbfgNZykp2jhUmBKmUE4LD/c
Vn52AucRonlzknVbHhnfFLsSymI8EIC+a+16IGInoWrUpXymNaC5FEkw0Tq2HdOKpXpwlTxv8I69
SJsnBcYNZGf2Qy7OI73l1J5MFZdd3vyQnW9to8KKIRBZCGTM5pQjQx8TmuDjodhmqLW+LfIMCxXC
sJU2gOYKPlrTBYicmeeIczQCwUyshdr0VY5Hgvf+YUxXyMlcM0byfdp5IGiLZU+Te6NzwY1i7nMY
GSBBBsRLRL+4kwMow0i5cQH9kPNzKGObseReii2hEhbrcV0p5G2y/pXyzi6eFoKGHUGEE5jR7GNs
o3dBEuY6sfIfSejhCeIA6wTTvvYgiadzLx8Yc78J1xZXPqUj+2pYG45+fABTSFObm/Ib+6jx9ra1
PvNJ+lAGbPbJtnduQ4aFs4dqlUl33dlD9jHn+pbR2o/QVDPOKw4VLsbBGNc6u5GclzZEZL51MTan
CVvyVcCGm+Obei3D9E259rfQnjkgiT4/NT472T6ZyqPDzQ3knpRFycQlDpeIrYicedI2M4XHeQhm
ImztPXzE/nqilfRciqa7ZxexnkOT9K9Ty7A9DLvmggSt3rrWnyDC91Dz5un2t+tGjlm33WyoryG3
VKRWyH2lAjZImSGu4CU/W+FiE9/Jo5P0ptt/frfxD/cQf9xC/Nt/+Lf+L9xpiP9NnvM//PrLf/l1
C2v/Zxrs/rjZ2H7wd0RySDkXC3wkhGP/HtD8c6qTai4hQRNHRKR/i2KTkP7rToPgjusEtsfaT9Ea
/9xfUp0ORWDEObfUd7gZG6N/JtUp3S2G/dcAcEAfJMoDL84WRE5t/r2/3Wl4Ok/0tJm8NCWI9zOE
2L1EIYMlqVr7FFCrDjiOgmq2BmzLvpdU+Sak8aba2ef2ULzg+YDCPXfMfJSXJ0OMAsO5Jl9rclCF
O66vjmflAjN+S/cF5wZ3oIxxXAMSnhLIzegaFV11VdJ/WkWDUhrlKXXdCaXV0JAzJ2QqLgPGiMZl
oJColmrkxq2YNgkWkY/eqdJvOCfMM+yX5DImK792Tg0+YtUx4rli1EOkqky+uw4BhalMO2bAYBph
PzYvuHGPdiDvXVHfZ3J8xfnPASu8tbBsYRbY3Ot7/I/UeGNv7i1m3eaA3faQYTJNmpI5wW+oNSYR
hZgPOKjsq81MC15QCqby7DLfpPusyFkwJ8vc2yJUmG5yXGTqEOINGOzuWz8Gd4kFZTUsbjBAfLFp
V1pC6HNWQTu4w09SQw23rgNCgi2Y7mLAcjnFYP2y/XEg0oUCkoXAcZBU+RGPFg36RjoV7SgqfgVz
yhGsBrXCZoaAy4iLC/04XM8GbgaLhPzq9ib6Ga8ZxaNjwXLaDoYYZ9tylvetEK+E0Omr07fQijPo
Wd+1u3gJFJDFuyUlg/WL0ywrB/FytRNCrSPlwzmTm66raViK6MP+kiulaGWxWryUqfAuhMyCE0PI
4KYq2em4JeBJbNvbeuln+afRH7MvOZB3yj+ovGIvMfQ82vxi7o7K0YppL5i+fJ+DjvyURhv0QgxO
foMtdTolsDoPJdyZR9ufliObEvuoFwhotjJPeu7JxAR2on/YOayWiEnDmfJ1AkeYDYODdL3mx5Lp
+oYr35yhh+dxKRP8eLKZ8Q63w7nfBsVDM2Tvy9hQDEenA4E6EPv3HKoh0STde+pN+lCwQ/nRKKSw
qPeCI5VXZP8iUkrhdWBaQ1U7/LAyznWP8SQYNbulpE3aj9HgfM702L24apscaRCIOBG0iB5FVTDS
RPvhC458R32oSCgoMlH1YncjvbTJLOWDmXuMu6sIg69tVg8vaqnl29Lwq3E7qCXH7jU0FykKJIK+
HIk21XYv75OkYDrb4eF8h8iK63XI3OjLgq3XIX8BP4gDcDa8DSntS3G2pNhuikS5SEc96HEMDEU2
402L9AXuUaEPxtjld4aUeoipllSXQXvIhDQO89Zne1nqXdUxZb2weaq/A5LQ7zBTbUpCALiot7Io
nS7ONkhVbxMN4hu1Ogp/Qw9yaaCwNTDqTRGscEyP7JrpglM3ZljEKxcP75Gnk7tb+0QyNzabEzgn
rA2VUs91e6nqCaWVlKdPCGIMyhA/CG0MjVxL57Ga1MQTqMxRhF1uALxEwcBgcRnLhUidlabgg4sw
90/ajPWAA18BWsnGyE7u1gEu3L5WtuUdTFpkyR5PIoX0LtJss2lKYMUmZwZt1FSalp1swDa1a6bt
SVNnEcHDxugUPLDDbb3no+oZWg0D2rHgsrsmU2X/PHutXR1sFyHl0HkRFlxBtkud8jII1YlNqdHH
CcWQw1AyCf9I7sHZjox212GBlol5ybJB418JiGrBb1zMnies3x4iT9kCmBP9GXucqaa/MU0YvTso
OTOvpSN4g1Qu3NiMzTCiXDuriQugBUQ+uLz6S8/MZrzq6IR0YqyZRXZsMcW/RsAD13M2L2BEFa3i
w7Hvq9kBdtawVXGTDM+VFTUSFl0It/Yal4zAKmTj8rvUKRaQQyIn0GfThuVHFRR3S7uAMFpQZtJD
1ecpkUqtKWU0bLCto+rHguC9k3RAt2ZBg6LgvmV8lDNOPKxZqh22n77sLoYB6nf8/RhSAGV1yz0d
VrV/obrLyQ5r2BVXNtkeIERMpyTdE13oHQSRBnmUDAJAGatSj1dkpZpvgGHnS9Jr/L9uROtynVY+
5wFb4EXjB2fnuMyc0XarGamD7FqviBOWzho/95gbBhtkD69o56YkxSrXgIC9b1A1R6v0vlK17KUH
6vWwLDAyBi1fNaYGqDj7NxNRGTBYABsvepAVLPIkSyDsTonHBeBQv75fZ0OOLXUVB2tByJkcDc/W
IY5Yd/gvNXvNfW+CzXcRapDrGiWg2yPREq4eaPL5ukwBALuoS7Q+OnkRjHFYJBAdG5I+HoT3BZ/r
7OdZxBEta0mVJj4jkAAzr0JuW9uPmtqut0kYIOD9NOGzEkMiL3k0dd+HPsXMNVNvusR5MyfT3sOk
PTjuUw/B5uDUGZtuu8BkWqLGsVOvqvo8kUmBfCwqoIGp1i+eV6ch3hgGe2x3WyI32n2TGBbqrQw7
1/tOO/n1TNPDTTUzcDj4TdKA+2/rnAOTJ63HxUVPOM5pm2KzeE7R5eOs9qaP2qilugtnz3xheRKC
80QFMh93Q/TuJYzjdv46LvcL6j6G8UlDKOC5TNCelHO9s6qJfkc+YP8p6DzxLlA5cvyhkhbMxtbd
O5PqQR0AtrfQXxNZoUzid+BY6YTArHszrLTr1OPrYlsEBPJF+9h/RsdHsgsFEF8tPnCBBOPewnjw
1dVCFofRC5jhteTqPQ4dmebRZzseIqMfOj9S3aE8im52l2MkZckUdW0xGWKuDMYdRmG0grVsg0/t
4MGnitZyeDdUCfk0NeCEi0e6vwFptzZfEj3LrEY2IPqDYDaVxSEj7TGoqk8CHyXQg6pK1K7to7aP
s2AlfjgwXMaev4BboJNGtxU2KtMPO8Xk4XruxMLhHP/4JiuX+rh0QUir25xYpO2o3HvMktwizDUV
2Vfu2ehjHVaNKXD1qa+UVC5oDpnZzCbE13Nx7NzMfKpsr3kcc+F8I8kMHSNaG9atdVVgzowdJsuB
WpD+uoULMe9Mk5EjwNVoOHO3BQmToJ6hWAzkY7wDCLre20XD6r5R3lm+jfw5xmmCpzOuaoXnGnEC
9/n/qZPV/2u0nH+9fGarBAeA9d9+/eU//fFkxQ/9frDyfkIc9WmfgQkT2t4fesGdn/zADbZWbp8c
NlXF//NgZXk/CU+i36LQRh6CrQQG9fvJygLAY4uNmuXY3An8X/8UMMf/W1xOaIfIyBvGh9dok52K
NtrTHzTcNrNH1OXgGHAKsklirxEE/hpK5lSdQgY7DzWbtadlyAu5JzI+Xhn8HFbs9tHykVpQDwFy
hPW3fkGRZiJRmle1Zlht5Qx4PMfZtHd1pl/gdPdePLDhuiO3lYU31cRaEnvR7DNhqJX1PntIu7gQ
KbzcTXXTUIHGAQUXJYpSRzx0ip4KCb4efkRomzj02mU+MDKS4pToMI1e7NxqKP1zJu8zKXAikzxV
kh9paaf1vkxrsxycatIRCfcqJx9S9C342JzfEORd8TmQDT3MEaUB7b6tKjg2m3JX7GdlmwIdqQw9
puMuzwiACMiSObrkM+fS1Fx3umzqwzAEuJSY/tN2uAuM1uktykZ1okpmbrccbtgRXtKWW+QUMiLj
/fjD8ODhz4fhf2mm+qGFwTf8mz9t2K2/HpH5IiVkft56BIBJChn9HZYLaPDqLkzXc7sJ7ks70C8J
mPHuz/c52gfjkv/Fb/n7yyUKGZy5IWuakA5FQly0f7xc2C6NE9uOe86brDIWhy8SBO00wM9J0cAf
/vX35P9Ga/rDu0KM4NrkquQXgpGLtgnIH38fuZ0yIYfw5vvsXCgaKKvXJqLGNo+ioaUqj2rna7zA
LrDKwXdx0fsZyS2zrEofMpN3N21qWLjXMdM/UzfGgDjjS+uH70B/WQde03SJmlNXOemDKScclmM6
hvYpHJcEss7ijJhuhmEhcUWcTu1SEyEoip4lfSsdNddCGbK9SV1lICOJMNxGTmaND7Cr25fQW3J0
/3kUer+y2vE8Tz0nrlgECRavmpWX04kTfmZ95ARaKU/UByjrNA3bGO7xiOUEHk2Hm+RcKaGX6yD3
of9bXS2coyza6YOkY/C6cG2B81SolDuAlFsRSG7752lVS3fuc2mFJykr+X0MM4mHodPZXhPAWHdF
yeg4Gg/4qFeDMaDvTIeG0LoLhIQic+S9ChasJah0WP66cq3foObS7pP2I2aswfjWvPcArganyK45
0TXNQBOpnwtCMdS/blDokhUondPmSHQ3DyEGB4iZAWYPzCYeoTiG4cLF2JYuxC3KmupP31LsVzg7
JvWxonDc/bSy7mKJrRhq8nG0090g6kFe/LGeqWyedXI9yCQljAkyNbpRbhW68Rp500tGkTUkexV0
RCtCXue114kV5gJ3/2XVWQUuRVnTZxp38xT1IvJc+JyleFkRgEJ0nInBgVuE/kh71gDlpsSztL2r
sAQaNfR6vB6tkI/Cl5F56lL8PRAbOtx09jTaG8i5CQl7k/PCITHjH2TH0NM3mpN9IULflMGFosGa
iLcQxrrKRpTRfbp2eQeq1EcqDYgtkfDVvd0cJmeDlvW0Ij+XCMrfdbqU3zMKhmj7sMipcDeuPmDR
VCGjuNYk4zIcOn/Po289gz4ILmGUz3q3qi1YtMo7TntNc90xpXKOoShKSoSNZ6Pyr/JFhKv5wpy+
u65tPR46M+rvJnCnl5xPkbSCp1D1EQDzdp8SE3CpcqynGh3d84ZDhYXiwQ9hCMQa1HdDM+NSuDtn
CmeGDK4M70dn9d59PuOXyrJSeRN2EYKTq5wyjBcKKS0iRwpfjewn3EhJnvJtAG6gy9fm1E3tg9vo
p8UeyFh2ItxOfMCJpzhPm4ZaoEmruAqXvDyOOgivRn/tf1Q8YPAUgrhw9v0oCfyHkE1J5Ljqs5OV
5juhFOHuIFsMV5KcZnqKZKAkk4u6+s63yDkiQUxAGinpXTrQIcJ8sQeR8thWdCudi7XDih3VqzXE
7VJByUiJwcK8At7wFgJBuLWWxTg300p1iEE7vdc2LthsbTt1sHpBWxrhysri3tr2aDBicXr7QpRf
snVSt0G3mh8TPdxYKCygE12N2WzH5UGdDedmHlOro92nyBu6T0u38Ne4icjDulOUw3/Ku+A+tUs3
3VeppnGpGgOLVM/Spe9N6nUvIiuxs40BlWaxstwqwoMhRg3JAK9KDHqWqJ+AmkF6v40+JSGTp10T
5DYf2GyAjFWLZ5PUS+z+S8LyyEG59JLvDGR88HiucOn5jiqbsE81h5cRw1w4vdOaTSrA6vuipg97
kvwdPdThJXP99tEeDMU9HC2oQY8AXU8C8MXqtSfRNqW73iTuOqJLTCPoI7yl1nxNyE22qGNbWl66
kXR3PB6wPHh1RPCsWsgqrZ7qHt2lI2gleAxQKEnBwv0aSI1fk/AH6bY8DQ5dJP2vZWrX4ZkcXvOd
eYqg2y6l7UP1WIR2Dj2zbpwBaT4jMWAKBoeCmkwLkIu00RC8BUM2TwGekIbD/E4tFDBViLqMZOD9
dNeZYC+A/lnCbNBJTqZlQhp91sPogJXqww9Zb+i2cUkzgg+u9UoCFknG26ZLBfQeNC5gw5sWWUe0
Ew3UNeH9HWpuoXCSU1y3GZoekRtG4BY6yTGsPTJo3mKw51SJa0A6eT3WzZACdY61K6D7nTb9Zveh
WJPWaApqSbhEEU//fFmbz1mXWu9YY4hbYIq8X2GlvLRK2e9NkiTY2rJhYyKJNUSrdYG5MN9Cm4nJ
KM9y36U2MnDI5w5dUCXFSxFYkE78KKV1wJtn3cbChlsFE6qmVzpn9v+W+VtIRbqLZgu3uP2uB2x9
n/D4bQAAjuyxvIxAwQ0jSvmcIk48jVzv2K4XWT6qEp1zB4wwuTdjVBEjHqcVY1JuLGeflZX+mRos
JpiTtWbtftHJmuFG7eprabi7dmFEMGTPIlg+QDCZWHQWxPGYmrHxwVnZS+5RNav3TZFQO4dt0o9+
nppX3EbJB7M6Uj9+kYavIal+tPDGos2VyjfyZW7Q+h9o2QO7SNMtnHCjsaHsrjT+Zxpl/G8j9Yw/
1yM3HQ71jXBulwNJEWlvIqibrpnZQGu2IOqPjX8/M5l7rZvEf8WislLblJU4BNZdVfamuik1p2jM
mQhPbA9muwXKswBfL73BvWNQ0X5tu0C8SzqN6VtjvZ3hiaA77YtaEP2tqzKYLx2tjYo1HbXlYQij
4nXmENAQFCqLc+0wE917uielGmyQ6tj0czUcA6aJ1QGew7wydi+D5pBhVejgM/S0KrldvjrounB3
T8FYWbRRr0PXvWBDI3liLOzTnwy1H8S7Yeo8SWyb7p0Gi9SflbVBKXaNxziG00a7Jh7dCJKpLuMf
X0nnjVa5dC52Np1nsomp/rTZmPmwe+R0KgnwwVuYgGB5RJQ6O11fypwt5XUPVgt3rRlAuzCaTDUc
9YlmNb76Gt42Dg6ZZVQOp5UwcdsmqEIVM/rN8AUqq0D/SuekfrD8BbBIbLGNcGNRyQ1EQxVbWVA+
zK7VErFfkV96WMBhQJybIgtorrGHlbCfkuQzCNcUwUOpMul/4Dri/YRJk+ce+idPxis7nG1ink5m
SmB35EW3ZE8EAPzYJa6iFqo3vAuZhwtHmRJXYHACctTnXwbggYSJCgbZ0zPMibX9kk9Z7ZLbK+3k
88RoShARFmvuH9mKuOqcRkPRA6evVeg+5hkaSsA4m5Top3zl8JHGOWFBDBAa3CMkrYZXS0QWCHmH
nOu3w5cFs07U40NhqL9BiUj1OwA5h1sra7PmAnd/1rdD0AcjgUgrLAPmaCS3w6vEU719P/UeuZva
kUI/dh3w3yd36EL/tlYpHAva3+bnyFp5pjll4vm7cqnZ3oR6rWMSwJ54IUKy/BgcMoTM8dUMKYds
TkUno9Cvg4P2e5Ammm96OEEhBpxEsz0RitUQpcv6bLG3xixT2KsPMr0uoPdASkkvhR8MNg/KBUd9
G5XEPUFei5ggsPtKSU1HAeAwec65z6g4gXaIaecK5krkXjuaUqWY8m7VHgLBh8/1tXHOuzEYOLSi
TeZAU0073ffAPrLDmBQ0MyyKLfk+ry2Pfj5Bfu5QRF36o3U40TNMayCkYhhUn2xZ5+t5GWTtHphe
sLVfnIrRXrgppe1NMWObYekOaF1ly55zTNAe2+A+yQBcS2YVn7QjJ6JPkfjAwTilrxaOQMIRKgUx
2iQ0eLVziZNVDMpAzzL6w7VpM35IWo8HtnShgOy4xKeFt95Oh9p3WL0bLu3vWNfJTjmWyc9g2Fe8
BSrE89TZQAR2OIeVuZqzYPpiPDE+S1bBArhoT8ibBlDsmphP9CN8Q9wBnvHJTDGKqEJMWR0fmLYb
ee8UDEb2dpSmn23l1z+vbJcgoLBCEBQsOsgdPUEkbqEsXd9Wsh1M/EBhbvPDBB1hthkwXrmyCN/7
JEgfcQCbhFaUtVx2VCQSngWVRNCAYFqQcIs4Zvwz+fv/Fzf/yXXQrf6xAfLXf/fff/3lv/76y3/8
9Zd//3fOhN9+8ncTJB5IoNGbBrDBpTEh/OlffgdOC3qdpUefkcDLiE6G0/Ev1gT/J1Q3Pwg9/oj8
cONX/8WaIH/yXEfClOd/wuVR/M9YExwKpP9GeAnQJ2xkF/Yk2P5oi/5NYfuDgmaYs/pmE51byyqf
wQok75PdMrIogB2xAAiPxr+hlwwfnSLrP+HfX4EGGYchd0SKIcVVr4nCehPkxgzilwP4JlP3Kgto
DcpAqTDMbIimWMFq3WEPn7HLVEkK/o15s4tK5zLeW5ycoJs3qhwhH/TywGmTpY4gTxcRzG2yMv+S
hpzJGcYRDD7quk+wD895+Cnwh+LJxdRGtpFhRbubem4KMpI+1qWNSn+7NsbQWeIH/jYOaj3wPhUI
pV1pagxvVNuX9xPec8x4kgH3OfM38kUZ5Q7gRSvw9y6UB9yK9lhfu3ipb7QX4PPk6+PkD6uHQEdT
VAARm6jFm8BxuYG435MhwSNBKdRCSOPijYm6MEKsL6VxXMwSvEtmMRxhMVy4gInBhA3tcDQkviBf
prkckVoq6o6SPijHo1HN+FowFeVU6fozSe8IE9m+XwvzCrSl/yQavspdP9k2Q9SlnF8ZS3roemGk
XutUenjBU/lMVwCVKn3U3/OkAODmEKmsEV9EZh07SHVNzC76TlBUmM/Yv4Es7xLGivBcd2PHWh1j
IH2OmPC0bEyEJThHOfkxsuxd31n3AThB86AoRGUqyF423WeRd+ZVND3TBi+/Gkg8MgHlREeeuTKU
yjSPIPvamdl+uL7AufXPbruOdysBoijtdy5i7ejWwcEW9dtquV/CJHcJbk+M0Pt7udQxzbe3jhxP
fr3em2n6bCfRNTmP52r4XsCv7tPnys+/e8zjitR+zafN3cXDnZbBadw+YgOWKrlyZlpQwM2ckmx4
7UvSQg1tyXo5Ka9/pMWBFMTmbkVs6+sldpjH6+C6NYTFUpZa47vHWnHECZPsRMvphSOnOrmiJPIT
9QzwI0SWdHQ/czQTT7TYtNSTDVeIJrhBAU/ss6CyWAyF8zmZA+DTzIxnbQdM4/KOveHIPbd10nqH
2VmsV4on8h1d4z9cahL9sHiQuNZuGjlAstaD/jygXKgALGUyXWfprO4CaFxeSgR/7q/G6KIIQQxa
ffIo8srFiroXvUTON3u5g9YDHGRPwibW9ovv2AcAyi8V4K1a8UUy4HeTh8WtoNcCXAyj9ZC745OP
d8+ibCeyO4KWTKfWr75H5d06PomASp/Cj5F1uEKQXGEL6+KuYrgbsr+yg/R+iGiKoW7IiwxtlT12
av8mhFNrNNZQq7hJ82m3wjXBWwsRA0oBPSyV3ZylKKeDx2vxOnVm5Pc0WV8yAtBTciOCIk6XV9dH
Uox6ogdkLPMbKpmPlAHHkTnnTvqeETju0uwQLCPcp3yY6UpFCkuTOMiedOR87g0pycyL3mD8feNS
u5lh37ptBjic1NbeKh81Kl2cq/5zwKg9trUhP11TURV2j7UBTeI3eD98zYOqefXH8TLTgBouPgAW
UxzrsXMRd7o9OMuTZzFWNXlyKAZ5P+XWyU80ms6CXOdNLntYBfjBFUsft2n5kHvhIdHVpZqz29UW
ySlhxrjncqyZHMuSdrTJfDL807qffw6s1qFfaaOl+3diLV9cX57aWUxx4FqnoZyu5Bo+0a8IBl0f
3QhDx0oWPL+O4Ga2FaM6WihJ61Z3dpW/RRkbTmed0FNzgJgUzUL94ZkOSTnwr5neAv/F4WMPr2J2
vva1OQdNXTw1uoeuEHFMFY9dkN/b9UWC3aLt4NTN1WfT0kHQKHhI5RIQP+16BRZ8/uRa+soLgeQM
D8AMVhQyMkzzRdGm14zfOD+yBg2TeqqC9RYGMBpo+rwI9cnV15FWx1kFX4DB77saLjVMHZJvRkPH
J4wKKXq9BFBdlUWhklMgpGyiamFfKrmcPVpzkXOOC+PQzhCetS6yXg9RdVe551qoCyW3nFGYbONR
qnfenAbkbgGMFWNwaAMb0uCi0fjxZSn3SMFguBfdwkOlqsd4LcRxcpMf4D+u4IKec03SqWki9a2W
eOPtGdNN198HMxvsFWhhDLTxi6epFcv6UNDGINPy0JZ+HQ/6ZArapsfuMgLKkHmBAWG/jvf5KC9D
8q5Ap2HkiukmOI5zfShJIklcGwqtM8/c01pObyjsF3vxH5xW0dQNmV6bo+xwi1F+5l4xyb0PKGGn
ynAdHuza3Wv7xgvpohXD3unghsMyLtmWe9k3NPONuKJJQ04gL6g73E0VubfF1t/ybrh4gfe6Ukvl
4Rmvc7TEBdafwEm3MEQjDHjsx5Fnq1EQpa96jWSc+p+1V7kvIVS/2A0u5OGQMbr7etoetq2ov0xK
/hyuyuU2e++3PkB7fFsVhYiD1b4pbwGT+zzbmg0LvZGhC9IxCWkaWzwaKqEwYXV8zSwFaC63OdcC
Ul7Wh8i5qieCuHbBTUbNNmUNo00BLPghUa88BfNvua++Af7jCx/u19C9dUdz7nmYO0677kcfT1+Q
XtLI2kP/gZ0W2AcL45kkOEeck++rvKS6dx6trcV7ebbJhVsxcHt5t6qNFddjMLDQTRSJ+siDJhCS
wx1kidRVnTFfgUILb9Rqrnwtb02gfuDcuZRoO3sDwmGEyyYXfW63tbRkahaCK3rxatoApumZAdl1
in0ErSt6HJOHMA1eAKJf9VFEIJJMrXkLnZyEPKUdvd1R/DHFVpqdegGRluhVMW12bQyrNbisyYNd
ysYP+1ejIWLYL1Ek3hW8vLzoaEIc7iYsALnFndSOVyjqXNGIkSKaPlIfZ5aU+S1+o2tNitEXmU96
hiSXXpzP0kcgBly8XInRI0vBwASB5QrOdEo02id/y3Yrw+0Iew18KJGZyZntB4LwcQFBisT9Wny0
SeWzWDNE8Ddgbs0z13yjYIzTGW9weaqK9Eh4kiQ+4USawMMGZQ35MFo+hX4fi+WrgP2Qrwb/yfxI
kOBQYMNqyp+xKbJfo9na5Hd92MQY7JjIxbnfxHZ49qXzMfnpGejKVTk7Fwg810ONf78oWOkk1twQ
1VMcZd4cZQ0boNtqXc1DNMnDaIE1Q8UZQ591uX32N5RATrvBS1ZQS4wuXt/nlsMahXjte4SAQcKU
KMdoLDwt2jtdT0FIPnx0+cr865B6XETkIT3nLlWnsBuQ/vfhcsM04lX18km7dvIiO9bjjDGAPZzR
bdiRMugjC5WtC1bL98kbFkBT87FLP2bX26/4gxW7R7TCeFtcDdxqsBQxkclDgw5n+z6XJ06XxV6/
OE5wWAUn+FA9avbdj3mx+BREzZhiOgZLHWnZsRe3HfQb5kKWl56W9n62b+puPACh20cokrrwjmRO
QmMOPmnE+ZtpDxSm7iFFcnk5p9o/iOZ7Iuersr4Hd3Itx/ZmsKv0FbTVaYBqXi09SWbwowvVjgwJ
cPB4T9XW9DGmV/44nByKF757MuS5M2LVAs3WykLwNVeka9v0IFJOGCXnGULUhG+H6lX0RGSt5iEv
UNLoAXnGZdpf4ZaIwVKCm0IbyhYb86RDdDQYxVNT++yc9k3ZnzX+rtqQlO95fW0hvwXDSVoRMZ2Y
ZCyx0OBj8BVsMPuznFjl1o4jR5+NrOL4CdxgJMTRcHBag+Etx+loXPHBbFs/Nv+DvTNZkhtJt/O7
aC2UwQHHtI0554GZTJIbWJJMYnRMDse0vG2mnfQY0k6md+oX0QdW3VtksppU90oyk3VbW5VVszIy
IuDD+c/5DtIx+iegCnmYE9JVwYsM5w9th+OPM/kaoR8u8jC9moV3ymbj3VWT2drLBWW0LxBe8Tuj
PHQrTJmjUBVxhbCZCxqeoDheTg6u9QBBoe0oo+C8w8R6A9bqYFKHFtr8IYNUXnrqLJ0+juVE3MW9
ytPuSPX5kbTYcehe6GvcA2Le+fGnGKsF4+UDshYcYLnN8eUh2FwkQXnAesSkkoaQ4Z5qY6Xuea0R
AxIaXFLvrc+mw12VIJTieiYY+lZXuXJIowQnmZCCG7642WoYnh867V8NiX0ZslheS2Xg9HP3HLtb
kZP3UVQWMD1EX8EQoAUeNT99Fsba4IdFXGKkB811yGh+RGKcaQ/YLLH1xl2oswm8y2DyPkzzoKh9
CU5T28RnNHj1O3exwOoYjj42JrP8XRnc03q7K9HQRIHFkapiyHNl94wEv2mD8LZKoIYV54QRb+OY
IqdhCVwa01VSnVdlByitunIR65mLJFvhz9zEuy9Lgit6VmzaO8VEGHKefR1z/Kmw02ec6zEq4+em
7Z7Kn4k0OHblI9CFfJM5gQA0PBLPYz13qu5EPImkD6Yv+xm5l2UA58y+c8i/WIbjj1s9ODzpivvH
3IloNwpYNWk2nJcOt0BuN5ckrMWxzzISfEaDASWEgyL8Rs05zRm+xQMccknFwi52i+rKg1j3DRsP
TlDoAg5F3CExLoDEMNNvS0hmL1YUdvtMWJdF0X5qNfQdh4g417UjdRfp3g+Bb7QtPB1U942UxG5I
ULDQhO10aYX4KcDYHgdzELjU6Mp0L7zFPpMghSHcXRnZPVUzRRE0S80I0FiY04RdDmMQQHeVDGQy
AHXNooWqu8AEYuZeVx3BrJy0vZv7xPs5rY9gX08l9OKq848zk8HVDRr4uO44p1LPsVJP7hp9NGnj
7weceVF95s/my5KdrZ+doRSz4V+Sy4wDjINTCG5d4k80ZgFnAtYU6vdUqjDzzjD7fqFBLnZOGPVz
xMTI7uJDJLwQyFSBVXznxI3tb6zJEGIzS8Qfmsd65jwtZnljasVdqnR6xe9fARJSgFGja6b8ET4+
oCJXhslbdqY4s76LYzElp8Sb1oIGqACrHbFtbgaFB3ZXL6W4jKuW3afnaUXEFKKx9hOTmdsoolSZ
wUTCG+q0KnoH9m0Jj13PfHPb1WEP3louPh6DBqmTk5+pnT22lxoplx6T2woFjZdjYbHg1yzM56/q
3P8XKv+TE9AS9xOh8m9fXX5/+y9//9t//fu//S9Ey2+9fl//8B9uP5uwFKlo2/YJbQNAxE33h1YZ
/iZdFy3SC/lnITWPf2qV7m9U42HDo9KSBJb0iFn/u1YpKNuzIxGEwl+TVvY/FaPi//+9VOkItEDS
WKQUJJMTUuXfu6ksD46YcUtwuu7AiFHXnd1vzdCTw0jTacI41TfTB5aWfi1WmMk2JflQ+jhOyz45
lQI22r6ZJ70fVIP0USWhf6l1r5d9nnH/2C3lbD9Ih3gCvvAu+Fwwf4gAmMJmu/QccM4jO5ui8ats
kSpl9xLIyZm4u0fBAdAPhWFB3LVb0GDEONpkHG4kEzHK5mbaMTdS5PPjGl/axFlLBsq0wFqOoZHh
Aaghl1s5UoKklIUYVmWGvgR7WXjW56n7wF5NptxNQm49OtCPEEAwnEjeAbSTmAQzIkjN1lgq3Oe2
JxQrtyByDarMovoEoe4Oaoh8oZYHrKmQNHzJ1uKswTgro98Fky3lQD1nzcjtaemI8yCge35cS79G
Dw8/JsziPCTcYK7LuXdCFsg6Pbldyc06WjzHPsnZSR5KDnrnmW04MeuyDIDFFa66LvwFATXl7X5v
lb33RNSCCpTZzDXMrGmANWfqGnd+lFNW00T1Hi8Ig8g2n2mjaGy1Ht5HZ7jFVtZ6G0x7w2Nr+SUz
JE6/ySYhbUECKtZMMjn78ks0ci6+FMaTV5M3kRgCqfHRq4xrjkqhUMOoM5FPuFpF3dWcKHHuZIyD
+HgNDGslyh121+mulkNo9jAx1JlTULAK7QRyGsfNTt8CzD+0kaEjoE1ShqGWzJ5a0URvfXyo3t5g
C4PzZ7jYllmEC4vjpDVvlBfdB4VVvuULDorPDH5MhIKW83JvxRX3UQz7TbTru4IgVzFV3S2pkOXC
aeA6k9kjkA28pGzDMytoxFvllIKvvyeIZxDfAjfi4UbhvK4TcGJW8mxj+st3lh7Fo2Rw9pzhvlx2
GjNUfijbZKpBBMjep9grQdlrON1wimiC7r1tL6XEdWgmQCMWeltSkTiDlFX090XSx1djPtv8jGiV
uqswVePWqbPyTFU+F35ISRjoU7NgGLVCU9zqqKLLLgyminOATSpjGy4pE9Pe6RiAj2z3ZOsszU/A
7AehR0GFuA4rK8j3opU9XMahtjBxjUNHhMLOXlIH48PZYjfDVQRY7txjBTqhZuUwF+q+UruaJLw6
rzH3nek6UO16zcIUGDFArbbE8nNUFONezfHI3RH80l1uExPlloFnbjNnkpiSSrV9pzIANGcNaZ9L
5eYoKWllMyrBPizkQ6+CfvXzItT8C1iRfxjh/S7o+/+aHd3BAfuznYphGmHf//mqkHn9U79vUT7t
yW7oR1iFOQ2skd0/cr6/IeAI8ivrMEt4wv1zg6K91cO5Tt1yxMCY/eNPN/paxhy5a9srQS4qlHEd
/ztR5Q8zMTCWf2guXr3mf5p9A9tmeoYdHm9WiIxP6vf77cmW+VS2yufM5c020lG1U7V5MqW8oOes
PziLPn7z5vyFm3l9G378ib4IHckEz5beq5+YgQUdc5I17CXOowQSAtYNJSF/0LF540TmLmwMccXR
fUJa+GQjjOZZ83FWaxjEcg+d8V5Sz7ss+goMsn5Xu3O51wMridTh9c9fKx/PqxcrCAM4EAKF73l8
iN769n0zaDRcRn3aQJxNl4zL1lUle4TfQrHNIpzzfKaYbDFFnfqQQQlI1uWuyIpjl3bjMV+Wx7nm
5l0msOAIm7H3DcTJ3CmyMOg5+hrTwXvkFOYPLqgTjcX5AwaVOzzJBGhgiLrcT8+Z+SSkSfZUpxzI
GspN1wfufjDJ8AgIn9teoOZdHcPQIm6zFh3MHyenv54GCXpIYXMLLFptXCxRW07rIOet6R7jitya
zm2PwLZRrJwpuRybHKenYc/rgvqDWggKIdyJAVcwewtxSHDQXi7u2n6w7oBVwQ92KqZosC2wPTPh
b4mmbUtj7yOrvw6gaYCUaNOBSOnsvkBXIPFJtO1g6IbY9Q6brWesvR1a+LKC7I0OuWGlqnpKexmd
Beg8i2zeeCivdSL6rZ7ANxcyo/7B2AUb+bJcAvGJzvIxfsvRH/lmIsTQTrxB+BIwcofMCUyXNQey
OXqfDNZ5NLSPyazs+2UAEKcWCk2ENVhXxVg6HxmK5Md4do98ftGprXGF4KBjaDNUHgWQ8kyl+ecx
s9RtSVPopUe1kyCx7abHLAN/D96uOOZNdgRZzQStb+EEQsAOUfchAF+EcxlssnKBAutgPqPrDpJm
SiArtyi2JOe47fHL8ATKx6ygVWwuIlRs5xl9nfq+WtApCq8FJzehB1G6t96SdSg+S7WrNIt/lnb1
tWcRYB+KmsY2nBr8lcckuzTNVTkPExte/IW2qeRzMnnPeu6pVRpKlaP+pf2p8VV9t2C62akEkjgk
whU7AQ2GmJ67JUqLMDSkycELg08VxaDPTmi9xcrt3rg6Ky6XVOij01juRSqS52Cpy3etr4nlzThX
UjsAZcpxR+8aBLWrzkAPwg7GtMHLUypkMIqfdzH2TTtuoMrEwSkXjOarEM+fVtReWRm0LGsWxV52
jPW7xr9Jc+E+QCLMeXPQbVRXMRZr6/w6jvvmUJAB/BhkCweUltyybVDn5ZTe1h76GKETlhsVRSfW
vuSRsft9bS85D2hSHrp+PpWAtrMUfj/uNgg4ote7uGvKfZKkiMOKs087xvcUXBXXnmmgyFSyvrbs
aHk/O8H43mCQuytn0e0JoysYkQMVTE7WqE0Q3ZENNxedT3AM9WO8ktEsAUyn4a50gvjYG4wP3CXN
R07cN4QFIQCX3d6m2xBxc75i5vIoZ3J9rpaXEdmZo8bUCxrbxkrq5H1/N6jY3bpWc3DJXRxt5r+b
cQyA8Lj0veyB9QEkIDn8eSBRtE066b+ndfYt14DsNKc4SBNC2hgKGvBtCX1tb2VlnhdHNdeYxOUp
6Pyn3HXyxzbx9R31ffE14dnkiiUIJ8agxb5IUCI1Aaqbqo9g19Wzc4urPfxAZ2F+zPiu3jVt01w2
WQWyJi9W4jj99bHvzXsnK4rtQMaHrqrmOR+VRmKskRBSFMtsZujqyWbFlJB/Gp2+ftc26YeZFOZG
mf6+n22BUcmTF8ob8Cla9k2fjA+WI5+4vbz1ChojtmPcJFdF2aanQqIUETMYxL127encA6F/5oW5
xkRrTS9iqoILwQMMGjDGkcjJFfNj1SisgEOeMGsJWr6Jg8kugj6NZ8iBXXlyg4bnWqtBcs9r3ZPt
VvOxzS3BpGdtD9vUM5oE1wGMpS7CG+bBxrznPIYboYyN5P6VpoaenLi3H2rwdLyzXfVFNkadFhzc
e1vEQX4ZJMhWQbzDVVB+dvqZrpw2rC8kxlMaG2XBTDuIg48cseuDa2XxDk8x0sdUClJQvdudJyiE
pMx9oux14l2hJDZ3cVdSjIAgf0omCZc/dnG8Jsb5RMKonfZeaOIHjI1ii49uELsaR/d13E4pFW66
uktyQ1P03J0J7KrM/nQDAsjr5oNFJeHOpJNDfQGh4b3ySEuraLH2fepFtzXO6/UdK88N3cUVLvAN
QikyS1SHhyF18quiieIv2F+o+I79MTqIilEvT83BxkgMEyIfx43DzQn0eIFktXGWMrrkMvsF92r0
tu50tAfeJ5/7Aba9Y7iu4mqmhcpJ06K5bozfHEdqtnZBDeAXnW9QN00ey49Mbrnz0ox0muTwxmmr
+DydA3OReK7cNxnUgSYyLylZ7ms9qXrvB6M46HI87wINEsot+lvtyOiAP/Cp68C9Tz4sPXYDbqBz
VtkYqksuq1NIb55t43yuBp9lYqbqwisj+46qn35fTBawjCKkzMdtVvmKv3/v1ahiHu3tRJ0PkaL8
Ty/ZNcbj/mwo4suQHeiKkwHE74lSEKZGbJImzwsKzsuR6gbVHKw+g3aJVVhfx1Fx31NmuuWBiC8t
7hVPLucOYPZVdeOFLQ5c451ob4KskffjjE3SstNTTcjjsi1dcVZIEX8xhO82ITvGBRev7oQVA3eD
k3/JdOieZbAwL8CxRG8zzZeUJRsOATUJZkbft/NmmO5BhJWMmPCUn4euDE9zPyEax6Cct9C/JCCo
lGIQ7U9XKAAYbPwvDtEtsUnrJTpwnb+dPc2ooRQ62PV2ctWloqG32ol22qcE3lI5jNsCgTwnLcOW
5HvXY0f1UWms5t2C+/CEP7c+aTnG0D0wPSWU1D3h418OuqG3BztretENU0/aMDLTIWSScF5NVvNR
ljRpjIWvX6wpjhEeFJBHR9Uj3UGzf3S9FMuKP971o0l3+KbejFpUZ4NDSfAi8VbSpDBsa5zqG2/0
7B2xnv4UsvwwR+4h5OV1fkGbtnsTjqEPpBJACvBYfV7BkqXYL7jNYuYoJdyMXIbFiweN6uBRcXEK
0upUhG52oIEjw8ZTwpXoZh5AMQMEJNi2HYe2Og05hjExlU/F4GWXqYzvaTMKHkbl0cKdldW5HJzP
VT3Wa8Msjlzlvm2Gob9LhuVUpvzY2gY1wvSgXkCvQgsqKCMrOL6n+V1gDXKPFcjcmdDAzSSpEILG
LPO3g2Hz1G5Sszq27UXPtTq3x+QSc63/Eru6obWuc97ioo+eUGDxV+cg18nzoyg0eeXfgvocb0cX
NtpqV0t3CyogKtNocCswxL3wolzjY83fEX3g8OiMlBiELQqvW3bXYqaTLrHKnLW7vqX0/EFqEkSO
YPAxYdg5ugbesDVnb4rGv2pLXW49Bx09sMpL153f5RisNz0Q9LNcmOFQd0g9kT1gQAjesNIxFAky
CisCdrIhzb80nVl23PI+F8Z/VnH/MNfN3cJd7Koswk8NbFyy++lDHaWQcxLnqgjVQ8Mh+xwq4LtS
TmgdvLJdFoHWs2lXIjCLSrVRfPlGrZNDgdh+lmdruE80pHZLz5wAi3ioezOiQk6TV9BOzc2iljdd
XYUHcJ60xpAkpCVJ8H7JWz5JrJNzd0V8o7lvHCfdzoodVBrUOFnHUP+ybNMQWdwOq9YQ0tBHeElD
gUzQwdnANnlPLIFhNzBccH0PPkHgy8KPrSPukEOCPuIltGPYWqur0iMDmDRgiheDWdOlbInDKFq6
nSHg5JJ+j7EfStqZ+lMi8GJhiQsPZaK8+3FqPlNd72ziuddcmwJMDjlTbfK/29F3z4eyt69FJNeQ
wOLu4R98CBpLn6YO/pxUmAHGsqdWMFwuqkbi/qqsLqVbzUM2BDjtatJnRWntEjIbd2XNGln7kuSd
JS+bzlW3aQbbWKxcnDwve6ozAxMerKKsnzBD2NsqW3BKTuHnqKfFr6w+2u1C9U3LBWfjBqiOzK2H
j2BwOfsGbvnGIXvCFDx0+KJOXnci2xKas9kgNpGvNbu57BEaCdlAtvISczJtRB+hdZqrBmBBYJuK
fsscDqPXcMVcmLckBUKeiByWY/oPiJH1sFOcwZpxydvvWw00fsL9rcKwJE8yvR9hC91M0Hw+gRbB
BdLVdN1yQsKhhFlOiGQ6TDiGjpkn77Xy+61sXKI+0ceqs9+UfZqcy5qnIVu4RvZrG3ua9yfHc8W7
qfKzI3WL15PyH3tcmGiy2QdVtvO1va50QVQC2c9jZmNMHWnNkuGaTec2i6+2qC+RNM8Iy5WgwgLG
6VTXaxrh39D4XWx05dlHJqY3JQ/fjp1loZDcK86wETAmz3hlrYnOeU3v/fltOSfzoRL1DZd1574L
puPoE/TDazvfe+hshzAP9PsaWyJrROIfDUz6o93PyNP5etWc6ATuIyiS3cJ9idc3HOxxfZtCHtim
6fKdk/WKB49fYE+d63mjsLTxBWLoD4A6mjgC29Pl6FDEq7mHo33fR3NRXFGKwpYVJZjeHf+xDkqG
wNA/5thfLrOFm+tiE7kKWReXwZJv3Dq13nLmNpeD60NVrVT8KZi4r/shUBnX9nZLU4B0KugcK2jN
aWq8ukFUu2jGS7izvJFAg5/jcUVhtB91NtDPXtrW1YK+cdYPdPACT2JcyV32ZXHn5hOp6PzQ5eTI
vsoq/9RQ66FW/PcrNPg/IMJfZas//+7/TEw8vtTXz+pFv/5X/V8IDRTrBOpnQuJ/+yok/ve//9v/
eKUlfv2Tv4uJrviNymmG1cAdOCB8xRD/LifK33xJT2sUOg5alcPc6T/mXQF/KHBhTSBCBn+wi/+Y
d3nBb0iJBGspkgn8ANX5X5cTURLpniN/w1wtot5JrPGAb/Wy2Be6Br2+7BzyUp98SzS3fs0tZmM5
DUfZXvXqsp2o+fvmjfoLUXHVDP9UMdcfi/EKv20QMOeL5Bo9+PbHLi5+PSBG/k6WVvXYeMI/ckTQ
Zz//KQFTwR9+DKSWgC2GTUbK1ySGylg4XxKPZ1SZJ6Gl9cabre6GMQKNnVHmOQ8keAOKQ20EQTBB
PW6dvgEHPLRcC7FCEJo8gnMKUfi0z7IlRnI2WBud5JP99R3yO0ZVVGNNvbPVGZcy0gDEoTakf8VV
NpcLzPC5o+dd6dqeDsE4pA9FBzdnI1mOG4xjA7bD2i5qBhOToYOehTYrV3lDxNcT0crP2GRVBiKk
NnrnZbV4ztMlf4gQG9l2dF6QFdBEvdMuHbDMpJDJ4dkwX+tFXWEJImkG2Nwd8ZjkHAiH83gMije/
8+dEvA76e2VHMDVmt1THJSzS4LRIYftbopLivNMBtWEtE81yz7WCJh+RlckZN+OMGVozdtdwZTla
5KWH7ZkEJ3z4/1yVjaeimMXeLlt5WxWZ72xUO9YXxTLhG8qpU8MSb+cZlCs3y6bdzz/59Wv76vsV
ho7L40F6kXnxysr8RgaGSYfNPbNcaBi1y6DMWtNpXbuDnAimD9jtL75p8nuR/OsXmgeIDA6paVDj
r5+jFJZmERTG2ZV4qHo01LoMLoNuGtK95zb5jU4c+Bv9Iq37aOi5EiVDkWHjN7EPQ574Cx5uQIvY
uIo5f+eRbP7oLgnnbMCH43gKXE98wdmIfxWJDN0L6gASajM49wNK7PpR4byvCoaeYMnG7iwZVLd2
3MQllhP6PleqtNVGhzhv0rOS8y5ubcaiMMOiFpydyx3vrR40PhyB1GZwvfR0jqqWeZYXzOzSdZlk
H5aqzqvfN5d/OND4i48qElFIMIj/9Ykbff9RRbOoQ1QGsVMA1+iqwZlHaMM6OLbqT8hb4ne+7T/8
ea/mGb9/VFhXONREgQyl82pREAXVaCUn6R2aSfBRMdFGKKfqzYqQSHSHvZIJQF7s8aokD0z3sDai
vLb7MIuat4lbVLsAiPnj4nWQBGPhw+z0bHssj6Uo23duvAT0+KgaUmXIn8LLUP3iy/11xvP9tzsA
hsSwwoOA5JCe/P4tS6oAr9YSY8mq6jDf6URnF6qCpoYHaYg4bkFmuS0zNfh44OyFArJlqag64KCg
90pq4hFVOqmGTnCcYtsW8gv289okUEuatI3xGWpyOR5XwQuo3OG4GZrY4A+EcHijsrWPog+1qbAs
WaW///mj+31UbP14AkHWhV3Pg7iEjeD7X86nfBrrACf8hl/9iph3tS9wHp+WgkvVz3/UK6/H+rPC
gL3XcXk34fTY6zb1zTJR8DI6My3WzrFsy5B6n7BMLAWO/a2nNdMEg/Lx2UtdhG50tYvQl+jMEJ0L
8YsN8fux3tdXEoIKskOHRNc6dfz+leDNQKIASLkPWtGSbSMMtLTWumaGDrkIJinbviH+9fM34OsG
+P03CeAWXC2fuF/oia9ooW/egL5KipYBc7qXw7xW9yk514e8b5prboYwROx8hDrocf3Y1kRINeVW
KW6uvvDkZdl2DZZNx1jFLg814MAFFOy8AZI7EFtwEu/GpegtJLwFHHljrAq1C2ePg4CIrT3bKeJp
T4garHKp7eQXbkZ2nHRTofhpGK1vTFgMLflrdq3zrnazJy9lGeKgvCDnBeQJ7J0TZIbFNCLwvyHK
K9+C26vqM0lhGPHYJbCzu3w22UkoYvB7SqibM+JtGZzUPFc3qvFAp7CiLkfsA0j7vokYSKUNBJJf
fK1/WOYEZD7OMXzAtoQV/eoD7tMliaMO9jcU9+iFsoEcCQvO7QRZ9GADE/+Xfp4n+Fj5eP2Vjvbt
V3tiW3AcX5X7TDd053SU3Wz8lhTU4PVyn3KFbn/xZfrhwRW2Y4twnRRTdcGc+/ufONO3Q1d6Xe5d
OaF/F6k4zjqdLyxZjA8//96KH7bb9Wf5GLVgeJEmfX1+xD2j64JzCCaeaYT9mblHI/OZuZ4x/VMD
qNjsMsubaEuLG7qekOA24K2g5ZA4dL784tWsy8R3TxGvhjj5ag0gSOtEP3y2VLkzooXr7ijRn5WR
M1+PDb7FzhuKS9xRyG4YKD9Poem3mdfpRzBloK56mi/hZyWXdZe1VCi25S8+EvE9E5xlhVcGfJzX
FhDC9b4eW755vrFn0T1ZeMXeJfZVkMOqxV0oZs58eNG4J8fFTNCiHdkfwK5k8ULisVQfFvBS8cai
EIxOpDlmNkZEkrhbOwzZrZ1mDeEhZG21aUmP9hflHFjdL2wHf/FtWn14hJZ9ili4P33/baJCjQTT
mGEltWb/RJqrveAZtu9tq63/6W1A2DBipZB4/zANfDUVfPMu4cv3HXtKLKZ6Wj9adlfRApyo5zlB
bA1ln3xIMZedNcrQh6Sd8GNW1fLy51+iv1gf1vshXyI+Ls6Qr54eZvGknH2fWD07bnaYQPE+GF/l
6HE6glyU4Gb6xckLwPwP31t+aYcjMstExHP7/Xuc21j4AaVRs5elDEZ7rex8B2YTka8KM/VYuaq/
SehKokfQs8w20k2L89DnU0PvUhjzx2ggupyYFtViJPxwmI3DLgXdi95lCB5cHBo7fxzIJDSHn79h
wv2LV89FmGO35/u++/Wff/Op1ZQYrStOsKtRnCckLfq2tj7eqnEzxn4O/KNrgKGxv1Bpj18Ta7Rt
kxfkgqb8T1omljoE+O87iKkY/37x8lbDz+tFgcMZyxP/UteWq4vo2wVYNhQ1UJAT7Ngfl/h87LrZ
onsrHm9GOLbOxufbeOtJWMk7smPWxWhgTHAWc4uOvF1Izi8dMU9SDxjpyykfEOy8oVXdztNhTi8F
DL1xCz2rwSupM70FsNgx0xB4sJnsQ1PEs+GB+uDmMOxt5EGS51FTmUcIQISBDYGqB98GPLFlSyeX
OibZlF5li88lIfPy4hp80vhgdO98kiosv0SNnRLA5hxvOIo4jEwNjD3wKDYRzo1uLLT9MoFbNoto
eRM7w/RS4TbQV16Scq8ZAqtfSVi5zd6bZO1aKuOC7+Kr0t1CGY/fL3lACiOnxY/yIW846dzn+rrE
iXqfNZaPUXbSL8IDoLW37RQiSLCY8jnVZVNvZl2tAd9kTVLFnSID0vdkYJnNY0s90hQ/vUuyQt77
kqK8XzxGf/Hk+ux7WJBXicd7zTZIAF9J1BJrxzKmrzKYv1vPwkZUpLo6m/3R+ReWK3ZXTslAHdhx
7fXB+OaL3zcDRbDo/Tt6XLo33TjLnWmy/pDOFHgvnRw4xs/UuXAF1Z+8PjCHVLTeL7aWv1g7fBZM
zhbrysGp5vsXwWlG5pbfEYYcxZqaUt2mqwbvzKFxaifm6PMERvheaA/qlk7TX7wHPxyXkR/WjZYN
js3NFa8errBaVFRQ67TrRqwMuSBWF1di+dR79VGKhDyflY2/WKF5Mn58pMHJYu5z+Q9/8Wq99Doy
2qwa1i5Non7YOnIICoIQBBWmHQkOrkxcrQyVx2NJc7LIla/g8cvuYcih7m/ofwmIcFS2RYF4ngI7
qDmi7ZQfTnJvL5l8sHAT5Lt+meyPiPq5zbhj1vrkLaunATIba4CbgrnadqrAPQUN1j/x5gIriEFn
3ANvSmjHzSO8Y60KtdwAlCO+Raq4rXCUFwSKWrw/D1Dg4M9V5RTejImlH+s2lC990au7vuzyW11k
gMaSMGdwA3+9FMcGSj/zlaFJj4G1LJ89Vk+mbN5YXEtjpR9N6c74aIspdXdG5Jykx34dco4xtHwS
oUt5JUabfS3MipboSuiFDlhyCwwVzqIlOsf1PH7oAs+yNi4ctg/ganNmaA5Z/R24nJHJTExD5jR3
4f08EyYDRJVjQyfabu4XLYqWfGDd3tdF1kcEQ3T2ofFlTS8hwyhqBl0/u2LmHVJxmxcudV9N5lGM
aWij9TEid7tkcoRLqzQAf9J7Bq+3A6skY1jmY4dqB5qvtj65gMsQpJvZFnD232Vxln6melwVW6it
/nXBnOedN4xYHFK77l8gziu5Mf5ESjW2vS+YcmBfRFKq2znt/Ucc6REgC9NSpBqMb+fIVYzv+nhM
IItSccCCPVLNPhJQJ5DWWMnTTKkwUc3Bou9Cez2B6RKpC7kS4uMTGWNfH7IebyQ29xWy6GZV+MD8
FfzEkjfWlfRMS34YFAMelJpWmEblUXHu+7ONgb9W+U0ReODQJLWhROJrwIEehWW4EEH1muefb+A/
rptELPyAE8h6B3dfn5ppXTCjwLRNVpTCYHZGH7d+PV97KQEnOxrH/c9/3o9Pr8DPSykv9zBEQffV
igUVT2baUmzIqvFZM9zl1mO7vdNCdL9YHH/81ez10uUjz6yI6vDV8qSGsvDqrGB5guT0luq+4joc
ydMm3YCFc0JD+Gd/NcYLyI+hv84TOOh/vxiLwTVB7eloVzcRrgPsdedVQg8KVnnr8PMf9aNm8nWU
wZnRYWwBfPvVIkjqzCrIrBIgiDvaCSa8e1fYYqwz7PpiT42efFwoWS2O0NnHC061+o6YFb2gP38d
f7EDgCHgzQXy7XPnfLUJukC1Fiz7tLk4kAdPuiPat6dPnRyBSfsh3oveVO5etTNe03/+R4P7dlEQ
Xcb+r/nOGF+FcqMu3lG5p85H5RuMRKI8A+xXnS9qbk8pwJdf3If+4iYXSnIJIfoYRuzX9yHiIKNH
EzlfKUK44zFlhsDGB5gnBz4CWZdOh86/UQO9hiLqs1/sfX/xheb7zO/KC+BFfN0ZvzlyOCT08ESR
2U2CQH7KOrCnDW/wNqxzHyZxo5v3P3+PuX/8uNkymbJREhy+3OHrY5VjzyoraH0BGeoX2UF0i/2c
FEaPG9NBbT6Rn5/Cne/h1t5FUxiLg4DG7N8NYIb6XSRrhLtiroPt7Jj6eeHKpbepb1vRIbTXBbyy
MvbAAh6D2paj42Zb4KnpLeGq/GNlBu4JHRLpFWgq9EEM3cm7jNM+SB6ZdJjXxinoDnXU+u/sYDVH
O+HETgdiSbusLREUPk7pVHUsdfFU079ndqyAkUsWqsfbNDZkwDdzrpKLIUCR2fsSMh8Tqbg/F607
E9IxCQ5qf8yJKVqiniDfjeh0GXLPp0rPcb4fMmf8MFZ+yPwsLvFT8Ov3/EIp+x1Buvo5CIZJH3yS
y3BkyEXTru0atrcpKSjVAhei652fhOPjks7tDfSscn0FYZwzcAbasUksx3ooowKbclpNebulcipe
qx9T65kdZIUSpjNcYWwmDjb3uSCM39idbzHESPuXehy8+84V+RcOshl2gjZJkjcZ8AxCUGncfIE+
HNO3oEsz78raHd/4fVYQ84T62W6xXdFfhUsb8pHq09TFCqYya5vDFEooDLfJzcRRY3Y04+jTiEaI
VIFUyHUQnF55XIZAv0DXwkRk15P9VDEyQb6Uc99vak4X53HrOtHGddxmJV7EDjO7FtPeE/GK8RMr
z1r2QqMvoNh0as7chjMLF6uZ/JDgpNFBp6jlZ1Ydw3dJUvVztOtalTfunA7NnhkiXSd4m/m3qCzu
5CXzn0WciSTX/5uzM+txU9mi8C9CKmZ4tY3t7k530hk75wVlLOaZguLX3488xXbLVu45utKRchUM
FDXsvda3vO2A6R2WEwyqCZNtnbdIhiXVVtqPJBzWxFwitpet+m8qAV8fVmh+A/lx9F/mFEsabi8j
ZM1nC95uWFlR4pmicp4V9qn56E3G/D2VXTyTzWzOP0Qyuz9kyNeEY80If7M5c/37ILfr+pAGo58e
MSQSVogwrcPnQIT1b3tZ5p5CRJnhSLSIgnK7daffQV0g3nFx9Fdl9fND44oqfUxS24KHnjjZlyGo
HDKGYsBeWWswE6WEx+TMT3U3Hq20JXpSBxp3mG+MyDXsxl1khLPdiFq0p/aO3CfBffWTHEhWqetl
23qm4W5dkl/6XUduu0sUZVV95JcANbFSEmS2prHM9p0pAJI8dBmV831DxebfDxw4S4B3WhzpA4H9
5nSF1Rlo/SIwvF3aVZRH2sGECtbQZ5UbW+jsrpd1csjr/tZy+9osiG+IA1ZAHc+xz8pgsvDdOdBr
aYodFN26BA+dr5z5AIuKzp5Ls8BvvflZlMoFwVFTqL8+EV/umggvpjv3p8TJDuPsB/jotQajz/mm
U7e6d1VtPsoYvD1+mv+uX+lyRedQ59sBayrHyYuUjaEZeunPTkCeKTTQzaCqNjLTSf403KU7uI1r
75WW7o3F/PL+2IWahCbQACJSajU5/32YxmtSO2L0/R1pVssdS4OmdDDjrghEfuNRXi7hXIpaEO6t
APXGedtOzwAPWkXByiJ/5hGGw7yzKqo9A0Sjt0jyUUQ6iTe+9FlxYzV95SZt9kiEqJBF7Xt/yul/
Ld8Z2ENgDoJH603mk6jBISyJE3xeeKA3TuYravKs7oUvjkoImdtsEqnOnT5QoDVSjM4Q7oyhkOpr
owmJxz5NzGOYFMMvv4NEcEgrKMrbjnMyLkqm44jfPZA6tDSgDG3A0zWB8o7T3+VJ1d04d7zyMKh5
Wm6wOvjw+Z01GH0AhApjTEzAQzY9Eia5HCsIyzsnbG/1114Z0o5t4UdDZcN+MVz//K/nnmTukKnF
iXc+RpgNEtV8l9coCNt2Mp6qwVIRfzDYN4b05ZxhOtSx6ZBA9nToqZ9eVduw/7ThhDubfpc8lIFF
PZt0OHI+LQPluCS88Y52LzYtCyPxs9+J9N8yUNa6DC0u9jB0H9g1XmwYaRaU5kz2705kbfm7opjy
lZxAdA8ljcLnf544aITbFkk3nO/4kE/vt6PsR9x3jd8Nv0a/T+YQBVzCZJ2BAJkL7joRn90hbm9s
il95u5SXmas8Iov4j/VL+OvtNhL19qytYNeFWR0Nnsh+1xx9KqpAkncsp+GQDuny74c91iF8mH/a
4wjNzs6xMyJdr6V/yqLpmnjkNcOWvVYFNJlN2Q21xCtzFndIsY0tKxEE7tnFKuEbfcOHsuZDjlFQ
iQDtiUNOi5K6+Kn14NzZ7uSTnRZ2Rhpdf7GvfKkrDMLE9MoZjwrK6QP2c5WYCDCSSOpAfqhUP95R
3RePoF7CG5d65V1yTGedcxyH08Z5exbLRo7+CbUOuPaauHIH3kgMTifGgRPoKioF3Bcn6+Mba8Ll
LUKgEAAvqOfSKBDrn/81hlq3KgIXmyrwQdv/7Yu2/iKCILszSZQ6Xn+alxPz6aXOnqY9kaU4WfRM
U8nZHopDRtqgi/jqxmex/j2n3VAyE7DK8DypitMZPb0lypSjJXBERlkFxJzo4/4tacAuXD0ogz4i
s/31+zIv3x0Ry4j7hMD461rnipGRk1ZmdStNX7UKIQtmwRTXEAtNE/m4Up/itJs+tGEC+xMow/Cc
UzX8QnOtIxXLgi3sGqaR7StqRgmCsazC1ISZbtfoIrsjhYf27fVfvCJOLh5RwPrIUd5FmHhuqebI
k3HYN5KIiLu0eqoBtn9KpiYZ3rbU2WjOxqNKt7HpEDwEuSDBr1MO/s7oIA1vFAFT+UHCE38hEMIc
dkOdTZR929r/ryvACBzsvI8/qNJO/hNW3z7PaIUwDRPANe0RCalPmIUdf7cquHFYOADRqR+G2to0
1kAh4fq9vjLAKWJTNmfw+QyJswFu+qXNWShJIygm6Sa3SgTmQf4thmv48fqVXtl5IORh0aEnyAJP
EvbpwMtG7Ze+kQNRo2AMvLk397mtgndDkNlP1LKXd7Vop/cjR6YnhyB7LPRrzHWZgAHxc5MEhox4
qs0QY0HYXf9tr7xwbD5QsNliIhF0zp7CAn40bNKUF45JFLt5uezDBsd4p7LlrUnWNaarJbkxzP6I
Ds++RNLFV4lEyPYPMeTpAwlIN8jmBkCkqTT+/bDIrUeyVpZ211TTLDZQmgics53ctPcFASL+R1fK
/qcl8C08xgoP97YLJ0oosYaQuUHO5r8Epp2WhxLyYHi4/owuty0crpg61iImhq7zwiISLYm7ghpH
71PdcAZNyF5HRgeZoSpOg3tSjhVJIaPdRw7GoyfOhuGv6z/hlSmSn0BdcWUA2fyW0wfGEh/kgQmu
l5dR7rvKUL9cUp6+XL/KKxMkLAhUqeF6niRN/vQqre7RFCxxEtVywblRTKYRgdJPd74/DjDhJKf9
61e8/DRWiVvgUE8L0OasCIqTZabUDal8XepGAh6O5OTcFB/dxW8fUUjHe+Cj5ju4mOHB1U13F1Jw
6zaBdElm6XO/+zAlkO2GBVBCatLHuv7bLl47eHnKmUgkaWY6BB2d/rQWPoBqO8+NAvyCK8tU1S9L
pTsZCQgL5qGe2wB70+DI37OB329nlR76les/4uL75EcgFQbrwbYq5LB7+iO0HIyyrFUQ1XM1IYMr
lzvk1Ih1IGWCMtT5PZCnLLp+UfuVW7fpIvJl2pys6aaeXhVb0kSMehZHY+/01NEcZ2n37Fsxu1g2
ZIAorDwwvrKI7fdWHie/UFv2PzxIODjJ4oZqGya533peVoqpDbiAyJvVNUfiTPzNqkUj0LaRdway
qph++xMSeeb7osNSlsXqeVJO98wmNkUqnmkcnlWJsnnrMUcfgnQmcqqY7fk7+VS1iPpBmu8KYov9
7YL1b7lTxLBgTSFDhnwRjyAZ/Phx8o6dsnLvAfzb3o39yyvvKLSBe3h8heuW9PwdOTCrGrsD2Odn
OHF12b0dPFvuHRKOOL8le07U4a2BcTEjsJGh9mza/M9cV5fTV6TBJ+u2bvqoNZP+WFM1njaku6Er
uT4WLtsq647J8kLOivzLGnZ6oXHymqYxF+4usE1IeezQjNmVByfrnAj6a7vLwl4fw6TDUOCO85a6
nvn5+o947QmzAaa+zxfAJHh2s0jEVuub00WdKYiWT1MdMR9M21n3dpR7TouvmNF349Yvjhh8eYLW
HDUDpn76B6d3bqITQrQ59xHkJvuuWjCjlMJI77wkLqIE+8JBd/23rurF/b/e7qorQ7BBFzLEZ3O2
PCYGbI8xN/sI+Xf41aKbtM3xONsQOLNygfpqZdvOhPhxY12+mP+54XVAMSHzD2650xvuFmJS3BjI
SWl2+dNM9uxB2bm4U0NpPkxlNn6/fp+Xasn1guw/eLzw7NiBnF3QMeKBTOw+SsNc4CwkymgHPCRu
V9FE8NuXuDC8rCtxZ5p2228Lf9DkEhCoBuukE+ONF35py1l/j0cFTFDnI8bv7AHUhp9gKMfUS9xf
DcWii0HbbFEij5Ik9BWwlSwdCpoBF0kYTQmm6q1blY5FoHOLb9anMvQguloV90FL/F+ER6UH+sDq
4LGl9kgIZOY0G6J6J7rZFglmv5YCPdE9Yu/s7cRO8T/DQerPFtsyqD0VnQAYRDV3B/mL7XBep87y
Bv9i9tUYUWJsppR0AwAOyANza9I+rlfBjyrGFLbJWMQfGTb2CwGV+YAvvE0+CyOfG0y75AHSHgB6
sp2laOGEITE8NLJNXnBcQOKeMP3uTNpXxxDGPozzFr1mhCXDjncuHL35Z9xRI4wmpLwHi94EqT/o
hun6ZQRspB+7sE8PfpG2ACLSKamPcQq//47dsYTSD+kAsnWdfSLRkfo/JqDFPuIqQByk7IFclFyN
/pGGLjTh2C31bx12XRs5bYp87vogXMfYyV6Ud06Ug88ETm0Qzc7pGGwk3aQpbeqoM7Q6Ilryt/Bc
lqNLtf7Gukpt4PJiVPgo1HP8pCEmzhbWFvpb5koLFj1nxuEFN2b1tQgq06S5sGrljMnwv3NEjfEG
zbhq2R3Z1oeKdBa9Z2skfmRuD3wc0VxNiNWiut+mNcTGLhDGoh/GWA6fcgqq/l23ahPvC0PM1pup
qiC6GV3W1LiAfPUxxJ1r7joP8jzIeBIYcSLn1YesEDa8BsiIhObNHEt3CkXep7D3ptVw5+jgHcgc
t4xm17PXBMRMQKQTNjad0ce9o8a+GbdKYMDaQqcAe0tzDwGUQ6q7+8aFZdUeOfBiEwYB/bNIq2VG
jT/CZC6QOz6bWgsf3LUl5XYaHOSHLhblDzUzgcCAndRv6HNK1H1t2Lf3gJsIE7ChKtWAt014kZI0
wf9yY0BlNg5ejY+oTEZv606eD6e/l2qfz3SimXNcybY2IXauQmXobPH55hMWaUQhO6/kXLiPRwI/
SPxtfYrD1VQd09KT1hbjj/kz9ZO2fHGkst3dPAjKwpSTxZ2nPJgmGo9vs0GqiBiGqFHjJ9uZxopc
LeUjlvLgyzRQqeLvNFPnySFg2946qHDgVTqujp+1bBsThVJO0B8ah+Er+ntH0cOx01+9lbfBhzmP
h/mQ6Kz3kPJM8bApRjBfXLIz3PvGnmIgDkAa5L5LSO+DqDtMxUeGdp+/hVk+PRfSN4tIx9gbdkMW
LjQJ58bZ91k6qZ02e2MiBVnmn2dbps4BqULj7jyy8Xb+1FUORKeqn7YiBkC2tXKqc38yJ1PyVg3S
RrTQfXbo41Il27jRMVtH/nEPXUgr6hASQoy3zixH8glTp/tNzzEL9tgwQbfUJO59S3PYW1S+TVqc
cWIvTzL2l/d9K8QLfGCzh3smM6i7Vpi+uEadyZ079/3H3JwxF5n5yI/qY3pNgL59/YS8RX73cE/I
TTjGmObrXoGt8lVGeJlCfrUBepSGG+h5Q/3cS7Amz/boAbZ3M4WWGhClvcuKSb8QqO5+vD7tvDIT
rAYX7C3IYthjW6fTjt12rARWP0ZUGKf3UxgndzqufgYY7p6pIdzSGL2yl1lLeWuTkFbPBTxWEmal
gXwD9IwtEDd0OTjLzQYAOnRWkJ+E1e7xexZ3FYq1t9dv9XL35lKsCVFF+msh015/21+lRE08hGDc
EI9dVQmFrmTZrrqAI9B4lEfDbL3ASV9urOWvPF/OyVSh+elsZ6yzi7pAsxvVwsk3AqJDrLpxoxwF
5T6g3PM5aSf38M83yfXYh2O1YDkJz97nODrzWMGiiECzLIfGsznzQLuO7Kwf7vxYeRT3ylvam9c2
UPYarL6WsdiynYvzDVN0wh6oEBmDQfYKe7vpt3ZaTGp+PhnQ0qYqv9fNQkUHhflQfArAubRHdF/e
S587U/d/PHVOCiAqVwkuh/rTV91Dq620B1LON8LkcwvRiXRZgm8GwtCjrp5vfUWvLN5rCQmfOM1L
WmZnR6+8V5WR+c4YWU2dvW+hk9whvgnfoLhJb7zgy2ounbm1zU6zgW031u3Te0ubxJ9s6FIRx1cb
MArCqob/7y5mGx8ptxyiok2N/TBkJv0ICSimMBFQ9u5E+AYkYNIeYde3njXZK/W+2YG5KvfCGtxg
d30svnJmI/OKLazrWT59mD/+ir++uNET1DtHR0VJ3xef8dHJt3j09EeH9FZgjpOcvgIwFlFi2O6H
kCboMYexfuuBXVYR3IDn9EcGTQ/sfDBg4Q89cqYVyiRyVA+wdmX5sZTIEqICjWe/a3PdfkjMflwD
MbI1bqvJCbWxF/OLZNlcTdIQ40jsTH9ARBT3S+ZMPkr/Yg2AnGr1BUV0/AH+83Jjcn5lxkLCzkkA
KTsFoPNCWJ3KFE7lQgZGOPsPI0rWaCCy40E0FZEwaPrvlyUvb+wO1+Pk2UaU0jCnIc7ZLk2ls2/H
kMgjg4Fmlh9Aj7PcqvtcN9K+WXJbv4mL61Dk50BvA/c9Zw+gmyAJ1V+lXfVIckk2k/vS9ZZ8CvrJ
QWfr6+5Yts2wLxKnbfbrBv1NbMbV//GM6QajY2LODGinnX5OYckR14XQGrUh0gZnEiahKUm3o0KZ
van65afJyn1jr3+5KHC4o71OaYvqCdW902si0ghDWXDNlMjCu2JM9PcUuzKx9XWVEIIR2w83vsT1
bzx92JxrmXaxDVNFFMHZpJEVnjeWYmGZn9PC3Dm6dQ4JufHjjkeavDOTAMXbkltI9OrBJbNjdhLz
qaXS/J+Rj+avGz/n8t1j0ODIzYq4upjPJwaqCGXcajVFgUwSbGRMEfY0lEcDINbR68EEVJVQjxno
rR2chBTzkiO/Xv8Rlz53nKZsRQS7Adpr4bmyJSQVrNdQZKLRJHAyagiEouFfVuGDDr0cnFln8EMC
fM4GR+eue24XAFQwDwPn2Zcu8ZHgjlS8EV3XfY29uS2ijBiGeTdTt/iqyWVONh6cubs8HYvpqDpI
rJx1E+sWxuOyj8EcS1svpNZOYwBH1el4UhQiUqnaKcJwVNLlX/pjCaE1Y39l8+y0OTPFdtldTtUy
qo3UhIRooMXf4Jei1gmmatMMaX3n98SXpwl5U0LZzfH6876chj20DmsHcp1W1sjUk+1XM8zwPMoR
9CJ7d1o8oNeHCqJ4i2z2PU6B+Z2qRnFXon+MLJV1N77zVy9PaVCQq4IZzjv75qiTZaD1pQZipIYZ
6KUNUggAoh+/Kf2ahM++o7WNxrVwgW050KtW+Wls3NiE/mm2nn2J7ELp9AHOprVx/hgWNygo9qFs
YRVqgse+WrLkTWqOo/kWNSo2JHju7ruYYu7XxiBQ/cm1JrKihrQM78NqqPKjl9g2SAbgcASYOkAP
o8JcALC0uiV8T5mcajchuVzddqbFat3ZMQIE3IeJ3eL7To1vlZ1R0q4E6SCkMjgAqujmUtg2JwPT
dQkZFchiwlsgBpW4nc5NHiRUfpDaJE9zFJGtPFpEHsX7agK5sfVDmd2R9JJRnE1I/tzUebL092rw
+m/BMDefu1g576WX5PmnKXZIOeN4QHSrZlscWIXTHHQQOuRJeVW4pa4tbgjnLndn6GvwIwmOHogk
zndMSg9UsJTDh05S9xvCIDDi1T2D3Kqr/fVB/ue8dPZ62QnTKFlFPSwq6+r615ZnChfIeWIVbIVW
S9CVMDmK7hokW3BxMwfsXkJ1o3wyDdlyAJdwdjA9EmP/w+y7VtxV3tgnHxmKtCyu/7RXFh16hhiz
2DZSuj4vIyNPHNu+B8I5Lqnx1U3I9MKV0H6fVP8FUMyyu365V/apPk01Z5W4UbQGwHL6JFQbk2xT
rTUmaeNJ3uCfZMDC+gdyXEtVjHu/ELV9Hw8D4T0h60G3U2VdmGSO9sQkhlhEyLdTCiVsDVDQ2DTw
uz4yofbqnYrn+J1C8e3c+NmXY8XHLcdaSSuQertzVobzw3Ty8GvmtBli+kUZaV77sZumh6ZPYu/f
L8almJQsVBkBG5DTR9SztkhtEddmmq1/Hy66iwK/rAnXI3f8xuu4XHJZ5NgErxMgZT/vbFsXdpzc
cGIt5Kkl6s1CYNAXgyr03ik82WwGLnuc2GbuWTQljtc0+YRYMrgxBi83tBTrEUutLXdOSsH65399
HX4cWnTGCawlQWb5gYjE/ziHkGE3XdL4kYE6VyH+BmJ3Y+3584mffJbE6VDxJLDGws6NY+L0wgm0
IxW3UDG6GWfZ/SiFeOr6BWidW86i2Sdd32SHhHLM1yxR9tdKVdlH1yQX6yCKKfhFgzd5RzYeD8zN
aQyzxqPHJL+raedN0aX9uFG+1sjVYyZyA3s3xuS2lzEoED00xNGXbryFg4g6nTwQ94djDMFL3Wk5
7hqUd8t9WgLu7uaUOPnAWzGVLb/sl0flHhxkrEYyrWgr5nd97yef/nVsMOSRn6znZUwW3nm/AdPV
jEEuINiYMLI3nQxBEqai6cyHPkuIw7VLXR1FgA3MnByge+kokgcHQc7L9R9yMTx4S7wg2vAYwv3w
/ONDgZk4lkyXaC0LkkhWl81dN/TkjefTaPqbYTLkPlAGXJPrF14H//nwQB9u4UTmSfAdnA4PXbkx
J3dHRLM1JdX9HFskWPo4ZxD1j27+qUm8TEIGCcwJifmsb9z3xaTDfSNxQ5lJ/9bleH96+ZwEATPJ
ew6eRcGCG7gzpsTMJJmMStg/3ykFML51PgZ8fhcWXUcijKq6JZJEjqoNkda62EhvniIiHrw3GjZ3
pENcLNBb5eH6tf+I8c8eM7JbMHowmagVnfc40lRwoJONGUFOwliKOQRmqhEW7Zs6NqtgN9M+howf
xO6xSFVpbB2QkpDz/SxLjiw0ZK9yihHwPmOJdU7ohaSIpLCyKJkdEi9hzTkfDH5+sNMg4AboN1m8
L32zJmBG1JaOgnqyGiCiNfhYS7v/pVWCUT83W/m7iVUeblueC/qPruxvfWSvvGTHQWVCigPPnwLk
6Ut2J7MBdumaURiMkCuFYZo/Z9tPuqcxkXQ2QGLVch+7/vJdVWQlPA4Y56dtKPy5ibpW+4ey7xy5
WspgeLM/jbddVVDZuv6SXvkGV+msQFBOCC065dOfiVG+IjVibRb0CbAA6APEDoC9DuZHirPedJBY
6MhYt5Y4vfEVXm6e+Ow9F0IOz8d3PHF2RJhmv2KWJjfMnCqDiAidBp+UGvTv0RyZF/OUGnjgULxH
IuQ/Ucztm61LQPNXUNjzFrtveuNruaxg8YsQalKwhpDIiD2bGAKQzlkgGLE2zcT3daX03cJKYe38
KguPHBzre9DjhMRWTf4cqoXc555d3o13cilPQviKuwU95FpkdM9VxiYuWR4GeTY5Il/jviGrON0i
oVLNjk56/KPxoZBsHRepvqoAxx4JHUHLIjAe1hsjToZ3TGkQIewW7zh5KNRwb/zEi92lzdkO6qZt
Y27wLwr71uilQVn7TmQC+HyqseQQhJGZ78d2qT5Bhi++Xx+mr1wPxKLPjoZdGhvMs68JA/6IqlPZ
hFc4cbWVTh8/ZIaRf/WlIn6HzE9H3LjFy0UC2S4Fq/U92CgurNMvY6rdNJFz7kTdaMbbvg/TfCPK
HLydrTFrZBl06jiLF/i7aln+tWTEhMlbQQiynu8JXjq9eJuPjRsALY6aEavkgAn+W88ZumBnUQi1
nVNrsW8M/ssJCyP8GtiELwMP+sUGfiHj02mlG800ve7xJI3Vri4646HzUie/cXB65X1S4nRXMuQq
e/jjdv1rZ5jXFo35ueRiwUhdmvhboIKFfNRp+RNBSHNDtn9+OZ+HudbfWASDlSV19jhDX87mmLZy
n7k2xEk4kPc4QjRp6lPs3ieo2m6NnvN59c8VQdeB7FuXeKi0J1vfqpbMnq4wIqZs7w3u+AESQVs/
E4MmsKVb9ZYI7luSUSrt/LV/L7nrZT0a/DRmQDkiOD+9rLKq2J8zGUTQM60ndrFhsy/mdn4xR0Rw
myYciF8RMamFiAIozkD4M+9D2sADMXgxET2Sc/U7eB8Y+ZTX24Kmdp3fVVaWPAPkJe7Rq2y32epe
y/dtYlcfPPQBYDkF0aETDMRpTybHaiGtkv7bQCrhl3IeIOcKF8b9hrmTXAQQG4J8VyIjD2lNFfJp
Cer211IWfkVkR+LvJzQm4r7P5vHeqlofSIVKk/+SFEEBzdMGprggYa7ZhnqiRk+SHVuHoJfZJjCa
ZY24dnFgBEavvhF3kXZrw1wqQlgNCPkesvdfjJIxJkydzfU2rWm96xrT2TZxhvpXnnSoVjJmUYK/
Yz1nUZ5k3HjXGbGzQ6dkvAtp/CZRrAkz0a6Sy3ZKq+EuJJm7irLcCeEuGXb2gwMCrIyKgRZv5tDr
PsXs+uoobi1gpaarzXFDe5u63TTa+aMhUqwd+H4TTLyFhRk37UvUhL3ZEY+uQfwvT9B/MoIzrFZx
SnBsIvwkpco3HX/2TAYDJNkQWLrczlW17vbKtNUcsFr7eZkQJ+xV3ahfXh+wGZszh+wx+rG/BlVz
euHQG6BnG2T9YpWdBoE66fYBV2UMFl9SqAUUYia/OVSY1S6bPTDc4ziHGkl5DExOl85Cfjdn5pGY
jdz/4o/ClMesEtkxtvwJNqaJim3DLqNBQdqJFT3nwHYl45fwwC2r/Kw39GeTezoj0uZqtAw3YF0M
97OmI47YQ9GbwetLsOgmlCG9xcwaiRG3R9OTkLcMEm7CSs0kKSHd+bmIGF/6hJ/dAaafFo8jUm0Q
YuPyO4tj92eASKQgON6h5IahnqhHNyRRnipu/l9GJJERmeXk6e3I4ZjoYRgZP4j2TUWkLeW/aesw
+86Dw3fsGinz8vXl7qLEC8SPqmlAJxk/BIvQWalgXBsY2RSWe8z6M0IZ7fXoWBPFaSVVFiFHRBGz
iefs2/wG1UaERMx69APDh/R3Tj+V79I2xfWrmzo4NkSjWdskCBaQIqqyjBu/9nKuQ7PGWXg9THHe
P29Cu3lfpnbcNHsagKSCt2h0UySh34gq/qIS54WbFB+vP6A/rq7TiY5pHN4TRARqThxwTie6OgBX
MDYd8WjeCBPGrmPCg/JW1FGT9RzSSVDxqq3FUa+MHKNS6NAMiPm7yhp6d9trqyX+ksjzj2hNiOTx
psGL33otITZTPDM9BnR20QP6RfApRSNc7rzZJPFIg0zodwFStHcpCvHh0dbhQh9jrrtdD/xkeT/W
iZ2+tRJb4/BxfNSiSYrFpiQlGqVwnIM/ceQvOUr3C3FeSOxSK5z1fW4VzbeFdhTYVTlQofeDgcKu
UAn9myCT1VNqzMN3Ut+ksaewQKFfZCZhHIPjFIeKR/yecFbqFcRslP1d3Ff+Fxb7Sd27CJxgUtB+
/TpOigqan03pY+igauRzLKvfXZIQ7KvAOEPAlbra9W1VUzfE6XMoEQ4Z6MPW/BoI/2O9JZoAOzpf
sXppZnOedomdjwQndd5IlhzhbkR6t2HxaVggZBwmRGTtZjDj8tYZ/nLQebTxBEUpPMQrd+t0ALja
0dVEp3btFIr9YoIKqnta4u5AYEgHW+lQzE73j3skllcew9orXdvLSA1OL+r02NIsWIB7YdfNIejp
LATa0JgBxPz1+ghfB/DpAIdRSQWXjiE7Fyi4p5fqpMwLmQhk3G1n0LBxXPXGaLz2RkTk5WN0aEtC
2cVstxbrzjbWAc2ixSOpeW+jYjAjQ+bxWxQPfrslZKKMlG7Tt53p3ZKQvLJPwcLPGYJDJ3L/82Mn
/BqD3k2a7Aclq0jIxTxCmbKfKMT0T+QJurdm1AuRLa8OtL4fuEhs6UOee8x8u9WVdOwYeavl99/H
ZR6+Un1ruihMjSx8CMgUPpZ2BY+vA/rwAjMHW7gwIXZshzaOi89+760RtTRvnvIKa+nRhXfSbkFh
he7Okr3RbPvBND+ZYWkR2kM/8UeK4KLeV82M7EkjQQBelWLcJ4wa+u9GV7n9YPBpqA38av2W8rDT
kals2dU+0K54Q8QXsYo6K5xhY+DVMtA9lhWhpjaBf2UZK8JXfBRsLL/C9LZ2VtifRoMs7Q3W8vGL
l+sZUnlr+MaOXiKhkY1Qw0AbUOZWVIBXb7fEPTcfRlcv42EGFbbssd2TyGTqxvze1D4BzDPZfmRn
6cxHYhjbab+DiGlOHIAqgk0yCbOly9GybXJyhYiBrq3qKSZ4Re0E0wj8DqJssojWx6QPLJjhzy6k
M7JZXLogZCKF+Q8tiuqxaEIxHq9/QxfGQpbRP5gIVlJqMRxVTz8iv3XnmOThfL/YieUSQjkRFBB4
Blx+FywJST7WtgOHvx+T2rzrl9HYhmMeT9uiDsDBEqAoiGZp0+FXVdkab3EzAaOn7lAOqf5gx47/
EAadphQl6nQ36yXYhJ20t9Cmqm3nOfMTCMhK74DP49apx/31+/ujCDmdJFgF6SkgrKHlxTnx9P46
QoKCQYXZ3s4IhNsRLmNzwhBks8dei3hSza0PKUcVR+ZL29qYs+d+qpHAVgcr8WZ7SxqZ9d9QEPJA
KktnlU/zuiSg2mKbz4lM1e4jntCctE9RstexNVjjjZWXWCd5X4rttIir+m2o5PBIPIKedkFjZ3pb
zjDZ+a4N/9fQFcY7Qr+9n7ZXwqa8/gguJxKootB1mCQplwTnNaQZW6dfkZ+3d+e6utcLaDfyDdHD
CS88UNeTN1aAy2mZ660OdxwLmCTOy3pqKjqlmjbfW2WSmFCNzKp/JApoOVy/r/PTOCOXaZESNRej
AnTOqyb8cIJR72Z7BT3pMSPZBrJo17/VnaV3/3wputP2qhihU4RZ9HQQIW2lPOfOxb5HxHkAroji
vfcCUn9s44bF5KIkzG1hu1gLOdT8aYifLTexJTGlBmm6j51kbB6q0UvuJd3/8GlSM30XjzmVg8WA
3j7IRo9TXJE2UI4E2bKbfPGyY8gaWDzFRGBhhHQH+12YFyOz8IgUbsdI6Yh0HNoOCoFhyjvHU+5v
RSozBj5zhAFEHWf83LrOamwtFzo7mob0sBUk9ZJ23NvEHc8UPt/EvXczFeNyrHp8OH+asqg1aQCe
PujWqNHbNkO5h64/V1s1hWP4IfYN48EoOk7gRqAm98bLvUBeU5xb+41/iDWoRc4FT2lZmKKfpmqf
GXlIOOrgWoc+692HkozRe6zRpCOmdUVMsTf+cgyp9bYL0m5LsJ97DOG4bVyono9dtVgjxN2VHB6W
Bcpok/iujUUK3o1J+3JHguEVhCrbO5+twfkeKyH8w1tUUOx5d/5hGmyQUUO1I3aUlrDflQ+Dnww3
JtLLry0EDrGGR5jrv+cnmLgJ8pItbrfHh0HINLhC91PlFyjCGlph1z+3dc05nbMxVGI6QgkWMGmf
wwkdPINgg/qaUMgmJGy2j8K62GPad9ltleFTLYXeYsUQNzaUF/dIH5g7I1LBNdlbnSMdtMes1cxT
u+908In6QkZV38mdvVZ2+/76LV4MdC5Ft9f1Cf6ymWjPvnIjmLGJzSYJYCABf9ll7xwoJpXf6f1T
nfHlckvvdt7tRtYFVo4+kwWtIuRgePplOUzJQdfXzX6A/vkhict+lSJjCGz6djqUrrnSdhKilQcW
jHtajtUeeFpwY3a7aB/wM1y20CRoIDTjAH/WTCkL1UAmSLp9kqXGj8xUwRbNhRdpF4MXNbLJeXDq
zLBxEJJfNwrkUDqomhuf/OXTp9PHd4P0L6CLcC4P0zR7xOIuRMwWpn4cu3DZ8fCCO7OQk+BXAGe+
sQhfDGmGM4eCldzAisjgPn38psIVE6dpv4+JbToWFoVNzDLZoZTz8uiGJfkqI2xrWnTFDbjG5aCG
WkQjFakPNQDUx6dXVqPtdAukrH3qjbmJQ84a72uXwzUboCy+cZsXMxO3ufLh+XZ405R1Ty/GN2to
/MP9Puht+xvyAvPY94KUcceadiGOzLsZa/SNi756hwg5Qd0hsGGnd3rRTtm0yMnG2gcUcHbCwo3f
NqF1LJp8uLG3ee1SrE4hvRLKi+h0Ty9V5bAfpRX2e1sk3mYc1TfQe+qL0/vy3b9OEFSofehbYCbZ
vJ0zUbChFGUzWWwiE8O/19M8PON7/55kSTCg0qPwcf16lwMUbdK6CDLj2lBKzyYk/MEGHs4BaYMx
FT98EhK3/vI/zs6rN24jXMO/iAB7uV1ydyVZlmzL/Yaw45i9DDv5688zPgc4Xi6xhIIgyYWRzM5w
ylfeErr2wbVo/R70qTAamGkNOvKz5b7cHvz6PELkhfimEvRI3bpVfBWnLXaaikuIquXuOebYf0aP
vnhQuCneQYn8D8Nx6jWotBL4tca+kAhhs4UZ9GlpF/OtubQzrrD0rqzIyb6NaAscb0/v+lRQDuAz
AoL7E7Kudo2M6Ia4xiUVC+P4ZPf29KCWfRiIvq8PWqspb8rJ2INSyQ928YgijEfiI8EjAAGgFl1u
1YLoYwJ2yLvZz/YpKqbiMI+KNDoWtU81ziKPo0XamlX+aNdDtDPn65PC8GwmuoNSRW7tp1Y7s+fW
ZpuDDtKzZ6V20QRhgwUeTZSd23xreREtIcmzydGB1l3ONGocfaRul5/GSRsey4z8K8wL9FTjwv2J
WtIIkHJXQPmqNQ+ADzAA4Rf9Vvrha+QWIBxnURYrP9nRWGGPjmb2eSnoggCG0u+txcBPAdFSGhgo
ir1N8rQ/1IVn/XSxOfIXtMp/3N5k1wcYLBvFXikeB4dAWkP+jSQDzhWVPfKfGIar1btyhnzaG6QE
mlkgRuW28dFpDSXwqsZ99aeWRQRUsuEssMW91faOlbJ0MeuFMlNn2eehpaJr6VV/nyT4at+e5BWv
CkEyPjKgIHr5f/bV5SytDo8+EkoHyynHu7MQ8Hmid7S8k0Ldd/lgGc0hrXDsHVMDkogVQnPKtPxz
Xqp78JWrO4tfwh7wpEQKQc36RUf+x6kLa3BAi4PFqfTpI13u5P3cRvhXFaa184xffV4PApvkJQJB
IV5c4y7ytDTGyLAnPOIm8QGExuM8aObXbMyKO1QJwndm1Tc/e0dX7m4v+fU8wRdTQtHJx+jSWvKH
/dWHZrHxSUoX9ST6ygL+RiJkIuf87GTRj6zU91CyW8NpIBgIWbi+OGKXwyXIvepVWmunDhW5QwXr
+Iw9B22pkSbP0NfKP7endx2RUs2EQMxLgBw6GKzVPZl4pTrbyqKdVAow70xvTJ/7CGPjKiYePsz5
IA6hZ5Mnp1nxdY6LyW9VE7W+2z/jinshbaBMsAzgN2QCsr6uo1qxCnwZ1VOL12D5qUUB2n5S61T7
Ci0ECJo3WvEYkHF1JkLMeHzjzDTXjzQCO+Lk3Fg+Y6I8h0cRGtpyUAQOzD6uMQLA9QzhBkNlgbdz
iThvge5ziNVUGUHVwmkhRfv99mSu9yoFYuAPMABlC2qtl4kGTJdb7aidKvDlM6glx/k0A/F6zhQ7
vDPwZT8mCGsFuY3d+O2hZaTw96uHswisc2Js2gFgU9a8ww7EQI9b1eJno6H7UeXaD2k9VDtgifWL
I0eR4nF8MVBIVx8L4yfdbGJ18UtNX/5JneR7Odn5U5d4Ct7nKNuYcbOn/XP14PzvoHQ74ULB1V3r
14+uCQVhMBc/Io4X9CFA5VahK4LJjPSPWoNiWl7DgPQBhSUvVQdWefHm8sksq+bcJIPYuRg2F4Hg
icibNxeVqMuTak52FuMhooKTKLlnnT9+uKzXDE7CRVaiGIyzAMSyc1L+1A9Xn5guHTLvRKvksn+k
HP66kKwibKoy7BZfwVfyEBqFd1bwK/9YmlX0KxVANtIacYN2UKczTN+SBqCI7nNpmI7o0PwE5Euc
vBDksOmUxR26iSCzii7/OkUYaES5G++8j1e+U3w50HKccK5lnue1W1hatRMq7+D1GrNzHm2DZniE
Oh9aaUoEycRuMI/Pc09FliEeT42Z2QF2rs7R0VPlI+BJApou3Ss0XtER5K+SmEIQdFw7XICX309T
KopGkS5hgt34Xc/bAQ+WefA+j0vlPlRJqKgB0qtaFMRKTynRRNlFORS12t9P1D1pqZCoY7ekKuqz
gsDg59pOjHeUBpMBL3vgHqfbR3sdUcrfy9EmyyN9JnZfXdQDUJ+yG7IZGF3SvkPxO3nocUcJetve
C16vHoU/Y8HIQglAkhHWTmFjbhOlYWSPwfPSfdQVp/yoKICvonzof4pINQ9As1K2d50cZ8VpT0tv
7wnirl9C+RtINCVMSYYYa+KMHbVcXB3qu5Wx/FK0hIZfgzey34D9/WaVmbq3TWUNYnWwZFRF6Uu+
QXACLjdEQ+YM5Zm701h62vvtHPsKZYU7+p44dWFThHlClTn3HDn9XAC4PWTTNItDbYTj+9vfemPu
UudMkuIA211FAYOH1GQVicUvaLww424JotQsH1S1nRG1XIydFOIPyWw9d41uBYk2XAj6oJdzVxAR
Cxlv8TtEju71EUz1k1VNLf1+iKD9wW1DUIa50hLg92Wf2n4EdP1Hb0EjPJi4GiF3ZaQNQiOhMv8c
UgU9lLKPERd1jEU5T1w3yhlBkOY7Btjm+yifCjZNVHf3lt1Z487VvLV84AbZvBQyuZtXQVQ0t56F
EtAMsqJUDu1oZ0+z67SHEQy8v2Sh+coWOVsVpAEdcriMRFDrGFH0WPGgUD77wsl+9N6onnC1tABC
iALxvZxLIhfL/e0tcnUdUH8hHLXpWhJ9oxV0+cXEEoELQ6YHL0HTfTMsBQxAN4tQlNH3nFivXjo5
lCwKW3RlyPdWIbCIlnEJFZeh9FZ5xLdjRI68nCGuWTYia5V9XKq221nTzfmRTEn1ReldJv/8r2cu
xDzaNDKvDACyiB+0puOgbVTkcaXU+e2lvAqamB9CeRJtCsadz3g5VJOy/SfUsQKnsquvKTqzvp0A
itt7uTfHAfKPLjRnm/bF5Tg1zj6I58LdLMJweaAYQt3FY2GDbEnCj0aYlT4qKPV3eyiG51ibQa5h
j+aXdoE+Stg51j+dGMxThjLLzgpcHRhM2OFDgWSmfsBTvYplGl2MeoiuPNVDw3sh6ZuOUF1mqJ4z
UmsoHe2U4zc+LkBi18YQyKSvuOb1DJgv2UkFkEhUjoMikAYODQ8eP1q8vY+7NTU27Z/pcUTXt3qW
pDOgKc4JftyA0VMwm20U135Xtfm5njVlZym3pkZ+LsU/oLIDbr/8yHqoZrkFbyHoaUu+xAWudaVT
ize94+4VftclLp4GC5EV5gTGnh7wqqju0qBXTSRUAmhIiKGOCMejOj4ZPzksxmOLC8sTKlaDchKK
lR7VrOuC2wdnnejIH8A0ufIgEQLuW10MVaeGTlhii247YnoLrkN5LptC3EnTzqdlnpKHEVm3mHbg
VJxuD30dvsmxCYFlGYrjtBa3JJetOs2GszqmXVUdbbNPhzN8DcyyibzDO6GSez1QiaCxG6Pz5JxD
sxixWQZ+a/7OllKcHA3V/bdiyc1PYqY0e2gXJf4eIbmIjimUm51XaeMavfjFq88VFaUSNeT2AaYy
7Ytjz8M93LIU1qsJYBCJ6ZfBJDS/vU5bg9Jo4qCRMrAp5fH46xq1HfyuyIWrYPDC5PfcNGhvaRl6
O0U7PoPn6U8RiIXj7UGv6ClyY7AtaStzqUKTWd0nqDlQClSKKoiF5sXfEg9BVl9tuzB9Y5VogoJF
BcwV1M1g3udxm31vF6tLjpDcp+ndiF4+wpKdwMPPmEtw5i7ksJfbP3Fr67IehDpk/5zS1ceo8hRU
W0x8M4yFc8K5bzq6A3qDGu3v30MPNF4VZnFy63zPhnfrQgIYIVUcpRSRtXoFtDRRzXzOa5zBjA79
QhWVGT6E9dmlEo4XrPjx6plKA3W+v4uyyhVORGDklceAoYM2E3rQumaKf2AV+thvqsdiin9VqpF+
RY1xzyFgY6J0NFD5oQwhdUZWNyEaO0lqUYwNigiPPc3sivs+z/pAVxTzHGnmnnD6xvNq85LLcAE+
Dn9dbvXRMUVYhRELS8Cnn3rXKuN79FZ2tVPkF7oIliFMEp6TgNOiAli6GqhGHiZ0R7qyoSGRrsuc
2uehD9vHsWlHdGsm5SyUOvPDmIbqYSz77q099XD/y6iwD1Qq4sOo6en7299546QDiJApIv9iS6/S
l3T2kNTrNWQNAf8/9XqX+QrQ2LuyCdsP4HyNxyatPt0ec2vJiQZgcMk2C8/dasmXLNdLvFDwtG3L
II9y+62jxGKnnna1kQBxk4kiVCAvFDLgy1HS2tTGAqlSv4/S9EnTghStqFRCkvVB63cuho3BkJ9B
2w88JJ/4TwX+rwszSSkLKnR2+Kxl4gMLx142rKCiTr360ANP2nlDt8bjBpJy/xC6qKpdTs6p9VZX
B8f1K4zawZEO3pm+qP1WdUvhi2TcRTxe7V6AVZKZxwYGiw/e6XLAhQaFo086A+oKdB4lj51/AJpM
0bHFTBYr4rGp4sBaatSb9Qh5sBgWhu5r8Ay8I/Vo6kuV3hhHBWNaIMDcZScr6ePyhKtr/HsC0unh
RRaJozAQtT7USZ09jklSD2fcUVvvoEROvaeycbX3mROJEKIgYK41c90dMBDhL8u6cH3XUiC/6UD2
keuBaXgs51o/a8hangxrV1vvKtZjWIIfKhS0nLggVzdcbvS2q/RgOLTZaEFATjaWZl1pAKfQR28n
4bs6a3IwJPUs4g/wwuvrrZhVBMQtBjOlc9mdmzp4WLTlFO0pa28NhBwIBUYsxXjHV493rZC8C6Xw
/KEE52p29vihqqzi8+2rY2vf08mR5tDcoyzj5TYc7cpQ83kGSKw73QdtxIet6vPKXxBUu+8E2le3
x9v4VpAlYfhRPeauWufLTdwPsM8KOF1lRr2xL9vqsUP6WDtUetX8vD3Yxn7k/mDt/uxJb63jMcIA
SlJsutCT1Nq3mjH/XowxPZh11t97ZV485mzZnfByY0GlEjq+oMB6SORWd/GMQBrJjeX5lTtAmJsw
jM8Au/oKTp0/l0HfgxZfF+Tpd4JYoP9Lu0OyQi+/4GRlGHJQ9PUXFKQgxRQFthck56IvCPAyJPCj
HMeWrqEhMDWOgJm7eGd7bIY7pBD3RNE3p08wJ38OF/caBYOAUVj1ehxK2EZ/LoYK0pws7Bax85VY
Pjnd/sJX8SOTlzEchR+SDwpNl5N3cPzIl5hbVClDS38gznaeMm8cHlPkNH4u5qLeidZwcSnRemNn
7K3dBcHSxFxWhjvr2NVEMKUbHDD4aYhFsoX+8qNIYOGVRdO+9EU6fsBIeNojdP9pwV2EPUwZxig7
DBA1nfbVbdfSQcAZLQ/9soms+Q2SNFn/DeoQAtt9pUxt5cOdndEJcL38vdsCO/fHQev+UZYW593W
VJwJUiEUzbPrILzl61PofghDfWz8hOynPCcx7e2D10Wd8DFh8YqAtYXjJ8Ip1n8uhRp/TIeupLwO
hGTwzcFGbtdEFehY2xVKwAA6vPJNpkxNfkgXiIWnTnfb5D2iZ8NdmajVeGjaovhkhxbq37PhhvlO
Y2zzTBBiSxU/cgpeo8ttMath0lbphGpVM9toZqDW+NsOq+JBAOUNWn0pvqNvg6ZX79X32pK2h7T2
xpdcoTVzyKO53jML2TgWYAbgaxNeoChyhfXp3Tnt20n3k7DsvyxitOWTmA5vUoSNpcRyFO3Udq6q
ElS3/g/ETCgKs/lyCURZi2r0Ut3vptb0+8WefADj2nkugFoeBqWjypzWAo4mQUhDfS+BV3v7cG5M
mpSDKJjoHOvntVF6hrR0M0RC9wtW5a42opkh21z1jkhS9099MUOruT3k9fMCNB4zFo4d3UmgEZez
rvBfoblcG36VVsvjaIrigP9FDme036v8Xs8OYDylZgbB6+3KDUGP9Z7MhkZnno7kVWo5n5w+/Zm6
aXLUtfS1AlhcqNDvuesw/TSJUVfXvK2MqpHwtw9sFHWFaYjPtZtXn2eNgvfrF1HGpv8LjsWb8HIR
50Fvoqq2dR8THS87TFXS/+z70nZOtKkgMd4e7XqjkiQibEIDkOeCjvZqNGdOyCtig6Axo4JepflP
u/ewcMhSTT0vSey1QZcpcIS1rK5+6vmo7D1a16GW5CeimE4DAfvPdf7kNabTR+YI3Ldu1DdLvhgv
bJp+Z6JbG0aaAQI7hsBh6fLP/0ppRgs30zqHdJROFbpU9hwaQWbAXy6pOn1aPC7d2yt7BVOSe0YK
KhiyTwkHZjWi2gj0spIC9lDtudVJm/T+2PUtllSIv78DvgBlNLezwhfFIL6ENDpIO8rwW5QL/d3t
37J1MGFII5JCr450brV927kbxDRCOu3sGCvGqojvks5Wz9JyYWedN4bS0GyiIAAJlAVfpXLTbBiK
AyXFD1MtfzZT94VMPHxso+nj7Tn98R+5fIrJc2Ttk7wRmula/AM3N8yV0sb0nakpP1Bqqz+GxD81
EcGcIF8EFPod4ARzPmYiaqfDlDQO9uQttKVDbLdYNMVO2R+jXlT2wbLh9vmagKX/+vMsjVWJEimI
6zQXLzeeqytqmw+g2WmsCvzIgSic0J4oRpQj9CrYWRT5tq4XhT1HF4NquIReXo6WWmiidG1v+AWO
JAY6ELXWLxg8aUv8wc1mE85EGjXfptyjB4CGz/hv4dKQXEz+O181xyraOwbyg69/ERsBKT8g75SM
Vr+I/lWjFk2q4pgX50cEFIxfPSYbJ6yRlH86uJctBIsCWwjQEAleF6V6mpeu3VkY+fSsfgWAfq5u
wnUgD2vZlrhcpAZlhC/HOEBEnEgj75EnSsUh8pQkJuwY8m90ZYudDt7WLpWREKg9AKJQV1eRQIKy
pxI6heqHZT4+qGaXvslTtflkddH8QBUUL61iqvxYLISAuRLp3wdVre7yKRnOZdPmLyB9qu9jpeYP
VmWl/97eLxt3L7r47E7KHaSFawCjayKAWlSZ6ts1JlIGMuRokDR2vKPveo2lkKqfoFTIdSFgcvIu
t+XshpWYI5zFaqHbqPiNICWaDlbHIZpqAX/enD7WZG661JdQn9MFSh8SsNFOaLrxCNCQwgVMapHK
evDlzxhtc3CcpFEJxor4o54l4oupJ8lnxBrsNxN41Z3Nv7XreG8QfuLZ4Zldva6a9FOuXaxHLMjS
z6XrRMd+zIsH3Rvr+85owG3R57y//U03txwMNg4dWE2Ug+Sv+vupYzb1Qsbk2zx5P2Qf7KEe8/kj
UOzyXLpLniBVEIa/bXtuvhb0BUxA/dK8hfxcfTKjyZ4PXaQWoATc7v1YVBgs3f6JW98BBBscEXr3
YBTktvzrF1YL7SbeDkyOFDU69XPtvYMhh+YeAhPivWMuzc4+3xqQzUfnC4Q4d+MqJUkyrx9xMtX8
Qa8i/GTFnLzPYOwZSFbaifD1YUCD5vYkt84WCERJFbHJO/407/6apNI6am2KWfPV2VxesJr7jGfm
+O32IBvPLSHw/w+yul6yMnbrib6XPzdQqAIIbQtael5UFihjdtN/WUYAsli90Wml2nj53cKl4dUv
MadCedYojiSB/Xhk/89oEgraa228p7t/XWKQdRxoa7AH4GqtyUTKYmpKWSdEw4le3Nc9nopT1lqn
Hi+ee8yNflHyqB9K8N13r19Y+BrQlyhwgImQC//X1/O6dMmcFqEWEMEQQA2cULusGZ4g0LU7G2Vz
jpwDniVpJrnW2UwBSSg2N7/fetHUfNMKLRwfpxRDaRrLpYEOFjJSp8jAkMrXtSl6rZs0gSrxAuwF
IGbAvNdVyLRK8jF2SVZ11K5O0Yz+S6Mu5TuBrMPx9qpeN0UZC0YKFm7IeuGDvroRa3plFRZNur/Y
9jS9sYd0nJ5RbBsjHxUYFhmPcsDMpZo1yttsMtE+b9qSJDafdQWEv6H8DM1Z685OF/efY7Ux9/QW
t64KBIHp2NJPJ3NfXRWAmBLMk0M8niLoZLWW4BWyxO0jhkW/oLstOwHC1hMhqV3Ii6gyPlodqa4H
cmJNlLAQvYbnWBifB1zc7sI+z8/uKJwACni3s7e3UhNqhLQ9+BDkmd5qjqVjJcagcTWVS9OXX9xs
ih/MxhPTEWBqDe4zRTl9HhalP/RJqRgPY5uN5UGJgSkeyJTj6j/sCxJRQJZk9GS/a/YXwAOtYvep
fqxMlXJWI0vrTsCbRfYVQLPjnRrhtPmxq41lPMdRAgGOqD5leYbc/JpqhT6Qm4OPPqgTHj/A3rVo
b/NuXOjcA7wi+LNA91nzVjtdKciWW5UynsAtIgl1jLHd+XT7iMiLZRWp8n9HYhRVA9zd1862tFX7
ARt3jDxJJu6narE+F33/Xk2Fcn7tSFys7ADZ/ccCav0Ke17YNF1U2+gGjMU5iVwkiCiU/0jFUL7c
Hup6lzMUPSk+oxxx/RbGABiM1mhtv3B48N1EUU9sJqwYFOgHs6KNp8map52V3BwUZKDs8wGgW6so
iMV0IEniMsez1FHAsCnEUwNwTx4K1o9JYU73nlD3ZEmv7w8CF+oYIMl4JbniLh+OHHsaQxcO3nYJ
/FPeYMSgJtU6ozRWnJ0KR7zbS7sRW0NEpdMvAYKa7OxcDogmzthn1Hf8Zp6XT3FR02QH7JW/wDdu
jyCIw7cayn7HtNGNt+HkzB/bat57Lq+4KxI7SD1cWvLIIuA6z4nxjhzRorOJsGrNyVDwkXo4UToN
iBLA7BYHTe+Mh6h3pu9dFevP+SI1g6wQHtFBT23xW61s97tVpnX31ipG8QXlBAQ1Y2uaq0M7KNMv
IVzhnbzcdB8S02qMBygmyqfbqykX6/L0MQ0qpiwnoNmrTrQWz2ZnoOjjO5oY1bNdaImL/59eUZOP
8dsD6T1Np54rLDtmvZFUfkWNwry//SuubxrKBfQeKW0gjIxoy+UnbXS7VUMDjqCeNhAnrTR53yL3
sRN3XN80Mh+G0y7Bc5QnVqMsWEzWyuKavjqNWvVBDHWuBKY0b64X0uidR2dzNKpgZF1SFcZabVPc
S/sssj3T9/AqbR7oHI3p20VHh8137BY9wttLuDUcRSjEDpBrlXJWl0uI0pgkdeEcsnSJ+9120/LY
h3HytdJ3PSQ2vhbK3dKFGao29+iq5NXhJCcNLRyS6Cb+R0Mg7HMdJTtxwsa1IuXBCbrZGPTZV9cK
4GMXVCWDLGqtGLgvVNmJol4MwWdqFvu+QE3i++0l3LpZLsaUgevfMbAOEMQdSgdHDjhUoBriI+JE
06mDbP+Bymb0ssyam+I4OU7ndIrVN0M7jV9u/4qND3nxI1b7xgqbxRxmTuSMKOUxw2UWa/W6QbYv
2pNi3xoKwXv6p8AZyExXQ4EdbAtqiq4Pf6XRUZ5ZwgdlEVxQyrTs1Qbk/2x104B/Bn5HxCNzxNXi
1jQNay+vwU0oQ26c6zg33plWuxhnTytEFniJjoKs3WXLeKfbI4RaYLVh8eqWDZU5DRgyeTF4CnO1
rdQwMhv60uzdrLV/QfQsfpC0T8MhNfRxLyPe2sMcENJvMLvURVaDDbTtS6gUDJYjPDgsRvmkjUS9
caa2vu7O/Q5fdut74rDHWKSlPEurJTajJEkHLXWApjiKFqBq4I4HLVGTEAjgUP24vVH/FLHWX9Sh
y0iBi3wV9MjlcUEsDXB+zxElXeef5jj2nS+6pAejlef6S7Iks3ngvsJqBzZNeR4ag9JLCQAz74b4
vRKOQ3D7N22tAI6PxJEQF+B5yS/y1wleUGGLYnR+IfGY/aciaga/ppkOLdvSzreH2roFkSNiqdnN
premS7mI8yc5NVA/Scfme0pV/aFGQS3eudflIq4WmbK/bK+SRYKrXS1y6Mz4VpYgY2LLwnMby2T1
F4q+iFl2imEcGqVQv6f4fe+8lRunFQAesAVSNFlTWz0nZmXMBWGA64+16ZaIRsTiFBNXmifc8Jbo
MM82LjK6Wkcfu2bKMfEeO0fb+RFbQRbXhQdjDy62JGJffk6xTFWP7Jbn12HqIM49KNoSNA6w4UPd
L8qHWCmKxJ9sJ8K2GWRKhMy9tYyBlXTJR3Vcln/nPK++gbFlAXtbwwva7B0nOuDIa7S+q7YQzJw5
re8VEY/AVowaO960AeL5+qNpEbBKCR5phbnuiihJYrSDkMo/k+EFtP/xesjV5ZedCm2n+Hx9BvAO
YSQgG7Q4iacuF60djakawi4O6Ax0j06CCg3SrTlPSVzubM7rC46hXG42yPIOBMXV5tQ6J6vnqAE5
OPTinNlSrNk1ynM2414MUmMPBHN95qiiymCbaimw0DUARyGnwh8pVfzSQ60xwqz+4PbpHsjpegGl
16Y0sCVNRMZD/oq/LhGxJGXedpBEFFRdKRVnvPiUqJ6MuvNevS0YiioAPHyZQq0Bat40uNigTTRG
KxAtTd33gFikQolrVKfb99XmrORALB9YjTU8PxwMDMS9GZpTaIenvKiEj1ieetRrpM1uD3W9LVC0
+5P3wnqiD2JcLmDaQ6tM40zxdT1HUS/1rPmYKOEMYsl5LlTz9+3hrmSxSTtVgMIEi9TXoRatrgkV
IVXUy4D5LRnXyYG2CkrJXYgfKx4CCFSi8a52si0YQ/+FvNZ4/aHrLPWbixA07iaOMXcHr20sAfkp
7cenEc9r/YwOGm44h6USWM7s/OTrLiFdABIvGvOyV7gu0IcEkj0NEcWfwsp+sZtpesmqZDqIHkNC
ftoQRJ5T3dmp8aAjxvo2ShBMvv0brq94SRFAg4j3izR2jSiLZ2s0qS6hejraGFNWEqEeC/2UNkVF
GazW7x2u3SMyv+lj3kKmuj38RtuG8SktMX/iI5DJl7vEiTGzBwaKSH/mSggY7Bw/RRb/l24oWD6g
Gd0eiiitvsWz1nyIzSU5UdYdfuEp0IByN/qzhSbtqcqHITymHkZ6t3/g9cvL7wNsg4IceeNVJ/NP
SS5VHYUenucezSzMyAu0GHOguD8jNjEHWls0O4PKEO3yuad3piFJzGfhCK07dnnSNpiFI9FOlmV9
Ceuq4n1qhkCvnS6YVXu575Nk9lNliHcA91v3g9SuQF2RRhUh6+XnEJCBwWvmyMVqGsoGqe4EXhG6
D4ZV7hVPNoaSjWkCVXS35O67HEqJ9aScTVYWkjOxmjNmQLWmapyCsWqKvX22cdQYjAgNFiaeNt5q
n+HQnPA3j0akO7P7LamrLqBN2QdqP6vpMdfz6DeqOV54Gk20qWCEW94hnso9yaatWUshQtgMzJ7b
/nLWnrZkOJvBM8WGLol8T5s03CDj0HnTulZxvr15twZj89JKQsSGLH01WNU6Wtj3RRR4ee9g5afi
k3MY8FcFjYew9R7qYWs4eZVxliU+dd1SGSpdFVUDW0N4I1AYJa++FiqQXEQqui+vnxl3BsE9ZTdi
nFWSQwm3jzyAL75ikrPmplPcpW2CBceE6vt/GIr2n9S6kghj/fKLhe1Yo3BlhH40pR5WE4sR+W06
FP8qqb33Zm6tIP0XvOoROmIR5Z//FXRAau8KTGFD3zSjoQ9KCOXNGVllbBELt+henyhRqQXJjEAb
IDT2yeVwmSH4YKMS+jrGaW9je8z8KsfzgMjYiHaWcet91gGiSrweJSpYQ5eDJTqiPH2bhH5qUsl4
w3vYfQ4tW3kxaq38vYSZaFHsEeYTqapDpRyNWQzcNLdG0WaZ/unRSw+5AaMJAweCCUxibCN77jG+
+HX7g2/+UslNdhHa4tY3V8cGO7U5RoFEHpuiRscgd+FiK2HdHVPhmB+I4HrtEC1x/VwLNZ6DGRXG
o9JrwyEJ2/7JSlC2TDB95obGtvCI9+Ny51DG2AMUbLzdHGv+AjaH7M+asBS1qJyVs0UwFznKsfUy
5xH+g4dYxmgcKX+aAVqC+DuLobUOeQtp5PZCbUR48G8RXuPAs1JrGkCUFKNnpgD6yrboT02vDCDf
eRbDaXqCNvJaPS4CPNCoPEtw/eAWrvOMxpqp23pcnVgUP+hoRfmYghMitfl41qbXi4LI4eRA+AIw
7voRLhZVb0cV58G065JTQ/3sCOchvvcmDFOEkdUl1itW/3EZ8vpL5HjlfdwO9n0zLM5OfiCP4Soc
AFSJKDDlcRB/V7hqtAN69KcV3xj05UH63aJQa7Z3t7/mxm4iyefeJnTmoK41Coh9FC8K9TjosU28
y5Y4eqeko4cUZVH7BUDBU8ePPswdimGJ1r/WKIaviwwnEY98q2iRr66H0lB615gB3WA4qJ0KxP+x
lNZQlGtiM7CEpR5cJEd2woKN+xbuFv3uPzA1pn15J3XaJFV9SF2FFjpH0KFZgD+dcwzH/ftvIwJB
jIDKJxhFTsu6VNRwiXucxDjQlmZJfLAf9mdTjNNDY6rxUfey6dGckuWATDFlgTGD1tBFyZ7ew8aM
yfhtUmeXwJIS6OWMk9YTKPbZUZAso3buKgJKCif5z55Abe/Glxneat+aUlUDCAu9fnWtZp1gAeXQ
0Y/hxOXVfU0f+WNjK925TLL8biha8TXPOk8+rCXW5BB4782mhimSW+GPXkCJnjroJjsJz8alBZdF
4hzkT6KYdrkADSAH00gBUChe8ttoQZcYUewe7WJIz5XXTjt35NZ6k9+QmVKShRWyCqgXYYKArHUM
IKaS1u+IFRL3s4AEE9Ma/Q9zo+QJ8oq6L82Z1WDUVFvE43sGq1qVzHXyHr08de+rEn6t3xjdsjPg
VvpGdQSEuUWPi7tptZ2A1SiFhaJHMBqxdh46wzk7sFqD0ArPmJw8g4G1palQfh8RgBxqjD6f22bQ
ghZZtofUQKtyiGrE+0bz2+3rbGvhyWMgLdHTJCRdPeIpxqWzmxlJUKmVe0oX+0uDJlvQ9mG084nl
HNfbHL1iojWcrgCwy2PwV9BGVVFdHItLhJr0sx13xc8OY10KClX36JWa/d5yYPt7jpK/e/UUaWBQ
AYPmw1dfn+VQsc0wDMsoUEpk8aZpQam/TWDdG8N/iBRB0QNSoTkrydGr1QR25PVdLaKgGsrlbGHO
/saOIS5lbbknHrDx2lGfMjiaf9p+6+r9HKLGX8hZuZEWvjXiyHhbVUv8+tQIvW4pmUj5BWDsakKw
g+JcWHMUlMkQYX7T9J44piP2822i7nUJNu4cjiWfnxWkS7AOfY2hA6WTELlQubYevWLgRZvLKTkk
whuaIFTMbmf3b41IzCANYiVzfk0Zzsqp0EuDa34WVXh26kUE0Bl/x7YRvQE3tEf72BqOpA9VDek0
g1vw5RFoInUZhGNFQSuEEnRCM4/cQ90hXmL3U9a6yX/4ejKLQPUAOhSkh8vxFsR8wrYyo8AeiXKz
kAqMPeNYj7XQf0hqQWFieqoSCJKyrzZKKfAwHExpCyTqJUjCqvGdIrHehzxOr49G2CN/rGy5sqD0
Xs7KWTooV6WRI1+sL4co7JU7NcL/Ica65/V1HspLDCZdZMBarIYSSeI55WLmwTyK9tnQC/sBw/fx
MV2UceeN2LiIaQvYJLXQAXibVk9EIdwCbH2SBXpcoxuQdUgwmaIpxSEbhmlnCeXvXt3FknEh7XHh
H1whLY2hdxeHxliQWar4DKpFvGmjXX0T+Y5ejYJ+FVVthFWueHiAmmhIJU0WtBA8z3PqYpchkLMa
FxdDPljlB6fRUGLNpuIlbpzXGqQRKkP+kxQ2ufe1tS+b4HPWXjpmwWzH4xnU6vs+TIqPCIB299WU
hjt75VrFE/UBquqmw3AkfGsA9EQvIjc0kQZZ0RBc2F1oUhu2wzGYQq9421FPvFO60jn2ZiKewRCW
Ly0AvMeoNM3Erwph/DCtMfnn9uu38amp5uHrBFCCgt769dNK3WuMokqDJRlUMIkK9JI426OybDzu
bCO628DoEZlYt+zCmSCqx7KETz0DDwW6j+2eTlKCvsWS2edpdOw39khE406O2CsEb5wd6mhcBqRG
VIPXoQWMkBmIRJYHeT6n/5aOEj1Go7AfErfcKahtzZOWOagrCglIkqyuOb13hpIPDQKjbOwH8pLs
nlhAPVKzN44jev2PodWlZ4IA8+72d9x4O3h/6dtolFsAoMk1+Ct86ttYra2UOdLHTH53ltUex9kY
8Bi2RHvXF+MeAmxrqlScKe8wA8j08s//GrCLFxveEQjnrFeHE33f4dCmCfS4OMdRMRXu+3BY6oOO
1vX7/zBVOGoaUSlwpjXmnWQnQYmHRTYRiTggYz1+at35+6xO09ktPef+9nBbu4eyAV1gcmvJJVhN
dAbyY6YT8gCDVX6dGivyKTdjjRV3+u/bQ219ROnWTaghI5z/4ew8diQ3sjX8RATozZZMV7ad1G5D
jNQSvQ/ap79f1N10MokkSpgZaICGOjKCYY75zVpFtC6RCywXNT/oY2nDMSu1/5UiLz4OGh1Uw869
HZTW7eGnykZ5BmIVBX0esOupJe3SdkOmYL2aLFmAs0712g3Lnrrn7QJej7IKM3Cyy8oqR42g1XPt
z6Esqa1ppfg4jbQM3ruAXDGg3HhR+FCky9cT0pR27uJ8kbDR2PmCUutPZansiwdq/Skvhz287u0L
Jrv1NF7I3gAJr0uH5mhpTaZG5cGVRhkVSWrnZ5DUXtVpaVF+wbfYt0aZu03Y0fKcZUm7Exfcbhl+
gkdtgD4+wMo3HN5vx7AOsfxREQQ6gHBzu4NemvUf1tT1j6HhKecchZp3CzRikSNFM2TvBcrHOkod
SpM+i8uIKt20Y1Yn2nlxY48GlLknhbC1cxgMc1Ya30Aw5OR/m1xn1i31naY8ID4j6DPTr3iBedf2
fh5a3g7WY+swoHYgkxmEtkmcrgcDCSbcyBsRRDQhvNIPKn1sn5O9MEA+AddRj5yRjOO4vWjbrU5D
hpQi2j2ofSVNZ1Kbsgc/tweb9vSiH1Jj8k7zrOfHWhfz2Y1Duv2hHv5z/5jc3t28AvTxADBQqLzR
XVKdLHYrVy8OQzV4vjGSSZVAQR4wpU+D0JzmBzb9fFDnYtgpwm5tV6mITXBF0gGE53qR8Y1fnLDm
LhCZO79a6fxvbulD4SMzagcYn4zH+zOVKdN6tdFBkBI7PP6A667HS3MwypHKeKqz/Bq1xez9qhzL
5ykWToAQc+33sYh3qKJbyysxKG9md9CWV4NWiJM0uUjKg2fSFepCwikkERBcKazspe+17JwlXvJV
U/ro/fVfB9EAqTOMKpQsx17Pt0xqQYsIYVil7uPAUMrudY7xBhIoRR3y0qoC207nnTR5gxPEY0yn
nW4IW4p66PWoSunW9uAhkklxFsWk0lNyM0hy2/jJFRGJYwSApHxQUA4VfuuEWAnhyNuCRx6k2Go3
6nvgJrmNVp8dOAhGaZKhDOBvvQwEgX2qouW3WK3mN5mzPCKrj3aVLsJ/7++wzcl7Jr0/hBpg3qwh
3FYddZaJr8khz+zxUKdFVvsxwgW1TyTLg2olw3M1xss3EOdEYSSMw6fZivpzY6ZesPNjNm4X2dvh
5fPoPuA5ev0l5kwUlNHQsi6cGAFFsRQ/BvkrJi1MLi6G9kTdbvFgoUByqDw9O7W2uccq2bhIZYYD
PJkil4ybrn+DJkIkyxV+A2iBEUOEATfmrrq8f6b4JzHQm4cr0nXXo3BbFkqYkeZHBH/qSxNb44vp
zh66BW3GOhMnx5VvEYi2z4qdxF/DPG1HpFdM8sz7v2UjDKDVLP08WHi4EKtFn1Jlxig6yg6L1tWP
/ai7l0wrxseyAiKmGKHxWIkhD1B66P+c4CrvXDe3mx1kIg1hGiKEAJRzrldiTkytqQfkrJa5AAuN
JWAwGUrsD73SHu7P9PY6fSOV0HnBIQrlOfnnvz/IeV9PCQ63AUg+DyavVn8d6mw+hM1UPCi4tnwz
J1vN37+rqeeggAERmpSd/3s9rKhabcK0wcMvReiXDm7PIYOQ/gJ5azzgrcrVttj6F/gVl3l0qydt
6oqd33DzjVlYW7bVeDkBg7yJe/02cyXvulwY2hjMWgKsLEsAhaIHUOXwpQbF8TV3sT7H1ZwICvXt
VB4pv+YP71x9fgNtalqXpCEktKsPPSrAK3SwPUgQWNFjNovq7JhNeoxTxfk09rnne/OumerNi/02
KH1ZxA+kzOAq/em0TkRDXSNkqFQ1Widxfwlrsz92c/FNicLhfH+Ot2USOZ5U2oFWCKpiHcLD0B4M
pJ1HhDUL72uV2/Vj68XdY70s88FADeoiPHt8JGBwPrZ9Gn7CB9W69MLrn6tJNX42kZitnY9/86DL
eiLAOlr0Mm5ZgyK5TjLUFltpWq64p7KqdT+OShGYbT75lpeNQeYgSqYP2LDeX46bsy1HRv7hrT5D
sL7a+Raun14PQiAQuRcdm7ZpD9Dn02B22j0M4+YkZYFWevLIMa8PWUGH2MRcbwgcu1VekV9Ufci8
2qUt0vo0ep5yavWm9VW6vTsx8ebIDCnzeaL8tfCMZy+l4tVM0rUGaHvt1GgvJaixv2Z9qc6V5raf
MLFsQ3zWVWMn6t9aYPltwSjQz+UtuZ613tWitSvGJn4Z2qBKDOPvfk7pXleml+11+m7uT5JSHgic
wiDtAE5cnWCkFaaym2BSuEVdnJchBoiZYKz7ZRy78VwZRfPJmXtMMu/vos1hiU3IPGjT38hpoiFv
eO2UDVBoi+UcGqN90csJM9d0SY7em1FLkbQ7W3fjqyLsiA4waARgWOsbE/w1iaSNiGGXtSl2y21/
wEXe8BtoWbAKhvCX4YzRg1jS4XR/uhvfFBoJerZvSi3wwq+/KS1ybYBBgI5tqZYPMP6zD64x5v9o
tabvbN2N25FaLu8h7BXZIVodmmxuDEG0OwSEgGjTDNguYbNRd895b5gvZRW1f96f29anRC6Xwi/x
rQS2Xs9N1yP0cLpmwA0zNo9ROucPueGhp6GW7TFpQxQDp6R8L9OLbfuGdqAExg2xvpO5j10NGP8A
EiueTiEyc49j3UVPML7j//Dt6MTC0kFjlubNqoKjspw2B3EIWmRQz0naqi/u2BZB4vbhj/tL+bZW
V1mCnBZ0MptKLa3SdVVadBbmDk40BEqq9R96JUtBzfKmWAGkVi/2EVZM2tNsar3tN4oX/vCiIfuc
m144+mmU9jDQmgwaSmjo8wGRzfyjoeiKFZSjGjuPIu8c76DkofndIyR/Scs8+tmg+Y8DoKDL4M+U
gd8NJqMeSxDKiYPvyUO1us60rKvVePC4SvvUfO4N0Z07b8iOneZ1T8DC97r2bxYVqzWUkspyU8iT
vsZa2tocLUZDyNmCpnCxBsE7/h+KZrnlp3k4Ro+LGLMfDiu5XIayKIpPaTPn44HiKaKavRMmH90h
LDzf0kukPSjBivnblE8TOhYWUsb+0i/Dl3zQxp2oeePkgiORHErOLzfxaqVow+Z2HCpTQMIG5xwn
uuhX21sNzpSJF0c+Wh6Js5Mo3GRGfB32NTV6ckVidvmbfgsiNfzG2rHTsEyr5/pT5Hl/Cb3Sd7b1
1iBYuVKRlwoC1FquBym6JdFEpxMyxHnvx6VpQ4Yps+P9w7NxD1H1BN8GkgFQ0xpottS1m6hCIRbV
huXCJx0ezEVI9YBoviwFGuZZ7Hk7T8rGxW7QwKEcKN16SQeup5aas/CKhTgsa9vy32Fe4uUUKo5B
vwEFuJ2gb2uGgOjQtmGfEP2uqjjqsHRGGhHx13WCbVoxm/UngfDctxbpR3Qv0vbktpH96f66brya
1JPBtNNQRjF0jfZKu1EbK+gkwVSpQgRRaSef0hn5xwFzXiTOcit7Vs0secnFqOx8063lBcUHfBFC
LxW+1fYErZdopcflIbuCx76d1ehMz6NbJCFQGXcela19ygaVLHtw/Df0jFL1JjBL8RQ4ZWn/4Jvr
uq+m9l7FcWtS0nkWZgzwXtjZ13tm8bymtejHB7jhzZgt193TMNXGI2IbSDre/3hbY0nZd4ceL7XN
dZN+4nVW5x6Yc0+N62DFE+FOp6ntc5q13X84C1JdnoeLWMdZS3eUSEaCa8SAoNVQDw/ZHsFMp/dx
VrV05yRsfCnSMS5turcSe7k6dv24jOiQchIMFQHyrjbDp6xs6539sHEhU0DEEQQ+nYTdyV/x2+Vo
mKUwinlk9zUxnYyx1hy6h5YofGuIq+Zxzm17J/i/rd3h1AcemAgVBUNq4atHgNJJw5PkDuis1Yly
5HSr/0CZMl/QcZr/xcsPfIWWdjUoC28q1EOWRMVZbZROhw1XITb17v0js1+IJvJmJbC8XoK4iABa
lSlXN2UUP51mB2xAX51H9FB2pr6xVUFu8fKRdFEYX5OS03HSU+ocA5a+lX22OmH/2TepAVUuy3eG
2rjSLKp0Jp1NDjuQi+tZ2ZTd+rbHkggIv3ny+uKX0KzxVXH06YO1ZOrFbfAtQGPX+Pju5aRDLQVD
sBSUch7XAyeCZQwN5mhZc/wa5bVBOJGMde6rhTHviGxsLSj5jFSU59FAmfB6sN6BltzPSC2UTpf9
maWQn1XFsJ6B6aYP9+e1cVKkrh1BK2UZ8GmroczGsmsVQwI4msr4OneafnpDj3bs8IPRjnu4tI2X
kPEc2bBCGBY06PXUMk/vvFqz0Lgt++EUUSHzlaH509Zi4+Lk3vRQqru+W/LkreJKrjW+HeESpolr
4KmtqAiYJkMfzJaZFX5Ej7DzzdmzXyM0PWq/MobiW86/a/tR3VR/6G5W7fk2bnxSqm1ARzgpkDod
ubF/u5F6L9Sg7rHOkZUVf8emkn2eVW9+sV2R7AXuW2tM0YseJ71V5J9Wa2y3lptEZkxeh4H5Q29M
1hGK1PCS4sp9kGJzALrzPb3wrUX+fdDVRhJaqi2RTQJU2yWOYYszP+RLBMs4zhxcy9PkSbHLXwXJ
r1R7+w8vGI1Q+q10rhGmuUllM9XqYjk64j7moRq1+gTdXsEptuxO90/M1peE9UFXgqyZp2X1JVsz
iqglsbpTPMwXrSTvymGhHERqaztDvRFo1jtXqmnRs4YjcBNw4PlTtgL1wcAZ7O64tHX6tCh6+tRq
cfazctAu8L20aT43vR5YaX/p68Ju/MJsEzgMuXWWwTsR9GL/wglhScm5e+t/cY+m6v01kR93/Tuh
4knGkeRz2qu3z50W3QbGjfbdXCq/nCmedB9X4OZzV0P/RntE+3J/wI2PAFuCK4sPwdKswwgw46XI
Uo4TzDSsKt28eymoKZ+cNlq+/Yeh4DZJaBItmbWBgTFS72sHtUexulU+G2UGDiqbC+6tZjB2EsmN
543HBeQ+q0iAtE65aRc0RWnNfdC46E8rBg3HjnP+R1+mCoqYZX2pAVP67YRB3/1ZbsRljExUJlV4
qF+u4jJ97ih4W1Mf5IatXLA/tQMPAsHOPrmVcgIUQU1Bwj08yfqVV9dv12BTk2ksJhtaKfTi0W6z
j47TjMfRjZSjGSnh53HwUn9S4TtFtYnUo1PueTdtbh3pUSXVNWUF9foneLNhdiwEr4HKqTUj1zwo
LikuuMH5cH9RN4eSNX4kNSBwr62wukiFJpW67FJvdi+4CWRoeGbaiVvl3eAEubC06WERSQHtNZLG
VaM8XmgKBl7thMdkoFwkYj06R7HoA0H+jLR4tUelueVlvo0KMBpxQ+kwudo1S2yrRVwafTCgpX5a
Cic7Iju4vLqo0V1oHjvzqa7M5pS5qYG9YpVXgHHD4TlU8/Fk6Ol4HpQRZT4n6uNjDo7jUIIu2BOW
3XgPZWAuO078g4N1/cWb1o3SKNc4VV00fOiTOeWZqLxHeIHpF4QYvYNNp/Fy/9tvvId0+UioiOA4
T2u0iIlOAlAqtlnbT8MDfJP2R5Yu84u6LOl56IvM8vWwD5/TFhkBJe71PR/xrVlzyiRq3aDOuX6n
plRQ1omJegxlcs95505PbUSOF5lJf2gUvDYWXcl3MDlb14jcBygVUJNiL14vdSL0Tq8ozweDVbkv
EX4lfh+Ne24hW+eKnjvVInmTUJ+8HmUy9RrhcC4rs2m6o1aX5d9N0f0Tpo3YSSRvxbQkiotsg46H
VGhZAxD6kD0DMa8P6i50fcQllQ91Kb7btihfdSUq6V2a+kGNlBmt1xLMvlp1uMI35nOZFfGP+3tq
c94SIygLZfRfVqFHNYzxkOnyebBCcTKE8heqs8MfNECqnV7ExubhCbJQ2qDSCgh5dWTKLtOJzUMR
ZF6lRn5X9spDqaed6aNhvnxI2sr4hMnFHphsY4ISRU8NEI8bxHBWE1xSrx+qpemDifLcTy1sXH+y
hP1hKqZd9vvWFNGUB7FKvRnRglXMEiPrH3IPk/n0qnmq63j6EzETChP6aPeS5OocnKbsQn8UncD4
CuXDU5Y4zQP48/LsmdU8+W6ZpuZxMHvvwUvoQB0ipVKOo9VM/2HLA6+DNiex9WTucja/PZx1rrV1
MnqYIccUYXMvTg55GqbP9tDucaO2PoLJfUGV661JL//8t6EmZa56palZmAbSXDLV4V9xXydPtlM5
O9ts47qQOa6MCNjUN/JbbZIoRcRwdE1YMa+zi6MWCv2P+8dmIzoF6iAVhgGzA9+Tf/7bhJp5xBmz
x0haqPqM2O9YeM85sPkf9STc11TJ2n/vD7i1giRfkmFG0ASz+HpAc7baca4MTg+6cBfTFH9oioLX
TdLtSbFtTo0KIXwe7J0psqxGivO6aUZGQl+N4BDyWpBEIXpFuTo99GkZ77xqW1UuGR3KOJiKAc4O
1wPOsRnpTsNa0mEJATyq8bcJBctHwxxwbmiB1hxxdlC/q71lPGd9qLwqvL6XIWt69f0VLmJ/glVJ
LyIdW33WrhnbAU9HtA3HtvmQh4VxaHCyj327T/f8jLe+qAs2m9gcTgaC/NfTBjRvkNKyznURxUWA
9oD12FUIJ/qGkk2f72+frZuJGgE1e0Ar4N1XRa5JaXNloXkVVAhB/UiyPvveAEr5VMHZEofRXubS
1+nC7bwuW4fR01CAl2UDGJirT2s6HX+zZYqgmEJ8ZEUWnpS+Uk/3J7cRF0lTNqAvTI/uwOpsGEnv
2EnLKKknxkM4pqoPnQ8i8lxYAQTT7DkUefI8VrhTh9awV4fZHp7GBNk7bcZ19K9EkxIi7cVdUMCM
LierhvQ2G0djEeJhccTyKCxDnL3JU+jTmuHO+bn9tIA6OTUE6oDsboRM2nFqUmECJ8i0ZfkxDbl7
DFHrSw/V5FEZLkJnVPyhctSdK/B2/5Lt8F/KwURl4Hmv92/p2lVVxvEYYLJDiWYu1I+d3X5oLY7q
/e/7FhFd1wJoGHIqSbBAElLpux5qVvLJSDvqI1jWttZxRMXio5Zgt+rHc5v9UFtbP4e6o/yclrT8
QBtTf/SSNH6SNfDvtTYoz0jful9KNdyT2ttafFoPyI+Sjsn62PUvA0NSGpkT9pRKQtg+nYrhUovd
c4UDVRdjEOlaftIte4iv2y3HYaa0KqF23CBrA1qBubVj4vkVeF5WNH61uDMg9c7ufoA51OwAmYX0
bAz18DNe0Mo8ZcaCGdX9r3L7TvAbkJuiQMZtedMgW4qudmDDDUFcDc25U/PhNYlE/VWncf0HfZp3
y3jIIif/HvQ8cHdQ8K+XenHiSncTyrxjQdkJg6PsELc4m4FssXeO1MbWZkbgO0B9sdvWCJ0etWSn
zfm7c57joImHCDyLayPVVO4RZDaHQhwN3j25HRX661kpqSjtxqQUpHrxa+VKR6XC08onW+937Qg3
x+KaAg+EHjGhy/VY+uDkUVmTWlMp0dqnyRpr71JlmNqrXjl/fff2gJkrGaWAoOnXrk5GHHuJOngM
Vjd4IISx+ZoaS5gc4tEpDto8ZnsU5Nu3BjU9ylkEmfh08hhcz45XIDEwI6awCYDjFZYjCO+am+D+
tDYOvNzwUk+AribgjOtRzDZTLDGRTsyIAk+H2EX3wq/jJrvMk+P9kditfkzrsNpr92/OzgbTQHxC
zH5T7I90e8bImosmVNwx8JIqOYPhUPdgllt7hCuWkh2XGnhH+Tt+C2zVHjoOlWMKPEYLirYDxFsg
+xEklN4O95dycyj5t6HpKeO/1VBZnYfpSFcqMGo1CoiStMdiGP42+9LdqYFu1AjRqqNLQsLNSSNg
v56Vgj6ELCJyWbhdE7RmV/2qysU95I2ZPVSLYj+bwvwcDaP2V5okyzeckfbIeFsfkCCFM4HqBffz
araoYlvCQ6kviGFRBZG9LCeUutOdNd14GGjx0UFw0F6jMbU64jiiFVWbFyA453jhGRjDh8Gai6NR
uf2LaLwOsz5BHRbV7nNjeHsOQ1ufFOQorWEw6JS3V/GeUbdGbA00a/olSU+TkjUHdAFordqTOL5/
9wDcBDQvYw+eoOtP2sWT4hZlhQl1mVpB18zpYbCw+5vM5t2UQv52og/6QNDQuc9Wny4SdJ4bFdAf
quvdX+rQ1X96cVo8xEDDdnbqxgKyOyC9mdi6QFdaXS/FLMxSWWr6bGQhB7OIm6MyOaNfjJ33/vcb
lTWb4Bz1Ue601VYZ1XBAHoVqorrwAiS6GNDXlvq3LvW2KKgzTGTuf7KNypek/aBWguAawMY1nqEt
rHxQ5btaptia+UW+VNbHXhlH7Vh1U/O3LcxEAB7vSwvaX+p8agpHg17Zhc6HKcM25BjZpdb/b+dn
bRxNwKow8DzJi6dZcb2V0smKFNvldsjLqTkpo501p16MuLJxadT/2BZwkgACYqx/7eLRfsmwZOqD
NI/LVzPF4eB5smKH5mBeqF+EMWX1Tjiycahl3QRReHocxCOrU4VQzmSpSUr1BDD0waZAFKALbx69
JvuQNLgs8kxpl2FuegrghrnTYNnakrpuYtlE5dcAYnu9OpVjkZHbTLiO8Z4Fh648JZH2l9rb2k6l
d2skQyJdgFtBKfBW5yz18khpSNLYe9jFVxVlT1A3cWAt07hzT2484zJZZFkldxdAxPWkDKKtGKEn
gsm4mZ/qNpoJY1sX6EViROdGn3Hebqii399p8m9d5TG475g8rjx45AyrmMihqNpBcBtQI0vGYNSn
/IdtVeUOoGVjuzCKIzGBXIwQNK7nhj2Rlg4mgBYNg9xDsQj9Ke4y439emjonRZjxCdEq+5B4ke5X
amd+vj/JNwzgepaax80CGkPW4VYbJhk8M4dUPwRiwAH7oocQcgJjDsMZop0Wh0HYQIw5On2tmMcw
rsTk4zrR/ZPC7IVv26s/mzJuzhUeRKchDOOHEeXXPzslS+xjlI1mdzLGWFf8JI876kMj1+gxqTq7
Ps1Uw+ARWvmYPzqWUh5zI/KqnfndZqOEEBLjLssNlFPW5YYMty9hExlhY+Z9Terh7IW2bODKdNRT
PDpTBSZR8wwdqQCJpcmrDr3870VifyoF+neW+HR/yW92s9xRqKq98fwJplavRmoNWULLkFJSNFtP
AjWozFcbV32KqDudHOFCpSbg29PYkB/y6kO/DUsLjGiG4vpaGrR28CHLeTiCaPY8cnOvO5kdQNcl
nB0AoVm3837c3A9vBwcwCWMBk1gf2oKyVY2WOQXrxvHOdTOMlzzsi0C4+rQT5m8NBV1NCoi4xNxr
8AfJbQownWaFtG4+CMtsSSb6Ge9pbQ91LW/v9SoCBaCvRwIoQaDXx7UvdatLigG6ltuGFVQtYf6v
yLTwG6TM7oBXJqqKaTq99vNi7kQbm0OjfiohLkAR1q1zwxqrVDVHPuBix+je6qbv1ulwdqcxep6k
dHXRtLnfTfW7/Yj4lBDs+R9VX+a9uqMypcPkpANBnEKc80WuL2iD2+MxzNs9aeetXaqDDIWfiYIQ
3PPr9c2M1kotbxa4Xna5TyFxPkweEpyFZeWHZbD1nf7e5niUdG1GIwhfd9SoRPKRaQMEqqqoxyIF
296YJkY4LlabNPn26Pyb45ERspZwRLiPrudHxJVO45JIi/ds/Cz6xjvAiqweWjsCYNLOe04gtx16
vp3hgMoBmUM+s15QXakayuEFEZBAXeOkKpjSnGIFTlNg9I71oUjtwj0YntPz7nhK9KFSTTF+VON+
Yf3TeBz9sjNK13ez3sUCoYSqyR/qX+DfW+/OSOSPRez+zdSXfHi1OuSek4ZOBX0TnvujN7npa5iQ
NZPY5t/v38K3WSZjARwiQUfdm0RzdZKjMSmLpVbonCiq8p0zW3/PzMW8OP2s/SXaEgasVrR0vbgE
PpuKu/yjqW3v7sRrW/uBpJrdQPkF0ZxVrhvO8BBSZNMDNQ+XQxYn84spdPubGibJ99pV86/3p701
Hv4soJOlhxAqWtf7D+nGHDJbS/m7N/oPU5gJtO6XocP1Jkyzg0jqPRjCTRjFOnNhQRY0qLhS6rwe
sYmyWnPahhuzq5Q/oEFqn+I43ImitqaFsikYT76obFpfD4Jfy7KMTi2C0Zvtx64pvqQdEDQrU0gA
pkG/3F/FrQfn9+Hkz/mt7qJp4ElVtxIByv3FIU50L4iRdT10XWof7w+1OTMKHhKtZNC9XEULbl8M
TkEDOlDcdn6mJql+qgjHv9fEc5WvzFzB/vtHpBogFSi4EIHLXE9ODT07JI8Xges248VzRedTo7D9
MrLsow6scOcI3FLn2CGIKxL5gRkhw11NET6bZU0Gb2o8TEZ8tERnfNKp6dgnutztF2WsRYp1WjMl
R0yZ5+RIhBM5vtWW4k9M62bHR3dCy4OYBrz1wPUBY77U9SH2q7y2DT9Rc+1jGncAoaxczx5SvN5M
fzCK9Ndo4iHsD0hX6jvfbWuLUCfjDkPPX4qxX69ix4exK4tV9JwF22jKuSdhZOrZo928k6hsbRFq
tpRyVFQWqUZcD+W4Ze2UFi2tcsrmYzsU1l8UyLJgtC0FFWB9L8Pdmpok9tDZ5h4hA7weL1YXI9HC
hfF0ipul0huBQCbkbJrh3l7cGgrhFcBzKODBcV4NpUW5SdGRFq+Thwn6zGPznM4zRJiuTHby2Y3w
iqICuSSkZkCl6076YCn2YM5xH/QYnP8TomZf+bU5D4GtKs0j2MviONZqdRitvol2jtzGNMnZAcQb
dEs4e6s7su3cLKnqkpqBXtS+3VjikgGT9B1tzE73T/fmUBIlCC6cZtTa48XR5tZoSoKNJIn+HURl
nPS6H2hHjenOSPLbrEJlWMy41tD5QhZzXV6ssxg6tsoDG5VKdUwl89+06j1TgK35WNwblFF5zW7S
DO5fD2Y28xEW2qV+3LTj90bo40CuWed/vX/xeMbo24I6Axy1+k6z16kWlnF9gMZdEij92D3m+CO8
Iu6t/Xl/KPlX3ayeZCdyh8BHWNOkJywT7TSnvKJ52ETqeuWdjWXoT1k2WgH60xql6fHdVUYpTUyJ
kXiEigSp1PXJRsK3XeqeQcG2hM89zwDCt6N+mkN4pgPAs53EbWuSpGzkMux9mddcj6fHkFwcZKaC
3hbNcTT78TNu4OaF7eSU8Kja6iFBf3cnkdq4L6U6N3cKD5xsTl6PukxmZ1GI471pWueYl6P74CE8
g8UzinoAUYfj/U+5tUXpnNCE4vmmLLjaNVmaRBWy0l1Q9Ut5zJxevVTK+DdA7r2GwsZ6wtim4YqL
ETXANeFddhlE5ygd7xyo5jis9W+ZmSP+XqkqVAFHbRUsP4Vu/rw/w427U2rfSv4Qo9Nqu15RLtOw
aWWMN7XGdHBTxfK1Ka9eqsJcpHmA4aeVFdPAKZqd/O1W4gW1U9JS+QxR4rlxNGgxx/HaHoNTuxXV
5wwKdEPFYRg/iIEKNC4oRuCkanFKe1Ed9KUVnzpvROwe/ei/61ltj5GSVv+h1sKVxM9CE0A+J6v1
qI3J6K2KhBn4y3hUrEZ/iAwj9EtPzA92ZKnn++t/i8qSq+DxH4IoSArrKNFo3ZiaM7UBTaFMH3RK
RYCU6UXiXpShXz5rc9mZpz71okfqs5V2GJVsSAOzntt/B3cgdrj/gza2PL+HU416rQwR5J//HiA3
iRvpKr8nnnrCx7q0cH7Vf1Cq+A/xsdQMoEUuzWXBHFyPZIDmptaSUjBAtCI+Lw3ZpT87hgDSaRXx
a+oZ+R7sfeMCoStJ0QBiPPHxunntaIVVQ5LrAoiyzWno8R6apfZywUP1eckRRru/mpvj8YbKRgzP
9pr0iPCmHc2u3gXOVNk/hZjqQCi5TsMjoqcwFe9W4mc3SZFDytGIg9ygcF0RN30urA6JFzP0zbFT
A4Naz1kXyn8Zisvcw4dFMhfWz5yyOHlsNVoHM8mgBZo2ycs0e79Mb4w+v38RCY8RjOeRo84tF/m3
LamHSz622KMjMmDHF6tDuBE36u+K3eEqJcgF7g+3dQK4CCUnHWAmOI7r4RJ0G+eOvCKYIqv3Ydd4
gVklwrfH3fLcRqDFp5IIBwIg5IBWR6BvPQs+c0xB2TU77J4T7YK6e7tz025tQgm2BNEFeooX5npC
9ZLgiafR8dNL3fjQKNiX6ADKfKeuVJ+ubrkTj2/eacSPYMHB+Etu6vWAXmJ1ae5yyiCzlNwhFAWT
SnhHpdWSw5KN/WkWrnKA8lZKjRXb7/WiO0etY+78kq2ZS0oWkm00lcHtXf8Q4bawJXTeb80ts6BZ
8CbXa6f1J7pSh6ZBHfv+1tn6nthfcPRYaFzPVt8zodErkoTv2eSRdsoixwpaz7M/3h9la4NKOBqm
gGhSEPRdzyoht9BckYmgxf/8SDnsV+1GzecalMfO+m1FB7IZipWotDxc40opK7ajYRBv2ehPBwnm
9j/Csa2eKXcUFJ+S5cnLEJMhdoi+3J/j5kpy6Lk6JWpr3Yu1pwxxYUGdJh4K7VtZJTVYDngw90eR
32MVqpMKS4oP+QdSG6t4UgygnOyaEg1sAuVC7z/5kRhljTzkOB2NsUMRAMGni1oMaqBNfbITfG1+
SIm1+//h1zrxbT0mduExycKobTrfk/UR8YY2gOaWXO7PdPNL2rRaCNURqnoT8PntDtX0WNE1hZ3Z
kjscKi1Sz+xRtCrdlOAmXIyAblt7Eu6yx8PZPIPMkTha2gmv01YlTfqF+eMNrkQpALVZPZixagUx
EV4wN9Dw/8NM5WjgCeX9vcpMUquRvCzGq4o4f/XiIjzPg6R+ukU+ZcewM5XP6dKLz4vmVjtPxxuE
Yb2hCOQAbFKwBwYlv/hvy2wLAWjBjSgv0mqZH8bGGDT06pbsK8gHVX8gA3UQXNOV+OOY9rHNO51n
x3yIQ6Qk8ASyA5E2qgfRATCkH2ZeV/nTNKmj3zWOrhxns1O/uekwtviyD4a5s3ZbG9KmBilxi4iI
r0k8yqwbXYrBaIB6f38kItdif1IXhM1qdPHfzVYhWPl9tNVtOVepVqa63JPIb52mPFNpMydF8pgs
jrlXj9rahqT/KE9gsYi11OoRHMG9daNHtUEXzRKQhRUXFX3UwM3n6uR1dbxzSW9dLXxRmDE87jyG
q50QLUVazApNWwDSypOBRqTqm/Y8q7A556EOGlTwxkOv9fHXNLfcv6fZhNN6/yhsXaJQ7GT1Gcg8
LPvr3ZglcazYWUthLI/Vp6VurS+2XezxV2+BCHxH0jgJ4IWMBef9ehidr5eGnQvpoYqX7Jzgf/or
akdU8BV2PrK/dvhHUeKThPZyXhwSLY//cUK3SWgWYXRJhTCijTJOU/GilEYoDujnDrM/KsbS+25b
LD/rvhZF4BpF7fhpp4SoitnWFPu6ohX1a9LpGkzyvCnzw+iK5t3IHPYGPVRqHZSO0ElfBYROU2dt
IZmRU1/YHwY3rKHqqtlJCHXnvd04fzzrkidG0xbKk/ygv10fzdLgt1NTVckay/QRtLAuhFihr6eg
ou/vjVuBAon0xP2Tb0ZN7IZMjZoogYxL5u+FaVoGTl3D3l2QR/mZpLryieZq6vhRivzqA3yh3voi
6spmD1vRWPiJZWNqsMyp9uJSBGv9VK375Lnt2vFTN7OUpzrCEXonN90oksiIAJCzbLvBU7hengVU
8NylFHpNMAOnZLbqo6voZWAvevdrruI68euisq2dW3ErnkUZgWqe7OFL+Mf1uLWT200Sk2q3Rm7+
H2dX1lw1zm1/kao8W361faaMJAQCvKigAc/WYFmS9evvcj91QorUd7tfAR8PkvZeew13ZLFpjflG
O5UcsAhkwjCFhrLfmqGiAyTxZiNFmSnKD1ji74WDvPGJoJmMANUAeNvjoV/+FvDbtc99ISvYQsQ/
utZEh1BS8F0Xsw3vnaVvPHCow0HYw9kN4eJrihElgBxCanCWMjnf0EHHlVlMc0TLB5vLMZq+Ict8
fectv3GHuCgwbuwnqABfD1YR8QRvF+VBobUS9uTrGl2SNQgQ763/H6OePUEZSACOa4D3+6Hx3/UG
d7dooWqplsRMByowQjWjiw7wRn0PV3nrUe6rGpRkEFD+ILd6Sl06jejyTARDCPBexmqBaOmUCVCE
BbwGr/Okfa/2eutR7o8Q3QL6Z0gaX96ftzRrIoSSwQdShlXS9/qY6BxcgG7R7xSYb14KBR7+w2nw
hx50tEGXmm5eqnaK2lNTzPFJF8LW8zq/R+97iwCAqSr0KZDDQIjwmmbedQHH5B/Qw9xhpQ2QCVeY
/7QHF20IsRnhK5muHAHTnXB1UWBCHthhead1+NfS8lWpB9QD9Lt/zcrAF335bJNcBMLAhLXa/dbl
keO1PgGoaD55JXIY/A8U+6QYyNic6WKgbXSBEKKctB4pdqy8uc5Dh1kfoL7sYmeFslzB6+vT37f5
N8oeJJKjEP13lg+U9eWvNK3ksAWJVEXhpIx5TusP8Rp/WlQ4XrEibd4B6N/4CqCSQ6AJkD3UBK+p
pTzYQFrJgD+BnTMi0ZtxqCxZcyOED947wPYH/OoF7LI4GIHsMnBEyr+8NRR7hsUOKIOQjmWHeMvX
GkPuGEZfRs5nNyOOvQwZQ6B1vJFTjzzkqcxISo7/8yOGbG6vEaB6QOjGqw9BAL/JOwd4JTAbAomR
cF+3Ubcd0mJV13yWzee/X+/NZwy+3C7BCTCWeLVpiQANgvNoyuNizUApQwQgYA59ZQAJ/M/1CHqZ
Isa+BccG7B+vimbutjDSWYwQo2YszggVQc5X2AbHSer3Ao7/vKv9UrjI7i8IrObVh7ogHB7RzZmq
1mB2xxTq4DIwbD2O7F0t2J9rAlA7SCCYOuIkBVXt5YezyXxIGG92PNHDyTwx7QVD8Pbgs0iWGAvI
y99f2L9Q6MsvFQ9wNxFF0bQPefZ7/88xA/PVnGNChnsDmB9Xs6EpPxqCVrw0WCP3/ZyAfo142wEF
TKqTaz4kBbIDEtossJi3aB1iiwSNkuXzNBzgFBVf9RMzP3s6RUfGOj3UyrnwBs8OSYYCfswfGjh4
tIe/38gbGy9QShxe4FVjtI/++uWNME62LBiIqoYksb8A4E8XDp+7yzxBc1bmROvD4EhxkojxvRSU
Bc+A21Xzzsp/6/3tqSK71hmfymv1eAdPp0G2AzYZkkUH0uTkGCxrejIsipBn/27gwhv1H2wmgOuB
1AjBD4qul7ddqDaOyb6rIUc8vZ2dBZoQ656cxYiwyrE/tllibwbsfJVuXF5rfLdh+q790Z8lBH4G
jPci0M1x76/1E8mG9NRV44iNm8QiXCZfT25sDcyqF1TuQB7PQ9K/B/O/8bBRbYKKDQAQc5PXtjAC
jZEbl1RVhaJQ/eR8u2Fxt9zZYhhWSL8N3IX//pX9CVXBrBH8SkhosWT+KFpsHsyc7clpciTgAshg
q0YbwdZcYu7VEZIip84GdW4i+fT3K++186t1unvTINQEs5MQZeHL9ww40AkrAMBtrUsqMfP+lvr3
jRjevAw0VfgfbQVMYV5eRq7L4JkrVBUkErYSLNv4hS7bVmoWDUupYYzWHgisDQ/NBti170j/ZKcu
rINiaB80NSM/Kta2R9/G9J296q3XDT3uDpeDdIrxzsvfRhb4VEYd1pbvefQUJ5C/KJsPx7wBy6UO
GTC++u8P/a2vend4gjgEjkvIVnx5RcmyACgZrkgCPR+mNkmqVtP8XhcD/OcIju8U6Ng7F33rNv97
0VctfSq5n7Kgxbh9HTIMJ3pZFwSVQ5Kx6N4w9z+7w+GJ7mUYRp17+Ojrxj4IbG+bAckS2VZsF5DL
VCmZIgeEFPlyzZ09ALRMToh+fi8B/I87xRwC8hugQMBCUZu/ulPR5VuGAT+0MKTLl3OSqAYmGHsE
Bsz9xmA4zd4178W37F/wi4WEvhQFEZo4qCRB/3qFqzPf9uOG6Vm1Ql09naI1Xm5SxcLrOQvZe65w
fyyn/WKQwOzuHsBe/y3U/3O6bsugRcQ5OuDGR/fT6qJjIef86e+f6R+7Eq4CMTwMfHYE/c/RTgAF
Ewo6EGysaR86gQEBqJYCCHbuS9QREEgCwawXvr0nSf6TKIFLYx8EgocWNYUZ3csVshtJck4AkW2K
ht/XiLe/UNVmG4xQQQ1AKRbvgdNx9xPR3f4zPI+aomycKO5Yr9LtIEaEZYIKztTj3x/JHyt3/104
EQAugraEZ//yd+V0Ch3R8LRSvS7iSgoWHnNruroxqNnUIlJAISFSEv5+2TfeN7yRMcuEhgBt4Otq
Kt+Zz8VONc8mNjzPM21DYIXJu/TnN24PuMc+dAZyCpLavrL+812h+pQKHwOu44L+NCYtHcqQui6u
rNzoJ+DGaOoIWc2Pv9/fG1/aPhGOoL9BnhkkhS+vO8BwEDIVXNc3GNLOi9JH2vGk5G3oD4UPC2Rd
0aQEJvkexfzPJwvTXrRtQCn2Cvz1oFg6UKBw9sDpts/X25CR7aPs9PIOvvPnjoTiEZU++DUoKP6o
hte233Dj6N6XvimqfjHJGel4373X5tw64Lx/f5x/vkawxfCxgMQFn2uw9V8+TiSEFmucYJzfQcc8
VgjWWY5DpJtzH6fskaU2ulKkF/9rI7xz1ICG/BsFiO/01Tk6CYPONAWfy8OP7djwydV8iruqG5x4
Zz38udniUtiRds4S+uDX1EadmLTvKHg0K2y+f7TcsZ+uH8P7HvDv8//jWe7qi38hSNRKL58lCVuL
R42BZQoT7fzTFDVNe8iaDs3KHAw2B/Fv7E7I45nfizR88yZRgO6zFLjPv57qbSSWCvAvFmMg2Ulk
yXBNpyk/xQBn3/lg/lx/aAzB98OaB8MQBf/Lm4RrWkpIBGAHqn56EglEf6dCeXOKY0l/5U3Aablt
aX6bzG32zkT4zw4L3w1EavuHGmAE8JoUhUoEGfcEa65RKhrKiQZ6wNxolXD4b4R/7pLMTsfGG/WU
0tn/LkBWgYHwuLrw49/f9RubAUDRHTZE7bBvtS8fA2HtYB3DHHWYlgmxOBCWVuE40/idx/3WdeAn
Avnf3mX8EcvehGCSgpeNbyqZ1HUTEXncou496+e3Np3/XmX/Ff/ZzIHg90bANwdErHWAYhcJt3Rh
oINzLfQRHt/m198f358i/J35DubCv8AypjrxyytyAIBkhqlmhRF09IQMzKSt2RjldzOG7F8N9uAr
ADYhLHOpjS+wHdE3YxF3jxObp6u8jSGi+/svevMRwO0AyQ1obbAjvvpBMHLohp3MwYdx+ZwRPl5t
Qx5+lXTKa4rI6Pcg77fWLGqgHaoCvwnOIy8vmK56UtoDGGMD6c4W0+yaiW047LZK77Qtb15qBx1B
UsHu9MdkSOfeZhQUMQld2NHn83gB0UDXfWjT898f41vbA4adkB0CFwMG/WpdZBNZe93QBUBVPuZ1
Svv1l27ZquEqnex2sUhLDlQXHCG26E9/v/Ybt/mvkhN7BJo0cHZfPlG/KyhmeHxUBm6Vt+smg4fG
5lCOQjhz/Pul4K37xsoEboVSAMUn2rPXwGayIBNDKnDmc0Q2qWviBoqgZImZLZJgYv6oWoLbbLI2
8icVrusTJPAOKDZVRJdJmw/dMQSV9iMZMvJ92xz7yBVjWQlvgimst4BJWy9UhkWJNM1tO21h2pi6
G/MuOIk1FT+lihNxVGrV/2Tz7FypvMracjHd8rAFEKdVXSaSn1S64WeoXc/PyAJKxlIuwn1ArMzK
SyBpe5Hex+M/qOnDzzNVKsOMQNAvdsnNcto877/sObocbONkyaBcZcNjl8SoW1WEXCrEzC9tX0Iu
HNwuvSnEGZArRFUoOcHC6AOvfhqjsvFuzABEgU2K7hxVK5K9CoRcs9qNncpOyOWEe0qMpNpjW3ja
nVnBCvT2dM5NDW/Lua02vi3jAXOU2deEh507wiBkPBditIDVBKFxOU2bbB6UafgX0GWb77Oa1y/I
4kw5yBqTWCD7hPtenRif3iKKFvGZUPuaO2BDIakJW1dXkSJy4TXrJ5GU2CT6f+ZUt+SW5m34CD6Z
RPhWl7OPoRIoNFdYLMGRsh1BPl+COe8fDUJg+gM1oPOVYzpvz5ABtF0ZRXrd8Edk/9k7b2J0RHBm
TeE7AqTMtMvt7AnSPXw44zetacjcrq7qfhVz3iA6Ddr9pkrc4JZ7oSEHhAMYHLSODYyzgDWSLroj
yH7pruDwNt91ec5wp20xXDUpmdLjRPH5Vzigki/c9O13CyHsFxAQC6SYw9k/wDyg304TDtT40IUp
ZgOj6+Eix5IGXfA495gTzIgjvE2CZLOHhucS5pBd6OayaRUyVkGq3aaTFjHSuuaGPZvJhymoBjDH
qZUN++SYr7wYIcyZxXALW4IQpIfJtFcyDEBcw12Ex0anbXJFEgeIGwShZCiXeGpFSQ1sWM6pyQNS
63WJkKsKLOiKtIz+gkUSUq5EC7QID1QX9gJZSY9QnCbIvye2kOkxY5D/lCNSk2gZhbDGflzdPGyn
rhgdvcxbGvY13Cp5eooZwz9GiNuubNKlBIYRPX+gkeT3yEQWuhwDtdz0rI0fre0C+Kuvk/2WZRj1
V5EFE/iENK5xACFPZ+lVSBmLQU1Ci4loetD4j36hPkRIT7qAxdZR3OaYGzdeggx2qteotee4zJEg
8piShsAvMmg0P46bkjA7WSX7Z83ybTgnkul/OIvmZ5ciqgFsd5sAGEPeMD9uzRb+bvusv9kC12Er
ylppysTlCnr6vEnycpaq+Lg0BJ8r3ySwNDzj4ezwLUJwma3jA2sELK0dWoIrB8fg/ITEYHSSM4/m
30uP+Qbo4EbDfwCBs0NJVrlc8nyM01Kh8J6PI+Ao4DXtOK1nO+asLkDPTw5DS1l0ATeBD/uiMP8A
Jo7X0gKveywQrUFroyZ7aVJqPylDwLrdkoF9zRw+lXpGkqu6mMa1v9Bub1/TRGayNlNscVJuqYOl
P950UAtakKka6Vo86szY+RA17dBcSOutgyUmgY9RNAvZHGJqg7CO0zXwJfgYSXAeYgy5D1oNTJac
QxZd2Q3W2wcVzgRJnD7wSA9moqH1EvA5KNXc9mDHB3zt79p2hdf70q2bqbdhnsy5Y71j18XMrbrq
Aqj9yzZHLmLVaGfMhVMyIh1KL0D0NgfHijPZnJBl3gbEfWu7xo1P6HCTnyG1LUJGRKv4LRgMEaD0
wXPlHxb8HHug8QZADL7zbroJZZy7E1LMG3qNhw+D+mwD85xUhRx7fb9RF3fXzBPDDhJGcfxnFpts
+tK044w9cdskaZCDnVF4PpyyVBX5j6xrFvqjCTcddYBdjdrg5gl73Pw5GlJYa5Y29Sv5KJO0L35t
KBdFTYdtVuQUtMyFpEw3hgFo6cJogcqKCDqIDTpbZbeg4sGQDSdY6C/td1gkB2OpY0/9TxIaI1ME
m2RCnlmTwqf7mtECe1YVdoUOnrRbQ/cZtEQG67CQh/YOvomd/jmsURs9k6RfxmuCUyWu4MXYsN8q
RqL8ehR0Z/Cc0B9t/QOYs5G9da7dEom+oADRulymkPC+VkAc+a+u8NE8ww9d8/UjnM47fj04K3OM
9qhHfreadPMFrm1pIPD5BGtz11spEoT7NY7fNEDsQbBZp3SJn2gEv1sA8clqQCK1segfyZgtQ3Pg
0RD3OK+kZlTAlwH00494bkFcg44ULfcU88uGlH6BuyXsanzSJFuF9jLl5nmMIXw69MFMN1E5ANKu
K7eGWnbW2aDbOz0VRvyaOr+7RNoYn/5dIu2WHkOsDRBxAvjfwvEmAGLT/8LIZGlUbWJEcl9adNBN
HbFsujOR0/qsEK/HMapPjLimHA6zTVlM8OuJq0wKzu5hBShgMRjmfktoOQtbwMqnb5MVc7qEj/o2
8Zsobtsxz5tym9aFgfgTbzCMKpFWWmRP09LhpYCbRuwwlNoVqzi5oejdeZjWJDpzmi7JZeAuhUI8
4EV/FBnocWUy7sUsJ/E4V35a16BB0EDRtD9p7k1zJ8BxjEqfTnCga6TZkjJYV7hGLaTFfDGKt+1+
2W04as9GFKZijDnCoSIrkGIBh9rpuDoeJ5W0cLySCDHVXVEjTnDCfHzowgAK6xn5HjOSnfZT0rO2
RvQYzOTTcB3vwQCHSbNfw/5zq8H8rrjRKTnFYDTeF3PWxGXESbHWxkT6OfChNuUILSCyOoLGXjCj
g530rHKHmVWH5Jm6G7L4fhvd8gXTfOurNSGhKtELMXc1iyLbakhaVvA8Ohl1B3hewNooy/UI/hmL
8OcDOzY/phQWK5UoTDOft9SPN4ganfo6doJfaxIG7S2DBmA7eMPae4N9Dw8OlNpP6U6ta0sfDRnF
gYX5X6VnOWIakePvVlO/ojjI+xwsM9MCU616BUM+GAAhhqKcg2UJvolhmTCO04USJUpFKsuC5SI+
IknPFCcKA4y0tMssaJ1rjp1ZCQkfahmuC4IHgnXTT2LSVp66bvL2B0rHKCkx4Rv7Xy2xPRgjiEqw
J7ZADubuGtvGw9E33npS2mK28gudRx3kR4/47AhebyxVB7lkdjzIsCnIj9Co4KtQ0O9HML2X2yWw
ytIyA/8a66rru/wQIKmelBvkPBPmPjTS1/OS9ueApd18ZZDbRssQ7mjrQxjYIED9nW6ibgI2+0OG
jk5db9pt7uScjDQK23yd8Kn3OqmRk4cA3XAqAM5mk/MQ0YTGwiw5pf6CfKfW1wWf0/BgOoW6rEQ3
rZo7bMbhcBfZrB0eOj2H8/3G4Q906GOuOPRT1H2EYR8bz2Dq5ZdOjq2oBOuEPyUdQLabAu/xlIw+
xbeRoOo9wEzUDQ882+L40ApJr5ae+F+5AM3Ryb0uncduvhvSST2PiOZaylwGKFGkw8ABRF07ZSWN
O5BRcx+PP7Bq9I8UGoygjKQX2Y3wWqwHHkzZ74yuzXKIMyunq3jg+W9jkqWtG2yeN1zB4q1usgG0
7QkF7lSFKR+72sli+mixTTwmi9QQOII6iHN66mZ2h7yCWJXLOsDpBR7AUVvD3SR6dKLreYnymH/w
E063y9JGOGnF3Ht2hXNYwcmwnVHFatXs7mP5hh9B01a62wIBY7eD2E2klCJmKLGlSl61RM4Iv+im
5RsV0/CAvZx6DLnn6bMbBoB6WAntRyZS/KNrBklm5cDoRWVmyKYOtu9gEWYaxAweMr3h8gsck8+Q
HNi8xGgZWrthKOa5VgtBOwZvtqJaZDpCCu1Y8NB2fdqjrAqRWafpwq8bZ4LpGfDc8p0xycE6NKFQ
V1iT+YmsoB59zdqxaTHvnvq+RHYI+2xMb2QJkp1f6qIZVVCiwOu+6UzqI5HFLMrIgPH+5DM6+Zsl
EaSrgAJrfTW6VfwwceHxgyEaBOk1bqk96wS7wNTzYj3KXJnxKutyfxkU3tYjZ7S9CQ12xsOmIh9e
YWmy+QK0g09lIpEpcmNXL5cTTTBCOA5yRtQDKbpMonDQJj7oHEn3X5bIDvOX0AbZXMKKbe4/24lk
RUU8T/py6GcJi5I5LhgoTlJ/b8gIfgc6n75LqsmuIq9cgfoO+HWEAhdmEpE/mn609KpV8TBUk2gD
9QWmmhstm7xjXyLsrfDcGBvzKel1+zUYvH2mPpGf5ZbPd9sk/HeMt/rxQrF1uLIz+JLraErNdGK8
nT/lrWaAQDs8vBl+P/o7WfPYlrECxdtmkn6WbVaYc6OX4gdl2i+ntGEmeSxUn6QHuUXJP4yELquL
fk7pBds4ttS0Q6Wq/DCGN2nO+U2boagqcVBQsFylCB7NhIb9DPubML5rrdLL2SL+HJtMzvh8Oy5+
Hc42EX34afKrUB+GEPXujTCdO/WT6wUIA4Zc4U26fxIvjTglhNv5w4TCNL5J1mT93YKaqWo1QhJc
JnT3IhsoX3i18h4ZeDoF8eW27UaIzkPYJYb3LKJkgMNcSn8GgSueRuTK6QvAjC4qbT/Owe2K4KiL
7QbK6pQk1JzMEjOUYjodT1M82+bc8aD7QMxk3XU2R9qeFxqyYwtIRt/Mtk8vmQl5WjU28sH1hKeD
uPHdbQ/W9+F8wfA16y/NHMdPcSNHFBexHsCoVzR+DgOPQDXNAdyWRANJ3FU/IzCCJY4GXB1E1BKq
bDQVHIGmX1bLZI9gGnyjvQhYdJBRKB7BG43nCmcmuZZKqr62eYzQhETiwiXsPNSvaCIMVRvTXQI+
9NitKG118jV1bpgukRLwKmKZiq8g8ejzyqD3jT+4ZaVHFeWUnVI/RWOplO/1wSBk0ZZmwsdUYwfF
5ob6z/0TJm0311waEpS0od0v3qutOaxZ5q46Cx83V45hEwM7RmSruxk546pMVg2oKO66FAcK72d+
DDZQKk5o8jScJynxreVlOCNxCPE7lN9FKRncGbkpQNIC2L1jM4EsS+3ZyuN15Pv0euunPCgDYNXh
Q88X6Y8AvaL0aDBaf45dEW2V7GHbeQyAFDRXUT9rX4N7CyMSFnX9r5nBEr+EYSAJT1jWUXgyqFGm
s0vgBHtJGr911/3m9sQa6LGSctQwS0YPSFpaUbwjeZZxm5/WLYaAErtOCGkFnJPSY8PWVlZg8Yf+
FuaaRh/mgkfrZ01QJx48fs4BNSv06w04FLwyIh5a4G9odLBGiyaFmVkA7GTBpWXZkTz/2IRszsuu
baa2bPgKpIW2jYTcaJgZqSLY4N93BBn25QC5trpP2i0/D8HYqxq4VfgBm/j4BSSHNikjl8w/WpJM
V3SNQMIlUxcMF2FRJ8KsMbVZ3Q8+eeyhmfqGX7unSQzIpz/1wCi+wgIkfpqw+sxpjKQcD/DFSZ/n
YutkGcdW3eoEh9Nvq4PkEwyuw+UAJn5/tzaGenQkGbAfQGjbNwh9EiSGGhe1le2joLshCg+rbA23
F8HjhcMaMwof1n4IyLlViGC7STENWGs4PGfXM9QnQ83nrhBH8NniRzoRVYB3HPWqzDLCFJq+f9+t
twX5CZROiI+ehmK5zxMkWx7kmjT2kCQLHetVhcvHFJvEL29QqVYwFZvSSzwu5lOg4HJ+EGC+FweK
4ybE7k/NjYM2EV8+1slpcMVIPvF5WH/4KLe81mMby2OY2HGXayX+XkuxjBcDpaMucX7Gn6cw9U1N
p7Vl53hL2IOPuMNyCghqZEsCWXPTwkQJLqFQ6bRLC1VBrF3jytVrGeO1NnhtK/P5PRjNwA7x+eio
HCWILPUGeuXZGpjVlJEAXf7g5iBQdTJAtIJqbJ3h3jDw7bsB4VZUPRvtUHY57wAbTrp9hDE9G2DC
hQL6DAdi4DhDugwPWkDUdgRaq55UOoBaBjKiVhV0TJhvdq2iP9HbuEtO0D+WwBLEaeoiYA+FHvn6
QxeRXI58CWJxPaeNIt89MgN/F6rTrFrGNrlhahQ/KYDh4dBvNvm0rqy7+Ig14wElQ9qVqW2RM0sB
If6OB4Bnh3ZVML9WcrFwp5gZpvEl3v6wPioeOX/UEDCZ2mOnuCQopscDlIXJU8G4w8CuJcvnIp7d
o8tw9IwbcKJKNip84ltrkqvJifHBbZYFjxmKgvVIAovh5gatgDph4rncj1AnjCW21vmeeDSPh0Sq
+UIxBIwq51FD3qZu8icLE0D0CT4cp0PU9vo5Avd5ucCedbwT48LmMm9SbU4hWcYzdTzqrqadQIIm
J504wK6Ro3TCGQFlNLPTzw1g+gbIWU1RZXSMct4yC7nVlHnN6i2i7pkirHUsB5rHH0jWtegHHQ1u
JWIo9SGPCvcdtenYV4FG61bnqPHHCpZG7osoWPoBzob9dGqGPPmkaAKwzmRZ75H9sBWAgTntv6+m
21915NNDRtz8dR97tJXwc59ALbj6hzmZ0MLBwwLWuz5grSkX38gPkLgitXSy+YqFIKb8SG3C7J3J
ZNGASuH1wfdrttytlKBiaqgcblHWbF29dF1kapdnNiwLQOdPvEGY2edBDhMeE2KRlo8BGrCvMH6l
vhIx0pfvxNatNwkMYVKsBojLe2x5IonLAXkZv0eOMdtp25S4g2Is85gGIFbjPu4yfHAAm0XZR/1e
TDdW8lMzL8sBpRzodlE8Ifg2gnP3Rw1G2XydNh07LzhRPnI/Rzc82uPLIrpyMISngvkHUrQRJDmI
dSod8EwYDwVERLfNStIfAAdTcUEfn956ybPmbL2EzBLqr/gbaPLDD4YdCyg2NG43Wzh2vETBtXwe
424kmOEQe5tZTrD0EcwBp+FNJnGVTLRbasqaoIeyYsL6xFIt7CEnuBcAry6/2WiTJ4cQZuMgNyM3
+T5MU+ATW7GOEjyFhQYlEKeElFFL/ZNQKSoLuW3gETASYx6zEMtgbp/4sGpCIZoSqAcWDzotYKCo
OWH6m8eIY0H5gEHGJe03EQBD9VF/BkhtPuKMJmE9bKCrHrLWm+4mCxecOw51m7wDQrn1N4YXaH/g
OxyJyxQ2bVynfbTds95P33qZQypjUsSoxhRRiHfJ0uOxwZuuI9Ug9Ohv3RRPzyZFBfZ5nDL9fTRd
mj6OcbwgVFCna3hDkQh7tbmkMweLpBisKBZ3CbDUOfs5DkUTlhia8fa2FYG91cuCOcqiivVL1HR5
DwQSZnpIgfd5qSAwuRYZ4Np6mlp3x1lv1o/K6I4eYCCh5jKJG4HJDeJorho3tOOnYiuidX+tGfz6
reVf41xO7cWgEyaHGA7+T9I5gy8W8T7Fj1gBjEO+UtB8tnakzxCj4kd3E3wDS3gKOlav3K28zlzM
xFlOLnfXIx3mhw0f6HYVC8E+UeTcJU8zn3JZtRhBu6+Z6NUVXAdBgPFBPJFqUpEDPmdUgWxJ7Pka
9RJuBTvKCCt+KEdIcWaAicl5XkhMbscOHITbHUr8nvVx5mARkaEsMWKJfL3NgbK1NanZDoT08bd4
1QspQ1LMS8mckd1RWkzTap/E6jMgnYKc9bCpH+GMccadiCf1M9NBf69HE0O5B2prVOlog7BzCJ0V
Vd4V8gGDeCi18qYtLhucw6KnIe0wTApjWGrVsLfIi2eHKdpwBqLszA3tsuXjOGFq9mNJ1rWvRKg5
Nvps2uoRXcCG/g8NeGm8y9LrqMB6OjcGkd83nRepAOwIYeFlg0P3+LS0repKFDGyxYDHA05d0OAV
1dCauMNTzDeA2dlwZ1ObzA+F1fw30sMTpGKB4IXddGqIOmvMCcUZaaW4IZz7Cx4NaGTpGfSTfKu4
SrvzRljC6wLuVvsIibFrjHxS9APdXNzCQifrwDcrelghFFL+jhN0HHU8L0h9zfya+V2Fwh8gxHH3
sh+VqwQMDxlOUIHUiwwjKqDf2FTXuqE8Ou/ML/j/i3ztPmDkCr8yDM3ZPwE6dph0TDnBdFdnylc0
C9Vdh6hOVbZh579j/IsRIYJDU1bCjRSVCvikqFl3A8prnhkenxcx9M8ZLbBzTL1v/lkmzqYDem78
YQtiL4xwoc3zpViBnh/7ibKfPpvUr6STKLbtEHao0+f0IYHbo7yTME1Zj4uIyQHlJGmP8v84Oo/t
OJEoDD8R55DDFugsqZUtacOxLBsooChSEZ5+vp7tBFvdgqp7/1h2cnzy9KyOFvPdBvpYe21cFGxM
e7B3Tx34LIEN9NWsL45GKf3csX93B73MxntUjythQ7qLrANZ3p06VWTED3FlFstjCOsidqO9tSit
y2ydySrZWFlAk0aTgjOLc3AbBmv9cNalg0yM5MJyGtaYARaqxZdkCxbzeSqW4PfUFZZItv+fD4kJ
pE4XhNVw4NtsVeST29GH2W+FBZMx1H+klREH3Rot1s6iMf2DDgdRpvyR4iXvjM56iSRFI/FsD/Ww
j/rOGQgTClYQnsmBRqjoYfP30GWuAOY3MUbMyLS22GszJc/QT6Qi0iW29PtQla6ZVnmbr/cZsZvX
zVmR4nA4mf/kENR3NWLv6VCbgva4yl/8neBIuUGRTVejWeE1LyLMVonqZ1uQTeYAYalpDO8qL1TG
yVFWK3ZUAkl1z+qZTzH7Pou80/hVCpu3qHNUhdDPNqspXHVo63anuQQAkHMDYI5cud+941SwvqEc
1a6QdsemMtmqiaVWyyepCwP33uLUB2Sf+cbx2rjlMSpzMZxd+E2+B+v2wNZqyVM/Z/Q6eahvy8QJ
ZvCxoc1ILAJHIYWATDHpkq1m+y2ZGEW0xFVbRPSpcUGhJHE2XnpD4vzZ1d2kHrqqhI9EW1KEMYuJ
+mR+FmvMol77sRUwkqUSPeqzLOm6vYg5YAsyBo8+ByK4nT0mnKZPNxnM4s7zOtXsojwLAVC8Jb9E
kVGtdwYlkHftMOOI6kcbCs9dChz8Q95N7ZFrynxr7cb869krFRXFTaEKktM2NIHXVsXzZmRLlfyf
r7UbcmfYZ7qS8nORNUO8rjzzYRjzBv37IrHbunZvga8a69DHIb7tNQ6okzmRFAKz4M5e7cZoNouX
qnRraz9OGVwW4810gcqei8NgudB2m5XzX+cDOpzTgojXQFzvjireSIDuYThX/ZxDRg1J3eQT/yDT
cPHORhTi2gSi3DMzz2TjmnTdxexZ8ylaKy9IoNmq7pbZsT3rClF/muMICo91gQPjVJIJ9d7BT57n
bVzbpIWrzxmZprner0oaRlyzTNxKLSz11oCrvMtt3YhQm28SBR369Zhm5UAEES5y0Z0NCOqXjrHJ
fWMbHNSj6yxd8BfcvUAmEJSQNw2A0JLWc2GB8aBFZOrN5/a7mvpB4bMd8KzhZ8lOWSNIjhvWyi1P
jrUMa4qOk7Ma1jxb//nGxn+oWYJeUGrUzOvOsDkx4h+T1aiLon0ZFl7Aedqs9rGuVfUi8q78yid4
ZLJa2hzBghXpDWenFH/hNCwIhg0uruQ4X8Jhv25qtFOwAoQQzOPIFuGqfHI9ozG6yLWnGC+gBASF
VOOhKdKtUt9sCowCWxjUf1p4Mx0vJSjUzmosvV3WqnJ2K/3uGqOL3aUeond1YteYhl2d4yxI6SL0
z7Z7Ux/ogrM8QX6xcsN5xQJTrjxpJnXrbv21XQmHABujZy5uFUdbV6M5OOqp5bwOe18+oubp3CfT
5vf05aut3o4TZ3kYD6Yu/BcRKjvAaSagsBfSWooHeA/OOphlQDh7cO0Iqy9Ba3EOzMXb6tcSmKWx
ZpC32nmHOeLqb0aR9+/+zLH/q3bLmhX0dudzvztrMkXj8IrUP6t2t0isIuVrVr+6eQqm+1KatjiB
ssD6N/9/lM0Ma5dfMLPOU146iA0WtYlfq1qLLq6aBc9dpHJB5m5ZCgcT9qZOy8LIc5NaV2FidxnR
LgPBKx8uUAZPFuKQJlmo/ZB7q3G5qgL+5e9u9rwZVD00X/12KX/MtRB5jOjE/G6HwC8uWd/RMwd5
5497a1Xqde7X5m+o6n7bkeok5js1NVNEr1nYkRPqFMTybhPJwGfLGvJ/jTGERUJ2NEGOmBnNZ3Yg
9OcjeHfOd8+Spe0QJZbwrJH7e+BITyRFJ/OOSLj8z4Q06nVEST/zAYTlp6HbAUP2rmvYaR/JfP5S
wdC+UFUfIVLahrze009toysoSj9tWuLpSRHpOkKJTKtHP7B10Uh5nrsV5d1QB/YSi4qsrdTJB8D7
DmjybkMIgLJoXbx/XaCJ+SV6vXujx60nnKQP15fGV5YVc/c4MNcVcYp3m+JITINt9CkpBR7O7rt+
AOIfusUIdopEy/lr0tJ0Ey36ybyHfre6nSuJbtvZRlZfw0HaC0hVzS2WDdOmn/zZ8P2079e5O4vF
YGToq9699zNnWndEXY1Fui0iMnccb8qMi9Cji6aDrtm1oeq3dCyQuN3w2fVOhoPl7/WqLRcrVKfW
nTSE78PzrfW7oZEHAhFMfOfVjALwKSuDiAN7Uv4lY054yRwXwZcTIVvV4DQYTrLOn/dR1AdXxpD2
E8LL6R/CoRLH0bSX+dh2/NGEY9TVg+W2mgyzTqmrIavgn7/VTAkQrqHcw8O7157R9xOyoPVi/DEI
bAgCJyi0U0sQxl6BAOKUuSBMRk6k9d/KKbY1FqhDYEdntVQpUybSl2GDAlHN4Ja7rpPaJDGWNC/P
zEUI4WGyMsXobphBTYX0e0fRLfc1TTojk2gNWbOTXpOjAIPOf+4wG3nJODvDT7ZyjF3EiDwjzaza
0qm6bZKssmJisM7y8joNS9O/lhV6vzuDBr7Xm6h0i0N33Y4+qPLwyTo7fEPVNs7DWGdLk6Kaybyd
weR6t7XwqIk1G9tdOSyLG6OHiLy4AN+f7giG6l8Kz6NLjCeZI2gdPY4/KnnVQ7v5VJWiv1jrWM9r
8+U3k1educ+87zmbyoeVAJ3XaOh80sZXD7U7conqjXx/nSWuCeKKkskMH8H43fG+8Ll4YtUXEVl9
k69/ttIFkiehJ9+OtV1U96spSlRScPkAG/2AHCLs6vDMkO4UaWHBgKSrnzevs6YQe48iujevotCc
POyS/Y9cF3Ft+szgkZSc9smY1dXeGmlkgUAEif21ymYcYm3Q5YwePlsf2nmb+z9euy3XyXZ0eGC4
z6zdmI06QsNoRF+bqjwWQvL+QZVQFVl/Aget4K7STnu4dWXgT2ucgtFvjqIi4Siah4tw8mWEPSDm
LtF+6VyV4U2/uXbnlc4Yp1129mi1v3KxVeiPBvI9jzIyl/ysqmmA8eya6MFSk+8maxZCLRMEVtvH
PBrlG7t3AyW9lPmVQ6AL0gKN77daA/Hp6Bww/gaO/XKbrngVWesESQ5mxGcmu4eHsarCfRbSM7EL
NjN/q82iJS1yRHKEeqjOckRyLQdqvgzdM9RHFGczxcEoSQcH8GlA1cr4EBYf9VTWw64KI/WalRmH
AooB7xFxLEIui8/31Axe5HFU5KKJp75zh/upMfJPAFZKd82ybAkWjRTHrJ9Xw9lxt2VNlrYk1ZHA
vOUvqB7GTSL7tzqZBAT3jkg0wmOtzo/62y4SmM/VVLc2crXFKghON5qHLaqcjwl/hX3WoTWfWdps
7jRuFX2w3c3ZnirAr98iXBcjUVPAVsGamfv7ctLB+0ZitHhYys3O2WBr+emtRjDtFp+vhDO23NhK
yqE1d8EajAA/RS2mo5iiFgtt7uQnsGgh99LyxcV3UB7DiddcqfW6gvJvW23/NhY3Mg55Xed8nKiz
7wUgs8FTOvcq3YrQ4e9ZbftjHZzaP6Drn482S8Bt3e+7x3A27GI3eB5PZogI65OUOGDROXck0vG6
eC77IM+Tbpq8P40foDhqqOZ7sxppvZSVoQ1Ucj7hPnNEtWzSBYwee6MZvc9Aj/WfsrT0OxkZuM/9
lq+XOc3YQLBEpOPJC7Z/GqnJdLD9zmBrk5NzV6MZ/ChR8XX7GRonQN1xo50h5Sa8jHRnKwTeTG2l
dNWaIM7KGYulqi9jFswy6QdbvLmZY63JTJqMcdiaG+VP949+atBGwZ1kQf2OgsdtUSNYfFF26XtQ
xuwRj6U35lS5ltH8W5uC04YEp/AuM1FY7ud1DucYrDb/zKrJREVreBZpU07drLEhYN4ZHomVUnmp
xA6MtPloEDIizRqtmr4htyVxZrjl6hwBSAdOeWuwQQ1F/pTxWCMuLw2AiqGXIZIW15dkXE+OfSwm
y5THzvKWqw+lIZIRsU8Qk52yiJigmb6/xYkEOs69FdLFdAFeH4MqM56RSyHKyIdRvGkNRydjzdZ6
Jimhkuir5hLRM4ZuViZGRYgjQ7kHoqzdNR37IOr4A3PkdOgf2i1uERGPcdFnag/430MYRmvhskvo
XH9FZFD9EW4W/EUPFFyc3gNItmbmenQ6pR+lYTQV4y53Fts+BHwHr0FU2u4OEdx0mkjLGR9o2qr+
zJ1RmA+IMTx9Htqlnq6FpcIn+M5WJkr39qOYySA769ZqviSibyRXrkl3XGPM0wMFhv4cV5NT3iEy
GTsK4BvjHYawQHeMUD2xlc9NYc9N/dQqI/ieSc6N/iA2dMa9QHXuwmfO4h7BPOCjmtzop9UhsJKD
smzXYyml+sOu2jIJ9egax2rVYkO/um7y7I3ZshyawWqatEdd6N5BhmSPUwj/v196qYDhnTwz98sg
IPeNrquoLXBK4CC21hcT/Wu9Z7Hw9/1amMv+1kWCQ2RToUaxNkEsVpBucreESEGedTctn/nQ6uvk
h7naT9nUQRD4fZfhJDRh0yvPdUECtOH0BAja3iWfkf7F5hC1hP3XnD7vs3Sr/ptYd+65temEkW7I
2qp7J1xl9+w15bzEpmJYQLivKyueqmVK/Y4l91aAU1qxP8Jok/6N7mKPvTaAiVFe/ZCHt3ZPRHHm
nrYUGx/ENK6XXGqOehIhkIb1bZP/lBijfYZu4JkLz4Wzk7PkLISAVTa6444rnPD3eiV12+u+ZzvE
c5S1c+8mPoZ1QJ9QTwW3Rld1b9ZoA+uwqMIuzjevAVLybmwOVNa11TGj8fo5p3u3uuvdcpLM1GK+
oHFR7ysh6pe1zh0LwKrkWDM7LJFQUuu8WKnrzKG1M1QUuPfhNJvyMFrTLI+qLc01lSOTMEgTQHBs
0YrEhY177th5yLgxGDsVwqzWqr5ZilzMRb01DzurRPuCFL+gZxWlZXHxagNOqAgKwZMQOst9I8lx
2yFEkzuz9NuWdTdU/Cj10n+6w4reR+mmPUW2glXmiYAPn/ltDE+DyhFi9rWr7iPFbRHnxlr4McLR
PruG2ioRDGWrGz0WETU3u2qil+A+0OxCCeUdkXMa67yRjBt+rdNi8dlGK8RLd9DNbXtgg52evMlF
n5a7GK5jKwvt/sSxNYysam37NwwAthDdjyMH+RaFMvFQM2V7j0IjdCe12VqnCXSC1oeQk0TTBPba
l3X1EwTwZDvK0nh5g26YPgxgdofTkIUvRoWZr/sWqRmNdEqQZVVZun6zy2Iu9k3lmBY5i1yuO6NQ
HsR0p2duGpnTDu8LFb5vKCcYyCO/AP0QC9L+Gd0A+0SLMLdEngtklk3w/0VoVumqs8ZLZm/VV1Ie
1LLDnV72ybZNKwSBHmV9LyGPVFxGtmjTaqMWNt743hfe62pdUshXtBij4RsHzamm9wNFOcW+2Nyb
xmCZswd30Qp02lBFFnfmrH8Rcd0/zW0/sjZSdFomCum9B2WJUSb2mqpcEqeamu008zQD5jZr9uHx
Vz46TjC+NANdUTvJFwFjGGiExn0d9OrsgJTcg2RNZIq6t4QFm6vj2s9bJfZhoQJi/NdywYKD+rFP
8sU0RXrz8UObcmp+B5gGnJ2vxrkiyNkWrOPTQl9O2FI6G5dui3g2cjkUEBl2GSu2RhTVocGZiJtp
xIuhy6A/TZln3kl7CoHWLJyMA7pHsAOvdfyLGWDCwtswi2c62wcYtkAOl6XSAS81KNV3lZmtvweA
5t9lFZdqAjgxvozMHVnsjFF5BVDwwl25eE51DTw1vczSMZdfwily+zRSPRl9S+0vp3pwegOyPivM
nxWmrH+QPZFYKep3l8h7q6rHQ2Yv1cFGrC/+WvRT+f9MZS5tjDCAgFRhDxaN4WFnPlKJAFCntsF7
2Xqnad591uQeOLbsb4/6dntk1NoAvRt9eOCndNYjTojpXDtN7h99p7YR2QZbs7NAxJYdLt2mhnsi
n/GUY3Na+Dw9bHsGaPeR55KzxUBZ/0/mrvlD5iDiI/J5/WuGhwmofc1xMAqgpugwzcDayUQGzQhN
W0/IyE3h/gI9s/qdIk59gYbV3k80KuwkyCZRT1sIoj9HpcyvrO8j/76v9Tb9mrnoPrhGtih1fWLr
EtQcuYLUafxvnDHAtP3s9eWDZmPNd8Lq6jWh8tsI+bVU89FV0EUooorKT2XXgXvIQZkvfQHHeeCH
QQnJwqJ+1UiChxQ01x52Nm1MYsciUP8dsCuKf4afyZ9KouA4iCFwxrSlMPjZK2HbRL+x/zvAJt4I
1Vys7yaPNYXBJRXOSRRt21Ug813PvN2dei+XABFXPOtWfwGTdOPBhSBfWFDdkSpCjD3jWz3ltnge
lUem/uT5aOvdLWp+Z41r3Tn9DERUBQyuaROSDJ/lM2iytZrWekGCWG+J2OrpeQwkRg/uzvksXS0J
5zcaJJIwhryrfeRyIjtTzdnTT6P/WPj1gpTdyMP7wWnH8PbAjDA9pr+JKsmdPio+GrHmImaEpI0B
9sYiX6jkt0EWVH4pkRT2p1EHHVr2wWchyELJHEpZVs+YrJp1Tg0Xh0ocTla/MrE4zBb8EPbjArs0
HnRpLq+8XL0+CjEK85Bz8R1hyhBSjd1o3xNzaq3fGvog2/ElIxR1SadG6zRN6i6qCDZJrYB96LRg
NXRR/FBrGy/tYqMWE9a2/R5dSgivNhVX2UHD0rl3amnCfS20be1tolJ/Ztzq90BNiLEXEKCdJ25M
D1+vCWkczP8fxUIXYM3t9G80w+2t6pGyxlY/lS8ueVdzatZDfzVWd20P0q+B/6QxN6TxejkYnbPx
otPijV4gpYu+XZLKcj35LYOhA4O0uuwfIEuFucTudLXvBhwjSVXykDHhVPlHUZuQaMysc5Q0cgNv
EQG4c5K3CFbO8wpONDUDKO1iCROaQYHLsxeKpj4KuCznsTfm7YrJAnfZPPrrpWZH50o2x4JbezCL
Md5wWTOtuQ1myhI00X9YNCYP3HYcCGFnm88II5Y6tbidg3utetmdVhossZa5PJI79qvlykwqqliU
4MYs1rgRwX7JOUbDFTlTiv7WdFOS2wI7rcZcv4aCkflsVQWLkjMb2UVxX55Mx59+qSGDk3NoHcHH
LxoEaGPISbHPDNv8NfeMaHEjuunFw5X3iBMe/ETqrP40Rp29mkDI4HDrWLVJ1/X5D9ge21Q1EkPy
ZjIT/DEd0FWgOyZ5KNd6fey2VfPQV5hjDqEpTT+tuJuegF084O0J++4hDDPvbXWENN4i4WSMw00Q
/mpbtX20zI2oLLaSqUt7C6EdpiRg2dAm0sLeaoaHmge13gU5Fkj2stkv7/J8WOGM+JkAJSgsPYOS
eObenUJzequ9JshPZj3mt99PU2AZKRaHAZbJDlLEcyhx7oLyBTAyK4+kShSf2GPMBRxO9vCHHpal
PWeElFfZmN4D3Tkl+lGiCl+bShof/GrkmiCTa97aG6ebtE4e/NXUJP9re5PxfnKU46XjFvb1zyRH
4d1OUHtuIY2V+dbblPCd0TZv8gX+3cs5ecYQ7EYQT/XT82bC1GV+x/grCotBrTLthDgyjSBrNWiM
12FVXbJAO8sz0lvnPPWkNRIch7LgKKUyuqM9AMQzvYaTuwdFKFGMzyiGoFJFBCPdu9+j6dTcM6Rl
EelWzOMjAUi4PAW29NehNM0/zpCv5yG3KkDNGu4cieC2PGL9VU/I1fIWWIN8mSe3cLu3srWN96mp
eyeZmDuu1mAa2VENhnGPxjMb32yJ7y4lqFQf6b0HxDYaLZ6ZEp2OX1+u7RiDt3kJuzZAlhvxBMU2
6BORAd5iHoNmCtqDU+Zrd3DXTi+7XEzIQ0M1euIxoqe0/HTaqI+uAAOLvu97hstULf4hMkjzGCf7
y92E/QKtYw7M3MPqHYrMtMvjgLGhvZFd9j9KNTIwVCXGJ+Cxqjgiaiyv1brp4hHwISzicvPnv+T7
czwVuNUXIyamr5z2bmkFLTidLLdkyAJuaClxhyXKLd3gsC4ATUev8QK1q1fHPTQjZen7IqdP49Mm
OrIgJEv0cM4C7Rj4FlBAOq0hLm8UDqyI6Tq3RXWq1dT95ejOXzdnNPTOqgVUlXIGfDKCduZ/BlP4
Bdn8Ol/agK03ccuZkLfJ2pzdbCuvSrsmFOF+IwISN8UCYl9XfK80pnADe97aaGjexsLoamWWc8Kp
Xv5CQxJWmCxDuEIGoKx7NVZDfuPZgP5RAKMEA6yTcjCK9Pg8y7ZtL3XeWaQ0jRQaHuYBr/Y7ad3z
CBUGhg1335Y+Q7znMijXK/KgxqU9BcHd+CcHPV9Y2WWFvhzTMvC4bSBOxGOAJLezbH6UfgnLPcUE
ykN5raMcrMzEp8U4On1ALNZfDpeAxQPGQo0IWeR7ryMW96YQCF6hIYqHBVNOEcu6c9tD6CnEt9rf
HKjvULl3FpP5P1sGq7XfQviFuCMo5s/Ael+cIOeqv3bpoUrMtdbfHCJqQWPPGLrHJtf+Lq0yCPG5
cOjEeNzsPl43DLFpzV6Ik8eTGcSyGwVf2GQbckHKJrRgkpr2OwjwTPfgrUEiGPguWT6GVKL1bv+H
UQANWTu7XkTKhWzlyUEp8SwpqeelrJfFA6es2n96MsNPd8LyQDASpK6dL7z3keFyM6phUOGhX00k
rbkvl29obdEdEc/5D/jPy/W6jUhPjizzEIyEzm8TLsrR/MF3BjiGTyE/NyZeEoSQVl0nS+Es1g4D
K6bMYPTDiwX6Vu/rLcJqSAIBGj/XCu2/arOCX1Ovpgd4WiByGUr9NvIeN7zlfnPBDIPYTU64pETj
wFmYa1Ve58Fxzf065C5HSd6jtC8Qd58NjxsnpS2sv5IQrr7D0nL/raqrLtuKHwC6zG1h9DA9/qPY
zXl12EthS6k9MvZlMFK+VWlQRtuRW5Pqifxv9Io54ht+QHZbJBPbI291/wfFI/H/g4SJOlaW8o8M
AAQpyNbAjWQMEh0iaZEiLTrH9j4j1qgpFbkn7cSVUbEenXGz9WmuK3mWnlkWSW7IwD3CfbdNkhM1
SHxEa27Dh0cbhnVCTg7vTrpBg3gJwdyAFIQHP54Dudyx5ZXR2WJFGu41EuSndnEbnySCpuQ+D5lt
d6FJJF8shF7vnfkGwVhijoJ0HlyXP8QIZPVVbvhYDgDjPOZhZRn9M5lEbpu4mYguhWHcALfMF1eP
PsW/JiISk/+9DC5mEeZfbALRFgdzVvsnotpkfVE1aPazVXZGeZJbX25phqIfgauUFhARNpdACFU9
9tUsrBiYpv1qogjayZUSFnG2aCDcjbmli7TCbf6ACRS7Imuli1nbn5c7PJZw7wGDhx0ru5mQpE4B
wZRD1bhLaltL5XFpUlaaqGHSd3Y2lD92OLrtZ1As1u8FXkiK1Gy6TO7wHhUPIfBWfZjbNULVRwFC
lIwc1FfEGI79h/epyS5N0doPnJMFh3PrzeNdy4GAobHm81l3NdCac64IohInD07wOhej/h2gRvox
2SWfR7IV3d2yieEjHMpc7wp3lPOzRPCdFthuce13tC7KcAqiM2WZ+dFsmxnWM++LXWmTFZwGKKrz
vZO5YXMCc5UdrdsRpy8/f78wbs3V2xQN5nitq1JcAp6dFd6qA2vINLUXhwkQmMCouqoTC0U9njwC
4d+t+SZ8RIkevckQH2/sz0H3levCvXHQgtKx1qcGL4lgkcvY9ar8dyuhZFBPgH3SpwFdkXKpLC+t
8Hm/SoEdMzY41/pTJjL94TGvPuZW3TI9uPb841n9/LoIyjcYMidnH2HR+hJ9OTQp4jHjaMqh+h32
Iwt55cgxhs2yyVBHuuykBSS23mduWbQp5c3mB4qn9rfhieHCE9FxIxYieG5UaWYXm+KDC7Emi3PK
Q9K49yhnsUQSEzQ9k4asthTjHoYURZ5IdmF7QnITNBD+8QrxMMS97U8Oe1DrfULKRcXR4rHnCqyC
5h0YadB3OfK8eu9TNKqJezTlPwZ3z6GoILJNbimb1HncDqF77NmAsNENXYslxF5yOxHiplZrS2E1
d6TP6XlfRaMDgyvr9qmBhQQaskSIrH/JvO1eCkZo5pnJd06ys6OWqcWusv3qAVTs5sCy92R2hezF
cBCI47KmSyrsvrR2VuOKy3O1jdM8M6Ds5hF6KjbBR1AUUFhB0ISeW7YtkpL6y6hvgnDb5rYhSXoI
kFNl2MDQZ4orpbJwWY5YeqJoZk1TWkND555c7o27tib3JSZyrv+a56F+zQa5Nud6let1qLLpgTkY
stJx7RXZ5OB2dxm6USzWRjYwhDvGdLVx+tv4qjx9GWQbbe+4/7eHwBxVwepvo5xmmO0B3LYQIzmv
xPMSEIS0N/yNLGC+lTAg4oVT6CxCbvuDNzb1vDegGrlsEdKJHTkGzZXOX15arj73mV3ZlcdMkWpC
BlcnP/o6Cy6bxXEfM9g2750jmntN7HKb5nU27tnCQoxsgDwnBl0UTFXbkqRPe1m49xjDfRbc1oe2
DoJu+1Gti2pCbV6XjmWWPRBoMuZ3QIVeIZK+MSM+VqffjSr3zgqTN98qFNphqVdX7wZEhFPcApcC
zJeB3fzYMwUDl0lgeNOxUbpL+6smYuVP0zmox4zRWmw87UTez9r1lli2ThvsGekYfgQhAlVMNmEH
XVat6BIh6K181+jMvLSWf7MKYfQTCOoNBxnCTfWYVAuyczxwtgtKO5I0GPdqWb00uMEwADNuhn8O
n/oWdyiRxgdjRStyVVXgf6tROWj0GRD63eYukfmLG06F54XivQ3qnMM3Lpa2xx62+AZ6CE9sZ7+C
j5GxMevR2KuOiTAdzY4TXKLpTEy8/XkSIV/EPszdmCxlqB/AyyNerI65bt9X+FRvCeaLc0FORbk4
4ECH5LAU/U/mT2P+hnK0GPYez1GWjG1HulAIu4W5v5p6nLcYCIvHKbPVMzIijR+WXTBMyOqI/rjz
FFanoC30T7Osxf0Uap9QH9V4V8PxPPt3RQ4S6ugCpUqsYDem9Da0sxQUFcbDXq/+TGLAfHORrbn/
5JtUAXCpGwog1J6G4ampcM/zl0lsY6G/lMMuLDv3ObtZYZm4TbfZscO6uJMHpBk4mIrWfEJcgTRO
m3n7cPMdnZYGqQfQSgPC0fQF9qYuKruB1VsG5YGxCV+D468vviIf9WvNcYBpHYXN49q6hTwVWdHL
v7MB6h9joYDcb+GphyP63OAePfsIM9bZeBsiYDVgoCzizW+QDj7B/jPY9PZE7o9PIM+vPsA9Ejur
t76ChbtP/dQv3yUs6Kefbcp5cCqxEWbDBgw4o2TDFBDU/6w8X/+acDhZPG7T8FLxA91QEdjftCpw
J7KLlebH0AaZ7cRUtIS8moJPq6HMVBNBlI6th2ifOQn6lrjjRBCZASMBkrGzcsqDCkS74x7nkHnO
N98q2wNnRl+cOUpujXCImP2djY6QW9N0tm80RXpLKWAOw3NVAUEmrtsvl67h/tpVdpV3hFPZrfPi
113Rn0OZTb9bmA+8UASqvN8crSVRCuXywInIvBWUXM77vmiAnfuBbZ20DXQWO9RWRfNVGIozdzJF
H53EMFtPxUrs4tHivcnjfK30gzFF65RERC+wZHgDk//Q9ZNO2OuxjsIJzFg3LcKH0fq38q9VEDkY
N1HljTtH0lVFlHeOL4xPkgF/2f9xdibLkSNZlv2VlFoHpBVQQAGUVPfCZiPNSbrT6dMG4iPmecbX
10H0Jgw0MRNGSq0yS1ypBkCH9+49V/mnBtHXV5uGBk2BMIA8bjZ24G58WCnhOoqj4SknMeCzlo5T
/bGRvCG8pXzxqEKLtH3hAh+1n22FNB0L7NS8aGB6PlPqmb37ZZA/eX7MbGiTtifIHCUhOkSVFSs3
a6xnuIQwCPowmtgVuNyjh8R44KzdSDiPrt5UGMAH1L4dfYMwr0+mLR2UGrrfPEnPVtVOh1HxmTBK
9Z2fW1oH05sEF/Ya3+pOVPGgDkhsozud9NF8LWtLp2hGcQAwVIPadz0RM08DnGuv885NBq7DXe7w
z45Kjc59mY/9Kff9sr7rQ8+mg+aAiVlTRHIojVB5wALLf0OJiB59vsMHgEuoI3sqXGMBaXFxxWLq
N5xgQXcEo8HXNna+Z27iOkCg21Y+EgBKqRxZC7DJaAXgpenbAT/QHrVFqbYaVj4OBVT5xAaDpZGu
pszETC5zQ7wvaw8nNktkvsX7GmjrtkWjsA7raTLwETlRdeh7xfoSJbkf/Uy5WzUwd4icXXVjX3wN
xsnND2j7TLUSTel/DFXnv3SY4OldWm5jbf0wq75TquL3coK4/lonQtAdwlRir/ARVSfa8nQFmmoE
xGXIIXD2eAvLn3ELphqYhzN6qzbM8H14OEXHXZt3/fuJjFlvJTIUuzBP0vgZqsyk78GzY0jzFI/h
LvE6o09Y18SMN4Y+l6BL0qw7B3dwcRcmNgiCjNN8vefWHj2PNcv72kfD1vAPUEre2lj5+12SAV1Z
OSEwuI0MXO+5TUWkP+p5qo6oAdpwDWfH30FgjpPDmAVNeI/ojg2tRskq7lygtvmKzlmDP8OFH4go
Se3pRlbVSQewpq+dqss/1r3pftQxUZu7ig9nNr3n2r4twtLf83rOq3yrVazSbRHv6Oq2qIcGw/5c
qxSZYT1oCJg6k2/SbQ1z35cteo0kNFJn3+V1qzY9ltLd3K7F54L9dK5QmpRCMTiKYjc0vfNBq3JE
H6GZNcnGRav/dYTcZW8StMIfUKLTbfJwHCNFJ7qxWrWFYaUAUQI0zENV4enR6JS4iEyxZXH8Crmo
DRYKQuxFA1y2WUwYlHoZrRpwbL869tSXIZ9gDSBAMsrHnrEe9An/xBZ4huYzblIfRixT2j0lWqnW
Ay70HmlubB09DKrtJskCCqasHL27wr329xpcOuFTGhkUPku6UyudXqN3349tJnZtYsBEgI8jzd+1
bToPTtlUPe146Dlo5qK60Fe4l22xDj23fc/D6xKaGVn+wyUH+EuBoMe+s6UXiYPuitHl2GwY2UkO
7aT42izjG/Yu+xM7fKxvWxSf3HZD3f2hV5r+DByA22+d99Q5UpS9FcbFX25ZT8Y6BSfT3k2er/t7
itju70IVRXDUpfABn1OE19a9bItpWxJANJyATshww4GKc3Cad9XnqfLMYFVpTo6BWQt0BCyOxZk9
RoPRHXWVNnw+bpIOO5ljItgUPtX9rbKgesDbI3iX7r+n2c+QGjBfKB/17W6itEhRzxrMo04JuKAR
YwJes2Ap3rUkfltreGNwDoahHgj1E6bDEoJg8X1UDpFJP7qlzh0gE76XDsZ2eLB8opuIjhHgPkMb
vkNY8V6k0rLwgJvM+EGzCDAnx7MeDGdrGNuR2pu+Vk5d5/S5LMzDcRfDmwvwybCXi47AKaubGdQI
hznw2ei9sxUI4OyPib0rv7MtzmbrKGXr35L2Zc8UvwCfJt+Vy6Uf/kj7wmGLp5QT2DhtzNHWo6+i
VPWAaK0AiOIHU/okXSIh9wOnYN5w6gLpBxidObXKyaSWELMsfNESNOcH5LE1PMnUpqBI+kiGDjsz
lIfX2BY89F7np35MKloTRw4mJKdzmxriO0Q7Yk6M7mLQo1YSOPh6HcAJmLJp/01pyU7OYjFN93bS
ZnhF0ilxHrDONtkDBWj11S5pyX3UoMA425G6HQNqyLoAW0wF1iiZRNNe4VClVtaGfvnDRfZ4l2Le
Gk/I3MS0lz2+4X3nVFX3SD/Ve2xzFf8QWVOHHxCBo1vkHRwpUeI05hZRSmJMRNtZ9jdJyT+6wzEX
Rps69TlRxDzAHIOngRSsrPNGuwsMT3yKR+I7D3E7RB9F3oA46PK8x0YQ+/iEHCdM7vlhuie3zvNw
y/aTpz+imjPPttbCqdy3Vji+Q08OenzUK/UliJEXDnzffLZ+VQdIYG1/eMxmdSUVKOeDAE+F3deQ
0a6k2t/TcqGB8CHzFeILfARxe4pdOdg7oaXZfhLcgPDoihIkBU/jXteLrlzDQ3PVtovMztl1sFTR
61vQ+rFdRG127KVTfYX+WdCikPSvDtkAGXLb11xsDhFQiO0YuU3+6FpN9sUKp/izAzKQO5DujR/H
KYrykzEgp9tyrHGMrW+gX974w+R7m8YZUWEGAJn4Nny0WlSWdTpFXATp7w+OgYwwJaw6AB803Q8A
hNp97vqxueb3izu8vf7Ay5pX2YdEi3rtBXkx6btuRFbbySYT09uiPg5cemaCS5Le91ly4A4XV+9q
rayfxCCLbts1fReiUogCa6uDv/wSo8wKd3btNu2e5kpAuK3LhWsoDFQeNElSNsJJi7pt65bFScq8
MOHI2FOyr73B4Cu2UPFy79DS9nvjDqivCgsGIBZ019lPyBmDFfcJg/vkpKcS+GPc5J8H9iTkHrrW
pCsMQhndM2ryAy4rM0rBXthtsULSKocnzoNGsYYJSSHXiXPrzogQeB+7Ku/DY8GzoEyA9LU4oQTt
++2Eiuld7HS+9dg3sRu/64dwoBkd18Me+Wj4q9c0WxDaFfHQdGMyjlTPgD0ZKps/8Fqz/mRBVw4P
9H7talcnae3eDRpOQJoHPSZwWmuNv9XBfQLCqk3xScutlkrIpBq2f3uk2AM3J8I2qkIHt4KVzh41
jWgip8kEvMCJbiSVN8PXH+vC9Xs4Zcq2tgWcb5aEhlPXTi+oGUEsAsw3Sa3/hVrD+hPnFf5rJ42w
Hcs8H9/hewt+cQop0tn23mzcfkD/N6/lG64+A13ZYPA/5FVEfRfxBhVBUQkZ0WTLqt/wysIfXLJo
IHmc9/Y2NYDghFusJnwb9VlLKkeTtM9hn3OvawLpvY9LPf/VN/iPITlgLNzGek30a5BOFDV0R4cJ
b1PtdGE5GGC2HBYNNiLsDZ+CtMydO8/P209TNk3PQDTgL3Aa/41ZKmfxsck3BsJQuwdZo94C1jON
H0VcWrOYYUQRqHi73tcyiA5EavlPXJtoQKkG4/xdYtXck2bqWL4GDwZGwax0LVo5Tafbx6KJq19t
2WORNCps9fBoS7xLDtWH8SBwIxSfigQI7W4OCPtuxUPT3mV8u3vcyl5zPzRZ/IeKYi0Ql5F7ZiHT
aMCP4kH543a4pajkofTl+/U5eHdOKsstULrcXVXSS/du5PrERKUUQu6GKEp0mn6TQd3WwqmAaqaI
H2CV+ckDkBqW4ryLOeUqScl3UyZcGedLbOfdOYLG4lYYk51vReXCrLUyfHQrE5ws+kzc7c1Dzpf2
zazc5ldp594J8I9A1dw36EHqotRnjjw3G872Kp62kxPo7+FAI32q3KR4jzqCFnfNYz7UoMBo4HNH
/CbQv8cbZLyAnSHHgl+fvEKPt1os1R8eVqWvMxjcwdEMB4NqTQEGce1ZSWzds9W1/h4ekRnscVHy
CPj/7A5OlCXsTJa065OHJLqmLT96vIJ15nwOOKNUB1+AsdazTPttCS+eDlPWhsZuiNopn9006XsU
r9RizV5rvgsIQRKZRjP9SVMwe+/At1RyF3Si+QnIPvjNfWZ4CJE2vjf7HNtflujFp9jR5QuLnvsQ
tmnzxcUn2W59zXWwyKcmbq3e+OxzkPxkTVPfr3w4CA3XtCki3RwO9jFG1YQiLhQm27kYm3oTc8/A
1e44qP6bogXL7Jme9Zggs9dYQqP2J/dlupdJH+rfQzSa37pW2l9F0ZEXoUfAjrhs+9ZzYrQIo3Iy
fNmmYtXfw8dScp1QmMjFV1piqXfMc9/ptyllL3MdYV6udlS5tOfJC6dvhqiqakNAtfWVMjmvOaFE
3JQAz1ZPIxwDEAYAW2h9I0d6NH0K4SsOMQZHpUwPH7QSPebKbfy837qaSqic0Qva1FXotDTU6UAg
VzX63+YYJU+E+3qonNnCIFV5Zo1wziNxeW3Z/RCdYHGKl6bjXKB1iUeQbDdQuhQOfbbesjNt7bnS
VQ/O5OpQN2tLfFX4HN6j3gmCdYwclQDSjBR5WFhee6Ajgo0/KzXnM0mqtr7ROAPuKGbCImqTDtgI
IU9DsMvY8dANoMVb446qoi2eMOqYVgqK7QNye4FXDpoI7rOipXM9zK2IjCYvVosEf1E/GXqzD5AV
zESAOuHOFdIDXtUWvUHIYYjH7sAXGntJgGv5WNsRwAfkOZqxT/SBfCWPAqREHV6o9FOrQGehaWbs
95WqZ3Ruyl80llXzyw8B6NC46/XijrNUfor6RgewMfTF71Fp4mRQo6GUT4P8nYyNot05o4uyOuaD
lSfKhFO0sWThsupKduwHfUQysZ3SUEt3RdI6n7kbEMsmKnCLKxpL7KXhOIHwK6OqARbDCbDfpc7E
sduTTl7NvWU/3Fg9joaNGRlzm1ezvJdRjcmfJuOU/sfSOe/tIJHq7X1aArhZAfmDkd+VdBFXZjTl
apsRG9nTY6B0sgpC03rpgyKn3+AY1PajMsRCTj+o+DWqKR2gM8Z1vwkxu3YraGSlRQ69oX6naPzu
q7EWf2Zhkb/SO+4ErD5UH1YtdMHZc4RkHyTs6D7rqd/FT73mtMF9WBcKIx8mfj7HCtNrmecRtqjK
b/Ypsa8ARU034f6pTdOPkJIO8Lu80ne5rxqTko5jog9sACm/80o4OivS2+vk0NsWFS38aKJaeY1m
PYfggn81CiYyCBe3f4zdyvPXlqxZYb2Q73dnBUgVdklljdZqlEX+AG2X/r0GnwV+7CA+q1rWPxow
5ChqDI6he0d14ndEmlHywG6bP2BmIrq79oTebrXKEwilEwyKTMCPqH9C6b5z+ib6CP6EfhTIvOql
MEsCOrEDdT8hdJX5qiOg8Xdl5sLbgJ2gkQHxzHlqEhVwOmC1hWVXmtEfl08Q+q/RRXSdzF6deg7A
eJSC1v6ZgrDt4E3BzlklXAXtFRQmFoEsEX2P477CT+fSdr2bSo4bXL0GTgawedQvVSPxrqOq8tZG
4rF75LKy36E+x+CCEsn9jKY8OBhVCI2nSnusyJEFkHvL80ASArC8QbAzOPbcZgtQW+iyjLNHkRbG
zxxNQHF0AUamMMpr8YtkD02uRz+TWEYz1UR7gVr9wXSGtNm7hjd166Sit7kdSdIRe1R344Nyhhbb
yuDrwyaNreJ74vvhVw8h44up3AHQ21DxMf0izVCke9hPbb1SqfAFYpu2fR+SF+EdoiqOwyNaB87U
iOyao2PmOhAp5OOfhyx0Pjug9Tm/dN2A7CXtoEzrU/c9TCWn9ampUe8lJldOBJHWx8kxbYqZYLmw
IVpErdCDaeLgUdN060VzE7zAWmwmc5onNe4WgoFCK5FWCj0xJaf5GEC+c/5sNROLYlHgtKPbWXf1
TnWZ9bX1C4W93JjkRzUhKCQxwRfbiD41Sg3YGga9Z5PbKd9QYMEbxWixQY5sY7os8AeuBA3RcKuP
NmUmswN5u/JTltZNQA1s28Nnallt6NSvOxvR9wM6kAZeGU0gyNYCE4QRrhnLLbei7ePkow9pxANz
PdB8RDvpdlt4u/gOPBUPtOM8Z0wPbMihv6EcYiYHKVHTbQujkz9g/1bhoRABYuzAbuQJmn0Xb1oU
/KzuJnkQvGya/KJXvvrocbd1tjLVpwSJEva2jbTRcmxQ7XBMxcGYnwbiUj6l6CF+tHmlZbT+HPMl
rccOSgbea8oTfqF/gT2ffHC6amT6qLzeuaAoKnKU7+NkvCuFmkN0KML/yVhbRxRveeAAU+wKau4g
sMnVsJ3hJe3a4Us5IXbXnChGglxP3X0VDtSYpSlCWLjou18SdHjG/UAGAb4wzlgzVgCb1Z5MpupJ
7wxekB5J3cexkDlxhTm/Epoh7MtAGnv0VLDFsWAolJzaDoERXKmGEMRn8HO+8c1SNTXznuivh4BV
/Kep+8a4UxFw6nca7hJqxaPrRCyvEN4pBqbSeTKTAPtBi4Gj3E5GgK0yCkY5bnwkmEd2lDYBSJqj
nK410/rQplbLTpawORV4SNtVaJRazHlSVXeqC113E2WBzSEFQozc2kPTfZvsUX7SgzEzNjVdWTK6
utLhtfYJtNvwS49UjzNMNRLZUXo/WkIKiiyu13wNeuzbJ84r4x3+ZaPZVZKavs+SgMWe9j08cOy8
+RPaT66otG6Dl46sUBTfrS+jDe0gh8K8R81jw5Uq/qLB+yjXICtHe1fQ4/2SBbUagM9ow91fJRcT
bkN0mezEYpcROaCOriqBmP9VBm7fl1lCEo0jU3GqyBH5IfUgogqcCnonnYc3ATR3KX/6DaZTbGjI
1+AU9P6HwqKjQ6pLRLkvS2E0UIYRDUKXFi7gN0rjrfNUVkHWvqOVbXCGzyvf+6i3g5g2RjiZR7xG
YYrTpgyy1V9uL+WYcbbboK2J7ukruHDDedXj3V96QcWioEC4CWxP/aJX17xkMgrnAxQyLIEz+fNf
04SZUXQS96+qDY9jrUCsqKFupRZSpGr3F+bJxhW2l2xzZQRyLdg870RMCM8hQsM83oiFupBnZMy5
avwrtgBUMWcO/SMZSxc+cBdZNGs0SSOkKQuRy27om0EehtZPThMau2+jF49Hh8LB5r/+83/+3//8
HP7b/50//f9I0P9kbfqUh1S+/u9/XYoYMul9c5g3TeHqi6zDnjONzVrH1Qd3B9IlkLSU89z766Nc
ik0ClWciakRh4jqLCEA/Gisig7g9aQbNVSiMf7S2qR64Zwx310eaM7TOgk9ZJ1Cdm0Jy97H4Qc9/
zD4K/BymFpGylRbe91Nr7NlM+7WpkQthpfJ7pXoA5wRs3NdW+/P64PM0FoPPz1C3TaJeFV3p88HL
oPNjfPhkR2RVdCxESF4lqI5d7Tc4BM0ugMETJ9vrg776ben60fljOIGgznAXT3Aai74JLFRvU90W
n4QEjJ0VpfYIDj98a6YiE3MtUzoSvg/5ZYvHSLNsaMg3wGBWFPUus91sg1W12QweqUpvnZWpU1PR
LduETKjEIuTL9IyugIEPbNJWz5UbJe8GWf4x0y59ePtA3CVNUuh1fkaxCGVLdGUhbIIWACe3Xg1U
BB4NVtUdPXDcmdfHehUAx2RMhxBIl5w9B6vu+fuBw5bAldQ11za0UVjSo7GKZU7DApXwikCM7q0f
9zyeOz8u1hUDr9z5eFHR+IDOGK9Cjb+H+ahtzXZK3795VuR6Gi5NCkFpw1w8qrT0J3ZzhwMncWRr
L4/cHYZRyLiNAH4ie3UjF/H1Cw9a28bb6xo2HaHlJ65r+GBTgQYvEW29NixFM7cET2T2zvTpzVPD
XWlYvO82v6G5eGDdXBpIQ+ImpixRL1HR0nCwC/NPA6Bwj141eOs6aZskn6PlozzAB2bMU//HVqCR
B8AGiYpOA8Z7mPycEzkSqjW79608xgu/Iq8FEXYgmkzcMYunBuOgmY0LAGfggB4IdOELoDqzxrvW
3giYvDwUJNr5/1ze/PNZGR7OFDxE87dslivNCMXRQ0BYaZF5Y4G68IFJ1gzWQqS2rP6L51UYiAyH
gKlU6Bhw6HLB7v0h2gdWD3FtKqO3r1KM5wpTKcvlp1ysvWR99Enn8ipmpCDvh176G5PMsH1TR3+u
v4kXf0PDlaBGHGGzYZ//hpj8yc6xMYbHFW35qfW9bZUTUB8NfvVvJiWxUwp+QmXJxVA+R3pTDwdW
qd6Akwcp4Gh52C4AP9g3UiNf79bkO4P1pK+GQJFM2/NZISVHdOOBFIaFkyFm7qHm7HzO4zTkiQv9
01cVcr3G0OiCTOiS70ZXcuH9Fz+tIxzX1B1HOsuA9pzLe1YNcB4MTyvJQMJtTrGyOginj24syH//
W+cnBPzLghALJej+GvrieCL8tMlpiMl1NmXBF62ig7NqBqKNClRmjyJI4qewqsx7mmP1iTA88ciW
O21ptTtHpDj27zEuut/IsjOH+z3aLLr78SEKdYq7GvaXGxvW/GVe+3MXz0fTkKnGypHrmH6FnwV0
YL2B6AOCLrbg2sU6HZsQ1jCgkOvP5O9z57WRjfM3AzIKFpeekWvgjQgeIMulzqOicLYuddXdu7Mk
gCLBH6+S1UmEaXAoW+/GX3Hpo2Px53mpeeFy5v/9H8sx5iEzkqh7cPrBlvRCGOM1cv8jkPDyxlDz
R/VqvgAU+MKRASu1+OgouUQt1j1z7TXfLDSae5oyGW1dOLIFEKHrv+6lweQcLIrSA/uDsTjzuEXc
mDP/lrZj5uvrXDeLk2ZH1d7qh4RavInr7Mb89Eu/pUOlgBOJoWxjmWbs4rHmFEEGJwCXGrYvWQQo
sL3iaHNcP46kfSFGMdQOXGD/VLBT0OEiE2BLaSR60QxX3Y+ovssN/hmxKymW76//JvPWsHgAmIp1
8CkOtT62kPNnnc0/fw5CC1UcxkqnRG9v0nrbXh/lwq/AtuRyoGWDMoRYvNbeNNB9BXuwrkcBUtcE
kGJbxgrv/bi7PtKFpZXlW2djN/jFpVq8u0kvO9R2nP3oDlXHKci8Y0F3Z00ZZW5BqGzf1XoAC9LV
TiSHVG9fVDlQs9Ypat6sqotXLB1wfoZ9YK1dLdfeN0rgrRBjkZ+wXCdfrk/1wutsEXFsclPgxdKX
F2gUkniAS8ZCKDynAEhyaqnToaaeSoxlRJ/d+G0vPEXFzsgjJKDbopt3/q4QogPM06Kkj2itviv7
GPZf0TinynDcG0PN/9TitWQoVzc41nBzXkY4k9JTEwzksRknNi2gpA5bEKVhAAScULVtbwrjHclY
2o0V4uIMHcNRFpoby9Lnr+UfKx8iziqCzgQRDdPFjjonKpICJjqujvzw5qdHZwIeOd+wY4MbPR9K
abDksZdyyJ088WyWRUTfAN3xAVdl7KLD60rjxmJ0cXau4lbJnq/bzmJ2lmx01kBeGOH7TbnVgIq9
g2xiRZsQa/nbryv8ijxC5ShDcgI+n1/DxQkaHD8lZBWF0ohzjk1e97YqkHde/ykvzYuVy3ENkzhY
Wy7mFYPRztEfW2sMZxYBQ9CHtYSM2hbx4Y0X5NIGPX8BXB4o6eD1XEwLr75Qbcu0CHmy/XXh5J2F
TMDOD4D1NRjGAcjhpHeznnva2P+uqrI7kuVT3U2tzuH87TNX7GU0z1lULWux3NQJqVB2DyeT0F37
0OKA2g1u/dL2mGL/xUiuCw8LfQ+7xbwY/ePL4PZGQCl/AadFg0AB7GGgjgx0ryTi3fiNL3379nw/
I1WNvq+z2CzqoUKiVSOnKJD7HuEx0mUjvWpT0cO5AxytHbEmOv/ic+R+gf+WlZsahTyfn2/DeRwB
Z6MoTnyctsgw0kDpX0czPRST69248V6cI+0j2+SIBc9y8eByPA6OMcJt8sK8fW+HZrQmg2c6QNSI
T7gEiZyAVfj2ayJrt5ylVTrHOrWY4wSCDn0d6PYEraq+nU2j6AQb23hwGfuHFQbh1+tvzaVpOrbD
u8kbqljtzn9VSGimN8DxWKvRql+GCdB4lSNnjUgk/dQHTnJqe238dX3QS8sBdWWIoi7XOdNaLAei
yuzS7CElYIUZNvmojWuVaBgE6Bbv3zwUdU9qMlQF5yLQ4hclZXt2mtE7wP6rbwKqlSfKyvEuKb3u
xo54YVaUybE5CZs7I2ec85+yxb6EKauGFOsKsYtRVtILSRT4a+fP9UnN/9Ji78Xmx0vJ+YlqjFg8
tEF4Xh0Xer2WyEoeKkKrB7yeGRmd18eZ3/FX40guwVjlBFNaLKWOXWZxBNoWvUvlHvhW8r0aakXu
uAQ4NSn7RXZoFgq2Q0IQ7PjH9eHnFWs5vC0UwhIaZYqi0PkP6lRZa/m25IsXVv9se2L6gKobZKnT
ZbtyzLQbFdcL34JN1ikVcmpc0lmuoC3aRDuIaSk6k4/zKM3t37mo/XVIex+AyRxPiQTyw5snyZoN
/kVKKQQXifNJgj4G2o9We925wOlyKBGPiu70Dh4kTBNulDee6d+/2uJXZVPk/XSkxTdoLxZvN+lH
2qQ1YLU2jn9YQWr/nJf4H8LG0ol3qoLPrgdDgIVpwvSBmsv/mFKBVJvrE3/9a1u2cjlRSE5ZJIsv
PhfMHOCbQgqlQmnGe0ITkz+0JEhAxYBwDyrBslcjBhtzdX3Y1y+VZfOZMn9sIUAb5q/4H9ukgi8c
OoQqkV9I4liczSgTYiaP+Fl+8xKGN2Z5cTjdmXtMru6yaZ4PB7JQx7qEyGlmAH5Ex2MeqwRf/KAN
mLKDHMzcm+c3/6LkfGGC15nj+YCOmqnEeV9j/9FoS0YybZ6n1lTHyPJ6AjTz5sYMLzxHAt0Y02Yf
4di62Chl2YUpKUtYP920PoSygF5PtMNG87z4EASad5w0zXi8Pst55Tl/ianps55zxeEWx/XqfJYU
aHPaSHyqZHqgbqoGQgZjTjy2XhS/VFCWv6KmJj8Ak9GN7+f1Kj+PrDgZcB9XyK/ORzYhC41VabFh
wi/d0nq2j5V0jBOcn/xGy/DCu0MFV5dU5SjlsgieD6V5RlQEponEoYDZWA3jtMVbjdh5Kp5zjyTv
67/pxZnxBKkroa4zrcWuEqd2oE0h0hMsztku5wSJzN/TdqBzkhs/4qXHp1PgcZVL20nYi5c0MgY8
HunMj5kwAHaV5m9NuDsQvuUnGr/GHqDRHJMwaDdOdfOicv7ecL5iSMflGMkvunhZ434kmSitGiwg
1Jc0Uop2IYWPG5/E6wfH/YPyMe8lS82rb7DTYZJg/G7WdR2B1MEUsAFCU+wgdUIcIhnmxs+pz2/C
clr2fDmj82RwOl58DpUogCQ3sqHpVJoPUcINMogyQs1MWYaktnjVXhQ1ZgEl0kNZpqBKQ7fZNp0v
wXr05TsBVO3l+uv0+hkr+H0GpTw6z+wgi9cJ5bWPBY9nXKcJdIiORfaLHzfDHk6Q+tw0ODEP0YC7
cIOOG5Hl9dEvPAKXeyanPv6Db2OxzLu2GvDlljT26+mbD/6Yxgsh0yOWJpbA3fXBXp+TWIV02rR8
N5Y0lu3nORQXICLpFAJp94FALiA79tQfvJTIXApr9jH3U2CSbdNEWwspwtvrwTYfEePzVyiA7Ivv
KaFEKgA8tWsnjn5xIarfkdDuAZKNzffXp/r6A2IkDmRYSNm7me/5mtSWRPPFFnobY8hwHJdBsw9p
d954oS+MwgmMC+Z8NKAnsXh6peaC0RYeP+jkYvsl/OdOM0ClXp/L6wXPnkuQ82ywt/C6nM8lh1kL
SXoAzzrjvMZAdkelR19kP037fzGS4oQnudlRNVucZDugZbhXeoJdESOTZ+rbdynwYXgfMjleH+rC
u0jtnEuIDqWazvryAQUOsTRqZseQ+1jjkmitnTkY/TvdoF6/SmUdf0xHfHu13ZWf6169vZIMfQ7J
kIFAQdHpXHz3AHqp76TIqAgvzE60w6dt3sOljMVgbq/P9dID/Fu04P79+JYNQRgwXWu3Rg+Op8Qm
FWMmw/sePUE7vNWZmH+28xWWdFxmNAtZBEDpxRvpeIRU6SNuy1JO8hneXfG50JTx2dDQ9666xnE3
aZ7lb96uGBXlGhdKndrZ8mGC6xmGxDe79YCU8p5gpWKj9671L74DAu6oA856Ahq5599BPxIMLUwQ
7TgO4YJOElarnKo1WX5vL1IxFe6TrB80VqkIng+lGziWEVkje7KJLLGBtG5JwrNWvgTH8vaXY66l
zCICOuDW4pszqppQoE5269Krx/3kQsYOaBTvkm74cX2kS6sVjTi2mVleRXP6fFKqkak7JaRtlFXR
HpuKG3LmoPS/Psqll50NVVp4a6FiWovVqpAepb8I72XpEBsClR8UdGWVh6nJuxub56uhmASnam7C
hHyhMFmckiY4S7VqyXYVVmfviUcZD2XfUmPAhbS9PqtX39U8FL+cokjKSddc7FwaQd74isAdxVnq
H5A/+yCImuCJTLb6q9uZWFIjEjvyGzO8MKzilEu8EF0EtpnlKkkrm/egIAuTLYBTdfOF2ER9n6Sx
8RvkqpMDgbLKt35nXBj+Oeji5bdA4aR+MEyw7HLMaQYBO1A5mt0Y9t3h+s964QnSyXOZoURCI15J
kUKuQAbMhHUBePMOxTJkTps8NwTg5o3v7NU5b54V0knatfyWCCbO334PcUkoh3gO5kwGotlAu5oS
AA/yBW1fdIb6xjksfh7s+sZn92qnWwy8eHVguiCrN4Np3TR6v+MeCL0otLBq6lNU3EFbDzaQvHDg
Ez58orGc3vggL75DbAZ8+HRQqEyfTxzI3tRULlEnIiCEahUKsJYbP0iykwciIMKiUUIGGUFc3Nji
Lw8sLbhTdNE4cZ4PXNk6CFaStujyxd0nqB/ld4MYoj1WGHtTCnvax4RAvv1DnXvkVAPZ/hCCLX7t
vtBcPfPyebaI+NeUrOr01DZZ1v+cukx76oI60qjg5tXP66/yq9UVWRG3YKq3FFAk8rrz2ap8MssR
As4a/II24SZpUcWTWGx/fPs4HDolx00XMemy98Z2YZROhX9aUYaaE3XGyrsPAnwrNx7fpQmxtFK5
4JMjgHExobCZbDPxYjEzkQlvzclfmOruVn/2wgpg/3OUxWcZxDDaAX+INTiQZm8rD4p74M4UIvvN
JRGeEId1eiSYM2nQLLYLOFJl2gUGohuVG18DbdTfG61Ntws90eb6Q7rw6tscakmtV3PveamjIyjH
cbPEE2uIb9D2YFZCBe/HY9UJ5+CTrLvqgLPfeGAXVjjOK0rRPtCBb6rFSULYga0RsqWDmEurn1Re
vkNEnB561oR7LPjZxprmbDnXBip/fbqXHqKaK1xUE6j3L18Vwu78Jo15S9pUjXts6QQxRrj8DFg7
NzanS28lp3Zkb1RG1CuxrEuvp/ItECEUwPN9LvJyY1NUuLFmzqvE2TGaV4ViIRI+G/eis+wc2ibI
z3IixQ159Qg90i6Pc97trpzjLvtyNG401C79gHNFZBZ32tyOF2u0OxAZR8yXsa6sLN3mQTvuSP4a
9/gab9VBLw5ls4AIjusW18nzdUqUOKFoNhnrElPiltUSMCEBZXAn7VsS2Yu/IrsfdUVKg7QqzoeK
Q9T6qZ0Y65pMzCMmBvNYkJ5yN+BcfOwt6e+vv4aXvjoeGSujwUmN9tb5eCQnRE2jmJqU1e8Yu+Ih
bHDNxSTkbhoCIwivnvIbY16aI1eev8vm1FSWkoECwbufDSz7o9uI9aSXcbQZyz7N8NCTwwiEOjtd
n+Xrzggvp8vWhnqGxQW/7Pk0rVwRCDC6LMyR24arJPwbeT24+i4Gnwy4DmoY65yzCwMLGh1+Q33n
5QKb2fU/5NJ6w7y5wiP7okmzWE9jWycnKgjRv0WO8aQRyCLQaKh+Tzmt/5nljYV1CSx9V1fylhzu
9dh8/yywBPlRzqeWdP4bFJqvhm70iOvKo3LTmuYQw8lbGe4Ob1K9Kc2g3zZprW2vT/n16sOwls67
bM6arOVFF8M+da15Yydb3dzaY+S9i/+XszNZkhvJ1vOrtNUeLcyDmfouEIghRyaZzEqSGxjJysI8
OgAHsJKpn0ba6pH6RfSB1ZIYiLAI8e66msXycIf78ePn/APad4fLo5we0WUA0N68pLkp1PXkMnee
MJIbwdKGFoEnwkwLuZfdWDevvzySYxIFljc1Odo6mcAXnSLd6OiwEw1962VzvJeu1+y1WdpXJnV6
OGmkL8Bd1waMcQIyi+zEUkqRAM33kFU3ygr1cFVBlqp0wx2AWAWpAXENqHR6Ouk7AwrlvctjlDbI
8TbpHcjcvQWID+5mcjAbvG1bbOYOYwfzViTgiH91PZdyEs953on0mtbrWQ5ZJvCfQiYrnnu4vmNL
ZKh4eNwX4GuubMbTM3A82LKNfmoR1n0YS7kgiJy2Q4jaFWhFRL0RqLMlseqFt+9UhPgCV+8r9Z4z
IUgH9oWYAtjzJdFZRdpKtTorovdJxz11HrAxHDZKbH4qFQu3ohrZU4RJsY8dkTBtWhyPrUIfroTB
009rc2FCqFrYJQSAZb/9NPsq8dy4U7UpmFrFu1XkFO2n3AkPWdHMKAxN11K600PJePShobEwIBWY
4/FyJByRAPImnHR074GK84gZWmwEkdlfKzacflhHJcjomm7zLIaIcTwUajLjjFaGDKy6HVA1HET3
knhotmt9l/VQhkfrC8Yr7V2EG/uVTXW6rIzNRwXZbFJZWVOs8klDT3WsZOBiFf4gYdAcSgqy6F7p
Yh+rWn8lUz5d1iVvpBFM+uOCYTSO54pjzqjYiSMxRGwI3l46+shpYHSqtp8un80fLc/jpM5ZAK5c
nbTWlp7X8VB53HpU7KMpwDoWmUZZgCfyWxOrVKB+Rv/7gGbWk43SzjtQuRNa/ynNEX8RiMajAINd
X+aFfaV3enqhODoBWCVpXq6yNQoQ8aheBUaMikqoYjqInE+8MWQ5/Xl57stVvJo6PC5rSVQoAZzE
QXjiuG5pJuoKkUBBCKq7ugH00yR7Dd9RsGkGAAeYUm6AXGdn+MWEbt7ln3DmQ1N0WUanWIcYxLLp
fzqvpheiHZu5bGpLze5JEbqD2lrqLYB548pD6OxQ9NOg4BDzQf4eDyVSgyxEaDLQZ6XDC62MNXMT
C4His2PI/srj50wwpFjMg8sACbe891Yziwe+hIpkCUpIUik3va7Bl0ZT59aAsroZOg3eujEle1jC
7qOY2+gpmrVrfM9zXxgaKx0iFxg3jKD1nNEQ1LVqxF9I0+4n3cAnJqFyVxYzeoW4waJ0qStBnsPv
J4vpP17+umeH51wRPCz28/rBa+YijDMCR6BpmYUGpUZDORugRbupNaKXCD4ekHWPykONTazi/DLe
2uUb0FheSEHL63D1DTobaEc/tmMQDUX9rcaxcG+EveXLvumvHNkzEZKLh70MJ5SqyJrUEmm92+mz
HJFJyZDSwEH5IEdA3kjdJKje6N3+8tKe280Aj+jc0snUSJ6Ov2yKKWZmOmyvZvDGjzYDBDAcu7u0
Tq4hOc5Fo6U4sqRLYL3WO7nrVYwjE7COmVHr1U1cusgtYYSG8cDlOS2hdhWPqFFwb8N5hWG7prw6
+TTUUcUNVzWGe4c5qrUNK2SIqr6bnzsL0Wvktrzt5UHPLCQX91KPWZAV+g90wk8RCJ1TR0YZgnp2
VEtMxPAKCmpjMQlqBeJfV8LCD0Tceo702IEbwSJZ+AfH320CeFyU6oRlM+hjqaF3XnoY/s2l6uzm
ZtDmrQyTrkJ3uZi+IcpgoS2P3CqCv80iRyOpkEq/U1PkQDNcLR7BZ3fTnp6oFu1kj5T8jNbGl151
MJhFuo1vhG2MPb9XtEgJfauNBneLUvvY3aZ6Uj0w8ShHmVn/Zc4oe8Ug3yE98mA66KuyUxlXbe5Y
PaJ8qGI+q5W8jSRyi3hoObe5iZXCL39F6HC8NgHJWhRMlq/801dE2G8QeZ6bPHF775PbOdF9hUDB
Z0Mf5itp7pkNA4PehTEKmAD6yGooIRt0luLeDBqjcJ+RiSnuOtUqD/aI0OHlWZ05EEsji6qMTXJy
ks32IoZP1jMUjfDxjuTaDbRujm/TnAYdvEv9Xsf86Mr8zkQykkv6nKwkLTRz9eWMWW+dEEmyoCjt
8n3iJDfYWJCEtRJkfNddwxiem+PPw60ORJkvT2rqGsGM35V36NwIwTV1xizR9wRX1UCHFCcas1a3
lxf33HdEIhPNAF6flEhXOWaCdCpygxR55TSqnzOqNZ8aNWpe8qyYny4Ptdwzq0NPh4UXggmsClTP
ao5CQ/UkokUXNNOsbikiYubdG39isoOJ16jomwoDmD8bQYPi8sBnFpeBHaCbfEwNUs7xsbBSdLSG
UGhB1jno8Ehd+Qhq6s+qV4fHsQNXaU9aeWVdz+wfj8IPFV/67sS41WSlWyOd7DDmELYuFwUCJQ8F
IMDUFzouTeXkOrvLszzzJaGJqwtghG4LBdrjWQpkwbx+RsBUooX0WVM78TiZKRa+tPKuvC/PLehC
4uZrEsQpcx0PpeTQwwokH5Ad7VTUQbtWut17pysd+iCdrm/01nWfZA1b6NfnCLXRMNBgIpOyllX/
KcAlDaUfgyQyaMMQC6EOldSPTa60yKt5RXslmTm3oGxWCopLtkwkOB6sdfQuS2iuB2UZuq9GNVUY
SySYRthuMl3JEc+dDWu5DkHoAxZZI24y7Ps6LGC0wPHCVuADpw13Q+5aqHXxEKUcs0QCml76FlWA
/gpo/kyC6gH4IdegOszoqwSR2DqnTWtibWDVynAzOXl0cEK05jfNFIET63Ld/FCEhv2xGKz+z1JQ
n7r8Xc9Nn0rlgqKnM8kPOV5qfEEdS4rGCOysQKY9F1Y67s0qt77mWaveWJiOb2OQf4GYeKRdGfzc
9KnXgHZaGKUn+AVDH/uxsqWBWFhc5tvJMaIGsUu9ec48oLRmFWZ3GAbYAc/VYQsV/hre69xG43mL
AsOiKsRlejz7jK57q6A6BKLTKBHC7VQ/qT3zoCDP8Z8IEjCEF/Q8+cFJgh5rWRo76JUHhYzRc4zd
fl/g8XpT1DidXP6m5yIgQwB64gFPZrk6PnpUasicpUaAX70RbSTlk7dSAkn28XaRdwN2zb8+JFIL
nB9qjOCS0aY5XsjIqmq0wtqZuCSHpx7O5BbfTsxr+H/Hr3WIbtnlOZ4GQhddK9QlFp2kReLneEAE
xlsbocA5yDU9/QReA5WrUNH8TMXOqcAv0UeGebwSfX/cHccXKWRjgy7OIvZAaWR1WkZdxQM6GyYU
QCO1CsZh1O6kaYVfJazy5zyc4vsuEihiT3VpH7oilQ8Zjsf7afDUPy4vwOnWJQskbaCnD93tpK86
oHKKSIRC5Q8zgI8qNOJvJXjBh7psytfLQ50eU7LABczElcqraJ0+6Aa94bRN56BHbXs7Frq3jfGr
3daFsD56YV9sVZm0PrercxDFGG4vD3+6nZcklAhBh5VcaQ07j2BK25TDUMVARLFEtSFDIi8F1UBy
prfN/TB47ZUPfWZ3acaCnKAMBgrdXd12LizpAcPCKdAWWsaQ2+3W6BVvi03L/A0PpGaf6c77y9M8
jcQoOFOld7llyTTXpWNMyrSxb5AobEWSvOSF/iRCt/pAJFQOmozRHOXxH7gkw1fCxbmdRPADKwwK
mzfoarJRgWmnF2cq1qvoH3WjHt0pOdj+rMuiKxf7KdbedclcgFbg98NOWhdWRde3ubQwuDAAhQKo
lSkK8xlGgm4bVo9sHunnWMwGqS7HG0eLpg8JeddH5FbxQu3y7EFvnOhweeHPfWyallTrgWGRAawO
Ne5iKWYGhJJkhmyAKagLGB3jpmgTYm+BuRJCwzelZ6H7dnngc1+cVIpqDXw5ENT6cQxLK8y80lHO
gahreY9hkP47bq35jSuM4o9pbNVdheDBTstMeWV/nztShC8Q4jrvY0rcxyNrFfpYYYNuMvX+7nEU
WsVcNeUVXazuto2j8EoEObfFOMScKQssLp2v4/EKgLrSSbCnhD7a70ZUqTekfhhFjG515WJYvtYq
RBOrWE067sSrdUW3KjDiXRwykcgdu/c0KEwE5zv58sufjnrN8qaiLkU+vDozDSKAkyvSCffOYmw2
+BU6N02JYI6mZPUOyU2qSCLpcBeF5aFc2TdnNiyZGuxfcmSeVmscMOXcZhBUq4I5mmvcs5rmxqql
/thjTXZHubz3R22sfj0Kk05wty9gJfbO6hNatPytJCkXBVWBp6tpYrmBL/ROHawXN0v0/eUF/oEX
WH9H0LrkL8geWNy6x1vGQM1WzzB3DGiUZhvEn7MtVpXTbpaW/b42+uqLhvJzMOGZsh1VXBG3bava
ezw0s49JX6Nbj6KkufEaHkVXftqZ3Uy7nWhLFR839nVBklSOPqbopsCuHP0p85T5xhn65hnoW/kt
whVuq07IqWayjT/VvBq/p1j+qIhGmtUOx8tkO+MfcN8Riw5qlsoru+NM5Z/iCX2r5RVsUv1fxTMI
4fXsGMMYSKsSSOvUUuZBgszOZ6EairNzFHxSb21UMr5LsP/RpopK9R5tZpQIrqzUmTjDCdRUGnc0
ZQERHX/EIqU4HFfU/60Bl0rc9bJo16PwfLd02uctai7G7YTd2sHGIxnBc6/83k9TnWwrtMqCxlHK
B3Cx5j5x6uI+ayUmfH2mWFe29pn8hihIIoUm5dIsWP7857ft0DjwvdQxSMNqpEQ/m8mdPlXFHXel
9wVpd+R1K9TeWcpyqn21m8LfLy/UmRO9kAdoFoC2N4jIx7/AQqwPx0iVw5VYWPtF2GXf4mswvNi5
S/Nm6BDe3uLW5/76PQDjiiEX2iLAldU9kHaNPtCxx6tP6WvsRltsot/i1lCgUOvAHzB6dwr95pcn
S39cM6FbgWIz1o9eK9Qwx0qkGuA41NZfImWKDyldz2bv4hWQ+JHALeoWp5vplyuLVBMJ21ROCGIc
t+NVBoRoYotUUhlqs7rBB8fDqcXImhwWc6jMBxzrjepasFji4iqOgTJblFzp0ZP2rC556J86lOkM
/frKRvVOC2WGxWBf33nD9M0Ag7RL1f5p9LJhP6KzsqEB3D9fXvDTeEV5AoId9zyoE+TwjudtGuks
Yyq1AUgz/ZVikQWbzkLASZRoeV8e60z0AdeiksYuKAyau6sjH3u8d9SZwzLrUlR3BQGqDIw8dj6b
fSvah2KeJnfnme1k4gsPyXEjQjS48awpqmt07tNcADCI84PQRX6LLubxxGViIG0CGQNrdsKKLxot
3s9Y5lw5vadR7niY5c9/ih+drOGWuEYfAG9zI5xJ3f5O1Dgb4OkhvnrpYO4uL/K5ATmwVI7ADdAQ
W+2pLrV7ayyyAS86KJNuhWMQVqaQqHBA9EPgNlcy5HPrCGJ++ZwUFFCzO54gJpsagAQxBMbQRg/V
LMqPujVeu/JPwzClCtQyDKSbyBK11TKCmfNkWfQDVgKN2EHGzGzfw4LmiU5V+zRbXvjUZIrxUNVR
EdiDaj5dXtUzx4SxyW5IUK0Fb3I8S0obsSlTxo8LUQZ4b+E03gnxMM1Ts7081GnmT9XLAPJBICJz
WrMfELPu9RkSTYCtU4ZFSp0qr2mhO7eRpmHtTTseJ5BSD994GWTXqm6non1LzY3SEPpD9KtO2gGN
gtVApHdMNMHcYoMjSHjnSJHdlWpnNwgfoVj7w1LxU4xX8iY06/73rum/F3FnfBTJnG+zOh4RGByc
e3pE3YfLi3NuH0DGBTK78Ethmx9/hyoeTSyFioFWdl9T0UZk6INiV/F+UmrDwDfaddC7GyQSRqmh
PiPqbl1JPs/td/IAVFIJYjyTVr8gdEszbD1+gbRwYPXjsACwm7riSvX33DGG4wn0H74pfPpVeMqw
1ht0XOYCRVGHl6ZSM5wmMWGd9t48N7uBtvHN5aU9OzEKZ/YPjsZp1z4RJk4CJQeZi/lVHfXw0bB5
pFwe5dxBQiAEDSaCBgyfVbiAzl1WVUw8LPNO3XZK6ARJMWAOVim/jt+haAEqnooJWnM834/3SpjE
RNvYQTBjcNN9JaUX2LEab8PIq6/kSudmhXAQNRJKUQy62hR9pVV5Ynh9AKIUpde+77Z6rGNsHsfX
KjLnNoZDXF9EFnUKUOsF7LrWrS3i+4TB2Z2udmmA8XeJ2XNqLy4X8peB/mQFYL0WnArg+/U9SWOj
rHv8iIIQEhFa30W7b8cmCjRs3HaX98aZyKerJNlgLHigkAQefzAAUEZKPW0IOsdFcjacvU1UKing
kUEc9MjjkaCYwDVlFl451GdelCgTEfLAIi31p7VgdayDb6IN1AemEouXMpucJMCU0/G1BGDeoak9
7TMy0zhgq3ioTZtYUk7lFWqWi8E6plTs5h63Mm6wQ1RDRgwuL82ZDbbgV6lwUtVddEuOl6aa3FrQ
TJOBidPBfm7yzzX2QOiF21cC7JkocDTQKu6IkCe8jEFTzuAGxgAVESxLjM4SV6p9p68anqBwG0kb
wEHRkTieUI8Bt+wVtrE+z+reG4aWl6+mbFsTJUFXLdVHBT3BK4Oeu93gUtp0BnhPQblb7TCdtkBv
CIxK+9SOq82sTBgBG2iGblxZ6t+UulDRsVA7I0h5aUqsXgzzfWnU9Ye6mVCkJnL0GVlUGN2lPDv3
nJjx9fKXPrcwoOiXrhsRxVwL8GTYEdpmjXJKqin2xxxT1q2R9Mo2yjxKK+noBJhp21ei8rlBFxwg
XVXqNyeKnKjq47/qhEPgspkPaVx9yYE5bTvsSW8wD8PvNYT+eXmiS0w8fvzQmeAWsAgvGiF6tdPC
VMywbRQyDS8qP9vV8ClDIHOf1F15r3RDeJNoDlJZU1vdZWH2dnnwM90asmOOI/jHxQdlTa6tXRl2
mr3cr1AKRFCItnpMJify/KmarH1SdfmmCFW5GxOtloc2By4kRQnYlSb6NYbTmZi+vMHo1wB5XTCZ
x4cBn8s8GnKNb16I/IYQOz7KSP/aOe10a4+N2F+e/Lk4izYH1i9LhgcEajVchnOi0uA9Mc9W9ydO
P/CXu6K2tpZs8GXHwTS5i5CIe5yt2rtynZybqkvdh5Y2DSOylOOxZ0NNKyy1u0BrJm/vxSpO0RY6
J77ntcW2beSVzskyl/UuQwuYy2S5WmD+HI+XFXWseT3jkZqO27zA81ix22qXWU5/5Y1wblkh01L2
BQbP/1jlG2k5T1mBmWqQOLpMtsK18KGjGIp9lxAHHirdG6rPeJgC09ZfL3/SMwd44TEuoF5Aiqc+
LXpUZUXE2H2p2Lte6RYHMuyDH1z+32Zjlml3O9qNu7087JkzDHiHpifBY6kgrL5mbDU5R7uFARsl
dnnIVFViWaZQQ0hCZfwwOoZs9oOuGM8TWHZ0FYR57cVyZtVBg1AEtpemHDLexx/YxszPnZVQBIrb
ZTtvyp+desDeetb7nVp79Q3i+3EguLyvnKIzOwtcxAJxJcqjEbQqeoeJ03qyy7tASRP3C9605j6f
9JomVXlNylA/O0losqQAKApDezqeZKnObjir+O7I0bG+tRgY39KZ0vftkA83c9fHQRzZ8cbRkvL3
HktEGzIEMI1ZNfFAytxwiHzoCfJmGEcjKCPgiATWEnVnkOfiU1MbMZ5Jpf1OhnNiILg+D18K2NyS
9ZzlbZ8nzYYwYbk+RSlc91K7OcRTcs1b4+ws0U1cin+wWNe4TNeNsbQVssOPSqk+KqO8zVFlm6CY
6q1Pb31S8K0c5wdqrs2Vx8+ZsAR6iacPoQno8noj67gbxq0juqDDruozkfO5MapIAH4FnWDF+svl
c3Mmy6ICtnA7lnh/IjnSN6kbk0d2gS1qXtHwFXvdL8pr+inntigAIuYFjw21tNUWdRoRDmWsdIHa
9BhslFmRYCBXi+m2dnH3vDync7EASO1yi6HwSZf6eI/i+ppa+TDzslPM6aV1zbZ8P3chlPJeCuNB
Uo+asDzqBrwteV1vZYZF3+WfcIYwA+4CIQU6lwiMU9Q8/g0KXgvDYGjwKzWrGRH2RzkWvYhahPf2
XIJ3aSOj/R2VELN4cOJJXyzBhwjFkE77ntVT9qYlhfx++UedCc3kuLSDSNzBOq4DVCy8vMkNXIyB
Wsr7IsW+euisbldE5bRNWqHHPmo614TLzowKn3hBL3nkVvSjjlci1jMP70mlCYZa2K8eHDM8B5vQ
fFZr3Zx8mibeXRb31a9Plr4xkFUKWAZ37uq6bd12ALeKLvaQuqrYZLCF7rOKBs7Gwwlli7Y0UA1u
qivH99xsFzlAYM+UB7mSjmdrqIkW2+GMX3lpea9Wo488JMwwhRbQRvVO7cp+Z4/ReGXYH2XHVXYB
6oQcaum1YtO4esWopdZmrq6Ays84Ww+GJvCkHwwv/zZRQ/+Qeq2R+Tk070M/maXtaxkdhSCUaaOD
dI8xmnWRxg00VL9RZYS2gIZZhzWZP1dK9HZ5H54JBj/ejkvzm0+zzoQ0K4tl7UmErtpSx4HYzL1k
erINlDkKbBv79lpAODcgYZw2Iw9rQuvqZgbBVlNUR1lLdWqw/qTR+V2b18lt0SGIsLk8uzM7gMNF
nWLZAmz51Q7oR1e4Mdd9EIap9Spa+6Wq5+LBxVE4GJuh3iVNdC0DOHNpoHNHpvej+s2GP951E41K
M6udJpgqBXuYNBcOfuJqjv6s3cjXxpP/iTI4lGRo5MtDYSkFHI+IO7I5d13RUsiKZQZ/Ip27Q+yO
NHGzxEMvbdaU+MGJTFncyrkxldQvW13/enmtz3xYWN4IZNPnXnLq1VondB/Com2aQCsAGE9Oa/hK
5BDHYgztdpfHOrfGyPHQBEf/hBRvtYm8nIIAx7kJ4rQdPkRaPr1k6lD4DO3uy7mOr1TyzuwjqJP4
RKC4RBqwVqF1TEodYFB4EeZa8x65P5xCRzWNR+Qtu/RdU4dkeO4wXCPfnMkIFsUaiIYk0uiQrW5P
I9dSSxe0xhLQN9sYTYhAc3kcX17NM18OaUnK1/QWDORMV+E5Ub3E8bJaBHnWV1DMzek2xfV9E3tZ
8+sLSeeLJgI51TLmakJzNXXFYPRd4JVW0/hRBrArqyL3AyvwBqfI2cFwiLa/PD8Pa0doWvQXUT1b
zQ/AtFrpLkrMYdnOT8OEyy1SoQpYQC29EvvPbEwkQhalrL+u9tVQbpYh59/UpHB9F/8pi6Ldaqmq
3kMBcj6UlX6NDHxuPLoNPO+WLILK+fHR7/OybZG87oJmNJ1uy8WazgfW2LsjpdKfR9Fb1+LbKSGM
5gPkM4jHsKVoka7mCDEyyYdpoEin58gdSAeRh52kDl6kfjJoVRo0QjVetMSZsxttoKi7i6am20eD
SqJpNmpoINZVWfq31hqddh+pVvrmhlY77Qo0LMkHZJsW72fO4yIYYYRPkSijP+Ku7rCDU7wK/Obs
vuaVWxQbLyz1aO/mNAKvpI0nZ56TwA0OkgicOdXnVVTl6Tb2VtIyTXAv71OuqGA0WtXPa3M+pNbw
nXV4ubxRT4eEkE9ZYlF3g4uyVkSJZxCQWVlZQZMKd7gDlMTzzczxrvepEbTzTslIc257oDzXMsOT
SEP3lN4LT1duEBppq+gtUlzupimyApGiMbGNFqf7JGQD/OpZXMYhkPIeoNGOB8bxhhVuiIdCgw0N
yiZy8iekxDdSyY37aXSLb5eX8+RwMBaMFxCJC5nXW4uroNNROj367EFqhOHeNWrnU9saT70Sh9uq
6LkGf3m8JdMEA8x7UaVUezw33SlaTC1ZQwpKhdL7jR16f8ZxMmC+nbOFnz2jRPfg8qAnz+MFg0tr
n+4zCNmTSgdG1a2GORSDqhHa6GoqgrlOi6Btkz6YgOtsLLyG3umRcc0hZtkSR2kuI8NEWfhobDiU
g4+nW+Ew3IsktQMRN8rLEAFUO6RIZ2z0qL5qRvkjVVuPxrdEzpTUiv25Wlyh97mKHzy0Ew9dVl90
sXnfYFAufbKO9L3qQnL0Qz3SeZ43OjLXVpwq77TKcj9gJlP8qTcF0geMWBgBHJl5AXmWfXyTpS1p
r4d12IOaxRoyFWE83vYppClf71Tgkk7YVamvKgjxbfh+6Re7yqbPl7/iaeWZhodqA/ehbrZAy1Zv
VDO2SNjwSAvqKFHvoQro0vdGq6j4mW3a+nJ0e2vL066+660WrUxnstrUV8bE6fAlMZzicPkXnVaX
ll+0UOGpZvFUXTfVVWHGLeXJCtkwM5FbPmomdokRzcoWFUadhsc88yYpBcgEH3/4/M3kvYM8ZIR9
3mZOVVtsWrzaW18FA1/6NqLcVTCPqqnuEmgI2SYRafpUNmqOZrphT5+pd1u136FWn20rTE4+TrqD
ClaembhjYNDc3SSz9BJsBiwNcg9E/e+X53y6oxHuQEId/iqSLFSij3f0lDcwrqayDmD/2Zup0vND
W3TgHWZ5rdN1GptgINHO4SlEK/+Es9q08EIiFEkC3W37z/Fg2hC4bA1jHrT9fJXH4JU4cXaH0eXi
jbCkCgiyHE8OT7qoWFCwgd6lcssND0Y2b7MtiRGczqFsA6VxVT9OZ2s7A+A4lFMYbmKnSv4CfP2X
I6958cN7/ntVT22C3vvqH//jXf1WPnft21v38LX+r8tf/b//6vFf/I+H5HtbierPbv1vHf0l/vv/
Hj/42n09+odt2SXd9L5/a6cPbxhOdz8GiN6q5d/8//3Dv739+K98nOq3f/z2verLbvmvRUlV/vbv
P7r54x+/wa75acMt//1//+Hj14K/96///j//9c//8a9//q9//fO/nfy1t6+i+8dvzt+5O6jOkD+C
Glja+b/9Tb4tf2L8ndogmiLkBUsr9kd/pqzaLv7Hb5bxd2CoyM5S3AKGhDLsb38TSAwsf6T+HcFS
TLm1xdAWurn52/+Z/tNf0fWvL8Ny/Puf/1b2xVMFl1/847cf6hv/LwjjK7BQ7pCgAi7MXUMYPt5D
mjsLdP5bzxc4y3+chKXjytupeIPJsBGBk3V26WemIBN14nifmmpabBWnRQxH6pSa1LHfxqnUb12u
xs9zOpav9JaQwrY6xc13eOGC4IpqL/yIkkt749XqsCkn59c8MX9MY7HjWaLagk5fl5Spf7s0MlvX
d9PZ2NXG0PW+GpkC6bUuDEReNB/wAosPUoFup86quvnps59ZR2Ops63WkQrvIr5BGQ77z9VZnMyG
dp6cXF+EeXrfpmr20ElkTvyu6VJuIKOPfREhMVhnrnJw+gzaQKQ853Ykbsp62g5z62wMbz7wK8W7
eciad7o3ir1sG29fu6K9gbSimdtKAEKIESV74VJVNglVq89pL2bzwSRrIMQ52byzZBfe/rXUxVWa
3w/C9mqqvE94PYOWxtF2rXZeRg4GvlkT+n2S1R+QFfMexagiEjHPtWfv4mqmrel6qe3De3OHTV+D
69xgk2ZscteLX71B5l+dNrS5R0bDE2DfIpnrfmT1lhLINGXHXf46f6E8j3/zgtNGlRBqFedwXZyV
hknftSsNv8OA4VHTxrcuq+etwgS3np4Nd0Ulw9vOG5/1kceAU0jV76LO+jYVQ/FuMMYyD1CnLwJt
jJt92Dp5/ZhkXn9nZpp8Qe/C/Q7nb+q21dwm02Zqi+bFnEvFzwE03k6J0e8Mu1Sf3KnapWFp7vmM
zU4pOjsoa2HsxyRrvkFWaR9A37SvmW5Mf1aGp3xotCK/dRKv34VhrT/WilDgxJrK1hnGbENZUtzV
o3DeuVPpbqtels+ONXh/VOH8Qsly/r3qoQJWcVn+rji5Tb2cQqUd5c1dEglvG/bN9CTg3U4g/ha3
g6wYb4s5tR/rqRagPMvyXas3NMPDwXg1Wj28t7R53Hhe9sEZZvEYdonMAgDi9S6D1fVsGEqaBYtn
UUOqg2wU/zHfGWhQOo5yj+tidxOJOXkcU/FuyL3d2FrzxjMj0jX1s143UDbSpe+e/rB3KhW921K/
VN9rySRLf0QVcD+OVhQUo5s+RHFUAwJFojf0Ks62zd2FqluV+W5Wv7qT4u0Ge+ieGkdkmFr3t03W
aLt2LK7xYn5YNP28vXjbce8jvWguqFWKrsdRtAY/N1bWFG145MnWt8fa20C8GJq9Xtftnz2kUd7w
Gi42aTK9k2rWPky289opukJenw0tTjONYmuBZg5pYBtRmftelRxIwrw9rxBg256jXancrPIHSEOE
K4qLC+8NdATlzeNfXboD7hdox2+KWlGDtDZc35PzSFCfvMPIDsLKeXjTwkHu80gztmo0icBDb+5K
qnz8SP7rdyBMgWqot/Tk1rFzhGoQz9QVN8M4NB+9hO+LJHcSIDar7WB32h/NWrsmJ3cSxhDBgPJP
mZVXOc+edQuDomekK3gzIimmx8M2HmTzyXTa6HufGUbv2/Rt5N5K5/IlyypvH6pWkdX+2Pfh56GZ
TB/BB/Nz0wtxjyKQ7dcAE+/sBoUitYivgdgpSK7uFw1e6HK9Le1ScDtrslkrgcqBybX9xBvKjdUj
Baf03+JpQcPCQw2BWCDM0jaT4dcJ0jZ0F+6QWo2qzZijgCEEaqhKqX+tTbN6otzTPmb65GztVk/2
ipWjWwHc9VtpKIdEqZLbYcCYPbfKV2MCNGVqjbZJShE+U48rbuymUPdObr5gO4UnJL2NaW/SIwnC
qHaf2zD2gkpGmo/QGRY3cef0jzSJNCRRkWDzNZD+ey/K70cEo3zFLBx/nNzJR3mofxW6AcnFjL0n
ig2R3/ahGvpRaLu7WZ3jL4nnTLeVTUk4rdKW4liEBBE08HkTuZW1U2RjP4sJZUClicN9VgjaoAnE
XU8tuZmb2PxsxRKrmpmntY/LkP1prJQ595sqTX1zyuR9qSimsnFscdtKvX2ygKG/75Ry+MOMEm1H
OMse6axFYRCaw3yLBs84+2mtO0FUKWPgjI3xEFv6+0qkcl/rRv3JDptqE4WR9WiJPnlSUkO/jUL4
YSnJ382IOsp2rCgzjxUPMD0r4ltht/NtCz5yXxhe9K6oB0HMhhtU+KGs1NyvHas6YHRhfhONrW27
yJ5dX+kjY2ulBqWJ3qiTfVkb0m+h3mzwqhGHUbjT1k2yJERQo62/alFVBx2GV646pzdFlPSPuCiA
J0jC8T7t3BvXTuhdhtYnnerendHEv9tRinB26yGIMSQP7kSm2BT67KsSDahcsap7E6TXPrNm71vB
bbMvAaJU/pCDsQrGiJeRMfR8Z6tyHzq3fZmnPHwQVee+cwcgoENW5g/OUGZYStTWXjjqkyqUL7FI
xg9TO1dYEItQ+vUw6EHc5PZWhGnLlsfrTKMjKNIQdyyjei+l7b7L7amhjpnNL2Ezab+TRutYSKXG
nRpl6NbO7l6b4m4Tu9n0sUDDZBPlgP+6aczuxtKdEDC2X0tF5hsEJ+RTa9fT0+Apya1SuuZhLkhn
KVbuw3yQm7rvXAfdCGwb6qEvND8e3JIdBtcmTUoZRGLsvvAN5TMgvy9hnSe3HgTrp2FIrHurENUt
15zziQqa6ae6Xe1suwiDIgIQS0PxDSqfAiuuHx28j4zB8dMy12/nxvvf3J3HkuRItp5fhcY10YQW
WyAQMjNSi+oNLEUVpEM6hGPJWfAZaMY34IILbsmnmRfhF9Vz7+2qGXZzdjSalbVlWmdmRABw93P+
84thK7IlidwCczdipL42tjSJKxReTuCcs/BmjMekVnmUp2t3PUILUdvevES2s2DuZmMt3+smvaaT
vQxR++aDWkzPoym4PEFIxI+WLcx7YAyCLulon+vOfCja1D4Kc9A7pp3CiFBFJ/GawwgIzTaTGzE6
al9xA841rqtvIJP+i+ZKsW/Ye578am1v2sFsXilVsxjKhboarLSkMi41r9i5xVKFcq7mOsaPN5u3
aOKKFAsxA15IGWTJqyZdd1sWRf61ZxolNjIT9XU+aPCQGns+VKlp7njGundt6T4IX/Ujny45Iohc
RVUWuDujTNXJIxv8lFf5ejOYvXPynEUPfW99sXL3W8OK3xbusONoDLapborIANMwq1FEIliCTQJs
sRvxqnubcnePO5sZ6e3SYxAQlN6zF2RYxUxBHVCgrfn87Jkjfh9LQLizYzNq2uZaKW/mrkk/VNmM
MeSGLGwHnDkQ8U7rbky7KeydIYkDDPz2QaEgZFIKnLPM1Vl55ayd526qH4in09gW2iHfVdQO1Nd6
uk/WUYSWW4hwMmQOxVUt72pM/VOHU+q1ljtlSyShX8RyWqrP3G3LaOhX8eLX6RLOvWu/j4kaH7JR
Y+NXdowqy38jRGa+hgrU71nQxrkM2iCevYA7MzmeBljoY3RxnJYaMRf+jRcyHO4ZYY7HcLLz5qrE
/RrZ6xfVKTyAlTv3R4N9rIiAXTVWwGXtt20LOFfly15PdHGTV6VZxK1jJEE8JRZx3PlSm8tTzrR0
e5koyM3ijPoSSUTsn/O4NsbNVAx5+9sr4f3rXqfYU9thclkGCknWUXRKd8JxNLKWpAE1m3d97rrN
5xgkVdTwjs8TjmMiInOhmsLU1dcrCnW1GVlr8TBI/2JfzAFcFFO+a+txucUNdfCjjhzLXbGsxtnz
W3+z9riGFg6bL5EDjDNmdNi3tdeYbMQJVOe4BUptt0NPtOB2njBV2ugVNcqpyceK55VJT0yBmO/m
vM53C+PPK87x4JkXr7p7AM2ieE+WOrVubbczx8imGCmpgg20m3mfQMZIDb8dwyYT8nNqGbi4YjDO
bZH3++9vlRB33O57me+UORuPrS76vVNXxllgU7k3+tQ4k8QOVmlwGNO89T6gM0dVwilzZYh6cEPy
LZfbfJmDWNiluu8DhTkgpvLNU7OuWh6aKS7TodVMy610uFqa9NzpftGEcc5gPFQh5aT9VnSYH4To
uT1mSBqS0G1BQzmEcznnuwGb0jzU66rfk5YeXDnOkG5Wy4IQnwS8j6nM1wvXrf0SjL3sor7x23uz
DbwuMqqUcPFgKnhgm8w+jPnIB0HnyN0YSEqUG1Pz3JmvW5FwOxstgkS+3FY9HdFYaXMaq2zu91B2
COGhTqyjCg+QjIMzaE7VoiuMohwteA7QcO0d0j2xde7N4dNuvOAZpVjWEbsHi5KKYsFDKTH0FyOY
BhU2xrK027axp9sCSOTb6mvFtR00/tYxUy9s2oAHNFs2vimObZ90fTSSuHVbByC0NS4Sm9mz8WIq
XVltg1zL4mFSagu39k7vV/utwgPxmnDVA+4ARgztur4LuiU7pto6nzOMGY3NMK1GVC1e8mjh7bTE
duF8NJk0rHCmmzpaFTrsoK/KG88q2rsRWP16DXR4n1XN70mrP86VgQUkHAQ6tSEINpg+NlvfS7x3
Y+jQrSE1b/bdULUnQypz4yV59Tl4VB2duSszPSiuLOVTqbSj2CO0qb/VqlmuRSL1xzbLxjLKVtda
Q1f2Rr6tu3b8skq4JdJqjSycG4MTJClzJ8xFZ5jhatVq13fWHlTF5sHzWnKZ62at9q7MEsUJaqHj
7jimPdkYh6KyA3Dr1ui52kYyUk64RrLXl9o7lYO2fLV9pi1Iz4xDb+nL0Sgm476we9ONBjr/fWOv
6TWescKNGJg+E1f+Qo354GXpXZ+ZeaR1bX8alE4Q1ijvbcubQsdSW8Cf/j1tEBZLr3FCjJzTm3ah
kFKO0O5wCKdK9/N+p1btLpv1IAoyeknNdVQ8YBbLa3HQS9NZblI5jUSmFM3NINZlD4rg/2pltXkr
ZNBE+lxaN0Xq17HdCyO+mDVEs0KuOVRlcnahO9zVWVc8TZr10ja6vbcGvzlb9fimTUnz3Dtt7mKX
3gZhXuT5plIy3yOefU6bzv0yLho6XTvtP/vczuGU+wPPgey7cHVnn8LQt3em1m5XP7c5M6W8k1mt
42Pd+ECEqC53zWja3H3rM6+dp8BU16vMGgY4ffwf8FJq5gLRDg7Q/pnmJSXz0CYIWfpPNWVnrvQb
vZyWsF7o2Cyjfx9cec8A5cMsjZd6Yk/v9Pa+T8aHUises0zBRMjfzEx/+g4l/Q1q/gFB/Vf8+meo
+7ER/PsZvf4B8f4/Ytw//NTua3PBkYef/9T/g0A4ClFwYtDh//gvaPM/AMP/x1//0//661/+6++R
8H/9vd/QcNP4BaQbOBysFN0L6PO/oOGm/guNOA5TDMsxifkujvgbGm5bv5iedXEgxRuBDtj9NzTc
Nn5BQHvxrrtkGQGAGv8MGs7+8uPACJqXd7GMQRlmO6T4MCb7EROpiqQQq1vWkal3/b1TtOtRG4f0
0PVFwnxsAOyqNlk9DmFKn7mdyIh79pz2E8/gXydlHc1RvhU65Z+jMLcARZNkHUxWSIEBwQhPjjsM
w7pwDIKJoeXwBnA0b6FWsR1hNcXAMA21br5JC7lurTp5nr1pQy1SM5UTd5ph5dDALvxopsCqTYNI
T40bk9NY6FT609TMoaUZ136fmw/9fGx847gUfXokyvxpyREmFG0Xavk8nmtTrSGNLZ3sOHihC2+Q
/9EDfGTJuxHM+8ztzvXiXC1e+Qpr5GhPIj2lNtWsFOPBQPwWT0F5lZjOGI0uhy+18q4uCC73xqXa
z2t1XofOPCRadQJmuvJVfoI+YF/nuXMHTfKhXhM/1JXbkFDTNFvyaW4KTVUxbKIkZoJ0KxApH21/
icZe7YtJc3bI7updwATCL4ed13h0IN0whW1qhYvpPstLYnkfRL01jCHCragIMJNaLOshTZdzR6Yr
LJV7PVBxN+Jr0dH4rP0hRwtDt3zw9fRq0i265PFqbgmK6nwm0UMaweWNeBIe2UT5yc57ArOuCVqx
npXHrmto9OSma+wwwXwyF3PrqETby9Wsr5V92cN0LdaGPo8TisJlTj84eJnCrTvwYm9T1pl5yDoq
R4RShzpLHkRvhLVw1tAuVytKs3JTDwBSjt3HRVbEnvBEpMZqU/nlga5/b9bdvnPc67wiWKcsdrXX
NYQ/lPkmvaDDXXqaMd/DZd0KQq3HHYC78WoYONSVtQSBmaieDHdrDt7XHEeu0G7p6SZoDVhgC0B+
b5cU48dkG1dFcCnYBnypgZyiVpQ7gkv4OaPa6dh1ht6Ki0c3Udlb6q3S1a/BTPaFj5JfjfXVWoln
bShvhTvedAY218P0mAhKdBtW41LH2FCtDOiZNBUG8jCqqrxocbCx/XcKi93il/bWrU0t0g1gpWLO
kcGOzXEm5YYQyvtlMg9Iua+sZjm4WjmHkzJw8hoxZMKAp9jy/DwntXfW16rb+KN7b/iMUsq5udLg
jMZ13+3LxWqjRK9jtZZplJu1AmnDUoGB8VqYIm7t9KGtyy1YRuyp5IUw9JRLId+7XIXtmn3Q0Dyr
uu6OtB44bdgfq+e99YM8pWb24ekDXveL82gyPvgY3fzB6ZPDAq5rOerKEnlYqg7964h1oOrQndNW
uMZNX7c7r1zuAs2RNHTBVVMtT5zidynk4ryxHjozvWsN7R4jnSgN8OCjIYgCF3+GwjLCpDS2fqV2
9DMF4+EAK1Vo85l1tofkbe14vCEl3/V4cLWJvJZtu1+Lxg71AgRb0/dUQFOI8dk+aZtPT1aHwv80
q9QN9aF5mA3tOBDEx6jEJhG9H6ctneQpLUfJ/M+VQAF9HbnC/vC9fjogvBXbdnm29PSUpM1mEIIL
3F/6w9p85JsyKkcvVsMYIev5wiOaQBUwz8KzRVx0nRMabDidph0Nl3mIZVY3XWHUB7d3tm4zPnbr
8GTOjGtICol6hmdlY3SR1KVA1Kw7uzkgiAkq6ZOvYbVObdSVwUuORyaty/WEh9HGn/K9ODHRCNzn
oH7K/CfhEzeqrGZL+ak22mzdTblk818nEsKnUCz4tfX9TgZMGX310ag+kjaCkkB19jYfgmI/APbE
RuVCo9Agv+VnvVh6HnrCxgEcTjhuXxN8jMF87kQWSzcscINj/PbkePWt57DYMIhllQCwhCqRGHgO
1sEZxy+559zbJJTWJpW05d6a9vgyAjJuEgvMJkkZ6oqebU3Y50xZRdSu0+fQWJgbpcKiOyvuxgX9
T5O6uxkklfvnP/UzPUPLCEMljRO5jnibs9wKbdHfNThGi1WjxXbYcj01vcwj31ERNvRpDCukFrzP
dJLhuFjHWa9v2Qqg02rzi1sa68O0ZM+DXb+7qXsV1N2Hss1bfAdf2c4P9K2HagrWsEJ2Wxjjs96P
e3McmOwwNPaamtWcc7kLZW6rVo0hZwdMQiZqYQfiGelqObpd/q65QEEujU64EtyC6ONamf4H5TPG
rjjTx/D0n2tXeJvskk+TFO3NMtucTFVPQFHwbcYacatMMbLLGzio1XkKTOtO+Linvy6z/ora6rja
YtcT8gOeDGKbBt7HukwnMgJucoi/oDjUwNCJARnYGUIvrV9qg1kfI6Lb3FLPQte+TgbdE6Kyg60M
QEf0/L3r7ZPAuwOyvLYbeSuq7q1ZOVRXwwsZop7xrQLsgAAmh+Xk+3POjMvbNzNdJsc5WUoLvuWe
G2cj0RYzWtYQoPnTK8xbbucTG1d/VZbtvrQ0xiyJ30ZtO957mERzg3Qw3IItA2gmAmj8uqTGA/mr
dCvadJJBe+bogK7TSp/HQo/7ooiEBAbozAY4S91VPdk48+B3W7spbwEUj6L17/KmpJtdRwPZCzq0
1e6AIuf0fSB5EoRMu7Hs8mMw/WMWJGmo6rW4pqIp2Wxo9LBKfMFUtYjkynwY42miB/uc0UZzn7fi
1bA6yeFe7aepLsjtKtt4Beb3jeksLmWXHK/MqnqqmuEbWqF9g5Ceobn1TTRLrPX+afKzFddd6K3j
rO9sG+qrlRpNOJqjcZ23X0i85a1nEfz+jSqng3T0cymDXSbnbhNIZmSesbI9DNtZqG2lPA9qtTw4
qcVMtlx/zV3/XRlCRl46+vgs6TcKfDNo1y9Nwn1yjYI/3YDRzgW3pHzDlTw7WWo5ZQVnhBlM95ZJ
HIksxM5qfTptNfA419ZVPgg7svFAYWA6ttHSiGlXd1keBcJ5A9euNgxkr6sai/fJdYg7sYad8OFt
2dOcht1aPDm+OKiu/ugmuEl9kF936WJEhphlBCa0d6163hpQ8TaFUz5qMNdMJyl2bGRjnEy2H6ZL
3sVp0+RRpkOlbdOq2PY2IRU+7l2RdODwCUGaxMCuURhHNfVQjpL0ZV66cYuLjrWzHGluMB0rQiH1
dJs5FftiOptAVh0wps2QvvDBa5pz7ZlvRlu3Yc9ZsB2UPLPPnSZrumInV2yJ+TVjsTev4nbleDiH
s894PFfUW9hljHqahKQFaFtRgoVis+nEABM3rmLoXzn+kzTVvTvmX+ZVXZsivxqG4s0bPRn2nuTd
YL6Bu0dXho4cwC0DxJFu11IKJIzLdVSVMXHBXyFguTH7Yo5bEKNdTly7K/aj3V2jIdAZlcw3Gg4T
m7mz7uTCxmzgeTDDn5G2JU/+Ir141LQHMS87tciTMK1jitl5iMP6Zwu79+Qt88Pa+k+D7ce95n+b
V/yy3MVxoqrdyibZZsC4mxVi4RbuAEtL89A/c4RbfmNFc10uEfbA1WbQGzYd8iiUTKPR9pIwC+Yr
1TNgYzPtQ9kSCOKqBJAkuZ/VVFEkFwNbZvFWLuOVYQySxpuYJEy9zheWLvrmwo6sbFgvGjdEwXg0
lt14x9OXkSlifsqueUqS+kAADop3K24n5k22Wh/JywF4q7rHekjbuFTWaTDVq+ZhnKVZJakni3o0
k/5qKaxHkbg3frneD/V44hkW3Nb5EUvGLioM552A+muSSOYoRQJgFdVeOfPJzqxDinwN/V1BxeU5
sSooqOxmvJ0qLwt7oX01m+5a1BTDa3uRKxbBTepIvPSr6TTXTRmRowM8M1QbfVydjcboJirLZA/s
dwvKeJBD+i2xsnGHu1NccaoUmlGHydA4x07ML6WfFszMxa9YX8ROHxw0u/avdMDdnSAo7Vhm7tkO
iirm6oXsRVtMYK/bztlTdsVWm7023sKuo7fjQa+E3JNaNW1dTR8vDiVuGuqZcyBCE7UdqPFejZJq
nG31yEwLs52kmo9WXx9XZ2H8ZZ+UNdhhlwdv00jhShYCBS7TKdQAx3bURFhXg7bFe6KiTNEVE1Pw
bxnwqA4yOC6WXm5hO+YbfVav4Hq4MenObWaP4aiGIkYWQhdaDi+WFFdmkz/7XX3KMR0nN8fy4tYt
36yW1Qg46kfE3ED5CGZ+q6cMnJwQnXG/LTS3hRpB1nfXV7fMTQbMCZI6MuYuB1gr3g0zW0/26BwF
2azR1LElwhrAoz7td5ccmihhXB97qX62MnGbZc6bdHoL9WNxljjGX0ghW83pwubyirNz53ldWK7+
2aaKDQvJH7F5LLQu1v3mFT1vTuOXtqHIrCIsnKCmela/uihahcifWK4fSCNvCBilv+iFSVXefwZt
3kbamj249YeyqhcEd2LLjGprU1vTwZL9x3SR7E+tEltYtcavmdHUEWK2LEaexFy01RgRlG11Bffv
jSkFNZzBb4nc1U/NkD3INYWII0HW14pQ9rLSN67SaCCCuCPVKhKgcq17pXzttcjuBIWgrIyTUxsO
CQb14woJizYEN1rATwu42TDhq+TTp9/EqyqiZKIEAea35W074aslW4wKU3ufTeW9a90EEJaiDvwG
kLXfCDUc2lYd7aY7uvrCcNZ3tnmCgfKQuSfiM2f+fP9a42LJNu2wKY6uwr0fjFSu9p3UX5e5Sw5m
a29rmlwM+Q5uPcrQ9ruXZXLyKOnW5w7/k8JS1wm7dzKrczNY/TbxrBuTxNgm8HZBLQ5LM9/VZQJH
XebntWlO+aBfY3R5LSnBMrd+Qmz5iOnFQ1A2z8Zs7Icsk6FjDPtxtWOAwkdgBDtsg+HWa3ODysSk
CjLnKq7ML0kjjRB2XU+zO74WxVkM3VMv8OBOs6Hcm676BHg/dgOtqU0FlsyXNj67uLmNEBAdMjaT
1YWw3y4R4TU5jXF9nAL8XtcBIDplHYdWkh8l3HAt+bDMl5kNcVq7u3xS2Q4j6NeTcAPs7sT1NBlH
falorqfkJsMRgGCG5IgHFfuZsiLHzb4OXnfV6n7k6mKntXTTutNdeUwubU8LKTNfV/HWjbdO+4bO
NVpkWW88bdrKlppEx4Ub8j8HqZEchDwPPa5nTtLcw3hZwzoXYuMs2YOyPO2kz+i9pKPKbYcM+9KB
n5VnPzal/2QNDKEFP4AQpDf2JP5SUsaV1Xw6K5btREKd+9yLVnOcd2Pf7nWX2dQQRLCM9m4/POaE
Nm1r9eYUzpvXed6hXL4V1XIoQBIIrUKYN65nZ/XCsdE+Dd7RC4zUUNf917pbmz0xlHDf+BQ+eqaz
Ug6jJYjYppsRPNphbCDzwoxhlDF0DZg4eaXYMKwCrSugUOCVHc3NqO0McD44f7z3hoUS1Ln5rc/m
lEtGoWObMtmZdlNcT46vHR2EdSdXWka8wFILZ7MsNzZWohFKrYd/Hnz+v0OW/5CN/f8gvHyxP/oj
ZPm//fUv/xNk+a9/+S9//Qtf/+ffQ8yX3/0NXdZM8xcSAjyYM/jAAVdfuKm/ka0104FuDd6MngbL
TEzA/v2/+xu8bHi/XHTLhMxc3H9165Jt8DeytWH/AiCN9hc3SGjcuvNPwcuA0b8nCUPkRrWMsIY3
QBwS0ixw7N+bhKbCNWfHhpS06JpzKO0LPykZAveLw0zwOAH3/doi2UIg0RN63GY0OTn5x9a2Tn3x
1hjFMUtGt4s1rXE3UIdIJRaVTkXbSvvN9hvzNPq6aEM/n/2LmsPk+ADE8l+TwNBuipHB6qbE1Pgl
SObxSluSzdJUXtghm7T2vRFoL2PXcFoVBLyTLua8F7qtvdlsL0nYGnNs66hBHHe1worx1wGblnlT
uuafieZ+IqVznSgAcVa/+J/hmQsH98fr1Chqw5J2jZGn+WTpUIKGqltg4400E3ZaiT6ssTndp04N
2yJzxw9HkewdVkhfOIoAex+0vDB0MGBzetax11RhP6FLK1BNN1XTAspitwhu1ff0CMY45nFd2uuf
ECz/4eeAWo9jAcoThPE/6amsaUg9Z26+dUw2ifBJvmZWqXZVW4wkHCCrYoD82beLHXnM81FTZu59
IBYVSTWwX3sth7JMjfekSqZj4kg7DLAUJwzWPPhp1p8wcbRvrTorDvSu+Z94qP0oZ/l+Dxj5IOX0
WTZwRH+SLzH+rCxQoW+1SMRVjfzvyoc2gyXoZF4Z8Kw2v1vQ/4BA/5Nn8OX1oGcjluSefleh/jR4
WecqV7i2fB2t6lUrnaesWo0YI2y5l01dnZIZRvaIyiGaIZItxSK2f/wGvvtc/xuH97c34MGhIWEE
Nqz5cwSGKOAZyKX5ioGUbkA2cwQUjqHoOE9q89taJRAhk2ECW5ZOHneTrt6FbWZthHhJvc1GB4lU
9MK/qhbzxqk9XQNCqLpfp4RWai2Vl21sXbbMrIWWg0CYbh3j2qs9N7lGs66Xzja1JLVJ2lv3a6Bp
415UffpS13V6ryX4R4cQRNo/8Wr+SRTGx8YJ7mJNg+YYVRiDrx/Xmm3NTUpF9IGt79SFDSXNUWne
/Nov3Ux3pOfNlphw/VumLyZmEsliX/aCBMafX7kPGQYFNHsgdcTuzI06j5KRdNirdnyhX5HnzLXX
dbs4/p3rD87zki00jzYFVZZ1gJrz2CB/yPprw2nyR+QClOa2d/jjW/t3j/IlWBNPJRYhWn9cu378
iCyOJp16573tPJuSplrjqgQnNFJatrYgHOKPX+67CvWHJ4nX45/BBob1j/NzLmpX4EcNb/Z9RE/w
6kD9jFWZM8WpCAM6jCIw3ywSXfaTtp4ymbQqKpPh3pzqFux+Yj8yvRTIse3hhnsBGUKDUZfAs7at
7SoReAcNaaQVISmSTN7KAGmeMoe73O+mRxOisxZ2MqVHXmBNeK48GYnunfTGs/pwqqUZ9ZrFQNIJ
+mMAoPiN1W/cOJfmRiv64M8cB38Us14eL6x4iezRcU+5qCE5dn9/5NGT2Msi1o85wHWwTHt9o7hi
IUPJ7NSG+HFzuvzJ9f9xhPu3l0TN5HCMkNL0s2gXQ2NPUnB/6FXvH4JSgqZXXrpxyiT4s03r7w50
1gybJLeZLpfF89On46gWmtkPHyqYXnGb66CAyqH6YtRJVKwBMIKbYkRXYg6Fx6TvVb/mfVEyFXQJ
6f3jh868nIk/PnTfHzgdfjhv6O+8BctAeH5mBu+NvZAkqVYhGTLjmW0WPej5MrXlFGVwrZ6KZGYk
ptmp9prVw/xqFpcw5mrubha0hNXGAPHgKV3qr/QXVMyVk0/g2FMy7ifoLUPo9X19MpPcaiGBZgWs
myRxeUnBFPuPP9R3KdGPH4q5PqsW5x0Lx/7vB+zvXNX1fPUh57rk0JlNGhID4X7qEBajnqV+MylJ
hnbtU/hznPpG3LJ6vi69DzSfI9QgaAZr3q43ygDguJzpDhcZGzlinQ1dcf0256n6ptyJXcHU1oVK
YjUf7KEazrBE7dcVuu1z1yTmDXvxBAhLO5MASJSZbDQGID72JHnjcwF0mXpGSHpRvTfVqL5gomDa
cQusV5Wrd9RW0znZbQOIhtEZniZTgUtX4BRuE0KEK+4Q2EuUFeT7/Zny6buK4ecrCFVVh7yBMRXP
xo/rDyHcMA94TPZQYS7u+5DZjMye8bfNBMPLoVY9vkTBQtBF4y4HL1ugkq6MOQrRp1ii+fAgiJdn
ECeqF8+Uzn2Hl9X9UEoCmNvWAhRcUnc8BUsKAVqTQ3P3/Rn4pwg3/3/2PN9vxh80PZdG57//vbb0
+6/91u9Y+i+QaTBSwYotwI7jstX91u6Y/i+0GZfcd0P3YdtcAq3+1u5oxi+XHQL/GUgzWGjx1b/2
O5r5Cz/tEWcD+eWyhUK1+Re+zw/cqH+sLrW9S9X2u8ePXgwiDTpVJNG4X+Bq8uPjh7gogTzqPcgy
cwa0KxWMjzQJDh0zxmfTlDYaDreiSvCbO3w1/euZnv5dr5m4TyRxbLxMYEo7WsO5h7L8xVyS+UHB
NHl0GGRuMZxTB6eqiudVGY/ES69PBjzGaMmG9C6pRjBDYpHjDH+YKbSmVG3dju/ropQHCwg88iZZ
XVl55h+FTC79AO7ehHFoPbFYLYOPuMskfrX+Re9TZFmLiXntOb86gpg2KBYrvMDKtYYbE5Lbqegu
9OAkGcTRHWeAgr5zJUddSxzTVqDhxgAQkngfsvy0jUq1fI9yvi3ZCYg3Zcpgt3fCqt0M4HccnwcX
k7qws5V9J+bS2/FWBniStkMuWWLc2q3yGDUbJJUrpz24S645IYQOg9RDnb2sLtKNbI3jMDb1LrHy
s40p+qmwjY2Ar347e6+BNd4Ch4Sq0JbQ7bpvnfWrk2nzXTrPx2nw3/sSWkI9xIk4rfQX8yRRhOm4
T4x9jEElqEv/oGfJp5YE07Hr59e2ScRhbCfzprd9QCeY/VBxvA1HzLupL/7VILsjl+rGz+yHJeja
2J7GbXYZ76kkS98LnAVJ0/I/HE6tKHO85U2Hxey6QwkAF2DN7Qxf8i44zKZ2ZH8qQ2LKqvvZUMUO
H8Dms9Zd8Nf+m70aT+yHD4mD7m4yYkb0W5L0OOc0vupM0qvG3LKpZ3P+NObXYNCt3+6VSEyGLPa9
24pHKJTdVWHOb1A4FbhYsu9IfZQge5u5L9fdJGzLPFljUSLeyR9R/CjYV6YDOcKYv2fF9vq3ZuZ+
UZLZrseIVcsQPXGOWXXYlc3OocLLp/HQWbJ4RoCljovnRiUGC9X0ytDUHT+1fHzoU+RF9ZfOkSND
4AkwfxAqCzELH8yY3tKPFs3us02CteUaOrBK/NDRLKrbHDb/sQ40k2G21YnpysCH5k0jmf12mFI3
9q0xPWB7aZRh3xqIviUzb2g39SbPBtg6KY5OpAOFDmTysEsvGiH8HBwvuPWKLghnNexne3gxOe2A
uu+tWSFcQSayzmFXKXsjTUjEaZVvnQVqlhPARxqtBR2wnX/RVbFFHz+GPlT1kPrxyMlrxmM7XtVg
tPt2zK+skWQMX2LELmz/CqgBFRc6va1d69tscIazIKD2uFqlHxEIicCIyw/Ir+nh4q38xwYovFi3
7dCswDkqAUyWLqGdpeceRIX/9Crx4+whhmtiismaCkj+QKRUNOmDoFA41GoxHzXhpHc64SNRW3Ip
SblS2wBlA46Ocvys8vRF5P1Bq75JVRqPuPt0sehcDaqBPRyMLthnbffS1jbkBYH/z2JRSUBCGF0C
YGesWiMmWA60J1Diye3nTTL4azhomYhWiQlqOEBXgqZj7+0l8bdGPRs7RjowrpPU247ZPP1v9s5k
R25s3c7v4jkPuMnNbhp9kxGZylRmSpoQqY59s9lsbnJY90l8JwYMeOSB/T71Iv5CVfCt0rmuwh0Y
8MAo4NSBVFJGMBibf7PWt9Zdi2BmNtFjUtSH2EIvSOt8SCGNJlXxrkknuQKLClxtA/R7eEI3Hq2J
mdCr2Wbp5lWseEeZrImz+xJz6ZDmBD2CIO8L03/WxQVhtelL0vZf5DwWn4u6P+SdJI5ycpDJjQQH
snuQGJK5/veZRF0ovEfL6tu1bdFYoEw5mND+YHd8He2oOWQ3dRnJbH1GIVygPQZfVx5IevauOdbq
B95Ox3IbozALn3Gbizw+WHKctk3IenSYk60fT4cgEcGB/HImPMumGRznY5Q5E594kMbvh3pJTn0l
0l2VOdHK+BlWtCFOnsu4fM2V3A92CgLX/xiEYbVC+SHrQ+tkLkjhIpCvKc/PB9dt3ed2GjnVw4TM
T4fvrky5cLO/KlWuVs0S6L0EELSuStRek2bLuIgwXVEoWcc2AhHomtQ6s+qyR6rYoTpLMQ6fG0MH
sDKO531B0FZLZPKSCGSRwZJB2GGrTbWoYJ+JTF8bktrCC+YK8TwW2BuMzC1rX9netWQpf71xPtBL
dLH7YDoxrBlpEdBdzJiXrJsVoPPyc4DUPUQpA08H8G55pSNIdxNCmDU6uZIvZo/91yIDxGgcCDfZ
+GEpvBnJnQxe2yTZyqq6yng4dGOyb3FzGV0eyNytDygO9Mj6FCcSdIMj+tODW/qILhp1do3NnsRg
ZFyh+RghM0rrEA5TviPlJN6xg1uzvl3OHUr+B8T368SfuAS8B238l8FMiFxM1j4uvWczJn3TS57t
Yt0Gz9Y4xztzs0Uj7rpBqfvpkKNn28ah8l8Su2jeLLdc3idhkG1NrKuLi7r0BaFMepyLmsWhmyWn
KW/SU+FE1tUqu/mdlYXtx2z2UWmllCI8Pecwvg1pHR7Yg/84dFZ9V2V2/TKwuPucCn95IpojJoDJ
9IQhxvYurML4Afp+uUGZFB97MS+/8Wz+fzX8nzCh/6E5/Gdx+b/8519/+W+//vI/fv3lv/9x+P/j
j/0+/Q/9fyDgdtkAMDsmtfdm0/99+g+Q5x8uvAo4fowygYf92/jfdf5xy4Gzb2ERpFf/ALT82/gf
cBAIDce2BaiLIPiPVMM/jULsG4uRWaqNuVuygPg5CqNzNdhu/BeXFORRQBKOM4v7QhJl/MXqYocj
xXIDeR4Cx7N2MaKq5eUPV+zfm7H+NK6wuQC4goMfNTnwtB+Dqz+00xmRpGmBzuOOTEjlbBzd+dGT
TFwxHmcvStuTmTnAH+IO8aSFM8r48lRW7tCwOcYYxlPd70miT/+mzf8pEZixCSRM8oAh5PCY/+fX
5UBTHgTGojtnGsp+EzZ+BsI5C3mwkQCW6BvCqPOhjLiy34GoiNJN6FZzRlS9zvIH9K7FtCaN1ApO
UBdGsf2b6/bTRAnDPfNRCAEQZljF/3NooFtKp3W99i7zM8DXdoO++ey2VvhgGfYt3w0sEeZshQsE
RTsdgSJGBjUSMMjL3SZBSvGIGBD+X+IM1bIj5ybKHqYaA/DD37zSP2No8MSzXgLxBe1KMDRwo5+m
uaKZhbSMI84Lq2JzZN7XguKgIjGrRJnBgTha1d9IZhrfAbYEQpNPqvcOSprhdyjUn5hQf0QL/TR1
Ja01FB6jZRI/ufH4P39u/WoUHJz9YmJURJu1BmTSl5dpWnjCLTDXOGt9NaR/Rwb9qeG8/dSAt806
D3weKtmfSBw19kK/zufhjHHPI/9lgaCBUJTEAjSLi6fe4+HMbYwPMjP7xqn49dnKQ/341x/ET9M4
Xgafg0f/fOt5oT/eXuYfvmnu3FIwqbY60xkWxYyNEoioWqmoTs3+r3/UTzfn7UeR13TDHvHNAQf2
U4td1ZJgk3pSZ9vktEXoYf3xKCscqStcv1nzN0ut20jzDx29IG/49h24LYY4Tjga//zOVJz4YSId
cyowa4x0yT8uIVhu90zNaFXPXV3J5TgPjScPf/1O/+lHE+ACD48oYPoCcEe3K/GHi2r5snSjuUdx
Yonc7EOfnCSnaB3/vskWrquV47Dd0qZY3d+cAD9fYw+RQMATACwiX3/H/+musuw56VEqtac+UcJe
q6Him/7bcZT6E3fSX7/RWyzOT5eZZxgDHYJTsEZDZxW3a/GH94qV2cSN1ep931hzs02sfv4+uMus
D27C2nvL9xr1UB5VDENBLW1z6s9zVQaxt43JMLp3g4FxfyGj49zOJdoH6aMkYkoRYw3aTg7aBrZd
YEuYq5xKWbmvKvKng7It/3GK/GxtOjykcH2vxovTJx2jFZarMopVZO1UBq9InmyGpgNq5rLs132n
xu/RAEOkHXtN7SnKY+ouHrVm9bkaW2vvkWtxYSkRrlvP7taRE4tDuYQV6ABkReeuEMMeLmpIIIQX
3mfkAK+rBBmjaZtgZ5OxfdcZrAsZcuX0BkEouCgOubgie2aJ3D2mAXLsWVfFrhm9/OQDN9jXcfU8
tcXyTk+g4v2l6TZajDFy/d4/JH2TvkFv+B4Mi492VBZqHU3FwlbKWjaVPxT7KKJRZKyjoz2XwV3V
qWyvQ8iVEFaOTLltxWFwaQQmz25fYjFVW8c3BQuwtu7eumJ09vHsBbsaIc37RPXhdrHjenMbmX0O
J4cmHsUbw48mmS/SKx563ADvPPY6K9wT4l0IPe1RN7b+rnPPrMObFO1E7Hm4KtA51u9c8nBWAa9E
s8yasX57tY+yZSSU7xN+auAvKCIUqrzZOxn0QGsvjYe9N/vRHsfWU17V7qlJfUPUsprwqSmkuin/
Gfa2QaHWilzr7MBrusvzanzP/CT9mOu6jDccD/l9gXL9SYSxe28lqX6ppFiQ8GrUaOQzn5UvMbxl
GFawd8nbVKoKxV4rlW5RwDG47xCM+ptIz/mXwnhnR9D+wx8J7CSPyKdWLGCfVGJxc12NxO1/auL5
iwcaZG38XgDWQoJmwS0460gGH/RkZWaVdhVdL+N6qBFsgQ6NzZQxscuv7uyJIxi1aZ/TCiAZKPWV
aGkU5bQjdlBk69EGkoEClxVO69XPs1zwuEZ8Qpohwo4AX2ddeW2xy0fSqhynp+fG/nORJOVteARo
7EtOXK1aL30KOqxSjlcCY2u++kzrVlOb4Jibqyfhpa8zc4hVEebDLuhwhM3C2B+Jn9trr3IxiYzt
3ZyMQHey8T5uYC85ANW2blnkB5MYvc0QGOE5i2+AExlOOy2sfj3pfLlOQwAtCovfwana5qF25/7J
X+LqmqksechiAsdJVCYkXZnxbLW+Na77QHvI76ZuJP8YzjdCN0frZOsFVdyx4yjxzMVpar6BlHEQ
3bFuRCBmyotIh7w4k+RSlh/SIi6tjyjWsNMPUTh55QpcVZ5e4PTX+VcR5+K74pNzXsjm6B7rGT7E
ZqrVMFxDiCf+axR0WfzSoXS3WaksmI9P2red4nvYaD2uLWfumetRZ3ztwpv4I83HG/ZbhonZO1lI
9+omvSh3vxVmJCONuFD8cNDyaFLJq8Ky5m4xcBQATsibkRmTDt1lu9nSY0qNmVLV9SO2xV2UN056
nPoyDtcN8Dd51FgmupU1Z8UlFQlDY7wdY3iXENbDAIN5WXHyZi5BvW4K0yBaFqXU14CTWMotcpqS
sll0nCsvY1oYhJUxQqNVbY/RsnbLKum3knPUXzcBjuc7ry294qLon5cHaUPMAFYwLfE3BtyUT1Vb
yDeno3A8tXO/PNcRt1iCErqjPPb9hKcS4CygPUYJrg3ublsz2iqH0+I0rZts3BhtoIdXDW1KUwFe
Wsol3rliCPRjVamkOI3IyZeHoTah/75iLI8o2I2maFxzd6KeVROQC7RzbcwsTvGkr7/VS5lWG8UK
vjk7fdalRzvSbYJJxEKI5O8Wm08o3QZ1FjF8zQKfQPdhclA19cplZhjxed8pu2YturZKpfLqIsoe
bMjZGyEgBWs1Gc3ZxSlPft/sTtgt+YRVvZOwsup9Zje657uvwVtu6xB71UYrzC7+akkX5IgbUdjB
16gii6e62WxvTBmjB1wCQd7rYO8lqtw1WZoEqJQ17v49wFUc7Zabhs0dbKwiOUUmkPKFXOup+1bV
Ex+LFdpAfW5zMfI41wBHqAJoP/Pw5o5grH7n1KCFPw3TVGccfnCbkGTNjLrkN1nZAw4Od0HTQwIh
XVHyneqja98t1KbLkUNS9o9JzIG5xkxoOMdSIMLP7eD0/lX388KVSoVy4491N9ccWfFYZfGjIlqB
RUXvK4RQq4mmitjKEhxF/j2jbOluGZa1hhXDFkFBmG/62aEonWsz5u8tBZoxSHKxtUBArSA1Kr03
faGOSVfG/XokVOY6uJ755AECexazjk5tnfo/zEbkCQocc3yVMRRmR95ezXyJHmgVuRO8kLI4+5KI
0Z0a7Rn9SIXFKRrNm9JDuiL6IdvHYR5erKGK15Ocuc+ctmenEVtPNvKb/XJzwwDw7Na+vOWjZ8bG
8kjuS9RHwX0WMGOMssjfCHgZm1QplrGAQr0VlqpxqxaIRoXlRafZscZtGyUojn3DwRI2BueEtofy
0QuTchNay+isLFpRs1HI809pGJYu/h3VXAIvKYtjtEj76Cw6PmSE9B5codNtXk3xDlzRi5irDCd1
lPRrZBtqZVfSOyM7m09gNtTZqSY8a4Msz7rmrvYGrnXaNn64quvW+wyOudy7eeytSoPitq/G+jjU
oXrXLAIbHSuiY4cyflv3+Te5VN2jQv62Imxo3DQLkAhhmvSxyfnrenwpz145inBdy7C96+wa8uXM
+uo+nzp8nbXrYQGxQYFE3SA0Rs9RPy9TSzJfNjSGZ5520xk3Yqaxew2T+B7FVniXz9J9cWKaYbLP
mhKAiqXsVWQzlhuzftAreqtOoamOvZcCSbu3C6KkCj/KLkryq57mHLMDhy9dp9ez4IkY829qL6yd
VVuHTDFBimHywic83FJWxvYp42F9SpLM+ewmTXwuXKRvjikbDaYq0TdvlIhWoefMh2JIZmvTNYxE
iRDrxpNJhum1GbrmASsABRXvPnzEkSJ45vtB8b6u8sawhdPOK+mf4TNeAXNKu755HHB2H9NbY78B
4NIfbWUYNXRdnyHjulE3MbDLne23rb+dNahV3DRF/HUY5+jFE5lCfz22A2o1a+bPMeBB6d0BpGLn
E8K7KEc0bfzFzN0RkWUYcwY5ro0JBrEbGbCeKrQQq9Z1eW7pfI7wg2WQ39fythmZs677pOG4PYnS
xPEqUiPcKpeVUw1LPd8FjYncazhYgDeEXakJKSlCZaxMyjqF4dw/DzT87zjQWV4Iu8zvOxOXh2Ek
L8gYu5x3/aQJNUxyhfXBKnWJYcfGbRtVswGpBK72kEcpC0LD9a4AmheetYoRbJ4dNppbkS7mrdJB
sDVdJp70iLRbuwsUwMJLdn1nvH2H9ZdlXJW9B/j2JppCHniDniaDvHNfubTK28wL2SWYSUQAdAmm
rOWk8x7JfX1W9E171x+TjUIDrFamK1N9jagPH1RmT89+FkxoBBG5PBu3Hk5hroq7gjXSpa2ri0W6
65dJDfHFL1V47+h02Nlm9g6ywUGycqcACAujYYJsc2ZMhXTWETj5u8XOucV6p6ensgfr0PpVd+81
i/UW0qig7beW5QtfVqfa2HBeP6JlbN88CUBSjvilawpM3s4ICMVijTNSrkw0VxnuYJnRjlVdSIKX
yJJvKsz9kzXxvejqTOzzvlz2LDCx4nR1f3EGWCnCa1GWFVO4M6FXbCxPiyefLnijKySx9OTttp69
b56x0o3oq3MSjMlOTXH0zo4d+/1AD3DCMxOsHYw412FKJHw3rGHwnYZtpvPgA/SxHs/nD/PukO4J
P3JWgWyDo2frdl/J3tsKBuEACAAvWVLdiVA4VD/4/1Dp9uuhcTiwCr88AdXlO6Jq8VFOub3DhorP
t5b2egC/ttZhf0A65FKN6TZyd65HRbXwgnbEOcUkExdfOjdI13lpgQHTVkWhM8xQyOISjNhIO2oV
ybaKkkHtjXCnL/Mkn1vZFaei95OTxxIPDdTyyL41+E6P1Txp+shrTufRb2efTcB2wp78GEsK5E3Y
j+09aLs6uMwV366V5QBOSytjAxoIupBNJQ58D+lUM/sPIGys90DDonAf6jjLyUkIckgU4RB/ovbB
Sj5E6Gtmv3ok/MD5MHeq3zdZ6+PhJ+KXayaKl9CU0DS8soMCEXvAvTyMIUVUHrPG+ThOun2cUkMd
pWL9ULcKkPASJZzZgTjH/jxgkpH9U2zDWM6bip2tEZR0N+ae8jsclG5p3WN3eMkH4Rz8dGYIaJcp
xOGohAfIGRZ2Q3CGismL0G31haMMZ3tqmdeGJT4w+Skoj0vNeT3jJGJ57vvWtgy1uZoumO/4bpcr
V8vozqjUP+Vx8ZnWOH9X0IawkVbOu1oO3Os8oQ7Q23xoeglFGfdJygBCFUfcuPl2hvr2lEctFmfK
//aArhaiXhhUn6Sy2g+tUgqbVojesa3UgYRK643BKYf4UtY77uigOISot8D69qyJEzcW37tJDmvI
C+W2lTLZlsyxtn0E7Y1cNlxhHDlBT5fHybiVTa25Gdm09kXzmg5d8eAUZffo+zh5UxcfVGrNN/qK
VVyijNrMrqf+0Lb6ayaLjk2V6v0GmDMe+TYo2k9LgFXf9jIaVChUZC+OZlRbquE3j7+2wpuKxSi3
xYPom+YU3561tnL6swtI4wLBQl6Z9bnves1yDaFw4BxQ0JyrOpGKzIIyWNPVpMBOcuHuh8yaDM6V
egAGGNb3oyuyt6gc+AJmC4JdBhpU9jHt6mTaZMOgLn5CgWxfG1877G2pCe/YSQ+7Lmu1vRYCih+W
1QByWDTtE2kdtd2KVVJaNsSL3qtW/SAWCSrRHr6NzMpv3aTe1EY3+xIyFhbv3P/UF7bztjCLQSg4
co5R73PBwj7YdZSsWy7ANyBcbBULhGaVjB5ZmLZbMQUZ5vKKteIEa1Yo+C4TzJ1jIju1RtBvUPCz
T7uzYHMJ6mjPe7UdNUDTCTQjEc/jJQRnWlrv2epm8+b3fb1jAlzJLRk/SECtoP1YJdP8gJjH0yuL
nb5ZRf2Cu5NxI3aloSg/lUs59R+xDbkrqqNIs2vHFsByupFfoirBGg/yc53xwd71+gbobCIbrcUE
zWaUmQsWIbSbuxL9NCemM+p27YbJtMkacHVnRkZxchf7IaiIgsnRZxuzV3BwOexGiBy+9+p4PMFK
sgynFIJBGiFHQHXoD+pu5MYeh1fjC+QPQICldlz89IMIh5b4E5P1qTGUhma6zCIVr7lm52238rXj
SXuxu6L6xqyEkqNNLEwDxSCUaWIwE03RtGvf5bWd9I8epkuZDFzrQtFLpsijSLst+8Ff+YuJeDQE
lEln5WT8rtO2bX1RRXhDgM0xvzL3uDYt6kYPsMiqtYF+oIJq7Oi6jEG2bGqlpX5PKrS8lEB1/Qsq
MNv/NNauU1yWaZrZ4PolNNUgs4d6X5ckoxWAgUP+1KxQVe7TDGbHXaT4wB9nx8X/vq7tKucz4YXR
I2RE3Mp9+6N95uCOzReLzDMoN3Hsqfi5K/zexd6+8GLDCVPNtyzqh+URsQghUJwpIS1mAe2120PS
RKIcLsmSQz1adPDgWoPTrSs3zRjoN0Cj+ZcUaqaFsglf5jA0lR0kR0BHY35AVhBcS8+lj19yL84+
LQ3iLlqvheZxxJKLEbmBuROehtxyzL3j9jT+BWEQzlm1whScrWVqsX2e+4bxBBwfh/Y3AlH5MIHh
sHdNIHumIAW19FGNxOCcQyth9G1HYAIPIycNuw0dJ+bVS3K4tWuh675BMET7tw/F4Ax7SlOGBWS2
2eI4Z+j4MDl3Q4RpDnzVCYwVrxXRnywuU22a/DuAqJYmSFOhH1sBJGO3jLZP7BIz5mH+jvThBuoN
kiX0v5NiAaR5jTeA+0mI9LYyaxouvGt1/C+aMZiQnl069KWDv7DZ82PZZ3dlaqv8XAmXn10HlLYf
OIzhWFAL5R0VMnF9TlOKtyIlDlWtKrq1jh7ehWaInneRfHNaFjLxrZaxMZ2qbIBwFCGEGOMVSH3/
u+otod9PReTy0ZU6tPlX4Pm3m8WbpeevBk80FE8V8EL+sjipVmlMifm+R3DDeBhcNRlCy5SfnD4N
5K4DRAx2shsWF7UTHtSdgtVf7yiT53wrjVN7mJIIpn3IcczzteqJG8Jb4eRpfUI9JD4QDjrMhoAI
4NTUcWzJ1j63xoFH4BTdLZS61va2+JKXeunR3fDgX5x3qUQjtJpINOP1VaQm9HMY4S0eq2Gn7IV3
zbAjOouO1MyVLPVtclYkfJh+6Ih6Gw9UBOT/+BOiviqv483UiyJdT6qltuLgM+qEw4g/JQPoONR8
7NxO/RQu4cmLxzo9UvEQ3Lb9bSsqf3ysnYsK5QlcblStlQ58dYw7z1YYmy293Fn9TQ3SVO2gQUJV
obONFj3V16lXWO1zM1pnbi4ruo6dbI4LP7F7lLko2reoFxaiycAv9gyy8/ZEq+nMZxZjY7DLu5BU
8tIZK/sxLZq53nAQessmwuSVX9XiexFjBUJbL0ai8PL6qo13C8U+NWwd+REEmB4jWWgXBsgT8+P8
BKMiY7gro+5VR1Udr0Cyc9cyphmiNRmHDVKovIBcJaRWn+fR08Bs+IgOsyO6/ivaW1lQlDZ83GOC
QXeDEtd5DcobUbvBOW0uzpK0X10+6jdmRIV7wCzSIFA1ESgmJwNFu0GY6YDi4hvGEU2Qc3Ao69ut
MeTljEb29uWEksk9GtpdpA72sAQpQj6nx3NQayI0wdw4DAarsVn6k5NX3rQrKRT93dAxSWQp1NbO
tsj7/Cx0Uo+rzHWHepPaiZlP/ux0yb1rxyh5cqtGJUQpOg7MUtMmp68cMhECFK2nhfmj3yC0yblx
g10wRMW4hoaenxGZqQSXoGi/B709pd/dhvQIJs9O7OdcOMlkRwHHCE4sRarqg+xG3lJGfHGHYrPC
O7wCq3fz7y4ub+7BcTQfQRvIstg7S5XsJ6dzEtJd9IBerkrI3N17EDbnEx076+GVw4mbf8+Z7RRQ
Zgq/uHg6xNy4wQVquh3rXybrltf69a7No/lFzfV858wFS3EWER3nJxJqTi9T1NTdeTephODXwK9O
HmlYajdI8DcT5IzGiV+yIPXUHkpXaAkG5VTanNNVPN2XOD6z+8hgbd6FecQdAeQsI/Oj1OyzUg+D
db8uQWDzHtrKQvFYZE1ZIl4LrWAz2WF+WJwo8w6E7A75kXYjepZkgBCONrDc2yShjTWwJuUvRTbW
q8+2Bjy1HkD+ezvBSOxDp8J42sgiB1b92zPit1WpqdIy3zZYJZ88eDTJhYvkNe8aOceMLFimDi8t
SAn/+tuJGQA8Es+6s5t8Z4QNr2qmswDWSoyKTvdWP/LBEbrA4lemknhTxkd1enAWA2IeeWZ5bHUq
c+B17tB/9UkTGTaaJx6nj192/n6mDnsuJCDRDeDf/mMrAltv9RwusLKCpp0ciO0G1eTF8CHb1GyJ
yq1Djd2n34k5pia2xNi0D5NkfcHkczDW3q4zE91bTD5j3BrJGH4C/eKVF9SK/hfGDAoGuTVIeDc8
FjFQkSNA/iyV7/IQO6Bm3oPwUXx9gfQfUd4BgyrrxF4eOzfkN32kRSNjEO6kDNJhl8ovee3Ptthl
N3DH2V2WWX3jeVIWPFDsrMrKFfPrxbr2yAfa/ZSXtn3AE3wbCFvwUb1oQwsdm2md6kT5X4jCQ+Yc
yiSFoNgBeUlvx5RYNpjAmiXdNMaxYnsjIhYK07lWzQzSyQsbkhhV5aJp9SGBO586vCXoSif/JuJh
ORCxIsgidCiYUajkQY4Haa2f+q7U7TuaiTnbs4/1wrugHCe5zqHfVYc2rvKPRTcLSB3FGHa3GbZh
y3GoKxVi4y/zSm3p9AY0mixNGbbjdlpefq+RPBsZ/y6cE18e+gwVXrpClREMfIthNl0T8K5fMdBz
AhCEklokE1BUtp86D5cAs4BJlxcCCFrzFLZtlmyyZOQ+w/3DhwY1xWuOjC6g11mWldyiK0wxPuFe
DMXhhtceDnrBasmiCcXyZM/tWg55nd/F2tPQdxNfzwbpDmHcQcDu842e1ao/JBhqPgeWk6svQJ8J
kaCTSv1gWE0qNdQA7CxTG9F05SSfATxP6YcpQl/85s0x90bMeDPCOLoYRfhLGutjN+fZxl2sYmGG
nbKKOBMf6RaXPqGQB6/k9/bTzDyrXSW3C3tw+8wa7uqKCco1RosBXLcanOLVY8/PQV+U2mtWIk39
vty5oURQOyQUXV9JqPR1uGriJvRJ21KsFMu8p6PqRYrId6keXIXkif3kEmmwQypGajlC3lnetTFr
aVjkg99/ruqxI9FdJlOGZoct1HjuWqdtDh0aO3FbsmTL3dIhvL0iQg/rFaEPAKlXzUR7BlXIaob5
Q+OVKmM6UnvTpVJDLR81mCJ5gHLJ2azo0IsLGUn+QuZIWaMHau0hDAzK1LnPjlkfN9FDHgcyuIbL
APGJ4T8KQIYirbh96wfXms/0DOO4tQUzkdfAs7Joyxi4GvttmTd276zHCRoMpV5SxbAPB0YvHZPT
hhykbYWmwmrvXUsPIrpYWF1TMm/LGwl1u/BjQY/8tbbjJxXgrX33HGp/6UnHJ3ztJ7mOx2O783Vn
9rrBE/I0SFA8r3VO0uKbST2WdpFg4/6Ac5jvaES2un/98QL+L0hI/0944j8xjP99GPL/g4gJLvRf
mK1++dcbWOKX//nrL//l13/5r7/+8q9/FJnyR3+TmArxjwh9BfF7OCw9/IjIcn5XmIY/yBPUmwCP
0Ji6Pr/1u+PKDf6B2jO6/eMyqkLO+L8NV8hSo5szD5cs3xmkof+hND8vvN09/6bOCkgaBFp8c9E7
7CND3Hl/lg0R3BhTOGUMXi2Wue87u5fyom3DAkCw7XUmw6CzjQWHs+3Gtcr3SbRACEtub9di7RBN
1uBenWi2P1bzhCF9XFU+kp5NoHu4kR+aZGAOsI3Y4mAMtHN+rXvL01HYOLcTG00M9olscj55+Ht0
/THtyoii1NDionhfUi+Vz0FWTsEGjvxonty+9qrNRHCI3phl8vQWDVAAGQ9b53lIHTCPuSh1upsb
e3mai75AtB+lydVHyJqthSzokBuUWwuUM51+TdywVHvifOyUxzWzjDvhZ7a/1hIF/WrpcyLmhAHX
RoNexzmKPKGhRBL7QwiMlGSY5x8l6CCTQt7tFv/AGMfPX2TjKIbGpQ4m8WRRvod7mD9uclFjNb3n
Wxr1B2kNRcQWYorsbcoCnbIAnqS9m4aR7qQKW0YLWGmLnUMvzR4oFYyUnbplTIygrIRs1uDWW0lC
nQ4EiNXM0MuKmNW26ZTYixm5w6YN3BrHgdv77MoRX/nVLgyND3iV0WXfkbnEJGAYt5Xn2MlyUlam
Y1CQQyvtE0ZeQ6wPaU/0CBDUi0Kk01qh2qtokokysiOiWlHSqR0a/gTV2GwJmplT4sgcQqZMZG2e
ZsY6yUPV8Xu7OLEkKMQIeq+z8hZRc3PpWlVX8ueZvQ+kIky7yopmWIAjG3k2LGK0rUMFa6pd1brS
4bpyEGyuJivEfkXTrypgPbYqdoWPD2UbNTmD6KxX4LIXmrTplCx+f4Xk01PajYYmS/P3mAMKfRgD
ooqWeVuWpdCEUWmFwwDQgkdLW3ksO525fvb92X+XeE3+sS0iciJSmuFnH7mss86LoH1YrDJkqsAO
/85CCH2ZU1yWq4CdICCgXt5wrDQMIxQ8hHsr6jr8ACFl7ZHVAmv81M/r/SwCOm4WXdK+i3NGoesy
N6bZ2Cn97wH3ENeWjp30hL7xrXvfamDbThCNyejqcjReqEDSDyan4t0OWdXZ2wDP0bimKWZ87DGC
jnd2ZfovxeIlYr1oC6t5klbWA/KooQbzlYw5O1qbkCADmc5hUNj6nwixgFuu/CSisfHJ5lollgt0
FxqfomjMPT6zgCQo0nAqwA7rJk8A8k9pYHXMdoX/1vMzP2hTWd9v8iV/5eYigQsXOOW0SplalOtk
GEAJdj1dxk4ldf4YNRV+uYI1mXvXGJN+LDuFVzpSyzCt8SlCWHXbMXqzDH6QGwzbJRax48S8VS/M
dew6hrWsx/LFY2z/v6g7cx3Jlay/v8pAlmTwgmRwNT4nSWZmLd1V3VW9XYfolfu+05xr6AnkyhQg
W5DxQYYe5r6Ifqy++qaSlUqiB5DxDQazoGc6MhgRJ06c818UJKsptjuc1vkmN5rqM3gLNUiRg8Ht
DZ1Ivm+Aulw4a/012Ukle0mOQwUgBzATiLCqvGEp7dkjD3oMdqzPodVn9rXUzBmlykIuFP5N46wN
3lCDR3vs+iKW7/wSRNAba9J1utyJyWvVRcC9xUgQQFLnf6Znulg0BH4rIWALhzQMv40VUYKDNVez
EzZljqudDaRu1mE/RsmoufR9ZHGENk1G16ShlR8h6lXaDoOgpn4YYe9AXfVpLt2Yc1ckv4dJbIlp
V4Lkqx6ofqHpWPdxuoRcahBZQK08J3oTL8icLW+0VaBpI0XzabiGlZekhUv6GwF4Mhvit4e7DYB5
9AR9oItxb1AUbJXQfh0pOYrJvdrqybSLQChMH7NBF/kby09tkIY88JH3QpFEK6+AmrfmBzNSW/W4
hN7M9zoL7Z2AJjxyjt8yiaOF1zVJFkTTrJeQqw3VUexxoi5zL7K0xHTikpacK4YMjKo8VEUJ7iG3
PrdxpH4CuAmNvu91mle20mlvNB9y7f00ZsrnkEwawx0AnpHX9SM8TwHsIPyoZIpMMXrwO9UZUHKb
aeLIXeiGnT6kr62SNzv4R9Fpj1SPaosmkGEgYKsNwQMvUAh8skIxLqYoBLOyG0Mc1xLgAY5pVSg3
J+qiPRq2pn+b8k6DhBBLWeBq9Ke4Tkp16Hdyrpd0LcKiBJIAweNNiVAMUq71PLzrCz2s9+BKq+iK
B3lok1n3HLDOArjlqdi/YECiJr2ZOHVtmjiO6n6FLF9a2BobqQZ1tEM0RPnk12luHeNe0qVDUC1s
qjRKq/rQTAEAKcTdfHx2utyHEbposIBBzHycvXwJ3xEcP6mYhGGRvg3TKKYFokX1XtaGkaJKytXh
VHkdBEfwrlV1ZaKj/agrmqK5SiUJ45XSaFQIlb60UHOFaPUjszq6Erpfo2po5REwjyaiMpNnmMrc
db0yUJnnSR5f20NVwvFOp3dSOhbJPuU7Jq8narDgliHnIH8jR6HSACLR+NYy+Aj7GrCLtQ+qCiKz
GsU1VOk8RXdnDAQJ0kOeqDoS4jFytHe50dJcNjJIgbtU7vuH2Ihb9JArTfnRId4MulBKIdqBPG0m
L+/KEV439Nr7NKYwBC7J1tG0GwPaDWhzCVfLo/yhj2vj97BSan9XobKH6VSMkiNiEbT1HXMEh+QF
miEQ9gn5Yy8hB3wL/DdpdykvW+KbVY9fZtXPrT1vdfEGDHQnrjsgL4WnkFUZXk8foLkhrxrrOxDd
XOQuGCMFYUH8e6LPqV01OJi2luIvuqmxkQFuAMkT80Yv/K9QHnQksKMmeOQNMyl0/Ocox0SlrLqv
xWgOPzQfM0WnD1UjddJF+8ZNO4NHf6dVbbmTSWRsB4SSfoxqlFMOTVbjS1vGSHM6YUAv/I2PN6J0
TCAGmnsLQDINH5rBxZ0SUGLYN+kwgntq8mqvtxKu0X6UqS5nuIYQSuMAKAxtP3OXFWmZ7pJs6Ghm
WkbwWcl6uXDzpK7rY1AXknnV0mv4VKrz1N4paWkigJ1Nbf0ghRgoHBRR1D/stIFeq+WIjuzwsZjk
a6AQUbovM2AWThjVg+Hh8m1gwgvVMb6OLDA0n6N8tFF3FZNS0I4RCcr5EvXqj7lImvQeVcu4e9Bj
smc6y0NW98miIZyVpALhIaTSUYzdwUCifWo4u5LoIiDXEEhjHNWcfg5Ec4u3V/wjkHQEVINYNsMD
7K445W6usUiUgNu9LmsZ5bQqDdLFyxCA6E6xxgnhXbvgfzKkXInXoahV9Ohx68KovjG0V9ywIQL0
WCuhZTwb4Yc5TRK0tblquKtFh8B/4FvylWBnocjdTJQ2ekPVPlmJZcGh1SlNOgkVZHJw6NcoqXWl
9bn0QwEQoWg17CuWWi3JVSbBBtZ5pZt9X991eYMrr+8r/WeyFoojURimaB9jdP27SX/s0azmZJFn
r4I3SQq63i0MP8e3SaEE6dZxMX8iIlbtrrdDGfV+/J7hbkIo31GVwqqMd7b5MYJ82hGYNC0mtxoQ
MOiEHP8QowbOpOwzpL+LWKvfQ5FOWhrWS7s8TLNE3VtBHf2gQUpg6CrBrWTgOGMdkWOi0033Wf6i
6MaAEh5+dthbBPn0UGRFAhwyRlfZTPHUpWk3yCVWn2UdOWkBOp8aP70i9LcokgOEN+ZjkPUUkwxq
TOkhkSVl8aRN6o9TAbjTkdXCaHDUyPMUn65K+9wCS/we+7SId0VkIpIQU3WBbArIGME3uu4GUpIS
da//Xw/6f2+qkEBDFj2yS8/2//nnH//jzz/+159//Nen9/v/5r/+7T/++cd/+fOP/778yd//9T89
f8j/9Rf+xRc11N94zHOroOgLogQJlX97zRviN5hOPPRxJV64VYts2v+Vi7R+Q04MRUgZeo5BpwBu
V1N0bfgv/4HXPDfHwnlDrEheeI2/whddkY705ckNk5Vigqobi0Db6VserHjTQqGmDzSD3ykAW4NI
QdhdUNHeKEo90eL+UTeAncdYNiMpmgGvS0Pn8oRuBPLKVsbYBo3czBDr8ROokUBVk1Bz8FNxgsGc
eK+B6YYxmruYGoUTYHlshnj+yQIy/Y9IDvRjm8y2a2kIaXOLu1qd35qJrO+fLfEZGutTiWz1YwGU
wfHTYe2qVE5Of6xqtWbTs3i8nsz3QTIT2norvbUsxB1RgRxBs5CIWe+MlMe+SWNMnvJDPPokyg36
xUhj9E7ZJQqMeOtLElWP0A8Q0G4BRpsAWkcdm0oV4KAbz5KbFInYj7zbwR+a16pGpoj+furBv0Hr
97XaNrmTI9obAIPAtoS/iCJ9tIcdf82tclPT6RJR9C20/LcUXceDD27Mqnw6qIX+k6X2S5W9i0f8
pHB3138H91p//9urz2Xzt32XfyNAFfm/Ay8ymLjPdsxLqvjf//XPv/+3p0IemrH/mTDwPAQ8/Z9/
BgBV+02BjM25Ry8WrYVF8vFnNU+Rf0MCCWKDzmGQVbFswb+Ov2H/htKHbZjI4j0JJLH7/jr+OhKz
tHih4OpPmkvil47/aaEYuTx+gGkohsJfRg9sLcDZoa2Wg9PVHHoeE3y/znyTAlxzNVTKluq5/0ON
C8Ojj4Qz2bPvdeaEnUaen0MvUdFSkbaDLb6KBmoWYC+cwLQC9qjsMlUrX0V9s1QOlXxDZvT8UPBk
we0Cl1SWP3/Gc5QxvlDUOdcdgOGoXtBZd6KqrFypR0L88qxOa6M/Z2XLtjBwK4OMtcTt50Mp4PdR
I2JWSMBp10OnT66GvNLP8jpH57zm1bllsxENUDTK/IgKr4ibXRYEMV5JOnY7hg05EKWKfpLL6w7G
ypUPCbzYjU0teHzEo7Ixw+Xv/kdg/GuGi9qiodI9Z9uezrCrSPDjuEJxSCIskd7X+VUmp8W+z4Tk
FAPBCYXyzrn8Xc8toc3q0fNhXHt9d9jpAIzLYNSoxRgjkKfRqboINRUqkleXh1qWaDVBFe12vM0X
DjKOgKcTpD4RYauCSncFdzLDHh5tZMMIzTdGnYw8m6PeDS0c1W2eXK/8shHe5fHPbCE2zhIP0KyH
V7BaXDjtsWKlLC6sjvhGLewWY9BatH9F8v/nJlqu9vU8VcH1L6uqAal7NQ5iMRgBoobloK8yX5Wt
gLFuGc0thJsakkNoHS/P68wSotFkIJhJAkD4Wn9XaUz8LjY1XgooQVNC4ykAQPqdDtRmY4+eHcqS
Fya3BXDLWojPzw485BEZ2gYC/hgAfE1rtJkCK23fhDog88uTOrdZBAPRsZFVnQU7HcnH1KOp9cVV
C7wWFdRYiSgNBMorNECaR3Ddo+UMehm+R41GuYWLkbmXf8CZ46gKVPnAAOjyIvp9+gNQk1JA8IS6
E5aq9Gj7XeSYZjhdUe0f33UorLmWb6cbS3km/rBDFRTGdRPBisVg8/n3LcapHIMng4RI4UEYFKGT
0eHfB+MgXSel1B262tb3qGvVPy5P99zKwrkgBCA9i/7tKr5mfTR2bQrOEDc3FDmVTj/wWNVdoJHS
xpc9O0mb1Nt+kjJc71fA08RQxaffbdgFRSnwJaMxKl/KpjdeLQ2o+wVFRiWWp+XWNXJmmkQfQfYJ
3g7g+WpbRZEWB3Kpaw7C2+mxoSLlNoqdeBGYwY21VJa/axUHEHUAWQaeVeYZsjqXDezHRCENdoLa
Cl27Sqm75nMHsNnA3GFKqUBGKm39yngQWSF7Smx+k+Sw2Ai7K3Hup4tFGAguqLQwrUUB4nRTod0N
zi/kd4RiZDv74bvexOMUzuRiqFehHhXquEzY8e/xkFHA7+Tvl/fWmYBIisYP4XWCJYS6LMqzqNF2
qHnJoQbhNm8rd5T05EYkXbg3tDHfA5gOf/1OW+SCFr0gUpMXOiplDjBC00G+QIer9jKwYlfWA3hR
smRt7OUzYYreCefV1J8SvtXUaN7Uso6AmoMwWQALmIbV0oEYHowB7zs/041jZfbld7Mc0ru6h717
+dOe2c/aotHMdbpITazVqqdelZtcStlj0G2dTpOMI1rlk4PoRXW4PNSZqfI21oSF3YJg364iRAns
M5cl3pRgxLBEQ4UL4TPQLvEQNvsUVREHBHzgJVoLxTgJK+/y8EvoW52m58OvVTzKepaCYsJlB7EK
tiyIoz0Fsy0l+9Ot+pSpG6wkudCiuwvM8HSrAjkeynASsLDocO+Emhkf6IwLF6oA8HZAiBsK7mfH
wyqBG8bkulkKJs+PRpnmrdrRgfYQvkREuMYpDvUJlnOADRLSM778EU/X8Gl68Khhz2KzodjaWtBb
VgNfjs2u9eQSSUeam8F+ntXPSan5+6aXFSC5CPQbHQy9kDx7IyKeXql/jc7ttjz/eWg9yR0/iwMS
OIMmSjW8G3V04sCUC/oxRnMNnan2gBUoHthycX95yucGXR6J7FxUxUxldY8rHUp6qhIjegryDf4a
3kByo8WeLc/JD9OKkzc06IaNZT294p5mijI/5R1uUlSxtFWe5FM7tGiZ155UYQUMIpTqfDkZjlzN
UGVAudIPC9RuH8yl2PjIZ3YUUg9I9mokTuBVlp/27CN3ftRO2djXXtYiptsCqLttS9vGeMhUPDxF
5KvL3/fcVBG7WfJBJmytFYxMpCRiVR2gNsqLp2EUmNemPlRYmhnGbVqgtOgA86rflgnq9ZeHPjtV
aoC818hHgWOcTnUhWJh+yNJO5oBOYk4fPmzb8X3Hj/Bo82x9WkXlL/xHDPq5rNjJEOAQFSPor0Kg
3GP7AJur9spS2Ps8M3SvNMIZmpU+l+8KAPPo4yAQAfFAs8PvYW4t8DdudOGLiXYRlLyN1V4lGT9/
ElURqgxU1XRqHqffIJHGNJrnpvZM+kqcL2tvB9QZglhHTdJGVGesVWPhemGNLWNcGA+D2Fta2G1E
ltOL6OfvQGQPnxTuhyV7Pf0dZpShyAtY2hvhUzPyNNPaCSxXMYotbbLTm+DnUJRnqewYGupu6mrZ
JdCyIZIprZcFpv1KG9TiAE6m/fjrmwvbCVR4YJAtz5DTCSncdCH25i0eigoiMahf7/HXU97JHfiR
Uc7jX0tN/5oW6GXq1YC/qAKcDtj6YQVzqmohX0OO7AC1XNuWGK4GEYeHX58birH8gxK1ymY+HQot
0XyKOxYrRbHDAxOUH+e8nXZagGF2MLXV/vJ45zYH+h6KrDI9WLWrmNTUUzYUwmi8qu6HfWfqLSRs
G7du1U82YsK5cETWZ4CXRSKRMsrp1DTMmVqgu63XFobqNvqcPxaNlYDjD1QMVQ0BDTlFSrUdAeFe
nuVTUW8dHgyyI979/JOu9+nY+Hya4JNQebDQXrlqkJvwxkjtQOr2Ld1jqXukBel/nZBnPuKQY8vH
NoiSvdQW0MlCjILu2hAdqGwMTAtYrJoVVKtD/0pTWvpYKaYFG9fUmXSAR5iuL5J7i+jectKe3RW+
2viVagO1xWhUeWVb4y2Gkcq9jdDlHXJF3Z0cSeJz1Ez5XtCD3YpdL8OpLdNywddp6dawF0+HT/UY
yhNWoR7MFwlIXQffvEc6Cnw4HlmKswjAYEuAydbnspYMF5GfFnSCFlsHO83rd7E+i/eX1/DlF+Hy
5N29ZPSLCOkqjGllWfWAGkrEaH0knkKUd0PoXbhxgoqs5Em8S9TUekODZXozlZHx6fLwL3fvcncD
JDWp3ZI8rJ6MvVaiqFM0FDx0ICE6dElIg6o4qE2HOGBRWMc5xXZMmep844iuXolL+LEZ0VgQsPSs
yNBOFwO+PoBpPME9voxxLPVmPnBhyeJQlQEUINrXV40xBAAdfEwvBW3qO2XRbLj8AV5GCtpyWM0g
tKDDdZdXUTc0fWUucjTzhIRevwZfmJOqxHfmhILKPzMUIdRehAHBAZ5OmFNcFK3PUMmstV9qAAWe
39QNxE5wgBsH7dy6LmwSi61uKaa5OmhDksCnFH3p6bLazDsELmg7i9YwoU1b89c5Q+q8qkZzJEOz
663AdG5Tc10SgW1Az+SEpzMd46yZEjssvToJVcQH0Jyn4Uf/X2Q50uu+dOQVC0LEksIbLVc2NCeX
jXMaFUHK8tig3vJ0ma6OFJo4ldmqaenFnZW/DkoUSgDbGOrNrMvFEQzmr6eFSP6iqElKCPETPPXp
dPGObOFTSOAWjDo4ojnQQ9AagZC25jjfwNjE8fTyVlp25WqKZD50oZdIuniQnY7oi9IcIt/OvJ7i
kttxYb+a4sykTtf4N3FJAbi3k+SfOLGIGnPNaYy7KCKdjtoXZWypfQLCssXTUizSY6No8OjFHeqN
pHcmCKQ+VdwhQOoqLtrktdGGw7fLUz9zYLnpMDKhVEsbYV3baSw1t2HAgKXUeuXLpPQg5Uz83VS9
rjdiw5mNxP1MB4jeGqVDZfWVZ1lZtikaRX3SBd8bFaht7iNWIlq5hhYaz9XGsp6LiUuOybtmqfEI
Y7WTmhTjogksO0pPsBddCe2ZjLJv8kgf2J/Q49D63ytiaelF1IAODTTkFnkYH/GKX/7K8GJwI1wK
w0JfsA7PL2r+pMfFGu92YveiWGPX9MBG7ECEjyyRe3mwM7uZqersKpMSGlfR6WAz1Liq6PoKb+9W
f9VlmbifjUE/Jrb9huAfeD3O8sfLYy5rtzpByGPTNAGzQdMSre6TCeo6ul3AzJBfS9CTH3rdd4nc
2dfLo5wJw5R1GGN5llPjXs0sxlwCuz+99Dq7xq65Fcm1n+BXDfU2Rc9v4M928JjT8jBbYfxPbF/S
XyIE3SdhvWg/CaOGLmqSbwu/uc3KCB2ssPdHZL5G5WCExbxl33ZmIckilk4mtXZ28Hq6bW8WtfBL
D0GWDnOzvMKx2hxwuPJx4uqjYBf0kvrrW5WjadP7pd6sy2ub1LSXZxmDE6ZpwljIEttCpmjO35bo
pn68vJxnAgK7EzyPWPYp3/Z004iyUUopMckfYeI5ZQUoBM1Y6QY9zmwXGEW+kTGcuUfRS0AXW9HI
luD8nI7HWpkxmnKNB/e/dGJ0d+95jE6mEwmEeVqjGG5rpS64aFp/9OZpMjdqWed/AFxAWtTLPlpN
WO/NkIuMH9DNfv57jUnSLXxrGKZ5l92WwMJ3+qJM1uVm8TGu1Q+//rktoAy6TROVRGU1etylsTx0
TYPPOi2iFruGcNeUtKX7HkVpAn52uDzgy3rL0tcUnFMKPPyHtRC3iTq10PUUVNKcmMcowVMVMRnF
laXxMY9zcdWH3ehMs4RYrZTF76dOihzs2Uq3kqz+7vKveRGi+DH0dPEmljWgJesCtJwMFZ58re1G
1dC+qkeA13hMaPtfH4VnImFwgbvxZj7dY76d5FMyGJYLQ2Dex22MEHhfb/WmdP6Wk3CLLx/3KL1S
GgdCXt8nBXNEwUBV3TFHPSmb6uxKqdGvKkIRHC9P6OVQgqqgqnGRgLkBenc6oTIwCW3owbroCOaf
UKka34HNN4F1R8bG2//MUGR7MDOXTFsGJnI6FD54LSW3SXXROZ/hWmC/1EJzCXLgp9Di441It+z3
04/IEiH+TTZiQO02V481vbasIRrQ36on44sELQpY2VTua7gTgNEHaeNDvjj8jET3bHmtU0IhAp3O
TkmmQMzmqNJ1WZSZ0Kh8Hcd5eyfDu3slFw1Ur8rOMJJqwvnY1xhhbR3HZYTVhIGmADC0bACNT7Z0
z7MQsyxKHX8gxOoIsA2uEuiYOSamsh+Qb+1g9Wq1+KDFM15ERVYt1K8qnkiKUTYLdyKp4QRc3lvL
BfbiB/GkUvD/oPi5vmuGEhizgscF8m+S9rtVqvGuboPqHlLR2wla0AMokvZ7OCr6xk47s/SkogoV
YEPn39ZopKwxkB2o6EOlRTRdD6kw3EoO2pvYENI+nhtjI/a8LPMS8m3OD31UsGW0FE4X3+5mgRjZ
4pQkDAomtQJaxsnmmtObpl0T7xq95HmJw57auxM9HhSccg1WpBz79Y9eVqnuXf72Zw4bvwgkiKBz
BR96da4npVOznAjtqtMUXxWVWTqlPEHe5rhtDPUyD1/gNFzzLDPld+6/09mrao6BiWwh5EB3zkMK
uPeGIulvpl7L90gIonkq9bk3z1iYAfbEeXtqml9fcrJTm5fOgs56sQLYkuVmjyq325lKdYWJX+qq
aA96ZcXDeujSX/PCoB5DeVvG8h7GOYaP5OKnc47gZURGoqOOrcGrMXWsZxQJHdDGyqXvSiOQAtck
u3oDUAS9iZnUdssK+cwmB7SwpDtUpCnPidNfEPsR1VRYeC41seRalVv81/wG3epRnb8PhV1EG5/4
zHE2eHJQo6AeoxjrUzVkKs5XsBbcREJw5joJRHgt0FTRHcnQq9qhEQS7My/gSAOP87utCvyZCMvT
gxsEExZI4iBATx4hYayDErBCGXnoGWH5dG7n3VSnxgHKaIkesW7WDyn6N4dKRdIabeZ/4q4kwQDA
zfMAWMH6A2hoZIFMRPBuGDosazuc/QqkwD1LhMPGI+9MbqXJlHwXzBixBW+c08lCk0oTu0StZexg
i7kJquLewN6/tUK4UgF02k8Ngu+uFUrWMUntFDMHSdFfYzlbu4Pehq8ux5OXi8+VJqg7gucnW1iX
PpF7UZA4Qz5W14LyVRAZ45GMFmpdP6fXed6U0DTq/kBteutTvEzsqExR7uUip4sGKv30SySCnHpE
IQy6pQazHIOfa4kjuYGVfXmaSIEW2PGyu3Scnk9HiSZa22Wk6fCrNPXBCir1EKPe6cai0lxkv3Cb
u/xBXwZohiNlVRbcjQ6h+XRAKWxAO6PA5vZzkrm5P86eQJNkx0qX+39iKBplFPpMQyXTOx1qSKGN
WmmOhHeaKY7VQU9ETdB0rNHcCotnPyPZBwHJFqAmVrOaoQ5JChrVLsj+W6TPAzTQUuH1lg8tAC36
jRzv3K4ktwMKTLNsqRqczkxe9PsRtDG45aryEUAwvAkQ1U6rNvHbcoYOBO3dPxTYFm0Ew7MTNal1
cTRVXu+rbwoHOs1FP/BNIxSE+xJJ03EI5Vc5HuVH+iVb3Ziz49GPgfAhqNeum+mKhUMHEhCYetDa
PJroyj3agc67LvXzKyMq62+X98zLYEthbTnsoHpwaNNWwTbOgghZWsYbDD6gGggcvCe9vkV2S9sH
6H2hqFQajlXbyVWroHd7efhz06XxSZmLeE+NZHUcEYnIBNQ3FracbISMdXEA0hRQlLe16xk/bPfy
eMtynaaqGi025AgMfQFsrTsA5TQkWoBlm5ugN/gqpYf9IDWGIHdsfVc0rbkPjGArPz47KE85HJcg
z1GyON29YrapCmPIhtBUo13bgSicMCZ5Kq3JP2KfUR2GslU3vuy5hTV5VvJm5+WnWut3yhgLuxpy
3W0sRACcToGc3IBJgXMc9saPRIaX58hKlACOiXJ5p6Fe9Xj5Y59bXACAlEq5RbnLV9lyG07DjPyI
7sp+q18Xo+i9GdMVt5Tm1u26dutldG486lC8yrhGKIavooQ9WmmaUVp00cObviJpquxBexafFJD1
Yoc4cfLl8gTPxHbKXuAElhqBAXrsdGGTVC6RZoBEhSiU4GKcMOkl5fUCs/t6eaQzU6NUIKi3U/bh
IlnF27hNslTBKdVFd+Y2bvLPxaxHXhTF6HlXxlb3/sxoYK5BXJOVANp68hp81pAuklQa50hGOL4T
1LEEJQmzE4pbJWON1H7YbyQdL8cjAkGRAae/1A3sVYpbV36YGRIyFuOEA43JBY36vASVLI4HB+/R
fiMJeGLEnIYBA7QOHV5ye54yi5jQ8yd0iWApcog8Fup8Ur+OWmR9teYmwyS8l1/DMNZ+z3DtuceX
JLiKyq5KDr5ph+iFRMMtrQiZRkOOIInlWx9IYHnvXl7tZTXXP4/XjQZtikSclTj9eVhG0RPPQ981
VLROOJmlo07pcHV5lHNfnZOiEfu5yMn3T0dpih45xXjy3SgeikPZFNGVmZmPmWk3V63Ubuzgl0Fw
8XxbanbAY3lULb/m2Z4S9P7IHBvfTUZ8n1Sg5Y7tF2hEB/m4D/FK8uBqbeFIXx5QSkLkDawyFxyn
53RQTaDLCQcZ8105RZ17zhDCR711T5rxy+0aUjuyZlIUkHBLoe10qKK3Ue4tkWVHj2K8bgMTD2V8
q7w5hTaeDHKF/7u9dbOcmZ/O25DwAzliAQSfDhqP4UjXzUA3dNLBtsgZqqGD2T1kbdtu9I/PDUVv
Ea4o3xKQyGoonMcCDJrUkIK6In6UvoEXhwFXgKOADOTh8tY8d0AxmOXWsHgJ8h9WJ4CXnzEsrj+e
ic7T99KATY9qa5c6qOIhWpSJkotam/ABt9T6q9zlhdfkQZG7A+6du7blqrEHrXs3BUP4qgJf413+
gSuy71IXABkBmp74zwOOUufpl0dbVKAKLYXe2E9oEdSKiK4jtZTukDOQY6cZ0nIXjZl6Pw9q+dqv
h+hVgxLGoaoa9VWFEc2dHdvoWkhgUke5xjQgzuvuTpXC/BPetYsSBkJoh6aStnjKT9F7FV2W5hdk
CErpNMBWJ7HUQPVkfht6nZw/FKWcYq+OZDE0qdBBjgPr5qxpD0lXqrvBTNoDVnMS5ITOep3mauCB
GSk3vuaLSESsg0tIL5BOOv+6SpAWjBhu2hhXxIMZXgV50vRIyVBBTOxGvNVlP9tfXr5zA3JcuABo
XC2FndPV89u8kLpR0hxK8FinhI24Ljv0F0w8eRaB1a39/OLwwHVjGPC5FM8gty9//iz4ofPQaeiX
6xjSDcO+gq4CPAE8wjxYo3t5ai+eSkvDbxkFOoIAAbf6liS9uI7oYNf7Af3QXUOV6IeiwCykMNrR
s0/ko51Jg5vjYr4x9JlZYhPIK4IHL3jQdf4l8RhDFbrSMK7oLA+aVuoK+tZIwnXd28uzfJHdMgLn
jzKgufTH111c0cY1pSgIF0Y0zJ7kVyYVCn90y8xEBsQaMBXLpuJtqEq9awXZFrD8ZSGY8c0Fa0JS
b9InWm2gkBHBDcWMD6XHbXy5i1Df6ONjaRpY4+LMgBsK58hv9pEyKI8oc0wI05fVMUj8wbn8MZbB
Tg708mMA9UCppLBBW/t0d5WgIBQzgP0SqItiOJK/Lgpfza8fUpIFtpUlFobamrMlV2GPC3GBBH4X
9PvOzsudBGhxZ5W9DcNfbD0Nz86Kt5q6sEWX9/DprCYIIuYIjNkRdBSuhjzIb7sKL6XL3+5FWrJ8
Ox4NC8iNiLhOPXEbBSYyNBr+XcL/JgqSLhEZ+SJpEGOu0ara/QTiaIPgfCb+AL/lhU9lAY66tnoZ
xSR/ijaZwomU1viIv142ojCFH8GsVUrstfjY/XrEY0QOC7U9itlrmF2tVr2hmPB2qn4eEDsrEk/G
sw8lmRmEeuy3G9/15eoJrkXeYhSRoX2sW5sZnjKzmjOe2qn41sZWe0W7cUvG4uXqMQo9RpAqqMGb
ayKNZvuIY+FW4ZhzkNyptRV7oran10PZpQA3J8mOEaRr9A0c4cvlI+kSvI44CQQgY3X58wriTHcc
BQ064RHFbjyo5MFCis2Xb3QrHTcW72VMZzyNCg3ipFzc+ur6oOue2WVjA5rGjdDTzDG/6mwVBVFl
JEPyqZkWiDniCYDU4OXjcSbQMTSkEmtZSvB6q9gyBZo0gKMWjq4mvhu0g+mMra56dYOs2gQmeRco
fb3PunFw9Uwd95IhibeyDnb38i95eblg8YQ+mkn3ibO6jrhtD+bJiAly+E4kno8HriMrrXlt6Mg/
XR7q3PKyryjLk90h4LCKPE0UDJgGoBoRdK3umqUYnVqZpKOqm0j3Ne2wke2eHQ+ZNbj/FDifxDWe
ZwdNKpQBzCjbiY2FI3PGB+yM9LZjVWHINtPG8/fcpwQ4wsnUwSSRAp1G1s4YDJ4LiDgkFtJRihyj
UoqGo9chuLKxaufCwMLbpvQNExSsw+lQUSMlBp7fulMjAe8hntW7Ire2EFbnPiDYBQqIpLRUh5cJ
P0uvgmFCdayq0SiF47vzw9TYhejvO5iKfMF2Q9mIbeeiDgAk8FU0iPiIy895NpxP01MtTQVia9NU
ZFixckDCVILtidBrA7PbafCB2tgkLzMeynjMjVMAVYSu1OmgOB/T/DVbzfEDFNMRP7O7+3Eau6Ns
DjxA8mKs73HAy95riVRej4k8frx8KpalOs0y+AGQEziCFtTtNYMPNZfJRuVOc6ZoQvwOMUgn66ro
oEi2/ch7t+QxgzGIZJTDm8sjn1teri4SHK5LBKNXyyvGJi+Mge9tpWW1b7S22kVRER0wrWt3XYN/
1uXxnlj266nS8kXGAT1pqsWrt3ye4rNuyAEHsrGHcKcGaCJ6Pr4H3waLhy82YCmu6ZWE36FriECX
keVELVDGxeuj4ucx8kZZiReSGHMl8IqxNHlURW2DrlKHG/PODtNhcCyQeR+ayFB+pBSdWyev1Kw5
gvhH61auclyjadPF34XZjp9R8s3rHT0AIBx6PHcoGs99uQFvOLPFFm4QmDbiAmnXal+3RUj/eoYg
Xo3wg8LEQJ0WLzQsgUJ4olWXIwdoVI5KtW6XtvkWbujlm5qEiPK8pqPVw+FaH2NbNHap+9jUlZgO
fJqEhrFtZtTy1yFVGsxW47p7aBVAqTt83vkcWSTUx0qZUJCb20j7WGDxQJs8rCv9kLSdf69HOO7u
VMrb46JzSOINmguF0YDWC9wj5Ha3EpIzoZXWMJinJ3EDnganpzSe5gxpUhI7E1VnFyXJ9GEYpWDH
g3zaCK3nhtLpGINKoOcH7uZ0KIG3a6lwINk3wC5ZOlo1Cj7zXZG2G/XZMwFv4Qb921CrCzHHt1LR
Imal651y06tl+nFenkY7XoEou4JoHY+oJM77y+fw7LC6CYGMt7NKfnc6Q3wHkVOJmKFVGX2+07QG
pex46IpoJ5dd+dG2I8nzNfQLL4/7It5w4s2lQwypFT2Xtb0A/QU1VKlvuYEZ2Tsc35h4HyBXzHPU
A29g/upKol5PHWZh5NGreZGbNxwlQrqUuXOLZDXeVCVSVW18j1HRls7Qy6lBL9LhfluANCj6rjLX
UcxBJQU5IWyoMgyjlfDGnJTW1c1kusHgtNxIpewzA8LhX0hEOnLpxJXTNRTtJDKBEZqLuZ00vp7U
ev6gxl3UHRL+D7e5EP6Xxo5GbNWpggX36VRoGcqmVTcjK+nb/rvCGod3IDyjYpeQP/k3Wl0r34qy
wjKP4mH1gUZSfB+NBWYiYYRt2mv80IbgvuqD4SqT4gFbSXlWyeESA2U61NltqnaJrb83UeP/qBe5
QRCpsbbRjQxQehakI4ocXay/B9fVFQ7suPJrjrTygxzn0qe2h6+GTd1gvQ8bdGR3dRQ0Vyh+pDNw
wK5+E8SS/L035ppyhO2DHDWnHC3kZTU+qJ3WvU861bjGrEj9jmhv2LhIC0df8DGt8XAc5wyDwRRP
wbs5tDI6oXFlvgn7tHmvN9Gc7SyIeJlTNm2U32Cfbb2bQcgFr3NcVPRdxj4tH+YuHMJ70yeAJjus
rmcwUgF6yvd+VkUFEu55EjvqAKwHh/LxvWhDWMqSqPqPUp0hPDz7dTTh7GRUQNOprwLJSEYjcTu9
yLJdZ/gJKmp4AezwJ+peYyRuo04LJgsfFajZYl/oUv3YSTH2tDnFhNbBlG7RfO/r4Gbu7GK473AP
8IIASYeN1GwdFMmgCaVsbtKFpT6z2t8Dx2xY3HX+D2fnsSS3jm3RL2IEvZmS6aqyvJGbMCSVBHqC
IAGar38re9S3rkIV/SY96L63WZkJAgfn7L1XtoRKXjtT0tzMVVRFmcKc/tGY7H1xe3nYZb6JjoS5
HI3xf67taRKihVpGoLqym2xpoKjFuf5IavGvKxhdcM5irtGXSyDv0LuNPvIgzTvAuDKn6gpr38Vi
OXP7zPeQTrjfKjdZnnOCR86hgQBHuGtMXk8T21aVOR2dvw9eacaAlyf+d33EX3T5nulc0MwkOufd
xryttVsuK3V11xGH9RLpxjKIBTA87Sqct8HnWYj4wHYdE0fnDEqfxBx02wk9X2VOA8fFlArpWusO
ip2SnyDKEULBhKvos1HQCt652O8iZO2aq3Ve5tAvHDnZbqZAVuSPMqhqb9+PLtVQvpS5s6/bMDqM
40RUNLIU/aDMKPinGcWw5RB3DDM97sUB2MFmMh+0NMlu6Ph/z3Y5dMfEM2Wzr6zEeWSniLp9M8G7
Uu64fGsBEKD9LvOA3j3gji9BKeUDUd3JdwOtb4FBMPKlzyIcFzgIvf99kCYEAzeM+i5voCGlYvQc
/UIe8vaSMyH4WvcivIsW7dppqJWYMycQlswGcHI31NKFzuqmc8K9P7j9uSqKxdz4to6/gLDwcTu1
qMTRFlMQ1WAm7IOt4uVrqyIaLKjhZ0JfcudF+/EEMFH3A+A10d83UNur3SK2qL0G/13nqdZx79Ex
jKrbyopZXYDU1he0/dG1KHwxYYkET0jedI75FrJOuO6mbWr1UVWG7nLdrNtZNG33gmrCbmnAxNU3
3gf+QrcKiOqzdSCyqWnHLZON1dP1Fv6qU9zN1XMo6GKCLQuYITlFpYcUNVstd7lpiwcgeq15Ispd
fSsqG5SAcDz7tbW4NyJ8dOevcOTA1Hfu0r3Z9ghepHdcTovaamOAXEJRa+OFI1MaY8wXRNzrs2mm
+K6IJ+qk1ZqSnxt//POipCtTk3fh16knlCSzLT95tZctL/ZjWORyt3Ybdzlf5W61S0pPdjs1kxmN
kTwnkZ0BLQDgaSCOG9+lqI5j5S0lBSuZ2Z/6Nh7fMIvZ654TX9516EIUnUUnuGk3EHC7RIMWS9Uw
XMIgAsu2dskIEk61YBkyheLXO7jzFL115AH+QqgY8X89uNqbrpo4WKtsIxvsNzVgp/ZFvGyvgTd4
6yuoT6zaSTdZY1Z2arZuZggIQxYVcVWhF4/Cx5E577PWqxucg5pvj3x4B6vrBtWArPsuLNsj75F4
Up4B8Qa2d5sqzsTJ3AS+BvMQCL+fM3LKQrw1GylH6QxLsdt3Q8hfXnSr8a5g6HZfbC3GJSVUH+Js
heMx7dqx+FEuXX7XzzGtR8I67C8BqDNSzT1PPOp52xTMcxesg7D0tLPmYHzwYa24GeRt75dRTTSl
vo5L6M2Q0u5cYsVZorVpnokDGd1jYs/NuTZ5HNxETj7NpCj40r4Sbe8HANjqMqD476LOzYKkmm8u
CplvrbW4vK9LXT11dPXBPdTb8pJbwUg4ui9CmbZ5PZssgaVyXDxXDtQhjj/v4t4qhjsSsldxyk0p
7wsAId9lN0fkkW+RXLKehB11CHmTTOopFtW1T276A8QX0aWFp2X0eayFe2znkoyhAPgl4euh0Pc6
h+j96E6bC32lUn1Dbll8mQk6lhPvrMksT7ToVbyzhRVP6UZe3XO0dVZHyEtxIfKQB9inYQvUJiWT
mGh3IrZpk1ZxXmzn0YfLcd2Cmv5p5VzErpqKTCegQV5hH4Z4Zg7oUHonu5yvbEvjZRGMJ1co7z7G
lH4PsrG+K1XDjRyAbwHhNJKhLI+XzE5822JL2lvDlfZ3rzFh71u3Wr2D5esxOEbNan9fZoMwHiHW
HOyUU3tvMN2ohfq18o6bxsaS4TQIH6TltjnjjJz7/hjNkZ2itGgg1PrBZF9bVg9PEvqaN2cVo/f2
1mXZYQH14+RJFm50T+PH/ybKZC5Pm5Rz+DBjj2gOQ58U7aFrBvtxrYNt3c2+291Hc8FvMsAsWnnX
m41ljVn6qnKD9jtKIijUcG31o2/auDiCoO2W69Us8D6tvnU+QVdA2W+7S3GNmbANdiJ0+y9RvPgm
7ZZu/lSvA7TaecMjvF/BlVzNyuN16ZtADYfWr+NHoxxTpQstzWBHas0W7xvdsLqbMlh4+NjFv9Wi
meiJaOg+8VraJiXg0mquZje3f1b+NsjrTbfOo3YrT+8rsDjX9bB4pMBDn475knr1lIch1aOt3HB7
BH4gAIkmOZVFzs8iRrW0V5GQzYtVWpCaKmtsv5c0NdxUDtL+YReqdMmzX/Fd5Szz3bwkgXft8mui
H6H5jPypSJJTuDBjAFxJPywdGzvKofjSv82kokTWHTCVXeLnyj8nhZqWrK7kMqQ9KLyGPL5k/TYY
K64hlUzTZ7+HYgDlaeWsxEuDJl3nBMH2OA5lZntW+ZUqE3ly7SR9n0WGVuT1XJqipJd6mVDli2Nd
U6YGCz2ZWW3NcQUdUKfhUGp/l/RrH6QEYEioHOXkfVJqYC8sN12+oSohqsQa/EZAhi7XCyELLehD
jpqguOo34w634E2m5nWj9C5vel2HGPG8ckuuB7CIGIS2wrmvAfAmaei1ud6vvNYmE1BlPW4GUzyn
dbPRvQ4NQPdSk6Czt2BHjRn0j3E95X51abRFffvJJpI2T2uwLvd0VKPv2ocQADJWBGQtLWq9l9XA
TUUIdqqDLJEWpASwVp9Lq5KPwLEI+zK1Ey0HP+Yxh22qcWdwOOX6KopkoAEPzG6VlRWt/EaicLoT
wi3wy8cLq0ONEA0kCZGG1I/FmW8cZ+GmSCgQO0Agh/zJdrlcpY6Q+ZMFPhR6EuOM74uoSEM3g517
ey1tfqbVVurOGXo7OoJcLtW1ZGYQfi7LkkouqnTweaxIjslst4i+xGCkrJ0bgMRMI1cDYenKRtxW
25zHKbNXPd9CQtNRCh1HYZoDCnOfTK4FuKV3PRoGorR8jCJ9PHOsSACX+yZpW85RxSfPBNOK+0iv
lUPoix3SPM1Ji3H1bGUdT3sb4LLtm0FU42FE29wc/MrlTRxKz+mOtdBuebArsjzSXKr8Z8tGIShn
a7t4JriE1FwZevJz5YArTitM+TdJaDZ+FoTKnwoaDEu6WvBAmE6Shqhd43tH9vLhJtoIrUqH1bF/
0TAIfltUipQCNB53w9JQNsGcK/LTgunNRvtHtymTwRxUO3KtnTcaW9bl1xAOS9fxanSuXqyBygfd
E+RgpK3b6q6Svl45bKmrku4bQwLOjRosF5VoYwzWzbgj8bQXVTyfPTao6hybirSGsRm7Ko29MgIn
gyYmXecBJAWvJLHtbThtt343uvku1qKBekSHj3M18hWNDXSxc9YYLYujtgg4SQdWAXEIY2COl8aq
OZWu5UQHp+/czwE2A3Fk7M9LMJDe/8j1CJ1q5BDkdVPUdtuldt7Mt40X1PVV43BYpRIYBryysRyf
bWJNp31BdNP3VnE1A7HmKnWsmnn4HNmLKM7cIcRDMHORyobC6ds0SGZ5ol5ZCf+b7I66OOziaypr
r0/dSdIqaUg0wl1Wt8pOGzyylDMF582hCg3qc9C7KHlpY/CqxyAtUuwE7pj63DnKFEgTG2EVVOGU
jf04vuRJwPczMtL/Mool6FicxRpndNRhJU1d8K0e3QkUUVwQHEZoXcFRTvvkRi2DZIuxx1Ckbh0G
Fl2KaFhJ75vG225pagOvFm5NaoCZSjTbrFsECk3gHRA9cwnKgwS3Dr+9Pe94sjCpZFL6Y6yYeLP1
tMmnKtRAslOCDUBiLwbG9DEPZ7A+WFVlTBlGglqK6t1/pXAG+EuAFpDUYRbeT9kZ10pda1AQaq1B
Vi8xYUV+ajvdEqVBAFwKaQ3YEjZEkhl0BDZm3zfWFqRYJ6TMWlqBbGcJyTsZMZPteGwIir3evAUG
DDfSxDm2Qc0E0OsruaUbbvMt61DQOJnXafMQbMXcgnL3tl+DEGB6aquMblQ/0Il1gdwCydrsonnI
2ca/6mDiBKlYlwQDbuF2w85AWQ0dh9Kk3Vz3V1cX+aNqu+HLuLVWe+PVBqAN04llPxfeMh0I4/Dy
rCJe9tUG2TpkBtsfUvk8Ts6VWINHfhFkwYprwIEcEua1ZWeWT6JaI4n9g5WX+Sb3qmwJRHR2l1KG
vFy2vMW/yuGuSihQ6VSjxrtAh/2GYgsWVqUsvWakMoe/w2ALknMgp+JTQSodv742yxetmR7t6slS
b72f0NZyjB9dQVE3gKsxrD0sngPdPYiG5oYxEaZFPql88Xvg0jvwFPzM8wSFPAuHpISQ67kts4lF
5mdiCwlxmetq8nblUrSo8cRQPJsETGVK7S78tExgo51loeecsLZw7sGGtdOz6pdg25ux8PvrfPGC
X0VU+vWunJhiZKEzg2WH9CP6HeOQaYbKm1ivW+eqnrGz2vqj20p9CF3dxnCrQpumBwjxx6K1uQmM
pu11ukVmqXjtElnuWJ7+D46+/HsBI0ikCliUtS8unM20X/LpLRgm7d5GLSlOe4/88V/Qe0n5wpHT
cJOmMEUsXpFJPCcVHbdaJ5vk2G75RzbP2PmbY23uT6g9LGO7qhKHp1/m71Zcrr/WvCyuBWQ/eR90
QdNm2PLDz9iAG0IAUaDyotmdxcY4av/V9or4d+SsAa4LZyJCpDLLGN1AcZseOx0WX/1hCxvMlPZY
pzRux+16g6P0y53MdBVTcSX4Tu3mp2PX9sz5W9JT0CrWz66cS3Ga7KYpTnHuzbyA9tL9bkG5VXt8
fVQ5k9t5X5auMd91VPWAOzFCSpowbUITppnVcoqR8so0kIhS0sD4Zsh0DEGBiCYRpqOfozaAm9Q4
nNx5f9NQV7G59Mo94hFOorQbBLxHgpDL303uQA4xFROGQ9fL6W0CsPlDV2NRc42qu2bXQZeruc5U
nEUsf72A8L7ceIqlMMOOqqyp6Cvq4W6Ocow/gjRfekKRcRtS1vNyPtiDCb7Y0jjyFCaVwXFe9lGP
e49Uir1a7OD3ECJ75OYq1rNbrBc6XVU6w471xd/dduP8aXHYrzNBAfVsLRIMYJEv1mnw8gArOeZX
DmcDFNKqUeSmHulRl+mvbz4NLWowIkuMfrM6MdxBaxY/27rPPy9rWX7TVMv0qreleR2cEgJd3ont
dYULwefDPXpsGj9eU09sQqCMXs0x4m5Wpk4p3FtFfsW2Q4Qa2ft1ccTRNH33pNZ+elrjknbLKMeq
5jI9cCwqGtCwvwtOiEysUr7E0TpbBAr2yyP7NT2EarHm79Ly+9+DnHt56Nkj8TVtPlynrVHj47hY
3nOu8/qK24D+HWyT91TwBv1aZA/tsqF10nPlt2ndJoUXqjQa7HBO824hcNjmDgrW01/j14GboUkL
2g3fHbLGi11E3Fq1H2RI+c20d2SyEmzqgT7OCjUSRZ/JGMp06jHgClpee8kWi6xyW++rKsLuQbuu
+Z7UsjY3w9rEc2ZxJQxSGxSnvCkVyLw912+zo3M397sS2ml/VTM6eCtp9Z+TNQa7oUYRPeaqhxY7
h6ztDHhXTIxHrtq7bZHmMa9N9cPYaj4Tm5IXGRNI77UESQu5B8djnWmggrfRuPXiaqvIHE1dXdZj
Ouou+Ny2i87ZQUO2nHkNzf2aNHT/Hd/q1ImtWB4mvy2sNMSwTLuY8wxGud1bNnN0nTxuDsf2oSM3
tkvRycLyLWynp1FKcsKTEyq9XtPd8J83qmW0PoaL835x8qFMSSlegAMOzXIF70tqIIYk/KaOsmjj
t+0QQPZTa0eSX2wlzZ7AnaXNFIxb/+iulXXfKG9YTyJJ6vjOb8vld2O27RWe6qp5Fy+VdLHW8ZXI
27miZLOH+ZG3gebQMJX6bhQolzMOrxkTfFLA86tr5b0Gfs/0Yoq74DJ/Icb/ZoCXdl3QyMjTWeEA
Pa5KgKHLyy5quFI7y5xi85M/53UpXzu77Yfd1ESi2uVFoKk+FVGZtHT1+juf5+VmRcn21tTsqcQu
ODNv6FZZ05FS2FwHW++Op3VorFO42kIzGAp1fmjnJOmADlvJ92QhEzL15OYeZO4N7a71h+oRyJt1
70fSfx5FC8YOImP06OAq+gqS2Cr3XR0FMh0t2LApXpVoy8LAwO3tZ3zQqbWsHB2KeyO8BDbyeldM
YKJ39NOYmHfdOn2jqK0+I6XmYIxySwre/5g5VqkqjeV13UipHD1ekBqOvGFwBFytkDZK+7kmwZfr
dvkz90wwppPBQrsfzAK4VYculDdkeOQZb7hsXilPwie/WaIx0028XIteOnCpwbpfAZef/PMcDvOV
Ae9enprVLV7bjUbSTWH543AQEVBoan3DFcX3ZPB14+JS7AMa3RwPFQ2r0xQBXchW08SvDdTp6lA0
fh/sdLMOxMk7rnhMfIldeHVoTsneSY4o6fXXgGg9ElsstGHw5+yr3HDwMGFSvAh1m9Q3GBH5FwhT
Kx8s1+FsV9qM1b6buvy7QIsv08EoNsalLssZsvPmA8minHrOV+NQRjZdPe1Dk48Q/jq4zApRt5ua
RKtXVO/Wz4oF8HOCVwq+VTf5F792q/txooLItnnwPKQVeX7Um6LHV5SyQy8ditHOaOk0102nAfI6
9mhdx2x84T6fYV3vRgPK9gQBcWuzcFJWm5JHycEzjoFz4/uTjvb5YlN7cQtuxsyNyuKQKFfgAVSD
c7XRqGe+0A/6WDEZg95XLJSuYWvmmCb7MHX0z0Kfg5rdlmpDkIeesP2sDIuT6jZSBAAc3WBzwcSK
6Ufvi5rC12kcaoJJnqNElGzaGHR1xvhthL/c53gp2q10CKgQbZROalWEmyZ69Y+h09iQtNti+zzh
+gK2Tfaut5uIWZuoJhzSRQjN9j/3ACTzc+G3nGAqt4B/W2viZASfOPdmu1wz2XyC4uyVqn/JSfGy
dwxWnKeAQnpMGakx1m2b+tpcih5sXpP1HA0gCLLYqdz7httO95i77fbWRqCjr3q/068xnOOHcIgP
pZD2eMIFXyABCS9oyA60pp+KPkluiTyevzCygISNkqo9cyEa3qxGsDOoxeXfqFvrYsrYxoTa0gBQ
RlPc3UuOon4P0JXebU4RQVMn8huunLVHyiYXbrMTElAuG6tIaN7MeoAmx9QtBcfpw8kEJd3cqAtv
ild6ru5WP1++DhzbT3DhXEiq1uT+7uOCqhcn2XQzeUkPyIxw2Xu/qiRlLHA1OuUe/5tdOjm9XuGI
abdh+ec6GrHM0wu16FRDACYwiB/20ZsJdWRTr4Jv4RJRQbgqL386jWo4BosLLTjS9pzcMuCl6Rd3
Pg2qUBjCLFZWaMD23Vh2WgfjpO6LTrR22hOcS2N7CydkS90wvaCwzc1ZM9gY92tj2GxcArYicoM3
maeevcbfoSHV8rBa3LH39lxx2LiqENsxoen+mq+Nd2kbB9xcVsPI6bTStdLpNNYTNa9yRJtZIsKV
CpgZTU5kcXZwPIQCnevWIRek6MMTWG514Lh7O9aJPaTeMK/BwXhTa9219J7RAsm6meQvtD+quFtE
POeneYQQXcKW5MrKLlq6AEubZrEA+xpBUKa6A7AUe2sWjt6gXwc9DNuRAkYKi2RQzx7vk4UkmJ2k
WWM9u9PiQ8CRbk2CaCrakH1wHw0OeG7M/YOBhd1VqoG+tQ7ei+/nsrsbOmuxacRw6Pin0Q5HcScs
5VJlQ3CwPtvoj9qrCoYPFOq2bsv+XBSy1c+hYzZKLUxQcf8r6kuX0oaxH8+YJFkRVqqh1RLfSZfV
dk7BUrvz7eDTRGdiIE3327MgjfQZ42QuYgclQ5H/zpMN/Q4txbE5A5m1nM+1aMT0FjucnXc2tvOQ
dCYmH58Ytyj7pTUhtVCWJ2HrfO0tGdjhoWmYEZ5yxxiGyqO3xdubtfR8nyvlXPG9QzRXH3mMYpoo
BlbFypHYjtUXz7dsXm5MCi79snrMJ8dKY+WP3pj1CBTowDBRKeSu5tuxT+2oo+AErlpbz23g9lQa
epYBw5LcKKjcYrIHXqkA3UX8A2tvGP3QYVxH07FkTkoMjb+ElRzpQJV++0XGnDJvCVfXfL/Ei1ee
IaY3032wDs5oZVPRQIYsoiWPzovS4XIsPWPaG5sbOjRvFNbzvqF1vj2Gkr+/T+2YUYFI4zX230Qp
luYlLEhC+5avC8cGsxKM7Ir1zUcLnTo50hbX5sqZDEdmAfqBWXTXz+p6tXCsnMMxqs1pbOeFd7Zr
ypmjkiChO4tAyeHQY+brr9Vmb9XeBFjlv42qzgfuuWOs9nQ9ffukkJqQZdtBuNx51tpGzDJotmTo
Rbv4S80b86RXVS034xpwm9lsztf9tEzBsCv9af2qxVL8UsvmqKuQTaDeLX6df7VgCduw7c38GnQ0
gw+LndRPZd96Os0T2US7iuPP3xNqUvffxEhsMXctL1lOAk80qY5hv+ZXENO9Nx0QJr2z12Jej3YQ
Oa/an+kxBfTsk1Qn9OFSUhOtByapogFzX23f1iHqn0b+ppc1FjbEtW4s9+NQlB1DBGrEtBgSl8um
1RS3HXfvh7hrZLur/BG0Sx7mxbdpFKODW1BNJkWLCX7d3daZQtbY9s7R7vBzReX5Zdb1ck3Gcdkg
i+nDKz221Y5LWri3EGXf6SSurzxwcGgGpu2GMZBp9r0w/rnn7ZnTzdWMb+Saq5PG2lXfNJE73cxc
G7hGelK2KcBoOXGvbdFkSJpAP9rNWV6I8MIfukaN6XZD403wdgsmv08VO+IL4aojPelWEoapgwtG
JjIeIoSGEP98X/DtvpRDgOu87o36gu4ofsrr1qkPosuj6Kknk+fz0GwVgh1/Cd6SHhIzzZhgXHf5
GpA1HMxLvVciIQiMJlwk6AVCUc/mZSnKm3FyZoIYmqG9MsT/nGaBM/g2CBd6FF4ZcHwnqqOXQdgc
85pVgddmVGYXoEPXoMmkzgHXA7BOIB9vccfgcyDROh2CSH0bBGcTJu8WPUfF1Z3TuE4A2JCjuJ5o
awmftIKxLc6oqQgOBqjeNvhLN/26IRMY91wj1x8tQSA/K6uP43QuguWMg0WawzoM5Tc1zch1Y2zb
D5P0S0aXbtwj1F23iSnL5Koz9yWur3a+JbfMGR2RQcJD3IrShzkMw1WmvfB15gvGPIwNkkPaNPw3
jW+lQ75NzwXp6DW07z5u0ohKR+18RNgPU+WB4In5kuwUXAz3QqGihh3PSRBcEfzLdp4kch2PDi3N
zwz2UT6Y2h1p6m0rjetqK+VZYOZ19gbTpmFzWzU0+K0cvtaD57/YyQKLnm2fdeOO6+TeWFIphJBM
gr4IMYYNd7xRTbt+VFV8YDOKi4Oj+Q9tAywjtIkM4kPjJONjMIrtov0L3NteqPBBFU1PalzPJg4e
u47XfVGu60OJPffZK4ehPask7AuUlqYCao/o4IKOyUXMrIciA4ItU/FLC4G2vgm0kPQynWA4OG5b
tQct/YT+DxdAmrDTYjJNZtm3jrMXWpOjDDOSaO42gtvQvtF3K8iqsYukxDoYeeOZScqKqLra4nK/
+Vb8PYIjgItp6Baz5+We8T63XSvTbRkT/2qw++nWLHlcZ70ydNnjtu2u3d6ihV043OQOFAjupyEw
6hd7KMOturQvzSI62/AB58WJM1UVpX6tKrWdKqQU6Ftri9Es8qD6VRUqeHEWUpjPDufd49Y6IfXA
3/Wn/9KV4aEkTCKG5kIMFVnL/9SVdc20aooq+rCywlqzFMGVqT58ynt1Ld4zcs18DlbCijGBXJSb
/+Vi4JIyhO3WgUqR9KCjhl8/6B20TzWajmUlhKUcKaz+/tH+pc+7PPQ/clB05nQUL//7fz1UC4eT
KI9R1UzJcB6rtn/uozE/tozw//dHkZxwCQNxYk6V94ahEp9Es9YSKLGDrsCLS+jDYa2PhTN0H+ij
34tc+SpBVQF/uZgwodq++8GKWXa8dibO8kp2aZ0TcIBlqzyuVRWmUm8f+V3+sEAuguGQtEsAOIis
//kt1qvcciQkCfqB1b1qNrNcxWykH3yBf/pUKJoxSBP/itf23VM6VLtRDdA6Q8K37eQcdZmXO/Wu
MUDsAgy42f+8NggU9wjJcV3E16H7z0/l9rTjxxzWAiaDH6Vv1zsxx11W6v6jcOQ/fX9QHXB9srGz
Gt+pRAWzbDlYZZLRAVHPCAKi24ay94Pv7195iZdlkeAsZUUQn+u+z7+RgQq4HfIzWRNN/L6W7i2q
DWenYsu7N0NsMrIi8qchXJxPTBb13kUj8/z3L/WPHzVA800wM2bFf3nZJhV1DA8SeG0Rjp0yQaqC
Ssvzig8+7b/fbM+5LMmYzh0YqPd2XbKY47LyHEgZU2T8dBQ5erLZlu7nbZZq9/dP9aeHkRPnXqS3
7JPvXbtW4YyMTrjCW0W9/GB+wnBzTbbhixd45Ue5l++NTwQokaPEmM3zyQHjE/5zXVbV6OSMOWh4
AQu9lVH3fWBKfaCq+Un3q82KBPlILcz8gU3v3xs0zyVj7fL+XSTN754bLrGyKOh5HwIDbLQt12zQ
fnTACyp3liD01XZa5/D3b/aPHxabKQhixMZknP7zwyImWfyhZq400czYbR1S9wvJ8LD0Jkwnvyb7
3hlQknYYs//+5D/+ppBPcF3hi478d5to5w+JCNslgYextZ8aq+2eVq+hlTovc/uB0+nfbwVOI8Kj
L+cf59F7R1npjZU0Azg2JjHx0Z6hNDobc4T//RMF3GgxJ/P+/ytGiWt5Ths1YgNdApUxXGJupbv2
vKKP/+AE+tNaCQgLQm9CgD+zoH/+bBtBGUNku6wV1Fp3y7Tmdz7an68OhAF7v3V+PqcUAdVHkOU/
fZEYOwmlIg3Xj95btqzKpv+pudlus9t+a1wRtLsmmbyPwiHfW9Mu7yA4qci/2C3ZXd6dDaPlEM20
hglWAi+86sOSN66anB0TiRq9KoGD+IKCN4UI8m724mL/91/y30chwhm0/hGTS8xB782X2riMZxku
Z3lLWeYPVJOVG027aa5IrbOn9f+xvxEuQfnHeYhh9N0BVaw4NNY+ZjPVtjmMWjzmnnZ2XRnG/49t
+7+f9O6Lhae8levAF0tQf7AnN7LKhgqndztI/+rvX+KfXnBcDD5mYGxV5CT9c43SzsqFyv0k863S
/0EUnb2nGyM/ybIIP9jF/vR7/fejLsv2v8pMCoxQM2hKQDsk6/4C2NwJ+mcQGIoAQWb+UabO+13T
DShcOFs8O2CyjV3tn8/jcuM6lq71frZm54j7aEGatSYHqD7Flect5hAJWjjkVo4f7GTvv9T/PDmB
p8la4b14H/dSuZpgRdfV+3is499t3ydXNdPfg0tc3P+4KC+P8nkEezN5psH7hKvQSqxmnWy9tzYT
/0ZS72fYIl4mA7Tpg1X5/ve7PAq7GHY46mlK3HdLhSxt5ZYCFavlLbdMXJxPqp3xv9oifGri5iNX
3Pvdk8eRJn2JREKzSKbDu93TmbRoK/jM+8Uq0UiG8TH4j2kCDwVD077n72B698Ev935LuzyU7YS6
zL9c9N4nZJSBGSCQosyMGXLeuOCYT2a2xlfco2ikiMLc0+Tprws9xN+LdZmf//42/mHJUtLwK3I9
Ing4evfiG8EQDSDgtAc7MB2n+tD3T14r9ENbxMGeUWuPZISYqr8/9Q/L1SEIknSiBFAzrql/vihG
U8zzkGlfq4o5TehaG9EAXfibQFm0BH9/2J9+Vg6NC2D3ssVF71bRoBGGUJtNGKW8MkvacL7rVTE+
5M5aHKYBsZkle/uDT+j8Ye1imSKf3w9smA7vcS9NGQlb1BLbtK/cO4BFSFtRr00/mqlPToOZ55eo
2OrrahrdR254zWeawt5+qENrSNuEURkIq5LOFHaNfd7nXuoQfPZRBf3HvxKFGhsTKS3R+yW/cElv
urZClGxj0BumeEsv8dQn1VjjSYVB8/Pvv8WfVvvF3Ao1Ce2C/b66w+zZtV44672HKtpCg2g1OYEB
YkQss3Rnb6MNiHspP9dlM55ISfbM4e9/wb+iti8vHLVRSGrDBYzzPjNK0eR0C8P+VcuwPdN2aw9R
rttTBP1xJ8d1y/oR0tJobwDimh4ZN7/wftC6ZpSCwOnvf86fFmfsEYtKkwIs/HtzMwJ+kf8fZ2e2
G7nRROknIsB9ua1iLZJ6l9uy+4botv1z35ck+fTzpQaYEVlEEWoDvhLQUZnMjIzlxDmlTot5FlH+
lE/d9HVQGa5QIutXilwHPaax3jmbWzYh4yH2hUyG12r1TIlMVWdFhN2JyaDkaE76IFtRnfMVBcgh
PdC8o5qQB6az83Js2oXbE8UwuNbUtWaLRhd8jiiznQp0E+gfdEXMjEo/Ay9U3YixWUWNzkla71FI
bdqFXF16OQa511+87KIx7q0CnW09M65OAqMBsOIueQqY+vYHqAJpijBMtuN35Da+HY+UB42rxRMG
VTXCAfIuvIk+BPDeXjeY9PDmbvgex2Pr671tfb9/gDZuFGwgjI1zgaEiuqFWKYbM6ry5PdlNiY62
WaQPjAUAomjD/zG2PBxbfUQMnpkxPxp74+G+9Y2tZVpT1VxcCKi9ddxBnDA1qYbAa5MlNoIboObd
om0vRKjtqYMn0C/rtt3Z2A2nhVGqKUQFcop9dX55yaDQ8XizUEbvD86U8jpPFNVTJ4iPjiWG999R
iBx0+UgjBqqu30i3hc0UncHuZGaT8oTaSPMVRtipPKvMRsZHNevC8+Q505f37y2ZPyEdG6uj7bE8
Px0TExZo+u6k9HN3mUotv3ZWpZ6YsnW/6ODVGRBspq+/YRTyXbLIV86u1d5WeRurmcXLbKdR+TSa
1L0b11L+CatqvKiF/slR2PCdD7oRDhAGcIR19lG/EXOagsSxMzPoTmWQtxS5jf65m1zmaQ2vYQT1
/go3Ih5ITZhd5tRibJ30Dx0Iwn4QBFwTs8UG42OPlpiNZ4U+5qFjevtoGLl67tK5+eu+5VdNxJVH
oBEKaQ8cfRC+reNZtZh54icPPBGVAvoTU/2ppgn5PwYwpnNUGartG1Vj/eNWQcXsOhhlwByKrj5m
Q2p+pxsDIFEXReSDamJe4P6v27pVvMtcLIqUJBGr6NcahKrguXkXXcBqbleC4gfT8JHOuHoIwmHc
Ib/b+uhU/pkOkgG+utZKh2pKc+qalCXqqVlbHewFOsXJS6zvkqBveSkoicCNWq8CkitPTK/IaCPm
wU4BGPMLIe+fBbf8goMhd/Ea67On5+np/dspKXTguuClpcWyvL2MtJU2IO7+ZOUltQKt6D+LuJhO
cNWBxJ1gpbxvb2uNMIpCXUgwh7LtqlbgFiqsPVMxnAYzUK9j1GvM0Lfdd6YftYM+58EnuyzTvbrB
1qGB7RjaGXSfYG+Vl+3NGzfEkSdCZgpORW8ZR9uDgNPLYgVZTk+RlATGTvS2cWgMEMJQmhK+kTys
7FUuHpi2szhZU5h+rKy4eWl0c7pQT0v/vr+hG0ujUm5JwQeVkq8t//5madZMrXOeE0EbEvil49YO
Y8Q2A4hKD/g7HoJ5JyzbMGgyZc0jLnVVb97SojSZQGFY4pTWYXAubPFfbsb6Na3y6mgC0t45oBtb
ibALjEF0eOGUWKdFNNJ7+r6qOLU0L04g+9ILuAYTdLld7UQJujx8K8cn4yAE2pBoo5q8SsHsCOiY
HY/jqUui6WoZsBbUsdJ/TfpE823RtaSfavEl7lv1sa2Yr7HQa0dLrQ9/xPNk/2Kq24ThwGiuQxBK
angreA6Dpv/kkvQ9ch6Sa8EQyzUMoeo83j8HWwkD1RxJuU+jwUYifXkQZs3IJxv828lq2hKIUMAg
lqWP1lNhtMVLCZKDKHYaw7883mO0t2J4R4AKKf91RhkzFAIhwB7F7sYbRjeANhlUwtx1fbWfqoLC
l91wVDS7Q21xzN0jsO8BVhYQXZVmptdZ8VqGK0tjJ4HbskxtnkI2vQiYitZuxuqjyolQQUpU598+
IFZnNrz7xES5ddIQln6xkTI9iNbrd87QxnGVcntQz9FCk+x3y68QMv1VdJU2nuq6i4CX2enBoX91
smq0xu5/8Q1XarO3slX3ym+yWqPRZaHBczjC2RBIcL4p8gtInZEe7gi4cZqbq1Prw84CN66/9DRQ
+BIYqPq6hj5pVt+kJYPt1QTDiQoiFqw2dB3XWYwFHgBqj2rnaN/sKaeZANOSvQnKeesMhdZ/qY1u
P3H74vZTq0XFRS9NcQFK+d6+IKT/UAbSH+Cpp1WnesvPVyXZYCcOPBgSdPnI7B3SR4MLzoiK9k4g
s7UqmKYgEieUtIgslqYKOBIT11amE6PAVOjzxuyPFqCVCJiS2NOCvknyoA+nMAmFOAVWgLerm+gy
JgMSFtqEGLj0JxDYtPrnuYSA5f6Z3FgUvoeER2f/+G+1KC2E9CCsjemUDfAgmMx8Mf9ijqfQK+uf
903dHH+WBK0PlMSqRerxSsr/5uGzUw8KAlkwZ2y1vnZ9W51apiv9rlemM6Xv6UXVMnG+b3RrfZTn
kKWnweJApLT8aJFngIKqNEBHwNfgzdDjb8VEzc7pAMf+jikDwl65OGKlpSmbuTcN1KLEN3WDr1ot
qCXdA09fes5OP269Kq4XGAYooRAwoGC+FjOL3LYYI9wZVAtGfk3LuD5UHdPdga7u+OVNS7hH8jaK
jq66it6znKLVCPz9OEZO8XdWjc7ZM+tGP+SOXf+4v4HrM/+6qje2Vv5xLMqhCHt4RCJoHZ5habB/
VGQK/n0rmyvyCITkc0PtZnWzTJWB/UyvzCPkmUBdxxoAK5Wyx7gMincePrkgjY8EdoeKAjXb5YmI
S89OgxEiZwOUGgPTY35G7TG9Mmka7Ry+9eV6NSWbwFRrKICua2BD7oxCZ3waJZcG3Uw1rs6KK5j0
qYbwkia19m0ac+vv+1u59cGQR5UHQ1aiXhk339zoGPCvUw58sGwCk6vGg+uTir83oJRLA5dNeiuz
HoLY5S7CENfbU83S2qbR/w6b4r+q0J1vdp3+xllnKZC7WQzY0OheGjKcAScyjMaxjIb4Y2nVjFXp
YVj58xwoO99r6xTCyPdKlwhUyF3Zqhh7tjNPwMijC/gR6fEe8IjdpZym6PL+rwQfs4zGeZHp4i+X
FU2asGoBPF9jCOTMcE90cbpgD161DjPkV+IlQVaTZojNoV9aqQrLFZJG6eh0zS+Ig2s5hDWfdRZ0
HBiauv7GooAVkpNKbbn1ougWQr3k9lDcU+79UPSgt49B5gSqf9/O1r2y3tiR3/HNEZekpbqhYAeC
RvgjNObzdLOW03TefJ5nj8Et7vZOzr25lwDjMEweRTK1NCoGJqCzYsZoa1awzMA78TLEU3euIwcs
WeeWe0Sa8gy8TaTk14PiGkiZRc0R1u6lxURL26RXOfqNVRUP3Vz9LEJV30EcbRvhkCAIRQi8Fgmn
CcCAOOMwcNEN3aNXJ6i96+l4fP8Xk6BC4CioCXMel0uBa63I405nGgWRsQ8OISE8cXHjF1PEuE7g
Pgkv+N99k7cLkxVyCpuUDygiuN7SZEKCUmmMsh4zGqG+Z1X2N20w3D/uW1mnSGSKUILDRudRZgSa
tvKDLYNZUSRUjjyq8ReRtPOTnsTup6IOYLcQxAAlXADHoqTtdt/y7SXAMikS2SrPGXje5foYSqwE
yuR8OLfIvxiKEb+gi90/lV3dPBhmUJysEV3s+0ZvLwEdcyleQU0eUbrXouebm4dARpvBZMOsRyck
GzZD8mrmKD70XH8VvKLn3zFHLu7+331e7S7D8DbzRdJcaTdHSExA4/CA0jXs/pmUYE9ydGt1eEsQ
tjhLFCrl39+srrMStWGwxjimQ18fCb9s32akXZIspN/Tnsmz+8vbOqLSm7yWgGger9LcWHMSVYRA
26kthjQzLHFVI9d8Z0dDbh29d5UqJ/VJ1PaWq4I8pCBeGBAr9Nr4E9zp4qKIJDmqs+iOcVy7vrAg
B3n30mR8QE5NLwxE0+p0Evl7XdA2fDklFE+ZnkUnb8DL3Ldy+2BblPdd6FjBcZADrtyKSWEk7xhl
B9Q7odXskMnGps0Un2OlO9H9xnXj4Msun6xrAS9f7qJAy2Cwcy66nqiBD0YFVqTInX14QsqjxrCq
pHQpdxLBjQNpwytBxk6KCwp1ZbSo59hkJJmAxOz/1tLQfQSnU7woCgQPLri0nfhHfpTlgyMr5jB8
QKOLTNaa3NZhVDfLIYs66u4kvpgJVRG7Q0w4M6nhZZBHHBWGeR+hU8q/QVSU75yZ269JtZDYQaUh
BQJoDbrNYDyGuZPBSOAi4odrB2rtFzCDnuYS/rydrd00BiiAi05uiDba8nvmYh7Vfi5y363T5kId
z/zQUH28QHSu7cR6N6Bw1aQ1DJoXKAQo2xt4SKE4elb2EGJHgjFdyQh0gq86O3lJPz2F3Zh+sEaR
PDH0YT4KZfxgDm7z5f5NuXU12AWwKV8pagprdCFCjIptwEvna1BdPzBtXJ3CeI52/PWmFfnWEnAS
/q2hPhC6c0YzN/eF3nfXmCgXcT7kI+6v5fZWyECFgp3Uh5Aw2+WnMzrJJ1Cgw2AwAvUB9r3hQe+G
8JFy+pQf4M9odz7g1rLwYZQ7KDFZoNSWBkOz1fQZRTp/ro3mW6el9sehctud6HlrWfS5AfTaOvK5
65pgnjgQeM4R04Fpal7p31Psnsvx5KljfqBjtmfv1qOxg2/syd/z5rWbSmTJHAt7zqQwC2F5L/mo
TtfYgjWYMeQfnUdR8p1fTqKAXgW9eZTIvlevghoUfZWHKnyremPCDdR7R2E6zdWU4uVaXO4pv99c
cuzRwwdzB+xGpvzLJTpRMbeQzHBSlCg+R02FdhDsdkzQGd2O83qdqlg4T2mLeYjXQyJxYEtb8LSJ
sk9QSGIqCAC/KWgScJbgG5yZBc6KGBooh9n445T33qmuPOOnGsN1A6+Vmnzo5kj/PutG9iGDnfAD
vJiSshM2Nt8wi/ynzaTFOYKN6oWkvr1qNliAlpnl4xgb9QghabMT6G3uHD5LUvjLh3y1c0VV6+AP
cVlxPtofhCp7m9CInN223YPO3JxDuXGYgQeFDERfS9n1o2OMgtTbhwPiB5PBxU8R5NOlgEAY4fW6
hSQI9m51563bsipFRoGW87+zPopQaxBTQorjlwqFSA8qIF/LoNcL6io8552iovSua6f7539rVymW
eCSoLnmQunIkc5rQRYEz2c8su/ebRJ/8VkQtdUKGS37DlIcroa8NRn9de4LsYmJ0nfetm2XHPYI1
Io1haItqbXqvP+YDypk0ggYeOgpPy5PP8KswhWtmQONz9+IgzOQPVjeclDSKzoaXB3/eX9rteyoN
onxr0q6ltHuDKh8ptekO6hwadKPM8Jqld0YrO3vsG6X8IMK5fVJGZoe1JC3/peevn+DSKHde1I0D
hBVa8MA7aBiuxxq9HAHasnBT2GBix29io/Tn0YQ7TcTTJy9gRNrOzWLH6MYBkk1JSop0ISRKabnV
bd4J2H0gFKkgvzwFSSD+gK+8PdYjYnv3d3nTlGzg0lUxZVy2NFUXJJeTwBR945B5iyw8D64O95PV
ZO93Nog+2s6raiAR0mpVcW4MplEomGJA51AyQ35W6hou7aLZK3fchLhEP5T2qNEzNEOlebUqMN/g
oo0ACrog95jRT61LBbHi0Ro87x/bqsfToEUmZA6QIUJ6t5cWbW0q4E+DGFACBdft5ZqIyFbpavtN
pMFJ0ivBua3oAGpV0O8Udm7CCbnSV8A1HQKcwMqDz04S1bnVZ77kL/SLoKmes2B22N6muGq5kV3u
n5et+wCCTeLmUEek9LI8L8yq0MxKR9gcQr16zFFpOZWVXpw1pYGoX0NFJIkgVbhvVC5i9egCDPz/
RlePbjzlM6MIGB2hyMpJA7PpuYwJ40toux5SRh7PXupo5WE09T3MyKZtylkenVxypnXPApqQqRt0
KbQydsbTDKj2QGSI6G5rRMem6H+mXqE99qO9p/26dYioHOtyAkRCFFdZrzcVhavAZ+Kr3RxeJ3Lf
74lKAQF3tacsvGnKphcpn0lGQVZZEpWtrICLLEOVXmPwXXWeywFW37lXg50qxZYlBtnAwzhovnEL
lseHTRtNMaM4gzxrfJxbxGJohaPQMTrNztO49eHIxUyIag1m9dYBR0FdMLFV3E002cXDlCewsXlZ
/g1hBuViVKmF8Jmm0ARoxu/3j+vWy0Utkn4L5h2XufjlKlEuHjpHWHi6GWJz3UuMM8zUSAlNdnTs
mxHCeCd2X4Y6KhvJ92sfBmpsO6Hq1k1lMNik8auB1PFWnoEJiVTWTVIfESXvoYd324fVLAJVUvzU
UL7yaeXsAWukC19fVCID5qRk3M/KlwuvYj0fwmrCJvND0M20/VdIOt2dgtrWlwX1h8iHrGPcNM6R
gplGRoRT3Gs/fi5Mvqc7jcGZ1/KHE8BqytSDU32a7BQVl/ufduthgXIAHCMNHd6w1QJFMcBN3OSZ
D+duA4Kjg0MIOsDwallp85J0lfvT9aDdAWGbT8d2Rqtn5xdsOXyyRxccIs3um9nhrk/raAyd1Ld5
5I6kz1D4Rj2MtvCXHZPCjHd879aNlS8o0TuUAVT2l580zuBS6RTsWQkkMC6z2L5W2xADek22c2O3
lgbyiaSf6hDXdmUqaUanBd5E2OPB4OiVrv2cVUF7zWxAlqKdzZ1zdLs0/CuAAWbr2Eqc+3Jpttlo
DC6GqT+M4lvYtP1jpxJoZghBfrl/bLYsAaeUi2Lqk1rw0hKjwiXKL9BG5knVXwRqaj50GsMZ6i9z
53zcYNsoXHA0uX9A2/hma7/ntYVJMRi2p5aRt7/1Nh0Al/SxGR+aVszPE029f8WYjUcAXTFNcav/
OqCUdtDLlB8kRLnjDW/9ED+GJgLjOSacHWtN2kyFFb6bU/ywEmd/lIUF2WpmtebVFpSrDkFetd/D
virCnYO7aZcKi40kHliDdZu310OkOwa4kozB/mdU4PgEeuB86C1K4WTbKFSBb31+/3c2cfugbbzX
+vHyO6NRYJh5Xaa+KbTsE6X39OwkQv04wWf/7mhaB0ChwadLTCLzpKWpGSAl/yifuUEg92y5cCKB
G7KPYdPsDVHe3ktpCjwwLzZ9NmP1krRt1FlyAMUXUhoOuYnm2BHj+nCxq9dk7vWH9++ifLVA2Mgp
/jWzBfOCvY6KC7elsD4jBFQeecuLs9tF846lrZWRKHA6pN7vzXs1FbHhKoKVZXb8AzF6dEVgWw4P
8Mi1z10mih088O37KCEiRM2MDEgo2+qjmfoUKk7pJL6t1fV5cJT2c+02+tf37x+wF7YPSQL4XeSv
eFPy0/SSGn9eJX4Prd6Byod9slJaXT0+53Tf1NaC3pqSju+NqQKeuSLqMAXXN5IoXZBcUsMefuMq
y4ErdCUYhmbWcGll5CnUQtODvy1IxyeYm9yPAQIXj5DhBb+YMU2PVbfbl984G3QoyCGZqUP/01q9
DmFb5CrPfezTRfs3CCjd5LMB03/WDiioMWz47p2UFUwDVWKSfktbrTGwDcUtWzP2S4ph5zayxy9O
lO2xOmwsCisUwoj2aVasD2DDVIQZ1Vjp82po0JoOymPdVMmPMULDE4XivY6EPADLiFCHc0QS8lD3
09R1LWyEGB6LhjyLY3NMYPFDaiKCIQ/6/p0d3DLFg0dhgXomr9/KTfW9Wo20P2J0VGIgvgHCWyBT
O3wxhaP7H2vrkZV1TJNbLBGp676SEUHqKXC6fiZgF9OSBlbeQDGLQxBT46Y5Up1ghI2Yz/PUSyhy
/SiFZi5FX0CCj3jXz/u/Z2vpEpbAyA0/i4rH8oKYKFMIqEdi5i2V+LM2Z8FHnN5MUIha431TG88q
tIuEvpwhAOtrqGWrRiXkYmgxVBPMdIZTN+e06pHrjuJm8NNKC05l6s3X+1ZvF8jrQ4dbQuMZwb4p
Puq08Vw1VRDkjL2TPvYQDCKRSVAaJzsp6u0VYZxLwsMkktQi7V/uJRMDTqVCQ+3no8gQc6iHE4C1
5pTDZ3qE2X3v2N66UAkolVQIr0/sOk8zghCUWGdBFDk30Qu13vxkz5FyefcGUiUiV+Jy0GJeQzog
w7Qzm5vnj50w4ABJajRjYOD2sjo53De1tSCYB0jMmCsnWlgdRlFMU1JoCuST0PoBejPMi6DM79+3
Iv+VpWPBAlVhJlA4hZzm5WeCXom2IEzmfqENxVe18ZKzbRXCb8gNLwgDoF0RKsXXtp7c9x8QHnGq
i0RDsuW0SlOEKBwUyDzhs3T37HVej4xUO/1XzIl6RYly2jn7GweSaMgB1Sw7KOjWL1ca42Ja5oGF
j5jBBISqzI45EowPnl5PFztznfe3akgeiPTov0JQwzdcGsyqziugXqRrkdTBpYIt95wA3z4GcWM9
0qwyH424T3aCllu/InG69AvJE4Bm3sxwpgaR+TiOfhCOxUlPYVd3oMfxNbtXPtiwqn+Nh0LdCSw2
3MrCqNz6N+GLynSiilzkKImxg2NZz+4TTSjo5ZkX+Xb/vG6ujzCdYRduBpC1pakuzRoxVJxXjYb5
L00TyHm6sVKcYx3N0zbnKBWlI3au/cbZYYBBXnlq0czGrj6lWY5tOUbZ6KeW3Z3ouk3+OJraIzEo
zE695e7Y29pQer8QUMNNQyIv//5mQ2FE9Dz6UaOfOMgmEeowYV04+VGg1Hy+v6EbDoDUDgwCzUv6
CuucOgiUdij7avRbejdPczgqJwjBC89Hw1HTrlWgKZcA2ZGPJWzqO7Y3XBztPdkNowxDUWR1blJ9
TPramwXvnXhuYab/PNZm8sf9BW7sJTOfKtUC3LUNFmK5l0RN6GuJWvh9ZFhHxe7jC887VNrQOu3k
JRuHE8wYPUvp2CACWhWAUYNKp9LDe0JgbT426TBTkVSLx9yi35dVSfunkg/ZjtGN9bl0ECQxNDkR
D+5yfZOqMIenxsK3kZk6REWm+hEKD1dYY99LL8DzoIMbg5SDQj6bunqSbBRfNU8ojIYQH/5A77M4
mvNQfaOKB7c0hf+dytLttcMeqE2QOICPqH6slgbiohIN8ZA5We5jno3xxygLqwSRqjD/VXt9vmPw
9kBikN6sSw5L0rzuOLVQisNwOw++1jTWKayH7ilux27nJdqwYkDt+soIR2a5xq5EkNsYeo0OEAc2
u0oYxGOgt8WOU97YPDmNqJIkk+4Z64LRPBhtr/Gq+kNkCIOIWqAkKML0RWn6+Ak282CnCrCxLBOM
EaA6OYHAO7v8WqUlypimbo9qqKleKmdAUsxoqh2fcXvHCFtpREBOKO2skcqzq6e1Z8+931lt/CVs
uuBRaaYYzyw0ysm986VI22bni23tpYOrksQ4jGCtBzhiJnKJV5ABpazh/vLCIjuGyTheo6lH1moY
69N7fRYZGHVHvhqT4xTCllvZerUdwdc++G2fjyc9iuvHxuTAUL3dg/FufDX6KyCbqLfBD7JG/Ux9
AkVKV3Dki6FGmNXQLmlESvLuBXGLgYNxiakhrh+02UoU1LxYECTd2Rc9abpTYpbNqYqiHejprTuU
bCtoQ8l8kln4lc+gWRVBYFMSi7hq89lsVesPlAtn/RCL2tub3bwZ36ZxQvdAfiUT3I+1JkAZe+Zs
Gi0f/T6OYJQp80JC9OfYdQ7MW5NezXRZEM7M0SyziGmiYzHFVn8Mi0Qlha1UpBuCuar/6Wb0tI+p
15XfhZimfxS3jf+YInP4h7jVA6hXZy4KmpSYjUMmdGP273+g22vlkH5JuhqXBd0QxiLoIFIjjDs/
RuYEiZYxL7+nrD5kTM41DkPTMITliZ179cq9sEw/aHJBIUNxg5ouXE/Lg+7hcaGzRwBgYMDrZQxm
KL4KhC20U9X3E3oVvbDPZoWG9rkRECojfGOg+NpUzJKmkentuLDbe+4QqVNeB8IBs4G1undjFGat
oMPgl0YbP7VkyifkkLOjMaQdxFtOuPPebNmjJw1qhNY4Z1ZezjdxnplocaolHcEXMh7HPIUg0aut
4BCBnTz0ejvvvAm3l50yN7OkZCU4mJsHtR1oq6CON/qxE9dgHVCkqYp0L1resiJdpWQyx0sb8oq+
WRVyMsC0AWP6Q5F4F6nxfqYltUfQdnvRAXo7ZFhk46D11+TRw9wgRojYkh/qUN9Td2u+mkENYRZ3
8N3oEGmKGBWuCxrBawxBMgFmz7ya8D9vp4M15+JH7iTNiZB8vNpBGf55/zJuLc2Gi5rYGHDWDUNK
peYGk0zExZU5Qrdf1bDr6zCoI2ti7/HObdkC8iLTDIr3lGyWH6tVqp4Dowh/as3oidcvOFF8Sj8O
yoQm4/11bTgZDgSxKnxckmpuddybcSzwBCHJm9qrVwWOvUOgwxlRAUJ6qFFfOeqk6af7RuUCVi6G
uSYycNJ+BuzXKLBAq0cki6WLHusesGIcPeepQAMw693nyQrihwqdtXOLQtpf9y1v3QMIGcAVAfSj
6bt6ihCf9+Y54zP2NUXVgzDHRsP/C/fXfTtbn5Do2JJHVE6MrbYVekynjwV23JkKMULbPBGVW300
RTXubOaWw4KXCDu8reSmK1M0ECahTIGgXFQimgiTzxkCAx5zt3myUzH8fX9lG9+OUJJivoz2DPCD
y8M5Q8EZRLVMTgtLe2KiMOeh9VARgn9Gu04dmggIjniHwZj3iEQ2zqoMvEg7uPaseNVIAJ2BPEeT
EkeEc8qcpJF1oE3AChh6p/xFi7A4jA7MX/cXvPEpF1ZX+2tk4TTPgkKD0bTONYXU50kLIcutPMRO
7pvaXqAsP+NiiNdXpli0UqsTTm1Uw/g8mvYElKWkptHzBletKp7cVNujGJP/6OoyyqYCTEyAP3ju
9eUHdYJyzEJbG30HJUnAb034KRDz+/HYPKl0ImVERYawpkzIRqFOrhrzzHnhX12WON+y2QnOjdHr
e2Onr5OD6xVR36PYTQAF153c5jePHcQFyN6UIGTs1s0/W1HWPwxhYAIdjstP2jgq/3bwx/p667SP
qBzBISvSbj7iHNJvs2Xh2bvMtnw9sP8NIxP53bRr/0evleprZk2+54b9Xrdx61YxSUeKRuMbjt1V
lBOEYi4zVJJ9PZpzf4qF7WcN4MoSkJHf2HV5goV9PtHXV3Ye0tszR4kZl6jijul8rM+csDurSx1H
MC5exdNBSqB9VQv0Ug8U7OMv2owK7UPPuE+4Y/j2XlGOgbJDlkThu1yjGIbBADIyUfztJts+z13t
PZHdZ4d5CIJ3u0hMyTk+jyiHvrt0oW8OhN2pgT2O+KwEQi5meJ0BMYJG2J8tuIlaxN0M+91OA4sy
TwQcAjhmzTykoijfaQOK0FpnCT+OPfucG5E4xHqjXe87jdujgyn6qpB3Ainn8CwXVwa9npgFRyfv
HPPc6XP6X6oU7ue6LNtThfS3b3UMgqpqugfRv315sIynojlH8YTaydKyERo1LOzcabRdxqOXjsGH
MueliwLoYVFor5rn+0vdNOigUCKrJxScV/6R0BWC8ljGyq5TPzmM8B2QgSqPeTPq5ygGHHzfnnzL
lo4E1n4eVdmkkBnsamtDU0OXrMIf58JIHuPGEI+ehr7QVM+Ab8Y2ey4Bc1zKoZoP5tz8fLd1E/o4
Zqn4AXRIVo451LO6pydI/meb9JXDmKLtwchdfJjXdMeU+Y4zI2bFxySGAlPT6z3U2sYNXfyA9Xsr
kFzMhZQMqGni0R4BQ9Llw4fWGvcGnW4fIYIKWlf8XgCtdJ+XR2nUUsfLvaL3o8RpfcTbzaPqdntI
hK0F4e24kFQSVQj9l1YMISwbDY3eR76mOQYTjmYK+goJJC/ZSes2jqrsfNKaIFyhZ7B6g2L+CLUZ
wuZq6o3HAJazQyFM61AhIXCMlMLesbe1NEYJCRxYGTHfKiwbCuTOrUrtfVjgi6ur4Eijrpw/ViA1
d0zdsIXjz1455l5boIgtrc+FIbugjd6D+WNkmeiLHvYhnRTnFy0tD9E/K7XOTqdPxWXSGfM/RXDv
fHb7yMrptEGgKdEScHdSYS6f0ymwPyAYmiD0Y1go3N+/RJv7AhKSrBQkFBW15Sen70Y1KOt6xAQ7
BA8Hk+Cqif6Iw8x7vm9po3BCnAhDGQQDYAIpVS9NjYMberXGtqhl1Z6h32uPIUquD1WTVKe6iZ4T
5qUupmqO3F3VPbpQLT8ystXsfJ+No8fvIIig3kZCsH576okx3D7jKJR9hqIhY7Io/uqcOFJbg3nF
0Pl1f+Ube8yEvqSnfcXurruqkR4PVZ6EwkeLsX9w3IF65QCxnmIFys7aNjwygwPgz3EX5I3rdgcC
64DyJjH4hY0Oa8aMGJr2yF965AI+o4VAZDp1uNYzDN2GZKR//0rp+4M0AP5OVmcsP3FvM0obly7d
ljhUH93M+JWXdvHn0Oxesg2HSDoHCBIOFSrBazh2DUVLocZIOLtFZZz6Lq3+mIM6fndlFvwzTUaK
zEgc0BFerseqMzMiNx18WKTmx2QW4hRlsUbRVNmj79sIU6jVQIXBvAsg73UMVjtekdOBGXzLjvLv
/dwWj1ngGd80NI4PQ2VaKMVo4yHvzPdXpVgkpRTqUhpQuzV3r6NwokCcD36e1ZrPyA2xLlSFpynq
9uTnNn0AMyCSJgY4D55/uaHm5MC3ZNH5a9AKPKN1FV7yIilPYxo9d6WVfhksxFbxRbmPBG6KlKxb
Xnpyo52DuuUDCKsZMJf8exCeLH8HIppu7ZaZ8MtJ0dpDNrf0m2DCG1+iAoFQNGWRsrx/NzYSCUB+
zA8zRUlvd60ACTO/jYArTV2v7mI6/oNxKZmZe3KnQgV2OtHoDeCLum9065rID0sjHPE9EuflOidG
CXvd6tlv8qdDZo/KN7Q3ky/3rWw5OCJreYAIxZgkX1pxEkRkzSYCF9OF1gl21fIwT2n9adTLvQnz
zV3k3PCMUDgC2LA05YVT0lfoPvtd4CrhAVH1yUeLGZ13rf2vG/Phe6aaeyWArfXxXoGk4MTAd7k6
LWYOnSe8kMKHmGPkUPZt6au9rX/qM2vvQd5aIIVuqQIguwzrvl3WzIEukDT2G22I3Afb6uL4W42q
qfXdGOUrFZYoqFu6yPY6Q1t3AvQpZQFcGq/HKsYU82SaHUQLfqUG7TkkiPeroe3PfaxB0WzOewwd
e/ZW8XugBaNRJdiLqy7x1XqITlndQMQ/ee45HIw9VrGtr2jp9IvolIPsXZNXSD6hoZ/KwVfAsL0U
wVhHhz4w+5PWlPFOl2TP1uqYGiPj/6kODAAIin5C2d57LCbqYeUU7WH0N01RLKa1DEkVLcTljQg7
o4YhEgCAUeXW967v4mM0SB0uxX7/DB8dXhAbtN1kTr0uSaSDp4hS52yWSuNdYLdzL3oDCsDjepzv
u5QtxwUfDjTvEvtGY2G5Kh4gt7D0YfAZpDK1U8F+DnIKYc8rbx1CsgFOO/RMgK9XritKY0rtpktQ
atrxV1PJbLoKVvJYOWbYHvp23rvfW58LiAMtO9gwdQaelgtDrayFsCYEMEuEdlbt3jzXRWH5wdjr
O5WPTVMS3wDn98agCJ3dsNDngEBXnYpTmqTOHxyMnpqAleyY2vpcoHNpkVAkJXNcbWMTuHoTwkXp
e8HQPhTkds+Ksguk2FwQWHI0FwilaXgu9w6GrtmNoBHyS6YoLokNl7puD315iMsq3XnTtvwwKLP/
Z2v1naD7NtzEAcAA20B2YZTJfXKU0f3ZZQx2om3j+AmjZb9x6unXwbIAvJx6pwwS3xTisqTq6j7B
RVHaKP/LtYYJrrBzg52oYHMfX8dw5WAzcJulGSvLkr4QHHomnJPkQctC8zEK27a5oIKe/Y4x5rAk
VkNikFcfrQHiVYZTRU4wtGZwMCorepy6RiHV0/Dyh/t+Y3NpAALgp4SjSFsPjGgQWKlDmrzCUMpP
diA+9PVoPIbZLnfXliX2DvFDME9yJGC5iYGWOJrCjB3YoSz01TloHibV/R4NpbIDO95KDcg9SCHJ
0k3qpktL9lw3dhGzgxWiYS/KCLOAU+rpsU+a+DR0nYr8oZId5zF7ub+ZW5UMS4bIFvwtlDDXvY/Q
9pQ0F2RZXWzOT7ZwJ7+0pvKS9EN80XrFumS5OX6pqyH+C/6k4KmBHHE+Wmi1n8qobC92Eho/UNbJ
7Q+ZHRX/9cYw/e/+j9z8DrI3gA+HKmR9mOu+qBLN4/3zVGE9J5EAXZsp4b/ekHQ7R3nrsaBHA8oC
wKTsRSw/hFUwmFo7PEpF4EFQi3842+2kHBUd7MOY7w5Vby1NQluIdEEmADld2usKLeYpGXna0wk2
scJOXsxZjf8uO/d3kkAmCmmhydwTysulKa5uRKuSpdl1EvaIennNi0Bxyj7G8PS/f7RY0mMQiUEH
xHjXOv0q4yiZmMIg9NOS4AoJQXct9BjNEckjeP94bH0zUHAy7wK1At50ubBhQODAFFSJB9nAD/Wa
6fTCpI6WhyiIpt6Q/bhvcOujUdmkagBci4Rh5e8Gs+5cI0562MtM5SHMdAihiyGauaRdsPNIbT27
UM/BckDhQKYmy8WRzDvlZGKrHMzhW5oiIOGTDg7OzsHfsCM7royOMcJIT2r1Ljl6OxU5ZLW+JYzo
wcqn+pQFdf73/Z3btAImABgOedZNp5WJnnzIw/9D2nktyY2ld/5VJvoeI3ij0OgCQJryxWKRxeIN
gqYIDxwceFxK77FXG4rQc82L7A/UrMTMyqhc9kZ0M5pd5uQBjvnM36TUIsu2rbdDnegXcaqP3u7/
b5yjtU4FB2QiV2AINGvyZ3cSQLeS9Ez/7ic//qg7QrWZYucKpiCIPVp5uMqmA8ZefSh0I5kv7aKe
NL8WBcfS0BT5J7VL6y/jXMt+b9SFRjLSJ7DtTVAlX8YqxsdFna32QlNjJQlLes69X6X4ivpwtLrP
EhtvxccxPX3fpVWhh5GoKC5IDUHT20Hm1XoMzsbgD1FlLEEPjzanzJCZF25LKrGRdb48yrmQ50Si
T2y4le63Kv8ToVEzPVyToz0CHTOXLoxdF9kALM7fG3Y97M06q/xsnM/xm06tGsJB1s1POPlxJyGP
KtMT6EGEiONmpT+OqvSdTohz6fGJgJDSHMxaQmkKYseVB71tymwQKt0eKSGi6aD+idbUsBaltltk
hYYfadGZpXriMIHF4dCApgBJfnd0Ayx0Fhej42GqaHrsx2zKH1rG8+EHmL8fwlMOx/eCvuEqIbk+
519iz76gqpKbccdyzS0KYGX+hGWKfSaWOfW21hbAqsu5svnW1fPLKELRB12JK5p2jap8Alk6Zv5I
dTx8e4ufKjSuYQut+1XPm0v0cBzL63Kz1d0OBeq0V0PbneL7oYjTIqhw3P7WtCNcmEa28Xgzyqp7
Pybq/DWzbUXbmFo+/K4jxooGInyjrGOu1qw/dWN+nTbN3gzYKEeOQe1qiTV9DyL2R6V158DRp1YM
enCrFRtHKBy5w4k3ozqp0RKD1Kci9jxodLuQmM0nP2ohqb79lE9tifVdkkNQGoNdfDhWPsV50RpK
G2qt4mg3euw4gBmHTKnxU8cJ9MHLFLfwEf+bvr498qlDhhIqpwwQRy6Lo+xsbguJw83UhYmlJoU/
d0UZ2oWl3mlebAcw0+ft2wOefKyrlwpIfpvextGplliKayrKQBhR6LmvYJyItDLK/sLWxZm1e3Ju
BJgrgZ9q3LHoQlHaipmPVhfWndldOGNhB5GVDLvBFv2FtWog/4mpAeRFCQ7kAK2Ow7coqQoT2XLG
mO0QXSW1Yvhl6mmXRqKda3KcmhoNZpDniKCu7kiHQw1oFXUDygFQiFtr1w9zFuBAlW6dNuo+Kox/
Jm75ua+O72BQW6s9I5hGBj0acHBGVE5hQZQ0eYJy6F3P76bpSkzVEvtj2U4fqsWcvxlKw8VK4zZ5
sI28OrdRTq2eXz/G0aakPteaMXX4cOCxoIwPcRO9YAs1lCT+EzcGxx1Il5+yCccYkCQxhsYe4NAg
2NYHqVlpoDizFhmqydy8vXBOneVIAa/7zwBPdnzTa+qYoZFGBpzMSh7kuj5eU3pVP709ys8T6/gd
Yo5GVYSCyoqIOnqHLoZxkzL1sGBrx95ko4ZzUeo2Iah/qMa2O15bRlZfJxX4vLqczAsjj7sdRFNZ
+pS/pm4r896B00DRZQf2u36sIsu66Mifz8TjP9Hvrz6rtcrLo/7JQj+6r7E9giYhQVBkuuxe8tgZ
du1SaSr9ns6EUNuWSljmTjvsdD2Xj+DzvU+JaeTbwaqyL6kwtDKwcEsVoRTjOSu0U6uQJibppMbr
Iqk8fJCVoNWpUQMHmiqdNGjGyN2D2bQ+t9BtzxwqJ2oWDAAIiY4C8g/HyuY1Nc02jmY2nmOQIE9l
jBXpaAdLCjQHwaTvHfzsvZjSc6fniUlCdwJWjEABxLhXO17Wy0IAR0F3kFhvd83ERrcygrpQMyY3
P3PCnJgnytHQvTlhaNsec1FN9F7HwYWLlEWu6ds94uqVOTr+2IjqBtivvk1z9VmfxvZMenFynqvE
G6EFt/0xVsdpa/ijBfQkypQjSBOr3DRIW+7UwT0nwXDqFKUKv2KoSc4QOF8/yy/RSwVzaTa0ho1e
Gem+mXvdrxzR+16WmYHSuU6gRe34LlY4YpQxxXrAmH/b1omRaWHC+kX8jQTi+CSPQEAlHa0vnFHF
1eJ2zbVO59qv+rPtvtPzJWUDsbHaf5hHu9hxswZUPmXYYdGUO6uKrQc4YO6lN+KeoiYyxxVudsIS
KXnfMWZn42bRuSvjRGxFVPXfn+EY8epC4CAdQU5e6K38NKk0pW08R96jd1BdjlPqvWuzMv/9HIDY
lOY0+4Y853jXtpGXKGUJfGRoh9FHcUO/ighbz4xyIgpYqQ20rCgmrB4uh8spRqQVADGjaLg6PMZJ
VmdBY3bO7TLO6iZKqNScOY1O3FRwf9e2KrWttd9/OKKqpm0ftSoP00zmxS89qda+nnjmy9t31alN
+es4R/ENlMGkAbdAgdASYjtOZbRpBMibsRybMypgJ6ekg/LBzITk8DggLbR4iVWrZz+gihhmWCgE
cK7PyTqeWoXor6Iuw1LEZOSowGQbqFeKjFfVm4T5sR6tsS9Ohf0smzDhrN1jp3qOjHXyKaLks2qc
8edxm8e1a9Q6+58V3bq6VGcErTsLKzJMFJIzx/fJpbgWDsA9I155nF9rC7CJrqNvZddooVei9fB4
dTnfINwVYVy17fs/sUJWiSIDPgqA/6OVOLroSONZzbHdGCXKsoMZZOXUPRh6dM6d7uRjRPaFSiTx
IJn94aLX5sVV5rUnp7XY3yW4VIeNm7kbpzbOEbdPDYWBFUrr/Euper0lf7kgTImSvKash1VTNx/7
Zok/Y+lhXY+VFj2+/QBPrfs1kl854giUHF+45PGd049rO0nN3Eco1MVHBe2CM+vi5IQog5HVIg5H
3n44oU5VoJp03HhU8ZQt7h6NP+ZS7MdKjc6cTaeWIOwSUMxoPaDfeLQiYlxKJs3lIhdFH2/RWlf2
hczyx8Xo5RaZrujMwXFqSwMTYFKrhg2P8XBqEip6jFsBCYI5NaHoVe8OC+DJd6l6bNLESELFXqKv
b7+1U8+T90U1FBQSEcvRjWpnihATHilhXObuIzT/0Y+1XlxFI4rqbw91KiL7ZajjrITcOW+w2SYA
dJNy2qZJqtwWtaMI3x4TL3A6q7yZcBtuAZhqXvj24KdeJvcmUqbEDpTMj9bNIrLUFAo47dU76IZs
866wpBqq+rzcpHpinZnrqc0AqAuWwVrpAd9++C513BJRhR2BhZsqZCHTmrZKq/6+rBMma6R3K7eM
k/I4/OuigdB9VLqwjxPtQnMFpjb5WVmnU+uS9bhK01GGAEp2OJckQsMJ7y/W5dLPYHTmeZMVlIw7
aelbIzdw9UiQpn77fZ18gADX6JQAewI0ezhorpc48baUCYHu5TvRYUMBJeRcc+3UKBzBLHtKkqA+
jlZFhACIYacFjY2pFMAI8JeZu6jcvD2XU3uMcBXNEtDnpMrr2vzlEJ4WOLjWwMLP0Oh8SrNqwkxc
zLHv5PafCahWmhpMUW6WVw7Q1KudorcpaDjCtbaZVZcwa9xzrK9Tu4lYlJPRgMZMAHI4I25PLUt6
FYKQ0nUorZtrIGCVO1Hm5YXj1PGZ3XuqakwUAGJmBSsw5tE9RjtPBXgBg3KpbTCa6eLtCiW1r01l
STZjBIzfWIS1bZZM8bvcrnCrM6PdomMS//a7PDVzOs2rvQcScbSQDmfejcOoF844hrSV+u+GWWRB
CdQF9zNsKLQ4M5/fHu/U2kHPbHUSweEYPsDheJODxUbfMV6ld/XeMZN6Y5tCPg3GPJ7BVJ/aDHRG
V+gECgr28dVapdHseiO8tmSS3jb22vzDiInq7vcnhAgVURbCgQSSRxPSiiIxtAkqlIh0xa+0LA5n
xSV6Vbw/wWWDmgOXjZWzymocnSG1HBOQd+h7ZXYX+ZkV1X6jRcNjMY/zme7JiTOSFgJ9c2A7yHge
F9zbvKU85q1SYollb42srfy5EOMWlTQJncFxA9qy52QKT1yoq7Un6ROq/astweHaGKI+LVytGxFf
ULLPeuYa+1oOfWC0Mv8xG3KBKZq+86LeOLNSTixK2nogDeluk/ofd9IF8Ae6efADByXVt3Tuv7eD
tPZqFp+JTl4tSYpFK/kRPALNdKh6hzO0h6IXaZpQdEuKNphbgAI1TdeHt5fkqz29jsLtxosDmkQz
6HCUJG8qqvcFowz9eGmDrLmtsArZEhw+JIPy2xrn63AIMsBBZ72Qvh0OFxfGKAdBfa1OXHenqL0M
lcHMMGfVjN/dbDQOCQ0QoeIA4U44DkNmOphR3Ymw8ab+0vTKJWznrLxCbetcYL7+qoMCK0MR+9Oo
RJgXzMPRUGoXl04ZiwaYw7h6SQjLd6Sdb+dK8fYRCF8f9ZbmQlD89kdv+m0tv3V4ckJEUCGTUWA8
fKgl8l512gL+KRE82lApax5EuXJLCcVCWTU0vuR8Lkh5tQ/WQWmWrvh9roLjOQtVYitWxk24+h0F
LYz0ba3g7WmkUbx9e42eHIqcG0AbhXCWz+H87IUrt7UMETqLs+zaTOdssQnWhXTmM5ftq7OMWRE8
oDVJqXw15TkcavWvsgF3iFD14rVlb0Tts55U/eTHwlTe1UZnvYOWkXx4e4Yn9jqAjBUvsGaRIGMP
h234KHKMNRFOWo1cwTwQXcR19yee4zotkh2ub+DSh6OMWPOS+rJOqqGrdoal6KGbuprfjbG3+RMT
WjECHGGUSI9NbePZUTwzYkK66ogHo2STUk2zkRt6e5xTS4N6ExhOLjt004+n1FHqTgpTIPCVlhu3
yX5MvQcwZfDO9ZVOjbSS8xDtY0LU8g8fHjrDnkKZpA5tbXH3LqAVv8k89XrILPG7VwyLkP4V7wjc
wwoaPRwqZpEoo0NlxBLpiJXzqO7cZeIubc3i4u3nd+L4pyEC4Z1FAUfmmGnJEkgHRMyrMK7tvvHb
uVCzG50Y7yJHlDgNhOOK598fkuYAiC8qhK/78xjEGSkTxAO1HdMN9FHTz9pp8TW8s3eV655rkp/a
0r+OdxQpTEXEyxywB7V6zQxq0SlBNunzhdtHBnoNSbITTX5O6Wh9Rcc3AqUMFr/GjffKpqTiurZa
talCXamqDTVxNSioqFzJYpEIneriOkaRIjAmWz+z815PFx7pah9C+ggL3jmarpNa0haSE6xCauyi
iBcjHDs4H0NcdO/VfGwuHJ2t8vY7fb05VvIqJQZSZHh0x+J3ng5wpRkQaOBPgz5EpVxO5BG+jkLE
bx9irFb+oZyByBLDHW6OviYyYy3TaC0m62M7TLM/WVH5vpSOOLM5forcH75FhEDhltC3A2QBFflw
rMyyC2VhZiAyly7FaqJ1M79S6vy5mKoaRiBGwUHTlnEX9JPW3gA357LNoZ7p3FVx+mxHOaIKrgk0
9szB9/rGIKkmLOSggPriHm/cZqibMjdtHoNiZO8zinOBitXKh7ff6+vjgU4T2AiErSkRoCl1+ADw
i+yKxCWwyVQdtniqWD7dY++xz8UnfezcM+3DU5NiQPJ0KgXAptdl9kuxYJltaTZUOEPX7sythALe
3OFNbp/TNjw1rZVAC9cTEZNX1U3q29XCwmkgHzcIj3VJkfvgTGO/8tr4tu2VcxX91/qGsHhI4tHo
BhvE0j1atcg6qZTcWLVulsQXUzzVt2Y913ub5bWZTUvJfX3SlRvYI+ajM0ewCBHTam+i3uufc9tr
wyj36qescu2rtovdq67N7B9mWVsfRJOYuOlm8UMhtJT2VXMWjPP6NOPTY869FmeReThmgDgRKbNh
phIeblc5vuLl6rtm0YtLA/PNW8/p1OvKmo1Ps6Z4Z5LLU68K4MKKTiP4M4+bZDP6W5M7GITWnfmj
n2Lv1luaapO65kcJ/vdcVfHUcECOgMXRcVwBzIcr0KhSL1Jl2oYzTkXfK8Wa9j0uGGhBGK7fl+a5
4s6Jg/OnqJnDqUkQc1x3SCvbrLpBkQh16MNt0knNp3pqXgh3PCc6fOJiYKg1yyMDIPc62lyqmXRq
jllO2FpyWLZu04tNpZIjXMaAwy8Lo3XDNk7TM5X9E2sHeA1VTE5RaprHXRhtpOJAt7YNsyKOPrQm
TL0dRL12urKM2RXUT9v8OZVZt9MECMHt2wfY+r6OTnAiTGrEawOIe+GoyFm1UeG2tS5Ddez7T1lv
IqbultO11MYExbXe+IgmQYVHhD6mD3OVnxv/1OzhLQDNo8xKb21db7+caF67RBCv2zaU8Zx/Evht
+E6SJheNo8SBm2bL4yz6cS9q51zH4cTKWl3XSUd59NzMRykFBEJL66a+DYWrOGFjj/G9rsbJFZCF
4t3bD/nkUFRjaGKvFcpjCE8HM5q+SY0ETIWDcbnEpt8D3wvKFIz320Od2J/Uela9GXctiR63Rute
g6OP+kbYq9jR7BZFjh03sgXEU+vmctPqyblE9+0hAVAdvkI3M3BjQuIT52SH7qjtRinZoGUrQboo
8/XQWtPv8nRRyvufSYJGOByxcew5U5RIAlZfljC2JV2hbl6urdw4dyicnNy6N+n6/lS+OhxqVFot
jcwcodZ8MJ5Sry+ul0EoWFPPKQipwrPv336BpzYExiIUs0lCOYmO5iYSW6hLiohpovepH9VVfeEN
6Uuqp/IeCvR86bSWd4sKwjl2z4nYglIFSNLVn4Pu1FFcjMZB2xqplGHU5zaUwlIGiGv9fpYIK40K
zIoGWlvpR4fs3JS9YZNmh7EqvtRVsdwYmhZB15y7zdsP8sSmw72PVikVLuQ5jgugbSvqJR5Io+wI
h0m0+ZpwHPGKQPb2HOrnxCFK9MO06OVBST7u2ZuzpregKstQGkbfBpOWNVeyh/6HMJDSXrooaX1M
hrG6rMwqv856AHZvz/U19mltUTE+BS4yYjb/4TJdXGdwqhWbwC+fsPQdvw8DVbxGqc2dNCjUaInt
bmLiH7/qbG9HtH7OyPDEToFOScpKEMJneCUrlqnz1KVYt5vlWGztzBzvxsYDnjxt0tIr9m/P+MRq
/Vm1hGzOVgEbeThh5NDbKcqZMOIVyVVR28mHoW/TM6Oc2IyM8rPopFok2kd3RNFriUPIwZywEH4e
1Nz2PaNsbjxHiKsc44MHYhZB1LecO3dOLSlCOvjmHAZIXx0lFvPkzskoVYoAsWbtEyncsMpoJcVp
Nu7btFXoqWl6OC1GvXXcqfj49uM99TKhGtPMWvtpFDAPH6+e5UUkTGoCmWYsHDnOp4awYouS7Q9V
SfQzudqprUq7h/MOsCJh7NHLBMljJlXKobCwbCa/bqv2Uq/y9Hah6n9mq7x+pXTdGYWOi07cdUyO
rV1PZkODHJs3RvO7xLaioMRKwwe1Z+2QbhdhnEYwoCI+yNvPVHs9zTWjIq03EQsCd3r0Tpsobvsk
Fm3oWDFGf3lipRu9VyQHLT7gha/Ourl3ltHaOMrgNhvVmfNdO1RRvs3rxPTVrpGZr9ilgUKgAudn
MMfuy5kPuT7rw4AQ3C8FCpieVAwJjw7fvGvHWZ2OCInKKZ6v9GW9ifq89vtuqhDAcrvrxX6gpR96
sTkmvjrZ1j415G9D2EgwwPEgcbRy0GmFHH4MpCVsEcc98le1YV90yvAct1h5zYNZbDVkUDdZtJyr
lb5e9FC1V7bIqk8FEWf9+i+xaLzodRpHLSwnHGmyjbJMg+YX6GiqO9DrKEJ6nZyz3dsP/PWiIPY1
adMB66Frdpy/ASpzjKIn1e5xIAloPsbBNNjRXZsV1pnqwU/EwuG7dUhOTY5LLmA6IUfvtp/ZEl6J
FFWkdCZORk1ULn4bGZ7uayIZL7sUVfId/pBN7RsjWJhgqOzp6yKVwdh4Roa4i7pY7o3bS1kGitMP
z6MucaZQ3Nn9iBqumLeYD8ed31Zqe1cPBZ5+bz+u1++Id2PxwBCSWDubR1EKyN46KjIWZZ8VamCO
thOAilJ+xHVSQJccyse3xzvxeshOCCEoclF3Oc7OcE7m1zu5DJ3MjG30MIX3bkHy8FFaI4/tzGCv
DydAa+SC9HA4ePmPwxUo8iyzZungcl6odXOT60ZkPY/5iH89EhqlewvqxRp9BT/eLlQKBedJq+yz
aOvQN8+2xbgKVc+yEE86/cPWr2tbT3xXrZObuEypkPdDElEuUZZboy8H7Bc84X1oBCxunzoaJgzR
6Dr32VIlj0u/CN1XHQTot1FmJXdO5PbXo6uocVjXxEN+UyS0kfPCQC4RBGFbb0AZWbgXR2D7glHp
LQv3cmz/9gPMrzmYxDin2yWpMuweIdDGl2Ve9Iaf14iXB14xqXDC0IPzrvB3iTPMstNs2HZK4/ZX
AxFe8kmC98S5QO9iHe1BD+1bI1aje2PKNbFHpQxPjEorpENRzHY/LwIRpP/Kr/7p2/TP8Ut9/1+7
pf3Xf+Hv32oxyzQGnn7413+9Ey/V+06+vHQ3X8S/rD/639969J036TdZt/WP7vi7Dn6I3/+P8cMv
3ZeDv2yqLu3md/2LnB9e2r7ofg7AJ12/8//1i395+flbyJRf/vbHt7qvOKYeXuK0rv74x5cuvv/t
j59EwH/69ff/44u3X0p+7u///r/+/u//+fd/+4+//9v/fvVjL1/a7m9/GNZf6cbD3CQUJmwicPrj
L+PLz6/ofyU6/VkeozS9qj788Zeqll3ytz8U7690jEByETWCC+VkYku3df/za5rzV/hQP5k5rD7s
jLU//u8HPHhV//Pq/lL15X2dVl37tz+ofx9uZ8pWqN1QSgItQJ4K9uNog5URZmOLjjyQN7lOFkRY
MC/XLXHCNsqj+iNkpHH0icdQDITAtJ0K17pIINHfk/nZYeXq5VWry+LR7lJ3O+WKvGw0dQkrIutr
UMiNb9nxGCA+M7W+OTTdZQx+8kKIbg5t1FgrAOXSHq8su9RfdG9+LgcZNEv00C3Vhg8ngroe3NAG
RsTNKj6anTrzSabG1xvzsmB0WuQBiJ87Q04WCsVVc6F4VeHTu+h9JRfedpyHK1XmpW9ryg9F955A
Rm3jpd+0CjDAWWsLH1qL39OtXcWmxKUYx95PsrTeLJ6M/YEq15zL6LFpvswzm3NKrT1izNM2Nm3G
b7T3oEG3nlHfdqZibsGvPeJVuYtFBTZowcet2XfADD0572sNq98erdjNQHJJ4S65q5TRl1G7kN6a
QZ/aN6aSf4iUTduWvon3xZ1WpE+JmgeNMQVjkWJOapLhi8+RPXfoKNoJ3hT6i4rJ9bMa21Wodta8
ny0NhpbQYMw3hXGRxo7rT5GH+DnA6TEu9/CiDT+tkvyhksmVWbNvVaO8yj1X2Sh9i1sO2pS+7NVv
lFGTsLO+J8K+TFTlnSgfrSwJrXI75P0Ntjn0VcbxC8d/v6MjHz+4mrxt8vZSdE9VfhnNXh5mbR7D
prEw0xjri7HTPrGiqmB2hyvd6x4qvboWRJ++Mej6DkTe/VLNL9LBH9VoK9L9adhb9fQ1Hud93uVN
6ET55dgnSyCX8nua9t9i07pbbNaSBBxVqk0aZKlCIDuPPyixlQHS2RelFW2Ncpz9Vl2MbW322X4q
ilBxrGwjM7pC+cBV5ItKZneZGld+Hw/FZdEu13rlmLuKZHk7GtGDtIttCx+xyAw8SKM036uivaU1
2ftm0XyLeu0bJnRhP88w+PrLzMGwIPIK7Os1TfpRJ8pAxNl9n+cvbWq90+TyQx+jHrvPbtrUWvpi
SmPr6ZOvLrMXWMKb/apNP9AT+pBn7W0s1PemwneUbolCwKyFOprQoTsZGwfwfb00l4ldfaW9vWxo
KdlfBlN+NYfh04CWWx5MmXYnxzSsPPno1Qa8q9QH826REOtBFnXf464LdJidoHXfp3Kq7htSLN8w
qjrz1V7bZ7H+LU8M/TLBWCqsuM18UQs7zJTissmtL/pobCRhlOzhIMwXFN/9Ib1f4isrTgOHwmaV
uv6s7WlP+NLTvtuzdalH8U70l/2wXRAHHSZ0qHtFd9n8hW+n0rfL8qKSO4NAoFxoa8toO0/ys2aw
ZkZXa3jRnT8C3J8MGgvFk9G+rycnlEgMZGbp6ymfnS0f5M2X0dy1+Ao54mlw7e9JUYichrmj8k04
G4kmMGPV8L2e+urnsRtx3fNlhQW5n0cLHgZ2LrO4WbXH+iT3ZxQxHlx1VuZLxGELwWPCZOqblQ2o
ZmxNTp0M1RSF3sOFB+wy+axmlT2WgTs7OZ6vNlz2O0cTZfNcC3yX90lqRumlJxutrP3WKYWzj2Z9
noO+M6L8ailmEu4W500d3oCpE1kMScKH6mLjqxSle6d6uBiHGhTvdx1dASUAAiEupqyu0BRfysEK
ugyvJd/tMjfZJY1pPBV5Mek+lCUhd21j2N9iFQm0QFbZYmzabBg4nbOlQUTVlnHjBYrMTHtT4G/f
BnZsrBpVw6yUm65HjGS7cN9YYauDfxGNiCOP8spabjGNor5fdMvZRK10dyAw4ueypZ43F2x41wpU
LYlj3zaHCmv09qJgl1tzl38qFqv40i7abZUVd6abKTdkw8ZjHRlxIOoo0+nDIc2hCdNHhq97rqVb
4XUWfTS8MgvSsf+OVoTYd2Iq77RuYOt0uS8tAWx+Qq1HXipl4l02y3Ye26Cb8qvOGm9MAFgessKl
LQK75xAd2v2QZZsYxouq1vcjZdXB87CK570rWqAIYNCctPM+Xi61seoCIE2Vo5Q3gzdlmGx2j2ma
5jSEo2dqihsvEs71OPA/+vZlwYrQcUvVH+1kX6boY8jeb+DehFOGmnXg5Ns+S/3GMOugADC1GUWP
9V5SwCQed0Y/WJ8dNzZoBxopnW27wzNFmy7suP9oJ3Ugh2EJzPSyXUQ45k3kTwNbUm+giKfRjSvi
7TIU7xHmVH2wG8ZjPCfl9TRPRqCrim/H07uiVsoLsyiucGXpwO5OUUCVAEmWMdrxNnc9LqY+VPgX
2IU/3DzTfENq6T4ZZtr7Xl7sjXguAHw5G7kKjQLm3oiJvYfdysaNkvJ+LOetNpQ/JE65SHfsIrsN
c6neusmzYc6IeNbpVdmK+66yAsNIgtzo/TnNdn18VxX2sBlc7yM2VNdCLA/o00Q+8QXKo7Lk0rGH
oBP5rhDL3lHlD3Xu7inKF3cVA4eTCTpMk+5Gm5TrwepvHdllgcy92aIhUaePnjl9ica7KM8T2LcK
apGlhgVBGXjLtbTxxIEyOxAucZW6w/fa6j6aWbaCYDj8u0lLNkqpd9tkMkhIgHWIufnQOdPlkgzL
baSUe1uV8bVtzFsr1e/x0E5oKJeDD9H4vrTyfAfS8XFJvgC/2pRpvx2W8cKJsFuc4RZGQlxGU/Zc
LmowG26g1HgWRE3vXWhdduXW5rwBY8hnSR9aq+I83tkO5/KklvvWrWMUsWzvSsmTH46xbApT+VrI
eu/WLCShbcapCAVkPPSNy0A2LACKtPkO69aPQm+2M6D1WNX2sVM+x5G8EXWybyI2iOr4mG+8ZEOM
TXy5KQZiMZNR0xodFqvb2xZ7MaruUNxgG67u7q41VReGNe2Mpt7P7bSF3vIVr5LQTO/b6DpJWVtN
4ytzzlHPYew9tpO4XiaV+ObDYEabSLV33fjUGO1exdL9Yy9UbsE7D9WZXdnVF02k7HXQ05PiBUbZ
BgCgn9Tmy1Aq37w84eq/rqNBfUnL+gqR6sBsI99CkgPZ6l2fKh9KDfpjnDlAjXK3/ChG70lD6us9
e9IF28AtV8fDTW2pu7iwf9gZekcdIU3jjZy+aeJzVU5BlciHNIErTi8V2y1LPJHESRTmtI07j9XO
qs2IGJouAFZ7qjv7RHyR3yq3ZWYw5c92jKP0FfjkMrU22UBe2qZLEqxp4f0o6ifLTW/7TM0xATF3
LDV8JBJdDdKIRLHjylDrL5MprkTn3nq5plw0qZD+lMl9DnlsCaBgWok/c4JtUCTZllm7fBqxq+am
/SwKrw7jRos33jhsemcX0/MNBvXW7JQqWPtu+0hvog/ZGO29dC+q6dNS2u+QbZlCqu3PXvN1KKjm
6Ml+qGlqzJHzzgGmFmI4wsnQDr5qRgk8hL7dZnbkhMk4Bqk1B2bG+pl1367tW9CsOzy92jAFMENM
VMoPdVUVjo+/2vJNuGvBkk03XBvTkIVoJdKu7vQx1HQlv2mrsQgbYBLgm9BaFtZ9DWP3ecHl70dK
5x6rQx+l0+QmYw1tZH/vdeOHZUZXN/MunaW5KKyo8ZFCCKSWB3OTYjATXxuFsx2EvZW4DltNh7Rw
0QVK6SjvQKV0vlcmw8ciWR5LTPJYvVdNN7abKpJ9sFZmolR7UiL7SjrR3iiHC9nJsHCVAtNH79qd
kussxVLYy27xeHnCivSbaLPbpHrn9dbXKIXU4SifmkkLk9LdRH2PDRjX0xhJ+9HSKmW/2Fbqr+A/
JZbAVeorLVtu4AhpnP5U1WSkB2lfbQZLfQ954w5e73aKKDfTx8BcSweHpTZyL1yNMIT8Ds/V2h8t
557W8C4xzdCbu28Dovh7sockaDsRNHa8b9ssEGY9BgMQE7+17NqPB+zkNXf6YKg4cNQl6gJqlz96
XLJJme+kHl0YY/+BQPCyr8t6i7wPMMlmvkzHgpjgiVKHF6iJpd9VrfnNSpXLkfMrqsqvXuUkm76A
tzKnG0C2XCuP0CgDafbjBpvfzpfSNH3FGvwR8P+lmPqnHBEHO+1vF6FlgSW1H6NMX+JJ3fZx9hHg
zHWfYMEJYP+T+X/YO5Pc2pF0v6+IBfbNlDy9jnrpSleTgFr2DAYZbIeumT30Agx46i14N7UR/05W
PSCrYD/jzTwwcpS4mVfSERnxff+2n6/dZeTdjg4LvxZfHHS1MHG8iWCXd+wELuOtLHzuV3OrK9tK
Cpa7bVU1L0oO0a8CRuYMM3Rw62AG9Rl2xKnfrpSVJnmglrgt2AlTZ3rxW+etqVxrE0T5TaWNdyKH
tuRwPWdqXnDVRomVW1+DjpLKUcGpH2+VvVBu1B1Up8yEDqLN1Lp3JPJ2jwoQs+iqKV5tptM2aO8r
Fe6mNVCxk08/6drxIwpbckSQSq9tzlXq44Eyh3GrZvvdFOUQ14vzJTK/i6WXeQmVAQcDveeu8yjD
EXrnk/keEyVRx04w1lfW3DMluu9u0HCOEIxzSr3lkT68j7STT6z3llsbSTDSjhLt9EAPIF06m74M
dq5MH6ah3XnCfpiKdDvawdabiq0cnK+GIuFwmh+hKl+JC00qwkKHnh2J/l8VXkUVYi9dPQt5bvr6
Hl+LehBesMnH8dARpMCIE7fZx7BWMBgvwyCC604pL9arX7yVZdiRjiVmGeNzf0iJ3mVTuBsIZvhM
s9wcL12I2XfqDOt14RYijU3ZWEeeKIMgDiJnXxQDSZzJyTnS9x1tlzy0n3rLbu9MazXPZcmzpwTd
NpWZDy91Uw0JegvzWEHTbwDMs41Y12vUeGrjtoGf9J4kLhy5DRs1D3Bup9bGD6Z+v65Dz11h7qbI
/BB4/qEXEE4cy9qKoG1Roqkgr/bdKN4MNOfPltERnBim9kc1V+qlJ5V6n3X1uIvSIN83og1jwgX6
I2n68o4V1roX9E/iN4CyEASX89nXytllWeg8O1njTYmRmRR7GuliP3groCdfnwKz2ABoehJcZae2
CaJ4NRqKbyJSKTdDNQqm+pJ4VVCKUp65Wkq1D4q12kwXmKMv9XCdtZl12xBre6qbMK935lQuX3jA
g6SjF+/ICSSPaZ8txxEDy2nVDbuHRorbdymAAS6axYyGLUbK+QWhZX30KLR/7dtgTukVk1wAfJsP
dIFNP4J5ijI6L9g3zigOtLXPt7Ool6/Si1h6zXrZLrDubdI3aYittmALkvxk8lwWaba1ZLvuNcbi
JOhS7Cc8D+/p0Pv7yFvKDw7y01iS9anW0TyEVBlBiVju/I2BuH3V4+hFiU1A9hP1a6C9Q+OeHWc2
21gKVxzGUOYHU7n2pmZV7wtifnpvdMpkbVr2X1U/hdyHdZzl4NkDH/513ZBSTo5im+ALMQGRAnom
4gu+CEmHAfEREEYQYbR6N76tg4/Zrosns6ZAaqFBr9hHZmvsWtsUT+OUyStZtM65zsdyU1vmVWnk
pYpX32y2juHy10ym1PeB25pvqZcNvzNoG85Urdd7KmxZSMKprj5SFK1BPPfS2NhMt4dAab+Mi8U5
KJcm47j2cu+rMatxiXMFhZIIocuj8vLuqiv78kQ1W3EuGI9edTktR/RV3pWR5ylOChGhmJG2LU4O
X5U8A63cXSU7j3FdKueF/YkCU4NLBr32Mc+brRbrEarz3vJ4BpouepgH+W6Lbq86ccL4nu4zyx5j
5JaBZuCgNvCohdZ1jPgaBEAGMsR6VnvLVZuXHCMIKlmVZicr1iRron2YEyHBIj8++cZkbzo8X3kc
sNc3G18HHrtHI3aRNuBhWKf3MFyBg50uEA9yasi04VNZPHLnW96BfSl0Wm2GcmDZSSdD7A2+zq4L
WwtXDgauOAym91DLl3GMrDvDnF3mgOYKP9R1awRNbJckcpRRVNxb6xpcG27wIN16V4fN/TKTzKSd
VQ8HqdSY7rtpCHCLa4Uio+qHx7Rp30qcHbypU6aPdV70LgVPS4tUs+3yK4WXrdrqkiO1Ctdu387u
hyf0MoEShfN16jURiaNEvJ2ZkK1tsxigrbCwZHPmo1YnqyVpYJBa7H2Cs8vEaZv2q4I77eOV1Hh+
o7M5J0PT3ZPzR0WjzS7FMAJ9hgdxaWIColdOPzGEsWHPShCwa7oJMs7u2ehVu+CO6qKTSLtimxsB
CqTAHQ+FnR418vZYEUZwPdltuHWs0X5y6Hxg9FjD8YjovAJTDMRy0gAVXK9l21/Pwu13SP29s43N
kubw0Yp2zsSGyLu1WoAqWh8BZZBtsAY2tEKO6WDuu2AcPiw15JuebOmY1MU21lQ4Rv64MzJnP6jp
LAd7erB1zXY/EIH8GVTSjL2KOYSFufRW9uswSwou8SPrlfr28j7brSFcJ99F2iVV7mXXc53NV6vf
A5fYdjaqpB1kevIXeYecqGX4qdPuvoI/e0vZwaJYDcRWsUO6vG1FeuVYnNhF2Y23dpD+cgf1XMoe
YFGn99Zo6aQxbH+jVpk4koUeuMPl4y2wkVgdT7fziMli7cT0OxKGPFcOSFsVVCebs5bVJn9zLCM7
TFX326+LO2vWT6OwfjhGEpjQmLGUPdwgyRW5Yr1I0Bp32iizfwUC4z9ZxKsWVrX1q3BKbFhmIptD
mrX8xCDm0WNk8zAk8JSK+qyC37Z0H0GSrL3olBtHlXM3zcESm5Pc116Q9KU0DvmEyB8mDgmVq+/B
me6oEtzlYKuF+eSsVnCmoOdj5vyDGAPvNTxXnYfGUPeGAZjee0a+RXwF46sZTkgQ2oeGEVsBeF22
TLvMFvabWGQWcxn4ybSOwXPe+dsQBUo5mE8L+Hw8h+Ht3DM5eFH9Wbn2jenKNmHCHjZDiLnOK5Zd
65ny0+NZaTmVibmrbs1y7LeZEtuwxoIRTI+V7+r9ajbtwziY4dZ257Mq7ZdmdT577b/r4rkXAVoJ
uc1Xeniq4EVWMBDDLMCcdF0ladkuG8t7XyOfDzEPniczul7mGsYUAKBbxgQUcY2VaQGmFH3cYo+V
YGNeKu9GUL6xbw9z2275UXceJ4KAfam1uWNv/jUvAfd67Y6JUAWZUiTHkiRZA7i6D4FqBLBp94SG
9lZEQxazQJ+n1dnnJvtCXtnmNl+q7wwnLFhk8DCaqjiUzGln8IaDDNP8urQY8sLQ2TlGA6NpsRdQ
iPiNWK4+rFI2dwDED5dkgNgf2ZUFqenkfp2WFnBb5UG01abFljwd4HTcVzLA2QraX8S379iL1EaH
9TcZX9O+ylq94WYqzFvCBoxnjKjNcYqEX+8d3/gNcnA1NGDVVjj9Cu0hWYN5PlACcK8W+dUOQ56s
YmJEk/VPnxbAW+bP3FgvqKULalP6lCe+wPGeevm+C7NyB6LyPOWg5maq7hH9lSfg5/XayIXa1VPa
79yKQojAD4gC7p2zXOY3v6qOUWrxyYGGEfcon0DjjbivzZPwc73vZtdN+qWHPILMOHpLnUi3V0Fs
C09ey8F3NlHpb9Y+3JuOQLNgKT45kcgRMpzP2QPLmV8XOgUx+kXncljt6z8COEojnO7nwUJcZbLF
ZtGyW1bpbtkMMNFQV8ZPuIbcueu5VdW9aPNwO6f2U2CrMLYownsbvGw6mJPp3zhNmuZxFC3FLTkq
Bc3RvhmHMGvJrL/CrveOq1H2j8s6lr+5yOcrKbOPlbab3+6ahjeiF4dm4HFJDZ/1RF3okSJN0lad
2IqonxfbXIR5Yg0VCZilwzsR9svZj0pjRwDPxq3kWQzNHhIfVj56nxWAHbCHASQFMRY5yzUCsnia
p2+bc/mSbJ3Bw0jooWScy8MKisOJJpLKliZVh4N3bSM82rSzte3d8ssusl2z8FMz5sXBJHaVUz6r
TvvHivxR1wKotkpnOxkGv6RL9ip7nHCec8OY4wHKHTxa/xS9el3LKDtHQbFZ0sCK645LhQkjdtK1
2Ns53ku3ODXKPPbI4DSXdZyx4ebWOr55yui2IxF2sWjC53VyPscgvzKK4kTJw6Goyn1UMleVPZBK
f8imOvZKoc65kaqbybREUkYpZI7NUR0RvruB0ljirEllYuYRh1rBDwl2JduzGtaj3YcVU+vgHazo
3LhefXDbqjyVwsCK0rpe4rfl0yLqF8OZf2Cx+HHXW99GhGm4lwkhe40AmIbhUrldd4z6k/mYF/nz
3BlO0jbZkezd4zKLK9FY117n7wtIrBjW7yp3pxMXYw8GbBWUjl0WSw+zb+GyipCTz2XngDia0VVl
2SmWMu+lXzVPzjSFcTh7NG030ZMR1ck4tD2aUPVbwG5vxkC41yU/yU76rZG0tV/EIXXQpvNLFr/7
6UeR2wdrzIdirUS6rLn3rVP/rdNz3AXuQdaOBYHVAPgip3qWnlOfvJYX1k5vnHF9knn+Ls3uNxKx
NqlFux36JZnSG+qQ+bUqf4nXKnN3BYnjtHHwrpCMbjuDEQvGM8aG1Npewse93rofFRnhNZ9DkU87
kVKGg2xPmeaVTt360BLhzbwM1FBKkwXCcGO3MbeetZt8lfTFeojqsogRBFNSagqNVWi4qefa2lSe
BdOVz6eZKp59Vrvhc1CCL0+rRaASiZ+3SIw/B9iOsTf2F4pzNLIy8Yn92qjMajZ9u755hbwvivNU
zlu6n83NWrksMJV8UnwK57W0OMAt/8nCBV4uBVfeSlTNpfF84YPmufNG88c3P4uxmz40/OEOsT5f
/M70jSDupYhuCLC477w0KQPntmjBgcje/lXawondaGXiHh8NZo3DSjxeFA3vHc9XEVfR9MsBkC1U
CEit/XvTTg+rDmL+sz2YKqRG5sKQc7XPnOOm9WD6OZobXta1K55JA6OhZ3J+/HXX9PzEsatkuWmy
9NXuit1UhTCLdnq/1pCN80wsd7o+CEYQ18zgnaFI0von9asERJsQRHOd9t7A2MpVc6s45IMWh3Xo
bRSxbRLLf9IU4iqd6itH1ayfq09KTVkfisY5Ri13dWn21ScXSppgXW53jdHvZQ663kvZbSJbgc9A
41Fn0tzyapWbQa4P7EKJ70PKCbm6G925ciOraoztYHoCAQbuGtqDIN/Jsr4Y/A91Zlw3Lbt9EVRf
aT9d+1X34kaCV8+JkjG7gxFKKAzelhYHsuydDX1r54ahsH6ppuFoCYgUGqXZ34f8V21VO2dd0k2u
LfFAA/nn5FQPCMURZPnm0fU14GN+FbUIBqz0tQxg8Fur/aklcoTFSPeaKySxzPxClS2A/l66xPaY
X9eZ9YFGX17bQydiq3evzJRO3spBy0AdW9RMy5tv1t1LvupxPxmAfwGgEGnKwUEvxu/ZLbdNpoDo
SOlAB4Llp0AHGJQnt/6qCnGjmzGJlozbcX7KsHSF5vQoLbntbP0D1gmfaQpeLLE8T2GRvw1jc7ew
rE4dAHU7bsvRYB0K1VWo9ZXdDnfN+js116QNa7QDxOBXwT2w3d7J3P0g8u1FGWPzLAqn288W4J3E
4Jewr+6cajpWmjPJWXo86/mNHsO4Hkf+JdQ3fcvVLCWppu4t9MCRRpndLJ1PQ3Hup52+bkbz3HHG
R8oATrsf7Z45E0lHkw63TqM2o/OrJkM3hfiL3McmkCe9mKcsI4urdCeRcGezAZq0lXIjhsaroWp4
ZWu86oMJ9c+yJ5uWSak/F1LsuGU3IRr0I80piTEezLBmiOTZy8O9XrLPpV9iLfFzYZEn74VR1Iyr
NHjqwfJLRI37wfV2bsuVHpUP9Ba8ZItKdJlusyKMRy9TGy7I7MdJOWVTRyazXx7Z8eOu9rfriqQp
1emx85drHCu8WfYUqzJ9MY3xVFpAK/U94+a0o1YWTURlxHXx7nVNnLrGk677rTmm21ZA7a7sDQ67
RWdBG9hXQ4fXzl/1ZjUcUNwaaSffZm13NW57M0u8MT80K0qA2Y3Dft0TKXuqC5RVqHNFVb97lfsy
BsstmFu1mcH2/eZq7NShibi8PJXdG30jDPifZd4GCKCTvGiXb1uwOonF/ZmzBl84H5TXPphR+bh6
p4gagqWyH/NmvCEju+Zg79io2n47R7neFmWJLELuoRoztnODPTrkyV64H7eNKm+cSq3PPeMpB2QG
4Aqc4lKkRejJNhwq9lBr/ewZnPKufIyq9RET/iEf8JN6dXRdrKE6K3MobpAkrQhc56vZXhl1xNe/
rwT9F0PHH0I1nBQXnBT1Ld64fxGqtdG4irLh0RAy8G6XUvhq7zYDlsugq17UPAGk5s0SnOexHZkA
s0XTWFhB9W7/L9/JPwvCUfNdlHcEZ1JkcdHnmxdJ3Z9U0XnOoF1rq4mR7/XvUSX4TVtgghST1k35
oGrD+AK2D58qHG6PoXamHcTlRZ+6+uX3H9/Mf0h9+X/UVP6TDvPf1Wj+P6i+RJjyp9/LRd35L+rL
//y3v/63v/31v/7tP/33P6sv//jf/q6+tL2/YHMKCF69WFixI6Oj/Lv60rL+EjjoLy+KR4Tm5sXG
8m/qS8v/y8W8Ty4BJSmXQjR+/f+mvrRD/oxoJRT4SJIpuPP+I+rLf5ZeXkJGL/9c0mgJODIJwP3n
5wgcNrIWlLvsr51138/6jZGewLIytHd/+mj+ofv8s84T0yx/19+luxclK1+LpzbC/+LQ1ohv719b
UXrVWUuX5tA9VQemNsD3TYQQxUVVzyx3tIh6wFIoYJQ7+DfmCKbd+vP0GNSieW+109xIc0pBlrL6
GKJMOIwuBsrCrpe4yuzvyPDdQ9vOL7mMnFM/9MZdPthUMSC8v8M54/52ljR8lKG8yXB8A+x40Raw
+3vpKNmlJcj5BEe0MJmkryJaqyKGFbuogeoyjTVRayidjDCnQWL0x9u+1nejrfS3QBSFk8sLPhjT
+z1LSh/nvYHSdC5OQM5OIiS5B6zssGj4z9wtCEzztYS1H9NI5tCk0LXOZlly9dgpHPFc/uSSbQc4
apakWqffa1quLChzmoP80JdbImIANMprh9J3/VgTsFpaF52FUZmPUebTNhGyCORS+GA6cMLqZEYG
qRa7cZZLMJ2COTSm18UmfyHOoL0QGtFA6t12RAzdjaU1fFYzqgJ+RzUu8spsnPd+VtaMtAKXNy6e
AhRA6oUS1l4bgHKLz8gp5NdFr/JgYWkIk5YAKdYZqx91UtDa+qZX5UfHqq25fqPM5jO3JhmlJy9z
glf4jwh1hC7WMW7AY084cPx0Z3Vwnis9mM+9nCzEF52f+yd37aHvLGUWS+yidm/jJdKUoyyMZWjs
+0KfaBNcTAS4I49bquCzT7IlFDEOwqhE81ENg7dFMUsSeMQXlgD1HjykJvVR7lqVZqdgaI01MZZC
EN5NJdEviOQFVZPy9VOBcDRiyl96NDeUF/+EcygXVgw0Blz47ByJFWYO1wSuuz62gJsZ1M3edmNn
MbM0kewML8jaWI4iKw8KPPqN8c3WDP3SAUx9hW1prPso6KMXjeAwjUs7yprYKbLIYNQODabkDPR5
nXIA4jpwkW46I+so4qzLkysdW34WzLq3hJmqDu0rcuVdMAW1irtJEujlAJF/raVPVxYrZym3RhMo
H3FWRbiZ3blq3I0dDHt63+sJD+Ebh9LS9t9lFyLFNXU2/XYrw4aoro351NpVuW4dP4sUAwcLdpIZ
laW2jTE02UlhnyAJEZLjHWlK+bp0WVcxGQPU7hYLXw0p4o6ptmHZp1EcitIEG/TzWWw6EaT3SHbD
T56JnKGnF2D2VjXCEplBEQJuVvPy0WVG5m41yplqh8qWKsdyYMeOeXzq36yOxqNdBGVI6W3o3q6W
u+S8ok4VIu+YV3sfSZ4Z1IfpdM846wdxnvt1Hmug2SJeXEf/KuQwPPdNYwdHLUvtxZxg7P59YEDP
z5PHuOVP7GxyNvvvxrdYrhYkwdumiYbloOvRRzwkXU9tHXO0iztznKevgNS/OcnkiKAtkxjKWJIN
4y61FA2QsxjSV6eInK/Z8oZPq9LVQ4dczNnIyV3ZHYwxh182iaBDM1ynVN96DvqzHqd+tcK5bdXi
93einZj5ejrZ1Nby4PgOckg7DJI2mTAtg4Udl1Gb/mDaTHMSfwy3Pa2dwsMB2TeWWwhuJ9ua9SyH
W9NdVt4XIraDGP8bFBvlfEO265B7yq09qYxNHrrKPkVy9dqjciweijHLHeuAr19eQtcK+3WosMoC
Y0XjPiWG1EwM1VxeJNs10/OiwFPiIJoW5ufGBNRYUYEYT7bTpZ+6FBNSnJBA4Nifo/GqzGtNCgIK
htcwV3Z1sGAY2N9CxjQobAOlDQKwPnzp4YJrdHihf/YGyTmQ8c12vLzV+KvpKBZEfWQt+rqKvJq8
7Tn19HfYWU39o8ZmnT+ksIt6U9rw97j8LGvq6GOa3fC+l56xeihcm2oBkhnJStsSI8lqRr9zmt8s
TW6NPFsBPVK8Kr1d6NgTWTOi/aQFAyUtDh0DngZwYLrlc0YXVYcGrY6oikaoMIe/X6DJNcrhKs0W
lx9pRgY5BrGwU+H8FPgL6oN2fB/VRK9HI5Rsat4S7KAnjYmauIWWrqQ2BmtlWdGG4EQi0qV/hs9f
eoDj0qzDX2gFCwSvaMLVQ6vcydmEi22vh2ZBFYbAkoza7eSokaNEC5vDT5V1fkpzq/UPXkXW2Z2h
iwp1w2RL7lAu2uG1pj9P7s3Gdp29GIrSSlKRg6AvKjCjxJeoGPK4xn3hPpQ9b8ehKbshOBpVHSH5
qZfSKr6cyVLRC8OuNreQqZ64KAI7VXyuo7b1Uzv4o329oG6piTFqyTyaa3fpkJVNMsjObc8vdC/G
thbP2Ob/iMFHrby3Lym7fPd9t25Lo8YTPS2Oj6ejyrNrzt9p+tZYKIrNWKa1dz+VpnOeM87Xq2lV
0K/9RXvOJ+TPzQPsp6FZT4X/2VpuStyyjIphm/dVE2z02mfD3bA49odnTenwg7RAZO/Eg9bDtTtU
Kj1LH1nfsTSbGhhRQvNlCeJDddEwNovy9zwqczFu287taDli8V/dE6L8r9mrgUNnlOMRZY83vmEw
LjCl1HDCSwu0X0crHpGqpSW9qPvK3Ujkqont4DVBscnEIbz04LnzU2H7DX42pTCa1V4Lj4PDIxVZ
dcPMAGwqzWq7aI6tmKcTaqDBW2MV6ANrlPm36MuznT0ou03a0ePMNQAAEGwrsBQcKLPJhtoIqkKx
CbTHcZTrr6YsMiseLNvbwKdnid0jh148uhfZfD3QHmsOUWXNIDY54bYk39yQghs3bRAcnNaZzpbV
T7BiwRf85XjItPYT1lQzKVPR7mAe012h5691MPSeGlSbavqSZrNJDi+qwEwAGzwlRZBZh853i9dm
wn43E61QgivjUdtQQhPxS67sCC0rMY7w3AtDJgYFotaDQOGj9w5uhd2NUj5MRJTR2TzQLWJCFK6p
vxFuVO3MYEXcKfwPHpP+bnYhMBwNjlIgDrvunGFKiE6ye06rqttmCH3uFlmVG06+9qR85e0tTxuY
StxzeGlnU4ScbmpyY9na7SxBjlpi61i6x9GHiUXPNUD5p2ZX7MM++0HmMWyY5qDAzcYtNmmUezca
WDux3epX2VUClsEI46mfzIdWUKQXuG5wVPT8EFTQ1I+tmJdrYYXqWuuiOzaVx/BT0wqF7NDcZWY0
cZwyPmkp2hMdcjk3G56R2EdvdCYT73HWUYpGgiRYJ0XCJYy22aq+U3iXmvSVlxf3Jlbi36bdoBE1
Zvt67rz2p5GLuBdLH8St4150Jc5dFjXPdtuY+KEMAv21+HEXkP4pQiDPZLzhb8aeEXZy2Ae5ufxi
GQavpZHkzWPEjUdSXY5N46TM72YFuRiuvNQbbYT++xCJAKMi13oQ9d41mZ0kYlvTr2Du6t/LReJK
irpzquYAmXyt5JeK7JG0Xi1P9goh1mTVY6Tg8LOJb3yjRQZzX9M2VTh1BF6TX3A82/afo1wRxea2
mfy2JOXDW6fwux+7t/OjdG2xsQdPglSlEzBlDwXCIe/km6hF07AJbRKQeO0K/b3WNI1TB2Vs1ch4
St7Da3ERSLgU9oFOl97R04j9Y/Z9c2vrZfgpVIYM+v8v/Hq5LKls43/aav83C///+Ntf/+cfpsv/
8q87/+X//MfOH/0lsGmSQexA0B11KEQK/H3nt03QAAyQpAi7Nk1vLvDCP3Z+N+SPWPSJTibFlbwX
NvV/rPyu8xds9yi3AAIId700x/wH/JaEkP/THk6QDN8D8lniK2zSOq1/rbsKpVHqNTBtVrR0VVfB
mg9y07au5Ry4Rfz1brS6Esw86HlRHtp8lNVNNbuFbccdAusJ2BH7ovWV0Q6BeAmNenHQqDiQA0oL
vX1EVgM9PWmRCZIqTQM8OCQe531eqnxJ/IoB9zZYWVLPizmvxkHT2sLOwlyaZk8s6gP2mnpweQkA
zqQkQMhFhdLkgYX/pU19bC9SWsHRJqHrgejC5UqGQ3PvDHm/HvOhdF8wuRqk0tatl+6Y6mtc0r0K
6VwIZlSvqqFK+MPDlQ1LCqwwibPATD6Zm0vOufmMRKoSNwpLVQv7RFU44sqlt5FTCmKawqD30B6j
t/rtZrXwaTQZR1w8IB70IRZAcVuk160mL9OBm15n1a1xYdCEg6a3wXoZGqGR7mqirYxdmgaSzMu+
n9LrSkfRde3MnL0lUopdR7Hq2awmQNcyHzOmOxXmb0jf9AM9QdxqS97PYMNj4+yWriBJpp6Mzt25
RZlnG7YbC1GKk44EFhEwNFbXri2n17a4xNkSKRTk2yrtGLa9wcBJBFfhfhOUt/wqs3CDZ4oOHxLl
XL5sipB+7iQREyyaiO/QTiUqt9KvpnbLYm8I46GuTG/ZVG7fv4uKoI5IpthTeAvOmXbXl4XbO1Aq
CbwgbU8u9cMQFaPqriYzR3qY26t4Bv8p8OSG1bVtRcN9UNvzzh/Np1D5Jv6wov5I4W02UT5XyVg7
1afpNRZoUN3ATJVlEd0GpYdxTyxTqTeWNXhXZjEXbxV6TfxLxSxm2NS15cea5vDHadpBJSO7+dOQ
LVz9TY4tSInmshF1wcwUJSv5WNOcbW67aGz3RBHAEqnSafi0eHKvV+MSRZGumYkKaVRIlpDTDMZO
pQjXYs8upzzBp7BsV9WSzmLiVVBJY5X60HmDg57YrvXDDE06xFYeypdBqxWwIS/XZxct05hMuZVj
lnNBZBDE++BfuYHNx5zDAWtBNnZPjcrzr9DOPY0fqRhfJlLakJW0zvIEGBxUcdYJH0EB8ZTGYcmB
y0mW6NKvKMqy544fPtvYYkaLLeYMqcg8LS0Ec1qFlGR3xT1B4I4mQ7o37glcL4ItO48ILht+ZfJB
j9XvaSRelAlU8quwDWld1bro0aelRv4FXaCXs85KlrYod5BEFmX6HNF61CWjXyA29LLw3RurKNp0
fR/+ynXTg08sefZghqkxbpGkFbfQMaKLx65rPqACEWUaA38W91UA5t0G43ROA9d5yqtCPrA/EHzh
Bj0TdROJCSbE7V8M0qv1OVCs4qN0XYRUjYiu87ryMLP1jIQbsx46c8tSM5aJW/vmbYibLmKKLEuI
yQWz28lGS1rGTFn9VzsZ07ckrZ8BQHNZ33ktQmpICnMR20hzvn2swsOx0Ht2g3B1dGms9wdnPRtr
DZ84L0ZnJZlTl59hWrvzrrPa1sd4bQTPeh7rgJGhAX4rRtn9UUVYPlu+8b/YO48cybXsDK+IDfLS
T4PB8CYz0ueEyKqspHeX7pJDaaK1aAdajzaiL1oQ9NAQBGiuWeNVVacJmnt+8505WvflUL4p3xwN
SseIIrKaqwdvKgyMZbuN45CVFKCHyiGJqkAzWo0vTq4Qeaxont2eniYxNU8vNlokkh/hqqoN87Kp
35047rtD7419ee94RycCF8rbNEQPcQidqEvCbo50b0OwNkH36MzWC1iWOEcrx1EeeSUN6ygu5hL2
BS26S2Lmo78hFSJ2DBsIX7Ghsoe2cZkGzLTgiFdosMwsDL8H0KnxO1lhHFY2J/rxji9KVH+mkhPt
OyatOWAIZdPtaPrULFph1snaaqPiq9QnXDE58dyjW1MuVtAkXlYgdE14eY7e2Mimcds9OgtbKyg+
1g7MysTmVWVlUPjp4RTaoSEXpwJu6+W3G8XeSy2Gv5+0lnPhCoqynR/nn6h1nHaN2qkjGvAG37sz
aUtMaD/On4AMcC6TwmrkevENhnOT0NvTNOR2tp3ApBaM4W7F8MxQmdBeZZRcCb+Kyo1Ze8yZOWfc
Vz41wAPE3qJvDz634jMlfxlIk4ctXWGrfmEVqDwOqUcAq1TLzJp0rF5I0F2u3+Kl8tQ9tSeroMms
YT9PJNjXDuTK2+J3EzMxEY4FEMkYvxU6tUWGB5L+zSzGZCU9GrGBruisWR3KwNozYzo6lTEt30Uc
TwdUStY+DXNnoL+puR+CeSn7e1yRwY93rvveVsr8MO41YGKdPr5qMnkSOW/xCQ0Xs3HT9Iq8Jgsu
uFxdtI3dZFSk8prMBpSqizp2NonmFG0w+RqyM6qz/qW7FnDRzpqqYeVVpfOAu8ZLaBlaqzvNcdGY
K7Oy5gct59sJJBClYV3HonsdrEQ8LvwHbcNbjYj0bKbGC6+umrz3OAjee/BEWdKVYtD7Mo+auzwz
6Gh6NfsG61hitRu+MfAXoWO8k9wdSvwIS7v4TNYlwhKM16Bswaes3dLxfkBV1xPCUr3QW18G9pfY
Wody5xtRETIaio/YStKHZtBTMyymRnB/JYtxKFWetIHXJG60jjw7fYLanERc8nwiocUhAj12qbpj
hMpurmI2JrhBMvPQZILW81+LrbILvRlCRlbN6kfeF3yK6yar+kejAtcLz8UYt1nReW0wK4fMao1y
wQsZTateeVTKECHjKH+nya5StkXZ7Qn20YBJ7kKkC8qenDnjue++2TWrBHlDdeZLnfvGsgUhuti0
q7Vl2HSTkgVP7w4p1lrSiXBew1cKcpZS9qvBmivER2b4MnC4aUADJ5P9DKOSsmeb8PvHAU/8BxTP
dAxdIDHWSQmavyFVSTGEtgRnROSCMzMz+Sh+DRoJR84YkfcF2CH+hBpqtAeGoc7lPV8QqM+Jw94K
o5b5OvESOMlZP9NfNfLM8ugej8NjAj4gPiy4pe6+xHQaT3Lx7rfSzA6AhldCdjJmyyIcl9JSC2pP
ziQe59G4TVA4boD38k80dYL8d9eBKM1QZhsq8Gw+SZuaq7VwbaZ2qdOZ2JQptCCkwD7u7TMnVs/a
kCPNndNCyXG+miwqXwi5FsL95aok5WUDV8kbnha6JgupH2Xo7immq5i8cmDOim2kR9V0Yh2a6WOJ
aHV962SDMJKy5snYt5MXdZskA+RIZU3myYYks8fCuLnyW7Y8Y+TfzDkyRdADSxHXv8xF/4PbxyDz
F6+PGYOtgvcPxmYGMnD+7n/+F3+aSjyJ10zG65I/PgMhYJit3fL3//5V/sGQ//uXwT11YR7rPK6d
f0Qz+bJhFu4xgxpLEdn300I90avg2cmRk9Yq2bvm5DQ12YcZMf2qy6ldR24qn/9/Iv7PifhOqv9f
+EP/9K/3gfif/u3f//lf/v2f//UfZuL7v/3PkfiODHLAiDO7stYJJPd/TcT+3/CffTZt2MyiPgRA
DOj/moj9v7Ff2zbYggNAk2n1LxOx8zfmYLI4Jsw+obswjf4PE7Fw3Pvl+N/WNLMuSz3hABtMHsZ9
AeD9z/9yuWZx2gNWU9Do/THCO2Z4KeaQPMd7FCfuBnA/QIyOEObWbPRdqqw+tEjLpdkQjKJwqAbC
5vLtecCQJIv4MmUYagw8c6xWU/I835uQSYIUTUTIx7alTmk7gZ/jExXMOWn63M2mtTasfj8aYygt
hLSaEKmBaOTF437weWLl7/29E2b6v6QcDrPwVlWCaWQpHnBWl/Ley9epe8iTq6B/r1jFRFVDnHGt
SCypW3evgFschrtV788Yhch9JU5SofPOd/IiMDPcU2rUAb37gFUooSbPE0a5XO6L1rODXswfyph6
FMx82xoorRqcAiL3tNXfwW/sRN7fY4uI3zbWHT4Kk1IyEbNlavVX5LLfKadaKNaD+YEF3pA6q9Tb
qA0CuJEwdy41OUAG+apzuoMc9Je2KLdVN71wvvi9JPi8uZ+/1MtBzB59utzfeHl/KjCPzOwe6TXV
kaT1zh0rss7+ZrDy+EBcGopZluys6cbB9jAllXp1WzPovGeXmbGV/Jy2FwylEahaXWWWmBx7SrpR
AOkXVOLHNqNgneg7zXS3rShPuvpMxsynXe7rr3Xjtc+Glg5nKhCvfU+XQ/aftA7DTtffjb5ZFXr7
wcnw0NMUq+VTlnQB0BFKgvFE0zrp47UTW2jyWKRFLULX/8Wy2XPeLce+UPS0VBN2y3SwheWt89nc
jzi+gCjTVwnVtsXfQl7QZah79YOco1fSV4wf7TD98Zq3aCBfreYvmSMBR94DfL4HKaagaB95fq+g
NaNqRwjFiic1g0AA7YVMAIiGE/omGS6w/pbfvZInf5mBLq4U4/Yureds0973dPc6dLihNrbK5F0M
FtQlpGhXLzC+wsk44yQ8Cqc5OgjMQHPqoGehTpL5l8hgfmTXMoCgHfvWHxs/eq1rfqWELHISj6gb
Xc6MyYI5Og37iDyZE58bZx85GfwEZuDE2il8+5jhWYryxePitt3vDNmhro+5WxLQgHFAINuzj7YY
NvMI5omanu93zyLxn9LiNzigeM6Qlo/81bNj5kMoiCw44+dCs5uhgZC7mQxrVW8H1g8liAtxfkS8
W1Hp4/s35uOk9b8MJmJdtSqwkseI8Twy6Z9Q9gtkhxgMwmnWuoBB/aWd9QfGtjfMsYu+AOlCnDac
wJx9Y5UojoDuofCq4uRj7LZ+80yb/bFx96Yq4G2MNDRtY1d21JJi5QFPydqG4Cmx68ZUO63TflRK
0t72KEDl8my2w8+Upp+lHBKqRNl7HS8UcREz2HVy8e8+5KClLfxae/6NNRi/L4gvj1NRV9siIs2n
89wIK9MgazqOh0V53bVc/AFZqiLJbRrcWlJRG9M8Ehu+fBCd/STN+sZ+03PuSw6cWfWTL7P9el++
iN0TW6tWRM+2idZC1oMPrEm7W06oxe6SQ6x3u5Gk75Dra+lBbnK7z2Wkl9bDv+EI/oui1K6I+iNH
sKeo93DAsw/iFUEWV33IsgVYN7QKA06JRhgPHuseNbpnbPCL269IDbANK/deNrlW5s9EB3HKHPU+
WMeaCbdohvHNA1ocjk6cfKNxKoxXQxOErmd/3pEqDfXI6wLTlRUdskX/ZLZzT4bkoJ5UHj2Pru9D
N4f20VVcpqS7h1Xe2dq6a68As+Z1FmNvA96ifmK27/AYnhND6tvM1zreFIv+e2w9E92soESztHPo
QClq2zfhtu/knm0YX++yPGjS925t+o2xyf1cuMCk8FO5yaA5cnM0Cp0BmNg11Q8WyarBp4H5u5ZB
H3NrNDwh2+MM+q6Mx08nK+mAe9GuiM1D3ukbDvRAtLhkzS8oIaskpoOLXkvaZ0UjfB3hr9XKOhcT
gJ+7m03udavP7x3PM1BdHzRh1m5bAgVBFdzaS+2GhVvjYnrTzYi8MJvkSXh0dMrsltgOtCQdhIde
1MWRE/MFGsdnR1l6lQzq5PHjjQwTo3xKxamz1wMZES4SgfO4eI/enduUpjRW7yxvdN3uZFlPLc/X
Ft4IctynlXVrgXQDZ2mLksFE6V/9e5Oi3nfy1BHw6ttPreOmbg+j6ZIiIRtdojIZbuiXxTpxKQNo
91ZEv3Vr7Wyr4iN14Rm1L2Uh370Gs5+n4NEzfHzF2JzZSeHiQUXE7hvQbInfuxdYucSkiPOi1FFq
7o0JbNZ40qb8UfC192BL+6CMY/B8aglK91LFE1AEPwB/eSmYUUC1kmX3v3G0N3GL4eyRm8voTEIi
JZk8pkeVtXugJkh0HDRYssfUOI57v6LxhR42cyzOP2qtfo6m6pdVNEclScxNJanzTAQlVzBx0E3d
1+PTUMEUyr1vwUSyFrH13Ttkjwy/4cfrGS987qCOmt5SSmczC0M7RhS0VxWZNyJUSAfuwqvkQzka
DzwFtaskUoOM+W7EM2X6FppfKzxWY2sL1jQ/jD4+tyrb177PyKqlG5yRMHPlO4WVZ82IHo12MTZt
32woI/orclyALzCmtxaPqqRfNixXBsDsB/1iHokJbiK1HcwsoDwQZM7w2jvjnmIgv/ymHWjJEMXW
GSMZN8PcM+h1Vdch2zPF0IGbhL5tXX47mAMOuMDKHXdFTsLCmo4pXBwYcIOZ7nmJCQLw0SYr3O1S
+mtHpddaYi/rhLdYqtz4LlCS9NEo26fGLB9nbbgKR900VsAqMyoBSeUryIJPeYvvqf+UJcGP+seY
zcPUHY34K7YHZEGaf/oQKKAIbltsc+hb4P8a4ipxBbTgPHqfkTjo46vBHR1VVsBerKkhK/1GMjls
dfCE2c4HrYHdEMzJuNb8V3PGd5i+OkAttlQbkV9S/uFIwYOPk8/OWivdfgZuHFS1QpdJeF2Un9n9
gNcT4HiT2Iv0+ILapLw0eSvbU/NOTOSvOGwfjQWW3ZiudG14yibPCVNS3mDRfnSPW2nIj7E1nVKC
lytXjpcs2RuWe1TFvK6cUr8oVqeng/Vbosf7SrdCL6t3Rq9tMC946jY74D9VIBoalSj+3MKPDoQk
Am2/qqbdTQsmjhw1EnfiAD6P3WEFMYpFbQjsvXg0e3qvvbHlSgA0W9CEhvTHpYmyQNHxa/3QJeJg
LmQCDJGusVeRwnq64u7w2gKq8Z0+jFIiVqaMQlgUmyb1X61R7gE7yotWpHAUOwL6lH7By9mazrUf
5WE8lop0J1UBFLWV4rPIvBrxFGBW2R1M+wxM517BpscTLS/1xI8AwD+Ik8ElV2RGO2eeGCoy8VC3
ip5B+Wg38pfj6f3aV3wmjqqPaYa4UfmfaHEhQsFVSOPaz/l+qr9tolYRcQpOl1Z9KEjTCd62nZ09
DctLZcUrH40QxQI0pL9OFmGugA6c9aI7GFK+YtjsUn9+ozT5mrviXKTGkfcEiS3ONbV+bAFOpyI5
i7reEWBQ5BuHo+pa/ERrnHhmK8J7brkh9wPFIxM8iEUTNllyxMkJGws/aqFmRhoYxvvwjCa5I7+6
ZtR5nvmVa1NJoOLuKSzVaawE6316GgDO2L+wAoez7qBTtcoWqnjUbvXYRurqv4DvU8iBFMrRlRZ4
xfM/RzC5xKVj8fAYqQ50rKkfB8Oq1lpM2dwxckOCyxYEOzRcUHqju1jM27bBB6UAYO8LFh2nfUQD
GsBVoQBNjQgsL3KRPHGTupzcqzar/KqWTK3I/OkbwIHl2rcbdsmBCiibbWRAesAPXjuVv3EHdCEe
fU2YVNobkdGI+jDD3ngnxy+92qDG7BdpNjt3sJ+VppF6aRFQa48rsrnr8VKbjMAmGLYSdzHNY/Cr
xyEEu6O9JR7jQFa5YFgcZDRdkythc2I3RH6dM3fZiCkn4ZXTb2rymseB5YZNXR9yP7q50iR7VDeX
JKUiXlXVAzgXSlXVd5rZ0Lh6sXasxgzbNGcNYVl9GU6WPaSse/827KXbeYVXBEI3cKw4urUmC3Qm
9OItVnN36l2rCpyORmyXphiHg39yel5kMtYoQuoacqz1LDTK8uTUMWSYtOyqWmPBfY2io/1aDe0O
m1BbTy2x24XiA/KxNPecfwhrSB5+DfKO3pCc8BePD2kDPtVYOcsVZWifuvKx0/1ryfEvSWlm5eP3
nahBinK40yRZeSf+mGwAqRbn6g7Agu83ixgwYUpOj72hMf3VxL4X8BlXzvEahJ9Z2/Y9H1u0VE7Q
2Lges0RJM0gZMhN1n40U75M0bmYjwMnR9m/bEKeZPn7ZkVr8aS3vQ+oDGRb3p0rR/6v8jxxtUqnR
FyH9nSh/gxOMJ+PVNLonWVjPNgAGOLbJb811vmzZfdZl9+Fqwy01+ek1S1xLQrWhXJyvJuZW0NNw
9hOOzKrfd4IQDkkgvMKSIf6YkNJeexGW3XgvU9md7cBdA0FKH3PpOEhkw/LG6reY5nHKqX0u1pnX
XAinUkhbHkWjkp1ZfDbG32taBLnxH6818eHQLoDZOkN31mzNvoiuKIPSqzc+g8JS67eO14dFP1eo
5gBK8Feiqgmc0tLwkHHUui3gS0GdEKo/1DEuRZU8wcW5RHZ3aQRcuYLDVLN8j1BuTV68QSKNCEeW
2iesvpXC3MnnKUT6W+tFtmUqZ7kcrPLcgpjmzl8TBbBh6bQTqMqflGMO29+PRTs+VPr47fesJaxJ
tlPfjbkfq3dvcTe6kzSB7+IysL6tkt67RHtdmVB2VtU9ZAfNInDFOs6MzzTrH9Ik2tkEbs37i0Q4
bVhgR4VEqxhW4zXwkUNh+VvZ2Vz5xqEyzCMbvuhDDC+2KClclS5OLEg3z6CLyjbdFMcxxU/hKLny
eVLlzryThGLdGIVoMMUb9fMJGibyhtExZkNLnvp9MjgcpdwvK613pdcdhpQ3Yd/sBxNJQ0WQxHw4
H3dXED05CWZgGQ9SJhebRTy9qb2mNVN8rbFAsSV6Te6KY+suJkR8cus54Siq9mOBE0Qgq+/fOBEN
EBPEb3yHFU7A2pg4+nkJHDZ9jO3LOE/YPiYd9X0CmfYyuffDCaAZB0RY46lHWNBFvJ5sZ3rMULfv
asaT2TYZ/8Oc3/tGHKYGEpBisfMKD7MKoET8ah079NU3hvQ6L/vnJFWXMTX/1BXIHK+e2ktsNjCK
bFKTL3F0X3AtY2J6a3qsHDGGWZ8HXsAy3rgZyMcM0sAN8//It01dQe+eqNFzJXCThP1EO16Z6jrW
fThWXVDfuwb85Sv2IIerMpjYCpDo6SYvHfKuPexXdqs6a6u//85hTnlTGxA2DZMieQWGEHoWssww
2fbJRsy5jNwagcGIbGbze1N4e9nM1qYCnrC2m8k64HlgbOfpiS1C4DTTiiqXIcBKwvA0eSnnylUr
u8ry51ZiQJbzqFOtSKgrN7nHXQVZMAXeV9Yd7eumf2Ab0ca9qxRUNJlEdlPvrqNx3BilHm/0KM6B
zCgu+36MnQsP+fzNEwh7GbMAz+uPYcZbIai2snvwFNImqgwif76wOla9zGU6f1FDIVFeIXcOF7yV
XdrGv03Rp+DIzWiFKVqzOIFhi4fpoWjkKtecw1i82pRZ6ayAUxiJlg/20+DiCPcKPqTjbEdz3ynr
x0zRPvJZC4E6Paq62pjZshmjmIHMb5dzMjR0/fV9qcnbxE28GmHMdvoYreLI/ukTub2fUVh4Dkbk
lGRHzdDXtWNBQ+m2hiyePRPW+AjyBvJQYd78apzX4MjO7jB9iwlCr2jr/SjzY+qWxY7cyi2z2nMr
jC2Fet5CI/91ZMtlUNx/L0mR3mSpn+mfqI0ej5AAWzN9KwDwZuok+ptf3lqn2sUT7c0Gyg/ClGPH
6JzFtskoMBA2NT4XqBoU5m1QiTrtoLa43MGAafSrMZ/ShdRvvqDJSRZZNqG03wW6HJqewg/FRr6k
dKvuVrHWJ9oaigkph27kLLKw1288sM95Z9xNftc0Dm7N668wGAaM9mmM4GNYqf2hEY5YVTlxf3Yt
0093Vl7u3VK2xWe98zkrG3KJ44eOFLRk+9JFWWmPmf3cxe7a5mHW844dEBOqOGUllHFgMSrRaxSg
Ts92sT7Dq+xWgqIMqQdrHzP2sBElENNIM3f23nCtJZF5oqoaFO2Et02jjS2e40ensY/loM+QpBsB
vadYzxBcOYCvnC5bW+7C82iJ/Hitx2p6T+LHUvus74XMqkMjiX/uNxgZe4zmdqtJ/b2nLc6EDjBC
zJcpflKud+hce+8kOoAeaO7jdvTfcq4fFemPQ1l/5pYOmGOMQtEAR4FOPUz9U83jIpqfwaatqUGA
F+LYrPrzOFrbFuyanPxtpX4ro/js/GS9RO8OwgTU8Wn2/mRMOcQ4D/lwz/omgTPrW8cdDjlNmaQM
qyHMxVOi/ojyq/DeZ1rzUfINReboyzE0BhE4+QeYdlQNvUy3DSq0bt0XIUyXrrA3XcfYYBgXy9c2
+QiQycZWLuMfGLsQWMqzjOjPx6ztvnu/8ywxs621bkELaAFAQuWMmswDK/XmOuwamO8WvRUfRPKZ
CJOEcLnXxgdAIxAVnGEnS2tHa2HV2s6DXT155td9q4iYk3CsBYExhnppgW8QI4EdmV+7ND9GzG0r
4AKh4dBLNuW6gta9arWBAMf0iz2m37XBm1B1zQMlEsQb68Eu9dPCU6+t0j20AMyJMqkOMJXeGqpN
TvvWjpcKJySaXg0z3VB1UfgJbR5IGEbTdaLL45evAG745XaB5Szlw6IN+mEC1q+pWz5iRyhYe47q
wyL3DlC5T7qsEYVj8ijvlPn3aTM9F+KzwPHORjBCnbWldEFDhQAB9AT7w0q9XdVQA4EM9kLQd1rN
UwE0MtumbXGs+zudqH420gTNSdu1GbmUWjEp+uwYAEcSHVkRGFRK25pi3mR2HC7k13PimKnl0Zt8
aBM3AFLDi/A2Wc/VsKw8IcqzQ4q//xzEYUbw7fcaWQtXEhSbsmDUyTMFhjwxS1mEtprzAlePiEyU
HHJvD9d3r8WHihMyPEa8Wy+lyvRaLNfCoT+vf2q8xrNTUx+oCQLjT4JEPVtjdmY1eqHPvEQirp2D
Tzojhefjte264JK5j4aWVu/S5TsyoRRmCqx3uWrVm2fNAamN1Vh0ZzTmerpLz8uFxtKmmsyNXsUP
whdhYZjbzNwlVnqR7dnOcbFqynYZOK8UdS31xrVli73b2lfKDH70xiuAFEMV6u3Rro52cXb0107b
1T1y0YZAyKpu/qjq1ewwvsJU8A5sXMrT/FWjPkcpkgilomJ0NtoCda3UXiUrqHoKTUQQoaFbIvSW
7dyYu3qi0FMMGDwXyd7WKt7CXv4ws0dwwXOlrZBYVlbWnKoKgN9ApGrfmzxYUh5TYnPnhVjK+GUs
3lPiVnd6wAOblkjN+VggHp0K3z1qAshqXJYYgRZI9yLzQSG5b/PMqoN6GXY5IxhHqJC9PXsiyEAP
jXVH0ibhQ9STS6MiQkil7oaJSPPnMfHg7esDTS50ETvZRxH8lxY8wh68EwNacWoMRNtiOIGtqXeV
1lxJpXxNTv1pEgQC6/dGT759y8aiOvi0EzexkTfn2ZcfOfBlnd17etf9ZiPmiUUMgTlAKXEGgL9N
6LHKgyhZqV3BD67uIrk/z5DsNJ7CDki6a6TzI8+fWgXKcWAhSVunL5alI3HsLGvQdqrbKkGHj0Bj
cpd8n3Pmi3bpbFAvaVgO2GrNvUn2RRC/9F9n47XNLiawFI7oq0Vrw5rrk5DvJhKn0hwfjA4IiLZP
a7kX3pffpzeSKABYHyK9x5WRrLCYOcu0G4mSnNf7pACUFyYRy8SPlf2Eyn2Rpcn5u19oghHEsXVE
qK7tn+hiEvfqzQ9Yw+vC//DG5tTcSVgNLlsL+tAllqxwuDJ2bpI7/q7iXxbi8XpAp2T9RrtKSCts
Wre6oBeYaFFkjnJrPI0632QHW6Wa7F1pdzkseZl/OCzu3eSzeODegrqATxIuyRZA38rXPpizuZ1c
XKBuoBVJRzNfgHmYj3HJ/gbdSf+QkiZXKc7+yAqBVAGzzOMdADCJMMcpxSNUnWVcya2BOn0vjWiz
uxtdmOawV3F4pfar1vxLteDjarp1KVjlcvTSfnweF+vL0bnDgTbeDNQh5csfAq97Crbaas7jHtsL
xd9Hngxkjyei1CNcSf2rtzVn1y2Dd3AYUUgkBa39NWO1QwcxFFIREks8OiUNjvncDSY9R5cKThXB
S6WF2z5qdnRbWHS/BwP24gviaSiRDU1FqEBx2cU7erLmI0j9yKfq6KbXKWm5trRpWrEK+MtPlhQZ
NSa3iP1xbXkeQYubp11N4Junlp5GbwyGPpeQvxxhxvRbjwDboWwHww6dOc43LtI7CzhhWcOKjRWf
RjtZKrTkGzConZbYXyyV3+QQAVZ0Xl6hsjCCiU0HQ5nS2tUZ2z0O8Sb2uAI7iCpCP/W+fnGTkf0v
GiVsodQhA8jRDGC7VC71dbFo+tbnSnpwnfloQIf3VgXkmn2V21STGnduVmNWFG+CnUNZKFBJtl1n
iYQgXnanvgHS1HiexM9pPjSCLkCCeJknfF0aQIQaHbhbjUnR2rSdEBfHPA4EpcIO1wGNlqZmFEBC
szdR1NTbTq9uJIWqW21gkPo0269NLNqtSaclzJ1UvLhdc86n0gwZNe9deeKKRsNsMza6Wpf3dDEx
6/6pRXUJUfSNh6m4F6kVUfudyaIyXGhFOWrliHR+bEdKditQ18amEczGsBcA1JjGEymz34M3GPml
igTwoCKuzY+pdNuf8S7yxsKYgmZCaWLzh/xZUv0OFF6GP9yDwJwjc7gutXRDM6dhPLNWBUyQ1p5L
/h1JhnlkrFo0/i9wY6xxhUGhQqzM75G1FBAKCvEgHfeV9vZCESjaUY/IN8lQmR9Y7hjTdTNcB7Fo
oaUDmu4qNizoDVlde0n99zhPOOfSXvr0PPEnYTFSf68c2ydKAuYXra36GJN3+NNUGUi1ueVkr9OX
TyZt50d9STRqaVHanGQ4Wdz6u0m3qpOjITrV0Y7PgpUazBsw3eSffjSaq+0nTI7YkbxvFYE6Xk0g
ebTR4lw36ftE41ymd9NwMYrZfh+JlNUBC8P9Hz2F80LRShu34AU2yB5szkwzylEJE822IXFnBKDz
KHiBGKPvTjS0+CMhOTwRmQQyWakOA2Wp1+m0fLKlATBzuRR/iJizVKZDLMKKHRuTt3FaZY8dnY4V
6cMuoIfj8yGzKsccvZyDQSkCv53EByFTcW31SHz0zDX7JrfLs6DHuRXSFpeS+YETTsOJCjQCZQST
xBx5GWKSCOAR/idYIIf72qhPWUa93WYF47ZpVRpaXiX53CSGSpQ3NDX1c+7NGk4izeDvxh4BlCUa
WDGHdMsVfrf/q2BRyzZbNDccG2mfI9fWNzrngwMKNYco3qXXbtTUmzuCXRdSOA+dwe4RhxUWiJWN
Datfmiyazk13PTY9SRiTkcL0NTQd1ZJt4/k//iqm2JZbqH7MLBELGSWZYP0gO+oYM1zvm9HH5YrD
mVuHkY+dywA2r+kW1B6pCyC6sdl3ZyIhFvj1eo4fBgTgcLCM8SF3FD9f72m40gbgIp+NcWdC4lwb
Jg05bmVGOdDj29yMQaNpjf7mRdEiNy2LDqHQF94nbfcY5GdeUkfmLabdRE7sx3W1bzBhCplhjr5L
SfUPZrm9tllEHabEqSokCqBrfoxqIgt/WPeZ6/GxpPbe6OwHFbUlb02o+WHUwOuoXIcOMQvqjTer
iMwHBB7KnJ3TFMbFyXN4dlkE1tpB7ac1qg2hpnnsjDEMAS18IqcxZva9E0lDVYCVNufMe3SbeN6q
aMpY5UYjt56IDMUwMncefaNbVKj0sWG+aIVbXjIOkoQ+puiHJRcgi6M29lhQkj4ov5m3SV4FRiVB
/rNmFNrWgkrcAKhKxyZ+n3LXOmST/TbVVXu1+ko9CNEvPK4F27XYuMjvOop2iEj9EeKk8X5/FG5s
MsxXWpIzeNWRD4Fr4hbnwt7OsuHfqpSryJIAzkgEPzuDg+oCay/0TEI0KfrEoy7F8IhSBQd2pIIx
wUMbfYdFGBkAsUyzwHsTqn1JcBIib7JWZVFOxyif+wNcoZY7ItZASRneHyuFW5bZXr+pG1xf7iFM
ldbi8jA45n9nU0Kx1Jl+1QOOeec1W39hgwoobOSYQi3Vxa19xifWtbH5JS+tfSJzfecowSU8mdvZ
JznT+d7edWsUf89tg1qHv8mc/djQej1jWlobg70FZ/hkc6j1BfdYJit6xL5zg3/rnIU3DVfqnWpX
1m3+6tWgDnBvhcUOi0kNF/M/2DuT3cyRLb+/ipf2ghcMBoNBbr9Rs5RSSpWpDSFlZnGeZ24baNgb
w8sGetFobxteuReGAT9N94Xtt/AvpLx9M1WGytcrLwwUSkgNH8lgxIkT5/wHuiTYqiV2SL4zZjdz
PyO9YqqxvRPfLkUrrxfe7bAhOZF72kn6JI/nhyT18w/Kw8IBZZrwl8pajN4hwGqqCzDwOwEbbK5O
2qo4BLgEH8TY1ruQrPE+UMMnozi1x9mF4mi15MODP8lYb6om8uAlYW1oCtN9fdI2s9qqOXMu09Sl
8x9V9oH0hz5STlcCf8Rwj8STc62VAJZVUAWik3wO41ledY2H7Ua2PlLooT5TTfNzGEqEwvMZ7MXk
DZTQHbGf6xaUd08n3dAWQmePbRUFT8vGy64tcEMbS8hjesrLHQlDz6ZBIlJmXX1YhvG0oJqXb8AU
A54JH50oEy4B2wM0hDMonvJVkD2JkleHfkF/Bk1W2SDKDf6iwaoWmBeYk74pwm9lJPyLhbJfA7Zm
B/EZJE+a72xwxFvbnuwzJmh2EjiTfi6yAHAmTclrQBwYp9WtPuZrjOjGJBzrynZinrvKTsJ+QMq0
jWbv1J6MA9UsI47OS4+zb7ZwLk8QbQbrFCa3PcBGUkx/rPYpTqwnPfnHhsv6v+S40+AzNMAI95OR
1xIh5Q5dvHNib0NZcL52sqGnZASK7UrbObX1qZxPUyfEqCMYcPKCn5T+UnNGAPPVJM6uFtH861Q0
ybWbr9628kaOZFk8d1QtgvkM/CsdHQQ0se8LoISIC9+vm5vMXcLnbtYMXeUN9vWC8+zXpa/WX7M8
r86wHlqyvY4sOgVyNB3YOXoEgaGuLSL5waEAdeaMY1IBjlEoviETsV8j0Z9PA2VyFNnFCVbL3ec+
guUSBYpsWub1bTA0ySU1rAq2IcyPOJ4/55wfWImVRcGwB+TxcYCA/auh7F0GYTgeqnwN8L9zLNxg
FILbgw3yb63mdr8slCwCR4GOzeNl3bVrA461gDdyPUfByZxm2BSyJZ16finOYNQGQJHm8rLp8LVM
0mW5nivgPG2iEbms5WHWMv0c+1njbRXH1vPBgtlqzd6+teL1sQnn+mPXB8CzUkiV8Mf6B7tjUiH4
aLcU6Hp9jikqAMXpg/SiT1TgASPYS3uVN6lE+NEZrmc7pD+dZDq4b72hPqm8fDqOBVI3VjV0H6Rl
NoZ5RKUaogORtEcEEHINStTduvhXawnoijVjXUA1dZ/xsksuITgh6hFFDW32kjKeT2toAzN3+rCm
SGzKEZlOAD54Hm9nTYiAUyR+IZg8D3QVT2kLo8ZBaWEPC2o5lMmcXoZLyhoJo5S1MKl1ekK6J/jg
QzENaX3E54G6CYu4OIP11X4tSsnuFCLqvR6pZyO73pMCtOF60MLs5qt1jh4SrjxY9QTzuRpBHbb9
xhYukNri3C2THhHPQHGcDNeZRQ9zqKUPFGokYFf1hZ6E+5mdIzyCVcwTmiVafQkaK3xA9Cg+ySlk
0D2nRQ/fqbUtEvvU2+laYPCDj00FbbJptw5GgYVoT6IsebAp/w1bfxXRjS/PtNuetCHl9RpdI7K+
dsXihOI97g272nbPsxWNkwEiv5WtF3glPyA63u5kzNXw9xjV8n8hhvexKvjvrbvwT0p4/2d6ecdv
lfH57d5+1P+DUnnuqyv9e1SBf/wnrIr/6j//z3/4mz/++7/7V//6v//j3/7zf/13//xf/tO/+VE7
7/vnvNIGpPqDT/zH814CR/4TZ4DvekJKgXyFF2hDZP8XzoCUf5AcOBHGswPlUIUAyA8jyNgWS+cP
LF7h+IFtqAR/CV/AfsugV7brI79oY22Alp3rG3XGH+gCSd1YSrqBvQWaBt4BjMk2D1JwWsjNjj4a
VI6PHYT4RfXFTet+K/towOFFgzH2IMP33bkqPFIPmpprcQ2FDvV1l2KnPven7CGp4ys7Xu/HmY2/
R1c8Hwgx7DkgF4DaOc+LHZ21rn1budQkrQxwlFuorwW7TzFmKO6KXz2062HNFQjL4y16hP7yrLPM
+1Yj0krPenXE/Ywy1REednmF+4k6G33db6dUyNMZUjsdaQOhy9DzkQ7JAbxWh3o8kvCWsPwPcek9
Z90Twv7VNfYXEowd4jec/HZxStVxaTvEdTBqO5RKx9dSaNrTKbIzNadxpLP6yD/1ZIpLVt+SkC3Z
Hf481RcdV/2W8onYQXJ2rzA5UmwdsoRY2WhUYsABwj0rfXVil/qXhnYmoAWE5lKXhh2cKxrZCkwA
B6KbNgI2bXwAwrTJjnpo72o2j83odfEXBUG/rfgd5GLPMuo/H4KiPsVqoSGlHTYJvGs4gseA01te
LaeUI3ahHZ8taHxp3O+m7NxPy1OfmlhbPJCZnFY+AdQuDxaHQV+tV0nSUMQEGJyG8cMCeeNFcdD1
wW5h7LjJ6+5ZRRp41HDDq/881ysIFhgh/qcaU+iVI2ZC72HNjxihgk+6M7qBVom+DH4aAc/kotOe
Bt6FiGFBRzNCvs1SfobXzwjLUfdAfsKo/tLJVe1wiF/3wq2N/m2ZPUhkV3b4w1wVdXYKfZnzeWk/
IjUi7sOlvoOrbp/Qb0uvm+ySg8GZCtNvLsK6eMKw2GiV089BE4g0OFJ3Y5ppJvCXNuvyG0fV6gQ0
/5nRsKasa4BOI4idYQJMR2EkEzhSSFF+ZR7Qj9S4xnFb2QEfIOD3eX6dh7q41E7Yb7tGXcytU5xK
dwHcSANri1wVrPM+unZXWrrUQtA9DaZPCKbr/y9tglX9i7SJSyx8Lzz/x3/6q79/4XD9wx//w7/9
H3//13/82//2Y2CG0vcnNpfloU+qkfGExkFrV7g2Efi7qql2/qCEg5QoJUvlonTyL7FZiz8gnYvm
qXSAJ/yZzCUQNJUOnGsglppOhqP/kuAskU39gcplrkgNMWCDcDT8S/8tJRAufAtrOVPffEG6H9Ca
dWsLG78avbwHpYY6e3KtVnUHlk23IEDuzCqet1YV2s9R2bql8XuaM30WxBSZMTcybYgJUHh3maui
thZgUpRwn1XWpzPZJSJXqaQOoF3xTSOvOdxyFNT5k0/VPfwiC9l46BInDb2wgoSKW3Fr1RbXsbD7
Ca/NXLUZZlyTKooLoZeGW6bLA7fEKSiP/mp1Y8Xf/PBq/zfsTERnfxojCHcUp5XnBh6vj2j68/6l
BeCr2Iv9byE1hhRr+MLN3ZPcBd+oT9Yu6gECrUmdJ7/mdpg44e9IwYqf90+XXVtLDTNU+mzhgpv5
+fprKpGQoOHwNRUZdaNtXyFSG9PuoseF/dQ8RW2/a6FGccC1XGuty5vJ5TQPws5dvUme4Thf4t1a
VY1sxVWg/IafvT9GTOEfxwhOIe4CPlPIEy6aPPrNPcLAxc6uldZXD7q+DcQLWBjSXyjs4yW9KZFB
8R4zhXHB6fvXffNuzHXdgK6fo2wjIvT2uvVAolBZ0v8aLcw5bzPadd59it3QoTE4pcmQGNvgvkcz
Mq4cx9u8f3kj+PtnJqTL5TX5jOs7AdrSDmvo51eDWEVi2XMsv2JpZWhyarI99cRCstjp1kTnV4jk
VuJSZs0y3MEbsVf8iuIkZ1DevxMiws93ohBE8pXySfAYDfnmBfRegr5rVoZfyLFK6pkVCg8h9ZyQ
xvhyXPx25q28f8nfPryvfc/1UNUOkPh2jYLxD3ldrOOQ/oXdfnVR88wA5AoPnPhBtdPAUTDxQ9d7
bAdGnTYZYsfeY2UvqKTuOUXb9fQ7E0G8iWTahhjrskpYqJJw6r+5G6xmUxXUvfWMviaHyZMZD0AW
BFqccVdthyl1EbxIqN1iCT8HjuSuFNZGw13BYXHBUku05R0WsAW1r0aBl7xF3bTsnt8fM6N5/uOE
EQJhN9d2oWETw0lgfx6zYQr91m7QyJxJ55gENgwuBsueJ6lQ9G3laJF9ZaDGwexMlfmS1NHwlw6W
ELB6PWl7iKJLl9D28234jdP1yERWz1SNLWJ4SvRCTWdc7H5R5zJUxP0uGtrsCb5hSUTFqr7Fvca3
UoviX4Oy6kvkX3AE5w7R8j1H7wUS/++EFfF2jtH2kch+e9qH8axeqNA/zrFZTgBHcc967kLHw7I+
7bs6H24apBbqcjs1S8PNWboY+Vm1kOYuOx8anXUHzBk5lKAFlg6XkuoOtMWmRGai5MRD3jQo28pv
vYKOVYHMYzATEh2LdlyJXmSQ86lZEk6oHL///sXPUvREKsTJOIihIcXJSzFZfx55ZmaJSOpYP2pV
qVRtawTPmYphOARBu0VjCKgncKLX6JkPLj8bXsJJDS2MH81TL73mMEz48f3egnbfRnGHbINzWkDh
Hin130yLbM66IoyrGkQ2qwj53S7zXRSmQKKey25YGI4gHPP1AXu7ZdG4IKEQEIOPcSbvNmpWbLsB
MqXrQ2shqHSF/LdJEGYXnF9wzAZlXg+WIwFTaBm1Gm9p7GfrwwrcZco4RgGTpazP6POCaADFfFMu
LZkIXIaZd4e2MdVHikN21Pu7WkFSOAD4Mu8uQ++bBKN5uXyAHhJtBL+aUz6iInngzhMLB6582wNA
z54AKZVNTWG5FeOdK6u1v2iRNWk3eV6QTW+tiPbKSeSyuX4uKUi5D6M9CiYZYGjyjLEpK1KU9+fG
2xDO6GtbQ/uXiDNwhn8zNdCYoIgb1PnjKgpkuDbU8HWNF1GVVvmpHJqJQPH+Fd9GIwcste0I9m1B
mvGbK3at3eEpJYHerIOZjNNA373cOZ3OjG7nCBrtMUzlyiScnKHvoktNYGGevn8bJp39KSpKIKmO
ZuNCmQJitnzz5Ksch8YKvOIBCloBMJBqurK+VU3cEI3irCvFHm1r+kFj51PqwyhYVVBV/d7oovua
4joVeCdqzvPQ9+6AwuWon3ST8MZbum/gPhoFvPGcSYQtV4pSUlJvXKS+zGKPbeZhNcZkF6dhmvVm
5Y+uktcO+z2cGdrXOJQf33/it3HNl2xQpBs8NU9L8fLNbpV5qBpPnNPux6G0SWJV2zokseNq5q1L
kuWexGKambZzFki+RP1LZmt0QsyqGNLJCe/C2TNT2mkSiIYnSe1IEyLB9tDLb/Kx7pLjiustq446
rMmpBUL6rE4tGpbR+4/kvIlsxl0DKWqHqMYbFAAcf45sjSzpQ6elA3g+BpB+6OvI3EBvSaPu87qO
ESZZuLcwns0SJ1aakNLWDRuNFQvSeDEr8y36TF32RJUIj65kys04NMuEq3yIg/pynsTSPOICX6k7
ZBaEnEPtwwzqtgv7BY/7O4/2Jsvk0QIYZZTDhI8mGPnez4/Wz5nQWIMs9wgEmkjVtw1TCyBFUn3p
bT9D85ZWQrM+aKc0+2OBthsvZPaK3AjaFR495EMgMXGAENu1DAeEH873Z7hrEU3KxAqYYvA/axPd
BsLmSeLUE2GtJyPhghCrbP7FGUswFOiXMxR9D5Gp36p8SFkSMSR1/vU6PiYUZk/vD8KbNYoOiSS7
0o7yOXbav0l1kbZycXBqrI9jAYSrObymt07sz6jAcbKEAf17YeHNdmQu6UoSe5ttyQbP8yZLsbEk
cr161h+7QTBD+qXvmVDs/YwPNXy3Uvtwsio6Px4mpww4TtYlKQtBj1GCcJ8bQE/nh+kh7F2fYMCC
HG9bWPvsAAU+87f9jDHY1ffXFjVTyVDO6AqwVlhF5nVE2WxehJUmgi/BkgbjrY3vPXeiMqQnHzKv
N+fU90fbDeTPMZGHN5sAQUKgt/fbExXpYGdF9rx8jOPFQ4C4HzIJg3WywxSr6BWmxr6JW6/2obo4
SHZs2rZJQDKDGwYKX5PtWOeQOCz3ku6FlmhfINT+xU5y+4RerOvtMl1W+VcXLF17W1Re0T5Nq8in
a3cU9rzuqNvBzcNdRLrdcJgm5Y/ASGPjwQ4PtRAX0m5FgLxuG4gt+LkBHy/aKw2EZQTbW3dGeCEb
WQzj2k4LgAtLpW56QBBicO88KBBuBN9TDNNwrIMpFijTL2HUn/axJjPDPS2fVnpcMVOxPkVSgP4x
jSzERcZAR3KnMFJYcemunAT1sjwKd9LtHbTUOZ8C0PaiHkAwWlBU1CIMaU+0I1GFxhJlPQ+D0raP
UEhi5xBZnY/KAxy/wr1f1Bhl1j1E13n+SBdb9nhq9qV1y46hh6+q9bz2ftVjRKMFMqCIuw/BvObZ
MUyobhyw2fTxzw4y/CTirW5XJEifRZH65dfYqatx3jFVluYbMJBpQn4b8xaBFmxYNgpWfmar3DuG
hZV5V+gCgWs/jl4NKSz+Fvul7BnlWUi/dS9XWY1M6VW0XR3Te7N7mKJl6da1RvomTGLQ0rS8oeOl
I/4a48WkwihJDsZfY1C3YenI5tSjHR7hTjZznKKbP6422zqqZwmkQbqgXtPv4hD9DWq6EQaKyXGC
FeMBVg8mMBHAaZJBfUKM01PdKZMDN+ztJElbxNVQk3Uh7rpIf/auEejSfOlfv4lPeM7P7IBTfQvJ
rXNRXxmMTPRZ6rUgq04ETE6tt0uqskEf5zIVdNOVO5p90cbol8eJMHSx5NOMwhvK+BRtAxVdozo5
1foGfGQ6IWmYScupTzPjrTJiXipVgskyaokELt32tFAfdBSG1nruumhaRntrMWq8l0TtJlbnlgxb
PKpFgpZgfpOmU+qH+yklEET7KhGSeydkmVtaRug7zt7GbAB5EKxh09bflb1tqfKTE6FLiUNsivrc
/QAesdkCadOMrOMPCTvIVnix+RDun5Rl0zQQurE9jTueHm1GUUrvkMaTGTGZY7YebKqObuhdWWgT
8t2R3oDeBlNfMQHWknzj2AcgzsCWvj5q3KvVgBGgtzGmyAwi90rvWHDIBPtjXo+oUf5Tv4h8NuNc
uvRlcL3CToZXYZWZH7vfmoYDDVjKJCHT2kKmWgCRoM6GEi5v0B0aeh9pOSQl40XjuDrG+FGL+dJP
tbnlhDddr3ceM4srSH7UPId0mRkGr7XMm1eLxffyAGQhqpUjBGADHfGbiXuAQcZlt9+fBziXbJ4p
uJlStkIwD3EA5YJE3boTErz0THQsGIvvsycE+cJHUog3Dxf2y8tgDMwaeqSvOS4IAbBARudfUcS3
k9a6+z7U1uuv/2mQX3+PSoGTUXhHg0ODSbLi8TlLvDoBP1bKhYdu8ADgWpEjo8S+4wAOgmOjXl9U
hQsDU42T99ACLRUgO0FuZ/G4eNdBMVSM0ugUuBxQhaXG1uIvK8ORJj6gO153VCCtyBrVkd08B68j
CGbI5Qmb12cCq84ZDfIzWEdxsgy+OZ3br6/2dXp4YZYzPkjR8xd7hVQKnzh7S8w8jURrLhO7scc3
l6qxdXy/QmkdAK3gjm6G93Uiregdcpc8pPkUkbQdf4eehmR2dX1sbv11QK11WvkHfakK/rSFBnGW
nkJS0XN9jGwqWvZ+Qk6bNR1gq0TlA3hm85yM2mmehReVTJ9OkbHy8FCsma5Qk83NVc5ovrhj5PMl
L22zHIpVmfsvB0RpIK2gbIBYThn5fG6MuUokT7Ju0UA25OtcSdIO3ZHj9yEP8C7lduZEZnwIO0DF
xSEYZezzI+oann1P5pbCmaCd2eMRAhYi5OIqjSuOTH1eU9vMKRhQsuE1xcOpriKznAf2V76XLYMH
HSgjWZyXMxl0Odim3sXstaAb6uYF5KQuomwoUNHk9+MeJDnoX2mp/Ap0NP9f4NB7jwq5QkpFDbX8
/Ap4YEhRYGoBr5+KOKrGBw9nME4B4UJvDF3xgFCeHmbZOEQYv43zwd/nBVtssYejHwbdKVKV7Tp/
tj1sLrwDspxVlp18LyenfR7jlDrEYAvqLwsQDylPECdgOI7yZc00lZ8zYF04ZeH6IGO/mvr7BnPu
yTvpXx99DqKOIYLTinsK22M0wT3wVhzMkWvG0JSfibk2s4Z6lZnir/VTvwOFBTdzcMzz9kni8KVl
gvP7TUIp1EK1ZaWuHLgO8sUbShaLV1xKSO78hrcIc4YdFc5md9+LLKuAw4qvLbjd0DmNwmblM9bX
0hvmDZKqYaOA5kNfEBlH3wJXlarcIqgAbPe8yDyznnp3SijCR5nfEyqlFy7seXAOA4aZs54ZvAHK
C+PrDH5GLT4FSc6ft0vOU36eSM9C62zCvapNrgKJ0hHqHwPb3aXOQulhPksZC2VkOosW9GFvqlXe
7ShdCLQZNEUg79GNAABgkcRezctfLXflqbyyMNtGoUIz3aDVCCbf60imfUUlWiZIqY5n06qKUH/I
1mGy7lqSaaoKa90E3iPxlvllTfXKCKTgqs00qkuL4M/x0lSp8oR8lcw6KGDwPIKTiRvx7M65l195
gEOX8IBqetdbaGkJJMT37GgSNaYOY+3GgvEjdPtARRLJ8Y9YqadYw4ZqAV1yO9HilM3XAGBL43zu
EI9C7anNhtF0c521yx5A1DhuhYirx4EDwJwA9bfRWgWDGJjlRQoLcuSblh43eqIzNe++P8nru4Qh
TYF4q5RczGO9hBuMgUz8C5bIRBOyf7N4k64wv1G+VO9R5jTfQwbR4jeWaDG/CLJd8Ruc3E1vA3nm
mqUckS2GV2uPFirGUJM2q5JWuQEwvk5ZckoiUaBo9tACeKmHm3BqIVk8I4cAi81pbTTnYh1NGOxB
FuRFLzAyndOpKc0qj6zVlAORBTDFa5e0rD9FC4v5DYCcF0zd0tx5ltBpfPx+IdUGbGkNU8W6ez2x
IaCwaiRWUHR3P2SvAQsbM/PJjS9MMdrKG1OE7FqvBVZURDh5GIKaN1h3Q6JqnrkHdsRUSlA+Yjxi
NBWtOz3m5raGlwVnVRn7yCZUg1nktWPajLtyQmPEgaW3OsBbkUIqiwJn2JzVeHgdEOrAJuhlvmdS
LLcTVnoOWzJHH+/949WbAz21HOIDM9ghuKEoYhQ2fywrxz09BOrVsEOryuOudRTNrIapIsw2lmtW
EK5pZnUhpWTu/f3Lm4PrD10Ac3nPNE6A3SjB9d8cbNthrqyp05SqXkNjSg3YjD/dnfzq/Uu9KaCz
mgA82lyLkhX/98yx/ocmzQS8zw9JJf80R+xsrqptU4eue60DelZEZFQb+DKgz8kkcVuXV/Y9OL5/
Lz+XEJRtM398TDR9j3Y489z5+V7CEUZmz9K7C+iqeY+JEiYfR8tey/2KnMbvjvNvL+igkkrD3Q9w
8VDBm7piFreQQwo7vG3mko0iytjxT/UCQ56y5svKfv8B3yjsmiekdmsrDXDKEbSj3lwQYw4Xgb3c
u/0eMaYYgF+8QYp6Ueowu50/HtIaiP+HYQIlvyuG0sRziSTTndWtLvvR79zRzzOdO+IohY4srdFA
ucYA9+cxXwLbmvQim9v8dVGhvmDW+DwYO94DHNCEVxC7SDw4CFuyOZBaYA/Il7SWDfDbseFkf1CF
rIAez4QWTEmauuHXWR+huEqw65KooL72sxCXMWH2/Yd4+xp5ca4tbUXHRAjhv+2ysu82vTNb41Xc
ZSYyrS+JUN2pckA1zB/ci7/8egqFZLR0bdvzvDdjpvEJ4wXbw9X3bW+OYmCvdkVkrTYtaqR/UWlN
GaVf41jDwpAs1d+EAzmFVKLHJL163ZZIks3b0FnOusDjwWwY7z/gz/GH+mxA+8llBYJHgXT/tp45
LeuctCuesLq02kxtdVFo+eghe/27S/C3l+LV+bS9Xjx89NtQV4QYzmLyFZ28piKjojrCPHKgzP1e
C/xNb40jLAiNgGY8o2g0kt82UDBAjMN0roMvdkqZ+vuycrzMpIotlo0cJycf0amtXbitozfYUHMK
RL3GFh1SLuWs71NYvtbd+6P9HSLy54CvqGEyBAHAnRfAgP92v7Ft+kUanchjuzp23O0dNRuUxGC7
DpJ23VrSaN9WXUTNF1pWuHKKhS0Buq84J4sAs2lcUGsqUheOS03Evimwo4uqE3gV9KqvUKLPsBnY
hg6tsM9d0xgtpjZ1XBwrgOmtTr+1K9vrip3fKkqAF3IWlfRugtc+Y+ZxSJLXsMcgglxmUTzCGCL5
8hJBrSYFQnLCAUgnxS630pop8j1x0hZ/Fm+y13SHk4PPJgZ9i/D6egTKXkZziguHmMCR1aQn0+hY
JNqV43N+AdbHcJP6eYO+wmvPJJnWa2Suadry3uzaF/hoZl1fCHxBujYok51X6zyFPv69FNOwnePV
8ZpgvWR2dPwmxndtfJNc6Gak4sWZJ/OgZ/gVlywyTjvjGWKGYRJt87noOOfRZ0BQ6V6Sjgfyylv6
wK1PU89Gd+xMdYBKne3yej4MpqXDhiFGeYJyMJUhTfcDK7gembItMHpIUTD1JagmyMWo0+oJOobn
quajWrBFrz7SBzGdNnJTtG+uALnS3PiY1FTBkdiCWOdiB9I2QqTbQpAM/7pwJO58KInz5DwKRIp7
/4pyXlh/wIU+zZx9irQ76sI1AW3uwYrG9Pj3uKzxbncTBu8t6m8WFZMR6rctEGlcIERMF1BBemwu
aJNPCaf8wMfzbk5iuzu+uL89e3aRYe0QuhwEyk2hy6L9VFIRsjCYeG0Ffo+RDX36yLvwC/aT9IDT
m+cMZPcv+R8FeZO/LmVvNsPXqZG/ZKmlzjOOki2mjAMU29b2CkGEjSrNbThZBus+s8bgI5tL5d/V
KOHmOAOoSCG4Gk13aklUuoN+FR4Td5QniS3X06KdEa6C5HmrW8/ZzvA1rnQCr4la9th+DJnUJ26k
AMSy+uLntK3zT/CSEakw3hMbP5f9kUM4pS6nVOd+bT9i3+Xhs1x7F96U1PDc4pi3i2bcIdWzu4dr
CdU1zTHdJKfo9/5iy5wZ6xVf4nq4Awtan7euFZ0XY9fvVUdpHIBMhLvOgKBgMBmuHJ4W0CqTr1Bq
sAGLke1YXGTdVBg0Z/7qFKjdQVlHRQt/avLjBRQz6nWHiY889TknPrd4zh7RCwm/NgF6OMj5Ieaw
BKnC1MCu7mqXnsEmp3TUISZVRffTvPpPuVUi6CGH4uOELdLednqUcO0gTjbQU+SFS/nwAL28/Nal
OvxAUTMBR9XL4KugBcU5S9TiFqfLGKUQaJl70RX9bTciy25Cwa5b5uFMdu2CUyQslW2oAzCon5LR
CZZTkBHDl85xU7GHOoVqZ5QU8bIZpfK/+b3SxQ6nrPYMwlOldq7o0w/zKDPOb0V1rrpeNBCm4+rJ
Trv6Ytaufd55wszQUJnebjROZzNp9qWts/GUqjyc0UzGiMIS/b6KacJuel19NE968I6fp7qZvjWW
hZJdItanrkthvASQUuAFrR0zN85hd4HkaoddvU7ZfOYNEZoZtqgxrRWaQMxRbztO6AOcuVgG1Wft
3LQHpx4cdDQKZFqkelDT8sUewvDKFSyfsRv6HSVPzFaiuRhR/1mQLHB1X17Vsdt+XuqZXBEV1j7q
UIECm5FtdRJBh7cG6T7RMUew28nLY0UBY+PY2MvMosw+dPGCAGLW99F9Ey/Np3auC9zY5mHehqI1
OmHcH51gn1ogC2+OYVjN/nQTOF2cb8t1TJ9S1JU2NJ+Kh7Iy8Ox6FB8CmhuntYPtDUYfIcIupfvU
+d58kdKHGGmHuAMXRaEiHPDtWqIhuvCMMy8KSVnw1FokWzufvDHdqLRrbrwJhRMCvQfJC1Wmkx7v
yxvwQ2BOpri9d7A+OY7IEBzTevSeWhneI2KZ3q9o8PvHpnYRj2mK6NvCgBzjXg/DnvR0uTPUmhCl
nIZOMioJSHkg8OvhHIBibaDgrOsuuA/KPniWcy0/pm1YPY/ruH4bmOC7UVfOpQvg4WizU+yaGU0K
8l5ro6YSJeK2yx5XiMlHmQuozijHuFcxvkvsZVggs1EmPnUqlXknmobRtu7K9Jipob0Hcya5/9E5
Ezb2c6knu8/UC5uboERzUOBOc1cU7XoedWmznzUhl+N5kVyVrt2ftYM73ZT4kH1sfd/9glMUwcFp
lvHKXaCkgumcroXsERVt9XSaTIZQXg1+eQy9wkX0xwP5STkmOF2tFuu+MG4/rBCE7n1KOp+b1e8/
suFHJyw2fbkKqwdb5SWHPAjVBZ13IZEUDxBlWxeYTzYYucMaWdVNRmvgJpqrGhXaGspoi4zV57of
kEsN1bpetIE7nAOgyqhaFNXHSBpSWxwV815iLX6CYk+0HevVvUaKXNIxaK2vuGyBjbtYFHY4wXbB
3Bk1Uz1QavcvMmWw+nsbd5q83+RBHV5MVh3dUP3BdxeznIe8b5/4G2Qz+0Q8dAUZTDro9GoOUmCh
qhYJPtu18zhY4YCifzzZl0CQhvvEGcfmGDs5irJBLPS5G1atfwjsogzOitivd/SXcSQb6cPv/GAt
oPeufTBuChliMWeBQziHxY548s6zp769aIKRBpSYWzGdlm5TXMvZtT7oMkhqlGhbxI1jGJe3mGjA
maAVvcTnRZIhMWm1pQKpGYbCOuqx69bbBcr8EB9N6mHvgmbGYg+Z0bqaIjSvqBW0+RZxkK7bqmII
x0uqOCmi64OIPk56rRaYvrl3AYwwFLtJkCKe9xQI+ge01lYfZqfV1j0aB6jClsCdEGLzNL4Js12m
H1e8bpwRed7GDoYzh2Bnn/ounYpjky84c8Vjp4a7wIrQwJycKIct3lphlGdoawbzHS5RgbdxYjf/
UC3CWhHA4LSLcnKDGMeE2gqCui39hUudE053APfWXUXF7SxF927rCZ2d9YjFdtjZLeizolQxFqU9
FzvqRwWuc5uldlRx3fduClFk8VIPCwQUqSrWg0/bdTuIxSn2rhjy+CJDSgGyT2lkw9d+bsqNLBYa
UhqT7ZMycZEYjGhgXmYJ5dtdOkO9l5ErUKH17VhTqktbcZpFLU4c9aD0snEmuvIe5JArSwWz3hap
cY3TbgbLZaGW+CBqq/06BqQmsq0X51hVoZDIHMcOmmOkcLGFt0NnIHLoecbe7WK5lSYxG/wlybdE
0p5fqGwrmZMvBKEGjei4NgJksB7nAA86DUloXztzpdSlsLA0vqfJXCCS0fjuUzRiybDG0X0U149R
UCvjIT4VdxOYkz3SxO3RZvNAwRZaO205vZ7nGP9etRK3pzFug23d1Gu90cBHEe8vVHHXlrm3a1tk
iAc/cYmvGN996SNDeqwQG26iObyk8+mjyzh3RlaBzca9CTCju9MAm1okYKlBMR+YMBtwetNXUdXZ
hxone3/faR1ddFVZ3Q1Ql6P9MEdjeEo120hVFHNwWlRps3PKJj9kTajuyswW2AbG+FaEyrp0stk9
d2qaqVXU0VQP/hd1Z85jOZam57/SkM8CyUPykIbGIO8SN/YlY3WIjMhM7uThvphVpnyZY4zkDSC5
AvRz6o/oYVT3IDMqJwIFjKHp7mogK5DBe7kcfuf73vd52RZtTDMcPpekG+7xWJq5r0tewhvSaup2
qwynOkfXCPlTNWPoe+2oT0GdRSk8sxa/pmcUIa4GhJr9oXX4cpjRNONmCRtCGpnH1/uUud+m4aEE
yTlnzTlveV7+Cakw2GypL/gIIXFXWQKxwCOpsFSEUCWR8URHcNohJvL2RJcXO6lkeqkB8ISP5cQP
hJrf5ikKtYiN207igH4E7dVVvi2q6lHoYXPcm6SOEX4ypW6Q0LQ9DhUM/yzS6bwn0xCwCRcXKduS
42E0kheC1+VTFkbGQ2YQBD4wUd7YCiajoJV9x1AATCxr2gQUI9XrMwd/O3Uri+N6E1ovVrZu0uey
WN/ak9k+V4OrwSxzVm8/Te7KOZR2iScaTzGZ24x7sIXVEmNcIHLWEd/RktQ+w8NlPsdxTGy5mfMZ
fIjwsRtk/N6Athz3RDwr+1A4vUkGPLF+OTkrvL6PiVjp7hW7tjjIlBD6Ey9eUDee5kJYJazA2XQq
XYGZtnm76hl2xjJkmNJm8Fs2QW/P/bCCeAH4TbuqD1FpVaEtSEhwmxM1I3bB3E5Jczq1vXqGwzEl
QUv7c/CTIZ9eum7mWeGhZJ/WK7qrXwamaZgK02HYlukAhp4QeKRcybRQzCNn/WohbQ13hYy7E2tm
/+ZrlCN4yEIckFutLtAi68tg33Vtnj9KRWxj1op2k+tarZ/3ozRumPq5Hmolajjf6cY4348UVces
fuW4nWoI4ZRyHqUn6hKtOhfxSFB6H64KwbnQiaNv1IDzAaUMNxEZK0WcWtmwiwaHEU+RBWlGkYaV
nG0szr0ZPz01tSjD5aFs+zK7MCtjbDfsKkJg2Ny81aKCBnJxPu81WEeldeH0ArxkZtTQnnLkrCvo
W3OnNNwxyMsmqC4xsY9ewG57sshAXOKCoBHJC5fM25i5GjjYHpW5BdB+mMMiO5ld8EJ60PZswEAV
DnStBBTBqF/zU3pVJw9RlFkQBEceFcY7uIRECRB1qiun20XUauWhj3ut+NbW7TTYW6KWk6Lc2jUz
wJtQN5kJ7RUCrq7cNLOl6SlQV5VxHcDrtUkPT7JnNjEgv+frfy00TxJiq9q0JEBXxZP9YDe2Gd/8
0UTW1DoI6XJvbdmaBi75Ew/yHPMKdAzrFIXncJFfIiuEcbpH773wvNVG6yWPvRpjjbhXlwacxs42
TEeHVwTLcXfXxzQUXPJfyco911NPx83XRy3sxT1kJdI5mKLYaZU+C7cvhwK6c9fP5Yno+XoL6Rqo
P1pwo60owhvR2Spxtg4C2kQc631fzxX6qKSjxmHvENU7pVycrcgHqw2Eq+jMRGRG6a5wuS6zB3mA
6KF90slinomUsAY6vMDTqEby0dpG5WRBfFUjSiAMvU1Z4d+l9HO3wJIdbKcd7BnV+4ZVe9ZWkrhn
7ZlHFnfK7fNbDdXPmgCIKc63ep6dLSqY4oteZlRZqPLhl2wrZ4V9Dg36mclfzJqh6OL086v6/9hL
ouHSRrV7RH86Oa30UIB3dPqz1JhnQidFgYhs8BhQKy2/wS8/SqAY1iLJvlSz5U/lmJX7piPSu5tc
NUK9BY3xRS068WBhY2HodXiPwswRy3zdJto4USBo+ZYKlB1imCrb3jeO1RWbsCBXQVvCCT6YEY21
ce0SSGxvxqQsXxqC2kC2pIDK9XLRAHcCwjHiLeUE9uQ+tkGrR9q0dlyoqM0yAJoY7fCPwZIllNZw
EQ2ZNX7lULeqamvNOqbmtpKP+ZDDrw5IpIwqkm3NxGaHKuf2vHAdvd9gPe+7ByQZyDn8RqH+C9Ca
1EBHesNE70Rz6zxi5403tqYOP5sYBJK7JjJJJI+TH2tRWyGx721MH2j+VIGkxJz7duOWNnZbCRp3
j5+CCyMnoPQCzd9RrYA+BD0Ns+cFIQX3Ruhd9Zpe8T0XtXMMNV3OXOyN5YUuySVoPr5qiKpoHqYq
OtVYhtsnNpdjfCXTAoROi76KhAGs0pi3pZ08s0SKeS8GK72uRhGeId+MvkSNwZl3x2VCRhdCMsyW
JZnITtPHW9gd/eXY5DFfAXsdU2tZVKymssBEkdnetUH7kASStBphIhFXuxnR7NyPwsLfSBSAdVRa
BCHWY2Pf1GFU7Tqz1B+cpiXnQqKPhB+/4BxoF0LsXHs+NzCpJRuzbwfMZnmJcN9LBm84RE6Daq4t
F2Sq0RqVBO8uXyUb7IYDVcrZ3DG5Yv5LfF/SbqJBrBnRGj6MxO+URPYooramKCjn9kz0YMUj0xjc
DcB5JclcJqt4nGSHGror+ZaoFOST1cQAyAoK8ItaWyve1gW/5VNTw4F0stBDJpPVEFR5oacowmiX
XC4FHQB/cZRyttmA8G8joOJuF9BAdChsZH7IWQq1GYT6NrZxuTXDFsBjZ8+PktViOJm6EkAPgHj3
urUbqBidhmOeDUFCF6gwqzNy4s0TUj0ziXwpBPQLj9470bQYk36eZMeTptpLNIQpeX+u+Rm3DhCN
soVUGCR2CzBAjlYyb/pxTiHENW4XgudI3Jz1txE5dCtztncdmLc7LYzVdE7nKhM0AyrYM7kqjMfE
Q4kB7dJoziuULzpUHntmU+CZuC1qOJrFtjDS+FNmT80Y8N6kqqM+38Siqd31vDkXoxhpQwuzCs/d
vBAPNeoPggH6/FG0RfXQdFXlx0lJ7xGlJwKuCMaqlzePgJr1iNoKvLRG5XHW9NiOWvouT2XUa4cm
5aHeNEkmL7q+q447u8aDQvzQKX0BeaSFuntHxziR3AaR86xMIoMmS2+vh2YmvLsF1Axw2R3Xak0v
kPSUtHhk27pHrYA/QMyyRuFUJN60L21zyK9x8SYAZOCtNtzqFjHWdr+lfDFOyrmK0SyOxkMcztMD
PDyCrtoe+iMDoy3kgPAbcmcddKzV3bqU+3vDCo1nmInZg85fISdv4sRhRXjAC+SeTYgP9mroeOrc
/jPC6e5S9SAScKhXusFzsFx6kQaErDGsYs/7gNSC3m3FxpWIZvjbp2NtNvcpzY6NO7FRgW9aLv4U
G9Wd5uYWEYHCKgKLrv5BqdJgRIcCNBPiZe7p/jfbTNEPap55QWXFANYKn418YEdbFeq6sdrKsi+6
NK5Z5VvXXTVTTY0vG/HCNKcFzGvFILS6sGYkPvN+BB7JYEFU+tTFB72Pi3Q5IDCfu9swmUb7xSZE
ODtKyanurCCEIdZpG3ewrbFh8cpQ2TBrQ7eRekbi6BsEgcZC2Qg3J4E15TT6dIBbTxcTNuNk7yyr
HN0nWAYdi0qtsnwiQEvasU6Oy1Cin4ApCpcGoY2F9guZNGU8aq8ZjzYPDfJ6CBLzEKvqq15DH203
DFoREAKjHOcsZpKaRBkqJhWFq7idexCi0D5Ko0WvrwYBmDLZJWJymuaucsdwSDcMiF32fViZQOec
p2nVwgxqR8d1jK2uRN/Wz30GdGn2+S0KONVYWZRkRBfErAxHIfbN1AvoWK/fxHIi3cv3cTQNsr7v
tWiBk5iEbsbP0OhLZzrRupYN80k6tyHBoZPuuXLYvT+e+3FCztQQBQhA4VVzwJgcd+aPE3JaZW4H
HbP8WlRq9TaRNr7KIYRdNgzKWxlbPZK0QZ80DBhJyojugw/w43h7/QAIBTDvwm1hSshQ6McPkNgz
3qgokV+yPz4AXJJVeQKmK+eO0yrmYn/Mf1fQTfS1uvxj8ti+QlteKoVDLoq7N3/8p/8w7M6/C+f5
/5C7Y5hc3fewDv/n99/+x++//fPvv/7P33/91++BDq9/8w/ODpkxvxjspE3cs9w1yIX5pX8AHTTp
/iIcaVo4om3uK7kav/6e0Au5gdRRj0kudrdXRs+/0XYM+ctqoKbZQrKvjava+ytQB+g+3DHfj5tx
YumGY2JOx6rDrGq1an0n+jG7jGm7MlaPgE7h54xm8pnOjcBMaFlWQre+ZJ7R4nq6rkhFp1RvcaVu
FmZtvCr1ue4CSx8mERRFS0qirhlrqne8hGdlHsvTDikDxH0iApftxCoR9E5OkCwNidIf+2G+ZSYJ
GytUNf2uuR2ye9VJMg0wRR/HYVxcz8jHsJZ0kpaSE7l5Gox2PkFJXJDjBzkrb0mLm2nHdpGuhEQd
2eKuaDxdbEosQ6cUEtVDnSvkwSqE+6PTFrlwWTJWsh7mvb3m9F66r+3WuKS9U3hHyJenOwYSeRWA
+YVlV2c6ucUFaGFkpOiCB9/S3PMKLPe0GUxj+hoZHn2RhASUW4PW1tFkZDnKARzuB/5Y9DuznI17
4j/MZxklZLaj80g+96bTjFC2s4joqchmqNbRHEq3pH7pd3OvWQTAJEVCEFvmPcukrk+scSS8MkGJ
QbYCZbTld9B+UpjWrvbJsBmnBEnlZA8I2Sw6yjiUQ3/pYy5OK9z0QcmW/d8cAyhgp6S3jHqMMJx9
KsIqCjB+ak/elA4w0pLQtnbRMrjbRjTyc6WZlISFlnQPZiHilxCvFSGKjgovzLEyEkzIZiMIPPO6
J6MG/0BtaLrcO3hKl9NhzNIHDWNp0DoDouiEnHjS+KrOnuj2ackTA08aplrBuJPqzRNf0RHRX2Gj
j4FoSBAVt62dPAxmKPKtE7G20sYXDmER5ljuLFCWJi1lbwwDQl+aeBf2g3XltGIqmPcQkwztZiSz
UyvoXv01uREMBVRz/EMHHW+85b1Zj3mnMfIvFpJWTcrchIvo82Cbu4531weH+lGdR342jyc9klf3
LevGW3VW3ic5exiZ7pRdX2qSUFDiX1HK2uQst7E3b7o6GU4Bg3qXRqqPZ6+L2196Dfy7q/cPALaL
4SsVe/P1b2efVfs3FNJfPnf0FP4TkNYIR3x3xf/tX3//9X///uv/BbX2+2///ffXP/6w7q9//491
32H9xpan6xgUkCQiR/vHsm//Il/vFBo9LLq6o/OTv6/6tr6+K0CUeI60SV3w+HXodVbGmuX9YiHJ
ZLWXnoXvjRf/X+CsIYb7YdWXOqbgVeXJztiFbGjob2Rr9FDjSKzBwWZLtSh64o+6gkRluNTNS62U
F0xqLI5iCO5XM9PtwEbnu031tKAvVxBzQTLOlkFjAtbLNfeO4bl3npk/r3DI/cLQHAl/BC806j4n
BcFpkhTqxnrE8AJtTMidayffhOl80mdyyhwsA74RK1o9DWt9V9Lasr1jOUfXUnO/8BYiPcZS9WFa
aomhO5bMWyYnoF2vnZQecSp4DZ/pdY6PndHMwbTEyc00UlGqCOnPEunyrDPoVzvOjLQ4Qm8zFESW
lh0zskm1ip1Qu+zciMiiGHPfhR7q3hEk3enUa0jPiUjc2mDu20sx32Lwf4qKoTvOzOwqZkVitM+n
DDyb2WCKg/q41zy2b4l0AjozT9Izr8w4nfaEMkFim/Jjr8sJam1JLiXExI2nBialcHdlVTyTEybo
pXnEWkOwZOjt0TNunWWnL6JbM4x5GamhxUsV9YwdUFmiV/48do7pDyO4yNSBGjtNRXRCV+5JQQaA
bNmYz5UOs22DUc0+ssyiOYnThW2xjnIhGuVtqeOJL7ViPsvnTqN5qKdBKuj2gtdt/DlHJ+OytUpa
Y4cAuz4fGdRtCIqOgoSQjI0Hfj62MJK2i9duFNGjvpmQbsk+nA9KXmCTQNCrp7YIbNXcCUpYuJiz
y/+x80+8+lakCPQtkqYCvbfvnB7N0xC6LG30TmjK3CnVdYDO5jMbG2QwKkDCaLFwg3czs4FEEgUf
A8dPtPkoCUF+WiSg+1jX7sGiuKB065vWqAmmaIezjomZX5VltdUbgkYSNZNpKHbAIkDyuvnnUGGf
DY1Tu+4sH0MhPIA6Pl+GMN+AFXnGXuVs+3ptKqhqpyxCuxyx+Jmp+QY8mA0rwQn2O7CiEU3S0jOe
m4FE+rxcLrSovF1cQiQq5qhIVNeAjnvk8+Guoy7ZzbZLkiG5jEGlJhB4JiHhheibT6PSj9BCScih
1hemj0z9yvHeWXfiKYO/Q0y4s08aXrv1mv6xEdEn+tDhja2xh0qiVGxFTFAFuKjNbBHkyj7fELzN
tZColKqWJjGjRWLsKEvAkOaQySnj2oNOHxAKb/PYytzyR9hg/txIxob9jAuhQw6H5II5sDjoqese
ebPYK5LS9gP3173esYd2yIIFR9xvqvUiRLEYd45WzzsGfE96H724Q3070OwBjRxBYsn1ksBXxfTV
W7y90ZPGHks+JxvNc4X0JFgsTnTVypOsR6EAd3c5neJIHbelSRATak+YfBjoxAQzmZrkiTUBtKHL
dY2hY2wMJ7tv3CbfJVZmbGQ73kAIeUyScdstCguzOYi9hrVyQz8IIzJKiwNro7ln10+6ue0ugVeA
Y94g0Xd3rtad281CICKTk24l+K828CMbhtSO/iYpblKHEOtm1jU7afuTLEt3g5kpp1TLjYHqyzM3
K8OgEIRIpiY0F41QoTSPFyjvbbnth+SKSvXEhPzADDExgvKzRe/yuo7yQygUJVAuG5rKAOK9RZdM
1jsQ7vNzg45ir3WL4wZ2GH6Jo0SwZPBPIm9R//WrdYXbL0J9k/TLbV/K5yEsTnEw8IhWEZEXaS3I
lqjvsZKSLDPGRyWD0m1R689LxFXOpVMHhFGEuzDl6VwzE7H2ziep1Ghmj3gQ4Q/gUOkmhCKJ/Jo1
PegiYh98Vwxnkzl9wXiDyCnB4Dm2jBfZzW5lSPTxXy9Y/sP2rf+JcLGv7/L3tq3/6/ff/tvvv/7L
D4XL+v7/x4b1F0dgBIEeB+sJTprLhvHvG1bD/kWXDrtPICQglnTz3yoXw/yFksUBySEha+k2pMF/
VC7yF/iD/Fv+4xk2PxF/pXJ5A7iz6b3wixy8E6AQ0Vis1dP329WU26oXRXymNWPzeSK9gZeQ6w5f
U55iZ6MnhXVp059iVoX0rN+2hRyIZivhtNpuX8yHDPnsRxadtcj/bgv9+pkM+FxAXvgfJoAfP1NR
lLVuTvnZwgTspsg1+5GWWU6KuRVmT7irx1tvzL0HG4Wr8cGm4Mc67o/TwaZdcC5wA9jyzenIR1ML
B5melQy3d5FX2qdk0JM7YSb6Jf6y+Pm7gvfvvaC/lX1xSV+0a//rf/nZ4UzdoGyFG4cz502zgI0x
bak8PXOtnCy1OG6Kl7ROyqfQJRh7kIX88v7x1o//9sx+fzzuuO+vtiCDhzliemaYS7x1M10dnLol
Ri/lj+8fae3c/elIFOu4XizTFq9une/aIHHSqGpesjMtL7szaKwER8XzcPH+QX52o5jOaysIkLJ8
exCtTb3eaZOzyu2r/Tykxjc4HM0pMwpeNmFHP7R2xk2DHvqDb/dm7/h6h1Lp87hwVDo+b85jmy16
WUbxGTZsVzBJssROZGN07dKivS6nnokMQ+qAgZB2HaZUBf77X/ynZ9fD5WSw61i7YT9eR4abM0RH
jp9VADSaZNwzAf0IDfWTm3Pd1rDxkhzFfWucQC3Q4V6NzxLSkV4YG2h7Q1/QAmcZkeqq6S7f/05v
LCSvzx47RkH3jMNBXn2z9zcnN6NDF52lU1MxfVDaQ5WYyWWli/DKNbXpEcxAu8fPhR9oRfftJI8N
CQtjOe/e/yg/eUxWlhL/5bGkKfzm8sKIY9UMo7Ouz0nYUbm1CfuW0YiHhP8vH2m15GEKEhgSWXN+
vJB9oyHFCeXpYHbRg5iS9NB4i7Mb6zQ9ev9Irw/DmydSeDDKTexHgFje4mZpt3GgVJxiRTY+dZzK
J0nq7rPysCMfjySR3ckwTlXAXCX7HGq9N0ECUePT+x/jJ08OnkC+LcRzZlpvfYiTndilcoxTE3wo
cJFWsqmMe+tMLZnaFvqynM1GVNwtMyGdRW61J+8f/if39GrKJHuGdi+v1vXKf7cskVSaSkQup1WE
EtacPbZBdFU3aTY3u9Aoo8P7h/vZSbcMSMIeG3YqifXl//3xes+KefGapzjPGGMWGL6KAGFaZflZ
LfuHcRDTKQPj/j7RXINZYynum5Rd3Psf42cn/ftP8eYuY6GHoaPM02bq1IWJTvLcS1Fu4PZxrnS7
1a9obQ77ufLUvhNe/MGd95PFCskmBEnBTQfZ/k1vxCmzmIQs47Qj4+U460z7yBgiGnvvf8efPLMW
rzYD4ywSTFbGH890NzahrpRxyry224b2YO67uEDZZJTd8ftHMn52KGGbwjGp0FYc9I+HkjRy4VcZ
p8AxCUoZ4hmtiURjt9MEdHqSSaPmDMUIinBzNjeEc2Sndqoh+ywLu/4kx6o6t61anE/5CDvKtBuI
ee9/xJ+8GGlvmcIQMO6w5L257dyyJYTFnk4N1cyn4zpLM0oP9nkyOvs5wvS/yCb6Glbgnd4/sLH+
5h9XGQOjFI0wnJW8G19//t0D5sHIGWrNOdHmJLsI8yTdRAlhRc7gkHtj5yObUHRAPIWAT0sS8PgM
xaF0zGonnYbwEaW74wdVwk8ewtX7zHViPgGm+O3KJ6aeHbNrnwxNRZLmnPVnEeP4m6RQ5saRcXTd
SNkfecbMGAY01Q680nD3wXlZb78354UJp4nx06FJiOjlx3uGIffiMVYFb5S0ZxWs0VP2jOG53Tba
prFlea1ZytpPaWoew+xsgqIU5aVTkcf+wQf58837eiY8TKFrAMVb+mHaT2IAA3YCnDj9EjqEZUX2
dDAylAr9MOdqVf93+wjMHhovPflGELp4sBqvD0CRLocY065fDlZzjpLO+ujJ+sndY/KCWndKdPXt
t0+WkZgFJ1Cc0PePNCKIYnvTz7N1MPuJuKziM7HLOUG2NnlOE2HWMytuEPVhdRJWXVz7lRjmzx+c
r/Vd/+bCmch/mPDwsaQj36xekdVNWjbrqP2SHpSiLNTlkrREtnTUHpFS+fXstU3Q9+3nGFW477qV
dwiHar6KG5o0H1QmP7uX+TiwOlnqINnabAy/f6EwAU8TkHIn0ZxFexpIDu3AybD8fmo6jPyd+mRZ
c3UN76LZWKo8x3Bm/eXFxWDZs6EJeOsK+NbB3He2RbvHPNGJIdoBFeuwI/Y0p7paZI/97DSH0Wgf
yYazPniR/GxxMdkqMaul9l33qz9+eXxPPRIK4wTDZX1kaR14IOyKOxTm+lUOC+/JQNL3FWwjC3JG
3Olh8vKDTF3a8pyeTVF43Qdry58XWszqnAdgEoQMWG+XlrzUppXUdpJU1fIZKB+36jJHYPqyyMIP
0oF38iUl3pET4l97/9b883vVNiiWWU04FZjz39wKWjxie/DSE9dQ6TV65XlfIip/fv8gxk+Pggpm
pYpy3t9WTNgOlVkv8cki5+p8RqV/aODkBQN9WL6ftHY5t8M+zcNkE6I69gsUHMEsY2KzwSEuj1VH
5hO6W1zR73+yn5x6XjX6qu+1eem/Qhy/e9OAfsmdhg/G2TGPJghy54XlQdqbzChwV/Eqwtsy4KH9
YClfT+uPCwIkJOpX7kSYSKgDf7wJs064cVlox65DkDWRyC5J5WpEEbSN4Yglm3wM1znQGE0f7fpe
t3VvD+2uFQ41PC/Yt1+5W4enyxSfMHeoTgU5d37BlAIOFq6rCply5xDvxVT2KhpIAh2RT+5sjVRO
sgpSH2NMdtkQbxnkCONvpFVfeEa5XC2G3ZyRgYIJZohQzvaf+jEVx8Qdp9sS5XrQNK22dfjjB7XC
n2txuRIyeB9SLVCwrXfedxdQNogWkl4em/X6fOQN9L6FAdC+sYlz3Qpzia7ev2P+fCuvB4SYz8LJ
rst5c+W4XQrgnc7xJGnARijUdllWf0RO/cm34qlkTokMet3hvDmIjkpp0VL7uNCM8HKQq6S5LjG4
zIaRz/64xB8hDv78Qke4tKLaeUDX9Xj9+XensczGhqqjOUb0mGw8RPhbKIPkwNvlR0ETlCpv7n16
VJS8tAu5bnzBV/HLd8eqy7yf0tzZkqxjdbsakQUGlEgv7/WSUWBAyiAeWYcu+r2pWLmQnmmNidRT
DOXBaUPyLEdEnj58VXGkjxlpovgzG2YR2Cv6be/M6QUeCGAHKWwWWuPeFB6IDai+9NVSfNUmva1v
mLpk+GZ7xRSVEERxh9A4Ox2gdL60dYthXjL6/GxMluz8zsTIsbUAJo5b8P/5S6N6WfgqjPtX1HN6
jsJw6dnzdq23M3sTm0YzFfbWsxboUBVeEcxW5nIKnQFvRumKZhX8t3rIC5exsj+qPLuU+uJiGUGC
98LD33yr82U6ybCV4Wapxqzx+7zPv7WqxKgDzt35Wsk0vWaHqn9ry8m8Epg9ma+pRpLIbBrGc9kZ
ebQhB271gtG++pxCShp8ksrDJ4vEFUYEZZ4LyNJ6eoJ4P7vqc/ihMLks7RNNADPeh8RpKaYCZTud
LKlVjUEDZBl3gTkVIP1CjwhNLUw5eQTf+53qq0PaI3g305qsZTY/t11lxbCnJoeZKXwxY9jKMu+M
PaI3SLCw6e4BSJSoOo1uZLQaR3W9ra1wnbgIQL1QmVOJ6MRhWunjkbS/iVhvGHPlzgNmlY6JNi9K
1yfymb9SMeu0Ap35J1jGLlK4kFwxnlTw1RJUxzkT3I6p6oJOMqw3EhR3z8apjEeAt7MHMKvkVbhB
lTMetW0hCuLI4ljbVCIpKmbtdnhRNAPCPsSSsEIzLTEvGWpq8Z583PG4SxtSs7Ew1Mh2zAQtDsJV
Pg+4njzahg7EAiLoMzXtyJly5SYRDulkPUrsfaxl7oudmomFRwOBu9+izsSolJfDHQ+DVvkT5psU
zmgDgEA01nwQGEUeKasIw2D9CZ9Je18vTBnhTC+SOTv0pmzuWBonOL7zJD4VpRE/xG1NDiUqZvHF
KXnbAvGqLXjKpAttwg4MwqZY5onMn1Zf1n5VaWfco7N9M+qW9ujGgsP3GTCdQJEEeZK7dW7vEQOF
AOu6oc6OIvJBkuMk9jCOx1kqU19rezIhw05qKORlNr8oUpOZmBd5aeK5qIx9Mma5hixpYT6cN1Hi
kZq6KLyIWgzdoOUW6k+sNKlWYaukQPfMqi730JAxSs+NPeZB2BSUSwXGVAI00e8hQSuKnlh3aFUl
l6HyQKNG2fDspINk8GXJ+Ekutui4XALzs9cM0ak16svem5iQ+pXdhY8hdit3lWvnF4qSMEbFVYCR
iECqnorcwyY5lhg6D0Zli6OpmZ0K57SeuFvSK4oCmknZnOCSXAjs5SIP5Kno4TOKWbIrRQZzfBM1
LWiEsUZOfGRWqnsMXTftLmQXjde49cycvL0E14ngREa0BdzwrlQZWUV1Vq0qsxG0yia3EpabcMRn
hO5ZUEDlizu5zNDRuG26ZOiJPiv0Cgdu60jiD5rEe1Ew3K1tvoSu3MI2KfBnz0oT2EyrEWN+blDy
YwNBUhcq9zmqcVT4M63xF8Bz5nGh1+4ngS3N84kybDCiZplW7A2wcM22AYvbBlkGijAwetXeOE7C
TDRvaBP4neGmgmZZyTqd131JWavWMhs0JEbuPrNRN6wRTfS8U+qS3ihnEE7acitc4nuDCNTnUZRW
C8IO4IffJN5fBMoWmBvfsSftKg0ntlfOTKEdpCQnrxoA5AX9rGEdrCE+X+HcRx4jUaXc68YwPtpm
Y55xpmwTwYub3nIBhusolPqNmeSaCNwCj1uACEevtkjfrXTrOikmmlBMgH7wu8XlzmRYeuOxp5X+
UjFLCFqRmqeOsJdHr6cA8zsvX10gA8ZUP7ONRfdxb+sRGeRjTeLR4C4FMgDeLME4huKL7Y7JmUhL
kDsz31Ad2doS35iWUPdtspjPg15NL5MsehxisVbcSpyRl1baeHcaCsNz4rJdAWwW7iPmC93pfZhm
EHgS9DFhkM+1Ddo/GfUrPbYRkWKE48rgiLGdoFHgABFrtqtFgif2EgoISqSuy8ejBNTlvQlb/CsN
2fAyZ5iG9hOL3DWezBCfzbJIpmtU2qegfQw21w0Exj3FPYTzYYRWyboJx3qz6Hr9bdSpEY9Ye8l/
GE2jT8H6EMK4SbB8IATipqw2ivia6ri17fHBQ29jkzs0yPyg0w96qFMvGzY8V313mG3DaTAhxton
6JGrT7MX8T4fC/gRZPGmnm+WZX6bGYOHt6PGBIIXKc+DvlARzJ9J74zAKaTbE6tYpNz0/WycUrrQ
tk8h7jTBOGus3bYdN7ZP0muT+cSKVF8nBjdlYFe8d4N5sRpMko2NYUhNWXm8pJQTSAezi2RktPLV
dob+yOCN0/vAy8v+eOpWMQ/+vqoOLKNyL/C5MH7XRcSSLjIlniytyLAvzOUC768Uc7bJUmd4zBon
OYxmi1a2xkdZBhO5JtdlDjLKn00z++IyLUNvFU/YL/FXSBcLjdGEQSmK/po9NyJFDk4uIW744gX5
5zTuLNkM7dk4Q/M8RLnnHGHXxijFfNUC7Tfn9gvi4egcCYN6GZMG4cBQ9tmVVUjtuRK4ZGiolFax
aTWFOgnxMj0gg5S1LgAxWrPgeOmNcLrpnITuiJkWVTsvhb5rwN6HgDD9pc71Y509yXIchkgo74sK
BPpeD2OvP4SjKmsf+2KIANoOQeIbrD9UhjPbikvLMgY9EEiDMaHoIGrGDVj6dAgwgOYC+whOQfyK
3JokA6SV4cc93XMoDkt/51Tg1v2hThStNIZSeKPt5qGtjZTsboztxLNJJ75P9Mb54oTYAoNyoPjx
pykxv1i9HK9shoWuD38CG5EFYf5qCCXmvqwgL9Rv8PS62BY5g+BuqKZ9exl5nUPjULo/yAgtcO0K
+yHWkvgUGZN7syDouMGIan8SBhi/gwaXibcoN7z0ISGqZOt2GDLQvw3qpCPpPdnArhL31pzNX4nu
6tSmA8LzaWrj6RM5OiIhi9pl/VvMcEWr6uiDY6Y34w5kdQdZ0W6ikWXJBtxgOnYICVAQIuxHrauG
oJQYXXZreX2mUSuoYErL9d1TNcOVHOf4qdAw3HTeYp25pr2a83PchVT0rCnj2GJStYRunqMDHpZd
CNkIszv/5smsqob81El3JwSM/4+8M0mSG8m27IYKIegUzRSw3rxvSU4gdDodfa8KBTDMXENNagEl
Na/RX09upI4x/s9ksEoiJQd/8KVEYhJBepi5mUL16Xv3nluLa6Gm6WkVZt0fC9Mdu8OPhPtKtP6e
TSZv9sXSues2TTwaAQnGODIxWzf5nmRm/dDhR992wNLwrKVBqTekBHBOOmyfOsYAWnvQlmBURIXh
dyEwXGlkO7fSlrW1zZIk6KRS4Yc19l0Qz8lYl5u6nfj6lrCW1nVYuna660I39WKsJiQvmGptYFis
F5oBUqjni7aLHBOOfBcv9Sg/T1lhDJE7+n19DpIUj9og88WKaY6K92JpC9S5cw0Hzec7Qb0UjG+U
uyTsAjNImx3ucRo/U+fwnVQLvLNNKF0fWn9OU8Dw1vrJ7GtBmTZRsW/FRDt6SyhW+trl2rpmfLx+
mcGjvrg4Ck9BRcpT3Nl6eQjrIYCzMI1q782lryOrW3vKnwUuiEfbNDk40/g0tUW4d4yhtuK8pNja
O4NtbBtKL+cavSD3BL/Ii0OXi+CK8xaqSJSbPiV2NkpFLVRM9UyQoZjah24dpqfGTU0PSKmJWS0A
HfxWu+30eama5YEIj6xCJwZ/HteZahsoKY30DmyvOKjGBW9DDJirPzOGSYwopN3Mt7906BeL2Z3f
hwqCSJS543xNmDvRst04Tp8JecHXWlip/T4vCPxjmDrdruuXhA8Yyu+jsYi2itNxKW+YSFcf6LZN
JJP+6n5qbTFlW7RdhR2nVtuIU17Ms94Y3TLrA4a+wOJ61cOUanvQvHHQ9eQUG5eEmwPkFIkfHKWg
C0NOILnMMnO5ck1XsaKmRJQ7IGCIw9YqwQAOP/k7LS3AIZy9HpQB3Mn4Uwvl7n1SQj7QpNlHcMcJ
nS/2o8+XocRNJrGAHvkWoAmEqkm3mW3PL+HFVj9WY30bpBWswWF1M33lYJd4BOrihwe/D+ZsA93A
u4bhTYwwtd+oYYMuLpcSlb5lw2imsdu1trcJMwQdiHtTMcahVZE+rhsku55dG3fKdlecbPBkxg2X
HP2xlmSF7QYoMeQYrRn+2L4J/c8N/+V6ISHpYZwq6w5LiKTlb5e1G/VeEn4aFZvErhulbwECaC9s
elzkBBLgpvyEXmnpOaoZeO80LtYPok6Mp75A3Yp1Ap8K5VIY8n8SFbEQSHGCEqlvWsyx41Qr2SMF
tdq21nhZdjgYmhOho1W2G4hDDXi082XkjoQEl5rPpcwem0xM1wOgFY3nfl5DAOZZ+MW1h2bc0ntB
emiGxiX8OQ0xbPckIUSFOXQ3K3s8oX8q507ZzsbyWQ4OIZIVtvR2R+xXAPcuG4adldnp84821H+G
9L/73sDN+v5dov3/LyD4D+i4/YlU7q///fdc9b/95d9+Vstdfup3sVz4G5YP9PgeLXU2FXp1f9fK
id8us0wk/AySuQZal9bTf8j8rd/MwCQ6j1msQDd2CSL9D5m/RZIvOh2sA8xC3UtD61+Q+f/S/XKZ
WKDuv4x9keRRfF060j91vwgZTwZYjIjEs34ucSWRtudiZz81Qz1elaUyzX8yrfu/XlEQq2kx7rk0
g/hofm0m1kYnx3acEDwPTexkwm+jVWvLZM0OQ4dLJl//SZP014Y/jn7EPsy6+Cou//w6qWx7kZMw
jDFt5rQaomJaaGGOIPEp2uzVj2e871v6hLSHKyw0n5RLlyZaUvdjRu77pjuC4eLUcebXUDo62P20
ZO5+b3b/rJi7/MY/tcB5d1jqUN/Yl+aqz1jij9+BAzkpkUS2RCSrobkno8QjYW0dvVthcciyP2tC
YATpxps/f+Ffh08sHtv9IZ1hLgk+4leabq48v8gGKsBlIogeRlTg7NPKWQcsfZkyj3lrqjHKPXu4
VTSwrHOfq7CP0bAYVoz7wKPsAJpRwacm6e6fzOR+1SRc3p0I6aHjZbXRL/6qq3FnrPYkMhGOlLSz
DWfS8u5wWNMpHMoijy59f7zsgxEAtvToeOxtUuw/2sBlLZW1MX5RVJH3MLFL4zoDs2yA9jLC7p++
zR8j3H98gT7dY4cRL7pXyMsInrxf5qk1wZQhhyYQI5GIY55CxOG3Kc5lSTqWT6JtW2FtRMA0vGSp
dt/6pkipxypf3g5BUyHuS8VnT2ZYKQE3j/cG/Fc6BhW8UhXQwjgyxRCfnNzos02XZ9ayGSdhfVVD
uMi40FMVhyX+632fgoLYzCjP1zu9hNV8z/TIeluTloSzzk4UPFKusU15txaXQGMjbB3nvgjr1aaN
J50cA18bFFxP8qylrSDTAWhkZVlrcZfBKp33KSp1Sp60dEd4JoRXimiSns/oZRAdxv5kDt58g4km
8IHeGI+qMuSOKrNu9nLqClpDkjsxTCy/08x4WHPGSvV+hMsz2rfL1CTLETQwHk2zlcYFywB3KfZ8
Rr9YcfT8NQWgUEcrjh618TLLza9gtq7Exazclthw+D+u9JNkNJkTuKAEWOX9MC4p5cxFp1T4SCth
t7jDdZOPLdkq+AdNir2KCRtkqJS2Dv0jTtjB5aOU7Zr0e3KUsAa2q93CPICrPe8XwySvnOtJTvtv
5S+mIPNi2tODAu6Y9qcOSJa7kyvg2qdplOOZ8sa5MHqyYrlVDMOLyGr76sXy3THYhGkYvFfLSgks
BieD0Xvpk2Jy8DGTDNi1/Q7fSZS61XznMbwvDyt0ibMxIT+KKoAXIGEColZ5agPzG6ksJTDMMEyu
gzRwd97SLdA70skhi0FgMhjB7MR0QOS0pSBVx8tcgDVoKxP+xgwMISlUdg9pPnin16+NaMm9CyCq
8aKxtqx7EdpyOBFuqelYFjDrnpQ7tRAXnDYLd0AOqUnDpr8TKU1HzKuyeTXYWbDrO5n32ImunY/C
mAK6HXWq73FA5JBa57S0Iot+rdg2wwTjSHTd3iildXKq4CuUA7CnHkEQX1fpGjZ922TYjWZZvBNT
IkBjeSVb1eAss7UVRLJsQTap87IyM+zk+k7daEa9kuPeAdH4TbR2cQ0/x3zypVmvMTKvhvewzvKA
6sq5kYmoQa2o8VUMytlQpdMMzq0aeqOLY4Qu8E7Iid9/me2FLz5g+DZmPQ01o512YQnHIWqEy9p1
O1gqcy1h03D/ZB/HnvRtTQP6fjJP7FerybhboFXRDlehYjgMaMBVlHBO7GjYfPdkWjwZhRt+9EZP
f1Hy87hkx6p+ajtEHhFq6/xkDZBAlpI+vts43VasY/dYuGARol42xSuS2nJDY2BKt9AvfLYZvm47
6hBcmISNhQKv2cj+tUKSwlOnxKMLdv8txzh9O+DHANGPNyrFCXLsc9lekXLh0SM3RXvuhM2u0vae
w1VOloXceQWB4Ttoct1u6S1yVwlVuu59yEzK6sDaNm2SnTRAMyfiLll+MCfJuQA4JQPFDDpzVGqj
vJuHNAj3s09PegQu/2CWXR7jnHbPJVxTLv6kyF1jRVPhGYMUnVrq+ilSEs/faJsXZFA+hnFjcnKR
kn5bhsR6Rp2U+hP4HhYrExDnGkatvxsJn7oLCDDbQzOj3U6U6LidhLTvy3RFYTEy2PMh3jCfa8UL
9O02x9SWg7XKWmOlW29jh85t7g+YvoIDUyO/JCDczU/EWi17k6GERJxZuUenMUnCyVpaauR6jjGe
RvXIyV+9McJxAE4N066u5yS5l9aqLxckUkijHmLVQ43lYjgYq1L32Jozk7lS4p3FFAbleZJNtp2W
eb0zmhm0nqnzNYLKy17GhCVmFa9fgP649Ppa19utBB5y+qQQeO9LBZjwvmald7BecVUdOJCN5Djx
KNQbPc7ZrmfF8myX7s3o0yIMtae3k80FFSOhEdv4tDfGKMbTXIk7kDFHdBdPbRLYV+W0LDttyL1d
2vvet77V1frQmeH30eqgJYVbr4TUk6a3w0rHb83vckO6R2ZK/S0JFrCUGf/Rp1Ype2pmPVadh0PT
zHdjPoEPrCAyM+GPROnUce9Dk3UTbW0tnubnRIfzrkcOvbt0qw7TMlqAWmznyEnnb4w0L74nHegs
INr9njXob0tPy7fJ7eczXVKwOCYrfDsEfI5u4PQvLWRfcyNN45CRdTDuzIGpTsTEpslPg1jUEg9A
ZM+qsICJDvCa46G14Ue5pfpKfu7Omhszv/bqUukNcyRz59OGrSDi2dAUvxpiVtxq6cg9dnma7tif
s/SYw/Wl1HLqShySJDWDa7xiItjCHx+fWpNN1S46i0+4BIK/9ip5aHpn3bg03LkP4nqLMdskKaw/
TPzjLMXV1F8Qm7R6xj2lho7DAWxPzKR2vil1AcQpYI4xXDlLN2/zyQTVh8ihYBraT4AumdFMBysY
xE3PfZxZqON2uN5aUJPxMvsLgyy5rg9FwmfONigc68ILhAms/Czc2nXGSLyHd8BAJ7WnHaJ575ln
tr8inWLRcWME6FuGCc0ebB4EaWxAu8IxlmY7jWn1HqSS+cdlRAQiCZKv08H8w46WF08+tT1jDV3D
Blic2rP3gTbce9/IGTDQmf/orNR47hUZk9uyypvjCO0dFoRbDnHp+3QV0tJ+nvE8fcrgmKlTj2q4
iQuZu+1R5g7jxH5a9D4zW7oqzdRs5iklqjTvh9sWZ0924DSpbgNSdz8zbu8eSLwZTpde6/3EH187
wnoFjDWefFp31y124Bd70TUEDFtaBLBxlIc4Qg5pUlkfxej4z6kaxu3QJuobn6zAsZyYZ744Vgy/
XjJsyBQnnDevxPDqETTJoH6G4LQYilZEM7zNdjtvV+5ycemo7jDa5bAwd6xnwE04z7eVazj6AIXR
+tKVMmf+U4Ynq790SYOJ90lQWtPsSpdpHzMPSHLtZeLmzHDK63Haq16XGw37n7jcLn8tfCq/tfOC
k1lDlI39buabVKGz7FxDKIorqwQWigQSq+l0qpPBixKC1qLE1P7bYqqCthWPm0porRNgtnfpR4st
e5e+aS3nzGinfVCV0Gu8pM501PMMocjogjstpPVUZqI50xjtbxa/W+6WrnYlV6Ym3JUM77YJfNZo
hYNkLFP5hatpFo+hnu9DTo19YAZGsgW2vN5mTgNRjzRs2jgONyLujP17Y7sJOonJOg+DMT473NUP
xeL2cOQlhhHdpne9WZ7TYrz116S56hYFzYkLwCn1DeAaQ/nJS1r9FexG+6wodvZV5d2bJTHWRNCC
E28JRjBMfI/EXV0Nig5XZ9YjvmTP3lm9pa5XowblvtpMpAju3LVVLXbIAiVtalq6ZV93T47mjt4G
TrVfmqWLgXFnjDBLa6+X7goiMnjbVKqbkK5VrL06O9t+BYGoD4LIYm5465RlctSeythr9XJexk6e
ukkbT5Rc1mYQjXGeCB7KINjrju+9H4oNSgR/syC/eFnSvsI63K1n3TR60yjxlnW4nN1G9VvCRqZt
XebTniy67707tOEOnlO9zUmAOPdMdelJMrlsssW+xVzePhGC21yDJ4XC4l5cn3PmUE1f3KCrKvUu
uLBQlw7fPP2t5VBeDKXdxVpK0vv4lK3lB/kH4zuzdwba03yZsNkpIhKCe6NckeuA27/aV1C0KPez
hglh015hyn5fkjbZUXs3Z9dbWzZmgKmS7tmXEr7XRRObsu+M4w2DSSMCnD2yprw8zpxiiLyGyiMh
2jKavIKvOC/3o1uu9yqQ9hPpDsVh7qdmR5pjRgnS9OE1YG3CR9SwMhTqWQcO/BKTffdbSGX4HXkM
6MrJ4pxJCBasx8S4JuCq3C+jGzyHTMF1fBmCno2qU9tsql6CNWXPFaKOkoosySmEcGa1JK8Sj3WS
LaG1ABk9rla4FIao6iHxRaEGlDhM4lIVm9u8n9crrNXWDgzKI9/JHGVOjhwnY5SgQv0SJKIBRz1X
x3kx70bXWreOwSFNU3rZkQC5J7G22QIFrSHxdCyRySPXF2E020u9TLtG52xHyAsji7PlKc9z52BQ
Sh0D6gsudI3zjSjRGlKlfnBkxzhhmMLs1cyNO4I31x14me9oh+0T37a1BR5eH8M83wMGXbZDL28g
gOkzewFXN23Uj9Rr6wFBVxXTkeYsnfMrW4llwa9AqnKchL7ahsDH95PRMuYMOd5THu8Dra9kR3H8
ufZ1tkck67zWhR9eA8insmqBFIhmVTtfK/YRmDtjGDzaU2fFXQJRELMGmnKraneevRwMHiByPgAM
zWVQvCNv0q8a/Dzh1ek8HwM9RM6yNneExJDaqf3Sf2SY0O3QINf0t2vg/lQ+yQEA/iegnOtudB3F
ZUwocGhpWm/7qaviFVmgOsK6uAhVFbS/qJQTXyEC1zZyfW5Nbs8VIQpSig+zat5Q1rxW8xy8o0dB
aTt79a0/qsw7Jr0S127aMf2gTex+SlXrnrypnW6MSixfS8Ma7jTozTFK9NIfTCG+up3pydhDQHA9
wST7Wrlmd+fBADn1LnNRCAXOnTvWyKBgDkUwpM17LpTiBJSt2XeN6k74iDu88EZmHZuhUicDnO21
zIf5vs2q4abPQ/4VNnREso/zKOvZoLXhaoBAk/VWa6ippgFqZi/AsPoQEcvlEJYop6KRjtcR8R+J
pB43AXC4ettT1j0j7THfmdqu2xBC+rvDCt9rEczMVlttRWNmVec6acDgG6rbzxWXoG2YlORj0Ey1
5AZlBeosg5krdAmEWc++7Wi1TZgQ73pY/q8t/v089uEnf2f8puBZJX1/P3ZV8eKsvNKGEAp1n/jG
cpovk5KqLIdvCWySQ2lZzqcWGMIpbcS7kVcNYCJ0YgYMsCfK9kcSJvOrvuBGG8GUuNdYfl8zj1IW
QKU6mKaZvZVuUH7vuo79zfYoswa5bytzPE31Gl7JgZkgMOjuCbRCcG/6QwM9VclDWBCooQtG1nPH
rLpRYA3aJTUewCfdw6PNNq5Q96q1rW/VSNiCQ2TndYlkxQK553BgmRLlDcjNNxxqE/bbNSVXt2xT
5IEtY7XIzOfkUCuj+zQjht3otjTOqVeUIC4yC66zmV7X1gi1hRAZoMdF4Z1I0NKQm+uaRg5VrLtD
k8J6lzMjJcScwUEuw5Iwbl0ISZ2cUBq7dZjnfWejR/S1t257SxfXXdo+kq4wt98yiQ+liiZUdtZ9
iu2bmSVtjdupRD681aLXhKIPpnWy1MDIyVckW5CpMF8gxYC8spee7hNjSq8z36yw85ZdUmn1hZhM
Ve6moQ/3iVQIy0p/tc8eDen7qRxoLwVLTe9scV3yqaO0s5FdRf5SlPnBGfw029HBozqul8oLzqKf
Eh3bQ7lAzCBQVx6blYbLVWentNJarNzo1CCUF5vBsoxNIQNuWRaijz0nH2hVcobVHdtpU37tpc5p
c5dejruURSs+IagfrZusRLD4QQcORSDvY8IEzgcu2TyZHLoq2TkAu8HTkKBu3bpelThsLNNYQIed
y/fJcuonRo5cRMJKPYQc1cnZd3X1IuuheuH21BOObdbulxUCpSLJOhDrjTm1dr4HhZhtUdC4N4qn
jOt5YYts089ZXm8Xbq3XabsAFkFvD/Gxl8l4N9hJ0px8W8kegShEXMNt6qum6owlCoPsUm621dzs
myCDAGRM6X0mEh8dkaJHzNLKwXk10Ok+QkXPFZ4GDtlnK/RltW/zgT0dL2NVkT2NrJHSyZL9dtTo
nlDWuE57YzFEBwPsI3Ih4MfzywPZYkwQBtvm7zcXPPCecBDmJytaxjuyX3i8vdRzp4cst6V9OyPd
5EOm7GziklbeU9KxPHdIRJY1wvmi0T+u0pJMGjN3AsI80MbLpoFiolkgsU2G5Zm7Nr10RwrbmK+9
YvRXZsG+emXgoQ9TmVXiwWuNMKoSgC6xIxJv4NzgsXoUjRNcU5Xjqk4ZQBDmMddQetH+4SJkQZhx
TvXpx0VaauKAlFsgGQ3KjLhSqPsmhUSNfw1G3ao21SyJHJFUYBvklNq/X53c9ZsoSHLv6Ey5Q1Oj
c/RdKrA5NWvTy6j21rKJvUKaI9sK7X4Sv5v5qchcnyp5JZws8kgrlzG45Nk7ro2Gbp/YNXsGUTDv
xBZZWEu5cH/GCZndjeiL3qVfqRfP1ihjp268dQlMGZHT+Ch+xTonl6SbWe+Bygv3IDw4pEeyw+bg
2A6wm6EsIxtG/yXGK3TWaG8oq+5smzhNxBBN9eJQv78u9rzehK0fIt/su5AMA9mKZ2EuZhWTcORz
NhOr+3XtdbhDKIOYUcxou6Og86f6FSx8QkFfj37+AbCZlr2V+ao8jFhb4OiNeVPvaMOM4VXKebtH
spjBBQyA4+54587XiaQPVJZGErDiF5GTYOGz+pzS1qdhXvNPNsCkJ5Q08sYaMEzRZ2DJoKP3g4vy
JU0Pkpyt8kyUhEnwQpfmAZrhtCZMguGxQ9xM7dj7ejYprAzDsu9E79fOGQEEOQnSE3Z1BA3RqBjT
o8/BnRDHsfHpxi8xWK/wPDcjrfpgMdjYJOkOSEKkOKlcOvUJ1YcATEO1sEYk+LjDxhPKJJn1Unbm
Zq0fXZk1DmA/xVNhcnHnmVO1cQS7xFavK5+SYkn4KFtEu6wWCXd+zOAhcPmYh/qwDnV5MwYytG8d
Bqg2DQlEnO8dSd1VbPguv8LAUznFXmdwDbR/rHczSLPvsGxtb+tyzbtBV2Q7m25iyhmMF6zhrIb2
yyi0M0a99iyUs6OsHunnBl/zXpZfFrvPZqKjnOrFpujseFhL52U16QVEqpmxrKQ+IUsdSqhbRIVe
wZXAn1+tpRz1ZgxprhzNXDdcrEEdsxvUdkkES1tJERVpUsDCclLzxiWw5y2ZaDzXsucBVankq8us
2cxQYFzEkflE2c0rhrWxcdykodO9ICUpg5bqFZF7fcUMc+k2oeu6N24IqydWlWlCKScwa+slSDBN
30mdTd53RsaKt4h5N2171PuGAMd5bwq0INE4ZExXIAa41RY54TLG9dTpdlvx6+iIjavyt6q2+1u4
nOx5HMIItetmTnZccOrmShVaX0HID7gn+tJfP3lu3X5bSNfGbjC69kLimlvORIs1KeVprW0SvgCf
g7WAEfKspd8hMaxb5hwLVPfp4ccUC2BzXR/NNUdp1zAEe2tHHd5MRTAsu3G2wUCZnJFMbcMufSxJ
xyKek80TCYWLFNbIVPhSuoufcx8N5EOY0zc5BoOG8pWH6fcxtPF+tSk1XZu74TGbaBdFqwzkixDJ
Om8GNVzYUmUt6HP3HHURyjN9lfR2iJhnbMK9MC4AekmXvzlMo83JkHkVQvC0aa4Sy26ScxmEtfeu
/DFb7opQ9unN4EkeXlHPq7wy56nnCaRRYp/H0i/WQ4tEdrjcn50KBrdM1k0/ADXnC6qHj6E1Usn4
zChfOlyty1nPpZ18tldv7dGYzkmFKt8a5FczN8v1xU4u1UFgacKviQoI/W1Aj6J/JJ9syTgFy21n
SRyxXouifEMHKN80HqK9CHMCZwZDlDw7YsPIuV7qTpUyRqNaZm8uID0U9bMeanVHV74Y72tiQJ5X
tbb+diSxfd6ZRJGKOOiFErfKMCqquTQHY22ey8ayH1TalLuB1uAr8Y3rtzQ3k2uxthbXXwGzO0/X
V1KVcirscXzAqd4euiUQxBfhv8aOGBxKyqXb3s6HDRYds9ugavKvKOZ4JbsjwoCprP+IwVt+I+so
ZfmESIHNLOvvmGNX33GUT4SmpnPOU7Ukm7Wa+gc8T0V41qoOzl7XewPWFa1z0uPDMNZpsrz66AAP
I/J5aYcy35TZ6n+ZySP4PCKyfjYofTc+QrKDj0FhUxip+F7nNbZN3Hf29bQUJEdPjXmbuY7wD0gr
udrqZCFEpmo7Io7aQh7YDMSBa9VAuNZatG8d+QVs4EoTQLOYZA56qs++OqtbHJB80QEIdHj2HHc+
CdQbBF8Z4WnJEDOhJfVvyAmzt6SQSlSF9ZqUG3h8rsEgJLH2NVSxxyw3PJM5VmO6UYpU6DpY3flQ
0SH8assxIxwsLG95gjpj42fIngEEjOqbdlDXMm5wLIbeU3ElXQxdyCpZhoyl8ybEo6CH3RQit9zi
jM9uV/qtKZaAkdGqSGHzulY3XULokvpxFVX2wSybzc6auLHBO4A0SEsZB+ZQZyCzp0xq0ixLd0td
25xQmBJ505foZvsKZI7JUoZdj1F2gagUAZ5Tnz2yeTaqV8OVjZ4Vi0TFcMxKXkVAcwvBdmIUsW+1
rdiuhR5eF219gDfGSKWmZ19YC0dhW24XOlpXzE+X27nLyhnA7JA/tFKLjT8A64noehYxmmBxkkTq
0Ds31FO2uMHXpdLtFU58cUczlYW/6r7ZmYIQtln0rI0wzYHTJuheYt5amFJf2cmxAgjhxMlk6J3v
dV67CXE6ZG+1MxonBm9xMA2IwYmhGfbZqkeJPsJQGzfQhRdpbsdxOYtHcw7qK5QkbcTEOvAj9lP3
YPOZMa3mon+HuHzRUSd0e70S13Lkgly9MHHAq1ECW54N7EhA4oLciV0dhriUVftlJs9oiJDbts+6
C/ybnHSHz2FHQCxeTvT9NOhfG8vQdHQlR2reDjQsMJnk2U5pGlnRUFdngZz8ZmlsLyVyxx425O99
GL49ocLHhr65SITi/0YcEVZ5gm2i1UBtGSlX2ls+dggrIh+o2dKkPRU5TanRBjVZoQz8J47cP2pz
kHYAOIBMijnbt7FD/5rAPrBfmuRtsecWPTs1ZApxXoEHf9PCZt5m1v5toW0qyz9X5vxRJPXjZeE7
e0i/TJIzwab9URLUkG0i1kUy0G4MFPN1hSGDtGQ+7e0IaBPPSENmx5+/pvWDzPMHHUsYkG1vX3AE
UNrg6fzxVYfRCyX5zsiWJ/fSzYQdyRzKZPOKXFvIYZfNWj3NiWSIiwfpiBgiKA4M/bnxAQdc5TZb
PPNtqUa8ctLITS6v/jh3r8KWwjh6Bh1zOOFkpIg3xs3U0J1wi4+6rEjzIzsElYowG+qDpbDkN5Ay
jIAQrobkf7UhhloBkvu+oK1hxPgRnZvJ6tRzwC1Xx7WkrL1vB9CLe9tUnTxkqp7UVhZ6WbalTvx+
Y0nBeK7gYtS/hYt7UZAAlWYX5aGjVQZb+SnEoUYkViGNo4mMmfxNrZGZ+960on1tvIcZmDaPFneF
Nz1rzrqMGIptRmm1cwyKy7hPXcfdFKmBr4b+HxYBdE4meXeZaYljkJtTtlnGZjl6xHRhARCC7gci
n+5klV7P3IT79Wsj877ZdKI1vtcNhM2omWff3zOxyj97ONXEPi+mQG5Jyli+VcGcm6R7zKqPyBgh
h6SAtW4BvF0viWZ0orlotmAcDLpjRmwWjuqPVS07fKFhSeM49IfhHKKc5Y2susAAjv87hU/ZYvLo
uhDMAIaAZp+id3ZAejtOvS08qWBokihGW4BIVrZvZDOkQ1RqOLlWZYY7kl7WYxcSQLX/sVD/JbHp
/5fYRh9l4J9pUWE2/s+//eV//SxEtS4/8+/YRssLf6PIDhhZB2wqF0D037GN/BEiVR9GGdsOPwT/
59+lqAZBA6GwBQZp2yOxxTP/oUU1rPA3C1WlbTqm47hc2/1/RYxqX5SO/9iAQB7gYQ8ubDaM7D6F
D+/iZzUqh7+P3cfonk2j40I14a7NtrPjnHAR9qi5Vr+/QTXT2FFtLzy5ioFL1Ay2tYddiwpsIUWk
j3OIpxCCsAFF9lTr96XkEYTP0z1nZq/h5gbdeN2N9ErXtS7/8yDo/8WU0LbF4fgny+8v//a3v/6P
S9LFX//3zyvwx4/9vgLd31D+EjRGnIQD2fBnLTSLzIJkAFmR5MPQ4q/9fQG6DqvWQbQJJAKdrHXB
YI2/I89t/zc0xJxZrBgL1Zz1L2mhL4v85+XH5fiy6OgbhIiifWTRf1x+OlDgbWBVRqKaLhe81NDr
gURCz4lVV3t7rv0jng29WFziJxwim5mDQW3SkmjHrUReibaY2prQtESEw9at6nTkqpwHA9z/jG5K
u6C23rQmyB3qOZ0FDz995P8PKTG0kIti+6dnCOKmC9qHZ9FCYU0L5JdfAvHjmJfV9KGEFUz3vOgE
UyDUkmoTaDgJsfXK2M5bFhSphsPQD/0kggnb/Z5AZ08/4wlRzt4bAEszVaaL9Jr6/WptRrvhHlgC
wERr5Tjqq2JDUahwoSbH6O6AMYvOH8i4qoTydhbe0OGxM5IQw2fltMQRpJazx2bkTbS0XDHuL8Ts
JALYbvKgej3dtWatvToOq4tvsvCIV+JRDnigrY44A/JeA6Z5BmBxUokQRmUQyxn1F4lyN33SGc+Z
t8C+AIRF0Kaktv9wgIY5EqtI0d/kVt5/Dui8WGc5L7Tqs2HmjqTpppBuUeHAmcjiy5gz5ava5oid
qk3XklKJbTW7SobUtbdVg21Jmx2VIIHfy2fDpkLazONEhOPaoxzdFUiyvBPmHL3QLynyp5xpwTb1
KniWtDsWzs+Ae8zmAknMAMbP/fyFn6baUt086Ses6p5xTzhzh4slwcAdIxIwH0iOssQ1mPB62Tly
RH8x/R/mzlu5kjTdrq/CuDazI7Uw7jVSHYmDAy2cDKAApNY6zRmDLp+AHh3SoccH6hfhStR0TBVm
bjVJg8GIju7qbuDIFP+/v73XpoNrLeYM6qdOlORVrmvRagGSNm9s2APjJmKmSvBb06pla/YiJVoJ
S5YnGlazzAd6LYVONYXRcu4VqU59Excd/tNaAo6+UPAdO2onRXttHLoezckwTqHIQPzaWOoBLk4S
8y66RK6eSjah1o4llnw14o/GRk590J4R1RJ66jBE7FXh70MeYCDP5TtSgDgEY0thpxlade4p2iCy
INFXpzfpGgyIMmWgpAsz87FHLrLcYVBhq1MpFj1EBRk1O1Mr9n9agKa2o19wQtJF962fxjhPPkq6
obDrkvOS3kqtmc5GFy20CQ6lMJE+pGheqk2+JBKCI4TqtstNZO05nr227ekGbjinIrrBtTC6q7R0
fJXLpJftUhY7zqRsERc3ToMKRg0dgfLl0gC12oeTxIOpcDQYpjRzwXlfx4TWevJFOseFOSx6cCgn
0LQOupEp+Z/iWWHVooRKNg7CDfFUU92ZgsTJRjR9YXmV5zwo8272Fzg8pzOQ8pSI1PdTsevgFUV2
kgw8RKVBxXieyKmp24hKOIJpJbwiFMAOV27+BlYp4waJwjMJgChS4E7gc7TIsu4nClYn1Y3xEEkY
hKbqyWxBGl5m9JvRwvp5uGJBDLTHXur50kElcWn4ftA1Y5RbPtFMcXDllrHTMUI64uzQkQ2cpDVf
DDUcNFf99K7DNdAeqWVci37VEZ95OGN0J+jUXvGZEA2N2S8/YVoALria43VpFGo7Y17wOgkjem4R
lG/JaqqHH5UcotVoj9Km7ajq5lT+3DiGJntI4uYfIfgwd/ncYOrrXpN2YgM77uc2NPnckg6f29NF
BKRSJIH4QHIZqyGuey9Zd7TTurct2f7dWYMJ8aSgh/l5ZGV7yGbcC878uTnu131yX5Cga9a9M5FY
dtHrfpopPVvrfN1lK58b7jkxlW0I8cawJ2BSdxn787XaQeKbimPSbsDHOqiwI6gIi0dgnxwa5P4q
bSWK9uwJCYbjm3blT5GAqgEEA1beiAfzqiNUkjFfp2UjRK68ig26lCM7mBXfwSpF9Kso0a7yxLwK
FeanZlGt8kWoIWQw4kXT0Fd5Y1mFjpAJrWeu4oeVdXcpUtZplucPcRVIzO9ayaduQooeDWXIy+AB
if2mX5pw161SC+8+cwez75/AG6zaNZJMajFmqlaZBnIEQedP7cZYZRy2Niqmw1XbESYM5OWn4gOB
lDMXVyVKEHWmGDVWeagv55zG3BJARxVYOgXQq5QkfqpK4COiy/FTaxrruvG1kPEc14tVjYq4J9Br
SG/yETJLGDnmql/RIImUtXzKWjgdg5dysZStlBfyM0OKMrJVwahf409tLAjE+aYGk7AR47AW7EyT
MRoZn5qapSayBx1fPy1Zlu5E9ukbriT9MceY4KB7h3sAKfU2K4zleZiLDsqf3Odo5quoF4roe9wa
sROldRfT+If+R4NcQ08io1K7MwuaGdC+EQuznOCEjUAdpfbUUfsq4Ep/16PhA5ZgcxFmSI/dKkLO
qxxpiqnxTKPyGLtqW712xVgA0ZnxRkI/x4MfGoPkxhwXPFVqGYfkU/gETFNfq6sayoAFYbSxxuqd
XEX7gZGxPnOFrxlyce6dUE26b5LUGTc9ornbfMqu5arA9oW6VKCqyTQqgWxeMfg0XvJmrq9gdsfX
XDDph1nV3VQatUNnRhJXm4rUwqoCg3yRHnpWXL7ctt3Vilp2qrnDKybOpZvrVTg8dUHMMKmiZa89
0U663C55pQCDSWml97qW7uptqmia9VSyqGSHmgkJfbmpRFpawg3PBCoZ5ouoDPQnYtec7PKC/Xyh
qm/0BFWicsEKoRyhMKgUfYxVe282Ovd+LgfQMWJ0b+4nAXaxKO5kv4gQHBwZ/bPnTstBZBd6QY8N
xqcJZ0gspA+pjrzv0/0xHFStGAy3wj2xIR8Cz4XkLQ6rsi478WouzZYxXo5mnITlfom4uNsa+TPd
ySQ9WzYRWzj8tPLM4NxiMYbsNvEdmHdQPYiTmvDbxcTOjHK1CiWa+SjXvGgKD7VEc3NtQmkJZDXM
sG4PUeuxCEpdmivX+4yE2OqCmRPeZaPHqjyaYQx9IJuBf2uCDMOdOIw/TkG4OFE1kHht5oprtyQY
qD4iBljssq3VH5EvenTxoGl7t60Rba5HI5ZaSmJxsgBoaBjc5rqECZWJi/TcK8Y8nXv0ApwQqlpt
yOzpAvcAcYAyOw515DXLUPVnvOq4uWjKxvda0SrW7UOtx68GHV1JjwA22sd4Vqsr7sjmsMfoXOLO
Y9UBtiCLuXPNTVW99Qwts43IkFfegPjrYbVOCrpjRhBtqyTQOjbJgKVFjSyjcoYFwxkEAY3UQ6uI
rFoZm+jSFfVqDJFjaxjO2mjk6C94WRg+p9Yhr3rL9GQWeK3bF6O4ndd9BxeTWD/MQbWO3tMp2SpB
mFx/H1OqlQpQqqpOep5IIIlauTb2kkJM0Tb0hVGjVYFC45CEIOALwZQcxrRUDjlkBHUj4p5N0XTb
VD2URAgaj8gNatda1EpQgXXGk0EtJx3ZqM+nNZimOQSdr4Bb5QkEAdHC/lmJLDqmQYHpFQgsxUgp
UKLmmOnMyZ6xdfPYz7BYX1gGvDRF2N2Qa1vdtm2TXjRSr9NyZ7T+LESzgxdhir0p0YUTRXfVsyWF
wFySKOP3MZrB+LRU6qPsuBuS1E4R19FY4XDJ7PJjevyiFtDrlhIeZKYRd4HJlGxkTgRPu65J+oWy
Qhm8JhzFIjFrd+k1Qdqz8el0p4Jrem9hZAZLYRXm45g3oRtr6oxoHcXmfa2IERmylmsPeEGr2iVD
pOzlyjQrClzwmjiNXvAyI6WU700sC1CRJz7/WelAAhl9Yhx1hseNF4q9eqd0afmkZhUe185KntVY
YTGPBXB6w91dX5l1ydg/oGlG3fX4uHaFrIBRFumySR2tZzoeYG8HJPK5CYgyaZKP+JnuE/qeAg9y
OvGBYRlL3E7mSEkLtjpiF0MQjBp+uuBD0cb4wIhv2nH/N3cS/YlHqy1KEDhC1lduDuFWcXtLECls
tnpCJ4usLA+R1Cz3vTT3YJT1frkxhsZogZDgBMi0NH6jAZEOwhqb4BlDrYm3g5JwB/ESwIPUKLJT
qkO7beSwuWH5DXKA0x+f0xhvKxzXkGTKMLH54NMLANoljnsCfJVhRDvMwW+a3lU2k9xpx0mH54r4
1GBTxpHzJXeCvo3iIPUFs4qu1FhL3hs1Vz96EqrXuRU39A9G1k04B6FncH91ZQOfpYMrE7qH2BTG
GZj++E4zthDZFVuWx475YuWUOJipewRLx9SpmY0nqSkVYBetONvCuv8yR0nn30uzni8H2YocmfpB
38Q1zcwuI/qXTQM5I+Amw3aQ1WI/k6TAFJAgO7GnNDPD6JxACQVogeJ0Fll5bBKreYjhttxJgqwf
5EblYiEq8nbJpy2rt/lSFWr5UavGarGB2UcHiTCU4rE4aTb6LBdnWVAA2HC0Y/SY1KnHfJu1PkVW
w92UScbGCFnA13AJKPoaLttOxsUdtIp1ZEb/Vk4SDqIUJgmnqLXA/ijiZNsNC+dIEPY4iqxYNvcx
4dodd5/3aAzDN/qXhu0cSYpnclGFgFEK+lFMjEaBSKHHpdPRuEuDAGCVa66S2UWOgcMjB2Bxiag4
OrnX04ttKzD7fKq1dRoPLHwIbZiQ2ZBY2qIBOjkbP6dOhuacx9iGI2UcLsYle9c6fmsg1rVrdCWD
syYwxQ90Bz9KrmLnE/J3Ex+GFxukhKxsrT3TwhImaNLkg7aJ0qI7qYyJr4ogSDcEE4R9I4Rh5rWY
122BKAodWUMoagDi6opMn7UofobzHI9mm0VOYpbJXuyC4Qqi0csSVtOe5UW3TUEAH7MeWhvaqnop
5212P+TRUHto5TH3Zm70D2MyzRvsZy3LC0BV6IxWPPpKFnMscXzuAlotYLMVo/WqFnF5DQ6r48tX
gsGumijrDtj4wIqMcS1aTJWT4SNrajYuEqsarpOkCu2mwlw+Cvr8aoxqdtni8+z3WNqGc2sInESR
vHC5Z1jcvIkTlfK2mHYLi9lOeWg69oRqAwtrQ+hleg3SgsIuqgM0zl6whQLjCjYoHMaAUYwGSoo9
TnF/g11a2DF+JXQXiVrgUNoH/Gxg2+RVShFRaUz6068D+Umta/q+E+Jx0P06HzslUMVJEJ7FSTQ2
8kD+QEqS6cC0JNxN7D8wVgmVxxpl7a9PusE2UynY1XPE3kDqihnAiSLdTR2IDYfrAn3hesdrnnRJ
eqgo2escJq0TcpSVnsOprJ+1sNDxOVFgfjtPwW3Tht1lNulGsxsbgROHAE6f3DbFkGu2AQ1trZpN
xnOsDkJwOWuDuTKArXvK7hrIauKI4z5MF38itA0ZrRNnvIpJds16kEzXqMi1DTG+eU3pdn7p07BB
MauHb9PYpY0LKNibYyHbDHQ+bFh5CiYBq1HdT0NdMcUbhBM3QPpcJNKOEeg+ZsdDyRZsGeULma1/
uRFQC3cjtvFdySbpKh+ITRmZubhGOGevCxjj2eHWa+2kKD+kCsh9wFrRViLDtJv6JdrijeT2x2K9
dwq9N9+bUcTNoxls2txuzXk6gy5gEJ5EfbkylqF/JGI6b8tebrvzjAfVL6PumdtxfpOYxeSZaZ6d
8zna9bzbTS9AfLFx0PXvKqlADcpYt4hEXwg7exTdCjhAtfqR6nKQpHLulei3zqQY8WMMwe66aeAj
4lSTEdDE+MlKwSwJYY9eaAg3ZUBFMN6efN6yZrbIvSrCSo2LMdQIpFiOQ7+kO7aTBTygQH8W6Kej
PU2JLhK+pa5kMOB2ejAQYwCtvkPr6YgzyvOuj1ThuoXcuGPNo3EqKNd4Kfs9ol/oRNym/EbAuR6o
3XwsY0OIAMN2OJItclkEZE1MXY6h9fFJBM79FPSs7KgoawJAlEJ5oE1lQpurimdo0azhsvlDwtVH
GDGL7+VM6VlYAUXsqH7dT1bUXBAx1U8Ecu4WotnQvIo3gwz3rda2nEFtjjkZtqOtjlN736lFFB+h
HXT3raoJ+xr605NZiCs3U0lL+ZywjpieC80MEWGNNYTfBX3Su+yHdOSuMQ5xjxGP4j0i9RHQjpcc
MdXIuPO4jEbaWwPH5mCTRhnpAF6VoECNxXoTKQPCZY2JEO9nV4pUHGeCeDfXKlBL6uAxmESDehAK
kR9gY6+fcejnxHEiAq16wcyTSWEZagRngNbQy1cPuYvrpgYZ1pEGdoFNrF1RsLJiT5ukqcIuQeOy
W3cNl5lJNdh08Z2aiE80uQx/QnD4Z4o5gBBtbQ5gWqGvHoAfGCh1SXJUVqx3Zmbz3sx7UdvOEItS
Z8a+7qglMH4E/WY+GSn29V8L9v8wclB05mqKDgJEFw2TAcZPz23qA3Q3OOtmSe4JqGG/CWcpcRdE
V0qQ635LXLC/FoJUBV7QC+KfoEf+ceRBO7jCKyCVy41LV7+898jQImHSUZIXUYoi2moKAwERk+P8
LchVbbitPnEakWjxFUyYSF6TJFFbshKom97Y9OgzrPnrxMWqOqU7+qXn7NCXYSBvtEjGqKimqzO6
XPA5rLFzRTj++hP8CnfBuA64BIaKSeM9/1C/DDwE8g+I2SpeLylI9Q3tzujgQlHI+JcH1DmvI1aR
sVRKmelEhckwhuTjOqoRpvGeJpM83yyNMA2u9Dm1EWpBz/6sCAr+z89TGSg/MF40Vj0cY7zOn79n
ReFiawT4JHSyUcMmUAS9PORDyOvixn1FBXX8bhHcqZyEIq7X71Mkq7TYyMl1iHM1SsIYucfAm4l8
qC3Wn5wE6zDvp1dowuTB8mECyiGAgFPn51eIsB1VAT4qrPP0fF1/P+lauQV3Ia3GsxPXDa31Capr
A35geCu7cGqX7GQV0TQBGpg7id3xlLJ8yMCfr4AdhSOFYMtaYhnXyhhip8Cv933iSmF0+F7+k5mX
sn52P068eMF863h24cWsDPsv+JUqwbVqRXVqyyBV1K2Szpn5nIV1NXjCzIn9kmP1znAYRWpKvZkc
SpB26Ns9hVByowO4oFDbAu8ImGPJUUyfSsGezMUkDrIVezYXzWSdBqEERJozdrO8ekIx2VtwrPFM
tEmq+tAZhmm1wRJ/M8jWbAQT6hcPmAsf7JiSayboaK34iZF0J8rYX6poNMerEXvzrTUpGl2XXVeV
f3J2fOXrrykTBvqmCt7H4k/alxMcV6OUGwx1wApFU3QSYpOtTd/FS+DErJlKD7CQqly0DYgLrwF9
Ox8WSw/T/XcnDhlv4xL1vyVqVzCixfijqdWWi2iaHER9hi+S6yKZSCa78urD6xndmHnIw1B+VmKn
NQrRGl2z6RPzpSICv+xQXZJHBH5xvv31peDniymuKZ2EBi6h9WAQ1e/+ph8u5H93i+WrEYwVdEjz
L+awXMyrvb4axkJyaKwlVhvZ/Oko+/ULkH8+zXkFfMi4xzURvwHGpK/9cks0aXOBCdbGFduSAgwl
lUXkYqIpfB/p8DEb6s4CU/gYCyXFqEDH1ysrdMBvWqQRO88qLVZdGXEWczzsYyQP4mXPRcJNkN1n
EOyEYQxqD9yYutH6NKvcms0ueRGNsPCAMyIQPE1FqNz8yZv7+vEyYVcwjawZGdA+2JB/vkJokR6K
gd69sTOpL1BaChB7n+EDFALrgl0ktONYMpR9gOf1pRIL5ETDaNLAo4YjUEgDA4G3SxooLmeUURcT
bHIjT1M3M1OStBurn5OD3hdcU3D+wl1melM0rihCkYwnk1q8heYrx5yVBF9SQXoQLQ/KZ25VzbUa
sBlyfv2Ov9T3UUnBXlTksmLgbFk7Eb9cWTKBXAlsxrfuM06i4BBlDwGNnHUzrgTKAZCeBp9jrLzI
BvzDG61Ed2VNzramq5Vo+hM34pfh/vqCQGHhCpQZ79OFZXxZLuSqGnOfAefTjdzOd2VfCTdJYhUG
cBYJivxEyvduqAeJSW4HUd0btdkMjpZV4NvWwN/01DXUSDNSqFkfBYxpkuS5qJ8MJVUkv6/S/KOJ
yc0ctKrOL8jE1NmNOJoT+6t1wMmFpnqSq1a71Xr0envGnctud/2vAmh4xHpxEAxy+sCR3VAw08wn
vcwBXuJ2t8WhZfum0etBZKbKWSxi6m8rBy5jEDoBgaJ4g+2/5YgeCtS6jEV5xEOOKtBrriLdo0UD
emBnnxNIOVeVcFsYPa1Ouir5JmN/NpJk7QOvNNfGGiEFHObh2KtLtzByS90Vc7KO2gU5PdILJd21
lFL3QJPZ+9hp0hAcG3LrIhMJQjuFTETNU7qc5atGbh8OGZ8uNCSpZ9z0eaT9P7O0rU/0DXUUM3zU
tf/2yVXk7um+dC8//QuQrLibr/r3Zr5+b/us+wMduP7k/+7//A/vn49yO1fv//ov38q+6NZHC+Oy
+NH3Awvhh7Ntffy//d7pJef3fv/rf/n9L//997/8t3/4ne9eIZKueHuohLH0PzCHfzOrrf+HWQe3
GEMUQbqvDbN/86rJ8m+yRBni2j3JbFBWuUT9YRWSf1vNMqoISE6HpoG59Y/3/rc1Bh/bv7vm+ELO
E3gWrgmgOb5cA8N0ArHKmPBgDKoXWCcU+LtJuRjDuLPHc6B58hg8wPkcD11xTC3l6YfP6J+tddbH
//ta5+/Py3v+cY8iRiriXlsOh2H26bbMJM7K8lSgLEbmVqxl5xJ/7kvAzYD0odsaE3v/vSB6vXpd
d9uMH8BOgbbwzglr9xmJZlARpX454t3Hk73FbLsx0ydmCGkRHnoWPvP0+uvXjpXw33nxXy6jKC0D
c6xoOKTxbhLfIUtl8TMKowqHOime1tx09a2QPozpNHyT0H/Bso9nMSHiOZ2s+TxCtjWyk/AU49tF
fyiI7W4X+SjJx4uOjXB+Y6R3KdOnJvdlZT8E9hgycQ29aV8+1x/Eflx4gdGu3Lbb4qJ4BpeLFOaL
bu03m3kbeEAkXIxaHoAUV7C1I4UoNkQvz3RJfDiJm3rFpWC/gry2Wy9I7eiYHOF+darH2JstiWPI
vpzdyuNpirZJvQukJ706ZdldMdFP4BnKXQrueRS9MXuwMKGkXIcB/zG3p1DKaYdLsfLN0B8Ud872
zy0N6/u0trX4Ej9SfQ3432i3zETI9q/gsVakfP3UzZabEs/hJ5SrdL6sM6Z2jqFvs+aWJxyQ+xvJ
lVrmIQHy6F6t6X0+qd19XewJySvaVqq2+qoWbafhXPewemHAbMRhpwxvK7tBFvBXMoP2U/6aK1ub
ryOCsRZW7dTOt6LqVa+R29+1ykZLr6PlQrvINB8IAYAZy9WuAfpyDa48ErjdPZIKPVs2t3q1ubQa
qFm+tC8ZN9YxUwYC308jRBgoHcOL+k381it2R+yDeKluTnjvBULX9HBgL3ak68lwArrpKzIW38rg
0nxVo+yp2LR8sK2+E6bteBM/TjJlPpb0MJK1FsNTG6Dl3bZ57bCGgDBWuyzBnJSvXbiIe1diM5YG
FBy8EFLFGNVsMs3lc8J9CjCKmJ5uK4YbZVvFOBSFS/iPv0E1Sny6EkA+zvc96SolPSG0dNZ9iyDq
y/7gtTvFy/bZnbWV95pv+ZovekBHAkdUN+lrEZ9+fYp9ygX/cHkAqrou3X5Y+aKI5rgbrP6Ajegc
7Ou9tI0ulZN2oeyL03Qq9sWFdM7/pHj2s734nz3bKqj88GzJ1CiqmPJsZP3u61Nznm7K5+gm3ODa
OzWn/Gm+KbzmwjyV/7fP+GUXg3EA9xKdsgfpUtwHe/1+2SFLXaYX+tG81PYsGI/6Vn4wT8qfbClY
YP287P3bJZfP9MtaayDaL02S1h+Uy7p2wCQx5G5bW3qwTvF+2un77BZTfcSK+37eS7t6q3uLn245
BfaN3+/5b37jKrt2z/zwm+IPx+bcXVZ+fCjO62Is87N2GwUXWBomyRaIBVV26NYSYp8PZy2UvTB1
BNreRKajDrMlrHKR7NJfRIZCvoBj2r9KEH2uYlrpZBsrZj27sJQST/J0/CwOLQTHU+lfGe1mSnGR
7TQsa480C2yQ9uvp2A1XYuOItV91G03fSu2eDt3xELRHstSGAibGnj/mwmXB1N4zw5w/phxspJ1Q
Bfih0x5EB9ImvxIvYOZRJWC+1Nf1yTrcEsoDNY6JVnKo0kovum2LWyWz+8cmtAE0ETnzcyRE4js8
5Y4nuMRCwTzYw7tt4mTbqIkLXxbPBaFlowNU5ZsQ5PJ9X78D4rDL6sN6TNtvWfXUKfcyVi9x1xhb
oijTN/kCLM4TMQctcSVyGJtc31fhFvhj846scqHs4o9Ws1UApd/C1+VpNLAOuhPDj1dmdlf3cc1F
6zClmDIxkroNjcI6djIXmFsTQNfZwo7nD1XncUC0H2TBl2/xafbibbit75X6ylLX+wgsx8y2tu1h
JuJojw/6tXhNn+MuulUegZDZsR9xSmYX5ZZhMydR5741juzqPtiiS+vMpy+NXB59C5dQjaPWz2S3
4tqLOrNT3MxPN8VWu2g8+HTO4mO8pIbNMT1EWi89lbUjOtVx8CffuhQ/ovMhdBO7cTBj2AyNeXri
brvssfasS7L0GQefLblEO1RvvOCmtzO8wGcguuctVjvLhu8GeCx2uXMzUn2YL6VT+Nymm866CtfS
o/uW8yC8LSJcl1lpi7ozF6/iu3Wor6un5omDoOav1FOTTbO4Tbs1LUf1ODw1r8ltNuUfok/VYHyX
HXRBwCoJE2jT3dIE4USXEnyk8k5jbAfbLtmw6aK6RbrGh2VmvnIlnk24dcW1ZvrKtbgTrpqX5KRd
1Y/S1XxpHgWPK7SnHGWvdtBz3c5GW7VvdSfcltfCo+Frx/XDFJzICfbP3Q58Kb9RO4Vb+JGfXhhO
ZT9hu/P7W3w7m8ibt7X/NDnfmIX48zF9S8i3PXUv8Tk7BTf9Iy23E28JrsE53bPjWR9NtaU9plYn
cCMH1JH6kiobAqNJ4US1C1uTYYn0KmFudEU4hLaqH5hnweaE1qpwejrqwvICw/Y1x93EPTj2YLiI
HF625Rf+cOBsU9/wjZWP+EuM4mDqtEzQ6k4RIl47W/fbm+pCD9hub5gg5q6wKY+cicsmh3zlURZh
Y7f0hFN4FQv35bPhd8chBiPv5BAgP2jrxdE4c+DLF8KwaRVfnJxY8Se65UgSUy3yDB1lq+4VP2G1
pO+kB+lB2apet1M129xk7Y595WnZ9af6pO/ze+EAnPhq+Aa0dmq2xEqb2uWMbLF8cCTX+Jjt5FuC
ceFKpt4KSHEJHmxTm1iQyKI5EHbZWsbWEfAlgacRb9F0Rc1D0x6W7owpZMFgK7c22Xojc8noBfNp
mr1lAxd2ZJr7UNwAbDt0xzbdl9W9LD1VxquVPuvCg/EYLuka393CrghiMYJaZLe34fwhkDJJvOQu
u4KCcdsS/jLIjXe06Zm2DCyD17FNLkiOsUCNmE+aHqSpDONKZkdvwuNwO5ythyGrcuaD9XMpt0fD
8nWqmoVUznkzfPGpXb8z3H4yruWzeJ4vqby0CZV2sFS+dS/hU3c9XIWP9UjVUbcR8dDLU+1MFXwA
1oSy19c4C/EfxM9IyuBtwC/gKLe7yCnjO7XZRekuKyDTlXZzXQA/627M9+6NqSar5hgM4nDsT92l
+qTfsMjp50dV0Hf4ptFw5Z3ESHnmGjGRH32J48th2ITDjobSLPTVaxy5wWEotiRxqhvzXhxe0/Zt
lnbCY37fPapX9H4hDUBqbFm97XXKsl7l3lUM6kKY+vIRQtmInGq4B6sVFH5cgbfhM2T1WcGdGKZj
xVI41MMLq31TLEcjt1y51egRcK6VHRbtbPDKmhKYB9U1LrTRXWYbd67ARVZz6nijW9c5buvgoHTn
WvIrhQj6hp1Rc2D1zKheP6pb0uM3WMHJwd9DxOwpCKsdgM7FjOXQHWjeq1jqQahBCHYmFqKrsf0g
pn6B80H1puEOpN2ywav/xN2NtxYcVde6Cr6FbyRHNaYO91VxnvMnXaQTsfczEsXzblB9eL6FQXTc
G8ONSMQWmi8XCLzv76SfonajSdeLdaV1ByCVXOf4TpOPYbbTs3zsrmaOvWobNS8Knh0wheorHRSk
S3Rt15p79nZScxeD2K/yDtjbFj92BmyhcumlYKClSQclOUzZqxSBq5C5PcPVLnTqN+7zqQUo+RYH
t9w2DRYwtMBfzvdcG68McE2c9cJB6U9af0qvMO1epy/aZfWolM/Z41DZ5UN8U14qd2uziNTdQ7fA
/uNO19LzmWuSR7HsXeyWtVfhn6VuxYkmTrNtAX+AuxNdhYU9t65qbc2xc0CrBEAFZ5ygSXEIJQkJ
aXDEHR74ZbN46bkBET5v59ewvJJvNMvLh9V6BGmsuO1vIh6NIucH6UK8rSmKtyuw17PHrmPC6cEY
5Wr8poBkwZxc2XXsDdkOEjG91z4HZPqt9LRj0jvqg3Fr+u05o8RtUwYusuzc2elN92wid4qA6YDQ
AUC6bapDrAJVJWHj9W7abpNt7tavKojuO1owzUN/U1xl73CDpguOcLCEEFT4A77fj+Q4PeHmxWqk
30XH9CE4lVTQAL/SHCkEzmUvb/UDjtK126taFzbQLWpyEApBWNgWduOL13zNpugw9fqP8WzWSRmk
wyEOsCdBSsSXqWx1M7kSHikfuotMvOV2+s6QfC1BF09JeyHoWIf2Ddultr2XJ6AJdgW+dyBxX1Bi
tsqwm6oRMKA9SfUL5ZwecISLTCU2ARpSehybxpvKj88Nzf+RLnZ6GeLio/zaFfKj4vVvm/dylZXa
rz/0/6EutgayfpGi++t/Jj/3+1/+x2etyH/6/S//8/e//tcfJbL1178rZJb8m2YZqmwwQpYYXeto
ReN72/3rv5jmb6JsMs410MJkcDZsXf5QyPTfdMqjsTYgyipE29lJ/aGQSb9JpO9gP8mwfD9znl8U
sV8pZOvu6O97Q4MJIj3SPPUqVPNKpC9C2ToBgg9txVvAFarfTnOyCSPFQIIqsg04K9X/4WP6J8rY
ugP88fnQAhWRKb7BQBuTI/LeT3vSQpHSlsLqcDsH5sSVtA1u1QFI5LwMycVsRuIRzldg//pJf548
ogDypKiKZBrJrULG/jJ6lltzJFakglyqcaK2WYqgQVqQltEs/ZP39/Mu9POpcCesU04VVVT/Olkq
hmZeKl2Ot3NPfsFaVAHLxnrBpzHMbxjK4RBjp/f5p8gUx7tfv9MvT2/yJskSIngCVCLP9HU6rKX4
hjPNbLiNwAcYs1zxKUcQznLUQmKrSzqETQosTkls1q9Qx9rvAvm/L7h++ah5ATRCa5+y6zruV79o
iOk4IOzrUr0NMB1t53SS7/pWiJ/TgWrlaI6X0Ub+Vw8VDvWQNk/2iwUb3nCSwbQOXSvdGHo/bUyp
Hx9HalZD99cf0Jfj/fP1yZw4FiQEhTnNl9cXl3SNdJlYb2sz6u2Mok5WtZO+NbNhYqVYCOdfP9/X
2dT6hKYmmngJ1jytqn054LFtmR0ukRYoPE8LQ6WXWfUBhzc9MSjV66isk2sIxG4qRoGXm3IX2Glv
zMeJgovO+/WrIef90+lnUuojrgYSg5NAosnky6vJexwBQh/AYZTXqXm1dlPZgyG3+xrLzYSnKEqO
Q2WVj3Ffvelx0W3aldDYQrZgpRqY0bVCqcWzWsqsNpWpCRunADB3H3ag6Zs5mlBHKkOinYxBKi2d
Jicc0Lv4mBe1sKN0guJdOcxkHxNdcIFnUnz+9VtU1m/whyvM51vEKEOs9vM8/HoG0h0glXERg6Go
RsZYEO5axWVkP91lDY5n6NnTPa0piWjPvWSdoMCnfk0CGK6z2gJA1rodw6v2dZA04bx0U3ZDUFZ8
nqxZ30KXhUmTSmTv/hdzZ7Jbt7Jm6SdiggwyIsjp7rWlrcZqbGtCSLbFvu85zJzkc9SoUK+VL1If
nTk43leQyrMCDoxzcY9FkQxG8/9rfauQ/gU81vinTXjhuphb8dJBPwHMSQDKcrbpbUQrjVmvmnxu
TgOqwO0S/HL/8e2edbL/+261VAAzmOL0eTDU0mNOXIPDACAndiWdk6ybSRrrj69y/tUwbCyS5ZHE
2AoqmTqrW7oy0d3IW4CSVAffjEVqQfrCRV/P8pebmOPfzdfLTVmmRC/CREZa0G/+wD8Kl3psgGLU
XA58aXBKiujIL4alwkb88/GNvfM9/G432Sy2fBVimc7+caVsJF/HJqXjMPRBcEoxEDzGykzvZ6Nq
jp0dpfeZFUZfPr7o+SS93B47AfYCFkHtpjh7mrZHX4y2fHZA4BC8gj5x3a1OKr7EWEJSh9ek7Kff
ur6kTfmIaml89kLPp+nlV5D8EnoREwHOWV74P+4baabGj5qUh7rQBqYLs2DcdHk0IYHO/E+UP++M
Ht6kyyv1lCAi6uxivR2HbYvs9lAaOr3H6cNMC5lyX7DbWCGobn98/HzPCt56GT9IIIQlmOoYtuKs
8F1IM44qLyvouBEwvHZ6LWHeAEfk1IY+kfIoAfe3lg5yiCkx6cJ+4ZJQRHJfTqMGWM5FgWPwlPtR
89qpunvNRNk7K9oqJAtGyrhCdlp+//iXfveN0PGEqsDgN89XbpGpRInQLQ9ThAIzMdiZAEjNL73A
qT4plr836JWrPEQKFvdxHicGqaZqKm6J7VDtnyzRWKcOd8gR15h7dOwkv0RJqg5/fX82r0Pg1II1
q/9F4DQ4VSJyIz+Mdu7sCJ/1CXpsiAzGnvqJmOqd7wvIiScRhHgYLZ3z1x9OYIemsjj47UDSdqbi
+CqzZ3dLckhz17XWdCEQcQUoLQp5NSCD+mTAv/Muba7u0Y1YwFDe2X6zM4mIMnSbHzIn6FZZyx1a
U0kVNyq8T1pJy72crXa2skgHpMGul1X9zw+ZDbpaJsvsADS0OY653RxxW7A2u+ZsPwWi0fHGhZ58
RPf22St95zmD27IE0k7co+i5/rx2hWxkloMqDzgh+j2ky+hLWE2koYw69U/xTAbtKhoEosOpRg7B
qZjd1sej6r2hjLkAoSZsEXAaZ696bly/711ZHpzQpAEglLoYWt/cFhHMpwC10gpb62d7undeLzOm
FOwwPNTA+mwT5RIOiAqbyTOIHe/aN3p2dMAQ0MlERBPuPr7D5SGevWALFYQGuoKwmVPanw+55ISE
3totDhV7tesoqx8BSHx2R+9cBD0mYxUSCWAfcbYrzjy7lnMWMiNAkUV1VBrUMiA2JH+/sAuiMpma
QbCTKXn25NJm7o3SGMrDqCrnKYkaGnVlSaW6T+y8/GRsvPNpoBpl5+1oj3P0+VGkLgYwW2NbH9ih
i32GWlrgamJHOys3uwzRD9+S99FHa4w6L3/90pBqS08uNwvB6WyFN2JWKCLa6kOaKGNT986rAdRj
+/FF3hn7vwXpEgwU2tHzNRyrIGldps4OlSEZhjObBmSk9Oogre2apBrwYeBC/WTz8s5izre+yCcX
yA8Auj/HI4L7MZxIIj4Ybe485clk3LrzWD24dhEffsNgPr7LpXBy/gGg0nRtYD9ARNgO/nnBAKQQ
iVSqOMQAzQh5niCdruLICN/4GPQjE4OHAsLzhse5dP1bD98WySxR0ferQMbVWwnm7B6KBaeAOp/0
nlxT291MQ/gqnYi9fyLbwV6zLQAK68JB3doh1rqC5sQDG5fy68e3887cQYKriXybtZf6zdmEZSuz
wSBCJRWSOS2UMlX2Rle+8bUFn3Dz19daJkYWBjhN8PyX3+UfmzwtgEpMImFzi3MAVskwA943mr23
1CL+/lIY2JmfIDKxcz9bhiaT/Dq4E+nhd8WD3gzVYoKyNviW48PHlzpTwC+7O8TjwL4tZnxls4v5
87YyEkIHE+v0IR0DTtStsgfqBarcW3VqPuetmAGZ1LKYb9p0YvHpJlf9NMMEVLSBNRkbqyNuJ0gv
VxCMs0eHBKZ+yyshJqYwitePf1uxTGl/zt8OcxA7bcp1THrq7CVUztRIfJrVAVt0cFkOdvmS6tS4
Kgltw06MU+q1M8P6oZVVMKww1hnrohbzHQma1Q22bZqrhDbc1YT2gfLlLFKkXb8JVdsgle5dsiVy
gNARDTb8VdnloODrf3wLHLj+nEqpF7CVEujDpekJyVM/m8/ipu6TRKRkVBESsRb4Sb77QlAyN8uc
bplTVwh9+kZlrwP7AR55Ah2YqPtq6NdU9kB7VKPrRmsXBHK0jUs8sovtMgQU5RrOU+hGBu13RxTe
uiiUzvaRJh6RmF02LiNxmuPBK1Pb35Hbbri72I+DaaumpH4JHbeMtolZElHEwW3JcltiQ1duQaqr
oclwCvNjBQ70NDmjfwr6ugrXUgbiBqHbnNExB5pF8Dln9n01tMUrrY7YQKGlcH9pLF3uBP0e94w+
+iQzPVoO9kcA/NVqdojGM6oRQIPVbMcKRvfaJ6TmnmBi4yd8DHxlLRDKX7qZv8DXfzOtQmyaSc/b
ECFJNCHMWZcqALbvd/OLOdbGhYxB+uJT19epMGbuvy8f5Fz/9HwdnezSMw8UFBr6yFQfH0O8CMid
UhJhhNf0p8oldnCfWrN74efknIFISw/CmHgdQ+4ThF5M0TcQ6TR0CzNCvSdHLA+iKbeu1zogIZJo
aq9klHoPmED8mzxtUsarQwdVQKEp12Vbyl2LqHje4lxFtAF6myQj3benImV1pfrg9y9eBUJ21/c0
6MZyeG6KUb4yEApkcTKbvtejQxA9EHTYXeyh9h1hoylgTUWc6NDEX9g1py1Fmf47c2f2wxpbEnhM
ZV+lWVo+wQokWUd27UnlHlmfiUhK3tEQvmSOf9/o/snL0mygQQM5ZgfHBTpPbFjjTTNkehWPKW2f
eZphFThe46HQiMgACk2zWY9TlNCGFs4aSjsUtCpvriJW8K+RSshHqv3o6LZ+cWHYOSoIwolOE6EL
DlGNrftd4bm5mCHIrxODxkw49N90SZCOyozwGNuStn8vd/BY7UOG7X3D6nDvjMWLhh1yyFkJ7lsS
SB5krO3DQmdadSTDgSDDLH2Nz81J4M7AumpwvpNlU4lXjizNXWjTcZ16JzlSyhMXQaViDOyWsZ05
yV6ZfriFUPEw+whnumhoj9RraTMqA94PgR4k0xBeuSV0SkFR82c60MlIrypWHgBgbCCkpliVAlYd
u0BGwbTGq6DtO1it5lhitNQpJygX1oy/dj3yBVjE9lZruK9jFSUcdRwXT2EI+mj05brMQ7KXZjfb
JHMaXHVzZeI5CPtTGNo2tvcoRYcOQfZinq2J/nVlupe2I0ioiGCmWL10n/shZrLO3W6Tlx2ABMa4
dZHVcUl/sreNJ3cKT+3sz19rcnD2xP5Yv6IqzN98ki4eDVMVr3N158MuZp1n5txbHoIlv3TimxGm
8pUGVr/kUbeRXnPiKdZSVfxvDY9HDlm5d6OhvIY/bL5iDx8PqGjG4zAb5pfGSYNn3MGCxuSQX5DK
OB+dHpa9V0uWwaG0erS9vfilgL2sY6qvm8YEzSJz8bWBDh4cSNKhGVGPLW4xWJpokbQzhOSalzyu
ogACDdpcE5dpdF+hLLPDy7GSEyogyahg+9wfxlZMP1xN5sN6JpxinQzEmW512aMayuIOAB1IO5zT
LlO2zJwR3703f+0iYcFxHnH26q4vbyM7B8XeVaPxasVTtE9NAYcn6rOnMgzdy9EkJaSqGWsbh9zR
TW77dbI2h8Fu1n2eILuBW7D18bgcHDYzRyK6mgcyhWisV1LakkEsylss+IAxprAH4pVkvrMLTIx/
W6uZUZHKAWjdjv2QdzVmXrYzOyCNUVDaD7L0fIoztpFc8PJEtcNTgb4BUyAoBC++7ykJvTb52zgk
tBhmJ/1FbdLe6khfkmoIUZF8zNiRd43N5DsCpwOwQYs3TU19Xy15GW3bEUAXKKBDcgA5RmZc5b/g
+/RuWtgiR/A01RFMrwHmRZrdNzVk4wnHPjjFHnNaHaSHbIxNjFd2srNrK11PHu1kq6qrPZ8tWWSG
6Lbz7HCvEmXFmPbGzsqUg5G+XVYQ9hDPiGvNBCLIoO6jpvOSb6CQ4l1CzB363yHbMvDLbFW10y9p
lN2JPGwHzc9UfidAi6YJ9tw7Ucp637i6vE8B520zrNE/Jyefn0qQwduqQrIlRHrXaeeJAAnSGIwB
LQZhjSZUghHLCpwlq1mDneBOfY7XQFMc59S5MjjCmlRLqMZQIvzAXk6shYnYghpuTMKB3V6WQL8f
crACxKs2RnKV9c5wUwFlKI5dCzp/y1+QGxGMPS8B/N8dTHzyHOpObTOjYGUjQgk8iCEjRNoa/XRg
jw8kKLhgIN0ezhlNJC3Ka4NUMURUZUClO49a937WGMY2FDUBM2D2cx9CPWZ3ReuX6KKEEUaEa1js
Thtt/4JWiyAmtRtzk09VdKcswo3SjJCiVQkPZeUTTXEhZVJA8o7TK8c0DhPthleAqN7FmAGsAVQm
+73yEbxvwr5Or/ppbn6G0GOAPZUymDepU5X0QAaOZ5tAR2I7ejNKrSDN31Kjs65LFUogULkUq5aw
v6se5NGib4DB5WJORy3VqVJtC3AAdz1RVIfZLYoLkQVEOBSRuJw8Fy8RrdvrcgKP4sXdfAmvMtob
TcHxaMQYg8ga/qnv2C9wYdy1a6QEAxqNz2prEzM9EHrBPCuzL6ajoLXLkMxnp6zmSyasX6Ht5duZ
3cplkwfVoYj7/KUfAwa8DhbcZn/Rth6YJHxVV0FE08GO7fSmahdilGVOa3cs4k3p2K9xD4jOrCWU
gLmzvkWNaxzw1j1ZpTVDLKoEMAlyHoGEajSfYCJWU5ElZEF58YGEx3Ab9AOYo1wah2hASg/3yr7y
2SKIYSgyJgQPkSCz34pAFiQUdG5Qh1fhPW20bE+UVHia2yUurZdEO+L4tG+SJLS/2MkwXxslgbbm
gHhTdtr7Upd+c1/Tj2vXiRgXrKNJC9Wc3AvGfvE1tGtj05Jw9AS8uLkzBtKG11Ghix0xGdWh0aj1
yfvqNjpS9UHXQ7C1k2+sfsziOWbWB4d8Jrb9k2JBM00OJlaQR6cALbzFQz6aDfbyUBA22LTuTjSJ
ebBy9IH+UKXk2NVm/YUNzhuQxOK5n/P6sg/rrx1xO991TcBhObHV1syBFvPvkMhok9XWs08Ewa3N
vLAlw2X+ohMk/oOP0UAY0V3YzUiISzbT+wAOBJZEpIhWp4ZNh/+RTQgHazJMs5OpGm/rKEK3CBmp
L10vkDtycbxdQAYatPH6wtFRdOIQsp9YYJOVb0/WLqvm4GvtAhGZsvCLQxxZOoXlpm/a8jjn5BSN
ZONceTbwTb6BFjas89pFybK3G9XWE/zBZnObZ2X0PcpR7IdsHgFsKv8Qu3OxITnR3RpxY+zGGgXf
qDKSykhN3oosXzaa9WmKO3iQdfvkmRAmYMx1R9MzS2Q2lu+uLStaTHEKXd9O+z65S4Z6JNR4zlel
UaGh1Vbp8LktOe7w17c5XKhTDFBnbc1FDy/EMPYzeVosAJk+xe6Y3YyxLH9geVR7nY/3HZjPnRXP
5i7souxrNwT9fuDosxXF8FB5I6msXimfUlJgT3UQDNsmGXA+G563MaND5OTTEYubeSHSwbyuu7bf
h0XRHawKTRI01GhDum5znLPA/jFEtrlrCR1Dh6zZnHXu+OiQScgpy4CLXzohuNam2+ah/RylOMNH
OKPbtB0Y4RYYXo+KRJ3F8zoG5wa8Lh3ZJQGTR2mOqC6pZYdjqnJu3MLWYEzSH1YTtU+tX+HjNmV/
9OuWsiGE+a3TyeB1mCRqtSoHlyfs5KlRXfdSY6W/8yIVfROQ4pxK5ntSW+zLdvCbDUqReiWk1x+N
3sq9Q5RTSyicsdwCrQOqR6UZMwsSpzfo6OS/TMTrxPD1OsrMkXkwRR1eeypEhRuw6JoG3lqihKoj
iFdSMnsfIotF+hKvDCVbadRswfG4EsW3t3mmKxYHF4lGv5B6CeuJErmVSHXjxMVm0o/TBlpCvYMQ
Ga/txiu/jEkaHMqIuXDIEohZdMfX3mL8VZxhNuSEFieVjCMHU7c1wDcl+c5qq2pnIDDYGTXZ3yvg
L2aEVDDpT1NaRbdkF6hLajT1biIyknGqjrWeXMhO9lDcWJG0bnJ2gAeDXd2Fm5BEPmF33TVVEHwh
E6xdcYFh04JNWNG2x2Hpju4hNRqq8Wa5CBYroEj+fJUW0SsRaeoaKF5/l83xdZ+zwe+N+aeD6Z08
zOTkRsTBiEGIt4Icl3VX5dPdrLFCCDNU3+xoMi7TopgBmo6djFCSd4/kHeZXVRFOm1Dm123fP9MT
KFdOY37Nk6S/MbqCbJcQuagoSZJrzGA4pFbDeV20yV0J9JdKPdwms7VeoLTZA/J9pztaPXGEkDz9
vSmikK99TLah43tPg4XSM42jHwmB01dVQ71yXcTYKXRE88Pp22kvZ4C6PXurXYuq4cISIF6HuAAS
IphztclmZUXaHASoKqucZ6dPQCllqUEWtcgejabxL91GubvEx4sO7gPNN6AWIpuC6QbJyKsboDrt
YDCj6wv1a1IRh8W5yTp4oeM8dJIjbw4Ac2N1BZk/bYZyP1KpZvmI52fssGTMQ19eBU4UPBaed2Ul
3Xhw9VDsB3LgrwEI5Y9Z3uYsKOgZ+9JOjpAEo22jJqwcqVAPqscuVQzNheeEal94ff0CRa3dmvV4
XaQV2Tc5g1t2Xnmngkz+MNPqSThDftXn0BKjaazXM9TQI9AQtYs1sZ6EUIphN6qmu6rJcbqfknZY
dxnnx/WQjm66gumYXJK1jPMlCN+gkcgVwXDB1iIVGNVmT7gcbGNCSfJy3LV2KHYmqVmbOCOAxMr7
belSxwKXRtwQ0Ghy34ncE9KZ30Z2pFeGr5F/z/7JiOz23iZ7ZEeLCVkMcrhNY+niJyDGYm1XBkY7
kjC2lJBIU9Y0SEjqskcUPcyOX3VEtiD8g2NHqNN1Gwzisk/HZy+pf4VRrHe6torDIEkkM2fPJJFz
yMA9FcoBjab6X+BTcOwYQdE/xt4Ufk1dOF2yesN4zFlTFnCNfQzvIgeCrsWcfQ+KKtrAveiOdQ85
Kqlw6gH9ZAkZVN5uhe81Bz+2XHjubQCUNrMc9Mmc5cswKOCHK/9LMDB5wepMDwQTxvesruNalLlP
REmC57pM8G7Y2il2adHyJSUGxPcVXSg2jEVSPvvZMB46ojipRKFTbrso5LFa09HW3mvtCOtYD56/
T9KqeqIyrW+mfASoHsbmFSwUYhiKNF4jWCD4u46qxOSEXofDDugM4Ey20cCoc1kWhBSDm+q3pNnT
ZJPO5GD0C2rg6olRlYToiYlAVqTvTOkFcKKaI8hDMYz5rqBSfaGTBaGlbfi7bMHDGTqrMyWYS5O5
In0MUhSaIZOFwy2f5oyM0RWbWVJsOeAlNpSFYNqptkYPLi2YiCtgXda2i6Iv1KzoCOB9grTFdlDr
pGQbjQLcVrMFTCJPd1xmuPZd/IVWHHXXxK6hwQ1nPJCZXlsosdaqwkfSRS89wdFUEaP2kFMx21me
sa1mVa0s36Q8UWGnG2zPP6SDc1sP8AZJrGT7GQrSMHoHA405ihXRQ5FBKJ8/fqU5AmhNcpKGqFC9
DTS6XsiLjIHr9kCb2X0h/S/DvaUC+4SHW3zLgXYwLbDTRmGeifhXGQTWXvvOs1eWKNk9cjUWKNaF
ZSbphTasy6CQX/PGzS90hik/qrrHwrKSy9SBgUgeU7ORFTHKmQeIqledcveTP7Tb0nGYf5vckftB
+/Ie0HWygX1V7W3Yz9gk6uRY+tG0C4UTPtsUXRFs16G7qZq+PInUb7baa6I34UbRNSmU7p6TFmhG
dnzHjlF6yc6gOBSA+Q5QlY113SrnmGWzyR62tR8pKXgv2i3EZR2q5iT7Ud96XkDDhgSrXQ3gEezb
lJc7BQYM53EvdgG2jruZINPbcbKhfIVUdGRQd8teTF42Yw/9VSdkHhD8U2PK8EbHXYKJxb3Z2pGx
MqdA/Yzo6mKkaqL6Nhd4VHU9cZph33D0u6A5sVhDsHB9fVm1imxBErL0oRNJdpETCyxWmgT2YyUb
/9usw+Ii1r154RaB9WRRY9olM5l97CTCjqm1nzkio3R5rn0UhnFUtjvSNkaoiG0G9aAZHPD3Ov5K
uFV9b9VOdR10NXvuFK4XaZfMZMXKm40a9wfIZ6TocR69EL3Lz65VnwWbCYTYSdEF29hzOv5ow9jg
4wnTfTJZFqXZYh5uZsOo7xCZC8wHefkQW0HCbgLLxGT0SbmtQoXfWw3gMIK47aBkz57WqxkW088h
SuurOBiyVzNTlOZDNca3/URgAYiPMlJXWZuzCQCdGl81bku3P6nATWz0GImvTtRXb02X1O0aDGZ+
KaDE4U2JtWtAfRL+LUnzHUsvJ+4rs0MdeKp1boi1NWByrCpT/wSaDAGcefEtgPDlXrIPw/5oO6yr
I5H2/rrzyOfFaVLnl6XKJZWixqgeDBJ6nzyCk36YeVlSLQTdi4a/pUc6MFU9dw0Q/Dnr+XU7KBNX
AQS2e6Jn7KfUS6o3x3HMZ16yXpENCTx2EIaz6kilWfI63QBfjGrTbtXYBjIgxIV4DjjSUb9PxAF8
sbgvUzDXU2ji9yJSBBN8IArnFDYZvaoBMjf7JTI/7Q1Jl8iCvWB8hImKYLIqMnS6zu/fC9akXDcl
Ae07NpjV92YapbeKEnC2eBqZ8QbiTCk6au/GRl4CxB6EG3V8UuinUY+PhS9S8kSzyTvG9TxXK6G6
pDoFuTbB8eLAbu7jckAw4ZtBsNcZbdKICIjmvo/LxNo5WQwvKAacv+kBm93bZh5gTCI3M1q3vQtj
1EzqOlrPWW6vJt9zqGwIvnowdna9aRqaQiwIIaJJwHX2ynP97FIPTXpfATLZl102ym0L+a7CTtbw
SC3kRnC/ZWk5O0ZpbO1omLGzyBpat1Aied5lQHVj7es5vaekEXyjDM8JmgwiZ9dZg/lcNLo5Uj+P
d14Ww/cf44WqLOkzQYdp934+tT+aoSOMdxqno5JxF116tHuvKcjy45MGoc68dCwJrWWccqL3T2PB
wFz/pqbQrCm/q5ydiRfHwUmjzYWY1ccH11e0cXM9Ba+WEcRXcorRNPRogvttrSg8rWNwnP02oWjZ
r+GIt8XG7KfinmgZ8P5Rk0yE+EUdozHwJX3KxuVfa9uPrjpK409UBHAh11FZM1nADXwpPFk9xEPe
/oh7X+Bhcm3jxRDIMmVhV8D8DIPDHTEvm8hN8DihcB4ea9Ouv1YeBQuo6pCVg2BByQTjTKg9SKBa
sT+owLSyyOeGWumG+Yq2Kftx0gtQTaRl0O3iMEYt1sDmN0eDfWXLRHrNd9Bm65HiLHGOEMnYpcC9
aTYCSJladeDsAFDqwfxWpknkrlNyoe+pYDGy6j52nlwq9DnYZZsXUQEIW6naTHmZSVxe9qSbXNtT
3fhfUFiw7lIMzm4i1K1wZ9zw5KVeeusR45zuLJ+6KokEfPQz75sCaDaNEJCtiWQU7UgcvxmDoFHl
91S06qeyw/gqLANBGXIamB5M8l1hVEAwxCUIT5cuURTj+orBWJP0uehU4nKGoyhT6T3An2TIa48R
aJQVLyEngh73hNOhtupjSQJtLlzkV2DeswM1quHRcGH6wt7ig6VhcE97lGjHgYHLsuCfQq3S+0nq
6iEhLb05RmRJ/OSwM2QbwmX5NqIWCTIbgtlApGoU7Mxa5HR79tFBTEy1j3l3po74LZ1mcjZ0UYrm
AkdK+IWlqFJgvQhnvFBTFx9qVwf1VcD3ka0HWhzPIfjp79DgvOs84eucJDEoRZky6yZT8I3uFI+T
EKMpvxkad2LTEQbz1qRjFO9+N647BGhvpRngbiz8nulelTZDuIqX77stOehcu4vMO5+aZIeSi++6
asD+ba1kYL7nIvxQbxq+prZHWXjwRH3f2hOOb/q87S5eZuacBWDnzeN4Bdo2WIMXKr/kUb7EClnt
uGVTzwqUKP5vKs7mXsT5dFKmW/MM0P3eNtov5HOS1mnEETJUFFGpqy8VKl7SmKXtvoC6xqqaZRgf
JxGr9CZsx35ftVVxYRplcQFf2Ty2M2ytZZErFdghlyK3rnHaypE/N+GcMLcPZuTfpFIxR0azzTwn
/YJJxKwM+4kjpblP47LakL0efqkZ3zfVmPinAXvKtg1lfzACi2YZmLF6nRVwtbaTiDJ8hT2BNRud
51Rac/KLjeNE7g6OaxBtG9GT1bWG0tXvhaDnusmTis22SZUUyqIzX9Ewnd1VbCfMJDlQnpiOaYq8
ue2qh7G0+BbzWnk3fdn3G56DOviVZ6wTO8PyO9RFTUeEOJKCfgK8aPikEBxL+UBgjLcnKTsjGTQt
5EvKgsIu2ZqrQxkMpzirm/6KVihLVqsQGefEcG/YPMQHb4ztQxeP4KADyVAh/3lclwRgrIcchePK
DKfh0TFbxb6xZpGSro2+0Z7SezZaeHzZ9jB429ijRxmWrsCvrVMWTHaH4pJjfHczVT2cnzIEThs2
DTL+eLRuqVHddJbDhiU3LaK/WRsMY0QCXY7GseuGBra84m5kaPvNmtK4cRjTii1gRogY8GUC1Zmq
WukE/y1U+yv33Cn6URdN8daeW+P+n/xzf/xHD0XGP+c/5/9Di53+mDz17//7v/7j//zXf/zn8ue/
/69/muuWv/g/UXX2v6E/xVsjFpGK9hZlyvDbXGerf1tU4OicETQqUGxoWv7HXEeIHcp7tTjowE8R
Bctf+h9znSX+bYGQodxDOe5IMuz+wlt3pqrkkhbqP0CHuBNcbf824/xDfxVJg66SQZZ06xpiNwSk
nCej0e4/luecCfJwLqA0Rp8D6Q+qISqjP+VQYQMksx0wltFIqb61XgpTir7BMcwIelnpljXk4wue
SdiWCyLGQ1WJ6BgloFxu+x+3NZLumOmZEFEyM0rQT7q84JDTHpMcn+rHl/qXJ7hcSi+3p3iAWCX/
vNQ0oaDJjYIaU5XAg8qBYQHuDx8+vspvk+M/NFrLHTkoUhFR8gjJpDqjdllqCkKLUiZkIK+8Jbqs
YI4bjPpeGAZ5RNQ6f/lthkDQ6QRIBUvjDadn862xld451px+4mF65wkzdtHj0r1i9JzTfhubMBSv
4/ehYy0I3dOLKKxpmxeiiOL1xzf/7rWQo0osmTyIc11+kNNCz+MBsoPy9E1ZDd1DqRMIqIjUrE+V
ZH+K4X4/aAg9S3gouj15zkUconqiXlmS8klE7dGqPf9BycDd0uIliavvi9tkltWRJASEE7WF078y
rZZYAVGxSsQKvGBPCbYQcX8Zo+7bOfiQPoEXvTPmsMEy2ARQO0yCZ/LCiRc9W0mmVlVm5FuSIijT
iaLbfPzY37sKOjuPdHBlC8c8U9SZeUTIgQtHRFdqDFZ6dh4SreL0kyf+p3CPOYcBhKVEMjlgRJS/
UW//+FYjL6s5QAYKdMDc7tTcBRcxvqsfxUTTzs4mYPchNsGth9r9/uM7fO+rwvCIHXXB2bqI9P/8
eIWD4qDlME7cR1iQZcUu4OAFRHHveu1bNzIO4JwHvQAwpFxwyQTPwH1TmrwhepDFrx4C5d8/dUYd
InrNs0eReSZTDVyUNhzdmCsz6d8lVFU3ZeNmDx/f+TszsovsGPAggslF6v7njRvEZOQOahPamkZ2
GAjyFCszqh0OY0rOOzwy/o+Pr/jOaGK8Lrp6bo5T/9kVAVabVbH4hgJo/bANmmDdQ1Lf/P1VcP+h
pYVuKjAq/Xlfg4AaOwdULbxEmdtyhs09oc34REr83r1geMD8ju6AueLsy6AyI6wxq+Qqasr+1irY
s7vVXP2dNnr5MDgzKhuYPJM0ZvQ/78UQswXnhZWFjYWzt8JBrv3JKKBPG/rvb8jjI4CziO8YP9Iy
XP7xDercKil4ZpQz9JLTxoafmhQorY9fzvJYztYwaJpsXRhwHl6OsxtCP5plrQlOJ6Pbyjw5aPJY
k63tqw164vuQLMR1aru3feh9MmG+s4IgewNxwL2hyTufylxZpzSiI2hdwwKekk226+ZerbHTfWZb
PLM8LG+NKXkxueMM5dB5dpP0JnU7spQvmfe7tCMIyCPLPTQp3lBTPFYNOWofP9Z3RiP5x665VAmQ
1Z5PoNIr3JYQHWdlTzBIpiZrNo0dW3+/CC+GdKT6FtP1v5r/FFoJBE8OgLbePhCqEe66Nquvh66z
P/mI3xsnEuOB40iWYKRZf47GwMmGXg3UNEdTBRceOZxwt7th7zG5XMU2GU3CSNKHeg76HS1S85PL
vzdYJOuezbNkoJ57D4sC94NqBXNIxlFaG056UiTXn1Ir+AwL/d5gITXQxSDiED8tz747wtxmsLT4
Nu16uBn9/AthivUmqec3XFpXLslKn7zFfx0rGig2q4vtuMo0OTz88aETHyciF87EisREMFuJLy6j
qJLbvx2Rmq0T5wr2JwSC6LM1bEycpvN9pMeRhbJIw5vdFamvP/FQ/ut74ioKSZ5iHsaOenYV2YT5
HAToX+qiUvexGXo/umJof6b+PH9ygJHLz/pz6sLdZtrsu/EGCyjefz43kYQ1t8oJhr3hUnKMXMr2
drQEokVIf2+8oe9GnAJDX6zIz7LJNuNf041VUU/foAWMnmefn7JSXrFg/JreASxI/OEbkSYpuUBD
BZgpJhVXrPAQZd+TIQwW2ULa9ruCcu9pwkiK/LvtB3r0sVH99MIcaA+KYDQMmk92XOhd8sGfWsTY
Sd4l0M4iJ0t3FOPlq6+s9s1mUbyR8NC/Fu5AK7ks+a35fYUaLqWVOw8hLQoJKczLm13wf6k7kxzJ
lSzLbiWRcybYCznICbU3t751twlh3rFvha1Mc1SLqFXUtHaTG6lDjyjATV1hCg+gBoWYJCLyfzFS
hdK8d++5/MFfYgT7xcYsE+fSJ12CR3QbiujCi7M10xrgEVamJRossiEu9ZZDwKeeoz2/+OsZBQtC
cE7DdM8pcZkLv21QOU2ZJEZhjoPDMa+Kvn4lqCM8fDzIiQmFgpVVBwknHp7jXSJDWimp/VkBhfn5
U2qZ5d6ryThoivwchOTUUBZXJ3I8/OVTPJpPaZPobQWdP1DU9naZm1GXCmcnWhfDnDtnNogTx1xh
sPVxlOej5/Z4dP8uczOuxpwLFJoK8W3sHQNwcF77ty21OJpwTT7IlUBisTJaHYxb6pnzdysmqSEi
ifeucfzuzKv+dbI++qB4k6AFHLZIyzkuPPS1hc2dIy69IjNHtOxKSeRd4uy1Xwx6+uHeVUNOQBNY
eA681Sij6VoOLuSqqoZkEUQJ0vUApzb3sFzE4V0zeag6P54Rf67P/N5LlAm6WQEp/Gh9rjyTMJ2J
EwuiQvMr+TrTOqs15yeXfvPHiN7mOorT/sfHg56aGxz+uY1Ygg3dP/q1BCnCJLXPvJrKsS7Rxtvr
Qk+Mveoy7Yw1+9Tz4QVe3O4+kPNjzENGiBr3q9IBn8ZFVvcUfVwx3bVJ9YP+/zVCH3XmjZ56OOyO
VJtsLiBAXt5/yFZYOEsQLeWSfkSRWjvmM66phQaLHeLMvD81FuUm7CEcJrDXHr1IYh0qDmEQIdmG
+gMJ4AjhMbddag3yib//zRgB86dPcY5v7f1jeex2CoEY3zP6uL0odGZHzs2ts8+d9k4+FHMRPhXf
zx8ZRSNBW+lM+jkylyWskX0VXZ3h0WLhcnrODH3iuIAHmocChqAvS+P7x4qF5Ts0r0C9ijq7mifC
6rgwu18/fnknRjHZWE2mIMUdAkHej2JEhTEYkuUJfXtxk7VZtVd4yP6FhzFNngPqgg4OwF8+ht/2
EF8fEeKOTIeJssahjE3r0k0mff/3D8OphEMJIgSINEcPw0JGBUy3+KQ6OdxNvjmvo8Y3z3y4y8Jz
tHyCZTOxmVJUpnZ79CzOqEOJyjUHYp/FpmgXP0OjvzUSAcmIUsrHj3RiyrEKIYWhUM3uIY6+I1Tx
czhZDMYGY302KuFtfT0ed21s/n1li1Iql3cAYZ6NSXe5Gvz2G0225hGj6EJc1SPvUqrJ29JsHLYf
P9CJt4c11+aCxllu+ZLej+JII1qEmNRY8NbsPa0l5LCY7Iem84pVZI3mmWLpr5Xm6OeiguaCz4Oi
x030aB+ZMHXAl+BKgRk1TFaizMwXx7C7C42C9J3CaPA9yZTxQCQgdsAh6of9yN+3+/vHBvxAKYFA
I4/b/vvHVpY7hSFHPAiVtdo3qVlvBLGozx2qnNUMieTMp3DqNbNygGvgcyB642jeFHwjYU7XmZKP
Xh5az3S3/hjHT4sFDnejo919/Hwn5ikdER3vP8Ai8w8fczuAegViQJ1Yk/2W0FlCC4bI3VBq+/wv
jET1jOUETgxF6fdvMkltHfLNxFFZj83V6NAR9fGffML3PP516WIBMwpqWkzVZR1+PxTwM82IbL7p
RqdLbJXiWYsadUWYwbkuzfLzH01SNi7fJ5UJZggW9vcjObHpp2bISK05ZOjcrAdPaDM+oZYmDe3/
Yj3o9DpHlLlnFpgTGwAlLmpcoJ4WMsnRV992WOJorjhYCyfviXcQBmYeqzPT48R0JJuQLYtqCXdS
7+hNUtLwPc1ibfEEqgisyJ9Fw+k3MuIfMhz/foGmfsFiSQEB1sBxDaOxFBczkzXTjVICLzofFViM
THZO9XFTm9jgP56Rp14hnZalk0jLi3be+x8vV0pbrnRgmdpmus8jke/GPj73RZ8aBf0VnzQZcKB8
jlYQDlt5bZbMeyL+nhCd95sxPXs3ODmIScIOzTSPxfLoXl+EqLqbkHsolm00EnXvXLe6YWw+fmGn
Fguq/lRXeRrxx05TokQytMZzEIcJb2cnCD+nhriAykCh+PFQJx+IRdCi/UlH1z1aLWIbeYzfcqBX
NeSaLJp8aMCac6ZcvHwkx58vp3hqO0ukl3PcZG1brGqqZwZMSUWGQOvgc5NYvwZLqcPYVM5aaPVl
qxNog/TqbIXkxOic3jgesG8tELX38y9KkFT1+sAnXGT6c17L6C3pffOm9K3wr68Q0C8wAP5a6sUf
lxY97aMEYgXHxcEjtVhLBrTofb6brCE6s2P+uST+ArpYsEmgofBs759qbNBfJ46iYo14GA2HRbJu
3zTOW6JNApzEUiz3ymBpGW4/njMnRubewoGYBYRJ+ovZ+dtBqAUK52qeJAHRcxDFcwl+yCrHe+IO
ikY/rqxkw2mPqA+kQPaZ+frnp8GFkAMYbRq66PSI3j+1X+ZYzLhdBF1iJqvlYrbvshSPHOFmZ4b6
89PwdfqLoHM4w2KeP/rWw9CDgmJT0hJaL26zcuwOYTf8/f7C5YKWE51Sg2/+eNmiyFoDVuCB7DmC
+448b8Xfck50cOJZTH4zazkU8K3/qsL89pN5OItYmDmOg/Pq9m5TqGCJfNt8PDFO/DhMfVYR2qZc
24+bKI5bFZZRe+DMkalvrA4ttz8Dv5cQFs4UaZYN8f2K4lu6iW+YyttSkDg6v82xORYjdfKAkPrk
Mep7734mAPwtGqV+xxodb4bYNP56I2NQmpJsZjRqWJzfT74wEj7RzhNFziiMXqeZqO5y0KKvH7/F
E7/VkgdHPZHiDlDSo+XKmDU7wRfDjOAavZVqttc0heb1vzIKSzLXJ+58x6PUlZtpBJkDTijTcMPP
xtEUUNSZUU7NCOqWXM2Wziq9mfdvTPJ64qwzcWKMg9pQtlQrmGPYZD1rPLP0nijbIUbiIig40nDC
Pk6HGumazTOFsqARVVMGSaVDdBdZLwPKCAaRbIPzJRltFxAIDsZxNIvvXFWxYTeTTRIWFNiN2zrj
fSpLc02ipP3XdWL+PoRT7H8U6aEavX8XrVvNNtJEGiog5fd2JXT+kuTcqvXnSZJR+B4o+NAu5WW+
HyVqwzDxM77BCBrDC8gp8r0kNNhVrscE0Rt2cuYnPjFdoUVSKV0GXbCY7wecUXxHqHgtNOaufjXm
ltrGTjqfaaicGoXD0FJQ4NaG7vn9KKYGYEIlcD4yUVhP/Bmfe/wmZ768E8XoZSEmyo7eNjWsX+ys
35ZJFOvlvPDMmDy1fVWknnuA5F4/yLYDbCGSqHwpMtxRbVFWV5ke5d9VFuP6GKEaXDkCEPvHH+mJ
z4dKw6IUo/ZEifdoyswt6GCbnRCXo27f24VIdpXbdA92p8wzm/qJodh8qN0tywHcz6OfkUzpSG9N
tB1p0cU3RSrzS3fO5RY7YXvmQzg1FGUopCioBLlSHQ1lVaL8RwuuwaX01XNLuZtTYl0HMA7pmU38
xOfgLOd0ioEcyihzvJ83/ajNIUIYqhv4tPeNmtLrWBP+OhlcbSvn5FyD9sQ8pWdKoZU1b7kWHv1i
vs0NBL021pSGmMy0SpK9q8/tmbXu+A3yzvAV0i61KF5QZz16qrFzYEW0jDL3NIKaLnbXuhcljynI
jb/8vKFa6os6gXI/P5V5PAURvRfAFHIa3nTtyJvR080EguDMz3QUb8/kZhhKwTrHLIOOszi6Zpcd
bMtsYBgP2oRTOLusT0njyteKlLG+FRvlEyie1WngoDz37fBJkTKjonZdIN7/u6/u19/CFk9V3uG7
Oq6gmPk8KB3TP3KCHLdshOa5HDoPh7DV/fXbXRDWGBf4LSkKecc/JP7WrEhQZHhFnV5gwZef8KSe
a+UfT8pFiUevgUbrrw67fXSisPK8KRI+/aCR7vRqOLN8aezy88dv7cQgTEm43CAM+biP39rc9HGN
OYw4O18Ahs5MubKd5G+PLZTqIG/TpOH2TeHpGE/v1mNXTiMvLLO8ZkOw/fzJKf3s3M9iH68byziI
ECxuViy+9HffrxumHIqRprYVuIidv1UoGl/BVOSvkDQxuShT1D+72p+esjr036yRrBgrqVL6YiPW
qCBGvjYEoVGUwJsqMd+y4DnNXh9zcUFSgi4es2KuM2KAatHukrDQDpGqSPATuBxve2OAfJVI+kEH
zsDlZVmmBe35abC+zTne5U0Szdq+xFxmrHEyk+1MiEAuKY7pJigkHI3gDAFOXMbO2BD648bdF6sN
OecV+dSDXhiHul2xh4A4ADT0Jns/z4JhwLe2mkiScLalnmdRHOTePEeYtPBmYrMVZnQz+X12nc9i
fh5soyLv3amcm5gPV27zDC7aNi9aRbiVPqv2oNt5Q5pbVRQvVdfHD96c1Jh2XZVcYY6wHsE7GG/1
aNqSeKJmGgOZG0Wxmzi6hNCKpu6KA0H2OnpdM22jeCL+uvUnw79q0pB1L07MKj2kWZybWLxGO9qF
XmrXW8ubsIFmtqlUoBl1iUNscksyF1MnxuSB3Cp6ikmT7/CB1oDtIn/IPxUTjfw1kdB4S8Omr8j5
wvpZr1y3Gd9qvTaeMdU0wyqLQx98IYSdR9vB6X+IZaW+xZaL5E76U2+uWN7aO0CI2a09tOADZTgV
nzm2JPh/05b0WuLciSTrslo0KydpR52UpLy5wtZvP5tVSY7k5LjZs87/zTzvAE8Dg4Js408eICyA
PEO7HvyQ5T9F1Zyvu0JlHAwUMmyAeiPpe4leN2RPNqb7NUxL83kIk7baR2SKxMEgAMdzRnaa7yWA
n/AKZZUCjmlp1mOkk0YAACYNX0QDKXYvjDq+F0Pv3dZhZh3SufcPSWy3F/pMCKCFbA7upGW9zlro
PlPCXzxw+K8LUp26sV3CzsE2DElDvp6VDoTcIUsrpp2ktfxdn0SWrGus90x28JYai2CrfWVvg/uj
h36NI64hONhbcgVWvh+P960zKGLTa06cgRQNYZlUz6I5cI2lPMbtFwYFqezieZBVSngF//y3YZjy
Yoc5cbosfa+V8L+AI0GGISeHqUfOZ5i24LBKr5m+k1chvo4dyp5NOulhu7XqNH6ZKDaU63B0q1sX
oY23zvWqxbppTB5UtbwEaxbMad1DDuhiddl6STHdoKNw32Ji5vM1nnOn2XaZ23WbqnNRONhN6bmX
qeml440jW8t6dEBPxiuXRHc+hmaBA5Z2WsBYdP2xDTQ3E+UdOgn5JV5aVDusEwl2assZwi+pJfXi
KlG4hVaD1mafW9vzCBKZGketyiaZX3I5N0R1llmVeq+N0hS+/GSqLkEwZOO+RnlIDhe9rC9trGLM
ZwJey6rrysFYZU4dywBzePu516fhHocVHAOfd3EordQjM09KL7mond5U686IhEv6Wm6P2HQ5PqPX
yScOX5g9Rmx0UUKaG0QhEegKqsylEwNzwNrdl5dV0xZtMHQpP57K7Ve8ZPoD6798rbuCbolnNQ60
vaFe5Et1/aUeZulvLc1tSK+PTd3jWtVm7SoCuXOTzqnjQG4BDBUgHeV/dDB2PMdJFt0Os0uK+Qzn
tg8iWtSQ5lKPrDNtbJ2fODC3kS3yNyOxo9ssbCCMJYVezbtwynknkZ7Cdpm5HuQETmOQAqOEq2pV
+FMTEoCTWDdd0ZjmuiPJt1r5swltQCWzD1sGsW+0LwRZMER2d3VvHqiL5lG6UkCXH+c2JPrQ6DNM
J3Hr2c+NPZB9lzodGCqCrF7bnqXgojecyXpz3ZIT1WGA/klcmecTBsD3C2SkbM0vmjEMJet/YooV
ik9gPESaZLfU05ibjdXKBGiz5vKyDa8Ig8bP5V0i4lQissh6b2dKbjdBk/t+thkhGV63Pl78tTNw
HF1Vht5Mm2Yq7WstCevHRIklGBcRjXPhxv3wAwmXIpk1scaHDEJKUr30Zd7Eh6Zr7SeyNuu6dS96
7N0/56iFJRXGjroAcQPuAiYpdo2l0WRu+DRkv+q5z4OTMjTus36oe2QckYB1YcXI01YNHsKD02m6
sS51nJijYhVYp9rsfdVilPs835T/qHF3dqCsJ3PaSordJDgVoMQ2STXMb5pfxU+5U3VFMFpeTsQn
HxS18DwnLVKpOmUCF3nibpAei3uV0DUXvWFFayT54YWlQYKGWOHxt9tROvsbgmbqr3C8qn7nocUp
167dcPdQEGAOcPbGeGs1haQ4a8NiAg6mgN9Mmg88bJzCbNeMWXLXGcmoNmxhZIB23uzsB7/xH7D3
FRE/pEuIr07/yVkbEUvGxmbJu4MqY5BUnPU1RsbK0vj2faGGFekeGvmP9UDKpGr6fO+ksQ8BYpiI
Vs2a5rrPp/a67wQh4Xaswo2ODt7HSi9dculLNQGSY4P/ZlgxvACbKv5wPU+o/K7klJFJrkJjxATd
9aH4aefErGyJufH0GwNZbLqRWEzs1ynH8L9jWovuRu/thLXDYJZemW6cmqjg3di9T2zJ2pe4bo8j
MQlt97M0M+JM7V4Dp2ECGeIrlMpJr7TcnI17aOUO7t0sjM0DV56qP8RK5PWWrJkRUGwqoxHoST6+
tXU3YmdMe+u+VmEYgj4oYtvbg4cZjE0oQqYqN2Kn/NIng/Xz4wPxH5c0Y7mioRWgic917bjtZWWZ
ZDmf8THMY0WodeGsMht8hHDH6PbjoY77K5xWl+YKlSUEYTSZj9qHmmWgG7FIMBKoTNmXXHftthZz
3QbisQX51l8kkTQPYO4IoyKpZvPx+CcfFdECBb5FCHmsIRgJ38riQnKNSZS/bTrHempCa1p7OfjO
j4f645rBo9KN50pP6p7Hgfb9wTzOysqEPo6dP6QBrBn2vGvqbvrLEgUvlCgH0gapbPkOYrf3o2iu
XoYC2FxgyirbpILTV9/bHaIpXNkfP9CJ3w4951IvQMZEt+GoGqJ0L1edQr6bZ7ZOOdtCHOskyRx4
5Bhds5Al21TV8VWfivpidELv28fjn3qhv5o5SB7gKhyP36SaKDnCISn3wmY3z2G9GR3aqB+PcmqG
YHuhaoF1CAnS0f2+7gvFTQpki9ZW9caeNLmxBQeLeQz9v54hFOdpZtCBQEr1xxWx7WywKaWHtCPx
042iK3DlSsf78fED/fnallHwNbCzUV0yjm7uhjA4wVBxCswEXbU5eNN6nNLuzGv7sy6Coxp1t40q
BhMuRfT3EzGBQgFxgGEIWxxvuH+LTeoUwwoFdE00hqy960mSYu3Pw3TtFuCrqxl0e+AgNjl4chgo
NEcJ7VW/PNMMWT6B3zswFn8ZVXZEETTj+EKOPpECVJVdcYAObOXqb9HgaFudDXjbhxzRPTxqXeD2
8TkhyKnXTmoOpTVU0EgyjsrboT/3FVvqstIBGZNFxSF+iq0z69nJUfDc0ZKj1+8eN7KmrB+7BX8U
9GUBoaYYX3R9Otew+LPEgDeVwgwealxHPM7RTytV4kUu+wP6feLnO6P/XFZSDwyZibuqMP4ZePL/
wCd/U/8oH7r2x4/u6q3+/8AJj/Hht493/da9/dsPburdvKTl/ue///d//c///q///Stq9n/993/9
j9+t8L/+yX944U17CYal4oPZhbBZbiT/1wtv8L9QP2MrQJtD28+m+fBPL7xj/wcKq2WaUPRi311E
gf/0wtv+fywOeQ9VBU1ktC9/ZYY/lunptD1osSxxtriO2Cz4G35XH+pCoX+PADZpqlZqY6lUh+4B
AzeEtqPBnOJm0QIYzFz/VoGlgp6bWdPO7M3WW//29m7/8Y3/W9kXt4BkOvmf/360li9/Cq0epDZE
sSztkqOljxiwsZGUqFd93s6bKBfhpm/be7gS5pnl79xIR2uMhFdRlxFhz6VvyF2jD0BFzTi+ByU4
nCn6Hm3Dvx5q0Uhjq6LdYh4HjeQCfaMsDJ0LpOvv1CBHEGJksPvJmMN9hSk9DRI6MSK1Txo3ri9/
/05/H/7oncLGkQRwMHxMSMmNZTX+ukBqeS+s7lw85NG6848nBeiJXZ8FzjjWNVSTbEOnYib5WuZd
VsKqDOoOmWbCGPENDXxR3Grbjx/vaLP4NSZLNuu1R5GfE8D72etoKgORzeOlWQZclfCocYMgMl7J
SmrXdBVMLoKJ2n886i9J7m971K9h6Smg4jBpTP7RVZijZi6zPjFWhTlUL57R95dEMSjuJsPohtvK
mkJrBTjNNNak/voEsgM2PLT03YbXWYFt2zuYh4xNobvAXKqy5IjtVCVYWXAGsX5Vt1mWkDweV8Ot
SPNanJmUp+Y/rVXEh6Q3IfQ52v2pqFaDxz61EnYGJbHKiJ5FLjaSNGv11ZkpiNXh/Za+vC4bSQWt
c94WjY+jX2lWNuwmNHyrSlNqCCQHRp91JUnuKq8kTd2ixA9K1c7BAI+RKS4pInJjJ9ikhrGkQpda
qlYBta4nSc67EXf1paHZrliPooOr3JNe0AF0Ir5w3XBOI59eddPjHLeGEfDOqycohlPxpBI7iVd+
BAAOonJXLskCNkeZEB79T7CebhLQyyxvy7jAgo47bChRkEGcWs8WwGbI9iim9toQttXaS5uhXus9
mba3pHXalLsaLuKrsm0IGdDKTL2W1VTnANsohF61Xt/GK9FF2gPFRojaBWT3bWiV3LhlBjtxZTUQ
//WwplUJXdD7ZgDILCnoGaTGS6/x7qkKDjtK8A78JkPGUNripuvX0Mw6MNCAMbL11BvZZ64S/m1v
FRyU/Naun6ih6OJqBONw52SQ5WHT9hXreq7Ek9/VGNxIlzFvRCubL7wmaELeaPbfUXiKedvbUUIv
TIVUNaWInB+jHfs44IwhzFZDnstvrj2Ll6ToIRAbLikOFdUNynad+iZNwgZBv1bWZycr1XWbjtEP
YzbHu6FqBfWrJsxe6bdUHhFgChaSjOburiOcOl4XFQhuKnEhHCIyBB7StqQrUKtKfwClFqHzC6vh
wctq714JksuDfDDnEZChhymYVpfa106Vl+iSin7BxXuEeMweCHfA46LxA80XYBx5KeIbXPMw3alM
S352qW0k69QmI8HG/gSsCBAbWMJZF8ONw033okkJHKESWeX37JQCacdSD4N9gRRLPU9hpJNAoE02
WPSS4+QFzlMzlFRqaOXvOBCmT2XYUkDzIvyiAYQP6nLgotonSboJkrDMt0lNtJETHOwevONWDNKF
cOLFbYcFM3V6i1p8E8OdTG2ZmNdjWagosA0ZAa9u6Z9t2qKZ7iJdL82VZIOBk8FCZq2MEC38upiq
/JsVZ8m0UW1KN6KNERcipxq61xr0IzBsTVP6CkGaM+9niiN8KrZIIbl2onuy2MDotFhzYq1UN3QV
RUiViQ0HHPlGUyYyLhsc20CeMnoMg0rJlR58U7uGExg6e5P2CPUpN3LHq0xRsQPBX5vjzh56NW3p
VXbumpAjpgIVKnC/QYrErfzkjI6TPlUNh6ig0wbMYaWrGn83Z5M3X4ViHrUrs+3n+WVCdUdqWN1Q
F6+xyU0/Qhmn0wGOL/8JhBhx4c8mYuivJh8ZeHCQW9eVXRb9s3TDeLgxOyyrN3rLXTXgRFZ9sqM5
luskROp5R/fDenHI1vEC5c4Q2DQdgupUJCVM9YrJKuBftWm84u7VdtdMAf9Fr+faPdh0MiCQajUg
CNMg5uUg45iclt5Xyb1yqQKvLRHbD6Vhxtz9AMfHK41oqSsSwTXSPzId6VGHBjQNKjBg/d6Ncmfe
DIbOCsKiWTnGi6NZ8S3pG+NXA7TY8DkE0Y9iMyvDsHmtXLdVJGKPfVbqV7E5NKaEGNY6xafQChux
r9zEHcRqGDqXMm1NnlFtBHpJt/SmyDQqpmtfl3mUb6i2U5Q6hBrUF1JgEvcx751+oI2kBDtg6dh1
YMWuOV6ZPRSb3WjXTMLedOA4QKvtMTaSH/XYcMOO90VqkE2e694AVpZ/Geo0MWUvs6OrMDDm2kMb
0PWui6S3j3ZVOGXFlS1rqJ5y7mT10DszjbUyLd3nrHeHR3co/UvNIGCCOy2V+InoNrip0ME+VW0/
bePMjdcwfbOlis97VUP9JCsrfCBAkft21AzOmoKvC7J6Ksq3MM7DxahsUFAo53sZ1/Ip7ufqcvDn
bu2O3vBMuYheUhSF61C4m9aU3WbUpqs8bqbrNM3fwADmedCEbkuUVq3WsmspbUr4GTL2h60NYCDQ
wshcx50mRnwjRf4owX7qgdMb+if6Npsm87INrbdAjemXKHWjtW3lng7/tHP2FUXgrdb6/uespz2p
RHTXDp1DUkHtXBY+NfxETeEmscotkTgR11rd/aS1HpHolRq2LEDZBRFh0YoErodwFmuvJOmbyAay
GINadzepXwCssIfNIBDUwPkn6WxwmBteBCc+HuQ2yfJ42+n1PhTNC/kPXJ7tevLewDJ4W1HlxR6C
cn/I2jD/Qr7CtB8re9gVHQvXhKxl50c0klZUPuZNbU/fSr96ybIwJwU7JpqmYQswaWpnpN7UW+FM
6VU6lXWQCEt+ymRt6evUCF/t0TZ2RQWiKeg9EX7lOEMnSQv3WWl+88bayVZaYbw2mdJWHQ1jzqMp
QWdFq8dBldIsrcPqJZxG9yWUqiZk0hYrzpfenTYra1OA+gss0f8ke9LdaH78ScrmG4lFtEyb/K4q
HaANVbrTzPRFGOJ29NNpt6TXBNBhDZzHebeJaB2vVUuvcxXqbRsYeTkcwrjVt4kTX8jEeDRzkIFl
ZdSwFMklwLwn9qkdOhdzRj5WSQDcKtEGku84G5DyBxP3cwiSvV2HLWkhRmla16lX2nRZZpUurfqs
D9rBzIMha17tkgCW0hzQEXh61zgkE06euRFRfZu7s7vtmiE8cIp9BChiXI+Jw45jNuUNGLeLNvH3
RW3C75bV13g0r1M/vDBbpRGmZ8iD11XqoorETULpZuX38hLwNnx0MkBXTrksK1j753TN0feyHsr4
50Kj+iowcKwLX4U47Om76JqtPqXKlS7/BnNe6YOXshqIaGWXWrFQCNiP2U4vYzrIwZzb4QabzqFO
lHrA43pDIfOH3vPPdGRe7h2Z0rPQf46lu+WQ1t3Umt4RiOXtBpNkrForvtHVb9e28ghvs+ybmByQ
z5MjtYOt4jvQ55w0oWUCwDUTba3XWnWnSDsIjHai/6LyrSUF4ROlWPeeXTKbmk3vUt8EOkrCkKSz
oHUbToPhIXFGc13lJCUBeL6r7AWyLorXSA7eg1UaF5lX01fQ+10RC+i4oXcVOnlACuab7Q9cYDT5
oA3pofNR/kfxZ/IlHqlWzauhaT/VlW6u4dW/FSn7G1UII+ia8HrJS3CTutmUSJaJDuJqBD0y6Dvj
m2w4gjdj5a1EY+i7OOO4bIX5ImMgisMnbmXlS5P/5yGyw12UAh/h3Sfu52oW3Vqf55860SjruJzX
kurrKmm/1gU+JhPpxFq6yaqqESckYn614W1vYgwzSvO7S4sWdBDP1ZXNgXgMWOw9LDXR+ORNCZ2w
btbaXdlaw7TW3ZGWI4CLgeNKSwRlH/k43nHkZ7SCOTt+JjvO4l9mx/NXs2/QhUzdzLLXhCmJSlmb
7IteU3fEPkcPM3GBL/GILS8QTtLw1oqoIEbDAvMVDKOp/xBdDPEqdfukWRnMuWZFZ04jLUcB0g7Y
Snn1JSSBNecTtyRmRZr0fTVH9Z/9RqiEmE+n8Q+1Et11ij3Chntrg0zTSS4ifs8nXVCX8YXJDkzL
LnQJ94FNPx3AxPt7PBVxRkuwR+NTyjITge3H1tfIcPN85ei5JJfTstqfvMZcsEWUBC7Es/+9nYFT
E8bR0xGHKwo3Q0Wk023l2IlXv5/QlsHlc4ZDjTfzmlwP+oK9poePKSzWaJ3HwrxHNrPo0DQjvdY7
MLDrFun9mzGWBhsBFSio6tKRyYr4VCgePCVCn7oljX5N/GtHPBk4doI3HFUpAq1MQ6IeqfVnrr0P
dVEvTG5KNwA9SErKaM/HKWmWEcBh2pQQeAPah/HPmlSPLOgh0eMcl4QA76KqoRfi9lpyAEBdvUaW
NdM5CPFs+g5UFWxE8mX0Rduup7nkLdFEoVg1+plQ4Eoj9zLJrU5fK3No+a/jsmWms3UJ7nZ98eyK
OXlOooKJapileDS8iW2M+AskB2BkB5SBYdi+ylqmvCtih4IkpFu4qmdR3hJh79PM7cOYvSHKJgYX
Xf4q0sbDwgpRam+g8usPkHSaH2Cgk1fiZYc7rIfjq1fZzQGo72wxt8uGELzcd166NuwgQJWN2mXS
qDoO2wqRVj1SKAvMFKr5KlG98XWIE/+FhBXWo9yJsGsBRiDQDA6z+yRrzeUgz8QcgtzKx3tbNNX3
bIAgyAW3QYnQT8182VdcCla2ageuK73tNNCvrRGckNU7sK2JVH3Vi9B5tNyilsD8bGITksGpQ8Im
aRqvRa+NrFzTjI7QQVrw3e1Li3Z2Kem3dO5g3CP27e7gZRfJBdG0/X0+cjpAok8W+852uoz9knyz
VRfLfgwSy1NfQSNUd7NGpOKqcaL8OazM5tuQ6+omA6pFw0pzMBC4fdQ8FqnZcfMloW1cI7Xx07VD
Zqa5jnpJyuxUuRxaOqUia+0TdfLqliFOqX4yk28awccuW+6ibOKBoGOGcZf8JJTKuuutmkuQ3Qni
GDgjqM9EWDUEAHui5ILdDXO5k2adP00yNERgEKL3Xet7O2Ulbpt74ku4oOoK8DH4WkJ/Nnle6t+b
sLYV4DId2pc0I9fejAnBPJtpJuQ0UGqcu5Vy5vkysQZtXNdEvn7JAbgbgaGgGq/aPMQtTOsHNPOU
aRN8nSz3eMndzK3KCVuNuJ2xB43c5Z615erLfhGPaSRWlpk79xb5QV6Afct8QlJn86+VXs9Vratj
0pXQSHT7mE5kswFQXh+Gfpij7dxFxrjQAEnvdObI2GZx2k1b5XZpt8sG05+vnLzv4oBGXPqsVT4C
N5Ha8Z3g3Ark2wFJvHHUSNJF0wC2DiqLADYqEC1XI8RD6odnyT7e+VUInZ6qi3bvxfoE41sKgtTM
sBXZ1qnb8cklWqECzcJjcsIumztDJWRckDOXSYJ49P/D3pkrSa5k6fldqOMS+0JhhNi3XCora1Vg
lXUrsQOOfRGbIlXyCUYchWZ8pH4Rfp6XPVOBDMuwbCoU2NZCW3ff9HCHw3H8P/9CDrEaGOmHqhmw
uJ+GWvXXVRKSGN+EOsBxlzSkXmFsz3nu8w3nvtZtJpg0AamftvvFj0Aplw68wxGLZF9vN7XmJz+u
QIQSNz+DCJH0YGVHpxBkUmK//O+/Uf7twrQJG86IMCQT4GGyRLwfa33yKLN9E4fwljzVxpC5io2r
xvWKC3Rxi+VxsCEzW3mEG13e1MEUalcQU4m1zX+XtD2Bve7RXptnRkeeVScJHMyVbozfuigmAbPA
V7VAYLimIFOvMAguDIeqCURYpyEF1DhrRiVBWdntQGyzZ2VYOfmjtupAH3Ykyz+7+ARt3152uaqz
2YFAk3ZO/wvFvy4bcL+tuqmD6kcqKXt4gvv1D/JwKvdzFhCWbOIOP353ekVLfpTdUKwnq7GvIJ0X
YFWQGcpjYBZ8eC2Jg/42eq5mBTAjbYWRQ5xYLx8nxsZWt0qe91d6Ja/WFRdLVddt6UaLAs+adTA6
m3AeGPTqcqjGaVPS3V8Z0FFWWmP3uzJPg/XbC3thanJSqNPoyCJbnz1Hp61T1RKA+7pDDgMpxsOR
956TGK/uK8/w1VBwFV7k4+x+nCPU2VCG0TtVGMogoMC1l45KVZNLXpYxadZfveb/37r8T5qr//aA
L7Qu/9vf//ZvsnX5t/85c/F++Sf/al0qrv4HEgrMBzDmptcBfP+P3qXiOn/AyKd9CZsdh0QaXP/e
vNSsP2SDEhcdjEYwqZP9gH8Yeat/cEDD1rDgL+EJYlrvcfI+3ykW/6JhyY70PMYHH529BA5JyB5U
8HoDfMzXurSsj46Joa5B7MUVnZj8U/9xsLwMxU7kCJNCBLwuZx2TwjaEFRM8s+mdYg8y/IFElm3o
6o9m5R8bR7nSYXo9HEtOc1iH+YRFEMt0dpIkQnVHeQPf2K3xaPouQsqJS5WGEzERjDdTnAZXvguv
15IRecKooFFBQDc+H7GraoLXWkYMTYsuDLfZoSNYNIWW+ttGu/9rzX7v8uqSeHS+lA6dOg4RNKgQ
F+d9QvLKqjh3x2pTBn69M2h1rSOt4T7XiWA8FFqYHC2nbh7JbBGbHIiE3IGP/KXvnSm+ZqO9zQub
67XTe9OCDOM71YRaxP1uDxk6ebDarLzCSJn1yOU2s/FbRKwk9xgrNDvXY9hiWgpItYmV5sYuytOY
1fdO4I2nDD82ssG7VSdlMBkhmWtKoH799pK9kH7Olkz+AGKseNnw1kBJd/5wBpqLOgBCQmO+isma
GIrkKONFNrgpYgnOFTn0cA3VlKXbKuT/OCfC7Q5DYP1Q1f5YBAOQlzr91AtKvLd/mpz67Jc5lBMO
ulAHpu/8OxS5YRxaTpZtcHokjZTrLVHNsF3rfdPm6tLGuI6YQCFvYrrV4+omTONaieGefwzlKYCl
NiQwDhU0qqY+Wx5sjQozirxok/Vt8KzEo/V9QrJLqy9z1D2mwmkBGWZK7vMozb4pfvXo99O08pU8
yImE6YE2BagguhXrgX9MHFSLdFja+ebGcLpHFKGkWnVBtHR5Q1aeKB6LqdhjXZh8HfyN3hnuo1n7
obKmr2FGCGX0rkf4C71vDWM8EuvCw1PypBelZq59s1OfbNE4cN6NVHtysR64zf2iJHl4VLxvVRk1
X0i2qb/Q8lSfxgln9luUtpNDtLuDQfEwlsM9mWPYZpK+Pm4IpPK2XVtlcCawFFxpqE2PFpc/vOxG
6Mo4PHa/SD1pZe5h65dLCB3Jj1pp/M9VkpPyopuJAfV6mLa5NG9P8lIB00DO8aVuRy0mlk4d7YNl
EywymHGyd+CA0ksBDLl1YUpRcCviV8ZgIIepjVLDddMTvmY1rBG1edZHkpkXieb6t2ndFF9AtKsT
CD6SLlOQ57FIoXwBl3W4yW1TAklPRuU0zyjxx53NReML/G0/WjiDkn3NHdu/zSevv9Gcxlp2Wqrv
0yZKShJ/TGJShBFbS+7ypFlWCKwOYdjUxFGbxbjLU6CGjUTWYbFlrYWFolf6Kiomr9+Ssd6127rH
GmNNgGhHj8axT96EQnERp3r9JKJQuQtaS4z7kBytcc1li4eJ24hqrqvBnrjvGXHYbFjLvlhlpho3
h6xUK2BhcDis0SA526u2b8pxX1aWlgBcklPuRwTMLIswclA3A1F3pShDPmVJ5t4RMYVKSh91leY4
mrHj1NqYE5IKo1UL02g+mYEVqyvfIH8KwCEmwDqm1XJIKtTi624CE7uZaqJZVmqMYcaQ4GvpJ6bw
4L9nymNQYHq9qMpmWOVlrhlryNRK9GRNLojEYKf2tMkcPPY3XM2sDwOC13CPPW9/W9RR+kwKrvnL
bfw+4NdCmUt8J8LCLsmxsHSbGxYufq66Tqyt0b33x576LQ0+IXG9gdHr/Ik24aOAivvJybPkqKRe
uwMQAHQDNUuXmVuZd74YskWe5iMUgDLd9J0RrorWtz+MXhfuaRboayvx6IWYobGbhDoswYTjI8gW
MAj4xtY1EDSFJjffWI/TdTh5BV4iQfED7dIXZQiCJXegdEe4KFGQEPFXbec84cEWbPQhGlDIjD7x
TQV96apRwDVcEo9jOgmLIYxY69H8UHTDwTWEc+zp0++UMGxXMPyrfUxo6bKwKp1bsHaLPsPgqg1h
XGtPml6IA22ZTRBnwz5WK01SSafdpLkfcRVAx1Ij1OqUbFPkqXKnFkYDcBWEUh2r7fvWyfaYiIqb
dIjyjdEDGS50r/2qg78s8lK/1/v4OeZmtNeiIF1ZvmI9omQQ+3jyouMQJ09lMPU3am6Q7Rpr0aeM
c/Nr5WThvopq7K6a/EMQpja9joyTPKs8otYiF0oka7ISTlMdjCy2t8gRifMKOoUX1+QVy+ngfhj8
sRLky6NEIoE5/SJpcRs7iO70gYTxWkhTBMsOQdpQHVC16aSuVUJ76HHrTXB96b1H3UFrkff5IU80
wAYrCFJ2FZ7baUU2U5KRhGxG32CtmJRGRX60LQRMSzWerC9loiW3ftwmx8jOujWZVuWhgxuxKiId
4VhfOHukdifRB8Mmx7/+Ns+iD32kDWRiT1SQ9J6qijda9LcdIN4zGTHGAYlWvVX1no50PIgvLZRK
jLqCiWa+0NJVFaT7rMFeCHDa2QSi/jM2Yeu4elXeaUkl8pVZqMqWBOb2uQlY60XqxWDL01ilO6en
rFgIxCzLwvw85GGwVt1hOpmD7X3IM288aHZTrnLPjA8OIXrojJpwGxDptUVBqJ+0RuZkljlhy4Z9
16O62YIyTbeoHh48OBK4/NH+aQuamboxTHTsPTM6lTmVSuAYSKEmMX4FK80PYBTekw2g8j0l33iN
UibO6F8UxgmxFv3VMOK74pKnvZVQ/31ZUBXGcdQ8QgpG89X6/Z1Lh2tZkvS37spSW2PfNu770LOW
ka4WhOZC19jhc2JtmqEu1sSv4+ZihAjDAgPks4WeYVZjfcsn2fw5RATWESBZEhyW1msXSx5Uqr6M
pQynbRRlydI0yiciYQ9dMf1A8Ah47sdIp5hCwcX7qeZ4WrtZ/uDVxrRVU+PeQEGZ0nL/kbV9vA1K
rs6xKOq9qEhJ7kgdJUTsToT9x7we9GMp9J+B4dLc06dyTTqWBTUnQSyqabgvjcoS8g+AcpwicFTK
pzHtqzvaad7eVwGQyUvHauUn/lD+Fp5YTyuG73YKmLVkOb9nYxjeT2MOn0k0yi/diR8CHAoDj/68
cLELERrfNmw7o192KbR9U0XhJvKQ2LRVStZv5ELMTlvPXQX4tqNgKpIKl0UOqtS0CQQc24Xte9rT
qJftj1APa6RoVj3cTonwwG/Z64RfVuZXqg37FsgnC5cd7mzdbmjj9BNtqzLF6Lp7FD3mbRWGTI9d
6gKBu1577zd2K9Y0japVWpBOBhlgot8aph9JMO++e5US3eValbQ03zApOE4F/vX9GHrfpmSi/0Fr
JFUhcegYZnlxtE9Dg05oquTlr8Ry2UJeaDVfp1ELP2hKP2yJ4QucVZFJ9apoaeYjSTb9HGDasBTg
0qZxVyP6VWoJnMmnVSRUWrt6iJvLihsqwj0dDCoDvq/0Oyu0intlGlqVCPCq+ExI5KBK+FUvd9NA
y3UxllH0WEQxLTLcWeNiWQs7/gySiZQ4ROT5XLdIkRY0+LHzNegZAJwDKD+mBAWs47AiJLHMiSOc
Uk4hoWinzCjN26icCvKnjcDxD0UWD/WWdFjrBm1q/KedotVbBzR99rXd4H1chS5JbWbz4I2Zy1vI
9/kL4kBzWZtN/nFoi7WRmcORFDWC0m21yTmyVP8bXBhzm2V+f6zjtN/1IhA3Eb7oT0koK8yFVefe
91H07nMKP2jLLp8+9Oihd3lgxBq9l9LY6oOtLWree22DinL0FlWS0uFJcwzBIOVOsK7GZLyPgbS7
h8hzx3DVRmrGJ9C2VoHTGPzZOu6WhIajsrU9lGUE0vIfW51Dpmji5JQ4Lo1xLEGHr1qfeTdq2Vqh
t/KbRsUyKA4pakMD/t2nFK/Jnw5Xq1+idcePWtLVHupHUe1drfSslTUEiVjplao+RfXAGU6ZVHws
gzwN72n8cBiQ1TRaS84NvsJj4fEs/bF4KFM2xBbZqnLblDSQliUKbWSBfb7W6aB8VbCE/Frzt8M1
+EW2QmXWfdC4IxyiImyIN5yUbTqmzcmBrPyldiuKJaeeynihqt3wWYyjS8B22fpE0wXTYC1L1SuK
vWkUOPRY2WRMy8wfOvtzGlkUYtVk3eiAfOkyamKbrNiaAHEebbzB81jzbzucCOhchlYlfnHCVw39
KEPL3K0h4MQ+wsgJ088Nqoz9SIso50LoKSncFav5nMRZcJ85bgYYbg/JQ6lLSbg5xs2uL42OMJIi
ZyEqErsDIganuAEtJyM4pEOu8A2sJBXRoEl1DPKaWXIVLz9OGlLhuGmyYaX1kfOsewh9k7HdlerI
LQRSzach44PjePH0pYlEtNN7KHhLTP2nrQ7bc9Vh77m3+5pe4jDoO9z2UVS2U3iTkPjMN8GD7Enb
fOMX/rT0YJT8qftZ0y78Lsh5ZVr1cQqd9sPLNfZdQODlgL6fw3/5WXA6REHY/Mv/XRzg/4NZf7oE
sv7zP8L0LsCE/+Pvf/vXl7y///73//q/flc4vPyTf8GEMHv/wJwGcyQMojBzMUGz/kr7w5rrDw8h
yguEAlSogyr9H4WDriF+gCWOrh0dnI511b+DhOYfeJaARbk4JUFCxhntPSDhTHODokFHVoCdm0f3
Gqa7hNp+A+UTS6/HqsvVUxUmykZ3unYdWF61/21dLqBar0fB+RSnFapKzLZBPs9H0WKADe4r08kD
CVqPUVku6zDrt+8fhcaCNL9GS0J81/kokDQxLYB6dsqhv0LAVCYIOdxk3x7lxWjxP0AdokalPzSU
TcLn5NLNuyiup7iF7YjhxFW2Vleh50CVQ8xrf1I0r7qbLLt/Vmur5LOnwViBZuFyINupFq8iHCWu
KRkvrC3AzovKD49eey6haM064BMdMmu1q1e4cJeH0TeKayCbhHBns8arEG88ZAQAbXOfN8wLByUM
RH+KGqJ2VnhftASnTpBclkY4CW0Z9AYskm7I026p1m72GdpGa6+MMim4mSp6fwXYkpDr+Q8ij4PX
SXUtKRCaW2dhHCHJAcS1Uj0+IaYkp7cq/uyUqbyC/Z7jZ/J5W7gkkUVHngpqTVMitr+9IqEwGhHp
ZXfC6aP4GQRdtE4nO1uXgTHcFm7hXRnvwgazePPNF9WTPBVk8/S3AYMUVUqkMrPO6QToR5qv4qQf
vllFAeyF+368ULLOefbtsf5TwyvkGUqOg/ZachLf3uyvNhfsFU0jSYcTiPnPsyzrYiC+cuAKD9XY
QBvTjMuGV/DKK/V6FN5ZafAOUokKSJ6Dv08YXMaLEm5DR4Wo0G0g7GdQOvtK0+DCIKDEWDqbGGV6
+DKdD+LCJWNbCnEqrQJqgKOVn0DxtC9vL5g8L892JcpUGo86nAkUaub8DKraVqCU9EHpNGr/TUhM
Jcw3p+rcNVVQ/024NYHLk08D6MqjmtvogbdiXkljl9wvaW2qzvYpXUdc47FgOTmVKMSSYPcEQwrS
oo9NN0B/syanfpioEaH/hRSaC9vuLa7AqPKmlZeM4QfFbZTm4d0L4tLIolUDDk5/aHYop11W6fiD
V6fYnVr4VCUUn4XA/v05jSEGbfRsMp/LuKndKyfWq9fWhGctRcL01U3p8nr+vENA8bJPo/Tk4Riy
jRx8IbLW9Ve1qjanEk+AK6/t6/0lx6MzT0+PiCt79o3L7Lri3pynpyzocYAf9B6koLiWhCaX63x/
oUfmGWuYzHPwzQ8j02twvMnL9FTUsaHfJigUQxnECRkl9cEsj/hWDI/kdsS/aqeBYvL207wwSeoR
GZiBpFymFZ0vKqDbkFZZUZwKbDQgEyo9fanxWrLc3FSUrYy+0cZYgQ6prrGXz4dBY55BdHPzEzKE
DJcQJSV01Jxy5XuI3kvs9bQdfna2intRUBflp85zsi+eXXKxDkan/pzZArTUrhVMc8rEr/ol5X4R
Xjm25jJx+TOxipWNWhdHQFor5z8zMZDhJKmeQ6kP9U99M4ZbWL/km/VhtEWa0X1GbjB9AhsEEKtB
vox4SvZ4JkZfuJn6OwNR6crL7fTKITRryfHJcqQQ37BIKoIrYM9DM0bkNLgfxeMR3+HwFuSaLE/C
qwg+Flp0yFx7Ogajyk3Hju2dOfX2mqjF5M937pWXH4Gsje2C9cDcfKCsgl6DKTscA24kj47lZwc1
Tq/uFbnIZ28Ew1hMUhZkstc92ytDiEkLaMRw9PsosFE6GVzx6NvnEJpMMNM4TNNvLZDuR5GMpr8S
U+SAe6ixuymSibYAdtbptffkVXGCWN6EfQ2RiOs9PhPnO6MhsWbUh2E4KoNlLMPaq2mI6T1GNIp6
ZRdeGMrjGqDxsHEYgUp0PhTWFaJvm7I9xhYtgAGnlmM0TsOxcyP7+d1P1MMB4MUa1WDrz4ay2FMi
ULL26LWTcTCsylx5dXTNN1GuzfkDlTpnnXeLMSSv4nxCKsqxzDCH5oj1UrtLO1lDCwWxHVKZD2Vl
+FdcRy6OJ31e8YTERd6YlVtq3qX4PjOeit/tahgEeg7ivJaKb1qrVpuSK9eUVyUC3XhsWLmh4HEA
k1+esb+Vdw0a2L4MnPIYDCocVVd8aCftc2O4Hwelv/dz3X73DoFMwBbB6ZIPBwSG8wHBG3MPu6Xq
OGZUcxQfNYAYooSdFDv9BRVwzw9+Ffd/PaYz/oL8Y+dPTx4+1MxSno90fza7oBoD38eNChENZQe4
o4aa0syKRFv1FTAIGqsRsgYUZ/BNZ8C6b2GXmkvf1ZVc+qKfmkd9bHplGbax1yJV5rBfclzm4SbM
UXvhjeZr1kqAqNPaQD+hEWEAJrIEpLPdJSXqlJPXNyjJMlbcCXUqfLZsYVljCV6IdIJuR67RlHBV
YX577wvC5CGCSVYKNA57dhbBuRjqWvHUY6zXYpcFU7pFav3uSkNe1lVqKSKhOebnX0eTUMmcRoB2
9Ipy+JUR8bAMMQz49PZcXp8rjAIlkaOVahYv/vNdY45FTtd40o51lfU3qe8NkInpHPkpaoO3h3pV
VcgJmexOw4B4yVXgfKgpsNPCJ1/gaI8DcosIGzDDjvzF26Nc+CoyDPc4CahwX54fXxn3NR9vLvWI
KAjkEdsPRIM2luOLcQqtNS369Bs/pb1tFCw5GxRPKwfXpis5MJcmC1OKYAzCbfhIzA5RrbITqoBC
OzpJX2wSCAyLhPDNK0v6+jbAmvLHVZcbpM3Tl4/3t1OGmIpJTYtcOxpuI/Y9TZFuGbv1eIfULsYf
tYG2Q+armX+STqw6zHcaoQszLhE92FlT2x+MVOp73n4GFycPEUWXtFc07bMnrdPUtvvG1wDopxx5
qQcfApbGPzEKR54pDZTQ07ryBP5t7qNVGQL3Mu3oBhW8cM/x7/rJMK4Qny7MhdMU7IWLFx8OiRX+
PorfIpU3B7c5OnZCxxyc4NCD3F95kK++Thg3SBqYDmANsW7uiWUrGaIycPOjWSThD2TL1ncLhA29
n+c84LNWvPfrJOOVTV2mVUh7HMc4n1UcdX0H2tLDOogUqlPfqbAbTPOvUWtUp8Kg60/HrbzyUrze
rjJbBBgLexOwAAiL58Oqzug6XdBoxyya+mMu8hK1VUWqREWzeaMSHiAWQo+jD7oXDIdKM9rPmt41
xsIIMrFTJ+OaCfzr04LKmeKDmxz7VJb3578IXSAy8zQ1jvhn2YIWvlmvsqw0Pzi0Tw8l3Y8bOy6D
m4ZKej/ho+khpL+aw/7qvid/BaRK0CB22isHrzqLY16kwjgqWaiio/dNOPICpacf+OG61HTMdkPD
elIVTCre+a7KoWHBQ8+H9cpjOV8Aw8sTzw864+jk2AH7wxA+ZUr08O5BSMXiTouxNG+sNYMHBs+N
RpmtfZyyPK0WgY8IpzAK6+ndw1gqnlIvjFFpNnQ+l4L7AZEvoX7s6H19oxmr7PkYKet3jwIbmP3C
h5PaZ073G5y6RmiR60ebLuPnuCqzjcrtqnjv8SbRDJVSDrgesG2+M4k6F5h7Cv0Yw1da9YEB9a7F
tP39k5Eh5AAaIHIwGM+XDFaLVtd4Sx9LlMVLAvaitZJeTX99dYjKuWDIxSXRRBc3LxcTtFg6JiWM
EhMRzU2xWVWTq+7fnsurkptRcC2EVC2RKBxXzueCh0WTZVlrHNvYFw+x5Y3fUQfAWogBMHQ0jwjS
zehKKfz65Ob8sLiT4SMjiamzAqpyhinSlTQ7YpBZHts2sT9zWCm7Jq/HbeAoCI/fnuWFQxTFCsij
A2ZrU3vPDlEjsUIkemF+RLzdL2O7LG5SM+gxGen0necK+FNou61DM5nm0XPL+g7r524Xa0m5zwIP
R48rP+j1uvODQEIBAFArAOmcr/uQ5uHo5mV2RK2aoSPsRfFgV7l9KkgG++XqvX3ntlmar6XEHo+H
wMaCJOnU+keliCBYKdFQ4gTgGqHYJl6LDk6Wbh/7GnLWQjFz6F1XfrE8CM6uL/IbhJsnHG/MKCki
zn8xOS7jVPuE8aVDWW8jK/JPetUFH+nc0OkVUZfg5Dn0z642olPPOkWTrEWMA97+Ha9uUfwIbqQS
ppbaghdO728VTALSaxdJJjD38CPUpZnrbBpP5Hvf7hCvxbaR5rTw1eqGPnBULhCmoyZ++ze8ugBw
TBJPymKAaGITOTua20BTWwwfjENpO+3ej3pv5VEaLNpRvZaz/voUkOcZbwuHDYl18xNtGL2Uj43Q
D0rq13syQrVFQUl05RS4NArtKw9QRiZLvup11hlu2yI0Dux3Z1ti/rLHcSO7UrBdWjb5BUAYIrN5
5jhwH6pEEpCVdogq5xblyE+lQwCv+Zjpv/v5oDKVKAkOeJo+XzTdoCDUqsw/mHnQHno8gxHLKdkh
6oLnt0e6sHCk41r0TVQaKGAJ5y+Fh5M0qXCpd3CVqNpq7QDDKHSDKwt3eRSiSLhuAvrO7R8h3UY6
xl/uIezsamfVnnQRp3vy9lwuPB7pLYzejlYpdebsU1BYZZkaxMIdolrTFyXBt7sox4gBArZ7ZUKX
h6I5KU9AvqSzZaOzUVXK6LmHwjfEz6isnwgfswEhzMFZvX9WVOx8Px2eE1Xb+RNqChooShi7h5YO
/k+zNJ0NqeTxSUtS48rR9LoiBXGQgVBc2YG9XXl0/XY0ZZoqHDMd/UNWQY5JvST/GAO0UrUpIlvR
ZGuOTUEOYV/HQXllmqb8YJwfzwyOrsrlM+7JqZ4PDucycS3pAt6XuMovOYQLvGom3fuRNF2PJj6L
zB9eU2SQufD/wCQ7UX4VhSf2UYyQdKmwKT4iYRGw43TCO5YGru3dJq6T8snGvH1YmvUAMUHNgoAU
9TGvTg2MaQiEsa4gRqVVxn8d6P2fVWxiMUBx55M14fJi4HDueSQZZ3iWjZNLX7poXXfJJyLcJknr
4DluUQyuROnVsI1UUyw73wlu+f+H7dLEXDlfl41QH5pB6Fi9iMT6Uda18SUOIbwjU5FUoLEk+eTK
A339kQZJkrpFImRepCrna1rC8YTr6rsHo/A+pcg3vGjEeDlX7kmkuMc/bfv2Xr3wnkN64cMGFCN3
0ewZGgO9XjWd3AMSYKITRrc/ZH4VXUF1L43CTRLwXcPAC5zlfFaWqo5OKt9z3N2TFXJ3axlXSH/e
nsuFV5y7MiJxKgaaD85sFH2w8qDpmIuP+GevmEZ/b+bsOxOvmn/iMXHegxq9LN1LM+q3905UlbD7
rncPOANhrmQO+S0ghwrV3q6jHaCotSlq8U8tI6WzwycTNH7uhOzGRNuhP2CCiVtskwgzgyoauisP
63W5I7kl8sPM9Z9llMv829ymeMJHvVXdg+sQqprUXrsZR9HuRV9192T0wMAsjf6A5FXfNW08Xjmo
L9z16Yhyx0fESEYgacnn41e51RcY13iHpsvx6QBb3laYTi3x8ePqM43iUJAxtor7bC3aOrojwpaQ
17e30qUNC+Wf38HHgvvK7MPUtAUxomriHaj7Cg2hQ9V/TyzkvW8Pc2nH0g4HZ6NZTQdi9valTeHj
aGAyDB5xuCAIPDwSJzJOjmJ6VxCyS4/VQkgv7yKIYOdaZSvVfRihhoe7i+J/S7Wm/9DRN/7VDsmw
M4zGvxFt+xQK/BVhg9o/357phQWlBQraKzOIKaNnD1XEeUAiiqIchq5OYbmKRl8HQ2xda69cHAc/
UAwcIZ3xmpxvHiPQS8tIHOVQiWq8VVsVkzBTsx7ePxua4YhCLVB51HXno0R6w5/Hr+ygx0Ic4d1i
jdta78d8sNmBv0IVxqHGV/58lCFEWNF3rk/iSeauCJepVnk3WOu35yL32Owr/sIogoyDOppeyfko
5piomdXaziGPqMYnJ9d+RZXr3ZeYpTzWhrjaUryw6aFxAQEwNyY3FwxjPeC0QdJQWg6yJQO0dehb
Ea8CW7nWj76wG+AF8IKRkQtuNk8W7jQ/DGNcgA6d0Zg72irunvvsNZT2woTwigVlki3m129WGKB7
y0bLPeQI0vZlKexb8gi9I0Yqyae3H9aF8gDTEzhFFlgG9d7sNRq7Nmhbh7VzJ4s809LFUC6uxvtE
KM6u6/BlM/y23L096EuO9myLeDD78FJDWcx1QD/fIimS0wjI0zl4o5kfhlxXbiSJ6bmoUUwkbun0
+65xko8Y0ju4qCV151F7+sNRpa0DV37QseRKJtiWJNPozqKu++nb0BQJzWTL9rVl06bqZ3wqVLxp
RNtg+pRAs1+B5mjNQjQWGVs4cVroqeF7nrxRa5KFwB3OXmhJbn8z8Ni7d8N8+KwYdvJV5xglcKkL
sq1lFuUIDzJQr6XwXai8+URKYMDl7AaZPV8TvIVavzJG99AobbZ1XbfYt6ae7fOwUrZ64uGVFjdQ
ILIism7efh4XdjVDU6t5kEvQpc2GLlABlGWhuYcxnxCFosQ7DGnfvP/bBE2EbYZ7h4Q4Z1stcfis
JiUTNKxMLHXErot4iAIoh4TDvj2hSy+QPOLowpFDbBrzgw6RFiasgiOoHaZdoCXtWhPYtlqoOa/U
iJfWzsDmgWs6905Sbs8fW5sVqpv7rXNwU9+5w3bIWgylI95fVTMN1kwyJqh5Z18hUynyOOGScwhw
PtpVVeytTWK83r9qsM7ZAJIrzp32fCoUZpEjjZQOBW6sa1+LrT1e1NkWU2LtCnr6mgULYx72OyHR
9IQBhWYnAMczJeEwcAI04bjMyWWENFCeIjsQy3Co9UUwIsGszHyX6e1qmsbjIIrPb8/34o/AwoPi
V4MvyHXifMIiC3Bd6ym6YclziyjjeG2isl2pto8KDFeEVevZ38uhzW54sMre8oOEPMSOQIm3f8ml
/QoVmK4CUDnv32w1XPw7e4XoikOLGGNrEdq7w3AMAY9hX0sPv/B1pgIGgaHhCBn31Zyl/66AE3ww
2K9LGqzBxxAx0k6lGjiaqR3t357apfdDHvOoGSjVGPR8jfOmw24uZ+dOjtVsPCfG/p9UvisLeHkU
eIUm9EVKDjnr364YlopqPg4s58Dl09mJztIOeqZXV06wS6PII5JCg3edxu35KJFldCHG1uahVnAD
oj2Djx4ZLeu3V+zSJxlbCd52ihmuLLP6SYn1MYgwBCWHsdS2uu5L+ZsbE0/D1aiyCDLDia2+e3vQ
1zsQPg93ad5E+kF8gs6nBldYi4oxtA9OraFfxIVo5WRJveDVuXY4vxRJ519/xuIk02jaoY5xZrtd
aXoH950EhwLRYZeru4Gnb4jEdjosy8EPFoilk8cq6Wz87p0WcnNm+PXJan3VQX+cgs3rBK9vA7NH
OGf7JV6fLp7bSMfrHJHYpCqdxXe/1K7ceF6/O5iFc/pS1kLuwNnsfJEUjPBDqPvmwdIDeqbEzd70
Zjbt+sS2FkllYVb99lN5veEYEDCD9pmEZ51ZvyKNWgGnqzQPo6QANq0R7DE2ca9s6wsXZJwauC/q
+IehSZq70sT91Ls5oPehIW5kZwWlRTCq3eore6y4F2MKvh9shSg+NyNrN0j6Zy+q0iu/4tJcQVHB
P2BUoo6aLa6HMYHvxYaJxp4szqG0fo51f63IujSIFFZRc6Kwwjvs/Al2hPFhEBpbhy51XFwKXExV
sbxdvf3YLu0Taim+1RSfdL5no/jQfnAq1uxD0GO0ANvG2nBCimVGCb7hOnmtZXzp5XVVxErgiry+
89ZHqJGJgDLYOkxeQ1TBkJSHPlPcO6gP6ZXS/cIC0pgGogXagwU3PwLN0m6HQFAj0F1qiako+/LY
IP/S3r/zGUfe7TlgZCLW+YPyMRGQVsf2IaMPcyMtUg94Bzy8/Zxen7T8cUQE9ALBpcgCOh8EN6mc
jd/YB0PUzrrIWxoTvmqfmtQ3Vo2lhwcSl80rpdxr2IQNwZ2L95n3DSnH+aCOULxetUssigaUVUtC
Y9rPE6LZJ0zYvXih8z/foX9HX4zDs/c9HXW9un973pceopTJ0Fdi6jTNzn+C7RJd7NWTd+jHzvxY
hpp3Z7VXv2MXdqU8VCiJqY2ln935KFwjC09rPbCo3vzoKrpxp5YDNg+Etl553y7MB9GejHIiyJwT
enZM0oqx6szM/UNJWblEqKmtgtxRrjy4y6OwbFInxhdstiVxgyGGNg79Q8x19D5DKUaAppZdqYwv
jSJD2GVflsbf/D6RRphyp/hVH2zcQm+N0ctI8I6LK7cW+YRnn2BQDHpX1OBwTOa0es2M+Xdnu4fU
KcudmQS429d9crSxbt8ZXTmc+krVsXcS5rvrQYfDA64Oai0bQHS2K/rJncAME5Au4Wq3WNBiqVj1
UXXt0yn/zmyGHMA2ci2pp+HWf777IjrOWZpO4uhGUXE0QkyaF15SYrisQhBeJWFCtoDfkifw7neL
naga0JHopqIVOh/XSjDfNQO/OKbEWaxDRYWYiWz1yjHsXZoeN0HIIC87xZ7Xayae4R3ZLceU6AJl
W+WRws4H4pcB85rYNllv4PQQGPpzRdbHgzqQFb5o+346CguF63Ls8hQnc2XEOoP+lm4sbbUU+ECL
rkl2QTqFyWqMx+m7YiYEZ0elwM+ma1PMjP43Z+fWHKeure1fRBXizC003XaI4yR24iQ3VI4cxRkE
/Pr9kO+7mG73dlf2zaq15lxltUBIQ2O843nL0vEe0UmYeiToLEnChc70HKJrMorjCCm8AJutG1mk
psz4vCXbokMddhozgI1g/dGQqlQHDJqAWMjczXXeSFYqyCplZh6g+zXl7VIkfYHdfJ5MYZk7HoQN
fWyDrq+m9AlXbleFssOu/eBnQv9WrvR4HqiO69ONrrVlc7vbw+bhxCGFBt/J5jFC2S3dqB1pPgjN
pZvWyIVrjEnOluffUuwmqkPjjd0I8jpdvq1jixtaWVq4dbuLah6SGUfjA9Bv/R4qMx7G1TKYN3m5
IUfPnYEte9Rnn+59UTwN+M9XYUF+mrS4NKo54mx21L3l1vaXwpWzdZcmgIYCWmD1/K1VDaWJa5Js
/2TC+wBCPPZqrKjC0tfEynGeV9VN41RmFoyi9Z0Qm+3eP3r6LE5t2vsUSlNUnbCRq+qPKaUWb72d
LAe0I1hRA2lPnl5f4n9DsbNva1d0oX7wdlnHefrOU6mcMqDx8Tz39Uf0QckdzgvmQzFhmh4A7Btv
HexvblxNm48OvqRHc9Kcd+bYe/DHKtx6sID3H4ReTVfChos/zXY5XqlM0B91fr0VUzPy9OslHiT+
3CCnjVjvZgB3WkPrJgroKRn+9OgEVhj0/I9gkOXY3CfVVLKa3ar+AbxY/EqkaPoAP51BC19/eC/3
d6o/f09+rnfIO/Z//5+bqqk4xXBjmeJSwvsKJ7L872y4kNduxC9PX8aBA2yi8aMz9jxTrU8tru2F
OcVTV7u3Q62JD6I1QMjzOX1+fUp/FfzP1wNjOaTZwBngdnauRofbMzR6oQ+xm4kSDq+Tz4/+jLFJ
sDVVW0X+6vd5BI8KRIBhUA9Xw2y/NVm7nwwPyAeQM2LWQ+X19bulBtoEvx9YX7BwD64Pq7fSbT+D
wY3WwcvebGlRqwDxNp5+ohUYJEsA10EnINWEC+8Mu5S6XL6pyQEPQLUt7d94wzb7YVXN/TUT3pcb
MVWAXQPn7kVU+m+ev08Hok7hLNUUKzaEgyHL+k+bj/lJATk6ghKF4lur/287+r/24Vx6uR69Z8h2
OLtfNGqaRp8XhA9TvGLw8sYFOv8WXc9yLPJUu3LnvbBeEVSRRKXNANnceWLAqnN2S+AwMcFsHw4b
rNF2NuZ/jgrIRqGq2vGytBOelyE2mvRocBc9TS+iAUYv2kNiFdfaay88NpqVOVj22IfWl7O4d4Kq
n8N96+PSniFird4UTmOjoibPrl00Lw5FIy3TgffKCnm+LCo3xaO9q/tYa5wU5JuuB4tOZ2JXa/2V
HeVCGpO77I4MIaAix3ZeW4Zh0eXOHurQPmgGS1V4EYQgE5+XOfu4YEf3gaLG8JaOTaA2qFLmLWhR
nkcpMMfj61vBy8sNpVI6Nol70EjTiPN82hy32lj4eLNUi9a9sQvbe6fRmZqRwanoFEtB7hxbCdmx
Yr+I9GnUrpxNl34Ajeh7Mpc970V6E0tKGg180cW9EupYD9B/8Bg01vqQyHr6rmkukxeDD1ZbBwiG
7P+K2OHl97Knh/Y6CiEgFaazW4LWOsvW0BsWe60FsFhOW6Q0U155zhdG2SudkF1MesVQhj1/zsVS
aENvIN+GfygQbtj9TQ0P65+/yl3XSwmSahMb+7lwAmDlbKxcQONGn/DUIe8d4u12bQe9MBfUapQB
kHBT8zyvF9N/gd3C6phxYY3NrkSdIs6Ra1Tpi6Owk1FPRYvKJe75E6MKSeIbdlucwZi93XKhPhZE
dteO3UvD7JCa3YCa3O158rYa/dHu/QQqQ10O9z2mY3fbUrhXsrWXRqGIzwrn5ZuEE2eTaVq3nFLN
jNdKo95kV/X9pC3i4fWP+e/Z9fxc9/d7O2KSvbz+QlJbdX7HXTC34laviymydKV9MHZkWe6OmCY7
g/9+XeR08JRcomGd21+WpsAXyi5vorSs5HGapIjMooV/WE3rIS8LN+rruo4IL7XQmlUTVTBMj6qH
Y00mDt881akAr0txEHqXYZQm04NEBX1l03y5P1Px5g5vUrWzkCSdpQxm1yRKd0sjppqw0sHq+uGQ
YzOiyBcdXn+MF4aCrgIcieQ68q7z9oQJNiDbkKDvSfneN79wkrBlG/9kpHhrvT7Uy2CEqZCb3sEF
TO48ENsWUvbYQSlWX1ZHhLzivqVr7bHsFmxGcI76U/tSXdklLs0PRQTX+r/GD+cd3UmlXDyyPAZt
Icpuc2ff2TSy4Zw1C/1K3uJv5fbZkqT6iWANNhB0DBAZZyvfbA1NVr2jYokX3a8a1sF2O5WJMYRq
GuoksrUyRSldY0gTJo5iLyk9zY2gEFr5YYZ8HaMQM78Zo3CKePABevj9JmDvVqJXgWkMGYw6d0r+
jFnZ7RhFr4v9stSwyLMbwPBKr7j8tbVBW1ixcqPD3HEyfAh2nTkeZD9Cyq7V0PuhZs+mcZx7tV7J
Wr74+LndkBdCJcCiItNwtnRHnVS5izNObLpJ/h5JyEZgezUd/+Kt0phA/zEdtQ5Npi8CmETDmKWm
ESG2O0scYXyldx1dC0fovleb8fZkxdlLJW1HQhRdDVv0ef4uc/XR9zUrj60al1N0UoC8K5Gf8s4y
8hDopnqv92q+LWQBTNieQL4DwQkbsAlXTu+XTTac3mjHKQfviLEXdWn8svt6J3rEne4OuKghSAlc
pL+xdEVZBHBx0/rU1IP9s/fE8gljK3/EBKnVvy/rRuJDjhRfr1xqL7wKEuEoJwhcqY6cXzHGbEJT
67ll3IsVl6VxNo7VUhcRpp/6v0b7TB8FCLfGfeOnHvj8YMnndXJrYPtxD5E8KKZ1d8A18yvb1IUV
jJSBTnqe9H4V3v/9f+7ANLi5BGN2CSOhwlhqgiQ7uHKLXt8MX8bFuz8G7xDhJ2pwLsLPh0HUwoW1
W4uYM7nII1j10904jAV5KHz3iiDxsYEOkbGlX3212UVYpp72E8pn+0DjwGr9a8zGz0EPR3kVebvp
2OezlooTXdPKeO2Qb7RqlKdl7K6VFy492/3F7VoiomDrLDGoSzloXtKWcbJ1c8T1Wt1ieDhd2Yf3
R3f2xXLbgEeJBs7fs53PHy2ZqcRajKSLEdXjb8RVPkK4P9yCZ6nD2m6Mw+vv8sInQLcyQm8kdYT3
51ljLJf1fnOgaujZiv0u7AnA81v9ztKM9kpq9cID5MPfBZ9/O9nPEzRq0yZPbTo9fYYL4TbxmzcV
2Iorm/ilxUlX7K74tLDHYNN7/gQNrGinEcperLWTT8/XYMlPaems1cFd/fSX4TfVyQJV8MsVKzbv
Y08uKpj8pe1DS5Uiv7LHvIgcSOixMCn+ognhVNvvVf/5JJtmdKoO2994RH0TzfTkeeFaNuOpE77M
g4kxUT2Y1rXL66VxOWF2XAL6WhrSno/reSOiaLCtsT607q1npuVBU5MettNGB0gutg63e64hV9aT
+eKeuCcw0WJz7Fh7hfZsvslWDp0xVXWcgtHl+HdnVNm4JIgHVnUmYd0P4/uZhKb2Oe2y6ie4CJw9
VWY5PzWJxxT4/bqOBV7cdPz0SAxDs8yqb8yi/LZV0/ShnLb2lBgZmPKRijMaBgCWLrCrXHxF3Z9/
7wcDOATVveqgNTDhb4Aw0j40ts0mo8ZYijVAla62A/FV+XOQHum0zjNx/Zs7zf6E7zsGDoVHo0zg
Ad69R1+U3OqtEvOVUPnCB8Fl1iWHSBcfOaCzR1WJdIWeq2oYBXYSuuRUowYQ/ZUF+PKFgAbh2EHR
TcXQOl8I1bxQmDfqIs5Lepx2/vonZCL5w9BIqwOcrmOUp2Fg/KuUlhPQlNl9fn2L2VMTz7c0qm2o
buhA4lqNe9LzlQiOoBe15hXQXVJOesPpUgz/clX/8uwKPwsQhm+yAV+JYHO0a5vOy8+A3YZ4TtD9
hPzuvLdcmA1tTltV7EyLKliy4sYyBnHc6MYMsnll9cCf++f3yrJnLDKDQGCQvj6fcCU6Dl2MhuKy
HJ33ZtHQ5YRTffb0+nP9iyM7e7BcIRkDxRwJmXNhB9avG/TyrI+7MfcjfIf9GnzhPP1KLDfpDv3i
wUO28WfFYXnevyd9WE0ZZrXSfnTNgG5Ca9aEwAeOIEZJ8Eh/epmfYd5nOfVEc6wDWmDmgPg+W8ij
ruwUL08euH80XCMWQSLwwrEp8bnRGi21jpx1cUz84Zefmx+JiYwr4cHFgQgRPL40KpbnyUlzXEh6
4DUarzTiT0Gtu+0BrGUSy9bz/jV/QBTC24BkxIIjwDk7vu22taCNz2OczZ4eqyrTsczQR3nlm97/
zPM3T+8/MT3Vf5R/RJbPV5jqcxyAB1/GWYEbQyVokcPReSmiViKwzAvNvKbPv/AQ96IPwhaaMJDp
nR0nfYHJbL/YMi4L8Cazb88UHxYDw0N9uTK5l9sik/vPUGeBltpmu10besl1u+sPm0XT4Tr9O3cS
seF/RzGeP8IV12NhZq6MJZfQUN88vGi1q6zDi4+Njc8BpMD6O8+GYNijHG/lscli/IQr+RJiKIJh
FVasp9d3g4tPjQw8dGX0hnS8PJ8PClpiPIuRAL93t64m+4heSe/KR/tyL+ep/WeUs3djrVM1kTOX
sTu5+rHwG+fYtF166MgqfCiN3T/XNfC/KOp/lm8QRe26BiThNunMv3HHf+KovKDTS85+E7v+YEeV
qJyDsWZfX3+IF14Xb2oHwnJpJno6m14m+9IkpcT0Zh/DzaovbkDnywN+6EX0+lAX3heIIqIzCJJg
kM7zLdLutaVFpBErIx1+VAT6sfLIPfz7KC5vnGQ2a4JWhOerQrHNJ33KKGuN93WAdGOPrRr38d+H
YSPio93BfIjYng/jShoAsyRFSYkJZ6BsVx0AHFa3r49y4e0g4iaZDUubxttzgJu0M6/1LCqCVT9l
n8Xs4wLnr+sDMOl/v0iDMCJ43nvQSQmdX9fNztYGW+MS0SSecZpGr48SQB9XvqYL2zjgO2bE/RSR
6Hn+oSUcyuiqb2O8u+2nyZva45ob7tsFn6sHV07jlT6EC2uOOyURiUX/FBq1sz1v7r1WX32njed0
st460lhDDJmKK1fYi6Ow3v5ffQMMzvPFkNVaMVbG2saaabTHbECV6elquvLsXgZ2FOZYc/vq3m0C
98Xyn/2gcjw4AQvBjzfguFSqjXp2Nq1hgV34/cBjPc3aVQjdhcvl3meLioytdG+kPxsVd76lcTYf
8RNr542DL1YXJNjSH8Rkz/epk6a3Agn7nZj17pRS/LnbHT0eiy65Jne4tHZ2Si3KfDr72Uaez99d
E5B8Q9LGeIjTz9VY2QmzNrzhJ6s/IrLA5eX1r+9CBo93iTSFMYnnSRY/H5E+tz3qXZpYr9rY1UY7
MrC9xyjHaaNSQ2MQgHXT7rPJ8yNZmktgqrY4YT5lTOGCa8uVn2My3H9iIFJPwDM8Ai1+FXX086yP
IzrNWPrUjjt4ucHiWskQGA1Cp0Gz0rfdhu2PC13soUgX68FRpjyUHTC/DKOjR3RmToB1m/Zv4d/f
38TxS2V6X5dkxp4/ogI3Sl7/bMdC545T5rR6DcakHV+f+tk++HcUwGrwgRELI8k5G6WVRuH0rnDi
irTizmrwjhVoRPxuTHFly/3b4nn2lKmEsg+iAKX8cS6Ul4Uuxt1cPKajPbtXU21wTSPw7cOss/LH
fBy4LINm9H7M5oDeu7N6swC0M3cpjj1bflTemOUhhs6eCnCE6342tV5nwSwhcQfLqLzHdTbAkNbJ
6OP8gzXBG83uq9+roemPaS/wjV3HDL16udZ2GiK9Xd3j4DZSD0dOPRV2reHfeu4C502ZxlLSAOdh
dE8rsFQhARh55naSVMvqwRRlSLWlwaTM6/GhSJbtjao2fLTLchOxPWf9B8OaBicaR5NqWY4a5Nrl
8LwngDww2z2ZPYunxIM9p8JI6RXWKsGQWbvjKoyiyr/rKyMtAu4OKprdOr11sLAMl5WvawdBNcet
8q9piy7+DpRFVKApae2Vn+drlQRnCuDCF3HdG4jLWivHh0KJptWOQJj5ZlET+lOg0yoGeX/bgAZu
mQWb1m1scYVjeHZk/H0m6BrIC3KqIzI4W9HwCbImR/YQ48prvS/NrHs/gW24UoO4PApXJtRbdBCc
18NRZoxjoelU3RevPboG7Z+L3hRXAvHzffLvZHitLD7+A9uWszOiRjw6m9IwYk2tS37yCyXs06zM
4Sdakv7J8wbxaWWR9AHOhtl32hzx6ptwZn5i/6wfuBfj+/T6jkGV5cJuSSl+Z3pQh6Ho/PxtZzAJ
PTSmWzzM8/BN4yX8omm5eFAIHrDd8xJsKC0/WSIHUKQMqsZLZSA1u65PSS3lHOhYLqZRkrntRq5t
MOdjqVHEJqeQoT+tUtKNuKLNWhPo3aZT4NOsZAkcq9vYKkx3cU+irxSuofZS3tqru33Gah5Y7WyM
mBaWi/rgTBlywr6EVx3a9Hnct1Lvyt3qj8b2krU6hW6+qDLEATDPol4VyTukVfim9OYw3Gd9tn1z
+iXFZ8wqcvQ6QweBjCYmjZ7/bZuKwzqlHezaptMe1o0/G5SVRc1LmZ33O7HJ2UR9n6KmGQbh/Wx8
BRpKJtL40DNtKzIheOD6uTpJgR+D36pDv1feDrzJ4gm7BvuLXFI2Kr1xaojMS6tWeqis4ovnddOu
0nNHjVu6N9xJHWVfpDSHnFdr+9OjRlXVCLh7jEeJzqLFsE6rzSjHmm8I80TKB1O5mTpI0fOAu9Hq
p9BkV+wDegHm5tAA4eGDzUdyWbaOjYZf+eId7prJd9E0v9VgGJ+yLKfAqpose6ebajhuq94dJZ6k
qO3xwHmwCrd+15X9/JhQ437qYMqZJ7Cm4naaZM/qcJL8pneG6Q/+PWZzdOxttALfryjslv7Y36fp
hG9DXZhQqSvP4+5kaeUg3nhL0dxWk20Up1pmZBuV6tbllNnG/NNbrb4Pl27rnvR5828yd+h/Oem2
GEFPLzt61rHuv9ve2rIak6l+qPp5vE0Mc/iVYVo9ho5feUgUsVb+WW9Cu+vbtDLCZunXu5Ea4tdR
FN2J2ig7HKn3xj7smvEszPSu+UEVndyClnduTD5ZjSfUv/r7ytRAHEq8N7/qTVdgbbpu98XUbt8V
5ICPK0YmWzAUFormjQcc2GtWQ+CU+RzluVPftlYpHrscU2IwIYnzyeM72IJx0MeK5WDYsbGuyguV
mqs7mTrNgz+aVhlmspuLoLPstg3HZWvvVVnoRTBMlvtQ0d40RZqWJxqhNJ5vN2NlZ599UavHTurJ
dwht3oNUNNYcZ98tt0PhGdrTOE76GtRt36jQ0GazCVnIhvqwUtv5KG3HTcMmycs23JhSefIGc1ru
0gyx4qFu1HQny956wmsRee8y1BYBDZqV34uD11rQ0m013KS4AsuHypJivFNGY/zATGB+tNGl5Qex
dmAEXJHqaSBklvXv59HSH2A7457qKc3/MlA+s0PKdZ4IjXnpcXbI1ZaFq9v49TvMXEXLMa6qGk9M
/Knv1swa32eF5PdNs2SXWsrRZUepG+1urfQa3jnUAYINlUsnGO2WjhKO1z6kNUhFul34GzjEauvg
T239JwA55AT70n5YHc35CUq41DnyTfexnNPmV9lZrIN8mXDLEFU7Ua5WJFrfjDhQ/ipnPIo/pkMr
HvXFw57bTumnwo8a2MMbMSwOMfjYyTvIRB2RZl/oc7COXpmFlBixvVOAW34YaJbXgK3P+I6WcUs/
5LaQZZTMzegHq2YN6LVyWb1dBHrC9ztDWD8JOaDc74fBzYO2SMs/CDIwj82kvWRR2RTebw571bEq
5/VmmLhchrpTb0mYspH9EbOalqM7TxriIVqlmp9LYoMnthP1tRRakR+mwu6awGdiXGyMpP0+0mSO
PJW+vwMd+f7vcigphEgzl02ImbJSQTLagx34XUY3wwinWwbuOvjOQWvrbMaJtuEcMHMNJJAJPeDG
cruxD1iUrEc56eaNiQ0hdsRV7X3JtgFXV7o8+lDpqfam8ur5C2277qdBV9tn1Cia9241fO2rrldl
ccTrb8yOJrqnMdSKzt8wXu+nDUVOx0afLmXytG2Wj/pokuzMeBGiYV7px/2UkGb4VnTjdlelG2cK
vpwcEBkQQK6Qy5i0j866yuqmy5So7+ocGcrBKMrl3dQvtIJMjVZ8occl+Zw7rh7jmT3Q9ZLCxw92
NuVXI5f+mxbfUjPQ+i3/iOOLlkY5wp1YqE43kaePi3WAuAe4OZy7us3jKctadaPRm9zf8X1jTTOL
bLHfYmSLaybtuwX+S8A1fEx0a+/rVs3egsfv1hE2b4l3U+de+mGszR4zNdj9TeSU6Fho+m/TmTcq
nSwctdTB4J2mHb7gtK+9A0qCmpVdSsc/eVOxOznkHE+RNtRD/s4TGSKY1K+nIhqZk8GLbMsFy/pi
+5jaNEoQ0w9WEWaFbgBAz8f1LearWOmWyGaLw873KQJZiOLPZBDPBoVW5/SQdTg+hp03Oj7fZtI+
bW7Zd6dVJRpmk6LjpJc9Xg8hdiTbjZ9Q0n1XU2SqgsYrhPmAV6vWEW1UXX7rt51+I8lKHzvPybID
/zQB3TpSqj8Ni9vpqI6G+VcjuuIuHSfcKO2UvpVwIiQeuaemrNe5VOUQisYGXoeNn61CrbeMp95a
Op/cX7vdWYhsaw4jf3NOwE2bd3KY++ZjNpCOAiVsAMYXCWbSwcxrGoJkm1FFUQwo7zNfYZPizqbG
RWfOv3VZWtzTCWw6oQ4jBl8GmTlVOGdW/0CrR68fKLZkWFqnYtNIFM/Cow/GmG+Ae1tdSEnb/EOn
6mhFk4tdw2lp1tbDetlqbga74RG3RChvazHVTz6pcxwcamvje0td584vrYK/3HIvPvRel/0wNcf6
Y7ka1R52NE3/OPOqFp5Hrq2RSSRGsLVhxRW2a5mkQcLG5AfNvD/FJml8M6R5Z/5d53L+k9hWPwTt
XpoPkAYqKr2OtxxyvR8+LF5B8znp7+pba2npEsm8cGnsbvxlvZG47n1euSsuKM0SO/uWOEOt7tyV
gm6w+BVfG6CclhwKl8Eg9UrrcUvyBJiEcvUsAIDd9pHl45N4oISVfVClX/5Ykf3QB5HNbxvEld/L
lM4tgKK4Ao9bXnxMNrvNwjpXJnWTBPtbjEBb+0tmlQgsEhsn4UCrRvF2yqe0D7QBqtoBt9Id/Y8t
6S3ZkX4Ga5Y35nHLduQh/ufLEFj1XKIo0EVqHxwswz5Xg1+Ot2tdrz+JjUpsrHH1e1MXqeCOvCsy
cBYai3v4CtMYLG1llgHduUrQwNSsvzdwBXmgUdZtDvm0VgRqVBrGoB6c9AFvyKwAKZRqp8lZTA+j
4MqO7XrgSAU9tbThUozLbaX3mIfoTomvx9RlfTRjXlSHNBr1De7TiXpXpv5aRvw19VnRRtp98AtJ
YNeMoJ9CVWgsZ2uUoGW9ZkkI3qp51wFqdoMA3Uu+ZpaPkTYdahAekzy1PgyTP79NlzYfAnr0SMpw
pA5WkDWipAg/y+I37fiyPxS9Id5kE4KlQ1KZCZ/LOhIwaFoLIJJu4fkbupXR4jqv1+8Na+bvKyBX
YHTqkg+tzg2VP5iSkmaItYbSAiQhPXiTdFHypq28DI82P/e+OWZuuwG09BW+g1rz78LRmgEhQIf9
cWbhghRYPUT60DVnOcS2tOb35bJyHy85Ssiv0E3zgBXz1h8rrn19BMev/lUvFLwPpsJU/BbcUf+0
iqJpD1WGsdCPdcSa+WQOGYdo2nlVG/YZ6LHAXzypglpzsJSCQ0EJul64ngccubbB9jvUv6VZTx9g
Ia1JVGVt9mgT/7QnWc3a8jCK0v9ej376G9Jo+VXYki9uXVYo92nqfsoKlfx0+tk/FT7dQlGWedzW
5cILuVvmcsWtKoMMfRg6x4JAmuXscyidEj1cymGjpajmIR82c1Z2lNKfhRqBbF8XtYAg0gPu9U57
PxmkMkPug/MdWc+dEDk56ycLF6z2NoEWrt5uap7vZ+XuEp/O5BN2OOne297gqmBZNZEiNuiz5Lfl
lcy80LflXaqV3citDiBeYBZgSLAssLNP7ODUrPka8MCZBZbygbMI59eUCHki6k/UIV1X7bOrTK94
C5oFi4WqG6Z7I1Fsgxppq4/YlLv+aUBNnt20VmN8wgfOemf2vj38dtFyGYdSGwDP1UVef6q1gdWV
0RZoRipLioQQKWl/a3VDalP1DU1QDSpkfpJLB1+kgTzqb8EdOM0ByFxmvq9c6Xylb3+dw5ZoOAm4
/nhPKwbx+K2RzPzsNoP7aBdpoQd+7a1PWeptIsxKCgvKX0qSLdpGzK91SS8BdOjddzQ0+tvW08f8
gH25/t0d6u4nFuq4rQtjtd/ZvUODqW+se3s28VwSdq5T//C4OrxD40OQSNvOnAZO3SXpzUbDxs0w
Gt4QNsY2/ll2xzOMY2RS3GpjYqaRiWWFfrBBcYw0jNajeSVre1Y/3HMjOFTRQog4cddk7Fnt/2Tt
NZwMkqlvzXjj//embud2z5+vpGOU3Mol8q2qs4nWRj9n4eTrNYTei9QpBUSSu9AiSWULKgjPxycB
A0GvQazsOH0bFgCGQ5nq4y+1tdU/wiP2uZIDQi/4V1EMFOP5WOkgayziGj3We9v8CCXBhq5iOzd8
U9folGfFgH0oYOfMCpEvvo0vVIN7VqZC3ByPrfm+N5b6LbmLPEK8Kb5Nfn0ly31xNFog9xq9TZ7w
LHNoIb0e2tQWcdIa99Wym1Ct5Elbci+nvl2fXs9diZfDQQRCDqmThabwd+78M3aj0y1jvsRY6Rrl
wZ5kqh2Xbi6P9EvrxUEb05QytDZUBBOuM/Whxp77lFWW+UUQxqpgSpxKv+u9LEWF123qi3BwaAqy
Ok2uNQq8XGAIQPY1ttv9IhY9ezbSWxesyOaNl053/MqlLVyShRT0rBn/VmfjpQNKJ81POg9hAfWG
s/XlaWa2F6RigH4iWrSlOdjeZL5//fGf1dn+joL3g8MqZko4ZzwfJUvcolm1fo0dOk7frAjl7mer
aQJbM/pHDJjEYRzUNbbyy0wtXHasW2hJQN6E3uD5oLQQiEG27RoPqy7CRMxT6JP2OLw+tUujIIsj
KWpTzaMX6/koXlJ7G6nmNZ5dryGE9K0bmW3/Jin4+/xMHcbPvushwTibyrST2qx8WGMOAz2G0JBF
M00TTxhMTMfX53Nh7VGawzB8J4NAOjwbqlv1oZDcsmJIodmN3Wzq0XPw15lMqoNXMsqXxtqhQqxB
6v1gzZ4/u23q3Byo0BaP3DgPOACS4mq3OmKo4sq0Lnz/dO2wwdFTRA/0uVN30rhiSh08jjrSBMY4
ku/F5DnRREJ2yBJXFsWl9Y4GBAE2XxYv7mxiPUdv7dYQrjgxV6yJFsCNaHSTd61ekB3fhgrkwjJf
WSWXluJ/Rz07K3SvcLlqS9zNYEQ91kb36A9p9+Pf1we1FRbhbhb3ovxPzSsZCeEFHiarujHsTp6S
QUu+rcs2/Xl9qIvz2SFN0EjRlZ+bLKxDbtZkVERsaGImTLbtMEnm7coOeGlloM9AZaw76I3P3xV6
7rJeXZw7+1mX0Tba6W1B5jsPd8OMOeiMFcr8P06MqjM1V0Qu9G9SFT17UUaZEJuk+MCIXA6naiRd
6feduLLpvnh8+yj0+yLNR61Bw+/zr2uwlgwRtU/VtZLZUci5Cwngy3/Tqf6tI++viO+Y4IH+r+ej
4K9TN+U+isqw1slE2weyL6b/yyiWh3CAkxHB5/7B/Sfk81JvdNvGtuJBLF1UVa2O9YvT3P7ze4Hw
jPiNjnrkEOfYFps4vjQ34cY5qu6DU5YynCu/ujKXc/3H/siQE6M+QtypIzs4O3Mt6S0+RSM3nmvb
+Gj2EkfNdvMJzq3mZHtw5LONbo1aWUbkV7l36rDGOa0FsvR/nC8bL7p+FLRUkqmbnv0QJYt+HOBN
xsLBtLwb58+GOyRX9sIXy3AfZA+VOfz/Ni88f3VlIpsuxd8w7gD2h6RDtSBzcUd/fSqXjhLUT8TK
BE4WX/PzUda6qSiDCBFrnc4NmsLCgagzjZzcbq4cJZc2d3yz2JjwFuY4PhvKsEifIldhBxQGuU/U
1bd6Yq5vSjrh7pmpR2ZXrst8ZdPYz4xnIgpmR8V/r7vy3whin8/QaNj6B4W5q1cKBxJar05kR32u
WH2VTIGt8upzbWy1EdaCK9KV0S9MGskugY5vQnOHJ/J8dCwBszyhnTMWaTF8SwE9W0djmdKjjooi
D/te6lXYWk53Zdy/8cbZtHEH4JNhkzFozTpbo20v8F4Qwxzjqlk95n0GQy9vkzyPFmF2+qmehu6r
BFmycBPLStoQ/Kn5YNk1FCVt3btdCyelJS/za3kDYNCmcm9aLUAe21+/wFsB4TV7YswOg2UNDxVy
1G9Fbjg/ACVQS1vrtSmCvpjT5K5rMgBVqUd58WBNegW+p1vXz4bWVW+mgjTHYaOHdQ1NmVg/9FTZ
6g5tRJsGJgZra2DOev9EClfLD5U+q6/I6Lmgkh82rEOfrqTFtjSDMZeU6FJDvV/Ht7JZ1gVdsZt9
hW1Easj2MkDJ9WzCwrM6UokV99PlQE0r/eqKaqyOCcY38CFxqP+Uzc1EhpvpOsGsFMhG0xq+DbOV
3Xhyb5gBkFZD+loS97BRBL+rWDhaDHjDKO+6WfN/Llpi3rVAYtxwSLT5E6CK3jnmG1E0bWx2+4aA
GDewFRpujp9Aa33xu5xckDGV4sk0pBxvDYp0Sahq0X6QpSeLQMdF5Uc5mK48icYiieXpWJIEbSvU
J04q7yOWKGNx5611K0inS3Wv1rIV0aTR5h5RITf/h7Mz63FT6dbwL0ICivEWbHcb95SkM96gJDth
nqeCX/899LmJaautPtJW9kWklIGqVWt4B+H1jAivGVFciFPkNCYVKUROHIM2iW/S54xJBUTplC1x
SLqpfZ7mji3wdqC6dJB4l+7qJ0AQ2eKunEhB1oz4cKrlSHsOEsANIlH5U1GN7b1a2oAZUFy/kuNc
Kn/ZzzYsMgBfoK83x1fkGtPVeJSnHH7ucZ7c/FCnbfNbTHq974Yu8yHXqHunFfM9007ngApidOuK
0vxQdsWEoFaNSoCjajXK1ku1M6xR+e/tF/Oiu7k56UQXsNmQbZgEbjWRbDWqcyNr5Al0Vv1dVWb9
YZ6j6Jei962/jMnvVEjFDxl6nNh60V5OxvDgFqF7HLAfYszjWMzY1NKPokq/efvHre/n1W+DTMnP
AvcKsO88/HWJzaWdUMACHtEes6nWP0aqvkohqP23WLj1t3evt0KZ8Okh4UGvZBP1JglyTal1Uvk6
x3RUL10BbmMK75igjxX4syi6AvK+cIHSTCOxRyxqFZTYrEhEMTuKZe1khP1/WeaUwNfyZlfYZfru
zo/ORgQhv1K5Vs70+btU9aLjM2vGSR80B5pQRglWSRkUS9V7NiiZK+u9SD9uPh4a1xw1Gj+80m2G
bw4RRS3jg5OpA3Oo0Xv5WdcqnV+Fro9ndIp2qLXIsBkDpfYdtnR5oNai/BU3sv0KaK5iMqFcpdW/
gp6S+tNkQydBwMCB1Hb+GiYVyIg52saJpg4vO+6zvYUd1F837eR3YdfaFwlakol0WTzifNUjzN+Z
wEUqUR6dSbQPTbik2fvTKL4+0MLVNhJowqZwrcamxaQtNk/ZSMnalrTRbS2RHiPkawTwCxtu1flF
fgkmGF7nazz+J6XnycXAHWecmlD8Vs3cuh1c86vRye5KVn/h7KIzuba5eDQsJjfP5MrISTMUSE9L
sujf0nou73U92yega/dLroVXju6F53rB46+tu7UA2zxXjVK3GGHQnRxJ3y4umL4hk7IwyVS7K5XE
paXYPeygFX6JRs/5K4xCo4BgWk6nYWbmXnTSZGY1xvtOC6/1T9ZffX6GBNkupYKgS7xi/8+XSob1
vUV4fCDxaJ5axhG7pBnaK2F2/Ve2q9gqlSRtLqimW/NwOZopSlTJfAKe4T6p9EmeI1i2XyDSGt9j
VbWea2dk3Pp2sL24KtxBa90hZPbrSf1nJ2pLGYtItadTjqA/RnOL2n0Z0Bz+YbZl8SO16/J2mVMY
yG8ve+GVovEKmZvT9mLrcL4s9uGx2U3jQEu6c/ZaXyNyU7TX8Kqvdz/wXO78VW5gZc7rm1WcCc+t
sEf9D8L4vmEAzkiVUfEz0cT4OIXhNaXw15tSoOpKDKHPxpnbalBHozZzkcjxZIOguql66d7CFOkO
riyq7+9+g+hswelCTofrZButXHMwDaXV+1O3FOqNiQWNP0nLuH17lQtvkCYKywDDfXHjPn+DsgIp
2ZbZclriTvtoGtI95PqY3KQGBrTLUgNVf/+Cq/LRysigTbBl+88VjJS0cuYTxshx69H6UG9Cow13
ypxbxzoGEfH2ghd2IjbJ9Mlps63/bQ4AelGakiA2e6qLKXrW0nEOxqR2rsThC2DxVdCJVWBacNy2
PDJZmQMDYDEzYJrgyVMVfVAHuGRuXGp+JBfjRk9i/bAa4gaRDvOrU8N3WpCuUWUFh9PyYJaGVfjm
MhjRgrRyRS6nkXBwnG1b3c0FYtQx0PX3v1XqBRdTO80Aw72NzsKNNHsClXoK+0r5WI7jJxLT9spt
8+IKtgmZMFhWJTCCCGSiTTblTklEqWbNp6gbq5tZrZNPOeCJoHOc7MlsAe0tEnUA25EKaOfQ3Mmq
1pFVyYdbyfR59GK0OoMaZC2auML9ptfZdDsJtf0Q1kzy5zRHeWV1r84rPbpCJbuQmSGuAaGQXBeh
ZOit50erqJMFLd9sguoimd7jQj9VPqDh9D8Y5LDM4RCBxqjSUJ0exxYM2g20MO2v1kaRc6TlE3an
ekqBjujOZI2f3j4VF869iXWeRlZMYYNc3PmPGy38P9LFmCHDWqhTWUlzI0ZAT4mNTGIa2vqVDPxC
AbQOXFYxPzYnS24WRFUYbqLI51PRgE9DcAgVJZDsTN7tWtYf9LQDcN1mbvM0O4kdQUWaqhsRZlN1
18Wh9ksBafKHCTxwyllO7rfenmgFvP+lkE3BhCcgom+6CRVAqQzuLHdGtzdxPX2MEk+T8/M8ZO1e
j7XKf/dy60TDwYiI7hMSZuffAKsh1YpBPp30xWiQqkdMu4nC5F64qfpRK/XpynoXLi+6iGghoIK+
Spmtf/9PKhBN7QA8Kp1PmpSFr9ty3pVRUvmgFK9Z71xYaqUdQqFk9ECyu3k0O1UM2cWzccIcsSYR
tRsA0+14VMopvvJUF+I7I30CO8QmOK9bmuOkhnrdhrpxcprsZ7cglcDk1dV/vf2tLq7ywnumw41C
1Wb7wuGywtigzNJqfbgVtDLu+7YVz2+v8vq18U876yB5xcAaL4fony8EJaBIgcGKEy5AGXCVCA7W
ilUWYe5c6Zq8fiDcgsCaQHZ5ESLcPJBa9+aABZp+KqsEFgNDWPTI2+YKbcllS50HcMaR68FfhSxW
Mt75lrNmdTQG6Wiw++uvThzfw6h9wKumozeIwFc+27XX69dI6heejcyC5iC3/Zp/bkoHs1wUmaPP
fCrzsNq1spt302ipu7c/1vrbN89moZhN8b0S1bgFz5/NAI2VlBoj61AaKb2EOkgsMaGuped0dLR9
6jjvna0x5yJ2AizhSiRwbwEzU0rSoGeZe6wTd7qn6zvsCuQEr5yo7UdbV3HpXwAqATfBhzt/sAiI
eqrp2D8WMlvAW1pp+1OHmPhY6npHb1lZrMdKT8ujAfySpmV/jVP56urkF7D97bV/gFSDvv2AWHAb
Zank4dGurHQAmyXgpUZzYRwRYAf52kXyxoE3dd8PU/ms4b2Z0ULVrC9gfSeII4P92ML3ufLByYs3
n/zld5HdrSquFh2XTT5SWUqC4qQWHsN6UD6Z8L16b6TmC71UWwbh2yiptIFdGAgw5XjmwevoMizT
nWFooIyVGhTPvIswhQT6a8S7vjcSdK7kUGfc8r3Z+5GiF9auRL/kZ+bG7iclnaR7s6DEG2i5yZRz
AB9ee2nMZABukqvcxyv6xTeBWzYe7A4VbsZg/cxNzcqRJ08cC5qiMYS35BPqEWKK4R7UyE51OKkA
F25DYSv3sotC4LU26RNo2rn6jIuAq3tDuoSAgNUYksuIKtVOlYoWA25Ml9zPQsfeaSLtqp1QXBNe
mjrX2rFIzfw2aUT8sW0G7UNt1MODnltwg6SROX5X1dmfWqNjRdd+wWghyRH/2Ye1khu73O0qk55V
a0KwSAYXXEGdZJ9qIwTauDR95XqFnhAdYc4Ma4+3nwIbBeIMBxENQX1IILb6bBVpMt45SyISX++M
6XOcNGbmF7WhI/ce1cl3pUuGxLNzXfvpmF15LyKYLkD8dazVRqdoNWrVxpIQ5+fljxnl4r6MsxrZ
GNxQ/jYQB8CMV+Z43+iLlvuVVZenLlfKDJgt9il+n/YYc+Ey5vhuOaffgE7WnxdzDn/U4RBD3YuU
/KBDuAgPeU094oedKGMcHiJHeJkD8a02Im1Ashoowg4t5/m7vQjzP9yiZsJlOErDt/IJdHJi6/Lg
jmU4ehAs4AowTMk/5DHgx6wX7lOX4Ye+l6au/KrU0B09eC4CIsgY55+7HrK3J4Z+7nxZRVrnOUDi
sp0G+emx7ev0Pwkc4pvhDnD1RDi15q6SKjbdvasM4aFfDAQUnaFvRl8b1OUH8jeIZ4Lvbn9pUCOR
4q0T+bkACIbG2ToB24XSXn7MyNKlnpt3eUGGReqMW5pLp7KJR306UHCKnCaFEj2RKy7MOTUMKPdt
VeSxP4isuh+crHqWhjThOobzAkkiVJLRV+Ky+xkNEvJfl435UzO3C6zNVov/M6tBM/egw0Xoi3Zq
/8uRT9F29mSIP+DMK3mjaUp5inG/K/eJ27V/sqKI/nZRtjoAYBpceVqqaF9TI6x+mLVbfCq5nWO/
K3P9QRbl9A2mWP/cjwx/YC+m2UrXA4NEZMjSmgTflBDfWs4EJ0cWrZdU0/SpNxz9LgVA0Xrm3MFn
rWdbWfY2X2L0nSJKxUHrGmXxhKwAXiqwBL4YSZL/nTJDDnug3epD4xZz6XeOUX2LwqZsPBpkTnvE
Ttr55TS282AYefiJKSCkG9peAt6nlEO3E6LJBj+q5ZTiXt1kESMPYF53mCViOhGBRH5Q1UkqO7V2
9UccWghzSdza3+1Qmcd9oWjZ49Bq4bKvRjFmeFjFtdzxNaHYK25p3YfMiL4vo/g9gSCveWWlt2Tm
qmLHvvpJz0mm/qyXUed1KPw/JWoRfaY8H4GYq5WueDgbVNFBAT5f3plNlDzBOIhgHAxh0XiAlela
N8iwfmtzVf8zjm7a7tuwij7Nycr16UUxRHCb5ugr5ATqmbmKgULFhqIY3jC4bJdCc9JHJVYQM0ys
Pvps1olZQy9NDIC/eRt9jYy4e9IyNs2uTFwsEAt3yL8NYeIeewJwvx8LgpqnWdAuK0vaEFGUpK68
3Mybz2/nGdtSjTNAFk1fYa0VaLxuLp0WmleBRS80UWe5m93c+tJZcXWIhT4cSy22r3SEtmnNy3LY
mq8Kqat2wub2l8OkiyiElaqB+H3E9zm8y1sjfM6o0HfIvhrQ2xNxrXWxTdleVoUL7K6sf6A2m9ok
1eaJilxogb1ofdBA8ToMEH2vFHiXVkEbh9xp7dEwCj3PbGRTVZ2q5Fqg1CH04rRkP2hZfiW13mbx
67MAf7LWAhs53xf6+z9ZfJobDgoOkg8GvPkUu/riE0/BT/ZgXt67NzjMqOaCDKGsxgDl/IHiGEHG
Vf3jaLXmfDMp8fCjT4ryd0ND/qGNs/Tv2+u93hyMCEGFkAjB9mSadr7eVBgD1GYNOQk4pb8Ku+9u
oCBU9yaUGeHNfYs44wSi+EoZ8fq7ATVcUcNrywkDT/18WVefFqQxe/dopkQHoaTyR5zNyZUa7/V3
YxXQk8RmKhW+4vkqRQi7SqopUpa4TEG8sF0vHuFKqml6rfS/+ED/LLV5j4x/iyKjeX20qmXe5SuO
RxP5NW/fV2CsNV9FjmYVNKCpwcj1/ImiOtOKBK+po5UDX/FUkF/3khc3eMS+VXOxVs3Er2YaVF5u
tFwTTgZVyEeY3ngELV4XV0qLC89tA/rmbNCRBZS1qZm449XKcSP3mMDgPjqzo33Iq1K5csxftuG/
pRnPzViZkcDqmAosdhNNaBpqmMj39tFdevAsIV4SySGfEzyhkkZLdtK0pg9tX0JMMQsLbXWySPEo
VMCs9EWy6FcF2jT0VcPEIRpvaoFOSoMaAUAk2DBHLTfk+3f46rtL0fXS7nypPP6JGZCMRYxrkXNU
msLYadNs7+YeBuDbx/f162ckTVmHjggVK9v8fD8ktEO5fGvzuFTJ5ONTl/hJrYdXPvKrXvgaALk4
EJSEagEEcHOFIEMQmk6b6UEOaftBqEpyagC2fc5qm9I4iaIgck2IV+Tet3o0NrsRzdsrg/HXh5mm
Kwgk6nKM7Qn254+a4YXSru3PYChh0KTuHP7XJUXkT6ZSfHv7rV4oV0EycFVSLK+jhq2GYaamyLLO
sxqYmcoZwk12fsAs2fAmOwQ91Y/hrVIn6UHX7CLI0P6+k5Ze+uiclI9uk1UPtqicP2//qPVonx8B
+i7cCrwDaAKvStUSfxEltls10JtBHtUmB2Rkt+7ODWt60Tr81LfXu/C+oVnS8yN2cvzMzcm2UB8c
FJjcCNUWaOi7heH185LuCXTX2rSvAD/sLHg5DDNplZlctJvoiZ/KYGAjKgNNabOT2zSIqIW6e6NL
dhpI2sSf57TYA9CY760RlFeI1zqyE930HGEUsWsXk5p6itLnaugMH2Kie+0IrFt88/qJPvAzaH7S
NtxK+vZprOTwQfqAehOuqjT2Y51/Ugbtr4JeiINBi9nKz1UM51HptXsFc8D92x/k9VnHPYG5L8Lv
WDUCkj4/AGUMTLCPzSmoc4j9tg3jT4YgKt9e5cI2e+lVoulKU/QVGQCsq0wX0chgMcLhyRBL/YHs
WPNbWSWHbF7kldzq0lOtnSHswIz1Gtl8eoB1EThHIYMqzZRnHeYhTNvsvSpla+giOgJhZgxC+2nd
7P9E40VL69qUBt0FaxmOvdmMh7buhk9vv7sLz4K+6kqAA22LwO/mCw0oCOkSxdPAdEtzB7fS9iu4
x+/fB6yyohvAsa+Nw/NnUQWejWnIFyoqa/CtrK8PnVa9F1uDQDedOuaA9nomgbOer1J1ppLiODQE
Deo6OzR41Bs7MUp/oGdyJdK8fm1Ai1ae0DpV44/NayvyKl1lI/QgHKIymGGfesVgxlc22ut4BoAL
ZC5jDPrkxhYyhnrMlGT2IIKafPR+1JroRhrNcNNgs3Xz3n3AUpiC03Wl+w/N9fzdYdvauciTiEAf
Y2s36lXpIwF+DZHx+qSyiq7TiF/hC4jjna8iDBk648wqeatZEvEgmTwmtlb6GLg13tBWyf3bj3Xh
WmRFG/Ft5P7WMeNm5xl6M3fhzIey6cI9NlOXn8q4mo9RBfxqrlD9Q+NFwRcjSx4b9Mb/jMVMxxDS
/w91GrKTOeXpxyu/ab32z+MyrxkhDGgjSL6/uhbTmYg4z50edGVsPpVM9u5ite1vzGhtj9m1Y+3b
ppG7SW+tD3j21L5R6mm8y4VAG0rttemhVtr6WzTG+kNSiuyTENL2kNztdq2aX2PjXvy5wPrMdQrO
m9xkMbaSuVIi2RhkZhTthl6037ntnCf4ldaNnpqW3ykrNl2prkEmL20XsAiM3oEq0QjYbMrOMKeq
R580ID+2HY9sLw3SXG89FDmM+7wZqw9vf5rLC66W4ExDGRJvdkvtLIDOE0cPpmhSj7miKJ7KRf81
o3N2EEjGfX57vUthhAERLQ7yIxwGNg/YzNjUD2LUgxkFxccxdLWD4SbXDsGFMEKUIv8k3eYu3taU
SAMil2QVIkhjrqqib+MDWChayZP77ttkDVVADdb/ge/YJN0WdhYFQr16gAZRHuQKjfMiHa/hTS+8
tZVOxjIQqWGIbDakWRd1H6roUpiNVRzipEoDF6Wp27e/zYW9QBMBrAAjZALIK0KGW8VhyQwtoN1k
nChhczRHauu2RH0O5bSmv6J7eOErna23ub2mplwis6fFVhV9v08jY/Y1BR2DYcAi4+1Hu/QCVyoe
vhaUwIg1n4dhtM1TLOpiLaDBKP3Y0UcfMsA1U4dLD0R6jI8WmG7AVpvPJGmaklIWWiCLIgFHPo7k
Zv14U6b1e4et3Px4mUDkpq4nx9gm4ynSHHMCcSmY+r7dqQiXeGmF0tjbr+0FnLAJ3JyhlcTNhoDS
Jc7fWwvHPXM6VQ1UrLGtnYoU/U8afV3nE+ibg9Vj0O23SJt8L5o6M+nrWQrKW7h+6j7NbfWBjp+5
KtVM0ezpWj4jLgkjQPpI8DnHIcqbZtcnTvHbWArl98qNQm4krFeI8CT4hzAUVXYUNEwD8NVehvcn
NWvWRBYFc466bRONpnqIoUibTpAZg7Pr5zFm/DNdE1y4cK44Meu2WysTGkPnL9EwarGomXADRZlR
dWQORXh3G3/GqfVQ1GF6JQW4sA1hAlKAExEYZWxRYlalGDXgbzuQBJWD2injzWTFqj91lrgSMi4t
tWLFyNsBDZNNnz9awnx/Mo3ECeK2E4eJcYZnMOU7hGbx9+2teGElvhOMXeDdwGm2GGg4A3KcelcE
6HBBHRoQ5eVOVu4WzRmO718K5e51DE7zk/Lq/KHsKJ1rl9lfoE5l/6PsVNcLIUb9SKvEfv8GfBHi
gEawahlsSRmRYluqEud2MHR5yjxVd/c9ZfIVGNiF6OeQdTG1A10A42Rzisce48A2atSg7Er7YKFd
idAk6nfvfm3roMRes1zG9Fv5jb6brMVQOzXIgHQFhqZk+zypjZuoXvr920tdOFF4nNNfXZseDgjM
8y/k5vDhoCmrQZ8X2a3LTHHvIpGwL7URUffM+vn2cutFdB4FHaq41cGCEMGp2iTxvV7oSmV3FW2F
cjyAOciOk65G+0pRGf4SpCWyXHRC3l719Y6HOAOMBpgVmBp4O+cPma2mDynzxaA0rGofqkbzpSxE
8dVGquzKUq83yOo6QtnFUzIB3db37qR3jAXrIugpWkl4a4ahHUK7bz/Qq1VIYFBmWEWduR3ZiecP
ZOqL2Q2ztQR1uAzQwfL+ZHbttZbY61VI+Zg0oZ3BMznb04uvfMl4swmD0IboCM2/RAVtNq7swDUG
nG2JVc0GwBjJJc4FPNT5swg9xac2bd2gqaAQJu7cJp6TWuYO4n++b9H4zD2hlsW9lQjrSpH8avez
NrA76mQwZFQpm5w9XBULzaoIgzlBr62I3NaztParrpvPstc+vv3RXu3Cl4Ug7tiIXfCgm482y64Z
ZiGdwEZF6lFFWOwJtfX0gIJie+XeuvDlUKgjyUC3g46urp+/U5xecf+EuxaEIKe9NlF634ASd+XL
XXogEkEGhAzfV42Q81UQfiYUh6YbZFkojy2R/g5JzXY3meV4JcF9udk3uwR2iwEWaP1gr6a605Ja
04gIfaDNsbxtIoRAh1nL73rdiv4iuG7dotSQo6agW3dIk60yr6770Y6H1Hf0rHgMe9c8lmYWB4wX
F9NDcAsdQgSuYwAOZXt496dmlkmTZ+0lM23c7CswQyUmzbYdKI4y35paUweC3/PNaafl/7EUU1qT
HWyto5fNFSu7FrW+tuEjQOPfRcVk3wLawe/Qia8xEWABvDqrq/fV2n2gby2c7b7CWSQGI2EQESZ7
xCW5rdQepPMyoSWprtiDUpqhRoUDGvzAPQqjeKrb1ka5r9J/y6ydvlpyzIVXW3OZ3qRhGJd+j2Gh
6y1KYn4M065gggWVe/IUcENfY2Ti7uDVi5Kccg7DQIuVDER5GIf9Dultc/HNnusacdnY/iyhxH2w
JKZcK2mxeiSuzQh8y6b4pPcOzfOyihNPAqB/UOJIA8Sk1haQKb1oSVeR/fgLEK/+FtZt0u5o/piA
vGSkP2jxWD4ai9LfGYWbfe8HTcs8DckTZJPLxox2ShKNX6yJFgC6hv30lflR/cFS7PJH7bRGQVSL
7L9JVDTpfmKuoz/XrlaVO7jFauXn6dzfMuvv/pSu07tgml0Fny+ALflRlrPRB+sc5HGqzM7e5Wg5
RF6BFUbtd009sKAxlqoHZyCObiW4GDhSuCv8tROhQB3IUwk4tkrokM2QHrxqGp3xYKlze2tYWacj
j9wJ4SeJVD4sOnh9TzcUcweuNZkOohnMr0LNh+eYMRU40Uh8FSiqJSCc2r44WGmiNbuoNVFqdlK9
n6Guu+p9AfCFoXDp9rrnYnzQeW5fLc4uSk3kRq0yyj4i/Rp2e2PgQCKGJzpky9UO/+ehwfTFx1sm
XO7sRmTfrX4BB6hkS/VspUbyOaWc+zMZcLFAjJX6fzYyX80uVvAGhAZt2QdbNP1DhSPgildsLCfo
Rd0AAhyF2+yj0qrdPahdoX5QzHxVu5hi9bfUFTaca4bIjWfkCOKmKRHF9u3SgNRp5gJShoi1cnx3
AKWxgsASpcWKkdk2nU0kSqHNaeUJ3Wqkai22fe5ltYNZni4w/ng7KL2epoN5IOuHAAaDnoRvkwZJ
YIT08ov2tPS1/qzOiyYR4whD21NIqP/TwYr90RcuwZ2z8MJBdJUzLMysdYArVQVaDNd+0Ot4shIX
kaaBRc2duL0SgQwASp8RUm6dzLR2A5PIeTeEjvWrcq2s8h2pKidlyKH/zJmlhEe6vrZ6Z0ToJyJ7
ronR04uxlHvGgxTHdpejYqJyyaYH4ST6z0TiYYxMRBn/bLGLaW/02Bm+ACcdfmX5JCCsz1UW7/Wk
zX81Y5+izBh10RNyoshpIZyfOR/LChX0bkHMmnt00YpgBFT6taHgDE95FKopFZTZ/CkMtwGvCvBC
uUnUSqR75EPVbD9ODtiErC3QmGiUrHICkWbpk4074ejRTLRuirHr0l0eRu5vlX5X5A2LXX1rLK0Y
4BM32rDLTLt5SrSy+ZHHM+xHAf//BjXeufZzLE8QPrdF7u4XgcqsN+d5l3miVJXwxnIy3tOUuq28
xbPAgCvdoBnqaU7h3HVViFmD08/iBuFZsG1xFaZIembUGz55ZZ8eEe8tv9SDxGSaNAyJ1yHO0bsu
sXi2Qfp2Q+Ujto/GNJ1f5anVCiva1c5UyV01V07s0ykyfo90ECPk5SVaFPx+pbyNJPeL15l563pN
mDbVPZUo9txFqwA5tVJXZjcuIiJPcrWy8qXmlHCwRaN8lhLLyp3bK87Xni/5A3ODOPYjK1k6Pnva
PkezTeimVhoCOqdDcx9F7cjwOooa7BmE+itzx2kO3CSM+pvSKethJVb15XHUlAUUbEZf+kph/6rk
oXtKp4IcEwU6tO83+W2foKA/mVV16vrIADAbdV9I2IzbFjyvL3E4OBT8UV45W68zQFbFFdjByYqJ
yXY2J/uuHjPXrLAoScZDyf74iJ5wfSWAvc6f11XWOo5swAaVcZ4BMn4QYWl2FTT5VSaEXoL6KBN7
OICMGe8Grb+GCLoQMLCmJLWiABequfUlz8tBNpYaNyfE1OYTWODiFInFfeyyQb3y3S4utSpOURuv
2IhNDi1UiXQE2uOnaTRtWnCYBCypyiS6x2L07UB4cSkmta67NrVMc7NUW9TIulhLc4LKhy2SWfmL
WuGgO4MEeHulC9sCuAHcKUZajLXEuln/HQwLuO+5TOpTY5rjsbAWG3skS3lv24eLZh1KrHX+iynv
+SoI+UobshzbIkXytqV76Wm4sewy6LpXXt2lB1pHYYgUCAu8/yb91XS1DcfQqU/zoCmBTAznvlKt
b2+/tZe2znn1ARVyRWyQhjFM2mqP9VXO8M/o4lMZKl3hlVWx5gVCWz5ZMTYJwPxp5nhyMdNTk3Uh
0r2ijZ8z0Ws1g7pyUm+l65Yos1TGqO4xUoNHoeONA25rqvOgwRYb0W/sogTpl5X+zkNr+mFGahTE
Bf1Jho06ljlvP9SFs2uCqFsHFIw5X6mmtMhbdPo0xyecavrfQo2FZy958VGAaz7OCaCyt9e78KWQ
MlstoJCppQu+2eRycbvFGs0YpYe09/pp0L65heteaTBdWgWdT5f2COU8FdH51nPwLFt5IcmpTJV4
P0851loqGtVvP8uFmI5iDxxLoh92Yts+tNb36pjFPatgHhIsGmmBbmUGCtvzWB90xtJfGClck1G7
8GwrawpMJCMlItKm+YjlaqJIOoInzS4dbJPEArsioa13ZWe8iLycb3fmcC7tq7Uvwp7fRInBmI2w
dfrohJ9BY3ja2EfLrRE2w+RHmhlHOzNLUuPTZOnRt3DqIuE5SJuh/r20w5fKzMevEUZQmG0M03KP
nHzr+MkUScMrEZWab10tJ1cqG6d+7vM5dDH5YC7nDaOFgxQC6t6gFissfZHyN4ITQ+w70+J8R9Jb
fEupr0Zfj43pEyO+9N6CBvin0qhGvQEtpGeMQrHl1hjESq/PlB7Io4uHradl9VTfRXG39Luyj9If
SzRa3c6k3htJRaRbPES1mUy7qhnwPTFKx4p8K6Rv6Es76vNdWmXjr2ooFmuHR4L+0OqN82mOm87Z
qfMwP0s1gwsoSWqQ/JdaVPgGLG8sXMIMDywBW6bfN8Cgy11B/929H+wmT0j+XO1DFSnJ18kstCd1
Gl3rgHtAeqtiynaX1VHt3rp4pNhe3ydm4o3qkIt96ZZL7wu34mkGQ8t/qx2m9lBJHLM9JTMWbx4p
XTnhgDdEj9Sa1a9hrhRYEG6iax5mCVilz0ZuEW/KZIk9q2qHYcUWzk+WzKMHU/bGAz+pw+CqdiH6
l2VqEKNiXj/2KRmSKW+fqFfRiJ4asYhmo4UkKxOk83PbMD7ASFmmgWK46U0Si9qbSt3ACmAOb8b8
GlT6NcRzVZxep8CA3PQVjXe+Xlw1ldqhVBc46WKfjNptv4KtGH+HDYSjQuT6XrRVhmVBqCiZxxeI
ftK4Lq61tbZHmhnC2nhkrk3vXUUN9PxnZIoNJ6nORJBQiN6oZKVfHK6fe0Qt8qepqFCcm7DTqT07
iRak+Gt5G+Z9/dM2UhrLdmh+aGmY5UA2zfnKqOOVeMH//TZ6skg0EwW2kuN4MY9LYo1gN0Qd+dFo
DngISqX2wz4DxW7igXFoQ6d7iDOjuWn6sn/MkWo6ZMvs+irp/of19ftdXIu92WmL19jw3Sji25tI
hYbnqNhfQItr5aFhDvzu64ap04r9WJVOBMpl5292iRdnSesoPaEBPRzSsVnuqImvkbdfZ270WdEj
XUHhKApvG/GJGXfEtEYP3NqN9l2IK1QfGhPlkm2994SAfjJQYyIDga77WikpjSIE/joRdHFk/C7s
WX3oTYIXVO4C43tr+vL2iXwBkGxuAc4hcm/U52BMtpP+tMJBREEEPBAk+beMT+h2wVY+qjWBwCzc
6qB3Gh8e35MHJbHmj65ZhrsCd5pHLTQoQrOiek6H6ip8do0F5z9sHaCDAyeJBRa4LQJCGjIrWzQ9
yVRoX5YwtDRueqobLxeGyP1hQs1xnywpLqSpNRh72x5pYUhNGZ6uvKM1ndj8FJo3YAbJPAld9maX
FYxoFrspo5PIE4snjsP5C3AD56/Zy+J3URj6V6D45T0+kMYIDW/CiMpWcTnxbHUQvyjeibAupJDb
cLSX33mKpuIOms087MZiwFaoVLXeQXhtGe3fb//2begBWLGOXNARJ/wgGr255DGBXGhuLmGQlSm7
SLWaHdQicSWXuLAKr8dYpRSgY72qQ3EtKJBwKcPACQsUFYvwtxpZ73RKZiAA3JWJKVGCjNbdnkIH
YkSCo40TODHOirUIH4cOguySuF/zsroSF1+5f9LOXyUOWIbOPtOcbczm56iofYTHuahyWh1hm/pV
WxSPaTSkf5EJzomNRriv6AUde3QKdt1gqo+6O1eRl2MplB3e+SWZ3xLlKDHQKOAVb+4y6O2hdOfB
PMa5hGtqcKG1UxleiT+vviTPy0Sa3HqlpKCccx5QByUOLXeAD/A/zs5juW1kC8NPhCrksAWTSEqW
JcfxBuUwg0aOjfT094NWJsgiSnfjWYzLTTQap0/4QwbVcFd3SJlHnbKmv3xrFWD4s5jsLGSy7FH2
VRlOLbt5MgJ3RO4vCDdBr8mVud9V/k7smNHRtF3xI7lSrC6NNlSlW4Y8S6sf+tTVZ7eekPQmq7ZR
OKa7KDeblaHc1YU6QwYI3UgkEcLnhtDlDg6CNrOl1+EpAvCvt8MXMXgbsy8/QpM+tR4KS2X/WMT9
IR3KPx22CE6Y4NbDBSunD7VlbiYjObbS2qMBeKybsN8VCe6WpbNydc4H+CKoveVG4KH4ifzUJfvI
y7C9seouPiGVFwl6iZ31oxzs9NeAKsXegIvxoyXpxAsMw9SVTbq6UOc9csDFI7/OZHsJ4wBcMX/s
fDg0gLx9OUXJzlSYGtSFHrzc/2xupJx8ydDlGNXpNJMWAbCxoJdNMghPnUBT1sGvDIJLnIGVNqOv
kYlr48q+3jp16Lmh6UGrguJqcVkEgc6MNGAEKdGtBL1ler46qnuo8ImPbc0pq4L3Gka8oVT+WnJx
5OwCDeoe4eVTFGXf60zTd2MCXypxw7X05PrDRS8XhVgqR8p7GA6Xh3v0JAcjH9jNSZuOaRD86JpS
rpCiriHZs8Q8iRB5BrcKN+7lKrKqe9W1quQU98RYvzIFA7ReuBXhVZP/BpqX9jsG7cL29TaKex82
qUn/REkb3Y+0AL1nqgz7SU3Bkm3vn6cbRxfPhRltT1AhFVjsdaups8c3nw11WrgD3uM9US0zsmzt
9N/7S93YbPob86VtMMfhz8ttGE0oaakxxac8z5C5Q8lg11bxWrP15io2HCzgLKR/yx4yk16DL96J
T1aTjFuzH/Ln0G619zIHUf9EDojmnUk/ktbG5bP0pa0FmZXHJ4pdLJidpgOr0FsreciNjx34AFRi
bkiSEXVRXxLnpagVOzkJ066eAqHaj+oQKg+DjkuyL1SzX7libi04VwTUTfO6SxI1c2xI1GqSncAQ
IrTdqRaRGpFRQP0SOHjc7d99JBjqgTggJYEevhylNUjoelGhi1PBud9EEzqEY5yY79/GuVSF60Nv
d57cXb6ssmiqbIzmi7PXor3S6MfE1MUuKKqXLmYkf/+Z3kCxi5vImmFBsEtswsqS+yM6pbMNdMdP
otRT8RDWffWMnWLwNRRTd5rkrDsBfEz7bdVKKn1m2f2fKA7RKPHysECf10tzfT+3cbJzPo1o2OCo
22gPrNS8zCZ9yCw0thptwDBUZ4tuV7UJklIyjrZmJmSBNxK0hbEdDlId1PQMb0+1NsABBnsLa6za
GjiK2rtm1BzpizjIfnQoC79aepqOK7fH9YGaG3IAbaAWIBW+/BpBA0Rt7ATaqU+ks1GcBmhvDsyW
mhBxemTvVw7UNUuR6o95MFn1LIkOfePyXU+RaDEk9aZTVCiluWk7O/sRVUFVbMrQ6Adfd/rS8hul
6LRtZJiliU9zoht72UovBNUsnHmAq1cf9TI2gn2iYl7r6DFggkTQ3rt/VK5jFT92LmbACNGrtxd9
3yihNUJ7aTrV2JU9Sjd+avJgWGnX3FyEG5zm8oxgXJZMut62SO0o0ymh07+1jYySTjrDyjd2fY/M
+OmZJEg3jIC1CFWBXiAGVFn6KYmlucU8tnxAJrl7nlFO77XhmpkqBEMSYZoLZN2LHCjSClRbRmme
esye/Miys62OFNPKE924ttElIDVAHQOUHYHj8ii5IE06RsLNiXR7kykyOcS12HZJfoKw5JeJ2M+D
atlYTzTaHqewOUbzxzV52RoO/8YrpOVHuYgg84wXXmxuqWggqyOvAsFEgo1APXosmfFe3x22Fdbq
HLMoy+ap3uXzkrMn2ij1Gg0S2/1WkwlthjB+NwOIVQgFhGNQJID99MtVEL0f7Tqx6xPEcG8fKnW7
gyccvv/QM7hGYpe03Ea6bREGgK2I2lCC6mS7wtnnrpYfi4qexP3v90ZDFkldxnignUEs8g1fPoyn
i9bKlLw+taEVHHGWKJ5w/rYPApjOByVrooM2SDv2ETAK9xPl8JPSD8HD/V9x49Nz6BmCzCBJIMlc
nA6nq8cKD5DqhOuGtbF1kR0V2w4eNb2LV2ak12gcvrb5c0D7mQSdNO7ygStDL3R2tDqF1ogwWZ5t
AQqZGyOIP+Bwq9DSjYG/KhoznspMYaQPJdJ1ffvl/iNffxA002Zo5dyccXjTlz+DXLnKitGogeAY
4SGtZbVVoKWvRIDry+tND2/GODFA5Zu4XMWpsBx3bC5yqw4VJiq2uzeErqJ6pIuncGqilcvr1lMx
t6eARbuTyfoi4BhRr6hh14PWEVG0zVGS2Q6d6WzfvXeEZ+T4Z9kfGDWLMwvmgK6TomQnmaXBxp1K
RORagGj3V7k+lHDi4MLzoc9agsvRiNYpTqalen6yJHoL0RTpu9jGN1VgY7tSX10vBWCEa5/amwhJ
5Lp8TVHqSlShVCLKMBgKCLvI2rhtH+zoA6yKQV63GYiRs6fIzC2kylgsNhluZ5lA109qFHQfgeJo
uLrhomEXFeeka43PZVABsfRq1/54f0uvjwcz4rm1MStEzlt7+ZxB7qDeJSrJ8egMvMqL7CXLbetw
f5VbuzlLNQGi5ybgMr9cpSeDiorUliev9dqncjCnremOEJccs1qrb94o/ZepssX0zCRZY6APUX4R
Tmg6pabVZR044FLfphjynGUC1ARpaNV5mr0XjnSRXXTMOil8JBBRxYNuoXwJ0eD6N08GrMCthADb
0srM9yaa+isx4MZ2vEG3caMj1PBlXm7HOMyaoEnXnep2ALtjJtmhsyEW4MqVvt7f+RvvF34iHT7o
BCSDy06LWchi0AdVntABzXfl5DJAA3u9u7/KdVB7QxjguGAQQGlIXT6QxAhu0kNCJzq1LwHe2XHe
BP5UG/s0Qyzv/mK3Hon2NjMtrguux8ViZulKF9m0+oQRnfncKoF7KEW2FqdvroITBzSZOblYCuyk
VYQ8qK7VJ3cax9fJLrB2NGW7Ep1vnQQSCioZVDxpzCw66JE5TS2wMVapvGGTOMM3hCrjbe2Mn+5v
2vVCNrHMoMULs4l8erEQ1FL85VHQO0EBSI/xOHUHdLPV/RBWa/yz68PAkSa1RSEcgQJkdS8Pg8Ic
cobc16dwCPM9EpmDbxsJWERtSneeFGsAv1uP9vd6i+QPMcIaUX72EIfe+quJpogvqzj43Nl2tjLx
MOa05zK24L6BRttszmyBPVmkRTEtklEf4gYqWqHWPxLAFR9sI628IyKKXg54HYN3QN4NKUoi0ulP
DsnbRCdyCpJDQlEtMKCP8ViXpqJO9EEC0QJW0JL40WHEre44+Ia7MdTMMfeiNcevIT2V2Rleei8a
klXQAzJr/K5XuTilkGhTf7Lt/p8gylVud1nm3zDN1ofZcE1o7/7wuH5dqvbZ6Ym4aly+2Eo06cRc
Lzvx2t1Dnop+Kwhb2/sn9bo3DMSaVgd9NqYrV1yrqtfDNBdlfsq00fg00nb7OLujh37Q2epBumr6
uwQ4//X+qjcOLSxuvDQhhNIKX8rhYWTRGFOk5CdGyzjWd2hrTqDfO3JTvynWyJM3Ul7AHcyQaImh
HcclcLmVYaqXXlXYOZVtmD5SLWL6DKDpo+Up6UGmMA6jGkFVJYaF2LZCnhJNH+mNF2m+8lJvPjgF
DRriDhXHkgPL7ZC3FPM5Y8lKDf3EjIxXatR8J1NROEChFXUltZpTisU3ZMxRlQHajL5cxm+lw6XE
CoyEbgqbGyX5PwjVvdS5BdZa/tOgoOLrnrnvjen9PbsZDEf6OE+qZ+Ll5a4Hahvp1iTSk2114pBP
OP4lipZvJaKHO/R1w5V89Tqvo+wlsyDvmaEDS1MbSjMmG1hTIJui5fGmZtqBsuNo/wjoIxcbLU8E
4s14Pr0O2piunOjrC4zFuSCp4igzCMaXDzsMcQCh1EhPBoo330JIBI9alr5bh4680aKLQM1NkY9u
1OUqueJMwqzj7KR0erSt66J8qs1+XGkh33oW4o6JRwm0qytwSekWqdtDlzo1cAF2baAZj5Ewq4f3
xwC4F3CNyYUBZi52LLQ7d+iamM54aDoH1Ryyo1YLbR/TZ37w2sRbiXQ3Li4OxoxJp++koyFxuXet
0UwCCzuQXm+6PXaXln7mAKMbg9D+/P5ng+fCLHHWwWK1y7X6IuAyg011qioFM8sSlMg+zIJ8ILpZ
4xEtPDRw7y9546XNDE8KNpqQJBOL7fToXrQTPOcTwGRv6xqNtxXIC79/FRJOujJMSOejuGgwRSD/
qhiqwymJ9MqH19h/7AxhrbR+blxKbwkaCLlZnHWJAAqdSe3jmpxTNZrsWRiacpRqOz5NWG990Cs1
elRRUTne38Ab54PDMUMBTU4YdejlO8PdmWuwK6oTMIvugdzd2kInrLd5YL6/3CWTNnD7BjvOK1tq
LDZOZOmtahWnzlCDTWPmv3E5NOAOiuL9h34uEejU0eOiN7g4FbE+pGjih+UJbfds1yHBcEih7B2y
uF0jld16aRw/lXyNeRruEZf7N+RCjN5gwjgVbb+NWqd7dhD9gs+UFAl4O63s9pkUa43VW8tCz8WF
i/3kqlksq3mhDiuxLU7zN79V6jTcRE79se1jhmyeOu5VrXg32R4BPW4anpSVEYpd7GoxoJGtJmNx
KvTkJUUcdyPk6K68uhupApcZnAl6rbNTxiKGWGOL/mDCfip9nR3raGQK5CrqIw5q6b9J1IqVeeiN
Tihz7dktiu40yrdLnz0AmZTRRV2e7D5PR5/Arb0YUac+w5sK061Sjkr0kNQ9bFsCmn7s3GgofGze
18ADN0LZG5oKfjc4kCssDlQ7a4h6uzzJytAeEdJ3HlHwf7fKwCw0PRtazjoUM1vk8rzqRTwqHW4n
fO+N91AZMn+w67bY3Y8qt47n36vMz/oX8WUsSiPySr08OWNojz747GZnqzE9kDw1j2KEJ97DJV+r
p28FM3Iu9BOgTc8B7XLZjtF/oIOjPIVzaYF+FrD0vGPEXZqDWJuB3TqpDk1lAMUARKnYLhdTUURW
I5WpQxSjZjAY0NwT0Ze+qPBTrUjsV5LoG+eDz4F5GEgdIuiyMqqhYWLeWfSnfPBMnm2stq4SrQ2B
bzwVvTqqFHYRqXBjcR/oRu3Uoiu7E4lS/RALQJ12JYNtrCrZpphWwYQ3XtlsyUgZT1MeGNp8kv46
KVYLzj0u644RN4l6hxnDQ2NG2d5tbWt//1BebeB80WHIyC2EAgsl7eVSrtvFrZEp5jFFQjHlSzes
vVBhqb83W1isszj8KfD1ZqxdznlVJWc7AxYQxG2w8old5f2sMtMAqZJBjl2JjuZGjkMtSeRRdfLM
eiwTW31p7aHBRFzLm8fObA1ww2FdfxmtJl45i7cWnwWoZ+UkdBeW7U+oMFk3dYl5dEM1/27JAY/L
qrZTbSvjzvMeuljXHoZu8ORDVmey/PT+N8mJQUZsFqmgMrh8kypa3B3CVMZRSIF8qDqCjzfC/+c9
wkAjZ6HuoKu8OJqVixgAYdQ4Uu+JjRkl1g7xV2PltFyFSr4zCJYzQg1KNtCV5bNYgeOVTnC0SlUc
xjB2ng13gEKf1W9OQGLTpbF8vb+BV1/dvOjclMc7DHLnEnOoh7oR0AgOjp4lhk9KwbeNDqY4wv1e
a8tfA9sJxyQqNFnAjpM7Lx6wqY20NobcOXZ2afzEpLE7gNRJvmi5pTwpYZh9COpEPGEgUBzSslYO
sbDtQ+pl5T7xVOVr12mRPPSR3ax8QdfxgB/GCeL30a5Coety5wM5Rk5HxnYs3cDapyIuP06jvaYh
emOrwdPMA/8ZzEuD9HKVXjcb6XaRcxR0hP4Rk9Y+Str//06J1FdymbfgfNH1eLv5EE5DGnzmECxO
rNE57tSWOmsJrNntNCbMtQBH2k1fYljs90qut74KwuRHEar1s4Vv/LBBiSywNjTTdYe/EYdPWOlU
3Rbzb/GVZbJnplgl9PLRi35j19JUG/5NJPsmpUbezsv1AePDio5hAyHLSGKfo2sGm5zbwoJgqQff
6PLAWhNZJmsfbxX6QDGkAr8FzrHWGL7O59iDGa0H0Yi8HNjBYr8tj5OSGPZxUiRy2Q69kS+yHcvY
l5bR7l0vyR641cwnTfTDr0nTqwn5Vj3c3v/Cbh0uCgKwtTMQn0zr8mfEhoQ/mOG9JvBXmmVKYsiD
vVhZ5RrqwdPOc1cUt3QksJbX55BGsg+hwh8nje+DbpQh/SKraixronwv0mb4HEDoB05Ues9obyfj
Bo5+8JhPuu7rFHonUD7iz/uffRaXQnN5Dp7LxmOaxqrWp5jm6hGIdb2o9V3dv78lz6O7hC5qSST7
AU5d7nCXpiLyrBHzU4CwG2OqkCis3HYTS28tab55qLjqkOFh4sfwbtHUG60Jjk2O0Wqddk7jZwXk
07EfrVPbqdikNaG10boxh53jer5MXOQnHOk0D/f39UYomT0IyDkhRNDqW/wKBURlWQU5cwCnMr9j
zdC9OqOHigRosOjb/bWu8sCZ7DOLZrMi7g/LtcY0wHCNUQ/JUt0iHedqO5SnzcQXrWFtzCnt3i3D
x4qzBw4MKKTxgNhcvk9D78PGQ28TkBKKQqFVyYc2Cb5jAfVu8UdWgksMZAh9ULAni5XQ5ghd7OGU
Yz+0WJmjsqFA/+8MBfOmSfs/Xtrc+Qa4QJnON3r5WGRDzjilunJEKM94boO83+VGZ74kyOCsXGi3
zsd8w3CxA3nHFv5yKTOzhVKZXnga8NE8O4oZHXqK2F2A5/lK4LmxFMkf8ZXuA1f7stXXzhPvLEvD
U2ygnDMoqF/pCK5u60JWKwnSraUourGKAHFIh2r+/39VCEbfQ/P2JnFSR618GN3JfHTF5D25AEhX
0tp5gxb3J+29OSWC9k1UXRyMyLVKPbbD6CQ7bLHdWjgHBFwq3S9Vpf/UqkXxEzio6DbBILsvQnhr
LZbrvJq2MGwf621iQ1i7fFY5u1FMgR2dxqkN9s7MjRYm2mvom21HheXIMDYkNPbu3V+7MzeTkHpH
IQhwzeW6Vk4aL5UiOJZpE/+Mw9p8VGIt/ZCmk/vRQAxiJVO58U4dQOjM+fCbYFa7fE6tk0rQSuUI
Be6HHlURjq+tIAeNlcP9J5uv++UrpUKYaZV8hcg7XT4ZVVAISw3ZAK1xJ29rGq1XPUyelyEwlBr6
58KrJ9h/3Iz/3F/4LdG4Whlw3byf88BvkYiIunWCntz1NNiJvu1BTO8mTaKuWHTBNo3136kMXojf
KG+Nz4hb7BxX2aHGCS5HE/l+sqIcK9Ow24c60tZe7kUrL+HWaac5qs3cLI7a26X314dF+ViYRm8Q
cL1aO6WhMH/mvZF+s2WnHsLOq3wXMaEzTK3gpYzQR7q/QTduGCBPjKfAp8yDkEVinPEZGGrFmWsa
tdzwVaSvGBk2j4gCJd8KKxNf372ew/yD75tGH4duER0zFy8yir3gmKlYZ+UorO8QUUieY7fPVw7d
HNMXr/7vpZbAxgar3QRZjuDYp3hIueWIMhtSie+PwaxCGU5lRU99ievwioEAHLOKo7Xhy5Cp7nZS
lOLjOGAnfH/vrtHp9GSxNoEExDsjAVkc5pzmfd7qeXCMJ6U86kNQ/AuFDsfatqpa8E8xkutjPB1o
8RcUGHX1UGTudAjDosUpVjriGCW6fg7KxPRj0MdfnbD2Xu7/yBvBE9gEOpt0keb7b3GgVGH3taoM
wZGfszcLEA19Ubw4Q39SMYxi3hs8F61YGdrcimTw9uDrkLuABlucKslehRUyxcdRYO4qjdx+jYBF
PDpxbf4/S9FvAeVMQcHruAxlDW0yDyqLcmTm+sW2EohWQPn2rR6sXUO38l1C1oyyQjyVnv8iaZl6
tWvxeQuIz/q0i/psetJyIIm5k0EONMP2WXWL9iEQ1bB3+3h8aHr4fPdf562PaFawmUlEOLcsuamD
F5ZlhaTasXIQCuRaDraQ79c8sm9EIShdkKJmjhvojMVNpBYp9MvE9Y6pMwJ8YdpdPjQMOXeFwXe0
RVu1WHmNt54L1XawEHNKyPV3+Rpl0MVgySs4lwCgt1g/YrAllDXO7a3nQmV3LoSROYGhdLkKtJ18
nIB4H/sABjRT5+RRdbrkOGRV9Cm2O+X9aS7XOMwyrLjZzKVaDgKhQ1wCDDsiEdl/DxO6PAVF5kuP
BtNKdL31ycFVpuuAJJnGPl4+WlQVtavYjnKszLF4tMsk/+7g0rLFlGNtqVvvitsCgiE3ByXm4nQ0
CMEiq5qEsPYj+yRF1JysNF9DI91chWuY7BaaF9Xs5QNh51QaOQIQpx5PpE0hDfETNk3y+f73NIfo
xaUEt5AlVDJ3FKEWya2aI3SI94Z9NHNnemwUz9s5tRSYFRRm/9Km6OORD2RrH9jV26Ja5X6CRDqv
fUWkCqoWwZJsQCgn7pztUIXGQ6yU7i63s2nlYFzt41wYcy74SGFOELsu95EyJQ4KodRnNx2cJ8ND
G6gq+zWq4XVwnC0lGFdQG4NzBPJ+uYzdI/CcdGF9DlJNw6QYbaNyMwq9inDlytKBKUZpfMCDOO5o
wHc64HuzCbe56Sr/vfOV8kvI3WYmFrH6qnfc0pr38KTml9hWL7dkwQOmYFriPMdjLYaDETseUPzI
Rrbx/spXuSPj+5mBDFTPIStYosm9oiQHmNTmDCweac0oVnX0M51e27mjrj80bhPsLTWz/zOTRnH2
TeaaKzDJ65fN8NKDQUHMJnddtn/KSNZBbRb5WctL7zcIffNTApNjJaxdA73prs1NLHq36D0gg3L5
siMu9zKshvxsFG390SsCY1erffUNyI3h25mIPZKcsSO9oIf/c7RdikNPw5hrlE67t2UBkSBR6kdw
4Bk0q9RZ2YYbp5ESgySevJYwhVTG5Q80+lRrVCsszgIuJCIGxlhsIYUnn0rBr7DAH/zTMcb8MGDZ
8Djqoj8A5Hp3wutQOs4IiFm3j1t0vo3+KiUSd6pjV5TFuW3a6dlKpHuSdWS9F6H1tsqbceAbIXB5
pyFRX4xtW5xjxam2daNkT7Uw4u39o32Nm5yXYRZJI+XNFmJRMtJRlVov+uKcWNr46opYbMYuUk5l
0fMpT0V3SLsmfLY8tKsq0+w/Z6HsHzqqzHfHs1nuiKqVKxw2mL0ING2p6dnYWcmZ5r2N9DT6mD80
q2y/3X/gG18SPH9AHeDRADldc8GoMNA0Sc9O2tLVtysPaZpVm9fre4As6w2PCTaS4fHi+okDNynd
KE/PSY5xrQ/pUntOh9GC9punw4/7j3RrMcREeZGznSUB4vI8ponaWuOEGE0+6s4XcK3KE9mY99CX
U7fyAd7aPSIDgxAySIjTi+8vAKvdl71XnD20zI2xrTaKCzXw/vNcZXOzQAeDBLgCczdhCfLs3Dxx
Cjsrzw3d4d9maGv7dsiH/+JpCreqyZG8v94bE/UiWWBBcNH0hEjB6eA7lxs4hq6DE49IzwHGbgpY
fk8bUIcjS9kko5HkPiKA6IyaUe48loHuRX6UTrgrZX3fIFwlRONgVIVoTWgi1+hPIzNAuE2oqW/q
PrH+jHEngUq0lfe9ouN+qureeujqvo22mlbVqCCGgZP4ZjUEJ0YpFaIBTR8/S1cyGk2FSdt2LCbj
Z1x0sE3wTQtoDaZq9UFPGS6i0ZB46GwrWRRua+Q4Yz/prNjchq0sjlVftRVI76iE7NdOctwWfTV8
shtDDw9G3zU/jFl3zxdgy2pflb2bYEAt1P4oew9wa4oobol+ed1L3+3UUvOHSkRQf4K+Com9Wf4r
67sge2mkU4rjypth4xcvBmIirsFoHbB1S11Ps0YhX0QosJZcWojtQ5t3nCRjrLYqEnjjI6JRPjPg
Z4VkMEOXZ0ChuBA9rPOzKmNn55WQDqxWhSxqrvEHrxVfHaIPAxaUycm2r6CBDA/VfmpYyqIs3Tbw
Xx+6IbV3QS3VE0Lp7qlSpvC3K4X2anlBvdML03wNkQ/8UbqNtsmKTm9QIYjDBwR3k2dUvLJNHmeO
L4s2JbmdxCPkBXmaEBXemU5i/EHowPx4/93c+EoZ4DOLwjKbXbPnUPHXLWjjG+zlszpuqFgGaYGW
bMeyRXE6CMxNGaff7y936/0A7+fVMFR3OA+Xy9WpokFJVglyOjpng5F2flG56l4JijXi+nUz0wGT
hpIaVEUiEJzuy7UMqtbJquvmbJbc/74bOmOybdrcew2nSWt2blG2xdElDkq/9Ab3oHpi7H2qU3Wr
VyA8cZMPEmfTOjJ49dDg+d3AUKeTNGn1TlpxJVdu8RvvAuVlmPazAAnX+eIGKILM6cq2rs9x4Q7/
MbQz0KjpEO4jcqnTU5g7a3nDdUpsgknhi6RhwWRkSRydOF/NWOXqORxqbYf6EGYLfTd2/2oD0+9t
Bhr6MUU97BiNTn/S7KCp9vcPxByUF7Fhpgxx6fGaGCEsnjmAeznL2Klnq3W2htGoe1c0H2Mz+c/K
02QPAmANIoM5+PWaXEdwOiBBMgla1q6oL9Z5brOmECm2HlUbgaci6OvTY5gKo9qWNl6/h4STcHBy
EXBQQ9cKUNs28P/LqpbEZgLDzdfbDL3ld2DaPDgoVvQH8bnkmOXVOPimLYIPih0P8UHN7fHbhLNV
6gcDPbbKxoyENgo6Cv6oZvkLIX16DZNMviJPL+FpNUgBGFZUMkfBl49j0DtKx03lNp9NKxtBnQ3z
T0/1vnuxO6/7UxrhhK0KnOZPlqDj6FdT0X9P9TT+4cSBmF57W4kTbp0g+ZSDS/8+9qb4AKfK/Vw1
evvLDs0y3pRJHz/lWhgru1oG3q8pKe1oY3RhiHR7PnT/1qHT9H6GZsrrmGTAcGwz+AT3v8FawZrM
XyFUWq5YVVPOahwFP4Uqc+l3YgSmqgVhhhdC3HeZP6T0qnxG39aX0ovKbFvWYffZEBIbAhAaqS8j
webASgAEUUcwnoBrsFVI/tZ4hkya02A1lXl0c11G6fomquvpuc0c+S91rgPgvUZs1FGVMNjZVtHL
Q9IHotnLfHDlpk6yhtdWNF7vdzDW2q0jAu3AvYrqSDY46FjGscGkvGr6aRPzg3r0cnpsGoKm6/8o
Wcc0i2ssq5+sMEuGZ9wcivoQSJwVNlKNUy7fwHSnDbW1qnOnSy8/iA5IKcDEKuRUIUqebeDMpT/c
Hml330g050Oa9OjKgD3j+bXBbjA9mNxoF1uJ9oP0JBupx2O73XCLt8VGVmVUbjS3TLRd1rlxtR2M
zso2bZ9nj01q2MU2wOwCkWO9Vf6jsOdhmyhQbMj1hR5tRDCYv2EGZpmvBLoaPIqpV9xNx3+knzd2
82smAgm/lLEudyCfUt0Poji3fXpyypMzJGO0RzSsC/axooW/AMrb7czMGtUNLw+RZtUI+McRhWmx
23PHKsKP0ey+xshz9RtJtsuB1Tr8OKICKwI/KMcgPgKDaV+R5k5/JK6T/Omm3up8EiuZruSnN5Jg
OgHkCsg0wv1Yzi2rGeSkalI91zDcNpUn4segWI2wNy48KBgminQQ2Ylwc8z/635FV7P3xs6czjR/
ih1177RNUbvclo7WrITSm0uBg6XJQ/UDzPFyqcIwprGZMvXscnc9ZQViS17SjA+hh7XE+6P2rJRF
KxgEwJWUG3qloiGDn866nlWnlBHCNnDVbhfkaffLSVw4XKNV/by/6I3nAztDq5Y5mD0DpS6fryzo
708Et3OsquVLrgD59WlhFd/CsV4DSl+DlBwacrSp5gYB18SSme9wR7RZo45nvJOCxje5MQhxGJo4
/jRl9biBE6U8T5oVIVPsTuHkR7Cx/sMmRxv9jkv1U0sI+M9Mm1xZec/XBxck5AwfApg4E+IXOVTW
hmEzkVtyaVfFdwtp8hNahHbn39/ueTsvb2b4PPPDc6JmGOSiizS6ThqGoSvPTRxUG9NkEl0UWe6X
vN9tKQji99e78VisRx6NktQ8H1xkAmqCMEZNS+6sBlwxlTDELsZ6cnd/FRr7t54LDTT6Y0hKkHYs
jhHyiiMz1fpcMkceN7reKyda8ViTaUqcFruRS52Jd+/FzVOii/DUOkOMKoIdWHJr1UGUbQAJp+XW
s9ph2FuDpp9Na+jiPcBU53NuZvqXBn1SZ6umZTP5VhwHDO6bVm+2IehQbImawvnimHWJ0nsZMcEZ
Em1Qt6FaBeUm8szitx1Wpep3vXSTXVUo4lcQdHTpGsMtP+vOGOgbRS29cV85jqL5ZSuHcmPjndps
kkFxh12Lz/gPmYSqIJXI9MyPIxsc45B3WFG0mlW/OqnWv+aUuJSZozSMfV4PTcxTJsaHjKt2wGQI
YPZWV2T60w2j5keqiybZyQkPKr+LTRerJdNL0m3LoGbctGQpuW8Nrv1a4RSWbNos6ttzOCo0+II0
chO/45dF0Dqxe31OvKnWP7HpEB2UxG7/DMLTlUMjRPV7zNroZ1jWsvDtOqwZ6Q9ZSw4WVI7qg1BA
xNmZ63a0VcIebzmjKDYot+QvfQnCZ8NIRKabBNcZBFdkqZyFZo5fFJAwv3rN6h/McgxDn9tI/jOQ
L+l7ITFblHmrpHsvsngFop7QSlN6VZVIWXvoBGtT66k7wYFyDlHftSj/hIo2nYckmYuHFmnmbQ+G
8XeQ6lGDcvOEsKSdpc2DakhZbwFvFn9yq446P7VbihEZmekr96qsdyq6V5/LyDZ+cqoqfYtMh6Jv
4Bcn+cY2JoplDe1s/kw6D5kVpSMjuv9NzAFj+aUz8GAqD5p71ii4/CKkOWit5on+XIto2AraJkeq
qbjywy4stiINpo99UEdYif4fTViAeoBNNRgwvJil2FbtpL2GvVN/7vNK84G8hhu1ateg/zdCGex+
cv05lF33uzrMCLxEd9tzbgTRI9SE+sWYeyBxNqZbcM7tyvV4I5TRwQN0wI0PTn7ZN1Qnt9dEEkmI
FLH1Yep7JfMjNyjf3VumtQBqACAF6BAe7fK9KUnYdaURy/M0Bul5MmbYgom+8/3T8aZZtzge8/yN
adh83wNSvlymcp26aQohzyjYD8bGgy7xATlAs/ZR+HVqH8bxcHYVWf9Qi7wm6xx0EgC+gCz0FSe1
/2lSJ/gOXsuUvqlUNeyAUZhftYyUdjNZCMv4ExVJvjHVwolg1k/xbz2oRXM0ca38ketVHO0wNJnS
bd8qVMNNMFKP5L3sAz/GgiLeBg3obtpjspa71Okx5mjjCrF0pQufQzNzn3s1aX/LdAr+M2WV7DmI
VePDLo7Gvegw2PHDKPLSrauiF+vrcsJbiStOephz0A7YkEJKvElgoa3RdK9r0RkHA17hjbtEVrPY
XPzM/kfdmStXjqX5/VU6ykcN9mViug3gLiQv1ySTSaaDYGYysa/nHAAHZpcnR+8gyVKMJ0fGvE29
iH63qlrTZKaSaoUMKSqiolhccAGc7ft//0XUuSkP+RAJUlKUIcgAKspTkdv2Fkep5mvrjuHtj9/p
t0cprgrLm/PNkUT12qZwHNp6mEaHCeFW6V2uA3Gu2967QEm5vHFa+e4NHgXINFPpCLzuuhEdVfnR
usgDZaZf7mxK+xsXk78bPKQjIM6oO1Y1b6Fz37tB9HRwjnmukPZeIdxl5cxVmhry0APTLHFq9unF
ajv1eyPz7P2PH+b3ThQUbECA6J+pb93X8zAba9q47Hah03tLsoSpG0/g/InyGyMZslb3seEoEZdm
NuzYPsxrqZfqQnGCTuzSjHbpMA0nlSrMj8BZBlhE3VwRBLCcBJUdfXJrlV0MJB/eBH7enDM3rLOh
d5s33tR3nhkY0NEcEyEyZgKvDmCOPxWhWuV0cAnlOVCXVieUZMvZ2GX5yY8f2XcGxZGFeyQXc8AG
D3w56s2RsM3ZVtPBtnpxDwhR1xvKQdABE7zOr1Jj07gW3uY/vux39gHgHkxpsSqExPKa5J9HvtSl
nKeDMuEteiNQQJiK5uB35vS+mrvwjdv8VtzCGI6i35dneGivET1J96EIa3c6ZJ0wP9mlt7LWGZ1f
JlY3u+cjvP+nwpXiXd2vazITeDvpKvx8BBwAOTr8o2ISVdvHyo2m9yotRLZFFaHuR3/qL4PVIdB7
gPt73+Sp6rdL6g9n82p1V7IwjLtRivRSWrm8x76y/lz4wWjH1mjc+wVIARWv1XQ73aKnTH78mL/d
/lgTj42zo38hZcqrNS0Mlrx212o+dEYUkGzb5vSX7beyrr59mUc2NwSeI2scXs3x+39XWWe+kqbT
hNWhbqYdvf0eYcMs7jPp2acdbYg3burbIYsPFQ0mSN1QhjBveHW5tu49+PblQaX5wvay7Eoz7WHG
1mTrpNZ7iANv0VC+U4RyjMB//ohTIjp63TjJKgLDOj+oDz3m0HXiq3wpj5suAkKUHGu1s6mJn4Zs
bp4HisIhdjEffkBPheW53c5oqEgSNdSWZon6h2P10AnBoUf5TSf+mJT08nmEFYQ7AHRJfOQEpoEo
6wg5vjVjv33qL6/yqq9t1eRXmZqllU083KvG0CU1WFYdbOoFmH5q2s2RavY/HsDfYVCwU9FLhxnA
S2eteHlzhH4X0+gX8qAUhrolZ/Yba/TXzWR0zWlIs/3cd/MW5mg5nzoysE6GsNAfTGX5yTSZci9M
5R3qqIqu076o3/h0367Txw9HXQ4h6jdJyMsPF3G/SxDk8lDBU4Jwb3t4DJtqG9XjP2zZz0vmDXN4
PsIAhPy8vFRgLM2qg14eOg5GRLjJBZhXvekjfVzuX54wuQwt4t8osMcJ9vIybevYIms5n7sUnhvQ
yPRDS6fzqpiWDo+IEm/cNJJbuiI2nbWp3BpiXt6Pwq/2cN2G/4PnS4Yi7x70B6Dg+Pz/bmERmSGp
ZS2K13w1DmjSpmuyKsfdgj/1G1vutyslHXLIv6gYSDPhjPTyUuNI9U+WCJNIODLmp0RC3Fe5/fFw
/nalREkAYZRG5fG897rLY4fl2KQWGzt4d3FCma9iBzxrM8JK3A5iFW/Uk29d79Wk7bBTyhW1yUF7
tbxHaKM2rlbYx/bGxWLrt0wGvkN+YehAygevYkeg/f/yKU4ENIs+iNQBOQ7WKcQPdnGQ281JL/r8
Pm3FAvSRL8FezH57rpagPeBCPiamVOot2d13JieUajpqR0fkbx09RZYWVtB5oGa0fuLMqNdz7FRx
mFTjW0E436qUOUJB3/YIiAOowwbq5X3LMZo6GabykBpDcFchpy8SIcaqiINR+jS2ykLfhg1Z74mh
dHNvBOF0jz0JzpOVA6yULD3r2VZT85BwCNj/Vg7XcZl8Na9xUMNMC80/DebX4q62CRZHrUCIfuYF
53atS4+It6OFnTNMiVVb454opTHxJmu9/fGY/87MIn8JmQYJfiSI/7bC/90kdnG9ttgRp4PRUFlm
aePs7UG+Vdx89yq0EBB10q9FcvjyDfhdoytLpNMhxz1hU49Tt/eWtHpj/n5nTMGGpk175EaiMHn1
ngk4rNv0OJ+8GqNNJysfXT0GG4/WzxuHnO/cD1eihME3CqHca7viNMis2aWBdphXIqLauZ82kkDw
N67y7aYeAltQffIvQk5eL7CaD26GLaseyx+r0OJaG6QDJEY5ek1opMh9sRpveSR/76KI2nmI1Gjg
Mq/OKxKIvuxL6lAD9tNOKJ1DNe36TbHo+cyZG//dWBnmG7z5b98cqh38LuCIsC6xp7wcH5DshhIp
E2HUxnIre4zaBrt7IBuieONC3zTyWfy4CCo47g7//FdLYNdrrevG9oh+GKfHVPYO7lENfjJ2LYy7
oh7Satc3dXBZYpVyngtj2Px4vn1zp4h7j0ACFESIC990CwYDABUB+XAQQxXGY+Wsm9EWTlJyoH5j
+HwzSLmUfaRJOHCKuOare01NI1JGkA0HGc11ki2Blayz9RYZ4zs3BB8BUx4MpBAU/xbV9XcLyEzD
co6MtjgEpvR3SMveBQTXb2We3f34yX3LU6E1yDsDPTh2IzG9fDlIpoZMoNQts4NNjGZIcm0e9KRZ
LdgedIvu2oTI1hr4fNVVttNOqK8iPeh7vLuKq8KZpnorgcAziGdN0JC2obIvXjfpowSzC1y07Bhk
nPz4M38zmY7Dmo4lxBrmMPKllx+5IuqxcLPQONMwEp7woBIGAbF+cchdOV+RaFf4SW8O0z8a/cWS
Dkf5KHvh0vRsX17Wj2ZsSbqsONSO1+KSNKqkL9phSxR6/RYv6htU58iIQUwErMPaeyR6vbzYkmZL
Prurw7mlrJ8KpBY3a7tQkduZ1/ectq26PNGrzs5SdEVTAr92bR7EtA7vLDHaxo2Dp457rYqsOK0K
o+lj09Z+u/HcxptxwDEGB6g0MqKkxO9TYqtqBjJOK1M843yZXs1eCRvAbBDmxaWhNRTFBkMxqAKi
9Oj/BBmZyVVTmpu1n3r/XEaddeQtjFRiQer21Zn0suomG4OgTaqpS8la8Utn3AlcdXHw79Zps2Tz
4B0iLfR9xGna2hiDn34Vk63fkWVOsrElKXOE1OSrRam1YHlEeODHtp8M8zRvsD9hQpTumBA+69Xx
ZKlCJbnt114iKtWdzKmZEp2TDRvmjfOpccvm6OtRjeepXWd2ktVNnyZIgrwF60XCsXYTCiYSa9YC
DkezTOEZSZ3ZJ1oxkbfL/LkvKGnRdyW10F56Uq0GXI0CqOiyDQqabZw3BrEZvNW/8tJhlSeRu8o1
8VwYBVu/UOWHsKt6cQIP2zd32qp70iCFku07V5W92EKCy+4NU8FOHMkj4JYqU5kb06EXxjMfRQF1
Jfc+pdGcMsEQAOOaULulFYei6wY2Zzv/XKMkIHWI3BT8vIyVWM+0kfNj3TSCSJNIkMajF8/44DRV
uLNXYT0MWIvMO03a8pU5Go2xq4umviUmTex04YW7Sjdmvpkxor3mSbsfrULYZ4MaglM7mqPtpKzx
Jprn9j1VsruLRNnctHKBVB8E7/Xat3w8XGPutW9PIsF4j6GDrAZnd+0+Y3bEQmOu8jHAduxjH0BB
Hgnvq3YE0gNGdnarHlvbz9edEc7E0vd5kX9ocll+BjhfotguWeA2bR+MiJRVD06BizYkoTx0lkTb
Y+6SX9rA0B6wqeg2divChgBDxxdxNdvj83CEqNDTyq89E5xaYa26xzXM8w+0YDt+uUJstHW6NC1i
YyqraxGNExFu6/BIT9V+cknMe+SBZRWt+dW7dcoibLeV3c3wYevGaTZwdEo/yQfLPUxrmUVJkdr2
3tKZ1WFzMi4tL2vWaeyKiLY2rvyyvOkBWDhCV64p4z5ErzUI3Z/4QW/W2wZr+qcm6o+vveuqBQXD
qMLYL42Bd91BwU/qMGz1aYpKDs6PMscnwx/qD+MayW5DwUeFog0Az72DRPG6lkU9xoOGQZMMYypo
6a5lsySltRyf9yJVedrCyLOTsA2zz0VVWHK7EmCcJZx3pvcWi0lDQGs6XWaG2z56ahjbHbqo7LYo
1jZMMtiK0WUPO/gyygZ9sBvHmuMcvpJNeGO0+HEbkVYfh16pl62XN86BUhK7DJFm1cXMyWhFDTzT
F5/cDk7P4E7Vfb7gT0lWTyGrM6pYUZQc7j2sFTztuNueSagSadXqtLKFX6KgWux3Y4gDeSJrW34m
D9BTOJrlWPhkI2eineCWon1kyGHZUjPVcmP1QX7LRFTmyUqr+lL4RcOamGFoEJO0rq5dnep503BT
USyEFm4y6DSMlzKfp11PdZTH3lCGw3YpPbJLekQncVfN/bINpLMOsZyXEjPnNMzsOISo7W81qyN2
2lKELtZAuTVBfSp7poFi9Y3DaIQIiFg5u5v7srLjUkGPSdaFBTYx1ybstlnjwDrOS8zUmryy3CQy
fO9T5pbh7cAukF5MUzl9nhlCN+5qrJgge/RAk9Qpx8uq14TnuGOxXJpj0PFOpePfVv0khw0GIBV4
tW/Uem+PsGY3gQ5SddHXmM5cyFJDKjdSi50XEnx/GbVW+zBbPWn0ZdH3j9KwoaGDA2AdMMKcE7Ek
CwJ1DeJoBBSpIMA+tXSTOE3ZS/r5Y3BwKyfNt5L1eZPZa5Ynyo7gxAfkrT1MoQWD11g8sLD+2EHz
G7Td+6YuzHc+y+rBIY6s3UjQ0kv49W6Dzz1Yy1mnbbNivXGHBz9du9OC2U6DnZyGOjbyThMvUeOy
lUAaY74rO0uv3JAgmNiUgbk3NceOJJ+1xUQTs3PTtR2vJa/7XG4ITq39GK6dfDeQmK52nLNtETP7
vGe27/4aDHd1TyzWnjHm0cxfoBuV406lQKVXrop6N/ajUmabqE6Zz2MYrN1mNIX4SvPd55vGEvbH
vFUoAYVa65ntFmLseagCuuWeJytjAxm/C/dlGZB+GujF+Bqkmv9tl/yzwyrUGjbtOipF27Qu8uu8
xD9zN6fkB+11a63lMcxEPWOHZ5a7QUWdl+B7KL0TtGNsR9k0mMGWxLt23I6c7T+Onlm9K5Q7f7UM
aCW7FWaGTpzCgJEQSJT1Q7b0T8quu88IL0rirlv09kjg7WrX2Gx3PLvM8beWl+t2azddWWxKq6fm
iwbXcGIT9y2Yr/2yXLlmVugtOERqnTjk/FKB1sO4J6BBs0TSqxjiCesKN+67Hk9ta62uDN9RdHac
Jvgs1jJ6KPHa+tjN6+BvLNpQ7U4iS7gjbQvSVNNjI5Gbw4wUEvP3bUR6wa53JuCMyshgi9alJgZV
rU1qJAQEOHJD67a5Rp5Z2slawLO1xaDdhBhHRyQzjME88XsHQ63aGx0P86M+eHDs1r2Eo1OWNyP8
mGozcArE2dM11mXTeEMKIcAve9i56P4vkYSwtRH1xFLY99YA1yOnlZus6YBUvxhY1705nFqUHkN0
bWIg+iBlZLz3auENcW8Ia4EV5NplbFh+/1XhhvTBFGHtQIn15/PCs3i4i5DG5aBMbNbrSBtPVmWb
V5bTWPPGWZROE5xm1oM/rtWtrW0sLoRy4MNGsl/tDS3J7Gs1jdbdqszqk2EWYbR1RmL7YhmO3Vcf
SNWJOwrCOh6DytQx9F5SiPJ6cp4LSDo1q1mhi7hN1ZAlpL72BzimutmSHxI6m9ajMklm5TDAnc46
HvJqluKNaIp0QVZfg6BN2q4e2snqbg09qiwJ6qNXZdZZxqcmqyHj1FPqn4g0EJ+a0g8eNZsM418o
+qQuEMCQqNGzUmaEHvsYzyofgSLIF4goWPtzPo1dczLTQvuKiKRm8KZysk/GIiIpwtORhIgAxfXW
aGa9JQGBv7GaRdsnQZPBBIjmtkPf2jj4sFt953LYqcfiKkJyQPtszio4X+UyrWfIX7AvASJtzqfc
sR5CQ9u4Ia+Td2rqQQYJaKZx15qw7mIh5/pzk86kK3dm1HT7kUronSeF6SR93bIJpjKAJjSX5D6d
1INQN66ylZMoUeUPnuxmGRO20I9xhX3gGZ3S8nOr1jzYFFh7PJZ5OB1Gr6zAxlZgvThAjOpdt9NM
zsGS9l4VZxi5fgyF09wsEHmNeFloJCbCzgYjEQHH81Jrg8QwggGtE8xrjaT07MXduKEo7b1PnNin
LsDlY6vQSXysSJKPErbf9NBMnV/dDKnLGpCLVYrERCf4cQF/uNN5o8KPtV+Ir13byiKxUkwZIbNC
sEl0jdNYHDA6C8yHCu9+nKLg0ZZBPZzk6UwpCn/eW7duXYlLUYY6xF+XnRMu1So+IYnApyGQUY5c
C3bZdaBDA6rX1HtdPJMIcGdnRWnAEi7Ld7UiyTR2p7KfeNemdQfI7nxRGIH0u8EOMm8b5BpZOIB4
9IeFyT99Xv45e+6uf8cvxV/+ha8/g5uMRZbLV1/+5ap/bm/l+PwsL576fzn+6v/80Ze/+JeL4vPY
ie6rfP1TL36Jv//H9TdP8unFF1seo9Q36nnU756FquVvF+CTHn/yf/ebf3r+7a/c6f75zz997sBi
jn8tK7r2pz++dfrlzz/9xpX8p7//+3988/Kp4fd+/et///WX//zrL//223/82ze/+fwk5J9/Muyf
YUHQOcF1no6p5R1VzvPzH9/CLfSIYWIiAeDh0O5ou1Hmf/7JjX6mh3gs6o9yFIvJ/dOfRKf++NaR
YwzKDdwN5EOT/W8f8cXL+veX96dWNdcd5i7izz+9KusJsQOl5RLwso4KEHDIl2V9maqq0CM12Qhs
TZPd6AQyOKPrt9rFQgQZR1s9dvTeTxCzrVHMjh3KeLDKLDbnefkiqnl4XMYSh8TcqO7SWTXjkSPf
fhjNrqaWr6PHo5LvOlSp/SCs2f86D8aTmwfp599AmP97A/H/xSF29Ir90RD711//+l9+/et/+vWX
//BifB1/7Y/x5fk/E2F8FC3R8cFC4AjM/DG+fOtnJP4IyyyoB6C8HgDRHwMs/BlXXIgCiN1wR4cS
xLf+GGDWz/wCADO9XvQA/FD4jwyw381Q/r3r4dGbZWgxVAFi8XT4JoeL7Z40U3J3k3yZGisu0AW0
wCGdC6q3+GkUt1m5fkTv7r5fexx44jaMyoKFfqACw95vup2LBa0JlYjzUeRhcW3aFIVQolvjTler
82Ve+8je0DI9G+AgvJuxVKpiaSwzajpjWA5Ob7VmnIGcvOtSeAWJ0a7VjVLSO7fcFB16tIze/VIV
Y0qlyQk6DuueQO3A1S6nJVoafOA1M2/nzIz62MZW9YGWtrwkrq5wNoLjqtyZEslQEqSVeLBMbMM2
bus0w9ZezOBpdFV2M/TpNFFkOtVzJnKKaYhEzsodVrD0oEsRdw2x8Gk086VOoPBnWE/4lF17o22D
w2CnXrbhiMpxvK8bpCWjy8W2lt2F1safrexRikxdTDIDHE3DSEO6yhp9k1tt4e79fBZn2EsZatM0
k3E1rjBudyKQzGN7iNoprgJlrXGjIm/atE69pMf30nin/WraJ1lGpX854y+2Yuu4BI+WJ9MscQPO
TrANqyg/NebWa2IVTDS1JF8QFF1MpCGKgbjlvcQG4qT3g8o7dWbvtsJA7R3amAxXYOFQW/S1tN4Z
TY5d/0CX78Ll82XwG2mvJ5kTrO9xPA2oOMw8PDV9jrxxGeClzpqTah0bbm6XCc+wb+O6MaJP/rg4
eYJuTX6yFm+RR0FRP53YZuPdevJ4vguNerqbqzogkdgVetfTm+DsSZ2a2Mo7K9pq3c5zkWoq3ai/
mJrZ8zY1ZCmSuYzA+hoaDlBGqgPQEjVYQvC0kUeyKJKeEuMW6eKxW46+3gTT5PRJpwlIKpWrvzgg
Y88T8ObXpVvNK3/EqneftrbTxxLIokn6uc6HbVXVEZHRriF5ZYMuPnFClnM82itQNpDa9HHi5PMR
eArDGa28DJGXdteTmjgzN169+WI1F6PYmqIdjWQOS5Ztex3Hj+UMFSz2SUMgT3UqdpZbSXcLrdU/
86SsI+roNFhj6lvb3TZDM+JhZ3f9+EkbaX2ZrtHRBS8PxClQLvzUcKobd6s9nEHRcXEajk1f2evG
Ft7B+k2xgAlUf+eaDYFlLRHZ1Fy2P7TJUkytmWhkfuu+G8vpZox0U2I+ZEY68dsaHlZorOGnvl3h
kYwunlw4fFqdjw8GTHEMS9b5CqV5hx1ypuovbExiPIxRkJ/3fu2gODSXxdxTaOiClsBqIuBdeRex
nrr+KzLD/Lmy6/ShEN36ZHS8+sQmu/axrZXJuzPd/rHOjSPUkZWTsTFnbRqxWcKvhdkTIXvQ1PJ3
oY0qPZkre7qcsOsoYnSH6qO3lA4+k642NnhPlDJuOLJdtetqPAUK1edmwUroSwC3Av1Ml4q7Ym0C
eeqw/OXbXMjhth0a64Yx5sDLtfveS1bZVeU2FeU0JKGOQCmADIv7MOVsj7qAgRuPA9XPDqe2Jtu2
nd2rg3SpIs+U2c/L5eQWC1XQHIQF5peTkmd+B4OLPsk4gFvhWHgENIy6SejSj/5dN+SVk8eyH3zT
27hlySLXlBhfb4DvYaibZldder0ogi3kZGLlJlkF+qKccbS/sprM/GSU8ETjtAZP2mND6R/LUtOC
seSjFLkavLAria/ozeq888au3Wi/965VbWh5063CXBNXtEWKK53vBu9cy8jtszHXnXkGHwlTgVE1
nk98ZOFbyub0O2gfqL9pCwPQAEh4K7Qy3wfr7I8bGhOGkbRuMJtJzlNf4zx3WnVph6il7rEqkUST
1NWCiSzeKvMOlxYcgcIhDPW+yhTnapK33A9h3oTXgrEoYkQ7LTNzsa1PmddR2jHv0WamvKu4Ik7X
3FhhI+9mng18MHdoo105iGDZ4enqLxuh8/wSsGI+I3Z9fSjKJlWJv0blxQrZydqn4US6GyiWMSTz
3PWfM5mtn8kDG6+6oSo/9sMSINj1rQ8pE/oz6E0OY1LCSI9ZdIJxM1dr8CWYZ4VwNuvMmOlGs8Gh
ri1jNaV5SVFCwuBmFOnRWY8a4wMIJyYY/mgEIpFrI5ftIEeBY/6wNuwSLDkwYXMnTv2O1QaZH11N
IiI7K5kic1nZL/3yvAgKdWvjM6xPZtF7990813NSUrm/t/uasTdVAO6xGNA+IiuaSacoJE6Auwrk
fd10ZsgDHMY1I8+oyJYq9slEzHcWuWEN6RxLgFYyHdS96S+ukxgQYdLYo9FSxhidWn2sZqd8XwSz
CBMdRLRDJMbTku2i5Kol2Pg5IencD+uxT38D7Tu5AJ390VZuX6Ast8Csw7qqp13ZRN5HqBrN1yCL
0jYhmRbak0Ht/9h23XLvQWAFAUlN/5MMe3mHo5rNDuoudYMSWUTs4osUnwNon6eTjMQXSHHVdTSo
7giwTDBAR09EzbYnsftGt0XZLXt22wj9eQsweq8QmulEZBKcZZVG9LWCX/F1MrPoq+X2JqtT414W
DpmjcVON4sprDTg+qe4uRLPIhzYcUFU7luzuCuAXugG6NIdYwb06LQqg5JPQmDCCxu5gPK9BqgqU
xa0joUe2ttqQwok7YBo4iF3RajtJHmoDw/fcMb/487LqzQL4051oL0jHjQNEdWouE77dTmnbd6Gj
3Lu2o7mwswnGLePZLFMzMbKeM9dShneQcVsfdVc1OjEUGKNLIB2YD0jDp4cIQz1nmxHVDg4jHOpn
rJPWy6PTidoIpQi79wvw6KKvy0vlZvV0STzvbG28ssnes6OY1WkZVdZ9EAz2nNCsSnc5Cl6wHcOU
2PDmoZ1tnUBpZ2cvbW1sUTP670k3NMV+5eT0MAZ5vaC/z6s73Cb66xLHsCyZTMPEIB+I5JxFPX/C
PnP60qAr+8JpVn/Cs7L7GK4VpOZAHl+dU6w2nzLgVSfMebQhVk93LSEgXV4XQZq/R1oXpkmmOI7F
c6CRVqRGVd3NpUqrDUxq/xGoYj20WeENOw8RXnTWB9JCFT2n0jpFv9xjy4B/2P0ATnGdRRpoqKMN
9YUOfi42lKT9wUoVrvUYrFhTMmYKI4cc7dgpXZTJRv1WWpCkV9w/HVH6Z2ubNWuiCseBAwXelyWM
4aNPpT2ZCPGzPt2HNNnByG2OBys9/GyX0ZJpAbgW64EzQoPIruOQuCGrVnzIpY9SX6QKRXOfjVUA
VhQ1S+wUhVGeRCltksRwyS0gc3yN3umWDnIMtWO+c8sh/9A5ES1Jo2khY3WtnX9oDT0/h0DuuLFV
HJ3A7zwVJVVnFAdM6vIbGp4GUq15Du4aOlIdlI80uyxGrKBjy+x1icfIsqBCx7lojcM+jy7XwCqc
bck0ax1lPDikFR4d7ohISTo1t+RYVYA/k6e902rw3fclQAsL7Kj5A50n0qvJsfkMc5tGI+ifRfNk
dmaHHrEinOZ3NuE/VOb+L1GUF8jLFf4DUo3PfwKUEX9Cy//lSQJx/P+AvBypDD8oi3/5j7/+8t9+
/eu//vrLfwV/eVkZ85u/V8a2/TOGbxDGYUmE0O+P8obfC2PL/xmztWOUBwx2/sOHz/E34IXCGEtr
jNjIgeMbR33O34AX72dMc4/BkjRmoPKTs/cPAC8k2R2hlX8vjCGZo/XAYgZj/uOV4EW9hF66rhS4
gkdDIkLjY7rsraG+zVOa9KKrvRPHBtvUssEBRCwb004vYXKaJ0CLw6YMcmcXAD8nVduFm7Jq3qeQ
KXbBvLpbmi9YGMwzJ6+2c3YkRsxbZWXORe/Y8qT3/CcnLMrroAwITFv7NJZdF8YewjQ9e1+mYN+o
9GkUdr3tiNBGqoHeEThxOAun1Enssc0PhEIYW6S6FsfdcInO0HFl1wsLQAKiae/XMj2VPWcpUK9r
z4g+lppdvu/X82JezrG8qWLDlsY+941+myrL2E2G4VwsvuFsTRRxQ5y3dJrSMA12dZ02+9wU1bvF
z8wlURGbR5Z3sFxYl7YDNe09vIj0xMEcymINK+i1w1V37A38BvOuN2xsr0kKuOtDh0P7gtgrce1s
+lAJwpfrIqWoKsBJTkI1htxOgJZuObYfTuHQGneKnzg+zl7OW/qfzlbRfTK37bKmLXv9nB5IHrA2
8EQszM9NCTYNyr7RGsfdTSY82CdG3nYPUT7tW44CW3p6/ce1WrKdQcddUMa4Bmf8Kahu3WziMGN0
qxJbFTaQu1nao63BjVJSpoVxjnmfQNdXNzoJ1qLYEh8Y0jPwKxOOa5biXsy2DdwcWpQnKrA/wB9R
pyXg7+lQDfpk6evPNEueu3q9kMXqb2s2rq91HR2Dzww1JF1ZDhdsBwerv7GyE878zWapqHC6oZ6S
vGKdT5UCNAhypR80e8xhYbV+MjCOsKj/V7aCBHm0s19hyDfkL93qrGtPxeR9HoZ+bxjG4xKsp3TN
PhGueFWN675dzJPGat5RunEDteStZtq/VqCpzyKnzzjicnI2erw9HwRis0hz4YgGSzKr+q0PqRXK
BXHIVhNdu41k38loVY9bnZ5ERaDOs95p9qEFxw/J8SeCLU/W1jGRF3MSTwAuMSsAIcO8YzJpNrMA
XPowm8jGVra+1zZ9oNgxK2OHZqfG/mdBo1wNN2KoKRDmni7AIOg6aOUn7eSFsTXNxol0q+kS99Im
BobjLOMGxEH5ucY6jy1wyfYR6qPTZe6ybWkX5rYuaxj8A5yNEnziHNoIVRVo1imnluzUTuvwAbGF
c0E3laCLkoIEunb/nr7nY6AihK69+E3lmaUc7n02U5OYt+FouuyWD/2MzN0ZB2sflU6IlCwoqPe6
99M6Dpdmm2Wnyk6HDefyOumkDTscrx087afPulaAJxqFSZyWmvpQmywVwpxCjGYxQ7GY17IYIaXU
Zo5viYVVVN35Fw6mDO9W0S/nnjDMk1p57XmF3uwxtN1b6rggEV15iy3KmdEj/86ohhMngpnhyCkH
wPPMTWD17SkZC1ddG+2xhM3jCkO3tLKTXl6sTl7QDQz8Ax2x4aJZMubwLS4D0bZ0fTg9aRb7R9Ok
tbRjGzRqU022ufPCrLsiv/pcmbO/N213OXXWIHhXkI8AlyEMz3rWfsagm229qgkuBsmhsSAms8r+
B3dnshy5kqXnJ8I1xwxsMcREBofgmNzAyMtMzJNjcADbXklmvdVSL6ClzPRCbern0Be3StKtllSm
2sm0zSQZAMLhfs5//kHDDK8EEurCYvYOTmtgR5PveyTgVQ4zQXPmo9eYZyIRjsWgfjcIHAxxZNut
ilFhPaVbwpgUaA14wu4eMw31rz/IeCPqJk7z2kUnWTq3ibQjc9V/9p7SoFz5pxkkkIpF4UrHVP9F
NnReYnAudVfnj36zkXqll9VVi77tFsdsv+0ldYMK56IHu86Lg5ib7tkWMs7xPM6vlHjGwfDf69fV
arZAznpQ2vapgTa5NfqPVRdsFZ57M1aaFYo2l0BQg39ciHILyJrJn7N6qcAGGzEee7s+LR42B03h
YcRPBIAom2QMIQCvkTG7L0sD1ar0ci1Gl8J3UBYLFdWQ8fybszEouHAl80ALflport+DXqi9wHRo
z0u3HGht3uZ5MjgdgD7V2k9vtl9HM+kLuBWpQbGI/fkBNcennU5wQRnrxsU8gvZsdihntZyypOkh
pNHt+VgZjZtxt676gV5He9Bh+T0kfV6GoMP39eY9eUl2U+otF8Yc3B3yBy3pfihzyeMOXlvs4A78
TitdseHSSbvsPoxUu9BgropGmsVjDuN872jDGGQkO1pbG5c87DvHICF+Jaf87MNgep3TfjwAh2C1
VpR7OysqloeYogzAhghaEetkG5TT7eoNDvSEvmCy4nUgAqtvkEw5tEHHEZwW7SGDfoxov3vHYIWC
duye6kF6JzxWgTd0zs1UYqWvZD7soesk7OFSEVvRPDZDEzOqGk+IKfd1O1SHuRvEaVw363nU72bU
u9G0zXjPVtsYZxaGe/Tl1u1QQERrtAhbeVK/ina8mKNmH5KVtSVH7Q1HjCxiEeoHtxf+w4QlEtvD
2B05I6xDxRYSwtryd6Lp8InhFpy9oxR2KprEB8TW0oLfpv02vTra7Oksar4aiB4vcNj2GCHh1Yrv
KH4cddBm935af0sah36oODey5PeKZxFM3vijSjt+tlhUiAl/snO2PHnvtVldUo+DLykEhhX1qtPr
ZcvtKDoQxNnpP7JWzklQbzJhXppsWE2x3UR4Th3qLaUBVp0K/JbVtKTTjm39TfXjjoHYfs21m60r
bpfyPa05MIt3f6zucDW779chxoNgj+sJL1tmXhydWYL5trTrU1PYj2n55QPXmn61S33/o5ZapJdn
P8kj1zxipvFuTByu8wC41kLJMQ/0eVFXQoPL+sWLxQqFpTTHi0oWceobJ0p11D25K49Okb5ZQpuj
XOBBMmfjIcPaL/Ck+UAMMEdVG9P+i3ic5yHOuz3N5a51qpOVv6+9vZuEL/eqbj7LpboXgxFVnfGk
+eq9E9nJtqa7YbTuoV09jCyYTeUqQH/TRnhHgbu5uYwTxRxFF/ZRo2wNG33NowR7d7Aa2KlVlh42
NKr4RPIdebSTVd18eOU1nCr3PjSIkPEwsFy8keMBBpEHl67ulqAUbr3jJLvmjA5JnJipfSx6xzio
stmXjfix9V0TMlXdwDiTh94l+ddCvRYRVrMF/WI9MdlH7yNWZKBm3l86yd9y+g4aoSY/sgw1nWFU
nNiytG9svJ/3/jR6hN6CSWcy2eUyO9er9jPz3bO0FYtLayKzl99r5p9XA1hsySIfIWI5UoL1MP/M
XA6heb0st5fvFGz8DRGmXQ+3gYpJW7L1vYJYHJTFXL+z0ECPtO4N97O7yXOgQYinmjbmThPVT6qz
7tQytHs3pflYi5GrgrOoMiJetScLyNibB5aSMSf3+qAufaZfpqTZSzYD3BqvD9HcTfbS7Fc+6CBE
2n6uc1o8+VW6HPPi59TCkK+9XbKOzXmrqHpk5YQTE5IPYWX12Zsh+cmOJLq6Kkvelbq/8E49eHX1
DW0vRmkMYK7V4ohye8FrztWgyOCFEEkmhLfm1ctogvUfw929aYehZJZhuU+j5mFFa5fr+uLlnfuF
+T20tlaVt0lfZBGm4Cl8UBcwEI88eE4Nm3mL4aSuwDsRnlUB9RRklTLPw9Zx7gV4b5yU8D2zNDvO
YOG3EFONOzqlKQZI/zElyQVpTf4DY41bl5MeNYofZ5g5PTlZ1d/U+tDtOJFlaJVco94yTsI2z/o0
kVYfatwDAzchEay9smKAp3S2w3TmHwvV36T0DZoBfhEgQ6xvDL+ab/Ireo8UrqaDsqdTqzr5BHt+
uJ+THAqn5dbPEGDLyHF7+MdpzeNogB2PnJb9jZB+ustRv4JCa/CZqjRH31r6H16Xp7sxNdpwYE/f
b8rC+6cuBpBzD5s4wlOiEj/PU1dBbOot4xOc2P9eeT8Y+KXFBd8LAfBRFOHijgKQLvuReaW505xU
P6IDRprWTpsepO4kj1Km+suio/udLBwiK82XGJPM/Q5XtZsGcIfRban7L3LiHJ6heYaQhd2TuRlZ
1Hr1GmMMBj28ntdw4qpeNVJL2hDGvXu/ZGxJhtLdQ+kO1mFyFEZ5nZ5oB8/QE3Dt9U2tix6lbsdE
1oFFe1/4HV5u5UIeJ/6L8NY8xiw4TfZne3WSe1mWRBaSCLJf2SnjsdO2czkNPrhm1+8xhjM/fNUa
u8kZcfIsKAZCz2InxnIIfxMJGKqVqMZnR0Xj1sygK0N/GnxfO/kzXbExbC+uXoo3NWPoZA+Tet0o
t18XSNSh2iZcrZgU7cltrA9uStJmm+XVRSz2vAVr2osbIOwh0ptmiaWbDOR1AvgtU6Hf975BFi7Z
M79mc1Rhj1PPWZpowPTmsvhvFRRqULsabJMoMz3DEax0e42TPDEOTG+aYGv6332kFnu1pkyrkzWB
M51m3d4Vi3lboBPAG0u3HvLc/tH7mv3SzroMl60haJT37G1l3ITGBmkoBpXLPslgZaWOZp/LrH8u
JPaDUln2EYJKzWqtf4w16yuRS7TKYjg5ENwCY6CUX6Xw0PDwRi6l/8r8lZG7iZ+K6BFWdFb+YKbD
r2Zhnq3MurltXXs5050vD/2s+/E4Ne8z2Np+tlIGenM5RnjkbmxHqUKDxLldqKSY47q04cXikfMi
2nW7Q1OJKRb82N2gdWrPCQKJawm92bDulC6TdyKkMCa2RyfOZyJj/ZYjRyjXPSDGdkN05Hqg0LiT
eTaetGvWVzI742kmZOeYzKXzaIKxHnp3rveE65RN1PSb/c4EfX1s9cK4UKjZX6Ynx7tFIP6gCDTV
PYEZNTtRZn1rjQwds56Pqdn1cZ/gMF07v2f9Ic27h37Uf0+Vz7T3aPSXrB1hNx/MsflaOdNP9TZB
Qm27+uC72M76bu9TdqpCu/V7W3usjNYOcEiYX02Lo1bDZuV3VuQCkCC1Q+3N6a025ZGlFdulqM30
nQdf3CymW/60EhJkV03ae6/0q+fKXtlYC0KgerE9G2NDu1Aly2tW6/57o0b6FmXA+Znz5rhC0/6A
3eBRSiWota1ZLpKhTM1cYNKjsnXTYJ766ruF0pHDorYA0FMFFzaUE9O5GIozsHjimVv2ozZxdrWc
dLxhyJDi9uNpAhdSOaC2seD0XRaKWvq6WabvlpViqlajAP2B7R82fJlY2kvjNO1DyT3uq5ayMbTT
tbyFfa/c2MZQ676j9Dvm0DKqYPV6gGoLRvvZWDrzzWECd7dUjANCIlg0/GsrK5NhoxL1NC2N2iKT
j8zitnfuRK5Xr1qnw2jXte1SDyiCAt2tuqM0vRaCbNbjIqRIWyDOtHUfUHDYPxPcKiLooSuHGIPP
UA0lig+Gx+6Na9n5vjWmtQv7PvMiGlHjy65cIxBLou1KLFLhTBpdbPeaGa365tIstLRMBXizctvx
JLqJUTyIxjWtHOcWtMywgb5Sf3uok954QeQznfDhHW6u1JmbhdYKonPvuxF8mBSKvMeMNO9Xumod
E/i9kXifdtYeZxjXoZgYH1ZaU4cWQMApm8QcmlXbnVMEpEd7mk9LQcNUaDdNZj5LqYdWb6zBgLnP
SDsypUPyCD26O2BEl4Z90+JVx6Qec52FS5YMZ4kZk9a5q0UZ5syfjcR45C6Ohj2+W44b5KsVF5OX
RZPTHz3ZwCq7LoP3Xs1h4er72r/OBJ3Qyz3m23eQdOQFv8Yhsm1SxQtYa7ldhiXHetsj4rLziiNG
5Y0RiaypYzkXoVhey8p57FaIC7Xa5at3ZSzEeZ/MoVoOiukwCnZ89fCxy52LvQ3tM50hOdiL9wtf
yga2Ac3t7NmjFcD4BBqZe1jKmeOc/Klk0lUUO0+kv8Oh+Wnq63pLGPmBiQLjKd1p0QWtRLBY1Svo
BYMSgEVcVPDe8pk/20ve7Iktu2kE+V11ZmOsZP+OqIqabs6hZhMzSwUvsDum9bQ4Ex7LbENr2oif
pIUIPBTy+sIJHLv4F4UYzK0HV3mBZnfgHQaIZWYZO4qo+/q64dlVUWJQU6yR1+hQbhzqPGF7n2ZX
RjmkfdC9uPaZpjDqChaJ30tr9OHSJdFVJram9oXErQhuT1wrnG7y4dtY3Htms2efNn7q/BcG3gx9
Ciu7SFpA3J6Mz1ZaZnBdjwxgBz5uvWvTld4EQ2NLrKyKpghzE0Loo2asO4ssbOoX7Bwd3B0rs40R
vj9ZdhsT9cHpY98sfvrhegdcDcONgW7l+s+bdsXGvBsdmzR/MqKyppJ1u5vNm6EkZN4LPOJLj3Vv
gA8FJYd2z0B3P7XLp8jKc1pwx6Ox0Ao4sbUuH0hvAuqG3VKR15PVd0VyK7MMiVCenFQlL1Sqd6UF
SMzYuIgZsv7oc1tF23rd09PL3Ex94EGGY4BsHNcVh7XWS6Jc2WNoWDAGem3fFLA/Sqn7gU8LE7Sy
t46c+q8FpowJyGM0L8Mt48nLskVpZZBGtgX0iMzQ4QjT4CHsYsKBC+UGxG2ZrMY6Tmf3BFQD01y6
bD8SBrDWlIcxhQ7iw8FANWVTLTGO1Qr26zlcPXSLbnOLl8RhNR9AHin71YKaiNMkUWj3VIP4lEcD
BjaeKmwaGbXCZUIrEFaqWQ4Sv6+1EyBYi2uHgH8PyoN7Vo68azZ+8vh1B2AQAUDZcU4tXPLUZTPF
3um1KHU+lfJo9GTCYQ5lpq3QqZcjrLyfnUTalCJoPDOwFo9yWGeMq7HtVv2MP2bhpa9+bVhRaxk5
c/EJHpNjdQF90GfFgLuxMlZ3q52dmg2vwkoIykUkydrdgNim5pT1fbT61g8pX3WP6a/v35PKFSLP
2BHe3IXzVO4w4ZM6UgDr6eqkmHtRO0tGuVYSOd3JZySt+rdO/+nl+ifFOY7Tei+xa/EeSrwXj0xJ
b9qK0XzXT7hnzlbkJuKhHvsz8ixaYaP9gl9/TwdyJJXjbVjkrVjffGO4NL3PWbm1bgzJoj4MZvlW
5MUel1g0HnwpXTaEVSJPOcqtIEXaqBnnXOuYaaBSEJjK1nbgQbdg7hsaYozs+nYtm6OWewfmsOmN
5OfUdDT1JSw5Q9J1R0AJGUgWOBVFkEXmeLNPqhdwh6BMXnp1NzvsKO72pBsTSP+4y/39DC7ajS4l
KANrQBaokGFSe2dGKvAgb4r+ja0ooOYIwCCCBAqxKy85FeliKchAmNFu5oNjv3gTZrTGD3v9KoeX
P4KeKSt6zoOBfbfdlhtJ/p7b7QYPWqYWjp0eoqE8iGuxMDZ3owbmhi6jbNjT6CffFoQoodfiESnw
L+5yf3kerNWMprQtY4NpTVgZ3vOc+RaSKeNiQRQ494OkDzFQDW/jT2txT3XZxpYx3Ve0eBilyvJk
dcwaqF8iLfP0mzZRz0z773rSHmWfX1c1XuFW5tc0jagIMrfFCwXqxGYSLVBM7iETtKEGzFaxeo/F
Zjmxw7C74x7o71YnxR1u+sCfDCaCJif3bEIvEspKD9jGr7fAWVb1aFbjT44g0A+IiaGVoUZjaySv
87qTj6t3nxTjAufSZ4BfAnyw/TLReE/SFPfoehseFYwprbkr9TKolMm7nJnOfY4h5RFtABDu9GSV
oMMObU2Pg7m7bHq0JSk6H2u9dZW9o7ZmXje/d91KwIpDcFjb3hrGwyY5aY19mZfXqMnF3xHFo2J9
cZ8zuCTEo+GQL+677lXJGYS7fi7hxg0zMrax8hBzwlIorJ3CDDdotj9AUwOtea5SdbAhUeyAwosD
ItQOCHDryAoiJq8cu3MOec3FuTcT2aUDyAVmgVlLFu9jvVUQtpS98LuUYhqIuzC7g5vAei18RYwf
LVIgSuYcAxpbMOSiOqfJTWHY06Ga15Q+hJQTf2rlo+6778VV2j4MfRHpiHHuSbpMTrlbhhlPIbTd
zj37fX2s8/Y+y3YIppiW6t4XCrM0sMm82WtzmYSra1+pi6WrH7Dgtfe6r5xAa3x5wE+AAohF6KL1
2FJEZqaj/bCpDUtfyw4UD2OskYAZMD+owsWfl13vURypMRYUFh585ZSi+RnRvctRDUWa7u2yFP5n
raw9grtb5Xj5frOat7XS7oASXkq7PGj2ctA77xGhsBWNYgKx8mfQffu0Zd6jSVk3DVdr/Qnp3Gjm
MEbHF1ijDy3+S6G5jRbgbz6Gddmrsz6MRmxbao6NefkFuVIPNjhoB4zSvrKV/B/L5rxC4jbvJ5F/
Ft6nu/WPrp2XQA68TmI9I/d+8egUNeD3fW5SNaXE3+zo5Y991dtHCHk4CHRWFsquf0qU1ubMI5CV
DmNZ7/3hKkdnlAe1vNE5CSF1I60+Yu3P7BN9VChWVlvRNrgss7qTNkJdewsfZGWLUdc4BK3JTs5c
nIDYkp3CWGI/94mDRHLAfMMy9y2EssyR/MzawvSZ1DFv0SBt1SZe0tojaUg5d7MQVDdO54fXDmUm
beGaJ3GNsSjtMIepu8r+kZMWKWdHNoE/9c6+b9TPbgKimBwinJLS1HfbkBakN+h9nK42ctnKvM9h
QR+5NOjlBOgcR9nVp7RHAJh1yxQlOMIG5mC6B0cfP8jB6HYAFgZcliS7Jh/uFk1/4uV7kDlQDThW
RnVl6HG/jcx2oTZhHVou74S/wDZVq6JTk/2NqkTx7ZDkd/T6TJ62NqWwnycLBA9vmVzPtcguhR3n
25TvJFT0Y7/Yw1FzIHD7DTKntpTX8g79uFEUU6ht/hiZyzKETQvbAYIriNHV2EKm4rtc8jetpqaT
RbHXZzgHBgF6IazFPIKG944x0PRg0G5EHmDUxVusJgY2gtzbV1qkcJQ9m5vFvKKdRVQXixYMfvG0
TvIZ+fCPahLazoKJdEtpiJ3hyOg7J16caJOG5kQ455YGOPdIpdFSTR4J3ipesI7wboeps49yAs/G
2g2EeRUPxnWWvHXVfesYuOOhdf8eXWs6LIYUt0af+l+rGrS3tmyW95xwz73VTiu4Zwr6X/cfugZD
rmi3u87J7nH2v2gQyQBluQAPRc7T0psK8JOJRWFS7y29jHzd/y47E9PquYldQ/YhMDTFT15iN8BJ
ENTU4pCWCqs6WpUHa8BQziXNLSOq3e4FZ1pkzwaKWddK5nhYvO2QNv76PC4yP3jEhLwY2nCudZF/
MESRhyUlBkCXy7l2eIbEfuznPO+Obp7YYSGL89TAZElcfL7Nrt4BQpFBVZtxPTb1MRtXPZKmyo9t
VuxI+ymvqNe5TSqJ2ev0mdgDVi5DyY42bERDqYyyYeqGIfI7efLF7ZqKzxH0INP0nYaVBPy9KzbF
24NMAYbXhI97wAj2aRDDtMeYsj0YXW7+xdz6H+Jj/X+qf7NxVPx7PKx//ff/8V//+d/91//8X/6G
gfWX3/oLB0u3PEhYSJBQG+GH9CdxEkkfv2HVRhg50wockkw8c/47B8v+zbZtlzQSgVqIcIs/cbCs
3ywDtjdhqQhGqFz8f4SDhQLpbylYGKmYLheA2AmaGOGGfNKfvQ27tcahW6ucFwS338zAse0RTGuQ
s5XndvONGI/mX1lPaDrpK3cbAW27BMthDEXNINfn80R2wreyANsCaiROXYycVWLADhmq/q5eveXo
LnK8JAUbgGVW9r1AU3NfzalP9U4uzUzClFstQ7RNaxozAlxvpo1JpjAf2bOyCMzmvc50rE1diKuu
SL9XWNFIUGh9fI+B75oe0Y7+0GfzsQNUPRj0XrEi2CCs3Q2uRm0+plXxRYbOR1JTrK9wv0KhvGfZ
0v/p7DE0/NcsPc4ntLsbk5S1+PDL7ZUN6sXI6o82RYfidt7RqLXPTHePwDi/pqTFXEfAP97SnaGZ
8ngNVw1MY3hDtAzzS3b6e92XX7nuPQ+rdeg0n/LK4MOXwblLLO1E7a3FZtOZDLmzm+xaRWiW4VGh
S7jzpOKEub41e4HD7w41PUWs7nKuLOI1SbnMqk6eJweDg2scAMRNHhY23r8SoxMR6QSvopZg/zPB
CPqKPQhWbmOsrOKb0JI+qAT3Lfq8u0+u8FcCHAIZu3kYtkUgcRRVIOo2+05Rz0Gcb6aDNQ/Jh+rs
5D2FfMd0lEOmmqvsAQt0MglbLep0qoN2qVSE6csQDjK1Tv64ySPGAfgQ9lCVdMdnW8z5fHcT3RdB
TPr71LECcjeFhb5VqHU3OUSOyL+1ynr0Xe2kK27azeA+aW32i5SXX7mZ/so7ZYSzCWq+Ll6EIUa3
S10LMhkxVdCwV+2Qz9oSs0wAXX1KxFR1F7ekUR8AqLFpgnU9yQJgbLP607pw+7wL1MbzfB6rHKOY
pqFxNmaYtJCgZi+z6OY0D0ujWR6LcS1PXiPKXTPk5lu14iqRZiywNIE/LdRrgilH6A5zRnit+zhY
CdB0cs3TE86dBhXsLu+s/vdGg5zReURupJ31mE1NFwtXfyzb4lsVy2txhT3Lrt3OndKWl3rq8cLA
TSBIp1VSWTbPjjOj164Y8boOf6XL24eGsWiZ9ws0bcW3aJkjx4U1M5lKk2d6vy9t656aiW+/LXgG
eB/54R/PvOkG2g7dftR0ThGmjEUA//hGld2DUPN5dqpbPdfbaNtQ0icFb5LLxAL+JYudwFyGl4u9
twxgHNLq7NDWWY+aptJbv/aOUPpZ3G3z0JtuTiXt3Bl8mwHAyDsuMBh9zChXzNY+tGP7JBq+vmVr
P/phe03dFaxaGK/JyDoBapkCrWYEmo/NbSUba5enU77H9YtlZwGfd6DKgZ57wzMkFjfGAjV57kb2
l6KvOQw9O640uEAW9w4McIYPcbt1XK+7+s+D0T20M+sJV9G7fuOe0DxVCGUguQxKbAc9HVXkGph7
tXbxS+umc1+1kMyNtA77xQCMFQjzRiqxsHb65OOP/a8dsKixGvhsa4oZixSsIiI0XjVnNeCwJW1s
8yWFTp+R3qXzHfeYKDE55FVxqvxrMKxHQQ8SoCJt75u6sUJvcyHE5lie5Z6pwRhlpoC7Sof3Dt9I
K9EXYAxSGl3gJTwSSGksTzIkj9sIWammxgmuk/hGl+8amUYBs80hXH0cZJa1eXLpGwJzsYZLef0i
kRjtSAEwYi2voc6522vJxB9ZgveczJwCgouBHSDfp4yToks+ybn7haOZPLYVATJuN4/xH38bU98y
EpsNpu4+J+WWxgRjllG5lV/rXIloaOsBDWs7B6rqu112FcaMytw32fpKztgvA6EVDDL6YH9W515H
MUHiGpl3jc3MO6tuezqJvub3OT3v/EGdzSRZ4k1yLHlW8UFswjuKKeOECZAeCG177bAPCruZhQgf
GrWCmmC5N5gGyF2DmKnfFSABCFCKTZ7BsFlrYmWigRAnhHF7Z3bm46x470TaPfnQN3qteCn6ZGIv
YC2UzKciF/gptHAHCUBdr5re0oJm6NzpJOgdqq0Zn8yyc2NjxNPYgFMsDI6DZRreq16VJwgF352O
O0g/jQZwlLaGyjHMU2XP+SE1rCVmUqI/I422w1khZRk36xHevb+3GU4fCUAB7myoHAewUtzgn9tK
XLP2UHMpjfUyjNmvbW6eNqt9WOzyY+GyECTyw4Wdf6Urv5oazS0g1as20rS1fb8v4LUdMLGnorX4
QsdUvoMjgLRS7gajp/30U/65St1j41cfrIN3CnPWgeU++7X/e6Jl3wJHeEgmG7s3MjHa9S25JEvz
UJXra1p17wlAZtgt1MJmQ59jD1d6g6P95KQBDm7zX5rQxh1DL5NDsKZNSE4rikcK5PRbg/qBGALG
ot0h9GDGoQVqGd4XRUxOnnKNOo95XhP/CFbwurQqOZUeXKB2qYtHIlQ4SvX0Bp2t9kwKVBlLCzjG
tsvvakl/rbCWxxG5CxMNbG2y6aBhQHJYO8p9M+PqPMVZp/IMUbflLXtLbEbMfF/j/eSL5cDKWC3K
imqoHVGlFb8IO+wDqfHd6YozMHd4ZxBzfc2mdqptXme/hoNts5VPk0/qlH19IA6b81Sw9nUamzCt
FSPFqwHiCk1IONDHkWbwBLMZx7cxxfnXEG0Lk8NO1jOER+tVByUO0pFN11Zdtl4TRr5sk5OX0KOH
roGtIoQeSpNb9wv8Bk2N8VAOYG+XfH7XgHUb16AQSzyOuY0WcJNdjKwgZ9jgmntZbd1dOjLIkFWW
3VcITk7XnZKx1/KaNx70+itaulXD+7W+G/J6wLpQNfuC0PdYUFthbEZR08HEiYy8B2/OWxG1A/ts
IhgpaBSCsVFVt0Otf7ZraUfF3H7UbT7tqJv3owJmmZv0O0eM3ixsV2XJ7i9wCYVaTeVoogxg+OTI
s2hdc7f20oDl5w97DZPGAH4rDnAdS9NFyxbQK7pQxeR8p3pA3NkWj6Jwr9Z+OmI/3pqRh+k0CT26
6h5mxfWtosqCzGnRnKEBD2tkj7jZ8LixBPqSNdtOVXPwLiPzuRbLMmhebGepDgpX4XA2o+/drZKF
WlrLTCQZ9+2Y6XfblR8MyAmbu5bYGSr4M4gTUV+OX5Ip5V91rbWKkJs+e0yQUZBBUwGgPKayu7oq
77evRBpzUJir9pUKDjOrq/EP0njRK4bgxz82w9zKvDhNjBOTtl8jHjNxAUk+pOh5nbtkPKjFGPZ+
YpYwCEqOXbvyd/PICjYsfb1JG86368bClBuPgiUFBV3dZ+aFGFZuWR/0uWNFuYEbISJHnm6x8BhL
xzyJLBv3f7Rj/1Bv+n+nFfo//tT1s/6Hmcv/G74s11CgvycO+g//8k//6V/+6Z9xzvhzX3r9rb82
pbr9G9NvzMzEH34ZBuYqfxUG6dZvwmWU6pKBSePp/c+m1P4NF2iqDv4ZCQD+1vzX8FdHlt8w/yPe
ytc94sTJprD/kab0f025MAVyV6K/LXRLpmdd/X7/5LS7dZrILF3VRzy8nMBMXzRZrixIoksdf31V
FlGifnFbzsdO1OXRnTgMNzYc4OmPPz24v5rF/Nkc5t8IlK5BLZi90r87Jj069/23VwL1rCT3Oq+P
sMmPvKUJzB4r/2H74LZ//5P+tzfNM4QIaLiWyaP+24/qh8IUmCkBWIrkLQOyMxbjliPbPJgy03cd
pQwDX1XdMZ+VyMhb+NiyKnaoEPODDq8r/vsXhKCLT/yTOut68wACJiZAhm1Y9r/Ne8z1ASGG7SPl
YAypcIm/FMnB8/Xmaa7LGWb3dlNOY4Efnu6X7FGuTcPkCXHjO6rf63DEb9alVxhbDunFz+zPFIoZ
1J65GnbYRewQKsVM2T/X0cDzpHWy4ZvBo+VEXn1lAEAQGPfo2sbDhPVHsDp11OOWht2bEyPNjuyp
PuUaRJDpBTKFG/SNttwlVS23EGmCVRyxTst/6YaCfmJ505dhoN0VyGUTTe6sQTOYdm23YhE/+j75
0dbF87TcoIVM8Z2Ki6I7al7xtOEzhb8vtArggbt2no4Oytavln2LmnV+0nUMxC08VuB/ckwC6DkP
WQ/utzpZGYrr9B6IGQQ3k+tXtm3VW4tbgD0DYNprFlB3rbdYdZ57Zzs3f5hJZDPSqfpd2YkRzZhW
cGIwNHWds4MVJohMjOjZQLWPQ19RTQ/AvC+KyiO2V7niNuQKpOZrXuLsaGQJ5luACk099KFUmcTI
c8GCYsLUC7Ioh7nna2ilwDrCGloPJLFK7DCw+CiSlEMdWL85KKVhLqwU1hPGcIKLC89r1N9wKLbD
SYqTtAhx0OT23XKzdy5y3DjNGFNL9n3tahXR9EDPy3+j7jyW7MbS7fxCQsXewIabHm/ypHfkBMFM
kvBuw2PY9z3uQAONNdRET6MX0QdWdTfJ25cVNVDEVVQHo7srkzgG5jdrfcvkSk6Qce2hE5R7f5g8
hHJYmepg4VlrA7JLmDL5Bee5rvyaxJ6yP+SlpW8aiF8MNsr9WLTvaB6vrZwLY7bh2MpTIdQRjlu6
nagDLVc866h9DY1KgasBi+JNTgMthZCLIh+sdShQzJZGJ89zhpkrrfheo6YQB4KkoZSO+bxUl2Kd
aq++pC2L/KBr8NrV+ElsI4JRPCf3Jc/9pzaT/hvlpnHr5/kA2LFlW4CU2zsR4xm9N4HZ3OD4dy8C
wqhm7S6sj6wq/HNYJ9mJ/8JKEnNfdMTW03xOZiN8kbUK7q2iCaL1ULLpLabGvLYSgcxf4IkJhGnf
x5lYNMcOnfTaTU3/we+j0V4xEGeP0El5YZhko6efIgImRrM4ZpCZb63ZGI++g+a5tTNSkWTjHVum
QLDuEBq0iozgDYEv9WFu4vQTO+L5a52GwWEgj7ScrOLdJMfmRQgF3LDLitveD4cjbDrnfoAXfckb
NbNk1NltnhpMBPMQcOFgVOWZIad/1VRuidi69QDhaYBL196kcWFOYnqq6ti6bbuov4CZFQ/c3t7T
xsHbgKNk+JKZ1sXpiuhhrrCurWu3sDazPEjU+qhMIBYBubPsqn2vbfG5a7vqE5acT/ZY3RjCi89e
tY16A9FEbYDrysEdr1WnjnbzsRi4d+FB2FZ+BFggp7SFr33Qshtf3FESG4VCYy5enOXnIabk6w6I
oUHqEv4K7kzNE4vb+cSm4jBm4zY31EUa9usiyItX4JnZ2iqU2mY/1BtPfZywte9bVX/mI7EQwE2Q
FENiCaHzGZV3mAaTfQrdQJG2Gjc+4nfkljX0WxZOZJYH/XywYIb0fkZCCeckCUirzngMRAW2d2/7
tDX5efEDqLcsaBfErr8uG3Rs4460QERViXny3Pw0p/KFzUiMZCCPwxfXQJs09Mdu6DdwmM7xQte0
1XmAOTiXu6F6wVfoTOhHaY0dEzEGgw+KcffW7t4xhbusKVtMjsYj8HfmqLvBRLs8r1jAozLqLqZr
3CRsCa10w8Rwo9ES1vYnIlO3xJgdQlFEjGorMJC1XMJ9AWTgF1BFYR6jJiQVDdHkqq4OodUdZusB
gt1aF6yq+q9GylIOUsoaG9HK4A7bI+cglxikRIbaKrjtlN6DU/H3UaR3kQtie8YK6HAnb3NeCY3F
OmSGFfcECvv5OnPLlbSqVW3AxcLJF4u7MMLnYlVy6yxPmnneZ9Ojyw2tS27YrJ4zwTXXP2ZRjNL1
CwoaB9W0yvZVH1cbwCLX7IPAMj0YYw2b1TeytSuN28hkyF3N3mUEjj+GZrJi5fOlyWFrVRTwdGLW
tS7kmRvInwQk2Ati7+dnOTpx210QaYKA0J/G/PDOoh6tOTH0gDb7MqZ0CllwAzetuXVU2n4uAAys
wbhsETiCtTC3rfJezQlyFRJoKsZd0zs+nqkyPLbDHkD1tM3zAiJqOaK5QklYhfVGwt7YDMIo78lZ
lrcdekvuiurNTqKbeobjXibyNfCFxR4dBaMpD/hNnlJGsDskU0+JsdBR+o5rKtL9Rtq4fPw4+CCU
6u+cAWUeEd1AsFmJjqZ3jZvK3A5WUD7rdkGXdH3xwWyMa4gRJbFQ0SMeF72zk/7F6LHyxckJLTa+
ONN8kDP6TN8Lo0s5+hd/VPsmxyUdRGBnQxvbzpieZGfsYBp7eIARoFUjTyYcxoyDqDh4di228XzY
lhCUHzhXzioEcDSk9hatukeMHm+d3T0qsxH1HWTbgcSIAc37qpYjPpQm457ADEVzK+qM6AN2wyu4
9avI12BnqVXGyb/W1rjFDvIkhvw16tBBmBbzaLEvm3fHRK0xG3FwSHRaHruyqgiMbqrD2Pj455HC
42Pqp/YmTs0vKaTctbadcu8xwYBIzhypVh2zAhMdXNcdKmIJiU61nnBP7bVo3owg4mKrS15c9hGm
OTqz2lsNbb2fCQba5J0Z8UlRD2snzK/sLnxlkin2fWNr9u64tXWDtgTT24PWrVwVcX3dMGtdEc8p
ttw4QrBcwa1pz6hKFD9QOs+u5ATxpy7fCiaNz23nQN5hFWOWwlzlgVOhX5r2LpT13Uy27YZPPqUK
A4Lsl6aJD9MGlj4Ur3bVf6oaVz3hhn0bhax3EzLpDVJCPF/d1mMzvEIFxl3FQjRqXjFc3g8G4v9a
jNuiPsJVe8eRjkVjusvkotCmiHMjhlsQk5A2IYvPQ4jsNekWEsobijUscsN9YJh3CxSP+bdxSvPy
WgSIUUtWS4q9u+hbk+10vp3b+H5OJGiceNiIMTv4mflszvH9aDkX2oO10fPAGgkmKPS5kQ+mXxzD
8TMjxSvE2YzFsn3Wb6sOGJvBHa14E4glbZYSXsDuOJu2FbbMmKwQJ4oQSz6E9BJkS24LBziugegt
YaPjvlpdsRmafGvWwQn35bpBYubkV2W7JVRtxcgAPMgdI8xnT6y7xfYXlrcxDPkClZX9xdX2zho3
pnGBEL9yur2l0mtqgyuceVsnuvaR0Xaa7dNA+zJvxbwRLU+v8WPY7DHHgNHvrrr6hr3NrtTc7OuP
DGA/qehT1X02Jj77YUYfyzr8c2vgDZe3oXzSMM8NRDvCvAVTA3xnhKQOgZ8chPAzPvC1jr6OM+z4
eFe1nwEt0Bps5tw4t2a/86rTmN8XVrMJfLmFi9hXnDwxky+nhZ3D/Ue2GyiemF7I2ua5YcLANnyu
uo9wcFzkBQQXnNpgiWxHCjHeo6qAkgDzebiuGPMEGZ8wNjldEtjtR9d47UtTnJmQ4thGblurUyz8
DUPXU0JBn8JYIFpg1zbk2VGo5kgK63c7n7eT5RLRvjdm/p5Q7bw8ujF7FguFB4+UzsZZt9ASgQ8S
sYj0skX9gaQrz8WqRkBsNgcFa8evmXglOyrle7u2Vzp8oAjb9p6HKLPaD8LcQAfc1TVIfOaEGOyh
Pb/mcibNfQuBaztwBmYDeuZxOEwAF2SMWlhTmZvT2TE/9aHeJbGx6tAg9LN3Cksu+j3w62cHAoNX
qIuZpDcCVP5o2ysboUKu96Cgz0RUcllhksSRMffQcxLEUM69KlkG25ppsHMiO37jOCh17eXucWG2
j4/9JjE/SskcLYf0OBV3VsdNW38aipuwGJCCvduYCtPhErPnKUZ/Yy8wtoEgEfJOs25v5jywGyDr
QOT5Q3dgnGumVnvdFelKW3IpTavrlBlmmqK7zdP4rtDeXdSmj3GQIN61rWYXopg/CECQ/C3gya1o
2i3bwgG7LOZbatOJImjMy+dch1/xsF1Qus+nOBseRhX6ZxCZcLezND9Vvbtz+0dyCb5aZn+r5YZI
9L0ByH6DBfNcQtkbW2+PHoYzm1qhN7IvAViiVcKLbGO05g5hAs8SAMM2wGP13xrHjmc3ddNjHWiN
4MYrLxmWnNe6nuU+TJKlF8uN/IhELuPQdbhDRegfmyy1bi10Xh9TGXjER9oIisi2/JP0c2nC8f2u
/GCGs8Tl4Pd3CDmWQJt+Kj+qejTyqTDDY9UystkMbj3e0xtCiScNi/+zq07B0p/grZ6OlRb9bSYD
4AfxHHPzWnoaICnyki99TvCt5fGW7qf41ggl35oiY+mPgqVTwqwd3ZRL9zQufZT61lJVdWrcg3WL
XmQ1AiIzkvjIs84FveBptHG68c9xnqiPjUulurKIm7p4aGhvCtZZ7ylOwJOF8H5lI2FvEKJr4xYa
d/AWzq351LVGcl/lVXxlhPSKneweU6LPaTBzffGcXKydpbecly5zZkuwC0wblb0/IjzrR4ThDA5m
HEz+0L23kEEfCst/UaBOV6Xi9lqp1xA+xypvw9u0lVejzUaoyPpPs4NgTDUVNqYS15GL53UOaXPy
ZDsBiGBEb+9Ft0g/Ne1uLEOeYWbEXbQlh6FxX0a47aK3+lfotD0nJ0qn5BgiFX6Npob8Co20fzuP
JfwPcu38U0PL7a7IR+rTLdakJfzDbLptZBJ0gDgU2tUdjMvxoVlaunJp7rCITU/u0vCV33q/8Vsf
qJeWEO+jfwWzrzy33zpGrLb9JVrayGxpKPultWyXJrNb2k0kF8XtvLSgcmlGi6Ut7elPq6VRzZeW
lbyR9BMx9PXh14MwxprfnbvuMgZzGQEy4HSIkzR/zvkFgVNOvhDZMShJ1glt/3Xw8nirK3UESOqy
ycHy3wrn6deH/RfTtx8O+9MlYzjIG0n1yo4YqHBh2dRVMiU/TXre3a+P9C+GnN8fyf0pCK+TU5Th
sciOUTS8GWG8x1XYIyF2P2fxn70r+WMjstwJTNcTpPzxWTLm/Dmx6593qqhOujN6VZxqy72HZVn8
sV3uR4DL/WPvDOGOvUtGfoWVo8pfbmHAguQ+Xe5rYjBBd3z7GP7SquCxzPnPz3yw7xcA/zm//Yef
2n8pF0Z68/Nf9V9wmWAqTohfbBP+9j+WbcLf/ucC4f5xofDtN3/fKJALsuwNbNchmBrS2Ldp8R8Q
btv7jVs/+ZGWMPkVgor/IXQzLPGbANqNkG1J0LbZHfxjqWBY6jd+x/PE3/9S569sFX68nkixX8b3
rDugcTOD/g+Xcem0vVKDYTI7BpLQZHaz60BsPoJSYjLx3Sd0+/uM/Pu1wY+3jD+ORRAh/kbeFoxx
binfLTAmIWLICqm1dQs8eGngxLeMlLydlapu34VG95AmZbe26f3+ZI3w4+X1x5E5JguaZXlj/rSw
8EaLSZcJy4+INYKNbFbEyE3/5CD/8qO0eH8Q24RrOssN5bu3l6uutZiT0j3Z3kPjjRSP/SWdN7/+
EH9K8f3jvXx3mOVT/u4wKJsJ2PI5DH6I+LorQvrPWoMxU8ucrQoWSevoqiXTqyO2K0tfkGzfRWMX
3vz6lXxLL/znJuTvr4QtAf+wCHGX8ua7VzJkcoi8ge8TVMca3Pm6vBjreN+vcSfwJ+bxYSfXmOnW
2Rr61t2w9tb5W7JuTqA9j96fnF3/8ju2/vlqln//3asBPMQC1YDQ0ROBQoaafWWMo/qL3zFwPuWQ
dOPzBRP76nFdfn8QpSawNF1hbR2zsncGq/ZrcHc4HKyx/JMH7M/vx3Wsb0WhEoAHkcj+9Okqi60+
+he6xNhmFJhSZUVt6/7J6WSxhPz+Qe4ojuMu/ELOWRtV+s/hw6JD+QaheN6mekzIdjOmaD6YCM4b
TElwkvaq76IIKZml3ixz8Al2dAKr+tjyzKeNg7PY9kcqARZxNnDBaDV6UVDtRZCP6V3a1/B80VkI
dYP2Jg3XMfPDeK39CDWdUA2owolnY3PWGV1KggmP1JRVUTklUICEZBg1IRpgQAYdeA0zxPSgrPDJ
HJMU9nXKvu/ai9w7iLxXiTlTyQGuiBdGQw1KzA9H5q+Fi38OfT8V19DijtZ9rZD9KKPNMMfw575K
yRc/RHqskgeCj6p1oSH4EORe17i2jarwn8EyBMFNZ3Whv+9AJEFcmmy4HqYBrvQ9L2YlIAxX8gOT
UbRuILkE+K7Alsxi88p49iQyNeT3DQaDsGgSplwqpoDJvbBhbmNHaN7IjNw3hovHhFw2I1xVMpeM
ExqPfL0osF6xuQ/Qzby4PRIhlneHcDaMSza7JSZmMtw+q3Ks5A3IFoB9Ps5NE7dFAJcqyiRcEBsL
w4VZmlfvSSPtp+3gZN5nH3uy5TE/Gr1zaEy8Xx+vULBD8QECJB3b7JOVWHa31Xk/T7siHs0Ky3RT
z8xH6wIvb1MY6yoI5a2pTZT4jjN5tzXUkVtUau6dlqnzZnONYJ7L2uye1YxEZhX55BrEBLmizZgc
IjYt5htfo9HSHe7s2O9WesxzbIIqGh5TVOQolJ1htrE5Q8yEYlVrDEGVmb3z/HTwiMq+/hCrgmF5
E5nRYx4aiFV4iqp31grxdahybL5csGDSIqQ97rZy0ZqtUC1lH5RfZBJ39mgQ4WR41dfU0Tj7GJq/
h2HV3Eb5zMiStAlWzCZ79ZthqhYzFAZ4JKphSLysxdDJLVLvrvEd4hJYWMEucokXexgJpfuM0gz7
A8QNvDxNvYzTM8eIXuZ6DJJNLhrUeV484CRWUmfXbUVWIGMUr73qrD7O1r3T9HfEIpF+WFrTcI0z
cIyBKkDU1mbaxpvQFM0TdGofp4mj2RRlrsO2SQib5wKaPqzyObQEA5Th3RJOZOOv0kSKxiBI2LfO
BlD9lBP9xjRw+CC1dI2DMDIkUwrkb7dqUml9dqXqxbn0c3ExlDd/RJMHOpDTzLvBWVssKtx2aNed
m4mPjl+w6wF14VbweSt17wc4QEglUuXXcjScT2wG4XP4umTuxqef3BAkxupLw4QAzSMzevxpGLnK
EoRgCd3zNTRjPqZEBfIesXJMizfzNaxBbHBRz2XjXOj62XVYjtW+Tr2XX6p2au1NzBlznxcjaMQ5
1fmXwgKbhkvISjlvJ495bzyJiudWUZvOQdVJfralYnqBOhKXSkpNrVZ2Sau8kSbZHVtMeOBUJ82c
EDB+x0wvbrM6giAzpR25xFX50RoWcVsk7f52lBGuInIu6y9CGOQTOGxmQzDjEgji4oNB5VO3CJwi
xAQIutw53QFB99V2sH0IkBBEbYVr2wa8wQbXHu+qpGI+E3c08wc0uHWwMcuGTjxoKq0XKRzyNOYG
Qu3VjJboSmrDffZnhtPrmeyNh6hRItoD0AbNGMS9xRIRjnYGgTTRiKpJNbidYTGCL8IwyPCsaG7g
6CVgJiSCrQPSD2Rhc9XYNUQG1NcHQeouvAJNYOBBle7yhYkWCH6IrbphUSY9zmY/8h96Yr7zJSaA
EIxCwKLcO3pIuA1qx6Crz+XY700/ZFqpWisYMMFBKGAfa0btdvS6FCsqEQszi/8KAf6kHeJbmJLk
1c5LXXfYprHo6kPaesOjSlk4sqfJhntHV2yvowAy23k2+Zw3TjZhItOQE7E1q44izZpH+3Y0B03O
rQsjYxuJNB/WMxN69jclL34HGdM0zrIz6TnzpOxnEkm4oyZSV08UmKECMtD310IKw2FdlGRg2Gj4
KtQfkOa3GR7JdpXK2IdwBxyNcZVIHPPKRk6st4CxwfqWIrKybVUmZvtIzLBgEk45/WKPQP0PasQd
e284AR8Y0S+sQsHZaNgSqIsZRAc90CSunG5G4RgFbDDjGBV0V9JtrOxOFswr/Ta5cFtF3+/pyjmq
ySwPogoxZ7uA9xi9BvYDlAey33RgFhSNKABRlFQYxNoxshE/SJN80SvP64evSMpdRq056LF1zvMc
UuZcNO0eyJtqTigB0DEstx0CnXlv5PQUcGcj3ufNlJoOxuACMYsREcfIncxAOhQkyrrCkgi0TMVu
m+50kKrfpUt/qZ39TzVtP/Sq//9SstGofVfJL/lnP+WT/e//82//viCy//bfvxfCffu13/tWW/6m
uOQRuvxuplpMWL+3rUr8xtRHkjEmKCVdlFD/6Fql5F956MHQajlLKfld0yp/cxxTUFwin2OIZ1M4
/wVG9o+lsWtBTZNKONJCWYc962cJllP6pDhIz8T/Mum3eICGkXQkgP9Jsf/TBOj3w1ig8Kn4SZ8U
P1XgeJKaIJiVuXKypLkyvCY86qGVG5IWEFGQKvvw3dfwL/pjUy0zpX92VKR1uf4ShWUzKkZZ9837
9n17EYC+GAJNKVH7PBdbEpSmGeORKHKyDiLwgi0EMFF3FDEDEHvIFE0V1SdoHoEHC4lo80WpTwjU
nVaUliclR+XvWBNPpbdPvcg3TWw/RBjpdd8agcH0c/EF84z0/JAygrwkSwSbkaQf6E5sY/Tgr4bK
6Hq9b2PJ5Gk1zZ1a8gKszoUs5FY2kRpn3afT8C5l1cPJHIXlUwbksOt84t7JBO+hRPol9FHihvzc
sT7oIoeDvaljoUIAt8tzkbCOJvMdLFDKdTVtI9CM3D+QwhBi24gWLMarPQ3t/OzWMgNVOzaMKA+t
jvm5tSZRMtwLVRP5umr72fXJBE7Jwo5X/VBMo9jwPCaUdi1wfsBCLks3ZUFv22PG6g/OV3okhwYB
rtCWUyB6ZsQ7IHaOc+w7K14LfA/PUBZ55SrSHWaFtDa9mF0Mtpk7T8fAL/OuX/BQKW8c623MmvWc
2zJjYp3VzhFxUwo4tJplWbHJdmWI8knkzdEG5YPowdW5WX6dklY/Smyw5tFIHAqmepxNQEg1CUCr
wpaDvyYAyDMfFRzCcRUW1G/bxAVS9Zk0IgeIGGJu4n8pZTGU48LUSCTR87wPKZrSL9imkbQDTJ7h
d5gJxcy5rS1pwJowuawpW1XvvaUIXdNdFU/QKpXJiFsTWzI7kbHuZ0vm1zHcLLZnbhoEQL4Jb7uv
aETKk+MWSFJXuWACTcca1kZ2ZY1F1z3AAMQhnVUoH+4n9G7GJjWyVFxngxisc0kfnK4bOzYoarPU
TGHVzfCft7nXWKxnJ3PoWeLlrK/KHZ1awB6sDWvnZsQ43Ml1kxeoqoyk9LFMxTZhVUc5pew81gDR
S7Udh86p9FZR+yBmyBKzYmudUeOWu1CPzfzB7y2TDE3NHErc52itUraJnkovdc7XdmuVNX5tHcIK
BMKO2/nBYJDVXdseLfyj0o2DVd2Ef3uEJQoMxxH4Kx08/JFsUxKXCFgiTtsZgqy4jqlL4wtJsqHD
hz7ZFZZ3OMH1BcDN0KXrTAu/ZmcxxCLbw0WspmOd25ZzShwq5mtAvJFHmFrlQJBp0BNVqyWpJso2
c10PidzDFI3dQyUrR3/w66YZ7sJeBBlrOF8X/YNOR4UEH5h+mXSwVjJihglHac8wJlLvKQkJJODu
M8uATSpUvrriincSk7o26hTF1/3QY9GfKcG6EU8SaFFl6OqBdFkr9q+5Z5XgUPRgkmd7FxgYHLpz
XbHp8N7mtibV9EhWR6AfOwJmjemhLkfKg572adw4JSUJdKveDROK3llEVE6+rputmzjJIvZMeqAn
QwQ7a93Dq4SHWnIr9W9sT8YklkCqS1F9GTkcPHIEBWqp3LCqcDdr9n97tyEY+8YHR5acZoN05y1Y
ZshK2rPBSUK9y+qNTgw8jhjHuurocOOQT6iqantfZDF6is5zA3WCHaIJXiHkapMqvo6Va0iy2jOl
zMnbTOQ0oCCbZ4YG6oDxPex91CzNAt+Gf6B08iE0YHf7537ySYYD1e2R2XIJ+xxpCS0bPofuL03G
eKp4lmsKZs144yRxjz9tMhwT2I/lMZmxSIPT6JPoHOg/5/jl18+vHx/LfxzHY/bBFsM06cl/HI7x
3CctC8wYyfEVu7EKP9VDUmr/Lz2W/3hIuorHJNL6Jcfjx8O4SezVZGtHK6M2wM8gVDzXoj42mlU5
6Kbe3P36bS1/3w8PZQbjpOIw97NQikF7//F4AazCcXYQ9tAjoIvE9YsC0YagWrgS3QOBZuwjJ/Ep
DarhT765H2dzyycqqAm4i1iIzaXj/PTNlWLqHWpg9Cx2kJEFmWYkgZdiJwTA7l+/y//45fEmLbVI
4Twe0Kb147vkYW3nvc2hZKuDhSoBYreDbvXro/zHz3J5I6blK5dKkM3Gj0fppilrXJiOKzXM2J1r
trw7JoWoRFWL4BmPJm6tJDr0Vpb//jX+v6j8q1+kFv8XXFUt1fkvNlX/9rvvhVyc//V9ub/81u/V
Ptsmj7Rf5YM7gMkAdOHv1b7pY2ER3jLxxtv7+/rqDxgD+cX4MvgNThtwEMQNUx7/YXwxoDFwtUjf
M4XiH0wif6XcJy/9h0vQdlio+FyBXHwmR5Pf1qffzfYT3cWGsKrniSr9rqltOIMGaiEjFifGo4eI
CL5TtLj/BgS/9fCBgWYOJtUyx11HbIhjP/TWw2hNq8TDmjlhyzRjFLw8LYZ+Kezu2/kBBOJO6PxU
5ue6Da5KHq4rh1DwFys8Wea9ND5lrXMw22BraafddFR7z6X8XPUSEDAxrIcCuouNRLDWoBow4BRa
ZRtXwlpZavmdBoJIQbB1vWQdOMGGXNwvAWzqQhIr2zVEHnhWmWy6gAhyxuPUTzdJZvlb1XTHTCFk
zzE+J9ejp6FMkkyB0KhywocIxETYD6e6N06KSbFh+DjaaoY3RF+hjWiRsrKgEJIhlmbWFsFQCnR9
MNpur80cBFa2j2xxrjGXBGSHur3ehEODzswno9LBXIfXsGBuMKgLikNGNUcrwKIeoj7MGDWvZ6s7
NT2vH8lDEuHXLMJNNIAWTtx1ZBi7AfhdBwNJmEyc26/423GyfEUZtAVTty/1k+d/jixnNTvw7gai
vnolrxmPCEqMNto35EYkaXdJbedpHh0giRL3xCi8cOcjAvELlFQq5tEWfYmagfmpQ3U9kBfvJs8w
t3d13BBKkRyIUa8YaCFvM0y3vrAkqJCAh4gWr0wFzN5+BWi5pDcajPDfEn/cGO4FMP6xXzZcVtUy
e5UmghvQE5mIu7Njqea6mwlQKeznjpl2gLnWd/iSmQ+RgAGuxxaP9eBs3DB4lkW2kbFNZ2G/ODHB
ps1wTcPAkFa5zWmy51uYENE+9s5FyX4El3IWQkfKQpCVaiRPqc6si4U2DO0gmEvCbuS4jWbIpRJf
ddJ9qQPQCnOpT6NTbEVZHYlF2EBd+irRBvpevldougM4SwSjsiZkzrzGPU8LMQN+CrwLPe5pSFHg
wuskP5g5aqqNveEiDlMu2Wi0VxJAt0GARVt4BxdGL9/yOiGpScK2GJErRt3CUUo2S4YybR6a3Qlr
Y75esjKR9G+R3t4EbrJ1036X9/KOBngtvAdFRgDPM3MdapYtzcVT1lEMxZrC7GCGBDVCu4hRKie4
BIwYtMQ7jNXGZUL3TNAqzrORwTqhVCrwbyU4piOziXVqzetpMs4kHiFPp2vqPo5ooZ3irqPmZp7I
eSq20+BUN1bOwBw3/WEUw30HrUHORCpU0LsFiie2NGDWaE89cT+UL4QtnSRRG0yGNwpTEnmvzU6M
1/Rt/ERHRynOTTJu3eGrMb/E4tUcJKkrQX035OkGazSREt0AGeWqGI+tfZ82IZ4kdse7truT1ORC
5DuzPY0KvHCdHOfmruTij3vdbpwEz/mYH2Lk2IGL/jHcxnDfkO2BqpDJakrfWqhP0eD0GF7RkcfV
VhMvRct7tCrS11PjFsS9E5lfWYlQsRLI1z+OQfwa2FwNTO84q94KgjRpP1aVVS46ytU0vrVVThpk
ivycK82W3rqOwDKaTyDkVjWXeSXkapkAj/OXwPhawA/sM3td2fe9Y+7b5C5JAm4R1z17nTMd5Cug
XU7tgio+fKNToydrnkqoJ8tAdWsb6VVutywoTli61mMd5Ss9RSdPDbdaQ6DldMlb/HPEZ6G6ipID
CoZdNuHXoPRlKBpwA5whQpEm1vZ8NOldO7/43iff6FbDwCccFTvYD1vOO4RLot+z5WPWPCoSfuAk
I4/M+6+unk+zZ1zN44PAjtQiGFPenbKqx4Y5SRTqD5Vy9zidDmgEwZTmhXPMCGDNVyFw5StParUx
VXSt7bi9pu9h61TH2VtjR7eGiSedBNJbN/c/9ly1cdHeCQnfFGPqh4ZnjS7S8aMelgTEwpdXYdps
655oKGvBGyuT6FJSTvLcvjM1tnzkIxNvLD7rJL0m0GH66CdiLWp5DPKGzC5nU9naQfwb99dlCeNA
lgOaf6zU9dyKQ61kty1jNgpz2NwDv0aDjVR91Qo3O9YDteI6Ac1yZVXR+OIsmTEhlpsnFM/kWPKQ
JVCq+dIPvvkiRZMeiG7HIuc0CteEmb7qYgKBnCNkBJaxCYtg0y6aYPA7wb4ZaMd5gzuFqU3V3nte
gRgwIOQcHY/QoGTA5cBkrztlvds9BaDXNx6JmClAVgJjYgLJ47blhO+9F0J7cZIPyJz9+Lkhw5oq
dNz57nCHoJUrMrrUo3wKjGDr24I1cRm6rAfls4/KeNDqvomdcE/o2C3C3YFZkLkBYvRSRIurvgYE
vsPQyC7wq4LrDOFFFG+SvvYEwloQFuksUwhMm3gsJf87LZkQrsBpPJk2GIW+O08qOoz+/NJCtQ7m
8Z39HkjY2FY7M4axbjtH362OsvXiTVPwBbsdts4i3ioeSmvLNtq1A34HUFq3aUm/FMXwWtrmSwX7
O0wBy5ZFf4zy+jZfgmjL5kW7wz7SmtAdc9QbE/HPLizqQxneYCcirrzbNy7yeBTOlcCW5tg1SGZl
AIQnDyJKSHMjhrM9zGgw+5m46NHxvuaer89ZVTQbUbbFcxUY+DmmYERrgWlMdgYJpn7mA/WN25hg
AojV7V1LB77JVaNuMtcN5l0aR3aM6j3oHgtVRlsF5fKjo+qIlPtCM/fDZDOxI3VsGKRUDZUZQrmo
lkFJxaRxY1eTu3a6CrF7oCiImNFeMK65e60mxSAuZV9EwmD3HFSOio4ODpg7CEM0vI2VLNr23ooP
aYPrbeEqpJDwNcvSkIC5Gt4jOCCEzUTZGaV/co2KitLtBji0XYNAGSEw11seGe6Zq7q5SX3P/aAm
UkX9Jm+vSFmBpFi7jf2xEODr2fnN8ZvvM4ODWNy9lpwM275rW7GBAy8J5ParnlACnq8nr28zGLoK
ZDQQ4yP3RHureui6KbnKZJoQjOZ56bTPjXQ+E1MV3pnIqNcIrouL0RISm6p37T+mzGLJ4pqfEXBP
xxYc9m5KkdSWkWMxigNZDw9v/AB3s7kG+pxuhiSwNqAsIAI1jUO69uRd0CggvlBuQO7LeO9mhJPl
CdCtItHP6ST9Y+KDwrRzwl9WvIAZ15sZI1d0j+A+sg1co+CWhzFJCxG+AtQFAfWgOKeVZVx3size
CpiGz2Buyyt7aB0uPbLYusnjeEvIKziLqsvBhmwtlURPZAYNV8BA9r6smCIj4TJoDRNrYYfYXn0S
RPRuDDt9Ylj9wmQxAMEArMRz2OUnetvYifzoVnN5AoSNPLWwp0cDwu2nHG32c6zICiIAZjg0gko5
W6Jxg24KyCb2nCe38KOdQRjIwSfFcc2AzUAWn/9f9s6cN5Kszc5/5cPYikbciBubIScjI1cyyeRS
JMsJFLfY9z1MDeRpnAGEMSRLgCzJkSFTv0b45nfoCXZ/6qrqVjUakCNojC50VbGYzMzIG+9yznOo
rUjfDjdOEpwJ7mKVbnf+payr7ljofXwjU/MlKoghz1tSQIgPhJFaNU9hcIdvaPBU4iKIzCj3QxwV
lHBkm/gGNvrAD69an9A3OfR3kQ2juKobxBCpE17IUd4pLNfdWa2w0A00QD6eMGEQuMZa/Y3RHyHm
rLFXemJBkBxva/iXcilIqA13VsKLW4q6uYgA2RAE+cIotKRCNx9FZ32KexX719hu+ti49uVAWEcv
L+LkPeW9XE9pBKauaa/VmDuxH0fEU0dK4sXB/GAo2kPODB0sG6ERbVjBxYHDy8zrJmV2wDF4nJw5
X6X6cDYN9SHv2+tWb5pD23R0B1gZA5FrWwaV91Mvn4qlb9FoUgILn5lWEVg1KVA8hgTOFvyp3Mlp
mBw54mGxuFBM52A3VnrLYUpRXIt5Q8IQrpGxMza1on0KorG+zIBY7ts2dOJry0H0zf6ieYsN9N56
6Pt7aCKwsoWC/5C4smijGEW15yaLwaL2nYGQBaO5TNKuO+GSi7ddz+qXLXSR8MnInHU0Vvk6qC1C
WwgAwxBdMRDCY4Q3pXJ6AdEymumjbMzZmH0LjdekqV+JoIMHmpbAWzKubzCrRfjctJCm8Ocdyklp
mou2J7BzzmXQrYqhhpNX+92mTFQjOprNiPhhZ+jl/KioM7mYSr81SQeE+Y55o7LWCSkhq5KYaJpi
RqLz+IV8OhILFJKDPoYJ/zJW+TvNQFz+g7nKv/nv//Pv0f7+p6+HKh//5hftL0tKtqhs9OBkWAax
wAxIftH+Qp76CemRSjIT2kndYgz2t7GK0H+SiMANxzSRhCFJYBjzt7HKQiFhFkI6sQGe1CRD+8+M
VeR3UxXGb7qFkHSRAMO4dJaB0NfbRgYQMzuBUb8rETkoT0poOFdonOhk0LD1e6LuLdpyP/+S9+D2
VlVG/Fud15DhuZOXr2Xkh17YYmUqtHBSXVutamxOgn/hTpGWQLrq1YrMjIIYd6iTTuMFA7agVZOa
5rU0wtlCBKI3kJqSibi+WJuK23hWPtd9owJI0IbiWdVnelLiipsB/L6u3OB0ZXpIAka/iJz6qfQ6
1QhfMxNY3YrAAQNyTljP9iZr0/I60mGwV+3QV+6g9WPnffWG/87C9tuZKW+pIckbW0wvgmm0Lb4b
z9a8sdFcpeKOgYDvNlpXL61cv/7xo3y7hv75URh5MWNzVC4incvo67cprSnXqjISdzDuGi8Pi3oz
6k2H+jTkHtlnyh/Mu3/nuuCpsKQCviptjd3Btw/YacgZ9ZobpamWC7io6J+QCCr6Jhbm9I4SjNAU
TcTOFhBjyLssLFK5GoKL3H5k3cashDVpLHOJLlJt33yVkB88yoT+uC0STFqkqZC0/faSMVDK6b6z
lvCpUdenAuspGW75NNREHWeO2UHnQiGD2VxM5irBANlCrLYWYn4m46tGNA6JmnpJ2Jrq+yfFmYkX
QnQDBMC3qptkHsYvClxsWqmm078YkVm/yyyJKwJwS4sU3t5nnP8n3zAGpYy5bdakaN15Eb99/cCq
ibYbzfGuDfJ3HycP5I3KnTVnpyR+9C9j7aid9q//+u9YWX31uv9GxvLXf/inxXvx9//+Q8nyX/76
b//bX//x3/31P/yPb47j5Vv8MuS2FxqTrlu2iQLrZ+HKL3Ank2k1yxXOaWF/fRQTFC80i+m2MFiP
LVDiX49iKMVU946xDMBxdi06mD8haBHGh5jk1y3TYgNEykIfpjFp137rAJIRCj6jR3QXmSLT8KwP
gGg0tiUlE8K2e9JGaU54HvPGukCkMSeVq7M65iwMjAb6i5hNeWECQ83WdVmP5LQgVieqRU/D+SQl
MUnnodId+MLG3Ab+TSIB+F3ksZpWnq6W5AhAEIq3SG2DgCCYUrQpKc5dSIljUpHespDVCDyfcszC
CLG1GXlfW03Nl5QN1sAsONMCsdAUleCcd808rg2nnszPzARaVuEOz5oGO8aOTsFc+dN4pTv6yG2F
Egek+FBnSXs/sNi23IqM5NEd7WkmeajI0poAzwrqkKpR599o0Vxmz43SWGcjyE31bHSmBJtTVGir
keFbOf3umC0jxrIqyGOoe/uum6zCaNZs31nbOmx20+eMfX68a21nmBnVwBtFU25GvXPZAyzW1joi
Emu61Lli4nndZth4DBCR8xCcUFB3VN88vWJ6MiDPzodhrNryTUdhQ03bYtGIvqRhkVRrZJc41ajW
hOOzqwcdCQ4krERyLkUYEyxqWFFzikzFpp8xy0HZZ6Ue2+9sBNpuJ7pibt4mQh+Y/Ix6Ekmm4hAt
oTSl3CvSYI0tNUfAiXY9IkasNedi3iGUFdb7qKYmwp58FsrGLwS3ULfK2KqONG2lE1zlA/oj050I
VyO5se19AkfhNDId5oWIUhA/fH2dNldpB8/01JOMQbVJpniE9maMOhKE+9QUzWfG043/SJjjWH3i
XlsU1xa68CF1FihCdAd4UB4T6JufgpLWFk4fkbCJ9ShhlbyKIvFHrP39IwN9ICEB+QzLhXsOE1IW
JfuXNWmfw0zFDVUftAJBhKtxHNPrOIBQyG5G+t1TpSUpja9Wt7iqddiZ6yZS8cnbXUkE3RrFNk0K
fm4nu0vHAqEy4efFJu7nGY1CW254U5WeeaKK1spSGHCudYdZQGOwenUZvmNbcKLYfKp8iDN7x4hq
J0fyiEbjlIxJrV4PCk2n76KeULCOotsxExiUcuouoimK1G2kaOP8bMpFVuEZZDlopyR2ivkq1cpE
e0C91T0l4JK9SiokUxXtlBEYQTzohk+Y/8SXatu47KCxtIz/EhdtDZIRJw1r86CKiEAnNsJ9e6OU
cwLWMmxDDcwEEgU+uDhnpfIY9VhXn6fMcYZXm+BuG/5TRkQznM4huqymstDea1VNio0gDtA/wCqL
Y0bsE4LledS7tL2qm7JgJKQ02Q33PLLA2okxBpceli53nprYlRDHVE/twUO60gKH5naTUjwpfYg6
Okbsj5Cr4+g4MTuaDyy+I7kiH1AnWtFW7HHtoEHZWQS2WBsWyISDFxn4LcdqCwa1NmQtDYACzK5O
AXM3qTRieD8T/YjmIpt3rSiYaAeQsxC4lIENpH0oskc0P1iTUVwkR3DkPd7bTEnXehybTOtJDUV5
rRv5I1UP0+tCmkfBAIUMp2h4Jaqk94JiMG+y0H6cfWO68RuD9UTEkybAPCSEb9CaZAvhyfSYBLJM
HCvOT34QaI+zpRZ7q4rIky6gRUZmxE+W0ds9jc7IgCvKFDpxokgekF0FVy3fc032X+Slkz7dGLmN
MwVqzRZ07nSRa2l2F8TZcCZwQtcOvtW84yelWPcjcM8VLp6ncnaK+9gaIBOprdDeewhyyJqoVlYK
uXcrZqeIpMFEi7tAn2eGOHkfvKutbj1aqQYpduygL0XTaHo1TKD0gJeAZCbiiImfG8Z5O/tkWoXZ
komlMd2lR80WjpDmV1ehQx+NxslOPKHWEFDQl49vXd3ft7UJwcQa+vxR5mp1xwmgsUuTir9oUZRk
T0S6fIWc65yiRgZr22CDqOfadJnWC1w9ZEZykRbtwPAsRdpuE255ZbF3YDMSjnszc5LPjIwQhIjC
7jZASnvADQGmaObNAZhRBInsLSvkibtSM+uHgZt9sAYEZlZbi+XBTarYCJyFFT7mqtWjxbEV/EtC
3gHfq59qdeg29GrmZhit6KbEmeXBolZ3PYupyQ5RZrIWIP6kAh3kDIgnGoU5ODI3l3CLga6bWvrY
kirM79sdDBKNhdeyg+2mXD3og2rc1yJ6lkRBH8QYXCQhOh5AE0b7ScDu56pX5SX5IFfJZKd35TzP
ZD320BXqOVyPBTP4PvIvGC6YrtG19bnD+HekEKYU0Este4r8hkQbzVRuhmZi/50XxZXqY8/WEiV4
ctgtbavM6r1KNZR3Rt8qBBFsyIxdlUKeR5W1xr6cClZBklfBbcY+2ChqHF2kc/ceRDGiqmifL7hA
X2jX1pA0t5KG0osRgj9USpSzKChPVtpe1qLq9nFYsrtWikx99xPaOMbUwJ0a1QX1Fn5SIBaQNwvI
JM/k3gl6ygUGRgTSqouykINFl2rhVmONIsdBLns3OoWx4c73qum4GVzTYthbZt3WwU16LId8w4Qw
rtbkXy9DZK1OFoCWipU7AmPQyPFIkUMiYFA5F9kcK9sM1NEnyiDF/IzHvA9eR0YrzkpFw36TEMCA
dzStZjZ/iPCZh/ntA4M8XT/UbTHeGTZc8zWAtQ7wkMVGs13Z0K2rHWwcSCsCCr71lDqif2YmZJJz
PrF4jOKFOtOaKl4z8V5Cbp82HHLZW8It/2R35kNaKPFTVoccz0UFDtlSsZ74JGkedehaO791Flly
tAQvGiHnS8dINUcpfJmOSuIyEi43ltPCz5lGtmu4Xh75ZCiTFyu6seWH7zRmxGmwKSg1P41pHyn7
FGUxyZoiIK6vwz/Wbqx6ml7GUKFhcnpWP1cSgvc2gIv+QnK4xhKpZgUthvRz78cZnk/V7Ne+2aPF
ZRrnbOLGarx4kqXnl+UViT524GGx9IkjKwhHq1J2MTWpaRc+NA82NHHrFsN8YfjDQuYo8/xi8vGB
OayUSEXtCwC/ikXEiyA3yk8U4o+pnFMsSw3nKXrLYNignu28ptcHEsbt2i2jsUQGESTDqxMn+W2e
RPmTTZrV4wQL63H0w5YsZeIXmEDO1aZXJ/vBrpt21/dJvhm74nXOLFZmcZ1Cb1Pty1Lk2WVhDs1m
yZJ6zYYlGTKR6i5MBhMVd8d2odCzq7pXyTww427dBE100w9ySVAjn8YfsowtkT0fDM0QD6FV3qdI
PymRbXhW8dy/aQb+CuTIbwVXwxbcXUOMvYP4gxEorLn+hjKh4WYaSWD71ULHbyr7Wsv9cB/PVnBZ
4yansBuxYc6qf5kUzVuUGsyLuf5BwkhZ3WAkLvQDC4Bs3XRd9iD1TFkXOQrUvkjDZwITTDQ2Nh+4
RhPJfWPk6Vaiuj0tyeefhyJP75o4kxhAESWTWjAq1rYdS8pTK5/CKznUrHjRIRSsrVuGB3lLmlVC
/5dTm4394Bqx9p5HBkKXmfpi1YwqM1kr02ocniilwWvjBNWSIe08+NNEziWskVcMg6kZCFQnXjer
ydLMbAFHLKh95YB0FnS8j2lo27TLqprkFoeLswSQZQes80dfk4+KVhvvhjmlz1rVwclxWqrFWdaf
Jw1025w1ELcRzZhoypu8/KJrdnbASIOOYPY79na4Pj0CtgFxKnXVnzPEm2CXzBmMoN9cp9ogT302
1luhJo6HZbO9sYRmnFpVcG03+UT8RVrA3ZLLUrvTOkyVaZdHB1Ob0R6kas2VqNfY5ddjG3fokWOt
c/E7kV0yoll3a6BY7BnJul5LvMhr0JlkBxKho14WXNvpOgfPxFOaGCsRa6LTCXLFDnCorOSO9E+0
/th9/fI4GrG1CytbJ+hUJce6SGR86OvIYl9ryOZ+KJlmEsQ5shwmEhHGKeg8bQUIWIwPXQM+XcsL
H4Z8koYU2mq4g7Wpe5QwxrXu9wqjImm+GBrrZBTyRXfNpi7Ff5TEFyBggmerQeu9D9RAs7wEJrs3
yAUEm0wmhxYuX82NnJiFfhGn9Xw0CiOqVjqkXDa8XfKkxDZFYGrWd8EIQZfNEvTu0DLUd2m3mWf6
frxXOOUegg5+fx+LyCvauH+siya/6hDGrMRCh4dtheO0bkPlqpuxyw8t0mk2kEX6iTjretVzg5nc
uprCk0wcAC+xZXhsEqDAtXgRThHLlxPB4cMXbHOGN1WmfOmLIipcMt9VH+W5X1+lHIr72q/kBcaW
/C4nL/PJsgPK6VK2GVhyWEDkETrqhtSa9DipLWbKJGDwF/vmHlwYQnVuP/6rLAF/iYydnq3Xw3mG
Xwtmc2qADJObRViH0YIFMaMXRx2DT0nPCGxS9PCyZRJRsMbCeIqtoLkRMp93PQExCEhyK76oIttm
P1MM21KZ5GpQc+NQMSqewEfJh1AIdiZtP91OvhK/sV5IicjQUXkXXIodi90XI0AB0BpNeDKxgN8I
DkVuPFGHR41u6RxqTsoFNjZfCqd0zhHg+o02MhxmHr5n6N1dpGYWHHLHSHCU8fTdPE+rW1tm/ue2
BQqslWgzEHJEF2EWcR9XwmQ6GVzFCCt2qZ8TlNmQGTe6mDf0zwZZ6kckCuVFrAcE1unFbYMLEgmZ
EMXG0ePI3HB+TzZKlinaDqkfHUTQpS5pA0ZNRVunn+TcLJjcmRu0lafF2sroCTm/M3Em1aF5yFn6
mq5ZTOS6Jl2QSJc8coKWAxLjz5CxipIbbYmrkZwDmmumJxTVAWmNI0yYXUvVBCMZQbWztsAifqnq
Qj52YzPcl2JG9SdHorK8oBI2MrJZ9lxOo7NvETI5oMOqKH6eC9YQu7iixh+cLNH3Uib4A1V6vGZL
qfyaNj2R3mozXPe5BOTYV6RT23H/1MDOJfebFWZ8VQiDeZJNoY+rMiXhBYQiipV6HO+w3/PBHbUI
gFo1BA8Opu1dM8rmlsGHv60gkiuM2APV2OtGlViuCuh4N4w11lUiZSPm/whJsrUWTKZnx1OdHxRD
4nQfKme4yLtcjb2ZCVyyreEPbhy/AfpVVMarGajV1if6Z4DwTDXuWlRT7mD5HxYS9c1cNsYpwkRv
dKDjuo3AyLChPWXTyjUu5L40B8JCR1uboPjVQPaAUYG74XaZwg/q0dxPiG9WvVpW92PNVJrM4pyp
F2S/lZVF2UvXCuPQhD38Vsu8jfyOMOBuUF7UJkPoD3HJzWZ9vA3jSF5QoGK1KDNMTZmmnsBpxWeC
0/OtNug6psvcuuwUOd5aLYxQnimNmJIhyeKob0CFkl9UNxkwXSn05LRsmT3A3RhvgVkFuNmdwJuN
CWs6KnBr5TBm9BEMRNHGKOr4xiyAJEdNnjoe8WOa6tJypdemQtqDO/qFoV4Ky2cymIhs0ikGRt06
wCue1Zs6dXrmbhXS2CPTDohrSaSFJByySe1WFBCKfluXTRFcK37Z0bdxZQ1ZtNKSUJpvMpu7/LkL
UAlsEqOu2nTd4i9lgWpWc/EJub5p77okCZG32X4y+o+t0dm1ylVo+spWy/qwc9DG5WGwTWMrMa4b
mnG5RyuYIP6EF5ytW2cAz01+zDR7thrxqGyerAuwxvb7ELex83kk+JztD3t80AYFxqH6ovcz65rO
Qcb3CXGpYCcnUrb2srBjexN2BbJHn77WPxs+uNRNStcw7OeBo3IztwmPGgWZ8ZrTK1egLFmkFoI7
8wpUcBbDN7HobEe26GDs1pOh+cLzLYu/73WmUOcwi8sUSGqvdJAW2nZjWjOMxaDr26McwjbaIH+a
u5tqsPp5A4408wmNxyNz2Tc2iuI6SYhHMxJfD3fMhzLrmBZItbY6kO8YalqHSedGsQ0evCH4xYav
CCtvy6Rw6vfBoki5xi/IOly3k3DaxmislU0S4iXctY2mKNdxVDrZdqZ+0VcmXLhix2bd9C9Sdcwp
kmmj1Htm6SbHbh53oNXqmKDqxKJLvHbmkced25lB7b9qrAlWxIj0kMk+lt4BIWEQyy9OKMpDo/oO
UswQV/fa9pviwhL+CFg97Cd7Y8I/R1M6sI5aBUZmXjfkdOA7MBkxE8CGToaPJ91JupulvzUHgOpg
oME9JMC5gWviymsTh7ojy8znqAGf2teqf88Yg+2gWlv7junhPks0AbKZyDW/85O1r9HFJ72hQGir
X8yWdBa76x6DYoFOgBG8ZP5q3RmZXV/1KeXFqvetfliRgzegnspfK3+8H+2s5bHsx3rKxlU8O4eo
bA7aokbrzYTJvUN0DlUXLDjyR1aVmgAPTbTYDVsmWmEaPtS4klZ9XForSNxEEbXg98lnzrwK/ME2
HBtlhxSbVpjI8DZvHaJahm2jEzLf2lWGuHIeNn6mToupu/MYjItro6l8t0cwlZFAUob+3mhgGq4i
jTgp2+AAn6R0PDsX0ZcGBsLGQDuPkbERk+NaYa+rl3M9x7swtbCDNcGO9FBgBwpAx0pLbxrb+BKZ
KbK5jCP+HNg+kB9CcPfmIJt9OJXaXZuY5TvKmfDU0JSBIigzsHUzqSlVZXB+lUV3KbquepKqQDjY
aOmeGp9db8nDfR5Yi+9CA5w51lZ5DEhre7dzhwRTo+GDbUYJUlY0Dc9h3MPXHNNPKSk+D32pmGu6
DesFd6b1rGYRI0te2Eeroe7omzC6nUgYW4lR9CchIMHWrIjIki2Bl+g9o6a+d/AAAO9UC1tu1DJ8
wGE8gWgRlcohhrgGRo0T3CjYCHdkY73JBLVnVE1XOgNFsvGse5HjVhMQNDwDUyuDUFBxzui/y36I
9yLMiHM20P1nDMcrLXudSt1kxgwbAPTLQ7eYVgWMSHRSVOtKW/nH3qrLaysbv1DSI+1JwQ4u45lV
YSTBdYSYfW0KxrFry+rO1GDPGR9a4E8Od58xvk5Z36woUuAvzWH+SIxynXtYs1oPDEl1CzFkQOEX
j+nNXExnkAGgUUYU3bMylPsMFNdapsSKFL4qFv2PcHM9uUX+o6z8ylkkjHxkt0nYlF/6RL2ZW/1m
aqf7KUl2Zo4DQ7bFo2LVxTHOzF0k1GBXJVxXsT485WKEit9NB3/sZw8NPcShsJRbX+TtsR/r4jLL
7fEgDMY9A3XtvtIU+h60p9BWDbFFTRScoqHdBGRYv1VE5942sNeWEbBNoEBldntLr1+imvVVxZDr
YFVW5drQmYqUPYnWOulGrai3YgnnVM/kukmCaY0Qf3C1xnzkDO2funI4yLRHkJbUvat3sdl7XSWh
Ylpxs8NlfZhSDXV+WKZMFzOdrFtfGIPbar1+ZVsWYWYhCcEZHZTMD3RuOXAQPi8AwoGeHclfM0+6
yWVbEuWyc/RsWs99+lCSAbqojsS9moqMXd+UrVkv5QcrRFMELNbAV5Df14H5iJ8WzV/UAhbRifsy
LfGQabN0ebOWji0m5zBKJ6ZhUWPjOlbNB5GKF8JEqnWSmbRo0sy21AKZ10e5cSFJPnx1fDKPhUYu
djlYxNmHxX2Z8JaOHesulzRNlLBpox3MPraZsVTBw5yk1H7Esm2iBQU8L2t14pyyJ4yawquVCcVv
n9luGbNso3GMjTPirwEr+XKQ60G53Aim4JVGlFpDg8EzJpyNnIMA+XFLlgdAmHAh7PyiS/zqk6hR
5ROJCZPbH/lQ2lW+s4g95R6Bu9tTA8PcdUG3pZuJaItbklFZEE6Dlw/RRZeZHRblgjMchyW+8uY8
xbFx5D3M3+SMhRPjMU2KGoX3sL+biyFOk7uwoNhYAX3OeWoxiIFlOPyutJTTRdMV99oEU7eTic3Q
hNXROgMvgkpP73i+QhnkZV1yye4taXwemSHvFQfnq8ugs4FoYlkYWEKQjXbdabckmVRrNKTPoYaM
Yd0h+Io9vx8inVR2RS0BsUhQ5YNF0h0hcO2DzyT1WJDlQTJ4WJ7ZbsNWVSKLEp1RGmR3zPt6GClf
GGBQRCvJlpZHANNu0/sZSvyGrEwu2ip6tScjWDOUOovcQbKb2BxH/mi6kmRvEiLnYI0+hUF2IiES
x2G7xCkvLu2u0tZqab9EMWCCjHWE7yGkrgKqpRpYC/D/WHe1smxR8AcMhE0jdA02aVS1mXbVs3tl
AAT4tY+wPuej3qNsN7HQTHU5bKZZ4wyKUzDV5TRNm1BNVWgtNps8R6RvGHEOsTWmTN7V6Rg1Qrni
vDa3xMS0HsWqgrPXV+9MqbcrC3fA5Vdig9/R/nxrzTRQZlngGyXoXhxuKIC+80viDB8UPV80KRri
9ZHKd+oEC97J+gM1ybciIzAWOg48PG+ABRF+ATH8Vk2C2BN5s5+R5447vzoQkqaNRwxDQv0DndEi
9/pVgWDzNCBqoGQydIEmzPye6Orb0xCX5NB4OttUyyt6C/kz2xX/qS+oHdcOL+pMmeaEdyIwSU37
8Qv6XdTTx+PD1NMROFnABHXze9lMZTs+ks7Ii3IF0ITPGBbuUoRwQYaWnm9sBcj9I/qJuL9UO+Dn
6lwyaZCV4a9ZqBNEEzil6lwivmmMn32rf0rlePf/IQWVUaEpDVWVBuoUFvXwAb96V3+jybnPo/bt
9S+37Zf2rfnLZYSo8S9XHbOCKA/+Ajf7S/7afK3P+d1v/4t80iJZTdWE4eCC5tPG1v9v8km0Oj/R
eMBOpUTiatV+lU9q9k8cc1iYsZ+iXEOT8atkR/0JFY/Kk1FhqyxqHudPuVI/TKe/fl6kIyC5Wfhe
TXI5NbAt38nktK7J2C6awVMF72LV16FxI5r4xIfkqFTV21BmXjHPt0hdJtgr+NdkttTuiJpjwXAi
11+/eql/50Ra2JO/+Xk4KRYGj0CX+J2cc6hbkApTHzxl2O83SkCb9PFLIkLILollr7JO/QPL/4fE
8esHRTsq8eFDkUTJivf/u9MJt1KuTOAw7iZTAZu2bHSH+lMwEWjY1mHq1dUoF2QJu4k8/GQ24ucP
JiSm4K34nSfN5ffNk3YQTiHCcjROZGnD6vn2dMzCvOMlHe0b5iKEovTYrPRpIyGhmsp+sSbj6NBP
k6bO+x+/2r99YIPqlIuM0xl4pljeja8syTW+PYGmVr9hryrWOp5GAIEMtJh23xKyu6HCujXYOFeF
fPrxIwuu06+fNFcwbzBMAN5nHVf2B2jp68eOe2nkLAOzc7JKVoRVry4vP+/3mWu5wRYf6oVxcjy2
DDuahD2Nytbc10dzb53oeNf2GjGWh6qeP1++rtzVu3zXrq7rXcv/Op62167bFTkZfOFL775cm+t8
pz7VR6zIa4u/jp+Hp+k6Pc7b8Qyv/hJ8vSdO84lI6/vxPFwXDJKvtT2DWZc7r0vusFd7L9d805cX
7sze6HZrXic3Wp+NdefaHvok13ehw3roFHZoD9YQbLaFR27Kpt5k7/G+8tr14Do7Z0ei6bbYNcSL
UH68qiexn27Gq/FKOTLl9fA+XAIu3E6Hwa08hDR8N7GvP76/7Rl7ZaOvnN18LU/6fvlORNu477tj
sWIw5TIg5cdw1tWuOja71L3NVjHEWn0fbn3X2JuncEsW9m5Y5X9wDS8aw68u4l/ezw88ls55xvX0
7bUE7bL1K0NJz5v11R2d6hHL+DY49894w6heIL44pZfJ1Xicd0wAV5EnVggENvOORcaWL/WQs27e
tqcDjFhwu7d42nbBGhn2ij/wYi9ZI6KGwhvxZ/x3iTRhWJ0xi2OAb1f5vXPNxAcAHP7dnbIONrm7
/Nvd7scX7kcu5K+HxcfzhDRtQe4SsDQ+pO1fX7elxDDq93p2HlMnwNZGLtwIEnDvFPmWcGAsFMCB
MFDaz63aVhc//5KFh7DLwv3H75qJFjLom22VRRgcrKKjWpiYxbHXdYkrdsqVSRW4p9dya7JUDx+/
sG17CbUycK2OT6hK7cF4i6OBj5E8tmK48tFBLg5F9eAEzS+/5IVZon4PrPWvf/bxdTQ8f8QuXpwF
318BBmB/nAIq5zdF5bdXADEWI9uHOj5LKQ6KVOjIwpu4DS/s7A3jz63wjbUVJSddoX435tsmsjcz
mZGB48HRcLX5EKtk4egXuRzurDj/UhTOubJYZSTOscvahw4/kN8MyHKewTc9NW22K0ZW0lO9YfXD
1srcRuIT4n3bA7t2LW2xrWjPVj6mdFOPcEWNFyNIvlhG7OYwTYVXRtJ5bcsyH/JhgUigNXvWL4Rh
qepayvZIVvYV6tOVqNIbPc9vge8eBsx8P76ovrsDfVxUtuCFo/0WNgfud2zvLLY7sGZZeEaBI902
tvqVpi17K4RNcIWjdiuM66k1N0ws+z948G9L5uUd4w3jDgg1hVKEdNZv3zab4nwaW4Gmz8hHDD9D
5LJ4QLFb6zND+7ZFLYRGv8Ej/eNn/d31slRlcoHpCUozvAHfS8wBHNjNOBjzVdwQY5U5NSbYKtvM
gXblB42xilsd3YzDDN6JSQf48YOLbx8dPAzASiwsNh9jPGTUh98+bUSVPtyxhW4gEm03yeAmzuwE
NGYDq85X0o2u81K3RnFZlMWetJIF31BsepGRJGrql6bMv0i5TIlbEkODsXwBadrcZVYdH378o/7+
T0pcl4W4GxzJdzVRzqqgSKkf7lCwPNFpGeyhVEZfunVkjf/UJZhXIhxc6QwH7scP/YE7+vW0s1mz
89KQDExPowNEdJZT/6sKQQxZbWttV5xTUKgp3HCv7Of9Zg0SN8Oca3DX0QLJdHpuTlkUwja18vsp
T0nty6uIzVjnXFjIeYM6ZDQmxaM95cO5HbR6iw++cT9+axZh5RlymNx8sqJtS64Ii5j0xAriyq5k
fLba0r+X7Qkd8nQB78Jh0ntbCOD+YQkhK4ZctCYsEyr7kPeHGYz6eqF43gCtOLGqNtbBpN9/vDL/
t5upq//HMDxi+fj/n/1i//xP//mf/+N//br7+fgHP3c7OAzwEzAi4iL5xZWA+4D5AgAdgf/A/KrH
kcZP3DtVYcHJofrEWPa/exxN/QknAlWhCiqHZBZ66D/hSsCzwiX66yVs8f0XkwNlrFAdVtHfF7lk
rfbdhPTp2oECdLQVJB6k+0hm8YAWilHMrsVGZNW1AxSX4RQDeJ62Nf7iYp3iaY+G4qJTv5hoslSr
eyvHRQOwCKtNguCizWYmPHjU888gFVCxnh2NcNUJkzcLi9SdCUdal03GDPF/kXZmO5Iiabd9IiQw
Y7x1HJ9ijpwi8wbFkMk8GpgBT3+Wn/+mKvpXto5OSdU31QoPJwAz29/ea9ukgyCwkXVo0K0x5L+6
pQ8Jc7NYjDLoHWg0NM9BRKDfFkmWpjHJbgfIRf2ygbPft6X4yBCGYkxgZIOzB5VNN0XZvU/baB/g
amK4kgHF8P0XYQ/0rOVM2acRNT0y4kfYre9wEN1TVAVUmNUcawB21z9UiflLKmema3A6Vo/lox9G
yMPZ7dbcgnrbh5V9jrYbXTE7YAxyDMzQM0YDbs1aZSVblr0MgHl2Uw9UoHmPuqtN9iLrYyDOq8s+
ncgVmdoNXO/qvs9V2x/onmeirsySgDNqY+9qQUyTLDsbiHYga0pScFdjAdiZbmCXL+gGZoQas5JA
SMDJDUtkwYg1qM45tfhU5l0wyT+kS8cHUDAh0r7EFzVarw3aPKm9yk1cZTsxZUQlBIrmowTdsFNZ
ShXmeO1/c7fsiGXUiYlxQHJmHHMg8/ROXWW43xiqJRgU1EWtQ71f/GHYjfgP9j1DIrCmdnHXGKJ9
pnPbfeSM+CK0Gr7C2ikfZqK9xw34DaxInd/iUg338BRfssGoPU0Ab7QyN9S51d2B8EIeC13Ohy3V
9QtHRidpJ0iVneK2nfvhF0lBotJrW+4dhty3EicvEeruzWF1xaQe/AQzSjwRk3nsDZFISsl6jhcy
P4ja+8Ifr4hbhbF7cnUZB4O/nCh2eVo9Skrrvk7x7Xd2rD0CjGkVZMelir6x0a8ObjN1cVoKDIVz
6+5DQ7h6M5SxYpShO5Qx/Q07tuznlReeTC2pmaF1mI2NHgqw3czF6+xnAdCf602OsfCGaIWPFZUA
vrx6JmaidJdStcFZNXTMCY0PxcLGtVMIlPFsVvcWKyY13cuVzyMQkQvm9ztlUGdpfM5QCDD+FuUA
RmnEwvYn5Qx9B6IVAMy0BSKpTNoljrJhVAWHwjkctDEQRKoN6LhY8gec03nCmISDpcWstkKJjqsN
jpXAD36gzYDn1QEUAI8ex2PaQBTttGSfuIXxhP9r54zV8FLn+MojZ4tiHETqKIJ6vHHUgv2mDBn9
FessYNGgrGMNqw5Xg+WO3sY60fmCQcCr+fSins8wy1VsW8WyW9ihJFPWyfMC95KACYODVTZpvGZg
TitdYk3M9Deg8NfCW/ndtwyQPSdaYWjxFgNi8qOahHNcOifAbVv8CVwsyZM21Ol6fB1rXh/asbdi
l2aoJILhcJ8HPMlum5l9Rh89OAkKA9lAOZA0/PC4dkzo9djhyGUQdR6jEj/VjI++wBacCI15APgZ
SM60Li5tBy4bhAdmtCyj+7Ax1W4eeH7batD0Pa0kzJvi1VjedSwcwDbg64JDG9dDaI/tSaS1Zoy3
/UQpa9Gdomxva7zi1jJW/EVHPPbS664ieXDSovYP+Ar/Gzz531vj/1k62KACT2b1cpDb/r37sdoe
o5AcW0L38qaJABnwJNg98oPVfEt95kEdTrJ/LKiP/7Mw/bNg6Jqo/vd6xY5c8pmoQg7SzOcPrQz5
+GFZnEcXEWIbAK0xBqxoyzRcGQdukPpiyyQMniTPk8z9/d8//3pK+9dy6V0J11j9oDbC3PysYFe9
TQwhTe3HknITmNTciH//gP9Yj8l8h9cEOPlSeoaCT2edFQWcuy6Qj2NV/qL962WQ1Bcsk/wvO/yr
avevL8Koxua5pMmI/qnA+bRtHmoKoe0B72aLd3XVe3PG17vP89Pfv85/XC+kU0RUwH5AB/nIT/cI
M9+0YzwbPeKzpCjvnYLCv3/A/3K9/vkBnzvciDt1YhB8gJJ3pbov3aeyef37R/xbi+M+5wBIQtS/
ngPRXj+fMMw1VzEVbvg4G4gW+sbdzG5xn2z3T5+///2j/pfLxXnLxxeKgZfWnuvd/48DBZertrvC
iR4HeSHWEIn/Ukj5nz+fGROddxxk+TKB+KTlkuIZG4Ub5RF2NCWbbDT+/vv/56VyAk7MYCNtYKbe
tdTsn78/1g3hXNkrT9LZN9MBuAo1FLKPjZP8/YP+88/uYIFHD4a+EOJKvf73f1woeNg+/l1dPoUR
UBNLfYmK9edowre/f8x/PiWMAHhOfJZy8LCe/PfHBBENCw0D1icxPcvte5ZNO2d+zymZ/fvnfL5u
oFfx/jsoHIxDmDV8+joYtDYIIGv9mPd3df2g50NAFgfggPX/NNMMQj4Iam/E9ODaLed/ljNWz8IL
FGbFI2iTWNSvVvGlcv/bO/oqDvzz3cKHUGtnX+9hqBOO8+nbaJe2cO7B7LEtaYDCq7PyvsQHXN+2
tr40AAfpTo7L9PvfL+Lnm/vac8WLmRcoj44rPt8TeWv6pfLd8nEgOPO7hbH/958vr3/tf38v9pWh
HfDlfP79v2vTP246aAbruuVl+bhkKxlbrbu7UWJhHpegj4Wdzgldr+6OAlE7MX1EaMu35S8x8wKf
rO5F2Iaq0WuHhxjwSTRto8+r7f9eMq94JOGJuh9NwbGVRCMc7fU4lthCqKs/orxacukPYoO8+QDY
KZuWiYq89CHU+IC0q7aD36TeCQKVuf/71/78qHFZ+dYuQ1skMCSPT89Ala70JSE0Pnb2KRouUXfv
VI9//4j/5S/HR1wH0gLRKfI+LUY1EHBp/Kx8bG89TjQ6/vuP//wU8w2Y5Uc8Vgg1fJFPi1A/RJSH
OVzkrrzL5R9r/jMtQbxSnvX3z/nPr8GQiCm3cIG2IVt+uu9VUy55hKjzaDoMH18D6Kz/fx/w6fUN
ysOikY8PIMU8EoGb9n//+bzcxH/c46wKtif4x4EN4n/af5QY1ezMGoKHAHxgXLcwAEVQFadJlAt6
cq/2NXv6F1Eq2GSsMUejSsfeiTyCqhiZANhtVt1xrM70QAt2SVvEpiOKyYv8HYic/xil0XzJCUqk
B9+InzYpw3jGOCPpiijI+XQ6vQ04qyItGHFvY2EDO9sQyiC4vkf4DG8ygqE4tWfVibNn13h/uCj3
ZPqbr3lU9EdKpYDW5jL7swwL9te2L80lAG6YjJ7miF+Gy2E0NL8vRNb3mTVCnaUoaKcalTHlZS9P
IhmO16XaXIRO1fTs3nPgnCH5W7JjR03kEiJmxE8g1nBPMwSNR9lYxN3iA+7ExKd2FXOQH5Ig7a6M
1uEoAze/U/WAsCJ19xAu1vAcUJWctK0KSX8QsImDPs1viWEM39xhGe5yt/EvdHyNyaxwq1etqQ9Y
tt23gr/qJfSQHPG9V0evDoMPGLrwLVVg77Pe2MmCZIJ5yskSEED2OQw5kFiZNIcxXN+boip3qtU/
g7xz9241T0lENjiuGekeR9wYO5Hlz7boX7IcZqRUi3+gj6qMIb8uN5nCOzgNmkCSoPfj0A01Vyp1
+ztbWW3CiGAA7KBVzNmMyG2TR3dd7W73Q6Hbw+QN5W5uRn7NcWUKl1HKToHYxPmUlgCEnvnU6SpP
nF6aOG+nbN4NVoekNNnB3eASKBpqgY4Q1uETk3s+oFxEedpacrSTPcaDVVKtJYkOCcsedjgIKYqg
DOnGqWeXlixj346+8XZV7VFQ7obR0Uvz4uDrukeNskPO5pFVHsiShO7vcvboWm9prm4wsNK13T2D
xXe5ZWb3d8CB1U1ybF2/VbO9EINKz4CbzYXGdPd2S6ElE3fenjsZDYxnWvMnm8M33QDltStYnSri
fS/zngiH6K2HiR7sp8qQnAszPz9h0qJoulvwGvqLw980kA/IKz7JEiUPeYcppgww/vrZIPfgQas4
arLv0ZLpw6p4f3Z0OR3o2Gn+RKEUu97D4NrMJMNzPF83HJ/C80YN3aWyczfOmrU/tySKYlNuVOFM
rndQpavPRFnq52VemiLOXSWfRq392J7DDasg9GM/1SkACZpy6s1jsxcAuKgrFezU6s2xk4nX0XXa
pJVTgRDQq9Nsk35wMtAWXOTmiNKX/Q401GXZkV/0QpzsQTWn+60YXsN1CpPWs586nymC12XTOc/m
7t5inHgG2qCTMFupbqPKCISpXG/HzeGU2zvy7Phtxv+ZKI/TTdt+G6mb9NfZUOyyrQTmZNDELHjm
JhqCcbc6c3lwcFvuupGSwa5Hv+i7Ji79BifitBaXgUE/0G4MrRYy42vjf0MxuedIkMVpWnS3Phuq
W9AHSFVuS+EIf8FdWKq4bL+GxoOWSFfYAqJ5HkyRaFl9sD36Mkl/snhjdu4vkQHwDJT+Zny4mG2b
OmfisvUhV2H5sBV5eiqacd45alUXrwKa4JsyP4/otqemo4ezXofpbl77La4NRF9DEZ29s0SGhjHV
+mns5/cVp/DepFP4iAKESOXCru0lVaOFYlizWkt5llNn71ycsKe5tiLgHoRjbKzJcdiOGggJpjAi
Xgv252b1npeuwg64zndrZuM9mHiTOZNlA2Ly1M0WLirpec0emWsADJRpEJf5ynOqo/zc+UOT1DWN
bqLJuoONwoZvvOoeHagBSVPI+tT6rX+ntbcd8mH4IOYZ3UalZV1kQS7cLiJSgg74TuIdL7MX/aKm
8adptw5WaI+vsb6mZQAP79qlfRfangEzuRQTTSEvy6qu3pa1UdQONd2TMxj9mx6SCibJ7FLQ6YNL
1v1Q3vBaHM6TSqv7oHf6h6zjrGSqsjiuUfEMUrFP+q1m4LpaXzzj6FObZcGhI3x4Ri+yY3WVbue8
jI75Ni+J1XbFYZZreb9BVtwZi+s6023xs1hbmuFK2k5XsKqnKw7lp7NMcBYgewBgnstHAzkGZlYK
DWhdnN1GUd89ZscmZiBeQPMWuMezvhx2rdUHXw3E+LjuUnVS4roMprzvYi80yOtWM73AYvYAEIVX
NuF1fdit0/IuwZkcyCf5J3vGBU4xVVhTK7wCtnRS+0KFpX0/1Y8dUlSJmhuYd0VG+mu1ofmQu3eP
iL7Pg91tBylWfaANcds5uaGLSJorsS26jGXTxQsK9R2+ebBCbMliZuQo8GX+u49KbnH/CqtIW/sE
9FnsG6vRMQtp8bgE8q0rVPYhtLH2UqUK/3XZvZWKkMwuJ/u0B70CfKCUgte3Vx+x/Ksz9RZOTESh
vCGBx6Wb2UfMXfk+L24jk5FmKZy8viKsGPor186UsIs0ULsdK/mwt6e5ODaizB7pcCFq3iob9CR7
jHt4ATn11rKOFVYvAuBjcKwVeSK7yekS3daduwziUlruD5iPzl3XZW8kZ4g8MDvF94qajTU9HQEj
R61ihUzJKxKzz2Po0azhFB0NsZf601MbUNw5Th4WGNonb0I7yxM79MgxEo2BVuDOvUN+bXIv1pWV
qZYA+HeKt5Z7XmHAIJmepUN/r1rWddiyap+7dnZQs61iKdMmCTpdvMBlKc+ULXD3jthQlCd+2euU
3dh+BwX8WqJTwBY6OJx9dlrTrDjoeUy0Kv/Q0zm+5p7z21z/Nd6458aZLvieo5ncchjdeZl5BcJi
uBsC8uGhqE8L9Z+/GW6RelYhD6u037Ebv3YQj141p+TD7IaEXSpb4DdLw3j22pV3n7WN92VlMefB
Ln2FxGYwwWkJCKbQEBzOScIRz8ElDU1UDaJLlK1rUNKQgGal18e5tuFjkjHc5dn45sjtN84Q64yY
N5IZsxa81FlQ3Cw15li/YcphfP0m64DvbBteHiSGOS9PM0umpc29D7V/JwnX7leggy1QB9rXIu0/
UGl6T+TgNNluMrrfx+wlxMBROCFeKUOa32h3eXBXdEnwEX8sgDTQSSfUXfxO+CF9yFi5uWHn0R1A
44Wcnn1qjwjhE2LAng07SwG+JbLgRhNTYaqO7kqOPPthxSjPvri6oz22vWecRsXwih6rN6+mXNkm
5m6t/vCTmYLN1gof33EeMwNtIC32HAgyCMDpesBokZ2l9EDjV/av1qnq00osHZKAP1xkJWcw/010
GSafck4n47IJSvpkQdKrXryNOtIUQEWd60MBI5d65zmWdotVv5z9GxjsoPe9If9GbZS+4ufFuZqq
+QzfGlWfQRip+yi6za3gfoxqUNvtZn3P6tVNZsY43wunZs7YMs8cWGrRzsu2zC9zCPzGIUfOr7Ys
l6yhd3MY3PB5DZHxhbQWJJUFVK07vbdapbdm3ty7onZfydcshwI//i5sNjYJxZh1pyKsZ2KgBiBh
T3pnIkef0HDmnTJK997WpU3vFxEOt8ShyJM0vfM8UigLmGaGby0gMoBW5o6jZw4E00MZ6uqxVuxj
/aX7tuAJ4L4n8wXNdzy3o/zRh5ObpHmzJGPafqxslhIM0tymSE/HUDAx240KJnjXuOsDLXPMplxF
BrIvNO0M6Xp2MPmouM4H8V25cgOr5HCWuSJfUI+6a6CyuiZrJBGOStL8YfSYPvq1NvSRedkdL7r1
pIfaAlFcjgd30EDhRiZuTl/M3L91MfPWT6e7YhgJYYy9f67WQUQ7ByzztcQ1Gp6Vkh4gyKpMGsww
nFT6+Wuz0geedYM+NkEffu24V5LQ0axIrtfDhA+Fd+6UDY+fI9NlQk88KsVjODjudAGi99GKzE+G
loFvRzksSwzchUXL7MAuwUvahaRUil00pmSbbOYmTukGm7QowFMyh+jvIk/yxPpzAhbrvhaENdKc
3vphKA7LsL5VKDm7suzXU9Zlv4kCblCxuffh7kfnvPDy+3XxqODVsCqDkb2kdLV1yOFmkmChjkH0
SsB5D/MMQIzYvixFMTykqWbKta2EHvQMImQeouxdbnCXpZz640BSK/b6tDzV0H3eilZud77dZYmo
7Pk01O36GMp8/V62hbgMm173rrWRH8nWASS05Z3H1R1u+lVHL7U/lN8sy9EUNE6L2VPDUh0Fh68j
Y/cgKSL57OUrzJXFXwweN6h6EqvqyBa9R7Gi4AvWzmh3R7Zu+cULZfO9tAe2eKpNX6B7ZQfen+3R
k8rsW5XKWLYFGpexsOBuM87fHIQ2YPkvHMcoKBjhXHDlVqq+2eKd1pRJ5VY45pWScD+ZZaYethZe
sXTW8lyQltvbTvaeDdEXprsWIfmGtglT+adalqRjybM/+9xLZz8dsqOrWL/YqJb3mHGW+2GDqe/I
5Sc8Rcxu7C6TfBbrMfLHPtk29ADt5DRuGCa9HKxBq3u1fzEF/ObCZ2Nqr4G8Gyfnj08W4kzPtzn6
1hbuTeE0h5F3JlZf96lwMnPOr+inujZ4a+2lOmjl4HrItbgNsAPEnITz+671xyfIXRJqSAsRwp/b
WHR099Wqbk9jz99vKBea5mnl2RhpzuR6EdOoYuiin31e/LbARe+63vNOjRWmjPiiX1Mz6Lh23B8+
toXTsFK1CF1E3QhZ5Bw+o+8ct5jva3ZSGup1IpR2+bPAFkt1S6wrlW4iNnbtvqu9cymsPnYFsL86
BA3oFFyX1i2cfYfhHacEKZM897EmbF+tQrAv81irs3Ezd2VEw3movOiiG8//RpuGPnoZOKEi2kTs
Dp05EeSlxaFS0XGJqLhMN/KR4Wx535YJxGVbbNStG+cDywH0C0zmtzDH3mD8jGf6RAnebenyMA3Z
crQr83sO5uh+7a1hXzJk4B3ZLeesIfyWj7zsc6tswa8H0YlEqUkynudYrUF/DCE0fZlyCJF6DtwX
s0pgKoXwfsKSCwHtp80zFy7jki/V+7BY19ui+eVqufC+knAlVv+2q+nDtC17SsTkefDiAPHNnS/3
Y8f5NL8muuaWLqW5U9NhDjnI0ZuYci4tCAlPNIpkkMuYGfOKEYZD9DJZTI6D7RrLnyEVaSC51IXu
q37298rmfnDDLEzUHM03qZmzU0Q6cj9nfnnpMlMdwqLcu4wZrM5RZ3toxYkHIy6Me8Yj4D3Iqmq+
WuHmx/3Uf6+iMU3ctqfqId18/DdFSZ635Rs4NQK815kksBSchNJ5cfMMxYAt3CGyscZtPU09dZP7
8VLZ5q5H2WSlEi/VOFoJYUXFuFmaIyq/OKBfo6kHnViOyGHExIjzc1E5LZ+NTYwfXEh7lA42eczO
ItGCt50DQZ06Fre6blTBkG4Ka4GxPThw5MnSTtjIgy07f5FZZ7y+f6Signod52o/1rCkFDitXQVH
a19pt3ruSvZQwaDaY27W4WyZVR3hmLQnCg+zkz/o8KDdiIhCpKc7vkKbEE6o79zcOLdLukyvZen8
xCkwkRedSlx17UoVVmNjep3ZNeSBeyxJQDKbgG2BisXpvaBJlNu4uY1U3n8FWQVZzXH+0Gia4Xul
NRP0HUBQg58lcsv2xO8ZxeTR2aggoSbadOO9oBZ1B6RbPVLeWd0Yd34L+IfXGwoKpQXVA+cY/H06
JPm6bhUbIsAs5wFC5qG1THSqIDPcgO2mPmvCSZVTIxzXaigvgWiCl4imrtdpk+Sel2t/oVoL3CGS
ktCSB5MIYcALOxisWwiWWdwvHqoaL+ad2+tvoVNeyXml3qtxEqdMrc054Co9MKzgOQjL8WiXg/PU
TyFOmU2BHYLBdjQAlxPLsf1Dls7RQU8hMa1A8m0Gtz+W2zyf/OwKtyzCn4MrpiMkJPk4rMWSRMUg
Dwtts/GC++YBD7E+duniHMGnsVRxtjsExegk2CkiTru+CwzHf9Hj2J0E/huy6XxMA3XqKXOd7izx
p9zhsKHWQZrhvMH8wyqi60M4LdiWcmwPaV9U57SGWQKQrNrPq3BxcBT+KXOZ43TNTLrBoCy0U+Mc
KCLZDm3Yjx8mHfIvhJzbvc+NCioXKTulYMLjOEgvljXKA9bpMaeHxer3LGYUpCmWj7mRO5pbr92g
tbitNDxLeiQRAfosZTeXtS2twbY4ZLPzAijWjrMyDWlXmuZdYWgbQ1qh8Saf0bBF1O58/B63whYL
IWFJpJejUIItvr8V4USbWe2CSlMUq3lER++2mkb5KaBSZqBd/jHH7nQyGes6fai/t6xqzrxo50PX
IthtDSHt0q3QdCdalINsggZGX+pJU0e0zz0FsWPzrBdZ65ASA+r4cukvcHlUdymUJb4OAKD4wRkm
qDC3gV2oN8RzGwVms8CrGY4ITU/3zCbAhoRoY/FsVc6RLG0ZT4Zu6VHUPcLw+B3yHqwizlPJupQk
1RlinzMcys9mHXfKAUqxWj1kCnZQO8ft15immhXisJjQ+Di+15yKfzSbWG6pIPlKwa1OVJDacZ8Z
m/UBb1FmBw37DIUwtQ3vLng00tdUjBlalHZtuY2PV40/jlTIMi2C9Tf8jgb5iSgi8uRKeHmuslPV
zPV+cAfrR8qJ4VaMaJNFBS+I7TXNHIvtHka0uueyerTbm6p0rbcQQtLOgseajEXFtXV6/x4hkwpV
hz+uK631LncA2lg6LI8KbNd5aYL5K7QjrImFPd8she0elcymQ7q0ms42yoMjgrIMH6Yr+qPo9yTl
ILOrgLvDn4sb0wXWXjcyw/vrjy8FlJGbsXbGL/PQhg0HYgK2fV3NdxQMWSAigbtS7iy+M4bRuyJg
IwiPn4ivb1oPubQpkrTBgQSnoZrq+nGx1A+giUwBzDbE9FBo/sJmvA2o8t23oRk/qj7SD6lTDg+i
4zgL5s0cacr5Xm4pPuc0H3dd3ZK9QI3uUOmLMtgHiLhJK9jquHPWfXPdVvyhYSacuFMigMCphS8r
RHbDc27ft0v0usLDPg6lcRCmaraFV76Ot6zhjWPAZwpeeMdSlPpgONjHyK5wla0VcFDYVrdLKd5z
vyaqoDxJhEbnDR65jSLynR9l/cM4txnW8Y46G49d1rSAeoLnudHC5KWPkiMjJ+XaeVKl3+fxGKCX
ISJk+yyH4hCSFb6ZCt/cY5tSBxBk2w/Frfsw2T3xckuEIfbE/segoaBSI9Z/dRnmAX55v7IvmFew
2EgK1F7D0hZnJ83Ng8+Gi9xZpU9pTtmIpwrnFz3r9h+OiT8ByJh75m/2r2jZqET0u9liydLRxc8o
MBciyJ8HtLijZWxaxQtqZyRnhD4ID06k4D6H5XeputDsHTM3X2lGJt4A+OCo5m2jgbkHxFIPzFgJ
79SU/G19v7LV4V6hKAVZewy8B06ZH7wQ54dUXlkSy/TMDDE/1awEiLtsGzTR9p2mfYgB2ASnxCtJ
n4E6o7GS8juGbM5+2PzqFvzAh22K+objJdOdIdUPgBA4kw5XtLBCRkxziBL9YN6wn/iULTb5cZaO
puymdqzbleHDPsRuu1fcKY+lQUbQiihzKNAAHBfEgVWO8hauin51oBqhJGTeW+CngFaohVseitG3
kl7m4kI+FYGjtrDGWmjWCmGU+oec9z48FfsPfnvYyDSSP4uqLr8UQz58811vupNVsx3ZVei9o6Lp
58SsHiBNUv+yQGOcrHKiycseKH0yy5XiUMJxxBM4v01O7Z7RmM0j6G9uy9DI6MIbiaLGYMx/REXV
X+Q2TzeG9TEeyq3bl3lo3XUrE2HlTCdB4zPVm2WUcBgbEacsiEZe11Kl1gt50+teHfuwnOJe2jX7
f0q1Gpg/8ZwJQA5RbYgWOGEpGJwh0I4BFUZYx3Evh4DmKJALd90sJ7gNY/jbWjXAoy69rtGcucT1
f9qis44RpMlEEJznpNn/SuXknBxRfsA23y5MCF8oSfselt1HYNlI1XMeSlgNQ93hjCQx8S2coy9d
t9i0izlFfQQWS5JtmdQS28gF3wfLcT/KQazFfspEeAvkFo52in7VFX7Dol9lt6ru5NNab/R52UNw
gfy7mvmuCEV/tOmxv+N32nbDUmLDFg2sbSsIcSlV2KXVlhrORNwveC7KjGTeVpHtnfgTHf000z8h
nJS369AP95ViRNM62DiLxoc2zYzwHpUDlFfl66xNQqaQ+yq6MueDyPrRATKNEZwpzUPEikVGx0fB
CJnITMscMbe3vZtOeQIQLL9JMQFe7DzLTnmKgjITgOVEAw2yMw5jl7bijmQe8uRuuT71w8pBhsaL
Zw5kmF4HVx+WyDcnz2EX7aYiSkryTdSlpNBfG70xmucdMNdbv3dtKPfTSgSl0ZR4hUaw689oBtVZ
WMVBBdEMLIe/1wZliYYQoE0fafNUWj/10K+s5DnamxxKjtvR+KcAatHvysy9wleEzcz+ul+TbUbD
fL29usNofyBy2xM/bx2/6LENk3nOlrjq6umQVxOEzKmxqX7NxztKBBlArUbsrRArXKAC7yZYAujA
8JzY/6GSL6r44Kwt9mYrcb1eN2kqakaYXkgXkhlNTLtJebKn9TV0co7ZzQbe+fqGBwFX4VyNp3l9
M45QOKNtH7En+8K6535Pr0EC9NfqB1fdeY+GBtYOFfMHv5IF57UrGd1FgOLV/l77QfUomTIlzVL7
cQW44nmdI++lmprlu6U8GI56QYONqCfbK61IAfUaiOmEhBxU/ounOknWldNz5Gf5fhBa3GwtPWR1
QbkDbjGGkRyICNlOAbv0soc+ZDPQebXWbsgPZWcFYj/ZFdWe1fLLpDzgNGt20zlSvqZohXLb3cIm
5H6WULMrNg69cFAQHX88iNBMJwuyDr/ArCEYm+yCtd6N/TYQL2sNfo6yHZjrXRSYh3novb301/zG
z6T9y6JedIo9CKoHsnGCZlwj94sU8Hk4v3wNOD7RkNuEN+vs4TgIne5HNHInlyA09qsPh3yEDLnn
EKF2c05hZWP3gsEj1vuNcW08WTI4TK50EhrapiO/zXJcrRmmmJ3aP0YKI6hSTd3LlTf8pQ6BeWdN
zm6/nIk2Z9SgARF6Sxc1k0Zpm/jq3d1jU9Y3ea/aQ+nAP0/mIr9YABeZpws2TQGT625XzKMHd6lf
66/WWpcfTAbDtzx1S/YAi/7T90V34CBvjs3iAE1a0+jk2EPxtlQVKv7IeQbBjeLcFEzJlvbV14BJ
6TNDRkaq2iJIsIs6R5Ds1vbDfK3cMDYMmJ3civUJPZxRra3ANc9pQUcr6sC1G5bwyxw07BLX8Oh5
pP+jWdpJiPYxJ44l1xukwW2v84Ch3eyuB0+SEMOk/LBYvUfQRX6QPbPZKaJfGwmJSW4N3bMou4yh
uqv5xvLe7ZnupqUPbGRB720FSZMEudnolW3s3zn7/p1ZKd2TogsOASTTjaBdDtxXF56/043IOa1e
C0smC/Gny9LyS86N8wxspPxAmZvngwcP6ZGhIjZ9HpejniF5Y0MG8MgtnseRI9ZdJ8f8vmaohwy/
2ee6RiZ3ujo6cbXVUzto0dD7IB4LWzKg7P0HzbbnyePgRqgasvUxnXlUN4FRhE2wnQhbDueuqsfE
GU8UjMAdI2NUmZUHJYeUvfelrZKtnoBf9YEzEFthZnFbtII39pA3Fzmn3YcbIKMv8FVvfDDsP3N9
xRNldAv09XX3xiblwCCAgV2Q2QkD4ugyOdCJNKOm3B+ta7hjHeJ+5HXSk2EeSsodKR3+XWQ86m4n
geWoVPxsOHZ5exCZGYxkBBTmHFgHaq9wx9gP/w9p57XcuJJt2y9CBJDwryTo5ShXkl4QKhl4IOHN
19+B6ntjl6iKYlTclxO7u/cRSCKRWLnWnGP24yOonXorNIOmg0Um1SYLdVr2laaQXtcixLLDaqU0
4FF6C59NUZj8Fr4+NhsTYNZnpxn+k1+LicTeyHp0EzD+Shwo9B0lk4fUvu312MB5GLNdnhGXfZeF
YgQAPMMTazC4OBUSlqoRqI0ZlDeRLS5JXty3Q7Qy2+xgwlkz9PyB0JoXFRVCIbvV36/9XZk3S54x
D4OfQbppnSjzOrdUp4jN7QacZ7Vx+39UuSOpxuaBWQ+tK1O6X67434ShYaQxyzc7/1pj+2lpAp/x
uH7/+PibGXoAaBFoT7/pI4ecgIJU+NfqkF4mbuc1Srf++y8kZmHf7+LWWTT7ywig2bgBuD/87799
h6QdIURZVXkltECjr6QQXC5RlR3SqsF3A2YW148xrQLD7klwLI0rnzART+acl5W4htbUORNH1i5U
911AuKlLhMx2MJqZ0xi0NwVSlRcKAqYANuRq7czqmjWc3z4+iBbMAJhx9dkx+fvHT4VaycHOyivG
iIsuv677TWQXVK6PKg9qIXicoA+c+c1+/ShfrzpLnWlEYEhRbd2cb9xvP5qqBIFJp7e5AogM7BE+
LVM2jXoKicXU/1Q1Oi+pYUh4vky+RBzOvxDiswVFB223iQp+ku5wT+fJBKMXka6kix4WtY1nTWJ1
asF4Lg3MGnchDZS1ogXpVjVNk6lG3GQ71CTWWovEdDFy4FuaDfUb89EWsLnGfMmtdymnZC8HN7Zk
8vzYCWIIcIFKjwUAvCOu7G2hjHQtM9ogSkCrH+T6gz/YJjUajssiCIWxNDT0RxSCbIB4Azd+PqGZ
k7m/SluMy3bUFODhsuSq4QG5I0+murJ7Vmk+lfewYJtrAIH1IdcRWzk7TfpIm4agXJCmrGylHBRv
6OUb1YSLXbqsH+1eQXsWDI1XId0gpTlxdsKp9hTJ1O1hVPTwE9IP1qpzJBia+b3VTZe2k5U7W3P7
p4h5BD3ozrIJL4ZP2gWcBkeDeh1oJOYy23E/x9RMiR2FeQXPP12TyNx4pVnXd8Xsex2aLr5KUXoc
pQwScz3g4N6NFWfMHGvXSh+sbO+6YyAZiGrRPQZJsnxbhUQrht4CROFumkVOI07ePYRiCzh2DqOQ
YQcoF/6dyzAd2V85xVAERIPJb5umO0UZ49u6kK3X21q30guJUhFA/YdjpeGqr4CfGSsnwtYUhIcx
EgxeogzLpdoXN3C9tQ9h5fSjB0ZrcpFYNIH9CcEp0H97h1RnvAiEKNdpnoKRVFyaSIoLuEeZWzAO
RfqBKL533A46kbe23JEeTWmvKfGVNhXpboLphaUDnCyndqqRMamxIPrqzISu02NcF+NKrUmIZzY+
oo3pTN9Yk/gLn0AjSPjQ0Lf0tMbH14e3EnBR64zMEazprVP473LWX7II+4TJiC2ksW6ngoqYHBEi
tUTYPqEP5+1pT8mmScbiYObNC8OT6CEgUXYTJ4ic8FYEV2WjDl4cVwQe2Sbdf6XD7N43uGlCQAUL
M9bVhYPH5iiV57H+QRSOENMGOSlGwCoMHxxd3ihVcRFx/OkyP7uMphZpYJh6KPmKxzys9ZcqDpK7
oKwJv3KDkNTdrN+3Whteub10LqgdaO7xCUDi+ilhFhXkjEM0gtEwmIf/IMxlesh16p+p3lYaKYgg
73NtFeEpYFhkD0cCaowFOerP1Ti8+bUufypw7paxNg8TaVU6VwqiEmSkJqibKaBxwqwYfqea7ugV
93vVDkcGVy3H/jpvpw1CdWdTla2vLQRpzWKVVp4Vd+KH06EtzYwZpEmZgi+hcgkTW7iKyZCS0KY1
Yx1xGXZjsA8s5V26gvFInX8ECIy8OkXYwkfwPxHSEJ6uBOCRlKpdCgiVy9EuP8eOo6cV2jS4g1mT
mqr2NoV773WkBOwFbxhudWQhjtPEvTOHXvXW8GpRvb1rVSD2QWJHWIZz41IJ3eqgWGO+mnSjvPAL
4kBk3bsX5IdzuCdceDEz9BYjJFGa/xg6M0PSL26mOLj4+55/8iqGBKLjz4OVZjJpxPl1UklodWG2
OTkXxzkulUxt/4xX4dzfP5X4C1nUNHpASqRHl2aX3Pz9889Wit/eWC7Kfkz+s72QtwSV2Ml7MoK7
7pOlAEp48olzDjam0e6JgZ1HF/miYqaZs83/+zWhiKjCFfioqL++viWnqvchmjbaDXGm9rBCjzZd
q34e3QUEdP5sHKt+qBxEnTka/+jMtef78d/3xR5GKTO7PwxGlNAc7RNHmqr4iTMNqPTLfBMRzZ2u
m+RMcTl//K+XAOgkZm8VKcDEbJwYZPKWLX5syLbCxT+8V5PnE2x6rj47d5GTSmPKQIP7OhcxRmZs
HuN7PSJUxfv7nTp3lZPVTf8ojZOsd684+kz9lS+WAkFk+08uxF+WPVyUBr8YZD9dqCdrEMHaNBpd
GPGyjdp1MPTlVTx2wZmVfvpdXEcT+Ch1Awsq5dnpna8TrZaqWk43DJkDr53GZJNEVb5WkUfsFZEm
Z1ba1wrUgT1D8ijuJdzJPFuUoV9XudYHpsO4IzsW4Q9U6FP/5Nb0Hm9E/UR+G/LPc360r1+QaGIV
C6QFkW/+v6DqTpZ20kyhNo65YNAdrpCgNaoHqZY98N+2pG/XOXFn9biE6D0U4tKYOuc6mpxxpRDq
+PIvS+/7tzn5+VqHAKxA5duQAgXHYFG/wYdW2vHMXTrdX8FComaCIcWmQGb3qQN2iPQylVVY30Vm
ilu+XGqVc2Z5n9wXzpg2f17DUYZDHbKL+LoQsOIA9FdT/445O51hmqMjYUnxmV3n68Y2n6TZTgU+
dPYe07SN+VP8dvTIyR/01bIobhuSQlGi2CTGnbnEvID+29jmS+hQ3LCJWshwucsnuwG+akNnRFfe
+lRlkU54Z7ivhm3MP/Xmv0Fwf12MKOXZK47XcPb2f/0+etmmhiPb4la8MFyvHv6+uk5v+8xStASG
VE4AKijmky1H6fXGnXw1u83UHUck9d8aAPxS+F1V4D54avCeOie7s2kOpHoiSbztencRHfFwnFm2
3+/2DONC7ID5zEIMefKsl1GfdgYE8tv1mDyqoY7iJv83Jz0zYmFhBoLGSmUw//PXGxAyP9Fh/VRH
uxsRtaw6/G0cQ/7xPgiWFF4R2L/sXFzp60VKMsSMLo3qo7Ox4hVd+/+/P3/yUNRuYgAn48/r3dre
hGL99z9/+mQDnKAPw72mANTZck9+oqHM/EgVvTyqZr9q0IB1Km6DxwzN/d8v9MtK/OXRI2+aB5wR
JuZzfq+TBZXLnNDRKdGPVlrD0RTavjIxPZpkqzGDy65nmSFjhENd4/2bBkqP/hFX1L/1nVgSNqoR
0Hu0nWxq3pOnJpGGmdXl0N0GW1JccuVfn5r5z7N78TjOWILThqCmlCG6KbO7hd36akrzCRLS33/H
b489VzB5K0PTsuHYntI0Ug2GfSec9jaxh+2zwmTh739/vuFfbtOv5503JGvZmGvNr8t56Afky2xb
d6ksSXVIDgzPPOxES8A7uzopVoHCqO3v1zzBIX4rNE6RFyiG47AXeQZNqwIRYMQXlUsS4Ri+J32N
9FAyrUKwtleK+pDJ9njm8vNN/+87/7/L44N3eAgEEM2v33nUowYBZMAUsKzIeCifiLhZ6uhsuiiK
vK7zLXovGNlGae2tNr5XGCyd+Qh/KrXYxqns2XEhwZzUClFS6VrDEOsoFP1qUJrLLiU8CU3Zp1NM
T1QrS8sNX4ehuiwG0zMrssAYv6KGiV9jxSK4dRapauQ6EHogqgOC4DP70B8/oEZHEAKq7ainVLW2
C/CN4iQ4phmPMEk6+IRcgl5QVOWYmMgR8yqrecOvcab2+OPiYECnzVu5ZrFJfb07taw1gv1SwMHY
t2oSvirCaejErjLzgSdM716c+kIZzmwUJ/vV/xbF75c92XhHZjthJVkUPsHQbBRl93PoX8bgaM7x
8sMT+XwLgsZR6uBDDc885e7Xx/D71U/ejiBTyF4hZvOoJMxSscceUrs0Ge7gpLKyn52FabcJcroE
Id4JtAlvDHc/0s66M1N7CTRyXU72hcTExS60M1SGxIMm8UuUb31YkaMZqjcm3bm11uYr2XONaspu
nFnCQTdzA4xuyRvVWY9d+1lkGKXIN4YvgBeTVqyWYw0iPDrOcaDPPqZwALg2TU+YXg5OguTI6SWe
ztrLinA9Nrmn6yyYgF2kF8O29SWdYj19SP3g3srVGz+RS5zqwwLjEfKl0dNkvndKbWWM5R1xdGuX
5D0ajs606DMrWckuhIDFbM7ARrz0zYzmnRZ7JYHjlSU+utJ4xeuF9bUH3ZzpSzLvDxG6VIQviK6D
4L6M6nYZ1+KHVgcH2/lIGPLTrH20jFnM23YbOfG49wgvicPT0Ft1F2Nh3A8KsW9xuSqQWy5JGqBj
E9ye2Qi+vpD/741nnkP9RaEqTp8z9gF6k3QTj6rl3DBCBmnmDsT09Mp+CMQmHPFIZfibrGmjx9NB
G/yHMOqXGrIEhm2vZKIccbic2yHnXf/rDonUlWnTr2oNWsjJ9qQXDKQjo5DHpHw3OQBynwz0K4r2
UMYE31meMr423b1O8NRYbc78JN+fBWRPDNdMTtfW/E9fNwAVNV1njQk1Sqfkhwkx2FpXRLWKiJ5C
qDqonzBLh5+T22D+sCt53aTTT8QV4X4CRbtSUt3at71LGHw5YlqLgmZvMHtYq33Svv/9s+pfJ4Lz
7eOzGpTLgGgoyk9hEw5+DBSaZnGs3F3UvUfFD2cCHuESwwagGKVK3F4G6gva1UVRXum2+rOCfmhO
+UU1XPsQUTDceLrzShDqsss/h4GFqVQ8u9ioU2aLoCUC/WJQ54Dw5MaN/4mM8r+Pz0TaMed7TfPn
ZK+N4kAyUhvlcYKF7I/JTRLNVFcGumc2uD/s6tRJGgUGY0bgHKeFGLxHrRJoBo95ikibYU34jnIn
3TaK/T7kQ3YducZwGVvoAJCkYzOIBuNM7fuHdeWwh3FAo5KizXVSC1p2lPV+W8tjVD6OvXmbZyT7
oH5CZu6mb4aannnJf3+F8pV5f9K4MRmsOScPkaIGhWom/LhB7lpvRj+RNm0ABAzsJtyaxUDgL5FX
aG41HA8N0oa/r80/fl2dutcFOg0M5eTeKmqLarDMJScJFSc3s81FUOS3UZMR2zSqOyPIvda1zjy9
X+vVXyvKEXPcgT0/Ebo4+dK1GvrMSeYfOQRuWtOhsId/rxD4Yf+7xq+H8rfGAYG/Upm6Rh4NsXGR
UjSjsZTmIzJmDHWD17kr4uN2Y5ufWUDzL3ayK85xBrTiIGmbnGG/bkxS13Bd+w6/qObed46G2qx7
mNDg/f3Gad+vQzlO5g8NenJDvnV8ywh1tcjt6lhr5nXt5w9K0aGVTrcBXR98Ph6Ap3t4G7vGqNak
j1NBk1ig49B1M3nbJ9qZlTRvuF+/99fPM6+0337vlJSQcXKciors2qzZnVg5yK0XSl2t++T+79/+
+wtxvpjNCJNGAT61kx95gEo04YvDkhZFO7VA3942u8khEBI0zz9fSgPwQ+NxbkOqp23vaGT/G1Gy
HdsovrNMaPSJJt11QNB34I/2mV/xD3eVq5FxO7O2Z9jv118RZnCrxV0zX41iS9Zr1SbcT5zZdL4/
9RxF6dsBlVNRWnwTcoB3b5twqI/SrFZ11r7aAARM3WEXSFZxU19gUTnzWHx/5OdLAlr6lZQDY/Dr
F1PGyk4HjUsmUy8gaWjKQS2V/sffb9YfrwK+kEOTSvrE6cOnu6CWsQzTGJH5Me+MO10Pz/x2v0ZH
JwudjjsNHsTJpAl961HpkYENbKK3k31WgjTDnqSH8n1wOAISg8gQ3siPE5ax2A3PrI4/fb3fL33y
jOlYdQLHme9bTR6LRqqVQ/TYmQX/hyU4d0J4+4HwERz5v96pXOKjQuJu3thdVwJg0q1L3OrZYYqA
XP/9dn1/jKnc4NhBU6Sh+O12KXHn1qMVR8fWtCcWHrLuUIeaNDLG9mSZTGc2zZM9CgWc4XLXEEep
glbJ6baRBPSz26Ibj92cMKfkmdxMLYnLSTpK0h6ClkNFrZ8ZpX67KOpixmYYsWEEzJC5r7+nn4oU
z1NrHwmNbde+5nLgCcfk0Jm9vR74ffdJryTnVun8V39bpUBVVbqPcy8VNBDD+JMdUi9pnaSDqhwF
Wu+dWmnJumlAQbSFBlioDrRrxY76Hxwo4SZRKu+doE6yZUXo9NNkJ9gyRTjFS7ft02MkAWVkWBZu
yBunUhmKcF8gJfj7YjhZ3ALFHB0mymQQ8gCm3JPfaYgjtyI6l78PYsgKN524+/sFTlbbyQWo8r/e
CAPzsdNZ1DqBRQThnE1NoL1vVJC6zgFCT56h/10KeRlNP1pn3IOvl+JVi2Kn1IpjMWFgeIvTRTac
G/n+8ev8d43Tpl9XJ+BZUBsfMe0Yxg9QDOhmfF0/sx3QUfm2guc789+VTmtUWyXb2M/04qhqWYHe
2nWu0jhrvaFkDFBjKtr1LLcrwpmjQ22IVzrTykqzEfyYZRV7EuYWTSn+H8DnObuq1JAYZ/WsCE7p
Ym/JNQwwaRrKAreqAasnyJ3PSMutbdHbz9AfmAPL6SNRFPsYI97z4rEsCVwKbZrCkW424EaEu82z
FCRhFSSrEO/RuupBE7GFzKL8kJShQbOJ/OsJcMQehuXwIUXEMYL183Dcyg1C5TenqUJ8o1qxDMro
BWHOe4+3YBUPZbPKIhKf8TXgHJt66wMJHIc1kUAeoLm9yRLAdiZHGsg9cXichnGfT9m2rxt16QAo
IIZWhR1g1cJZFmFuLPuylfetilb+EhxBBMOqQh6EPQUMQ2Q0RB1DAxGJ5S5cjVQP24TKwH7tgoOB
UpOIwd9aZixvRJG+6Rm5NVgA7GcbQyoc2qTY5GXYXgeKihJYIMlipoJVTm16r3Yysaojdh2VHOZl
GDGfUKzGvK31rj6oEgNn3lIBQMqRuwQI/kJEpbHVNL94tpug3ph9W65sgWvSLZDNOyHZ67lG7PmU
psqqwojq2TrWdL/qXmojsIimb7VP3wA6ISqzfxhLS2CEHocWgBYIqdGoeGtOs6a8kj4mGkdPSH1u
I28qA3JUjbEvF4jOzE1QAjZy3bx5KBrLIP4194HpAeu6SPtQXIgg+yyJ6EVgXji7ru2KBWpra00S
NBhFglNXeFcEQEme/j5yhpeoI20mwAi9Uh3fWo3kq22lgRcQ4Xl1GSWOsycCrtma7siollEnt9LS
DmFQ/mRd2OtUjPpzMFlYYQSEo64N7F2JunURkD6/iqvxXfSHHp55l4/3pe1DkQppmskw7K58X/ob
M/bJ5XInk2Ta8R0JOfnItsP9cPLSs+A0QKpOoaxJ5IwbW9PilVPnza62EFn1EhludNEl+6hcQIXH
REKy+gI3rNggow62ed0bW79o4XkBtUBhn+r4r3ojWepJ+1n1yks5mhz5Ktvf+HYlrmojo+tXy5B9
cbSfYMmM1qJOM3zBEbPqZKimTZ1WNrLxmoBn+FxeF4XKTd4XzgE9T7Oe43oXucC/0LbRcOgB3KCf
BJLXhGVwWdvGh+KqyN2dxlxqJf6sLsV8bSQ2ibIxPWpq3WWO+nudMvNd+I027LQoG3hd6tFllYTd
rvaJiveDKdrVsgD8P5TFNQHXPgIx6JjYFgEy5gDlFYG9HkEqUBf8iquM5Gf8tbpzFTXE05D2CCkq
NN8syJl49BDBJaXzE3biDJA3yN9KBB6WzOd8UcjqgN2cl54aXPYgLna579BvxQlKCyS8cdRu8MLC
yR+DzLIXOv9xrRut6Q1A69ZdPNkYx4qJ9qSCVy/28VEpvVjL2Wtrylx6ZauSC+BiyY7EbFccsAdl
6cyxy2hMobINLiz+I/nHMJHCtohArVXyLVBw4gL+Aq9o2ArNibYcl41po8K38kVQz+EDjhOSHhGk
S71xcpS0yYD83wIz6TjkJXRB4YWNauG9aeqD5ZMOjAaQbNygbO8CGmTrZnbetnIq9qGDnrzLwT5Y
xVTiup/o7Celv+Df8G+0CZKPGsrnuI30ZTIGACTqyOAjV5z/dGBasCoaIHLoxsMQlEzsEvVBhIC7
KiI0fBOEsXWmkDZP49n4mfmDuizxTy2j0n6pMIEujSh57/P6Q2LwYbYQv3em8kOXLfzFQX/L/cwH
O8cX7RgfkrJcvhFjVSK78+VSa1uQrXocexOUa7SdMrzjVJksfBuqTN4o91Uy8DFLK0V7GCIzzNQJ
uSrorqAhxVpmFT5OJ9c3FhSJRV9SOHSGETBzgXmUdyOKLjAG9QP/Ik9iGg14e6OKcwE7xkNk13iH
zDJ9tLPswUKt+aNtlezQY9nbjyRDHwLI8iW2WNBS7axztWfOArY05c0IHNfLciyMWA0RfroB+k5X
wc7Ecd/TQtfa54H9YThosSZcvBe17UIe62tlQRGs0gOvBzzmHPGCqmO6asl4I3rDWHVxBi+D52QN
KcG6jVvyvBEY1ZfAz5orKY14X2XsvXNBe0GlnHjJEPbYWs1PNiE5Z4zbbHek2nRWg8A5ceK17Nxx
A9plWIcMiljafUvzCKcYxjHsnIY+LnnXTnvRtb031bW4k3FodUiV2xZyNtjKTYQwG4+QGz8afs1b
XRRm/qZIoCYLQF+YuoyKH1PtgyOp4GB5RYdjz2XI5RbOqxvnzQIuJgwQd0K0nxYJWCPCOhYCLyVo
UCO5gN7/ZNfms9m2j6MJFabS0+gWtmWCl4Ea0OwoGSxrdBcwdqpD2irBjRnBHHAx+C6bWudITq73
AqHfMCN5qgwrUqQZ+tZPY27CGJjVPpdE/s7yHAxgQXAtuGvMGkDE20lO1g0l7rpJsR7lM70HDn66
4JzlL1KmSkvbbiGghHm6SIlQ2Q+2MaxFpce7Gm/eVZcYjBoDAyKtb3xkJdOuGlPiXm2aZtVrqfPk
Q56Cr5cV25RI9yU+AX3tQFzwGL6LpxqYGuQjtGR4bibzfhodfM+tEeOfCbTuNoNPxJpX80vNwLjQ
K+mnnNggwxi5Yq1aFbxVJbqeCiTXmdklWyYj07VkTs//rNfBhWH1iLWxgB7GuW0KfyrweOP5d3WT
GpvArI1No4IASzGo40Zq5WNe0rBqs9JZ8lG1tYLQbdMQDs2llKYCzty513jRWcdj6b45FVYHpyKl
FE6bewNH11kZao9gemh4WlOKJ6DNIUZX+Uiaa/Nq4T7Em5WMGczFKTOxXE5s9iJpIRgYvXrUytK/
99sA1khbDpsk13wvcPNxZQUM1dx8Ylf2HcJcTCVrN1MzBvcqHJPbakA52OvS4alkhhRmvr2TQeev
OE7Ke2O2aIIud1aNwg4EmImp4KDHa+TIziZy1Jgo8g6/r0t/O26dOyuvoU751JBh7/QFeVDlh46L
CApn2qOPxXefataHajACK3NK2rpiyqfyDg4WaZcUP6G0mmsmWaTWKQjSo3gicWqcqmu16dAfxy5f
GHV3kR3iSGvuS3d8tWq1pgRq38cBPto46NVlVwnVS1TtfTDnOzfQX7OkwD7XO2TcgLgA6DGG22Fg
0sNACieFw94uy1C7ChnILJScHdVpomktK5MJAT7ZtTFqw50/jHKphDyRYZo+9GjgQW7EjZeXmrUS
KFaz9ZtUw3sVuSyoY87m+FHGTV8SAtTDoVioQ99uUGLjtInHhBGOpa0BtQ0rUHApJgE/XSEdwzpW
BxBpHIpfgsU1zg1x2uyjKC1vzTKLt+Vg6UtAVP0l7OrmlR973Iguwc7Wg7xfxfavU3JZ87WH9EB8
EoGjVuLfYy3H6Y5FcZNzhIWh6ACmpfbQcBSE1UHEWvujKRywrmiaPVfmziVa9mBtTtRMurSaGwhZ
HAJU8PYvdcyBY51UY3+UwCsqqtSufCYo6GIYzBc97nv9PTb0Xrs3yybSmevrRbqNQLT5a1Otihdc
tvNiTDrIBLWu4203u1VpNXOgTm66y7QdgJUSL98NjzVYpEur57XcWYa9yLD278wG02hmu+FNkhvW
ynVksU2myFqYmvKc1k2yyMrIXU9lpr8mpca5xcnCCDskLtplEBFlP4yxShXlqhH5jMgw/BRm/zJt
9GRHr2BcdVkc3miScCLMAZV9FxIMu9Aq467r8bEEIZMv9nrnxoow4Pg2jNCyKnFeQQ63m2ekhugh
mXU4e0nlt9M7JVqXkCV2ccrYXaGk9lK9ll7U9e/ASMzlGJLn7tYJQC8D+ChNrQzcMzWPaiUuDlep
72Jp/3BR/6xVp+Lb9xX+WnazRR76z6nf5EsjMQSwWBF7ST/vg/hJF9KKQ05MDgCpYQwvs8aGwCnI
sCfmsDdizwU4R1XvKHxSLaWGAVjCdmnG4yUIGLBtWmxOl44mb5IyfW5huG17Cy/motVxWSqpW8FP
gL5jD2rlhXAIVrjusjUYS14NkHYxRLI6sdGGj5QBNI4Ak75bYTC82arf3YzM6rf8gQFaThNewWZE
0hZMpgb42e58NgSteGoynKoid3R4R4O9FVNINrEP7YuSo9uJqLWvE7/iIc9n4GJH7AJorzLzqnoE
wOP47jV9K9hpZv0c2PaHktJwFJxA9gNBbT9c4SibalSKV3f0gTwwxfLwFshl2IC/ULKwwQLpK4w9
dYyjbAhLUymVLQY5el8M+xYqMHqv9IPqwuqxRqgkdpIRxytKcqgXi7igxgNfqGyMvieWywLpdqPW
g7OA2SNWmg9XyAziaZElEA8JWqPNpdvTElKP5rlh/uEGgERkATpcywNjkVO5eZGBXyUOo9ELsfpg
iFIMr3Db6UaYo9hNEcBHcH3jZaAnFmcMV9I6q6qNYcrgoqpNTPeZ6QD+i9rrJDPbDQKz9gVQunOw
hli56vExcqeibp2B+X8K2WYO4AkSLx4SILEsJ3FDUQt9owjh3rlFewfp7aPrq2oXNp27YCI2XYjw
rk3XxPzFS44+3AqRaM8Urx37CzWPVMxm2bc1M+JG2quQ63kiEOZCayRHPoyyiReFYeKpo+M+GYWF
Nd2ErfBz8u1XXFX9QyDyYteYCmEAajYW0Y6RBpwis9Sg1TthY32GiTnskmrQPX+I01WqMmGW0kcv
oeFwXWVjXVzVjXi3dF3Zg9kbFunUCSwWOPp4riJYBR3P/USAA3wJ6yW37GarpwUNEtvQKP0qDOaF
zoQxjxnO4Ux+dNXxh40ZibpqBPZXS6o7JVU2dkuGX5IN4PJyqlV0WCCRkgIvD0kFPHfAVTD+1iAS
piOtiw6FGlIRRs3Wtd7huItsBn1xSWZAlKnhNjL8YOuUeXUbCse+40vpC8tmWUYOqqG6fwFJhl/P
wKatUkAt6OECCmm6dtUnmfGjjWS0GptUf2lCIa7cOBHRoqwD53NqUtLV2E0PnYHmJm3INE5U/wfm
MdQRoULKHtuo1xgw1/K0Etva7QIPu+3PqUq6Fegb3NyOzr6J1HEdu7aPI07+HOCCPdBaAmVDZtqa
Bj20NoNbPI6jcZvb4cMU9+RLKiqMJt0pcKWPmUfPUcc12H705NAtpZbIbdhWBhsPd08NW7ErRrO+
NbtcOcAksQ9wlMMr20indZY4yWqCfky/VvI1tPnErzy7hV5cIzKkSm3yiqaeQdsi8HkszTfeKh9E
tUC/QgSxNEZM840yYDjrTdezZqlQEEU2L0+o8qXVF9d2pGBlzKEy5PBD+HxWSH6GKFeB6r4yOC7X
SpsPHAzN+nXq6D6iFqWsIpJeGEV2RUXY/RhyyFl65YcLDozk0BZmtfGzNpnxJBwIJmklz8SnEQSe
d5onRjNbcZQhtEAdsbTLJo23DQnT+8AWn6A+UNfJaVrK0gRkZzifUqol3OU02bPXmpdoh3LPaHoE
UUGgV7dl1g6c3VOSzWVlwLzFWLJ2sAUvFQDea4mrcaHH2U/UryGPbfUeDtBmQBxo+t7KWf3tpL3N
tv5FqEp6c4CkKaXJf/hIfHxqRW1q1xm2/hUIbRpxRqd7bTPDRGPnwp6AAuuIMPeuw6ZAR6sl7Shx
4FMAtmD6DdBLCZXHdKzVY6dr4bGq9fzSTRz7CZsknSlOpAt+XKjvE6ADkDHm1rDrcfbM6iuY8NnK
sCA7qoJKTQlaARerqLPnprH8AzTCahsSdrj1tTq8AdZYezmxh5uB27Js414c9I5bE1gBm7hamqui
B6yV+fG0KWICvwT4Azh+Gt5SHQQ8aXTF5leWSBXU6ymfXpWwtWm4ysHaNb0RrrGcQJ+iYltrNYSG
Wir9likcXC0n5HakPcklkWHt+sHYOjK6Ly1gDWFRt6vUaDiMqWG8YyxeXrng0PeC1uxhAnzKK6XS
jM8uteWz5TRPvkzDgwYNbJPUEJGGKH4PCKjm49PwNaY5u9BvWryyUe3DkLEGj6EnLapSAqu2E/Ua
8DzPtwntYAxcdZUVerPl4dTXhJ0YmACF3CvVkN8JP7afhsn5aecD60Vlv8FF2qwLGwzUoOTOzjDL
gr2kzO9rxak9YVBQqDl5S1qiRM+dsJsLAknTpRkpQJIp+pbKRO5mLFP8iJkiH6aoIXKBjgTweKvx
/TtuhsaJL5UuIaDQGWxNAmS2kP5ptWU+j5PZ7U02DJiFg4AHXan9A686Y+7oih1iC/U6lDQlKIG6
7djZM8aRVyRsaaadBgSYTFL3m/Ta32OULWJBP47iOgzAr+Rtmn3SckUQ5lTsyGM7WJcOaU63VOCV
p5uJ9TgYqKRjMCakPPqklBBTu8bZBvjBYGVfV4OSeoE9FPQtmmrp+ONAZEfTmZetRRduIk9+TVDq
E65UVAFD+YHZst+S8wNlZegb5BEqlqY1gwnwP73M17qmh5eiKnp4sTZkZBfUeoUd5Ic1Gk8Mz1QK
NfliJmENkqDkzA/DptkZJUJPheBa4fvtu565WkAXFxcsE0zZ7B0XMFWOxwGnUlM9iUxAxqmy2uvw
Yov8aUb69fWdKAxeDU1ufjps+hd21j+j2Pw/HJ1Xc6NIGEV/EVXEBl4FKMu2nO0XyuMANDk14dfv
0b5tbc14ZEl0f+Hee5ojLB9i+JkxMbr8yEpEx3MC3oeRwRDA76GTBBUTkYnM+Uvd+yFdkrLMEnfz
OLjySRl1x2qgZazQVe42llW6nxrDZO2AFgRAS3nsBQtWHjknRfw4iprotNE/Nb7RfDhr08Ukr/fm
drGzl9FPaU+s6SNtbingNu9fwA1gP3lMCchQHossRI6/kn5dljbxz6UVb3QZPzbpNF1S2KUyYg7d
9i8ZSupxK4dueLFMewz0PvNJVOqhH7SppR/JMPUOM1Gwb3Gn9yGPLRtI0ceHZGFYbPrpKxsEPai8
BBgKbLldTGLAnsYmPuARMEJHJpCba+hA8PKGQEv6YifHicmdr+pb7K0Ttl7zr9Srf3ldGgERpBjy
HZfJ2knRSHZREY8PhUca5eiRew3HRdItpWbUEvvEWDf/Nxoci6opixulmSWKPrrxW6svNUX07Ld7
8BaRLz+Zm9XxuapG17qQYT2hHVVDlu06VsB3K+5eBE92tkNSB96Z2B1QqB0DrtKAHCA08bPmhABX
GHlw/9ffcZHcppGv3VspT6LdGk+3XwDFc1jXWyFONvFpZP+TsmXP5CRwi2zk6jy1LREWdQwGxrBa
YycMsnEHlkhEUBHaXVYNmQY2x8TSjMPRRcq+JkrbLDJ/wQBwG7R1xlYWnvMIturfYhqnJc+fVx74
nY6YEcoJs/iCeHlobhd7WgzQRD00ED37JagZy4Z7ctVDiffQIeCSIadZCkr2sojfV6qxi1my3wnc
RUv/Gnsan6Xw+k+DQLrQXwhXwP1trNzvnrQjWQ7q6urWevTM7NOz+tek0cmJL4icGAzF9MvVSH+f
644PuMoCn7TXZ6smfWJjk1d3Pzb6dLJrUtsYCU+bOtMwkWkMoquMccRY1QlT36EDT01TShQT6xGL
LE9LkYdPKMS0KSp4QoXBRJ85UcFmg1N44d0K7ImMKdWYCizCmG0J6EKj3JfwWJYqJb6VCQ3kEW41
2x2f+5k9Spul7qmQywfnublzWXUEHHv6PbHsMowRxwQVGmTBg485nP6aHVNKT/5lY+ZjQWje5j7c
PZuiVP1vidFkY+VeHdU9tRrxC7CopuR3duc0gsi1VhHrjfeW8ydgsUKiVTx/AWgghZDJEEsYnZKE
YOitqdm0hFkz6z+G1venZiAQQ0Lg2STMbjadgvzL4ImsdwYFV2uph0eZpai9lW5Yj65ZVpTGa9MG
SzV9WhxTYUHieEA20hecdfatpmgXZrSjTfC2tL/MxDMu7Gvqi8NRwgtx/tW0wieZiIWkWcdmYeIj
ye6NFJO2wUa2jHM68+JDT5KWEH/pHxk5/xvSkWGv5902lDEOEWn08RIWgxqeWkKfiajJO3LOSLPM
ChDSjpukz6pJxvuq7L4Iwjcju/WRHkquauo48Lqk2ipye91uYfkyvtklsATCOMuLNnZlcyrNvLzo
bJBclOXDTMyvkttcQfTSSCvgak+rs4rn+NowwyfMr6JW1MfhZcJNH1pSm8mrb24UCfO1thnpLSb+
/tFx5HF1/fwo9Fu53fFZsEildzaTdtsmeRp2/jBsO+V2exY10LTaKt1Sc5CkUfsmJ1+lb3zG6mEs
nXfIqq/A+Twe6j6N1iw291C+nL0/m9Rv8TB7W1aUy6OyUHgN7mQdCNCYo6nvy3M9d8R/9t4aIqJZ
SCklzS23Eh9YmkAAa4v5oq2+d3IT/gac5M+6J3dxzg32ALoJc77vwMNAbg/oezkzSdC9pkaXdqEe
i87fdHqeXDoi1tnJuOaGNTqZ3H38wGFiQ8mKjaMwinyvBjvb3zKAaW5gQhrSp0GARBLlMwnWaOHh
rC5MsAiTQsbpIDBAqd+xAQSM5aTth20Y1Sa7MaZmprjbIWEmriRZ8T51ykblTXk0KYzYbiR5MBtt
f5pxuJx0JzO/cmhY/BHk6lNHqhnBrPXew8l3NajPdokcrzk01p0ULfQLuzAug7yJtm1LheSsrifk
0/ZRCKc52BpOh9qLAZp1WfeZZlkTMZ0rAptKNFj90uR64R4AhZEDx9HVk6VYyBAo05+gHHTE+Q59
5FQrZ0lqIOs2HDBwzTrwmy6wo/x8Xfe+n4hIKTvdTcXEinl9W1vV7eGU1JGr7PGRw3phXYS/UWI8
3VtGnJ0bs2tOBMaQJ2mp9to40mOrtYwUeSvb2DaR9303PdkUnnttthiKDZoNXvC2nbb1L8fv+sti
Y62o3EEc+sVcnho1Mm2iwAhcipqKVDQrleV9lwoeC3/6yQgueU+mSqSb5RZvIXLOhWZKfkq1iG3u
ZTHd85Sz1Nb5C+oWhlhN9pWGIvkaHKvaAbiDujTkLHUTYNi5dNUd2mHC/fVW5z6LWzRciX8EaeUf
uZLNQ5LLBr1vSU5PkwND4Fpe+3zZgaHrQmr8FvJ0M10qo8z3HCLjrUzUAkhBlMqjtuwNramQNAjq
46UmUXta0o2QzkvRjP6OFU93bER/I8u1Ot2vwoQhBnJDY59EmToOtGya75o5qQn+viWPW34Nqsj/
A2z53dGTsJ/+diwATsLTirfJsvOrWpYp0LtkjCwu4XugsnaUK1a7ppNUR+nnzpHAuWwny/xF2m5B
I2rop94xZ96AgSyaKidUho0N6yY0bWJCUsf2ajmYTpy85cnyUw3tB5aaNDCoAIKy7pmYKUoBdoK0
flrnwOJ1OhQtrn6fxEiWfTfvt7WzmhtwOGaYcRJdqqJPN/mysCAX84uqi36n+SnsHXand5OIS9K4
De0VltUBJebdUhvZlk3AHXRNb7sq51OZQxo6CzetZ/AVJ/IuPft8qjv6NOPOJ8nwinY1D+yZFCnQ
xP42Hgvvh4LNINfUrdkX5UQoaV53WHrSdqzF+SQjqdmjL0VO4seETI+ztanojbcpRFQeBevTw5LL
FrBribK99Wat/r7aU3b2q3g80tTgaGAZnm2wk0wo0JgOZGjuA8Ou+Lo00rqCi8svRkOQ6JpiEFrT
tI2MrIEZWXfGvXlbHfgV3aGNOm7jCEiLWJnLq0iERxbD9NZSsofEUnaIAm4wJqN39mvss34Xmv0X
44+9PQgITVz5SiKrClZX+3GE7hKr2Xz4Mwk36TSOl5yTey81fpvEYgDU9PYrOoL05kla9yuw3kCs
5dWb1uFN8MpChlN84LoZnzQgkGE+pB8oeAiDtp1nU2VuaCTp9OzVrssvQYKxkzNbIoxqODSDu257
oou8Qb3WMbtEOYGHMroxI0jH90PWHnHgdaqM/NQYDuZYDA+jHg+7Ps+qZyLSrBC6jhkYiQN1kdjA
KojbSXw6pt7vlbdY7wmJIi9a4yVEfdYgFdmaeNjBCofaFqlUT2sVeSmzwqW9VUSdIJu+EeO1s6r1
USmFv4hZFOCFW6qukV8s0fZf0NGqM2MpmxW/Gz+TGcWj207EZiZVMNEysNtkC0bz2enfee/R8eCc
+rcOcfteGN66n1Ppbq3UYrrI5rHW7KD2EWcRrUK9/jvU01uqJc8gyGB03PQ5c8E4kOwiDw2amF69
hH+BgMY6ansWiLRHY2hj3b135NT904dWvRo6nY+k290U9UxIpE7AlDFwy/aept/RLCZgAkY3GPOJ
cFyiSkLfHY0o8REfzHGVEFgmzGdjtH51x5fI+wEqz6YlA8No46uP62nTO7UBJB5b5CBYYMCRAORj
UvWgPSXemXXF3rAalvmakvdWPPGFk1QnfdnJcaNIfH9HBmVuM+W+eL0wHy27Mfd0XqhzRN5ywDfc
LJ4Tn2PZrttlKiXMmPgpI7X0xKqwfBkcZBXV4hVnQxxRRcFVyjX5Bh/EDZraBW9a0/3YHmIyFhT6
o5V/opRlnHMlSo1yIOh4WHWGzxnpTDlL/+lVllsDORH7w0tbfStD3sXrQhjyA8xtHP26eWJMA3ua
uiX5IYyeq5LRb0FS3m2n713G5QUh49YR3d4WzxBuoJXxUDpPjXFynLNb3Sfp0cv2hEhnrJB0QnZ9
b++0VHlnEBoxUBO/rGh/7E2ZvduAoCyNt3e/FntR/vjulbZrk+l0Dv2ZQaSx0grpp4HRZzVGWcel
QsYTn9ZX5V5r/cWip6ru02zXuxSxzmGpwQMVv+W0LxhC9Vpg9iyo6vPCVCk7GPPDwJBpZMNYqIGl
CPM4rrZu+CNEjBrht9dC4sK78TyXPyMeSDO+W5Nvo+zAYgHU8VGrpN02qZ8T+11rz0YjDw6LamFf
3dbfcuud6/imrqmjhneehOgQKOlJH7dz/7Mwv3ByZIz0Vfr0ujCZ6pNoUsgLaIyIvKuYbBfT3pBH
ezl5KbtWuwgde68X16p5rnh0Ohrtizcw6CcgVA1F2FiA0r3AG7ywVj+3T02kfzSZ0EdxNq8QOCLH
u6+7N53zMmnyY27uJuMEFehQFkSl0kRzMoz6t0xhTSJCNchtXkgAnJ7iBOvSSEDw/MMJtClJehyZ
xdnNsZu4d4jfzzGs69VrLQ6CSQTkzE0WT5vWOqYojfjGcI+EvOo83bbGgwZP1/5I6ofCOAzpzy1b
HnNRMDm8gRfNBCx18cvb9uuDGcvkXn1ianoHBPy3bTwv8ysWqA1rjt6+xN6uYY2FvF1DjDPsJPqZ
0okG46dApVhyqxJ0nq0aZLNLHd9lNgwttFr5xeMeFzCs7F5vtzXtLvn7aL/KWuvY4Cr7JVVOdWC6
+2XmZn5HxmbkrnRX+WWCF+0B56P4GroZKZT94IEfLy3ozQUIXw4d0tTFOTbbU0rKpVHsC7faTIDZ
yKWD5ADXhzAhxLksl8o8dOeLBW7K5sjzX1TLyeuzVysYpMYbW72QVB6SSBS0VIMy32XslSdcZahY
90uSYWN8muF/lRcBWmemwXf6d0luOJEr7Hc965KTkOTnZLoN9878ovuPbbyTCDDX5o/55E7rXvX1
0fRfkm63Fn8TBAoWWHVr3Gzne11J1Gi7G9vEdEitXz6y9iWD8qj0fZzMBzHpQY50o61xzPqE9DO0
p1hgg3BYUN3YyN982AVd9dQbr71FeantqW0PtXkDagAPyX7t0WdjXwIJwJUHK7RR1aYU/2bSD0t5
Xvm0xgwtCCOdJQ6cqmCepD0gKgoJvJydMvT9H2B9XL8PrvhB/BckKen7LvmBDNxXczeSfCU5bhd2
8oebCpLdZJle/MWgIuFA5DtA0xRqRRVlvfaqkJ8R47vx4mvuPMxpvs+tTxNR+1IRQ8zwNWk+a5Wg
z3omWvF2Fc63EYBthYWGEqDZ+IBoZEFFWhpIU55h0+p0ilAsquViw5W0sEbM8Zvjo8xI42NMuLIb
b4bsx9UAqliRJk8t+DDvltWpHgwSClXHJpyFESUr534bgok/dZC0FtCIqRMm1mtVA0TnHZlpeBAE
1ILcoC1LTz6wZ5H0uB3vCCm2se4m3udg3mSo812+DGGpxf961YR5ypKhuojloJVv4/Tt6Pul3BmS
3EmiPf2v2nnACBxkZArnFvGo4tjRJ1bOroIUNUHryg3cv1fu1YykRScoJi2Y3e+VM3dqv7v82XXO
tBcbp/lIxg+kZJGDagAFA5LLu1WiYd9P2sWb9zjLB4/n4WGEzVW+a/UHU6uwselx3S+tf0p4UoZs
W5Y7U7726tutmt2CxBaxAfq2J5sEnRZ9YaWNMI8lRzbhdOWXnTy4PWmq9YH9DG7+p755W7xTCdrh
f7cydB/aP34wKkb1r3EebhRFX9s74rGY/1h+1P0P+to9meX0z+VGN3/KBWSkv1vas2y5PDnFByKx
XWSKltyt5fPIHCVb74XzwO22pZ4OyDaI/1pGJn8EGsMc/h3IRklepbrqy3uJSsQYThpFVuL6w/4m
LEaekXEiCZKYJcKlCOLVcCwgN+349AfSVWs48JZIT61VPEy4o/jg0y31SyCmq5pQDo7MCMs7w2cC
KfGivWYTQFDn251/ewQoklxxZyYKek1uzKiIL0OwyF+NvYMH2GlAWz2ldoiCdHG0HcNFOCVvSMoi
Ea93sId26yzuYyjd7LUjI8ejjsqpEOPHYljbPjmU3jv7AlrpYls6b2n8K+4Gsgn1ct9/eYd2uBcN
/+NEr7xR5W5gI7eq5DClBwFGoSHQOV3PNz2PWl4sTtW85My4HRD2T8k9BZGcYKkHt8QbBm6ufvTA
djQ5H/IHh5gPcZCwuyovQgG+mbPFM3DfrB+J89SPZ+n/glko1DGZz6ALN2K43J40NtI8RAefitu8
y5rH2GQh77gRCDZ+2m9dRAtVHrOSqf/nMxFjicLV0wVdQhJ29iXzS4P2gNiDVUSj96Y5d6Z5vxiH
rqeV1ff27G4V14blHQ2NfUS/teWdYEcyrVfEqejS75bucZm+XINvzEeRfWop0HkPQT3AoEa7jG3I
9j8iSTTQ1cfkntb6gYTNmsVgk56nDPDmF7MfrZr3ZK+W7bNuobr80t2TsB/j6QWEUZ0cVmfbpaeS
UKt1h9U+sMs7n8FsPd0X8sFGaZsNn0U28CU4Od6LcnYzt1iWYFR5ccznRD6M6qwnEOtRSQ3vUhyJ
hBhXj3olyjCo8g0lRvbRNwGeEne5FcrheXxfjXt/jGjkQmf45j5i100WIdi4+HcW8HWqswch2SkA
LehF1BEYS59vD9c0J+TUJP9Y2htD34oWiwy6qJjLWb8ByS4lMK6kPozuo9SnszI/kzHeFabPqBpq
WXdHRxMIt6PvqTaKDcas7zAVQmpsIsp0CmZm13QAmtBhMdOWpHewTTYuF7BXPeJ4Rnz6AoKb004e
Z8Lyi/47QzVdVgS5V4fS+E2Vu2nNN8kBYOoS/6cMmEmXFPAz28Rk+h2XNNSyBQvvci/7khQQprgM
1Up+faN/JeOtb6bD6D9gqKAkSLYrnLaFimN2I5ck3EY8maLYZlP/OCZAA1abUyYJu/hjdhDtTy9x
cyliJ9BaKGCMqlbnT/VluKZPU/MVpySUIOmUnAc1I8xOCzP9vvedh9XPz0MDGdXmxkrKDRFY2DfM
YAJE7JvoEgUn3mi+tAXf5rogzz75ti02VvK3VRW7CCT7yGm4EeHQj0eFqY3VNmcuUf8MnCt+ZIW2
JYYD7DI8kt2TUu9g3sRwTzA+4gtO7HjbVT8WC3YyZFl5/tVeJEZ7Z8QxadKSTrw9pO64VcZP23ZE
P0MnvOX0jGV3aBiB6vhySBVHz6u9a3I+1NV4QGrCdHVO/rp453l7A3WbBs9ombnI0ufFJE+47iIG
f+cB+/HOXR3k9H+NB8qzex2E9Wrm7deqi00B8Nq2ftryL3XckwMpIyF6oyzepy6jQ0fvxhaQXfOq
QAg+NBoXb/qa+S+paURjh6Z3/TejC4mfq+XPb8GQ4bYxPkaickdecbq318ON5L3QJRbiMwHq2oVy
1ffKVedRPE/tVmTUKsTPSG1jsBKm49G7H3CWY/vlWNcWIjjrtnQ+tfW2MO5Hl2Dkg+MaoC1CXBgR
6olgoEYUVbYbYXJOqPpM/Tp0p9E+dazFRfpTWk4wM0IetIPJprRhkCuNF9e9KM3YIfzc6PRSJEwQ
Gs0nj1sFZUCQ3ToyBjfj62wBzRghtBbX2fsBOfZvha9hlzZRune19YxQdZPVM3OfX854O77rtJPh
Hkq5G3OYobw21ubO+ug7fyPQZ7YARbct07fJjUkS5TTChnTU+BaxMQB7cmb/bDm/VdKgFH1mXZKh
c8O4QlCLLP70+aK3zw5a1epsSL6c+AQT/U40yL723Q2e4p2ant7HOavyzxIiTICcdMyrsmcxsm2C
L9G0D7F4yScnUMvd0Mas+ynL3gyUXwu5IC6Ddpo+vgB9fHFJma6rp1K9au2T1z1Oy051V7iUAdNf
ZuhHp+APNA9d/2HSwdj+qc/0Q800I1+ogPAZlsUrgN77ObtrtBOOQBDtj4V7KsW7JH5+XYbAFeBf
QXmlBDTD01sN9vLY7yyGqyUtdUpdp8s/BV6jGfdJc5GAM7OaNpfbu6p+fDAbANR3mbEDq2iZ4OJJ
5k6WsJXAHZNmP2avCpgGzjaW19/Z9OUP/IaoDjTrvTL/tZ3apdYSWvoBYgSaLr7HqzdeRw3yMCms
okawQcz40FXYBNV2BSUkWvwXNsCsfPpnI+xb9JyEpfGMq+vIuCHeYOV7BTkSrJzUaKnzY+wz29e8
OwyDwZpX56Je2JfjcmTeAwwmWyJT9cee6C7eDxdxg5ffAFzdg0XYy2ho2OHaqIxx9rd2kCf6n9ch
STLniIzwDz/BPMQstgIvr8pqh7Di6A7LfoBPo990TQDG0MYPJNTnpo5Iev02YvO+Q4dOLjotmL+z
+gEY+40kosK2svftwsPuLtPBq5P3ca7fbVvb+6uKPKGf6xoOa7MGjMM2YikemGdGlpqPzPg/HApE
4avjZMkrBMVwmpZt1gAwN92aYCdBMLR+GDztXObJKbW0bcX2f8M247fTxHYs58dk0Vnks7CazGB1
+kPPU5P56OZL6wPlC7UEpBtu426T5VpAWs+T7aIAS8WhstrPOfcQiNckBviFf4T4DVq1CPTR2rSa
Fa1EuwcEYmPv+1vK69A/CVtRIq/VxvRv3VzxznroYcryrTFjFXCX47ome9RwD4WvBZnl76rOYFMJ
OsfoL1XJeq9iST92+zmOH8xMkblC4tq49nfjWp4qTUH9rsJYh8XEcBls8snjgN4ka/yAovAyE+RT
Jc6b2QwbxaU55CZOP3Q5ZnLCnhSOi3wxiMWazfWlX/vI58/oqCPHJQn8WUY2B0cLz3FdVgQ6cHoS
H33FutMc49zX5d7qeU6RVE6AbDvPjVhdfrSat8/r6dIZc1Djr+zh47HVBOEMn/sVNf9edPMj48i3
SY1HO49D2GrgJQEFk49C23Pra6ea2q5nLA8WyFtqJLz2vT7+jLFDdoq2z7hPUt2JHFbOwPCYFelb
FO1XzeEKFjy9w7Ke0oLqPccDNwjjwdJVJP7nOBHZZ/ch6rIgTbt92w9wq4bdqM9wi4DZseGDcXtw
zToU2P+s/Pb88Nq5mNEz//pA8CbDPfbGGpLUdCdqKjZlTk+KIdLgNttEYyanM/mZnTksGMIzmvrV
F/8xI7EocBQ4dWq4367m8/bKqHG4opDYtiaiM4sSEpIzTG87XiLCTRHXoP2YBnnIpyL0u+Kg6xXu
Trlr5+qDrXIBCz1N+G20bdexirlpDs0K5ADMntCdZpIA4y1rYzsacd2nMiHyv4aaFnMbCPpSU2Sn
3JsAEiW7WM2Qz30NUVEbFXNzqhPOcm99sVG+qoGCuAVfAOeO9Ze68Y59poG63p3QFx3yhXhXrHyx
n9KQgLuv1wPKoZG2Dg6vsJ4g6YXgqu5BRRXE9K+7skveWr68sCJIvhmvleUS02eXDbQN+WQNr7mi
y+uxxBsCZyBvJ0dG2zw5Q/4hF4EWEGq9U+3nMoGZQWU1NpR1GEIRQFaIzspwZqkUG8W5YxvWDBzJ
VD98PST3Rzs29wuqyT7loTCqwEMFgYAV0zYS8JVTPs6AnfEkNC0FBg2O06XHKh42Mm7Cqma3jbsB
Mh2SyCboai4ios2QXTOcb6K08/YmA1biGiOp5igf3I2ZWztQGaHpVHeUmUdcvnRaFMWDFiTkZnkm
1vVO4BXCaeligswq5mE2kFEWBIgNZB04BYasoT36oFHrW8+WgkIujX5vU/V2Y/kHRwNKnbW+GxPr
NrVcFJ3hyli2cVE9e6TLojT2BkK5K05MgXeoGnMmeyYuPyLiL6bvobNtma7Up56GsK+LwNCmLSfD
4aY8X/ouNNHm+VPx2ozyOM5SD9DL3q9pDNPNLh9rB5kiKgo6Q5xr0q7ee8NGFYKBJrbQxEpDv7SK
YbnHC4Udwx8ZWM9Skt0g2+kOW1Y0STa/K58ig1GsSWEczwHRY1srdjej8FATwGUsBBYy4L8T0nCX
kXzeWMxM8KPyeS5InLJJThuEXnw4N5T7GkcN8VzFOpWB0BzmGrIMBc7kptO5djENpV6IYitI5lu/
3gZWVZ11D5exwclS9xViJRPAt/ixsJYES24HqY0AQPdQTnOV6pABC4FZv+9/awrxhterrRMfaHOa
RRfFqx5ZjPcaw7oYjP5bIOqbRJEamnTmqbLXZ0tae9TdO+AzT+R5XtkKQwXHkTyL3ahFs18zE5XT
PoVPnQxih1EqxEcWxb686gOlKntID2cgIRxXt9Q+mgmNqMfmz9BXGg5sGCJlc+yHoHgDmxouHbVH
36J9m6rDQMUODxMWpTNDJYBg33dYnU1358//bG4vBW21xxzZo9GFHq7KcBCYHfi/BkivbKAUtpMV
7bv9vRDSheD+i+8eByzeYRv18eAO7wVKR6uQ9xMDumGG3rpUeLuSU9a1O3z8rHiGQMz5vW3XB2PE
DlernSnkI95v5qFsZ1ncH3RhHgzb/2tFBvc3x3yTVk812aK3Fbul+8xkeChmfziMrMvL2H6ojSHE
Ps+r7EuApagNLQ4kx31fNAbxQ+/eUXt8TEgJQYwqhjyIsvLbD6xMFkv+W97E53XEmTYNqCrT5Nmv
5stQjDgHEf87DfSGceEtslS9Y8TMWiPDJgjANpOsGLgcbIyJCK9vCxUtyhQOx3mq4ckuH6YEje0p
RD2OS3wezm0zyIqREnrQjyBPWAXEDUkMDnrujg1rlA4zTDGEazFNqumv+5t0c3H7C8DqHeFFJ3dc
xj0rth9vtrZOJs8zU8bSNqMmEW96orZj3Nl301QzPvQIsah9ehovdNkpxwL2kSIR0229MLm1juVC
L48nVaedEF1/1xYxHbhxtprsr7a8X99bLx0Jnw1UPNvuqQur49SRduFZwWymRwdm0k0NQ80bLh6C
tNsQiJmSYBBjmB0zk3ndWE4CtJQBfK1xY3sMchlQJrfLUMNtk9Gu2t2C+AjkdpunlHJg+aQgKaNs
kwhRw3Y24X83gCdZ229VweK1x0xezV19sFM7MElTaGeHottmvEJcwmoxEx/Uzi0qNJYjknNZ2WU0
kgDzqC148yVuuru6EaSJwhuhTdKvPg9oU5QdDFzvtiZS5tXw6sbbwjoddmWWYudUhfcte++f3un+
ne607CAMIsheV4s1lumc+1663UuN7uONrJxiNy3cBpMzIo0WqIUsUk33sQuPZ9PW+ZcEknpfC2Rg
5BeQNruL06Q62yNRgDgZNLod531UdnuCnvO95v24w2KYYRivBG64LodtmMb3pCdj7UzWdOYJSk0E
eQzyTJIqdO+1aTrz3VgS78G0lzIPxrkzdzYz7UDzoK4aFROHXMXyqEzn2PikYdgdZurVnIz/CZl7
fC7lpSUHZNevNh43bJd7NrFD1OYumqUe0d4ssBQPWCIRD+FhwpzWX0rzl6x4VLYSTo7lueYX2FFU
WwpNfNIM7PpkEh/7jKa+zMcZG6pvsnrCRP2IMi09yA6PATOSrGUa28rnMR+7a9k7iPmR1873mc/8
mHh9IlxM7DpXSQyHR3xJMj1MTeZ+i9IhpWQZGXt64GpzBUXZcOwYJFOvocWelidW/9skgbnpLi4R
Dz3MpgH8CFMpNZXfnrGu21Hy6ekF8R24k77GWZsStFE9wx1F2AA2ylDCIGKtOC89x+eSXt11qP/y
daDHzeqKLtQ2hY8Q2yVoBL+wuTzniCWiadSfynn6afROHivHuJROQTBH6lIPyion6P523w4eJmOH
cJUHP2vcnWMM2CO7yXhn/ew/o1CeX0l5IbccXgQPxaJOXd+pbQLh6aT7YnwZepNVsF+uB/pIfD3I
sq58V+yHihSCqNbN9kdHMLlr11ntK1anxCKKjGdFxqx3usSiRJ8s7ccVVXEwcky4Y0Zfga3g/699
RR4Fx1ouW0zLrc6/10zfuU4Wij+TUmwt1lPmtSbZLShIqF2aXDsiVtEZTvcMrJ2k5JAyGAozDyxe
8dDexJ9r5WyRzGVnZDFmCMdoPDYV4SmsRYf5oMwS2YcYxxc1K5wZvscMUPfrF8iGlKdK44zOsbbo
m0LaeOckpneUjL2NJMQZdvVtzdNMvvvPz7oiuhnAyAJQLY7EnOxT0VOWFY0zM8hIqKiz1AsI3J8Y
2HL8VKRWPfFPcDyZbMBrvRzvTMJ0OEDn2y5aJLjsGCzsepX9Ej6dIW+eGAtVuY9ZoWX/lbYl/7U2
wCSLmldjWL1H/ivk1KJcuHJ7kh6WFNWtxzhUynG514C9ZQzQj2M2AXrrbulR5G1Ll8rC9Zt9U+ff
Vrw+l/mMj+WiMvHgpYTAYckkjsOfF5R+SGv2SVdzlJvNk6SOAt2UcpSWnj3dO7FTXfPZ8riQyMWn
I7XjA9jUW6aE4bxo88hUE5jp1ol5p/PYxxvSi+U/ks5sN3IcC6JfJIAUqe01dzvTa3mtF8Hlcmnf
RYnS18/JnpdBo9HoqbYl6jJuxInHMahoMWumENMuEsPOurQWR1xhDfPvR7HIhqClO93Mr9AD0unA
H72/yYa14/VHf2UiNM2uogqNitoy+aui5DfzyXonbd18lAhDenlNyhbBO96kQDVieAYky5MtkVMO
uCqO//VUmz4LE8Y/4+LLhKV4nN0EcfgQ8w38Nc+6P2sHW2Hl0KgG4C3iPLmeF+Uq99bLtkN8XBQj
rQ5JoJb9MN14mDg3JqGyfMfUk3tbkc6RhLdsfLMf+hKOAWHX9qQIFG1h4SKxLsnChiTvRE8CF6k1
ty5eR4Qr+geT9MCvNblxKC+nOIsPs8olD+DqSO88g3PA9sRN4VL2H1X/cSA/spvjOr3rNF5il/ls
DWMWtBPgZeD6YlOMDkOz360fzsq6W8+O4pnwfi+Wp2V0s/0EQglnLJcWYM0xUr6DhjZbBj1o3KyL
m2Hb9To+Dk6vEX7y7mCWAXBIF8aMG7OsGLvxXI2ZJLlSlYx15CcY0Mn2QRYX8KrS2CeHi9uHt14U
B/yxvD+mIknEnnvTuxkfIpp1cUVTHG0SwR2mYkJOnOBrJfWwK4WhS7ygZ4EJjjG1iDRq4RgP2zZb
4BMJ4hVxRPgWn123HdI+wbjgPyWkRpJt2uKXMP1IVKSo84a6qTjud9Pa3rXz+CPA8k7PPhMZFoQ4
f+xnVd4MvWZJRFJJo6Kn9xjcNPcJx53/VXzGIX0p9w+Vjn+RsKJ9O1dcrZj0i20Us/WLkul2Cv7Q
WIa3oOrcFsyB6+CsBUHM17x6rzvPfSLfYD5IHIntDCkB14H7exybXO2zcpYMfSPAsQSW2Q0Lg/Em
XHHbaOCsj93V9Ji7CFQB95p9MBbVoUz4AhPMIqCsh+ixK10MjIM8l4UdHkgJtFgrsw7BxnfI2LTl
R7iWMHnC9otbq8GTlBQtrz1TSQA3RG+jcuA0DvO0uINTwPwhSiwOnl4e2tX/F5vsOtd69htv7992
wfxku+Ah8h17F6cxgV4ZcUsKRDeNezh2OgHH4A88G9d+pyhH1LfWv27LI0ecVJPLL3zoVEL6CeDo
JaoeyVB6l8rAa9jM0Zyy/3St91bhgd178iqAUYLs3LkpvsdwpnkbkhDrYdIS21yAK7g0vp9HT1kS
savWNEAuiY/A77Aj8eGxJDb67EbsmrApMGF72UOCqt0ZuU3cj3jkGoHIEjcpqwEbuT80gz6DAnvu
tEEcbKdHNTuXui+6tzj2ciwPHYKAmdSLwnHNBmSY/lbuINgZ69d5pPu6Dqo32gXSO50m5tXj/sEd
3iLUKsLp9FQ/LS2FQbX3UobkpzSZST7fnKKbtevex9z691XO5Kd9B4xRBlGn0M382Slcqd/EcV5W
IoLVg2jLty65xsSWgHVWPTsywPdO0RGIpGrbmZXFQMiXIkSZ2FTT+K+sKyAdeY0YhT3I91hBdwCo
eFfyxEzbVjkwGASPaXyUGQ26FNVqDP20D23mkfj0xDy67TqnPvqZ+e1BKznCz4jOy5hcqxQizAs6
B9jWpwiHC7ejLZQukGmDck9GNdj3sylq5M7mlZLsWLUEmZ8P/2gYr/ZlMcFoWDFcl2vwnaHEHeom
+2zbmkTJwsWnLZ11k8Nm2Zol6BAPVnYdIcSLfb2k1XdbieoLPtrVxF2gSu51z8YsSAJs+L5uOa/d
he2jMkH7LN1ccqsXabcCV8tfkDO4cfL1wo4w0LibNenUnZw58paD6QtN/Wlo5Q0NkTNvfyxxGfZL
DEgnwSD+xt3Dv+nbFrDEKPEM2sbWe+lP6RE/rYDhSGHvo0xm813yahd7J3Te58X/UxVseoHG1Qdo
2qCigsn7mVRpmm3tzg/zNExvnoxwPfsD/qgsvVIEIKxyPRxeWN++CDKSlE45AYEkdzx0JWt8Ru6U
kIN4UylVJCeMI5oC1PBnCvk4cNEJ9lPFzfnQAWO6Ud5KArgMl+phWNDeuiAa+Ic8bk6KvTjdhPld
WgxPa0+8jxnOZSArOv1UgQhk3boI9qTMTJuiNgAACGSwfuJ3QlVltcuGMUA/6V4Xfw6fHOpHDlM6
VefYN+6egaZD5wQdH3pA8jeBTqNDF0f9T3GFsmE7YVCcAufRwJP6CxjLXkatp7Nyh/7GmgA1OA7r
P75e9c6pxMgVRJgLb1ezLTWPGTis+eTjR7qbIr+7ycIsvCl7SmdDnRNcnccGtUxq9hu2fuhnTpVq
QldDoVRXrZi4UQ+JBBXPwdd5PTPAO00f8Gv8bREY776p3e6zEMNw2/VR8TTYPL5z1ZS/i4DuXnd2
zHYusuUwLQXrJlBWtwFrDOZBo1PSJ/1yqz3xvWJOc6C+bUQDOL3KI+dmImp+0olr9h6i2DYPVHtC
GcGn4ApO8pA/Wpwq93auM//LiE5uFy+bdy6Yg51w8tfi/44unIGEFsjtUXZh9jZzkNYiGR/kJH9W
M374C4F7kYvld4hic1aW5DYL+OYWuH3xaxVY6URp7QUHtz9uSaKwbh6ql9XLRk4TpEnt4B5z/PxP
q3sGI2atzRCN+l8weryOTM9b+tCXZwJc7tayn9oQMpMbdvhIq9VtFi1XYpDTbm1Bc3KOt5Jzf53T
/WA4cmnm6GmqJTc0JK08hDaSOyHYqJphaWEjIF152Fkqb9zz4gP5iNvg3AfS/Te7hJsHa7gOjZmz
HjLG7r8FDKbHJRIY1dKOqR9qz8VY+VgK/QOkbNj06chiitE2Yl4ofBBrV5aNDRLN9qFzfrVB4e0K
35KOiVVNy9Ts+uGXb9r0jRkj+iBc+DuDh4+/elbze1/p/NgQoCHlR4wY/adr3tNuHFjQFcV2gEN6
MJP0/2X+s26KU+x781NXAoo8VAlLwTZK+Eq4S3/bKScHCiAcApfM2JDUyg89d0AiGrISyIpL9k47
z8K1gyAk7daGRvsV9eZKSz37To2GkuJqYsrmio1Ocls79SdgvWJHXfBLOTjvMqJLBRP1dIFP1b/i
eR7uWUAroocJipUs4nNElI/AYJd8I9lQaC+IpIRt3H93CwwRl0LqjeGy+Nk0q0CwmtFV1t678Hi1
IC3UT9n13pZZrTqllV7ds+cmzfjXBo6f7Zs8HC4mSCTqupudewxbt1BA5mM1+TMeprx+qUZCpEFJ
LW+fL+hLYnEnZlxiS/E24mqtTjXcXALeVYF7A1VlKg99xfm697QN75MhnxGipTp3msjjUsXLacUB
/0uzIcVoP5QH+o0oaSFmcJHFyhIz95udGzmSfoMIymmZpftybZ3dGgRzgJ4kMLn3S6s2QehDZSqE
h712Cd/HDOW9cFVS7Gq1vqlVsTCCGaWQR+MEn+eC/aiN2+I0SvlVpHyYlnZh0zB0y8qiM2/7j7XI
DPZ5t8EqUNmU5s/WgGwKpHoMZT8hsrv6PqU/+SkWwJfshCXGGnZvALzWfZUO/TGfk+v/Q/QajOX4
x5Xoa8NADMDFY7ZjQVBtR6OjfbUW5V/6hftL0eYxvLi4nP3toNj79YEvH1bdhoS5e+/Qjnm4L7mu
3VZtOrLpYwE1+DWTQSq9expyoqdOeGYX+SOUewd9bsact2RAT+1arq9QdpvT2szyUSrH30ZhPj6S
za4PrbtW22WQlBly+dy2vo7/lBPTBroks8KqxJHsK2aNgSM+yzNoWzX+uBhy4bEMGwnbHCWdzDj+
LGrTKOnxGNiG+WvOh/YhryvvG3AAsDYP6b4C6rjyR2azt9rOOaZDkG59xoUduf1p51tZ3a3tglFB
FTxO8Aup755AyhRg6g/1IjPC60m8GwM/eVU52zc+Go56E71TEVwfnUsYMvnPfBqOSHTN0Q6iOmS2
lo+8BddtEypmlaKAAjqjf2CqIkhB5rfp4nDjkDQ7It+Weymy9N0Gi7ithOlfKsMTgsOiwk7pUyvu
OOxESy0c3JppC/AUunEI1gSqLAuwou5/yzTr/s5LZX+hvRvq7OlD65Kqva8n+y18P7lniqh4rnAw
R33XEYpa61Pkt/Pj2tb+mSQwgDxWjjt/9EDLqKQmLUggbgo51tue/UYzdXReJ+ziogyNKxtpvy6b
gTROB/AXC9864z+GjQx3mPbnetksoBwOycDLJpHod7IXjJRFcn2AOciWBe1iJFSzfhSJ0a9DyqBG
5VOwrafRh+4YRofS09VJIFRt8mx5Z+xE/+YiDIvDF+gUdKLsAu22r9YWfJkYU1j+QH4hQG+PGkji
vxTbGHGWOT6JiuSoV+G5m+B6IPpzn5EZmHztFzNid5Qd2ISpo5lTBkx+lQ/Xc2sTkLHc1Hxu9zX1
CASPG9BUpv+9CJy4mRffxz4x9nip810PWAqnSvovY1Td+NJ+LBNm4r6P1Smdy1empHEbCudXqRjY
NtWsu3fjl1h85Cwvpuh/NM0aMBKI198FLgHZcHGqe1cR+hxpuHwIINN/dG2JKq0VprhWstpKs59q
DVkIUw331vIF2bnUXtyIRTs3Say5OrNt3fdCA8oLguoWPh+mkXRN3Ot3jQ+WZ0Pxh6sr6pFycKbY
Ubl7h+djm/oMbJ2W/jFsuADPSk5vSV7H9+Fg+kuT1dOeCxEuvrnKfrHIIDne4wbOgBSnm5UU1Gbt
sz9RlTXnqenLMzYM/uigk7jyJ9iiGzPKS1m0yCrhCDlKJeAKGQl0+QvimDqZtZZPbH7wcw817rOJ
YAIOnevvIZE508c6egPyaqd+e7Oo73nmQC2k6Q/sDIxqmQLnEyusEFlDPV2WjWo3KKRSRA7geiNB
Gq913E2oayZz2NFxWKm9JYB9nDo6o5KuZ68aNIjpbt2xGbrWg5lBwWF03fMqcNSoFK8xfk2sX2ND
xAI70sYCzzq66/hcIp+ghlS/rNGPpUnavWiS+QjUU3wFVwM5eK/o+vYwN2qvx5DriTt/cv7Icu4P
2aBtB9S17fd5LqdbsCMz5Pv8i4B1vK0qgXPXDUntJp04RFG3nNNVIytMsIpgy02HzriC2xYo3MCk
X1BtqkOCnQK4WWEvTd1wsRgjDEwOo/8u1S1zvMA5EfludczWIdgnS9mPB2xoLKPXyG6V73BpdPFr
hb1ldWnHc0QidrmESw3IK9ZRej36i8cUjf9P4q2vCFTEvQYmp3PbNC7FeOUItpx1KWZ+iIDDyQVi
9iOHMX3K/DB8jFOcwz0FSg+0oF2RVGTo+R4VOap4vjQNNnU8uqSNSNGkVyP5iLfjL1ti7z6ubfog
QxKANfoxEBMQXG5b/oiUjSpiNRE+9tisxBNCldWq3zrK3E4pxJIjQVhS/X4i4I1QvDq3oE/9ZOUO
xWR+dFzSP4NEqsUr6++0Sr5m7ugnPbXzUwoeaZf35CAc02XbmVN5W9jIP081LVCBrd8TSkQPSUSs
t1iamWRQGu5HuaiXvqGzfJwZrqQzlgd3ma/WS36tlW4+8yTEBBw6PM8Tr5SSw19usyxRV5cMTb4S
J4VQ8sudxoh3W1xDCPjueT/gFM3DRGaDscfTiMVlDNy0GtUIysMbohsPDR2XaBXAckrYg7woMvHT
fliz5YMcx7CNBmLNcBSnTexfKeVyYdbrQzwUqmXImcuC2XGc89tI2WWra/Or7hCcTMnEGswOm184
USc3mMLLrMkAbHTTsXvrmoGHJk9cy0K7F/5yrjIXROxk85e4rf5yAEMvr/3rGqjJn80S219eZRpO
pZy4ZhjgCPdT92MBuHbRdikY7PH2REzrMCbT7LXucvj7K96NOLDpIRWI99qPBZ6OVTVHvAdM9mH0
kwTV18jtkh+KzI4rhQjn1naUFM4Bc17bA5JNod7x6cswA6AxitcEEAVWNSy9AlA2Uuma7JT1ZbjJ
2Snskm7N0JAdNSKgdpXcCsWPbFwD9xdBTvmsqhyjh+Lfk2e/0QoibtHVtCvnmIkAvBDu1SY+rUQI
8PjimLMtip0Ts9/IJ1a4IubALjPnVJk+/V06PlsC1LGT69j+NiqDZoe/At90DcTxtqzkyGfVGS2/
GkZagIXFhZpOHCnT4B34IdFz6EU/dKdi/O6S6Fyqnjs27wzE8Hblyp05iLZR2fPZj2GBJzHBVJTr
aTmXUwc6P2uSo+TidViWCbnSJlcGiKXcKfbzDhZ3Muy1GppjHuber1n55a8lS4ApBG1+ZVSojTcQ
rExmNjuGCSVwudmnvfs50YT3sICPBZstSRjHmu+W0odZ38Tuz4xKvROT8aHt+Yn8ldh0eJNhgQOT
AA9a+TAiGQ38Vw0Olgcxmv62107+okNmZHdUPgqJMfu+xk7mqLz8iZ28eGrGBFQn3++vMCOgWkxc
DaGD2y3KOLEsPbjgcxdY1iG2vnry1RHtn8G4hxoJ1Mey68vtE6hoeev43vgVd553RYrZ/nGSsECc
sBi2smz/Ii2on8lIjnO2bXvfzbkzh4AaVqfArkFWgOSL9jdxx+VYmrT68stC7c1sx4/acKkAQMKM
PYffErIjtZixOjBC4GgJvR5ZfrDmKe2C7NwYVFKJNc2q6RphUXPKqSOLz5AFPhd2vAnj0jmPXRpW
D2Xod08uAhYK6lUBlppEj7/iurSLjxm+yChbgJRP7GMO6kOouPyxajMUVczBLhXueh95jBKkA9F3
EvAmjea0Mh1sBgBXxkXdy+0PbvL6FDpjcCA8vBwBD/anqaM7QODG+irdeV4xWuvh1HBi7PQ6cJ5q
W1yWGc/HIiRVuzkc+rijVass0S4Vbo47bstQ6mcSNxCpOP0a+cPow5DmldfPcN/fDg4DxUp53B5M
JP2YEgrFc14n3O2CNn2UxMph8INpuzEqD48mmCvi6n53jLt1BLcRLF89LRAHMvGcF3AAOf6JrrId
GN/KdAGdpSsf9f+aJWE8OEnWSi92xCouZrHe2W6k/pO+0yOQVxDAgs/vLF3n3g31dODq5Z7mfkz/
tPE6nDxpqu3a2D+TR63e2FTZvxrOHv5GOxxkPreHmXrZg4fCBb8qUQe5Ys6tNANuBfj/oOnewIWK
By1t5KCP5YK8mGfu0ULg3iyKNPaUeCAW8njcr2oI8JNSjtGMk//RtzPS3PWwXcjw3UzKiW9Di+a9
yWz/u3B0+FsvPZvDxm+bG1i//c53PX4fkAKS5LMyV3hy59d71g7xKcjJ2MTUoexr+pKhQQTOqUiT
fJ8lxuFwTeq9WrAhd274b9QOAKgr+gt1B1xPWkAtkTlf9rVDI4SuwV8iLbDZHJznRDT6fG33fXa7
Kt1DXC82BE3wJRhP3sQF+7rZd8MnNjk06IT+J5OFe4H775x9UIIMKTCltgqQ8o5g8A/buKtdyg+C
bSYCWEtDQ0tHURiYj0WU35Qebu0SZpofnTFaEmwr8/IjqB3Qi03cUuZF0iYF8nJ2irZ99wyYGZ+A
2d7wOD0oRqDbnMz/tvdxoJR5ntwFbKAuM48+H6lxxueA+78u1l01NaACU+8P+yD1SMj8G3Mfehz1
xcdp9sddlyj/GHH9u6VtQp5DdxkOfH/bY7ly+OV9HZHvrGZMyjo7ZMUQfbJ9sxvukWLTVdh8I5+C
inrJh23WI5nwAG6hlaGXVHgnW/ggG1Yu+R/EVhhImP7vGBGLLbdxUma0WW9t0+CxdCaE/LDW10ku
eAEEQBICThCoOYiHhFjSawh9SY+pP9PVmNfNNvedbz7ymQYnxsE056s+5HGQXHC14vtb0UY5jTHS
ykYfXFG9I3gl+w4hcbtMrsPA6WRnlLt0vzgBA1PVin9rGr32RFxe/dLhlYoBTD8Fxoo7ssT9ISoz
ZiqibQTnFa27QIo3a4B/j3KxcNevmGjSynqnxMVKkgBO6CF5BOxb7xW4hHeZwInmVjKdXcHTsTZr
u0vzFYpXSjqwFskz3JHTSiseCa2O/RwdoMxgS4n4RV7RderyWFQkqRkNyAQMjtgPJfTfNBDzthG1
uEHgBUJRZu1ZBJxD2+jaq6PmJXhwBA6gEUUI8BeBnaIJjrMd5D1gy3CTVOlP1ZZwf9jbXeBtr9tM
ohNEftacIlYYJ/y1AA0kc82hciEE2Kx+G2r245y86Y2Cnxjg7F+YnluIlhsbjsFuppNmr+oue9f1
QvMHqiFGTTT829Dx1Du+Ju8wXMeLaZra4+iiPiOJ6fNKfvyUA+I6VBbzbJZNcDZmHMNWV81bkQX1
s+MRtOXuvGDUQv0uyvYlWqx74LiAAcfm5TQWIngqU6c5YN8I3nByAvAoQzZROBJYdTaSvCoLGlsa
KPJglw+igOCxsexJd+F1K+SvkVqBuBZ4lmvZYe0YIkTncOQjgYP02lconFddVEAqyrR/dSoLGosd
4T2AaH7WY1s9gW8HxqHBRw5rO+xib24BgAv096IvL3HZri8Nk9iFvunHGUjFLq/ND6cLd+UoMQyG
YOFjmkwAiTDueth7Nj4TIw0ZyMyw1xAnaMoYy+mmhRB4iSvkm75DnOSHidPYKol9eBRHkNofacj3
YVObFNAxxq+4nFqxC7ziH8DP5pK1oWEeKvrjMODaBcchn2wyf5Em+T2AtbiZ13R5GxHLd+xjp8OS
AK7L6jFiNEj9OzZqzXGIJ+4oxKMhKdCPk9B69J8Ti1g0QLYI8WILSybaFAVLxar1m60a/A7GMN+i
ntr2b2qzq0sXZuwOJwZbIdb0jstdxzUFs9tzGxbVMZwivYsXdKJZwvhoJ5X/wt43b2fON6ZmXD5T
E1qwnOiZQ51hAW/i4GLdloBscVm7p0GAOYHYLz691nh/MvfKzgrIAvlwVrY5qNM7Gc/B1jfFcqjX
2D+EIurf83lAUwi4IlPEDA/eS+0Fh7n85hQgZDoIy46wtp9A0/Ud4EY+qG4yEM1h/VzWUXXBL1ox
XTVMIF3rfHMUM3WBHiGVIaIjndzBmQVfsXetgpbUJ/CiYhSVvIizg+yyidrFK+iymHBAY3aDZq2Q
tKbWvGXYud4Fgxu+W8KlwYRqtYliyofy1qSv7IJjRvOyeJ5pEXmKQNDjrF/GD2zd7gHcGhcTX2Oz
4X/ytzlQ+uThiLjpDKLltkCxwfpelvhfs7LvLl1Rd+gmXXXDkbW+uqp1bl329seyM5wzTCzSMD5h
hOGKmAcE7WLxBZvmHU/Ak4HdDsIfkamMXtv5tQkQ9yRKzkNng/CcYDDfmhHzHFvXlEelab5zact9
kRQNVcjBNTFOsd9ztDbixq0M3QkItkflFtmLe42AiUCmF0Sz4qdSLKEFprF70WAu7aWx+2i05ZkL
R/O42kofHNrNDgBZ6CPwi7fMUV2zHU55Q5ELnLgIrTZEYqcFZeclkJNPVbhXGBz1TVrdkVcFRGJi
ViPt6JLpyBEjQgg/VyTK+JZNV6xGCNq0nyvcJHg7WQVg3bMqW6Hq982ekyTbjzX2SXIa3oFngS5I
WjUPda96vPVNvH7HTal5BK6GjjrrbpMhybG2OpDZBX8PMrJ+8tZVsZS1zS7SY3QMFb8uv4dAIGJQ
XnB93tCYxRctRt7Jz5vn2K79wdFS/eeXI5xNnfhG2ohSo8J+hnPY3pFrSr/5xNk7rCAYdYCBVmiV
RKgMzQA7WmyqR4Th5X1qOAvYvjanuQxeu872mz7gXzLJ+Fut0u1ouOGOB28a84Be3hfu4htP2ezJ
YS9zXJULtqAceVp40c654ccADp6GFYInhtdDAzG8VqogRbXnBP/8JvOZs6Ix3RuIxDVZWYb29Po3
IOxE6bwdg8epSLvXRoPfgcWbJufIFvoW816785eFtadQy12XVyEf8DG8lzVaGX195TExEQ/MFES4
gNi7swukZ2OJ+kuH8vzIUiMDB1v/IaeS7GFFJ49+2smTneDF5WwPsRK51W2YJORtK7c5TgqaXGz6
5MF2/jdE+vpWNhNhXjWHgPXjdbNwdbunTopjGf845wU3dmmb+Nn3sUQmQYuyUgNzLFhjooX0bI+4
9zzagDxBJtEf1Ax0aMzb8L6fBj6fkb7OaeQ8cisKlEN+a4sgsFQUVCfwsDt7GiGzUxbipuL65l4R
z/XJ8DqCt+WwmseITtKM5AmsjOHZW0KapvhY3jkJXUt4Fx2iN1AyubhmfEnD9k9ynaDrrpt+Qncy
35VvkkNJvRcwOegrqRNPRwTM+peYloT2Fz2y4II1m+dYcwIlFiRrUIMx5pLzGJCxpjCUHgkXmIBe
+I90+/E8BGQDvEgvb0PQuQiMsb7FhkMW3JefIfyIPEdyAnA4euDa6BGHohkdPawS9yC7MkJYeDjo
spt3lHYZXBctclqJd9ghPS1jAmVh2VKkUMcWzhPUnjEqBTWIUt+2OPAPvpqim65a26MjMc+Y1elP
vHhM1QNi+5gH2S5xq/BcYoDdMd5xGo3mo8VFeBowzDx34TrwbNGNCDUhP6BHzzcwPnldg4G5fRHh
ayzFc1B68y5vFn1ZA+/DnTwI8iVf1bFmSYHBMnw2BOguxVjh3R55PjoPN3bpmPTEdiUH0kAzxhJR
f913LXy3quMlQTVl5nIUyFr2Tne0W6W7uVCkbWBsc7chgT0sw8J5PzRnGZEMUIZ8KCBNA+6hrk8w
tAROb5OzFvW6LwZXphzMp/BfitJwBGox3sDU4sGFB+RgVeIOW/3RumenOlXToY369p7nSt1QyLYC
jloDgoPpQBdfU/9lBCIRG4ztZ1BMJIUnxwQbyQ0Vh6JLtKTH+oGuxy09UJKzEouRLXryRwVBGQe/
+bPi5eIIlHrnr6RUJt0Tq8ri4b3v++FJDHQ4Jl1YHJPFUk6eam+HIfeLzT9rQTibl4bvzt4fE0Dr
7QBtgUT2Fj9PcCpzwAHKRBz2i/vb2KC7DKzuCRWxAhokTuUSB/dmopxoN8v5i340cSRdHx7CSpsf
ion8WxnlbI8i8R1Mqjr0oFafozn6SoMQM1uPgsAC7S9+Xrlne8NFNSupwHZguoXtjBdEGyqzJh/t
TzRHT0OOkuS+AdN48SFYSABqmrp2OnHIyUe0bzXWbXjjW1WdjKOSR9cbq2fNvRGT+GgR7pGob3mo
vruRPUVbNVwgwpQPUTyJ/ewKHKSDFJsgcOqdJbS70UsNj5DxbWtXQpg4AZu9SfjyjTEbJ9r4UuJw
mT1aJ3UJ/SDIoOYsI9VYQA8jLxhvc2oudvwquIqnYtmHZf3PpS5xB9Op/DMuCN1eYJyvjkIvxAY1
kjjUzx2D5T0LNphTIra/mfY+cZf5iK5EYGg2tbveIBzNE16FPG/+8h/HK91YYh3XjpEmZxsVtulw
a0utN0Pf9U8px84pbYFi4vNjQ8Fe1a2JrGPBoUWFRYZL/K3w8nuP4uedrAjM6owbVGBpStm48RLf
uBSaMGAFCy5ivmliBTVjaPrAJIWTaQj69TaKJvjGaVi8jzHKdeiydBgKPg2emGlhBZi4LbMcZzMy
MATdfsCXM3/SLYm0XJQBMBEBup/UiLXNiTWNsy0K4o6TVMse63RIfITghJjpF1prkpIRDU+7cRrV
0S0G0uj9QiECu8YzWZOHvCjCV2xA+baru+CItwWUExSPLXJ/SkzA8OnHV09ARuAvDpzh4o1+x9IB
gw1rAs39wixtsg+n4F8SmSlhQ2rt9brvgK0iHUVixts186IRf2OcyWBwYczl/mJufXzpCQOgZ8ae
PquEU27rh8yTrEflO3aj9+5CTSS6lKK0ZwAHjm0h8iZWrR7MReeq+GXRUHzOZgQJ6jvwzQEW4lVL
vNuhTVBUMGz89Wdr/iU+lEIN29cp258QYfaI94aq6yVcrn+66t8gK72bFMv81OXtBgoBOfDKKRUc
wNssBNpdpTB+xEsHKHPT9Gwow1LPu84XxbHHhnujGapoQ2Rq2wx8bsm4BcWpp9oJhClAsywko2Ii
FyBw4fcXlljrm08Xwi/+WcoKxtTZVyZz9tqkC7E9DEg4EMVfx+C8RJDr/ha+yrglFHQI2I4fjbqy
DvREat9XId95zTaQ7HzxPtBLm/NZT65u4YHwyg0304lsQT7cFAa9B5R8uHfZ3wELUQFkkNy7dWWR
0QVqD6ojg9yyKoVXP02O+8Y+m0ykdlEo/cC/1TGTJZ8LAk2Mh/u2Wvo76OHevl+rDjIE9QBBn5Fn
48yrrAIJ5PEvifuho+LzCv5ArcaDlmVb3RuYNb6HjzPxnGMop+yIlYaNAhl3Nj9q+hy0Ni8ufC5o
qshMT53CYdZQNrRd2xjksuJZ7LMFu0DWv4VsxQ9B/BARYmDGu1aSiBWLa+dgp4GDzO6Owpd9QiwM
1+d1bVob/TthVvjoarZj61SKy5zW3mNaocw6eO2fRduSTrNRRLQeSytmyB5x3mPByxKczBWG78CT
8uzPRCWBlH+u5mqXdOHQiowYORdJsx/H7FPzWdyUE2IFGrs+8vCjzOlZQ6DBsJbBAT8CssMtIWCx
XXmsjsMMkouIvaskb8QsF915VJDgjbH9G7dgeZzIhJOCDuP4tpOS9yanbS6WuT25fMBwwjr2PkDm
Fqf/kXYeTZJjx5b+K2NvPTCDuhCLtwmVorIEIisrs2sDKwmtNX79fGjOIyMQmMBENckmF2mEx1V+
/bofP6cvwCAjMRaZuZP1tO+6YKrwRyTLVJXsjhXHsD7kFsuWINwT2AICfJEmr+DJv5i1gctpE2SM
AySEDRuwACS9IJ94/VawxxrRbkwGqMQQIN7YBR2xg483l3r4yWp+6DYsJHEcAUgBygvKV6Rh1Dsr
j7vnyBcGtwrbrlIpqFJJG6kpQyFjBar+TlVBs3N3K6BWtIbSKiktfSJDCKo0uxtrzfqRhTXSmnD2
bjwX5NR1efRF/XXNsnQaTXWTf/3X/8p/fDsGhLn//V/K/wb7hlxyAE8xrGjwExqvt35eaKpmq0Kj
CiRUWTn/fMOB5cU9ZA7tz5+9Md9myvD1uolLRXRMCJtYXVMNocsz1XXybGYTFm3mKOPTYH2hN86I
6E2m5fFGO0yRbNm6bqnkq8FqnQ8ll2OVelQmweT1LRp2SIRTgoqGd//MinpuRS/EGE3tW05nW8+c
zOzZ8EnygqOTngjltcN1c0vLz8JDVKxatqbr2rm5SOatrwVm4XDxcIUP7oqO/Nr3p7+fbC+YAhKl
kO3CKb5SqUHQ55/9fHH++Zw0JX3Y/Hx92JvxXeburn9fmcafQa6ZpQ8///u/LFUWLPfJ/Eyb7+T3
001s0mHmFrDrfrK+2IrjtTCYgSGkZXULiRm0GBW43ddROl63vDZxs3NZg7LkJtELRxJwwO7yZmVk
a9+3zgeW50nnG7JgYcBa0lju/8OFn53KATITSR5ZmXSk9/tIG8w/mh8hn/9+0yYgymq+71FtVnR6
de+uG5i2zuXKm4h0QZyhkNo8N1BRes4bQyocy3ougB1C91X9uG5iWsMrJpTZGMi0I0CVeZAx6f0e
DMamaQiprFcJwGPKC+a6tZUBKTP/ZQFNAoTPUaQ5Bjh8Vz2U+sqmWjOhns9ZpsW2NkynHUBFSls4
oLtxxcTyvv33svx9YE8OJIRZngJQsHBATWbthqLE9Vla+/7095Pvu7CWp0CbCqcjsKVj/fn659dm
aPr7yecViSdTNLLkEBoFDVVJYHL/cAQzl4VUYWwEsVU4JVEl3mllAab/+8WmtXRh2gR4ltBnn8+5
7Cl3VqXTJ2gAEJmH4bbl7eIOzvWpWlyJE0MzD2hVUgKGrywdm7Id6vZwOF03sLgWFrrk4PZ1Hhuz
uy8xKdYqVQiD+MRvTH+wUXxMzPf/zMhsP1kufWcGouGOEUDHOwo6mE1qgOnjdTOLrsTWLQvIuqoZ
Yna4m2Rs0V7U8FZ3QBZBnH/SBig0P123srj2toUFBQ4QWZktiWgryUK/iOsW9j73nYbw5c54u25j
adk1VdVM3ebFLeyZDXTT6trV2tKRYPezDjmtjv/MwOzmMyi1lqOBAbvaNsXXoChXDCzNki4ruqxq
qsIQ5iOgZsUMjrmTfKuQEOzvyBTn2dP1USxtXl2xhKUq9NhY82ly49qFh7bOHaN5kuK3vvxQKyuh
6DQR85Ouq0Kn7VqzFEOb+SrLji2vTSJQGD2iEXbxJMnWBwGZdeR5j7RvjGht9enK5C0t/6nRmXsh
M90WJPJy8mE/Nqr9/fqsLS7NyZBmSzNQV+uSNs4dkuqG9+AGZOd2dfPxD6zohA26jIaQbs4cS+pZ
IZGpVzhkq4KPlv9Dj95GdeUmWZwog8KQjfi4ZlizE6/KZNdzAOqOET3Sp2+sLP7i/jr5vHp+UY1W
1dIhJbP4FOBD1eGygqTp+jwtbjDDMKZdTG5An4VYY5Jnoar3ueNRXqQaR3oEpsWpaB2RyLsX2h9N
2b/tzWNGoKdGPETYiwlLkvF5AGpxfUR/h2wXZ8Zm1U1Dn3zk7MyYdQLpdeNmTmkCM7nzgQNbBxjc
KFvTzJl8hyfpusXFdToxODsvgZ8lRlJiEEJMJD18CJay++smFg+NTW3UFtwv2vzhK0SJMneKCZQx
lR4a2OJnIcyN+XDdzOJuODEz23EcezGaCWbgYEAH7g6q/0KFIiLctVTKPAxftzed9flSCVmRdSFY
J1Od7b4CPgbaOv3cqdJPkQvIYB+ZTwUM+e3K/C2d1BND2izMp2xHT46FIet3kD1p+ofr41jaAUIm
LaEIsq+yPc3rSUgpgy9TUBzk8xoCcWCYkQi6cQSKAiudpunCZr7Y2bOp6lz4FklFqw5Jaf+1jVb2
8HyD/evzBrkViLyNi7BCLcH60hMJl8PguV9MMqr7kqZIil/02Gxt0Yk/GY8ua3DdCEunbex8yrqR
xDoIatUZ9ScT8fNwZWvNl+TvAen4gCknpZpi2hEnSwKOJU/rRFadGJW8wqfr4pcSGitGFmeNQ6kb
hLAszeyWKanVoJdmMGt/4xgN+Cblgx591KqVUGPJkK2oujXtLpkG7vPRVK1hwyzG6tNeCyugiF5g
zZgab+gc0SKlXvGh83M5Td6pudni0OpshEkzmRN/+dZLnIDjPaTti2a/3XZw/mXI1gSZyelSmN2g
ildqkUZDqtM2b2b31R1hKlk5m8tT9x8TM59WqFTeoFtVHBP2HTgOxge9eqAp4vpApuN36snmA5nt
BCWt4D3KmLHApgnzACcvDZPmHfp62m93LSW2aIxNbescH6HO3wB5LgH1lzisFNYHOD5i8RzKlbkT
bqI8QMoBGLIoOppsIjNEyMTtzT/wFrZq8DjQZNr15oe3sKwIhrhEdRSveV+U0fe+oiLW16AbWndt
My6d5FNj0wKfnGSv0E0BYhvPh275zzS8h838+uJNp+di8WgnR9rMtOCdmG13mMfGDMEz1WnFMQig
un24/v3lEfzn+7MRxBEq0TD2q44sgG6qP0sUeezP/8zGLKxOhnCs7BYboHl6aFDGV3Y+xIJZ+/rP
DM3uurbxmlAxOE/0r9wZSLICbt8F0soOW1uS2XVX+H3Y5zpW8O/BpgTI76bWnzhV5PJMXeG/Lh+J
7aDlLa95NtbOew+TRPm+X8vxLi79iY3ZbJlumUuSLXBwxle/P9S0cre//2BBhKzyDJ3+PY8NYzv1
IiVjqtQY5t6/0DZFKGytiLA4jhMjMy8KrDCmq8llHOKjXE4kX3udrvXrI1lc9BMjMyca0l2IygBG
VOmTGT6q0s3fh5RAx2VqOj0+F2GaW8lt2HdCcyD83ZTfOkgNbh2AJvOIEvqUFlA0exrgiasaZbUC
ra9oTv9uzI1NWod/MALNMgxBp4ZFymF2LFxl6CmVCpCWoby3+mjrjzc+nBXSJYZpmeQV6cQi6X4+
hKLnEVj3su5o+eA9eZ3yQoXG33dxdrTLYCUIvIwzNAaiEgKaXKBkZM6N0XUX0fqf6E5R78bor3LE
kWxl7yutA7cvDCcZG9SvdaCy54aqcvCBDNa6477vjUckYf7k87xibJkYnUfA+ef7GqYsQdOHI0fv
Wshfq+c/+L4FA6tqw7xx8aQt09YVUmDoTjUgbkqDwkqe9/J0My+Qf5ItmV7M+iwM8824t5CFEk4B
yDu+D1BCv/2OxYRmkGGwpjfS/P0istrOC9XWHYVWis95YHdfpd7XVzbURbGQ7Ut0rApOCP9tidkB
sVPFsup6UBypB6jQlKDLtW99DzjO/VIIHS295K4MHqv+4wBsYsx/xmuZp0snppGoI+ckeHXIaAGe
7wVgcTmIe0l2Dq4u32X0pl3fC5fx7Nn35xkUWnW8RlZ9xRmUYSKe2Pe81WEr37vuSv5paSTwoFGZ
JjVPemi2q0U+QusMNaujV8P+Q1P0++sjWfi+qjBL5DYFgBMxu1NQ+A0z2to1R7L+ap2muP3QqAqH
ni1tkZydJxcaU05g0NY0h2x83n3Rb4+4yC3/5/vznELlxalplJbmdP7vIXsKwT/b/cpiL00RF4rK
ZSVILszTmCVIe18oHfS9nMnga0Xv7PU1uDz55EYV3nqANzj4c3CIXKPLU+dh60hor9H6SJrM2103
cTkGTBicfUWAlLXmrxXPn/p7dL9z4vDFRY64qlcCoMsTgQFmyDQ1W+AjZ84d2jJfh3SpdbQ4O3BJ
bSeNVOkQWyvnYc3O9PeT2x04YK1EMOo4HmE8+HNNQy9I3CewMl6fscVFsQgiNG2qic3TCjWg87jP
6I/R0S4ta/lHCxRZM/wf/8zMtHAn41GjPhoEtBtOWusHrYwewHh/t7T423UzS9Om27KNJrGwZBIl
52aUlLf/mDeNE4aOCV1QRlk9BI1XQe963dIUTJ+/43gKEhwRzuOuLgoyoh5roza12hHGHfC61r43
PGjdos+d920I364bW1okAesfl74gSW/Mdl2FPIewTKkGvXHv0+AX3WvVSiy2aII+SRsab5lLZeaA
DcNU46aI6HkPkVCXjxDLbax8/wfjMA0gNhSxZFmeeeGqCbKI1GZNx+VWB8eN9qa1si5L4zCm5CXJ
Pq74OY5D9qXWl3T2M82RNYDhVP6ohytztbTLIFHHJRtCsy/yo2FJv6UGjRneOHo0c/2DncHv1aIh
L6yVaO8yaiWCNAX/nvIFF7nSAHQjqZm4d+A43ZjIHwd7Yas7rfscgnG8fXVObU1b/uSMuqVddwad
vI7evVjWlzLzNkXw+bqN5ambNhmJX0C8s51Myzvs3QVT5/Vf6artw8dJlEpeGcmalenvJyMRipfC
Z4QVWGzvFOhxfYiXTPWDXK1UyCe3NfcCFvtsKl8Tt8xrv53X2H6pVb1j09o/qSzHw8qtvLSfTy3M
FkX0yARAk9Y7pfajzx7d8KEQ1cp0LUSyuonzF4Jzw7E0ZvMFm3FpxUOKkf6VftdEfRwjxIDoSRq8
cNMkb6jegqFD4uqxVJ/oQlgZ5N9gpPk82mJ6LMkqcfu8umlRL6HvRO2cysjfWlN7DFPlOcqLj6Ol
oQZGX2KhvRNThhEasAN0Gn9d35b/jx9AZ4IM2xVsZLOLIxcyonQqO8Yqj6n6W2nbXZkcCulBbl6t
cN/kcAE+6drNWSHmnWro/1id+cN0qIcqMbA6wCBQEBgh6hHA9LTiRJaOw6mZmW8vwrgRIQyyTmG9
GelfyJ+is96Zh+tzuHQWTq1Mfz85dPQTC3pdsGKbdBGiEOqvIH+XfKFt4HMNm4LrRSq6TMbMC2G2
cKpyagfpK1Q44jvJtvaBTBOW6b1eH9DSFW/zuJvuEZN4YuarkPcFTO6OneNCW6AWD0pC4ysSPh1E
QhFNJdn+ur3FCbQnvwg8l9LLbDfYCZQpGt2eTv4Wui+6sRKCTY/BizN28vnZLojpbrNoXO0dOYc4
EuQ7BEUIMFFS2tRQsNiwAUkraKjLjSeEycvUUDjal68uOhsC0rde5ujZiz31XU6UJRodo19unbkp
HUJdlzyVTqFvtvWgRU6bFh5sByj/pLLHP9cNXG49Pk4tTAWpRNPL3D+NvoqK4Tikjn+wlb3xG9kp
9FTjFTd46esnK6R2SHPxn/lzXtJifwyQknAiWkI2GuSl8cqCXG6xMwvzB30WtTGdBVhQ0NnxCI1X
5mnx+yC5SIdQprTmC+FXWtXk9sg8hUeanDznD5aBe1ZXyK9Ryp956TER0BtrHZ+nHS2hGy1q/5Ik
Gul3GW+k67aWFkMD+6bSLGGa5FjP3VlPZ7cm/Ch1pO7Z5DWR7i1z5d69dDCC4NHgscqQaIueTuyJ
xyxbYUZ+22WOHEQ7pXmsxjdhQiUTNfsArTM5W/HQS7v4xN48ixAaSP/0cZU5hdpuFFhcMhE864mt
bGQYWLwUVd/b55D2bZJxkxdQ5ymFGjkBkepy6oQyHMt9SJiEPnVsr4xraddNGTCN8opF2XrmOOHi
t+gzMzn+6NE8DDRq/sEweE8QhVMJledvCgkmdivppNSxVGsDb9cvhJzSTe/CS3Ld0EIgRjaRvgxF
Mbh5mLXzHaEh9eCPfphxxcWbOn+QioeUDiHZ6PeadG8YDxN/OHQsdockZf8xTleuoKUdcmp/Hm3q
QYMUNPaNKP9W6grsHWG9Afpw8Mr0k57aKzjWpUNGZRm5KaryimJNF8jJCYBMGerqwascH0I/syTI
Gu6L8A+2x6mR2aRCZQZhVY8R+OEltG2O1xdtYfexJxQTd4S/IK99PoZqgHDDhfzUEZB77fU1P7T4
eT6uTkkt+aKcgDJjObowCTkyDrtqX7OV0Hfx+xYQtglPJHhqnP/8UgKyHELE7bj5l+RODl+uz87C
CpMW5frXtGljzVMXrquYXpOEuWNDAmbIJdLGH2GDuG5kaQxcCAYPmOmSluehTZdXBckyhMm8bzUN
g3V/+7053Tj/NjBbYxmqx5boKXdU47XQf9vK8/UBTPv8PDabqlL/+f40iyfnIISHrIMgAaBq4m5a
AcUcSNV3cv523czC8TYVE5QSMHjyr/NkXwYYNqtHQfefjBR8X9Lrrqa+Q3nx1W2tN8mrV87G4upb
wImRbMClzW84w9KzuLaUzBGTnjeMJOmmgPAHydtbYd7KlLHm6Yo4kqEqwOPOZ3DIcsTverWYkKvD
Z/Qmr8/c0g7TNbaWbBkkXOZ5X5s+9cQyOCUeGNzHHmLwY9b40f6fWZm5w9QfYOmFIdLJZOkx6vT3
ebOGD1kYiMVOE7gTyzQoiZ7PEwSuit96au3IX3uYAtKbEyLUDk4+P1uGscDB+PDQOjD7+p9G+e7m
CYKvS+GuAAl3WfQ2dI20TsHnva9685cmrbWxLexX7nBCMRoSQNrNnSF961IBDWXjyGiHytTsad02
1/BbS0ugso0mIBqgKmNW9jYDWWqLLmkc2IK30d4NqpUofMGbUL8ll09mYcpNzxYhy4LEb4RbOwNE
9Plj0L+D2K2+tfuLVWYdpmyuouDejVn0atdV4YUSczWgTOKlvyr1F83Nt5+7UyPWzLO3AFoyo2Wu
KvFWbJt05fJbWG/gXjy56fSdzvXMr/da5pcNwuKO5N7BjFCOKw+Wte9Pfz/x60ouW0km+H5eP0r2
506jyX/FxS74dB71hkI+msTdxTKo8FsovRXVTsUKlwpq4+pblR779Og1rzefPqCavIdIMQsikZnv
kKuJTCzNS+dNsZ341gYwrj9q6TzrbAtcwEUKroEIA1U9WXfKg1bdu/VKqHl56kg3060GBISHG2Xm
2VKMqsj9tNfw4N6mLGn/2t86OxjgaoAxQvDKmldQGlkye2pNAEy8X4+t//P2r9sIfP7dh8cazE4b
TNG1ooStcIb3iMu4+UoAsjA7E05JAPrg49Y8TIP5wewKIMaOHauoQI5fFFO/uWpCjwSvXY1IkCTv
vDaLOEkV6KkCahDxRrEt0Qco70WzEqldnjjefySQqcFjgyfU+TKjl1LDLNQpDprs+9jYh6Z8oIft
Zg+LFS5QpkrGB+qzc13oRW+5UqECYoHvw3yQhn0+OLK+kvG8dOSY4c2pTlQNRLYz75d5BkRs3qg6
mZLey4KX4OjFH8ixottkBbfvX9IRZCOIc+A0UWa3hmV5fiy5leSghAahhfvl+gZeWBi6++D751Wr
Tbjy84VBid4qlCK3HIhNXya5I+j+NrYivVw3s7CRz8yoMzMonAyJWVgOXHQbZdy0/cqaLBiYOr3I
AVKquGyOaAzI4mKFg6iXP9TParTy+6dZPn8JcEIA9dHopXKxzgNNV4NPMUXb2kmQmqwP+ZucweJ5
kJEQ6H/fPFWsNyhkaA8oZ87PvGJVVRAVGkisPSouYXd/++fpF8bn6n9n7Gdhzig0f2xl5ERT2JGo
n6xlS5cW4vT7sw1loRM1wAZpOspzCS2ZRePa9QEsnD7CGpJXYMhAxcwbIhGHsVP69RUnRV6jQ7sn
QlO7yJOtFN8+VYC3iGllg7YLYJ3nmzaMpARqtkJ2qsew/eQOK2WmhZk6+/xsplq1CAMpqmQn2ph0
3JUrznDt87Mjl2tBKSfoNDmB2EFxG1QrWJgFzwFZCaABEz9IyXjm0ouwEWPohaOTNMfG+KRHX/vw
dufE1U1Wmch/SvJPP+EkThukvIWUuwRyHFob+Ba3JuKC/coyLI6DNwXRJtRFPIfPjfi6HI1GHCr0
7kG71Dt9hfhZ+/n6pl00QvMe9x9gEYoi50ZypKUhY3ZlJ08+juKX2yIbvgY7XLZhgzgE0jZB9s5t
NGFFilAACzTURy9CEX38COHR7advylMQUlEK4WDMBtInhYsueig7cvo7U59c/8GVQFy9XJ+uhb17
ZmXyAScLLw+mXmaFLzua+JXJNAYern9/wZ3bYGos4mXskOQ//z7cgIDD41QGRH3Uwy9S9WAnD9qA
Dhn6Bela/9HSaHQCH6COPCsvyuhI1tlmhHCMAyX13uzs16FZ28QLlXLjX71A8EdRKZ8XqdyW8m6R
lLKjysP3slNhs4Mwf3Tz+5giti+Ke6vX90Zm7FW600pus5WNsbD7aGIA3wdsnHhyXosrOij4Jd0e
nVJ6EcN7zX+ACPz6qi3NI9UE0v00ik1rd75qdeDmUuqpo2OE5pPW1h9cu329bmLhcgHwQMZqqldc
wqzRHDC8Mp5MFN9VKLxzO910g6BEenvYzUAoJpIcIfKee52aVRB50eH8ZQgg89REOGBAzDfQgm2e
97c7UuCvVLCB4FGhnzeIWEHKKwMCQdoegq2AZCMOnt3A312fvGn+Z0HSmZXZjWMhWS1KVchOIon3
SdZsoL3D2jcpqO8MecVFXO63v0NvUJ80KpKmnTbLiYuoy9JDQcsfnUkYtC6VraIne1V6uz6kRSsq
gNIp2FcvMOuub1DEglrVgZoXhmp//DR2qQGzp7dyC130rBPcy4R8/2PpogaMzlpOtx6WFBUx2WfX
fLWT3yL4XFUQpDf08/n/H2mKy/1Om4cGCBqXrugXbQUN0uM6+iyD08UbuNQQ7UXXdVyrPy/N4tS7
MLla3hjzR76rGj29bz2nKijBYsE6WX6ywx/Xl+rSOzCUEyMz7yCaAmqBZBgdqZEfx7J7Elq1ssEX
xzFdriR0AKvPnWzQhc1oVGJwTPsuGT9Kw8emvbt5FNQCZLpvBIBp6vXn23qM6LKqwio7frRKpOdV
seKmF2bJ5GFBVgq8N450Nkt2JYE3tv3sKCCvtxTkhG4OOykqKyBJuV8njOQsnFJLESa8gtNjE++G
9OC/3D4/J5+fZ2mhxcSbmnzeV1+88WD4n//g+zQ326SKuAXmUGV0gAIltJTkONYdwl3KJlsJm5cW
AIDy3/1bpNPM+fx4SVzCgJIco03lvmXZze9gAB469wq5RxJ286L4iNKUafVycVQn6q9qI6dr/YyX
sRMWTPLxpIx4a89v4VTvUV7JlOIomq0PQa39DgpTOXlKQ2CwK7fk5WRhC9zfVNpRLtketTbooCmv
S3DPT/nwrhjXWIKWDADpojwFForesFkgqELGVvmjKI4+SntweEB5sTKEy0uRvgQ6S+lxAT1G8uv8
QDc1StVyMhbHXWV/QLaxQd8PAo+bjzVWONFQcGqkDuYIhUQ2g8rr7PyoJzKs1faWS+PWg3FuYdoW
J/dtDwexFvZYgGh92wXyrluDm17eRVigXKiAIiSGVKe1OrGAFDc6IracH4voMcmApN1XzSPqUTeP
g7ICKcKJFEij1+3cijeAZR055seqzg9IG6bQl99uga4gfCzQFBZ+5mJNP/QRzLGKo4ZaY/apujkK
tlRN4KQVulgpk8w+L7nZqMRBkByRPO3DbXq7g+L71CBNNhQpx8unal2bduzGR/TwkHbRUFm8vz5B
CwutCgrPMpC6aSVmh04RwWgMtREfG/2AgDfS7Xa0i4uVi2jByoRdEROnLv9jT5f5yXZyDSWOra5F
n2kDjfCvyP6x5jwWLcBjRXoCygC84bkFNDyyQs57VkJ7zK1vfvCZHn9aDlema8HhTvmPCYMIvS5Z
znMzEVnoXtRceZKInsJO7KRO3xW1fehlmrA3RfV2fXkWfOKZvdnExX7htmWIvdYf9gYiGfJaI8D0
hfOHAgg+DjqZNbKQdJ2ej6iVw7GPeqSz3OJgQf6vW5tCv7t9FFMjrqkA5puc77kNL1P8NHWV7NgM
X1X117jW6L00BpA5Nu4K+XVyLuffV2LTbGJLTY/ms4amZfkuiJ3rI1i0gCsk00lIA9/xuYU47Ma+
0gtCHXp/LGjMbYRFxnCtlru0iyeP+3/NaLOJKiK6qUqBmSxBMuqTFD7TALRGybW0p6jdU12njk/i
eWZEl63cSuooPRb2r+S5WevEWvw85THeaJx57sHzqSrj1gTjILOhbCKSblIhjFfuv4UHGggE+u3Z
utOzfZ75ktUClZJQSY+oY2yU5l5Y7s7Lf4VhuE8k1Cip/nQ5UtR9vuLIlvbB1COLD1jiSbJiH22G
USA5Nv7S7Bel+KIOv69vtYUgBX9PMAdsAJTjvHtd94MGVUWiXgOlYSXTvpoeekgi/WkV6sZGwPC6
uaURTecSYj4FPMfcceo1D5wKhvljSzerliNUWyh7zf4TK7SDTekiUsjzpEcW+m08FFgp2icLVdB+
p671Ry+dHZNoW0CtTgfgPLjrvVgKzYI7pknegezYBwVc992HqlsDpywsEHki3ugK+8+mS/d8g3eq
noJ2HPxjnfRvbarsCAVRspA2Rt3u+858vb5AS+ZoPZqaA6ZX+5wT2S5qbaiiND7aiSOz38KXXNU2
A//I7ufrphaOLhhkQWaUZ+PkHM5HFvUJAXIrCAbMV2PTqrdfZrSKwAFGNw9RwHwTuMPoljXLcow/
B0hCrBFgL+RdyRSyucDtWVMT+7TVT6IMLxtZmZKwODS+o4+X9OGdVSfbqD3U8p2HXk0V7rP0g6uu
RfwLW+/M8PT3E8OlYVZoU7r5sZe69zV6UmavPWWJ+wBFy8pB+vuunN3X2IKEe2rgJrTVzm3J6NhA
wURkrsEzhuabpb7X2/dhjiKuvTesb4b9WQsQkzTqbbN2xBaiH1KxMnsDvy7jnc5t09HpKaWBclWu
/6zLd7b2RBvG3kSKsrj3unFtqAvbkXhh8hg8zQXdg+fmysLuc6/veOaMnyhCbHOIMOUh33pRso3F
L8O714s9chYbFXqvvPhka/vM/uv6kfgbczGbb7K1OPwpmT6Ri57/iCAvzEhXu/LYjtJHxWXXUqHa
uX5wUD3ts4ZOYlNpb5TG6D9F4kqT961UHWDI/5QMdULaNd0pAcx9pZZ9u/7TLhwDT+Sp43laDbqS
1dlqeAmSPSgoFs9d/9HQ7M2gHBAP0v072bs5U4UB7iTolDm/5KtmjkHr864pyyZ/1pJke5d70cpS
Lw2FN85UxiKviws6n2RjkAbVt2q+r2wyFSmntNxVP6rim599vz5pF3tqmiqZ95oxXeMM6txSHIW1
1iM8/mxsR6Ss1+QXLk4IzzWdfNUEAoO+cZ7DEKk6KGNptM9C+x2lzyhgyeVdJx1dpFVSfeVmWBgL
BJGCdkzoIiaG1fOxqI3UlZqRlc9peS/Jj8qnm6cKOBUyJZO2ByDG2f6qkshtdQRsn0vtt4de70qc
s/TrKR2BqaJOhdLGzGlOuXsrMtTymWbtH/VawLH29dnc5A2Cg2aglc9F8m1raCuZvYugiXzC6W+f
xbh6WHstMhnl89dwOEpfu+bL7VNP/giHo8P4clHZlaouRpbKKJ7j9C9k/raNoh+uW7jcqFMbM68A
Eqskiee+NYNOBjkmFte33/c9YbPx1Ok/NfPdMN5LaE9dtzat5ZkTJUriUgYPxiuTNMns0pIQLOss
tJyekdjYKEm9TdKDMF/ctW7Ky1XHDtA5gBA6aZN57AzWxc5arymflWCfBfvu1nzxNIyTz0/mT+75
XpbjKo35fFOhi/wS30zANX0fTbiJfdPmXMw3rW6Hvocw6LOMol+feR+LAs0zJdnKCO1FmvX5+qpc
7mJAO0QQpKcxStbkfDixXdWmN/bdM7jGjdL98swvRrfC97mwIhMpJqE/lMyw4c2G1I1eRFgZ9s+d
2e1EVu7U1+uDWDRAMM6U8f2L/gkPVVjfCJqOjbyp/Pe+dPv3KQtDRjk9WyDLmA2AqSsGS47Ec32o
7By83M0YKpWWHxA1nHZDhu9ytgpjEsWDavri2Y6+ivA5SA6afFjraVhYas4eB503OR1S88gNqPtA
fBPoz9VR0/pdXSUIyK1c4gsrcWZjlldoa7Nmt2EjCNRd0H0p0GK7vtYLTmtqyaA6MFWzLp54Omrs
tLRiAcnuRPvAxXKI01/y8CDp+0hegzgszBmvLRqa6CybeOqmv5+cdhmVemApmvpsjfJ9JO9gKJNq
7+76kAjWFuZtwp5N7RQQ1l0wRhZlM7qda2jPVV/rz6knx/d9oIceSDT1SHNh9tENEYlUXVO7K9UB
PtSORq6NPSZ9srV7eVC3oW0Ud71I4qeirr9XlvldjsCx5SK2672SeOa3EVXmF/ScadowfcpeW11z
3QfEEX8YOi0uYIm0B/S7zWBj2324C0sp33dNKt3ZpdEf/b7pj9JgG990Ho/FpolN6VAruUIHiPc7
L/xDY4aQVQXAGYoC/Tay/eW29UySZHavPARu+D2UIh8ZO6Pc2HoUHzTFL35FvdI89dABvkutmsRj
qQZf/ZSGg40/DCp7tMYXxp5+GBFTHLeFL76WSS0oDZnBW1nUyOzSO/+sWN2XuKuy3WiO0Wtim9mu
CZT2wPC1Q56k/RbZ6fE+iJFnt5AD3OeuxDVXRy8Qh3hP1SDJe62Rvo+DbpWbth5Vf2N6VvIbtUx/
0xhtsNej3PiQD8oLGnrRSwnp772Sl+rWEo2JInM8GsrOp6FH2yMOoBSvDZI5bx1VrGpvJaF8p+TN
t6hoXxU77dGxHdR3ls2kb1JbRhKwzvu/wjwzWZxMjDRgJsnLkE9q9apkuw+DplXbRA31T2bQ6dnG
KtMk3qWpZjl6o3ZUBfwEhcEEZEKklN4nU8uGH4Hc/srRgjsUefU1HcmFbXxN8pSNjvC8hiqh9aXL
4y99Zb2q4zj4G1q2ZKc2o3wDAg9aa2nwdvKYWvkmaT34+wy7R86+kaT0p2GBw4k95KDbyk2PAXmZ
e90uP4Mt/yqU3vHS0Fd3XdUj2if/qpWu3LiZ0X+0q7Grd5XViOx9JWXNXVemv+NON90D4H1a+qtW
fDaCtmi2LpK6/k6pNchTvdaqrK3VD8Ez+Ii31KhT7hIJleNB7Y5RGXxVCtNBFzGvNlKYvnVK/qP3
C2lTRL6+de2eTr606bYuyq2bAMX1Q5Ub5YONzKa2D4I83cd56Cc7md6yd/XoB8Um1wr4JTwt38iB
2+4NIwzusnD0Ni0C2DuF5t/fOcIJD1GUvMRD723kLNL3aea9NpWkfTFSNXsYhupnYdRVuzFyL33M
40FCwl58bTxtNHeSqVXWfRKMys9WwEwN+rTf4t/qvQqPb+nIdQR3WgFBU9IhmTnmSOxmQRDsYo8H
KDWbL4kC8P0e/lPPp6U7avSPrgyKYKzKcVOIOkOqV0NKsbWNnRkHv42wSHdmFTb1PrMEOpZ1k8UH
q29HtpJQN2onP4WDJqcbfdCL4qEaEn0DnZuyNcKu2KZeAUtYnEEQr0CvJdMksiWNVO/kIXJUHwKQ
Wu+/Qxlb3Bkx2uSdq4utrRaaeuh8alvbarB+aqNUJU9dVL6P4LN/n3ZpiMJtVr6oSfI0hJKD/BfC
ZWObp8m20uUWpsjgs9vHfylWiOPpAqGPOxF0bzlMTN1jaQXhk2hL3FqTRi36nbn2pepVpo58jP4x
12Q6iiI76l5SOfG6h1pI3n0ncu95gCFBoh0I9fce3YNNJHnanTW63kNRJ2mwDyWzce/YqR+jUr6r
3SDYNGr0Zsr0tHPVljuDH4BGcJ5t/UhqEBnw1OC9avX+p7J3o13Xtm2xH0T3rvtbGzsNcjnfpX1v
/VC5KA+978o/XGTD40MLOnsvux37ny7sj32oqy64HMODsxaFmTJQk2AXZaJ8tUpt+Ewx8Dusz/K7
pG4/pTGLIaG98wYwyepQ265QvY9MBElznV5fH0XtzdjF/TYG+/PkCSs+xEL+P6RdWW+kOrf9RZbA
BgOvQA2ZU0kl6fQL6iHNYMCMBvzr76KPdL6ElArlXPVj1Lg8b++9hvFH3zXRjim3eDLI+KTL7BXk
merCpbV9TXPOrt0aywO7mQTKVpEPRFbnZ8RIQ2RHIxC5y2kL7/DpmoiIlFeMKwXH40L/hFJQRnYM
SWz6u24dF8J5nUVDMYxD2OOw9/PE4iEKhVbY87oGBKmztRHkXMJ7frA8n7n5L1WzIciJwtlaguFx
MVaJWdzAItY1rvsCcJwJNeo2bHJiSUiQ24m3kcXsPw2zaj+lHI7P3QgxuLSC4nq7Z/30KqccHjcF
yM8V1cVVrJvrdkg6v1M5QHhm/tODJQVkeZK7ztE0bFXDNjY8m5+MAQerPSg4RlsVecW98Wey0tQI
Oin70KVTgxFWCPL8sjfgg8riKDV3Dq4/WKTm+Sh201QWWKZJLH1LdywJuj7N/aT0wD+05ZMxwT7V
d1wk01gHs3lgRvaZQwKdg+NqwqQ7jfETDQZXriEf2E4SRjdpQl04prnZDRtF4ed9vqvsCE6wmJdO
4Yfhpu4fAUQ27mkTlwHIudijlqqhn5FBl9mv8658hqBovq0mg27sVERYtFH7yMcRQodRVR8GlL73
DOrf18BIxrscZt++2w1/JgxlgAsXRtEogt1zEPx3c+YwLDw2bGKVRdiPpHutZ7OqlEbDa51Dy8ww
s3ugVaJNSbLuFefh8JqLaQpxVMtL6SbtgwvvcRwSjlUHkTOI245G5gYybn0bQBCx7OQ+TXLJbkhv
Dt8hVUx93TQsAKYSu7Azo9emKX6ZLbe3HCeFb4iUBmqk8EwmvbjgLQbJc/rfFusejMF8ppVVAwtC
3Ee3ymAW0ie8CdIR9W+GYgUyNjzam6xpw6hKZAChSfgXRx69nhIOAxZethc4m0u/zFy5EWnjHHHB
1bcDE/2lLaC0ISj2TE+lkwUF3mG7QVj9LqJiuPJmY2E3GV2KyLXTfumW9Q2Yx9YrU9lLB5vm56HL
pG+Pbn2V42TxaZaBp9UimqqcGvtpRIh37+raqzZEjWx2dS5/t53hhPituOVbOI3CvtT4Heco9oWq
Mo5WN7bjnnAlujtlmcmvliK+Uay5bDx66Kwiva71lBcXVg+PcN+EU0MTaNlcG6nzIPggsMBhx87t
5jV2u/sqq+WeeEUaUJHA/ffKhfM85Kq3WRLtmrZXF4ITKzTJyC+gndbB2BjiEo2hqNqmErJljaln
oBLucTYVbUBLEMd7u7iNNTymIytpNiMxFf5HG3rxj6Z1CviTkWaD9QL9Fzicp1WV+aPn6h3u4D9s
Mn8O1bCFnkIJEDkqAMLbWZkb1pH9O2al4WsRAYsPJp8Pt2pQPbICibo08b1sQCc4rOuRZcMoQ7o0
sEyBI3RI3sCEzLdjJVpURNoXJuo0yCl/1ZOdXorOvhsYhVSUW/0pZOneZrHR/wZVxbhO3ag/avg0
78y8BL+fDNlTCb/cTREZ0z6u+OBtJis3shto+Nc+Kbz4yqg9DalUsJJdZ5BeSJve7nwmCaIyASbA
xoNvuW+4uOnsspffUeVMbd+2iuJbNeEa9I2aJY8WhGSngKQ1+9EPTvMKD/jvUGT9McQ8CgqdtIjo
MliJDMdokuND3XQICBMcPddG26kqzAXPjSDLhrEJXFxWv0dXuzuIUqsfiCaaENkc2y+sFIWUrGvq
TRKTemNH+bTxBM2uwG9v7mgxGPdtx9NtzSsbU8GFCLK4hdd8lU7Rk+gqIPoi2ubOddc7kvqxpbQO
Y4fQLaHGnyjp1F1Oy6eG82KDIxlvCSOt92bJI0ihSOCFFCniH7CF7hC8NrzB6LRespM4qoIBoIDv
FmnkFd4T0PDSJBmH69IqanrMK16We6h5ptWWI+iFiHeUbUVei1CkyREFt99SIPyTdhYwu4dTedTj
oeHpP56nOhzvNk4cB79eYPo3hXDFCwBZ7rWuaLYZM+CgJ+zpx45rhPay7r6n1O6OxCJ3daOAcvKc
Dm+jqQ8Mu8dWyCI8faoyMY+YTbfbmVOWZpEvSxWTKzoVZQJ5fEW8HlErqgldX9eIJXW5jQcD9Jie
8FeFCXqNcs+Ob+wOqWbY1w97Ix2ldVEp8xaVTAVdQsVkUFi9sc8zm/WbxG2Q94knFFAA4LZua566
YCflv2hmI86F9N6t6aUDFC6H5FLFANj4JhJUz6SX8UXKongIKwrNClJy6CSBDCAvvbrAoYNDP3kZ
eez6xMkxDgDmQEqrkmAhmExuQP/5wWHqbACPjtjYGt37qmsrv22SGjBJnQYizo6GOcEJvSkfC6N7
ksjqX1pehdAv1h3ufrcNoqQo7qRRlMGIuuJLyct7XSUI0ozeCXhvYFcnMrkwKQQnU7Nyd5B0oNjM
zA0BTi4vIWdoNA/gtlDftaK6vImHpC5uoVnxAOvz7wbQxf11FHeWe4gMA2JD2uhzP6rzX4XdHw2W
P9G6sbFeLfWSGHb15OatWfmETvqlsvrxVtXNtVvEPMQlKrDqPfe7SvWL5f4sk7LHO4QY+5jb5HtW
ZoYP3RnAvVOnpsk2dYbiIYIqzAuP8estKZ2fSve4Bi12gGizvZmm6llmfRqUGfZF4bZvrXJj7DL5
Yg1jGZgaz8RkrKXvwIV9V/O8DFoGyks/esYRMfFT4lrpC5TLnR/Q8EoutW3WuEZbJ/fzMZK3kaRj
H8gcj9scRIxNjvr9dQ/tJWNr6jh6kG7plSHMCcpqr63+oS25GK5TMatS5hzvvcQDhasfojdTTW+i
669UnUEImhc/Jkc/Sk6hb63sShU3feL+YlFp+UUNOOWmTnpcSoNhwsaYu4DYuE4JnTcXyk8o33YS
Ew7VdXrhddIBecaqL2xp/DRG+6fl9VkgSxyQdmH8pC04iRRHka9TDAaqTwXqwGOCMauj7lkDohJM
s78esEPqT21p4ue2EwdT4+gcqYgkvu5K1V9WjPTMF0N1HemYgLtnA2WSUWWbsH3kL2MFGL2ZTvdj
zp0Qr368Aoc0w8HiHRsjeiFVSnzHzq2dTvMqmDTL93pwk63Moh4/La0PfCgVnvfVTDaIsuY7SOhd
mGpE36WocGAnk7wdXYY+DODeCZ2rIxl0/kPAVOsbuH+l2iNN1NxlQBv7FFePCgbHetRQjnqqoVSw
d4YmzQKaGOIa0mL2UyXiFDucNx0QazAs8hFLstcKcLcLTcehDyMJC/EtHJf5TvX11q5K4wVv5SEs
gIG6VVDL3LSFbIG8Z+aPXHb9tFcxCMt4VwHhF+OkwC3o+V5n1EHrenpXje43DH3kIyoBfcJFEDtp
4yhza9iLFIkBR+3xSNx6aeddGo0zwPggSvvbrhONde3JXm96O6WXaes2AUrNTWgN3TOypmzPCX31
knr0R+k9JQodY8L2eWJfR5nxOEQdgnMR/3La6hWBmbPRCfMuhgZvQw+V+tERw2MVJ123aRojDxpj
aPKAGEYZ1gxumI2Lt043RT8dSFgFNsmh2Wfl+yKne1rzvSRT0QQIn2vf4XpTI7zyeL5nzTeX7Tve
+uZkv9ExbrZtXZlXLEmASkQ29s1GUuRH4nR4mpdG3Ic8n6Vk8/IOz9Bn2sZiAy/sAnFnm20Hz2l9
KHTl19aA7OpUG68TSauronCcIhyi6odXduzSzFW7aRLNbyPLGg5DE0d4bkJlxnCyY9HpX1ks7Z2C
bPXktyzBu9lAmkclFSyj89Yej27uPZXEyBNAqjiycXmqQoF9EYjO9C7qnBRhBpUi6Ue4WH5FuEWe
AMVQ5l5n2a8KIcJVPDLjJo15HY7DqHwDh8yVdit615mFhTxOAcNEZUXQqHXJN48O95bW5q4pLbjC
Zl16PVCI6UagYflpX/5xE/LW2NLyPTd7dATEvSoEzCFozT+jqIS8aAQcUaRT5yK2C84vR4h3PVsa
uTCzJ963sW+4CFXcuG5gx2Z3ZzWZhjyAXSEO8EiCjGrh+L2pKmiFZ9VTWsZoKnFelEdVqHLXfBgG
Vr2lfQ0XkQgnJ7jyWn+rcB3sOobn7nbE8/DQcIo3JedV9atlAnKhbf3QmB2FCC8Ee4MuS4YuMGl5
LAUfL3HLoqA3efl4rfLU2Y6q+jnGAocRV0N/6Ftaf4NqjIbGIdy244Z4t0lZGzhrQOLIQCx0/CYq
RqQPve9IDmRB3BXtiway646PNI4D1400uoVQ5ZLTOjVgHhI52yGahsDoM0jLU/d5apv0zUMm9B5y
Si9AHvG9phMLkBnWODySydroiL+YSOXlGocqh5I7JPUS8atvaIdfn7U50gsqS8O47dl3U0b8eZqQ
REqjAQegF7PvHR6hV0S79e+on2fcsO7xu9twbKKpC2okzkLq9WoDWFB9jDw8cE3lPVCVRIGypONT
JrERy2Lwcyu1ghEHzrazZPwjA+bhAQIG3YPZtnpLdXej+MDugWTLen+g6fy8IMLCSmLjiCMWr+Na
NeauTDVyIUDtAmVQIVF1qRkfd5ZRTPegy7k31gDjrKmwy918UDx0zeDpMDNK1889ovzEgEOOb3aa
4IUhLB7UJhMrZdlTNQcojJhzdQOMjiXYq6osE3HVxB4d9aKdjWJ7OXy9oAX1EkAToGMB4oi1KNMI
x0VkUQiGilxoZvt4jZV8qpwBoMhfGJb5GbNuI5fFkHNijwXZtHZgrgnNnvj+XEIGiAN4frhJLgA5
hTAiT7Se+9jZP3GEYiGer8icmIL3318CInnrDEjA4ft5pZA72lvlRYxM3PlGVjrBFtgKJOknF+kf
F4Xqa1wjZKWqdOrzQFRAQh5wOxDA5r+/K11RZH1gJcIdwIcv3+I1xf3PX4fcHdDcALrAnRTaUB+/
7k4eIyzt2SMwYOTCLfbnx+YzWODj5xdjg+ebRdsEnzeqa8+5UPpimHYO8hHnm1nrxWIfIFOJ8gfp
2GOpf+nxmP78/31+UdalVVvFKBazx6rbI9HNVmb45CChPAkCJEqhYLB9nAMIfpU8rWz8emPrCn+q
fOtNrmmPnhoiAMThROPhifhJwyeqzERUGWrfxYibcZI+rCy/PkqzYsUsfzmrpc3dfLdQ06wtixQS
uI8WcpOptSnkCuXrZBfeNeB8bIBnUmcVdLMee6b8wQ0jYw1AfaoFIOlhPcHA2UVnPrZAasWQa6LW
43MFb0QerZEbTn0fuh6zhdWMdV/imgfPFSmrev444D5ExO4MZGUS5jH4iM4BLACoE+ByAaX/pBrf
CwvlVKtzHtVwq+MQ8gvDrnnwyq/viA/NLEBTpMhE7LlopkIJIYzzFfjBiR1BgU+0QWIBaP6TrUkt
ke5IEukgQLZvxBjaxc5C5bhBEub8mv18QUAzCzBF4KPB2gUR4eOEd9xkqqg8vC0snV5PdvmIWoV9
V/XKWmnpRJfA/gLdCKSTWYdo0VKcoHZNhWs8muYbalrBMEYo56XgOPRfbwl4sxlYPAOnPymPDSkU
KbD4psduongO1EOjrgA4oN/FkCILmbjRl8GFSGhAOALAXiw7CNJ/HETU2Sag34B3SNpNqzbdmq72
X6rMYlEDSEoBfAV3eAbWfGygYQ5eKRJhiOkhSRcTOw+KNHcBGW7aG13oeASzv4IbNYo+cUhGcwAa
wnL8Tpv1lTZdcYESZPpgAmXgx3g/75Bkcm4Ruk7XrJgMsps47+9MVGlv2fgdjmMQ7eJ7YdrdNjfi
YVM2YAmlRuWUfmRn7Z2hnXgz2gb52ebCfMgyhJ7n1+WJ1QLCKYg3cAwHYHopx+7BisHgumGPLs5S
Lz9OlPqj3iGNd76dzxD0mdmKplDxQwyAdfNxaEcBLlafWuwRdWufDfc95BiQ1ZpaJKhQCY/H677f
0eICz0DkmVcOq8/cH2DWsEg5LiYQMExrcaKzOfFUukb0aN61jg113hgD/KuynrxUBqTC2w+pthVF
iM9nMJYq0DkgsKBhuiSYRT2XrjNW0WMSx7uIkO3h/JCe+D5o1eAuzJZckJdbjKgzGUPOoyo91nK4
Lc3ikpkron9rLSwuWll0Xgt5x/TYo9zabQj/MjQS6lDAls0YM0hTuotZETZskXom0mOWIUoIVil+
J38/9N45VhzwckvSmtdXvZFDE+/RpADJFDsI3P6HKXjXwOJAaqPRqqYaDVTGtj0adOWA/fz78WBB
8Qh427+W8YvPG6qLmER27BHMPlFBWPjLcQ6+jxmAZO78dFySAYQZk04OEXksnKvS3A3uyrb7fOkB
kPp3281asJ9iBEo6eECYtji6+qL0jhnfltPlV2fgYxOL+KAca9sAPEYcbRKC3VSsybqcmIK/FFTQ
3BDTftpkMYSLhV3Cf84yLopLGX95B3gmB1QUOFeQqD5dOGpI8qHQJDuWvxIAnNXXFxBo5gA+4oDA
2ecsRkfUBS3qyRNHhuQ49eXL1wf//ecXr2qqGt45Cp8vyiu3v2mclZ8/7/+P1/HMkv/35y+NjC1U
EYWy8H2zDyoHcAXqIz2PmnmQumtagSfWKjInwH8DUwlG8xLXPGacJ7lXlEeHP8le+SMcztbISZ8v
WxBu3rUxL7Z3D5e6aKGrgvDsSDbVkPpqY86Zy82XJ+VDI4trweUluP8RGpEM3mnZlS6/fK+hF5Ch
AlcXlDmEmote1HY0tllZHnGgb7Q1XUZ5v/sPfXjXxOLgG9qIl1GUl8fndroZsy9fazCeggIQBG5s
XD5LeLnIVTPGKPA+FuJnJwNGV2KdE2cGGGiAZ3sYKFDYF9OcS2CDRiQ3H0cjTC+Akvny4Hz4/GKC
BQGZFYh//qjScQsdMCmmlX13sgNQS4USCeIWxPcfZzinKddKDxigBtBHB342w0oL829c7GwgiXCv
wVgK6cTl+zSLWhMJWdd5HJotAG9cbCO1PT9MJzYbfD3wxkba7++u/tgJCSgPlShwPkLXNrCyW0mu
qrgJ8i9bGEAREhlLGHlCuHEmV35sp8IDIYU6pPsYZ9VVdFmsRkknTsEPDSwO8YQmSTOhWP8o/gBU
lHhbOw2cHHTRlU23DJJBuQAYBNJVyA/Nj58lQV6ZVtRWo0OOnYN4jG5kTi9J/+yAvdD3F9qbQuC+
UJRI9udn6i+R4N1qmLkkeEPicQA5LLxalxzcskuZGUcjO04joCVgZgrLj4F/ePL0xHYpPKZRvpDP
aWcPb1FB+7dBcu+qrIboT+Hx4rKMjOcKnhjbgkaeT5imqOYqINMYwdOiq1tIVEx54j4kXQ0bs54m
dxDpHeDyDrX9oLhULADRZKhjwBDGJ+KWgCdU7QZ2894OIIhqZ/YM2DQAEi9aYFXg7iFGINcLT+TX
QJ4mD4NnH8HsNMLzA7NYwv+MC0PCFDRH6Lksdapj6qkicRQ7pvbVt50sr8W38w0sNvo/DVjQGoVh
xYnwI2/bzjOMnh0NFYfA3TeKrnRhrYXFZdHCb5laCboAXwmyi/5DBygkbG1wbUFzRxHk4+ZLSqTR
ZGvi8xbZpVmyX4nP2IkpAG0P3EwLXEnjE/WTDSnyaG7NjrDxgvZnJMRt7JjVk9nJ+N6woXREbA3n
GhllYQTloMAWlX2DgnRs+2pw2q3DevuyooI/FK3sdkgZ0D98GG4iQOb2Bh1cJGdIFtYZqS483Zq7
zCagCTg9wkGzBZLObaut6gCqUmAh7EwrGYMpBTMuQLG/9SvRG79rCBH7fQR6hZ5GdgVk0po86Ylp
xPGAQTCRTsRSWd45GaikCR+tI6N/vB8xez6/DhfXwbwOMYEQFgRpCir2y+ug6iLXK9yIHZFT9C3A
DsbxEgDx8438VVpfHDMzKQcMH8hToVK26EShnW4UXmwdnckJZb6L2m/eTiF7Y30HGA9ocCZD8TYD
33lYTL+5eeDOd4VEOVErIdRSdeCfDkNBCVoQDiLC5cuLem0EGUVpHWkvb5o63wxWcm/Cs1fF8CdK
9C2LgHSC4AGT5oZKubIrT6zqWZDt3+YXuxLIor7PUjSvWkApBYgO96S6ii298gD81E+knmdGJYXs
0SwXtCTC67b37Ai79xa5wjsCsRBe4TAfKrFleZ1thkzc1W76bSQbsxX3hpWudJTOJY33cw551n/0
NpAyRKZyeUCIgeGNjtzaHe1R8pW9ZwaUGEAMyupY1EZ+A98jeZFkwprTefQCa6cDUhM7UCCjbRv7
3s3jIFbeH91l0OEu4gqAwRGqCY0a9oC8r8Vei62ApCYGCo9+5CtA4kXS7OOJ1haizIqxLg+TBcGC
bt/k+xjghPNb4VQjeI5D0Xi+8CEm/7GRvID7GUzDZ0fMt6L6Hg1wvng538T8iXcD/7cf75tY9MMV
wFJ6HE1U6Q/O0ovc27mRF2DkChpv+2QtwX6yPeTyGYgEeJksXV6TQrslJWl5UAQWf9oKLCjokQJ+
w+quSn6R7OJ8/xYn4t/+IbZn4NLD8+mTTuNkTQTshQTWYiA1VW3oTF/0rf2nhb/GHn+FfZaHIonc
gbOkBgg42sbkbXC+ljr59P3FIZBVluhKpLsPlmA+Hd+EXtl8p4bIQr7VRH0I6ZOlgFvfZVT2BoHJ
JwsajNJaMfbUKgasDaR67BYGeZOPqzgVhklKaKYfhBdE6oKQTc3252d5rYllQSCOSsOL4bA5DPXG
7YeD2dd3ae2shN6nmsF7COpQ5qz/sFQcTCueGo7sxQHmKl6+HbpdsVYWWmtiseWT3qOjlwzikCtd
7VzIN+0QykYb0a6GrWtNLbZ+PYO8xhr3N+bt3hmSWz5eaPVwfmYWV9jf1Tu/3hEszHO/VIKoFRCC
jTLEoS03Gdtr7htNEP0838ipFfy+kflp9i5hU6G+5cYeFWDceL/BQpvAlBlW5v5UG8jwAhSBxw9F
HfBjG1BVNsGnyfIDpIJnNO6aIPGJ2cCNAmQN5K3+qvB8/H6D2w68kbQ6kPYbGTuE+Q8daCRfHqgP
jSzOkrFJ3Cw2M9hRdhvghylZubBODNKH7y8GKSHQg3ZtdIKzLLTVg2j4Sg9ODtMsU4RoxIXQ1GKq
06JQRRG78HDU/vQKTqhYWUunGwCqAI855Nu9RRccBupSobQ89Ipf21N16Xbyuo7Kx/MzceIedFBx
+reZeSTfLVmhkOeHegLMjxlgk2qnOUU03ftTfGuZr2nyer65kxPDYKuNkBavpGUysMTVKA0TvRpS
8GAc16ftf+nQuxYW4xZJ26jb1pAHs3T3HpRxTX7XxlUwOveWm/lp8e18j07OE57EMPmwELouoVxt
bIONwyt50DQD30P/mYYatamIrAQQ84JaBEgOQpV/21lcLSlw9pVd9/LgzHyInCqOGHgCZXYEclw5
HXkA2KhYec+e7hysSgHTdWag18fVgaRIrWKO1TEg+1Hv+ugy7lfCirUmFhdNWkuzAo1SHjxg2Pll
fMyq/7RXZ7wdnqQAMi2L1vbIFesaqGdl9kOp3rz6Nq0251fBydl518R8/bzbRlWhgZeoEN5JqQNh
H9IOaFT+OxG/zSz8elNAMkFOB0aJ8I2aB/RdUyWEbq28icpDn3gBlflNVEjQP8zWz7X1YhagJJ5v
8NQMIW6y5mADSsTLxyeb4drWBF9visdlmoC1LEEiFmtmbmvNLO8EHNlm4qBfhP7O5OCz+pdNVzSV
Tk3T+64sDodCy6luLBdtQJG7pVVo5zBCq/3OiDdcP5wftxMhB4zQ/zdui6OVxLqQcY4OeZgbq3m2
JyC+qdxE1coWOnWoWpBNx3mJmuMnU0KDFnCDNWJ5oKV9RVh8DQrAShOnJgcJAIAu8A8KzouBc2I+
ZfHs7S48CSLlnSbP/Rf94+cQDaW0/7WxGK/GHEgE+lB5KMawanyoSJyfj7U+zH9/t3HsiVsgwOH7
ePb5rQbfUymwrVfO6VOzDjkXpPcZnnpAmX5sRTETnA0+FgdzpDti3UF3I2TFL/nFss4/owUtakSA
HJIuy2OghVYAhLBFcYjIQ2pfRGu5mJP94DhhIHf099z82A9WDK2Xgkp1MPSuyyu/T5DvzXe/z8/J
qfADulCAogNmjVTh4oJBdjIeoW4gD0SXQVLte/2d1bDtVKHD4tBq1wLPv7Wo5TWKJQa4qQPh2085
csmcHKIHuTzAJFRfOcjGBhlpWGiMJtllbm3tuVJPKDbJTUXtaRMznm1AmjD8BkR836yRwZkY0vs0
JTJIqScvIyhHheeH5dRShdMCMGvzG++T7KIDrsEwdR6O3PJZ0ApykN9o/x/u9vdtLM5bqJkbxDRI
eTDogdR3IMFA2GJ7vh8np/ddPxabATWgMgblWB4ga3Xp0OHBYXomWl7WWRUi61rDaEmsJEvXxm5x
jBQmVfngYuyab4Vz2xShqv9LCwCI4Y00ozOXhyHShtoxaw8hnyyCWl0k6mc5qf9wWuGk/beRRTfG
wtXONEXyoMoqsEgKtZXGb7Pj+Qk6OViI7oDLRckIEfnHXe6A+g61Co4JAol50DtNncDEk+Z8K6eu
XQRfzEI+HaQKZ3HyZlXN+mFyEOMp6CdBa0XuCq/xp/qY5L/PNzUPy3J/v29qPtbeHfLZLHfNe8R6
4/g8qFu28vlT44WjHXlqlDxnc62Pn3dKO3cEUFbIvOTXsUu35hBfkMT9GnL17+EO+TFIvMyU3E/2
gU5UI8ejNPamBfEB2NDfE9f9eX6kTnQFqTBMBwTUkRD5m4t/N1KNjMuIMEccRPcrzza1uRXOymjN
q2cxGYBuIi4B8QrPo+XzwZMZsR2biAOv/gwRuIpe4BHw5ssLCCSFpndXr3lsnri1PrS4eE0IgTea
wNxg+kdfsJs6TvxC84Ab08qaPjV8cI7nFsx0UcxfHgJJqgojhejPoSOFP2bbBoJOhbsSdp3sjvXX
uhCMdazrj8sNSriJdpoEyZ74m11UO8H3WduFplxzSTnZGyAe/5pzA3g+b6t3i6Fv6hJyLlgMFnkB
ydQ33W9dvRJ8n2wDquWAb6JoDzG6j23E0L6IdYK5gROtJiFL7ozh7fyaPjVe8zscCM6Zy7BMmnBZ
py58tHJkM+wAbuy+YY6hAV2LflrZPfzEQePBDMKFAyIKRQj2PvYG4jJKN32THzwrbe9r3n+vi6iU
gc2yAiitgtxHZXQHsMeWHDJwBEhubyXiEmgKQNcNCPDiG0p9YuN1uvXrKuN4NuryWxFN6X7QVPzJ
kczfepp6N4I37FJBzQHSUVAmsSsb9QNCuz0MV8YDQBil3wzDuBPEykK84dShgZnEjRoIuMUGFJJk
3pErXpkE8hYt834ZVW+NkEJx+5D1PQ21roc/nQVLWlZNw1sDDYynuLCzX7GU3l5CaejSlgUJXbDY
d0DoPGWqVL6MdbxPCdc7CIZbWwgaQHKCJBqPUgXT58gS+1yk5VvPoHRFoAwGNRsgdyBVuUZFOznt
2Iewl/HwBlpOe5tB7A+O49iL9Q5mDbcj8atsd35pnZxvSD8htWTZwAItIlWpc4dBzUgcCkA9bo2y
2Zz//uc+QLcWfYcpw2weteRhcF6T0mqxAyGX8galhE3X5C9DYl4X1Fk5uj53BZgdmNjMBEoDOIjF
IWlL8DtUJdDULupRB1l5AS2x+7i9ZkwQKqEzygJvh8VGl9LUkGJCeaJA0RCCqS2Cl1qjqCPVFtp8
l7Ecr8bG+D5F7nUu9A4s3G9GJlZ+xqkBRW0EzAyADl1v6QRgiBJ+yA6S8aDxHMY02xsK73Bbtnvo
KQbnJ+9znDv3+H9t0Y+HgQ34HrNTJg69brYSenVcXwgN3/DmwW3cm2ztuD45g0jIAAlAATReXqwQ
SncsxO8YYRVtwQG8VpR/eb2jS0heYFWC6/HJGM8Ujde5SADCsBRHRfzWFms+Jyc7MVt5IrWIfizz
SiohZdoNLDvorccvmzWo96n5B1LJxLEAAAeKih/nJCYNlbZCLa5I+rs89zZmBvWIFDoFjeusxGsn
25qhaPPViarMoq0BsvbCg1PyIdPZcAHpuHHbOO0YKgcqZ4lXVyvYlPl7HwMrsBnx7scDBJhaULc+
9k2oKfI8oCEOFt0JF9pcyF5tzy/pU7MD7s2cwcC74JPwO+9r8BodiSbG2NnGDq02PUTWVh6hJ14G
CJ8gpQ0eFQ7XJeAjp0XZQs8JFbPpmKmggxqhyFaOu89tYLAQZ9rIz8IgbKlLLHPTEpB6QCkTIEWj
eLbrn67emigJxXyNmH6yrdmQD2VAnH72IkvfdoC4210ikGou1JEj3RjYeASjxAUp3B3U1ZyfOkrs
laPu5HJ41+ri+PEQeJgRqI+HLhn3cwQRcNabAZxg5cpYnmwJaCi4f8zY1WXWCUpBQrRZLA62fC3H
FkIHD5Sv4K1PtIElDalwC/OFZb5Y3ANkaKYm8dJDiueVVqFX0tBaS9ifWN4fGpn//i7gjWewRJah
keIHnJLDDPmI8/vnZC9QocW02OjNMnQ3JmnkVV9nh2qow64zXqopv6Fxv5KLONUPcGKAhOVINX9C
NAIJ3LcpENiHAoouTyR9PN+Lk5+nOEMBgEfmcon8canqEFTj8xEEl/meQmPqfAOnggW8PudCNkD2
YNotZhuCwK2mxpgeGAR/rwGlegQMv9g2iD+hTIvw3Rnlz4bY9g20SxTUb7vy0pU5v65UZq5BRE52
FwBvgCos1PKWT5SSTJANGq30MFISqlHdJEP0dL7DJ0IFc34AzdRGoMCXO2gaGrOeCBZezp7BIQlz
w/o/0q5rSXIbSH4RI0iC9pVsNz22hztr9MKQ1oDegQbk119y9k7LRvMa0SM9KEIxIVbDFQpVWZn7
iD3UibvRwGdcEckKru1DPMABEQMrOMrVwvxGlZX1hZ3jagqb19xsntw6PrQD/Xp9WCs34Nx4g1gK
BYiVIlHIx66tSHxqwuZAe/WvqAwBUOWnuDO+XTe1OiJ3fnPBgaEKJozIYXFhlrETn+x6Y6sAKDwN
zL9uYnUfLEzMf194h3qO9VW02p/6QSs3M3QL/MSZbO/LrMwDXVhpeENVWttwdOlBJ0/mcPhvo5jX
bPH9vO2bkjn4/gQKJ6LyFxMg5NtNYNUB2wJYREd34LkJZpIenOAh3E+xzZtNIolzVq5TKG0iyQKw
NtCNYk8sJQz+1XCQ/moPunWvO4ELQjl+b5Pbox04OeQmoLQ6664I40DuMml5m0YnKDDtetfdEpLd
1j05v4pgAhk3vB6RAxEvBGC/WzQAxNEp+gQS4hupQC6+Lqx15o6xRWN83W1BT/fAtO31hRahuRcG
5qVabKamYmNmsvnna/WmhGxgyjRfSUa0fUAaKgLfV97xn2PfPlKDv1WVLF25dlEAkQRpV6D3wOIh
Kl3D52ft2NX0RFP92ezB5/hPgXYTPQNlbBtnfkLMfdFCV1ADMR7VglT7wHld/gKROAmN9WFtFPgF
zDJe1DJ862P39kgOCDWUfbBH0BMmwtSoZdTD0Oj0pLoPXHnMm9PoSs7UivuECbQ4a9AXhLsWfFvk
WLWdEYueYnPHcvBTHRVZT+H6WukzOh+AGNAFCFBL8CKnHegz6AmEs8U33e5B1jZq/UFxWuUBsG+6
N0Dy5pV2qPiDi7RUVIOT2x6pcpcSCIxd37urI55VDW1wNczZ7vOtO1Sl3oC7MTq12kuWfzXrn7SU
JGrFZqj5eEAmFClu8GqhD07Eg0EIuEdkXMQn+NsfqCV+j6gBTrufbd3tNCu/74rmDcRtEJ1o0V10
fXwr9wiSw4hZHBeDQ2RxPr7WAR6dpE50cvrY51+mOJJch6sTuDAwxzSLs680I/o20a5yqqYHLYUs
EaqFtzVB/p4/UHUAMQGw20W43KlDqKmsQqA51dsBRHB5/ekDs+SA6QRtd6gRiIGmk3ZFy5Q+PtFk
CKF0BDXlMoP6wH+zIpyuNjEIGs1gJel1zwC0pKt1iYmVCBKt3+hUQDISlWzxPetWTunaTR4jyQ0u
SC8GT2OQgEX7fpqi9DBW2vgMwQ99Q2wuyxyuRHm45MEyj6cf8gJiuR4Epok7GAjWlbo7Wrw9Zs70
SR/6Nzoakg2xuucWpoQ9F3LAUMFEjhDMbkOv76LqSS+nwXfURLa9V88PymwgVoLc5QU2eDJLAkUP
RP12ty+CtJWEYWuThoZPKJOhEwrRiuB+wjilldtN8QnNiVnJnxzyoGWdXzNLEsTIDOnnx5SoE5iG
HRhqsrewM+4V9grEPlopZCiKtQlDD6uOZLVt4d0puPeQJ21SlEp0CrN9ox9GSVJo9fNIniBGAvnK
hWbYSLM0n9AnCdTA0/AW1h+4AAHafW9fBWpKFI9G2ajSkrGKTpAdQRvjRKs3Ts3hwWrQBnLdG6xe
hNA7Bz8QjiryAMJbpRrBrVpxPTqNTGn9sABkj6dp82SHLa88kmheFEd7bkF6I+76jZlA8KRKVesn
GToZwcwcwwpJw7nn+L1oiQQVEU4Uj6xq6CA7cuoyIAZR5mj9iEzVTnMKZ2PbfT7Lr2TQOHHfII7F
JV5r7TzDKkIaQABmVMv55kSbEtiMQ4eeLO7ca1kMcaBwE2X76xO+egRsrOl8DyIBJ8TxUQ6O86kv
opNatt+dpAQDsPszrVFwa5kk87I6IAdoUkNDmyMaVs4HVOJGNgcniU5a6vbboR6r5w6y6sehHmTy
bWsef85jI7qA279osB+Vrq/HGLsosjr+zDJgZ8z6xWTWuKHoQntsaG1sSFOPkifL6vaFKC1oCdAV
N9emzsfoKrFVqwmPgJYqXqrI3WRozGmzEVyA1aZFGTKzoZ5iMxcdNXq7AWfyLhzJ7fhdB/Rdtj23
bqjIpgmLmkSlU01VluPBD4UCcJPQb7Xsxb+2cRY2xOagCsRboe7ABu/25dB7plV51nhHhkTiEtac
G3AjaGFFQssE4dP5lOroCtLSQkeJOj3Yhm/nwe0nYGaSAAoJ9zN4gM6/jxTz2IxWkp+yqN+z+ivK
ouCT/azLGLrWtj/YYy3QBoILzzAFb0J1aHf14ZifSDR5M+MhMNUKQD23jwaPFHhQDQ/zC+FCk9CC
ummfnxoIAengcbkDi5sh0/xbW/yllXnNFvEt2DeagpAhPw1QDmrMZpPxv5Mo8grlxweGg1wJsLoQ
e7TFt1evGkWRQ3zvlJCN3fitC12qv8f2I74WGZP5HYkM2UXaJAQCorFqlp06DZpRbgPFAdL+1Zmp
5NWztgdg452vDIGoWIZMYk5cDmr7UzExvOYIrT3ilvspZ2/X523VES0tCbsNcIm+cTWenTQCznie
Ql3IeRgU10sz8y6OrY1F1d00OcFkmdCGiCGsoUkO1trBndObOFozD4lY46MsYZqSTdnJdtq/wGb9
UoJbQzLMORwQr2gUPEB6B0gW4HLCJalVJhSv4iI/ubX5yainTTrFIJrA8NLSx2UDvLrBwM7JHwhg
QCl3j3mZ3HEmo2FYXVi8LVD2RefAZa4lASUG6CzyU6nX0NJT6g2UIaINAwb4+ohXDSEUecfTIUIS
vFWap3GM3nKcPJ6C1cqM6Q5dmiDWCDsnlNhaXUCAUQHem0MDkaYmnRraQtUPyGy2d5/a7ANRK8qM
/35e2KJ5aIdmx3GD9JrlDRAm6b5cn6v5GX+xOWYNbiShUJsXKwdN0ll9odP8RKvph10dXctX8uJI
JnM7sHZ73djqwoBuDRQvwIlcoCc0l7Zcc4FAtJ1n9Jt4KnvOwIR43Yi2bgXBGiIbiASL7fasi90M
NFcFdKHUzHPL6dkMnT309nYG7XdGDBVNb/SgngctKn1SHstIew7L6MA60N1f/y1rs4syGiThkF1E
M9f8Uxd3QB6GAy00NNI76KJ3R+1bXUJ/a8RjYctr+1cXZcoHphgFGfsd5AlA0ewMFhYTdQDnDIoZ
p1F5mEFFbvzV0P++Pqq1m83EGQbs0QIuQXQoFeSB2p4j5ifOXk+3WrTT3T25UcX2PXkzZ2QheY/s
OQh+z0diUygdZLWRn1BA3EPZcA9llacpk7EzrIXBJlJcSA/NAamtn5uJQw2htuvmp1z75lqRH9Kf
KsR9IvtrZ+Vep42S7bnmMJb2hAUyoJIG/TsHDgMCNeYvHVJU11dnzcBcEIAet4PiqrgDyh7nrzbT
+Z6+i+m9+fKBz898jQifwZwpPoby3OlnvosUcfPgWSAsqWoZRd3qCP6YEFPiyLVD98QBwreI2vxu
5HX2pEdURv+1ml1FtISONxQA4Izmw7s4KjjtY6M2gImYcW5/G0MeH5RYyX3TAKsGT8N0D+YjDaKa
WQiYT2zsim6EEM716VxzVkibo3Q7c6KjaeX8R9C+7rLW6hHtKJMPYM/XdOKHAqKX182sTenMb6oj
rgL4SkwZ2JCG1aZ8bkwLQ39EPmCQZSVkFua/L2cTVSjFiGGhIr6TeTw9fGQEoKJADAO8jSp83wyZ
E9mlkp0m5zGDHKckM7iWx0BBe24fRo3+gv4rI2WfsArRbW88OEnrWbbpQ3bMw90QKQ9uovumJgnM
1tzo0qTg4ChC7bh0AfZtEZo4Jffz5k5HFY/0kql7RxiIl/zSkrDJJqMFnC9v8TyM7UPRpAfoQ267
PNl1sXkcQJDiZTY9OqAWcJX2S1FYm8JRPnVhInn6r+4RhKAIZHEl4m4+3yM2hbRoOSC0Nzh7c7Ph
CCS6ZKxrJtDhgPIQAj/8I5gwa8UqqxwwUXRkRZ+cMA8hSNjzz9c349qlgQb9OWxCKz0ans4H0pfA
zIzOlJ64xTcRfTMSZF8fS/OhNXvPVl6vW5u/Ji7fzOIMJA7wLCCwPrdG1YkyngM1R6wC7HC9CxUn
9y5Ks0eaknsXVJKSK2StLjszX/5rUThsrsJQP0+AbhsT9thXeeQXanMc+wldCXl3z2u6U3rLG5se
WqDQPPXsdthcH/TqQi5+ghA66fk4TfGUg1uj8TjZRLnkmbn+fUSiGuoeJlBC55Nq9gRUQFqNe4y+
6tn3Sakkk7jm2dGn8q8BXTDQpq2SNFi1OB8hMFYWdyCC/k4MGdmCsDuQ0kZSEunP9+TMDBg+txNH
zWSOqIiequS5Ur4bIIU3TeiNxhCxlW0MwUte2JrPxcLJQx6axKqK7uORfyvoL5eArx2qolpY+Fn+
yNi9JivhCU7y3SKiMhRY0ReB7JOwE40uBV0AJJtPmrFt421bPiETOBHJWgnnebaCIABwNMSauALE
E9ZpVQNRVLQtGuRoYo/HW/Z1dA/QSquHH9f3teiML2wJI6Itntu2DVsl6HyyHMW86WTgAZ7YPyfI
x3dKtYmM+2L44boBT3dQnpIMVtj5v38AerSAHwRCGkWk80WkIYAWXZmDZeRoq9uhkHjglRUz1MXn
hf3okoo1ZExB/lE9oH1JTfYKPVaWJAwVTtfFIISdiGQ9IGMDrNT5kUabybjrjNueObMJ8BJg8yFl
QtBDLiRVM153UW0OxemfrPwLamzQP0UD+UayHWY3sHDuv62gUxlnGBXQC7ByQs3RYFCRPKV/295P
MAHG9ouTHVkCHeqj0T1BDzdyJdfXistAF/m/NsUESWhNJO8h3Azf121H50tauVuqG35WBqEryWCs
LNSZLcHPJlCdnkgE9+SgDDSktmcAvqyNX69P4+qIZioTPNXQFSgmjgsIb6etiUOlu59ZvpmGjdK7
fmfq0Pn+57qpd57JixXD6QFVFoHbFXN2oJ22B3Xuo27tg32fncAjuLN+Qfky8z/VxieThNu+ewMe
G2k3qM1TjxvbOHt2y8eMbuIQotjP2fic8Ls63l3/aRcnG5xz7xhqdChAC04MfnhWt4oC/dJX6NN+
bfQ3Uli//psFwXm1/1pAt2rhvvzHrwt3ft+g8hAl+P2N1m6HdKMAM3f991viaRNmaP778gIDz0nH
kW94tbWHrATBL6RT71PZmV61MhObzMAQC+2P51Z6raYWhAbJKwepqAddvoMeopsConhFN3xXdHfH
KDvpPPtLS7odN+sArGgvNMn2ltNGGzSBRhBwu7HZDFvD0iz820SdgICAQXDMaRlyAC6rKOjcL5b1
ltwWUF18Xhi0MaVtOuj4fGNtrXwnK1de7m1M5nxdoT6EXmkRb1WncUUiboav1nTo+D7hkp2x/n20
+qHigAqUGNLHRUP7UNHCV3CNF5D5vPXSBUc9clgzXT3CeEPs8daLWqtsldmvEPFp7stI4mXXfr0B
6lokflBZvaCVRYcyqM9GHr529DjuGn772iJzAJ+HSjuEIsSrUKtKs0qUjAYWnsQ6Ds7NBx/Ec3Ow
jJwiaLzEvlcSGYxnCh5OMTq5afmpViTtH2vzszBgCCUBiMlqY9E4yisdvYTui1KSPri45bC8yEzM
hQ0U4S7KAJzivUtAxxy43X4kHpScR/MDGxRZB0vFva1hruYhLlxXpVboA6uY8sroD/dRR1fTra4R
HPgo7KGBExzoaHA8/76ptK0yVmYcwAONdJei7DYdXP32jXpmZQ6HFqOAhG/TNoTEQVxs29GvC8ko
Vhb67PvCWzkDzgeE+/h+29y18Z0y/MfvC6uAX47QNjbiYISI886p9zcvAq4L10G/OV7fKOmeT09s
OmE7cZIFZbHRLS+7xwtLif3rRi6CJWxRZBHm1D0S6zB0boTVTQa2GRiBao0XOm9h8RAr9w3dgRbi
uqWVY4ETMaNzgLO4BGDmcVfZdtKxIHee8E5MFc9wJTmliycpEltLE8KNXpdRgpu4ZkFqlXTHC5bv
HDrWj2o8qS9u2gWMmfEny+hTD7LJhgyauWYe7wNA/HWwqlwUcFvbihogL5ogI9T2m6kpfUuh5lOl
2+1zUpndXp3QJuwmqnnHEHVL8EIr2x2EbX/MC6MvInVSDUVrgl3Nv6aKJKqed9tZpIu5Re8p9JG0
WUJMzBqbNTdHvSVNwLXPzRTUEFCGSBnr71yn2yr07vbNgtrEjB9H2+YFlYMToZSq904TdBDMhnLf
pjZ/kkoGy1jZ/BD5RYEMmTtwNombP2uL0nFKswnC5iHs4w3Pf4JX13O7rX1jynqOiNBnAty2g6MG
ZQkh4Criup47v5pgiKrXxqLHwSSSe23tgM10IQiKADHVxN6ypoj55CRNE5Qu7V9DN9JfUq1VwOmj
qJIrbm0zAOuO4aBcghZK4X6galKpCSnboCfA1tvkqxLqh8GCMHWbU2C2tGceFpI77x27Iu5AG2E0
4r53hyi4KiB1utZQYDTXCsjjDdYusqAX/2vSox2F/b7rvwxJ9zJMu7hHN3YVH3LX2NWt/Xr75lz8
ELEm1dYDGFMm/JA27jyrP40luCrqL9eNrDmTpRFhiuuuYpCtbdqgazeT8pyOR9PeKxoBFCpIoiOT
ne8174FHM84bsF3ok5x31+IyjtMUShEjBqVmkde06OYLJVeNzILgn+wi7DUjL9qgqTXqTaYJnv/w
cH3WxELe+znD7gcqCRCoy0IeYADqYJgjC5jyMoX35Yzp0l7c+ptGioMRHlhceRqwRNfNri7Wwup8
XhaTF9osL4pxYkHGC3/o7wrjczgcVXA0DLlPusyrKdtcNynm5X+PFL0YvwG3KBoKNsFq7aJdqg2K
jG1U7S4fvkXhSxXua7rNozuIMXmJ8pOVsrGuLuPC7vz3xVhpPI5aRWPYjYxnPWVfwkKWWl7zZKB0
QnUS8BA0YQonPSpbNihVyAKC94v1mEf7Vt9Jpm+engtvMk/eLDgAELg4fU6hgDumwyGGyl3JXT9x
TxZ70bsHYEl8jf0q7X80+qz0b2gMyCOJ+bVJBPYJBYdZ4PyixEhzxZ1qgrMwgj6o89tbJann62b5
feGsOck4xNTA9wnxs8I3ZKS6axfA8vvCdZb2ZQoB2ATeCWzE2zBJy01tAJ1X2xp0Yjjwc1E2RoEy
qf91ZMJRM6KhTjIHIyunCU6k9/Ly7vrWmOdG3BlYGLx7kBUHcEzYfdro4DjnFXaGdXCtzw5DiHOK
tR/XrVzuABsdrUBbzX3geMYJ40jAVUbGxGCBtlNIv8l0WdHs8hDNBqAFpv6+pAWHDqVeg/K6hwH+
pQ33utp4iHuvD2LVxpzUAkkMwjWR1csYMp4CjsGCodjX6TbT94MmuTUuVwPDwCMFQSfe1RcoeIgd
hL2hwETpbKx2o1Lchts0lcROq6uxsCKcl1znpOkMpQly42tCnt18e32iLi8IjMKdSdB/z5SwGB0n
CJ8rExdE/RVVOkQve66XHs8ecnYY6ydHk4VLa0szR2boo8LkXXD2ohyST0DtsGAcqo1CdjYItplM
z1NiRMSCaz3h6Nq1WRBVz5MJbbIN0yTB1qWnwXNxTlcipQVadzEXFyZJzfsE5z1GHr/dmtCdskDq
uRmiTSzjOV4fzh9bwplUuRMBKpAjQmn3NljLjF3ibK5vhMsnx/lwBOcC9DyfLNB8BcXY+kkL4jgb
hSRT93RgtZtG9iRdiRLO7FlisivudTrpmL6IvobwlrFyVCvqMW3TOgcbO1HJ7mt+5DKp5rVju1g2
saSehDUIEjnCSQLuqPRZB9euu287yWzKrOjnsUhvds1km7CCaI8n32jyEDWvuIuur5lkW1hCqFC1
etyBYxZzqBxdd0Mc35HR+qz5n+V0zX9fBFXcqk2nHrEtHGOnD2AOlwxB9v15iIvvNx1vp5DVGAL/
wkNfVSUl2NXvz8AD9J0gNyAud1kaYKMZcHIGIACj8mliP66vwaoB9M8gEYbCBFSozwegJBFRh5og
e5R8iXZJ9fkDn4cgmIULE2RuYnaj4WrSgYqDBQYHL7yvS5zY6q9ffH7++2L6DZQ9nYnj86qubJGJ
7PLd9d+/ehDeaciA6ENAK7wW41AnY6+FTWAn5bGYPjfIPSHbsO0aWWy+6sDmDL2LBMDM+HI+lM5R
a6UBCCnQhmSrWhTN52XmNTrPvbYr8HqUobhWnnRzwhDDAucVqMLF10DaJkh3W0YT9GjFGI3BT8Bz
T4Eyto+p/TjkmNFeAdLq8IEpRXljlmrHU+S99LtYM7uLQ9qFyOYNaeOhXI9m66ci/+bcyK2FdxyC
ApQGkYSdGcTEnU2HJB6B5ULSMsVL3wi3carfpVxGG7+2BXWwrc2JZFTGxZqZAk5CpbBJG1g2NEvM
adhn8SQjsFjbHEsjgj+uDKVvlcxogxpJwU7fjVbqsfobaBmrRhIXXmJn5nlbDEjwyo1dh12T2LBV
vEThp4FlnhnvRhViqWqg2g9I/7T47wyqM1O4ifMPRIzglEcX3JzRu6gR6j1qqz1q04GpRv7Eukcj
7L9d34FrSwYpqRmTBprEC0IXwkotJSzvAqT1vJfQjLzr319zGsvvz39f7PBoiEODGfi+TSI/syZP
qZ/sbluQ/XU7a/cnsGh4JCAABoWEsFJZbTudnpddAJauw5RAUwpcnVk3fMAHEjT+gscHaSw84M6H
o47MMROlwHAsHcx7O3f0dd1jyNFdH85KRAo/hLoM0J5oLBETL/3ACaWRyoPSqHyrHbaTdjfUd3b8
pDebWhaTrmwCMKnifYhENXoBRAIkJeFDUuXtGFj0R+s3xd/XB7OyB8CzANUftGLhOXpx8SXW2JuR
zeG4N/2wm/K7dtrDnV63IqoizE5upnOA1gMIONDeJjiGXO3sTOknzNksa0rfkopvCvMVuH7DfoL+
ollGPlB3YNW1/XIsN6BW9Q26sdiTNTceyyrwq6M2QGwK/kn8NrEEXBpqadVtPAZdvi+nbToAYnFM
/ro+6NWVWxgR92Nq9NqgJiMcVO69ldMHHt/gtPszCGFO4x5pF5MWY5BANBVd/blHbux2/71sCxPC
yUVzAEDMJMcQku9u4jsPiunHwPn+t4maJ3LhhxKujFNtYTUiduDI17LT9e/LVlsIWQw0mqExL8NE
dceo3IT94+Q+uPb2v1mZf8ViFNaYEjuJ0zGAODboqnyzz6HIfTRktZf1bYXTipABzUNiH1mpoyla
jcoxYM5Gs339duAYjurMyvu/3xfGAUyDFjsDtpU27Tg5JJnkqbByG5x9X4jkw8zJATpoxoBO21Db
1b1XyVRBVk2gZQINpuAlBOnK+VIQh+ZZ1IU8sEaPVNsh9iwZXdnqKixMCLNUk4bnLKdjkDdP1uBP
9ev13ST7vjBLUUNSE9yQHCAS3+43OHfXv782Re9aSMCaElzJwvdVjlph3+pTYFqvifp9rHovSST4
jvkb54lUEIfOfh+3FrgURXKHcUSzMY8rNQCo1VP0gBYRjBxs+xj3fHd9PGvzZWKpAdmay8ViOl9j
VZSXQ6viWXLPVMVnvaxZb+0dggeiDdgTipCXvaSNOvGS4o0SUAO0HzjlRaqpntkSP7HjZzuZ9orO
/pnbaKZEBqhbizkwLtDVzKwfF82jrWm2tAa6IXDZjNJ2kqNOj5mxc8OtfmMb87vTR/UFkSEaOxDb
CqcnjwewcSlUDzpD3XTAKjYyhbn5cIgbY2lBODxsavuwsmFhGDb0KdnxX/RGRen/HQQBCw12Hmg9
hJtrGAuocpSGFqj5xg79Ij0kVPJAXNtyDh6kKMGhSIUn8bmXscPQ4JMZTUGpKx5ksr3WlhzSVQvY
yyh3gwADnd/nFpREqSJovE1B68TgdUu8H9cPzZoTQPXJROIAYRBGcf79UcsI+qIRW5ptstXyxzBR
QPX9gWlaGpkHubgX0VSLdEVbjcEUeiGEnW/UKXtf6eX3hWUAWcyU1C4GQei+VX1ubq5P0tpmXX5f
2KzZqIdmUuC+cvE80irumfqpNfNtRSTucm21USJArh6PCnQ1CvEi0cOwHsC8HqTJtE10hpN9+1CQ
nANuEBJFgE+LmRTEWNweyDAgDZXutFJ9JO3gZdzcApoieR6vPc/RoQOyevTRAPUing4Iy5DMJPUQ
8JAVG9XlmleWg+EZhaNuCz2PfdLrzLeVpt3VRuWeOsbrT7pVKAeQZen+2KtcJnm1spRnv0lYytFU
gYUBfAMReey3+Y9eea31J0eVvKnWboozO8LlGnMlr1WtGQKSF+h+PanJG6hTPV691A704EE/+Gag
ofz6PhUpTOaDAEYeoB6AB50FVYWDYGrIvTYp7YOUGJ4NKiW98SboK9fbiu9tmnng1vPV4pMxvTRE
1uG2ctfrKAOiogTqIfwIwZUo6OB0FcfuAs39e6bNBuqucECmfR+aEvzx6iLOjdqg8wdtuJhNYOjG
RrdD0QeT/itzmDdjYqrR9pLqZjwdGLRBoQ0MKS4rPPnPHVeSsQkEbl0fDM0OEkzRtL2+YCveFwBb
XE+zDsZlWsQmtYJOXz4EXdP5CJn3k9b4DZGVs9fMQC8STwX0lQP+ImwLlYx5WRs1D+J8k8cHZrxq
N1KAv++8pQnhXDVNnKJ7CCY4eIdVX9GOtiyDIBuFcKRIoo+MTzBBlN0Y36MRTpNt4RX/izQIvOKc
8IWqi7De0Sze6sJKYOwTdePcKBn+e5L+fP7daSzuwUi3i0ol+Pzw2TGe2vT2Z9Xy178XAhefN6w2
5yF8KO7ybaLcF7ZfDJKbfO3kLSbo3QEtTKgl7dHwiTWgn5vWm0oP3E+FrGFGsgri8Z6mtnBZ1PCg
szdDksBp/bx+7GQG5r8vRhFrEevt+TwY/C/ln6z49YHPz6B5pOyA7xF/f9RWhsNKnGoFnfQdWjlv
1bb/vZEWFoQB6EZNVVbAQlz5+h1Jtx8ZwPzOAAXFnHQ8n5981I1iitgQVFPtq3Huy2pVa1cFkLD/
Z8AWzlntZL1jhLgdHfspy3wO9AuUjDcK90pHAgh/n23hpTEzyCHL906DI+aES55M7gRW7yBrAs3c
0v6OJG9ute/1h9Ym21bf07hGj/R2QPNtYn++PpUrr7Y5AILzBRsUCHKEkVaUFGWjx3Wgg9HQBVfv
MNOywk2C+q0CickkW7uVqUVGEx7MAe4HegyCl4SGcos/uFWg5dDFCg9G9Kg03GvqyEstWaP0/OuF
uT0zNo9+cZBqh4Q0J04VQPXYK4tj3+0UdqLZjzR6s1PiWZxI3kNr87kcnjCfGUKcLorDKgiL7Ctr
4YAifdey8QhGd68GQ7w+DcH1JVzxFsgfzWh+aIjgISkE5TFza5erWhVAU3D8UUq+vuJRz74unDXS
K3rR2fh6/5zxz6N9p6V7t3i7PoQ1DMiZFSE2Y4NbGA2BlXE8DFA/MuIvjMabzv3VAEPtup7C9yE7
MrBwXbcsmzzBU5kNd3KLw3CFXnak+j5wpZ4NbA4aFjtQYazOJzTTBQAdtLlHZZWe+f8Xd7iDvhiA
ABE5gUTk/PthlPctquplYDrf4vpBd45N+s/tU4QuQETOIOyEbIuAz8na3o5JlFVB9qBMG/NGrp/5
rjCWnxe2r2onaFIa8yqAPGnff+07WRFibYlxR6BMjoAJPYfzDl8sQTdAbEBRSBmAn9tlL2Ej42Zd
c2kOug0R3CAJgrfxuYFiZJBsx1MmiMvyHip7uzZhXmpWHmXOVq9kemFrJ3LGGkCPyABgQ/SgyE0X
LUSuADZwXpUy9PMSBENqYEveFis7ywQU0EA9DC+Li1Yh8CNVtGJFHcS/QCbAvqO16/q+WnGV6PrG
RWBBk0e/UIlHhm1S2imrgyxJU69RjGM5pNuk63aDq22aqkUD1s1kEkBoLG0Kxz2defdDJ6+DOv8Z
KgrIcD6QmjyzIBzIXLPDQh8wqgo0Kk6+Sx1Zz+DKdjuzIOznfHDKLqkxhrRhoM7edb2nNns0DNjW
l+srtLYFkF2dO4JwXYPd5nxjM0ex+RDSOjB54LSPdeh15v66ibVEBBTC/rUhkjtwpa+HxMCF2TDw
2ka+qbxlLghbrRcjfM77l6R+MXXZLb3iEsBCg1czCOkdJH+Egallb6WTrSMucDYgWyTt5vqoJN8X
Qadxq8OhNfh+5jwaZMP4z+vfX3EBy9/vCh4n6uNGs6hRBVE7F6h0Z5OmD5is/2ZFuPpp1JcDjQms
5D6L7sA/GYK/3ZIkS2RzJVz9qa7UWedgLH3ffq1J+RBWyeH6QGQm5r8vbgBUb+vf01VFW4bysIw3
U7YcwpmH/i8zSoKJmhjqRlulPlLFm2SnUTYK4dyHYdiqtQorNt3nma/L1Ppk35/9zmKWurLT1YLO
oRCenugwhE4fx032+fparHqvP0dPVB5oWDVZfY5RpLXfqw86mujVXZK8JDJIj0isOgcWZ4dEOOQl
8CSE5DiELqpDMU32w5RlngNlWp3ExjZ1wmo7pfo+VNM7R+k83WVfslg91Er5MPRU9/vI/nZ98Nc3
ClCi51OclBp4MgpMcZlvo8IHH3/6De2P142sZVkXAwcz/7mVqc5jNUtxosJO0zYIfjIvrGi3SVk8
eFGVTR7isdcUi72No6nxnNjhXueaEKdGL7LEwa/vKpQ9DTB+oTdC2FVaZLn1UOO9Fza7tNwpMnz1
2vsZo/1jQHjjuVWlTYjhqyAhzaudttvYUECfa3s1BMAMPTkohrvrOZgDMUodfNXIYe6bWj1dn/X1
pf3zM4TdNqnphGoy7rGye7D7yMsr4gHRjAe0LVnf9RP0ryURL19EZLDMBpYm4/MU3ZfqSxEdSnov
7dBavf7/zKz4sHTtsOm6HjPb6xvwK0DCGofi+qytX/8LG8IdA9rSoQgLvNDrcgQE4s0qn+r8KVYf
jeqhUfcD/WeMxu11o7JxCdcB1Z22QoIHt78LDvGn3MHj/ENX5581Em4Eu60tvZlNKETbak13Mi16
N5Zs1wz27vpo/p/j/sfWvDMXfnuiI6AStYlrOnpq9R+58Wbbn4ew8VTIHrjV915/c8e/MnMPKhnJ
VpRseks43DajfdYT7BCm7Vm7U923ItymnWSEq+tlAi8JEDKyciJIQ8lINRXthPWymQ9Vqa7zN9fn
cD6cwisaVfg/FoRxOKGpJznFVWE2d253MErfrD6lyq6OtlS7H5mk8rjqExfmBJdFwOPfWfaAOxCk
lJWHrNv14ci+L/iiKoPaUmxhwup0/6WVeXTJZIn5AIAvUnXUMFmRtkFSq3mJ6c8w9uzygfofQXos
V4YId1lmxz1ERDAUU4/Qi0a9SOK3JZuLCA6ohjI2s7oRJzXbdRRQ6WcuowaXLIeIYUiznkdJhwkr
Ia3x2icyCu31IRizJuTMUi8Ciyo9T/jo4r4nzSHse69z9nSSYYvWB/HHyPz3hZcxeemSrJ1j3OYw
Ji+D+ZEY3fzzfcFj9lrOuqLE90dzZ8Z3+QeaNLGR/nxf8JIM3Ya4ozFJGjulytGOvul0b+eT5OjJ
1kLwJLaLWoGTztNEtwnEOCGwLkMGr97/pg1HCNAQsLXCjg1RRwMFCFL2Dt8qw6+02JsJ+oHsv0qE
7dcdyap/X5gS3mY9KrPxYCIBQJPDaHxp+68dmvWZLXkCrk/anxEJe6uwtWiwc0Q0jH61Sl+x7tNU
cofIJk3YXnpXJGlhIQwd2ofa2QLa7xnRMWSOb90oLvr73bGYNGGnjXUByq33rInrZRByzH0prdPq
ukD8ELpb+OeiIScfKoXjeQMHX6cbSh6c4rGsH61OwqHyP6RdaW/juLL9RQK0L18l23GWTjqy0+nu
L8T0JlHUvku//h3mvXfHpgQT6gvMvRggGJVJFou1nDq1dufR8GChqACsz6IhZ3SyouySEcY33oPE
TpWd+6r3dylAUGXHm700IXgIu/qJZT+64i51Op/2Yeu8Ws1PDNbaFb1kUWt7dylT0OnKNPSRun15
sq1DnvuEHXQHc5vfb9+cNX27lCKoNKo8MdM6rExX3qvpLsmA6T5QbTfLWCJkyxEUO2vtpG7SBlG7
R05ZOzxUVX1Itdj0WT5JvFrul4hu0uWiBM12nM7KihaLssA0zwLCHuZxr4+7Qf3s6m+3N1C2Lr7B
F++NNoJEfO6xLk3fTRQA5uM8fmLjXyS5L1ckeGJ5pzbGlELD0ZrllDtjQhJVEuKsLwQkzbxpezm/
W6vU0WMuXoTOtp+ssgw1d7ij8CzBLfUX6DHLROPP/8kS845FRzALj3tL9X10VIFoxvSW7RDAKxGC
Q6aAQ0bPOqQw3OxOa59d8y/8gMslCCahi2g6TwlPkYDkR63+aepIciDrVu3fTRIMwDy2Y5fEkOCc
jNnXvt3WW9nXhYvfASUF5AP8yay4s5t9/jdP8uX+CPe9yyIW2RFXJ/WI0d82+1yXP2gsQSXwryxv
+r97JNx0K7a7RLfV8hQVnzP2RaWh0u//u40SLjidHAeQVVy9cTpERiCriq+m/y43SrjaGFTOeo/g
mDvGdlVCdxH7EgPimJePSvbZHLMDYMcYB/DDHB96/VPs/TaMQ2bJQmSZPgixWNGA/sKJcCU7ICpa
jPaqT7f38bZ9ASjs2lBGZdkZEQ9gdO11NI80O4zxi5Z8uS3l9jKAV7+WQuCezUUGKQYiPeNoTBIX
UPZ94dprNh3SukSMpFdojLhPZUjJVYU2gCwGjtFxMZbl+vejk8h207JGmJf1ALsavjvWP0ipSxzm
1WVciBGWUVBNn2wDr1ZTf67pOwE7/1+cw4UAwXjRSU8qMIDAjy3xVrW/7eLrfyeAr/Di3Z3ddmj7
ESvIxp02g9VdYn1X1RXUZxhoidK1KoKuey0BGAqEL8D/BEntp/adpuzTQRLVy6Twv1+sQldc5Lob
/hCiLWHU9oP1rYDLnzqySqJMkGDFvD6nfUywXVE0+k10NvNzD9bOafjyF8cC98HE+Az8I/bYTkPL
nDmB2Z8V4IhN6C/gU7dFrF6R/4gAWOJ6zwqmppTMsPmqh9SOP5P3WpasX70eFyKEW5g5PQHzIm65
9ROzWdrftxcg+7pw+YijuOM4IcRvoxBQOSYxtLLPC1evVmqz0nMcgeLc5QY40iX7v6pKF5sj3DzS
GnpNHehsbt+5h+LbqyGrDMlOmP/94lZEZZ9VNi9LW2kwJc+o5hay12h9k8C4CVAP0H1iclCdWkCI
LCwClWk2BExaMFhdAy4AhrkBlg5bfr2GCg5olrIKeaIs8TFqxbeHR2o/D7F20CimUdF+pxWh0/6Y
rQdGnkr09SXeE7CPktOS/Q7hXTeGtkqbvsTvIJ+n9mBjAotMIdb20gWRKGfAx/Bn8c3NE9LmVj9k
APpoRy/Nd2bz+/aNWVvEpQThxhRkzkav67PTbPyJimezujdATrFRhoukG0gwdMz444N/hGtjpUQf
+qkp3lip0GNcRPYjsj3OfTnZnuRt0fjhX7mtH7IsD3kxoHcXUMiRgeIsLebiLWv0IEnQ1DMG4C3Z
ddmxa5661PALhQXNVAZFy0KMtaBpedRo/mSy0ieOHjSUAZ2uSrZgkQzAz7LhdQBdZHCCCWEL6rSb
J6Xsq7eocXzDbvdKci4A7NWS360riWgXVkSQJVgRTNdyKycbqzfXfY895mNUXBAnuk9nKlnVQnkE
SfzvF9ZkUm1WVajtvtkR2U9x4kNV94O0aWh181x0ACIeBgJR7HmASc+srqiqNzX/rY5lkGkvNIr8
aVZ2eSGbb7O4clgT2rGhpjb+DSTZ12uqHJJQ8BSVb6Dn/mK19LFnsURJZSKEOwfKYttUUPx5I23x
gynusSNEkqdZEQHSF4yUw//QI/sRGl2cjDn1lYWxuOVby9SgfHfzjZPiQfcCFu8LAVwJLwSg4KBr
SlKUb3pCfDY8wGocxsHbW7I3d1ncFCQJ/lWEogM6dxgOBHNxtRjMp60PvhE/rZvdXNxjjMQhadud
kcZ3nZf4rN5aqgOpiatiRC14TfCP2GFVWYXTF/FQvBlzfh9jsZ0qiXxW9JsD3l2QBwI/Cm7s6710
slKzpjou38aR3PUJBqySYfZ7TMbxs8YiftHIRpavqAdvdscsUfTiAZEh7KmruFGcEEjMFR0v9I9R
5n2vCcDgBwOstbz5WOzncnoUYhLLKt669vsUV/vekzFSrVg5jLBGNz0604BNFTetZX1boLm5eLMQ
7qqv/k6jX24/W4sqJyioYGzAJYFBa0u6shRjVdlYqMUbxXQ6kw+PpT9zq3lsMexUG+xAc/ejbCzU
+qr+lSmYBja2RorGLzyVI5o/zbBVz1TLA2u8u722VTmceQIahwGNLv/7xfXN+rIDs0IHpQb0aRjn
eh8lgMYNpdMHGcgstz8UHrprOVoZfZ/oc7kWFzddmoI5kL3NQ4VyS7ofgEiq1M0EhTgx+Jy4q+Di
VFEIvRajdCxXPOIlfJbVtCtkTYprSn35eeFw9CieO5D0J29lWucvtWWWD44tTe8tH9UP0DVGy3Aw
/4Ihqp4yXQHaP35rh/igxPkeE1D2tSZjRV06SmgXtdGHi8nIGAMj3tDaGAsM/xnbN/R/7RLjOLHv
TvxgWY+qd8jTH7fVbblzMAYWwLac+gK0FIK9aeysm+0IHuA0RUEHzPXmCSEuRkWB5B95ERdocrEJ
oneKrhswEhM4F/NgDV+K9CkxwTU0f3eGreldQZRwdcaBlm1dOuVbZvte5leyfo6VvdKAS8RoPWCu
Qd0lvAaRkYJPDWjYtyQjg+8qduo3dS5xQZb3H1oDShWYZhcOgkgPBrVKplZtuzfMzlHLg12jnz1w
ZfR3K0tBmwL3etHZC69GiJAaQAs1OszxG8bK68/1mGd7y6WlJFO9lOIglQQwN5wdEAaIaDgLQdhc
k4qco7q1dpipUDfmbqv+XosQDIurxsqggaznbMVhNp6a43/3ecGwEIVNVQsex3P5obUp29zjhPgR
7SIer+DyirFgf83cyvqxrdwz6av99Bw15n7zCq4ECJfCNsBMWke1e54xSrtxMUJwa81WWIFgQWrM
uzQRbbjnsWh2QOv4P70MftK8mUYXvp7OYw1MkNEwkFlIgVE2qFNeutlbPj1Oecx8Y0K+W9+us9di
BIWaxqGYwHeUvel3VTzuMIB6s8YCJYe2HSRYEXAiU3L9FBqTrs714LE3NP/67rFXh81POhfAM5G4
4XD0xBO3CGFGp7A3K31B01aifafd6bZSLY0U3gtQaoO5kjdpiM953mhFxtye4SxatL8GhRm08b70
mMQYLg3ItRzh+iUaSSdMo2FvxPL88h+ayBhHZQKEw3CZ05TNBAHliDh5NAONbq3JgkrSRM6DT67C
iG+xw41FlTFpvT2cwSSGUHnnzjIusYVbAgmWynvF+YOxGEOUuV4xuukwns1u10a7yNkPtcQpXWzT
tQjx7iHSSnI7gQgNhbkXT0Y+sFAn4fPCnUta4kTugM8T7aH7QxJ0ApQPxeYeCi4FFhaeKDiOF4P1
UotlNgZbjGf6oKgYIIvu+o23AgJ4GIrKJizVoitvVOemocbcn6fX3r7vyRuZ3jvZeMZlOy5eCpgo
9JXyls9Ff1QO8cR2Bx0EBHgxBusx66sAI2s/z127t8FvrCjkYE7mnwKtWqoie3CXtdsP+RbyZeAd
4bxS1/Yrr+YocatMB1tH6peWtjOMYzpNAUp4wWA+lPGnfnqibYTJvHcEnJwjPdpt2Mns9FJn+DZg
t62PyQhi4JJWMQLApNdPThEFLSidmzjdOei3y8etPgBfsIaAE3PDsd0iRLRCT4IaV5N+st7V/qha
W7MYwuf53bsI+OZBwxyMEp83hnEPWH3cyiYBrqsM9AXsUCrSvSJHtFUpjetWFlYwIMAbCr9AGzeh
e9NDb8IeUOHSPuSD45fSfoilbcLeXUjmsc7F4sg8MCOdTf3UqA/1/GmIHl36evvWLW0TRCBOxvJ0
Tt0n6COaLauuiHX9RBu/dwI2725/f0XRdBVXGq8dSAgRx14vAaQlJCrhsqOosW+rY/rYVJh8IHno
VvaJJ+7A1gzfBi2XwiJMohgxNXLzpNTDPVX6J2qMn6pqPtxeyyJxwhn20WftIrbAbCTR7Wd1rLaa
WpsAiX3rzHvL+NOiHYZ4L41+SCsAklRZI/HK6QDzpKFPGdcUXUbCwqp2znMvN6xTQeOg1l/HSpJP
XTke5LJ0mALEmahgCBo21049ViS2T038OvSzX3yvAeksrfPtnVtZB+wtZzo2waKomcI6LGN2nCJV
rFPvHXQlMCSrkH1eWAXTvQpJW3y+UV8tZF/YLCk9rAnAiHEUqMEmAnZW4YmtK4/WKiHWya4L/5fD
ZNiHFQXmGT8VE9N5MUU8Z+aRvs671D6x8a2mBHwN2s5zNvtSGBygQYUx9xgd/eLwAC+bUacqRvuk
AknvFUEa/dp8yg68AyiUitnH4Oq8vuuTnlNtHCrnZGqHLt6ZMkLklVNADgS7r3p8NIBYL8l1dTBi
pPJOGXpxUFbcJ/utCwDTN3qFYEQgBKdxvQC786p0BAPoySC7Jg+qdPNjdfX9hSNI8FClSCecVO2x
/Z0WEvu0vMyYmQXwCb/HmCdrCPufe0PjtLZGTkNG/cqbn72xeXb6745ssM1SXa8F8b9fvEtm7cY9
2NnJKYn2xYMy7mXjatdWwsndMalbN5aMq6PuxH1UpQCdeHmgJd9s8y3qfa1RJQ/HUqOQioIMhBgg
t1hQ9rRontYSs4zOsxnk5DE2T5sVCt9HxU3HVBbwSgoblZajXjVdG52RGGT9MZGRgq39fnhVSOIg
D4KLLSisO2CTCoNGZ2XIQ6sdHxiIJSV+uUSGqLQ5OHKiBgPtzhP6aQf14DkyvV1KADId8bzrWLjV
cIuv1cnLEk/JPc09tTtgr1uZtnLrf1U6R5bg8vNc2S601dBpHiMp4p4mth/0MTAyNTC659ZwAmJo
QbQ93IM8eCOYoQ5/d0G+2Ua0rHqdeqBcdg926x0kdnx5+66/L6zH9ua0yUuC9cwYl7Mj3Sd1+3t3
LUJ8r6c0MzQGEbp9UFq/1O9v3wv+34tHwmmpORGZYS/eUzKPTTQ7TDnp84iRA/A7i6MbHQfy7JFo
s4eLPNGFLCELMlKW1uMEWW4TIivs5TK0wIr6AsGio4yP4BFlR8E5IE7veKVikZP7JQE9vxpv5kaE
z/kRrQHKuULvqUYm5p04LTk1D4Xp7Wdj2N8+jpUbciWAr/DihtQAVTQ1achJS9hd1DkPmBljZbta
39l6eySGe7gtb0WDr+QJF95WxjS1GRaUWuqvmHVHGmfHKU1/3xazdjAmMAcaH8ztgCfpelndWOU1
zbCsJH0F+4YtSd2ufh5zSBDXQJMXBNFJZlJgBUqCyQnfcjTf55vLfjh3gIvAvIRhpfCqBMUaqNZU
tpuTU90DKHWo9M1eLSaKY9Am6hig3VmkvqjZTZ3deNbJqHe9FqTp7vb+rx0zIiWecMaA70Wesy+A
O4hK2zylUf7MzPRJN7q7qPIkMIO1c7gUI17wuC6GDuEheHZ26k9V1pTItUSwVQD8/bsKIclpgWQc
DIeeecpByVhRFsxOEkQWHioZgeDqfoExANbKRYFULPa1YItKiiSx0JM4/1CZ96lBY1CbJHe3j2V1
v2zkVfmgCaAyBOPel23ngOvaPml9GzTFYUidvzl4DxkuXpjh8LDriwfeClqCXgmKNc8YylOBS3Q/
yYzI6jIuhAjLMNUsNYceQsDHjNLMa0a31t94qH8hQIgqyyR3WRRBQDdl6KZI/L9wFK4ECN6b2hRo
3uDbBCaxnffJ8bbHM5x/DLzUvDqNrK1gZ9UiTcyYOMbJKOb7gSr7uZRE3isqeyVBOGnd7DvCByid
iPI+Nfs6PW5XJRhXA1YKNH0aYESCKhVpqasttU8RGe8VDBMoxsrX+8PmK4FpCyaaKIBjBLeOoEt6
QzmnN7FPZfxkvmDW3PbPIwOKkQ5g5EK1QSi+ZXZDxl7P7dOQfHFfFOP9Lz4PCCHyOBw8LL4TcaEV
+dBBj5AuNr7T6cftz68YQEcDtNPjcCFvgfGMDC9L51JRTvZ32+oDLbWD0pqCwpOV1ZdNswCJ6Rqe
a07BD/yWsE+F5qTzbHXKSaXzXh32ef6oVs90vKMaCxxjpyIh7haS52NFhT9Y05Gk9jBAxBGEznqt
KhWbvdMQvVe2tTfL8phGmwNBAMbgu/2/EOEpjwwVo9e4kNx6KQ7pZmgsuIKxcUBEck72hf5OhqrE
M9h2Tw7DLLyu/sRidd/02ScQukpCZn4VhOcQ2AdAeQCxcdCmLVwVNtRsph3xTjP65R3vh22HJL03
viSaDBC/cjBcncGspFmozomlEtWmbY3HBY57P93ViKO0Gm1sjX53W72X7whSbxqmWwOZAuSgmFUa
Fcuaiz5rz7nxK7uzyp/bP89ng8L8Yow2WKmvDViHqTXjmLvN2Rs/u3GgFf/l9wUDScq5MOoG34/c
wHnbPJrVsx0YRjQj4PcjthHs++DN4zwSL3qb1PvaOjSbn1hw4mPrEZ5zoKi4915GgDhyaH3uj46d
7b1aRoi0PNwP9xletKkh6ymW2hV9IkhHZ9UZCHgv3qtkc0bv+vuC79mqkU1MK61AqcM+ZT7NK4mA
5SXAzoPwAOk0ZJ91sXzmMi2a3bwtz4VX/tN2U+D1HMtvfr+tpUsbD4PLDQhqsChxiKjTGCh/Ne/T
5twM35hpBBMwugQF/aySFYSWJ/Jh2m0H7G0eEFr87xexplfX8WCVbXuO+7vK8ysZY6Hs+3xDL75P
m16hRovvG9FudHz66/ZGyT4vXIjRcjFMcWjas4IarfUdU7b8zQIAKDQRjVlIpS9madlDU1bEVdtz
BmLv+l7D5PjtAvC4ovHm40aItYwi7006T016TrKv7T7fPDcVHgJuG0ql6DHgY3Wv93+23cnOyjI5
d+6uwTQEibVeuQ9Xnxf2n0YK5Bf4/C61vlf3efdt8+5cfV943tKsMYgy4Ps6iFr+Kd34cPv7a7/f
8uAI2HxoFZLD19szTZo+zwpLzmm8N6c7jexHXZIfXGZzgCnTgE3k6FfEecKL0HmZG81qkgBSdnZp
EbR1HLQJeIhdByCd3B9kja8rdwK4TsCgYaUwsUWMW82+SOvZjZOzOqh+Ht/X/fn2pi0FeCCDQWUX
oQSKhyKqc2gIukcVCw2o7JX4Zrs5iLn+PBd/YTImyhIkYvD5ORkP1jj5hdZilIotOXrZKoSbgRvf
FAj883PlF8kOw4FubxLX/GvH7HoVws2YwTeIQAOfT83Jt8wvyn7qvgKLu9l8IMuJCjhiGXjLqFVe
bxaweaCYoOl4rovSd1Lq15KnaGWbeA0OLZbI2C1xQEWKKYCdPnZnOzC711Tf7InzCTMoUWLyLDx+
MSZuFEyD7zN1OGv0qci8II7y7efMnX0gKlQ+sFD0W1FtqKep8aYzpQ/RXextztpxZ//fzwsOZZyM
URz1+Lxuv3fZ2d7fVqOlgYIfBgIM9FBg6B084uvzrcupUiy7UM8gl1ceClXLfKSiXKCE2lrKwyme
NYqsmEmMiM+2YAwXU3/MFHFRVhnzudLuP6fa8fZSxBvx8XW4dxjgjawavJvrpdjaNMxJWc1nN5vc
FxDLl6GmpM2dXakYspwyUgW3BS6Xg6W44EHh9W/AaoS961xnRh8FHcL4a+Huo0oSqS7Xc/154e2I
gWxPkhqfNyaMemq/6iYagg+xrDgjW4WwbUyNay2yIKY3g9L1Z0+iYbLv879fmFsEHJHXUHw/91Cm
nh6bVBJViCoMzxLQWtw9oITR3SZWRTWC6Lcfhz7UqrPm7VwVl/x180lfihAzFZERK6xG+jHUdL+u
glji5axsEZ/qgHYYj19DsVci8YyuYkbWh5165+ZPnqwkuvZ94AxQVOCFfKAur4+gU2qtaGnch8hA
gskt8bdvDxAUHz14Bm6DJrggOqiOXAMk/iFv+qPo1c1+3t5/7oZdPnY4YpRdEKzj4TcBkBJ0tKV9
Qy3AG0KrvFcIujR94t7jrWPK+baglZ1Clx/niYM3y+cJXe8UgLspbjRpQ2r7JNppEtdD9nn+94u7
wBwXU89KfH5I35Xhu7mVtOBjny5+Pr8ql9+faJ8PA76vqt+0OkzC27uzYpEAP0DOFBlq3l0seMuK
bTXuxPIuBLHK96psDs6g+ErnHDAjQOJ3rFzqK1HCs5cZmYFkf9aFtDpo/a803RddJJEhW46gtoXV
F7Y9YjlavCPJTkn3XuUrVHK5Rf/840z+3TTRdmCKBq3RyN6FYz34tFB8sOr4s9UECf2jVfctlS1r
7bLA0eMHha6DRefdZJcYphjVSVhGDvmuuSMGNsYlM+/jlEyPY1JND6k2pDJ6hAXWGQvldBYAzf0v
a5uwnUqZAB9ROklY18x8wdRxm+A1yR0QWwyYu+J4f4Y27g4ktaunElsf+7nSTo0/uvZwUOoOc+5I
MucYNNJkh9pyIsk7sTxu6CzAyQ5vSURLCf/75eXoDUrbCvviVcdm3Lf9J9tKdnUhm6KzPHDIQVYW
LSXciojhS93OrsWaJAnt9ikZ4/tcKXcDqC0peBKyENhciRqvykMDLFpFUbhEL/H1upoeHZyjQZOw
ymIfWPYHh73r42fF3pPyXh9iibilDcMh64j/YI+RQxKXl0wss8Y5xjEnB+KrshHDy4sP64JhoMh+
ofyDzMj1aiJN7bOxT5MQg0d2ufvY5K+zLChY0wQPz6yKcjiiAzGoaZrSrGNUy8LSaYMSvHykP8O4
BYwpu9sW8wPKKbxciJFUFDggCH0Ogo/opVWWJnHGwqotqzsH/cPUt1vNfijzwdhPOnh7W9cE0WU1
dsfKRYt2qmnRAcN3vgFfq/7u0xljypRS+ZQjTeQnqceA3M2q37d/53LXgQe++Jn69a5raBUjFdqU
wmaKnzsz/61gSIreO/e3xSx1h8/dgqcA3jLMzHMFMUnSjt6k42XSXx1tv3lGGSyQgxk/vG0agCZP
DGZm2lr2WOt12B4UcvbKcPuvR9cs8GXoJVkW7GNdyyqzqeow7QMr3VlDsP37qKLDi4WjhlhbuMjZ
0Dtq1bMmNOljcuyyv9j8y88LTypJGqswGnx+ss5W9l5J8lArZ8sZeHitCOCVRZfslFGlpYrahLWx
c5N95EhS45Lvi4W7qlFyGhN8f2A7k/iDxIdduQGXP98RLmre0rIYQO8Tmk1zn3aYX+m1wTQ7x9tn
vDQ9GiIUGB6ARAGW+KiJXjxCSVVPbaFadZhbx5la/lyH1KoDL/lxW85HZlEwPGhgsU0QwNjoKhVr
3LlB7CrS2jzErzECt3WNQMttFnhFqh9ihXpBCYqufQrL9Rh7eb2z07GHbQKP8S90PtQnJx6/GWTK
/swTTV4wf2Q4F1VM77Q+cl+qxBkPTQIvRo3GTPfH2nBkDsXKiaCCxlkQeG4FqIJrmzQomalGbp6G
fTfcm5gNf6xSOu9qYny9vVdrgtAni2o9QFfG4sE2syJzPNqkYVPm/Wf0YKiPDiYDvM5aKespWTl+
nDqwr+DkAI5XrN0b7pjSrFTykI3Hjt1H5VNPX6dSkjlYuSociMMfUKRRMZL1eudQQcLE08zJw5I+
ae6ByRq91zbs8vuCJakwStN2C3w/qV5171OVPLtMch1lSxCcSaPqRnQsQ4Sq3U0vdr27feRLHxkd
RAhVuc9kofQieBle1ulxaxtjSE1fN7+h2gxHJop/zL9uy1kug3cqqXy8r2HwjPb1SbQzzRwLND9h
kRzpntUSa7LyeeDs+LxxAGtROBQOotEr6jZmM4dj9yc+1ls7PDCnhLsseEiBm4cuCXo09lbP1Mjr
wwbzKoz3fDOW9n8FgNsJsGDkBBf+QA+KSdtKh3BofunOr3Tzg4quCGR+kZSAr4Q06vXu19OMWrAy
IUEXkYDdYQaBRMDyIkAAD7MA4kMdyRC0dHBYBDhwNYYWs/yoDl31RLKtbdfYJBNUg0B2AfaPd1VA
rKToqUucilphi5mosH+tJAO/tEkYiAiCIKRkQW2DIuT1Ls1dGqNXK7ND66lRv7hlumdesbe099tX
YQH34etA0gC3AVvGPRxBDjFJG1fUCes41H6CdVsxD/WffvoF5qZjVEiivZWrAWmcFgpZnCXOY8hj
JM4nSOti8MuGRf4Xx4LFACuB4i0eWTHpNUeeW6hj3oapZvufvGor3zK2C99HpY1HkRyIdb1dPebE
1HHctiFw6IG+xxArifJy43DtIfDCLZTK1cFKAETztQBwQjkUreRtaMcDkK4vLX1pikf3TflSsnl/
+/BXTuNKlqBjeabEXkcgSymQQKWBUm3F7fLtAicIgjmPpyFEwjtzVEx7auY2tNTnrjGOLuv90dFA
OiOb4rS2FhRMwGoEVDtvQRX2rU4zhDA1sqn/tPZd5Nxt3yqERzBcHvreUJy5/nyEJIkSJYxnpfzO
2dvNZj8dQK6L7wtHUWgxMHck6cJ8flSSIHUk6Mc1tYJ7iy4rRALLZHZZGhgV1rM+TMzfxfStiX+V
9Y9U/Z6NfyxNNiBqQZTJjx3dEJhWDIcEzEncQl/401avDDOyCF3ojZ6fm3s1OTavE7g/W/XdTgMv
vc/Th/JHVQXlFAxkl2QntFYjfkOH7e1zWzSOiz9F0Iui8LxOV4wunJwSE9Kfe+X7RL8nyjNL+XwO
qw3n+EWn59tiV54gXGAwiwD1C7dSpJEFgb5RZyyGGfrafAcCBjiV2wLWzhMUkqipQWl4kfN6h8dS
NRQT1ISh47T7ih5rr77v5zrQzWPm0UPhfrstb3VBFgfgg6eDtwxdy1PdiqaN5jUhsayXWiG7sZze
+s1sKfy0EF4gG4EcFreC12KGMckrvUT4BeIHpbxTZGBs/t+L1hVtt/DM4GEi2SG4BuYMNgklInWo
1k9NbO+G6XPnPtnlS1u1h+07BuCkZ/P6LUeEXi8lL03SRbqOwD6ujP1sFrofT0OFmaCOjJiWH7aw
KpBI8h5ypFrgcAqiLGIVNh2HLhzA7/U1Z2Oz1+L3ggzGTq8iGYX7yh5yIKKO4iqwJnAarhdmA5jj
ZCBdC5UKEFcKDvcHVz/GMwj+NkdM2Duow0djD55DwZGOEyc2+5kn6aN92rZB71r+7UNaeTXcD4gD
8pqIPEQKjkYjNIsnpw1JQfAw7eJa1pjGNUo8G2AeoQdQ6OX0di9Jk7FQ8iFso+wAlkLfScZntU+O
/eS9MKf4ZBtV5auRul39EMpiwDqCEHQfqMJN0tVowiiSuQ9HYvhO9xWjloNo0rbvH49BkDoErp73
YF3rQj22pDdK5PboF+3H/M/Ww0G2Hq3HMKPo61tA6nmnqluiPh32PXuEU/SIRJbkWVyatWsRwrPe
FY1LGhhMcGEOwVy4R8wk/4SxURK4iM7N47UWQA6iBdwaxJsLCGxXjeZkpA0NU9IUmHU29iDAJ2bg
zN2z4xX3pvY1qppdo0d7t7ajp4qw6Z+IJvkPF1MlDh6zB38EzcpdbZsRqCG03i+K3Nx1uRsdvNSU
IeSWzws4VHGcHGWOzL/4gEd6OpjTHNGQJtldZNaBq93l83Tfu+O9DbcXyNTbZ71Sp4JEWEnOtscT
cYImdX2VeiAoTUKWqlpgaswv9Cd/15beLlHLYe+k0eDrimfsEtcGOiwyftaVOeINZ/1+aGkneWBX
HAf8IE4M5gBEidZx4amYmwr1aLSZhUnyNqUo1qn7ij0W5MEdPsWt4aeaum/rH54tK7Iu7Su6r2Es
Ppgz7UU/eTzrw1w5jIUW6HnncnwH8Wjrx4Nb+6w1XnOj2Un2fuW0kfpC8guz2FbcNV0vywxzo5MQ
owX9qXmcSxbE3rGPrZ05vnfuwVQ+YV7WztAfUhBw59pXzwPVqrVD+ZJOgZ59vf2DllaZdxpgpDPi
K3SviVlSloGmYyY9w7zlQxMdI1mQuHLrr74vvCsV+Ck9lXUsbKtX1uR+01U+k/LSylYhKFDJLI+h
aZ+FEbX2ZfWPJiV+l6zDFJyyMZvsyJoaFk5uUBf3o37nyACNq4sAgx13+fDoi6nRyEC0ltUTC/tf
iXvwNEnYs7qCi88L9reBs+mlYFgKERP2QMWCIk9G37Pg+AYPKS+6o8IMlYJVE85hsOw0shWThXR6
GLzSb61D1j/h/x3zmGdsx/LA6V7N+etIZOR/K1cZZCm8kxRGH/GdYNRySx+t2i1ZqHtPFjvQOQsc
uErqC7o5JO/9qij+BPNwALlsQZSp9ygGmBUOqtxFZNcxn5AjI37Zb674GOCF+1cQd0YvYrtOt6rc
LCHI1F7d8lNzv/3u23jYkZxFcs0RC0rjUPeV3qYfd79jh0GicKvbZBs4DhBFIwDgf7/49fXQol/W
qlmoGAFmVivPxj+YYpfLpvKt6TViPyQ5tY9itqBzNjWrMjXxeEzjzvFQs/XRzX97o1ZX8q+IRc2q
0DK9t+0kjPI9TrvQX10a9GSfSl1YfqKC8wIO9P8s5uOlvNizhExkiG0PEA3Nb5ND2h8mDOzcOg2U
X9NLKYIpqMumcvPeTcKW+sPgF7LC1eoqECYhoACoD0CD65Nnqjsoqh2zkMyBgQzU6OfZvVWEt09l
9eABw0KaBbDsBVACvMsF6osWTgVzmO3oizPegw7ttow1mwwuN054DggDRF2vBL5RZ0xWmYcYN6XR
Qy/Dhq7t1OX3+d8vzjuvwVs1a00ezt6bBXZUiqRdBEQ+82QTgz6CYEG1vI8UIfJSAAGJuJIyywh1
3KgIkzRufGcwv6Wxi9kieqCWwOh3xdEGNosZ8V1etn5bmX5jJPvG2dpCBuVD6yEmHsPkIKciplNo
ajLXTlDY0sm+dg5uIvEmV9TCg0cDhwaeLcIyYUsZG7uqsrIs1NPyuSTkJ/Pa+2ykknBmRTN4x5KD
SJZXTMXQXM8a4IaTBmLin/9Ysuq17Ov87xd6Qee6Rh9inYWx/pk5oQz0Lvu8oNbGCKhCjbRZ6M3v
3t5O327fmrUjuASaCb9+wOyraGqbJLQ6uBpnxTpv7dPkSnQpQVjAjEYlvam4BHOfmfvhfesCODkd
qjS8C5Sjaa63vzdrDy4lTIvO6js9f+t0DWT3f24LWR7CtRDhfZzsusV4UbwqwGAGqXE2C1nKYHkO
1xIE55uMRGnMERLSfsAguxfPC+yi3HzfroUIxt5umtzOI7y/mFkfl/dz8ajKuHhX14HyqMqJvFEl
FQpn2hTN4I7AcTjKYZ41f0BfvKdvjoSwjgshwqM4Rl6JjB+EDMk7jX/VRJKYWF8EfFQOHDQW7DNz
YlqVOmKfFJ0FdVahsx+loFb29q4E03wd/5Ejwm3hM3bgDIcL0X5NOt/8H9Kua8l1HFl+ESNoQPdK
UqatWurjXxjHkgRAA3ri62+y5+4eCWKI0bOzEbMPHcMSXKFQlZXJokLsxnbrbQc3bD5DNtVcw9su
FDYvTSrrY5u9zND1TE9Z0QR0SgGxv+vzR436IapDpbHlYJFl7evt8zMfwssL7dKqsmDWOMh2GGG1
n0nBomrauzwg7y92ASSBtkIwtUH17EpiZ6pbN2lLDdM5gA0/fjbSn7eHseQGILHnI9CfwWNq8loj
ddmlmcYRJqeBEb/EafQvDNjIuc50scDEKKsj4wGSRVTkJ626j30t8opud9vCdXxM4CNxHRrgzUBG
SbEwupMpITTMT10bccJDjz5W7b2kWehn7x/MnJ/05vQV6p0qFiDPgdt2qiE5JUa5sdIHVzorg1lY
jwsLymD8RE681WChfK6tTeVub8/VwueRyZ+FQQhumKs0uEYFnapeT09Fc1eGFXt3wEo8ZHGRQ0Pb
Oep+ysVYEJkZesqrkxi+c3DZ/bj96xec2MXnlYsRypZV2lT4PMvCGMebOkPkvFeTDDVskGCCigiB
/Uwwp1yMSJL2sdf05atOorKoIug3RDbdt+a7Q7hLO8r1SEZW5VoHO279OlS4IH/dnqzrpUYyAiUi
Hwlp4ErUCpvv5BwwK5a9tj8d5wGV+dufv/Z/yKzN2AschpmrQtmoHXUHvUdXEKBV3ldHn7b0RUvr
HYocX28bul50GMLbB6ye2LGQEr+MhhLBvCnLu/jUaC9Ft03k1lkL2hemChpJiNsBgYK/VcdilpY/
Vij7vybjpvpRrnUSrn1euSpIQURp+vi8Jj57P6p2BWpz7f9QIAHIBnXOWSBHhV0XdVOYtdnwV0hW
WdZrmn/x+auTRfH7nQc4W/CqmSFvOBtEGYcNBLM72G3+Wml5YDta4Lqb22u9MFNgbEKPCC4M5ORt
5YD3xMqcjnjF6wH81cEImaf/7fvK2a78nmi8iotXIjdk2BfDylKs/X7lTAPhPSD9jt9vjns2br2V
6Vk4Cqhm49qx0EwNdVIl2BWG0HGTlvyVet+FVgc2BaA4W1NNWBjEuRU1MdcUY1HnRsVfNT8ofzqf
370EF19X/AYjjVfmTsFfwVghx01D3n0FgZYLVEkzFx4SMCr4thcD1tfP+Ct0SgWNpjVGlcU1OPu+
ssSWEbeM2yl/daGn1uNBEOZryeQ1E8oyj1JDmQv15FeTbP00yrydsaZ0tuC9z2dJRXnQno+lC+Dh
K/Pc/tcEIfATERDGsJsq3iDEkvvbqz7PymW0PMtegmAF/XDQplDDzBGEEppE88yrPY7QVqZRMu5K
+3djs6CwvtTyvSSugH2AxB8YMRhD2KxeGsyMcwo1df5aa9+zZlhnsbg+JJcG5r+fpUi6LuWWWQls
s/roiDsxbG9P2Nr35z1y9n3bHpNyGnHUY7mHYugqzO16j13+fsXTlgkVsvMxQUkeVVbU+8/8vSLt
WAP48DlGsC3E5qbibIvYHqwJHQYnJGEBwCrzdztzfB85XlSu0T6AePNyitw0KfMkT5yTWT9Xe2et
r/36Wr34vBrry6qqScE0+1TW1bNHtN++S+9BGRUhpbHzehrdXvDrE4k3GHg4wMKOdz78++VouODd
aHTxdOJR+qNKt30RTv6KjYVNhW6UuacDdT4895QLPAc5s9/YvX5i1cs4bqw1eNLa95VQTUB23uQa
vp9ap6p9Ma2VFZ/n4NKL+HgIz/QS6P9CnDbbPz8UdH6Scac/FeXR0pP6bszqZ1Dq/kbH2B8x1vcd
adN7P31959KgMwVcjMBBYauBhUVZmtTotUmmZnfSWxqUJLDrNNDdT0n/61/YARYO2ZlZ71AdXm11
o+bpaIjO0Ajd9FEuoopUwfG2lauTj1GARtmcg12QlapvtHjsXJHTsjuxYocSYupGVvVe5wUTc3/6
zB40QyuUOxKdel1qgOX6BFlqGWZdNKX+tLIXrvbabAOpfPDLQFAA3beXe4H2HoeyFAHwMt7l7f7T
7Ula+Do6DKEDOgOSrtmmvQacWtqUTyc0a/fbRGz+p89byo/X+r5vuMTnB+/R2HX0vWEoOjHPfr0K
9adFbDl1j8+32jbZ2OT9y4vPo4QHJu65/0X59ZxXwJI75nTqH41y3yd3tydnYYNefF6JELnpxH3s
4vNQEPC8J0KfsvdyaAGpjKc9aH0A10NfkKoU4WgZmupKoZ+yJg7y+8lfQyMvjAEGgHPCacZBUIGa
bTma1TClOvoM4yDRrGDMRdgPa7mKhW0KmUlcFoD/kZmS9PIQ2D4SCDjP+il3omqMvLUmiKVhnH9/
tn/mcMde96t0xPcb/ZBnL0W5ldlKZPjGfnLh1LEWqAfP64BS1lUvGCi4PTSWWvLEkk7eaXpVbc3G
5FHc9EkKX9sc08bbEa/7grtl+CVMSRFMDLpgAWOmccq0rAgJYQbZgP0zRae3xwK/aegdTRMeArNY
PKdNmv3Cq9UfA0b0Qdua4NqMOndw7j3p9ts+NYsdcnuQq5hK/g1NzPyQFUM1Askr22d39JvA0Nwk
ZN5gn5hlNu19bleR74qotSZhh44+eHnkFlOzjRt92tAp0Y54K1vbjhvpDiLmPKr0IU0DC1CULbSL
kx/mmA7HeLS/aU0/BjaAbwHV+05uqsYFyNZMQt0Y+V76taSBZVLjEX2FWtDWsq3CWiPu57RM+Yak
WfpQM9qGdcqbY1VO8ldCrP4BevMAveSyC73MSENPa/RtDQ7QEBhI8Zp7NAlrXjaBlxv9FgT7TdCi
teKnPrigFCkdchqtSg4B6InicJpK5wAxDOMn87yRhhWfxBG+X08Ae7B7O9Di2H8Z6Ei3wk1+tCT2
1gC215sRlz5OLrJy2PB4TFxuxlpy0lZ9Rk4WAXcFdAOzTez8vO17rg/UpQ11ww+dqGuAOk5GFvnP
qXi358Tn5yQTkhygd1V7aj2rsspydK2TM2r3TVgCZ/gvfj8wUHPTMbTMVMemkbIu2gRLlyBw8MxT
R1dG4GCSL08rRnBmYP77mUfo0eiTGKNNTtL+DdahoKZJIBj6PdZSQYuGkLtEuy6ei1eIqp5AjoHH
gpyY9zqMOyuG6vcXz1zTPlraVFDoBYRjdqNXhXSn5+Yw4P2LDrUmSOt7CsAnrT/eXpWrp8RMAzPr
laAZDmGXig4TDKobdT1aJzlakXTzoByfBbkzuo+U/b5tamkDA8IHcCfwlMA5KHdzU+pDq3eDcbLE
h1F76Xe3P/9WTFHXHyo7iOyQ38eDRXnUcXPMDCPujVPHx8Cf/jAx7FBDClN273u/zOaeisdBT0Kt
cTdV9TC2H9GqEAin3sjiZBTPQ/tciJ+WhGDxStCztJJ/fxn43y93pmw6z0p8jDyjL0IGExB4/Uro
vDS5c0MjmjRx3YKp6tIEd0aa06E20RW916cH+XJ7ct/eeOrkIlzAAXMc9AWqVDK63ukmrjTseUsP
3dILCpOHI2jV6J7zJjQnHgntyfXAQpdE/bDllbc1st8x2ASS8ltZ7M16r62FY9eDRv8r2LTBoTpr
o6upFNeRntPgMXbUaR0GbFXe/fqgX35fcbmV0We0ofj+JP4MlrshZruZ+J3X9u9+MVwaUldPxBap
BhiycDWB15llMri9gItDwTwBDgb4xhUVUDrX9xP0yx0JKV9A9PTaVtXdINpv9biGe1gyNbebwTuC
7OiKGLTD4yvOutIBG83w7LTJrqlRwG18Hppm8vH2sK5PljlTGP/XlpI2qMuk9TmHrU77bOE0QxlV
rJXTl3YZMraAzUH8ZWaRvDxazB8GEmexfRQu5BLbNlgTVlsaBKi2UUXHAULlTYkeipRCVwH3zTEl
Y6DDy1fxsMHhuT1Vi8MA8nDWEEJQq8K/NG2cJAO77dEHDbAeaBBLuW1gcRjzNQKFH2hbqFkph5Im
tluJYXQcmgN6xGjzodPGlbNyjeOAYg3yX/+1ozzCXLP3AA/U7WPmxWE+w5lzY2OJ1w4diHzT9104
6WXQ5F8s79PtES5M4dy/iu2G3AG6jZSF8g2aouvF0Y8iwcsp8I3t7e8vzODF9xV/kybt6IgR39e6
0PIjwsLs820LC2fzwsL8C85iJDdjfpa0sDDUW8P7mgFU+ZOuAeqXpskCYyVuC4CSkGS5NNLHYI31
ukE/uu6Bp4d3d5UhX2uhPR0FV/S2Ilq9/LyWOCLtrF4/+hZ0mPoNjb2ArtWzrqoCihElsRYPldbq
McaQyQIPiB98KkPXeTHElmb7Rqwsy9LCnw1JPTp17faGXo5Ylkwc3ML57g3i3qvTze3VvzbzRjQ2
t47D2tUlgB6bROgsloA3b7LhLrECka8g8xdNoJ6CmwbUyp5a2k/tIiWGkBKIpx1eiT3bZ92Kn7ne
w6icoIltFtJB6lMNWRP031cWsyUgjk5o1FumPdvmsRjfq7o2Z2LO7cy/4+ys1NjGkjFHngxQIP2S
azL316dk1tyyQK4GvjNAnZVTkpUUrINaDQIKEUoeoafp9mKvfV+5GsXotciQNO6J5RvbBhETJ2ue
eGElEA6iLD7Tos4IxMsZGtvUTJlD49NoyOR7w+L4mHvud45e9895DwlPZpUmODYAFg3yTpPbuZM2
8Kn5EKfFXW/qYS+037UN+cfJ+3B7+HNMfRmwXngJlYJ5qsHuN0w4wLJ/sOJd1pz07Mn0U6AL11Jd
i6aAhEMzMhBY4Cu/nAZpakZitUw/OuzPlH+WZh4NY7/LklNR8ZWc1PWUY1gOsJJoHkAvr3qLox2u
ARFfoR/Rlx8V+vd4DsERXRnfb0/fsh1E1sBUoAvQV5ysm4MpSnda/ciTneFmYUk3KXm16K/bZq7d
xTycv2YUNzuRyezMttGPXZKGuZY1QWFrwWAkK8NZsjND8ZyZlhsIsPmwnJ1l3FLUSURmHF1vn5hR
JQN/Zb+tWVDOgo1OWgO5POPYusDgFvsmBvByZRTzr1T39PkoFI8ECXhZ5BI2GAncKcrXCEAWxwC3
hwIJsp1XL/RkQkbViLlxlOQ7VBoRsfv9yv5dHAKIDGefhzyTWn/Jk6H0+7QwjhXvg37vIbN3e0et
GVB2lFnozM7bxjgO9udu2zYrlEjXXdQIDND08p8BvP39bCcR7tTC7ATWuSkeBOrHbYd7znKHL67o
946HnlRZ7OKx/Zx3bkQ1CM0Sd6ODVKRy2IYRdBaxAmoDdIxSiPa2TRZxVq1AqhcnAemAmSwDc6zW
n0F3n9V25RvHPt14SQT2138xyX+/r8YrCRQwp5g5xjEzdjS7E2sedfH3AyMD0lqk3q8UVVGV4Ekf
m/j9zkev/fDx9q9f8m3Ew8WFfxAJqdeWI30+1UVizgHknRz9cHJ23ZBuhqGPbltaiiLR0vzG1oMe
bjXlZXaNbSWNDm890TvXzzdGYd9NxAsHQ+uCaURDrrdG6b44ujObym1k516TTQw2USALNP9OFg+m
JQK3/n17bIvO4syOEl/Q2MknLqR+nIpP4ESw7W9J8i+yFiCH+jt/yoOrN5oWGw02kH166obpqTNQ
FKtQc4nX8NPXbWDzwT6zNe/Js4Ods86Np37Sj/qYRbM6H3t0xSZzoBswVRsJkZMEZINF/aUcP1U6
3gCvt+dzad2gCIn4AWkYZC+VG7fVC2mBpQXzaSNYOoArHwq2/Zps0tKOhGALghUU8fF/ihVSNjaq
UhjlkD4xeqjbJ63/0KQfQBCy0ZuVZ801xzHm9Nya4oypsOJxHGANXYT3NgQkMhCOjESEiGE2hl7d
Cbvfl1kVeXUd6p78No48akWy1y0j6nL5Nam9sBVixT1e92Vc/i7ViU9V0qbWvNYuKwPf/23Fd8xF
lq8LdL5PmR/oBt3Ea32/iyv8d+7VODH1zCyLBU6mSaaoSsknZ9CiKms2CV0TZ1wzpRzOFoBYhzMc
nHbaFsNLNUSl2FtrrZOLl+HZ+qoklkMxSQEVHf0YQ/WOGuM2dnhQ5eWjUcfBlKDDNQF3djad7IJv
W168NKNzPwkwKtB8S5N6X6MVgqYsshIeUDrWociT/e1ztZQvguY3nqNgaEYTvsroOWSV31B/3vL8
viyhL6htDXLX1Y9Tja7rPH5MBWLPQgQjSqC3bS/dY+em55fDmU/xWJc52P76sW427J5qm9ufXzzM
IKt6y8oDNaO4egf1Wg3PAbgs/sdHkJ7nXZBRVPTbb9b4PU3XsCEL9ma5J9CW4lEAbMK8686Gw1jv
N5pPkRSJN6zc6n+qcTdZW9v4kKyBDGfPoIS6eEzNnH0WiMXAX3VpKuVM9500x8w505/akwEFx0nh
ZScv1tGp1ecRoJrbUZu2t6d04VaDXQwPHgJ1XFUnEh00aR3nqX7sk51DIzsNrTV174VNcWFCOZtI
nPZ2RzA0bShCQ3wGsu792+7CgnJtZnpfuyzHOrlgqQHLCHh6+v/RhHJb8kIbBnOCiZi9Ns199m6U
LPQnZ90e7GocIFfFCZlJkvCccrypqRn1cgNMTPT+lQazFwCgc7PyVT267e20Y74lj4Ug39jAI6AD
fxerCL2lDeUZeK6jSgF5GjVnTOuUtjlz5VHz731nJ7QskGj6uz2WBXcPNt6/RpTV0Ap4YRRF5dFz
q0ArIZcBBWjjkWUrDmdtMPPfzxwAL4aC+oxgMGSTNqGfo4dxxcRCMmWWKEHNGwjpue59aWJEAaZs
iS+PiXE3jfcIufpPg/3uLCXYiwHXRJ1iBmxcZSnr1kndXpfHydjV9a4udoD23F6SpXgS9Mgg2nYB
ZQQrqDJXVLcaXEfTdKSmuY/1JMhYd+iA1umpu+lL4M0Nc5c33Z/Wah5cSsK+zsPWWluyBW+DnwGc
AvJSYCNWoSm632seEdZ0dELKWUhkGd4e6MLeuzCg7L3UID0gx+50JMAg801FfjRcD/L6vTx82N7A
DqK1BA2bgF4o0xk3SdWjEgfudXDwBT5b8QZLUQLYmvHmJGhCnltaL/cdCsktSOa0CaFMD+pTuhdW
HpbuA7O0LVpdg8l4dmIe1PaL7v58/wyixxWoGAAwcK8qW76LTYakhW4dG2fbej/dKkVefmutlPAX
DhaqZqgvQtoEJVOVdaYHclEKZlhHyh/zto7qKQMByZ+i9ENUTf/FiGbaLGiXOcjyKHG/CR5ca+os
cvSGg4y/O92BG0CH0TWIzNLeA8oTuB+gShbyBLVJUs5H2KHNhtj3TRlYXYBmjpU9vnSIzuyooNhm
Mrnbo4HqOHjPbiaC7t2k9tjd5waUSA7FJuCjLBjQ2T06bPkahP+agGo2AFK7GTVMgCVSItFsSEHo
VurkWJpc3zV2VweV0WUBKt75o5UgTxTLRuyEU343m8EI8HSswgZYgsBP+7UKznxWleAOxxj69GAI
QVaEKMFdbsdWmWqDfSzbRwHxhuLRaFeeeMsmcOfORXu0diteqWvbBKiDyj46TfWdk+TR80sQ1Nqb
2xt9cWMAS/sfM4pXGliSylaHmYyA79QbovFf5DMxV38tzEfg7MrNM6/NHKe0jxw6vpvRfL09gIWQ
HpR7MzcYCtvXj6PMkGlWVAY5Om1kxw8kQ5CypewBWomrcJrFNTmzpezBqRlxVeCSOhadGXAz9Crg
XNdSRosrcmZE2VtdV0+0eTPShr/196OzcYzQ6WGD3QzBqRo4OBTF7T5L4XCw1lapPZrudHd7RRZ9
2pkJZQDuYOqFJjKc1LT0HtBb24SOBiriBmphQUWKcft+ey5S/g4gzrj9dOX2AV6rcTq9gL2WRBBY
CyzShZDyi5r3Y/8xYQY01ubCPYQLFCfnTtWo+VVFjprYV3S/vz2OpYXH1YabAG8fMEQrR5FZDs9z
I4EL5YH2PV+jD1navOefV85hUXbOlM3L0pONzaCl/eiRFZjgwpsXweLfESjnw0vyGAJeGEFS7ICX
LwtUCPaFtkFjdhmMa2J0awNS9hl0HfIECmfkaFUeMuDPg2EA2Le7vSjzR1RPD/0Ry53LleiEUQIB
0FCRtrAoOWbstdcg/4nW4MT+YVqfKu+FwQ3cNrd0dlBTB2IWL/hZ5OHSWaLfv/ZB2kWAPDEBwf/k
9FqUDRRCgpvbhuYPXY/rryFl8mLwe3NhwtCEXrz7ho6HLgUzGUv5pxzZjMgT1lqss7i/QQEApkpj
/p9yTku/GSo2MnIcxxcv3WTdSsy2/H2CNyqSH2jyUk5nycZZek+So53uKh74w8qULe03UN/BA5jz
HlfPJ4rnwuNVZR6tYdsVW5QkGF951i0t/7kJ5YzydBg4WoDMYwoafxmN5n2Zoi9iZZMtTRQYHwxw
GkAwF0W2y03WyQT0yKZpHlkr6iAzLBn6rVgDBS7tsJmoDbwxiNvwfru0omeVZY1NBkZFw9pk0rnz
uR9Zk4Y3YlpvLfedktXouARBPGDZb6Lo18Adx2k7itZe/4CUmk5eJu94+8S8RVxnR+bNABYH+H9E
M7ht1AFVRtWaaeMfijysjXAAJRG5E1PIyCuxIvFVL7eVFbRZCL0luUZEoazZlfH572dRlNdOU11Z
rX+gpRQ/fNHyraDemmC24u2urCg7IydeaUH5zD/YKQk66QZG9+LLfcGfDeogkH5dmdL5TXo1pQjd
ACFCWgSo7MtRDUB4CVEP3sGJTYCICNAtwH6Bkc0GB2/NaiPweNM8ADbQ7AxTeHe5zuoPt3+Esk//
GfPZb1DPXOY0XtZ33sEGKtqkEm9X4ofoWkLvhXnktohu21PcyP/bA2oKDJbo8VPzaT20aSB6yb0D
Ec2moCLI4jiqk7UUqloi+scOepFxLCCeepUIbpGKMPsYdsakeAbDMQRN6/Kh9QEy7q30pSvd7+iX
+dbGdkiafGVS5+14tbBnxs3LhdVblK1LP/MOlvSeaE3vfJqv5FPUF+HbAAEhwq5Blf060cYE0QpW
u87B1l/8ooxkfD+MR1MeWCmDId+Y3bCJTT80nGTXGmt0J4qr/se6g1fHDEgH7ZNy2/geQD9ihPW8
hzeT+R/Xr7fSjqOci5XEx+JS4vH7X1vKbDIHTNtl7zuHGk/cAGnHXZuQD2YhP7QtsFPJWN5VVbd1
R30nkYx733Xxz0ghIIksxTxWlQMnTeO4NanmHNLxoflorT10l7aKf/Z5ZXB6zNGCl+Lz4F0Otjb+
9d7zhtsa7gXPHiwTWI4ut6LA14d4HNxDWf0q2iEc872t/b5t43oMc0QAUA1g4+j/VpMT9WS3k+v2
zoEF1L6DfMztz1/vtcvPK8GaM5llwnx83kq1r4XZPieifNTM5kE41crjbXEkEPHAgszdrypdE7Wk
CbWTyTlIv4UkbxqwX7fHcu1uMRaw7CB14joojMx/P7vINHC52wXp0PAITQTUKwVq5rg2++rB8tZc
7eJgzmwp8yZKmdEeaPGDWSTbMm8ie43l9/rCvByNsrnSpm7H1MFoKFpp3aiAvkrjP3UgSnS6396a
gPTSeEDBjsQ/gpCZ7uVy7iR329QdqXPo0a8qYn8nhw+3V+efBvNLzw2ubdDf4nr4R4/k0kaiTd7Y
kil5AQZeuFAst4p9blZd1OK2bsLR7mzgrj25yc2h/jC4fRrRUSR3VWONQQ+OvZdRE/adLnj+UhQg
20g8Rj7TjI6vZdFOO3iw4XPngfujgM7Ovgdcb19ZDqQ8pB+HQm+gW56xtApi1D42TDfEhrnt9NoU
DdYwTgmgaWn8KFrR70Cz0+85Grkiz4HEm9Wk3qZoXLq1ejYEUmfpPeMM3SLu2KF67fZf0YD6x4X1
h8bg+kvr1Gybm8zfGNz/KoXe7mpOewjYANCmdURuwWZPHjowlPZBLHpEd305HfjoJAc7b1goQYYU
Cqgqb+2U/hihIhC4ZWqESWV1ERGx9uxPxfCIngW2qdF19WBUDEIkA+jvZDaUkYNqBjCpBF18XC/D
cuziwMzSdOPH1NpOrlmd4i7Nw7Rn7qdYc8ptjGLcnvS2tiubhD9UgqIsIkfzTrjkS2WPaYjGYRJM
pUyOrh73oZaYbWg0GQ+82sgfNKH/SAYjjYpGe0ViVP4Gmf/tPbR0wufWBhRs0E4Mt3u5g9wWPb4E
CNiXuLchq8IebMcKmEk+elOzK4z+fYlSXE8zXQkguIChg05Crbe1bmPYg2EnL26abnOtQI948sDd
cWVU12EbzMwFPQeqWmgQUs5e0oL2XJdO8kJAJYPURvqIxT8MnbO9PXtLZxytVHM8PGtJqsOhMU2a
ycb5g1jKGCONvdbltHSZgP5t5pBEPyRyDJfLA1bEGPzWTfJC4zYodRmAOjysXNC42rvbQ1FLUm9L
g04n5E5QrUS3gzJnfhmP02i1yQv66/c+HXc4uQ8VsqZ4wwUa1aMmH4CPIN9Zmz/FXF9JRy0t2bl5
JbLokq7LxmyEK5u8r9I2P9lpuxv6tZzN0opBjxqUnG8iZapX7mmaW24Zx4fSK38S8BIErRGvBLtL
NpC0hRVggOCdlTNVt2auo/SqHcxJC0ykZmq+kj1ZCDLNN/nS/zfx9vezi9nocoI4ptMOvVM5QQI+
P9BKsT36Ez+aojs6tRt1zXTnjHBvmr1ifWlTIr82xwOonV8lCxiVnp25VXwYXb6l/HvVsg2fvlO5
Mo+LdpBgQ7YYekRXDXBZO1qdnsv4IApQ8TcfQXkUdO6JFF9ub/3F9XLBBWvNRHlIGF0esmriVeOg
n+QQ843Fntgab/bC93F1z60acEgzceTl93GuM3Tx+/Ghy09oZc5Pt3/+0snF94HjBLAE3lXNdWSa
9L0izrQDnLmJHdFbYaFZyb0E7Pips1gf6U3uBRBxbfZAPBhRMYzeHjX8NVTr4kBBSIF3LObyij50
kOg9L0yGXdlE7pO91ov5BsNSwh0A64AsQFYPKAA1S1WSerBGy4oPU5tWGzNzZFjaPrJvBXhBKDf4
l2koisgshLdDYyW4QfqY7qpMt3HHxumvFkHGdmRJFbqNAHWH0fEdmD2+enXiRcyIERkwNgV5qUF9
r+r+ZL79kPX274515Ek2Zhf1NEMHqD0N77+wMDJ7zjGgae5KIZoIo8io7sUHDeTZcWZtEu4e9aLc
394qiwuEywQeEN0pUMC63ImIUk3pttgplhcHJaehWDGgYjTnW2TGPv7HggpsGJKKD1xLtUMcD1HB
AHMkJmIly33JpR16bfHQNVpQm0XEpLEjbvfS297DNPj7xCnuHLsLZ/JcbxyeUIrasDzbG/ka5+PC
VQPyFIQFs5KIh39fzoJhC0ETw8M2rZ4cLyoNMHdMK4HOQlw1d7boPjha8BpXGeZ4bQ9TpRvaYepO
sf6x4DwydRFIH1JM04oDWHjXoI3GAl0aErh42SpBgsPIYBcZT16yCqsqfmqeE6Vs12W7STNDp717
/yaCPQ8nHCk/YDsup492hWjAzaodxumZArny6/bnF7cQHuczkgNPW+AtLr+PBF/Z9OagHYbRNh60
2NHD1LaakFbgO6ISPX1565tHWdb0MXa9dkeky6Okjb/gFZtEsrPiTY72/FcgaOKfI3eNsMpJHwyu
1qIQ0LsPpBbJSnZ0aU8ZM9u/B2naGYd1+aMFYktz4JiU1vuYOGjRMYHeidcguAs3Irjd/2tFZaS1
J42xKrO1g25gY4X0Wzc8ULqSwVo0ArYukH/P+XN1fVvPFs5YFHASje1HeGLmUZtBshg6KMbGE/Ua
fGfpqOBhDqeOnM8ctF9OnYTMIV5BpXbQHBpUSOkO/h/OnlsB3Wl95ags20IG0poVd/ECubRlWWnu
NyXGps0PtS4JjLyLSungLgCLc79WVlk6mUAL/dfc/PezMI1DAreyOYYmqR0kxs6f2sD1P7XmMavN
oC7C20dn0RzgqwDJz0gotahmDYZPm2oOPAvQysCDQsAo2BEbLI1reNaFiYSnh87qnK2b03WXI7O7
Pq2FgdisSwdQrWTf+tjaDVq2qZsMBT254k4XLq5zc+rGr4csL1NvxM0vA/CQde/UX5yvrYvvK3uQ
u03uTg6+L0vESUG+Vk5VGW3+MQBOdd8E1BhVNjUGbGeAZtFhAA35ZbpRUgZyZ/cITjZw0ykLsgFX
3+Bs9Nx/Nan4pud9YBscwYb7aRyGR1FVwHVmK2d9Ycdg4GhYgJ9FYced5/1sgzrTaOpZiYhKxtse
mptc3GsAYLE03Y9JDlDOGg5gcd+cGVTmwZhozyxPjw+e1j/ZzL8vCozbR2Q1TZHUjJUT8RYSKiEj
yD2RCAc5BOTW1LcY0C1xweSAee9t9IYX3ZMli63efHP4axkI0NwNoNTq95UkO2Zi3ZNqTeVpcY5B
RQWNQvCdXSVRJ61NwZo7P2OyOCDaczeCbnTrtNAB+syLlXtoPndX4531vPCOByeoGiLXFUC5bH6b
AWQTEW5vPOMxGX+VJAti+IHcC2Nn5Zn2JgRxZXPuyoc0G8Csb31ZZ5vI6D196so6PqTOqRxZUDlG
lIFYRhIg+9qjO37xpp0Grjr8t5u+84MeCqTVlIWNUYZa0YQsT4IyxRtPPjFXj3zo3tYGeYbs7a4c
9y26tXJphc1MKxDvtcEMKXlwxUOmT7gr0kBrwZKfB3q88+xnijd3Mjxn2Xc73tsM2r3fNf/zZN9J
cZeOQ3Tb4751sKljx/aCy0W9BROg7OcmHfDY6LP4kIzfmn6TTwe0BAduKgND/nSmIuiMven0L5r9
XAAaUrIUeZRpY4KAsRr0wNEpGOO8/e1f9cYoffWr8JOAGwDxAB6el8c6JnxyjNzwD07yNJptNHaf
fUT8zEDLE6TZJ6kBYbyt5ENZfbNM3EkTJIrEV02XoW1DEYD+SBoRkqwK5XjsWy8i0Itspu3U/onp
o1+SKBZrmZk3vc7rH40YFrsWRLZqWN7Gwu0otaERjl9T0AoUAKg4JH+KQUamca8NnwrS4sH3ua2e
ytzdMGvTI39jpjtL3+aEIn1pgYjnm+0UUAJ9MDS+4/WzdD9U/a4nh6Y8Nv6ngezl+K1v+Z1T/MrF
iNSut6/SlRB5odxpzslHH3CJmV7YVq5Hz5NFmzYxQZ0aMq/ps9bc5+xhqo82tjytPv0fad+1JKmu
bftFRODNKyZducyqNqv7hWgrJCGMBAj4+jtY+8Y5VWRGEbXPQ/dLRzMTITM15zBd+8elRzQ6PmzC
u5w0LrZ0YN5AaQmgW/P22ys5aTkQwMX8/Nw3D83l/bl1I9GF4htScyhxoDSznvCu4kPRN633BKWy
h2iEoqePOt38QTmU/7yFs7zAUpC8IrIECi7RTSu9Jygdpl1+31ntxpX7RkqBF/nfCKujb4TI6qBU
7z0Bpkw8GGY5X98fqVsBIPkMRhGiAIay3hpcvxrHzvOewB+L40CV/8ULhGDa4EPgTnBVHnMqCMoo
VKefBPRKD+LXf/HrXz19NTxSqsjpOzy9aT9V9mOotnryN45FVLZRcFuYIpi0q+GJ+skZSNX6T83g
Prhj/8TG8DMbm0/MztMpIIfRU1tK+bcmL0ofgDnBJgsiOM7btQG0q7YGhsk7MIVDUcFxqB5GklUw
XNn4OlehsPAXtzKc+Dj50e94G4r5KILQti8vpnOSFbCBu7nfAKBthbDfhrBhFDoMsF64FNU0HHsb
3EEJO4an2g63YAVXaRveBuXLpb4AFSz0hN+GmkldMVIglKlJ2upubzIWxJFfF+BZOL97YEjfn35X
l9AlIPSQ4BIDXh58dt4GtHTrOXnU8AunXwv/ZBU/JBYQ3apX3XovAEYhfo0j59pWDq4Jtuj7iF+A
2pC7rhC7JlR3YaN/4dp28Lrg7/uvdeuTOZBpR9UcxacrDFU7O5rkkc8vavIh7VfwT4q4T429Be69
GQfeZribgZEATuPb4Sttgdv2PPML2CmxVEg4f7Xdxv52tYDxiZxXMVbTjxEg01lu8gtuiL9dl3yd
Hf8E5AN6690vm9SPkOb1NlbV7ZguDPQwJyDpsp6H6HtM9ehynKPgExUvvm6gO/0djRB3uINY/Ua4
28P4P+HWyiNGOQ1gdTgc4pLQNcHd0BxaeCn+F5MCCnNI2LE34ZMtk/RV/gykMuF9KctLCUvKagwu
3hRdZr1V9ry1pACpAdcRx5FztYZ1OOWWw5rmwhXUwV0ye19ZW+yH/hPNseW+P9FvBgvg2AzIKigM
a+Dc5FWkRHmgvkxSprWL1lRNj5EW8WRsYeVvhVrYX8BZwHscXZy3w1e6jUN7oZpLr7Ab6S8TDD3V
/AtXhfdf6dbcWxjii9Qg0Kvr2pHw6p47jlFf2pJYO4Mv4r6zB+dk67dvsxdkrfdm53YbA3mVRWCV
AZmLcxJIadCYVhthYTBlBgxRO/veMu6jjQLA1uOXwX019xpO+4q2pLm0sWYpgJzvj9mtBfT616+m
ts9qZdg1fn34vW5xbxvGxN9oHG+9wfLZXr0B82TZ+8sbzDQz1CaRcevxqx1HM1cKCe4CRGEOxiNI
tO8P0PLf31x68HnBSgMCHs4FgCmvBsgEumMIfLe5dMa8r8Vp1LtG/MPq52o8ePa+nbYC3lgtOPBw
OwH+Gtl7tLzvq+Hqob5d9UxWl8psAdbtiHEfcAnifm0bKZnAf3//BW/GW4iAOIzQEl9nDqOc67zt
R8SLduwF7c8/1RY94l8liNUg4hxCbuIDJnFNNvUmi/oGdL4uwgeLP4Ysv5ForKkEICVw1M+yMDJW
68Qoo8+dMDLp0aeST5BbAAhIt2fbQ9ewoRaLsU33n+p5Hu/6sOAE0g+kecEntKCjHZbOEXFgct+A
INUMwrxvHI+mTeubWVNRGfv4L8e8cnXsq57ekYLlySg1P6vWx7Mag1VJY0gwq0zSMqjPyQJfu058
4qYl6qb+PGcVKihDDJop/AwYiQ6Fac73uNAZRyDv8hSfiT1BrKCydo52UL8GBCVGOyJnsd2K7zrs
rSeztb6Hdf6toQZcGJjogEGk3My0EcB0OICnJwQSA7eKHRb+tZwh/+IYph1HI/GtDBf/T36j+HPZ
uOxiWkVUpsyHX3E+F/LILGeKC4tYJ/BL8x8Rt+0h7gksSA1O7aR0K+8kymBxI7VkbMFp4lGMk5Pq
mutHKUSA4dFyY4rdWKKAJ6L1spQy0XRb7wDBMJYO7lc4N/v7P0JZG8XnG1MYJFbgidC/hzzIWtzR
60I4VXiuuBC3jun83eIPVJ8GDOD7S+XGZolCJfYANM+RCKxvREzPvcw7Wl3KCZLy/L6RIVAcG+CN
G4OFHAA3EhyVuHQ5q6ytsBzozDZSXERxzF+CaasYeL2fgVoOvPyitodb6eowridvVlZrlJeAfNY8
j2H0kL0/SrdeALIwYGGjLHBd3wClz6RGUVUX2iZe/8Xf6qZuPH/dwW4EnUQ+4PlulEUZSpD/p5/v
rTJzEvHcMyc8PrgD+Lvbol4v58VqK4TyEBhw8PJBAWh9nqipJLLgTXmZ/T5RTX90nCek6Njxjuam
OPatoXodbLXwQl16gkd1CWGLuxDbif3y/ljdWngLqg5lAsgOodbx9qxyuRj9EIiCS0eymqu4Z3Us
rLTevR/mxrqDHj3IQsjBTeizrD7JUHQOuj8CS2ImqWNVT670Dvlof/9vwgCjA9IbhI3WnwZ5Ymt4
LhWXwukv6DXEWtuHxtvSFLqRUSyCFbioYxJcQywJ6Ddi8YS7TIaO7ajPfM0y13oo5iefQatl0HG+
RYW7MRGWT4RUH2VbiL2tkiTmVphzVi0vxdkQVSbr+uOLfvFlX6RaoD8F05i3M0EETIZBXbcXp0G9
Lva22iY3lo3noHq/iEBh0awFgGgdOZx3dnPx7FQ8P49f5JhumSvfmM0eEGaQqgabCPC91Tu0bm+V
rMybCwQhX4Ymg/MWIKlGGM8f1HzCGYJq4CI4iVmNv9c3oqCy3JbBeOsyiibp8efy/ky+9bkXBeJF
KgDGeeuO/aTwiSq4YFymokymdJy2hupmAPgMwpgMiTHqdW8/t2lghwc8Wl7QD2rTEn8+/gI4z3Ff
xPaFc3214kurjgItJAYosA99V+wc6/h+hFsf+3WE1THbBa0lQzLgVgKtORLYKZKmzBh+wsvk/UC3
hgpU+ijCpR7FnjUEuaDzJCeIHF7Ij7Y4RFvCQjcfj/QdLZkFTm2u7ieBMRBz8v32ouovU5vYwRbj
ZyvA6lMzzZu+cBDAFXvL3OcfM5dflgLarigXgekDN6B1HcLtW+H6rdFcFJV/HYXk3q4+nvLgAgCr
mqUbgv1jNZlAM56BVtLNxekBzQbgbeML35hKb56/mkrKMvuiK/F8XagjN/Rn1HB2fk4PqPJtnIQ3
PsabUKvsDRRg1IgKhJpkbMLw7PP7c/XGQfvm8Uv4V3fPup/tWhpYFAHsecI4R3dqi/d98w1AHTch
koJC//p7G1SKoiNRfXH9Gt12IHuMaPqg58wyqVD6BAwVDOYQ947VcSeC3qj9vMYXcdtsVuq7ct1d
34ksb7YcDm6+zwIjx8xCN3FddLLGoACoN2wujN/Ph55vXG1ufpFXj1+tPt9sYefq+3i84sfAzJSV
ack39sKtd1gNl+WLYUQtvLlUYheWO314f1ZtPH5t4Y3bgG5LFjQXv0ogsGps4TdurT+UTByw4AIU
MNblWTvvGl7UmFJtNdDHUdl/DJrTc8eJeXQdPW8crsuQrzJ45B8mYGOLSM7VjlWraRgd3DQhIFpZ
D3MXFInNhygWUx8kFg6rNOc0/F461N6Cq/3b/3oVe4GQAnyM+bCA4cMrJLkpBz761CmeVGd4GR2t
9pnKcQLsGd2Rwff7x6mxqlTJKohZAexsDnmFppCZ2Qy/adVv6aSthh7If8h5gAeKjBnoimjdBXKY
ibK4KOlFE7s6Npp3D4FFvaTscxLP1I82tvKb8cCmREQUyFGKf7tBRabqhSQ1uxRF2lix9C8OT7Xz
sfXwn7d6FWW1oTO7mea6RxTL+h2hcx75yfsrYrWqrwKstnEJU3tVwfLjIvM8psFna3iWQ/Z+jDXr
4N8gaP8sTTrktBCUeztWtbIKGVUjuVA93XFaP7qGsw9Q3Yqbvn8aHXtngWANK6sz7JGhJxR+fv8H
3HpJdO0AdEBNHr2T1Ut2XUg1ANjkUhZ9SqizV8FTM/3zfpBbE+J1kGXveXViofDOHQBpyMUGlEdR
BhtUQPWMC2Ss3w90821wYVsuu1h5V0QvT0flDD3Qi2yDnwWtf/s+T0Y0094Ps9pc/vPRYEm83A/R
FlzfDKxq1DWtnOLCKBVxXwwH1bvHmVovwO0/8NH528Lw8+Mxod6P5Agit4DCrD4UPk+NdjwrLpH/
M/IOjH4S9OTKKG4hT6mDrcvPrZEE+BVldSBhr5UwVe2okOi2QLp0tOQnJr+MzsdqaP+OIjgaqDSj
zoXe1iop5uhOV2Mbkksud6H1Um0hsFcn2vJ8uD4A+oKHo9JlLrPy1ayrrGKeopnkZ/AUYgviAf3H
suJ/Ayx5MZwMwfiDaOjbACVAl2Cku9FZ6MzcBVt7w63fD3nLEPMZ8s1Xt3UrbIIJZrnRuRwe7wfv
v/jxaJ8DbQcJS1TxlwnwanRG06lgXxVEZ6OIgQbTYmON3FjzKJ4stQYcALiBruYrkBvMmQpNLsqL
c/bL8RM7iiXZOGpujNGbKMu/v3oLEo3wVSYDtq+y2kPb7Ucg+QY+5HYItN+AbACufs1BGcAoRjKM
HdKfpn3o5HeyndL31/btsfrfEKuxEkR1zTwiBLFPjpGGXlJU+y76WJa6TNcQaMbAAW4Hs3ZdgI8c
oFwGL8J8kmByOc95e9zyQ7gxVvCPxO5rYb4iymrJWWHezRBsjM4QBXDlIQ92Hx6oRTcDn2KRXcVb
vP3cwqQhnzoTK66GTqCOzejUwHoTEND341zvfphVEAXATcHHQK3t6sYy9IgtSXSef3X8qfzSDx9e
fQiw2PXg6MU3+RfF+XreerBD9EgYnityDy8W/8NzFgQa5J4Lhww763rxWYbyGlra4TkwdtODxzZS
r6vhgVYCBC1Qt3KXaom9uoqMnhHmJW1tKOrcuX9sfWdtNSOvJtKixoBOPZB/OOrAw3j7oaUx5hJt
N/fcyCKFRyWkwT7W8EaVAXQy0AgWPBYanuvEx/CHsJDMcs8C4kDiKMKNqXp9C8AXxjIDphl3HlwE
VqeDNxAAtPNmPhdlnwrI6LJi3wHXbdBT1QKlHT7S6UWb34iXyfyQtxtT4DqzXOLDsGmplIP5u87C
B29upSvofLa8Z1eidAbVI3RkZxCCon30BEBJ9Hf+oLvvMqooGiwAC+jCIK1dpf6wyIGLaW6PZ7/K
KuOOdy8fXJh4PlpuJkoSDnYAd5X09yUzXNE309ks07x/cNXJKD6G5fj3FXAoWhClRAKJotfbqYfO
auTkrjmeS/u3BXKvtaWcs4Y1//8Ii6bvsvKv0O424f5IWj1ickOLDvo84GbiAqO7J2M+O7/8bx7z
M28EykdtGWvcWLkgbC18eijIQqVgddIAmlib8G4Zz04ffRmm6h8++S+ONDcOtBvL1wELbakL4y6M
o+DtGIrJKjjoVRNa9uaAD0XlsYQsycYSW57y5p6NyYCpDXAjpgK6vasUhkZw0hiYMZ1DB5iyDnuR
+cdkU+KZImk/2ND896O9DrY62nxSoy3fQOulUM3BEangWx6pazmC/4RAmX45eqB4s34flLqxng0P
kzt6CUuaVH6579tvjQUihw27k4nEQoF1s5GH3xxGJB+LAitMJa8adxoVAbRApnPRKxb7g/9prPUj
9+sk9/o9hOG3dibUANZfDnD0JRlBKRzcSFQC386PobEnx+PzfDbmju5Uzqe/kysCAhlwSyqogMok
B2FS0LF8nHnVpgYD9Rcs9S6Bg5kdoy07JGOjxrjz8zmDyvwUh6R247nqF7IIMrYYcgTtYcAWEpfA
6ryQ3hkvJQCCByrsMCNauY/upK2LM/ZO2pVD+FCPIbR1LPLFaZT+Klxn/A1fuujgEWp84ZP72wh0
mdmDZM/AqIhMja2bBtjlE8vT+DZh9bPpLaFjx5wbkfY1QGExH0V+mKNG7AzS1ceWjv6BuHKIu96f
087X4i6i05S1pld/DhSnCbpObkYLZ7g4YvTQDxZAfgyTc6iLpnno5xoiSGge7lTZB6d8UOPBqqsm
VWgsJi6cXsDGNHUWtCF0xYbOsHd2DkaYbZHpOaCMPmtT0qfInQTEHMnfOgShOgD8Cxo/HoghKEgl
OVpHMeG1nUEsoH4QDnezBj3qdHQ8nbZ8GLJedj+Y47HE9dBLluFkpdhTaxCQYM4TEN98FGhuPSvh
3hOUfpo566dqPLlRLjIacT8uKkmOPummg4OUHdQFa0f8AGUPFv72PDGnlElInYfgIpeMmhkzPQyp
hh9P1Cv+T1UE9f3oVSaKFgJKP64/BtZ9R+mzhypkUoKFeGEs+ukAMnOY+NAMGHoFgQ8T9YGD4fYA
OXrFt2iS2GZH3fxjgcKik652SZ9IOX+D0RC0nypIrT8ZoQHhaOiK/rTHWbmphiLndxoS85vddSoz
tDRYYkxB8Nme7OpnDm/rT1Go6ntTYDa2dvRHmlUHYC9YuRiaF0yMKctF90cYo/GSw9z3XpCJfw9F
7YZHh3qQ9Q760U9dj4Yx5qJdH1CH+lsMs/+sle4SSiKdinAih6ryh8Sng79HGad4Rj8xbOKoZf2X
yFDqJ23okJhGgbqLtPWPXEXiMoDCnea425OEBYWRAPcTPDitfgmMsbiTdJirp8btyZ42BgBbEDSN
YbxBjqMQ8pE2nZtZHXbZYpkkkxfUKdzCzo1bDxhn+os7E/tekbB/Kpy5iSsMxmcGhIt/zEEv22mn
8V+mHGMf+3YBwaawB6/Hqsinsm2+20EjvqrG/sZzH3cUkP+TAd2Hw6yBSeT4SrMxejt8pPEJYxt9
dabOTqqQgykHB5LUEVMNLpCAGgE3v3mz4Xnp1Ck7rmkPZXyvwV8S6FlSdtEXYPtoDAmYKjWJo7Jg
BJ2RYGU2SRQI8uC2XY8XDcu4WyTip58B+zlgFyZ5BTHJP6T05thrOE8tDQen1ob8buf1JTBrAdtb
gqkk1NGQzuhwpF4XsV03uWVSRfaQ4BoD3Nkg2yMEI90UevTBZ+Uy8wQGHElKMpGkUo6bTJhzsZ7h
YNGQ0UzmFkqIggbyJHttwBnEZxw7oSoTSTXdu9xpv6rBNX763aIt5jKaiqCBwCctjTu/oHo/l6FI
hKxc6HwOZkI9JhIbYiOw5IYW/ktQQh/Azmm4F6WsE9kH498BycGdxCXmZ1/T8ujYhRdHXb2A+rjo
kgkqngdsPCYYZYVOS3OwvjCnUnUSlbq/F7QtfnoGzp6Y4jqVOEzO+0j6w8kBf2TfAEuX6dIavtoQ
B+mSMWwsWPoM3Z5MGoQySLKmbc2GF4/28Avnkn+yRUf3Eh7M8eAPxd0AM9zLmPdoG47GeIBEe5gw
qzcfe868XWkY6ln4PvxcStWnfRd2MXww/bQPeX0ejM4/GWAYHDr4HGegrPJ/FNHiwKbJSkblVXFX
msHdROv65KvcjHPeGVPct3P9RzklNrsJpg+G2QFHP1YJy6MLMaw8tZn6XeaCgo1cqdgty6+o8Yq4
JkA9ihyi/YNw6c40AuwaUTU/cg2DUSOsrZi3LQ4GNdMH1UJDHveiIbbLEbrisCqOpZtXmSprKIsX
ymMn2aJ3keNH3Q+s63e04/3DbKtob9ahzJwmEFlbdlPiTkYNfdnJPRBiWru8IlE2OhGSJGL133H6
ltlUMJrNI+5CgdG4yUgNlkG3DVej2vWPEqjRZPRdnWqj5BDpsqKHdujLxJewRVWR+7eM/PkFrXr5
3LBG7JWDsEEvgevOzSqOCB+/VF0ZLKSXOQYXy3zMiy6C8QczjzzKu31jKFAVseudIsgkZKUY/J1U
rIHrnOkdJTfHxJDcP7p8ZC+96AFDVfDKROW6TYMGc0fxwM6CYvDTWfTW3pjgRZZogEVxaCkCYYsx
inneufflFBoHm+MvLw+qZCrgSRbV0NAXGpsGtCHkyY9GK2NtxZ9hQkf2jmqbZ1mXzVHIuf/cAvyb
WlPoXqSy8KMrWWaDMXQ/eA8RxDGc2jgCPwqymJ3ewzaByJRhsIAiIlXmlWDt8iaqjqWdO2ng1O1d
U+FO5kwRPUhMYixp2r24o0t/Mb9nKXzBhoNNIwCObENAuqP/XXsL6C3AndKGrks88tq6w5LNExQM
7V0T8GIfSJBnpy6cD+WQY5HlsJRlVedAC7SdY2cu3WNXGQMsQME+OKEHBDEeAG2hI6j8F85IcxqH
vs3qzsSc9eciLXPAkZre9E8NcYZdK7wgDgdbPICvQhI4dgSpUXvirmqQXRVBbibO2CCFJNU3XkFy
LXdn94jqVL5r0cXc6dCFcaNZhvFU+Sopvb6JpwZilc0I+TcQ2n6F8/BLBmPwbRhyC6koxZbX2+Ze
DjW0wKDNFU9QagGvuXHv2FSQB2UUdO/wvv7CZyNPbK/v9rysnESoSKYtoSw1RRHsPLOW+yqfyntk
BZiD0wCl/r4wdxKCs+AUq8XYOvJi6DbQpAR7ck/zmudp7bttOi2HDesGfNNpRA4Bcffn0a2r2OWG
KRPQhYzEHRaJRHvQae7zMcuVoodKFf15BnDpUKtePYKJXacGLK0esY6mbGSEPNWKm4+yquE+PNjG
jlmG3tcafcOpZUYQi9JkKcoZDaw+urxL+z7oXyab/Cm9Oikd76lFfplZUJL46kPdeUrq2ZDfnWBS
Z6vt+W8XAmP/RJDzyzwWzak2i1/c4lacG7pMkINA7qqNwA8fkMouzNhD7Q3RrpO5mcH2DRziQQWp
N4dj1kFjLsmFlNnQuGQHndwunltwgiM0VrPSsDDpcGWLraH+NtWRhQ0jEk+hO7PUqQoRN+48wZi1
CeMR9ZMMXVojK6yJZr5HCjPRVmN7exc+lcMOQtnNczVAFdAtyFcyg8tMuk5+QxpReJmLNuMZ9Knh
3oMYUXliEUAdSGZdY48mZ5+CdeCcPBmpx4gEv9GS13EDtt+jm0Okc+xHJKWahIc80jh2BI5BWtZ+
BnGFDl18u3/RtVXsArD2vkGIJrhHK6P7FHRGeVKqns8+BDt8KKrNqr6T4AGZaM/lbcKUmq2kKFv2
pEZsCIU9j0mPsgiOlJZB4o13WV16gLMDGvGMzAwaFnlT7iAA7t9X4xB+BsItbxKmm/40joSD256b
uo0rK6d/yqHqz64RiJeSBPwOkqBmjBOS0FiHfITOvN8kLTK8fV53xi5aDKNGj/oJOHNhOtuWPpQ1
EE51pFXq8uB7h7nwkDdN9wDJYPFlbH12PxTg/nCx1IumgX4uWD/tRsev034OndhpW/NTaDf0bBOD
JtyjBa5Dbb93JnASbDLUn4cSGvHeLKoE3MMl6UHPnaD0fCq6ucpq0nw1FNw1K+aL+4r1zR1EyLoH
3HgIznynffJKOb4EoKMcTckwVZTD4TrL/uJ/sbTQsIuqbKxNr5iGfVRhL8V1qz23TYvMXlphHWtX
5xloBMO5nGojNnTAMjD0y1i4uGKIgujPTu7ZO1965lOEhf0JWpd1Bt1nkVZMFyldhEPqsR3uTA6l
i8kfpmfqiu7Z5TPF9glNhkr3aic5uBEsPFZq/MJz10h7FkEs0NY8YaIaHu0RdyWF7TAx3UrtbLt0
d1bUeYmjTL0vvMFK8676k3PZY7MY2lMtqfUI6ilLSlOlow9xBjlriLPBU+jesYruR1mBwmnS1nmo
gZCNS+AUU9AvfBzVIz8VZs0TOOU2UAYz9wX0eMKogr/gbM8njYZf1uUM6iRRT3aOl8PYYybdM1oD
NkRUXTsdOymgSpxHu7JhJAlnHd5bDeNpw6JoN/gUx7qs1SfXqn4z2oVPpoNtzo8apC26NdDUdcrj
RGj4w5aQXuU071O7kx2kjyv3zqqi7hT05h8f4pGJ3UvrxEZo6KqRuTEKcuWiJj7sCnRakqjqgFCV
9ZT50LRM8iL0M2McrT3xTDimliH769o9av8OMZ5an7MTrXux40SbCfqBRaY0g9CnTY1MSRwM1FPV
XpsdktCotE/QXpPn2vLmgwFv7xjA2zA1KTcSHhXlcfCodzeGiySvhrObR0nzrWvZlJk6z48zqOjJ
bJbzKbIn/sMsZn8Hpdnxfpb678R4+dl1DIylx79oCFju6j7/1SslXiSIg+euzMfYHm37XNvBECMd
Jdlg+9UeiThJgLKEd2Zj65QVtRNb+D7HnhptbAN/d+oJHZoYlRPzEeKcedJ3uktLq3osLG0dc4hd
ZiSaQOOE0X3iM7e+QwW6fhhcpi+CGuNnCCm8zB2AwHGzSOTkkfvkDKbx2YioFWOt1jRuWVScC66/
RUUxPtROBKkFN/8bVby/A1RsPNlDWx1dHFkJhRRIXPsSUokzYOyXyhYqqTE4BsL3ZnD0c6JTzpiI
W0hRJBWFPbZWkiQ59aB+3QKqOFRmmLRNOOxEkfOkdbwvDpo/h5mW1V8+wFh7nrrlylWUGffIgKuY
bJ/8zuJxZ0ezF9eNNT/7Xu4d/d6CFl/ZmfsgEH9lyaPDYLc8BSMHeRlVzl0L4T4I5lr3RaOhy0Ma
89w6wzKEsITqIiNKqcN/CMHpvsTla8fAikNRweEJZBHLFHJeyLhxA/NOwDSMn+vRh33ybOJGOTLx
DzcM+TUfqX/ysTb26Om1EJKLhicD+RSsJHMCj5kW5a1BWIda5/MjjtQ2HqjwLy3luOuIML/jACRn
ArZLB7cLShAKbRAysVUXO8DRgdwvyy6mjYgg+4wkk/Ttn5D2bVxiiR9g1SSyThpRHIzSyOZm4amO
WAcGEElxa2JGkcgDoF2O1kPYj+V9IST98n6N/mZxD6xitBKhaQUg+Nvinhy1D9vwcD73FnRj7uct
osGt58NQB/pPC8AL6hlvnw9RbOUDMjOfu/5xZMfC3ugxbDzfXTUZdR4YoUXx/OipBPNMJ+8Pz1UJ
HrXPCH0nqAuBY3IFhBuDEGfcmM9nXZeoFJ4guzKxLcr1rXd4HWRBsLzqLypPeNqHeeSZw0zHiLeE
uLYev/oEEUBjauzw+AAlR0D6yLf3x+jm85cGD1ChFnx5VpX9KWgnn6P6dBbq+1k5Pz78dEhYQTwA
arWg9ntL9FeDk0vdGXLwzbMh7e82ykOogH20uwha6FLGX/z5MFPXzTdILwKRrRrvnJviCS0g1NUn
5+/7r3FjIiEGMAmLIe41hQsdhMgBWtA7Q6HIUmdZoVLx6f0QS1PjTYdleQ3I0AaQjwCqam0e3ru1
y3yz9s49zkhlBy9eCVZlVH4PoEC/0XO/BlUh1gLBN0HvuPY2mVBobOem8nBAjgcuhtOc92CPWZ9s
RX5BGgvlyHEDEXFjmiGk79pL98gG9PztRDAbYwyZ23rnmrC4PBXk9/vDtyyD9fChPY41vpgJQyv1
7fMhRIB8psqDs139nrs9OHExaqnxiIUPx5+lSfF+vOsOEr4XGtr/ClbYAQbnbUCviaKyKkz/XA2B
lbV27qFBIk9ejvJwXWScDijZVp9Gx8h01eQbO9ut4Vz2NejiesB/rJv2qOp2Bnif/hkQjWTSJ+Z/
0A0CEBa836sIq31hwJleaGb7ZwLUEsSYVfBfTHhoPy/dKR/6TGtMeo1kOUQ1CTNCeBl6LBqKb7xZ
jtkPulIuzT4TSwsqUxitRUj47aeaLOT9Ouids0IJDaptBuq4G7Nhmb5vpt8SAhA+oMcWIN96+rHZ
libszuzzjJYZ6feiOldSx0Fzmpt25wn11ejEP2bu7lVU7QvU89zxz/u/4WpKLC1aIKGhP2tHIJqu
Vhg3Ww/X2Gg6ByiQ8kLcz47aaCfeDAHOIWhaAegpa5gfJAct1BKc6axV89eU+SkQ4f79t7jaBpe3
eBVi1c4G0oiRUtrTmXc/rMqKRfU0VmVceLv342y9yurUxv0jBOMccSpBcHWmSLw3dohbEZA+Y7MD
phCSCas3KQB8YGNBEWEpBRJXxCPKtBtBrrchAI/AM4SOOkAU19L25tS6bQuzlLNUAamANWvLrB0l
nEpYpEDYL4r2ULK6vINwJv1c+zQEDb/6+f5g3mhru2BcgbUP/Sj7igEgDFKxoC8BdUANJIAobmgj
8XVZ7FgqGfiWh+3NcIhiObA6v05Z4F9rB73v6LNX2ZlT/zP2Ki5Rw1f9V7feQD1enSvL+C56ZV4A
WcKrhR1I2FxY9ajP42h+sT2yk74vYzDsIZkwTSz2dJVSv/xlzeHGnnIzcmQjs1iy1ysRfu06jcwt
S597ymPdB7GN1jIkx3Pn3houSldJbrTZ+x/yKjHA24JEsQCKQCy+ohMUg+ejrRTqMzTQ57SaxKMP
MmZRt2kddv7/I+28euPGli38iwgwh9fOkiypZVtOL4Qjc8789fejD+5x926iidbBYGAMjGH1TrVr
V61aazXgzFDmUZuFoc6ZpZPVxEtDvcQ2OnfQelU1klM6/ZFuY1Lge0R3VyFM4A1XN/+Z5QuLOnM0
QdOBFANrQfgjxlqx0/OStjT2q0ctgqzgEqbuIl5kHkH5U2wjJJUvyAApWBkpUiicfR7VNoyfaU3i
uL45CpjMUGfj/gf/i9rK+bxxBIBbqFV/HHVr04/GsxKVd9d3xOxUTbqXgMZ5IogQLX+QqHGUbX+M
8qx5GWwyybxHlsjI5zYArF/UNlWA96ClzgeSOG5pGFLWH9mSlEAPRjnV0+7zplk3xqFvv14f1Mwl
o5+aE5x/3QztELhFf1R8IBw9UlofB3S9x/DndTvT/AtRAe0eBDcQZeGtRAhYI+eO7xlpfyS19d5w
c5zw8DXM9U9WpaDEFKyd1npKwFQvnKfZW4HzBE0c4FHHEQ9UFrdx7NvhcAzgu1NciUxQsTWMikzd
r8J5zYhNPe2HvtQnNLft6QQg1KId4BIHKUmOUVeBAiRxfFV4tRjln1z6dX1O58CeyOCxFUFasuVF
RKxJ+1yVd2N/9ORnAw+sVgE8Oc+Na64Dq4LFlra6gyY/+uofqbu7vRdqIu0BbI9uCY9luinPt6re
ZSWdbLJ6nDReEpK+sModrg9x5sydmZim+eTRbNfFlLce1aMNUWaf7CX15bqBmQv0zIAQEJe6FjeG
zxiUkNKRtvObuy4HohJ+bdSF0GB2LJD6cntSx5H/0oyfjEUeoTQNqQweLfOn6X5fwiUufP6vNMPJ
5/vIGe0hjfn8KlfD1RgvpV9mtjTcMLwdJv9HjC8889DBoYwVKGSoSqDDxdAorwUoofuoU4yFW0mZ
viW4Cwv2AGJ46NroARdsDVmVjgqaWUD6nZUSfNW1d6MU7Pzsk+7/ssepZlYcbIBtS+SLM+73zLB6
vuFCI9I8pPfGYxl6H4AVb33ts9sda7WCbfjQLJFvzLkn7NG+wMYAES524uVSqhGnVuMxV70fZiT/
yNV8SyWL0oPvrYIw3cuB9XN0i3daC97l+uaf2TJwMeKWZTqJ4IsVLs3GyQ07acBgqnTL5Kto4W5Z
+LzIwNimUTD4Kp9Hl5iU9La2/7zh9xPyTwxs3JSi//OqoArtrhmOiSd9anqZiNuzl2grZ24uGhT/
a0QTErN1K4ey0xUAVaHwR8cNerfIeCVr/6v3KXfI8lfJQcIotfv99dHNnTd4qMnjmazRBR1TWVI8
gCIMKH31xSTGrvcUU6+bmLn94Xn8Z2JawROfoVem2bdVMh4Da6N/L5VtUh4q4/anMkZgq0JWjSe5
yDhSKYmqVSNGtHFjDJBkLszT/CD+fV84su4gybnh0fLQ5bvW2cPv2NUHdSlrN78a/6xo51NV1fbQ
pC1WtGIra6vgi7Y0jlkLfwNYnrEKr51zC5k51FHt/33vA1+Pbf9brFZPSmlsry/6gh2RJMv2/Uof
i2E4Grzj+knkljr2yvCrhZaGeTu82YBao04pxstuWoHva4DjG9ljCnC6OgJQuT6UWQ+DcMH/mxCi
V8crLa+IMeGBdKogEDDCt2wuwkYa6hG8J6t1vigSwIesCk2SMISPaYeKQWNu3Py+U8s3jAVHPKUa
DegiVCESieiJHgZJp3hC+hTo3cLn51bj9PNTIHRy1GMerU4CrBW8vbVRf7cAcvU3eBPiXZwVrZdc
Z9NPODExVJIWDGEmH/1ig/yAdwcExVx6l88t+VQaIMsIpw39r+dGrFYaISalTmaPYJTkOl+FtvF6
fVvNeRQyb3Reko4l3SDMlR27buApnny0rW7rhOUhdCEPdFBQCnfXLc2NhpufKJ68lcPz6Hw0oGdJ
QEgDJa3SbvcKrDAbj3zjrRUH6FR02aCd1zLYymLkJluSYUoB0VRX7aQtAKTrg5ibrkkxwaCjmtqr
yPRgJoAj3NEYj4MGcNQr1rFlbZvsYNYLYeHcHiYpY9Jkj0AKlabz2VKr1NB9NMaPlPRXbfQ9BeGT
JgtPjgUjonsEf1xpTT4ZyZBrLT63EEfaS+mKWSM8m6ZuLJ0ZE3YYsXqKzoPRsyIIpEh/sLUqltrW
5jYXE0Uj3pR6vWi7UsnXhXTq9UcbkPB9Nebq3vWaP9cXf/qlYqR+akTYwQh/uE1p8tBNIPmLi68p
oINc+8rKONlbTFE/hcKZ+tnFA6TT28QZLWD/YT9kK1UuHxxJeWmz8TEPzdcSDPT1oc3On0PHGMcH
aWnR1eRxqZdRodMZZeQrW+FhqC045dmT88+CKI0VkQWsaMYfjo61D6XNGD9OwMClAEyZ3W3k9tBq
IIAh0j8/NzBi5nmtM3GpP1REFo+dOUBTW332yrh+cJsCJA0FEzLHif1FasyBZgFVWyV9b+8b+HIz
v92EVtLsr8/v3FvLoGgHHoHcDIwM5z+rzWIlkhrKAnlS/kiU4NGATmwtWXWwrimHrZxEbvdFmtz+
DrdOzQo7dvDyDpSNPxzReVwDS9wudu0pczvHmNos2TeU9P6++k5uQssJGsenz4aRuR0ZT4BqKVp8
O4Jt80EelOpBagPnCeQ7rRZoeK36VEq2YRLRHO8U+d5Ts2KNLnr49fqMz22EqUuWqvr0jhcLMQak
7n6qM+Nh9+B/aYqN7G/fYGEiP0KnA2YZscE58GlpC2CVOSqAUCO7BOj7mlVLaJa5c4M4EsosKs18
9Dqf75zCBkneOvjouEcRd6zvSfZWNf0W1ur6cJYMCXvFs9O0bkMMuQPADZT4wEY990kPoYyjf75u
a+44QDEwCbmTHnLEh2YXeCP+mpJiKkmPajdsM0fa6wFAF4W6UdyFn2U5+Hbd5tz4pnWijZXOhIu0
uVe0vmuXtETGqGrrL3YsQyWPlP2Cn5trPiZs+a8d8VKVHcjJoTokuO3TTUYjUgUizemllRx9suIH
LSPDwoEP79tYvsvrJSLzuak9NS9E8clQuC4guvEIarUa1uX4OavuFWOTqCvZOlyf0rmzz6XLZHK3
09sq7M0g6ovAbFQeiiXcI7ler3g5LulBzA6IShyyCQB9Lljs7DCwMsdj3Xh7tXtNksZ3WuG5a1er
SR9FsbUN9S76UCX+EmvIrGUCF0I9dMRtMcjXYrrsdIOpLKtDqdbrkrrBqH4MFH3nmEfFWghdZ8IL
In0SMHAyEMmIoWs5EUU1LpgvQ3rhcZ8Mu7x8YF7Nm8k3bJnAmEhsEtkgHSakefTa7Cv4EuQjXQ/r
sfxFG0Ttf7p5a9BmzbaASgDMgD6dxpNroZKVIRpAIh+z8aM77ozu7g3fp/99CvV5SYr6XnnmJUrb
F8qxctb9sCpu5Cud0CN8+9/3hd8vl6OXNlqsHFUnXEdKvypuRhBOFkxICsiImvCSTdvhZIZk8h9J
PGjyEXmdlboZHW/Boc+cTht+OJgxVO7AC4eHQlCXJMjuHO3HIdRWEp1P19dgeoMI8TBbdfo0dz9o
y+kKPhlBLbcx2nGtetTjyNo0TnLnhgbdus2D1huH0qijddk5I72Q0Zfrlmd8ObxHoMqmChsla+F1
1KSRnEoTPBKtm65bm58kZ9um799iBFwZdIpUnMSkjha5Smj1vnyM5SZYxcNw17iyu/ad8dXUkoUA
cXZEKolDKmn6dDbP51LvHFWSQZYdm8p83zThh6mTcCUl4fNgLzEtzPg1iuD/bE1/f7JuUkVnq9pH
vPnbb3H8TSlfzGADTgTGCmSHFzbJTBxmUwoFdggIywEHeG5Ms1LbKi2Qpm0B5EZVV7XOg9b3F67d
uc1OaQ40K4RxMGMLPk2lN8RyR4oLqVavHYfG8ttTuyQVHMrhDAJ/Jmz20tPphc9N8sf0ChgPYd8s
TNT8CP4ZEDyOZo7ACmptPOrFzuzu69/Xd/PcOvCww9MwRRZ8Yefr0JedVcOaOx7Dr4N8b2tHt3rL
EsAKqLCHKUGLyW/H6vwxdKgn2cmvPF0Z8ZJDu7wgIXPR2Edk2PlT9PmK6sYhlELWsxHQKuDde86X
gFZuze83/c3cdoCMMDbRScO3c+Gds5ReSSUYzOdMuQ8eAvfm3XT+eeEIBh0sG2PK59N3Nq3cSzHT
TLkcjBRefwJaUmwT3YmTDyZd37XxTHuPX8IfMT43nkdn9Z1i3OWqvDHrX8rUOy09KDSWKv3HW3fb
uX1hfM4wZLTPdcaz5LwW9DaXwX2TKAsn5nJLY2QiyCINC35JBFq0TpcWY8QgleB90dCemawi6+X6
QP5iOM8vuQlVSW8WeCwiDRHjmY2ALUJC4Gdy88WubBOzA9enGR/8Jgg/M8u0v2bJe2eo6k9NrmoE
onmA2G+suOsxzmnEr53qoVet8glgLdXH0Q2Dz43U2PsaOckHPfC9Y502yd0Yesne8Mpon2tA3OQB
xAGN4mp9IBSpho2RDv19T+x48Eg0rCrwEHcDErHf2yLwXqg89dTybeVzNPbSZ28wYEwc/PzY+lBm
NuUYr1wzplnBGyNka5VobSWDtemiRkn3XDwt7W1j/hTS6wiUWdde+9D5UGf1n6CT1JXkyzEdc2NQ
jzvyYP5dOQze12ywx4dysJs72ywCsE5tYf7pwZL9jtVB2lxfibnVnm7iv1yK8P8Kd76V0m0lJ+iU
KsVzTNcozdw3E0Jy6E9MiE83rXLL1M8x4eyaiHap3fURzPkv8hE2hFQoOV4EFFnGTPaNZz7LcrcL
pMNY/M6TeqW79x5diNdtXd4m01D+2RIOYF/UOhIr2Bpae+9B24TM1M0WQEhAvUaejSBQLBcpmZdq
BTf/s9Lu8q2xRKR1GRARFePlJxOEDyIrpOXlpAs9xX5W+g8NT6AC7Vv6nvWlLM7MRMGhNWU9ERqa
mBXP78UqDLxCUlr7OZC/tQ+p/eX6LM0Ng3HQfUykDMZSiOtI70u57znmswLf60tvj9B3GIX0cYy1
7slo5XiBa0pV+b3n/kqHFXpipQM/CpxTOCZu03jtGJcpKKmieOny4U6x6ZDelkE0wl5ky7A3pV9t
OY+23RhVT1YNh1KYpv7KraEpkwPSBZVdOR8yXJSNsFBc7IYSESmwrtZay9XouwGg72WiPlgjmdfc
fHNMHh2aLKAOU5VF+P3IMdatlIzJM6QBstGuKFGsypuLK7pJbhhw70QvfFGu9Ym1dRo6w2dLLtYj
QLnK7GGTWHBYlztrskIuhnhoJlxBNQ0RtMYKn6X2QXH8dTfe7hKxQMRI4Y4WBN5C53vX9zwkNeQ0
etYSeWVYNP7Lzarr/1zfwnPjgFSeh5DCQ5v35LmVHrEsindZ/DwEa4Qyl3iXpwUVNiwH5N/nJ/Mn
r5FQqTu/M/i8a3ydtBHrd5BpvBT1Pqz3t6ppcy50dIGJ6PBaJK7ENx3VFGuQe3aXmsaPFs3dELHd
Oltw2CLXPZVtIaoXG9Og2rRCu84q1HI3lbTPssP170/+6Hy6+D5PEAcoonkpLRvosh84Wlg9K2oV
Pray7X+UERW8jwyzfKcjm3SHSh7yHn631D92uQ8my1O5HnWgS85BX8/VKq6L6rn+1car8PX6uJa+
LvhheYhg5wjL6rkIg7VZ37VvyIdQCqHPhAKhAyWp2PPoRDEcFri85x6+ggEh9aV4dG4IuCxWhWwh
MyUcFM1TdCSNWPqhfJLcd7K2uALTK1ZYfNUkFUpDk62wjacY6eSsKI0K54Ltqc81trZe2hlrt4SN
aS3HieUcvLEJPvLOQ6rRSXU0HHllrJ26LXh1u0Og4hsM6XvmOuW6lt1yzcl+ZccoqxguVZm2EbPZ
SdRRX6JWtTd+5tu7woklyCAG1BVj6JR6Tf3gdbXxZLuGdAj9FOQeXO3ja++Yg7lSMtU7VPSF5DDJ
WVApZuH40KlF95rU3OGdGXRASyrJktZVKQ+btMytm19Wk9M1/6MyZF0QpKqcBTNNfPXZVzeFBnf8
zYHV+fen+/dkCYIy76rKnJZg+JDon3Xj+/VzcBkknn9f2ER1q4RpokvKcxcH8rEr6+pRATEB6aLc
ajSr+2rwBLF4cbPbYkMZHAxS3VCii27rr8DKUA/FsRnvrPCjXSxcuZdn4/z7wrQVdtm4ecP3W9p1
FdxHv+AXZ+ClWOBYE8NM2SYxO1D5Xt/1MHADb34fg84weojzoHGIYXyTHgs/3nTF1yFNNtfX6y/Y
+ORMkiBAoxbDCJg5EOGLZzKPUGdXIAl5QZII/oEk8Pf5AClgFpiDtOrdoXtSoszeFo38NWyjZK27
5ovsh/werQWIDefBXYFKxSZJ7Q+8QaONhlIpdDlj/dB6zasVw1t2/TeLNaqL3zxFrSebWIFGwlAS
I33J9RwGLemzU/sPbqF8dkAel1q7TiepXb0/2InxDkTQGkmku+u/QdgQFz9BCIwHx40QqmDa5PGr
JN1rEPP9bwaEC8Vo/V72pzE2n2DSKqKFzwvP0f/8foJIHqTTBhDrslwCSZ3D0vKSFSmsTY958r7B
zhvGcGJkmsSTdSpDO64DGSPwCA4mXawLm3dpEMJ9EsB0V8XTICZWv3EzwFa4pJEn+LOLeRK2Gkyc
th12MqLH3bewudOVYtsU73Q/26nSEq5QTHtdGBM2lQ2MQnVKjfEM3yrpwTVyyBk+peRqk/o1c56h
gN1V+p9WtnZB9iX0dteXaxrLhSs4WS5hy/Vqpseyi/nOWFkaHZj3cbQZuwVXOmtlSkrSLACXseiq
uxil6riz05cxXofqWsn3UUP0v70+ltmtAdqUG5Sc8UULmOlKHskKjk+VbFVl5xS7bIkXedYFnJgQ
pmscMzjqbDN9gZ4zar861sJbeG6i7An0zY02RfvCUxLKoarwlSp7QUdb7/cgf/p9GS5cnHP7GyoW
jeoGj3kUmc6PKGRGHhUkBpHbz+344Kp01GSfYu9jD03P9SWZ5kPcXtRQKA9NuqwX+SO9UbVUR8j2
xYJq0cs8rrePXndfDT+z+pAYC3iJv7/8wpxJvwTVDgjoRH79YiRj4Ons5tit25XZ5TCrhqlRHvht
+Sru4Rz0jSZajyQPoC+zqw1Axm6fdDDhuJIUHxxoXuA85Eqxu8S/N7Um3kWGHa/Bu8Vryc8hm2vk
Iv9Y5Ub3QTFHbwujsPVUGUX6Xkbg2wiLaKtX9Q9jiJuPCGxZH1PTDDepavd3vRJYMKxWabEqMhvu
NCh7f5ZBWK+RjHf3g+nSRlWTRSjzMf1Is3S1VI+43L/2hHxgi02i7pfxPtSf3lBS4077T27yFWzo
gvu/PIPnBgT3D3jEzscAA/awh21mA0OjXC+Jl80b4SIDl0sKwRQiM5jQktGsHfk46OmmGOv1KL3X
q4WL5vIogmcAhzVJpNF/K1YBkXgya1VqihdWZa2Zj0P6Wjmvrp4tHJHLJVEVMpLwjwELAAQ4Dfbk
wpTV2m8lNsFLZq8Tcz20C9+/nKzz70/jPPn+mFu136d8f0rk2zun3zrpAgxkdgg8YHBc9pQCFRa9
N8I0khw3ePFra1PRE+ZnC35xbhBIf0xlE872BTQuMXPZ14s0eCnshyDcp+kmWtKDXDIhuPbWkyKo
pZLgpW3WagaHIY/VhcMxN0+noxC8+2Clcq35jMKsdmhaJvnmurdd+L6o15ihL6hlJqJ+evzHSxI4
dhci4IU5Eu/x3hrMEsbagJTaZzP/05blWl5K0i/ZEA63XeSGasXYaIq1PMC5dq8vxZDKzNnmbuXI
/YdsRTxzA9ywuVRI/ouVwf6u5Os+OiC4E6bgJV4TTV3X2h187o3/uzF/Sc7vNDj4zS4qq931BZsf
67/fIZxNR2srFwpP/2VUN426s/2N2b7BBA2tvPPgD7iEfEokS4a8DoMXGMs1c9+6H8qlLpy5UZya
EI6/VbatFUV+wLtiLUNNWB+kJeTR3IKdmph+wokTc329KiUoG18C64uSbKX0YBVr09hfX46583Nq
RVgObgPFkxKPuXJpQD8US2oesxMF0oMqBxooF7dvYIxD6EVoBGbyHbSvOfyOyvYNQzgxIayFRiK3
rWKVnV3Dr7i208Mbvo88FSpPEAiBNDhfiEpSoqIOTP/FM1eSDMP2wm01u9An3xd+v6PlTUY6zH9p
nCeK42H6ZENPFbzlUJxYEbYTgiBGULqG/2LEOzV8iPD49lIVnok4D0WJdk9MCHupGyDZKhOLhfiC
dpttr4HPpt2CkenCuGZEeDx2dgy8OmW2Oj/dFbUMLxXkrsb3Rt821gtsdnH2/n9bf+GWRDpe8cG7
+C/9sINDPFxyzbNH8GTahCuy1WhMNPvp+9oaxI95o3Ifz+2zZRHr5VKQOnZg8X1oM6vf8RLjz8LP
N4SnlVaHVlmGLMioroov5o//afIN4WpUo1qz8bX+S13fG8VukY5j9vDBmUXLG+UaYH3nh7vuKtsa
UGh8oe5qFHDTPQXQKmuf3zCKEyvCFuo73+rUEi8Y2WsjgWl7c/37s1725PvCFqrgcss8S/ZfqvGu
PYbJXb8khb4wT2Kc1WSqq1cdI+iApVFSRlOn+527X24eB2UB+kFI1SpTzuF8NYo6Alree95Lna2K
fp3n+76+jZJyOg0qYFvygeQCeBYKSwEUJ9Bzv5HonndXjvWrkPsFTzszVaqN1gf/YOdColbWXTni
feIe+07bDNGDE36wukMCOe31yZp+qeAJz+wI94aiSXZLEcI9xtI3ypyIaLyoTrYx0XPpi29qtjBx
00m4Zk64QFTb65FuwJysfUnCo+vvh+RrpL9D33ThQrzczROGkxIafVhwHIsQexfStHGIXPlomAdE
Faz0CRL763N36bQmE6TNyAnMJJ1Mj1cDBE3KMVXXlqdva38pQlywIML3RzsOq+SvheDrJMGxlJab
mySQKoBWELkiwygsh1Kj/pKmvXIcPBMclPE+T4aDlLX76xN1ueo0muvTmSHDCB5ZOJF5SGcF6D3l
mMHcg1jTXirzX4pbbDtgkUXVLJyd2VFBMOHQrQV5m1imGfN+SIaKUSVSe28E7spOZfQxfl4f1OXJ
IWMjAyeiuQIJQPEtBLc+AGKfWKH0+4ew6N5XVhmTIRt/dq7xkI7jB9u/Pc2JTYry01rxMBG7cHy/
dcqwi2kkSKBSH6Pk+4D3QW/qUGpRsOAa5jYfWMj/ZouEkDXStNIIM185OtVdPT4TIV2fwNnvg7gH
ng696kVvimG2wG5JfB0j/UMQ/IwpTFw3MLcPYFBVOZt0gV1QjUCtUoDEMujcDxCXsF3f3KMjC9Vd
q5kLW252LFNuGC4QYB9iBFB0Xa60EnOlm9WGAvza0N4yWycWhCsH7W/VGwub7SbnH/ww+0BpdSnL
KXZ4ctmwv5CYgtCEsvpFB6Imd10k1RYzZqLzrYfcAL78Dp71V8nXVpYy6muvrH5nIy0yvh8gCZgd
3FxZVaG0Mot8e339Lu9Aeq4UABwqzWB08gluQw2aVm56mk4MbV18kmgAUo7F+IaVMyb2Tlp0dOir
hF0uD4PVNq6hHEPNTw52jzJekVtLrRFz+8MAkj9xFZBBEXsWIgdhbZlOqWOAzpj3kSv3Ddvj1IAw
V3buti3uSjla4bugf7gRY/p3Y5x+Xj2PqUrd8KJyGJXj6IJL2GQ3h7as9Mn0CItQjK3RwoulHCXr
0OZ3mbzw/dmdBMoQiUNIvjUxGGjyPo2SRleQ1lvXxb5ynh3lHcI41/fr7CKfWBEmyS0SWmBTDYdZ
hBulCTZ/rn9/ppYPRQRNigR+MKBeVrkkIyTmACsSJJ8N5UNqRsieHH31SQ2ydyWyt0btbtq4R67o
ue1uQ9v83QIw/0FXCoAPTJoQK2T1iH40PcpH24YR1Us3h+ujmwsSLJwObZYWIH8xR4pEZpbHCs2f
UZ+5wcqQ7XJtSFHzqSdA2bWqnN4Z6EstBKRzOwN3Tb+1A/D4AoOahkpTNcCqjl0KCq3J4vHRqKh+
ZbXR3FPsaxZqiHP2pm5A6ofQr16wPQRD5GulV8n4MnOf1PahQr3M3IXuwmzO7cVTO8JeHAbw89lQ
TONyv4xReUD95dPtCza1zrBYyEBdBEAFupKjo8Dy4g7Z3vDDR/hS0EFt+8dYNR7QI7s9x8WUnRic
5vYkmRn7SujbMgbT6ovR3mdmscmHj63evcGX0q4OthmuHNoqRW+kSm7RWbIMgVy+bpy1PGab61M3
tzqAeYmuqOwDHp3+/mQk2jjkFPwG8kwBEjQ52kK3V68IbBAg5m2KvhiE4ecW0CoNPGOc9nWX0z99
zE0F0ccf14cxE2CdGhFvtSGuSyv0MZJ1tM0SI6NsawFQUNXdWwxNHX8T2PaiPTtEgTZKpvKrUx8q
6ZdbP5Tdx+smZpaEm5lcP3gy6KpkIb6KoiQILCnSjon+xXN+AyW7/v2Zg88jC5JMHlu0GIlXUKbU
YylJNNCH2WNZfWmLfeQb6FC/v25mZkkIl6CWnNiWue6EvdsWhZINNM4fA7RxkIr6gm7GGyzQCazS
/6dOgdP5zkJxyBjIFcEE0OfbIOke697dFuVS3+/cQCawOzymYDy5FM7N5Eqp24PNXTdKj/KIfucY
rst8oTw6s+g0FgPsokQBSlx8/2Z9Omr1yJ3mZk/y8BT/vn2qNCiwqFmggUX39/kYTMlBj9am+z5G
Iw+ZlGOSO6+jKy/4+tmp4vqCtwByFoydmxnQILb7pmNrtep+kNpdlNdfAj9aqFbPhR8QLxi2otIt
jyKOEGMCTY1KM/Xwv47jTgqaw1qLgztQG7sIldJVHfqH1EOoKB/fpWX2E6aIatXAOHp9VmcCBX4G
O5AZ5eUoto30po/guRPC7tH2uy5G8thIPjWh+VlzfdL3w5fr5kTW1inwAevD2aV2AwGM2GDZ0nfh
xm0NWQNdfbsxV8JfTem0aJ878sYv+nY7OOCzelOKv5SNZW4yV+/KVYby8Rt8CFmUiVKNdpaLBkWv
tEsaAPglnt+vaMtbDa6z9hL6+5Z6YkWI7X8GrWkaXE0YuiCnH4zELyp0mY+qmTWPvhd9jqTeQ14x
avx9bGbZUyxp5r1c6tW6dk1700jWG568HHye1MC6gPKLvsx0Y2R3G/qY+8rfanb+UmvWzQA71vbE
hHARpx3tUJVGJzYpgZXZP+qOtCk9BAe9JcDinKuZnh9wfNElBIz4/JD6o4O0shKPR3RBvX4V38h6
+3fBCI5YLQ4GLE3C4Yy6kUTVCP9lt269J0teiJOn6+88cYuS8MTpBrMbrYbiM9kJeSO3KhxLSpyD
CvsWxPK2UD4knkeL7Hv0Cq4furnbEm82zRN9gaDqzmcLaTnfSd1yOD6o1ucd1D2fb/8+3bwGDoSa
LE1o599vCp36X1QPRzpu643pP43qU7DUBDqz5OwulRsGDzIl7c6N8IjrraIdjCOEOe7HsHy9Pob5
z0+kFVz1xGHiHOleY0r0RKNw8i017gJS9tcNzKw5v/+fgenvT6LUVKukMk4xgCvYl2rJKNqNY39U
jXbbQ4jYqt7musXZIdHNThOdPZXT1HOLfmR3gxzEBjnVbeDtk4XrfuaiJINmIB41nXremeefr7u2
TKuyttCoQk983b6k4RsGcGpBmLKozVuzMirrmI6/Ioo1gWYtLMrSGITLvgk8CCOr0jo27lZRtnK5
qRbOxrwF0KdQuvOPNS3SybJrrmZkZNWto1/dk5rNonfqElHkzPFmIf6ZmH7CiQkpLeShIvMGnNJZ
JdLkDfXoW/p6+246tTL9ihMrRmyrYzkykEA+WPFeXUJDTNtF8IkIJ6IQoEB0DjpF+L5jZimo09g6
Gv53M7uHKjsPvutfy/F2fBrVDKoJJCqmcoPYgKCkEO7YaWYdx/hrJf128tuTEmffF1Y8LxrFxN9a
R9du1528rQBTuvqvfFi4becn7N84hGWvKySK2pZxdMq+1Q+uj2zyzv3hNNvrCz+7vbg7FI2mTP0C
No/WiTSQ8DGPkvEjpv/Mfo709Y1djNOFy6T9MyL4qsJt1FS3XfMo1/ZnP1EPUIZ+vz6OaT4uN9g/
E8JjLhxUOdA6yYSZyvpatNHOS9uBPqOlhqo5t8ttCBf0pLiBuNj5QekzD3Ul2AOOUrYaio23RDk6
Mw74Psl5QWxMRCk+UIoRRdx+aCFSc/ZGctf8spYoBGZGQDlsomKnMEaLsXDVqnrV1h10gMcGQfGf
QbCwoeYGAGeyYvOvCqJAuDjMQnZQiDW4CXOA8WGx9kuUCz5eX+3LMThY4ObDl0xUlsIYTHihZKSA
1WPVrwdt5bR3179/OYiJgXGSZpxIJi9wESOK8MiDkZ6u6O4EWrDN1Gjv+ebNhxwzyIFM9LlEumKN
0gann5WKpB6HHvyFtDOtl0R5V0d7VX69PqDLY35uaZrQE//u16YcZSWWpP6DU9wnALUVwJTo/F63
cxkHnduZJvbETm6GUpLFDmoqEMLo2nNTxKu8PvZauinLd/XtKBn6S6iXE2Zr7GbxtNhOqXuwrKlH
y/LYBUhme49IUK7U8f31cc1tuBNDYoolG/LYlidDLirJffOtBAh33cKlwwceA6sSPUUTIkfc0h39
uZDkFgaMscVm1CPEfMLuR15Hu6CNfqhj9+W6vZkRgfshdTu9Ui7F3CTIIttG6fuj1Vm/YhNXY4U3
l0EmH4NyBSVSEvgiOZiiZTqkanp/DI33/k73F9Zk5pAqBEbm9PAhSNWEvVYjdKv6Hp+3PkfNu9J/
jKOFNZmdoxMLQtRiWE3SJy782W4UrZr6w7AU3M0ZQIt58vP8gT87Py6yb1uBpqbQ8aJwn9fmqvVu
1KHi7iUpcGJCCIITzzZ7mjHRYCFyrMdNR34w7hayLTOJH6wgjG2SH4RHTVxqLxs0tW3YTW11h0B8
qq3SYm96e09acxyNYYtogrlU5JiZPeprSI0C++LRqApXjdeWSVTWNalutVvbVUPr8O33ABZIpFP2
Blwm4uNcfaiURkPQIPV+2H4KzmvTRvvrB3Emf4RwF8lbhOWm/Ketnm+CONbcuGmp1eT542AMu4gW
LTk1V3J85zWPXnYft8ldnt0cyGKVegfp+4lZRsznkui1/V4lyV5FCMGO7c+u0Ldyqn+DiObmNDim
6AkjIqdCRDb8fIBqYCSK3GQkXZ1D2v7ulCfpRmLVaZefmRBOahjl9NY0BfnWWtpE3fBYVdHCXpjb
bbAA8Pu5sXlwCzFHISVKEUkBuc2w9aAFq59UeYm/deb6JLCEGYe6DfGNWIry004bJz3qo9Q5u8SJ
n5PCXpsJhJSFu3EVVLCDqlhwo7PjonhAWoR2lYujG0khz/yU1dFqb2WQofx1fX/PuGk2E4kjWPem
2rHg4zLTbgMzd4djFjzKRYQMdbhqg9uvGng/+DhhLRBG0ZEiCWFHlUdKL4ZOKCzHdbL0UJqZpjML
gh8dqlEKWwULrIj9tVnqYp3+9/P3y8R95tC3QUoH2TNhA+e016ilIdVH3yjusyTQV6GSQRw/PBWh
+mR7hbmKFB0NkqVEz9y46D4kF0qnEkSkghMter/M/CZtCKG6deW76+52bBJD40EBeJY4ACdwfvw1
1xz0ZvCbo1R3K6N6N0j7vltpzvb6Ppu7gyZO34nFnDoxvubcTiZLgCIk7GhQADbZTq7MR1k6lPW9
aY8HpfY3UZruPXukQXGhK3gmvNamlAMXLfN4kVGmXjVKnhY16JK8SmO0jpv7oQHZFt8OjmIuTwwJ
d8Wg1VPCPG6Oo6nBwJytwhgC2esTObcjNLjGaBiVeZmIDeKUhwIrzOPumMSfpQgo28JZnZssQk44
nwh5ALkKjjRWm97LI0p8RWLvanyp0ph3mmejfrHg2qadJR6q6epGg4FS3IW8HWTBBmTPaXvsqvej
122j/LsnUbxwvV2Qf70+a3NujkcI+FZevxOO4Hz36Xpi6mnN7lN962D2sA0lYfZLkuWFcGHmiqB0
8c+OsAPGqlU6dCGaY/DH9KrH8qf2re6yx+LnG3YBiTqLa1sBd2EKbrvOwiTW8r4+Ru0GNsYlFae5
6Zr4iKiUIJKqif0N3f+R9mVLbuNMs0/ECIA7b0lt3a1usW23txuG7fFw3zeAT38S/c2ZkSCGEPJ/
YV+MJ1jCVihUZWXmaTlVfT+GIy9Chn64qO0+OK4K2r62l4HqwDYj8D3I21yuig2ggj6XNs5Lnmx+
x1TVJr7mtpHUBHcWNjMKrPKq12lB5zQaQ1KFdfa3OX1BAE/HY4N+rOy7U+1ub7K1o4OtjDo50ptC
RvdyOK5mdFVRwM9EPQQHk29d86tcUDhWpQtWKEPeWTL/NSTm9ewd782obeu9MFS+GH22MSt2XJbo
YNjNW2uMPomHk5nXuxJcNYFZ/JXF9gaLrNiDK2V0/AwbeXU8VEWbvHR19KRxl4Hgcqr09tkahuc5
rVDFJUFn2Wj6HzZDWUIUIz/2U+X5gI0eUtf49AdzDl+FYghCmKuHeTNTr6tHHDh9NP2yOLjTq+N8
rSOVFOO7h5C9lesJXAKgW8jHSntpsguLaRE8iDVDwTqunmrOPjXzhA7IbvYJtzdlZm7S6os7xD/Z
CIk4q4QS+lIFHXF/6QSqbjV7GV2UNKlgyy1OTkm3PVGxCawdXeB+0C5gQp4cL4jLvTFWMUruKSak
sA91e8zRBe7m9wPLBPWoSByA9BIpOGnlkcX1LIA2eWiS54ru6Y/bi7riF5A2QtkGoDJQZ8vxYg1V
9RHMfQyi0L3ffLH4/SBjPBjh3nCJAqJpO2ISzw7QAkayyKrw++s8DVrkw5TEfSuux4SOMAKe9xSL
3FRRkjxuSDuzUCuMwHFLpKNfB/7LsD4l5GfEn9z24x/M2ZlB4ZzOhhQ3tZe7Ed74rXbUet13y69/
YgBJXXg4rLvs3VDj1C0nJiy0zG3nbdgfbFy8QoFqRqQLBJMjDaBoLZMtnj2FDYv8F1d/ayNF1XQl
4IAF7FxHB0gejx1pivTBrZ2WTJB+yb5qi7cbliH1PQAj87pP/MlSyWOvXAjnBt9zC2drYpppPqQd
nUIHwj0F24H0OmjSj2S4/wl/YUfyTazOnb4Dd3qYu94z4e5jl4yfEq/b3d4BquFIwU1HZ72q5mUK
4xkJN/3F7j5V0zemYnFaO/0WxGRwrwi5TTlzqNsgQBp7RKDQfl+sY9QrrowVD4keGvCBos6CWo4M
ZquXOWvaZGShySe/1wFhAfSj/3Z7rtYGIeR3QH2EOIrIVNC2yf85jtWSQvr0Q10rqhNrBpDSQz4a
8Q2agyQX7CVNR4q5m8MxQXjZJ/v7f//556UAs3ONMauXfg5btlmcIFdFmGtn8fz70lkkKXB2y4zv
uyb0gP2o2lP62DTbWVVyVhjyJLjS3NU2zdCsGxr9piugoffq8aCwkAFVvDLXDaH3xsPj9rpEULmD
pblJPYc2GKA9Mw1iqPjlzgcCFns2KrbX2h6G5gpeTiC6umbUnWsN/z1lWP3lW5N/dMmxMRVORayA
FPDgffGvCXni0LXQM8+d5nDp0z2oztiAxsCgq5+K5mjbqT+rtsSaezk3KHmxrjJpny8waE8/yuJp
To91+62giktgfeaENg5qiNeMwBp3TGBlyRxqHi5ltC+ZCbi00XLyB+cHl83/NyOdH9S4owJYYGy7
erNYCJHS8eG2hdX1QZ8H8lHoDUcT9+VtBsUGyroYDqDtyPwEOEL7jDRvEUR6Vz05zKHIspHp4PTc
OyQ5tw63za/NI4J/pCaBzr6mELV4jvw+Q1tyHX2k5NFgm0nVV6kyITbM2fXZ1+jABUCXhLT+xvN4
Q72PHlolbo9jzY++oxkBaNSvceY2ayu77HUUEZxv/WYkilB2rX4AZC9aXcUsXTMfutHMo2YZ0VsN
hJ7V+pDcqMYjL35xK/Nr+4cJmlwnvR9c5aH9EcUedLOAdFnOG9ZGAjEVfSHhAIa5ALdR8cJsczot
jaYidJfZ+0V2X7RaQrgSNAKghBHLeL5MGiDHhKEM40581/cQJXhFun+H1HJgdZuBLkEBx2vMvd8h
uaxB4oM82lCSmLdVGfkm/dnMx6H6RUZ0D+UPbatSyKBrJwVNMKI8gGj8KvXoNh6vOgOtSou5jwYn
qCN6MkY7wLMZpLFHM92j1xWRKRgAf1jmQ96+4vAGJkNYYLxO0wMCkk1TqFLWujigsoMF2TqyEwbQ
DLjIpXlzqiiHoiMRr3izPHqp6w/kQLT5tax/alX2ao/b1qr90jmy9jmtfy5JCWjv5DdLt48M73Ec
G1/rYshen+Yxe3V7GsT9rPCX68uL6RMwCLSuyqmzPq8gUEuxvG322XMTny8vZPiwtO0OakBBAymg
Mtp25kPU/zKrY2k8NlWYsASP8Wqj027bFXZgOdB5qSMfWfpXO3u9fYJX3IRoeRB5eSGe+t4LfLb/
os6dWVSi92Hqe/6Bg877KGQ+tnbFVYgG4bWlJUO+A20/IjQFll5asiyeNKvrsWSN1jfHvIfeIcsm
/mjxqQ/cpek/ufnYfOg0T1N4+1XL7xSaSF4iuhB7/GyQlp5bNEONJZxdMIXZZEP5S89fqi7ezSC7
WLp73SLy5Mj+AewEnL5zVYCsaJ6ZTVYOYeo+6fzp79tLdnXV4+sQmRD7HhUhHK3L0fBFM2eSU9RT
assLqjFPfOBzxwAKuOkBfKGxouPjaotI9uSbZG61fvbmIZxBR8mKRPcrAkQCsnOKabsKAoUhUSlC
NkooHkiXsgBq5sPMxpC2kx2Ac919QveD4bta+qZPCd9jvlU4pdXJFDx2aGlBBefK13vFWBq2OYSU
HXsTAnzZ01K/9Xc/OMTQzsxIEQ0iimHSGcwYlbUhZu4n7NvtXbGySiji4XSJtAw2h7THe9soGkqX
LnSW5PO4tMWHqlloYHgR/Xrb0sqUoSULKr7ojBTYF+kcu6UNrGNawVJk/wDf1EkrvYdoLrZTMao4
H1dGZQL4D7QdwhWA0KVRVelCnbi1WvTjvdbja1E8EOfT7eEoTMh5BvSTOllZwwTVHntIprX0ZVb1
+67a0MHgY+PgivzP5ZEtUd9M0jZqwj51ZuRKymnb0KJ4KaPFURyildWBS3BcIdKLxmJ5H+hxy72h
bjoUc7eL+2Ath346sOLn7UlbOaoAC6B7WUDDEchKe6CMGiTo7KwLvam0Sr8eKDuMGmQnKFIpT/WQ
FAd7XFIFsOM6af5+RwlKWVSSkSeVPETEyzE1YgyumB7RttFET41zcijO68lEvWX4mqenqH0oXcXh
MuWrS9gF+TbKIXgGXGU9lrGYuabXXWgPef4AFd0lcB1XFbJfh7vgucARRj1ZdCIiqrncJq0DVfrZ
XuowHodPBdW/TDoNJiPeRKAVB9wl3yRjs6GtxQMPyqG3l/R6j+oAa4ETGEkjC8876ajRCDSUjMxl
GGfTJicxOD6Ifz9bErqRz6zIp800yrqNyVKGXkXeZuTBosXd3h6I+KEXcYZkQjpsiWWDy2+mZWiX
f/P6w4hKNfhe9ub4PMbfmyR07kboSAal1F7SGLqGB0MZJkbgUcfX7lUxwt2EWcNxw7ZAyy1kii83
xuI1be8OsFD/3T0VilN1vbkvPy79/GxwKzfn+HiuP3G6maIPt9fj2iNdfl86tCDIZ1B+wHpo7mP7
iduHMjuYzeG2kdXdayOBBOlu/E2lCza2PS22eqMMM+cx7o48ebItRXF/ZZ5EXhW9F0Lhy3LFOM+i
yL7yqtzOkjIkYG70p0yxbdc/j3ouoD7A+siI6S6rTdvQ8jJkUO/UHX9JVGmVa6cNvyJYNf+xIH7B
2QBKfZqA+CvLsNDtHSvgWsrk0GTOntrRkfNSse5rAwLoF8UowL8REEveLElHu+5RfgqH2vVnI4eq
dnB70a9ruXCSSOOKdymoy64iRhLV7pwxhhHl0RPz0q/xUh4jawS/NXnSBi0Y7GJv0vExodqWLixg
bf2c2oPiESU2l+RxLn6GNLGQPO69OidluFhTHqQpOwE1uu3rYe+ASQ+Q+99ptyiupGsW5vexo9UT
MQWoRK6oBEDq62r9VIbW5ITMKw5Jnx4hFLDrwMnKl3ILQZRnlnCfes3G6JcgZxlqyNkpAfMs6fJt
i35l//aCrJxCCoFIaDhaAK5f3SHj6PX2opMipLwDsCIEEf+maFQFyBUHDyseamkWFbzp0sYanBpy
Xo5TAJJ05C4UGE5J9iGp7KDpcn+YP3T559vDWjWIFwmYm0QfsgyFQPuNtpRTVoZQWXSm3k/4rnU8
P02eO9Px+4Ygk5Df79BAbA+xc6jNrHTLaFq9TNkAd2C0h7HYchqjz1uRnlhdrv9syND/uMbjZ7Ax
rgTpNDeBhfR7uqgEtFasCApGID/RAyASNpdux12QhbVLpwrj6gtrv+TlW66/3V6gFVdzYUI6gOli
OjmdrSocyeG37u1vf101APHvZ35zwGGKSIcBJPrRBtAXEmBaNip82coteTEE6XapJz2jRgsjA/0y
kHJvlDk4tngQqzh8VYak09N2Xcdwx1WhNfqJsYkBI8wfSkO1fcWqSj7xYjzShWymtrHkFczYyxjk
+V9OAbVKC6KjyQ7p761T/HRa5A6hWufO7b6yC98u99UMDeX65I1aUCD6JUdSLr6tHdsFcnT1Nzxu
gnlyfM/LDzyft67e+gw8xNWDXu70dPi0UL5bvC3kRHxP/w3iEL/KvxSQUq70CimtTevQTczJJoNm
l2v9RabPeRX7efaBk58MiY2h1oFoePOSZ0JVt+/KHsVRQ2ZDlNCv5crSiUHOvKwagTGw9XrbW5li
ztctCHZNXTTLy8nG2uJVY1t5E+qUBbOLHkEVEHXlJGAM/1mQQsUY/d68dtImrOmnKdqn7IulbW8f
NtUgJG8xDpPjuV3RhNT9qevHrtrc/v7K9r8YgrB/dpinoSMNyfH9mTwXMzCzD3zZxYPiNIvdLe3+
CyuSyyC2NTJTx1I4hv2ExJYfR3vEQr7d7DRt3nrjz9ujWrUHdkTo+CFTcqVeT3NSaETXayD4y6CJ
C9+pQ2Lvmjna6NpTfHeHvgVINW4ntPaA0gbosctJtJAxMYc5qkO2GE9m/60o7y6hCwuo/YO0E2rT
gAReWuC6gWdo3DR41B8zxx9UkLTVbXb2fWkEAycDumBrnEbrq1n8rHNF8Lu6zQRlpeBowXtacudG
MS6s7XRsAAjs1OOHVP9ctCg2qMD1KjuSNzdnBMBpRGEHHi51xn07PkXuy6JSvVrdYDZILLDcCO1k
BLqW9TkIcOwmzG0f1Z9+OVTUb7IvWh0sqjbeVS9zZks6orRMDS+uMXcRd3dNuWzGKX+Yevf+YFWw
Tf47JOmMVktTuqmOIWnR3m0sn1WbIVNR2kvrg5qZBagx8H5As6CjVwZ+VRlv42nwzJNlTHwzGK3x
opsp30PGtzombGzvpMv5n0GQy2BguGauyIHRZK0tLQpSJ73Y2ERHb/2dHvrdgpDsFtRDeGjL9Yec
ujQGCa15ahLjlXKUs7RK4T7lhof/2UB4DwsIgYFkvDz+EwSqonawjFPSWAuIIUz2qy4raw+mnjGg
02A9WfkMWZmk1UEcDgC0FcHVxa7VKn6JXGjEL3GhJAdyb9TGUM6ReaZQZeRG4XV9mKJEX+sVioiV
30bZNmFfuuhpifc0+jrZ36MmA3T4MLvoqs4+utPbMiQ+dcqgAPBjNv9mBXsoQQjVtM/mpEjdiUN+
dtuI2dIFksmD6gA0nuRe4SQ3naKJLXriNYR+E7/zxk0db3tvY5L7rud/TAlclgPPDMOXC9N3Jp6S
hokasA3GyleqAse+J2qksQAQjaZnHE0P0CzJAKpmddJUHT11JC8fSWa2O2ucptfIHugWQGKD+2Nf
pp0PuVeC3PZsP2bcpbu+jnXf1Lh1tBZv2HWIpl9YybttbSXxp9h20l3TIpS/z4nI20MG+vRuPQ32
OPRh028bbVM7hyFXTLkY8eWMXOxAmUAoKYyyQeW6B6vBlzrFezDzexUqXmVDOm8O78ykMzAM6D/q
9ffSGPxJhfCXrpB/pgok6YiCUTywxL+fRV4a59k0tlkP2vJkfuEl0U4Z0vn+6M3QtVxqY8Mm7Y2X
RXe4HRxdDw45AtGkjcbD94bkS8NRz3ujiwzjZFq7pXlEvKeUxJHCCXEQxPsWJX4UCQQVzKWJJUWh
tkAN7pRN+zrZcNUbWq58CAPoFRDgW1HHRtR1aQD6n7xrqDOdoDXRQ7E3at+MAmUW36ub/IORJ/qn
pbF/cR7Vu6lkdA+OiuEls0vw6tRepGKRWHPQaKFCayWYaDBoGbdCBkeb+1abT5mZj5tmJMW2cie3
A0yFuQ8dh9Y3hFmTjZt440c0FWn+PPQWwmBnuLNGKKbm4qdIoZYFPWa9JTk7Ld2D5u1i42ioSgor
ywvfilgOzB9A18p9YxnvEz53MMGrF4Onvjb9vL1FV8KEcwNyuJsvWUxJBQPWR5AqDuYBFSZvVpwD
xSgcKebVrVGbWQ4jmudnHYhg7/aF4gb6d5YcyYnYHEus5xU7ueR7mYZ2sq9UAkpSJu59rYUFcMKJ
kyDnkpJoANnwTIZTV/DZhGBTWc4+oHrVX63txb/sPo0h/+ktAXNqffERaamktK+dCR4lApwMBTwU
AeQymYH2hyQdjPHEZn0MvDg+0c5BFSuq757NC0NypYwvy2LlkT6eNLqhzYYXO2YrgpvruAERIOoB
SBVgQFf1RsssGR4QIIiduY/EdVWiQ3Y3mK+jKvex4i4uLUm+v5mXoV6MdDh5+me6bK3kqWdverWz
kIfJ+01r79PhsUC7ze1jdb3jL81KXhP8TyOEz2E2M6zloUxs6xElZBWYdMUKFHrBkAdUvCh1iS1z
drERmqTmRNvxBHlTf8m+lKrn9rV3AM/ImQHJw5Vxx5au6McTz7U2yBttClKIB7xpZT6DU8FQqR5e
nzKE9xRvbxw08CzLEseuC526PB8woLfojZYB1GhzAP4Co9p3dxLK40QLdAegfKK7HWwn0uSlDOIz
i5PrpxoP/XafqPSsVuYONS/Un/CYwBUql9WaOS9rx2z009wfs2znOQHtd/zn7X224hTQlY3CLNjA
0D0m3w9aTeOlwj154uTQZk+lvlFysSpMyDdEHxMU02yAL/MC74wgBdTCVJwWlQnpfuB9OVReKfCd
7Cn/PmUPnaqndMUCOtN04OJN/HXF5QrBPa022mo55aQ3N1WRP1Q64K22pWLFXDUENRTQXAkmM7lE
lOuF5mU5X05u1zwsuv40xWXqZ9xWBR8rLlTQOiNHBfwFTo1xefZHq4/BUNpjRCnbustbT6JAT6tn
M2nU6VfhJS9fAnh0CTkwyD8goL1650VJP9eGV4d2lvmx8bcVvbLhqz0+pHUUOO2dCRIczQtzcnlo
GtOlLluYG5fvdvFQQ+0VBO/3npxLG9KeW3jFCkvX6rDSnovqYM4fkzsV866GoV8uEYMeYpUkSFZq
1oPIivdMcfqv/f/lGKQ9kNm0HXSaNCGfsj1osCOIVNyepWsnBg8mkg8C/AHsk/y80Cc7M0s8/hw2
E5+j1y6OjdmPG2cXmSis3La2Mp4La9JlbQ4R66euTcPUnreOm70klrLFc2Uro88HSSrxIgNWVrqZ
p3GCNEHqJCEvN7UL9PGrlQUj8dv+lcdvt8dz7QwAvUTULogg0SssYzxH0YzfJk4K4AbxHfuxa2Lf
Ubm2tUkTLgAkUaDoQCRwucvMKRl7s5vSEOLHHy2VkMfqEM6+Lu1hguaePqP4Ouh7XrnLX2itvUQk
upPkTpwVQEeBcUEnggnMm5R2r1Le12ymaUiTPcue4uIhqzI/1546vukcBbB4bQ+cG5OmLGknY3R6
gpeC+W22TmTRfL1IgzwGD6z1O+oTRbi7Pon/DU6aRDT5ovXLxuDyyd5EUexnSM+lKrj0+kZAVI1i
N4Du8m4rwasYI+RJ0UPe5W9N1naPjjZSxZ5eswJYAJpHgPzAs1SM9SzmTJtRT0wrSkOLfRxZ4Dlf
b58Z1felkHMxoqGs0jQLS5286uW3odA/37awthrnI5B8GqkNZjgUI4jLB5IdGrJPawVi6/pyBv+G
UOZE0AFfIxctnCltWTlhwbvh01A9Caq70tR9G3IrZn8nf8370Tk3Jmb0bEVcS8MLPsVuJva84bUb
8F+3J2ztuJwbkJYcFHvOHKd6GkbaR2Zt4oyhEF75ZQOZqST1U02BDlnbAqAoAGYZgRTImyR7esRp
hfdnEkaP/JuSTlP1dWmD6WSo07yYktDQTP+laVXB7Nran/96aXsNS8ln6uHXpyNipXGLrGZOfkzx
6f6sBwo8Z9Mklu1s3RezKtEkBUOnWfvl7rTix+1lV02UdFNmWuWkmYnvg3mwnQJ7e/vza8cQKTwo
K0Aj6DqAderK4oZbJOhUdTbofNtUPbCHhkrDdG058IhFngFdFghlpM008zh24ylJwszde94jJR8M
Ou813QhY9tftEa2cE9QN0NKEnQvaRjm0qDNoJEcGj8MKRb0kmnd80B8J699oA+F7gzyAWjFThEwr
swhJNFAAIiEqKlbS8GhUkbb1vDjU4o320+33lqoourINhOoIKogoWiLIkC7LvHQHMPR1gNZZ8VsJ
Jh6yKKpIKxaAqBeNfkC4ASQqnUjD0GYtNes4jNLH+NFjCmd8PUWIi94JfrDXQJ4sHUidpa5mm9oY
NtT2tZi1getOn2JdxfomfublIwl2bAG1Ee3DnvwiM8vSnnUHDAh17hovJaumDfLYrR+x2tl3+qTq
8XtPxF0bFEw+VPAlySSX1kIm0rF4ClPH9SOj9hO6dYdfqXMcmlMXs602LMFAd7d3+fVq4QFIsNVQ
LUPFT4ZgFCMuUNOaJ7TeLpB1q05JUm5vm1jJ2gkbEKrCywPgWrmXxNW5k/KUTWFRTX6sgaGxDmhz
qOtadJwFY1X7aez6DB24ZqkporX3mok8r3jsCj4wB4rqMuoSUkpDi7aZIXQH+5ml4Ljr3A21K7AG
Z492MtY+2Iv81jC2vCLMjzukLe1S25rQwHWa5neTmvjfyQZNsQoPs7aV0S2GRitRqsRb/NLlaz0v
68VqhzAmhhaUVmY9JYnr+n3UeYpZWNvNovSMDBne/QgnL01lrlH0oOHpIUy6qRMwhyy7Ahh9lbzR
2m6C5wIVlKi4XxE0Je5YpFqm92Fps4e6oB+oViii/bVJs/X3cjoaYoFVuhxJ4kwdsRM0RWrWFi1X
/tTnflErtuzaOM6NSF4SWssdcljFEHrFcdKfVSDN68SoKCNiHRxkKkGdKy88GSiK0zq4wyzXH5Pf
6Ib0l/RHbTr7lrzSIuzcWHGzrI7ozKQUXpSL4/GGUEH9SMEHRj+VhkopW2VCijAAMo5A9oZRkeWZ
Wo/VnaJHiIwvZs2WVr6JRjOyM3w/rn6Xxq9GpQu4+vuRdcVpRM8++sIud9aAQ9qbJAfnjTsHGVql
KlUX/KoFrDfSu4iHQQlwaaEoiNXa3BnDrHv1gqi+T1bpfYLA9o8WR4FpB0b68vO07xwzaY0Reb30
UJpou+rQBJtMx7KI3hIj+5FTY6Pw7WLSZe8qmr0E+QX66WTHksamnfSlB5v53mNfIaCGFg4/j01/
TuNtOnzL2+5gdvvbZtcmUnB8gnYRPRvIxVyOdLadhJKMgAiuOCU/GH/9v31emD+LxROOPu/RW3A+
gRcefuS9olVqzYchNjLB8Il871U7/yDoOI0Fh1HvPqdodh0t5iv1UVYDinMrUp4CmMKRcopJilxe
/Cg003woo9j61Lad9lIvtApsSGH6QOp/S70+OekGL+8jSHrfkYJWFFccougrdT2zgnrfsIBcMjcn
v9hZmgrnsz6T/xqQcTPu5NROXKBps7Y3mb7R3f0f7bWzMci4Gc2JU8IYTpU5pFu91zbN7/t327kB
aZ2Q7IO8YosxDM5P62dk/Mnn0fCH2xL5nSve5C5LB22x0A4fH6iOm99V5XnXYgsRvRjUAYs1mAou
T4tj5SnVPI7DmHyLebwt3Xxv6w9GpyB3Wjv0LuRGABd+5+uQ7hd7hrJfO8J7kuglfSTNH3jPs8/L
+rMGZOL+5z2JWz6Oc7Hvde9k5/qWNPwlttAdBJK6P1h5A/A0NNsLvlLpRvOKCgi1Cs7TO6R9iaBM
deuLqZe8M5hnoK8Jnge0/cnvSWgNR6D+8AC3dQhaHl6z7mFs2wcyggak+hMMG3kvleG9hOFI+6Bv
llmbor4NvdoEh9i0Jzo7Vo0qI7Pm15CF/w8AJu0DvfE0yx7SPnTKLGhNNIG+eNWwTQrdz8zQgX5o
Ey7J17uXCg2CCNrAIPTOcnK5yZOi7SpqwahZARj5RJu/bn9/5RCBbcERGmkuXgSWdOXME64cfQRY
OSv6IG2/94btM203pf9HO8Khnl1tQ0zdOaZGE5rmjth+aR9TD8RYipzfiltGax2UWgTeDNGBFD83
hhWVbTs3YTcGQ/NQLNtIxVR2nZ5xkWEA6ATkpGjYlaG9mm4aXR9haxegeLPoB7c+gYeZdZ+T+iFV
YQ5XXM+FMSneiDJSkMWFMZP7DQ1yXeEI1s7p+WCk1Td5msfpiO/T5tUrv/H2EPd/9XqCAobi+bS2
z4BeAFUlHoIiTLxcf8gBNXrkkT40kh9O2gcV6mWZtTG6X7f389qM4c4XITvQ3Vf7WW8YAyVQ34fR
oPn+mN9JwS4iCxRGsMFA8ozin0w4hMZcc6m9jIfTV50+pfXD3T8fWTgAtsVb4FpxJMfGmyu7hlrC
MbG/O+aXP/j8e0ocMOtrtc10QFzbZB4L4/RLm2bgc/oTA7gm0TECnMQVwwVDJsalC9h7J7DRadqW
9Uo3LNysdLdAEwGE4aCiRWuNIblhlxY2K3twxdajR3ep2X1so/6LkbQvbHICJwWv59gdI675KDg+
kcr9iyOx5TK8DOrlkEFTRS/sx7Ts/mpMG9TgKtXXlR14/vtM6XJNYkK1KTGm0EQujTSNr4IErRlA
1VlcrPBxyNldHiVzcGzGGj6Fjub4OTCrQ65YxRW3gOr2e/wMWNNVOiVr63IeO21C8yM4eLjVfnTH
8tC2g+8kObB8Pdvc3pcr3gEGQf5LPdEQLcdAva5XhTelcxh1kCPqx+Xn7LZOkKK1k/Xz37eNrc3f
e24VBEAQUXinjDu7imK9SXKIzkJXA/LTR69WeLqVOwjjEOoM4MYDY7Iwf/Z5I7IacI66ILZvtlW2
m7WNqcp4rE2X6JFEclGQ18jXnGE0g1tCcybknJ6cpHwdszlgEGlgtSqJumoKvGeAhhP9unEq6zUX
PfHlFGZm9rVdUvQYFZ9c5h6GUdVzu7ouuLeBQYPM2hWXW4y0ZMQJKIb7pvC3Df66ve5rAZxg3kE6
WIC+kTW4XBnPhAOIxnkO8xpUWWScnxlpn6kRH9pEXx7QkbGbaP5iZcaeF+X9b3uIYWFvI5YjyEZL
ibC8LmZUewXzsP5qWx8yxU2+tutQB0AlDxGwAfL3y7EVTka6cuZzCLljv05+EPMU3aka9373CY0l
+B1cg4BqXNqYur7ieMODA3qwNz81pLNvL9DaXjv/vvQgbRbkrjxowyM9kT0sQwnazPzHnE+fPNSK
b5ta22to56fvFO2i6ehyKHUzFvGyZHNoaT+m/KCr+j9XlwOJaFExQuOGfEmhpZERt/dwQsej3j0Z
6Wns/2BDiVz3Pybke0ZLus7jOUxUXgYiW1D9K7bU2nIIeQ7wcOMFgj0lzRHXqMYGm4dWtHPLF66D
WOxADrcXYm2i0JGJGgnQIAZwW5dG4tyGNt0w8nDUX/X2FXTDnQp8tLbW8PJUEDjg9L+7hTOHTDve
1tDz5CF4+LRgZB9vj2CtzITnE/zx/1rt5PQnA7votBQtKEadtvw6A4K6KUwHCntpa/hkWKot8t78
cVhyezNPVbMpq6597ZhHFednZaBgYQWAyxOSdVA9uZzLqjE4mpL1BfQlyLF5g19229tjXYm9LixI
ToyN/QzRQlhou13fBbH2MaLHHCHO6Jf5cSaKAa100wFpezYiaQsmGvBwUWaB3jPug4F/IaWxc6wX
N498K9lFSRLU/EM88B2kL4LW2KZJD+rtyCfWPp7YvirCmqgQByvHAq8YxM8uiqVomZJm2YGGtZmS
BjeiXh9Lpz4M9tc2qoDLLD7fnu219USULqg40fwO3vrL9cS+IlZpQsJm6KbAKrdmOirc4Mrpe1cR
Atc+1JiuEEaJB9bF2EGsEmsumCOeC+2FdLViFVeGAf45weqAFw2IoaRhzEaPYKlHfYNlPwq/nr7e
PUsXn5f2ZMYqJ3OKdAKuKA76fV2orta1349gy0KBAyH3FfajYxOz0tobwp4H2Y7eKYQkblXQo/33
ebHfztyTk3EjbRt8PgbZETlBoFmxyKrfL81/0UA1rCki0Lkurs+/LZmqQLayi1DoFkzGLjCDVF5g
YiJFNbME5O1JwFw/q54Gpkjor5oA+xey+aBMwsv1cpI4M+qZ53j0dU26r+BXwSBd/0HGGtV6xIdQ
+7WBu5debhySVKmVxpBRsYLEr1Rd4WvrcP55KXyKB7Pgi6fNIY03dRX8yTFD7ViHgAqK+mhIuZyi
YnJGMus5AswBJIv4o4g31pYAiXZo0QuOx6vOZiepFwDFLBZWUwA9yr4Mlvub/1GxQVbN0dGQIIqu
l0OYEhblzrwgPWFRf+shSL/bVdh4OEM5Tbgi4Gyk77uxOU72wEKdBaPmZ4lilwpXI6Um0PSGehOk
osEs4IgdcHaU8SS0M1ZghaP4eTEGvzG6wEif3fopQ1NVzhTlvJWb6MKcNF3IF0OSNIpmHOzgJ/nR
gx3c/pMZAxEaLmFk2K9aqYqpmwiImedwKHZLuU/ebi/ISjyBDjecNkGUgneRtGeHqULja9ViwRnV
npA4dA554va/9aUxA5A3aImv8TJ+ipfa3i55myhAXddHEmk2vGcETYsgiZcWLPc0I2IiVzOnvwn1
GTj6bw9QZUBaonIcBivSdCSDXrn+lLCHP/g8JMlE9h6Xk1wjrChF9JnjGePMqKyYX3RLsaPF77vc
0ZigMwP65Y4eQY87Ry4SM2a3Y9O2y05M3//JGGxE6AIfSGRQypwmrTt0LgSM2pdYO1mb259fGwHS
9HgngbsduDrJqWumNczlVE+gYE6PbEJrO8L1FHkzdnfeBzkFsZWh/QW5Ufl13HUAqIIgfgxLUm+d
Mt0T/GFclZBZ2VFgJ7Sw4iAxEfJ7lyvi8T6tzAT06cPJBkGWTlTJJZUBKVwYMh1a04UBAxC7m90I
LGuKTfX+qJN2FeIEJLgR+EAWWA4YpnhIutGDiaxOttx6baxPRf+3NX8t+YGYox8Prc+HPGj6wh95
t+FRty3uh90gYgFahSJbK9AQ0mWABFSlcbdxT1o7+67bBralqOyubD28aC3BvCj8mxy06M7Ys3Ec
nJPeGL4xdv+PtCvbcRxHtl9EQPvyqsV2rnZmZXUtL0StFKl9l/j196iA6bZpwULWxQymB8iGwiSD
ZDDixDlxURqvNqQRbnv4yoIhrQXsM+IW9CWqA9HG3reqrHaPuW2Hel6H2dS9/xjD09mEIjmanpBm
UkIXi3rQH/aFd8ydKihzM8y0jcrd2iCQmMMxhgYnUE4pFkzujxrRub/0ci9tIcP7T3qE7v99XznI
XFJS2x+Ef7TmsMui9tP71+D884ozcc0dxrnD58cqnPIi5N5WlXt1glxwWy9q3QtJ2uW+r1k3Vhm4
YY5Nnod5DvzeVi/olgXlrmqauRxrAxaS4kX+g2f27Sm6Do5wx0LPEXxIKJ/hmaAMwKjawqMJPt+I
p9mCfnHN/QH0iM4P7vWHBrIZuvU3Yzo3qswaMMboO25S/zjVIgTHXFhsdQasbfJzC8qsdanRzL4N
CzLbMRHy9o6/P2xFDWZpMwR5NnC06t6YEpG2LUr4x9nUAlsDcPjdiQasCw5jUMbpNu579U4xS0RH
PXWPY1hObx37cHvlr+PUy88rN0plj9I2Bny+APeImA6JDS6ju3Sr33fFf9Ech5b/hV0D1H7KFufM
NLPRyukRuqoGf7aLb7eHsfV9xYFLWQDHiuzeUYInvd6Z738f4kUDhDFSPUjsXKHzIE2Gm0g29OhO
ryLIxbvfb5efV6ZHMGQxigGfB0NL3weejMz3R6MXA1AmKBvszJI9LKA3oo+z97cMYAAIG5BrgLOi
X+zyABmQKROF21Hcc1pwZ6XaxiW34qYLNSBiEvwDVEXKFeRxotFiagjOv6IJCmZHeVmc2s4MUB3a
CBZXbQFDsNymqEWqj3Xd4RmYyEaEu/73tv9imx8G4wvZgsOseSwu7f9ZURMaBpQexjaHFenlkTP4
KEf/xZLjPsKmw9mOh4Jyvk7om+BmP9Jj5OR96HVbRKTrI/jv+8rpOleJrSXeQMGAkgTswZR/cUFY
C9UpGpMAiANi4dKp0E5E0gFdEseCfPOSbzy6fWas3A7nn1fF1K3WaumY4ujWp4fM/s7s7wbZiKbX
pmiRTgQSElz1wF5cjqDNuqo1h4oes6SELJf2xMBue3sUywGtxOuoXIKzAQhyTJWz/ISzvIaRubVR
JL5/rFN0BUmXhbmjx3bp712D7cAu+E5aUOREF+48lJ5wP6NqquYFJru32aBjTDqxwhaKsx74983i
VCcbYefqyP4zpNaGZD5l/TDBEOGvxviSlG1kdlBWG/0joVsH/NqmX5QA/zB6oINM8TXDIeVs6XBm
s4udeDhk8mF2f95eqjVvWDQhgYJbjhX1uVtT1oMwDkGczAQyNtCLY/vbFlamDI31CEeWNOl1u0JP
TaGRrHSOpvdR1IcaDG1J8lkQHtjlhqmVwcAUxLQWSjoX/PWXflf2qceaYnCO/ZNnfLC3hFRX1gPV
U0wVYGnOtc5ZW3uEiUa4IDfVI57/yIvy3huhCVRt3Cx/3EjZQM5yvCyMpn960S4HYridmXnV6Byn
oZyDQoqHNCnue8eJknT6Po2jdod5/WjYYzQ6RXx7wdaGiaZO5PBAiHJN/8+KbAa5eOIeh6m4T6xD
8uyXO5b77z+HoNmE9PMSfl3nh4GRtpq+hJle37O47zd8YXUOz7+vOIM9TsiwUKxWA6rgdNrb7d2o
nbT5vqyrgOVVMPQHusVcsnJ+Xwxq2QxnJ59snVLQBoMiR8f/BzCy8Z/bi7Oymy4MKEEN8mETGUwY
mPo51FLAVpGcSioeAN6I//9229rKhoIMD2BzixYZGnGVEEc4DU10BxuK8KNDvtZ8K9+5NhxwR1go
FJhgj1BTHkUxeSX6KQmI0pygoh9tNga2Pe30rNilab27PZy11Tm3prhEKqjX4VFJjszQe0h5o72c
pQ+gj92YtjU7iAgBKQXb1yJLdukFeZFQLaM2OVaNvOur9pGj0TzNtqrra5MHdCna83DHokdHSVXW
vjlK1mA4Bs8Cir7RI9IgEMhGA8jGgbTiB0B7I8WFgAHvcRUJRZwxzVqLgL7GqpFtC1P/y7tXBoxo
oKxBQzaw0tYyo2f7pvczl5dW7h9ZFtl+UMyxPu9vm1gbw7kJZfHdojZsXhXI6LwkDpiVN3xr5fMg
rFk68FEnuuZB0WRNrL70vCOY/+6asorzPNnIDy73vXIroFyHQhdCq0W3THkvSYSe05DgQeNbJPSt
j5XzUjo700f711faPrebbRlrYzo3uPz9bFV4KSffMmGw+9yyLMQdsOFXKxsFQsc4mlDTBsG+uv0Z
HvqV1hWgSQBFCTn4aUDMjWTC2hhQJISsMupswLkpQdQwirEYTRNt/vfSBe7jcNurVvYgGPAQ5yLi
QHe62uGHV18uWaez09QUZth3XlAn06EafhKzWhrm5Ntte2vDWbL4S3MRiAvUo6XWp3YCZCiBtusD
dHKNu7/4PMgQlk4fnJQqZyqKwnyy+gaqce6vqROBv/Hz1xYc3/33+8alR800z9lAoUqXVsMcOnMV
cTrEWme14e2BbBlS9kpZgD+izjEQFAa7LMyzsB02TKyQFKN9aBFlBqx2UaVSXMuQjsfdFiQf5cR2
rVs95inEiyYzyj3jMSvcLEA5LEIrUh0UKF4kuo9M7Iwm/ttD/ZMJVc+Fs9+hPkoEY70pB8pOlkva
Y2umdhlDpO8FeujgKs7sNEbRoXqwJgThXmd/zpjTPUiw1wZVMxs/NUhn3v5FawfV+Q9S7r86ZTJ1
S0wMLq+dVidBl72BO5mxk7GQXQHqP8qNh5kq3L08AYFkRclcX7RtrzjjSkSThetgY/hYebBffAW8
KHD1+sOEZv/AqoZ2745lFepezXZ96leBUXI3lH0/BHWTT5HWVnXEWc8jPGitSAiePaCw1Ox8a6tJ
63rFwOAMEj1wqCzoFHShXW6DhvrMJM1Mj7SrGuAidP2FJu4vqyTFvp0bf8ebrAmozspIc5vfAym+
oGGNHaQ720cItk8fby/YcvddeRCe6wvOGHI3aq69EwJd92D6PUFg7sXOxtdM8iOz08j3q41M1urG
PDO1HHBnd4o+MCclnUhOtWsi/PqWAKFH042tuXZKLkUDYAQAzwGI8dKIO0uNja2kx7YwQjs7lMXW
zbVlQYkmCJ1sCq0Gehz60zDHwvvn9opsfX+5d86mqWtSkWQOvq/9ykVkDxvX1tbnlWfErDkgP23w
+YIifx9a1cbjbs2hzhdAcXCnFZqWezo9js5Dm837zqJhKl4ya4tmY+3+RUs/srsAsaLosQz0bJ4K
Kqrc8Cg92vSJ+HejLiKv14M6BTvxFh3Gqi14FBpdkPcF0vTSFjcnDQlxi2BQyZOfoHGoeqm6GZz0
emy4GwXI1RlcSAkX3CiolpUZrOpM83F2kyMInmKoq8eVRT8lJfk5snp/29dWTeF5B+pj0BNfZQT5
UPcFtzQkylsemuzRaOfYYI8Z38JrbRla/n62WKMNEkxTwpCR3XNoi2TdXWl3IC/fuAzWzhgfEFiA
6YHAvHq2VhBrsvwBWWZJkrsqF09stg/tzDaWaAXJDSDsmR3FIcYebybq90sFxn9LUv5t5Giv6g0/
NnP5RLgRlm67K1tz12navjPzz7cXbs0hsW5QCMONh1q1cs8ym2QFSh94EKRDUFRjQCqo6JGPGXKF
xYfbtv6kntU74tyYMtjSmSAXNzv0yAqn32WWxRBbuD8r4fX3Jh34vq46JzRrroXE1NHHVoAM6uA3
y/EFjwqMoSuDEZib2J2N8idP3E9Ezx886iBEkO0jdYw88OfMeLR1VNyhYCF2XUbsYNDAW1mi4ygk
CFwCW3Z+lCOgAR1+wV6dNKV3Vdv4D/kMTUw/B3cTJDn8sEhbemg02iMKs+hzUghQmcy6/+Cz/FuV
Ts2DBNoqAu+D2I+T5UEwNB3v6sIqn2dnaGNadEYI9Xf61KTZ76nnu573fR7YY96EmnCGZ9K1Vdik
MzQxDRTJ5qLt7oweVRNgza15CvLsQUh/CBN/NsOSoozJHMHi0mL5IR3455l0SQQFdfxgR35H7NYE
OZ/JkYJXcSel5QdDOyZ7S+bo5TWn8bfNvTG6vaxXFwEwGhoOUFSVEO5fMaBWRmIzP89TSIwHpv1S
WKf3fx99Z1AOwKse17FyE4M4Kilk6qcnC1JdR5lugASuThT8/CV37bhoBERYpp6SbVL7EzPARGR/
s8pw3PnGzqFvt8dwvc8XK0szCJrN0Gqmkqpn6UiNeoaVJf3RfJhE5IiHjCFkjAjRg7GTwQzxXVAU
3za8tjggAsMzDC/YBfR4eV4C+KpD90nCLrbH29jcvf/zQJ4BSLe8Y67gszQrIO7UjNlJ4Pkqdpx/
f/f3cTqiswQLj9+q5qdmZnfSMzkYPPtX60tdb6RDVmbn4vPK7KTpXIzCx+fBPS4sHkFeLLo9gKt7
BLXQswGo5yskuDp9zJD2cqh13zbah2kEE7ndlBvh6qodaAEAiI1Unqdi9Ax0VbSFBQ0RrW2i1vvV
DY98q/K6ZWO5S87u3lwMbiGzEoTNE7SKBwh78SpMh42bd3VNANHDQMB4r6nkgFXj8FHXBT/VtcRN
9KaVG4Hr1YaHr/o4R0B7hSzbFflVDe0TIYiHuHsILPmyCwfj67sXfYF/grMRL4dr3JFJcY30HY5h
j5zG4SuY9fJ+4y5dmaULE8vfz9aCeAABtbokxywLSxlUW2LKW99XDl1rRnGd2/g+mHMfyvef6Aiz
l/o3oHfXR24noDpm+pQcNZ70gczcJ+I1GxOkqn1jaVExRCekg4ou8nZqa5qkrYE6Nc4la4LiTe0m
xQ5VWXrv9RbKlGxE5d0bswAAgiosczHvCs1o9qkmRGjrFf+hVZ0emTyHOK7EQRGQ2t9qNrsKvpSf
qDyhzAEiu02bsdPg1z+g89XFdT+/uER/knUT8qLfeDivLurZlChXnaNNVOopZyeXJ7HlJSEff9z2
/NURLZwbqDuiRUq95oxKEKdKCEpXzqfZ18Iuf7DReyKrVzCm3Ta1OhgXEQFSG4uMjDIYNlo8l2B4
OVExf8xy6wO0tXa3TawceBrA+v8zoVa2BcACdu8gM2snj37xD3HCjP/NhJ2ZUG4gTutGjKUGF/BA
td3+7JM+ckEfyj9zCKX/xXBwPaBMj+fuVfLfhewe1bqWQYsYkovFvTH/7ujv2zZWHeDMhnIuVWhL
tM2yZ7gjSJTP0L8Yv5dNFbTDw2RutZmtrs/SVo/MKQ4SNbgx0IOHmAFbHCKGETO+jrmxqzX6F9MG
MRxw7yz8lQhGLo9aqJd54PnCm93TyZ5NdzY4v0x3f3ve1oZybsS8NCIZT6zlXATWloXgmP3e8umb
NiUb8dqWGWV5CB9kpdVLWdH7OKenUj7nfxElLLsRig6LxscVmfSA7JxRTajHDtUgwpn0B30aBJTM
t1Z/7QCAWquGsuLSO6eikCwT8ELXAnjO2U/2P4W+cYlfhQmLToCD3Dx6uHUQZS6efnbDViMB81aP
o2yY/WfT1w+Mm/d8TiJttMK/WHyA0HGjuz4gLsri4zCFWiV1cB/qX5zkJ3UPybu5pJfRoHcYDzVU
Ga46YhPggLrEaHAbpnvKI8uIWRX/xShQzNPRdovWYZUkpq51a4IkJjm2lUjuZkhw7Z1hovuirbeS
s8vFeJFIQEwN9lLc1wiykIVXJizzICXXlWAi0fv5Q+rndtCX7LMs+Aec2L8aicTa5Olb7H+rVlE5
Qw/H0pig5tMK9ONDYK7Tj1WfxEzbi2IK7PofQeNaPkhQDd+ez5WjFDpcizw5SGPgHYoD2h5lZCh9
7UjL36wAcwynwYi2d9N9qEFmedvYcltezSiYd5aOjmVLKbcp1WYov4kCYlnFSB9cE2m8mQ/ZrtEh
nmoRAcZo146t3OGBJdwtubaVYwkQniUhinm9hkWBFLgZUyb046B3oWZ8bppXmpCNIV7DeZaXGPia
/9QorqnamKgSn7e6fvSMl0QaQT/eG6UWsGEn3IjRGEG0n36/Pa9/vF6ZWGA9kbpYasfIACxDPztG
OoqkWpbV9tEq0zqGyCKo3E2SxLzutEOutWbU5/rHVObNELiNbPdD1xWhlF37y2u8KXJ4qT/7VdIE
fuX2Qao53d5okubLYLbdh6JpZGDWc/o01uiQxS1lvBq1LHY6Q2StzTkctZ74SzM7X6a5zg+TOxmh
pvXDDumwPHRB6pRFZcbL2Gm0ZEdkOsVtjf7wAOxILJxwlBypJM6HvnFBQahXW0DPlWP2Yn6Wv5/N
D+tMLWmtzj5Cfjhq9V1Shg7IDpF9u70QKy6Gx+RCOohcEl6Wym7Kessvp0b3jrZ3KPWHEq+BZHfb
xMpQLkwo4XyFkDjPSphAQscEMGi6T+Y78vMvjGCTAJQOvAOm/3K+hKxS6HgP3tFLP1j6QdRhmcI1
ko3NsnIeAAP7nxklUOjqRPZaBjOZnUfIlurmr2SMpvpYVXOQ11/AQXh7XNelcBQ0zy0qGyUzCCnb
svOONPND2XmhKwD4pTzu/DKg+YMx70zkqA39+5THvfP+wAiUF/iPh8ciQGSKe0y1yyqDZN6x5vbD
VDsPlLdvo7cFzl47gywoRYJFGvCL67a2pJmt1CVoAUzrMvQnkEW2AUlwj5AycJJvRnpfWHawqYe5
5v3nZo1Lr8khl9ukY+Md3fJtaPYiCf2txuYtE4pjcskJ72WNhj1W/jDn9Psw8XjKtx4xa5vsfCSK
Y0KdtHR1hgk0p09ldqiXZLm2H834tjuujQbNSXhYAiUF5hXlPnQ5eseq2XCPYOEJKuN14G+Zt0Us
uDYWE7gfDRwEkMFW97KGY9xNJiAxrcGMi9kPTWmEVf6t5RujsVYtgfEIZLIIJkF4d7n+dmn2hdAY
2q0gWbmbhOeGlZTDRzP30Q7r8Oaza3Gyo7o2B93Ex50Nta+DKGp/D5HLhAUYANhvCDHvR17UdwWr
qrA3XRFXdpLeiyYr7h0OmMZILCOU4Nf+YjvlFDp1pQVAAo9RP7XOTtSeDR0DbSxYUNqiee0G6fwS
WVk/THbm7fBETHdtZSFD4YKqs+2p95hwMke2x5udKN3pWZeC382+wN3U9vy5m9EOgC6pMqhahzyJ
pn83RdiSwQVaalkktA6rPTrMTSyWURMNorZElPA77eqdBXk3FG5uu9zKGsELAARbYtsFRnG5Rkbj
YpEg+Xsy9e9Fdl/yH80Qud0WrGnl2fQnytOXKB0arMo+1fqG5ZaExNdozBH1EzTXbsGJVkcCteml
6xLkHWqVW+pZoznpDCUplNcCR6sOnig+mi45kGqrSXVlo2I4/9lShmPMNU+bHLaywfADv2Y0rGZC
I8OmcmMXrcT/f2jD/reJlAWyZEMkIdiu9fgR3OtW+9g4ZtC395V8GfPdu71hwTMvUgNgT0UJ9tIb
ynQaHUR4znEQ0IzJD3n5Da4ejPrrbTsr7oDeM6AD4Auoc6s5FED4GiFayzlKuwwT/SsqeRuhxJqF
padmwTeCR0D1htzuhZh75h2TsOmTwN98KK24ABKOYIsDxOGP+s3lVOW0BzakTHB3A6WVRiI9aN5f
rMa5icXjz6JU04eEtLWYaPWXFFqYWkjFI/v8/qWAbBwaMcHtdp3QsDMxW1JoaDewXwk9iQ33XVsH
tHIvSBf89yoCHg2Oy25o4b5giXVSMF/MGyu93CLKW+cCk6bcMkPTuQIIG3qETlVYDcNPHKh3ZesF
ZoIHRVN1G6uyZU/ZkN2Qa5AQBUiDZP2z2Vj7gvUHZqAYT/37sus2KlNrfuYicMP1iagAHn3pBEIT
rQ3mQACF0HRPfg09yD028CBbJpY1PPOzhLSDm2sLXNp/MvXXrHstvQ1c1ZobLGCPJW+Os1nNa1mC
A+Ncc3rkU/1VEFQjPZcfbnvyWvHFgi4L+GIBqASzkpLWBqlWKwvHR43NkzqkrqDwdUCp0ElA1SUO
pCnv2wyuwcWe6iDdmP07h3Rx79JPWWbtb/+Y1QGjJvEnf3utbjcWpjaYZQZQRKKDY0tkn9p2q89u
bd0WWlxof+EEwtV6uW6ka2pmFQY80V7IUKt6V/fWFEiibwQJq4bQe4lcMcA6eMteGkq6qfI4SKuO
nZs/9bq509Ps2ZFbT1nDWE40dS9DsOlfQ+oKWprO/uAf/cHkD3UlnJ3h8WyfjfQT8rtypwFRIkhj
Pk0mqXdyNuld1w9VLKnt7IqkbWLPrttI6kMd9FWKJ7Fl/zABmtlnc83uC+n2UUcB2CEGzWN0zUFJ
IZ/Kvcs8bwzABQ1bleN/scfShZyan0dJWwJxg4B6n7kaj6u5b4Kmy5qoNkDvntU6pD0zoHgKfxge
Mj7xO7/zpzJoPGAuXArdFKA6m3Dgs70rqrK475jp7ywu591UTxn4UuwiIBO6yFvwq+zTEgckE+14
0BLhBqgoy4/e7CJyHcZ0PzXcPghdp6GjAb4ztp32arnIeEuUEsE9GLiVNj9rlEEexJYfc/xbz+3g
F7F0pdy3ufXFdbLvMrXcnTERB8LB4tHS8n2GR25MajM/8sKr9+M4ZaFZj0UwVSZkjiRDYX8WBPxU
2RxmoBcLvJ7NrxBTTIIqY03YVIJGjivxB6S1Ywh59xGkb8uPdpE0Ua+XWtQ7ZbZH55wVQlx+CtFZ
1T2jqdrZQ2zQiXtPYwcwE08Rb9BI4wzVm596ox5IOH6MJEpuhGPXOyGKV0BQtRUy/IyzJzeteFTz
SQYTurWCzJS/6tmVuPR1LR5Lo0aHVtMFRYr3A7CY/fNQlFpsTXMWzWaSxUZuDQ/tyHW0+vYDfiT9
2jeO8ZGKQb/3G3f0wzklw7euYLodFcREnw/UnvwuLQIdwfsO2ky/82GYAlAx579ZT74ZY1M8yQzv
l84v+Gs/EwGq9nEMAfd0w9LqtBA9H+lnz98l+v1IP0yF558Skjt7aXcUv3V2H6rC7iPGanSvQCip
i8pe2o9pwfOnPNFkOPSVH8xt1UVGkVcfE8OtT9LL4IxwpeIO/PQ80MZJQw6D45Wio0/FJY0BwNbg
6juNa8D3N+kXK+t+u02TP3t9b4YoShi/rZp5OytnbA8WjfHRF6YX9VA12E1WWUVZV8wBWF/bY1aj
zYIYrNoVdTvc8yJLofIn2yJ22p5ELm7ih9YenXsUzDDQKedRpmW/xob2+2FM+AsRnIfQ/GYfDWfU
u8AXA2q3jA3anVum8z6vmjowmZ7c64L4B0Pr7NCVSQKRJd3bl60+RaU+DnFdNRYwui0NZTEmd9xs
q/0gfw+9ESbw2xYltsgEcdBG2LFywIO5D51faDRaUvPKmehKlzaGbMWpsWJARqz49v2xcuRefF45
CbUe3PoabQQeTBRIfvEsPO3OMLWNe3nlwL0wo1whNBnabmSdOLUy8OjXiu+SakfpRoy5ZUWJYfiM
1fJpLU6S3NvVHbHeyjZ2tPffUhdjUcIY3UrcqvOxIhy0uVUNoIH12Pob0d9axhBWFmAYhGuRvVPW
vWyBJ9UsXZzmSs+wA6C7YHBk0MBZND/1JVKw2DAp2AJyKw9Fn2uRNfkiylm6hb5a98D/foniIlDV
JKxM8EtcGplzTLSNoW59X/GNLkkAWHI1cTLm2IlAT3bbw1fiaHQEAoij4RmIJLmyXOOYEkOMWK6p
fcnTJ6N/penJ5HeQ0NlwjNWBnFla9tpZfAvCGb2V9SBOFvkFcIB8N2HOgkU9+/7i/mffb3LioJ8V
m8hvQKhCLSsNUxyYt6drJTcOIyhXLZq8eHQqqz0PBIQHA1Y7z3B9TWFCvsuexkvTQMuGoM9/tlut
oSsrtCAg7UXWVbtmWtXGwR2dsqTH0ikXAfO+Dtoi2eFf/l3S7tFptgRbl4lSw7+lGWKhqcTWUhOG
E+vNhkF16FhP/sGs0YhWTu2hbCgCH2MrX7TiFQtj3dITgZjkSsKlnE2vBL0SPSYswsVTbTUMrX4f
FVRgiI2FdVpJ5vaNMArB0UqSW5A1b/SXdi62shwrt8RClIZnIYpLKLIrnu0WkEXxW+4c02yvgTBY
xGR8f43iwoTi3OixSIk9w0Rf7rzCCAwIDBfvbutBstPFyw0vAvCG4AVwuYMyxMm6mXDsIFC73jdi
4w29shRY4KUfZek+hitffn4w8NabUxt7xwudyHl3TxV+PdAxaNZF7zwQycpBSTRdVrkncfHkbTC6
KJrOb7c3/9oA8PBCTxjAIRiDMj+5ThInmZE+bVnYJGCd2jhctr6v+NGkV12Lg4ef3E/C2k1kw4dW
DhLgg5HGhqOC1FrN/lasAWUHB4a3sv177v8DLhAhp7BzUX3ufvzFVJ3ZUqYK8bxd+LLlp2k3Wx80
7fX251eHguIJLn+k/q7wP5NHPM+ZS3EaMvcFLSD4X4uXO2S3omLryN+ypbgtL0ynGvFEO5noyQ8n
Jj7LQQNgr3Oy0EgLO4AAz6fbw1s5UFyURBHYLPmEK1AQ0WZmdrMQp6QAsSt9nHl5z+mX20bWvG3p
IYXWDo4tOMXldqSuOWsDgqKT5T/beZBttVEt86JcIyBoR3MIri4gotU8kOFzUyAPJaCy5AYT3pCd
9kOnY0z996O1LgwpG98buOdlFTa+qf/0vM8FsQLavNlbSksrfnBhRgmfIaOhF7xAIMbl1xJNPFXr
Big+BDZ7aY1vt9dmxQEubCnbh3gQjUp1Q5z66mTS/VCd+Lj/CxNAgv7pRlya3S6X30qSzjIqLH/K
P3dWLBBdahtuvOoBQGn5SwUNIE0lWLLn3CnwGsAuTbMZvHa5SN4g0Jy81i2H0rxZaRsp1LVnAah1
F9pYBC8OiIsvB0UywTo7GcA0gvDfR5QEEopfXkvujaKM7CT5bbRaPKEUElDXjweq/UotuvEjVtbu
4jco50UBHVow/aIqNeiDEzaFF4ND+QUv+L94+14YWhz2LOCVrRQeLTX0l3jOY9YhepKtR+LbbrJy
SqAnHh1EKLAgj6r2dhdtlneys5ITNC4hirKl+rP1ecXRXWeeGKMOyoVepONK/f4Xvx6RDOCo8EMo
Ql5Oke73jWYw8DjkEHZDZx1/HJlPNh42K26+EG39a0QZQw99HX0c++Sk1SfT/JY45t4w8lA3Ptwe
zKpj4RWw1IiWpJZip0zm3G4XO757N3d7pFaQrdnCWKwtCFCVWGng8ZACVoy43IPKbJ2i0cf8jdI9
0zZa7tYGgQTJwqeCiNlSEdUj5D/bTHhY8CIus8gvY8im3p6n1SGcmVAWPSlymXUZTPh1zFjkRrc/
vz4CRLJLTx0wAcq2QybOqNiMKLlywJsK6Yi5i/NyI1ezPEuUy9MH+ORfI8rpXGoZRPYcRAB4ltvt
SeP3hDyS6pBm3/r6ezdsILC2xrT8nLOjpEvrlgkGc6X2RhMO5ou9vcXDvr4s/w5JjTeKcspTDQVn
SNnepe6ebCzLxoypWI2cyMIrByzLZOvRTKbDzKdDrfWxl/VPrZW/NqO1Q7p8Y/MvC3FjodTqT1UD
69xOKcySr8zsA0FPvnESxbif2joAgvf/5XyG4tv+OPeOlmMS2Uz2JZEJuEkMigbGfuOxtuERxrKa
Zx4x9nTC/QlDTvmTJi8OmPmL6XB7MGsH55mTqyh+lxl60+gJkrcs5vxQV09+HdRb9ftVvwOOfql9
Q4Nc1QIWjHPHnfBWIFBIoKmIur/oaVskS/61oNz4OjGR/QfI6uSWVTB+QRtHcHuitoagHDnO3KSe
R+BkXXosDsMWY/bqWi+klBAnwL2i6pI0boHcs0MAC7KsgE8v9fypoBv9Z8tPvNonZzaW33DmTyzL
827ywLWv+2VYDL+k/db2O02iEfr37cnasqSshum2bLRLhjh9jDvZBBVIAAx9CAXKNG0id7etrS/N
f3OnLI0vOsdkLeaOuAcHmi5843xZfu2teVMuAqB77UwnHh7S+qOg3z3xTwkq8yH9cXsYq2agHYGc
5kLl6ijnSt33Xu3KCVnm3D+NSflQciOoiQxFam28bVbXB/TvS/s5OPvUPE055HPW9T4/NWMuUf83
usehQ7HcSvvqYWgYSmZo7dqYxtVl+iP1hOr5dRowLTtLaCifn7xEQqlwJmNgFVsv3lUjeEsDLIjm
YujKXvr4lKEfHgkufrLq7wIafcWwEc6ubtQzA4ozoO24dERj8BNn7mFhC0x954OdsPi2M6yPA21c
IGtcHm+KM/Asa0B3guNGjDsNBc4tmtOt7y9/PzsLGi6tcqa4W9J/oH3mbvHErH4e6gUgVVs04tQc
fZu4HQdJNGpD6Ser2yM8+4vpOfu+km+YUHRMO4JnbSpDNrxgHP+/7yvTb0xt5XhJLU7eGPl5vPXk
Wt3q4GpeOI+AeFflcKQ9uCUYe5DllT8New6nAvgs51MhtY15WvVWBPp4TFiQidOWH3K2zH5rsgoB
NK5F3QkA70Cnuh7a4xYHydp4gBBBLxgAaMjAK7Fr1U8jTfMRWVkIryPHlIMjRtpR3xobt7C+NiAT
/E0aUr9owVAlak1RVQablpMrGfYJLd5Ii16pgYgcZGvAPpRQ/UiTISqS/ZjJqPfnoM7dp5ROexDM
7d0tIrg1R7cgKgxoMnLSOBcuJ5gx5CULDxW1eTx86caN6Gzr64qbm0XdDAPFldB9NufI3GrJWpvM
8x+veLk1k6ph6YysXbIr2mguwFP+5fZGWvOMhc4PRRmkOEH3cDk/0pvzcawRc/ipFVRv7kOfh1Oz
hXxcDl31hl64yaEkDwz3FadEWmpT17nYT5SlQW8/d2jhTA9j+Vr5PggOtopNq8tyZk65AxqnmWaw
u4mTzj/iAap3r7cnbe0dhcwzsBRQH4U+y7Ju57s2cZyUU4+dpGYezX6co4TOc9Ca433VWZGPjCSj
/Zd+2PK3tbgADGI4mLCJkeNQDI9EI8LXQe2H23WXj1NklsZuMtyDYXQfmtGPb49zy5xyOkkjn7yq
gLkE0OpqnHapQyJUfSB9Ox+Bs4tum1vzRfCOAKkMEmSUX5ZlPZvWdKhAVSo5mFcN8aU2U+BHU9Qr
SGD3WwpdazsLZSpIGvhAel7JGXDSjHY3tGBJdaKh3oOgCkig26PZMKFyhmqVbzn/R9qX7catA9t+
kQDNw6uknm2nbWdyXoSMmiVKoqjh689icM9ON83bhH12sPMSQNWcisWqVWtRj/OjNi9G+3lIf87B
r9sm+ISIx4rzJXE2fkBJRWdLS6d2ghTVqqU7lcPXTKVCJBsCCsJI4XCWFvRdXC/InGd16jt5eW46
vA/s+WQbT8RXgUNlo0CRBSytsAVKG8GJYpchS+SXJVTNfzTp1/nNtNQ81Lz4vuBFG6IV2K8g4IJi
IsBDZa9IZsu27eX3+fgutm0FturEcvD9IXgGtlDP/uj6T7dUPA5Vs8TX6sIKujN9iPQ15XkaPix3
DlUMQuahLwchHPV0LIsaxTsMgt5NUI7oit8VhBHS8YTWFKKpXuuqORN2lrYQ5pkU5uYxgphImzw5
y06Z1lBZEe4ByJ4tRkL5zrKHsBheMtsPV0Boy89vP4eXkydcoq43Zn0+YDQ++dNDEGdSkbe/1me8
3sOiM2l0jh1sq/JcesGeslMZnLTkoCWf2vxXoc8Ra55o/9MKDqOxtQztyFSHSDGVfwncLraf4eUr
rQr8gIREyxyn2T5d0UV9eMdE+lxeHQVRAJ6FemtWeaY2mS3QVc7OBhxF8XnZfQb+zf8+LwSD9RD0
nQnI5hndQoWzLX/35SYxdnn28tZhAG0HXlzgkTgLldgdmS1BVbMVZV28qUMbGU6mCLNfrwZacVEY
hkAcGDjxCr12BvA3s5f5tDqjDzOc8q+gRur141ypVCZfXwDQuQcZGAwBNfYqOmyXAnU6D/R4hLyw
5am3jqajcDwyE1C8B08FUh3IPQre0wYSctJ7lp8bjaIzAGKWinTwa8eJJ/qFAcFxTvbSWG0DA21N
Q+ARqLLHTmIBCROwFwDz4oDmT1iNwvAZXbO6Pp8W8qmfPt7eTJIJAoQDFRNAUvBKFHlDkJudgk7T
sNbVEFKtAWVlFQaNqlL6+gLAhgIrjYu0DCg8xJKNm3buWjpZhUL0Y51sAMZ+rPLHGYF6PRxt+ub3
+7U1wTNrjds7vQ9r5d55yFXd+ZIFsSAUwbEhAIKjifP6eMxmUM9dmpOzVvjh/OTTSXH+VAaEn48O
B+ANKQz4RQxCwXnc3F5zyfm+GoBwoTTa7Okrwfcb8nV2jlMd0flYOM9vtwL9IfRRAj2I1k3hZOTF
TLugLboz4hayZ9ahT/cl2d82IpsqPLvhDPEXAjxhLUhvJEaQe+Ts/OyCz7b56fbnJacDP//f54WV
GKdcb2fDJWdSsagdonqM/WSN3mHERZQNEQ3A2sTb1/O0NSd2Qc7eeOyzIBzRp5kvigBPOhKw9pjA
zuKB97dH/eKGbb0817LWbM9ev8z7Mq/Yi50X4yd76oL49nhkawLiJhPK2DpgpWLzbE06xynykpzb
8nQ2tTeXxQAvufg639wXA6ndtXKdEl+nzrHPSWjpJOynN7cDwAgIPaG7C/wUmMmvjZQGtPVqgiVp
0xlIzMOynFt0sKhUISUzhQI/5gjeFxgwUS3Q0ZbE88CpcLb1R9Kcy7cvxNXnhYBEw8WrDRU+n+B8
kLPKTUm2FBAEyC2iodHkau7XkwTKGs/rZqs9Mw3dOB3g6g6qiXGwGlQRWUktOSDSRcaUmxKuQEcv
ascq1vaMPReWoDU3WB5NIO24vXH5ql4/eDnO5p8ZvlwXWytBFMoSC2ZK8rnrZyANg9B0PiT6SdPO
lkajafl526J0YAGvVuCBbaPt+NpiNzQNTVcbSz/XIYRHlvaDViv8sHSTXdgQJg/6Ynpbcxt5/wvs
7TH1f98ehOQ64dkwAHwgQAjUsrAPfM1tygpKVmeT3K3rk9aMu3xs9/o0KNZHNpJLQ8LR9+rC14DV
BI1alJfoZZtVga9kOaBtw6mwXHSCI4a4Xg7mVQRdppw61nzRvS21DrYKDyWZLAdHHqE7yryvmQXA
TD7jacqg+RU82wVY1d0f1OvCddrcXhTJXF3ZEeYK/ZhBPQ6wY7tT2FYvnYpw7vVrBxE1Fy9DFzOn
tBSuxibNF0ChIAkTmB1Oih+R1AyHwYgA9Aut/u38HNfmBI+M6mFSNgSstWX5pXfug2QzZLvGjm/P
moQhiL8TULPiaALQJQg7gLaDrXdmBgZNA0z8PdpL660BIQpKPs3eVw+c4WXzMSHz23c2zCKY5AxZ
QE8KZ7QE8gfpXZKe0dhZv8zF//HzfLNcOLbVHOugC0rwnJZDlJu8V1XhoflqC67zagCCDxgcvQyC
HgyH6GerYrfdafkXPUPr8SaJbi+R9Iw66GJAvyFqCiKoGVFMWVQ5uDqrWn8ytCA7gI9wOBjNO4qk
2AsXlgTnbHkteki5XIjfg/wqqogikpEeUTgaB2wToM4Q30QWSBJHZwKBav9Tn3c5Uexl2UThyYgE
NNQFX5NOLlPfZnYJKu85ZS+UtpvSCk7Y+YrAUjaKSzOCH6D1ZNOVccZwzXxhuf28jO85HUAp6bgl
EbyCyu96+yaeM/RjQ/Nz2p6Wfj/vbu8omSeDDLsPYjqQDWGurj8/jFbRtpaTnRuPsy2acV8EcdEe
2yw/GJbiNpauyj9jIqe+rbckaFoPUNW13GSp8wVCHCGb7N+3xyRbFaTUoTxsIFj2RO8M8gCjrTyY
YfT4u9AVp13+dcwXULfALIkVKj8lFtqOAUle3Hhg99rbefs5tey/7wuXlznTBu8u4Kpt+hR4/Q6k
GREYBRReUbYUl1aEtyOk//zO1jEKp/241bIvrqcwINtY4KaF/CrqTkDgCxsr13PGhhZHwzPRit2D
jTupn6g+H4pA22RaoUqyyJYF3DIOMjlIqyFSut7IUxMQy0twThCuhQ8jnpK3N5VsPNDiwpfBKAR9
ZmE8eq1Xdo7OgfNMjy6798HQjkaPIM5/3bYjWxg4RR6I80tFRPE441rZo9nBjl8XoTtme1Mj976j
IrKVzhe0niGVzHMUovaUBmKcfu4wX+SuZH6Yj65iwuQGoBAHigC4LpFEtg2AtCLGDPayPtv4kAAv
VOTFsnASCQrO9cUfESJQaM39wlv8Gb6r1+JiSsLRfhynLAY/gGIsckuI9aDUguBYxPSkg+EPPl0Q
70HLxqtDFpYgU5hdxfWuMmNe7+HVrsrU92AmnVB3APapA767HYadP3++vcv4bhVDFkh+okbLGdle
oXAI5P3MeaU8gA2ptXemrW3cocnMHfHij5JecdtLRGgQTFzYE26xNgEJNMgi0vOCQLkBUMXqt2hY
bcJ8W4HHLM6B9WvfkWG4MioeWbfLigx4zLNVRaSKNZXSueyoeqCz54Q4LjK8gssxQMxlGS10AILg
PmdL3HSnzFeJTKuM8D1zEb4yfXGLCvQM57X7yLweUkwHb1E9/mVnFWlEQJTRXu4jErg2YgXmPJUe
Hpet+0LZ02Lvb2836SACD02fyDFAeUPY2GNgmW0AwajzaOUfxnk5jM10ZlAnuW1G0oCFFAYUjDkv
O55nrjBZ2mJ2PkQpYYdoA7Sek2PaJVtLK8+rM0fLwqt5dtSyMYTQRjQmU+xWbyc7u/4Nws3qmrlT
tE6XnbVg6+unhakKvLKb6HKQwlnKbCcPeguDZNOpaF80u9l6qxtDPyS0dYXjk20M39Dx2MD+Rogo
PAnHmXhkSjyE6XS/lgfvcHvBZPsCNI0QuQStzGtIG79tfeS20nNj1I/T7N5r5vQ4oGPithnpKPAS
AD+WjiyX2JfXrQjLDYAOIQ2xDNuy0Lw/Zu/kqpemzKmCwYyLTrsccCGsPORGZvAaIJbubYRsrbFr
yCGosjAF+VjmTLHTPo+OKs6S3RmXRoXdoFGzpiY1srPPWa2aDPC/ly5LokxX7QXZYiHTxQcINwGA
8bWTGOqkAdUIgD2T395nGkpmQZtHeTD+fPtqXdgJhEo1+uzX0WJoNIPQSpzORpypWBmk1xHXakcq
3QCV2euV0ubEHNbsPOvuiazkOan9D82ohTpLz2je/wjBWmBF3XNZjrFWdJvbI5TOJDLfCF5wqADa
u55J3WdLopcJX7PsAbXHM/SPd4lvveeCAo2mx1GIKLCI7hCNyTMwsBOkjMmCMtefmf72iCoxKRkM
djX4CID5QslcvDvaImW22VdorTAhLupoh3WYdhB7V7gKyT6HGRda1Qj3wOcpHK4U5FS1ZWLO8tlD
MXsGsY8bpdpjOv568+KA6ATsPVCug1a5iDBgJJvylkLPzOyLQ8qsHTWcyBxcRZVF4pMQdAMDAG4Q
aC04wh6oDRt0C6C7OGv+Ps12qtK8dFX+fV5k6zOzuaDmgucX0UAIt1BQLf5kpqG4HlRWhOuhAb41
zUuo2A3OgMgkCDUkwJZGFQPJMpPgzgeDKPQoAJUQW7m1HlRnM7Ku52L8EmjVtmNJVNkkLpw1ZKA9
NMpnw+xCO3+8vRckV+2VXSFuSdtgchyKRXLQTZe1GajhPiXtoVnBNJeprg/ZjrAwOJAiYKe/emEu
bF61jk3aB5R7vlV1Ew359Ont4wHAFW1W+Bvd1MIhGqk7ma4NbTWDfu3HfqMD8Bb8AK481ipFp63k
vHroSeMvZuThPPG8dl7fAhvepdBnRJTvQ4wr2awj2uzWd5SQuRN1AfpEkz+a7K69qZ3ayMW3SGXU
y7ApV2M/AkwTdM7m9tz9zUMLb6YrO8JN27h0JG1qAXW6aPeJ5kRQXt/O+rDLuydwv+wso4rsZIwY
urxQdtoPPonmVtUGwP3CrV8h+A1aQOcKPH24HakV2rSN6hIV8/lUrl+CZApLHVRQ69PtofOR3bAp
YseKwagBuUJg47kDMgUPqV9E80jvx97cOe10dqkiUSg5Ch6iDHABwTm+lumbmqKjDUEPNXZYXJIh
HlQPYIUFcUhjV1jMogGCmfweIObQpb/fMWeANQCmBnpWvHyud+VSWmRClic9Gw1oEuMFcihGHJQf
u2k3vQPohWLAP1t8sBdvRDIF0A60IOWWLJvUOnnVsz0rMt0STwgTSKdC+AjBhFgbmk2UHrLAwTN0
OhnFtirvwa1uf/BURSjpulzYEaZNG43UTniZ0woeVwJJgh+3l0U1DmGqIAvegu4M3+/zjWfuezcC
Iy/7Hbyd7Yj3fOB/Di1DUUu4GTut1yAMVeNl43rp3l+Sz2S2P+XMpuG0UPtQgLZPcRnLhoYnDlQW
cUVisQSTk974xJsRwAZOkz74S5DGGXwW56PtooKtwTaYyvbP7fmURAAe7pMAQrygdXoVLfWDbQ5Q
bIFRCMiR/gdKiz+SVHGXSI0ggYRUPmJ2/HW9vwcD6ixga03P+vCDBlpYzJ9AhKSYPtnOA1sQ70tD
8gvX1rURp5mpOyx43iTFEM4OCVXvJ+n64EHLWaMQJotBTON7gwaAYXZuQ28+5cHJ7lBp+fL2uBJZ
FoANwTcNsIj4tvBatGW0RYO3hf5S9Mese3vDEZIB/wyInKdwNva06jXSD+6v3NukdWSVILsJzSqa
nfj27pKuCZwnCu0YEUg7rtdkLKshGGmKF7V21Da+r3hTyPYVmsLh31H/el38otCfGJvO1z50Luhx
FoJ+GBAG3Y1TomqbkkVDF5bEyheExC2atqjg85a9dXhkNY0gRRtWztvRnx66m8FDh8oXFNXE8GDR
E5ctuAr8FOpMINr3T9lqNIq4WBYQXFgRb8/aqYKx5nkbz69eTIs9tKOzN23nOS39PWLPKCh/3d4J
sqVyUUziSSgfTybhdHYm7frF5fIsdFdnNEzNyLIVcydbJHTRIXNooSrySlLcXdsSQC/gH8xxDQ39
oTYQT3lD6Bub24ORGUIVAXWRv4qFYmzAtGoq5haGEocckzZNwszWdqCUjdN2fUdhDNc2T3VgU0DX
Q3CeaeAy0B+gbbQ1zAhCbd7bmVV5mfWfAT7ai+gjQPuCw3Q0t08OqJtByMze4QZgAbxaNtDmEBAQ
MkIrSROtTW10vhbgttabULG5JOsBmADQfFynCK28wghSZ6XUZxzHni1VSHFEW9OLvJT97ofvt5de
9pQFqJK/jLCdUUEWDmi9FuWYuKgjJiy58/v2t9ONUQYKejQ77tN0PbO+OAbE3tCWqZ7r/NtCHH9p
W/RCbjXndtrC9opyizXf1cD5TfqJatOmcV66Po+sSeEpJB4cJpFC5q1uPAN7vTkq5ECCtELqtctB
X7/sZr2Ibs+oxDOAihF7A2l3zKl4mIZmCuYg6dGp5zkRgp7Qnpy4ClT1UqkZNGtwSUxEO2IOGTXB
OdfLFWkuyz0aoxH5frLP7EARZ8vmC9ULZNy5IiZkbK/nCwANt9U4Cafl7YcUjO+KKEfiuXHXAQP9
N/H06llSd4wM2JUoiJR15HS7hO1BFsZcP2zBHlM7KuYLSdDjIymI9znec2iEFo6uVXeDPjRWiedq
Gy1FiYo2CFjMvZel+97b3N4K0sOFXhHekY6y3CvmypYmfVcEXXnW2zTUIBSWVUGYMQNuaQpNkOAH
I/RNfteO6nn0t9ldPFooDfNkR4CaqniskZT0ssFEDyGwZt4JoKcqzPrePtFqnkOke+rYtYiPclTb
Rgnyi1CYGMuQOdNy9N0a7HNuc5fkfdGHNPOKJ/CSDGh2doNN1/q/M28hx3Gy5w1B/KoIGGUbm0O9
OeUavKwYMTSmPzr+QErceuXH1l6AZbJxTbQqIJMsf4IGsf8MiUGDW7ZkAdVXee7cYA5bPT8MXX7n
4SXZQriX7ZERveunJp4hl2Gk7VZzqsMAjbXbe0R2wICiQlKc88uhX+36gLlNlzJw8tRgLaC7KdP2
2TsKgCDp/WfBvLbgzWRcRw8WqjYc9NOoUpWRLRgiIISTPv7Dq+j6+1bfWRWOW30e6/XYVx990EGk
5s93TBOeDzZQ5eDOEMmxiGGWteUn9dlhnIknrlQ4F5kjAt/2fwaEOzfvbCsjJQwAhbIdq3EzLVDH
wGn5g7rNcer1OlxqLYtvD0tWIUZ2AU2QXEwJRTrBH83AIHd+EVSghW0jqwii1AXpVPnbyZuQekco
Kgfsg+tWW6/7lQPqc9u8bOkurQubb6xY4ziJh4Yzcpf0waa20q0/qMAWPBYWfRFYqFHFQJIX4mr8
V1wEZMA9+lAlSGvkUIbQHps9FEYPSdaBJ6QyDxPyAiWvfNv+cTXZl2YxT/5c3Ldj+vv2aGVhle9z
jDRvDIVrvP4dFGLDY1022KgdmoTtoCcbLaVkA0K0McxSq1UcbcnsgoSfU70COoX7TXgjaE1t0SFo
G5R5mwjYvSj3ngz28c2DgntHxoNLK8NxC6c70Jt6XmZcoEMBwBFweiF1oRYLBesQKpC3bUl81ZUt
YUBQRHbqJPHLs1Fv7SAszej29yVnEMMAywbPsUKIT4hFrRGNds6MVsHCesoNZ5OQO1r96ar7sf4G
GUyFNUMSfl6aE2OBZOwBkk5gzjcfDehYdgcDjK5Zde/okJee7/MFIiffiT+Gy/JM06dlnuMGorvT
d5b8adytFvy5PX7p/P4bv5iks0ZrZWj1rc4z266PBjvc/rxiev/6ostzaEGMp9fKCpQiWhSsj9SH
WNIja5/S5HOlf7ttTEIPhIjxYjDCZvEaY2BukMNajj7y9WufnsjyTdd+E/80JDTUklPVDmFCzagt
PlT0gPJM2NiKeF92Bi9/BZ/yizF3BsIXXO3VWRueRxJWabiqqDMkbgUD5Skhl5ecPT7tFyYWz4WA
7IBVK51x46za1tGrfRmYH4De29+eVPlo/pkSDsgI9SlHr2FKr051MUCY/kBVNEGSCBnJBsAkUb9C
wVlMbgJCRvLGgbcmPoTG3G/B5MfLXRUN6cvtwch2O+JwfNBGwx1aya7nrZw9XGg+rr6q2BLoVm1u
f162LJefFxxjZlPamxbG0RX7vIp1H7SnAB3sbluRrQjgQri+dd51JVYwsSkCalGzPJMs1qvD1EOH
WXF/qkwI+6sKhpW0LUy0uR1X6X3LY/l3aJMix4QGBSDI0RGli91veucu9mR4eDCEuXeXVu+4Ojim
CjcvHkNI/VwvtuYXI9pQFwTbZAznB9DZKB6S0lnCmwHYR7wiXzVA2uNQOJ0+4dmQ1pA60qOK3dmu
wpvIwjXEiGhLxLMblUCxnVY3TLY0KWaJEP9uNPJDqwN77YC4Eaz+yKNFZqdBDjc1wqJrnnu3iUxI
P97ecrKNDXoAqByB4dDF+bmeys6eWjJNdQU5hFHfQrvM2UBcoN6XNQTKqMua53fYQ9QNICaeJ6Dq
uLbH7KCxe1LV5xwzuiAzs2PZVxSqblsxZLcTgAb/meHDvnCjvE3DCmZQKxSTdzfVbuin9UNVZpvG
9k4Z6Fz0rIwbpIcybz1axDywBpz1Nvvu0OKFmtXDmJMNsdx7t/M/Kn4bd0VCBIvOHXRroxENPJ1i
tpenyEx9Saozsr4/3Y5SRK7ofB0hH3JMS3B+sNIuw05fIHdjFHfu0O1Ais0Uu0+68Be/QrjLDD1Z
TUgawmEuEN79vOotZDWHcLA/vWu42N68ERarLhzWDNczsTqnOltLca9pzU6vjJ2V4dIuGgLdy+zB
ne2n3ls+lHXzyV1UgYp8oP/ZFxF3VbaAuyWF/WB+tuan1Ar1HuIiih0n8xgorOGW8/hZEl133tZd
R+2ywSi7yKIPDfqZ9Xx7ey5VRgTnPdhQS9SrvDkz50dD9xr7uZoK1yq7sDmHK+rEgLW8qrN2wxJ4
aerWZxPldr27W7Qg0t15r1XHrncV45FBFQEl/WdNuFbBpDbbXePVZy/7htIO2qWyCEnykFnoNi+y
KO3BMVwfbfsezbWKFZO5iEvb1rWLIJ1N9NqE7WJ0wtp+ZkEWgWA2dHH4huITanOKS0WWwLsarXDk
POQA9Kz36zPEebfzANJO/dmYm804Pvq8RbzbGDaEFkeV6qxs2ziuGXBqIR3tyUJOhfVt6lUrRc4G
TR2+dVyq78aogurKNg4S/tgzyNxwxo7r6ZyIN5Alhcft1v55dYJT3RhHqruoZs3eIU9UWArp3rk0
yEd94eIHUDe3E9jBz2O/zbsQhLGrFQ/+Li9Bhhoy87Fy91SFB+WjEH03v6p5uRP98GIB2nLXcQKP
AMDWWlTuWnNz+4BLPw+sAb+eDPNVK05Q2elgumgrasEGVpP7btjfNiDbChyZ+Tc1hWS/sEqVSwO6
5sA0MueJtQdteEoKRUQhG8NfLwhCRwMJEu6PL9aFtnQufAsqF2ZzqtkXL1dEsLJzi0CF3yV/RSqF
SD+Zc7PNGIbQgEys9Z2YjNojEjTodljPVs829Vo/3Z61vy0c4rJf2hT8VFGBda7LAZsFm/u2asoI
LDy7lEv+DuWmBAVviiz3WFcxOpy2bZdtEzePkRJGIhhvHb85d9UagXl769P2rqbZHShIDo1DYowm
ymj2q7DLTW6OJwqaNK3uYn+kUHgPTlbiHTrb3ej1Gt8ek3QnWPAGLl7W6IsRlgko7RV8u7ylkB3G
duO1u/rtXNRgjkB2Fc8WeAQghq53AiLYwvFzgu7eMUaGR3MVp0XqAi4MiKVTE51XKQNE9+w6fuhY
hwUEtA6ttq72WHmbYXik2s8e5Ga6r5o96Sb8NzQx+2eZS4cmAiCQRw1E+F3Yex/T+UyGc9LSqFKx
jkqP1IU1YfvVyeSaqQkUek3ZM82WmJWl6skjTbFcTqZwH7ozgIlBjWJm4pb7ZnBD1jth6fZhntsH
F5x6XbN+Bfzhk21226L2HysHnUaOFWUzuAMn9/Pt/akaM//3CzfCStSLfF5b9XKwVlLUlVbFfSw9
ARezyv/9wkI7JwzdGDjUBvSLlmS/0idLBe5W7RPhlLlUy01vxMoVLYsS++MCorq0Oiwl25btTyNQ
xDSqSRNu+qGkDvESHAhtPFmQyig6RSJOVgrEmcarG3wwf6ve15OWFqD1XSH6fU4hMc/6r0nxEckE
PXmYjceGPfjOk7YOYVd+YuRLXXVh1W5sCFfbFg0rtmurr0b7g85Q1FaUlg0+k69c9MUPE5xNvnh1
2i34YaX7wNoi9gGZT/uzvhzMYYmJBVB7ex7NHyv5pTffWbfNkj/FcGjYy+19+/85R/87QyB0vJ4h
dP43Rl7B61WrEXWa+zAD3hfmRrN1EJesVA8HcPWkdh9rM92tdIhs/FzwTu+NRD+C1+nX7R8knRio
WjkA56G6L75M2AItM7KgkXhYxtCiB7Qa7CctiQdHcfFLz9OFIX4WLs7TOo32asxoyLHN5digLj00
/WlUSgTIjhSwkuggBwkZwDnCsZ0LLcmyCvf/4jgROusGd4qIk4ZQdAKlZbqrElWDtHRvXZoUTvG6
ZGm/9vD21cCifNwG/rcZeWgaPJa5Hs06+jTKLJ6Hr3O+RbdQZGrzxp0ehhbhdqCSYJA+I6Dw5YBa
GTirVygKI9CsivCepGb9spAdZCbDetqP5IPD8pCR7zb9Opfn25tI5lgubQoz4JpZZTDuWJwg35Mw
W7P9bQPSVb0YlOC5mnZIjLXEoJyJbNDuFTXkJXC1cB1obNjPY7q7bU/2XEEICXJ5C8XEVwyldBiL
2Vuwi3qS71g3x1PioEAz3bu8baQ0FcOTz99/5sRIxTJZMdomdhC4xgiw5UwxHNnZ80DsjvMNtBD4
Qa7PXlOC8d/T4XRM4HsdtnPQBZw329tzJj8HF1aEEAF72R5H4BrOhKH6sTzZ7qmpyx0YaOb+uWFP
dvEhMe+gTBp65CMBh20yPM10W9eH2z9Eulkufgef7QtPAy4MU0sofgdb7+rPQRGxIdStTe/fuZ5q
zKqZFdzNMOrmVBSwlWXfteqROb/gP/P8a7kQSAR+7pwzXXZu8c3vdswjIW+8tVXMiNJAF/JaWGEk
uwG6FyZ+pc2qtSBHOlvNo04/6csQFXRfFE4IKuEoSKAq59mh6z4WqnMpA7bgUc8bnQAosVB/vp5r
fyVrDiI7NCBVU7ehtuE/UbZ8KxxSh2it/+26XbXRMyPZOi4tAJQu/uSL2T+PefNjKgZVEkW69Njl
qCpwcWIR4eJNM2gVedNab/ebLtXPGdQtNbzC8r7cVn0Zj0z1+pOQaBuYgn82hcMFL9wHxEODHuCb
DwA6bVhpbqqm3/j6stUoi+26+DDUw/e5SPZ6m8dwlTGh+R2zzPgdO//ipwir4frMbCb+ErAXLwS5
dpRzwb8+dPNqM/l7nXy5bU+6+y/sCSfN0FijMRNuUh/g99FfDvWcP4tXfb9tRrWqwiHzWTbpxcjj
1n7fWEFcjZ8JhQdLuijVUWjDXrttkEeDYrR4uaTCfeY0HQWzP/xxnjbPSdf8quf5kCVt2Cwg/bWJ
HY0N26BworgHpHaRBNctdPsifBGSF75mTRUETZA/ysZ7oxruGp28QOBgU1flSdeaQ16uscfe0a8Y
4IlvWsgtQQZERFW1HnCXRoP+YjMo9/naHjpg9iiwMsRxFDMr3TEXpvhSX/jmNjPaxM5wWKxq2TBD
ezLWMWZFrQAb8QV6tYDoZvEcHZ2er+pI9Uxzu9NhpmxoOOQnE1CKetOrUD7Se/vCjLBPmmU0iRbA
jJnQ76Vm/ylaTzES+Zb4NxIeqVxOmJUm9bTCo4Fq8T6zsjuTjFWoLQ4DwA4NglX/ZS2XTbtAO/T2
IZANDmNDc5MJFiug7q4tp2D3ZNMAmSCnLyOIdoRJpwhLZBYCm6d+AI6F9K3griYyFgazAfj1mgN9
IMX/8fOCdwp6rUByAp/X6m9L/j1RgXqkP5+TbQKHgceGWBylk4afvwJSjkbwhzztH3GEFPGF7Lig
1v+fCWEI6GurrNEAwNv249yJahZlqlmSbbBLE6+WuaX56IyI2mhyCsDq5REGje7lQ72MkWGXv3GN
ftDSPrq9u2QnFHqXvAgLqkVQ/F3vrjZd077JVuSTcmTlVrqxrPGzXaUPADcrJvG1KeTKgYlD9wQg
ZfhzbaqBVgeIo6FKhy0I3GP+rUMkMiTeY9v6bnx7WJJYjCfmEWZbFnhkTbFqr+X1GhRcSwl829G6
/gL8IVyXItTa3TB90Q2CY4Rcj5tvCk31EpUOFHyJLgLBgKv3XA/UG+lq2gmBsJI7oX8UOOZIn4i1
Q4TWG6ELPhuVxdf7E6NFsR56dgAEmmLtaJ6AlyYmHvXdpH0CKTTkcEskehSpA+m4OEe67wG6ik6e
63El05p0kIwA2dkCCdPR6TeVYR+rMbgzFxWx2uvjgBFd2BJOnOtqa+D0uAtLrwA3vnYqazNmS7Al
fRLndb3RaffY10zR5ikdIu5evmOgWSRum7V0iQumBzRIjnbcNzP6VdMpDHJ6LDvo993epLJVg16a
6wAGjOy7mPNZk5k4bQPeHJP8ChagOHHSPU0Ry7z2jqBMQvrhLwmi/qo3xewTo8sGJJacZZ2R1OpQ
eOtUfFAyIyaH1XMpC+xB4Xb0zHGZbIqAqfWf0WkROrWKc0A2V5cWhIBlmpwy8ThXyQpanKZF9R7R
X55Ym7cvCSTKAN51wT/8SoItNRO0Q4yoHK7JsdMOjRvOk8LjSl3TpQ2+By9CCZBzpXpPEdUubRHO
ASQmPtf9ErvFLhmncDIfE/qwzENo2B9vD47P0XU0hgjiYnDCKoHW0ahWC8+Swuo3pLbDTH/J0HBK
1hJlTAYCAtW+kK/av+kUVk2jRtozBxZJ7nwc637XsSouQJGmOEmSnMf10IRrLPMG4LwXGKrrXZd+
1IsmCtq9Yf7Jsh99VcZddZrsz2ggDG3rWIOS2x5ZZI0HL3u+PccyB3IxxyKOpYUkHGTQUK7w9D4L
9cl5MpvxWPbVduzMw21bivUMhHsm71I/QG0dWf7gwVjukN4P9DJMkPN01xdP1f6q2reBeb1v84Gl
duvg+bcGH8r8t272aCjChiU/RyiIJQ04QBqO7f9pTI+3B6o0Ldw8OeRNTHPis9rFevsFWOmc/J6C
M/Nxoycv1noP5Y3Qnar/mzsQ4RIGWoXKTMOQA7qp2SMxDvOoGBs/dDcOpdht1+X/eygRFX0ubfOQ
9tm+yCCkPVbx6GmKkyL31P+dyEBwPmswW4ntYyaZ8Qe83eHCvt5eK9nFfXkABCfjZ5pTBD08qGa5
YaaBGYmCqJblFDQU2WnQ/IfRpudpfAdOk7sAPKCRgsP4RMDe3LeFVleITiw/25VGFq5GvRsYi6am
jVayLc1jleYxrbeFdfInRWVLuoxgCDDBQIFsv4hsXg1jcOYaDijQH+YkdpMyapdnV/u4ABh6e4bl
pnh5z+E9lCJUr0kLwhjBS2ECcZwZ0TZu013mxo6qhiH1L2Cw/H+GRF9me7k+FxwZkIDQxfhMWhZy
AGKd3pn2H699uj0sScUEC3hhTnBnnVMXpdNwvcvguWqAa6tbSJR/cslRt34N3n1d7KdO8ayXuusL
m4JPS1v0+7fImoGE1tt1/p3ZOeFA751AEVdKj92FHcGBLVamZ9ATRhXbQQbwczf/uj15qqXi9i9i
CrvA27gzMY5+7jcjMUOr8zYeC+IFtDK92cZZj5r2bZvSy/1iTPzfL2ymS+A3DZTGz467z6CTXkW1
Fd82odwTgrtqOnvU8xrz5qzrh8bP47RxHgcrP4JEMK7xliS6vkMJfG/Mi8K21JGBOul/SPuy3sZ1
pdtfJEDz8CrJduzEytRJuvtFSE+aqIGUSIn89d9S9gWOrRgWui/OBs5DA66Q4lCsWgM66DPwZvmm
akCT1aG9iIOs6SOvucuAC4JRTP6clmLrpz/av7eIwvpH+w5ayGgBgzh3Pp/AP5s50EsFdDOMbVsH
72NdxqjT/b4+p/NS+HThoFcw02DhsLRsQkGUzxZ+g5OKlF00Bu+dtwL9WguwGEdntEK5GS7NQavf
phHO52724/oYLi73kzHMf8LJ0vO1cuzrBiEcR4ZW8eQrf5cJGrbDo1G+2tNafnnxmDiJt1jqZeWp
rG8xZ9REdelLPmrhGGzXDdYvTh1KcZBydtELWlYO8lQMRTdBBaLkEeyVUn93fd4ubtmT318cd5o+
lBJ+lQBE+VE2PsGVai3jvzQCVF3mBGPWQ1gqQPU5FDID6WEEhbtp0WDR+/jvx3AaYTEGLjWeV9LH
rQTVigADsa1uh7bm9SiXLlnQVnVwY/xgRoyfrzDFO68cGg2XLLQ+TMY3cvymZX2obCuq+pVE/vKk
/S/Y/MecLOcWr/bS7BEMNPwtK+41f81y8GIElAFAxUXl5hNgfKBdwIjvIu0rg7DmQPmx8PqErUVY
fJauIENNJ6d4+BKol9J7vf7rlzYgMAAQd0XzPIDIwfkMpR40UTNgYh/6sNVu5BihoTqtcRAunSqQ
iTRRkUH/5VMdXNnChbU8dKuK+ndX43Asighyi2GFHd9koVWuwDUurjEfLSZUGkAnW+72gGZj4Y2I
J7GwUvq9M+yo9L+2hr2T7rfrE3jx86A8Ptsczt2YRXLVAhDtTA3KQNT4OgDv8+v6z1/8PqBZo/wO
DxcYR5x/H5paGiEVft4dnY02TLGyPYibFxEdVyJd+khQTUCOb84yvMs0n6JrbXIdGYEpnKgfy6jU
jk1727FxbkImeV79w8KGNRTo3LoNn4qlrAaXvqAQvERtq4lFSPTo+syZFweE8tyHscNss3M+dUFL
0rRuy+qhlFwHvYCga50p1IktB73NaVRxV0BpDq3XNwOg9u+igS5B7qR0QxTMtetMqAh298Zu7Mtx
o0F8LQQPt4P2iBzvC7cbQ5WBA5sGxi+7lS2Icl0XQxwZLCItmNAqtvSYaNz/JrpUrazwxX1jowSP
Kjj+DyV4DwDmxSlKR2tItZqPCadF1OgJs7/biq7M4CJR+wiCWi2q37MHKfyJzifQB8iBk7KVScm0
DjcbDLMl0xkB2sIcD/nQam+VbWdPllvTWxuSLGuJ8KW9he6vOztZzDDtRXbQlQN3XIgQP2g5rFJ0
+K9hF6y1ARdTaUFNTT8NspjKdiIaVQTLBOcfrcrQR8F4tP7hIjoNsriIpMcK6GEgiBY2/nZaY85e
nCi8JwEIxJvyU2PEagKo+eesgmyI2x906sDARGnlSv556SyyfUhpzfZkHqrR5+vBlszOAJ8E71Qv
DzrRwlo0GxClQtXZK2fDxY8CwS6QsNCbhY7UeSjP77PRyZ3yQbc7eTO5pIUSb+qFutcVN9fPiY9a
0zJvB7wRewn60y6Uk89jWcRzK6LZ4IAOoCE5Cvu8njzr3rEbeErk/uiHvtVMQBmmfNOrFAXkqfe/
Yqq/6XJoIl3YbdxDfWnvacLG2hEq1J3OQhU4YAnuXBZbugbJn4GNX0kB89iCMXkAl5uFaHxXW7vB
Ey/w23yXSl2kELli9j0lwzddyPw2mEQdo8Rjb3xSgLlpc//ooyUVqdz3HmrkN5Er269QzpiemN6o
nWPxryhFvUtdVk9GBtZnCVjVrfTdajOAiAQhKDzzZPVDlzTbDaqc5XmAaGukQqnPnJ5Fzkr4GnPz
bvKcNBz0wgnhXJRAENy9GVvPCYexxSlA6iIcBPmmB/J7DsmXCGgStc2r13r64qvHFmhJ6K7sIL4m
txXjMIFpVJin5RiPQGvB8LQXEHCSUZs5UdrCLcwz/F0X1HVMe7A+rdYCR9tG+bO1SBv15uAffMDe
IoqO3LbsWvovRwHQAAARgoX+WX2Ht0TxSuDxq6D4YbI6UvZbK1aO7kvJyWmQ+do6zUk5MXuS5SUg
5HoE1+RXkwQbVcNiZsy2+OIrO+kCIHt2f4OXrQm8J3hVi3hkwFgHMpQPpTmIsCnS8SHItXbfukF6
22J5R0Yup42nmcGtwfX8uafoqkWdPo1HMHPdrUVLcphQLNgNGbFW6kSXNjqa1i7eZKjxfdrorgUW
jgxo+TAFKiJ6Gxc6qEXVy8oex5wut3iACiJoazBY/KTDQJq0K22Gp01hu2Smlo1fkCT+JL5qQzbY
7n1Wc7EzcNfcuW7jrNyjizHO9yictpGHAvgEYZklEQibr/fTMRsS7jY33JPPLPCiEQJMK5/60i0A
VNc8ThRr8Rw8X1kd8St7GFzyYMg38PPSlUm8lE+d/PwSxEsMNGBUjp+XxYFOBwCGPWcruo1V/GyK
f1gWPuD6Doi4+GrLZ0k/tToElcDLJ276kHnZ0YXINidraK1LNxp64cCFAQKNXb+4lnnZZgYPBpCz
ZwR9A1axHeets9X4yiXz0ahdrsDTSItd6MLpGR1Qjkhudl/yUQ+5Zu5TOLE6soiAjY6rnoRBP95Y
ntqMwZDkpvXm5lNkye5mIHWsjWY8jmt3+mJtfmQ/0F+YyYTIJZGNn6+Z3NT7dExH8sC8n7b9PeC/
nTXnpksH3mmIRYLVWIakXSkJNPzfh/45C+7NbptWTxn0+65v87XBLCaZQEY0NykG49gyDOr9MM08
5pXdfHnNYMLmHAhEoEW60KsCOq5ND90YFNDTSUQeaj2Ft0eHciXSIv/+f9/mf5EW+bfm6qxIW0QC
tUSPIF3CorJQ1sFMy2KbWrifihaet1mH21GX6Lten80L3w2gZ6TfUJRB6XQ5UKhTdRAFr6GG5QDV
Ywr3TqXlPm2cG1q6b42tba7Hu6AhBYkv1IUhVwWFCpyU52sxtSA3G4hsAtYMRnLVdOvmb5pnbMs+
ASxGS+tNn3+lAQs9+me0x6jQDx376VvPeDuEmEYQn4t7w18TN/x87iEnhDUNHsXzu3jZgYLBnpZn
WSqTxngTVbdx6VdZWICQ/Va9feiCp+vT8HnaMd3zy87DjTirPZ/PwkTdStNsXSZd8TTWP2j9jUCB
uzaqWDfer4f6vMDOQjmLFzKks1nrSiWTqk6BxdkG5aYC1tj3Xnj2QGUM9b7rAT/fULjrwRxHrQnq
H2i8no/NIJqZw2tCJbW1LUWcr9waF38eiS60YtHB+1Rn6oi0pHSISlhG4tb4Y6XP1//+C/1yDMCf
FZ3QjEThYvFxCMzfUJ3VZMKne3uA+4651+Qb85Nq2Pb2Q23/JuOjdIaVg+3iwP4X9qObc5Izdgr4
gK4qVQLEmxs85f+ArIM0NsBZwCoC1gcbv/MPIwqH5F0JHH81sMimt0UxkxZ3GntdmcCPm/v8IjyP
tDijXVdyvHlKUGUa0JUtIAG2zqj/sDLmv9TwAoWSQet+Zb5X7mvS2fvKdruYQ27we5Mq9sPzKOjG
Dv48ffL67QDaGxgoltzWev+KN6OTALUFLYSicjcAuHsvWZr9qrjn8KhQTvpTBbqEJPPUb31C+Ver
8L6UvDWjrnebXebY4kttTOW0ycqguGetaf4pxkz0Ny6eA7egodAXTTAaddyFA+CY+ndF3U1PtK4Z
6kLa8Jj72mvuVcEjXDXqTUBafUfkhDJR1lR5MmYu26H361Qh3BWsjVdD+ygShS/2oq8gS+3mGh6b
HDhGYmZZKADK3VmiAsuBazCWyGxr2/Upv63zqduXhsPCjAp1sN0x29st7oFSDflOw4KB/DyI8z3E
ELaCUDPOBjN9MJDVo8ECRpJpS2S9Q99HplVkQcgd3f86NrV2n5dM0tAZHfFj9Edy0NXWZ/xPGrB3
GxjssdBuVGnFHjRfnvLSZbe9Lh5zbbB3zUT5vnTbaZO3AEGBpqLjJUdlJDp7iDyIK92nomMJR1vw
m2MW2q8WhJZtMZXi2Q407VYFVEXSGrzv1J0bNcVQ3ztMsl3lyhJf2FAyMqSTf2fc8B9b3I8Qvyp+
KehubnuFCqLv2sW27mi/MYPc26rCaaPAS8cD+j/w6LPq9GbMgw6PWLgbAPgCBGJrTpFhVOUe1B0X
vzKKiE3mD976DeQHpIqV4+cxErMh0hrgRqIXvTCiSpuqJ33w6hfVMv+pMtvymEPNKmzRe7ptvMy4
FymBGkfKaiBCYMfUGVn3RmvOd9InXkSgSL/zSOocDSsDjwWECMjSo8ogzR7ulTDRBo/eG0LDId6B
OI31rktL+2MMyKOCEnIILuiue1ZXfCNavdkVXMdkjzUMNPyx3KBYB08F2Q5bTzNEbDo937tpaxw0
i7Odl0G+tkjxGtekQSPapyIyy9LcuTZFUlH7zsq5/zlnOt/0i2PTTrXOY6wq70Hw2prBV1rsAqjJ
p8HP68eLd+FGQ7kfuhvgh9qz6Pv5OYYyWzZVzVTcT1buvlPHK2sYKDn9IbVcjj2AghW3U3/j6YO6
wUXihmo0g7hzKTt4RhWEU11psP7+jmpj5MCP5Dixso5M/q2zdZjbesOGF6Dij2pQD3mtjz/8HivG
dIttP4xmBMsUM6L6aN83eCnt4Cs8bcoRFN2S131MGWmPQzpYT+gY0Z1mqnQrUliFTKYaHwquaXHX
kzcZ9OymcFAZ0ezSiwUXUHSFYPSurDv+gw+k2dZu8FM28PvLKKquniqCqA1S6ygpylMs8Lemw/sn
Xapx4wc+BaqzcsUztSpyY+GlumHV8KfuLfiUMEgYWFLnO+HWDFmAxvKoJlgQEwRggHjQ8RJJLRF6
fTH8GQrDDvVSjLu0h0dQXsFhlZK+uK8N3kVNn9PHsZFrlfzF6vnv/Qx/bmShuHeBGDj/qBrG7wWS
DwkN8i7kbXuLXHDbmLA/0Zm3ogC1WEEfwWYbF9QdZ2nkZdYblFVQK/TyE6924snRjpCtfoBTZR2l
vl+BdGZuYcbzy2y1lXT7wh2PPaujdg7SANoviyvYKFqiOcLI73HKtRBoA7eugTbZygbBVC1vX9Bw
cTaYMCb81E4y0wyoeanye3OMLQGVzY0qY7T6Sx5fD3RxNCeB5n8/yVjSotQUTk8EEvepXYRNvZK7
XkrFUKMD0AINHtD7l9qaTW5IOJZq+T21VJLL/IXwUUDxe/yjivExzR3Ubs0jyB13fT7+7uj0sjLC
OTtezCWKLJhJez5y0Ns8HyLsmEobQoxp4qlWFmHu1sGuhwzBi2PWVkjhARK7Q09uROnIuOcevWM1
6TdjN8IUdKLlNxD5jSNMqNMNgZ1jpNwue2kNr44DgRXAYDm7TVM9uGGpr7a4IP6AR0OPNCD9Phuy
jgGzY5Bt5VDx1BDlPuZguERGT+TdmIOCaoKCF7uFN8UobqNUq4Jq+ibxVR5TKbxHSJJmf1Lmt18y
HZnU9clZ4ov+20Z4v9jwwcDTcVmLqozUGaQZ9IkdPOvaDTK2sGBNnGoVPCTjXHtjY4YjZ6W2uniq
/RfVhiYmAD9g7H5qKVaUeJmv97B36WIkHQKPYwgSNBrKO8QJdq1X57spXcMmX3iyuXNpFTj6WV1q
ScDpa78XwFIV98Tyjm2aw8gkNV+lRw9BQ3ZZnj6uzO78El4sPRdCcLOZDagpqC+eL71qonXT6B7O
is5r79ximO4oKlyb0eHmRjVOecAs6AJnpRncW4Mb3HKVawc0mNM1a615lV/7U8zFn8LBbTKEm9/P
khBt3R8Cq3tS1vTXvSeYZ3poCAHM4eFltzwduVN6onLye88wItxUYe++UIkW7Ljy/L50cJ0GWrxP
aEU1CQPX/J4HbyWkjQhAp9e/3qUIzmxgDsM9OBIt22iSBp3b+hylCmMKNUeHQdDKKb/YBigcBaBI
YePZ0IzG4bSYrEAFbV/qWI9KQwbpK+j7NSHTtBBdsBgC+JG55pFxKSLUNAGaBecGzN7FWVhLVKWL
vsPnIb53i4e/d6ccXW2MhgZJ3rm4OXXS589qMNcMhC5dBNBr1FEqga7bXKk6X4FEikr3U2UlpkHl
rhwt86WG8teTZ6p6H1BgvVz0W2CV5XbbrMSVmtMi2JrKyP789YdF8xWYIhSUP/Qjz/8Qw5fWmHFp
JR0hh6JuD2tV5AsrZ7Z5milpkEhGufY8gEmbqspk5iXNneHcN2s06bWfX37EUZuK3oJkzyAOhNyg
+3l9fi4cFWd//pznneQErbCJAbyfl6D+24hfkHzv19y3zQuXMpAKWPXYYDjxlqh/gPBsQ9aFm3Qe
qVIIA2ge9JgKWMFBK2D06MaDN8HjXH+UO1oA4o3ObHfQUmAce5Y9wdQzBO3R2lbCax9LzdA3Ao2w
94o28hstkFiFSDtRsDecNSjkYvb/u7uwewJA7XUwRhezXwWlGjWKu0tIFuaV+wxQxo/rH2ARYj4X
ziZn8QEgMVqSClS8xPOeqj1jf4fFxgh0APtwCuioX6KntxiB3wAekNrcSHgFp7Cyv8MD/u36CBZL
aA7hgEkN2BBqb9YnkJK0WkMGsvYSPzd5GAxa/qrn6YgHmOAroRaTNYcCoBOJxGx/NhtUn69WKAlo
I9IqgRJDFtQhyW3+o9BQWPnrEeH0AkHZgfA9HqyLs1qYaHjjbSiA5AHmqC0iLt5y4++fUB9Pijkn
msXVl4uroCg6OI0ck3SyNgQidjzfuPrdwNeol/MSOkkHPmYNHTsbD/CZJryEdxpsSEddDWNiGLzZ
d7BT3uQMinq9n38zsPXiv5+903CL2aOtB0qwi3CUliEqAvGkso3t/Loe5fObEHOGxxkKo+hIfmJh
mrzxuKn7YyLG2Yjc3fkyse0xLMv3HpjPwGZAylXb60EvLHWkdniBzt7osERYJCIe1FWmhk0IOrFw
Mh9cRsPCWkmYLy1yD+hVCImhAY/e9PkixzYbrB5QtsQuvFC9pv1f0ks/1sNpgMUuciXlNtb4mOiv
sK0P7a1trJkgzt94ueROQ8xjPLlWYLkjCVEIkd3o0ALTfkUqRSFu5ey8tLABUoSMMLpJsCBblLAa
ffDTliOKEqEW7CZYw2zdf5qtuXYFLDHgpNbim2eex/sxr0SS98EWvYxQ4i1hu7+vr6wLjzPgQeBA
589lBmjULnaNO/iMVgY43k2PjbktQDYUKIzmgPTcVg4k1V7lmuDYpYV2GnIxskID7tfKWpHIo9Vu
xubm+pDWfn7xdUY8xKnpY+L67HFQ97BN//vfB1p91j7GGQ20wPka6/zWNECE5UnnD2E+NyTWpJUv
bffZMssG/hZfZtmIZ9A2yoDy5klevpiZGxPxvSZf/2EUc/tthiJiHS82o6o8aTtOxZM+RJoe2d1a
DeviIFw0yNCBQ5Nsec0MY9pDU1wXSW2i5L6vgu3Q7P5hDCchFjkMZ65nlNwQydAfhLwZ/i5HxXk1
d/VQscD/ZvT4Yoo6oVd+yVyeBEN76Ib+6PZPwNT97RgMGGrDXgbJPDqhyzt/Av3BaIZpSrrhgFY+
qjvXf//ziYjf/9AhRwZsQzrgfLUao6w4B3oxsaHEJdw/HD2SXB1SW2yITVaarheDebgeA5CrUI6Y
//3k+PVhb1voWT0lgdHsa3kMAGaUehHqgxPq/T/M3OybgfsQiTLIyefBOsBcAxz1MsneO+vG91cm
7sLJCJQx4M6zZQ+2ib/4fVNZDamYNiXohz1YJoe4kt9FEAh5AkcbgrIseLGr6lkT2WGwxpfrn+3z
7kFB1phdatEAQ398cYhNgmU2tzhPuGG+kk7/AqrMb6tPVwb5+aw8C7PEcdkuU2D6jDwZa++PLqGv
hErR9ZHMm/D8SkYIGB+hng3+OApy55+pMqgYYCHDk0x9Hyx/i5oHNEb6GHIq8T9EQrkDuTpqKp+M
17Pe7zXD73hSWfLWoyKLhEOjnCEVJFO/wkVeorjm02HGKrro8esB7oL5C56s9TRIO2p5U5907dhu
EWmM9Jqyx9HIvNtgNKcNd/XIru6BBi5D5jfZoXSdDt1WVj1LWPJucrMIwq5z1ablrh2mQgz76zNy
YT+e/Y3ztzn5G23VGqQRok8Y0TdVDuVfMjYHBdUc22jeZN1trse79K3BqUOBB4pAs5joeTyU/3yB
Jm2fZNRsQzPTbkwqNqAnHgeyqj40n1zLhQWdI9TbZwNdSMCeB2PcaXTadn1imL/V+LvQvnrWi5AP
BqR2G9STD3ql7R2G6jn9NVkr79tLM3safN5YJzPLTE0Lck77pG96NM3M8Z1648tU6UGkGvfGEmuM
0qVF0sd682B7iFovKkswDj6POFWzy5zV9wnRm35uPxo31CpggWyiRlBPvLztiFXecxM6EQVzsihg
gE45zOAR7h5n5UtfOp9QWkGurdtzaXGxqwdKaiJyNSRsBEei77T7SpDfU76Ge7u0ok7jLHJFeDGj
9KWj8djQo8HLWCNaVJI8Gpq/VJb/b36RzyNVmZtIyx6Sn5HOT1MGZG6uZT8gG9OHVVXmv67vkIvz
hs4AMJYunvpLAJkrejW50hiSIaAPspE3Xjdtij5fUZFaIr0/RuOjGzBf+sDQLfk6PRusnJgWei5K
qE0wNmqTGsAipYNmhQ2y/jgDGCLKrI58EQ2pN9L2VAw8iwEuQeeE1DSgYdQgKam5/pewyfmPg4QR
ABioCcCgbnklADw8DbKo+qSBoAh6JKGVHTTzIJy365N94XYDkgkvG8hDWzrqUOdbpnfQAi8E4gj9
bap/G6xZudsu5QhnERY5ggRFuhxJDVDitO3AAvNg5C2KGuDdZ2aAMTK+4u0euqaKro/swvFzFndx
9tU1OvS1i7h990rtLPJ7qGHc9NVTmb7+fSQIYMxyt8jrPh/padME/XzQOdU7XD7yKRHN7x5vePV0
PdClj3USaEnR42ZqQyeT464y4ZB9t2YYtfbzi7UQ6H1e2inGMQEGYgcCWIi1etfF1XA6hMVqQNOj
ri1tvhS6ROJu99oUrMFqWw+vymxirJSoMsqt9Fam7sKhAkIBtlOAk+uzAqjppBq8vfMeiry13PDW
HjazTsVdZsFD5fpXuhQKsi/ODImA5dCyvQniPAlaA5XpIKjuvNy+ydM75qxcrmtBFvPY1KMJ++6x
T9JBwU/mrffeCxCkro/k0hY6HcliC7leD5K+j9wo9/fZjLJwb2zzxbG+2EH8/xdpXponuQKFfunQ
EQxH5XHhRXhp906U9cdyWDn1L63x0yHN83oSSFgKmFpdoeWdyls9c568yvpxfSwX7mMI6f3v+8//
fhJiInAqtjTMmou3UNb8KCwjMgHKW9PpuDgUz0P9AyV+BFzkF+ZAvZwSbKWqlM4hcx09njTVbq6P
5tIaQPkOFEYgked20Plo6grEG7eY81VSB0+CoZvDKr0FGsvy46Fo6GEQir1dD3ppCk+DLlZ3Ppb5
lDbYQga5A0IltwC6uNOal+tRLgwNPCMPVWpgUmAwuUjFWV75GZweeVLIVj2aik43Omn9vQ/lqFj4
cngsA77GbrqUpHrIa4CAAPkUc7rYVELHTpIGlofSHt3+nXnuLSvGDfygIjDOdtQVsZMf07w8pukU
M7Xy3rlwcECYHe0G6ErjslqumpYHAAaXA0t6qwnHzIbh2qu5xt+9MLMIgv9wK9qgVy3GCHcGnda0
ZkluBIciA0SuY3d8glUfOXRiNcWY1+DimQNJgQ+QOXgA6Deer1G7GIe6ykqWsLp8dEiqh2bJYBVa
vTv9DG2vqiLMhP1SCxYyN4+mmpbb62vpwmacaxDgIKD3ZX8i5gmSp0zWAUUzu/we0G/FyNfolnMe
/2mU/wuxpB/ggQKZqN6jSWXcoK56LKULy55nU5Vh5w5Ptv0PKwXeGfMnhEoP7G3PZ9UiYJRmtk2T
ouneXT69CN4/axPSt+tTd2GzY+/h95GGz0CMxdfjk2MyNbg0MUobr7Rjzb/w4dEtvl0Pc+kLobqC
NBeoB1SMF8eyCMAO8jJGk/RxcI7+msvwpVHgjTenf4CQfFrysuEjvgTFbGmbkd4K8d57gIWvnMYX
di+ADADP4VUJhuSyogLmeqdLwOKSmjiHXusjxeEKVE0rYS4stVndZIZoARADv+HzTw8oddVQkulo
pk2/u9z+lg7Br4H7d3WtpaFEXSc08E/R9S/0OercpkbTCEA47zNMq/CGQE6d1BMHCsmx4sqPqamF
bmbDKaLKIpmCCm3Iterb54Uxh0UBHjUZAyjoGSNxcl+TSY1Ua4iedEZsvwhjd31UH5N1vm/Pf39x
g+Jhifu7w+9DGJSEEBSGJz0MbWM+kQSugJuqtnd8HH6aRfsVL5p3xtS201CkMVQTaaRPY2U420n6
ieJaGOQmhMfshzK1bkp/euxEgL1i9keiqIh1i79A4/nLlGWRmXW71hcbw6TPVdMBOCVAi8umTYo6
3AAcv8XdVwaFery1C/TSh9eGuTfV6ESuZkXGYNxWQuxwc65UwJegE7xtQSqZVb5RGsRJueyrBI3r
l241YsK7vLpXlc8PY9ubx2YyxE2Wm8YTDEALEYJY0N4Htv5T0wb2LLMqcEOX71L3qL6POe9IrBV+
dQxSt4ndzv/JOoaa6cDlym74vEA+/sxZ895Dp2ZZVtJs3nqAhLpH6YNp8zWLry8QqLd/OtldtIAA
TURNFlx6b75OT1agRyuZy7Z3jo3v1hEt/I1Tyq89V5FljBuYuRShQbOYpuihNtYWLMODwyxoSNJm
D0XLd1Adwn4aAE1m6aPm+fvJLm+ahu3xc3EL2xG9aiPIISB1kwOUGqGM1PgVj+WEBzjzs3t9GKoD
6IRwiCH2b1P6t1lrosNtsgfeZXc1CR5py7LbqWVHnreoGhd047bgjZTFrrQk/5NZFIj2tOxjBmvq
sPMgWdyk427q/LemHErAiaYkn5oxrIx+oxnk1pyTj8KiVjjmMNHlger3tIDrWD3aZih8Mm4mmIvH
RVXFpqf98bsymkDP8YsGtJ0WRpgaDT0BERpoGhVhJYthm6JeTMM0J98m370TzfBWOEE8Nv7e7ui9
Y/RHpyxjy8qfhiHfT6m+t4fgNoWUflH2B0gWv4Fjvc9t9wb8IYj18lj1Kq5GsjVc81hP/U3Z0i9e
yvbKye5UTrYtalNq+Na2Rjz2zkZ42hEeMziXx2DjjB0sQOVNK70vhps+kVygbxwwPa6Ue5cxHVVI
Or5Dz+KttcYY9dLErc0NHQMQXEjSVGO+rzUB5Lk/bcwcK8E3N3nh/ID51UHPBh41QZlFjQqycJIk
37ZGVoCSUCTKKlFxHMunYupja7B/aI3jbW24EMXA6kOwZWy+W5nHDrQody6HvRvqWW4H9o8l44oT
e+dk9d72apA7ILUZgaYFMLKfvpdFzg6EBUbsUR0IEm+MfeC9Q9DO8ohn3fdpgHSYmzoreNYLWxAC
aAAqQwcNxbolkbBuWmPsK+EcbS34brTtWy5WNvlHu+j8mHZPQ3xULk42IV4yZOgn7hz1oNeT1DYz
iB+O5pvU2kZG4KjhbHKs2NC3KQrYMr4XzNzrRalvWP3H0v1dA51cDbrH029K4wGL6tjyHl1Ri7pJ
rTPwd9y4saTYwP1bxdCMV69VafR3FbxlVu6cz8kICpsOACoWzlo8NhYl4SLNdUAjjOnoul3UT0kP
nynWPftZvjJrn0+u80CLJxTw0o43WApJm7pptd/ojOV/X+k4DQGY1PnhyJ1RaHhCT8cCBgrll45u
6fDXxZTzEIsbumvAOezm6arqjYLvpPZdX0sP/QXSEpcelhdK5joe7DNpZTFToKt0KSDBztFlXgOc
tGI70+fPDTCdRm5FAShJVsCrWOlq3AZGYW7NTg0x07WfZi83ncXjtMrrTQb/cSUE9GQCd74c90Kr
njS3+conFoOkNu7VRAhO2Cy/Kwf4XMtpoJuuB7uxUvRlggv23tXKiKXaN512j6OmgwQ+PtXKetRk
Aw04+64Yx+o4maKGM5t8coNmI7i9M3EB8M7+mlbke1DnbySrnRAcKyMyGEPSEEzvTSm+O8ZwZ+rd
UdpGXIju6JFun40qqvLACn1o28ih+I7mDVIZx7kr0NzbyixrweA07wboTVe9/UWXDu4yGtnCinTG
tnYuUOgCdiwXxi225k1RqmeDWE44lsEdCrPP16/kz+9XfCwAAeCdBhTop+p7TnzQmArhHp1BZLjM
aBd2XD5xs3hqdS1MXXflDfQ59Z2h5+jROWjTgTS/KHhUsmprUSnjGKgGiit57qcH2UzD81gFcCYF
vxg7K5fDsellu70+WHf+8fOTD2e0CxY9CjwXMJW+ifaFx9PxmEO07Y5ajL549VDv+UCtSKC6tAOn
Ln9BT1ObjT3cHwTAqwMAPhAhzXTrAPsDNluR+q/g7zp3rBgqWFd3xA4dLwfJZ6JFF4KRVzzLhkyb
KnN+tMzMnrlsuyoyuz57mEpdPOGF72wckkGkAS0Y/dXsLP1nn0IB0RYDrmHsA+gWKyAyof/3LdWd
YRu0XvDipyYOIKk1KLPR8c5TfXpn9524pX5e/B9p57UjOZJs2y8iQC1eyRCpmVEiS7wQ1SWotebX
n8W659yJYBBBZM8AjZlBA2Hp7kZzc7Ntez8LQljuKDE3d6MEGXHXeg2cBFL42NYDvF9ybLzWnTd+
8jy9/9xlBRGbPPi3JNfMS+OZTsi8rGeXgS6kkPnrvhN5XQWn6KAc4YneqrnOcWBxGAQI6kLEbgh+
ll3DOFJ7Xslm96zUzddKDval1jlmqewyokSqlYep9z6EmwzHKw4I2ev8cBWhNbl6WJq1IZihHPbP
OSCeNvyTh5+D5j4JaCMyBJFrPzZ87nqVPJHxNyqKPGiXnUTeK2ZntuPIvbFvW7dL7yFDV7fi+nXW
QCt4noBhwJXIuwSJlUZXFr6Zjc9ReRoz9/3wQyAvGnJVKpLofD2LwkWPmHhTilwbqdWnqBirgi21
/hdRR/jm/dvFFcUYA01t4NWLCwpW1tQYfGV4loaPpnzA6Qbjsd+Co61kDcDp/mNlEYTwCqno52/J
UEIblcRjonxr5rK/9vn2clayhgtDi40TSohzcxFDYv6HBwS0maL45b8zMbvGWTY3yOagxTImYsvx
h+dadYR+Y/T1+pLg+Ocn7Ax6v55AbWLVk5p03q6a8IaWZPCjbJwapEH4/nSO4SQNO5Sq5St6p0Ia
2qnJpe451ozuV5iK0zFGMsoNI0XeQ8MC3v727q14wjwNRQeatxM34bz0s91L8rxS20LvnmHsZLw7
vlNZVgZywRu2RMhXdhHwGLhtmZK0Jpnzn3JmStQmdUy56Z67WpfvpzacjllRlL/SwBo+Ko0YOcbQ
My96e4ErkYHZkblaB0SJILtYoOINcVsKSfesqVW5r0ZRPHTGKGyc24qfa2AvUUKdRzqv2I41pWrh
6iy6Z6mvxtdyGGPqOb60H1tlC5rxFze0uDfoOM5C4hTsQJMt8stYlHyGdOLuOZi66KVL1dyWoMZx
W72sX4NiUn7GYzM9G4bmv1TTJPyIgjhEWljvgZul2bdmMsMHj1t7X3jB5NQyg3xpbfofrM7iOZ5L
HoUkZF2UbJpsPdXk1vGbNNknKGHYQxLAkTE0cJGXeXkYusTc9dXkP3Hht05hNaLNxdnfBUP9synU
DrSjwDfT5uV+HPLjIA68NrsCqmMlg/6Re9oe9WFfBXD99WYckoUMvg3ezykizT+og0bvIjGs+1Bp
iLxTIO/kUtDu2wyxGz1Sky/MFP+Whkb7bQ2T7tRF0+wbVWofZKn39mHQlMcoK2NXzFp45Vp6Jb9B
wQvPidnIia1IETwjelX3pyby+myjzrnmFrgE1M46GNCrelKR+vIkMl3yrDai99znef09ht7lSWry
caPWtpJNUFanxAZw3aCOu/DzqfIKJeji/rkW2uww6Zrpxl7nuaWASCRMTcrea/LkyZAT7zfP0OBf
rHQmo4V7F2wE3abLjzuuYwHkbdU/m9L4s2qZ89YjVKb8ZAtwvhJFLh68i3W2UhIocA0Nz4FnM7Nr
+juzO42R222pWq9ERh3QucSeWnS4lukZbC2lJSRK99xPJ9p2EHY+ZuoXSfh1Oz6tpWMkR1CNm1AP
UJ6+3LgxEhJzMLzuWc8Nx/PV1E7H9KsxxD9FSAtnTpq3CWaOjai4tjiTFpapo8gAJHWxi0HSM8UV
ddNzE4DK8N1J++5LsTOlW1zWV4YA7fLIMXAM+gs8sC6XB1jc0su+jFzVekJaxWu+ZkBAjG+3N3HN
is6MOXBLlHAIjpdWJI/Jt1jXQrfr0LjvYb+QkDIwAG6FG36+aknlnchqACMvjyuKC5UuiRe6kaY8
4ItHtcvtNskfEt28u72oq5uLrTM1GiTz2CBzD4szajtt6nX4ftwxfTQOxbSR1FzFJn7egjOEVJPh
iqtC2ygXspeC23QrITuURvxppCKp19MGDONvU+/iuprtoABPy8+QQagvzmawREoSAxoDlpLulAJS
X0rIH8P42Ws/MDEWNR8L2H1oy9jR8AHSoQ1Pv4oXf82D+Z+B0NfAWLPJ47QRm9Ate2OuXX8sBuF7
i0ZE5BUPE4Nqtw9tdVd5tf2fuUU2CkFKkQQaxC+xrEFUFDuS9jV495jEYk2LLRXVoU+1sQvdrK9t
Q3mw6o3vaWUVeJ1iQBKPvDknd/k9+QG4BbVnFUz2OlYqOan6lub3t7dqxb8xAnUx4EfjGjUrxEYA
fZnJuH/yzdPftrACKwcPLkuli8PQGIj0xeeD34klaUvkFiLFAIFe5GPmq90PSAb0XZQY0QcLnrLd
7TWtbhwyASITH/NA7uJk+tT0p14iPDBv7chm6YzWfRAk7w9ChghcdAbaczEtcWe6VgrF4E+cvxLY
rXrKhreonjnjNk7o6m7i8sPKDEzlH2hgL91ATQMk5TUjdpu/SD1zEA9NgVAwNE6fEZAu7Z4JSkeN
Cu14exuX1AWgU7HMtLcpU6mf/4RLy0JZgulkKNtVymAvCeqRHvYBpYHvg1zfd3nxu9K051ifdmqZ
Pcntn9vmr0+RUgKSH4AI4f0D2XdpHUKxxEQFKnfFUz04SWP77waRAMs5s7DsRGeymKqFjgWautqH
piyzH0Msd1uOsrqQvwU/Qjwl4sVCqsj3lEDyc3cYDtmvof2tm6fbW3X9ETOsNd9OPOnQQ1hCOrrW
SsqpygpXjazaiXq12olFvzVKseIPmJl1gKGwlKmLLMsigxzFlVQVrpgkL54oQwwW7HPrTYk+Z5H6
ZE7SLpB0GHToATbpxkd9tUZgJKBJ+A+PuxXAR6+bUxlJk1vXnXVfR0J9oLNdvzeBX1iZ/4qz57Ew
Uy6n5iw65h3DEfwDBFTpaO7L9D5PjurU2Fyetw/vKpnBJFUmcCxUpBlTW7hHicQUurmZ6Brd4D1l
PPjcdPCinQw+c2cpVbThLKv2ZEpb5DMwISzLaJaV1VNUeZM7VGno9IW2N7L0ySqiny2cYrfXduX6
89rObC2208ozRfGsAAXzYnJNpT521fBBn6T9vzHDFYlUBqPiy3qdUPi05wlEboJOjD1VjZMMZmaX
Vb+RWKzsHWQLEK9BpAJeZzkrgcIY9GfeKLiK/DQVX+LqRWl+1FGwsW3XoEVmbEXuFQjhqQoBpL50
Q6Vs4hKMiuCKufzBUAZ7ihmZmB4zDW3EFKLlTsp2VTVoT4Hg1XcdrfO92SG6eXtfr66e+c/g5gFc
i+TkFXOUMIw5QAxYN6dWskV/7+f7LvSgj/qYxR160ofb5la8BXOkCtJ86TCFcbnqWNMFOABYdZg8
RCZE0p/bLaraDRPL6UKrDAVN9VqBfORFiL/K+rHewvHNPn2Rav/dtP+/CmURJRPmsKly9YKbJIc+
O8TxRt6xtQT5cpfMMOebrdilLs5tELPwjCS23L/dPou1oyepAVxJPYNK02IVqpinQiqYntsoPwMz
cSTrtW/uJeHRGife+1tU92ubRt1uVhG3oJ1aPoWzKJAV35I9t5++hfBll9UWX/hSK5opCGTpzkzM
Kz4L7aPQFa0cYaKgLPqkp8pbzORhD+GzKyRFelePg2XHTV5VtqZMr7Llx4jxjj+UQdtBEOp4nvIh
D3W04My22Pjg186UWqwpy6YhkuMtvvdKiQrV9zzPTabHHHKqgVawtVW0mX9k6ZjE+/mOAZd5JaaG
GLU61qNouiOlhvtP3qOyRbFDD/O2DWuBHuiCPFRr0BmuPJiSOyaUYLMOTuOiBzRTmxT70qH4WUSG
dehMpf+a62W+rwfFuO/ATkAba35jfh425Mj/VZMW7qQathkRJK6jlVa061Kte8gx8SDTCr8rRbm9
97NOoGLZUYtsZKM7CmKdH6WUL9yHe6u1TbHVbRWSrXuImaMdDdfQHmdscqxLEuIFRenIaijanhZ+
Nzpd2g9tl1EV1fRdDeomQe0agkRT2KmhygSpU0pMiIkferrS5tjljl8NAWLqlpOKCZS/kS/Yo58b
dlMhCQUbqfyihKpux7JU24WkFAjxDdVTH0npk9wb/Z3ISOExsvT8KWys1AEyLjwLWfi1zAwwrbk5
pF/rbqCmO4RJvqOgPTL3PVbCsZyKZt8pkbZv4qB4jXxJuWP+0viS+oFypO2t7MY2bB76ygsfslxP
mFcUmgcBHU1bTMPxsTbE2g0CA0hBVwD4hMbuCCXVWxCipOL1hrcfZSN7UKc6uostrTq2qVjsrYAh
iIDqzg5FVh3UTp24zBZ5TuhpiUMWzX6merPLBC5iL+6UfaUr2aFnOPbQGAIicSYMwcPg9095E6gP
oQJqxm+l+G6QvWJPq4DGRIACD/w/FjTbg4ycrRo4YzEMu4EhWzsYjPGpGKuWA2r7J8+MU3tQe/0o
TmL7yRTmYndkeG5lRN6hpy7l1oYR2lrYh3ZCtwOWHNASqiiYB1XzXhSvSfa1F4NWB6eH4Iwofr4d
Ta+ewUAN5s4HTRCQ1+QPl7En0a2yDs1Kh4ZQcwLP3MXeeBQM76nzaGUm8eYo0UpAwSDfOFyxXKRL
zKckNf7QTI3uRogyJcL0SRXE58HS/txe16qZuYBFhZbOy/JFIBZjxLvE011ZLQVbkOSvraw0x1zW
irvbllaDF3mBAknUjPle3EcJ5N5d4+mmi4SqYwTAk3sp3YGKfota+cttW2t3H0TYvHmpmF1P+oSm
VpDp+Z5rDZlpE0of1SR+FuQB8J+ZM1kU76TE2pjeX42ctLepNQLMv0otiyRE3ClpPFf+bqJ2tb+9
pK1fXyQNlWJNuZDz63rO3AugTK3dqGSuuDj7BbkiAxmsYOniYAkTa9IGz5XS5MFXgmNSRrvM0l7h
us1tIdQ3HGJtRbxFKb/Q6WCwZ1GcMI0+mjraSa41pb+hpN9XUfgvlkQXmGH+uTHAiPDlVztSrmo7
pfdcZKmcRhWfjBxNBelXqTX7QNjSCl/5ltChgZ8VVAhvwWWPlAEsL0pzyYKFnLFn5thjLTok0xa6
esvMIg2Kor6Dk3Ky3MlwQ7m0hf6epGnj4bDmDOdrWWTyTar0wE0wIqVu3t+nha0MTwWY23oDqLr2
qZ4Z+gsDPEvqijaahs7EkNIee+PU5x/0FHatQEH170+tbZTRN/ZuGe4mvRGqsB6x1lmfFSE6Nvr4
6HGZ3f5YV80gPApLkQVqZ1nOYYaKPCYZLHecnDx6BXwkCPe3TayF05mZDgZBKGmveqLwqxSqOc30
u77ndKJng8My88hhGOC2ofmkl0knXRoYOAD2IVMzr/XsgDzon7PCQFVJAG7Y/wnJs5Bxr7y9FZIL
Mo0B4O+/szgv/cyi7JVR6wVYtOryUOTw4xSnQfuOkJbd53eBXDDUstXfWHXDs1XO38OZTb0nl61G
bJZq6sRZSnr1plug7Iv0UCel0w/qxitw9QAphgHmoiYHVP7S4kjXXfSDwEPq9TChvuNrwMy9b1H4
8/ZurtoBVTz3IXCWJbR57Bo/pkGFKlatQ18IDUPx3bfqg9dsfMlr8Xy+PfBGeudgby4XJAldDAjR
s9yiYp7Q3IftlmDsdf2SFyBzVsD9uI3oDyx8kYZ9olTdoLvw77hZqR5TU/9U9gPHpH2oo3EPtCex
Z50AOFmDoxUpv25v5sqHTcODPNDU6cZdaTUJce9rUpjqrjTC+5p2fu6ME4KTZilM+9umViIwppgm
BAcNBHrZeInjWmxzamKuLnyZhju/5yUR63ch2iGb1A+ryyJQAZ9kHBNVqMuj68UyrvNR1t06amzD
Uw4owR/6cqsatWYGCroZqImkMP3ySzPApuoiNwNg2G3t1qLc2QoDk4dODbboAGFE5rcWYQtHUYyZ
ugDi06WrzNBwdEV7za3gVTyNgtHCSu1JduhXTPC8aF3nIKwj0CsIympf6iG9LSSdbaEqfqdil39h
jGYobbmppDvYKiDc19IKFLiknsrY7x9JKoeDUObhTo9SJKyTvphscsPG0RBT2vFX/R5jCRyJVHUf
/S4fdswsZfd92Rb3YZDodm1VOoIovvUUlB5FQa2rHeBKMJeEQla++IKlvMpewMyKn46OHhoxZbtJ
O3pyE7he3sQo2zf+XkaXl1ww7/Z+OnVIaWvaB4Q29PsSUK5diWq3K5AKsHUtz9AbbadnP+r/yVL+
AjM0/IceTLdTcyUC1haRr1GH+IExZSgFpFmHxK+sY1GKynPT1YgRld0nvxeH45Bzp/laZD6aIIiO
ge/lDkMaw6OfxA3Jr88cSOTfTeohAkaQS+WjRnUmJCy02T5k2J/HqWk8FDTE7kBsdMcIfM+jVEyi
OxrqeEqr3vpEx0V+rH1N3AuCmNmRHIu2OijiQ6oPxu/MY0FxpUwPAcCkXYKyyQMCNX8nT6xPcYV6
FjM+9XEW5zyYILYctOile/7XZCtx6zttEba7RGkyEPSKb/OYQyrerJmR8hUGhZtZWEht5F2Clu3O
8KbW4ePJHCmPmp3E7OCfdjCEY+aFuiMqofmQwnHz3JWa+oAOS/+iD6CDfOi8nsoKjQBPjYS7uOul
tzgQGxxLGQY77Ezpc5ZU3kYoXrnN6Dgy+gGwDZT5suPYa2ahprWOHlIw7bPks9D+7oaCeQj4d/p/
inqrSXzNUsLz+Nzg4spWAkTLBFPTmPFxq/TboPyTeS9hcKcpJ8qddi1OTrcF1VqLJuc2F1c2WZtv
tgI2GaXxu13FLJ5+uB2DV640CHn56ubODhDBhYkwamEm0DyD3KfZdTyQveJ428LaIpiShJUCPeb5
tC5DYuzLDAPhzm6n/JI8FLumFCTf1sT4X+b2ZTREvZue3zwveUWcOcgtlyqYMzfONOGASlZ+VxWQ
bAlt/s/Qtuoj4j7Kl0TVI2eE99xBMq3aJVUEBC42ih0rqE9R2pjvT8chPmbezcRNidKLC0HrYxn9
A/ZXM+1c7JySKN34zvu3GFYogOBQHSjmsqIptIkQ+XWnuX75p/MRadpZ5e/bJtb85NzE4p1ZFEmj
DBYmtKfaTFCE2sJ/zW6wPD86Y/CFUoa6njboI69FKjnRaNzm3/TemxC0HkbbC8U3rarJyKOtIdtV
x4QlTabeTL942fMuYi3Jhnj2mNL4AwbOf5IVPdorMRTiG5u3Fq1mzUYSK8oP1zAZaslxME2m65tR
uQt65rnarvyCQq/siKHxiwmedOeB6N+bZa8w2xHFxyaLZlYsGAEnS/Vf9FZLbbocqNyEeXiopEl4
CkkU6XlBmtiNMMWmaSzeC2akIO9ZUaRHSI4SpjU4eZhK93nBzDzVSv3R12v9aIWDv2fGJnsLoS7b
64LQHlT4n9NGgz2IKu+uzXL+Py8uyqLxAOwVRC7F1IGi5KDuuVUASIvQn6mMgnINdNzFNUTbZgWL
yO3929i+Jc2FPsjKmHiS6Rq9Bh+U96Xvyl2oy74NYOhYjZ0jZWin3Da66h5QzSk6KjjXsM5cyfWG
eWSMduPTWORvQOw+IWpobNhZ+7JmwtT/szMv/uxdZvliOWRI5Lk9VYExDG112lL1XXkgQfb6HxOL
UodsJUxIUwR14T2Tk8daw8vVjwHp2H+1ZX+n/M+WYjAblakVS/HLt1aXyE4+b4q//02hl4HibDHL
/naJOkVC7mm6RU6JMMw+Jbpgy2r90tbhrzjTP7LaEhYU9S5WwucoEm0tb3ajVmxkIOv+wb0AfkAB
nDb/+7PFCnWG0KBem24nJI7AyGPKpDskI/vbe7qaeMxDUUR3tHso9V7a0YYgixOhN10x9nYe5EpI
qNqdpN6po/Kt0tRfTcQ8+dTfo2G3UYFZWyJZAdnBDMu8otNtxEzpUGKZz9MRYGXFNz/cXt26BfC+
8EiBilimH3KVT2luFaarZy9in7KHH7L6+20bax8YuQdcDSQhjGQtEhDRa8SO5NZwEecLukPjb+zS
NWskqeG5gcUXrAlWUaFTSK2yfImEb6nZQr1wpxlPYvxievuWSl9v3fUtalLac1s8D3Fjt/2v26tc
9ZPzv2LxkZcpU43DxDLF9AWBVDsKTNQP93EOUY/pZMFvyYP/6M9tqxt7qy56qfEgA7biFnCNNHf7
RH+rE3MjqKwvDMA26Rvv3SvkWJkG6B8EkeFGQ+yW5fhoFgAW1LxA2dT7qoXJD57dH5vK+xnJ5sau
/sVzLKPN3DmCU3qu4C+/8sAQvVqTcvLjVilFp0ETxzEmr743W7W908sidHTTzz4n4ei5dcCblbms
DGUQ+C3QCkTHrBB+1p3PCcRdtwt9L7iTOtmAsnzod8lopPvCkn+MY6XTR7asfWvpEfpKovjW6Rpw
FmD/h3hEktvL0Cu3exnw9e0zVFY/QhojAA0B8kB+dhlhMrMGsxQYhivHBMr2j14L2VPX6/KdIRfS
IY/S2Glz2BzKKSd3byrzUKRyzlt7tPBnIT0hLCYc06DtTj2MJDQwJ4NR8jjU9lHdQkk0eqll06jw
7nzSIwKJLj4Mg1cdJaoNDsBKwQHPUD7wSFefLMSH0GDVrFfPa/N9IZTKU6nRSE30sXyzqo3w8PfC
WB4xHPLAEnWmb64gPX7TQOif1BRjM+oRpfVPNUpfJw0gc5N/MJqY/qR3Es3GpfRxkoQKUJoCVfvk
23IyUQZRvqZifN8oUWeXavkUmH+CLgSormx9CasfG+VU8vCZ0kxenBM0HfVUkYC4IZR+itbudeXu
tiuse8J/LMx/wdmdFjZqNmoSrxWxDXdpXO+EFFaB7P1tREuHdJNNh4X6CuShBQGE46ZsuGZRfpJR
+ZoMecPEetD4j43lk6joJbnKWs1w81Z4SFqdmqk+/TbRI7CHuHNVKdoPg/CQIWc7BVu8Ymv51tkC
rcVjSW1UK434yN0Bxntf+Wrop5zKGlzmt49ry86iqDmV4PykhEWWSGCjPdK85OVO3qL0X3uZ/R0A
QdacY7nqmtYB9NFlZrrtWz6Bf6G3XdqKBjPrRjKw6t/zpMn/GpqXe+Z9oMPRoAIZ706qo3BO5kag
2/r9RSIQVHoNNRK//xWagRn/svFMWfv9meGVVz4vyivhWzRGmW6Kc9OVKg/OIgu6aiH+F1knY0vg
YkBg0YNduJakDoHix3yhWb0T0w/+1yb7F6fAq3hmepsbyvocI85OQSgCP9A7xaBSLtt6DuOH0Mnv
HrYlZZqpe+AhJ7pfTa8Diam57CWMdNndpMDasEV0v3oY0FjPFNb0MpYkpXIchHIaWzwT/Pyg1D88
39w47rXvYs4nZ9jM/LRfJFxiKUIQlAeW64t3lvwPefQ+ih/UarqL/Y1wthaXz0z9jXZnZxLA5hXT
5aLb6j9LRmbXrd0oH28Hk9UNo0sHynvGIS5bF6UlItiex5ZriOMrLdfXsTFO/8KEAZcEjS2FauPC
ea1aH31J60w3ECnMVfYUbjVWVxdxZkG+dN44moyk8nksFalTh/a/QP9acyWT7h/txqup+2Bq+zj1
qONQaBm631WIUsPx9h6tehXyQox9MBt0hVHxCqmX9NTDRMmge5xY3Bt9Iu6kNBedqmrloyHD9nnb
6Kp/mQaxd25/g2293LZOa/xMSeZJYKgUO+0x7x4Hc+OpcHVZKYxM0wqWeCv/7ZBd2kiGSFUCIYpP
vihItja1HyRaGeip/1DRY3jnev7aos03IyCvn5VmFhitKGTxCRmSZ2NUP4VqujOU7NdtM1dntTCz
ePjFgzmmep3HJ03naenL9Kbg6vOFfRxnxP/DbWtXh7Swtog3kpgJg6ayqEJniAXKtoImcKhvpMO3
rVxzayH/nCZ5Gp+E7tH0D2Ll5lsC8VsmFmEAAdz/NWFUd3J/rH/JW2QV88ZfpPQXW8V43aWvFVVa
NbxI41OitE9DIPEmL6FX006K5LmG33+sZXlj39bde8aGzwxrJDGXJvUAIYzIGuJThTpNcIzzQ0AH
VN+IDlfxbV4YiuAIayGfSRJwaUVR9F4wSzE+WcLX+NXMv9x2sdVFEHsg+JjD3BJNxlO3tfKgiE9d
Ice2hAAZ3da7oR2PZpVtlE22bC3OaMgaM9XHOj4ZCn3rO8Qge21fThs35+oneraixYaVgVmMScqK
DM+KYGwadk2lPnWTeU8gf+zGadzIClaXhZIy+ZmsXVebUliuRrHyk1OABHB8SovRqQwBKaWN3H/V
E+YZH+AiK5PsCIE2ulymyckc7qXw7t0DgbOjkcLCxcRTk8rApaMxJD+VSWDO7vxDFD4oxc8uevsX
zkZXEMocVb6u63hFUdPyYQVN6kzafZTYXXoHv+1tK6v7xGwyyCfemhRQLxeS+0rS+fN5NKn/mzt0
nwvaz9smVo+ciXGSZXPWsF94suCFVhgbUXKKRydHowAyFAn894ZjrcS0mTGQXjfAC1jZFgtJMtkT
hdaLTlJb3rNamUpMU9llDy5oMJ+NTHgbI4oSt9c2XyqLSHphdV77WeaZ50miG74fn0BvvORg9Ake
jqq1H+ts+iMPwg+haA950L/3mYNeKzqCUE3znGK2a7HYrNCAgJpxfDLNx6qI7dp/1PutluP8I1dr
0zUyeNjAZuaVy7X5A4lHasrxqVSO0/QCWjbcomla8T7YH5iRwz1obS5La0XTJlmBeu8pSZwagMD7
nfvi5xdfqZllRSx7/PzEuIj/UBrvDzIgfdl/WtcgYsQ5up6dftMFY5KpMOg3CjzBTrYBXl7bnfOf
X+RPbQFd+aDz8366T6LPg1FseO/Kl6mqoAHgWYC2keHjy7/fN2VPtiI1PDGVaZs54z1ycDeiNDSU
078xRb7OlCwx7WpkNWRmqJRpwZwMNbDLDI4s+Y8IQ9EAfvn2J7kWCJjGncfdwTpcaQt5cVSJWdCG
p1bLT0qi34kNVJqjVdtqIfw/+uW+3ojVa58KXzZLE+d4vcxuJuhtoJkqwpMcJa+DJT/2dfW5R173
9tLWHIJ3P6EaQ1TQFre1JOeFqYZReJrKkz+9KO//XCCQQNwDZSsKvUtsdDeFcpG18nCSq4P5LWz2
t//6a/Ams4Hnvy9fultq9qUBTHI4wTsVa9qhUF8GGfo305bSh8765FdfJ+aZlS0Jx5Ukh4oNr2qY
4Cwu68W2pUgA9FGs9KcUElit/5koj6lwj0RwsdXrWvE9yA2ZuIQ+h5rKsvxkpJ2Sib7fn6b8JLSP
YwTcavoOJ3g5fhHzLTTsitdhjcI8EZpsajlsq6R0VTpB6U6pFTwLkf5aZ9rnsNnieV7xOnyaohpv
03mSYnFsQ6lNmtA1HUG6Qy/6zWo3ktAtA4vzsaxGHsuO7giyim1+UN8Nxodz4HwBs/2zMF1DU62p
8++b6T++sBvEveH/uu3bKwd/YWIRSSPPTH1j6uclfBL7cAceiFDzoovJ3swei0zc3ba34tIX9hZ5
R+M1Qa/pQ8dDB+I3OaOlNNr8BYe4ea3MDWPz/iwSAbhAaa+TczDKsJy4Dq22T3Kp6E5R9VE7St2n
22tZ27vzn1+8d9tWVL3U4OdHxgliiIx2FgLSmlMHxzL9etvWyifDUqCV4c7jv5aB2rc0GPrKvDsp
/QtUlLtyeoNabiOOrlyrJpBti6QGNRBEbi79DSI9JrIruT1BXw7HisMdDGEeKiBmf7y9nLWT4RGi
k3oQ3q4oDAUzjiCO9ttTgIx7qP6cNu61jd9fnnyRCZ06+El7al5raRfnu9t//tppnP35yzn7HmW5
2G/48xXtPowep+GhLjdStJWzABsydy4ZSoB+ZJGi1fUgNgbTOKdQeuBuSRSwIC/pFrLnL4nd4hPB
DG07euFM/CwrhGOcpJKU0gA11c6OmEfwyq+Z948nv/XJZ6ZS34K7TreN1+C3YDqBfqglR/Pvbu/m
9VJ5x8GRCDxQhu/n7/T8WZgragvtqCloTip/Q6LeRwE6Cz/y/N1ZKbP9MFtQcEfkiK/p0rv5G/JE
YH6EzxViuJwa2xbDw7XXXVpYfD+DXORWOVsIClDYdhFvuN3q70NEQ0qApvNVmVrIjDIXI7k+hW8w
8A/5j9vncO3V/PnszV9fuE4C5DKpukKMGpLBOzV0mNZMu/d+9zw6JerE4qwjzrNp4dVd1IyeBh3r
K0DFDiUaupu313C1RbMBiwcmjRvQZMs4WXi+KCZq7L0mT2iXcL/c/vmrLVr8/OzKZ67KgHk6dho/
j9aY1NZ2JPzytY0C2tYSFntUtyEM5l7kvXqtgmJxDDZkI86vWQAyzUdP0fGazthSal9Q/NZ6zccf
nrlPg+RfbNO5gfnmPNsmPbeMVLYakB5VLh6qmpYsbUP1qYAPfWO31k6EKGkwbE7vicO/NJUpwhAh
r229qtKzhH5JKSVOP26ULdY2bJ5Bw6HggKKdcmlkhMVU9ctCeA2NNti3Upc/JpmQbXwca0uhPAti
TmMl0jIWd2kctz3D3yezHU6q5T8avXKU6mT3fh+e+Z7hucEYfMWXiwlBtaV9KHuvFANfra5/icTe
trIt9cOrqM6nggFNAxAy84zOqz3zgUIuDAH9V+9VGSpyyd7RmvAFgDjKHtnGBbJ2PIC4GJeSYP8k
MF6aSmAX8brY8k9ZlokfE9FXP2ue9W6YDgs6tzKX1M4WpEzSmPZdEJx2av1TqX/ePpXVNfyNvghD
gSdY/LralyNSBZV/ikYAElZn6LvJz7z9bStrh2JRgmMGEDFRMq/LNSA2MsYNvNAnS/5Tjz/G4nsh
fh+yf95thaIpExt8klBuL5/7yai1UWMmwck0oKZmfr2RmRLLd020VZ2ZT/YifZmriWeW5l09OxMo
xONBFKPgVKO8a1TpqZPHyEZh9p9MCw+RbHxMC/nXv1gdZDkwIspMAy7HG/sw0uXRw9tGCFlCytux
dhTH59DYGi+4puKaV3dmaeHXBax2tVwZ/qmBG3CnWHriRBCW7GtV0D6Ggtzb9YhUVihlkxOJIKHz
YgrsJCmVPRX4aiuqrzgPy6XHDxx1hfbAipguDsTaP+WW5pTZB2HKbEX9plh/bm/wShxkyFKBVpAp
dNikFxeg1IyyNNC6PqGk5TsKQw5H2WLsLSvQ/bptav6qrvznzNRih5vE1K2uGP3TNHavwjhmTj4l
SBA2np1UE3TIlj1N4Dm7LbqiVceFbQxmTcIjj9NLx02jYpR7Js9eY43xgCks/lA1n8uZDL5pb+LY
fje9Sn3/tSyxq8BaaDRCwreIMUMZISatFv4JLbZjCkmjmJY7D6jq7U1d9ROLghkvCgoYS+LsIldS
tdQD/5QMIy2gsZZeYgRZ9m05jk6chubGvbl2iHNjk54CMz9AqC73MpeUztNRaSPcWPVDyrPzoPtj
/tK1z8Kwj8p9JhX0CMuhu7u90DVH5cqZdXwANZEZXBrOuimTg0TyT/9D2pcsx60zzT4RIzgPWzZ7
0mRKsmzZG4Yt2wQHkOA8PP1N+MZ/3I1GNEL6FsdnoQhWYyoUqrIyLVA2kiUrwsZdt7adKiZUbgev
/r9mgGU9twOOoQlhMzyO6exQrmmHn71qKLI1Q2D+nwn+9xNHynVqXLtIyWMDMHKTvnXefeDcFcHn
6zMmueUwX//MCEe7R9ZBm5mGpSIakIBl8QOM9ZvrNqSzBXDI3xUB8EmICEtfn6zR9+E1/X67evft
6mzpQBRWpCM5sWKeT1gD2sNhMbAmVg3Bh2Jty2Pl2yqXqxqLsLWhrryycUkwlhSUDgugaGONR3KP
6sD1SZMPB82MnPTRQqR7Phx7HFOkS/n6z8HjpCNbRrr3Sq/B8YDyA22cJlqvLsLbBqVUkHlNSewj
NgyNrqJbMi2fvNnUP7A2oJpDDZ2P5YKE2fUY1KC8Co/AlDxT24XSmanwObKFMUHar4M4ncuKCwtD
Bvgbra+TmLZLEHX28muylvQ2APjhvYkgTBueA2iGBuoRyBDhyBRJY1dolU/ijrN5WGbr7CH+uEEs
yjZu6atQwbKBIZKAHAwgwbjohYG1czlaQwvn3c67njah6x5GVAOu7zaVEb4bT7zNamu9tTT8hgDt
oftQtPfFqLjZZSY4kRZqGrwmJF5C1gzKicXI4DOTrfsjKXbO7/eP4dSAEDoseFtB8iNNH4eiMjc0
gbqfPbtz6AyVCuCsGotwOKFWUzhJjbHocJYeuICd37qKjF1qA+cSVNugmL3AJ9Kpcsy6QUBCcFtD
srV77D6Q2ODxzn8mhDuGjZZDV+ZqcQJu9HxAhkmFp5XdYqcWhLPipq1hpjMGsRa7eTI22cq2VVJt
rFnhLmUhx6khYfFX0DSbZoPFp8GmLm7Y+BCUN6DasP0Q3EKZCrUj884gDEAIyPn0oPtzfl4qy0e5
WcO4aFg3AOjPqpyAzADg+Xg7c58GoYRzA2aiteg66GCg/mWwN1X9V7a54PUDVDCQcbqICKfBGYGf
dpALYFqUrOZD2b/UmYrIlU+6GMxDCZUTuUJm+4I4ZcCK91lWIaauGB3DpNTdfepZaFNawNg9T2TZ
l9k4tWCS8KmCD0A6gRyKAMVP8MOIgBCn0MvecEsttqHDuRp16OSKLSedQ7zcQYsPcpiLYLPIcdNN
baHFzHPp41zryU2Z19aBdkmp8J2yY8SZzRApB5zAR/A3bp+xamSrFjvgn530V9tFh1vxDedXcQ9I
Z81HzgbIigCIfmHbdX29oice284iW2+MiAovrPq+cG66cSUtTXstDtI7sB55zcv1O0D1fcHfWMxB
DODxYzNFwZiH1P923YAh3dMnMyQ4mjbpgr7jFjJ/Y9DQyML8i/YG/dY34+9/oxZpdtj+sRh6zEMI
xSfP13+BdNuBtRe9aXilIplz7hkgu75YkCSF0x620LGAKJyhElqSmEC6E+IBcA9A212UHVdjBskY
8eNlMME+uGyS1QJ136/rA+FrIXiHMytCwD5VqKgttubFYOj7QgO6q+c0zkCctEnp9NuGwNMH7CHu
AMoSHBTY3+cT1+he0rdu7ceJk+yCoT44YxFWyFVt0Gd4NHvUVq8blGxGPIDBS4nuG5DeiSSODiS+
KkJaP/by6ccS0Ehfmq/XTchWChARIPcQWHNiGWFM8OO9v9Ze7CX3Jnm2lk9joyhCyZYJNxEPqjmn
hhh/dsm0LnmVB7Gr1XlYlcaDRjrQpNn0qwOVLCSc8uP1QV2yc6Mv5tQkn9iTaLQzrSZpsgws48O0
10C8lDr1llD/YQLs0iDpTsv9Pcn7L8PYfdLXeTux8sldILpslkeHtMeFqV6Xl32O/DeBfgDCWdDf
uSAx6WayWkGK94U1pc9Myx4nWmzzkd70CfiLR/bbSPHjmmqKLKKiipP4HJC2caY4SATjwhZ2LrSF
igSYiiC2hrLf227SbyCVx/akTdl2oE19x0j+My+DUbGDL4FWfNT4MjrUYB2tducrkZcFpIISLYiN
arDvViQxD3NH9fsMin93IKjK9zW4qe6GdmZPdG71bQ9s29Gg/W/FlpDuQsgAYB8COoQ78PyHzK6X
9VmLOp+bWc6mLTo7TFc23UEh2TiA0Gz8TpuyCMFnM3xqO9LeVWjgjaqmtT8nnVlHaZ1Xm4TNzR78
b+kcklZr7qsmLV6v/1DpUp38TuFADgazrClLghh4DrIhjC0hejndl36Zkg3rXbKfOt2JAlKr1krm
CpwTy8KhMZoJGYMhS+J+sSKfQP5siTRVwVsSiJinRviPODmZM5kSt5xhhLcrm1vi7+pxs3rvhXHx
XYeNxaEBPEch7LrCcwZtAmtn3Fr2Lhjb3ZypUqLy2frPhIhHmQB1qRD7+vG0Fl8oIN1oKH2cJmUI
LLPjAlqHGg+6VaACeT5h1eRrrtuTIB7Tp7RD0nO2d+nw+/qmk1008P8WuEMQbF+gOXNQcpWrAX9Z
5SgAQHV3Dp6uW5Ct+6kFYXO5a6ebSQEL9Xpg/qFxf9I3S0UULDs7LuhDOL8oWChE1KgXVJXTloEf
6xBebGtANoLvxvBrNSlo5uuNl22vD0q6NkgVoW0JgnhgNDtfG7CVJ0k+6UFcok1w65YjQ7DTQh4M
LQab66b+lg/EYAcI+P9sCf6LIjvFWmMK4tn2fzsEUu+de28Hy31NGfA1ziO03X64iQlaWv2Alt1o
Gc149szd9d8hXUcXyQQfPL9oBuF/Pzm/I+k0yD4s2CmQwW0hhGA5b0WLJm30ItG3FdqrirtcZZD7
9RODed6CZclZsXFeVqsMa/tHpofN4fqo/oY5F7MLjTfOcIq9owtIogo0WkWeFUHcDd50RN/Gl5WZ
Btgw5vJ+LMp6q3fFErWN67y4SWkdS7qiTXEt2WZEb0KcEWg8rJk/HshKh73NmnbXWcO4capg2gTA
fO6mgiRRPTbmHS6XGoIcAVEMQnbDcZifi2w8GKTEaDHvNRB+rF4SF1a+t9yD4xwcHfrI6MYox+j6
hMlW5dQWP4knq2JMWYOegAComdpjT75RJodhSckvn9T9ho2NStxU5qA8JJkhl4QyFCAu5/a0ejRy
dIkn8TztjO9M1asv/TwyMXjpA3IABvjzzzsaK6u6A0DHL27d2Cji67MlK/uaAKmhTwvRCyr1gqPw
u9kYGbWTWMvS5dkFYerd4vk5+ug8ECi05Me4Ju69tjhe7HuV/3PRdD0FobUxPno09xRBmXS0UOAz
gUSHoqErbPY+TSqInyFtb5FIdzaFptgcMjeMYB89aTZnYxMz6SuI6HqnIUg8avX3Jpm+VKza9vUc
dmiIDlvK/mSJClgvtYnaMsSKUXG6AKB7o1n1rMeGnLQ7kNAO9lfW0I024l34o9GJIoMvc/web+xA
NA+yQPF9y1DlSL0ER81a49V8y5EoQHeSYhqly3RiRPD4eu1qWef4SayDPrYmNFTl7GUGfECT3ABZ
IQ62Ot/1VT711pAhFlu2hnX0a8UkqT7P/37iIwZjYIiJcKjIbP0Bv+8nVNSi6wdLtg6nI+B/PzHR
TCCjpClMLManwLlJp709KM6uahTChfeXDhL0wyjWPOjjc0sUn1eNQLje0sHKcs9L4dh0/Sbtku9r
pT94kDz63yZK8NckqTpnSWEmq/aJFSXDBrxjHzABj4IKjQHkn1ieCTqIDaajF8SLH/naYfRRQ1PE
AtK1ODEhjKJCF2XfdTBB8AqygJJRDEF2q6G0hAsG8uDgxxbcNC3cfJ7HEU5E3ycpsv+7dv3elArU
stQKaGfQLwncDSKp801r5TSoPL3BZTBsyCdqh90z7VXhIv+pYkAD9OR/RoQbbYAvHIELTOK2qh6I
zcKmsO7HeX5G7NyHjY8Yf+BSJ+scpUO3KZlKqkEWjZz8APGSmXkitW/xA2iFpE/a3M6VczdV1nOZ
zlDmcj5QVwdpBfRiOEEsxi24grzo5oLLHsd9FqILXls3lqbYHtLtZ0HBDoaQ/Qv430+8TRGgYaNO
8TRvibcrHXQgQb/t+iGSXWPoFkSCCNcLYETCDlzNDGAKvNDiFgy7yEjk1gvquuZO93rjJh2K/oBs
IYTLGjTcXrfMN8TFhgGPAAgRoLiOvOr54CyoJ1Piw89VY/6KqtujnVsRm9EvVtTbAELiG81bIWeQ
KzyT9DRAdQd65VwPVpTN7XprtbxhRWUfjCaHUoM8ZYe4ej9DvnGDZHm7uz5OqT203oH7H4B41JLP
x2n0iMXyDGm4zPqcZn9I8FCmn1v2ct2KbPdDWRZVEEQI6AQXjp+HcLUsJ9OPgXrbGgh9JpAu1i95
g4S/oYAyK2yJmYgR6fdcyy2kpYefZfoymSFDpohAwaP5dn1UsgNwMipxd5qpPrnjBEujGRn+plU4
LdXnzfOlKabW1Xo86+Pc/zE1r+/uKUVSKPjbRoAbChGi4Hc1MPSYaMFGxqYI0yIcp+1HZoe3Kfz/
7wtrPvaatZoavm9UrwlUW7JcVfySBQv/RoB00PkEpYafThPz/ditHyx37yRbPTleH4Q0YXtqQ/AD
7exZeEfyHIqeHuvCiExo/uHZ9NLV2pMfTLeGTZ+MYnSjujdf9UpFnsBnSfRDp/aFTdB2FsquuDnj
EdoNpf9C133QeuE4PrCGhGR6nJZf14d8SSvJNwYy8lzgBPAfXYiDE3iDrK9KP9b0Jhv3DIoVSPeu
2dPQJvavAM/OT0Y+IjnMsoTc996y7rs2yVEvKYYwZeR1XKbigBaA5pOLPPZ2ZDlUl0kyR6QkX+uU
Onutdltkaqb5/bEEaqwOSHlBa4wbQ9jTILC13SWx8WyckPCiD9sa/3gq/J3kYKJwzHsyeMvyRV5N
X3LLGInhxRPEM1/98vv1BZBsa2TlUYsMMBScHiEGXlt3ARULqoUsZc9Olv1YHL2DTgM9XLcjGcbZ
OvO/n9zfbVejB2/N/dgZbiYWDoniapE6YjSr83ZLAP5FXNfYBG2Tein/frNDbXI/JVAOq/c2rSPQ
WilCBeloTqwJS48nNCAeY+HHBb3JiyN4rD4wW+DD4Pp7nOSMr9rJbJHaaoyxrPy4Caxj0nYvo+W/
XTchu4vx8PzPBP/7iYnOXNq28TI/thMW6uUbElsbO7nt58/X7Ug2mBkg74JGO5erQgmeOR3ymjjg
xYxRLM43petoe8hJzODz1UqF/5TuATQSBFwgAf8XZi23cA2gcOTHJuvu2UB3SIbcjCV5WpfyOM7v
ZpnirsvXec7bRbun+IRPNc0qCbQ0kek9tvlB+Yzgru/CGyM9wKkfQfwjUtk4Wqs7Wd8iHh2W4veC
cu2m9mhQhrM+aXujD8ybFWWQFQBjbMAG/a2HqgDOJGxyYwlJxzSwqpa6IuKRrifQwGgsdfDTHOEg
l1rduaOLivJq2tAOm3cQ+221p+ubRnq+Ai5Egm4CTmN/vjk1L827vCuD2ANL+EPPVDooku/jBucg
GaSt0CYrbEpq92Ojtwim9O85MD8qpgHZRQ5iKx/FfRQNuOjk+e9ndWV2xhrgajDmT05Ofllg1nPL
PPIz7TMpAWz2aLc1vfGpqay7elVRKcgK3oBuORxmgmZndKCf/wBzhGYVq13AM1w/9Kx7C4oYXf9c
UA57HnfQvdyQytvo3uP1hZN4lTO7QgSxQlmVaaUPu97yM6iXV2b4B/D7rmDizFXdqVJjqBsYaFri
fDJCSIbeh7lePGBQert3jyRfwJVJ1iSyvelLMOeuwr2Y3KsLBxJoPpCxQowXcHixVSltzMEbPApX
hv7qz45D0k+lORhPHrWMP9kagLEAZItf+8YyorU2zTbUEd3coyiOaR87oz2yIfPv/Qwy1Dk0t44N
0YcN07opZK09QB1En8O+LbwN6drpjjir8TjbbQrGr77beEESQEkaT1/kpktc0Zmxvb54kqMNTV4d
qWOuq3fBihBYawq1Z9xq2RgN0L/S623hvf86gA30jAO6DnCSeDJqxIJJ4+M68AdvkwbzjjafnM5X
3J+Sm4CrC6MzggMvLohzWz0ZpqZBtGGtbTgR+5Ck9gNaOHekyLTQ8DRFdCM98LxDD3h/pD8uOrFX
P7M7Mx149VP7PmbWs5ux27mgj8tqdmFJCe6jJNRbbZvl9lMZvJsjCpHzqX0hICmq5K/KHe6ifrgZ
i/S2d1QsV7LThvZDhLrAEnkXHP9T2q8tpODQhdxV5o0WmO3zXA/+vnEL/2iR2VbMqcxHI/5BTZx3
il5AzjNzHG2DIKlk6A8OYKB5qipZqywIk1ay0dYa3PGxNe9Md6u6KaWf5zLhAJCBJFC8KckMVaGK
1EAPAD6rLUP45/pxlZWlsRLQJAOBAVJjYtpt0bS2nvwZSKtq76Y3wx+vwgtxC53wdtlOP5Nly+pN
6UXat+uG+e0o+kGTS3WhswUnTAxMTMjN9nWDZ2KpP9Dki+l8tscaHBBgC69fp/XnoNp6fCEuDEK9
kTNr8BqhcJ1CobnWZ4qYo8rpDiWHO1OjNzWF3IMFWaOwLxJnqwFXdX2YsvUDku0/q/zvJxFy0FaE
dqC4iGdqfKbL8DowFI+v25BOJXjKoSePGtBF1ruCGmBG0akS25AVLJIpzGgeaus32j8O9tPQ5dEy
v103KfPyEAkBNQ0avC97kyYvG72GOPDA1a1d7N32WJYfuEhOTIhZsabvJjQK636c5vnPYDCeWz1Y
Q5J4igKOzM0jukHtGAcMkrb87ycr5NDMZgXQ3fGUsTfLYcdqhNaiZ7m/jRxwuoTZ+v765El3IkQX
EFbBNSFtem6RIYmB7T8i3+clM/rK+yUKEj/bWiSnG73v9W2KwCta7KRRzKlsrKiuInXKtS0csQ8v
KZtkMWebPCbrsTU3M4l6Z98WR69UBPiybY9Wc6ROMb7LDql17HXoArbk0fQ3k3VrO+/HhyHA4ORo
aL6AmopwmCvf6dpyycijXd9qZRS4iiMluadAjAcBBlAu8ZSSEPqCfsFKR+QC4nGc9+moh7PhbCso
s6m4ZaWG4NiRcbA8ZLOFvcAfm0YzTm6cMAiVG/lRn9cjgJalqtIqWRE0KSBcQrsa8KvijGVOY+u1
3jvxkLsh68NgUTX+858qOFiUDT08WEzA9sD7d76tW0B0pzU3ndh2prixis+T1n7uy3dzBoGLAR4V
JRwuP3mR1pjtYuhXkFzE+XTLUdv0/R6bByagxzA5OF3EmWaNQYFLz5x4tKCyu6/753ef/rPvC1s3
TwtmOiu+r0/b+jvtim3X5lvfb0FjPoR+9/6T6IG+GpgYrqR9oZTRm26xgi3bjm1URPG2V/iyS0Uu
LAdqaeizAWbvMhbXoFPEWDrZsbFS/WFO1uCbX5Vd2NvNeJPWcDHe5LZ3foUngUUrHUVfI9jXyM7u
/cHHjQ8Nw30TuPNdMCmp7WRbEpkcNOegDYgThZxvSYD6Gn31ejuGTsEzwrSDk9Z15GmJillF4lhR
buY9tHBJ6HMWjjEt9ZwlbmXHVjGGMBI6aAxt8QQyMogI5NH1LSRzGuDSxVFGwQ0wPsE7rWWwMLpQ
Oza1GNo7kQW6Vd9+Wc0PbFUH9RDAtVBQvFAN9/2qs1PSOLEZPBOPhqZ+v+ovhX1Xa7eDKiCUrRWS
QdirIJC97BFnpKjdJiid2EmnERp44EFwssGN3Mb7QDMy8mH/TAkJBj8ByRt49+FC5mebPQWuKiKT
bgfQ6P2tAl/GFEj2jf7U4tBNEEjc2v6SQVJaX465BzGkcYReHe8KURxFqVGIa+HBCta2i84tl5aD
PyOVFCPlGCVlui0Qxtv+HWRrSP52fQdKQhjkKxG4g7ECl4rNd+hp0ITkaFV0vhNXZvXHJmxTedVx
bI0vtt//WKbqc9KAieW6TdkGwbsYhIvg4IR1Pv4Tm1BNXqaAYjeCA3vT0NgwD5ZXKY6W7JrkGsLY
7ngWAUtybqRKKOTGG8cG/+kDAx2ayxSgKukobDCtAtmBAEzE1g1oE7Lm1LNjZkZ6vWvMMFOpV0je
A6jn/TMheL3cyFoPomp2PGhoQaNaqGVeNHZ/Ru9hrIBUTPfB/Hp9bf7qjYqXPz9RvASHIEDkSoL6
eTfQANcAkDn9p3UeyU1GCndvG40dOQwFdNdF08War/pmHd3utvWH7qGtF3NDivw389gcF2Bydsmu
BvAbD/XE27OpA38HNaGCDPYIMLBf/9GyA4OjiPxmgLvhotxjO6PVehP/zfNWwwvQOkBxlqBUqcI2
SjcVMkN/60rGRchij3kF9DD8ddpALJKikmS7rgoMKB0NF6xAuQePPTHAM/Xa1LxmsONV/7qY8Dpe
EI7NT7MFit74AGmgh1YkBKwQfuMaM+fHxCyRw9Sn1Y719ZPvHaE+f31pZDMGoABeKeg3A1GZcNa7
ktBUMxEkaSx7aYvpodRV3TKyS/TUhBCuEgI2T61L7LhozTUMRg0qInCWCGG36Uij6+OR5dLR0QB2
fZCWW+hpESbMsrQSsliAB6dd6m7qpYwsrb8lebWdBuu7Vlr3GW22ZpV9Gdbq/QgdcIjouBPA5Alc
nzBStlLNmFodtuu+jdp27raAacCP2sa0c8qlUVwOMheHdClUU9DuAmctLB5z7L4v2eqhHG+EQ2rt
p8VEJ8e8vz6nsj2CQxX8zdyDS5r//eQ+yOrKMjq382K3iRPtvnz8wOfRAssT9ZDqEhsl5sbySAkG
wthe9k1Uqei9ZR0LgIj9+74wS8baeYWd4/sldUontNucxs26uJ/83IB8OKAK1r7R9KHeOLr92iV6
jmcuTcLJI9qm0Wm5L01Kdl4BtECBdt3I1qfx1W3b/HEZZpRm6qS4qZc6OKQNcocWpH+/1SVR4U34
zxQdP0pgBk8+YZeJVbAU2j8pjPrxENBNsVphWz4ysFfOfnpjowHv+qLIDi2XLcRjBuCvS+ilmeug
rlyANKgPdvBluc3KR9M6XDci2b8oCOE5juQW7jMxIwQyRsNgJsoLtHwuqyk0RyyPCjanMiIcSj0t
hrHM8SgyCd3b634ZUcYIFCORHBGgq7F5ERWiQCmi2Khb+WbHUEIM9PEFsgWRUxKVbInChpinS1L0
ircrqnVzlTyn/XLnF+vL9QWRrDqGAQAAx7qDCEmYKzdz0sFuMVcleTGrLz0kiKsvmeKxIx0HGKS5
gAUiMzErp7ntkIPoA+MYQxM6SQqqJdnn8Q7FaxlAGeAzhQsgRV1u9cfWjZc5rJaodhVxpSToAxXR
v+8Lb5rGqCeGzIUbj6zeVR69Hbvpaa5oNFpoTPHXH+hv+IaWVIVZPvXi8cfWwtsXj2mwlfCfdeKE
zbQzg4w0ftxNW1pF+pG+ak04dZskUYT/kk2ASOM/S+I+A0LSJ0bZ+XHQaI8kcZ8Thx1S0BLkpgpQ
pjIlrJVnJRopKEPbPq3B3ehEq8/CbEViffl5fWdLdsXZoIRVMyro+tQ5vOfiRBmDkLEijpKOBK9p
xIN4V19UY5dqbNBJD1c25M5NA+pP3dsOvXM/p9pHNsKJJf5LTjbCjK5sfeZOs+t/VJURjsGbb88R
GMxCq/uVq6oD0ok7MSfcnn5C6qyyAfkrXTMsPf5gUPhOiYOGdOa/qROcjqMndAkWOJ26OCzuzpy+
lqoYQDUI4fCk+ZK3eOLgopmgfv3TthURkmIIIjQbN8LoEYJJYsHL7HzXMzv0ShWMTdYbdzpRIkyE
Nq3fdgtYNaxuxuONvdj2+pr77d1YG88Q8362/eY3S7S95WRbGyyGtamSFZEPlNc0wIl4yZBWTikk
7szZAwAxeMgbb58G6Tc26YrTpDLD1/Nkj6cFsWy0zwIrAt2SIjDfbCNA0ddUHCWpGRt5Nw48sC54
h41gZqavDV6cpV/r7DtL/5SZIiss9QvAkXCogRGggHI+kpx4lUtGIB2Jdu+Ad9910ACXfzbLz9f9
mwzTgKzzP0PCKSrY0E/QSvLiZGmjpps3vp9suvFTo2WhuXxN6WM/eGFXV8fl3focuGsRL+jITqHm
hXLb+RhdYhQDywBOrJL7lR4ze5Or2FulB/jEhLAhoA7rZnUPE10bOuOeNO8PGjAEpJM55hEbW7iI
rBLE3GmKmCRLvG8sH7+alop+Wr5CiEm4FS6dIkyT0xFmWKXpxqn+LU2hpaexpt90FUjT3KwDnQf0
Vr3lE62147j2uxlsCdf3iHQvIuDG+HgYIYpAlGaG54WTe/HQhI0Tua8lAAe1InqQhEd4nPwzIsxk
wvTK02wYmSBygq7Zkf3sNbv6Wvfe9KQF+vCjWtNpmy9dD9x/siqe4NIyCfwTJxqAAsIFEKUEIMvM
KfNiY3ZvSF3s0WES9WjjM8z2M9qa9wtZ3lia/7Lm7giqk8e8HG98OoI9e7yhg0ohWPZqQ/MauuSA
i+H9tudnY5rSdRjrxI1XbUjDnPTjXVpnNNbzbnnqSGDvU5OpkjpSo8DicLUPeEYRy6KBjVef9QKA
xvIms26hE4tCu20f1lJxdcsWGz6NcyYCHHbRvwxS7KrEj3BjE+EVdHsZmr3sIcyr8WkdV327mPUu
NYYDmT/QNIeEBFrL0MCP9myxwJ4Gfqa3a4obovre22+AELuAkrvBYVEF3jLXc2pJiBzzNWncZtFc
oMf3VgIGluj6qZRRMGEoALbigkDbvhjZ60m5ruVguLFXMspCCtqxyFha8BFkHfuxkuYL7vwiNBu9
205EL28YRCvuJqdjj8M0jsc+J8uhySy2WbTF3Tal+3j9F8quyZMfKD4IXJJrrjlglRcrv+lr5Emq
LmTuB1zwqRXBcZDCKDRQlaBAT1ELjixV2lY6Clzy8PBoe4TozvlJLDtbT4iFyx66X987O7lJ3Po1
gZzU9cmSnT14eODaA8i8XOhIlUBKupqLCCkA6T/tGIiJlofWTd6Manq1Wqbqg5RuzxN7wvb0+sDp
tRkdJ+mqRwmtH5LmAzAaD4NBchiaFpcEmXhl9ybqES4wSJs8ibpmN7nbog7N9tZSvaOkq3RiS3jd
jCDcW5wK/pIVfujWP1yj2ZiqcF12EUIDAkcNGXWk14WtZhc+euEzJDQ1dqwTEs5Ve2hyLbRGVZOD
dDhAFWLukE27YJ2naz8t1JmAsLbmN7aggrx6z4hG99c3ncKMeLND1SifmxZmDHuJGzs7INe/tVxV
kCndayAE+wslBNEn//tJWJ5Vxdxm4BePjWT+nZb1nVnaijYt6fE5McFHemKi6Su0iTbcBJJDzsYv
tpp2184bpiq5S/YAFh8Vd4ApcH8FAhwdKrDzhNKYG7s5dGax9t0OJePGfrm+MpLxwAxH9bu4Hi9Q
6JkBDuuOQeaRTvoR2QM7BMfbvbEMO4v0B2tlCpCd7DbhmxrameBAgsyJOIGk0AfNr7kbNZ9s8ysj
b+mdW65R47nkKdFTctOXBN1WwQAiYmrElBa7xM3B+meX+o+h0OkRXU6q5KVkh6LGiz2DZDImXOwI
N9uhYRDMRqTg3mrJt1mDuAUqgB+YbHT3cPguJ+sQXDzJLaie9OA8N9Abx9tp9qtevqyV9wWrcOOg
7njdniT8gcTy/9m74EJijV+vOYNjTAuEkJE/cN2zTe5tFjDWZOOmXY/XDUoOIN5XYHZHSw+QVyLy
iyKJnvXejFjEi6wurJ7+t88L8zf3hVfpOj7vDK/zje595PMoXEDWBOATFP/Pz7Zf1WOra/g89W6D
+uEjfX7IW/77Pj+LJ75jQri0dAm+Xx5NY9dku+uzI1ttdN8D8MGLv6BoO//80jhajqDWibuS9mHn
+lG2dt/Q5LitpnFbQZXO8AsHTDqqyEjmqk4NC243mCBaNpsLMCAQvJmKYTM60Kc03yY/ia4PUba/
AFwBkhSwPPPiuiqqyXYBbnFw03/J9cdAcU0pPi9eU1NDq8ls8PlcLwDackP9/WhVvLV4oheOD65d
WCK3M/txGSYrtr3W33RAlu4diD4prMjWA/6Vd0Fzkjkx39GTFC8PplmxSfflupuag9kdllzxkJZa
AWwf0GwuHS2OxfCHySjH2owZEgOz5R19akJ6W+siFLNU7plnh4TqAhLXaEvBTWjx+/18b+cARM9o
ZjfjbrFSNAZMkJLxvjZD/Q1K9VZYukEatng4X99ushOFyiyYj0EUzFVqz63Swk6BMp0tIM/ZbQOY
ps/QMWDlP6CQPG2GrH61AmTqhzJQUfDIdiLAdrwZzQMERLwl0XhWgJIktWJ9GD4TGtwWK1XcxLIb
Dwk5CH9zeXGgp88HV2VzUxKfWHHVHaCuFCZaNJBv1ydQtmwcaorSeQCclvh0BG8NYAFBDYxTiqxC
aEz0jQaglDMrt/pjQjnrUILcM0pqiKdctywdHa5y7BfcexelW3DAORbTcQaMbh6/M7+dv/jMLSNm
TiplXqmpvzgr1KPBvCzcSuXqLqanNXacFPV95tNDYZCbpM4VmVrplvhnRszho4A/t4y0MEP3TbUp
mCI4kQ8D+wC9OAHgaMIRM3Kvq2cX31/b+2a5GZIfvvHygUWBliveaWg6AFj4fMv5WpV1NWqr8Vi3
Xxx7OgRZ8qsZ/P/NzF8Izsk9u6LOlUyta+Eet5qoNkmwW3DjI2lBXMVzQDpp/0b0N6d6Yoq4+rCS
yrdiBpyFQ5BiykLPVXhaPvOi8wNa7v+m7W/d5cRIh/R1pi8pkNWZ25ghXqDagXq1vV26odjoFDCe
yVIir2RDQ44Oz0K0ZkOqRfAPK6QLODzdjnW61ewDSe/zQpFSkZoAFAkWcKEDE3W+H9iwZPZMdcCX
1/J1SpoHq6RbB6Jg7992AL7/Z4bfZCfz5xopJU5t2fGi0eZzkdlZ5FCqfZtWY1CZ4k9zca3Qz4sM
Dlwq+hOEp/ts6NSySOrEkBK1wzGzx12XZ92m8ZxyCLM0r+/ouiy7umrqyO8Sd8OYNm86aGTiYC/A
Oxd9ceghz7mdU8MZwgmauftumOuNWevdjQ+xtjB3+ylcvSG7cevmMUdr9ic9bwtoAjnJIUW30U4H
c2i01AO0z9FOsrgG3HvrvrmZP6UoXvf6E2KRMgymadhMxEx/a9QEALXWvzuarr3isWhuNbJ0d90y
Iw5G/RDt+TZ6hJE7NyCqqFvPTpIaYZ6RLLKrsT+2Tp3t9DFR5askbg+4fcwo6hIAFolveq0w0yL1
AABkxnaJQHJ+fW9Iohh8Hl0LoOKy4foEl9SCLh7Yu9mJm+5OJ491fdu1h4yqWoilo0DgAllfpHMu
ntkFa8DKlVpOXFob6BAxXfHS4ydF2HbQCuZIYsT+AN4KW3xsurxops6JKXvw+pcVHfKZIjiWmkDq
B49gwAcumpKXlFFzTqgT9+RnMzkbcFlHxqowIlkOeDp0GQCkiLGIcU/dZHNn98DLB3oQWRY4trQW
3a7gniiCD9x3p6aEKSMpsZtgIk6cBiASuW+RYFBRLMscN3KtQA6CNwFdx8LmKvNgzUsPV2o99nc8
dczqJIVKnPOpGn17VzkqckjJNuPSaijg6eD2ueAsGew+7QbN/n+kXWmPpLiy/UVIYPavQG61dWZ1
VXfXfEG9DauNAbOYX/8OrXdnMp0oUdVIV6OrKQ2RtsN2OOLEOeYRmLbvriu3QHmdbm+YBTe4MKFM
m58lcd+XJsJGw4ikYT/7o7Fv2Hi4bWYpcpyp0j2QOUHD8er2qYpRY51rgiaYfhEGv5uaaedQC0D8
lEcCBHpBWaxB8henD2cbkqGWP1MMXl4Uk5aQos8Q7zv0GYotdrcydwvf91Fl+0MCjyeFWmyD9q5d
dA43j9JBN6SXBU2crXj1wgbCq2Gu30LLycetdzmEaow7rRoRkECh/mdChP65MynfUK5ZG2swnJWn
5uKIUMkESAGPsyupvUG0/dj16KtyzXwTEzuq+5VnyuKAzizMv+Ds8h60cvKHEha6NH5mtr/vtPS+
6abQ7dhaCLw4GqhqgCsGb1q0h1/a8rWqm+bQ+Oj2Qe1qm9g2trfdemH34N7/x4IaxEP2DjkSgmeJ
zOPviQO47zjwr96IU+4DhtCWDeA1ou2rvliocA1NGcfmcRD8txYbaeBNZhpQ0qxZmidFvXpwVP9j
SVkgjl7TiUh4nPZN5Bvry6xs4IZdHoEqepLvR8SAw2jWNUC5GpXV+cQ98wZoVqNvZkIobLXii5UX
G48yoMq9levUXfKEWegGaAsIy19RflhkakTmDOQoRr0MpE4BMLaoje7MtjtmwrYjVnV64LeT+Wxm
bfdi66MMTATkInCafAxix62RxBaa96DlRbbPs1mSBGJNW2KL8VvpjQ6Ie1vvweRNe3A8rXoB0WUR
GknMP2Pxins64YC1wBsdSrNO96KPwdMSS0q3JLbYfVygiBe4HLw7bmo5e9qI5hNYnsp7P4nTSBb7
SXSHBg2YXhJ5ZQQ6gF0CbboRyntaOCZxxBzvPk9q6xFRG7LQlDeRDu6b5xQSlGGl6c294fX2yW69
5G8Eqt7G9vN22+TDtG2kl21ZX7Xoo9SHkA8ITzunzkIEQO7fsnKzwK9yEhDeaZFltePGjL1yC2hz
9uwWWrIvDVFuRK9PKwu3dFrY7owrQIJQd6z5WjnzD6ue8hrtRWhpAPD8uU4ilm+i2ztr0QR6DTwD
qVYwV81/PzPRxk1qQXXLPjrxxoUIZ4abguY/e/79tp2lfQW6j3/sKK7u8iZJ0TthH9P8NeWbtN1A
MLHIhzAbodDKBdL5a1m2pdPp3KQyewBJmFUFmoKjP2wBEXSmbbIm/bk8e56OrlVQECLvdDl7tY28
0+j3iCJ1PEyyGsnp1NxPQ/6mWWv0zEubeCb8Qm0Y9zlgdJe2NF7Jvm9zHLbkjjS/E8ZXHuZrBpTL
thyoKQoOA/oQxXeO3N72gMXPI5GPrCe6HK469XvH4jQhlQkkbf13Z/afumqNDGAhQp1FJaHkDk+G
R88ecebMU02N0ecGwXM13oPum+vuvmKvsjlp+hpocqn1CcagmQBW0Lk9VZmuqpeQWCkpkiVEbBAa
v4DnZwvytx1gF3uj6z/lUOe2HJqEwEa93J7LPwGjek0BdeU4kFBFhktlfRlFWwCih7jVrIsmbBvr
XqTejuBizCG2PrWFHRgFR5ukp72R0XaC1E92eK+PAU1A+7Dya2bXu/o16PpBXwkYGRFwXM47Sbsu
nXBDHJ3irgG+KrbrgCc/fFNEMUTEiFFEKX/M9B+37S5tcGvuC5xj3DkHd2lWq6ht1IYkR+rdk+mQ
iLu2X7mhl5z23IRyPPLe4JM9jATcVa/iscxWwsG1zysTNyHoq00fF3PafTPdb+/PsaJy+e/8KAeg
XXOjR1cuOZIv9igiJzGj2wuw9vOV48+0ulJKAQN03Dt6HeDFsXImLR2wFt7oCJOgt+qpzdFGVfiW
Biw8cAOdEwwZtXZCGtCv0TVwOXriA2ztM2AUrLJ4MhngBrh0qZq6U8MmQlBGsKN0ktguetgXm9vz
tjQq4DlmlQ5kgkDCc2mFJrhyOepqx8xgQWM8e94jZX8Vxct/M6MsTyzraTQlzPQGcLzk2XSfRrw0
jSRdOQCWzl3wNcwiMmiav7oGQbjM3DTj5JhDdFfWQJR1BtS0wNpXTTgJYnt3e2BLfodmIzwI0cuG
7k9lYEVSUcPn8LuRhEOWBxaOu/9k4U9f+NlNQhvN7aTUydHuP4/iFTDyj3wf5W1QxvkgMVH8zLOt
DMGDiZ3DRDTa2VOb5yvJ/CVsLi4ngu4yC9xIVxRo4B9tRVe3xlFmjv0Sj36ycatKfy3HZogq7hRf
DNt1Ip1b/KXXZHJgnMgwJ10cUYrkaJNmzSurdf8R7I7Z6+0JWHIZJPbQlYaXKWInZQKaqTeTIZ+M
Y2oWu8ynXqST7pHEzRjknN6LZrXouuQ0uCxxQaFryLqqtiMlXEhgS+E0aBnaim5/e0CLn5/VasAP
Cbk6tc/Oo2BG0JoUdyAD8N/9kRZrZ+HSlIE5Fb/fQfr/SgmBur6wMjcmR2085tVfRuKFHLDuybrr
hg8wa6Nn8F9b5PKEktRtuaMnGE0aQqNlX9JiZb6W46czE0pFphnYKAFeJ8fGmyiyolX1qNUkxtzZ
BOxhUt/agrF9lUsO+Ae6yA2z+gCXNCjK/4nfVYgEQMy5RGHAPha6AYm0bDOwlTN49mM1NMIOhPgZ
Xt5ASs2LenaQEAP7vDInPEIgompVzzOyGdLKt33vT7h3ZQV4d9TYwR+FROOllXZ065J64C0wBuZ8
EswdghFEAHZAtKnjgT10P5Oes/0U61NApZOE2ZDfFfbjYFrgAh9KKw6dmtpPia+Bk5P0sRUiVdXU
QSWNHIcgNT+1qEFvwGqJGk8m200BlgkRxAayFzgsnJ9Sd9PDlPa4M6Ussq0cHecb18Gtm1BfhrYl
q01v1uSZ93kfJIQ3Q+BW8ZOPs5t3PEySnSZ2pat3v1PJ8xOZsl/EbpIvKTPYxu5HFlbcrAKvlOU9
jrsiGKZq2JJx6gMf22Kvx3n54/a8Lu1ptBnPTG/A9yHQv5xWs+xcUfHCOebizvPvkA25/f0l50D3
BJkr1Ch4qN/Pe2MYmYX3fYzHStNqAJE6hxwy8rfNLA7jzMz89zMfLI3KFJkNH9TrsLOinq+87NaG
oZzlE2mKhBF83yYP0EOwyalbIzydHfjSwQ3gHtDYgWsMvXBqx5ChjWIoS1CNlGbiHvwOOJUUqE45
gTmgFN54n41DFzV8sDe35+56bDAMIhAQTMy9wCqReWmPngEyZRv0I3jWQDveyTc4dG8buV6gSyPK
Ak0lBYK4hJG82VEaJt7KAq19X1kgL+PUjOfv63/3zeei/Xz75y/0Ws2/H2lm5OqRz1TTILZT1pjA
3EZJv99VuhUOtRbEjYsQvRUPdDB3ZLT0AHzs0HTv2Q9tWqtNXUfUsIwmdyRu3blEpRyzIO3Qunxw
rKPe8IOJJwM06um2YfRzXIsVl7ieTTStIW5HCgbJbxR0LrcT0YHcmrhrHR1ry+vP8VrL+/VYLr9P
Lr/vVsNYWC4YXFL5gP8hv8jI1s+i24u2NgrlbEutyTLFPArqhOy5WwMHX++beRC4XJENAILWVQYx
AtgK8CYGMYkA6Q/BXtN6ZdcsmrBnVisEuYC0KV5N884fajjWUU6JHZRkLNHiJiPdTHe3p2pxQcCM
CnAZ0Jp4H14uiMbxjLGBnTv6YE19Nks72/ZDnH+fkiR5qZvpA2RdiIuBDIUkO3xMjUogIjAKKhuc
p/GL/WgOb7eHs7jyZ59X/Ne0hd57Iz5vGIFxT9Yq0YufRxwCkMOc5vOUWMSapF/ZVmUfAcG3mn2+
1lm0/H30b0ER1wOzqOK4xGEcFSJcmvKu0oCTTH5/YHrAGP2/78/2z27LlkimawLft9FV/uhXKzXG
Ra89+7ziTEIXZGjmO7//6snA1nflGoHQkgWQG+JwQloa4YtyFiI4a+Npwtbj3oEbO5MXu47zlT2x
tArnRpRVzmNpJ7YJIw67r8NiXEldLY5hJpiehb/Btat8HnWgOPUcbh9N7xOpHloSSmvz/nWeESwg
R0YJG7Yu11lvOfhQB8/G++OAmLb6yAhmrQDovCNrr0JxYhAhAfTKnaPOIpm9ZtXTNH4grpspCnDK
zo3ganUc0gm2NCyEp1CB6reW8JrNMDTV/vY8LZ1+CHxmwDJoQK+wC3jDU1y8PjjLEggGaFb6CBa8
nZ50D8DbRh+wBewckmPIbiPfd7km5iih7gd03VHrvSYEtzC9y4y42U1lD4wYMVPzdNvgtRsDCg15
AKRJCWT+LGWvDFkB9Y9JmEfRHjJvv3bJXrvxjLSe/QtDumaRAkV/atG0so6jOYRQdojyxNj601rl
Zs53qdHxmRm1uyqjOkgrJ46IQSuFu6vtmB7NwWBfxpSRY5KRAqi5UmSHqeISTPhj+vqBaURpXocU
DyDKqgBfS7UUPF8AAsTI47AxZK1c8YzFhTqzoMQTvdanyBi55jF9kdm+JIf/NgDlUonF/waQT3kw
8rBkazTSsyddrdHZAOYBnl0rFQckWZ8cQIBIGpb11mjxmN5b36EQ/e5jAU6HoMibeermKPXSEpdV
kbIebyXb/+EdUuOv21O1kFfE95GEQVYedLPXhTyKovQfRtuYvHTiC5hL0VcP+s3ASWhIpUQ/1hRk
KOfnKO32xrZz0uApf3+GFr/iD74bFEAzE8flKKm0Zd2kKL1OP5mF4PL59iiX/A1tR6i7g0kEbbjK
JCZ+ndG4Y/Zx1I9a/tV4PzgH1YW5YQHANlxy6u1TDK2bt7g8jgPyriAKWfHn+X5UvA2kMcA7294c
I6lchVVtQzjVhXpphsxOaf6Y9tpf6K4JSguSWP1a/n/hmAMRNXqS8fJCnkS9iLSG2SUpah9EoHHE
4x3z+HaItff7NaYK9YX5PkVoo1wOuuQWCL8gzmCCABRlheH92UBwqgDaiOMa1Cp4SF66VJ0aJu8q
jZ5o/eWnrF9ue9TCJM1I0BnvQwhIM5WQRgBqaBZMspOJjpE+YuZffr9iYsFpL0zM98T5GUNpntgD
TNhbDTdAs8L2sXCEATw/QwnhuXidKAvgCQZOdK+jJy/rD1CsCC3jCKJCpPdDfdrenq01W8p5X44Z
5C/1np60dJMRDCfUvrsQuTQ/37azlLu4GJRy8hsgytUMIeipq35iSwUtelnN+jGTyZ2D7pekBM6s
l3yGNwVt769Rai8sGbrVsWnmJCM6o9RjbJSA8SctPbn2Jx643cqSLQ/v7PuK141WTisuGnrS660d
vxLvwa5BjbSftfJEeuDWxs4erWTlkbM4KvR4/KmhIipQHBGPEyDC0JVwSoc7vnHrlc8vOscMoyXA
tOGROW+1Mz/3jczsSM7oKdcee2dCheIl79CGD7m9MXk3AgCdFniEA2MIQlJwuF/aaiqj5kkJQic6
hnqnB3barZxrCwcDblHkkxB+ArKv4qqbBtDXbPSwkcBSZIjHBikTzXq77edLRvAsnssDsxySpQyj
1Jt+gPZWeUr7MDfCIoumtSttzcTsFGerwjO7kTlIX09gAI3y4RWaDw1KELfHcf0agd7D2TiUpS9q
ndGaYhxxGdleAGCm3W4RXN+2suRg51bmX3E2lNqjYxFLq4SobxdWxa929FGy+JnlO8dbWZjFHXpu
SzkBdOnXXMtgy5tqtLvoGw1ISWi0BLLnv9NOboXXfSdJHSW+PGol2lT+21iVE8IFv41v5U55km0W
FkjXNOKBN7uk3lv5yqG+uHiW5bnerO+AOtXltJYZejTJgMUbLQA5zafGDQdjazsrZpZOH3BR/8+M
GrtRFDwMVAjgiCkJ/LwOBFmprS+6uo0gGPStf+qklwPJiJbStCaYs/EvAe4c6f0ga93Vi5N1ZmP+
+5kPmtQXhQBK9sTSKHPDHCU10GqtXRALI3F1qM7g2QYA41XfrNnWFWjBy/LUA0/oQoWWTS9++u5c
CELoMyPKyQDGFl1He2yJhqSnIvs1krtqDVi/UE6+tKEcDAwZTQAZEI5wsXPcB90PEGe1xjYFjNe/
99y3do3qeGnnYliA4EH2GywLKitWU5qsKWoOP0MlFCQOVXwnknuGImXn/HDcN6HvNT3S083tDTvv
EiW2vzCrhEZ5qeVunMBsC/jTBA9HKXQMiQyGbiMIGtvWwvsFT8RTApHr/HzFDaLcHYXtFwby7MWJ
lBHOCECv8yl01hQ2F54sF1YUJxEez9pYOsUJ+XsiD651aIfvjc+jDFxB7fTj9iQu+j3Kujr41ECP
oRZxetdp6irXihMjfxv6q1E9DdVK5LBmQlknNlRGaVcwUTXbLvuZ042+ple36Apno1BWBlidlpYu
NhaeHHuD/WXlX3yIY/D+l82+lvkdi1cir7UxKYs0Sq9Hg2ZenvTK3XD+vW0PTB9WbqRFI5DbAopm
Lu2ojA+a0fcy9kacrvY9i3c9SofM/chAzmwoA6Fl2xaim3C6liE6b0QVQcPp/S6GpypeF+D2wECU
244ZReYBhFGcxvS5ZOCq+Ty8H3+OhCySE+iMQiL4CngLuisCXa+uOPkaCBwOpN5X/ad4XEPSz5Oh
njhAHCEZgjTp3Hh8eRVpRdID49IXJ7sP635P9ecPzNTZ95WrrvD53Eo2f3/82qdvWvXbEytI2yWf
Oh+CEmVlhA72kMsCr9Uo755oFn2AXx+LcTYKJZByWshDVHQoTlO7SXwjMIuDyNbO4oVxINU/KwUh
6X5dGzQdaVCgSeoT80ChJfWIe/c1WQMkLFlB2cWbCTsALldvNup0ThLbbX0yxF1t7K36INOVDbhw
qSBA+4OsMB3kqJSjq9diDjmCtoHr9pFp7Qu00DTZr1TubvvWoh0flVTA9GcYlrLwqTbUY8XQAmD5
TSCkH3hZB9kLGbTat9uWliYNanEAQoB/zIPK4uUuQV2V5nGnN6eaFRHPv2eA3QtGVg7HpUAHjK//
mlEmrh4Z8VIxYEAGj9I8R+tyBaKaPkzMTSG7PU29YKjNQNZf/9v4lCNTNtowSW1qTuVUhIPzRC0S
sLVE/OIkgigO7GS4la8El9zaTpxqwnI1/XjXZ8NuGl/j5v3xKN7ZqM3NEp7gclFOZksI7lmOaE7V
F11H1uUUo/Pp9mQtHJlQdkBed04bILxQ3A64EdMfXbj3UMiDb5cR2t5W4os1E8p5g2jJ7DIfJgwK
yu5k/EWAvbs9ioXVQNXPRykcVxhAp4qvTRnpqMfT+iTzct+09InIemt5a+miP+lo5YK5sKO4VlkS
oA3xojqVZSHvADT/1fQuSNcqaj4UbmYcAFYhIVBs7kbaQxwUses9Csv9bfa6faoT3d7zdOhfpwRE
mbnGoBtYW/lmcNzfGs87qMRAiKDReX9vTbQ8NFbyO++Q1Jss7cWpaytszZyF7eh9yfoeZ6prfZ70
3Nxptevvua/FL1Olk0cvScsvlsGy0Gl9Egy2RIOLJFloduCwces4DoxGz5Bg6fyQ+VO1Tx3WbOuU
DaDH8qy9pPWETkN7DBEYJHvicDNCkaGCrECWvlR50R4mSvQwHQzri2+VYgOOD/cFOMQWjxq9+9rX
rAtjx+k2Sdr4+Kuvf0rBbH3vGRwE5J6RfPX1xEGXohyKwEKbFcDV8/9NcqvcVNkmre4gOVbcoZ/G
BseU331qKovdFWUNdg3IGwWjmyPJNRJt1+l2uzEbrQslIyD4K2uQznSWt7ntYwsHNHag76FkhdIB
qBQvj02jFmPF67Q6udVbX3xqpzGo8WpaC5XXzCin88jBl1zQpJpvZ0qDtHhMAXavtrcH8yePpnoy
njGIlYBUnDWkL0cj0yTR4CXViVqTu4+tApp+KFuHrGZ5YJujtpvsTItIzQDO7ess8MhIgzFzjDvh
NOKUC5rtTdFlDxTKKmGX6tP96IhiM0Hy4llQMw9HblphJnXgHc2uiUgiyrDy2vF1FLa/Y9kwBaSu
sZI1/85F9rvvWL4bRr/baDp4E5PaS8LGt+tIt6FaxyWqwagSeUFJCQsNPJkCgwwnKxYyYKzxgpb2
6Upaep4FdZbOz5X53DnLbTgJyyfov9enOv/Nkk0O8hYd1LN8OKT+WsS08K5EYvWPZCVO4ytwYuK2
hl7nMT8RoEgceaq1ryaKvCB9OOT+g/F+YitQgANQAEoRc4HbjfvWlKHgV53yBpGmkT3lYo0BaOHg
hwlAMkAGhojzCvg2lRAddAt+GuqpR2trrm0Fy71oxZUX1giPl5l4w8XeVG+wvMmqDEDw6tQc8uQB
U/XfPq/cXrJNEz5mGj5vf3/w2Y/bX1/a7SiroBQJVPX8aLl0sDQztE7vwNmdtAISNG5FA5DdNkEV
aw/IQa5M1ZI7Q9AP7fXgRkHkoLizhSsm04YU1qocGZl90SSB0BFV5KEm1ipGy8ZAc4e6rguYoHIn
Wxkz27Ip+YnVUKd/tRH8Jz4aKOomaL1VFZS5zq3uVGBq/7Gm3MyaNyae5sDagH74NJ6CRIuE9+bV
p8T5XNO3RG+Dnn6/vXpLWxbdd/P7Y148NTljpAOYBwa/OlkMCj/9oeloEFtaKMZ9Nu6o04S37S2F
OWdXkBoPypi4kyFjdmqnZKPJhzEGSmOtOXnFiArLEEkjOm2EkbTV760kPwya8VjH02oziLpiAENA
nRAy8njBIXRTXB+QDVtvLZ+DVbSJel+ETIhdg/Tx7Tm7csPZDOQO8OIFJcdVDI00UOxZRQaNQocH
RffJg2i9f9dIVIXdl9umrjYzTAELi7o/FIBxFinhuuugcB5DefoIXo4EKLDiwFItyHv/kJZrhEBX
rjfbMqG6iKQ04kz1/sa/T3lWMwwLHdQ8GugmoagHb3sIgmYrt+C8dy721h9bcHK0+0HMTs1zSSev
eysp6qMnXvWaITz4wBqBtvgfA8rmnVKQs0xxXh/HVou8/t7I3yy0VUG2yNzdXqIlbzi3pJyAiHwr
PdYxbfbnYog4HqPVNu4O07jiCot2AGeBuC1ecDggLs/1Ou4lTWRaHxOzQQF70PdZGaOzmR0ni9z7
U7pib9H1XLBIIJoDw616j2hOWupVj3Gl5k+m/zT0KhDdDyP5eXv6rrwO790ZYkkAREQiT73Ra4Ge
BrRrl8fJ8B5cyIyBSgSMhZ+HuNulpXafm97KkQfYjOp9sOnO3MooxUHCV8VRQzpBThzjO5J8NLZG
4xhh1SIRUzkuKDn7xNloJUvCtIvZIZYuYkzZVF89Gvf3Qz7kkQZ2oTuwq2RbiyZT1FsZGgkKqw1N
v8y3eIuKsNF7/NXvQRLH3Mhqy69FMoAsIXU0CJt5PQj3NBOA/Zx87rmbbNqpFYEXN8Omt4b6rnRQ
ZxgFuOm7URo76fROMImUPchJ0zYky7onkVP3rdRLbZODh0wKAd1lODovtq1R4j0koNv5uRofjKF4
bir38DXdTKlz8Nw6LJ+1g1YOJ0cjh6wn5QYM6dOGTz0IAo05KzCgFacjNg0znaPQgq0NYRf83nFM
8igbsjj0SnASji2aJ3Iu9YCQ0ghTWrWBq3nmLpdUhv00vJqaJiKtNp2I+i3ftv3UYUTolc9EY4c1
8DY7kicvBZucbaZNXliJFuQVXTyEupH8dkUJwTnJyo1WCeSRqamFFPxRIMWLm63WA7BCRvzB7rQ8
alNZBdJszIBzRAQj5NP3le7/rjKHBTWV1tYcOQpjnpUehhwSMk0SW5D/MElQxx04HUtDQqC6bLa6
JdMgJRkJRxtFNL0H6lerMzvwGJRteDfFgWljhLlTkbBwyjJi+MnfbNdO7zoKjfGm87ttBongT0iP
pEkQe9NXXc/yFMLdzrhrfdGgIuL09z60mrC1HDPI88na57JpN6i7gQS5KvPs2NbmTzna+psnbHGo
c5DGpANy9qNhrlHM/8H7XhzJEJs0cOyjmQg7A+jwy/Nlikse92hROqZt82CPdQC61RPv31rbeYAA
SZBX2ok75r2bP3EXdNR0J2LxLOudroPnYig3NDMD6uTwgPiRNn6Ut3gAgkqVpeC45FkwySIa8iQo
HD3wxreO/hoMPRisMZxwvLA73iebDsLgiA2S4ikZbBxwZWDFL0ndb+L6E0kh2truMryYuGU/G2O7
v30UXZ2w8wygZoEUnIPErK68k5kss2bKR3Zs+S9TiJD2bBNPP5L0SVttv70KiRRbyv3kCqiHGu7A
jgCTE2BroJqeyXe32itGlKsp1Sw0hlYw0tpf3fJz677dnrD5R165zNmEzVfI2VtWF0aGYw7fR/4q
6LLv/tqdt2ZgXrEzA05K25igUfSY4lCa0Cwb3R7A1R2nTJDi87YFYnC3xwDGBkHCcwWtsualtVf8
am2tlSCuZGBj7iR2VufGIRc8gPZB1Gor774VK3+S52dzxdk0OFTDWIo6bOvnvv4SWytR28p0/UEF
nJkwhY204gQT9d+GFxTVg9ZFZK1jc82Isgs9t6igYI41L+MgM7dG9qlsQufdBDqXK3+V3qUMmmhD
x47I8dl5aFUBiOBvO9c1Wlyxoax77dPOTnOdobdVtzaFpSHPilMWN6ZnbjynhfCMS0BL5OrQ2R41
G6xtuHwrVpYb1rbf64L+NFLvG5LpawfDbPlq40IrCPgNAr1yQ/F7Zki/tJwWC0nd16QBy+iwGa03
xBcgOg79PA3NYSVlv+iePioOwFEgo66Gr7KbOGmTgs1sax3Zolu2/L0y3+b1qFCmBRaGAPsNOKFy
WgAZ7QkyOsXRlfXBE/ck2Q7JA3I5IQNCsmLbtvlmN69D/kC7e2fsVkiwlw4rMHzpaJeeG17UrFHl
gdahbwk9xu6xM7Ogh/jN7RGuWVCWrStGpCF6CAiUZtRMoXh35QYOez4CxWER54GQEI3lEA3so2nS
AqPa3R7B0uY+s6CSy4xeJUph6vSYkLsUdYQ6BdW6bkZo01852pf87dyS8lxqpdmPJmrfaAyaNhVx
NpYNEUqyBthYHhBSDi5iB9dQuw1y3avt3jHpsWu3dX9K7H2Otvw14vhFK8irAqkGcacrMli9owJk
i255zEFLT6rvzfhc6b86+Xx7dRb9C0hsiKxB1gjiWJfXrXTZIArAo4/TNy0P+/Ej7osDAK89iKdY
1mz+7Pqw4qRtJ4Auj13yOWdPcMYVA0trfh7CKgeAbg1G48cC4YK/Gzyw6m/0ZsWBF02AkwuNAKCm
vErIIPtNYpYa7DikoVeF2hhU+gc8FxIbqJPOZcerPAy1uMddH+FCEj9N9MTNt4asVIGXFvrchHKQ
jEKXWtHPsX4WFahvrQFrF2cJnorsMwCOV+kdWk1pZ/kJO4JqKRhiHli+wGHybnDOfMECE4LDFtQv
V9QYora6wtVydgTaaMPHg+mwlTv8D9/61U15ZkLZEm2X4PbsMnZE7s2J2saRB6+1rKAhootQd013
pmSvA8N+ERMfHkHmSve2HNqI5A24emXuBZOR/uUWzA8mG+mhuk1ReiqTMpwyA1Ka9ZhtkI9wNu6A
0unoxTJyB2ibQmoPD0fDfXcTuTJp8y16tgtH9GVmsM6OVYO1aT917XsRwn8MIKtn4eGKJn7lFnH7
ohwL16PH3P4uJMhyq4NOypWFWfRgdHj/vxE12u1RIUSrN4xMRmEEjoY+nMTqP2QEMs2zAhM2onKe
sKZDPFGlDBnRPvikow/39nk7//fXzvXv95VtmMexyHmLmAiv44TtRm8bR0N3Z7zdNrM8V/+aURZE
N+Oh6hIMo6M/4vzB9v++/f1rvfg/K/6PAU/pGGRFNdSyRd9VEVf3aB6MCmvaTGb+TGsjssdyA+qu
uyLW3ZBM4yZ1kAezqs3tH7F45AB38v9rpcaXrtmJLubo/i3rTxCSDWT8OthrNaHFmQTqHbUFFBpA
t3K5d+IEGCDpMAZ6CmT3kIgw7TUW7sVxnJmYQ4Gz7WmVBcHR3LCjjuTWOHZB7N7hjFvxvDUrime7
edoL3mMg4BEJwRUTQuEJrNLb22uyNl2Kf5NE2jFJOaZrihC4DO9WLpv97myuFMf2we0NPuuKHdn4
tfBLpE7v/OqlWBO/Woq+zsyopCTMozjZQdB9LJAKGisSTAmIF8mP0fzAC+LckBKzosqg1YOF8TRm
jNXIHupJ+3l7SVYW3lbusywGFKXlGEtj8E1fIFxtsojm3kqJe9nMvw9M5ZKhMEPJgAemUT1O6I8u
yYuRnW4PZXlZ/rUxe9/ZTnGKQZjxVLNjT5wgF4+a5oZJKaGOsIajWPbjfy3Noz2zlAkn4TLFaOLp
Lde1r2JCTvf2YNZMKNs+cf1Gah1MVHIaAq3hz6Jy97dtLC/Kv09wZe0TfcpaaWDTt9Ak+pU2W7FG
y7G0JAT5YyD8XLRfq2xYMRuTqiBw4MLYxWBuJ9mTzzYJ1BFuj2TZzkwUBD5wlI6U44v7Q+I7zMNI
UDXpOhoKpwdf3wN/N0sxThiCvuX/GVJOsNrSRGdzByeY/tC4bchk8oEY49yCcoaNEomIoYIF376D
8kC5JuyxtOhn31df3HGjD4SBOego3J86+WrW902/4lfzJKhhzLkJ5dgimUE5ilHYHtW2p8hq1f5D
i/O+097wygzr7tft1V/aKwQcAihOzlpjnrJXJtQuehe1uWPff7XBjWyxv24bWIrLEFmCZAEST6CS
UNzL74WWUZ9WkMYBbsbe9en3tC+izv/BgKa5bWtx8lDTBfwPzKxoqbo8W4YBWq65jQclce/zNrKz
QPue7MzvhKy0ASzO2pmh+e9nh5iZ5XzICQx5TYD4aJw2HxiIA+75GURwDc1Cdaae/MqhR5CVRrGZ
hCU/MvZDukOoDXst/XLb3OJwZrk56KOCmMxVzmTUrAujYj7yO6j3Ja9u+ev29xd94Oz7ipMV1IE2
BJvjSVSutBAh0uhvi/oTX2PEXtygZ4YUZ7M6dIVmNgZSZTKokmddY0G1hjpcM6KcYyTzoG/qwkgj
m1doKTxBwig0wCZ+e9Lmw+rqJECLK7jikOW9oouLoWxn1CZF7l7m2wJl1uqXPtFt7VZg4adha7ON
LOIVo4uXwZlRZaVSJ28a0s+ZZR+8gTSSScRNFtlmG90e3eIkom8D+rFQWcA/L3dQ4/8fZ9+xY7ey
rvcqB3tkA+a5zGQZ95wByZU6qqVWnBCKxQrMVcUih2ePrqeGp54bd+DBBQwb8NsIBvwY/pZOUIvq
1ct7zyS1mqnSH75ATGmOM1x5N9GIpuCO6TOL9NF3AWUDNT4IKv+EPLShalXnevWzBo2BklwNvcpY
fZum90+/yqOr58F9VvOBxByRUjvXzzonfy26Mx/q8auDcBJBIgvMydXadOlc6pRqXL33rmw43zvp
fCZUfnQsoLHw91usBn1igK31lUL+/8avXkTqisdnhuLcHVbr0jVzHy0d7iDoHczyjL5KyzNluMdv
gbcA6AqiLmscik44C1vH1M8M+eDyVxMQ6+r17xno77c4DtWDXR/OJsB9wq732eRdiPp9Z84Uex5b
8WCShG4McxbgFVcxpVO5Mk4p4lZYUR7iccrmhRTEezVHX9oJ2kQ3kf49Wd/DW66WIUrIjuI+MmRG
+yujRBEvEL9IvYvB8pdPf73HBgjRLKBCWI8/OwLT1lMgYywIzhigJf37YAwy9DyfvsljqwUELReY
JODufjbTDUY4RLf4hCkQx24XH2janIsyHr0HumLA2x2NqNcRTUy1FrLs5TOR+cvuLNruscvDO+Jo
7I3mxE92JKo2PpKkqobu1n2kb/0zi/2xyx8rLhAS9yBEusaImTo1QPJjnYwyq20Gn/DfPgIPr7/a
TBzbSS4pdsNIbtMmA1zot10f/H8YbaLRSmCvDuPN1SJBFOmNVTypa4jUZUn6oTXniPHrc2N9h9Wa
CDjkHL3Oqmsx7d3uJiYvhytxznvCW48D7oJkC6h7DIIPYPQq0LcOmUkwMXXdT96t39HtXNJ7L2h2
Uryv6Yu04s8kOVauvQvHeRUFbwH3qjJdizMn/k8Fx+ODhIj/8TBoI/lrrxIJ92nPJqm+LntyV7vk
vWpKnQlWhpkWfOf68cGG4R6aULukdz8ElaiyaInP2UCuN79vj4FWNtR+8DzYwn/cXNOR9IDw4DE8
2GuRhOzMGFaFmqeXtqsAXRJo+6dRXWXBAu+2p+fUN5m0h7EWFsORJE4Acg1h8r0mqlLIWoP1qYfr
BVjlXWl0fZGMDSR00jlPWLlzYucV5HvT624eL0oevRsC8zmkwyfP6peGAtHESPnCTRkA5n7t3pSe
GrYD+rObcp6eS3hJFRKa+kDqLcXAnEMVLVll7bZNlouALDc4zvJkLAupGfoUttnpWB3/oLJwJpf9
0rYZnF4+g5h6FRmPFyDs8TylbLt00Y4BaGkEWk9jT7cudw/Ex1Hh6he1n1S5k8gP1NPizCf7efoi
GEFkBQgtvKvAGf9xuIgulyBd5HA9vqrpRUD/inD4p4/2P9LP7bO/fvvxz/+Mv3+EWOTAaKVWf/3z
Nfs4tGP7Rf3z8df+8d9+/KU/v/vcDKxZ/5cffgMX/tuNi/fq/Q9/2TSKqflOfx7m559HLdW3q+MR
j//z//eHf/j87Sr3c/f5T798bHWjjlejrG1++duPDp/+9EuCT/RPDy//t5/dvK/xa19//S9f//Lf
vv76v7/+5b9//RV/+Levv/7L//3X//l//u1//OHfff31v3799V+//vqfv/76n77+5X/99Z///fri
n9+P6k+/OFHyR+g9w+UIfVUsI8hB/fKH6fO3H8XeH49yfketGUDucbrgkZp2UNXx17w/umi/wXYH
VSAwNQJsSGOr//oz/48gg0MhAI4k8OnEJvHL31/kh6H8PrR/aBCRtqxR459++WYG+H21OUAnJ3gK
iEj9OGcGpmVpaiH3wka3tjp6+ijBchYBmmTVELxzR+G8TAJp3zDRibxly7StOy/O59LOcJKYyc4F
+nFj3NJ7JQbTn5nU3xx/HnuyVXxaOdw1wLKKPWTa6ks/nLsrYYc+5/DIuPYbpFkuqG4byCmB1WZm
+UIFy0vjVN7Wd2kPlXg0tfJwkbSAMTm0U3zWg3U6erukTe1GQqr2+YPJ8bdv+sM3PLaBHnvS1fHq
wjijUkSIvS69NA8GPWTS6eqsTUT10ZVhdRmHFhYZSyVkBuF0Vqh+PCc+/a0j+NjdjzHegwg4gDc7
MdUg9m7vR9s46abCYRQOoH3k5wNSiP3YdhK42qkrOm8yl3FfsjMH1o9Fnu+z57gjPbh32wRsgTwG
LDwbyoFfjg27o7QdD04EO9BoIu5zFjAw81WSnKso/xi7fr/n6lCCTp/rO57P953Q9XaqUSBr00Ze
t6X76cyAnnqtVTwDGphTu8sk9gaGWpcLKKwbK5r2vo7ZtOdLWW14KExO6OzmwHs0+3oxapvS5UbI
qSCRYwsSNvaaiPFDAxD4FnQ7CDw53jnNlm8khccGfRWpOI5smzGe+N4X/KjJy/gmTttxK1Hp3QeL
21xMkRQXlKAqkZRxdQ/6Dd9Qrycb2MFSLF46ZvMgk10A0NWFO3n+Tbdoexn03XxwR6Jz0ScjotFZ
nQl2T43bcfU8mCv1iMBKptHRqcbWOT+yVK3lZgfN9xdPj1twPOh+/iqgff14C10JKkM+tXtpXHlR
JUGfVU3q7CPZ2UtT9zbzQX3cOSNpiwXCEQc99PWFqUFDcK327tKBzZtqqKLbVvTg3aEo+lo1NNzT
rtL7hIP3YFBhzMuF9rsgAjXB2tbsosqrcm/U3kbIOe9D327qsvS3Ri3NZWh0f7Cdhc1whFceRs+C
Ihb22SjartAUx0QckGuf6hRoviE4A2l9/Gv/hHbnc7RwyCu2+6YEE7jtWFLM8TJkbjcn26c/94md
B5LBP37ufgDCisyQOpYQvN0yCW63wV6dq0bfdLR+PZXD2xCkjmIKkj5L62A+M9CrOPnvewBUDH68
c+eUOgmHsN0LFmubxREP43wKwax3aWU+1yZNmiyFpX1cpMkswlx3HjnSEmif9TEIB/Ac9s7SN08+
zmoL7mzatUsL6c0GDI6raRFGwnGZ1ft5jhIAXsOLJqVyA+XeIPN1O0EHUIhcjr3dm7A+p/CyEi/7
/lVWu7GB6TipXa/dU0IZnEWOXAQzDzl4IC/7YAoKBoHFzewqJ6umPt0sA0l3abqcU738MVn7fv/V
zgxBrtAx3JH7dDJJ7rlOWtBW9peNC1tncBLo5umJd2pur7ZnOCphZZlU7g239Q7VhRiHPQHp3Tsn
7HucwY9tJKvtdZCELGVHBKRrIENZAgVWcOEQjKCnD33APfDaZ+9MKevUOlrTR3XTVAvUI+jeNmOw
nQWE0iRwXzh4sOsILwbWKg2qgxN2X7QOhyK2vDmzkvzHj7r4JwJmMqfz3Ctnx1jVXIydE+Rumy5v
Z3BQryHjA3+uoCNL7lTRsCs7n1p8ZlM3WeDH0QdI/8FITOHD0wKJM7lpZli5F0MEsRoWTfXWCRu6
D+AiBpVdEFc/CMgUvAlZ1e2IdiuVO36NUA2kTBAUWDhD3iqYuvm2VzFRu6dnC5ieJ0ZzffJYrhs4
dTb7NHbnT0mEZ8r6JJkv4mhxyHaM8N0zMcYyyfQg5aWkbsoLwG2ATulCIlWeqthuRNwN8cEZxTWP
J0w+pso4lyYV11YOwAF6fHY/grNdvu/r0tNQBwz4WzGP+m3lGlrUlWq3aOe5Q44j5piwRzirskkl
TZ/NTUXELi5Z8sxN9cDzlpRQTQDSFJa+s/WvR23mG6TEvt4sUpODnMcU4R3I8MtG1tBMydxGdLaI
EQHvYlh2eQX4WfqZ4x+5YlPSJLc0SmtYv08Vv2REg88GBhmkKprRd17P4SC+kNSp7UYRUOqvANuj
byOEbZdMc5veGNJ4myi2YZDzqKYk64IB/jJwZuJxTqqkjzcAwlBQ0Fqqdn7VxveB5i3Dm7XLF6fk
zseJM7LxSyeN9qC8BXd9utA2gwRLeDXwmNzPI6RFN15Ysg43nZuygHylH2Zg4gHXTsrJyUiF10NO
DWTMpk6DIQJfkOaBo/CPflvtdSAvpLugCtVYdG0zFfeJyT1f8/fcDex9wGpxK0bTHfpGql1EfUdl
YOph5KUJujQzsqvmzI/Die1HqKY6ReOTYcKHNtFuEY33JgZbDrZ6nUihlOTF4jbmCXEuKhWNn9s4
kl8m3pHLoU86DVbYCHQAIe0GdUsz5g4bVJ/3jSpNXkbHupE32PQe9n4YZU9M8nlTN6iNRp2ftlnM
6viNs7AWuq0j1EYy+AkL8ISMV7+ZataUqEWz0NuEnQBlrvKpU++JrYI3HHTKfZCK4SVvOH/viTj+
WIcOVK41bYHm7JUbfySRWZwtTGxhH8yNb+ldzIKmz73OaSuIxaaI531gHZ6HdV2/grs3CKMLpODd
veh13+WBp9xtKUUTHnqwAg7AbzvgBE7DAg2WESXG2rbsaoxQUcsCx4gB1RJmQOhNJ3wZW7n6LlRY
91mj3R4OGmz0X+jQ8WnBlB+SzAMrspi66MisrICARHfqMhpaXfBgKTeeV07gkw61V6QcyWlWUr68
hRRQ3+cVWYCT9VGpedF3UQP2ZDg7fOvqTuUTyJG7EIZyfR5WRN1RD/M612WKyS4V/RJVTYcCD3yh
o5x6PNoMrYADVaIh4OsQr97ase/47aS8+IWqrH4zuE4HKR8IW9EcU4cCDhggGIKkBL8bq4pJaKzE
5EOLtdbDdGhIXpS6a744wRh/TKnxVFHNJvrcz0HMcq/Xg5+bXpuX3Bl9nh3ZvR+UGVWVR2PQfG5p
yOE3M0qeUXcOdCFDa8MMFevZy3pPN+97uLfcaBSHXs9W6y18S/V9PLAOCuclDQ4qbctuU0ZO6eVl
5d+kY7qhFlxhcM80+2Jp1G14nYIJWkXdBXpo9l55NQXblNf9+wTTSWRV7Q793m9rtECnKpCFbFOU
Qkdtq01D24updqtDr8rByxWHxPYeeo9thqYZt3sVysTPS+0tHwQZOrWfRz4vG59y56oclwnawQut
n6OSb7Frqu4tSIRzfeF2pXvNdLAcel2pJAu6pH0VjhwDr8mcXnn9ItRGDEcFK2caMM9LduP1WL4Y
yH4f9ZOFxXTUMp0TAYUYTyZLMddH/mWjYDpi5lDV2WAJ+Ry1Lis3tZzcjzV0kTqoU7AIsgTE6g89
MoJmm3bYPLMu8eCJEcOP7hquWGoBsmWIp0yojmcDPJNxWFJwlCenC9+6RNXvjZyw28rRD+qM1D3r
slgIzOfRmLLEHo49M2c9AajararoitgQ6/DpI/BEwLT2J+inQEe6g30QXnbcwpyYHmQZoxu/BOWZ
cs0xxnwkYlpDia2uR4h3t+0+FvOwm9Qc7Cmf5/3TL/Ct8P3Y5VcBP1v8liyJ3+xt3cqN1wh3h3AC
1fCIznko2vGFjOS0XXwQ3VB2CHNbBvGFHhAakpZVW+FFZZFG2ss4/MuyCqfgNlw4e9WZxNs5vqoL
K0e25xG4aBhCnLKTWC76MB1v3IGH2dPvcSpEX6M6LJ9MiYKz3HMNmpa7RGMWcYcV3A8h97PM3mak
7XG1kfHQIwzdoakFintn/DOx84kUeW2EkSCMq0XaM2D4uXvLTVhe26njb5zeWbJ5qseC0YDuHd1U
kAKm85lc0T8RUf8kiJHM0oAzwfYl5/0nHkwq2jKo9nhVMnVXOqjjKIuoLvvM9PX0UkXhiKZHfTQD
AbXU3UHhKzDZQsaEgClrAfDzJgbqeghgb5aUYIMi8x+6DPxnM2/sKOm9I2uKxB6KXWQTVyZ+C+s3
cymnpMUZHAYlNpCwMWdG9tR3XeUkDYSCWmyu1b7SFopqc3UsFHVQedN2GiMIdpUR8lT0lMKsccvm
UzXy9mzL5MTaW2Ury9A2Kg6QP5Amrt/G1M6b2RlswTvenWmHn0jt1vLug2XJ0KcjR+QG0QDu1Lsa
Xb+8ciD5HczJmY94Yp9a+wvSZGEO7TuxZyYIr+hoTTHUCL+nGEHm71uBa0JbAyUGRwZW7oNoqbbD
VIW5ZAHq3nPrJUWC4ye3EZ8B7YKoKDxjyGFKF7TcqF9+PvMIx3z4kc1sje9LOkcRaBFKrDLVHrpy
nnc+JNOeeUIxKB4qQD5R0H0Jc2SN0kYQXXP4N98tPYjP84g9tStlfSY5OrEs10iWZqAME1OJvYOw
GQbMrshrN5qgztA6uVe3fJOQ2fy+mlS6qk+gGpYIrmi71ylsHSB0BjmMoIU18lC2z5/+tqdm0PGT
PygyqtlrEzsExyIj97c9+LgIdoQpxFGK4elbnDjp0tVK72ayGIEiN6qK1s8CtGoL6E17Z+jEpxba
ai2n5YRaQBI3+76PhhwKp/ftUJPLUU4QgZ/pOQ73ie3qJ0aLmdKmR3a/r2y3bMDLnm4kda4BA1+u
aidCMW3G8o41JFJiU54Tuv0mtfTIzD+23x4OT2Nr6wFnDo+a0u1fiZThhWKHIzNxYF/1hkGHrco8
l1MkvRNlBhIvZRtkiaiXIS97R1wpOYxzVpZMfGnStn3VhkiEYSJvBmfHWyN6BHTHhBqm8xW6EhI7
fhD17W7u6ulZV1vzJoH/EIhhQ+MefB+9iqJMQiiuBCXCzR3c9pCbJU5PkEGk0Kr1RNfRrA4HFUGv
ZjR3rNTiVTOD1A5cbt8uZ/alEwtx7YpJoHc0ECn4vmxRBJFi6bbdqJarQKYjDCIEf9NDEevMJDtV
9Dk+xINVEntT0LUQ5d8Lf/kcBOpuWbwR6Qu/kY7xdmM6yXcQjjjHzDsV9cSr6M2N+czbFC2qRldX
oBtqaMzXIAlWaZklPuu2GmIFW0nE+xLgpzckEi7A1cr+JsTbP+qSaw0/4UGUYLFc7MMRlSwAumqI
nS7QVK8l+028kO+3WG1tA1ouqTVNtUcrTh9KBqFXqH22l7jXUjy975yaIautbUkbUXcaltEqqIOM
ThCNwR4hYOjidQfbG40EMPxtdJrv77Pa5BqIuiJzT+keueOYp5MbH8DbJvlk3eRMJHpip1vjOyp4
VS4LUiD4VSXtM2/pHMgPwXBFKbHsSmXOzb6VKtb3d1mV/4jqI+sMCI+8Eo62kHMK8jFuy8Jrw3Db
OIFzrdNRXIyuvvWw8J8lcV1vEq/tXunG9963Uw0J08r73CDFyJrWa7NUufd04s3egJlZdntZ9WNW
UfF6YSzeLkrSY5Lc5JMD/vSsqdg6g9pVLcRpVVdHG5O6CeoekMSdvegjRwkWGS5TyD4csjctDTI3
OSrOtAiALGBn0IM0elOKAccxn8Sl0OOQj6MfF0tcvksU67cJctAzE+3Uco1WuzSkglsgGXxkAWmH
dJ83kL6c1RDnsWzjopfoGlSD7+6hGl5uTS+dt3TsdR7U0j2T752Y69Fx43qwQbUmrskSeHQ/1gl9
BwnH5sXi9zKHkpCXG0cgLYe2sTkTkPknArI1ejDpDeS3ZkH3sFh1rxOgFTdB2Sx7aNgPhwmunjsV
jz6yxtEvwgQqYsyiJlj7JsxKFpc5uvsvSeWQfKzFkOtocLfhZMPNCKXgdzFaLccWIeysfOkXSMNr
uM615/ihpz7Vam8lhoxOwjTdJ9ZC09lv3Awb0QxmffRaMcHuFokCx9Nb0MmZcQy7HozLPFPB666H
vDUEhfdhMI87V6r5Q2Jmc8kMMxcmFuNlJavqxSTqNodO4Vj0jJ172xPBV7TaZ7kgjDmuwtsqJ4b5
8gC9NEbP2Xuc6sSsAcv9OBDjU7QsqEdRvvU9tm+XadgkC05hYm1y2TnW3/j1wg9D1CeZB+DwmRTr
ROi6Zi663sI60yGMcSMJSIO2TeEKzoqp8c+Jop7YctfOpCg6cXi4O9U+mWf/TVD69tody48wGG5M
jtrJuXrTN57aI3FetNpy07kBnChOqr1IAP7oiZ3vgmmpL6dBqcJvS3+XRtLdTrA8K6BIxmDVo50N
ixlCvrjjaGOgtp+N1pk3Bs7AF3PkN8UItdDf963XPL6A0kDNKY5rOTT8rvRRDvYWyMKyIPJePb1W
Tgznt9PowVJhc9rqzsC6UFWC7JSjTV65aXQb6vAcW/BEGLd2uB4n6dokYLjFyMeLZPKAw3EE2fpR
TXYwzIJ2H1CGG/SMfpsf4D+O0nC12Th10C9dqtgew6cg/eiLC0zZMQ/jrj4TSX3TaHpk7qw56IFV
1ISSoEKVONU9SrBAUpLBfyaHAWoSFCqNc98aqEoO/QFN9mrv26rPI5ou2yFpdGFDT2yixIb5Qqws
wibWOYoIqhgGey59OrGQ1kovmvRqQnOIIX0CB59MkchnnszbNkaXJ2FLv3t6Ep26zyrmK+Pe8ROK
/Xvw4HJA23q+XFoC5zOU0yBHOf82IePv47oK9wjUwtqujxiqt3o5SGN55pTE2QyTrM8kOCd27jW2
ukU3UHkLwAnGTOVmUSS8Vn0zb57+UKdW22rD8WJjG8z6Zj/EDIRJOCdvSh8nRDqja/+7bvENdPRg
QYu+VYGWwC/xhqKnBAT3zdhBOjgm05nj9cRLBKuoByaQOh1miZeoSAoiXguIWTssoIFCrvTplzgx
odYayE7FliPlGOa3falelaXbQVdGeIfYHbsMUFB1ePo+J6KSYLVR4NEHq0XA98BZvojH7obyMYZC
jiMLA41SNw7Pqd6e+mjHf38wLLBdn5ZpRhoRNugH+A1bMp70HqoIFTnz0U4BCIJV1KGo38DDzvA9
hy0bonpbXrgQuM+5afzdNI0qh85XdOWjvLBhwoMyLWSULoY6TTYySc/G5acGb7UbpFWEsgB8CfdV
23c2m0iqxhwawN67sm+7LvNnPhyMX0Jmpxr0+xokgneRHrs2NzoMPqrZmS6IiBoA95FzABonkUak
1EMB5elR/zZTH9m7g9U+0josQnoPzC5cUzLBF/fFHGr07rnd+oMYNsqi3AroIUC9cZvCmmUmOfrI
ekuonrJQRlEB6NZ8wySGcZJhg25v0r+GSFG6U5EPu+a6tBtgL5eiLie4S1AOR0ZRXQ7TeNWbesza
o8mIDmnmolt4ZWYav44hG7yraSC2mg6XGMF+BwI0KUJG/RvrjgVEtc7sESdO5CNe++FklF3P/c7D
REH/3z9wzyJPIRy4W3dAsrj4X5ylQ+4+QD326S8OKjUu/dgnX+18QGpWIrUV308LcQF41m16yfoa
atYSQdhSWFfTXZTKmORd6dTXHmuNRuEe9b1NEDFWIH0EJOWoQDXkDCetlyVgd/T5xJcmG6KAXKD5
ZnI/crZmoBTVqAbfNneonN7Vcg6SzLROuVMiHQ8+Q16Q1ajBfqoMxJ6zCqf2s6h3zC1gTcELGXj2
me7j6FPVQ2WsGF0jx1yNLL6e0IZmGVGjrnIe+OVtTZyoLYxDpucUrVVT0C5u9dahH9Elbdq8hrb/
TQOJVmA/aoEehL+AIRL4HS/IonqaRQHASsnsAqHO0D60G49B4ASGronc68WiK+gkziILMnsi2ZQj
pAOz1EnrzzEKOYVNIicpmA3Gt4Nx2ftUpQBSwooBsvuTG7kzHm0p37uetq9at34Oeth0Ec3or44e
ue2oGdDKnn2ahUOlu9zMsYPOwpj4VxCsdd1MulVoQIEd0Y/H+7FPWkrvquQwZ8vjQJf6qAs9bOO+
rd77yTCir1lyQPUiVstqEzSh9yZSvX8hq6bfVFU6Qqi4blCqgKh/wDMxTYOXp13Z7wPnaDM76TbJ
Uxxd1bMau4GXg1HEgxy1cvu5dTtlngM52T/nCTdolacE6qQAuZCPfTnKIF8iIvfUDUF9b7wYXCRU
imsHaC06TDeKOPJT0w3RGzkjC82cWEAINllgWZly5kIYx6/E64lVEEsAj8uWhV6m9CWowBYqfAvt
PnA9Y6ksQi4t0IqzOXiWBzpz0U3PgUno/S0gOhpTevFjtCnRhYf2RuRMb2YPqmsXzDPpy84v2RcH
0Ce2a8a6FkUCcd091LN5lI9Dg7Z8OAOGkYVTAJ3qLo1KmcVU6RDsrnm6R8bRAMOkWc+3yEig6LM0
dWh3YgrhGh+YwN90nIZhHlUJu55itnjI1Cb3bqLVkuRtrNKM+aR6SaGjyK5TrwE9wu2sGxzMsrhe
JmaIkm3amgC91Y9O84GpMO5zqxV5NyVkW6aoe+edbeZnKZmhKyYkSXYGdnFBTlk4QY0b8uIZ8+R4
NcluFltUtfq3s2H0/QjpE8iFwxYUVayK5348uuTCoJ3W5j04b5tuQhv0YmKeb/IAlY47ndAu3SO8
Q+crHUBI2uihw4Bi9w4/QCBVv3TKEVxErIrkArIK1uaiadwxCxKX38ZtpN+UuofAdxMPZeanA0Rm
0U0iLygbHQG8LfqhaG2TgT9HpbndNdyJPpp47grMBafOdFkvqPWJnr3UTZl8anUEnTOP1xafhIwj
3TDVtEBJ9+gUbBXpFopdu+yu6WSZ2AaOHCFG2bhznqLuEeWLICW2q3SA0LkC1QEC49UCcW5XT+Le
6S3AYKje1C8BiXbCzIoq/ZB6LTJNEYf9AqrCEZ8zRmF0u6RHEH8rTAyr80SVcNnSQ7VxSBkt2x7F
xBsJC3ED7SpWsUyQxcNW0xkH7BI5Ak6m5exs5sDpvEIGYA1s2iVV29Atu3tQZgD3Nm5yJYJJpFto
BqhPxkBjEBp6ybKdGXHR5vEg8ANeIMigcD6QaebD3BI7o0GdPFDTtQnHlGW4Xpr7tqT7oRy5f6Eh
QBtu8OpHs6VqkJ/A5p90UU+e3o4oOr4l4eBi6xJqxhfqjUkPQQh8VFaPEd4A09dc2kVQGK97S3Tr
whiZZmRQ06EOLIeZFWHRHVZ9DwhhRXqe15jJM8QI0ilvl0bDVhxV/A9RZK7Tun9F3ZgNBUybyCUM
x+jnGr+PmQAwTxbDZe02rJPgY1lRUCXgN9INGY/96EABr0+2QYV9akMWhg5sA/WSu86Ogm1b91j1
tDIJs7jHgZpVnTYlQh2FvsHYiLkghFP03mvP6zNUZ9w3YPr5cq/q8rZnQXJbB8a7Zy26jYtwqzbr
/S7GVOSSACeA4k8J7FUTXkl02zDRuwleMa6MwixUnfc2aYluN9EIqBGwVP0tlLvVtWXzSwAWj7AJ
wpt7RywQSkTJdvwkbdzOEKqe4Rnta1G/k0Ti4VomZi/nZThcoMJYL7mHKVvMXetMsApLXfiHKaGf
A5E2Pa84se9oG47zLlWB429iEQ0qlz2boM1vJJkzHOku2lMtdfcNPgHM5mTzwbLBwNWuqW+6QKoQ
UDG6QJS7gc9PYZ0SfpIxJg4UgyEim7UQt6O5m9hK57BdYMEOBorpxwpr9y0Cg8GH5r1FCJPyER54
s6HDcsTriiZ3SXlUvYyT8hDqBsU+dHT1FfraUQYgV7BD9dzJAFi7YmbomsxG/vj8PxCDiYGoId2Z
htevgdfBo1VO071+OiA6EYF9K/E+SAd4iV1Sg8y/4yk2K495H8NJjrcEe9ehhh8Cmls4aYzQ50yv
TuQfa+4ztk7bVMcb4jzq7gSAwF+Q58aHRLKPT7/Sqark2qlkcsOxCiMYwCUGVbEmCNyirSuxjZk3
flBxgga0MrLo6nHYM8ANC5jV2g9nbn4ivlzrK7lAicYOqng74033FOz7fDYVyCxiCnKfuqbwTcQ2
DsXc9rErH2Q/uZdTD3naLhRNAUMrZytc8/7pxzkxvN/Igg+G1y5+V3dminfu1OLYgXnxdlia8QYe
i+0OwEWZly7TW4og5cwdTyRdaylxHJtKxL4AUcLh4pUPnlAR1BYxBzasA1D79kzd68Q8Wkt+ee0E
60F/SnaRCptNJX15jdjSFJ3PxN3TH+/ULVZJ+SLLTgxdku6WZUb1hcS30s6AuJbLOXTNqTsc//3B
8Iz/j7kzybEbydb0VnIBRYGksZ2SvL23crm7XBNCLfvWjO0w3hJqBw+FGhRQwwJqVouJjdR3XXiZ
kkeEHDHLREJIKOV+7yV5zY6d8//fn1eG0Bge7RxPu1e5EDd5aQAcsBf9lcbCX92OF0fxrqpLZmYW
A4CsMzeTJ6tTMzfGFldoszMG7zWm8180MF6ycOJeWLJNyXRMivQ9h9gDkBG0xlX6pcua5VA4yn1F
FfMioOSfzbfnrsMPF83pSxhmaZ7u4wHHZteUyQ20vPGaSdM5FEc6e+EMqFNlXl/iQRNh0yfGxkzT
ORJsHg9+6X+rpp6aJVPFxRjPxkNeTQKPj5gik5PRxktQL0BiWaJkUNUGTbSzMcvMuRFqbrcZRNvA
oS+NYq12D5OW96FarGqjMYXcdsaCfN03y+tkNbKdcNviMgYDEcphmS5GrQV4CuD/UJUF4+ESjghb
6Lqpp7zaFEjVI3dAKsFJVKEnlMtrLZnzifpPjr3PE6ofLlqXlDkSulLbdU4tDwZ15qaZyzTCxCgj
K7byqPYWjLZFoR1lpvS3KUyvqPTgsf/6y/QCGvGv2/bi4F2YSWf2cUWI/SR9EXnGWl4zJRR90OOm
2BF21pmRp0rfQG1I3MFojlXkzM6w85p25ASxFAZ5MbZ95ef0p195W3+xXL+EE4s0kcoisHDfl51B
Yih7ElrO11IR/+L7/ZIwMBSG5s8x3z4bl0DYlKnPKXtRWw7Br8kcnjfOP7mzz06lH+7sgME3Fela
7Hsh/IibumzbhAY7jIjkc9yjz23ydcJb28G9r+PkaXBQHOeznpPStC7H0uRgF3t9slsnhRNT+vFl
nAzZlmYFnszEv2mssrwtVPO5t4m4euVx+IsF41n4+sPbTps4qQdYESjPVrWZkO2Rr1NM2+827FW5
QE+dz7PXiYtysey9nzGaMTPdYt/2/Bth+PMVElm+erHl31kpiUSm9I1XiEx/sWyaL5Z+L5lXa/W5
qDHs9VvfGRBb0CsNTX/F39a71v7Xl+GvrsKLDaBI9KpIHNPdpf5y41tmsyt8OQSuY8cBN3G3Jrga
fv1Sf/WRXuwEMHMGo2/MeKf383ixoAsLOStOW9PT8R1i9vh+6f4W/uK6/Vrfqf7rV3X5sX3Jt/gJ
iHE9fiX0sf/6D/6h/Md2qL98VMAnXv7MvyETA+DEDzfgzNz4GYrx2//4/bf/9/t//K/ff/vPH2kX
zz/2HXdheG/gVcBKIteLeF77nLPwnXbhvHEM5r4+PK0zdhK82T9hF5b7RvcBbJ2D8oBeQjD5J+tC
2G8sfOtnKrXjf6dn/A3Uxc+Ppku6GKArYE4W74/oyT8MomyKNuV7yDkyNZ1yV//IBMcIS2WK/Wrm
MkxtI31lzkyuwc8bFZktADAhPJH2RxkHIulc0f6wPpgW0hCLXjdHNiXX+3bCYHWoUNi4kR/n/hCN
o8ydiyZe2vYqz73GvV6n2LCDwkJneMprze6PjOyJbxNjT8BOLF1jDkc6P+vBihEptFzbL0ZiGjFm
1aQn1Y85UrPFBb0QsFY2uiDvvO/ao441uYEfmLf1Bu0LPZCiiAXJepXMCO8x28ckGZYveHlFF65S
z6Kk0P0OUrcc348FbO0tTbHVZPVIp/4G22N75+AMiqNxalfnaPgObhpblrE4lKtvvbcJFEx2muek
C28N91UOQwmUzYaNk89Q5/Slgq5wxjxkAK+JNPCXApr2XCzZEhlrn7mndByplCKFhwrGV99b00HF
1Vy9lX4Wm1GTjP6uMpAW5uz012aSeGnImEl/qir9mgZQKiNtTabLNpP1NqWf7ASMjtz39EylFdiN
tJqbGG9AtS05PWl3UohF0E9h5odPI9bNwHPyOd8ZqVE8TUbtPM66Fm8QZzj0BDmVPHmt11/rtTd9
GqSVYeywCy+O4mzlgzaYY9sQL5NZfeLcXU0bCy+xSVR1CqvUo8rwQqVVprHXC+AWQU+PJRq0iv5M
1umFS7hcwjE9NsXdGBeuvRV1KVri4hO1SVpLbdZhKgWy18LvhptsWcbxTrKvnP9J1T3pNl4ip1uW
OgTxZpEZP0M5yjPVXBVSatbRa6rsnWs1RrbNEzmBsZRx/lmvVOfRlmAyvCm00nR2s1BtH3brapHk
tFR10e9WAhbXNFw9zETXfa6N0xecmbMhjj5tonoNrGTV2yOh5lWzVZaEZjwgRJE3zCjwd42of28K
zeLejxaF0lZlpQlxaXSzprnmpRcasn0c18VGc/24vymkIYqbDh5+sYuXam5R6nIEz3dKCZ4vw650
eTt3vZaQNbU09TBFk2mK6UbvSEu/r1ozLS9sHnueQhoq/GsiTuQgdFpGz3/pUeeO+9k38yJKdZ/f
HK+z6xZRXxBqJeC+ojVYA2OKsVDS96mT4WAX1MRoZrXk3BKrHLltXSfVHvsu5aqt6cjTDCulfUIj
5YgNGPSqR+I88KnJfOb/TNrWu63bmmnGMMpOPi32zPgrdrIGyZkguW3yXMqZYUmQJtdgA3pIfb3S
dwxbjOJ+LGFXRPSbF8K+BsIVH1wFFOZmcqy2esfWVMlNX2WsGwRQ8kDmPkqqKHdy+S6zOi07dEue
L8wchOd+Nh0/d6lVB6nvarervyqpZd/K3vDfKrNpbYK0PMasA/jALePHY1EYpFUmq/cgAKP428mW
FqmGmXvVDIZ+2S3lPiVrt2MUMLNQhmnX5/QNFivIDXeXSfeAA1V9GFwKOcMZtmti39OlHvd2wq1S
mHREVyahGgf3xgcpcNPZuhYOlZfpgbNmUEvQ+D6MK87pDfECmXvrmPW7WlTfuubsE22y2T4L1YzD
sI7klNQZiJ4lE1cpi3EZdr413dUGC2HJoOiLiXubA4vu3JZNBRcp67duYj+OuZ/RREstphfGQ+s1
Xyvu86VLSzhKLWOvYfTZLV0bH1ChfKpVdU0YrLcx1ZRGeqzdabmfk0fi0qY83xh/wTived2xX/yo
0+Z78Ci7VunpVqYZ2TvZ5F6OMj57QcbdQI9dWzJj40sjC5yhuXLxp1jv8YczCB4SMOR5+gBhY5NZ
6xqWiak2YI5iZrBZ+95IDBEWqNat5eSZwjlHjx6HlVO6nnZH5fQRXSvrsPjdtuzji9X0vID2M2OP
YT2hkC+3FTQRWvZUy3o3FxiR1UmokkVsyN+yg01R3/CVTazqaLYso/lK0gdo68fVXd4JAJqBqmp9
n9KAh8W29gcA64dElTLImvUijscP7cp5oq9tjPmdpTBgO83ZEO2Fvt/3QTLQTUTXsfoeCKchSkzx
xfR8zuTlvs5MAMmyWp7Qx+KTjWnKk8jJhG3U621raBfnAFbh59vGrlbGsaRQrnOvMBHQp7bQEOYp
Tm4Cfbb6KLzbTmfuGAjVXVqJc8RA4l8NsQ23ciSbtOJhiv3hcRzdWz0nqXqQ2YXy7f3ogRDwi+TK
zGIW7hnsDp3PHf3yfCMKczksS3ljaynKc0kf17Ggs/laYdOnlmxUWlFnB631P+WjnBmEqyyvQ2t0
8OToz+6IZJ1ufW9mQsLas7Gn8tboaTVHidK7gJQINZKss9QfJ7WyNGmtW2lRO4/lJlvPcy7SqLtN
65QTXbza3k+1k98vejxVvNUEq7nRY6YLLCd572Oo56uxUrRrxpC1UUrz+tjHc/sOY4Xx0e+q5IOv
tS1qYLf3i40Bl4uVY7nuZVtHDcy+96AWjKOFW/5jGsve2FbpskZDlWPRXVB5D3OfRIlrF/vEKWIa
G7lo883Qmd472RJ0i+J4SvHdrpa2kUTFbxg0ZZfIq0vWxmSF5zWP8mlOlbHv9dT90Dpmt2maMrst
qB7ZJkh+2jqA568Hw/+o211JA0SzREDnpix2hpE0zie78JVx4St+jJlXguGkoljQoVeO7Q6O1QCY
YXDCZNXS685I5m9+l5mR3wAGIi1Zyx5tr13DwqTfHHZnk3g0GLak0RF3ZraxcJ+OkXRi2g2mXi6k
/VLSPep5qa7Qq05DWJuoAbe1Xui3SaVmmF16zYc2p1iL0MpoVxVhxpRcbe/uhrEWgRz79LrSDLkj
MdT9xKwftZ8+6UevKNzQdxOx6SUqtzJJ8zJ0ZuJ7zTmn110C5mHpdToqDN++dVtb1ojSVxE5TOq6
SziMWVimo9sxCyDD2O6L7q7rlnVv8rdzCLXVOOjZjHTZkPAHliQZP8MzWHZC5sb7rjWwgA9rWa5h
bSHFC+pySPdJk1vv5eCMm6IiZWibMMgHJ9Vl+oM7+bvOt3PAz53aMwmpDnqlIznrNdacRjIAt5PJ
ujTyzj0mZtXcebP7mNEli6QcDcT4o9wXuOivMjLGoA05kH3gukFzKMyoF5rxrmc4s2GLrTkS1m24
dvO0I+5e3GYlFlSLBXTP7Dw/ZKIptzGFO8sh8cct2+HJ7bR+Vw/Cp9gpx4PqB2AnWeHcYtlbb4ce
oUqddM5J2fa3WZ/LQ1ueF+HOGxmLl0PfYKBnVoTvODEu82LQj0wk1ivilssq0nwG4pskrqrP2CnJ
qcjlWB880tCuVvjrQ9PHO7fo6yJMaWTx1RaqcN8q7AtpmDh5vIP3oSKvybVPSynT93rPTCy1/bY8
uIbw4707Gn4E79ULfK0igqt3mpN0MdvMjIC/sqdKA/uCmnbuNPfHBTvw0YMKE4ppsoJqsadblp4B
bmWa2bsUWhR1b9oP+9UYyx2Kh8ELW8lkTwkaMYXM5iMMCG2bm6u6VwLQA+gIbdnnUs9PKsnVlpgU
8eRz0Gm+Wk3s6KEJ22U4jc6qIHH40wM4cHwYbeU4YPMsrR2DxY3VnTd23qXoXYNyphzfcqLEGrZq
7rTTY0SWqUcURyDLgcV6sRh2IaiQ87sJOM3IF9pLvzmVziOdV4v5IXGNswbASYoQNYigH9e303bQ
SiMLx0n3d5BLPLyWs+dF2I+LsBPj8qmd0JJs/SId07BnYnbtTGR/HxmRZv3eUfjN8WknjXuSq31b
kpmCzbdAsLfrx949poao3hF4aIVpWckjYrj5iDwjD2Tj5cjC8s9tp4wuWglBv7AbX9NAE6TdrTYv
0zG3oXv4vSjpEBH/XehFogVlMhnb1ZJxEYqRRb3ROrwoJrHKCwSLMbE2I+VOco2lDwPK1DreWZTq
c7hh5B4w7K2ynTm4ZhTzZO5J//sox2Z5mzmqLLbTlEs7ohRTIdPO8nKKa+0A3Se5GFIUOcOYPYCR
y05nBsqJwCD7asyQCvWsmjvfQ6AxDnZ8abGKX9tT7W5ML9OoAZLs3p66OnS7Nd00i5lejhyxI5kL
67PHxPrRRnl4MffleKvFerGrG+8enkd3gG5REMtd1ff93EmYqqTIKT2RO4hCzT42zT7Zsga1UVEP
EIQq3WnRdJgE1CmTjXrxdQbvWUahv/I0D+7E4tTNb9dxdnbIBig0sqZL+ygtYzmcbA6Um3TpxkhY
htEGGVv+bja78aDXo1AXehpr23O34+jVjipCvjLaHp96s0U1Mgee4OV50YwKsfVbAlnF0NgPDvjK
MK45d+cJ39rBViab+CrPp0qjCGLctjuco8lNPDvOtrJM87LsavchiZf1W+5rbg9aSV+v4W1cc4CU
ftjxbjd+OVohwimodQWWSGyJ2uCf4pxaUXNUo588r87ZcDyLu9VmsGv69a3qcztSBKWAFJi04oap
4egHmoWhI8T4yAKW2D7GI1cYZLyXUzOHvUuGhtnliAbiMvuC13HZIB1qt0uaWT3kRS1VW/CGYgwb
+9x0bThmniZ3crUANxPpyYpxwiKrGOZaOYYw0tS1RXbuJ2cZ7LtlWtZjKSXkJH2QcTBmg7Vs9CU3
zYAwNyQOae8RmZ43ehHNpkgeRVJ0YFoSFdS9Jd4aiAw39pLEB7S42bFudcEDKcvq3TChwQqdGjQ/
wpDG/2azFL3TdfdrlRBCV48JRXBqylGE3HkfpwEthEekDD1DzLwVn1FKuJFQbHCUASXnzzk9S5VU
0Z7S1SwOEh4Qnq4USGBResmmA7sC3SfPpoD+e7PllWHoQCBimh+fJWCDiDSkmI9sbtVBTr24QoGm
cFB1zQKTz29x1U91eYeAobgsCcyANbkUVxCxACK0auXqeyeX2wLpuC+2nVhmYxOj1pYcgHoKhR6v
yBeEC3I70oQWn5dBFB/LCqBTkCwuWqNlPrZ22+7yuiavsEfNgbW7zw04hAXBHFmVTLeqj90qKFO3
mg8DspS71Z3Mcd+aqn5UJCf3YcM6djEVupYFnKbPWluKqVOxdHq5XUvl69FQZMXO7NIuCxdIsreA
0jqIM4XpfCiNpESLP1dVGplrK0kZW3JV7l2zWI1tqaT7aWq9qYPsPSGp8pZ1FodUpvXHsgZOr2vV
eo+cEf3F3Gg+atKJupSrl2r95USwbxKCXK6sU4Gea0vmV/qYOi3FD3uovu57Ks5vFGfIaho3NQnE
RsB/aUqAORGpx/31LCrjie4UggplT8nJzUT82FXuu7OigJ1jks2XiWFWGra1350lR4v8WIA/PU5p
zXE8fu5v2eXI/670tv7MvjCSEUJu160njLEFZuD091kxANExgYOlYUfLZb+mHe5mhfvnqHkrYj5D
n95lSnM3WUX8nqn7Rvo4tF55ZJhaGWEf28lH1TY0Fs4cH05KMVQs7RGOhygPg/Dqx9ExK3ubrgbd
NU25dAaKJZ2TjeFKAqV8JZiUoTbhz45FnTZFCoobx6qRfZitkg2mH6CmBClwJPb/KjXn0Oxtoz3G
MBTbsJnS/jM/TdFvj5QaRlG2TyrV4lMt23ji6JDDCt5wduOXtDZbVATXQR+3ZetaVPaLLDcW5rh7
z5BryM7EP+M7KXh4/ZF4sERUOXqt57+HJ3j+oOfeCepScUCWdEywaC2BzwS+PMAv0FE9FlPPbh04
cTXobVjRd1j3sHZmWMa0BtvmukqQ44amgSh5CdLVwY2E7GdyzaBdJtpODDa1detWTaEFzVwl8sZZ
fdoziz+3T7Vln2eLwudXTF7MnyjVzOpEz1pv7jHdSdPj+CvKe4wa3P5e4ZLB+TOwC2l5ufAG56kT
xaUk8qn7VNUuLZgKJQ7tn+dWDv0rLpKpwKnR1+iz8iIFC2NHdefGzcavBKhXfdL0OXQInJhv57hr
nzRb8AtMO+fyfe/tiJZ6+aQB65PbSercAwfiCDgqgViNinTqio20E8PZwQftaHlNvc+FGoqej6TQ
+vEn94nOKxF6zbVm6Nx/Gm1GdepApcqn0iXrA/FnvDb3ujmU8y3LZZLvkBtaxaVm9dyrlON6cVkt
s4XycvHyobgyWHqqi3EohkcKf6keameO+3sD3WK7nRq3OW9oSax2g265BDZ6aEcuK7nyRvupscsr
//mjoiYbIPDBW+sILFKQf7pZ1ld5L1lRRt7DfEIK3fj0tQRtO88RsRVCYKoHvGUNH3EuyWBgTDhM
yOdbRoTZYDdnulp1oTkLuv1+th6y2UO4NHj5vrKNbVG7a/XOihGdBP9NN9OadhsOrkbFoD3RH8Yr
m10u22trqo3mAITXfvphvnLzfeT5jx/Y3D8PuFxT93zCki2PL7oJsvWl2SifEvKsM8FTa4ruuib1
26CfMjpz4Otun22FMVTqlbn680DwX9NXXpSf9U0YjmQBMZV5ySOgmIZDTvEEgkxrn+jejTrSGsP8
2nO8i8xhtY+QFzrEo6MGTrEcak3bLmfkqJqK7pZclrwNEXvZkDLBmNSzXm0X0dkfUAapKbLTiaMx
ZjI2+0WJuubgojzUmdp4h3sj3fpGZxxVoxl9RJhP/1peyM/6oeeP50PmxwiEkRny+ovh4QoW0WD7
WALOwBnPdtMfkrToIins+aafrOlSkHwQwuh5DSn6h7sJmR/JriDOWRfnUdTPc6COr9qYEUIfjLlJ
YVmU5KFoSfoV3hoHCJ8J1Gt5Ms9alZ/vJUWrR2LheSBn6C8ddX2dQY+sgGwA0yFy2xrhY+A0P875
ardBF/veRQXt+VqzxxZSbe8H9O8lokB88dpWU81kBGkqsL78+sH+WUVwvgmeQTuZmR/TQs90X1yK
uuvNomNDD0qcqDdeVc03edpTLvYooV8bE/8siPj+Ypbu0t/0GL7xffr5uvsLQarQ34dgxO0WY0xo
BTC4ObFeESa9/FCGCUbfdInO4Mnyuew/v84yrnnOd6rhyynpthNEnpVQBFNMF7Qy2Bt+fQ1fPsi8
nMlzZAompMwBXjKY68XIatYjOJrPG082Z8we8Gmfl7+4YNEv5XJuQrEx0FlGTeRGv34DxguuAvNa
nimGuqZlM1J1vv//P0w2s8nM5oK5EDg51Q2PqSxXDUC6pRwmkFpyTc1hjRtNJi3TglQWT/F6pgvZ
CSw/Tma9TnNQT+iYKIaKVzJBShHEteu1G2UWDh4DTAR5GCthNTjtY1CZhWL9CLtkyjhjrOa6h7k4
AVrW0qWhAVy70P/1BkJBm7RaGtmDYu3/PpaxR8VGyyDhXINiZ2iuYb/BIaupbtE0a7P84CWLlZ1q
ClnzikmE00Za6YBd6kulq5tymrmJvpyN5p6zBRsqkxumg10+s+mqUecXe7XOlZdEOAKMJOeYrXeK
+bOBM1Bsiia2T50r3Fscf/xtZ7uIPfpJuEOASMswdmd/CTtxnlINoBrizRMYke2UUNxK1rXkY9LO
bbzNcsM7Vr2kEWwpd7jIvcL/pouUDZxrnFEDxIwZjoNy4vix9uOSyiRN0wdyhddbV1sUm6kJjTew
wQGKjUn/vbzI+pYNvXRHihDlafO6T7G1DF/t0qKKbvx00O5wZ2AVXJqR7V4Otk9zooWKHCF1z6pt
I6BdX2BMzuuNSYDtElg+JVW49IABokJ4XCj6NNlOgypJ3cw0Z93HMtHUQQEIQnFMOAnzvOd6xO7w
/B/nxtLmbYZrewplPc/6XhmTXp1md6qcAAAG7WtIkG23GZ9/w5BZvMjAgCaPGjnh1J+TLPP3zPae
L4LLh3YZgxN/qTW82ZUaPw+nakzljZr99kmuuWJ4084xnebJ35Jg6D4i7uKpyXXmHHjpuqtYgajb
oKqMz0Js72NczJeo9JgtOHW+XBmOxQGylPmiHb9XafOUjw03FnCEhl0tsuhsfjOIlL2FrGCg1CaG
x47iql7LI8emV2OyXmgfTMNhqaCE8ll2bcd5KTX0wa20wqjNIJMZNX3CTPGWz8g65VkoyQGQple5
N3ALfr1IvFx8EYFbbLNo3sgBJTTvpfhh4nyIop15d+mzvicareUIdNNrhJ/z4vrjToeygIaWYZAE
5p4DVM+f/4eliL6qNaocgKIlNPchBdj6Fe4vtFKk9Bi1zdrl4FqumBtOMV7k94ovxbdff9Q/XGL8
sw4KJ0Y4QHJYHH9+C6u/mFpd4VLScTqRdkwZT6vJvTVMA1GEsJcvFUlc8SsX+GVVwSdGHePxp+Ba
ey8/ODO4lFwgOkC15eUngQB9ZdU6j7vLun8aQWkZr6z7f9jn+JzoJ3zCSW0ELd5Z7/LDpZ747s6Q
JNdgTTP/el5i4kWSWXz1l56l5NfX9OXjY+pEruoGVBzLIEzwZc1UI1rx8Yp1QeJzFAk41RfaLUGS
a/3p1y/0ZzcPIb1Dihz6ExJ7fv5Q6ZDUxAq4K+mxTYGXJc66wEqBxQb+2IBe7r35y3dBx69fl28+
v/nHJ9fUTQs5lO1ZgtLbemnMZtOrHRkbE7WPKnHfSHlcLL1vsI2VdbvBJ+F8ydxi/mZnjfHF1hD8
h2buyY8yFRkAYm/pvphN3psbtCr2CZIg0/w29stbtxrFfVu7FUhZuptBhtTiwWcY/bECU6WiJva8
NMjp7rHVYlNssYGQIYO2fvxYZt5ZspP589Hm4Wsic/KXj8IeZRdqudblF6zOjJg6p/k0qVjrdqth
zge0GbV3Mxsu2xWMliR73/hepVSYWp0HDxpDQSV27vP5eqAw0ELMe5z49bHCTKLoiQ1ffVOxDMnY
W9vj1KyWyzitHrU9ghtW7dTK1RD0g4be2HruE0AT5u8hzLH/aoJzxWXFWd+7scaF35CUbVZf6aqJ
3xZuYjDGRRyqV8fBiXNvIz3Voh4aqoozrykrfmedNniqlL/eJFKsyEo8C7EKQUdUVMwXL7sRezfE
VouFDK2zdi3RB9zNz42g9OyRKdFDfMlxH9Jhw9Z1Le1K8UGQ6dBzXniTfu7NO7sorS4UNboeox6/
laXAnu0UY8LGv3i6DOGdOjoY7ZyOtV1YCn5Qi1K7aWus045mx49w+2t3u1SDv5/XRLyXbTY92Iif
qUM0B4qz1gj7hDfPIvYlzb1sU/ue3PX5eWVSqPH2jKs9J8QXxRa45Jay8NRNY3+SxYo4rZ3s0/c9
waY7SIIII8ri4ntTKLeyWj616XS+Vb5HTdAmGfXY93/PJMhLTnpmu95FpnrPuiCKpng/240AtOnM
7V6RpulEBb65J435zDsLmQ3dI8xy6wdkMcWpNrQzLqnVOrrmlLk7qGT2dlr8ScGLm+Mq1NdhiC/z
mgb0tq+U7DaoQKrqMpvkMoa4sCwjshH4aCGyQx7m7/KXtV94y3Wtknbn4NOngIHAbdL+blM96PmO
VEzgzjc376GDhq3TN/6pWeZ59/zN/1uq0ndNxX9fSkN/kpP+Ze7av6GA9Ez7+UWo2m+kqP3n7//x
v38Uj55/5Lt21LLe2IKkNBpgvsmDcS5RvmtHLfHGNAlIc3VSZTzPPO84/xWUZhhvBOUMiT/ECrN6
+uxW/xWUZphvGCr4hDb7HPVZWe2/E5T24rTDgZUSytZtg4KG9+f4L2T/fSdNnWnwOZQbvHSga/ZC
Leqtb5kg62+FSuwtHVCCDCyjGz/rTPiDuGirO3qEttrknHYOTV0/lSVLFdK4Hke6bw20r5j/Nzxz
DnrAaaxQ0ci+SkMfu/FlbcQxLC3PUTN6kWR4N7E1PZBeyGrEeKr80PZ1ddHUZzx+bWkIw6p+RWJh
EUFlW/4KCRjnbEkX/P2SutbdUBaWy6SiibIqve8SvXnUJtH0sBFbG9t1R99Nj/M5odPrbQpvYpWx
m/rz7PeO9koT4NlA9q+d73xBbcGhnPvnndPs/iCc9ytjKZk8B5ldGtgWh/5oW16Zhx36n9tmkcYX
RTTCxkHBLsNJgSBkqi+7t1R3xeNS+NO3tStXdPe4NIMqrsgesNbsrgfHgSemtsZjnpa22BcTbN8f
Ht1XW3PP791CTOygI6botP6Q04mitMSmj16ontvN5NvxrjaXeeNombfpGPW/UnQ9u8BeXKyfXvBF
ywRIaZq6Ew7LClEVCXnXFaWkARxADNbtYhUgkGjpWLN31Aex1dL6olzLq7KERhIvj2Y8stf16Gpf
Q9b8XL58vxAOcjbKl3MvR7wonMwe2RIPvB3kMy7RNa6ao1bMr+G6/vRV6HjYTFptx35Z5bYawkgX
AUuQaSRi9z0IC3Sgr4W8P9daLy6y4xDJqFscWyg9X3zF0RCRq5H7TuDmJKJQvVvaSH8lTk5mOcUP
zMPZOzKzWx51p9cfetsh0n5w9PwjHNDuW6rbMf1mxxWhoK2RBDnagMgHSfDVMEsSlq01NhDsYhPe
DCm+cd1Km3Gv++VmisXlAAvlxhBzlW8I7W3vIGTUqGxSBwoaZ/0QPdeGTZZDToe2VUKpk7UMa6M8
zDpSXDz083oQtSDT4e9vVX+5D/20W/3SJvFvuGNxvvjhe/8nlof/8/tv//P33/4vlofnHND//sL7
8Pzz3/cv237j8J/zCRuhv/Uc5/l9/xIWrgj2DZ0zmkmp/0PQpzDfGPgCXJwp2ARsxkj/3L4M541w
OWH5TDh0Gori72xejs7u+dMxwyAim4OGzXpr0At9aX5gFJyUEkwsJTswpl2cJNXXzPInL6pZOY6z
bWSR2cOrCE3N1KfAoOPygF20Mg4ke3U+kvqq/EbsynKXJIyltqalcnjeZk7mzyqLQEMqEWTuxNQ7
85Nu31qUsnRAOpQqeZ98sdFOHWgr39erZzPo0euTUZGtHgoR948Zkq8IX5L2JfYs/a3b1gZiYkbv
XOgnMcV5uFbqbB6gjN6DkBHy0PZF8nE2S+eJFgoHg8wt33qEx+RBjPnvUCRoALglF7xvBGg0bJli
961pf0s4/JdB2Y9TxCjburFRyhMlJC04OWK6xcDFgLYYEhc1R0zKH03MQdA9Tq3dgtAO/ADc9Cky
1Frlh7arVusUyxlYYVGUCJ1RTeV3ROya405MM0IVsoQLErLRE+8aUBSXudYW4Dxq136P2iCb7017
6OsD4PL/z92ZLOeNbNv5iXADbSIxBf6GjURSYidxglCb6BJ9P62ZBw4/iCM88COdF/EH1bGv9FOX
vDoDh8MVNWBURBEEkMhm77W+VdB67rpvcSKKI6dPs9wlMplRR4FAvae/lXa7xQoS55b8Z4qgZ2XZ
xPkXAGW5P4aYzoZCP5SQB4JxF0+sh80W8ubGdwikF+XtvLqmw7J3R5IJx+9TMpt0RWkzy7prVeRp
UkyNb1ZQGcON3SDBEQEvjB7UvoR9TUV3p1sadObbWXsyR+dKjIa6So2hwGPA8DYqkuaULYac3D3S
EgNUcChSmnAdhzbdmYMbqwhM6fB1moyFP5gR9LbIvA7UajMEIho9YNFv0MnYeegL0lGIy5vFY+yh
4gw7IVHpYLtWXTiBqfk0DN5qhRV6zku/HVkWapAHK66FtmyHQ5z02jwg68eeXjR2Fw2DYxdviaFx
x/fC1VRKXU2f6KPH2WDvsXCRijK0Y/AYBLm8k01eXQGk3MTBSZ+/85GIje+tzCi98wltZveAJEw8
xGuQfU3M0nGvQRPWT/OCnvcIypp0ozlFud6QLDNFc6W9G4nIcOOjGDrdCbRmyX03+flyHAfZ64ig
rumLaL1cRZvIYkFQ68svXZPQ7/bRYSSXtErWKbLq1luj3jO64KIgqeRDj6fqbZNYnbpc7akuQiPI
K8LY5xQ5alsi3NvRp5uuZYLO/Wys6yVcpesF9L2hnNd6sO89j9IVfpVm+QibeKuSl5ItaZcP+WGc
dLDHzwLn3pLjEpbrLAcyrEbnrkmXuItGaQX3GeKYbM/xPTlvq2Uyd/ReVbypOZt5T2bmtH4yJU7l
PeskDZ7EX1R9kWR50wH6TRNK3oWDjbNUfX0tLcAvuxmg5XqHMjaxMXMwFqGjNJZ7rYny6UNEYv7X
di4LQRAxrC/KE219NxSZ4iAqU7GiY0B8vEsaP9V7nQsyViz8AWGsSUrc97RlJhZ2kXzC+8ShGvDK
te9bo3vQpUGfYnCypQsR2htsPC2bl0KFprvcDDcllLnU/baK2rmp7dm+CLzJATqjmuy7L2lqATet
ijXsA3sZYCEluKgSA3v0BcqdGo+I2YodOCh9ps2hrnZLpcoHaYBlBYqNV6JfZfVI78f7OFsDrjF2
3qnaWeUykYjioVljqPg525I0RdHB/62AQs20vSM6GflhadxBXeZOHe9WpZrrdRDBo7HZgcMp4Bs6
JL2rzyu/RtIvG6uPMasSuhTqCYYKvYyGFk040ynUh0b3qUBmWBYlsbGGcjDxjGCgyGBU6aXTVco/
t5ug6hIUNS5Y0M6wZdmHYxkzfI7OMMWx2KWG9mLaI21ClmCszdEIoZhYSAg9iYJpigzTHMWbuhKE
xjF9kEqPtkp105NuVLBnt7UFZA02B3k57nRW1ZnthY1a4G/foFJycmhaDd6+0QPu3/BMQePV0+qK
q9g1i9JCKFSajA6ajrAuqTEgmcHlATJgn8Km9AkA8kHuIBNUIKwaQgPa/BwgN6Qbm2XRelOa5Wyb
+3RAIDjtEzWCoDgsLmJqph0OcFBXfbwFRa70fJRusbIzN9sh9iGXKTUPA5s935kutZfEDWloTi7m
/MZgM0jcVg2TsUEMbBlfvMTRlLbgoTVv3IwXapSl9eRN1ZLfLr5RdjtPDnhGUKuVt6DQfMArCE2I
mtLegrcj1n37LpMVLJaYliE5NF6wLmfe3HXfwVd2d8ZMMXWPgJfeGk9Ef0s00QIHlESADHGxNwux
HLP9VENxXu+MadIl2mOfALrRsHPvqDs39q/t3CGnT7lw/SLM17HksyB5LZRpDJsEeJ8vRCRJMeuP
Tccfn4V8g53Y4UobvQ+j9ujMkUC8yYD7dUDVPWhlFmENuqA7+FahUydCObqCy8uYjh07oVtFJU7o
NwlIu/OFqLnpDfHPSAxoxo7eejRL5N1XmWhm+4YIZO2g92jhpDRzKcQ7jrOWs7PTET1wh9onLGDO
I3xuIdtcTYKwTzkt8rrnjoIH5MDwCQmlGME9kZDuEis4skLlbW6MCdIkyyyv0cWQyiHp1mH78zEG
rNAV+jDbdmRfOs4LVST1MH0sGkO1kcZqceWNxnLr1XF88BOXabOlTOcmoWtnusfcYQ/2k5W2GAGY
dNzqqfKH9ENh9SlgsHIrtpOhBlsG8lqTvgvqpLy1FtP2HoxsxuQZGWPOSY+ZI3D31GSRLhJiF7Tf
3YqbeqikLol/zmhy7ah4NliyGf1dfEkMtGses3oq1gMk/C7Hg95Rg4hSvoh0BjjkNs6Fck00y8Uo
6j2yTFwmUHu65YZ+W6KeBjKtnjKSdUHFZWIzh+lqe6dFSaBcxZY3PV+csfPuFD5WotG15/X6wN4Q
zbyeh/lQ9wnp2EMQi/U91RQFp2lJzGy/NlXgwwUMGvsJz8SAbXDxypu+nv2njI5ks4cNZWMP6lOG
CnK1usUe46IinxyNUrcu12nmeGzpdHwaMk57zA5d4R0WtETjWdIa0O1G0labEOEfVMwC+fGHmLFt
vtWJbr0jqvo1ITivpkQhBWfQSKw+En8SI3tu0WkMEsi9DmLH3oGPk3A4XVw6rzp5a82T/UgGSXZt
W4a+kxVZq5zfLMfb94SygYcSsBOPvcUSTOoqGvVkoeYrJKDFsClcp9lR32gfyY+rawILhwFU1AQX
eV+spMRe517d59c0TGJUWjiVztZ0MWgcBFRPtA2g7DAX5oBoz6Q3SRblGBleI58aFWOK1AwacWuM
wBPxp/mYQpd8GQ5sZ4vvoq8VOBIDqW02uN13lL3zfY0k9DjGQEHOClvX71c+1eUAA54hmvpMnYJb
OFc2riNCzsx3cbsO1y2Ola9+kk4EXELmIbKUvWNkrIbpMeodt4+o0DBeQFYw6qXCAr7rqjQIqCdP
JlYpo1wViMk1VuIgUZldromLmCjsRif5qnPdeLAB87gLwZd7rLSET8LXGx3xoTLy7LLqR6cLFWCA
PsrXSo4Q0Mz5k9c2uA8dv8Et1rNfBLjWbbkgiwUM4Y0UVfKWtHYLxkWH7hEwnDZZGqrBv2GXHnzi
LI+xeu4ZEr0Tp0Sp2yhsItyPlJzY5Y53yTr5uCb6ZLkRgAqAVuMHO8O0NjD4k1gEe79v58+5mQXV
uR49pr7OMJzmEBBDRVqiB6/xop8HS+8nmntQVSh2vwYJOW2X+g67QspXtExNk+PnSQ8PtnBRNZhO
o3kumN7z1VO3WRmXu6JICiIsROlF1N71DS0mdKos7NPfNQWqAepb9ZsC2q8VHXQyjuP7gcUB2tq6
pqc6LBZLcGopE2WtzfiqM7R7iMld/cOe7NZ8RtjHCRtfEiWqk6pZ7lqz7VmrjlDrMifkbJm+z7Ab
ucfZ5N30ZuDPuw5VxPh3ef8/vD9re4T/Xkv6cYOeI6yA1vcGHDjtfJPVyzFoMnTkzWvd7fym03U0
iDR4Y89TRaKtUQ1gQFdKctsujgnFashyixIazHcuiuL6lZLl8ye+NTYpn9P/lwS0nxS3+syoYkxQ
lJMXxz1YguN7GS/q3U8Fkv/Ue0WMhN5se9gmZYiTq+QWFS26f1XkSQreHIxctjhx+QrN5LQHzSVc
C98WZRMy4H3zRFbgzZJjYyZB0QnO7UzgKL84tTTLfYZLrXrlXT5/cr5Pj4jHR41G8Kt+bQ4jW4lF
H6MKNMqAobN47ryHwjh2r3wTp71835GmawPOoAtNt+E0BW+szYHljq8S0/uIbRUM7qaZbinMOxAb
cqdP41dEa6cqMi5JWwWXShAI4XDe/fXWAstH1gM0FWNL2X1vU+HceEkyXprJIO7MddJfWG7myDQY
p6+Mx2fvkFvdujrcrEfXxzr5Nith1oGANhXh76SaqWbPoFTUaVw7rcrsp5fH5QlDj+/RtT1Bh4hK
NcAg+3Rg2nVak0Yu2duMDstOH8wsDCi0l3tvxJkZcX3/Xewl3oNsZFwevdaPr9I6Tz+8/Ic8e8n8
HZtSBVOeHfgIEn994gv+ONsxiFdDZrTtScqVI4SFzwTZJSQMB0mWeHVkncobuHnBPO/YNCuwvJ2O
rDR2gK7KickI8+IDmGac4VG6SWN2RYkA+xjgLgaOm7eB0lcv3/Cz9+xBqpWIK7ZRzedzMiNYGRZG
VHGaxHQ/vjQJX6T7ZMjuu0pcjjAvX+zk6Tq251kmI9rCKM7lgpNBtXRiMGfXSqKC8+nlMIxkmTVS
fCy6PNu19KlfG8Unc8N2QRYvJjwKvtzh6QXrIOsxSmP8qnqfemjmjbvi9Vn12W2hK/JZxbZyMGam
Z/OdTIuEvPQk6nNd79sAxR1+wAT68GRnZ8Kc/3DhpE7NBbfLMVjpyJ9OeYIA1WqMNw+ZcuynggPr
I7yNPRUTbzco6kDJuPChvvzyTkYKF0XMyokD2arL3uR0Rug8v52ypd5y3aevMSUYUhCGr7hA5ldG
yW8uROMuoMrleszs7smQxK9n1XYLdHnZWMRFQZRwUfR5mAHN+/NLbf1pjhdckICFrS7/s1rKnBYz
5RAQzjF88h83VbA93QXb7b38+H6I+H7acmzPTyLYQOFHtXXb9/x6LaScWCxo/0Q4MxaKIFkpKXhO
/UiOKByHCzL21DsHnzUZURy1Qstbe4XkQ6+w7NxCFG9rawbu8PKf9fxhu8w+7ibkQjcmxMnDLvtR
1hlxLZG9cqyLTSg+Wg7ZPth++vNLOYwcjsgs1c8edroWCUAYlSBnHO/9Ybof9XBv8vOfX4bNK2uX
hSpNnt4RomS3LhNK5j1B8Rw9C0xNmC6xV7XFv/DwJG0g33QYqQyiX19pOiBsH3OpognQRUSIR3wl
2X6g1OKnl+/qZI1g9LiQllFQoJgAtnx6KQosRd7alorY65BGac983/NIKozOmWPob6i3nlGOX16+
6slJ5MdVxQ/lHY0pbuZkbzWWuRFnDp4DZriggps+jFeTNwzXQdczTpNkIluvHc4LSTunl41+Zb/6
m9HpMz4lG3Qa2OxYf33AHJYn2RjOtv6PtX3jm4X9VBXb3kALzR/08t0+vxq3imbeMtGIct2TxV/r
oh4COANh0y73BqLzqBf9/X9iLnh+IVp9Pjsrl85hgEzh19uyskmqMVkodK7zjy+Bxtm/9CVALMEr
tG2K0bqfPj28iNgOvIE+h1jHXco7emhm2LXJ9tOfPjrB7hjZKWss93U6UKa+l8qxoIg0XXaxfdva
TC/+lW+bgeCyXbQ2LS8btF8fHEEknBEb+qSS3vwl9dav2nEJj0z6ry/fz7ONg9g0n2wDGXNsj06D
eD0StNusp9yRuVZ25nrTuHv9bn5zEUQZEm8GdfPnF+l9vaRVBg6owGl162LC+M4X5R7++FbkdopH
E8UU5Z3uTnDDN3SCZqBDo6Pesb6Ul00/vHayfD6k/e152fAAUYnRovr1zbC/TVM36YE/V7hiYGPp
BT6Sm7F9DuBRvKbw+e3l3G3bitaLJv3J5bCqkk6wUCq1q2m5x/yxQsqiVFEIf96//Px+dymBipbt
1qZxPv1YiVZbLFoDBjatPIZFFZAfCx8GvViTytci1p8NCYoAFiK2TW9sPz/x5ToLForeRpjFpnsw
qJDszYTB9/ItPbsKu0ZENAETA+MB2davL8tY83Z0uUyYbsONrBp41ov84wfHVXhoVP+25fiZanuo
s9EQLSYMxdF5OhtMCRrBdLT/nr2k27xSdHi2CedqiDiYhNjws3U8WSrmwemkID6LfkaePjhOhXbB
dJr3C+SRHTgg9Qo78nfPMLAlehJWCvZ1J9fbwEENLfUg/FFSNoRNJmyAOfWP3xT35XA7+DTAkpxM
eJiozSoDH4IxzoiXS5MoK4WDbG5Qhf/plSQznS3Zn1G98U4JxUu/trWbTnxRuhlymmt2X4WZ1IQ9
vHwh79lWhiGx7cwC6kTMF6dq/k5NU4kVepv2mLvHAHdOGsf2Z40a4U3dOXGChABreB3Q7DRc7Ns7
SyGAPi4YECXGhjwTIQ0SE125YxqXJiLrN+gbwDzh5Uj34ByHq6EfvSevEo4R5UnRXfmWXnGeLNQO
KHwu98Ltq/qyiYlpOvjANGCN+S6Bl1t4RYhalMN/kotGnefdxu+hf/nYxJOTXWhs/h/RjM7Jwd5O
WfczuIMrauooyGjeEMnkmWV3P621VFcdGRduSBvQuWmULdddh6ABwb815SxhKs72buVACuDFBN9W
ICg6ZC6f7J1qxXy2qqWSV33aWU+Zb7Ddkf5AWfTl1/F8HEvKDhzJqaBtdZiTcdwRZD5ngx/A8GIP
2+VGSePp1XH8/OtEjMhaSneRcqt3eniMeRzoh1keXFlRTnKKOb4qg4E95GTEV8DK1ldKZ6e35Zi4
NmxEVSYb9MA+rS1XRCRSIvKABgx59x3wG3lCAEZeSWr/zVWYSKlyUiGjWn5aRkaHCMgNuUfYzg5b
8ZRt1uoZ+vblV3S6AnEvaKQDKoBMBJTkTqZrKC82GS4mLJZyqC4xtYPQhOLKCQBD02sHjd/c0mYh
YoOF8WWrDf26NuRZPUD4HHDaTyTyVJplAbWk+/ck8H9NX/+LrvH4rbr6pL91p1L9/wcljRS9fnr3
zyWNf/33f/z13/7x13/9x1//82ch/o//7W8lowOsedvu/FO96P0bL8nDigrbaNPZs0D8U32PsFEE
+JdMzFlbnUjwTf5TfO84/2ayxAp2bOwzeNPWn8gXrR/5yz+VNjAO8pH5WISoVW9H1O0Y+VMZpaWI
UCmdW0TsYCjZZ2OuvhaBA6BL+zJ/axqzQrTb5x8hsC1HYkvgjA5Lbjz5shVyjzCo+jpAG55oaxXF
PQDo+HPOAd/dtXTHbuLYR7NWlkZMvmCpyye4x8Aoi5YOMlze/A2HrLw8qFYTjacxk9OQpyROeFEL
AJLfmcV03IWFFY5wnOl7AebuviyC7I6kyPyOcn4yIp0y/NvKn2i4VqNbv9FIBO6QQKZXxjgs/S4j
0OvN0Fq9gMZZxMmO9AfC6o2ZZWj0lhapF3YAWH5tUO62U9dV0q1+HfmiE/fDiI5v1yIZmY9rPdT1
JXKveB+484JgEYkey4E31IKMgin/qNL6azG11KEaQh54hzaCamPri43apNrgNgHINFtN5hO50Q7J
6HP16CTWFToSj0gsN7PKKI/z5SCdwd+XzdCrg52QRG+gL7AhXNk5uputWhu63jKKqJtN8wIRQekc
HFsnT6RAK3h6iLcCqG1Wb4QIFx2DiClJX95SZdajsDSaT9gamipSLKmQm6xiuh0zmV11nWeCWcWK
xs0tXRcWVYC6zu3rBbTXYpnQ9LrJew/zeXmSEtnXEduoO4dxgr+XYOpy2uuiAjg9d2K+znB0FBE7
5zjDqbnm7s5zi+HRBbNcoi0DZEeAVwB2hAaxEVW+bs4Ga7C/FNWYH801iJvDElj5d83u52uaFFlz
sQKksohOM8Q3Hlejd+ZqLDpy6ShwpUWfO/aMerymL/y5XbraOKAjX+u9i2KQeKcMke0BOxKJOxkS
FSCAWd6+SyGjdGEfE1e9U6aM78xNd145lbtRQ/2erYiXd3duverbwi+yYmdktrZC4dTwZlcQnUDm
PPeoABu1f28k/2jC/f9UJb6ppV8yNiER/x+bPhxC/l//5edZ9YfO+p/+JhMXE0JvCvgc+D1aBf97
hrURgaO52jy8nJ/pyP/7DOvZiMAxvkIo2w7XNIz+zwyLXwqUiKSKYBMRQT8/+JMZ9mRNNjcnL7zP
gNlVWj4Ht1/nV50MBJgORMlkuR1cKD9zwR12r23Mf3sV2qjcItt/jgC/XsVPa6nTeoV5GqNXgXCb
92dzr5fPPz3+3/Sgtw3ET4sFN4OQHlUDixNVAcqZv16m93TNwTcZd7DuhrBJTNgQWhlnQQstzh/Y
OyNgWi+r3MqGv3cd/3Hb/2Qn9ePaElM06+J22vFPNjc6RmNkMi3Apcdq/LkA37aiNGlQhYcGqsp1
3y9pPR8RMRaElMpAPfSIIT+WHIriXaK7PsXFxe41UoZvq71uzaq8YsEkA/iVv/X523BNjAnUUrYu
D0zqXx+TK8cxp1027qzE6d/bq5Wpc2EuhfPKOfbkNMYj2c7M1DV44xj8toH/89qdgciaJrHOpJPl
fRfCk5m9Db7RTG/Zqgva25yI1uxDEqi0F396kzRREQlQzuNf2lnbseGnjcPQ95nVOJlEhU8q+Jos
/qXT9O3h5RH37K0jqtjAL2gS+Cbppf96lcZZslihTyY3Mus+jkjVWbGd+gF62YeXr7T9pl/GtsT9
BGKAXbpDO/e0LOUtQa0Bw1i7tLHmJCxFjBh2jP0daZjGZZF7YAVfvuKzYcJUxVh2oPXQVPF/HLZ/
eoLpMLiDLTJn5y2uPEsEOGwSDo1X0s+eDZIfV6FkLehfcS44+W7YVuC/z7iKY9bxe4op+aHwsdGR
yOqc22bz4FSAtF++s9eueTIwdQoX3V25pi2p6kB/X3dW3nzZiLSPvcwJBVa+/8p57vk1mZK4Vyhb
dBsoZf46Unw1t30H9J5rGvHFmK09lq91vsgNwonITZ1yBNQFVZL9y/f6fNwgfsC/ytTEAKVP+Ot1
VYlfIWt6e9fMTfF+9NrkU7HGImT6hT4zCp2/kmr27JNgBuQfhCwUl6gC2r9esCICoytwkbCLk/W1
FdRNvRtMnYldIzPj/OW7Ixj1ZNKnCY/BiQtxstyOK6dGRKtq6sVv8h/w7YLCMByX8qLOwAQ9ZvTl
kqPiJuOD0qtdHu2ebmdog1vFCBSI4Myz2sb6NBcz9b9Q5fnYXnSwlNXF0vqLcajbtaHZ7iwoWGca
4WD3iswlHq1FGrQvx6rE7GNTdAFh3M3O2TD4lRWNLSz/0JZDigi4XXQNKn1zCy2jb5UXkOcd51GS
MNHselVE3eqcBzTBrD04StSxTalW+yxLgrn/7KbNjPBILlP1ZqpEI85Gcwisi0zExher1TguUiT+
H6oSBdO5yMYV2CMGYj/0RiDiMJSqCi23WXnWbhlzRvvYBuMRtDY8slgjJqVgUg/528wMIItiIlP2
URledjM1wTSGK0KW8cbIp8Q5NLZffyCFGOxbtmZefZjpl8g3rm/YWG1a3ESRBZ79mm6O5ZwJZXYP
MS5tsJ4WPi3oO2W9qC/Mju7s7mtb2Qvsfmy9PFrAyzm1m3b13fseHQfb42pZeYTQFNaNvGfbe+Jp
bYXguuwfllmXSFeK3LYAgxZ1FSqblJjL1bTlGf3LwSAx3o8p6DlujGq6n8yjiYHqKZZ+P2whISM4
b3OaWoC7bjFL63ZiubDeuQ2N9KNeFm0f14ZDxRQaa1WpPd6afoK2AK3tkMzjaLzBRSWy0DD0aN+R
ITOXwLAUwlOWCTXtq74Xxt6xsmIg/6AX+Y1tdeV6Pja4MCILe8J6HreC0LphUvQViAayHuEzyBwD
V+5ddh3vHdX5atQdEeFpcKeWvrJQxmNRAb00Ng8ybm0zTMo+DaIZ7GF+5dVZzcHMduLz2GUBDIMk
KYod2BRx27ZxwiHIwTN2ybzOZkPXAdElZdvZOhIEMXxqy44NUyOlJom6dmr5oUEo+y0uk3Qhe30d
rYNpoNKPbG3Ss4AG0zyMvWPc2TYREQdQ4OUUVkVsQYwnB9AA8JmtVajVFuyzDZvvjHwEM4IwPM57
hMs+5MPY1OEsiDUJUXsQPrDWNp9FGqv0olq9KYnmsa/flQMHwz2Gs7jZGXxEDp9VQESEX1bqsQJ4
wy/JDXz0qrOdLjKGpfnsqNEKrtKsGrNQ22IhiVzCREXePGo3XNcEQvRE3tLXgFSV7Xwml5nhRaUs
4jr9F0+jW6AuWrAYde7ExzAY7VKRr+ykkOuFmy9naYJH/NA5pQEj2ZGYC+jLooGu2VhNOx/knLs3
F76bO21MSr1nEczSA4x8ondZ35qrJQ4wF1hprz8OHLo/GGOTYYSivUv8xewVvHCCkM9bkz4Uknh8
Nvf0dswLPl3zYz/hgNq3tWHflp1agydiJ6Q6NIlL7kSUS6sNnhyF1+PG6cwY/D5RECu/R5t5pzES
xV6THBtopECEzKl9tIiY6W4cf2i7y7Swhlu6el5yblYtLmigoHGyAMXNWZQPcilsxUm2gFoGjzvJ
NhMeUPHWXjqbgjTq8PdEK9mgTmTfGuOZXhsnDb0yzduvGekx851BJFB5xrdZ4oJ2O1d+UyS7xIeC
vSkOnCEGyzEsxowdZppWDt8levb3kEDFfmm1WxxmUfYbs1rp45r65lMqIYVHiyVy/mavy99JY7JJ
pIbW9Z5NtPkA3oMszEbW3i6Aa5LtzKlogOFb5scK5No3QZD395JdgIMIsEmuwWSl9Y02dfMZ/19N
zR+XqJ3XQRe5qpH35tB7D2bbU+vwfWVCV2ZejCzDl+8JmDa+1kG1fujALCDq54iY7eve6/yLih7L
0WLyHHeoP7DJtCZGIhC4Cv7okqX6zKmL+soofWdXrnD2I9ll03igWFDNxHsmgY8JDB4dvh5bYqCR
cf0mJ2Lmzs8VM9bYMDOGwby6e0WHT4QGls6HyQSYHBZ+j+an17bfkSngARuGXjx8mwI6AYR7tcaD
anL7pjQGw9moqYXada1jf5tzAPUHu6mc/iJbIERLlQyKwn7F1x73sjir8jRuzzvIc58IOsfpYyfz
8KGzKAhh+DSo6tTZMl8NlCjeFV1qtNGQKB+GrkdqEmgNx1z3KMIhnVplYSPDLzPydgov++Tk2QJR
K+jAyDdJzV9OQndBQW+1W/OI3cFRSGYz+c6xiqa9m8w+UJE1OOOn7dV+IYzGYYPVT8IM0ZcBbLdE
OqXwcPPh7eSbs8SEOLtHTYmqxyzTqRtwbyw+WbkQBItLlahPHEPlnlUYFLQ9t8R8JnnrTJEipOpm
NdaGeISuX+TZqDFRExjjNqzgPlkwu35Njc9tCSwLLm0VWLsREKrY54tTPvUAvIKrBSn+sGtc1pA7
cxmRIOhgLN6WE76zPVj0el+a0PfO/K5MvyUF5tSoNHyUMw5Wmy+iDILuAGHaCI4dT/Q7VTIcu/FC
nhoza+nyRh2cKp7oVXyci4rfV9vLNXA2bz42frAKsteIhaAgL4pHEkSgCJZxgJ7Ri6eteoizdUW0
ypY5zFbLSw6WN9U6Ih6XopkfVOnN3Na41hw4VZ86LF3tZvwwAZfkuZhCe4WTB/wk/lCZvbThNlc2
IWXu7Nyvk2UAIg8sdwjXfqg+GUYpip1HwQ7id0sTDNDfbJNVD23iSdpFrA5wzNv3KsNfuePsUg8R
BMRqOpaT7Myormtk/fTbixmIiWseNjfaEPGFNGRyOHrZtxb5zqHLludzyqT4XrI4lzvtYl0JRzmB
0iSKI6HUxu6r3+PJZNpE2g57IZWt7xw6dzX78xHENqFmMnc/FnLsnF0+rIDJ8Uxnw76LF9Qd8Tri
j+QPJNHHz+3ubM779m6RSWaexxB1ZTRTMJh3AZxr82pSTWnsUB3zVvO+T9777EuN3QRIBty/3S60
0cnm2TstOgK46974OUMfxpaVGKY+MgS1wlCQ9gIHMsVBg3VoJZGI9iWS4hbD/FWGQHo6662B2mDn
uY4Trm5tnadlbbOHrPMkjZK4nD8WgMErnCA6Gc8m4ffvY+WW/QVWB48VaHKTh3p02JTJ2a2JqIJq
ft3UuOmP5iSUOPMBefd7J2vYAKdWlz5Oazx+au0J6FZpoWrYuWPqf4+BBYtwa8gm0cg0/X30yuBW
FENwYZJjkWGUrduH0THzh95WDjE5Scx4TtAvHvuAGnCESYwkIVUJ8GXusLQPWAcH1nh/qD/PVVLd
luk43ndtvUr243V95lc9N93WqScolko0iP6kgmy30ILfrdrNWZJzUb4r55FIyAYsFOVibTWPXY5A
LPRms7yoDLGKXTJYVOaNsfYfjCTHeOZsQQJ73IXBtLfhNNeIylDUhR7lDTMiIhgevttSmeJLC6xq
55diGqCHS//S1hyQ4NtZzts1R/e/o77VEv43W94SjT5H4bBlGxfjWTK7KZLeWAcXS7yM496Khbgt
/dnNj7XllW89Ga8fWnZ4BFDNmm2i2cEqj2xUiwgW1mY6JyCufIyx9LIjqrS+4nVSs6euTli0DSH/
nei75SlZy7bE7Vvo237MzFvbXsp7ViCQ0w7It29jOjd9qNJluAnieSXlTeatwVhb5BVC626OgnZW
D8HapE2kGgr0QLnk/GVMdHnlOjAUQrYwOJm9FejBfpyNhA0wMnyMgSqRzFq9WW5u7p4DgFcRH1sL
fFKcsGb70XAHIrQGr61g160ZD3/MqvLcy8Tm1WbD+m5lhmwZEmNFlAtJkbeLO7CIFDMRKcvikhxF
Dm/93eI/b6T4uflMG5YIGZE47fWUxRwJZj/QEr3ZOmU896C+tXC/HfwKXzHc65UdSDp3Dv0G1Ztp
lM5i+qiUV8MMLBvvrTExtwMnn6rbbFAGk3MNahbykzFBcCFLWV/Ejj2pcGYquqeFlHyWQVnPZwUd
/etyRMx6yRSpP3aLo6sj+CN5W8RbppoxV8NT3wqPH9XkHKduRsjvVlX8IBkI+Tnxu/oxMEeywNFy
WvjliYZ+UzcLc6jOpuB9oTm97lyRQudgY4tSYmQ/za4pz0w+2Fk5sKgEDnOWGM9na1Io64Poku7c
K7YeSVK3VR+1RA+q/cJh8VvWctKi4cPBdT8reOz7zILBSnpQVbOnMZriSIZGX+1Gg6PslvFIPoUg
coBTkD+TUrQCVz66BXMuzjs5pxEoLT85tsoY47C0LefOcrGthd4kvY/sW1x7Z3lZfV3FG5S9Hfse
v7CfleR4sBO4bMbaZLUiy7LEbm518buhLkwwCwJb7ugE5V3OYalgZs3KK3puormiLAjRkL0Eew84
IZD767nC8zpwRM14bR1M9B7HMqkvqmqewKhi/1NGMJFXovth2Y/Z1LeRN0h9Z0EKuDMHk4wi2Uvn
NslVTloCHb6FkxWbRk7nHZwhF3nHp8RHBvK/2Dtz7Li5tTvPxfnxQt+k6KojVexFMcEiJRE9Dg56
IHXksXhYnoifkv/A9nLi3MlN7ieRqgJOs9+990NTbr1/NrvP9cxrPJb0yeZJD6DK4WmYUqP8JmSb
880VU54A/ak+gHPOfztjWttkzQu2Jr4PAb1moAES+dHiW6Ud4xbJHjXn2ym1TV5bsl8bguHO2E3C
V3JhAjWrGwHrMJrk9i/9m4uSsSpY+vqg21Lm57TlUDugIEHA5H5RhYW1lX8LQbY7aEjNq6DR4W+H
bmZVTki5Lm0sxrLVd+Zoyfdpqs27bNBcEcLG4MKZEzf4NPRG3M39OlJRqhWCgk2Wk0Ca5fikyMVY
AT0jeZnMFJRoUWXbFF9RYSLbhIBq+sXxYGoJKWsbd1nh8HvQ176Bk6F1egmo4PF+0JHgPgu7Fa+T
W6vPNK13dnazyF6Im3ObKVMaGUPRp87zyiGKvrWmUOl9w9DWPPizz9/D4QDV4saI+GMMVv7e2Vr3
mroGjcNjXaTjMavwFQdAffXudn8aKMWh0mA8cUnleNkTkOffUXHqOHTL2LxUfNHEfkhAH6tMWuo8
Wz5BOW3Mxku/AyPJtbW9MJQgOW2QGliOrKhUfihXA3qZGZ35tDiV0uNiBAQU0D6mnqqKkD70LHNn
TbFBnwQEtLM9cidLAllRGQdQUTE5bKkq8cHW8RBwUGcdpjlUFl3QiNnODpN94xgIYfzyxxGMktEJ
Do+syzQFeNOEvNShodxNzXbrDnLdieZuCx4uh4fWRkPoXas/pn5aeJ8tcy4DLFyzaQFBR+vn3Eti
bKCW6Q1ZdC3XCWjb5XWdPFvFiFh7HSt6CSCSNI1/KraRYsi+3eYpcut1fiNWg1RjjbP+OXE+FdyC
NlK7U8ezeW71Ss+OM4ZJYsCzqJJp5cEL6U+hTsaomrG7EFXu+S9uvdoe04n3ZQUqH9oFeKeT3bv8
Dq0p8k/SqPyYtpob/9IPdOAce7nmTSDJqFUBDUD8hGXrQDbmbe7YRzPd+Winzaeq2ez9sUi4EQ73
habnzYmmDXMPBugMVTCWVIwGY4cZOwSbsOxMdUfpx1Zme0bU+CZIRL6+OSktJerIGXhW4luOrXvX
EKtKGklyVuZVrCPdNrQnOKHJLZLAswIJqJeDA89YlSXl+V1KCtJolvWVN3gHFTygmeRysssjAAAO
jG2T0vHf2522hJSXrX8rXZrvXDY2ym/scf9tjY59NnQH3qQaMufdtjb3Z18a/e+ssfwqnK2c6iRt
Xey/qMc1xxErgwmHEuNuibsYVPu4K4WlHNTVL7919CsFqxn0lSLzXtm1pBtYFc/pYZ5n+ciMQ3Pv
vd7qXkezocN40JT/ULtt9Y6ukVaRC2iKg7Qahika9CEHZ+je9n2xehTkmkrvRWDT79oGHreL3zuB
pTKAJLBEQ1cWTpiuVMcAV9GyLpm9zPoySy19HugJvflGqMu9370BEGCZ6tuHa25EvXXopkgN/Wwu
Rzof6uJhKNAKI0JsvYxMd3CNYzEq6lScW9EuQK+utaM9bUvmW7y/D8Zu8EZMldN9t3KgaQBLC6cI
ttQa5py8IV5LbZ+bV1JA8nVTzHKCYh/Xl64fYUdNpPjaaLS5hB4Z6LuKlwhzTrSuZXcn14Hl3Fpm
OoXUzIQB3a/r+LhtZXACQv28m6xaUBA8AbiNMlwx9Bq4RfEIxs7wA6phdryHelp9gj8zpoTuIXtL
4M1gKlw7x/upNZARQiAZPvxZ+Dn8YFluHAmGxrluO+HKY22hfPAQ5dlPXyDuhNMmgSqh6SG5DTRH
/GHW0OvE4OAMYZDprD5q4RL/Ksjcc8Akt0vgcdXLMpAGqcQjS/P8TkWFkyUaFQ+cvzWkpyCjN0YP
6rWd0sBOVfdTKglKEBYJUXVvTGNnyhe+TOQr6mEG9cqKOf8wZtceucnXdJ2D1DK+TaJ/X8ZmAgos
6lVkh63h2hNb26y/Y7SkYmyaeo8eo6WY7ilJgOdVwNJ24qW6SSdC2gV/H0PLjd/LSlOIzxzFwqqR
IjsWW9Xl4UZ+5N00W/Xg16KhZYzCskeaoG7kFn0tH/y1NEgH+a1xzMxq9hNLn5sfotqaISlpG/AB
Gabeq1suG2/xYALsBI7G7ZNGaMNLpJMOMPTIsXOicafNS7hVpZShtBC17Swbh3PZdPId+q5UMT7X
/FvzM6NOWkPQw7z6dfdiMXPlS6PW5iMd7bQNdz4EmXRIf1lMryQ9YKb02we1l97vBWOVDmgxa35q
jtjSqJsBTRez7JtYp0p9CoaVwmbIVcJ9nddKseuzPqxJDd3uN8NmRKSSTK0I+7629ztZVfbOE2O0
H+22mZyRCnzTX3NHBU48KhehmZXSzx7krQ7hJBex/DXtafyjK2utAnaafjoXlLrNVCUswk9kXutX
Cl9nIv36MmixPclqjRSuKy46qBb3PeuEYF2ctqNrTYD8LPbnn2BsxELvl26czGWaRxaP3vpdm5mn
QqVSdFvheO3PUitu/HaNUpjS6eynDaXnt4YUhp60uuIrHyQ3JaKFBSRlH6NuYOtu9z3kjEUjRgHZ
DwqUuHjZg2kcGWrX3dlQDj0526RAoUJY4gSBdPvX93fB+jQJKESge+lioqBEcoHfq69s6cuV90m2
qPsThI2ANADkIdMvOGkvpckyu3FEpNdiHEFxcW/zOAJ6uhyPOH7ds3Bq9ae0tbxgHWV2wKq5FFbc
4K/SE2urbGjiSOaKI2+qFxe4cZkRzbtb/NI9xcPCjW2RpKAG3mI3HcarZRvbB7XKPlc9sMpcHosJ
EBwq/qCw3BWaQPDZ+pe8M6y/RrsXM/Wzw/qjVubNlk+3Xs9GIDG0q0roTyYR8yxILcoDI7HlM5JH
xmMRmiwcczwzztww2Tl7eWLKZl8Xc5wHrqomGBDwBSKPnd5DIaA9cDdizg60g86APTx+lXy5MWx2
/2VpGmrIjBThPnA4MzqXzumha00+RTOncfDsH4vstAf99mxzxGLDjRRtskiytYnwnDEUhspMOe7d
stY30klr7+Jqisagdct00jZYqo03uu6hjsS68HhrzV6k3iHPGVMmGJBTlqeWloe4G2qkcV+iyQTS
kz14+RJN4w5GB2LhaLA93lfooiKSqG8YEZ25/dV4DoDQjvr7Ikq5bD5yHhEy5rjJ6cvd5vq1VtwL
4pKoyu1C7bjY03lT5GHYd7d+WAxVLLHX4DwKXcRgLdjSDgEkrZF2Ekwf1B5OXpc5YZn1ZUoa1LFo
h+JFgQIuMB/hitwxrE8LklfIn/K/8ac53mF0RcMYVPbuKTVvN3XIpM69LgsDzigeI1YvvHgDdTSz
WR9aRiB9NPvpfJmqzplOpKbFFe2EXvEi94ji9hpliyGw5fyvtffNAJJUdXUCmXF1IKNTXRZqdCHq
oS7LUgZj328vvLeNiHUQKBzFdlaFpHO19Fpg+/+h4Yr7mhkG7JSc0NIUWqDpuNmla8XMd+coFOp1
6cjI5p0jKaCYSSV+2omNNW5LnyCj+P3BV3l1W8VLCSEzM7m6arMPXmY3VzfhKMMtWqsptTlzDHb1
QzsXWv6iIWiPvwuN41jSmVvO892kHkVDlMSn1ZUKd6cHsQuYF0A9ZcaXJdeYfhI09yruurWkM2Pj
WpZ0y9BfvDGff7JnjgYDAcV+2xagUxOm+XV5BGM8XXXMoNMPrgmpetKqnOuQZN1ygixz53csAajI
O2Mw3NxGTUNmYJbwgSJooL0F3gQDbUz5splw3F/10NHqBjReK8YnXEvFB508BbIsBEpQNxR6sZpj
Qk8m22+eG/Jr91hetgxmutV1t+NsLpKBqUCeNHrrVKFQmPADaJbc3XFWThA9ucLRFVf6dcpiREdE
oNcz1YRm3qROgsu9+SVcd9AiORmCIfo+O7/6bp5qJgeFNoazIf0OyiltZyd+cv3Ln4V2mRV9dHFH
rc63v0m65gt8dUFHDctv3566/g+3GMxYCVUEtvVLslo1FD8ZCMhgvUeCmXFNW87wc4dEnEVOTVdf
6AMU2c5oY3KKe2digJi6Lex6h9B/T8PirTHerJkmBr1ZePO3avKcxW3AhYt822bpC6OIfOROtfSf
i+WyfojcVRmFqKljHZacuQx8Cd8ToaJryiaEXlrHTEyZjpLs0ySt9ZiXcDt31nPrlZx/UZ2m0+q7
QOdtoOJv0OsHHKomLXwXj4G/Gfu7DoFTsUHsz+TczZUmUY/XPk2hIkQW/Usbmr3T5WcSDFkWgbPL
crRbJ6+xDyutSqp6MsWpW2z/weOw18SuGHRyIxSUpyDkJ3tW9HhmHLE+fX+c9rcuo7rsJKmsIU3P
pZ4PSrk3hPKces21UCXVR5rLu3GTqWsKOf0+RXGd9wYlrB9a0+C9neSINcxhW7FbCZBRLxbww0ga
znJelmnFZdFUfpJ2bGbMiayRoqzK4dKwjpBCw5r0ijSYEe7Tif9pmSd79er2bWAjivDBbbrJuSW3
5G2Znvf9zMcFNxI06ciNRjI0h9jLsCDoOmf4M7JNPYudqs+gFSY8AT1fOyusN8s+WekyurEY1YS+
2KZrE+lovT1CrkYzoTno4xZUFUI+NMqVGard9t5ygbHG+rZQ6LUf9InujTMtdMb9vo3AB0q31pNW
lWT3HZqt/AO1cJqBDXvKKJwGGzFyjyyR36feKA6E1GhjR6qW+2uXVUV5zIkh5dGkK2AYIXV82npS
AOZ+A1j0f+tqXHbaH6kH9VHehHTuuTtMrKF4F1Tgd5rbvML5GvOHrFrr7tuDhXKohqVsfiw1I4DT
jF5aIwsyE4hHy82vSEzDGKOjiCzQBXodIEBU+/YNI/MiEcn3wT2NOC3XJ4LkS3WCWTxaB3ZzzUkK
qteaeNU9RP9xspnsWgXplDs9o3sx3NG3tAP92Xp+XTFA+zE1Iap7N9gU2wdT+AqC2Ir1A2bXjApo
Fo76n76w/+9k/k/kWP8XY9X/JRxCzfV/++//5b8SEflfbcz//th/hEO0/wzLydV8h0kPkSH8a/8z
J2KQGqHqiiL/Wy6K0AQ/6T9yIpZHAbaOD5f+F4RZ/RYv+o+ciGX/Z2Kit6QeQEbd+390MeuUh/2f
/sibxxTPNPkizIq4wf532xmXHahPuUXdsDNfZvq3ltgatvGRrlm63JdZV+IALPUB/JmHAdlFTcN9
ErqLA5Xewp92lP+2134qPIl54rbt2lu6PrXOdjYdkNDUkP4xe6YUWEtVot1u5L6beVGGCv+m6Sus
5L67GN0m3jNaVQ+bn5bgx1uLeY91z5sLiBtv9RlKIG2fjfg2umW9153tGe3nT2pYs5kwNuVw0LJx
0MSNiKDDSlO7dc6LW3uuZUyvu+SagcRLs1hmLtoDdKCqJcU4F1WEyMHJw1OLGH/LfycSMMt1niwc
gI+Vwr1hMxl6Yfn9MGTnrZw9W6KYEHzgVvsq3dxEv51y9EmurH+bgGCY2VKFBbJx2KO33s+Gehu3
RvQHxkLpUycRhhnh2OkU5sK1oOqtxUkXVD4HzCQHGoRVdmXNeCX7Yfz0ssm6W52B1XnB70bpMWHT
zLzVcusD0PjJBBDYVv0NiPFZVxuCSi+1OZ6ApF/BLDNadleMdxWkgeuQN90Xo6cFfwEnF2QM60hg
Lr1mLUC8c58RxbEbx0MIdW/HxdxN1xdf6PbjQGltHYyEVH5rdltGzsaXE5A3Gc7paJlh29N8Edea
P7sBx4fpk7MSfN5B2Ei3GQN6W+GcqH2L6mOvm3/n9q05dgJoWPR9+1GlNtkW8G4siL3rcJUS9gWU
uH3JGc1fmYdwDl5uR2JYdjYqmmm9ci44jhMFqmM2YIwetkrFvWE4T5v/IDNEbk5msx9Vo11+GP1t
38NUhcJh3FfzSimh26nijrNVcVznWz8rk/dw2y2+cbEWkQWfDNQc89mZ15FJCbK6ouY5SCEVJdQS
DkhEckso4bqs0vuZQZWP6i3jAKexPdvtkghkksTurShT272DfYG5PbuCdMto4chw8EWaRhUUx2BE
PL8BGXun5LqJyc8bUJaVcB657zw6a+aiZ3WR2Rs42SpsMcAXdC5G7UyX/J5Gdrv/ytbdiArJ05Dv
23boaGnDITEnO3JyaFMCxRFjb6IdNSNaO62AQlTeMZw8+9XjQgXpaUshtWtMbdiX8aK26TiePWVl
sWNO4ozUXQWoPc90gPcHy9NUME61QQIfRLu91m/6OIfWaMB08/U6lp1lxZyaafpsMCzMIzlJjrN6
FnR1NjPed2nfdLYLyvp12IrrtqZ3KZQt4l7jktCOE2Yz4gfHe1/Urz6tta+LrIvTgv8Pp9yru1XO
HZbENmhJuwUZzgfUO+QsSF/fe0mNIQeJr71zCYjN/avR60bQK/dxc/P37OYVkWrkCWn2ro96r+mC
aV0fOZTlDzTjbSfyc5FXb1oCosL5Yqa7HzKzAVMhAMUGnRiPSnjaG4Qu3sC2tV8RE/CHZZ0LcIwz
Jbx4KGRpCya9cRgqYipYjSPlvXKJnKpswwUTUdINsmGsVvzYd171kJeXe2lerlaOcYbrKlAurEDE
TbmvY10Yr61HD6Ne3RGaSO+cbUlReRo7zqz6AJi9Cs3JeNxnsT9yzfLCYsn+TmS3z3VuL0ehFw7W
H0dwrTWcDuynC32xqJdPk1bji5LqWNNmzFS78xjk3W7YxbKbGmGzwn9DS9/rCM549Xzr4UdXbtea
LtkKJxE9rwqF2dJjw67KRx4Uo8OcYvyykIVOkoc7XhdlPTYDZ6GQQYN3Huu+e+sE5sSw+Hf5t1lF
vbjpCJxhWkFo+ScPrJz1tHjp+/Ww7DVTRt6NhDmbfqKdcQrH/eb4zDcq62UtUYPGwfmk5DtN9q62
YjjUNh4GP4c6vxvBzjQa6s0/PWKw9UkL6walc0z95qDNVOLWpADZ/DBp0XVr/OiU392JZh1CWu33
p2wWTHV8k6CgxiLXzUvG/Q63XNZbE7h3S5hPRe6CmblpR3Y0Mrj9cLDkXtU6+QmGteo+s6s0dGue
Nl7D+6Hq35ftNN90LNvpj0AnY06nxX3nOA9yUjLGxIhXrJ73SwUN8uotLUzMPu370JRrFdXVnlIn
YzWRNznY5LPSGRPsv4fR6sJejeJnm2binGuDfGAqbSd6uaUP+8B6VphtjMsLQW2k4tWRd4VCJGua
9trMKyxeCwf21KmkmkVkQn/QcMVynBQRTiHm2Plsxpuq1rvUUGXSTpPBAeHGu9NHXEN19pQ67Duu
/cx8/KvwNpMqQbh0g4tOQMm2G+g7VYJBv3G1jemtf/BNHr0t734QeXiA/tedzdoaT9MqrOeyVt9D
pX/Pui7vOjHL3xueZiYpCkNR+YMmeTyZsnKONk/ekxL8o0E378+MrbiNc+e5y4irJu5gIDE6ZXPn
0kfx0DpNycVmpS+p5oM3Ghrgy7bpHkSNVcUdGv0Lcc9BxkrnRJOUy/qldV+4/ovfbvKXAQb06DDr
TLh7v/WCkaklO/YvRh1w3izuUWaeQo0fdtaWTj1yBcqe673M8GIP37BXCY0udCetcvlXnqiS3Ofm
oJppCUbHeZpX3BEW6/mR0U9xcMYGAGnZ119oRDhRV9GfuayAebKG4Z6k6Z3ZLF6IOrKFZp5/5qLv
njUw9c/MPbuLw/SK9x4PtdZxUGppPbpHN25iPg9YcT61fwXvAV9SGkLeRvlgwfLuUpSKoNPWs9Tc
8k7T2MgLMgAnbl7zCb95/XtY0OtlxQST2v/XTrpvZdai8ZnLeSasFQ82Urk7pyujWFfG2Gnc12Xx
l2vLwfia1+2rTmNfAOk3ytE3A8G2/oSQXsQavXpHqfny0rOsPHv4XS479WhxgQUF7fqf8rrcRFhl
WkJnvtRa9qEgMnYRfto+j6MQsf1PvIVeYVw6vWhkNPbVcuFFqrvIcWT9Wf1TfWXvf+69L9/1RSvu
PWP3ltNY5xCZTawGy2xiSQBzMH00Q2Y/OevOyzeu8q1hQPKwTb7Hjd8ezkyfXrdRMPJkN7/oHusi
bZXao690rqXdkOcv05ZnvxYSd9/VikG7YyQOKwTTVEBpYfVjn8jL7qAFvztYh0/Yj90L9qTikAp/
i3P+7z+EUNSZ5sP8e8+cvyUokrDFq3Hsp8ZJGO0DTM8W52k0Qam5rPyh5RINiOZbRb2xWQxtIEsb
x+2f7k7OVdyP/9R4p7bdl7K+feHlwiKomdj+NobWGHN8P2nxiVPJfbP5YiQoyxOskfWyjrZ5dof8
x1pM/ZFSbheoxk3TkeOedHNl/thvEwFGfDa/EYy/dtyHb94R4Af4AvOkUC5lmiMdMmenX3+u0g3L
vqz+jrDUsMabzhuu3/7C89c9LN74VbpzdlozjgulK/GtG8iSSiC4cVicXvEP14nlFb/IkK4xPZRT
QnQvwiP1ShNjIi3tZBva2XZmL/Skmx5yY+iwHICE26s7AB+KT1AbXtope1Yj0AA6rtnvborCgzZM
1B6ikU778MOrPYnLcXQPTBJ9YF65c1jb4aH1tOmo3P1TeuJHURML5brgh93NvGSDbY8szpThomGC
UoYeC2vgfG248QC1sm2QOru9OLXDfN+XZncoh3k4ydyqzjzHzRVbCUYHbEEhUvR4ESNvXdYjh4hN
b0kMud5jntVtjEVeJA0lpfcSoRC6KHbXbaf6vHDmMqI6H1v5qrPI5eubvdxGwhxciQPMd8LjSJfv
+u8K+3KQzsbjhos5btSGV2k1I5SL2FyXWGnMQjVOG6D7ppi28+pcDem3XnZnpmT+CaAOZADMWM/5
rtLTtuiMdf2sj5pqrs8j9fkBtQL+eeqWLKnKAh0/pxZg39sO72aaxrW7FCSNxFmsPN9mlXZH6AXt
XcYokZi8PYN+6b/0HIctLK/Arswh7u12jox9qe4UVuZw7KGl4j/GekSfkhNu4/Kp6Xp539AhfmUl
/tmOqn9uS4B0xmhw0tqq+uxu1nHfcY3zH7Gh16Pizanbu46rXoB5oTlnqHKehjWud9eHafD8o1ys
lzrHvWjt/rH33Uia+De89VSkKo9ShlMJCNg3xOnYN4Vzp0M04AY2U4kPhZ4K32yKO5AWp95c4ZHv
ggVUTmWEZrQfO7/9EsrB6ACXOXLX1rujaCW9et72i+rr5qixPLvpEuW9GbPlM8e8t5kmHIvBHBNu
S264rKY8pJYT7khfsS10jBVQAY4AiVXU42E/1lv3irNiChuqDY70CSYeFspX6jfrDz+7LzyCt3gK
F4+fNM+XttqWaMSlGaa0vYW1nz6xx8+QPtSdvvAXD7gMNyNlosdXwsTopqXFapJ8pe2rrUq2uAx2
Ra/UUboc1bRlStbeT7DPCl7b5lCbFCb0lflWl6XO64cuBhpnuohpXLhx/gPAGmyKnDDcvmC0OZxX
t8RY4uaxS5wtyXLGgI1fv7SZiIXGMT9t0mM/D7TepGMZDXBNY7xn52LBJC8Wr440XEiUPDANFmLK
D3tJdQXTSYlJ2T4ZBnbtdmzx8jtMz5DGjzs1DGR6emYFevuw1V1/rPbJPWJxk8cNQ92RnO/Iyi16
TEpUYNUuZ+X95g/bTiXO2bAoGZgXovyz5ubDAFFncMqHDLX6uCCQH6thfO87XYRmY34o/m1RrVdO
hF7d3fnNdZr/LtxVA2HahOkM/eRjAFM6eZC+e6+ceQ2d5oMKGVrpDXlc6gUlZ2Yc0Dp/kPE/yEzP
/BFuwkYzvVZSGaHkDlENVrTZ98tEEshzfpqr95VmfhFvw1ATI3AuY1UiXZfrPSN4jKuM7YOb70cY
JYiWtoer1/FWiq7sQ3Z0P2K6t15K0hvJzHgT4yOptw2SC9lt8ER7BpPGIoobbniOSRMxE+Ne21xy
TduiyR4fR9RSzPTzD30ff7nGVjD5Wp7XtLViNi+KvsgVBT5ullZT9PND/grt2Xvk28FH6syMftFN
aJbK4trbT7tjx5XlW0dXH0f0g15hNcqBcAF9QhuWDOpc6rcCNLF33ogfRVYHcp2OBA9WhiDAW/a1
M2Hd0jbnlCMmghlkRNkMl3p88/yqimZ8rA8GuhUr3t5Hli4vdYqDWuUI+Zra9hMDK7oZjUaCdVv9
CMgOx5kB0zJ/IxPeNvOtx42VutWGs66UF28UWkSrUA9zPlybbrlm9cStj33TUwU6QLMQC3SXM+tN
Frm4X29y3WWumTv7E9bbjOXX8c2XwjTuc/QaXDA5rCs0v2DfQNnAFfFifZPW0cM1FRpz89Q2Fua3
ErTVMt9Z3VIdIWhcfb8jlT543VcHqS4w5674sWLHPQpRfhfM1dGjuu6EQ4ymwX/MMcG/baX3Dsc3
S2Zra05AauODSAdXjZKPrsBve9aF5pwbk356NZDSpBAp3C1JDEDeymA64r6FNJqD1DcjLOydOjBH
H2LKULkBFON6TXfNj3wGuLdLR3XPMf52IzWfeXIfPW9Ktiod792deTGWtjkGws1Hg00oNHXjxe3S
+6V24lTav+kkONileGq4kR/VWDzZy4D0qNVPfT6asC2309Zkj97NaqA3zXkjH5/Z2RvtCn80nBmJ
TlMKDig4sVbTYs82ej9SBsuhQfbh5KSPvVs3nFIJpKdN82i0Pb8Nq4QNvIWvWGMYjuPVBOCnld49
ttN4AWke7F37RD3JC1VkUHU9fpVFMuauuSNUk4ULc/05+0oLOrAJ0dquUL2yBaeDUlHu1lc/L5xo
BmMB2XxyuD1YVzOnG3TMXt1lPuxC4uZus4eaFN7J2h1SfLr/3WYr2ZsqnqtccbyYf6HWHvt0ue7a
/KRlwo2E/Fs1y+eA1QZ1quDtzrQZraJ88or8udy9L2twtUMjNzciKUv8jwR0Ms3ZZ23WCYFQQk+4
O/vePMCqupnmZgP9ruIik9dAQLTsEY8s26cnfs1e/UHr0gPi9K2KqC6iOZsYnYqICB9hSGrTyUw9
Qn1/Q5ZYMKwwaFrbAoKwA0DYdSh/M7aN7Wqv0kO1wSaa7XB1f25SfvcY4VEIiD2lefPgO22BxQFP
AEVgIrmlpA6giAj3GlmESgxlYBsOsiuaxBkyP3E2PWwgm9l5v+Fz7uF5j/cg1ghOVeov5X1vWT8k
WJs+t6bCfpnihU0tA5mwcI89akxkIoSF7OYqGupmD2f8NHWxfjAE+MolEGSz4sSYj+Xv2cUk3sDJ
iJYMV47wOWLWLvplqhi9tcaYZA4Wl630TsuK42V3psc6I0eRayqLpcmDX5fjc43UEuKykvG2OdDE
x5InVFMYynSEYbq39bBPgQxgjHml7OijsjhMpQQwX2q6Gri2+aRrHCw2VflDSfEMfP4D3uNvt10j
cEoqdMx5DfStmAGU5WnYuQbNTJDosDEuGL2Z4euYlvuluTrbWEdrxnOLZE02QG8fBX8w3OwbHK83
TikxktaekUidrQtnfhxGC3zbi7VmZEU3UuB9ZXNWr26hDUbS++YV2J9Snhsl/lgpVkqD4X3Yeite
ULPln0VoLZxb5JTcGH9WhsVRwORifqMudqgNDj8NZ+yt8Nw7Zrx0gahdI8yW7bHufZoBWu2AxPSc
tmQiO7piEga+t0k92cRt81W0dOLbLeeTUNVfr8MK4dCcRdwAs9VnRiqOhm/zrXBJ7Vlmft2w3vci
P07reKHVtQn2xdvDeuRzRNyerhV5hSO9uNAl2lJLmnlqIhdoHyN6z499FKzQNSxcfDqbKamGJzQL
BrV5XAv9WAIQe8Oiftk67Yvb9XIotLt5nQ+53z8UmfW6Vpt1mbFEIh+nZ3x/9Nn93fTiN7Xo59ye
3ykjDHT1WRj+T1hdHzNdT29YCkjluLt71jX2Immlp1HlkCIHrQ3zbaoOlbZ1GK0tMxrc9kiJ+mEd
nTecG1/jqL9V5ZAfmTFFfFreccfxwVoCGsnociK8Zl1FRr+R3BjYL0rjnatkw7/MsCOhdi9A5Kpo
Amj7kEc/WhzzPDjd746tMdLcajrXpssvoBtMoNVi0Arq20dHX64LQt8n1VE9Dur+cZsE+nz94i3m
o9eJd2qivaCjXiI2tJFBRcdxyLZ3qJWjuk9nwfcwfXgSA6g3Txo9kUypXVJWMWZN/D1iw5Oxeyog
VdtfkNcva+1fLNO/g94EQ8Ldf8ldEO+TWB+kuwPixs9HSZpQf11SxluQ9nnSO/aV0uUyAIX6uE4j
sxmLhOeUvRCmeWgm62EtWaj1ao1n8nu2t+zHtrGvjOF39tdCYQ2+jd9nh5wgXvqjx5EDDPaAl6Dg
rGYv+iP+lp0fTthuoTRrgpVqA2ji4aJOq8RA9T/YO3PmyJE0Tf+VsZUHZY4bUOOOYETwyiKZqcAy
k0zcp+MWq8WRVlp9zEZdfcz239Qf2QfZ3TuMIJex2WsrjNmWUNXWeTgBOBzu3/e+z7sIpK1jheyS
uXCkexdQr6DO3eXXSSm//Wyb/v8O8n/BWfNRB/n+67evrzvHP3/7XzvHiqX/pqk8ZTrEAGU0qjl/
7x3//CXk7gJ+h2NiXdSgifyteazav1k0mm2B/UoQqKTTcf5b83j6Jdw9ghLdBMVB2/YrCKyfiJn/
QOuY8A2hioCm0jWqdIQo8OO9RgVxzrdsMhm1xVi7ynqI7Y2OeAn/Q/dDoxIqu09W4ct5pHffJepB
Vw3FVhmLo56lziIfqz34T+0AYWuVKDqd3vrz/7NJ1b5U7PJf/unwtZD/tGqy5681QtH/BPRKoro+
ml5//vHvE2Ttj38/mWPTn/nrHFPFpDQgAYJ9F6InQEJ/n2Lmb4QoEPjhEgwz0c6mX/m7PMH+zSGf
g8nnmpZpnEDWzN8czbRAqAOxAjxuab8yw+DsnKkTkE5M8LeJ/Y/mARDc6RTTQ+mXKgpJNohj8MSR
DZCCFvnWTDUiot5ESQigG48VIjf0TW0AA0PtFPsmLRNvS9VJ0FdwxcxQfaSwuDvuA73/Usgm39Ze
o16nfe7SVUn8vTtk7cF36jxZILjPDz8DYMPRMg6tS06iaWu0Sl2LxbWV7a4PR2frIEpYWkpBDq/W
qt2VqSvNuvGseBdVdb1SZT5+phyhLvrWdKjguflw5be6eUWt6j7D/33o+dNrfKsofLPJe+hLH2il
Z1Imz2q50oriFr5+BpMgo9uN6I9yWhr4a3voaLNLHf80Zkw6xhxuZxT0zHWp6agWU4T7t1EhDPa7
ljv33akyapTGWjeozdl13a0Tmv0rbIHt9y7pm1WlGy+VDKHF5OHkEaaZr8VutLOSlC2WktTUwKv2
QGhyu2MfHKNygJm+7VrNJnYvcNpipuoYqvtEBk8CBcQ3TRkBUvIZgZDJ0Z249GHXy9SoZ7baK59H
erHfUtJkNxgR2SLD6HE/+2od76pwKO4l4mocxm2yaWWc/Oh9zd/EWbvqkc6S/YhKHYRQtg1yTryL
LNPXdSUyzq1F8XtXSaqzlekffH20r2SA6AATjWw3eSDpw2hhYl6h81LnqBzHbRK7ylEPRYgPHNeo
mwuszXmkNHTHoOXMRoVMX6TdwSwfiKVrTPMH0cXWVVvRohm9fKTXapgc4YD5WEVKq7PR3TURGWhh
XSmv2jE0Z40eWzuLqid96D7bIF/Ad8ZD/V1LlA6ZssqRUVO1dZlJSp++Q9UPm8YCvqeKjZOIjYVR
gl/CIsChfUTO19ugtwN1jm0qO3ZpsZZ1bH/rbOQDWp6b3LpEUCa0H10weauutpDmoEnnOFnaO8Pv
jEMmPXMOjiqY/C5sJGkwzmLqhNvUGdMtZ5CaoiMmfgtFTtq24kFXdeeTgYCQRpFKOcoVHltLjhlL
9BctPcvIeEJcG2yqmtDVmelr2ZXnZsBlhCTYOYXrxz5XRupTkATjeoja9rvfElLikZjEdqmj5iOL
XiVC3axLMohDEFRJ5fEvehgdp4Il22WSukPb9ObuUJAoqsX6sslxqs4GniXVRotyet3TCIHP0SP4
wEYuUe19IxDVJNW9+4KQvponaqIf1aq9QoUAxMdU1bWumOq1a1TeUiaDsu6stEW+EAgsYNyiurXU
Q4lunDNHWmysnrrojIlmwi4g/o1G8JA0DyWSwRhskXCWntk8KdgSfteoZy281uhWtPlXou/zTYY6
dKEpFQ53NX7K4S8s0bp6j7yqzR6GfXKbUpKHcGFv8GToS0ubZuOYVvp1b0R3SQilZKiJLFXCOL7x
Gpi3RkwNCEJEj6rZ1Yxm6eYQf2dZXsYPFvGmG93pmutab+2Xsg/Uq8FpjHlKjLE+j7Q6nOuA1AkB
6kW9Tw3RK8vOV7QDbWHkDKnfSeLFLTc7BjShroIAnxGQ32rNdr+aec34DYP2cAiKfHxGbp2EMwNR
x7qg0zXvDatH3sx+F9ui+6J6iUKFZrI/xEO9y5K0u9JiSlGJOqyKJP49VgyzWFCNxctvKk3a7YCB
te51mA9EPSpg8B+BEYpjbgsRzaHLjLe5kh0c2u+UFnwNgA3Eg5nWlzQSOjkdfmwj+9TnllFshfCz
NTt1WSwiDeu8i5oYYcpOs/1u0Q8hmlGT5S7BCz0uSD9Olk6oPCSgWa5GYiA+aY21SrFl7rGaTA7c
XFvQMeC+50G07i0cMLnnSxzbLogfMmj3JF8jH0IEs9aK2li4cfsd0zRfrCYCZ4sXcgVjtJn1AzMo
6M2Y2rAEhYSqeU7WyXgIAZMt25CSVyrR2hvZdyuuiGZLt7bbPtlJcjREcG8pIe7ZwI+alUV881SI
Vpt56/fFBsnU19bTh4NCYubepJU9i3W92giaUstGr/WJuOCrmwLrw1VER2uADvWkeKq/9BMj3QUO
rjCdJK5PcWgPX8IydTBOEC9Wxk0yL4FkTA08+uBJ+eS2wzHuXAyMLFBVWz3XVVmtaq1BOIsrnNWi
W0Wx3R9HxTDmPo91m5jyCisCPX/DudVRFq+wG33DDec9IhWC5wxCZeFn48hn280oQoY0rgiGZTEL
GmPr0ZWi7u24d76n+dcJOTWLpo2d2yQJHdyk8b6J/aRE/doirmASpptJOHtfEHKHcxxbxAxiHeyL
kJjItsvKtQxhu3CwTh4HL+536HnGtWMN5VzI0JtDQcOeXRDDu4iAGc8KO7e2Kjbjb7C7ipVKvWiS
vOj2lTlI8xl7hXbtJqm4rYoAJgC9JOfa8GP8tpbcaU407Drb9x5yZIDRVZiXyU3ved/Vrkt2lcdH
zMr7Wx+r6L2ia/aaQJV85csaBRrVn60bh93Cqc3gczmE6ObKQlc+x4pfbDPT67OlQMxl08dZsC6z
245Mc83EhA+Zm/2VqfXWNe16ShB+oha3yMbsrxgpblqS2RA6lIJzKWzV7MAj9hB52UN2041D80AJ
6lHmvFG9M2VQtXBxqIX70MH8ZEVl0F+qIDR+1ygbbfyyNYN5xtbTniEVLRdlxSZianHDqkkK66kI
EaH4hV5deQIvuaWBbwqqqL2rfNlvVRlTt+SkDyLDoeaD2Z2vt9sr3/kZE1p+IIj4rrSOffRLT72i
v6usYLNhiyUsWTMrban7qbcfA8BUhHXoGKmpyPez2E3xjZbeiNsoWCuyyDZ5mx46J1JnsZ24/q6d
ghaJLxcqDX9AP1RX4yV67wlETnzKsvMaKl2Oif1Ec2i+ZJEaUyy17OdMq/qNwxH6mHsF7SNiIneY
cKpPUes0fEKoXc9a1eknZzeVfHyx9SaxLXPR87KbmyCycHSFwODA9jigLX0HBLumpM4aYI2/As6n
3MdTxZQqjaXQP7WKh7GKys9gUhyxT5zOe0n0slHvJyqNCXjCHld54useQnH7C4HLEBzVPjS0VeaH
OKztkuhOK3J+N3LyTHXlR15b+j0qS2fh4GXDyqM7WG2o1X119aIWCwGsex2btXusDFzVErPuw2iN
CiWwWig7W1PXKNUTdiTAZAxDVmsyds1V2SKfMiOmCiYZwBAd/ZKGurmAPD8pkSje5qkGlcOkR1Tz
wK9NxXo02Euu6Bx4q9SnqTfi6n1xgExBltL0LSBzdWFbcbwR+HeXPAm6jlgVfqf0XS/b9EtJtihe
vCyeU3F8ZgsR7zOXnRhtcbaq5lpNP2OeDgmoCfeGOd5T40OhUSvt16g2j9CWqxtJD2fLPuW2MsoV
iJRjVQUvOGoQ52V3pXBfsmS8C3vjux5rawWFwqbLR20PZPdTh34kSewbLynUZT+oW6AvcsI5xjNZ
KqycgbWtfItvD1KGJQthPK9M9vRUPBMjWGtDMn7rIy9g2ewGtmguAoQVGgN5hz1IdTdemHfFpJ9N
ldvcroljVeLwu80O9lZT9PqTTdRAMwtqeIuZNvi3io84ywaJN89tLVmMqAXvvRRyyYjPbdHAkaB/
n/jLbuzGa5eutKBfVLVsc0PPunJGS7H46mGBMX2lu+1E4w8rNxHKIrCq6M5v+C2Y/9xKHQ6C0udG
ulG4cfC4FGTl8HXFUxdsFT9RbuwxRxqQN/V4NJI2fBFG5XPkynP6OlV+DDy/net2aN4YWlUtbUrs
s6xXR8FirFvrybvVh/06SSSuOTtR5BIcNz27Fp/6Usd9yG6poHPaedky8YCIIK8O91TFKp1vr15e
RQhZ5ypaokNaGxArwicrN7gRMuuVbTbg09dSa115TY+aMqXzgkZNvSkGPq6R5twlYw3op3nKUn/O
x6S5J2YEjB0Mh42FvXLlIAsBbGPvspRGNdTSet1VSXsblNo+McobbLY0gIlGehRKpd+V8YDfRqMD
nQ1acLDKMVgaYJnmdkSXqIpsH72K4q2RQY3LgS34NUZaenhqr63KFGOUmTRgfiK7vI1Spje+lW7b
yBQi0NAfWjO8tc1W3Rt1p2w7HF4Hb5hEvhT6oqUV0IxY1SHNPjz1RD7k6qZrREe+u4JJfYCDyI67
UbK9yWvXIXyWJmrNPvzd1jpeWd9371QSEh4baGzasga0guS3Qz1TOVM71krdqW/HTdz7ocG/yDC/
DT0t64EiZ8VyqNxxEaisCMpIvw/q4tQwzp58kpeOqmIw21qQNnsIiI5c+NRnq9yJlvjPptpoInb4
d8fd2I4cWBN9EzsFnuy2sjlGUiDFj0R8fJmld1Rw61VQwbgpLfS5mOf7b1WrjouoVph2gyjK56JI
80ezNoE21j3r0MynxGDkYR6g1PX0h7501DVOwfi+Jdls0dmmuSKjKdn29hgfwEV9YjKw+WmQ5OxG
TL7pEjN/Os9p2mLuQc1mQxPh+xzxfIOSliLnDwzGKfpV+hT9NdkWzn3lg6jhlCqdp5SJcSURPFHv
KIoDqAN6G9UwfHJGGrQ2ushvHjLvuUSd+4MYDOcJ93m0jQWMw3/OzbSkMAc5LjTVYHq70LAWnr4x
3W6qQ4uvqhN1V//c2NAXKXSYaL3cdiOIepgNvtsfi8g6RiHCG1D7PruF8JZjZ3SERDD8A/6hT8i+
8vS84nYSKvN/Fpbwnyl6ZnLbfJCT8Jf/+udf/tuff+Ax+pc///Jvf/7lf/z5x3+f/vcf//q6nAcq
9X+V80x3que5oNUNlTC5yTj0V7cRVYLfXHxuwrAtMXmK4Fn/rZyniN8o3lK04x+NP0VmG7W+v5WM
FVX9zSKGipijKY6WKfBLwTSTm+g/SsaOTZI4vDxKuvyFWJ7cs3pep/dCIa/D3ktC3ICE6bXyI1MN
bfPqPr0TaMDFnA/DB5bDExnTwqI4d1o2BEyeK4ksnL1SF8nvOjkhC6Oq82NVZNmjr6jGY14rMA3U
VDyWgWVdYJa/vUp3Ko3T7jd0DavWVNV8RYAHV0lpIKMClYmxXquxky7Svrv7+BrfG8TisfDMKI2+
AZQHwq6TXPWDA1VaD5ldSV2DjOb5x6OcUsmnB+ZOdjNTdUEy8N/pp3h9KePge+4QBgfRd4iMKH8s
RwpExNakYvHxUO9dEAVoIaAK0U8QZ3MjbkqmddUEB/qnmJDRTq4ERY9k9uvDYK1zf3ZCAKCfPZw6
cExOuVwRSI56GXQpbDoQJRfw/OrU/Did6bxu4BOmp+NMJfTTGxe2MlfUVgQHqq/FQeroWHJdcEby
tJdO9niHcegv9aZxVt1AwnvL8W5ZpZb763ORIyJkIIS57PfO8zVaqv8ewrbgQDev4UCfAnOAc/Dl
45t6Ssv/OU1s3SBfhXgVwivPs92onqder7N5KWMB0si0Z65V3JrACNGk9davzxRbN5knLFU6/sWz
mdJwzysU6MEhBMm9blAAkTHVl+uPr+mdqW+7tMpcg6nPmzwB9F9NfY+zkqWBOz7oYw8B1k04wKbD
Sye87sJL9mbmG8KB8mWR5+ximjLOpmQaV+qEp00PdRbTs2dgCRxMqhdWjDcPCX68YXIqNfgOTB+B
swuqIZQ7dsGKMabhwsLe9Gz5RT2zmtS5zcfo1zJNmRSM55j29IAm4+n5eBjIJTXSIDx4IybLIMIR
RwkkXX78mN7ePDpUDqREmFncx+nb9foxlUnTEZBgpAd0AeqWdIp2nhfUhT8e5e37bEzD2MLReaVt
87wTBfNZNYgvTPHlwIOueoNSCvz25zDL3VVQ+xq0p/ZWd0r5o4Dgdu1pxAjkI+bAj3+Qt5drmuSs
aZqw6AxrU3f39eWGZjLg9M6CgxEYeAEa5dlTwv5XXzDSZwQaTJUOM+5g7WymJBLnVxnygrkePDH0
LeFisK3y/3KUs0vBAkviBbiPQ02vaR5MaWPI1aoLo7x5jfmkTC8X+47JbP0zKe/Va+wOvZMINU9R
fGu4MK1u+JIESrN0hO78dR/7vw0zen8okkpQcrBnmpryr5+NyJ0OP4FIDwO19XsdNy0HybKrH2IL
A/aF79i0/Jx8YODr8tmnMUpyq+uYZ4ONlSSLFFPHIa0oHNKs35Y96h+vHshJaOcJNbyZk3Xtha3V
2/nHsKQf8VJPq4g55bW8up0oskkWwHpzIJ2CNII09CbTbfzLD41RbDaCbGR5t883cE6QRQWO4/xQ
EiCE3EujF3BVjhJp1lDXob/9+KV65166QF9QUmCIhY16di9t2B+ypU5xsKWOCNYrx+QhCayGspMz
OkffHp1nXN3WoS8UnAQfD/52WWYzwp4bvBHBUnymT++oDwsyh45THnIkUdkCooQNHQJN2Wfkj/qX
IBHo8D4ecvorT+YOAhHDmJYzw+BROmfvt0bIvSz9VB78iXJG/hZHZQBVcwBy5oVYmzfzZdKiqDrn
D4OYePd8H6SIMLKtIq8PWG60H0YXqsdCSPBpv3xF7G9YsigAsSV2zr4C3dAMIwD89jA2antlpHG6
ShtJ5Q579dPHQ715Xuw8OJ2wpeMdJ+H67OblblwZilk1ByzDMPV5SLuuB7IxOjiCDdJ7Luzg3nlY
5E1z+kK6o5LUPt3hV2+cTw6JGbiyOSgaFyQhDZI+knXznuP4hZf7zXswXZpucF0URlk3z4Zi6lU9
Xp7mwG5I/dpR6p0rtEj3vWl3x2yschr1bmstbZCwF0LPAJ+/nZRkoE9nUJ0WKce20+s0C8WAy+pq
15ibeuO2t7F9LqXTmc6t72ZVv5pOp/AKylEd975bacYurbI8F5NarU9XEVK9lq5mKrvliBacUq5W
4dAS89QrsIiiKWAnqhudULboIognMKtJRIJmt6fh3rTeg2KBb140MH+TTVx4hbaoWlKs16nqg16A
qViiAOgR0C0M0Tl4EOizml9o1ZHTXHjp+AhFMYxv4oZSI+i2QlpXGaiACDFjHxf5vRo2CCIEJHhz
VbXIH76GcdvVKx0Qm3cTNHXgXpMYIX+QngACDnaoEuwzogeMrQYWqr4lWKIoCTT2U8rHpZWIjV4T
S7KIjEZCzxhte5E6BJLuifBMXKKXwMrPaPMCZiUBwWn3oZoUWDix6tc1wpNlxNEg/GRBjNiqOUvU
1x6JvkanVxbhdSCTfkCLMjpfgC8Xj4rGyWE9kukTrKTV5f56pMbaPCYxgLp9H/WRve0d3MaToBh+
0m3UqWZJXd/B5TkaAOtXQnXtryCVVYfsvgwxfJ5Jcj486LYjlrkC8E6Z4O1chBHaklmLFKXetgbp
HrOs6iJn5WlKf6+0vQreSpTRU1VT6p25jZ3mS2ngyKBiq2OG9oHrfqWBD0oJn1oGOYcj9FapfTJc
VSkFfrA+nYDusSe/eZ2GV7LrOZHx/rbhXkBiDpZFYbgvLbBAokRG6tTYFFii117gUY6nHF4YByVr
zW4VUxpFJuBKXsxlwA7Rvk7xeNXQG5LG/haYiUH/L7YbaCRZYmLmoC2jg1EHwvTNgqn6zaryAhpT
DUtqZcjOj2/jCmI2JIBUaF96zkHBy2hjbtgAH3XydeIJWrh9S3+H1q8VNKsRoL25ss0oIShBo2Sw
kmZMpQ87io0wlVNSPLLpCcp+p5matLYx5lDSSswEMQCGXpALC7xwuljUsaBDJ8cOU4iM67i+shKa
D8SsVVXzBal1KVduR5zPKozR+y91TS+6nXThgEgqxiZQZsdEQTErFZPpHrUyDWEEZ0k80Vxq9bmj
u0ntl8SNgKomjRg6EtJpCW+Upadta/whIQYM2HJfrXay5xe2m5AQqYk8WbeQCGr4mYl1S/kmADAc
ctKmVYHthSgvN9Bok5FtVa3HxquLLfRHMClI4cNkOaICpGRfw4/bEb5oWAsLO1IANlGEdPUaUdwQ
YEv0i91RVbqWVTUBidtCc57Ad2F3RnLiVNnDCMDKex7VOvNJOlE1sFxg8oFzZEIQDbql52HplEuc
XpdfC1Ld6ruYt33YKwWflXWM4rfe14VegyqPAvrrFUmLXf7cgi+pvwk/0FU1W9mTnVYwFzuTLMuw
iQUQVNHqI4Elupk8cuSO0SYj/wlIqygrp0ndqx7C/joZuF/bygI/jW1Vr0HqF7VPMEYTERdy06WR
O27IHTKSW8OqTDCeZYjNklfLbdB8AcXZVH6qI6evAtgc+eB12fd+zMb+Zqgy21zQt8hpYgL+zLqX
oRpynMzhoLV3bpz79TGKjJGTMjsZLB1o2rWXVBNUt1n6zHH8NGSEW+CuoiHV7kpVOBXBwKQ234g8
peNPLxiMjCyaxN2lQ0PmMNF5yZ0i9dBeJ+AoBjDOTZpu1Aj5BA0OdSrE07nKf6Rliq6PDoJgrVik
AzvZZm5gfdx7vm18VzGKu1893muAJlKUzdLKgN5i76fNCrU/Dmt9E0FLGhYxOToU2YuAUJR579n4
NDVYj09tojTdngXP9maEkkysQs2Pj7ns0QmykXTAFsnWfUiD1GGNVmT+DMiWIAynJgD7yk0l/WT0
KHRn8h42/5KtQ2psggkghP5khKnqBunkNtYgkc7iTBg/shpm5wwXZ6lOUrIcOxC2ki98BfQKTK5J
q6jArLijv2GLWVzqYbgg0ipJV2WXiBv047o7d0qa2DOIHorxyaiD4HuZdvE4F7ROwj3txIyV02Ft
Xzhd3Ygj7sokmTtZmMkF9yUXGGyILpnb0i+e60566iJPm5EAMSitzoowCsO6yfp0rDYu9nvirul6
xPXKI6FvoJUGqH8/2eCxQOcVlL19VNs+B9jcTq0FBilV2UJFg74jKh0uctZaJI2MdZmgDkqT3pUL
Nqiq38+aMmLNs6DC35YVKvi5rzbZHfaLuGIxF/FwHaBA6Bc5TFbjrsnQBt1UoB95xULNgtyvdxhv
WQlkfnQLveMFrzrsusAarHJD4rnqraE0d9rOroJWuU31ok9maSmKL3xIrJsgoSZKQ7WTLsDkvgkB
HhnqF1RkIt2VSefpM6npUf0Mlq3c405pAQCApNPGNesLQTN1A260xzQTNvXcGz0zW/elVlvzvA08
Yx237Frm4L4FVg4dnQ16HgfPFq5gD4sd9IdgZdhqZy0Su01IVpRlbYkryljdACeHMsaqsp3ox9Bq
Ubjlt4f3viHrByJdetQXiE34/ARVT0COg83Bmxt93muLODSZNaZRpcpdpkMGXtrDUJj3pe+1WImk
CsMBynJQyKsebsKzOe1Ntm2b2dksCoOIokjvF2aHfFYPO1AcKrIjJBo+0OQxY83yqLQ2a2JeoLsY
pJXDo4vYpi8qJAzx1q2VACtMWgEiyXP7PhthCs/g0ZT52mk89zkM1ckOQSIOD6/2KAsTUeN/jS21
zDYD20Ds0mQxQ5P1a0yJH2/5392C25RK8SiaOoKV062pnunFqMH/RiOC/9YIlacSavpS8Qb/Qnnn
3ZHQQ6CrJ/7XPs/+tbQRiXBtNwe3wAGW67jppJnqc67zUiXp3aE4YlsIuanYijP5PkaOHoeZ1RzG
rs3Z/QnxJDwx7kJpZMeP79/Esjs/cFJPsWnH/KTW/aTQvTrDSI0UXD/U2oOjlB7sJItI+lFBKq3q
ln8QTa9lm76w4ZbFoYtFr/BT7cUuq+y6rGL1tmIHpV04A79zMEXFTkXcxblAgfLsrFOIviQOo20P
ZIRWc5QLxo6IJe9CZeG9UbCPiumk6GA7nTpVry58DEcCVWtGGVtUBQgY+1VMJXH58f1950hKa4Y+
Fx06agnOWUGcfjx5KprZHbSOagkhgvpaIAra2mi1nxopo18+krJNhxsoLDpQKiXl06vqBheoWy3G
QxcBPEZ4gAVLKrAoUcMtfvXSmDQGhSD05IbgP6dDDdjGchizgqTVipMn+CgQC4VOSwoTGFj3eRL1
OLQ+HvTtOZiDpkMtCM2WBqb7bG74NrHkmuq7WG97dzhEqinDtVJnSbUddWIDl7Kts/aG6JM4PyT0
zuwLP8Bp6jGlc56mo00NRMpSVE/OyhlNoIkS6KlysJzKQSZYqNdDqnAQlZDwZ5HkgLyALRAaF8Z9
O105gNOFsGkVI4nCIHQyXc3A9Kiu5N5hZJYtIQrCwM/57Hx8e9+OYtK3oSmlggly8DidjiLIESYR
2/EOXgwgBlYquIZph/HxKG/WNweaJTENxlQ0AL95NnNQ2hf9hCI8NHki5oR+2XO2OogZyUm88P69
uaCzoc5KQkImrQOWzD7YXYNQXGTONWWi7MJX6O0oOhsMWrHTGzFRO09vm+MXaWlknXsgpdneor6F
Bs9Z6MKK9fa2UfCnEskUpIONtet0lNZNDENNKv9YYM+fQylAKiaNEpVjAvzq4eNn9M4l6SbHYZcu
EQKD83lut4jeOLX4Rzw4orrO6NqnBwqtxoXP6ptxpsIWKxbYQUJgfzrpTpbhkfjPWqp8wNlQr0pD
V78AuxwvfObevrWno5xNA4vgNr9x2SboqfjcGBnwIQTHm1TJvU9RhO5u9KJu/fEdfDMmDanXd/Ds
caG8TN0AV9Cx1lpn1mbg3eWLYucNukdzXIEWry+M+N4EoQVFZd6lUsiLdTpBYnJ1wukAcXRwmUA6
JVFpp9NNCjedOQTfP768Nw+OciRtf95fKrtwaqcf5tX3c9C6SInBfh/D1FaPNgYhjO9xX/z4eJh3
7iKCmWmVMDX6e+bZB1QiaHPUsA2OZBWR+ZgX5BWDU7pG0gd0XavJ+zEaHFofj/rOnZxkOmy+DBqL
VONPL45CX1zlQxMc7czLtpCLwmUUEi6Guf3SDnb6YJxU/Kf7iMePLQIPjeLu6VB0MFS1qMfgSI6a
gUtZxIfBMdhvpaOnzSstD68+vrb3HhzbHh3HucUOYdIbvX5wtq+ym841mGCpbj/5jql+jl0S4P+B
UWibW7hQWUCcs9kvoCoWvW4HYGG0Um4Us0Ad6Q4TU+zXB5pq8IImBn1g92yg1jIQfpPGdixNvdxq
iRyXRBBXv/5qsfRwvmB9F5guz25aUcsAp4YMjwiI/A08j5HMvyg72AnJAB9f0HsTgulgsnyw1aAR
dPp8CLKngNd14dEU1V0NvAk0e4ww2Wg+02t/+niw9yb61Fawfr5bnKBOB4vywK6Q3YTHTCbGNWS6
8vsoAT/rg3apW/LevGPfxnqvTo/rvN9EQgvslTrheIEhkSpK1XryQXHtoP308TW9OxDHJ1qwLBv0
S06vCfZoSOaUER49L6spPyq29aALePX/wBSfhBt8jDkQOueA7oRjv5GB2jumedw82rhvaszTRZL9
6qZssnOzH+M14j/oAU+vZywzjwh2JgS4wAZYnqqtBtsJ7n/1rtHqtlGem4hQeEpno2AKGCiXlPHR
qfp+j9VK7FMrTi6or97ON7anqJGwv5NaQXjK6bXQvhEu7Lz4KH1ytAjWKVdmkyNGInqkvfAiXRpr
Oku8+kLh13MUUgzjYxtq4y1yRGORS9EtqRf7F5aHt1POYq6Z3EAaZCrL3elQDf0Kz+/78AgG1HtI
8GmtaMnZv3q4cxhlUolSuGa088NPahW6UYVpdGzjUNpL1erc5q5CCNVOVmtHv7DffPeieFSoQk2k
DOdrg8BsZpuNzprXdRSoqV/PaxU80cfzblo5T79/aIRYEHiPJrGQOJsR2nS+MIHxHL027KlN/mRX
e6HZbirh5PvG6aJ9BIPraBiExq0A4DjehR/hnYnicFNRUaLTZg9/9vRMGZW5MZSwaklGhr6qjV44
b/Iof1R9gUfr4wue/rY3F+xyOzll8TkRZ3vRKV6mA/8aHUnzwkoudYoqFjkyhhFj68Z6c+UD8wRU
SIXp45HfeaCOYGFE9UXFg39OZ2nYhiGutyA6RsNPXrAaLptOGy7M0vdGUQWdYgv5C5SL6W6/eu3A
jtIOKevoGCKXe7REFKQL/s/Qv/B6v/1OWtTiLGu6jRzKzyeOR+XdM3vuo6J3471VG8U9hgxvbnns
EQs6WO6FAd+bJiz3vHugF1DNna2QKeb+0e+U8FhItJoDcLtVIhV3V1OfvLAYT0/ifI6gmuNMyXEP
lMfZdoOgqqiMDNDjkAxALxqOj+zwULSaeMhBrC4irO3/yNVND4xvgDUJEU8fW0c/MQmVMDriSAF1
yL53Zyu9Mqt0W15YLd97A6ieQKqwWHVtUBQnM4TUUA5jPesYcLjk3grK5Aoadrrr6kwsWsKQiUEm
wm4nY7tdfvwKvPsMbQbmQqnO22elh57GnmESY3HsVUt+0TFuITaXI3lGgw5P78Kr8O4UJSxEmExP
kxXu9EIxZJeDwxhHp4EwRFpZAb01jgkAUrMrS4zG54+v7t1p82q8s2mTFhV9Ftowx7QbDKp/yYvf
KEQS9lG0o/We7tU4SS8crd+7o+SoIjzTqBhpuBBOHqaeJUHnKlOjzfOGK4Cj5J23QZN99gJdaBfW
TvWNFIWPxOvRzqYOXRD685GG2aWSBUkJWdnMkC94N1ET9essygJUEfQl8es09gxMUvaI4+DSzkLV
uajz91PDLDEVzhHcnZ9KXS8YScvGc9N2HeWxjKTX5zIOaG/Utk4DsSVwNAGIhuyBJnze3Vam5t00
YeFv0kKPtj1+p2VgZWZxYYl/bwZoOrsQWiJwZt2zNcpxZGd5kYiOg9oEyziPOrkiWph+JXVTqF/Q
Gr7xsS8unCnfnQQGOyj+7NSJOZt4lEI9cAdIeRpTHsc80x/GyBPLMrGUC2vHe18XTsrssiZlNqK8
0+kGabDynJq1Q8ezOWtJqyXspBWrj1+k91YojuIIT35uTc5ltnUu40w2QwTOQE2OAmfnPbhxudeM
DjueXbtXumfUG7X0/AuqvHfvJNQmnp3DAd09u5NGFYtCwn8/xm5sLl05lktfa/UdNe7ywlyZ/qrz
SUwBW9Mtc3KrnOtv+YCBFvMTqOZ99ZK6TNWaZPgXWepkQ9jaMLEuh8/kO6YvqDbkBVnZu++QzvYH
1xEaYFObpvKrfUIi/JJf8eJjxZlgTdhojQtijFwyLvqiuo+LsH60UzNBd9Spz31qfv6fnJ1Xj9zG
moZ/EQHmcNtxZqThKFvyDSFbEnOOxV+/T8052FWTvU20rmxDhqqrWOELb0AJyDxVbm98bFQF/Epk
jfO3+z88BAbLs3X6QvYS0pcK0dDJJETCdJFST6MhxhxUc/ddH8VAYSEr/qbJ3X5QNN3eWJBrew4W
iMrbawMaXkZno/TTLVXabxhhjA629U5CRz4BtnFocnUsDggJA13R1NTByib3vH7jaF27OwzP0ukc
GeAMl0GHYsBgNtw28fEy1l5qwGGfoaYkz6gChYdWjbDEwVhCbMQd195I4N/QHih4yDN9uQ28Opmo
FVSJnxUmBtB4ypQSSxEpLwN1vUej0JSNw33tiJlUvsilCPttffEqhyLCwzSdE78xNPz/xhyfowOG
yoinODHU5T9YVhMfc7gqVGaJPC4nOMyBilOtx5MVNS7jjPU/bRqCPET1FScr3BZ+RWRaX25v5KvL
CtGOwg5VTFtfVDAhWiA1C7/Ox9oGeM8cZjncVSBAZ8mt609Gr7Wfbw95bV3JTFVZsyJkXa7rhByx
SCAP+v1kFC9OFE7iUDXhEIFeNtP3fzCYBalJFmgBzyy2DS7sc4dLAck9EpFfrJ5u5Kmc4uyfxkHR
9Hh7sHWXnLCDwVSbvosn5f0uv+HkoSXuuawmHqKYikP7R4RiDI8AhFAD0cI9shfa+1jFwdJJ9OiA
rwzF6rB1SryKo62S8bWLm44JLwS4T4oNix0luw490lApUKA+/RbkXeejdEMXjXjH9Y10ql/6Pg3s
nQEM6K3lUrLceDrWpBu5INxVgIF5qbjDLxekhnlSWwo/oUmx3fW0Vp3ezoMlDtgrzS+V6+GCAHDu
Xad15lsldrSdGmk9OPYRQ+PbH+favQkig6o1KRkdRXkSfntHhhA3USNsUj/BHvREHwJWuDmH9Zu+
csWp7yPvX3PKs+eqLO2tfXEtHJWEUoNGpgEoZLEv2qbHthUVfr/I6YbvuLXMr52bIDGFrVmzt1Fl
PxtDj2b0PFZdtc8KpKoAG0DC3bjUrl3eZFNUMSAPsFEXeyIZ8yxF3j71tV4AUI7Rq6hxo2xBRM24
yPanLg2DXwruOfNG7HdtZGjIui6BMesyKBa4WOxyn/kz/4uDakyhRsde6cwPWQ9SDvk7zLdRihdb
vd1r9w1kVNmggT3tmjJU/O3DmxO6feao8HJYZfZWm2q8VNSi/jDosbORd1ybI/Q/thiBGVNdpB24
fUYxyEKKo4BpTsHUFXuKWvYjOAPlTZtHX5BKVzfW9fr0/m/MRaTbWi7A5qpIfZXK2JtRhB+AtqHc
Vlb54+0TdO2toGpJhw1dSQgN8pf8tpDY3fa1CvjND8r6VUY/FfO5xjbKQ7e4wDNv7JVmI9q5OiY8
No8CDgCS5QUS4NSlWaJKfbx+MCwwMbZTdpxwyDap4R3Lwdl69q/dEwSUMrjCEtBa1mgnJe7rFGE6
vHAs9YhpvRnv9SKoH/AWsd+MThyhT8QreVC8ZqtVcHX/EFFRVpHRtiH//LcVjgYHuySd/aOEDWZN
gW8naMCXdv9eiTG+FGja3f6kVxNlpAb+d8TFBV14eLO5U5L6hQ4DwCT0QsOvDnBa0BscgbrhMDt4
susTDr3dMJ/jqNc3rqRrqZoLToHoXsJmlu1oarZaC1Y49fW8wPnJUzEytoNho8Zy9bNiaE2Y8x/y
5eXSZnNkzHXepj7WVenJksYObWpjYopK1NsBiMxp6ISLX7WAPXB7ka+e0N+GXnxVO0ICD7gtzQx6
WcrOs7PoMxpKQH9VR9Igbo92dTklYV0eGtqdiy8axu3QmC3SckKZAwcV/4HIqqrHaau6cW1a4LaB
q3n0VJ1lj0bvKMhrsUzMXOmYlthS+InwNqeg0Kiwem7P6+pwROOSH2ZTnJZ//tvZqHQ8lZLQZafa
dBx2cZHVfwHjb38pdtBnf7Anye1kI012aoxF2JhNSYQ0IU5e/NXVoYVxtMdNKNrYk1enhAyYJCrQ
Plnyq+E2YeHuxZnf0dNQ92bUFfrZKKLu49g6brsRAF27SgkFIVGDmUQTYhGEIFpJSbNvMr8vjfRj
Z3YCzTEv+oqih+nuUVat/6DKRMKGrIAG0JBcdRFsBIWGjhfgP99ycJmg6lidB08acWWQa/Yltk/v
6qAVD3dvFA9aJMkMBXiXh+Nyo3RWgJBgQbBlzgZyVi52EDQPgUujINjqG/nFtQgXTuRrMo5kGWzM
y9G4sTFJ1Kn+NLivHvoBZcDYzLLHWhTibIeNjoJikL9NAEJXO6tBRA+3MOdrprXFxm668n092jbs
JHSfURVfzNtuA1zGCyvzk8GcqsceCUIPdxIV6kITz8anrmjav28v9ZX3CqkaWZ4HRcq2WpzJpoBy
hSgrMR111n+0MoR118TqMYfkgltJi4VnD/Ni4ya4csNRtpQUR84mWuiLJW8j/OH6SeUDF7NQDk3k
dICsR+T2jrend632xA0H/ZUij1RoWcRWgJ4xjy+a3J8agYCg1ng04Gy9zD7PXUm6DCkpeUiGep8M
Fk4DqZEfojqEkItgx3OQtfWDjSDZu9u/6tp3ll0zfAzI2mE8XO64ufGCmgw694FBIZZbDwhIK1pZ
n6ECqo+A36tvtwe8FiQgOiuLfyaJNFTgyxH1YOyGfOaeIgIK9l3Refu50sUj+2KUvDB1j2sfSnXI
ojYwi1CXVJW02Jj2tb3GVUnoST+GR2DxrtFfAszgcawpq86f4nr+7iqZeFDMwflYWbF9YrttUfTl
TlqUPj0DlX3azcxFNxdLPaWZqYx0nX03N8SHPlTt+U1F+b7BdKVLD2jb/AXfC2fkDqtBsUMYyZi/
3F78a1+bcJBSNjhmmvqLO7QaocZZE6ca1S4MTCppj3mwSA9/Ok0xdG+8ubfKjZfi2lKbVPbI00Df
ruSPmsaI7NS0M79VsuGznszKY65im+qIoTp0CAY+RMCPT7cnenVQyvWUmmk8I71zucmmyRJG04W5
7+hDeYSCqpxVEcNryPC40/Sp+zamSrexqV637vILg9OimEk5BIj6YmsjjB5kWH3mPhrm5V8Ue2P4
S874Be+n8awaYb13Y3GESYa+nRmEBxsxoD0tneoRHzMMnpvSxEEI+vHtxbh686DAT2GfkJsSzuLm
CUol5s6GL1jgEvUwKJ2HlzlW5HsXTMBe0WCuBgY8xyEW4cHUW5qghdiBOA/2ZS0ayr9RsvGuXtuJ
pCVk0oQQaJgsfpJIRDXqUZ37tJkdpAkHoO+sTi9p1LHa8MoMotA2FuLaCZRtB5lN889lvULrcJS0
0UD3FVFpJ6up9UcPyMwjuNwaXVEwA56r2Pshx/QHL/jxv8p2/68iyGsUu9ogPKc05wknVilZFo8R
HoNK7tsm+gSHsadPhwWSAasNetV89kRkPbO59jUcdeRPKHzb0Md3XCrNvlHS+ilpG/ErmsDA7qbG
LX8EXVjFO1Ufsx+3N43cq5c/lVMnMxzZbcR0ZPEaoynTmEkAoK2vcGJE4rnTPhtZY84bJ3UdtsIs
kP1MbkaKnMsORJpMSHDI3lpXU7UT/KfFI1j1Jc4CDoTru2cF1xk0u9x2DLbYdvWML29R2UAPMxzA
DnVU1vPZDGNcAu8fyANNgXuoDB6XuA2jwiyviOmKuykkAyPA1R0y15Z6mXymFh9JV/F0YUdDmqcz
eXnNKbrRMlvKCzTAyxj4l1u5B2AkcY/GqRF9yZUizw4w/iWRXkVx/PvtWa4PFK8ZnuAytSE8XuI3
XOIKoGFx6oO0ct55EGnnY6EPavi1wmuaWiTiCf+2ihPztHRd2x5HBdu3ux8Y+aS+EiE0CViUP/K3
XK6O6EjEypj6TiyyY5ba3UgTPi7Rz8U0DMRT7XJY6kz/dnvy6yuMBw3wgYR8ckaWoZMTxmFJqEJa
1+BPu0dKaw6PU+vm4mzlDH+IBrPaoi6sHzYGhZJhknPx2ZfIhwIlwUqf+OKNmc0/KAfOe2ewhrOJ
zPNbEvP4a+0N3sZnvjJToLo06Gi0SP2kRdigKKFd9T1FT9scPeq8hO9wELNCePBQvRhmbqa6G1/1
yr0g41EiRY0nFQ7k5VfFnCzK05kSy6wiKHHoc2TaHzALrY2dmyv9p7u/pWxqSDQlF55pLNLZmmpA
Gbg5yaU9Yk42F6q+w3Jb+ey23ehTbe+UjQviyvzoQCKPZ1pcr4C7LudXAqWwKy/IfE3vVPtx7tR6
PHa0X6ov8Muau59bh4QKUhPEQMqtyw7/bCa9JXSj8PEuLw8qnC5/yBvY0pSyziZdis93ryfYZJV8
Aqgc9elFrIvKVlq4blb4QWJnD3NnGNiO6uJnYbfttO8asSnkeOVggJsARCzRXTrx9eV6KlmkJfHc
Fz4wcF05VFPwEkAU3GE+kT1YQ++98TJN24LnXXklKQ9wAVORgLqx7MVQq4gAz+K6wgWkf1bgb/9T
15F4vL2aV0dBOQntSChfKyEerQnNPoFH5pdTWR4jo8VtThm3wsQrp5y1g2jA+kk43mJHIvhZ1GY9
lUAzyIdPZgzeaDfGVqKfZqxw9VOrCy3dOAbrQcG/QlD36KYwt2U/xYjCJu5b6SbSxdYHJ5rNjway
KT/nKLA+4niNFv69awmfgowPkKhkLS1JFUkhJUxVo/R721aOfWX2p2DolI0+yrVpSYFdSEoG0cYS
bViEJo5UtssouQNRXkdE2srLADGIhlLxrBunP5iVhHEAAZEBx+LbJSJwOhedE99WRuM56iBpGqXY
eAbWR4y/35SvD3kV0PPFJdkpCl22Jq19zM+TpyKYsyPS7APvrJTqhxQ7fQ1CN9A2tsj6ppTDUjpB
JBgK57LXWgVgNSfDq3wkoIYXK0y0J1rjE0pGtpcq928PYEbw0g3QMABDFgsZ9+RwehjVfmMP//ZV
3p8FSuUbb9v6PKNjR0+fk+ZBmF7ujhqlEuENY+MnfV0YO0rf9VfRUvk73t4VV3YhoTVugXDO2RVL
Vo/ADzvMKGj5ug75Zaic8Elz9V8YaxT+pFRbUO/1cNzA0oUQmC1gsuUFglc0skHpPPpRGX5DHh2/
VLV9b1sYlXWZ2KIsrWPf1/v+NQajLiztEH8P+/IOw1XUeSZfKxUbvFqgVvtATbr0yPONv+aQY6lZ
hXVeYxfljVtt+PVh4LKEUkxvj4eVis7l8G4BtL9Ia8EJRzO4cJu/Om3+EoKn2tfW+FJUan2682vy
qAF1lDgXCgwkZpcj9pYB3aL2lOeocVBhmcyjosdI0hQu79us3RsxvI7mcOxAObC+i/dUU1vI0hjN
P8eZrj6QoOHC1cXd/MCDb1e7gPthY8TVOafgTMD3mgjqNJsWKxpPvVpmNRkn0hGzfZhKBVcMvHyc
H42KH9LG2VidQUbj3ZZJE5Mjlr5cTZqwBigKyZ4ZBLr+U6+8N3EQ2eg4X5sTsQEamRwsDr3cxL/l
JtPYYGdmO7GPX894SF2h4aPiKk9KVoz3BglMSNLCOO9SS315qWSRlRTI60rv5QlbP9XMjkIb9Y0J
yY9wkXEyCtqMMp8j8FkR6rjtgwE3Ovo+lFc+lQBGkf2ME4qJXR4GxT9jEadqhtNyqIVveiOYyp2T
Nrq3paRxbWGJY2l2sXzIgiwWNlLUIEwnMPWUHIPy2Ot12R5QHbKG58Sz+z/YLMAziWe5Rykryl/z
22f02sHqcc0gmy8AWusqvoiHriy6buP1uTYrXgQJoCMSoyVxOQ7GabkAZwOgJsOHAe/U2P0Ru/q8
14JYMf9oMLAjFOBI7Zb46aALNBgdDAYIdKBq4CXhEW5z82HOc7Ela7o+blwins5tCfETyOXicHtq
OOFVScF9EJV5jNGWQgR/9u7tWr2uHU83cED5JiwilDEOvc7GoBJKXO3Vu8BqOly/ayP5FyJt/KLb
eXL3qeNr8dzRJ6MCoi0Dr7xCwYv6WO7TrZA8oNEpFAyLSlQM7739QaxQIoNEwtUKWeZyawxJEURW
Q+2yybqhRjpNy5UdwnOlODhDFWOkVMs6x+1BV48c68kZ43uRqDLNxSmzZ7JUbN5CHzNvxY9VRT0p
qASiy9PkD3PVftPRntuIMldRBE1AUn55jVGpXrXJElokSQzy1zeTKT52eKZ8K716/MDLkRyUAKWZ
jUmuDx07UtpQ0HAFAb1Uq6/c0pswicz8dKL2cfBKp/1XUUPxCfduxMpur+h6dvRC6MBgSEVMS854
+RnrEtcjG9ycn0+KUu51vVGrw1gJzM7dzsEeE1P6esu2Yf0ZIVuDiJEwb/KsJd0/wXTHtvMu873Z
Cp6Q+0XkMBNm90EnfNx12HAh59jH2sZbsT7zJjIbnHcafURIS/ATOow9Iom0HbxxBpOK/9N+npzm
7rAIdiYMMnIt2VldqnHZBXC82aGDmTrzz86I4l9ZUfRfXLOoAaPSQv94+wsutgs9YlI6g6YSKGCk
UZYnfgYN2WKGND1zpwZ7TfbvXIT+DlHnbAkzLxZQDsWOxLwbBRaumKW2sAp4Sq1wHHwuEPT+2MSl
TUV1jjfirmuj0IjBfoVfTLltcci7GdnCosMbSjVb6iW8P8fENLKNjb8U9JWTkQeaKjHYFMigizfU
CsapKSNLPEs+T7o3tKTWj4XXIEYb15yVgze0zrR3akf8Cju9wqOR1OltSHJo+CPKst+0sHQ+lGpX
T8e2yA2sjIwsQKEwbjOWHykXZReCCBt2bQ4c9nFUUbx8MnHv7Z7bgROyL0ecoE90n83xrAujjE5q
FuT2izIZwj54s1o9hmYE5AgDVFK/nTCdMHyb2E4bPaeV2xZHrxINLolqo7JSJsnbgwrsRjwWXp1/
TtPImXdBUxnTfXv8de2A8hP1U+HiSC0+0axrFZqBrvpc90X7iIOcd9TwvDoh010fm7zW7yMEyfEo
mgPvoSVDrr+symg5zqtKPmrPxlibe82orKMEN+762Ui29gUX3m8B5X+G0gl3eLVpEi9DHjoTgy2C
WXtW067b9SGohxmb78PtQysXaDkKoHG6jWxBxKwWC2g6UYZ81WQ843qhoBHbTMFpdFrtGGqpstdF
/6tLNLs8iQEK3e2hrxwvFlIGWA7gpVXb31DGIY+nbHqurSI/FEoRvlf1zNnYIYsrnmWkrAnmisId
zRBKkZfvCgdBtSdkGp49c/xkx2g6Tq66q4voZ4gIxk4EW5nNelqmzsmjRSgBFLRwLwdUin60m0LR
nhOM2x7apPgszGqLEnd1kFflKYokMqy7HMQr275L7Fp/Djsg/H2oRSfui3ljc6xvdGrjOhVcKkx4
mS/18rqs6gyF3vkzIIigPA3V3Fo7wNXUx9HT3mQTXvlUFNEgxaN2BjB3OSnH6epAYAL9PEWe9q1H
SPfRwNb+CcRC+FxDzT9NqUg23uIrcwQPy7BQVwBZLcWF8LNuBbqx5jNJsfLDdJvg8zzGELyw3Kjv
i8LZi4C6OW2mNHqhU7WozFij0DAsds1nJI3QUlSs9GDiebuPUKQ9BDTlNk7YIqb6z3iyASe1FKiL
yF30W3aW5vYYBhRknpMgxT4zsPK9M7VIGpdDv0PpeHp/+0SvP6CMiF8tItD7p/F4OV5cxhAH0cp4
JhZ2hn0gjKp7dBS3aB41r3Uw6YOnA1g/y1NrI1Zd32MWYs88AwSRQNiXsMtOJcQbZ816jmtR7oNJ
Df4BCA1YCpzUeWpC8cGEzbiftGFL8ujKIktUKdBcKgCwRI3LSSd0tEPhImpHP3U8VEnQoW8sgh1o
U3dXFJN990elasJNbdGIkK/DYhNByK4riLBUu5yw2EEhT8/pHEd7A8PzYVcPYvh1+6uu7xrGQ2OR
RBgALanA5QSFN0cmvqTKM6tv7rquQBfErbfaD0uIJ5uVYaBQyYnR91gJ6k2zmTqprTxbiuUXZjof
2qH6PlrqL6szwp0bdx/jCHNLRxUvo2Y9uMk0bWwiuT8vH0N+AtQVDimz5d67nCm4cQCfRDZ+b9p9
dLCnwB4/piXJAErGntsluwpdgfyMO0EU/Ow1DRFjR0Xbd+PeXZ8jsjsaMeRcpLV00S9/x2zqdZTG
aeh7deDtRNNXGn36tvpuVxBwqwTmohlN9VaRZT19aZJH8kWlkqRoqWgzON5EozSP/dIW9gPkgFYc
zSqv1F0b6bZAbFm1vxu6sKxdNRvd50KrzZ/37jVaGRRWDdmI4rFe1Ckcp1GdeASeFqEF99ymWnK0
inrc2NHrI0stSZb+ceZhwy0xVsnkBGkGXtgvFF3djcn4RO/I3XmD8gSOYKtWsD4/jEZ9DDgEnitE
jZdfk8uqq5Owy33cV4pvqVGYR9dLxofbK/eajVxuXjkMi4ekF3KUy7p7hBuCOetK6ccJHsT6rmb1
cORtKIxiBazFPzFkV+eDV4wVatgKtg7jU4giBvboBdp6dqUOzt7OMdn5iCiV9yOkS6LtNA/48T5p
1brE69YLjUduHCfZ4G5cWyKqzby+tA1k6+ByifKkd8qi93Ifw3h7T/Nf2TslgvO3l2j91ANwkuZ7
EI7AG6+KlROyk8ILCt/B4gorSNc+jEFm7ytg0KfbQ60mRFEP9JbUTWZ7rRiZfTDbVeEEpd9pXrwf
h0jZu+iWbzRTV/cEo3BW2FPkQPT/FvdVGSR9oWVjxYHN4xO2zYQSjcDvPAhQ0NwBhh9Ova3fqUsr
BaKkngXxEnRtprnY0IYxZjZKJrXf2d28b5Ue1q2pTce7l5D8inwYfzyqlsuSZZZPcSqwcfHHQBv2
XduFpJ1VvHHVrvYEc5G3LJ1A3lN0mi93Hv4U+F3HI3NBkf5hFnbynBHaHKj8bDUd10MhkPQaa8LT
hfa2WLZpRnp68ObKn8fWPre96eDZbENbVKK7HxACIKgn0DOo3kkE3OWsqMSkBmLztd9jfv0X3yZF
BQW3umNSiyne1WMfIHsz6/fGt3JYLJ+wAHxFEi5mqHZJoUdVU/uJbkCo60RyHMZg/hakUX7y8ky5
k63ETmRAQAuE0uRaq+J53NWyElHUvupm1YMLSvscpWl37FPnzrbf61AspsR+0jGmani5pJOl9WbW
aAwVa9WDmiAs2MZmf0ypDb1JEJ58f+/2R1OFYIjKHRkectOX45lOlXhKYNQ+8GT7WOZWcco15U6Q
6X9mRYWQIwDknxLK5ShW3ZtxNni1j2CieghdLd9loz2fLF1UG3Hr+kpkQpQhaZPhfAqZ7XIoR0vt
sZvd2p8tLfgO0mp813Zi3rjj11fi5SiLz0TLKwwUpJd8aCI4sNtOhzd9ojc4+4Br/aFY47+9PSSf
/+BjYZIi7yo+2TKxq53C0iB2N/4cuuHTKA1ADCx57l9BtjsgFvJINBaWzr+W2QVK1NiN3yNEylFO
MISKYnH3jUhEIqHNUnoM2uHiLQ7whqkbl43eBkm6NxG79N06nJ4crTfe3V62Kzci5tM00CTvmCdi
sccBLoYQ1+baDwcv/Jg1s/ootOhNKOJhIzq6OhI1BeCwEnu7LOXGlO2sonNqxJjV/uC2brzTosTd
i5j+wu1JXdnnUoOfexe0jIRvX+5zwpjOGPKk8bspVPZ5pRcnPTQ+/MEgVCJlNYHu6zKCzVW7t9uo
aHxNZvZdPo+7Tmhbh2kVJ7/uBEJfyRahCLm4z5sB25eqH9hwnNTHusJ2phaYMBGs1Y9hXmwZFl/7
SroEysgoFmtVebh/q1c4MVUtrxfMKg6mhDhQ9MqpUOLupR+sst/YE9c+FMhB0GhSRISC3eVoBlTT
IBdzA/3bqM5xqOJXa+FedvtLXZ/T/46yxIYFHtQ0NFYbv43j5kCZv9jXCe5aZRT+vD3StfnQQSCI
ITAzwABczgcOYjdTmGz8RomHx2SczX3YTsHxD0YhQ+Qjsf1WkOdQL0qECL3Gr5C2OzSa+FfLMTn6
g0GkWA7dECL2ZaQeN/WohGPa+oEeYUY7duM5Etb9QTrBMy8fHweE4Ar7i/Kg6/Vu2foAJty/NWOw
vEcTb0f9/AezgQArOW685cukFjO9zp6DvEUptpnnnZdOqr1riqLekk69ugOA1b5yymiGyL342/np
PKuD0BWzbLkQB1IDZ4fF4t35LHe2hCwAskccizfvcpSst6Z4MJGWw63POAZVi/2dAxTj7kUjR5Oi
OkhRwWPQF6MMYKOtxkbALhu0fZLEysGo+vtvOIIR8CTSzUP+czFKOCQ2lkUWrAGckd7pcaz+CxPO
eB/OXfo4cQl9vz0rGU9dJOmUlZgPfT7KXVTVF4+rWwylM7mAsWenUvuHMupq5eMYiX5+DkZR1s/F
FAT2KXYweH6gEd2Fd4foVA6pBKNtRgoCdPpyWcecJZ/MofLTpqVEG4Wh9rPKcLHZww5TviIw1G/d
gOtXhKyHEaVeMntmGVCYXoLbnzA5ZkQw/b4oFDM/gWOYz7jzQVt29DzfKgevx5S6VxK0TeWGSGlx
EtQeomgCTM4PhTpGB0/NavuvbDaG8LNiNorxvUqTcKOIIf/Oy297Oab8Tb+dvrAdh4mab+d3vaq/
TSmOHewo776KlBj09jZaH3R5nXDV03GXbr6Lr+i6c2sqaDz6MLaUw9SAos7qsNp4IK8tIlsV0xFq
ZdR8FhOKB60b1LbufWGkX3Kz7XdzkrztZ/2xT8qt4Pba6kl3LXrc0I+R87xcvbLU5pSSbu9jldk+
ISj2D8hmcXZnvKxvL95qJHl7saPhINDW4om5HEkxqPxV3dT5blkphwS1UAhJRruLZ9FsDLX6Ttxb
vMigpaVT/Ip7kYu6jG2sgf2gQPUrTbz+kHTV1gG7MiGiQADgwKwkenpxIbf1NGixXgwon8S1vgu7
+MeUBjke2RaO1XcvHtVxG8ACZ5lG52JPmJgs16OrD4CQ7BKWegVXFUc+T6v2Nd67W1Nb3ZeviHrQ
cWQj8v5Y7AriJqtpc3P0dXfkGeiBGhZ7tP3t5gFzTIu2sWixdaRVN3ypSfn6jUBkvbQEolKNk3eI
YtcKOyrwGuATq76dZfFxoNSyb7WgP4+ztaW3sMpcqRCzMSHqcbbpuy6CbcBNc1SPuQHKF5tkjTiL
7MRNTljBmb6eNc4/mRHE93Y/aZhxN/MmSelnUufLs+CGU00nt3H83oUbcaYDFFpnNNk1bMMGRWwp
L63PA1VX5JfZO3TL6IFeDjeN/ZCGXelCbh7UfRdp9k7VN2/H9UeTFg004eHIcfaWaYtioG/mGcns
ZxHU8kPjduxOp2vdAu9ahMM2Drk8Xhf3PsKw9K1oxkEpkGTdy0lVWiL9doThY31oHqISyJMt3Oak
W5OKi12t79s+pp9MEfihrfWtt2C1b+Dnvepn0wzkllnK29gRGI68d2YfkbcmPLljwxCt0XbZG9pc
jYU1Mp66GOfijnG6fRmsTidDAxoBm0LtmTTKuJy5qUU4BAelhkq5W1WnZDAi7eRVUaQfOanDdODZ
tdy9FU3ZfKyU1rxTbEcipkDSsfrgrqWF2SJhrG2iqFIbTD+ZMUO1Us99p0XEUtHYah9xk95qsqw+
NbAzDXKUS9RLn3B503Z97sXzbFtwpJTmQVeC1H60SiujTckbeUyLGB/ZsXaARpidjhGnSaZsHG+v
+uoQyR8hTQwlW8shNL5cdQWURC6y1KLAgPAOV1L2NBeWvtFbWB0iKADIR5OvUGPVgWVejpK31ewO
LuJoY6SVT6Nw0kNF3f/QW5u2l1eHku1WoPNcst7iANEpIWnR3MC3vM4Upw6zs3wf4oQ7780ePdjd
vesnTYOADPOKvfLQL2fmGLWTT0Pn+JNXhTs7RGq5juNqI+lbBU9S3I5kD2QpVZSVNHalezSbUtfx
B+p0L47b6P86AFkeqxEvRC8v1L9vz2q9iGwKsmVwlywkH+5yVtmgGHPXu54fCTeFhoIcwp6Gbvbe
Rnbt3huP14miu+zWg4Imr70cq9GtDNfpNvDh0heorCuiOShVUx3V1rRwr8akHKik4ub6UVMiO0P8
3pw31vfKfGk+0fGUsu+yeXP5G5LKcumnsGlKNN8fSq3vD3FeusfB6cVGKf6VO35xwxtEv9SseZ1p
O4OJvhzLNjLJthjTlybQ6m4X4eBenRM+vPGSqnXfHO2YC/eAuy+eKQ2RQndSm6Yxz9UghPLAjZiR
C1hhCxNjlHbViREl4jMaL0VzUpJ4DHZ60dnpm2Y2mgHcpmf9atraKnelNWhihEaeD8POritEqKPU
M/ovjYhNRkEQvTkkfdZ3B5ElJQJNgtNk7tKwgVYJy6sIPqWmGYwPalq64a7hQlF2o2a3Z0GBOtgj
K2Qa59Tsphct7+zxfeDZQfCY9MDl3mqjUjfPWlg3zaH1KvQ0piI2jcdCt8oE02uzywHQZWb+F/w2
MZ8aswmmvUjmKf/UO5Bzz02ohuEx0bt2PqgWedHOzezpO/ouRbJXDQ7EMc5zBAKrBOLu0c3Dyd2N
7mzU79NWHzCqb2xLeUBVOBj2nLMxPLGuqnmcU+R63vcFrbt2pwkxeicVQ9fmrwj/dzfZZWRjBhIi
dd2ZL40y1hgNqtrwORkaN/970vs+f6fEDXXgsArT4NNU4+c07PGKj4In14iL/l0w6ar44BllK8Ck
xFr4OI+NVu0q5KmqMwAni/iXyNN+D3DWLR9un+f1Lf9fI0YCM6qTSz+rwYm5YEqjeokQhT+2mF7t
Kj1sj/eOAtMeth61ADQFCM0ud3ZutXmV9dn4QiLev69yczgmkb7VZVqHKHSXyLkMKLJSE2IxSmCY
rRgUecHbmX7Ayqj81Kio7x6LXsFXx2wLz6KonAxf750dtXHWDkkt9oaxJM6hARE3GB0lL0qdjNM+
EaO5i9zaLjayhPVdT2cBuVYk6unU0eK9XMW6TE2159V6GdOOQzaUevYrgxD8hd0PjqjJNKva+HDy
r7y8khiSGTE9Speg0y+HNCIdq9HaSF+UdC71k97WQXYsoAQPb9GFmN27dyNpDpKQbJJXvO7idYlL
ijSuijhCjnz1MRuEdgryeznvhHP0+UHJyJCSf/EWMUcxjeEM2zHwU8PszhXYyA9lPw8PKpp3R/yg
wfPdu0EYkA8mFUNkJ2ARP+pmYia4wgQ+tDn97CX4V+AGdadlnJwWdEpQGrxWr9Jbl98qpwRV2Hac
vHijab4Yc2TvHSV0Nj7RehPSDKL4D9EDJAPJz+UogNVbjBDz9IX81Ph7rOv5S2TgymJUbn5S1KrY
SB3d1Q6k3EVHnH1BMxfR4MvxikmbUW4bqpdyzKw3GiH+cAjwQ/iLblX0xEzVZy6F4Wc7adNGpe3a
0LIFwV6RmPVlBSfNwnxqBrN+KWDjDg9VkSGoiyDJjGGRMJzyLBAt6Z5GDSLdeaZTtsECWN/N9EWR
ZMIRCugBdM/LqWehPlM1sMcXUy/EE1rXwS6nMLPxQa+Ngri9TK/kIEtIa5BSxLetbHp5hXfWuRL/
nKpq3pJKWt8k1By4SggZOQLIlV9OpgAyBiNomF6SpngTBYqzT7swwToHUs3t0/ZqU3x5aUloNxk5
qQvo4GU1Z47N2miMRLzgOTkXIPHD6ENti77bO9msF4dBH2f3XdWGjXok/rDqd1Nqd9puhKoyfg9z
hfpZPc5FuEusXnGPVuCMb60xVKwfXoQZzN13LMp8sHpsaaDA711ceoqThRpRj3ghAJKVyEx9mLSu
f3EdopnbS7M+vOj/EV9yltjVNCIuP0JoqEM/Q6t7IaIdml0Lb/ihiMbhR0n79ZNij017uj3ilc/O
8QPxDv9aorYX5SYjSJsxtZL5ZUj74Qm6Yr4X1BcP7uxoG+t4ZSN7ZJGSm4/MDgiay8kFTaqEZpfm
L6pQtYcunKM9hNd0YwnXQQYBBlcsyvdUQkm9LkdxYtWYFci0L3099A96YlZfYExaR4W64M5DzfKQ
9b3YaKdcmxoQbCmZjlzRKnWVivDh5HUMWkHEr+Ii3+vUSLcOzpWPxY1DRQvhFN76ZSATNkOfKElR
vMQV5QSPRsYZLFKxH1UjfWeKufq7Rwgg30EaG89BMz5Nqjn+bSZh9pTh0/iG7nlzDEtgbraZb6lb
rNaAYqUUV5aYEch4ryKLv/c9vFjowum1l+F/ODuTJMeVLMtuJeXPEYW+ScmIAQCS1rgZ6eZu3k0g
3thH3/cYVkxqE7mCrF3FRuqoVVSFE6SQZTX54l/MzRWqUKi+d9999+YFIIFht64sWert5f16OoqA
0KGGwiECs1x/IVTlaDALcYyPZji7S5wqGxve/ZWtulaq5NMDQidKFf1Igom62kUJOW+Zql3/mKn5
bLqOTuD6gsRD374LF6OWH4qelPaGkvRMS95i2dUuk+zFvqvDIlS9oE+SboNv9DK5kzkOwCfLnF8T
djvZDkJViWuUXQ7oCPvzeKubCkXCvmn6R1VSazeJNXh2iPq4kpqqV7be6bKLNgMgNrj/YMVrLBUW
AQkYfdyPVFIab7CicqclqeO/9eWKT5YRxCBCzOZ4Qhliw7gs18PjpLdwTBw12oGe5m+N9kSHseDl
wDQGLny9nn7bqLKetgpcevlxkUzlrhzS3Jf7WbqyhU6O8tdR6AYBJ8Sdcs1lrulpgyffMAo5jtsn
xo9eW27KGuMZMwivGbaebgVALDYC9QlRpFvDdMaYkHxmmgLW7QSxq6W0gxhtHYJ0Z9rny2/p7Fii
Vi58qbA1WX0bZdDSwonc5aNUJKiLN5HulRL3hmMC+F4e6nTbMS1hqYNqGTTWdes5fnlZjwiD8jh2
oekpchj48VJfqxKfXBm8Kri/NBCjQMIhvrp1lzQbO3Vh8fCUK/2xL2bwmV760Gm07jRaWW0VM77W
BHZ2aiC3skgUT5PhybSjFuhQeVzmud1qBZhglPbXILqzoxBS0EMCv5l7/viLUvoubKNSVx4jzcy9
vi3qe60PrxlbnB8FCg3i5KJpY1V5NLtpnmr4nPhadYYXJEl9K0nttQ6rs6PQ580pRAPFCbsyNSIk
OmebfddY6PcnnMt1J12jgpzdDPRvidYXMuo1GTGf08IcSDYecZFaPDWP96YcfMQl/WNSVg9DEbzN
qpObhs33r/HWMH4kJwb+OLyhpOq+FSFWJ70TVr5R9NfY4CdVCzESPAFq3iSGJ9Y8LfLJvT5LyqM2
YsY5qPZNHBY3VoQQiFYvz/VSfgv64D1+D29UkHidI6tJJyzwAVVN8WZ/O3HbrDG6JGZ/IIQQ7NR+
mOEYO8VNRsr41niWSQp6FeQa0gsA8OOh0o5tsSxskqh3VA+jbNstHQ00cuyu5THn9iMHLkRwrhEi
ktU5KAM4t5RrVWw9HVwJnVy6M+mi3l0+As+dtiaZtaDBkc2vqUnxpPfG3NTqYxNY9gYbnpcAeoRv
h+m1IvvaUI3XBCMIYJu6LpQSihbHa0czR1sFfbk8FloaoV86wT2aK9XLSqvYjdhZ7Pslmh76QRm2
ldIFW/DO6qbowhEY1LqmpHS6vJDEiSOR4yAao0nr+GnyQpsNfdGXx8kIZ6/IHMS2l0J7c2BDIgoH
S3B2qN+uTYCo/TQhMqPqY8Gy+mE3fDOm+po8welUOBbZj4juUEA4UcGk5JsCymjzYyhV0lYJB3zQ
7E6/slNOIg6kS+BiUO4WDedczscLFgRRr0ROZD3Gtfluto2HgVZON0K+i/Lztc1yMiWDaguy1HRI
wgmCknE8mDMhJzokrfGIpJbuj7mO7U2uXZPcPDcKbZWCYkh1h3d0PArE3yFxpsF4NBqjdk11cLZ6
2l/rjz47CqAtfavQEWB4HI9i2w1kHPoEHmlzj2kaljQc7sPgw+UP+cwoQptCXJLIAlAwOx6lgnah
LzSJPoZaufgYwSuboZMm//IoJ8cFJTl6YZDpFXztkxB6mp2unaTERiGr7T7UGVWjWEu7n+ii9Fc+
nXNDoe1EgyavR1A0jydkxwg6NzzIY94PhVsu6rCzdIqMsZM0b61CMysITcIBlZiI7Pd4KGDTDCWp
nEqjlEY+/qtoj8jok7f5co0WduY1YXgkukKpr7PtVkPFZdnlUktRM5QxfO0DpX9Q7G5+660vJkT3
EH0BJDpUao8n1ETgfbEWMyFH/xpjC32r9Q6yA/b0VvRQCDfATMJCjlgTgYPjgYoOHZc4zMO9htrQ
xq7UnyWidG/NqAgouP+4PoQo1Unq39dhDG6hgDmPxRNGitGzhKjd0+WdffJi+EDApxRyN4sK1bra
TGWnj4d0KfaDTBGnaRExtlRpvLKp6SlkRY7QSZIaag6koUCTp81kckFYqJq9/Tg2zVz6lWqHhxrL
vcnrKfvpMLbV0tqzIHXmR3M6hp/iuZzs9xZ2l+pdiH7W+DmL5bTYzEWNTpxJJFx51EvVx6pJh+Cz
Mo7V4kZaRy23VKTBcNVkMLXbypDsxsXzgK4btzPbCe9n5JOLHR6uaevnzjxnbmnLoeSr2P1MXmoS
3G+DLmtNV1GTUd+U8jRq29wZu3rrKO2Y70KMHqe7frDNeudYQb6NUUazZpdK0aQ+zXm5jF/g7VEr
NuvJvgvTSK9v0JN1otvRScs/M46TF2JxTdkuY2KH75wi0uOt0MrvO3fSFzn2xwpqztM0kYK8D1I9
inbzqDTATVI8N+/U0TZwbgBgxvFWKbLJ1drA+VbmPd8usbYjo16AmYUbl0X+wYzgsnpTpaupW6J7
XLwjKpmaba0ny5OctdbXVBmzkqfNqsifFkn/ZuvgIBt7Lhb1gzloRncT4+2renSxSaqL0EWNTrMV
VKa6MSFjVL/avE/fQ3pRFBRNiCK3RWfg+ps3mIHtEwXJtru5qcZxN7U4R23ThA73m4BEFy0LNN6G
92OsDF8lAGtoP1zrRuY5kRToLyCpoeyZy5TNf+I5Z6legqtK5xVTXrVeZiaB9bQQLTrbetCrwSvy
YRl2hlIYyU1nWhPKAnk5j9IDtzutmXqjh4eSJYp/ONYYpBsZADDa1naqfYmMQtc8+hSzauOMaW69
l9M5o3F9CKKncJSczKvMtpJQkJLr2h+sZJTZGP2g+uMURdii0oau36fpkCp3+RjMMTnv7CSHjobr
+UZvinRxeRkSjILWqm0vR6tg9uAtJNGfyxx2tueETf4zCNviyQwxUHMNwsbWq8IxeepnbZI/Zkuv
PczylGHizE5THKTVTDnx5sKQSh9n2HK57To573BgAOt5byx6lvhdpEvxXtEzKdklpMnhDsKLGW0W
qbTVzRx1PQQT8Ro+15XSqluwDtXw5CQZq+1UJpW8g+7Sq56SWlHtUrt3ph3loWR2ozhbvqFHaA7C
vYTvydXrQM/8GMmcb4OC8ZLfQu+oXPQHJtW3tVox/Ap3e2PTdK1svihKnctepDVqCtXEUQ+1Jsfm
QZHLtkxdmsvaLynfreKZRhqqEOEypduWrS7/vHwUnty8JoiSUMWnVRmu6BqwUEZ5HDOpbPYhENa2
c6r4xogl9VPTIel7eagzp65gMMELRTMep+xVnIfziBGpbdvsjaozb6JhzD1tUDT/8ignoasIiUSN
iz5vjt11Ja3oKHthgN3sa/KgOxjtDR2HZDlQz7cIn/+6PNrpnCAtgWGycsTjRHzHd2ItOYGcjUm/
d8pxRo/MLF05lOvN5VFOMWSB7qCxSbehEHxYsxJpIrP6kFe1n6W8GF1FKjANqquQ5togUdTeTW3N
jjZtmvf5L8WZhXZlKgXQiNKxbN8VWVpO26ymWfYhtTKjd3GxDt5cuYD2QVWablKSZsFePV4LBBcC
CjFDt0+dwTb8fBzle2NypjcartO7RQ869QHucOrTgNXH46itNs0VHXbIc9JEWqXRkLtQQ5NnKjj6
ZoIHtQ3NvgivbKyTEjGqo1D7NYiawkRp3eeSxdEUdCM5UW0Nwa1l/UiUEe+2sKX1OC2gSkSd6apN
L725OwpmJk3wsAqQiEYFaTXfUEasaqlM87GolGmnC7M6FJ8+XN5ip7MjHgYSeE2ODPiZx4vaaIuW
C620R80OpK0p6dp9QhXUNypb32apep/FSOY47ai9OaokEicpR++TeIYI83hgra+5CLXOeRxr1i+E
63bfYkV3Jeo/ORXQoQP6IFcS5nsnHotkf3U9mpLz2PRB8t5JrWSr6JX0uYsgQKHOsDxfXs7TY5UP
Fhid60QwJ9Y9mkrFRxYFzrjn9JW56pvET4gf3aifrvnGnhmKBI/qEtE/59C67BqGrFs0yf0+N+bB
R5cufUY1U7uvSqm/Ups8OxQIM6xFKoa0+h+/KymqZ2eM9H7fxOFkeXxuQDpGGPYEWHJTm9vLi7g2
U+OmAEenOCeMYkg+dPE8v4F9c5V1sjpb477jRMv3tG5K2GMtmYEipI21m9f2/NptYTSW6pbaINfP
to5nL+zGKrGQ/1bi8AZHdComoxLF17CYk/Cex4O0zWnEkSzsZo8fzx6lroOXP+wtSYk9bUwI9iij
vYtVh5KTUdOeOUnXKgxnbhwASbqAaDkHWFPFQ/22JpGGysdM4XXPMdVHLo43xiFgTa6s/emrFvca
O0q0MZ5m5HOG7maaL9Ne7SkJe5pULntsWJ3Y7+dFD6+EBmdG+99dL5agG5/AhXMeLwrY2bKnQXK+
ieMeEmsQx+/oBfpxeU+dvjPRKQnMKrJlRKlW55xTYmybz8G05+aW3qPVGBq3YOaqX+S2lm+Rg6ln
L0vHJvLePDDFdlBkrvFXPdvj95ZZIZQTmKp74IfKB1KX3EiRRr+XnXKv1HV2M4og+PKgJ8ceEuCE
Q6hUcoHwX/Hz3zaLtSDKXQ7hvC+y2XmKhyW8LyTDQa4vHt61eYqi/OUBz7xIwEmyWo4IfF7X6qmK
3rekUwUDsvgPoZWgaYIm+HMQdPHu8lCnHwLXBjglLxKs31nXKc0iULTFyud9K9vRvZqkqBDm8TWn
hHMryL1EvzBqpqdQW6lroUJKM+/1IJo/WUbc+qFiZDu5TwK/RyH7ChHszAJiH4mGmMqXwE5dXYfd
YrbISBTyXskcE0/WqidqxcwuaaZrxjlnFpChkLkReuqCUXi8ObDiGcq4reW9Fo7BBklz/UbXkjcj
oqAffG1AldQMOStXE9LyLIsKBK/3xtjpt+nozA8AINd0Hs7MBY0/8FYOYphB6+ruWLQt5elG2bcW
bIk06yY6S6fcv7zlXp3QjgAdJiPQXQRgOfgpHh4v2WjFoWRbgbwfqBlqflBpkOdK0ApEBMtJ/iFN
NpT2DlLy+7mJamcL9b8NQ6CWSnJu5kZWU08NnOnTbE3z8l0di8zaFLLVGx72oKO9b9RCzjzZhDJ9
lwZN89MKYrO7K+t4sJ8BzCoZbbGYSqVmRFGynaNBeqM9PJcu1Qth0wybjuVcMyc61NmyoaiVvZ7H
1iO5Dbr+aRULVqKifL68oGe+LtHsyCdMXggUttocU5NziCSyss9Kmb5txYA069Jbpx0Aipt202SJ
al4JBU+3CncihWUgJOFBt66S2h3yZdNU4BsjpepOtWN4TIveXtkq4smPdwpoNm3ULKNo11VXM0tV
ZShSRBr2jlkOPzKjHbZsXO2pWACD5qkxP+v4et8qs6xfobKeniDkRxBJSbTRoeAcOd6jfaBBGYrY
o4hoVO+yZlY+9SmE3XEG+bv8+s4sJUNRBwZIpf1pTWfkwumktmSoQMvGB42tchervXV7eZTTK5uI
QPAmCThJLte6VVaHZjU28NoetLTxC2M0tvlU2A+T2oQf0tjMfjl4x28vD3o6NRS5UVWDw0rnJ60M
x6uI0nLWlIWq7anCOJ7ZpPEn24mMNwfUggnFW0ISnjL62iFtrhJ9LrGO2mPqGL/DmZdP3R7NB7O2
rnF/T7cFsAukUw5Jgmr+fDyhfLKcSqIIunfk6EezON2t3Ffzdozaa/W8M6ckanQ0gFCfQq6QA/N4
qMgEldVrzdjDXk8lPI1p8Es2aYLw062i4/fox/pY0X2EqZJyZ0bL0vq1WZd72antZqPGUzV/juPJ
Qal00EWFa9Ll5Ca0hvhQz2k4+3Mj1b/wfA7j9xY8kfBGRWIj35iFHEe0KNkYPit9HjsunJU6oP0p
a+droY5YsOMvnA+cPjw04tgDgE3Hs0SfvQhGu9T2TRv/WXa15ll6f1sFNACpcft9HqLbOW3wNJOu
hLBntqYg5ZPKEpIIQtjxwGbWLiNQsbrXnNJ8t+iS9D0zGuXKB/DKw1vNj0o7lwCaLIyzhusGFFma
xW6MPS1Rtgdobjxmttn7YdJ17xWrbfcyKr672ehLb5rH6oDtQOyXZnfNJ+505wrbYu50gkrKka9O
z78FsSRxfYwMgb23sJ1wQSslr5nqEsh7STdv/epF55/4GLkAhdrW8dJ2ZhnmAbW0vS7Z8UbD3IJS
AvWEy6OcmRCUYnJGACwMO9bc23lJq0qyM4OQCOA4N+JwN6gLjtgRe+fyUKfXkCWq+ASuApc7qUcj
7pY6fdUaeyW0JH8O++7ZVNLBCxsbFFCxIzoCJ2VO/EnLqivtHKf7lLGp5HFws1uBZY8Xc8zkKpZV
xk7i2PEXHCRIdtTYvzzDs4uJnwGNt9Tt0Ko+HsUaMhxr2sHYx0vV70JMe99FJGJbzOiv5QKnXzwT
sgQRXFg1wBw7HqpupAlLVdnYz1Ay0Q7ljnhy4rz9HLFt/VTT8l9Zk/RfApC20A1D07mmYHpussKg
l11DbfTkvtBjPRrYO8a+otPhwyRFwwNai+FnMzeuIWZnvn+uXMT62KAwsU+8SspGR6oiUM09gj6D
dRMsg2S5aW06dEdaSWJ5pRONn8o2bnKC1ykbdrLTxvWD2Sg4TtUQsoorGd+59Sdg5hYjgxfg0PH6
6+lsoQDamHs9bGdw9iynVjl/rNp6o5em4baB8qN1wq1SZm8W+oUrTxsUtBEFGApm/vHQC5Yno3Co
2RM6294QywGM9LDZxU3XX5nluXcsdFe4Q1l+ugCOh2opnABSRtZ+KCbVhdOEaUpnolGSBvrT5W/n
lKbFtBCuYUMRgYD2rMbqRjzZ63C02E/dIPl0xo0vSVaj0phL+fJ+VNp5dq2lz/bzmMaTT5dtkG67
suuf2iQ3p52WqtE1pEQMenzxiJSewAsUAQhxzaMairBr6zKy96Pc6I/lkA8PE2yyj5fnfmYUchwE
HNFDFRZRqzdqxmFFD0nv7K2xn+CcFG35bTDM+coBfOZtij4GGqHIsnlZK9qRWUZWv0i5zY2Sp9CO
5vlpNJRxq0SmfmVGIuBYrRvHoFgyYmSElEUc/ds9aSX6YvWDbO8zuxueByMK7qHXUfO0MtmV9aD/
9OYVRMgGOjDtI1Ay9NXJW0hlrYJp2XvTCjK36jIa9ezumiH6uQV8LeYBpYt7ebWA/dBqoWOnzj7N
i34T2H3vKaWVI8grX7O3OrMlXjvWIAUJabG15qphhFZo1Zmzb6d69seuqjwU767JDJwbRbgtwONj
1dDCOn5NUdNMUw/6szc6vE86xPX8BJjn5s0vh3oHcteCI0sdYnVWTkpUULlMwwO3orEryrF3ZS24
1txyZi6QqdgF7DfOj3VoZqInjMwGklDVqGVeH1vpbcoJeQ0TO4li+E5fRX4pGxOcrQ1S7WRUrBxL
3YOe2/3izxxay7OStgW4WDdJNlZSeJ/59GtXile3qkxvr9nB7M4mW2/fo2KuTk+YZsJYABhoMo/g
HPdtITMhJa7BMfc1lhFdcWs8bB0fuyeHP6d9Id1kAWDVg22PJSwI2Sqoq8SGkT83CJkcOs6WGMNd
s5Ndpx+R4UJdYc5+lDh2Ng+lhaSCq4Rh9rRMsYFXkDR0VeJShwpwXqoRmLmvmgAijRZKMQoL+Hk6
bqoayc8xxV/0KU6Mrrxp1FI1NjrKRuP9hKaV5coKSPHXsZHjBc0qZTbvJT1WrH3sZGV9G2OkENCG
MqIsVaizQ+luaZfZxQ1jqFwJidK08UP4gvoPpcOL5+WNG4/QiIZDSqQUEemEWKVFg9bAxCY/26tq
3m27lmaLPIQ1/cZRLAjMrzA+R+upitdAoIEmyWzve8IM39Ty0O9yxOovj3JyoopRaB+iD0+EQeuA
r5UkRaXxyt7bZZ8cTEyR3HwI9ftMm6ZNMGbtl8vjnXxOQtnfoM4LfMMiri8LR6+dkp8q+6SPy22t
IowbNbrx5lmJrkZCWdANAHRzdQAZtIbIyFuo+ya0Gr+0kmpL35t0b1STdGuo9TWthtNVJFMVmhBw
sBWudvF1/3Yv5Yks9WbTantcnvQDLntO5EYwwj+FgSaFrtxjG315HcUMjm5CQDeo0UI7QdB91xDY
3DpdlWoDgWKT55ZvWFX9oo9zVO3MgkN+VxvSZGyxdpjMK4DOq6jgamiaf+DNwp4WAP7qUoToJ5zv
HGeft1M/P1aTk/1MrSL90lhjGm6tVO2/YWpEvTBLp3BCR9JBw6V3gv6l6vJWunUyDKpczcwkx2dP
2lD6NPgez5Fpt+qOtLRZ/DjWLVo166mrvmpWHiJX1yez4VVp08ebEkyp8fvYKLsPTmCafwbqYH2m
hVUb3HhGB9GVIQl+H1oKxNvLC/96G6+mD12RuhpdISR9a71lRVLm3kR6ZI9uQOXWVPX2iTMaupvM
jvFDG+ZPhT34M+r9P5tyaL/qjVlduy3WL1/AhESOoErQyYkfj7dbE8G1Qt7B2UtJGu/GrlEaqtNq
mHpzl6ZXwNaTm8km3gIdFCL0ot969bqDUeuKtmmdvRPCMhxJzVx6ZL+ZU667hVTvikJ9H9pcNZfX
+eSgsIFD4AKBh5LcmydzbKxcNtI4OYxx2X8ZpTJzUTNWP10e5ST0EqPQM6FAPeIgX8O7Rr1g65UW
yaEdpHRn5Yr8rpiWdAvEdS2/OjkjSNwZCKgAyAA4bX1GOGObI7MG8JI5uEmY09cpDS0voCW/64fo
yvlwOjG6XAW4xQ2iIrqwGi2MiqkMqyo8NONQeSAIVJqzSntU8v7NloTAH/CzAciZFKiSerwb82lC
JQ8Pi0MylRR56ibfDhmiMZff1Ol+YBaIKAJOgEaSNR6PIgHWlWpRc0c1QeYRd0S3ZRI6u8ujnFk2
kTFxeVDHBq5eAY91ZJVWOkYpy5ZqoV+VTvXNXmjndZO2iGT/8mgnhzhFE+5AZmShEUxF43hORhCP
Zj5y78pGuLhGjrKaU0s/m2q4l5Kh3EHDvKa7eGaC3FFQtZGlEXfjasies8Jc0i49QHOvbgOjo/Q1
d1LG19UFw9fL8zvzzhxRPeEiFp2Ir+Tx367FyJpCXQ4rRKPKNnxwEKf+mOh5uXn7KBRfVe5foeKy
XkUwkkjqJCs/LMoCTS6XpA3qHOWVd3VuLqL8im4lnxWY9PG7isJEKRAuyA9qbwdb+lPM72FkJN/e
Ohe0YXRoUkKIHCh4NYrkVGmYGAErVulwiRHEc8OhvmaEeXqkM4rBS6FZDDnL9Re7WPKilm1RHMpM
W3Y5XV0bZ06XLYJT3a0uqZNbox9+39W5eY0Gc7rlNaFHwIFERiIaOo6XMRiVCtJxlB9KxRrGJ7XJ
zeSR3hh1OjSkksXHWa36H2YVGMmbhd5fHRk0VFSoGoJwiUf7bTe2VdYqydiWhywyR9srKwcjOkx2
3/6JUT2nKETQwhtEwOh4nCyeA2uxw/IQDOi1QLHPPSNH/MzJTOvNh6KQXOD+4uZCt3UdBWpJXkLb
7spDUS39FnTEPJRJV16J+E5xUqHsQIsUUjfEFfBsjmcUt4nWS1JWHoYkHW/MVE+3kSUFO3KxeKOO
lennObxU8HHbmzCe2gz2qD8WnHlXjufTO5SufT516tqigrHePTP6rOCUVnmosNrZjXVhuvkYFRtN
agJfSamjvflzRLuLVwgaTav2Gt/PQ92YqiapDnUzlD7kw/cF3hf/H5Mip+W+FoogJ3XYQs30zM77
6kBHTOgtmpN4hRPQUqoG1SZf5Pbm8qTOfIJ0CcIrJn+A47hOVsgplmZurOrAl6J53E7aJqa6vXUy
SI72ArIATzX8fnnQ0+MT+QjCH3IkyBeAeMdbiGM7QGRRiBMFquMFiGEankpoaV95Y2d2CMgWCDZN
XDg0rekWCrThyZjl+lB2hfxnbBblU56axacWg7+NWsVvpqbSKUaLE1cphCZ081Zhia02o6GNdnWA
rq7dCUntbTZOti+b17DIk9IAI3GsAEdyehGwruLwpqnhfYbMDBRG27RhVg8eaQjdSbWaomMSZ7n8
bM40bjtD1N2ya8svl9/hmY0DmEyTF1Q0DtA1rNf2aj0sS9IeOOJKbcNx3agbTRn7/M4plaq+RdpA
eipK2Siv5POv7ctHSZegzlAg5e4QEeBaQT2K4gROUG8cshofDYv7yagQUUX8oArv0P+s41unghj1
LkLgvPmzsqbF2sljnrQfCmuh7cxNS3Mx/1TMtqzvcWh35l03qXUrenrk4vbyQq03Ia0BbAXekeBX
iNzpeLP3I60Hw6Jkh8EqWn9Y0rtQCg6FHn6mdvxWnEgMBgEHEEekaSc6q6pS9oq1JMUhKlsFx9ds
wINVfmv2wihIN3NICSoTqdJqSm1WqV1edM0B90LTMwzJ2bHVng2nKj2YEt2VK2e92cVwMPZIsEks
qNGJFf7trq50mJu2PbeHuJKsXadzxWTOoGzoqBq80Z6yXTuP9qZpzNBT5zq6coqsTyuGp5+NGIno
iGt8LXozDLWSLm3VHaIhCIBbaXhoAnnYXt4mp6PwHb8qPXAqciSvzg6zRf5XW8L+gEqN/VDTLJbf
THk9XguQX8siv389Kq3uGETgeSFKquY6TDDbTCqcvh8P4Da46KhaMtm71lnkO/Rml2Kb2UvyVTek
WnkfNQhOLD7tS8jHwgzo0Eqy5b6tgRZUWnyzKow/JoMmLzv62pLJs4cRiZl5QG2GFksnSdw+Ne1l
Fwa5+SO15PxjHAAauHkTJTgt26HzZUYLljYfWXrWzNZM3hgTMVlQA9JeCFvCd3BVTdFSWv2mupgO
pSN9Uwc92kVlYl75wk/alcQoNqcgEgIMxWd+vEG1OlTtPK5mINNBUTbNZHS6W0N6m/1FKlB9cqYJ
uEqaOge13nAKi0Om8fXvEiO02y0+1wmCLA0onzuhbSP5FJq08Y2ZkfBeYCfz2VLYBURZJXtVbY+g
cUt1GBybWDtXrEcp7yncv+7j//Zz+vfwpSQJgGxftH/7D/7/Z1nNdD5E3ep//7avXooPXfPy0j18
r/5D/Or//avHv/i3hxjcqy3/7NZ/6+iX+Pf/Ob7/vft+9D+boou7+X3/0sxPL22fda8D8KTib/6/
/vDfXl7/lY9z9fLXP36WPUcX/1pI1+wf//zR7a+//kEh5rdPWvz7//zh4/ec3/vH3//zH3//r3/8
/X/847//T/5w8psv39vur39I5l8gbQg/E9H8D8wuFH/Gl9cfacpfAE9gkADAc7IKMLEoaTz86x+6
+hdR+IZWDD5PZ6pwQG7LXvxIk/8iznxksgQOSYZt//F/luDoZf3r5f1bgTJzGRdd+9c/jo9aRhCU
EplLSkhUia7x4508lkW2wD2z8D1LrccoWeL3QxvUW3sI47u8iAHeKsSw3bpI4we5N6MPvy3ZP5/n
9/Ff2aj/Op14AM4mHHFFXgY2Bji2egBOlCJCrNzjSaVnqe0kt+tVnVGL6XZo8tqtylkZXL1r40cj
l6zKxR3O2Qip/dgtJWm5nwyz+oT03NcgrlpA2UkbP6phMiw7iTalYdsUcJAn9LsvP/oKCxaPLlSE
SYuwUiW4Xd8TtTmXxNnl7JnmPOU3Mzan5raNK31051m1vsy12hNYT5LCnIJFjW9LbVLS+3lS22vi
VeK2OFpGyuFkR/QSvdZX1lemlDpthlHG5E3czrkbormHH3mZmbZXobVcUnwL1cRTUB8Y/TSSubiv
rMZxfPi6GuCNAlpy6DrBxfH4RdZIc+VhpI1emU7jsnGGnj5nfaaMvaVYm/xI7M7YUmVPbB+d1qXc
Fu0wBDdoAXXybqryOLorjXKYt6pkBLSoSBjGbrIxrJ2dHrdxe6/K41hfuepXJzlPDdmdWsprfCNW
b7X9hiVJTaVLRDtTFOQowCCV6uU0dbqphkFA6Nalk0R3cqAP0iGHMaRn7tCXeB27fWkGT6maje2m
owPbJBjO7NSVkjruPl1Z3ONg4fUx2W7QMdGr48JZF+psJzah5CBLwpeUTm7R2v0HuSnTbdXLcujJ
at0pHpd3qd4ki6RGj9VCn+huAgRGKF9e6mnTLg29yGZR252L9v54zf1iVRkSz0hsLqzShG6PIPYc
bwC2uTo3pVp6TmmEzT6rtarxkqgrHbefccj1jQp5nXxw9Hhjzblde6adDVuYiKp1U/TV0Lv0w9t3
Sxn0P9porGlWwoX5vjayHzi3SggZTChllEZHi72pGfB5ilqSdB+t+kDezI0T6pveTPJhT1oWGLsG
ae7geerb8dkKSDmpxMHq9M0+t6/1zq6IRkyeyh/idICdIgwnPjievLVk6Br3VuYNYVIlHoScsHdz
WQ4omsg54sBlUKOzMI56shmR4/wc2YP2rukaZPog8hXEmWqiWle2N5W51bkA+RI8mzyEAiX8+3W/
Uu10Y2/rc+rqTZlZtwqCprcjQpyJ78CNKn4kat4EKD6g3n+f5d1tEfdlsklGDRmCzj44hYxEojJM
461VZZM3DNIWpd3mU0/9/eOsOV+cwtBuM7DsGAgbUSWvg8iwaSGBvHM6WrnjYnJJ6tBhVeidcmO1
K+7wE+h2mtwkGxuNjo/lUPwqioAin5U9Z+FiPs5NA8+ZIm6ykQKICchp5l5Qj5tZhpan6N2HytLG
bYN2xACx2u2r4tskN3Pqq3lZ3Y9S0wabvNLlG2yMM1+1mvy+sRueRJLlbUGfeOqxXaJfaSNhLznU
PC9bFdGwVkbxwZXi2nhw5qzdzsS5nmr1/d08TU8LJI5dSJ56s1RT9UExww/tUiluyI64yaZkecAM
syZmDop0m4d1tasm0/4u1Rl+jKEWPQR5rPhqE5jfOErvWq3RfQxe6Jwp5fDGKNTiDuJv6w4hPr/u
1KEu6mVGOOQ+AtrG59oMUTKxpA9LUjsoHnfFbabMEKAQhtjSzNL49Zz1+DaN41NVqs9OUKd7tbJq
V4kbxZ0lWv+avNlJcfEO2rb1pckn6Vsz6GHEXk3qgsIpiuB3xmiOxp1jpv3L1Nf1r7wDxJzaja21
6a7Npuwg2d20qe0g/wCx7hv9oNNW7osXTSTVG6eeQtv/X9Sdx27l2Lrfn4ht5jAluaO0lbakkmpC
qEoq5pw5PGd0Yc8988BTDy4MA4bfp3EBP4Z/1EkSd1vbxyMbKFSjUF1a5OIKX/iHIa4VUgNRn24F
qYp+iCjCTM4wNR193N6LftVNbbyWqE3eWGqrf6sGz3wrqilroAf1gOebQJgt08JNUR+IO2Q1bXe6
MWXbIM97GyXAC1GrrV1B3bhz0JcuVoTrijshlGa50RAYNgXs8LZvmn7nT5W3U/I0zTd9hOl010Um
KE+9Uu3J6jZ61+c7pTZ1V6BOtZE7PXhURm/jZ9NME/f6lYUQ/az4IuC1kSbqhp5dtms6P9lOY9Fx
6mtd/lCU3U/cuqqWj5ZVL9T7qh+UuUii2l6d1iaOc0etsdDtkBNNp5ua0+GZ8jx4sTJ/3LQBmWbY
hJFtkn1+m3XiHC7zUOQER+PDNsFq5E6nR/0NLqxi41C0NO2yTYrUpizbRuwkcDXreNANFDLrIdy0
karaEAWeoLorR7OpvJXQjeUPDtZ426ty+R3Nm+Sm7PreAfADlWGMOpdJL0MbrqETc8Del5GPNsxo
6PEqMNXApX8QVe/KuQ9a2PV2UPmc5frAlrViydulZRtfjnE5HfxKwkVcEyGFBeEh0YTWRnXc2mbo
Fl8o1EeccBDVTdm3Pwpxah8kmRVr+7U87PtQr9adWUdOmqpoMnv9Tdp3z02rdutBNKsd8paB5gA0
0VaTLPXP+RSHt9acsaPxIt1Sg0bchcbuTu76zB31MdvAxrK2dR9UeJdoIjJBRqxuCWpu+FP4GIlZ
tI2NTuvsDCjwzkcQ4D4xjOFHJ+jRUzMmnuxkdYrwjFHkV2MnTVspbvhtCMiWK2+sXiXUh0LEJ6Ls
GX+zbjsKcmIzSePWq4YqtpvE01UbB6DkIZ6GWyWJ0utB0Mcf1uQ3OEU3P1JVe7PKso/tQhGCCwVF
3GNalfFVi/LRryEsRWJfJcovBZX+pxehrFybk75FlJXPp8S92bve0GeOxz33gILLawXd+EkVGmqh
UtrbaqKY+1CoBieY5kkYmMefKarFOyNNqTujfGi5RialqyEaG8fXvHq+PdRx40uBv0IDSNmCGgoh
IHYIEK/qsskeZfQ5rlEdpY+JU9QlBjD6VhKDeE8V+wX5Q0rnzRDttboYNnURG2ssanCQHXRxVfTY
LrVZVT96mHFcJn0l70YzGh8HCJw3ZVLH13XDaD3/t09DBbJe2lGR6YZxBS4zARIvJQ4RWP8tjLMG
l9a00za6n1fa2kPuaVqPcVheg1GgolEBl4CQ4PtvYlg0nV2InPtxGl5Rjpkuer2x6B7KW/5rrYcp
eUP7qjukZpbhuaNXNy3SwU7QmaZD5SKy/XJ8LLImc0GieEgwDfoT4GZ097CwpuZYerXdel6fO7UY
KYIdj5pEYtXd+ojiHLQuCO6kXq52OC/EuS2liZ47qtWFO2PQxMeSxOzSywX9Mi+59QIvkEOboeVN
EqbtqtJCYyvlAw1jo3sLrVzeeaFs7on4x8HWO34zPE4025P6yrWyMNrWI3lAVRb5Kq6baj1Upnxf
DBJky6xVX4VasS7NIIVzj+dsdx228noMC3vGbj7UaSZttE7U74tck9fNULS7Kc7l74aFMa2JQpAT
NJP0phWgG4xRzm48FfQ4QShAh7aYrgrE4a5C1CntxA/rnV7Mul5lEYuoVRbDhYKT6DVJerntGkxg
M0R9bE4A5SIEj/bQDcW3brKsvQCQsLB7Y8wvC08VW2BWsUHVM74Ica6zJ9bJpor6bK9mSrfFskyI
HS/JK8IO+a3Q1f4odH2yVuezxcRx3jER8rpHvpFCYtUl+qYfZGmdmmp+ZGcnF1NZNbVTVbHvmETg
tuopFNyFSV2NuSY8NvQarsI8Np4HJTW2fulJkGo8z3Ig4KuS3cUkQqXUmfdY/lWPJUonT0IPq8E2
lKh/k0hMb/RswnsJmS1/pQ4ISjns5hcKV8fUDFGI4hIajMY6evFQfW+7xD92FGl/9VMev/m4ZN2G
IYB1OEn61qy9xMTFDNXsuDA7VJ1whtnpelPYtFhf4WoGuzjWKp5QjGwoK4WbV0F8aOZvJqu+MNpd
xl0Vh2gkRbhe4b7KFlHopxzzMK/JLFSiiwEtRcSmJglxowFvJ6UL/VtZrvKGjRWHrxCD5AtZRj7Z
LuDi/yxAcR49pWvUVQPR/BFEinAbFAT4rjClPR5N1qg9IZimOemYxkdapuU3TGBH+A6p+RrI6Nuj
L6VyAqhB3eKnJY43Wl7UpNppgSKFkpjXQhjz7k0Ga8RhYyWuRUs7XLfDGFymXZzftUIsSoDRxtc2
1zJcudKxktdaWBrPst+HM+Y053fCP/NBlTxDRArSggHPYm1tRauiZm0JgF32QR9F5qOWZ9laSlrE
bKkNaOz2HqCexaFdYb26Jh23SgLWkb+ohry0bjuqhaPCCtWLYFv6Hde5V8qFvvX0ZLxhdcTIxQFe
69dRCUXU7cWx09ZyqHPgUGzMt23dWA84NaavstIU245k75df6gSrbZ82hwGFuJt0wl/I7Nq2tKto
GlvOHbTRnMDQcwqzWXYAq59nTiBZr5nYmB2mah0hD5jwZ27e4LJAf2UrhpHlO9EQqt2mBVU/umLd
cG/Q9dY3nhAW3GJKEVxGllRCVItaFfcT4huXmyd/TkvfGFaSkXkPemXW7VoEQAPMXE7ynl6IZLD2
Bb2U177VJa9Nr5gPCRX2q6FHJ52UutQ7fmYuvHhcW4lDiIlaWGQa/n08qAgRTaYx2KMipBuAQEPu
JGZpPvRh3Gebtk6M5yyuEFZDlrRpNuhEWZUbEpZXDrxJ48WKmgrw8z0Rof4dG2jgwqnRiIGDKFl8
JbR4nxIka5lmw0wJzDUeIvndQLBNTAL4JLVFIRAzty+h0dhFKAeXSd4JV12uBYCnua4BXvdh38Ns
z8wHqVQGbTPFliZdCG1bCE7cxlb0PVPa4JKtnAl7EeRosyE8aKcN+MYc1T2GabF5rarkog+mJnLK
vjcD9BQ98dGsY1Oy2wEGFceowHqVM6zTid0xvkPyXYOLqmaFHtgKcUt4oYip8Yg+dxO5wsAXRdOy
1fq1UZoEx1mfBpXj5dh8OIOYGLcqxPurEbW0FYV8vlaSiJFlF7E22oBms4PQDuZzgEzD4Hqtqawy
PdPv8mnY+3qg35SiJ+8LORJe5EBKa7tRJyYsSqJacMAICHaO8+mm8+PhqMH730ypLvm2VKnWtwLF
f9vM9TJd5cNYXeBErrwMHN5XeVJ0vyxqkUhJDkK+lQO14cgDM1zbUZqSc7YVCIQNYHgcccZgigR7
MttRW/Poir4eQIRnjlALmeAWgZae84Kby7Cfym4gjwDCorWKj+TMBZzLqx86VSXaXHXnSbVtlIUl
OFNA9hP6VTMbV4P5SGm12MkkgDXJ2ghIKqarmPj2kNa5omVrdvFp/OY69xBnXIHY8VNbkSatWfWa
HHChhU373MpDojtC3KcX4ugXBquj62s7Z/mjRCnIjex0Ypns+yRRhQ1HizWSqbUJyOMAGrRdNtif
zvFCrDlhmtTnWi4nNTT67JS2EV+ZmXt0+Be96TILjVwkh7YnMHk/IdummdN5df429oZ/y6P0jqgU
0q0ftAT8XOjo/+mT1DiNFkuHRB8jxEBg/tlKqA5nxGNPirQ8HFRtpFApnM3k8MXDiXRBmqIk6pv1
xx98D4yAXYmTFbECy7S77H0z2iTqIIarBh2lfGPQWq8dQYWIfaZEOneFPtZo4ffT6ENADjQJVe+5
u/BxsfiFLNMF6yD1IRXull11gcjksPJ1pVlPcaSd6f/M/Z3lcPAUqBrSDKMhtnhzNUPMLAxFFPRG
9aURhuKx0evJyRv9n6MwwYHgxYhrcVMGoslCWLSHUz8XotwfU+omVuCEoyXuyzToncbq1L+03v6p
btN9nvJr2UD61HT6/6nNNKNz/93fWjinXaY//evvf/7z73/61//5X/7Hv/23//6xyzT/w782mTA3
/g1gFP1qxG745HPx9a9NJmCevwFlpZkOrBBY69ys/GuXSTB/46PN0r0zhOAd0//3NpMgS79Rz4SS
TtWEOsLc9P/bQ978ZZn9pQv4f9RnmqUt9FkGHQAJGn8nbERDG7QW7K5yV88Aw5AiiYOmKc19DVFJ
xxcN6o39YEvTdPwwW399kI8NpkXlfB4YQgmEYiz3uOqWeCfaQqqGO5p6h5pBDhkE1c/JIBL+epS5
tv1hr9E4gIsGPGJ29/sDNpqWdRG2y414OwnKQTDKNw/LIycUhn3cv/pqlO0Jrc7s78VxcjLmouSc
YxVRDJEo3tYBZnoBtA+pTsd1Ifo3JpjOr19wUUd+HwzHQsRsIEtTT54n4MNFlwsp2Ti05dsg60XX
ilt1VSbx6IadPR1TsT9nYLJAHaJmOLNLgC3QSoLjR6Pt84BdS3HUw9f6tvLjO9lT68vKK3dZHO98
ob+nHCHskGLZl+rWa6+0ZjonSrkAHb0/AJH77FMGlZE26zz9H99YoRduNbl8y1CI3KvyFUl2sSmF
3tj2eYuprV5bjggu3dWDrDnG605uM7sosghtj2wn7Jq6a85IDpx8cxnKxztQkJ4tIKxFu5ZMwER6
MTRuJrX1aePAXkbSGsnmwpi25lCeW2Ons8CAsxT/nGXNt/viu1cdGA2zBFmaaWQFoxkeK0m4kNKi
XBeYwzoCbkD3STYMdkA2gLeSY/R96AjFWOxkdAtdMc2PfmucY64t+tZzqxhtIyq5wBtmOtniuUSZ
zlBqTcZNjhhtl2g7tfG+p1FbrmYFyU2gi5dtNUXbMZHOCez/4ZygNoHL4dzyAlXzeWWgymrUwGSM
G8OvL1Mj+mWNnfIg+cOapx2+GZh/BI2dbSatUldg+vydJXWb3MBcWcHd+tICBXmm0fNH62JWaZkx
lkCJlpKxgsz56pcynwnd9BsUXUqn8ds3ZJaf6RWesxtZTj4+XawGJFMAj4NyW/pf9qHnqT2AzzvK
0C9WKe8qrDo6obwfBvk7ScsDKD23ySbvzCG0jDRBxAPyl7jGcH2cif2Lr96HAf1M6kx3qnUk6EQV
2Hdndz5/72tXnXBZNqtZal2jX+JByQpDVznHani/MD4e9e/PMMOtuUuwVloSDnK/UtSpl6U7+pXm
wVDQuP6hyutWv9KoJf6yfhnkHeFWFxxoa7TZg5032dE5QszJIlw+xuJ4SqpwJAXkMfxfurqufkrt
VsI3uXMEY4+YgtfaUekkL3rlGtJePSdZ8058/moWFt1+ClUpJEuG79EEl7a+vO1CJFDszLjuha1P
DYW2gFNND7BXw6csuanhRL59fSctY/u/LIcPn2KxHNoozcBoidJdi2GXVj53UNRafAG64Wcm3hYs
kMoaHcqeZwL5BaSOHTavQwApsxIfeNSlrEQngpIaw0S+U9MV9j+q6Eye3foOghHddOdR5dSULVeD
HfeHqB7sqv8+5VeZuh/7dZ/cG2RAqrLtlGPQummxD9VdGju+fpDl7ddT9K7ycPKd2C+A1MAYcmp9
PqvmlgswAUW6iyn44uzb2df64JqDk7du09hG7g4FeIxVdiTpKX92v+qdlq2EzUBclqzphZXtVSnZ
MFEQ5O5dca091rnbUpAwbFVyLGxDz7mKvSvaLJ95hs8SagA3Bhv1+ZmLgL6ioHTyXYyVUrwdXyr5
0u9sIXs21FWSOkjTGFv45Ea+KiN4B+7k3079wyCsuswdDsGZO1edL9WvnmcRigxSHmRQSXme0Ynw
fPUd48rsDn68msK1bqwGzHXjQ+3TQXSDYZ2WDxEtEnruZnvtf4coGSW3KVLhc22NRuE6Fr+FvV3l
K7ncG8aqq9SLUt0UIeRdN3mKzdvE2+qVLd6l5xgN84b46k20zzNriU3TCg0zG07fG2trGesk3Xjm
Szs+KsrN10vvJIJDywLKFNck+YUEQWUxbaoQIDyXqdIdZQ79FquNbb7xttbB+m7sy3Oc2PmHfXqz
xWCLN+vzQjUCuNl3be8WCr/sBuSlblHgWxn5fjZ6zfZxgLr4RQdy3nME4qdhugv7bT7ulei6a68a
aSUWdnxZBqs0t7Vb8RL9raG3a9PpsaVMbOkYHtGWKnO7flLXuUQZ4xAFIQg1wQZzVivbqTsEwCdU
Nx0vYRDyj8Of+CQGwh2t/TPzO7/S6SvjlkkYSMq3vPOJNlVBzUbpbtxYqPKXTqqtpZ/KU687WD14
4aZOnc7AseGyBO1QngHavnP1T4bnEmbiOQ8JkD+vJaFPVCsqmHHL30QKOhUOfsHzCaxltselsxqj
q0zb5P0qWg/altro8KrS9DbdRrKz/AC+J/DWPd1uOXoUCkegIu7ZXnqbda7KXksup/rRzG31KG/D
2FHiVfVWFgA8nqz8zhcQSVnjWeGZ95N0IRZbwTVzNztncXN6Fs3rioiKDFieJTUX52dd1JYx+Uxy
EmwonsSDK7+InJ6PcOOwqmmlQ+mvaVcD4CmwdMSLxlaop9brCHHbGuz6mWl/t/E6nfZ/PNDi4vWa
jurqMEh35uiEpSPIj5F62cduAB0cpu+hbK678LrT9210Ien7bHJbwZaPWmXTnJV0CpM26tYGflCe
m6EsgTEMHyWz/WuqzEHuAL16NH4W7niHyciLDjboyOryph3VcPfdVMeu7sy196TLtvJIv8HXbfUX
VwtE/v4xvSIGgCx+E9HdQ5Kzc2TBUZCQld1iL7x+vQPeXSFO5sJEKnCWOIL0s6g7UY+Cryb00p1w
RG3mZ/RqwWj6kcoXCPGKEiL/65bj+rLaa2/VZAPCKlHWstMXAnHrKQCT9SJIbnrV3CkrAKT35U77
VV2x5KiZZU+t6dD9En6Gd9mld5FNtnBbX9a7szJky9D9/ZiEqA2tDcoxNPvP+0g2krwZLF6Cya06
u1Mc+vjplVC4VMkLzZbiLZ/NeGtiQLhkFfTVvp7Gdz3F5TTOSR70dJCb6JR/foK+prNFI0m+C14z
WpEPgeCEm7h1LXXj9TZVmaRfJ9aaQ1OLHPFJts2L+j6744O2u7RwM9VOwDR0h+ahD6CQuYaw+foJ
l+g6cPDUvsEWUkAi4SKL+vyEVmpUhW4yR9VaRBgtsYd77n/tdhWFTn3TPJwzVz474OJwq5K0FfR5
ZWUVqYStv2WFW4j2WLlU7kF5BXSIcLc6E1eeHXaxFrI480wcqaQ772H62dACv2rfzHvpNnrpXqzH
5Ez8fJLGfZ7VpYeDoKd/Hc1/9DRbUBzzRX7VAqebnLD9v1pk//iEyzq8T+cTE19St3FyxAELNwfV
9hysWzaW9pA/BUZqD3RFiafyBOctcKFOYa5DbmDvvjW2uXxjTdvCu4Itb2vVo5odVJZbR+alXXt0
qIdzpKc/DGA+rLql30sQCQKmqBy1peEqgTs+ZPkW4RG6TqAAwp9aZGfnTBxP07rFN1nEvlmP2JIf
MCYU0A7I3rgS8Nyqj8SYgrdSMItzs7uIdjPOCDdecW6jLfpZf9lo0Gtn+U4yp6X0quD3mdpOqXzn
/RJf/HHvPVvSKvtRXEiqjRR8mJ6JrU8z+vl9/zHgO6j4Q5VN9rustvJSvtOtlTyDBh3NWqfjfca7
a6Xdsd3DZpPJFwZxVizqa/kctX8+O05Ovw9PsGiTdJVVI9HHK3f3FTJ5rRsAg0QWIb7/+hA7ib3n
8IHUEZrDXNFcah8FftUPuGeIx34gZ6zsBEhpue5Sz4b/bofW89fDndYpFuMt3wt1L6MKGS8eV4m5
bdNV022SEiScMyEclqIn5crlbYKwJ8nzQ3dbZ7a+CuMzX/jcay/u6B4qqdd3PIYp7cFNeb2T1nvJ
fw4zbNL++VNm8dKL7aNF+WR6aIMfwWmaoVMObl6vg84WNRuPAUtdoZmUHszeQSnOH3biMwprin/Q
FboRbuzZ/PJFYE+ukDuV7pQSJU3K+E4hr7/+PO9Fwk/LbvGki+xIi73OLJAWPwKpSYDZFZeBssLh
LqJSeBXUOz+/KPzNWDo1WvgVOjuSPXSyrY0/S/VKLYixAWYbeeoq4CbU6tADnC8Bv1EAc0EdOkPC
OQohFhS6D44jcGjjw90chMTRy9ZpRzcRMGbLHZFEtTSOaXcmOnunTpy8Iax/LLvntsiJuo4QoPIl
84Zddv29wDFGxaxQ31XoVSnPSryzSO2nG0DlZ92mTwtD8+R+GHoZL5ghIuAiQwfqyrA2Uc8kOG2D
ADHwqi2Gd/I5/s3pZbEYchExZFkID/z9eyaXubgTnaHbY8Er6q9GwIY7KNbKOMdAer80l1NMdxd4
/0znh0H2OS4KBCz1xGiUjlThmnKnipsS6z6F4sxaA4zbzknr+ChwclquHO6jeG0EGyC5Qb+GYtU1
3Jq7NNl47VwFigKwfo5nrOTIBUyn3fXP1kE0d576U/g+PvusRZ8f3bhBgvWircp2d1cpgB03YupY
B9hYlBkhIZMTEKiGmR2Yl1bRggT5Zpabxt/Di+xTrCLObKV3WdzTWZjdr2RU+mlofp6FxIpgNTaC
eAwnm/Gq2vEvu1+6k01rw7u2VAfMDqtAdbrgR5tvptBl+1Tfhv3gUCAw74U74JeJyQQcCPDUYCWa
W6Vet5i+P4M7OqTsS3vQVqHpIgIcjBdtvQbXoRe23zrB8GAJq1b91Qr7RHSU3Onb9QS+zrRltNGd
icn8FuiU49+8bGeSo1EVPgfBOInkWHwyyo5/m4HFIdtYtVXj1yIea/kWuF/VbUJhq+9eyhSUu7D7
+uh6Jwx/Nd+LQxYM/ChkOvNNkWWHgwef2kyRjSB+BL/oF44Jg+INUaESrwvQ9ATNe3JM8qqf1fco
trlovB/xuQrQ8hqfp2A+agzUhtApW0wBZG4xjKdIOlaKq8wMCoe85OsXPw1W5jFmQUF+PAMtKy5Z
GSdSWg3SERRbJduCZZMaN6/JD/DxkQeux52QYivszN/6374e+1014GTSP4y9uC8URAsCNWVs3L/U
R+Ob+GYW8xLUvnXfeiDpkd2MCNrY/jPVnlpy/G8eNZVtzFwDBDqDqvmjS/3jRCyqbb4l5n049NIR
YsiUOvltiqto7VZQZc6ED6cp0WLOFwWYzJqwhKwm6ViP2daMKeaxG12xdUzp0uBWF0hc1oJ4GM9K
/c0r5qsZX1wicToG4ohk0bEqXQpc5QA9bQVPoiZDkW0VBI9paw1Q+XNZ4Pwpvxp4cZWkcaQqI6Kt
R/17+1g9s8b0l8m0o8wWHoW3QHQwqcUamMjk6zX2hzf2x886HzMfgnENboNpxMy1ptwpkqvitldu
xCsCSOV6fFHf2mFTKHzp6cxyetdJOX3jud2ONtSpyqCVGI3S9aJEP8SJKldRHGFcV95Gs5DB+q6D
VG2D+yp/Qs0D+cGfoX8cH6ZiXynPpYRkqXTTw6Px6MXSCvTAQ8qOLo/AySpHkaF5FKuvJ+qPl/8/
Hndx1gReIQFTl6SjRxFAdQrumXrnSY+0H9vyXJn3JCWbN8Bc3EJVBLK0slgNTSIkfQE285g1q1KX
YA0NjqTSKwBqcBmgreCF6yLYny19LqmDM+/s08CL1VDiIQxcNOctCdsT2B42baMydhN5ZeqOCK+o
c9POnb7RCInhBAgO5hlx7GY1lWBbVFat5NbtKsjcIN6Nw4VMM7zZqNFa0S914xaIux/i+7vr+r3W
HqZhA13i6+/0h9fiP6buvbHzYT2bWSgJwP5YVqrTUJmuWB9UQ8fouRm2E9DpKHa/HvG0JPk+aWBG
zFl2Hivbz1sokSY1h1/JkMZOmTRw2Je1hDS1lrlqspNbt0Yjtd2UolOpWxjT64EcUFIcPV0n1TrJ
HrX0kCQHim5y42ohMqMHE3yn4CqyXRW7sj8YZE1G/q0Sn8P2UHerKXlK1F2V7WRzCxrajqfLIoW1
n5SrLKJeDgFJl+4C7zKsj2de9mQfUBqfrSIQQoVHjfDG55cdQ6zA9YFAwCoOqMLaqtm6bUOZ2dyk
j5W1M5rbqLhmt6bphZ/u8CSdEtqyt1ptFxBTYicrHCxVrLfGcpRf0rgKUjeWEYvdzEEYwcMVan4V
hXaE1PSLZlMACF8n4wqP89rY9U/yhWhz9TIhTeKa2e3Xr/fexf10Ki1eb3EBCNo0Nl3N66nDymrJ
EB2EUPIX0xH21q6L17DesmAVVPAbXUNm4le+caFqFKTWarWmpFbwbqqDVbAkrzwfXtqvSHBRTWqZ
JmWT6w5mdLWwKYoN756mzrBVs2MlQtFy+nrbGLZlOmLgalep4UgRkmBuZboa/PRprccvkIAa+UCJ
vcazUnbp2Fap3So29TToUjHT932Ag/Gd9BWqQwLfRvcgJq8r7VthnZGJPQ2N5rmC+o/lC/xvysif
l0IlhRJIG5/QCG6MvIb6BdfhJvMLGwi7oW5yFS/TG7/cT3PsPez15kwxc/4YJx/rwwMsgtKqk/tG
L4n/zGhrlg9Fc2XojiFf9N6ZLX56Sy5edRmJFZoCJopgW/RWKAdQo3uS9FvZ2JUFBIa95W3j6sLA
KSh363z79ZqUTo60xeCLyEtMlXLw5jUJlZd2tA7ThcUw7EVh02eXdbfTgrWGdre3D6uNFF1BwtKR
o8nsgWvxXOnsNM9ePM3iAJgqNZO8KJCOaXbRGFuT7kS7Uo/5K7i9EvhAfSbVOzv3iy0JogfPJmiw
RwCO2fhadju4/LaufBPTu2x0y/q2TZ+YdUIXb6h3X0/+aeID7gNJHQzREAvG/HO5xmo5GbJJjY+p
VkBQLswMqlwKcNyanj0jT9wJzh7JZfsd1YrgIp7TrxqBOLc2yIYyTdM2Y+Vd9RUAeXUcf5mIh9jI
nrxVjf6dmG/cKOn4M/DX3dQbB26s+wli+plg6yS65CVmf8DZsENBl2axU+dWvaGEUnysshlUoSMN
MXBtbb6eq9N6yOwmqlM5Bb9Be+797z/cvY0xKELkG8GxNPXnIU+nlRJiWinlDS2m2JNWQJUvLU41
4Gl0Tlua6kp37l1Pj6X3pwA+qmkUoERzcR1Dccx93xuDoz7Qyoxr3zVLHYXFttZ3KtrwJrApS0V6
iQw9zbeCcFlH8tEopYe2D/85nXjuSSAts+fLLGUHq3gZyZXDUDaB5/nHgUHcMkyOwVDDPGv8X31V
nbNve7dN/3AizsNhXEEVjI6eBlh0ETjGZqbBc8h5d5QmdJzo1pLSBE7ZyA8e5JCkUMNtIyvVqsjS
lzImk1LEXMCcfHrKO27xojMEW9WLcoXI7k8aoH7batuyU8g2B1VxIFE6ktbHu0DXkjNR77LvPj/8
3IUwWTuEvaK2qOmMSOsAEdKsOzRtfHsqKR9WUqauLS/eeU1y0ARD2mX+AL1FSAPX9FNh7aMabhdl
XNoQ3h7HHNoW/lw7uTD9jWJe6MEouJExRI7WtqtOU859X3k+7j7P+DvMCgUe+rkooSwi5n70Wk82
fPE46NJVkIp2j6scvDjEa6bIu4ekKNzK6eTTdR+MbRIU2SrDzGMTmf2VFhXNxTBQLAReejmG6bhr
FclBCvcQgutGSEEMbjze02nbiShA17qrQGz7qxChHCdPo+lMNrg87fgEOgAspGVRc9ER4VuctY3e
RlYIQ/zYRVa5iQJm3xdgt4cDekpaFQLEip4QY2vXck1s5PkAaYwUqqyeE7NVWTvsBaGnGkVnOYtr
7yoKKcEh77EOaXKjg1XeNrKREwSNKZJohYmaE0Ku8kB2feYwWgSqQKUBi1qizv6zEKZZElTEfrA6
Ky2su6io8gsh7B9kQs1UN65QS0JRRC9qJwnbrTZRK4W111+lAYAWtJ/ifSLFq7YXoj1kfZtENXeB
O0WurHDdvz/mP8Vt+d8SVz7RW77UW5vH+7v82v8rSmpcNx++2QnL5d/+w3/8/c//6fc//dff//wv
v//53//+p//8kejybi/1N66LrKB/puLbixr8O/CIXfYXqoss/qZypc3uaZyvZGAM+Q89NVT3kY5H
BYekjET670QXVfwN7h4UAwCS9CrA8/4TNBf8TD6dAaR8rDTUfUxAyhxhJyZV4gi5NWiGBBxu3plb
cQyky2iU38LiKvDHpwgUShDVozNp5nepLp6CQICj3VPhEYRxkwXVKyTAwu7M9gYpOXBrta7lW+jl
9ENR6mmtZzjw8jqNpY3pSbfSWLsQpm801XgqtEK9JvsMfmmUKm00Y3dzozHUirU41JApfynKYKco
YXurRLTCY9MY+fWEulW8q8c4PcaBFkOJjTQ7oqon5AjSIx10l5fVKqhlF5NdkpbomlPXtSSOXomt
uh5NYToEY2gdwjTDVkjtKgeWLAzQ7AHq/WOZTgd8KQ5SH/ioRup0BgTQUbT/QtRr4SMrq9GoY3fI
c/1a0wL5YKCFImbxLrU6J228XYtaRuMr1qZWZYcI8KfSMIGQSBHeQVrpGlHXN8vy0XsBodVBJxKk
prhsypaCUP4ahNJraQrbQkvAYYvpN6MTV5DrpfsSh6J161NHpet9VDAhsdu5PJBWwjoZ+m8Vlqej
P92XcfGmBEJ3KSTZffy/qDuPHcmRbct+ER+oSZvSSZfhKjIyRE6ISEUtjEY97F/qH+zldR/wquoC
t9A962khK9ydwszOPvus3Xgfa+XhKJyTrZWbP+u5YgnDHzAv2r3O4lNTC9oFHSbgui3zTVyV4gJL
xA77uM63A0Xh1P6KOz1U7e+GjK+s99SvytD0UMYpVA0lzzjOAgOy/QslF4YyW+mRNzhUdEiRzmzW
P70KmIg75d5zapYvafdcmvyHuIzRozM5f8lmwpFKoV480/ok7hqHDi68RpvIWeerVka/bkXOEm41
KxqyvxCclHUX1Zn91SNENxwpfXfMahpRbLgtX5WYI3NI9pBO3CjNi8hqeg98gkaF6VVik+mlsZsn
GAKzQWeIZVhGpk4XVqsb+umSunSe0m9IBky4aiP6xOTdHC3BPDv6J81/5GDQNUr4wZFhriaYUr3n
LaiwUjJVumna6nuWNofJWNW+aLt9nPkXb1mvg6/ZgWGOtEodmrdDvJ/yJAMV5m3yzAXeUKUNfKgi
0M3me+PVfmiz1wRwhog5hH3Fzxpj98P01YeXag09VZGA9jCh+Ozi+c6M2j1X6m0qLQYpcUFYajgt
sbXjMQ87XZob28tfOAcvvB+l/J5DrUCeWd0wcRi+0FLyt7zGjmapfTEYt+8DwRy1CSinH8PW5A5o
WnVzmmuZxh9NqYJYtEe/3ubr20C9L9I0EnF1MGhxhUrz0guMlbsqbYAyvhFf827PwF+ND3s9LHXG
8AsaQFc1v7TOBnjG/aDr2G5IvPiWEBem8+YaIIWgP3w4I/P1Gpt2wE3pNq5e2BFn+bAA+rrJ7XnZ
u97S7h3Hm25W5Xi7Zm6TsFKy3Fmj8aWs3WgQegAuaw9cUY/0zvttr9ZZmE1yKfL104GEf0lb0qXj
5uIXzHBXJX/aTeixTcl2zsUxHp+yxMQqD3snYqAb++4qtWCGOYJF1C6eVDHFQefwiolZhEViHRp7
pHM5DT8kJRUOWBB4HbgX8cjLNbk/TUV+ZW22PxYztUIfbEJQ6r/GLjsOaXpL+Rr7YmmajTl/ih5h
iYloAAujfoWCH9rMNsWPwdUMvzDtU6eBLQdMseeZNXaamL8Z0niAmACbBJbf72UreVZMl2mL0io2
tpre/Hx9yieJFLPqdbCs3nGO5bs1pzt91R79wOV5LBZua0GLrs6NgP+anerG3PkufmGgYw7RSdqT
X/YUjxJKBg7Ub3qhHXvL+7Ygpc16kl2oIfPIc6opApf6YWR01fv5KSm1cbPY8w+R6AHYRzALUKHt
9aylHHickunxrnH2Sa9uGRUOTzMLfTuMAEpGTqvrpnW/Ja1B77aVztlzd96qvYPSYsplXvdSY8xL
V58wF3a9HF+AWQbQZt60RoyRLuePZRjPeSZD/2EUzRIZrqkmzok3DZfShncANowhkXzGyoD3tJdT
Fjl1Xf9oRgMde6Jp11XTZ7Ym6cYX691TasFJPEZc9d/GaPWnWNYmQ5zmDyywVuAmr1Oy5GdLL+Zv
mSyqrZu7byQPGAEpcDd3fNGcxD4OZolRWC7ZMW5dL1hL2d/8Kf1iV6m71TORhItI6sMsPO5iymS9
loiottkKXRfHaDfw176XTj+EeVJ9eAJVzYM0UbcjZMrB3fpr1Pf6KDam8kJa8pfMaG8oz6escX8n
LUqN7uLlqoV9zHKeZyFFFhb5aG+8dvzRPkgnWYtJXtPTr4nXGzsIID9IO+iYJ1vsL7o+y3tis6MO
nJTbwOj95FA8MDlW3Gpfyz5T0VAbWtS0rRPmjpdF3eNJE3bavjKJ3p9VXAw3R9eY1cwqeXEJyHsG
D6ldkipzDsRU6fcEyAQ5Wn351EPKukliAdNTqiVqJ0TvvacwroCMDSCJDKXWbZUu6VvLiN5BSKhu
cl2t70LF4JvYRjhSFBpjNzNPq5XCeMA973n18JaQi/HZSc0+SkvEkTTc4ajSWY9mpyie/bHpwwQw
yUzDvqz2yszL52KNzauvadmxHOnQA1ncOGXn7Iesb7ci0zsANKDPgUQ0DGMOOcKKHxefrp3PQJWV
c7SrSl37qjNPq7V8aiLufxbiAdfLK/kiBoVbxuSex3N3zN1lCmWdT3c9WdMIbmP8Y5gnxrcU3tkD
dC4vzHup4z8Eb3Nm6LU9WUWnItuR+lVfy/SY8Fazrnddf3MqsoJ15c4QjsqtM3w6tE/iRLA51VVf
RiTAXiszHa5z7juY2+EYZqHTdd2dakU7QoBbg0eO5s5YU3B4uWtPFwz3MtCK+NFhyZIj+a6JYMwN
Ck2TxzM2bTLRoqHM3Pee7LVrWshPSFZjWC799B2khEa/1GzwYiwOUWm1NeVh+aB4uHm7Hk0vls/g
H2nlTIXzUUhYigGrooKbpYH0TpsMF56Or6K5xF5xiiFZW3HosocJ9Tkas74b+upHueh079xwKtyT
tzy0R7M81P3Yf83K+VJyiR1/+pZX5UlbgHm55XQgRiG/DkPlhF6f2BzJwEm1zh8XtmciQN/FZmmG
fac/kTY7s6hAGunxrE9d8eSrPPQAJ929phlObblGdqmeB4vqbXSMyFc8tyW7xJoOE+y/8qc7G+Zm
mEFNLvH4qh5QVYu0p4ARYkJXq3RPKnqybRpxahKj3srWbK6aaM5N5e991/4qi2IQnK3kl3maomJ0
70h9k8lLuMZaDRzfxuBQ6xdbpeSTiBac1HyTEqphdwYPxzkUSVqCLuKqlqDBLK356mj6JmmMjW1S
9eO9bXVvS2BX9uDtPE+JssnUZLw0mfRjlcWvK7llodeCSs4Xtzp68+A+oLTiPifY/FwzZsxFj3wH
iKHbySdvYq1sU4P6daiXd4qKdzbpU+62M+0aZ2/6v6VLXqtnFslhbhSPPv/2E5C5C22JXSKb6O3P
S9i5/Y9EGutxEC8zwKJm0raV5cI8mdW0x4FDy9WJ0mHWG355FaxIRYV6m0X9mIWHhKKI/BPiZs5r
zWAwB/ZGXmN/Onq9h+FIxtkvMIuCM1DOHMNjc+lfDeaKnyy/ONdOtlKIxxDJkrOjvloKp77IxrPe
Qxu016O1ghdZmxKYVVl8EQ4D+CQTLJIqw2vqsDYEtfzC/qjTnxt/lcMUGNM8fyvIj9jZ+noySswE
WkVPyucxGnpRRx2ArO0fvLnZgSo2cvZm79KYeZC8xBEj4AxhdzMbA3+CjHDO/a6xqWv3oko+3l6v
avWrwKv5mqLfJo6dvRFrB/l1kfn/i37wH5WBPwsD/1+R2P/gRfwHRgYMdkjs/+t//1k0+OP/+Rce
w7b/ywfm+UiV1x8s9YfU9d+SgfNfDJEDySVpwqKZ8eBm/49kYOiP1AuAGqbJfBU6g/pvBDtEjYe+
x/CvwdwJM6b/N5rBX1XDh2kJNDwxMnw5lGH9711qxsWV2zImvina/GNIpyfy+k4V6lI1T59/ElVu
/5Ii/wzDYPru7/IEH8bE+gMEwjSc+fcJ6mJQZl9LZ9z0IB0gN+St0R5VbcDuHHqAwIHZgsA7M7qX
/+7WrqaTC9ObE5jCDqeritohrQDTByjncXvXfDk4hyJJcnUzpePXe5DxPS2otai1g1REqJ9MGfeS
YoKWhpWVsrkWaW8+OSrrk0ud5hlJ1KKb5Sl1lkRuV9ss03CkrbOEZr86aktlXIFZy7s1Yk9i5Zg7
ImhCtrP5QeRzrGIH/am/ZT1x1NuRCAjrOLQVNqiyllW1tyebzMDWHK8Ly2MX9DO0jo3bVu2HKHxX
Bk2xWho5H54EMzWmXIoc+sQNpA12vbaYsFK63Sogy/MHNpNZjslWNCs8uZHChZkvX081WvazfkCy
wUHe9TAQcEbpdkFCptsY1dNIqnJth+WAPRx1xY37gylqTGPVMjgCU0c2FBtfGaLbpWuToa1MGnNm
KuEmEsGRczZ11MB5F1RYfVib0X7LNabK7THRvid5FdFGurfku4dgoCmeVg2+pzlqEcP6jO+qVSIB
aIoxxcdfgk8WthqfOPreLpvo2Wk1pGFD9Yz2ore7vXMRrfcM2asNjbh/FZpVIEEnDQ63PtBS8z0d
vBfITc9a3XN40cwrz7h5Vq35AF7V98GjiwWicVPpUDJ49Dk++c5BVBTphA/C9lvhSRR8B84v8phx
EhQA9DessFtMfkVAr2LXQGjaaE62yT3tCoN6P9IYC7PJ3peKwZyimO6mlZ4AsWUhx9mt35eA3IHV
hQIOUyi52WyXP+OpxyEtqo1hyOOkj2gUsdpXjDmczdl5tmusIYuZfKJxHRcvObd+2YaFcsdQrnG1
M0Dq2tK5+WMJVnjAKGvAfEP2Xv3ueTEodtcOeUn1x9HIGUhksFQHEMGkXXfW4imcTeesNOyPc73s
vGmBGFxfHzJG1TbAPd3xBuvrlyHMTQL27aUbxi/WoFMYLRfYhpCZh/ir1Y8nWHx7zc7ZmYB6c/3i
w+yuMWbv/t0v9TQw6TmvJm5ukMuP70ZYdw+Kw8QXyOGhPgDm84O6B4Zn+BpDe+TNbzrek7Cs0ze7
o/+jQa4Y/aWBIK11ATLrQ38g5lX8NDgBBYmYL14m813qqF9qxliSUPCFfpxHlok3oVy38WrMIOPU
uTWqF7domFKRgtPR+lSv2a0x0bVoVzFhpF/mGDhihc+NDyrsLeUs1IK2mbex1VSU2Mar2QrgAj5d
Q7GqnV9Sj7v9O1/0yfT5KaLXfwitiKSeNrc1S393HPziivhfA6Qz5+lTXQ7vrjXveyuTgPEedGVH
fU87dMUhtobtYNORWJpYC5cObA/cSo82S2iWFWcQqb5bCC4BJ8RDTgLBExgxotnd/Ga1jb0TbXsT
VdxfunzMIYiv+wHDFMWI9wuzzLZq/Oa0FMlza1DPpLM7RYBWcK9JaKRD15FAWK9PdmJ1m8psVhSa
4neSFZT8o3hd6ez3xlqfvKH9iGEaR3HtbLqy/dVk1POJqWENYZDcsYfImWHejRWOjw5ub5kxJqM8
8zquSL1dn50UWQ+4gd2tRcLCZvHw5oKtvNrKOKaLdUji4kTyUI1DvI/0Mb4r0D7023hDTa+653He
BV2G1XB0mFIoLOc18TmYmd6YbloNBEYTm+nWk+43wxlPplP4txhiS9S3tRnljfcyS9c75HLaSweV
WU7Y/RO5z9Mu8id5WFY+zercZWMWjAdoqbE+F2zTQWNX57mWMXOIOZJFAet2zg9u5f2cuvQx6Lvs
NLBnwQhLIfLSwWKmO9VCFosfa2nQg/exaIoZ8mQx9BFolC2QhPlJV9LZ2PaYH0A8H2d/4ZumvcIx
Lgv9Na3idD94wzZOgIlbKtvYecyETHJxq+6HdHi+G6TLJkudSPgyqpSDXogVhCGK7KXSMdmryUOX
pc3aUb+w7iYXJf1oIXEvcquUVvus1xee9SYy9KkzznO5io0xKe2qW5UKxZAmwBtzGVgtQtiIy6h0
1dET2hx1MZaiXIynBtifbC20TeH9tqaC1cAoCvbFxCwxqaMPhKsuDz6Ci8xrwAN+3wSZHRd7givS
vVln96TsPmzToqgxXnqrMjmJe7sO7tO0WVfvrRbS+qXySrugqQHMmsozY6rnOgV71GBrg2++bH0l
v0OgfTGnxv61VKVOU1JePXdY7gUc+t1sZVs2v++r13z0bSMDUcnlkGv6nnJuDp243QMExDldt2R5
AWB/eMqD2Iu/L3OyJ1fq99gwy2DSGdznaBk3gL0TM83k3xU0jtki6+olidkxB5oxm6EsLS4UN6nW
56+1h7I2EKwMBI8BVrd9Np3FCu3MOFMi/K7qVW3F0BIms1iXrOCFqmw1bJysZqZ6rYjIqB222W64
DkLhMUuWrg6TqkZdanF8tsrnxS84L4jhNRZkF7iFh8UjdTSq+5hGaNeehkR0B70rso2oslPOs4Ez
XNeD1Ms/oEYPh1Z33pHeRaQ3K7JbdddYnmI8oFS2ojublWOGVlbYT7pVrCiWAwBoW2phZefYF4uj
32R3JMqz78GV9zMrIgzAfex9U0QfxX5exRIHVqWjcK5gxH13/XCQFMjrYrK3KZnFsPRsryWaDI2x
Gu5StfnJNrUzMToi9F39A8oLi6ahD08wQRdWc8YzxVRpPyerRBuZm4sxZ89OxnBy7D2EAF8zXgnx
29aTQ0UEGGGDFv6x1hU9KM7a2z41H6hrbruk/L9aXc9YPa2kmpi+aNRjhC0r8qv0YJvDFXLd52TP
Z55w+8kdMZu6QEkgW0IadMRlqLC6WYvfAKBlc6AlxpHZ84K+SMLEpp4r8D019fiz0cuIpu2pROgO
LIE8VFjXtRPXvM9e2tEODb08dylU5KQlzV6gscSMiyWNq4fZqu/XzLlBWbz3a7VbTPsdMjg/l9MF
B7l00yOHBnOpf/Z+1jBA6Lzya1FOJOD4yfyqez09OG86VZ3xIngQK1PvjiQejBu/nLRw6JLsWlXo
AbMA39Mo+dHmCK2EhZuXhi8zH/Iu4VBmt4Q77EixeFCf/bxiW/E1j0wOd6p/ZZPp4cRIJdznYimr
50Q3i/lcsfEYG8ifeCS61XFObVbp7k4z4hoiaw7YdG8TgVp/Ft1aMEcwNKMMFtdih0Rass5qsHWO
hMAl8WWTYB7aXl2rq95ZsfiHJv1fDXyPMgjzIOYYSrRHa9f8m60uqU0uX4m7vanIlgzykUlPsneW
p3pMMU8u2TLDV4JG/w+DI3/zOTw+mKHMRwYQDyDRztbfXF1t14+DZ7kYPI2G9r/ZanYWTAh9LXRh
v7ACTQov3yC1IBzlbsV9rzkz6lxnQfNV9wr88va4I+XDei8e2+FkG7UeeFWfhKRt+3hTF61Bj89X
55TqbNWVVXh5oC01rl69c/QXID3MzSTaON/+c8X371eVytbFqPCwcpDdaVIP/smGJWuoKOXogRSu
uvJVOaJ8HfVyr1Umu7C2kAHiysL/R2zcX03rf9zMR9QyDWo8PADBHzXvnz620NbeSvRJ37j5WGYh
UGLrqyUNW227eWbktTPHBf4Ckg6zZNVMlUEMgeY81pdywzMv/skN9VcHyL+eLuRo8rgeEKR/y+oa
E0FekNnpuGdS61TRBzwRUKKBb8kz4rZb7SwbL4aehdPjHx7sf6vv/xAdUBIMC0owusFfr4XBvNQg
rLbflN6UfB/pN7Nc1CvDMpaZc9c7b3X/KQj3YQP9HycSQ0p8kiARGkUBQAyUsr9+5mTOneeB4A+H
cj2Cpq/jIRr+KRH2j2/+l08h9ginA0AGbG2gZv/25jiTtSpa7FVofBFb3I+Ha+WGOxV8/zYe623z
TmP2zqZhyFA3Nxt/z6K//c+PN5/2d0XDeSCGHoxfTJloPn//EkVOieclDeNXqTyJonlJY45fbUFl
YnlN/GVOJxgOmnOc0+LaVs6h7Vl6H3R94ICYojnmPfZlpr5lzzLXeEIdsWH9dqFbxMlQFngQSNVm
ryzuZremoaEQUq0ufetb5q18abc7Gx+ux3DpqgiAQzRwluZLUzpHL3NvbT6FrtGFrtZc+s7c92Wr
wDZ3h0bCIWmxGcV1BcZx9NmvLRTxnCPik+8WZkQRnwZTNd0GK37vsBsj3X4hXfHHalUnf/RhEjTx
pXSxKjjz0Sm5yqRUv8XD9GGq+UMf27fYMo+5VZ80VleaF7QMW0rK2ZCHsaJ3P2viJZnMkKyikHnZ
bZG5WLUZjDbkFXivd1K+/yM3te3ad5jSSTTCn9BzDCnzL0ZaXVrbZVp62inPP1aWT/YstbfQv00Q
GdLe/cxkDJwm2S+T9ZzRoRnGrOMlVx+VweHQ6t64Ki8NxHoibvwteZ5g0LNjpTnvnNComhNsdAsd
Gv6xlvRMQAxvpMawktKipB7bJhCvnVT7UbC/mgZdW7sdfzV288I6LQLCWXbw2I8xAKUNbydT3fHX
2k+swG/7CFj3pshwUFjmuwPFjSTjV/ySx4G8mYB2OIh3OD4eOWUp0wo5xsOmM8OxFR/17JAoxDKS
y4u55G9Tkj3OxvtinLZZPH5WEw6QwWqerWz6UhJlLysr0pXxTXMxSSvB+ZUbO5aowwr3RmIcK1sy
wQuCbbUJ1OFKNrRu15pahiQZSPXzJslRHlyOaRtPT79woPw69UqGKHJg/oht2hCwaNyhlqDK99fe
ql8SUte2Us5I1HFX/qgby9t2uvEU58zAmvUJ0HzU6LRRKjjxIZ2GJ/vRrBYM+sQV9xhUDekV6BRr
6u+0bmmCunjMYKxPi5MxCGypO3yM/lIzU46ukF8sX50ohK+aVDzyJLxttdSmq9aeKE2PdKwmguAY
AmkFcQQGAM0dzh4r0hIz26dVsVyLpn0iZH4Xx8OKQJHjltCnfF+OVJiD4tBnrQu2XQ264KQdbDlo
d8SZ33kJsWTstbe+7L81Nr6UVXtQRiryzAhHUlHWZB+96F8AnjBksQDAU1wL3Vt3rAdw4wnzCFIW
jboiVqdmVjcurlzXsH7wSVIMZxt3ncfAXBoybJvZ3WQd5z7dXHQkwY6GU3b2VLwvm9V8XcgL4C8O
L6Jlh5NLHFZEQ735LZuhRGZ76iYRb+hVsdm1jK2U/eRb9HSHk5olHVjnWA+JRHRpUhqkaxF4nX0W
qXie1PCmqemZ+CLCOtN148UWoxUWElnL204hbr/bOFKOmkz3q0/0mkU+klmJM6DWyLAIIWEmq4T/
E+JPYdCbb++OzpXe9MWZkw/FxMhgyF1nznujcnZtzElaOW0QozWuzXLJBuMaC0IpeFK6Jvts2v5Y
dlpkakM4ok9oct62Pt2PpbgOS/adyJgobfQ90Sw3DCKbzl9PakkgGtEP1UWzk77xMayfRmq8DWub
H4lnsLudXZVa+qY6fdz1kwdZ36I8IIghVPVAj5uciJYfnPDlMhkNzHUblfsLVs/DeiZafUuPxwuy
PFsPsVNbKnJJXvj0ahNprkumjdvl9ZfSyxxIcXmHJMxFF6yNiQnkRBvru+yx6unkG+0WQUycVMWr
TW3Iw78Ur8KDyt9iPsBiYuYvhijkDRH5Z68Zh3XUsJgLI3Qm7bc2uBAU/XF2Qhfj+0RaThxHE31h
sqP8jTFb+u95RSQ5pv2AwIkjG9+Lr58bEg8rvxCoDA/QDe6oAMvPem4z/atjjsazrucK3nPmfR3I
RI9yZeNdLSfzhpekxIPAjzz5XcNx1vL670lhy2OetwtSpO5lxEYU8aYmoSdM/P46LSWEx5I8HoEF
ZdRteL5xz4j+ujJPSXVFbuM5G0cZTSWOlMm/9ZNpb2LKo9BzUSBSvPWYrvJjneC94SxgoH5wtE2L
7rVX1jue9xLXWgEVzlMmSA2pHS1fXtQ83Zexf7KXWmOcDVftD3Ppf1pVP+2MmBbaKDVE4EoScEV4
Xdx/CHCam9mrS+17mdr01BaCO4JxpUuO0/tDn9r2OGb2CnfUpzwn62rNkDqqMruiVdm/DLoOW2Uo
4H65tAmUVW7toCgWqVxPi93nVqiITGlCwLflq5nF146iQTuwtKaE4LTCqEJV+g7xn3U8Z5sktvGc
pPaPIdGdai+8ybj0ohogAzDx6MHLxi2NYBHmo0oVQKNZqaAo2vSMfuIG5WM4cM2s+9JO3baJY+qu
bmobFfEuZ1EzrminJQMi12VVw3siS3khXpG0SLyMCiOEr6OVN/53NUA4LMayfSZDNSa0LH9yYg4z
lj5f/HTMtANO91FuOHeL55HzxUuvJd2xM0sa3wKj070YFh7k3IBW2OOkb+PiiYexD9pu3tLEvi3j
7O18rXkdEbRnnyArfzXxaev4zfJHzPW4tDs/JWqpybTpLXW6Z0MMgG8nFsBsnNy7lJis1OiJd61/
ZKxYWWz/ri3Lflmrzl6iBWSePefYIQhvy73IbgFZd7nLX5T+q2xIWNR4HDdex8Cg7OZ8Lwg+0dA3
m/ILRxHsJXL1D+nklM+ET6Rf9WVYlhfR2Ey4kB5yYMhgPk+ZtN/qIZX0ZfV4a1Z2EgmUrl2diwIm
SUcEnhnPt9yYnF2ximlvi6Ho9469WDvKB0msZz6yoBt2hnOK93k/CqYj4h6NFBvjU+3P0zt9MTec
1+ELvcT11PWYShs9JgY0LoT/wrp/7bxJHsF5tClOoxmlsJCTveWIne98El1LSz8VTvvJpfmYU3HB
+bel93Xo1naXMyVrJLiMpDflW2L2cHlZRgcNle7mr9FJQdUl6zb36hZV3YGz1REcs0t4Lh+757ja
W8scy9NssojWGjaYlY7YiR6RDFIVc7vyscGdN64HpofucUF/W1tJH5Ge094ab8FznKk7XO9oWitj
740iarKyPdASYdrBLpvTMK1n3pBlI4yhizQ5IWl3xSe7f7UfdBI8UwnVqyk++4Sb04vSwacz3RQg
udQnEaZi9U6m4VfiOs+uqSlKl+5o1vnTZDJ7j+J9K3zxQ+bAJrV8wF+XOeHo9MStraDZssTYkxUb
dhbSr1bwAIK0Ouvk7QX5JI74CuFopf1Z+v4tKeDcrapgWAxc9jzOu9nORgyptPToZbAbZt0+qTOs
scO6fsVu+dVOXBNDC5/b1dMLHikZWU7DvluX8HkMDIUbA6UhUGowv00cwpiC5ESJz2bdNzRh9EOe
GVPUSvtBCBFOdhsmeq5qBZHotNikCse/dWVsnb1Bs3fa6OjvyJX9MVblxq5xTLSmKHHKcn4N6E9S
QsuyJlRRm+XGWzv8WFyFGts2pjNVA6qf/XVT4kT8gZMhHRP84/3PLFflTkOuuPa1dSc1Zr4UtW99
0ScNdMvs31pVVlunsutv7qTO41yNwSLS3WRp613WnFQTp/gqRf7aOxmo4zgf0EztqxeTplcbcgoK
azkmHfpvMnXffLdXUaX3pIzhSlbXZljG33UBy5OV5SPPR++Y+zULsj6+10VMsUCS41OV8B7Fulz2
DnrAVnZLu4mJSYumhD6XMjO4KjEsmcoa1oBMmdsSE2SEIHZp9Kb8qdpqvptm4YWG10Zg1x8JvM1h
deSuYM3jlE0buuq3da69rrV3b8aOy93ilxxwqC4G+i/Y13wy2ucMV3mNYUvhnsUDHKf9btYG/3tP
nDwqJmlvTfM4lCSLe0jLMcfFxa6XbUrXTr5Y1lh+WWxnenXHvm53CTr8cBvdhlirtieWaCYSMlpr
jvPDglbo2mzmeshCT5+UzdKc4osx5dEwCmaYVLtfrexO+zLA9HZ1V3mdSdEttPZ5sOlVI+vs9IbO
VufRUumU+N0VDPFjxe/f7Anry4QtGhlPP5G2qm0XI2s3eUMy1bAkJcG+UEzNhgHddDWjNpmqXdJr
oMyZLWJpweJFdlChm+fGtE8Go64oSz9oZTDXn2VRljD667vs1xPiZODibQw0LKVBOnc3BhKh5vAE
NGOOdbh5suh0VvhoIahMjCo49cZs6aN5SXeRvdndZluchNcVz7i5SmKuODvEXnkY5XQDkKcYUpAX
SSuCaNViHjZVq79lS88qiUV4HnUzDeLaCDvT/CR2GX9V7DzTeedAZffTh2csZuBl5AH3NfNK+VS9
xZWJXXrpPxotJUTPZKQ+y9YXbRHNnaBgDvqwZ6LJwXPUL3W85fU5OJDrNpmZtMwBIAm4cSrpvc56
iM5oXDwWdzKF03e94bgoRkLnPCd/IlYWm5nDGXsazmx8ZsAzicGgjt2T6Y7WI/ONFzoz74kSzzjK
Pkfp/e5MQ228XNy9Rwhm9oj7mhuA47ZGie7UF1Ev5EL6tOJLfdosdX8j+unkuE11yDjbBKmgIMqt
ZD3iKluinJTqI+8uxLeuF7+sjGxzTuIDiQWb/8PcmezIzaTr+V6850FwJgHbi0zmXEPWqJI2RKkk
MUgGpwjOO8OX4kvzjfhJ9THQfQAb8M7oRqN//coaMsng972jb9efGJwvXVXoKxWPZDyE7z2PYFYK
96RhoU/KuGe7hl6y3Szi5tXv3eLg9Ia7efai4lrCM92PWRUBItN+6U7D3WgNNCeXWqNksx0EeHQ3
XLpJg3fL9rwgSd14C0EaTrWYrdG1OmaDg8h9zF5gN/Ah9uDwDCF7JLx9Rr2X9ZRr/zRYI2I2n0l5
LBqUz5bL71uniZYwmS3SNXS5L32n0VZk5kEpE72OPqGhTokLD11GvmuVsHk2rA2fsHmfzTAfh2gI
znGJF6O5hc5on8ZiWadHp8l/ems9/2omijQnGjHOc7n+FJrazbihsl4W37vOAwYK2++Vq6+rwOHX
Z4FFtSq1auUkCSMp21dUN7/TvJSblTN2V1fuJ+VcxEJFlLjPUON0I4a7qJih9EgcWNv8LE2HJWLO
riqvaa0s+Zh6y9rjDsEEMY/bG/LgeONLNA+PvEN5MgbVcR6Hoxnge6QfXFxHIp2lXvfQcRwDPD8W
I24RdEbxI0DtD7GserN60dsy2H/gG4eN1TQn4XhXaY+05Jb5hwIHPLD/Wrt8wIiSVRgPZt+hNXNS
1yUrYF3UGh3jina5NocIdQVNwwbUvO9LfDW19WA87wpSTXBCS61r19IQ5/H++5b/0w8LvkXoydMa
rNm2a9vncnSjLZIhldiDuNTVeCiVpPSTCZAeRrv+pVTtkLEsT5QifwwON2c2hXcNt+o9raL4mcDa
u4itfTDtgzNjH+rpxEyk0751nXhb4vCaVajR84YAa8+h2I4Kva3rOa822RtDyw1tCfUE7f3Dpzxr
E/vFpXXnZTu5BK3pIb9gg7oJ0UuluWEcUvZm+9FvSzp/uHNy3yL7xG25ehgRq04gPspdQOYxpsTw
phQcI9+iMxApOAfybll5otxaZxKPP9uodLkzS/smO/WyhsgjusJ6NaP61njyyLtIob3P/1nUdW7r
D4ZfxNhsuOwewIl6LpMFGQfXSIwU2r0lITsQ2nZv7fyufRkn/YYsmEB60z0VuWJMbfWl6DLU9NOR
olssNqpo0PsP1zS1L7ET3Uexea4LhXvG+O+eqfqttiTuJ0xVtfBBWtVjscq3ECUkF8C495rlNKfq
04vmt6IQN5dGuc3d6iPQqngXXkAq2CiI8Rb6DrYAy1iL5Djgqb3J+uJuRq2KPV4iOdNecRK+99XN
bbGVPRkyfY2DIeT7jh8+A6opSlaMqiAQpMTc0VGlazkYVlcQJVoYoc0fyVXdLgNa+TjD/ezNn6Nu
juhBmTyKtqGXIR75R8DZphUvYyvfO7n+5ub2Ll6jigQWSu2ytKM8t7nllEdPpRpfQq5cXOzE8uBT
oFO2P9pDQcUCE6V18+v5M75kC06B+Qs+n8V+L3V+ZTEkuRiRBhNLdF28Cl/Mqpo9jOmu6oPyIy6c
adO5qkkmjiBvgWJUfRHs3KDqdosVcTnVxaeigAbx3nhgzd23DlkhVT3JpJ7Ha0edIoJb/wEI4XmK
/I8uRsunPGxjHH19HSfrLXNmBt9rcl5YUK/LZ+wyOtNH39CrSz+41j/8WX8pSe09G9bKqThbW2/N
gGSU61BjI2u/P08cxRhiSeAFtrlGrN4bN8WEYaXp4+Kru0WMd1Be91kHPOXqoUIhNUfPob+8TfNE
Ia0avlelKOHJ3IMI0jOavmIjVh6Ejc1An1I2IapIPsh1RO8+BJ/RYC88Ovi2Vdqmu2iYnogAwCAX
or7yMXhQrNicy3h6F0322iCyxnVR3RGinye5KF+9xUu5IOqjotY5ITrP38K+AotO95noHtoporHY
veCHd4k7zBWivPGrNxwBcsC2XwsqA+EB1zFiYCKFYkJ/3JWGGUrCAVN+SCZ2Y+pkbcR77/FUl5HD
xO7k/XZaOqByRyXjrXbWikoryVo2CmSGpJDC884gNCI2x/mvTa7DMr42807BIN0Lt35ZusnnYZlF
x8xmIXBznPk0svu7NJq5p9QWa+pnFPr9h+gAzrwGk5/nXjPi4zaLqcWz8XjSkQ+TW+dlTn+NGvGD
063VzxkT4n3Yk7IzUDJuT+kFJZ4LAFovz3ZKw0kXD5dGx4jN2ckJuRfxRTbKPdQt+f2Tzh9NIYDH
Uh/cMeecWcLh1aRACUoNFjrC1t5b2trC77aPKVfrhiLmIFlMON7CIlH0GWm17yhlzWuQNua6KJFe
J8tudu3NTn6XBkgobLscXOasYdrMfVjKSyZ4WHJyHnoAUfbycZ/HOWcPY1zT/fQDCmpd+L47V1LN
rRvX20C5rlUSjlrfLVo+00GPhaXyPlURLceRBNkjIx9rvvio5/TLWE1w6nz/be0QnKLG6jZ2pH6V
VZZvJcl0tEBM39cS5cdKD2o5i4W8n+EdWcO3PA5wbjBAbP5xy7RtvoMy+1XhsdrZQ/fYBgwjwiuc
I4R8drCtOUx6MwMFLs4PleGKoiiz2QV9f5zk/Kyt3D0RoXbriXV+xyXxGaNjs2FL3BTjyvkdIbsS
KEU2oU2LsiwZ+kjME1l0WVxnPbdW9oZBJt8jOdx15VrvYApRR9pM7IMzF4fur8QFXMwgtK9SjF8a
lrReiYBfg5EldEQbo2L7VGEugsXmcHSLfDeA6KDSY57TpHAkg7glpIf+z0GmDx5uP6ICcKihmfJp
2ejbe+HHNyvqQi2nL3nP7HMbdfLBAgZL3EyDcLvLiCqzrEtnG/qaZwNiPIT1eCESu+0eu6l+Cxp/
4uBVyioSfjZV7vXaGfDWDDNgEOTwO3ZvOxXF5ViTd9qgU8aNdCOSAtZy/AmeH5wNsfPbzO5Qfd0Q
bGkbNtayPdLO/FCv5Cr6aUDmYEeDAEC/S1qte+1aGCsOnNNYY9SQDODumOKoraMu3ox4XPduywxE
Ns5mtFltQxZCehiWnVNNZ+jHb6MV/Kzovd3w6XS0RMVvDv2pdIa+WKDnKnsDf3iMh0o9LIhsk2GJ
uyNnfIlE0zvOtS3QZFmMsdJrbr/MzebtrIyBhZ0CPlnUA6/dqY9b0Izqu5/GB6Bw4CZfYaPwwg0N
cv4mtPpTtaJSi1NKc/zpoJv4VbvsKeXqfLem8T2e6vsxYKkIWJMALBbKpBferx45FPmScvwYp5U1
Duh9riKxt9f4LXTNy8R1G7ZEDAO9g97Gu7nm7sS9KzLzo5IjdUle7e3SKcQE6LFme5RZdCmlGpO9
68f6tBTp/TCKr9l1nvVs37Vu6gAxUFkRL322Ve5ItUh+wBiZTB5Bc6Q64NUsn1Vl9K7sUVfyE/9B
LPsgCmkOKh2fymlytnVQimStcOcXHg6s2D1ma3RJNeI0v2A6K8vx061WTqPRTlw0s2nnQrjNAE/t
eHXlD+KX5BZs5mzV8S6yFEUz6Tf45tfU/J4WFl52JmlVW09/ZQUBXpRhLlsrl0fiTD6mRj43+KIb
kbkJj+cLNiyqWsyZhfI40O9O++WuMeuuXQcgJEph++h56MjlDfv+vgwEyk75OIMMcNWcWFkOfpv/
CFfTbhy0JCdFqEjv26g055O06ZQKpTzEMnxZZ3RPBstPny44mpBfsT0Sg+vlxW+VZn9av/pjdes1
9b1H5nEcKupit9kNxnbfM6HQlYbpgIrMY2pfLUQrYWlPd1EYIN71GfY8Z3orquWJ+avf0P+8Z9m4
xJVKvA6UU2DNCvbFFES8MaC+21Ksjw7WyXu7X4DXqnH83jkBC8EwdM9+1qYvnFGw0yXF3rhZ7TOG
b5j5Hnl17rZV4hUWMP8c6aS2wkHtlNUHf4xysrc409m+XDsAOqfvyfkR1XRKBb4gv3F3zlK/Ofm6
opelC96B7tUkwQyTCNvErYoxqWmlTJxS1ocxaAWBwPIjj2S6TdPwK80mWgZqAFLCKElSc5U/ATjZ
IVkyq7/DN8CvW7RE+cn11OsRwTfeaWLOUcfM2zADkCHIcTy4nvgBUIplj+E94tn6uIYuR0Qr7AMz
3Rct5jFm5PZj9WBzRJo/9PKWmGv1BmlaVOxFP+wy6YlnrNN+4i7B3YrMABXEboH16T38Tm6r25f8
lnSUyYo7jzhnDMRYllvrl9OSY1wHCNNjg0xt9lvyxlsqRqwoPiCNPoh5HXehs0oktf6XZll6oID7
NUzlE7a/+0yvX4CY/s5uOmu3ejLkN6bOtb6tP26Y/RqQsSeWCbPTIrEFFNl7uHgnFbcvpvXPUzts
S7+5HZOi+qwrtuXSXBwayA+K82mDlp5CJVK+kljFX8wmGEBMDlgkol+4m9OfRFPU4PYOBZQdvrBN
11k5UrqAzvHFrcH6IvPkKYKcOefry1TKoxJWmUBU3WF+6Mh3bw9Wg8K2SIPyKHscJg3L4HYoog/L
st7WoH0USzhtZweWrxpmyMfA3/rNTAK7T5vUCgHrFTEZhlOpE99hw1jjJ6aEBGZl2OTSfSHyAcX0
TH6qVX/LavOFN5lxrYEaDO+q1SOTlyoVu+Se9frr0AzOLlShtTdq2Kn1FvUXYCDIClrA6ATnGCGX
qWhxebjZEm6dqOKR7unzahFctdZ7u09nsgChfNuVODjTDaclcqsdn/u5WLrupBsA8iK1HvRYnC3P
/VbVCEWNFYt9brLr6uLbtojF1Hn/1kzhQnVpRKFRRPCCHAiOb/3+OSzrfaxoCFJYdrdDfYsUFzQP
tiVpQKAlcH4ej1Ri19DddhdhDx9rQVIR6l7WyJRfL4lsRQS4V62bOi3CS9Fb+3aogw2y1fSFmqnh
5rP5QExDJH6uroWy97hIU1Q93vxLDNa3xQz8xISSMgUOwYYchpDdMMdaz6pSbKKo+Jg98Vtqt3/x
xhojQ204lEtnhZJHHbLMzPY1769oq4tfIG12KyveLuV6zWXmPjt4AOhuNz5PG+jrrUZotZ11Hm/6
rH1HeX7nr7cphNQut4neTYU3vNWsq1iKYdE7nowdCAac00LSZ5yfVCMdxF7dObDW4LTkTCrDUL6G
k/NUVkGV5LFycM0SFIDnFqAEbdFN7z7UhDcII1MN8NsKZHQWqRoH1JjOSBqmGbMLn/0a7/M2RNEc
2dqEj67sMLJMC4FnWPnpGL+MXpiBrlJl6F+UvKFdYqDXx0XxTnpgiSn60VHCL++XoOFb1euMawZT
8bhtu0Hkr7MDQLmbS9wnZ9j+ONzZft1v81HELjcN3SiHEjuUTBiHls/QCZdm1zd2G+zsgK1p509j
wdWwBMNuxfpdPo6lVf0eB2Ybq2s5vrueL3qX++FiyDJguMNoU3JDmpgxgzWqKH4H+VzU7/XMXU7J
Mdoi6sPyYfhNkT0PfRtF2HGxvVV/08CtCkLwHXCUdz8b+tv/Zj3Cy9pdyltqu8/cVHe25R7nKqbh
Aezvlze4DixOwWTeGOjfdGyq6m6W0ajxeyIg7u1sib9nuubnmoNx5Yuidf/Z2X2xfE3OOEZfM+KT
dzmldMh73An8WIRyHNeMIfV5nOzGS5y1Ku9dewwXgjxVc5ixWiz3YoiVl0SM6/UhmDK326EIdhHk
ZB2SjYh9qdzaWpXixbfH/uCk4aD34yCJuOTpOfO+r2JK96UOlvBKM3scX8pVRMN3pr4cazH6zobo
Xo7OzRRHk/VRmLwlsiOAW+R27UntqHoJCGeZtXGZnuGEafMMMD+gG6M0DjKY6Uy7uL8XhaQ/NZP9
6oVpTOYh99F6GFVt9dS0mCG/b4PQkqd4mMgIi7ABVr/AZOR8kGAzqIyKYGDEldPQEpQRlfWYnqHW
y4KmiqnTjz6+qerFWEHAcAVfPD81Fcz02Xio7hPVEcd4zrw0J/E0xCcHNgLhkbYFwEipXfzT1iLI
6J/tafwCxarp9QujVtzLMWSqF6IswK1F6YhnO1j8jz7TE7HW3YBiwTUQwE+OJt4HMV0x7aMM2/RG
SmLUHd3ZJNLetKNnMRhJ3kCqlpQVb2gbCmC90QnxebBrOI82ivbxOVBr4B1NlvPJQBcjdh3aqAnv
Qta504oaV295Kx1W/7ldxoSaqSaC41KF9ZjXzO53pRMGfC0dLpdG1Ktz8q2gCR/WQPEQ4VhHHB3b
zTgdy9UgHxWjAVy1JGqATd6kHB/ICAm3IMcbYKAM2rdaZ9KHMlNrc9+JNroU6Ht+WUs78Nz0s+YI
sTDdodi/LxwISDzQFqqT0Rr7p6qtjNw2c93CJ/pL/7Zajce4UCJoA+qzEPRnZsWKAXZ9HttqxBiX
ZsW+MrWCBr3RltGMoT1XIM9kxfRws+gjagYiPysoD58Du/qJYsT+mRc8WMiA/CvHZLayEs/tfe+9
9UdCktjUCBl2yiInHWIZlUaqz7tzrTjKbjBk+8etzUr+aI7OezuJGalagaDXPUUmcL6RA8IHka8h
Hg85zQh1MhMNxQlVKQt84ZBMk4xFP/rHNspxNgyBNT/7gXwt8xlx7uyQpDNtnHRy2nMdVNMfElSW
8qEGNgFuk4q9RXvNmLIWQ1fhzvReDXgHjRmm9Pud0y7Wijki1yAXvie/wplYTOqjeLIQ3RF9VqVq
r/MYm6vvWaA60ilg5cCwwJjmbHkLi5lbOTaE85AXwY+zhehSJ7+YoiApCq//ahwHzbmeB+Xcj0j9
jp6qMOqs5PphgPOr/szYUMLIGMHhKeasJBBHlxMjm4uAi+HZIlVCxPCvXu7w/iIg4ei00VXhc/ir
eg9yxPhLZaNTMHUK96FvovYlncnQ6KbuAW8zRyTUylvfG1wvrmOCHeFcZXfMF5uPJW7nHK1t1Fuv
PqahjFh91z2mbiXvCDu9dXljgfJYE4g7RoTQ7fuwsl+dJR5GflhBsIxtqZNJp+VlkI19BdIAMG87
0MqtFnWVRCpvs1Nju9yaIyggSUEdMNshGGpOtq7KxkeEWc0HYluOEJAlU4JaeGY5umKVZNNMGecj
exTdCVW1uL9xnxCX5Wp8gn1e2mNSpIsVA1Eg5x5y6Dxwn1rvWxE0dzpfI+Kd4qU5VXYwfgRjhIzd
9m2eQ5oAwmPTNDxwm4jPaW6C6YcOmqLaBl5Fc2XMpDFtcOUZstQC8ROdE9N/azVgGJ68lTNavMzj
lMDtMosGMSbzsdx06Sj+VOiOt4ShYLelrwCnblTkkbfJVjDNHccLedl5jX1ss2CrJMRwiMeA1E+m
kbOIKnI/0ZRwjEpjfaq1GL+bYkbKG03zFatzFCVM+uodypDo7ck2qD2FhVwUnjfzHsoh4Ay3xeyl
SWua6I8gueRhjLGMMQC3aKIMD07XXnryOooq+j6SI/WKBGq4z0O8y7rjQtjiUOBaqhyFWTXPTPBi
6gDBJwJAbHzeEn2ma+59oLDj79YOE8Q1Yt+SieBgh3lJLfkc65YsK5+o3ddUmjuvV6bfsYszrZt+
fq37RX7EpgPtEmHloTQppao/jXDqJyLMxU9foTpQ40DOWGB3wHY+tm2rtFmn+rUF/VFD9Qx7gtpO
WFTMomwi5qJsvfFkBh38yduWQWoRTCU4kInAdmb1jjRV4kPyZcYnsyLNqcQo3GSyZ/9lUJ2xjh5U
ywMozLhzprbjN3Ll9My++9or3+Gw8iaEzL2/FK9EB9e/h1F9Duj/dwFI3EoVxjNjf3Z1eBo9kXUy
lZci1IjDZ2KNNoGMMeJqclo7mFEUJjenbtjJayeb4c4l44TMsrAIEVJZPc2dakBuLm1JwUKcohvx
TENoS86CuaLt2UL1lRiARxy2wl71EzKJ6Be/dvbkuSkCoz5rrDu/NeJND2H+1aA4sbDVDXG0H6GF
oflApb0Ef+9wyiNgc6YBK9/LDGwXOaHg0i6UxyPNcW+eXKUJN0HFsuqHgrVC07ZszfNBAW9wQ/01
TazRMA4H111iIMzKvjrB3wDPpeS6t+flFlEWVsXWjRSUw2LizDlbfe3/gaC3Hu1MFYD6YgT+/vu6
MScyaYshpEtQU6wX1F3xD4KG7C+xYklLgOfaZykH4naC3qX9EfZXn0pLcGbkc8UJo2qXyzhFJXpw
Uxe5jSFqGXqp4+HT8IRGc+Tz18TtflJZTdqcchb/5AjY/cmMgIfoHdFddSwzWUogFbmL2cBXBytA
9d7YPlKUoih/akQ1iW8X/kV0Aafu6KmY5ieAsXPdWeRS9yi2vuZlpMeoH3xF2iKegd+sF+l9g/M4
CfN52YssLJOCCAfq4guowHAFctzMooxw5VjzbRFnZu7ASeviUMXOaDYGc269w5epfk4123sCr4Cv
aElNuLcbvOi7GND7D0Jlh+DCzA7eJ25kjjJbddOhtkOv3bIoyPnFUOUEhefWGj1ph0cknsTo/Or/
vlk9aTzrO2iKeucG9hEjsopQW6v6GfA1xZRVrzb1VjXzc6CjGpOi4h3pCQoj3E5F6T1acSsRZO9u
6zier1rkC7F+6KJxIfCzETNQVg2+sqrI6vgtiLLsgMucsmGKJJN5mP13GbgMlxVTl9gUbHQfnj3X
GBu9COVS0Msnaeb1AYWV8zStt1Q70dc3xTru0fwpQCebbjxfdKTqWbRfbvQi5VM4kA19dnsS/IdO
tx8KzuhdxiG2gly/6QaVso668pe9dgR44Sr+CcIb3MMBMLHnpEnRAbNoh1cHWHU7/PRqX5OpAFZG
AFm4qxfF/bOm7HabpoER3DRrMzzb1aLPrfbyB1jOL5vkj2ErMjumBG8kdeO9ccol2GHa4ANVVclz
pNS94x1FLC29+8fTf8oHtNZYMrm1cgTuSest83UlVY/Cp1RzhY/gLOPFy7hKN/Hss1GGf31v8e1R
c18by1ACzpVC92EtgZn/fgGQcO6IBncukoOiMfM16DJGLje+bW7B4POQmpyGP/HmmRu/LGOuS4zz
NhVrQSMtgpXmXvwsb9cKKnssjr4Qy74P1sK5D2i8LO/7JZrT/Wp7/sUn1ifAKjPyBpVpxxfB9skD
auqXuTy6WnXxjgQRH1nGOrAZO/00ktkkZ/7+P04BSJk0OEckCZBWF5XdvEXDSoEYdlkOMGwGIXlu
LAI5rSn9hGJukB6lar7KHb4ZElkEMU3DtwxCv1wnbjooHOqM6qHxxBENJ3p69AoWIUVoZSRz2uqT
grgfkdfR2wjQtXhb3L+g+9vo70BoOHzEW9WvZXsBInCrK/q0uNj2A4rELf5Yh64KP/QofJdBTy1A
cNNDTtyohzWtObyWlfsCpbMq3y1Sy8wW7DeAzEXdw1WNTvN3rHmebma0HCSEjH0Q0gPHIEXXREqZ
ZC3Zq8gDz/kkF9Gq+q5dZrs4DorvvdFWWcvEshr9jWsoANhsZj8jdH4eQKZSjQrFDYCSto4XZy+9
uWVyxj19cW1e51gjAiPwWeclbo7OcUgWND666M261r51kHaOF32DMNDp33w2kGjHWISJcOgClFKh
dRvfi3BU7//4DDVAvNkrk5XDcaxLeiE7/jbZkbiTvmApR/cAEgQnLFxDpE3uq4FTJepvRRxCIGIZ
ZoxBhHX60b5wYz+ZBP71J/aFNDwEcy4wJ0xV9eUGgJyc+ctSbZ11AXL1p168ZrX2upcZdU56ZrPn
8vP0DA+DKKp8N27MJZ+DvNRJFZYpqqFich7RWaSKPVESzAG4qAwMYYmPPx7mOj6a2XZ/MOVHH2WX
7grCeFGQYa+5qXmtLHu2Wq69Kavfs9yhFaRRD+NEdQ+p8ZsCKGITL1X2nBWw2DjNetRK/R9Hx9+x
D3Ii+j4P630v5m9/bXu35Onsd/PvQURET/9z4NR/+Mf/+tpU/Pc/317z1bSLzjPZ/+sr/s8RVf/y
msPv5uGz+m3+45f6l6/8/0cOtodP9v8WY/Xf/ud//x8kYP9zjNXtJf9IsSL4mhDzGOG172PlpYji
f6dY2e6/8dh1GBNcCCVxe8m/h1jxGp4xGKpjj3+LUxL/L8LzXv6X/xT+GyFQ+EP5szgIXBEF/y8h
Vrz0P1hObz+Wx3Hq2TH/if7++3+y/GLzHzwSHc+DVXZWSz5UCvWCPihuT1Sy2kA+ToVIHJFiVb5y
pWNiZ6jniXzLmBmAB0hJQXX/GtukpB2DwLQExVcgdxdy3WZBrHLRPTshoygCXdQq+4JQnhSic+Wo
BOio8naPcNDRb9JG5YyZOre54jMEuS4Ki4zDgZqgACSQnqq8Af6FVTYnCgyoryxceIcEl9LI9ou1
w9mqrkTt23poCGXU1FeZt7SwVmKAMvHEweSuiyLaIg/OydxgM3jUjwQlmhu7gt97mDX72gOJB3Y6
IRZ3xB3pFiUbTBNXx1L1dvAR1Up+Zn2LkH3uR2Zqsk2vgeOZXYwGrNEPbeivpOqkb0Mtl5ZRJA0R
XiHI923rm8uXSMoQyOkZ4yIzMhRDY31oHaS02RIz+Uyqi4k0eiu3pVa57odO3YkmrGj4TrPKfay1
jOSzsJYBtWyR2nX7a2al/Q2hwiNxG42g7skoalTMmYx7/xltnFd/bzPdLPtlRa2CFG76ZQs89WsC
GPBTkrX3p1eLh+pXDW7o73SrgkcPHccRPQFEZuCmVb43xh/uIxyexaMfeBAGlnGcx87kqXUkUcFC
jZTV9vIWYU/8XTh22T6pNACtQBYG+rdzsqx97fI4PWtrCROxRMFReGP+VK9TeZxI96OYb1lmJm8z
73Is+e7LMlVGtFiNKFHc56yeDCCqjel52dLpWMX3cSdjzsyafcuwoNeOYaqSaiarc5PJUHiXxo0n
ILOAo6zZLr3T8YSO3EgjdI7XNkYvKiy3X2+VgGnL+0vMFRHFvqfC3YwcMLr0GdtVghpnXk6Z7YZm
1zZTYF2GPKCFdU6D6OqkPVFY61wU8hwAICG6SXuszEYO5MGmcCTqiCy6q0+mmXwIc+ZE0jnpOW5m
cxh7ShBums6QPN42aO+IC0ZVQQTqHiiN5zW7S/UwwCIRY5iu1j2ZOSGQsnKXl0Uvhd41/qKPM/Di
Uybb5bFgSIEQXWbrgbiX4WlqGOFR/jh1iWdYZe+2ZdVHRzZ0dUscPXJnlso6eOPQkk2G7ZR5Oia2
BHdld2o7x3uanbD9zKCfvkPLehq1koVh0kCNMk2I9ZYtU2cWXcWqcduT79YVsjC0sqAUbkxiVG5K
wpELjDnfgtSXr/NCH3JU8k7rkaQ5059uea5V99bj78vnXxJVS4qNMkUmGoJ1dDhy5DJtuS+7fvzi
VPDcYYfXrQvjzVy40qUkBvPAwPW5mUR5I2hiXc+RfUDO2s+sZPaUrT8cmzwX5yKNJ/qX2BSjve2Z
PPA5tplVOOuOjXVFfl3G+BabP62e3JHER8JbQ1lg2x3y6U7MNLSl9IQ1sA1MnOR6gZ0TJeLGFfGq
AxwDY2U3VzybEZpCttUYPFGIuRiGaFQGAsISx5tP1xaitjRDVWffu5Pxp+md5BbkdFsv0rc4Db+V
ShwwNVhOBXTq0V0WjA5diYZsSvnWZFAnxMY5wSQ/GcNM/R73UHPfV+U15WvkqGneD2j+9X1c9rm+
D1Kz5mRYS00edjMN9XDVckaTVegC0LIvpyqptT2FuC794HPo/Jvor+zCYxXn3qF3M4cFRVQ/JB/u
xo+RPE28+4kko/qMZ8J6iRZQYqDViozYiuZiiubwuzs+nhqHL3SPbF6fozKInmXdEeE8rsFO50zw
uEyiwTrEg6iPSDfMd9dF+gHZxd7OVohZdcLekuOoiODYamLrK1Ix5OKHjxnafqjyBvmb0xiRuD3k
K3Jm74QBxHpkeJ3QuTnlMQ3q4LC0WXQSqMyzTbfM/g9Iv3DbT+xQFS6oBA1fddRybO5ijnMkXd26
vJbahz3F9dTv6FlwoZsqBbDszM7BgVbUqOCdeO+5ujgQa2e/+WX1vApMjk1WDed2EH8Cz7JfwxbY
lq30JrPS2j3Fsq3f1cKmdll4rw8Qoz8JUO30D5lxEp8BmcbuV6pc0+AkhcrelUXIBx6EIaJ3Z5RQ
zg0P2+95FURNntSk9mfE/VReek/copf9KnNTfJLF4FgfwYzx7E7XmIb2UHQWqhyecAnseo9uJXPC
cUvK8QTWnBvANVLkD7kWaiEbJ6gfgnK9WSRqD2CBuId62WOJgQmwEandKwxZdYJXE912tQDhOzCV
YHZQ71lcENIYV8u191ePOinEHTEC+bKIT0GnVFDuVljvvVWh7LJsCfYdj90B3WT0w8cBleCyY70W
3J1PpNiH+ODL4LnXa4gIp0Q4snG9mpxvy53ucrds/xd7Z7Jbx5al51cp3HkQsXfs6AY5Of1hT5Fq
JwF2ir7vY+bMR7DHHtWkUIABo2DDfp6LAspv4S9I3UySUlJQaSIXrEGhkLzSYcSJ2Hvttf7/+68Z
E3C2of8Towzrx2I9mWN8OaCJtMDHBc11Z+l897uMAVcNCoj44ds6MIPg1IuRoW/GFJ/W1gvD8chI
LHmcFuhBgNeGwWJkUvZ5nJQ/Qj/KKl56XMBt+sh++aEq+z9mnowFi/Xv19H/9j/+8f/8p//8+5//
29dJMvNffKymhThQQsxRbgByHJuIqT+qafPAEo4EnEKFrVwhxd/KaePg4b/mR7akxrXnqPEv5bTG
v2fx1buuYJRhCEHI7Q8EyRgvCC6GbgBvkZY0KN75DV9mSYWDq4oa2rlWZLHDPDbprK1jTJAogjTM
PmitFn2K3HxWD446EyMO09mAgEg0Fd4H3+5XKfQWKH6olChnbDOw116HspxVBrCdyYiM4gSfx22Y
69q1WZp6cqT0ADHZRA5YDUrSxF5eacq50rNxPpPrvWo2URhUZ56KXfYU6aAz9WiUrLVEFMHGU8Gw
V4Uhs+MW6RjmiQJ6/v7Jd/nl6PiUYfuC5GNgC+BrM9z5xIITQ87nkCfnDMBeSJaYUtqu1x/qYd5+
EKJN94D0gmPGIxBE3Ahiq5fm/uOp9dmh9eknP0/O4xHhk13dsBxmZjbf8AuoEccKSgVsxygsWAEs
xhx0OYrvBF47L794pmQ8dLg3UNvP2KYX1zf2ICWYqSwJdBcgguyy7xlcxuaFrokxNpj51Vl3ZDdm
GV9ond5dRBQ0IXo4DWXJuqYVWYU0MAvWc7wkBTK0evKrY0V0F0SUaEQnpSW+gd43kRge6SahUxSZ
3Sra8bVqlgody1sQmszQGkK6kGTRdldI000AqG3TNyZDX6NFPz2qyxgW5t1YgPVd6UCDDWYXk53A
VhDDx6okryQOAvm5ApoRrgofk9Gh4r27hpqVc+CTY4dwVeCpLhmL4X0Zy+KGNmxyX2QduQI6QpNZ
Le8To6ZRhEZrjLl6dDJAKJtWSNtxl9VVl/nrUunlxzjqVYnA2qnuHYsEm7lB78g1GQJhCe2M0RAG
w8RrlghELH0Hc6UeLzye9nPXT7BHJRJ74loVUnyQdeeh+9NaQWvZ7/J7GkzTsOt6wnWmrNHVljgx
0kzqMAI7iZQodFcoy6Bpxh6SlWU/JTipbacSqKdUTrUzkRsweGZ5o0w/GZfSDep6/fqrIWbg0t+A
TETSA3RmVSN1inVN12ea9dN3Q4McHCf1Xe4E+SHlkXbRDQ0ED4zVw6onBWgqyQ9oueCPfRCDRXQM
WJTYTXsijhaJCPzdwy/0/3eg3wTtkle2oN//8l9+B0r+5/9Oktnvf/mXf/vn//Wv//I/n7Z1Hv7+
406kCakObIKY6NLoktOf/detSKOhc2CbOqxu/ZFBzpr0pbWjzf0gKViSlGClNR76QX9sRtI8oOsj
eJeUJQX90B/Zi+an5m9PlemiYbUoTXSLdgW7ofkCJma5oPA6JuhgYnJtnSJ91yuU9NkQxggctWj5
5E59Y4EXM5Pu+eexwhqA+Nj4yK58SIt/ssJXnNBD4QbyVMtCZs0BUm0Z5qQvd9bp1MtPusAplYNd
2GreeZp+0PzSWFSlHLev/yJyvrBnv4hh0FbDrKsz12DnfwHPy6fU4kSW56cF4vlywq3sZawkIh2C
o7K+rtPM2xohRBgMefauqszPft1fZjYuKjW05mlm1xdt7mbb1Oiv7Hw+2zF5fsNkaNdEOoSnHPpy
WRHB2TVMhRu/C/fTR2lBJcvCPj96/XIM8Xxr4YtUhKDCwHOAv9vqqxZdgdE4NYdSnqC6xQzXQiJG
K3xrWuiqkd7Jw5ZFMTlU8d5vNlUDZfuCs011TgsPg5KtdpgVrfv8MJ3D5bZ1cV07a5ziFUCxeMn1
Eo2xqE/ykzE/jsKNk6HHW9QAUbHzqZW59qnTV4aNjPwNM20yIslOsrKNvMPPFGNmxQ972keLItsF
78Un1sgROHl9KMYT+nHAgvNkOZ652TsLCL2R32bi0LLA9e7tAVj2ytuhfrYL4mFWJJ64+lak29bZ
GhVhNYguMeWuKIoGE6AuiVfMpZcBsWXsSm84uvobC4PdRfHW/mh8RFYxMms8x6KiQwae1UzvY3jT
0SoH/kFb/bjbWNsb6CHAJNg73+cX2vv5MEkCjbUZUo4L67G+HZp1R1hRcILLr7kNKzo5S1ij6VGx
8j6V+s5kO05I9VvEUEWhooFpP4lO7D0pKITmLo124d0zVUXi7OBEPvJv+NbMy5qrinaogGk12ldY
T7ekfWyDLYLm4CR8j7fPgzBe7tHcumf9u4134h63R94pWA3zCgfAJjkePrhioU6yDBTzqsO1e8MY
ylmOh9XG3HtvEkUfBHXEcihOavasYWucdwhZ0PqvrHQRn7kfwUccTx/Tm+zEMdkIwaIv/Q3sgC0J
53gjL5Ljfukeu3tS3FcIcP1l8WncO5vhHSOzpbe01lzjHskwxnds0djTQdGCsfocfcYYG33G9hnp
e7x15iE6r01+1PvYWxbTeXSi8hU39GO2NZfhvmxW2EHbDZaHO+hsH8Zo675xjqete9Kt+717350m
p+4FHQSNzf10uua1rdbg30oahMxTz8U6u8guVEx+2mpQC9wGEThqGsx0cczHZe2H9sJX0zl+wXkF
R5kna8xXqZ3z5vbnf/z9z//797/8E7vci8nFw1/+Y4tjDuEir9V1Cf1cPjlt4cI9MNm8KHrBsNq2
UH9L7bTsA8HmZ1h4wA3CGxx+9GWHs4wDxhaSwxFFj7RM1uYfOG29WOiVsDhIcJSg5J5RsC8pqbQ+
Td2Dfbu2CWWq8txfj1E5ACgbQHKPU4LkB1/wk1v1jW3uxa7KZ1qOgWTGNpiXOLp4savCByMLOoBO
V3Eeu+56tAWiFxeZ43TnSIvM73zci7X/4eMUjE7bkDRp+Bqel4aN3nh5bJRY/5nhbGsF+hodQbLS
o8JavX5l3/wolz2T9o0h7Qdi55P9G6dQobcirteMyvWBg1pgLlQLn2Whk+m3fv3DOMA/3aMfr8s1
TOU4yhbi5W2s0wqMg4CblRtVfBoYxDZSAxufyohA00brLSYosqDFZrXViTJd9Z3P/9bXaFIgzdW2
4XK9z+9rp+ueNSSoJBAtsLS39bQAz1AdN1NL9HOJ7Or16/3m5xFloxM0a5MX8+Kx4dBbSJlSMkwe
cV3OVJYn1mCQDtE7zpFLgtG/5+OoJHVpC9P4KrM8bd2eDD1Cwm0NA6eWlCtY7nJZ86jtEJUnjyeG
v3vG/tblUWzS4ab0482ff/7k2QF3wNC/B6qIZMPinGmJcx3NysnMKz7rpfElM+nvft7LZ1Xptm4y
/9TnFYij/YuvL0F2PqkYcVkWTeo8roNog1AaFQyalY+v38q5b/TsUX35WfPp7cm1ubK3osxgB2px
kOxjRKlLHxfDUo9DZD2+3576vjxn+DJcYH9rcaEP6hh7O62W13+Tb100DywJ9Jw3UK29WAv6CAF1
mvCLjNDSVjQjaRK4QXjUtWV/8/pHsUK/vGbJrNhmrTZMltkX1wwPmcnrFJQA6RGohXNUnTmJ4bIZ
c2CFddPfkv9pYlXyS2/z+ke/XBkodk22HAf8NEcry33RSME84ZZj6afr9F241k6pIdsP2hZX6nT5
gx/ESsfmNrOd4Q8zAX/+vfqqadHDOgGAF8rEnPcIgigyy6VNE2ydur69d+IA0GnS1R9gfrbb1z//
q3vMmUyxHMB7tpB+PhxjnjxXXQhhEnWND4i0C48MZlC7ycQu7yAeWpa+uOsD1QCsJbb99Q/+6g5z
LEJ4zx6t04yj6fD8wlsyPUWJ93yNDaTa8SEVi70Tkbk2As5HJL7scq3bll1mIZn2yu+sFV9/vKQw
oFnGlsYmas8/f3LdpQtsM/KIq6snUh8Yw8/YiVItISVYYi0TC9GBMSLDwT7v7HLKi/w7L9LXdx7d
BZ1Ath9yxcgjf/4b1EkGOoPT8XqoC3pBTnQXqtxYlhYOUlHRACoBDG56gYHh9Tv/7Q/GymAreoS0
h59/MGlRSCvzolhbeDk2rpvDFMa+sp0gRJz6Uaveov1846CZ/87ePl/RkyMx6g5FUjqd47ki09nf
n3+wPnoC9Z+Tr+3IqREujOQ6OGm91NFurwZa1Qwzp/bHbzNHVt5h8tbY9JyX65WlRU1XYS7LysE/
7qGRbGpLdvsidR+G0QLASe1cZgD1vvOEf32fqT9JdWSvlbPw5sUjZvS9Deaix3iZmuPKi7X8o6/H
74pRGTuHdvB+QrCf+Lp5+vr3+3IbVIJqV/C9mnRCUfa8eLB6WZINyZYAqqciyLp3xFqfTOOIie6F
8F1t//rHPbSun3+tbLagf+cNQVk0D59/rWGuSbeMam1lRGK67sJQrGwZNOglwh7u1uBVx55m+2g2
uyg49icX4rGmGTdN61TrMkxigkkw+RZ9UV9pqup2oXT773wXXz16vOOomNhGhEEb/mXjPx7DKgDU
Alq6CAIYSpa/Um6f7yxcETtAmh2sXth837kz8mGfeHZvJF1VWlFzzUWV6b54Bsj3KRs/QW3j2UOW
LnWzq6ZPWEyM5LNCI1Se2m6eDcc0rTT9yG9Id1wTmzRZW7ScRrItaFlF24F4uOSyDvOpYlrvK12t
9NaT4afWa3X91DV48y69oEUqraq6GJZGmZvGYTwwXdx5qswYL8Ofzna6H0+QneqxgqsSITXCw2cn
3nToBEaa7Fp0sQDgZAE+QIuSJD01esO5rjEqWYAK6oB4M9VVtCByYwyXsR8SaBRpTXOjD9aIPD7w
u3fTWKPnLDQcFYuMRx1ECYCYNz7C+1mlZfAcpDImL3wwEiUXHkCk89IIEtTUOcXhJnPFSKaF06t7
5gPDDjnt+GH0B6TeDjk65pLZu/92lquFSzslrijvIO5A+HO17BxhUd/utaDE6lmA5+lY3gvtuGQR
8Ddak9bXruqMYhNABUGUTlmxL/2IoK5swoa4nexg/ADCXb9g/FCGBL2b3qex78sOIqU2pItuqOzT
wRk0f9VzFmJI4nhmsY1dr8AzTtY1/XJl4ObOHehiC73jv10PoYwhY4/wP+pQ1tdZRZrLWtla885p
q5lsDP7AgJ5MUss+wj9zPYC0PG1zEAmbHqhyd9Z1w0y/AirWoj8CtbMcRYFggnODtifE2TxG9N3Q
q4ethsU7sqGPBPlnxoRNtpUQ1M39aGkNGUVVD7Zx6oPJJwQ+lHvbI83+2BZ6AHGDuK/yMPB1ba2n
SKW3lQkcFTIH9m7kHSFtL6RRllpVng87LnH5HyymPPTBSM2IiLXqqm4V9NIGNxZALdr01mDHh6GK
fLEMtJE+YSYMlKYUdf7WSAmpXIkxyGMA92N/NCi/DcC+Rn6zR/ifkbQmSoXUirK23eNbtMKNHAvv
3nW1/hRpr94scV9W/doxiN1exsihr8AXEFyEs4RCHCtNgLq90TwY9RYk9SRWEp8tmoAMkBsz+42q
DRSFGQLXZVU1c1ZM7TUbYwqb/I1sIygdopF+dKH34MClGQ/pEYOoMN2mMmqcsyafnG5vcIY87XvP
8I9Kyq1LRkyaBmXTze21PuqecwmuszoupqE01iiMcz4BC6mzaqKuFWjIRj8j/wkByrYaRb/VsxbO
Puov71wlFUoQKgh6ckkRdbxOJUYk1BUFqNmMbS/lrYoaNhhI/m9F7Xrv2M8i6LyB7kD7cD33vCUv
b/adWFgAUqKu4EwUEmtI5I/5DURM9igqVE0t7N4diUvQo7ID3edF+oVERAM0rBqTCyV9S9tiUik2
Uscxt05C2ADcDqzI52Nhle45Bx/gZQUCxwKrrT1cYiMQ8aGL9PE4rERQgdGIs9shDjEPNkPbeQQ6
594+CwcxAU1QeoQXTdj8z7GUgBkBLNJONKH1w9EwBsLbwBGP65SADAIByp7eYsZifhc1Up/WAFnk
iYbqyCV6yQ123UjHBgeWo581FY5fLMznQVCVxjJE/rViNeHwFKTKxgeQZCYRE2kkqveoP+knN4zQ
u00XFw2e/NJuAph+AlapqIIiOIzTvmj2ed7zmge57SLZyDoMd8So9f3GHAuh44ZwzdOWof/4NkYQ
2VGC+HyvsF1s6w2TUrNbqURvZuS/6eCr7DzMrhZH5HVolcirrGpg+h7V5DY0RjFdAkKkoWtlYtjA
vQAOPfQ2gOey6jFpx45NrkWdubC2Cjso9L2MougsG4uMoIDE9Y2zVlftO1uvbH3n61DPXEhVV54z
Wh/SLOWE1WU16kVORd4uFomEqNB5gD+Q1hYucshWhaveNpiSYgsFDTASRGOtulQTZJN3ISNXg3kz
psQxzN7GvmeOyCez6Hym5oOkL4MRz3Pa2PQDSie9BEA+soCOlrgkF8q/rd2uKJYUiPTNLIi99/FI
PbnPrRoSIEKd2N9kvjvG26ltunqPWd7ZQMWhL2/VIRj82An9+9RHt7TMHT30t2Uj7LfuEOLNlL2I
SYNzRnyMduoR+ZDipYK/kIzboW6yQ6tFirDQGQxdFkMe4bsKtP4IT48sFgCF0M2LZvCn7QjdNSXE
3EYtW0/TZ/ibQ7QWkbTEjtAtZ1nXraS9nAXAojHOIE2jgYRslUeKZcmXU3QyuTOSCjivdo/S6MEn
PRb7sfOKtWnY5IdEotBJI4kiAUJR0+WhmgzVrcK4RstvGJ5TIp3yeDH62jBxQyskf9iZ8nFm9Aob
Dns/Y8PwIGXYiFLwqQs/pOjg/RjlTR8k9TFaDffGDMy43AQ4AcCdYXndjGDbo9WQp6qAShFON77o
oLPBNIyHlW9BDVqRdmedlchXZ/ouERBrG8cXTi5rxNXa4FMklTaoD4M8B2NJWYFnEP85s7L6qhnS
+LplWH4ItyuDpdTP7k2qk+wGdQCx7Vqn/BN2wbpbxd1o3+SqrPGrlxjEl0MrQx+HTKJg9mPnALw5
ObF+HDalWa+jsapPlAC66+OO/gibUgf1OQ/zL6GxgLAqHLSQgHSEf6e1vmNtgTCL4G1KctkZLiei
XxHBT6gbzAQORqcl8e2Yq3FfWaCk156Fz3jb5b57NfJYE8Ub6aa5mI3K2WKKIblUVhffeh7+s0Uh
2gDzHhyw/jDvhrnONSh9bEVY1qKnhDsCbdcm+xTxcrIBxBEf6g2Kh74YJQ7y2MFcoQaKBZBddboq
RmC56044/lt/sDtIrSwu6z7wxL3X6D0kQ60p+hXNNfd8CEO4QJPdCZpQic7op9YC3V4WmT0mKyom
5zCHuQBCq9L9i0IlfFs1ABCeITyZ4sTCL4PBBeYAl1UZrr+WFBOkQSQiAzBnaYHNqANN+BHu5wwa
Ivaj6xz+QLlMh4HVK7GqTEE/E6BpXV5ondFLNwYb2frFeFj6ifuuRznoes4N1aQywFqYMA+ngDaV
0cBLJDFv5qAW7zuyAd9lKpz8BZpxP6ZzaEOQ7ho1vNUQ0q+RbDtXqMDLauWW3tgfBtTfdz2FKA0h
K5BXmdb5V2Of1TkFfpK+n9BLF3eMy8XWhQhsbFyiONIT2Mk4WfAcQ+SbEomBz8v9sjmupyA6bucQ
k7POrMjBIJCj2BTQ8VnF8PCSyuH02F8RFaa7SUstpKxEVxKV3M2hI6PZWdkhKl5mz+Cs6SxofYnr
Kx7CpNoQM6WlAHV00mmIZCCQpbdqiLsFEhGiousE8hBQ3N5A+KlUuk8KZ0qXPiBgsvTGrv+Y+CYR
K0OQVc4RJW8T7qJqDt/BZwG0fZJOc405x+b197oMV2OVJEfohvR6G/tVSmXj4NXH62HYq6mGzxD0
Q2DstN7I2dZ7clwXsRD1jWa04rZgtkxd5CPjAphf4UBmnu8uu0Cl/pKukrjSI4SKoOSAPzC2DXhF
Jz1EgMT7nAyojNt0Y5tlf0oYnkSNCRqkJ/Kq7F2Q2sQ7QiwAzrLs9Klm9YmpcpeyiR1w+iNCZtqp
RXQRlQ1roiwFivGajXFXEPwGnke6fCYAa2JUQuhVPJ7jcEt0UFtT65asfLbqGxKeCdQhOi/qcyrO
ICzDHYbjNGWYp2EQQ2XfN6s+hZi1qOzI+ATILrruoO+SMDkSNo4jwc1OAFFgYBzA5hhgGozkfUSH
BQpdXPGGhk6LIdbwe7mvCgOuSUwW54y8E4r0UpJNFYqo1IZ35pSlu9Fqp4dbHgGSp4obSoSrY1ZF
e2cS9lav3Qi8kAL/cDY6E6FgqiBZZqcUWa9t0fdU2WbIGZaxRkEExqjpJCE0efy+Y++CUVwJG1cJ
FselJoqEOawbAdKoY+rMQyTinVpLSr0Z+eR0i86Iy/Mgbe0rQgbqQ7vBf7LBNchBz9KHfpMrU9PX
La92xSQEixnFmYYXWzOHbG24VbLL8GDASUZE9i6mJ2IvbLtoyTssNKvb5lgn+UK5rTyYUH4g0hFe
A0PAl90dKFstPyTaqNaP8E7Xxp3jNOMOeE5OPA3A6huH9BK1ab0hvY14SnlTFGrXpZbZBkHbPaO/
hdLY6VCBCeTdeIyZQUMdmrY2RkBgl9wnbZsFviC+KRuiTSbbRFsVfZPvtRHgyq5D2n/LPcVGY9oz
bBnjCfmmWdK5h2M+jG84xbZs4BOAYKEs3jKhSRJHNDTC+4qQpGwhSn86Kk0HbUBbGlq/0zp76tdJ
NOSAqIuGs2tvIg0wW74P8ndqYuUACUxneRUTwcPxq3/bRdQJ/PXRjfiVuvZcUHi806wErnrHqAg7
rpDeRUv+CBipkh1zHU4l7pnMB/3nB4OXHgOjjZDtM1t7i/M45DGBJb2b+7sgJxsZyoVMEk5nA69t
tXMTo6mBQTaUdGjAoRXi2KFiEU4HvqzB/bipG7aciiMdkr1EEkxQmWFwaaYAgRdOGOpvEydFB1D6
ubNuR6DEWwW/lv+31OrDOjRdd++ELJC5k+oATcwhHDZNEVSb1h/gO+K+BUcgjMEBlRkatJyZxCHj
sI3eLpcqiKddlFpElaHiS5xV4GbixgJeRDZZIO1Lp+6y41A1Y3qhpwHUsSCIBiq8fEQKIHFeIiy3
Q3Y9g7aIf8Y8yrpS7YSDQwOBcqLq1ibD25cNJBUfcsja0mhcHGlpQmCZCloPRyWBUv06H4Hy0b9q
ilMM1+24LwrZ+5u56VOuQ5zVPPJkkPpHEkdou2XRB6gJqYas7zSCpEB0kmutuaOed+mYUTwfUHOy
6dsoxVFqFjAiMAigsrxPwshH0mIitKtBoaYBcx6JkWXdEljLgxYjN9+Xke2DEC+jiISLqSGtvYnQ
MK4J6DLBLRF8A+xnKJwriyyn6arsPEGgu9OO7xwd6NbGxMCy9/IM8xxOfdtaDn04fJpAhmDfCViR
MMmxJ+lh0d6ruJ6OfVJMWEaUifEkxGUllnUg0VwmcV6LVUjZMRznUqQoZRCDEgYuagbfucMyvKrJ
V9T2hSOjFnd0V154xBm1S0K6/fosw8ADP9NoDVCFJKa7G4eNTCPaUNqo41sAQYsy1gjxSKiNyfDN
3TmpnkQ5cCV1nFKaYeeGazWa5UozhvSzSjT7BHnlJDeGP38leqWw56uutFYWRywiJX061EvDp0mJ
kMioP9q0w5y1Ews2Ql7NGd+Jm0Yejt5UfnImmwptUIFmvR2mtCV6LZXicGgnH7wVM+oLG7pAAMBc
VUDyWxdWrVAC41fm5HScXXABtzjwcfSzFEcQ4vHjt4tBoKOF0FFVwzFJKBHw/pzNfOH2YOQ27FZY
XrrGizhRNIX/VqcCA56ddRXIoIao5QVp6Q1DuKl3INhBGyKpL3XgpPilBkl3SnWtWk2jh3I7TjhD
crSopL/r49jx14LScx8b/FX4P317Qi/BnmgjeD3uDWWaA5jcDNiJcmQql3qLhHi2HYTXg6zbU1gU
ULjy3ADhP7fT/DmMBNtwQErstBDj5L8DF8dZ3RPDcFyRGmYtCz2wjyelNahkrML7HLLy3qSN5byt
tBqBMGFdIVegOiYuk1NUl7NqeTyc3DJ/Z+RBNWDzDry7YKzyaVe4oyahL9oVO0pteskyK0r7jApx
GncWvN7hvK6AJhMhwphjFQHJAVlHC4S1Z3JIU0+ipj6Naj/olym2pBtbhHa4TKnM7rUxsW/0pszP
FNlZdC0wBFHNZ1aTUlLTdTnKadwEa/LxzOMIMbfYNZacwn1ZFvo78PvNe+AqPSowoHxvazvU70pb
DPK0KGEHzqTPxljpir+4h4vsb/MCYsEmSEqwbKYvGVvTK2sWxqRuGRluC7YbuexwiRI1EpXhtq0N
zrB5RWG/GDQxnVt9pGDejvEdeFnSBkF4iBuWD2io1NCBhXlytB3MOhQQK/oMMc87x7FgLXSTaoTW
0EhnkUHUnV9r3rDk1EycBB0yfW3WBh2bGlpKBrfd0j7VHA05MLsO/9cegVYdkcFbghbSu9aAwUER
VdAwqVds5BNB5HWtqd2I+X1dtGER4YtPBtqJRjVuzBBLJQ3WrMPImM62nz6eOtDrod18gPeukXRg
sBtvOtHpNy3BSBHZ0hpjMRMlymVkqXiG7w69s5CqKaoFfvSeJ9blIHlkmQCF/RI61spufI+DvW83
3QoWHe/sqFXdIRtTGm94Fpjt5UUyIM40YCcbE1GNbd7A4Yn8Wnpb6WgZAPbIbTVOZRanqI52MQa+
NAYsl5j+KUwJ/97W/EBQ9NZRAbEji/jKSrvttwXzJtBEEPWgXqppZPQATSdnfp/ywnRUGGQSRQyn
wIBHy7zV0nInIPeXzCFTIgPKrkFuF1etIDfJKpGepYldLceyyz9qYaSmjeV1/ZvMTrsRcQ7yfTxU
jsiWQFKGvWhSUgT8EgDXDlYIOQF5W7MOAcYuQPPWUuzdjkX/koZN5a5hiyLRy2hjqg2oQrOGE9YE
dKrdPM43sQjGcEsnhJM7K4WYLU95jidJYvtfWl5bcnDJCgRykdZ1yZaHrjkDVoOp2UxcjoahKDdA
lyeHM0nR1StcwDWdW+jrSCk1HzQ4Dd4UPlwb0IoKzOkdvRyGZ46eJ5zlsT6udDvqP4Cgp9MgreB9
C9sLuGpkdQSpcw6Bz2poEU4ApPl823SNvZmmSYBd4RfGXcSCRVPJVuPWmyLycxG7lls4rOVb7o4o
loaWBEcFoyp3YRMOeGTjPABEJzNzy4LASQZi9dAuixQ0xcrJJ2BWnPiKYI0XmNdRK6zKY94i7XxH
ZQGUYpzKVmzwedB5zyifOdE4kUP2uj+hKBCkoNlLJqBde9zE4XimhZ7nbsZEAPhgocf8p+cs6ltn
wjm0I5mIuBHpNw6MGTOsmo0URfmRfi5ZZHTiTGIZu6xE3snjssQSm3TEisvkCtZkkO7IubF3AfIf
sbA5/n2M6ebOaYx6fWEZlZkfRYnun3DvmwGsj6edeVCPQZKxKUBzjQOd+sWPMvrPtaeOw9HDlmCZ
IacvqcowXtPlCqZFg/elxNiMRWpRytRTm0TPjWAZ+n78xvVTElgIQuyvSTpITXKyPCwxYCu7d0MI
fWI1TfXELss0aFU0ToU6O+e4PdJ38NY+c89sRThBRoTh2AeIfS0IG7uG5+MTNHjBcairs+ykiSae
wtyd5C0mFaCzo8ycW/z18kpNLmySudeLQFYObsFrPgNOxsC4t+sqIQUoa8v3VmU4W6t0aCW6nqYx
37DTkewQ6rdwEwaGoa+ZZRsDSqb+A9qG7mboe/okXujlK/BFZbJNMWwyHYGapfYeLRCiEHgs/SXU
zsRa51kexOtGY8K1zcGmHMaWHZs4H6fS2aX1aL5xORlFrKOtVZ8HnJQF7aDav6DBPb0xsQwH60IB
hNmOCvXMCdUfJ5aEhpwHUx+W4JuQ+UQNUyrQ+8+lhhO54qu0a/st4xbII8nIKHKbl7yvR5hjouBC
pnZqnLbD0I1nDqGf7ptcQqc9VrEVNp/IUQMNR2YA3WWmlPW5wFxqLBg84hT/zsT+q/k1E1o0ETi1
bEcpAgmez5NVWoCUpURZGV7Y74fGsM70QbprFjkSriYeyocx7Q+Ja/9jWh2FKSR39++7HX//y39F
e/uvL+wlj3/ri/pWHRi02ZVrC/S1DGAkqo3+vm7+9JumDhzEuAgXdYNcF2R+fNYXg4mpcEii17Ed
pmgOgRKII+pHdgg/QpaLmNS0FQaTWUH2A+rbeYD+dMCOUwlfAhnuAOOVpLnw/GGp8j6XU+PDirMj
nBHe9cDpHbA8E5GGFNwL24c4ObjBmkrwu7LYWQX24sNnoSo2SxPlg5xtoE9FRDrI51T2BvVYUXKY
g7Hb7bJpDjKMLH9fl3qCt6S3msOUyfiF1iIWZ1Ihtoneczp2DHTygGrrdGkCulvWJEEdUTWSDm3q
H6C/+qsgIN+I+C1HEhZgQ3qC7HMe4iGhX6HlRE4hil1QSLE6VmbzvtIlfTgS9JpdOobyLhRIg5ck
2NBmJImXA5wWyhxQ8FhIoBvjMSJiJO5jGn5qgLGTgMWKFFBC9MM7/JMbS0vMa02fnTSRMUcNJ8gE
AjryalpWbHOfx0aYyPh7V/0/905+WT5m3fo6a8JmvGjvq/HNfd0mzSOOCFrR/NPzPMyaK/RD/57/
6I8n/9v/0D/cP/yjVwy7/vTbbd5mzfwb+GRDPrODzcqiZ+/4w6/08Pu+9i8k1/zG7R3/tCEOBBol
vEqzj2z+89s/JJj0v/xYsw94wSVayMcfurPEhw98cov+3k14/foe7+br/81rV/B4e/Z3f/pN2C/X
uR+9B6Y8kOgRWerk41WyYj25Bxi7qVkYIXz56XyLfrFbwNL3U0+Bsg9MbOkUpny9Ty5dqAPWdthR
yEUe/iCh+7UufTYk/NSlm/qBNasTXeU+XiI1x5M7oA5mWRszXPX409m6/4vdAeNnv33DOHAYFKMz
Z4N/cu3uARdNKfblxuj6L/fuy9kk8lNfv5J4aE18QAj4Hv48vwXCPcD0ghT9j3vwy339LovVT90B
w4EPZ+JhcFlHn3z7UhxQxFH4OXRE5j+PH/QLrfwz/OKnLp0v3+KhR6b5fNfDBq2cGUqjHreWX+ia
rZ9e70zs31TNmL+/td7NDwMmc9flPfi11jmh/2ytwy6HOprWjjOTDfnzYrNzD2CngIZwv/z4l9vn
8VL97BPPhs6BRTx8xQ/34Pk7rx/gfWEv+GM1/OWWu59e8E0HMgJ4HLyf33r+efUNg9WeLf/h9vyC
xd7su/qpZW+udwVQFRos37oF7HkC3bjEbvv455d7CBii/ewt4GvGGQLaYO4i8Of5tg8jY3Yl/VoL
oPOzdZ6yOMkoB7vy84VPAnulk2H9sSz+gs+8pCr/qWfe4NpNiCegSP76Xj8pdqhyD1DiUAf+cl+7
nI2BP3ft88Zm0HNjuP2Nh11z3QNdECfIEeDx3jx+4C9U9Xx5GR/tuX9tmPxAm0O5B1y+q7PzfesW
/F/urqepkeTYf5WOd7Ed4WFHQiA42BGgEQwLYjFixvH2VpJqpVqkbrbVDRYvXoQv/hA++7QH33z0
bb7J+yTvl9VdTGepQUKVZhWrjdhYEJtdnZWVlX9/2SCtD2ATVDkWX2+dytsPNfOh9NGL1KCG2uIV
uZ+LQA/MHjSyU0u6/WwdCxqlTbq5FOwe7qBVG72AhEVUOf308vgC+s+FubbO00WEIlAL0BGAjgca
fnnKeZRrfwf3Alrl3pcHZAsDHa3QS2AP0FfIP+ziPYsPZ8G7JqxfFMy0EGQvPsUDt0gRwnAPFYPd
nT0MhUIWpIxo4ZxXjkKjCQeBmEMAg9tl/5RX8+bHv4WEFpJWiPOW+8+3v4EgKOAjYBVv3f13GGoC
7DVwvIEXA+1eSD5XgI33OyimoI5wDGKxn23bfIQrQgW/vUMaHtdbrdfTPNhB5StQfIoDtk1nntAv
ggzAFnxeWD4ok+SXPjw9gBYhRwuUi+288xGjCn13xLsOgMUHf7ZO8gEjtY8AJ7CgtlXyQ48+BJv2
FjG/8mh7sc5iOkjTmX3bd++H5zhbEAGYvUhkFmLOnX2kP9CHAMjMrTX+MRQg9BTs7wB0BfY9Gn3s
h7MAeT4EhHfxcUJin7dFShDRqHAWAC4Npp+zcDkLDnYgIYf7hGLxpCe2y/5BFU4gC/YOdzAnDjVq
uOrtx7P93u+0d5EG2r5MDyBGAl+9BQuHdv5JzXPb7x2s4j1CDHwygLbPDFgCVXxtncM+6UEA/6AM
ldn87xoHOyj5Bnva23oJNvZDj//u3g4qxeA/tUu/hx9/aMAWKtyAalY8aItUH2I24V5fA9MJkMtt
QsKLD5MA5HrbDeBKAgzxSTFsl/IL1n2E/NkCijE1ANgPN4WR9wGA/GHDZYW2zwwCnl2gDqRMP4BK
Ue1QawTghKCBG4CG+9vn+oeX+SD0R6WswLkr5J/rfxx/5MMPUATlrn/L6y3SAgRiG+YEQgXAx6eq
Bnb2ERUBVnobQyNQBkGf7bv5WqFO4N4+KpwARA9ItuIdPR8IQPpwjhEe37qgd2htYwuBH3ye8/4Q
ASCG4IL5GhTeLsUPzJlQwUdyB1of/QT1qT/Ud6IiHT7W9qm94Dw3gv4toP8ctl1ul1t+qP5FTckB
oDbKsOArzv4auvGpWLozMdORLZM2GrMLlqupn/sDVyC8/H1ZHGwrgOG0PjUS2L+ksuni4V/LqP/I
qqhtBXPlS5o5W/mR/W0xIrbyrSt/rj6rZMfyQmtfwf3yo9GpSocTtOhRDXn5UjSX9g//dRRn+Coz
Q1Ut+UaJkvuxtjj86+llS3kq2Wa/rWyFW9Hrv6/sBFwsFOgwUs9sBV43BkdXbEMy1Cpe8TdbsVU/
pN42oZbc36bylSva7PW7D2xPXF1fRZF6A15JF6jwjgIdHui9QIrdPE3udJUmnEnSXCHLvEzSbBId
zbTPWJjBBOQaQvson2epmnp8aL8/CGREn7qc6taMoTRUXBuy5u/oJPAV75O7hqx1C4GL9gEqeKme
MeQZV2hpGSf+UzC+Z68FrreaKBDCXB3KnfOn5F+bU+ZrSjdkRnmCSO4n4Ekweohm5yEpQT1VwQ86
VsDAHEb9TGUaiyvokdyjcw2HCS1ou3g/JMWBmeu+rtGr675XT88BVZqpGd8quB17hxinBO8SUbzd
PYtFHPxuPTWepHrglm3fCv379A8SfSjngMNPfmzwgzoqNYMBBDC61NlEp1MVjxgzqX0AaXVA4SNS
hygK6slXPrbuwnybW4pADnwmrXNn5V/lfOlOqr5NeeVVf9Wl693ZPm/zluiNwFiCt32vIjfPTAi3
gJfuumNg2zyyG4R81GfFdk0dg+7GTEXX3sVMyf1Qyt1p1FfTezVKUkfMHr6lK78iMWsu+jSHopqp
Kbujl+/81xP+mMQjUrrVBSMc7n6s0XlrrvgSDE7VOGcrxiTUcMpXKlYzTvZwJdm6U/c2B45MPift
9gg8Y/pW9m5JjWyhFzIdwwZjuyBwgo7iceLJeLi8HCfZ/AEy4yjRmWws2XQV9q8p4cc6Nqztllra
NWn0xebH5jhP83hkHCFaK03JCSXbmaiRo0I0l+3w17//tb7LB1NYUckPEa7/qIP+4IQ95KXbfk0m
f9CzZJiiL3kYrX6egAR24GNjJBfb15aAsKBtP0kTpmZpFm/wvoIAfJboyHqa8ROPHGXa6xct2DW3
oaPudPRZpyN2Hb9o869J+cOPZgAHiUk8xq8Fc6Y7Br6wI0Ns2H/JQVlzsd2fcA8n0HvT6DRHpILp
FDsNPPD4d1OTpZwsNXeFikk3A3zOHVfX1NUbSvcGx/5UzQacMg2zDaV8qgb8EB4IbN/pxLsGll37
/Ksxv6ZMLAsCSqXDGdD58q9MR6PfnN0nJmWnDhU74eTPdbxg0lsT73k9Ly7MwLcKUGEXvtoL+M/Z
hF0uwFUVoGsGHheozjNUdntqpMZqDvvX0SL9g5FD7sfNzYOeWiRZxsXhRad6TSHuwbV4YDoYKW+J
5U49ogKnuIeLdDjkwkDFgOHblkP7mpxd0ij+k6LsB+owWF2AdPJI+vennMsE9QWF8uMS0xG4BEtc
GZYqvy/Qex2+2kINv8No6bnKHTl77pZjrK9XbNdffs5jH2WHUuKhTL6GZzJiihiVFuFk+3oxnOjp
lAc3UcogQLoIZy+lNlAmI0Bcx3qspo4Q7R8wiNyPm+vNPhJqqYoudBKzg4L5wQLEE0RmuEg3aSZa
qGz085FijggiqOFUbxLupWHeYTjR/pd/JNFNMvvycwR5jq7SL/+Mh4anf5q7Ary+wTH0MgTAkwt/
gRsVP/oKGkXB4YQ/jZcOONWthMoG4gQYJaKiEzVnNyEQq8KJI9FsPJu+KRIgRRwGCV7jVmiPt8QF
+/2SD4IZnu4pm2uN781soAYPXGPsC0hbkRJcPt+EWRYsGSaNbmDMMSWKNGA45aPBQrO9w6z0AzRI
oDkKDVRIz9WkSnPPn/rl4rCEH/oVWHLTSGx1/SRYKCep/qrLEzqbJj7UJFU8tkiV7qGS0cG0Jm7d
SpjNp+pRIZGamju3Qmt1vRe4Vc5Sfv81JG7Vs3mqNDscdsx7KHOx1p8YA6g2NZTot0nqmQAWvjWU
7Hn+oAwLjmH8bvhqL/RAxTxqgwqHcLrfzTwxkFDBf0JVA/duluskck95Fcf5pZRlX+UjEx2lyr8+
X6xaWNNJ7y8QeXTstHcn4Z+ECsOn2GR6ZNccdWcGsXbPaZBIuv4Z+MDRsYpv3Xrt8iUi0/+tZ5ob
yYSFFsqUyySC0P1mHlFNgyNHa96T0GunSHLFUT8fjAxKjsyQHUUMJZZQyzCUB9HZfKkmg3qdgMMs
wKOjQR718jmTyJK6gFj+z3W3373+3P3wvxEJj07BMF/+UT/zvgXTBmCEwOVCKe/qEFvdZf3CFc7x
aFkFw1pFkqUgkuQU1V6/wkxwOqbT5uVXBeTrOJmae0/hCdxSx6l65MaxhANMosH8BInwdCeZJn5y
ZU+As91h7hep7Atw9iTV8XBCmTEvzSLh1pyo6S0pszqd1hYwMk7zhbdqYN44zb+5C9lHTBnlKkw0
gDYZTviqqK5ZOEqkYjCS2f24+YqvdJo7KgVRAdfjU5qjFIgt1qKoht7TnxEvfMw1rxlBwaF7gefY
8MtdA3X1rKGXQvVt/mNO6anGUECujqn5LHQHr/O5H88j1MVQsjdf/o0A2YKdO9sq+TLhKie7pS//
NuZBXeHx28pF3buvZeSsMpIqRlDRAhD6XttYDgfXlx8OgQv1KEYpaarcaSBtLHDijqjPga+1IRDT
RLXu2OSz6mIlQiDHCeZGK5tV+KjTRz1O7j1bkxr0Xj7Vq/12LF55sbHl/pf81eGA43w6RpE820Hq
1w5d7gcdz1TKnGkJr/csBRu4vyuRSO7OM799hPCaQ5nQedTDCeetRCL5xMQ+EwhlIHS1JypNdJ3x
KmEMniBQOmR3HaEChy751AxQW+iFyQ4Fdu4UrZ7xXDNzcHUJ9+pTfKpTRG04WQk+pFpz7kpk/jtp
gmQYUw22qTl01z7mMXQOY4LFyA+lezZcUg5AzQ2XsrNMTflqCdYkdLXf6tQTMGA8CZBF3A41WDzi
aFvEQxd8oTIv2IHZMuELvjDZJPdNEwuUHrrg/jS5V7eeABMmYSjhCwO9nukYQT8vByaR277I/6Jn
qDhOx26l1sklHN3QhfeS6Qg8cYQsXcKnDKcbK7/eTeCIoOYv44uVyJk/0wpox3GFMgLdvw88iGDB
z0LJXlE4fuT2yW6bRHz8Cr3KuVfMZMGqQ9d7jXojz9mwgJihdOlEo6eFyYTFGAwmbLUmAmG8VEXC
6+jfeYlyiwkXvOB7NR2olMlEsymgjvsPesQvj6aEk9R/MNlj0YBbFWOLjhjKi0+3VIvAjEv0YrvH
PBdgW22slXnHcxOPRwl3GyVKxj9TzxDkroN2LLdYOtpNkXJpoCtQpWLKBVrCq+nr1M8dS3SAIBOo
qVGr56XSy8mugW0rBSxDTw31yPf0Spi6UCk8T+bJPeM2BlK1MJ3M7e3mgvjlb8/mFVq7QMEB9FUD
02kx57a1+nF1QbS3CSDu1yAyhAbaqm+zOrBc/etutRBqVYBw1felBWWPL/WphL7WFsYPfxijNwnV
APx4CljTR7gXBsr8yAkLxKCOUhRecGNBwIZGjch4qkZ6PnEH2+66ACN6yO8haMbISix4kvubJhBy
OEYXMK+13BVYK5pbB8mI75mEk9lPTXSB4h5mOUpc4siq87oCCQ8QkAfj6Jz+1T+6ropDQ6Lz4gwx
+1h7Ka0GIQiGXoGgzLeuIdG88K2646oBaLDhaz1fpOPFo6/OUCscTrqwNc4Tr022sSvA4qIuu4a2
wJE+R53s7WSZJQLn+kLxznKYK+F8hjWnkqUjIlF+0iOgAK9hpiHRX4CIxsjc8/LFBsHWhh49ao9c
+GdaoqH8Ut/xbqdGW2DrqDYE0dq6bAPgXMPZcYW435IgSyQGrlBFZe7u4G7O3Srt9S9SiQNHU91B
bTDKDQHpuJko40eQmgSmHip2N+pHs8xpNF1IkDboPHR0ChtLYsVoSyKz0JeOpoRG+vQ40DXskAjd
fjY6Q5kW44eEqvsOqfbkPjrLAOtyF30TdYEekWR5eTKrj6PBywIbUD7wPI/VfIJOoG8i95+m7qHt
lkTMt3+HqvHpok7fAE1PwvbpmdEIAYyummdVphU9Pc+fM2iRJ3Dsl8r2S671J+YWKH0xuPb0n0UJ
dfWhwNoEWJ9A4MHeKgoblJrp//317/NbtVDRaboAfABW8BEIGDPldo3pQ0C47e9KFJjeGKDSvAO6
AocUIERkzMVxL715aKWv4RTcOnGff/PBqGQBf8lEfwLKkeLxHIxfbLYFHvohuR0lYOCNuoUbaThU
GAZZAthRYPPOVW5Sw0owaEjiPqZlhvPtSr2bmndDVDe8m89zR4+0dPkMgeKiPjztGsoCOuhC3WUT
z6wpWLPy4qoLIb1N+KwOizM0zlR9m+0In9WBw4a+5RZG0wp8YHSMqFnCghISBQvHqDJBZ3717Iik
hqjYP4lrL1EBt7mTDJN59NtzDVDNePy7usdIYN9Y75yadXpU94YG9ZoWJImceCdJbmtpr1QxqzNT
J+ZHU91dCZfsBHk/aq0blZjDNhdjhulyrOhAYLPLTgwkthdLsSgJCM6Svg2X0GYjfR494dJTKNDD
ARZwsoCAysxziW7Njxo53lKK7Dv0hh+SGEGEOslC6bITis0NonPYDANkJh0le6VL4GJ0Jimcrpma
l0vnDxBY+aV+iDpqWpPgk8h6XhoPwEgi5/lZxYDr4+ZTW8A6u1Tw5hiDJc4sMfh7jUCTV4pyIGAS
X5lsqAwOao02Bqa6e5fN5fpK3eUKMOAPNbiIDRmLeOrDOgkINS6pOSzV+kiZBLxyH6UTWfRRT3Ws
fh8dzYcoawOMlFU2N3Ri4WzC2+vk8YQbFBJO801yi5JNJqkYZhm+2TeI3/LVSsTeb3IU3XiLFZDM
P2N7zdwy/CTPEBZx729jXhIgd0tGZlPCv+xQIFSn2ZNFWF33HuD0221g62MsGXzO1p5EhXpZkNO3
MxGiHqq10ui7HHEd2It1igMPxZPfowMbExQPaUzmSre66hC5CoG3ce8I9v5XWThAzTw++hjNBQ6N
PcOQ/yGZOhvb0aNDg3lozUPsOCZHN1oHkMHV0Ky/4L7buTC/Phe3A9+K+6ASEclTdDosdb/Q6NNQ
aerpvxivhFmi47y4Xq8I3E8XBjwhYU45Bk1TYpwBU46OH/YKaQlYlB3w18J41ww2svM6nt+A+Zoh
7qdhLdXFA6kYE1petF4L+r/cAX5aYugZrr7C6mBcESXoVAfUuQW8lEg4SvMBszAajt2b29ZwrA2a
5618H6t04MeeJJ4wzs2UN9FLJEZptQCagAgV+sN6uwIBGoIdP1YTTAFhpCUKVzpqgeL6OnNHIs3Y
8aRDwvz8kMwAqcinAUok9Rzd+qECElUVuG38S0yi7wKRohHugJyjj0qgAH8EahoP3Ugkyb6FHHv7
15DA3IJzS2CbPjS0xNgJVPBkc0LUZdnYhgSe1xV6Q7OE5jOx7GBTAnerMBfOTZYVDuGlvjdcg0ik
4IunXORDXq2HIfJOD25+FyBmEJuRGhUBhGSAwXyOqDVGJHrhb1DDUfCnA7lE0qAmaNSU6I4vGPXZ
oHUZQRKKIdMYmUIrLJUASSQnjgnffT6JPhsgmdQqeQCKOX5uvkmf+i8+QcA5O0aU2psK0WwL0O1g
FBiq/hwLrEhJpOT7iltFTYkwbJ9Ca134v4in5/wYS+AAFNIJEyabfPl5qmeLKlf2JBKJ9gV6Ck/g
LWFA1JWoLSxeoLgFot8WEAG/q77ELqJIKyNsVbO5+6aIOHXTI50Nbg3z0op/If+8NEit+jbl/179
lXtBC3uzRmDq2f+36GgpwYGHU+SZ/vj/AAAA//8=</cx:binary>
              </cx:geoCache>
            </cx:geography>
          </cx:layoutPr>
        </cx:series>
      </cx:plotAreaRegion>
    </cx:plotArea>
  </cx:chart>
</cx:chartSpace>
</file>

<file path=ppt/charts/colors1.xml><?xml version="1.0" encoding="utf-8"?>
<cs:colorStyle xmlns:cs="http://schemas.microsoft.com/office/drawing/2012/chartStyle" xmlns:a="http://schemas.openxmlformats.org/drawingml/2006/main" meth="cycle" id="10">
  <a:srgbClr val="1F3864"/>
  <a:srgbClr val="C62828"/>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31"/>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22366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【尺の設計 — 3トラックを実ファイルで出し分け】ビルド時に TRACK を指定すると版が切り替わる:
  node build_deck_story.js            → AllJapanGrid_story.pptx      フル 41枚 45.3分(動くGIF 11本)
  TRACK=std  node build_deck_story.js → AllJapanGrid_story_std.pptx  標準 29枚 28.8分(GIF 9本)
  TRACK=core node build_deck_story.js → AllJapanGrid_story_core.pptx コア 21枚 19.3分(GIF 5本 — 組み上げ・東N-3・トレーラー等)
目安: 20分枠=コア / 30分枠=標準 / 45分枠=フル。質疑込みなら1段下げる。コア(物語の骨格だけで完結): 動機→OSMの限界→先行研究の位置→年表→第1幕→収束は正しさではない→公式開示と照合→SubSLD→事故→東N-3→第6幕(DC島/犯人/点灯)→検証と限界→失敗も台帳に→総括→まとめ。標準はこれに 組み上げGIF・解ける化・SubSLDフリップ・逆位相・回復・UC・潮流・SCR を足す。削ってはいけないもの: 全国モデルの定義・CGMES化・SubSLD・検証・限界・先行研究上の位置。失敗談は量を減らしても『失敗→台帳→修正→再検証』の因果を1本残せば意図は伝わる(codex助言)。0:30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[コア]30秒黙って見せてから一言。「素材はただの線。ここから解ける系統までが本発表」。数字はbuilt正典の実測。</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[コア]論文（ieee-openaccess）§I の構図そのまま。日本だけ赤。下段で OSM に橋を架けると宣言。</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[コア]『日本に無い』だけでは位置づけにならないので、10件と全軸照合したスコアカードを1枚に圧縮。優位はCGMESと組合せの初出に限定し、劣位(DAG/DOI/査読/連結性)は自分から言う。出典: docs/reports/international_benchmark_2026-06-27.md(比較値は一次出典で照合済)。質疑で『PyPSA-Eurとどう違う』は必ず来るので、この1枚で受ける。1:15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[コア]『日本に無い』だけでは位置づけにならないので、10件と全軸照合したスコアカードを1枚に圧縮。優位はCGMESと組合せの初出に限定し、劣位(DAG/DOI/査読/連結性)は自分から言う。出典: docs/reports/international_benchmark_2026-06-27.md(比較値は一次出典で照合済)。質疑で『PyPSA-Eurとどう違う』は必ず来るので、この1枚で受ける。1:15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[コア]3層（線・変電所・発電所）を見せて、下2枚で線引き。「捏造ゼロ」はここで一度だけ宣言し、以後は行動で見せる。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[コア]『日本に無い』だけでは位置づけにならないので、10件と全軸照合したスコアカードを1枚に圧縮。優位はCGMESと組合せの初出に限定し、劣位(DAG/DOI/査読/連結性)は自分から言う。出典: docs/reports/international_benchmark_2026-06-27.md(比較値は一次出典で照合済)。質疑で『PyPSA-Eurとどう違う』は必ず来るので、この1枚で受ける。1:15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AB59-5F5D-F4DC-22E3-E97C06D37D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B038EA-C7B5-E938-046F-7AE265779C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92B34E-0C13-AA2E-8F86-0D4118789B04}"/>
              </a:ext>
            </a:extLst>
          </p:cNvPr>
          <p:cNvSpPr>
            <a:spLocks noGrp="1"/>
          </p:cNvSpPr>
          <p:nvPr>
            <p:ph type="body" idx="1"/>
          </p:nvPr>
        </p:nvSpPr>
        <p:spPr/>
        <p:txBody>
          <a:bodyPr/>
          <a:lstStyle/>
          <a:p>
            <a:r>
              <a:rPr kumimoji="1" lang="en-US" altLang="ja-JP"/>
              <a:t>XML</a:t>
            </a:r>
            <a:r>
              <a:rPr kumimoji="1" lang="ja-JP" altLang="en-US"/>
              <a:t>のようにタグをつけて</a:t>
            </a:r>
            <a:r>
              <a:rPr kumimoji="1" lang="en-US" altLang="ja-JP"/>
              <a:t>&lt;&gt;</a:t>
            </a:r>
            <a:r>
              <a:rPr kumimoji="1" lang="ja-JP" altLang="en-US"/>
              <a:t>で囲む必要がない→簡潔</a:t>
            </a:r>
            <a:br>
              <a:rPr kumimoji="1" lang="en-US" altLang="ja-JP"/>
            </a:br>
            <a:br>
              <a:rPr kumimoji="1" lang="en-US" altLang="ja-JP"/>
            </a:br>
            <a:r>
              <a:rPr kumimoji="1" lang="ja-JP" altLang="en-US"/>
              <a:t>言語：</a:t>
            </a:r>
            <a:r>
              <a:rPr kumimoji="1" lang="en-US" altLang="ja-JP"/>
              <a:t>JavaScript</a:t>
            </a:r>
            <a:r>
              <a:rPr kumimoji="1" lang="ja-JP" altLang="en-US"/>
              <a:t>はもちろん，</a:t>
            </a:r>
            <a:r>
              <a:rPr kumimoji="1" lang="en-US" altLang="ja-JP"/>
              <a:t>python</a:t>
            </a:r>
            <a:r>
              <a:rPr kumimoji="1" lang="ja-JP" altLang="en-US"/>
              <a:t>など</a:t>
            </a:r>
            <a:br>
              <a:rPr kumimoji="1" lang="en-US" altLang="ja-JP"/>
            </a:br>
            <a:r>
              <a:rPr kumimoji="1" lang="ja-JP" altLang="en-US"/>
              <a:t>ツール：</a:t>
            </a:r>
            <a:r>
              <a:rPr kumimoji="1" lang="en-US" altLang="ja-JP"/>
              <a:t>MATLAB</a:t>
            </a:r>
            <a:r>
              <a:rPr kumimoji="1" lang="ja-JP" altLang="en-US"/>
              <a:t>や</a:t>
            </a:r>
            <a:r>
              <a:rPr kumimoji="1" lang="en-US" altLang="ja-JP"/>
              <a:t>Web</a:t>
            </a:r>
            <a:r>
              <a:rPr kumimoji="1" lang="ja-JP" altLang="en-US"/>
              <a:t>系のアプリなど</a:t>
            </a:r>
          </a:p>
        </p:txBody>
      </p:sp>
      <p:sp>
        <p:nvSpPr>
          <p:cNvPr id="4" name="スライド番号プレースホルダー 3">
            <a:extLst>
              <a:ext uri="{FF2B5EF4-FFF2-40B4-BE49-F238E27FC236}">
                <a16:creationId xmlns:a16="http://schemas.microsoft.com/office/drawing/2014/main" id="{886D2D9A-9120-A2D1-6B08-E569EA96B421}"/>
              </a:ext>
            </a:extLst>
          </p:cNvPr>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A32A16E-C598-4D06-96BC-998A8E9F82FE}" type="slidenum">
              <a:rPr kumimoji="1" lang="ja-JP" altLang="en-US" sz="18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34" charset="-128"/>
                <a:cs typeface="+mn-cs"/>
              </a:rPr>
              <a:pPr marL="0" marR="0" lvl="0" indent="0" algn="l" defTabSz="457200" rtl="0" eaLnBrk="1" fontAlgn="auto" latinLnBrk="0" hangingPunct="1">
                <a:lnSpc>
                  <a:spcPct val="100000"/>
                </a:lnSpc>
                <a:spcBef>
                  <a:spcPts val="0"/>
                </a:spcBef>
                <a:spcAft>
                  <a:spcPts val="0"/>
                </a:spcAft>
                <a:buClrTx/>
                <a:buSzTx/>
                <a:buFontTx/>
                <a:buNone/>
                <a:tabLst/>
                <a:defRPr/>
              </a:pPr>
              <a:t>11</a:t>
            </a:fld>
            <a:endParaRPr kumimoji="1" lang="ja-JP" altLang="en-US"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34" charset="-128"/>
              <a:cs typeface="+mn-cs"/>
            </a:endParaRPr>
          </a:p>
        </p:txBody>
      </p:sp>
    </p:spTree>
    <p:extLst>
      <p:ext uri="{BB962C8B-B14F-4D97-AF65-F5344CB8AC3E}">
        <p14:creationId xmlns:p14="http://schemas.microsoft.com/office/powerpoint/2010/main" val="2749429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AB59-5F5D-F4DC-22E3-E97C06D37D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B038EA-C7B5-E938-046F-7AE265779C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92B34E-0C13-AA2E-8F86-0D4118789B04}"/>
              </a:ext>
            </a:extLst>
          </p:cNvPr>
          <p:cNvSpPr>
            <a:spLocks noGrp="1"/>
          </p:cNvSpPr>
          <p:nvPr>
            <p:ph type="body" idx="1"/>
          </p:nvPr>
        </p:nvSpPr>
        <p:spPr/>
        <p:txBody>
          <a:bodyPr/>
          <a:lstStyle/>
          <a:p>
            <a:r>
              <a:rPr kumimoji="1" lang="en-US" altLang="ja-JP"/>
              <a:t>XML</a:t>
            </a:r>
            <a:r>
              <a:rPr kumimoji="1" lang="ja-JP" altLang="en-US"/>
              <a:t>のようにタグをつけて</a:t>
            </a:r>
            <a:r>
              <a:rPr kumimoji="1" lang="en-US" altLang="ja-JP"/>
              <a:t>&lt;&gt;</a:t>
            </a:r>
            <a:r>
              <a:rPr kumimoji="1" lang="ja-JP" altLang="en-US"/>
              <a:t>で囲む必要がない→簡潔</a:t>
            </a:r>
            <a:br>
              <a:rPr kumimoji="1" lang="en-US" altLang="ja-JP"/>
            </a:br>
            <a:br>
              <a:rPr kumimoji="1" lang="en-US" altLang="ja-JP"/>
            </a:br>
            <a:r>
              <a:rPr kumimoji="1" lang="ja-JP" altLang="en-US"/>
              <a:t>言語：</a:t>
            </a:r>
            <a:r>
              <a:rPr kumimoji="1" lang="en-US" altLang="ja-JP"/>
              <a:t>JavaScript</a:t>
            </a:r>
            <a:r>
              <a:rPr kumimoji="1" lang="ja-JP" altLang="en-US"/>
              <a:t>はもちろん，</a:t>
            </a:r>
            <a:r>
              <a:rPr kumimoji="1" lang="en-US" altLang="ja-JP"/>
              <a:t>python</a:t>
            </a:r>
            <a:r>
              <a:rPr kumimoji="1" lang="ja-JP" altLang="en-US"/>
              <a:t>など</a:t>
            </a:r>
            <a:br>
              <a:rPr kumimoji="1" lang="en-US" altLang="ja-JP"/>
            </a:br>
            <a:r>
              <a:rPr kumimoji="1" lang="ja-JP" altLang="en-US"/>
              <a:t>ツール：</a:t>
            </a:r>
            <a:r>
              <a:rPr kumimoji="1" lang="en-US" altLang="ja-JP"/>
              <a:t>MATLAB</a:t>
            </a:r>
            <a:r>
              <a:rPr kumimoji="1" lang="ja-JP" altLang="en-US"/>
              <a:t>や</a:t>
            </a:r>
            <a:r>
              <a:rPr kumimoji="1" lang="en-US" altLang="ja-JP"/>
              <a:t>Web</a:t>
            </a:r>
            <a:r>
              <a:rPr kumimoji="1" lang="ja-JP" altLang="en-US"/>
              <a:t>系のアプリなど</a:t>
            </a:r>
          </a:p>
        </p:txBody>
      </p:sp>
      <p:sp>
        <p:nvSpPr>
          <p:cNvPr id="4" name="スライド番号プレースホルダー 3">
            <a:extLst>
              <a:ext uri="{FF2B5EF4-FFF2-40B4-BE49-F238E27FC236}">
                <a16:creationId xmlns:a16="http://schemas.microsoft.com/office/drawing/2014/main" id="{886D2D9A-9120-A2D1-6B08-E569EA96B421}"/>
              </a:ext>
            </a:extLst>
          </p:cNvPr>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A32A16E-C598-4D06-96BC-998A8E9F82FE}" type="slidenum">
              <a:rPr kumimoji="1" lang="ja-JP" altLang="en-US" sz="18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34" charset="-128"/>
                <a:cs typeface="+mn-cs"/>
              </a:rPr>
              <a:pPr marL="0" marR="0" lvl="0" indent="0" algn="l" defTabSz="457200" rtl="0" eaLnBrk="1" fontAlgn="auto" latinLnBrk="0" hangingPunct="1">
                <a:lnSpc>
                  <a:spcPct val="100000"/>
                </a:lnSpc>
                <a:spcBef>
                  <a:spcPts val="0"/>
                </a:spcBef>
                <a:spcAft>
                  <a:spcPts val="0"/>
                </a:spcAft>
                <a:buClrTx/>
                <a:buSzTx/>
                <a:buFontTx/>
                <a:buNone/>
                <a:tabLst/>
                <a:defRPr/>
              </a:pPr>
              <a:t>12</a:t>
            </a:fld>
            <a:endParaRPr kumimoji="1" lang="ja-JP" altLang="en-US"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34" charset="-128"/>
              <a:cs typeface="+mn-cs"/>
            </a:endParaRPr>
          </a:p>
        </p:txBody>
      </p:sp>
    </p:spTree>
    <p:extLst>
      <p:ext uri="{BB962C8B-B14F-4D97-AF65-F5344CB8AC3E}">
        <p14:creationId xmlns:p14="http://schemas.microsoft.com/office/powerpoint/2010/main" val="2749429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AB59-5F5D-F4DC-22E3-E97C06D37D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B038EA-C7B5-E938-046F-7AE265779C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92B34E-0C13-AA2E-8F86-0D4118789B04}"/>
              </a:ext>
            </a:extLst>
          </p:cNvPr>
          <p:cNvSpPr>
            <a:spLocks noGrp="1"/>
          </p:cNvSpPr>
          <p:nvPr>
            <p:ph type="body" idx="1"/>
          </p:nvPr>
        </p:nvSpPr>
        <p:spPr/>
        <p:txBody>
          <a:bodyPr/>
          <a:lstStyle/>
          <a:p>
            <a:r>
              <a:rPr kumimoji="1" lang="en-US" altLang="ja-JP"/>
              <a:t>XML</a:t>
            </a:r>
            <a:r>
              <a:rPr kumimoji="1" lang="ja-JP" altLang="en-US"/>
              <a:t>のようにタグをつけて</a:t>
            </a:r>
            <a:r>
              <a:rPr kumimoji="1" lang="en-US" altLang="ja-JP"/>
              <a:t>&lt;&gt;</a:t>
            </a:r>
            <a:r>
              <a:rPr kumimoji="1" lang="ja-JP" altLang="en-US"/>
              <a:t>で囲む必要がない→簡潔</a:t>
            </a:r>
            <a:br>
              <a:rPr kumimoji="1" lang="en-US" altLang="ja-JP"/>
            </a:br>
            <a:br>
              <a:rPr kumimoji="1" lang="en-US" altLang="ja-JP"/>
            </a:br>
            <a:r>
              <a:rPr kumimoji="1" lang="ja-JP" altLang="en-US"/>
              <a:t>言語：</a:t>
            </a:r>
            <a:r>
              <a:rPr kumimoji="1" lang="en-US" altLang="ja-JP"/>
              <a:t>JavaScript</a:t>
            </a:r>
            <a:r>
              <a:rPr kumimoji="1" lang="ja-JP" altLang="en-US"/>
              <a:t>はもちろん，</a:t>
            </a:r>
            <a:r>
              <a:rPr kumimoji="1" lang="en-US" altLang="ja-JP"/>
              <a:t>python</a:t>
            </a:r>
            <a:r>
              <a:rPr kumimoji="1" lang="ja-JP" altLang="en-US"/>
              <a:t>など</a:t>
            </a:r>
            <a:br>
              <a:rPr kumimoji="1" lang="en-US" altLang="ja-JP"/>
            </a:br>
            <a:r>
              <a:rPr kumimoji="1" lang="ja-JP" altLang="en-US"/>
              <a:t>ツール：</a:t>
            </a:r>
            <a:r>
              <a:rPr kumimoji="1" lang="en-US" altLang="ja-JP"/>
              <a:t>MATLAB</a:t>
            </a:r>
            <a:r>
              <a:rPr kumimoji="1" lang="ja-JP" altLang="en-US"/>
              <a:t>や</a:t>
            </a:r>
            <a:r>
              <a:rPr kumimoji="1" lang="en-US" altLang="ja-JP"/>
              <a:t>Web</a:t>
            </a:r>
            <a:r>
              <a:rPr kumimoji="1" lang="ja-JP" altLang="en-US"/>
              <a:t>系のアプリなど</a:t>
            </a:r>
          </a:p>
        </p:txBody>
      </p:sp>
      <p:sp>
        <p:nvSpPr>
          <p:cNvPr id="4" name="スライド番号プレースホルダー 3">
            <a:extLst>
              <a:ext uri="{FF2B5EF4-FFF2-40B4-BE49-F238E27FC236}">
                <a16:creationId xmlns:a16="http://schemas.microsoft.com/office/drawing/2014/main" id="{886D2D9A-9120-A2D1-6B08-E569EA96B421}"/>
              </a:ext>
            </a:extLst>
          </p:cNvPr>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A32A16E-C598-4D06-96BC-998A8E9F82FE}" type="slidenum">
              <a:rPr kumimoji="1" lang="ja-JP" altLang="en-US" sz="18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34" charset="-128"/>
                <a:cs typeface="+mn-cs"/>
              </a:rPr>
              <a:pPr marL="0" marR="0" lvl="0" indent="0" algn="l" defTabSz="457200" rtl="0" eaLnBrk="1" fontAlgn="auto" latinLnBrk="0" hangingPunct="1">
                <a:lnSpc>
                  <a:spcPct val="100000"/>
                </a:lnSpc>
                <a:spcBef>
                  <a:spcPts val="0"/>
                </a:spcBef>
                <a:spcAft>
                  <a:spcPts val="0"/>
                </a:spcAft>
                <a:buClrTx/>
                <a:buSzTx/>
                <a:buFontTx/>
                <a:buNone/>
                <a:tabLst/>
                <a:defRPr/>
              </a:pPr>
              <a:t>13</a:t>
            </a:fld>
            <a:endParaRPr kumimoji="1" lang="ja-JP" altLang="en-US"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34" charset="-128"/>
              <a:cs typeface="+mn-cs"/>
            </a:endParaRPr>
          </a:p>
        </p:txBody>
      </p:sp>
    </p:spTree>
    <p:extLst>
      <p:ext uri="{BB962C8B-B14F-4D97-AF65-F5344CB8AC3E}">
        <p14:creationId xmlns:p14="http://schemas.microsoft.com/office/powerpoint/2010/main" val="2749429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[標準]【手順の本体】OSM→モデルの6段階を1本のアニメで。①送電線の幾何(西→東に描画) ②電圧を7段補完で決定(色が付く) ③端点マッチングで結線(黄点=ジャンクション) ④変電所(白丸)と変圧器 ⑤発電所(★)を最寄り接続 ⑥県別需要×電圧重みで需要配分。全フレーム実データ。ここで手順の全体像を掴ませてから年表へ。1:30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[コア]この1枚が地図 — 各幕カードに赤の✗=つまずきを明記(『すんなり行っていない』の骨格)。以降のスライドは左上バッジ(幕色つき)で現在地を示す。赤✗→斜体の問いの順に読み上げる。※旧skip①指定を解除: 苦闘の年表は本編の核。</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[コア]論文 §III–VI をこの1枚に圧縮。「電気パラメータは合成＝推定と明記」を図の緑ブロックを指して言う。87%は補完の欠損削減率（論文値）。</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[標準]数値は論文 Table I / II。本文の 8,164 は誤記（同論文の表合計は 6,962）で、この版から 6,962 に統一している。限界の明記が第3幕への伏線。</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[フル]この枚の主張は右の赤枠。「標準対応しました」ではなく「標準が検証器になった」。5つのバグはどれも自前レンダラだけなら気づけない。</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[標準]【25分版はスキップ可②】左下の衛星3連画像は v1.1 の比較タブ（衛星写真で位置を目視検証）。右図は自慢の1枚だが、次の幕でこれを自分で疑いにいく。</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[コア]プロジェクトの転回点。8枚目の全国AC図を自分で解体した話。「結果を悪くする訂正」の一文をゆっくり。ここが第5幕の『完全性を主張せず測定する』の源流。</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[フル]デバッグ譚として一番話せる枚。「+5.7%が訂正」の反直感を丁寧に。方法論文書は osm_grid_pitfalls_methodology_2026-07-10.md。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[コア]第3幕の規律が開示データにも適用される、が主題。「開示があるから正しい」ではなく開示も証拠ゲートを通す（EGGC）。UC訂正は開示容量と突き合わせて初めて見えた。</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[コア]7,239 は構造DBのサイト数で、第1幕の 6,962（データセットfeature・v1.2測定）とは定義が違う — 聞かれたら即答する。深掘りは姉妹デッキへ誘導。</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[標準]SubSLDを動きで: 読み方3段(左=構内幾何/右=単線結線図/捏造ゼロ)→全国406所の機械生成を流す。第5幕の実物提示。詳細はSubSLD論文デッキへ。1:00</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[フル]AGCを知らない聴衆向けの1枚。「電気は貯められない」から始める。次の枚で実際に事故らせる。</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[コア]2018年9月6日の実話(北海道ブラックアウト)から入る。「あの構図が、地図から作ったモデルで出る」。動特性は典型値の構造実証、プラント粒度=ユニットN-1の上界、は聞かれたら答える。</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[フル]【25分版はスキップ可④】「動揺がないのが違和感」への回答。UFLSの3段が1.6/2.0/2.7秒に入るのが拡大で見える。AGC100の話が出たら『これはAGC-54。Nは任意で、東なら数百機』。</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[標準]541=54+183+298+6(図の小見出しは脱落後の生存機数)。west は多機層のみDC断面初期化 — 第6幕でフルAC成立済みだが動揺実験への反映は未実施、と役割分担で開示する。「AGC100?」→「これはAGC-541」。</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[標準]深掘り② 流れ(潮流): UCピーク断面のAC解による送電線負荷率マップ。混んでいる回廊(赤・太)に名前ラベル。UCが検出した混雑費用+1.4%が『どこの線の話か』を地図で回収。1:00</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[フル]深掘り③ 強さ(SCR): 全4島・全バスの短絡容量SCCマップ(古典近似: 運転中機のXd'背後V=1.0・負荷除外・実網Ybus — 近似は図中に開示)。青=強い/赤=弱い。SCR=SCC÷設備容量なので、赤い場所ほどインバータ電源の連系が難しい。『負荷があるのに弱い』全国ワーストに注記。逆位相動揺の連系剛性ともつながる話。1:00</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[標準]逆位相動揺+綱引きの機構: 右下に新設した『綱の張り=群間位相角差Δδ』パネルと、地図上の電力矢印(位相の進んだ群→遅れた群、振れ幅で太さが変わる)で、なぜ逆位相になるかを説明 — 2つの慣性群が長い送電回廊(ばね)で繋がれた2重り系。西G(九州側61機)×東G(関西以東181機)、相関−0.999・周期2.4s。オーナー指摘『綱引きがわかりにくい』への応答。1:00</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[フル]30秒流す。「地図はここまで語れる」の頂点。伝播速度の定量化は今後(位相計測PMU比較の話が出たら乗る)。</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[コア]東全域の大擾乱(設計外N-3デモ): ピーク断面59.4GWで富津+東新潟+千葉10,618MWを同時脱落、900秒の全アーク。負荷遮断の見せ方(オーナー指摘「黄色の数の変更が見えない」への対応): モデルのUFLSは全負荷を一律10%/段で削減する集約近似で、面積比10%の縮小は目に見えない → 等価なMW量を『個別負荷の消灯』として描く(361件・5,935MW)。実系統はフィーダ単位の遮断なので見た目はむしろ実態に近いが、どの負荷が落ちるかはモデルの主張ではないため選定は再現可能な擬似乱数、その旨を画面に明記。左下の需給パネルで『脱落10,618 → UFLS遮断5,935 → 残り4,683はガバナ+LFCが埋める』の因果を数量で見せる。4局面: ①慣性で急落 ②UFLS第1段が底48.49Hzを打つ ③高速登坂 ④停滞(60-180s) ⑤緩回復(15分で49.84)。1:15</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[標準]東西動揺 — 主題は『ほぼ同じ4GW級の脱落なのに、なぜ落ち方が違うのか』(オーナー指摘「考察がない」への対応)。右下の比較表は全てnpz実測: 脱落量3,893/3,990MW、需要比6.56%/5.70%、慣性ΣM 7,079/8,151 pu·s、最大偏差−0.436/−0.276Hz。西が浅い理由は①系統が大きく脱落比が小さい②慣性が1.15倍③速い余力(水力)が1.7倍(UC断面で東2.7GW・西4.5GW)。重要な落とし穴として『60Hz系は同じpu変化でもHz表示が1.2倍大きく出る — Hzのまま直接比べると誤読する』を明示(pu換算では東−0.872%/西−0.461%で約1.9倍の差)。東西はFC経由の直流連系のみで動揺は伝わらないため、独立実験の同時刻表示である旨も明記。1:00</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[フル]ここは喋らず30秒流す。止め絵になる環境ではPDF版の1コマ目が出るので「動画はGIF参照」と言う。</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[標準]全史トレーラー第2版(20フレーム・37秒): 従来の5幕(組み上げ→UC→3島AC→探偵編→点灯→東N-3)に、第6幕『綱引き』(西の逆位相2カット、電力矢印はΔδ実符号で反転)と第7幕『戻るさま』(東N-3の900秒アーク・4局面チャート)を追加。締めは『いまは、ある。』。0:45</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[標準]周波数が戻るさま(東N-3・900秒に一本化): 前スライドと同じ事故・同じデータで、COI曲線が左から描かれ局面バナーが順に出る進行チャート — ①慣性急落 ②UFLS底打ち(48.49Hz) ③高速登坂 ④停滞 ⑤緩回復。終端で『15分で49.84Hz、50.00への完全復帰はさらに数十分先』を正直に。オーナー指摘『p25がわからない』への応答: 北海道・COI層2,400秒の別実験(旧版)は文脈が飛ぶため差し替え。旧freq_recovery.gifはリポジトリに残置。1:00</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[フル]「夜が危ない」の古典を、地図から作ったモデルが自力で言い直す枚。3:08の一致は構図の一致(モデルは同日のUC断面・実事故は2018/9/6)と断ってから言う。</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[標準]深掘り① 計画(UC): fy2023r2・757機・9連系線UCの24時間ディスパッチを燃料別積み上げで掃引。需要線との一致・揚水/スピルも正直に描く。以降の潮流・動揺実験は全てこの解を土台にしている、という位置づけを一言。1:00</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[コア]第6幕は一夜のデバッグ記。(仮)の哲学=推定母線と同じ「存在の必然性だけ主張」。承認の一文がこの幕の転回点。数値の出典: provisional_infeed_decision_2026-08-30.md</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[コア]探偵編の核心。裏取りは3エージェント並列(コード読解/生データ/Web出典)。#38の設計原則=ガードの動機(混在県の飛び地保護)を殺さずに過剰防衛だけ解く。証跡: west_ac_wave6_2026-08-30.md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[フル]第6幕の核心を動きで: ニュートン反復を1回ずつ止めて電圧場を観察。介入前(#37/#38なし)=大阪都心と軽井沢・嬬恋から逸脱が育ち発散 / 介入後=(仮)12件+誤帰属275点の是正だけで5回収束。補足(2026-08-30再検証): #37v2(下流込み集計)実装後は#38なしでも収束する — 両介入は独立に正当(regionの正しさはAC以前の問題)だが、AC成立の必要条件としては#37v2が主。『反復を止めて観察する』手法そのものが見える。1:00</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[コア]クライマックス。左=初のAC解の電圧分布(7,928バス・6.6s)。右=介入#38の検挙簿(誤帰属275点)。「点灯」の演出で締め、総括へ。数値出典: west_ac_wave6/wave7_2026-08-30.md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[コア]『解けた=正しい』ではない、を第3幕で言った以上、外部実測との突合をここで正面から出す。3つとも限界を同じ文に書いてあるのが本プロジェクトの流儀。出典: docs/reports/international_benchmark_2026-06-27.md / data_paper_readiness_2026-06-27.md。質疑で『精度は?』と来たら①の数字と、それが代理指標である理由(実測潮流が線路別に公開されているのは東京のみ)を答える。1:30</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[フル]年表（S4）の5幕がそのまま5層に堆積している、という視覚的な回収。層の色＝幕の色。</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[コア]『意外とすんなり行っていない』の直球スライド。#40の負の結果・第10波LFCバグ・GIF作り直し3回を隠さず並べ、台帳の存在理由に落とす。0:50</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[コア]各原則が生まれた事件と対応：①=v1.8証拠閉包 ②=v1.5介入台帳 ③=v1.5東AC解体 ④=v1.8 issue#49。最新の実例(2026-08-30深夜): 介入#40(人口傾斜)は実装→検証行列が退行を検出→既定OFFで台帳化、介入#39は帳簿の旧ID事故を名前アサートで修復 — どちらも③『収束は正しさではない』と②『台帳』が数字を守った夜。下帯の一文がこのデッキの結論。</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b="1">
                <a:latin typeface="UD デジタル 教科書体 NK-B" panose="02020700000000000000" pitchFamily="18" charset="-128"/>
                <a:ea typeface="UD デジタル 教科書体 NK-B" panose="02020700000000000000" pitchFamily="18" charset="-128"/>
              </a:defRPr>
            </a:lvl1pPr>
          </a:lstStyle>
          <a:p>
            <a:r>
              <a:rPr kumimoji="1" lang="ja-JP" altLang="en-US"/>
              <a:t>マスター タイトルの書式設定</a:t>
            </a:r>
            <a:endParaRPr kumimoji="1" lang="ja-JP" altLang="en-US" dirty="0"/>
          </a:p>
        </p:txBody>
      </p:sp>
      <p:sp>
        <p:nvSpPr>
          <p:cNvPr id="7" name="Rectangle 10"/>
          <p:cNvSpPr>
            <a:spLocks noChangeArrowheads="1"/>
          </p:cNvSpPr>
          <p:nvPr userDrawn="1"/>
        </p:nvSpPr>
        <p:spPr bwMode="auto">
          <a:xfrm>
            <a:off x="0" y="639763"/>
            <a:ext cx="12192000" cy="36512"/>
          </a:xfrm>
          <a:prstGeom prst="rect">
            <a:avLst/>
          </a:prstGeom>
          <a:solidFill>
            <a:schemeClr val="bg1">
              <a:lumMod val="85000"/>
            </a:schemeClr>
          </a:solidFill>
          <a:ln>
            <a:noFill/>
          </a:ln>
          <a:effectLst/>
        </p:spPr>
        <p:txBody>
          <a:bodyPr wrap="none" lIns="0" tIns="0" rIns="0" bIns="0" anchor="ctr">
            <a:noAutofit/>
          </a:bodyPr>
          <a:lstStyle/>
          <a:p>
            <a:endParaRPr lang="ja-JP" altLang="en-US" sz="1800"/>
          </a:p>
        </p:txBody>
      </p:sp>
      <p:sp>
        <p:nvSpPr>
          <p:cNvPr id="8" name="スライド番号プレースホルダー 5"/>
          <p:cNvSpPr>
            <a:spLocks noGrp="1"/>
          </p:cNvSpPr>
          <p:nvPr>
            <p:ph type="sldNum" sz="quarter" idx="4"/>
          </p:nvPr>
        </p:nvSpPr>
        <p:spPr>
          <a:xfrm>
            <a:off x="9153570" y="6592270"/>
            <a:ext cx="28448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dirty="0"/>
          </a:p>
        </p:txBody>
      </p:sp>
      <p:sp>
        <p:nvSpPr>
          <p:cNvPr id="9" name="フッター プレースホルダー 3"/>
          <p:cNvSpPr>
            <a:spLocks noGrp="1"/>
          </p:cNvSpPr>
          <p:nvPr>
            <p:ph type="ftr" sz="quarter" idx="3"/>
          </p:nvPr>
        </p:nvSpPr>
        <p:spPr>
          <a:xfrm>
            <a:off x="113797" y="6578255"/>
            <a:ext cx="778272" cy="195976"/>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799">
                <a:solidFill>
                  <a:schemeClr val="tx1"/>
                </a:solidFill>
                <a:latin typeface="+mn-ea"/>
                <a:ea typeface="+mn-ea"/>
                <a:cs typeface="メイリオ" pitchFamily="50" charset="-128"/>
              </a:defRPr>
            </a:lvl1pPr>
          </a:lstStyle>
          <a:p>
            <a:r>
              <a:rPr lang="en-US" altLang="ja-JP"/>
              <a:t>#P18031</a:t>
            </a:r>
            <a:endParaRPr lang="ja-JP" altLang="en-US" dirty="0"/>
          </a:p>
        </p:txBody>
      </p:sp>
    </p:spTree>
    <p:extLst>
      <p:ext uri="{BB962C8B-B14F-4D97-AF65-F5344CB8AC3E}">
        <p14:creationId xmlns:p14="http://schemas.microsoft.com/office/powerpoint/2010/main" val="197422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ea typeface="Hiragino Sans"/>
                <a:cs typeface="Hiragino Sans"/>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defRPr>
            </a:lvl1pPr>
            <a:lvl2pPr marL="457200" indent="0" algn="ctr">
              <a:buNone/>
              <a:defRPr>
                <a:ea typeface="Hiragino Sans"/>
                <a:cs typeface="Hiragino Sans"/>
              </a:defRPr>
            </a:lvl2pPr>
            <a:lvl3pPr marL="914400" indent="0" algn="ctr">
              <a:buNone/>
              <a:defRPr>
                <a:ea typeface="Hiragino Sans"/>
                <a:cs typeface="Hiragino Sans"/>
              </a:defRPr>
            </a:lvl3pPr>
            <a:lvl4pPr marL="1371600" indent="0" algn="ctr">
              <a:buNone/>
              <a:defRPr>
                <a:ea typeface="Hiragino Sans"/>
                <a:cs typeface="Hiragino Sans"/>
              </a:defRPr>
            </a:lvl4pPr>
            <a:lvl5pPr marL="1828800" indent="0" algn="ctr">
              <a:buNone/>
              <a:defRPr>
                <a:ea typeface="Hiragino Sans"/>
                <a:cs typeface="Hiragino Sans"/>
              </a:defRPr>
            </a:lvl5pPr>
            <a:lvl6pPr marL="2286000" indent="0" algn="ctr">
              <a:buNone/>
              <a:defRPr>
                <a:ea typeface="Hiragino Sans"/>
                <a:cs typeface="Hiragino Sans"/>
              </a:defRPr>
            </a:lvl6pPr>
            <a:lvl7pPr marL="2743200" indent="0" algn="ctr">
              <a:buNone/>
              <a:defRPr>
                <a:ea typeface="Hiragino Sans"/>
                <a:cs typeface="Hiragino Sans"/>
              </a:defRPr>
            </a:lvl7pPr>
            <a:lvl8pPr marL="3200400" indent="0" algn="ctr">
              <a:buNone/>
              <a:defRPr>
                <a:ea typeface="Hiragino Sans"/>
                <a:cs typeface="Hiragino Sans"/>
              </a:defRPr>
            </a:lvl8pPr>
            <a:lvl9pPr marL="3657600" indent="0" algn="ctr">
              <a:buNone/>
              <a:defRPr>
                <a:ea typeface="Hiragino Sans"/>
                <a:cs typeface="Hiragino Sans"/>
              </a:defRPr>
            </a:lvl9pPr>
          </a:lstStyle>
          <a:p>
            <a:r>
              <a:rPr lang="en-US">
                <a:ea typeface="Hiragino Sans"/>
                <a:cs typeface="Hiragino Sans"/>
              </a:rPr>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Tree>
    <p:extLst>
      <p:ext uri="{BB962C8B-B14F-4D97-AF65-F5344CB8AC3E}">
        <p14:creationId xmlns:p14="http://schemas.microsoft.com/office/powerpoint/2010/main" val="680767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Hiragino Sans"/>
                <a:cs typeface="Hiragino Sans"/>
              </a:rPr>
              <a:t>Click to edit Master title style</a:t>
            </a:r>
          </a:p>
        </p:txBody>
      </p:sp>
      <p:sp>
        <p:nvSpPr>
          <p:cNvPr id="3" name="Content Placeholder 2"/>
          <p:cNvSpPr>
            <a:spLocks noGrp="1"/>
          </p:cNvSpPr>
          <p:nvPr>
            <p:ph idx="1"/>
          </p:nvPr>
        </p:nvSpPr>
        <p:spPr/>
        <p:txBody>
          <a:body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9801"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698806788808}"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4151441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a:ea typeface="Hiragino Sans"/>
                <a:cs typeface="Hiragino Sans"/>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defRPr>
            </a:lvl1pPr>
            <a:lvl2pPr marL="457200" indent="0">
              <a:buNone/>
              <a:defRPr sz="1800">
                <a:ea typeface="Hiragino Sans"/>
                <a:cs typeface="Hiragino Sans"/>
              </a:defRPr>
            </a:lvl2pPr>
            <a:lvl3pPr marL="914400" indent="0">
              <a:buNone/>
              <a:defRPr sz="1600">
                <a:ea typeface="Hiragino Sans"/>
                <a:cs typeface="Hiragino Sans"/>
              </a:defRPr>
            </a:lvl3pPr>
            <a:lvl4pPr marL="1371600" indent="0">
              <a:buNone/>
              <a:defRPr sz="1400">
                <a:ea typeface="Hiragino Sans"/>
                <a:cs typeface="Hiragino Sans"/>
              </a:defRPr>
            </a:lvl4pPr>
            <a:lvl5pPr marL="1828800" indent="0">
              <a:buNone/>
              <a:defRPr sz="1400">
                <a:ea typeface="Hiragino Sans"/>
                <a:cs typeface="Hiragino Sans"/>
              </a:defRPr>
            </a:lvl5pPr>
            <a:lvl6pPr marL="2286000" indent="0">
              <a:buNone/>
              <a:defRPr sz="1400">
                <a:ea typeface="Hiragino Sans"/>
                <a:cs typeface="Hiragino Sans"/>
              </a:defRPr>
            </a:lvl6pPr>
            <a:lvl7pPr marL="2743200" indent="0">
              <a:buNone/>
              <a:defRPr sz="1400">
                <a:ea typeface="Hiragino Sans"/>
                <a:cs typeface="Hiragino Sans"/>
              </a:defRPr>
            </a:lvl7pPr>
            <a:lvl8pPr marL="3200400" indent="0">
              <a:buNone/>
              <a:defRPr sz="1400">
                <a:ea typeface="Hiragino Sans"/>
                <a:cs typeface="Hiragino Sans"/>
              </a:defRPr>
            </a:lvl8pPr>
            <a:lvl9pPr marL="3657600" indent="0">
              <a:buNone/>
              <a:defRPr sz="1400">
                <a:ea typeface="Hiragino Sans"/>
                <a:cs typeface="Hiragino Sans"/>
              </a:defRPr>
            </a:lvl9pPr>
          </a:lstStyle>
          <a:p>
            <a:pPr lvl="0"/>
            <a:r>
              <a:rPr lang="en-US">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9802"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090173982228}"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184116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Hiragino Sans"/>
                <a:cs typeface="Hiragino Sans"/>
              </a:rPr>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9803"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103609194250}"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4051932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a:ea typeface="Hiragino Sans"/>
                <a:cs typeface="Hiragino Sans"/>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804"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702247760149}"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1100289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a:ea typeface="Hiragino Sans"/>
                <a:cs typeface="Hiragino Sans"/>
              </a:rPr>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9807"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303556242387}"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245354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a:ea typeface="Hiragino Sans"/>
                <a:cs typeface="Hiragino Sans"/>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9808"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373224258385}"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2904571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Hiragino Sans"/>
                <a:cs typeface="Hiragino Sans"/>
              </a:rPr>
              <a:t>Click to edit Master title style</a:t>
            </a:r>
          </a:p>
        </p:txBody>
      </p:sp>
      <p:sp>
        <p:nvSpPr>
          <p:cNvPr id="3" name="Vertical Text Placeholder 2"/>
          <p:cNvSpPr>
            <a:spLocks noGrp="1"/>
          </p:cNvSpPr>
          <p:nvPr>
            <p:ph type="body" orient="vert" idx="1"/>
          </p:nvPr>
        </p:nvSpPr>
        <p:spPr/>
        <p:txBody>
          <a:bodyPr vert="eaVert"/>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9809"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503995045517}"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336001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ea typeface="Hiragino Sans"/>
                <a:cs typeface="Hiragino Sans"/>
              </a:rPr>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9810"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129429094111}"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3936836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0F23505D-0D92-4150-AE65-A9A7E6C60157}"/>
              </a:ext>
            </a:extLst>
          </p:cNvPr>
          <p:cNvSpPr>
            <a:spLocks noGrp="1"/>
          </p:cNvSpPr>
          <p:nvPr>
            <p:ph type="dt" sz="half" idx="10"/>
          </p:nvPr>
        </p:nvSpPr>
        <p:spPr/>
        <p:txBody>
          <a:bodyPr/>
          <a:lstStyle/>
          <a:p>
            <a:fld id="{C74D9882-C4E0-43D3-88CA-1A4D4DD96A72}"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36D5D81F-581A-40CD-B968-CC0EB60FB8BB}"/>
              </a:ext>
            </a:extLst>
          </p:cNvPr>
          <p:cNvSpPr>
            <a:spLocks noGrp="1"/>
          </p:cNvSpPr>
          <p:nvPr>
            <p:ph type="ftr" sz="quarter" idx="11"/>
          </p:nvPr>
        </p:nvSpPr>
        <p:spPr/>
        <p:txBody>
          <a:bodyPr/>
          <a:lstStyle/>
          <a:p>
            <a:endParaRPr kumimoji="1" lang="ja-JP" altLang="en-US"/>
          </a:p>
        </p:txBody>
      </p:sp>
      <p:sp>
        <p:nvSpPr>
          <p:cNvPr id="7" name="タイトル 1">
            <a:extLst>
              <a:ext uri="{FF2B5EF4-FFF2-40B4-BE49-F238E27FC236}">
                <a16:creationId xmlns:a16="http://schemas.microsoft.com/office/drawing/2014/main" id="{F93B20D4-A9C8-4402-ACEF-1A2C017D6B98}"/>
              </a:ext>
            </a:extLst>
          </p:cNvPr>
          <p:cNvSpPr>
            <a:spLocks noGrp="1"/>
          </p:cNvSpPr>
          <p:nvPr>
            <p:ph type="title"/>
          </p:nvPr>
        </p:nvSpPr>
        <p:spPr>
          <a:xfrm>
            <a:off x="546100" y="190500"/>
            <a:ext cx="11150600" cy="475876"/>
          </a:xfrm>
        </p:spPr>
        <p:txBody>
          <a:bodyPr lIns="0" anchor="ctr" anchorCtr="0">
            <a:normAutofit/>
          </a:bodyPr>
          <a:lstStyle>
            <a:lvl1pPr algn="l">
              <a:lnSpc>
                <a:spcPct val="100000"/>
              </a:lnSpc>
              <a:defRPr sz="2400" b="1">
                <a:solidFill>
                  <a:srgbClr val="202020"/>
                </a:solidFill>
                <a:latin typeface="UD Digi Kyokasho NK-R" panose="02020400000000000000" pitchFamily="18" charset="-128"/>
                <a:ea typeface="UD Digi Kyokasho NK-R" panose="02020400000000000000" pitchFamily="18" charset="-128"/>
                <a:cs typeface="UD Digi Kyokasho NK-R" panose="02020400000000000000" pitchFamily="18" charset="-128"/>
              </a:defRPr>
            </a:lvl1pPr>
          </a:lstStyle>
          <a:p>
            <a:r>
              <a:rPr kumimoji="1" lang="ja-JP" altLang="en-US" dirty="0"/>
              <a:t>マスター タイトルの書式設定</a:t>
            </a:r>
          </a:p>
        </p:txBody>
      </p:sp>
      <p:sp>
        <p:nvSpPr>
          <p:cNvPr id="901" name="Rule Base"/>
          <p:cNvSpPr/>
          <p:nvPr/>
        </p:nvSpPr>
        <p:spPr>
          <a:xfrm>
            <a:off x="546100" y="781422"/>
            <a:ext cx="11150600" cy="45719"/>
          </a:xfrm>
          <a:prstGeom prst="rect">
            <a:avLst/>
          </a:prstGeom>
          <a:solidFill>
            <a:srgbClr val="C3CEDA"/>
          </a:solidFill>
          <a:ln>
            <a:noFill/>
          </a:ln>
        </p:spPr>
        <p:txBody>
          <a:bodyPr/>
          <a:lstStyle/>
          <a:p>
            <a:endParaRPr/>
          </a:p>
        </p:txBody>
      </p:sp>
      <p:sp>
        <p:nvSpPr>
          <p:cNvPr id="902" name="Rule Accent"/>
          <p:cNvSpPr/>
          <p:nvPr/>
        </p:nvSpPr>
        <p:spPr>
          <a:xfrm>
            <a:off x="546100" y="774700"/>
            <a:ext cx="1524000" cy="63500"/>
          </a:xfrm>
          <a:prstGeom prst="rect">
            <a:avLst/>
          </a:prstGeom>
          <a:solidFill>
            <a:srgbClr val="1F3864"/>
          </a:solidFill>
          <a:ln>
            <a:noFill/>
          </a:ln>
        </p:spPr>
        <p:txBody>
          <a:bodyPr/>
          <a:lstStyle/>
          <a:p>
            <a:endParaRPr/>
          </a:p>
        </p:txBody>
      </p:sp>
      <p:sp>
        <p:nvSpPr>
          <p:cNvPr id="9811" name="pageNumM"/>
          <p:cNvSpPr txBox="1"/>
          <p:nvPr/>
        </p:nvSpPr>
        <p:spPr>
          <a:xfrm>
            <a:off x="9906000" y="6413500"/>
            <a:ext cx="1714500" cy="254000"/>
          </a:xfrm>
          <a:prstGeom prst="rect">
            <a:avLst/>
          </a:prstGeom>
          <a:noFill/>
        </p:spPr>
        <p:txBody>
          <a:bodyPr wrap="square" lIns="0" tIns="0" rIns="0" bIns="0" anchor="t"/>
          <a:lstStyle/>
          <a:p>
            <a:pPr algn="r">
              <a:buNone/>
            </a:pPr>
            <a:fld id="{7C1D5E40-1D4B-4A1B-9C2D-258204716651}" type="slidenum">
              <a:rPr lang="en-US" sz="1476">
                <a:solidFill>
                  <a:srgbClr val="676363"/>
                </a:solidFill>
                <a:latin typeface="Helvetica Neue"/>
                <a:ea typeface="Hiragino Sans"/>
                <a:cs typeface="Hiragino Sans"/>
              </a:rPr>
              <a:t>‹#›</a:t>
            </a:fld>
            <a:endParaRPr lang="en-US" sz="1476">
              <a:solidFill>
                <a:srgbClr val="676363"/>
              </a:solidFill>
              <a:latin typeface="Helvetica Neue"/>
              <a:ea typeface="Hiragino Sans"/>
              <a:cs typeface="Hiragino Sans"/>
            </a:endParaRPr>
          </a:p>
        </p:txBody>
      </p:sp>
    </p:spTree>
    <p:extLst>
      <p:ext uri="{BB962C8B-B14F-4D97-AF65-F5344CB8AC3E}">
        <p14:creationId xmlns:p14="http://schemas.microsoft.com/office/powerpoint/2010/main" val="888467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7494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8002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3058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12776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7691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0322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8138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58965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6099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0660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9081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7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ea typeface="Hiragino Sans"/>
                <a:cs typeface="Hiragino Sans"/>
              </a:rP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ea typeface="Hiragino Sans"/>
                <a:cs typeface="Hiragino Sans"/>
              </a:rPr>
              <a:t>Click to edit Master text styles</a:t>
            </a:r>
          </a:p>
          <a:p>
            <a:pPr lvl="1"/>
            <a:r>
              <a:rPr lang="en-US">
                <a:ea typeface="Hiragino Sans"/>
                <a:cs typeface="Hiragino Sans"/>
              </a:rPr>
              <a:t>Second level</a:t>
            </a:r>
          </a:p>
          <a:p>
            <a:pPr lvl="2"/>
            <a:r>
              <a:rPr lang="en-US">
                <a:ea typeface="Hiragino Sans"/>
                <a:cs typeface="Hiragino Sans"/>
              </a:rPr>
              <a:t>Third level</a:t>
            </a:r>
          </a:p>
          <a:p>
            <a:pPr lvl="3"/>
            <a:r>
              <a:rPr lang="en-US">
                <a:ea typeface="Hiragino Sans"/>
                <a:cs typeface="Hiragino Sans"/>
              </a:rPr>
              <a:t>Fourth level</a:t>
            </a:r>
          </a:p>
          <a:p>
            <a:pPr lvl="4"/>
            <a:r>
              <a:rPr lang="en-US">
                <a:ea typeface="Hiragino Sans"/>
                <a:cs typeface="Hiragino Sans"/>
              </a:rPr>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defRPr>
            </a:lvl1pPr>
          </a:lstStyle>
          <a:p>
            <a:fld id="{5BCAD085-E8A6-8845-BD4E-CB4CCA059FC4}" type="datetimeFigureOut">
              <a:rPr lang="en-US" smtClean="0">
                <a:ea typeface="Hiragino Sans"/>
                <a:cs typeface="Hiragino Sans"/>
              </a:rPr>
              <a:t>9/15/26</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defRPr>
            </a:lvl1pPr>
          </a:lstStyle>
          <a:p>
            <a:endParaRPr lang="en-US">
              <a:ea typeface="Hiragino Sans"/>
              <a:cs typeface="Hiragino Sans"/>
            </a:endParaRPr>
          </a:p>
        </p:txBody>
      </p:sp>
    </p:spTree>
    <p:extLst>
      <p:ext uri="{BB962C8B-B14F-4D97-AF65-F5344CB8AC3E}">
        <p14:creationId xmlns:p14="http://schemas.microsoft.com/office/powerpoint/2010/main" val="118679436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7" r:id="rId6"/>
    <p:sldLayoutId id="2147483658" r:id="rId7"/>
    <p:sldLayoutId id="2147483659" r:id="rId8"/>
    <p:sldLayoutId id="2147483660" r:id="rId9"/>
    <p:sldLayoutId id="2147483661" r:id="rId10"/>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389052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9.xml"/><Relationship Id="rId5" Type="http://schemas.openxmlformats.org/officeDocument/2006/relationships/image" Target="../media/image11.sv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19.xml"/><Relationship Id="rId4" Type="http://schemas.openxmlformats.org/officeDocument/2006/relationships/image" Target="../media/image28.sv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jp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19.xml"/><Relationship Id="rId5" Type="http://schemas.openxmlformats.org/officeDocument/2006/relationships/image" Target="../media/image40.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5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2.png"/><Relationship Id="rId2" Type="http://schemas.openxmlformats.org/officeDocument/2006/relationships/image" Target="../media/image120.png"/><Relationship Id="rId1" Type="http://schemas.openxmlformats.org/officeDocument/2006/relationships/slideLayout" Target="../slideLayouts/slideLayout19.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image" Target="../media/image140.png"/></Relationships>
</file>

<file path=ppt/slides/_rels/slide3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190.png"/><Relationship Id="rId7" Type="http://schemas.openxmlformats.org/officeDocument/2006/relationships/image" Target="../media/image230.png"/><Relationship Id="rId2" Type="http://schemas.openxmlformats.org/officeDocument/2006/relationships/image" Target="../media/image180.png"/><Relationship Id="rId1" Type="http://schemas.openxmlformats.org/officeDocument/2006/relationships/slideLayout" Target="../slideLayouts/slideLayout19.xml"/><Relationship Id="rId6" Type="http://schemas.openxmlformats.org/officeDocument/2006/relationships/image" Target="../media/image220.png"/><Relationship Id="rId11" Type="http://schemas.openxmlformats.org/officeDocument/2006/relationships/image" Target="../media/image27.png"/><Relationship Id="rId5" Type="http://schemas.openxmlformats.org/officeDocument/2006/relationships/image" Target="../media/image210.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0.png"/></Relationships>
</file>

<file path=ppt/slides/_rels/slide3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jp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jp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19.xml"/><Relationship Id="rId5" Type="http://schemas.openxmlformats.org/officeDocument/2006/relationships/image" Target="../media/image40.png"/><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www.entsoe.eu/"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7.jpg"/></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0.jpg"/></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7.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60.gi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4.gi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8.png"/><Relationship Id="rId2" Type="http://schemas.microsoft.com/office/2014/relationships/chartEx" Target="../charts/chartEx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ssets/fig_national_all.png"/>
          <p:cNvPicPr>
            <a:picLocks noChangeAspect="1"/>
          </p:cNvPicPr>
          <p:nvPr/>
        </p:nvPicPr>
        <p:blipFill>
          <a:blip r:embed="rId3"/>
          <a:stretch>
            <a:fillRect/>
          </a:stretch>
        </p:blipFill>
        <p:spPr>
          <a:xfrm>
            <a:off x="6949440" y="26276"/>
            <a:ext cx="5334744" cy="6861945"/>
          </a:xfrm>
          <a:prstGeom prst="rect">
            <a:avLst/>
          </a:prstGeom>
        </p:spPr>
      </p:pic>
      <p:sp>
        <p:nvSpPr>
          <p:cNvPr id="3" name="Text 0"/>
          <p:cNvSpPr/>
          <p:nvPr/>
        </p:nvSpPr>
        <p:spPr>
          <a:xfrm>
            <a:off x="1614696" y="6355080"/>
            <a:ext cx="4663440" cy="274320"/>
          </a:xfrm>
          <a:prstGeom prst="rect">
            <a:avLst/>
          </a:prstGeom>
          <a:noFill/>
          <a:ln/>
        </p:spPr>
        <p:txBody>
          <a:bodyPr wrap="square" lIns="0" tIns="0" rIns="0" bIns="0" rtlCol="0" anchor="ctr"/>
          <a:lstStyle/>
          <a:p>
            <a:pPr marL="0" indent="0">
              <a:buNone/>
            </a:pPr>
            <a:r>
              <a:rPr lang="en-US" sz="850" dirty="0">
                <a:solidFill>
                  <a:srgbClr val="55555F"/>
                </a:solidFill>
                <a:latin typeface="Hiragino Sans" pitchFamily="34" charset="0"/>
                <a:ea typeface="Hiragino Sans" pitchFamily="34" charset="-122"/>
                <a:cs typeface="Hiragino Sans" pitchFamily="34" charset="-120"/>
              </a:rPr>
              <a:t>出典: 本プロジェクトの実出力（OSM © OpenStreetMap contributors, ODbL）</a:t>
            </a:r>
            <a:endParaRPr lang="en-US" sz="850" dirty="0"/>
          </a:p>
        </p:txBody>
      </p:sp>
      <p:sp>
        <p:nvSpPr>
          <p:cNvPr id="4" name="Text 1"/>
          <p:cNvSpPr/>
          <p:nvPr/>
        </p:nvSpPr>
        <p:spPr>
          <a:xfrm>
            <a:off x="685800" y="914400"/>
            <a:ext cx="6035040" cy="292608"/>
          </a:xfrm>
          <a:prstGeom prst="rect">
            <a:avLst/>
          </a:prstGeom>
          <a:noFill/>
          <a:ln/>
        </p:spPr>
        <p:txBody>
          <a:bodyPr wrap="square" lIns="0" tIns="0" rIns="0" bIns="0" rtlCol="0" anchor="ctr"/>
          <a:lstStyle/>
          <a:p>
            <a:pPr marL="0" indent="0">
              <a:buNone/>
            </a:pPr>
            <a:r>
              <a:rPr lang="en-US" sz="1150" b="1" kern="0" spc="200" dirty="0">
                <a:solidFill>
                  <a:srgbClr val="1E2761"/>
                </a:solidFill>
                <a:latin typeface="Helvetica Neue" pitchFamily="34" charset="0"/>
                <a:ea typeface="Helvetica Neue" pitchFamily="34" charset="-122"/>
                <a:cs typeface="Helvetica Neue" pitchFamily="34" charset="-120"/>
              </a:rPr>
              <a:t>ALL-JAPAN-GRID  /  2026-03 → 2026-08</a:t>
            </a:r>
            <a:endParaRPr lang="en-US" sz="1150" dirty="0"/>
          </a:p>
        </p:txBody>
      </p:sp>
      <p:sp>
        <p:nvSpPr>
          <p:cNvPr id="5" name="Text 2"/>
          <p:cNvSpPr/>
          <p:nvPr/>
        </p:nvSpPr>
        <p:spPr>
          <a:xfrm>
            <a:off x="640080" y="1371600"/>
            <a:ext cx="6309360" cy="1828800"/>
          </a:xfrm>
          <a:prstGeom prst="rect">
            <a:avLst/>
          </a:prstGeom>
          <a:noFill/>
          <a:ln/>
        </p:spPr>
        <p:txBody>
          <a:bodyPr wrap="square" lIns="0" tIns="0" rIns="0" bIns="0" rtlCol="0" anchor="ctr"/>
          <a:lstStyle/>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OSMから、日本全国の</a:t>
            </a:r>
            <a:endParaRPr lang="en-US" sz="3600" dirty="0"/>
          </a:p>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送電網モデルを作る</a:t>
            </a:r>
            <a:endParaRPr lang="en-US" sz="3600" dirty="0"/>
          </a:p>
        </p:txBody>
      </p:sp>
      <p:sp>
        <p:nvSpPr>
          <p:cNvPr id="6" name="Text 3"/>
          <p:cNvSpPr/>
          <p:nvPr/>
        </p:nvSpPr>
        <p:spPr>
          <a:xfrm>
            <a:off x="685800" y="3291840"/>
            <a:ext cx="6126480" cy="411480"/>
          </a:xfrm>
          <a:prstGeom prst="rect">
            <a:avLst/>
          </a:prstGeom>
          <a:noFill/>
          <a:ln/>
        </p:spPr>
        <p:txBody>
          <a:bodyPr wrap="square" lIns="0" tIns="0" rIns="0" bIns="0" rtlCol="0" anchor="ctr"/>
          <a:lstStyle/>
          <a:p>
            <a:pPr marL="0" indent="0">
              <a:buNone/>
            </a:pPr>
            <a:r>
              <a:rPr lang="en-US" sz="1700" dirty="0">
                <a:solidFill>
                  <a:srgbClr val="1A1A1A"/>
                </a:solidFill>
                <a:latin typeface="Hiragino Sans" pitchFamily="34" charset="0"/>
                <a:ea typeface="Hiragino Sans" pitchFamily="34" charset="-122"/>
                <a:cs typeface="Hiragino Sans" pitchFamily="34" charset="-120"/>
              </a:rPr>
              <a:t>— 6ヶ月・1,080コミット・10リリースの記録(2026-08-30時点)</a:t>
            </a:r>
            <a:endParaRPr lang="en-US" sz="1700" dirty="0"/>
          </a:p>
        </p:txBody>
      </p:sp>
      <p:sp>
        <p:nvSpPr>
          <p:cNvPr id="9" name="Text 6"/>
          <p:cNvSpPr/>
          <p:nvPr/>
        </p:nvSpPr>
        <p:spPr>
          <a:xfrm>
            <a:off x="685800" y="5577840"/>
            <a:ext cx="6126480" cy="365760"/>
          </a:xfrm>
          <a:prstGeom prst="rect">
            <a:avLst/>
          </a:prstGeom>
          <a:noFill/>
          <a:ln/>
        </p:spPr>
        <p:txBody>
          <a:bodyPr wrap="square" lIns="0" tIns="0" rIns="0" bIns="0" rtlCol="0" anchor="ctr"/>
          <a:lstStyle/>
          <a:p>
            <a:pPr marL="0" indent="0">
              <a:buNone/>
            </a:pPr>
            <a:r>
              <a:rPr lang="en-US" sz="1450" b="1" dirty="0">
                <a:solidFill>
                  <a:srgbClr val="1A1A1A"/>
                </a:solidFill>
                <a:latin typeface="Hiragino Sans" pitchFamily="34" charset="0"/>
                <a:ea typeface="Hiragino Sans" pitchFamily="34" charset="-122"/>
                <a:cs typeface="Hiragino Sans" pitchFamily="34" charset="-120"/>
              </a:rPr>
              <a:t>地図(点と線)はある。モデルがない (電気的，グラフ表現)</a:t>
            </a:r>
            <a:endParaRPr lang="en-US" sz="1450" dirty="0"/>
          </a:p>
        </p:txBody>
      </p:sp>
      <p:sp>
        <p:nvSpPr>
          <p:cNvPr id="11" name="テキスト ボックス 10">
            <a:extLst>
              <a:ext uri="{FF2B5EF4-FFF2-40B4-BE49-F238E27FC236}">
                <a16:creationId xmlns:a16="http://schemas.microsoft.com/office/drawing/2014/main" id="{5CD0BC92-711D-F0B3-6E17-569946B10FDF}"/>
              </a:ext>
            </a:extLst>
          </p:cNvPr>
          <p:cNvSpPr txBox="1"/>
          <p:nvPr/>
        </p:nvSpPr>
        <p:spPr>
          <a:xfrm>
            <a:off x="640080" y="4705588"/>
            <a:ext cx="1107996" cy="369332"/>
          </a:xfrm>
          <a:prstGeom prst="rect">
            <a:avLst/>
          </a:prstGeom>
          <a:noFill/>
        </p:spPr>
        <p:txBody>
          <a:bodyPr wrap="none" rtlCol="0">
            <a:spAutoFit/>
          </a:bodyPr>
          <a:lstStyle/>
          <a:p>
            <a:r>
              <a:rPr kumimoji="1" lang="ja-JP" altLang="en-US"/>
              <a:t>福井大学</a:t>
            </a:r>
          </a:p>
        </p:txBody>
      </p:sp>
      <p:sp>
        <p:nvSpPr>
          <p:cNvPr id="12" name="テキスト ボックス 11">
            <a:extLst>
              <a:ext uri="{FF2B5EF4-FFF2-40B4-BE49-F238E27FC236}">
                <a16:creationId xmlns:a16="http://schemas.microsoft.com/office/drawing/2014/main" id="{A87A83F3-81E0-AAAB-828F-29C685F0B3E2}"/>
              </a:ext>
            </a:extLst>
          </p:cNvPr>
          <p:cNvSpPr txBox="1"/>
          <p:nvPr/>
        </p:nvSpPr>
        <p:spPr>
          <a:xfrm>
            <a:off x="640080" y="5117068"/>
            <a:ext cx="646331" cy="369332"/>
          </a:xfrm>
          <a:prstGeom prst="rect">
            <a:avLst/>
          </a:prstGeom>
          <a:noFill/>
        </p:spPr>
        <p:txBody>
          <a:bodyPr wrap="none" rtlCol="0">
            <a:spAutoFit/>
          </a:bodyPr>
          <a:lstStyle/>
          <a:p>
            <a:r>
              <a:rPr kumimoji="1" lang="ja-JP" altLang="en-US"/>
              <a:t>重信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8769C092-F242-CE10-1BC6-692E4C536D98}"/>
              </a:ext>
            </a:extLst>
          </p:cNvPr>
          <p:cNvPicPr>
            <a:picLocks noChangeAspect="1"/>
          </p:cNvPicPr>
          <p:nvPr/>
        </p:nvPicPr>
        <p:blipFill>
          <a:blip r:embed="rId2"/>
          <a:stretch>
            <a:fillRect/>
          </a:stretch>
        </p:blipFill>
        <p:spPr>
          <a:xfrm>
            <a:off x="441989" y="715614"/>
            <a:ext cx="5440651" cy="5426772"/>
          </a:xfrm>
          <a:prstGeom prst="rect">
            <a:avLst/>
          </a:prstGeom>
        </p:spPr>
      </p:pic>
      <p:sp>
        <p:nvSpPr>
          <p:cNvPr id="4" name="Text 2">
            <a:extLst>
              <a:ext uri="{FF2B5EF4-FFF2-40B4-BE49-F238E27FC236}">
                <a16:creationId xmlns:a16="http://schemas.microsoft.com/office/drawing/2014/main" id="{F791C180-BF19-3DE5-2CD9-4B20BB11A732}"/>
              </a:ext>
            </a:extLst>
          </p:cNvPr>
          <p:cNvSpPr/>
          <p:nvPr/>
        </p:nvSpPr>
        <p:spPr>
          <a:xfrm>
            <a:off x="6309362" y="1169440"/>
            <a:ext cx="5279730" cy="1828800"/>
          </a:xfrm>
          <a:prstGeom prst="rect">
            <a:avLst/>
          </a:prstGeom>
          <a:noFill/>
          <a:ln/>
        </p:spPr>
        <p:txBody>
          <a:bodyPr wrap="square" lIns="0" tIns="0" rIns="0" bIns="0" rtlCol="0" anchor="ctr"/>
          <a:lstStyle/>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OSMから、日本全国の</a:t>
            </a:r>
            <a:endParaRPr lang="en-US" sz="3600" dirty="0"/>
          </a:p>
          <a:p>
            <a:pPr marL="0" indent="0">
              <a:lnSpc>
                <a:spcPts val="5200"/>
              </a:lnSpc>
              <a:buNone/>
            </a:pPr>
            <a:r>
              <a:rPr lang="en-US" sz="3600" b="1" dirty="0">
                <a:solidFill>
                  <a:srgbClr val="1A1A1A"/>
                </a:solidFill>
                <a:latin typeface="Hiragino Sans" pitchFamily="34" charset="0"/>
                <a:ea typeface="Hiragino Sans" pitchFamily="34" charset="-122"/>
                <a:cs typeface="Hiragino Sans" pitchFamily="34" charset="-120"/>
              </a:rPr>
              <a:t>送電網モデルを作る</a:t>
            </a:r>
            <a:endParaRPr lang="en-US" sz="3600" dirty="0"/>
          </a:p>
        </p:txBody>
      </p:sp>
    </p:spTree>
    <p:extLst>
      <p:ext uri="{BB962C8B-B14F-4D97-AF65-F5344CB8AC3E}">
        <p14:creationId xmlns:p14="http://schemas.microsoft.com/office/powerpoint/2010/main" val="283959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A4C1245-D460-409C-A8E3-D32C38A47813}"/>
              </a:ext>
            </a:extLst>
          </p:cNvPr>
          <p:cNvSpPr txBox="1"/>
          <p:nvPr/>
        </p:nvSpPr>
        <p:spPr>
          <a:xfrm>
            <a:off x="534256" y="369869"/>
            <a:ext cx="1338828" cy="369332"/>
          </a:xfrm>
          <a:prstGeom prst="rect">
            <a:avLst/>
          </a:prstGeom>
          <a:noFill/>
        </p:spPr>
        <p:txBody>
          <a:bodyPr wrap="none" rtlCol="0">
            <a:spAutoFit/>
          </a:bodyPr>
          <a:lstStyle/>
          <a:p>
            <a:r>
              <a:rPr kumimoji="1" lang="ja-JP" altLang="en-US"/>
              <a:t>研究の動機</a:t>
            </a:r>
          </a:p>
        </p:txBody>
      </p:sp>
      <p:sp>
        <p:nvSpPr>
          <p:cNvPr id="3" name="テキスト ボックス 2">
            <a:extLst>
              <a:ext uri="{FF2B5EF4-FFF2-40B4-BE49-F238E27FC236}">
                <a16:creationId xmlns:a16="http://schemas.microsoft.com/office/drawing/2014/main" id="{4E68568F-0AC4-8306-FF5B-096B9EDF4E18}"/>
              </a:ext>
            </a:extLst>
          </p:cNvPr>
          <p:cNvSpPr txBox="1"/>
          <p:nvPr/>
        </p:nvSpPr>
        <p:spPr>
          <a:xfrm>
            <a:off x="1873084" y="1931542"/>
            <a:ext cx="9160585" cy="3154710"/>
          </a:xfrm>
          <a:prstGeom prst="rect">
            <a:avLst/>
          </a:prstGeom>
          <a:noFill/>
        </p:spPr>
        <p:txBody>
          <a:bodyPr wrap="none" rtlCol="0">
            <a:spAutoFit/>
          </a:bodyPr>
          <a:lstStyle/>
          <a:p>
            <a:r>
              <a:rPr kumimoji="1" lang="en-US" altLang="ja-JP" sz="19900"/>
              <a:t>“Solved”</a:t>
            </a:r>
            <a:endParaRPr kumimoji="1" lang="ja-JP" altLang="en-US" sz="19900"/>
          </a:p>
        </p:txBody>
      </p:sp>
    </p:spTree>
    <p:extLst>
      <p:ext uri="{BB962C8B-B14F-4D97-AF65-F5344CB8AC3E}">
        <p14:creationId xmlns:p14="http://schemas.microsoft.com/office/powerpoint/2010/main" val="2253346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A0D1A"/>
        </a:solidFill>
        <a:effectLst/>
      </p:bgPr>
    </p:bg>
    <p:spTree>
      <p:nvGrpSpPr>
        <p:cNvPr id="1" name=""/>
        <p:cNvGrpSpPr/>
        <p:nvPr/>
      </p:nvGrpSpPr>
      <p:grpSpPr>
        <a:xfrm>
          <a:off x="0" y="0"/>
          <a:ext cx="0" cy="0"/>
          <a:chOff x="0" y="0"/>
          <a:chExt cx="0" cy="0"/>
        </a:xfrm>
      </p:grpSpPr>
      <p:pic>
        <p:nvPicPr>
          <p:cNvPr id="2" name="Image 0" descr="assets/hero_grid.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640080" y="685800"/>
            <a:ext cx="6583680" cy="685800"/>
          </a:xfrm>
          <a:prstGeom prst="rect">
            <a:avLst/>
          </a:prstGeom>
          <a:noFill/>
          <a:ln/>
        </p:spPr>
        <p:txBody>
          <a:bodyPr wrap="square" lIns="0" tIns="0" rIns="0" bIns="0" rtlCol="0" anchor="ctr"/>
          <a:lstStyle/>
          <a:p>
            <a:pPr marL="0" indent="0">
              <a:buNone/>
            </a:pPr>
            <a:r>
              <a:rPr lang="en-US" sz="3400" b="1" dirty="0">
                <a:solidFill>
                  <a:srgbClr val="FFFFFF"/>
                </a:solidFill>
                <a:latin typeface="Hiragino Sans" pitchFamily="34" charset="0"/>
                <a:ea typeface="Hiragino Sans" pitchFamily="34" charset="-122"/>
                <a:cs typeface="Hiragino Sans" pitchFamily="34" charset="-120"/>
              </a:rPr>
              <a:t>出来上がったもの。</a:t>
            </a:r>
            <a:endParaRPr lang="en-US" sz="3400" dirty="0"/>
          </a:p>
        </p:txBody>
      </p:sp>
      <p:sp>
        <p:nvSpPr>
          <p:cNvPr id="4" name="Text 1"/>
          <p:cNvSpPr/>
          <p:nvPr/>
        </p:nvSpPr>
        <p:spPr>
          <a:xfrm>
            <a:off x="658368" y="1508760"/>
            <a:ext cx="6217920" cy="868680"/>
          </a:xfrm>
          <a:prstGeom prst="rect">
            <a:avLst/>
          </a:prstGeom>
          <a:noFill/>
          <a:ln/>
        </p:spPr>
        <p:txBody>
          <a:bodyPr wrap="square" lIns="0" tIns="0" rIns="0" bIns="0" rtlCol="0" anchor="ctr"/>
          <a:lstStyle/>
          <a:p>
            <a:pPr marL="0" indent="0">
              <a:lnSpc>
                <a:spcPts val="2200"/>
              </a:lnSpc>
              <a:buNone/>
            </a:pPr>
            <a:r>
              <a:rPr lang="en-US" sz="1450" dirty="0">
                <a:solidFill>
                  <a:srgbClr val="C8CDD8"/>
                </a:solidFill>
                <a:latin typeface="Hiragino Sans" pitchFamily="34" charset="0"/>
                <a:ea typeface="Hiragino Sans" pitchFamily="34" charset="-122"/>
                <a:cs typeface="Hiragino Sans" pitchFamily="34" charset="-120"/>
              </a:rPr>
              <a:t>OpenStreetMapに描かれた「線」から復元した、日本全国の送電系統。</a:t>
            </a:r>
            <a:endParaRPr lang="en-US" sz="1450" dirty="0"/>
          </a:p>
          <a:p>
            <a:pPr marL="0" indent="0">
              <a:lnSpc>
                <a:spcPts val="2200"/>
              </a:lnSpc>
              <a:buNone/>
            </a:pPr>
            <a:r>
              <a:rPr lang="en-US" sz="1450" dirty="0">
                <a:solidFill>
                  <a:srgbClr val="C8CDD8"/>
                </a:solidFill>
                <a:latin typeface="Hiragino Sans" pitchFamily="34" charset="0"/>
                <a:ea typeface="Hiragino Sans" pitchFamily="34" charset="-122"/>
                <a:cs typeface="Hiragino Sans" pitchFamily="34" charset="-120"/>
              </a:rPr>
              <a:t>電圧階級つき</a:t>
            </a:r>
            <a:r>
              <a:rPr lang="ja-JP" altLang="en-US" sz="1450" dirty="0">
                <a:solidFill>
                  <a:srgbClr val="C8CDD8"/>
                </a:solidFill>
                <a:latin typeface="Hiragino Sans" pitchFamily="34" charset="0"/>
                <a:ea typeface="Hiragino Sans" pitchFamily="34" charset="-122"/>
                <a:cs typeface="Hiragino Sans" pitchFamily="34" charset="-120"/>
              </a:rPr>
              <a:t>　</a:t>
            </a:r>
            <a:r>
              <a:rPr lang="en-US" sz="1450" dirty="0">
                <a:solidFill>
                  <a:srgbClr val="C8CDD8"/>
                </a:solidFill>
                <a:latin typeface="Hiragino Sans" pitchFamily="34" charset="0"/>
                <a:ea typeface="Hiragino Sans" pitchFamily="34" charset="-122"/>
                <a:cs typeface="Hiragino Sans" pitchFamily="34" charset="-120"/>
              </a:rPr>
              <a:t>—</a:t>
            </a:r>
            <a:r>
              <a:rPr lang="ja-JP" altLang="en-US" sz="1450" dirty="0">
                <a:solidFill>
                  <a:srgbClr val="C8CDD8"/>
                </a:solidFill>
                <a:latin typeface="Hiragino Sans" pitchFamily="34" charset="0"/>
                <a:ea typeface="Hiragino Sans" pitchFamily="34" charset="-122"/>
                <a:cs typeface="Hiragino Sans" pitchFamily="34" charset="-120"/>
              </a:rPr>
              <a:t>　</a:t>
            </a:r>
            <a:r>
              <a:rPr lang="en-US" sz="1450" dirty="0">
                <a:solidFill>
                  <a:srgbClr val="C8CDD8"/>
                </a:solidFill>
                <a:latin typeface="Hiragino Sans" pitchFamily="34" charset="0"/>
                <a:ea typeface="Hiragino Sans" pitchFamily="34" charset="-122"/>
                <a:cs typeface="Hiragino Sans" pitchFamily="34" charset="-120"/>
              </a:rPr>
              <a:t> そのままUC・潮流・周波数制御まで解ける。</a:t>
            </a:r>
            <a:endParaRPr lang="en-US" sz="1450" dirty="0"/>
          </a:p>
        </p:txBody>
      </p:sp>
      <p:pic>
        <p:nvPicPr>
          <p:cNvPr id="5" name="Image 1" descr="assets/hero_grid_raw.png"/>
          <p:cNvPicPr>
            <a:picLocks noChangeAspect="1"/>
          </p:cNvPicPr>
          <p:nvPr/>
        </p:nvPicPr>
        <p:blipFill>
          <a:blip r:embed="rId4"/>
          <a:stretch>
            <a:fillRect/>
          </a:stretch>
        </p:blipFill>
        <p:spPr>
          <a:xfrm>
            <a:off x="658368" y="2743200"/>
            <a:ext cx="2743200" cy="1545336"/>
          </a:xfrm>
          <a:prstGeom prst="rect">
            <a:avLst/>
          </a:prstGeom>
        </p:spPr>
      </p:pic>
      <p:sp>
        <p:nvSpPr>
          <p:cNvPr id="6" name="Shape 2"/>
          <p:cNvSpPr/>
          <p:nvPr/>
        </p:nvSpPr>
        <p:spPr>
          <a:xfrm>
            <a:off x="658368" y="2743200"/>
            <a:ext cx="2743200" cy="1545336"/>
          </a:xfrm>
          <a:prstGeom prst="rect">
            <a:avLst/>
          </a:prstGeom>
          <a:ln w="12700">
            <a:solidFill>
              <a:srgbClr val="3A4266"/>
            </a:solidFill>
            <a:prstDash val="solid"/>
          </a:ln>
        </p:spPr>
        <p:txBody>
          <a:bodyPr/>
          <a:lstStyle/>
          <a:p>
            <a:endParaRPr lang="ja-JP" altLang="en-US"/>
          </a:p>
        </p:txBody>
      </p:sp>
      <p:sp>
        <p:nvSpPr>
          <p:cNvPr id="7" name="Text 3"/>
          <p:cNvSpPr/>
          <p:nvPr/>
        </p:nvSpPr>
        <p:spPr>
          <a:xfrm>
            <a:off x="658368" y="4343400"/>
            <a:ext cx="3291840" cy="548640"/>
          </a:xfrm>
          <a:prstGeom prst="rect">
            <a:avLst/>
          </a:prstGeom>
          <a:noFill/>
          <a:ln/>
        </p:spPr>
        <p:txBody>
          <a:bodyPr wrap="square" lIns="0" tIns="0" rIns="0" bIns="0" rtlCol="0" anchor="ctr"/>
          <a:lstStyle/>
          <a:p>
            <a:pPr marL="0" indent="0">
              <a:lnSpc>
                <a:spcPts val="1400"/>
              </a:lnSpc>
              <a:buNone/>
            </a:pPr>
            <a:r>
              <a:rPr lang="en-US" sz="1050" dirty="0">
                <a:solidFill>
                  <a:srgbClr val="8E96B8"/>
                </a:solidFill>
                <a:latin typeface="Hiragino Sans" pitchFamily="34" charset="0"/>
                <a:ea typeface="Hiragino Sans" pitchFamily="34" charset="-122"/>
                <a:cs typeface="Hiragino Sans" pitchFamily="34" charset="-120"/>
              </a:rPr>
              <a:t>素材はこれ — OSMの power=line/cable 40,077本の「ただの線」(同構図・装飾なし)</a:t>
            </a:r>
            <a:endParaRPr lang="en-US" sz="1050" dirty="0"/>
          </a:p>
        </p:txBody>
      </p:sp>
      <p:sp>
        <p:nvSpPr>
          <p:cNvPr id="8" name="Shape 4"/>
          <p:cNvSpPr/>
          <p:nvPr/>
        </p:nvSpPr>
        <p:spPr>
          <a:xfrm>
            <a:off x="3749040" y="2916936"/>
            <a:ext cx="274320" cy="54864"/>
          </a:xfrm>
          <a:prstGeom prst="rect">
            <a:avLst/>
          </a:prstGeom>
          <a:solidFill>
            <a:srgbClr val="FF3B30"/>
          </a:solidFill>
          <a:ln/>
        </p:spPr>
        <p:txBody>
          <a:bodyPr/>
          <a:lstStyle/>
          <a:p>
            <a:endParaRPr lang="ja-JP" altLang="en-US"/>
          </a:p>
        </p:txBody>
      </p:sp>
      <p:sp>
        <p:nvSpPr>
          <p:cNvPr id="9" name="Text 5"/>
          <p:cNvSpPr/>
          <p:nvPr/>
        </p:nvSpPr>
        <p:spPr>
          <a:xfrm>
            <a:off x="4114800" y="285292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500 kV級</a:t>
            </a:r>
            <a:endParaRPr lang="en-US" sz="1000" dirty="0"/>
          </a:p>
        </p:txBody>
      </p:sp>
      <p:sp>
        <p:nvSpPr>
          <p:cNvPr id="10" name="Shape 6"/>
          <p:cNvSpPr/>
          <p:nvPr/>
        </p:nvSpPr>
        <p:spPr>
          <a:xfrm>
            <a:off x="3749040" y="3191256"/>
            <a:ext cx="274320" cy="54864"/>
          </a:xfrm>
          <a:prstGeom prst="rect">
            <a:avLst/>
          </a:prstGeom>
          <a:solidFill>
            <a:srgbClr val="FF9500"/>
          </a:solidFill>
          <a:ln/>
        </p:spPr>
        <p:txBody>
          <a:bodyPr/>
          <a:lstStyle/>
          <a:p>
            <a:endParaRPr lang="ja-JP" altLang="en-US"/>
          </a:p>
        </p:txBody>
      </p:sp>
      <p:sp>
        <p:nvSpPr>
          <p:cNvPr id="11" name="Text 7"/>
          <p:cNvSpPr/>
          <p:nvPr/>
        </p:nvSpPr>
        <p:spPr>
          <a:xfrm>
            <a:off x="4114800" y="312724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275 kV級</a:t>
            </a:r>
            <a:endParaRPr lang="en-US" sz="1000" dirty="0"/>
          </a:p>
        </p:txBody>
      </p:sp>
      <p:sp>
        <p:nvSpPr>
          <p:cNvPr id="12" name="Shape 8"/>
          <p:cNvSpPr/>
          <p:nvPr/>
        </p:nvSpPr>
        <p:spPr>
          <a:xfrm>
            <a:off x="3749040" y="3465576"/>
            <a:ext cx="274320" cy="54864"/>
          </a:xfrm>
          <a:prstGeom prst="rect">
            <a:avLst/>
          </a:prstGeom>
          <a:solidFill>
            <a:srgbClr val="BF5AF2"/>
          </a:solidFill>
          <a:ln/>
        </p:spPr>
        <p:txBody>
          <a:bodyPr/>
          <a:lstStyle/>
          <a:p>
            <a:endParaRPr lang="ja-JP" altLang="en-US"/>
          </a:p>
        </p:txBody>
      </p:sp>
      <p:sp>
        <p:nvSpPr>
          <p:cNvPr id="13" name="Text 9"/>
          <p:cNvSpPr/>
          <p:nvPr/>
        </p:nvSpPr>
        <p:spPr>
          <a:xfrm>
            <a:off x="4114800" y="340156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154/187</a:t>
            </a:r>
            <a:endParaRPr lang="en-US" sz="1000" dirty="0"/>
          </a:p>
        </p:txBody>
      </p:sp>
      <p:sp>
        <p:nvSpPr>
          <p:cNvPr id="14" name="Shape 10"/>
          <p:cNvSpPr/>
          <p:nvPr/>
        </p:nvSpPr>
        <p:spPr>
          <a:xfrm>
            <a:off x="3749040" y="3739896"/>
            <a:ext cx="274320" cy="54864"/>
          </a:xfrm>
          <a:prstGeom prst="rect">
            <a:avLst/>
          </a:prstGeom>
          <a:solidFill>
            <a:srgbClr val="34C759"/>
          </a:solidFill>
          <a:ln/>
        </p:spPr>
        <p:txBody>
          <a:bodyPr/>
          <a:lstStyle/>
          <a:p>
            <a:endParaRPr lang="ja-JP" altLang="en-US"/>
          </a:p>
        </p:txBody>
      </p:sp>
      <p:sp>
        <p:nvSpPr>
          <p:cNvPr id="15" name="Text 11"/>
          <p:cNvSpPr/>
          <p:nvPr/>
        </p:nvSpPr>
        <p:spPr>
          <a:xfrm>
            <a:off x="4114800" y="367588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110 kV級</a:t>
            </a:r>
            <a:endParaRPr lang="en-US" sz="1000" dirty="0"/>
          </a:p>
        </p:txBody>
      </p:sp>
      <p:sp>
        <p:nvSpPr>
          <p:cNvPr id="16" name="Shape 12"/>
          <p:cNvSpPr/>
          <p:nvPr/>
        </p:nvSpPr>
        <p:spPr>
          <a:xfrm>
            <a:off x="3749040" y="4014216"/>
            <a:ext cx="274320" cy="54864"/>
          </a:xfrm>
          <a:prstGeom prst="rect">
            <a:avLst/>
          </a:prstGeom>
          <a:solidFill>
            <a:srgbClr val="32ADE6"/>
          </a:solidFill>
          <a:ln/>
        </p:spPr>
        <p:txBody>
          <a:bodyPr/>
          <a:lstStyle/>
          <a:p>
            <a:endParaRPr lang="ja-JP" altLang="en-US"/>
          </a:p>
        </p:txBody>
      </p:sp>
      <p:sp>
        <p:nvSpPr>
          <p:cNvPr id="17" name="Text 13"/>
          <p:cNvSpPr/>
          <p:nvPr/>
        </p:nvSpPr>
        <p:spPr>
          <a:xfrm>
            <a:off x="4114800" y="3950208"/>
            <a:ext cx="1463040" cy="237744"/>
          </a:xfrm>
          <a:prstGeom prst="rect">
            <a:avLst/>
          </a:prstGeom>
          <a:noFill/>
          <a:ln/>
        </p:spPr>
        <p:txBody>
          <a:bodyPr wrap="square" lIns="0" tIns="0" rIns="0" bIns="0" rtlCol="0" anchor="ctr"/>
          <a:lstStyle/>
          <a:p>
            <a:pPr marL="0" indent="0">
              <a:buNone/>
            </a:pPr>
            <a:r>
              <a:rPr lang="en-US" sz="1000" dirty="0">
                <a:solidFill>
                  <a:srgbClr val="C8CDD8"/>
                </a:solidFill>
                <a:latin typeface="Helvetica Neue" pitchFamily="34" charset="0"/>
                <a:ea typeface="Helvetica Neue" pitchFamily="34" charset="-122"/>
                <a:cs typeface="Helvetica Neue" pitchFamily="34" charset="-120"/>
              </a:rPr>
              <a:t>66/77 kV</a:t>
            </a:r>
            <a:endParaRPr lang="en-US" sz="1000" dirty="0"/>
          </a:p>
        </p:txBody>
      </p:sp>
      <p:sp>
        <p:nvSpPr>
          <p:cNvPr id="18" name="Text 14"/>
          <p:cNvSpPr/>
          <p:nvPr/>
        </p:nvSpPr>
        <p:spPr>
          <a:xfrm>
            <a:off x="2514600" y="6473952"/>
            <a:ext cx="9144000" cy="274320"/>
          </a:xfrm>
          <a:prstGeom prst="rect">
            <a:avLst/>
          </a:prstGeom>
          <a:noFill/>
          <a:ln/>
        </p:spPr>
        <p:txBody>
          <a:bodyPr wrap="square" lIns="0" tIns="0" rIns="0" bIns="0" rtlCol="0" anchor="ctr"/>
          <a:lstStyle/>
          <a:p>
            <a:pPr marL="0" indent="0">
              <a:buNone/>
            </a:pPr>
            <a:r>
              <a:rPr lang="en-US" sz="1000" dirty="0">
                <a:solidFill>
                  <a:srgbClr val="5A648F"/>
                </a:solidFill>
                <a:latin typeface="Hiragino Sans" pitchFamily="34" charset="0"/>
                <a:ea typeface="Hiragino Sans" pitchFamily="34" charset="-122"/>
                <a:cs typeface="Hiragino Sans" pitchFamily="34" charset="-120"/>
              </a:rPr>
              <a:t>built正典 v1.8: 実線形19,895枝 / ノード17,745(うち変電所9,139) — 全要素がOSM実体か出典つき介入に遡れる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1AF606DE-25AE-85F8-B1C8-B8B4083F25E4}"/>
              </a:ext>
            </a:extLst>
          </p:cNvPr>
          <p:cNvPicPr>
            <a:picLocks noChangeAspect="1"/>
          </p:cNvPicPr>
          <p:nvPr/>
        </p:nvPicPr>
        <p:blipFill>
          <a:blip r:embed="rId3"/>
          <a:srcRect l="7292" t="12963" r="58906" b="26852"/>
          <a:stretch>
            <a:fillRect/>
          </a:stretch>
        </p:blipFill>
        <p:spPr>
          <a:xfrm>
            <a:off x="7353300" y="1016000"/>
            <a:ext cx="4076700" cy="4076700"/>
          </a:xfrm>
          <a:prstGeom prst="rect">
            <a:avLst/>
          </a:prstGeom>
        </p:spPr>
      </p:pic>
      <p:pic>
        <p:nvPicPr>
          <p:cNvPr id="8" name="図 7">
            <a:extLst>
              <a:ext uri="{FF2B5EF4-FFF2-40B4-BE49-F238E27FC236}">
                <a16:creationId xmlns:a16="http://schemas.microsoft.com/office/drawing/2014/main" id="{1E35ACE1-FFC6-F6A0-C318-0228A5A2EA30}"/>
              </a:ext>
            </a:extLst>
          </p:cNvPr>
          <p:cNvPicPr>
            <a:picLocks noChangeAspect="1"/>
          </p:cNvPicPr>
          <p:nvPr/>
        </p:nvPicPr>
        <p:blipFill>
          <a:blip r:embed="rId3"/>
          <a:srcRect l="41094" t="12963" r="2083" b="26852"/>
          <a:stretch>
            <a:fillRect/>
          </a:stretch>
        </p:blipFill>
        <p:spPr>
          <a:xfrm>
            <a:off x="508000" y="1016000"/>
            <a:ext cx="6845300" cy="4076700"/>
          </a:xfrm>
          <a:prstGeom prst="rect">
            <a:avLst/>
          </a:prstGeom>
        </p:spPr>
      </p:pic>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日本には、公開のバスレベル系統モデルが無い</a:t>
            </a:r>
            <a:endParaRPr lang="en-US" sz="2100" dirty="0"/>
          </a:p>
        </p:txBody>
      </p:sp>
      <p:sp>
        <p:nvSpPr>
          <p:cNvPr id="17" name="Shape 15"/>
          <p:cNvSpPr/>
          <p:nvPr/>
        </p:nvSpPr>
        <p:spPr>
          <a:xfrm>
            <a:off x="381000" y="5308600"/>
            <a:ext cx="11430000" cy="1092200"/>
          </a:xfrm>
          <a:prstGeom prst="roundRect">
            <a:avLst>
              <a:gd name="adj" fmla="val 5217"/>
            </a:avLst>
          </a:prstGeom>
          <a:solidFill>
            <a:srgbClr val="EDF1F8"/>
          </a:solidFill>
          <a:ln/>
        </p:spPr>
        <p:txBody>
          <a:bodyPr/>
          <a:lstStyle/>
          <a:p>
            <a:endParaRPr lang="ja-JP" altLang="en-US"/>
          </a:p>
        </p:txBody>
      </p:sp>
      <p:sp>
        <p:nvSpPr>
          <p:cNvPr id="18" name="Text 16"/>
          <p:cNvSpPr/>
          <p:nvPr/>
        </p:nvSpPr>
        <p:spPr>
          <a:xfrm>
            <a:off x="685800" y="5308600"/>
            <a:ext cx="10922000" cy="1092200"/>
          </a:xfrm>
          <a:prstGeom prst="rect">
            <a:avLst/>
          </a:prstGeom>
          <a:noFill/>
          <a:ln/>
        </p:spPr>
        <p:txBody>
          <a:bodyPr wrap="square" lIns="0" tIns="0" rIns="0" bIns="0" rtlCol="0" anchor="ctr"/>
          <a:lstStyle/>
          <a:p>
            <a:pPr algn="l">
              <a:lnSpc>
                <a:spcPts val="2400"/>
              </a:lnSpc>
              <a:buNone/>
            </a:pPr>
            <a:r>
              <a:rPr lang="ja-JP" altLang="en-US" sz="1500" b="1" dirty="0">
                <a:solidFill>
                  <a:srgbClr val="1F3864"/>
                </a:solidFill>
                <a:latin typeface="Hiragino Sans"/>
                <a:ea typeface="Hiragino Sans"/>
              </a:rPr>
              <a:t>米国は FERC Form 715</a:t>
            </a:r>
            <a:r>
              <a:rPr lang="ja-JP" altLang="en-US" sz="1500" dirty="0">
                <a:solidFill>
                  <a:srgbClr val="1F3864"/>
                </a:solidFill>
                <a:latin typeface="Hiragino Sans"/>
                <a:ea typeface="Hiragino Sans"/>
              </a:rPr>
              <a:t> でモデル提出が制度化、</a:t>
            </a:r>
            <a:r>
              <a:rPr lang="ja-JP" altLang="en-US" sz="1500" b="1" dirty="0">
                <a:solidFill>
                  <a:srgbClr val="1F3864"/>
                </a:solidFill>
                <a:latin typeface="Hiragino Sans"/>
                <a:ea typeface="Hiragino Sans"/>
              </a:rPr>
              <a:t>欧州は ENTSO-E と PyPSA-Eur </a:t>
            </a:r>
            <a:r>
              <a:rPr lang="ja-JP" altLang="en-US" sz="1500" dirty="0">
                <a:solidFill>
                  <a:srgbClr val="1F3864"/>
                </a:solidFill>
                <a:latin typeface="Hiragino Sans"/>
                <a:ea typeface="Hiragino Sans"/>
              </a:rPr>
              <a:t>で研究利用が定着している。</a:t>
            </a:r>
          </a:p>
          <a:p>
            <a:pPr algn="l">
              <a:lnSpc>
                <a:spcPts val="2400"/>
              </a:lnSpc>
              <a:buNone/>
            </a:pPr>
            <a:r>
              <a:rPr lang="ja-JP" altLang="en-US" sz="1500" dirty="0">
                <a:solidFill>
                  <a:srgbClr val="1F3864"/>
                </a:solidFill>
                <a:latin typeface="Hiragino Sans"/>
                <a:ea typeface="Hiragino Sans"/>
              </a:rPr>
              <a:t>日本は連系線容量と需給計画までが公表範囲で、回路定数やノード需要は事業者内部に留まる。</a:t>
            </a:r>
            <a:endParaRPr lang="en-US" altLang="ja-JP" sz="1500" dirty="0">
              <a:solidFill>
                <a:srgbClr val="1F3864"/>
              </a:solidFill>
              <a:latin typeface="Hiragino Sans"/>
              <a:ea typeface="Hiragino Sans"/>
            </a:endParaRPr>
          </a:p>
          <a:p>
            <a:pPr algn="l">
              <a:lnSpc>
                <a:spcPts val="2400"/>
              </a:lnSpc>
              <a:buNone/>
            </a:pPr>
            <a:r>
              <a:rPr lang="ja-JP" altLang="en-US" sz="1500" b="1" dirty="0">
                <a:solidFill>
                  <a:srgbClr val="C62828"/>
                </a:solidFill>
                <a:latin typeface="Hiragino Sans"/>
                <a:ea typeface="Hiragino Sans"/>
              </a:rPr>
              <a:t>OpenStreetMap には変電所・送電線・発電所が地理として写っているの活用 ― これを全日本系統モデルへ。</a:t>
            </a:r>
          </a:p>
        </p:txBody>
      </p:sp>
      <p:sp>
        <p:nvSpPr>
          <p:cNvPr id="19"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3</a:t>
            </a:r>
            <a:endParaRPr lang="en-US" sz="1000" dirty="0"/>
          </a:p>
        </p:txBody>
      </p:sp>
      <p:sp>
        <p:nvSpPr>
          <p:cNvPr id="510" name="Chip 510"/>
          <p:cNvSpPr/>
          <p:nvPr/>
        </p:nvSpPr>
        <p:spPr>
          <a:xfrm>
            <a:off x="8229600" y="3632200"/>
            <a:ext cx="3581400" cy="1143000"/>
          </a:xfrm>
          <a:prstGeom prst="roundRect">
            <a:avLst>
              <a:gd name="adj" fmla="val 2904"/>
            </a:avLst>
          </a:prstGeom>
          <a:solidFill>
            <a:srgbClr val="FFFFFF"/>
          </a:solidFill>
          <a:ln w="9525">
            <a:solidFill>
              <a:srgbClr val="D4D4DC"/>
            </a:solidFill>
          </a:ln>
        </p:spPr>
        <p:txBody>
          <a:bodyPr wrap="square" lIns="182880" tIns="45720" rIns="91440" bIns="45720" anchor="ctr">
            <a:noAutofit/>
          </a:bodyPr>
          <a:lstStyle/>
          <a:p>
            <a:pPr algn="l">
              <a:lnSpc>
                <a:spcPts val="2400"/>
              </a:lnSpc>
              <a:buNone/>
            </a:pPr>
            <a:r>
              <a:rPr lang="ja-JP" altLang="en-US" sz="1800" b="1" dirty="0">
                <a:solidFill>
                  <a:srgbClr val="1F3864"/>
                </a:solidFill>
                <a:latin typeface="Hiragino Sans"/>
                <a:ea typeface="Hiragino Sans"/>
              </a:rPr>
              <a:t>米国 ｜ 公開</a:t>
            </a:r>
          </a:p>
          <a:p>
            <a:pPr algn="l">
              <a:lnSpc>
                <a:spcPts val="2000"/>
              </a:lnSpc>
              <a:buNone/>
            </a:pPr>
            <a:r>
              <a:rPr lang="ja-JP" altLang="en-US" sz="1400" dirty="0">
                <a:solidFill>
                  <a:srgbClr val="1A1A1A"/>
                </a:solidFill>
                <a:latin typeface="Hiragino Sans"/>
                <a:ea typeface="Hiragino Sans"/>
              </a:rPr>
              <a:t>FERC Form 715 で開示が義務</a:t>
            </a:r>
          </a:p>
          <a:p>
            <a:pPr algn="l">
              <a:lnSpc>
                <a:spcPts val="2000"/>
              </a:lnSpc>
              <a:buNone/>
            </a:pPr>
            <a:r>
              <a:rPr lang="ja-JP" altLang="en-US" sz="1400" dirty="0">
                <a:solidFill>
                  <a:srgbClr val="1A1A1A"/>
                </a:solidFill>
                <a:latin typeface="Hiragino Sans"/>
                <a:ea typeface="Hiragino Sans"/>
              </a:rPr>
              <a:t>バス単位で研究利用が可能</a:t>
            </a:r>
          </a:p>
        </p:txBody>
      </p:sp>
      <p:cxnSp>
        <p:nvCxnSpPr>
          <p:cNvPr id="520" name="Leader 520"/>
          <p:cNvCxnSpPr>
            <a:cxnSpLocks/>
          </p:cNvCxnSpPr>
          <p:nvPr/>
        </p:nvCxnSpPr>
        <p:spPr>
          <a:xfrm>
            <a:off x="9639300" y="2235200"/>
            <a:ext cx="76200" cy="1397000"/>
          </a:xfrm>
          <a:prstGeom prst="line">
            <a:avLst/>
          </a:prstGeom>
          <a:ln w="12700">
            <a:solidFill>
              <a:srgbClr val="1F3864"/>
            </a:solidFill>
          </a:ln>
        </p:spPr>
      </p:cxnSp>
      <p:sp>
        <p:nvSpPr>
          <p:cNvPr id="511" name="Chip 511"/>
          <p:cNvSpPr/>
          <p:nvPr/>
        </p:nvSpPr>
        <p:spPr>
          <a:xfrm>
            <a:off x="508000" y="2946400"/>
            <a:ext cx="3657600" cy="1143000"/>
          </a:xfrm>
          <a:prstGeom prst="roundRect">
            <a:avLst>
              <a:gd name="adj" fmla="val 2904"/>
            </a:avLst>
          </a:prstGeom>
          <a:solidFill>
            <a:srgbClr val="FFFFFF"/>
          </a:solidFill>
          <a:ln w="9525">
            <a:solidFill>
              <a:srgbClr val="D4D4DC"/>
            </a:solidFill>
          </a:ln>
        </p:spPr>
        <p:txBody>
          <a:bodyPr wrap="square" lIns="182880" tIns="45720" rIns="91440" bIns="45720" anchor="ctr">
            <a:noAutofit/>
          </a:bodyPr>
          <a:lstStyle/>
          <a:p>
            <a:pPr algn="l">
              <a:lnSpc>
                <a:spcPts val="2400"/>
              </a:lnSpc>
              <a:buNone/>
            </a:pPr>
            <a:r>
              <a:rPr lang="ja-JP" altLang="en-US" sz="1800" b="1" dirty="0">
                <a:solidFill>
                  <a:srgbClr val="1F3864"/>
                </a:solidFill>
                <a:latin typeface="Hiragino Sans"/>
                <a:ea typeface="Hiragino Sans"/>
              </a:rPr>
              <a:t>欧州（ENTSO-E 圏）｜ 公開</a:t>
            </a:r>
          </a:p>
          <a:p>
            <a:pPr algn="l">
              <a:lnSpc>
                <a:spcPts val="2000"/>
              </a:lnSpc>
              <a:buNone/>
            </a:pPr>
            <a:r>
              <a:rPr lang="ja-JP" altLang="en-US" sz="1400" dirty="0">
                <a:solidFill>
                  <a:srgbClr val="1A1A1A"/>
                </a:solidFill>
                <a:latin typeface="Hiragino Sans"/>
                <a:ea typeface="Hiragino Sans"/>
              </a:rPr>
              <a:t>英国・ノルウェー・スイスも含む</a:t>
            </a:r>
          </a:p>
          <a:p>
            <a:pPr algn="l">
              <a:lnSpc>
                <a:spcPts val="2000"/>
              </a:lnSpc>
              <a:buNone/>
            </a:pPr>
            <a:r>
              <a:rPr lang="ja-JP" altLang="en-US" sz="1400" dirty="0">
                <a:solidFill>
                  <a:srgbClr val="1A1A1A"/>
                </a:solidFill>
                <a:latin typeface="Hiragino Sans"/>
                <a:ea typeface="Hiragino Sans"/>
              </a:rPr>
              <a:t>PyPSA-Eur が全欧モデルを提供</a:t>
            </a:r>
          </a:p>
        </p:txBody>
      </p:sp>
      <p:cxnSp>
        <p:nvCxnSpPr>
          <p:cNvPr id="521" name="Leader 521"/>
          <p:cNvCxnSpPr>
            <a:cxnSpLocks/>
          </p:cNvCxnSpPr>
          <p:nvPr/>
        </p:nvCxnSpPr>
        <p:spPr>
          <a:xfrm>
            <a:off x="1885426" y="1963928"/>
            <a:ext cx="108474" cy="982472"/>
          </a:xfrm>
          <a:prstGeom prst="line">
            <a:avLst/>
          </a:prstGeom>
          <a:ln w="12700">
            <a:solidFill>
              <a:srgbClr val="1F3864"/>
            </a:solidFill>
          </a:ln>
        </p:spPr>
      </p:cxnSp>
      <p:sp>
        <p:nvSpPr>
          <p:cNvPr id="512" name="Chip 512"/>
          <p:cNvSpPr/>
          <p:nvPr/>
        </p:nvSpPr>
        <p:spPr>
          <a:xfrm>
            <a:off x="4368800" y="3048000"/>
            <a:ext cx="3683000" cy="1143000"/>
          </a:xfrm>
          <a:prstGeom prst="roundRect">
            <a:avLst>
              <a:gd name="adj" fmla="val 0"/>
            </a:avLst>
          </a:prstGeom>
          <a:solidFill>
            <a:srgbClr val="FFFFFF"/>
          </a:solidFill>
          <a:ln w="9525">
            <a:solidFill>
              <a:srgbClr val="D4D4DC"/>
            </a:solidFill>
          </a:ln>
        </p:spPr>
        <p:txBody>
          <a:bodyPr wrap="square" lIns="182880" tIns="45720" rIns="91440" bIns="45720" anchor="ctr">
            <a:noAutofit/>
          </a:bodyPr>
          <a:lstStyle/>
          <a:p>
            <a:pPr algn="l">
              <a:lnSpc>
                <a:spcPts val="2400"/>
              </a:lnSpc>
              <a:buNone/>
            </a:pPr>
            <a:r>
              <a:rPr lang="ja-JP" altLang="en-US" sz="1800" b="1" dirty="0">
                <a:solidFill>
                  <a:srgbClr val="C62828"/>
                </a:solidFill>
                <a:latin typeface="Hiragino Sans"/>
                <a:ea typeface="Hiragino Sans"/>
              </a:rPr>
              <a:t>日本 ｜ 非公開</a:t>
            </a:r>
          </a:p>
          <a:p>
            <a:pPr algn="l">
              <a:lnSpc>
                <a:spcPts val="2000"/>
              </a:lnSpc>
              <a:buNone/>
            </a:pPr>
            <a:r>
              <a:rPr lang="ja-JP" altLang="en-US" sz="1400" dirty="0">
                <a:solidFill>
                  <a:srgbClr val="1A1A1A"/>
                </a:solidFill>
                <a:latin typeface="Hiragino Sans"/>
                <a:ea typeface="Hiragino Sans"/>
              </a:rPr>
              <a:t>公表は連系線容量と需給計画まで</a:t>
            </a:r>
          </a:p>
          <a:p>
            <a:pPr algn="l">
              <a:lnSpc>
                <a:spcPts val="2000"/>
              </a:lnSpc>
              <a:buNone/>
            </a:pPr>
            <a:r>
              <a:rPr lang="ja-JP" altLang="en-US" sz="1400" dirty="0">
                <a:solidFill>
                  <a:srgbClr val="1A1A1A"/>
                </a:solidFill>
                <a:latin typeface="Hiragino Sans"/>
                <a:ea typeface="Hiragino Sans"/>
              </a:rPr>
              <a:t>回路定数・ノード需要は非公開</a:t>
            </a:r>
          </a:p>
        </p:txBody>
      </p:sp>
      <p:cxnSp>
        <p:nvCxnSpPr>
          <p:cNvPr id="522" name="Leader 522"/>
          <p:cNvCxnSpPr>
            <a:cxnSpLocks/>
          </p:cNvCxnSpPr>
          <p:nvPr/>
        </p:nvCxnSpPr>
        <p:spPr>
          <a:xfrm flipH="1">
            <a:off x="5943600" y="2184400"/>
            <a:ext cx="31750" cy="863600"/>
          </a:xfrm>
          <a:prstGeom prst="line">
            <a:avLst/>
          </a:prstGeom>
          <a:ln w="12700">
            <a:solidFill>
              <a:srgbClr val="C62828"/>
            </a:solidFill>
          </a:ln>
        </p:spPr>
      </p:cxnSp>
      <p:sp>
        <p:nvSpPr>
          <p:cNvPr id="560" name="CardBar 510"/>
          <p:cNvSpPr/>
          <p:nvPr/>
        </p:nvSpPr>
        <p:spPr>
          <a:xfrm>
            <a:off x="8229600" y="3632200"/>
            <a:ext cx="88900" cy="1143000"/>
          </a:xfrm>
          <a:prstGeom prst="rect">
            <a:avLst/>
          </a:prstGeom>
          <a:solidFill>
            <a:srgbClr val="1F3864"/>
          </a:solidFill>
          <a:ln>
            <a:noFill/>
          </a:ln>
        </p:spPr>
        <p:txBody>
          <a:bodyPr/>
          <a:lstStyle/>
          <a:p>
            <a:endParaRPr/>
          </a:p>
        </p:txBody>
      </p:sp>
      <p:sp>
        <p:nvSpPr>
          <p:cNvPr id="561" name="CardBar 511"/>
          <p:cNvSpPr/>
          <p:nvPr/>
        </p:nvSpPr>
        <p:spPr>
          <a:xfrm>
            <a:off x="508000" y="2946400"/>
            <a:ext cx="88900" cy="1143000"/>
          </a:xfrm>
          <a:prstGeom prst="rect">
            <a:avLst/>
          </a:prstGeom>
          <a:solidFill>
            <a:srgbClr val="1F3864"/>
          </a:solidFill>
          <a:ln>
            <a:noFill/>
          </a:ln>
        </p:spPr>
        <p:txBody>
          <a:bodyPr/>
          <a:lstStyle/>
          <a:p>
            <a:endParaRPr/>
          </a:p>
        </p:txBody>
      </p:sp>
      <p:sp>
        <p:nvSpPr>
          <p:cNvPr id="562" name="CardBar 512"/>
          <p:cNvSpPr/>
          <p:nvPr/>
        </p:nvSpPr>
        <p:spPr>
          <a:xfrm>
            <a:off x="4368800" y="3048000"/>
            <a:ext cx="88900" cy="1143000"/>
          </a:xfrm>
          <a:prstGeom prst="rect">
            <a:avLst/>
          </a:prstGeom>
          <a:solidFill>
            <a:srgbClr val="C62828"/>
          </a:solidFill>
          <a:ln>
            <a:noFill/>
          </a:ln>
        </p:spPr>
        <p:txBody>
          <a:bodyPr/>
          <a:lstStyle/>
          <a:p>
            <a:endParaRPr/>
          </a:p>
        </p:txBody>
      </p:sp>
      <p:sp>
        <p:nvSpPr>
          <p:cNvPr id="5" name="テキスト ボックス 4">
            <a:extLst>
              <a:ext uri="{FF2B5EF4-FFF2-40B4-BE49-F238E27FC236}">
                <a16:creationId xmlns:a16="http://schemas.microsoft.com/office/drawing/2014/main" id="{75F724E1-8C5B-2D45-88FD-FB6894654359}"/>
              </a:ext>
            </a:extLst>
          </p:cNvPr>
          <p:cNvSpPr txBox="1"/>
          <p:nvPr/>
        </p:nvSpPr>
        <p:spPr>
          <a:xfrm>
            <a:off x="508000" y="5034699"/>
            <a:ext cx="5842000" cy="203200"/>
          </a:xfrm>
          <a:prstGeom prst="rect">
            <a:avLst/>
          </a:prstGeom>
          <a:noFill/>
        </p:spPr>
        <p:txBody>
          <a:bodyPr vertOverflow="overflow" vert="horz" wrap="none" rtlCol="0" anchor="t">
            <a:noAutofit/>
          </a:bodyPr>
          <a:lstStyle/>
          <a:p>
            <a:pPr algn="l"/>
            <a:r>
              <a:rPr lang="ja-JP" altLang="en-US" sz="1400">
                <a:solidFill>
                  <a:srgbClr val="3A3A44"/>
                </a:solidFill>
                <a:latin typeface="Hiragino Sans"/>
                <a:ea typeface="Hiragino Sans"/>
              </a:rPr>
              <a:t>淡色＝</a:t>
            </a:r>
            <a:r>
              <a:rPr lang="en" altLang="ja-JP" sz="1400">
                <a:solidFill>
                  <a:srgbClr val="3A3A44"/>
                </a:solidFill>
                <a:latin typeface="Hiragino Sans"/>
                <a:ea typeface="Hiragino Sans"/>
              </a:rPr>
              <a:t>ENTSO-E </a:t>
            </a:r>
            <a:r>
              <a:rPr lang="ja-JP" altLang="en-US" sz="1400">
                <a:solidFill>
                  <a:srgbClr val="3A3A44"/>
                </a:solidFill>
                <a:latin typeface="Hiragino Sans"/>
                <a:ea typeface="Hiragino Sans"/>
              </a:rPr>
              <a:t>オブザーバー国　｜　地図</a:t>
            </a:r>
            <a:r>
              <a:rPr lang="en-US" altLang="ja-JP" sz="1400">
                <a:solidFill>
                  <a:srgbClr val="3A3A44"/>
                </a:solidFill>
                <a:latin typeface="Hiragino Sans"/>
                <a:ea typeface="Hiragino Sans"/>
              </a:rPr>
              <a:t>: </a:t>
            </a:r>
            <a:r>
              <a:rPr lang="en" altLang="ja-JP" sz="1400">
                <a:solidFill>
                  <a:srgbClr val="3A3A44"/>
                </a:solidFill>
                <a:latin typeface="Hiragino Sans"/>
                <a:ea typeface="Hiragino Sans"/>
              </a:rPr>
              <a:t>Bing / OpenStreetMap </a:t>
            </a:r>
            <a:r>
              <a:rPr lang="ja-JP" altLang="en-US" sz="1400">
                <a:solidFill>
                  <a:srgbClr val="3A3A44"/>
                </a:solidFill>
                <a:latin typeface="Hiragino Sans"/>
                <a:ea typeface="Hiragino Sans"/>
              </a:rPr>
              <a:t>他</a:t>
            </a:r>
          </a:p>
        </p:txBody>
      </p:sp>
      <p:pic>
        <p:nvPicPr>
          <p:cNvPr id="565" name="Graphic 565" descr="米国のピン"/>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5000" y="1854200"/>
            <a:ext cx="254000" cy="330200"/>
          </a:xfrm>
          <a:prstGeom prst="rect">
            <a:avLst/>
          </a:prstGeom>
        </p:spPr>
      </p:pic>
      <p:pic>
        <p:nvPicPr>
          <p:cNvPr id="564" name="Graphic 564" descr="欧州のピン"/>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726" y="1608328"/>
            <a:ext cx="279400" cy="355600"/>
          </a:xfrm>
          <a:prstGeom prst="rect">
            <a:avLst/>
          </a:prstGeom>
        </p:spPr>
      </p:pic>
      <p:sp>
        <p:nvSpPr>
          <p:cNvPr id="12" name="Graphic 563" descr="日本のピン"/>
          <p:cNvSpPr/>
          <p:nvPr/>
        </p:nvSpPr>
        <p:spPr>
          <a:xfrm>
            <a:off x="5914431" y="1932517"/>
            <a:ext cx="121838" cy="251883"/>
          </a:xfrm>
          <a:custGeom>
            <a:avLst/>
            <a:gdLst>
              <a:gd name="csX0" fmla="*/ 60919 w 121838"/>
              <a:gd name="csY0" fmla="*/ 111125 h 251883"/>
              <a:gd name="csX1" fmla="*/ 34726 w 121838"/>
              <a:gd name="csY1" fmla="*/ 77788 h 251883"/>
              <a:gd name="csX2" fmla="*/ 60919 w 121838"/>
              <a:gd name="csY2" fmla="*/ 44450 h 251883"/>
              <a:gd name="csX3" fmla="*/ 87113 w 121838"/>
              <a:gd name="csY3" fmla="*/ 77788 h 251883"/>
              <a:gd name="csX4" fmla="*/ 60919 w 121838"/>
              <a:gd name="csY4" fmla="*/ 111125 h 251883"/>
              <a:gd name="csX5" fmla="*/ 60919 w 121838"/>
              <a:gd name="csY5" fmla="*/ 0 h 251883"/>
              <a:gd name="csX6" fmla="*/ 10569 w 121838"/>
              <a:gd name="csY6" fmla="*/ 34078 h 251883"/>
              <a:gd name="csX7" fmla="*/ 4166 w 121838"/>
              <a:gd name="csY7" fmla="*/ 106310 h 251883"/>
              <a:gd name="csX8" fmla="*/ 31815 w 121838"/>
              <a:gd name="csY8" fmla="*/ 184097 h 251883"/>
              <a:gd name="csX9" fmla="*/ 55681 w 121838"/>
              <a:gd name="csY9" fmla="*/ 247809 h 251883"/>
              <a:gd name="csX10" fmla="*/ 60919 w 121838"/>
              <a:gd name="csY10" fmla="*/ 251883 h 251883"/>
              <a:gd name="csX11" fmla="*/ 66158 w 121838"/>
              <a:gd name="csY11" fmla="*/ 247809 h 251883"/>
              <a:gd name="csX12" fmla="*/ 90024 w 121838"/>
              <a:gd name="csY12" fmla="*/ 184097 h 251883"/>
              <a:gd name="csX13" fmla="*/ 117673 w 121838"/>
              <a:gd name="csY13" fmla="*/ 106310 h 251883"/>
              <a:gd name="csX14" fmla="*/ 111270 w 121838"/>
              <a:gd name="csY14" fmla="*/ 34078 h 251883"/>
              <a:gd name="csX15" fmla="*/ 60919 w 121838"/>
              <a:gd name="csY15" fmla="*/ 0 h 25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1838" h="251883">
                <a:moveTo>
                  <a:pt x="60919" y="111125"/>
                </a:moveTo>
                <a:cubicBezTo>
                  <a:pt x="46367" y="111125"/>
                  <a:pt x="34726" y="96308"/>
                  <a:pt x="34726" y="77788"/>
                </a:cubicBezTo>
                <a:cubicBezTo>
                  <a:pt x="34726" y="59267"/>
                  <a:pt x="46367" y="44450"/>
                  <a:pt x="60919" y="44450"/>
                </a:cubicBezTo>
                <a:cubicBezTo>
                  <a:pt x="75472" y="44450"/>
                  <a:pt x="87113" y="59267"/>
                  <a:pt x="87113" y="77788"/>
                </a:cubicBezTo>
                <a:cubicBezTo>
                  <a:pt x="87113" y="96308"/>
                  <a:pt x="75472" y="111125"/>
                  <a:pt x="60919" y="111125"/>
                </a:cubicBezTo>
                <a:close/>
                <a:moveTo>
                  <a:pt x="60919" y="0"/>
                </a:moveTo>
                <a:cubicBezTo>
                  <a:pt x="40838" y="0"/>
                  <a:pt x="21920" y="12594"/>
                  <a:pt x="10569" y="34078"/>
                </a:cubicBezTo>
                <a:cubicBezTo>
                  <a:pt x="-781" y="55192"/>
                  <a:pt x="-3110" y="82233"/>
                  <a:pt x="4166" y="106310"/>
                </a:cubicBezTo>
                <a:lnTo>
                  <a:pt x="31815" y="184097"/>
                </a:lnTo>
                <a:lnTo>
                  <a:pt x="55681" y="247809"/>
                </a:lnTo>
                <a:cubicBezTo>
                  <a:pt x="56554" y="250402"/>
                  <a:pt x="58591" y="251883"/>
                  <a:pt x="60919" y="251883"/>
                </a:cubicBezTo>
                <a:cubicBezTo>
                  <a:pt x="63248" y="251883"/>
                  <a:pt x="65285" y="250402"/>
                  <a:pt x="66158" y="247809"/>
                </a:cubicBezTo>
                <a:lnTo>
                  <a:pt x="90024" y="184097"/>
                </a:lnTo>
                <a:lnTo>
                  <a:pt x="117673" y="106310"/>
                </a:lnTo>
                <a:cubicBezTo>
                  <a:pt x="124949" y="82233"/>
                  <a:pt x="122620" y="55192"/>
                  <a:pt x="111270" y="34078"/>
                </a:cubicBezTo>
                <a:cubicBezTo>
                  <a:pt x="99919" y="12594"/>
                  <a:pt x="81001" y="0"/>
                  <a:pt x="60919" y="0"/>
                </a:cubicBezTo>
                <a:close/>
              </a:path>
            </a:pathLst>
          </a:custGeom>
          <a:solidFill>
            <a:schemeClr val="accent2"/>
          </a:solidFill>
          <a:ln w="2877" cap="flat">
            <a:noFill/>
            <a:prstDash val="solid"/>
            <a:miter/>
          </a:ln>
        </p:spPr>
        <p:txBody>
          <a:bodyPr/>
          <a:lstStyle/>
          <a:p>
            <a:endParaRPr lang="ja-JP" altLang="en-US"/>
          </a:p>
        </p:txBody>
      </p:sp>
      <p:pic>
        <p:nvPicPr>
          <p:cNvPr id="14" name="図 13">
            <a:extLst>
              <a:ext uri="{FF2B5EF4-FFF2-40B4-BE49-F238E27FC236}">
                <a16:creationId xmlns:a16="http://schemas.microsoft.com/office/drawing/2014/main" id="{7CCBDD6F-F135-FD9D-8FCA-6961BB5C37C6}"/>
              </a:ext>
            </a:extLst>
          </p:cNvPr>
          <p:cNvPicPr>
            <a:picLocks noChangeAspect="1"/>
          </p:cNvPicPr>
          <p:nvPr/>
        </p:nvPicPr>
        <p:blipFill rotWithShape="1">
          <a:blip r:embed="rId5"/>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2188090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誰が何を持っていて、何を持っていないか</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研究に使うための4条件で並べた</a:t>
            </a:r>
            <a:endParaRPr lang="en-US" sz="1200" dirty="0"/>
          </a:p>
        </p:txBody>
      </p:sp>
      <p:sp>
        <p:nvSpPr>
          <p:cNvPr id="62" name="Text 60"/>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3" name="Text 61"/>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64" name="Text 62"/>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graphicFrame>
        <p:nvGraphicFramePr>
          <p:cNvPr id="7" name="表 6">
            <a:extLst>
              <a:ext uri="{FF2B5EF4-FFF2-40B4-BE49-F238E27FC236}">
                <a16:creationId xmlns:a16="http://schemas.microsoft.com/office/drawing/2014/main" id="{78A7665A-3975-BD4C-9BBC-3A2A21600064}"/>
              </a:ext>
            </a:extLst>
          </p:cNvPr>
          <p:cNvGraphicFramePr>
            <a:graphicFrameLocks noGrp="1"/>
          </p:cNvGraphicFramePr>
          <p:nvPr>
            <p:extLst>
              <p:ext uri="{D42A27DB-BD31-4B8C-83A1-F6EECF244321}">
                <p14:modId xmlns:p14="http://schemas.microsoft.com/office/powerpoint/2010/main" val="426653746"/>
              </p:ext>
            </p:extLst>
          </p:nvPr>
        </p:nvGraphicFramePr>
        <p:xfrm>
          <a:off x="622300" y="1320800"/>
          <a:ext cx="10972800" cy="35763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764413663"/>
                    </a:ext>
                  </a:extLst>
                </a:gridCol>
                <a:gridCol w="2921000">
                  <a:extLst>
                    <a:ext uri="{9D8B030D-6E8A-4147-A177-3AD203B41FA5}">
                      <a16:colId xmlns:a16="http://schemas.microsoft.com/office/drawing/2014/main" val="996971657"/>
                    </a:ext>
                  </a:extLst>
                </a:gridCol>
                <a:gridCol w="1397000">
                  <a:extLst>
                    <a:ext uri="{9D8B030D-6E8A-4147-A177-3AD203B41FA5}">
                      <a16:colId xmlns:a16="http://schemas.microsoft.com/office/drawing/2014/main" val="564579213"/>
                    </a:ext>
                  </a:extLst>
                </a:gridCol>
                <a:gridCol w="1333500">
                  <a:extLst>
                    <a:ext uri="{9D8B030D-6E8A-4147-A177-3AD203B41FA5}">
                      <a16:colId xmlns:a16="http://schemas.microsoft.com/office/drawing/2014/main" val="3125700128"/>
                    </a:ext>
                  </a:extLst>
                </a:gridCol>
                <a:gridCol w="1397000">
                  <a:extLst>
                    <a:ext uri="{9D8B030D-6E8A-4147-A177-3AD203B41FA5}">
                      <a16:colId xmlns:a16="http://schemas.microsoft.com/office/drawing/2014/main" val="2981493110"/>
                    </a:ext>
                  </a:extLst>
                </a:gridCol>
                <a:gridCol w="1257300">
                  <a:extLst>
                    <a:ext uri="{9D8B030D-6E8A-4147-A177-3AD203B41FA5}">
                      <a16:colId xmlns:a16="http://schemas.microsoft.com/office/drawing/2014/main" val="340529951"/>
                    </a:ext>
                  </a:extLst>
                </a:gridCol>
              </a:tblGrid>
              <a:tr h="558800">
                <a:tc>
                  <a:txBody>
                    <a:bodyPr/>
                    <a:lstStyle/>
                    <a:p>
                      <a:pPr algn="l"/>
                      <a:r>
                        <a:rPr lang="ja-JP" altLang="en-US" sz="1300" b="1">
                          <a:solidFill>
                            <a:srgbClr val="1F3864"/>
                          </a:solidFill>
                        </a:rPr>
                        <a:t>データセット（対象地域）</a:t>
                      </a:r>
                    </a:p>
                  </a:txBody>
                  <a:tcPr anchor="ctr">
                    <a:solidFill>
                      <a:srgbClr val="F2F5FB"/>
                    </a:solidFill>
                  </a:tcPr>
                </a:tc>
                <a:tc>
                  <a:txBody>
                    <a:bodyPr/>
                    <a:lstStyle/>
                    <a:p>
                      <a:pPr algn="l"/>
                      <a:r>
                        <a:rPr lang="ja-JP" altLang="en-US" sz="1300" b="1">
                          <a:solidFill>
                            <a:srgbClr val="1F3864"/>
                          </a:solidFill>
                        </a:rPr>
                        <a:t>規模</a:t>
                      </a:r>
                    </a:p>
                  </a:txBody>
                  <a:tcPr anchor="ctr">
                    <a:solidFill>
                      <a:srgbClr val="F2F5FB"/>
                    </a:solidFill>
                  </a:tcPr>
                </a:tc>
                <a:tc>
                  <a:txBody>
                    <a:bodyPr/>
                    <a:lstStyle/>
                    <a:p>
                      <a:pPr algn="ctr"/>
                      <a:r>
                        <a:rPr lang="ja-JP" altLang="en-US" sz="1300" b="1">
                          <a:solidFill>
                            <a:srgbClr val="1F3864"/>
                          </a:solidFill>
                        </a:rPr>
                        <a:t>地図から
つながり取得</a:t>
                      </a:r>
                    </a:p>
                  </a:txBody>
                  <a:tcPr anchor="ctr">
                    <a:solidFill>
                      <a:srgbClr val="F2F5FB"/>
                    </a:solidFill>
                  </a:tcPr>
                </a:tc>
                <a:tc>
                  <a:txBody>
                    <a:bodyPr/>
                    <a:lstStyle/>
                    <a:p>
                      <a:pPr algn="ctr"/>
                      <a:r>
                        <a:rPr lang="ja-JP" altLang="en-US" sz="1300" b="1">
                          <a:solidFill>
                            <a:srgbClr val="1F3864"/>
                          </a:solidFill>
                        </a:rPr>
                        <a:t>全国規模を
カバー</a:t>
                      </a:r>
                    </a:p>
                  </a:txBody>
                  <a:tcPr anchor="ctr">
                    <a:solidFill>
                      <a:srgbClr val="F2F5FB"/>
                    </a:solidFill>
                  </a:tcPr>
                </a:tc>
                <a:tc>
                  <a:txBody>
                    <a:bodyPr/>
                    <a:lstStyle/>
                    <a:p>
                      <a:pPr algn="ctr"/>
                      <a:r>
                        <a:rPr lang="ja-JP" altLang="en-US" sz="1300" b="1">
                          <a:solidFill>
                            <a:srgbClr val="1F3864"/>
                          </a:solidFill>
                        </a:rPr>
                        <a:t>国際標準形式
（CIM）で出力</a:t>
                      </a:r>
                    </a:p>
                  </a:txBody>
                  <a:tcPr anchor="ctr">
                    <a:solidFill>
                      <a:srgbClr val="F2F5FB"/>
                    </a:solidFill>
                  </a:tcPr>
                </a:tc>
                <a:tc>
                  <a:txBody>
                    <a:bodyPr/>
                    <a:lstStyle/>
                    <a:p>
                      <a:pPr algn="ctr"/>
                      <a:r>
                        <a:rPr lang="ja-JP" altLang="en-US" sz="1300" b="1">
                          <a:solidFill>
                            <a:srgbClr val="1F3864"/>
                          </a:solidFill>
                        </a:rPr>
                        <a:t>実測の潮流
と照合</a:t>
                      </a:r>
                    </a:p>
                  </a:txBody>
                  <a:tcPr anchor="ctr">
                    <a:solidFill>
                      <a:srgbClr val="F2F5FB"/>
                    </a:solidFill>
                  </a:tcPr>
                </a:tc>
                <a:extLst>
                  <a:ext uri="{0D108BD9-81ED-4DB2-BD59-A6C34878D82A}">
                    <a16:rowId xmlns:a16="http://schemas.microsoft.com/office/drawing/2014/main" val="2301416022"/>
                  </a:ext>
                </a:extLst>
              </a:tr>
              <a:tr h="330200">
                <a:tc>
                  <a:txBody>
                    <a:bodyPr/>
                    <a:lstStyle/>
                    <a:p>
                      <a:pPr algn="l"/>
                      <a:r>
                        <a:rPr lang="ja-JP" altLang="en-US" sz="1500" b="0">
                          <a:solidFill>
                            <a:srgbClr val="1A1A1A"/>
                          </a:solidFill>
                        </a:rPr>
                        <a:t>PyPSA-Eur（欧州）</a:t>
                      </a:r>
                    </a:p>
                  </a:txBody>
                  <a:tcPr anchor="ctr">
                    <a:solidFill>
                      <a:srgbClr val="FFFFFF"/>
                    </a:solidFill>
                  </a:tcPr>
                </a:tc>
                <a:tc>
                  <a:txBody>
                    <a:bodyPr/>
                    <a:lstStyle/>
                    <a:p>
                      <a:pPr algn="l"/>
                      <a:r>
                        <a:rPr lang="ja-JP" altLang="en-US" sz="1400" b="0">
                          <a:solidFill>
                            <a:srgbClr val="404040"/>
                          </a:solidFill>
                        </a:rPr>
                        <a:t>欧州 35 カ国</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tc>
                  <a:txBody>
                    <a:bodyPr/>
                    <a:lstStyle/>
                    <a:p>
                      <a:pPr algn="ctr"/>
                      <a:r>
                        <a:rPr lang="ja-JP" altLang="en-US" sz="1600" b="1">
                          <a:solidFill>
                            <a:srgbClr val="6E7B90"/>
                          </a:solidFill>
                        </a:rPr>
                        <a:t>△</a:t>
                      </a:r>
                    </a:p>
                  </a:txBody>
                  <a:tcPr anchor="ctr">
                    <a:solidFill>
                      <a:srgbClr val="FFFFFF"/>
                    </a:solidFill>
                  </a:tcPr>
                </a:tc>
                <a:extLst>
                  <a:ext uri="{0D108BD9-81ED-4DB2-BD59-A6C34878D82A}">
                    <a16:rowId xmlns:a16="http://schemas.microsoft.com/office/drawing/2014/main" val="3431301661"/>
                  </a:ext>
                </a:extLst>
              </a:tr>
              <a:tr h="330200">
                <a:tc>
                  <a:txBody>
                    <a:bodyPr/>
                    <a:lstStyle/>
                    <a:p>
                      <a:pPr algn="l"/>
                      <a:r>
                        <a:rPr lang="ja-JP" altLang="en-US" sz="1500" b="0">
                          <a:solidFill>
                            <a:srgbClr val="1A1A1A"/>
                          </a:solidFill>
                        </a:rPr>
                        <a:t>SciGRID（ドイツ）</a:t>
                      </a:r>
                    </a:p>
                  </a:txBody>
                  <a:tcPr anchor="ctr">
                    <a:solidFill>
                      <a:srgbClr val="FAFBFD"/>
                    </a:solidFill>
                  </a:tcPr>
                </a:tc>
                <a:tc>
                  <a:txBody>
                    <a:bodyPr/>
                    <a:lstStyle/>
                    <a:p>
                      <a:pPr algn="l"/>
                      <a:r>
                        <a:rPr lang="ja-JP" altLang="en-US" sz="1400" b="0">
                          <a:solidFill>
                            <a:srgbClr val="404040"/>
                          </a:solidFill>
                        </a:rPr>
                        <a:t>ドイツ全国（380/220kV）</a:t>
                      </a:r>
                    </a:p>
                  </a:txBody>
                  <a:tcPr anchor="ctr">
                    <a:solidFill>
                      <a:srgbClr val="FAFBFD"/>
                    </a:solidFill>
                  </a:tcPr>
                </a:tc>
                <a:tc>
                  <a:txBody>
                    <a:bodyPr/>
                    <a:lstStyle/>
                    <a:p>
                      <a:pPr algn="ctr"/>
                      <a:r>
                        <a:rPr lang="ja-JP" altLang="en-US" sz="1600" b="1">
                          <a:solidFill>
                            <a:srgbClr val="1F3864"/>
                          </a:solidFill>
                        </a:rPr>
                        <a:t>●</a:t>
                      </a:r>
                    </a:p>
                  </a:txBody>
                  <a:tcPr anchor="ctr">
                    <a:solidFill>
                      <a:srgbClr val="FAFBFD"/>
                    </a:solidFill>
                  </a:tcPr>
                </a:tc>
                <a:tc>
                  <a:txBody>
                    <a:bodyPr/>
                    <a:lstStyle/>
                    <a:p>
                      <a:pPr algn="ctr"/>
                      <a:r>
                        <a:rPr lang="ja-JP" altLang="en-US" sz="1600" b="1">
                          <a:solidFill>
                            <a:srgbClr val="1F3864"/>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extLst>
                  <a:ext uri="{0D108BD9-81ED-4DB2-BD59-A6C34878D82A}">
                    <a16:rowId xmlns:a16="http://schemas.microsoft.com/office/drawing/2014/main" val="3477135013"/>
                  </a:ext>
                </a:extLst>
              </a:tr>
              <a:tr h="330200">
                <a:tc>
                  <a:txBody>
                    <a:bodyPr/>
                    <a:lstStyle/>
                    <a:p>
                      <a:pPr algn="l"/>
                      <a:r>
                        <a:rPr lang="ja-JP" altLang="en-US" sz="1500" b="0">
                          <a:solidFill>
                            <a:srgbClr val="1A1A1A"/>
                          </a:solidFill>
                        </a:rPr>
                        <a:t>osmTGmod / eGo（ドイツ）</a:t>
                      </a:r>
                    </a:p>
                  </a:txBody>
                  <a:tcPr anchor="ctr">
                    <a:solidFill>
                      <a:srgbClr val="FFFFFF"/>
                    </a:solidFill>
                  </a:tcPr>
                </a:tc>
                <a:tc>
                  <a:txBody>
                    <a:bodyPr/>
                    <a:lstStyle/>
                    <a:p>
                      <a:pPr algn="l"/>
                      <a:r>
                        <a:rPr lang="ja-JP" altLang="en-US" sz="1400" b="0">
                          <a:solidFill>
                            <a:srgbClr val="404040"/>
                          </a:solidFill>
                        </a:rPr>
                        <a:t>ドイツ全国（EHV/HV）</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tc>
                  <a:txBody>
                    <a:bodyPr/>
                    <a:lstStyle/>
                    <a:p>
                      <a:pPr algn="ctr"/>
                      <a:r>
                        <a:rPr lang="ja-JP" altLang="en-US" sz="1600" b="1">
                          <a:solidFill>
                            <a:srgbClr val="6E7B90"/>
                          </a:solidFill>
                        </a:rPr>
                        <a:t>△</a:t>
                      </a:r>
                    </a:p>
                  </a:txBody>
                  <a:tcPr anchor="ctr">
                    <a:solidFill>
                      <a:srgbClr val="FFFFFF"/>
                    </a:solidFill>
                  </a:tcPr>
                </a:tc>
                <a:extLst>
                  <a:ext uri="{0D108BD9-81ED-4DB2-BD59-A6C34878D82A}">
                    <a16:rowId xmlns:a16="http://schemas.microsoft.com/office/drawing/2014/main" val="26989767"/>
                  </a:ext>
                </a:extLst>
              </a:tr>
              <a:tr h="330200">
                <a:tc>
                  <a:txBody>
                    <a:bodyPr/>
                    <a:lstStyle/>
                    <a:p>
                      <a:pPr algn="l"/>
                      <a:r>
                        <a:rPr lang="ja-JP" altLang="en-US" sz="1500" b="0">
                          <a:solidFill>
                            <a:srgbClr val="1A1A1A"/>
                          </a:solidFill>
                        </a:rPr>
                        <a:t>GridKit（欧州）</a:t>
                      </a:r>
                    </a:p>
                  </a:txBody>
                  <a:tcPr anchor="ctr">
                    <a:solidFill>
                      <a:srgbClr val="FAFBFD"/>
                    </a:solidFill>
                  </a:tcPr>
                </a:tc>
                <a:tc>
                  <a:txBody>
                    <a:bodyPr/>
                    <a:lstStyle/>
                    <a:p>
                      <a:pPr algn="l"/>
                      <a:r>
                        <a:rPr lang="ja-JP" altLang="en-US" sz="1400" b="0">
                          <a:solidFill>
                            <a:srgbClr val="404040"/>
                          </a:solidFill>
                        </a:rPr>
                        <a:t>欧州（ENTSO-E 系統図）</a:t>
                      </a:r>
                    </a:p>
                  </a:txBody>
                  <a:tcPr anchor="ctr">
                    <a:solidFill>
                      <a:srgbClr val="FAFBFD"/>
                    </a:solidFill>
                  </a:tcPr>
                </a:tc>
                <a:tc>
                  <a:txBody>
                    <a:bodyPr/>
                    <a:lstStyle/>
                    <a:p>
                      <a:pPr algn="ctr"/>
                      <a:r>
                        <a:rPr lang="ja-JP" altLang="en-US" sz="1600" b="1">
                          <a:solidFill>
                            <a:srgbClr val="1F3864"/>
                          </a:solidFill>
                        </a:rPr>
                        <a:t>●</a:t>
                      </a:r>
                    </a:p>
                  </a:txBody>
                  <a:tcPr anchor="ctr">
                    <a:solidFill>
                      <a:srgbClr val="FAFBFD"/>
                    </a:solidFill>
                  </a:tcPr>
                </a:tc>
                <a:tc>
                  <a:txBody>
                    <a:bodyPr/>
                    <a:lstStyle/>
                    <a:p>
                      <a:pPr algn="ctr"/>
                      <a:r>
                        <a:rPr lang="ja-JP" altLang="en-US" sz="1600" b="1">
                          <a:solidFill>
                            <a:srgbClr val="1F3864"/>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extLst>
                  <a:ext uri="{0D108BD9-81ED-4DB2-BD59-A6C34878D82A}">
                    <a16:rowId xmlns:a16="http://schemas.microsoft.com/office/drawing/2014/main" val="1862737613"/>
                  </a:ext>
                </a:extLst>
              </a:tr>
              <a:tr h="330200">
                <a:tc>
                  <a:txBody>
                    <a:bodyPr/>
                    <a:lstStyle/>
                    <a:p>
                      <a:pPr algn="l"/>
                      <a:r>
                        <a:rPr lang="ja-JP" altLang="en-US" sz="1500" b="0">
                          <a:solidFill>
                            <a:srgbClr val="1A1A1A"/>
                          </a:solidFill>
                        </a:rPr>
                        <a:t>OPSD（欧州）</a:t>
                      </a:r>
                    </a:p>
                  </a:txBody>
                  <a:tcPr anchor="ctr">
                    <a:solidFill>
                      <a:srgbClr val="FFFFFF"/>
                    </a:solidFill>
                  </a:tcPr>
                </a:tc>
                <a:tc>
                  <a:txBody>
                    <a:bodyPr/>
                    <a:lstStyle/>
                    <a:p>
                      <a:pPr algn="l"/>
                      <a:r>
                        <a:rPr lang="ja-JP" altLang="en-US" sz="1400" b="0">
                          <a:solidFill>
                            <a:srgbClr val="404040"/>
                          </a:solidFill>
                        </a:rPr>
                        <a:t>欧州（統計のみ・線路なし）</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extLst>
                  <a:ext uri="{0D108BD9-81ED-4DB2-BD59-A6C34878D82A}">
                    <a16:rowId xmlns:a16="http://schemas.microsoft.com/office/drawing/2014/main" val="1111678285"/>
                  </a:ext>
                </a:extLst>
              </a:tr>
              <a:tr h="330200">
                <a:tc>
                  <a:txBody>
                    <a:bodyPr/>
                    <a:lstStyle/>
                    <a:p>
                      <a:pPr algn="l"/>
                      <a:r>
                        <a:rPr lang="ja-JP" altLang="en-US" sz="1500" b="0">
                          <a:solidFill>
                            <a:srgbClr val="1A1A1A"/>
                          </a:solidFill>
                        </a:rPr>
                        <a:t>ACTIVSg / Texas（米国）</a:t>
                      </a:r>
                    </a:p>
                  </a:txBody>
                  <a:tcPr anchor="ctr">
                    <a:solidFill>
                      <a:srgbClr val="FAFBFD"/>
                    </a:solidFill>
                  </a:tcPr>
                </a:tc>
                <a:tc>
                  <a:txBody>
                    <a:bodyPr/>
                    <a:lstStyle/>
                    <a:p>
                      <a:pPr algn="l"/>
                      <a:r>
                        <a:rPr lang="ja-JP" altLang="en-US" sz="1400" b="0">
                          <a:solidFill>
                            <a:srgbClr val="404040"/>
                          </a:solidFill>
                        </a:rPr>
                        <a:t>米国 2,000 母線（架空）</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6E7B90"/>
                          </a:solidFill>
                        </a:rPr>
                        <a:t>△</a:t>
                      </a:r>
                    </a:p>
                  </a:txBody>
                  <a:tcPr anchor="ctr">
                    <a:solidFill>
                      <a:srgbClr val="FAFBFD"/>
                    </a:solidFill>
                  </a:tcPr>
                </a:tc>
                <a:extLst>
                  <a:ext uri="{0D108BD9-81ED-4DB2-BD59-A6C34878D82A}">
                    <a16:rowId xmlns:a16="http://schemas.microsoft.com/office/drawing/2014/main" val="3459225613"/>
                  </a:ext>
                </a:extLst>
              </a:tr>
              <a:tr h="330200">
                <a:tc>
                  <a:txBody>
                    <a:bodyPr/>
                    <a:lstStyle/>
                    <a:p>
                      <a:pPr algn="l"/>
                      <a:r>
                        <a:rPr lang="ja-JP" altLang="en-US" sz="1500" b="0">
                          <a:solidFill>
                            <a:srgbClr val="1A1A1A"/>
                          </a:solidFill>
                        </a:rPr>
                        <a:t>KPG-193（韓国）</a:t>
                      </a:r>
                    </a:p>
                  </a:txBody>
                  <a:tcPr anchor="ctr">
                    <a:solidFill>
                      <a:srgbClr val="FFFFFF"/>
                    </a:solidFill>
                  </a:tcPr>
                </a:tc>
                <a:tc>
                  <a:txBody>
                    <a:bodyPr/>
                    <a:lstStyle/>
                    <a:p>
                      <a:pPr algn="l"/>
                      <a:r>
                        <a:rPr lang="ja-JP" altLang="en-US" sz="1400" b="0">
                          <a:solidFill>
                            <a:srgbClr val="404040"/>
                          </a:solidFill>
                        </a:rPr>
                        <a:t>韓国 193 母線</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1F3864"/>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tc>
                  <a:txBody>
                    <a:bodyPr/>
                    <a:lstStyle/>
                    <a:p>
                      <a:pPr algn="ctr"/>
                      <a:r>
                        <a:rPr lang="ja-JP" altLang="en-US" sz="1600" b="1">
                          <a:solidFill>
                            <a:srgbClr val="9AA3B2"/>
                          </a:solidFill>
                        </a:rPr>
                        <a:t>—</a:t>
                      </a:r>
                    </a:p>
                  </a:txBody>
                  <a:tcPr anchor="ctr">
                    <a:solidFill>
                      <a:srgbClr val="FFFFFF"/>
                    </a:solidFill>
                  </a:tcPr>
                </a:tc>
                <a:extLst>
                  <a:ext uri="{0D108BD9-81ED-4DB2-BD59-A6C34878D82A}">
                    <a16:rowId xmlns:a16="http://schemas.microsoft.com/office/drawing/2014/main" val="3696875868"/>
                  </a:ext>
                </a:extLst>
              </a:tr>
              <a:tr h="330200">
                <a:tc>
                  <a:txBody>
                    <a:bodyPr/>
                    <a:lstStyle/>
                    <a:p>
                      <a:pPr algn="l"/>
                      <a:r>
                        <a:rPr lang="ja-JP" altLang="en-US" sz="1500" b="0">
                          <a:solidFill>
                            <a:srgbClr val="1A1A1A"/>
                          </a:solidFill>
                        </a:rPr>
                        <a:t>IEEJ 標準モデル（日本）</a:t>
                      </a:r>
                    </a:p>
                  </a:txBody>
                  <a:tcPr anchor="ctr">
                    <a:solidFill>
                      <a:srgbClr val="FAFBFD"/>
                    </a:solidFill>
                  </a:tcPr>
                </a:tc>
                <a:tc>
                  <a:txBody>
                    <a:bodyPr/>
                    <a:lstStyle/>
                    <a:p>
                      <a:pPr algn="l"/>
                      <a:r>
                        <a:rPr lang="ja-JP" altLang="en-US" sz="1400" b="0">
                          <a:solidFill>
                            <a:srgbClr val="404040"/>
                          </a:solidFill>
                        </a:rPr>
                        <a:t>日本 10・30 母線</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tc>
                  <a:txBody>
                    <a:bodyPr/>
                    <a:lstStyle/>
                    <a:p>
                      <a:pPr algn="ctr"/>
                      <a:r>
                        <a:rPr lang="ja-JP" altLang="en-US" sz="1600" b="1">
                          <a:solidFill>
                            <a:srgbClr val="9AA3B2"/>
                          </a:solidFill>
                        </a:rPr>
                        <a:t>—</a:t>
                      </a:r>
                    </a:p>
                  </a:txBody>
                  <a:tcPr anchor="ctr">
                    <a:solidFill>
                      <a:srgbClr val="FAFBFD"/>
                    </a:solidFill>
                  </a:tcPr>
                </a:tc>
                <a:extLst>
                  <a:ext uri="{0D108BD9-81ED-4DB2-BD59-A6C34878D82A}">
                    <a16:rowId xmlns:a16="http://schemas.microsoft.com/office/drawing/2014/main" val="878875883"/>
                  </a:ext>
                </a:extLst>
              </a:tr>
              <a:tr h="330200">
                <a:tc>
                  <a:txBody>
                    <a:bodyPr/>
                    <a:lstStyle/>
                    <a:p>
                      <a:pPr algn="l"/>
                      <a:r>
                        <a:rPr lang="ja-JP" altLang="en-US" sz="1500" b="1">
                          <a:solidFill>
                            <a:srgbClr val="1F3864"/>
                          </a:solidFill>
                        </a:rPr>
                        <a:t>All-Japan-Grid（本研究）</a:t>
                      </a:r>
                    </a:p>
                  </a:txBody>
                  <a:tcPr anchor="ctr">
                    <a:solidFill>
                      <a:srgbClr val="EAF2FB"/>
                    </a:solidFill>
                  </a:tcPr>
                </a:tc>
                <a:tc>
                  <a:txBody>
                    <a:bodyPr/>
                    <a:lstStyle/>
                    <a:p>
                      <a:pPr algn="l"/>
                      <a:r>
                        <a:rPr lang="ja-JP" altLang="en-US" sz="1400" b="1">
                          <a:solidFill>
                            <a:srgbClr val="1F3864"/>
                          </a:solidFill>
                        </a:rPr>
                        <a:t>日本 全 10 広域（50/60Hz）</a:t>
                      </a:r>
                    </a:p>
                  </a:txBody>
                  <a:tcPr anchor="ctr">
                    <a:solidFill>
                      <a:srgbClr val="EAF2FB"/>
                    </a:solidFill>
                  </a:tcPr>
                </a:tc>
                <a:tc>
                  <a:txBody>
                    <a:bodyPr/>
                    <a:lstStyle/>
                    <a:p>
                      <a:pPr algn="ctr"/>
                      <a:r>
                        <a:rPr lang="ja-JP" altLang="en-US" sz="1600" b="1">
                          <a:solidFill>
                            <a:srgbClr val="1F3864"/>
                          </a:solidFill>
                        </a:rPr>
                        <a:t>●</a:t>
                      </a:r>
                    </a:p>
                  </a:txBody>
                  <a:tcPr anchor="ctr">
                    <a:solidFill>
                      <a:srgbClr val="EAF2FB"/>
                    </a:solidFill>
                  </a:tcPr>
                </a:tc>
                <a:tc>
                  <a:txBody>
                    <a:bodyPr/>
                    <a:lstStyle/>
                    <a:p>
                      <a:pPr algn="ctr"/>
                      <a:r>
                        <a:rPr lang="ja-JP" altLang="en-US" sz="1600" b="1">
                          <a:solidFill>
                            <a:srgbClr val="1F3864"/>
                          </a:solidFill>
                        </a:rPr>
                        <a:t>●</a:t>
                      </a:r>
                    </a:p>
                  </a:txBody>
                  <a:tcPr anchor="ctr">
                    <a:solidFill>
                      <a:srgbClr val="EAF2FB"/>
                    </a:solidFill>
                  </a:tcPr>
                </a:tc>
                <a:tc>
                  <a:txBody>
                    <a:bodyPr/>
                    <a:lstStyle/>
                    <a:p>
                      <a:pPr algn="ctr"/>
                      <a:r>
                        <a:rPr lang="ja-JP" altLang="en-US" sz="1600" b="1">
                          <a:solidFill>
                            <a:srgbClr val="1F3864"/>
                          </a:solidFill>
                        </a:rPr>
                        <a:t>●</a:t>
                      </a:r>
                    </a:p>
                  </a:txBody>
                  <a:tcPr anchor="ctr">
                    <a:solidFill>
                      <a:srgbClr val="EAF2FB"/>
                    </a:solidFill>
                  </a:tcPr>
                </a:tc>
                <a:tc>
                  <a:txBody>
                    <a:bodyPr/>
                    <a:lstStyle/>
                    <a:p>
                      <a:pPr algn="ctr"/>
                      <a:r>
                        <a:rPr lang="ja-JP" altLang="en-US" sz="1600" b="1">
                          <a:solidFill>
                            <a:srgbClr val="1F3864"/>
                          </a:solidFill>
                        </a:rPr>
                        <a:t>●</a:t>
                      </a:r>
                    </a:p>
                  </a:txBody>
                  <a:tcPr anchor="ctr">
                    <a:solidFill>
                      <a:srgbClr val="EAF2FB"/>
                    </a:solidFill>
                  </a:tcPr>
                </a:tc>
                <a:extLst>
                  <a:ext uri="{0D108BD9-81ED-4DB2-BD59-A6C34878D82A}">
                    <a16:rowId xmlns:a16="http://schemas.microsoft.com/office/drawing/2014/main" val="3591639359"/>
                  </a:ext>
                </a:extLst>
              </a:tr>
            </a:tbl>
          </a:graphicData>
        </a:graphic>
      </p:graphicFrame>
      <p:sp>
        <p:nvSpPr>
          <p:cNvPr id="8" name="正方形/長方形 7">
            <a:extLst>
              <a:ext uri="{FF2B5EF4-FFF2-40B4-BE49-F238E27FC236}">
                <a16:creationId xmlns:a16="http://schemas.microsoft.com/office/drawing/2014/main" id="{56797239-B026-E048-8CE1-22114A02D40B}"/>
              </a:ext>
            </a:extLst>
          </p:cNvPr>
          <p:cNvSpPr/>
          <p:nvPr/>
        </p:nvSpPr>
        <p:spPr>
          <a:xfrm>
            <a:off x="622300" y="1308100"/>
            <a:ext cx="10972800" cy="1905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正方形/長方形 8">
            <a:extLst>
              <a:ext uri="{FF2B5EF4-FFF2-40B4-BE49-F238E27FC236}">
                <a16:creationId xmlns:a16="http://schemas.microsoft.com/office/drawing/2014/main" id="{4ADCA8FF-E845-F641-8242-C2C2F97FED57}"/>
              </a:ext>
            </a:extLst>
          </p:cNvPr>
          <p:cNvSpPr/>
          <p:nvPr/>
        </p:nvSpPr>
        <p:spPr>
          <a:xfrm>
            <a:off x="622300" y="1879600"/>
            <a:ext cx="10972800" cy="10160"/>
          </a:xfrm>
          <a:prstGeom prst="rect">
            <a:avLst/>
          </a:prstGeom>
          <a:solidFill>
            <a:srgbClr val="8FA3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正方形/長方形 9">
            <a:extLst>
              <a:ext uri="{FF2B5EF4-FFF2-40B4-BE49-F238E27FC236}">
                <a16:creationId xmlns:a16="http://schemas.microsoft.com/office/drawing/2014/main" id="{42A81EC1-D6D1-004C-ABF1-508F0DD9981E}"/>
              </a:ext>
            </a:extLst>
          </p:cNvPr>
          <p:cNvSpPr/>
          <p:nvPr/>
        </p:nvSpPr>
        <p:spPr>
          <a:xfrm>
            <a:off x="622300" y="4922520"/>
            <a:ext cx="10972800" cy="1905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E97AEEC9-F35B-3A44-9BDD-1B7847D0344E}"/>
              </a:ext>
            </a:extLst>
          </p:cNvPr>
          <p:cNvSpPr txBox="1"/>
          <p:nvPr/>
        </p:nvSpPr>
        <p:spPr>
          <a:xfrm>
            <a:off x="622300" y="5024120"/>
            <a:ext cx="6350000" cy="228600"/>
          </a:xfrm>
          <a:prstGeom prst="rect">
            <a:avLst/>
          </a:prstGeom>
          <a:noFill/>
        </p:spPr>
        <p:txBody>
          <a:bodyPr vertOverflow="overflow" vert="horz" wrap="square" rtlCol="0" anchor="t">
            <a:noAutofit/>
          </a:bodyPr>
          <a:lstStyle/>
          <a:p>
            <a:pPr algn="l"/>
            <a:r>
              <a:rPr lang="ja-JP" altLang="en-US" sz="1300">
                <a:solidFill>
                  <a:srgbClr val="595959"/>
                </a:solidFill>
                <a:latin typeface="Hiragino Sans"/>
                <a:ea typeface="Hiragino Sans"/>
              </a:rPr>
              <a:t>● 満たす　△ 部分的に満たす　— 満たさない</a:t>
            </a:r>
          </a:p>
        </p:txBody>
      </p:sp>
      <p:sp>
        <p:nvSpPr>
          <p:cNvPr id="12" name="テキスト ボックス 11">
            <a:extLst>
              <a:ext uri="{FF2B5EF4-FFF2-40B4-BE49-F238E27FC236}">
                <a16:creationId xmlns:a16="http://schemas.microsoft.com/office/drawing/2014/main" id="{C3F369B2-2640-604C-A3F3-845F1025CE10}"/>
              </a:ext>
            </a:extLst>
          </p:cNvPr>
          <p:cNvSpPr txBox="1"/>
          <p:nvPr/>
        </p:nvSpPr>
        <p:spPr>
          <a:xfrm>
            <a:off x="622300" y="5278120"/>
            <a:ext cx="10972800" cy="228600"/>
          </a:xfrm>
          <a:prstGeom prst="rect">
            <a:avLst/>
          </a:prstGeom>
          <a:noFill/>
        </p:spPr>
        <p:txBody>
          <a:bodyPr vertOverflow="overflow" vert="horz" wrap="square" rtlCol="0" anchor="t">
            <a:noAutofit/>
          </a:bodyPr>
          <a:lstStyle/>
          <a:p>
            <a:pPr algn="l"/>
            <a:r>
              <a:rPr lang="ja-JP" altLang="en-US" sz="1300">
                <a:solidFill>
                  <a:srgbClr val="595959"/>
                </a:solidFill>
                <a:latin typeface="Hiragino Sans"/>
                <a:ea typeface="Hiragino Sans"/>
              </a:rPr>
              <a:t>国際標準形式（</a:t>
            </a:r>
            <a:r>
              <a:rPr lang="en" altLang="ja-JP" sz="1300">
                <a:solidFill>
                  <a:srgbClr val="595959"/>
                </a:solidFill>
                <a:latin typeface="Hiragino Sans"/>
                <a:ea typeface="Hiragino Sans"/>
              </a:rPr>
              <a:t>CIM</a:t>
            </a:r>
            <a:r>
              <a:rPr lang="ja-JP" altLang="en" sz="1300">
                <a:solidFill>
                  <a:srgbClr val="595959"/>
                </a:solidFill>
                <a:latin typeface="Hiragino Sans"/>
                <a:ea typeface="Hiragino Sans"/>
              </a:rPr>
              <a:t>）＝</a:t>
            </a:r>
            <a:r>
              <a:rPr lang="en" altLang="ja-JP" sz="1300">
                <a:solidFill>
                  <a:srgbClr val="595959"/>
                </a:solidFill>
                <a:latin typeface="Hiragino Sans"/>
                <a:ea typeface="Hiragino Sans"/>
              </a:rPr>
              <a:t>IEC 61970 </a:t>
            </a:r>
            <a:r>
              <a:rPr lang="ja-JP" altLang="en-US" sz="1300">
                <a:solidFill>
                  <a:srgbClr val="595959"/>
                </a:solidFill>
                <a:latin typeface="Hiragino Sans"/>
                <a:ea typeface="Hiragino Sans"/>
              </a:rPr>
              <a:t>系の交換形式。実測の潮流と照合＝公表されている実際の送電量と計算値を突き合わせること</a:t>
            </a:r>
          </a:p>
        </p:txBody>
      </p:sp>
      <p:sp>
        <p:nvSpPr>
          <p:cNvPr id="13" name="正方形/長方形 12">
            <a:extLst>
              <a:ext uri="{FF2B5EF4-FFF2-40B4-BE49-F238E27FC236}">
                <a16:creationId xmlns:a16="http://schemas.microsoft.com/office/drawing/2014/main" id="{353D8D7F-6BBF-EA45-932F-D0EA6B64DD8F}"/>
              </a:ext>
            </a:extLst>
          </p:cNvPr>
          <p:cNvSpPr/>
          <p:nvPr/>
        </p:nvSpPr>
        <p:spPr>
          <a:xfrm>
            <a:off x="622300" y="5633720"/>
            <a:ext cx="10972800" cy="457200"/>
          </a:xfrm>
          <a:prstGeom prst="rect">
            <a:avLst/>
          </a:prstGeom>
          <a:solidFill>
            <a:srgbClr val="EDF1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altLang="ja-JP" sz="1700" b="1">
                <a:solidFill>
                  <a:srgbClr val="1F3864"/>
                </a:solidFill>
                <a:latin typeface="Hiragino Sans"/>
                <a:ea typeface="Hiragino Sans"/>
              </a:rPr>
              <a:t>4</a:t>
            </a:r>
            <a:r>
              <a:rPr lang="ja-JP" altLang="en-US" sz="1700" b="1">
                <a:solidFill>
                  <a:srgbClr val="1F3864"/>
                </a:solidFill>
                <a:latin typeface="Hiragino Sans"/>
                <a:ea typeface="Hiragino Sans"/>
              </a:rPr>
              <a:t>条件すべてが ● のものは無い </a:t>
            </a:r>
            <a:r>
              <a:rPr lang="en-US" altLang="ja-JP" sz="1700" b="1">
                <a:solidFill>
                  <a:srgbClr val="1F3864"/>
                </a:solidFill>
                <a:latin typeface="Hiragino Sans"/>
                <a:ea typeface="Hiragino Sans"/>
              </a:rPr>
              <a:t>— </a:t>
            </a:r>
            <a:r>
              <a:rPr lang="ja-JP" altLang="en-US" sz="1700" b="1">
                <a:solidFill>
                  <a:srgbClr val="1F3864"/>
                </a:solidFill>
                <a:latin typeface="Hiragino Sans"/>
                <a:ea typeface="Hiragino Sans"/>
              </a:rPr>
              <a:t>日本全国・標準形式・実測との照合が同時できるデータがある</a:t>
            </a:r>
          </a:p>
        </p:txBody>
      </p:sp>
      <p:pic>
        <p:nvPicPr>
          <p:cNvPr id="14" name="図 13">
            <a:extLst>
              <a:ext uri="{FF2B5EF4-FFF2-40B4-BE49-F238E27FC236}">
                <a16:creationId xmlns:a16="http://schemas.microsoft.com/office/drawing/2014/main" id="{A9C9111A-C99D-E7A8-13C8-0D6035750C8F}"/>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355680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先行研究の整理 — 公開データセット8件と本研究</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OSM 由来の公開データセットを、対象・到達点・限界の3点で並べた</a:t>
            </a:r>
            <a:endParaRPr lang="en-US" sz="1200" dirty="0"/>
          </a:p>
        </p:txBody>
      </p:sp>
      <p:sp>
        <p:nvSpPr>
          <p:cNvPr id="62" name="Text 60"/>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3" name="Text 61"/>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64" name="Text 62"/>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sp>
        <p:nvSpPr>
          <p:cNvPr id="12" name="正方形/長方形 11">
            <a:extLst>
              <a:ext uri="{FF2B5EF4-FFF2-40B4-BE49-F238E27FC236}">
                <a16:creationId xmlns:a16="http://schemas.microsoft.com/office/drawing/2014/main" id="{C4458EAD-EBB2-BB45-A9CD-6E7ED812478D}"/>
              </a:ext>
            </a:extLst>
          </p:cNvPr>
          <p:cNvSpPr/>
          <p:nvPr/>
        </p:nvSpPr>
        <p:spPr>
          <a:xfrm>
            <a:off x="622300" y="1206500"/>
            <a:ext cx="10972800" cy="2032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正方形/長方形 12">
            <a:extLst>
              <a:ext uri="{FF2B5EF4-FFF2-40B4-BE49-F238E27FC236}">
                <a16:creationId xmlns:a16="http://schemas.microsoft.com/office/drawing/2014/main" id="{F0BFCED1-148B-4D4D-AB47-5DE2DF6D4626}"/>
              </a:ext>
            </a:extLst>
          </p:cNvPr>
          <p:cNvSpPr/>
          <p:nvPr/>
        </p:nvSpPr>
        <p:spPr>
          <a:xfrm>
            <a:off x="622300" y="1549400"/>
            <a:ext cx="10972800" cy="10160"/>
          </a:xfrm>
          <a:prstGeom prst="rect">
            <a:avLst/>
          </a:prstGeom>
          <a:solidFill>
            <a:srgbClr val="8FA3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9EFEBD74-8B60-E44B-8DC8-31769836436E}"/>
              </a:ext>
            </a:extLst>
          </p:cNvPr>
          <p:cNvSpPr/>
          <p:nvPr/>
        </p:nvSpPr>
        <p:spPr>
          <a:xfrm>
            <a:off x="622300" y="4983480"/>
            <a:ext cx="10972800" cy="2032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5ACA9D2-4F5C-0441-B4AB-BEE63C9003AC}"/>
              </a:ext>
            </a:extLst>
          </p:cNvPr>
          <p:cNvSpPr txBox="1"/>
          <p:nvPr/>
        </p:nvSpPr>
        <p:spPr>
          <a:xfrm>
            <a:off x="622300" y="5300980"/>
            <a:ext cx="10972800" cy="254000"/>
          </a:xfrm>
          <a:prstGeom prst="rect">
            <a:avLst/>
          </a:prstGeom>
          <a:noFill/>
        </p:spPr>
        <p:txBody>
          <a:bodyPr vertOverflow="overflow" vert="horz" wrap="none" rtlCol="0" anchor="t">
            <a:noAutofit/>
          </a:bodyPr>
          <a:lstStyle/>
          <a:p>
            <a:pPr algn="l"/>
            <a:r>
              <a:rPr lang="en" altLang="ja-JP" sz="1300">
                <a:solidFill>
                  <a:srgbClr val="595959"/>
                </a:solidFill>
                <a:latin typeface="Hiragino Sans"/>
                <a:ea typeface="Hiragino Sans"/>
              </a:rPr>
              <a:t>※ 標準形式＝系統の設備と接続を国際規格（IEC 61970 の CIM、欧州では CGMES）で書き出した形。他ツールへそのまま渡せる</a:t>
            </a:r>
          </a:p>
        </p:txBody>
      </p:sp>
      <p:sp>
        <p:nvSpPr>
          <p:cNvPr id="8" name="正方形/長方形 7">
            <a:extLst>
              <a:ext uri="{FF2B5EF4-FFF2-40B4-BE49-F238E27FC236}">
                <a16:creationId xmlns:a16="http://schemas.microsoft.com/office/drawing/2014/main" id="{60D38A7A-2BAD-6948-886C-4F469C2E1469}"/>
              </a:ext>
            </a:extLst>
          </p:cNvPr>
          <p:cNvSpPr/>
          <p:nvPr/>
        </p:nvSpPr>
        <p:spPr>
          <a:xfrm>
            <a:off x="622300" y="5656580"/>
            <a:ext cx="10972800" cy="457200"/>
          </a:xfrm>
          <a:prstGeom prst="rect">
            <a:avLst/>
          </a:prstGeom>
          <a:solidFill>
            <a:srgbClr val="EDF1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700" b="1">
                <a:solidFill>
                  <a:srgbClr val="1F3864"/>
                </a:solidFill>
                <a:latin typeface="Hiragino Sans"/>
                <a:ea typeface="Hiragino Sans"/>
              </a:rPr>
              <a:t>重要なのは「日本全国 × 標準形式で出力 × 実測との照合」の組合せ</a:t>
            </a:r>
          </a:p>
        </p:txBody>
      </p:sp>
      <p:graphicFrame>
        <p:nvGraphicFramePr>
          <p:cNvPr id="10" name="表 9">
            <a:extLst>
              <a:ext uri="{FF2B5EF4-FFF2-40B4-BE49-F238E27FC236}">
                <a16:creationId xmlns:a16="http://schemas.microsoft.com/office/drawing/2014/main" id="{1FB3F1C7-1094-CF46-8D70-C0B0B48ABA38}"/>
              </a:ext>
            </a:extLst>
          </p:cNvPr>
          <p:cNvGraphicFramePr>
            <a:graphicFrameLocks noGrp="1"/>
          </p:cNvGraphicFramePr>
          <p:nvPr>
            <p:extLst>
              <p:ext uri="{D42A27DB-BD31-4B8C-83A1-F6EECF244321}">
                <p14:modId xmlns:p14="http://schemas.microsoft.com/office/powerpoint/2010/main" val="4138460169"/>
              </p:ext>
            </p:extLst>
          </p:nvPr>
        </p:nvGraphicFramePr>
        <p:xfrm>
          <a:off x="622300" y="1219200"/>
          <a:ext cx="10972800" cy="3743960"/>
        </p:xfrm>
        <a:graphic>
          <a:graphicData uri="http://schemas.openxmlformats.org/drawingml/2006/table">
            <a:tbl>
              <a:tblPr/>
              <a:tblGrid>
                <a:gridCol w="2184400">
                  <a:extLst>
                    <a:ext uri="{9D8B030D-6E8A-4147-A177-3AD203B41FA5}">
                      <a16:colId xmlns:a16="http://schemas.microsoft.com/office/drawing/2014/main" val="2274471979"/>
                    </a:ext>
                  </a:extLst>
                </a:gridCol>
                <a:gridCol w="1803400">
                  <a:extLst>
                    <a:ext uri="{9D8B030D-6E8A-4147-A177-3AD203B41FA5}">
                      <a16:colId xmlns:a16="http://schemas.microsoft.com/office/drawing/2014/main" val="785741058"/>
                    </a:ext>
                  </a:extLst>
                </a:gridCol>
                <a:gridCol w="2190750">
                  <a:extLst>
                    <a:ext uri="{9D8B030D-6E8A-4147-A177-3AD203B41FA5}">
                      <a16:colId xmlns:a16="http://schemas.microsoft.com/office/drawing/2014/main" val="1989049660"/>
                    </a:ext>
                  </a:extLst>
                </a:gridCol>
                <a:gridCol w="2546350">
                  <a:extLst>
                    <a:ext uri="{9D8B030D-6E8A-4147-A177-3AD203B41FA5}">
                      <a16:colId xmlns:a16="http://schemas.microsoft.com/office/drawing/2014/main" val="2961809856"/>
                    </a:ext>
                  </a:extLst>
                </a:gridCol>
                <a:gridCol w="2247900">
                  <a:extLst>
                    <a:ext uri="{9D8B030D-6E8A-4147-A177-3AD203B41FA5}">
                      <a16:colId xmlns:a16="http://schemas.microsoft.com/office/drawing/2014/main" val="967043609"/>
                    </a:ext>
                  </a:extLst>
                </a:gridCol>
              </a:tblGrid>
              <a:tr h="330200">
                <a:tc>
                  <a:txBody>
                    <a:bodyPr/>
                    <a:lstStyle/>
                    <a:p>
                      <a:pPr algn="l"/>
                      <a:r>
                        <a:rPr lang="ja-JP" altLang="en-US" sz="1500" b="1">
                          <a:solidFill>
                            <a:srgbClr val="1F3864"/>
                          </a:solidFill>
                        </a:rPr>
                        <a:t>文献</a:t>
                      </a:r>
                    </a:p>
                  </a:txBody>
                  <a:tcPr marT="38100" marB="38100" anchor="ctr">
                    <a:lnL w="0"/>
                    <a:lnR w="0"/>
                    <a:lnT w="0"/>
                    <a:lnB w="0"/>
                    <a:lnTlToBr w="0"/>
                    <a:lnBlToTr w="0"/>
                    <a:solidFill>
                      <a:srgbClr val="E8EDF7"/>
                    </a:solidFill>
                  </a:tcPr>
                </a:tc>
                <a:tc>
                  <a:txBody>
                    <a:bodyPr/>
                    <a:lstStyle/>
                    <a:p>
                      <a:pPr algn="l"/>
                      <a:r>
                        <a:rPr lang="ja-JP" altLang="en-US" sz="1500" b="1">
                          <a:solidFill>
                            <a:srgbClr val="1F3864"/>
                          </a:solidFill>
                        </a:rPr>
                        <a:t>掲載</a:t>
                      </a:r>
                    </a:p>
                  </a:txBody>
                  <a:tcPr marT="38100" marB="38100" anchor="ctr">
                    <a:lnL w="0"/>
                    <a:lnR w="0"/>
                    <a:lnT w="0"/>
                    <a:lnB w="0"/>
                    <a:lnTlToBr w="0"/>
                    <a:lnBlToTr w="0"/>
                    <a:solidFill>
                      <a:srgbClr val="E8EDF7"/>
                    </a:solidFill>
                  </a:tcPr>
                </a:tc>
                <a:tc>
                  <a:txBody>
                    <a:bodyPr/>
                    <a:lstStyle/>
                    <a:p>
                      <a:pPr algn="l"/>
                      <a:r>
                        <a:rPr lang="ja-JP" altLang="en-US" sz="1500" b="1">
                          <a:solidFill>
                            <a:srgbClr val="1F3864"/>
                          </a:solidFill>
                        </a:rPr>
                        <a:t>対象 / データ源</a:t>
                      </a:r>
                    </a:p>
                  </a:txBody>
                  <a:tcPr marT="38100" marB="38100" anchor="ctr">
                    <a:lnL w="0"/>
                    <a:lnR w="0"/>
                    <a:lnT w="0"/>
                    <a:lnB w="0"/>
                    <a:lnTlToBr w="0"/>
                    <a:lnBlToTr w="0"/>
                    <a:solidFill>
                      <a:srgbClr val="E8EDF7"/>
                    </a:solidFill>
                  </a:tcPr>
                </a:tc>
                <a:tc>
                  <a:txBody>
                    <a:bodyPr/>
                    <a:lstStyle/>
                    <a:p>
                      <a:pPr algn="l"/>
                      <a:r>
                        <a:rPr lang="ja-JP" altLang="en-US" sz="1500" b="1">
                          <a:solidFill>
                            <a:srgbClr val="1F3864"/>
                          </a:solidFill>
                        </a:rPr>
                        <a:t>到達点</a:t>
                      </a:r>
                    </a:p>
                  </a:txBody>
                  <a:tcPr marT="38100" marB="38100" anchor="ctr">
                    <a:lnL w="0"/>
                    <a:lnR w="0"/>
                    <a:lnT w="0"/>
                    <a:lnB w="0"/>
                    <a:lnTlToBr w="0"/>
                    <a:lnBlToTr w="0"/>
                    <a:solidFill>
                      <a:srgbClr val="E8EDF7"/>
                    </a:solidFill>
                  </a:tcPr>
                </a:tc>
                <a:tc>
                  <a:txBody>
                    <a:bodyPr/>
                    <a:lstStyle/>
                    <a:p>
                      <a:pPr algn="l"/>
                      <a:r>
                        <a:rPr lang="ja-JP" altLang="en-US" sz="1500" b="1">
                          <a:solidFill>
                            <a:srgbClr val="1F3864"/>
                          </a:solidFill>
                        </a:rPr>
                        <a:t>限界</a:t>
                      </a:r>
                    </a:p>
                  </a:txBody>
                  <a:tcPr marT="38100" marB="38100" anchor="ctr">
                    <a:lnL w="0"/>
                    <a:lnR w="0"/>
                    <a:lnT w="0"/>
                    <a:lnB w="0"/>
                    <a:lnTlToBr w="0"/>
                    <a:lnBlToTr w="0"/>
                    <a:solidFill>
                      <a:srgbClr val="E8EDF7"/>
                    </a:solidFill>
                  </a:tcPr>
                </a:tc>
                <a:extLst>
                  <a:ext uri="{0D108BD9-81ED-4DB2-BD59-A6C34878D82A}">
                    <a16:rowId xmlns:a16="http://schemas.microsoft.com/office/drawing/2014/main" val="3705970685"/>
                  </a:ext>
                </a:extLst>
              </a:tr>
              <a:tr h="317500">
                <a:tc>
                  <a:txBody>
                    <a:bodyPr/>
                    <a:lstStyle/>
                    <a:p>
                      <a:pPr algn="l"/>
                      <a:r>
                        <a:rPr lang="ja-JP" altLang="en-US" sz="1400" b="0">
                          <a:solidFill>
                            <a:srgbClr val="1A1A1A"/>
                          </a:solidFill>
                        </a:rPr>
                        <a:t>[1] PyPSA-Eur (2018)</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Energy Strategy Rev.</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欧州35カ国 / OSM</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全欧モデルを公開</a:t>
                      </a:r>
                    </a:p>
                  </a:txBody>
                  <a:tcPr marT="38100" marB="38100" anchor="ctr">
                    <a:lnL w="0"/>
                    <a:lnR w="0"/>
                    <a:lnT w="0"/>
                    <a:lnB w="0"/>
                    <a:lnTlToBr w="0"/>
                    <a:lnBlToTr w="0"/>
                    <a:solidFill>
                      <a:srgbClr val="FFFFFF"/>
                    </a:solidFill>
                  </a:tcPr>
                </a:tc>
                <a:tc>
                  <a:txBody>
                    <a:bodyPr/>
                    <a:lstStyle/>
                    <a:p>
                      <a:pPr algn="l"/>
                      <a:r>
                        <a:rPr lang="ja-JP" altLang="en-US" sz="1400" b="1">
                          <a:solidFill>
                            <a:srgbClr val="1A1A1A"/>
                          </a:solidFill>
                        </a:rPr>
                        <a:t>標準形式で出せない</a:t>
                      </a:r>
                      <a:r>
                        <a:rPr lang="ja-JP" altLang="en-US" sz="1400" b="0">
                          <a:solidFill>
                            <a:srgbClr val="1A1A1A"/>
                          </a:solidFill>
                        </a:rPr>
                        <a:t>・日本なし</a:t>
                      </a:r>
                    </a:p>
                  </a:txBody>
                  <a:tcPr marT="38100" marB="38100" anchor="ctr">
                    <a:lnL w="0"/>
                    <a:lnR w="0"/>
                    <a:lnT w="0"/>
                    <a:lnB w="0"/>
                    <a:lnTlToBr w="0"/>
                    <a:lnBlToTr w="0"/>
                    <a:solidFill>
                      <a:srgbClr val="FFFFFF"/>
                    </a:solidFill>
                  </a:tcPr>
                </a:tc>
                <a:extLst>
                  <a:ext uri="{0D108BD9-81ED-4DB2-BD59-A6C34878D82A}">
                    <a16:rowId xmlns:a16="http://schemas.microsoft.com/office/drawing/2014/main" val="4145705899"/>
                  </a:ext>
                </a:extLst>
              </a:tr>
              <a:tr h="317500">
                <a:tc>
                  <a:txBody>
                    <a:bodyPr/>
                    <a:lstStyle/>
                    <a:p>
                      <a:pPr algn="l"/>
                      <a:r>
                        <a:rPr lang="ja-JP" altLang="en-US" sz="1400" b="0">
                          <a:solidFill>
                            <a:srgbClr val="1A1A1A"/>
                          </a:solidFill>
                        </a:rPr>
                        <a:t>[2] SciGRID (2016)</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Energy Reports</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ドイツ 220–380kV</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OSMから自動生成の先駆</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網羅率の確認だけ</a:t>
                      </a:r>
                    </a:p>
                  </a:txBody>
                  <a:tcPr marT="38100" marB="38100" anchor="ctr">
                    <a:lnL w="0"/>
                    <a:lnR w="0"/>
                    <a:lnT w="0"/>
                    <a:lnB w="0"/>
                    <a:lnTlToBr w="0"/>
                    <a:lnBlToTr w="0"/>
                    <a:solidFill>
                      <a:srgbClr val="FFFFFF"/>
                    </a:solidFill>
                  </a:tcPr>
                </a:tc>
                <a:extLst>
                  <a:ext uri="{0D108BD9-81ED-4DB2-BD59-A6C34878D82A}">
                    <a16:rowId xmlns:a16="http://schemas.microsoft.com/office/drawing/2014/main" val="3475362249"/>
                  </a:ext>
                </a:extLst>
              </a:tr>
              <a:tr h="317500">
                <a:tc>
                  <a:txBody>
                    <a:bodyPr/>
                    <a:lstStyle/>
                    <a:p>
                      <a:pPr algn="l"/>
                      <a:r>
                        <a:rPr lang="ja-JP" altLang="en-US" sz="1400" b="0">
                          <a:solidFill>
                            <a:srgbClr val="1A1A1A"/>
                          </a:solidFill>
                        </a:rPr>
                        <a:t>[3] osmTGmod / eGo (2018)</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公開実装のみ</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ドイツ EHV/HV</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他モデルと計算を比較</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ドイツのみ・</a:t>
                      </a:r>
                      <a:r>
                        <a:rPr lang="ja-JP" altLang="en-US" sz="1400" b="1">
                          <a:solidFill>
                            <a:srgbClr val="1A1A1A"/>
                          </a:solidFill>
                        </a:rPr>
                        <a:t>標準形式で出せない</a:t>
                      </a:r>
                    </a:p>
                  </a:txBody>
                  <a:tcPr marT="38100" marB="38100" anchor="ctr">
                    <a:lnL w="0"/>
                    <a:lnR w="0"/>
                    <a:lnT w="0"/>
                    <a:lnB w="0"/>
                    <a:lnTlToBr w="0"/>
                    <a:lnBlToTr w="0"/>
                    <a:solidFill>
                      <a:srgbClr val="FFFFFF"/>
                    </a:solidFill>
                  </a:tcPr>
                </a:tc>
                <a:extLst>
                  <a:ext uri="{0D108BD9-81ED-4DB2-BD59-A6C34878D82A}">
                    <a16:rowId xmlns:a16="http://schemas.microsoft.com/office/drawing/2014/main" val="3903680522"/>
                  </a:ext>
                </a:extLst>
              </a:tr>
              <a:tr h="317500">
                <a:tc>
                  <a:txBody>
                    <a:bodyPr/>
                    <a:lstStyle/>
                    <a:p>
                      <a:pPr algn="l"/>
                      <a:r>
                        <a:rPr lang="ja-JP" altLang="en-US" sz="1400" b="0">
                          <a:solidFill>
                            <a:srgbClr val="1A1A1A"/>
                          </a:solidFill>
                        </a:rPr>
                        <a:t>[4] GridKit (2016)</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Zenodo</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欧州 / ENTSO-E 系統図</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系統図からつながりを再現</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属性が乏しい</a:t>
                      </a:r>
                    </a:p>
                  </a:txBody>
                  <a:tcPr marT="38100" marB="38100" anchor="ctr">
                    <a:lnL w="0"/>
                    <a:lnR w="0"/>
                    <a:lnT w="0"/>
                    <a:lnB w="0"/>
                    <a:lnTlToBr w="0"/>
                    <a:lnBlToTr w="0"/>
                    <a:solidFill>
                      <a:srgbClr val="FFFFFF"/>
                    </a:solidFill>
                  </a:tcPr>
                </a:tc>
                <a:extLst>
                  <a:ext uri="{0D108BD9-81ED-4DB2-BD59-A6C34878D82A}">
                    <a16:rowId xmlns:a16="http://schemas.microsoft.com/office/drawing/2014/main" val="3899817455"/>
                  </a:ext>
                </a:extLst>
              </a:tr>
              <a:tr h="317500">
                <a:tc>
                  <a:txBody>
                    <a:bodyPr/>
                    <a:lstStyle/>
                    <a:p>
                      <a:pPr algn="l"/>
                      <a:r>
                        <a:rPr lang="ja-JP" altLang="en-US" sz="1400" b="0">
                          <a:solidFill>
                            <a:srgbClr val="1A1A1A"/>
                          </a:solidFill>
                        </a:rPr>
                        <a:t>[5] OPSD (2019)</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Applied Energy</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欧州 / 公表統計</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発電・需要の公開基盤</a:t>
                      </a:r>
                    </a:p>
                  </a:txBody>
                  <a:tcPr marT="38100" marB="38100" anchor="ctr">
                    <a:lnL w="0"/>
                    <a:lnR w="0"/>
                    <a:lnT w="0"/>
                    <a:lnB w="0"/>
                    <a:lnTlToBr w="0"/>
                    <a:lnBlToTr w="0"/>
                    <a:solidFill>
                      <a:srgbClr val="FFFFFF"/>
                    </a:solidFill>
                  </a:tcPr>
                </a:tc>
                <a:tc>
                  <a:txBody>
                    <a:bodyPr/>
                    <a:lstStyle/>
                    <a:p>
                      <a:pPr algn="l"/>
                      <a:r>
                        <a:rPr lang="ja-JP" altLang="en-US" sz="1400" b="1">
                          <a:solidFill>
                            <a:srgbClr val="1A1A1A"/>
                          </a:solidFill>
                        </a:rPr>
                        <a:t>つながり方がない</a:t>
                      </a:r>
                    </a:p>
                  </a:txBody>
                  <a:tcPr marT="38100" marB="38100" anchor="ctr">
                    <a:lnL w="0"/>
                    <a:lnR w="0"/>
                    <a:lnT w="0"/>
                    <a:lnB w="0"/>
                    <a:lnTlToBr w="0"/>
                    <a:lnBlToTr w="0"/>
                    <a:solidFill>
                      <a:srgbClr val="FFFFFF"/>
                    </a:solidFill>
                  </a:tcPr>
                </a:tc>
                <a:extLst>
                  <a:ext uri="{0D108BD9-81ED-4DB2-BD59-A6C34878D82A}">
                    <a16:rowId xmlns:a16="http://schemas.microsoft.com/office/drawing/2014/main" val="2511515009"/>
                  </a:ext>
                </a:extLst>
              </a:tr>
              <a:tr h="317500">
                <a:tc>
                  <a:txBody>
                    <a:bodyPr/>
                    <a:lstStyle/>
                    <a:p>
                      <a:pPr algn="l"/>
                      <a:r>
                        <a:rPr lang="ja-JP" altLang="en-US" sz="1400" b="0">
                          <a:solidFill>
                            <a:srgbClr val="1A1A1A"/>
                          </a:solidFill>
                        </a:rPr>
                        <a:t>[6] ACTIVSg / Texas 2000</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IEEE Trans. PWRS</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米国 / 架空</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統計に似せた架空系統</a:t>
                      </a:r>
                    </a:p>
                  </a:txBody>
                  <a:tcPr marT="38100" marB="38100" anchor="ctr">
                    <a:lnL w="0"/>
                    <a:lnR w="0"/>
                    <a:lnT w="0"/>
                    <a:lnB w="0"/>
                    <a:lnTlToBr w="0"/>
                    <a:lnBlToTr w="0"/>
                    <a:solidFill>
                      <a:srgbClr val="FFFFFF"/>
                    </a:solidFill>
                  </a:tcPr>
                </a:tc>
                <a:tc>
                  <a:txBody>
                    <a:bodyPr/>
                    <a:lstStyle/>
                    <a:p>
                      <a:pPr algn="l"/>
                      <a:r>
                        <a:rPr lang="ja-JP" altLang="en-US" sz="1400" b="1">
                          <a:solidFill>
                            <a:srgbClr val="1A1A1A"/>
                          </a:solidFill>
                        </a:rPr>
                        <a:t>実測と比べられない</a:t>
                      </a:r>
                    </a:p>
                  </a:txBody>
                  <a:tcPr marT="38100" marB="38100" anchor="ctr">
                    <a:lnL w="0"/>
                    <a:lnR w="0"/>
                    <a:lnT w="0"/>
                    <a:lnB w="0"/>
                    <a:lnTlToBr w="0"/>
                    <a:lnBlToTr w="0"/>
                    <a:solidFill>
                      <a:srgbClr val="FFFFFF"/>
                    </a:solidFill>
                  </a:tcPr>
                </a:tc>
                <a:extLst>
                  <a:ext uri="{0D108BD9-81ED-4DB2-BD59-A6C34878D82A}">
                    <a16:rowId xmlns:a16="http://schemas.microsoft.com/office/drawing/2014/main" val="1266289886"/>
                  </a:ext>
                </a:extLst>
              </a:tr>
              <a:tr h="317500">
                <a:tc>
                  <a:txBody>
                    <a:bodyPr/>
                    <a:lstStyle/>
                    <a:p>
                      <a:pPr algn="l"/>
                      <a:r>
                        <a:rPr lang="ja-JP" altLang="en-US" sz="1400" b="0">
                          <a:solidFill>
                            <a:srgbClr val="1A1A1A"/>
                          </a:solidFill>
                        </a:rPr>
                        <a:t>[7] KPG-193</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arXiv</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韓国 / 架空（OSM由来）</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韓国の架空ベンチマーク</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内部整合の確認だけ</a:t>
                      </a:r>
                    </a:p>
                  </a:txBody>
                  <a:tcPr marT="38100" marB="38100" anchor="ctr">
                    <a:lnL w="0"/>
                    <a:lnR w="0"/>
                    <a:lnT w="0"/>
                    <a:lnB w="0"/>
                    <a:lnTlToBr w="0"/>
                    <a:lnBlToTr w="0"/>
                    <a:solidFill>
                      <a:srgbClr val="FFFFFF"/>
                    </a:solidFill>
                  </a:tcPr>
                </a:tc>
                <a:extLst>
                  <a:ext uri="{0D108BD9-81ED-4DB2-BD59-A6C34878D82A}">
                    <a16:rowId xmlns:a16="http://schemas.microsoft.com/office/drawing/2014/main" val="3561101609"/>
                  </a:ext>
                </a:extLst>
              </a:tr>
              <a:tr h="317500">
                <a:tc>
                  <a:txBody>
                    <a:bodyPr/>
                    <a:lstStyle/>
                    <a:p>
                      <a:pPr algn="l"/>
                      <a:r>
                        <a:rPr lang="ja-JP" altLang="en-US" sz="1400" b="0">
                          <a:solidFill>
                            <a:srgbClr val="1A1A1A"/>
                          </a:solidFill>
                        </a:rPr>
                        <a:t>[8] IEEJ EAST10 / WEST30</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電気学会</a:t>
                      </a:r>
                    </a:p>
                  </a:txBody>
                  <a:tcPr marT="38100" marB="38100" anchor="ctr">
                    <a:lnL w="0"/>
                    <a:lnR w="0"/>
                    <a:lnT w="0"/>
                    <a:lnB w="0"/>
                    <a:lnTlToBr w="0"/>
                    <a:lnBlToTr w="0"/>
                    <a:solidFill>
                      <a:srgbClr val="FFFFFF"/>
                    </a:solidFill>
                  </a:tcPr>
                </a:tc>
                <a:tc>
                  <a:txBody>
                    <a:bodyPr/>
                    <a:lstStyle/>
                    <a:p>
                      <a:pPr algn="l"/>
                      <a:r>
                        <a:rPr lang="ja-JP" altLang="en-US" sz="1400" b="1">
                          <a:solidFill>
                            <a:srgbClr val="1A1A1A"/>
                          </a:solidFill>
                        </a:rPr>
                        <a:t>日本</a:t>
                      </a:r>
                      <a:r>
                        <a:rPr lang="ja-JP" altLang="en-US" sz="1400" b="0">
                          <a:solidFill>
                            <a:srgbClr val="1A1A1A"/>
                          </a:solidFill>
                        </a:rPr>
                        <a:t> / 標準モデル</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解析用の小規模モデル</a:t>
                      </a:r>
                    </a:p>
                  </a:txBody>
                  <a:tcPr marT="38100" marB="38100" anchor="ctr">
                    <a:lnL w="0"/>
                    <a:lnR w="0"/>
                    <a:lnT w="0"/>
                    <a:lnB w="0"/>
                    <a:lnTlToBr w="0"/>
                    <a:lnBlToTr w="0"/>
                    <a:solidFill>
                      <a:srgbClr val="FFFFFF"/>
                    </a:solidFill>
                  </a:tcPr>
                </a:tc>
                <a:tc>
                  <a:txBody>
                    <a:bodyPr/>
                    <a:lstStyle/>
                    <a:p>
                      <a:pPr algn="l"/>
                      <a:r>
                        <a:rPr lang="ja-JP" altLang="en-US" sz="1400" b="0">
                          <a:solidFill>
                            <a:srgbClr val="1A1A1A"/>
                          </a:solidFill>
                        </a:rPr>
                        <a:t>地図上の位置がない</a:t>
                      </a:r>
                    </a:p>
                  </a:txBody>
                  <a:tcPr marT="38100" marB="38100" anchor="ctr">
                    <a:lnL w="0"/>
                    <a:lnR w="0"/>
                    <a:lnT w="0"/>
                    <a:lnB w="0"/>
                    <a:lnTlToBr w="0"/>
                    <a:lnBlToTr w="0"/>
                    <a:solidFill>
                      <a:srgbClr val="FFFFFF"/>
                    </a:solidFill>
                  </a:tcPr>
                </a:tc>
                <a:extLst>
                  <a:ext uri="{0D108BD9-81ED-4DB2-BD59-A6C34878D82A}">
                    <a16:rowId xmlns:a16="http://schemas.microsoft.com/office/drawing/2014/main" val="3074231847"/>
                  </a:ext>
                </a:extLst>
              </a:tr>
              <a:tr h="317500">
                <a:tc>
                  <a:txBody>
                    <a:bodyPr/>
                    <a:lstStyle/>
                    <a:p>
                      <a:pPr algn="l"/>
                      <a:r>
                        <a:rPr lang="ja-JP" altLang="en-US" sz="1400" b="1">
                          <a:solidFill>
                            <a:srgbClr val="1F3864"/>
                          </a:solidFill>
                        </a:rPr>
                        <a:t>All-Japan-Grid（本研究）</a:t>
                      </a:r>
                    </a:p>
                  </a:txBody>
                  <a:tcPr marT="38100" marB="38100" anchor="ctr">
                    <a:lnL w="0"/>
                    <a:lnR w="0"/>
                    <a:lnT w="0"/>
                    <a:lnB w="0"/>
                    <a:lnTlToBr w="0"/>
                    <a:lnBlToTr w="0"/>
                    <a:solidFill>
                      <a:srgbClr val="EAF2FB"/>
                    </a:solidFill>
                  </a:tcPr>
                </a:tc>
                <a:tc>
                  <a:txBody>
                    <a:bodyPr/>
                    <a:lstStyle/>
                    <a:p>
                      <a:pPr algn="l"/>
                      <a:r>
                        <a:rPr lang="ja-JP" altLang="en-US" sz="1400" b="0">
                          <a:solidFill>
                            <a:srgbClr val="1F3864"/>
                          </a:solidFill>
                        </a:rPr>
                        <a:t>未出版</a:t>
                      </a:r>
                    </a:p>
                  </a:txBody>
                  <a:tcPr marT="38100" marB="38100" anchor="ctr">
                    <a:lnL w="0"/>
                    <a:lnR w="0"/>
                    <a:lnT w="0"/>
                    <a:lnB w="0"/>
                    <a:lnTlToBr w="0"/>
                    <a:lnBlToTr w="0"/>
                    <a:solidFill>
                      <a:srgbClr val="EAF2FB"/>
                    </a:solidFill>
                  </a:tcPr>
                </a:tc>
                <a:tc>
                  <a:txBody>
                    <a:bodyPr/>
                    <a:lstStyle/>
                    <a:p>
                      <a:pPr algn="l"/>
                      <a:r>
                        <a:rPr lang="ja-JP" altLang="en-US" sz="1400" b="0">
                          <a:solidFill>
                            <a:srgbClr val="1F3864"/>
                          </a:solidFill>
                        </a:rPr>
                        <a:t>日本 </a:t>
                      </a:r>
                      <a:r>
                        <a:rPr lang="ja-JP" altLang="en-US" sz="1400" b="1">
                          <a:solidFill>
                            <a:srgbClr val="1F3864"/>
                          </a:solidFill>
                        </a:rPr>
                        <a:t>全10広域</a:t>
                      </a:r>
                      <a:r>
                        <a:rPr lang="ja-JP" altLang="en-US" sz="1400" b="0">
                          <a:solidFill>
                            <a:srgbClr val="1F3864"/>
                          </a:solidFill>
                        </a:rPr>
                        <a:t>（50/60Hz）</a:t>
                      </a:r>
                    </a:p>
                  </a:txBody>
                  <a:tcPr marT="38100" marB="38100" anchor="ctr">
                    <a:lnL w="0"/>
                    <a:lnR w="0"/>
                    <a:lnT w="0"/>
                    <a:lnB w="0"/>
                    <a:lnTlToBr w="0"/>
                    <a:lnBlToTr w="0"/>
                    <a:solidFill>
                      <a:srgbClr val="EAF2FB"/>
                    </a:solidFill>
                  </a:tcPr>
                </a:tc>
                <a:tc>
                  <a:txBody>
                    <a:bodyPr/>
                    <a:lstStyle/>
                    <a:p>
                      <a:pPr algn="l"/>
                      <a:r>
                        <a:rPr lang="ja-JP" altLang="en-US" sz="1400" b="1">
                          <a:solidFill>
                            <a:srgbClr val="1F3864"/>
                          </a:solidFill>
                        </a:rPr>
                        <a:t>標準形式で出力＋実測と順位一致</a:t>
                      </a:r>
                    </a:p>
                  </a:txBody>
                  <a:tcPr marT="38100" marB="38100" anchor="ctr">
                    <a:lnL w="0"/>
                    <a:lnR w="0"/>
                    <a:lnT w="0"/>
                    <a:lnB w="0"/>
                    <a:lnTlToBr w="0"/>
                    <a:lnBlToTr w="0"/>
                    <a:solidFill>
                      <a:srgbClr val="EAF2FB"/>
                    </a:solidFill>
                  </a:tcPr>
                </a:tc>
                <a:tc>
                  <a:txBody>
                    <a:bodyPr/>
                    <a:lstStyle/>
                    <a:p>
                      <a:pPr algn="l"/>
                      <a:r>
                        <a:rPr lang="ja-JP" altLang="en-US" sz="1400" b="0">
                          <a:solidFill>
                            <a:srgbClr val="1F3864"/>
                          </a:solidFill>
                        </a:rPr>
                        <a:t>査読・DOI が今後</a:t>
                      </a:r>
                    </a:p>
                  </a:txBody>
                  <a:tcPr marT="38100" marB="38100" anchor="ctr">
                    <a:lnL w="0"/>
                    <a:lnR w="0"/>
                    <a:lnT w="0"/>
                    <a:lnB w="0"/>
                    <a:lnTlToBr w="0"/>
                    <a:lnBlToTr w="0"/>
                    <a:solidFill>
                      <a:srgbClr val="EAF2FB"/>
                    </a:solidFill>
                  </a:tcPr>
                </a:tc>
                <a:extLst>
                  <a:ext uri="{0D108BD9-81ED-4DB2-BD59-A6C34878D82A}">
                    <a16:rowId xmlns:a16="http://schemas.microsoft.com/office/drawing/2014/main" val="464516060"/>
                  </a:ext>
                </a:extLst>
              </a:tr>
            </a:tbl>
          </a:graphicData>
        </a:graphic>
      </p:graphicFrame>
      <p:pic>
        <p:nvPicPr>
          <p:cNvPr id="7" name="図 6">
            <a:extLst>
              <a:ext uri="{FF2B5EF4-FFF2-40B4-BE49-F238E27FC236}">
                <a16:creationId xmlns:a16="http://schemas.microsoft.com/office/drawing/2014/main" id="{7C98441A-4328-8B83-DF67-F2892E5AD534}"/>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128850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OSMが持つもの・持たないもの</a:t>
            </a:r>
            <a:endParaRPr lang="en-US" sz="2100" dirty="0"/>
          </a:p>
        </p:txBody>
      </p:sp>
      <p:pic>
        <p:nvPicPr>
          <p:cNvPr id="5" name="Image 0" descr="assets/fig_layer_combined.png"/>
          <p:cNvPicPr>
            <a:picLocks noChangeAspect="1"/>
          </p:cNvPicPr>
          <p:nvPr/>
        </p:nvPicPr>
        <p:blipFill>
          <a:blip r:embed="rId3"/>
          <a:stretch>
            <a:fillRect/>
          </a:stretch>
        </p:blipFill>
        <p:spPr>
          <a:xfrm>
            <a:off x="622300" y="3098800"/>
            <a:ext cx="7188200" cy="2540000"/>
          </a:xfrm>
          <a:prstGeom prst="rect">
            <a:avLst/>
          </a:prstGeom>
        </p:spPr>
      </p:pic>
      <p:sp>
        <p:nvSpPr>
          <p:cNvPr id="6" name="Shape 3"/>
          <p:cNvSpPr/>
          <p:nvPr/>
        </p:nvSpPr>
        <p:spPr>
          <a:xfrm>
            <a:off x="622300" y="1092200"/>
            <a:ext cx="5943600" cy="1701800"/>
          </a:xfrm>
          <a:prstGeom prst="roundRect">
            <a:avLst>
              <a:gd name="adj" fmla="val 4444"/>
            </a:avLst>
          </a:prstGeom>
          <a:solidFill>
            <a:srgbClr val="F4F4F6"/>
          </a:solidFill>
          <a:ln/>
        </p:spPr>
        <p:txBody>
          <a:bodyPr/>
          <a:lstStyle/>
          <a:p>
            <a:endParaRPr lang="ja-JP" altLang="en-US"/>
          </a:p>
        </p:txBody>
      </p:sp>
      <p:sp>
        <p:nvSpPr>
          <p:cNvPr id="7" name="Shape 4"/>
          <p:cNvSpPr/>
          <p:nvPr/>
        </p:nvSpPr>
        <p:spPr>
          <a:xfrm>
            <a:off x="850900" y="1346200"/>
            <a:ext cx="139700" cy="139700"/>
          </a:xfrm>
          <a:prstGeom prst="rect">
            <a:avLst/>
          </a:prstGeom>
          <a:solidFill>
            <a:srgbClr val="2E7D32"/>
          </a:solidFill>
          <a:ln/>
        </p:spPr>
        <p:txBody>
          <a:bodyPr/>
          <a:lstStyle/>
          <a:p>
            <a:endParaRPr lang="ja-JP" altLang="en-US"/>
          </a:p>
        </p:txBody>
      </p:sp>
      <p:sp>
        <p:nvSpPr>
          <p:cNvPr id="8" name="Text 5"/>
          <p:cNvSpPr/>
          <p:nvPr/>
        </p:nvSpPr>
        <p:spPr>
          <a:xfrm>
            <a:off x="1092200" y="1244600"/>
            <a:ext cx="4699000" cy="330200"/>
          </a:xfrm>
          <a:prstGeom prst="rect">
            <a:avLst/>
          </a:prstGeom>
          <a:noFill/>
          <a:ln/>
        </p:spPr>
        <p:txBody>
          <a:bodyPr wrap="square" lIns="0" tIns="0" rIns="0" bIns="0" rtlCol="0" anchor="ctr"/>
          <a:lstStyle/>
          <a:p>
            <a:pPr algn="l">
              <a:buNone/>
            </a:pPr>
            <a:r>
              <a:rPr lang="ja-JP" altLang="en-US" sz="1900" b="1" dirty="0">
                <a:solidFill>
                  <a:srgbClr val="2E7D32"/>
                </a:solidFill>
                <a:latin typeface="Helvetica Neue"/>
                <a:ea typeface="Hiragino Sans"/>
                <a:cs typeface="Hiragino Sans"/>
              </a:rPr>
              <a:t>OSM にあるもの ― 地図の情報</a:t>
            </a:r>
          </a:p>
        </p:txBody>
      </p:sp>
      <p:sp>
        <p:nvSpPr>
          <p:cNvPr id="9" name="Text 6"/>
          <p:cNvSpPr/>
          <p:nvPr/>
        </p:nvSpPr>
        <p:spPr>
          <a:xfrm>
            <a:off x="863600" y="1625600"/>
            <a:ext cx="5262880" cy="1117600"/>
          </a:xfrm>
          <a:prstGeom prst="rect">
            <a:avLst/>
          </a:prstGeom>
          <a:noFill/>
          <a:ln/>
        </p:spPr>
        <p:txBody>
          <a:bodyPr wrap="square" lIns="0" tIns="0" rIns="0" bIns="0" rtlCol="0" anchor="t"/>
          <a:lstStyle/>
          <a:p>
            <a:pPr marL="200025" indent="-200025" algn="l">
              <a:lnSpc>
                <a:spcPct val="112000"/>
              </a:lnSpc>
              <a:buFont typeface="Arial"/>
              <a:buChar char="・"/>
            </a:pPr>
            <a:r>
              <a:rPr lang="ja-JP" altLang="en-US" sz="1500" dirty="0">
                <a:solidFill>
                  <a:srgbClr val="1A1A1A"/>
                </a:solidFill>
                <a:latin typeface="Helvetica Neue"/>
                <a:ea typeface="Hiragino Sans"/>
                <a:cs typeface="Hiragino Sans"/>
              </a:rPr>
              <a:t>変電所・送電線・発電所の位置と経路</a:t>
            </a:r>
          </a:p>
          <a:p>
            <a:pPr marL="200025" indent="-200025" algn="l">
              <a:lnSpc>
                <a:spcPct val="112000"/>
              </a:lnSpc>
              <a:buFont typeface="Arial"/>
              <a:buChar char="・"/>
            </a:pPr>
            <a:r>
              <a:rPr lang="ja-JP" altLang="en-US" sz="1500" dirty="0">
                <a:solidFill>
                  <a:srgbClr val="1A1A1A"/>
                </a:solidFill>
                <a:latin typeface="Helvetica Neue"/>
                <a:ea typeface="Hiragino Sans"/>
                <a:cs typeface="Hiragino Sans"/>
              </a:rPr>
              <a:t>電圧・回線数・運用会社のタグ</a:t>
            </a:r>
            <a:r>
              <a:rPr lang="en-US" altLang="ja-JP" sz="1500" dirty="0">
                <a:solidFill>
                  <a:srgbClr val="1A1A1A"/>
                </a:solidFill>
                <a:latin typeface="Helvetica Neue"/>
                <a:ea typeface="Hiragino Sans"/>
                <a:cs typeface="Hiragino Sans"/>
              </a:rPr>
              <a:t> (</a:t>
            </a:r>
            <a:r>
              <a:rPr lang="en-US" altLang="ja-JP" sz="1500" dirty="0">
                <a:solidFill>
                  <a:srgbClr val="FF0000"/>
                </a:solidFill>
                <a:latin typeface="Helvetica Neue"/>
                <a:ea typeface="Hiragino Sans"/>
                <a:cs typeface="Hiragino Sans"/>
              </a:rPr>
              <a:t>※ </a:t>
            </a:r>
            <a:r>
              <a:rPr lang="ja-JP" altLang="en-US" sz="1500" dirty="0">
                <a:solidFill>
                  <a:srgbClr val="FF0000"/>
                </a:solidFill>
                <a:latin typeface="Helvetica Neue"/>
                <a:ea typeface="Hiragino Sans"/>
                <a:cs typeface="Hiragino Sans"/>
              </a:rPr>
              <a:t>未収録も多数</a:t>
            </a:r>
            <a:r>
              <a:rPr lang="en-US" altLang="ja-JP" sz="1500" dirty="0">
                <a:solidFill>
                  <a:srgbClr val="1A1A1A"/>
                </a:solidFill>
                <a:latin typeface="Helvetica Neue"/>
                <a:ea typeface="Hiragino Sans"/>
                <a:cs typeface="Hiragino Sans"/>
              </a:rPr>
              <a:t>)</a:t>
            </a:r>
            <a:endParaRPr lang="ja-JP" altLang="en-US" sz="1500" dirty="0">
              <a:solidFill>
                <a:srgbClr val="1A1A1A"/>
              </a:solidFill>
              <a:latin typeface="Helvetica Neue"/>
              <a:ea typeface="Hiragino Sans"/>
              <a:cs typeface="Hiragino Sans"/>
            </a:endParaRPr>
          </a:p>
          <a:p>
            <a:pPr marL="0" indent="0" algn="l">
              <a:spcBef>
                <a:spcPts val="400"/>
              </a:spcBef>
              <a:buNone/>
            </a:pPr>
            <a:r>
              <a:rPr lang="ja-JP" altLang="en-US" sz="1500" b="1" dirty="0">
                <a:solidFill>
                  <a:srgbClr val="2E7D32"/>
                </a:solidFill>
                <a:latin typeface="Helvetica Neue"/>
                <a:ea typeface="Hiragino Sans"/>
                <a:cs typeface="Hiragino Sans"/>
              </a:rPr>
              <a:t>→ どこに何があり、どうつながって「い</a:t>
            </a:r>
            <a:r>
              <a:rPr lang="ja-JP" altLang="en-US" sz="1500" b="1" strike="sngStrike" dirty="0">
                <a:solidFill>
                  <a:srgbClr val="FF0000"/>
                </a:solidFill>
                <a:latin typeface="Helvetica Neue"/>
                <a:ea typeface="Hiragino Sans"/>
                <a:cs typeface="Hiragino Sans"/>
              </a:rPr>
              <a:t>る</a:t>
            </a:r>
            <a:r>
              <a:rPr lang="ja-JP" altLang="en-US" sz="1500" b="1" dirty="0">
                <a:solidFill>
                  <a:srgbClr val="2E7D32"/>
                </a:solidFill>
                <a:latin typeface="Helvetica Neue"/>
                <a:ea typeface="Hiragino Sans"/>
                <a:cs typeface="Hiragino Sans"/>
              </a:rPr>
              <a:t>そう」かは分かる</a:t>
            </a:r>
          </a:p>
        </p:txBody>
      </p:sp>
      <p:sp>
        <p:nvSpPr>
          <p:cNvPr id="10" name="Shape 7"/>
          <p:cNvSpPr/>
          <p:nvPr/>
        </p:nvSpPr>
        <p:spPr>
          <a:xfrm>
            <a:off x="6896100" y="1092200"/>
            <a:ext cx="4699000" cy="1701800"/>
          </a:xfrm>
          <a:prstGeom prst="roundRect">
            <a:avLst>
              <a:gd name="adj" fmla="val 4444"/>
            </a:avLst>
          </a:prstGeom>
          <a:solidFill>
            <a:srgbClr val="F4F4F6"/>
          </a:solidFill>
          <a:ln/>
        </p:spPr>
        <p:txBody>
          <a:bodyPr/>
          <a:lstStyle/>
          <a:p>
            <a:endParaRPr lang="ja-JP" altLang="en-US"/>
          </a:p>
        </p:txBody>
      </p:sp>
      <p:sp>
        <p:nvSpPr>
          <p:cNvPr id="11" name="Shape 8"/>
          <p:cNvSpPr/>
          <p:nvPr/>
        </p:nvSpPr>
        <p:spPr>
          <a:xfrm>
            <a:off x="7175500" y="1346200"/>
            <a:ext cx="139700" cy="139700"/>
          </a:xfrm>
          <a:prstGeom prst="rect">
            <a:avLst/>
          </a:prstGeom>
          <a:solidFill>
            <a:srgbClr val="C62828"/>
          </a:solidFill>
          <a:ln/>
        </p:spPr>
        <p:txBody>
          <a:bodyPr/>
          <a:lstStyle/>
          <a:p>
            <a:endParaRPr lang="ja-JP" altLang="en-US"/>
          </a:p>
        </p:txBody>
      </p:sp>
      <p:sp>
        <p:nvSpPr>
          <p:cNvPr id="12" name="Text 9"/>
          <p:cNvSpPr/>
          <p:nvPr/>
        </p:nvSpPr>
        <p:spPr>
          <a:xfrm>
            <a:off x="7416800" y="1244600"/>
            <a:ext cx="4699000" cy="330200"/>
          </a:xfrm>
          <a:prstGeom prst="rect">
            <a:avLst/>
          </a:prstGeom>
          <a:noFill/>
          <a:ln/>
        </p:spPr>
        <p:txBody>
          <a:bodyPr wrap="square" lIns="0" tIns="0" rIns="0" bIns="0" rtlCol="0" anchor="ctr"/>
          <a:lstStyle/>
          <a:p>
            <a:pPr algn="l">
              <a:buNone/>
            </a:pPr>
            <a:r>
              <a:rPr lang="ja-JP" altLang="en-US" sz="1900" b="1" dirty="0">
                <a:solidFill>
                  <a:srgbClr val="C62828"/>
                </a:solidFill>
                <a:latin typeface="Helvetica Neue"/>
                <a:ea typeface="Hiragino Sans"/>
                <a:cs typeface="Hiragino Sans"/>
              </a:rPr>
              <a:t>OSM に無いもの ― 電気の性質</a:t>
            </a:r>
          </a:p>
        </p:txBody>
      </p:sp>
      <p:sp>
        <p:nvSpPr>
          <p:cNvPr id="13" name="Text 10"/>
          <p:cNvSpPr/>
          <p:nvPr/>
        </p:nvSpPr>
        <p:spPr>
          <a:xfrm>
            <a:off x="7035800" y="1625600"/>
            <a:ext cx="4089400" cy="1117600"/>
          </a:xfrm>
          <a:prstGeom prst="rect">
            <a:avLst/>
          </a:prstGeom>
          <a:noFill/>
          <a:ln/>
        </p:spPr>
        <p:txBody>
          <a:bodyPr wrap="square" lIns="0" tIns="0" rIns="0" bIns="0" rtlCol="0" anchor="t"/>
          <a:lstStyle/>
          <a:p>
            <a:pPr marL="200025" indent="-200025" algn="l">
              <a:lnSpc>
                <a:spcPct val="112000"/>
              </a:lnSpc>
              <a:buFont typeface="Arial"/>
              <a:buChar char="・"/>
            </a:pPr>
            <a:r>
              <a:rPr lang="ja-JP" altLang="en-US" sz="1500" dirty="0">
                <a:solidFill>
                  <a:srgbClr val="1A1A1A"/>
                </a:solidFill>
                <a:latin typeface="Helvetica Neue"/>
                <a:ea typeface="Hiragino Sans"/>
                <a:cs typeface="Hiragino Sans"/>
              </a:rPr>
              <a:t>線路のインピーダンス、変圧器の特性</a:t>
            </a:r>
          </a:p>
          <a:p>
            <a:pPr marL="200025" indent="-200025" algn="l">
              <a:lnSpc>
                <a:spcPct val="112000"/>
              </a:lnSpc>
              <a:buFont typeface="Arial"/>
              <a:buChar char="・"/>
            </a:pPr>
            <a:r>
              <a:rPr lang="ja-JP" altLang="en-US" sz="1500" dirty="0">
                <a:solidFill>
                  <a:srgbClr val="1A1A1A"/>
                </a:solidFill>
                <a:latin typeface="Helvetica Neue"/>
                <a:ea typeface="Hiragino Sans"/>
                <a:cs typeface="Hiragino Sans"/>
              </a:rPr>
              <a:t>地点ごとの需要（どれだけ電気を使うか）</a:t>
            </a:r>
          </a:p>
          <a:p>
            <a:pPr marL="0" indent="0" algn="l">
              <a:spcBef>
                <a:spcPts val="400"/>
              </a:spcBef>
              <a:buNone/>
            </a:pPr>
            <a:r>
              <a:rPr lang="ja-JP" altLang="en-US" sz="1500" b="1" dirty="0">
                <a:solidFill>
                  <a:srgbClr val="C62828"/>
                </a:solidFill>
                <a:latin typeface="Helvetica Neue"/>
                <a:ea typeface="Hiragino Sans"/>
                <a:cs typeface="Hiragino Sans"/>
              </a:rPr>
              <a:t>→ 無い値は推定と明記し、実測と分けて持つ</a:t>
            </a:r>
          </a:p>
        </p:txBody>
      </p:sp>
      <p:sp>
        <p:nvSpPr>
          <p:cNvPr id="14" name="Text 1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5" name="Text 1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6" name="Text 1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4</a:t>
            </a:r>
            <a:endParaRPr lang="en-US" sz="1000" dirty="0"/>
          </a:p>
        </p:txBody>
      </p:sp>
      <p:sp>
        <p:nvSpPr>
          <p:cNvPr id="17" name="テキスト ボックス 16">
            <a:extLst>
              <a:ext uri="{FF2B5EF4-FFF2-40B4-BE49-F238E27FC236}">
                <a16:creationId xmlns:a16="http://schemas.microsoft.com/office/drawing/2014/main" id="{0D264BD4-5B85-2149-92F3-D5880BE52AE2}"/>
              </a:ext>
            </a:extLst>
          </p:cNvPr>
          <p:cNvSpPr txBox="1"/>
          <p:nvPr/>
        </p:nvSpPr>
        <p:spPr>
          <a:xfrm>
            <a:off x="622300" y="2794000"/>
            <a:ext cx="7188200" cy="228600"/>
          </a:xfrm>
          <a:prstGeom prst="rect">
            <a:avLst/>
          </a:prstGeom>
          <a:noFill/>
        </p:spPr>
        <p:txBody>
          <a:bodyPr vertOverflow="overflow" vert="horz" wrap="square" rtlCol="0" anchor="t">
            <a:noAutofit/>
          </a:bodyPr>
          <a:lstStyle/>
          <a:p>
            <a:pPr algn="l"/>
            <a:r>
              <a:rPr lang="en" altLang="ja-JP" sz="1400">
                <a:solidFill>
                  <a:srgbClr val="595959"/>
                </a:solidFill>
                <a:latin typeface="Hiragino Sans"/>
                <a:ea typeface="Hiragino Sans"/>
              </a:rPr>
              <a:t>OSM </a:t>
            </a:r>
            <a:r>
              <a:rPr lang="ja-JP" altLang="en-US" sz="1400">
                <a:solidFill>
                  <a:srgbClr val="595959"/>
                </a:solidFill>
                <a:latin typeface="Hiragino Sans"/>
                <a:ea typeface="Hiragino Sans"/>
              </a:rPr>
              <a:t>から取り出した日本全国の設備 </a:t>
            </a:r>
            <a:r>
              <a:rPr lang="en-US" altLang="ja-JP" sz="1400">
                <a:solidFill>
                  <a:srgbClr val="595959"/>
                </a:solidFill>
                <a:latin typeface="Hiragino Sans"/>
                <a:ea typeface="Hiragino Sans"/>
              </a:rPr>
              <a:t>— (</a:t>
            </a:r>
            <a:r>
              <a:rPr lang="en" altLang="ja-JP" sz="1400">
                <a:solidFill>
                  <a:srgbClr val="595959"/>
                </a:solidFill>
                <a:latin typeface="Hiragino Sans"/>
                <a:ea typeface="Hiragino Sans"/>
              </a:rPr>
              <a:t>a) </a:t>
            </a:r>
            <a:r>
              <a:rPr lang="ja-JP" altLang="en-US" sz="1400">
                <a:solidFill>
                  <a:srgbClr val="595959"/>
                </a:solidFill>
                <a:latin typeface="Hiragino Sans"/>
                <a:ea typeface="Hiragino Sans"/>
              </a:rPr>
              <a:t>送電線 </a:t>
            </a:r>
            <a:r>
              <a:rPr lang="en-US" altLang="ja-JP" sz="1400">
                <a:solidFill>
                  <a:srgbClr val="595959"/>
                </a:solidFill>
                <a:latin typeface="Hiragino Sans"/>
                <a:ea typeface="Hiragino Sans"/>
              </a:rPr>
              <a:t>(</a:t>
            </a:r>
            <a:r>
              <a:rPr lang="en" altLang="ja-JP" sz="1400">
                <a:solidFill>
                  <a:srgbClr val="595959"/>
                </a:solidFill>
                <a:latin typeface="Hiragino Sans"/>
                <a:ea typeface="Hiragino Sans"/>
              </a:rPr>
              <a:t>b) </a:t>
            </a:r>
            <a:r>
              <a:rPr lang="ja-JP" altLang="en-US" sz="1400">
                <a:solidFill>
                  <a:srgbClr val="595959"/>
                </a:solidFill>
                <a:latin typeface="Hiragino Sans"/>
                <a:ea typeface="Hiragino Sans"/>
              </a:rPr>
              <a:t>変電所 </a:t>
            </a:r>
            <a:r>
              <a:rPr lang="en-US" altLang="ja-JP" sz="1400">
                <a:solidFill>
                  <a:srgbClr val="595959"/>
                </a:solidFill>
                <a:latin typeface="Hiragino Sans"/>
                <a:ea typeface="Hiragino Sans"/>
              </a:rPr>
              <a:t>(</a:t>
            </a:r>
            <a:r>
              <a:rPr lang="en" altLang="ja-JP" sz="1400">
                <a:solidFill>
                  <a:srgbClr val="595959"/>
                </a:solidFill>
                <a:latin typeface="Hiragino Sans"/>
                <a:ea typeface="Hiragino Sans"/>
              </a:rPr>
              <a:t>c) </a:t>
            </a:r>
            <a:r>
              <a:rPr lang="ja-JP" altLang="en-US" sz="1400">
                <a:solidFill>
                  <a:srgbClr val="595959"/>
                </a:solidFill>
                <a:latin typeface="Hiragino Sans"/>
                <a:ea typeface="Hiragino Sans"/>
              </a:rPr>
              <a:t>発電所</a:t>
            </a:r>
          </a:p>
        </p:txBody>
      </p:sp>
      <p:sp>
        <p:nvSpPr>
          <p:cNvPr id="2400" name="nl"/>
          <p:cNvSpPr txBox="1"/>
          <p:nvPr/>
        </p:nvSpPr>
        <p:spPr>
          <a:xfrm>
            <a:off x="8128000" y="2717800"/>
            <a:ext cx="3467100" cy="228600"/>
          </a:xfrm>
          <a:prstGeom prst="rect">
            <a:avLst/>
          </a:prstGeom>
          <a:noFill/>
        </p:spPr>
        <p:txBody>
          <a:bodyPr wrap="square" lIns="0" tIns="0" rIns="0" bIns="0" anchor="ctr">
            <a:noAutofit/>
          </a:bodyPr>
          <a:lstStyle/>
          <a:p>
            <a:pPr algn="l">
              <a:buNone/>
            </a:pPr>
            <a:r>
              <a:rPr lang="ja-JP" altLang="en-US" sz="1400" dirty="0">
                <a:solidFill>
                  <a:srgbClr val="595959"/>
                </a:solidFill>
                <a:latin typeface="Helvetica Neue"/>
                <a:ea typeface="Hiragino Sans"/>
                <a:cs typeface="Hiragino Sans"/>
              </a:rPr>
              <a:t>点と線で見ると</a:t>
            </a:r>
          </a:p>
        </p:txBody>
      </p:sp>
      <p:sp>
        <p:nvSpPr>
          <p:cNvPr id="2401" name="nl"/>
          <p:cNvSpPr/>
          <p:nvPr/>
        </p:nvSpPr>
        <p:spPr>
          <a:xfrm>
            <a:off x="8128000" y="2997200"/>
            <a:ext cx="3467100" cy="1778000"/>
          </a:xfrm>
          <a:prstGeom prst="roundRect">
            <a:avLst/>
          </a:prstGeom>
          <a:solidFill>
            <a:srgbClr val="F7F9FC"/>
          </a:solidFill>
          <a:ln w="9525">
            <a:solidFill>
              <a:srgbClr val="D6DCE8"/>
            </a:solidFill>
          </a:ln>
        </p:spPr>
        <p:txBody>
          <a:bodyPr/>
          <a:lstStyle/>
          <a:p>
            <a:endParaRPr/>
          </a:p>
        </p:txBody>
      </p:sp>
      <p:sp>
        <p:nvSpPr>
          <p:cNvPr id="2404" name="nl"/>
          <p:cNvSpPr/>
          <p:nvPr/>
        </p:nvSpPr>
        <p:spPr>
          <a:xfrm>
            <a:off x="8610600" y="3683000"/>
            <a:ext cx="254000" cy="254000"/>
          </a:xfrm>
          <a:prstGeom prst="ellipse">
            <a:avLst/>
          </a:prstGeom>
          <a:solidFill>
            <a:srgbClr val="1F3864"/>
          </a:solidFill>
          <a:ln w="19050">
            <a:solidFill>
              <a:srgbClr val="FFFFFF"/>
            </a:solidFill>
          </a:ln>
        </p:spPr>
        <p:txBody>
          <a:bodyPr/>
          <a:lstStyle/>
          <a:p>
            <a:endParaRPr/>
          </a:p>
        </p:txBody>
      </p:sp>
      <p:sp>
        <p:nvSpPr>
          <p:cNvPr id="2405" name="nl"/>
          <p:cNvSpPr/>
          <p:nvPr/>
        </p:nvSpPr>
        <p:spPr>
          <a:xfrm>
            <a:off x="10795000" y="3327400"/>
            <a:ext cx="254000" cy="254000"/>
          </a:xfrm>
          <a:prstGeom prst="ellipse">
            <a:avLst/>
          </a:prstGeom>
          <a:solidFill>
            <a:srgbClr val="1F3864"/>
          </a:solidFill>
          <a:ln w="19050">
            <a:solidFill>
              <a:srgbClr val="FFFFFF"/>
            </a:solidFill>
          </a:ln>
        </p:spPr>
        <p:txBody>
          <a:bodyPr/>
          <a:lstStyle/>
          <a:p>
            <a:endParaRPr/>
          </a:p>
        </p:txBody>
      </p:sp>
      <p:sp>
        <p:nvSpPr>
          <p:cNvPr id="2406" name="nl"/>
          <p:cNvSpPr/>
          <p:nvPr/>
        </p:nvSpPr>
        <p:spPr>
          <a:xfrm>
            <a:off x="9652000" y="4267200"/>
            <a:ext cx="254000" cy="254000"/>
          </a:xfrm>
          <a:prstGeom prst="ellipse">
            <a:avLst/>
          </a:prstGeom>
          <a:solidFill>
            <a:srgbClr val="1F3864"/>
          </a:solidFill>
          <a:ln w="19050">
            <a:solidFill>
              <a:srgbClr val="FFFFFF"/>
            </a:solidFill>
          </a:ln>
        </p:spPr>
        <p:txBody>
          <a:bodyPr/>
          <a:lstStyle/>
          <a:p>
            <a:endParaRPr/>
          </a:p>
        </p:txBody>
      </p:sp>
      <p:sp>
        <p:nvSpPr>
          <p:cNvPr id="2407" name="nl"/>
          <p:cNvSpPr txBox="1"/>
          <p:nvPr/>
        </p:nvSpPr>
        <p:spPr>
          <a:xfrm>
            <a:off x="8813800" y="3505200"/>
            <a:ext cx="254000" cy="203200"/>
          </a:xfrm>
          <a:prstGeom prst="rect">
            <a:avLst/>
          </a:prstGeom>
          <a:noFill/>
        </p:spPr>
        <p:txBody>
          <a:bodyPr wrap="square" lIns="0" tIns="0" rIns="0" bIns="0" anchor="ctr">
            <a:noAutofit/>
          </a:bodyPr>
          <a:lstStyle/>
          <a:p>
            <a:pPr algn="ctr">
              <a:buNone/>
            </a:pPr>
            <a:r>
              <a:rPr lang="ja-JP" altLang="en-US" sz="1400" b="1" dirty="0">
                <a:solidFill>
                  <a:srgbClr val="C62828"/>
                </a:solidFill>
                <a:latin typeface="Helvetica Neue"/>
                <a:ea typeface="Hiragino Sans"/>
                <a:cs typeface="Hiragino Sans"/>
              </a:rPr>
              <a:t>？</a:t>
            </a:r>
          </a:p>
        </p:txBody>
      </p:sp>
      <p:sp>
        <p:nvSpPr>
          <p:cNvPr id="2408" name="nl"/>
          <p:cNvSpPr txBox="1"/>
          <p:nvPr/>
        </p:nvSpPr>
        <p:spPr>
          <a:xfrm>
            <a:off x="10566400" y="3225800"/>
            <a:ext cx="254000" cy="203200"/>
          </a:xfrm>
          <a:prstGeom prst="rect">
            <a:avLst/>
          </a:prstGeom>
          <a:noFill/>
        </p:spPr>
        <p:txBody>
          <a:bodyPr wrap="square" lIns="0" tIns="0" rIns="0" bIns="0" anchor="ctr">
            <a:noAutofit/>
          </a:bodyPr>
          <a:lstStyle/>
          <a:p>
            <a:pPr algn="ctr">
              <a:buNone/>
            </a:pPr>
            <a:r>
              <a:rPr lang="ja-JP" altLang="en-US" sz="1400" b="1" dirty="0">
                <a:solidFill>
                  <a:srgbClr val="C62828"/>
                </a:solidFill>
                <a:latin typeface="Helvetica Neue"/>
                <a:ea typeface="Hiragino Sans"/>
                <a:cs typeface="Hiragino Sans"/>
              </a:rPr>
              <a:t>？</a:t>
            </a:r>
          </a:p>
        </p:txBody>
      </p:sp>
      <p:sp>
        <p:nvSpPr>
          <p:cNvPr id="2409" name="nl"/>
          <p:cNvSpPr txBox="1"/>
          <p:nvPr/>
        </p:nvSpPr>
        <p:spPr>
          <a:xfrm>
            <a:off x="9829800" y="4191000"/>
            <a:ext cx="254000" cy="203200"/>
          </a:xfrm>
          <a:prstGeom prst="rect">
            <a:avLst/>
          </a:prstGeom>
          <a:noFill/>
        </p:spPr>
        <p:txBody>
          <a:bodyPr wrap="square" lIns="0" tIns="0" rIns="0" bIns="0" anchor="ctr">
            <a:noAutofit/>
          </a:bodyPr>
          <a:lstStyle/>
          <a:p>
            <a:pPr algn="ctr">
              <a:buNone/>
            </a:pPr>
            <a:r>
              <a:rPr lang="ja-JP" altLang="en-US" sz="1400" b="1" dirty="0">
                <a:solidFill>
                  <a:srgbClr val="C62828"/>
                </a:solidFill>
                <a:latin typeface="Helvetica Neue"/>
                <a:ea typeface="Hiragino Sans"/>
                <a:cs typeface="Hiragino Sans"/>
              </a:rPr>
              <a:t>？</a:t>
            </a:r>
          </a:p>
        </p:txBody>
      </p:sp>
      <p:sp>
        <p:nvSpPr>
          <p:cNvPr id="2411" name="nl"/>
          <p:cNvSpPr txBox="1"/>
          <p:nvPr/>
        </p:nvSpPr>
        <p:spPr>
          <a:xfrm>
            <a:off x="8255000" y="3962400"/>
            <a:ext cx="1651000" cy="228600"/>
          </a:xfrm>
          <a:prstGeom prst="rect">
            <a:avLst/>
          </a:prstGeom>
          <a:noFill/>
        </p:spPr>
        <p:txBody>
          <a:bodyPr wrap="square" lIns="0" tIns="0" rIns="0" bIns="0" anchor="ctr">
            <a:noAutofit/>
          </a:bodyPr>
          <a:lstStyle/>
          <a:p>
            <a:pPr algn="l">
              <a:buNone/>
            </a:pPr>
            <a:r>
              <a:rPr lang="ja-JP" altLang="en-US" sz="1400" b="1" dirty="0">
                <a:solidFill>
                  <a:srgbClr val="1F3864"/>
                </a:solidFill>
                <a:latin typeface="Helvetica Neue"/>
                <a:ea typeface="Hiragino Sans"/>
                <a:cs typeface="Hiragino Sans"/>
              </a:rPr>
              <a:t>点＝変電所</a:t>
            </a:r>
          </a:p>
        </p:txBody>
      </p:sp>
      <p:sp>
        <p:nvSpPr>
          <p:cNvPr id="2412" name="nl"/>
          <p:cNvSpPr txBox="1"/>
          <p:nvPr/>
        </p:nvSpPr>
        <p:spPr>
          <a:xfrm>
            <a:off x="9347200" y="3022600"/>
            <a:ext cx="2032000" cy="228600"/>
          </a:xfrm>
          <a:prstGeom prst="rect">
            <a:avLst/>
          </a:prstGeom>
          <a:noFill/>
        </p:spPr>
        <p:txBody>
          <a:bodyPr wrap="square" lIns="0" tIns="0" rIns="0" bIns="0" anchor="ctr">
            <a:noAutofit/>
          </a:bodyPr>
          <a:lstStyle/>
          <a:p>
            <a:pPr algn="l">
              <a:buNone/>
            </a:pPr>
            <a:r>
              <a:rPr lang="ja-JP" altLang="en-US" sz="1400" b="1" dirty="0">
                <a:solidFill>
                  <a:srgbClr val="6E7B90"/>
                </a:solidFill>
                <a:latin typeface="Helvetica Neue"/>
                <a:ea typeface="Hiragino Sans"/>
                <a:cs typeface="Hiragino Sans"/>
              </a:rPr>
              <a:t>線＝送電線の経路</a:t>
            </a:r>
          </a:p>
        </p:txBody>
      </p:sp>
      <p:sp>
        <p:nvSpPr>
          <p:cNvPr id="2413" name="nl"/>
          <p:cNvSpPr txBox="1"/>
          <p:nvPr/>
        </p:nvSpPr>
        <p:spPr>
          <a:xfrm>
            <a:off x="8255000" y="4572000"/>
            <a:ext cx="3175000" cy="203200"/>
          </a:xfrm>
          <a:prstGeom prst="rect">
            <a:avLst/>
          </a:prstGeom>
          <a:noFill/>
        </p:spPr>
        <p:txBody>
          <a:bodyPr wrap="square" lIns="0" tIns="0" rIns="0" bIns="0" anchor="ctr">
            <a:noAutofit/>
          </a:bodyPr>
          <a:lstStyle/>
          <a:p>
            <a:pPr algn="l">
              <a:buNone/>
            </a:pPr>
            <a:r>
              <a:rPr lang="ja-JP" altLang="en-US" sz="1300" dirty="0">
                <a:solidFill>
                  <a:srgbClr val="C62828"/>
                </a:solidFill>
                <a:latin typeface="Helvetica Neue"/>
                <a:ea typeface="Hiragino Sans"/>
                <a:cs typeface="Hiragino Sans"/>
              </a:rPr>
              <a:t>？＝どの線がどの点に付くか不明</a:t>
            </a:r>
          </a:p>
        </p:txBody>
      </p:sp>
      <p:sp>
        <p:nvSpPr>
          <p:cNvPr id="2414" name="nl"/>
          <p:cNvSpPr txBox="1"/>
          <p:nvPr/>
        </p:nvSpPr>
        <p:spPr>
          <a:xfrm>
            <a:off x="8128000" y="4902200"/>
            <a:ext cx="3467100" cy="228600"/>
          </a:xfrm>
          <a:prstGeom prst="rect">
            <a:avLst/>
          </a:prstGeom>
          <a:noFill/>
        </p:spPr>
        <p:txBody>
          <a:bodyPr wrap="square" lIns="0" tIns="0" rIns="0" bIns="0" anchor="ctr">
            <a:noAutofit/>
          </a:bodyPr>
          <a:lstStyle/>
          <a:p>
            <a:pPr algn="l">
              <a:buNone/>
            </a:pPr>
            <a:r>
              <a:rPr lang="ja-JP" altLang="en-US" sz="1400" b="1" dirty="0">
                <a:solidFill>
                  <a:srgbClr val="2E7D32"/>
                </a:solidFill>
                <a:latin typeface="Helvetica Neue"/>
                <a:ea typeface="Hiragino Sans"/>
                <a:cs typeface="Hiragino Sans"/>
              </a:rPr>
              <a:t>○ ある：点の位置・線の経路・電圧タグ</a:t>
            </a:r>
          </a:p>
        </p:txBody>
      </p:sp>
      <p:sp>
        <p:nvSpPr>
          <p:cNvPr id="2415" name="nl"/>
          <p:cNvSpPr txBox="1"/>
          <p:nvPr/>
        </p:nvSpPr>
        <p:spPr>
          <a:xfrm>
            <a:off x="8128000" y="5156200"/>
            <a:ext cx="3467100" cy="228600"/>
          </a:xfrm>
          <a:prstGeom prst="rect">
            <a:avLst/>
          </a:prstGeom>
          <a:noFill/>
        </p:spPr>
        <p:txBody>
          <a:bodyPr wrap="square" lIns="0" tIns="0" rIns="0" bIns="0" anchor="ctr">
            <a:noAutofit/>
          </a:bodyPr>
          <a:lstStyle/>
          <a:p>
            <a:pPr algn="l">
              <a:buNone/>
            </a:pPr>
            <a:r>
              <a:rPr lang="ja-JP" altLang="en-US" sz="1400" b="1" dirty="0">
                <a:solidFill>
                  <a:srgbClr val="C62828"/>
                </a:solidFill>
                <a:latin typeface="Helvetica Neue"/>
                <a:ea typeface="Hiragino Sans"/>
                <a:cs typeface="Hiragino Sans"/>
              </a:rPr>
              <a:t>× 無い：つながり、インピーダンス、需要</a:t>
            </a:r>
          </a:p>
        </p:txBody>
      </p:sp>
      <p:sp>
        <p:nvSpPr>
          <p:cNvPr id="2416" name="nl"/>
          <p:cNvSpPr txBox="1"/>
          <p:nvPr/>
        </p:nvSpPr>
        <p:spPr>
          <a:xfrm>
            <a:off x="8128000" y="5435600"/>
            <a:ext cx="3467100" cy="228600"/>
          </a:xfrm>
          <a:prstGeom prst="rect">
            <a:avLst/>
          </a:prstGeom>
          <a:noFill/>
        </p:spPr>
        <p:txBody>
          <a:bodyPr wrap="square" lIns="0" tIns="0" rIns="0" bIns="0" anchor="ctr">
            <a:noAutofit/>
          </a:bodyPr>
          <a:lstStyle/>
          <a:p>
            <a:pPr algn="l">
              <a:buNone/>
            </a:pPr>
            <a:r>
              <a:rPr lang="ja-JP" altLang="en-US" sz="1400" b="1" dirty="0">
                <a:solidFill>
                  <a:srgbClr val="1F3864"/>
                </a:solidFill>
                <a:latin typeface="Helvetica Neue"/>
                <a:ea typeface="Hiragino Sans"/>
                <a:cs typeface="Hiragino Sans"/>
              </a:rPr>
              <a:t>→ 近接・電圧・運用者から結び、明記する</a:t>
            </a:r>
          </a:p>
        </p:txBody>
      </p:sp>
      <p:cxnSp>
        <p:nvCxnSpPr>
          <p:cNvPr id="2502" name="nl"/>
          <p:cNvCxnSpPr/>
          <p:nvPr/>
        </p:nvCxnSpPr>
        <p:spPr>
          <a:xfrm flipV="1">
            <a:off x="9067800" y="3505200"/>
            <a:ext cx="1524000" cy="254000"/>
          </a:xfrm>
          <a:prstGeom prst="line">
            <a:avLst/>
          </a:prstGeom>
          <a:ln w="28575">
            <a:solidFill>
              <a:srgbClr val="6E7B90"/>
            </a:solidFill>
          </a:ln>
        </p:spPr>
      </p:cxnSp>
      <p:cxnSp>
        <p:nvCxnSpPr>
          <p:cNvPr id="2503" name="nl"/>
          <p:cNvCxnSpPr/>
          <p:nvPr/>
        </p:nvCxnSpPr>
        <p:spPr>
          <a:xfrm flipV="1">
            <a:off x="10058400" y="3683000"/>
            <a:ext cx="685800" cy="508000"/>
          </a:xfrm>
          <a:prstGeom prst="line">
            <a:avLst/>
          </a:prstGeom>
          <a:ln w="28575">
            <a:solidFill>
              <a:srgbClr val="6E7B90"/>
            </a:solidFill>
          </a:ln>
        </p:spPr>
      </p:cxnSp>
      <p:sp>
        <p:nvSpPr>
          <p:cNvPr id="18" name="テキスト ボックス 17">
            <a:extLst>
              <a:ext uri="{FF2B5EF4-FFF2-40B4-BE49-F238E27FC236}">
                <a16:creationId xmlns:a16="http://schemas.microsoft.com/office/drawing/2014/main" id="{8B704090-1A38-D59B-2E90-5CA59F68CA18}"/>
              </a:ext>
            </a:extLst>
          </p:cNvPr>
          <p:cNvSpPr txBox="1"/>
          <p:nvPr/>
        </p:nvSpPr>
        <p:spPr>
          <a:xfrm>
            <a:off x="1023730" y="6013174"/>
            <a:ext cx="1338828" cy="369332"/>
          </a:xfrm>
          <a:prstGeom prst="rect">
            <a:avLst/>
          </a:prstGeom>
          <a:noFill/>
        </p:spPr>
        <p:txBody>
          <a:bodyPr wrap="none" rtlCol="0">
            <a:spAutoFit/>
          </a:bodyPr>
          <a:lstStyle/>
          <a:p>
            <a:r>
              <a:rPr kumimoji="1" lang="ja-JP" altLang="en-US"/>
              <a:t>収録割合。</a:t>
            </a:r>
          </a:p>
        </p:txBody>
      </p:sp>
      <p:pic>
        <p:nvPicPr>
          <p:cNvPr id="19" name="図 18">
            <a:extLst>
              <a:ext uri="{FF2B5EF4-FFF2-40B4-BE49-F238E27FC236}">
                <a16:creationId xmlns:a16="http://schemas.microsoft.com/office/drawing/2014/main" id="{4EC0FA88-7E4C-D06F-E4AA-33BA76B4C9B0}"/>
              </a:ext>
            </a:extLst>
          </p:cNvPr>
          <p:cNvPicPr>
            <a:picLocks noChangeAspect="1"/>
          </p:cNvPicPr>
          <p:nvPr/>
        </p:nvPicPr>
        <p:blipFill rotWithShape="1">
          <a:blip r:embed="rId4"/>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3958605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algn="l">
              <a:buNone/>
            </a:pPr>
            <a:r>
              <a:rPr lang="ja-JP" altLang="en-US" sz="2800" b="1" dirty="0">
                <a:solidFill>
                  <a:srgbClr val="1A1A1A"/>
                </a:solidFill>
                <a:latin typeface="Helvetica Neue"/>
                <a:ea typeface="Hiragino Sans"/>
                <a:cs typeface="Hiragino Sans"/>
              </a:rPr>
              <a:t>状況整理</a:t>
            </a:r>
          </a:p>
        </p:txBody>
      </p:sp>
      <p:sp>
        <p:nvSpPr>
          <p:cNvPr id="5" name="Text 3"/>
          <p:cNvSpPr/>
          <p:nvPr/>
        </p:nvSpPr>
        <p:spPr>
          <a:xfrm>
            <a:off x="621792" y="731520"/>
            <a:ext cx="10972800" cy="292608"/>
          </a:xfrm>
          <a:prstGeom prst="rect">
            <a:avLst/>
          </a:prstGeom>
          <a:noFill/>
          <a:ln/>
        </p:spPr>
        <p:txBody>
          <a:bodyPr wrap="square" lIns="0" tIns="0" rIns="0" bIns="0" rtlCol="0" anchor="ctr"/>
          <a:lstStyle/>
          <a:p>
            <a:pPr algn="l">
              <a:buNone/>
            </a:pPr>
            <a:r>
              <a:rPr lang="ja-JP" altLang="en-US" sz="1600" dirty="0">
                <a:solidFill>
                  <a:srgbClr val="55555F"/>
                </a:solidFill>
                <a:latin typeface="Helvetica Neue"/>
                <a:ea typeface="Hiragino Sans"/>
                <a:cs typeface="Hiragino Sans"/>
              </a:rPr>
              <a:t>弱点は隠さず列挙し、次のパートで検証手順として回収する</a:t>
            </a:r>
          </a:p>
        </p:txBody>
      </p:sp>
      <p:sp>
        <p:nvSpPr>
          <p:cNvPr id="58" name="Shape 56"/>
          <p:cNvSpPr/>
          <p:nvPr/>
        </p:nvSpPr>
        <p:spPr>
          <a:xfrm>
            <a:off x="825500" y="2184400"/>
            <a:ext cx="10604500" cy="2133600"/>
          </a:xfrm>
          <a:prstGeom prst="roundRect">
            <a:avLst>
              <a:gd name="adj" fmla="val 4000"/>
            </a:avLst>
          </a:prstGeom>
          <a:solidFill>
            <a:srgbClr val="F4F4F6"/>
          </a:solidFill>
          <a:ln/>
        </p:spPr>
        <p:txBody>
          <a:bodyPr/>
          <a:lstStyle/>
          <a:p>
            <a:endParaRPr lang="ja-JP" altLang="en-US"/>
          </a:p>
        </p:txBody>
      </p:sp>
      <p:sp>
        <p:nvSpPr>
          <p:cNvPr id="59" name="Shape 57"/>
          <p:cNvSpPr/>
          <p:nvPr/>
        </p:nvSpPr>
        <p:spPr>
          <a:xfrm>
            <a:off x="1168400" y="2565400"/>
            <a:ext cx="152400" cy="152400"/>
          </a:xfrm>
          <a:prstGeom prst="rect">
            <a:avLst/>
          </a:prstGeom>
          <a:solidFill>
            <a:srgbClr val="C0392B"/>
          </a:solidFill>
          <a:ln/>
        </p:spPr>
        <p:txBody>
          <a:bodyPr/>
          <a:lstStyle/>
          <a:p>
            <a:endParaRPr lang="ja-JP" altLang="en-US"/>
          </a:p>
        </p:txBody>
      </p:sp>
      <p:sp>
        <p:nvSpPr>
          <p:cNvPr id="60" name="Text 58"/>
          <p:cNvSpPr/>
          <p:nvPr/>
        </p:nvSpPr>
        <p:spPr>
          <a:xfrm>
            <a:off x="1447800" y="2438400"/>
            <a:ext cx="7620000" cy="381000"/>
          </a:xfrm>
          <a:prstGeom prst="rect">
            <a:avLst/>
          </a:prstGeom>
          <a:noFill/>
          <a:ln/>
        </p:spPr>
        <p:txBody>
          <a:bodyPr wrap="square" lIns="0" tIns="0" rIns="0" bIns="0" rtlCol="0" anchor="ctr"/>
          <a:lstStyle/>
          <a:p>
            <a:pPr algn="l">
              <a:buNone/>
            </a:pPr>
            <a:r>
              <a:rPr lang="ja-JP" altLang="en-US" sz="1900" b="1" dirty="0">
                <a:solidFill>
                  <a:srgbClr val="C62828"/>
                </a:solidFill>
                <a:latin typeface="Helvetica Neue"/>
                <a:ea typeface="Hiragino Sans"/>
                <a:cs typeface="Hiragino Sans"/>
              </a:rPr>
              <a:t>言えないこと ― 足りない点</a:t>
            </a:r>
          </a:p>
        </p:txBody>
      </p:sp>
      <p:sp>
        <p:nvSpPr>
          <p:cNvPr id="61" name="Text 59"/>
          <p:cNvSpPr/>
          <p:nvPr/>
        </p:nvSpPr>
        <p:spPr>
          <a:xfrm>
            <a:off x="1193800" y="2844800"/>
            <a:ext cx="9652000" cy="1422400"/>
          </a:xfrm>
          <a:prstGeom prst="rect">
            <a:avLst/>
          </a:prstGeom>
          <a:noFill/>
          <a:ln/>
        </p:spPr>
        <p:txBody>
          <a:bodyPr wrap="square" lIns="0" tIns="0" rIns="0" bIns="0" rtlCol="0" anchor="t"/>
          <a:lstStyle/>
          <a:p>
            <a:pPr marL="228600" indent="-228600" algn="l">
              <a:lnSpc>
                <a:spcPct val="118000"/>
              </a:lnSpc>
              <a:spcBef>
                <a:spcPts val="600"/>
              </a:spcBef>
              <a:buFont typeface="Arial"/>
              <a:buChar char="・"/>
            </a:pPr>
            <a:r>
              <a:rPr lang="ja-JP" altLang="en-US" sz="1700" dirty="0">
                <a:solidFill>
                  <a:srgbClr val="1A1A1A"/>
                </a:solidFill>
                <a:latin typeface="Helvetica Neue"/>
                <a:ea typeface="Hiragino Sans"/>
                <a:cs typeface="Hiragino Sans"/>
              </a:rPr>
              <a:t>だれでも再実行できる自動手順が未整備（現状は手作業を含む）</a:t>
            </a:r>
          </a:p>
          <a:p>
            <a:pPr marL="228600" indent="-228600" algn="l">
              <a:lnSpc>
                <a:spcPct val="118000"/>
              </a:lnSpc>
              <a:spcBef>
                <a:spcPts val="600"/>
              </a:spcBef>
              <a:buFont typeface="Arial"/>
              <a:buChar char="・"/>
            </a:pPr>
            <a:r>
              <a:rPr lang="ja-JP" altLang="en-US" sz="1700" dirty="0">
                <a:solidFill>
                  <a:srgbClr val="1A1A1A"/>
                </a:solidFill>
                <a:latin typeface="Helvetica Neue"/>
                <a:ea typeface="Hiragino Sans"/>
                <a:cs typeface="Hiragino Sans"/>
              </a:rPr>
              <a:t>DOI の登録と査読つき出版がまだ（本発表が初出）</a:t>
            </a:r>
          </a:p>
          <a:p>
            <a:pPr marL="228600" indent="-228600" algn="l">
              <a:lnSpc>
                <a:spcPct val="118000"/>
              </a:lnSpc>
              <a:spcBef>
                <a:spcPts val="600"/>
              </a:spcBef>
              <a:buFont typeface="Arial"/>
              <a:buChar char="・"/>
            </a:pPr>
            <a:r>
              <a:rPr lang="ja-JP" altLang="en-US" sz="1700" dirty="0">
                <a:solidFill>
                  <a:srgbClr val="1A1A1A"/>
                </a:solidFill>
                <a:latin typeface="Helvetica Neue"/>
                <a:ea typeface="Hiragino Sans"/>
                <a:cs typeface="Hiragino Sans"/>
              </a:rPr>
              <a:t>つながり方そのものの検証が浅い（結線の正しさは今後）</a:t>
            </a:r>
          </a:p>
          <a:p>
            <a:pPr marL="0" indent="0" algn="l">
              <a:spcBef>
                <a:spcPts val="1000"/>
              </a:spcBef>
              <a:buNone/>
            </a:pPr>
            <a:r>
              <a:rPr lang="ja-JP" altLang="en-US" sz="1700" b="1" dirty="0">
                <a:solidFill>
                  <a:srgbClr val="C62828"/>
                </a:solidFill>
                <a:latin typeface="Helvetica Neue"/>
                <a:ea typeface="Hiragino Sans"/>
                <a:cs typeface="Hiragino Sans"/>
              </a:rPr>
              <a:t>→ 総合力では PyPSA-Eur に及ばないかも。</a:t>
            </a:r>
          </a:p>
        </p:txBody>
      </p:sp>
      <p:sp>
        <p:nvSpPr>
          <p:cNvPr id="62" name="Text 60"/>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3" name="Text 61"/>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64" name="Text 62"/>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sp>
        <p:nvSpPr>
          <p:cNvPr id="6" name="正方形/長方形 5">
            <a:extLst>
              <a:ext uri="{FF2B5EF4-FFF2-40B4-BE49-F238E27FC236}">
                <a16:creationId xmlns:a16="http://schemas.microsoft.com/office/drawing/2014/main" id="{DB5F6AF3-53A5-7541-BAF4-E5D331AC2246}"/>
              </a:ext>
            </a:extLst>
          </p:cNvPr>
          <p:cNvSpPr/>
          <p:nvPr/>
        </p:nvSpPr>
        <p:spPr>
          <a:xfrm>
            <a:off x="825500" y="5638800"/>
            <a:ext cx="10604500" cy="558800"/>
          </a:xfrm>
          <a:prstGeom prst="rect">
            <a:avLst/>
          </a:prstGeom>
          <a:solidFill>
            <a:srgbClr val="EDF1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Text 63"/>
          <p:cNvSpPr/>
          <p:nvPr/>
        </p:nvSpPr>
        <p:spPr>
          <a:xfrm>
            <a:off x="1079500" y="5638800"/>
            <a:ext cx="10160000" cy="558800"/>
          </a:xfrm>
          <a:prstGeom prst="rect">
            <a:avLst/>
          </a:prstGeom>
          <a:noFill/>
          <a:ln/>
        </p:spPr>
        <p:txBody>
          <a:bodyPr wrap="square" lIns="0" tIns="0" rIns="0" bIns="0" rtlCol="0" anchor="ctr" anchorCtr="0"/>
          <a:lstStyle/>
          <a:p>
            <a:pPr algn="l">
              <a:buNone/>
            </a:pPr>
            <a:r>
              <a:rPr lang="ja-JP" altLang="en-US" sz="1700" b="1" dirty="0">
                <a:solidFill>
                  <a:srgbClr val="1F3864"/>
                </a:solidFill>
                <a:latin typeface="Helvetica Neue"/>
                <a:ea typeface="Hiragino Sans"/>
                <a:cs typeface="Hiragino Sans"/>
              </a:rPr>
              <a:t>検証は3段階で行う：公式の公開値との照合 → 実測潮流との順位比較 → 標準形式への適合</a:t>
            </a:r>
          </a:p>
        </p:txBody>
      </p:sp>
      <p:sp>
        <p:nvSpPr>
          <p:cNvPr id="7" name="正方形/長方形 6">
            <a:extLst>
              <a:ext uri="{FF2B5EF4-FFF2-40B4-BE49-F238E27FC236}">
                <a16:creationId xmlns:a16="http://schemas.microsoft.com/office/drawing/2014/main" id="{91A1DA86-BCAA-B347-B468-E262B5460519}"/>
              </a:ext>
            </a:extLst>
          </p:cNvPr>
          <p:cNvSpPr/>
          <p:nvPr/>
        </p:nvSpPr>
        <p:spPr>
          <a:xfrm>
            <a:off x="825500" y="1270000"/>
            <a:ext cx="10604500" cy="711200"/>
          </a:xfrm>
          <a:prstGeom prst="rect">
            <a:avLst/>
          </a:prstGeom>
          <a:solidFill>
            <a:srgbClr val="EAF2F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900" b="1">
                <a:solidFill>
                  <a:srgbClr val="1F3864"/>
                </a:solidFill>
                <a:latin typeface="Hiragino Sans"/>
                <a:ea typeface="Hiragino Sans"/>
              </a:rPr>
              <a:t>言えること：日本全国 </a:t>
            </a:r>
            <a:r>
              <a:rPr lang="en-US" altLang="ja-JP" sz="1900" b="1">
                <a:solidFill>
                  <a:srgbClr val="1F3864"/>
                </a:solidFill>
                <a:latin typeface="Hiragino Sans"/>
                <a:ea typeface="Hiragino Sans"/>
              </a:rPr>
              <a:t>× </a:t>
            </a:r>
            <a:r>
              <a:rPr lang="ja-JP" altLang="en-US" sz="1900" b="1">
                <a:solidFill>
                  <a:srgbClr val="1F3864"/>
                </a:solidFill>
                <a:latin typeface="Hiragino Sans"/>
                <a:ea typeface="Hiragino Sans"/>
              </a:rPr>
              <a:t>標準形式で出力 </a:t>
            </a:r>
            <a:r>
              <a:rPr lang="en-US" altLang="ja-JP" sz="1900" b="1">
                <a:solidFill>
                  <a:srgbClr val="1F3864"/>
                </a:solidFill>
                <a:latin typeface="Hiragino Sans"/>
                <a:ea typeface="Hiragino Sans"/>
              </a:rPr>
              <a:t>× </a:t>
            </a:r>
            <a:r>
              <a:rPr lang="ja-JP" altLang="en-US" sz="1900" b="1">
                <a:solidFill>
                  <a:srgbClr val="1F3864"/>
                </a:solidFill>
                <a:latin typeface="Hiragino Sans"/>
                <a:ea typeface="Hiragino Sans"/>
              </a:rPr>
              <a:t>実測との照合 </a:t>
            </a:r>
            <a:r>
              <a:rPr lang="en-US" altLang="ja-JP" sz="1900" b="1">
                <a:solidFill>
                  <a:srgbClr val="1F3864"/>
                </a:solidFill>
                <a:latin typeface="Hiragino Sans"/>
                <a:ea typeface="Hiragino Sans"/>
              </a:rPr>
              <a:t>― </a:t>
            </a:r>
            <a:r>
              <a:rPr lang="ja-JP" altLang="en-US" sz="1900" b="1">
                <a:solidFill>
                  <a:srgbClr val="1F3864"/>
                </a:solidFill>
                <a:latin typeface="Hiragino Sans"/>
                <a:ea typeface="Hiragino Sans"/>
              </a:rPr>
              <a:t>この</a:t>
            </a:r>
            <a:r>
              <a:rPr lang="en-US" altLang="ja-JP" sz="1900" b="1">
                <a:solidFill>
                  <a:srgbClr val="1F3864"/>
                </a:solidFill>
                <a:latin typeface="Hiragino Sans"/>
                <a:ea typeface="Hiragino Sans"/>
              </a:rPr>
              <a:t>3</a:t>
            </a:r>
            <a:r>
              <a:rPr lang="ja-JP" altLang="en-US" sz="1900" b="1">
                <a:solidFill>
                  <a:srgbClr val="1F3864"/>
                </a:solidFill>
                <a:latin typeface="Hiragino Sans"/>
                <a:ea typeface="Hiragino Sans"/>
              </a:rPr>
              <a:t>つが同時に揃うのは初めて</a:t>
            </a:r>
          </a:p>
        </p:txBody>
      </p:sp>
      <p:sp>
        <p:nvSpPr>
          <p:cNvPr id="8" name="正方形/長方形 7">
            <a:extLst>
              <a:ext uri="{FF2B5EF4-FFF2-40B4-BE49-F238E27FC236}">
                <a16:creationId xmlns:a16="http://schemas.microsoft.com/office/drawing/2014/main" id="{B9AC96CC-3B67-E947-94C7-1EA0EBCB0C84}"/>
              </a:ext>
            </a:extLst>
          </p:cNvPr>
          <p:cNvSpPr/>
          <p:nvPr/>
        </p:nvSpPr>
        <p:spPr>
          <a:xfrm>
            <a:off x="825500" y="4470400"/>
            <a:ext cx="10604500" cy="1016000"/>
          </a:xfrm>
          <a:prstGeom prst="rect">
            <a:avLst/>
          </a:prstGeom>
          <a:solidFill>
            <a:srgbClr val="F2F7F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372C9879-A754-CA4E-84DA-EDB9D91CE222}"/>
              </a:ext>
            </a:extLst>
          </p:cNvPr>
          <p:cNvSpPr txBox="1"/>
          <p:nvPr/>
        </p:nvSpPr>
        <p:spPr>
          <a:xfrm>
            <a:off x="1168400" y="4572000"/>
            <a:ext cx="3810000" cy="304800"/>
          </a:xfrm>
          <a:prstGeom prst="rect">
            <a:avLst/>
          </a:prstGeom>
          <a:noFill/>
        </p:spPr>
        <p:txBody>
          <a:bodyPr vertOverflow="overflow" vert="horz" wrap="square" rtlCol="0" anchor="t">
            <a:noAutofit/>
          </a:bodyPr>
          <a:lstStyle/>
          <a:p>
            <a:pPr algn="l"/>
            <a:r>
              <a:rPr lang="ja-JP" altLang="en-US" b="1">
                <a:solidFill>
                  <a:srgbClr val="2E7D32"/>
                </a:solidFill>
                <a:latin typeface="Hiragino Sans"/>
                <a:ea typeface="Hiragino Sans"/>
              </a:rPr>
              <a:t>埋め方 </a:t>
            </a:r>
            <a:r>
              <a:rPr lang="en-US" altLang="ja-JP" b="1">
                <a:solidFill>
                  <a:srgbClr val="2E7D32"/>
                </a:solidFill>
                <a:latin typeface="Hiragino Sans"/>
                <a:ea typeface="Hiragino Sans"/>
              </a:rPr>
              <a:t>― </a:t>
            </a:r>
            <a:r>
              <a:rPr lang="ja-JP" altLang="en-US" b="1">
                <a:solidFill>
                  <a:srgbClr val="2E7D32"/>
                </a:solidFill>
                <a:latin typeface="Hiragino Sans"/>
                <a:ea typeface="Hiragino Sans"/>
              </a:rPr>
              <a:t>次の一手</a:t>
            </a:r>
          </a:p>
        </p:txBody>
      </p:sp>
      <p:sp>
        <p:nvSpPr>
          <p:cNvPr id="10" name="テキスト ボックス 9">
            <a:extLst>
              <a:ext uri="{FF2B5EF4-FFF2-40B4-BE49-F238E27FC236}">
                <a16:creationId xmlns:a16="http://schemas.microsoft.com/office/drawing/2014/main" id="{0639D9F4-154B-A84B-8A0A-4BC4ECBB10A4}"/>
              </a:ext>
            </a:extLst>
          </p:cNvPr>
          <p:cNvSpPr txBox="1"/>
          <p:nvPr/>
        </p:nvSpPr>
        <p:spPr>
          <a:xfrm>
            <a:off x="1168400" y="4902200"/>
            <a:ext cx="10033000" cy="508000"/>
          </a:xfrm>
          <a:prstGeom prst="rect">
            <a:avLst/>
          </a:prstGeom>
          <a:noFill/>
        </p:spPr>
        <p:txBody>
          <a:bodyPr vertOverflow="overflow" vert="horz" wrap="square" rtlCol="0" anchor="t">
            <a:noAutofit/>
          </a:bodyPr>
          <a:lstStyle/>
          <a:p>
            <a:pPr algn="l"/>
            <a:r>
              <a:rPr lang="ja-JP" altLang="en-US" sz="1600">
                <a:solidFill>
                  <a:srgbClr val="1A1A1A"/>
                </a:solidFill>
                <a:latin typeface="Hiragino Sans"/>
                <a:ea typeface="Hiragino Sans"/>
              </a:rPr>
              <a:t>自動手順 → ワークフロー化（</a:t>
            </a:r>
            <a:r>
              <a:rPr lang="en" altLang="ja-JP" sz="1600">
                <a:solidFill>
                  <a:srgbClr val="1A1A1A"/>
                </a:solidFill>
                <a:latin typeface="Hiragino Sans"/>
                <a:ea typeface="Hiragino Sans"/>
              </a:rPr>
              <a:t>Snakemake</a:t>
            </a:r>
            <a:r>
              <a:rPr lang="ja-JP" altLang="en" sz="1600">
                <a:solidFill>
                  <a:srgbClr val="1A1A1A"/>
                </a:solidFill>
                <a:latin typeface="Hiragino Sans"/>
                <a:ea typeface="Hiragino Sans"/>
              </a:rPr>
              <a:t>）　｜　</a:t>
            </a:r>
            <a:r>
              <a:rPr lang="en" altLang="ja-JP" sz="1600">
                <a:solidFill>
                  <a:srgbClr val="1A1A1A"/>
                </a:solidFill>
                <a:latin typeface="Hiragino Sans"/>
                <a:ea typeface="Hiragino Sans"/>
              </a:rPr>
              <a:t>DOI</a:t>
            </a:r>
            <a:r>
              <a:rPr lang="ja-JP" altLang="en" sz="1600">
                <a:solidFill>
                  <a:srgbClr val="1A1A1A"/>
                </a:solidFill>
                <a:latin typeface="Hiragino Sans"/>
                <a:ea typeface="Hiragino Sans"/>
              </a:rPr>
              <a:t>・</a:t>
            </a:r>
            <a:r>
              <a:rPr lang="ja-JP" altLang="en-US" sz="1600">
                <a:solidFill>
                  <a:srgbClr val="1A1A1A"/>
                </a:solidFill>
                <a:latin typeface="Hiragino Sans"/>
                <a:ea typeface="Hiragino Sans"/>
              </a:rPr>
              <a:t>査読 → </a:t>
            </a:r>
            <a:r>
              <a:rPr lang="en" altLang="ja-JP" sz="1600">
                <a:solidFill>
                  <a:srgbClr val="1A1A1A"/>
                </a:solidFill>
                <a:latin typeface="Hiragino Sans"/>
                <a:ea typeface="Hiragino Sans"/>
              </a:rPr>
              <a:t>Zenodo </a:t>
            </a:r>
            <a:r>
              <a:rPr lang="ja-JP" altLang="en-US" sz="1600">
                <a:solidFill>
                  <a:srgbClr val="1A1A1A"/>
                </a:solidFill>
                <a:latin typeface="Hiragino Sans"/>
                <a:ea typeface="Hiragino Sans"/>
              </a:rPr>
              <a:t>寄託のうえ論文投稿　｜　結線の検証 → 連結性の指標と目視サンプル検査</a:t>
            </a:r>
          </a:p>
        </p:txBody>
      </p:sp>
      <p:pic>
        <p:nvPicPr>
          <p:cNvPr id="11" name="図 10">
            <a:extLst>
              <a:ext uri="{FF2B5EF4-FFF2-40B4-BE49-F238E27FC236}">
                <a16:creationId xmlns:a16="http://schemas.microsoft.com/office/drawing/2014/main" id="{02EDE0DF-5C21-69F8-70C6-00E5074BFA76}"/>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54659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101"/>
          <p:cNvSpPr txBox="1"/>
          <p:nvPr/>
        </p:nvSpPr>
        <p:spPr>
          <a:xfrm>
            <a:off x="546100" y="279400"/>
            <a:ext cx="11099800" cy="292100"/>
          </a:xfrm>
          <a:prstGeom prst="rect">
            <a:avLst/>
          </a:prstGeom>
          <a:noFill/>
        </p:spPr>
        <p:txBody>
          <a:bodyPr wrap="square" lIns="0" tIns="0" rIns="0" bIns="0" anchor="t"/>
          <a:lstStyle/>
          <a:p>
            <a:pPr marL="0" indent="0" algn="l">
              <a:buNone/>
            </a:pPr>
            <a:r>
              <a:rPr lang="ja-JP" altLang="en-US" sz="1300" b="1" i="0" spc="120" dirty="0">
                <a:solidFill>
                  <a:srgbClr val="8A2E3B"/>
                </a:solidFill>
                <a:latin typeface="Calibri"/>
                <a:ea typeface="ＭＳ Ｐゴシック"/>
              </a:rPr>
              <a:t>土台 ｜ OpenStreetMap</a:t>
            </a:r>
          </a:p>
        </p:txBody>
      </p:sp>
      <p:sp>
        <p:nvSpPr>
          <p:cNvPr id="101" name="S102"/>
          <p:cNvSpPr/>
          <p:nvPr/>
        </p:nvSpPr>
        <p:spPr>
          <a:xfrm>
            <a:off x="546100" y="736600"/>
            <a:ext cx="11099800" cy="12700"/>
          </a:xfrm>
          <a:prstGeom prst="rect">
            <a:avLst/>
          </a:prstGeom>
          <a:solidFill>
            <a:srgbClr val="D8DCE3"/>
          </a:solidFill>
          <a:ln>
            <a:noFill/>
          </a:ln>
        </p:spPr>
        <p:txBody>
          <a:bodyPr/>
          <a:lstStyle/>
          <a:p>
            <a:endParaRPr lang="ja-JP"/>
          </a:p>
        </p:txBody>
      </p:sp>
      <p:sp>
        <p:nvSpPr>
          <p:cNvPr id="102" name="S103"/>
          <p:cNvSpPr/>
          <p:nvPr/>
        </p:nvSpPr>
        <p:spPr>
          <a:xfrm>
            <a:off x="546100" y="711200"/>
            <a:ext cx="736600" cy="38100"/>
          </a:xfrm>
          <a:prstGeom prst="rect">
            <a:avLst/>
          </a:prstGeom>
          <a:solidFill>
            <a:srgbClr val="8A2E3B"/>
          </a:solidFill>
          <a:ln>
            <a:noFill/>
          </a:ln>
        </p:spPr>
        <p:txBody>
          <a:bodyPr/>
          <a:lstStyle/>
          <a:p>
            <a:endParaRPr lang="ja-JP"/>
          </a:p>
        </p:txBody>
      </p:sp>
      <p:sp>
        <p:nvSpPr>
          <p:cNvPr id="103" name="T104"/>
          <p:cNvSpPr txBox="1"/>
          <p:nvPr/>
        </p:nvSpPr>
        <p:spPr>
          <a:xfrm>
            <a:off x="546100" y="812800"/>
            <a:ext cx="11099800" cy="508000"/>
          </a:xfrm>
          <a:prstGeom prst="rect">
            <a:avLst/>
          </a:prstGeom>
          <a:noFill/>
        </p:spPr>
        <p:txBody>
          <a:bodyPr wrap="square" lIns="0" tIns="0" rIns="0" bIns="0" anchor="t"/>
          <a:lstStyle/>
          <a:p>
            <a:pPr marL="0" indent="0" algn="l">
              <a:buNone/>
            </a:pPr>
            <a:r>
              <a:rPr lang="ja-JP" altLang="en-US" sz="2400" b="1" i="0" spc="0" dirty="0">
                <a:solidFill>
                  <a:srgbClr val="1A2744"/>
                </a:solidFill>
                <a:latin typeface="Calibri"/>
                <a:ea typeface="ＭＳ Ｐゴシック"/>
              </a:rPr>
              <a:t>誰でも編集できる世界地図 —系統モデルの</a:t>
            </a:r>
            <a:r>
              <a:rPr lang="ja-JP" altLang="en-US" sz="2400" b="1" dirty="0">
                <a:solidFill>
                  <a:srgbClr val="1A2744"/>
                </a:solidFill>
                <a:latin typeface="Calibri"/>
                <a:ea typeface="ＭＳ Ｐゴシック"/>
              </a:rPr>
              <a:t>オープンな</a:t>
            </a:r>
            <a:r>
              <a:rPr lang="ja-JP" altLang="en-US" sz="2400" b="1" i="0" spc="0" dirty="0">
                <a:solidFill>
                  <a:srgbClr val="1A2744"/>
                </a:solidFill>
                <a:latin typeface="Calibri"/>
                <a:ea typeface="ＭＳ Ｐゴシック"/>
              </a:rPr>
              <a:t>土台にもなる可能性</a:t>
            </a:r>
          </a:p>
        </p:txBody>
      </p:sp>
      <p:sp>
        <p:nvSpPr>
          <p:cNvPr id="104" name="T105"/>
          <p:cNvSpPr txBox="1"/>
          <p:nvPr/>
        </p:nvSpPr>
        <p:spPr>
          <a:xfrm>
            <a:off x="546100" y="1397000"/>
            <a:ext cx="11099800" cy="254000"/>
          </a:xfrm>
          <a:prstGeom prst="rect">
            <a:avLst/>
          </a:prstGeom>
          <a:noFill/>
        </p:spPr>
        <p:txBody>
          <a:bodyPr wrap="square" lIns="0" tIns="0" rIns="0" bIns="0" anchor="t"/>
          <a:lstStyle/>
          <a:p>
            <a:pPr marL="0" indent="0" algn="l">
              <a:buNone/>
            </a:pPr>
            <a:r>
              <a:rPr lang="ja-JP" altLang="en-US" sz="1350" b="0" i="0" spc="0" dirty="0">
                <a:solidFill>
                  <a:srgbClr val="333F52"/>
                </a:solidFill>
                <a:latin typeface="Calibri"/>
                <a:ea typeface="ＭＳ Ｐゴシック"/>
              </a:rPr>
              <a:t>2004年開始。Google 以外の地図大手は、少なくとも一部の国で OSM のデータを使っている。</a:t>
            </a:r>
          </a:p>
        </p:txBody>
      </p:sp>
      <p:sp>
        <p:nvSpPr>
          <p:cNvPr id="105" name="S106"/>
          <p:cNvSpPr/>
          <p:nvPr/>
        </p:nvSpPr>
        <p:spPr>
          <a:xfrm>
            <a:off x="546100" y="1752600"/>
            <a:ext cx="3581400" cy="1447800"/>
          </a:xfrm>
          <a:prstGeom prst="rect">
            <a:avLst/>
          </a:prstGeom>
          <a:solidFill>
            <a:srgbClr val="EEF1F6"/>
          </a:solidFill>
          <a:ln>
            <a:noFill/>
          </a:ln>
        </p:spPr>
        <p:txBody>
          <a:bodyPr/>
          <a:lstStyle/>
          <a:p>
            <a:endParaRPr lang="ja-JP"/>
          </a:p>
        </p:txBody>
      </p:sp>
      <p:sp>
        <p:nvSpPr>
          <p:cNvPr id="106" name="S107"/>
          <p:cNvSpPr/>
          <p:nvPr/>
        </p:nvSpPr>
        <p:spPr>
          <a:xfrm>
            <a:off x="546100" y="1752600"/>
            <a:ext cx="38100" cy="1447800"/>
          </a:xfrm>
          <a:prstGeom prst="rect">
            <a:avLst/>
          </a:prstGeom>
          <a:solidFill>
            <a:srgbClr val="1F6FB5"/>
          </a:solidFill>
          <a:ln>
            <a:noFill/>
          </a:ln>
        </p:spPr>
        <p:txBody>
          <a:bodyPr/>
          <a:lstStyle/>
          <a:p>
            <a:endParaRPr lang="ja-JP"/>
          </a:p>
        </p:txBody>
      </p:sp>
      <p:sp>
        <p:nvSpPr>
          <p:cNvPr id="107" name="T108"/>
          <p:cNvSpPr txBox="1"/>
          <p:nvPr/>
        </p:nvSpPr>
        <p:spPr>
          <a:xfrm>
            <a:off x="749300" y="1879600"/>
            <a:ext cx="3175000" cy="228600"/>
          </a:xfrm>
          <a:prstGeom prst="rect">
            <a:avLst/>
          </a:prstGeom>
          <a:noFill/>
        </p:spPr>
        <p:txBody>
          <a:bodyPr wrap="square" lIns="0" tIns="0" rIns="0" bIns="0" anchor="t"/>
          <a:lstStyle/>
          <a:p>
            <a:pPr marL="0" indent="0" algn="l">
              <a:buNone/>
            </a:pPr>
            <a:r>
              <a:rPr lang="ja-JP" altLang="en-US" sz="1350" b="1" i="0" spc="0" dirty="0">
                <a:solidFill>
                  <a:srgbClr val="1A2744"/>
                </a:solidFill>
                <a:latin typeface="Calibri"/>
                <a:ea typeface="ＭＳ Ｐゴシック"/>
              </a:rPr>
              <a:t>何でできているか</a:t>
            </a:r>
          </a:p>
        </p:txBody>
      </p:sp>
      <p:sp>
        <p:nvSpPr>
          <p:cNvPr id="108" name="T109"/>
          <p:cNvSpPr txBox="1"/>
          <p:nvPr/>
        </p:nvSpPr>
        <p:spPr>
          <a:xfrm>
            <a:off x="749300" y="2159000"/>
            <a:ext cx="3175000" cy="965200"/>
          </a:xfrm>
          <a:prstGeom prst="rect">
            <a:avLst/>
          </a:prstGeom>
          <a:noFill/>
        </p:spPr>
        <p:txBody>
          <a:bodyPr wrap="square" lIns="0" tIns="0" rIns="0" bIns="0" anchor="t"/>
          <a:lstStyle/>
          <a:p>
            <a:pPr marL="120000" indent="-120000" algn="l">
              <a:lnSpc>
                <a:spcPct val="114000"/>
              </a:lnSpc>
              <a:buFont typeface="Arial"/>
              <a:buChar char="・"/>
            </a:pPr>
            <a:r>
              <a:rPr lang="ja-JP" altLang="en-US" sz="1150" b="0" i="0" spc="0" dirty="0">
                <a:solidFill>
                  <a:srgbClr val="333F52"/>
                </a:solidFill>
                <a:latin typeface="Calibri"/>
                <a:ea typeface="ＭＳ Ｐゴシック"/>
              </a:rPr>
              <a:t>点(node)・線(way)・関係(relation) に key=value のタグが付くだけ</a:t>
            </a:r>
          </a:p>
          <a:p>
            <a:pPr marL="120000" indent="-120000" algn="l">
              <a:lnSpc>
                <a:spcPct val="114000"/>
              </a:lnSpc>
              <a:spcBef>
                <a:spcPts val="300"/>
              </a:spcBef>
              <a:buFont typeface="Arial"/>
              <a:buChar char="・"/>
            </a:pPr>
            <a:r>
              <a:rPr lang="ja-JP" altLang="en-US" sz="1150" b="0" i="0" spc="0" dirty="0">
                <a:solidFill>
                  <a:srgbClr val="333F52"/>
                </a:solidFill>
                <a:latin typeface="Calibri"/>
                <a:ea typeface="ＭＳ Ｐゴシック"/>
              </a:rPr>
              <a:t>ODbL：出典を書けば商用利用も可</a:t>
            </a:r>
          </a:p>
          <a:p>
            <a:pPr marL="120000" indent="-120000" algn="l">
              <a:lnSpc>
                <a:spcPct val="114000"/>
              </a:lnSpc>
              <a:spcBef>
                <a:spcPts val="300"/>
              </a:spcBef>
              <a:buFont typeface="Arial"/>
              <a:buChar char="・"/>
            </a:pPr>
            <a:r>
              <a:rPr lang="ja-JP" altLang="en-US" sz="1150" b="0" i="0" spc="0" dirty="0">
                <a:solidFill>
                  <a:srgbClr val="333F52"/>
                </a:solidFill>
                <a:latin typeface="Calibri"/>
                <a:ea typeface="ＭＳ Ｐゴシック"/>
              </a:rPr>
              <a:t>AGJ は power=* で 40,077 本の送電線を抽出</a:t>
            </a:r>
          </a:p>
        </p:txBody>
      </p:sp>
      <p:sp>
        <p:nvSpPr>
          <p:cNvPr id="169" name="S170"/>
          <p:cNvSpPr/>
          <p:nvPr/>
        </p:nvSpPr>
        <p:spPr>
          <a:xfrm>
            <a:off x="546100" y="5105400"/>
            <a:ext cx="11099800" cy="711200"/>
          </a:xfrm>
          <a:prstGeom prst="rect">
            <a:avLst/>
          </a:prstGeom>
          <a:solidFill>
            <a:srgbClr val="EEF1F6"/>
          </a:solidFill>
          <a:ln>
            <a:noFill/>
          </a:ln>
        </p:spPr>
        <p:txBody>
          <a:bodyPr/>
          <a:lstStyle/>
          <a:p>
            <a:endParaRPr lang="ja-JP"/>
          </a:p>
        </p:txBody>
      </p:sp>
      <p:sp>
        <p:nvSpPr>
          <p:cNvPr id="170" name="S171"/>
          <p:cNvSpPr/>
          <p:nvPr/>
        </p:nvSpPr>
        <p:spPr>
          <a:xfrm>
            <a:off x="546100" y="5105400"/>
            <a:ext cx="38100" cy="711200"/>
          </a:xfrm>
          <a:prstGeom prst="rect">
            <a:avLst/>
          </a:prstGeom>
          <a:solidFill>
            <a:srgbClr val="8A2E3B"/>
          </a:solidFill>
          <a:ln>
            <a:noFill/>
          </a:ln>
        </p:spPr>
        <p:txBody>
          <a:bodyPr/>
          <a:lstStyle/>
          <a:p>
            <a:endParaRPr lang="ja-JP"/>
          </a:p>
        </p:txBody>
      </p:sp>
      <p:sp>
        <p:nvSpPr>
          <p:cNvPr id="171" name="T172"/>
          <p:cNvSpPr txBox="1"/>
          <p:nvPr/>
        </p:nvSpPr>
        <p:spPr>
          <a:xfrm>
            <a:off x="787400" y="5257800"/>
            <a:ext cx="10668000" cy="431800"/>
          </a:xfrm>
          <a:prstGeom prst="rect">
            <a:avLst/>
          </a:prstGeom>
          <a:noFill/>
        </p:spPr>
        <p:txBody>
          <a:bodyPr wrap="square" lIns="0" tIns="0" rIns="0" bIns="0" anchor="t"/>
          <a:lstStyle/>
          <a:p>
            <a:pPr marL="0" indent="0" algn="l">
              <a:lnSpc>
                <a:spcPct val="116000"/>
              </a:lnSpc>
              <a:buNone/>
            </a:pPr>
            <a:r>
              <a:rPr lang="ja-JP" altLang="en-US" sz="1450" b="1" i="0" spc="0" dirty="0">
                <a:solidFill>
                  <a:srgbClr val="1A2744"/>
                </a:solidFill>
                <a:latin typeface="Calibri"/>
                <a:ea typeface="ＭＳ Ｐゴシック"/>
              </a:rPr>
              <a:t>素晴らしいのは網羅性 — </a:t>
            </a:r>
            <a:r>
              <a:rPr lang="ja-JP" altLang="en-US" sz="1450" b="0" i="0" spc="0" dirty="0">
                <a:solidFill>
                  <a:srgbClr val="333F52"/>
                </a:solidFill>
                <a:latin typeface="Calibri"/>
                <a:ea typeface="ＭＳ Ｐゴシック"/>
              </a:rPr>
              <a:t>日本の送電網が、市民の手でほぼ描き切られている。</a:t>
            </a:r>
          </a:p>
          <a:p>
            <a:pPr marL="0" indent="0" algn="l">
              <a:lnSpc>
                <a:spcPct val="116000"/>
              </a:lnSpc>
              <a:spcBef>
                <a:spcPts val="300"/>
              </a:spcBef>
              <a:buNone/>
            </a:pPr>
            <a:r>
              <a:rPr lang="ja-JP" altLang="en-US" sz="1450" b="1" i="0" spc="0" dirty="0">
                <a:solidFill>
                  <a:srgbClr val="8A2E3B"/>
                </a:solidFill>
                <a:latin typeface="Calibri"/>
                <a:ea typeface="ＭＳ Ｐゴシック"/>
              </a:rPr>
              <a:t>ただし属性は任意記入 — </a:t>
            </a:r>
            <a:r>
              <a:rPr lang="ja-JP" altLang="en-US" sz="1450" b="0" i="0" spc="0" dirty="0">
                <a:solidFill>
                  <a:srgbClr val="333F52"/>
                </a:solidFill>
                <a:latin typeface="Calibri"/>
                <a:ea typeface="ＭＳ Ｐゴシック"/>
              </a:rPr>
              <a:t>電圧は 87% 欠測、導体数は 15% しか入らない。検算が要る。</a:t>
            </a:r>
          </a:p>
        </p:txBody>
      </p:sp>
      <p:sp>
        <p:nvSpPr>
          <p:cNvPr id="172" name="S173"/>
          <p:cNvSpPr/>
          <p:nvPr/>
        </p:nvSpPr>
        <p:spPr>
          <a:xfrm>
            <a:off x="546100" y="6248400"/>
            <a:ext cx="11099800" cy="12700"/>
          </a:xfrm>
          <a:prstGeom prst="rect">
            <a:avLst/>
          </a:prstGeom>
          <a:solidFill>
            <a:srgbClr val="D8DCE3"/>
          </a:solidFill>
          <a:ln>
            <a:noFill/>
          </a:ln>
        </p:spPr>
        <p:txBody>
          <a:bodyPr/>
          <a:lstStyle/>
          <a:p>
            <a:endParaRPr lang="ja-JP"/>
          </a:p>
        </p:txBody>
      </p:sp>
      <p:sp>
        <p:nvSpPr>
          <p:cNvPr id="173" name="T174"/>
          <p:cNvSpPr txBox="1"/>
          <p:nvPr/>
        </p:nvSpPr>
        <p:spPr>
          <a:xfrm>
            <a:off x="546100" y="6350000"/>
            <a:ext cx="11099800" cy="228600"/>
          </a:xfrm>
          <a:prstGeom prst="rect">
            <a:avLst/>
          </a:prstGeom>
          <a:noFill/>
        </p:spPr>
        <p:txBody>
          <a:bodyPr wrap="square" lIns="0" tIns="0" rIns="0" bIns="0" anchor="t"/>
          <a:lstStyle/>
          <a:p>
            <a:pPr marL="0" indent="0" algn="l">
              <a:buNone/>
            </a:pPr>
            <a:r>
              <a:rPr lang="ja-JP" altLang="en-US" sz="1000" b="0" i="0" spc="0" dirty="0">
                <a:solidFill>
                  <a:srgbClr val="6B7280"/>
                </a:solidFill>
                <a:latin typeface="Calibri"/>
                <a:ea typeface="ＭＳ Ｐゴシック"/>
              </a:rPr>
              <a:t>出典： OpenStreetMap contributors（ODbL）／ taginfo 日本版／ feature 数は AGJ v1.2 の抽出結果／ 採用企業は OSM Deutschland「Wer nutzt OSM?」ほか公開情報。</a:t>
            </a:r>
          </a:p>
        </p:txBody>
      </p:sp>
      <p:sp>
        <p:nvSpPr>
          <p:cNvPr id="1000" name="N1001"/>
          <p:cNvSpPr/>
          <p:nvPr/>
        </p:nvSpPr>
        <p:spPr>
          <a:xfrm>
            <a:off x="4305300" y="1752600"/>
            <a:ext cx="7340600" cy="1498600"/>
          </a:xfrm>
          <a:prstGeom prst="rect">
            <a:avLst/>
          </a:prstGeom>
          <a:solidFill>
            <a:srgbClr val="EEF1F6"/>
          </a:solidFill>
          <a:ln>
            <a:noFill/>
          </a:ln>
        </p:spPr>
        <p:txBody>
          <a:bodyPr/>
          <a:lstStyle/>
          <a:p>
            <a:endParaRPr lang="ja-JP"/>
          </a:p>
        </p:txBody>
      </p:sp>
      <p:sp>
        <p:nvSpPr>
          <p:cNvPr id="1001" name="N1002"/>
          <p:cNvSpPr/>
          <p:nvPr/>
        </p:nvSpPr>
        <p:spPr>
          <a:xfrm>
            <a:off x="4305300" y="1752600"/>
            <a:ext cx="38100" cy="1498600"/>
          </a:xfrm>
          <a:prstGeom prst="rect">
            <a:avLst/>
          </a:prstGeom>
          <a:solidFill>
            <a:srgbClr val="8A2E3B"/>
          </a:solidFill>
          <a:ln>
            <a:noFill/>
          </a:ln>
        </p:spPr>
        <p:txBody>
          <a:bodyPr/>
          <a:lstStyle/>
          <a:p>
            <a:endParaRPr lang="ja-JP"/>
          </a:p>
        </p:txBody>
      </p:sp>
      <p:sp>
        <p:nvSpPr>
          <p:cNvPr id="1002" name="NT1003"/>
          <p:cNvSpPr txBox="1"/>
          <p:nvPr/>
        </p:nvSpPr>
        <p:spPr>
          <a:xfrm>
            <a:off x="4533900" y="1854200"/>
            <a:ext cx="6858000" cy="228600"/>
          </a:xfrm>
          <a:prstGeom prst="rect">
            <a:avLst/>
          </a:prstGeom>
          <a:noFill/>
        </p:spPr>
        <p:txBody>
          <a:bodyPr wrap="square" lIns="0" tIns="0" rIns="0" bIns="0" anchor="t"/>
          <a:lstStyle/>
          <a:p>
            <a:pPr algn="l">
              <a:buNone/>
            </a:pPr>
            <a:r>
              <a:rPr lang="ja-JP" altLang="en-US" sz="1350" b="1" i="0" dirty="0">
                <a:solidFill>
                  <a:srgbClr val="1A2744"/>
                </a:solidFill>
                <a:latin typeface="Calibri"/>
                <a:ea typeface="ＭＳ Ｐゴシック"/>
              </a:rPr>
              <a:t>誰が・何に使っているか</a:t>
            </a:r>
            <a:r>
              <a:rPr lang="ja-JP" altLang="en-US" sz="1100" b="0" i="0" dirty="0">
                <a:solidFill>
                  <a:srgbClr val="6B7280"/>
                </a:solidFill>
                <a:latin typeface="Calibri"/>
                <a:ea typeface="ＭＳ Ｐゴシック"/>
              </a:rPr>
              <a:t>　地図大手のほとんどが OSM を使っている</a:t>
            </a:r>
          </a:p>
        </p:txBody>
      </p:sp>
      <p:sp>
        <p:nvSpPr>
          <p:cNvPr id="1003" name="N1004"/>
          <p:cNvSpPr/>
          <p:nvPr/>
        </p:nvSpPr>
        <p:spPr>
          <a:xfrm>
            <a:off x="4533900" y="2159000"/>
            <a:ext cx="330200" cy="304800"/>
          </a:xfrm>
          <a:prstGeom prst="rect">
            <a:avLst/>
          </a:prstGeom>
          <a:solidFill>
            <a:srgbClr val="FFFFFF"/>
          </a:solidFill>
          <a:ln w="9525">
            <a:solidFill>
              <a:srgbClr val="C7CEDA"/>
            </a:solidFill>
          </a:ln>
        </p:spPr>
        <p:txBody>
          <a:bodyPr/>
          <a:lstStyle/>
          <a:p>
            <a:endParaRPr lang="ja-JP"/>
          </a:p>
        </p:txBody>
      </p:sp>
      <p:sp>
        <p:nvSpPr>
          <p:cNvPr id="1004" name="N1005"/>
          <p:cNvSpPr/>
          <p:nvPr/>
        </p:nvSpPr>
        <p:spPr>
          <a:xfrm>
            <a:off x="4965700" y="2159000"/>
            <a:ext cx="1498600" cy="304800"/>
          </a:xfrm>
          <a:prstGeom prst="roundRect">
            <a:avLst/>
          </a:prstGeom>
          <a:solidFill>
            <a:srgbClr val="FFFFFF"/>
          </a:solidFill>
          <a:ln w="9525">
            <a:solidFill>
              <a:srgbClr val="C7CEDA"/>
            </a:solidFill>
          </a:ln>
        </p:spPr>
        <p:txBody>
          <a:bodyPr/>
          <a:lstStyle/>
          <a:p>
            <a:endParaRPr lang="ja-JP"/>
          </a:p>
        </p:txBody>
      </p:sp>
      <p:sp>
        <p:nvSpPr>
          <p:cNvPr id="1005" name="NT1006"/>
          <p:cNvSpPr txBox="1"/>
          <p:nvPr/>
        </p:nvSpPr>
        <p:spPr>
          <a:xfrm>
            <a:off x="4965700" y="2159000"/>
            <a:ext cx="1498600" cy="304800"/>
          </a:xfrm>
          <a:prstGeom prst="rect">
            <a:avLst/>
          </a:prstGeom>
          <a:noFill/>
        </p:spPr>
        <p:txBody>
          <a:bodyPr wrap="square" lIns="0" tIns="0" rIns="0" bIns="0" anchor="ctr"/>
          <a:lstStyle/>
          <a:p>
            <a:pPr algn="ctr">
              <a:buNone/>
            </a:pPr>
            <a:r>
              <a:rPr lang="ja-JP" altLang="en-US" sz="1050" b="1" i="0" dirty="0">
                <a:solidFill>
                  <a:srgbClr val="1A2744"/>
                </a:solidFill>
                <a:latin typeface="Calibri"/>
                <a:ea typeface="ＭＳ Ｐゴシック"/>
              </a:rPr>
              <a:t>地図サービス</a:t>
            </a:r>
          </a:p>
        </p:txBody>
      </p:sp>
      <p:sp>
        <p:nvSpPr>
          <p:cNvPr id="1006" name="NT1007"/>
          <p:cNvSpPr txBox="1"/>
          <p:nvPr/>
        </p:nvSpPr>
        <p:spPr>
          <a:xfrm>
            <a:off x="6591300" y="2159000"/>
            <a:ext cx="4800600" cy="304800"/>
          </a:xfrm>
          <a:prstGeom prst="rect">
            <a:avLst/>
          </a:prstGeom>
          <a:noFill/>
        </p:spPr>
        <p:txBody>
          <a:bodyPr wrap="square" lIns="0" tIns="0" rIns="0" bIns="0" anchor="ctr"/>
          <a:lstStyle/>
          <a:p>
            <a:pPr algn="l">
              <a:buNone/>
            </a:pPr>
            <a:r>
              <a:rPr lang="ja-JP" altLang="en-US" sz="1200" b="0" i="0" dirty="0">
                <a:solidFill>
                  <a:srgbClr val="333F52"/>
                </a:solidFill>
                <a:latin typeface="Calibri"/>
                <a:ea typeface="ＭＳ Ｐゴシック"/>
              </a:rPr>
              <a:t>Apple ／ Bing ／ Amazon ／ Meta</a:t>
            </a:r>
          </a:p>
        </p:txBody>
      </p:sp>
      <p:sp>
        <p:nvSpPr>
          <p:cNvPr id="1007" name="N1008"/>
          <p:cNvSpPr/>
          <p:nvPr/>
        </p:nvSpPr>
        <p:spPr>
          <a:xfrm>
            <a:off x="4533900" y="2514600"/>
            <a:ext cx="330200" cy="304800"/>
          </a:xfrm>
          <a:prstGeom prst="rect">
            <a:avLst/>
          </a:prstGeom>
          <a:solidFill>
            <a:srgbClr val="FFFFFF"/>
          </a:solidFill>
          <a:ln w="9525">
            <a:solidFill>
              <a:srgbClr val="C7CEDA"/>
            </a:solidFill>
          </a:ln>
        </p:spPr>
        <p:txBody>
          <a:bodyPr/>
          <a:lstStyle/>
          <a:p>
            <a:endParaRPr lang="ja-JP"/>
          </a:p>
        </p:txBody>
      </p:sp>
      <p:sp>
        <p:nvSpPr>
          <p:cNvPr id="1008" name="N1009"/>
          <p:cNvSpPr/>
          <p:nvPr/>
        </p:nvSpPr>
        <p:spPr>
          <a:xfrm>
            <a:off x="4965700" y="2514600"/>
            <a:ext cx="1498600" cy="304800"/>
          </a:xfrm>
          <a:prstGeom prst="roundRect">
            <a:avLst/>
          </a:prstGeom>
          <a:solidFill>
            <a:srgbClr val="FFFFFF"/>
          </a:solidFill>
          <a:ln w="9525">
            <a:solidFill>
              <a:srgbClr val="C7CEDA"/>
            </a:solidFill>
          </a:ln>
        </p:spPr>
        <p:txBody>
          <a:bodyPr/>
          <a:lstStyle/>
          <a:p>
            <a:endParaRPr lang="ja-JP"/>
          </a:p>
        </p:txBody>
      </p:sp>
      <p:sp>
        <p:nvSpPr>
          <p:cNvPr id="1009" name="NT1010"/>
          <p:cNvSpPr txBox="1"/>
          <p:nvPr/>
        </p:nvSpPr>
        <p:spPr>
          <a:xfrm>
            <a:off x="4965700" y="2514600"/>
            <a:ext cx="1498600" cy="304800"/>
          </a:xfrm>
          <a:prstGeom prst="rect">
            <a:avLst/>
          </a:prstGeom>
          <a:noFill/>
        </p:spPr>
        <p:txBody>
          <a:bodyPr wrap="square" lIns="0" tIns="0" rIns="0" bIns="0" anchor="ctr"/>
          <a:lstStyle/>
          <a:p>
            <a:pPr algn="ctr">
              <a:buNone/>
            </a:pPr>
            <a:r>
              <a:rPr lang="ja-JP" altLang="en-US" sz="1050" b="1" i="0" dirty="0">
                <a:solidFill>
                  <a:srgbClr val="1A2744"/>
                </a:solidFill>
                <a:latin typeface="Calibri"/>
                <a:ea typeface="ＭＳ Ｐゴシック"/>
              </a:rPr>
              <a:t>カーナビ・配車</a:t>
            </a:r>
          </a:p>
        </p:txBody>
      </p:sp>
      <p:sp>
        <p:nvSpPr>
          <p:cNvPr id="1010" name="NT1011"/>
          <p:cNvSpPr txBox="1"/>
          <p:nvPr/>
        </p:nvSpPr>
        <p:spPr>
          <a:xfrm>
            <a:off x="6591300" y="2514600"/>
            <a:ext cx="4800600" cy="304800"/>
          </a:xfrm>
          <a:prstGeom prst="rect">
            <a:avLst/>
          </a:prstGeom>
          <a:noFill/>
        </p:spPr>
        <p:txBody>
          <a:bodyPr wrap="square" lIns="0" tIns="0" rIns="0" bIns="0" anchor="ctr"/>
          <a:lstStyle/>
          <a:p>
            <a:pPr algn="l">
              <a:buNone/>
            </a:pPr>
            <a:r>
              <a:rPr lang="ja-JP" altLang="en-US" sz="1200" b="0" i="0" dirty="0">
                <a:solidFill>
                  <a:srgbClr val="333F52"/>
                </a:solidFill>
                <a:latin typeface="Calibri"/>
                <a:ea typeface="ＭＳ Ｐゴシック"/>
              </a:rPr>
              <a:t>TomTom ／ ADAC ／ Uber ／ Lyft ／ Grab</a:t>
            </a:r>
          </a:p>
        </p:txBody>
      </p:sp>
      <p:sp>
        <p:nvSpPr>
          <p:cNvPr id="1011" name="N1012"/>
          <p:cNvSpPr/>
          <p:nvPr/>
        </p:nvSpPr>
        <p:spPr>
          <a:xfrm>
            <a:off x="4533900" y="2870200"/>
            <a:ext cx="330200" cy="304800"/>
          </a:xfrm>
          <a:prstGeom prst="rect">
            <a:avLst/>
          </a:prstGeom>
          <a:solidFill>
            <a:srgbClr val="FFFFFF"/>
          </a:solidFill>
          <a:ln w="9525">
            <a:solidFill>
              <a:srgbClr val="C7CEDA"/>
            </a:solidFill>
          </a:ln>
        </p:spPr>
        <p:txBody>
          <a:bodyPr/>
          <a:lstStyle/>
          <a:p>
            <a:endParaRPr lang="ja-JP"/>
          </a:p>
        </p:txBody>
      </p:sp>
      <p:sp>
        <p:nvSpPr>
          <p:cNvPr id="1012" name="N1013"/>
          <p:cNvSpPr/>
          <p:nvPr/>
        </p:nvSpPr>
        <p:spPr>
          <a:xfrm>
            <a:off x="4965700" y="2870200"/>
            <a:ext cx="1498600" cy="304800"/>
          </a:xfrm>
          <a:prstGeom prst="roundRect">
            <a:avLst/>
          </a:prstGeom>
          <a:solidFill>
            <a:srgbClr val="FFFFFF"/>
          </a:solidFill>
          <a:ln w="9525">
            <a:solidFill>
              <a:srgbClr val="C7CEDA"/>
            </a:solidFill>
          </a:ln>
        </p:spPr>
        <p:txBody>
          <a:bodyPr/>
          <a:lstStyle/>
          <a:p>
            <a:endParaRPr lang="ja-JP"/>
          </a:p>
        </p:txBody>
      </p:sp>
      <p:sp>
        <p:nvSpPr>
          <p:cNvPr id="1013" name="NT1014"/>
          <p:cNvSpPr txBox="1"/>
          <p:nvPr/>
        </p:nvSpPr>
        <p:spPr>
          <a:xfrm>
            <a:off x="4965700" y="2870200"/>
            <a:ext cx="1498600" cy="304800"/>
          </a:xfrm>
          <a:prstGeom prst="rect">
            <a:avLst/>
          </a:prstGeom>
          <a:noFill/>
        </p:spPr>
        <p:txBody>
          <a:bodyPr wrap="square" lIns="0" tIns="0" rIns="0" bIns="0" anchor="ctr"/>
          <a:lstStyle/>
          <a:p>
            <a:pPr algn="ctr">
              <a:buNone/>
            </a:pPr>
            <a:r>
              <a:rPr lang="ja-JP" altLang="en-US" sz="1050" b="1" i="0" dirty="0">
                <a:solidFill>
                  <a:srgbClr val="1A2744"/>
                </a:solidFill>
                <a:latin typeface="Calibri"/>
                <a:ea typeface="ＭＳ Ｐゴシック"/>
              </a:rPr>
              <a:t>地図クラウド基盤</a:t>
            </a:r>
          </a:p>
        </p:txBody>
      </p:sp>
      <p:sp>
        <p:nvSpPr>
          <p:cNvPr id="1014" name="NT1015"/>
          <p:cNvSpPr txBox="1"/>
          <p:nvPr/>
        </p:nvSpPr>
        <p:spPr>
          <a:xfrm>
            <a:off x="6591300" y="2870200"/>
            <a:ext cx="4800600" cy="304800"/>
          </a:xfrm>
          <a:prstGeom prst="rect">
            <a:avLst/>
          </a:prstGeom>
          <a:noFill/>
        </p:spPr>
        <p:txBody>
          <a:bodyPr wrap="square" lIns="0" tIns="0" rIns="0" bIns="0" anchor="ctr"/>
          <a:lstStyle/>
          <a:p>
            <a:pPr algn="l">
              <a:buNone/>
            </a:pPr>
            <a:r>
              <a:rPr lang="ja-JP" altLang="en-US" sz="1200" b="0" i="0" dirty="0">
                <a:solidFill>
                  <a:srgbClr val="333F52"/>
                </a:solidFill>
                <a:latin typeface="Calibri"/>
                <a:ea typeface="ＭＳ Ｐゴシック"/>
              </a:rPr>
              <a:t>AWS（Amazon Location）／ Esri ／ Overture Maps</a:t>
            </a:r>
          </a:p>
        </p:txBody>
      </p:sp>
      <p:sp>
        <p:nvSpPr>
          <p:cNvPr id="1015" name="N1016"/>
          <p:cNvSpPr/>
          <p:nvPr/>
        </p:nvSpPr>
        <p:spPr>
          <a:xfrm>
            <a:off x="546100" y="3327400"/>
            <a:ext cx="11099800" cy="1651000"/>
          </a:xfrm>
          <a:prstGeom prst="rect">
            <a:avLst/>
          </a:prstGeom>
          <a:solidFill>
            <a:srgbClr val="EEF1F6"/>
          </a:solidFill>
          <a:ln>
            <a:noFill/>
          </a:ln>
        </p:spPr>
        <p:txBody>
          <a:bodyPr/>
          <a:lstStyle/>
          <a:p>
            <a:endParaRPr lang="ja-JP"/>
          </a:p>
        </p:txBody>
      </p:sp>
      <p:sp>
        <p:nvSpPr>
          <p:cNvPr id="1016" name="N1017"/>
          <p:cNvSpPr/>
          <p:nvPr/>
        </p:nvSpPr>
        <p:spPr>
          <a:xfrm>
            <a:off x="546100" y="3327400"/>
            <a:ext cx="38100" cy="1651000"/>
          </a:xfrm>
          <a:prstGeom prst="rect">
            <a:avLst/>
          </a:prstGeom>
          <a:solidFill>
            <a:srgbClr val="1A2744"/>
          </a:solidFill>
          <a:ln>
            <a:noFill/>
          </a:ln>
        </p:spPr>
        <p:txBody>
          <a:bodyPr/>
          <a:lstStyle/>
          <a:p>
            <a:endParaRPr lang="ja-JP"/>
          </a:p>
        </p:txBody>
      </p:sp>
      <p:sp>
        <p:nvSpPr>
          <p:cNvPr id="1017" name="NT1018"/>
          <p:cNvSpPr txBox="1"/>
          <p:nvPr/>
        </p:nvSpPr>
        <p:spPr>
          <a:xfrm>
            <a:off x="774700" y="3429000"/>
            <a:ext cx="3048000" cy="228600"/>
          </a:xfrm>
          <a:prstGeom prst="rect">
            <a:avLst/>
          </a:prstGeom>
          <a:noFill/>
        </p:spPr>
        <p:txBody>
          <a:bodyPr wrap="square" lIns="0" tIns="0" rIns="0" bIns="0" anchor="t"/>
          <a:lstStyle/>
          <a:p>
            <a:pPr algn="l">
              <a:buNone/>
            </a:pPr>
            <a:r>
              <a:rPr lang="ja-JP" altLang="en-US" sz="1350" b="1" i="0" dirty="0">
                <a:solidFill>
                  <a:srgbClr val="1A2744"/>
                </a:solidFill>
                <a:latin typeface="Calibri"/>
                <a:ea typeface="ＭＳ Ｐゴシック"/>
              </a:rPr>
              <a:t>地図の 1 本の線 → モデルの 1 枝</a:t>
            </a:r>
          </a:p>
        </p:txBody>
      </p:sp>
      <p:sp>
        <p:nvSpPr>
          <p:cNvPr id="1018" name="NT1019"/>
          <p:cNvSpPr txBox="1"/>
          <p:nvPr/>
        </p:nvSpPr>
        <p:spPr>
          <a:xfrm>
            <a:off x="3098800" y="3429000"/>
            <a:ext cx="1473200" cy="165100"/>
          </a:xfrm>
          <a:prstGeom prst="rect">
            <a:avLst/>
          </a:prstGeom>
          <a:noFill/>
        </p:spPr>
        <p:txBody>
          <a:bodyPr wrap="square" lIns="0" tIns="0" rIns="0" bIns="0" anchor="t"/>
          <a:lstStyle/>
          <a:p>
            <a:pPr algn="r">
              <a:buNone/>
            </a:pPr>
            <a:r>
              <a:rPr lang="ja-JP" altLang="en-US" sz="1000" b="1" i="0" dirty="0">
                <a:solidFill>
                  <a:srgbClr val="8A2E3B"/>
                </a:solidFill>
                <a:latin typeface="Calibri"/>
                <a:ea typeface="ＭＳ Ｐゴシック"/>
              </a:rPr>
              <a:t>power=line の way</a:t>
            </a:r>
          </a:p>
        </p:txBody>
      </p:sp>
      <p:sp>
        <p:nvSpPr>
          <p:cNvPr id="1019" name="N1020"/>
          <p:cNvSpPr/>
          <p:nvPr/>
        </p:nvSpPr>
        <p:spPr>
          <a:xfrm>
            <a:off x="762000" y="3708400"/>
            <a:ext cx="3810000" cy="863600"/>
          </a:xfrm>
          <a:prstGeom prst="rect">
            <a:avLst/>
          </a:prstGeom>
          <a:solidFill>
            <a:srgbClr val="F7F9FB"/>
          </a:solidFill>
          <a:ln w="9525">
            <a:solidFill>
              <a:srgbClr val="B9C4D2"/>
            </a:solidFill>
          </a:ln>
        </p:spPr>
        <p:txBody>
          <a:bodyPr/>
          <a:lstStyle/>
          <a:p>
            <a:endParaRPr lang="ja-JP"/>
          </a:p>
        </p:txBody>
      </p:sp>
      <p:sp>
        <p:nvSpPr>
          <p:cNvPr id="1020" name="N1021"/>
          <p:cNvSpPr/>
          <p:nvPr/>
        </p:nvSpPr>
        <p:spPr>
          <a:xfrm>
            <a:off x="812800" y="3759200"/>
            <a:ext cx="508000" cy="228600"/>
          </a:xfrm>
          <a:prstGeom prst="rect">
            <a:avLst/>
          </a:prstGeom>
          <a:solidFill>
            <a:srgbClr val="E2E8EF"/>
          </a:solidFill>
          <a:ln>
            <a:noFill/>
          </a:ln>
        </p:spPr>
        <p:txBody>
          <a:bodyPr/>
          <a:lstStyle/>
          <a:p>
            <a:endParaRPr lang="ja-JP"/>
          </a:p>
        </p:txBody>
      </p:sp>
      <p:sp>
        <p:nvSpPr>
          <p:cNvPr id="1021" name="N1022"/>
          <p:cNvSpPr/>
          <p:nvPr/>
        </p:nvSpPr>
        <p:spPr>
          <a:xfrm>
            <a:off x="1371600" y="3759200"/>
            <a:ext cx="609600" cy="228600"/>
          </a:xfrm>
          <a:prstGeom prst="rect">
            <a:avLst/>
          </a:prstGeom>
          <a:solidFill>
            <a:srgbClr val="E2E8EF"/>
          </a:solidFill>
          <a:ln>
            <a:noFill/>
          </a:ln>
        </p:spPr>
        <p:txBody>
          <a:bodyPr/>
          <a:lstStyle/>
          <a:p>
            <a:endParaRPr lang="ja-JP"/>
          </a:p>
        </p:txBody>
      </p:sp>
      <p:sp>
        <p:nvSpPr>
          <p:cNvPr id="1022" name="N1023"/>
          <p:cNvSpPr/>
          <p:nvPr/>
        </p:nvSpPr>
        <p:spPr>
          <a:xfrm>
            <a:off x="2032000" y="3759200"/>
            <a:ext cx="609600" cy="228600"/>
          </a:xfrm>
          <a:prstGeom prst="rect">
            <a:avLst/>
          </a:prstGeom>
          <a:solidFill>
            <a:srgbClr val="E2E8EF"/>
          </a:solidFill>
          <a:ln>
            <a:noFill/>
          </a:ln>
        </p:spPr>
        <p:txBody>
          <a:bodyPr/>
          <a:lstStyle/>
          <a:p>
            <a:endParaRPr lang="ja-JP"/>
          </a:p>
        </p:txBody>
      </p:sp>
      <p:sp>
        <p:nvSpPr>
          <p:cNvPr id="1023" name="N1024"/>
          <p:cNvSpPr/>
          <p:nvPr/>
        </p:nvSpPr>
        <p:spPr>
          <a:xfrm>
            <a:off x="2692400" y="3759200"/>
            <a:ext cx="609600" cy="228600"/>
          </a:xfrm>
          <a:prstGeom prst="rect">
            <a:avLst/>
          </a:prstGeom>
          <a:solidFill>
            <a:srgbClr val="E2E8EF"/>
          </a:solidFill>
          <a:ln>
            <a:noFill/>
          </a:ln>
        </p:spPr>
        <p:txBody>
          <a:bodyPr/>
          <a:lstStyle/>
          <a:p>
            <a:endParaRPr lang="ja-JP"/>
          </a:p>
        </p:txBody>
      </p:sp>
      <p:sp>
        <p:nvSpPr>
          <p:cNvPr id="1024" name="N1025"/>
          <p:cNvSpPr/>
          <p:nvPr/>
        </p:nvSpPr>
        <p:spPr>
          <a:xfrm>
            <a:off x="3962400" y="3759200"/>
            <a:ext cx="558800" cy="228600"/>
          </a:xfrm>
          <a:prstGeom prst="rect">
            <a:avLst/>
          </a:prstGeom>
          <a:solidFill>
            <a:srgbClr val="E2E8EF"/>
          </a:solidFill>
          <a:ln>
            <a:noFill/>
          </a:ln>
        </p:spPr>
        <p:txBody>
          <a:bodyPr/>
          <a:lstStyle/>
          <a:p>
            <a:endParaRPr lang="ja-JP"/>
          </a:p>
        </p:txBody>
      </p:sp>
      <p:sp>
        <p:nvSpPr>
          <p:cNvPr id="1025" name="N1026"/>
          <p:cNvSpPr/>
          <p:nvPr/>
        </p:nvSpPr>
        <p:spPr>
          <a:xfrm>
            <a:off x="812800" y="4038600"/>
            <a:ext cx="508000" cy="254000"/>
          </a:xfrm>
          <a:prstGeom prst="rect">
            <a:avLst/>
          </a:prstGeom>
          <a:solidFill>
            <a:srgbClr val="E2E8EF"/>
          </a:solidFill>
          <a:ln>
            <a:noFill/>
          </a:ln>
        </p:spPr>
        <p:txBody>
          <a:bodyPr/>
          <a:lstStyle/>
          <a:p>
            <a:endParaRPr lang="ja-JP"/>
          </a:p>
        </p:txBody>
      </p:sp>
      <p:sp>
        <p:nvSpPr>
          <p:cNvPr id="1026" name="N1027"/>
          <p:cNvSpPr/>
          <p:nvPr/>
        </p:nvSpPr>
        <p:spPr>
          <a:xfrm>
            <a:off x="1371600" y="4038600"/>
            <a:ext cx="609600" cy="254000"/>
          </a:xfrm>
          <a:prstGeom prst="rect">
            <a:avLst/>
          </a:prstGeom>
          <a:solidFill>
            <a:srgbClr val="E2E8EF"/>
          </a:solidFill>
          <a:ln>
            <a:noFill/>
          </a:ln>
        </p:spPr>
        <p:txBody>
          <a:bodyPr/>
          <a:lstStyle/>
          <a:p>
            <a:endParaRPr lang="ja-JP"/>
          </a:p>
        </p:txBody>
      </p:sp>
      <p:sp>
        <p:nvSpPr>
          <p:cNvPr id="1027" name="N1028"/>
          <p:cNvSpPr/>
          <p:nvPr/>
        </p:nvSpPr>
        <p:spPr>
          <a:xfrm>
            <a:off x="2032000" y="4038600"/>
            <a:ext cx="609600" cy="254000"/>
          </a:xfrm>
          <a:prstGeom prst="rect">
            <a:avLst/>
          </a:prstGeom>
          <a:solidFill>
            <a:srgbClr val="E2E8EF"/>
          </a:solidFill>
          <a:ln>
            <a:noFill/>
          </a:ln>
        </p:spPr>
        <p:txBody>
          <a:bodyPr/>
          <a:lstStyle/>
          <a:p>
            <a:endParaRPr lang="ja-JP"/>
          </a:p>
        </p:txBody>
      </p:sp>
      <p:sp>
        <p:nvSpPr>
          <p:cNvPr id="1028" name="N1029"/>
          <p:cNvSpPr/>
          <p:nvPr/>
        </p:nvSpPr>
        <p:spPr>
          <a:xfrm>
            <a:off x="2692400" y="4038600"/>
            <a:ext cx="609600" cy="254000"/>
          </a:xfrm>
          <a:prstGeom prst="rect">
            <a:avLst/>
          </a:prstGeom>
          <a:solidFill>
            <a:srgbClr val="E2E8EF"/>
          </a:solidFill>
          <a:ln>
            <a:noFill/>
          </a:ln>
        </p:spPr>
        <p:txBody>
          <a:bodyPr/>
          <a:lstStyle/>
          <a:p>
            <a:endParaRPr lang="ja-JP"/>
          </a:p>
        </p:txBody>
      </p:sp>
      <p:sp>
        <p:nvSpPr>
          <p:cNvPr id="1029" name="N1030"/>
          <p:cNvSpPr/>
          <p:nvPr/>
        </p:nvSpPr>
        <p:spPr>
          <a:xfrm>
            <a:off x="3352800" y="4038600"/>
            <a:ext cx="558800" cy="254000"/>
          </a:xfrm>
          <a:prstGeom prst="rect">
            <a:avLst/>
          </a:prstGeom>
          <a:solidFill>
            <a:srgbClr val="E2E8EF"/>
          </a:solidFill>
          <a:ln>
            <a:noFill/>
          </a:ln>
        </p:spPr>
        <p:txBody>
          <a:bodyPr/>
          <a:lstStyle/>
          <a:p>
            <a:endParaRPr lang="ja-JP"/>
          </a:p>
        </p:txBody>
      </p:sp>
      <p:sp>
        <p:nvSpPr>
          <p:cNvPr id="1030" name="N1031"/>
          <p:cNvSpPr/>
          <p:nvPr/>
        </p:nvSpPr>
        <p:spPr>
          <a:xfrm>
            <a:off x="3962400" y="4038600"/>
            <a:ext cx="558800" cy="254000"/>
          </a:xfrm>
          <a:prstGeom prst="rect">
            <a:avLst/>
          </a:prstGeom>
          <a:solidFill>
            <a:srgbClr val="E2E8EF"/>
          </a:solidFill>
          <a:ln>
            <a:noFill/>
          </a:ln>
        </p:spPr>
        <p:txBody>
          <a:bodyPr/>
          <a:lstStyle/>
          <a:p>
            <a:endParaRPr lang="ja-JP"/>
          </a:p>
        </p:txBody>
      </p:sp>
      <p:sp>
        <p:nvSpPr>
          <p:cNvPr id="1031" name="N1032"/>
          <p:cNvSpPr/>
          <p:nvPr/>
        </p:nvSpPr>
        <p:spPr>
          <a:xfrm>
            <a:off x="812800" y="4343400"/>
            <a:ext cx="508000" cy="177800"/>
          </a:xfrm>
          <a:prstGeom prst="rect">
            <a:avLst/>
          </a:prstGeom>
          <a:solidFill>
            <a:srgbClr val="E2E8EF"/>
          </a:solidFill>
          <a:ln>
            <a:noFill/>
          </a:ln>
        </p:spPr>
        <p:txBody>
          <a:bodyPr/>
          <a:lstStyle/>
          <a:p>
            <a:endParaRPr lang="ja-JP"/>
          </a:p>
        </p:txBody>
      </p:sp>
      <p:sp>
        <p:nvSpPr>
          <p:cNvPr id="1032" name="N1033"/>
          <p:cNvSpPr/>
          <p:nvPr/>
        </p:nvSpPr>
        <p:spPr>
          <a:xfrm>
            <a:off x="1371600" y="4343400"/>
            <a:ext cx="609600" cy="177800"/>
          </a:xfrm>
          <a:prstGeom prst="rect">
            <a:avLst/>
          </a:prstGeom>
          <a:solidFill>
            <a:srgbClr val="E2E8EF"/>
          </a:solidFill>
          <a:ln>
            <a:noFill/>
          </a:ln>
        </p:spPr>
        <p:txBody>
          <a:bodyPr/>
          <a:lstStyle/>
          <a:p>
            <a:endParaRPr lang="ja-JP"/>
          </a:p>
        </p:txBody>
      </p:sp>
      <p:sp>
        <p:nvSpPr>
          <p:cNvPr id="1033" name="N1034"/>
          <p:cNvSpPr/>
          <p:nvPr/>
        </p:nvSpPr>
        <p:spPr>
          <a:xfrm>
            <a:off x="2032000" y="4343400"/>
            <a:ext cx="609600" cy="177800"/>
          </a:xfrm>
          <a:prstGeom prst="rect">
            <a:avLst/>
          </a:prstGeom>
          <a:solidFill>
            <a:srgbClr val="E2E8EF"/>
          </a:solidFill>
          <a:ln>
            <a:noFill/>
          </a:ln>
        </p:spPr>
        <p:txBody>
          <a:bodyPr/>
          <a:lstStyle/>
          <a:p>
            <a:endParaRPr lang="ja-JP"/>
          </a:p>
        </p:txBody>
      </p:sp>
      <p:sp>
        <p:nvSpPr>
          <p:cNvPr id="1034" name="N1035"/>
          <p:cNvSpPr/>
          <p:nvPr/>
        </p:nvSpPr>
        <p:spPr>
          <a:xfrm>
            <a:off x="2692400" y="4343400"/>
            <a:ext cx="609600" cy="177800"/>
          </a:xfrm>
          <a:prstGeom prst="rect">
            <a:avLst/>
          </a:prstGeom>
          <a:solidFill>
            <a:srgbClr val="E2E8EF"/>
          </a:solidFill>
          <a:ln>
            <a:noFill/>
          </a:ln>
        </p:spPr>
        <p:txBody>
          <a:bodyPr/>
          <a:lstStyle/>
          <a:p>
            <a:endParaRPr lang="ja-JP"/>
          </a:p>
        </p:txBody>
      </p:sp>
      <p:sp>
        <p:nvSpPr>
          <p:cNvPr id="1035" name="N1036"/>
          <p:cNvSpPr/>
          <p:nvPr/>
        </p:nvSpPr>
        <p:spPr>
          <a:xfrm>
            <a:off x="3352800" y="4343400"/>
            <a:ext cx="558800" cy="177800"/>
          </a:xfrm>
          <a:prstGeom prst="rect">
            <a:avLst/>
          </a:prstGeom>
          <a:solidFill>
            <a:srgbClr val="E2E8EF"/>
          </a:solidFill>
          <a:ln>
            <a:noFill/>
          </a:ln>
        </p:spPr>
        <p:txBody>
          <a:bodyPr/>
          <a:lstStyle/>
          <a:p>
            <a:endParaRPr lang="ja-JP"/>
          </a:p>
        </p:txBody>
      </p:sp>
      <p:sp>
        <p:nvSpPr>
          <p:cNvPr id="1036" name="N1037"/>
          <p:cNvSpPr/>
          <p:nvPr/>
        </p:nvSpPr>
        <p:spPr>
          <a:xfrm>
            <a:off x="3962400" y="4343400"/>
            <a:ext cx="558800" cy="177800"/>
          </a:xfrm>
          <a:prstGeom prst="rect">
            <a:avLst/>
          </a:prstGeom>
          <a:solidFill>
            <a:srgbClr val="E2E8EF"/>
          </a:solidFill>
          <a:ln>
            <a:noFill/>
          </a:ln>
        </p:spPr>
        <p:txBody>
          <a:bodyPr/>
          <a:lstStyle/>
          <a:p>
            <a:endParaRPr lang="ja-JP"/>
          </a:p>
        </p:txBody>
      </p:sp>
      <p:sp>
        <p:nvSpPr>
          <p:cNvPr id="1037" name="N1038"/>
          <p:cNvSpPr/>
          <p:nvPr/>
        </p:nvSpPr>
        <p:spPr>
          <a:xfrm>
            <a:off x="3352800" y="3759200"/>
            <a:ext cx="558800" cy="228600"/>
          </a:xfrm>
          <a:prstGeom prst="rect">
            <a:avLst/>
          </a:prstGeom>
          <a:solidFill>
            <a:srgbClr val="C6DEBE"/>
          </a:solidFill>
          <a:ln>
            <a:noFill/>
          </a:ln>
        </p:spPr>
        <p:txBody>
          <a:bodyPr/>
          <a:lstStyle/>
          <a:p>
            <a:endParaRPr lang="ja-JP"/>
          </a:p>
        </p:txBody>
      </p:sp>
      <p:sp>
        <p:nvSpPr>
          <p:cNvPr id="1038" name="NP1039"/>
          <p:cNvSpPr/>
          <p:nvPr/>
        </p:nvSpPr>
        <p:spPr>
          <a:xfrm>
            <a:off x="762000" y="3708400"/>
            <a:ext cx="3810000" cy="863600"/>
          </a:xfrm>
          <a:custGeom>
            <a:avLst/>
            <a:gdLst/>
            <a:ahLst/>
            <a:cxnLst/>
            <a:rect l="0" t="0" r="r" b="b"/>
            <a:pathLst>
              <a:path w="3810000" h="863600">
                <a:moveTo>
                  <a:pt x="0" y="127000"/>
                </a:moveTo>
                <a:lnTo>
                  <a:pt x="508000" y="266700"/>
                </a:lnTo>
                <a:lnTo>
                  <a:pt x="1143000" y="406400"/>
                </a:lnTo>
                <a:lnTo>
                  <a:pt x="1841500" y="330200"/>
                </a:lnTo>
                <a:lnTo>
                  <a:pt x="2514600" y="508000"/>
                </a:lnTo>
                <a:lnTo>
                  <a:pt x="3810000" y="609600"/>
                </a:lnTo>
              </a:path>
            </a:pathLst>
          </a:custGeom>
          <a:noFill/>
          <a:ln w="41275" cap="rnd">
            <a:solidFill>
              <a:srgbClr val="7FB3E0"/>
            </a:solidFill>
            <a:round/>
          </a:ln>
        </p:spPr>
        <p:txBody>
          <a:bodyPr/>
          <a:lstStyle/>
          <a:p>
            <a:endParaRPr lang="ja-JP"/>
          </a:p>
        </p:txBody>
      </p:sp>
      <p:sp>
        <p:nvSpPr>
          <p:cNvPr id="1039" name="NP1040"/>
          <p:cNvSpPr/>
          <p:nvPr/>
        </p:nvSpPr>
        <p:spPr>
          <a:xfrm>
            <a:off x="762000" y="3708400"/>
            <a:ext cx="3810000" cy="863600"/>
          </a:xfrm>
          <a:custGeom>
            <a:avLst/>
            <a:gdLst/>
            <a:ahLst/>
            <a:cxnLst/>
            <a:rect l="0" t="0" r="r" b="b"/>
            <a:pathLst>
              <a:path w="3810000" h="863600">
                <a:moveTo>
                  <a:pt x="76200" y="762000"/>
                </a:moveTo>
                <a:lnTo>
                  <a:pt x="762000" y="558800"/>
                </a:lnTo>
                <a:lnTo>
                  <a:pt x="1524000" y="711200"/>
                </a:lnTo>
                <a:lnTo>
                  <a:pt x="2286000" y="482600"/>
                </a:lnTo>
                <a:lnTo>
                  <a:pt x="3175000" y="635000"/>
                </a:lnTo>
              </a:path>
            </a:pathLst>
          </a:custGeom>
          <a:noFill/>
          <a:ln w="25400" cap="rnd">
            <a:solidFill>
              <a:srgbClr val="8A2E3B"/>
            </a:solidFill>
            <a:round/>
          </a:ln>
        </p:spPr>
        <p:txBody>
          <a:bodyPr/>
          <a:lstStyle/>
          <a:p>
            <a:endParaRPr lang="ja-JP"/>
          </a:p>
        </p:txBody>
      </p:sp>
      <p:sp>
        <p:nvSpPr>
          <p:cNvPr id="1040" name="N1041"/>
          <p:cNvSpPr/>
          <p:nvPr/>
        </p:nvSpPr>
        <p:spPr>
          <a:xfrm>
            <a:off x="800100" y="4432300"/>
            <a:ext cx="76200" cy="76200"/>
          </a:xfrm>
          <a:prstGeom prst="rect">
            <a:avLst/>
          </a:prstGeom>
          <a:solidFill>
            <a:srgbClr val="FFFFFF"/>
          </a:solidFill>
          <a:ln w="12700">
            <a:solidFill>
              <a:srgbClr val="8A2E3B"/>
            </a:solidFill>
          </a:ln>
        </p:spPr>
        <p:txBody>
          <a:bodyPr/>
          <a:lstStyle/>
          <a:p>
            <a:endParaRPr lang="ja-JP"/>
          </a:p>
        </p:txBody>
      </p:sp>
      <p:sp>
        <p:nvSpPr>
          <p:cNvPr id="1041" name="N1042"/>
          <p:cNvSpPr/>
          <p:nvPr/>
        </p:nvSpPr>
        <p:spPr>
          <a:xfrm>
            <a:off x="1485900" y="4229100"/>
            <a:ext cx="76200" cy="76200"/>
          </a:xfrm>
          <a:prstGeom prst="rect">
            <a:avLst/>
          </a:prstGeom>
          <a:solidFill>
            <a:srgbClr val="FFFFFF"/>
          </a:solidFill>
          <a:ln w="12700">
            <a:solidFill>
              <a:srgbClr val="8A2E3B"/>
            </a:solidFill>
          </a:ln>
        </p:spPr>
        <p:txBody>
          <a:bodyPr/>
          <a:lstStyle/>
          <a:p>
            <a:endParaRPr lang="ja-JP"/>
          </a:p>
        </p:txBody>
      </p:sp>
      <p:sp>
        <p:nvSpPr>
          <p:cNvPr id="1042" name="N1043"/>
          <p:cNvSpPr/>
          <p:nvPr/>
        </p:nvSpPr>
        <p:spPr>
          <a:xfrm>
            <a:off x="2247900" y="4381500"/>
            <a:ext cx="76200" cy="76200"/>
          </a:xfrm>
          <a:prstGeom prst="rect">
            <a:avLst/>
          </a:prstGeom>
          <a:solidFill>
            <a:srgbClr val="FFFFFF"/>
          </a:solidFill>
          <a:ln w="12700">
            <a:solidFill>
              <a:srgbClr val="8A2E3B"/>
            </a:solidFill>
          </a:ln>
        </p:spPr>
        <p:txBody>
          <a:bodyPr/>
          <a:lstStyle/>
          <a:p>
            <a:endParaRPr lang="ja-JP"/>
          </a:p>
        </p:txBody>
      </p:sp>
      <p:sp>
        <p:nvSpPr>
          <p:cNvPr id="1043" name="N1044"/>
          <p:cNvSpPr/>
          <p:nvPr/>
        </p:nvSpPr>
        <p:spPr>
          <a:xfrm>
            <a:off x="3009900" y="4152900"/>
            <a:ext cx="76200" cy="76200"/>
          </a:xfrm>
          <a:prstGeom prst="rect">
            <a:avLst/>
          </a:prstGeom>
          <a:solidFill>
            <a:srgbClr val="FFFFFF"/>
          </a:solidFill>
          <a:ln w="12700">
            <a:solidFill>
              <a:srgbClr val="8A2E3B"/>
            </a:solidFill>
          </a:ln>
        </p:spPr>
        <p:txBody>
          <a:bodyPr/>
          <a:lstStyle/>
          <a:p>
            <a:endParaRPr lang="ja-JP"/>
          </a:p>
        </p:txBody>
      </p:sp>
      <p:sp>
        <p:nvSpPr>
          <p:cNvPr id="1044" name="N1045"/>
          <p:cNvSpPr/>
          <p:nvPr/>
        </p:nvSpPr>
        <p:spPr>
          <a:xfrm>
            <a:off x="3898900" y="4305300"/>
            <a:ext cx="76200" cy="76200"/>
          </a:xfrm>
          <a:prstGeom prst="rect">
            <a:avLst/>
          </a:prstGeom>
          <a:solidFill>
            <a:srgbClr val="FFFFFF"/>
          </a:solidFill>
          <a:ln w="12700">
            <a:solidFill>
              <a:srgbClr val="8A2E3B"/>
            </a:solidFill>
          </a:ln>
        </p:spPr>
        <p:txBody>
          <a:bodyPr/>
          <a:lstStyle/>
          <a:p>
            <a:endParaRPr lang="ja-JP"/>
          </a:p>
        </p:txBody>
      </p:sp>
      <p:sp>
        <p:nvSpPr>
          <p:cNvPr id="1045" name="NT1046"/>
          <p:cNvSpPr txBox="1"/>
          <p:nvPr/>
        </p:nvSpPr>
        <p:spPr>
          <a:xfrm>
            <a:off x="838200" y="3733800"/>
            <a:ext cx="1524000" cy="152400"/>
          </a:xfrm>
          <a:prstGeom prst="rect">
            <a:avLst/>
          </a:prstGeom>
          <a:noFill/>
        </p:spPr>
        <p:txBody>
          <a:bodyPr wrap="square" lIns="0" tIns="0" rIns="0" bIns="0" anchor="t"/>
          <a:lstStyle/>
          <a:p>
            <a:pPr algn="l">
              <a:buNone/>
            </a:pPr>
            <a:r>
              <a:rPr lang="ja-JP" altLang="en-US" sz="950" b="1" i="0" dirty="0">
                <a:solidFill>
                  <a:srgbClr val="4A5568"/>
                </a:solidFill>
                <a:latin typeface="Calibri"/>
                <a:ea typeface="ＭＳ Ｐゴシック"/>
              </a:rPr>
              <a:t>OSM の地図</a:t>
            </a:r>
          </a:p>
        </p:txBody>
      </p:sp>
      <p:sp>
        <p:nvSpPr>
          <p:cNvPr id="1046" name="N1047"/>
          <p:cNvSpPr/>
          <p:nvPr/>
        </p:nvSpPr>
        <p:spPr>
          <a:xfrm>
            <a:off x="762000" y="4648200"/>
            <a:ext cx="965200" cy="228600"/>
          </a:xfrm>
          <a:prstGeom prst="roundRect">
            <a:avLst/>
          </a:prstGeom>
          <a:solidFill>
            <a:srgbClr val="FFFFFF"/>
          </a:solidFill>
          <a:ln w="9525">
            <a:solidFill>
              <a:srgbClr val="C7CEDA"/>
            </a:solidFill>
          </a:ln>
        </p:spPr>
        <p:txBody>
          <a:bodyPr/>
          <a:lstStyle/>
          <a:p>
            <a:endParaRPr lang="ja-JP"/>
          </a:p>
        </p:txBody>
      </p:sp>
      <p:sp>
        <p:nvSpPr>
          <p:cNvPr id="1047" name="NT1048"/>
          <p:cNvSpPr txBox="1"/>
          <p:nvPr/>
        </p:nvSpPr>
        <p:spPr>
          <a:xfrm>
            <a:off x="762000" y="4648200"/>
            <a:ext cx="965200" cy="228600"/>
          </a:xfrm>
          <a:prstGeom prst="rect">
            <a:avLst/>
          </a:prstGeom>
          <a:noFill/>
        </p:spPr>
        <p:txBody>
          <a:bodyPr wrap="square" lIns="0" tIns="0" rIns="0" bIns="0" anchor="ctr"/>
          <a:lstStyle/>
          <a:p>
            <a:pPr algn="ctr">
              <a:buNone/>
            </a:pPr>
            <a:r>
              <a:rPr lang="ja-JP" altLang="en-US" sz="1000" b="1" i="0" dirty="0">
                <a:solidFill>
                  <a:srgbClr val="1A2744"/>
                </a:solidFill>
                <a:latin typeface="Calibri"/>
                <a:ea typeface="ＭＳ Ｐゴシック"/>
              </a:rPr>
              <a:t>power=line</a:t>
            </a:r>
          </a:p>
        </p:txBody>
      </p:sp>
      <p:sp>
        <p:nvSpPr>
          <p:cNvPr id="1048" name="N1049"/>
          <p:cNvSpPr/>
          <p:nvPr/>
        </p:nvSpPr>
        <p:spPr>
          <a:xfrm>
            <a:off x="1828800" y="4648200"/>
            <a:ext cx="1320800" cy="228600"/>
          </a:xfrm>
          <a:prstGeom prst="roundRect">
            <a:avLst/>
          </a:prstGeom>
          <a:solidFill>
            <a:srgbClr val="FFFFFF"/>
          </a:solidFill>
          <a:ln w="9525">
            <a:solidFill>
              <a:srgbClr val="C7CEDA"/>
            </a:solidFill>
          </a:ln>
        </p:spPr>
        <p:txBody>
          <a:bodyPr/>
          <a:lstStyle/>
          <a:p>
            <a:endParaRPr lang="ja-JP"/>
          </a:p>
        </p:txBody>
      </p:sp>
      <p:sp>
        <p:nvSpPr>
          <p:cNvPr id="1049" name="NT1050"/>
          <p:cNvSpPr txBox="1"/>
          <p:nvPr/>
        </p:nvSpPr>
        <p:spPr>
          <a:xfrm>
            <a:off x="1828800" y="4648200"/>
            <a:ext cx="1320800" cy="228600"/>
          </a:xfrm>
          <a:prstGeom prst="rect">
            <a:avLst/>
          </a:prstGeom>
          <a:noFill/>
        </p:spPr>
        <p:txBody>
          <a:bodyPr wrap="square" lIns="0" tIns="0" rIns="0" bIns="0" anchor="ctr"/>
          <a:lstStyle/>
          <a:p>
            <a:pPr algn="ctr">
              <a:buNone/>
            </a:pPr>
            <a:r>
              <a:rPr lang="ja-JP" altLang="en-US" sz="1000" b="1" i="0" dirty="0">
                <a:solidFill>
                  <a:srgbClr val="1A2744"/>
                </a:solidFill>
                <a:latin typeface="Calibri"/>
                <a:ea typeface="ＭＳ Ｐゴシック"/>
              </a:rPr>
              <a:t>voltage=154000</a:t>
            </a:r>
          </a:p>
        </p:txBody>
      </p:sp>
      <p:sp>
        <p:nvSpPr>
          <p:cNvPr id="1050" name="N1051"/>
          <p:cNvSpPr/>
          <p:nvPr/>
        </p:nvSpPr>
        <p:spPr>
          <a:xfrm>
            <a:off x="3251200" y="4648200"/>
            <a:ext cx="889000" cy="228600"/>
          </a:xfrm>
          <a:prstGeom prst="roundRect">
            <a:avLst/>
          </a:prstGeom>
          <a:solidFill>
            <a:srgbClr val="FFFFFF"/>
          </a:solidFill>
          <a:ln w="9525">
            <a:solidFill>
              <a:srgbClr val="C7CEDA"/>
            </a:solidFill>
          </a:ln>
        </p:spPr>
        <p:txBody>
          <a:bodyPr/>
          <a:lstStyle/>
          <a:p>
            <a:endParaRPr lang="ja-JP"/>
          </a:p>
        </p:txBody>
      </p:sp>
      <p:sp>
        <p:nvSpPr>
          <p:cNvPr id="1051" name="NT1052"/>
          <p:cNvSpPr txBox="1"/>
          <p:nvPr/>
        </p:nvSpPr>
        <p:spPr>
          <a:xfrm>
            <a:off x="3251200" y="4648200"/>
            <a:ext cx="889000" cy="228600"/>
          </a:xfrm>
          <a:prstGeom prst="rect">
            <a:avLst/>
          </a:prstGeom>
          <a:noFill/>
        </p:spPr>
        <p:txBody>
          <a:bodyPr wrap="square" lIns="0" tIns="0" rIns="0" bIns="0" anchor="ctr"/>
          <a:lstStyle/>
          <a:p>
            <a:pPr algn="ctr">
              <a:buNone/>
            </a:pPr>
            <a:r>
              <a:rPr lang="ja-JP" altLang="en-US" sz="1000" b="1" i="0" dirty="0">
                <a:solidFill>
                  <a:srgbClr val="1A2744"/>
                </a:solidFill>
                <a:latin typeface="Calibri"/>
                <a:ea typeface="ＭＳ Ｐゴシック"/>
              </a:rPr>
              <a:t>circuits=2</a:t>
            </a:r>
          </a:p>
        </p:txBody>
      </p:sp>
      <p:sp>
        <p:nvSpPr>
          <p:cNvPr id="1052" name="N1053"/>
          <p:cNvSpPr/>
          <p:nvPr/>
        </p:nvSpPr>
        <p:spPr>
          <a:xfrm>
            <a:off x="4775200" y="3759200"/>
            <a:ext cx="1778000" cy="330200"/>
          </a:xfrm>
          <a:prstGeom prst="roundRect">
            <a:avLst/>
          </a:prstGeom>
          <a:solidFill>
            <a:srgbClr val="FFFFFF"/>
          </a:solidFill>
          <a:ln w="9525">
            <a:solidFill>
              <a:srgbClr val="C7CEDA"/>
            </a:solidFill>
          </a:ln>
        </p:spPr>
        <p:txBody>
          <a:bodyPr/>
          <a:lstStyle/>
          <a:p>
            <a:endParaRPr lang="ja-JP"/>
          </a:p>
        </p:txBody>
      </p:sp>
      <p:sp>
        <p:nvSpPr>
          <p:cNvPr id="1053" name="NT1054"/>
          <p:cNvSpPr txBox="1"/>
          <p:nvPr/>
        </p:nvSpPr>
        <p:spPr>
          <a:xfrm>
            <a:off x="5130800" y="3759200"/>
            <a:ext cx="1422400" cy="330200"/>
          </a:xfrm>
          <a:prstGeom prst="rect">
            <a:avLst/>
          </a:prstGeom>
          <a:noFill/>
        </p:spPr>
        <p:txBody>
          <a:bodyPr wrap="square" lIns="0" tIns="0" rIns="0" bIns="0" anchor="ctr"/>
          <a:lstStyle/>
          <a:p>
            <a:pPr algn="l">
              <a:buNone/>
            </a:pPr>
            <a:r>
              <a:rPr lang="ja-JP" altLang="en-US" sz="1150" b="1" i="0" dirty="0">
                <a:solidFill>
                  <a:srgbClr val="1F6FB5"/>
                </a:solidFill>
                <a:latin typeface="Calibri"/>
                <a:ea typeface="ＭＳ Ｐゴシック"/>
              </a:rPr>
              <a:t>Overpass API</a:t>
            </a:r>
          </a:p>
        </p:txBody>
      </p:sp>
      <p:sp>
        <p:nvSpPr>
          <p:cNvPr id="1054" name="N1055"/>
          <p:cNvSpPr/>
          <p:nvPr/>
        </p:nvSpPr>
        <p:spPr>
          <a:xfrm>
            <a:off x="4978400" y="4216400"/>
            <a:ext cx="1371600" cy="177800"/>
          </a:xfrm>
          <a:prstGeom prst="rightArrow">
            <a:avLst/>
          </a:prstGeom>
          <a:solidFill>
            <a:srgbClr val="1A2744"/>
          </a:solidFill>
          <a:ln>
            <a:noFill/>
          </a:ln>
        </p:spPr>
        <p:txBody>
          <a:bodyPr/>
          <a:lstStyle/>
          <a:p>
            <a:endParaRPr lang="ja-JP"/>
          </a:p>
        </p:txBody>
      </p:sp>
      <p:sp>
        <p:nvSpPr>
          <p:cNvPr id="1055" name="NT1056"/>
          <p:cNvSpPr txBox="1"/>
          <p:nvPr/>
        </p:nvSpPr>
        <p:spPr>
          <a:xfrm>
            <a:off x="4597400" y="4470400"/>
            <a:ext cx="2133600" cy="381000"/>
          </a:xfrm>
          <a:prstGeom prst="rect">
            <a:avLst/>
          </a:prstGeom>
          <a:noFill/>
        </p:spPr>
        <p:txBody>
          <a:bodyPr wrap="square" lIns="0" tIns="0" rIns="0" bIns="0" anchor="t"/>
          <a:lstStyle/>
          <a:p>
            <a:pPr algn="ctr">
              <a:buNone/>
            </a:pPr>
            <a:r>
              <a:rPr lang="ja-JP" altLang="en-US" sz="950" b="0" i="0" dirty="0">
                <a:solidFill>
                  <a:srgbClr val="6B7280"/>
                </a:solidFill>
                <a:latin typeface="Calibri"/>
                <a:ea typeface="ＭＳ Ｐゴシック"/>
              </a:rPr>
              <a:t>タグ条件のクエリで抽出（全国はタイル分割）</a:t>
            </a:r>
          </a:p>
        </p:txBody>
      </p:sp>
      <p:sp>
        <p:nvSpPr>
          <p:cNvPr id="1056" name="NT1057"/>
          <p:cNvSpPr txBox="1"/>
          <p:nvPr/>
        </p:nvSpPr>
        <p:spPr>
          <a:xfrm>
            <a:off x="6858000" y="3708400"/>
            <a:ext cx="4572000" cy="203200"/>
          </a:xfrm>
          <a:prstGeom prst="rect">
            <a:avLst/>
          </a:prstGeom>
          <a:noFill/>
        </p:spPr>
        <p:txBody>
          <a:bodyPr wrap="square" lIns="0" tIns="0" rIns="0" bIns="0" anchor="t"/>
          <a:lstStyle/>
          <a:p>
            <a:pPr algn="l">
              <a:buNone/>
            </a:pPr>
            <a:r>
              <a:rPr lang="ja-JP" altLang="en-US" sz="1150" b="0" i="0" dirty="0">
                <a:solidFill>
                  <a:srgbClr val="6B7280"/>
                </a:solidFill>
                <a:latin typeface="Calibri"/>
                <a:ea typeface="ＭＳ Ｐゴシック"/>
              </a:rPr>
              <a:t>モデル：pandapower の 1 枝</a:t>
            </a:r>
          </a:p>
        </p:txBody>
      </p:sp>
      <p:sp>
        <p:nvSpPr>
          <p:cNvPr id="1057" name="N1058"/>
          <p:cNvSpPr/>
          <p:nvPr/>
        </p:nvSpPr>
        <p:spPr>
          <a:xfrm>
            <a:off x="6858000" y="3911600"/>
            <a:ext cx="101600" cy="457200"/>
          </a:xfrm>
          <a:prstGeom prst="rect">
            <a:avLst/>
          </a:prstGeom>
          <a:solidFill>
            <a:srgbClr val="1A2744"/>
          </a:solidFill>
          <a:ln>
            <a:noFill/>
          </a:ln>
        </p:spPr>
        <p:txBody>
          <a:bodyPr/>
          <a:lstStyle/>
          <a:p>
            <a:endParaRPr lang="ja-JP"/>
          </a:p>
        </p:txBody>
      </p:sp>
      <p:sp>
        <p:nvSpPr>
          <p:cNvPr id="1058" name="N1059"/>
          <p:cNvSpPr/>
          <p:nvPr/>
        </p:nvSpPr>
        <p:spPr>
          <a:xfrm>
            <a:off x="11252200" y="3911600"/>
            <a:ext cx="101600" cy="457200"/>
          </a:xfrm>
          <a:prstGeom prst="rect">
            <a:avLst/>
          </a:prstGeom>
          <a:solidFill>
            <a:srgbClr val="1A2744"/>
          </a:solidFill>
          <a:ln>
            <a:noFill/>
          </a:ln>
        </p:spPr>
        <p:txBody>
          <a:bodyPr/>
          <a:lstStyle/>
          <a:p>
            <a:endParaRPr lang="ja-JP"/>
          </a:p>
        </p:txBody>
      </p:sp>
      <p:sp>
        <p:nvSpPr>
          <p:cNvPr id="1059" name="N1060"/>
          <p:cNvSpPr/>
          <p:nvPr/>
        </p:nvSpPr>
        <p:spPr>
          <a:xfrm>
            <a:off x="6959600" y="4127500"/>
            <a:ext cx="4292600" cy="25400"/>
          </a:xfrm>
          <a:prstGeom prst="rect">
            <a:avLst/>
          </a:prstGeom>
          <a:solidFill>
            <a:srgbClr val="1A2744"/>
          </a:solidFill>
          <a:ln>
            <a:noFill/>
          </a:ln>
        </p:spPr>
        <p:txBody>
          <a:bodyPr/>
          <a:lstStyle/>
          <a:p>
            <a:endParaRPr lang="ja-JP"/>
          </a:p>
        </p:txBody>
      </p:sp>
      <p:sp>
        <p:nvSpPr>
          <p:cNvPr id="1060" name="N1061"/>
          <p:cNvSpPr/>
          <p:nvPr/>
        </p:nvSpPr>
        <p:spPr>
          <a:xfrm>
            <a:off x="8407400" y="4000500"/>
            <a:ext cx="1397000" cy="279400"/>
          </a:xfrm>
          <a:prstGeom prst="roundRect">
            <a:avLst/>
          </a:prstGeom>
          <a:solidFill>
            <a:srgbClr val="FFFFFF"/>
          </a:solidFill>
          <a:ln w="9525">
            <a:solidFill>
              <a:srgbClr val="C7CEDA"/>
            </a:solidFill>
          </a:ln>
        </p:spPr>
        <p:txBody>
          <a:bodyPr/>
          <a:lstStyle/>
          <a:p>
            <a:endParaRPr lang="ja-JP"/>
          </a:p>
        </p:txBody>
      </p:sp>
      <p:sp>
        <p:nvSpPr>
          <p:cNvPr id="1061" name="NT1062"/>
          <p:cNvSpPr txBox="1"/>
          <p:nvPr/>
        </p:nvSpPr>
        <p:spPr>
          <a:xfrm>
            <a:off x="8407400" y="4000500"/>
            <a:ext cx="1397000" cy="279400"/>
          </a:xfrm>
          <a:prstGeom prst="rect">
            <a:avLst/>
          </a:prstGeom>
          <a:noFill/>
        </p:spPr>
        <p:txBody>
          <a:bodyPr wrap="square" lIns="0" tIns="0" rIns="0" bIns="0" anchor="ctr"/>
          <a:lstStyle/>
          <a:p>
            <a:pPr algn="ctr">
              <a:buNone/>
            </a:pPr>
            <a:r>
              <a:rPr lang="ja-JP" altLang="en-US" sz="1150" b="1" i="0" dirty="0">
                <a:solidFill>
                  <a:srgbClr val="1A2744"/>
                </a:solidFill>
                <a:latin typeface="Calibri"/>
                <a:ea typeface="ＭＳ Ｐゴシック"/>
              </a:rPr>
              <a:t>R + jX</a:t>
            </a:r>
          </a:p>
        </p:txBody>
      </p:sp>
      <p:sp>
        <p:nvSpPr>
          <p:cNvPr id="1062" name="NT1063"/>
          <p:cNvSpPr txBox="1"/>
          <p:nvPr/>
        </p:nvSpPr>
        <p:spPr>
          <a:xfrm>
            <a:off x="6858000" y="4419600"/>
            <a:ext cx="1905000" cy="177800"/>
          </a:xfrm>
          <a:prstGeom prst="rect">
            <a:avLst/>
          </a:prstGeom>
          <a:noFill/>
        </p:spPr>
        <p:txBody>
          <a:bodyPr wrap="square" lIns="0" tIns="0" rIns="0" bIns="0" anchor="t"/>
          <a:lstStyle/>
          <a:p>
            <a:pPr algn="l">
              <a:buNone/>
            </a:pPr>
            <a:r>
              <a:rPr lang="ja-JP" altLang="en-US" sz="1050" b="0" i="0" dirty="0">
                <a:solidFill>
                  <a:srgbClr val="6B7280"/>
                </a:solidFill>
                <a:latin typeface="Calibri"/>
                <a:ea typeface="ＭＳ Ｐゴシック"/>
              </a:rPr>
              <a:t>from bus</a:t>
            </a:r>
          </a:p>
        </p:txBody>
      </p:sp>
      <p:sp>
        <p:nvSpPr>
          <p:cNvPr id="1063" name="NT1064"/>
          <p:cNvSpPr txBox="1"/>
          <p:nvPr/>
        </p:nvSpPr>
        <p:spPr>
          <a:xfrm>
            <a:off x="10236200" y="4419600"/>
            <a:ext cx="1117600" cy="177800"/>
          </a:xfrm>
          <a:prstGeom prst="rect">
            <a:avLst/>
          </a:prstGeom>
          <a:noFill/>
        </p:spPr>
        <p:txBody>
          <a:bodyPr wrap="square" lIns="0" tIns="0" rIns="0" bIns="0" anchor="t"/>
          <a:lstStyle/>
          <a:p>
            <a:pPr algn="r">
              <a:buNone/>
            </a:pPr>
            <a:r>
              <a:rPr lang="ja-JP" altLang="en-US" sz="1050" b="0" i="0" dirty="0">
                <a:solidFill>
                  <a:srgbClr val="6B7280"/>
                </a:solidFill>
                <a:latin typeface="Calibri"/>
                <a:ea typeface="ＭＳ Ｐゴシック"/>
              </a:rPr>
              <a:t>to bus</a:t>
            </a:r>
          </a:p>
        </p:txBody>
      </p:sp>
      <p:sp>
        <p:nvSpPr>
          <p:cNvPr id="1064" name="NT1065"/>
          <p:cNvSpPr txBox="1"/>
          <p:nvPr/>
        </p:nvSpPr>
        <p:spPr>
          <a:xfrm>
            <a:off x="6858000" y="4673600"/>
            <a:ext cx="4572000" cy="203200"/>
          </a:xfrm>
          <a:prstGeom prst="rect">
            <a:avLst/>
          </a:prstGeom>
          <a:noFill/>
        </p:spPr>
        <p:txBody>
          <a:bodyPr wrap="square" lIns="0" tIns="0" rIns="0" bIns="0" anchor="t"/>
          <a:lstStyle/>
          <a:p>
            <a:pPr algn="l">
              <a:buNone/>
            </a:pPr>
            <a:r>
              <a:rPr lang="ja-JP" altLang="en-US" sz="1100" b="0" i="0" dirty="0">
                <a:solidFill>
                  <a:srgbClr val="6B7280"/>
                </a:solidFill>
                <a:latin typeface="Calibri"/>
                <a:ea typeface="ＭＳ Ｐゴシック"/>
              </a:rPr>
              <a:t>長さ × 電圧階級の標準定数 → R, X, B</a:t>
            </a:r>
          </a:p>
        </p:txBody>
      </p:sp>
      <p:pic>
        <p:nvPicPr>
          <p:cNvPr id="1065" name="Graphic 1065" descr="地図サービス"/>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84700" y="2197100"/>
            <a:ext cx="228600" cy="228600"/>
          </a:xfrm>
          <a:prstGeom prst="rect">
            <a:avLst/>
          </a:prstGeom>
        </p:spPr>
      </p:pic>
      <p:pic>
        <p:nvPicPr>
          <p:cNvPr id="1066" name="Graphic 1066" descr="カーナビ・配車"/>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4700" y="2552700"/>
            <a:ext cx="228600" cy="228600"/>
          </a:xfrm>
          <a:prstGeom prst="rect">
            <a:avLst/>
          </a:prstGeom>
        </p:spPr>
      </p:pic>
      <p:pic>
        <p:nvPicPr>
          <p:cNvPr id="1067" name="Graphic 1067" descr="地図クラウド基盤"/>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4700" y="2908300"/>
            <a:ext cx="228600" cy="228600"/>
          </a:xfrm>
          <a:prstGeom prst="rect">
            <a:avLst/>
          </a:prstGeom>
        </p:spPr>
      </p:pic>
      <p:pic>
        <p:nvPicPr>
          <p:cNvPr id="1068" name="Graphic 1068" descr="Overpass API"/>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76800" y="3810000"/>
            <a:ext cx="228600" cy="228600"/>
          </a:xfrm>
          <a:prstGeom prst="rect">
            <a:avLst/>
          </a:prstGeom>
        </p:spPr>
      </p:pic>
    </p:spTree>
    <p:extLst>
      <p:ext uri="{BB962C8B-B14F-4D97-AF65-F5344CB8AC3E}">
        <p14:creationId xmlns:p14="http://schemas.microsoft.com/office/powerpoint/2010/main" val="41137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8EC8-3EF1-DE90-0320-B45746251E9B}"/>
            </a:ext>
          </a:extLst>
        </p:cNvPr>
        <p:cNvGrpSpPr/>
        <p:nvPr/>
      </p:nvGrpSpPr>
      <p:grpSpPr>
        <a:xfrm>
          <a:off x="0" y="0"/>
          <a:ext cx="0" cy="0"/>
          <a:chOff x="0" y="0"/>
          <a:chExt cx="0" cy="0"/>
        </a:xfrm>
      </p:grpSpPr>
      <p:sp>
        <p:nvSpPr>
          <p:cNvPr id="20" name="coverNum">
            <a:extLst>
              <a:ext uri="{FF2B5EF4-FFF2-40B4-BE49-F238E27FC236}">
                <a16:creationId xmlns:a16="http://schemas.microsoft.com/office/drawing/2014/main" id="{FD23EE63-04D9-F446-88C6-B9B7C6EFB05F}"/>
              </a:ext>
            </a:extLst>
          </p:cNvPr>
          <p:cNvSpPr/>
          <p:nvPr/>
        </p:nvSpPr>
        <p:spPr>
          <a:xfrm>
            <a:off x="11150600" y="6121400"/>
            <a:ext cx="1016000" cy="7112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6" name="coverBar">
            <a:extLst>
              <a:ext uri="{FF2B5EF4-FFF2-40B4-BE49-F238E27FC236}">
                <a16:creationId xmlns:a16="http://schemas.microsoft.com/office/drawing/2014/main" id="{7017AB84-BAAF-514C-8BE8-DCF0C6736842}"/>
              </a:ext>
            </a:extLst>
          </p:cNvPr>
          <p:cNvSpPr/>
          <p:nvPr/>
        </p:nvSpPr>
        <p:spPr>
          <a:xfrm>
            <a:off x="0" y="635000"/>
            <a:ext cx="12192000" cy="3048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2" name="タイトル 1">
            <a:extLst>
              <a:ext uri="{FF2B5EF4-FFF2-40B4-BE49-F238E27FC236}">
                <a16:creationId xmlns:a16="http://schemas.microsoft.com/office/drawing/2014/main" id="{BDF60167-10B4-E0CF-B784-0E79F540F32D}"/>
              </a:ext>
            </a:extLst>
          </p:cNvPr>
          <p:cNvSpPr>
            <a:spLocks noGrp="1"/>
          </p:cNvSpPr>
          <p:nvPr>
            <p:ph type="title"/>
          </p:nvPr>
        </p:nvSpPr>
        <p:spPr>
          <a:xfrm>
            <a:off x="546100" y="470804"/>
            <a:ext cx="11150600" cy="475876"/>
          </a:xfrm>
        </p:spPr>
        <p:txBody>
          <a:bodyPr>
            <a:normAutofit fontScale="90000"/>
          </a:bodyPr>
          <a:lstStyle/>
          <a:p>
            <a:pPr marL="0" indent="0" algn="l">
              <a:lnSpc>
                <a:spcPct val="100000"/>
              </a:lnSpc>
              <a:spcBef>
                <a:spcPts val="0"/>
              </a:spcBef>
              <a:spcAft>
                <a:spcPts val="0"/>
              </a:spcAft>
              <a:buNone/>
            </a:pPr>
            <a:r>
              <a:rPr kumimoji="0" lang="ja-JP" altLang="en-US" sz="3200" b="1">
                <a:solidFill>
                  <a:srgbClr val="262626"/>
                </a:solidFill>
                <a:latin typeface="Helvetica Neue"/>
                <a:ea typeface="Hiragino Sans"/>
                <a:cs typeface="Hiragino Sans"/>
              </a:rPr>
              <a:t>JSON は「テキストで構造を書く」共通フォーマット</a:t>
            </a:r>
          </a:p>
        </p:txBody>
      </p:sp>
      <p:sp>
        <p:nvSpPr>
          <p:cNvPr id="8" name="正方形/長方形 7">
            <a:extLst>
              <a:ext uri="{FF2B5EF4-FFF2-40B4-BE49-F238E27FC236}">
                <a16:creationId xmlns:a16="http://schemas.microsoft.com/office/drawing/2014/main" id="{71EBD238-BEAF-A324-5D06-A4575EBD042E}"/>
              </a:ext>
            </a:extLst>
          </p:cNvPr>
          <p:cNvSpPr/>
          <p:nvPr/>
        </p:nvSpPr>
        <p:spPr>
          <a:xfrm>
            <a:off x="571500" y="1397000"/>
            <a:ext cx="11061700" cy="711200"/>
          </a:xfrm>
          <a:prstGeom prst="rect">
            <a:avLst/>
          </a:prstGeom>
          <a:solidFill>
            <a:srgbClr val="EAF0F6"/>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0" name="テキスト ボックス 9">
            <a:extLst>
              <a:ext uri="{FF2B5EF4-FFF2-40B4-BE49-F238E27FC236}">
                <a16:creationId xmlns:a16="http://schemas.microsoft.com/office/drawing/2014/main" id="{1A7405DE-9B50-0A36-EF7C-710D1A82795F}"/>
              </a:ext>
            </a:extLst>
          </p:cNvPr>
          <p:cNvSpPr txBox="1"/>
          <p:nvPr/>
        </p:nvSpPr>
        <p:spPr>
          <a:xfrm>
            <a:off x="571500" y="2286000"/>
            <a:ext cx="1723549" cy="323165"/>
          </a:xfrm>
          <a:prstGeom prst="rect">
            <a:avLst/>
          </a:prstGeom>
          <a:noFill/>
          <a:ln>
            <a:no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a:ln>
                  <a:noFill/>
                </a:ln>
                <a:solidFill>
                  <a:srgbClr val="262626"/>
                </a:solidFill>
                <a:effectLst/>
                <a:uLnTx/>
                <a:uFillTx/>
                <a:latin typeface="Helvetica Neue"/>
                <a:ea typeface="Hiragino Sans"/>
                <a:cs typeface="Hiragino Sans"/>
              </a:rPr>
              <a:t>JSON のメリット</a:t>
            </a:r>
          </a:p>
        </p:txBody>
      </p:sp>
      <p:sp>
        <p:nvSpPr>
          <p:cNvPr id="5" name="rule">
            <a:extLst>
              <a:ext uri="{FF2B5EF4-FFF2-40B4-BE49-F238E27FC236}">
                <a16:creationId xmlns:a16="http://schemas.microsoft.com/office/drawing/2014/main" id="{9FE27BF3-58E2-1C48-AC14-E2B3BB42F294}"/>
              </a:ext>
            </a:extLst>
          </p:cNvPr>
          <p:cNvSpPr/>
          <p:nvPr/>
        </p:nvSpPr>
        <p:spPr>
          <a:xfrm>
            <a:off x="571500" y="1155700"/>
            <a:ext cx="11061700" cy="12700"/>
          </a:xfrm>
          <a:prstGeom prst="rect">
            <a:avLst/>
          </a:prstGeom>
          <a:solidFill>
            <a:srgbClr val="D9D9D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6" name="merit1bg">
            <a:extLst>
              <a:ext uri="{FF2B5EF4-FFF2-40B4-BE49-F238E27FC236}">
                <a16:creationId xmlns:a16="http://schemas.microsoft.com/office/drawing/2014/main" id="{2602CD52-CFE3-F849-80FD-5380A593DF39}"/>
              </a:ext>
            </a:extLst>
          </p:cNvPr>
          <p:cNvSpPr/>
          <p:nvPr/>
        </p:nvSpPr>
        <p:spPr>
          <a:xfrm>
            <a:off x="571500" y="2667000"/>
            <a:ext cx="5397500" cy="10922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7" name="merit2bg">
            <a:extLst>
              <a:ext uri="{FF2B5EF4-FFF2-40B4-BE49-F238E27FC236}">
                <a16:creationId xmlns:a16="http://schemas.microsoft.com/office/drawing/2014/main" id="{A6C40281-EB92-724B-B0B3-13003E029AF1}"/>
              </a:ext>
            </a:extLst>
          </p:cNvPr>
          <p:cNvSpPr/>
          <p:nvPr/>
        </p:nvSpPr>
        <p:spPr>
          <a:xfrm>
            <a:off x="571500" y="3886200"/>
            <a:ext cx="5397500" cy="10922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8" name="concbg">
            <a:extLst>
              <a:ext uri="{FF2B5EF4-FFF2-40B4-BE49-F238E27FC236}">
                <a16:creationId xmlns:a16="http://schemas.microsoft.com/office/drawing/2014/main" id="{E9139F80-ED2F-9847-AA64-E43F5C33D7A1}"/>
              </a:ext>
            </a:extLst>
          </p:cNvPr>
          <p:cNvSpPr/>
          <p:nvPr/>
        </p:nvSpPr>
        <p:spPr>
          <a:xfrm>
            <a:off x="571500" y="5105400"/>
            <a:ext cx="5397500" cy="1270000"/>
          </a:xfrm>
          <a:prstGeom prst="roundRect">
            <a:avLst/>
          </a:prstGeom>
          <a:solidFill>
            <a:srgbClr val="EAF0F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9" name="codeCap">
            <a:extLst>
              <a:ext uri="{FF2B5EF4-FFF2-40B4-BE49-F238E27FC236}">
                <a16:creationId xmlns:a16="http://schemas.microsoft.com/office/drawing/2014/main" id="{6056CBC7-419E-F04C-B333-DC5626AD4BB1}"/>
              </a:ext>
            </a:extLst>
          </p:cNvPr>
          <p:cNvSpPr txBox="1"/>
          <p:nvPr/>
        </p:nvSpPr>
        <p:spPr>
          <a:xfrm>
            <a:off x="6235700" y="2286000"/>
            <a:ext cx="5397500" cy="304800"/>
          </a:xfrm>
          <a:prstGeom prst="rect">
            <a:avLst/>
          </a:prstGeom>
          <a:noFill/>
          <a:ln>
            <a:noFill/>
          </a:ln>
        </p:spPr>
        <p:txBody>
          <a:bodyPr vertOverflow="overflow" vert="horz" wrap="square" rtlCol="0" anchor="ctr"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a:ln>
                  <a:noFill/>
                </a:ln>
                <a:solidFill>
                  <a:srgbClr val="0D558E"/>
                </a:solidFill>
                <a:effectLst/>
                <a:uLnTx/>
                <a:uFillTx/>
                <a:latin typeface="Helvetica Neue"/>
                <a:ea typeface="Hiragino Sans"/>
                <a:cs typeface="Hiragino Sans"/>
              </a:rPr>
              <a:t>例：人の情報を JSON で書くと</a:t>
            </a:r>
          </a:p>
        </p:txBody>
      </p:sp>
      <p:sp>
        <p:nvSpPr>
          <p:cNvPr id="11" name="テキスト ボックス 10">
            <a:extLst>
              <a:ext uri="{FF2B5EF4-FFF2-40B4-BE49-F238E27FC236}">
                <a16:creationId xmlns:a16="http://schemas.microsoft.com/office/drawing/2014/main" id="{FAB4A9B4-7872-3949-A33F-3636040CC254}"/>
              </a:ext>
            </a:extLst>
          </p:cNvPr>
          <p:cNvSpPr txBox="1"/>
          <p:nvPr/>
        </p:nvSpPr>
        <p:spPr>
          <a:xfrm>
            <a:off x="800100" y="2744799"/>
            <a:ext cx="4940300" cy="936603"/>
          </a:xfrm>
          <a:prstGeom prst="rect">
            <a:avLst/>
          </a:prstGeom>
          <a:noFill/>
        </p:spPr>
        <p:txBody>
          <a:bodyPr wrap="square" rtlCol="0" anchor="ctr">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1900" b="1" i="0" u="none" strike="noStrike" kern="1200" cap="none" spc="0" normalizeH="0" baseline="0" noProof="0">
                <a:ln>
                  <a:noFill/>
                </a:ln>
                <a:solidFill>
                  <a:srgbClr val="0D558E"/>
                </a:solidFill>
                <a:effectLst/>
                <a:uLnTx/>
                <a:uFillTx/>
                <a:latin typeface="Helvetica Neue"/>
                <a:ea typeface="Hiragino Sans"/>
                <a:cs typeface="Hiragino Sans"/>
              </a:rPr>
              <a:t>軽量</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1500" b="0" i="0" u="none" strike="noStrike" kern="1200" cap="none" spc="0" normalizeH="0" baseline="0" noProof="0">
                <a:ln>
                  <a:noFill/>
                </a:ln>
                <a:solidFill>
                  <a:srgbClr val="404040"/>
                </a:solidFill>
                <a:effectLst/>
                <a:uLnTx/>
                <a:uFillTx/>
                <a:latin typeface="Helvetica Neue"/>
                <a:ea typeface="Hiragino Sans"/>
                <a:cs typeface="Hiragino Sans"/>
              </a:rPr>
              <a:t>タグのような余分な情報がなく、データそのものが短く済む。</a:t>
            </a:r>
          </a:p>
        </p:txBody>
      </p:sp>
      <p:sp>
        <p:nvSpPr>
          <p:cNvPr id="12" name="テキスト ボックス 11">
            <a:extLst>
              <a:ext uri="{FF2B5EF4-FFF2-40B4-BE49-F238E27FC236}">
                <a16:creationId xmlns:a16="http://schemas.microsoft.com/office/drawing/2014/main" id="{F6E8A3E7-1EFA-5E4B-16EA-337E75771B3C}"/>
              </a:ext>
            </a:extLst>
          </p:cNvPr>
          <p:cNvSpPr txBox="1"/>
          <p:nvPr/>
        </p:nvSpPr>
        <p:spPr>
          <a:xfrm>
            <a:off x="800100" y="4096727"/>
            <a:ext cx="4940300" cy="671146"/>
          </a:xfrm>
          <a:prstGeom prst="rect">
            <a:avLst/>
          </a:prstGeom>
          <a:noFill/>
        </p:spPr>
        <p:txBody>
          <a:bodyPr wrap="square" rtlCol="0" anchor="ctr">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1900" b="1" i="0" u="none" strike="noStrike" kern="1200" cap="none" spc="0" normalizeH="0" baseline="0" noProof="0">
                <a:ln>
                  <a:noFill/>
                </a:ln>
                <a:solidFill>
                  <a:srgbClr val="0D558E"/>
                </a:solidFill>
                <a:effectLst/>
                <a:uLnTx/>
                <a:uFillTx/>
                <a:latin typeface="Helvetica Neue"/>
                <a:ea typeface="Hiragino Sans"/>
                <a:cs typeface="Hiragino Sans"/>
              </a:rPr>
              <a:t>汎用</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1500" b="0" i="0" u="none" strike="noStrike" kern="1200" cap="none" spc="0" normalizeH="0" baseline="0" noProof="0">
                <a:ln>
                  <a:noFill/>
                </a:ln>
                <a:solidFill>
                  <a:srgbClr val="404040"/>
                </a:solidFill>
                <a:effectLst/>
                <a:uLnTx/>
                <a:uFillTx/>
                <a:latin typeface="Helvetica Neue"/>
                <a:ea typeface="Hiragino Sans"/>
                <a:cs typeface="Hiragino Sans"/>
              </a:rPr>
              <a:t>多くの言語やツールがそのまま読み書きできる。</a:t>
            </a:r>
          </a:p>
        </p:txBody>
      </p:sp>
      <p:grpSp>
        <p:nvGrpSpPr>
          <p:cNvPr id="14" name="グループ化 13">
            <a:extLst>
              <a:ext uri="{FF2B5EF4-FFF2-40B4-BE49-F238E27FC236}">
                <a16:creationId xmlns:a16="http://schemas.microsoft.com/office/drawing/2014/main" id="{B1547D0D-69B4-B760-1C7A-C298FE54A1BB}"/>
              </a:ext>
            </a:extLst>
          </p:cNvPr>
          <p:cNvGrpSpPr/>
          <p:nvPr/>
        </p:nvGrpSpPr>
        <p:grpSpPr>
          <a:xfrm>
            <a:off x="762000" y="5130800"/>
            <a:ext cx="4572593" cy="1200329"/>
            <a:chOff x="582388" y="5191327"/>
            <a:chExt cx="3829211" cy="1454462"/>
          </a:xfrm>
        </p:grpSpPr>
        <p:sp>
          <p:nvSpPr>
            <p:cNvPr id="3" name="テキスト ボックス 2">
              <a:extLst>
                <a:ext uri="{FF2B5EF4-FFF2-40B4-BE49-F238E27FC236}">
                  <a16:creationId xmlns:a16="http://schemas.microsoft.com/office/drawing/2014/main" id="{B44BFB2C-91DF-E27D-4AB5-DF1337759460}"/>
                </a:ext>
              </a:extLst>
            </p:cNvPr>
            <p:cNvSpPr txBox="1"/>
            <p:nvPr/>
          </p:nvSpPr>
          <p:spPr>
            <a:xfrm>
              <a:off x="1164071" y="5191327"/>
              <a:ext cx="3247528" cy="145446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Calibri"/>
                  <a:ea typeface="UD デジタル 教科書体 N" panose="02020400000000000000" pitchFamily="17" charset="-128"/>
                  <a:cs typeface="+mn-cs"/>
                </a:rPr>
                <a:t>世界標準で利用される</a:t>
              </a:r>
              <a:endParaRPr kumimoji="1" lang="en-US" altLang="ja-JP" sz="2400" b="0" i="0" u="none" strike="noStrike" kern="1200" cap="none" spc="0" normalizeH="0" baseline="0" noProof="0">
                <a:ln>
                  <a:noFill/>
                </a:ln>
                <a:solidFill>
                  <a:prstClr val="black"/>
                </a:solidFill>
                <a:effectLst/>
                <a:uLnTx/>
                <a:uFillTx/>
                <a:latin typeface="Calibri"/>
                <a:ea typeface="UD デジタル 教科書体 N" panose="02020400000000000000" pitchFamily="17"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a:ln>
                    <a:noFill/>
                  </a:ln>
                  <a:solidFill>
                    <a:srgbClr val="FF0000"/>
                  </a:solidFill>
                  <a:effectLst/>
                  <a:uLnTx/>
                  <a:uFillTx/>
                  <a:latin typeface="Calibri"/>
                  <a:ea typeface="UD デジタル 教科書体 N" panose="02020400000000000000" pitchFamily="17" charset="-128"/>
                  <a:cs typeface="+mn-cs"/>
                </a:rPr>
                <a:t>「言語で構造を表記する」</a:t>
              </a:r>
              <a:endParaRPr kumimoji="1" lang="en-US" altLang="ja-JP" sz="2400" b="1" i="0" u="none" strike="noStrike" kern="1200" cap="none" spc="0" normalizeH="0" baseline="0" noProof="0">
                <a:ln>
                  <a:noFill/>
                </a:ln>
                <a:solidFill>
                  <a:srgbClr val="FF0000"/>
                </a:solidFill>
                <a:effectLst/>
                <a:uLnTx/>
                <a:uFillTx/>
                <a:latin typeface="Calibri"/>
                <a:ea typeface="UD デジタル 教科書体 N" panose="02020400000000000000" pitchFamily="17" charset="-128"/>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Calibri"/>
                  <a:ea typeface="UD デジタル 教科書体 N" panose="02020400000000000000" pitchFamily="17" charset="-128"/>
                  <a:cs typeface="+mn-cs"/>
                </a:rPr>
                <a:t>共通のデータフォーマット</a:t>
              </a:r>
            </a:p>
          </p:txBody>
        </p:sp>
        <p:sp>
          <p:nvSpPr>
            <p:cNvPr id="13" name="矢印: 右 12">
              <a:extLst>
                <a:ext uri="{FF2B5EF4-FFF2-40B4-BE49-F238E27FC236}">
                  <a16:creationId xmlns:a16="http://schemas.microsoft.com/office/drawing/2014/main" id="{58BB8AD4-6FB0-9FEF-14D5-34273BB2B799}"/>
                </a:ext>
              </a:extLst>
            </p:cNvPr>
            <p:cNvSpPr/>
            <p:nvPr/>
          </p:nvSpPr>
          <p:spPr>
            <a:xfrm>
              <a:off x="582388" y="5370585"/>
              <a:ext cx="481148" cy="324235"/>
            </a:xfrm>
            <a:prstGeom prst="rightArrow">
              <a:avLst>
                <a:gd name="adj1" fmla="val 2851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grpSp>
      <p:sp>
        <p:nvSpPr>
          <p:cNvPr id="9" name="テキスト ボックス 8">
            <a:extLst>
              <a:ext uri="{FF2B5EF4-FFF2-40B4-BE49-F238E27FC236}">
                <a16:creationId xmlns:a16="http://schemas.microsoft.com/office/drawing/2014/main" id="{4B0978FC-ED54-57F7-AE67-CE5748D616B3}"/>
              </a:ext>
            </a:extLst>
          </p:cNvPr>
          <p:cNvSpPr txBox="1"/>
          <p:nvPr/>
        </p:nvSpPr>
        <p:spPr>
          <a:xfrm>
            <a:off x="800100" y="1473200"/>
            <a:ext cx="10604500" cy="323165"/>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a:ln>
                  <a:noFill/>
                </a:ln>
                <a:solidFill>
                  <a:srgbClr val="0D558E"/>
                </a:solidFill>
                <a:effectLst/>
                <a:uLnTx/>
                <a:uFillTx/>
                <a:latin typeface="Helvetica Neue"/>
                <a:ea typeface="Hiragino Sans"/>
                <a:cs typeface="Hiragino Sans"/>
              </a:rPr>
              <a:t>JSON（JavaScript Object Notation）</a:t>
            </a:r>
          </a:p>
        </p:txBody>
      </p:sp>
      <p:sp>
        <p:nvSpPr>
          <p:cNvPr id="7" name="テキスト ボックス 6">
            <a:extLst>
              <a:ext uri="{FF2B5EF4-FFF2-40B4-BE49-F238E27FC236}">
                <a16:creationId xmlns:a16="http://schemas.microsoft.com/office/drawing/2014/main" id="{0BF5661F-3FB9-3886-53CB-C6EBF6902D56}"/>
              </a:ext>
            </a:extLst>
          </p:cNvPr>
          <p:cNvSpPr txBox="1"/>
          <p:nvPr/>
        </p:nvSpPr>
        <p:spPr>
          <a:xfrm>
            <a:off x="800100" y="1752600"/>
            <a:ext cx="10604500" cy="323165"/>
          </a:xfrm>
          <a:prstGeom prst="rect">
            <a:avLst/>
          </a:prstGeom>
          <a:noFill/>
          <a:ln w="19050">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0" i="0" u="none" strike="noStrike" kern="1200" cap="none" spc="0" normalizeH="0" baseline="0" noProof="0">
                <a:ln>
                  <a:noFill/>
                </a:ln>
                <a:solidFill>
                  <a:srgbClr val="404040"/>
                </a:solidFill>
                <a:effectLst/>
                <a:uLnTx/>
                <a:uFillTx/>
                <a:latin typeface="Helvetica Neue"/>
                <a:ea typeface="Hiragino Sans"/>
                <a:cs typeface="Hiragino Sans"/>
              </a:rPr>
              <a:t>テキスト形式でデータや構造を表す表記法。「"」で名前と値を囲み、「:」で対応づける。</a:t>
            </a:r>
          </a:p>
        </p:txBody>
      </p:sp>
      <p:sp>
        <p:nvSpPr>
          <p:cNvPr id="15" name="テキスト ボックス 14">
            <a:extLst>
              <a:ext uri="{FF2B5EF4-FFF2-40B4-BE49-F238E27FC236}">
                <a16:creationId xmlns:a16="http://schemas.microsoft.com/office/drawing/2014/main" id="{50992368-7D6F-ED6D-F76D-967F12EFD843}"/>
              </a:ext>
            </a:extLst>
          </p:cNvPr>
          <p:cNvSpPr txBox="1"/>
          <p:nvPr/>
        </p:nvSpPr>
        <p:spPr>
          <a:xfrm>
            <a:off x="6235700" y="2667000"/>
            <a:ext cx="5397500" cy="3708400"/>
          </a:xfrm>
          <a:prstGeom prst="rect">
            <a:avLst/>
          </a:prstGeom>
          <a:solidFill>
            <a:srgbClr val="22273A"/>
          </a:solidFill>
          <a:ln>
            <a:noFill/>
          </a:ln>
        </p:spPr>
        <p:txBody>
          <a:bodyPr wrap="square" anchor="ctr">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"name"</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C3E88D"/>
                </a:solidFill>
                <a:effectLst/>
                <a:uLnTx/>
                <a:uFillTx/>
                <a:latin typeface="Consolas"/>
                <a:ea typeface="Hiragino Sans"/>
                <a:cs typeface="Hiragino Sans"/>
              </a:rPr>
              <a:t>"山田 太郎"</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"age"</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F0B37E"/>
                </a:solidFill>
                <a:effectLst/>
                <a:uLnTx/>
                <a:uFillTx/>
                <a:latin typeface="Consolas"/>
                <a:ea typeface="Hiragino Sans"/>
                <a:cs typeface="Hiragino Sans"/>
              </a:rPr>
              <a:t>30</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"skills"</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C3E88D"/>
                </a:solidFill>
                <a:effectLst/>
                <a:uLnTx/>
                <a:uFillTx/>
                <a:latin typeface="Consolas"/>
                <a:ea typeface="Hiragino Sans"/>
                <a:cs typeface="Hiragino Sans"/>
              </a:rPr>
              <a:t>"Python"</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C3E88D"/>
                </a:solidFill>
                <a:effectLst/>
                <a:uLnTx/>
                <a:uFillTx/>
                <a:latin typeface="Consolas"/>
                <a:ea typeface="Hiragino Sans"/>
                <a:cs typeface="Hiragino Sans"/>
              </a:rPr>
              <a:t>"C"</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"address"</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"city"</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C3E88D"/>
                </a:solidFill>
                <a:effectLst/>
                <a:uLnTx/>
                <a:uFillTx/>
                <a:latin typeface="Consolas"/>
                <a:ea typeface="Hiragino Sans"/>
                <a:cs typeface="Hiragino Sans"/>
              </a:rPr>
              <a:t>"福井市"</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7EC8FF"/>
                </a:solidFill>
                <a:effectLst/>
                <a:uLnTx/>
                <a:uFillTx/>
                <a:latin typeface="Consolas"/>
                <a:ea typeface="Hiragino Sans"/>
                <a:cs typeface="Hiragino Sans"/>
              </a:rPr>
              <a:t>"country"</a:t>
            </a: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r>
              <a:rPr kumimoji="0" lang="en-US" altLang="ja-JP" sz="1400" b="0" i="0" u="none" strike="noStrike" kern="1200" cap="none" spc="0" normalizeH="0" baseline="0" noProof="0">
                <a:ln>
                  <a:noFill/>
                </a:ln>
                <a:solidFill>
                  <a:srgbClr val="C3E88D"/>
                </a:solidFill>
                <a:effectLst/>
                <a:uLnTx/>
                <a:uFillTx/>
                <a:latin typeface="Consolas"/>
                <a:ea typeface="Hiragino Sans"/>
                <a:cs typeface="Hiragino Sans"/>
              </a:rPr>
              <a:t>"日本"</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　}</a:t>
            </a: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E8E8E8"/>
                </a:solidFill>
                <a:effectLst/>
                <a:uLnTx/>
                <a:uFillTx/>
                <a:latin typeface="Consolas"/>
                <a:ea typeface="Hiragino Sans"/>
                <a:cs typeface="Hiragino Sans"/>
              </a:rPr>
              <a:t>}</a:t>
            </a:r>
          </a:p>
        </p:txBody>
      </p:sp>
      <p:pic>
        <p:nvPicPr>
          <p:cNvPr id="21" name="図 20">
            <a:extLst>
              <a:ext uri="{FF2B5EF4-FFF2-40B4-BE49-F238E27FC236}">
                <a16:creationId xmlns:a16="http://schemas.microsoft.com/office/drawing/2014/main" id="{D629B3B2-50BB-7825-148C-F700072C1AE5}"/>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4231568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8EC8-3EF1-DE90-0320-B45746251E9B}"/>
            </a:ext>
          </a:extLst>
        </p:cNvPr>
        <p:cNvGrpSpPr/>
        <p:nvPr/>
      </p:nvGrpSpPr>
      <p:grpSpPr>
        <a:xfrm>
          <a:off x="0" y="0"/>
          <a:ext cx="0" cy="0"/>
          <a:chOff x="0" y="0"/>
          <a:chExt cx="0" cy="0"/>
        </a:xfrm>
      </p:grpSpPr>
      <p:sp>
        <p:nvSpPr>
          <p:cNvPr id="20" name="coverNum">
            <a:extLst>
              <a:ext uri="{FF2B5EF4-FFF2-40B4-BE49-F238E27FC236}">
                <a16:creationId xmlns:a16="http://schemas.microsoft.com/office/drawing/2014/main" id="{FD23EE63-04D9-F446-88C6-B9B7C6EFB05F}"/>
              </a:ext>
            </a:extLst>
          </p:cNvPr>
          <p:cNvSpPr/>
          <p:nvPr/>
        </p:nvSpPr>
        <p:spPr>
          <a:xfrm>
            <a:off x="11150600" y="6121400"/>
            <a:ext cx="1016000" cy="7112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6" name="coverBar">
            <a:extLst>
              <a:ext uri="{FF2B5EF4-FFF2-40B4-BE49-F238E27FC236}">
                <a16:creationId xmlns:a16="http://schemas.microsoft.com/office/drawing/2014/main" id="{7017AB84-BAAF-514C-8BE8-DCF0C6736842}"/>
              </a:ext>
            </a:extLst>
          </p:cNvPr>
          <p:cNvSpPr/>
          <p:nvPr/>
        </p:nvSpPr>
        <p:spPr>
          <a:xfrm>
            <a:off x="0" y="635000"/>
            <a:ext cx="12192000" cy="3048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2" name="タイトル 1">
            <a:extLst>
              <a:ext uri="{FF2B5EF4-FFF2-40B4-BE49-F238E27FC236}">
                <a16:creationId xmlns:a16="http://schemas.microsoft.com/office/drawing/2014/main" id="{BDF60167-10B4-E0CF-B784-0E79F540F32D}"/>
              </a:ext>
            </a:extLst>
          </p:cNvPr>
          <p:cNvSpPr>
            <a:spLocks noGrp="1"/>
          </p:cNvSpPr>
          <p:nvPr>
            <p:ph type="title"/>
          </p:nvPr>
        </p:nvSpPr>
        <p:spPr>
          <a:xfrm>
            <a:off x="546100" y="470804"/>
            <a:ext cx="11150600" cy="475876"/>
          </a:xfrm>
        </p:spPr>
        <p:txBody>
          <a:bodyPr>
            <a:normAutofit fontScale="90000"/>
          </a:bodyPr>
          <a:lstStyle/>
          <a:p>
            <a:pPr algn="l">
              <a:lnSpc>
                <a:spcPct val="115000"/>
              </a:lnSpc>
              <a:buNone/>
            </a:pPr>
            <a:r>
              <a:rPr lang="ja-JP" altLang="en-US" sz="2800" b="1" dirty="0">
                <a:solidFill>
                  <a:srgbClr val="1A1A1A"/>
                </a:solidFill>
                <a:latin typeface="Helvetica Neue"/>
                <a:ea typeface="Hiragino Sans"/>
                <a:cs typeface="Hiragino Sans"/>
              </a:rPr>
              <a:t>GeoJSON は「地理を JSON で書く」地理フォーマット</a:t>
            </a:r>
          </a:p>
        </p:txBody>
      </p:sp>
      <p:sp>
        <p:nvSpPr>
          <p:cNvPr id="8" name="正方形/長方形 7">
            <a:extLst>
              <a:ext uri="{FF2B5EF4-FFF2-40B4-BE49-F238E27FC236}">
                <a16:creationId xmlns:a16="http://schemas.microsoft.com/office/drawing/2014/main" id="{71EBD238-BEAF-A324-5D06-A4575EBD042E}"/>
              </a:ext>
            </a:extLst>
          </p:cNvPr>
          <p:cNvSpPr/>
          <p:nvPr/>
        </p:nvSpPr>
        <p:spPr>
          <a:xfrm>
            <a:off x="571500" y="1397000"/>
            <a:ext cx="11061700" cy="711200"/>
          </a:xfrm>
          <a:prstGeom prst="rect">
            <a:avLst/>
          </a:prstGeom>
          <a:solidFill>
            <a:srgbClr val="EAF0F6"/>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0" name="テキスト ボックス 9">
            <a:extLst>
              <a:ext uri="{FF2B5EF4-FFF2-40B4-BE49-F238E27FC236}">
                <a16:creationId xmlns:a16="http://schemas.microsoft.com/office/drawing/2014/main" id="{1A7405DE-9B50-0A36-EF7C-710D1A82795F}"/>
              </a:ext>
            </a:extLst>
          </p:cNvPr>
          <p:cNvSpPr txBox="1"/>
          <p:nvPr/>
        </p:nvSpPr>
        <p:spPr>
          <a:xfrm>
            <a:off x="571500" y="2235200"/>
            <a:ext cx="2111475" cy="370551"/>
          </a:xfrm>
          <a:prstGeom prst="rect">
            <a:avLst/>
          </a:prstGeom>
          <a:noFill/>
          <a:ln>
            <a:noFill/>
          </a:ln>
        </p:spPr>
        <p:txBody>
          <a:bodyPr wrap="none" rtlCol="0">
            <a:spAutoFit/>
          </a:bodyPr>
          <a:lstStyle/>
          <a:p>
            <a:pPr algn="l">
              <a:lnSpc>
                <a:spcPct val="115000"/>
              </a:lnSpc>
              <a:buNone/>
            </a:pPr>
            <a:r>
              <a:rPr lang="ja-JP" altLang="en-US" sz="1700" b="1" dirty="0">
                <a:solidFill>
                  <a:srgbClr val="1A1A1A"/>
                </a:solidFill>
                <a:latin typeface="Helvetica Neue"/>
                <a:ea typeface="Hiragino Sans"/>
                <a:cs typeface="Hiragino Sans"/>
              </a:rPr>
              <a:t>3 つのプリミティブ</a:t>
            </a:r>
          </a:p>
        </p:txBody>
      </p:sp>
      <p:sp>
        <p:nvSpPr>
          <p:cNvPr id="5" name="rule">
            <a:extLst>
              <a:ext uri="{FF2B5EF4-FFF2-40B4-BE49-F238E27FC236}">
                <a16:creationId xmlns:a16="http://schemas.microsoft.com/office/drawing/2014/main" id="{9FE27BF3-58E2-1C48-AC14-E2B3BB42F294}"/>
              </a:ext>
            </a:extLst>
          </p:cNvPr>
          <p:cNvSpPr/>
          <p:nvPr/>
        </p:nvSpPr>
        <p:spPr>
          <a:xfrm>
            <a:off x="571500" y="1155700"/>
            <a:ext cx="11061700" cy="12700"/>
          </a:xfrm>
          <a:prstGeom prst="rect">
            <a:avLst/>
          </a:prstGeom>
          <a:solidFill>
            <a:srgbClr val="D9D9D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6" name="merit1bg">
            <a:extLst>
              <a:ext uri="{FF2B5EF4-FFF2-40B4-BE49-F238E27FC236}">
                <a16:creationId xmlns:a16="http://schemas.microsoft.com/office/drawing/2014/main" id="{2602CD52-CFE3-F849-80FD-5380A593DF39}"/>
              </a:ext>
            </a:extLst>
          </p:cNvPr>
          <p:cNvSpPr/>
          <p:nvPr/>
        </p:nvSpPr>
        <p:spPr>
          <a:xfrm>
            <a:off x="571500" y="26162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7" name="merit2bg">
            <a:extLst>
              <a:ext uri="{FF2B5EF4-FFF2-40B4-BE49-F238E27FC236}">
                <a16:creationId xmlns:a16="http://schemas.microsoft.com/office/drawing/2014/main" id="{A6C40281-EB92-724B-B0B3-13003E029AF1}"/>
              </a:ext>
            </a:extLst>
          </p:cNvPr>
          <p:cNvSpPr/>
          <p:nvPr/>
        </p:nvSpPr>
        <p:spPr>
          <a:xfrm>
            <a:off x="571500" y="34798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8" name="concbg">
            <a:extLst>
              <a:ext uri="{FF2B5EF4-FFF2-40B4-BE49-F238E27FC236}">
                <a16:creationId xmlns:a16="http://schemas.microsoft.com/office/drawing/2014/main" id="{E9139F80-ED2F-9847-AA64-E43F5C33D7A1}"/>
              </a:ext>
            </a:extLst>
          </p:cNvPr>
          <p:cNvSpPr/>
          <p:nvPr/>
        </p:nvSpPr>
        <p:spPr>
          <a:xfrm>
            <a:off x="571500" y="5283200"/>
            <a:ext cx="5397500" cy="1066800"/>
          </a:xfrm>
          <a:prstGeom prst="roundRect">
            <a:avLst/>
          </a:prstGeom>
          <a:solidFill>
            <a:srgbClr val="EAF0F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9" name="codeCap">
            <a:extLst>
              <a:ext uri="{FF2B5EF4-FFF2-40B4-BE49-F238E27FC236}">
                <a16:creationId xmlns:a16="http://schemas.microsoft.com/office/drawing/2014/main" id="{6056CBC7-419E-F04C-B333-DC5626AD4BB1}"/>
              </a:ext>
            </a:extLst>
          </p:cNvPr>
          <p:cNvSpPr txBox="1"/>
          <p:nvPr/>
        </p:nvSpPr>
        <p:spPr>
          <a:xfrm>
            <a:off x="6235700" y="2286000"/>
            <a:ext cx="5397500" cy="304800"/>
          </a:xfrm>
          <a:prstGeom prst="rect">
            <a:avLst/>
          </a:prstGeom>
          <a:noFill/>
          <a:ln>
            <a:noFill/>
          </a:ln>
        </p:spPr>
        <p:txBody>
          <a:bodyPr vertOverflow="overflow" vert="horz" wrap="square" rtlCol="0" anchor="ctr" anchorCtr="0">
            <a:noAutofit/>
          </a:bodyPr>
          <a:lstStyle/>
          <a:p>
            <a:pPr algn="l">
              <a:lnSpc>
                <a:spcPct val="115000"/>
              </a:lnSpc>
              <a:buNone/>
            </a:pPr>
            <a:r>
              <a:rPr lang="ja-JP" altLang="en-US" sz="1700" b="1" dirty="0">
                <a:solidFill>
                  <a:srgbClr val="0D558E"/>
                </a:solidFill>
                <a:latin typeface="Helvetica Neue"/>
                <a:ea typeface="Hiragino Sans"/>
                <a:cs typeface="Hiragino Sans"/>
              </a:rPr>
              <a:t>例：変電所を GeoJSON で書くと</a:t>
            </a:r>
          </a:p>
        </p:txBody>
      </p:sp>
      <p:sp>
        <p:nvSpPr>
          <p:cNvPr id="11" name="テキスト ボックス 10">
            <a:extLst>
              <a:ext uri="{FF2B5EF4-FFF2-40B4-BE49-F238E27FC236}">
                <a16:creationId xmlns:a16="http://schemas.microsoft.com/office/drawing/2014/main" id="{FAB4A9B4-7872-3949-A33F-3636040CC254}"/>
              </a:ext>
            </a:extLst>
          </p:cNvPr>
          <p:cNvSpPr txBox="1"/>
          <p:nvPr/>
        </p:nvSpPr>
        <p:spPr>
          <a:xfrm>
            <a:off x="1905000" y="2687027"/>
            <a:ext cx="3937000" cy="671146"/>
          </a:xfrm>
          <a:prstGeom prst="rect">
            <a:avLst/>
          </a:prstGeom>
          <a:noFill/>
        </p:spPr>
        <p:txBody>
          <a:bodyPr wrap="square" rtlCol="0" anchor="ctr">
            <a:spAutoFit/>
          </a:bodyPr>
          <a:lstStyle/>
          <a:p>
            <a:pPr algn="l">
              <a:lnSpc>
                <a:spcPct val="115000"/>
              </a:lnSpc>
              <a:buNone/>
            </a:pPr>
            <a:r>
              <a:rPr lang="ja-JP" altLang="en-US" sz="1900" b="1" dirty="0">
                <a:solidFill>
                  <a:srgbClr val="0D558E"/>
                </a:solidFill>
                <a:latin typeface="Helvetica Neue"/>
                <a:ea typeface="Hiragino Sans"/>
                <a:cs typeface="Hiragino Sans"/>
              </a:rPr>
              <a:t>Point ｜ 点</a:t>
            </a:r>
          </a:p>
          <a:p>
            <a:pPr algn="l">
              <a:lnSpc>
                <a:spcPct val="115000"/>
              </a:lnSpc>
              <a:buNone/>
            </a:pPr>
            <a:r>
              <a:rPr lang="ja-JP" altLang="en-US" sz="1500" dirty="0">
                <a:solidFill>
                  <a:srgbClr val="404040"/>
                </a:solidFill>
                <a:latin typeface="Helvetica Neue"/>
                <a:ea typeface="Hiragino Sans"/>
                <a:cs typeface="Hiragino Sans"/>
              </a:rPr>
              <a:t>変電所・発電所などの地点</a:t>
            </a:r>
          </a:p>
        </p:txBody>
      </p:sp>
      <p:sp>
        <p:nvSpPr>
          <p:cNvPr id="12" name="テキスト ボックス 11">
            <a:extLst>
              <a:ext uri="{FF2B5EF4-FFF2-40B4-BE49-F238E27FC236}">
                <a16:creationId xmlns:a16="http://schemas.microsoft.com/office/drawing/2014/main" id="{F6E8A3E7-1EFA-5E4B-16EA-337E75771B3C}"/>
              </a:ext>
            </a:extLst>
          </p:cNvPr>
          <p:cNvSpPr txBox="1"/>
          <p:nvPr/>
        </p:nvSpPr>
        <p:spPr>
          <a:xfrm>
            <a:off x="1905000" y="3550627"/>
            <a:ext cx="3937000" cy="671146"/>
          </a:xfrm>
          <a:prstGeom prst="rect">
            <a:avLst/>
          </a:prstGeom>
          <a:noFill/>
        </p:spPr>
        <p:txBody>
          <a:bodyPr wrap="square" rtlCol="0" anchor="ctr">
            <a:spAutoFit/>
          </a:bodyPr>
          <a:lstStyle/>
          <a:p>
            <a:pPr algn="l">
              <a:lnSpc>
                <a:spcPct val="115000"/>
              </a:lnSpc>
              <a:buNone/>
            </a:pPr>
            <a:r>
              <a:rPr lang="ja-JP" altLang="en-US" sz="1900" b="1" dirty="0">
                <a:solidFill>
                  <a:srgbClr val="0D558E"/>
                </a:solidFill>
                <a:latin typeface="Helvetica Neue"/>
                <a:ea typeface="Hiragino Sans"/>
                <a:cs typeface="Hiragino Sans"/>
              </a:rPr>
              <a:t>LineString ｜ 線</a:t>
            </a:r>
          </a:p>
          <a:p>
            <a:pPr algn="l">
              <a:lnSpc>
                <a:spcPct val="115000"/>
              </a:lnSpc>
              <a:buNone/>
            </a:pPr>
            <a:r>
              <a:rPr lang="ja-JP" altLang="en-US" sz="1500" dirty="0">
                <a:solidFill>
                  <a:srgbClr val="404040"/>
                </a:solidFill>
                <a:latin typeface="Helvetica Neue"/>
                <a:ea typeface="Hiragino Sans"/>
                <a:cs typeface="Hiragino Sans"/>
              </a:rPr>
              <a:t>送電線の経路（頂点の並び）</a:t>
            </a:r>
          </a:p>
        </p:txBody>
      </p:sp>
      <p:sp>
        <p:nvSpPr>
          <p:cNvPr id="3" name="テキスト ボックス 2">
            <a:extLst>
              <a:ext uri="{FF2B5EF4-FFF2-40B4-BE49-F238E27FC236}">
                <a16:creationId xmlns:a16="http://schemas.microsoft.com/office/drawing/2014/main" id="{B44BFB2C-91DF-E27D-4AB5-DF1337759460}"/>
              </a:ext>
            </a:extLst>
          </p:cNvPr>
          <p:cNvSpPr txBox="1"/>
          <p:nvPr/>
        </p:nvSpPr>
        <p:spPr>
          <a:xfrm>
            <a:off x="869950" y="5435600"/>
            <a:ext cx="4509568" cy="671402"/>
          </a:xfrm>
          <a:prstGeom prst="rect">
            <a:avLst/>
          </a:prstGeom>
          <a:noFill/>
        </p:spPr>
        <p:txBody>
          <a:bodyPr wrap="none" rtlCol="0">
            <a:spAutoFit/>
          </a:bodyPr>
          <a:lstStyle/>
          <a:p>
            <a:pPr algn="l">
              <a:lnSpc>
                <a:spcPct val="115000"/>
              </a:lnSpc>
              <a:buNone/>
            </a:pPr>
            <a:r>
              <a:rPr lang="ja-JP" altLang="en-US" sz="1700" dirty="0">
                <a:solidFill>
                  <a:srgbClr val="1A1A1A"/>
                </a:solidFill>
                <a:latin typeface="Helvetica Neue"/>
                <a:ea typeface="Hiragino Sans"/>
                <a:cs typeface="Hiragino Sans"/>
              </a:rPr>
              <a:t>系統の構成要素は すべて 点・線・面 に集約</a:t>
            </a:r>
          </a:p>
          <a:p>
            <a:pPr algn="l">
              <a:lnSpc>
                <a:spcPct val="115000"/>
              </a:lnSpc>
              <a:buNone/>
            </a:pPr>
            <a:r>
              <a:rPr lang="ja-JP" altLang="en-US" sz="1700" b="1" dirty="0">
                <a:solidFill>
                  <a:srgbClr val="C00000"/>
                </a:solidFill>
                <a:latin typeface="Helvetica Neue"/>
                <a:ea typeface="Hiragino Sans"/>
                <a:cs typeface="Hiragino Sans"/>
              </a:rPr>
              <a:t>＝ 地理データのまま 系統モデルへ</a:t>
            </a:r>
          </a:p>
        </p:txBody>
      </p:sp>
      <p:sp>
        <p:nvSpPr>
          <p:cNvPr id="9" name="テキスト ボックス 8">
            <a:extLst>
              <a:ext uri="{FF2B5EF4-FFF2-40B4-BE49-F238E27FC236}">
                <a16:creationId xmlns:a16="http://schemas.microsoft.com/office/drawing/2014/main" id="{4B0978FC-ED54-57F7-AE67-CE5748D616B3}"/>
              </a:ext>
            </a:extLst>
          </p:cNvPr>
          <p:cNvSpPr txBox="1"/>
          <p:nvPr/>
        </p:nvSpPr>
        <p:spPr>
          <a:xfrm>
            <a:off x="800100" y="1473200"/>
            <a:ext cx="10604500" cy="370551"/>
          </a:xfrm>
          <a:prstGeom prst="rect">
            <a:avLst/>
          </a:prstGeom>
          <a:noFill/>
          <a:ln>
            <a:noFill/>
          </a:ln>
        </p:spPr>
        <p:txBody>
          <a:bodyPr wrap="square" rtlCol="0">
            <a:spAutoFit/>
          </a:bodyPr>
          <a:lstStyle/>
          <a:p>
            <a:pPr algn="l">
              <a:lnSpc>
                <a:spcPct val="115000"/>
              </a:lnSpc>
              <a:buNone/>
            </a:pPr>
            <a:r>
              <a:rPr lang="ja-JP" altLang="en-US" sz="1700" b="1" dirty="0">
                <a:solidFill>
                  <a:srgbClr val="0D558E"/>
                </a:solidFill>
                <a:latin typeface="Helvetica Neue"/>
                <a:ea typeface="Hiragino Sans"/>
                <a:cs typeface="Hiragino Sans"/>
              </a:rPr>
              <a:t>GeoJSON（Geographic JSON・RFC 7946）</a:t>
            </a:r>
          </a:p>
        </p:txBody>
      </p:sp>
      <p:sp>
        <p:nvSpPr>
          <p:cNvPr id="7" name="テキスト ボックス 6">
            <a:extLst>
              <a:ext uri="{FF2B5EF4-FFF2-40B4-BE49-F238E27FC236}">
                <a16:creationId xmlns:a16="http://schemas.microsoft.com/office/drawing/2014/main" id="{0BF5661F-3FB9-3886-53CB-C6EBF6902D56}"/>
              </a:ext>
            </a:extLst>
          </p:cNvPr>
          <p:cNvSpPr txBox="1"/>
          <p:nvPr/>
        </p:nvSpPr>
        <p:spPr>
          <a:xfrm>
            <a:off x="800100" y="1752600"/>
            <a:ext cx="10604500" cy="367216"/>
          </a:xfrm>
          <a:prstGeom prst="rect">
            <a:avLst/>
          </a:prstGeom>
          <a:noFill/>
          <a:ln w="19050">
            <a:noFill/>
          </a:ln>
        </p:spPr>
        <p:txBody>
          <a:bodyPr wrap="square" rtlCol="0">
            <a:spAutoFit/>
          </a:bodyPr>
          <a:lstStyle/>
          <a:p>
            <a:pPr algn="l">
              <a:lnSpc>
                <a:spcPct val="115000"/>
              </a:lnSpc>
              <a:buNone/>
            </a:pPr>
            <a:r>
              <a:rPr lang="ja-JP" altLang="en-US" sz="1700" dirty="0">
                <a:solidFill>
                  <a:srgbClr val="404040"/>
                </a:solidFill>
                <a:latin typeface="Helvetica Neue"/>
                <a:ea typeface="Hiragino Sans"/>
                <a:cs typeface="Hiragino Sans"/>
              </a:rPr>
              <a:t>JSON の書き方で「点・線・面」の地物と属性を表す。座標は [ 経度, 緯度 ] の順で並べる。</a:t>
            </a:r>
          </a:p>
        </p:txBody>
      </p:sp>
      <p:sp>
        <p:nvSpPr>
          <p:cNvPr id="15" name="テキスト ボックス 14">
            <a:extLst>
              <a:ext uri="{FF2B5EF4-FFF2-40B4-BE49-F238E27FC236}">
                <a16:creationId xmlns:a16="http://schemas.microsoft.com/office/drawing/2014/main" id="{50992368-7D6F-ED6D-F76D-967F12EFD843}"/>
              </a:ext>
            </a:extLst>
          </p:cNvPr>
          <p:cNvSpPr txBox="1"/>
          <p:nvPr/>
        </p:nvSpPr>
        <p:spPr>
          <a:xfrm>
            <a:off x="6235700" y="3004438"/>
            <a:ext cx="5397500" cy="3033523"/>
          </a:xfrm>
          <a:prstGeom prst="rect">
            <a:avLst/>
          </a:prstGeom>
          <a:solidFill>
            <a:srgbClr val="22273A"/>
          </a:solidFill>
          <a:ln>
            <a:noFill/>
          </a:ln>
        </p:spPr>
        <p:txBody>
          <a:bodyPr wrap="square" anchor="ctr">
            <a:spAutoFit/>
          </a:bodyPr>
          <a:lstStyle/>
          <a:p>
            <a:pPr algn="l">
              <a:lnSpc>
                <a:spcPct val="125000"/>
              </a:lnSpc>
              <a:buNone/>
            </a:pPr>
            <a:r>
              <a:rPr lang="en-US" altLang="ja-JP" sz="1400" dirty="0">
                <a:solidFill>
                  <a:srgbClr val="E8E8E8"/>
                </a:solidFill>
                <a:latin typeface="Consolas"/>
                <a:ea typeface="Hiragino Sans"/>
                <a:cs typeface="Hiragino Sans"/>
              </a:rPr>
              <a:t>{</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"type"</a:t>
            </a:r>
            <a:r>
              <a:rPr lang="en-US" altLang="ja-JP" sz="1400" dirty="0">
                <a:solidFill>
                  <a:srgbClr val="E8E8E8"/>
                </a:solidFill>
                <a:latin typeface="Consolas"/>
                <a:ea typeface="Hiragino Sans"/>
                <a:cs typeface="Hiragino Sans"/>
              </a:rPr>
              <a:t>: </a:t>
            </a:r>
            <a:r>
              <a:rPr lang="en-US" altLang="ja-JP" sz="1400" dirty="0">
                <a:solidFill>
                  <a:srgbClr val="C3E88D"/>
                </a:solidFill>
                <a:latin typeface="Consolas"/>
                <a:ea typeface="Hiragino Sans"/>
                <a:cs typeface="Hiragino Sans"/>
              </a:rPr>
              <a:t>"Feature"</a:t>
            </a:r>
            <a:r>
              <a:rPr lang="en-US" altLang="ja-JP" sz="1400" dirty="0">
                <a:solidFill>
                  <a:srgbClr val="E8E8E8"/>
                </a:solidFill>
                <a:latin typeface="Consolas"/>
                <a:ea typeface="Hiragino Sans"/>
                <a:cs typeface="Hiragino Sans"/>
              </a:rPr>
              <a:t>,</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"geometry"</a:t>
            </a:r>
            <a:r>
              <a:rPr lang="en-US" altLang="ja-JP" sz="1400" dirty="0">
                <a:solidFill>
                  <a:srgbClr val="E8E8E8"/>
                </a:solidFill>
                <a:latin typeface="Consolas"/>
                <a:ea typeface="Hiragino Sans"/>
                <a:cs typeface="Hiragino Sans"/>
              </a:rPr>
              <a:t>: {</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"type"</a:t>
            </a:r>
            <a:r>
              <a:rPr lang="en-US" altLang="ja-JP" sz="1400" dirty="0">
                <a:solidFill>
                  <a:srgbClr val="E8E8E8"/>
                </a:solidFill>
                <a:latin typeface="Consolas"/>
                <a:ea typeface="Hiragino Sans"/>
                <a:cs typeface="Hiragino Sans"/>
              </a:rPr>
              <a:t>: </a:t>
            </a:r>
            <a:r>
              <a:rPr lang="en-US" altLang="ja-JP" sz="1400" dirty="0">
                <a:solidFill>
                  <a:srgbClr val="C3E88D"/>
                </a:solidFill>
                <a:latin typeface="Consolas"/>
                <a:ea typeface="Hiragino Sans"/>
                <a:cs typeface="Hiragino Sans"/>
              </a:rPr>
              <a:t>"Point"</a:t>
            </a:r>
            <a:r>
              <a:rPr lang="en-US" altLang="ja-JP" sz="1400" dirty="0">
                <a:solidFill>
                  <a:srgbClr val="E8E8E8"/>
                </a:solidFill>
                <a:latin typeface="Consolas"/>
                <a:ea typeface="Hiragino Sans"/>
                <a:cs typeface="Hiragino Sans"/>
              </a:rPr>
              <a:t>,</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"coordinates"</a:t>
            </a:r>
            <a:r>
              <a:rPr lang="en-US" altLang="ja-JP" sz="1400" dirty="0">
                <a:solidFill>
                  <a:srgbClr val="E8E8E8"/>
                </a:solidFill>
                <a:latin typeface="Consolas"/>
                <a:ea typeface="Hiragino Sans"/>
                <a:cs typeface="Hiragino Sans"/>
              </a:rPr>
              <a:t>: [</a:t>
            </a:r>
            <a:r>
              <a:rPr lang="en-US" altLang="ja-JP" sz="1400" dirty="0">
                <a:solidFill>
                  <a:srgbClr val="F0B37E"/>
                </a:solidFill>
                <a:latin typeface="Consolas"/>
                <a:ea typeface="Hiragino Sans"/>
                <a:cs typeface="Hiragino Sans"/>
              </a:rPr>
              <a:t>136.22</a:t>
            </a:r>
            <a:r>
              <a:rPr lang="en-US" altLang="ja-JP" sz="1400" dirty="0">
                <a:solidFill>
                  <a:srgbClr val="E8E8E8"/>
                </a:solidFill>
                <a:latin typeface="Consolas"/>
                <a:ea typeface="Hiragino Sans"/>
                <a:cs typeface="Hiragino Sans"/>
              </a:rPr>
              <a:t>, </a:t>
            </a:r>
            <a:r>
              <a:rPr lang="en-US" altLang="ja-JP" sz="1400" dirty="0">
                <a:solidFill>
                  <a:srgbClr val="F0B37E"/>
                </a:solidFill>
                <a:latin typeface="Consolas"/>
                <a:ea typeface="Hiragino Sans"/>
                <a:cs typeface="Hiragino Sans"/>
              </a:rPr>
              <a:t>36.06</a:t>
            </a:r>
            <a:r>
              <a:rPr lang="en-US" altLang="ja-JP" sz="1400" dirty="0">
                <a:solidFill>
                  <a:srgbClr val="E8E8E8"/>
                </a:solidFill>
                <a:latin typeface="Consolas"/>
                <a:ea typeface="Hiragino Sans"/>
                <a:cs typeface="Hiragino Sans"/>
              </a:rPr>
              <a:t>]</a:t>
            </a:r>
          </a:p>
          <a:p>
            <a:pPr algn="l">
              <a:lnSpc>
                <a:spcPct val="125000"/>
              </a:lnSpc>
              <a:buNone/>
            </a:pPr>
            <a:r>
              <a:rPr lang="en-US" altLang="ja-JP" sz="1400" dirty="0">
                <a:solidFill>
                  <a:srgbClr val="E8E8E8"/>
                </a:solidFill>
                <a:latin typeface="Consolas"/>
                <a:ea typeface="Hiragino Sans"/>
                <a:cs typeface="Hiragino Sans"/>
              </a:rPr>
              <a:t>　},</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"properties"</a:t>
            </a:r>
            <a:r>
              <a:rPr lang="en-US" altLang="ja-JP" sz="1400" dirty="0">
                <a:solidFill>
                  <a:srgbClr val="E8E8E8"/>
                </a:solidFill>
                <a:latin typeface="Consolas"/>
                <a:ea typeface="Hiragino Sans"/>
                <a:cs typeface="Hiragino Sans"/>
              </a:rPr>
              <a:t>: {</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"name"</a:t>
            </a:r>
            <a:r>
              <a:rPr lang="en-US" altLang="ja-JP" sz="1400" dirty="0">
                <a:solidFill>
                  <a:srgbClr val="E8E8E8"/>
                </a:solidFill>
                <a:latin typeface="Consolas"/>
                <a:ea typeface="Hiragino Sans"/>
                <a:cs typeface="Hiragino Sans"/>
              </a:rPr>
              <a:t>: </a:t>
            </a:r>
            <a:r>
              <a:rPr lang="en-US" altLang="ja-JP" sz="1400" dirty="0">
                <a:solidFill>
                  <a:srgbClr val="C3E88D"/>
                </a:solidFill>
                <a:latin typeface="Consolas"/>
                <a:ea typeface="Hiragino Sans"/>
                <a:cs typeface="Hiragino Sans"/>
              </a:rPr>
              <a:t>"福井変電所"</a:t>
            </a:r>
            <a:r>
              <a:rPr lang="en-US" altLang="ja-JP" sz="1400" dirty="0">
                <a:solidFill>
                  <a:srgbClr val="E8E8E8"/>
                </a:solidFill>
                <a:latin typeface="Consolas"/>
                <a:ea typeface="Hiragino Sans"/>
                <a:cs typeface="Hiragino Sans"/>
              </a:rPr>
              <a:t>,</a:t>
            </a:r>
          </a:p>
          <a:p>
            <a:pPr algn="l">
              <a:lnSpc>
                <a:spcPct val="125000"/>
              </a:lnSpc>
              <a:buNone/>
            </a:pPr>
            <a:r>
              <a:rPr lang="en-US" altLang="ja-JP" sz="1400" dirty="0">
                <a:solidFill>
                  <a:srgbClr val="E8E8E8"/>
                </a:solidFill>
                <a:latin typeface="Consolas"/>
                <a:ea typeface="Hiragino Sans"/>
                <a:cs typeface="Hiragino Sans"/>
              </a:rPr>
              <a:t>　　</a:t>
            </a:r>
            <a:r>
              <a:rPr lang="en-US" altLang="ja-JP" sz="1400" dirty="0">
                <a:solidFill>
                  <a:srgbClr val="7EC8FF"/>
                </a:solidFill>
                <a:latin typeface="Consolas"/>
                <a:ea typeface="Hiragino Sans"/>
                <a:cs typeface="Hiragino Sans"/>
              </a:rPr>
              <a:t>"voltage"</a:t>
            </a:r>
            <a:r>
              <a:rPr lang="en-US" altLang="ja-JP" sz="1400" dirty="0">
                <a:solidFill>
                  <a:srgbClr val="E8E8E8"/>
                </a:solidFill>
                <a:latin typeface="Consolas"/>
                <a:ea typeface="Hiragino Sans"/>
                <a:cs typeface="Hiragino Sans"/>
              </a:rPr>
              <a:t>: </a:t>
            </a:r>
            <a:r>
              <a:rPr lang="en-US" altLang="ja-JP" sz="1400" dirty="0">
                <a:solidFill>
                  <a:srgbClr val="F0B37E"/>
                </a:solidFill>
                <a:latin typeface="Consolas"/>
                <a:ea typeface="Hiragino Sans"/>
                <a:cs typeface="Hiragino Sans"/>
              </a:rPr>
              <a:t>500</a:t>
            </a:r>
          </a:p>
          <a:p>
            <a:pPr algn="l">
              <a:lnSpc>
                <a:spcPct val="125000"/>
              </a:lnSpc>
              <a:buNone/>
            </a:pPr>
            <a:r>
              <a:rPr lang="en-US" altLang="ja-JP" sz="1400" dirty="0">
                <a:solidFill>
                  <a:srgbClr val="E8E8E8"/>
                </a:solidFill>
                <a:latin typeface="Consolas"/>
                <a:ea typeface="Hiragino Sans"/>
                <a:cs typeface="Hiragino Sans"/>
              </a:rPr>
              <a:t>　}</a:t>
            </a:r>
          </a:p>
          <a:p>
            <a:pPr algn="l">
              <a:lnSpc>
                <a:spcPct val="125000"/>
              </a:lnSpc>
              <a:buNone/>
            </a:pPr>
            <a:r>
              <a:rPr lang="en-US" altLang="ja-JP" sz="1400" dirty="0">
                <a:solidFill>
                  <a:srgbClr val="E8E8E8"/>
                </a:solidFill>
                <a:latin typeface="Consolas"/>
                <a:ea typeface="Hiragino Sans"/>
                <a:cs typeface="Hiragino Sans"/>
              </a:rPr>
              <a:t>}</a:t>
            </a:r>
          </a:p>
        </p:txBody>
      </p:sp>
      <p:sp>
        <p:nvSpPr>
          <p:cNvPr id="700" name="merit3bg">
            <a:extLst>
              <a:ext uri="{FF2B5EF4-FFF2-40B4-BE49-F238E27FC236}">
                <a16:creationId xmlns:a16="http://schemas.microsoft.com/office/drawing/2014/main" id="{2602CD52-CFE3-F849-80FD-5380A593DF39}"/>
              </a:ext>
            </a:extLst>
          </p:cNvPr>
          <p:cNvSpPr/>
          <p:nvPr/>
        </p:nvSpPr>
        <p:spPr>
          <a:xfrm>
            <a:off x="571500" y="43434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701" name="TextBox P3">
            <a:extLst>
              <a:ext uri="{FF2B5EF4-FFF2-40B4-BE49-F238E27FC236}">
                <a16:creationId xmlns:a16="http://schemas.microsoft.com/office/drawing/2014/main" id="{FAB4A9B4-7872-3949-A33F-3636040CC254}"/>
              </a:ext>
            </a:extLst>
          </p:cNvPr>
          <p:cNvSpPr txBox="1"/>
          <p:nvPr/>
        </p:nvSpPr>
        <p:spPr>
          <a:xfrm>
            <a:off x="1905000" y="4414227"/>
            <a:ext cx="3937000" cy="671146"/>
          </a:xfrm>
          <a:prstGeom prst="rect">
            <a:avLst/>
          </a:prstGeom>
          <a:noFill/>
        </p:spPr>
        <p:txBody>
          <a:bodyPr wrap="square" rtlCol="0" anchor="ctr">
            <a:spAutoFit/>
          </a:bodyPr>
          <a:lstStyle/>
          <a:p>
            <a:pPr algn="l">
              <a:lnSpc>
                <a:spcPct val="115000"/>
              </a:lnSpc>
              <a:buNone/>
            </a:pPr>
            <a:r>
              <a:rPr lang="ja-JP" altLang="en-US" sz="1900" b="1" dirty="0">
                <a:solidFill>
                  <a:srgbClr val="0D558E"/>
                </a:solidFill>
                <a:latin typeface="Helvetica Neue"/>
                <a:ea typeface="Hiragino Sans"/>
                <a:cs typeface="Hiragino Sans"/>
              </a:rPr>
              <a:t>Polygon ｜ 面</a:t>
            </a:r>
          </a:p>
          <a:p>
            <a:pPr algn="l">
              <a:lnSpc>
                <a:spcPct val="115000"/>
              </a:lnSpc>
              <a:buNone/>
            </a:pPr>
            <a:r>
              <a:rPr lang="ja-JP" altLang="en-US" sz="1500" dirty="0">
                <a:solidFill>
                  <a:srgbClr val="404040"/>
                </a:solidFill>
                <a:latin typeface="Helvetica Neue"/>
                <a:ea typeface="Hiragino Sans"/>
                <a:cs typeface="Hiragino Sans"/>
              </a:rPr>
              <a:t>供給エリア・発電所の敷地</a:t>
            </a:r>
          </a:p>
        </p:txBody>
      </p:sp>
      <p:sp>
        <p:nvSpPr>
          <p:cNvPr id="710" name="Node 710"/>
          <p:cNvSpPr/>
          <p:nvPr/>
        </p:nvSpPr>
        <p:spPr>
          <a:xfrm>
            <a:off x="1104900" y="2908300"/>
            <a:ext cx="203200" cy="203200"/>
          </a:xfrm>
          <a:prstGeom prst="ellipse">
            <a:avLst/>
          </a:prstGeom>
          <a:solidFill>
            <a:srgbClr val="0D558E"/>
          </a:solidFill>
          <a:ln w="12700">
            <a:solidFill>
              <a:srgbClr val="FFFFFF"/>
            </a:solidFill>
          </a:ln>
        </p:spPr>
        <p:txBody>
          <a:bodyPr/>
          <a:lstStyle/>
          <a:p>
            <a:endParaRPr/>
          </a:p>
        </p:txBody>
      </p:sp>
      <p:cxnSp>
        <p:nvCxnSpPr>
          <p:cNvPr id="720" name="Seg 720"/>
          <p:cNvCxnSpPr/>
          <p:nvPr/>
        </p:nvCxnSpPr>
        <p:spPr>
          <a:xfrm flipV="1">
            <a:off x="812800" y="3759200"/>
            <a:ext cx="381000" cy="279400"/>
          </a:xfrm>
          <a:prstGeom prst="line">
            <a:avLst/>
          </a:prstGeom>
          <a:ln w="28575">
            <a:solidFill>
              <a:srgbClr val="0D558E"/>
            </a:solidFill>
          </a:ln>
        </p:spPr>
      </p:cxnSp>
      <p:cxnSp>
        <p:nvCxnSpPr>
          <p:cNvPr id="721" name="Seg 721"/>
          <p:cNvCxnSpPr/>
          <p:nvPr/>
        </p:nvCxnSpPr>
        <p:spPr>
          <a:xfrm>
            <a:off x="1193800" y="3759200"/>
            <a:ext cx="406400" cy="203200"/>
          </a:xfrm>
          <a:prstGeom prst="line">
            <a:avLst/>
          </a:prstGeom>
          <a:ln w="28575">
            <a:solidFill>
              <a:srgbClr val="0D558E"/>
            </a:solidFill>
          </a:ln>
        </p:spPr>
      </p:cxnSp>
      <p:sp>
        <p:nvSpPr>
          <p:cNvPr id="722" name="Node 722"/>
          <p:cNvSpPr/>
          <p:nvPr/>
        </p:nvSpPr>
        <p:spPr>
          <a:xfrm>
            <a:off x="742950" y="3968750"/>
            <a:ext cx="139700" cy="139700"/>
          </a:xfrm>
          <a:prstGeom prst="ellipse">
            <a:avLst/>
          </a:prstGeom>
          <a:solidFill>
            <a:srgbClr val="0D558E"/>
          </a:solidFill>
          <a:ln w="12700">
            <a:solidFill>
              <a:srgbClr val="FFFFFF"/>
            </a:solidFill>
          </a:ln>
        </p:spPr>
        <p:txBody>
          <a:bodyPr/>
          <a:lstStyle/>
          <a:p>
            <a:endParaRPr/>
          </a:p>
        </p:txBody>
      </p:sp>
      <p:sp>
        <p:nvSpPr>
          <p:cNvPr id="723" name="Node 723"/>
          <p:cNvSpPr/>
          <p:nvPr/>
        </p:nvSpPr>
        <p:spPr>
          <a:xfrm>
            <a:off x="1123950" y="3689350"/>
            <a:ext cx="139700" cy="139700"/>
          </a:xfrm>
          <a:prstGeom prst="ellipse">
            <a:avLst/>
          </a:prstGeom>
          <a:solidFill>
            <a:srgbClr val="0D558E"/>
          </a:solidFill>
          <a:ln w="12700">
            <a:solidFill>
              <a:srgbClr val="FFFFFF"/>
            </a:solidFill>
          </a:ln>
        </p:spPr>
        <p:txBody>
          <a:bodyPr/>
          <a:lstStyle/>
          <a:p>
            <a:endParaRPr/>
          </a:p>
        </p:txBody>
      </p:sp>
      <p:sp>
        <p:nvSpPr>
          <p:cNvPr id="724" name="Node 724"/>
          <p:cNvSpPr/>
          <p:nvPr/>
        </p:nvSpPr>
        <p:spPr>
          <a:xfrm>
            <a:off x="1530350" y="3892550"/>
            <a:ext cx="139700" cy="139700"/>
          </a:xfrm>
          <a:prstGeom prst="ellipse">
            <a:avLst/>
          </a:prstGeom>
          <a:solidFill>
            <a:srgbClr val="0D558E"/>
          </a:solidFill>
          <a:ln w="12700">
            <a:solidFill>
              <a:srgbClr val="FFFFFF"/>
            </a:solidFill>
          </a:ln>
        </p:spPr>
        <p:txBody>
          <a:bodyPr/>
          <a:lstStyle/>
          <a:p>
            <a:endParaRPr/>
          </a:p>
        </p:txBody>
      </p:sp>
      <p:sp>
        <p:nvSpPr>
          <p:cNvPr id="730" name="PolygonPrim"/>
          <p:cNvSpPr/>
          <p:nvPr/>
        </p:nvSpPr>
        <p:spPr>
          <a:xfrm>
            <a:off x="736600" y="4521200"/>
            <a:ext cx="889000" cy="482600"/>
          </a:xfrm>
          <a:custGeom>
            <a:avLst/>
            <a:gdLst/>
            <a:ahLst/>
            <a:cxnLst/>
            <a:rect l="0" t="0" r="r" b="b"/>
            <a:pathLst>
              <a:path w="965200" h="584200">
                <a:moveTo>
                  <a:pt x="0" y="127000"/>
                </a:moveTo>
                <a:lnTo>
                  <a:pt x="660400" y="0"/>
                </a:lnTo>
                <a:lnTo>
                  <a:pt x="965200" y="381000"/>
                </a:lnTo>
                <a:lnTo>
                  <a:pt x="228600" y="584200"/>
                </a:lnTo>
                <a:close/>
              </a:path>
            </a:pathLst>
          </a:custGeom>
          <a:solidFill>
            <a:srgbClr val="0D558E">
              <a:alpha val="22000"/>
            </a:srgbClr>
          </a:solidFill>
          <a:ln w="28575">
            <a:solidFill>
              <a:srgbClr val="0D558E"/>
            </a:solidFill>
          </a:ln>
        </p:spPr>
        <p:txBody>
          <a:bodyPr/>
          <a:lstStyle/>
          <a:p>
            <a:endParaRPr/>
          </a:p>
        </p:txBody>
      </p:sp>
      <p:sp>
        <p:nvSpPr>
          <p:cNvPr id="740" name="Node 740"/>
          <p:cNvSpPr/>
          <p:nvPr/>
        </p:nvSpPr>
        <p:spPr>
          <a:xfrm>
            <a:off x="666750" y="4552950"/>
            <a:ext cx="139700" cy="139700"/>
          </a:xfrm>
          <a:prstGeom prst="ellipse">
            <a:avLst/>
          </a:prstGeom>
          <a:solidFill>
            <a:srgbClr val="0D558E"/>
          </a:solidFill>
          <a:ln w="12700">
            <a:solidFill>
              <a:srgbClr val="FFFFFF"/>
            </a:solidFill>
          </a:ln>
        </p:spPr>
        <p:txBody>
          <a:bodyPr/>
          <a:lstStyle/>
          <a:p>
            <a:endParaRPr/>
          </a:p>
        </p:txBody>
      </p:sp>
      <p:sp>
        <p:nvSpPr>
          <p:cNvPr id="741" name="Node 741"/>
          <p:cNvSpPr/>
          <p:nvPr/>
        </p:nvSpPr>
        <p:spPr>
          <a:xfrm>
            <a:off x="1276350" y="4451350"/>
            <a:ext cx="139700" cy="139700"/>
          </a:xfrm>
          <a:prstGeom prst="ellipse">
            <a:avLst/>
          </a:prstGeom>
          <a:solidFill>
            <a:srgbClr val="0D558E"/>
          </a:solidFill>
          <a:ln w="12700">
            <a:solidFill>
              <a:srgbClr val="FFFFFF"/>
            </a:solidFill>
          </a:ln>
        </p:spPr>
        <p:txBody>
          <a:bodyPr/>
          <a:lstStyle/>
          <a:p>
            <a:endParaRPr/>
          </a:p>
        </p:txBody>
      </p:sp>
      <p:sp>
        <p:nvSpPr>
          <p:cNvPr id="742" name="Node 742"/>
          <p:cNvSpPr/>
          <p:nvPr/>
        </p:nvSpPr>
        <p:spPr>
          <a:xfrm>
            <a:off x="1530350" y="4730750"/>
            <a:ext cx="139700" cy="139700"/>
          </a:xfrm>
          <a:prstGeom prst="ellipse">
            <a:avLst/>
          </a:prstGeom>
          <a:solidFill>
            <a:srgbClr val="0D558E"/>
          </a:solidFill>
          <a:ln w="12700">
            <a:solidFill>
              <a:srgbClr val="FFFFFF"/>
            </a:solidFill>
          </a:ln>
        </p:spPr>
        <p:txBody>
          <a:bodyPr/>
          <a:lstStyle/>
          <a:p>
            <a:endParaRPr/>
          </a:p>
        </p:txBody>
      </p:sp>
      <p:sp>
        <p:nvSpPr>
          <p:cNvPr id="743" name="Node 743"/>
          <p:cNvSpPr/>
          <p:nvPr/>
        </p:nvSpPr>
        <p:spPr>
          <a:xfrm>
            <a:off x="869950" y="4908550"/>
            <a:ext cx="139700" cy="139700"/>
          </a:xfrm>
          <a:prstGeom prst="ellipse">
            <a:avLst/>
          </a:prstGeom>
          <a:solidFill>
            <a:srgbClr val="0D558E"/>
          </a:solidFill>
          <a:ln w="12700">
            <a:solidFill>
              <a:srgbClr val="FFFFFF"/>
            </a:solidFill>
          </a:ln>
        </p:spPr>
        <p:txBody>
          <a:bodyPr/>
          <a:lstStyle/>
          <a:p>
            <a:endParaRPr/>
          </a:p>
        </p:txBody>
      </p:sp>
      <p:pic>
        <p:nvPicPr>
          <p:cNvPr id="21" name="図 20">
            <a:extLst>
              <a:ext uri="{FF2B5EF4-FFF2-40B4-BE49-F238E27FC236}">
                <a16:creationId xmlns:a16="http://schemas.microsoft.com/office/drawing/2014/main" id="{C7EAD5BC-F3CA-5BFE-9CEB-C2A6827EC5C6}"/>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2419285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8EC8-3EF1-DE90-0320-B45746251E9B}"/>
            </a:ext>
          </a:extLst>
        </p:cNvPr>
        <p:cNvGrpSpPr/>
        <p:nvPr/>
      </p:nvGrpSpPr>
      <p:grpSpPr>
        <a:xfrm>
          <a:off x="0" y="0"/>
          <a:ext cx="0" cy="0"/>
          <a:chOff x="0" y="0"/>
          <a:chExt cx="0" cy="0"/>
        </a:xfrm>
      </p:grpSpPr>
      <p:sp>
        <p:nvSpPr>
          <p:cNvPr id="20" name="coverNum">
            <a:extLst>
              <a:ext uri="{FF2B5EF4-FFF2-40B4-BE49-F238E27FC236}">
                <a16:creationId xmlns:a16="http://schemas.microsoft.com/office/drawing/2014/main" id="{FD23EE63-04D9-F446-88C6-B9B7C6EFB05F}"/>
              </a:ext>
            </a:extLst>
          </p:cNvPr>
          <p:cNvSpPr/>
          <p:nvPr/>
        </p:nvSpPr>
        <p:spPr>
          <a:xfrm>
            <a:off x="11150600" y="6121400"/>
            <a:ext cx="1016000" cy="7112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6" name="coverBar">
            <a:extLst>
              <a:ext uri="{FF2B5EF4-FFF2-40B4-BE49-F238E27FC236}">
                <a16:creationId xmlns:a16="http://schemas.microsoft.com/office/drawing/2014/main" id="{7017AB84-BAAF-514C-8BE8-DCF0C6736842}"/>
              </a:ext>
            </a:extLst>
          </p:cNvPr>
          <p:cNvSpPr/>
          <p:nvPr/>
        </p:nvSpPr>
        <p:spPr>
          <a:xfrm>
            <a:off x="0" y="635000"/>
            <a:ext cx="12192000" cy="304800"/>
          </a:xfrm>
          <a:prstGeom prst="rect">
            <a:avLst/>
          </a:prstGeom>
          <a:solidFill>
            <a:srgbClr val="FFFFFF"/>
          </a:solidFill>
          <a:ln>
            <a:noFill/>
          </a:ln>
          <a:effectLst/>
        </p:spPr>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a:ea typeface="ＭＳ Ｐゴシック" panose="020B0600070205080204" pitchFamily="34" charset="-128"/>
              <a:cs typeface="+mn-cs"/>
            </a:endParaRPr>
          </a:p>
        </p:txBody>
      </p:sp>
      <p:sp>
        <p:nvSpPr>
          <p:cNvPr id="2" name="タイトル 1">
            <a:extLst>
              <a:ext uri="{FF2B5EF4-FFF2-40B4-BE49-F238E27FC236}">
                <a16:creationId xmlns:a16="http://schemas.microsoft.com/office/drawing/2014/main" id="{BDF60167-10B4-E0CF-B784-0E79F540F32D}"/>
              </a:ext>
            </a:extLst>
          </p:cNvPr>
          <p:cNvSpPr>
            <a:spLocks noGrp="1"/>
          </p:cNvSpPr>
          <p:nvPr>
            <p:ph type="title"/>
          </p:nvPr>
        </p:nvSpPr>
        <p:spPr>
          <a:xfrm>
            <a:off x="546100" y="470804"/>
            <a:ext cx="11150600" cy="475876"/>
          </a:xfrm>
        </p:spPr>
        <p:txBody>
          <a:bodyPr>
            <a:normAutofit fontScale="90000"/>
          </a:bodyPr>
          <a:lstStyle/>
          <a:p>
            <a:pPr algn="l">
              <a:lnSpc>
                <a:spcPct val="115000"/>
              </a:lnSpc>
              <a:buNone/>
            </a:pPr>
            <a:r>
              <a:rPr lang="ja-JP" altLang="en-US" sz="2800" b="1" dirty="0">
                <a:solidFill>
                  <a:srgbClr val="1A1A1A"/>
                </a:solidFill>
                <a:latin typeface="Helvetica Neue"/>
                <a:ea typeface="Hiragino Sans"/>
                <a:cs typeface="Hiragino Sans"/>
              </a:rPr>
              <a:t>OSM の実データは power タグで取り出せる</a:t>
            </a:r>
          </a:p>
        </p:txBody>
      </p:sp>
      <p:sp>
        <p:nvSpPr>
          <p:cNvPr id="8" name="正方形/長方形 7">
            <a:extLst>
              <a:ext uri="{FF2B5EF4-FFF2-40B4-BE49-F238E27FC236}">
                <a16:creationId xmlns:a16="http://schemas.microsoft.com/office/drawing/2014/main" id="{71EBD238-BEAF-A324-5D06-A4575EBD042E}"/>
              </a:ext>
            </a:extLst>
          </p:cNvPr>
          <p:cNvSpPr/>
          <p:nvPr/>
        </p:nvSpPr>
        <p:spPr>
          <a:xfrm>
            <a:off x="571500" y="1397000"/>
            <a:ext cx="11061700" cy="711200"/>
          </a:xfrm>
          <a:prstGeom prst="rect">
            <a:avLst/>
          </a:prstGeom>
          <a:solidFill>
            <a:srgbClr val="EAF0F6"/>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0" name="テキスト ボックス 9">
            <a:extLst>
              <a:ext uri="{FF2B5EF4-FFF2-40B4-BE49-F238E27FC236}">
                <a16:creationId xmlns:a16="http://schemas.microsoft.com/office/drawing/2014/main" id="{1A7405DE-9B50-0A36-EF7C-710D1A82795F}"/>
              </a:ext>
            </a:extLst>
          </p:cNvPr>
          <p:cNvSpPr txBox="1"/>
          <p:nvPr/>
        </p:nvSpPr>
        <p:spPr>
          <a:xfrm>
            <a:off x="571500" y="2235200"/>
            <a:ext cx="1832553" cy="370551"/>
          </a:xfrm>
          <a:prstGeom prst="rect">
            <a:avLst/>
          </a:prstGeom>
          <a:noFill/>
          <a:ln>
            <a:noFill/>
          </a:ln>
        </p:spPr>
        <p:txBody>
          <a:bodyPr wrap="none" rtlCol="0">
            <a:spAutoFit/>
          </a:bodyPr>
          <a:lstStyle/>
          <a:p>
            <a:pPr algn="l">
              <a:lnSpc>
                <a:spcPct val="115000"/>
              </a:lnSpc>
              <a:buNone/>
            </a:pPr>
            <a:r>
              <a:rPr lang="ja-JP" altLang="en-US" sz="1700" b="1" dirty="0">
                <a:solidFill>
                  <a:srgbClr val="1A1A1A"/>
                </a:solidFill>
                <a:latin typeface="Helvetica Neue"/>
                <a:ea typeface="Hiragino Sans"/>
                <a:cs typeface="Hiragino Sans"/>
              </a:rPr>
              <a:t>主な power タグ</a:t>
            </a:r>
          </a:p>
        </p:txBody>
      </p:sp>
      <p:sp>
        <p:nvSpPr>
          <p:cNvPr id="5" name="rule">
            <a:extLst>
              <a:ext uri="{FF2B5EF4-FFF2-40B4-BE49-F238E27FC236}">
                <a16:creationId xmlns:a16="http://schemas.microsoft.com/office/drawing/2014/main" id="{9FE27BF3-58E2-1C48-AC14-E2B3BB42F294}"/>
              </a:ext>
            </a:extLst>
          </p:cNvPr>
          <p:cNvSpPr/>
          <p:nvPr/>
        </p:nvSpPr>
        <p:spPr>
          <a:xfrm>
            <a:off x="571500" y="1155700"/>
            <a:ext cx="11061700" cy="12700"/>
          </a:xfrm>
          <a:prstGeom prst="rect">
            <a:avLst/>
          </a:prstGeom>
          <a:solidFill>
            <a:srgbClr val="D9D9D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6" name="merit1bg">
            <a:extLst>
              <a:ext uri="{FF2B5EF4-FFF2-40B4-BE49-F238E27FC236}">
                <a16:creationId xmlns:a16="http://schemas.microsoft.com/office/drawing/2014/main" id="{2602CD52-CFE3-F849-80FD-5380A593DF39}"/>
              </a:ext>
            </a:extLst>
          </p:cNvPr>
          <p:cNvSpPr/>
          <p:nvPr/>
        </p:nvSpPr>
        <p:spPr>
          <a:xfrm>
            <a:off x="571500" y="26162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7" name="merit2bg">
            <a:extLst>
              <a:ext uri="{FF2B5EF4-FFF2-40B4-BE49-F238E27FC236}">
                <a16:creationId xmlns:a16="http://schemas.microsoft.com/office/drawing/2014/main" id="{A6C40281-EB92-724B-B0B3-13003E029AF1}"/>
              </a:ext>
            </a:extLst>
          </p:cNvPr>
          <p:cNvSpPr/>
          <p:nvPr/>
        </p:nvSpPr>
        <p:spPr>
          <a:xfrm>
            <a:off x="571500" y="34798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8" name="concbg">
            <a:extLst>
              <a:ext uri="{FF2B5EF4-FFF2-40B4-BE49-F238E27FC236}">
                <a16:creationId xmlns:a16="http://schemas.microsoft.com/office/drawing/2014/main" id="{E9139F80-ED2F-9847-AA64-E43F5C33D7A1}"/>
              </a:ext>
            </a:extLst>
          </p:cNvPr>
          <p:cNvSpPr/>
          <p:nvPr/>
        </p:nvSpPr>
        <p:spPr>
          <a:xfrm>
            <a:off x="571500" y="5283200"/>
            <a:ext cx="5397500" cy="1066800"/>
          </a:xfrm>
          <a:prstGeom prst="roundRect">
            <a:avLst/>
          </a:prstGeom>
          <a:solidFill>
            <a:srgbClr val="EAF0F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19" name="codeCap">
            <a:extLst>
              <a:ext uri="{FF2B5EF4-FFF2-40B4-BE49-F238E27FC236}">
                <a16:creationId xmlns:a16="http://schemas.microsoft.com/office/drawing/2014/main" id="{6056CBC7-419E-F04C-B333-DC5626AD4BB1}"/>
              </a:ext>
            </a:extLst>
          </p:cNvPr>
          <p:cNvSpPr txBox="1"/>
          <p:nvPr/>
        </p:nvSpPr>
        <p:spPr>
          <a:xfrm>
            <a:off x="6235700" y="2209800"/>
            <a:ext cx="3175000" cy="279400"/>
          </a:xfrm>
          <a:prstGeom prst="rect">
            <a:avLst/>
          </a:prstGeom>
          <a:noFill/>
          <a:ln>
            <a:noFill/>
          </a:ln>
        </p:spPr>
        <p:txBody>
          <a:bodyPr vertOverflow="overflow" vert="horz" wrap="square" rtlCol="0" anchor="ctr" anchorCtr="0">
            <a:noAutofit/>
          </a:bodyPr>
          <a:lstStyle/>
          <a:p>
            <a:pPr algn="l">
              <a:buNone/>
            </a:pPr>
            <a:r>
              <a:rPr lang="ja-JP" altLang="en-US" sz="1700" b="1" dirty="0">
                <a:solidFill>
                  <a:srgbClr val="0D558E"/>
                </a:solidFill>
                <a:latin typeface="Helvetica Neue"/>
                <a:ea typeface="Hiragino Sans"/>
                <a:cs typeface="Hiragino Sans"/>
              </a:rPr>
              <a:t>実データ：北庄変電所</a:t>
            </a:r>
          </a:p>
        </p:txBody>
      </p:sp>
      <p:sp>
        <p:nvSpPr>
          <p:cNvPr id="11" name="テキスト ボックス 10">
            <a:extLst>
              <a:ext uri="{FF2B5EF4-FFF2-40B4-BE49-F238E27FC236}">
                <a16:creationId xmlns:a16="http://schemas.microsoft.com/office/drawing/2014/main" id="{FAB4A9B4-7872-3949-A33F-3636040CC254}"/>
              </a:ext>
            </a:extLst>
          </p:cNvPr>
          <p:cNvSpPr txBox="1"/>
          <p:nvPr/>
        </p:nvSpPr>
        <p:spPr>
          <a:xfrm>
            <a:off x="1905000" y="2687027"/>
            <a:ext cx="3937000" cy="671146"/>
          </a:xfrm>
          <a:prstGeom prst="rect">
            <a:avLst/>
          </a:prstGeom>
          <a:noFill/>
        </p:spPr>
        <p:txBody>
          <a:bodyPr wrap="square" rtlCol="0" anchor="ctr">
            <a:spAutoFit/>
          </a:bodyPr>
          <a:lstStyle/>
          <a:p>
            <a:pPr algn="l">
              <a:lnSpc>
                <a:spcPct val="115000"/>
              </a:lnSpc>
              <a:buNone/>
            </a:pPr>
            <a:r>
              <a:rPr lang="ja-JP" altLang="en-US" sz="1800" b="1" dirty="0">
                <a:solidFill>
                  <a:srgbClr val="0D558E"/>
                </a:solidFill>
                <a:latin typeface="Helvetica Neue"/>
                <a:ea typeface="Hiragino Sans"/>
                <a:cs typeface="Hiragino Sans"/>
              </a:rPr>
              <a:t>power=tower ｜ Point</a:t>
            </a:r>
          </a:p>
          <a:p>
            <a:pPr algn="l">
              <a:lnSpc>
                <a:spcPct val="115000"/>
              </a:lnSpc>
              <a:buNone/>
            </a:pPr>
            <a:r>
              <a:rPr lang="ja-JP" altLang="en-US" sz="1500" dirty="0">
                <a:solidFill>
                  <a:srgbClr val="404040"/>
                </a:solidFill>
                <a:latin typeface="Helvetica Neue"/>
                <a:ea typeface="Hiragino Sans"/>
                <a:cs typeface="Hiragino Sans"/>
              </a:rPr>
              <a:t>鉄塔。ref に番号が入ることが多い</a:t>
            </a:r>
          </a:p>
        </p:txBody>
      </p:sp>
      <p:sp>
        <p:nvSpPr>
          <p:cNvPr id="12" name="テキスト ボックス 11">
            <a:extLst>
              <a:ext uri="{FF2B5EF4-FFF2-40B4-BE49-F238E27FC236}">
                <a16:creationId xmlns:a16="http://schemas.microsoft.com/office/drawing/2014/main" id="{F6E8A3E7-1EFA-5E4B-16EA-337E75771B3C}"/>
              </a:ext>
            </a:extLst>
          </p:cNvPr>
          <p:cNvSpPr txBox="1"/>
          <p:nvPr/>
        </p:nvSpPr>
        <p:spPr>
          <a:xfrm>
            <a:off x="1905000" y="3550627"/>
            <a:ext cx="3937000" cy="671146"/>
          </a:xfrm>
          <a:prstGeom prst="rect">
            <a:avLst/>
          </a:prstGeom>
          <a:noFill/>
        </p:spPr>
        <p:txBody>
          <a:bodyPr wrap="square" rtlCol="0" anchor="ctr">
            <a:spAutoFit/>
          </a:bodyPr>
          <a:lstStyle/>
          <a:p>
            <a:pPr algn="l">
              <a:lnSpc>
                <a:spcPct val="115000"/>
              </a:lnSpc>
              <a:buNone/>
            </a:pPr>
            <a:r>
              <a:rPr lang="ja-JP" altLang="en-US" sz="1800" b="1" dirty="0">
                <a:solidFill>
                  <a:srgbClr val="0D558E"/>
                </a:solidFill>
                <a:latin typeface="Helvetica Neue"/>
                <a:ea typeface="Hiragino Sans"/>
                <a:cs typeface="Hiragino Sans"/>
              </a:rPr>
              <a:t>power=line ｜ LineString</a:t>
            </a:r>
          </a:p>
          <a:p>
            <a:pPr algn="l">
              <a:lnSpc>
                <a:spcPct val="115000"/>
              </a:lnSpc>
              <a:buNone/>
            </a:pPr>
            <a:r>
              <a:rPr lang="ja-JP" altLang="en-US" sz="1500" dirty="0">
                <a:solidFill>
                  <a:srgbClr val="404040"/>
                </a:solidFill>
                <a:latin typeface="Helvetica Neue"/>
                <a:ea typeface="Hiragino Sans"/>
                <a:cs typeface="Hiragino Sans"/>
              </a:rPr>
              <a:t>送電線。voltage・cables・circuits</a:t>
            </a:r>
          </a:p>
        </p:txBody>
      </p:sp>
      <p:grpSp>
        <p:nvGrpSpPr>
          <p:cNvPr id="14" name="グループ化 13">
            <a:extLst>
              <a:ext uri="{FF2B5EF4-FFF2-40B4-BE49-F238E27FC236}">
                <a16:creationId xmlns:a16="http://schemas.microsoft.com/office/drawing/2014/main" id="{B1547D0D-69B4-B760-1C7A-C298FE54A1BB}"/>
              </a:ext>
            </a:extLst>
          </p:cNvPr>
          <p:cNvGrpSpPr/>
          <p:nvPr/>
        </p:nvGrpSpPr>
        <p:grpSpPr>
          <a:xfrm>
            <a:off x="787400" y="5435600"/>
            <a:ext cx="4521200" cy="787400"/>
            <a:chOff x="582388" y="5191327"/>
            <a:chExt cx="3829211" cy="1454462"/>
          </a:xfrm>
        </p:grpSpPr>
        <p:sp>
          <p:nvSpPr>
            <p:cNvPr id="3" name="テキスト ボックス 2">
              <a:extLst>
                <a:ext uri="{FF2B5EF4-FFF2-40B4-BE49-F238E27FC236}">
                  <a16:creationId xmlns:a16="http://schemas.microsoft.com/office/drawing/2014/main" id="{B44BFB2C-91DF-E27D-4AB5-DF1337759460}"/>
                </a:ext>
              </a:extLst>
            </p:cNvPr>
            <p:cNvSpPr txBox="1"/>
            <p:nvPr/>
          </p:nvSpPr>
          <p:spPr>
            <a:xfrm>
              <a:off x="1164071" y="5191327"/>
              <a:ext cx="3247528" cy="1454462"/>
            </a:xfrm>
            <a:prstGeom prst="rect">
              <a:avLst/>
            </a:prstGeom>
            <a:noFill/>
          </p:spPr>
          <p:txBody>
            <a:bodyPr wrap="none" rtlCol="0">
              <a:spAutoFit/>
            </a:bodyPr>
            <a:lstStyle/>
            <a:p>
              <a:pPr algn="l">
                <a:lnSpc>
                  <a:spcPct val="115000"/>
                </a:lnSpc>
                <a:buNone/>
              </a:pPr>
              <a:r>
                <a:rPr lang="ja-JP" altLang="en-US" sz="1700" dirty="0">
                  <a:solidFill>
                    <a:srgbClr val="1A1A1A"/>
                  </a:solidFill>
                  <a:latin typeface="Helvetica Neue"/>
                  <a:ea typeface="Hiragino Sans"/>
                  <a:cs typeface="Hiragino Sans"/>
                </a:rPr>
                <a:t>ジオメトリは揃うが 属性は抜けがある</a:t>
              </a:r>
            </a:p>
            <a:p>
              <a:pPr algn="l">
                <a:lnSpc>
                  <a:spcPct val="115000"/>
                </a:lnSpc>
                <a:buNone/>
              </a:pPr>
              <a:r>
                <a:rPr lang="ja-JP" altLang="en-US" sz="1700" b="1" dirty="0">
                  <a:solidFill>
                    <a:srgbClr val="C00000"/>
                  </a:solidFill>
                  <a:latin typeface="Helvetica Neue"/>
                  <a:ea typeface="Hiragino Sans"/>
                  <a:cs typeface="Hiragino Sans"/>
                </a:rPr>
                <a:t>＝ 名称・電圧の補完が要る</a:t>
              </a:r>
            </a:p>
          </p:txBody>
        </p:sp>
        <p:sp>
          <p:nvSpPr>
            <p:cNvPr id="13" name="矢印: 右 12">
              <a:extLst>
                <a:ext uri="{FF2B5EF4-FFF2-40B4-BE49-F238E27FC236}">
                  <a16:creationId xmlns:a16="http://schemas.microsoft.com/office/drawing/2014/main" id="{58BB8AD4-6FB0-9FEF-14D5-34273BB2B799}"/>
                </a:ext>
              </a:extLst>
            </p:cNvPr>
            <p:cNvSpPr/>
            <p:nvPr/>
          </p:nvSpPr>
          <p:spPr>
            <a:xfrm>
              <a:off x="582388" y="5370585"/>
              <a:ext cx="481148" cy="324235"/>
            </a:xfrm>
            <a:prstGeom prst="rightArrow">
              <a:avLst>
                <a:gd name="adj1" fmla="val 2851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grpSp>
      <p:sp>
        <p:nvSpPr>
          <p:cNvPr id="9" name="テキスト ボックス 8">
            <a:extLst>
              <a:ext uri="{FF2B5EF4-FFF2-40B4-BE49-F238E27FC236}">
                <a16:creationId xmlns:a16="http://schemas.microsoft.com/office/drawing/2014/main" id="{4B0978FC-ED54-57F7-AE67-CE5748D616B3}"/>
              </a:ext>
            </a:extLst>
          </p:cNvPr>
          <p:cNvSpPr txBox="1"/>
          <p:nvPr/>
        </p:nvSpPr>
        <p:spPr>
          <a:xfrm>
            <a:off x="800100" y="1473200"/>
            <a:ext cx="10604500" cy="370551"/>
          </a:xfrm>
          <a:prstGeom prst="rect">
            <a:avLst/>
          </a:prstGeom>
          <a:noFill/>
          <a:ln>
            <a:noFill/>
          </a:ln>
        </p:spPr>
        <p:txBody>
          <a:bodyPr wrap="square" rtlCol="0">
            <a:spAutoFit/>
          </a:bodyPr>
          <a:lstStyle/>
          <a:p>
            <a:pPr algn="l">
              <a:lnSpc>
                <a:spcPct val="115000"/>
              </a:lnSpc>
              <a:buNone/>
            </a:pPr>
            <a:r>
              <a:rPr lang="ja-JP" altLang="en-US" sz="1700" b="1" dirty="0">
                <a:solidFill>
                  <a:srgbClr val="0D558E"/>
                </a:solidFill>
                <a:latin typeface="Helvetica Neue"/>
                <a:ea typeface="Hiragino Sans"/>
                <a:cs typeface="Hiragino Sans"/>
              </a:rPr>
              <a:t>OpenStreetMap のタグ体系（実際のキー）</a:t>
            </a:r>
          </a:p>
        </p:txBody>
      </p:sp>
      <p:sp>
        <p:nvSpPr>
          <p:cNvPr id="7" name="テキスト ボックス 6">
            <a:extLst>
              <a:ext uri="{FF2B5EF4-FFF2-40B4-BE49-F238E27FC236}">
                <a16:creationId xmlns:a16="http://schemas.microsoft.com/office/drawing/2014/main" id="{0BF5661F-3FB9-3886-53CB-C6EBF6902D56}"/>
              </a:ext>
            </a:extLst>
          </p:cNvPr>
          <p:cNvSpPr txBox="1"/>
          <p:nvPr/>
        </p:nvSpPr>
        <p:spPr>
          <a:xfrm>
            <a:off x="800100" y="1752600"/>
            <a:ext cx="10604500" cy="367216"/>
          </a:xfrm>
          <a:prstGeom prst="rect">
            <a:avLst/>
          </a:prstGeom>
          <a:noFill/>
          <a:ln w="19050">
            <a:noFill/>
          </a:ln>
        </p:spPr>
        <p:txBody>
          <a:bodyPr wrap="square" rtlCol="0">
            <a:spAutoFit/>
          </a:bodyPr>
          <a:lstStyle/>
          <a:p>
            <a:pPr algn="l">
              <a:lnSpc>
                <a:spcPct val="115000"/>
              </a:lnSpc>
              <a:buNone/>
            </a:pPr>
            <a:r>
              <a:rPr lang="ja-JP" altLang="en-US" sz="1700" dirty="0">
                <a:solidFill>
                  <a:srgbClr val="404040"/>
                </a:solidFill>
                <a:latin typeface="Helvetica Neue"/>
                <a:ea typeface="Hiragino Sans"/>
                <a:cs typeface="Hiragino Sans"/>
              </a:rPr>
              <a:t>送変電設備は power=* で表現される。ジオメトリと属性がセットで入っている。</a:t>
            </a:r>
          </a:p>
        </p:txBody>
      </p:sp>
      <p:sp>
        <p:nvSpPr>
          <p:cNvPr id="15" name="テキスト ボックス 14">
            <a:extLst>
              <a:ext uri="{FF2B5EF4-FFF2-40B4-BE49-F238E27FC236}">
                <a16:creationId xmlns:a16="http://schemas.microsoft.com/office/drawing/2014/main" id="{50992368-7D6F-ED6D-F76D-967F12EFD843}"/>
              </a:ext>
            </a:extLst>
          </p:cNvPr>
          <p:cNvSpPr txBox="1"/>
          <p:nvPr/>
        </p:nvSpPr>
        <p:spPr>
          <a:xfrm>
            <a:off x="6235700" y="2540000"/>
            <a:ext cx="5575300" cy="3810000"/>
          </a:xfrm>
          <a:prstGeom prst="rect">
            <a:avLst/>
          </a:prstGeom>
          <a:solidFill>
            <a:srgbClr val="22273A"/>
          </a:solidFill>
          <a:ln>
            <a:noFill/>
          </a:ln>
        </p:spPr>
        <p:txBody>
          <a:bodyPr wrap="square" anchor="ctr">
            <a:noAutofit/>
          </a:bodyPr>
          <a:lstStyle/>
          <a:p>
            <a:pPr algn="l">
              <a:lnSpc>
                <a:spcPct val="104000"/>
              </a:lnSpc>
              <a:buNone/>
            </a:pP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"type"</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"Feature"</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"id"</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"way/315639820"</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"properties"</a:t>
            </a: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"power"</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"substation"</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"substation"</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"transmission"</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"voltage"</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"154000;77000"</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"frequency"</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"60"</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"location"</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"outdoor"</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"operator"</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"北陸電力"</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FF8A80"/>
                </a:solidFill>
                <a:latin typeface="Consolas"/>
                <a:ea typeface="Hiragino Sans"/>
                <a:cs typeface="Hiragino Sans"/>
              </a:rPr>
              <a:t>// "name" タグが無い</a:t>
            </a:r>
          </a:p>
          <a:p>
            <a:pPr algn="l">
              <a:lnSpc>
                <a:spcPct val="104000"/>
              </a:lnSpc>
              <a:buNone/>
            </a:pP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"geometry"</a:t>
            </a: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"type"</a:t>
            </a:r>
            <a:r>
              <a:rPr lang="ja-JP" altLang="en-US" sz="1100" dirty="0">
                <a:solidFill>
                  <a:srgbClr val="E8E8E8"/>
                </a:solidFill>
                <a:latin typeface="Consolas"/>
                <a:ea typeface="Hiragino Sans"/>
                <a:cs typeface="Hiragino Sans"/>
              </a:rPr>
              <a:t>: </a:t>
            </a:r>
            <a:r>
              <a:rPr lang="ja-JP" altLang="en-US" sz="1100" dirty="0">
                <a:solidFill>
                  <a:srgbClr val="C3E88D"/>
                </a:solidFill>
                <a:latin typeface="Consolas"/>
                <a:ea typeface="Hiragino Sans"/>
                <a:cs typeface="Hiragino Sans"/>
              </a:rPr>
              <a:t>"Polygon"</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EC8FF"/>
                </a:solidFill>
                <a:latin typeface="Consolas"/>
                <a:ea typeface="Hiragino Sans"/>
                <a:cs typeface="Hiragino Sans"/>
              </a:rPr>
              <a:t>"coordinates"</a:t>
            </a: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F0B37E"/>
                </a:solidFill>
                <a:latin typeface="Consolas"/>
                <a:ea typeface="Hiragino Sans"/>
                <a:cs typeface="Hiragino Sans"/>
              </a:rPr>
              <a:t>[136.1749341, 36.1222739]</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F0B37E"/>
                </a:solidFill>
                <a:latin typeface="Consolas"/>
                <a:ea typeface="Hiragino Sans"/>
                <a:cs typeface="Hiragino Sans"/>
              </a:rPr>
              <a:t>[136.1763984, 36.1196241]</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F0B37E"/>
                </a:solidFill>
                <a:latin typeface="Consolas"/>
                <a:ea typeface="Hiragino Sans"/>
                <a:cs typeface="Hiragino Sans"/>
              </a:rPr>
              <a:t>[136.1747602, 36.1197085]</a:t>
            </a:r>
            <a:r>
              <a:rPr lang="ja-JP" altLang="en-US" sz="1100" dirty="0">
                <a:solidFill>
                  <a:srgbClr val="E8E8E8"/>
                </a:solidFill>
                <a:latin typeface="Consolas"/>
                <a:ea typeface="Hiragino Sans"/>
                <a:cs typeface="Hiragino Sans"/>
              </a:rPr>
              <a:t>,</a:t>
            </a:r>
          </a:p>
          <a:p>
            <a:pPr algn="l">
              <a:lnSpc>
                <a:spcPct val="104000"/>
              </a:lnSpc>
              <a:buNone/>
            </a:pPr>
            <a:r>
              <a:rPr lang="ja-JP" altLang="en-US" sz="1100" dirty="0">
                <a:solidFill>
                  <a:srgbClr val="E8E8E8"/>
                </a:solidFill>
                <a:latin typeface="Consolas"/>
                <a:ea typeface="Hiragino Sans"/>
                <a:cs typeface="Hiragino Sans"/>
              </a:rPr>
              <a:t>　　　</a:t>
            </a:r>
            <a:r>
              <a:rPr lang="ja-JP" altLang="en-US" sz="1100" dirty="0">
                <a:solidFill>
                  <a:srgbClr val="7A8699"/>
                </a:solidFill>
                <a:latin typeface="Consolas"/>
                <a:ea typeface="Hiragino Sans"/>
                <a:cs typeface="Hiragino Sans"/>
              </a:rPr>
              <a:t>… 始点に戻って閉じる</a:t>
            </a:r>
          </a:p>
          <a:p>
            <a:pPr algn="l">
              <a:lnSpc>
                <a:spcPct val="104000"/>
              </a:lnSpc>
              <a:buNone/>
            </a:pP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　}</a:t>
            </a:r>
          </a:p>
          <a:p>
            <a:pPr algn="l">
              <a:lnSpc>
                <a:spcPct val="104000"/>
              </a:lnSpc>
              <a:buNone/>
            </a:pPr>
            <a:r>
              <a:rPr lang="ja-JP" altLang="en-US" sz="1100" dirty="0">
                <a:solidFill>
                  <a:srgbClr val="E8E8E8"/>
                </a:solidFill>
                <a:latin typeface="Consolas"/>
                <a:ea typeface="Hiragino Sans"/>
                <a:cs typeface="Hiragino Sans"/>
              </a:rPr>
              <a:t>}</a:t>
            </a:r>
          </a:p>
        </p:txBody>
      </p:sp>
      <p:sp>
        <p:nvSpPr>
          <p:cNvPr id="700" name="merit3bg">
            <a:extLst>
              <a:ext uri="{FF2B5EF4-FFF2-40B4-BE49-F238E27FC236}">
                <a16:creationId xmlns:a16="http://schemas.microsoft.com/office/drawing/2014/main" id="{2602CD52-CFE3-F849-80FD-5380A593DF39}"/>
              </a:ext>
            </a:extLst>
          </p:cNvPr>
          <p:cNvSpPr/>
          <p:nvPr/>
        </p:nvSpPr>
        <p:spPr>
          <a:xfrm>
            <a:off x="571500" y="4343400"/>
            <a:ext cx="5397500" cy="787400"/>
          </a:xfrm>
          <a:prstGeom prst="roundRect">
            <a:avLst/>
          </a:prstGeom>
          <a:solidFill>
            <a:srgbClr val="F2F2F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white"/>
              </a:solidFill>
              <a:effectLst/>
              <a:uLnTx/>
              <a:uFillTx/>
              <a:latin typeface="Calibri"/>
              <a:ea typeface="ＭＳ Ｐゴシック" panose="020B0600070205080204" pitchFamily="34" charset="-128"/>
              <a:cs typeface="+mn-cs"/>
            </a:endParaRPr>
          </a:p>
        </p:txBody>
      </p:sp>
      <p:sp>
        <p:nvSpPr>
          <p:cNvPr id="701" name="TextBox P3">
            <a:extLst>
              <a:ext uri="{FF2B5EF4-FFF2-40B4-BE49-F238E27FC236}">
                <a16:creationId xmlns:a16="http://schemas.microsoft.com/office/drawing/2014/main" id="{FAB4A9B4-7872-3949-A33F-3636040CC254}"/>
              </a:ext>
            </a:extLst>
          </p:cNvPr>
          <p:cNvSpPr txBox="1"/>
          <p:nvPr/>
        </p:nvSpPr>
        <p:spPr>
          <a:xfrm>
            <a:off x="1905000" y="4414227"/>
            <a:ext cx="3937000" cy="671146"/>
          </a:xfrm>
          <a:prstGeom prst="rect">
            <a:avLst/>
          </a:prstGeom>
          <a:noFill/>
        </p:spPr>
        <p:txBody>
          <a:bodyPr wrap="square" rtlCol="0" anchor="ctr">
            <a:spAutoFit/>
          </a:bodyPr>
          <a:lstStyle/>
          <a:p>
            <a:pPr algn="l">
              <a:lnSpc>
                <a:spcPct val="115000"/>
              </a:lnSpc>
              <a:buNone/>
            </a:pPr>
            <a:r>
              <a:rPr lang="ja-JP" altLang="en-US" sz="1800" b="1" dirty="0">
                <a:solidFill>
                  <a:srgbClr val="0D558E"/>
                </a:solidFill>
                <a:latin typeface="Helvetica Neue"/>
                <a:ea typeface="Hiragino Sans"/>
                <a:cs typeface="Hiragino Sans"/>
              </a:rPr>
              <a:t>power=substation ｜ Polygon</a:t>
            </a:r>
          </a:p>
          <a:p>
            <a:pPr algn="l">
              <a:lnSpc>
                <a:spcPct val="115000"/>
              </a:lnSpc>
              <a:buNone/>
            </a:pPr>
            <a:r>
              <a:rPr lang="ja-JP" altLang="en-US" sz="1500" dirty="0">
                <a:solidFill>
                  <a:srgbClr val="404040"/>
                </a:solidFill>
                <a:latin typeface="Helvetica Neue"/>
                <a:ea typeface="Hiragino Sans"/>
                <a:cs typeface="Hiragino Sans"/>
              </a:rPr>
              <a:t>変電所。substation・voltage・operator</a:t>
            </a:r>
          </a:p>
        </p:txBody>
      </p:sp>
      <p:sp>
        <p:nvSpPr>
          <p:cNvPr id="710" name="Node 710"/>
          <p:cNvSpPr/>
          <p:nvPr/>
        </p:nvSpPr>
        <p:spPr>
          <a:xfrm>
            <a:off x="1104900" y="2908300"/>
            <a:ext cx="203200" cy="203200"/>
          </a:xfrm>
          <a:prstGeom prst="ellipse">
            <a:avLst/>
          </a:prstGeom>
          <a:solidFill>
            <a:srgbClr val="0D558E"/>
          </a:solidFill>
          <a:ln w="12700">
            <a:solidFill>
              <a:srgbClr val="FFFFFF"/>
            </a:solidFill>
          </a:ln>
        </p:spPr>
        <p:txBody>
          <a:bodyPr/>
          <a:lstStyle/>
          <a:p>
            <a:endParaRPr/>
          </a:p>
        </p:txBody>
      </p:sp>
      <p:cxnSp>
        <p:nvCxnSpPr>
          <p:cNvPr id="720" name="Seg 720"/>
          <p:cNvCxnSpPr/>
          <p:nvPr/>
        </p:nvCxnSpPr>
        <p:spPr>
          <a:xfrm flipV="1">
            <a:off x="812800" y="3759200"/>
            <a:ext cx="381000" cy="279400"/>
          </a:xfrm>
          <a:prstGeom prst="line">
            <a:avLst/>
          </a:prstGeom>
          <a:ln w="28575">
            <a:solidFill>
              <a:srgbClr val="0D558E"/>
            </a:solidFill>
          </a:ln>
        </p:spPr>
      </p:cxnSp>
      <p:cxnSp>
        <p:nvCxnSpPr>
          <p:cNvPr id="721" name="Seg 721"/>
          <p:cNvCxnSpPr/>
          <p:nvPr/>
        </p:nvCxnSpPr>
        <p:spPr>
          <a:xfrm>
            <a:off x="1193800" y="3759200"/>
            <a:ext cx="406400" cy="203200"/>
          </a:xfrm>
          <a:prstGeom prst="line">
            <a:avLst/>
          </a:prstGeom>
          <a:ln w="28575">
            <a:solidFill>
              <a:srgbClr val="0D558E"/>
            </a:solidFill>
          </a:ln>
        </p:spPr>
      </p:cxnSp>
      <p:sp>
        <p:nvSpPr>
          <p:cNvPr id="722" name="Node 722"/>
          <p:cNvSpPr/>
          <p:nvPr/>
        </p:nvSpPr>
        <p:spPr>
          <a:xfrm>
            <a:off x="742950" y="3968750"/>
            <a:ext cx="139700" cy="139700"/>
          </a:xfrm>
          <a:prstGeom prst="ellipse">
            <a:avLst/>
          </a:prstGeom>
          <a:solidFill>
            <a:srgbClr val="0D558E"/>
          </a:solidFill>
          <a:ln w="12700">
            <a:solidFill>
              <a:srgbClr val="FFFFFF"/>
            </a:solidFill>
          </a:ln>
        </p:spPr>
        <p:txBody>
          <a:bodyPr/>
          <a:lstStyle/>
          <a:p>
            <a:endParaRPr/>
          </a:p>
        </p:txBody>
      </p:sp>
      <p:sp>
        <p:nvSpPr>
          <p:cNvPr id="723" name="Node 723"/>
          <p:cNvSpPr/>
          <p:nvPr/>
        </p:nvSpPr>
        <p:spPr>
          <a:xfrm>
            <a:off x="1123950" y="3689350"/>
            <a:ext cx="139700" cy="139700"/>
          </a:xfrm>
          <a:prstGeom prst="ellipse">
            <a:avLst/>
          </a:prstGeom>
          <a:solidFill>
            <a:srgbClr val="0D558E"/>
          </a:solidFill>
          <a:ln w="12700">
            <a:solidFill>
              <a:srgbClr val="FFFFFF"/>
            </a:solidFill>
          </a:ln>
        </p:spPr>
        <p:txBody>
          <a:bodyPr/>
          <a:lstStyle/>
          <a:p>
            <a:endParaRPr/>
          </a:p>
        </p:txBody>
      </p:sp>
      <p:sp>
        <p:nvSpPr>
          <p:cNvPr id="724" name="Node 724"/>
          <p:cNvSpPr/>
          <p:nvPr/>
        </p:nvSpPr>
        <p:spPr>
          <a:xfrm>
            <a:off x="1530350" y="3892550"/>
            <a:ext cx="139700" cy="139700"/>
          </a:xfrm>
          <a:prstGeom prst="ellipse">
            <a:avLst/>
          </a:prstGeom>
          <a:solidFill>
            <a:srgbClr val="0D558E"/>
          </a:solidFill>
          <a:ln w="12700">
            <a:solidFill>
              <a:srgbClr val="FFFFFF"/>
            </a:solidFill>
          </a:ln>
        </p:spPr>
        <p:txBody>
          <a:bodyPr/>
          <a:lstStyle/>
          <a:p>
            <a:endParaRPr/>
          </a:p>
        </p:txBody>
      </p:sp>
      <p:sp>
        <p:nvSpPr>
          <p:cNvPr id="730" name="PolygonPrim"/>
          <p:cNvSpPr/>
          <p:nvPr/>
        </p:nvSpPr>
        <p:spPr>
          <a:xfrm>
            <a:off x="736600" y="4521200"/>
            <a:ext cx="889000" cy="482600"/>
          </a:xfrm>
          <a:custGeom>
            <a:avLst/>
            <a:gdLst/>
            <a:ahLst/>
            <a:cxnLst/>
            <a:rect l="0" t="0" r="r" b="b"/>
            <a:pathLst>
              <a:path w="965200" h="584200">
                <a:moveTo>
                  <a:pt x="0" y="127000"/>
                </a:moveTo>
                <a:lnTo>
                  <a:pt x="660400" y="0"/>
                </a:lnTo>
                <a:lnTo>
                  <a:pt x="965200" y="381000"/>
                </a:lnTo>
                <a:lnTo>
                  <a:pt x="228600" y="584200"/>
                </a:lnTo>
                <a:close/>
              </a:path>
            </a:pathLst>
          </a:custGeom>
          <a:solidFill>
            <a:srgbClr val="0D558E">
              <a:alpha val="22000"/>
            </a:srgbClr>
          </a:solidFill>
          <a:ln w="28575">
            <a:solidFill>
              <a:srgbClr val="0D558E"/>
            </a:solidFill>
          </a:ln>
        </p:spPr>
        <p:txBody>
          <a:bodyPr/>
          <a:lstStyle/>
          <a:p>
            <a:endParaRPr/>
          </a:p>
        </p:txBody>
      </p:sp>
      <p:sp>
        <p:nvSpPr>
          <p:cNvPr id="740" name="Node 740"/>
          <p:cNvSpPr/>
          <p:nvPr/>
        </p:nvSpPr>
        <p:spPr>
          <a:xfrm>
            <a:off x="666750" y="4552950"/>
            <a:ext cx="139700" cy="139700"/>
          </a:xfrm>
          <a:prstGeom prst="ellipse">
            <a:avLst/>
          </a:prstGeom>
          <a:solidFill>
            <a:srgbClr val="0D558E"/>
          </a:solidFill>
          <a:ln w="12700">
            <a:solidFill>
              <a:srgbClr val="FFFFFF"/>
            </a:solidFill>
          </a:ln>
        </p:spPr>
        <p:txBody>
          <a:bodyPr/>
          <a:lstStyle/>
          <a:p>
            <a:endParaRPr/>
          </a:p>
        </p:txBody>
      </p:sp>
      <p:sp>
        <p:nvSpPr>
          <p:cNvPr id="741" name="Node 741"/>
          <p:cNvSpPr/>
          <p:nvPr/>
        </p:nvSpPr>
        <p:spPr>
          <a:xfrm>
            <a:off x="1276350" y="4451350"/>
            <a:ext cx="139700" cy="139700"/>
          </a:xfrm>
          <a:prstGeom prst="ellipse">
            <a:avLst/>
          </a:prstGeom>
          <a:solidFill>
            <a:srgbClr val="0D558E"/>
          </a:solidFill>
          <a:ln w="12700">
            <a:solidFill>
              <a:srgbClr val="FFFFFF"/>
            </a:solidFill>
          </a:ln>
        </p:spPr>
        <p:txBody>
          <a:bodyPr/>
          <a:lstStyle/>
          <a:p>
            <a:endParaRPr/>
          </a:p>
        </p:txBody>
      </p:sp>
      <p:sp>
        <p:nvSpPr>
          <p:cNvPr id="742" name="Node 742"/>
          <p:cNvSpPr/>
          <p:nvPr/>
        </p:nvSpPr>
        <p:spPr>
          <a:xfrm>
            <a:off x="1530350" y="4730750"/>
            <a:ext cx="139700" cy="139700"/>
          </a:xfrm>
          <a:prstGeom prst="ellipse">
            <a:avLst/>
          </a:prstGeom>
          <a:solidFill>
            <a:srgbClr val="0D558E"/>
          </a:solidFill>
          <a:ln w="12700">
            <a:solidFill>
              <a:srgbClr val="FFFFFF"/>
            </a:solidFill>
          </a:ln>
        </p:spPr>
        <p:txBody>
          <a:bodyPr/>
          <a:lstStyle/>
          <a:p>
            <a:endParaRPr/>
          </a:p>
        </p:txBody>
      </p:sp>
      <p:sp>
        <p:nvSpPr>
          <p:cNvPr id="743" name="Node 743"/>
          <p:cNvSpPr/>
          <p:nvPr/>
        </p:nvSpPr>
        <p:spPr>
          <a:xfrm>
            <a:off x="869950" y="4908550"/>
            <a:ext cx="139700" cy="139700"/>
          </a:xfrm>
          <a:prstGeom prst="ellipse">
            <a:avLst/>
          </a:prstGeom>
          <a:solidFill>
            <a:srgbClr val="0D558E"/>
          </a:solidFill>
          <a:ln w="12700">
            <a:solidFill>
              <a:srgbClr val="FFFFFF"/>
            </a:solidFill>
          </a:ln>
        </p:spPr>
        <p:txBody>
          <a:bodyPr/>
          <a:lstStyle/>
          <a:p>
            <a:endParaRPr/>
          </a:p>
        </p:txBody>
      </p:sp>
      <p:sp>
        <p:nvSpPr>
          <p:cNvPr id="760" name="note"/>
          <p:cNvSpPr txBox="1"/>
          <p:nvPr/>
        </p:nvSpPr>
        <p:spPr>
          <a:xfrm>
            <a:off x="571500" y="6451600"/>
            <a:ext cx="5715000" cy="228600"/>
          </a:xfrm>
          <a:prstGeom prst="rect">
            <a:avLst/>
          </a:prstGeom>
          <a:noFill/>
        </p:spPr>
        <p:txBody>
          <a:bodyPr wrap="square">
            <a:noAutofit/>
          </a:bodyPr>
          <a:lstStyle/>
          <a:p>
            <a:pPr algn="l">
              <a:buNone/>
            </a:pPr>
            <a:r>
              <a:rPr lang="ja-JP" altLang="en-US" sz="1400" dirty="0">
                <a:solidFill>
                  <a:srgbClr val="595959"/>
                </a:solidFill>
                <a:latin typeface="Helvetica Neue"/>
                <a:ea typeface="Hiragino Sans"/>
                <a:cs typeface="Hiragino Sans"/>
              </a:rPr>
              <a:t>出典：OpenStreetMap contributors（ODbL）／Overpass API 抽出</a:t>
            </a:r>
          </a:p>
        </p:txBody>
      </p:sp>
      <p:pic>
        <p:nvPicPr>
          <p:cNvPr id="4" name="図 3">
            <a:extLst>
              <a:ext uri="{FF2B5EF4-FFF2-40B4-BE49-F238E27FC236}">
                <a16:creationId xmlns:a16="http://schemas.microsoft.com/office/drawing/2014/main" id="{517F66AE-BCA8-AAD5-650B-A7C58105BCFB}"/>
              </a:ext>
            </a:extLst>
          </p:cNvPr>
          <p:cNvPicPr>
            <a:picLocks noChangeAspect="1"/>
          </p:cNvPicPr>
          <p:nvPr/>
        </p:nvPicPr>
        <p:blipFill>
          <a:blip r:embed="rId3"/>
          <a:stretch>
            <a:fillRect/>
          </a:stretch>
        </p:blipFill>
        <p:spPr>
          <a:xfrm>
            <a:off x="9265627" y="2539999"/>
            <a:ext cx="2545373" cy="2545373"/>
          </a:xfrm>
          <a:prstGeom prst="rect">
            <a:avLst/>
          </a:prstGeom>
        </p:spPr>
      </p:pic>
      <p:pic>
        <p:nvPicPr>
          <p:cNvPr id="21" name="図 20">
            <a:extLst>
              <a:ext uri="{FF2B5EF4-FFF2-40B4-BE49-F238E27FC236}">
                <a16:creationId xmlns:a16="http://schemas.microsoft.com/office/drawing/2014/main" id="{E0480C7B-C1C6-FE24-615A-39D26BDEB587}"/>
              </a:ext>
            </a:extLst>
          </p:cNvPr>
          <p:cNvPicPr>
            <a:picLocks noChangeAspect="1"/>
          </p:cNvPicPr>
          <p:nvPr/>
        </p:nvPicPr>
        <p:blipFill rotWithShape="1">
          <a:blip r:embed="rId4"/>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3208464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A8D443-6944-AE1D-CF3A-03C7B20AA7C5}"/>
              </a:ext>
            </a:extLst>
          </p:cNvPr>
          <p:cNvSpPr>
            <a:spLocks noGrp="1"/>
          </p:cNvSpPr>
          <p:nvPr>
            <p:ph type="title"/>
          </p:nvPr>
        </p:nvSpPr>
        <p:spPr>
          <a:xfrm>
            <a:off x="546100" y="177800"/>
            <a:ext cx="11150600" cy="431800"/>
          </a:xfrm>
        </p:spPr>
        <p:txBody>
          <a:bodyPr/>
          <a:lstStyle/>
          <a:p>
            <a:pPr algn="l">
              <a:buNone/>
            </a:pPr>
            <a:r>
              <a:rPr lang="ja-JP" altLang="en-US" sz="2200" b="1" dirty="0">
                <a:solidFill>
                  <a:srgbClr val="1F3556"/>
                </a:solidFill>
              </a:rPr>
              <a:t>実装と検証の全体像 — パイプラインと検証の階段</a:t>
            </a:r>
          </a:p>
        </p:txBody>
      </p:sp>
      <p:pic>
        <p:nvPicPr>
          <p:cNvPr id="3" name="図 2">
            <a:extLst>
              <a:ext uri="{FF2B5EF4-FFF2-40B4-BE49-F238E27FC236}">
                <a16:creationId xmlns:a16="http://schemas.microsoft.com/office/drawing/2014/main" id="{62F9D0C9-8074-D1C7-639D-B1BBE1802E54}"/>
              </a:ext>
            </a:extLst>
          </p:cNvPr>
          <p:cNvPicPr>
            <a:picLocks noChangeAspect="1"/>
          </p:cNvPicPr>
          <p:nvPr/>
        </p:nvPicPr>
        <p:blipFill>
          <a:blip r:embed="rId2"/>
          <a:stretch>
            <a:fillRect/>
          </a:stretch>
        </p:blipFill>
        <p:spPr>
          <a:xfrm>
            <a:off x="546100" y="939800"/>
            <a:ext cx="5588000" cy="4711700"/>
          </a:xfrm>
          <a:prstGeom prst="rect">
            <a:avLst/>
          </a:prstGeom>
        </p:spPr>
      </p:pic>
      <p:sp>
        <p:nvSpPr>
          <p:cNvPr id="400" name="MT401"/>
          <p:cNvSpPr txBox="1"/>
          <p:nvPr/>
        </p:nvSpPr>
        <p:spPr>
          <a:xfrm>
            <a:off x="546100" y="5740400"/>
            <a:ext cx="5588000" cy="406400"/>
          </a:xfrm>
          <a:prstGeom prst="rect">
            <a:avLst/>
          </a:prstGeom>
          <a:noFill/>
        </p:spPr>
        <p:txBody>
          <a:bodyPr wrap="square" lIns="0" tIns="0" rIns="0" bIns="0" anchor="t"/>
          <a:lstStyle/>
          <a:p>
            <a:pPr marL="0" indent="0" algn="l">
              <a:lnSpc>
                <a:spcPct val="112000"/>
              </a:lnSpc>
              <a:buNone/>
            </a:pPr>
            <a:r>
              <a:rPr lang="ja-JP" altLang="en-US" sz="1050" b="0" i="0" dirty="0">
                <a:solidFill>
                  <a:srgbClr val="6B7280"/>
                </a:solidFill>
              </a:rPr>
              <a:t>Algorithm 1：取得 → 属性補完 → トポロジ → 電圧スナップ → 変圧器挿入 → 連結補修 → パラメータ付与 → pandapower / Ybus → AC潮流・UC・動揺・モード解析</a:t>
            </a:r>
          </a:p>
        </p:txBody>
      </p:sp>
      <p:sp>
        <p:nvSpPr>
          <p:cNvPr id="401" name="MT402"/>
          <p:cNvSpPr txBox="1"/>
          <p:nvPr/>
        </p:nvSpPr>
        <p:spPr>
          <a:xfrm>
            <a:off x="6413500" y="939800"/>
            <a:ext cx="5232400" cy="254000"/>
          </a:xfrm>
          <a:prstGeom prst="rect">
            <a:avLst/>
          </a:prstGeom>
          <a:noFill/>
        </p:spPr>
        <p:txBody>
          <a:bodyPr wrap="square" lIns="0" tIns="0" rIns="0" bIns="0" anchor="t"/>
          <a:lstStyle/>
          <a:p>
            <a:pPr marL="0" indent="0" algn="l">
              <a:lnSpc>
                <a:spcPct val="112000"/>
              </a:lnSpc>
              <a:buNone/>
            </a:pPr>
            <a:r>
              <a:rPr lang="ja-JP" altLang="en-US" sz="1500" b="1" i="0" dirty="0">
                <a:solidFill>
                  <a:srgbClr val="1F3556"/>
                </a:solidFill>
              </a:rPr>
              <a:t>検証の階段</a:t>
            </a:r>
            <a:r>
              <a:rPr lang="ja-JP" altLang="en-US" sz="1150" b="0" i="0" dirty="0">
                <a:solidFill>
                  <a:srgbClr val="6B7280"/>
                </a:solidFill>
              </a:rPr>
              <a:t>　下の層の検証が、上の層の解析を可能にする。</a:t>
            </a:r>
          </a:p>
        </p:txBody>
      </p:sp>
      <p:sp>
        <p:nvSpPr>
          <p:cNvPr id="402" name="M403"/>
          <p:cNvSpPr/>
          <p:nvPr/>
        </p:nvSpPr>
        <p:spPr>
          <a:xfrm>
            <a:off x="6413500" y="1295400"/>
            <a:ext cx="5232400" cy="1016000"/>
          </a:xfrm>
          <a:prstGeom prst="rect">
            <a:avLst/>
          </a:prstGeom>
          <a:solidFill>
            <a:srgbClr val="F2F5F9"/>
          </a:solidFill>
          <a:ln>
            <a:noFill/>
          </a:ln>
        </p:spPr>
        <p:txBody>
          <a:bodyPr/>
          <a:lstStyle/>
          <a:p>
            <a:endParaRPr lang="ja-JP"/>
          </a:p>
        </p:txBody>
      </p:sp>
      <p:sp>
        <p:nvSpPr>
          <p:cNvPr id="403" name="M404"/>
          <p:cNvSpPr/>
          <p:nvPr/>
        </p:nvSpPr>
        <p:spPr>
          <a:xfrm>
            <a:off x="6413500" y="1295400"/>
            <a:ext cx="5232400" cy="38100"/>
          </a:xfrm>
          <a:prstGeom prst="rect">
            <a:avLst/>
          </a:prstGeom>
          <a:solidFill>
            <a:srgbClr val="8A2E3B"/>
          </a:solidFill>
          <a:ln>
            <a:noFill/>
          </a:ln>
        </p:spPr>
        <p:txBody>
          <a:bodyPr/>
          <a:lstStyle/>
          <a:p>
            <a:endParaRPr lang="ja-JP"/>
          </a:p>
        </p:txBody>
      </p:sp>
      <p:sp>
        <p:nvSpPr>
          <p:cNvPr id="404" name="M405"/>
          <p:cNvSpPr/>
          <p:nvPr/>
        </p:nvSpPr>
        <p:spPr>
          <a:xfrm>
            <a:off x="6591300" y="1498600"/>
            <a:ext cx="330200" cy="330200"/>
          </a:xfrm>
          <a:prstGeom prst="ellipse">
            <a:avLst/>
          </a:prstGeom>
          <a:solidFill>
            <a:srgbClr val="8A2E3B"/>
          </a:solidFill>
          <a:ln>
            <a:noFill/>
          </a:ln>
        </p:spPr>
        <p:txBody>
          <a:bodyPr/>
          <a:lstStyle/>
          <a:p>
            <a:endParaRPr lang="ja-JP"/>
          </a:p>
        </p:txBody>
      </p:sp>
      <p:sp>
        <p:nvSpPr>
          <p:cNvPr id="405" name="MT406"/>
          <p:cNvSpPr txBox="1"/>
          <p:nvPr/>
        </p:nvSpPr>
        <p:spPr>
          <a:xfrm>
            <a:off x="6591300" y="1498600"/>
            <a:ext cx="330200" cy="330200"/>
          </a:xfrm>
          <a:prstGeom prst="rect">
            <a:avLst/>
          </a:prstGeom>
          <a:noFill/>
        </p:spPr>
        <p:txBody>
          <a:bodyPr wrap="square" lIns="0" tIns="0" rIns="0" bIns="0" anchor="ctr"/>
          <a:lstStyle/>
          <a:p>
            <a:pPr marL="0" indent="0" algn="ctr">
              <a:lnSpc>
                <a:spcPct val="112000"/>
              </a:lnSpc>
              <a:buNone/>
            </a:pPr>
            <a:r>
              <a:rPr lang="ja-JP" altLang="en-US" sz="1200" b="1" i="0" dirty="0">
                <a:solidFill>
                  <a:srgbClr val="FFFFFF"/>
                </a:solidFill>
              </a:rPr>
              <a:t>1</a:t>
            </a:r>
          </a:p>
        </p:txBody>
      </p:sp>
      <p:sp>
        <p:nvSpPr>
          <p:cNvPr id="406" name="MT407"/>
          <p:cNvSpPr txBox="1"/>
          <p:nvPr/>
        </p:nvSpPr>
        <p:spPr>
          <a:xfrm>
            <a:off x="7073900" y="1498600"/>
            <a:ext cx="4394200" cy="254000"/>
          </a:xfrm>
          <a:prstGeom prst="rect">
            <a:avLst/>
          </a:prstGeom>
          <a:noFill/>
        </p:spPr>
        <p:txBody>
          <a:bodyPr wrap="square" lIns="0" tIns="0" rIns="0" bIns="0" anchor="t"/>
          <a:lstStyle/>
          <a:p>
            <a:pPr marL="0" indent="0" algn="l">
              <a:lnSpc>
                <a:spcPct val="112000"/>
              </a:lnSpc>
              <a:buNone/>
            </a:pPr>
            <a:r>
              <a:rPr lang="ja-JP" altLang="en-US" sz="1350" b="1" i="0" dirty="0">
                <a:solidFill>
                  <a:srgbClr val="1F3556"/>
                </a:solidFill>
              </a:rPr>
              <a:t>土台</a:t>
            </a:r>
            <a:r>
              <a:rPr lang="ja-JP" altLang="en-US" sz="1250" b="1" i="0" dirty="0">
                <a:solidFill>
                  <a:srgbClr val="8A2E3B"/>
                </a:solidFill>
              </a:rPr>
              <a:t>　I = YV</a:t>
            </a:r>
          </a:p>
        </p:txBody>
      </p:sp>
      <p:sp>
        <p:nvSpPr>
          <p:cNvPr id="407" name="MT408"/>
          <p:cNvSpPr txBox="1"/>
          <p:nvPr/>
        </p:nvSpPr>
        <p:spPr>
          <a:xfrm>
            <a:off x="7073900" y="1828800"/>
            <a:ext cx="4394200" cy="304800"/>
          </a:xfrm>
          <a:prstGeom prst="rect">
            <a:avLst/>
          </a:prstGeom>
          <a:noFill/>
        </p:spPr>
        <p:txBody>
          <a:bodyPr wrap="square" lIns="0" tIns="0" rIns="0" bIns="0" anchor="t"/>
          <a:lstStyle/>
          <a:p>
            <a:pPr marL="0" indent="0" algn="l">
              <a:lnSpc>
                <a:spcPct val="112000"/>
              </a:lnSpc>
              <a:buNone/>
            </a:pPr>
            <a:r>
              <a:rPr lang="ja-JP" altLang="en-US" sz="1200" b="0" i="0" dirty="0">
                <a:solidFill>
                  <a:srgbClr val="333F52"/>
                </a:solidFill>
              </a:rPr>
              <a:t>公表 R/X と整合（比の中央値 1.22）</a:t>
            </a:r>
          </a:p>
        </p:txBody>
      </p:sp>
      <p:sp>
        <p:nvSpPr>
          <p:cNvPr id="408" name="M409"/>
          <p:cNvSpPr/>
          <p:nvPr/>
        </p:nvSpPr>
        <p:spPr>
          <a:xfrm>
            <a:off x="6413500" y="2413000"/>
            <a:ext cx="5232400" cy="1016000"/>
          </a:xfrm>
          <a:prstGeom prst="rect">
            <a:avLst/>
          </a:prstGeom>
          <a:solidFill>
            <a:srgbClr val="F2F5F9"/>
          </a:solidFill>
          <a:ln>
            <a:noFill/>
          </a:ln>
        </p:spPr>
        <p:txBody>
          <a:bodyPr/>
          <a:lstStyle/>
          <a:p>
            <a:endParaRPr lang="ja-JP"/>
          </a:p>
        </p:txBody>
      </p:sp>
      <p:sp>
        <p:nvSpPr>
          <p:cNvPr id="409" name="M410"/>
          <p:cNvSpPr/>
          <p:nvPr/>
        </p:nvSpPr>
        <p:spPr>
          <a:xfrm>
            <a:off x="6413500" y="2413000"/>
            <a:ext cx="5232400" cy="38100"/>
          </a:xfrm>
          <a:prstGeom prst="rect">
            <a:avLst/>
          </a:prstGeom>
          <a:solidFill>
            <a:srgbClr val="8A2E3B"/>
          </a:solidFill>
          <a:ln>
            <a:noFill/>
          </a:ln>
        </p:spPr>
        <p:txBody>
          <a:bodyPr/>
          <a:lstStyle/>
          <a:p>
            <a:endParaRPr lang="ja-JP"/>
          </a:p>
        </p:txBody>
      </p:sp>
      <p:sp>
        <p:nvSpPr>
          <p:cNvPr id="410" name="M411"/>
          <p:cNvSpPr/>
          <p:nvPr/>
        </p:nvSpPr>
        <p:spPr>
          <a:xfrm>
            <a:off x="6591300" y="2616200"/>
            <a:ext cx="330200" cy="330200"/>
          </a:xfrm>
          <a:prstGeom prst="ellipse">
            <a:avLst/>
          </a:prstGeom>
          <a:solidFill>
            <a:srgbClr val="8A2E3B"/>
          </a:solidFill>
          <a:ln>
            <a:noFill/>
          </a:ln>
        </p:spPr>
        <p:txBody>
          <a:bodyPr/>
          <a:lstStyle/>
          <a:p>
            <a:endParaRPr lang="ja-JP"/>
          </a:p>
        </p:txBody>
      </p:sp>
      <p:sp>
        <p:nvSpPr>
          <p:cNvPr id="411" name="MT412"/>
          <p:cNvSpPr txBox="1"/>
          <p:nvPr/>
        </p:nvSpPr>
        <p:spPr>
          <a:xfrm>
            <a:off x="6591300" y="2616200"/>
            <a:ext cx="330200" cy="330200"/>
          </a:xfrm>
          <a:prstGeom prst="rect">
            <a:avLst/>
          </a:prstGeom>
          <a:noFill/>
        </p:spPr>
        <p:txBody>
          <a:bodyPr wrap="square" lIns="0" tIns="0" rIns="0" bIns="0" anchor="ctr"/>
          <a:lstStyle/>
          <a:p>
            <a:pPr marL="0" indent="0" algn="ctr">
              <a:lnSpc>
                <a:spcPct val="112000"/>
              </a:lnSpc>
              <a:buNone/>
            </a:pPr>
            <a:r>
              <a:rPr lang="ja-JP" altLang="en-US" sz="1200" b="1" i="0" dirty="0">
                <a:solidFill>
                  <a:srgbClr val="FFFFFF"/>
                </a:solidFill>
              </a:rPr>
              <a:t>2</a:t>
            </a:r>
          </a:p>
        </p:txBody>
      </p:sp>
      <p:sp>
        <p:nvSpPr>
          <p:cNvPr id="412" name="MT413"/>
          <p:cNvSpPr txBox="1"/>
          <p:nvPr/>
        </p:nvSpPr>
        <p:spPr>
          <a:xfrm>
            <a:off x="7073900" y="2616200"/>
            <a:ext cx="4394200" cy="254000"/>
          </a:xfrm>
          <a:prstGeom prst="rect">
            <a:avLst/>
          </a:prstGeom>
          <a:noFill/>
        </p:spPr>
        <p:txBody>
          <a:bodyPr wrap="square" lIns="0" tIns="0" rIns="0" bIns="0" anchor="t"/>
          <a:lstStyle/>
          <a:p>
            <a:pPr marL="0" indent="0" algn="l">
              <a:lnSpc>
                <a:spcPct val="112000"/>
              </a:lnSpc>
              <a:buNone/>
            </a:pPr>
            <a:r>
              <a:rPr lang="ja-JP" altLang="en-US" sz="1350" b="1" i="0" dirty="0">
                <a:solidFill>
                  <a:srgbClr val="1F3556"/>
                </a:solidFill>
              </a:rPr>
              <a:t>強さの地図</a:t>
            </a:r>
            <a:r>
              <a:rPr lang="ja-JP" altLang="en-US" sz="1250" b="1" i="0" dirty="0">
                <a:solidFill>
                  <a:srgbClr val="8A2E3B"/>
                </a:solidFill>
              </a:rPr>
              <a:t>　Z_th = [Y⁻¹]ii</a:t>
            </a:r>
          </a:p>
        </p:txBody>
      </p:sp>
      <p:sp>
        <p:nvSpPr>
          <p:cNvPr id="413" name="MT414"/>
          <p:cNvSpPr txBox="1"/>
          <p:nvPr/>
        </p:nvSpPr>
        <p:spPr>
          <a:xfrm>
            <a:off x="7073900" y="2946400"/>
            <a:ext cx="4394200" cy="304800"/>
          </a:xfrm>
          <a:prstGeom prst="rect">
            <a:avLst/>
          </a:prstGeom>
          <a:noFill/>
        </p:spPr>
        <p:txBody>
          <a:bodyPr wrap="square" lIns="0" tIns="0" rIns="0" bIns="0" anchor="t"/>
          <a:lstStyle/>
          <a:p>
            <a:pPr marL="0" indent="0" algn="l">
              <a:lnSpc>
                <a:spcPct val="112000"/>
              </a:lnSpc>
              <a:buNone/>
            </a:pPr>
            <a:r>
              <a:rPr lang="ja-JP" altLang="en-US" sz="1200" b="0" i="0" dirty="0">
                <a:solidFill>
                  <a:srgbClr val="333F52"/>
                </a:solidFill>
              </a:rPr>
              <a:t>物理帯に整合（896–2,207 MVA）</a:t>
            </a:r>
          </a:p>
        </p:txBody>
      </p:sp>
      <p:sp>
        <p:nvSpPr>
          <p:cNvPr id="414" name="M415"/>
          <p:cNvSpPr/>
          <p:nvPr/>
        </p:nvSpPr>
        <p:spPr>
          <a:xfrm>
            <a:off x="6413500" y="3530600"/>
            <a:ext cx="5232400" cy="1016000"/>
          </a:xfrm>
          <a:prstGeom prst="rect">
            <a:avLst/>
          </a:prstGeom>
          <a:solidFill>
            <a:srgbClr val="F2F5F9"/>
          </a:solidFill>
          <a:ln>
            <a:noFill/>
          </a:ln>
        </p:spPr>
        <p:txBody>
          <a:bodyPr/>
          <a:lstStyle/>
          <a:p>
            <a:endParaRPr lang="ja-JP"/>
          </a:p>
        </p:txBody>
      </p:sp>
      <p:sp>
        <p:nvSpPr>
          <p:cNvPr id="415" name="M416"/>
          <p:cNvSpPr/>
          <p:nvPr/>
        </p:nvSpPr>
        <p:spPr>
          <a:xfrm>
            <a:off x="6413500" y="3530600"/>
            <a:ext cx="5232400" cy="38100"/>
          </a:xfrm>
          <a:prstGeom prst="rect">
            <a:avLst/>
          </a:prstGeom>
          <a:solidFill>
            <a:srgbClr val="8A2E3B"/>
          </a:solidFill>
          <a:ln>
            <a:noFill/>
          </a:ln>
        </p:spPr>
        <p:txBody>
          <a:bodyPr/>
          <a:lstStyle/>
          <a:p>
            <a:endParaRPr lang="ja-JP"/>
          </a:p>
        </p:txBody>
      </p:sp>
      <p:sp>
        <p:nvSpPr>
          <p:cNvPr id="416" name="M417"/>
          <p:cNvSpPr/>
          <p:nvPr/>
        </p:nvSpPr>
        <p:spPr>
          <a:xfrm>
            <a:off x="6591300" y="3733800"/>
            <a:ext cx="330200" cy="330200"/>
          </a:xfrm>
          <a:prstGeom prst="ellipse">
            <a:avLst/>
          </a:prstGeom>
          <a:solidFill>
            <a:srgbClr val="8A2E3B"/>
          </a:solidFill>
          <a:ln>
            <a:noFill/>
          </a:ln>
        </p:spPr>
        <p:txBody>
          <a:bodyPr/>
          <a:lstStyle/>
          <a:p>
            <a:endParaRPr lang="ja-JP"/>
          </a:p>
        </p:txBody>
      </p:sp>
      <p:sp>
        <p:nvSpPr>
          <p:cNvPr id="417" name="MT418"/>
          <p:cNvSpPr txBox="1"/>
          <p:nvPr/>
        </p:nvSpPr>
        <p:spPr>
          <a:xfrm>
            <a:off x="6591300" y="3733800"/>
            <a:ext cx="330200" cy="330200"/>
          </a:xfrm>
          <a:prstGeom prst="rect">
            <a:avLst/>
          </a:prstGeom>
          <a:noFill/>
        </p:spPr>
        <p:txBody>
          <a:bodyPr wrap="square" lIns="0" tIns="0" rIns="0" bIns="0" anchor="ctr"/>
          <a:lstStyle/>
          <a:p>
            <a:pPr marL="0" indent="0" algn="ctr">
              <a:lnSpc>
                <a:spcPct val="112000"/>
              </a:lnSpc>
              <a:buNone/>
            </a:pPr>
            <a:r>
              <a:rPr lang="ja-JP" altLang="en-US" sz="1200" b="1" i="0" dirty="0">
                <a:solidFill>
                  <a:srgbClr val="FFFFFF"/>
                </a:solidFill>
              </a:rPr>
              <a:t>3</a:t>
            </a:r>
          </a:p>
        </p:txBody>
      </p:sp>
      <p:sp>
        <p:nvSpPr>
          <p:cNvPr id="418" name="MT419"/>
          <p:cNvSpPr txBox="1"/>
          <p:nvPr/>
        </p:nvSpPr>
        <p:spPr>
          <a:xfrm>
            <a:off x="7073900" y="3733800"/>
            <a:ext cx="4394200" cy="254000"/>
          </a:xfrm>
          <a:prstGeom prst="rect">
            <a:avLst/>
          </a:prstGeom>
          <a:noFill/>
        </p:spPr>
        <p:txBody>
          <a:bodyPr wrap="square" lIns="0" tIns="0" rIns="0" bIns="0" anchor="t"/>
          <a:lstStyle/>
          <a:p>
            <a:pPr marL="0" indent="0" algn="l">
              <a:lnSpc>
                <a:spcPct val="112000"/>
              </a:lnSpc>
              <a:buNone/>
            </a:pPr>
            <a:r>
              <a:rPr lang="ja-JP" altLang="en-US" sz="1350" b="1" i="0" dirty="0">
                <a:solidFill>
                  <a:srgbClr val="1F3556"/>
                </a:solidFill>
              </a:rPr>
              <a:t>揺れのモード</a:t>
            </a:r>
            <a:r>
              <a:rPr lang="ja-JP" altLang="en-US" sz="1250" b="1" i="0" dirty="0">
                <a:solidFill>
                  <a:srgbClr val="8A2E3B"/>
                </a:solidFill>
              </a:rPr>
              <a:t>　M⁻¹K</a:t>
            </a:r>
          </a:p>
        </p:txBody>
      </p:sp>
      <p:sp>
        <p:nvSpPr>
          <p:cNvPr id="419" name="MT420"/>
          <p:cNvSpPr txBox="1"/>
          <p:nvPr/>
        </p:nvSpPr>
        <p:spPr>
          <a:xfrm>
            <a:off x="7073900" y="4064000"/>
            <a:ext cx="4394200" cy="304800"/>
          </a:xfrm>
          <a:prstGeom prst="rect">
            <a:avLst/>
          </a:prstGeom>
          <a:noFill/>
        </p:spPr>
        <p:txBody>
          <a:bodyPr wrap="square" lIns="0" tIns="0" rIns="0" bIns="0" anchor="t"/>
          <a:lstStyle/>
          <a:p>
            <a:pPr marL="0" indent="0" algn="l">
              <a:lnSpc>
                <a:spcPct val="112000"/>
              </a:lnSpc>
              <a:buNone/>
            </a:pPr>
            <a:r>
              <a:rPr lang="ja-JP" altLang="en-US" sz="1200" b="0" i="0" dirty="0">
                <a:solidFill>
                  <a:srgbClr val="333F52"/>
                </a:solidFill>
              </a:rPr>
              <a:t>文献の 0.4 Hz を再現（0.434 Hz）</a:t>
            </a:r>
          </a:p>
        </p:txBody>
      </p:sp>
      <p:sp>
        <p:nvSpPr>
          <p:cNvPr id="420" name="M421"/>
          <p:cNvSpPr/>
          <p:nvPr/>
        </p:nvSpPr>
        <p:spPr>
          <a:xfrm>
            <a:off x="6413500" y="4648200"/>
            <a:ext cx="5232400" cy="1016000"/>
          </a:xfrm>
          <a:prstGeom prst="rect">
            <a:avLst/>
          </a:prstGeom>
          <a:solidFill>
            <a:srgbClr val="F2F5F9"/>
          </a:solidFill>
          <a:ln>
            <a:noFill/>
          </a:ln>
        </p:spPr>
        <p:txBody>
          <a:bodyPr/>
          <a:lstStyle/>
          <a:p>
            <a:endParaRPr lang="ja-JP"/>
          </a:p>
        </p:txBody>
      </p:sp>
      <p:sp>
        <p:nvSpPr>
          <p:cNvPr id="421" name="M422"/>
          <p:cNvSpPr/>
          <p:nvPr/>
        </p:nvSpPr>
        <p:spPr>
          <a:xfrm>
            <a:off x="6413500" y="4648200"/>
            <a:ext cx="5232400" cy="38100"/>
          </a:xfrm>
          <a:prstGeom prst="rect">
            <a:avLst/>
          </a:prstGeom>
          <a:solidFill>
            <a:srgbClr val="8A2E3B"/>
          </a:solidFill>
          <a:ln>
            <a:noFill/>
          </a:ln>
        </p:spPr>
        <p:txBody>
          <a:bodyPr/>
          <a:lstStyle/>
          <a:p>
            <a:endParaRPr lang="ja-JP"/>
          </a:p>
        </p:txBody>
      </p:sp>
      <p:sp>
        <p:nvSpPr>
          <p:cNvPr id="422" name="M423"/>
          <p:cNvSpPr/>
          <p:nvPr/>
        </p:nvSpPr>
        <p:spPr>
          <a:xfrm>
            <a:off x="6591300" y="4851400"/>
            <a:ext cx="330200" cy="330200"/>
          </a:xfrm>
          <a:prstGeom prst="ellipse">
            <a:avLst/>
          </a:prstGeom>
          <a:solidFill>
            <a:srgbClr val="8A2E3B"/>
          </a:solidFill>
          <a:ln>
            <a:noFill/>
          </a:ln>
        </p:spPr>
        <p:txBody>
          <a:bodyPr/>
          <a:lstStyle/>
          <a:p>
            <a:endParaRPr lang="ja-JP"/>
          </a:p>
        </p:txBody>
      </p:sp>
      <p:sp>
        <p:nvSpPr>
          <p:cNvPr id="423" name="MT424"/>
          <p:cNvSpPr txBox="1"/>
          <p:nvPr/>
        </p:nvSpPr>
        <p:spPr>
          <a:xfrm>
            <a:off x="6591300" y="4851400"/>
            <a:ext cx="330200" cy="330200"/>
          </a:xfrm>
          <a:prstGeom prst="rect">
            <a:avLst/>
          </a:prstGeom>
          <a:noFill/>
        </p:spPr>
        <p:txBody>
          <a:bodyPr wrap="square" lIns="0" tIns="0" rIns="0" bIns="0" anchor="ctr"/>
          <a:lstStyle/>
          <a:p>
            <a:pPr marL="0" indent="0" algn="ctr">
              <a:lnSpc>
                <a:spcPct val="112000"/>
              </a:lnSpc>
              <a:buNone/>
            </a:pPr>
            <a:r>
              <a:rPr lang="ja-JP" altLang="en-US" sz="1200" b="1" i="0" dirty="0">
                <a:solidFill>
                  <a:srgbClr val="FFFFFF"/>
                </a:solidFill>
              </a:rPr>
              <a:t>4</a:t>
            </a:r>
          </a:p>
        </p:txBody>
      </p:sp>
      <p:sp>
        <p:nvSpPr>
          <p:cNvPr id="424" name="MT425"/>
          <p:cNvSpPr txBox="1"/>
          <p:nvPr/>
        </p:nvSpPr>
        <p:spPr>
          <a:xfrm>
            <a:off x="7073900" y="4851400"/>
            <a:ext cx="4394200" cy="254000"/>
          </a:xfrm>
          <a:prstGeom prst="rect">
            <a:avLst/>
          </a:prstGeom>
          <a:noFill/>
        </p:spPr>
        <p:txBody>
          <a:bodyPr wrap="square" lIns="0" tIns="0" rIns="0" bIns="0" anchor="t"/>
          <a:lstStyle/>
          <a:p>
            <a:pPr marL="0" indent="0" algn="l">
              <a:lnSpc>
                <a:spcPct val="112000"/>
              </a:lnSpc>
              <a:buNone/>
            </a:pPr>
            <a:r>
              <a:rPr lang="ja-JP" altLang="en-US" sz="1350" b="1" i="0" dirty="0">
                <a:solidFill>
                  <a:srgbClr val="1F3556"/>
                </a:solidFill>
              </a:rPr>
              <a:t>次の一手</a:t>
            </a:r>
            <a:r>
              <a:rPr lang="ja-JP" altLang="en-US" sz="1250" b="1" i="0" dirty="0">
                <a:solidFill>
                  <a:srgbClr val="8A2E3B"/>
                </a:solidFill>
              </a:rPr>
              <a:t>　Z_grid / Z_inv</a:t>
            </a:r>
          </a:p>
        </p:txBody>
      </p:sp>
      <p:sp>
        <p:nvSpPr>
          <p:cNvPr id="425" name="MT426"/>
          <p:cNvSpPr txBox="1"/>
          <p:nvPr/>
        </p:nvSpPr>
        <p:spPr>
          <a:xfrm>
            <a:off x="7073900" y="5181600"/>
            <a:ext cx="4394200" cy="304800"/>
          </a:xfrm>
          <a:prstGeom prst="rect">
            <a:avLst/>
          </a:prstGeom>
          <a:noFill/>
        </p:spPr>
        <p:txBody>
          <a:bodyPr wrap="square" lIns="0" tIns="0" rIns="0" bIns="0" anchor="t"/>
          <a:lstStyle/>
          <a:p>
            <a:pPr marL="0" indent="0" algn="l">
              <a:lnSpc>
                <a:spcPct val="112000"/>
              </a:lnSpc>
              <a:buNone/>
            </a:pPr>
            <a:r>
              <a:rPr lang="ja-JP" altLang="en-US" sz="1200" b="0" i="0" dirty="0">
                <a:solidFill>
                  <a:srgbClr val="333F52"/>
                </a:solidFill>
              </a:rPr>
              <a:t>IBR（インバータ電源）の安定性判定へ</a:t>
            </a:r>
          </a:p>
        </p:txBody>
      </p:sp>
      <p:sp>
        <p:nvSpPr>
          <p:cNvPr id="426" name="MT427"/>
          <p:cNvSpPr txBox="1"/>
          <p:nvPr/>
        </p:nvSpPr>
        <p:spPr>
          <a:xfrm>
            <a:off x="6413500" y="5867400"/>
            <a:ext cx="5232400" cy="254000"/>
          </a:xfrm>
          <a:prstGeom prst="rect">
            <a:avLst/>
          </a:prstGeom>
          <a:noFill/>
        </p:spPr>
        <p:txBody>
          <a:bodyPr wrap="square" lIns="0" tIns="0" rIns="0" bIns="0" anchor="t"/>
          <a:lstStyle/>
          <a:p>
            <a:pPr marL="0" indent="0" algn="l">
              <a:lnSpc>
                <a:spcPct val="112000"/>
              </a:lnSpc>
              <a:buNone/>
            </a:pPr>
            <a:r>
              <a:rPr lang="ja-JP" altLang="en-US" sz="1200" b="1" i="0" dirty="0">
                <a:solidFill>
                  <a:srgbClr val="1F3556"/>
                </a:solidFill>
              </a:rPr>
              <a:t>github.com/lutelute/All-Japan-Grid — 出典付き・帳簿駆動・全再現可能</a:t>
            </a:r>
          </a:p>
        </p:txBody>
      </p:sp>
      <p:sp>
        <p:nvSpPr>
          <p:cNvPr id="1200" name="GP1201"/>
          <p:cNvSpPr/>
          <p:nvPr/>
        </p:nvSpPr>
        <p:spPr>
          <a:xfrm>
            <a:off x="10617200" y="1549400"/>
            <a:ext cx="355600" cy="177800"/>
          </a:xfrm>
          <a:custGeom>
            <a:avLst/>
            <a:gdLst/>
            <a:ahLst/>
            <a:cxnLst/>
            <a:rect l="0" t="0" r="r" b="b"/>
            <a:pathLst>
              <a:path w="355600" h="177800">
                <a:moveTo>
                  <a:pt x="0" y="0"/>
                </a:moveTo>
                <a:lnTo>
                  <a:pt x="355600" y="177800"/>
                </a:lnTo>
              </a:path>
            </a:pathLst>
          </a:custGeom>
          <a:noFill/>
          <a:ln w="12700" cap="rnd">
            <a:solidFill>
              <a:srgbClr val="1F3556"/>
            </a:solidFill>
            <a:round/>
          </a:ln>
        </p:spPr>
        <p:txBody>
          <a:bodyPr/>
          <a:lstStyle/>
          <a:p>
            <a:endParaRPr lang="ja-JP"/>
          </a:p>
        </p:txBody>
      </p:sp>
      <p:sp>
        <p:nvSpPr>
          <p:cNvPr id="1201" name="GP1202"/>
          <p:cNvSpPr/>
          <p:nvPr/>
        </p:nvSpPr>
        <p:spPr>
          <a:xfrm>
            <a:off x="10617200" y="1549400"/>
            <a:ext cx="279400" cy="457200"/>
          </a:xfrm>
          <a:custGeom>
            <a:avLst/>
            <a:gdLst/>
            <a:ahLst/>
            <a:cxnLst/>
            <a:rect l="0" t="0" r="r" b="b"/>
            <a:pathLst>
              <a:path w="279400" h="457200">
                <a:moveTo>
                  <a:pt x="0" y="0"/>
                </a:moveTo>
                <a:lnTo>
                  <a:pt x="279400" y="457200"/>
                </a:lnTo>
              </a:path>
            </a:pathLst>
          </a:custGeom>
          <a:noFill/>
          <a:ln w="12700" cap="rnd">
            <a:solidFill>
              <a:srgbClr val="1F3556"/>
            </a:solidFill>
            <a:round/>
          </a:ln>
        </p:spPr>
        <p:txBody>
          <a:bodyPr/>
          <a:lstStyle/>
          <a:p>
            <a:endParaRPr lang="ja-JP"/>
          </a:p>
        </p:txBody>
      </p:sp>
      <p:sp>
        <p:nvSpPr>
          <p:cNvPr id="1202" name="GP1203"/>
          <p:cNvSpPr/>
          <p:nvPr/>
        </p:nvSpPr>
        <p:spPr>
          <a:xfrm>
            <a:off x="10896600" y="1727200"/>
            <a:ext cx="76200" cy="279400"/>
          </a:xfrm>
          <a:custGeom>
            <a:avLst/>
            <a:gdLst/>
            <a:ahLst/>
            <a:cxnLst/>
            <a:rect l="0" t="0" r="r" b="b"/>
            <a:pathLst>
              <a:path w="76200" h="279400">
                <a:moveTo>
                  <a:pt x="76200" y="0"/>
                </a:moveTo>
                <a:lnTo>
                  <a:pt x="0" y="279400"/>
                </a:lnTo>
              </a:path>
            </a:pathLst>
          </a:custGeom>
          <a:noFill/>
          <a:ln w="12700" cap="rnd">
            <a:solidFill>
              <a:srgbClr val="1F3556"/>
            </a:solidFill>
            <a:round/>
          </a:ln>
        </p:spPr>
        <p:txBody>
          <a:bodyPr/>
          <a:lstStyle/>
          <a:p>
            <a:endParaRPr lang="ja-JP"/>
          </a:p>
        </p:txBody>
      </p:sp>
      <p:sp>
        <p:nvSpPr>
          <p:cNvPr id="1203" name="GP1204"/>
          <p:cNvSpPr/>
          <p:nvPr/>
        </p:nvSpPr>
        <p:spPr>
          <a:xfrm>
            <a:off x="10972800" y="1727200"/>
            <a:ext cx="431800" cy="101600"/>
          </a:xfrm>
          <a:custGeom>
            <a:avLst/>
            <a:gdLst/>
            <a:ahLst/>
            <a:cxnLst/>
            <a:rect l="0" t="0" r="r" b="b"/>
            <a:pathLst>
              <a:path w="431800" h="101600">
                <a:moveTo>
                  <a:pt x="0" y="0"/>
                </a:moveTo>
                <a:lnTo>
                  <a:pt x="431800" y="101600"/>
                </a:lnTo>
              </a:path>
            </a:pathLst>
          </a:custGeom>
          <a:noFill/>
          <a:ln w="12700" cap="rnd">
            <a:solidFill>
              <a:srgbClr val="1F3556"/>
            </a:solidFill>
            <a:round/>
          </a:ln>
        </p:spPr>
        <p:txBody>
          <a:bodyPr/>
          <a:lstStyle/>
          <a:p>
            <a:endParaRPr lang="ja-JP"/>
          </a:p>
        </p:txBody>
      </p:sp>
      <p:sp>
        <p:nvSpPr>
          <p:cNvPr id="1204" name="GP1205"/>
          <p:cNvSpPr/>
          <p:nvPr/>
        </p:nvSpPr>
        <p:spPr>
          <a:xfrm>
            <a:off x="10896600" y="1828800"/>
            <a:ext cx="508000" cy="177800"/>
          </a:xfrm>
          <a:custGeom>
            <a:avLst/>
            <a:gdLst/>
            <a:ahLst/>
            <a:cxnLst/>
            <a:rect l="0" t="0" r="r" b="b"/>
            <a:pathLst>
              <a:path w="508000" h="177800">
                <a:moveTo>
                  <a:pt x="0" y="177800"/>
                </a:moveTo>
                <a:lnTo>
                  <a:pt x="508000" y="0"/>
                </a:lnTo>
              </a:path>
            </a:pathLst>
          </a:custGeom>
          <a:noFill/>
          <a:ln w="12700" cap="rnd">
            <a:solidFill>
              <a:srgbClr val="1F3556"/>
            </a:solidFill>
            <a:round/>
          </a:ln>
        </p:spPr>
        <p:txBody>
          <a:bodyPr/>
          <a:lstStyle/>
          <a:p>
            <a:endParaRPr lang="ja-JP"/>
          </a:p>
        </p:txBody>
      </p:sp>
      <p:sp>
        <p:nvSpPr>
          <p:cNvPr id="1205" name="G1206"/>
          <p:cNvSpPr/>
          <p:nvPr/>
        </p:nvSpPr>
        <p:spPr>
          <a:xfrm>
            <a:off x="10553700" y="1485900"/>
            <a:ext cx="127000" cy="127000"/>
          </a:xfrm>
          <a:prstGeom prst="ellipse">
            <a:avLst/>
          </a:prstGeom>
          <a:solidFill>
            <a:srgbClr val="1F3556"/>
          </a:solidFill>
          <a:ln>
            <a:noFill/>
          </a:ln>
        </p:spPr>
        <p:txBody>
          <a:bodyPr/>
          <a:lstStyle/>
          <a:p>
            <a:endParaRPr lang="ja-JP"/>
          </a:p>
        </p:txBody>
      </p:sp>
      <p:sp>
        <p:nvSpPr>
          <p:cNvPr id="1206" name="G1207"/>
          <p:cNvSpPr/>
          <p:nvPr/>
        </p:nvSpPr>
        <p:spPr>
          <a:xfrm>
            <a:off x="10909300" y="1663700"/>
            <a:ext cx="127000" cy="127000"/>
          </a:xfrm>
          <a:prstGeom prst="ellipse">
            <a:avLst/>
          </a:prstGeom>
          <a:solidFill>
            <a:srgbClr val="1F3556"/>
          </a:solidFill>
          <a:ln>
            <a:noFill/>
          </a:ln>
        </p:spPr>
        <p:txBody>
          <a:bodyPr/>
          <a:lstStyle/>
          <a:p>
            <a:endParaRPr lang="ja-JP"/>
          </a:p>
        </p:txBody>
      </p:sp>
      <p:sp>
        <p:nvSpPr>
          <p:cNvPr id="1207" name="G1208"/>
          <p:cNvSpPr/>
          <p:nvPr/>
        </p:nvSpPr>
        <p:spPr>
          <a:xfrm>
            <a:off x="10833100" y="1943100"/>
            <a:ext cx="127000" cy="127000"/>
          </a:xfrm>
          <a:prstGeom prst="ellipse">
            <a:avLst/>
          </a:prstGeom>
          <a:solidFill>
            <a:srgbClr val="1F3556"/>
          </a:solidFill>
          <a:ln>
            <a:noFill/>
          </a:ln>
        </p:spPr>
        <p:txBody>
          <a:bodyPr/>
          <a:lstStyle/>
          <a:p>
            <a:endParaRPr lang="ja-JP"/>
          </a:p>
        </p:txBody>
      </p:sp>
      <p:sp>
        <p:nvSpPr>
          <p:cNvPr id="1208" name="G1209"/>
          <p:cNvSpPr/>
          <p:nvPr/>
        </p:nvSpPr>
        <p:spPr>
          <a:xfrm>
            <a:off x="11341100" y="1765300"/>
            <a:ext cx="127000" cy="127000"/>
          </a:xfrm>
          <a:prstGeom prst="ellipse">
            <a:avLst/>
          </a:prstGeom>
          <a:solidFill>
            <a:srgbClr val="1F3556"/>
          </a:solidFill>
          <a:ln>
            <a:noFill/>
          </a:ln>
        </p:spPr>
        <p:txBody>
          <a:bodyPr/>
          <a:lstStyle/>
          <a:p>
            <a:endParaRPr lang="ja-JP"/>
          </a:p>
        </p:txBody>
      </p:sp>
      <p:sp>
        <p:nvSpPr>
          <p:cNvPr id="1209" name="G1210"/>
          <p:cNvSpPr/>
          <p:nvPr/>
        </p:nvSpPr>
        <p:spPr>
          <a:xfrm>
            <a:off x="10566400" y="2794000"/>
            <a:ext cx="228600" cy="228600"/>
          </a:xfrm>
          <a:prstGeom prst="ellipse">
            <a:avLst/>
          </a:prstGeom>
          <a:noFill/>
          <a:ln w="15875">
            <a:solidFill>
              <a:srgbClr val="1F3556"/>
            </a:solidFill>
          </a:ln>
        </p:spPr>
        <p:txBody>
          <a:bodyPr/>
          <a:lstStyle/>
          <a:p>
            <a:endParaRPr lang="ja-JP"/>
          </a:p>
        </p:txBody>
      </p:sp>
      <p:sp>
        <p:nvSpPr>
          <p:cNvPr id="1210" name="GP1211"/>
          <p:cNvSpPr/>
          <p:nvPr/>
        </p:nvSpPr>
        <p:spPr>
          <a:xfrm>
            <a:off x="10795000" y="2908300"/>
            <a:ext cx="152400" cy="12700"/>
          </a:xfrm>
          <a:custGeom>
            <a:avLst/>
            <a:gdLst/>
            <a:ahLst/>
            <a:cxnLst/>
            <a:rect l="0" t="0" r="r" b="b"/>
            <a:pathLst>
              <a:path w="152400" h="12700">
                <a:moveTo>
                  <a:pt x="0" y="0"/>
                </a:moveTo>
                <a:lnTo>
                  <a:pt x="152400" y="0"/>
                </a:lnTo>
              </a:path>
            </a:pathLst>
          </a:custGeom>
          <a:noFill/>
          <a:ln w="12700" cap="rnd">
            <a:solidFill>
              <a:srgbClr val="1F3556"/>
            </a:solidFill>
            <a:round/>
          </a:ln>
        </p:spPr>
        <p:txBody>
          <a:bodyPr/>
          <a:lstStyle/>
          <a:p>
            <a:endParaRPr lang="ja-JP"/>
          </a:p>
        </p:txBody>
      </p:sp>
      <p:sp>
        <p:nvSpPr>
          <p:cNvPr id="1211" name="G1212"/>
          <p:cNvSpPr/>
          <p:nvPr/>
        </p:nvSpPr>
        <p:spPr>
          <a:xfrm>
            <a:off x="10947400" y="2806700"/>
            <a:ext cx="431800" cy="203200"/>
          </a:xfrm>
          <a:prstGeom prst="rect">
            <a:avLst/>
          </a:prstGeom>
          <a:noFill/>
          <a:ln w="15875">
            <a:solidFill>
              <a:srgbClr val="1F3556"/>
            </a:solidFill>
          </a:ln>
        </p:spPr>
        <p:txBody>
          <a:bodyPr/>
          <a:lstStyle/>
          <a:p>
            <a:endParaRPr lang="ja-JP"/>
          </a:p>
        </p:txBody>
      </p:sp>
      <p:sp>
        <p:nvSpPr>
          <p:cNvPr id="1212" name="GP1213"/>
          <p:cNvSpPr/>
          <p:nvPr/>
        </p:nvSpPr>
        <p:spPr>
          <a:xfrm>
            <a:off x="11379200" y="2908300"/>
            <a:ext cx="101600" cy="12700"/>
          </a:xfrm>
          <a:custGeom>
            <a:avLst/>
            <a:gdLst/>
            <a:ahLst/>
            <a:cxnLst/>
            <a:rect l="0" t="0" r="r" b="b"/>
            <a:pathLst>
              <a:path w="101600" h="12700">
                <a:moveTo>
                  <a:pt x="0" y="0"/>
                </a:moveTo>
                <a:lnTo>
                  <a:pt x="101600" y="0"/>
                </a:lnTo>
              </a:path>
            </a:pathLst>
          </a:custGeom>
          <a:noFill/>
          <a:ln w="12700" cap="rnd">
            <a:solidFill>
              <a:srgbClr val="1F3556"/>
            </a:solidFill>
            <a:round/>
          </a:ln>
        </p:spPr>
        <p:txBody>
          <a:bodyPr/>
          <a:lstStyle/>
          <a:p>
            <a:endParaRPr lang="ja-JP"/>
          </a:p>
        </p:txBody>
      </p:sp>
      <p:sp>
        <p:nvSpPr>
          <p:cNvPr id="1213" name="GP1214"/>
          <p:cNvSpPr/>
          <p:nvPr/>
        </p:nvSpPr>
        <p:spPr>
          <a:xfrm>
            <a:off x="11480800" y="2743200"/>
            <a:ext cx="12700" cy="330200"/>
          </a:xfrm>
          <a:custGeom>
            <a:avLst/>
            <a:gdLst/>
            <a:ahLst/>
            <a:cxnLst/>
            <a:rect l="0" t="0" r="r" b="b"/>
            <a:pathLst>
              <a:path w="12700" h="330200">
                <a:moveTo>
                  <a:pt x="0" y="0"/>
                </a:moveTo>
                <a:lnTo>
                  <a:pt x="0" y="330200"/>
                </a:lnTo>
              </a:path>
            </a:pathLst>
          </a:custGeom>
          <a:noFill/>
          <a:ln w="19050" cap="rnd">
            <a:solidFill>
              <a:srgbClr val="1F3556"/>
            </a:solidFill>
            <a:round/>
          </a:ln>
        </p:spPr>
        <p:txBody>
          <a:bodyPr/>
          <a:lstStyle/>
          <a:p>
            <a:endParaRPr lang="ja-JP"/>
          </a:p>
        </p:txBody>
      </p:sp>
      <p:sp>
        <p:nvSpPr>
          <p:cNvPr id="1214" name="G1215"/>
          <p:cNvSpPr/>
          <p:nvPr/>
        </p:nvSpPr>
        <p:spPr>
          <a:xfrm>
            <a:off x="10541000" y="3937000"/>
            <a:ext cx="203200" cy="203200"/>
          </a:xfrm>
          <a:prstGeom prst="ellipse">
            <a:avLst/>
          </a:prstGeom>
          <a:solidFill>
            <a:srgbClr val="2F6FB5"/>
          </a:solidFill>
          <a:ln>
            <a:noFill/>
          </a:ln>
        </p:spPr>
        <p:txBody>
          <a:bodyPr/>
          <a:lstStyle/>
          <a:p>
            <a:endParaRPr lang="ja-JP"/>
          </a:p>
        </p:txBody>
      </p:sp>
      <p:sp>
        <p:nvSpPr>
          <p:cNvPr id="1215" name="G1216"/>
          <p:cNvSpPr/>
          <p:nvPr/>
        </p:nvSpPr>
        <p:spPr>
          <a:xfrm>
            <a:off x="11303000" y="3937000"/>
            <a:ext cx="203200" cy="203200"/>
          </a:xfrm>
          <a:prstGeom prst="ellipse">
            <a:avLst/>
          </a:prstGeom>
          <a:solidFill>
            <a:srgbClr val="8A2E3B"/>
          </a:solidFill>
          <a:ln>
            <a:noFill/>
          </a:ln>
        </p:spPr>
        <p:txBody>
          <a:bodyPr/>
          <a:lstStyle/>
          <a:p>
            <a:endParaRPr lang="ja-JP"/>
          </a:p>
        </p:txBody>
      </p:sp>
      <p:sp>
        <p:nvSpPr>
          <p:cNvPr id="1216" name="GP1217"/>
          <p:cNvSpPr/>
          <p:nvPr/>
        </p:nvSpPr>
        <p:spPr>
          <a:xfrm>
            <a:off x="10744200" y="3937000"/>
            <a:ext cx="558800" cy="203200"/>
          </a:xfrm>
          <a:custGeom>
            <a:avLst/>
            <a:gdLst/>
            <a:ahLst/>
            <a:cxnLst/>
            <a:rect l="0" t="0" r="r" b="b"/>
            <a:pathLst>
              <a:path w="558800" h="203200">
                <a:moveTo>
                  <a:pt x="0" y="101600"/>
                </a:moveTo>
                <a:lnTo>
                  <a:pt x="76200" y="0"/>
                </a:lnTo>
                <a:lnTo>
                  <a:pt x="152400" y="203200"/>
                </a:lnTo>
                <a:lnTo>
                  <a:pt x="228600" y="0"/>
                </a:lnTo>
                <a:lnTo>
                  <a:pt x="304800" y="203200"/>
                </a:lnTo>
                <a:lnTo>
                  <a:pt x="381000" y="0"/>
                </a:lnTo>
                <a:lnTo>
                  <a:pt x="457200" y="203200"/>
                </a:lnTo>
                <a:lnTo>
                  <a:pt x="558800" y="101600"/>
                </a:lnTo>
              </a:path>
            </a:pathLst>
          </a:custGeom>
          <a:noFill/>
          <a:ln w="15875" cap="rnd">
            <a:solidFill>
              <a:srgbClr val="1F3556"/>
            </a:solidFill>
            <a:round/>
          </a:ln>
        </p:spPr>
        <p:txBody>
          <a:bodyPr/>
          <a:lstStyle/>
          <a:p>
            <a:endParaRPr lang="ja-JP"/>
          </a:p>
        </p:txBody>
      </p:sp>
      <p:sp>
        <p:nvSpPr>
          <p:cNvPr id="1217" name="G1218"/>
          <p:cNvSpPr/>
          <p:nvPr/>
        </p:nvSpPr>
        <p:spPr>
          <a:xfrm>
            <a:off x="10693400" y="4927600"/>
            <a:ext cx="787400" cy="431800"/>
          </a:xfrm>
          <a:prstGeom prst="ellipse">
            <a:avLst/>
          </a:prstGeom>
          <a:noFill/>
          <a:ln w="15875">
            <a:solidFill>
              <a:srgbClr val="8A2E3B"/>
            </a:solidFill>
          </a:ln>
        </p:spPr>
        <p:txBody>
          <a:bodyPr/>
          <a:lstStyle/>
          <a:p>
            <a:endParaRPr lang="ja-JP"/>
          </a:p>
        </p:txBody>
      </p:sp>
      <p:sp>
        <p:nvSpPr>
          <p:cNvPr id="1218" name="G1219"/>
          <p:cNvSpPr/>
          <p:nvPr/>
        </p:nvSpPr>
        <p:spPr>
          <a:xfrm>
            <a:off x="10820400" y="5054600"/>
            <a:ext cx="177800" cy="177800"/>
          </a:xfrm>
          <a:prstGeom prst="ellipse">
            <a:avLst/>
          </a:prstGeom>
          <a:noFill/>
          <a:ln w="9525">
            <a:solidFill>
              <a:srgbClr val="1F3556"/>
            </a:solidFill>
          </a:ln>
        </p:spPr>
        <p:txBody>
          <a:bodyPr/>
          <a:lstStyle/>
          <a:p>
            <a:endParaRPr lang="ja-JP"/>
          </a:p>
        </p:txBody>
      </p:sp>
      <p:sp>
        <p:nvSpPr>
          <p:cNvPr id="1219" name="G1220"/>
          <p:cNvSpPr/>
          <p:nvPr/>
        </p:nvSpPr>
        <p:spPr>
          <a:xfrm>
            <a:off x="10617200" y="5105400"/>
            <a:ext cx="88900" cy="88900"/>
          </a:xfrm>
          <a:prstGeom prst="ellipse">
            <a:avLst/>
          </a:prstGeom>
          <a:solidFill>
            <a:srgbClr val="8A2E3B"/>
          </a:solidFill>
          <a:ln>
            <a:noFill/>
          </a:ln>
        </p:spPr>
        <p:txBody>
          <a:bodyPr/>
          <a:lstStyle/>
          <a:p>
            <a:endParaRPr lang="ja-JP"/>
          </a:p>
        </p:txBody>
      </p:sp>
      <p:sp>
        <p:nvSpPr>
          <p:cNvPr id="1220" name="GP1221"/>
          <p:cNvSpPr/>
          <p:nvPr/>
        </p:nvSpPr>
        <p:spPr>
          <a:xfrm>
            <a:off x="10566400" y="5143500"/>
            <a:ext cx="965200" cy="12700"/>
          </a:xfrm>
          <a:custGeom>
            <a:avLst/>
            <a:gdLst/>
            <a:ahLst/>
            <a:cxnLst/>
            <a:rect l="0" t="0" r="r" b="b"/>
            <a:pathLst>
              <a:path w="965200" h="12700">
                <a:moveTo>
                  <a:pt x="0" y="0"/>
                </a:moveTo>
                <a:lnTo>
                  <a:pt x="965200" y="0"/>
                </a:lnTo>
              </a:path>
            </a:pathLst>
          </a:custGeom>
          <a:noFill/>
          <a:ln w="9525" cap="rnd">
            <a:solidFill>
              <a:srgbClr val="C7CEDA"/>
            </a:solidFill>
            <a:round/>
          </a:ln>
        </p:spPr>
        <p:txBody>
          <a:bodyPr/>
          <a:lstStyle/>
          <a:p>
            <a:endParaRPr lang="ja-JP"/>
          </a:p>
        </p:txBody>
      </p:sp>
      <p:sp>
        <p:nvSpPr>
          <p:cNvPr id="1221" name="GP1222"/>
          <p:cNvSpPr/>
          <p:nvPr/>
        </p:nvSpPr>
        <p:spPr>
          <a:xfrm>
            <a:off x="11049000" y="4851400"/>
            <a:ext cx="12700" cy="584200"/>
          </a:xfrm>
          <a:custGeom>
            <a:avLst/>
            <a:gdLst/>
            <a:ahLst/>
            <a:cxnLst/>
            <a:rect l="0" t="0" r="r" b="b"/>
            <a:pathLst>
              <a:path w="12700" h="584200">
                <a:moveTo>
                  <a:pt x="0" y="0"/>
                </a:moveTo>
                <a:lnTo>
                  <a:pt x="0" y="584200"/>
                </a:lnTo>
              </a:path>
            </a:pathLst>
          </a:custGeom>
          <a:noFill/>
          <a:ln w="9525" cap="rnd">
            <a:solidFill>
              <a:srgbClr val="C7CEDA"/>
            </a:solidFill>
            <a:round/>
          </a:ln>
        </p:spPr>
        <p:txBody>
          <a:bodyPr/>
          <a:lstStyle/>
          <a:p>
            <a:endParaRPr lang="ja-JP"/>
          </a:p>
        </p:txBody>
      </p:sp>
    </p:spTree>
    <p:extLst>
      <p:ext uri="{BB962C8B-B14F-4D97-AF65-F5344CB8AC3E}">
        <p14:creationId xmlns:p14="http://schemas.microsoft.com/office/powerpoint/2010/main" val="815203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SumCard"/>
          <p:cNvSpPr/>
          <p:nvPr/>
        </p:nvSpPr>
        <p:spPr>
          <a:xfrm>
            <a:off x="5918200" y="838200"/>
            <a:ext cx="5778500" cy="5130800"/>
          </a:xfrm>
          <a:prstGeom prst="rect">
            <a:avLst/>
          </a:prstGeom>
          <a:solidFill>
            <a:srgbClr val="F2F5F9"/>
          </a:solidFill>
          <a:ln>
            <a:noFill/>
          </a:ln>
        </p:spPr>
        <p:txBody>
          <a:bodyPr/>
          <a:lstStyle/>
          <a:p>
            <a:endParaRPr lang="ja-JP"/>
          </a:p>
        </p:txBody>
      </p:sp>
      <p:sp>
        <p:nvSpPr>
          <p:cNvPr id="501" name="SumBar"/>
          <p:cNvSpPr/>
          <p:nvPr/>
        </p:nvSpPr>
        <p:spPr>
          <a:xfrm>
            <a:off x="5918200" y="838200"/>
            <a:ext cx="38100" cy="5130800"/>
          </a:xfrm>
          <a:prstGeom prst="rect">
            <a:avLst/>
          </a:prstGeom>
          <a:solidFill>
            <a:srgbClr val="8A2E3B"/>
          </a:solidFill>
          <a:ln>
            <a:noFill/>
          </a:ln>
        </p:spPr>
        <p:txBody>
          <a:bodyPr/>
          <a:lstStyle/>
          <a:p>
            <a:endParaRPr lang="ja-JP"/>
          </a:p>
        </p:txBody>
      </p:sp>
      <p:sp>
        <p:nvSpPr>
          <p:cNvPr id="2" name="タイトル 1">
            <a:extLst>
              <a:ext uri="{FF2B5EF4-FFF2-40B4-BE49-F238E27FC236}">
                <a16:creationId xmlns:a16="http://schemas.microsoft.com/office/drawing/2014/main" id="{F5981A42-91FE-AF74-3E6D-4F5B3DB4A3F5}"/>
              </a:ext>
            </a:extLst>
          </p:cNvPr>
          <p:cNvSpPr>
            <a:spLocks noGrp="1"/>
          </p:cNvSpPr>
          <p:nvPr>
            <p:ph type="title"/>
          </p:nvPr>
        </p:nvSpPr>
        <p:spPr/>
        <p:txBody>
          <a:bodyPr/>
          <a:lstStyle/>
          <a:p>
            <a:pPr algn="l">
              <a:buNone/>
            </a:pPr>
            <a:r>
              <a:rPr lang="ja-JP" altLang="en-US" sz="2200" b="1" dirty="0">
                <a:solidFill>
                  <a:srgbClr val="1F3556"/>
                </a:solidFill>
              </a:rPr>
              <a:t>OSM から取れる属性と記録率 — 生データのままでは解析に使えない</a:t>
            </a:r>
          </a:p>
        </p:txBody>
      </p:sp>
      <p:pic>
        <p:nvPicPr>
          <p:cNvPr id="3" name="図 2">
            <a:extLst>
              <a:ext uri="{FF2B5EF4-FFF2-40B4-BE49-F238E27FC236}">
                <a16:creationId xmlns:a16="http://schemas.microsoft.com/office/drawing/2014/main" id="{4739B235-3150-3C31-6770-099FA10605AC}"/>
              </a:ext>
            </a:extLst>
          </p:cNvPr>
          <p:cNvPicPr>
            <a:picLocks noChangeAspect="1"/>
          </p:cNvPicPr>
          <p:nvPr/>
        </p:nvPicPr>
        <p:blipFill>
          <a:blip r:embed="rId2"/>
          <a:stretch>
            <a:fillRect/>
          </a:stretch>
        </p:blipFill>
        <p:spPr>
          <a:xfrm>
            <a:off x="635000" y="838200"/>
            <a:ext cx="4953000" cy="5130800"/>
          </a:xfrm>
          <a:prstGeom prst="rect">
            <a:avLst/>
          </a:prstGeom>
        </p:spPr>
      </p:pic>
      <p:sp>
        <p:nvSpPr>
          <p:cNvPr id="5" name="テキスト ボックス 4">
            <a:extLst>
              <a:ext uri="{FF2B5EF4-FFF2-40B4-BE49-F238E27FC236}">
                <a16:creationId xmlns:a16="http://schemas.microsoft.com/office/drawing/2014/main" id="{E7533783-8BEB-D573-2330-1313853E22E7}"/>
              </a:ext>
            </a:extLst>
          </p:cNvPr>
          <p:cNvSpPr txBox="1"/>
          <p:nvPr/>
        </p:nvSpPr>
        <p:spPr>
          <a:xfrm>
            <a:off x="6197600" y="1016000"/>
            <a:ext cx="5257800" cy="2006600"/>
          </a:xfrm>
          <a:prstGeom prst="rect">
            <a:avLst/>
          </a:prstGeom>
          <a:noFill/>
        </p:spPr>
        <p:txBody>
          <a:bodyPr wrap="square">
            <a:spAutoFit/>
          </a:bodyPr>
          <a:lstStyle/>
          <a:p>
            <a:pPr marL="0" indent="0" algn="l">
              <a:lnSpc>
                <a:spcPct val="115000"/>
              </a:lnSpc>
              <a:buNone/>
            </a:pPr>
            <a:r>
              <a:rPr lang="ja-JP" altLang="en-US" sz="1500" b="1" i="0" dirty="0">
                <a:solidFill>
                  <a:srgbClr val="1F3556"/>
                </a:solidFill>
                <a:latin typeface="+mn-lt"/>
              </a:rPr>
              <a:t>生データの品質</a:t>
            </a:r>
          </a:p>
          <a:p>
            <a:pPr marL="150000" indent="-150000" algn="l">
              <a:lnSpc>
                <a:spcPct val="115000"/>
              </a:lnSpc>
              <a:spcBef>
                <a:spcPts val="500"/>
              </a:spcBef>
              <a:buFont typeface="Arial"/>
              <a:buChar char="・"/>
            </a:pPr>
            <a:r>
              <a:rPr lang="ja-JP" altLang="en-US" sz="1300" b="0" i="0" dirty="0">
                <a:solidFill>
                  <a:srgbClr val="333F52"/>
                </a:solidFill>
                <a:latin typeface="+mn-lt"/>
              </a:rPr>
              <a:t>変電所・送電線・発電所を Overpass API で取得。品質は地域と設備種別で大きく異なる。</a:t>
            </a:r>
          </a:p>
          <a:p>
            <a:pPr marL="150000" indent="-150000" algn="l">
              <a:lnSpc>
                <a:spcPct val="115000"/>
              </a:lnSpc>
              <a:spcBef>
                <a:spcPts val="400"/>
              </a:spcBef>
              <a:buFont typeface="Arial"/>
              <a:buChar char="・"/>
            </a:pPr>
            <a:r>
              <a:rPr lang="ja-JP" altLang="en-US" sz="1300" b="0" i="0" dirty="0">
                <a:solidFill>
                  <a:srgbClr val="333F52"/>
                </a:solidFill>
                <a:latin typeface="+mn-lt"/>
              </a:rPr>
              <a:t>電圧属性は voltage=0／空文字／V・kV 混在などの不正値が </a:t>
            </a:r>
            <a:r>
              <a:rPr lang="ja-JP" altLang="en-US" sz="1300" b="1" i="0" dirty="0">
                <a:solidFill>
                  <a:srgbClr val="8A2E3B"/>
                </a:solidFill>
                <a:latin typeface="+mn-lt"/>
              </a:rPr>
              <a:t>約30%</a:t>
            </a:r>
            <a:r>
              <a:rPr lang="ja-JP" altLang="en-US" sz="1300" b="0" i="0" dirty="0">
                <a:solidFill>
                  <a:srgbClr val="333F52"/>
                </a:solidFill>
                <a:latin typeface="+mn-lt"/>
              </a:rPr>
              <a:t>。</a:t>
            </a:r>
          </a:p>
          <a:p>
            <a:pPr marL="150000" indent="-150000" algn="l">
              <a:lnSpc>
                <a:spcPct val="115000"/>
              </a:lnSpc>
              <a:spcBef>
                <a:spcPts val="400"/>
              </a:spcBef>
              <a:buFont typeface="Arial"/>
              <a:buChar char="・"/>
            </a:pPr>
            <a:r>
              <a:rPr lang="ja-JP" altLang="en-US" sz="1300" b="0" i="0" dirty="0">
                <a:solidFill>
                  <a:srgbClr val="333F52"/>
                </a:solidFill>
                <a:latin typeface="+mn-lt"/>
              </a:rPr>
              <a:t>発電容量は太陽光を中心に </a:t>
            </a:r>
            <a:r>
              <a:rPr lang="ja-JP" altLang="en-US" sz="1300" b="1" i="0" dirty="0">
                <a:solidFill>
                  <a:srgbClr val="8A2E3B"/>
                </a:solidFill>
                <a:latin typeface="+mn-lt"/>
              </a:rPr>
              <a:t>約93% が未記録</a:t>
            </a:r>
            <a:r>
              <a:rPr lang="ja-JP" altLang="en-US" sz="1300" b="0" i="0" dirty="0">
                <a:solidFill>
                  <a:srgbClr val="333F52"/>
                </a:solidFill>
                <a:latin typeface="+mn-lt"/>
              </a:rPr>
              <a:t>（太陽光 17,527 箇所のほぼ全て）。</a:t>
            </a:r>
          </a:p>
          <a:p>
            <a:pPr marL="150000" indent="-150000" algn="l">
              <a:lnSpc>
                <a:spcPct val="115000"/>
              </a:lnSpc>
              <a:spcBef>
                <a:spcPts val="400"/>
              </a:spcBef>
              <a:buFont typeface="Arial"/>
              <a:buChar char="・"/>
            </a:pPr>
            <a:r>
              <a:rPr lang="ja-JP" altLang="en-US" sz="1300" b="0" i="0" dirty="0">
                <a:solidFill>
                  <a:srgbClr val="333F52"/>
                </a:solidFill>
                <a:latin typeface="+mn-lt"/>
              </a:rPr>
              <a:t>属性欠損 107,383 件を、7段階パイプラインで </a:t>
            </a:r>
            <a:r>
              <a:rPr lang="ja-JP" altLang="en-US" sz="1300" b="1" i="0" dirty="0">
                <a:solidFill>
                  <a:srgbClr val="1F3556"/>
                </a:solidFill>
                <a:latin typeface="+mn-lt"/>
              </a:rPr>
              <a:t>87%（93,297 件）</a:t>
            </a:r>
            <a:r>
              <a:rPr lang="ja-JP" altLang="en-US" sz="1300" b="0" i="0" dirty="0">
                <a:solidFill>
                  <a:srgbClr val="333F52"/>
                </a:solidFill>
                <a:latin typeface="+mn-lt"/>
              </a:rPr>
              <a:t> 補完。</a:t>
            </a:r>
          </a:p>
        </p:txBody>
      </p:sp>
      <p:pic>
        <p:nvPicPr>
          <p:cNvPr id="6" name="図 5">
            <a:extLst>
              <a:ext uri="{FF2B5EF4-FFF2-40B4-BE49-F238E27FC236}">
                <a16:creationId xmlns:a16="http://schemas.microsoft.com/office/drawing/2014/main" id="{599CDFFD-A774-6898-0838-52EE414CE9BB}"/>
              </a:ext>
            </a:extLst>
          </p:cNvPr>
          <p:cNvPicPr>
            <a:picLocks noChangeAspect="1"/>
          </p:cNvPicPr>
          <p:nvPr/>
        </p:nvPicPr>
        <p:blipFill>
          <a:blip r:embed="rId3"/>
          <a:stretch>
            <a:fillRect/>
          </a:stretch>
        </p:blipFill>
        <p:spPr>
          <a:xfrm>
            <a:off x="6248400" y="3149600"/>
            <a:ext cx="4572000" cy="2552700"/>
          </a:xfrm>
          <a:prstGeom prst="rect">
            <a:avLst/>
          </a:prstGeom>
        </p:spPr>
      </p:pic>
    </p:spTree>
    <p:extLst>
      <p:ext uri="{BB962C8B-B14F-4D97-AF65-F5344CB8AC3E}">
        <p14:creationId xmlns:p14="http://schemas.microsoft.com/office/powerpoint/2010/main" val="341711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70004B-CC34-8975-DC14-20F876052B90}"/>
              </a:ext>
            </a:extLst>
          </p:cNvPr>
          <p:cNvSpPr>
            <a:spLocks noGrp="1"/>
          </p:cNvSpPr>
          <p:nvPr>
            <p:ph type="title"/>
          </p:nvPr>
        </p:nvSpPr>
        <p:spPr>
          <a:xfrm>
            <a:off x="546100" y="177800"/>
            <a:ext cx="11150600" cy="431800"/>
          </a:xfrm>
        </p:spPr>
        <p:txBody>
          <a:bodyPr/>
          <a:lstStyle/>
          <a:p>
            <a:pPr algn="l">
              <a:buNone/>
            </a:pPr>
            <a:r>
              <a:rPr lang="ja-JP" altLang="en-US" sz="2200" b="1" dirty="0">
                <a:solidFill>
                  <a:srgbClr val="1F3556"/>
                </a:solidFill>
              </a:rPr>
              <a:t>地理トポロジの再構築 — 座標の点列を「つながる系統」にする</a:t>
            </a:r>
          </a:p>
        </p:txBody>
      </p:sp>
      <p:pic>
        <p:nvPicPr>
          <p:cNvPr id="3" name="図 2">
            <a:extLst>
              <a:ext uri="{FF2B5EF4-FFF2-40B4-BE49-F238E27FC236}">
                <a16:creationId xmlns:a16="http://schemas.microsoft.com/office/drawing/2014/main" id="{7CA3BD01-D081-063C-C35A-7B7939EC36C0}"/>
              </a:ext>
            </a:extLst>
          </p:cNvPr>
          <p:cNvPicPr>
            <a:picLocks noChangeAspect="1"/>
          </p:cNvPicPr>
          <p:nvPr/>
        </p:nvPicPr>
        <p:blipFill>
          <a:blip r:embed="rId2"/>
          <a:stretch>
            <a:fillRect/>
          </a:stretch>
        </p:blipFill>
        <p:spPr>
          <a:xfrm>
            <a:off x="546100" y="1219200"/>
            <a:ext cx="5334000" cy="2628900"/>
          </a:xfrm>
          <a:prstGeom prst="rect">
            <a:avLst/>
          </a:prstGeom>
        </p:spPr>
      </p:pic>
      <p:sp>
        <p:nvSpPr>
          <p:cNvPr id="5" name="テキスト ボックス 4">
            <a:extLst>
              <a:ext uri="{FF2B5EF4-FFF2-40B4-BE49-F238E27FC236}">
                <a16:creationId xmlns:a16="http://schemas.microsoft.com/office/drawing/2014/main" id="{22AC916F-4993-BE37-7848-23D0A2A31D57}"/>
              </a:ext>
            </a:extLst>
          </p:cNvPr>
          <p:cNvSpPr txBox="1"/>
          <p:nvPr/>
        </p:nvSpPr>
        <p:spPr>
          <a:xfrm>
            <a:off x="546100" y="5588000"/>
            <a:ext cx="11099800" cy="511102"/>
          </a:xfrm>
          <a:prstGeom prst="rect">
            <a:avLst/>
          </a:prstGeom>
          <a:noFill/>
        </p:spPr>
        <p:txBody>
          <a:bodyPr wrap="square">
            <a:spAutoFit/>
          </a:bodyPr>
          <a:lstStyle/>
          <a:p>
            <a:pPr marL="0" indent="0" algn="l">
              <a:lnSpc>
                <a:spcPct val="115000"/>
              </a:lnSpc>
              <a:buNone/>
            </a:pPr>
            <a:r>
              <a:rPr lang="ja-JP" altLang="en-US" sz="1300" b="1" i="0" dirty="0">
                <a:solidFill>
                  <a:srgbClr val="1F3556"/>
                </a:solidFill>
              </a:rPr>
              <a:t>結果：全地域で一貫したトポロジを確保（補修後 連結率 99.7%）。</a:t>
            </a:r>
          </a:p>
          <a:p>
            <a:pPr marL="0" indent="0" algn="l">
              <a:lnSpc>
                <a:spcPct val="115000"/>
              </a:lnSpc>
              <a:buNone/>
            </a:pPr>
            <a:r>
              <a:rPr lang="ja-JP" altLang="en-US" sz="1150" b="0" i="0" dirty="0">
                <a:solidFill>
                  <a:srgbClr val="6B7280"/>
                </a:solidFill>
              </a:rPr>
              <a:t>図の対応 — Fig.2 地域別の詳細ネットワーク／Fig.3 GeoJSON 3レイヤ／Fig.4 衛星画像との位置照合。</a:t>
            </a:r>
          </a:p>
        </p:txBody>
      </p:sp>
      <p:sp>
        <p:nvSpPr>
          <p:cNvPr id="500" name="ST501"/>
          <p:cNvSpPr txBox="1"/>
          <p:nvPr/>
        </p:nvSpPr>
        <p:spPr>
          <a:xfrm>
            <a:off x="546100" y="3987800"/>
            <a:ext cx="5334000" cy="431800"/>
          </a:xfrm>
          <a:prstGeom prst="rect">
            <a:avLst/>
          </a:prstGeom>
          <a:noFill/>
        </p:spPr>
        <p:txBody>
          <a:bodyPr wrap="square" lIns="0" tIns="0" rIns="0" bIns="0" anchor="t"/>
          <a:lstStyle/>
          <a:p>
            <a:pPr marL="0" indent="0" algn="l">
              <a:lnSpc>
                <a:spcPct val="115000"/>
              </a:lnSpc>
              <a:buNone/>
            </a:pPr>
            <a:r>
              <a:rPr lang="ja-JP" altLang="en-US" sz="1150" b="0" i="0" dirty="0">
                <a:solidFill>
                  <a:srgbClr val="6B7280"/>
                </a:solidFill>
              </a:rPr>
              <a:t>Table 3：電圧クラス別の送電線パラメータ（R・X・B・I</a:t>
            </a:r>
            <a:r>
              <a:rPr lang="ja-JP" altLang="en-US" sz="900" b="0" i="0" dirty="0">
                <a:solidFill>
                  <a:srgbClr val="6B7280"/>
                </a:solidFill>
              </a:rPr>
              <a:t>max</a:t>
            </a:r>
            <a:r>
              <a:rPr lang="ja-JP" altLang="en-US" sz="1150" b="0" i="0" dirty="0">
                <a:solidFill>
                  <a:srgbClr val="6B7280"/>
                </a:solidFill>
              </a:rPr>
              <a:t>）。OSM に値が無い線はこの表から付与する。</a:t>
            </a:r>
          </a:p>
        </p:txBody>
      </p:sp>
      <p:sp>
        <p:nvSpPr>
          <p:cNvPr id="501" name="S502"/>
          <p:cNvSpPr/>
          <p:nvPr/>
        </p:nvSpPr>
        <p:spPr>
          <a:xfrm>
            <a:off x="6223000" y="1143000"/>
            <a:ext cx="5422900" cy="990600"/>
          </a:xfrm>
          <a:prstGeom prst="rect">
            <a:avLst/>
          </a:prstGeom>
          <a:solidFill>
            <a:srgbClr val="F2F5F9"/>
          </a:solidFill>
          <a:ln>
            <a:noFill/>
          </a:ln>
        </p:spPr>
        <p:txBody>
          <a:bodyPr/>
          <a:lstStyle/>
          <a:p>
            <a:endParaRPr lang="ja-JP"/>
          </a:p>
        </p:txBody>
      </p:sp>
      <p:sp>
        <p:nvSpPr>
          <p:cNvPr id="502" name="S503"/>
          <p:cNvSpPr/>
          <p:nvPr/>
        </p:nvSpPr>
        <p:spPr>
          <a:xfrm>
            <a:off x="6223000" y="1143000"/>
            <a:ext cx="5422900" cy="38100"/>
          </a:xfrm>
          <a:prstGeom prst="rect">
            <a:avLst/>
          </a:prstGeom>
          <a:solidFill>
            <a:srgbClr val="8A2E3B"/>
          </a:solidFill>
          <a:ln>
            <a:noFill/>
          </a:ln>
        </p:spPr>
        <p:txBody>
          <a:bodyPr/>
          <a:lstStyle/>
          <a:p>
            <a:endParaRPr lang="ja-JP"/>
          </a:p>
        </p:txBody>
      </p:sp>
      <p:sp>
        <p:nvSpPr>
          <p:cNvPr id="503" name="S504"/>
          <p:cNvSpPr/>
          <p:nvPr/>
        </p:nvSpPr>
        <p:spPr>
          <a:xfrm>
            <a:off x="6400800" y="1346200"/>
            <a:ext cx="304800" cy="304800"/>
          </a:xfrm>
          <a:prstGeom prst="ellipse">
            <a:avLst/>
          </a:prstGeom>
          <a:solidFill>
            <a:srgbClr val="8A2E3B"/>
          </a:solidFill>
          <a:ln>
            <a:noFill/>
          </a:ln>
        </p:spPr>
        <p:txBody>
          <a:bodyPr/>
          <a:lstStyle/>
          <a:p>
            <a:endParaRPr lang="ja-JP"/>
          </a:p>
        </p:txBody>
      </p:sp>
      <p:sp>
        <p:nvSpPr>
          <p:cNvPr id="504" name="ST505"/>
          <p:cNvSpPr txBox="1"/>
          <p:nvPr/>
        </p:nvSpPr>
        <p:spPr>
          <a:xfrm>
            <a:off x="6400800" y="1346200"/>
            <a:ext cx="304800" cy="304800"/>
          </a:xfrm>
          <a:prstGeom prst="rect">
            <a:avLst/>
          </a:prstGeom>
          <a:noFill/>
        </p:spPr>
        <p:txBody>
          <a:bodyPr wrap="square" lIns="0" tIns="0" rIns="0" bIns="0" anchor="ctr"/>
          <a:lstStyle/>
          <a:p>
            <a:pPr marL="0" indent="0" algn="ctr">
              <a:lnSpc>
                <a:spcPct val="115000"/>
              </a:lnSpc>
              <a:buNone/>
            </a:pPr>
            <a:r>
              <a:rPr lang="ja-JP" altLang="en-US" sz="1150" b="1" i="0" dirty="0">
                <a:solidFill>
                  <a:srgbClr val="FFFFFF"/>
                </a:solidFill>
              </a:rPr>
              <a:t>1</a:t>
            </a:r>
          </a:p>
        </p:txBody>
      </p:sp>
      <p:sp>
        <p:nvSpPr>
          <p:cNvPr id="505" name="ST506"/>
          <p:cNvSpPr txBox="1"/>
          <p:nvPr/>
        </p:nvSpPr>
        <p:spPr>
          <a:xfrm>
            <a:off x="6832600" y="1333500"/>
            <a:ext cx="4635500" cy="254000"/>
          </a:xfrm>
          <a:prstGeom prst="rect">
            <a:avLst/>
          </a:prstGeom>
          <a:noFill/>
        </p:spPr>
        <p:txBody>
          <a:bodyPr wrap="square" lIns="0" tIns="0" rIns="0" bIns="0" anchor="t"/>
          <a:lstStyle/>
          <a:p>
            <a:pPr marL="0" indent="0" algn="l">
              <a:lnSpc>
                <a:spcPct val="115000"/>
              </a:lnSpc>
              <a:buNone/>
            </a:pPr>
            <a:r>
              <a:rPr lang="ja-JP" altLang="en-US" sz="1300" b="1" i="0" dirty="0">
                <a:solidFill>
                  <a:srgbClr val="1F3556"/>
                </a:solidFill>
              </a:rPr>
              <a:t>端点を変電所に対応付ける</a:t>
            </a:r>
          </a:p>
        </p:txBody>
      </p:sp>
      <p:sp>
        <p:nvSpPr>
          <p:cNvPr id="506" name="ST507"/>
          <p:cNvSpPr txBox="1"/>
          <p:nvPr/>
        </p:nvSpPr>
        <p:spPr>
          <a:xfrm>
            <a:off x="6832600" y="1625600"/>
            <a:ext cx="4635500" cy="431800"/>
          </a:xfrm>
          <a:prstGeom prst="rect">
            <a:avLst/>
          </a:prstGeom>
          <a:noFill/>
        </p:spPr>
        <p:txBody>
          <a:bodyPr wrap="square" lIns="0" tIns="0" rIns="0" bIns="0" anchor="t"/>
          <a:lstStyle/>
          <a:p>
            <a:pPr marL="0" indent="0" algn="l">
              <a:lnSpc>
                <a:spcPct val="115000"/>
              </a:lnSpc>
              <a:buNone/>
            </a:pPr>
            <a:r>
              <a:rPr lang="ja-JP" altLang="en-US" sz="1150" b="0" i="0" dirty="0">
                <a:solidFill>
                  <a:srgbClr val="333F52"/>
                </a:solidFill>
              </a:rPr>
              <a:t>OSM の送電線は座標の点列だけ。Haversine 距離（地球半径 6,371 km）で各端点の最近傍変電所に接続（閾値 50 km）。</a:t>
            </a:r>
          </a:p>
        </p:txBody>
      </p:sp>
      <p:sp>
        <p:nvSpPr>
          <p:cNvPr id="507" name="S508"/>
          <p:cNvSpPr/>
          <p:nvPr/>
        </p:nvSpPr>
        <p:spPr>
          <a:xfrm>
            <a:off x="6223000" y="2235200"/>
            <a:ext cx="5422900" cy="990600"/>
          </a:xfrm>
          <a:prstGeom prst="rect">
            <a:avLst/>
          </a:prstGeom>
          <a:solidFill>
            <a:srgbClr val="F2F5F9"/>
          </a:solidFill>
          <a:ln>
            <a:noFill/>
          </a:ln>
        </p:spPr>
        <p:txBody>
          <a:bodyPr/>
          <a:lstStyle/>
          <a:p>
            <a:endParaRPr lang="ja-JP"/>
          </a:p>
        </p:txBody>
      </p:sp>
      <p:sp>
        <p:nvSpPr>
          <p:cNvPr id="508" name="S509"/>
          <p:cNvSpPr/>
          <p:nvPr/>
        </p:nvSpPr>
        <p:spPr>
          <a:xfrm>
            <a:off x="6223000" y="2235200"/>
            <a:ext cx="5422900" cy="38100"/>
          </a:xfrm>
          <a:prstGeom prst="rect">
            <a:avLst/>
          </a:prstGeom>
          <a:solidFill>
            <a:srgbClr val="8A2E3B"/>
          </a:solidFill>
          <a:ln>
            <a:noFill/>
          </a:ln>
        </p:spPr>
        <p:txBody>
          <a:bodyPr/>
          <a:lstStyle/>
          <a:p>
            <a:endParaRPr lang="ja-JP"/>
          </a:p>
        </p:txBody>
      </p:sp>
      <p:sp>
        <p:nvSpPr>
          <p:cNvPr id="509" name="S510"/>
          <p:cNvSpPr/>
          <p:nvPr/>
        </p:nvSpPr>
        <p:spPr>
          <a:xfrm>
            <a:off x="6400800" y="2438400"/>
            <a:ext cx="304800" cy="304800"/>
          </a:xfrm>
          <a:prstGeom prst="ellipse">
            <a:avLst/>
          </a:prstGeom>
          <a:solidFill>
            <a:srgbClr val="8A2E3B"/>
          </a:solidFill>
          <a:ln>
            <a:noFill/>
          </a:ln>
        </p:spPr>
        <p:txBody>
          <a:bodyPr/>
          <a:lstStyle/>
          <a:p>
            <a:endParaRPr lang="ja-JP"/>
          </a:p>
        </p:txBody>
      </p:sp>
      <p:sp>
        <p:nvSpPr>
          <p:cNvPr id="510" name="ST511"/>
          <p:cNvSpPr txBox="1"/>
          <p:nvPr/>
        </p:nvSpPr>
        <p:spPr>
          <a:xfrm>
            <a:off x="6400800" y="2438400"/>
            <a:ext cx="304800" cy="304800"/>
          </a:xfrm>
          <a:prstGeom prst="rect">
            <a:avLst/>
          </a:prstGeom>
          <a:noFill/>
        </p:spPr>
        <p:txBody>
          <a:bodyPr wrap="square" lIns="0" tIns="0" rIns="0" bIns="0" anchor="ctr"/>
          <a:lstStyle/>
          <a:p>
            <a:pPr marL="0" indent="0" algn="ctr">
              <a:lnSpc>
                <a:spcPct val="115000"/>
              </a:lnSpc>
              <a:buNone/>
            </a:pPr>
            <a:r>
              <a:rPr lang="ja-JP" altLang="en-US" sz="1150" b="1" i="0" dirty="0">
                <a:solidFill>
                  <a:srgbClr val="FFFFFF"/>
                </a:solidFill>
              </a:rPr>
              <a:t>2</a:t>
            </a:r>
          </a:p>
        </p:txBody>
      </p:sp>
      <p:sp>
        <p:nvSpPr>
          <p:cNvPr id="511" name="ST512"/>
          <p:cNvSpPr txBox="1"/>
          <p:nvPr/>
        </p:nvSpPr>
        <p:spPr>
          <a:xfrm>
            <a:off x="6832600" y="2425700"/>
            <a:ext cx="4635500" cy="254000"/>
          </a:xfrm>
          <a:prstGeom prst="rect">
            <a:avLst/>
          </a:prstGeom>
          <a:noFill/>
        </p:spPr>
        <p:txBody>
          <a:bodyPr wrap="square" lIns="0" tIns="0" rIns="0" bIns="0" anchor="t"/>
          <a:lstStyle/>
          <a:p>
            <a:pPr marL="0" indent="0" algn="l">
              <a:lnSpc>
                <a:spcPct val="115000"/>
              </a:lnSpc>
              <a:buNone/>
            </a:pPr>
            <a:r>
              <a:rPr lang="ja-JP" altLang="en-US" sz="1300" b="1" i="0" dirty="0">
                <a:solidFill>
                  <a:srgbClr val="1F3556"/>
                </a:solidFill>
              </a:rPr>
              <a:t>変圧器を見つける</a:t>
            </a:r>
          </a:p>
        </p:txBody>
      </p:sp>
      <p:sp>
        <p:nvSpPr>
          <p:cNvPr id="512" name="ST513"/>
          <p:cNvSpPr txBox="1"/>
          <p:nvPr/>
        </p:nvSpPr>
        <p:spPr>
          <a:xfrm>
            <a:off x="6832600" y="2717800"/>
            <a:ext cx="4635500" cy="431800"/>
          </a:xfrm>
          <a:prstGeom prst="rect">
            <a:avLst/>
          </a:prstGeom>
          <a:noFill/>
        </p:spPr>
        <p:txBody>
          <a:bodyPr wrap="square" lIns="0" tIns="0" rIns="0" bIns="0" anchor="t"/>
          <a:lstStyle/>
          <a:p>
            <a:pPr marL="0" indent="0" algn="l">
              <a:lnSpc>
                <a:spcPct val="115000"/>
              </a:lnSpc>
              <a:buNone/>
            </a:pPr>
            <a:r>
              <a:rPr lang="ja-JP" altLang="en-US" sz="1150" b="0" i="0" dirty="0">
                <a:solidFill>
                  <a:srgbClr val="333F52"/>
                </a:solidFill>
              </a:rPr>
              <a:t>電圧比が 1.5 倍を超える接続は、線路ではなく変圧器として解釈する。</a:t>
            </a:r>
          </a:p>
        </p:txBody>
      </p:sp>
      <p:sp>
        <p:nvSpPr>
          <p:cNvPr id="513" name="S514"/>
          <p:cNvSpPr/>
          <p:nvPr/>
        </p:nvSpPr>
        <p:spPr>
          <a:xfrm>
            <a:off x="6223000" y="3327400"/>
            <a:ext cx="5422900" cy="990600"/>
          </a:xfrm>
          <a:prstGeom prst="rect">
            <a:avLst/>
          </a:prstGeom>
          <a:solidFill>
            <a:srgbClr val="F2F5F9"/>
          </a:solidFill>
          <a:ln>
            <a:noFill/>
          </a:ln>
        </p:spPr>
        <p:txBody>
          <a:bodyPr/>
          <a:lstStyle/>
          <a:p>
            <a:endParaRPr lang="ja-JP"/>
          </a:p>
        </p:txBody>
      </p:sp>
      <p:sp>
        <p:nvSpPr>
          <p:cNvPr id="514" name="S515"/>
          <p:cNvSpPr/>
          <p:nvPr/>
        </p:nvSpPr>
        <p:spPr>
          <a:xfrm>
            <a:off x="6223000" y="3327400"/>
            <a:ext cx="5422900" cy="38100"/>
          </a:xfrm>
          <a:prstGeom prst="rect">
            <a:avLst/>
          </a:prstGeom>
          <a:solidFill>
            <a:srgbClr val="8A2E3B"/>
          </a:solidFill>
          <a:ln>
            <a:noFill/>
          </a:ln>
        </p:spPr>
        <p:txBody>
          <a:bodyPr/>
          <a:lstStyle/>
          <a:p>
            <a:endParaRPr lang="ja-JP"/>
          </a:p>
        </p:txBody>
      </p:sp>
      <p:sp>
        <p:nvSpPr>
          <p:cNvPr id="515" name="S516"/>
          <p:cNvSpPr/>
          <p:nvPr/>
        </p:nvSpPr>
        <p:spPr>
          <a:xfrm>
            <a:off x="6400800" y="3530600"/>
            <a:ext cx="304800" cy="304800"/>
          </a:xfrm>
          <a:prstGeom prst="ellipse">
            <a:avLst/>
          </a:prstGeom>
          <a:solidFill>
            <a:srgbClr val="8A2E3B"/>
          </a:solidFill>
          <a:ln>
            <a:noFill/>
          </a:ln>
        </p:spPr>
        <p:txBody>
          <a:bodyPr/>
          <a:lstStyle/>
          <a:p>
            <a:endParaRPr lang="ja-JP"/>
          </a:p>
        </p:txBody>
      </p:sp>
      <p:sp>
        <p:nvSpPr>
          <p:cNvPr id="516" name="ST517"/>
          <p:cNvSpPr txBox="1"/>
          <p:nvPr/>
        </p:nvSpPr>
        <p:spPr>
          <a:xfrm>
            <a:off x="6400800" y="3530600"/>
            <a:ext cx="304800" cy="304800"/>
          </a:xfrm>
          <a:prstGeom prst="rect">
            <a:avLst/>
          </a:prstGeom>
          <a:noFill/>
        </p:spPr>
        <p:txBody>
          <a:bodyPr wrap="square" lIns="0" tIns="0" rIns="0" bIns="0" anchor="ctr"/>
          <a:lstStyle/>
          <a:p>
            <a:pPr marL="0" indent="0" algn="ctr">
              <a:lnSpc>
                <a:spcPct val="115000"/>
              </a:lnSpc>
              <a:buNone/>
            </a:pPr>
            <a:r>
              <a:rPr lang="ja-JP" altLang="en-US" sz="1150" b="1" i="0" dirty="0">
                <a:solidFill>
                  <a:srgbClr val="FFFFFF"/>
                </a:solidFill>
              </a:rPr>
              <a:t>3</a:t>
            </a:r>
          </a:p>
        </p:txBody>
      </p:sp>
      <p:sp>
        <p:nvSpPr>
          <p:cNvPr id="517" name="ST518"/>
          <p:cNvSpPr txBox="1"/>
          <p:nvPr/>
        </p:nvSpPr>
        <p:spPr>
          <a:xfrm>
            <a:off x="6832600" y="3517900"/>
            <a:ext cx="4635500" cy="254000"/>
          </a:xfrm>
          <a:prstGeom prst="rect">
            <a:avLst/>
          </a:prstGeom>
          <a:noFill/>
        </p:spPr>
        <p:txBody>
          <a:bodyPr wrap="square" lIns="0" tIns="0" rIns="0" bIns="0" anchor="t"/>
          <a:lstStyle/>
          <a:p>
            <a:pPr marL="0" indent="0" algn="l">
              <a:lnSpc>
                <a:spcPct val="115000"/>
              </a:lnSpc>
              <a:buNone/>
            </a:pPr>
            <a:r>
              <a:rPr lang="ja-JP" altLang="en-US" sz="1300" b="1" i="0" dirty="0">
                <a:solidFill>
                  <a:srgbClr val="1F3556"/>
                </a:solidFill>
              </a:rPr>
              <a:t>パラメータを付与する</a:t>
            </a:r>
          </a:p>
        </p:txBody>
      </p:sp>
      <p:sp>
        <p:nvSpPr>
          <p:cNvPr id="518" name="ST519"/>
          <p:cNvSpPr txBox="1"/>
          <p:nvPr/>
        </p:nvSpPr>
        <p:spPr>
          <a:xfrm>
            <a:off x="6832600" y="3810000"/>
            <a:ext cx="4635500" cy="431800"/>
          </a:xfrm>
          <a:prstGeom prst="rect">
            <a:avLst/>
          </a:prstGeom>
          <a:noFill/>
        </p:spPr>
        <p:txBody>
          <a:bodyPr wrap="square" lIns="0" tIns="0" rIns="0" bIns="0" anchor="t"/>
          <a:lstStyle/>
          <a:p>
            <a:pPr marL="0" indent="0" algn="l">
              <a:lnSpc>
                <a:spcPct val="115000"/>
              </a:lnSpc>
              <a:buNone/>
            </a:pPr>
            <a:r>
              <a:rPr lang="ja-JP" altLang="en-US" sz="1150" b="0" i="0" dirty="0">
                <a:solidFill>
                  <a:srgbClr val="333F52"/>
                </a:solidFill>
              </a:rPr>
              <a:t>電圧クラス別のデフォルト値（左表）を R・X・B・許容電流に割り当てる。</a:t>
            </a:r>
          </a:p>
        </p:txBody>
      </p:sp>
      <p:sp>
        <p:nvSpPr>
          <p:cNvPr id="519" name="S520"/>
          <p:cNvSpPr/>
          <p:nvPr/>
        </p:nvSpPr>
        <p:spPr>
          <a:xfrm>
            <a:off x="6223000" y="4419600"/>
            <a:ext cx="5422900" cy="990600"/>
          </a:xfrm>
          <a:prstGeom prst="rect">
            <a:avLst/>
          </a:prstGeom>
          <a:solidFill>
            <a:srgbClr val="F2F5F9"/>
          </a:solidFill>
          <a:ln>
            <a:noFill/>
          </a:ln>
        </p:spPr>
        <p:txBody>
          <a:bodyPr/>
          <a:lstStyle/>
          <a:p>
            <a:endParaRPr lang="ja-JP"/>
          </a:p>
        </p:txBody>
      </p:sp>
      <p:sp>
        <p:nvSpPr>
          <p:cNvPr id="520" name="S521"/>
          <p:cNvSpPr/>
          <p:nvPr/>
        </p:nvSpPr>
        <p:spPr>
          <a:xfrm>
            <a:off x="6223000" y="4419600"/>
            <a:ext cx="5422900" cy="38100"/>
          </a:xfrm>
          <a:prstGeom prst="rect">
            <a:avLst/>
          </a:prstGeom>
          <a:solidFill>
            <a:srgbClr val="8A2E3B"/>
          </a:solidFill>
          <a:ln>
            <a:noFill/>
          </a:ln>
        </p:spPr>
        <p:txBody>
          <a:bodyPr/>
          <a:lstStyle/>
          <a:p>
            <a:endParaRPr lang="ja-JP"/>
          </a:p>
        </p:txBody>
      </p:sp>
      <p:sp>
        <p:nvSpPr>
          <p:cNvPr id="521" name="S522"/>
          <p:cNvSpPr/>
          <p:nvPr/>
        </p:nvSpPr>
        <p:spPr>
          <a:xfrm>
            <a:off x="6400800" y="4622800"/>
            <a:ext cx="304800" cy="304800"/>
          </a:xfrm>
          <a:prstGeom prst="ellipse">
            <a:avLst/>
          </a:prstGeom>
          <a:solidFill>
            <a:srgbClr val="8A2E3B"/>
          </a:solidFill>
          <a:ln>
            <a:noFill/>
          </a:ln>
        </p:spPr>
        <p:txBody>
          <a:bodyPr/>
          <a:lstStyle/>
          <a:p>
            <a:endParaRPr lang="ja-JP"/>
          </a:p>
        </p:txBody>
      </p:sp>
      <p:sp>
        <p:nvSpPr>
          <p:cNvPr id="522" name="ST523"/>
          <p:cNvSpPr txBox="1"/>
          <p:nvPr/>
        </p:nvSpPr>
        <p:spPr>
          <a:xfrm>
            <a:off x="6400800" y="4622800"/>
            <a:ext cx="304800" cy="304800"/>
          </a:xfrm>
          <a:prstGeom prst="rect">
            <a:avLst/>
          </a:prstGeom>
          <a:noFill/>
        </p:spPr>
        <p:txBody>
          <a:bodyPr wrap="square" lIns="0" tIns="0" rIns="0" bIns="0" anchor="ctr"/>
          <a:lstStyle/>
          <a:p>
            <a:pPr marL="0" indent="0" algn="ctr">
              <a:lnSpc>
                <a:spcPct val="115000"/>
              </a:lnSpc>
              <a:buNone/>
            </a:pPr>
            <a:r>
              <a:rPr lang="ja-JP" altLang="en-US" sz="1150" b="1" i="0" dirty="0">
                <a:solidFill>
                  <a:srgbClr val="FFFFFF"/>
                </a:solidFill>
              </a:rPr>
              <a:t>4</a:t>
            </a:r>
          </a:p>
        </p:txBody>
      </p:sp>
      <p:sp>
        <p:nvSpPr>
          <p:cNvPr id="523" name="ST524"/>
          <p:cNvSpPr txBox="1"/>
          <p:nvPr/>
        </p:nvSpPr>
        <p:spPr>
          <a:xfrm>
            <a:off x="6832600" y="4610100"/>
            <a:ext cx="4635500" cy="254000"/>
          </a:xfrm>
          <a:prstGeom prst="rect">
            <a:avLst/>
          </a:prstGeom>
          <a:noFill/>
        </p:spPr>
        <p:txBody>
          <a:bodyPr wrap="square" lIns="0" tIns="0" rIns="0" bIns="0" anchor="t"/>
          <a:lstStyle/>
          <a:p>
            <a:pPr marL="0" indent="0" algn="l">
              <a:lnSpc>
                <a:spcPct val="115000"/>
              </a:lnSpc>
              <a:buNone/>
            </a:pPr>
            <a:r>
              <a:rPr lang="ja-JP" altLang="en-US" sz="1300" b="1" i="0" dirty="0">
                <a:solidFill>
                  <a:srgbClr val="1F3556"/>
                </a:solidFill>
              </a:rPr>
              <a:t>孤立をつなぐ</a:t>
            </a:r>
          </a:p>
        </p:txBody>
      </p:sp>
      <p:sp>
        <p:nvSpPr>
          <p:cNvPr id="524" name="ST525"/>
          <p:cNvSpPr txBox="1"/>
          <p:nvPr/>
        </p:nvSpPr>
        <p:spPr>
          <a:xfrm>
            <a:off x="6832600" y="4902200"/>
            <a:ext cx="4635500" cy="431800"/>
          </a:xfrm>
          <a:prstGeom prst="rect">
            <a:avLst/>
          </a:prstGeom>
          <a:noFill/>
        </p:spPr>
        <p:txBody>
          <a:bodyPr wrap="square" lIns="0" tIns="0" rIns="0" bIns="0" anchor="t"/>
          <a:lstStyle/>
          <a:p>
            <a:pPr marL="0" indent="0" algn="l">
              <a:lnSpc>
                <a:spcPct val="115000"/>
              </a:lnSpc>
              <a:buNone/>
            </a:pPr>
            <a:r>
              <a:rPr lang="ja-JP" altLang="en-US" sz="1150" b="0" i="0" dirty="0">
                <a:solidFill>
                  <a:srgbClr val="333F52"/>
                </a:solidFill>
              </a:rPr>
              <a:t>KD木の最近傍探索で孤立成分を主成分に接続。補修後の連結率は 99.7%。</a:t>
            </a:r>
          </a:p>
        </p:txBody>
      </p:sp>
    </p:spTree>
    <p:extLst>
      <p:ext uri="{BB962C8B-B14F-4D97-AF65-F5344CB8AC3E}">
        <p14:creationId xmlns:p14="http://schemas.microsoft.com/office/powerpoint/2010/main" val="3360258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F46764-D098-9E94-AE8F-2657C0A0EF19}"/>
              </a:ext>
            </a:extLst>
          </p:cNvPr>
          <p:cNvSpPr>
            <a:spLocks noGrp="1"/>
          </p:cNvSpPr>
          <p:nvPr>
            <p:ph type="title"/>
          </p:nvPr>
        </p:nvSpPr>
        <p:spPr/>
        <p:txBody>
          <a:bodyPr/>
          <a:lstStyle/>
          <a:p>
            <a:pPr algn="l">
              <a:buNone/>
            </a:pPr>
            <a:r>
              <a:rPr lang="ja-JP" altLang="en-US" sz="2200" b="1" dirty="0">
                <a:solidFill>
                  <a:srgbClr val="1F3556"/>
                </a:solidFill>
              </a:rPr>
              <a:t>全国 UC 24時間プロファイル</a:t>
            </a:r>
          </a:p>
        </p:txBody>
      </p:sp>
      <p:sp>
        <p:nvSpPr>
          <p:cNvPr id="4" name="テキスト ボックス 3">
            <a:extLst>
              <a:ext uri="{FF2B5EF4-FFF2-40B4-BE49-F238E27FC236}">
                <a16:creationId xmlns:a16="http://schemas.microsoft.com/office/drawing/2014/main" id="{51351EC3-3E2B-3420-0DAC-5807B2C566F5}"/>
              </a:ext>
            </a:extLst>
          </p:cNvPr>
          <p:cNvSpPr txBox="1"/>
          <p:nvPr/>
        </p:nvSpPr>
        <p:spPr>
          <a:xfrm>
            <a:off x="1651000" y="4495800"/>
            <a:ext cx="8890000" cy="281039"/>
          </a:xfrm>
          <a:prstGeom prst="rect">
            <a:avLst/>
          </a:prstGeom>
          <a:noFill/>
        </p:spPr>
        <p:txBody>
          <a:bodyPr wrap="square">
            <a:spAutoFit/>
          </a:bodyPr>
          <a:lstStyle/>
          <a:p>
            <a:pPr marL="0" indent="0" algn="l">
              <a:lnSpc>
                <a:spcPct val="115000"/>
              </a:lnSpc>
              <a:buNone/>
            </a:pPr>
            <a:r>
              <a:rPr lang="ja-JP" altLang="en-US" sz="1150" b="0" i="0" dirty="0">
                <a:solidFill>
                  <a:srgbClr val="6B7280"/>
                </a:solidFill>
                <a:latin typeface="+mn-lt"/>
              </a:rPr>
              <a:t>Fig.6　全国 UC 24時間プロファイル — merit order（原子力 → 石炭 → LNG → 石油）は制約として与えず、コスト最小化の結果として現れる。</a:t>
            </a:r>
          </a:p>
        </p:txBody>
      </p:sp>
      <p:pic>
        <p:nvPicPr>
          <p:cNvPr id="5" name="図 4">
            <a:extLst>
              <a:ext uri="{FF2B5EF4-FFF2-40B4-BE49-F238E27FC236}">
                <a16:creationId xmlns:a16="http://schemas.microsoft.com/office/drawing/2014/main" id="{E6D0F01C-2360-DC68-AB96-A6861BF2EBC1}"/>
              </a:ext>
            </a:extLst>
          </p:cNvPr>
          <p:cNvPicPr>
            <a:picLocks noChangeAspect="1"/>
          </p:cNvPicPr>
          <p:nvPr/>
        </p:nvPicPr>
        <p:blipFill>
          <a:blip r:embed="rId2"/>
          <a:srcRect b="16000"/>
          <a:stretch>
            <a:fillRect/>
          </a:stretch>
        </p:blipFill>
        <p:spPr>
          <a:xfrm>
            <a:off x="1651000" y="889000"/>
            <a:ext cx="8890000" cy="3937000"/>
          </a:xfrm>
          <a:prstGeom prst="rect">
            <a:avLst/>
          </a:prstGeom>
        </p:spPr>
      </p:pic>
      <p:sp>
        <p:nvSpPr>
          <p:cNvPr id="800" name="W801"/>
          <p:cNvSpPr/>
          <p:nvPr/>
        </p:nvSpPr>
        <p:spPr>
          <a:xfrm>
            <a:off x="546100" y="4876800"/>
            <a:ext cx="11150600" cy="1422400"/>
          </a:xfrm>
          <a:prstGeom prst="rect">
            <a:avLst/>
          </a:prstGeom>
          <a:solidFill>
            <a:srgbClr val="F2F5F9"/>
          </a:solidFill>
          <a:ln>
            <a:noFill/>
          </a:ln>
        </p:spPr>
        <p:txBody>
          <a:bodyPr/>
          <a:lstStyle/>
          <a:p>
            <a:endParaRPr lang="ja-JP"/>
          </a:p>
        </p:txBody>
      </p:sp>
      <p:sp>
        <p:nvSpPr>
          <p:cNvPr id="801" name="W802"/>
          <p:cNvSpPr/>
          <p:nvPr/>
        </p:nvSpPr>
        <p:spPr>
          <a:xfrm>
            <a:off x="546100" y="4876800"/>
            <a:ext cx="38100" cy="1422400"/>
          </a:xfrm>
          <a:prstGeom prst="rect">
            <a:avLst/>
          </a:prstGeom>
          <a:solidFill>
            <a:srgbClr val="8A2E3B"/>
          </a:solidFill>
          <a:ln>
            <a:noFill/>
          </a:ln>
        </p:spPr>
        <p:txBody>
          <a:bodyPr/>
          <a:lstStyle/>
          <a:p>
            <a:endParaRPr lang="ja-JP"/>
          </a:p>
        </p:txBody>
      </p:sp>
      <p:sp>
        <p:nvSpPr>
          <p:cNvPr id="1100" name="Q1101"/>
          <p:cNvSpPr txBox="1"/>
          <p:nvPr/>
        </p:nvSpPr>
        <p:spPr>
          <a:xfrm>
            <a:off x="787400" y="4953000"/>
            <a:ext cx="7874000" cy="254000"/>
          </a:xfrm>
          <a:prstGeom prst="rect">
            <a:avLst/>
          </a:prstGeom>
          <a:noFill/>
        </p:spPr>
        <p:txBody>
          <a:bodyPr wrap="square" lIns="0" tIns="0" rIns="0" bIns="0" anchor="t"/>
          <a:lstStyle/>
          <a:p>
            <a:pPr marL="0" indent="0" algn="l">
              <a:lnSpc>
                <a:spcPct val="112000"/>
              </a:lnSpc>
              <a:buNone/>
            </a:pPr>
            <a:r>
              <a:rPr lang="ja-JP" altLang="en-US" sz="1500" b="1" i="0" dirty="0">
                <a:solidFill>
                  <a:srgbClr val="1F3556"/>
                </a:solidFill>
                <a:latin typeface="+mn-lt"/>
              </a:rPr>
              <a:t>なぜ 10秒で解けたのか</a:t>
            </a:r>
            <a:r>
              <a:rPr lang="ja-JP" altLang="en-US" sz="1200" b="0" i="0" dirty="0">
                <a:solidFill>
                  <a:srgbClr val="333F52"/>
                </a:solidFill>
                <a:latin typeface="+mn-lt"/>
              </a:rPr>
              <a:t>　783機 × 24時間、機器の「入／切」の組合せは 18,792 個</a:t>
            </a:r>
          </a:p>
        </p:txBody>
      </p:sp>
      <p:sp>
        <p:nvSpPr>
          <p:cNvPr id="1101" name="Q1102"/>
          <p:cNvSpPr txBox="1"/>
          <p:nvPr/>
        </p:nvSpPr>
        <p:spPr>
          <a:xfrm>
            <a:off x="8763000" y="4953000"/>
            <a:ext cx="2781300" cy="254000"/>
          </a:xfrm>
          <a:prstGeom prst="rect">
            <a:avLst/>
          </a:prstGeom>
          <a:noFill/>
        </p:spPr>
        <p:txBody>
          <a:bodyPr wrap="square" lIns="0" tIns="0" rIns="0" bIns="0" anchor="t"/>
          <a:lstStyle/>
          <a:p>
            <a:pPr marL="0" indent="0" algn="r">
              <a:lnSpc>
                <a:spcPct val="112000"/>
              </a:lnSpc>
              <a:buNone/>
            </a:pPr>
            <a:r>
              <a:rPr lang="ja-JP" altLang="en-US" sz="1200" b="1" i="0" dirty="0">
                <a:solidFill>
                  <a:srgbClr val="8A2E3B"/>
                </a:solidFill>
                <a:latin typeface="+mn-lt"/>
              </a:rPr>
              <a:t>一般には 100機以下が実用限界</a:t>
            </a:r>
          </a:p>
        </p:txBody>
      </p:sp>
      <p:sp>
        <p:nvSpPr>
          <p:cNvPr id="1102" name="Q1103"/>
          <p:cNvSpPr txBox="1"/>
          <p:nvPr/>
        </p:nvSpPr>
        <p:spPr>
          <a:xfrm>
            <a:off x="787400" y="5283200"/>
            <a:ext cx="2540000" cy="406400"/>
          </a:xfrm>
          <a:prstGeom prst="rect">
            <a:avLst/>
          </a:prstGeom>
          <a:noFill/>
        </p:spPr>
        <p:txBody>
          <a:bodyPr wrap="square" lIns="0" tIns="0" rIns="0" bIns="0" anchor="t"/>
          <a:lstStyle/>
          <a:p>
            <a:pPr marL="0" indent="0" algn="l">
              <a:lnSpc>
                <a:spcPct val="112000"/>
              </a:lnSpc>
              <a:buNone/>
            </a:pPr>
            <a:r>
              <a:rPr lang="ja-JP" altLang="en-US" sz="1200" b="1" i="0" dirty="0">
                <a:solidFill>
                  <a:srgbClr val="8A2E3B"/>
                </a:solidFill>
                <a:latin typeface="+mn-lt"/>
              </a:rPr>
              <a:t>1　</a:t>
            </a:r>
            <a:r>
              <a:rPr lang="ja-JP" altLang="en-US" sz="1200" b="1" i="0" dirty="0">
                <a:solidFill>
                  <a:srgbClr val="1F3556"/>
                </a:solidFill>
                <a:latin typeface="+mn-lt"/>
              </a:rPr>
              <a:t>答えが最初からほぼ見えている</a:t>
            </a:r>
          </a:p>
        </p:txBody>
      </p:sp>
      <p:sp>
        <p:nvSpPr>
          <p:cNvPr id="1103" name="Q1104"/>
          <p:cNvSpPr txBox="1"/>
          <p:nvPr/>
        </p:nvSpPr>
        <p:spPr>
          <a:xfrm>
            <a:off x="787400" y="5664200"/>
            <a:ext cx="2540000" cy="635000"/>
          </a:xfrm>
          <a:prstGeom prst="rect">
            <a:avLst/>
          </a:prstGeom>
          <a:noFill/>
        </p:spPr>
        <p:txBody>
          <a:bodyPr wrap="square" lIns="0" tIns="0" rIns="0" bIns="0" anchor="t"/>
          <a:lstStyle/>
          <a:p>
            <a:pPr marL="0" indent="0" algn="l">
              <a:lnSpc>
                <a:spcPct val="112000"/>
              </a:lnSpc>
              <a:buNone/>
            </a:pPr>
            <a:r>
              <a:rPr lang="ja-JP" altLang="en-US" sz="1100" b="0" i="0" dirty="0">
                <a:solidFill>
                  <a:srgbClr val="333F52"/>
                </a:solidFill>
                <a:latin typeface="+mn-lt"/>
              </a:rPr>
              <a:t>コストが素直なので、ざっくり解いた答えと最終解の差が 0.5% 未満。場合分けの探索が浅く済む。</a:t>
            </a:r>
          </a:p>
        </p:txBody>
      </p:sp>
      <p:sp>
        <p:nvSpPr>
          <p:cNvPr id="1104" name="Q1105"/>
          <p:cNvSpPr txBox="1"/>
          <p:nvPr/>
        </p:nvSpPr>
        <p:spPr>
          <a:xfrm>
            <a:off x="3454400" y="5283200"/>
            <a:ext cx="2540000" cy="406400"/>
          </a:xfrm>
          <a:prstGeom prst="rect">
            <a:avLst/>
          </a:prstGeom>
          <a:noFill/>
        </p:spPr>
        <p:txBody>
          <a:bodyPr wrap="square" lIns="0" tIns="0" rIns="0" bIns="0" anchor="t"/>
          <a:lstStyle/>
          <a:p>
            <a:pPr marL="0" indent="0" algn="l">
              <a:lnSpc>
                <a:spcPct val="112000"/>
              </a:lnSpc>
              <a:buNone/>
            </a:pPr>
            <a:r>
              <a:rPr lang="ja-JP" altLang="en-US" sz="1200" b="1" i="0" dirty="0">
                <a:solidFill>
                  <a:srgbClr val="8A2E3B"/>
                </a:solidFill>
                <a:latin typeface="+mn-lt"/>
              </a:rPr>
              <a:t>2　</a:t>
            </a:r>
            <a:r>
              <a:rPr lang="ja-JP" altLang="en-US" sz="1200" b="1" i="0" dirty="0">
                <a:solidFill>
                  <a:srgbClr val="1F3556"/>
                </a:solidFill>
                <a:latin typeface="+mn-lt"/>
              </a:rPr>
              <a:t>解く前に4割が決まる</a:t>
            </a:r>
          </a:p>
        </p:txBody>
      </p:sp>
      <p:sp>
        <p:nvSpPr>
          <p:cNvPr id="1105" name="Q1106"/>
          <p:cNvSpPr txBox="1"/>
          <p:nvPr/>
        </p:nvSpPr>
        <p:spPr>
          <a:xfrm>
            <a:off x="3454400" y="5664200"/>
            <a:ext cx="2540000" cy="635000"/>
          </a:xfrm>
          <a:prstGeom prst="rect">
            <a:avLst/>
          </a:prstGeom>
          <a:noFill/>
        </p:spPr>
        <p:txBody>
          <a:bodyPr wrap="square" lIns="0" tIns="0" rIns="0" bIns="0" anchor="t"/>
          <a:lstStyle/>
          <a:p>
            <a:pPr marL="0" indent="0" algn="l">
              <a:lnSpc>
                <a:spcPct val="112000"/>
              </a:lnSpc>
              <a:buNone/>
            </a:pPr>
            <a:r>
              <a:rPr lang="ja-JP" altLang="en-US" sz="1100" b="0" i="0" dirty="0">
                <a:solidFill>
                  <a:srgbClr val="333F52"/>
                </a:solidFill>
                <a:latin typeface="+mn-lt"/>
              </a:rPr>
              <a:t>ソルバ（HiGHS）の前処理で「入／切」の4割以上が先に確定し、問題が小さくなる。</a:t>
            </a:r>
          </a:p>
        </p:txBody>
      </p:sp>
      <p:sp>
        <p:nvSpPr>
          <p:cNvPr id="1106" name="Q1107"/>
          <p:cNvSpPr txBox="1"/>
          <p:nvPr/>
        </p:nvSpPr>
        <p:spPr>
          <a:xfrm>
            <a:off x="6121400" y="5283200"/>
            <a:ext cx="2540000" cy="406400"/>
          </a:xfrm>
          <a:prstGeom prst="rect">
            <a:avLst/>
          </a:prstGeom>
          <a:noFill/>
        </p:spPr>
        <p:txBody>
          <a:bodyPr wrap="square" lIns="0" tIns="0" rIns="0" bIns="0" anchor="t"/>
          <a:lstStyle/>
          <a:p>
            <a:pPr marL="0" indent="0" algn="l">
              <a:lnSpc>
                <a:spcPct val="112000"/>
              </a:lnSpc>
              <a:buNone/>
            </a:pPr>
            <a:r>
              <a:rPr lang="ja-JP" altLang="en-US" sz="1200" b="1" i="0" dirty="0">
                <a:solidFill>
                  <a:srgbClr val="8A2E3B"/>
                </a:solidFill>
                <a:latin typeface="+mn-lt"/>
              </a:rPr>
              <a:t>3　</a:t>
            </a:r>
            <a:r>
              <a:rPr lang="ja-JP" altLang="en-US" sz="1200" b="1" i="0" dirty="0">
                <a:solidFill>
                  <a:srgbClr val="1F3556"/>
                </a:solidFill>
                <a:latin typeface="+mn-lt"/>
              </a:rPr>
              <a:t>地域どうしのつながりが細い</a:t>
            </a:r>
          </a:p>
        </p:txBody>
      </p:sp>
      <p:sp>
        <p:nvSpPr>
          <p:cNvPr id="1107" name="Q1108"/>
          <p:cNvSpPr txBox="1"/>
          <p:nvPr/>
        </p:nvSpPr>
        <p:spPr>
          <a:xfrm>
            <a:off x="6121400" y="5664200"/>
            <a:ext cx="2540000" cy="635000"/>
          </a:xfrm>
          <a:prstGeom prst="rect">
            <a:avLst/>
          </a:prstGeom>
          <a:noFill/>
        </p:spPr>
        <p:txBody>
          <a:bodyPr wrap="square" lIns="0" tIns="0" rIns="0" bIns="0" anchor="t"/>
          <a:lstStyle/>
          <a:p>
            <a:pPr marL="0" indent="0" algn="l">
              <a:lnSpc>
                <a:spcPct val="112000"/>
              </a:lnSpc>
              <a:buNone/>
            </a:pPr>
            <a:r>
              <a:rPr lang="ja-JP" altLang="en-US" sz="1100" b="0" i="0" dirty="0">
                <a:solidFill>
                  <a:srgbClr val="333F52"/>
                </a:solidFill>
                <a:latin typeface="+mn-lt"/>
              </a:rPr>
              <a:t>10地域を結ぶのは 9リンク × 24時間 = 216 個の変数だけ。地域ごとにほぼ独立に解ける。</a:t>
            </a:r>
          </a:p>
        </p:txBody>
      </p:sp>
      <p:sp>
        <p:nvSpPr>
          <p:cNvPr id="1108" name="Q1109"/>
          <p:cNvSpPr txBox="1"/>
          <p:nvPr/>
        </p:nvSpPr>
        <p:spPr>
          <a:xfrm>
            <a:off x="8788400" y="5283200"/>
            <a:ext cx="2540000" cy="406400"/>
          </a:xfrm>
          <a:prstGeom prst="rect">
            <a:avLst/>
          </a:prstGeom>
          <a:noFill/>
        </p:spPr>
        <p:txBody>
          <a:bodyPr wrap="square" lIns="0" tIns="0" rIns="0" bIns="0" anchor="t"/>
          <a:lstStyle/>
          <a:p>
            <a:pPr marL="0" indent="0" algn="l">
              <a:lnSpc>
                <a:spcPct val="112000"/>
              </a:lnSpc>
              <a:buNone/>
            </a:pPr>
            <a:r>
              <a:rPr lang="ja-JP" altLang="en-US" sz="1200" b="1" i="0" dirty="0">
                <a:solidFill>
                  <a:srgbClr val="8A2E3B"/>
                </a:solidFill>
                <a:latin typeface="+mn-lt"/>
              </a:rPr>
              <a:t>4　</a:t>
            </a:r>
            <a:r>
              <a:rPr lang="ja-JP" altLang="en-US" sz="1200" b="1" i="0" dirty="0">
                <a:solidFill>
                  <a:srgbClr val="1F3556"/>
                </a:solidFill>
                <a:latin typeface="+mn-lt"/>
              </a:rPr>
              <a:t>24並列で手分けする</a:t>
            </a:r>
          </a:p>
        </p:txBody>
      </p:sp>
      <p:sp>
        <p:nvSpPr>
          <p:cNvPr id="1109" name="Q1110"/>
          <p:cNvSpPr txBox="1"/>
          <p:nvPr/>
        </p:nvSpPr>
        <p:spPr>
          <a:xfrm>
            <a:off x="8788400" y="5664200"/>
            <a:ext cx="2540000" cy="635000"/>
          </a:xfrm>
          <a:prstGeom prst="rect">
            <a:avLst/>
          </a:prstGeom>
          <a:noFill/>
        </p:spPr>
        <p:txBody>
          <a:bodyPr wrap="square" lIns="0" tIns="0" rIns="0" bIns="0" anchor="t"/>
          <a:lstStyle/>
          <a:p>
            <a:pPr marL="0" indent="0" algn="l">
              <a:lnSpc>
                <a:spcPct val="112000"/>
              </a:lnSpc>
              <a:buNone/>
            </a:pPr>
            <a:r>
              <a:rPr lang="ja-JP" altLang="en-US" sz="1100" b="0" i="0" dirty="0">
                <a:solidFill>
                  <a:srgbClr val="333F52"/>
                </a:solidFill>
                <a:latin typeface="+mn-lt"/>
              </a:rPr>
              <a:t>場合分けの探索を 24スレッドで同時に進める。</a:t>
            </a:r>
          </a:p>
        </p:txBody>
      </p:sp>
    </p:spTree>
    <p:extLst>
      <p:ext uri="{BB962C8B-B14F-4D97-AF65-F5344CB8AC3E}">
        <p14:creationId xmlns:p14="http://schemas.microsoft.com/office/powerpoint/2010/main" val="115276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5F94AA-3FC6-D699-5F62-4C9D5F8A1FBB}"/>
              </a:ext>
            </a:extLst>
          </p:cNvPr>
          <p:cNvSpPr>
            <a:spLocks noGrp="1"/>
          </p:cNvSpPr>
          <p:nvPr>
            <p:ph type="title"/>
          </p:nvPr>
        </p:nvSpPr>
        <p:spPr/>
        <p:txBody>
          <a:bodyPr/>
          <a:lstStyle/>
          <a:p>
            <a:pPr algn="l">
              <a:buNone/>
            </a:pPr>
            <a:r>
              <a:rPr lang="ja-JP" altLang="en-US" sz="2200" b="1" dirty="0">
                <a:solidFill>
                  <a:srgbClr val="1F3556"/>
                </a:solidFill>
              </a:rPr>
              <a:t>全10地域が解けている — 地域別の AC 潮流結果とデータ規模</a:t>
            </a:r>
          </a:p>
        </p:txBody>
      </p:sp>
      <p:pic>
        <p:nvPicPr>
          <p:cNvPr id="3" name="図 2">
            <a:extLst>
              <a:ext uri="{FF2B5EF4-FFF2-40B4-BE49-F238E27FC236}">
                <a16:creationId xmlns:a16="http://schemas.microsoft.com/office/drawing/2014/main" id="{007A25DA-41B2-A56E-228F-1C982BCAD866}"/>
              </a:ext>
            </a:extLst>
          </p:cNvPr>
          <p:cNvPicPr>
            <a:picLocks noChangeAspect="1"/>
          </p:cNvPicPr>
          <p:nvPr/>
        </p:nvPicPr>
        <p:blipFill>
          <a:blip r:embed="rId2"/>
          <a:stretch>
            <a:fillRect/>
          </a:stretch>
        </p:blipFill>
        <p:spPr>
          <a:xfrm>
            <a:off x="584200" y="1295400"/>
            <a:ext cx="5334000" cy="4445000"/>
          </a:xfrm>
          <a:prstGeom prst="rect">
            <a:avLst/>
          </a:prstGeom>
        </p:spPr>
      </p:pic>
      <p:pic>
        <p:nvPicPr>
          <p:cNvPr id="4" name="図 3">
            <a:extLst>
              <a:ext uri="{FF2B5EF4-FFF2-40B4-BE49-F238E27FC236}">
                <a16:creationId xmlns:a16="http://schemas.microsoft.com/office/drawing/2014/main" id="{14AED982-F27B-0898-B9AA-989A1DC2E755}"/>
              </a:ext>
            </a:extLst>
          </p:cNvPr>
          <p:cNvPicPr>
            <a:picLocks noChangeAspect="1"/>
          </p:cNvPicPr>
          <p:nvPr/>
        </p:nvPicPr>
        <p:blipFill>
          <a:blip r:embed="rId3"/>
          <a:stretch>
            <a:fillRect/>
          </a:stretch>
        </p:blipFill>
        <p:spPr>
          <a:xfrm>
            <a:off x="6273800" y="1295400"/>
            <a:ext cx="5334000" cy="4305300"/>
          </a:xfrm>
          <a:prstGeom prst="rect">
            <a:avLst/>
          </a:prstGeom>
        </p:spPr>
      </p:pic>
      <p:sp>
        <p:nvSpPr>
          <p:cNvPr id="600" name="KeyBand"/>
          <p:cNvSpPr/>
          <p:nvPr/>
        </p:nvSpPr>
        <p:spPr>
          <a:xfrm>
            <a:off x="546100" y="736600"/>
            <a:ext cx="11150600" cy="381000"/>
          </a:xfrm>
          <a:prstGeom prst="rect">
            <a:avLst/>
          </a:prstGeom>
          <a:solidFill>
            <a:srgbClr val="F2F5F9"/>
          </a:solidFill>
          <a:ln>
            <a:noFill/>
          </a:ln>
        </p:spPr>
        <p:txBody>
          <a:bodyPr/>
          <a:lstStyle/>
          <a:p>
            <a:endParaRPr lang="ja-JP"/>
          </a:p>
        </p:txBody>
      </p:sp>
      <p:sp>
        <p:nvSpPr>
          <p:cNvPr id="601" name="KeyBar"/>
          <p:cNvSpPr/>
          <p:nvPr/>
        </p:nvSpPr>
        <p:spPr>
          <a:xfrm>
            <a:off x="546100" y="736600"/>
            <a:ext cx="38100" cy="381000"/>
          </a:xfrm>
          <a:prstGeom prst="rect">
            <a:avLst/>
          </a:prstGeom>
          <a:solidFill>
            <a:srgbClr val="8A2E3B"/>
          </a:solidFill>
          <a:ln>
            <a:noFill/>
          </a:ln>
        </p:spPr>
        <p:txBody>
          <a:bodyPr/>
          <a:lstStyle/>
          <a:p>
            <a:endParaRPr lang="ja-JP"/>
          </a:p>
        </p:txBody>
      </p:sp>
      <p:sp>
        <p:nvSpPr>
          <p:cNvPr id="602" name="KeyText"/>
          <p:cNvSpPr txBox="1"/>
          <p:nvPr/>
        </p:nvSpPr>
        <p:spPr>
          <a:xfrm>
            <a:off x="787400" y="736600"/>
            <a:ext cx="10744200" cy="381000"/>
          </a:xfrm>
          <a:prstGeom prst="rect">
            <a:avLst/>
          </a:prstGeom>
          <a:noFill/>
        </p:spPr>
        <p:txBody>
          <a:bodyPr wrap="square" lIns="0" tIns="0" rIns="0" bIns="0" anchor="ctr"/>
          <a:lstStyle/>
          <a:p>
            <a:pPr algn="l">
              <a:buNone/>
            </a:pPr>
            <a:r>
              <a:rPr lang="ja-JP" altLang="en-US" sz="1400" b="0" i="0" dirty="0">
                <a:solidFill>
                  <a:srgbClr val="333F52"/>
                </a:solidFill>
                <a:latin typeface="+mn-lt"/>
              </a:rPr>
              <a:t>全国 </a:t>
            </a:r>
            <a:r>
              <a:rPr lang="ja-JP" altLang="en-US" sz="1400" b="1" i="0" dirty="0">
                <a:solidFill>
                  <a:srgbClr val="1F3556"/>
                </a:solidFill>
                <a:latin typeface="+mn-lt"/>
              </a:rPr>
              <a:t>6,962 バス</a:t>
            </a:r>
            <a:r>
              <a:rPr lang="ja-JP" altLang="en-US" sz="1400" b="0" i="0" dirty="0">
                <a:solidFill>
                  <a:srgbClr val="333F52"/>
                </a:solidFill>
                <a:latin typeface="+mn-lt"/>
              </a:rPr>
              <a:t> ／ 送電線 </a:t>
            </a:r>
            <a:r>
              <a:rPr lang="ja-JP" altLang="en-US" sz="1400" b="1" i="0" dirty="0">
                <a:solidFill>
                  <a:srgbClr val="1F3556"/>
                </a:solidFill>
                <a:latin typeface="+mn-lt"/>
              </a:rPr>
              <a:t>40,077</a:t>
            </a:r>
            <a:r>
              <a:rPr lang="ja-JP" altLang="en-US" sz="1400" b="0" i="0" dirty="0">
                <a:solidFill>
                  <a:srgbClr val="333F52"/>
                </a:solidFill>
                <a:latin typeface="+mn-lt"/>
              </a:rPr>
              <a:t> ／ 発電所 </a:t>
            </a:r>
            <a:r>
              <a:rPr lang="ja-JP" altLang="en-US" sz="1400" b="1" i="0" dirty="0">
                <a:solidFill>
                  <a:srgbClr val="1F3556"/>
                </a:solidFill>
                <a:latin typeface="+mn-lt"/>
              </a:rPr>
              <a:t>19,138</a:t>
            </a:r>
            <a:r>
              <a:rPr lang="ja-JP" altLang="en-US" sz="1400" b="0" i="0" dirty="0">
                <a:solidFill>
                  <a:srgbClr val="333F52"/>
                </a:solidFill>
                <a:latin typeface="+mn-lt"/>
              </a:rPr>
              <a:t>　損失合計 </a:t>
            </a:r>
            <a:r>
              <a:rPr lang="ja-JP" altLang="en-US" sz="1400" b="1" i="0" dirty="0">
                <a:solidFill>
                  <a:srgbClr val="1F3556"/>
                </a:solidFill>
                <a:latin typeface="+mn-lt"/>
              </a:rPr>
              <a:t>1,601 MW</a:t>
            </a:r>
            <a:r>
              <a:rPr lang="ja-JP" altLang="en-US" sz="1400" b="0" i="0" dirty="0">
                <a:solidFill>
                  <a:srgbClr val="333F52"/>
                </a:solidFill>
                <a:latin typeface="+mn-lt"/>
              </a:rPr>
              <a:t>　電圧 </a:t>
            </a:r>
            <a:r>
              <a:rPr lang="ja-JP" altLang="en-US" sz="1400" b="1" i="0" dirty="0">
                <a:solidFill>
                  <a:srgbClr val="8A2E3B"/>
                </a:solidFill>
                <a:latin typeface="+mn-lt"/>
              </a:rPr>
              <a:t>0.65–1.01 pu</a:t>
            </a:r>
            <a:r>
              <a:rPr lang="ja-JP" altLang="en-US" sz="1400" b="0" i="0" dirty="0">
                <a:solidFill>
                  <a:srgbClr val="333F52"/>
                </a:solidFill>
                <a:latin typeface="+mn-lt"/>
              </a:rPr>
              <a:t>（10地域すべて収束）</a:t>
            </a:r>
          </a:p>
        </p:txBody>
      </p:sp>
      <p:sp>
        <p:nvSpPr>
          <p:cNvPr id="700" name="ReadBand"/>
          <p:cNvSpPr/>
          <p:nvPr/>
        </p:nvSpPr>
        <p:spPr>
          <a:xfrm>
            <a:off x="546100" y="5816600"/>
            <a:ext cx="10668000" cy="635000"/>
          </a:xfrm>
          <a:prstGeom prst="rect">
            <a:avLst/>
          </a:prstGeom>
          <a:solidFill>
            <a:srgbClr val="F2F5F9"/>
          </a:solidFill>
          <a:ln>
            <a:noFill/>
          </a:ln>
        </p:spPr>
        <p:txBody>
          <a:bodyPr/>
          <a:lstStyle/>
          <a:p>
            <a:endParaRPr lang="ja-JP"/>
          </a:p>
        </p:txBody>
      </p:sp>
      <p:sp>
        <p:nvSpPr>
          <p:cNvPr id="701" name="ReadBar"/>
          <p:cNvSpPr/>
          <p:nvPr/>
        </p:nvSpPr>
        <p:spPr>
          <a:xfrm>
            <a:off x="546100" y="5816600"/>
            <a:ext cx="38100" cy="635000"/>
          </a:xfrm>
          <a:prstGeom prst="rect">
            <a:avLst/>
          </a:prstGeom>
          <a:solidFill>
            <a:srgbClr val="8A2E3B"/>
          </a:solidFill>
          <a:ln>
            <a:noFill/>
          </a:ln>
        </p:spPr>
        <p:txBody>
          <a:bodyPr/>
          <a:lstStyle/>
          <a:p>
            <a:endParaRPr lang="ja-JP"/>
          </a:p>
        </p:txBody>
      </p:sp>
      <p:sp>
        <p:nvSpPr>
          <p:cNvPr id="702" name="ReadText"/>
          <p:cNvSpPr txBox="1"/>
          <p:nvPr/>
        </p:nvSpPr>
        <p:spPr>
          <a:xfrm>
            <a:off x="787400" y="5905500"/>
            <a:ext cx="10261600" cy="482600"/>
          </a:xfrm>
          <a:prstGeom prst="rect">
            <a:avLst/>
          </a:prstGeom>
          <a:noFill/>
        </p:spPr>
        <p:txBody>
          <a:bodyPr wrap="square" lIns="0" tIns="0" rIns="0" bIns="0" anchor="t"/>
          <a:lstStyle/>
          <a:p>
            <a:pPr marL="130000" indent="-130000" algn="l">
              <a:lnSpc>
                <a:spcPct val="115000"/>
              </a:lnSpc>
              <a:buFont typeface="Arial"/>
              <a:buChar char="・"/>
            </a:pPr>
            <a:r>
              <a:rPr lang="ja-JP" altLang="en-US" sz="1300" b="0" i="0" dirty="0">
                <a:solidFill>
                  <a:srgbClr val="333F52"/>
                </a:solidFill>
                <a:latin typeface="+mn-lt"/>
              </a:rPr>
              <a:t>損失は東京が </a:t>
            </a:r>
            <a:r>
              <a:rPr lang="ja-JP" altLang="en-US" sz="1300" b="1" i="0" dirty="0">
                <a:solidFill>
                  <a:srgbClr val="1F3556"/>
                </a:solidFill>
                <a:latin typeface="+mn-lt"/>
              </a:rPr>
              <a:t>994 MW</a:t>
            </a:r>
            <a:r>
              <a:rPr lang="ja-JP" altLang="en-US" sz="1300" b="0" i="0" dirty="0">
                <a:solidFill>
                  <a:srgbClr val="333F52"/>
                </a:solidFill>
                <a:latin typeface="+mn-lt"/>
              </a:rPr>
              <a:t>（全国 1,601 MW の約6割）。規模の大きい系統に集中している。</a:t>
            </a:r>
          </a:p>
          <a:p>
            <a:pPr marL="130000" indent="-130000" algn="l">
              <a:lnSpc>
                <a:spcPct val="115000"/>
              </a:lnSpc>
              <a:buFont typeface="Arial"/>
              <a:buChar char="・"/>
            </a:pPr>
            <a:r>
              <a:rPr lang="ja-JP" altLang="en-US" sz="1300" b="0" i="0" dirty="0">
                <a:solidFill>
                  <a:srgbClr val="333F52"/>
                </a:solidFill>
                <a:latin typeface="+mn-lt"/>
              </a:rPr>
              <a:t>電圧下限は北海道 </a:t>
            </a:r>
            <a:r>
              <a:rPr lang="ja-JP" altLang="en-US" sz="1300" b="1" i="0" dirty="0">
                <a:solidFill>
                  <a:srgbClr val="8A2E3B"/>
                </a:solidFill>
                <a:latin typeface="+mn-lt"/>
              </a:rPr>
              <a:t>0.06 pu</a:t>
            </a:r>
            <a:r>
              <a:rPr lang="ja-JP" altLang="en-US" sz="1300" b="0" i="0" dirty="0">
                <a:solidFill>
                  <a:srgbClr val="333F52"/>
                </a:solidFill>
                <a:latin typeface="+mn-lt"/>
              </a:rPr>
              <a:t>・関西 </a:t>
            </a:r>
            <a:r>
              <a:rPr lang="ja-JP" altLang="en-US" sz="1300" b="1" i="0" dirty="0">
                <a:solidFill>
                  <a:srgbClr val="8A2E3B"/>
                </a:solidFill>
                <a:latin typeface="+mn-lt"/>
              </a:rPr>
              <a:t>0.65 pu</a:t>
            </a:r>
            <a:r>
              <a:rPr lang="ja-JP" altLang="en-US" sz="1300" b="0" i="0" dirty="0">
                <a:solidFill>
                  <a:srgbClr val="333F52"/>
                </a:solidFill>
                <a:latin typeface="+mn-lt"/>
              </a:rPr>
              <a:t> — 0.9 を下回る地域は要調査（50Hz は北海道・東北・東京の3地域）。</a:t>
            </a:r>
          </a:p>
        </p:txBody>
      </p:sp>
    </p:spTree>
    <p:extLst>
      <p:ext uri="{BB962C8B-B14F-4D97-AF65-F5344CB8AC3E}">
        <p14:creationId xmlns:p14="http://schemas.microsoft.com/office/powerpoint/2010/main" val="915806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0A0D1A"/>
        </a:solidFill>
        <a:effectLst/>
      </p:bgPr>
    </p:bg>
    <p:spTree>
      <p:nvGrpSpPr>
        <p:cNvPr id="1" name=""/>
        <p:cNvGrpSpPr/>
        <p:nvPr/>
      </p:nvGrpSpPr>
      <p:grpSpPr>
        <a:xfrm>
          <a:off x="0" y="0"/>
          <a:ext cx="0" cy="0"/>
          <a:chOff x="0" y="0"/>
          <a:chExt cx="0" cy="0"/>
        </a:xfrm>
      </p:grpSpPr>
      <p:pic>
        <p:nvPicPr>
          <p:cNvPr id="2" name="Image 0" descr="assets/pipeline_buildup.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OSMから、日本全体の系統モデルを組む</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6段階の組み上げ — 全フレーム実データ</a:t>
            </a:r>
            <a:endParaRPr lang="en-US" sz="1100" dirty="0"/>
          </a:p>
        </p:txBody>
      </p:sp>
      <p:pic>
        <p:nvPicPr>
          <p:cNvPr id="5" name="図 4">
            <a:extLst>
              <a:ext uri="{FF2B5EF4-FFF2-40B4-BE49-F238E27FC236}">
                <a16:creationId xmlns:a16="http://schemas.microsoft.com/office/drawing/2014/main" id="{20AC8A5D-EF74-C541-0054-0A3AC2FF0CD8}"/>
              </a:ext>
            </a:extLst>
          </p:cNvPr>
          <p:cNvPicPr>
            <a:picLocks noChangeAspect="1"/>
          </p:cNvPicPr>
          <p:nvPr/>
        </p:nvPicPr>
        <p:blipFill rotWithShape="1">
          <a:blip r:embed="rId4"/>
          <a:srcRect l="8450" t="6883" r="8744" b="7875"/>
          <a:stretch>
            <a:fillRect/>
          </a:stretch>
        </p:blipFill>
        <p:spPr>
          <a:xfrm>
            <a:off x="11128289" y="0"/>
            <a:ext cx="1063711" cy="1092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序</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6ヶ月の行程： — すんなりは、通っていない</a:t>
            </a:r>
            <a:endParaRPr lang="en-US" sz="2100" dirty="0"/>
          </a:p>
        </p:txBody>
      </p:sp>
      <p:sp>
        <p:nvSpPr>
          <p:cNvPr id="5" name="Shape 3"/>
          <p:cNvSpPr/>
          <p:nvPr/>
        </p:nvSpPr>
        <p:spPr>
          <a:xfrm>
            <a:off x="622300" y="787400"/>
            <a:ext cx="1879600" cy="2108200"/>
          </a:xfrm>
          <a:prstGeom prst="roundRect">
            <a:avLst>
              <a:gd name="adj" fmla="val 3070"/>
            </a:avLst>
          </a:prstGeom>
          <a:solidFill>
            <a:srgbClr val="F4F4F6"/>
          </a:solidFill>
          <a:ln/>
        </p:spPr>
        <p:txBody>
          <a:bodyPr/>
          <a:lstStyle/>
          <a:p>
            <a:endParaRPr lang="ja-JP" altLang="en-US"/>
          </a:p>
        </p:txBody>
      </p:sp>
      <p:sp>
        <p:nvSpPr>
          <p:cNvPr id="6" name="Shape 4"/>
          <p:cNvSpPr/>
          <p:nvPr/>
        </p:nvSpPr>
        <p:spPr>
          <a:xfrm>
            <a:off x="622300" y="787400"/>
            <a:ext cx="1879600" cy="109728"/>
          </a:xfrm>
          <a:prstGeom prst="rect">
            <a:avLst/>
          </a:prstGeom>
          <a:solidFill>
            <a:srgbClr val="9A9AA6"/>
          </a:solidFill>
          <a:ln/>
        </p:spPr>
        <p:txBody>
          <a:bodyPr/>
          <a:lstStyle/>
          <a:p>
            <a:endParaRPr lang="ja-JP" altLang="en-US"/>
          </a:p>
        </p:txBody>
      </p:sp>
      <p:sp>
        <p:nvSpPr>
          <p:cNvPr id="7" name="Text 5"/>
          <p:cNvSpPr/>
          <p:nvPr/>
        </p:nvSpPr>
        <p:spPr>
          <a:xfrm>
            <a:off x="749300" y="939800"/>
            <a:ext cx="1625600" cy="25400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第1幕　v1.0</a:t>
            </a:r>
            <a:endParaRPr lang="en-US" sz="1050" dirty="0"/>
          </a:p>
        </p:txBody>
      </p:sp>
      <p:sp>
        <p:nvSpPr>
          <p:cNvPr id="8" name="Text 6"/>
          <p:cNvSpPr/>
          <p:nvPr/>
        </p:nvSpPr>
        <p:spPr>
          <a:xfrm>
            <a:off x="749300" y="1193800"/>
            <a:ext cx="1625600" cy="55880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地理を掘る</a:t>
            </a:r>
            <a:endParaRPr lang="en-US" sz="1450" dirty="0"/>
          </a:p>
        </p:txBody>
      </p:sp>
      <p:sp>
        <p:nvSpPr>
          <p:cNvPr id="9" name="Text 7"/>
          <p:cNvSpPr/>
          <p:nvPr/>
        </p:nvSpPr>
        <p:spPr>
          <a:xfrm>
            <a:off x="749300" y="1752600"/>
            <a:ext cx="1625600" cy="431800"/>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OSM抽出・7段補完・UC/PF 一式</a:t>
            </a:r>
            <a:endParaRPr lang="en-US" sz="950" dirty="0"/>
          </a:p>
        </p:txBody>
      </p:sp>
      <p:sp>
        <p:nvSpPr>
          <p:cNvPr id="10" name="Text 8"/>
          <p:cNvSpPr/>
          <p:nvPr/>
        </p:nvSpPr>
        <p:spPr>
          <a:xfrm>
            <a:off x="749300" y="2235200"/>
            <a:ext cx="1625600" cy="45720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電圧タグ欠測87%・断片だらけから開始</a:t>
            </a:r>
            <a:endParaRPr lang="en-US" sz="900" dirty="0"/>
          </a:p>
        </p:txBody>
      </p:sp>
      <p:sp>
        <p:nvSpPr>
          <p:cNvPr id="11" name="Text 9"/>
          <p:cNvSpPr/>
          <p:nvPr/>
        </p:nvSpPr>
        <p:spPr>
          <a:xfrm>
            <a:off x="622300" y="2946400"/>
            <a:ext cx="1879600" cy="355600"/>
          </a:xfrm>
          <a:prstGeom prst="rect">
            <a:avLst/>
          </a:prstGeom>
          <a:noFill/>
          <a:ln/>
        </p:spPr>
        <p:txBody>
          <a:bodyPr wrap="square" lIns="0" tIns="0" rIns="0" bIns="0" rtlCol="0" anchor="t"/>
          <a:lstStyle/>
          <a:p>
            <a:pPr marL="0" indent="0" algn="ctr">
              <a:lnSpc>
                <a:spcPts val="1200"/>
              </a:lnSpc>
              <a:buNone/>
            </a:pPr>
            <a:r>
              <a:rPr lang="en-US" sz="900" i="0" dirty="0">
                <a:solidFill>
                  <a:srgbClr val="1E2761"/>
                </a:solidFill>
                <a:latin typeface="Hiragino Sans" pitchFamily="34" charset="0"/>
                <a:ea typeface="Hiragino Sans" pitchFamily="34" charset="-122"/>
                <a:cs typeface="Hiragino Sans" pitchFamily="34" charset="-120"/>
              </a:rPr>
              <a:t>「地図はある」→ モデルにした</a:t>
            </a:r>
            <a:endParaRPr lang="en-US" sz="900" dirty="0"/>
          </a:p>
        </p:txBody>
      </p:sp>
      <p:sp>
        <p:nvSpPr>
          <p:cNvPr id="12" name="Shape 10"/>
          <p:cNvSpPr/>
          <p:nvPr/>
        </p:nvSpPr>
        <p:spPr>
          <a:xfrm>
            <a:off x="2946400" y="787400"/>
            <a:ext cx="1879600" cy="2108200"/>
          </a:xfrm>
          <a:prstGeom prst="roundRect">
            <a:avLst>
              <a:gd name="adj" fmla="val 3070"/>
            </a:avLst>
          </a:prstGeom>
          <a:solidFill>
            <a:srgbClr val="F4F4F6"/>
          </a:solidFill>
          <a:ln/>
        </p:spPr>
        <p:txBody>
          <a:bodyPr/>
          <a:lstStyle/>
          <a:p>
            <a:endParaRPr lang="ja-JP" altLang="en-US"/>
          </a:p>
        </p:txBody>
      </p:sp>
      <p:sp>
        <p:nvSpPr>
          <p:cNvPr id="13" name="Shape 11"/>
          <p:cNvSpPr/>
          <p:nvPr/>
        </p:nvSpPr>
        <p:spPr>
          <a:xfrm>
            <a:off x="2946400" y="787400"/>
            <a:ext cx="1879600" cy="109728"/>
          </a:xfrm>
          <a:prstGeom prst="rect">
            <a:avLst/>
          </a:prstGeom>
          <a:solidFill>
            <a:srgbClr val="17BECF"/>
          </a:solidFill>
          <a:ln/>
        </p:spPr>
        <p:txBody>
          <a:bodyPr/>
          <a:lstStyle/>
          <a:p>
            <a:endParaRPr lang="ja-JP" altLang="en-US"/>
          </a:p>
        </p:txBody>
      </p:sp>
      <p:sp>
        <p:nvSpPr>
          <p:cNvPr id="14" name="Text 12"/>
          <p:cNvSpPr/>
          <p:nvPr/>
        </p:nvSpPr>
        <p:spPr>
          <a:xfrm>
            <a:off x="3073400" y="939800"/>
            <a:ext cx="1625600" cy="25400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第2幕　v1.1–1.4</a:t>
            </a:r>
            <a:endParaRPr lang="en-US" sz="1050" dirty="0"/>
          </a:p>
        </p:txBody>
      </p:sp>
      <p:sp>
        <p:nvSpPr>
          <p:cNvPr id="15" name="Text 13"/>
          <p:cNvSpPr/>
          <p:nvPr/>
        </p:nvSpPr>
        <p:spPr>
          <a:xfrm>
            <a:off x="3073400" y="1193800"/>
            <a:ext cx="1625600" cy="55880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電気にして</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標準で渡す</a:t>
            </a:r>
            <a:endParaRPr lang="en-US" sz="1450" dirty="0"/>
          </a:p>
        </p:txBody>
      </p:sp>
      <p:sp>
        <p:nvSpPr>
          <p:cNvPr id="16" name="Text 14"/>
          <p:cNvSpPr/>
          <p:nvPr/>
        </p:nvSpPr>
        <p:spPr>
          <a:xfrm>
            <a:off x="3073400" y="1752600"/>
            <a:ext cx="1625600" cy="431800"/>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CIM/CGMES・統一DB・全10地域AC</a:t>
            </a:r>
            <a:endParaRPr lang="en-US" sz="950" dirty="0"/>
          </a:p>
        </p:txBody>
      </p:sp>
      <p:sp>
        <p:nvSpPr>
          <p:cNvPr id="17" name="Text 15"/>
          <p:cNvSpPr/>
          <p:nvPr/>
        </p:nvSpPr>
        <p:spPr>
          <a:xfrm>
            <a:off x="3073400" y="2235200"/>
            <a:ext cx="1625600" cy="45720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並列回線・電圧タグのバグを潰すまで解けず</a:t>
            </a:r>
            <a:endParaRPr lang="en-US" sz="900" dirty="0"/>
          </a:p>
        </p:txBody>
      </p:sp>
      <p:sp>
        <p:nvSpPr>
          <p:cNvPr id="18" name="Text 16"/>
          <p:cNvSpPr/>
          <p:nvPr/>
        </p:nvSpPr>
        <p:spPr>
          <a:xfrm>
            <a:off x="2946400" y="2946400"/>
            <a:ext cx="1879600" cy="355600"/>
          </a:xfrm>
          <a:prstGeom prst="rect">
            <a:avLst/>
          </a:prstGeom>
          <a:noFill/>
          <a:ln/>
        </p:spPr>
        <p:txBody>
          <a:bodyPr wrap="square" lIns="0" tIns="0" rIns="0" bIns="0" rtlCol="0" anchor="t"/>
          <a:lstStyle/>
          <a:p>
            <a:pPr marL="0" indent="0" algn="ctr">
              <a:lnSpc>
                <a:spcPts val="1200"/>
              </a:lnSpc>
              <a:buNone/>
            </a:pPr>
            <a:r>
              <a:rPr lang="en-US" sz="900" i="0" dirty="0">
                <a:solidFill>
                  <a:srgbClr val="1E2761"/>
                </a:solidFill>
                <a:latin typeface="Hiragino Sans" pitchFamily="34" charset="0"/>
                <a:ea typeface="Hiragino Sans" pitchFamily="34" charset="-122"/>
                <a:cs typeface="Hiragino Sans" pitchFamily="34" charset="-120"/>
              </a:rPr>
              <a:t>作れた → 解けるのか？</a:t>
            </a:r>
            <a:endParaRPr lang="en-US" sz="900" dirty="0"/>
          </a:p>
        </p:txBody>
      </p:sp>
      <p:sp>
        <p:nvSpPr>
          <p:cNvPr id="19" name="Shape 17"/>
          <p:cNvSpPr/>
          <p:nvPr/>
        </p:nvSpPr>
        <p:spPr>
          <a:xfrm>
            <a:off x="5270500" y="787400"/>
            <a:ext cx="1879600" cy="2108200"/>
          </a:xfrm>
          <a:prstGeom prst="roundRect">
            <a:avLst>
              <a:gd name="adj" fmla="val 3070"/>
            </a:avLst>
          </a:prstGeom>
          <a:solidFill>
            <a:srgbClr val="F4F4F6"/>
          </a:solidFill>
          <a:ln/>
        </p:spPr>
        <p:txBody>
          <a:bodyPr/>
          <a:lstStyle/>
          <a:p>
            <a:endParaRPr lang="ja-JP" altLang="en-US"/>
          </a:p>
        </p:txBody>
      </p:sp>
      <p:sp>
        <p:nvSpPr>
          <p:cNvPr id="20" name="Shape 18"/>
          <p:cNvSpPr/>
          <p:nvPr/>
        </p:nvSpPr>
        <p:spPr>
          <a:xfrm>
            <a:off x="5270500" y="787400"/>
            <a:ext cx="1879600" cy="109728"/>
          </a:xfrm>
          <a:prstGeom prst="rect">
            <a:avLst/>
          </a:prstGeom>
          <a:solidFill>
            <a:srgbClr val="9467BD"/>
          </a:solidFill>
          <a:ln/>
        </p:spPr>
        <p:txBody>
          <a:bodyPr/>
          <a:lstStyle/>
          <a:p>
            <a:endParaRPr lang="ja-JP" altLang="en-US"/>
          </a:p>
        </p:txBody>
      </p:sp>
      <p:sp>
        <p:nvSpPr>
          <p:cNvPr id="21" name="Text 19"/>
          <p:cNvSpPr/>
          <p:nvPr/>
        </p:nvSpPr>
        <p:spPr>
          <a:xfrm>
            <a:off x="5397500" y="939800"/>
            <a:ext cx="1625600" cy="25400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第3幕　v1.5–1.6</a:t>
            </a:r>
            <a:endParaRPr lang="en-US" sz="1050" dirty="0"/>
          </a:p>
        </p:txBody>
      </p:sp>
      <p:sp>
        <p:nvSpPr>
          <p:cNvPr id="22" name="Text 20"/>
          <p:cNvSpPr/>
          <p:nvPr/>
        </p:nvSpPr>
        <p:spPr>
          <a:xfrm>
            <a:off x="5397500" y="1193800"/>
            <a:ext cx="1625600" cy="55880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誠実さを</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制度にする</a:t>
            </a:r>
            <a:endParaRPr lang="en-US" sz="1450" dirty="0"/>
          </a:p>
        </p:txBody>
      </p:sp>
      <p:sp>
        <p:nvSpPr>
          <p:cNvPr id="23" name="Text 21"/>
          <p:cNvSpPr/>
          <p:nvPr/>
        </p:nvSpPr>
        <p:spPr>
          <a:xfrm>
            <a:off x="5397500" y="1752600"/>
            <a:ext cx="1625600" cy="431800"/>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介入台帳・fake-AC検出・二重抽出根治</a:t>
            </a:r>
            <a:endParaRPr lang="en-US" sz="950" dirty="0"/>
          </a:p>
        </p:txBody>
      </p:sp>
      <p:sp>
        <p:nvSpPr>
          <p:cNvPr id="24" name="Text 22"/>
          <p:cNvSpPr/>
          <p:nvPr/>
        </p:nvSpPr>
        <p:spPr>
          <a:xfrm>
            <a:off x="5397500" y="2235200"/>
            <a:ext cx="1625600" cy="45720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「解けた」が嘘だった・西2,531成分の謎</a:t>
            </a:r>
            <a:endParaRPr lang="en-US" sz="900" dirty="0"/>
          </a:p>
        </p:txBody>
      </p:sp>
      <p:sp>
        <p:nvSpPr>
          <p:cNvPr id="25" name="Text 23"/>
          <p:cNvSpPr/>
          <p:nvPr/>
        </p:nvSpPr>
        <p:spPr>
          <a:xfrm>
            <a:off x="5270500" y="2946400"/>
            <a:ext cx="1879600" cy="355600"/>
          </a:xfrm>
          <a:prstGeom prst="rect">
            <a:avLst/>
          </a:prstGeom>
          <a:noFill/>
          <a:ln/>
        </p:spPr>
        <p:txBody>
          <a:bodyPr wrap="square" lIns="0" tIns="0" rIns="0" bIns="0" rtlCol="0" anchor="t"/>
          <a:lstStyle/>
          <a:p>
            <a:pPr marL="0" indent="0" algn="ctr">
              <a:lnSpc>
                <a:spcPts val="1200"/>
              </a:lnSpc>
              <a:buNone/>
            </a:pPr>
            <a:r>
              <a:rPr lang="en-US" sz="900" i="0" dirty="0">
                <a:solidFill>
                  <a:srgbClr val="1E2761"/>
                </a:solidFill>
                <a:latin typeface="Hiragino Sans" pitchFamily="34" charset="0"/>
                <a:ea typeface="Hiragino Sans" pitchFamily="34" charset="-122"/>
                <a:cs typeface="Hiragino Sans" pitchFamily="34" charset="-120"/>
              </a:rPr>
              <a:t>解けた → 本当か？</a:t>
            </a:r>
            <a:endParaRPr lang="en-US" sz="900" dirty="0"/>
          </a:p>
        </p:txBody>
      </p:sp>
      <p:sp>
        <p:nvSpPr>
          <p:cNvPr id="26" name="Shape 24"/>
          <p:cNvSpPr/>
          <p:nvPr/>
        </p:nvSpPr>
        <p:spPr>
          <a:xfrm>
            <a:off x="7594600" y="787400"/>
            <a:ext cx="1879600" cy="2108200"/>
          </a:xfrm>
          <a:prstGeom prst="roundRect">
            <a:avLst>
              <a:gd name="adj" fmla="val 3070"/>
            </a:avLst>
          </a:prstGeom>
          <a:solidFill>
            <a:srgbClr val="F4F4F6"/>
          </a:solidFill>
          <a:ln/>
        </p:spPr>
        <p:txBody>
          <a:bodyPr/>
          <a:lstStyle/>
          <a:p>
            <a:endParaRPr lang="ja-JP" altLang="en-US"/>
          </a:p>
        </p:txBody>
      </p:sp>
      <p:sp>
        <p:nvSpPr>
          <p:cNvPr id="27" name="Shape 25"/>
          <p:cNvSpPr/>
          <p:nvPr/>
        </p:nvSpPr>
        <p:spPr>
          <a:xfrm>
            <a:off x="7594600" y="787400"/>
            <a:ext cx="1879600" cy="109728"/>
          </a:xfrm>
          <a:prstGeom prst="rect">
            <a:avLst/>
          </a:prstGeom>
          <a:solidFill>
            <a:srgbClr val="FF7F0E"/>
          </a:solidFill>
          <a:ln/>
        </p:spPr>
        <p:txBody>
          <a:bodyPr/>
          <a:lstStyle/>
          <a:p>
            <a:endParaRPr lang="ja-JP" altLang="en-US"/>
          </a:p>
        </p:txBody>
      </p:sp>
      <p:sp>
        <p:nvSpPr>
          <p:cNvPr id="28" name="Text 26"/>
          <p:cNvSpPr/>
          <p:nvPr/>
        </p:nvSpPr>
        <p:spPr>
          <a:xfrm>
            <a:off x="7721600" y="939800"/>
            <a:ext cx="1625600" cy="25400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第4幕　v1.7</a:t>
            </a:r>
            <a:endParaRPr lang="en-US" sz="1050" dirty="0"/>
          </a:p>
        </p:txBody>
      </p:sp>
      <p:sp>
        <p:nvSpPr>
          <p:cNvPr id="29" name="Text 27"/>
          <p:cNvSpPr/>
          <p:nvPr/>
        </p:nvSpPr>
        <p:spPr>
          <a:xfrm>
            <a:off x="7721600" y="1193800"/>
            <a:ext cx="1625600" cy="55880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公式開示と</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接続する</a:t>
            </a:r>
            <a:endParaRPr lang="en-US" sz="1450" dirty="0"/>
          </a:p>
        </p:txBody>
      </p:sp>
      <p:sp>
        <p:nvSpPr>
          <p:cNvPr id="30" name="Text 28"/>
          <p:cNvSpPr/>
          <p:nvPr/>
        </p:nvSpPr>
        <p:spPr>
          <a:xfrm>
            <a:off x="7721600" y="1752600"/>
            <a:ext cx="1625600" cy="431800"/>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様式5・OCCTO容量・実測突合</a:t>
            </a:r>
            <a:endParaRPr lang="en-US" sz="950" dirty="0"/>
          </a:p>
        </p:txBody>
      </p:sp>
      <p:sp>
        <p:nvSpPr>
          <p:cNvPr id="31" name="Text 29"/>
          <p:cNvSpPr/>
          <p:nvPr/>
        </p:nvSpPr>
        <p:spPr>
          <a:xfrm>
            <a:off x="7721600" y="2235200"/>
            <a:ext cx="1625600" cy="45720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開示とずれる地域 — 上書きせず照合</a:t>
            </a:r>
            <a:endParaRPr lang="en-US" sz="900" dirty="0"/>
          </a:p>
        </p:txBody>
      </p:sp>
      <p:sp>
        <p:nvSpPr>
          <p:cNvPr id="32" name="Text 30"/>
          <p:cNvSpPr/>
          <p:nvPr/>
        </p:nvSpPr>
        <p:spPr>
          <a:xfrm>
            <a:off x="7594600" y="2946400"/>
            <a:ext cx="1879600" cy="355600"/>
          </a:xfrm>
          <a:prstGeom prst="rect">
            <a:avLst/>
          </a:prstGeom>
          <a:noFill/>
          <a:ln/>
        </p:spPr>
        <p:txBody>
          <a:bodyPr wrap="square" lIns="0" tIns="0" rIns="0" bIns="0" rtlCol="0" anchor="t"/>
          <a:lstStyle/>
          <a:p>
            <a:pPr marL="0" indent="0" algn="ctr">
              <a:lnSpc>
                <a:spcPts val="1200"/>
              </a:lnSpc>
              <a:buNone/>
            </a:pPr>
            <a:r>
              <a:rPr lang="en-US" sz="900" i="0" dirty="0">
                <a:solidFill>
                  <a:srgbClr val="1E2761"/>
                </a:solidFill>
                <a:latin typeface="Hiragino Sans" pitchFamily="34" charset="0"/>
                <a:ea typeface="Hiragino Sans" pitchFamily="34" charset="-122"/>
                <a:cs typeface="Hiragino Sans" pitchFamily="34" charset="-120"/>
              </a:rPr>
              <a:t>正した → 現実と合うか？</a:t>
            </a:r>
            <a:endParaRPr lang="en-US" sz="900" dirty="0"/>
          </a:p>
        </p:txBody>
      </p:sp>
      <p:sp>
        <p:nvSpPr>
          <p:cNvPr id="33" name="Shape 31"/>
          <p:cNvSpPr/>
          <p:nvPr/>
        </p:nvSpPr>
        <p:spPr>
          <a:xfrm>
            <a:off x="9918700" y="787400"/>
            <a:ext cx="1879600" cy="2108200"/>
          </a:xfrm>
          <a:prstGeom prst="roundRect">
            <a:avLst>
              <a:gd name="adj" fmla="val 3070"/>
            </a:avLst>
          </a:prstGeom>
          <a:solidFill>
            <a:srgbClr val="F4F4F6"/>
          </a:solidFill>
          <a:ln/>
        </p:spPr>
        <p:txBody>
          <a:bodyPr/>
          <a:lstStyle/>
          <a:p>
            <a:endParaRPr lang="ja-JP" altLang="en-US"/>
          </a:p>
        </p:txBody>
      </p:sp>
      <p:sp>
        <p:nvSpPr>
          <p:cNvPr id="34" name="Shape 32"/>
          <p:cNvSpPr/>
          <p:nvPr/>
        </p:nvSpPr>
        <p:spPr>
          <a:xfrm>
            <a:off x="9918700" y="787400"/>
            <a:ext cx="1879600" cy="109728"/>
          </a:xfrm>
          <a:prstGeom prst="rect">
            <a:avLst/>
          </a:prstGeom>
          <a:solidFill>
            <a:srgbClr val="D62728"/>
          </a:solidFill>
          <a:ln/>
        </p:spPr>
        <p:txBody>
          <a:bodyPr/>
          <a:lstStyle/>
          <a:p>
            <a:endParaRPr lang="ja-JP" altLang="en-US"/>
          </a:p>
        </p:txBody>
      </p:sp>
      <p:sp>
        <p:nvSpPr>
          <p:cNvPr id="35" name="Text 33"/>
          <p:cNvSpPr/>
          <p:nvPr/>
        </p:nvSpPr>
        <p:spPr>
          <a:xfrm>
            <a:off x="10045700" y="939800"/>
            <a:ext cx="1625600" cy="254000"/>
          </a:xfrm>
          <a:prstGeom prst="rect">
            <a:avLst/>
          </a:prstGeom>
          <a:noFill/>
          <a:ln/>
        </p:spPr>
        <p:txBody>
          <a:bodyPr wrap="square" lIns="0" tIns="0" rIns="0" bIns="0" rtlCol="0" anchor="ctr"/>
          <a:lstStyle/>
          <a:p>
            <a:pPr marL="0" indent="0">
              <a:buNone/>
            </a:pPr>
            <a:r>
              <a:rPr lang="en-US" sz="1050" b="1" dirty="0">
                <a:solidFill>
                  <a:srgbClr val="55555F"/>
                </a:solidFill>
                <a:latin typeface="Helvetica Neue" pitchFamily="34" charset="0"/>
                <a:ea typeface="Helvetica Neue" pitchFamily="34" charset="-122"/>
                <a:cs typeface="Helvetica Neue" pitchFamily="34" charset="-120"/>
              </a:rPr>
              <a:t>第5幕　v1.8</a:t>
            </a:r>
            <a:endParaRPr lang="en-US" sz="1050" dirty="0"/>
          </a:p>
        </p:txBody>
      </p:sp>
      <p:sp>
        <p:nvSpPr>
          <p:cNvPr id="36" name="Text 34"/>
          <p:cNvSpPr/>
          <p:nvPr/>
        </p:nvSpPr>
        <p:spPr>
          <a:xfrm>
            <a:off x="10045700" y="1193800"/>
            <a:ext cx="1625600" cy="558800"/>
          </a:xfrm>
          <a:prstGeom prst="rect">
            <a:avLst/>
          </a:prstGeom>
          <a:noFill/>
          <a:ln/>
        </p:spPr>
        <p:txBody>
          <a:bodyPr wrap="square" lIns="0" tIns="0" rIns="0" bIns="0" rtlCol="0" anchor="ctr"/>
          <a:lstStyle/>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変電所の</a:t>
            </a:r>
            <a:endParaRPr lang="en-US" sz="1450" dirty="0"/>
          </a:p>
          <a:p>
            <a:pPr marL="0" indent="0">
              <a:lnSpc>
                <a:spcPts val="1900"/>
              </a:lnSpc>
              <a:buNone/>
            </a:pPr>
            <a:r>
              <a:rPr lang="en-US" sz="1450" b="1" dirty="0">
                <a:solidFill>
                  <a:srgbClr val="1A1A1A"/>
                </a:solidFill>
                <a:latin typeface="Hiragino Sans" pitchFamily="34" charset="0"/>
                <a:ea typeface="Hiragino Sans" pitchFamily="34" charset="-122"/>
                <a:cs typeface="Hiragino Sans" pitchFamily="34" charset="-120"/>
              </a:rPr>
              <a:t>中へ</a:t>
            </a:r>
            <a:endParaRPr lang="en-US" sz="1450" dirty="0"/>
          </a:p>
        </p:txBody>
      </p:sp>
      <p:sp>
        <p:nvSpPr>
          <p:cNvPr id="37" name="Text 35"/>
          <p:cNvSpPr/>
          <p:nvPr/>
        </p:nvSpPr>
        <p:spPr>
          <a:xfrm>
            <a:off x="10045700" y="1752600"/>
            <a:ext cx="1625600" cy="431800"/>
          </a:xfrm>
          <a:prstGeom prst="rect">
            <a:avLst/>
          </a:prstGeom>
          <a:noFill/>
          <a:ln/>
        </p:spPr>
        <p:txBody>
          <a:bodyPr wrap="square" lIns="0" tIns="0" rIns="0" bIns="0" rtlCol="0" anchor="ctr"/>
          <a:lstStyle/>
          <a:p>
            <a:pPr marL="0" indent="0">
              <a:lnSpc>
                <a:spcPts val="1300"/>
              </a:lnSpc>
              <a:buNone/>
            </a:pPr>
            <a:r>
              <a:rPr lang="en-US" sz="950" dirty="0">
                <a:solidFill>
                  <a:srgbClr val="55555F"/>
                </a:solidFill>
                <a:latin typeface="Hiragino Sans" pitchFamily="34" charset="0"/>
                <a:ea typeface="Hiragino Sans" pitchFamily="34" charset="-122"/>
                <a:cs typeface="Hiragino Sans" pitchFamily="34" charset="-120"/>
              </a:rPr>
              <a:t>SubSLD法・実証ペア図・node-breaker</a:t>
            </a:r>
            <a:endParaRPr lang="en-US" sz="950" dirty="0"/>
          </a:p>
        </p:txBody>
      </p:sp>
      <p:sp>
        <p:nvSpPr>
          <p:cNvPr id="38" name="Text 36"/>
          <p:cNvSpPr/>
          <p:nvPr/>
        </p:nvSpPr>
        <p:spPr>
          <a:xfrm>
            <a:off x="10045700" y="2235200"/>
            <a:ext cx="1625600" cy="457200"/>
          </a:xfrm>
          <a:prstGeom prst="rect">
            <a:avLst/>
          </a:prstGeom>
          <a:noFill/>
          <a:ln/>
        </p:spPr>
        <p:txBody>
          <a:bodyPr wrap="square" lIns="0" tIns="0" rIns="0" bIns="0" rtlCol="0" anchor="ctr"/>
          <a:lstStyle/>
          <a:p>
            <a:pPr marL="0" indent="0">
              <a:lnSpc>
                <a:spcPts val="1200"/>
              </a:lnSpc>
              <a:buNone/>
            </a:pPr>
            <a:r>
              <a:rPr lang="en-US" sz="900" b="1" dirty="0">
                <a:solidFill>
                  <a:srgbClr val="C0392B"/>
                </a:solidFill>
                <a:latin typeface="Hiragino Sans" pitchFamily="34" charset="0"/>
                <a:ea typeface="Hiragino Sans" pitchFamily="34" charset="-122"/>
                <a:cs typeface="Hiragino Sans" pitchFamily="34" charset="-120"/>
              </a:rPr>
              <a:t>✗ 変電所内部はOSMに無い — 方法から発明</a:t>
            </a:r>
            <a:endParaRPr lang="en-US" sz="900" dirty="0"/>
          </a:p>
        </p:txBody>
      </p:sp>
      <p:sp>
        <p:nvSpPr>
          <p:cNvPr id="39" name="Text 37"/>
          <p:cNvSpPr/>
          <p:nvPr/>
        </p:nvSpPr>
        <p:spPr>
          <a:xfrm>
            <a:off x="9918700" y="2946400"/>
            <a:ext cx="1879600" cy="355600"/>
          </a:xfrm>
          <a:prstGeom prst="rect">
            <a:avLst/>
          </a:prstGeom>
          <a:noFill/>
          <a:ln/>
        </p:spPr>
        <p:txBody>
          <a:bodyPr wrap="square" lIns="0" tIns="0" rIns="0" bIns="0" rtlCol="0" anchor="t"/>
          <a:lstStyle/>
          <a:p>
            <a:pPr marL="0" indent="0" algn="ctr">
              <a:lnSpc>
                <a:spcPts val="1200"/>
              </a:lnSpc>
              <a:buNone/>
            </a:pPr>
            <a:r>
              <a:rPr lang="en-US" sz="900" i="0" dirty="0">
                <a:solidFill>
                  <a:srgbClr val="1E2761"/>
                </a:solidFill>
                <a:latin typeface="Hiragino Sans" pitchFamily="34" charset="0"/>
                <a:ea typeface="Hiragino Sans" pitchFamily="34" charset="-122"/>
                <a:cs typeface="Hiragino Sans" pitchFamily="34" charset="-120"/>
              </a:rPr>
              <a:t>網はできた → 最後の暗箱へ</a:t>
            </a:r>
            <a:endParaRPr lang="en-US" sz="900" dirty="0"/>
          </a:p>
        </p:txBody>
      </p:sp>
      <p:sp>
        <p:nvSpPr>
          <p:cNvPr id="40" name="Shape 38"/>
          <p:cNvSpPr/>
          <p:nvPr/>
        </p:nvSpPr>
        <p:spPr>
          <a:xfrm>
            <a:off x="822960" y="3581400"/>
            <a:ext cx="10515600" cy="0"/>
          </a:xfrm>
          <a:prstGeom prst="line">
            <a:avLst/>
          </a:prstGeom>
          <a:noFill/>
          <a:ln w="19050">
            <a:solidFill>
              <a:srgbClr val="1A1A1A"/>
            </a:solidFill>
            <a:prstDash val="solid"/>
          </a:ln>
        </p:spPr>
        <p:txBody>
          <a:bodyPr/>
          <a:lstStyle/>
          <a:p>
            <a:endParaRPr lang="ja-JP" altLang="en-US"/>
          </a:p>
        </p:txBody>
      </p:sp>
      <p:sp>
        <p:nvSpPr>
          <p:cNvPr id="41" name="Shape 39"/>
          <p:cNvSpPr/>
          <p:nvPr/>
        </p:nvSpPr>
        <p:spPr>
          <a:xfrm>
            <a:off x="822960" y="3530600"/>
            <a:ext cx="0" cy="109728"/>
          </a:xfrm>
          <a:prstGeom prst="line">
            <a:avLst/>
          </a:prstGeom>
          <a:noFill/>
          <a:ln w="12700">
            <a:solidFill>
              <a:srgbClr val="55555F"/>
            </a:solidFill>
            <a:prstDash val="solid"/>
          </a:ln>
        </p:spPr>
        <p:txBody>
          <a:bodyPr/>
          <a:lstStyle/>
          <a:p>
            <a:endParaRPr lang="ja-JP" altLang="en-US"/>
          </a:p>
        </p:txBody>
      </p:sp>
      <p:sp>
        <p:nvSpPr>
          <p:cNvPr id="42" name="Text 40"/>
          <p:cNvSpPr/>
          <p:nvPr/>
        </p:nvSpPr>
        <p:spPr>
          <a:xfrm>
            <a:off x="54864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3月</a:t>
            </a:r>
            <a:endParaRPr lang="en-US" sz="950" dirty="0"/>
          </a:p>
        </p:txBody>
      </p:sp>
      <p:sp>
        <p:nvSpPr>
          <p:cNvPr id="43" name="Shape 41"/>
          <p:cNvSpPr/>
          <p:nvPr/>
        </p:nvSpPr>
        <p:spPr>
          <a:xfrm>
            <a:off x="2594610" y="3530600"/>
            <a:ext cx="0" cy="109728"/>
          </a:xfrm>
          <a:prstGeom prst="line">
            <a:avLst/>
          </a:prstGeom>
          <a:noFill/>
          <a:ln w="12700">
            <a:solidFill>
              <a:srgbClr val="55555F"/>
            </a:solidFill>
            <a:prstDash val="solid"/>
          </a:ln>
        </p:spPr>
        <p:txBody>
          <a:bodyPr/>
          <a:lstStyle/>
          <a:p>
            <a:endParaRPr lang="ja-JP" altLang="en-US"/>
          </a:p>
        </p:txBody>
      </p:sp>
      <p:sp>
        <p:nvSpPr>
          <p:cNvPr id="44" name="Text 42"/>
          <p:cNvSpPr/>
          <p:nvPr/>
        </p:nvSpPr>
        <p:spPr>
          <a:xfrm>
            <a:off x="232029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4月</a:t>
            </a:r>
            <a:endParaRPr lang="en-US" sz="950" dirty="0"/>
          </a:p>
        </p:txBody>
      </p:sp>
      <p:sp>
        <p:nvSpPr>
          <p:cNvPr id="45" name="Shape 43"/>
          <p:cNvSpPr/>
          <p:nvPr/>
        </p:nvSpPr>
        <p:spPr>
          <a:xfrm>
            <a:off x="4366260" y="3530600"/>
            <a:ext cx="0" cy="109728"/>
          </a:xfrm>
          <a:prstGeom prst="line">
            <a:avLst/>
          </a:prstGeom>
          <a:noFill/>
          <a:ln w="12700">
            <a:solidFill>
              <a:srgbClr val="55555F"/>
            </a:solidFill>
            <a:prstDash val="solid"/>
          </a:ln>
        </p:spPr>
        <p:txBody>
          <a:bodyPr/>
          <a:lstStyle/>
          <a:p>
            <a:endParaRPr lang="ja-JP" altLang="en-US"/>
          </a:p>
        </p:txBody>
      </p:sp>
      <p:sp>
        <p:nvSpPr>
          <p:cNvPr id="46" name="Text 44"/>
          <p:cNvSpPr/>
          <p:nvPr/>
        </p:nvSpPr>
        <p:spPr>
          <a:xfrm>
            <a:off x="409194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5月</a:t>
            </a:r>
            <a:endParaRPr lang="en-US" sz="950" dirty="0"/>
          </a:p>
        </p:txBody>
      </p:sp>
      <p:sp>
        <p:nvSpPr>
          <p:cNvPr id="47" name="Shape 45"/>
          <p:cNvSpPr/>
          <p:nvPr/>
        </p:nvSpPr>
        <p:spPr>
          <a:xfrm>
            <a:off x="6137910" y="3530600"/>
            <a:ext cx="0" cy="109728"/>
          </a:xfrm>
          <a:prstGeom prst="line">
            <a:avLst/>
          </a:prstGeom>
          <a:noFill/>
          <a:ln w="12700">
            <a:solidFill>
              <a:srgbClr val="55555F"/>
            </a:solidFill>
            <a:prstDash val="solid"/>
          </a:ln>
        </p:spPr>
        <p:txBody>
          <a:bodyPr/>
          <a:lstStyle/>
          <a:p>
            <a:endParaRPr lang="ja-JP" altLang="en-US"/>
          </a:p>
        </p:txBody>
      </p:sp>
      <p:sp>
        <p:nvSpPr>
          <p:cNvPr id="48" name="Text 46"/>
          <p:cNvSpPr/>
          <p:nvPr/>
        </p:nvSpPr>
        <p:spPr>
          <a:xfrm>
            <a:off x="586359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6月</a:t>
            </a:r>
            <a:endParaRPr lang="en-US" sz="950" dirty="0"/>
          </a:p>
        </p:txBody>
      </p:sp>
      <p:sp>
        <p:nvSpPr>
          <p:cNvPr id="49" name="Shape 47"/>
          <p:cNvSpPr/>
          <p:nvPr/>
        </p:nvSpPr>
        <p:spPr>
          <a:xfrm>
            <a:off x="7909560" y="3530600"/>
            <a:ext cx="0" cy="109728"/>
          </a:xfrm>
          <a:prstGeom prst="line">
            <a:avLst/>
          </a:prstGeom>
          <a:noFill/>
          <a:ln w="12700">
            <a:solidFill>
              <a:srgbClr val="55555F"/>
            </a:solidFill>
            <a:prstDash val="solid"/>
          </a:ln>
        </p:spPr>
        <p:txBody>
          <a:bodyPr/>
          <a:lstStyle/>
          <a:p>
            <a:endParaRPr lang="ja-JP" altLang="en-US"/>
          </a:p>
        </p:txBody>
      </p:sp>
      <p:sp>
        <p:nvSpPr>
          <p:cNvPr id="50" name="Text 48"/>
          <p:cNvSpPr/>
          <p:nvPr/>
        </p:nvSpPr>
        <p:spPr>
          <a:xfrm>
            <a:off x="763524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7月</a:t>
            </a:r>
            <a:endParaRPr lang="en-US" sz="950" dirty="0"/>
          </a:p>
        </p:txBody>
      </p:sp>
      <p:sp>
        <p:nvSpPr>
          <p:cNvPr id="51" name="Shape 49"/>
          <p:cNvSpPr/>
          <p:nvPr/>
        </p:nvSpPr>
        <p:spPr>
          <a:xfrm>
            <a:off x="9681210" y="3530600"/>
            <a:ext cx="0" cy="109728"/>
          </a:xfrm>
          <a:prstGeom prst="line">
            <a:avLst/>
          </a:prstGeom>
          <a:noFill/>
          <a:ln w="12700">
            <a:solidFill>
              <a:srgbClr val="55555F"/>
            </a:solidFill>
            <a:prstDash val="solid"/>
          </a:ln>
        </p:spPr>
        <p:txBody>
          <a:bodyPr/>
          <a:lstStyle/>
          <a:p>
            <a:endParaRPr lang="ja-JP" altLang="en-US"/>
          </a:p>
        </p:txBody>
      </p:sp>
      <p:sp>
        <p:nvSpPr>
          <p:cNvPr id="52" name="Text 50"/>
          <p:cNvSpPr/>
          <p:nvPr/>
        </p:nvSpPr>
        <p:spPr>
          <a:xfrm>
            <a:off x="9406890" y="3683000"/>
            <a:ext cx="731520" cy="228600"/>
          </a:xfrm>
          <a:prstGeom prst="rect">
            <a:avLst/>
          </a:prstGeom>
          <a:noFill/>
          <a:ln/>
        </p:spPr>
        <p:txBody>
          <a:bodyPr wrap="square" lIns="0" tIns="0" rIns="0" bIns="0" rtlCol="0" anchor="ctr"/>
          <a:lstStyle/>
          <a:p>
            <a:pPr marL="0" indent="0">
              <a:buNone/>
            </a:pPr>
            <a:r>
              <a:rPr lang="en-US" sz="950" dirty="0">
                <a:solidFill>
                  <a:srgbClr val="55555F"/>
                </a:solidFill>
                <a:latin typeface="Hiragino Sans" pitchFamily="34" charset="0"/>
                <a:ea typeface="Hiragino Sans" pitchFamily="34" charset="-122"/>
                <a:cs typeface="Hiragino Sans" pitchFamily="34" charset="-120"/>
              </a:rPr>
              <a:t>8月</a:t>
            </a:r>
            <a:endParaRPr lang="en-US" sz="950" dirty="0"/>
          </a:p>
        </p:txBody>
      </p:sp>
      <p:sp>
        <p:nvSpPr>
          <p:cNvPr id="53" name="Shape 51"/>
          <p:cNvSpPr/>
          <p:nvPr/>
        </p:nvSpPr>
        <p:spPr>
          <a:xfrm>
            <a:off x="944118" y="3530600"/>
            <a:ext cx="100584" cy="100584"/>
          </a:xfrm>
          <a:prstGeom prst="ellipse">
            <a:avLst/>
          </a:prstGeom>
          <a:solidFill>
            <a:srgbClr val="9A9AA6"/>
          </a:solidFill>
          <a:ln/>
        </p:spPr>
        <p:txBody>
          <a:bodyPr/>
          <a:lstStyle/>
          <a:p>
            <a:endParaRPr lang="ja-JP" altLang="en-US"/>
          </a:p>
        </p:txBody>
      </p:sp>
      <p:sp>
        <p:nvSpPr>
          <p:cNvPr id="54" name="Shape 52"/>
          <p:cNvSpPr/>
          <p:nvPr/>
        </p:nvSpPr>
        <p:spPr>
          <a:xfrm>
            <a:off x="6144768" y="3530600"/>
            <a:ext cx="100584" cy="100584"/>
          </a:xfrm>
          <a:prstGeom prst="ellipse">
            <a:avLst/>
          </a:prstGeom>
          <a:solidFill>
            <a:srgbClr val="17BECF"/>
          </a:solidFill>
          <a:ln/>
        </p:spPr>
        <p:txBody>
          <a:bodyPr/>
          <a:lstStyle/>
          <a:p>
            <a:endParaRPr lang="ja-JP" altLang="en-US"/>
          </a:p>
        </p:txBody>
      </p:sp>
      <p:sp>
        <p:nvSpPr>
          <p:cNvPr id="55" name="Shape 53"/>
          <p:cNvSpPr/>
          <p:nvPr/>
        </p:nvSpPr>
        <p:spPr>
          <a:xfrm>
            <a:off x="6316218" y="3530600"/>
            <a:ext cx="100584" cy="100584"/>
          </a:xfrm>
          <a:prstGeom prst="ellipse">
            <a:avLst/>
          </a:prstGeom>
          <a:solidFill>
            <a:srgbClr val="17BECF"/>
          </a:solidFill>
          <a:ln/>
        </p:spPr>
        <p:txBody>
          <a:bodyPr/>
          <a:lstStyle/>
          <a:p>
            <a:endParaRPr lang="ja-JP" altLang="en-US"/>
          </a:p>
        </p:txBody>
      </p:sp>
      <p:sp>
        <p:nvSpPr>
          <p:cNvPr id="56" name="Shape 54"/>
          <p:cNvSpPr/>
          <p:nvPr/>
        </p:nvSpPr>
        <p:spPr>
          <a:xfrm>
            <a:off x="6430518" y="3530600"/>
            <a:ext cx="100584" cy="100584"/>
          </a:xfrm>
          <a:prstGeom prst="ellipse">
            <a:avLst/>
          </a:prstGeom>
          <a:solidFill>
            <a:srgbClr val="17BECF"/>
          </a:solidFill>
          <a:ln/>
        </p:spPr>
        <p:txBody>
          <a:bodyPr/>
          <a:lstStyle/>
          <a:p>
            <a:endParaRPr lang="ja-JP" altLang="en-US"/>
          </a:p>
        </p:txBody>
      </p:sp>
      <p:sp>
        <p:nvSpPr>
          <p:cNvPr id="57" name="Shape 55"/>
          <p:cNvSpPr/>
          <p:nvPr/>
        </p:nvSpPr>
        <p:spPr>
          <a:xfrm>
            <a:off x="6487668" y="3530600"/>
            <a:ext cx="100584" cy="100584"/>
          </a:xfrm>
          <a:prstGeom prst="ellipse">
            <a:avLst/>
          </a:prstGeom>
          <a:solidFill>
            <a:srgbClr val="17BECF"/>
          </a:solidFill>
          <a:ln/>
        </p:spPr>
        <p:txBody>
          <a:bodyPr/>
          <a:lstStyle/>
          <a:p>
            <a:endParaRPr lang="ja-JP" altLang="en-US"/>
          </a:p>
        </p:txBody>
      </p:sp>
      <p:sp>
        <p:nvSpPr>
          <p:cNvPr id="58" name="Shape 56"/>
          <p:cNvSpPr/>
          <p:nvPr/>
        </p:nvSpPr>
        <p:spPr>
          <a:xfrm>
            <a:off x="6601968" y="3530600"/>
            <a:ext cx="100584" cy="100584"/>
          </a:xfrm>
          <a:prstGeom prst="ellipse">
            <a:avLst/>
          </a:prstGeom>
          <a:solidFill>
            <a:srgbClr val="17BECF"/>
          </a:solidFill>
          <a:ln/>
        </p:spPr>
        <p:txBody>
          <a:bodyPr/>
          <a:lstStyle/>
          <a:p>
            <a:endParaRPr lang="ja-JP" altLang="en-US"/>
          </a:p>
        </p:txBody>
      </p:sp>
      <p:sp>
        <p:nvSpPr>
          <p:cNvPr id="59" name="Shape 57"/>
          <p:cNvSpPr/>
          <p:nvPr/>
        </p:nvSpPr>
        <p:spPr>
          <a:xfrm>
            <a:off x="8202168" y="3530600"/>
            <a:ext cx="100584" cy="100584"/>
          </a:xfrm>
          <a:prstGeom prst="ellipse">
            <a:avLst/>
          </a:prstGeom>
          <a:solidFill>
            <a:srgbClr val="9467BD"/>
          </a:solidFill>
          <a:ln/>
        </p:spPr>
        <p:txBody>
          <a:bodyPr/>
          <a:lstStyle/>
          <a:p>
            <a:endParaRPr lang="ja-JP" altLang="en-US"/>
          </a:p>
        </p:txBody>
      </p:sp>
      <p:sp>
        <p:nvSpPr>
          <p:cNvPr id="60" name="Shape 58"/>
          <p:cNvSpPr/>
          <p:nvPr/>
        </p:nvSpPr>
        <p:spPr>
          <a:xfrm>
            <a:off x="8259318" y="3530600"/>
            <a:ext cx="100584" cy="100584"/>
          </a:xfrm>
          <a:prstGeom prst="ellipse">
            <a:avLst/>
          </a:prstGeom>
          <a:solidFill>
            <a:srgbClr val="9467BD"/>
          </a:solidFill>
          <a:ln/>
        </p:spPr>
        <p:txBody>
          <a:bodyPr/>
          <a:lstStyle/>
          <a:p>
            <a:endParaRPr lang="ja-JP" altLang="en-US"/>
          </a:p>
        </p:txBody>
      </p:sp>
      <p:sp>
        <p:nvSpPr>
          <p:cNvPr id="61" name="Shape 59"/>
          <p:cNvSpPr/>
          <p:nvPr/>
        </p:nvSpPr>
        <p:spPr>
          <a:xfrm>
            <a:off x="10602468" y="3530600"/>
            <a:ext cx="100584" cy="100584"/>
          </a:xfrm>
          <a:prstGeom prst="ellipse">
            <a:avLst/>
          </a:prstGeom>
          <a:solidFill>
            <a:srgbClr val="FF7F0E"/>
          </a:solidFill>
          <a:ln/>
        </p:spPr>
        <p:txBody>
          <a:bodyPr/>
          <a:lstStyle/>
          <a:p>
            <a:endParaRPr lang="ja-JP" altLang="en-US"/>
          </a:p>
        </p:txBody>
      </p:sp>
      <p:sp>
        <p:nvSpPr>
          <p:cNvPr id="62" name="Shape 60"/>
          <p:cNvSpPr/>
          <p:nvPr/>
        </p:nvSpPr>
        <p:spPr>
          <a:xfrm>
            <a:off x="11002518" y="3530600"/>
            <a:ext cx="100584" cy="100584"/>
          </a:xfrm>
          <a:prstGeom prst="ellipse">
            <a:avLst/>
          </a:prstGeom>
          <a:solidFill>
            <a:srgbClr val="D62728"/>
          </a:solidFill>
          <a:ln/>
        </p:spPr>
        <p:txBody>
          <a:bodyPr/>
          <a:lstStyle/>
          <a:p>
            <a:endParaRPr lang="ja-JP" altLang="en-US"/>
          </a:p>
        </p:txBody>
      </p:sp>
      <p:sp>
        <p:nvSpPr>
          <p:cNvPr id="63" name="Text 61"/>
          <p:cNvSpPr/>
          <p:nvPr/>
        </p:nvSpPr>
        <p:spPr>
          <a:xfrm>
            <a:off x="491490" y="317500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v1.0.0</a:t>
            </a:r>
            <a:endParaRPr lang="en-US" sz="900" dirty="0"/>
          </a:p>
        </p:txBody>
      </p:sp>
      <p:sp>
        <p:nvSpPr>
          <p:cNvPr id="64" name="Text 62"/>
          <p:cNvSpPr/>
          <p:nvPr/>
        </p:nvSpPr>
        <p:spPr>
          <a:xfrm>
            <a:off x="5920740" y="317500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v1.1–1.4</a:t>
            </a:r>
            <a:endParaRPr lang="en-US" sz="900" dirty="0"/>
          </a:p>
        </p:txBody>
      </p:sp>
      <p:sp>
        <p:nvSpPr>
          <p:cNvPr id="65" name="Text 63"/>
          <p:cNvSpPr/>
          <p:nvPr/>
        </p:nvSpPr>
        <p:spPr>
          <a:xfrm>
            <a:off x="7778115" y="317500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v1.5–1.6</a:t>
            </a:r>
            <a:endParaRPr lang="en-US" sz="900" dirty="0"/>
          </a:p>
        </p:txBody>
      </p:sp>
      <p:sp>
        <p:nvSpPr>
          <p:cNvPr id="66" name="Text 64"/>
          <p:cNvSpPr/>
          <p:nvPr/>
        </p:nvSpPr>
        <p:spPr>
          <a:xfrm>
            <a:off x="10149840" y="317500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v1.7.0</a:t>
            </a:r>
            <a:endParaRPr lang="en-US" sz="900" dirty="0"/>
          </a:p>
        </p:txBody>
      </p:sp>
      <p:sp>
        <p:nvSpPr>
          <p:cNvPr id="67" name="Text 65"/>
          <p:cNvSpPr/>
          <p:nvPr/>
        </p:nvSpPr>
        <p:spPr>
          <a:xfrm>
            <a:off x="10549890" y="3175000"/>
            <a:ext cx="1005840" cy="237744"/>
          </a:xfrm>
          <a:prstGeom prst="rect">
            <a:avLst/>
          </a:prstGeom>
          <a:noFill/>
          <a:ln/>
        </p:spPr>
        <p:txBody>
          <a:bodyPr wrap="square" lIns="0" tIns="0" rIns="0" bIns="0" rtlCol="0" anchor="ctr"/>
          <a:lstStyle/>
          <a:p>
            <a:pPr marL="0" indent="0" algn="ctr">
              <a:buNone/>
            </a:pPr>
            <a:r>
              <a:rPr lang="en-US" sz="900" dirty="0">
                <a:solidFill>
                  <a:srgbClr val="1A1A1A"/>
                </a:solidFill>
                <a:latin typeface="Helvetica Neue" pitchFamily="34" charset="0"/>
                <a:ea typeface="Helvetica Neue" pitchFamily="34" charset="-122"/>
                <a:cs typeface="Helvetica Neue" pitchFamily="34" charset="-120"/>
              </a:rPr>
              <a:t>v1.8.0</a:t>
            </a:r>
            <a:endParaRPr lang="en-US" sz="900" dirty="0"/>
          </a:p>
        </p:txBody>
      </p:sp>
      <p:sp>
        <p:nvSpPr>
          <p:cNvPr id="68" name="Text 66"/>
          <p:cNvSpPr/>
          <p:nvPr/>
        </p:nvSpPr>
        <p:spPr>
          <a:xfrm>
            <a:off x="822960" y="3987800"/>
            <a:ext cx="1051560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6月上旬に5連リリース（v1.1.0〜v1.4.0）— 標準化と解ける化の集中期</a:t>
            </a:r>
            <a:endParaRPr lang="en-US" sz="1050" dirty="0"/>
          </a:p>
        </p:txBody>
      </p:sp>
      <p:sp>
        <p:nvSpPr>
          <p:cNvPr id="69" name="Text 6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70" name="Text 6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71" name="Text 6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6</a:t>
            </a:r>
            <a:endParaRPr lang="en-US" sz="1000" dirty="0"/>
          </a:p>
        </p:txBody>
      </p:sp>
      <p:sp>
        <p:nvSpPr>
          <p:cNvPr id="200" name="FlowArrow 1"/>
          <p:cNvSpPr/>
          <p:nvPr/>
        </p:nvSpPr>
        <p:spPr>
          <a:xfrm>
            <a:off x="2584450" y="1638300"/>
            <a:ext cx="279400" cy="279400"/>
          </a:xfrm>
          <a:prstGeom prst="rightArrow">
            <a:avLst>
              <a:gd name="adj1" fmla="val 55000"/>
              <a:gd name="adj2" fmla="val 50000"/>
            </a:avLst>
          </a:prstGeom>
          <a:solidFill>
            <a:srgbClr val="17BECF"/>
          </a:solidFill>
          <a:ln>
            <a:noFill/>
          </a:ln>
        </p:spPr>
        <p:txBody>
          <a:bodyPr/>
          <a:lstStyle/>
          <a:p>
            <a:endParaRPr lang="ja-JP"/>
          </a:p>
        </p:txBody>
      </p:sp>
      <p:sp>
        <p:nvSpPr>
          <p:cNvPr id="201" name="FlowArrow 2"/>
          <p:cNvSpPr/>
          <p:nvPr/>
        </p:nvSpPr>
        <p:spPr>
          <a:xfrm>
            <a:off x="4908550" y="1638300"/>
            <a:ext cx="279400" cy="279400"/>
          </a:xfrm>
          <a:prstGeom prst="rightArrow">
            <a:avLst>
              <a:gd name="adj1" fmla="val 55000"/>
              <a:gd name="adj2" fmla="val 50000"/>
            </a:avLst>
          </a:prstGeom>
          <a:solidFill>
            <a:srgbClr val="9467BD"/>
          </a:solidFill>
          <a:ln>
            <a:noFill/>
          </a:ln>
        </p:spPr>
        <p:txBody>
          <a:bodyPr/>
          <a:lstStyle/>
          <a:p>
            <a:endParaRPr lang="ja-JP"/>
          </a:p>
        </p:txBody>
      </p:sp>
      <p:sp>
        <p:nvSpPr>
          <p:cNvPr id="202" name="FlowArrow 3"/>
          <p:cNvSpPr/>
          <p:nvPr/>
        </p:nvSpPr>
        <p:spPr>
          <a:xfrm>
            <a:off x="7232650" y="1638300"/>
            <a:ext cx="279400" cy="279400"/>
          </a:xfrm>
          <a:prstGeom prst="rightArrow">
            <a:avLst>
              <a:gd name="adj1" fmla="val 55000"/>
              <a:gd name="adj2" fmla="val 50000"/>
            </a:avLst>
          </a:prstGeom>
          <a:solidFill>
            <a:srgbClr val="FF7F0E"/>
          </a:solidFill>
          <a:ln>
            <a:noFill/>
          </a:ln>
        </p:spPr>
        <p:txBody>
          <a:bodyPr/>
          <a:lstStyle/>
          <a:p>
            <a:endParaRPr lang="ja-JP"/>
          </a:p>
        </p:txBody>
      </p:sp>
      <p:sp>
        <p:nvSpPr>
          <p:cNvPr id="203" name="FlowArrow 4"/>
          <p:cNvSpPr/>
          <p:nvPr/>
        </p:nvSpPr>
        <p:spPr>
          <a:xfrm>
            <a:off x="9556750" y="1638300"/>
            <a:ext cx="279400" cy="279400"/>
          </a:xfrm>
          <a:prstGeom prst="rightArrow">
            <a:avLst>
              <a:gd name="adj1" fmla="val 55000"/>
              <a:gd name="adj2" fmla="val 50000"/>
            </a:avLst>
          </a:prstGeom>
          <a:solidFill>
            <a:srgbClr val="D62728"/>
          </a:solidFill>
          <a:ln>
            <a:noFill/>
          </a:ln>
        </p:spPr>
        <p:txBody>
          <a:bodyPr/>
          <a:lstStyle/>
          <a:p>
            <a:endParaRPr lang="ja-JP"/>
          </a:p>
        </p:txBody>
      </p:sp>
      <p:pic>
        <p:nvPicPr>
          <p:cNvPr id="72" name="図 71">
            <a:extLst>
              <a:ext uri="{FF2B5EF4-FFF2-40B4-BE49-F238E27FC236}">
                <a16:creationId xmlns:a16="http://schemas.microsoft.com/office/drawing/2014/main" id="{B362E0BE-8A74-F42C-86A7-CE821A4CF892}"/>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3922977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B 101"/>
          <p:cNvSpPr txBox="1"/>
          <p:nvPr/>
        </p:nvSpPr>
        <p:spPr>
          <a:xfrm>
            <a:off x="546100" y="279400"/>
            <a:ext cx="11099800" cy="292100"/>
          </a:xfrm>
          <a:prstGeom prst="rect">
            <a:avLst/>
          </a:prstGeom>
          <a:noFill/>
        </p:spPr>
        <p:txBody>
          <a:bodyPr wrap="square" lIns="0" tIns="0" rIns="0" bIns="0" anchor="t">
            <a:spAutoFit/>
          </a:bodyPr>
          <a:lstStyle/>
          <a:p>
            <a:pPr marL="0" indent="0" algn="l">
              <a:buNone/>
            </a:pPr>
            <a:r>
              <a:rPr lang="ja-JP" altLang="en-US" sz="1300" b="1" i="0" spc="120" dirty="0">
                <a:solidFill>
                  <a:srgbClr val="8A2E3B"/>
                </a:solidFill>
                <a:latin typeface="Calibri"/>
                <a:ea typeface="ＭＳ Ｐゴシック"/>
              </a:rPr>
              <a:t>検証 ③ ｜ インピーダンスの妥当性</a:t>
            </a:r>
          </a:p>
        </p:txBody>
      </p:sp>
      <p:sp>
        <p:nvSpPr>
          <p:cNvPr id="101" name="Box 102"/>
          <p:cNvSpPr/>
          <p:nvPr/>
        </p:nvSpPr>
        <p:spPr>
          <a:xfrm>
            <a:off x="546100" y="736600"/>
            <a:ext cx="11099800" cy="12700"/>
          </a:xfrm>
          <a:prstGeom prst="rect">
            <a:avLst/>
          </a:prstGeom>
          <a:solidFill>
            <a:srgbClr val="D8DCE3"/>
          </a:solidFill>
          <a:ln>
            <a:noFill/>
          </a:ln>
        </p:spPr>
        <p:txBody>
          <a:bodyPr/>
          <a:lstStyle/>
          <a:p>
            <a:endParaRPr lang="ja-JP"/>
          </a:p>
        </p:txBody>
      </p:sp>
      <p:sp>
        <p:nvSpPr>
          <p:cNvPr id="102" name="Box 103"/>
          <p:cNvSpPr/>
          <p:nvPr/>
        </p:nvSpPr>
        <p:spPr>
          <a:xfrm>
            <a:off x="546100" y="711200"/>
            <a:ext cx="736600" cy="38100"/>
          </a:xfrm>
          <a:prstGeom prst="rect">
            <a:avLst/>
          </a:prstGeom>
          <a:solidFill>
            <a:srgbClr val="8A2E3B"/>
          </a:solidFill>
          <a:ln>
            <a:noFill/>
          </a:ln>
        </p:spPr>
        <p:txBody>
          <a:bodyPr/>
          <a:lstStyle/>
          <a:p>
            <a:endParaRPr lang="ja-JP"/>
          </a:p>
        </p:txBody>
      </p:sp>
      <p:sp>
        <p:nvSpPr>
          <p:cNvPr id="103" name="TB 104"/>
          <p:cNvSpPr txBox="1"/>
          <p:nvPr/>
        </p:nvSpPr>
        <p:spPr>
          <a:xfrm>
            <a:off x="546100" y="812800"/>
            <a:ext cx="11099800" cy="508000"/>
          </a:xfrm>
          <a:prstGeom prst="rect">
            <a:avLst/>
          </a:prstGeom>
          <a:noFill/>
        </p:spPr>
        <p:txBody>
          <a:bodyPr wrap="square" lIns="0" tIns="0" rIns="0" bIns="0" anchor="t">
            <a:spAutoFit/>
          </a:bodyPr>
          <a:lstStyle/>
          <a:p>
            <a:pPr marL="0" indent="0" algn="l">
              <a:buNone/>
            </a:pPr>
            <a:r>
              <a:rPr lang="ja-JP" altLang="en-US" sz="2600" b="1" i="0" spc="0" dirty="0">
                <a:solidFill>
                  <a:srgbClr val="1A2744"/>
                </a:solidFill>
                <a:latin typeface="Calibri"/>
                <a:ea typeface="ＭＳ Ｐゴシック"/>
              </a:rPr>
              <a:t>インピーダンスは合っているか — 弧と弦で検算する</a:t>
            </a:r>
          </a:p>
        </p:txBody>
      </p:sp>
      <p:sp>
        <p:nvSpPr>
          <p:cNvPr id="104" name="TB 105"/>
          <p:cNvSpPr txBox="1"/>
          <p:nvPr/>
        </p:nvSpPr>
        <p:spPr>
          <a:xfrm>
            <a:off x="546100" y="1447800"/>
            <a:ext cx="11099800" cy="533992"/>
          </a:xfrm>
          <a:prstGeom prst="rect">
            <a:avLst/>
          </a:prstGeom>
          <a:noFill/>
        </p:spPr>
        <p:txBody>
          <a:bodyPr wrap="square" lIns="0" tIns="0" rIns="0" bIns="0" anchor="t">
            <a:spAutoFit/>
          </a:bodyPr>
          <a:lstStyle/>
          <a:p>
            <a:pPr marL="0" indent="0" algn="l">
              <a:lnSpc>
                <a:spcPct val="130000"/>
              </a:lnSpc>
              <a:buNone/>
            </a:pPr>
            <a:r>
              <a:rPr lang="ja-JP" altLang="en-US" sz="1400" b="0" i="0" spc="0" dirty="0">
                <a:solidFill>
                  <a:srgbClr val="333F52"/>
                </a:solidFill>
                <a:latin typeface="Calibri"/>
                <a:ea typeface="ＭＳ Ｐゴシック"/>
              </a:rPr>
              <a:t>モデルの Z は「弦（OSMの直線距離）× 電圧階級別の標準線路定数」で算出。実際の線路は弧（迂回）なので、</a:t>
            </a:r>
          </a:p>
          <a:p>
            <a:pPr marL="0" indent="0" algn="l">
              <a:lnSpc>
                <a:spcPct val="130000"/>
              </a:lnSpc>
              <a:buNone/>
            </a:pPr>
            <a:r>
              <a:rPr lang="ja-JP" altLang="en-US" sz="1400" b="0" i="0" spc="0" dirty="0">
                <a:solidFill>
                  <a:srgbClr val="333F52"/>
                </a:solidFill>
                <a:latin typeface="Calibri"/>
                <a:ea typeface="ＭＳ Ｐゴシック"/>
              </a:rPr>
              <a:t>Z公表 ÷ Zモデル は迂回率 1.2〜1.4 に収まるはず — それが成り立つかを見る。</a:t>
            </a:r>
          </a:p>
        </p:txBody>
      </p:sp>
      <p:sp>
        <p:nvSpPr>
          <p:cNvPr id="105" name="Box 106"/>
          <p:cNvSpPr/>
          <p:nvPr/>
        </p:nvSpPr>
        <p:spPr>
          <a:xfrm>
            <a:off x="546100" y="2159000"/>
            <a:ext cx="5588000" cy="2743200"/>
          </a:xfrm>
          <a:prstGeom prst="rect">
            <a:avLst/>
          </a:prstGeom>
          <a:solidFill>
            <a:srgbClr val="EEF1F6"/>
          </a:solidFill>
          <a:ln>
            <a:noFill/>
          </a:ln>
        </p:spPr>
        <p:txBody>
          <a:bodyPr/>
          <a:lstStyle/>
          <a:p>
            <a:endParaRPr lang="ja-JP"/>
          </a:p>
        </p:txBody>
      </p:sp>
      <p:sp>
        <p:nvSpPr>
          <p:cNvPr id="900" name="Terrain"/>
          <p:cNvSpPr/>
          <p:nvPr/>
        </p:nvSpPr>
        <p:spPr>
          <a:xfrm>
            <a:off x="698500" y="2844800"/>
            <a:ext cx="5283200" cy="1168400"/>
          </a:xfrm>
          <a:custGeom>
            <a:avLst/>
            <a:gdLst/>
            <a:ahLst/>
            <a:cxnLst/>
            <a:rect l="0" t="0" r="r" b="b"/>
            <a:pathLst>
              <a:path w="5283200" h="1168400">
                <a:moveTo>
                  <a:pt x="0" y="1143000"/>
                </a:moveTo>
                <a:lnTo>
                  <a:pt x="0" y="965200"/>
                </a:lnTo>
                <a:lnTo>
                  <a:pt x="317500" y="711200"/>
                </a:lnTo>
                <a:lnTo>
                  <a:pt x="635000" y="406400"/>
                </a:lnTo>
                <a:lnTo>
                  <a:pt x="952500" y="787400"/>
                </a:lnTo>
                <a:lnTo>
                  <a:pt x="1308100" y="177800"/>
                </a:lnTo>
                <a:lnTo>
                  <a:pt x="1651000" y="609600"/>
                </a:lnTo>
                <a:lnTo>
                  <a:pt x="1993900" y="127000"/>
                </a:lnTo>
                <a:lnTo>
                  <a:pt x="2349500" y="558800"/>
                </a:lnTo>
                <a:lnTo>
                  <a:pt x="2705100" y="279400"/>
                </a:lnTo>
                <a:lnTo>
                  <a:pt x="3048000" y="25400"/>
                </a:lnTo>
                <a:lnTo>
                  <a:pt x="3390900" y="508000"/>
                </a:lnTo>
                <a:lnTo>
                  <a:pt x="3746500" y="203200"/>
                </a:lnTo>
                <a:lnTo>
                  <a:pt x="4102100" y="660400"/>
                </a:lnTo>
                <a:lnTo>
                  <a:pt x="4445000" y="508000"/>
                </a:lnTo>
                <a:lnTo>
                  <a:pt x="4762500" y="812800"/>
                </a:lnTo>
                <a:lnTo>
                  <a:pt x="5283200" y="990600"/>
                </a:lnTo>
                <a:lnTo>
                  <a:pt x="5283200" y="1143000"/>
                </a:lnTo>
                <a:close/>
              </a:path>
            </a:pathLst>
          </a:custGeom>
          <a:solidFill>
            <a:srgbClr val="DCE3EC"/>
          </a:solidFill>
          <a:ln>
            <a:noFill/>
          </a:ln>
        </p:spPr>
        <p:txBody>
          <a:bodyPr/>
          <a:lstStyle/>
          <a:p>
            <a:endParaRPr lang="ja-JP"/>
          </a:p>
        </p:txBody>
      </p:sp>
      <p:sp>
        <p:nvSpPr>
          <p:cNvPr id="901" name="TerrainFront"/>
          <p:cNvSpPr/>
          <p:nvPr/>
        </p:nvSpPr>
        <p:spPr>
          <a:xfrm>
            <a:off x="698500" y="3556000"/>
            <a:ext cx="5283200" cy="431800"/>
          </a:xfrm>
          <a:custGeom>
            <a:avLst/>
            <a:gdLst/>
            <a:ahLst/>
            <a:cxnLst/>
            <a:rect l="0" t="0" r="r" b="b"/>
            <a:pathLst>
              <a:path w="5283200" h="431800">
                <a:moveTo>
                  <a:pt x="0" y="431800"/>
                </a:moveTo>
                <a:lnTo>
                  <a:pt x="0" y="355600"/>
                </a:lnTo>
                <a:lnTo>
                  <a:pt x="571500" y="152400"/>
                </a:lnTo>
                <a:lnTo>
                  <a:pt x="1079500" y="254000"/>
                </a:lnTo>
                <a:lnTo>
                  <a:pt x="1714500" y="76200"/>
                </a:lnTo>
                <a:lnTo>
                  <a:pt x="2413000" y="228600"/>
                </a:lnTo>
                <a:lnTo>
                  <a:pt x="3111500" y="50800"/>
                </a:lnTo>
                <a:lnTo>
                  <a:pt x="3810000" y="203200"/>
                </a:lnTo>
                <a:lnTo>
                  <a:pt x="4508500" y="127000"/>
                </a:lnTo>
                <a:lnTo>
                  <a:pt x="5283200" y="330200"/>
                </a:lnTo>
                <a:lnTo>
                  <a:pt x="5283200" y="431800"/>
                </a:lnTo>
                <a:close/>
              </a:path>
            </a:pathLst>
          </a:custGeom>
          <a:solidFill>
            <a:srgbClr val="CBD5E1"/>
          </a:solidFill>
          <a:ln>
            <a:noFill/>
          </a:ln>
        </p:spPr>
        <p:txBody>
          <a:bodyPr/>
          <a:lstStyle/>
          <a:p>
            <a:endParaRPr lang="ja-JP"/>
          </a:p>
        </p:txBody>
      </p:sp>
      <p:sp>
        <p:nvSpPr>
          <p:cNvPr id="902" name="RouteArc"/>
          <p:cNvSpPr/>
          <p:nvPr/>
        </p:nvSpPr>
        <p:spPr>
          <a:xfrm>
            <a:off x="1016000" y="2819400"/>
            <a:ext cx="4381500" cy="990600"/>
          </a:xfrm>
          <a:custGeom>
            <a:avLst/>
            <a:gdLst/>
            <a:ahLst/>
            <a:cxnLst/>
            <a:rect l="0" t="0" r="r" b="b"/>
            <a:pathLst>
              <a:path w="4381500" h="990600">
                <a:moveTo>
                  <a:pt x="63500" y="939800"/>
                </a:moveTo>
                <a:lnTo>
                  <a:pt x="0" y="736600"/>
                </a:lnTo>
                <a:lnTo>
                  <a:pt x="317500" y="431800"/>
                </a:lnTo>
                <a:lnTo>
                  <a:pt x="635000" y="812800"/>
                </a:lnTo>
                <a:lnTo>
                  <a:pt x="990600" y="203200"/>
                </a:lnTo>
                <a:lnTo>
                  <a:pt x="1333500" y="635000"/>
                </a:lnTo>
                <a:lnTo>
                  <a:pt x="1676400" y="152400"/>
                </a:lnTo>
                <a:lnTo>
                  <a:pt x="2032000" y="584200"/>
                </a:lnTo>
                <a:lnTo>
                  <a:pt x="2387600" y="304800"/>
                </a:lnTo>
                <a:lnTo>
                  <a:pt x="2730500" y="50800"/>
                </a:lnTo>
                <a:lnTo>
                  <a:pt x="3073400" y="533400"/>
                </a:lnTo>
                <a:lnTo>
                  <a:pt x="3429000" y="228600"/>
                </a:lnTo>
                <a:lnTo>
                  <a:pt x="3784600" y="685800"/>
                </a:lnTo>
                <a:lnTo>
                  <a:pt x="4127500" y="533400"/>
                </a:lnTo>
                <a:lnTo>
                  <a:pt x="4330700" y="939800"/>
                </a:lnTo>
              </a:path>
            </a:pathLst>
          </a:custGeom>
          <a:noFill/>
          <a:ln w="28575" cap="rnd">
            <a:solidFill>
              <a:srgbClr val="2F6FB5"/>
            </a:solidFill>
            <a:round/>
          </a:ln>
        </p:spPr>
        <p:txBody>
          <a:bodyPr/>
          <a:lstStyle/>
          <a:p>
            <a:endParaRPr lang="ja-JP"/>
          </a:p>
        </p:txBody>
      </p:sp>
      <p:sp>
        <p:nvSpPr>
          <p:cNvPr id="106" name="Box 107"/>
          <p:cNvSpPr/>
          <p:nvPr/>
        </p:nvSpPr>
        <p:spPr>
          <a:xfrm>
            <a:off x="546100" y="2159000"/>
            <a:ext cx="38100" cy="2743200"/>
          </a:xfrm>
          <a:prstGeom prst="rect">
            <a:avLst/>
          </a:prstGeom>
          <a:solidFill>
            <a:srgbClr val="8A2E3B"/>
          </a:solidFill>
          <a:ln>
            <a:noFill/>
          </a:ln>
        </p:spPr>
        <p:txBody>
          <a:bodyPr/>
          <a:lstStyle/>
          <a:p>
            <a:endParaRPr lang="ja-JP"/>
          </a:p>
        </p:txBody>
      </p:sp>
      <p:sp>
        <p:nvSpPr>
          <p:cNvPr id="107" name="TB 108"/>
          <p:cNvSpPr txBox="1"/>
          <p:nvPr/>
        </p:nvSpPr>
        <p:spPr>
          <a:xfrm>
            <a:off x="787400" y="2311400"/>
            <a:ext cx="5080000" cy="254000"/>
          </a:xfrm>
          <a:prstGeom prst="rect">
            <a:avLst/>
          </a:prstGeom>
          <a:noFill/>
        </p:spPr>
        <p:txBody>
          <a:bodyPr wrap="square" lIns="0" tIns="0" rIns="0" bIns="0" anchor="t">
            <a:spAutoFit/>
          </a:bodyPr>
          <a:lstStyle/>
          <a:p>
            <a:pPr marL="0" indent="0" algn="l">
              <a:buNone/>
            </a:pPr>
            <a:r>
              <a:rPr lang="ja-JP" altLang="en-US" sz="1300" b="1" i="0" spc="0" dirty="0">
                <a:solidFill>
                  <a:srgbClr val="1A2744"/>
                </a:solidFill>
                <a:latin typeface="Calibri"/>
                <a:ea typeface="ＭＳ Ｐゴシック"/>
              </a:rPr>
              <a:t>概念 — 弧（実際の線路）と弦（直線距離）</a:t>
            </a:r>
          </a:p>
        </p:txBody>
      </p:sp>
      <p:sp>
        <p:nvSpPr>
          <p:cNvPr id="109" name="Box 110"/>
          <p:cNvSpPr/>
          <p:nvPr/>
        </p:nvSpPr>
        <p:spPr>
          <a:xfrm>
            <a:off x="1155700" y="3746500"/>
            <a:ext cx="4191000" cy="25400"/>
          </a:xfrm>
          <a:prstGeom prst="rect">
            <a:avLst/>
          </a:prstGeom>
          <a:solidFill>
            <a:srgbClr val="1A2744"/>
          </a:solidFill>
          <a:ln>
            <a:noFill/>
          </a:ln>
        </p:spPr>
        <p:txBody>
          <a:bodyPr/>
          <a:lstStyle/>
          <a:p>
            <a:endParaRPr lang="ja-JP"/>
          </a:p>
        </p:txBody>
      </p:sp>
      <p:sp>
        <p:nvSpPr>
          <p:cNvPr id="110" name="Node"/>
          <p:cNvSpPr/>
          <p:nvPr/>
        </p:nvSpPr>
        <p:spPr>
          <a:xfrm>
            <a:off x="1079500" y="3683000"/>
            <a:ext cx="152400" cy="152400"/>
          </a:xfrm>
          <a:prstGeom prst="ellipse">
            <a:avLst/>
          </a:prstGeom>
          <a:solidFill>
            <a:srgbClr val="1A2744"/>
          </a:solidFill>
          <a:ln>
            <a:noFill/>
          </a:ln>
        </p:spPr>
        <p:txBody>
          <a:bodyPr/>
          <a:lstStyle/>
          <a:p>
            <a:endParaRPr lang="ja-JP"/>
          </a:p>
        </p:txBody>
      </p:sp>
      <p:sp>
        <p:nvSpPr>
          <p:cNvPr id="111" name="Node"/>
          <p:cNvSpPr/>
          <p:nvPr/>
        </p:nvSpPr>
        <p:spPr>
          <a:xfrm>
            <a:off x="5270500" y="3683000"/>
            <a:ext cx="152400" cy="152400"/>
          </a:xfrm>
          <a:prstGeom prst="ellipse">
            <a:avLst/>
          </a:prstGeom>
          <a:solidFill>
            <a:srgbClr val="1A2744"/>
          </a:solidFill>
          <a:ln>
            <a:noFill/>
          </a:ln>
        </p:spPr>
        <p:txBody>
          <a:bodyPr/>
          <a:lstStyle/>
          <a:p>
            <a:endParaRPr lang="ja-JP"/>
          </a:p>
        </p:txBody>
      </p:sp>
      <p:sp>
        <p:nvSpPr>
          <p:cNvPr id="112" name="TB 113"/>
          <p:cNvSpPr txBox="1"/>
          <p:nvPr/>
        </p:nvSpPr>
        <p:spPr>
          <a:xfrm>
            <a:off x="787400" y="2616200"/>
            <a:ext cx="2794000" cy="228600"/>
          </a:xfrm>
          <a:prstGeom prst="rect">
            <a:avLst/>
          </a:prstGeom>
          <a:noFill/>
        </p:spPr>
        <p:txBody>
          <a:bodyPr wrap="square" lIns="0" tIns="0" rIns="0" bIns="0" anchor="t">
            <a:spAutoFit/>
          </a:bodyPr>
          <a:lstStyle/>
          <a:p>
            <a:pPr marL="0" indent="0" algn="l">
              <a:buNone/>
            </a:pPr>
            <a:r>
              <a:rPr lang="ja-JP" altLang="en-US" sz="1200" b="1" i="0" spc="0" dirty="0">
                <a:solidFill>
                  <a:srgbClr val="2F6FB5"/>
                </a:solidFill>
                <a:latin typeface="Calibri"/>
                <a:ea typeface="ＭＳ Ｐゴシック"/>
              </a:rPr>
              <a:t>弧 = 実際の線路長（迂回あり）</a:t>
            </a:r>
          </a:p>
        </p:txBody>
      </p:sp>
      <p:sp>
        <p:nvSpPr>
          <p:cNvPr id="113" name="TB 114"/>
          <p:cNvSpPr txBox="1"/>
          <p:nvPr/>
        </p:nvSpPr>
        <p:spPr>
          <a:xfrm>
            <a:off x="1905000" y="4038600"/>
            <a:ext cx="2794000" cy="228600"/>
          </a:xfrm>
          <a:prstGeom prst="rect">
            <a:avLst/>
          </a:prstGeom>
          <a:noFill/>
        </p:spPr>
        <p:txBody>
          <a:bodyPr wrap="square" lIns="0" tIns="0" rIns="0" bIns="0" anchor="t">
            <a:spAutoFit/>
          </a:bodyPr>
          <a:lstStyle/>
          <a:p>
            <a:pPr marL="0" indent="0" algn="ctr">
              <a:buNone/>
            </a:pPr>
            <a:r>
              <a:rPr lang="ja-JP" altLang="en-US" sz="1200" b="1" i="0" spc="0" dirty="0">
                <a:solidFill>
                  <a:srgbClr val="1A2744"/>
                </a:solidFill>
                <a:latin typeface="Calibri"/>
                <a:ea typeface="ＭＳ Ｐゴシック"/>
              </a:rPr>
              <a:t>弦 = 直線距離（モデルが使う）</a:t>
            </a:r>
          </a:p>
        </p:txBody>
      </p:sp>
      <mc:AlternateContent xmlns:mc="http://schemas.openxmlformats.org/markup-compatibility/2006">
        <mc:Choice xmlns:a14="http://schemas.microsoft.com/office/drawing/2010/main" Requires="a14">
          <p:sp>
            <p:nvSpPr>
              <p:cNvPr id="114" name="TB 115"/>
              <p:cNvSpPr txBox="1"/>
              <p:nvPr/>
            </p:nvSpPr>
            <p:spPr>
              <a:xfrm>
                <a:off x="787400" y="4241800"/>
                <a:ext cx="5080000" cy="609600"/>
              </a:xfrm>
              <a:prstGeom prst="rect">
                <a:avLst/>
              </a:prstGeom>
              <a:noFill/>
            </p:spPr>
            <p:txBody>
              <a:bodyPr wrap="square" lIns="0" tIns="0" rIns="0" bIns="0" anchor="t">
                <a:spAutoFit/>
              </a:bodyPr>
              <a:lstStyle/>
              <a:p>
                <a:pPr algn="l">
                  <a:buNone/>
                  <a:defRPr sz="1600" i="0"/>
                </a:pPr>
                <a14:m>
                  <m:oMath xmlns:m="http://schemas.openxmlformats.org/officeDocument/2006/math">
                    <m:f>
                      <m:fPr>
                        <m:ctrlPr>
                          <a:rPr lang="en-US" altLang="ja-JP" sz="1600" b="0" i="1" dirty="0">
                            <a:solidFill>
                              <a:srgbClr val="333F52"/>
                            </a:solidFill>
                            <a:latin typeface="Cambria Math" panose="02040503050406030204" pitchFamily="18" charset="0"/>
                            <a:ea typeface="ＭＳ Ｐゴシック"/>
                          </a:rPr>
                        </m:ctrlPr>
                      </m:fPr>
                      <m:num>
                        <m:sSub>
                          <m:sSubPr>
                            <m:ctrlPr>
                              <a:rPr lang="en-US" altLang="ja-JP" sz="1600" b="0" i="1" dirty="0">
                                <a:solidFill>
                                  <a:srgbClr val="333F52"/>
                                </a:solidFill>
                                <a:latin typeface="Cambria Math" panose="02040503050406030204" pitchFamily="18" charset="0"/>
                                <a:ea typeface="ＭＳ Ｐゴシック"/>
                              </a:rPr>
                            </m:ctrlPr>
                          </m:sSubPr>
                          <m:e>
                            <m:r>
                              <a:rPr lang="en-US" altLang="ja-JP" sz="1600" b="0" i="1" dirty="0">
                                <a:solidFill>
                                  <a:srgbClr val="333F52"/>
                                </a:solidFill>
                                <a:latin typeface="Cambria Math" panose="02040503050406030204" pitchFamily="18" charset="0"/>
                                <a:ea typeface="ＭＳ Ｐゴシック"/>
                              </a:rPr>
                              <m:t>𝑍</m:t>
                            </m:r>
                          </m:e>
                          <m:sub>
                            <m:r>
                              <a:rPr lang="en-US" altLang="ja-JP" sz="1600" b="0" i="0" dirty="0">
                                <a:solidFill>
                                  <a:srgbClr val="333F52"/>
                                </a:solidFill>
                                <a:latin typeface="Cambria Math" panose="02040503050406030204" pitchFamily="18" charset="0"/>
                                <a:ea typeface="ＭＳ Ｐゴシック"/>
                              </a:rPr>
                              <m:t>公表</m:t>
                            </m:r>
                          </m:sub>
                        </m:sSub>
                      </m:num>
                      <m:den>
                        <m:sSub>
                          <m:sSubPr>
                            <m:ctrlPr>
                              <a:rPr lang="en-US" altLang="ja-JP" sz="1600" b="0" i="1" dirty="0">
                                <a:solidFill>
                                  <a:srgbClr val="333F52"/>
                                </a:solidFill>
                                <a:latin typeface="Cambria Math" panose="02040503050406030204" pitchFamily="18" charset="0"/>
                                <a:ea typeface="ＭＳ Ｐゴシック"/>
                              </a:rPr>
                            </m:ctrlPr>
                          </m:sSubPr>
                          <m:e>
                            <m:r>
                              <a:rPr lang="en-US" altLang="ja-JP" sz="1600" b="0" i="1" dirty="0">
                                <a:solidFill>
                                  <a:srgbClr val="333F52"/>
                                </a:solidFill>
                                <a:latin typeface="Cambria Math" panose="02040503050406030204" pitchFamily="18" charset="0"/>
                                <a:ea typeface="ＭＳ Ｐゴシック"/>
                              </a:rPr>
                              <m:t>𝑍</m:t>
                            </m:r>
                          </m:e>
                          <m:sub>
                            <m:r>
                              <a:rPr lang="en-US" altLang="ja-JP" sz="1600" b="0" i="0" dirty="0">
                                <a:solidFill>
                                  <a:srgbClr val="333F52"/>
                                </a:solidFill>
                                <a:latin typeface="Cambria Math" panose="02040503050406030204" pitchFamily="18" charset="0"/>
                                <a:ea typeface="ＭＳ Ｐゴシック"/>
                              </a:rPr>
                              <m:t>モデル</m:t>
                            </m:r>
                          </m:sub>
                        </m:sSub>
                      </m:den>
                    </m:f>
                    <m:r>
                      <a:rPr lang="en-US" altLang="ja-JP" sz="1600" b="0" i="0" dirty="0">
                        <a:solidFill>
                          <a:srgbClr val="333F52"/>
                        </a:solidFill>
                        <a:latin typeface="Cambria Math" panose="02040503050406030204" pitchFamily="18" charset="0"/>
                        <a:ea typeface="ＭＳ Ｐゴシック"/>
                      </a:rPr>
                      <m:t> = </m:t>
                    </m:r>
                    <m:f>
                      <m:fPr>
                        <m:ctrlPr>
                          <a:rPr lang="en-US" altLang="ja-JP" sz="1600" b="0" i="1" dirty="0">
                            <a:solidFill>
                              <a:srgbClr val="333F52"/>
                            </a:solidFill>
                            <a:latin typeface="Cambria Math" panose="02040503050406030204" pitchFamily="18" charset="0"/>
                            <a:ea typeface="ＭＳ Ｐゴシック"/>
                          </a:rPr>
                        </m:ctrlPr>
                      </m:fPr>
                      <m:num>
                        <m:sSub>
                          <m:sSubPr>
                            <m:ctrlPr>
                              <a:rPr lang="en-US" altLang="ja-JP" sz="1600" b="0" i="1" dirty="0">
                                <a:solidFill>
                                  <a:srgbClr val="333F52"/>
                                </a:solidFill>
                                <a:latin typeface="Cambria Math" panose="02040503050406030204" pitchFamily="18" charset="0"/>
                                <a:ea typeface="ＭＳ Ｐゴシック"/>
                              </a:rPr>
                            </m:ctrlPr>
                          </m:sSubPr>
                          <m:e>
                            <m:r>
                              <m:rPr>
                                <m:sty m:val="p"/>
                              </m:rPr>
                              <a:rPr lang="en-US" altLang="ja-JP" sz="1600" b="0" i="1" dirty="0">
                                <a:solidFill>
                                  <a:srgbClr val="333F52"/>
                                </a:solidFill>
                                <a:latin typeface="Cambria Math" panose="02040503050406030204" pitchFamily="18" charset="0"/>
                                <a:ea typeface="ＭＳ Ｐゴシック"/>
                              </a:rPr>
                              <m:t>ℓ</m:t>
                            </m:r>
                          </m:e>
                          <m:sub>
                            <m:r>
                              <a:rPr lang="en-US" altLang="ja-JP" sz="1600" b="0" i="0" dirty="0">
                                <a:solidFill>
                                  <a:srgbClr val="333F52"/>
                                </a:solidFill>
                                <a:latin typeface="Cambria Math" panose="02040503050406030204" pitchFamily="18" charset="0"/>
                                <a:ea typeface="ＭＳ Ｐゴシック"/>
                              </a:rPr>
                              <m:t>弧</m:t>
                            </m:r>
                          </m:sub>
                        </m:sSub>
                      </m:num>
                      <m:den>
                        <m:sSub>
                          <m:sSubPr>
                            <m:ctrlPr>
                              <a:rPr lang="en-US" altLang="ja-JP" sz="1600" b="0" i="1" dirty="0">
                                <a:solidFill>
                                  <a:srgbClr val="333F52"/>
                                </a:solidFill>
                                <a:latin typeface="Cambria Math" panose="02040503050406030204" pitchFamily="18" charset="0"/>
                                <a:ea typeface="ＭＳ Ｐゴシック"/>
                              </a:rPr>
                            </m:ctrlPr>
                          </m:sSubPr>
                          <m:e>
                            <m:r>
                              <m:rPr>
                                <m:sty m:val="p"/>
                              </m:rPr>
                              <a:rPr lang="en-US" altLang="ja-JP" sz="1600" b="0" i="1" dirty="0">
                                <a:solidFill>
                                  <a:srgbClr val="333F52"/>
                                </a:solidFill>
                                <a:latin typeface="Cambria Math" panose="02040503050406030204" pitchFamily="18" charset="0"/>
                                <a:ea typeface="ＭＳ Ｐゴシック"/>
                              </a:rPr>
                              <m:t>ℓ</m:t>
                            </m:r>
                          </m:e>
                          <m:sub>
                            <m:r>
                              <a:rPr lang="en-US" altLang="ja-JP" sz="1600" b="0" i="0" dirty="0">
                                <a:solidFill>
                                  <a:srgbClr val="333F52"/>
                                </a:solidFill>
                                <a:latin typeface="Cambria Math" panose="02040503050406030204" pitchFamily="18" charset="0"/>
                                <a:ea typeface="ＭＳ Ｐゴシック"/>
                              </a:rPr>
                              <m:t>弦</m:t>
                            </m:r>
                          </m:sub>
                        </m:sSub>
                      </m:den>
                    </m:f>
                    <m:r>
                      <a:rPr lang="en-US" altLang="ja-JP" sz="1600" b="0" i="0" dirty="0">
                        <a:solidFill>
                          <a:srgbClr val="333F52"/>
                        </a:solidFill>
                        <a:latin typeface="Cambria Math" panose="02040503050406030204" pitchFamily="18" charset="0"/>
                        <a:ea typeface="ＭＳ Ｐゴシック"/>
                      </a:rPr>
                      <m:t> = </m:t>
                    </m:r>
                    <m:r>
                      <a:rPr lang="en-US" altLang="ja-JP" sz="1600" b="0" i="1" dirty="0">
                        <a:solidFill>
                          <a:srgbClr val="333F52"/>
                        </a:solidFill>
                        <a:latin typeface="Cambria Math" panose="02040503050406030204" pitchFamily="18" charset="0"/>
                        <a:ea typeface="ＭＳ Ｐゴシック"/>
                      </a:rPr>
                      <m:t>𝜅</m:t>
                    </m:r>
                  </m:oMath>
                </a14:m>
                <a:r>
                  <a:rPr lang="ja-JP" altLang="en-US" sz="1300" b="0" i="0" dirty="0">
                    <a:solidFill>
                      <a:srgbClr val="6B7280"/>
                    </a:solidFill>
                    <a:latin typeface="Calibri"/>
                    <a:ea typeface="ＭＳ Ｐゴシック"/>
                  </a:rPr>
                  <a:t>  （迂回率）</a:t>
                </a:r>
              </a:p>
            </p:txBody>
          </p:sp>
        </mc:Choice>
        <mc:Fallback>
          <p:sp>
            <p:nvSpPr>
              <p:cNvPr id="114" name="TB 115"/>
              <p:cNvSpPr txBox="1">
                <a:spLocks noRot="1" noChangeAspect="1" noMove="1" noResize="1" noEditPoints="1" noAdjustHandles="1" noChangeArrowheads="1" noChangeShapeType="1" noTextEdit="1"/>
              </p:cNvSpPr>
              <p:nvPr/>
            </p:nvSpPr>
            <p:spPr>
              <a:xfrm>
                <a:off x="787400" y="4241800"/>
                <a:ext cx="5080000" cy="609600"/>
              </a:xfrm>
              <a:prstGeom prst="rect">
                <a:avLst/>
              </a:prstGeom>
              <a:blipFill>
                <a:blip r:embed="rId2"/>
                <a:stretch>
                  <a:fillRect l="-746" t="-2041" b="-6122"/>
                </a:stretch>
              </a:blipFill>
            </p:spPr>
            <p:txBody>
              <a:bodyPr/>
              <a:lstStyle/>
              <a:p>
                <a:r>
                  <a:rPr lang="ja-JP" altLang="en-US">
                    <a:noFill/>
                  </a:rPr>
                  <a:t> </a:t>
                </a:r>
              </a:p>
            </p:txBody>
          </p:sp>
        </mc:Fallback>
      </mc:AlternateContent>
      <p:sp>
        <p:nvSpPr>
          <p:cNvPr id="115" name="Box 116"/>
          <p:cNvSpPr/>
          <p:nvPr/>
        </p:nvSpPr>
        <p:spPr>
          <a:xfrm>
            <a:off x="6413500" y="2159000"/>
            <a:ext cx="5232400" cy="2743200"/>
          </a:xfrm>
          <a:prstGeom prst="rect">
            <a:avLst/>
          </a:prstGeom>
          <a:solidFill>
            <a:srgbClr val="EEF1F6"/>
          </a:solidFill>
          <a:ln>
            <a:noFill/>
          </a:ln>
        </p:spPr>
        <p:txBody>
          <a:bodyPr/>
          <a:lstStyle/>
          <a:p>
            <a:endParaRPr lang="ja-JP"/>
          </a:p>
        </p:txBody>
      </p:sp>
      <p:sp>
        <p:nvSpPr>
          <p:cNvPr id="116" name="Box 117"/>
          <p:cNvSpPr/>
          <p:nvPr/>
        </p:nvSpPr>
        <p:spPr>
          <a:xfrm>
            <a:off x="6413500" y="2159000"/>
            <a:ext cx="38100" cy="2743200"/>
          </a:xfrm>
          <a:prstGeom prst="rect">
            <a:avLst/>
          </a:prstGeom>
          <a:solidFill>
            <a:srgbClr val="8A2E3B"/>
          </a:solidFill>
          <a:ln>
            <a:noFill/>
          </a:ln>
        </p:spPr>
        <p:txBody>
          <a:bodyPr/>
          <a:lstStyle/>
          <a:p>
            <a:endParaRPr lang="ja-JP"/>
          </a:p>
        </p:txBody>
      </p:sp>
      <p:sp>
        <p:nvSpPr>
          <p:cNvPr id="117" name="TB 118"/>
          <p:cNvSpPr txBox="1"/>
          <p:nvPr/>
        </p:nvSpPr>
        <p:spPr>
          <a:xfrm>
            <a:off x="6654800" y="2311400"/>
            <a:ext cx="4826000" cy="254000"/>
          </a:xfrm>
          <a:prstGeom prst="rect">
            <a:avLst/>
          </a:prstGeom>
          <a:noFill/>
        </p:spPr>
        <p:txBody>
          <a:bodyPr wrap="square" lIns="0" tIns="0" rIns="0" bIns="0" anchor="t">
            <a:spAutoFit/>
          </a:bodyPr>
          <a:lstStyle/>
          <a:p>
            <a:pPr marL="0" indent="0" algn="l">
              <a:buNone/>
            </a:pPr>
            <a:r>
              <a:rPr lang="ja-JP" altLang="en-US" sz="1300" b="1" i="0" spc="0" dirty="0">
                <a:solidFill>
                  <a:srgbClr val="1A2744"/>
                </a:solidFill>
                <a:latin typeface="Calibri"/>
                <a:ea typeface="ＭＳ Ｐゴシック"/>
              </a:rPr>
              <a:t>結果 — 404本の線路で検算</a:t>
            </a:r>
          </a:p>
        </p:txBody>
      </p:sp>
      <p:sp>
        <p:nvSpPr>
          <p:cNvPr id="118" name="TB 119"/>
          <p:cNvSpPr txBox="1"/>
          <p:nvPr/>
        </p:nvSpPr>
        <p:spPr>
          <a:xfrm>
            <a:off x="6654800" y="2641600"/>
            <a:ext cx="2540000" cy="736600"/>
          </a:xfrm>
          <a:prstGeom prst="rect">
            <a:avLst/>
          </a:prstGeom>
          <a:noFill/>
        </p:spPr>
        <p:txBody>
          <a:bodyPr wrap="square" lIns="0" tIns="0" rIns="0" bIns="0" anchor="t">
            <a:spAutoFit/>
          </a:bodyPr>
          <a:lstStyle/>
          <a:p>
            <a:pPr marL="0" indent="0" algn="l">
              <a:buNone/>
            </a:pPr>
            <a:r>
              <a:rPr lang="ja-JP" altLang="en-US" sz="4800" b="1" i="0" spc="0" dirty="0">
                <a:solidFill>
                  <a:srgbClr val="8A2E3B"/>
                </a:solidFill>
                <a:latin typeface="Calibri"/>
                <a:ea typeface="ＭＳ Ｐゴシック"/>
              </a:rPr>
              <a:t>1.22</a:t>
            </a:r>
          </a:p>
        </p:txBody>
      </p:sp>
      <mc:AlternateContent xmlns:mc="http://schemas.openxmlformats.org/markup-compatibility/2006">
        <mc:Choice xmlns:a14="http://schemas.microsoft.com/office/drawing/2010/main" Requires="a14">
          <p:sp>
            <p:nvSpPr>
              <p:cNvPr id="119" name="TB 120"/>
              <p:cNvSpPr txBox="1"/>
              <p:nvPr/>
            </p:nvSpPr>
            <p:spPr>
              <a:xfrm>
                <a:off x="6654800" y="3251200"/>
                <a:ext cx="4826000" cy="584200"/>
              </a:xfrm>
              <a:prstGeom prst="rect">
                <a:avLst/>
              </a:prstGeom>
              <a:noFill/>
            </p:spPr>
            <p:txBody>
              <a:bodyPr wrap="square" lIns="0" tIns="0" rIns="0" bIns="0" anchor="t">
                <a:spAutoFit/>
              </a:bodyPr>
              <a:lstStyle/>
              <a:p>
                <a:pPr algn="l">
                  <a:buNone/>
                  <a:defRPr sz="1300" i="0"/>
                </a:pPr>
                <a14:m>
                  <m:oMath xmlns:m="http://schemas.openxmlformats.org/officeDocument/2006/math">
                    <m:f>
                      <m:fPr>
                        <m:ctrlPr>
                          <a:rPr lang="ja-JP" altLang="en-US" sz="1300" b="0" i="1" dirty="0">
                            <a:solidFill>
                              <a:srgbClr val="333F52"/>
                            </a:solidFill>
                            <a:latin typeface="Cambria Math" panose="02040503050406030204" pitchFamily="18" charset="0"/>
                            <a:ea typeface="ＭＳ Ｐゴシック"/>
                          </a:rPr>
                        </m:ctrlPr>
                      </m:fPr>
                      <m:num>
                        <m:r>
                          <a:rPr lang="ja-JP" altLang="en-US" sz="1300" b="0" i="1" dirty="0">
                            <a:solidFill>
                              <a:srgbClr val="333F52"/>
                            </a:solidFill>
                            <a:latin typeface="Cambria Math" panose="02040503050406030204" pitchFamily="18" charset="0"/>
                            <a:ea typeface="ＭＳ Ｐゴシック"/>
                          </a:rPr>
                          <m:t>𝑍</m:t>
                        </m:r>
                        <m:r>
                          <a:rPr lang="ja-JP" altLang="en-US" sz="1300" b="0" i="0" dirty="0">
                            <a:solidFill>
                              <a:srgbClr val="333F52"/>
                            </a:solidFill>
                            <a:latin typeface="Cambria Math" panose="02040503050406030204" pitchFamily="18" charset="0"/>
                            <a:ea typeface="ＭＳ Ｐゴシック"/>
                          </a:rPr>
                          <m:t>公表</m:t>
                        </m:r>
                      </m:num>
                      <m:den>
                        <m:r>
                          <a:rPr lang="ja-JP" altLang="en-US" sz="1300" b="0" i="1" dirty="0">
                            <a:solidFill>
                              <a:srgbClr val="333F52"/>
                            </a:solidFill>
                            <a:latin typeface="Cambria Math" panose="02040503050406030204" pitchFamily="18" charset="0"/>
                            <a:ea typeface="ＭＳ Ｐゴシック"/>
                          </a:rPr>
                          <m:t>𝑍</m:t>
                        </m:r>
                        <m:r>
                          <a:rPr lang="ja-JP" altLang="en-US" sz="1300" b="0" i="0" dirty="0">
                            <a:solidFill>
                              <a:srgbClr val="333F52"/>
                            </a:solidFill>
                            <a:latin typeface="Cambria Math" panose="02040503050406030204" pitchFamily="18" charset="0"/>
                            <a:ea typeface="ＭＳ Ｐゴシック"/>
                          </a:rPr>
                          <m:t>モデル</m:t>
                        </m:r>
                      </m:den>
                    </m:f>
                  </m:oMath>
                </a14:m>
                <a:r>
                  <a:rPr lang="ja-JP" altLang="en-US" sz="1400" i="0" dirty="0">
                    <a:solidFill>
                      <a:srgbClr val="333F52"/>
                    </a:solidFill>
                    <a:latin typeface="Calibri"/>
                    <a:ea typeface="ＭＳ Ｐゴシック"/>
                  </a:rPr>
                  <a:t>  の中央値（n = 404）</a:t>
                </a:r>
              </a:p>
            </p:txBody>
          </p:sp>
        </mc:Choice>
        <mc:Fallback>
          <p:sp>
            <p:nvSpPr>
              <p:cNvPr id="119" name="TB 120"/>
              <p:cNvSpPr txBox="1">
                <a:spLocks noRot="1" noChangeAspect="1" noMove="1" noResize="1" noEditPoints="1" noAdjustHandles="1" noChangeArrowheads="1" noChangeShapeType="1" noTextEdit="1"/>
              </p:cNvSpPr>
              <p:nvPr/>
            </p:nvSpPr>
            <p:spPr>
              <a:xfrm>
                <a:off x="6654800" y="3251200"/>
                <a:ext cx="4826000" cy="584200"/>
              </a:xfrm>
              <a:prstGeom prst="rect">
                <a:avLst/>
              </a:prstGeom>
              <a:blipFill>
                <a:blip r:embed="rId3"/>
                <a:stretch>
                  <a:fillRect l="-1053" t="-4255"/>
                </a:stretch>
              </a:blipFill>
            </p:spPr>
            <p:txBody>
              <a:bodyPr/>
              <a:lstStyle/>
              <a:p>
                <a:r>
                  <a:rPr lang="ja-JP" altLang="en-US">
                    <a:noFill/>
                  </a:rPr>
                  <a:t> </a:t>
                </a:r>
              </a:p>
            </p:txBody>
          </p:sp>
        </mc:Fallback>
      </mc:AlternateContent>
      <p:sp>
        <p:nvSpPr>
          <p:cNvPr id="122" name="TB 123"/>
          <p:cNvSpPr txBox="1"/>
          <p:nvPr/>
        </p:nvSpPr>
        <p:spPr>
          <a:xfrm>
            <a:off x="6654800" y="3962400"/>
            <a:ext cx="4826000" cy="762000"/>
          </a:xfrm>
          <a:prstGeom prst="rect">
            <a:avLst/>
          </a:prstGeom>
          <a:noFill/>
        </p:spPr>
        <p:txBody>
          <a:bodyPr wrap="square" lIns="0" tIns="0" rIns="0" bIns="0" anchor="t">
            <a:spAutoFit/>
          </a:bodyPr>
          <a:lstStyle/>
          <a:p>
            <a:pPr marL="0" indent="0" algn="l">
              <a:lnSpc>
                <a:spcPct val="140000"/>
              </a:lnSpc>
              <a:buNone/>
            </a:pPr>
            <a:r>
              <a:rPr lang="ja-JP" altLang="en-US" sz="1400" b="0" i="0" spc="0" dirty="0">
                <a:solidFill>
                  <a:srgbClr val="333F52"/>
                </a:solidFill>
                <a:latin typeface="Calibri"/>
                <a:ea typeface="ＭＳ Ｐゴシック"/>
              </a:rPr>
              <a:t>理論期待帯 1.2〜1.4（送電線の迂回率）</a:t>
            </a:r>
          </a:p>
          <a:p>
            <a:pPr marL="0" indent="0" algn="l">
              <a:lnSpc>
                <a:spcPct val="140000"/>
              </a:lnSpc>
              <a:buNone/>
            </a:pPr>
            <a:r>
              <a:rPr lang="ja-JP" altLang="en-US" sz="1400" b="0" i="0" spc="0" dirty="0">
                <a:solidFill>
                  <a:srgbClr val="333F52"/>
                </a:solidFill>
                <a:latin typeface="Calibri"/>
                <a:ea typeface="ＭＳ Ｐゴシック"/>
              </a:rPr>
              <a:t>ほぼ帯の下端 — 系統的なズレは見られない。</a:t>
            </a:r>
          </a:p>
        </p:txBody>
      </p:sp>
      <p:sp>
        <p:nvSpPr>
          <p:cNvPr id="123" name="Box 124"/>
          <p:cNvSpPr/>
          <p:nvPr/>
        </p:nvSpPr>
        <p:spPr>
          <a:xfrm>
            <a:off x="546100" y="5054600"/>
            <a:ext cx="11099800" cy="660400"/>
          </a:xfrm>
          <a:prstGeom prst="rect">
            <a:avLst/>
          </a:prstGeom>
          <a:solidFill>
            <a:srgbClr val="EEF1F6"/>
          </a:solidFill>
          <a:ln>
            <a:noFill/>
          </a:ln>
        </p:spPr>
        <p:txBody>
          <a:bodyPr/>
          <a:lstStyle/>
          <a:p>
            <a:endParaRPr lang="ja-JP"/>
          </a:p>
        </p:txBody>
      </p:sp>
      <p:sp>
        <p:nvSpPr>
          <p:cNvPr id="124" name="Box 125"/>
          <p:cNvSpPr/>
          <p:nvPr/>
        </p:nvSpPr>
        <p:spPr>
          <a:xfrm>
            <a:off x="546100" y="5054600"/>
            <a:ext cx="38100" cy="660400"/>
          </a:xfrm>
          <a:prstGeom prst="rect">
            <a:avLst/>
          </a:prstGeom>
          <a:solidFill>
            <a:srgbClr val="8A2E3B"/>
          </a:solidFill>
          <a:ln>
            <a:noFill/>
          </a:ln>
        </p:spPr>
        <p:txBody>
          <a:bodyPr/>
          <a:lstStyle/>
          <a:p>
            <a:endParaRPr lang="ja-JP"/>
          </a:p>
        </p:txBody>
      </p:sp>
      <p:sp>
        <p:nvSpPr>
          <p:cNvPr id="125" name="TB 126"/>
          <p:cNvSpPr txBox="1"/>
          <p:nvPr/>
        </p:nvSpPr>
        <p:spPr>
          <a:xfrm>
            <a:off x="787400" y="5232400"/>
            <a:ext cx="10668000" cy="230832"/>
          </a:xfrm>
          <a:prstGeom prst="rect">
            <a:avLst/>
          </a:prstGeom>
          <a:noFill/>
        </p:spPr>
        <p:txBody>
          <a:bodyPr wrap="square" lIns="0" tIns="0" rIns="0" bIns="0" anchor="t">
            <a:spAutoFit/>
          </a:bodyPr>
          <a:lstStyle/>
          <a:p>
            <a:pPr marL="0" indent="0" algn="l">
              <a:buNone/>
            </a:pPr>
            <a:r>
              <a:rPr lang="ja-JP" altLang="en-US" sz="1500" b="1" i="0" spc="0" dirty="0">
                <a:solidFill>
                  <a:srgbClr val="1A2744"/>
                </a:solidFill>
                <a:latin typeface="Calibri"/>
                <a:ea typeface="ＭＳ Ｐゴシック"/>
              </a:rPr>
              <a:t>モデルの Z は弦長ぶんだけ小さい。その差は迂回率で説明でき、インピーダンスの水準は妥当と判断できる。</a:t>
            </a:r>
          </a:p>
        </p:txBody>
      </p:sp>
      <p:sp>
        <p:nvSpPr>
          <p:cNvPr id="126" name="Box 127"/>
          <p:cNvSpPr/>
          <p:nvPr/>
        </p:nvSpPr>
        <p:spPr>
          <a:xfrm>
            <a:off x="546100" y="6172200"/>
            <a:ext cx="11099800" cy="12700"/>
          </a:xfrm>
          <a:prstGeom prst="rect">
            <a:avLst/>
          </a:prstGeom>
          <a:solidFill>
            <a:srgbClr val="D8DCE3"/>
          </a:solidFill>
          <a:ln>
            <a:noFill/>
          </a:ln>
        </p:spPr>
        <p:txBody>
          <a:bodyPr/>
          <a:lstStyle/>
          <a:p>
            <a:endParaRPr lang="ja-JP"/>
          </a:p>
        </p:txBody>
      </p:sp>
      <p:sp>
        <p:nvSpPr>
          <p:cNvPr id="127" name="TB 128"/>
          <p:cNvSpPr txBox="1"/>
          <p:nvPr/>
        </p:nvSpPr>
        <p:spPr>
          <a:xfrm>
            <a:off x="546100" y="6273800"/>
            <a:ext cx="11099800" cy="169277"/>
          </a:xfrm>
          <a:prstGeom prst="rect">
            <a:avLst/>
          </a:prstGeom>
          <a:noFill/>
        </p:spPr>
        <p:txBody>
          <a:bodyPr wrap="square" lIns="0" tIns="0" rIns="0" bIns="0" anchor="t">
            <a:spAutoFit/>
          </a:bodyPr>
          <a:lstStyle/>
          <a:p>
            <a:pPr marL="0" indent="0" algn="l">
              <a:buNone/>
            </a:pPr>
            <a:r>
              <a:rPr lang="ja-JP" altLang="en-US" sz="1100" b="0" i="0" spc="0" dirty="0">
                <a:solidFill>
                  <a:srgbClr val="6B7280"/>
                </a:solidFill>
                <a:latin typeface="Calibri"/>
                <a:ea typeface="ＭＳ Ｐゴシック"/>
              </a:rPr>
              <a:t>Z公表 = 各社の系統情報公表（様式5）の線路リアクタンス生値／Zモデル = 弦距離 × 標準線路定数（Ω/km）・n = 404</a:t>
            </a:r>
          </a:p>
        </p:txBody>
      </p:sp>
      <p:pic>
        <p:nvPicPr>
          <p:cNvPr id="2" name="図 1">
            <a:extLst>
              <a:ext uri="{FF2B5EF4-FFF2-40B4-BE49-F238E27FC236}">
                <a16:creationId xmlns:a16="http://schemas.microsoft.com/office/drawing/2014/main" id="{B1DB6D65-C32E-8728-5D45-9E8419CDDE9B}"/>
              </a:ext>
            </a:extLst>
          </p:cNvPr>
          <p:cNvPicPr>
            <a:picLocks noChangeAspect="1"/>
          </p:cNvPicPr>
          <p:nvPr/>
        </p:nvPicPr>
        <p:blipFill rotWithShape="1">
          <a:blip r:embed="rId4"/>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1825568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70FC5CF-D8B0-B776-9A46-0134B2B0E6CA}"/>
              </a:ext>
            </a:extLst>
          </p:cNvPr>
          <p:cNvSpPr txBox="1"/>
          <p:nvPr/>
        </p:nvSpPr>
        <p:spPr>
          <a:xfrm>
            <a:off x="1623316" y="2767280"/>
            <a:ext cx="9206366" cy="1323439"/>
          </a:xfrm>
          <a:prstGeom prst="rect">
            <a:avLst/>
          </a:prstGeom>
          <a:noFill/>
        </p:spPr>
        <p:txBody>
          <a:bodyPr wrap="none" rtlCol="0">
            <a:spAutoFit/>
          </a:bodyPr>
          <a:lstStyle/>
          <a:p>
            <a:r>
              <a:rPr kumimoji="1" lang="ja-JP" altLang="en-US" sz="8000"/>
              <a:t>潮流計算が解けない</a:t>
            </a:r>
          </a:p>
        </p:txBody>
      </p:sp>
    </p:spTree>
    <p:extLst>
      <p:ext uri="{BB962C8B-B14F-4D97-AF65-F5344CB8AC3E}">
        <p14:creationId xmlns:p14="http://schemas.microsoft.com/office/powerpoint/2010/main" val="33633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103120"/>
            <a:ext cx="10698480" cy="707886"/>
          </a:xfrm>
          <a:prstGeom prst="rect">
            <a:avLst/>
          </a:prstGeom>
          <a:noFill/>
        </p:spPr>
        <p:txBody>
          <a:bodyPr wrap="square">
            <a:spAutoFit/>
          </a:bodyPr>
          <a:lstStyle/>
          <a:p>
            <a:r>
              <a:rPr sz="4000" b="1">
                <a:solidFill>
                  <a:srgbClr val="2B4A63"/>
                </a:solidFill>
                <a:latin typeface="Hiragino Sans"/>
              </a:rPr>
              <a:t>行き止まりの枝が、計算を止めていた</a:t>
            </a:r>
          </a:p>
        </p:txBody>
      </p:sp>
      <p:sp>
        <p:nvSpPr>
          <p:cNvPr id="3" name="TextBox 2"/>
          <p:cNvSpPr txBox="1"/>
          <p:nvPr/>
        </p:nvSpPr>
        <p:spPr>
          <a:xfrm>
            <a:off x="777240" y="3200400"/>
            <a:ext cx="10515600" cy="430887"/>
          </a:xfrm>
          <a:prstGeom prst="rect">
            <a:avLst/>
          </a:prstGeom>
          <a:noFill/>
        </p:spPr>
        <p:txBody>
          <a:bodyPr wrap="square">
            <a:spAutoFit/>
          </a:bodyPr>
          <a:lstStyle/>
          <a:p>
            <a:r>
              <a:rPr sz="2200" b="0">
                <a:solidFill>
                  <a:srgbClr val="555A60"/>
                </a:solidFill>
                <a:latin typeface="Hiragino Sans"/>
              </a:rPr>
              <a:t>変圧器データの反映(案1)と行き止まり枝のまとめ込み(案3)を試した結果報告</a:t>
            </a:r>
          </a:p>
        </p:txBody>
      </p:sp>
      <p:sp>
        <p:nvSpPr>
          <p:cNvPr id="4" name="TextBox 3"/>
          <p:cNvSpPr txBox="1"/>
          <p:nvPr/>
        </p:nvSpPr>
        <p:spPr>
          <a:xfrm>
            <a:off x="777240" y="5394960"/>
            <a:ext cx="10058400" cy="492443"/>
          </a:xfrm>
          <a:prstGeom prst="rect">
            <a:avLst/>
          </a:prstGeom>
          <a:noFill/>
        </p:spPr>
        <p:txBody>
          <a:bodyPr wrap="square">
            <a:spAutoFit/>
          </a:bodyPr>
          <a:lstStyle/>
          <a:p>
            <a:r>
              <a:rPr sz="1300" b="0">
                <a:solidFill>
                  <a:srgbClr val="555A60"/>
                </a:solidFill>
                <a:latin typeface="Hiragino Sans"/>
              </a:rPr>
              <a:t>全国送電網モデル v1.7.0 公開後の追加検証 / 2026年8月20日</a:t>
            </a:r>
          </a:p>
          <a:p>
            <a:r>
              <a:rPr sz="1300" b="0">
                <a:solidFill>
                  <a:srgbClr val="555A60"/>
                </a:solidFill>
                <a:latin typeface="Hiragino Sans"/>
              </a:rPr>
              <a:t>docs/reports/trial_trafo_impedance_antenna_2026-08-20.md</a:t>
            </a:r>
          </a:p>
        </p:txBody>
      </p:sp>
    </p:spTree>
    <p:extLst>
      <p:ext uri="{BB962C8B-B14F-4D97-AF65-F5344CB8AC3E}">
        <p14:creationId xmlns:p14="http://schemas.microsoft.com/office/powerpoint/2010/main" val="899981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背景 — データは揃っ</a:t>
            </a:r>
            <a:r>
              <a:rPr lang="en-US" sz="2800" b="1">
                <a:solidFill>
                  <a:srgbClr val="2B4A63"/>
                </a:solidFill>
                <a:latin typeface="Hiragino Sans"/>
              </a:rPr>
              <a:t>ているけど</a:t>
            </a:r>
            <a:r>
              <a:rPr sz="2800" b="1">
                <a:solidFill>
                  <a:srgbClr val="2B4A63"/>
                </a:solidFill>
                <a:latin typeface="Hiragino Sans"/>
              </a:rPr>
              <a:t>計算が解けない</a:t>
            </a:r>
            <a:r>
              <a:rPr lang="en-US" sz="2800" b="1">
                <a:solidFill>
                  <a:srgbClr val="2B4A63"/>
                </a:solidFill>
                <a:latin typeface="Hiragino Sans"/>
              </a:rPr>
              <a:t>(収束しない)</a:t>
            </a:r>
            <a:endParaRPr sz="2800" b="1">
              <a:solidFill>
                <a:srgbClr val="2B4A63"/>
              </a:solidFill>
              <a:latin typeface="Hiragino Sans"/>
            </a:endParaRPr>
          </a:p>
        </p:txBody>
      </p:sp>
      <p:sp>
        <p:nvSpPr>
          <p:cNvPr id="3" name="TextBox 2"/>
          <p:cNvSpPr txBox="1"/>
          <p:nvPr/>
        </p:nvSpPr>
        <p:spPr>
          <a:xfrm>
            <a:off x="530352" y="896112"/>
            <a:ext cx="10972800" cy="307777"/>
          </a:xfrm>
          <a:prstGeom prst="rect">
            <a:avLst/>
          </a:prstGeom>
          <a:noFill/>
        </p:spPr>
        <p:txBody>
          <a:bodyPr wrap="square">
            <a:spAutoFit/>
          </a:bodyPr>
          <a:lstStyle/>
          <a:p>
            <a:r>
              <a:rPr sz="1400" b="0">
                <a:solidFill>
                  <a:srgbClr val="555A60"/>
                </a:solidFill>
                <a:latin typeface="Hiragino Sans"/>
              </a:rPr>
              <a:t>配布データの東側・西側は、標準的な計算ツール(MATPOWERのrunpf)では答えが出ない</a:t>
            </a:r>
          </a:p>
        </p:txBody>
      </p:sp>
      <p:sp>
        <p:nvSpPr>
          <p:cNvPr id="4" name="TextBox 3"/>
          <p:cNvSpPr txBox="1"/>
          <p:nvPr/>
        </p:nvSpPr>
        <p:spPr>
          <a:xfrm>
            <a:off x="640080" y="1554480"/>
            <a:ext cx="10972800" cy="2185214"/>
          </a:xfrm>
          <a:prstGeom prst="rect">
            <a:avLst/>
          </a:prstGeom>
          <a:noFill/>
        </p:spPr>
        <p:txBody>
          <a:bodyPr wrap="square">
            <a:spAutoFit/>
          </a:bodyPr>
          <a:lstStyle/>
          <a:p>
            <a:r>
              <a:rPr sz="1700" b="0">
                <a:solidFill>
                  <a:srgbClr val="555A60"/>
                </a:solidFill>
                <a:latin typeface="Hiragino Sans"/>
              </a:rPr>
              <a:t>・v1.7.0で「どこがどこに繋がっているか」「連系線」「容量」は公表資料をもとに確定</a:t>
            </a:r>
            <a:r>
              <a:rPr lang="ja-JP" altLang="en-US" sz="1700" b="0">
                <a:solidFill>
                  <a:srgbClr val="555A60"/>
                </a:solidFill>
                <a:latin typeface="Hiragino Sans"/>
              </a:rPr>
              <a:t>済み</a:t>
            </a:r>
            <a:endParaRPr sz="1700" b="0">
              <a:solidFill>
                <a:srgbClr val="555A60"/>
              </a:solidFill>
              <a:latin typeface="Hiragino Sans"/>
            </a:endParaRPr>
          </a:p>
          <a:p>
            <a:r>
              <a:rPr sz="1700" b="0">
                <a:solidFill>
                  <a:srgbClr val="555A60"/>
                </a:solidFill>
                <a:latin typeface="Hiragino Sans"/>
              </a:rPr>
              <a:t>・ただし配布データの東側・西側は、標準的な計算では答えが発散</a:t>
            </a:r>
            <a:r>
              <a:rPr lang="ja-JP" altLang="en-US" sz="1700" b="0">
                <a:solidFill>
                  <a:srgbClr val="555A60"/>
                </a:solidFill>
                <a:latin typeface="Hiragino Sans"/>
              </a:rPr>
              <a:t>する</a:t>
            </a:r>
            <a:endParaRPr sz="1700" b="0">
              <a:solidFill>
                <a:srgbClr val="555A60"/>
              </a:solidFill>
              <a:latin typeface="Hiragino Sans"/>
            </a:endParaRPr>
          </a:p>
          <a:p>
            <a:r>
              <a:rPr sz="1700" b="0">
                <a:solidFill>
                  <a:srgbClr val="555A60"/>
                </a:solidFill>
                <a:latin typeface="Hiragino Sans"/>
              </a:rPr>
              <a:t>・原因の候補を2つ立てて検証</a:t>
            </a:r>
          </a:p>
          <a:p>
            <a:r>
              <a:rPr sz="1700" b="0">
                <a:solidFill>
                  <a:srgbClr val="555A60"/>
                </a:solidFill>
                <a:latin typeface="Hiragino Sans"/>
              </a:rPr>
              <a:t>    案1  公表資料(様式5)にある変圧器の実測値213基分をモデルに入れる</a:t>
            </a:r>
            <a:r>
              <a:rPr lang="ja-JP" altLang="en-US" sz="1700" b="0">
                <a:solidFill>
                  <a:srgbClr val="555A60"/>
                </a:solidFill>
                <a:latin typeface="Hiragino Sans"/>
              </a:rPr>
              <a:t>　</a:t>
            </a:r>
            <a:r>
              <a:rPr lang="ja-JP" altLang="en-US" sz="1700" b="0">
                <a:solidFill>
                  <a:srgbClr val="FF0000"/>
                </a:solidFill>
                <a:latin typeface="Hiragino Sans"/>
              </a:rPr>
              <a:t>（別出典の情報入れる</a:t>
            </a:r>
            <a:r>
              <a:rPr lang="en-US" altLang="ja-JP" sz="1700" b="0">
                <a:solidFill>
                  <a:srgbClr val="FF0000"/>
                </a:solidFill>
                <a:latin typeface="Hiragino Sans"/>
              </a:rPr>
              <a:t>OCTTO</a:t>
            </a:r>
            <a:r>
              <a:rPr lang="ja-JP" altLang="en-US" sz="1700" b="0">
                <a:solidFill>
                  <a:srgbClr val="FF0000"/>
                </a:solidFill>
                <a:latin typeface="Hiragino Sans"/>
              </a:rPr>
              <a:t>など）</a:t>
            </a:r>
            <a:endParaRPr sz="1700" b="0">
              <a:solidFill>
                <a:srgbClr val="FF0000"/>
              </a:solidFill>
              <a:latin typeface="Hiragino Sans"/>
            </a:endParaRPr>
          </a:p>
          <a:p>
            <a:r>
              <a:rPr sz="1700" b="0">
                <a:solidFill>
                  <a:srgbClr val="555A60"/>
                </a:solidFill>
                <a:latin typeface="Hiragino Sans"/>
              </a:rPr>
              <a:t>    案3  100kV未満で行き止まりになっている枝を、需要量を保ったまま親の地点にまとめる</a:t>
            </a:r>
            <a:r>
              <a:rPr lang="ja-JP" altLang="en-US" sz="1700" b="0">
                <a:solidFill>
                  <a:srgbClr val="555A60"/>
                </a:solidFill>
                <a:latin typeface="Hiragino Sans"/>
              </a:rPr>
              <a:t>　</a:t>
            </a:r>
            <a:r>
              <a:rPr lang="ja-JP" altLang="en-US" sz="1700" b="0">
                <a:solidFill>
                  <a:srgbClr val="FF0000"/>
                </a:solidFill>
                <a:latin typeface="Hiragino Sans"/>
              </a:rPr>
              <a:t>（断片化の解消）</a:t>
            </a:r>
            <a:endParaRPr sz="1700" b="0">
              <a:solidFill>
                <a:srgbClr val="FF0000"/>
              </a:solidFill>
              <a:latin typeface="Hiragino Sans"/>
            </a:endParaRPr>
          </a:p>
          <a:p>
            <a:endParaRPr sz="1700" b="0">
              <a:solidFill>
                <a:srgbClr val="555A60"/>
              </a:solidFill>
              <a:latin typeface="Hiragino Sans"/>
            </a:endParaRPr>
          </a:p>
          <a:p>
            <a:r>
              <a:rPr sz="1700" b="0">
                <a:solidFill>
                  <a:srgbClr val="555A60"/>
                </a:solidFill>
                <a:latin typeface="Hiragino Sans"/>
              </a:rPr>
              <a:t>・比べ方: 同じモデルを複製し、何もしない(E0)/案1/案3/両方 を同条件で比較</a:t>
            </a:r>
          </a:p>
          <a:p>
            <a:r>
              <a:rPr sz="1700" b="0">
                <a:solidFill>
                  <a:srgbClr val="555A60"/>
                </a:solidFill>
                <a:latin typeface="Hiragino Sans"/>
              </a:rPr>
              <a:t>・測り方: 標準の計算と段階式の計算の両方 / 2023年度の需要データを使用</a:t>
            </a:r>
          </a:p>
        </p:txBody>
      </p:sp>
      <p:sp>
        <p:nvSpPr>
          <p:cNvPr id="5" name="Glossary">
            <a:extLst>
              <a:ext uri="{FF2B5EF4-FFF2-40B4-BE49-F238E27FC236}">
                <a16:creationId xmlns:a16="http://schemas.microsoft.com/office/drawing/2014/main" id="{66BF49EB-83C0-F144-8E58-B525351ECC54}"/>
              </a:ext>
            </a:extLst>
          </p:cNvPr>
          <p:cNvSpPr/>
          <p:nvPr/>
        </p:nvSpPr>
        <p:spPr>
          <a:xfrm>
            <a:off x="635000" y="4191000"/>
            <a:ext cx="10972800" cy="2095500"/>
          </a:xfrm>
          <a:prstGeom prst="roundRect">
            <a:avLst/>
          </a:prstGeom>
          <a:solidFill>
            <a:srgbClr val="F1F4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ja-JP" altLang="en-US" sz="1500">
                <a:solidFill>
                  <a:srgbClr val="555A60"/>
                </a:solidFill>
                <a:latin typeface="Hiragino Sans"/>
                <a:ea typeface="Hiragino Sans"/>
              </a:rPr>
              <a:t>この資料の言葉づかい（図の中の表記との対応）
・標準の計算 </a:t>
            </a:r>
            <a:r>
              <a:rPr lang="en-US" altLang="ja-JP" sz="1500">
                <a:solidFill>
                  <a:srgbClr val="555A60"/>
                </a:solidFill>
                <a:latin typeface="Hiragino Sans"/>
                <a:ea typeface="Hiragino Sans"/>
              </a:rPr>
              <a:t>… </a:t>
            </a:r>
            <a:r>
              <a:rPr lang="ja-JP" altLang="en-US" sz="1500">
                <a:solidFill>
                  <a:srgbClr val="555A60"/>
                </a:solidFill>
                <a:latin typeface="Hiragino Sans"/>
                <a:ea typeface="Hiragino Sans"/>
              </a:rPr>
              <a:t>図中の「一括AC</a:t>
            </a:r>
            <a:r>
              <a:rPr lang="ja-JP" altLang="en" sz="1500">
                <a:solidFill>
                  <a:srgbClr val="555A60"/>
                </a:solidFill>
                <a:latin typeface="Hiragino Sans"/>
                <a:ea typeface="Hiragino Sans"/>
              </a:rPr>
              <a:t>」。</a:t>
            </a:r>
            <a:r>
              <a:rPr lang="ja-JP" altLang="en-US" sz="1500">
                <a:solidFill>
                  <a:srgbClr val="555A60"/>
                </a:solidFill>
                <a:latin typeface="Hiragino Sans"/>
                <a:ea typeface="Hiragino Sans"/>
              </a:rPr>
              <a:t>全地点の電圧を</a:t>
            </a:r>
            <a:r>
              <a:rPr lang="en-US" altLang="ja-JP" sz="1500">
                <a:solidFill>
                  <a:srgbClr val="555A60"/>
                </a:solidFill>
                <a:latin typeface="Hiragino Sans"/>
                <a:ea typeface="Hiragino Sans"/>
              </a:rPr>
              <a:t>1.0</a:t>
            </a:r>
            <a:r>
              <a:rPr lang="ja-JP" altLang="en-US" sz="1500">
                <a:solidFill>
                  <a:srgbClr val="555A60"/>
                </a:solidFill>
                <a:latin typeface="Hiragino Sans"/>
                <a:ea typeface="Hiragino Sans"/>
              </a:rPr>
              <a:t>と仮定して一気に解く、一般的な方法
・段階式の計算 </a:t>
            </a:r>
            <a:r>
              <a:rPr lang="en-US" altLang="ja-JP" sz="1500">
                <a:solidFill>
                  <a:srgbClr val="555A60"/>
                </a:solidFill>
                <a:latin typeface="Hiragino Sans"/>
                <a:ea typeface="Hiragino Sans"/>
              </a:rPr>
              <a:t>… </a:t>
            </a:r>
            <a:r>
              <a:rPr lang="ja-JP" altLang="en-US" sz="1500">
                <a:solidFill>
                  <a:srgbClr val="555A60"/>
                </a:solidFill>
                <a:latin typeface="Hiragino Sans"/>
                <a:ea typeface="Hiragino Sans"/>
              </a:rPr>
              <a:t>図中の「</a:t>
            </a:r>
            <a:r>
              <a:rPr lang="en" altLang="ja-JP" sz="1500">
                <a:solidFill>
                  <a:srgbClr val="555A60"/>
                </a:solidFill>
                <a:latin typeface="Hiragino Sans"/>
                <a:ea typeface="Hiragino Sans"/>
              </a:rPr>
              <a:t>ladder</a:t>
            </a:r>
            <a:r>
              <a:rPr lang="ja-JP" altLang="en" sz="1500">
                <a:solidFill>
                  <a:srgbClr val="555A60"/>
                </a:solidFill>
                <a:latin typeface="Hiragino Sans"/>
                <a:ea typeface="Hiragino Sans"/>
              </a:rPr>
              <a:t>」。</a:t>
            </a:r>
            <a:r>
              <a:rPr lang="ja-JP" altLang="en-US" sz="1500">
                <a:solidFill>
                  <a:srgbClr val="555A60"/>
                </a:solidFill>
                <a:latin typeface="Hiragino Sans"/>
                <a:ea typeface="Hiragino Sans"/>
              </a:rPr>
              <a:t>幹線から末端へ順番に解いていく自前の方法
・行き止まりの枝 </a:t>
            </a:r>
            <a:r>
              <a:rPr lang="en-US" altLang="ja-JP" sz="1500">
                <a:solidFill>
                  <a:srgbClr val="555A60"/>
                </a:solidFill>
                <a:latin typeface="Hiragino Sans"/>
                <a:ea typeface="Hiragino Sans"/>
              </a:rPr>
              <a:t>… </a:t>
            </a:r>
            <a:r>
              <a:rPr lang="ja-JP" altLang="en-US" sz="1500">
                <a:solidFill>
                  <a:srgbClr val="555A60"/>
                </a:solidFill>
                <a:latin typeface="Hiragino Sans"/>
                <a:ea typeface="Hiragino Sans"/>
              </a:rPr>
              <a:t>図中の「アンテナ」「</a:t>
            </a:r>
            <a:r>
              <a:rPr lang="en" altLang="ja-JP" sz="1500">
                <a:solidFill>
                  <a:srgbClr val="555A60"/>
                </a:solidFill>
                <a:latin typeface="Hiragino Sans"/>
                <a:ea typeface="Hiragino Sans"/>
              </a:rPr>
              <a:t>deg-1</a:t>
            </a:r>
            <a:r>
              <a:rPr lang="ja-JP" altLang="en" sz="1500">
                <a:solidFill>
                  <a:srgbClr val="555A60"/>
                </a:solidFill>
                <a:latin typeface="Hiragino Sans"/>
                <a:ea typeface="Hiragino Sans"/>
              </a:rPr>
              <a:t>」。</a:t>
            </a:r>
            <a:r>
              <a:rPr lang="ja-JP" altLang="en-US" sz="1500">
                <a:solidFill>
                  <a:srgbClr val="555A60"/>
                </a:solidFill>
                <a:latin typeface="Hiragino Sans"/>
                <a:ea typeface="Hiragino Sans"/>
              </a:rPr>
              <a:t>先が</a:t>
            </a:r>
            <a:r>
              <a:rPr lang="en-US" altLang="ja-JP" sz="1500">
                <a:solidFill>
                  <a:srgbClr val="555A60"/>
                </a:solidFill>
                <a:latin typeface="Hiragino Sans"/>
                <a:ea typeface="Hiragino Sans"/>
              </a:rPr>
              <a:t>1</a:t>
            </a:r>
            <a:r>
              <a:rPr lang="ja-JP" altLang="en-US" sz="1500">
                <a:solidFill>
                  <a:srgbClr val="555A60"/>
                </a:solidFill>
                <a:latin typeface="Hiragino Sans"/>
                <a:ea typeface="Hiragino Sans"/>
              </a:rPr>
              <a:t>本しかつながっていない末端の線
・最低電圧 </a:t>
            </a:r>
            <a:r>
              <a:rPr lang="en-US" altLang="ja-JP" sz="1500">
                <a:solidFill>
                  <a:srgbClr val="555A60"/>
                </a:solidFill>
                <a:latin typeface="Hiragino Sans"/>
                <a:ea typeface="Hiragino Sans"/>
              </a:rPr>
              <a:t>… 1.0</a:t>
            </a:r>
            <a:r>
              <a:rPr lang="ja-JP" altLang="en-US" sz="1500">
                <a:solidFill>
                  <a:srgbClr val="555A60"/>
                </a:solidFill>
                <a:latin typeface="Hiragino Sans"/>
                <a:ea typeface="Hiragino Sans"/>
              </a:rPr>
              <a:t>が標準。</a:t>
            </a:r>
            <a:r>
              <a:rPr lang="en-US" altLang="ja-JP" sz="1500">
                <a:solidFill>
                  <a:srgbClr val="555A60"/>
                </a:solidFill>
                <a:latin typeface="Hiragino Sans"/>
                <a:ea typeface="Hiragino Sans"/>
              </a:rPr>
              <a:t>0.9</a:t>
            </a:r>
            <a:r>
              <a:rPr lang="ja-JP" altLang="en-US" sz="1500">
                <a:solidFill>
                  <a:srgbClr val="555A60"/>
                </a:solidFill>
                <a:latin typeface="Hiragino Sans"/>
                <a:ea typeface="Hiragino Sans"/>
              </a:rPr>
              <a:t>を下回ると危険水準で、</a:t>
            </a:r>
            <a:r>
              <a:rPr lang="en-US" altLang="ja-JP" sz="1500">
                <a:solidFill>
                  <a:srgbClr val="555A60"/>
                </a:solidFill>
                <a:latin typeface="Hiragino Sans"/>
                <a:ea typeface="Hiragino Sans"/>
              </a:rPr>
              <a:t>0.725</a:t>
            </a:r>
            <a:r>
              <a:rPr lang="ja-JP" altLang="en-US" sz="1500">
                <a:solidFill>
                  <a:srgbClr val="555A60"/>
                </a:solidFill>
                <a:latin typeface="Hiragino Sans"/>
                <a:ea typeface="Hiragino Sans"/>
              </a:rPr>
              <a:t>は計算が壊れている状態</a:t>
            </a:r>
          </a:p>
        </p:txBody>
      </p:sp>
    </p:spTree>
    <p:extLst>
      <p:ext uri="{BB962C8B-B14F-4D97-AF65-F5344CB8AC3E}">
        <p14:creationId xmlns:p14="http://schemas.microsoft.com/office/powerpoint/2010/main" val="3859519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イメージ — 幹線は問題なし、足を引っぱるのは末端の枝</a:t>
            </a:r>
          </a:p>
        </p:txBody>
      </p:sp>
      <p:pic>
        <p:nvPicPr>
          <p:cNvPr id="3" name="Picture 2" descr="figA_concept.png"/>
          <p:cNvPicPr>
            <a:picLocks noChangeAspect="1"/>
          </p:cNvPicPr>
          <p:nvPr/>
        </p:nvPicPr>
        <p:blipFill>
          <a:blip r:embed="rId2"/>
          <a:stretch>
            <a:fillRect/>
          </a:stretch>
        </p:blipFill>
        <p:spPr>
          <a:xfrm>
            <a:off x="411480" y="1325880"/>
            <a:ext cx="11338560" cy="4621624"/>
          </a:xfrm>
          <a:prstGeom prst="rect">
            <a:avLst/>
          </a:prstGeom>
        </p:spPr>
      </p:pic>
      <p:sp>
        <p:nvSpPr>
          <p:cNvPr id="400" name="Patch401"/>
          <p:cNvSpPr/>
          <p:nvPr/>
        </p:nvSpPr>
        <p:spPr>
          <a:xfrm>
            <a:off x="1574800" y="1816100"/>
            <a:ext cx="3302000" cy="254000"/>
          </a:xfrm>
          <a:prstGeom prst="rect">
            <a:avLst/>
          </a:prstGeom>
          <a:solidFill>
            <a:srgbClr val="FFFFFF"/>
          </a:solidFill>
          <a:ln>
            <a:noFill/>
          </a:ln>
        </p:spPr>
        <p:txBody>
          <a:bodyPr/>
          <a:lstStyle/>
          <a:p>
            <a:endParaRPr lang="ja-JP"/>
          </a:p>
        </p:txBody>
      </p:sp>
      <p:sp>
        <p:nvSpPr>
          <p:cNvPr id="401" name="PatchT402"/>
          <p:cNvSpPr txBox="1"/>
          <p:nvPr/>
        </p:nvSpPr>
        <p:spPr>
          <a:xfrm>
            <a:off x="1600200" y="1816100"/>
            <a:ext cx="3302000" cy="254000"/>
          </a:xfrm>
          <a:prstGeom prst="rect">
            <a:avLst/>
          </a:prstGeom>
          <a:noFill/>
        </p:spPr>
        <p:txBody>
          <a:bodyPr wrap="none" lIns="0" tIns="0" rIns="0" bIns="0" anchor="ctr"/>
          <a:lstStyle/>
          <a:p>
            <a:pPr algn="l">
              <a:buNone/>
            </a:pPr>
            <a:r>
              <a:rPr lang="ja-JP" altLang="en-US" sz="1000" b="0" i="0" dirty="0">
                <a:solidFill>
                  <a:srgbClr val="333333"/>
                </a:solidFill>
                <a:latin typeface="Hiragino Sans"/>
                <a:ea typeface="Hiragino Sans"/>
              </a:rPr>
              <a:t>なぜ標準の runpf が west で発散したか</a:t>
            </a:r>
          </a:p>
        </p:txBody>
      </p:sp>
      <p:sp>
        <p:nvSpPr>
          <p:cNvPr id="500" name="PatchB"/>
          <p:cNvSpPr/>
          <p:nvPr/>
        </p:nvSpPr>
        <p:spPr>
          <a:xfrm>
            <a:off x="7753350" y="5327650"/>
            <a:ext cx="304800" cy="177800"/>
          </a:xfrm>
          <a:prstGeom prst="rect">
            <a:avLst/>
          </a:prstGeom>
          <a:solidFill>
            <a:srgbClr val="EAF4E6"/>
          </a:solidFill>
          <a:ln>
            <a:noFill/>
          </a:ln>
        </p:spPr>
        <p:txBody>
          <a:bodyPr/>
          <a:lstStyle/>
          <a:p>
            <a:endParaRPr lang="ja-JP"/>
          </a:p>
        </p:txBody>
      </p:sp>
      <p:sp>
        <p:nvSpPr>
          <p:cNvPr id="501" name="PatchBT"/>
          <p:cNvSpPr txBox="1"/>
          <p:nvPr/>
        </p:nvSpPr>
        <p:spPr>
          <a:xfrm>
            <a:off x="7753350" y="5327650"/>
            <a:ext cx="304800" cy="177800"/>
          </a:xfrm>
          <a:prstGeom prst="rect">
            <a:avLst/>
          </a:prstGeom>
          <a:noFill/>
        </p:spPr>
        <p:txBody>
          <a:bodyPr wrap="none" lIns="0" tIns="0" rIns="0" bIns="0" anchor="ctr"/>
          <a:lstStyle/>
          <a:p>
            <a:pPr algn="l">
              <a:buNone/>
            </a:pPr>
            <a:r>
              <a:rPr lang="ja-JP" altLang="en-US" sz="1050" b="0" i="0" dirty="0">
                <a:solidFill>
                  <a:srgbClr val="1A1A1A"/>
                </a:solidFill>
                <a:latin typeface="Hiragino Sans"/>
                <a:ea typeface="Hiragino Sans"/>
              </a:rPr>
              <a:t>一括</a:t>
            </a:r>
          </a:p>
        </p:txBody>
      </p:sp>
    </p:spTree>
    <p:extLst>
      <p:ext uri="{BB962C8B-B14F-4D97-AF65-F5344CB8AC3E}">
        <p14:creationId xmlns:p14="http://schemas.microsoft.com/office/powerpoint/2010/main" val="1035004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実データ — 西側エリアにある行き止まり枝の分布</a:t>
            </a:r>
          </a:p>
        </p:txBody>
      </p:sp>
      <p:pic>
        <p:nvPicPr>
          <p:cNvPr id="3" name="Picture 2" descr="figB_map.png"/>
          <p:cNvPicPr>
            <a:picLocks noChangeAspect="1"/>
          </p:cNvPicPr>
          <p:nvPr/>
        </p:nvPicPr>
        <p:blipFill>
          <a:blip r:embed="rId2"/>
          <a:stretch>
            <a:fillRect/>
          </a:stretch>
        </p:blipFill>
        <p:spPr>
          <a:xfrm>
            <a:off x="836316" y="1143000"/>
            <a:ext cx="7473910" cy="5394960"/>
          </a:xfrm>
          <a:prstGeom prst="rect">
            <a:avLst/>
          </a:prstGeom>
        </p:spPr>
      </p:pic>
      <p:sp>
        <p:nvSpPr>
          <p:cNvPr id="4" name="テキスト ボックス 3">
            <a:extLst>
              <a:ext uri="{FF2B5EF4-FFF2-40B4-BE49-F238E27FC236}">
                <a16:creationId xmlns:a16="http://schemas.microsoft.com/office/drawing/2014/main" id="{15941B87-731F-0922-FAF7-AA22A1E0B197}"/>
              </a:ext>
            </a:extLst>
          </p:cNvPr>
          <p:cNvSpPr txBox="1"/>
          <p:nvPr/>
        </p:nvSpPr>
        <p:spPr>
          <a:xfrm>
            <a:off x="7011507" y="4690692"/>
            <a:ext cx="1763624" cy="369332"/>
          </a:xfrm>
          <a:prstGeom prst="rect">
            <a:avLst/>
          </a:prstGeom>
          <a:noFill/>
        </p:spPr>
        <p:txBody>
          <a:bodyPr wrap="none" rtlCol="0">
            <a:spAutoFit/>
          </a:bodyPr>
          <a:lstStyle/>
          <a:p>
            <a:r>
              <a:rPr kumimoji="1" lang="ja-JP" altLang="en-US"/>
              <a:t>都市部</a:t>
            </a:r>
            <a:r>
              <a:rPr kumimoji="1" lang="en-US" altLang="ja-JP"/>
              <a:t> (</a:t>
            </a:r>
            <a:r>
              <a:rPr kumimoji="1" lang="ja-JP" altLang="en-US"/>
              <a:t>地中化</a:t>
            </a:r>
            <a:r>
              <a:rPr kumimoji="1" lang="en-US" altLang="ja-JP"/>
              <a:t>)</a:t>
            </a:r>
            <a:endParaRPr kumimoji="1" lang="ja-JP" altLang="en-US"/>
          </a:p>
        </p:txBody>
      </p:sp>
      <p:sp>
        <p:nvSpPr>
          <p:cNvPr id="5" name="テキスト ボックス 4">
            <a:extLst>
              <a:ext uri="{FF2B5EF4-FFF2-40B4-BE49-F238E27FC236}">
                <a16:creationId xmlns:a16="http://schemas.microsoft.com/office/drawing/2014/main" id="{9CE7261A-B2A3-4526-B525-6315C331F1E3}"/>
              </a:ext>
            </a:extLst>
          </p:cNvPr>
          <p:cNvSpPr txBox="1"/>
          <p:nvPr/>
        </p:nvSpPr>
        <p:spPr>
          <a:xfrm>
            <a:off x="7011507" y="5078272"/>
            <a:ext cx="4105611" cy="369332"/>
          </a:xfrm>
          <a:prstGeom prst="rect">
            <a:avLst/>
          </a:prstGeom>
          <a:noFill/>
        </p:spPr>
        <p:txBody>
          <a:bodyPr wrap="none" rtlCol="0">
            <a:spAutoFit/>
          </a:bodyPr>
          <a:lstStyle/>
          <a:p>
            <a:r>
              <a:rPr kumimoji="1" lang="ja-JP" altLang="en-US"/>
              <a:t>山間地域</a:t>
            </a:r>
            <a:r>
              <a:rPr kumimoji="1" lang="en-US" altLang="ja-JP"/>
              <a:t> (</a:t>
            </a:r>
            <a:r>
              <a:rPr kumimoji="1" lang="ja-JP" altLang="en-US"/>
              <a:t>未記載，使われていないなど</a:t>
            </a:r>
            <a:r>
              <a:rPr kumimoji="1" lang="en-US" altLang="ja-JP"/>
              <a:t>)</a:t>
            </a:r>
            <a:endParaRPr kumimoji="1" lang="ja-JP" altLang="en-US"/>
          </a:p>
        </p:txBody>
      </p:sp>
      <p:sp>
        <p:nvSpPr>
          <p:cNvPr id="6" name="テキスト ボックス 5">
            <a:extLst>
              <a:ext uri="{FF2B5EF4-FFF2-40B4-BE49-F238E27FC236}">
                <a16:creationId xmlns:a16="http://schemas.microsoft.com/office/drawing/2014/main" id="{2DE41412-2B87-C7A7-9F52-4273DDDA7022}"/>
              </a:ext>
            </a:extLst>
          </p:cNvPr>
          <p:cNvSpPr txBox="1"/>
          <p:nvPr/>
        </p:nvSpPr>
        <p:spPr>
          <a:xfrm>
            <a:off x="6998674" y="5777648"/>
            <a:ext cx="1261884" cy="369332"/>
          </a:xfrm>
          <a:prstGeom prst="rect">
            <a:avLst/>
          </a:prstGeom>
          <a:noFill/>
        </p:spPr>
        <p:txBody>
          <a:bodyPr wrap="none" rtlCol="0">
            <a:spAutoFit/>
          </a:bodyPr>
          <a:lstStyle/>
          <a:p>
            <a:r>
              <a:rPr kumimoji="1" lang="ja-JP" altLang="en-US"/>
              <a:t>連系，海中</a:t>
            </a:r>
            <a:endParaRPr kumimoji="1" lang="en-US" altLang="ja-JP"/>
          </a:p>
        </p:txBody>
      </p:sp>
      <p:sp>
        <p:nvSpPr>
          <p:cNvPr id="7" name="テキスト ボックス 6">
            <a:extLst>
              <a:ext uri="{FF2B5EF4-FFF2-40B4-BE49-F238E27FC236}">
                <a16:creationId xmlns:a16="http://schemas.microsoft.com/office/drawing/2014/main" id="{BBBC2999-AE78-DE92-027D-725ECF3C0C92}"/>
              </a:ext>
            </a:extLst>
          </p:cNvPr>
          <p:cNvSpPr txBox="1"/>
          <p:nvPr/>
        </p:nvSpPr>
        <p:spPr>
          <a:xfrm>
            <a:off x="6770896" y="4342400"/>
            <a:ext cx="1122423" cy="369332"/>
          </a:xfrm>
          <a:prstGeom prst="rect">
            <a:avLst/>
          </a:prstGeom>
          <a:noFill/>
        </p:spPr>
        <p:txBody>
          <a:bodyPr wrap="none" rtlCol="0">
            <a:spAutoFit/>
          </a:bodyPr>
          <a:lstStyle/>
          <a:p>
            <a:r>
              <a:rPr kumimoji="1" lang="ja-JP" altLang="en-US"/>
              <a:t>原因箇所</a:t>
            </a:r>
          </a:p>
        </p:txBody>
      </p:sp>
      <p:sp>
        <p:nvSpPr>
          <p:cNvPr id="8" name="テキスト ボックス 7">
            <a:extLst>
              <a:ext uri="{FF2B5EF4-FFF2-40B4-BE49-F238E27FC236}">
                <a16:creationId xmlns:a16="http://schemas.microsoft.com/office/drawing/2014/main" id="{713E0130-6A17-98B9-353D-0778CD51D526}"/>
              </a:ext>
            </a:extLst>
          </p:cNvPr>
          <p:cNvSpPr txBox="1"/>
          <p:nvPr/>
        </p:nvSpPr>
        <p:spPr>
          <a:xfrm>
            <a:off x="6998674" y="5408316"/>
            <a:ext cx="4092787" cy="369332"/>
          </a:xfrm>
          <a:prstGeom prst="rect">
            <a:avLst/>
          </a:prstGeom>
          <a:noFill/>
        </p:spPr>
        <p:txBody>
          <a:bodyPr wrap="none" rtlCol="0">
            <a:spAutoFit/>
          </a:bodyPr>
          <a:lstStyle/>
          <a:p>
            <a:r>
              <a:rPr kumimoji="1" lang="ja-JP" altLang="en-US"/>
              <a:t>小水力，所有者のわからない電源</a:t>
            </a:r>
            <a:r>
              <a:rPr kumimoji="1" lang="en-US" altLang="ja-JP"/>
              <a:t>(</a:t>
            </a:r>
            <a:r>
              <a:rPr kumimoji="1" lang="ja-JP" altLang="en-US"/>
              <a:t>山中</a:t>
            </a:r>
            <a:r>
              <a:rPr kumimoji="1" lang="en-US" altLang="ja-JP"/>
              <a:t>)</a:t>
            </a:r>
            <a:endParaRPr kumimoji="1" lang="ja-JP" altLang="en-US"/>
          </a:p>
        </p:txBody>
      </p:sp>
    </p:spTree>
    <p:extLst>
      <p:ext uri="{BB962C8B-B14F-4D97-AF65-F5344CB8AC3E}">
        <p14:creationId xmlns:p14="http://schemas.microsoft.com/office/powerpoint/2010/main" val="3107070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測定結果 — 電圧が低い地点は、すべて行き止まり枝にあった</a:t>
            </a:r>
          </a:p>
        </p:txBody>
      </p:sp>
      <p:pic>
        <p:nvPicPr>
          <p:cNvPr id="3" name="Picture 2" descr="figC_vm.png"/>
          <p:cNvPicPr>
            <a:picLocks noChangeAspect="1"/>
          </p:cNvPicPr>
          <p:nvPr/>
        </p:nvPicPr>
        <p:blipFill>
          <a:blip r:embed="rId2"/>
          <a:stretch>
            <a:fillRect/>
          </a:stretch>
        </p:blipFill>
        <p:spPr>
          <a:xfrm>
            <a:off x="1188720" y="1417320"/>
            <a:ext cx="9692640" cy="4790615"/>
          </a:xfrm>
          <a:prstGeom prst="rect">
            <a:avLst/>
          </a:prstGeom>
        </p:spPr>
      </p:pic>
      <p:sp>
        <p:nvSpPr>
          <p:cNvPr id="4" name="TextBox 3"/>
          <p:cNvSpPr txBox="1"/>
          <p:nvPr/>
        </p:nvSpPr>
        <p:spPr>
          <a:xfrm>
            <a:off x="1188720" y="6273800"/>
            <a:ext cx="10058400" cy="307777"/>
          </a:xfrm>
          <a:prstGeom prst="rect">
            <a:avLst/>
          </a:prstGeom>
          <a:noFill/>
        </p:spPr>
        <p:txBody>
          <a:bodyPr wrap="square">
            <a:spAutoFit/>
          </a:bodyPr>
          <a:lstStyle/>
          <a:p>
            <a:r>
              <a:rPr sz="1400" b="0">
                <a:solidFill>
                  <a:srgbClr val="8C3326"/>
                </a:solidFill>
                <a:latin typeface="Hiragino Sans"/>
              </a:rPr>
              <a:t>最低電圧0.725の地点はすべて行き止まり枝。幹線だけなら最低0.862、枝をまとめると0.927まで改善</a:t>
            </a:r>
          </a:p>
        </p:txBody>
      </p:sp>
    </p:spTree>
    <p:extLst>
      <p:ext uri="{BB962C8B-B14F-4D97-AF65-F5344CB8AC3E}">
        <p14:creationId xmlns:p14="http://schemas.microsoft.com/office/powerpoint/2010/main" val="230488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結果 — 効いたのは案3。案1はデータの突き合わせが壁</a:t>
            </a:r>
          </a:p>
        </p:txBody>
      </p:sp>
      <p:graphicFrame>
        <p:nvGraphicFramePr>
          <p:cNvPr id="3" name="Table 2"/>
          <p:cNvGraphicFramePr>
            <a:graphicFrameLocks noGrp="1"/>
          </p:cNvGraphicFramePr>
          <p:nvPr/>
        </p:nvGraphicFramePr>
        <p:xfrm>
          <a:off x="640080" y="1371600"/>
          <a:ext cx="10972800" cy="246278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75488">
                <a:tc>
                  <a:txBody>
                    <a:bodyPr/>
                    <a:lstStyle/>
                    <a:p>
                      <a:r>
                        <a:rPr sz="1400" b="1">
                          <a:latin typeface="Hiragino Sans"/>
                        </a:rPr>
                        <a:t>西側(8,242地点)</a:t>
                      </a:r>
                    </a:p>
                  </a:txBody>
                  <a:tcPr/>
                </a:tc>
                <a:tc>
                  <a:txBody>
                    <a:bodyPr/>
                    <a:lstStyle/>
                    <a:p>
                      <a:r>
                        <a:rPr sz="1400" b="1">
                          <a:latin typeface="Hiragino Sans"/>
                        </a:rPr>
                        <a:t>標準の計算</a:t>
                      </a:r>
                    </a:p>
                  </a:txBody>
                  <a:tcPr/>
                </a:tc>
                <a:tc>
                  <a:txBody>
                    <a:bodyPr/>
                    <a:lstStyle/>
                    <a:p>
                      <a:r>
                        <a:rPr sz="1400" b="1">
                          <a:latin typeface="Hiragino Sans"/>
                        </a:rPr>
                        <a:t>段階式の計算</a:t>
                      </a:r>
                    </a:p>
                  </a:txBody>
                  <a:tcPr/>
                </a:tc>
                <a:tc>
                  <a:txBody>
                    <a:bodyPr/>
                    <a:lstStyle/>
                    <a:p>
                      <a:pPr algn="r"/>
                      <a:r>
                        <a:rPr sz="1400" b="1">
                          <a:latin typeface="Hiragino Sans"/>
                        </a:rPr>
                        <a:t>最低電圧</a:t>
                      </a:r>
                    </a:p>
                  </a:txBody>
                  <a:tcPr/>
                </a:tc>
                <a:extLst>
                  <a:ext uri="{0D108BD9-81ED-4DB2-BD59-A6C34878D82A}">
                    <a16:rowId xmlns:a16="http://schemas.microsoft.com/office/drawing/2014/main" val="10000"/>
                  </a:ext>
                </a:extLst>
              </a:tr>
              <a:tr h="475488">
                <a:tc>
                  <a:txBody>
                    <a:bodyPr/>
                    <a:lstStyle/>
                    <a:p>
                      <a:r>
                        <a:rPr sz="1400" b="0">
                          <a:latin typeface="Hiragino Sans"/>
                        </a:rPr>
                        <a:t>E0 何もしない(基準)</a:t>
                      </a:r>
                    </a:p>
                  </a:txBody>
                  <a:tcPr/>
                </a:tc>
                <a:tc>
                  <a:txBody>
                    <a:bodyPr/>
                    <a:lstStyle/>
                    <a:p>
                      <a:r>
                        <a:rPr sz="1400" b="0">
                          <a:latin typeface="Hiragino Sans"/>
                        </a:rPr>
                        <a:t>解けない</a:t>
                      </a:r>
                    </a:p>
                  </a:txBody>
                  <a:tcPr/>
                </a:tc>
                <a:tc>
                  <a:txBody>
                    <a:bodyPr/>
                    <a:lstStyle/>
                    <a:p>
                      <a:r>
                        <a:rPr sz="1400" b="0">
                          <a:latin typeface="Hiragino Sans"/>
                        </a:rPr>
                        <a:t>解けた</a:t>
                      </a:r>
                    </a:p>
                  </a:txBody>
                  <a:tcPr/>
                </a:tc>
                <a:tc>
                  <a:txBody>
                    <a:bodyPr/>
                    <a:lstStyle/>
                    <a:p>
                      <a:pPr algn="r"/>
                      <a:r>
                        <a:rPr sz="1400" b="0">
                          <a:latin typeface="Hiragino Sans"/>
                        </a:rPr>
                        <a:t>0.725</a:t>
                      </a:r>
                    </a:p>
                  </a:txBody>
                  <a:tcPr/>
                </a:tc>
                <a:extLst>
                  <a:ext uri="{0D108BD9-81ED-4DB2-BD59-A6C34878D82A}">
                    <a16:rowId xmlns:a16="http://schemas.microsoft.com/office/drawing/2014/main" val="10001"/>
                  </a:ext>
                </a:extLst>
              </a:tr>
              <a:tr h="475488">
                <a:tc>
                  <a:txBody>
                    <a:bodyPr/>
                    <a:lstStyle/>
                    <a:p>
                      <a:r>
                        <a:rPr sz="1400" b="0">
                          <a:latin typeface="Hiragino Sans"/>
                        </a:rPr>
                        <a:t>E1 変圧器データ(突き合わせできた7基のみ)</a:t>
                      </a:r>
                    </a:p>
                  </a:txBody>
                  <a:tcPr/>
                </a:tc>
                <a:tc>
                  <a:txBody>
                    <a:bodyPr/>
                    <a:lstStyle/>
                    <a:p>
                      <a:r>
                        <a:rPr sz="1400" b="0">
                          <a:latin typeface="Hiragino Sans"/>
                        </a:rPr>
                        <a:t>解けない</a:t>
                      </a:r>
                    </a:p>
                  </a:txBody>
                  <a:tcPr/>
                </a:tc>
                <a:tc>
                  <a:txBody>
                    <a:bodyPr/>
                    <a:lstStyle/>
                    <a:p>
                      <a:r>
                        <a:rPr sz="1400" b="0">
                          <a:latin typeface="Hiragino Sans"/>
                        </a:rPr>
                        <a:t>解けた</a:t>
                      </a:r>
                    </a:p>
                  </a:txBody>
                  <a:tcPr/>
                </a:tc>
                <a:tc>
                  <a:txBody>
                    <a:bodyPr/>
                    <a:lstStyle/>
                    <a:p>
                      <a:pPr algn="r"/>
                      <a:r>
                        <a:rPr sz="1400" b="0">
                          <a:latin typeface="Hiragino Sans"/>
                        </a:rPr>
                        <a:t>0.725</a:t>
                      </a:r>
                    </a:p>
                  </a:txBody>
                  <a:tcPr/>
                </a:tc>
                <a:extLst>
                  <a:ext uri="{0D108BD9-81ED-4DB2-BD59-A6C34878D82A}">
                    <a16:rowId xmlns:a16="http://schemas.microsoft.com/office/drawing/2014/main" val="10002"/>
                  </a:ext>
                </a:extLst>
              </a:tr>
              <a:tr h="475488">
                <a:tc>
                  <a:txBody>
                    <a:bodyPr/>
                    <a:lstStyle/>
                    <a:p>
                      <a:r>
                        <a:rPr sz="1400" b="0">
                          <a:latin typeface="Hiragino Sans"/>
                        </a:rPr>
                        <a:t>E3 行き止まり枝をまとめる(−2,103地点)</a:t>
                      </a:r>
                    </a:p>
                  </a:txBody>
                  <a:tcPr/>
                </a:tc>
                <a:tc>
                  <a:txBody>
                    <a:bodyPr/>
                    <a:lstStyle/>
                    <a:p>
                      <a:r>
                        <a:rPr sz="1400" b="0">
                          <a:latin typeface="Hiragino Sans"/>
                        </a:rPr>
                        <a:t>0.2秒で解けた</a:t>
                      </a:r>
                    </a:p>
                  </a:txBody>
                  <a:tcPr/>
                </a:tc>
                <a:tc>
                  <a:txBody>
                    <a:bodyPr/>
                    <a:lstStyle/>
                    <a:p>
                      <a:r>
                        <a:rPr sz="1400" b="0">
                          <a:latin typeface="Hiragino Sans"/>
                        </a:rPr>
                        <a:t>解けた</a:t>
                      </a:r>
                    </a:p>
                  </a:txBody>
                  <a:tcPr/>
                </a:tc>
                <a:tc>
                  <a:txBody>
                    <a:bodyPr/>
                    <a:lstStyle/>
                    <a:p>
                      <a:pPr algn="r"/>
                      <a:r>
                        <a:rPr sz="1400" b="0">
                          <a:latin typeface="Hiragino Sans"/>
                        </a:rPr>
                        <a:t>0.927</a:t>
                      </a:r>
                    </a:p>
                  </a:txBody>
                  <a:tcPr/>
                </a:tc>
                <a:extLst>
                  <a:ext uri="{0D108BD9-81ED-4DB2-BD59-A6C34878D82A}">
                    <a16:rowId xmlns:a16="http://schemas.microsoft.com/office/drawing/2014/main" val="10003"/>
                  </a:ext>
                </a:extLst>
              </a:tr>
              <a:tr h="475488">
                <a:tc>
                  <a:txBody>
                    <a:bodyPr/>
                    <a:lstStyle/>
                    <a:p>
                      <a:r>
                        <a:rPr sz="1400" b="0">
                          <a:latin typeface="Hiragino Sans"/>
                        </a:rPr>
                        <a:t>E13 案1と案3の両方</a:t>
                      </a:r>
                    </a:p>
                  </a:txBody>
                  <a:tcPr/>
                </a:tc>
                <a:tc>
                  <a:txBody>
                    <a:bodyPr/>
                    <a:lstStyle/>
                    <a:p>
                      <a:r>
                        <a:rPr sz="1400" b="0">
                          <a:latin typeface="Hiragino Sans"/>
                        </a:rPr>
                        <a:t>0.1秒で解けた</a:t>
                      </a:r>
                    </a:p>
                  </a:txBody>
                  <a:tcPr/>
                </a:tc>
                <a:tc>
                  <a:txBody>
                    <a:bodyPr/>
                    <a:lstStyle/>
                    <a:p>
                      <a:r>
                        <a:rPr sz="1400" b="0">
                          <a:latin typeface="Hiragino Sans"/>
                        </a:rPr>
                        <a:t>解けた</a:t>
                      </a:r>
                    </a:p>
                  </a:txBody>
                  <a:tcPr/>
                </a:tc>
                <a:tc>
                  <a:txBody>
                    <a:bodyPr/>
                    <a:lstStyle/>
                    <a:p>
                      <a:pPr algn="r"/>
                      <a:r>
                        <a:rPr sz="1400" b="0">
                          <a:latin typeface="Hiragino Sans"/>
                        </a:rPr>
                        <a:t>0.927</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640080" y="4114800"/>
            <a:ext cx="11155680" cy="1477328"/>
          </a:xfrm>
          <a:prstGeom prst="rect">
            <a:avLst/>
          </a:prstGeom>
          <a:noFill/>
        </p:spPr>
        <p:txBody>
          <a:bodyPr wrap="square">
            <a:spAutoFit/>
          </a:bodyPr>
          <a:lstStyle/>
          <a:p>
            <a:r>
              <a:rPr sz="1500" b="0">
                <a:solidFill>
                  <a:srgbClr val="555A60"/>
                </a:solidFill>
                <a:latin typeface="Hiragino Sans"/>
              </a:rPr>
              <a:t>東側(6,145地点): 正しい手順で作り直したデータなら、標準の計算でも既に解ける(最低電圧0.830)。</a:t>
            </a:r>
          </a:p>
          <a:p>
            <a:r>
              <a:rPr sz="1500" b="0">
                <a:solidFill>
                  <a:srgbClr val="555A60"/>
                </a:solidFill>
                <a:latin typeface="Hiragino Sans"/>
              </a:rPr>
              <a:t>  → 配布データの東側が解けないのは、書き出しプログラムが別の手順でデータを作っているためと考えられる</a:t>
            </a:r>
          </a:p>
          <a:p>
            <a:r>
              <a:rPr sz="1500" b="0">
                <a:solidFill>
                  <a:srgbClr val="555A60"/>
                </a:solidFill>
                <a:latin typeface="Hiragino Sans"/>
              </a:rPr>
              <a:t>案1で突き合わせできたのは213基のうち7基だけ: 公表資料は基幹(500/275/220kV)が中心で、66〜77kVの下位の変圧器は載っていない</a:t>
            </a:r>
          </a:p>
          <a:p>
            <a:r>
              <a:rPr sz="1500" b="0">
                <a:solidFill>
                  <a:srgbClr val="555A60"/>
                </a:solidFill>
                <a:latin typeface="Hiragino Sans"/>
              </a:rPr>
              <a:t>  さらに地図データ(OSM)由来の地点名と公表資料の名称は、単純な文字合わせではほぼ一致しない(既存の対応表を使うのが次の一手)</a:t>
            </a:r>
          </a:p>
        </p:txBody>
      </p:sp>
    </p:spTree>
    <p:extLst>
      <p:ext uri="{BB962C8B-B14F-4D97-AF65-F5344CB8AC3E}">
        <p14:creationId xmlns:p14="http://schemas.microsoft.com/office/powerpoint/2010/main" val="6373143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256032"/>
            <a:ext cx="11155680" cy="523220"/>
          </a:xfrm>
          <a:prstGeom prst="rect">
            <a:avLst/>
          </a:prstGeom>
          <a:noFill/>
        </p:spPr>
        <p:txBody>
          <a:bodyPr wrap="square">
            <a:spAutoFit/>
          </a:bodyPr>
          <a:lstStyle/>
          <a:p>
            <a:r>
              <a:rPr sz="2800" b="1">
                <a:solidFill>
                  <a:srgbClr val="2B4A63"/>
                </a:solidFill>
                <a:latin typeface="Hiragino Sans"/>
              </a:rPr>
              <a:t>わかったことと、次にやること</a:t>
            </a:r>
          </a:p>
        </p:txBody>
      </p:sp>
      <p:sp>
        <p:nvSpPr>
          <p:cNvPr id="3" name="TextBox 2"/>
          <p:cNvSpPr txBox="1"/>
          <p:nvPr/>
        </p:nvSpPr>
        <p:spPr>
          <a:xfrm>
            <a:off x="640080" y="1463040"/>
            <a:ext cx="11155680" cy="2970044"/>
          </a:xfrm>
          <a:prstGeom prst="rect">
            <a:avLst/>
          </a:prstGeom>
          <a:noFill/>
        </p:spPr>
        <p:txBody>
          <a:bodyPr wrap="square">
            <a:spAutoFit/>
          </a:bodyPr>
          <a:lstStyle/>
          <a:p>
            <a:r>
              <a:rPr sz="1700" b="0">
                <a:solidFill>
                  <a:srgbClr val="555A60"/>
                </a:solidFill>
                <a:latin typeface="Hiragino Sans"/>
              </a:rPr>
              <a:t>1. 西側で計算が解けなかった原因は「変圧器の数値」ではなく「網の形(行き止まりの枝)」だった</a:t>
            </a:r>
          </a:p>
          <a:p>
            <a:r>
              <a:rPr sz="1700" b="0">
                <a:solidFill>
                  <a:srgbClr val="555A60"/>
                </a:solidFill>
                <a:latin typeface="Hiragino Sans"/>
              </a:rPr>
              <a:t>     — 6月に出した原因の結論を、標準の計算について修正。自前の計算では当時から解けていた</a:t>
            </a:r>
          </a:p>
          <a:p>
            <a:endParaRPr sz="1700" b="0">
              <a:solidFill>
                <a:srgbClr val="555A60"/>
              </a:solidFill>
              <a:latin typeface="Hiragino Sans"/>
            </a:endParaRPr>
          </a:p>
          <a:p>
            <a:r>
              <a:rPr sz="1700" b="0">
                <a:solidFill>
                  <a:srgbClr val="555A60"/>
                </a:solidFill>
                <a:latin typeface="Hiragino Sans"/>
              </a:rPr>
              <a:t>2. 配布データに「枝をまとめた版(需要量は保持・変更記録つき)」を同梱すれば、</a:t>
            </a:r>
          </a:p>
          <a:p>
            <a:r>
              <a:rPr sz="1700" b="0">
                <a:solidFill>
                  <a:srgbClr val="555A60"/>
                </a:solidFill>
                <a:latin typeface="Hiragino Sans"/>
              </a:rPr>
              <a:t>     標準ツール(MATPOWERのrunpf)でも東側・西側が解ける見込み。実装の手間は小さい</a:t>
            </a:r>
          </a:p>
          <a:p>
            <a:endParaRPr sz="1700" b="0">
              <a:solidFill>
                <a:srgbClr val="555A60"/>
              </a:solidFill>
              <a:latin typeface="Hiragino Sans"/>
            </a:endParaRPr>
          </a:p>
          <a:p>
            <a:r>
              <a:rPr sz="1700" b="0">
                <a:solidFill>
                  <a:srgbClr val="555A60"/>
                </a:solidFill>
                <a:latin typeface="Hiragino Sans"/>
              </a:rPr>
              <a:t>3. データの書き出しを正しい手順(build_island_net)に切り替え、結果を比較する</a:t>
            </a:r>
          </a:p>
          <a:p>
            <a:endParaRPr sz="1700" b="0">
              <a:solidFill>
                <a:srgbClr val="555A60"/>
              </a:solidFill>
              <a:latin typeface="Hiragino Sans"/>
            </a:endParaRPr>
          </a:p>
          <a:p>
            <a:r>
              <a:rPr sz="1700" b="0">
                <a:solidFill>
                  <a:srgbClr val="555A60"/>
                </a:solidFill>
                <a:latin typeface="Hiragino Sans"/>
              </a:rPr>
              <a:t>4. 変圧器の数値は既存の対応表(crosswalk_impedance_to_model)で突き合わせて再挑戦する(案1の本実装)</a:t>
            </a:r>
          </a:p>
          <a:p>
            <a:endParaRPr sz="1700" b="0">
              <a:solidFill>
                <a:srgbClr val="555A60"/>
              </a:solidFill>
              <a:latin typeface="Hiragino Sans"/>
            </a:endParaRPr>
          </a:p>
          <a:p>
            <a:r>
              <a:rPr sz="1700" b="0">
                <a:solidFill>
                  <a:srgbClr val="555A60"/>
                </a:solidFill>
                <a:latin typeface="Hiragino Sans"/>
              </a:rPr>
              <a:t>注: 枝のまとめ込みは計算用モデルの簡略化であり、元のデータ本体は変更しない</a:t>
            </a:r>
          </a:p>
        </p:txBody>
      </p:sp>
    </p:spTree>
    <p:extLst>
      <p:ext uri="{BB962C8B-B14F-4D97-AF65-F5344CB8AC3E}">
        <p14:creationId xmlns:p14="http://schemas.microsoft.com/office/powerpoint/2010/main" val="416131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 name="T101"/>
          <p:cNvSpPr txBox="1"/>
          <p:nvPr/>
        </p:nvSpPr>
        <p:spPr>
          <a:xfrm>
            <a:off x="546100" y="279400"/>
            <a:ext cx="11099800" cy="292100"/>
          </a:xfrm>
          <a:prstGeom prst="rect">
            <a:avLst/>
          </a:prstGeom>
          <a:noFill/>
        </p:spPr>
        <p:txBody>
          <a:bodyPr wrap="square" lIns="0" tIns="0" rIns="0" bIns="0" anchor="t"/>
          <a:lstStyle/>
          <a:p>
            <a:pPr marL="0" indent="0" algn="l">
              <a:buNone/>
            </a:pPr>
            <a:r>
              <a:rPr lang="ja-JP" altLang="en-US" sz="1300" b="1" i="0" dirty="0">
                <a:solidFill>
                  <a:srgbClr val="8A2E3B"/>
                </a:solidFill>
                <a:latin typeface="Calibri"/>
                <a:ea typeface="ＭＳ Ｐゴシック"/>
              </a:rPr>
              <a:t>原理 ｜ OSM で分かること・分からないこと</a:t>
            </a:r>
          </a:p>
        </p:txBody>
      </p:sp>
      <p:sp>
        <p:nvSpPr>
          <p:cNvPr id="101" name="R102"/>
          <p:cNvSpPr/>
          <p:nvPr/>
        </p:nvSpPr>
        <p:spPr>
          <a:xfrm>
            <a:off x="546100" y="736600"/>
            <a:ext cx="11099800" cy="12700"/>
          </a:xfrm>
          <a:prstGeom prst="rect">
            <a:avLst/>
          </a:prstGeom>
          <a:solidFill>
            <a:srgbClr val="D8DCE3"/>
          </a:solidFill>
          <a:ln>
            <a:noFill/>
          </a:ln>
        </p:spPr>
        <p:txBody>
          <a:bodyPr/>
          <a:lstStyle/>
          <a:p>
            <a:endParaRPr lang="ja-JP"/>
          </a:p>
        </p:txBody>
      </p:sp>
      <p:sp>
        <p:nvSpPr>
          <p:cNvPr id="102" name="R103"/>
          <p:cNvSpPr/>
          <p:nvPr/>
        </p:nvSpPr>
        <p:spPr>
          <a:xfrm>
            <a:off x="546100" y="711200"/>
            <a:ext cx="736600" cy="38100"/>
          </a:xfrm>
          <a:prstGeom prst="rect">
            <a:avLst/>
          </a:prstGeom>
          <a:solidFill>
            <a:srgbClr val="8A2E3B"/>
          </a:solidFill>
          <a:ln>
            <a:noFill/>
          </a:ln>
        </p:spPr>
        <p:txBody>
          <a:bodyPr/>
          <a:lstStyle/>
          <a:p>
            <a:endParaRPr lang="ja-JP"/>
          </a:p>
        </p:txBody>
      </p:sp>
      <p:sp>
        <p:nvSpPr>
          <p:cNvPr id="103" name="T104"/>
          <p:cNvSpPr txBox="1"/>
          <p:nvPr/>
        </p:nvSpPr>
        <p:spPr>
          <a:xfrm>
            <a:off x="546100" y="812800"/>
            <a:ext cx="11099800" cy="508000"/>
          </a:xfrm>
          <a:prstGeom prst="rect">
            <a:avLst/>
          </a:prstGeom>
          <a:noFill/>
        </p:spPr>
        <p:txBody>
          <a:bodyPr wrap="square" lIns="0" tIns="0" rIns="0" bIns="0" anchor="t"/>
          <a:lstStyle/>
          <a:p>
            <a:pPr marL="0" indent="0" algn="l">
              <a:buNone/>
            </a:pPr>
            <a:r>
              <a:rPr lang="ja-JP" altLang="en-US" sz="2600" b="1" i="0" dirty="0">
                <a:solidFill>
                  <a:srgbClr val="1A2744"/>
                </a:solidFill>
                <a:latin typeface="Calibri"/>
                <a:ea typeface="ＭＳ Ｐゴシック"/>
              </a:rPr>
              <a:t>導体数は OSM に無い — 「500kV は4導体」は表から入れた仮定</a:t>
            </a:r>
          </a:p>
        </p:txBody>
      </p:sp>
      <p:sp>
        <p:nvSpPr>
          <p:cNvPr id="104" name="T105"/>
          <p:cNvSpPr txBox="1"/>
          <p:nvPr/>
        </p:nvSpPr>
        <p:spPr>
          <a:xfrm>
            <a:off x="546100" y="1422400"/>
            <a:ext cx="11099800" cy="279400"/>
          </a:xfrm>
          <a:prstGeom prst="rect">
            <a:avLst/>
          </a:prstGeom>
          <a:noFill/>
        </p:spPr>
        <p:txBody>
          <a:bodyPr wrap="square" lIns="0" tIns="0" rIns="0" bIns="0" anchor="t"/>
          <a:lstStyle/>
          <a:p>
            <a:pPr marL="0" indent="0" algn="l">
              <a:buNone/>
            </a:pPr>
            <a:r>
              <a:rPr lang="ja-JP" altLang="en-US" sz="1400" b="0" i="0" dirty="0">
                <a:solidFill>
                  <a:srgbClr val="333F52"/>
                </a:solidFill>
                <a:latin typeface="Calibri"/>
                <a:ea typeface="ＭＳ Ｐゴシック"/>
              </a:rPr>
              <a:t>日本の power=line 32,698 本（taginfo 日本版）に、線路の電気的性質を決めるタグがどれだけ入っているか。</a:t>
            </a:r>
          </a:p>
        </p:txBody>
      </p:sp>
      <p:sp>
        <p:nvSpPr>
          <p:cNvPr id="105" name="R106"/>
          <p:cNvSpPr/>
          <p:nvPr/>
        </p:nvSpPr>
        <p:spPr>
          <a:xfrm>
            <a:off x="546100" y="1854200"/>
            <a:ext cx="3581400" cy="1625600"/>
          </a:xfrm>
          <a:prstGeom prst="rect">
            <a:avLst/>
          </a:prstGeom>
          <a:solidFill>
            <a:srgbClr val="EEF1F6"/>
          </a:solidFill>
          <a:ln>
            <a:noFill/>
          </a:ln>
        </p:spPr>
        <p:txBody>
          <a:bodyPr/>
          <a:lstStyle/>
          <a:p>
            <a:endParaRPr lang="ja-JP"/>
          </a:p>
        </p:txBody>
      </p:sp>
      <p:sp>
        <p:nvSpPr>
          <p:cNvPr id="106" name="R107"/>
          <p:cNvSpPr/>
          <p:nvPr/>
        </p:nvSpPr>
        <p:spPr>
          <a:xfrm>
            <a:off x="546100" y="1854200"/>
            <a:ext cx="38100" cy="1625600"/>
          </a:xfrm>
          <a:prstGeom prst="rect">
            <a:avLst/>
          </a:prstGeom>
          <a:solidFill>
            <a:srgbClr val="1F6FB5"/>
          </a:solidFill>
          <a:ln>
            <a:noFill/>
          </a:ln>
        </p:spPr>
        <p:txBody>
          <a:bodyPr/>
          <a:lstStyle/>
          <a:p>
            <a:endParaRPr lang="ja-JP"/>
          </a:p>
        </p:txBody>
      </p:sp>
      <p:sp>
        <p:nvSpPr>
          <p:cNvPr id="107" name="T108"/>
          <p:cNvSpPr txBox="1"/>
          <p:nvPr/>
        </p:nvSpPr>
        <p:spPr>
          <a:xfrm>
            <a:off x="1104900" y="2006600"/>
            <a:ext cx="2819400" cy="279400"/>
          </a:xfrm>
          <a:prstGeom prst="rect">
            <a:avLst/>
          </a:prstGeom>
          <a:noFill/>
        </p:spPr>
        <p:txBody>
          <a:bodyPr wrap="square" lIns="0" tIns="0" rIns="0" bIns="0" anchor="t"/>
          <a:lstStyle/>
          <a:p>
            <a:pPr marL="0" indent="0" algn="l">
              <a:buNone/>
            </a:pPr>
            <a:r>
              <a:rPr lang="ja-JP" altLang="en-US" sz="1800" b="1" i="0" dirty="0">
                <a:solidFill>
                  <a:srgbClr val="1A2744"/>
                </a:solidFill>
                <a:latin typeface="Calibri"/>
                <a:ea typeface="ＭＳ Ｐゴシック"/>
              </a:rPr>
              <a:t>circuits</a:t>
            </a:r>
          </a:p>
        </p:txBody>
      </p:sp>
      <p:sp>
        <p:nvSpPr>
          <p:cNvPr id="108" name="T109"/>
          <p:cNvSpPr txBox="1"/>
          <p:nvPr/>
        </p:nvSpPr>
        <p:spPr>
          <a:xfrm>
            <a:off x="749300" y="2336800"/>
            <a:ext cx="3175000" cy="228600"/>
          </a:xfrm>
          <a:prstGeom prst="rect">
            <a:avLst/>
          </a:prstGeom>
          <a:noFill/>
        </p:spPr>
        <p:txBody>
          <a:bodyPr wrap="square" lIns="0" tIns="0" rIns="0" bIns="0" anchor="t"/>
          <a:lstStyle/>
          <a:p>
            <a:pPr marL="0" indent="0" algn="l">
              <a:buNone/>
            </a:pPr>
            <a:r>
              <a:rPr lang="ja-JP" altLang="en-US" sz="1300" b="0" i="0" dirty="0">
                <a:solidFill>
                  <a:srgbClr val="333F52"/>
                </a:solidFill>
                <a:latin typeface="Calibri"/>
                <a:ea typeface="ＭＳ Ｐゴシック"/>
              </a:rPr>
              <a:t>回線数</a:t>
            </a:r>
          </a:p>
        </p:txBody>
      </p:sp>
      <p:sp>
        <p:nvSpPr>
          <p:cNvPr id="109" name="T110"/>
          <p:cNvSpPr txBox="1"/>
          <p:nvPr/>
        </p:nvSpPr>
        <p:spPr>
          <a:xfrm>
            <a:off x="749300" y="2590800"/>
            <a:ext cx="3175000" cy="203200"/>
          </a:xfrm>
          <a:prstGeom prst="rect">
            <a:avLst/>
          </a:prstGeom>
          <a:noFill/>
        </p:spPr>
        <p:txBody>
          <a:bodyPr wrap="square" lIns="0" tIns="0" rIns="0" bIns="0" anchor="t"/>
          <a:lstStyle/>
          <a:p>
            <a:pPr marL="0" indent="0" algn="l">
              <a:buNone/>
            </a:pPr>
            <a:r>
              <a:rPr lang="ja-JP" altLang="en-US" sz="1200" b="0" i="0" dirty="0">
                <a:solidFill>
                  <a:srgbClr val="6B7280"/>
                </a:solidFill>
                <a:latin typeface="Calibri"/>
                <a:ea typeface="ＭＳ Ｐゴシック"/>
              </a:rPr>
              <a:t>例： 2</a:t>
            </a:r>
          </a:p>
        </p:txBody>
      </p:sp>
      <p:sp>
        <p:nvSpPr>
          <p:cNvPr id="110" name="R111"/>
          <p:cNvSpPr/>
          <p:nvPr/>
        </p:nvSpPr>
        <p:spPr>
          <a:xfrm>
            <a:off x="749300" y="2946400"/>
            <a:ext cx="3175000" cy="88900"/>
          </a:xfrm>
          <a:prstGeom prst="rect">
            <a:avLst/>
          </a:prstGeom>
          <a:solidFill>
            <a:srgbClr val="D8DCE3"/>
          </a:solidFill>
          <a:ln>
            <a:noFill/>
          </a:ln>
        </p:spPr>
        <p:txBody>
          <a:bodyPr/>
          <a:lstStyle/>
          <a:p>
            <a:endParaRPr lang="ja-JP"/>
          </a:p>
        </p:txBody>
      </p:sp>
      <p:sp>
        <p:nvSpPr>
          <p:cNvPr id="111" name="R112"/>
          <p:cNvSpPr/>
          <p:nvPr/>
        </p:nvSpPr>
        <p:spPr>
          <a:xfrm>
            <a:off x="749300" y="2946400"/>
            <a:ext cx="1778000" cy="88900"/>
          </a:xfrm>
          <a:prstGeom prst="rect">
            <a:avLst/>
          </a:prstGeom>
          <a:solidFill>
            <a:srgbClr val="1F6FB5"/>
          </a:solidFill>
          <a:ln>
            <a:noFill/>
          </a:ln>
        </p:spPr>
        <p:txBody>
          <a:bodyPr/>
          <a:lstStyle/>
          <a:p>
            <a:endParaRPr lang="ja-JP"/>
          </a:p>
        </p:txBody>
      </p:sp>
      <p:sp>
        <p:nvSpPr>
          <p:cNvPr id="112" name="T113"/>
          <p:cNvSpPr txBox="1"/>
          <p:nvPr/>
        </p:nvSpPr>
        <p:spPr>
          <a:xfrm>
            <a:off x="749300" y="3098800"/>
            <a:ext cx="3175000" cy="304800"/>
          </a:xfrm>
          <a:prstGeom prst="rect">
            <a:avLst/>
          </a:prstGeom>
          <a:noFill/>
        </p:spPr>
        <p:txBody>
          <a:bodyPr wrap="square" lIns="0" tIns="0" rIns="0" bIns="0" anchor="t"/>
          <a:lstStyle/>
          <a:p>
            <a:pPr marL="0" indent="0" algn="l">
              <a:buNone/>
            </a:pPr>
            <a:r>
              <a:rPr lang="ja-JP" altLang="en-US" sz="1800" b="1" i="0" dirty="0">
                <a:solidFill>
                  <a:srgbClr val="1F6FB5"/>
                </a:solidFill>
                <a:latin typeface="Calibri"/>
                <a:ea typeface="ＭＳ Ｐゴシック"/>
              </a:rPr>
              <a:t>55.8%</a:t>
            </a:r>
            <a:r>
              <a:rPr lang="ja-JP" altLang="en-US" sz="1200" b="0" i="0" dirty="0">
                <a:solidFill>
                  <a:srgbClr val="6B7280"/>
                </a:solidFill>
                <a:latin typeface="Calibri"/>
                <a:ea typeface="ＭＳ Ｐゴシック"/>
              </a:rPr>
              <a:t>  が付与</a:t>
            </a:r>
          </a:p>
        </p:txBody>
      </p:sp>
      <p:sp>
        <p:nvSpPr>
          <p:cNvPr id="113" name="R114"/>
          <p:cNvSpPr/>
          <p:nvPr/>
        </p:nvSpPr>
        <p:spPr>
          <a:xfrm>
            <a:off x="4305300" y="1854200"/>
            <a:ext cx="3581400" cy="1625600"/>
          </a:xfrm>
          <a:prstGeom prst="rect">
            <a:avLst/>
          </a:prstGeom>
          <a:solidFill>
            <a:srgbClr val="EEF1F6"/>
          </a:solidFill>
          <a:ln>
            <a:noFill/>
          </a:ln>
        </p:spPr>
        <p:txBody>
          <a:bodyPr/>
          <a:lstStyle/>
          <a:p>
            <a:endParaRPr lang="ja-JP"/>
          </a:p>
        </p:txBody>
      </p:sp>
      <p:sp>
        <p:nvSpPr>
          <p:cNvPr id="114" name="R115"/>
          <p:cNvSpPr/>
          <p:nvPr/>
        </p:nvSpPr>
        <p:spPr>
          <a:xfrm>
            <a:off x="4305300" y="1854200"/>
            <a:ext cx="38100" cy="1625600"/>
          </a:xfrm>
          <a:prstGeom prst="rect">
            <a:avLst/>
          </a:prstGeom>
          <a:solidFill>
            <a:srgbClr val="1F6FB5"/>
          </a:solidFill>
          <a:ln>
            <a:noFill/>
          </a:ln>
        </p:spPr>
        <p:txBody>
          <a:bodyPr/>
          <a:lstStyle/>
          <a:p>
            <a:endParaRPr lang="ja-JP"/>
          </a:p>
        </p:txBody>
      </p:sp>
      <p:sp>
        <p:nvSpPr>
          <p:cNvPr id="115" name="T116"/>
          <p:cNvSpPr txBox="1"/>
          <p:nvPr/>
        </p:nvSpPr>
        <p:spPr>
          <a:xfrm>
            <a:off x="4864100" y="2006600"/>
            <a:ext cx="2819400" cy="279400"/>
          </a:xfrm>
          <a:prstGeom prst="rect">
            <a:avLst/>
          </a:prstGeom>
          <a:noFill/>
        </p:spPr>
        <p:txBody>
          <a:bodyPr wrap="square" lIns="0" tIns="0" rIns="0" bIns="0" anchor="t"/>
          <a:lstStyle/>
          <a:p>
            <a:pPr marL="0" indent="0" algn="l">
              <a:buNone/>
            </a:pPr>
            <a:r>
              <a:rPr lang="ja-JP" altLang="en-US" sz="1800" b="1" i="0" dirty="0">
                <a:solidFill>
                  <a:srgbClr val="1A2744"/>
                </a:solidFill>
                <a:latin typeface="Calibri"/>
                <a:ea typeface="ＭＳ Ｐゴシック"/>
              </a:rPr>
              <a:t>cables</a:t>
            </a:r>
          </a:p>
        </p:txBody>
      </p:sp>
      <p:sp>
        <p:nvSpPr>
          <p:cNvPr id="116" name="T117"/>
          <p:cNvSpPr txBox="1"/>
          <p:nvPr/>
        </p:nvSpPr>
        <p:spPr>
          <a:xfrm>
            <a:off x="4508500" y="2336800"/>
            <a:ext cx="3175000" cy="228600"/>
          </a:xfrm>
          <a:prstGeom prst="rect">
            <a:avLst/>
          </a:prstGeom>
          <a:noFill/>
        </p:spPr>
        <p:txBody>
          <a:bodyPr wrap="square" lIns="0" tIns="0" rIns="0" bIns="0" anchor="t"/>
          <a:lstStyle/>
          <a:p>
            <a:pPr marL="0" indent="0" algn="l">
              <a:buNone/>
            </a:pPr>
            <a:r>
              <a:rPr lang="ja-JP" altLang="en-US" sz="1300" b="0" i="0" dirty="0">
                <a:solidFill>
                  <a:srgbClr val="333F52"/>
                </a:solidFill>
                <a:latin typeface="Calibri"/>
                <a:ea typeface="ＭＳ Ｐゴシック"/>
              </a:rPr>
              <a:t>相導体の本数（1回線 = 3本）</a:t>
            </a:r>
          </a:p>
        </p:txBody>
      </p:sp>
      <p:sp>
        <p:nvSpPr>
          <p:cNvPr id="117" name="T118"/>
          <p:cNvSpPr txBox="1"/>
          <p:nvPr/>
        </p:nvSpPr>
        <p:spPr>
          <a:xfrm>
            <a:off x="4508500" y="2590800"/>
            <a:ext cx="3175000" cy="203200"/>
          </a:xfrm>
          <a:prstGeom prst="rect">
            <a:avLst/>
          </a:prstGeom>
          <a:noFill/>
        </p:spPr>
        <p:txBody>
          <a:bodyPr wrap="square" lIns="0" tIns="0" rIns="0" bIns="0" anchor="t"/>
          <a:lstStyle/>
          <a:p>
            <a:pPr marL="0" indent="0" algn="l">
              <a:buNone/>
            </a:pPr>
            <a:r>
              <a:rPr lang="ja-JP" altLang="en-US" sz="1200" b="0" i="0" dirty="0">
                <a:solidFill>
                  <a:srgbClr val="6B7280"/>
                </a:solidFill>
                <a:latin typeface="Calibri"/>
                <a:ea typeface="ＭＳ Ｐゴシック"/>
              </a:rPr>
              <a:t>例： 6</a:t>
            </a:r>
          </a:p>
        </p:txBody>
      </p:sp>
      <p:sp>
        <p:nvSpPr>
          <p:cNvPr id="118" name="R119"/>
          <p:cNvSpPr/>
          <p:nvPr/>
        </p:nvSpPr>
        <p:spPr>
          <a:xfrm>
            <a:off x="4508500" y="2946400"/>
            <a:ext cx="3175000" cy="88900"/>
          </a:xfrm>
          <a:prstGeom prst="rect">
            <a:avLst/>
          </a:prstGeom>
          <a:solidFill>
            <a:srgbClr val="D8DCE3"/>
          </a:solidFill>
          <a:ln>
            <a:noFill/>
          </a:ln>
        </p:spPr>
        <p:txBody>
          <a:bodyPr/>
          <a:lstStyle/>
          <a:p>
            <a:endParaRPr lang="ja-JP"/>
          </a:p>
        </p:txBody>
      </p:sp>
      <p:sp>
        <p:nvSpPr>
          <p:cNvPr id="119" name="R120"/>
          <p:cNvSpPr/>
          <p:nvPr/>
        </p:nvSpPr>
        <p:spPr>
          <a:xfrm>
            <a:off x="4508500" y="2946400"/>
            <a:ext cx="2197100" cy="88900"/>
          </a:xfrm>
          <a:prstGeom prst="rect">
            <a:avLst/>
          </a:prstGeom>
          <a:solidFill>
            <a:srgbClr val="1F6FB5"/>
          </a:solidFill>
          <a:ln>
            <a:noFill/>
          </a:ln>
        </p:spPr>
        <p:txBody>
          <a:bodyPr/>
          <a:lstStyle/>
          <a:p>
            <a:endParaRPr lang="ja-JP"/>
          </a:p>
        </p:txBody>
      </p:sp>
      <p:sp>
        <p:nvSpPr>
          <p:cNvPr id="120" name="T121"/>
          <p:cNvSpPr txBox="1"/>
          <p:nvPr/>
        </p:nvSpPr>
        <p:spPr>
          <a:xfrm>
            <a:off x="4508500" y="3098800"/>
            <a:ext cx="3175000" cy="304800"/>
          </a:xfrm>
          <a:prstGeom prst="rect">
            <a:avLst/>
          </a:prstGeom>
          <a:noFill/>
        </p:spPr>
        <p:txBody>
          <a:bodyPr wrap="square" lIns="0" tIns="0" rIns="0" bIns="0" anchor="t"/>
          <a:lstStyle/>
          <a:p>
            <a:pPr marL="0" indent="0" algn="l">
              <a:buNone/>
            </a:pPr>
            <a:r>
              <a:rPr lang="ja-JP" altLang="en-US" sz="1800" b="1" i="0" dirty="0">
                <a:solidFill>
                  <a:srgbClr val="1F6FB5"/>
                </a:solidFill>
                <a:latin typeface="Calibri"/>
                <a:ea typeface="ＭＳ Ｐゴシック"/>
              </a:rPr>
              <a:t>69.3%</a:t>
            </a:r>
            <a:r>
              <a:rPr lang="ja-JP" altLang="en-US" sz="1200" b="0" i="0" dirty="0">
                <a:solidFill>
                  <a:srgbClr val="6B7280"/>
                </a:solidFill>
                <a:latin typeface="Calibri"/>
                <a:ea typeface="ＭＳ Ｐゴシック"/>
              </a:rPr>
              <a:t>  が付与</a:t>
            </a:r>
          </a:p>
        </p:txBody>
      </p:sp>
      <p:sp>
        <p:nvSpPr>
          <p:cNvPr id="121" name="R122"/>
          <p:cNvSpPr/>
          <p:nvPr/>
        </p:nvSpPr>
        <p:spPr>
          <a:xfrm>
            <a:off x="8064500" y="1854200"/>
            <a:ext cx="3581400" cy="1625600"/>
          </a:xfrm>
          <a:prstGeom prst="rect">
            <a:avLst/>
          </a:prstGeom>
          <a:solidFill>
            <a:srgbClr val="EEF1F6"/>
          </a:solidFill>
          <a:ln>
            <a:noFill/>
          </a:ln>
        </p:spPr>
        <p:txBody>
          <a:bodyPr/>
          <a:lstStyle/>
          <a:p>
            <a:endParaRPr lang="ja-JP"/>
          </a:p>
        </p:txBody>
      </p:sp>
      <p:sp>
        <p:nvSpPr>
          <p:cNvPr id="122" name="R123"/>
          <p:cNvSpPr/>
          <p:nvPr/>
        </p:nvSpPr>
        <p:spPr>
          <a:xfrm>
            <a:off x="8064500" y="1854200"/>
            <a:ext cx="38100" cy="1625600"/>
          </a:xfrm>
          <a:prstGeom prst="rect">
            <a:avLst/>
          </a:prstGeom>
          <a:solidFill>
            <a:srgbClr val="8A2E3B"/>
          </a:solidFill>
          <a:ln>
            <a:noFill/>
          </a:ln>
        </p:spPr>
        <p:txBody>
          <a:bodyPr/>
          <a:lstStyle/>
          <a:p>
            <a:endParaRPr lang="ja-JP"/>
          </a:p>
        </p:txBody>
      </p:sp>
      <p:sp>
        <p:nvSpPr>
          <p:cNvPr id="123" name="T124"/>
          <p:cNvSpPr txBox="1"/>
          <p:nvPr/>
        </p:nvSpPr>
        <p:spPr>
          <a:xfrm>
            <a:off x="8623300" y="2006600"/>
            <a:ext cx="2819400" cy="279400"/>
          </a:xfrm>
          <a:prstGeom prst="rect">
            <a:avLst/>
          </a:prstGeom>
          <a:noFill/>
        </p:spPr>
        <p:txBody>
          <a:bodyPr wrap="square" lIns="0" tIns="0" rIns="0" bIns="0" anchor="t"/>
          <a:lstStyle/>
          <a:p>
            <a:pPr marL="0" indent="0" algn="l">
              <a:buNone/>
            </a:pPr>
            <a:r>
              <a:rPr lang="ja-JP" altLang="en-US" sz="1800" b="1" i="0" dirty="0">
                <a:solidFill>
                  <a:srgbClr val="1A2744"/>
                </a:solidFill>
                <a:latin typeface="Calibri"/>
                <a:ea typeface="ＭＳ Ｐゴシック"/>
              </a:rPr>
              <a:t>wires</a:t>
            </a:r>
          </a:p>
        </p:txBody>
      </p:sp>
      <p:sp>
        <p:nvSpPr>
          <p:cNvPr id="124" name="T125"/>
          <p:cNvSpPr txBox="1"/>
          <p:nvPr/>
        </p:nvSpPr>
        <p:spPr>
          <a:xfrm>
            <a:off x="8267700" y="2336800"/>
            <a:ext cx="3175000" cy="228600"/>
          </a:xfrm>
          <a:prstGeom prst="rect">
            <a:avLst/>
          </a:prstGeom>
          <a:noFill/>
        </p:spPr>
        <p:txBody>
          <a:bodyPr wrap="square" lIns="0" tIns="0" rIns="0" bIns="0" anchor="t"/>
          <a:lstStyle/>
          <a:p>
            <a:pPr marL="0" indent="0" algn="l">
              <a:buNone/>
            </a:pPr>
            <a:r>
              <a:rPr lang="ja-JP" altLang="en-US" sz="1300" b="0" i="0" dirty="0">
                <a:solidFill>
                  <a:srgbClr val="333F52"/>
                </a:solidFill>
                <a:latin typeface="Calibri"/>
                <a:ea typeface="ＭＳ Ｐゴシック"/>
              </a:rPr>
              <a:t>1相あたりの導体数（多導体）</a:t>
            </a:r>
          </a:p>
        </p:txBody>
      </p:sp>
      <p:sp>
        <p:nvSpPr>
          <p:cNvPr id="125" name="T126"/>
          <p:cNvSpPr txBox="1"/>
          <p:nvPr/>
        </p:nvSpPr>
        <p:spPr>
          <a:xfrm>
            <a:off x="8267700" y="2590800"/>
            <a:ext cx="3175000" cy="203200"/>
          </a:xfrm>
          <a:prstGeom prst="rect">
            <a:avLst/>
          </a:prstGeom>
          <a:noFill/>
        </p:spPr>
        <p:txBody>
          <a:bodyPr wrap="square" lIns="0" tIns="0" rIns="0" bIns="0" anchor="t"/>
          <a:lstStyle/>
          <a:p>
            <a:pPr marL="0" indent="0" algn="l">
              <a:buNone/>
            </a:pPr>
            <a:r>
              <a:rPr lang="ja-JP" altLang="en-US" sz="1200" b="0" i="0" dirty="0">
                <a:solidFill>
                  <a:srgbClr val="6B7280"/>
                </a:solidFill>
                <a:latin typeface="Calibri"/>
                <a:ea typeface="ＭＳ Ｐゴシック"/>
              </a:rPr>
              <a:t>例： single / double / quad</a:t>
            </a:r>
          </a:p>
        </p:txBody>
      </p:sp>
      <p:sp>
        <p:nvSpPr>
          <p:cNvPr id="126" name="R127"/>
          <p:cNvSpPr/>
          <p:nvPr/>
        </p:nvSpPr>
        <p:spPr>
          <a:xfrm>
            <a:off x="8267700" y="2946400"/>
            <a:ext cx="3175000" cy="88900"/>
          </a:xfrm>
          <a:prstGeom prst="rect">
            <a:avLst/>
          </a:prstGeom>
          <a:solidFill>
            <a:srgbClr val="D8DCE3"/>
          </a:solidFill>
          <a:ln>
            <a:noFill/>
          </a:ln>
        </p:spPr>
        <p:txBody>
          <a:bodyPr/>
          <a:lstStyle/>
          <a:p>
            <a:endParaRPr lang="ja-JP"/>
          </a:p>
        </p:txBody>
      </p:sp>
      <p:sp>
        <p:nvSpPr>
          <p:cNvPr id="127" name="R128"/>
          <p:cNvSpPr/>
          <p:nvPr/>
        </p:nvSpPr>
        <p:spPr>
          <a:xfrm>
            <a:off x="8267700" y="2946400"/>
            <a:ext cx="482600" cy="88900"/>
          </a:xfrm>
          <a:prstGeom prst="rect">
            <a:avLst/>
          </a:prstGeom>
          <a:solidFill>
            <a:srgbClr val="8A2E3B"/>
          </a:solidFill>
          <a:ln>
            <a:noFill/>
          </a:ln>
        </p:spPr>
        <p:txBody>
          <a:bodyPr/>
          <a:lstStyle/>
          <a:p>
            <a:endParaRPr lang="ja-JP"/>
          </a:p>
        </p:txBody>
      </p:sp>
      <p:sp>
        <p:nvSpPr>
          <p:cNvPr id="128" name="T129"/>
          <p:cNvSpPr txBox="1"/>
          <p:nvPr/>
        </p:nvSpPr>
        <p:spPr>
          <a:xfrm>
            <a:off x="8267700" y="3098800"/>
            <a:ext cx="3175000" cy="304800"/>
          </a:xfrm>
          <a:prstGeom prst="rect">
            <a:avLst/>
          </a:prstGeom>
          <a:noFill/>
        </p:spPr>
        <p:txBody>
          <a:bodyPr wrap="square" lIns="0" tIns="0" rIns="0" bIns="0" anchor="t"/>
          <a:lstStyle/>
          <a:p>
            <a:pPr marL="0" indent="0" algn="l">
              <a:buNone/>
            </a:pPr>
            <a:r>
              <a:rPr lang="ja-JP" altLang="en-US" sz="1800" b="1" i="0" dirty="0">
                <a:solidFill>
                  <a:srgbClr val="8A2E3B"/>
                </a:solidFill>
                <a:latin typeface="Calibri"/>
                <a:ea typeface="ＭＳ Ｐゴシック"/>
              </a:rPr>
              <a:t>15.0%</a:t>
            </a:r>
            <a:r>
              <a:rPr lang="ja-JP" altLang="en-US" sz="1200" b="0" i="0" dirty="0">
                <a:solidFill>
                  <a:srgbClr val="6B7280"/>
                </a:solidFill>
                <a:latin typeface="Calibri"/>
                <a:ea typeface="ＭＳ Ｐゴシック"/>
              </a:rPr>
              <a:t>  が付与</a:t>
            </a:r>
          </a:p>
        </p:txBody>
      </p:sp>
      <p:sp>
        <p:nvSpPr>
          <p:cNvPr id="129" name="R130"/>
          <p:cNvSpPr/>
          <p:nvPr/>
        </p:nvSpPr>
        <p:spPr>
          <a:xfrm>
            <a:off x="546100" y="3683000"/>
            <a:ext cx="5461000" cy="1676400"/>
          </a:xfrm>
          <a:prstGeom prst="rect">
            <a:avLst/>
          </a:prstGeom>
          <a:solidFill>
            <a:srgbClr val="EEF1F6"/>
          </a:solidFill>
          <a:ln>
            <a:noFill/>
          </a:ln>
        </p:spPr>
        <p:txBody>
          <a:bodyPr/>
          <a:lstStyle/>
          <a:p>
            <a:endParaRPr lang="ja-JP"/>
          </a:p>
        </p:txBody>
      </p:sp>
      <p:sp>
        <p:nvSpPr>
          <p:cNvPr id="130" name="R131"/>
          <p:cNvSpPr/>
          <p:nvPr/>
        </p:nvSpPr>
        <p:spPr>
          <a:xfrm>
            <a:off x="546100" y="3683000"/>
            <a:ext cx="38100" cy="1676400"/>
          </a:xfrm>
          <a:prstGeom prst="rect">
            <a:avLst/>
          </a:prstGeom>
          <a:solidFill>
            <a:srgbClr val="8A2E3B"/>
          </a:solidFill>
          <a:ln>
            <a:noFill/>
          </a:ln>
        </p:spPr>
        <p:txBody>
          <a:bodyPr/>
          <a:lstStyle/>
          <a:p>
            <a:endParaRPr lang="ja-JP"/>
          </a:p>
        </p:txBody>
      </p:sp>
      <p:sp>
        <p:nvSpPr>
          <p:cNvPr id="131" name="T132"/>
          <p:cNvSpPr txBox="1"/>
          <p:nvPr/>
        </p:nvSpPr>
        <p:spPr>
          <a:xfrm>
            <a:off x="1117600" y="3835400"/>
            <a:ext cx="4648200" cy="254000"/>
          </a:xfrm>
          <a:prstGeom prst="rect">
            <a:avLst/>
          </a:prstGeom>
          <a:noFill/>
        </p:spPr>
        <p:txBody>
          <a:bodyPr wrap="square" lIns="0" tIns="0" rIns="0" bIns="0" anchor="t"/>
          <a:lstStyle/>
          <a:p>
            <a:pPr marL="0" indent="0" algn="l">
              <a:buNone/>
            </a:pPr>
            <a:r>
              <a:rPr lang="ja-JP" altLang="en-US" sz="1400" b="1" i="0" dirty="0">
                <a:solidFill>
                  <a:srgbClr val="1A2744"/>
                </a:solidFill>
                <a:latin typeface="Calibri"/>
                <a:ea typeface="ＭＳ Ｐゴシック"/>
              </a:rPr>
              <a:t>wires は入っていても使えない</a:t>
            </a:r>
          </a:p>
        </p:txBody>
      </p:sp>
      <p:sp>
        <p:nvSpPr>
          <p:cNvPr id="132" name="T133"/>
          <p:cNvSpPr txBox="1"/>
          <p:nvPr/>
        </p:nvSpPr>
        <p:spPr>
          <a:xfrm>
            <a:off x="787400" y="4165600"/>
            <a:ext cx="4978400" cy="1092200"/>
          </a:xfrm>
          <a:prstGeom prst="rect">
            <a:avLst/>
          </a:prstGeom>
          <a:noFill/>
        </p:spPr>
        <p:txBody>
          <a:bodyPr wrap="square" lIns="0" tIns="0" rIns="0" bIns="0" anchor="t"/>
          <a:lstStyle/>
          <a:p>
            <a:pPr marL="140000" indent="-140000" algn="l">
              <a:lnSpc>
                <a:spcPct val="120000"/>
              </a:lnSpc>
              <a:buFont typeface="Arial"/>
              <a:buChar char="・"/>
            </a:pPr>
            <a:r>
              <a:rPr lang="ja-JP" altLang="en-US" sz="1250" b="0" i="0" dirty="0">
                <a:solidFill>
                  <a:srgbClr val="333F52"/>
                </a:solidFill>
                <a:latin typeface="Calibri"/>
                <a:ea typeface="ＭＳ Ｐゴシック"/>
              </a:rPr>
              <a:t>入っている約4,900本のうち約3,700本が single。quad は339本、8導体は9本。</a:t>
            </a:r>
          </a:p>
          <a:p>
            <a:pPr marL="140000" indent="-140000" algn="l">
              <a:lnSpc>
                <a:spcPct val="120000"/>
              </a:lnSpc>
              <a:spcBef>
                <a:spcPts val="400"/>
              </a:spcBef>
              <a:buFont typeface="Arial"/>
              <a:buChar char="・"/>
            </a:pPr>
            <a:r>
              <a:rPr lang="ja-JP" altLang="en-US" sz="1250" b="0" i="0" dirty="0">
                <a:solidFill>
                  <a:srgbClr val="333F52"/>
                </a:solidFill>
                <a:latin typeface="Calibri"/>
                <a:ea typeface="ＭＳ Ｐゴシック"/>
              </a:rPr>
              <a:t>値の表記もバラバラ（4本; / sing / single:double / 6）。</a:t>
            </a:r>
          </a:p>
          <a:p>
            <a:pPr marL="140000" indent="-140000" algn="l">
              <a:lnSpc>
                <a:spcPct val="120000"/>
              </a:lnSpc>
              <a:spcBef>
                <a:spcPts val="400"/>
              </a:spcBef>
              <a:buFont typeface="Arial"/>
              <a:buChar char="・"/>
            </a:pPr>
            <a:r>
              <a:rPr lang="ja-JP" altLang="en-US" sz="1250" b="0" i="0" dirty="0">
                <a:solidFill>
                  <a:srgbClr val="333F52"/>
                </a:solidFill>
                <a:latin typeface="Calibri"/>
                <a:ea typeface="ＭＳ Ｐゴシック"/>
              </a:rPr>
              <a:t>北庄変電所の周辺50本：cables・circuits は45本、wires は0本。</a:t>
            </a:r>
          </a:p>
        </p:txBody>
      </p:sp>
      <p:sp>
        <p:nvSpPr>
          <p:cNvPr id="133" name="R134"/>
          <p:cNvSpPr/>
          <p:nvPr/>
        </p:nvSpPr>
        <p:spPr>
          <a:xfrm>
            <a:off x="6184900" y="3683000"/>
            <a:ext cx="5461000" cy="1676400"/>
          </a:xfrm>
          <a:prstGeom prst="rect">
            <a:avLst/>
          </a:prstGeom>
          <a:solidFill>
            <a:srgbClr val="EEF1F6"/>
          </a:solidFill>
          <a:ln>
            <a:noFill/>
          </a:ln>
        </p:spPr>
        <p:txBody>
          <a:bodyPr/>
          <a:lstStyle/>
          <a:p>
            <a:endParaRPr lang="ja-JP"/>
          </a:p>
        </p:txBody>
      </p:sp>
      <p:sp>
        <p:nvSpPr>
          <p:cNvPr id="134" name="R135"/>
          <p:cNvSpPr/>
          <p:nvPr/>
        </p:nvSpPr>
        <p:spPr>
          <a:xfrm>
            <a:off x="6184900" y="3683000"/>
            <a:ext cx="38100" cy="1676400"/>
          </a:xfrm>
          <a:prstGeom prst="rect">
            <a:avLst/>
          </a:prstGeom>
          <a:solidFill>
            <a:srgbClr val="1A2744"/>
          </a:solidFill>
          <a:ln>
            <a:noFill/>
          </a:ln>
        </p:spPr>
        <p:txBody>
          <a:bodyPr/>
          <a:lstStyle/>
          <a:p>
            <a:endParaRPr lang="ja-JP"/>
          </a:p>
        </p:txBody>
      </p:sp>
      <p:sp>
        <p:nvSpPr>
          <p:cNvPr id="135" name="T136"/>
          <p:cNvSpPr txBox="1"/>
          <p:nvPr/>
        </p:nvSpPr>
        <p:spPr>
          <a:xfrm>
            <a:off x="6756400" y="3835400"/>
            <a:ext cx="4648200" cy="254000"/>
          </a:xfrm>
          <a:prstGeom prst="rect">
            <a:avLst/>
          </a:prstGeom>
          <a:noFill/>
        </p:spPr>
        <p:txBody>
          <a:bodyPr wrap="square" lIns="0" tIns="0" rIns="0" bIns="0" anchor="t"/>
          <a:lstStyle/>
          <a:p>
            <a:pPr marL="0" indent="0" algn="l">
              <a:buNone/>
            </a:pPr>
            <a:r>
              <a:rPr lang="ja-JP" altLang="en-US" sz="1400" b="1" i="0" dirty="0">
                <a:solidFill>
                  <a:srgbClr val="1A2744"/>
                </a:solidFill>
                <a:latin typeface="Calibri"/>
                <a:ea typeface="ＭＳ Ｐゴシック"/>
              </a:rPr>
              <a:t>無いとき AGJ がどう埋めているか</a:t>
            </a:r>
          </a:p>
        </p:txBody>
      </p:sp>
      <p:sp>
        <p:nvSpPr>
          <p:cNvPr id="136" name="T137"/>
          <p:cNvSpPr txBox="1"/>
          <p:nvPr/>
        </p:nvSpPr>
        <p:spPr>
          <a:xfrm>
            <a:off x="6426200" y="4165600"/>
            <a:ext cx="4978400" cy="1092200"/>
          </a:xfrm>
          <a:prstGeom prst="rect">
            <a:avLst/>
          </a:prstGeom>
          <a:noFill/>
        </p:spPr>
        <p:txBody>
          <a:bodyPr wrap="square" lIns="0" tIns="0" rIns="0" bIns="0" anchor="t"/>
          <a:lstStyle/>
          <a:p>
            <a:pPr marL="140000" indent="-140000" algn="l">
              <a:lnSpc>
                <a:spcPct val="120000"/>
              </a:lnSpc>
              <a:buFont typeface="Arial"/>
              <a:buChar char="・"/>
            </a:pPr>
            <a:r>
              <a:rPr lang="ja-JP" altLang="en-US" sz="1250" b="0" i="0" dirty="0">
                <a:solidFill>
                  <a:srgbClr val="333F52"/>
                </a:solidFill>
                <a:latin typeface="Calibri"/>
                <a:ea typeface="ＭＳ Ｐゴシック"/>
              </a:rPr>
              <a:t>回線数はフォールバック順で決定（snapped_topology.py:264）。</a:t>
            </a:r>
          </a:p>
          <a:p>
            <a:pPr marL="140000" indent="-140000" algn="l">
              <a:lnSpc>
                <a:spcPct val="120000"/>
              </a:lnSpc>
              <a:spcBef>
                <a:spcPts val="400"/>
              </a:spcBef>
              <a:buFont typeface="Arial"/>
              <a:buChar char="・"/>
            </a:pPr>
            <a:r>
              <a:rPr lang="ja-JP" altLang="en-US" sz="1250" b="0" i="0" dirty="0">
                <a:solidFill>
                  <a:srgbClr val="333F52"/>
                </a:solidFill>
                <a:latin typeface="Calibri"/>
                <a:ea typeface="ＭＳ Ｐゴシック"/>
              </a:rPr>
              <a:t>導体は電圧階級の標準値：500kV 4導体／275kV ACSR 410mm² 2導体／154kV 330mm² 単導体／66kV 160mm² 単導体。</a:t>
            </a:r>
          </a:p>
          <a:p>
            <a:pPr marL="140000" indent="-140000" algn="l">
              <a:lnSpc>
                <a:spcPct val="120000"/>
              </a:lnSpc>
              <a:spcBef>
                <a:spcPts val="400"/>
              </a:spcBef>
              <a:buFont typeface="Arial"/>
              <a:buChar char="・"/>
            </a:pPr>
            <a:r>
              <a:rPr lang="ja-JP" altLang="en-US" sz="1250" b="0" i="0" dirty="0">
                <a:solidFill>
                  <a:srgbClr val="333F52"/>
                </a:solidFill>
                <a:latin typeface="Calibri"/>
                <a:ea typeface="ＭＳ Ｐゴシック"/>
              </a:rPr>
              <a:t>wires があってもインピーダンスは標準値のまま。許容電流だけ 導体数÷標準 倍（0.5〜2.5倍でクリップ）。</a:t>
            </a:r>
          </a:p>
        </p:txBody>
      </p:sp>
      <p:sp>
        <p:nvSpPr>
          <p:cNvPr id="137" name="R138"/>
          <p:cNvSpPr/>
          <p:nvPr/>
        </p:nvSpPr>
        <p:spPr>
          <a:xfrm>
            <a:off x="546100" y="5537200"/>
            <a:ext cx="11099800" cy="558800"/>
          </a:xfrm>
          <a:prstGeom prst="rect">
            <a:avLst/>
          </a:prstGeom>
          <a:solidFill>
            <a:srgbClr val="EEF1F6"/>
          </a:solidFill>
          <a:ln>
            <a:noFill/>
          </a:ln>
        </p:spPr>
        <p:txBody>
          <a:bodyPr/>
          <a:lstStyle/>
          <a:p>
            <a:endParaRPr lang="ja-JP"/>
          </a:p>
        </p:txBody>
      </p:sp>
      <p:sp>
        <p:nvSpPr>
          <p:cNvPr id="138" name="R139"/>
          <p:cNvSpPr/>
          <p:nvPr/>
        </p:nvSpPr>
        <p:spPr>
          <a:xfrm>
            <a:off x="546100" y="5537200"/>
            <a:ext cx="38100" cy="558800"/>
          </a:xfrm>
          <a:prstGeom prst="rect">
            <a:avLst/>
          </a:prstGeom>
          <a:solidFill>
            <a:srgbClr val="8A2E3B"/>
          </a:solidFill>
          <a:ln>
            <a:noFill/>
          </a:ln>
        </p:spPr>
        <p:txBody>
          <a:bodyPr/>
          <a:lstStyle/>
          <a:p>
            <a:endParaRPr lang="ja-JP"/>
          </a:p>
        </p:txBody>
      </p:sp>
      <p:sp>
        <p:nvSpPr>
          <p:cNvPr id="139" name="T140"/>
          <p:cNvSpPr txBox="1"/>
          <p:nvPr/>
        </p:nvSpPr>
        <p:spPr>
          <a:xfrm>
            <a:off x="787400" y="5689600"/>
            <a:ext cx="10668000" cy="279400"/>
          </a:xfrm>
          <a:prstGeom prst="rect">
            <a:avLst/>
          </a:prstGeom>
          <a:noFill/>
        </p:spPr>
        <p:txBody>
          <a:bodyPr wrap="square" lIns="0" tIns="0" rIns="0" bIns="0" anchor="t"/>
          <a:lstStyle/>
          <a:p>
            <a:pPr marL="0" indent="0" algn="l">
              <a:buNone/>
            </a:pPr>
            <a:r>
              <a:rPr lang="ja-JP" altLang="en-US" sz="1500" b="1" i="0" dirty="0">
                <a:solidFill>
                  <a:srgbClr val="1A2744"/>
                </a:solidFill>
                <a:latin typeface="Calibri"/>
                <a:ea typeface="ＭＳ Ｐゴシック"/>
              </a:rPr>
              <a:t>OSM から分かるのは回線数が半分強まで。導体数はほとんど分からない — その穴は表からの仮定で埋めている。</a:t>
            </a:r>
          </a:p>
        </p:txBody>
      </p:sp>
      <p:sp>
        <p:nvSpPr>
          <p:cNvPr id="140" name="R141"/>
          <p:cNvSpPr/>
          <p:nvPr/>
        </p:nvSpPr>
        <p:spPr>
          <a:xfrm>
            <a:off x="546100" y="6248400"/>
            <a:ext cx="11099800" cy="12700"/>
          </a:xfrm>
          <a:prstGeom prst="rect">
            <a:avLst/>
          </a:prstGeom>
          <a:solidFill>
            <a:srgbClr val="D8DCE3"/>
          </a:solidFill>
          <a:ln>
            <a:noFill/>
          </a:ln>
        </p:spPr>
        <p:txBody>
          <a:bodyPr/>
          <a:lstStyle/>
          <a:p>
            <a:endParaRPr lang="ja-JP"/>
          </a:p>
        </p:txBody>
      </p:sp>
      <p:sp>
        <p:nvSpPr>
          <p:cNvPr id="141" name="T142"/>
          <p:cNvSpPr txBox="1"/>
          <p:nvPr/>
        </p:nvSpPr>
        <p:spPr>
          <a:xfrm>
            <a:off x="546100" y="6350000"/>
            <a:ext cx="11099800" cy="228600"/>
          </a:xfrm>
          <a:prstGeom prst="rect">
            <a:avLst/>
          </a:prstGeom>
          <a:noFill/>
        </p:spPr>
        <p:txBody>
          <a:bodyPr wrap="square" lIns="0" tIns="0" rIns="0" bIns="0" anchor="t"/>
          <a:lstStyle/>
          <a:p>
            <a:pPr marL="0" indent="0" algn="l">
              <a:buNone/>
            </a:pPr>
            <a:r>
              <a:rPr lang="ja-JP" altLang="en-US" sz="1050" b="0" i="0" dirty="0">
                <a:solidFill>
                  <a:srgbClr val="6B7280"/>
                </a:solidFill>
                <a:latin typeface="Calibri"/>
                <a:ea typeface="ＭＳ Ｐゴシック"/>
              </a:rPr>
              <a:t>出典： taginfo 日本版（power=line 32,698本）／ src/powerflow/snapped_topology.py:264、src/converter/pandapower_builder.py:408。系統情報公表でインピーダンスが判明する線はその実値を使用。</a:t>
            </a:r>
          </a:p>
        </p:txBody>
      </p:sp>
      <p:pic>
        <p:nvPicPr>
          <p:cNvPr id="142" name="Graphic 142" descr="circuits タグ"/>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9300" y="2006600"/>
            <a:ext cx="254000" cy="254000"/>
          </a:xfrm>
          <a:prstGeom prst="rect">
            <a:avLst/>
          </a:prstGeom>
        </p:spPr>
      </p:pic>
      <p:pic>
        <p:nvPicPr>
          <p:cNvPr id="143" name="Graphic 143" descr="cables タグ"/>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08500" y="2006600"/>
            <a:ext cx="254000" cy="254000"/>
          </a:xfrm>
          <a:prstGeom prst="rect">
            <a:avLst/>
          </a:prstGeom>
        </p:spPr>
      </p:pic>
      <p:pic>
        <p:nvPicPr>
          <p:cNvPr id="144" name="Graphic 144" descr="wires タグは欠測が多い"/>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7700" y="2006600"/>
            <a:ext cx="254000" cy="254000"/>
          </a:xfrm>
          <a:prstGeom prst="rect">
            <a:avLst/>
          </a:prstGeom>
        </p:spPr>
      </p:pic>
      <p:pic>
        <p:nvPicPr>
          <p:cNvPr id="145" name="Graphic 145" descr="wires の問題"/>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7400" y="3822700"/>
            <a:ext cx="228600" cy="228600"/>
          </a:xfrm>
          <a:prstGeom prst="rect">
            <a:avLst/>
          </a:prstGeom>
        </p:spPr>
      </p:pic>
      <p:pic>
        <p:nvPicPr>
          <p:cNvPr id="146" name="Graphic 146" descr="AGJ の埋め方"/>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6200" y="3822700"/>
            <a:ext cx="228600" cy="228600"/>
          </a:xfrm>
          <a:prstGeom prst="rect">
            <a:avLst/>
          </a:prstGeom>
        </p:spPr>
      </p:pic>
    </p:spTree>
    <p:extLst>
      <p:ext uri="{BB962C8B-B14F-4D97-AF65-F5344CB8AC3E}">
        <p14:creationId xmlns:p14="http://schemas.microsoft.com/office/powerpoint/2010/main" val="910285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ig_national_obs_slide.jpg"/>
          <p:cNvPicPr>
            <a:picLocks noChangeAspect="1"/>
          </p:cNvPicPr>
          <p:nvPr/>
        </p:nvPicPr>
        <p:blipFill>
          <a:blip r:embed="rId2"/>
          <a:srcRect l="9000" t="9000" r="7001" b="25416"/>
          <a:stretch>
            <a:fillRect/>
          </a:stretch>
        </p:blipFill>
        <p:spPr>
          <a:xfrm>
            <a:off x="5888901" y="13771"/>
            <a:ext cx="5972899" cy="6858000"/>
          </a:xfrm>
          <a:prstGeom prst="rect">
            <a:avLst/>
          </a:prstGeom>
        </p:spPr>
      </p:pic>
      <p:sp>
        <p:nvSpPr>
          <p:cNvPr id="2" name="Rectangle 1"/>
          <p:cNvSpPr/>
          <p:nvPr/>
        </p:nvSpPr>
        <p:spPr>
          <a:xfrm>
            <a:off x="0" y="0"/>
            <a:ext cx="12191695" cy="6858000"/>
          </a:xfrm>
          <a:solidFill>
            <a:srgbClr val="FFFFFF"/>
          </a:solidFill>
          <a:ln>
            <a:noFill/>
          </a:ln>
          <a:effectLst/>
        </p:spPr>
        <p:style>
          <a:lnRef idx="1">
            <a:schemeClr val="accent1"/>
          </a:lnRef>
          <a:fillRef idx="0">
            <a:scrgbClr r="0" g="0" b="0"/>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eco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eco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eco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eco 320"/>
          <p:cNvSpPr/>
          <p:nvPr/>
        </p:nvSpPr>
        <p:spPr>
          <a:xfrm>
            <a:off x="546100" y="2438400"/>
            <a:ext cx="5867400" cy="1244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00" name="Dg 500"/>
          <p:cNvSpPr/>
          <p:nvPr/>
        </p:nvSpPr>
        <p:spPr>
          <a:xfrm>
            <a:off x="546100" y="3860800"/>
            <a:ext cx="5867400" cy="1752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01" name="Dg 501"/>
          <p:cNvSpPr/>
          <p:nvPr/>
        </p:nvSpPr>
        <p:spPr>
          <a:xfrm>
            <a:off x="546100" y="3860800"/>
            <a:ext cx="38100" cy="1752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eco 321"/>
          <p:cNvSpPr/>
          <p:nvPr/>
        </p:nvSpPr>
        <p:spPr>
          <a:xfrm>
            <a:off x="546100" y="2438400"/>
            <a:ext cx="38100" cy="1244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検証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①②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観測との突合</a:t>
            </a:r>
          </a:p>
        </p:txBody>
      </p:sp>
      <p:sp>
        <p:nvSpPr>
          <p:cNvPr id="4" name="TextBox 3"/>
          <p:cNvSpPr txBox="1"/>
          <p:nvPr/>
        </p:nvSpPr>
        <p:spPr>
          <a:xfrm>
            <a:off x="546100" y="787400"/>
            <a:ext cx="7188200" cy="518925"/>
          </a:xfrm>
          <a:prstGeom prst="rect">
            <a:avLst/>
          </a:prstGeom>
          <a:noFill/>
        </p:spPr>
        <p:txBody>
          <a:bodyPr wrap="square">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lang="en-US" altLang="ja-JP"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2,600</a:t>
            </a: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本の線に、実測の潮流が流れている</a:t>
            </a:r>
          </a:p>
        </p:txBody>
      </p:sp>
      <p:sp>
        <p:nvSpPr>
          <p:cNvPr id="5" name="TextBox 4"/>
          <p:cNvSpPr txBox="1"/>
          <p:nvPr/>
        </p:nvSpPr>
        <p:spPr>
          <a:xfrm>
            <a:off x="546100" y="1473200"/>
            <a:ext cx="5867400" cy="838200"/>
          </a:xfrm>
          <a:prstGeom prst="rect">
            <a:avLst/>
          </a:prstGeom>
          <a:noFill/>
        </p:spPr>
        <p:txBody>
          <a:bodyPr wrap="square">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10</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社の「系統情報公表」から潮流実績</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時間値</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年</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を機械収集し、</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OSM</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由来の線形に配置。青</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実測潮流あり・太さ</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潮流</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p95</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mc:AlternateContent xmlns:mc="http://schemas.openxmlformats.org/markup-compatibility/2006" xmlns:a14="http://schemas.microsoft.com/office/drawing/2010/main">
        <mc:Choice Requires="a14">
          <p:sp>
            <p:nvSpPr>
              <p:cNvPr id="6" name="Rectangle 5"/>
              <p:cNvSpPr/>
              <p:nvPr/>
            </p:nvSpPr>
            <p:spPr>
              <a:xfrm>
                <a:off x="800100" y="2623473"/>
                <a:ext cx="5359400" cy="1016000"/>
              </a:xfrm>
              <a:ln/>
              <a:effectLst/>
            </p:spPr>
            <p:style>
              <a:lnRef idx="1">
                <a:schemeClr val="accent1"/>
              </a:lnRef>
              <a:fillRef idx="0">
                <a:scrgbClr r="0" g="0" b="0"/>
              </a:fillRef>
              <a:effectRef idx="2">
                <a:schemeClr val="accent1"/>
              </a:effectRef>
              <a:fontRef idx="minor">
                <a:schemeClr val="lt1"/>
              </a:fontRef>
            </p:style>
            <p:txBody>
              <a:bodyPr wrap="square" lIns="0" t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altLang="ja-JP" sz="1600" b="0" i="0" u="none" strike="noStrike" kern="1200" cap="none" spc="0" normalizeH="0" baseline="0" noProof="0" dirty="0">
                            <a:ln>
                              <a:noFill/>
                            </a:ln>
                            <a:solidFill>
                              <a:srgbClr val="8A2E3B"/>
                            </a:solidFill>
                            <a:effectLst/>
                            <a:uLnTx/>
                            <a:uFillTx/>
                            <a:latin typeface="Cambria Math" panose="02040503050406030204" pitchFamily="18" charset="0"/>
                            <a:cs typeface="+mn-cs"/>
                          </a:rPr>
                        </m:ctrlPr>
                      </m:fPr>
                      <m:num>
                        <m:r>
                          <m:rPr>
                            <m:sty m:val="p"/>
                          </m:rPr>
                          <a:rPr kumimoji="0" lang="en-US" altLang="ja-JP" sz="1600" b="0" i="0" u="none" strike="noStrike" kern="1200" cap="none" spc="0" normalizeH="0" baseline="0" noProof="0" dirty="0">
                            <a:ln>
                              <a:noFill/>
                            </a:ln>
                            <a:solidFill>
                              <a:srgbClr val="8A2E3B"/>
                            </a:solidFill>
                            <a:effectLst/>
                            <a:uLnTx/>
                            <a:uFillTx/>
                            <a:latin typeface="Cambria Math" panose="02040503050406030204" pitchFamily="18" charset="0"/>
                            <a:cs typeface="+mn-cs"/>
                          </a:rPr>
                          <m:t>X</m:t>
                        </m:r>
                        <m:r>
                          <a:rPr kumimoji="0" lang="en-US" altLang="ja-JP" sz="1600" b="0" i="0" u="none" strike="noStrike" kern="1200" cap="none" spc="0" normalizeH="0" baseline="0" noProof="0" dirty="0">
                            <a:ln>
                              <a:noFill/>
                            </a:ln>
                            <a:solidFill>
                              <a:srgbClr val="8A2E3B"/>
                            </a:solidFill>
                            <a:effectLst/>
                            <a:uLnTx/>
                            <a:uFillTx/>
                            <a:latin typeface="Cambria Math" panose="02040503050406030204" pitchFamily="18" charset="0"/>
                            <a:cs typeface="+mn-cs"/>
                          </a:rPr>
                          <m:t> 公表</m:t>
                        </m:r>
                      </m:num>
                      <m:den>
                        <m:r>
                          <m:rPr>
                            <m:sty m:val="p"/>
                          </m:rPr>
                          <a:rPr kumimoji="0" lang="en-US" altLang="ja-JP" sz="1600" b="0" i="0" u="none" strike="noStrike" kern="1200" cap="none" spc="0" normalizeH="0" baseline="0" noProof="0" dirty="0">
                            <a:ln>
                              <a:noFill/>
                            </a:ln>
                            <a:solidFill>
                              <a:srgbClr val="2C5F8A"/>
                            </a:solidFill>
                            <a:effectLst/>
                            <a:uLnTx/>
                            <a:uFillTx/>
                            <a:latin typeface="Cambria Math" panose="02040503050406030204" pitchFamily="18" charset="0"/>
                            <a:cs typeface="+mn-cs"/>
                          </a:rPr>
                          <m:t>X</m:t>
                        </m:r>
                        <m:r>
                          <a:rPr kumimoji="0" lang="en-US" altLang="ja-JP" sz="1600" b="0" i="0" u="none" strike="noStrike" kern="1200" cap="none" spc="0" normalizeH="0" baseline="0" noProof="0" dirty="0">
                            <a:ln>
                              <a:noFill/>
                            </a:ln>
                            <a:solidFill>
                              <a:srgbClr val="2C5F8A"/>
                            </a:solidFill>
                            <a:effectLst/>
                            <a:uLnTx/>
                            <a:uFillTx/>
                            <a:latin typeface="Cambria Math" panose="02040503050406030204" pitchFamily="18" charset="0"/>
                            <a:cs typeface="+mn-cs"/>
                          </a:rPr>
                          <m:t> モデ</m:t>
                        </m:r>
                        <m:r>
                          <a:rPr kumimoji="0" lang="ja-JP" altLang="en-US" sz="1600" b="0" i="0" u="none" strike="noStrike" kern="1200" cap="none" spc="0" normalizeH="0" baseline="0" noProof="0" dirty="0">
                            <a:ln>
                              <a:noFill/>
                            </a:ln>
                            <a:solidFill>
                              <a:srgbClr val="2C5F8A"/>
                            </a:solidFill>
                            <a:effectLst/>
                            <a:uLnTx/>
                            <a:uFillTx/>
                            <a:latin typeface="Cambria Math" panose="02040503050406030204" pitchFamily="18" charset="0"/>
                            <a:cs typeface="+mn-cs"/>
                          </a:rPr>
                          <m:t>ル</m:t>
                        </m:r>
                      </m:den>
                    </m:f>
                  </m:oMath>
                </a14:m>
                <a:r>
                  <a:rPr kumimoji="0" lang="ja-JP" altLang="en-US"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の中央値 </a:t>
                </a:r>
                <a:r>
                  <a:rPr kumimoji="0" lang="en-US" altLang="ja-JP" sz="1600" b="0"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 </a:t>
                </a:r>
                <a:r>
                  <a:rPr kumimoji="0" lang="en-US" sz="2000" b="1" i="0" u="none" strike="noStrike" kern="1200" cap="none" spc="0" normalizeH="0" baseline="0" noProof="0" dirty="0">
                    <a:ln>
                      <a:noFill/>
                    </a:ln>
                    <a:solidFill>
                      <a:srgbClr val="1A2744"/>
                    </a:solidFill>
                    <a:effectLst/>
                    <a:uLnTx/>
                    <a:uFillTx/>
                    <a:latin typeface="Calibri"/>
                    <a:ea typeface="+mn-ea"/>
                    <a:cs typeface="+mn-cs"/>
                  </a:rPr>
                  <a:t>1.22       </a:t>
                </a:r>
                <a:r>
                  <a:rPr kumimoji="0" lang="en-US" sz="1400" b="0" i="0" u="none" strike="noStrike" kern="1200" cap="none" spc="0" normalizeH="0" baseline="0" noProof="0" dirty="0">
                    <a:ln>
                      <a:noFill/>
                    </a:ln>
                    <a:solidFill>
                      <a:srgbClr val="1A2744"/>
                    </a:solidFill>
                    <a:effectLst/>
                    <a:uLnTx/>
                    <a:uFillTx/>
                    <a:latin typeface="Calibri"/>
                    <a:ea typeface="+mn-ea"/>
                    <a:cs typeface="+mn-cs"/>
                  </a:rPr>
                  <a:t>(404本の線路で検証)</a:t>
                </a:r>
                <a:endParaRPr kumimoji="0" lang="en-US" sz="2000" b="0" i="0" u="none" strike="noStrike" kern="1200" cap="none" spc="0" normalizeH="0" baseline="0" noProof="0" dirty="0">
                  <a:ln>
                    <a:noFill/>
                  </a:ln>
                  <a:solidFill>
                    <a:srgbClr val="1A2744"/>
                  </a:solidFill>
                  <a:effectLst/>
                  <a:uLnTx/>
                  <a:uFillTx/>
                  <a:latin typeface="Calibri"/>
                  <a:ea typeface="+mn-ea"/>
                  <a:cs typeface="+mn-cs"/>
                </a:endParaRPr>
              </a:p>
              <a:p>
                <a:pPr marL="0" marR="0" lvl="0" indent="0" algn="l" defTabSz="457200" rtl="0" eaLnBrk="1" fontAlgn="auto" latinLnBrk="0" hangingPunct="1">
                  <a:lnSpc>
                    <a:spcPct val="130000"/>
                  </a:lnSpc>
                  <a:spcBef>
                    <a:spcPts val="50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弦は実長の下限なので比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&gt; 1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が自然</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(1.2〜1.4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迂回率</a:t>
                </a:r>
                <a:r>
                  <a:rPr kumimoji="0" lang="en-US" altLang="ja-JP" sz="14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 </a:t>
                </a:r>
                <a:endPar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mc:Choice>
        <mc:Fallback xmlns="">
          <p:sp>
            <p:nvSpPr>
              <p:cNvPr id="6" name="Rectangle 5"/>
              <p:cNvSpPr>
                <a:spLocks noRot="1" noChangeAspect="1" noMove="1" noResize="1" noEditPoints="1" noAdjustHandles="1" noChangeArrowheads="1" noChangeShapeType="1" noTextEdit="1"/>
              </p:cNvSpPr>
              <p:nvPr/>
            </p:nvSpPr>
            <p:spPr>
              <a:xfrm>
                <a:off x="800100" y="2623473"/>
                <a:ext cx="5359400" cy="1016000"/>
              </a:xfrm>
              <a:blipFill>
                <a:blip r:embed="rId3"/>
                <a:stretch>
                  <a:fillRect/>
                </a:stretch>
              </a:blipFill>
              <a:ln/>
              <a:effectLst/>
            </p:spPr>
            <p:txBody>
              <a:bodyPr/>
              <a:lstStyle/>
              <a:p>
                <a:r>
                  <a:rPr lang="ja-JP" altLang="en-US">
                    <a:noFill/>
                  </a:rPr>
                  <a:t> </a:t>
                </a:r>
              </a:p>
            </p:txBody>
          </p:sp>
        </mc:Fallback>
      </mc:AlternateContent>
      <p:sp>
        <p:nvSpPr>
          <p:cNvPr id="9" name="TextBox 8"/>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04 / 15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観測</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=observed</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層として</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derived(</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解析値</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と分離管理</a:t>
            </a:r>
          </a:p>
        </p:txBody>
      </p:sp>
      <p:sp>
        <p:nvSpPr>
          <p:cNvPr id="400" name="Caption 400"/>
          <p:cNvSpPr txBox="1"/>
          <p:nvPr/>
        </p:nvSpPr>
        <p:spPr>
          <a:xfrm>
            <a:off x="7912100" y="5765800"/>
            <a:ext cx="4114800" cy="2794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青</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実測潮流あり</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全国</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2,629</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本</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・線の太さ</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潮流</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p95</a:t>
            </a:r>
          </a:p>
        </p:txBody>
      </p:sp>
      <p:sp>
        <p:nvSpPr>
          <p:cNvPr id="11" name="テキスト ボックス 10">
            <a:extLst>
              <a:ext uri="{FF2B5EF4-FFF2-40B4-BE49-F238E27FC236}">
                <a16:creationId xmlns:a16="http://schemas.microsoft.com/office/drawing/2014/main" id="{64C5B0EB-2788-C31E-C00A-60A69E519702}"/>
              </a:ext>
            </a:extLst>
          </p:cNvPr>
          <p:cNvSpPr txBox="1"/>
          <p:nvPr/>
        </p:nvSpPr>
        <p:spPr>
          <a:xfrm>
            <a:off x="800100" y="4013200"/>
            <a:ext cx="5359400" cy="1473200"/>
          </a:xfrm>
          <a:prstGeom prst="rect">
            <a:avLst/>
          </a:prstGeom>
          <a:noFill/>
        </p:spPr>
        <p:txBody>
          <a:bodyPr wrap="square" lIns="0" tIns="0" bIns="0">
            <a:spAutoFit/>
          </a:bodyPr>
          <a:lstStyle/>
          <a:p>
            <a:pPr marL="160000" marR="0" lvl="0" indent="-160000" algn="l" defTabSz="457200" rtl="0" eaLnBrk="1" fontAlgn="auto" latinLnBrk="0" hangingPunct="1">
              <a:lnSpc>
                <a:spcPct val="128000"/>
              </a:lnSpc>
              <a:spcBef>
                <a:spcPts val="0"/>
              </a:spcBef>
              <a:spcAft>
                <a:spcPts val="400"/>
              </a:spcAft>
              <a:buClrTx/>
              <a:buSzTx/>
              <a:buFont typeface="Arial"/>
              <a:buChar char="•"/>
              <a:tabLst/>
              <a:defRPr/>
            </a:pP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X</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公表</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各社の系統情報公表</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様式</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5)</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の線路リアクタンス生値</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(data/external</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・非公開保持</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a:p>
            <a:pPr marL="160000" marR="0" lvl="0" indent="-160000" algn="l" defTabSz="457200" rtl="0" eaLnBrk="1" fontAlgn="auto" latinLnBrk="0" hangingPunct="1">
              <a:lnSpc>
                <a:spcPct val="128000"/>
              </a:lnSpc>
              <a:spcBef>
                <a:spcPts val="0"/>
              </a:spcBef>
              <a:spcAft>
                <a:spcPts val="400"/>
              </a:spcAft>
              <a:buClrTx/>
              <a:buSzTx/>
              <a:buFont typeface="Arial"/>
              <a:buChar char="•"/>
              <a:tabLst/>
              <a:defRPr/>
            </a:pP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X</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モデル</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公表値を使わず算出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幾何長</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(OSM</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弦距離</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電圧階級別の標準線路定数</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(Ω/km)</a:t>
            </a:r>
          </a:p>
          <a:p>
            <a:pPr marL="160000" marR="0" lvl="0" indent="-160000" algn="l" defTabSz="457200" rtl="0" eaLnBrk="1" fontAlgn="auto" latinLnBrk="0" hangingPunct="1">
              <a:lnSpc>
                <a:spcPct val="128000"/>
              </a:lnSpc>
              <a:spcBef>
                <a:spcPts val="0"/>
              </a:spcBef>
              <a:spcAft>
                <a:spcPts val="40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線名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crosswalk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で両者を突合</a:t>
            </a:r>
          </a:p>
        </p:txBody>
      </p:sp>
      <p:sp>
        <p:nvSpPr>
          <p:cNvPr id="502" name="Dg 502"/>
          <p:cNvSpPr/>
          <p:nvPr/>
        </p:nvSpPr>
        <p:spPr>
          <a:xfrm>
            <a:off x="546100" y="5740400"/>
            <a:ext cx="38100" cy="330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03" name="TB 503"/>
          <p:cNvSpPr txBox="1"/>
          <p:nvPr/>
        </p:nvSpPr>
        <p:spPr>
          <a:xfrm>
            <a:off x="723900" y="5740400"/>
            <a:ext cx="5689600" cy="330200"/>
          </a:xfrm>
          <a:prstGeom prst="rect">
            <a:avLst/>
          </a:prstGeom>
          <a:noFill/>
        </p:spPr>
        <p:txBody>
          <a:bodyPr wrap="square" lIns="0" tIns="0" bIns="0"/>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中部はローカル</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77kV</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まで実名公表と判明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誤認を訂正して収容。</a:t>
            </a:r>
          </a:p>
        </p:txBody>
      </p:sp>
    </p:spTree>
    <p:extLst>
      <p:ext uri="{BB962C8B-B14F-4D97-AF65-F5344CB8AC3E}">
        <p14:creationId xmlns:p14="http://schemas.microsoft.com/office/powerpoint/2010/main" val="1084440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339F-333C-1B67-505F-114200D9A6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9CB874-C06C-851D-7933-0FE364AC82B6}"/>
              </a:ext>
            </a:extLst>
          </p:cNvPr>
          <p:cNvSpPr/>
          <p:nvPr/>
        </p:nvSpPr>
        <p:spPr>
          <a:xfrm>
            <a:off x="0" y="0"/>
            <a:ext cx="12192000"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a:extLst>
              <a:ext uri="{FF2B5EF4-FFF2-40B4-BE49-F238E27FC236}">
                <a16:creationId xmlns:a16="http://schemas.microsoft.com/office/drawing/2014/main" id="{4FDF7014-9A80-8DB7-2443-EDD8DB06E405}"/>
              </a:ext>
            </a:extLst>
          </p:cNvPr>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a:extLst>
              <a:ext uri="{FF2B5EF4-FFF2-40B4-BE49-F238E27FC236}">
                <a16:creationId xmlns:a16="http://schemas.microsoft.com/office/drawing/2014/main" id="{CF0B9C83-A6E2-0520-D57A-4B5AD70BD9BB}"/>
              </a:ext>
            </a:extLst>
          </p:cNvPr>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a:extLst>
              <a:ext uri="{FF2B5EF4-FFF2-40B4-BE49-F238E27FC236}">
                <a16:creationId xmlns:a16="http://schemas.microsoft.com/office/drawing/2014/main" id="{F6CCA629-EC90-A843-15E5-5EB8DAA7A66A}"/>
              </a:ext>
            </a:extLst>
          </p:cNvPr>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0" name="Dg 390">
            <a:extLst>
              <a:ext uri="{FF2B5EF4-FFF2-40B4-BE49-F238E27FC236}">
                <a16:creationId xmlns:a16="http://schemas.microsoft.com/office/drawing/2014/main" id="{42160730-6470-AF40-FB42-5634BE58EF9F}"/>
              </a:ext>
            </a:extLst>
          </p:cNvPr>
          <p:cNvSpPr/>
          <p:nvPr/>
        </p:nvSpPr>
        <p:spPr>
          <a:xfrm>
            <a:off x="546100" y="5207000"/>
            <a:ext cx="11099800" cy="584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1" name="Dg 391">
            <a:extLst>
              <a:ext uri="{FF2B5EF4-FFF2-40B4-BE49-F238E27FC236}">
                <a16:creationId xmlns:a16="http://schemas.microsoft.com/office/drawing/2014/main" id="{D6103790-12B7-0200-EED2-7E28505C28B7}"/>
              </a:ext>
            </a:extLst>
          </p:cNvPr>
          <p:cNvSpPr/>
          <p:nvPr/>
        </p:nvSpPr>
        <p:spPr>
          <a:xfrm>
            <a:off x="546100" y="5207000"/>
            <a:ext cx="50800" cy="584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a:extLst>
              <a:ext uri="{FF2B5EF4-FFF2-40B4-BE49-F238E27FC236}">
                <a16:creationId xmlns:a16="http://schemas.microsoft.com/office/drawing/2014/main" id="{40BC056E-2CE7-0095-AD6B-2BB73E802DD2}"/>
              </a:ext>
            </a:extLst>
          </p:cNvPr>
          <p:cNvSpPr/>
          <p:nvPr/>
        </p:nvSpPr>
        <p:spPr>
          <a:xfrm>
            <a:off x="5461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a:extLst>
              <a:ext uri="{FF2B5EF4-FFF2-40B4-BE49-F238E27FC236}">
                <a16:creationId xmlns:a16="http://schemas.microsoft.com/office/drawing/2014/main" id="{F2F2E44B-8C6E-BD84-0445-26C12EB2905B}"/>
              </a:ext>
            </a:extLst>
          </p:cNvPr>
          <p:cNvSpPr/>
          <p:nvPr/>
        </p:nvSpPr>
        <p:spPr>
          <a:xfrm>
            <a:off x="34163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a:extLst>
              <a:ext uri="{FF2B5EF4-FFF2-40B4-BE49-F238E27FC236}">
                <a16:creationId xmlns:a16="http://schemas.microsoft.com/office/drawing/2014/main" id="{0B76B91E-F667-5448-FA8C-F3015B57BB95}"/>
              </a:ext>
            </a:extLst>
          </p:cNvPr>
          <p:cNvSpPr/>
          <p:nvPr/>
        </p:nvSpPr>
        <p:spPr>
          <a:xfrm>
            <a:off x="62865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a:extLst>
              <a:ext uri="{FF2B5EF4-FFF2-40B4-BE49-F238E27FC236}">
                <a16:creationId xmlns:a16="http://schemas.microsoft.com/office/drawing/2014/main" id="{4B87EFAC-364A-F6C9-99A5-6C277D2C3C1D}"/>
              </a:ext>
            </a:extLst>
          </p:cNvPr>
          <p:cNvSpPr/>
          <p:nvPr/>
        </p:nvSpPr>
        <p:spPr>
          <a:xfrm>
            <a:off x="91567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a:extLst>
              <a:ext uri="{FF2B5EF4-FFF2-40B4-BE49-F238E27FC236}">
                <a16:creationId xmlns:a16="http://schemas.microsoft.com/office/drawing/2014/main" id="{B464685E-34A7-2324-C1F0-706BD3CAC427}"/>
              </a:ext>
            </a:extLst>
          </p:cNvPr>
          <p:cNvSpPr/>
          <p:nvPr/>
        </p:nvSpPr>
        <p:spPr>
          <a:xfrm>
            <a:off x="5461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a:extLst>
              <a:ext uri="{FF2B5EF4-FFF2-40B4-BE49-F238E27FC236}">
                <a16:creationId xmlns:a16="http://schemas.microsoft.com/office/drawing/2014/main" id="{CA1394CD-6267-D2DB-8F9D-DEA4350824A0}"/>
              </a:ext>
            </a:extLst>
          </p:cNvPr>
          <p:cNvSpPr/>
          <p:nvPr/>
        </p:nvSpPr>
        <p:spPr>
          <a:xfrm>
            <a:off x="34163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a:extLst>
              <a:ext uri="{FF2B5EF4-FFF2-40B4-BE49-F238E27FC236}">
                <a16:creationId xmlns:a16="http://schemas.microsoft.com/office/drawing/2014/main" id="{43D009B1-0BE2-3DE4-3A38-02E26D83E405}"/>
              </a:ext>
            </a:extLst>
          </p:cNvPr>
          <p:cNvSpPr/>
          <p:nvPr/>
        </p:nvSpPr>
        <p:spPr>
          <a:xfrm>
            <a:off x="62865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Dg 323">
            <a:extLst>
              <a:ext uri="{FF2B5EF4-FFF2-40B4-BE49-F238E27FC236}">
                <a16:creationId xmlns:a16="http://schemas.microsoft.com/office/drawing/2014/main" id="{987A7BD0-99FF-B171-9577-AF16B2EBFFF2}"/>
              </a:ext>
            </a:extLst>
          </p:cNvPr>
          <p:cNvSpPr/>
          <p:nvPr/>
        </p:nvSpPr>
        <p:spPr>
          <a:xfrm>
            <a:off x="91567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E2542588-0925-6E83-E7A4-0543421D1FCA}"/>
              </a:ext>
            </a:extLst>
          </p:cNvPr>
          <p:cNvSpPr txBox="1"/>
          <p:nvPr/>
        </p:nvSpPr>
        <p:spPr>
          <a:xfrm>
            <a:off x="546100" y="279400"/>
            <a:ext cx="11099800" cy="3048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まとめ ｜ 検証の階段</a:t>
            </a:r>
          </a:p>
        </p:txBody>
      </p:sp>
      <p:sp>
        <p:nvSpPr>
          <p:cNvPr id="4" name="TextBox 3">
            <a:extLst>
              <a:ext uri="{FF2B5EF4-FFF2-40B4-BE49-F238E27FC236}">
                <a16:creationId xmlns:a16="http://schemas.microsoft.com/office/drawing/2014/main" id="{7E498AFC-B073-48E0-82B8-590B2DDF4407}"/>
              </a:ext>
            </a:extLst>
          </p:cNvPr>
          <p:cNvSpPr txBox="1"/>
          <p:nvPr/>
        </p:nvSpPr>
        <p:spPr>
          <a:xfrm>
            <a:off x="546100" y="838200"/>
            <a:ext cx="11099800" cy="7514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Y</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行列 → 潮流 → 強さ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 揺れ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実測</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(PMU)</a:t>
            </a:r>
          </a:p>
          <a:p>
            <a:pPr marL="0" marR="0" lvl="0" indent="0" algn="l" defTabSz="457200" rtl="0" eaLnBrk="1" fontAlgn="auto" latinLnBrk="0" hangingPunct="1">
              <a:lnSpc>
                <a:spcPct val="100000"/>
              </a:lnSpc>
              <a:spcBef>
                <a:spcPts val="70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下の層の検証が、上の層の解析を可能にする階段。</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EC809AA-2D65-F117-D595-233F6992C183}"/>
                  </a:ext>
                </a:extLst>
              </p:cNvPr>
              <p:cNvSpPr txBox="1"/>
              <p:nvPr/>
            </p:nvSpPr>
            <p:spPr>
              <a:xfrm>
                <a:off x="7493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𝐼</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𝑌</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𝑉</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5" name="TextBox 4">
                <a:extLst>
                  <a:ext uri="{FF2B5EF4-FFF2-40B4-BE49-F238E27FC236}">
                    <a16:creationId xmlns:a16="http://schemas.microsoft.com/office/drawing/2014/main" id="{7EC809AA-2D65-F117-D595-233F6992C183}"/>
                  </a:ext>
                </a:extLst>
              </p:cNvPr>
              <p:cNvSpPr txBox="1">
                <a:spLocks noRot="1" noChangeAspect="1" noMove="1" noResize="1" noEditPoints="1" noAdjustHandles="1" noChangeArrowheads="1" noChangeShapeType="1" noTextEdit="1"/>
              </p:cNvSpPr>
              <p:nvPr/>
            </p:nvSpPr>
            <p:spPr>
              <a:xfrm>
                <a:off x="749300" y="3835400"/>
                <a:ext cx="2082800" cy="381000"/>
              </a:xfrm>
              <a:prstGeom prst="rect">
                <a:avLst/>
              </a:prstGeom>
              <a:blipFill>
                <a:blip r:embed="rId2"/>
                <a:stretch>
                  <a:fillRect l="-3636" t="-3125"/>
                </a:stretch>
              </a:blipFill>
            </p:spPr>
            <p:txBody>
              <a:bodyPr/>
              <a:lstStyle/>
              <a:p>
                <a:r>
                  <a:rPr lang="ja-JP" altLang="en-US">
                    <a:noFill/>
                  </a:rPr>
                  <a:t> </a:t>
                </a:r>
              </a:p>
            </p:txBody>
          </p:sp>
        </mc:Fallback>
      </mc:AlternateContent>
      <p:sp>
        <p:nvSpPr>
          <p:cNvPr id="6" name="TextBox 5">
            <a:extLst>
              <a:ext uri="{FF2B5EF4-FFF2-40B4-BE49-F238E27FC236}">
                <a16:creationId xmlns:a16="http://schemas.microsoft.com/office/drawing/2014/main" id="{F63A3514-04E0-B561-98CC-1B9DBC154186}"/>
              </a:ext>
            </a:extLst>
          </p:cNvPr>
          <p:cNvSpPr txBox="1"/>
          <p:nvPr/>
        </p:nvSpPr>
        <p:spPr>
          <a:xfrm>
            <a:off x="7493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土台</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公表</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R/X</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と整合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1.22</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6AD2587-E41E-3FF5-53E9-A7F023973EB3}"/>
                  </a:ext>
                </a:extLst>
              </p:cNvPr>
              <p:cNvSpPr txBox="1"/>
              <p:nvPr/>
            </p:nvSpPr>
            <p:spPr>
              <a:xfrm>
                <a:off x="36195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p>
                            <m:sSup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𝑌</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𝑖𝑖</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7" name="TextBox 6">
                <a:extLst>
                  <a:ext uri="{FF2B5EF4-FFF2-40B4-BE49-F238E27FC236}">
                    <a16:creationId xmlns:a16="http://schemas.microsoft.com/office/drawing/2014/main" id="{86AD2587-E41E-3FF5-53E9-A7F023973EB3}"/>
                  </a:ext>
                </a:extLst>
              </p:cNvPr>
              <p:cNvSpPr txBox="1">
                <a:spLocks noRot="1" noChangeAspect="1" noMove="1" noResize="1" noEditPoints="1" noAdjustHandles="1" noChangeArrowheads="1" noChangeShapeType="1" noTextEdit="1"/>
              </p:cNvSpPr>
              <p:nvPr/>
            </p:nvSpPr>
            <p:spPr>
              <a:xfrm>
                <a:off x="3619500" y="3835400"/>
                <a:ext cx="2082800" cy="381000"/>
              </a:xfrm>
              <a:prstGeom prst="rect">
                <a:avLst/>
              </a:prstGeom>
              <a:blipFill>
                <a:blip r:embed="rId3"/>
                <a:stretch>
                  <a:fillRect l="-3659" t="-3125"/>
                </a:stretch>
              </a:blipFill>
            </p:spPr>
            <p:txBody>
              <a:bodyPr/>
              <a:lstStyle/>
              <a:p>
                <a:r>
                  <a:rPr lang="ja-JP" altLang="en-US">
                    <a:noFill/>
                  </a:rPr>
                  <a:t> </a:t>
                </a:r>
              </a:p>
            </p:txBody>
          </p:sp>
        </mc:Fallback>
      </mc:AlternateContent>
      <p:sp>
        <p:nvSpPr>
          <p:cNvPr id="8" name="TextBox 7">
            <a:extLst>
              <a:ext uri="{FF2B5EF4-FFF2-40B4-BE49-F238E27FC236}">
                <a16:creationId xmlns:a16="http://schemas.microsoft.com/office/drawing/2014/main" id="{4A997F2C-86E3-BD9F-4844-03551BFFDDB4}"/>
              </a:ext>
            </a:extLst>
          </p:cNvPr>
          <p:cNvSpPr txBox="1"/>
          <p:nvPr/>
        </p:nvSpPr>
        <p:spPr>
          <a:xfrm>
            <a:off x="36195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強さの地図</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物理帯に整合</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3FC19CE-3E21-B116-C25F-7461A42A6041}"/>
                  </a:ext>
                </a:extLst>
              </p:cNvPr>
              <p:cNvSpPr txBox="1"/>
              <p:nvPr/>
            </p:nvSpPr>
            <p:spPr>
              <a:xfrm>
                <a:off x="64897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p>
                        <m:sSup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𝑀</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𝐾</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 name="TextBox 8">
                <a:extLst>
                  <a:ext uri="{FF2B5EF4-FFF2-40B4-BE49-F238E27FC236}">
                    <a16:creationId xmlns:a16="http://schemas.microsoft.com/office/drawing/2014/main" id="{73FC19CE-3E21-B116-C25F-7461A42A6041}"/>
                  </a:ext>
                </a:extLst>
              </p:cNvPr>
              <p:cNvSpPr txBox="1">
                <a:spLocks noRot="1" noChangeAspect="1" noMove="1" noResize="1" noEditPoints="1" noAdjustHandles="1" noChangeArrowheads="1" noChangeShapeType="1" noTextEdit="1"/>
              </p:cNvSpPr>
              <p:nvPr/>
            </p:nvSpPr>
            <p:spPr>
              <a:xfrm>
                <a:off x="6489700" y="3835400"/>
                <a:ext cx="2082800" cy="381000"/>
              </a:xfrm>
              <a:prstGeom prst="rect">
                <a:avLst/>
              </a:prstGeom>
              <a:blipFill>
                <a:blip r:embed="rId4"/>
                <a:stretch>
                  <a:fillRect l="-3659"/>
                </a:stretch>
              </a:blipFill>
            </p:spPr>
            <p:txBody>
              <a:bodyPr/>
              <a:lstStyle/>
              <a:p>
                <a:r>
                  <a:rPr lang="ja-JP" altLang="en-US">
                    <a:noFill/>
                  </a:rPr>
                  <a:t> </a:t>
                </a:r>
              </a:p>
            </p:txBody>
          </p:sp>
        </mc:Fallback>
      </mc:AlternateContent>
      <p:sp>
        <p:nvSpPr>
          <p:cNvPr id="10" name="TextBox 9">
            <a:extLst>
              <a:ext uri="{FF2B5EF4-FFF2-40B4-BE49-F238E27FC236}">
                <a16:creationId xmlns:a16="http://schemas.microsoft.com/office/drawing/2014/main" id="{A87FB5BD-132D-FC1B-5981-A2F42E77E88B}"/>
              </a:ext>
            </a:extLst>
          </p:cNvPr>
          <p:cNvSpPr txBox="1"/>
          <p:nvPr/>
        </p:nvSpPr>
        <p:spPr>
          <a:xfrm>
            <a:off x="64897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揺れのモード</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文献</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0.4Hz</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を再現</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C97F779-4E34-5933-5492-2BFC05AE6B64}"/>
                  </a:ext>
                </a:extLst>
              </p:cNvPr>
              <p:cNvSpPr txBox="1"/>
              <p:nvPr/>
            </p:nvSpPr>
            <p:spPr>
              <a:xfrm>
                <a:off x="93599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𝑔𝑟𝑖𝑑</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𝑖𝑛𝑣</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11" name="TextBox 10">
                <a:extLst>
                  <a:ext uri="{FF2B5EF4-FFF2-40B4-BE49-F238E27FC236}">
                    <a16:creationId xmlns:a16="http://schemas.microsoft.com/office/drawing/2014/main" id="{4C97F779-4E34-5933-5492-2BFC05AE6B64}"/>
                  </a:ext>
                </a:extLst>
              </p:cNvPr>
              <p:cNvSpPr txBox="1">
                <a:spLocks noRot="1" noChangeAspect="1" noMove="1" noResize="1" noEditPoints="1" noAdjustHandles="1" noChangeArrowheads="1" noChangeShapeType="1" noTextEdit="1"/>
              </p:cNvSpPr>
              <p:nvPr/>
            </p:nvSpPr>
            <p:spPr>
              <a:xfrm>
                <a:off x="9359900" y="3835400"/>
                <a:ext cx="2082800" cy="381000"/>
              </a:xfrm>
              <a:prstGeom prst="rect">
                <a:avLst/>
              </a:prstGeom>
              <a:blipFill>
                <a:blip r:embed="rId5"/>
                <a:stretch>
                  <a:fillRect l="-3030"/>
                </a:stretch>
              </a:blipFill>
            </p:spPr>
            <p:txBody>
              <a:bodyPr/>
              <a:lstStyle/>
              <a:p>
                <a:r>
                  <a:rPr lang="ja-JP" altLang="en-US">
                    <a:noFill/>
                  </a:rPr>
                  <a:t> </a:t>
                </a:r>
              </a:p>
            </p:txBody>
          </p:sp>
        </mc:Fallback>
      </mc:AlternateContent>
      <p:sp>
        <p:nvSpPr>
          <p:cNvPr id="12" name="TextBox 11">
            <a:extLst>
              <a:ext uri="{FF2B5EF4-FFF2-40B4-BE49-F238E27FC236}">
                <a16:creationId xmlns:a16="http://schemas.microsoft.com/office/drawing/2014/main" id="{5D24EC08-3264-3031-426A-46EE1A6BB7C5}"/>
              </a:ext>
            </a:extLst>
          </p:cNvPr>
          <p:cNvSpPr txBox="1"/>
          <p:nvPr/>
        </p:nvSpPr>
        <p:spPr>
          <a:xfrm>
            <a:off x="93599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次の一手</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IBR</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安定性の判定</a:t>
            </a:r>
          </a:p>
        </p:txBody>
      </p:sp>
      <p:sp>
        <p:nvSpPr>
          <p:cNvPr id="13" name="TextBox 12">
            <a:extLst>
              <a:ext uri="{FF2B5EF4-FFF2-40B4-BE49-F238E27FC236}">
                <a16:creationId xmlns:a16="http://schemas.microsoft.com/office/drawing/2014/main" id="{1C971D2F-F16F-915E-FD64-F78D1B687D16}"/>
              </a:ext>
            </a:extLst>
          </p:cNvPr>
          <p:cNvSpPr txBox="1"/>
          <p:nvPr/>
        </p:nvSpPr>
        <p:spPr>
          <a:xfrm>
            <a:off x="800100" y="5359400"/>
            <a:ext cx="10591800"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github.com/lutelute/All-Japan-Grid — </a:t>
            </a: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出典付き・帳簿駆動・全再現可能</a:t>
            </a:r>
          </a:p>
        </p:txBody>
      </p:sp>
      <p:sp>
        <p:nvSpPr>
          <p:cNvPr id="14" name="TextBox 13">
            <a:extLst>
              <a:ext uri="{FF2B5EF4-FFF2-40B4-BE49-F238E27FC236}">
                <a16:creationId xmlns:a16="http://schemas.microsoft.com/office/drawing/2014/main" id="{AE57EFC8-6E7C-B3DE-DD51-80AF71A9A0D5}"/>
              </a:ext>
            </a:extLst>
          </p:cNvPr>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15 / 15   All-Japan-Grid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動的検証キャンペーン </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2026-08</a:t>
            </a:r>
          </a:p>
        </p:txBody>
      </p:sp>
      <p:sp>
        <p:nvSpPr>
          <p:cNvPr id="870" name="Num 870">
            <a:extLst>
              <a:ext uri="{FF2B5EF4-FFF2-40B4-BE49-F238E27FC236}">
                <a16:creationId xmlns:a16="http://schemas.microsoft.com/office/drawing/2014/main" id="{69830512-3AB9-93BD-B9C9-3D10B007B7F5}"/>
              </a:ext>
            </a:extLst>
          </p:cNvPr>
          <p:cNvSpPr/>
          <p:nvPr/>
        </p:nvSpPr>
        <p:spPr>
          <a:xfrm>
            <a:off x="7493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1</a:t>
            </a:r>
          </a:p>
        </p:txBody>
      </p:sp>
      <p:sp>
        <p:nvSpPr>
          <p:cNvPr id="871" name="Num 871">
            <a:extLst>
              <a:ext uri="{FF2B5EF4-FFF2-40B4-BE49-F238E27FC236}">
                <a16:creationId xmlns:a16="http://schemas.microsoft.com/office/drawing/2014/main" id="{96ECF39C-0430-2F2D-634B-7245A14BD7D3}"/>
              </a:ext>
            </a:extLst>
          </p:cNvPr>
          <p:cNvSpPr/>
          <p:nvPr/>
        </p:nvSpPr>
        <p:spPr>
          <a:xfrm>
            <a:off x="36195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2</a:t>
            </a:r>
          </a:p>
        </p:txBody>
      </p:sp>
      <p:sp>
        <p:nvSpPr>
          <p:cNvPr id="872" name="Num 872">
            <a:extLst>
              <a:ext uri="{FF2B5EF4-FFF2-40B4-BE49-F238E27FC236}">
                <a16:creationId xmlns:a16="http://schemas.microsoft.com/office/drawing/2014/main" id="{1ED0A9FD-7A69-449B-C5CD-A3CB5C64254E}"/>
              </a:ext>
            </a:extLst>
          </p:cNvPr>
          <p:cNvSpPr/>
          <p:nvPr/>
        </p:nvSpPr>
        <p:spPr>
          <a:xfrm>
            <a:off x="64897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3</a:t>
            </a:r>
          </a:p>
        </p:txBody>
      </p:sp>
      <p:sp>
        <p:nvSpPr>
          <p:cNvPr id="873" name="Num 873">
            <a:extLst>
              <a:ext uri="{FF2B5EF4-FFF2-40B4-BE49-F238E27FC236}">
                <a16:creationId xmlns:a16="http://schemas.microsoft.com/office/drawing/2014/main" id="{6F467A09-FAED-2FED-3B44-5C5B6ECB33E7}"/>
              </a:ext>
            </a:extLst>
          </p:cNvPr>
          <p:cNvSpPr/>
          <p:nvPr/>
        </p:nvSpPr>
        <p:spPr>
          <a:xfrm>
            <a:off x="93599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4</a:t>
            </a:r>
          </a:p>
        </p:txBody>
      </p:sp>
      <p:sp>
        <p:nvSpPr>
          <p:cNvPr id="950" name="Mini 951">
            <a:extLst>
              <a:ext uri="{FF2B5EF4-FFF2-40B4-BE49-F238E27FC236}">
                <a16:creationId xmlns:a16="http://schemas.microsoft.com/office/drawing/2014/main" id="{3BFA98FE-4E34-5AA2-F0B0-2635829B14AE}"/>
              </a:ext>
            </a:extLst>
          </p:cNvPr>
          <p:cNvSpPr/>
          <p:nvPr/>
        </p:nvSpPr>
        <p:spPr>
          <a:xfrm flipV="1">
            <a:off x="927100" y="3048000"/>
            <a:ext cx="685800" cy="152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1" name="Mini 952">
            <a:extLst>
              <a:ext uri="{FF2B5EF4-FFF2-40B4-BE49-F238E27FC236}">
                <a16:creationId xmlns:a16="http://schemas.microsoft.com/office/drawing/2014/main" id="{DBFBAC94-36C6-AE58-6E77-9F430895D0BE}"/>
              </a:ext>
            </a:extLst>
          </p:cNvPr>
          <p:cNvSpPr/>
          <p:nvPr/>
        </p:nvSpPr>
        <p:spPr>
          <a:xfrm>
            <a:off x="927100" y="3200400"/>
            <a:ext cx="685800" cy="406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2" name="Mini 953">
            <a:extLst>
              <a:ext uri="{FF2B5EF4-FFF2-40B4-BE49-F238E27FC236}">
                <a16:creationId xmlns:a16="http://schemas.microsoft.com/office/drawing/2014/main" id="{49BA8FA3-5747-564A-31CE-37383DCA3238}"/>
              </a:ext>
            </a:extLst>
          </p:cNvPr>
          <p:cNvSpPr/>
          <p:nvPr/>
        </p:nvSpPr>
        <p:spPr>
          <a:xfrm>
            <a:off x="1612900" y="3048000"/>
            <a:ext cx="0" cy="5588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3" name="Mini 954">
            <a:extLst>
              <a:ext uri="{FF2B5EF4-FFF2-40B4-BE49-F238E27FC236}">
                <a16:creationId xmlns:a16="http://schemas.microsoft.com/office/drawing/2014/main" id="{46156646-9F4B-E60E-4C37-EF7BB9D3053F}"/>
              </a:ext>
            </a:extLst>
          </p:cNvPr>
          <p:cNvSpPr/>
          <p:nvPr/>
        </p:nvSpPr>
        <p:spPr>
          <a:xfrm>
            <a:off x="1612900" y="3048000"/>
            <a:ext cx="787400" cy="279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4" name="Mini 955">
            <a:extLst>
              <a:ext uri="{FF2B5EF4-FFF2-40B4-BE49-F238E27FC236}">
                <a16:creationId xmlns:a16="http://schemas.microsoft.com/office/drawing/2014/main" id="{E6CA5E5E-EBB7-5C57-6ADF-12F8F0B7491B}"/>
              </a:ext>
            </a:extLst>
          </p:cNvPr>
          <p:cNvSpPr/>
          <p:nvPr/>
        </p:nvSpPr>
        <p:spPr>
          <a:xfrm flipV="1">
            <a:off x="1612900" y="3327400"/>
            <a:ext cx="787400" cy="279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5" name="Mini 956">
            <a:extLst>
              <a:ext uri="{FF2B5EF4-FFF2-40B4-BE49-F238E27FC236}">
                <a16:creationId xmlns:a16="http://schemas.microsoft.com/office/drawing/2014/main" id="{AA55CB5E-B9AA-9CD2-6620-5C90A421B193}"/>
              </a:ext>
            </a:extLst>
          </p:cNvPr>
          <p:cNvSpPr/>
          <p:nvPr/>
        </p:nvSpPr>
        <p:spPr>
          <a:xfrm>
            <a:off x="850900" y="31242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6" name="Mini 957">
            <a:extLst>
              <a:ext uri="{FF2B5EF4-FFF2-40B4-BE49-F238E27FC236}">
                <a16:creationId xmlns:a16="http://schemas.microsoft.com/office/drawing/2014/main" id="{9E09DDCC-821D-55A0-8A33-73291C13A3F4}"/>
              </a:ext>
            </a:extLst>
          </p:cNvPr>
          <p:cNvSpPr/>
          <p:nvPr/>
        </p:nvSpPr>
        <p:spPr>
          <a:xfrm>
            <a:off x="1536700" y="29718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7" name="Mini 958">
            <a:extLst>
              <a:ext uri="{FF2B5EF4-FFF2-40B4-BE49-F238E27FC236}">
                <a16:creationId xmlns:a16="http://schemas.microsoft.com/office/drawing/2014/main" id="{DFAFA401-44D6-29E4-DB64-510190F305A7}"/>
              </a:ext>
            </a:extLst>
          </p:cNvPr>
          <p:cNvSpPr/>
          <p:nvPr/>
        </p:nvSpPr>
        <p:spPr>
          <a:xfrm>
            <a:off x="1536700" y="35306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8" name="Mini 959">
            <a:extLst>
              <a:ext uri="{FF2B5EF4-FFF2-40B4-BE49-F238E27FC236}">
                <a16:creationId xmlns:a16="http://schemas.microsoft.com/office/drawing/2014/main" id="{512F0A78-CB16-CFAF-B5C3-B5A1B04B1D03}"/>
              </a:ext>
            </a:extLst>
          </p:cNvPr>
          <p:cNvSpPr/>
          <p:nvPr/>
        </p:nvSpPr>
        <p:spPr>
          <a:xfrm>
            <a:off x="2324100" y="32512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9" name="Mini 960">
            <a:extLst>
              <a:ext uri="{FF2B5EF4-FFF2-40B4-BE49-F238E27FC236}">
                <a16:creationId xmlns:a16="http://schemas.microsoft.com/office/drawing/2014/main" id="{DB04413D-E4E7-465A-CB48-C2BA2FC078D1}"/>
              </a:ext>
            </a:extLst>
          </p:cNvPr>
          <p:cNvSpPr/>
          <p:nvPr/>
        </p:nvSpPr>
        <p:spPr>
          <a:xfrm>
            <a:off x="3746500" y="3213100"/>
            <a:ext cx="254000" cy="254000"/>
          </a:xfrm>
          <a:prstGeom prst="ellipse">
            <a:avLst/>
          </a:prstGeom>
          <a:solidFill>
            <a:srgbClr val="FFFFFF"/>
          </a:solidFill>
          <a:ln w="12700">
            <a:solidFill>
              <a:srgbClr val="1A2744"/>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0" name="Mini 961">
            <a:extLst>
              <a:ext uri="{FF2B5EF4-FFF2-40B4-BE49-F238E27FC236}">
                <a16:creationId xmlns:a16="http://schemas.microsoft.com/office/drawing/2014/main" id="{3BC338B0-B251-CFA2-2CE3-85BACCC90203}"/>
              </a:ext>
            </a:extLst>
          </p:cNvPr>
          <p:cNvSpPr/>
          <p:nvPr/>
        </p:nvSpPr>
        <p:spPr>
          <a:xfrm>
            <a:off x="4000500" y="3327400"/>
            <a:ext cx="279400" cy="254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1" name="Mini 962">
            <a:extLst>
              <a:ext uri="{FF2B5EF4-FFF2-40B4-BE49-F238E27FC236}">
                <a16:creationId xmlns:a16="http://schemas.microsoft.com/office/drawing/2014/main" id="{3FA7CA6F-EB03-D7B1-6082-4E49D8EDF21C}"/>
              </a:ext>
            </a:extLst>
          </p:cNvPr>
          <p:cNvSpPr/>
          <p:nvPr/>
        </p:nvSpPr>
        <p:spPr>
          <a:xfrm>
            <a:off x="4279900" y="3238500"/>
            <a:ext cx="457200" cy="203200"/>
          </a:xfrm>
          <a:prstGeom prst="rect">
            <a:avLst/>
          </a:prstGeom>
          <a:solidFill>
            <a:srgbClr val="FFFFFF"/>
          </a:solidFill>
          <a:ln w="12700">
            <a:solidFill>
              <a:srgbClr val="1A2744"/>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2" name="Mini 963">
            <a:extLst>
              <a:ext uri="{FF2B5EF4-FFF2-40B4-BE49-F238E27FC236}">
                <a16:creationId xmlns:a16="http://schemas.microsoft.com/office/drawing/2014/main" id="{1B02D6CC-3CA4-55AF-0978-49E844D590ED}"/>
              </a:ext>
            </a:extLst>
          </p:cNvPr>
          <p:cNvSpPr/>
          <p:nvPr/>
        </p:nvSpPr>
        <p:spPr>
          <a:xfrm>
            <a:off x="4737100" y="3327400"/>
            <a:ext cx="254000" cy="254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3" name="Mini 964">
            <a:extLst>
              <a:ext uri="{FF2B5EF4-FFF2-40B4-BE49-F238E27FC236}">
                <a16:creationId xmlns:a16="http://schemas.microsoft.com/office/drawing/2014/main" id="{19AC0707-9AA0-E216-ED53-6D6759518F0A}"/>
              </a:ext>
            </a:extLst>
          </p:cNvPr>
          <p:cNvSpPr/>
          <p:nvPr/>
        </p:nvSpPr>
        <p:spPr>
          <a:xfrm>
            <a:off x="4991100" y="3149600"/>
            <a:ext cx="50800" cy="3810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4" name="Mini 965">
            <a:extLst>
              <a:ext uri="{FF2B5EF4-FFF2-40B4-BE49-F238E27FC236}">
                <a16:creationId xmlns:a16="http://schemas.microsoft.com/office/drawing/2014/main" id="{0D04FE3D-E4C9-F2CA-8575-D50BE4AAF5EA}"/>
              </a:ext>
            </a:extLst>
          </p:cNvPr>
          <p:cNvSpPr/>
          <p:nvPr/>
        </p:nvSpPr>
        <p:spPr>
          <a:xfrm>
            <a:off x="6565900" y="3225800"/>
            <a:ext cx="254000" cy="254000"/>
          </a:xfrm>
          <a:prstGeom prst="ellipse">
            <a:avLst/>
          </a:prstGeom>
          <a:solidFill>
            <a:srgbClr val="2C5F8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5" name="Mini 966">
            <a:extLst>
              <a:ext uri="{FF2B5EF4-FFF2-40B4-BE49-F238E27FC236}">
                <a16:creationId xmlns:a16="http://schemas.microsoft.com/office/drawing/2014/main" id="{9F83BD0F-692D-ED4F-A981-7A9A4D8EED11}"/>
              </a:ext>
            </a:extLst>
          </p:cNvPr>
          <p:cNvSpPr/>
          <p:nvPr/>
        </p:nvSpPr>
        <p:spPr>
          <a:xfrm>
            <a:off x="7988300" y="3225800"/>
            <a:ext cx="254000" cy="254000"/>
          </a:xfrm>
          <a:prstGeom prst="ellipse">
            <a:avLst/>
          </a:prstGeom>
          <a:solidFill>
            <a:srgbClr val="B4472C"/>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2" name="Mini 973">
            <a:extLst>
              <a:ext uri="{FF2B5EF4-FFF2-40B4-BE49-F238E27FC236}">
                <a16:creationId xmlns:a16="http://schemas.microsoft.com/office/drawing/2014/main" id="{55C377A2-FDF5-AD36-81B9-020DF25B92C8}"/>
              </a:ext>
            </a:extLst>
          </p:cNvPr>
          <p:cNvSpPr/>
          <p:nvPr/>
        </p:nvSpPr>
        <p:spPr>
          <a:xfrm>
            <a:off x="9461500" y="3352800"/>
            <a:ext cx="1828800" cy="0"/>
          </a:xfrm>
          <a:prstGeom prst="line">
            <a:avLst/>
          </a:prstGeom>
          <a:ln w="952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3" name="Mini 974">
            <a:extLst>
              <a:ext uri="{FF2B5EF4-FFF2-40B4-BE49-F238E27FC236}">
                <a16:creationId xmlns:a16="http://schemas.microsoft.com/office/drawing/2014/main" id="{7009277D-97EF-436D-24F9-0698678C84C0}"/>
              </a:ext>
            </a:extLst>
          </p:cNvPr>
          <p:cNvSpPr/>
          <p:nvPr/>
        </p:nvSpPr>
        <p:spPr>
          <a:xfrm>
            <a:off x="10147300" y="3022600"/>
            <a:ext cx="0" cy="660400"/>
          </a:xfrm>
          <a:prstGeom prst="line">
            <a:avLst/>
          </a:prstGeom>
          <a:ln w="952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4" name="Mini 975">
            <a:extLst>
              <a:ext uri="{FF2B5EF4-FFF2-40B4-BE49-F238E27FC236}">
                <a16:creationId xmlns:a16="http://schemas.microsoft.com/office/drawing/2014/main" id="{35FEB8A5-45A3-221E-2463-1751A1648ECB}"/>
              </a:ext>
            </a:extLst>
          </p:cNvPr>
          <p:cNvSpPr/>
          <p:nvPr/>
        </p:nvSpPr>
        <p:spPr>
          <a:xfrm>
            <a:off x="9867900" y="3098800"/>
            <a:ext cx="508000" cy="508000"/>
          </a:xfrm>
          <a:prstGeom prst="ellipse">
            <a:avLst/>
          </a:prstGeom>
          <a:noFill/>
          <a:ln w="9525">
            <a:solidFill>
              <a:srgbClr val="5B6470"/>
            </a:solidFill>
            <a:prstDash val="dash"/>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5" name="Mini 976">
            <a:extLst>
              <a:ext uri="{FF2B5EF4-FFF2-40B4-BE49-F238E27FC236}">
                <a16:creationId xmlns:a16="http://schemas.microsoft.com/office/drawing/2014/main" id="{913309E5-122A-3FE7-96FA-04584029514D}"/>
              </a:ext>
            </a:extLst>
          </p:cNvPr>
          <p:cNvSpPr/>
          <p:nvPr/>
        </p:nvSpPr>
        <p:spPr>
          <a:xfrm>
            <a:off x="10121900" y="3149600"/>
            <a:ext cx="889000" cy="406400"/>
          </a:xfrm>
          <a:prstGeom prst="ellipse">
            <a:avLst/>
          </a:prstGeom>
          <a:noFill/>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6" name="Mini 977">
            <a:extLst>
              <a:ext uri="{FF2B5EF4-FFF2-40B4-BE49-F238E27FC236}">
                <a16:creationId xmlns:a16="http://schemas.microsoft.com/office/drawing/2014/main" id="{59D81F0B-3DD7-0262-4756-3CC7BEA0A341}"/>
              </a:ext>
            </a:extLst>
          </p:cNvPr>
          <p:cNvSpPr/>
          <p:nvPr/>
        </p:nvSpPr>
        <p:spPr>
          <a:xfrm>
            <a:off x="9817100" y="3302000"/>
            <a:ext cx="101600" cy="101600"/>
          </a:xfrm>
          <a:prstGeom prst="ellipse">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0" name="Link 991">
            <a:extLst>
              <a:ext uri="{FF2B5EF4-FFF2-40B4-BE49-F238E27FC236}">
                <a16:creationId xmlns:a16="http://schemas.microsoft.com/office/drawing/2014/main" id="{9CC68075-6DFE-679C-B874-BFF8295AA977}"/>
              </a:ext>
            </a:extLst>
          </p:cNvPr>
          <p:cNvSpPr/>
          <p:nvPr/>
        </p:nvSpPr>
        <p:spPr>
          <a:xfrm>
            <a:off x="30353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1" name="Link 992">
            <a:extLst>
              <a:ext uri="{FF2B5EF4-FFF2-40B4-BE49-F238E27FC236}">
                <a16:creationId xmlns:a16="http://schemas.microsoft.com/office/drawing/2014/main" id="{AE45A2C9-A07A-7211-FE16-DD8786DD53CF}"/>
              </a:ext>
            </a:extLst>
          </p:cNvPr>
          <p:cNvSpPr/>
          <p:nvPr/>
        </p:nvSpPr>
        <p:spPr>
          <a:xfrm>
            <a:off x="59055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2" name="Link 993">
            <a:extLst>
              <a:ext uri="{FF2B5EF4-FFF2-40B4-BE49-F238E27FC236}">
                <a16:creationId xmlns:a16="http://schemas.microsoft.com/office/drawing/2014/main" id="{12F76CE6-5CA7-715D-1907-2CB5A976CE8E}"/>
              </a:ext>
            </a:extLst>
          </p:cNvPr>
          <p:cNvSpPr/>
          <p:nvPr/>
        </p:nvSpPr>
        <p:spPr>
          <a:xfrm>
            <a:off x="87757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0" name="Spring 1041">
            <a:extLst>
              <a:ext uri="{FF2B5EF4-FFF2-40B4-BE49-F238E27FC236}">
                <a16:creationId xmlns:a16="http://schemas.microsoft.com/office/drawing/2014/main" id="{86017A11-4D78-CEE7-F23E-5C92A77442C6}"/>
              </a:ext>
            </a:extLst>
          </p:cNvPr>
          <p:cNvSpPr/>
          <p:nvPr/>
        </p:nvSpPr>
        <p:spPr>
          <a:xfrm flipV="1">
            <a:off x="6819900"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1" name="Spring 1042">
            <a:extLst>
              <a:ext uri="{FF2B5EF4-FFF2-40B4-BE49-F238E27FC236}">
                <a16:creationId xmlns:a16="http://schemas.microsoft.com/office/drawing/2014/main" id="{70765C29-480C-04F3-E624-A3ACDEB594F4}"/>
              </a:ext>
            </a:extLst>
          </p:cNvPr>
          <p:cNvSpPr/>
          <p:nvPr/>
        </p:nvSpPr>
        <p:spPr>
          <a:xfrm>
            <a:off x="7014633"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2" name="Spring 1043">
            <a:extLst>
              <a:ext uri="{FF2B5EF4-FFF2-40B4-BE49-F238E27FC236}">
                <a16:creationId xmlns:a16="http://schemas.microsoft.com/office/drawing/2014/main" id="{1116665A-3D03-B166-B233-C69D12867EA5}"/>
              </a:ext>
            </a:extLst>
          </p:cNvPr>
          <p:cNvSpPr/>
          <p:nvPr/>
        </p:nvSpPr>
        <p:spPr>
          <a:xfrm flipV="1">
            <a:off x="7209367"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3" name="Spring 1044">
            <a:extLst>
              <a:ext uri="{FF2B5EF4-FFF2-40B4-BE49-F238E27FC236}">
                <a16:creationId xmlns:a16="http://schemas.microsoft.com/office/drawing/2014/main" id="{B62BC5E8-56E7-C0B3-F7B5-6F21C362D0A7}"/>
              </a:ext>
            </a:extLst>
          </p:cNvPr>
          <p:cNvSpPr/>
          <p:nvPr/>
        </p:nvSpPr>
        <p:spPr>
          <a:xfrm>
            <a:off x="7404100"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4" name="Spring 1045">
            <a:extLst>
              <a:ext uri="{FF2B5EF4-FFF2-40B4-BE49-F238E27FC236}">
                <a16:creationId xmlns:a16="http://schemas.microsoft.com/office/drawing/2014/main" id="{1F37E935-BF50-879D-FC9C-94E8FD81A2E6}"/>
              </a:ext>
            </a:extLst>
          </p:cNvPr>
          <p:cNvSpPr/>
          <p:nvPr/>
        </p:nvSpPr>
        <p:spPr>
          <a:xfrm flipV="1">
            <a:off x="7598833"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5" name="Spring 1046">
            <a:extLst>
              <a:ext uri="{FF2B5EF4-FFF2-40B4-BE49-F238E27FC236}">
                <a16:creationId xmlns:a16="http://schemas.microsoft.com/office/drawing/2014/main" id="{69F874C1-B00E-DFA9-105D-A4D2BF0E0E7F}"/>
              </a:ext>
            </a:extLst>
          </p:cNvPr>
          <p:cNvSpPr/>
          <p:nvPr/>
        </p:nvSpPr>
        <p:spPr>
          <a:xfrm>
            <a:off x="7793567"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5" name="図 14">
            <a:extLst>
              <a:ext uri="{FF2B5EF4-FFF2-40B4-BE49-F238E27FC236}">
                <a16:creationId xmlns:a16="http://schemas.microsoft.com/office/drawing/2014/main" id="{4B8A5A18-DC9E-E3DF-6C97-AB0CD3C80359}"/>
              </a:ext>
            </a:extLst>
          </p:cNvPr>
          <p:cNvPicPr>
            <a:picLocks noChangeAspect="1"/>
          </p:cNvPicPr>
          <p:nvPr/>
        </p:nvPicPr>
        <p:blipFill rotWithShape="1">
          <a:blip r:embed="rId3"/>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810117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0" name="Dg 400"/>
          <p:cNvSpPr/>
          <p:nvPr/>
        </p:nvSpPr>
        <p:spPr>
          <a:xfrm>
            <a:off x="495300" y="2009458"/>
            <a:ext cx="5969000" cy="2286000"/>
          </a:xfrm>
          <a:prstGeom prst="rect">
            <a:avLst/>
          </a:prstGeom>
          <a:solidFill>
            <a:srgbClr val="FCFDFE"/>
          </a:solidFill>
          <a:ln w="9525">
            <a:solidFill>
              <a:srgbClr val="D8DEE7"/>
            </a:solid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6680200" y="2159000"/>
            <a:ext cx="4965700" cy="1651000"/>
          </a:xfrm>
          <a:prstGeom prst="rect">
            <a:avLst/>
          </a:prstGeom>
          <a:solidFill>
            <a:srgbClr val="F4F6FA"/>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6680200" y="2159000"/>
            <a:ext cx="38100" cy="1651000"/>
          </a:xfrm>
          <a:prstGeom prst="rect">
            <a:avLst/>
          </a:prstGeom>
          <a:solidFill>
            <a:srgbClr val="8A2E3B"/>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6680200" y="4013200"/>
            <a:ext cx="4965700" cy="2159000"/>
          </a:xfrm>
          <a:prstGeom prst="rect">
            <a:avLst/>
          </a:prstGeom>
          <a:solidFill>
            <a:srgbClr val="F4F6FA"/>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6680200" y="4013200"/>
            <a:ext cx="4965700" cy="38100"/>
          </a:xfrm>
          <a:prstGeom prst="rect">
            <a:avLst/>
          </a:prstGeom>
          <a:solidFill>
            <a:srgbClr val="8A2E3B"/>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4826000"/>
            <a:ext cx="5969000" cy="1346200"/>
          </a:xfrm>
          <a:prstGeom prst="rect">
            <a:avLst/>
          </a:prstGeom>
          <a:solidFill>
            <a:srgbClr val="F4F6FA"/>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546100" y="4826000"/>
            <a:ext cx="38100" cy="1346200"/>
          </a:xfrm>
          <a:prstGeom prst="rect">
            <a:avLst/>
          </a:prstGeom>
          <a:solidFill>
            <a:srgbClr val="8A2E3B"/>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Deco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eco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eco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原理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0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系統の数学的正体</a:t>
            </a:r>
          </a:p>
        </p:txBody>
      </p:sp>
      <p:sp>
        <p:nvSpPr>
          <p:cNvPr id="4" name="TextBox 3"/>
          <p:cNvSpPr txBox="1"/>
          <p:nvPr/>
        </p:nvSpPr>
        <p:spPr>
          <a:xfrm>
            <a:off x="546100" y="8890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系統は</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1</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枚の行列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ノードアドミタンス行列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Y</a:t>
            </a:r>
          </a:p>
        </p:txBody>
      </p:sp>
      <mc:AlternateContent xmlns:mc="http://schemas.openxmlformats.org/markup-compatibility/2006" xmlns:a14="http://schemas.microsoft.com/office/drawing/2010/main">
        <mc:Choice Requires="a14">
          <p:sp>
            <p:nvSpPr>
              <p:cNvPr id="5" name="TextBox 4"/>
              <p:cNvSpPr txBox="1"/>
              <p:nvPr/>
            </p:nvSpPr>
            <p:spPr>
              <a:xfrm>
                <a:off x="546100" y="1498600"/>
                <a:ext cx="11099800" cy="381771"/>
              </a:xfrm>
              <a:prstGeom prst="rect">
                <a:avLst/>
              </a:prstGeom>
              <a:noFill/>
            </p:spPr>
            <p:txBody>
              <a:bodyPr wrap="square">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送電網はバス</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節点</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と枝</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線路・変圧器</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のグラフ。各枝のインピーダンス </a:t>
                </a:r>
                <a14:m>
                  <m:oMath xmlns:m="http://schemas.openxmlformats.org/officeDocument/2006/math">
                    <m:r>
                      <a:rPr kumimoji="0" lang="ja-JP" altLang="en-US" sz="1500" b="0" i="1" u="none" strike="noStrike" kern="1200" cap="none" spc="0" normalizeH="0" baseline="0" noProof="0" dirty="0" smtClean="0">
                        <a:ln>
                          <a:noFill/>
                        </a:ln>
                        <a:solidFill>
                          <a:srgbClr val="3D4657"/>
                        </a:solidFill>
                        <a:effectLst/>
                        <a:uLnTx/>
                        <a:uFillTx/>
                        <a:latin typeface="Cambria Math" panose="02040503050406030204" pitchFamily="18" charset="0"/>
                        <a:cs typeface="+mn-cs"/>
                      </a:rPr>
                      <m:t>𝑧</m:t>
                    </m:r>
                    <m:r>
                      <a:rPr kumimoji="0" lang="ja-JP" altLang="en-US"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 </m:t>
                    </m:r>
                    <m:r>
                      <a:rPr kumimoji="0" lang="en-US" altLang="ja-JP"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 </m:t>
                    </m:r>
                    <m:r>
                      <a:rPr kumimoji="0" lang="ja-JP" altLang="en-US"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𝑟</m:t>
                    </m:r>
                    <m:r>
                      <a:rPr kumimoji="0" lang="ja-JP" altLang="en-US"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 + </m:t>
                    </m:r>
                    <m:r>
                      <a:rPr kumimoji="0" lang="ja-JP" altLang="en-US"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𝑗𝑥</m:t>
                    </m:r>
                    <m:r>
                      <a:rPr kumimoji="0" lang="ja-JP" altLang="en-US" sz="1500" b="0" i="1" u="none" strike="noStrike" kern="1200" cap="none" spc="0" normalizeH="0" baseline="0" noProof="0" dirty="0">
                        <a:ln>
                          <a:noFill/>
                        </a:ln>
                        <a:solidFill>
                          <a:srgbClr val="3D4657"/>
                        </a:solidFill>
                        <a:effectLst/>
                        <a:uLnTx/>
                        <a:uFillTx/>
                        <a:latin typeface="Cambria Math" panose="02040503050406030204" pitchFamily="18" charset="0"/>
                        <a:cs typeface="+mn-cs"/>
                      </a:rPr>
                      <m:t> </m:t>
                    </m:r>
                  </m:oMath>
                </a14:m>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の逆数を節点方程式に並べたもの。</a:t>
                </a:r>
              </a:p>
            </p:txBody>
          </p:sp>
        </mc:Choice>
        <mc:Fallback xmlns="">
          <p:sp>
            <p:nvSpPr>
              <p:cNvPr id="5" name="TextBox 4"/>
              <p:cNvSpPr txBox="1">
                <a:spLocks noRot="1" noChangeAspect="1" noMove="1" noResize="1" noEditPoints="1" noAdjustHandles="1" noChangeArrowheads="1" noChangeShapeType="1" noTextEdit="1"/>
              </p:cNvSpPr>
              <p:nvPr/>
            </p:nvSpPr>
            <p:spPr>
              <a:xfrm>
                <a:off x="546100" y="1498600"/>
                <a:ext cx="11099800" cy="381771"/>
              </a:xfrm>
              <a:prstGeom prst="rect">
                <a:avLst/>
              </a:prstGeom>
              <a:blipFill>
                <a:blip r:embed="rId2"/>
                <a:stretch>
                  <a:fillRect l="-343"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46100" y="4826000"/>
                <a:ext cx="5969000" cy="13462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52400" rIns="152400" bIns="152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sz="18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𝐼</m:t>
                      </m:r>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𝑌</m:t>
                      </m:r>
                      <m:r>
                        <a:rPr kumimoji="0" lang="en-US" sz="18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t>𝑉</m:t>
                      </m:r>
                    </m:oMath>
                  </m:oMathPara>
                </a14:m>
                <a:endParaRPr kumimoji="0" sz="1800"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𝑌</m:t>
                          </m:r>
                        </m:e>
                        <m:sub>
                          <m: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𝑦</m:t>
                          </m:r>
                        </m:e>
                        <m: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𝑌</m:t>
                          </m:r>
                        </m:e>
                        <m:sub>
                          <m:r>
                            <a:rPr kumimoji="0" lang="en-US" sz="18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𝑖𝑖</m:t>
                          </m:r>
                        </m:sub>
                      </m:s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𝑘</m:t>
                          </m:r>
                        </m:sub>
                      </m:sSub>
                      <m:sSub>
                        <m:sSubPr>
                          <m:ctrlP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𝑦</m:t>
                          </m:r>
                        </m:e>
                        <m: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𝑖𝑘</m:t>
                          </m:r>
                        </m:sub>
                      </m:s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𝑦</m:t>
                          </m:r>
                        </m:e>
                        <m:sub>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𝑠ℎ</m:t>
                          </m:r>
                          <m:r>
                            <a:rPr kumimoji="0" lang="en-US" sz="18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ub>
                      </m:sSub>
                    </m:oMath>
                  </m:oMathPara>
                </a14:m>
                <a:endParaRPr kumimoji="0" sz="1800"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節点注入電流 ・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V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節点電圧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(17,862²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非零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0.019%)</a:t>
                </a:r>
              </a:p>
            </p:txBody>
          </p:sp>
        </mc:Choice>
        <mc:Fallback xmlns="">
          <p:sp>
            <p:nvSpPr>
              <p:cNvPr id="6" name="Rectangle 5"/>
              <p:cNvSpPr>
                <a:spLocks noRot="1" noChangeAspect="1" noMove="1" noResize="1" noEditPoints="1" noAdjustHandles="1" noChangeArrowheads="1" noChangeShapeType="1" noTextEdit="1"/>
              </p:cNvSpPr>
              <p:nvPr/>
            </p:nvSpPr>
            <p:spPr>
              <a:xfrm>
                <a:off x="546100" y="4826000"/>
                <a:ext cx="5969000" cy="1346200"/>
              </a:xfrm>
              <a:prstGeom prst="rect">
                <a:avLst/>
              </a:prstGeom>
              <a:blipFill>
                <a:blip r:embed="rId3"/>
                <a:stretch>
                  <a:fillRect/>
                </a:stretch>
              </a:blipFill>
              <a:ln>
                <a:noFill/>
              </a:ln>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680200" y="2159000"/>
                <a:ext cx="4965700" cy="1651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52400" rIns="152400" bIns="152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t>𝑉</m:t>
                          </m:r>
                        </m:e>
                        <m:sub>
                          <m: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t>𝑖</m:t>
                          </m:r>
                        </m:sub>
                      </m:sSub>
                      <m:nary>
                        <m:naryPr>
                          <m:chr m:val="∑"/>
                          <m:limLoc m:val="subSup"/>
                          <m:supHide m:val="on"/>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naryPr>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𝑗</m:t>
                          </m:r>
                        </m:sub>
                        <m:sup/>
                        <m:e>
                          <m:sSub>
                            <m:sSubPr>
                              <m:ctrlP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t>𝑉</m:t>
                              </m:r>
                            </m:e>
                            <m:sub>
                              <m:r>
                                <a:rPr kumimoji="0" lang="en-US" sz="1700" b="0" i="0" u="none" strike="noStrike" kern="1200" cap="none" spc="0" normalizeH="0" baseline="0" noProof="0" dirty="0">
                                  <a:ln>
                                    <a:noFill/>
                                  </a:ln>
                                  <a:solidFill>
                                    <a:srgbClr val="2E7D5B"/>
                                  </a:solidFill>
                                  <a:effectLst/>
                                  <a:uLnTx/>
                                  <a:uFillTx/>
                                  <a:latin typeface="Cambria Math" panose="02040503050406030204" pitchFamily="18" charset="0"/>
                                  <a:ea typeface="+mn-ea"/>
                                  <a:cs typeface="+mn-cs"/>
                                </a:rPr>
                                <m:t>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𝐺</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cos</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𝐵</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sin</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nary>
                    </m:oMath>
                  </m:oMathPara>
                </a14:m>
                <a:endParaRPr kumimoji="0" sz="1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潮流方程式。</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G + jB = Y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の実部</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虚部、</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θij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位相差。</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Newton–Raphson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で解く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潮流計算。</a:t>
                </a:r>
              </a:p>
            </p:txBody>
          </p:sp>
        </mc:Choice>
        <mc:Fallback xmlns="">
          <p:sp>
            <p:nvSpPr>
              <p:cNvPr id="7" name="Rectangle 6"/>
              <p:cNvSpPr>
                <a:spLocks noRot="1" noChangeAspect="1" noMove="1" noResize="1" noEditPoints="1" noAdjustHandles="1" noChangeArrowheads="1" noChangeShapeType="1" noTextEdit="1"/>
              </p:cNvSpPr>
              <p:nvPr/>
            </p:nvSpPr>
            <p:spPr>
              <a:xfrm>
                <a:off x="6680200" y="2159000"/>
                <a:ext cx="4965700" cy="1651000"/>
              </a:xfrm>
              <a:prstGeom prst="rect">
                <a:avLst/>
              </a:prstGeom>
              <a:blipFill>
                <a:blip r:embed="rId4"/>
                <a:stretch>
                  <a:fillRect t="-39695" b="-32061"/>
                </a:stretch>
              </a:blipFill>
              <a:ln>
                <a:noFill/>
              </a:ln>
              <a:effectLst/>
            </p:spPr>
            <p:txBody>
              <a:bodyPr/>
              <a:lstStyle/>
              <a:p>
                <a:r>
                  <a:rPr lang="ja-JP" altLang="en-US">
                    <a:noFill/>
                  </a:rPr>
                  <a:t> </a:t>
                </a:r>
              </a:p>
            </p:txBody>
          </p:sp>
        </mc:Fallback>
      </mc:AlternateContent>
      <p:sp>
        <p:nvSpPr>
          <p:cNvPr id="8" name="TextBox 7"/>
          <p:cNvSpPr txBox="1"/>
          <p:nvPr/>
        </p:nvSpPr>
        <p:spPr>
          <a:xfrm>
            <a:off x="6934200" y="4267200"/>
            <a:ext cx="4457700" cy="330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この</a:t>
            </a:r>
            <a:r>
              <a:rPr kumimoji="0" lang="en-US" altLang="ja-JP" sz="1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1</a:t>
            </a:r>
            <a:r>
              <a:rPr kumimoji="0" lang="ja-JP" altLang="en-US" sz="1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枚から出るもの</a:t>
            </a:r>
          </a:p>
        </p:txBody>
      </p:sp>
      <p:sp>
        <p:nvSpPr>
          <p:cNvPr id="9" name="TextBox 8"/>
          <p:cNvSpPr txBox="1"/>
          <p:nvPr/>
        </p:nvSpPr>
        <p:spPr>
          <a:xfrm>
            <a:off x="6934200" y="4775200"/>
            <a:ext cx="4457700" cy="1418593"/>
          </a:xfrm>
          <a:prstGeom prst="rect">
            <a:avLst/>
          </a:prstGeom>
          <a:noFill/>
        </p:spPr>
        <p:txBody>
          <a:bodyPr wrap="square">
            <a:spAutoFit/>
          </a:bodyPr>
          <a:lstStyle/>
          <a:p>
            <a:pPr marL="171450" marR="0" lvl="0" indent="-171450" algn="l" defTabSz="457200" rtl="0" eaLnBrk="1" fontAlgn="auto" latinLnBrk="0" hangingPunct="1">
              <a:lnSpc>
                <a:spcPct val="130000"/>
              </a:lnSpc>
              <a:spcBef>
                <a:spcPts val="0"/>
              </a:spcBef>
              <a:spcAft>
                <a:spcPts val="4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潮流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どの線に何</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MW</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流れるか</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観測と突合可</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a:p>
            <a:pPr marL="171450" marR="0" lvl="0" indent="-171450" algn="l" defTabSz="457200" rtl="0" eaLnBrk="1" fontAlgn="auto" latinLnBrk="0" hangingPunct="1">
              <a:lnSpc>
                <a:spcPct val="130000"/>
              </a:lnSpc>
              <a:spcBef>
                <a:spcPts val="0"/>
              </a:spcBef>
              <a:spcAft>
                <a:spcPts val="4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短絡容量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系統の「強さ」</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原理</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a:t>
            </a:r>
          </a:p>
          <a:p>
            <a:pPr marL="171450" marR="0" lvl="0" indent="-171450" algn="l" defTabSz="457200" rtl="0" eaLnBrk="1" fontAlgn="auto" latinLnBrk="0" hangingPunct="1">
              <a:lnSpc>
                <a:spcPct val="130000"/>
              </a:lnSpc>
              <a:spcBef>
                <a:spcPts val="0"/>
              </a:spcBef>
              <a:spcAft>
                <a:spcPts val="4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動揺モード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系統の「揺れ」</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原理</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II)</a:t>
            </a:r>
          </a:p>
          <a:p>
            <a:pPr marL="171450" marR="0" lvl="0" indent="-171450" algn="l" defTabSz="457200" rtl="0" eaLnBrk="1" fontAlgn="auto" latinLnBrk="0" hangingPunct="1">
              <a:lnSpc>
                <a:spcPct val="130000"/>
              </a:lnSpc>
              <a:spcBef>
                <a:spcPts val="0"/>
              </a:spcBef>
              <a:spcAft>
                <a:spcPts val="400"/>
              </a:spcAft>
              <a:buClrTx/>
              <a:buSzTx/>
              <a:buFont typeface="Arial"/>
              <a:buChar char="•"/>
              <a:tabLst/>
              <a:defRPr/>
            </a:pP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Z(jω) —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周波数依存化すれば共振の判定へ</a:t>
            </a:r>
          </a:p>
        </p:txBody>
      </p:sp>
      <p:sp>
        <p:nvSpPr>
          <p:cNvPr id="11" name="TextBox 10"/>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02 / 15   Y</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は</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pandapower/pypower makeYbus(</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業界標準実装</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・出荷</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v5.0.1</a:t>
            </a:r>
          </a:p>
        </p:txBody>
      </p:sp>
      <p:sp>
        <p:nvSpPr>
          <p:cNvPr id="401" name="TB 401"/>
          <p:cNvSpPr txBox="1"/>
          <p:nvPr/>
        </p:nvSpPr>
        <p:spPr>
          <a:xfrm>
            <a:off x="698500" y="2311400"/>
            <a:ext cx="56642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概念図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発電機・インピーダンス・三相短絡</a:t>
            </a:r>
          </a:p>
        </p:txBody>
      </p:sp>
      <p:sp>
        <p:nvSpPr>
          <p:cNvPr id="410" name="Dg 410"/>
          <p:cNvSpPr/>
          <p:nvPr/>
        </p:nvSpPr>
        <p:spPr>
          <a:xfrm>
            <a:off x="787400" y="2768600"/>
            <a:ext cx="914400" cy="914400"/>
          </a:xfrm>
          <a:prstGeom prst="ellipse">
            <a:avLst/>
          </a:prstGeom>
          <a:solidFill>
            <a:srgbClr val="FFFFFF"/>
          </a:solidFill>
          <a:ln w="15875">
            <a:solidFill>
              <a:srgbClr val="1A2744"/>
            </a:solid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2744"/>
                </a:solidFill>
                <a:effectLst/>
                <a:uLnTx/>
                <a:uFillTx/>
                <a:latin typeface="Cambria Math"/>
                <a:ea typeface="+mn-ea"/>
                <a:cs typeface="+mn-cs"/>
              </a:rPr>
              <a:t>G</a:t>
            </a:r>
          </a:p>
        </p:txBody>
      </p:sp>
      <p:sp>
        <p:nvSpPr>
          <p:cNvPr id="411" name="Dg 411"/>
          <p:cNvSpPr/>
          <p:nvPr/>
        </p:nvSpPr>
        <p:spPr>
          <a:xfrm>
            <a:off x="1701800" y="3200400"/>
            <a:ext cx="558800" cy="38100"/>
          </a:xfrm>
          <a:prstGeom prst="rect">
            <a:avLst/>
          </a:prstGeom>
          <a:solidFill>
            <a:srgbClr val="1A2744"/>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2" name="Dg 412"/>
          <p:cNvSpPr/>
          <p:nvPr/>
        </p:nvSpPr>
        <p:spPr>
          <a:xfrm>
            <a:off x="2260600" y="2971800"/>
            <a:ext cx="1219200" cy="508000"/>
          </a:xfrm>
          <a:prstGeom prst="rect">
            <a:avLst/>
          </a:prstGeom>
          <a:solidFill>
            <a:srgbClr val="FFFFFF"/>
          </a:solidFill>
          <a:ln w="15875">
            <a:solidFill>
              <a:srgbClr val="1A2744"/>
            </a:solid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2C5F8A"/>
                </a:solidFill>
                <a:effectLst/>
                <a:uLnTx/>
                <a:uFillTx/>
                <a:latin typeface="Cambria Math"/>
                <a:ea typeface="+mn-ea"/>
                <a:cs typeface="+mn-cs"/>
              </a:rPr>
              <a:t>Z</a:t>
            </a:r>
          </a:p>
        </p:txBody>
      </p:sp>
      <p:sp>
        <p:nvSpPr>
          <p:cNvPr id="420" name="TB 420"/>
          <p:cNvSpPr txBox="1"/>
          <p:nvPr/>
        </p:nvSpPr>
        <p:spPr>
          <a:xfrm>
            <a:off x="711200" y="3759200"/>
            <a:ext cx="1168400" cy="2794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発電機 </a:t>
            </a:r>
            <a:r>
              <a:rPr kumimoji="0" lang="en-US" altLang="ja-JP" sz="14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E</a:t>
            </a:r>
          </a:p>
        </p:txBody>
      </p:sp>
      <p:sp>
        <p:nvSpPr>
          <p:cNvPr id="421" name="TB 421"/>
          <p:cNvSpPr txBox="1"/>
          <p:nvPr/>
        </p:nvSpPr>
        <p:spPr>
          <a:xfrm>
            <a:off x="2057400" y="3759200"/>
            <a:ext cx="1600200" cy="2794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線路 </a:t>
            </a:r>
            <a:r>
              <a:rPr kumimoji="0" lang="en-US" altLang="ja-JP"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Z = R + jX</a:t>
            </a:r>
          </a:p>
        </p:txBody>
      </p:sp>
      <mc:AlternateContent xmlns:mc="http://schemas.openxmlformats.org/markup-compatibility/2006" xmlns:a14="http://schemas.microsoft.com/office/drawing/2010/main">
        <mc:Choice Requires="a14">
          <p:sp>
            <p:nvSpPr>
              <p:cNvPr id="425" name="TB 425"/>
              <p:cNvSpPr txBox="1"/>
              <p:nvPr/>
            </p:nvSpPr>
            <p:spPr>
              <a:xfrm>
                <a:off x="698500" y="3987800"/>
                <a:ext cx="5664200" cy="584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𝐼</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𝑠𝑐</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𝐸</m:t>
                        </m:r>
                      </m:num>
                      <m:den>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𝑍</m:t>
                        </m:r>
                      </m:den>
                    </m:f>
                  </m:oMath>
                </a14:m>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短絡電流は電源とインピーダンスだけで決まる</a:t>
                </a:r>
              </a:p>
            </p:txBody>
          </p:sp>
        </mc:Choice>
        <mc:Fallback xmlns="">
          <p:sp>
            <p:nvSpPr>
              <p:cNvPr id="425" name="TB 425"/>
              <p:cNvSpPr txBox="1">
                <a:spLocks noRot="1" noChangeAspect="1" noMove="1" noResize="1" noEditPoints="1" noAdjustHandles="1" noChangeArrowheads="1" noChangeShapeType="1" noTextEdit="1"/>
              </p:cNvSpPr>
              <p:nvPr/>
            </p:nvSpPr>
            <p:spPr>
              <a:xfrm>
                <a:off x="698500" y="3987800"/>
                <a:ext cx="5664200" cy="584200"/>
              </a:xfrm>
              <a:prstGeom prst="rect">
                <a:avLst/>
              </a:prstGeom>
              <a:blipFill>
                <a:blip r:embed="rId5"/>
                <a:stretch>
                  <a:fillRect l="-1342"/>
                </a:stretch>
              </a:blipFill>
            </p:spPr>
            <p:txBody>
              <a:bodyPr/>
              <a:lstStyle/>
              <a:p>
                <a:r>
                  <a:rPr lang="ja-JP" altLang="en-US">
                    <a:noFill/>
                  </a:rPr>
                  <a:t> </a:t>
                </a:r>
              </a:p>
            </p:txBody>
          </p:sp>
        </mc:Fallback>
      </mc:AlternateContent>
      <p:sp>
        <p:nvSpPr>
          <p:cNvPr id="426" name="TB 426"/>
          <p:cNvSpPr txBox="1"/>
          <p:nvPr/>
        </p:nvSpPr>
        <p:spPr>
          <a:xfrm>
            <a:off x="546100" y="4521200"/>
            <a:ext cx="5969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「インピーダンスだけで系統は基本計算できる」</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その理由が下の</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式。</a:t>
            </a:r>
          </a:p>
        </p:txBody>
      </p:sp>
      <p:sp>
        <p:nvSpPr>
          <p:cNvPr id="903" name="Dg 903"/>
          <p:cNvSpPr/>
          <p:nvPr/>
        </p:nvSpPr>
        <p:spPr>
          <a:xfrm>
            <a:off x="4225678" y="2922905"/>
            <a:ext cx="584200" cy="228600"/>
          </a:xfrm>
          <a:prstGeom prst="rightArrow">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04" name="TB 904"/>
              <p:cNvSpPr txBox="1"/>
              <p:nvPr/>
            </p:nvSpPr>
            <p:spPr>
              <a:xfrm>
                <a:off x="3964679" y="2708751"/>
                <a:ext cx="838200" cy="2540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ja-JP" altLang="en-US" sz="1400" b="1" i="1" u="none" strike="noStrike" kern="1200" cap="none" spc="0" normalizeH="0" baseline="0" noProof="0" dirty="0" smtClean="0">
                              <a:ln>
                                <a:noFill/>
                              </a:ln>
                              <a:solidFill>
                                <a:srgbClr val="8A2E3B"/>
                              </a:solidFill>
                              <a:effectLst/>
                              <a:uLnTx/>
                              <a:uFillTx/>
                              <a:latin typeface="Cambria Math" panose="02040503050406030204" pitchFamily="18" charset="0"/>
                              <a:cs typeface="+mn-cs"/>
                            </a:rPr>
                          </m:ctrlPr>
                        </m:sSubPr>
                        <m:e>
                          <m:r>
                            <a:rPr kumimoji="0" lang="ja-JP" altLang="en-US" sz="1400" b="1" i="1" u="none" strike="noStrike" kern="1200" cap="none" spc="0" normalizeH="0" baseline="0" noProof="0" dirty="0" smtClean="0">
                              <a:ln>
                                <a:noFill/>
                              </a:ln>
                              <a:solidFill>
                                <a:srgbClr val="8A2E3B"/>
                              </a:solidFill>
                              <a:effectLst/>
                              <a:uLnTx/>
                              <a:uFillTx/>
                              <a:latin typeface="Cambria Math" panose="02040503050406030204" pitchFamily="18" charset="0"/>
                              <a:cs typeface="+mn-cs"/>
                            </a:rPr>
                            <m:t>𝑰</m:t>
                          </m:r>
                        </m:e>
                        <m:sub>
                          <m:r>
                            <a:rPr kumimoji="0" lang="ja-JP" altLang="en-US" sz="1400" b="1" i="1" u="none" strike="noStrike" kern="1200" cap="none" spc="0" normalizeH="0" baseline="0" noProof="0" dirty="0">
                              <a:ln>
                                <a:noFill/>
                              </a:ln>
                              <a:solidFill>
                                <a:srgbClr val="8A2E3B"/>
                              </a:solidFill>
                              <a:effectLst/>
                              <a:uLnTx/>
                              <a:uFillTx/>
                              <a:latin typeface="Cambria Math" panose="02040503050406030204" pitchFamily="18" charset="0"/>
                              <a:cs typeface="+mn-cs"/>
                            </a:rPr>
                            <m:t>𝒔𝒄</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04" name="TB 904"/>
              <p:cNvSpPr txBox="1">
                <a:spLocks noRot="1" noChangeAspect="1" noMove="1" noResize="1" noEditPoints="1" noAdjustHandles="1" noChangeArrowheads="1" noChangeShapeType="1" noTextEdit="1"/>
              </p:cNvSpPr>
              <p:nvPr/>
            </p:nvSpPr>
            <p:spPr>
              <a:xfrm>
                <a:off x="3964679" y="2708751"/>
                <a:ext cx="838200" cy="254000"/>
              </a:xfrm>
              <a:prstGeom prst="rect">
                <a:avLst/>
              </a:prstGeom>
              <a:blipFill>
                <a:blip r:embed="rId6"/>
                <a:stretch>
                  <a:fillRect t="-23810" b="-28571"/>
                </a:stretch>
              </a:blipFill>
            </p:spPr>
            <p:txBody>
              <a:bodyPr/>
              <a:lstStyle/>
              <a:p>
                <a:r>
                  <a:rPr lang="ja-JP" altLang="en-US">
                    <a:noFill/>
                  </a:rPr>
                  <a:t> </a:t>
                </a:r>
              </a:p>
            </p:txBody>
          </p:sp>
        </mc:Fallback>
      </mc:AlternateContent>
      <p:sp>
        <p:nvSpPr>
          <p:cNvPr id="905" name="TB 905"/>
          <p:cNvSpPr txBox="1"/>
          <p:nvPr/>
        </p:nvSpPr>
        <p:spPr>
          <a:xfrm>
            <a:off x="4198570" y="3245326"/>
            <a:ext cx="1168400" cy="2540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三相短絡</a:t>
            </a:r>
          </a:p>
        </p:txBody>
      </p:sp>
      <p:grpSp>
        <p:nvGrpSpPr>
          <p:cNvPr id="26" name="グループ化 25">
            <a:extLst>
              <a:ext uri="{FF2B5EF4-FFF2-40B4-BE49-F238E27FC236}">
                <a16:creationId xmlns:a16="http://schemas.microsoft.com/office/drawing/2014/main" id="{7725A016-22F0-2AD2-AC56-EBECC4625108}"/>
              </a:ext>
            </a:extLst>
          </p:cNvPr>
          <p:cNvGrpSpPr/>
          <p:nvPr/>
        </p:nvGrpSpPr>
        <p:grpSpPr>
          <a:xfrm>
            <a:off x="4052323" y="3207702"/>
            <a:ext cx="394335" cy="544195"/>
            <a:chOff x="4343400" y="3208655"/>
            <a:chExt cx="394335" cy="544195"/>
          </a:xfrm>
        </p:grpSpPr>
        <p:cxnSp>
          <p:nvCxnSpPr>
            <p:cNvPr id="10" name="直線コネクタ 9">
              <a:extLst>
                <a:ext uri="{FF2B5EF4-FFF2-40B4-BE49-F238E27FC236}">
                  <a16:creationId xmlns:a16="http://schemas.microsoft.com/office/drawing/2014/main" id="{68F930BF-2E45-38DE-F70D-E8BB62165479}"/>
                </a:ext>
              </a:extLst>
            </p:cNvPr>
            <p:cNvCxnSpPr>
              <a:cxnSpLocks/>
            </p:cNvCxnSpPr>
            <p:nvPr/>
          </p:nvCxnSpPr>
          <p:spPr>
            <a:xfrm>
              <a:off x="4343400" y="3219450"/>
              <a:ext cx="23907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5A4F5D32-1CD3-3D89-4BF8-9F56937239A3}"/>
                </a:ext>
              </a:extLst>
            </p:cNvPr>
            <p:cNvCxnSpPr>
              <a:cxnSpLocks/>
            </p:cNvCxnSpPr>
            <p:nvPr/>
          </p:nvCxnSpPr>
          <p:spPr>
            <a:xfrm>
              <a:off x="4582477" y="3208655"/>
              <a:ext cx="0" cy="397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BBAE64D5-B826-F06A-D353-876B641766A5}"/>
                </a:ext>
              </a:extLst>
            </p:cNvPr>
            <p:cNvCxnSpPr>
              <a:cxnSpLocks/>
            </p:cNvCxnSpPr>
            <p:nvPr/>
          </p:nvCxnSpPr>
          <p:spPr>
            <a:xfrm>
              <a:off x="4427220" y="3613150"/>
              <a:ext cx="310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13AA81AF-35A9-BD76-3779-CB64407BA794}"/>
                </a:ext>
              </a:extLst>
            </p:cNvPr>
            <p:cNvCxnSpPr>
              <a:cxnSpLocks/>
            </p:cNvCxnSpPr>
            <p:nvPr/>
          </p:nvCxnSpPr>
          <p:spPr>
            <a:xfrm>
              <a:off x="4473416" y="3683000"/>
              <a:ext cx="2181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52F18EC8-E3AE-6710-2DB3-7E53DF2C7C2B}"/>
                </a:ext>
              </a:extLst>
            </p:cNvPr>
            <p:cNvCxnSpPr>
              <a:cxnSpLocks/>
            </p:cNvCxnSpPr>
            <p:nvPr/>
          </p:nvCxnSpPr>
          <p:spPr>
            <a:xfrm>
              <a:off x="4516755" y="3752850"/>
              <a:ext cx="131445"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27" name="Ln 901">
            <a:extLst>
              <a:ext uri="{FF2B5EF4-FFF2-40B4-BE49-F238E27FC236}">
                <a16:creationId xmlns:a16="http://schemas.microsoft.com/office/drawing/2014/main" id="{EA8F69D7-B457-989B-B5B7-E0088AB2986C}"/>
              </a:ext>
            </a:extLst>
          </p:cNvPr>
          <p:cNvSpPr/>
          <p:nvPr/>
        </p:nvSpPr>
        <p:spPr>
          <a:xfrm>
            <a:off x="4053469" y="2923948"/>
            <a:ext cx="0" cy="555852"/>
          </a:xfrm>
          <a:prstGeom prst="line">
            <a:avLst/>
          </a:prstGeom>
          <a:ln w="6350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Dg 411">
            <a:extLst>
              <a:ext uri="{FF2B5EF4-FFF2-40B4-BE49-F238E27FC236}">
                <a16:creationId xmlns:a16="http://schemas.microsoft.com/office/drawing/2014/main" id="{9B696906-5F25-B891-A287-411792F990AC}"/>
              </a:ext>
            </a:extLst>
          </p:cNvPr>
          <p:cNvSpPr/>
          <p:nvPr/>
        </p:nvSpPr>
        <p:spPr>
          <a:xfrm>
            <a:off x="3474791" y="3200400"/>
            <a:ext cx="558800" cy="38100"/>
          </a:xfrm>
          <a:prstGeom prst="rect">
            <a:avLst/>
          </a:prstGeom>
          <a:solidFill>
            <a:srgbClr val="1A2744"/>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図 15">
            <a:extLst>
              <a:ext uri="{FF2B5EF4-FFF2-40B4-BE49-F238E27FC236}">
                <a16:creationId xmlns:a16="http://schemas.microsoft.com/office/drawing/2014/main" id="{3BA7A260-0B6D-7CF3-661F-134BC2C43F45}"/>
              </a:ext>
            </a:extLst>
          </p:cNvPr>
          <p:cNvPicPr>
            <a:picLocks noChangeAspect="1"/>
          </p:cNvPicPr>
          <p:nvPr/>
        </p:nvPicPr>
        <p:blipFill rotWithShape="1">
          <a:blip r:embed="rId7"/>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1337527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eco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eco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eco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eco 310"/>
          <p:cNvSpPr/>
          <p:nvPr/>
        </p:nvSpPr>
        <p:spPr>
          <a:xfrm>
            <a:off x="546100" y="5054600"/>
            <a:ext cx="11099800" cy="9398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eco 311"/>
          <p:cNvSpPr/>
          <p:nvPr/>
        </p:nvSpPr>
        <p:spPr>
          <a:xfrm>
            <a:off x="546100" y="5054600"/>
            <a:ext cx="38100" cy="939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主張の型 ｜ 何が新しいのか</a:t>
            </a:r>
          </a:p>
        </p:txBody>
      </p:sp>
      <p:sp>
        <p:nvSpPr>
          <p:cNvPr id="4" name="TextBox 3"/>
          <p:cNvSpPr txBox="1"/>
          <p:nvPr/>
        </p:nvSpPr>
        <p:spPr>
          <a:xfrm>
            <a:off x="546100" y="8890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「モデルが凄い」ではなく「答え合わせが凄い」</a:t>
            </a:r>
          </a:p>
        </p:txBody>
      </p:sp>
      <p:sp>
        <p:nvSpPr>
          <p:cNvPr id="5" name="TextBox 4"/>
          <p:cNvSpPr txBox="1"/>
          <p:nvPr/>
        </p:nvSpPr>
        <p:spPr>
          <a:xfrm>
            <a:off x="546100" y="1498600"/>
            <a:ext cx="11099800" cy="330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4</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つの層それぞれに、独立の公開データによる検算がある。</a:t>
            </a:r>
          </a:p>
        </p:txBody>
      </p:sp>
      <p:graphicFrame>
        <p:nvGraphicFramePr>
          <p:cNvPr id="6" name="Table 5"/>
          <p:cNvGraphicFramePr>
            <a:graphicFrameLocks noGrp="1"/>
          </p:cNvGraphicFramePr>
          <p:nvPr>
            <p:extLst>
              <p:ext uri="{D42A27DB-BD31-4B8C-83A1-F6EECF244321}">
                <p14:modId xmlns:p14="http://schemas.microsoft.com/office/powerpoint/2010/main" val="4113463200"/>
              </p:ext>
            </p:extLst>
          </p:nvPr>
        </p:nvGraphicFramePr>
        <p:xfrm>
          <a:off x="546100" y="2006600"/>
          <a:ext cx="11099800" cy="2819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3403600">
                  <a:extLst>
                    <a:ext uri="{9D8B030D-6E8A-4147-A177-3AD203B41FA5}">
                      <a16:colId xmlns:a16="http://schemas.microsoft.com/office/drawing/2014/main" val="20002"/>
                    </a:ext>
                  </a:extLst>
                </a:gridCol>
                <a:gridCol w="2260600">
                  <a:extLst>
                    <a:ext uri="{9D8B030D-6E8A-4147-A177-3AD203B41FA5}">
                      <a16:colId xmlns:a16="http://schemas.microsoft.com/office/drawing/2014/main" val="20003"/>
                    </a:ext>
                  </a:extLst>
                </a:gridCol>
              </a:tblGrid>
              <a:tr h="482600">
                <a:tc>
                  <a:txBody>
                    <a:bodyPr/>
                    <a:lstStyle/>
                    <a:p>
                      <a:pPr algn="l"/>
                      <a:r>
                        <a:rPr sz="1500" b="1">
                          <a:solidFill>
                            <a:srgbClr val="FFFFFF"/>
                          </a:solidFill>
                          <a:latin typeface="Calibri"/>
                          <a:cs typeface="Calibri"/>
                        </a:rPr>
                        <a:t>層</a:t>
                      </a:r>
                    </a:p>
                  </a:txBody>
                  <a:tcPr anchor="ctr">
                    <a:lnL w="6350" cap="flat" cmpd="sng" algn="ctr">
                      <a:solidFill>
                        <a:srgbClr val="D0D5DD"/>
                      </a:solidFill>
                      <a:prstDash val="solid"/>
                    </a:lnL>
                    <a:solidFill>
                      <a:srgbClr val="1A2744"/>
                    </a:solidFill>
                  </a:tcPr>
                </a:tc>
                <a:tc>
                  <a:txBody>
                    <a:bodyPr/>
                    <a:lstStyle/>
                    <a:p>
                      <a:pPr algn="l"/>
                      <a:r>
                        <a:rPr sz="1500" b="1">
                          <a:solidFill>
                            <a:srgbClr val="FFFFFF"/>
                          </a:solidFill>
                          <a:latin typeface="Calibri"/>
                          <a:cs typeface="Calibri"/>
                        </a:rPr>
                        <a:t>モデル側</a:t>
                      </a:r>
                    </a:p>
                  </a:txBody>
                  <a:tcPr anchor="ctr">
                    <a:solidFill>
                      <a:srgbClr val="1A2744"/>
                    </a:solidFill>
                  </a:tcPr>
                </a:tc>
                <a:tc>
                  <a:txBody>
                    <a:bodyPr/>
                    <a:lstStyle/>
                    <a:p>
                      <a:pPr algn="l"/>
                      <a:r>
                        <a:rPr sz="1500" b="1">
                          <a:solidFill>
                            <a:srgbClr val="FFFFFF"/>
                          </a:solidFill>
                          <a:latin typeface="Calibri"/>
                          <a:cs typeface="Calibri"/>
                        </a:rPr>
                        <a:t>独立の公開データ</a:t>
                      </a:r>
                    </a:p>
                  </a:txBody>
                  <a:tcPr anchor="ctr">
                    <a:solidFill>
                      <a:srgbClr val="1A2744"/>
                    </a:solidFill>
                  </a:tcPr>
                </a:tc>
                <a:tc>
                  <a:txBody>
                    <a:bodyPr/>
                    <a:lstStyle/>
                    <a:p>
                      <a:pPr algn="l"/>
                      <a:r>
                        <a:rPr sz="1500" b="1">
                          <a:solidFill>
                            <a:srgbClr val="FFFFFF"/>
                          </a:solidFill>
                          <a:latin typeface="Calibri"/>
                          <a:cs typeface="Calibri"/>
                        </a:rPr>
                        <a:t>結果</a:t>
                      </a:r>
                    </a:p>
                  </a:txBody>
                  <a:tcPr anchor="ctr">
                    <a:solidFill>
                      <a:srgbClr val="1A2744"/>
                    </a:solidFill>
                  </a:tcPr>
                </a:tc>
                <a:extLst>
                  <a:ext uri="{0D108BD9-81ED-4DB2-BD59-A6C34878D82A}">
                    <a16:rowId xmlns:a16="http://schemas.microsoft.com/office/drawing/2014/main" val="10000"/>
                  </a:ext>
                </a:extLst>
              </a:tr>
              <a:tr h="584200">
                <a:tc>
                  <a:txBody>
                    <a:bodyPr/>
                    <a:lstStyle/>
                    <a:p>
                      <a:pPr algn="l"/>
                      <a:r>
                        <a:rPr sz="1500" b="1">
                          <a:solidFill>
                            <a:srgbClr val="8A2E3B"/>
                          </a:solidFill>
                          <a:latin typeface="Calibri"/>
                          <a:cs typeface="Calibri"/>
                        </a:rPr>
                        <a:t>① インピーダンス</a:t>
                      </a:r>
                    </a:p>
                  </a:txBody>
                  <a:tcPr anchor="ctr">
                    <a:lnL w="6350" cap="flat" cmpd="sng" algn="ctr">
                      <a:solidFill>
                        <a:srgbClr val="D0D5DD"/>
                      </a:solidFill>
                      <a:prstDash val="solid"/>
                    </a:lnL>
                    <a:solidFill>
                      <a:srgbClr val="FFFFFF"/>
                    </a:solidFill>
                  </a:tcPr>
                </a:tc>
                <a:tc>
                  <a:txBody>
                    <a:bodyPr/>
                    <a:lstStyle/>
                    <a:p>
                      <a:pPr algn="l"/>
                      <a:r>
                        <a:rPr sz="1500" b="0">
                          <a:solidFill>
                            <a:srgbClr val="333F52"/>
                          </a:solidFill>
                          <a:latin typeface="Calibri"/>
                          <a:cs typeface="Calibri"/>
                        </a:rPr>
                        <a:t>線種×実線長(par合成)</a:t>
                      </a:r>
                    </a:p>
                  </a:txBody>
                  <a:tcPr anchor="ctr">
                    <a:solidFill>
                      <a:srgbClr val="FFFFFF"/>
                    </a:solidFill>
                  </a:tcPr>
                </a:tc>
                <a:tc>
                  <a:txBody>
                    <a:bodyPr/>
                    <a:lstStyle/>
                    <a:p>
                      <a:pPr algn="l"/>
                      <a:r>
                        <a:rPr sz="1500" b="0">
                          <a:solidFill>
                            <a:srgbClr val="333F52"/>
                          </a:solidFill>
                          <a:latin typeface="Calibri"/>
                          <a:cs typeface="Calibri"/>
                        </a:rPr>
                        <a:t>様式5 公表R/X(404線)</a:t>
                      </a:r>
                    </a:p>
                  </a:txBody>
                  <a:tcPr anchor="ctr">
                    <a:solidFill>
                      <a:srgbClr val="FFFFFF"/>
                    </a:solidFill>
                  </a:tcPr>
                </a:tc>
                <a:tc>
                  <a:txBody>
                    <a:bodyPr/>
                    <a:lstStyle/>
                    <a:p>
                      <a:pPr algn="l"/>
                      <a:r>
                        <a:rPr sz="1500" b="1">
                          <a:solidFill>
                            <a:srgbClr val="8A2E3B"/>
                          </a:solidFill>
                          <a:latin typeface="Calibri"/>
                          <a:cs typeface="Calibri"/>
                        </a:rPr>
                        <a:t>比 中央値1.22 ✓</a:t>
                      </a:r>
                    </a:p>
                  </a:txBody>
                  <a:tcPr anchor="ctr">
                    <a:solidFill>
                      <a:srgbClr val="F7EDEF"/>
                    </a:solidFill>
                  </a:tcPr>
                </a:tc>
                <a:extLst>
                  <a:ext uri="{0D108BD9-81ED-4DB2-BD59-A6C34878D82A}">
                    <a16:rowId xmlns:a16="http://schemas.microsoft.com/office/drawing/2014/main" val="10001"/>
                  </a:ext>
                </a:extLst>
              </a:tr>
              <a:tr h="584200">
                <a:tc>
                  <a:txBody>
                    <a:bodyPr/>
                    <a:lstStyle/>
                    <a:p>
                      <a:pPr algn="l"/>
                      <a:r>
                        <a:rPr sz="1500" b="1">
                          <a:solidFill>
                            <a:srgbClr val="1A5E8A"/>
                          </a:solidFill>
                          <a:latin typeface="Calibri"/>
                          <a:cs typeface="Calibri"/>
                        </a:rPr>
                        <a:t>② 潮流</a:t>
                      </a:r>
                    </a:p>
                  </a:txBody>
                  <a:tcPr anchor="ctr">
                    <a:lnL w="6350" cap="flat" cmpd="sng" algn="ctr">
                      <a:solidFill>
                        <a:srgbClr val="D0D5DD"/>
                      </a:solidFill>
                      <a:prstDash val="solid"/>
                    </a:lnL>
                    <a:solidFill>
                      <a:srgbClr val="F4F6F9"/>
                    </a:solidFill>
                  </a:tcPr>
                </a:tc>
                <a:tc>
                  <a:txBody>
                    <a:bodyPr/>
                    <a:lstStyle/>
                    <a:p>
                      <a:pPr algn="l"/>
                      <a:r>
                        <a:rPr sz="1500" b="0">
                          <a:solidFill>
                            <a:srgbClr val="333F52"/>
                          </a:solidFill>
                          <a:latin typeface="Calibri"/>
                          <a:cs typeface="Calibri"/>
                        </a:rPr>
                        <a:t>AC潮流解</a:t>
                      </a:r>
                    </a:p>
                  </a:txBody>
                  <a:tcPr anchor="ctr">
                    <a:solidFill>
                      <a:srgbClr val="F4F6F9"/>
                    </a:solidFill>
                  </a:tcPr>
                </a:tc>
                <a:tc>
                  <a:txBody>
                    <a:bodyPr/>
                    <a:lstStyle/>
                    <a:p>
                      <a:pPr algn="l"/>
                      <a:r>
                        <a:rPr sz="1500" b="0">
                          <a:solidFill>
                            <a:srgbClr val="333F52"/>
                          </a:solidFill>
                          <a:latin typeface="Calibri"/>
                          <a:cs typeface="Calibri"/>
                        </a:rPr>
                        <a:t>潮流実績CSV(2,600線超)</a:t>
                      </a:r>
                    </a:p>
                  </a:txBody>
                  <a:tcPr anchor="ctr">
                    <a:solidFill>
                      <a:srgbClr val="F4F6F9"/>
                    </a:solidFill>
                  </a:tcPr>
                </a:tc>
                <a:tc>
                  <a:txBody>
                    <a:bodyPr/>
                    <a:lstStyle/>
                    <a:p>
                      <a:pPr algn="l"/>
                      <a:r>
                        <a:rPr sz="1500" b="1">
                          <a:solidFill>
                            <a:srgbClr val="8A2E3B"/>
                          </a:solidFill>
                          <a:latin typeface="Calibri"/>
                          <a:cs typeface="Calibri"/>
                        </a:rPr>
                        <a:t>Spearman 0.41 ✓</a:t>
                      </a:r>
                    </a:p>
                  </a:txBody>
                  <a:tcPr anchor="ctr">
                    <a:solidFill>
                      <a:srgbClr val="F7EDEF"/>
                    </a:solidFill>
                  </a:tcPr>
                </a:tc>
                <a:extLst>
                  <a:ext uri="{0D108BD9-81ED-4DB2-BD59-A6C34878D82A}">
                    <a16:rowId xmlns:a16="http://schemas.microsoft.com/office/drawing/2014/main" val="10002"/>
                  </a:ext>
                </a:extLst>
              </a:tr>
              <a:tr h="584200">
                <a:tc>
                  <a:txBody>
                    <a:bodyPr/>
                    <a:lstStyle/>
                    <a:p>
                      <a:pPr algn="l"/>
                      <a:r>
                        <a:rPr sz="1500" b="1">
                          <a:solidFill>
                            <a:srgbClr val="1F7A5A"/>
                          </a:solidFill>
                          <a:latin typeface="Calibri"/>
                          <a:cs typeface="Calibri"/>
                        </a:rPr>
                        <a:t>③ 静的強度</a:t>
                      </a:r>
                    </a:p>
                  </a:txBody>
                  <a:tcPr anchor="ctr">
                    <a:lnL w="6350" cap="flat" cmpd="sng" algn="ctr">
                      <a:solidFill>
                        <a:srgbClr val="D0D5DD"/>
                      </a:solidFill>
                      <a:prstDash val="solid"/>
                    </a:lnL>
                    <a:solidFill>
                      <a:srgbClr val="FFFFFF"/>
                    </a:solidFill>
                  </a:tcPr>
                </a:tc>
                <a:tc>
                  <a:txBody>
                    <a:bodyPr/>
                    <a:lstStyle/>
                    <a:p>
                      <a:pPr algn="l"/>
                      <a:r>
                        <a:rPr sz="1500" b="0">
                          <a:solidFill>
                            <a:srgbClr val="333F52"/>
                          </a:solidFill>
                          <a:latin typeface="Calibri"/>
                          <a:cs typeface="Calibri"/>
                        </a:rPr>
                        <a:t>テブナン短絡容量</a:t>
                      </a:r>
                    </a:p>
                  </a:txBody>
                  <a:tcPr anchor="ctr">
                    <a:solidFill>
                      <a:srgbClr val="FFFFFF"/>
                    </a:solidFill>
                  </a:tcPr>
                </a:tc>
                <a:tc>
                  <a:txBody>
                    <a:bodyPr/>
                    <a:lstStyle/>
                    <a:p>
                      <a:pPr algn="l"/>
                      <a:r>
                        <a:rPr sz="1500" b="0">
                          <a:solidFill>
                            <a:srgbClr val="333F52"/>
                          </a:solidFill>
                          <a:latin typeface="Calibri"/>
                          <a:cs typeface="Calibri"/>
                        </a:rPr>
                        <a:t>物理帯(66kV≈1–2GVA)</a:t>
                      </a:r>
                    </a:p>
                  </a:txBody>
                  <a:tcPr anchor="ctr">
                    <a:solidFill>
                      <a:srgbClr val="FFFFFF"/>
                    </a:solidFill>
                  </a:tcPr>
                </a:tc>
                <a:tc>
                  <a:txBody>
                    <a:bodyPr/>
                    <a:lstStyle/>
                    <a:p>
                      <a:pPr algn="l"/>
                      <a:r>
                        <a:rPr sz="1500" b="1">
                          <a:solidFill>
                            <a:srgbClr val="8A2E3B"/>
                          </a:solidFill>
                          <a:latin typeface="Calibri"/>
                          <a:cs typeface="Calibri"/>
                        </a:rPr>
                        <a:t>896–2,207 MVA ✓</a:t>
                      </a:r>
                    </a:p>
                  </a:txBody>
                  <a:tcPr anchor="ctr">
                    <a:solidFill>
                      <a:srgbClr val="F7EDEF"/>
                    </a:solidFill>
                  </a:tcPr>
                </a:tc>
                <a:extLst>
                  <a:ext uri="{0D108BD9-81ED-4DB2-BD59-A6C34878D82A}">
                    <a16:rowId xmlns:a16="http://schemas.microsoft.com/office/drawing/2014/main" val="10003"/>
                  </a:ext>
                </a:extLst>
              </a:tr>
              <a:tr h="584200">
                <a:tc>
                  <a:txBody>
                    <a:bodyPr/>
                    <a:lstStyle/>
                    <a:p>
                      <a:pPr algn="l"/>
                      <a:r>
                        <a:rPr sz="1500" b="1">
                          <a:solidFill>
                            <a:srgbClr val="8A5A1F"/>
                          </a:solidFill>
                          <a:latin typeface="Calibri"/>
                          <a:cs typeface="Calibri"/>
                        </a:rPr>
                        <a:t>④ 動的挙動</a:t>
                      </a:r>
                    </a:p>
                  </a:txBody>
                  <a:tcPr anchor="ctr">
                    <a:lnL w="6350" cap="flat" cmpd="sng" algn="ctr">
                      <a:solidFill>
                        <a:srgbClr val="D0D5DD"/>
                      </a:solidFill>
                      <a:prstDash val="solid"/>
                    </a:lnL>
                    <a:solidFill>
                      <a:srgbClr val="F4F6F9"/>
                    </a:solidFill>
                  </a:tcPr>
                </a:tc>
                <a:tc>
                  <a:txBody>
                    <a:bodyPr/>
                    <a:lstStyle/>
                    <a:p>
                      <a:pPr algn="l"/>
                      <a:r>
                        <a:rPr sz="1500" b="0">
                          <a:solidFill>
                            <a:srgbClr val="333F52"/>
                          </a:solidFill>
                          <a:latin typeface="Calibri"/>
                          <a:cs typeface="Calibri"/>
                        </a:rPr>
                        <a:t>長軸振動モード</a:t>
                      </a:r>
                    </a:p>
                  </a:txBody>
                  <a:tcPr anchor="ctr">
                    <a:solidFill>
                      <a:srgbClr val="F4F6F9"/>
                    </a:solidFill>
                  </a:tcPr>
                </a:tc>
                <a:tc>
                  <a:txBody>
                    <a:bodyPr/>
                    <a:lstStyle/>
                    <a:p>
                      <a:pPr algn="l"/>
                      <a:r>
                        <a:rPr sz="1500" b="0">
                          <a:solidFill>
                            <a:srgbClr val="333F52"/>
                          </a:solidFill>
                          <a:latin typeface="Calibri"/>
                          <a:cs typeface="Calibri"/>
                        </a:rPr>
                        <a:t>実測で知られる約0.4Hz</a:t>
                      </a:r>
                    </a:p>
                  </a:txBody>
                  <a:tcPr anchor="ctr">
                    <a:solidFill>
                      <a:srgbClr val="F4F6F9"/>
                    </a:solidFill>
                  </a:tcPr>
                </a:tc>
                <a:tc>
                  <a:txBody>
                    <a:bodyPr/>
                    <a:lstStyle/>
                    <a:p>
                      <a:pPr algn="l"/>
                      <a:r>
                        <a:rPr sz="1500" b="1">
                          <a:solidFill>
                            <a:srgbClr val="8A2E3B"/>
                          </a:solidFill>
                          <a:latin typeface="Calibri"/>
                          <a:cs typeface="Calibri"/>
                        </a:rPr>
                        <a:t>0.434 Hz ✓</a:t>
                      </a:r>
                    </a:p>
                  </a:txBody>
                  <a:tcPr anchor="ctr">
                    <a:solidFill>
                      <a:srgbClr val="F7EDE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800100" y="5257800"/>
            <a:ext cx="10591800" cy="373115"/>
          </a:xfrm>
          <a:prstGeom prst="rect">
            <a:avLst/>
          </a:prstGeom>
          <a:noFill/>
        </p:spPr>
        <p:txBody>
          <a:bodyPr wrap="square" lIns="0" rIns="0">
            <a:spAutoFit/>
          </a:bodyPr>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既存のオープン系統モデル</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(SciGRID</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GridKit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PyPSA-Eur)</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は静的トポロジ止まり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動的検証まで到達した公開モデルは例がない。</a:t>
            </a:r>
          </a:p>
        </p:txBody>
      </p:sp>
      <p:sp>
        <p:nvSpPr>
          <p:cNvPr id="8" name="TextBox 7"/>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03 / 15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検証</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4</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点セット</a:t>
            </a:r>
          </a:p>
        </p:txBody>
      </p:sp>
      <p:pic>
        <p:nvPicPr>
          <p:cNvPr id="9" name="図 8">
            <a:extLst>
              <a:ext uri="{FF2B5EF4-FFF2-40B4-BE49-F238E27FC236}">
                <a16:creationId xmlns:a16="http://schemas.microsoft.com/office/drawing/2014/main" id="{F6080859-BA25-E618-F429-5FB3968C50A7}"/>
              </a:ext>
            </a:extLst>
          </p:cNvPr>
          <p:cNvPicPr>
            <a:picLocks noChangeAspect="1"/>
          </p:cNvPicPr>
          <p:nvPr/>
        </p:nvPicPr>
        <p:blipFill rotWithShape="1">
          <a:blip r:embed="rId2"/>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3192562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ln/>
          <a:effectLst/>
        </p:spPr>
        <p:style>
          <a:lnRef idx="1">
            <a:schemeClr val="accent1"/>
          </a:lnRef>
          <a:fillRef idx="0">
            <a:scrgbClr r="0" g="0" b="0"/>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00" name="Dg 800"/>
          <p:cNvSpPr/>
          <p:nvPr/>
        </p:nvSpPr>
        <p:spPr>
          <a:xfrm>
            <a:off x="546100" y="2133600"/>
            <a:ext cx="5969000" cy="19304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01" name="Dg 801"/>
          <p:cNvSpPr/>
          <p:nvPr/>
        </p:nvSpPr>
        <p:spPr>
          <a:xfrm>
            <a:off x="546100" y="2133600"/>
            <a:ext cx="38100" cy="1930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4191000"/>
            <a:ext cx="5969000" cy="1981200"/>
          </a:xfrm>
          <a:prstGeom prst="rect">
            <a:avLst/>
          </a:prstGeom>
          <a:solidFill>
            <a:srgbClr val="F4F6FA"/>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546100" y="4191000"/>
            <a:ext cx="38100" cy="1981200"/>
          </a:xfrm>
          <a:prstGeom prst="rect">
            <a:avLst/>
          </a:prstGeom>
          <a:solidFill>
            <a:srgbClr val="8A2E3B"/>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6680200" y="1727200"/>
            <a:ext cx="4965700" cy="2489200"/>
          </a:xfrm>
          <a:prstGeom prst="rect">
            <a:avLst/>
          </a:prstGeom>
          <a:solidFill>
            <a:srgbClr val="F4F6FA"/>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3" name="Dg 323"/>
          <p:cNvSpPr/>
          <p:nvPr/>
        </p:nvSpPr>
        <p:spPr>
          <a:xfrm>
            <a:off x="6680200" y="1727200"/>
            <a:ext cx="38100" cy="2489200"/>
          </a:xfrm>
          <a:prstGeom prst="rect">
            <a:avLst/>
          </a:prstGeom>
          <a:solidFill>
            <a:srgbClr val="8A2E3B"/>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6680200" y="4343400"/>
            <a:ext cx="4965700" cy="1828800"/>
          </a:xfrm>
          <a:prstGeom prst="rect">
            <a:avLst/>
          </a:prstGeom>
          <a:solidFill>
            <a:srgbClr val="F4F6FA"/>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6680200" y="4343400"/>
            <a:ext cx="4965700" cy="38100"/>
          </a:xfrm>
          <a:prstGeom prst="rect">
            <a:avLst/>
          </a:prstGeom>
          <a:solidFill>
            <a:srgbClr val="8A2E3B"/>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原理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I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系統の強さ</a:t>
            </a:r>
          </a:p>
        </p:txBody>
      </p:sp>
      <p:sp>
        <p:nvSpPr>
          <p:cNvPr id="4" name="TextBox 3"/>
          <p:cNvSpPr txBox="1"/>
          <p:nvPr/>
        </p:nvSpPr>
        <p:spPr>
          <a:xfrm>
            <a:off x="546100" y="8382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テブナンの定理で「強さ」を</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1</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点の数字にする</a:t>
            </a:r>
          </a:p>
        </p:txBody>
      </p:sp>
      <p:sp>
        <p:nvSpPr>
          <p:cNvPr id="5" name="TextBox 4"/>
          <p:cNvSpPr txBox="1"/>
          <p:nvPr/>
        </p:nvSpPr>
        <p:spPr>
          <a:xfrm>
            <a:off x="546100" y="1447800"/>
            <a:ext cx="5969000" cy="635000"/>
          </a:xfrm>
          <a:prstGeom prst="rect">
            <a:avLst/>
          </a:prstGeom>
          <a:noFill/>
        </p:spPr>
        <p:txBody>
          <a:bodyPr wrap="square">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バス</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から系統を見ると、どんな複雑な網も「</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つの電源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+ 1</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つのインピーダンス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Zth</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」に等価化できる。</a:t>
            </a:r>
          </a:p>
        </p:txBody>
      </p:sp>
      <p:sp>
        <p:nvSpPr>
          <p:cNvPr id="6" name="Rectangle 5"/>
          <p:cNvSpPr/>
          <p:nvPr/>
        </p:nvSpPr>
        <p:spPr>
          <a:xfrm>
            <a:off x="800100" y="5715000"/>
            <a:ext cx="5461000" cy="406400"/>
          </a:xfrm>
          <a:ln/>
          <a:effectLst/>
        </p:spPr>
        <p:style>
          <a:lnRef idx="1">
            <a:schemeClr val="accent1"/>
          </a:lnRef>
          <a:fillRef idx="0">
            <a:scrgbClr r="0" g="0" b="0"/>
          </a:fillRef>
          <a:effectRef idx="2">
            <a:schemeClr val="accent1"/>
          </a:effectRef>
          <a:fontRef idx="minor">
            <a:schemeClr val="lt1"/>
          </a:fontRef>
        </p:style>
        <p:txBody>
          <a:bodyPr wrap="square" lIns="0" tIns="0" rIns="0" bIns="0" rtlCol="0" anchor="ct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逆行列</a:t>
            </a:r>
            <a:r>
              <a:rPr kumimoji="0" lang="ja-JP" altLang="en-US" sz="14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は作らず疎ＬＵ</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で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Y x = ei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を解き対角のみ取得</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島あたり数十秒</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。発電機は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x″d = 0.2pu(</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典型値</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で参加。</a:t>
            </a:r>
          </a:p>
        </p:txBody>
      </p:sp>
      <p:sp>
        <p:nvSpPr>
          <p:cNvPr id="7" name="Rectangle 6"/>
          <p:cNvSpPr/>
          <p:nvPr/>
        </p:nvSpPr>
        <p:spPr>
          <a:xfrm>
            <a:off x="6934200" y="3596992"/>
            <a:ext cx="4457700" cy="431800"/>
          </a:xfrm>
          <a:ln/>
          <a:effectLst/>
        </p:spPr>
        <p:style>
          <a:lnRef idx="1">
            <a:schemeClr val="accent1"/>
          </a:lnRef>
          <a:fillRef idx="0">
            <a:scrgbClr r="0" g="0" b="0"/>
          </a:fillRef>
          <a:effectRef idx="2">
            <a:schemeClr val="accent1"/>
          </a:effectRef>
          <a:fontRef idx="minor">
            <a:schemeClr val="lt1"/>
          </a:fontRef>
        </p:style>
        <p:txBody>
          <a:bodyPr wrap="square" lIns="0" tIns="0" rIns="0" bIns="0" rtlCol="0" anchor="ctr"/>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つまり </a:t>
            </a:r>
            <a:r>
              <a:rPr kumimoji="0" lang="en-US" altLang="ja-JP"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SCR </a:t>
            </a: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は「定格</a:t>
            </a:r>
            <a:r>
              <a:rPr kumimoji="0" lang="en-US" altLang="ja-JP"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1pu</a:t>
            </a: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の電流変化が何</a:t>
            </a:r>
            <a:r>
              <a:rPr kumimoji="0" lang="en-US" altLang="ja-JP"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a:t>
            </a: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電圧を動かすか」の逆数。余談：</a:t>
            </a:r>
            <a:r>
              <a:rPr kumimoji="0" lang="en-US" altLang="ja-JP"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SCR</a:t>
            </a: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が小さいほど</a:t>
            </a:r>
            <a:r>
              <a:rPr kumimoji="0" lang="en-US" altLang="ja-JP"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PLL</a:t>
            </a:r>
            <a:r>
              <a:rPr kumimoji="0" lang="ja-JP" altLang="en-US" sz="1200" b="0" i="0" u="none" strike="noStrike" kern="1200" cap="none" spc="0" normalizeH="0" baseline="0" noProof="0">
                <a:ln>
                  <a:noFill/>
                </a:ln>
                <a:solidFill>
                  <a:srgbClr val="5B6470"/>
                </a:solidFill>
                <a:effectLst/>
                <a:uLnTx/>
                <a:uFillTx/>
                <a:latin typeface="Calibri"/>
                <a:ea typeface="ＭＳ Ｐゴシック" panose="020B0600070205080204" pitchFamily="34" charset="-128"/>
                <a:cs typeface="+mn-cs"/>
              </a:rPr>
              <a:t>が自分の起こした変動を追って発振する。</a:t>
            </a:r>
            <a:endParaRPr kumimoji="0" lang="ja-JP" altLang="en-US" sz="12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p:sp>
        <p:nvSpPr>
          <p:cNvPr id="8" name="TextBox 7"/>
          <p:cNvSpPr txBox="1"/>
          <p:nvPr/>
        </p:nvSpPr>
        <p:spPr>
          <a:xfrm>
            <a:off x="6934200" y="4521200"/>
            <a:ext cx="4457700" cy="330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読みどころ</a:t>
            </a:r>
          </a:p>
        </p:txBody>
      </p:sp>
      <p:sp>
        <p:nvSpPr>
          <p:cNvPr id="9" name="TextBox 8"/>
          <p:cNvSpPr txBox="1"/>
          <p:nvPr/>
        </p:nvSpPr>
        <p:spPr>
          <a:xfrm>
            <a:off x="6934200" y="4927600"/>
            <a:ext cx="4457700" cy="1223027"/>
          </a:xfrm>
          <a:prstGeom prst="rect">
            <a:avLst/>
          </a:prstGeom>
          <a:noFill/>
        </p:spPr>
        <p:txBody>
          <a:bodyPr wrap="square">
            <a:spAutoFit/>
          </a:bodyPr>
          <a:lstStyle/>
          <a:p>
            <a:pPr marL="160000" marR="0" lvl="0" indent="-160000" algn="l" defTabSz="457200" rtl="0" eaLnBrk="1" fontAlgn="auto" latinLnBrk="0" hangingPunct="1">
              <a:lnSpc>
                <a:spcPct val="125000"/>
              </a:lnSpc>
              <a:spcBef>
                <a:spcPts val="0"/>
              </a:spcBef>
              <a:spcAft>
                <a:spcPts val="30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経験則</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SCR &lt; 3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で不安定リスク帯</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(IEEE</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系の知見</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a:p>
            <a:pPr marL="160000" marR="0" lvl="0" indent="-160000" algn="l" defTabSz="457200" rtl="0" eaLnBrk="1" fontAlgn="auto" latinLnBrk="0" hangingPunct="1">
              <a:lnSpc>
                <a:spcPct val="125000"/>
              </a:lnSpc>
              <a:spcBef>
                <a:spcPts val="0"/>
              </a:spcBef>
              <a:spcAft>
                <a:spcPts val="300"/>
              </a:spcAft>
              <a:buClrTx/>
              <a:buSzTx/>
              <a:buFont typeface="Arial"/>
              <a:buChar char="•"/>
              <a:tabLst/>
              <a:defRPr/>
            </a:pP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66kV</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系で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Ssc ≈ 1〜2 GVA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が普通の値</a:t>
            </a:r>
          </a:p>
          <a:p>
            <a:pPr marL="160000" marR="0" lvl="0" indent="-160000" algn="l" defTabSz="457200" rtl="0" eaLnBrk="1" fontAlgn="auto" latinLnBrk="0" hangingPunct="1">
              <a:lnSpc>
                <a:spcPct val="125000"/>
              </a:lnSpc>
              <a:spcBef>
                <a:spcPts val="0"/>
              </a:spcBef>
              <a:spcAft>
                <a:spcPts val="30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モデルの</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66–77kV</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帯中央値</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0.9〜2.2 GVA —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物理帯に整合</a:t>
            </a:r>
          </a:p>
        </p:txBody>
      </p:sp>
      <p:sp>
        <p:nvSpPr>
          <p:cNvPr id="10" name="TextBox 9"/>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05 / 15   gen_grid_strength_map.py —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機械は</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G</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表</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号機</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型式別典型値</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から</a:t>
            </a:r>
          </a:p>
        </p:txBody>
      </p:sp>
      <p:sp>
        <p:nvSpPr>
          <p:cNvPr id="350" name="Dg 350"/>
          <p:cNvSpPr/>
          <p:nvPr/>
        </p:nvSpPr>
        <p:spPr>
          <a:xfrm>
            <a:off x="698500" y="2362200"/>
            <a:ext cx="1930400" cy="1016000"/>
          </a:xfrm>
          <a:prstGeom prst="cloud">
            <a:avLst/>
          </a:prstGeom>
          <a:solidFill>
            <a:srgbClr val="FFFFFF"/>
          </a:solidFill>
          <a:ln w="12700">
            <a:solidFill>
              <a:srgbClr val="5B6470"/>
            </a:solidFill>
          </a:ln>
        </p:spPr>
        <p:txBody>
          <a:bodyPr lIns="18000" tIns="0" rIns="1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複雑な系統網</a:t>
            </a:r>
          </a:p>
        </p:txBody>
      </p:sp>
      <p:sp>
        <p:nvSpPr>
          <p:cNvPr id="360" name="TB 360"/>
          <p:cNvSpPr txBox="1"/>
          <p:nvPr/>
        </p:nvSpPr>
        <p:spPr>
          <a:xfrm>
            <a:off x="2717800" y="2438400"/>
            <a:ext cx="685800" cy="2286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等価化</a:t>
            </a:r>
          </a:p>
        </p:txBody>
      </p:sp>
      <p:sp>
        <p:nvSpPr>
          <p:cNvPr id="351" name="Dg 351"/>
          <p:cNvSpPr/>
          <p:nvPr/>
        </p:nvSpPr>
        <p:spPr>
          <a:xfrm>
            <a:off x="2692400" y="2743200"/>
            <a:ext cx="635000" cy="330200"/>
          </a:xfrm>
          <a:prstGeom prst="rightArrow">
            <a:avLst/>
          </a:prstGeom>
          <a:solidFill>
            <a:srgbClr val="8A2E3B"/>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Dg 352"/>
          <p:cNvSpPr/>
          <p:nvPr/>
        </p:nvSpPr>
        <p:spPr>
          <a:xfrm>
            <a:off x="3454400" y="2590800"/>
            <a:ext cx="635000" cy="635000"/>
          </a:xfrm>
          <a:prstGeom prst="ellipse">
            <a:avLst/>
          </a:prstGeom>
          <a:solidFill>
            <a:srgbClr val="FFFFFF"/>
          </a:solidFill>
          <a:ln w="12700">
            <a:solidFill>
              <a:srgbClr val="1A2744"/>
            </a:solidFill>
          </a:ln>
        </p:spPr>
        <p:txBody>
          <a:bodyPr lIns="18000" tIns="0" rIns="1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a:t>
            </a:r>
          </a:p>
        </p:txBody>
      </p:sp>
      <p:sp>
        <p:nvSpPr>
          <p:cNvPr id="355" name="Dg 355"/>
          <p:cNvSpPr/>
          <p:nvPr/>
        </p:nvSpPr>
        <p:spPr>
          <a:xfrm>
            <a:off x="4089400" y="2895600"/>
            <a:ext cx="381000" cy="25400"/>
          </a:xfrm>
          <a:prstGeom prst="rect">
            <a:avLst/>
          </a:prstGeom>
          <a:solidFill>
            <a:srgbClr val="1A2744"/>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Dg 353"/>
          <p:cNvSpPr/>
          <p:nvPr/>
        </p:nvSpPr>
        <p:spPr>
          <a:xfrm>
            <a:off x="4470400" y="2705100"/>
            <a:ext cx="1016000" cy="406400"/>
          </a:xfrm>
          <a:prstGeom prst="rect">
            <a:avLst/>
          </a:prstGeom>
          <a:solidFill>
            <a:srgbClr val="FFFFFF"/>
          </a:solidFill>
          <a:ln w="12700">
            <a:solidFill>
              <a:srgbClr val="1A2744"/>
            </a:solidFill>
          </a:ln>
        </p:spPr>
        <p:txBody>
          <a:bodyPr lIns="18000" tIns="0" rIns="1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4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Zth</a:t>
            </a:r>
          </a:p>
        </p:txBody>
      </p:sp>
      <p:sp>
        <p:nvSpPr>
          <p:cNvPr id="356" name="Dg 356"/>
          <p:cNvSpPr/>
          <p:nvPr/>
        </p:nvSpPr>
        <p:spPr>
          <a:xfrm>
            <a:off x="5486400" y="2895600"/>
            <a:ext cx="330200" cy="25400"/>
          </a:xfrm>
          <a:prstGeom prst="rect">
            <a:avLst/>
          </a:prstGeom>
          <a:solidFill>
            <a:srgbClr val="1A2744"/>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Dg 354"/>
          <p:cNvSpPr/>
          <p:nvPr/>
        </p:nvSpPr>
        <p:spPr>
          <a:xfrm>
            <a:off x="5816600" y="2514600"/>
            <a:ext cx="63500" cy="787400"/>
          </a:xfrm>
          <a:prstGeom prst="rect">
            <a:avLst/>
          </a:prstGeom>
          <a:solidFill>
            <a:srgbClr val="1A2744"/>
          </a:solidFill>
          <a:ln>
            <a:noFill/>
          </a:ln>
        </p:spPr>
        <p:txBody>
          <a:bodyPr lIns="18000" tIns="0" rIns="18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2" name="TB 362"/>
          <p:cNvSpPr txBox="1"/>
          <p:nvPr/>
        </p:nvSpPr>
        <p:spPr>
          <a:xfrm>
            <a:off x="3390900" y="3276600"/>
            <a:ext cx="762000" cy="2286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Vth</a:t>
            </a:r>
          </a:p>
        </p:txBody>
      </p:sp>
      <p:sp>
        <p:nvSpPr>
          <p:cNvPr id="361" name="TB 361"/>
          <p:cNvSpPr txBox="1"/>
          <p:nvPr/>
        </p:nvSpPr>
        <p:spPr>
          <a:xfrm>
            <a:off x="5334000" y="3352800"/>
            <a:ext cx="1016000" cy="2286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バス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a:t>
            </a:r>
          </a:p>
        </p:txBody>
      </p:sp>
      <p:sp>
        <p:nvSpPr>
          <p:cNvPr id="365" name="TB 365"/>
          <p:cNvSpPr txBox="1"/>
          <p:nvPr/>
        </p:nvSpPr>
        <p:spPr>
          <a:xfrm>
            <a:off x="698500" y="3657600"/>
            <a:ext cx="5588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どんな複雑な網も、バス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から見れば「</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電源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インピーダンス」</a:t>
            </a:r>
          </a:p>
        </p:txBody>
      </p:sp>
      <mc:AlternateContent xmlns:mc="http://schemas.openxmlformats.org/markup-compatibility/2006" xmlns:a14="http://schemas.microsoft.com/office/drawing/2010/main">
        <mc:Choice Requires="a14">
          <p:sp>
            <p:nvSpPr>
              <p:cNvPr id="810" name="TB 810"/>
              <p:cNvSpPr txBox="1"/>
              <p:nvPr/>
            </p:nvSpPr>
            <p:spPr>
              <a:xfrm>
                <a:off x="800100" y="4368800"/>
                <a:ext cx="5461000" cy="381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p>
                            <m:sSup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𝑌</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𝑖𝑖</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810" name="TB 810"/>
              <p:cNvSpPr txBox="1">
                <a:spLocks noRot="1" noChangeAspect="1" noMove="1" noResize="1" noEditPoints="1" noAdjustHandles="1" noChangeArrowheads="1" noChangeShapeType="1" noTextEdit="1"/>
              </p:cNvSpPr>
              <p:nvPr/>
            </p:nvSpPr>
            <p:spPr>
              <a:xfrm>
                <a:off x="800100" y="4368800"/>
                <a:ext cx="5461000" cy="381000"/>
              </a:xfrm>
              <a:prstGeom prst="rect">
                <a:avLst/>
              </a:prstGeom>
              <a:blipFill>
                <a:blip r:embed="rId2"/>
                <a:stretch>
                  <a:fillRect l="-1160" t="-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11" name="TB 811"/>
              <p:cNvSpPr txBox="1"/>
              <p:nvPr/>
            </p:nvSpPr>
            <p:spPr>
              <a:xfrm>
                <a:off x="800100" y="4902200"/>
                <a:ext cx="5461000" cy="711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𝑆</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𝑠𝑐</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1"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sSup>
                            <m:sSup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𝑉</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up>
                          </m:sSup>
                        </m:num>
                        <m:den>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den>
                      </m:f>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1"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𝑆</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𝑏𝑎𝑠𝑒</m:t>
                              </m:r>
                            </m:sub>
                          </m:sSub>
                        </m:num>
                        <m:den>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𝑝𝑢</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den>
                      </m:f>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811" name="TB 811"/>
              <p:cNvSpPr txBox="1">
                <a:spLocks noRot="1" noChangeAspect="1" noMove="1" noResize="1" noEditPoints="1" noAdjustHandles="1" noChangeArrowheads="1" noChangeShapeType="1" noTextEdit="1"/>
              </p:cNvSpPr>
              <p:nvPr/>
            </p:nvSpPr>
            <p:spPr>
              <a:xfrm>
                <a:off x="800100" y="4902200"/>
                <a:ext cx="5461000" cy="711200"/>
              </a:xfrm>
              <a:prstGeom prst="rect">
                <a:avLst/>
              </a:prstGeom>
              <a:blipFill>
                <a:blip r:embed="rId3"/>
                <a:stretch>
                  <a:fillRect l="-1160"/>
                </a:stretch>
              </a:blipFill>
            </p:spPr>
            <p:txBody>
              <a:bodyPr/>
              <a:lstStyle/>
              <a:p>
                <a:r>
                  <a:rPr lang="ja-JP" altLang="en-US">
                    <a:noFill/>
                  </a:rPr>
                  <a:t> </a:t>
                </a:r>
              </a:p>
            </p:txBody>
          </p:sp>
        </mc:Fallback>
      </mc:AlternateContent>
      <p:sp>
        <p:nvSpPr>
          <p:cNvPr id="850" name="TB 850"/>
          <p:cNvSpPr txBox="1"/>
          <p:nvPr/>
        </p:nvSpPr>
        <p:spPr>
          <a:xfrm>
            <a:off x="6680200" y="1397000"/>
            <a:ext cx="4965700" cy="279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弱い系統ほど電圧が動く → </a:t>
            </a:r>
            <a:r>
              <a:rPr kumimoji="0" lang="en-US" altLang="ja-JP"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SCR</a:t>
            </a:r>
          </a:p>
        </p:txBody>
      </p:sp>
      <mc:AlternateContent xmlns:mc="http://schemas.openxmlformats.org/markup-compatibility/2006" xmlns:a14="http://schemas.microsoft.com/office/drawing/2010/main">
        <mc:Choice Requires="a14">
          <p:sp>
            <p:nvSpPr>
              <p:cNvPr id="851" name="TB 851"/>
              <p:cNvSpPr txBox="1"/>
              <p:nvPr/>
            </p:nvSpPr>
            <p:spPr>
              <a:xfrm>
                <a:off x="6934200" y="1905000"/>
                <a:ext cx="4457700" cy="355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𝑉</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𝐼</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851" name="TB 851"/>
              <p:cNvSpPr txBox="1">
                <a:spLocks noRot="1" noChangeAspect="1" noMove="1" noResize="1" noEditPoints="1" noAdjustHandles="1" noChangeArrowheads="1" noChangeShapeType="1" noTextEdit="1"/>
              </p:cNvSpPr>
              <p:nvPr/>
            </p:nvSpPr>
            <p:spPr>
              <a:xfrm>
                <a:off x="6934200" y="1905000"/>
                <a:ext cx="4457700" cy="355600"/>
              </a:xfrm>
              <a:prstGeom prst="rect">
                <a:avLst/>
              </a:prstGeom>
              <a:blipFill>
                <a:blip r:embed="rId4"/>
                <a:stretch>
                  <a:fillRect l="-1705" t="-689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52" name="TB 852"/>
              <p:cNvSpPr txBox="1"/>
              <p:nvPr/>
            </p:nvSpPr>
            <p:spPr>
              <a:xfrm>
                <a:off x="6934200" y="2731946"/>
                <a:ext cx="4457700" cy="660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𝑆𝐶𝑅</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1"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𝑆</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𝑠𝑐</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num>
                        <m:den>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𝑆</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𝐼𝐵𝑅</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den>
                      </m:f>
                    </m:oMath>
                  </m:oMathPara>
                </a14:m>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852" name="TB 852"/>
              <p:cNvSpPr txBox="1">
                <a:spLocks noRot="1" noChangeAspect="1" noMove="1" noResize="1" noEditPoints="1" noAdjustHandles="1" noChangeArrowheads="1" noChangeShapeType="1" noTextEdit="1"/>
              </p:cNvSpPr>
              <p:nvPr/>
            </p:nvSpPr>
            <p:spPr>
              <a:xfrm>
                <a:off x="6934200" y="2731946"/>
                <a:ext cx="4457700" cy="660400"/>
              </a:xfrm>
              <a:prstGeom prst="rect">
                <a:avLst/>
              </a:prstGeom>
              <a:blipFill>
                <a:blip r:embed="rId5"/>
                <a:stretch>
                  <a:fillRect l="-1705" t="-192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70" name="EQ 870"/>
              <p:cNvSpPr txBox="1"/>
              <p:nvPr/>
            </p:nvSpPr>
            <p:spPr>
              <a:xfrm>
                <a:off x="6934200" y="2311400"/>
                <a:ext cx="4457700" cy="635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定格で正規化すると </a:t>
                </a:r>
                <a14:m>
                  <m:oMath xmlns:m="http://schemas.openxmlformats.org/officeDocument/2006/math">
                    <m:f>
                      <m:f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𝑉</m:t>
                        </m:r>
                      </m:num>
                      <m:den>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𝑉</m:t>
                        </m:r>
                      </m:den>
                    </m:f>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num>
                      <m:den>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𝑆𝐶𝑅</m:t>
                        </m:r>
                      </m:den>
                    </m:f>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𝐼</m:t>
                        </m:r>
                      </m:num>
                      <m:den>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𝐼</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𝑛</m:t>
                            </m:r>
                          </m:sub>
                        </m:sSub>
                      </m:den>
                    </m:f>
                  </m:oMath>
                </a14:m>
                <a:endPar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mc:Choice>
        <mc:Fallback xmlns="">
          <p:sp>
            <p:nvSpPr>
              <p:cNvPr id="870" name="EQ 870"/>
              <p:cNvSpPr txBox="1">
                <a:spLocks noRot="1" noChangeAspect="1" noMove="1" noResize="1" noEditPoints="1" noAdjustHandles="1" noChangeArrowheads="1" noChangeShapeType="1" noTextEdit="1"/>
              </p:cNvSpPr>
              <p:nvPr/>
            </p:nvSpPr>
            <p:spPr>
              <a:xfrm>
                <a:off x="6934200" y="2311400"/>
                <a:ext cx="4457700" cy="635000"/>
              </a:xfrm>
              <a:prstGeom prst="rect">
                <a:avLst/>
              </a:prstGeom>
              <a:blipFill>
                <a:blip r:embed="rId6"/>
                <a:stretch>
                  <a:fillRect l="-2557" t="-1961"/>
                </a:stretch>
              </a:blipFill>
            </p:spPr>
            <p:txBody>
              <a:bodyPr/>
              <a:lstStyle/>
              <a:p>
                <a:r>
                  <a:rPr lang="ja-JP" altLang="en-US">
                    <a:noFill/>
                  </a:rPr>
                  <a:t> </a:t>
                </a:r>
              </a:p>
            </p:txBody>
          </p:sp>
        </mc:Fallback>
      </mc:AlternateContent>
      <p:pic>
        <p:nvPicPr>
          <p:cNvPr id="11" name="図 10">
            <a:extLst>
              <a:ext uri="{FF2B5EF4-FFF2-40B4-BE49-F238E27FC236}">
                <a16:creationId xmlns:a16="http://schemas.microsoft.com/office/drawing/2014/main" id="{C6A164FE-3190-6E98-074D-CD9D5D709CCD}"/>
              </a:ext>
            </a:extLst>
          </p:cNvPr>
          <p:cNvPicPr>
            <a:picLocks noChangeAspect="1"/>
          </p:cNvPicPr>
          <p:nvPr/>
        </p:nvPicPr>
        <p:blipFill rotWithShape="1">
          <a:blip r:embed="rId7"/>
          <a:srcRect l="8450" t="6883" r="8744" b="7875"/>
          <a:stretch>
            <a:fillRect/>
          </a:stretch>
        </p:blipFill>
        <p:spPr>
          <a:xfrm>
            <a:off x="11128289" y="0"/>
            <a:ext cx="1063711" cy="1092200"/>
          </a:xfrm>
          <a:prstGeom prst="rect">
            <a:avLst/>
          </a:prstGeom>
        </p:spPr>
      </p:pic>
    </p:spTree>
    <p:extLst>
      <p:ext uri="{BB962C8B-B14F-4D97-AF65-F5344CB8AC3E}">
        <p14:creationId xmlns:p14="http://schemas.microsoft.com/office/powerpoint/2010/main" val="2213784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ig_scr_network_slide.jpg"/>
          <p:cNvPicPr>
            <a:picLocks noChangeAspect="1"/>
          </p:cNvPicPr>
          <p:nvPr/>
        </p:nvPicPr>
        <p:blipFill>
          <a:blip r:embed="rId2"/>
          <a:srcRect l="13536" t="5000" r="15796" b="26411"/>
          <a:stretch>
            <a:fillRect/>
          </a:stretch>
        </p:blipFill>
        <p:spPr>
          <a:xfrm>
            <a:off x="5680640" y="9013"/>
            <a:ext cx="6238157" cy="6858000"/>
          </a:xfrm>
          <a:prstGeom prst="rect">
            <a:avLst/>
          </a:prstGeom>
        </p:spPr>
      </p:pic>
      <p:sp>
        <p:nvSpPr>
          <p:cNvPr id="2" name="Rectangle 1"/>
          <p:cNvSpPr/>
          <p:nvPr/>
        </p:nvSpPr>
        <p:spPr>
          <a:xfrm>
            <a:off x="0" y="0"/>
            <a:ext cx="12191695" cy="6858000"/>
          </a:xfrm>
          <a:solidFill>
            <a:srgbClr val="FFFFFF"/>
          </a:solidFill>
          <a:ln>
            <a:noFill/>
          </a:ln>
          <a:effectLst/>
        </p:spPr>
        <p:style>
          <a:lnRef idx="1">
            <a:schemeClr val="accent1"/>
          </a:lnRef>
          <a:fillRef idx="0">
            <a:scrgbClr r="0" g="0" b="0"/>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eco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eco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eco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eco 320"/>
          <p:cNvSpPr/>
          <p:nvPr/>
        </p:nvSpPr>
        <p:spPr>
          <a:xfrm>
            <a:off x="546100" y="3403600"/>
            <a:ext cx="5588000" cy="2387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eco 321"/>
          <p:cNvSpPr/>
          <p:nvPr/>
        </p:nvSpPr>
        <p:spPr>
          <a:xfrm>
            <a:off x="546100" y="3403600"/>
            <a:ext cx="38100" cy="2387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Deco 330"/>
          <p:cNvSpPr/>
          <p:nvPr/>
        </p:nvSpPr>
        <p:spPr>
          <a:xfrm>
            <a:off x="546100" y="2489200"/>
            <a:ext cx="203200" cy="203200"/>
          </a:xfrm>
          <a:prstGeom prst="rect">
            <a:avLst/>
          </a:prstGeom>
          <a:solidFill>
            <a:srgbClr val="2E7D5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Deco 331"/>
          <p:cNvSpPr/>
          <p:nvPr/>
        </p:nvSpPr>
        <p:spPr>
          <a:xfrm>
            <a:off x="546100" y="2895600"/>
            <a:ext cx="203200" cy="203200"/>
          </a:xfrm>
          <a:prstGeom prst="rect">
            <a:avLst/>
          </a:prstGeom>
          <a:solidFill>
            <a:srgbClr val="E4572E"/>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結果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I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系統強度ネットワーク図</a:t>
            </a:r>
          </a:p>
        </p:txBody>
      </p:sp>
      <p:sp>
        <p:nvSpPr>
          <p:cNvPr id="4" name="TextBox 3"/>
          <p:cNvSpPr txBox="1"/>
          <p:nvPr/>
        </p:nvSpPr>
        <p:spPr>
          <a:xfrm>
            <a:off x="546100" y="838200"/>
            <a:ext cx="5486400" cy="979051"/>
          </a:xfrm>
          <a:prstGeom prst="rect">
            <a:avLst/>
          </a:prstGeom>
          <a:noFill/>
        </p:spPr>
        <p:txBody>
          <a:bodyPr wrap="square">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「コンセントの奥に、どれだけ</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発電機が控えているか」の地図</a:t>
            </a:r>
          </a:p>
        </p:txBody>
      </p:sp>
      <p:sp>
        <p:nvSpPr>
          <p:cNvPr id="5" name="TextBox 4"/>
          <p:cNvSpPr txBox="1"/>
          <p:nvPr/>
        </p:nvSpPr>
        <p:spPr>
          <a:xfrm>
            <a:off x="850900" y="3683000"/>
            <a:ext cx="5029200" cy="1513171"/>
          </a:xfrm>
          <a:prstGeom prst="rect">
            <a:avLst/>
          </a:prstGeom>
          <a:noFill/>
        </p:spPr>
        <p:txBody>
          <a:bodyPr wrap="square">
            <a:spAutoFit/>
          </a:bodyPr>
          <a:lstStyle/>
          <a:p>
            <a:pPr marL="171450" marR="0" lvl="0" indent="-171450" algn="l" defTabSz="457200" rtl="0" eaLnBrk="1" fontAlgn="auto" latinLnBrk="0" hangingPunct="1">
              <a:lnSpc>
                <a:spcPct val="135000"/>
              </a:lnSpc>
              <a:spcBef>
                <a:spcPts val="0"/>
              </a:spcBef>
              <a:spcAft>
                <a:spcPts val="800"/>
              </a:spcAft>
              <a:buClrTx/>
              <a:buSzTx/>
              <a:buFont typeface="Arial"/>
              <a:buChar char="•"/>
              <a:tabLst/>
              <a:defRPr/>
            </a:pP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Ssc</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はバス量 →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min(</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両端</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Ssc)</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で線に写像</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全国</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18,769</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線分</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a:p>
            <a:pPr marL="171450" marR="0" lvl="0" indent="-171450" algn="l" defTabSz="457200" rtl="0" eaLnBrk="1" fontAlgn="auto" latinLnBrk="0" hangingPunct="1">
              <a:lnSpc>
                <a:spcPct val="135000"/>
              </a:lnSpc>
              <a:spcBef>
                <a:spcPts val="0"/>
              </a:spcBef>
              <a:spcAft>
                <a:spcPts val="8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基幹回廊が緑・放射状</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66kV</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末端が赤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直観と一致</a:t>
            </a:r>
          </a:p>
          <a:p>
            <a:pPr marL="171450" marR="0" lvl="0" indent="-171450" algn="l" defTabSz="457200" rtl="0" eaLnBrk="1" fontAlgn="auto" latinLnBrk="0" hangingPunct="1">
              <a:lnSpc>
                <a:spcPct val="135000"/>
              </a:lnSpc>
              <a:spcBef>
                <a:spcPts val="0"/>
              </a:spcBef>
              <a:spcAft>
                <a:spcPts val="8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赤いエリア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太陽光集中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ホスティング容量と</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GFM</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配置の優先地図</a:t>
            </a:r>
          </a:p>
        </p:txBody>
      </p:sp>
      <p:sp>
        <p:nvSpPr>
          <p:cNvPr id="7" name="TextBox 6"/>
          <p:cNvSpPr txBox="1"/>
          <p:nvPr/>
        </p:nvSpPr>
        <p:spPr>
          <a:xfrm>
            <a:off x="546100" y="6273800"/>
            <a:ext cx="11099800"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06 / 15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非物理値</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(119GVA)</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は単位表記バグを検算で発見 → </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v5.0.1</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で修正</a:t>
            </a:r>
          </a:p>
        </p:txBody>
      </p:sp>
      <p:sp>
        <p:nvSpPr>
          <p:cNvPr id="340" name="TB 340"/>
          <p:cNvSpPr txBox="1"/>
          <p:nvPr/>
        </p:nvSpPr>
        <p:spPr>
          <a:xfrm>
            <a:off x="863600" y="2463800"/>
            <a:ext cx="5080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緑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lang="ja-JP" altLang="en-US" sz="1400" dirty="0">
                <a:solidFill>
                  <a:srgbClr val="3D4657"/>
                </a:solidFill>
                <a:latin typeface="Calibri"/>
                <a:ea typeface="ＭＳ Ｐゴシック" panose="020B0600070205080204" pitchFamily="34" charset="-128"/>
              </a:rPr>
              <a:t>強い</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系統</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(Ssc</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が大きい</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341" name="TB 341"/>
          <p:cNvSpPr txBox="1"/>
          <p:nvPr/>
        </p:nvSpPr>
        <p:spPr>
          <a:xfrm>
            <a:off x="863600" y="2870200"/>
            <a:ext cx="5080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赤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弱い系統</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(Ssc</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が小さい</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342" name="TB 342"/>
          <p:cNvSpPr txBox="1"/>
          <p:nvPr/>
        </p:nvSpPr>
        <p:spPr>
          <a:xfrm>
            <a:off x="546100" y="2133600"/>
            <a:ext cx="54864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凡例</a:t>
            </a:r>
          </a:p>
        </p:txBody>
      </p:sp>
      <p:sp>
        <p:nvSpPr>
          <p:cNvPr id="343" name="TB 343"/>
          <p:cNvSpPr txBox="1"/>
          <p:nvPr/>
        </p:nvSpPr>
        <p:spPr>
          <a:xfrm>
            <a:off x="6324600" y="5892800"/>
            <a:ext cx="5867400" cy="2540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全国</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18,769</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線分の系統強度マップ</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(min(</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両端</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Ssc)</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で着色</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8" name="テキスト ボックス 7">
            <a:extLst>
              <a:ext uri="{FF2B5EF4-FFF2-40B4-BE49-F238E27FC236}">
                <a16:creationId xmlns:a16="http://schemas.microsoft.com/office/drawing/2014/main" id="{EF4DEF00-BFBB-E861-E07F-BD90C8C16EFF}"/>
              </a:ext>
            </a:extLst>
          </p:cNvPr>
          <p:cNvSpPr txBox="1"/>
          <p:nvPr/>
        </p:nvSpPr>
        <p:spPr>
          <a:xfrm>
            <a:off x="7115865" y="102428"/>
            <a:ext cx="2962671" cy="584775"/>
          </a:xfrm>
          <a:prstGeom prst="rect">
            <a:avLst/>
          </a:prstGeom>
          <a:noFill/>
        </p:spPr>
        <p:txBody>
          <a:bodyPr wrap="none" rtlCol="0">
            <a:spAutoFit/>
          </a:bodyPr>
          <a:lstStyle/>
          <a:p>
            <a:r>
              <a:rPr kumimoji="1" lang="en-US" altLang="ja-JP" sz="1600"/>
              <a:t>※ </a:t>
            </a:r>
            <a:r>
              <a:rPr kumimoji="1" lang="ja-JP" altLang="en-US" sz="1600"/>
              <a:t>絶対量ではなく相対的な容量</a:t>
            </a:r>
            <a:endParaRPr kumimoji="1" lang="en-US" altLang="ja-JP" sz="1600"/>
          </a:p>
          <a:p>
            <a:r>
              <a:rPr kumimoji="1" lang="en-US" altLang="ja-JP" sz="1600"/>
              <a:t>SCC &lt; 3 </a:t>
            </a:r>
            <a:r>
              <a:rPr kumimoji="1" lang="ja-JP" altLang="en-US" sz="1600"/>
              <a:t>以下はほとんどない</a:t>
            </a:r>
          </a:p>
        </p:txBody>
      </p:sp>
    </p:spTree>
    <p:extLst>
      <p:ext uri="{BB962C8B-B14F-4D97-AF65-F5344CB8AC3E}">
        <p14:creationId xmlns:p14="http://schemas.microsoft.com/office/powerpoint/2010/main" val="2567040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0" name="Dg 320"/>
          <p:cNvSpPr/>
          <p:nvPr/>
        </p:nvSpPr>
        <p:spPr>
          <a:xfrm>
            <a:off x="546100" y="1397000"/>
            <a:ext cx="5969000" cy="2235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546100" y="1397000"/>
            <a:ext cx="38100" cy="2235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546100" y="3759200"/>
            <a:ext cx="5969000" cy="2413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Dg 323"/>
          <p:cNvSpPr/>
          <p:nvPr/>
        </p:nvSpPr>
        <p:spPr>
          <a:xfrm>
            <a:off x="546100" y="3759200"/>
            <a:ext cx="38100" cy="24130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Dg 324"/>
          <p:cNvSpPr/>
          <p:nvPr/>
        </p:nvSpPr>
        <p:spPr>
          <a:xfrm>
            <a:off x="6680200" y="1727200"/>
            <a:ext cx="4965700" cy="4445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Dg 325"/>
          <p:cNvSpPr/>
          <p:nvPr/>
        </p:nvSpPr>
        <p:spPr>
          <a:xfrm>
            <a:off x="6680200" y="1727200"/>
            <a:ext cx="38100" cy="44450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原理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II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系統の揺れ</a:t>
            </a:r>
          </a:p>
        </p:txBody>
      </p:sp>
      <p:sp>
        <p:nvSpPr>
          <p:cNvPr id="4" name="TextBox 3"/>
          <p:cNvSpPr txBox="1"/>
          <p:nvPr/>
        </p:nvSpPr>
        <p:spPr>
          <a:xfrm>
            <a:off x="546100" y="8382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発電機は振り子、送電網はバネ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動揺方程式</a:t>
            </a:r>
          </a:p>
        </p:txBody>
      </p:sp>
      <p:sp>
        <p:nvSpPr>
          <p:cNvPr id="5" name="Rectangle 4"/>
          <p:cNvSpPr/>
          <p:nvPr/>
        </p:nvSpPr>
        <p:spPr>
          <a:xfrm>
            <a:off x="800100" y="5207000"/>
            <a:ext cx="5461000" cy="406400"/>
          </a:xfrm>
          <a:ln/>
          <a:effectLst/>
        </p:spPr>
        <p:style>
          <a:lnRef idx="1">
            <a:schemeClr val="accent1"/>
          </a:lnRef>
          <a:fillRef idx="0">
            <a:schemeClr val="accent1"/>
          </a:fillRef>
          <a:effectRef idx="2">
            <a:schemeClr val="accent1"/>
          </a:effectRef>
          <a:fontRef idx="minor">
            <a:schemeClr val="lt1"/>
          </a:fontRef>
        </p:style>
        <p:txBody>
          <a:bodyPr wrap="square" lIns="0" tIns="0" rIns="0" bIns="0" rtlCol="0" anchor="ct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δ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回転子角 ・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H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慣性定数</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[s]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G, B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は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Y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を発電機内部ノードへ縮約</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(Schur</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補元</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。固有ベクトル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モード形</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揺れの向き</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mc:AlternateContent xmlns:mc="http://schemas.openxmlformats.org/markup-compatibility/2006" xmlns:a14="http://schemas.microsoft.com/office/drawing/2010/main">
        <mc:Choice Requires="a14">
          <p:sp>
            <p:nvSpPr>
              <p:cNvPr id="6" name="Rectangle 5"/>
              <p:cNvSpPr/>
              <p:nvPr/>
            </p:nvSpPr>
            <p:spPr>
              <a:xfrm>
                <a:off x="6934200" y="5715000"/>
                <a:ext cx="4457700" cy="431800"/>
              </a:xfrm>
              <a:ln/>
              <a:effectLst/>
            </p:spPr>
            <p:style>
              <a:lnRef idx="1">
                <a:schemeClr val="accent1"/>
              </a:lnRef>
              <a:fillRef idx="0">
                <a:schemeClr val="accent1"/>
              </a:fillRef>
              <a:effectRef idx="2">
                <a:schemeClr val="accent1"/>
              </a:effectRef>
              <a:fontRef idx="minor">
                <a:schemeClr val="lt1"/>
              </a:fontRef>
            </p:style>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機なら </a:t>
                </a:r>
                <a14:m>
                  <m:oMath xmlns:m="http://schemas.openxmlformats.org/officeDocument/2006/math">
                    <m:sSup>
                      <m:sSup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pPr>
                      <m:e>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𝜔</m:t>
                        </m:r>
                      </m:e>
                      <m:sup>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up>
                    </m:sSup>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fPr>
                      <m:num>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𝐾</m:t>
                        </m:r>
                      </m:num>
                      <m:den>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𝑀</m:t>
                        </m:r>
                      </m:den>
                    </m:f>
                  </m:oMath>
                </a14:m>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と同じ</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(X</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小・</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M</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小ほど速い</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mc:Choice>
        <mc:Fallback xmlns="">
          <p:sp>
            <p:nvSpPr>
              <p:cNvPr id="6" name="Rectangle 5"/>
              <p:cNvSpPr>
                <a:spLocks noRot="1" noChangeAspect="1" noMove="1" noResize="1" noEditPoints="1" noAdjustHandles="1" noChangeArrowheads="1" noChangeShapeType="1" noTextEdit="1"/>
              </p:cNvSpPr>
              <p:nvPr/>
            </p:nvSpPr>
            <p:spPr>
              <a:xfrm>
                <a:off x="6934200" y="5715000"/>
                <a:ext cx="4457700" cy="431800"/>
              </a:xfrm>
              <a:blipFill>
                <a:blip r:embed="rId2"/>
                <a:stretch>
                  <a:fillRect/>
                </a:stretch>
              </a:blipFill>
              <a:ln/>
              <a:effectLst/>
            </p:spPr>
            <p:txBody>
              <a:bodyPr/>
              <a:lstStyle/>
              <a:p>
                <a:r>
                  <a:rPr lang="ja-JP" altLang="en-US">
                    <a:noFill/>
                  </a:rPr>
                  <a:t> </a:t>
                </a:r>
              </a:p>
            </p:txBody>
          </p:sp>
        </mc:Fallback>
      </mc:AlternateContent>
      <p:sp>
        <p:nvSpPr>
          <p:cNvPr id="8" name="TextBox 7"/>
          <p:cNvSpPr txBox="1"/>
          <p:nvPr/>
        </p:nvSpPr>
        <p:spPr>
          <a:xfrm>
            <a:off x="800100" y="5689600"/>
            <a:ext cx="5461000" cy="406400"/>
          </a:xfrm>
          <a:prstGeom prst="rect">
            <a:avLst/>
          </a:prstGeom>
          <a:solidFill>
            <a:srgbClr val="F4F6FA"/>
          </a:solidFill>
        </p:spPr>
        <p:txBody>
          <a:bodyPr wrap="square" lIns="0" tIns="0" rIns="0" bIns="0" anchor="t">
            <a:spAutoFit/>
          </a:bodyPr>
          <a:lstStyle/>
          <a:p>
            <a:pPr marL="150000" marR="0" lvl="0" indent="-150000" algn="l" defTabSz="457200" rtl="0" eaLnBrk="1" fontAlgn="auto" latinLnBrk="0" hangingPunct="1">
              <a:lnSpc>
                <a:spcPct val="110000"/>
              </a:lnSpc>
              <a:spcBef>
                <a:spcPts val="0"/>
              </a:spcBef>
              <a:spcAft>
                <a:spcPts val="0"/>
              </a:spcAft>
              <a:buClrTx/>
              <a:buSzTx/>
              <a:buFont typeface="Arial"/>
              <a:buChar char="•"/>
              <a:tabLst/>
              <a:defRPr/>
            </a:pP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IBR</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は慣性なし → 動揺方程式から分離</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(west 24GVA)</a:t>
            </a:r>
          </a:p>
          <a:p>
            <a:pPr marL="150000" marR="0" lvl="0" indent="-150000" algn="l" defTabSz="457200" rtl="0" eaLnBrk="1" fontAlgn="auto" latinLnBrk="0" hangingPunct="1">
              <a:lnSpc>
                <a:spcPct val="110000"/>
              </a:lnSpc>
              <a:spcBef>
                <a:spcPts val="0"/>
              </a:spcBef>
              <a:spcAft>
                <a:spcPts val="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定数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H, x″d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は型式別の典型値</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(IEEJ/</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教科書帯</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9" name="TextBox 8"/>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07 / 15   src/dynamics/machine_agg.py</a:t>
            </a:r>
          </a:p>
        </p:txBody>
      </p:sp>
      <p:sp>
        <p:nvSpPr>
          <p:cNvPr id="700" name="Ln 700"/>
          <p:cNvSpPr/>
          <p:nvPr/>
        </p:nvSpPr>
        <p:spPr>
          <a:xfrm>
            <a:off x="800100" y="1524000"/>
            <a:ext cx="5461000" cy="0"/>
          </a:xfrm>
          <a:prstGeom prst="line">
            <a:avLst/>
          </a:prstGeom>
          <a:ln w="12700">
            <a:solidFill>
              <a:srgbClr val="5B6470"/>
            </a:solidFill>
            <a:prstDash val="dash"/>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01" name="TB 701"/>
          <p:cNvSpPr txBox="1"/>
          <p:nvPr/>
        </p:nvSpPr>
        <p:spPr>
          <a:xfrm>
            <a:off x="800100" y="1600200"/>
            <a:ext cx="5461000" cy="254000"/>
          </a:xfrm>
          <a:prstGeom prst="rect">
            <a:avLst/>
          </a:prstGeom>
          <a:noFill/>
        </p:spPr>
        <p:txBody>
          <a:bodyPr wrap="square" lIns="0" tIns="0" rIns="0" bIns="0" anchor="t"/>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逆位相にシーソー</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(inter-area</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モード</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p>
        </p:txBody>
      </p:sp>
      <p:sp>
        <p:nvSpPr>
          <p:cNvPr id="702" name="Ln 702"/>
          <p:cNvSpPr/>
          <p:nvPr/>
        </p:nvSpPr>
        <p:spPr>
          <a:xfrm flipH="1">
            <a:off x="1905000" y="1549400"/>
            <a:ext cx="635000" cy="990600"/>
          </a:xfrm>
          <a:prstGeom prst="line">
            <a:avLst/>
          </a:prstGeom>
          <a:ln w="1587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03" name="Ln 703"/>
          <p:cNvSpPr/>
          <p:nvPr/>
        </p:nvSpPr>
        <p:spPr>
          <a:xfrm>
            <a:off x="4521200" y="1549400"/>
            <a:ext cx="635000" cy="990600"/>
          </a:xfrm>
          <a:prstGeom prst="line">
            <a:avLst/>
          </a:prstGeom>
          <a:ln w="1587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04" name="Dg 704"/>
          <p:cNvSpPr/>
          <p:nvPr/>
        </p:nvSpPr>
        <p:spPr>
          <a:xfrm>
            <a:off x="1625600" y="2540000"/>
            <a:ext cx="558800" cy="558800"/>
          </a:xfrm>
          <a:prstGeom prst="ellipse">
            <a:avLst/>
          </a:prstGeom>
          <a:solidFill>
            <a:srgbClr val="2C5F8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05" name="Dg 705"/>
          <p:cNvSpPr/>
          <p:nvPr/>
        </p:nvSpPr>
        <p:spPr>
          <a:xfrm>
            <a:off x="4876800" y="2540000"/>
            <a:ext cx="558800" cy="558800"/>
          </a:xfrm>
          <a:prstGeom prst="ellipse">
            <a:avLst/>
          </a:prstGeom>
          <a:solidFill>
            <a:srgbClr val="B4472C"/>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0" name="Ln 710"/>
          <p:cNvSpPr/>
          <p:nvPr/>
        </p:nvSpPr>
        <p:spPr>
          <a:xfrm flipV="1">
            <a:off x="218440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1" name="Ln 711"/>
          <p:cNvSpPr/>
          <p:nvPr/>
        </p:nvSpPr>
        <p:spPr>
          <a:xfrm>
            <a:off x="245364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2" name="Ln 712"/>
          <p:cNvSpPr/>
          <p:nvPr/>
        </p:nvSpPr>
        <p:spPr>
          <a:xfrm flipV="1">
            <a:off x="272288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3" name="Ln 713"/>
          <p:cNvSpPr/>
          <p:nvPr/>
        </p:nvSpPr>
        <p:spPr>
          <a:xfrm>
            <a:off x="299212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4" name="Ln 714"/>
          <p:cNvSpPr/>
          <p:nvPr/>
        </p:nvSpPr>
        <p:spPr>
          <a:xfrm flipV="1">
            <a:off x="326136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5" name="Ln 715"/>
          <p:cNvSpPr/>
          <p:nvPr/>
        </p:nvSpPr>
        <p:spPr>
          <a:xfrm>
            <a:off x="353060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6" name="Ln 716"/>
          <p:cNvSpPr/>
          <p:nvPr/>
        </p:nvSpPr>
        <p:spPr>
          <a:xfrm flipV="1">
            <a:off x="379984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7" name="Ln 717"/>
          <p:cNvSpPr/>
          <p:nvPr/>
        </p:nvSpPr>
        <p:spPr>
          <a:xfrm>
            <a:off x="406908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8" name="Ln 718"/>
          <p:cNvSpPr/>
          <p:nvPr/>
        </p:nvSpPr>
        <p:spPr>
          <a:xfrm flipV="1">
            <a:off x="433832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19" name="Ln 719"/>
          <p:cNvSpPr/>
          <p:nvPr/>
        </p:nvSpPr>
        <p:spPr>
          <a:xfrm>
            <a:off x="4607560" y="2679700"/>
            <a:ext cx="269240" cy="2794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30" name="TB 730"/>
          <p:cNvSpPr txBox="1"/>
          <p:nvPr/>
        </p:nvSpPr>
        <p:spPr>
          <a:xfrm>
            <a:off x="1270000" y="2260600"/>
            <a:ext cx="4521200" cy="254000"/>
          </a:xfrm>
          <a:prstGeom prst="rect">
            <a:avLst/>
          </a:prstGeom>
          <a:noFill/>
        </p:spPr>
        <p:txBody>
          <a:bodyPr wrap="square" lIns="0" tIns="0" rIns="0" bIns="0" anchor="t"/>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送電網 </a:t>
            </a:r>
            <a:r>
              <a:rPr kumimoji="0" lang="en-US" altLang="ja-JP"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バネ</a:t>
            </a:r>
            <a:r>
              <a:rPr kumimoji="0" lang="en-US" altLang="ja-JP"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剛性 </a:t>
            </a:r>
            <a:r>
              <a:rPr kumimoji="0" lang="en-US" altLang="ja-JP"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K ∝ 1/X)</a:t>
            </a:r>
          </a:p>
        </p:txBody>
      </p:sp>
      <p:sp>
        <p:nvSpPr>
          <p:cNvPr id="731" name="TB 731"/>
          <p:cNvSpPr txBox="1"/>
          <p:nvPr/>
        </p:nvSpPr>
        <p:spPr>
          <a:xfrm>
            <a:off x="546100" y="3225800"/>
            <a:ext cx="2717800" cy="457200"/>
          </a:xfrm>
          <a:prstGeom prst="rect">
            <a:avLst/>
          </a:prstGeom>
          <a:noFill/>
        </p:spPr>
        <p:txBody>
          <a:bodyPr wrap="square" lIns="0" tIns="0" rIns="0" bIns="0" anchor="t"/>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発電機群</a:t>
            </a:r>
            <a:r>
              <a:rPr kumimoji="0" lang="en-US" altLang="ja-JP"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A(</a:t>
            </a:r>
            <a:r>
              <a:rPr kumimoji="0" lang="ja-JP" altLang="en-US"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慣性 </a:t>
            </a:r>
            <a:r>
              <a:rPr kumimoji="0" lang="en-US" altLang="ja-JP" sz="1400" b="0" i="0" u="none" strike="noStrike" kern="1200" cap="none" spc="0" normalizeH="0" baseline="0" noProof="0" dirty="0">
                <a:ln>
                  <a:noFill/>
                </a:ln>
                <a:solidFill>
                  <a:srgbClr val="2C5F8A"/>
                </a:solidFill>
                <a:effectLst/>
                <a:uLnTx/>
                <a:uFillTx/>
                <a:latin typeface="Calibri"/>
                <a:ea typeface="ＭＳ Ｐゴシック" panose="020B0600070205080204" pitchFamily="34" charset="-128"/>
                <a:cs typeface="+mn-cs"/>
              </a:rPr>
              <a:t>M = 2H·S/ω)</a:t>
            </a:r>
          </a:p>
        </p:txBody>
      </p:sp>
      <p:sp>
        <p:nvSpPr>
          <p:cNvPr id="732" name="TB 732"/>
          <p:cNvSpPr txBox="1"/>
          <p:nvPr/>
        </p:nvSpPr>
        <p:spPr>
          <a:xfrm>
            <a:off x="4318000" y="3225800"/>
            <a:ext cx="1676400" cy="254000"/>
          </a:xfrm>
          <a:prstGeom prst="rect">
            <a:avLst/>
          </a:prstGeom>
          <a:noFill/>
        </p:spPr>
        <p:txBody>
          <a:bodyPr wrap="square" lIns="0" tIns="0" rIns="0" bIns="0" anchor="t"/>
          <a:lstStyle/>
          <a:p>
            <a:pPr marL="0" marR="0" lvl="0" indent="0" algn="ctr" defTabSz="457200" rtl="0" eaLnBrk="1" fontAlgn="auto" latinLnBrk="0" hangingPunct="1">
              <a:lnSpc>
                <a:spcPct val="13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B4472C"/>
                </a:solidFill>
                <a:effectLst/>
                <a:uLnTx/>
                <a:uFillTx/>
                <a:latin typeface="Calibri"/>
                <a:ea typeface="ＭＳ Ｐゴシック" panose="020B0600070205080204" pitchFamily="34" charset="-128"/>
                <a:cs typeface="+mn-cs"/>
              </a:rPr>
              <a:t>発電機群</a:t>
            </a:r>
            <a:r>
              <a:rPr kumimoji="0" lang="en-US" altLang="ja-JP" sz="1400" b="0" i="0" u="none" strike="noStrike" kern="1200" cap="none" spc="0" normalizeH="0" baseline="0" noProof="0" dirty="0">
                <a:ln>
                  <a:noFill/>
                </a:ln>
                <a:solidFill>
                  <a:srgbClr val="B4472C"/>
                </a:solidFill>
                <a:effectLst/>
                <a:uLnTx/>
                <a:uFillTx/>
                <a:latin typeface="Calibri"/>
                <a:ea typeface="ＭＳ Ｐゴシック" panose="020B0600070205080204" pitchFamily="34" charset="-128"/>
                <a:cs typeface="+mn-cs"/>
              </a:rPr>
              <a:t>B</a:t>
            </a:r>
          </a:p>
        </p:txBody>
      </p:sp>
      <mc:AlternateContent xmlns:mc="http://schemas.openxmlformats.org/markup-compatibility/2006" xmlns:a14="http://schemas.microsoft.com/office/drawing/2010/main">
        <mc:Choice Requires="a14">
          <p:sp>
            <p:nvSpPr>
              <p:cNvPr id="750" name="TB 750"/>
              <p:cNvSpPr txBox="1"/>
              <p:nvPr/>
            </p:nvSpPr>
            <p:spPr>
              <a:xfrm>
                <a:off x="6680200" y="1397000"/>
                <a:ext cx="4965700" cy="279400"/>
              </a:xfrm>
              <a:prstGeom prst="rect">
                <a:avLst/>
              </a:prstGeom>
              <a:noFill/>
            </p:spPr>
            <p:txBody>
              <a:bodyPr wrap="square" lIns="0" tIns="0" rIns="0" bIns="0" anchor="t"/>
              <a:lstStyle/>
              <a:p>
                <a:pPr marL="0" marR="0" lvl="0" indent="0" algn="l" defTabSz="457200" rtl="0" eaLnBrk="1" fontAlgn="auto" latinLnBrk="0" hangingPunct="1">
                  <a:lnSpc>
                    <a:spcPct val="13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小さな揺れ</a:t>
                </a:r>
                <a:r>
                  <a:rPr kumimoji="0" lang="ja-JP" altLang="en-US" sz="1500" b="1" i="0" u="none" strike="noStrike" kern="1200" cap="none" spc="0" normalizeH="0" baseline="0" noProof="0">
                    <a:ln>
                      <a:noFill/>
                    </a:ln>
                    <a:solidFill>
                      <a:srgbClr val="8A2E3B"/>
                    </a:solidFill>
                    <a:effectLst/>
                    <a:uLnTx/>
                    <a:uFillTx/>
                    <a:latin typeface="Calibri"/>
                    <a:ea typeface="ＭＳ Ｐゴシック" panose="020B0600070205080204" pitchFamily="34" charset="-128"/>
                    <a:cs typeface="+mn-cs"/>
                  </a:rPr>
                  <a:t>に線形化</a:t>
                </a:r>
                <a:r>
                  <a:rPr kumimoji="0" lang="en-US" altLang="ja-JP"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(sin</a:t>
                </a:r>
                <a:r>
                  <a:rPr kumimoji="0" lang="ja-JP" altLang="en-US" sz="1500" b="1" i="0" u="none" strike="noStrike" kern="1200" cap="none" spc="0" normalizeH="0" baseline="0" noProof="0">
                    <a:ln>
                      <a:noFill/>
                    </a:ln>
                    <a:solidFill>
                      <a:srgbClr val="8A2E3B"/>
                    </a:solidFill>
                    <a:effectLst/>
                    <a:uLnTx/>
                    <a:uFillTx/>
                    <a:latin typeface="Calibri"/>
                    <a:ea typeface="ＭＳ Ｐゴシック" panose="020B0600070205080204" pitchFamily="34" charset="-128"/>
                    <a:cs typeface="+mn-cs"/>
                  </a:rPr>
                  <a:t>を近似して</a:t>
                </a:r>
                <a14:m>
                  <m:oMath xmlns:m="http://schemas.openxmlformats.org/officeDocument/2006/math">
                    <m:r>
                      <a:rPr kumimoji="0" lang="en-US" altLang="ja-JP" sz="1600" b="0" i="0" u="none" strike="noStrike" kern="1200" cap="none" spc="0" normalizeH="0" baseline="0" noProof="0" dirty="0">
                        <a:ln>
                          <a:noFill/>
                        </a:ln>
                        <a:solidFill>
                          <a:srgbClr val="8A2E3B"/>
                        </a:solidFill>
                        <a:effectLst/>
                        <a:uLnTx/>
                        <a:uFillTx/>
                        <a:latin typeface="Cambria Math" panose="02040503050406030204" pitchFamily="18" charset="0"/>
                        <a:cs typeface="+mn-cs"/>
                      </a:rPr>
                      <m:t>𝛿</m:t>
                    </m:r>
                  </m:oMath>
                </a14:m>
                <a:r>
                  <a:rPr kumimoji="0" lang="ja-JP" altLang="en-US"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で表現</a:t>
                </a:r>
                <a:r>
                  <a:rPr kumimoji="0" lang="en-US" altLang="ja-JP"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a:t>
                </a:r>
                <a:r>
                  <a:rPr kumimoji="0" lang="ja-JP" altLang="en-US" sz="1500" b="1" i="0" u="none" strike="noStrike" kern="1200" cap="none" spc="0" normalizeH="0" baseline="0" noProof="0">
                    <a:ln>
                      <a:noFill/>
                    </a:ln>
                    <a:solidFill>
                      <a:srgbClr val="8A2E3B"/>
                    </a:solidFill>
                    <a:effectLst/>
                    <a:uLnTx/>
                    <a:uFillTx/>
                    <a:latin typeface="Calibri"/>
                    <a:ea typeface="ＭＳ Ｐゴシック" panose="020B0600070205080204" pitchFamily="34" charset="-128"/>
                    <a:cs typeface="+mn-cs"/>
                  </a:rPr>
                  <a:t> </a:t>
                </a:r>
                <a:r>
                  <a:rPr kumimoji="0" lang="ja-JP" altLang="en-US" sz="1500" b="1"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 固有値問題</a:t>
                </a:r>
              </a:p>
            </p:txBody>
          </p:sp>
        </mc:Choice>
        <mc:Fallback xmlns="">
          <p:sp>
            <p:nvSpPr>
              <p:cNvPr id="750" name="TB 750"/>
              <p:cNvSpPr txBox="1">
                <a:spLocks noRot="1" noChangeAspect="1" noMove="1" noResize="1" noEditPoints="1" noAdjustHandles="1" noChangeArrowheads="1" noChangeShapeType="1" noTextEdit="1"/>
              </p:cNvSpPr>
              <p:nvPr/>
            </p:nvSpPr>
            <p:spPr>
              <a:xfrm>
                <a:off x="6680200" y="1397000"/>
                <a:ext cx="4965700" cy="279400"/>
              </a:xfrm>
              <a:prstGeom prst="rect">
                <a:avLst/>
              </a:prstGeom>
              <a:blipFill>
                <a:blip r:embed="rId3"/>
                <a:stretch>
                  <a:fillRect l="-2558" t="-4348" b="-434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00" name="EQ 900"/>
              <p:cNvSpPr txBox="1"/>
              <p:nvPr/>
            </p:nvSpPr>
            <p:spPr>
              <a:xfrm>
                <a:off x="800100" y="3860800"/>
                <a:ext cx="5461000" cy="736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f>
                        <m:f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𝐻</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num>
                        <m:den>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𝜔</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𝑠</m:t>
                              </m:r>
                            </m:sub>
                          </m:sSub>
                        </m:den>
                      </m:f>
                      <m:f>
                        <m:fPr>
                          <m:ctrlPr>
                            <a:rPr kumimoji="0" lang="en-US" sz="1700" b="0" i="1"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sSup>
                            <m:sSup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d</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up>
                          </m:sSup>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𝛿</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m:t>
                              </m:r>
                            </m:sub>
                          </m:sSub>
                        </m:num>
                        <m:den>
                          <m:sSup>
                            <m:sSup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dt</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up>
                          </m:sSup>
                        </m:den>
                      </m:f>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𝑚</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𝑒</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𝛿</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00" name="EQ 900"/>
              <p:cNvSpPr txBox="1">
                <a:spLocks noRot="1" noChangeAspect="1" noMove="1" noResize="1" noEditPoints="1" noAdjustHandles="1" noChangeArrowheads="1" noChangeShapeType="1" noTextEdit="1"/>
              </p:cNvSpPr>
              <p:nvPr/>
            </p:nvSpPr>
            <p:spPr>
              <a:xfrm>
                <a:off x="800100" y="3860800"/>
                <a:ext cx="5461000" cy="736600"/>
              </a:xfrm>
              <a:prstGeom prst="rect">
                <a:avLst/>
              </a:prstGeom>
              <a:blipFill>
                <a:blip r:embed="rId4"/>
                <a:stretch>
                  <a:fillRect l="-13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01" name="EQ 901"/>
              <p:cNvSpPr txBox="1"/>
              <p:nvPr/>
            </p:nvSpPr>
            <p:spPr>
              <a:xfrm>
                <a:off x="800100" y="4648200"/>
                <a:ext cx="5461000" cy="457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𝑒</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𝐸</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nary>
                        <m:naryPr>
                          <m:chr m:val="∑"/>
                          <m:limLoc m:val="subSup"/>
                          <m:supHide m:val="on"/>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naryPr>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𝑗</m:t>
                          </m:r>
                        </m:sub>
                        <m:sup/>
                        <m:e>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𝐸</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𝐺</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cos</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𝛿</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𝐵</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sin</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𝛿</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nary>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01" name="EQ 901"/>
              <p:cNvSpPr txBox="1">
                <a:spLocks noRot="1" noChangeAspect="1" noMove="1" noResize="1" noEditPoints="1" noAdjustHandles="1" noChangeArrowheads="1" noChangeShapeType="1" noTextEdit="1"/>
              </p:cNvSpPr>
              <p:nvPr/>
            </p:nvSpPr>
            <p:spPr>
              <a:xfrm>
                <a:off x="800100" y="4648200"/>
                <a:ext cx="5461000" cy="457200"/>
              </a:xfrm>
              <a:prstGeom prst="rect">
                <a:avLst/>
              </a:prstGeom>
              <a:blipFill>
                <a:blip r:embed="rId5"/>
                <a:stretch>
                  <a:fillRect l="-1160" t="-210811" b="-30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0" name="EQ 910"/>
              <p:cNvSpPr txBox="1"/>
              <p:nvPr/>
            </p:nvSpPr>
            <p:spPr>
              <a:xfrm>
                <a:off x="6934200" y="1854200"/>
                <a:ext cx="4457700" cy="355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sz="17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𝑴</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acc>
                        <m:accPr>
                          <m:chr m:val="̈"/>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acc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𝛿</m:t>
                          </m:r>
                        </m:e>
                      </m:acc>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 </m:t>
                      </m:r>
                      <m:r>
                        <a:rPr kumimoji="0" lang="en-US" sz="17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𝑲</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𝛿</m:t>
                      </m:r>
                    </m:oMath>
                  </m:oMathPara>
                </a14:m>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910" name="EQ 910"/>
              <p:cNvSpPr txBox="1">
                <a:spLocks noRot="1" noChangeAspect="1" noMove="1" noResize="1" noEditPoints="1" noAdjustHandles="1" noChangeArrowheads="1" noChangeShapeType="1" noTextEdit="1"/>
              </p:cNvSpPr>
              <p:nvPr/>
            </p:nvSpPr>
            <p:spPr>
              <a:xfrm>
                <a:off x="6934200" y="1854200"/>
                <a:ext cx="4457700" cy="355600"/>
              </a:xfrm>
              <a:prstGeom prst="rect">
                <a:avLst/>
              </a:prstGeom>
              <a:blipFill>
                <a:blip r:embed="rId6"/>
                <a:stretch>
                  <a:fillRect l="-1705" t="-10000" b="-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1" name="EQ 911"/>
              <p:cNvSpPr txBox="1"/>
              <p:nvPr/>
            </p:nvSpPr>
            <p:spPr>
              <a:xfrm>
                <a:off x="6934200" y="2286000"/>
                <a:ext cx="4457700" cy="558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𝐾</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𝑒</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num>
                        <m:den>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𝛿</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𝑗</m:t>
                              </m:r>
                            </m:sub>
                          </m:sSub>
                        </m:den>
                      </m:f>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 = </m:t>
                      </m:r>
                      <m:sSub>
                        <m:sSubPr>
                          <m:ctrlP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𝐸</m:t>
                          </m:r>
                        </m:e>
                        <m: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𝑖</m:t>
                          </m:r>
                        </m:sub>
                      </m:sSub>
                      <m:sSub>
                        <m:sSubPr>
                          <m:ctrlP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𝐸</m:t>
                          </m:r>
                        </m:e>
                        <m: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𝑗</m:t>
                          </m:r>
                        </m:sub>
                      </m:s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m:t>
                      </m:r>
                      <m:sSub>
                        <m:sSubPr>
                          <m:ctrlPr>
                            <a:rPr kumimoji="0" lang="ar-AE" altLang="ja-JP" sz="1800" b="0" i="0" u="none" strike="noStrike" kern="1200" cap="none" spc="0" normalizeH="0" baseline="0" noProof="0" dirty="0">
                              <a:ln>
                                <a:noFill/>
                              </a:ln>
                              <a:solidFill>
                                <a:srgbClr val="8A2E3B"/>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8A2E3B"/>
                              </a:solidFill>
                              <a:effectLst/>
                              <a:uLnTx/>
                              <a:uFillTx/>
                              <a:latin typeface="Cambria Math" panose="02040503050406030204" pitchFamily="18" charset="0"/>
                            </a:rPr>
                            <m:t>𝐵</m:t>
                          </m:r>
                        </m:e>
                        <m:sub>
                          <m:r>
                            <a:rPr kumimoji="0" lang="ar-AE" altLang="ja-JP" sz="1800" b="0" i="0" u="none" strike="noStrike" kern="1200" cap="none" spc="0" normalizeH="0" baseline="0" noProof="0" dirty="0">
                              <a:ln>
                                <a:noFill/>
                              </a:ln>
                              <a:solidFill>
                                <a:srgbClr val="8A2E3B"/>
                              </a:solidFill>
                              <a:effectLst/>
                              <a:uLnTx/>
                              <a:uFillTx/>
                              <a:latin typeface="Cambria Math" panose="02040503050406030204" pitchFamily="18" charset="0"/>
                            </a:rPr>
                            <m:t>𝑖𝑗</m:t>
                          </m:r>
                        </m:sub>
                      </m:s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 </m:t>
                      </m:r>
                      <m:r>
                        <m:rPr>
                          <m:sty m:val="p"/>
                        </m:rPr>
                        <a:rPr kumimoji="0" lang="en-US" altLang="ja-JP" sz="1800" b="0" i="0" u="none" strike="noStrike" kern="1200" cap="none" spc="0" normalizeH="0" baseline="0" noProof="0" dirty="0">
                          <a:ln>
                            <a:noFill/>
                          </a:ln>
                          <a:solidFill>
                            <a:srgbClr val="1A2744"/>
                          </a:solidFill>
                          <a:effectLst/>
                          <a:uLnTx/>
                          <a:uFillTx/>
                          <a:latin typeface="Cambria Math" panose="02040503050406030204" pitchFamily="18" charset="0"/>
                          <a:cs typeface="+mn-cs"/>
                        </a:rPr>
                        <m:t>cos</m:t>
                      </m:r>
                      <m:r>
                        <a:rPr kumimoji="0" lang="en-US" altLang="ja-JP" sz="1800" b="0" i="0" u="none" strike="noStrike" kern="1200" cap="none" spc="0" normalizeH="0" baseline="0" noProof="0" dirty="0">
                          <a:ln>
                            <a:noFill/>
                          </a:ln>
                          <a:solidFill>
                            <a:srgbClr val="1A2744"/>
                          </a:solidFill>
                          <a:effectLst/>
                          <a:uLnTx/>
                          <a:uFillTx/>
                          <a:latin typeface="Cambria Math" panose="02040503050406030204" pitchFamily="18" charset="0"/>
                          <a:cs typeface="+mn-cs"/>
                        </a:rPr>
                        <m:t> </m:t>
                      </m:r>
                      <m:sSub>
                        <m:sSubPr>
                          <m:ctrlP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𝛿</m:t>
                          </m:r>
                        </m:e>
                        <m: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𝑖𝑗</m:t>
                          </m:r>
                        </m:sub>
                      </m:s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 − </m:t>
                      </m:r>
                      <m:sSub>
                        <m:sSubPr>
                          <m:ctrlPr>
                            <a:rPr kumimoji="0" lang="ar-AE" altLang="ja-JP" sz="1800" b="0" i="0" u="none" strike="noStrike" kern="1200" cap="none" spc="0" normalizeH="0" baseline="0" noProof="0" dirty="0">
                              <a:ln>
                                <a:noFill/>
                              </a:ln>
                              <a:solidFill>
                                <a:srgbClr val="2C5F8A"/>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2C5F8A"/>
                              </a:solidFill>
                              <a:effectLst/>
                              <a:uLnTx/>
                              <a:uFillTx/>
                              <a:latin typeface="Cambria Math" panose="02040503050406030204" pitchFamily="18" charset="0"/>
                            </a:rPr>
                            <m:t>𝐺</m:t>
                          </m:r>
                        </m:e>
                        <m:sub>
                          <m:r>
                            <a:rPr kumimoji="0" lang="ar-AE" altLang="ja-JP" sz="1800" b="0" i="0" u="none" strike="noStrike" kern="1200" cap="none" spc="0" normalizeH="0" baseline="0" noProof="0" dirty="0">
                              <a:ln>
                                <a:noFill/>
                              </a:ln>
                              <a:solidFill>
                                <a:srgbClr val="2C5F8A"/>
                              </a:solidFill>
                              <a:effectLst/>
                              <a:uLnTx/>
                              <a:uFillTx/>
                              <a:latin typeface="Cambria Math" panose="02040503050406030204" pitchFamily="18" charset="0"/>
                            </a:rPr>
                            <m:t>𝑖𝑗</m:t>
                          </m:r>
                        </m:sub>
                      </m:s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 </m:t>
                      </m:r>
                      <m:r>
                        <m:rPr>
                          <m:sty m:val="p"/>
                        </m:rPr>
                        <a:rPr kumimoji="0" lang="en-US" altLang="ja-JP" sz="1800" b="0" i="0" u="none" strike="noStrike" kern="1200" cap="none" spc="0" normalizeH="0" baseline="0" noProof="0" dirty="0">
                          <a:ln>
                            <a:noFill/>
                          </a:ln>
                          <a:solidFill>
                            <a:srgbClr val="1A2744"/>
                          </a:solidFill>
                          <a:effectLst/>
                          <a:uLnTx/>
                          <a:uFillTx/>
                          <a:latin typeface="Cambria Math" panose="02040503050406030204" pitchFamily="18" charset="0"/>
                          <a:cs typeface="+mn-cs"/>
                        </a:rPr>
                        <m:t>sin</m:t>
                      </m:r>
                      <m:r>
                        <a:rPr kumimoji="0" lang="en-US" altLang="ja-JP" sz="1800" b="0" i="0" u="none" strike="noStrike" kern="1200" cap="none" spc="0" normalizeH="0" baseline="0" noProof="0" dirty="0">
                          <a:ln>
                            <a:noFill/>
                          </a:ln>
                          <a:solidFill>
                            <a:srgbClr val="1A2744"/>
                          </a:solidFill>
                          <a:effectLst/>
                          <a:uLnTx/>
                          <a:uFillTx/>
                          <a:latin typeface="Cambria Math" panose="02040503050406030204" pitchFamily="18" charset="0"/>
                          <a:cs typeface="+mn-cs"/>
                        </a:rPr>
                        <m:t> </m:t>
                      </m:r>
                      <m:sSub>
                        <m:sSubPr>
                          <m:ctrlP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ctrlPr>
                        </m:sSubPr>
                        <m:e>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𝛿</m:t>
                          </m:r>
                        </m:e>
                        <m: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𝑖𝑗</m:t>
                          </m:r>
                        </m:sub>
                      </m:sSub>
                      <m:r>
                        <a:rPr kumimoji="0" lang="ar-AE" altLang="ja-JP" sz="1800" b="0" i="0" u="none" strike="noStrike" kern="1200" cap="none" spc="0" normalizeH="0" baseline="0" noProof="0" dirty="0">
                          <a:ln>
                            <a:noFill/>
                          </a:ln>
                          <a:solidFill>
                            <a:srgbClr val="1A2744"/>
                          </a:solidFill>
                          <a:effectLst/>
                          <a:uLnTx/>
                          <a:uFillTx/>
                          <a:latin typeface="Cambria Math" panose="02040503050406030204" pitchFamily="18" charset="0"/>
                        </a:rPr>
                        <m:t>)</m:t>
                      </m:r>
                    </m:oMath>
                  </m:oMathPara>
                </a14:m>
                <a:endParaRPr kumimoji="0" lang="ar-AE" altLang="ja-JP" sz="1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Arial" panose="020B0604020202020204" pitchFamily="34" charset="0"/>
                </a:endParaRPr>
              </a:p>
            </p:txBody>
          </p:sp>
        </mc:Choice>
        <mc:Fallback xmlns="">
          <p:sp>
            <p:nvSpPr>
              <p:cNvPr id="911" name="EQ 911"/>
              <p:cNvSpPr txBox="1">
                <a:spLocks noRot="1" noChangeAspect="1" noMove="1" noResize="1" noEditPoints="1" noAdjustHandles="1" noChangeArrowheads="1" noChangeShapeType="1" noTextEdit="1"/>
              </p:cNvSpPr>
              <p:nvPr/>
            </p:nvSpPr>
            <p:spPr>
              <a:xfrm>
                <a:off x="6934200" y="2286000"/>
                <a:ext cx="4457700" cy="558800"/>
              </a:xfrm>
              <a:prstGeom prst="rect">
                <a:avLst/>
              </a:prstGeom>
              <a:blipFill>
                <a:blip r:embed="rId7"/>
                <a:stretch>
                  <a:fillRect l="-1705" t="-2222" r="-2841" b="-13333"/>
                </a:stretch>
              </a:blipFill>
            </p:spPr>
            <p:txBody>
              <a:bodyPr/>
              <a:lstStyle/>
              <a:p>
                <a:r>
                  <a:rPr lang="ja-JP" altLang="en-US">
                    <a:noFill/>
                  </a:rPr>
                  <a:t> </a:t>
                </a:r>
              </a:p>
            </p:txBody>
          </p:sp>
        </mc:Fallback>
      </mc:AlternateContent>
      <p:sp>
        <p:nvSpPr>
          <p:cNvPr id="912" name="EQ 912"/>
          <p:cNvSpPr txBox="1"/>
          <p:nvPr/>
        </p:nvSpPr>
        <p:spPr>
          <a:xfrm>
            <a:off x="6934200" y="2895600"/>
            <a:ext cx="44577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13" name="EQ 913"/>
              <p:cNvSpPr txBox="1"/>
              <p:nvPr/>
            </p:nvSpPr>
            <p:spPr>
              <a:xfrm>
                <a:off x="6934200" y="5105400"/>
                <a:ext cx="4457700" cy="533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15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a:rPr kumimoji="0" lang="en-US" sz="15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𝑴</m:t>
                        </m:r>
                      </m:e>
                      <m:sup>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5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𝑲</m:t>
                    </m:r>
                  </m:oMath>
                </a14:m>
                <a:r>
                  <a:rPr kumimoji="0" lang="ja-JP" altLang="en-US" sz="15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の固有値 </a:t>
                </a:r>
                <a14:m>
                  <m:oMath xmlns:m="http://schemas.openxmlformats.org/officeDocument/2006/math">
                    <m:sSub>
                      <m:sSubPr>
                        <m:ctrlP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𝜆</m:t>
                        </m:r>
                      </m:e>
                      <m:sub>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𝑘</m:t>
                        </m:r>
                      </m:sub>
                    </m:sSub>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𝑓</m:t>
                        </m:r>
                      </m:e>
                      <m:sub>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𝑘</m:t>
                        </m:r>
                      </m:sub>
                    </m:sSub>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5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ad>
                          <m:radPr>
                            <m:degHide m:val="on"/>
                            <m:ctrlPr>
                              <a:rPr kumimoji="0" lang="en-US" sz="15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sSub>
                              <m:sSubPr>
                                <m:ctrlP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𝜆</m:t>
                                </m:r>
                              </m:e>
                              <m:sub>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𝑘</m:t>
                                </m:r>
                              </m:sub>
                            </m:sSub>
                          </m:e>
                        </m:rad>
                      </m:num>
                      <m:den>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r>
                          <m:rPr>
                            <m:sty m:val="p"/>
                          </m:rP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π</m:t>
                        </m:r>
                      </m:den>
                    </m:f>
                  </m:oMath>
                </a14:m>
                <a:endParaRPr kumimoji="0" lang="ja-JP" altLang="en-US" sz="15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endParaRPr>
              </a:p>
            </p:txBody>
          </p:sp>
        </mc:Choice>
        <mc:Fallback xmlns="">
          <p:sp>
            <p:nvSpPr>
              <p:cNvPr id="913" name="EQ 913"/>
              <p:cNvSpPr txBox="1">
                <a:spLocks noRot="1" noChangeAspect="1" noMove="1" noResize="1" noEditPoints="1" noAdjustHandles="1" noChangeArrowheads="1" noChangeShapeType="1" noTextEdit="1"/>
              </p:cNvSpPr>
              <p:nvPr/>
            </p:nvSpPr>
            <p:spPr>
              <a:xfrm>
                <a:off x="6934200" y="5105400"/>
                <a:ext cx="4457700" cy="533400"/>
              </a:xfrm>
              <a:prstGeom prst="rect">
                <a:avLst/>
              </a:prstGeom>
              <a:blipFill>
                <a:blip r:embed="rId8"/>
                <a:stretch>
                  <a:fillRect l="-170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4" name="EQ 914"/>
              <p:cNvSpPr txBox="1"/>
              <p:nvPr/>
            </p:nvSpPr>
            <p:spPr>
              <a:xfrm>
                <a:off x="6934200" y="3276600"/>
                <a:ext cx="4457700" cy="533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𝐺</m:t>
                          </m:r>
                        </m:e>
                        <m:sub>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sSub>
                        <m:sSub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𝐵</m:t>
                          </m:r>
                        </m:e>
                        <m:sub>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num>
                        <m:den>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𝑅</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𝑖𝑗</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sSub>
                            <m:sSubPr>
                              <m:ctrlP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𝑋</m:t>
                              </m:r>
                            </m:e>
                            <m:sub>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den>
                      </m:f>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𝐵</m:t>
                          </m:r>
                        </m:e>
                        <m:sub>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num>
                        <m:den>
                          <m:sSub>
                            <m:sSubPr>
                              <m:ctrlP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𝑋</m:t>
                              </m:r>
                            </m:e>
                            <m:sub>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den>
                      </m:f>
                      <m:r>
                        <a:rPr kumimoji="0" lang="en-US" sz="1400" b="0" i="0" u="none" strike="noStrike" kern="1200" cap="none" spc="0" normalizeH="0" baseline="0" noProof="0" dirty="0">
                          <a:ln>
                            <a:noFill/>
                          </a:ln>
                          <a:solidFill>
                            <a:srgbClr val="5B6470"/>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dirty="0">
                          <a:ln>
                            <a:noFill/>
                          </a:ln>
                          <a:solidFill>
                            <a:srgbClr val="5B6470"/>
                          </a:solidFill>
                          <a:effectLst/>
                          <a:uLnTx/>
                          <a:uFillTx/>
                          <a:latin typeface="Cambria Math" panose="02040503050406030204" pitchFamily="18" charset="0"/>
                          <a:ea typeface="+mn-ea"/>
                          <a:cs typeface="+mn-cs"/>
                        </a:rPr>
                        <m:t>R</m:t>
                      </m:r>
                      <m:r>
                        <a:rPr kumimoji="0" lang="en-US" sz="1400" b="0" i="0" u="none" strike="noStrike" kern="1200" cap="none" spc="0" normalizeH="0" baseline="0" noProof="0" dirty="0">
                          <a:ln>
                            <a:noFill/>
                          </a:ln>
                          <a:solidFill>
                            <a:srgbClr val="5B6470"/>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5B6470"/>
                          </a:solidFill>
                          <a:effectLst/>
                          <a:uLnTx/>
                          <a:uFillTx/>
                          <a:latin typeface="Cambria Math" panose="02040503050406030204" pitchFamily="18" charset="0"/>
                          <a:ea typeface="+mn-ea"/>
                          <a:cs typeface="+mn-cs"/>
                        </a:rPr>
                        <m:t>X</m:t>
                      </m:r>
                      <m:r>
                        <a:rPr kumimoji="0" lang="en-US" sz="1400" b="0" i="0" u="none" strike="noStrike" kern="1200" cap="none" spc="0" normalizeH="0" baseline="0" noProof="0" dirty="0">
                          <a:ln>
                            <a:noFill/>
                          </a:ln>
                          <a:solidFill>
                            <a:srgbClr val="5B6470"/>
                          </a:solidFill>
                          <a:effectLst/>
                          <a:uLnTx/>
                          <a:uFillTx/>
                          <a:latin typeface="Cambria Math" panose="02040503050406030204" pitchFamily="18" charset="0"/>
                          <a:ea typeface="+mn-ea"/>
                          <a:cs typeface="+mn-cs"/>
                        </a:rPr>
                        <m:t>)</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14" name="EQ 914"/>
              <p:cNvSpPr txBox="1">
                <a:spLocks noRot="1" noChangeAspect="1" noMove="1" noResize="1" noEditPoints="1" noAdjustHandles="1" noChangeArrowheads="1" noChangeShapeType="1" noTextEdit="1"/>
              </p:cNvSpPr>
              <p:nvPr/>
            </p:nvSpPr>
            <p:spPr>
              <a:xfrm>
                <a:off x="6934200" y="3276600"/>
                <a:ext cx="4457700" cy="533400"/>
              </a:xfrm>
              <a:prstGeom prst="rect">
                <a:avLst/>
              </a:prstGeom>
              <a:blipFill>
                <a:blip r:embed="rId9"/>
                <a:stretch>
                  <a:fillRect l="-1420" t="-476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5" name="EQ 915"/>
              <p:cNvSpPr txBox="1"/>
              <p:nvPr/>
            </p:nvSpPr>
            <p:spPr>
              <a:xfrm>
                <a:off x="6934200" y="3886200"/>
                <a:ext cx="4457700" cy="533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小角近似では </a:t>
                </a:r>
                <a14:m>
                  <m:oMath xmlns:m="http://schemas.openxmlformats.org/officeDocument/2006/math">
                    <m:sSub>
                      <m:sSubPr>
                        <m:ctrlP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𝐾</m:t>
                        </m:r>
                      </m:e>
                      <m:sub>
                        <m:r>
                          <a:rPr kumimoji="0" lang="en-US" sz="15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𝑖𝑗</m:t>
                        </m:r>
                      </m:sub>
                    </m:sSub>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500" b="0" i="1"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sSub>
                          <m:sSubPr>
                            <m:ctrlP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𝐸</m:t>
                            </m:r>
                          </m:e>
                          <m:sub>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sSub>
                          <m:sSubPr>
                            <m:ctrlP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𝐸</m:t>
                            </m:r>
                          </m:e>
                          <m:sub>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𝑗</m:t>
                            </m:r>
                          </m:sub>
                        </m:sSub>
                      </m:num>
                      <m:den>
                        <m:sSub>
                          <m:sSubPr>
                            <m:ctrlPr>
                              <a:rPr kumimoji="0" lang="en-US" sz="15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5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𝑋</m:t>
                            </m:r>
                          </m:e>
                          <m:sub>
                            <m:r>
                              <a:rPr kumimoji="0" lang="en-US" sz="15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𝑖𝑗</m:t>
                            </m:r>
                          </m:sub>
                        </m:sSub>
                      </m:den>
                    </m:f>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a:rPr kumimoji="0" lang="en-US" sz="15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num>
                      <m:den>
                        <m:r>
                          <a:rPr kumimoji="0" lang="en-US" sz="15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𝑋</m:t>
                        </m:r>
                      </m:den>
                    </m:f>
                  </m:oMath>
                </a14:m>
                <a:endPar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mc:Choice>
        <mc:Fallback xmlns="">
          <p:sp>
            <p:nvSpPr>
              <p:cNvPr id="915" name="EQ 915"/>
              <p:cNvSpPr txBox="1">
                <a:spLocks noRot="1" noChangeAspect="1" noMove="1" noResize="1" noEditPoints="1" noAdjustHandles="1" noChangeArrowheads="1" noChangeShapeType="1" noTextEdit="1"/>
              </p:cNvSpPr>
              <p:nvPr/>
            </p:nvSpPr>
            <p:spPr>
              <a:xfrm>
                <a:off x="6934200" y="3886200"/>
                <a:ext cx="4457700" cy="533400"/>
              </a:xfrm>
              <a:prstGeom prst="rect">
                <a:avLst/>
              </a:prstGeom>
              <a:blipFill>
                <a:blip r:embed="rId10"/>
                <a:stretch>
                  <a:fillRect l="-2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8" name="EQ 918"/>
              <p:cNvSpPr txBox="1"/>
              <p:nvPr/>
            </p:nvSpPr>
            <p:spPr>
              <a:xfrm>
                <a:off x="6934200" y="4495800"/>
                <a:ext cx="4457700" cy="533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Δδ</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𝜑</m:t>
                    </m:r>
                    <m:sSup>
                      <m:sSup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e</m:t>
                        </m:r>
                      </m:e>
                      <m:sup>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jωt</m:t>
                        </m:r>
                      </m:sup>
                    </m:sSup>
                  </m:oMath>
                </a14:m>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を代入 ⇒ </a:t>
                </a:r>
                <a14:m>
                  <m:oMath xmlns:m="http://schemas.openxmlformats.org/officeDocument/2006/math">
                    <m:sSup>
                      <m:sSupPr>
                        <m:ctrlPr>
                          <a:rPr kumimoji="0" lang="en-US" sz="14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a:rPr kumimoji="0" lang="en-US" sz="14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𝑴</m:t>
                        </m:r>
                      </m:e>
                      <m:sup>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400" b="1"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𝑲</m:t>
                    </m:r>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𝜑</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p>
                      <m:sSup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pPr>
                      <m:e>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𝜔</m:t>
                        </m:r>
                      </m:e>
                      <m:sup>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up>
                    </m:sSup>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𝜑</m:t>
                    </m:r>
                  </m:oMath>
                </a14:m>
                <a:endPar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mc:Choice>
        <mc:Fallback xmlns="">
          <p:sp>
            <p:nvSpPr>
              <p:cNvPr id="918" name="EQ 918"/>
              <p:cNvSpPr txBox="1">
                <a:spLocks noRot="1" noChangeAspect="1" noMove="1" noResize="1" noEditPoints="1" noAdjustHandles="1" noChangeArrowheads="1" noChangeShapeType="1" noTextEdit="1"/>
              </p:cNvSpPr>
              <p:nvPr/>
            </p:nvSpPr>
            <p:spPr>
              <a:xfrm>
                <a:off x="6934200" y="4495800"/>
                <a:ext cx="4457700" cy="533400"/>
              </a:xfrm>
              <a:prstGeom prst="rect">
                <a:avLst/>
              </a:prstGeom>
              <a:blipFill>
                <a:blip r:embed="rId11"/>
                <a:stretch>
                  <a:fillRect l="-1705" t="-1190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8283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546100" y="1524000"/>
            <a:ext cx="2628900" cy="9398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546100" y="1524000"/>
            <a:ext cx="26289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3251200" y="1524000"/>
            <a:ext cx="2628900" cy="9398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3251200" y="1524000"/>
            <a:ext cx="26289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2717800"/>
            <a:ext cx="5334000" cy="2514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546100" y="2717800"/>
            <a:ext cx="38100" cy="2514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結果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II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長軸振動の地理</a:t>
            </a:r>
          </a:p>
        </p:txBody>
      </p:sp>
      <p:sp>
        <p:nvSpPr>
          <p:cNvPr id="4" name="TextBox 3"/>
          <p:cNvSpPr txBox="1"/>
          <p:nvPr/>
        </p:nvSpPr>
        <p:spPr>
          <a:xfrm>
            <a:off x="546100" y="812800"/>
            <a:ext cx="55880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九州と関西は、シーソーしている</a:t>
            </a:r>
          </a:p>
        </p:txBody>
      </p:sp>
      <p:sp>
        <p:nvSpPr>
          <p:cNvPr id="5" name="TextBox 4"/>
          <p:cNvSpPr txBox="1"/>
          <p:nvPr/>
        </p:nvSpPr>
        <p:spPr>
          <a:xfrm>
            <a:off x="850900" y="2997200"/>
            <a:ext cx="4724400" cy="1787284"/>
          </a:xfrm>
          <a:prstGeom prst="rect">
            <a:avLst/>
          </a:prstGeom>
          <a:noFill/>
        </p:spPr>
        <p:txBody>
          <a:bodyPr wrap="square" lIns="0" tIns="0" rIns="0" bIns="0">
            <a:spAutoFit/>
          </a:bodyPr>
          <a:lstStyle/>
          <a:p>
            <a:pPr marL="171450" marR="0" lvl="0" indent="-171450" algn="l" defTabSz="457200" rtl="0" eaLnBrk="1" fontAlgn="auto" latinLnBrk="0" hangingPunct="1">
              <a:lnSpc>
                <a:spcPct val="140000"/>
              </a:lnSpc>
              <a:spcBef>
                <a:spcPts val="0"/>
              </a:spcBef>
              <a:spcAft>
                <a:spcPts val="8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最低モードの固有ベクトルを地図に置くと、青群と赤群が逆位相で揺れ合う構造が現れる</a:t>
            </a:r>
          </a:p>
          <a:p>
            <a:pPr marL="171450" marR="0" lvl="0" indent="-171450" algn="l" defTabSz="457200" rtl="0" eaLnBrk="1" fontAlgn="auto" latinLnBrk="0" hangingPunct="1">
              <a:lnSpc>
                <a:spcPct val="140000"/>
              </a:lnSpc>
              <a:spcBef>
                <a:spcPts val="0"/>
              </a:spcBef>
              <a:spcAft>
                <a:spcPts val="8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モード形の大きい機に制動</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(PSS/GFM)</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を置くのが定石</a:t>
            </a:r>
          </a:p>
          <a:p>
            <a:pPr marL="171450" marR="0" lvl="0" indent="-171450" algn="l" defTabSz="457200" rtl="0" eaLnBrk="1" fontAlgn="auto" latinLnBrk="0" hangingPunct="1">
              <a:lnSpc>
                <a:spcPct val="140000"/>
              </a:lnSpc>
              <a:spcBef>
                <a:spcPts val="0"/>
              </a:spcBef>
              <a:spcAft>
                <a:spcPts val="800"/>
              </a:spcAft>
              <a:buClrTx/>
              <a:buSzTx/>
              <a:buFont typeface="Arial"/>
              <a:buChar char="•"/>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この振動の減衰が連系線の運用限界を決める</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(1996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米</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WSCC</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大停電</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pic>
        <p:nvPicPr>
          <p:cNvPr id="6" name="Picture 5" descr="fig_swing_map_slide.jpg"/>
          <p:cNvPicPr>
            <a:picLocks noChangeAspect="1"/>
          </p:cNvPicPr>
          <p:nvPr/>
        </p:nvPicPr>
        <p:blipFill>
          <a:blip r:embed="rId2"/>
          <a:srcRect l="-769" t="-628" r="13230" b="-652"/>
          <a:stretch>
            <a:fillRect/>
          </a:stretch>
        </p:blipFill>
        <p:spPr>
          <a:xfrm>
            <a:off x="6248247" y="-126073"/>
            <a:ext cx="5918200" cy="6984073"/>
          </a:xfrm>
          <a:prstGeom prst="rect">
            <a:avLst/>
          </a:prstGeom>
        </p:spPr>
      </p:pic>
      <p:sp>
        <p:nvSpPr>
          <p:cNvPr id="7" name="TextBox 6"/>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08 / 15   gen_swing_map.py —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運転点は本番前処理フルセット</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介入</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#19/#20/#24/#26</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既定込み</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330" name="TB 330"/>
          <p:cNvSpPr txBox="1"/>
          <p:nvPr/>
        </p:nvSpPr>
        <p:spPr>
          <a:xfrm>
            <a:off x="800100" y="1701800"/>
            <a:ext cx="2120900" cy="330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2744"/>
                </a:solidFill>
                <a:effectLst/>
                <a:uLnTx/>
                <a:uFillTx/>
                <a:latin typeface="Cambria Math"/>
                <a:ea typeface="+mn-ea"/>
                <a:cs typeface="+mn-cs"/>
              </a:rPr>
              <a:t>0.434 Hz</a:t>
            </a:r>
          </a:p>
        </p:txBody>
      </p:sp>
      <p:sp>
        <p:nvSpPr>
          <p:cNvPr id="331" name="TB 331"/>
          <p:cNvSpPr txBox="1"/>
          <p:nvPr/>
        </p:nvSpPr>
        <p:spPr>
          <a:xfrm>
            <a:off x="800100" y="2082800"/>
            <a:ext cx="2120900" cy="279400"/>
          </a:xfrm>
          <a:prstGeom prst="rect">
            <a:avLst/>
          </a:prstGeom>
          <a:noFill/>
        </p:spPr>
        <p:txBody>
          <a:bodyPr wrap="square" lIns="0" tIns="0" rIns="0" bIns="0"/>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west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九州 ⇔ 中部・関西</a:t>
            </a:r>
          </a:p>
        </p:txBody>
      </p:sp>
      <p:sp>
        <p:nvSpPr>
          <p:cNvPr id="332" name="TB 332"/>
          <p:cNvSpPr txBox="1"/>
          <p:nvPr/>
        </p:nvSpPr>
        <p:spPr>
          <a:xfrm>
            <a:off x="3505200" y="1701800"/>
            <a:ext cx="2120900" cy="330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2744"/>
                </a:solidFill>
                <a:effectLst/>
                <a:uLnTx/>
                <a:uFillTx/>
                <a:latin typeface="Cambria Math"/>
                <a:ea typeface="+mn-ea"/>
                <a:cs typeface="+mn-cs"/>
              </a:rPr>
              <a:t>0.592 Hz</a:t>
            </a:r>
          </a:p>
        </p:txBody>
      </p:sp>
      <p:sp>
        <p:nvSpPr>
          <p:cNvPr id="333" name="TB 333"/>
          <p:cNvSpPr txBox="1"/>
          <p:nvPr/>
        </p:nvSpPr>
        <p:spPr>
          <a:xfrm>
            <a:off x="3505200" y="2082800"/>
            <a:ext cx="2120900" cy="279400"/>
          </a:xfrm>
          <a:prstGeom prst="rect">
            <a:avLst/>
          </a:prstGeom>
          <a:noFill/>
        </p:spPr>
        <p:txBody>
          <a:bodyPr wrap="square" lIns="0" tIns="0" rIns="0" bIns="0"/>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east —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東北 ⇔ 関東</a:t>
            </a:r>
          </a:p>
        </p:txBody>
      </p:sp>
      <p:sp>
        <p:nvSpPr>
          <p:cNvPr id="340" name="Dg 340"/>
          <p:cNvSpPr/>
          <p:nvPr/>
        </p:nvSpPr>
        <p:spPr>
          <a:xfrm>
            <a:off x="546100" y="5562600"/>
            <a:ext cx="203200" cy="203200"/>
          </a:xfrm>
          <a:prstGeom prst="rect">
            <a:avLst/>
          </a:prstGeom>
          <a:solidFill>
            <a:srgbClr val="4A7EB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TB 341"/>
          <p:cNvSpPr txBox="1"/>
          <p:nvPr/>
        </p:nvSpPr>
        <p:spPr>
          <a:xfrm>
            <a:off x="850900" y="5588000"/>
            <a:ext cx="1905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同位相グループ</a:t>
            </a:r>
          </a:p>
        </p:txBody>
      </p:sp>
      <p:sp>
        <p:nvSpPr>
          <p:cNvPr id="342" name="Dg 342"/>
          <p:cNvSpPr/>
          <p:nvPr/>
        </p:nvSpPr>
        <p:spPr>
          <a:xfrm>
            <a:off x="2946400" y="5562600"/>
            <a:ext cx="203200" cy="203200"/>
          </a:xfrm>
          <a:prstGeom prst="rect">
            <a:avLst/>
          </a:prstGeom>
          <a:solidFill>
            <a:srgbClr val="E08A5F"/>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TB 343"/>
          <p:cNvSpPr txBox="1"/>
          <p:nvPr/>
        </p:nvSpPr>
        <p:spPr>
          <a:xfrm>
            <a:off x="3251200" y="5588000"/>
            <a:ext cx="2286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逆位相グループ</a:t>
            </a:r>
          </a:p>
        </p:txBody>
      </p:sp>
      <p:sp>
        <p:nvSpPr>
          <p:cNvPr id="344" name="TB 344"/>
          <p:cNvSpPr txBox="1"/>
          <p:nvPr/>
        </p:nvSpPr>
        <p:spPr>
          <a:xfrm>
            <a:off x="546100" y="5892800"/>
            <a:ext cx="5334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色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最低モード固有ベクトルの符号・濃さ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振幅</a:t>
            </a:r>
          </a:p>
        </p:txBody>
      </p:sp>
      <p:sp>
        <p:nvSpPr>
          <p:cNvPr id="350" name="TB 350"/>
          <p:cNvSpPr txBox="1"/>
          <p:nvPr/>
        </p:nvSpPr>
        <p:spPr>
          <a:xfrm>
            <a:off x="7246293" y="5638800"/>
            <a:ext cx="4945402" cy="254000"/>
          </a:xfrm>
          <a:prstGeom prst="rect">
            <a:avLst/>
          </a:prstGeom>
          <a:noFill/>
        </p:spPr>
        <p:txBody>
          <a:bodyPr wrap="square" lIns="0" tIns="0" rIns="0" bIns="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west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モード</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(0.434Hz)</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の固有ベクトルを全国地図に投影</a:t>
            </a:r>
          </a:p>
        </p:txBody>
      </p:sp>
      <p:pic>
        <p:nvPicPr>
          <p:cNvPr id="8" name="Picture 5" descr="fig_swing_map_slide.jpg">
            <a:extLst>
              <a:ext uri="{FF2B5EF4-FFF2-40B4-BE49-F238E27FC236}">
                <a16:creationId xmlns:a16="http://schemas.microsoft.com/office/drawing/2014/main" id="{93098576-2AD6-43D5-3615-A19F73E2212B}"/>
              </a:ext>
            </a:extLst>
          </p:cNvPr>
          <p:cNvPicPr>
            <a:picLocks noChangeAspect="1"/>
          </p:cNvPicPr>
          <p:nvPr/>
        </p:nvPicPr>
        <p:blipFill rotWithShape="1">
          <a:blip r:embed="rId2"/>
          <a:srcRect l="87038" t="14842" r="603" b="13801"/>
          <a:stretch>
            <a:fillRect/>
          </a:stretch>
        </p:blipFill>
        <p:spPr>
          <a:xfrm>
            <a:off x="11150371" y="1853799"/>
            <a:ext cx="685800" cy="4039001"/>
          </a:xfrm>
          <a:prstGeom prst="rect">
            <a:avLst/>
          </a:prstGeom>
        </p:spPr>
      </p:pic>
    </p:spTree>
    <p:extLst>
      <p:ext uri="{BB962C8B-B14F-4D97-AF65-F5344CB8AC3E}">
        <p14:creationId xmlns:p14="http://schemas.microsoft.com/office/powerpoint/2010/main" val="921242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8382000" y="1422400"/>
            <a:ext cx="3263900" cy="2387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8382000" y="1422400"/>
            <a:ext cx="38100" cy="2387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8382000" y="3962400"/>
            <a:ext cx="3263900" cy="1854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8382000" y="3962400"/>
            <a:ext cx="32639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5105400"/>
            <a:ext cx="2451100" cy="711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546100" y="5105400"/>
            <a:ext cx="24511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3124200" y="5105400"/>
            <a:ext cx="2451100" cy="711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Dg 323"/>
          <p:cNvSpPr/>
          <p:nvPr/>
        </p:nvSpPr>
        <p:spPr>
          <a:xfrm>
            <a:off x="3124200" y="5105400"/>
            <a:ext cx="24511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4" name="Dg 324"/>
          <p:cNvSpPr/>
          <p:nvPr/>
        </p:nvSpPr>
        <p:spPr>
          <a:xfrm>
            <a:off x="5702300" y="5105400"/>
            <a:ext cx="2451100" cy="711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5" name="Dg 325"/>
          <p:cNvSpPr/>
          <p:nvPr/>
        </p:nvSpPr>
        <p:spPr>
          <a:xfrm>
            <a:off x="5702300" y="5105400"/>
            <a:ext cx="24511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結果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III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 </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PV</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有無</a:t>
            </a:r>
            <a:r>
              <a:rPr kumimoji="0" lang="en-US" altLang="ja-JP"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×UC — </a:t>
            </a: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慣性の日内変動</a:t>
            </a:r>
          </a:p>
        </p:txBody>
      </p:sp>
      <p:sp>
        <p:nvSpPr>
          <p:cNvPr id="4" name="TextBox 3"/>
          <p:cNvSpPr txBox="1"/>
          <p:nvPr/>
        </p:nvSpPr>
        <p:spPr>
          <a:xfrm>
            <a:off x="546100" y="8128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太陽は同期機を止め、系統の慣性を昼に沈める</a:t>
            </a:r>
          </a:p>
        </p:txBody>
      </p:sp>
      <p:pic>
        <p:nvPicPr>
          <p:cNvPr id="5" name="Picture 4" descr="fig_pv_inertia_slide.jpg"/>
          <p:cNvPicPr>
            <a:picLocks noChangeAspect="1"/>
          </p:cNvPicPr>
          <p:nvPr/>
        </p:nvPicPr>
        <p:blipFill>
          <a:blip r:embed="rId2"/>
          <a:srcRect t="12000"/>
          <a:stretch>
            <a:fillRect/>
          </a:stretch>
        </p:blipFill>
        <p:spPr>
          <a:xfrm>
            <a:off x="546100" y="1320800"/>
            <a:ext cx="7924800" cy="2980147"/>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8382000" y="1422400"/>
                <a:ext cx="3263900" cy="2387600"/>
              </a:xfrm>
              <a:ln/>
              <a:effectLst/>
            </p:spPr>
            <p:style>
              <a:lnRef idx="1">
                <a:schemeClr val="accent1"/>
              </a:lnRef>
              <a:fillRef idx="0">
                <a:schemeClr val="accent1"/>
              </a:fillRef>
              <a:effectRef idx="2">
                <a:schemeClr val="accent1"/>
              </a:effectRef>
              <a:fontRef idx="minor">
                <a:schemeClr val="lt1"/>
              </a:fontRef>
            </p:style>
            <p:txBody>
              <a:bodyPr wrap="square" lIns="190500" tIns="152400" rIns="152400" bIns="152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m:rPr>
                          <m:sty m:val="p"/>
                        </m:r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ROCOF</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f>
                        <m:f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fPr>
                        <m:num>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Δ</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𝑃</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𝑓</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0</m:t>
                              </m:r>
                            </m:sub>
                          </m:sSub>
                        </m:num>
                        <m:den>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2</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𝐸</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𝑘</m:t>
                              </m:r>
                            </m:sub>
                          </m:sSub>
                        </m:den>
                      </m:f>
                    </m:oMath>
                  </m:oMathPara>
                </a14:m>
                <a:endParaRPr kumimoji="0" sz="1800" b="0" i="0" u="none" strike="noStrike" kern="1200" cap="none" spc="0" normalizeH="0" baseline="0" noProof="0">
                  <a:ln>
                    <a:noFill/>
                  </a:ln>
                  <a:solidFill>
                    <a:prstClr val="white"/>
                  </a:solidFill>
                  <a:effectLst/>
                  <a:uLnTx/>
                  <a:uFillTx/>
                  <a:latin typeface="Calibri"/>
                  <a:ea typeface="+mn-ea"/>
                  <a:cs typeface="+mn-cs"/>
                </a:endParaRPr>
              </a:p>
              <a:p>
                <a:pPr marL="0" marR="0" lvl="0" indent="0" algn="l" defTabSz="457200" rtl="0" eaLnBrk="1" fontAlgn="auto" latinLnBrk="0" hangingPunct="1">
                  <a:lnSpc>
                    <a:spcPct val="130000"/>
                  </a:lnSpc>
                  <a:spcBef>
                    <a:spcPts val="60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正午に</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PV</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が</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46GW</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の同期機を止め、</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Ek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が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east −21% / west −26%</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1GW</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脱落時の周波数低下速度は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+27〜36%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悪化。</a:t>
                </a:r>
              </a:p>
            </p:txBody>
          </p:sp>
        </mc:Choice>
        <mc:Fallback xmlns="">
          <p:sp>
            <p:nvSpPr>
              <p:cNvPr id="6" name="Rectangle 5"/>
              <p:cNvSpPr>
                <a:spLocks noRot="1" noChangeAspect="1" noMove="1" noResize="1" noEditPoints="1" noAdjustHandles="1" noChangeArrowheads="1" noChangeShapeType="1" noTextEdit="1"/>
              </p:cNvSpPr>
              <p:nvPr/>
            </p:nvSpPr>
            <p:spPr>
              <a:xfrm>
                <a:off x="8382000" y="1422400"/>
                <a:ext cx="3263900" cy="2387600"/>
              </a:xfrm>
              <a:blipFill>
                <a:blip r:embed="rId3"/>
                <a:stretch>
                  <a:fillRect/>
                </a:stretch>
              </a:blipFill>
              <a:ln/>
              <a:effectLst/>
            </p:spPr>
            <p:txBody>
              <a:bodyPr/>
              <a:lstStyle/>
              <a:p>
                <a:r>
                  <a:rPr lang="ja-JP" altLang="en-US">
                    <a:noFill/>
                  </a:rPr>
                  <a:t> </a:t>
                </a:r>
              </a:p>
            </p:txBody>
          </p:sp>
        </mc:Fallback>
      </mc:AlternateContent>
      <p:sp>
        <p:nvSpPr>
          <p:cNvPr id="7" name="TextBox 6"/>
          <p:cNvSpPr txBox="1"/>
          <p:nvPr/>
        </p:nvSpPr>
        <p:spPr>
          <a:xfrm>
            <a:off x="8636000" y="4191000"/>
            <a:ext cx="2755900" cy="1524000"/>
          </a:xfrm>
          <a:prstGeom prst="rect">
            <a:avLst/>
          </a:prstGeom>
          <a:noFill/>
        </p:spPr>
        <p:txBody>
          <a:bodyPr wrap="square" lIns="0" tIns="0" rIns="0" bIns="0">
            <a:spAutoFit/>
          </a:bodyPr>
          <a:lstStyle/>
          <a:p>
            <a:pPr marL="171450" marR="0" lvl="0" indent="-171450" algn="l" defTabSz="457200" rtl="0" eaLnBrk="1" fontAlgn="auto" latinLnBrk="0" hangingPunct="1">
              <a:lnSpc>
                <a:spcPct val="135000"/>
              </a:lnSpc>
              <a:spcBef>
                <a:spcPts val="0"/>
              </a:spcBef>
              <a:spcAft>
                <a:spcPts val="60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モード周波数はほぼ不変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K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と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M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が同率に減るため</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正しい物理</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。効くのは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ROCOF</a:t>
            </a:r>
          </a:p>
          <a:p>
            <a:pPr marL="171450" marR="0" lvl="0" indent="-171450" algn="l" defTabSz="457200" rtl="0" eaLnBrk="1" fontAlgn="auto" latinLnBrk="0" hangingPunct="1">
              <a:lnSpc>
                <a:spcPct val="135000"/>
              </a:lnSpc>
              <a:spcBef>
                <a:spcPts val="0"/>
              </a:spcBef>
              <a:spcAft>
                <a:spcPts val="600"/>
              </a:spcAft>
              <a:buClrTx/>
              <a:buSzTx/>
              <a:buFont typeface="Arial"/>
              <a:buChar char="•"/>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夜明け前の慣性最小・夕方ランプ</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ダックカーブ裏面</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も出現</a:t>
            </a:r>
          </a:p>
        </p:txBody>
      </p:sp>
      <p:sp>
        <p:nvSpPr>
          <p:cNvPr id="8" name="TextBox 7"/>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09 / 15   uc_pv_compare.py → pv_dynamics_compare.py(</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容量比例ブリッジ・開示済</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330" name="TB 330"/>
          <p:cNvSpPr txBox="1"/>
          <p:nvPr/>
        </p:nvSpPr>
        <p:spPr>
          <a:xfrm>
            <a:off x="546100" y="4402547"/>
            <a:ext cx="79248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左</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Ek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の日内推移</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実線</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=PV</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あり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破線</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=PV</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なし</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右</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1GW</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脱落時の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ROCOF</a:t>
            </a:r>
          </a:p>
        </p:txBody>
      </p:sp>
      <p:sp>
        <p:nvSpPr>
          <p:cNvPr id="340" name="TB 340"/>
          <p:cNvSpPr txBox="1"/>
          <p:nvPr/>
        </p:nvSpPr>
        <p:spPr>
          <a:xfrm>
            <a:off x="749300" y="5257800"/>
            <a:ext cx="2044700" cy="279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A2744"/>
                </a:solidFill>
                <a:effectLst/>
                <a:uLnTx/>
                <a:uFillTx/>
                <a:latin typeface="Cambria Math"/>
                <a:ea typeface="+mn-ea"/>
                <a:cs typeface="+mn-cs"/>
              </a:rPr>
              <a:t>−21 %</a:t>
            </a:r>
          </a:p>
        </p:txBody>
      </p:sp>
      <p:sp>
        <p:nvSpPr>
          <p:cNvPr id="350" name="TB 350"/>
          <p:cNvSpPr txBox="1"/>
          <p:nvPr/>
        </p:nvSpPr>
        <p:spPr>
          <a:xfrm>
            <a:off x="749300" y="5588000"/>
            <a:ext cx="2044700" cy="228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Ek east(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正午</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341" name="TB 341"/>
          <p:cNvSpPr txBox="1"/>
          <p:nvPr/>
        </p:nvSpPr>
        <p:spPr>
          <a:xfrm>
            <a:off x="3327400" y="5257800"/>
            <a:ext cx="2044700" cy="279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A2744"/>
                </a:solidFill>
                <a:effectLst/>
                <a:uLnTx/>
                <a:uFillTx/>
                <a:latin typeface="Cambria Math"/>
                <a:ea typeface="+mn-ea"/>
                <a:cs typeface="+mn-cs"/>
              </a:rPr>
              <a:t>−26 %</a:t>
            </a:r>
          </a:p>
        </p:txBody>
      </p:sp>
      <p:sp>
        <p:nvSpPr>
          <p:cNvPr id="351" name="TB 351"/>
          <p:cNvSpPr txBox="1"/>
          <p:nvPr/>
        </p:nvSpPr>
        <p:spPr>
          <a:xfrm>
            <a:off x="3327400" y="5588000"/>
            <a:ext cx="2044700" cy="228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Ek west(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正午</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342" name="TB 342"/>
          <p:cNvSpPr txBox="1"/>
          <p:nvPr/>
        </p:nvSpPr>
        <p:spPr>
          <a:xfrm>
            <a:off x="5905500" y="5257800"/>
            <a:ext cx="2044700" cy="279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A2744"/>
                </a:solidFill>
                <a:effectLst/>
                <a:uLnTx/>
                <a:uFillTx/>
                <a:latin typeface="Cambria Math"/>
                <a:ea typeface="+mn-ea"/>
                <a:cs typeface="+mn-cs"/>
              </a:rPr>
              <a:t>+27〜36 %</a:t>
            </a:r>
          </a:p>
        </p:txBody>
      </p:sp>
      <p:sp>
        <p:nvSpPr>
          <p:cNvPr id="352" name="TB 352"/>
          <p:cNvSpPr txBox="1"/>
          <p:nvPr/>
        </p:nvSpPr>
        <p:spPr>
          <a:xfrm>
            <a:off x="5905500" y="5588000"/>
            <a:ext cx="2044700" cy="228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ROCOF(</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正午</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Tree>
    <p:extLst>
      <p:ext uri="{BB962C8B-B14F-4D97-AF65-F5344CB8AC3E}">
        <p14:creationId xmlns:p14="http://schemas.microsoft.com/office/powerpoint/2010/main" val="1299237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2000"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546100" y="1397000"/>
            <a:ext cx="11099800" cy="1905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546100" y="1397000"/>
            <a:ext cx="63500" cy="19050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4470400"/>
            <a:ext cx="3454400" cy="1371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0" name="Dg 330"/>
          <p:cNvSpPr/>
          <p:nvPr/>
        </p:nvSpPr>
        <p:spPr>
          <a:xfrm>
            <a:off x="546100" y="4470400"/>
            <a:ext cx="34544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4368800" y="4470400"/>
            <a:ext cx="3454400" cy="1371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1" name="Dg 331"/>
          <p:cNvSpPr/>
          <p:nvPr/>
        </p:nvSpPr>
        <p:spPr>
          <a:xfrm>
            <a:off x="4368800" y="4470400"/>
            <a:ext cx="34544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8191500" y="4470400"/>
            <a:ext cx="3454400" cy="1371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2" name="Dg 332"/>
          <p:cNvSpPr/>
          <p:nvPr/>
        </p:nvSpPr>
        <p:spPr>
          <a:xfrm>
            <a:off x="8191500" y="4470400"/>
            <a:ext cx="34544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3048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ヘッドライン ｜ 何が確かめられたか</a:t>
            </a:r>
          </a:p>
        </p:txBody>
      </p:sp>
      <p:sp>
        <p:nvSpPr>
          <p:cNvPr id="4" name="Rectangle 3"/>
          <p:cNvSpPr/>
          <p:nvPr/>
        </p:nvSpPr>
        <p:spPr>
          <a:xfrm>
            <a:off x="914400" y="1625600"/>
            <a:ext cx="10414000" cy="1524000"/>
          </a:xfrm>
          <a:solidFill>
            <a:srgbClr val="F0F2F5"/>
          </a:solidFill>
          <a:ln>
            <a:solidFill>
              <a:srgbClr val="26374A"/>
            </a:solidFill>
          </a:ln>
          <a:effectLst/>
        </p:spPr>
        <p:style>
          <a:lnRef idx="1">
            <a:schemeClr val="accent1"/>
          </a:lnRef>
          <a:fillRef idx="0">
            <a:schemeClr val="accent1"/>
          </a:fillRef>
          <a:effectRef idx="2">
            <a:schemeClr val="accent1"/>
          </a:effectRef>
          <a:fontRef idx="minor">
            <a:schemeClr val="lt1"/>
          </a:fontRef>
        </p:style>
        <p:txBody>
          <a:bodyPr wrap="square" lIns="0" tIns="0" rIns="0" bIns="0" rtlCol="0" anchor="ctr"/>
          <a:lstStyle/>
          <a:p>
            <a:pPr marL="0" marR="0" lvl="0" indent="0" algn="l" defTabSz="457200" rtl="0" eaLnBrk="1" fontAlgn="auto" latinLnBrk="0" hangingPunct="1">
              <a:lnSpc>
                <a:spcPct val="132000"/>
              </a:lnSpc>
              <a:spcBef>
                <a:spcPts val="0"/>
              </a:spcBef>
              <a:spcAft>
                <a:spcPts val="0"/>
              </a:spcAft>
              <a:buClrTx/>
              <a:buSzTx/>
              <a:buFontTx/>
              <a:buNone/>
              <a:tabLst/>
              <a:defRPr/>
            </a:pP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公開データのみから構築した全国送電網モデルが、</a:t>
            </a:r>
          </a:p>
          <a:p>
            <a:pPr marL="0" marR="0" lvl="0" indent="0" algn="l" defTabSz="457200" rtl="0" eaLnBrk="1" fontAlgn="auto" latinLnBrk="0" hangingPunct="1">
              <a:lnSpc>
                <a:spcPct val="132000"/>
              </a:lnSpc>
              <a:spcBef>
                <a:spcPts val="0"/>
              </a:spcBef>
              <a:spcAft>
                <a:spcPts val="0"/>
              </a:spcAft>
              <a:buClrTx/>
              <a:buSzTx/>
              <a:buFontTx/>
              <a:buNone/>
              <a:tabLst/>
              <a:defRPr/>
            </a:pP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実測で知られる西日本長軸振動</a:t>
            </a:r>
            <a:r>
              <a:rPr kumimoji="0" lang="en-US" altLang="ja-JP"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a:t>
            </a: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約</a:t>
            </a:r>
            <a:r>
              <a:rPr kumimoji="0" lang="en-US" altLang="ja-JP"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0.4Hz)</a:t>
            </a: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の</a:t>
            </a:r>
          </a:p>
          <a:p>
            <a:pPr marL="0" marR="0" lvl="0" indent="0" algn="l" defTabSz="457200" rtl="0" eaLnBrk="1" fontAlgn="auto" latinLnBrk="0" hangingPunct="1">
              <a:lnSpc>
                <a:spcPct val="132000"/>
              </a:lnSpc>
              <a:spcBef>
                <a:spcPts val="0"/>
              </a:spcBef>
              <a:spcAft>
                <a:spcPts val="0"/>
              </a:spcAft>
              <a:buClrTx/>
              <a:buSzTx/>
              <a:buFontTx/>
              <a:buNone/>
              <a:tabLst/>
              <a:defRPr/>
            </a:pPr>
            <a:r>
              <a:rPr kumimoji="0" lang="ja-JP" altLang="en-US" sz="26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周波数と地理形状を再現した。</a:t>
            </a:r>
          </a:p>
        </p:txBody>
      </p:sp>
      <p:sp>
        <p:nvSpPr>
          <p:cNvPr id="5" name="TextBox 4"/>
          <p:cNvSpPr txBox="1"/>
          <p:nvPr/>
        </p:nvSpPr>
        <p:spPr>
          <a:xfrm>
            <a:off x="546100" y="3530600"/>
            <a:ext cx="11099800" cy="289759"/>
          </a:xfrm>
          <a:prstGeom prst="rect">
            <a:avLst/>
          </a:prstGeom>
          <a:noFill/>
        </p:spPr>
        <p:txBody>
          <a:bodyPr wrap="square" lIns="0" tIns="0" rIns="0" bIns="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周波数だけでなく「九州⇔中部・関西の逆位相」という形まで一致 </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トポロジ・インピーダンス・慣性配置がまとめて本物らしいことの証明。</a:t>
            </a:r>
          </a:p>
        </p:txBody>
      </p:sp>
      <p:sp>
        <p:nvSpPr>
          <p:cNvPr id="6" name="TextBox 5"/>
          <p:cNvSpPr txBox="1"/>
          <p:nvPr/>
        </p:nvSpPr>
        <p:spPr>
          <a:xfrm>
            <a:off x="800100" y="4724400"/>
            <a:ext cx="2946400" cy="4318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600" b="1"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0.434 Hz</a:t>
            </a:r>
          </a:p>
        </p:txBody>
      </p:sp>
      <p:sp>
        <p:nvSpPr>
          <p:cNvPr id="7" name="TextBox 6"/>
          <p:cNvSpPr txBox="1"/>
          <p:nvPr/>
        </p:nvSpPr>
        <p:spPr>
          <a:xfrm>
            <a:off x="800100" y="5232400"/>
            <a:ext cx="2946400" cy="457200"/>
          </a:xfrm>
          <a:prstGeom prst="rect">
            <a:avLst/>
          </a:prstGeom>
          <a:noFill/>
        </p:spPr>
        <p:txBody>
          <a:bodyPr wrap="square" lIns="0" tIns="0" rIns="0" bIns="0">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west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最低モード</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文献 ≈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0.4 Hz)</a:t>
            </a:r>
          </a:p>
        </p:txBody>
      </p:sp>
      <p:sp>
        <p:nvSpPr>
          <p:cNvPr id="8" name="TextBox 7"/>
          <p:cNvSpPr txBox="1"/>
          <p:nvPr/>
        </p:nvSpPr>
        <p:spPr>
          <a:xfrm>
            <a:off x="4622800" y="4724400"/>
            <a:ext cx="2946400" cy="4318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600" b="1"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0.592 Hz</a:t>
            </a:r>
          </a:p>
        </p:txBody>
      </p:sp>
      <p:sp>
        <p:nvSpPr>
          <p:cNvPr id="9" name="TextBox 8"/>
          <p:cNvSpPr txBox="1"/>
          <p:nvPr/>
        </p:nvSpPr>
        <p:spPr>
          <a:xfrm>
            <a:off x="4622800" y="5232400"/>
            <a:ext cx="2946400" cy="457200"/>
          </a:xfrm>
          <a:prstGeom prst="rect">
            <a:avLst/>
          </a:prstGeom>
          <a:noFill/>
        </p:spPr>
        <p:txBody>
          <a:bodyPr wrap="square" lIns="0" tIns="0" rIns="0" bIns="0">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east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最低モード</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東北 ⇔ 関東</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10" name="TextBox 9"/>
          <p:cNvSpPr txBox="1"/>
          <p:nvPr/>
        </p:nvSpPr>
        <p:spPr>
          <a:xfrm>
            <a:off x="8445500" y="4724400"/>
            <a:ext cx="2946400" cy="4318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600" b="1"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409 </a:t>
            </a:r>
            <a:r>
              <a:rPr kumimoji="0" lang="ja-JP" altLang="en-US" sz="2600" b="1"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機</a:t>
            </a:r>
          </a:p>
        </p:txBody>
      </p:sp>
      <p:sp>
        <p:nvSpPr>
          <p:cNvPr id="11" name="TextBox 10"/>
          <p:cNvSpPr txBox="1"/>
          <p:nvPr/>
        </p:nvSpPr>
        <p:spPr>
          <a:xfrm>
            <a:off x="8445500" y="5232400"/>
            <a:ext cx="2946400" cy="457200"/>
          </a:xfrm>
          <a:prstGeom prst="rect">
            <a:avLst/>
          </a:prstGeom>
          <a:noFill/>
        </p:spPr>
        <p:txBody>
          <a:bodyPr wrap="square" lIns="0" tIns="0" rIns="0" bIns="0">
            <a:sp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west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同期機</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集約後</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12" name="TextBox 11"/>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10 / 15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再現</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PYTHONPATH=. python3 scripts/gen_swing_map.py</a:t>
            </a:r>
          </a:p>
        </p:txBody>
      </p:sp>
    </p:spTree>
    <p:extLst>
      <p:ext uri="{BB962C8B-B14F-4D97-AF65-F5344CB8AC3E}">
        <p14:creationId xmlns:p14="http://schemas.microsoft.com/office/powerpoint/2010/main" val="3826019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solidFill>
            <a:srgbClr val="FFFFFF"/>
          </a:solidFill>
          <a:ln>
            <a:noFill/>
          </a:ln>
          <a:effectLst/>
        </p:spPr>
        <p:style>
          <a:lnRef idx="1">
            <a:schemeClr val="accent1"/>
          </a:lnRef>
          <a:fillRef idx="0">
            <a:scrgbClr r="0" g="0" b="0"/>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546100" y="2260600"/>
            <a:ext cx="5588000" cy="1473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546100" y="2260600"/>
            <a:ext cx="38100" cy="1473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546100" y="3911600"/>
            <a:ext cx="5588000" cy="18796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6350000" y="4724400"/>
            <a:ext cx="2540000" cy="10668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6350000" y="4724400"/>
            <a:ext cx="2540000" cy="38100"/>
          </a:xfrm>
          <a:prstGeom prst="rect">
            <a:avLst/>
          </a:prstGeom>
          <a:solidFill>
            <a:srgbClr val="2E7D5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9105900" y="4724400"/>
            <a:ext cx="2540000" cy="10668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Dg 323"/>
          <p:cNvSpPr/>
          <p:nvPr/>
        </p:nvSpPr>
        <p:spPr>
          <a:xfrm>
            <a:off x="9105900" y="4724400"/>
            <a:ext cx="2540000" cy="38100"/>
          </a:xfrm>
          <a:prstGeom prst="rect">
            <a:avLst/>
          </a:prstGeom>
          <a:solidFill>
            <a:srgbClr val="5B647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方法論 ｜ トポロジをどう作ったか</a:t>
            </a:r>
          </a:p>
        </p:txBody>
      </p:sp>
      <p:sp>
        <p:nvSpPr>
          <p:cNvPr id="4" name="TextBox 3"/>
          <p:cNvSpPr txBox="1"/>
          <p:nvPr/>
        </p:nvSpPr>
        <p:spPr>
          <a:xfrm>
            <a:off x="546100" y="8128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EGGC — </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証拠ゲート付き系統コンフレーション</a:t>
            </a:r>
          </a:p>
        </p:txBody>
      </p:sp>
      <p:sp>
        <p:nvSpPr>
          <p:cNvPr id="5" name="TextBox 4"/>
          <p:cNvSpPr txBox="1"/>
          <p:nvPr/>
        </p:nvSpPr>
        <p:spPr>
          <a:xfrm>
            <a:off x="546100" y="1473200"/>
            <a:ext cx="5588000" cy="704937"/>
          </a:xfrm>
          <a:prstGeom prst="rect">
            <a:avLst/>
          </a:prstGeom>
          <a:noFill/>
        </p:spPr>
        <p:txBody>
          <a:bodyPr wrap="square">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公表資料の「論理接続</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直線</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」を</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OSM</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の「物理線形」へ写像。核心は、採否を証拠でゲートすること。</a:t>
            </a:r>
          </a:p>
        </p:txBody>
      </p:sp>
      <p:sp>
        <p:nvSpPr>
          <p:cNvPr id="6" name="Rectangle 5"/>
          <p:cNvSpPr/>
          <p:nvPr/>
        </p:nvSpPr>
        <p:spPr>
          <a:xfrm>
            <a:off x="546100" y="2260600"/>
            <a:ext cx="5588000" cy="1473200"/>
          </a:xfrm>
          <a:ln/>
          <a:effectLst/>
        </p:spPr>
        <p:style>
          <a:lnRef idx="1">
            <a:schemeClr val="accent1"/>
          </a:lnRef>
          <a:fillRef idx="0">
            <a:scrgbClr r="0" g="0" b="0"/>
          </a:fillRef>
          <a:effectRef idx="2">
            <a:schemeClr val="accent1"/>
          </a:effectRef>
          <a:fontRef idx="minor">
            <a:schemeClr val="lt1"/>
          </a:fontRef>
        </p:style>
        <p:txBody>
          <a:bodyPr wrap="square" lIns="228600" tIns="152400" rIns="152400" bIns="152400" rtlCol="0" anchor="ctr"/>
          <a:lstStyle/>
          <a:p>
            <a:pPr marL="0" marR="0" lvl="0" indent="0" algn="l" defTabSz="457200" rtl="0" eaLnBrk="1" fontAlgn="auto" latinLnBrk="0" hangingPunct="1">
              <a:lnSpc>
                <a:spcPct val="100000"/>
              </a:lnSpc>
              <a:spcBef>
                <a:spcPts val="0"/>
              </a:spcBef>
              <a:spcAft>
                <a:spcPts val="500"/>
              </a:spcAft>
              <a:buClrTx/>
              <a:buSzTx/>
              <a:buFontTx/>
              <a:buNone/>
              <a:tabLst/>
              <a:defRPr/>
            </a:pPr>
            <a:r>
              <a:rPr kumimoji="0" lang="en-US" sz="1700" b="0" i="0" u="none" strike="noStrike" kern="1200" cap="none" spc="0" normalizeH="0" baseline="0" noProof="0" dirty="0">
                <a:ln>
                  <a:noFill/>
                </a:ln>
                <a:solidFill>
                  <a:srgbClr val="1A2744"/>
                </a:solidFill>
                <a:effectLst/>
                <a:uLnTx/>
                <a:uFillTx/>
                <a:latin typeface="Cambria Math"/>
                <a:ea typeface="+mn-ea"/>
                <a:cs typeface="+mn-cs"/>
              </a:rPr>
              <a:t>off-main 比率 = 浮いた断片の長さ / 経路総延長</a:t>
            </a:r>
          </a:p>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この</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つの比率で、公表線を実線形に吸着させるか、直線のまま残すかを機械的に決める。</a:t>
            </a:r>
          </a:p>
        </p:txBody>
      </p:sp>
      <p:sp>
        <p:nvSpPr>
          <p:cNvPr id="7" name="TextBox 6"/>
          <p:cNvSpPr txBox="1"/>
          <p:nvPr/>
        </p:nvSpPr>
        <p:spPr>
          <a:xfrm>
            <a:off x="546100" y="4071571"/>
            <a:ext cx="5588000" cy="1559658"/>
          </a:xfrm>
          <a:prstGeom prst="rect">
            <a:avLst/>
          </a:prstGeom>
          <a:solidFill>
            <a:srgbClr val="F4F6FA"/>
          </a:solidFill>
        </p:spPr>
        <p:txBody>
          <a:bodyPr wrap="square" lIns="228600" tIns="152400" rIns="152400" bIns="152400" anchor="ctr">
            <a:spAutoFit/>
          </a:bodyPr>
          <a:lstStyle/>
          <a:p>
            <a:pPr marL="0" marR="0" lvl="0" indent="0" algn="l" defTabSz="457200" rtl="0" eaLnBrk="1" fontAlgn="auto" latinLnBrk="0" hangingPunct="1">
              <a:lnSpc>
                <a:spcPct val="140000"/>
              </a:lnSpc>
              <a:spcBef>
                <a:spcPts val="0"/>
              </a:spcBef>
              <a:spcAft>
                <a:spcPts val="60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系譜</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HMM</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マップマッチング</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(Newson &amp; Krumm 2009)</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・地図コンフレーション</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(Saalfeld 1988)</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GridKit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系</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逆方向</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公表論理エッジを入力とし、検証可能な採否基準を持つ点が新規。全接続は帳簿駆動</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(217</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本</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・可逆。</a:t>
            </a:r>
          </a:p>
        </p:txBody>
      </p:sp>
      <p:pic>
        <p:nvPicPr>
          <p:cNvPr id="8" name="Picture 7" descr="fig_ybus_compare_slide.jpg"/>
          <p:cNvPicPr>
            <a:picLocks noChangeAspect="1"/>
          </p:cNvPicPr>
          <p:nvPr/>
        </p:nvPicPr>
        <p:blipFill>
          <a:blip r:embed="rId2"/>
          <a:srcRect t="13000" b="2000"/>
          <a:stretch>
            <a:fillRect/>
          </a:stretch>
        </p:blipFill>
        <p:spPr>
          <a:xfrm>
            <a:off x="6324600" y="1320800"/>
            <a:ext cx="5867400" cy="2593391"/>
          </a:xfrm>
          <a:prstGeom prst="rect">
            <a:avLst/>
          </a:prstGeom>
        </p:spPr>
      </p:pic>
      <p:sp>
        <p:nvSpPr>
          <p:cNvPr id="9" name="TextBox 8"/>
          <p:cNvSpPr txBox="1"/>
          <p:nvPr/>
        </p:nvSpPr>
        <p:spPr>
          <a:xfrm>
            <a:off x="6324600" y="4015791"/>
            <a:ext cx="5867400" cy="279400"/>
          </a:xfrm>
          <a:prstGeom prst="rect">
            <a:avLst/>
          </a:prstGeom>
          <a:noFill/>
        </p:spPr>
        <p:txBody>
          <a:bodyPr wrap="square" lIns="0" tIns="0" rIns="0" bIns="0">
            <a:spAutoFit/>
          </a:bodyPr>
          <a:lstStyle/>
          <a:p>
            <a:pPr marL="0" marR="0" lvl="0" indent="0" algn="ctr" defTabSz="457200" rtl="0" eaLnBrk="1" fontAlgn="auto" latinLnBrk="0" hangingPunct="1">
              <a:lnSpc>
                <a:spcPct val="125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Ybus</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疎行列構造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大工事の前後で結線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+7.1%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・疎性は不変</a:t>
            </a:r>
          </a:p>
        </p:txBody>
      </p:sp>
      <p:sp>
        <p:nvSpPr>
          <p:cNvPr id="10" name="TextBox 9"/>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11 / 15   route_disclosure_edges.py / apply_disclosure_v2.py</a:t>
            </a:r>
          </a:p>
        </p:txBody>
      </p:sp>
      <p:sp>
        <p:nvSpPr>
          <p:cNvPr id="330" name="TB 330"/>
          <p:cNvSpPr txBox="1"/>
          <p:nvPr/>
        </p:nvSpPr>
        <p:spPr>
          <a:xfrm>
            <a:off x="6604000" y="4953000"/>
            <a:ext cx="2032000" cy="330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E7D5B"/>
                </a:solidFill>
                <a:effectLst/>
                <a:uLnTx/>
                <a:uFillTx/>
                <a:latin typeface="Cambria Math"/>
                <a:ea typeface="+mn-ea"/>
                <a:cs typeface="+mn-cs"/>
              </a:rPr>
              <a:t>≥ 0.7</a:t>
            </a:r>
          </a:p>
        </p:txBody>
      </p:sp>
      <p:sp>
        <p:nvSpPr>
          <p:cNvPr id="331" name="TB 331"/>
          <p:cNvSpPr txBox="1"/>
          <p:nvPr/>
        </p:nvSpPr>
        <p:spPr>
          <a:xfrm>
            <a:off x="6604000" y="5334000"/>
            <a:ext cx="2032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実線形に吸着</a:t>
            </a:r>
          </a:p>
        </p:txBody>
      </p:sp>
      <p:sp>
        <p:nvSpPr>
          <p:cNvPr id="332" name="TB 332"/>
          <p:cNvSpPr txBox="1"/>
          <p:nvPr/>
        </p:nvSpPr>
        <p:spPr>
          <a:xfrm>
            <a:off x="9359900" y="4953000"/>
            <a:ext cx="2032000" cy="3302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B6470"/>
                </a:solidFill>
                <a:effectLst/>
                <a:uLnTx/>
                <a:uFillTx/>
                <a:latin typeface="Cambria Math"/>
                <a:ea typeface="+mn-ea"/>
                <a:cs typeface="+mn-cs"/>
              </a:rPr>
              <a:t>&lt; 0.3</a:t>
            </a:r>
          </a:p>
        </p:txBody>
      </p:sp>
      <p:sp>
        <p:nvSpPr>
          <p:cNvPr id="333" name="TB 333"/>
          <p:cNvSpPr txBox="1"/>
          <p:nvPr/>
        </p:nvSpPr>
        <p:spPr>
          <a:xfrm>
            <a:off x="9359900" y="5334000"/>
            <a:ext cx="2032000" cy="2540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直線を保持</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捏造しない</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960" name="EQ 960"/>
          <p:cNvSpPr/>
          <p:nvPr/>
        </p:nvSpPr>
        <p:spPr>
          <a:xfrm>
            <a:off x="546100" y="5816600"/>
            <a:ext cx="508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61" name="EQ 961"/>
              <p:cNvSpPr txBox="1"/>
              <p:nvPr/>
            </p:nvSpPr>
            <p:spPr>
              <a:xfrm>
                <a:off x="723900" y="5816600"/>
                <a:ext cx="10922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機械集約</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容量加重</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H</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x″</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の並列合成</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14:m>
                  <m:oMath xmlns:m="http://schemas.openxmlformats.org/officeDocument/2006/math">
                    <m:sSub>
                      <m:sSubPr>
                        <m:ctrlP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𝐻</m:t>
                        </m:r>
                      </m:e>
                      <m:sub>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𝑎𝑔𝑔</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Σ</m:t>
                    </m:r>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𝐻</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𝑆</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Σ</m:t>
                    </m:r>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𝑆</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1/</m:t>
                    </m:r>
                    <m:sSub>
                      <m:sSubPr>
                        <m:ctrlP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𝑥</m:t>
                        </m:r>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m:t>
                        </m:r>
                      </m:e>
                      <m:sub>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𝑎𝑔𝑔</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Σ</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1/</m:t>
                    </m:r>
                    <m:sSub>
                      <m:sSubPr>
                        <m:ctrlP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𝑥</m:t>
                        </m:r>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m:t>
                        </m:r>
                      </m:e>
                      <m:sub>
                        <m:r>
                          <a:rPr kumimoji="0" lang="en-US" sz="14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𝐸</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a:rPr kumimoji="0" lang="en-US" sz="14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𝛿</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𝑉</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m:rPr>
                        <m:sty m:val="p"/>
                      </m:r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sSub>
                      <m:sSubPr>
                        <m:ctrlP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𝑥</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𝑑</m:t>
                        </m:r>
                      </m:sub>
                    </m:sSub>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r>
                      <a:rPr kumimoji="0" lang="en-US" sz="14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𝐼</m:t>
                    </m:r>
                  </m:oMath>
                </a14:m>
                <a:endPar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endParaRPr>
              </a:p>
            </p:txBody>
          </p:sp>
        </mc:Choice>
        <mc:Fallback xmlns="">
          <p:sp>
            <p:nvSpPr>
              <p:cNvPr id="961" name="EQ 961"/>
              <p:cNvSpPr txBox="1">
                <a:spLocks noRot="1" noChangeAspect="1" noMove="1" noResize="1" noEditPoints="1" noAdjustHandles="1" noChangeArrowheads="1" noChangeShapeType="1" noTextEdit="1"/>
              </p:cNvSpPr>
              <p:nvPr/>
            </p:nvSpPr>
            <p:spPr>
              <a:xfrm>
                <a:off x="723900" y="5816600"/>
                <a:ext cx="10922000" cy="304800"/>
              </a:xfrm>
              <a:prstGeom prst="rect">
                <a:avLst/>
              </a:prstGeom>
              <a:blipFill>
                <a:blip r:embed="rId3"/>
                <a:stretch>
                  <a:fillRect l="-1047" t="-16000" b="-12000"/>
                </a:stretch>
              </a:blipFill>
            </p:spPr>
            <p:txBody>
              <a:bodyPr/>
              <a:lstStyle/>
              <a:p>
                <a:r>
                  <a:rPr lang="ja-JP" altLang="en-US">
                    <a:noFill/>
                  </a:rPr>
                  <a:t> </a:t>
                </a:r>
              </a:p>
            </p:txBody>
          </p:sp>
        </mc:Fallback>
      </mc:AlternateContent>
      <p:sp>
        <p:nvSpPr>
          <p:cNvPr id="313" name="Dg 313"/>
          <p:cNvSpPr/>
          <p:nvPr/>
        </p:nvSpPr>
        <p:spPr>
          <a:xfrm>
            <a:off x="546100" y="3924300"/>
            <a:ext cx="38100" cy="18796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22254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ln/>
          <a:effectLst/>
        </p:spPr>
        <p:style>
          <a:lnRef idx="1">
            <a:schemeClr val="accent1"/>
          </a:lnRef>
          <a:fillRef idx="0">
            <a:scrgbClr r="0" g="0" b="0"/>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3048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誠実性 ｜ 何を仮定し、何を仮定していないか</a:t>
            </a:r>
          </a:p>
        </p:txBody>
      </p:sp>
      <p:sp>
        <p:nvSpPr>
          <p:cNvPr id="4" name="TextBox 3"/>
          <p:cNvSpPr txBox="1"/>
          <p:nvPr/>
        </p:nvSpPr>
        <p:spPr>
          <a:xfrm>
            <a:off x="546100" y="8128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滑らかさは、検証の証拠ではない</a:t>
            </a:r>
          </a:p>
        </p:txBody>
      </p:sp>
      <p:sp>
        <p:nvSpPr>
          <p:cNvPr id="5" name="TextBox 4"/>
          <p:cNvSpPr txBox="1"/>
          <p:nvPr/>
        </p:nvSpPr>
        <p:spPr>
          <a:xfrm>
            <a:off x="546100" y="1447800"/>
            <a:ext cx="11099800" cy="23083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完成品の見栄えは「仮定を重ねた推定」を「実在の観測」と誤認させる。だから仮定の全量を</a:t>
            </a:r>
            <a:r>
              <a:rPr kumimoji="0" lang="en-US" altLang="ja-JP"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1</a:t>
            </a: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枚の台帳で見えるようにする。</a:t>
            </a:r>
          </a:p>
        </p:txBody>
      </p:sp>
      <p:sp>
        <p:nvSpPr>
          <p:cNvPr id="6" name="TextBox 5"/>
          <p:cNvSpPr txBox="1"/>
          <p:nvPr/>
        </p:nvSpPr>
        <p:spPr>
          <a:xfrm>
            <a:off x="2413000" y="2133600"/>
            <a:ext cx="9232900" cy="261995"/>
          </a:xfrm>
          <a:prstGeom prst="rect">
            <a:avLst/>
          </a:prstGeom>
          <a:noFill/>
        </p:spPr>
        <p:txBody>
          <a:bodyPr wrap="square" lIns="0" tIns="0" rIns="0" bIns="0">
            <a:spAutoFit/>
          </a:bodyPr>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接続・値・配分を作る介入</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30</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件すべてを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①</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根拠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②</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帳簿 </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③</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無効化手段 の</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3</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点セットで登録</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登録なき介入は禁止</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7" name="TextBox 6"/>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12 / 15   docs/MODEL_INTERVENTIONS.md —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「盲信につながる修正は全部ここに載せる」</a:t>
            </a:r>
          </a:p>
        </p:txBody>
      </p:sp>
      <p:sp>
        <p:nvSpPr>
          <p:cNvPr id="310" name="Dg 310"/>
          <p:cNvSpPr/>
          <p:nvPr/>
        </p:nvSpPr>
        <p:spPr>
          <a:xfrm>
            <a:off x="546100" y="2895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546100" y="3759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546100" y="44450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546100" y="51308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TB 320"/>
          <p:cNvSpPr txBox="1"/>
          <p:nvPr/>
        </p:nvSpPr>
        <p:spPr>
          <a:xfrm>
            <a:off x="711200" y="2133600"/>
            <a:ext cx="1905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介入台帳</a:t>
            </a:r>
          </a:p>
        </p:txBody>
      </p:sp>
      <p:sp>
        <p:nvSpPr>
          <p:cNvPr id="330" name="Dg 330"/>
          <p:cNvSpPr/>
          <p:nvPr/>
        </p:nvSpPr>
        <p:spPr>
          <a:xfrm>
            <a:off x="546100" y="2120900"/>
            <a:ext cx="381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TB 321"/>
          <p:cNvSpPr txBox="1"/>
          <p:nvPr/>
        </p:nvSpPr>
        <p:spPr>
          <a:xfrm>
            <a:off x="711200" y="2997200"/>
            <a:ext cx="1905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出典必須</a:t>
            </a:r>
          </a:p>
        </p:txBody>
      </p:sp>
      <p:sp>
        <p:nvSpPr>
          <p:cNvPr id="331" name="Dg 331"/>
          <p:cNvSpPr/>
          <p:nvPr/>
        </p:nvSpPr>
        <p:spPr>
          <a:xfrm>
            <a:off x="546100" y="2984500"/>
            <a:ext cx="381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1" name="TB 341"/>
          <p:cNvSpPr txBox="1"/>
          <p:nvPr/>
        </p:nvSpPr>
        <p:spPr>
          <a:xfrm>
            <a:off x="2413000" y="2997200"/>
            <a:ext cx="9232900" cy="685800"/>
          </a:xfrm>
          <a:prstGeom prst="rect">
            <a:avLst/>
          </a:prstGeom>
          <a:noFill/>
        </p:spPr>
        <p:txBody>
          <a:bodyPr wrap="square" lIns="0" tIns="0" rIns="0" bIns="0"/>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容量・接続は出典</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URL+</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原文引用がないものを</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REJECT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。動的定数は「型式別典型値・個別実測でない」と列で明示</a:t>
            </a:r>
          </a:p>
        </p:txBody>
      </p:sp>
      <p:sp>
        <p:nvSpPr>
          <p:cNvPr id="322" name="TB 322"/>
          <p:cNvSpPr txBox="1"/>
          <p:nvPr/>
        </p:nvSpPr>
        <p:spPr>
          <a:xfrm>
            <a:off x="711200" y="3860800"/>
            <a:ext cx="1905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負の結果</a:t>
            </a:r>
          </a:p>
        </p:txBody>
      </p:sp>
      <p:sp>
        <p:nvSpPr>
          <p:cNvPr id="332" name="Dg 332"/>
          <p:cNvSpPr/>
          <p:nvPr/>
        </p:nvSpPr>
        <p:spPr>
          <a:xfrm>
            <a:off x="546100" y="3848100"/>
            <a:ext cx="381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2" name="TB 342"/>
          <p:cNvSpPr txBox="1"/>
          <p:nvPr/>
        </p:nvSpPr>
        <p:spPr>
          <a:xfrm>
            <a:off x="2413000" y="3860800"/>
            <a:ext cx="9232900" cy="508000"/>
          </a:xfrm>
          <a:prstGeom prst="rect">
            <a:avLst/>
          </a:prstGeom>
          <a:noFill/>
        </p:spPr>
        <p:txBody>
          <a:bodyPr wrap="square" lIns="0" tIns="0" rIns="0" bIns="0"/>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失敗・棄却した仮説も検証図つきで報告に残す</a:t>
            </a:r>
          </a:p>
        </p:txBody>
      </p:sp>
      <p:sp>
        <p:nvSpPr>
          <p:cNvPr id="323" name="TB 323"/>
          <p:cNvSpPr txBox="1"/>
          <p:nvPr/>
        </p:nvSpPr>
        <p:spPr>
          <a:xfrm>
            <a:off x="711200" y="4546600"/>
            <a:ext cx="1905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A/B</a:t>
            </a: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保留</a:t>
            </a:r>
          </a:p>
        </p:txBody>
      </p:sp>
      <p:sp>
        <p:nvSpPr>
          <p:cNvPr id="333" name="Dg 333"/>
          <p:cNvSpPr/>
          <p:nvPr/>
        </p:nvSpPr>
        <p:spPr>
          <a:xfrm>
            <a:off x="546100" y="4533900"/>
            <a:ext cx="381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3" name="TB 343"/>
          <p:cNvSpPr txBox="1"/>
          <p:nvPr/>
        </p:nvSpPr>
        <p:spPr>
          <a:xfrm>
            <a:off x="2413000" y="4546600"/>
            <a:ext cx="9232900" cy="508000"/>
          </a:xfrm>
          <a:prstGeom prst="rect">
            <a:avLst/>
          </a:prstGeom>
          <a:noFill/>
        </p:spPr>
        <p:txBody>
          <a:bodyPr wrap="square" lIns="0" tIns="0" rIns="0" bIns="0"/>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効果が測れない改良は採用しない</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例</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地点需要ピン留め</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害なし・カバレッジ</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0.3%</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で保留</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
        <p:nvSpPr>
          <p:cNvPr id="324" name="TB 324"/>
          <p:cNvSpPr txBox="1"/>
          <p:nvPr/>
        </p:nvSpPr>
        <p:spPr>
          <a:xfrm>
            <a:off x="711200" y="5232400"/>
            <a:ext cx="19050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近似の明示</a:t>
            </a:r>
          </a:p>
        </p:txBody>
      </p:sp>
      <p:sp>
        <p:nvSpPr>
          <p:cNvPr id="334" name="Dg 334"/>
          <p:cNvSpPr/>
          <p:nvPr/>
        </p:nvSpPr>
        <p:spPr>
          <a:xfrm>
            <a:off x="546100" y="5219700"/>
            <a:ext cx="38100" cy="3048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44" name="TB 344"/>
          <p:cNvSpPr txBox="1"/>
          <p:nvPr/>
        </p:nvSpPr>
        <p:spPr>
          <a:xfrm>
            <a:off x="2413000" y="5232400"/>
            <a:ext cx="9232900" cy="685800"/>
          </a:xfrm>
          <a:prstGeom prst="rect">
            <a:avLst/>
          </a:prstGeom>
          <a:noFill/>
        </p:spPr>
        <p:txBody>
          <a:bodyPr wrap="square" lIns="0" tIns="0" rIns="0" bIns="0"/>
          <a:lstStyle/>
          <a:p>
            <a:pPr marL="0" marR="0" lvl="0" indent="0" algn="l" defTabSz="457200" rtl="0" eaLnBrk="1" fontAlgn="auto" latinLnBrk="0" hangingPunct="1">
              <a:lnSpc>
                <a:spcPct val="135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長軸振動は「帯と形の再現」。減衰率の定量には</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AVR/PSS/</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ガバナの制御系モデルが要る</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未実装と明記</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a:t>
            </a:r>
          </a:p>
        </p:txBody>
      </p:sp>
    </p:spTree>
    <p:extLst>
      <p:ext uri="{BB962C8B-B14F-4D97-AF65-F5344CB8AC3E}">
        <p14:creationId xmlns:p14="http://schemas.microsoft.com/office/powerpoint/2010/main" val="1633165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546100" y="1524000"/>
            <a:ext cx="5664200" cy="14224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546100" y="1524000"/>
            <a:ext cx="38100" cy="1422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546100" y="3098800"/>
            <a:ext cx="5664200" cy="14224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546100" y="3098800"/>
            <a:ext cx="38100" cy="1422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4" name="Dg 314"/>
          <p:cNvSpPr/>
          <p:nvPr/>
        </p:nvSpPr>
        <p:spPr>
          <a:xfrm>
            <a:off x="6489700" y="5207000"/>
            <a:ext cx="5156200" cy="584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5" name="Dg 315"/>
          <p:cNvSpPr/>
          <p:nvPr/>
        </p:nvSpPr>
        <p:spPr>
          <a:xfrm>
            <a:off x="6489700" y="5207000"/>
            <a:ext cx="38100" cy="584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次の原理 ｜ 負性インピーダンスと安定判別</a:t>
            </a:r>
          </a:p>
        </p:txBody>
      </p:sp>
      <p:sp>
        <p:nvSpPr>
          <p:cNvPr id="4" name="TextBox 3"/>
          <p:cNvSpPr txBox="1"/>
          <p:nvPr/>
        </p:nvSpPr>
        <p:spPr>
          <a:xfrm>
            <a:off x="546100" y="812800"/>
            <a:ext cx="11099800" cy="533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次に足す数式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インピーダンス比のナイキスト判定</a:t>
            </a:r>
          </a:p>
        </p:txBody>
      </p:sp>
      <mc:AlternateContent xmlns:mc="http://schemas.openxmlformats.org/markup-compatibility/2006" xmlns:a14="http://schemas.microsoft.com/office/drawing/2010/main">
        <mc:Choice Requires="a14">
          <p:sp>
            <p:nvSpPr>
              <p:cNvPr id="5" name="Rectangle 4"/>
              <p:cNvSpPr/>
              <p:nvPr/>
            </p:nvSpPr>
            <p:spPr>
              <a:xfrm>
                <a:off x="546100" y="1524000"/>
                <a:ext cx="5664200" cy="1422400"/>
              </a:xfrm>
              <a:ln/>
              <a:effectLst/>
            </p:spPr>
            <p:style>
              <a:lnRef idx="1">
                <a:schemeClr val="accent1"/>
              </a:lnRef>
              <a:fillRef idx="0">
                <a:schemeClr val="accent1"/>
              </a:fillRef>
              <a:effectRef idx="2">
                <a:schemeClr val="accent1"/>
              </a:effectRef>
              <a:fontRef idx="minor">
                <a:schemeClr val="lt1"/>
              </a:fontRef>
            </p:style>
            <p:txBody>
              <a:bodyPr wrap="square" lIns="228600" tIns="152400" rIns="152400" bIns="152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安定 ⇔ </a:t>
                </a:r>
                <a14:m>
                  <m:oMath xmlns:m="http://schemas.openxmlformats.org/officeDocument/2006/math">
                    <m:f>
                      <m:fPr>
                        <m:ctrlPr>
                          <a:rPr kumimoji="0" lang="en-US" sz="1600" b="0" i="1"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fPr>
                      <m:num>
                        <m:sSub>
                          <m:sSubPr>
                            <m:ctrlPr>
                              <a:rPr kumimoji="0" lang="en-US" sz="16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6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6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𝑔𝑟𝑖𝑑</m:t>
                            </m:r>
                          </m:sub>
                        </m:sSub>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𝜔</m:t>
                        </m:r>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num>
                      <m:den>
                        <m:sSub>
                          <m:sSubPr>
                            <m:ctrlPr>
                              <a:rPr kumimoji="0" lang="en-US" sz="16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6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𝑍</m:t>
                            </m:r>
                          </m:e>
                          <m:sub>
                            <m:r>
                              <a:rPr kumimoji="0" lang="en-US" sz="16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𝑖𝑛𝑣</m:t>
                            </m:r>
                          </m:sub>
                        </m:sSub>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𝜔</m:t>
                        </m:r>
                        <m:r>
                          <a:rPr kumimoji="0" lang="en-US" sz="16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den>
                    </m:f>
                  </m:oMath>
                </a14:m>
                <a:r>
                  <a:rPr kumimoji="0" lang="ja-JP" altLang="en-US"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がナイキスト判別を満たす</a:t>
                </a:r>
              </a:p>
              <a:p>
                <a:pPr marL="0" marR="0" lvl="0" indent="0" algn="l" defTabSz="457200" rtl="0" eaLnBrk="1" fontAlgn="auto" latinLnBrk="0" hangingPunct="1">
                  <a:lnSpc>
                    <a:spcPct val="130000"/>
                  </a:lnSpc>
                  <a:spcBef>
                    <a:spcPts val="60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Middlebrook(1976) → Sun(2011)</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の系統連系版。</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Zgrid(jω)</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は</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Ybus</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の周波数依存化から各バスで計算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様式</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5</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の実</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R/X</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が効く。</a:t>
                </a:r>
              </a:p>
            </p:txBody>
          </p:sp>
        </mc:Choice>
        <mc:Fallback xmlns="">
          <p:sp>
            <p:nvSpPr>
              <p:cNvPr id="5" name="Rectangle 4"/>
              <p:cNvSpPr>
                <a:spLocks noRot="1" noChangeAspect="1" noMove="1" noResize="1" noEditPoints="1" noAdjustHandles="1" noChangeArrowheads="1" noChangeShapeType="1" noTextEdit="1"/>
              </p:cNvSpPr>
              <p:nvPr/>
            </p:nvSpPr>
            <p:spPr>
              <a:xfrm>
                <a:off x="546100" y="1524000"/>
                <a:ext cx="5664200" cy="1422400"/>
              </a:xfrm>
              <a:blipFill>
                <a:blip r:embed="rId2"/>
                <a:stretch>
                  <a:fillRect/>
                </a:stretch>
              </a:blipFill>
              <a:ln/>
              <a:effectLst/>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46100" y="3098800"/>
                <a:ext cx="5664200" cy="1422400"/>
              </a:xfrm>
              <a:ln/>
              <a:effectLst/>
            </p:spPr>
            <p:style>
              <a:lnRef idx="1">
                <a:schemeClr val="accent1"/>
              </a:lnRef>
              <a:fillRef idx="0">
                <a:schemeClr val="accent1"/>
              </a:fillRef>
              <a:effectRef idx="2">
                <a:schemeClr val="accent1"/>
              </a:effectRef>
              <a:fontRef idx="minor">
                <a:schemeClr val="lt1"/>
              </a:fontRef>
            </p:style>
            <p:txBody>
              <a:bodyPr wrap="square" lIns="228600" tIns="152400" rIns="152400" bIns="1524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Re</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𝑖𝑛𝑣</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r>
                      <m:rPr>
                        <m:sty m:val="p"/>
                      </m:r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j</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𝜔</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&lt; 0</m:t>
                    </m:r>
                  </m:oMath>
                </a14:m>
                <a:r>
                  <a:rPr kumimoji="0" lang="ja-JP" altLang="en-US"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の帯域 </a:t>
                </a:r>
                <a:r>
                  <a:rPr kumimoji="0" lang="en-US" altLang="ja-JP"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16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負性抵抗</a:t>
                </a:r>
              </a:p>
              <a:p>
                <a:pPr marL="0" marR="0" lvl="0" indent="0" algn="l" defTabSz="457200" rtl="0" eaLnBrk="1" fontAlgn="auto" latinLnBrk="0" hangingPunct="1">
                  <a:lnSpc>
                    <a:spcPct val="130000"/>
                  </a:lnSpc>
                  <a:spcBef>
                    <a:spcPts val="60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インバータは制御帯域</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(PLL)</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・定電力負荷で負の抵抗に見える。弱い系統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負性帯域の重なり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共振・発振の条件。</a:t>
                </a:r>
              </a:p>
            </p:txBody>
          </p:sp>
        </mc:Choice>
        <mc:Fallback xmlns="">
          <p:sp>
            <p:nvSpPr>
              <p:cNvPr id="6" name="Rectangle 5"/>
              <p:cNvSpPr>
                <a:spLocks noRot="1" noChangeAspect="1" noMove="1" noResize="1" noEditPoints="1" noAdjustHandles="1" noChangeArrowheads="1" noChangeShapeType="1" noTextEdit="1"/>
              </p:cNvSpPr>
              <p:nvPr/>
            </p:nvSpPr>
            <p:spPr>
              <a:xfrm>
                <a:off x="546100" y="3098800"/>
                <a:ext cx="5664200" cy="1422400"/>
              </a:xfrm>
              <a:blipFill>
                <a:blip r:embed="rId3"/>
                <a:stretch>
                  <a:fillRect/>
                </a:stretch>
              </a:blipFill>
              <a:ln/>
              <a:effectLst/>
            </p:spPr>
            <p:txBody>
              <a:bodyPr/>
              <a:lstStyle/>
              <a:p>
                <a:r>
                  <a:rPr lang="ja-JP" altLang="en-US">
                    <a:noFill/>
                  </a:rPr>
                  <a:t> </a:t>
                </a:r>
              </a:p>
            </p:txBody>
          </p:sp>
        </mc:Fallback>
      </mc:AlternateContent>
      <p:graphicFrame>
        <p:nvGraphicFramePr>
          <p:cNvPr id="7" name="Table 6"/>
          <p:cNvGraphicFramePr>
            <a:graphicFrameLocks noGrp="1"/>
          </p:cNvGraphicFramePr>
          <p:nvPr/>
        </p:nvGraphicFramePr>
        <p:xfrm>
          <a:off x="6489700" y="1879600"/>
          <a:ext cx="5156200" cy="322072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gridCol w="1879600">
                  <a:extLst>
                    <a:ext uri="{9D8B030D-6E8A-4147-A177-3AD203B41FA5}">
                      <a16:colId xmlns:a16="http://schemas.microsoft.com/office/drawing/2014/main" val="20002"/>
                    </a:ext>
                  </a:extLst>
                </a:gridCol>
              </a:tblGrid>
              <a:tr h="431800">
                <a:tc>
                  <a:txBody>
                    <a:bodyPr/>
                    <a:lstStyle/>
                    <a:p>
                      <a:pPr algn="l"/>
                      <a:r>
                        <a:rPr sz="1400" b="1" dirty="0">
                          <a:solidFill>
                            <a:srgbClr val="FFFFFF"/>
                          </a:solidFill>
                          <a:latin typeface="Calibri"/>
                          <a:cs typeface="Calibri"/>
                        </a:rPr>
                        <a:t> </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1A2744"/>
                    </a:solidFill>
                  </a:tcPr>
                </a:tc>
                <a:tc>
                  <a:txBody>
                    <a:bodyPr/>
                    <a:lstStyle/>
                    <a:p>
                      <a:pPr algn="l"/>
                      <a:r>
                        <a:rPr sz="1400" b="1" dirty="0">
                          <a:solidFill>
                            <a:srgbClr val="FFFFFF"/>
                          </a:solidFill>
                          <a:latin typeface="Calibri"/>
                          <a:cs typeface="Calibri"/>
                        </a:rPr>
                        <a:t>内容</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1A2744"/>
                    </a:solidFill>
                  </a:tcPr>
                </a:tc>
                <a:tc>
                  <a:txBody>
                    <a:bodyPr/>
                    <a:lstStyle/>
                    <a:p>
                      <a:pPr algn="l"/>
                      <a:r>
                        <a:rPr sz="1400" b="1" dirty="0">
                          <a:solidFill>
                            <a:srgbClr val="FFFFFF"/>
                          </a:solidFill>
                          <a:latin typeface="Calibri"/>
                          <a:cs typeface="Calibri"/>
                        </a:rPr>
                        <a:t>解ける問い</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1A2744"/>
                    </a:solidFill>
                  </a:tcPr>
                </a:tc>
                <a:extLst>
                  <a:ext uri="{0D108BD9-81ED-4DB2-BD59-A6C34878D82A}">
                    <a16:rowId xmlns:a16="http://schemas.microsoft.com/office/drawing/2014/main" val="10000"/>
                  </a:ext>
                </a:extLst>
              </a:tr>
              <a:tr h="685800">
                <a:tc>
                  <a:txBody>
                    <a:bodyPr/>
                    <a:lstStyle/>
                    <a:p>
                      <a:pPr algn="l"/>
                      <a:r>
                        <a:rPr sz="1400" b="1" dirty="0">
                          <a:solidFill>
                            <a:srgbClr val="1A2744"/>
                          </a:solidFill>
                          <a:latin typeface="Calibri"/>
                          <a:cs typeface="Calibri"/>
                        </a:rPr>
                        <a:t>Phase 1</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l"/>
                      <a:r>
                        <a:rPr sz="1400" b="0" dirty="0">
                          <a:solidFill>
                            <a:srgbClr val="3D4657"/>
                          </a:solidFill>
                          <a:latin typeface="Calibri"/>
                          <a:cs typeface="Calibri"/>
                        </a:rPr>
                        <a:t>ZIP負荷+公表R/XでY(jω)スキャン</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l"/>
                      <a:r>
                        <a:rPr sz="1400" b="0" dirty="0">
                          <a:solidFill>
                            <a:srgbClr val="3D4657"/>
                          </a:solidFill>
                          <a:latin typeface="Calibri"/>
                          <a:cs typeface="Calibri"/>
                        </a:rPr>
                        <a:t>受動性が失われる帯域=共振リスク地図</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extLst>
                  <a:ext uri="{0D108BD9-81ED-4DB2-BD59-A6C34878D82A}">
                    <a16:rowId xmlns:a16="http://schemas.microsoft.com/office/drawing/2014/main" val="10001"/>
                  </a:ext>
                </a:extLst>
              </a:tr>
              <a:tr h="685800">
                <a:tc>
                  <a:txBody>
                    <a:bodyPr/>
                    <a:lstStyle/>
                    <a:p>
                      <a:pPr algn="l"/>
                      <a:r>
                        <a:rPr sz="1400" b="1" dirty="0">
                          <a:solidFill>
                            <a:srgbClr val="1A2744"/>
                          </a:solidFill>
                          <a:latin typeface="Calibri"/>
                          <a:cs typeface="Calibri"/>
                        </a:rPr>
                        <a:t>Phase 2</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tc>
                  <a:txBody>
                    <a:bodyPr/>
                    <a:lstStyle/>
                    <a:p>
                      <a:pPr algn="l"/>
                      <a:r>
                        <a:rPr sz="1400" b="0" dirty="0">
                          <a:solidFill>
                            <a:srgbClr val="3D4657"/>
                          </a:solidFill>
                          <a:latin typeface="Calibri"/>
                          <a:cs typeface="Calibri"/>
                        </a:rPr>
                        <a:t>GFL/GFMのZinv×ナイキスト</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tc>
                  <a:txBody>
                    <a:bodyPr/>
                    <a:lstStyle/>
                    <a:p>
                      <a:pPr algn="l"/>
                      <a:r>
                        <a:rPr sz="1400" b="0" dirty="0">
                          <a:solidFill>
                            <a:srgbClr val="3D4657"/>
                          </a:solidFill>
                          <a:latin typeface="Calibri"/>
                          <a:cs typeface="Calibri"/>
                        </a:rPr>
                        <a:t>負性インピーダンス安定性の全国スクリーニング</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extLst>
                  <a:ext uri="{0D108BD9-81ED-4DB2-BD59-A6C34878D82A}">
                    <a16:rowId xmlns:a16="http://schemas.microsoft.com/office/drawing/2014/main" val="10002"/>
                  </a:ext>
                </a:extLst>
              </a:tr>
              <a:tr h="685800">
                <a:tc>
                  <a:txBody>
                    <a:bodyPr/>
                    <a:lstStyle/>
                    <a:p>
                      <a:pPr algn="l"/>
                      <a:r>
                        <a:rPr sz="1400" b="1" dirty="0">
                          <a:solidFill>
                            <a:srgbClr val="1A2744"/>
                          </a:solidFill>
                          <a:latin typeface="Calibri"/>
                          <a:cs typeface="Calibri"/>
                        </a:rPr>
                        <a:t>Phase 3</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l"/>
                      <a:r>
                        <a:rPr sz="1400" b="0" dirty="0">
                          <a:solidFill>
                            <a:srgbClr val="3D4657"/>
                          </a:solidFill>
                          <a:latin typeface="Calibri"/>
                          <a:cs typeface="Calibri"/>
                        </a:rPr>
                        <a:t>RMS動的(CGMES資産が入口)</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tc>
                  <a:txBody>
                    <a:bodyPr/>
                    <a:lstStyle/>
                    <a:p>
                      <a:pPr algn="l"/>
                      <a:r>
                        <a:rPr sz="1400" b="0" dirty="0">
                          <a:solidFill>
                            <a:srgbClr val="3D4657"/>
                          </a:solidFill>
                          <a:latin typeface="Calibri"/>
                          <a:cs typeface="Calibri"/>
                        </a:rPr>
                        <a:t>慣性低下シナリオ・GFM最適配置</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FFFFF"/>
                    </a:solidFill>
                  </a:tcPr>
                </a:tc>
                <a:extLst>
                  <a:ext uri="{0D108BD9-81ED-4DB2-BD59-A6C34878D82A}">
                    <a16:rowId xmlns:a16="http://schemas.microsoft.com/office/drawing/2014/main" val="10003"/>
                  </a:ext>
                </a:extLst>
              </a:tr>
              <a:tr h="685800">
                <a:tc>
                  <a:txBody>
                    <a:bodyPr/>
                    <a:lstStyle/>
                    <a:p>
                      <a:pPr algn="l"/>
                      <a:r>
                        <a:rPr sz="1400" b="1" dirty="0">
                          <a:solidFill>
                            <a:srgbClr val="1A2744"/>
                          </a:solidFill>
                          <a:latin typeface="Calibri"/>
                          <a:cs typeface="Calibri"/>
                        </a:rPr>
                        <a:t>DB拡張</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tc>
                  <a:txBody>
                    <a:bodyPr/>
                    <a:lstStyle/>
                    <a:p>
                      <a:pPr algn="l"/>
                      <a:r>
                        <a:rPr sz="1400" b="0" dirty="0">
                          <a:solidFill>
                            <a:srgbClr val="3D4657"/>
                          </a:solidFill>
                          <a:latin typeface="Calibri"/>
                          <a:cs typeface="Calibri"/>
                        </a:rPr>
                        <a:t>G_DB(38万行済)+L_DB(1,135バンク済)</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tc>
                  <a:txBody>
                    <a:bodyPr/>
                    <a:lstStyle/>
                    <a:p>
                      <a:pPr algn="l"/>
                      <a:r>
                        <a:rPr sz="1400" b="0" dirty="0">
                          <a:solidFill>
                            <a:srgbClr val="3D4657"/>
                          </a:solidFill>
                          <a:latin typeface="Calibri"/>
                          <a:cs typeface="Calibri"/>
                        </a:rPr>
                        <a:t>すべての解析の底上げ</a:t>
                      </a:r>
                    </a:p>
                  </a:txBody>
                  <a:tcPr anchor="ctr">
                    <a:lnL w="6350">
                      <a:solidFill>
                        <a:srgbClr val="D0D5DD"/>
                      </a:solidFill>
                    </a:lnL>
                    <a:lnR w="6350">
                      <a:solidFill>
                        <a:srgbClr val="D0D5DD"/>
                      </a:solidFill>
                    </a:lnR>
                    <a:lnT w="6350">
                      <a:solidFill>
                        <a:srgbClr val="D0D5DD"/>
                      </a:solidFill>
                    </a:lnT>
                    <a:lnB w="6350">
                      <a:solidFill>
                        <a:srgbClr val="D0D5DD"/>
                      </a:solidFill>
                    </a:lnB>
                    <a:solidFill>
                      <a:srgbClr val="F4F6FA"/>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13 / 15   ZIP</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負荷</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 P(V) = P₀(aV² + bV + c)</a:t>
            </a:r>
          </a:p>
        </p:txBody>
      </p:sp>
      <p:sp>
        <p:nvSpPr>
          <p:cNvPr id="350" name="Dg 350"/>
          <p:cNvSpPr/>
          <p:nvPr/>
        </p:nvSpPr>
        <p:spPr>
          <a:xfrm>
            <a:off x="762000" y="5232400"/>
            <a:ext cx="5207000" cy="12700"/>
          </a:xfrm>
          <a:prstGeom prst="rect">
            <a:avLst/>
          </a:prstGeom>
          <a:solidFill>
            <a:srgbClr val="5B647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1" name="Dg 351"/>
          <p:cNvSpPr/>
          <p:nvPr/>
        </p:nvSpPr>
        <p:spPr>
          <a:xfrm>
            <a:off x="2413000" y="4673600"/>
            <a:ext cx="12700" cy="1117600"/>
          </a:xfrm>
          <a:prstGeom prst="rect">
            <a:avLst/>
          </a:prstGeom>
          <a:solidFill>
            <a:srgbClr val="5B647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2" name="Dg 352"/>
          <p:cNvSpPr/>
          <p:nvPr/>
        </p:nvSpPr>
        <p:spPr>
          <a:xfrm>
            <a:off x="1905000" y="4724400"/>
            <a:ext cx="1016000" cy="1016000"/>
          </a:xfrm>
          <a:prstGeom prst="ellipse">
            <a:avLst/>
          </a:prstGeom>
          <a:noFill/>
          <a:ln w="9525">
            <a:solidFill>
              <a:srgbClr val="5B6470"/>
            </a:solidFill>
            <a:prstDash val="dash"/>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3" name="Dg 353"/>
          <p:cNvSpPr/>
          <p:nvPr/>
        </p:nvSpPr>
        <p:spPr>
          <a:xfrm>
            <a:off x="2540000" y="4851400"/>
            <a:ext cx="2159000" cy="787400"/>
          </a:xfrm>
          <a:prstGeom prst="ellipse">
            <a:avLst/>
          </a:prstGeom>
          <a:noFill/>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4" name="Dg 354"/>
          <p:cNvSpPr/>
          <p:nvPr/>
        </p:nvSpPr>
        <p:spPr>
          <a:xfrm>
            <a:off x="1854200" y="5181600"/>
            <a:ext cx="114300" cy="1143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60" name="TB 360"/>
          <p:cNvSpPr txBox="1"/>
          <p:nvPr/>
        </p:nvSpPr>
        <p:spPr>
          <a:xfrm>
            <a:off x="1447800" y="5257800"/>
            <a:ext cx="381000" cy="228600"/>
          </a:xfrm>
          <a:prstGeom prst="rect">
            <a:avLst/>
          </a:prstGeom>
          <a:noFill/>
        </p:spPr>
        <p:txBody>
          <a:bodyPr wrap="square"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a:t>
            </a:r>
            <a:r>
              <a:rPr kumimoji="0" lang="en-US" altLang="ja-JP" sz="1400" b="0" i="0" u="none" strike="noStrike" kern="1200" cap="none" spc="0" normalizeH="0" baseline="0" noProof="0" dirty="0">
                <a:ln>
                  <a:noFill/>
                </a:ln>
                <a:solidFill>
                  <a:srgbClr val="1A2744"/>
                </a:solidFill>
                <a:effectLst/>
                <a:uLnTx/>
                <a:uFillTx/>
                <a:latin typeface="Cambria Math"/>
                <a:ea typeface="ＭＳ Ｐゴシック" panose="020B0600070205080204" pitchFamily="34" charset="-128"/>
                <a:cs typeface="+mn-cs"/>
              </a:rPr>
              <a:t>1</a:t>
            </a:r>
          </a:p>
        </p:txBody>
      </p:sp>
      <p:sp>
        <p:nvSpPr>
          <p:cNvPr id="361" name="TB 361"/>
          <p:cNvSpPr txBox="1"/>
          <p:nvPr/>
        </p:nvSpPr>
        <p:spPr>
          <a:xfrm>
            <a:off x="3810000" y="4572000"/>
            <a:ext cx="1143000" cy="228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8A2E3B"/>
                </a:solidFill>
                <a:effectLst/>
                <a:uLnTx/>
                <a:uFillTx/>
                <a:latin typeface="Calibri"/>
                <a:ea typeface="ＭＳ Ｐゴシック" panose="020B0600070205080204" pitchFamily="34" charset="-128"/>
                <a:cs typeface="+mn-cs"/>
              </a:rPr>
              <a:t>軌跡</a:t>
            </a:r>
          </a:p>
        </p:txBody>
      </p:sp>
      <p:sp>
        <p:nvSpPr>
          <p:cNvPr id="362" name="TB 362"/>
          <p:cNvSpPr txBox="1"/>
          <p:nvPr/>
        </p:nvSpPr>
        <p:spPr>
          <a:xfrm>
            <a:off x="546100" y="5867400"/>
            <a:ext cx="5664200" cy="2286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軌跡が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 </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点を囲まなければ安定</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破線は単位円</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a:t>
            </a:r>
          </a:p>
        </p:txBody>
      </p:sp>
      <p:sp>
        <p:nvSpPr>
          <p:cNvPr id="370" name="TB 370"/>
          <p:cNvSpPr txBox="1"/>
          <p:nvPr/>
        </p:nvSpPr>
        <p:spPr>
          <a:xfrm>
            <a:off x="6489700" y="1498600"/>
            <a:ext cx="5156200" cy="3048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拡張ロードマップ</a:t>
            </a:r>
          </a:p>
        </p:txBody>
      </p:sp>
      <p:sp>
        <p:nvSpPr>
          <p:cNvPr id="371" name="TB 371"/>
          <p:cNvSpPr txBox="1"/>
          <p:nvPr/>
        </p:nvSpPr>
        <p:spPr>
          <a:xfrm>
            <a:off x="6743700" y="5359400"/>
            <a:ext cx="4775200" cy="279400"/>
          </a:xfrm>
          <a:prstGeom prst="rect">
            <a:avLst/>
          </a:prstGeom>
          <a:noFill/>
        </p:spPr>
        <p:txBody>
          <a:bodyPr wrap="square" lIns="0" tIns="0" rIns="0" bIns="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様式</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5(</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実</a:t>
            </a:r>
            <a:r>
              <a:rPr kumimoji="0" lang="en-US" altLang="ja-JP"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R/X)</a:t>
            </a:r>
            <a:r>
              <a:rPr kumimoji="0" lang="ja-JP" altLang="en-US" sz="14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の公表が、すべての段階の精度を底上げする</a:t>
            </a:r>
          </a:p>
        </p:txBody>
      </p:sp>
    </p:spTree>
    <p:extLst>
      <p:ext uri="{BB962C8B-B14F-4D97-AF65-F5344CB8AC3E}">
        <p14:creationId xmlns:p14="http://schemas.microsoft.com/office/powerpoint/2010/main" val="2094966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solidFill>
            <a:srgbClr val="FFFFFF"/>
          </a:solidFill>
          <a:ln>
            <a:noFill/>
          </a:ln>
          <a:effectLst/>
        </p:spPr>
        <p:style>
          <a:lnRef idx="1">
            <a:schemeClr val="accent1"/>
          </a:lnRef>
          <a:fillRef idx="0">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0" name="Dg 300"/>
          <p:cNvSpPr/>
          <p:nvPr/>
        </p:nvSpPr>
        <p:spPr>
          <a:xfrm>
            <a:off x="546100" y="7366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1" name="Dg 301"/>
          <p:cNvSpPr/>
          <p:nvPr/>
        </p:nvSpPr>
        <p:spPr>
          <a:xfrm>
            <a:off x="546100" y="711200"/>
            <a:ext cx="7366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2" name="Dg 302"/>
          <p:cNvSpPr/>
          <p:nvPr/>
        </p:nvSpPr>
        <p:spPr>
          <a:xfrm>
            <a:off x="546100" y="6172200"/>
            <a:ext cx="11099800" cy="11430"/>
          </a:xfrm>
          <a:prstGeom prst="rect">
            <a:avLst/>
          </a:prstGeom>
          <a:solidFill>
            <a:srgbClr val="D8DEE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0" name="Dg 390"/>
          <p:cNvSpPr/>
          <p:nvPr/>
        </p:nvSpPr>
        <p:spPr>
          <a:xfrm>
            <a:off x="546100" y="5207000"/>
            <a:ext cx="11099800" cy="5842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91" name="Dg 391"/>
          <p:cNvSpPr/>
          <p:nvPr/>
        </p:nvSpPr>
        <p:spPr>
          <a:xfrm>
            <a:off x="546100" y="5207000"/>
            <a:ext cx="50800" cy="5842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Dg 310"/>
          <p:cNvSpPr/>
          <p:nvPr/>
        </p:nvSpPr>
        <p:spPr>
          <a:xfrm>
            <a:off x="5461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Dg 311"/>
          <p:cNvSpPr/>
          <p:nvPr/>
        </p:nvSpPr>
        <p:spPr>
          <a:xfrm>
            <a:off x="34163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2" name="Dg 312"/>
          <p:cNvSpPr/>
          <p:nvPr/>
        </p:nvSpPr>
        <p:spPr>
          <a:xfrm>
            <a:off x="62865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3" name="Dg 313"/>
          <p:cNvSpPr/>
          <p:nvPr/>
        </p:nvSpPr>
        <p:spPr>
          <a:xfrm>
            <a:off x="9156700" y="2235200"/>
            <a:ext cx="2489200" cy="2667000"/>
          </a:xfrm>
          <a:prstGeom prst="rect">
            <a:avLst/>
          </a:prstGeom>
          <a:solidFill>
            <a:srgbClr val="F4F6F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0" name="Dg 320"/>
          <p:cNvSpPr/>
          <p:nvPr/>
        </p:nvSpPr>
        <p:spPr>
          <a:xfrm>
            <a:off x="5461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1" name="Dg 321"/>
          <p:cNvSpPr/>
          <p:nvPr/>
        </p:nvSpPr>
        <p:spPr>
          <a:xfrm>
            <a:off x="34163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2" name="Dg 322"/>
          <p:cNvSpPr/>
          <p:nvPr/>
        </p:nvSpPr>
        <p:spPr>
          <a:xfrm>
            <a:off x="62865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3" name="Dg 323"/>
          <p:cNvSpPr/>
          <p:nvPr/>
        </p:nvSpPr>
        <p:spPr>
          <a:xfrm>
            <a:off x="9156700" y="2235200"/>
            <a:ext cx="2489200" cy="381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p:cNvSpPr txBox="1"/>
          <p:nvPr/>
        </p:nvSpPr>
        <p:spPr>
          <a:xfrm>
            <a:off x="546100" y="279400"/>
            <a:ext cx="11099800" cy="3048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300" b="1" i="0" u="none" strike="noStrike" kern="1200" cap="none" spc="120" normalizeH="0" baseline="0" noProof="0" dirty="0">
                <a:ln>
                  <a:noFill/>
                </a:ln>
                <a:solidFill>
                  <a:srgbClr val="8A2E3B"/>
                </a:solidFill>
                <a:effectLst/>
                <a:uLnTx/>
                <a:uFillTx/>
                <a:latin typeface="Calibri"/>
                <a:ea typeface="ＭＳ Ｐゴシック" panose="020B0600070205080204" pitchFamily="34" charset="-128"/>
                <a:cs typeface="+mn-cs"/>
              </a:rPr>
              <a:t>まとめ ｜ 検証の階段</a:t>
            </a:r>
          </a:p>
        </p:txBody>
      </p:sp>
      <p:sp>
        <p:nvSpPr>
          <p:cNvPr id="4" name="TextBox 3"/>
          <p:cNvSpPr txBox="1"/>
          <p:nvPr/>
        </p:nvSpPr>
        <p:spPr>
          <a:xfrm>
            <a:off x="546100" y="838200"/>
            <a:ext cx="11099800" cy="7514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Y</a:t>
            </a:r>
            <a:r>
              <a:rPr kumimoji="0" lang="ja-JP" altLang="en-US"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行列 → 潮流 → 強さ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 揺れ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 </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  </a:t>
            </a:r>
            <a:r>
              <a:rPr kumimoji="0" lang="ja-JP" altLang="en-US" sz="2800" b="1" i="0" u="none" strike="noStrike" kern="1200" cap="none" spc="0" normalizeH="0" baseline="0" noProof="0">
                <a:ln>
                  <a:noFill/>
                </a:ln>
                <a:solidFill>
                  <a:srgbClr val="1A2744"/>
                </a:solidFill>
                <a:effectLst/>
                <a:uLnTx/>
                <a:uFillTx/>
                <a:latin typeface="Calibri"/>
                <a:ea typeface="ＭＳ Ｐゴシック" panose="020B0600070205080204" pitchFamily="34" charset="-128"/>
                <a:cs typeface="+mn-cs"/>
              </a:rPr>
              <a:t>実測</a:t>
            </a:r>
            <a:r>
              <a:rPr kumimoji="0" lang="en-US" altLang="ja-JP" sz="28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(PMU)</a:t>
            </a:r>
          </a:p>
          <a:p>
            <a:pPr marL="0" marR="0" lvl="0" indent="0" algn="l" defTabSz="457200" rtl="0" eaLnBrk="1" fontAlgn="auto" latinLnBrk="0" hangingPunct="1">
              <a:lnSpc>
                <a:spcPct val="100000"/>
              </a:lnSpc>
              <a:spcBef>
                <a:spcPts val="700"/>
              </a:spcBef>
              <a:spcAft>
                <a:spcPts val="0"/>
              </a:spcAft>
              <a:buClrTx/>
              <a:buSzTx/>
              <a:buFontTx/>
              <a:buNone/>
              <a:tabLst/>
              <a:defRPr/>
            </a:pPr>
            <a:r>
              <a:rPr kumimoji="0" lang="ja-JP" altLang="en-US" sz="1500" b="0" i="0" u="none" strike="noStrike" kern="1200" cap="none" spc="0" normalizeH="0" baseline="0" noProof="0" dirty="0">
                <a:ln>
                  <a:noFill/>
                </a:ln>
                <a:solidFill>
                  <a:srgbClr val="3D4657"/>
                </a:solidFill>
                <a:effectLst/>
                <a:uLnTx/>
                <a:uFillTx/>
                <a:latin typeface="Calibri"/>
                <a:ea typeface="ＭＳ Ｐゴシック" panose="020B0600070205080204" pitchFamily="34" charset="-128"/>
                <a:cs typeface="+mn-cs"/>
              </a:rPr>
              <a:t>下の層の検証が、上の層の解析を可能にする階段。</a:t>
            </a:r>
          </a:p>
        </p:txBody>
      </p:sp>
      <mc:AlternateContent xmlns:mc="http://schemas.openxmlformats.org/markup-compatibility/2006" xmlns:a14="http://schemas.microsoft.com/office/drawing/2010/main">
        <mc:Choice Requires="a14">
          <p:sp>
            <p:nvSpPr>
              <p:cNvPr id="5" name="TextBox 4"/>
              <p:cNvSpPr txBox="1"/>
              <p:nvPr/>
            </p:nvSpPr>
            <p:spPr>
              <a:xfrm>
                <a:off x="7493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𝐼</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𝑌</m:t>
                      </m:r>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𝑉</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749300" y="3835400"/>
                <a:ext cx="2082800" cy="381000"/>
              </a:xfrm>
              <a:prstGeom prst="rect">
                <a:avLst/>
              </a:prstGeom>
              <a:blipFill>
                <a:blip r:embed="rId2"/>
                <a:stretch>
                  <a:fillRect l="-3636" t="-3125"/>
                </a:stretch>
              </a:blipFill>
            </p:spPr>
            <p:txBody>
              <a:bodyPr/>
              <a:lstStyle/>
              <a:p>
                <a:r>
                  <a:rPr lang="ja-JP" altLang="en-US">
                    <a:noFill/>
                  </a:rPr>
                  <a:t> </a:t>
                </a:r>
              </a:p>
            </p:txBody>
          </p:sp>
        </mc:Fallback>
      </mc:AlternateContent>
      <p:sp>
        <p:nvSpPr>
          <p:cNvPr id="6" name="TextBox 5"/>
          <p:cNvSpPr txBox="1"/>
          <p:nvPr/>
        </p:nvSpPr>
        <p:spPr>
          <a:xfrm>
            <a:off x="7493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土台</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公表</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R/X</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と整合 </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1.22</a:t>
            </a:r>
          </a:p>
        </p:txBody>
      </p:sp>
      <mc:AlternateContent xmlns:mc="http://schemas.openxmlformats.org/markup-compatibility/2006" xmlns:a14="http://schemas.microsoft.com/office/drawing/2010/main">
        <mc:Choice Requires="a14">
          <p:sp>
            <p:nvSpPr>
              <p:cNvPr id="7" name="TextBox 6"/>
              <p:cNvSpPr txBox="1"/>
              <p:nvPr/>
            </p:nvSpPr>
            <p:spPr>
              <a:xfrm>
                <a:off x="36195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𝑡ℎ</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 = </m:t>
                      </m:r>
                      <m:sSub>
                        <m:sSub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p>
                            <m:sSup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𝑌</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e>
                        <m: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𝑖𝑖</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19500" y="3835400"/>
                <a:ext cx="2082800" cy="381000"/>
              </a:xfrm>
              <a:prstGeom prst="rect">
                <a:avLst/>
              </a:prstGeom>
              <a:blipFill>
                <a:blip r:embed="rId3"/>
                <a:stretch>
                  <a:fillRect l="-3659" t="-3125"/>
                </a:stretch>
              </a:blipFill>
            </p:spPr>
            <p:txBody>
              <a:bodyPr/>
              <a:lstStyle/>
              <a:p>
                <a:r>
                  <a:rPr lang="ja-JP" altLang="en-US">
                    <a:noFill/>
                  </a:rPr>
                  <a:t> </a:t>
                </a:r>
              </a:p>
            </p:txBody>
          </p:sp>
        </mc:Fallback>
      </mc:AlternateContent>
      <p:sp>
        <p:nvSpPr>
          <p:cNvPr id="8" name="TextBox 7"/>
          <p:cNvSpPr txBox="1"/>
          <p:nvPr/>
        </p:nvSpPr>
        <p:spPr>
          <a:xfrm>
            <a:off x="36195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強さの地図</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物理帯に整合</a:t>
            </a:r>
          </a:p>
        </p:txBody>
      </p:sp>
      <mc:AlternateContent xmlns:mc="http://schemas.openxmlformats.org/markup-compatibility/2006" xmlns:a14="http://schemas.microsoft.com/office/drawing/2010/main">
        <mc:Choice Requires="a14">
          <p:sp>
            <p:nvSpPr>
              <p:cNvPr id="9" name="TextBox 8"/>
              <p:cNvSpPr txBox="1"/>
              <p:nvPr/>
            </p:nvSpPr>
            <p:spPr>
              <a:xfrm>
                <a:off x="64897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p>
                        <m:sSupPr>
                          <m:ctrlP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ctrlPr>
                        </m:sSupPr>
                        <m:e>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𝑀</m:t>
                          </m:r>
                        </m:e>
                        <m:sup>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−1</m:t>
                          </m:r>
                        </m:sup>
                      </m:sSup>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𝐾</m:t>
                      </m:r>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489700" y="3835400"/>
                <a:ext cx="2082800" cy="381000"/>
              </a:xfrm>
              <a:prstGeom prst="rect">
                <a:avLst/>
              </a:prstGeom>
              <a:blipFill>
                <a:blip r:embed="rId4"/>
                <a:stretch>
                  <a:fillRect l="-3659"/>
                </a:stretch>
              </a:blipFill>
            </p:spPr>
            <p:txBody>
              <a:bodyPr/>
              <a:lstStyle/>
              <a:p>
                <a:r>
                  <a:rPr lang="ja-JP" altLang="en-US">
                    <a:noFill/>
                  </a:rPr>
                  <a:t> </a:t>
                </a:r>
              </a:p>
            </p:txBody>
          </p:sp>
        </mc:Fallback>
      </mc:AlternateContent>
      <p:sp>
        <p:nvSpPr>
          <p:cNvPr id="10" name="TextBox 9"/>
          <p:cNvSpPr txBox="1"/>
          <p:nvPr/>
        </p:nvSpPr>
        <p:spPr>
          <a:xfrm>
            <a:off x="64897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揺れのモード</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文献</a:t>
            </a: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0.4Hz</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を再現</a:t>
            </a:r>
          </a:p>
        </p:txBody>
      </p:sp>
      <mc:AlternateContent xmlns:mc="http://schemas.openxmlformats.org/markup-compatibility/2006" xmlns:a14="http://schemas.microsoft.com/office/drawing/2010/main">
        <mc:Choice Requires="a14">
          <p:sp>
            <p:nvSpPr>
              <p:cNvPr id="11" name="TextBox 10"/>
              <p:cNvSpPr txBox="1"/>
              <p:nvPr/>
            </p:nvSpPr>
            <p:spPr>
              <a:xfrm>
                <a:off x="9359900" y="3835400"/>
                <a:ext cx="2082800" cy="381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8A2E3B"/>
                              </a:solidFill>
                              <a:effectLst/>
                              <a:uLnTx/>
                              <a:uFillTx/>
                              <a:latin typeface="Cambria Math" panose="02040503050406030204" pitchFamily="18" charset="0"/>
                              <a:ea typeface="+mn-ea"/>
                              <a:cs typeface="+mn-cs"/>
                            </a:rPr>
                            <m:t>𝑔𝑟𝑖𝑑</m:t>
                          </m:r>
                        </m:sub>
                      </m:sSub>
                      <m:r>
                        <a:rPr kumimoji="0" lang="en-US" sz="1700" b="0" i="0" u="none" strike="noStrike" kern="1200" cap="none" spc="0" normalizeH="0" baseline="0" noProof="0" dirty="0">
                          <a:ln>
                            <a:noFill/>
                          </a:ln>
                          <a:solidFill>
                            <a:srgbClr val="1A2744"/>
                          </a:solidFill>
                          <a:effectLst/>
                          <a:uLnTx/>
                          <a:uFillTx/>
                          <a:latin typeface="Cambria Math" panose="02040503050406030204" pitchFamily="18" charset="0"/>
                          <a:ea typeface="+mn-ea"/>
                          <a:cs typeface="+mn-cs"/>
                        </a:rPr>
                        <m:t>/</m:t>
                      </m:r>
                      <m:sSub>
                        <m:sSubPr>
                          <m:ctrlP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ctrlPr>
                        </m:sSubPr>
                        <m:e>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𝑍</m:t>
                          </m:r>
                        </m:e>
                        <m:sub>
                          <m:r>
                            <a:rPr kumimoji="0" lang="en-US" sz="1700" b="0" i="0" u="none" strike="noStrike" kern="1200" cap="none" spc="0" normalizeH="0" baseline="0" noProof="0" dirty="0">
                              <a:ln>
                                <a:noFill/>
                              </a:ln>
                              <a:solidFill>
                                <a:srgbClr val="2C5F8A"/>
                              </a:solidFill>
                              <a:effectLst/>
                              <a:uLnTx/>
                              <a:uFillTx/>
                              <a:latin typeface="Cambria Math" panose="02040503050406030204" pitchFamily="18" charset="0"/>
                              <a:ea typeface="+mn-ea"/>
                              <a:cs typeface="+mn-cs"/>
                            </a:rPr>
                            <m:t>𝑖𝑛𝑣</m:t>
                          </m:r>
                        </m:sub>
                      </m:sSub>
                    </m:oMath>
                  </m:oMathPara>
                </a14:m>
                <a:endParaRPr kumimoji="0" sz="1800" b="0" i="0" u="none" strike="noStrike" kern="1200" cap="none" spc="0" normalizeH="0" baseline="0" noProof="0">
                  <a:ln>
                    <a:noFill/>
                  </a:ln>
                  <a:solidFill>
                    <a:prstClr val="black"/>
                  </a:solidFill>
                  <a:effectLst/>
                  <a:uLnTx/>
                  <a:uFillTx/>
                  <a:latin typeface="Calibri"/>
                  <a:ea typeface="+mn-ea"/>
                  <a:cs typeface="+mn-cs"/>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9359900" y="3835400"/>
                <a:ext cx="2082800" cy="381000"/>
              </a:xfrm>
              <a:prstGeom prst="rect">
                <a:avLst/>
              </a:prstGeom>
              <a:blipFill>
                <a:blip r:embed="rId5"/>
                <a:stretch>
                  <a:fillRect l="-3030"/>
                </a:stretch>
              </a:blipFill>
            </p:spPr>
            <p:txBody>
              <a:bodyPr/>
              <a:lstStyle/>
              <a:p>
                <a:r>
                  <a:rPr lang="ja-JP" altLang="en-US">
                    <a:noFill/>
                  </a:rPr>
                  <a:t> </a:t>
                </a:r>
              </a:p>
            </p:txBody>
          </p:sp>
        </mc:Fallback>
      </mc:AlternateContent>
      <p:sp>
        <p:nvSpPr>
          <p:cNvPr id="12" name="TextBox 11"/>
          <p:cNvSpPr txBox="1"/>
          <p:nvPr/>
        </p:nvSpPr>
        <p:spPr>
          <a:xfrm>
            <a:off x="9359900" y="4216400"/>
            <a:ext cx="2159000" cy="532582"/>
          </a:xfrm>
          <a:prstGeom prst="rect">
            <a:avLst/>
          </a:prstGeom>
          <a:noFill/>
        </p:spPr>
        <p:txBody>
          <a:bodyPr wrap="square" lIns="0" tIns="0" rIns="0" bIns="0">
            <a:spAutoFit/>
          </a:bodyPr>
          <a:lstStyle/>
          <a:p>
            <a:pPr marL="0" marR="0" lvl="0" indent="0" algn="l" defTabSz="457200" rtl="0" eaLnBrk="1" fontAlgn="auto" latinLnBrk="0" hangingPunct="1">
              <a:lnSpc>
                <a:spcPct val="118000"/>
              </a:lnSpc>
              <a:spcBef>
                <a:spcPts val="0"/>
              </a:spcBef>
              <a:spcAft>
                <a:spcPts val="200"/>
              </a:spcAft>
              <a:buClrTx/>
              <a:buSzTx/>
              <a:buFontTx/>
              <a:buNone/>
              <a:tabLst/>
              <a:defRPr/>
            </a:pP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次の一手</a:t>
            </a:r>
          </a:p>
          <a:p>
            <a:pPr marL="0" marR="0" lvl="0" indent="0" algn="l" defTabSz="457200" rtl="0" eaLnBrk="1" fontAlgn="auto" latinLnBrk="0" hangingPunct="1">
              <a:lnSpc>
                <a:spcPct val="118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IBR</a:t>
            </a:r>
            <a:r>
              <a:rPr kumimoji="0" lang="ja-JP" altLang="en-US" sz="14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安定性の判定</a:t>
            </a:r>
          </a:p>
        </p:txBody>
      </p:sp>
      <p:sp>
        <p:nvSpPr>
          <p:cNvPr id="13" name="TextBox 12"/>
          <p:cNvSpPr txBox="1"/>
          <p:nvPr/>
        </p:nvSpPr>
        <p:spPr>
          <a:xfrm>
            <a:off x="800100" y="5359400"/>
            <a:ext cx="10591800"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github.com/lutelute/All-Japan-Grid — </a:t>
            </a:r>
            <a:r>
              <a:rPr kumimoji="0" lang="ja-JP" altLang="en-US" sz="1500" b="1" i="0" u="none" strike="noStrike" kern="1200" cap="none" spc="0" normalizeH="0" baseline="0" noProof="0" dirty="0">
                <a:ln>
                  <a:noFill/>
                </a:ln>
                <a:solidFill>
                  <a:srgbClr val="1A2744"/>
                </a:solidFill>
                <a:effectLst/>
                <a:uLnTx/>
                <a:uFillTx/>
                <a:latin typeface="Calibri"/>
                <a:ea typeface="ＭＳ Ｐゴシック" panose="020B0600070205080204" pitchFamily="34" charset="-128"/>
                <a:cs typeface="+mn-cs"/>
              </a:rPr>
              <a:t>出典付き・帳簿駆動・全再現可能</a:t>
            </a:r>
          </a:p>
        </p:txBody>
      </p:sp>
      <p:sp>
        <p:nvSpPr>
          <p:cNvPr id="14" name="TextBox 13"/>
          <p:cNvSpPr txBox="1"/>
          <p:nvPr/>
        </p:nvSpPr>
        <p:spPr>
          <a:xfrm>
            <a:off x="546100" y="6273800"/>
            <a:ext cx="11099800" cy="2794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15 / 15   All-Japan-Grid </a:t>
            </a:r>
            <a:r>
              <a:rPr kumimoji="0" lang="ja-JP" altLang="en-US"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動的検証キャンペーン </a:t>
            </a:r>
            <a:r>
              <a:rPr kumimoji="0" lang="en-US" altLang="ja-JP" sz="1100" b="0" i="0" u="none" strike="noStrike" kern="1200" cap="none" spc="0" normalizeH="0" baseline="0" noProof="0" dirty="0">
                <a:ln>
                  <a:noFill/>
                </a:ln>
                <a:solidFill>
                  <a:srgbClr val="5B6470"/>
                </a:solidFill>
                <a:effectLst/>
                <a:uLnTx/>
                <a:uFillTx/>
                <a:latin typeface="Calibri"/>
                <a:ea typeface="ＭＳ Ｐゴシック" panose="020B0600070205080204" pitchFamily="34" charset="-128"/>
                <a:cs typeface="+mn-cs"/>
              </a:rPr>
              <a:t>2026-08</a:t>
            </a:r>
          </a:p>
        </p:txBody>
      </p:sp>
      <p:sp>
        <p:nvSpPr>
          <p:cNvPr id="870" name="Num 870"/>
          <p:cNvSpPr/>
          <p:nvPr/>
        </p:nvSpPr>
        <p:spPr>
          <a:xfrm>
            <a:off x="7493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1</a:t>
            </a:r>
          </a:p>
        </p:txBody>
      </p:sp>
      <p:sp>
        <p:nvSpPr>
          <p:cNvPr id="871" name="Num 871"/>
          <p:cNvSpPr/>
          <p:nvPr/>
        </p:nvSpPr>
        <p:spPr>
          <a:xfrm>
            <a:off x="36195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2</a:t>
            </a:r>
          </a:p>
        </p:txBody>
      </p:sp>
      <p:sp>
        <p:nvSpPr>
          <p:cNvPr id="872" name="Num 872"/>
          <p:cNvSpPr/>
          <p:nvPr/>
        </p:nvSpPr>
        <p:spPr>
          <a:xfrm>
            <a:off x="64897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3</a:t>
            </a:r>
          </a:p>
        </p:txBody>
      </p:sp>
      <p:sp>
        <p:nvSpPr>
          <p:cNvPr id="873" name="Num 873"/>
          <p:cNvSpPr/>
          <p:nvPr/>
        </p:nvSpPr>
        <p:spPr>
          <a:xfrm>
            <a:off x="9359900" y="2489200"/>
            <a:ext cx="355600" cy="355600"/>
          </a:xfrm>
          <a:prstGeom prst="ellipse">
            <a:avLst/>
          </a:prstGeom>
          <a:solidFill>
            <a:srgbClr val="8A2E3B"/>
          </a:solidFill>
          <a:ln>
            <a:noFill/>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4</a:t>
            </a:r>
          </a:p>
        </p:txBody>
      </p:sp>
      <p:sp>
        <p:nvSpPr>
          <p:cNvPr id="950" name="Mini 951"/>
          <p:cNvSpPr/>
          <p:nvPr/>
        </p:nvSpPr>
        <p:spPr>
          <a:xfrm flipV="1">
            <a:off x="927100" y="3048000"/>
            <a:ext cx="685800" cy="152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1" name="Mini 952"/>
          <p:cNvSpPr/>
          <p:nvPr/>
        </p:nvSpPr>
        <p:spPr>
          <a:xfrm>
            <a:off x="927100" y="3200400"/>
            <a:ext cx="685800" cy="406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2" name="Mini 953"/>
          <p:cNvSpPr/>
          <p:nvPr/>
        </p:nvSpPr>
        <p:spPr>
          <a:xfrm>
            <a:off x="1612900" y="3048000"/>
            <a:ext cx="0" cy="5588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3" name="Mini 954"/>
          <p:cNvSpPr/>
          <p:nvPr/>
        </p:nvSpPr>
        <p:spPr>
          <a:xfrm>
            <a:off x="1612900" y="3048000"/>
            <a:ext cx="787400" cy="279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4" name="Mini 955"/>
          <p:cNvSpPr/>
          <p:nvPr/>
        </p:nvSpPr>
        <p:spPr>
          <a:xfrm flipV="1">
            <a:off x="1612900" y="3327400"/>
            <a:ext cx="787400" cy="279400"/>
          </a:xfrm>
          <a:prstGeom prst="line">
            <a:avLst/>
          </a:prstGeom>
          <a:ln w="12700">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5" name="Mini 956"/>
          <p:cNvSpPr/>
          <p:nvPr/>
        </p:nvSpPr>
        <p:spPr>
          <a:xfrm>
            <a:off x="850900" y="31242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6" name="Mini 957"/>
          <p:cNvSpPr/>
          <p:nvPr/>
        </p:nvSpPr>
        <p:spPr>
          <a:xfrm>
            <a:off x="1536700" y="29718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7" name="Mini 958"/>
          <p:cNvSpPr/>
          <p:nvPr/>
        </p:nvSpPr>
        <p:spPr>
          <a:xfrm>
            <a:off x="1536700" y="35306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8" name="Mini 959"/>
          <p:cNvSpPr/>
          <p:nvPr/>
        </p:nvSpPr>
        <p:spPr>
          <a:xfrm>
            <a:off x="2324100" y="3251200"/>
            <a:ext cx="152400" cy="152400"/>
          </a:xfrm>
          <a:prstGeom prst="ellipse">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9" name="Mini 960"/>
          <p:cNvSpPr/>
          <p:nvPr/>
        </p:nvSpPr>
        <p:spPr>
          <a:xfrm>
            <a:off x="3746500" y="3213100"/>
            <a:ext cx="254000" cy="254000"/>
          </a:xfrm>
          <a:prstGeom prst="ellipse">
            <a:avLst/>
          </a:prstGeom>
          <a:solidFill>
            <a:srgbClr val="FFFFFF"/>
          </a:solidFill>
          <a:ln w="12700">
            <a:solidFill>
              <a:srgbClr val="1A2744"/>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0" name="Mini 961"/>
          <p:cNvSpPr/>
          <p:nvPr/>
        </p:nvSpPr>
        <p:spPr>
          <a:xfrm>
            <a:off x="4000500" y="3327400"/>
            <a:ext cx="279400" cy="254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1" name="Mini 962"/>
          <p:cNvSpPr/>
          <p:nvPr/>
        </p:nvSpPr>
        <p:spPr>
          <a:xfrm>
            <a:off x="4279900" y="3238500"/>
            <a:ext cx="457200" cy="203200"/>
          </a:xfrm>
          <a:prstGeom prst="rect">
            <a:avLst/>
          </a:prstGeom>
          <a:solidFill>
            <a:srgbClr val="FFFFFF"/>
          </a:solidFill>
          <a:ln w="12700">
            <a:solidFill>
              <a:srgbClr val="1A2744"/>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2" name="Mini 963"/>
          <p:cNvSpPr/>
          <p:nvPr/>
        </p:nvSpPr>
        <p:spPr>
          <a:xfrm>
            <a:off x="4737100" y="3327400"/>
            <a:ext cx="254000" cy="254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3" name="Mini 964"/>
          <p:cNvSpPr/>
          <p:nvPr/>
        </p:nvSpPr>
        <p:spPr>
          <a:xfrm>
            <a:off x="4991100" y="3149600"/>
            <a:ext cx="50800" cy="381000"/>
          </a:xfrm>
          <a:prstGeom prst="rect">
            <a:avLst/>
          </a:prstGeom>
          <a:solidFill>
            <a:srgbClr val="1A2744"/>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4" name="Mini 965"/>
          <p:cNvSpPr/>
          <p:nvPr/>
        </p:nvSpPr>
        <p:spPr>
          <a:xfrm>
            <a:off x="6565900" y="3225800"/>
            <a:ext cx="254000" cy="254000"/>
          </a:xfrm>
          <a:prstGeom prst="ellipse">
            <a:avLst/>
          </a:prstGeom>
          <a:solidFill>
            <a:srgbClr val="2C5F8A"/>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5" name="Mini 966"/>
          <p:cNvSpPr/>
          <p:nvPr/>
        </p:nvSpPr>
        <p:spPr>
          <a:xfrm>
            <a:off x="7988300" y="3225800"/>
            <a:ext cx="254000" cy="254000"/>
          </a:xfrm>
          <a:prstGeom prst="ellipse">
            <a:avLst/>
          </a:prstGeom>
          <a:solidFill>
            <a:srgbClr val="B4472C"/>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2" name="Mini 973"/>
          <p:cNvSpPr/>
          <p:nvPr/>
        </p:nvSpPr>
        <p:spPr>
          <a:xfrm>
            <a:off x="9461500" y="3352800"/>
            <a:ext cx="1828800" cy="0"/>
          </a:xfrm>
          <a:prstGeom prst="line">
            <a:avLst/>
          </a:prstGeom>
          <a:ln w="952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3" name="Mini 974"/>
          <p:cNvSpPr/>
          <p:nvPr/>
        </p:nvSpPr>
        <p:spPr>
          <a:xfrm>
            <a:off x="10147300" y="3022600"/>
            <a:ext cx="0" cy="660400"/>
          </a:xfrm>
          <a:prstGeom prst="line">
            <a:avLst/>
          </a:prstGeom>
          <a:ln w="9525">
            <a:solidFill>
              <a:srgbClr val="5B6470"/>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4" name="Mini 975"/>
          <p:cNvSpPr/>
          <p:nvPr/>
        </p:nvSpPr>
        <p:spPr>
          <a:xfrm>
            <a:off x="9867900" y="3098800"/>
            <a:ext cx="508000" cy="508000"/>
          </a:xfrm>
          <a:prstGeom prst="ellipse">
            <a:avLst/>
          </a:prstGeom>
          <a:noFill/>
          <a:ln w="9525">
            <a:solidFill>
              <a:srgbClr val="5B6470"/>
            </a:solidFill>
            <a:prstDash val="dash"/>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5" name="Mini 976"/>
          <p:cNvSpPr/>
          <p:nvPr/>
        </p:nvSpPr>
        <p:spPr>
          <a:xfrm>
            <a:off x="10121900" y="3149600"/>
            <a:ext cx="889000" cy="406400"/>
          </a:xfrm>
          <a:prstGeom prst="ellipse">
            <a:avLst/>
          </a:prstGeom>
          <a:noFill/>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6" name="Mini 977"/>
          <p:cNvSpPr/>
          <p:nvPr/>
        </p:nvSpPr>
        <p:spPr>
          <a:xfrm>
            <a:off x="9817100" y="3302000"/>
            <a:ext cx="101600" cy="101600"/>
          </a:xfrm>
          <a:prstGeom prst="ellipse">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0" name="Link 991"/>
          <p:cNvSpPr/>
          <p:nvPr/>
        </p:nvSpPr>
        <p:spPr>
          <a:xfrm>
            <a:off x="30353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1" name="Link 992"/>
          <p:cNvSpPr/>
          <p:nvPr/>
        </p:nvSpPr>
        <p:spPr>
          <a:xfrm>
            <a:off x="59055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2" name="Link 993"/>
          <p:cNvSpPr/>
          <p:nvPr/>
        </p:nvSpPr>
        <p:spPr>
          <a:xfrm>
            <a:off x="8775700" y="2654300"/>
            <a:ext cx="381000" cy="25400"/>
          </a:xfrm>
          <a:prstGeom prst="rect">
            <a:avLst/>
          </a:prstGeom>
          <a:solidFill>
            <a:srgbClr val="8A2E3B"/>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0" name="Spring 1041"/>
          <p:cNvSpPr/>
          <p:nvPr/>
        </p:nvSpPr>
        <p:spPr>
          <a:xfrm flipV="1">
            <a:off x="6819900"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1" name="Spring 1042"/>
          <p:cNvSpPr/>
          <p:nvPr/>
        </p:nvSpPr>
        <p:spPr>
          <a:xfrm>
            <a:off x="7014633"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2" name="Spring 1043"/>
          <p:cNvSpPr/>
          <p:nvPr/>
        </p:nvSpPr>
        <p:spPr>
          <a:xfrm flipV="1">
            <a:off x="7209367"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3" name="Spring 1044"/>
          <p:cNvSpPr/>
          <p:nvPr/>
        </p:nvSpPr>
        <p:spPr>
          <a:xfrm>
            <a:off x="7404100"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4" name="Spring 1045"/>
          <p:cNvSpPr/>
          <p:nvPr/>
        </p:nvSpPr>
        <p:spPr>
          <a:xfrm flipV="1">
            <a:off x="7598833"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5" name="Spring 1046"/>
          <p:cNvSpPr/>
          <p:nvPr/>
        </p:nvSpPr>
        <p:spPr>
          <a:xfrm>
            <a:off x="7793567" y="3238500"/>
            <a:ext cx="194733" cy="228600"/>
          </a:xfrm>
          <a:prstGeom prst="line">
            <a:avLst/>
          </a:prstGeom>
          <a:ln w="19050">
            <a:solidFill>
              <a:srgbClr val="8A2E3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0639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9B761D5-20AA-7A62-F1AB-20D2BCAAEACF}"/>
              </a:ext>
            </a:extLst>
          </p:cNvPr>
          <p:cNvSpPr txBox="1"/>
          <p:nvPr/>
        </p:nvSpPr>
        <p:spPr>
          <a:xfrm>
            <a:off x="3048802" y="2969741"/>
            <a:ext cx="6097604" cy="923330"/>
          </a:xfrm>
          <a:prstGeom prst="rect">
            <a:avLst/>
          </a:prstGeom>
          <a:noFill/>
        </p:spPr>
        <p:txBody>
          <a:bodyPr wrap="square">
            <a:spAutoFit/>
          </a:bodyPr>
          <a:lstStyle/>
          <a:p>
            <a:r>
              <a:rPr lang="ja-JP" altLang="en-US"/>
              <a:t>「D = 0.05 pu 一律。AVR/PSS/ガバナ/負荷の周波数依存をまとめた代理値で、実測ではない。減衰比で 5〜15% の帯に入る」</a:t>
            </a:r>
          </a:p>
        </p:txBody>
      </p:sp>
    </p:spTree>
    <p:extLst>
      <p:ext uri="{BB962C8B-B14F-4D97-AF65-F5344CB8AC3E}">
        <p14:creationId xmlns:p14="http://schemas.microsoft.com/office/powerpoint/2010/main" val="304026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地理を掘る：抽出から解析まで、最初から一本のパイプライン</a:t>
            </a:r>
            <a:endParaRPr lang="en-US" sz="2100" dirty="0"/>
          </a:p>
        </p:txBody>
      </p:sp>
      <p:sp>
        <p:nvSpPr>
          <p:cNvPr id="8" name="Text 5"/>
          <p:cNvSpPr/>
          <p:nvPr/>
        </p:nvSpPr>
        <p:spPr>
          <a:xfrm>
            <a:off x="822960" y="4572000"/>
            <a:ext cx="10607040" cy="50292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Hiragino Sans" pitchFamily="34" charset="0"/>
                <a:ea typeface="Hiragino Sans" pitchFamily="34" charset="-122"/>
                <a:cs typeface="Hiragino Sans" pitchFamily="34" charset="-120"/>
              </a:rPr>
              <a:t>Overpassタイル分割抽出 → 7段の属性補完（Nominatim / MLIT P03、欠損87%削減）→ Haversine端点マッチング → 電圧クラス別の合成パラメータ → pandapower / MATPOWER / Ybus / UC</a:t>
            </a:r>
            <a:endParaRPr lang="en-US" sz="1150" dirty="0"/>
          </a:p>
        </p:txBody>
      </p:sp>
      <p:sp>
        <p:nvSpPr>
          <p:cNvPr id="9" name="Text 6"/>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0" name="Text 7"/>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11" name="Text 8"/>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7</a:t>
            </a:r>
            <a:endParaRPr lang="en-US" sz="1000" dirty="0"/>
          </a:p>
        </p:txBody>
      </p:sp>
      <p:sp>
        <p:nvSpPr>
          <p:cNvPr id="600" name="R601"/>
          <p:cNvSpPr/>
          <p:nvPr/>
        </p:nvSpPr>
        <p:spPr>
          <a:xfrm>
            <a:off x="622300" y="1778000"/>
            <a:ext cx="1625600" cy="2159000"/>
          </a:xfrm>
          <a:prstGeom prst="rect">
            <a:avLst/>
          </a:prstGeom>
          <a:solidFill>
            <a:srgbClr val="F4F6F9"/>
          </a:solidFill>
          <a:ln>
            <a:noFill/>
          </a:ln>
        </p:spPr>
        <p:txBody>
          <a:bodyPr/>
          <a:lstStyle/>
          <a:p>
            <a:endParaRPr lang="ja-JP"/>
          </a:p>
        </p:txBody>
      </p:sp>
      <p:sp>
        <p:nvSpPr>
          <p:cNvPr id="601" name="R602"/>
          <p:cNvSpPr/>
          <p:nvPr/>
        </p:nvSpPr>
        <p:spPr>
          <a:xfrm>
            <a:off x="622300" y="1778000"/>
            <a:ext cx="1625600" cy="63500"/>
          </a:xfrm>
          <a:prstGeom prst="rect">
            <a:avLst/>
          </a:prstGeom>
          <a:solidFill>
            <a:srgbClr val="1F6FB5"/>
          </a:solidFill>
          <a:ln>
            <a:noFill/>
          </a:ln>
        </p:spPr>
        <p:txBody>
          <a:bodyPr/>
          <a:lstStyle/>
          <a:p>
            <a:endParaRPr lang="ja-JP"/>
          </a:p>
        </p:txBody>
      </p:sp>
      <p:sp>
        <p:nvSpPr>
          <p:cNvPr id="602" name="T603"/>
          <p:cNvSpPr txBox="1"/>
          <p:nvPr/>
        </p:nvSpPr>
        <p:spPr>
          <a:xfrm>
            <a:off x="749300" y="1955800"/>
            <a:ext cx="1371600" cy="177800"/>
          </a:xfrm>
          <a:prstGeom prst="rect">
            <a:avLst/>
          </a:prstGeom>
          <a:noFill/>
        </p:spPr>
        <p:txBody>
          <a:bodyPr wrap="square" lIns="0" tIns="0" rIns="0" bIns="0" anchor="t"/>
          <a:lstStyle/>
          <a:p>
            <a:pPr marL="0" indent="0" algn="l">
              <a:buNone/>
            </a:pPr>
            <a:r>
              <a:rPr lang="ja-JP" altLang="en-US" sz="1100" b="1" i="0" dirty="0">
                <a:solidFill>
                  <a:srgbClr val="1F6FB5"/>
                </a:solidFill>
              </a:rPr>
              <a:t>01</a:t>
            </a:r>
          </a:p>
        </p:txBody>
      </p:sp>
      <p:sp>
        <p:nvSpPr>
          <p:cNvPr id="603" name="T604"/>
          <p:cNvSpPr txBox="1"/>
          <p:nvPr/>
        </p:nvSpPr>
        <p:spPr>
          <a:xfrm>
            <a:off x="7493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OSM 抽出</a:t>
            </a:r>
          </a:p>
        </p:txBody>
      </p:sp>
      <p:sp>
        <p:nvSpPr>
          <p:cNvPr id="604" name="T605"/>
          <p:cNvSpPr txBox="1"/>
          <p:nvPr/>
        </p:nvSpPr>
        <p:spPr>
          <a:xfrm>
            <a:off x="7493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Overpass タイル分割</a:t>
            </a:r>
          </a:p>
          <a:p>
            <a:pPr marL="0" indent="0" algn="l">
              <a:lnSpc>
                <a:spcPct val="125000"/>
              </a:lnSpc>
              <a:buNone/>
            </a:pPr>
            <a:r>
              <a:rPr lang="ja-JP" altLang="en-US" sz="1200" b="0" i="0" dirty="0">
                <a:solidFill>
                  <a:srgbClr val="6B7280"/>
                </a:solidFill>
              </a:rPr>
              <a:t>全国を一括取得</a:t>
            </a:r>
          </a:p>
        </p:txBody>
      </p:sp>
      <p:sp>
        <p:nvSpPr>
          <p:cNvPr id="605" name="R606"/>
          <p:cNvSpPr/>
          <p:nvPr/>
        </p:nvSpPr>
        <p:spPr>
          <a:xfrm>
            <a:off x="2527300" y="1778000"/>
            <a:ext cx="1625600" cy="2159000"/>
          </a:xfrm>
          <a:prstGeom prst="rect">
            <a:avLst/>
          </a:prstGeom>
          <a:solidFill>
            <a:srgbClr val="F4F6F9"/>
          </a:solidFill>
          <a:ln>
            <a:noFill/>
          </a:ln>
        </p:spPr>
        <p:txBody>
          <a:bodyPr/>
          <a:lstStyle/>
          <a:p>
            <a:endParaRPr lang="ja-JP"/>
          </a:p>
        </p:txBody>
      </p:sp>
      <p:sp>
        <p:nvSpPr>
          <p:cNvPr id="606" name="R607"/>
          <p:cNvSpPr/>
          <p:nvPr/>
        </p:nvSpPr>
        <p:spPr>
          <a:xfrm>
            <a:off x="2527300" y="1778000"/>
            <a:ext cx="1625600" cy="63500"/>
          </a:xfrm>
          <a:prstGeom prst="rect">
            <a:avLst/>
          </a:prstGeom>
          <a:solidFill>
            <a:srgbClr val="1F6FB5"/>
          </a:solidFill>
          <a:ln>
            <a:noFill/>
          </a:ln>
        </p:spPr>
        <p:txBody>
          <a:bodyPr/>
          <a:lstStyle/>
          <a:p>
            <a:endParaRPr lang="ja-JP"/>
          </a:p>
        </p:txBody>
      </p:sp>
      <p:sp>
        <p:nvSpPr>
          <p:cNvPr id="607" name="T608"/>
          <p:cNvSpPr txBox="1"/>
          <p:nvPr/>
        </p:nvSpPr>
        <p:spPr>
          <a:xfrm>
            <a:off x="2654300" y="1955800"/>
            <a:ext cx="1371600" cy="177800"/>
          </a:xfrm>
          <a:prstGeom prst="rect">
            <a:avLst/>
          </a:prstGeom>
          <a:noFill/>
        </p:spPr>
        <p:txBody>
          <a:bodyPr wrap="square" lIns="0" tIns="0" rIns="0" bIns="0" anchor="t"/>
          <a:lstStyle/>
          <a:p>
            <a:pPr marL="0" indent="0" algn="l">
              <a:buNone/>
            </a:pPr>
            <a:r>
              <a:rPr lang="ja-JP" altLang="en-US" sz="1100" b="1" i="0" dirty="0">
                <a:solidFill>
                  <a:srgbClr val="1F6FB5"/>
                </a:solidFill>
              </a:rPr>
              <a:t>02</a:t>
            </a:r>
          </a:p>
        </p:txBody>
      </p:sp>
      <p:sp>
        <p:nvSpPr>
          <p:cNvPr id="608" name="T609"/>
          <p:cNvSpPr txBox="1"/>
          <p:nvPr/>
        </p:nvSpPr>
        <p:spPr>
          <a:xfrm>
            <a:off x="26543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属性補完</a:t>
            </a:r>
          </a:p>
        </p:txBody>
      </p:sp>
      <p:sp>
        <p:nvSpPr>
          <p:cNvPr id="609" name="T610"/>
          <p:cNvSpPr txBox="1"/>
          <p:nvPr/>
        </p:nvSpPr>
        <p:spPr>
          <a:xfrm>
            <a:off x="26543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7段フォールバック</a:t>
            </a:r>
          </a:p>
          <a:p>
            <a:pPr marL="0" indent="0" algn="l">
              <a:lnSpc>
                <a:spcPct val="125000"/>
              </a:lnSpc>
              <a:buNone/>
            </a:pPr>
            <a:r>
              <a:rPr lang="ja-JP" altLang="en-US" sz="1200" b="0" i="0" dirty="0">
                <a:solidFill>
                  <a:srgbClr val="6B7280"/>
                </a:solidFill>
              </a:rPr>
              <a:t>電圧欠損 87% 解消</a:t>
            </a:r>
          </a:p>
        </p:txBody>
      </p:sp>
      <p:sp>
        <p:nvSpPr>
          <p:cNvPr id="610" name="R611"/>
          <p:cNvSpPr/>
          <p:nvPr/>
        </p:nvSpPr>
        <p:spPr>
          <a:xfrm>
            <a:off x="4445000" y="1778000"/>
            <a:ext cx="1625600" cy="2159000"/>
          </a:xfrm>
          <a:prstGeom prst="rect">
            <a:avLst/>
          </a:prstGeom>
          <a:solidFill>
            <a:srgbClr val="F4F6F9"/>
          </a:solidFill>
          <a:ln>
            <a:noFill/>
          </a:ln>
        </p:spPr>
        <p:txBody>
          <a:bodyPr/>
          <a:lstStyle/>
          <a:p>
            <a:endParaRPr lang="ja-JP"/>
          </a:p>
        </p:txBody>
      </p:sp>
      <p:sp>
        <p:nvSpPr>
          <p:cNvPr id="611" name="R612"/>
          <p:cNvSpPr/>
          <p:nvPr/>
        </p:nvSpPr>
        <p:spPr>
          <a:xfrm>
            <a:off x="4445000" y="1778000"/>
            <a:ext cx="1625600" cy="63500"/>
          </a:xfrm>
          <a:prstGeom prst="rect">
            <a:avLst/>
          </a:prstGeom>
          <a:solidFill>
            <a:srgbClr val="2E7D4F"/>
          </a:solidFill>
          <a:ln>
            <a:noFill/>
          </a:ln>
        </p:spPr>
        <p:txBody>
          <a:bodyPr/>
          <a:lstStyle/>
          <a:p>
            <a:endParaRPr lang="ja-JP"/>
          </a:p>
        </p:txBody>
      </p:sp>
      <p:sp>
        <p:nvSpPr>
          <p:cNvPr id="612" name="T613"/>
          <p:cNvSpPr txBox="1"/>
          <p:nvPr/>
        </p:nvSpPr>
        <p:spPr>
          <a:xfrm>
            <a:off x="4572000" y="1955800"/>
            <a:ext cx="1371600" cy="177800"/>
          </a:xfrm>
          <a:prstGeom prst="rect">
            <a:avLst/>
          </a:prstGeom>
          <a:noFill/>
        </p:spPr>
        <p:txBody>
          <a:bodyPr wrap="square" lIns="0" tIns="0" rIns="0" bIns="0" anchor="t"/>
          <a:lstStyle/>
          <a:p>
            <a:pPr marL="0" indent="0" algn="l">
              <a:buNone/>
            </a:pPr>
            <a:r>
              <a:rPr lang="ja-JP" altLang="en-US" sz="1100" b="1" i="0" dirty="0">
                <a:solidFill>
                  <a:srgbClr val="2E7D4F"/>
                </a:solidFill>
              </a:rPr>
              <a:t>03</a:t>
            </a:r>
          </a:p>
        </p:txBody>
      </p:sp>
      <p:sp>
        <p:nvSpPr>
          <p:cNvPr id="613" name="T614"/>
          <p:cNvSpPr txBox="1"/>
          <p:nvPr/>
        </p:nvSpPr>
        <p:spPr>
          <a:xfrm>
            <a:off x="45720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端点マッチング</a:t>
            </a:r>
          </a:p>
        </p:txBody>
      </p:sp>
      <p:sp>
        <p:nvSpPr>
          <p:cNvPr id="614" name="T615"/>
          <p:cNvSpPr txBox="1"/>
          <p:nvPr/>
        </p:nvSpPr>
        <p:spPr>
          <a:xfrm>
            <a:off x="45720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Haversine で接続</a:t>
            </a:r>
          </a:p>
          <a:p>
            <a:pPr marL="0" indent="0" algn="l">
              <a:lnSpc>
                <a:spcPct val="125000"/>
              </a:lnSpc>
              <a:buNone/>
            </a:pPr>
            <a:r>
              <a:rPr lang="ja-JP" altLang="en-US" sz="1200" b="0" i="0" dirty="0">
                <a:solidFill>
                  <a:srgbClr val="6B7280"/>
                </a:solidFill>
              </a:rPr>
              <a:t>断片をつなぐ</a:t>
            </a:r>
          </a:p>
        </p:txBody>
      </p:sp>
      <p:sp>
        <p:nvSpPr>
          <p:cNvPr id="615" name="R616"/>
          <p:cNvSpPr/>
          <p:nvPr/>
        </p:nvSpPr>
        <p:spPr>
          <a:xfrm>
            <a:off x="6350000" y="1778000"/>
            <a:ext cx="1625600" cy="2159000"/>
          </a:xfrm>
          <a:prstGeom prst="rect">
            <a:avLst/>
          </a:prstGeom>
          <a:solidFill>
            <a:srgbClr val="F4F6F9"/>
          </a:solidFill>
          <a:ln>
            <a:noFill/>
          </a:ln>
        </p:spPr>
        <p:txBody>
          <a:bodyPr/>
          <a:lstStyle/>
          <a:p>
            <a:endParaRPr lang="ja-JP"/>
          </a:p>
        </p:txBody>
      </p:sp>
      <p:sp>
        <p:nvSpPr>
          <p:cNvPr id="616" name="R617"/>
          <p:cNvSpPr/>
          <p:nvPr/>
        </p:nvSpPr>
        <p:spPr>
          <a:xfrm>
            <a:off x="6350000" y="1778000"/>
            <a:ext cx="1625600" cy="63500"/>
          </a:xfrm>
          <a:prstGeom prst="rect">
            <a:avLst/>
          </a:prstGeom>
          <a:solidFill>
            <a:srgbClr val="2E7D4F"/>
          </a:solidFill>
          <a:ln>
            <a:noFill/>
          </a:ln>
        </p:spPr>
        <p:txBody>
          <a:bodyPr/>
          <a:lstStyle/>
          <a:p>
            <a:endParaRPr lang="ja-JP"/>
          </a:p>
        </p:txBody>
      </p:sp>
      <p:sp>
        <p:nvSpPr>
          <p:cNvPr id="617" name="T618"/>
          <p:cNvSpPr txBox="1"/>
          <p:nvPr/>
        </p:nvSpPr>
        <p:spPr>
          <a:xfrm>
            <a:off x="6477000" y="1955800"/>
            <a:ext cx="1371600" cy="177800"/>
          </a:xfrm>
          <a:prstGeom prst="rect">
            <a:avLst/>
          </a:prstGeom>
          <a:noFill/>
        </p:spPr>
        <p:txBody>
          <a:bodyPr wrap="square" lIns="0" tIns="0" rIns="0" bIns="0" anchor="t"/>
          <a:lstStyle/>
          <a:p>
            <a:pPr marL="0" indent="0" algn="l">
              <a:buNone/>
            </a:pPr>
            <a:r>
              <a:rPr lang="ja-JP" altLang="en-US" sz="1100" b="1" i="0" dirty="0">
                <a:solidFill>
                  <a:srgbClr val="2E7D4F"/>
                </a:solidFill>
              </a:rPr>
              <a:t>04</a:t>
            </a:r>
          </a:p>
        </p:txBody>
      </p:sp>
      <p:sp>
        <p:nvSpPr>
          <p:cNvPr id="618" name="T619"/>
          <p:cNvSpPr txBox="1"/>
          <p:nvPr/>
        </p:nvSpPr>
        <p:spPr>
          <a:xfrm>
            <a:off x="64770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パラメータ付与</a:t>
            </a:r>
          </a:p>
        </p:txBody>
      </p:sp>
      <p:sp>
        <p:nvSpPr>
          <p:cNvPr id="619" name="T620"/>
          <p:cNvSpPr txBox="1"/>
          <p:nvPr/>
        </p:nvSpPr>
        <p:spPr>
          <a:xfrm>
            <a:off x="64770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電圧クラス別 R/X/B</a:t>
            </a:r>
          </a:p>
          <a:p>
            <a:pPr marL="0" indent="0" algn="l">
              <a:lnSpc>
                <a:spcPct val="125000"/>
              </a:lnSpc>
              <a:buNone/>
            </a:pPr>
            <a:r>
              <a:rPr lang="ja-JP" altLang="en-US" sz="1200" b="0" i="0" dirty="0">
                <a:solidFill>
                  <a:srgbClr val="6B7280"/>
                </a:solidFill>
              </a:rPr>
              <a:t>並列回線を合成</a:t>
            </a:r>
          </a:p>
        </p:txBody>
      </p:sp>
      <p:sp>
        <p:nvSpPr>
          <p:cNvPr id="620" name="R621"/>
          <p:cNvSpPr/>
          <p:nvPr/>
        </p:nvSpPr>
        <p:spPr>
          <a:xfrm>
            <a:off x="8255000" y="1778000"/>
            <a:ext cx="1625600" cy="2159000"/>
          </a:xfrm>
          <a:prstGeom prst="rect">
            <a:avLst/>
          </a:prstGeom>
          <a:solidFill>
            <a:srgbClr val="F4F6F9"/>
          </a:solidFill>
          <a:ln>
            <a:noFill/>
          </a:ln>
        </p:spPr>
        <p:txBody>
          <a:bodyPr/>
          <a:lstStyle/>
          <a:p>
            <a:endParaRPr lang="ja-JP"/>
          </a:p>
        </p:txBody>
      </p:sp>
      <p:sp>
        <p:nvSpPr>
          <p:cNvPr id="621" name="R622"/>
          <p:cNvSpPr/>
          <p:nvPr/>
        </p:nvSpPr>
        <p:spPr>
          <a:xfrm>
            <a:off x="8255000" y="1778000"/>
            <a:ext cx="1625600" cy="63500"/>
          </a:xfrm>
          <a:prstGeom prst="rect">
            <a:avLst/>
          </a:prstGeom>
          <a:solidFill>
            <a:srgbClr val="7B4EA8"/>
          </a:solidFill>
          <a:ln>
            <a:noFill/>
          </a:ln>
        </p:spPr>
        <p:txBody>
          <a:bodyPr/>
          <a:lstStyle/>
          <a:p>
            <a:endParaRPr lang="ja-JP"/>
          </a:p>
        </p:txBody>
      </p:sp>
      <p:sp>
        <p:nvSpPr>
          <p:cNvPr id="622" name="T623"/>
          <p:cNvSpPr txBox="1"/>
          <p:nvPr/>
        </p:nvSpPr>
        <p:spPr>
          <a:xfrm>
            <a:off x="8382000" y="1955800"/>
            <a:ext cx="1371600" cy="177800"/>
          </a:xfrm>
          <a:prstGeom prst="rect">
            <a:avLst/>
          </a:prstGeom>
          <a:noFill/>
        </p:spPr>
        <p:txBody>
          <a:bodyPr wrap="square" lIns="0" tIns="0" rIns="0" bIns="0" anchor="t"/>
          <a:lstStyle/>
          <a:p>
            <a:pPr marL="0" indent="0" algn="l">
              <a:buNone/>
            </a:pPr>
            <a:r>
              <a:rPr lang="ja-JP" altLang="en-US" sz="1100" b="1" i="0" dirty="0">
                <a:solidFill>
                  <a:srgbClr val="7B4EA8"/>
                </a:solidFill>
              </a:rPr>
              <a:t>05</a:t>
            </a:r>
          </a:p>
        </p:txBody>
      </p:sp>
      <p:sp>
        <p:nvSpPr>
          <p:cNvPr id="623" name="T624"/>
          <p:cNvSpPr txBox="1"/>
          <p:nvPr/>
        </p:nvSpPr>
        <p:spPr>
          <a:xfrm>
            <a:off x="83820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系統モデル化</a:t>
            </a:r>
          </a:p>
        </p:txBody>
      </p:sp>
      <p:sp>
        <p:nvSpPr>
          <p:cNvPr id="624" name="T625"/>
          <p:cNvSpPr txBox="1"/>
          <p:nvPr/>
        </p:nvSpPr>
        <p:spPr>
          <a:xfrm>
            <a:off x="83820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pandapower / Ybus</a:t>
            </a:r>
          </a:p>
          <a:p>
            <a:pPr marL="0" indent="0" algn="l">
              <a:lnSpc>
                <a:spcPct val="125000"/>
              </a:lnSpc>
              <a:buNone/>
            </a:pPr>
            <a:r>
              <a:rPr lang="ja-JP" altLang="en-US" sz="1200" b="0" i="0" dirty="0">
                <a:solidFill>
                  <a:srgbClr val="6B7280"/>
                </a:solidFill>
              </a:rPr>
              <a:t>AC 潮流が解ける形</a:t>
            </a:r>
          </a:p>
        </p:txBody>
      </p:sp>
      <p:sp>
        <p:nvSpPr>
          <p:cNvPr id="625" name="R626"/>
          <p:cNvSpPr/>
          <p:nvPr/>
        </p:nvSpPr>
        <p:spPr>
          <a:xfrm>
            <a:off x="10172700" y="1778000"/>
            <a:ext cx="1625600" cy="2159000"/>
          </a:xfrm>
          <a:prstGeom prst="rect">
            <a:avLst/>
          </a:prstGeom>
          <a:solidFill>
            <a:srgbClr val="F4F6F9"/>
          </a:solidFill>
          <a:ln>
            <a:noFill/>
          </a:ln>
        </p:spPr>
        <p:txBody>
          <a:bodyPr/>
          <a:lstStyle/>
          <a:p>
            <a:endParaRPr lang="ja-JP"/>
          </a:p>
        </p:txBody>
      </p:sp>
      <p:sp>
        <p:nvSpPr>
          <p:cNvPr id="626" name="R627"/>
          <p:cNvSpPr/>
          <p:nvPr/>
        </p:nvSpPr>
        <p:spPr>
          <a:xfrm>
            <a:off x="10172700" y="1778000"/>
            <a:ext cx="1625600" cy="63500"/>
          </a:xfrm>
          <a:prstGeom prst="rect">
            <a:avLst/>
          </a:prstGeom>
          <a:solidFill>
            <a:srgbClr val="C1502E"/>
          </a:solidFill>
          <a:ln>
            <a:noFill/>
          </a:ln>
        </p:spPr>
        <p:txBody>
          <a:bodyPr/>
          <a:lstStyle/>
          <a:p>
            <a:endParaRPr lang="ja-JP"/>
          </a:p>
        </p:txBody>
      </p:sp>
      <p:sp>
        <p:nvSpPr>
          <p:cNvPr id="627" name="T628"/>
          <p:cNvSpPr txBox="1"/>
          <p:nvPr/>
        </p:nvSpPr>
        <p:spPr>
          <a:xfrm>
            <a:off x="10299700" y="1955800"/>
            <a:ext cx="1371600" cy="177800"/>
          </a:xfrm>
          <a:prstGeom prst="rect">
            <a:avLst/>
          </a:prstGeom>
          <a:noFill/>
        </p:spPr>
        <p:txBody>
          <a:bodyPr wrap="square" lIns="0" tIns="0" rIns="0" bIns="0" anchor="t"/>
          <a:lstStyle/>
          <a:p>
            <a:pPr marL="0" indent="0" algn="l">
              <a:buNone/>
            </a:pPr>
            <a:r>
              <a:rPr lang="ja-JP" altLang="en-US" sz="1100" b="1" i="0" dirty="0">
                <a:solidFill>
                  <a:srgbClr val="C1502E"/>
                </a:solidFill>
              </a:rPr>
              <a:t>06</a:t>
            </a:r>
          </a:p>
        </p:txBody>
      </p:sp>
      <p:sp>
        <p:nvSpPr>
          <p:cNvPr id="628" name="T629"/>
          <p:cNvSpPr txBox="1"/>
          <p:nvPr/>
        </p:nvSpPr>
        <p:spPr>
          <a:xfrm>
            <a:off x="10299700" y="2184400"/>
            <a:ext cx="1371600" cy="533400"/>
          </a:xfrm>
          <a:prstGeom prst="rect">
            <a:avLst/>
          </a:prstGeom>
          <a:noFill/>
        </p:spPr>
        <p:txBody>
          <a:bodyPr wrap="square" lIns="0" tIns="0" rIns="0" bIns="0" anchor="t"/>
          <a:lstStyle/>
          <a:p>
            <a:pPr marL="0" indent="0" algn="l">
              <a:lnSpc>
                <a:spcPct val="110000"/>
              </a:lnSpc>
              <a:buNone/>
            </a:pPr>
            <a:r>
              <a:rPr lang="ja-JP" altLang="en-US" sz="1500" b="1" i="0" dirty="0">
                <a:solidFill>
                  <a:srgbClr val="1F2A44"/>
                </a:solidFill>
              </a:rPr>
              <a:t>解析・出力</a:t>
            </a:r>
          </a:p>
        </p:txBody>
      </p:sp>
      <p:sp>
        <p:nvSpPr>
          <p:cNvPr id="629" name="T630"/>
          <p:cNvSpPr txBox="1"/>
          <p:nvPr/>
        </p:nvSpPr>
        <p:spPr>
          <a:xfrm>
            <a:off x="10299700" y="2794000"/>
            <a:ext cx="1371600" cy="965200"/>
          </a:xfrm>
          <a:prstGeom prst="rect">
            <a:avLst/>
          </a:prstGeom>
          <a:noFill/>
        </p:spPr>
        <p:txBody>
          <a:bodyPr wrap="square" lIns="0" tIns="0" rIns="0" bIns="0" anchor="t"/>
          <a:lstStyle/>
          <a:p>
            <a:pPr marL="0" indent="0" algn="l">
              <a:lnSpc>
                <a:spcPct val="125000"/>
              </a:lnSpc>
              <a:buNone/>
            </a:pPr>
            <a:r>
              <a:rPr lang="ja-JP" altLang="en-US" sz="1200" b="0" i="0" dirty="0">
                <a:solidFill>
                  <a:srgbClr val="6B7280"/>
                </a:solidFill>
              </a:rPr>
              <a:t>UC 757機×24h</a:t>
            </a:r>
          </a:p>
          <a:p>
            <a:pPr marL="0" indent="0" algn="l">
              <a:lnSpc>
                <a:spcPct val="125000"/>
              </a:lnSpc>
              <a:buNone/>
            </a:pPr>
            <a:r>
              <a:rPr lang="ja-JP" altLang="en-US" sz="1200" b="0" i="0" dirty="0">
                <a:solidFill>
                  <a:srgbClr val="6B7280"/>
                </a:solidFill>
              </a:rPr>
              <a:t>GeoJSON ほかを公開</a:t>
            </a:r>
          </a:p>
        </p:txBody>
      </p:sp>
      <p:sp>
        <p:nvSpPr>
          <p:cNvPr id="630" name="Arrow"/>
          <p:cNvSpPr/>
          <p:nvPr/>
        </p:nvSpPr>
        <p:spPr>
          <a:xfrm>
            <a:off x="2286000" y="2641600"/>
            <a:ext cx="203200" cy="203200"/>
          </a:xfrm>
          <a:prstGeom prst="rightArrow">
            <a:avLst>
              <a:gd name="adj1" fmla="val 55000"/>
              <a:gd name="adj2" fmla="val 50000"/>
            </a:avLst>
          </a:prstGeom>
          <a:solidFill>
            <a:srgbClr val="9AA0A6"/>
          </a:solidFill>
          <a:ln>
            <a:noFill/>
          </a:ln>
        </p:spPr>
        <p:txBody>
          <a:bodyPr/>
          <a:lstStyle/>
          <a:p>
            <a:endParaRPr lang="ja-JP"/>
          </a:p>
        </p:txBody>
      </p:sp>
      <p:sp>
        <p:nvSpPr>
          <p:cNvPr id="631" name="Arrow"/>
          <p:cNvSpPr/>
          <p:nvPr/>
        </p:nvSpPr>
        <p:spPr>
          <a:xfrm>
            <a:off x="4197350" y="2641600"/>
            <a:ext cx="203200" cy="203200"/>
          </a:xfrm>
          <a:prstGeom prst="rightArrow">
            <a:avLst>
              <a:gd name="adj1" fmla="val 55000"/>
              <a:gd name="adj2" fmla="val 50000"/>
            </a:avLst>
          </a:prstGeom>
          <a:solidFill>
            <a:srgbClr val="9AA0A6"/>
          </a:solidFill>
          <a:ln>
            <a:noFill/>
          </a:ln>
        </p:spPr>
        <p:txBody>
          <a:bodyPr/>
          <a:lstStyle/>
          <a:p>
            <a:endParaRPr lang="ja-JP"/>
          </a:p>
        </p:txBody>
      </p:sp>
      <p:sp>
        <p:nvSpPr>
          <p:cNvPr id="632" name="Arrow"/>
          <p:cNvSpPr/>
          <p:nvPr/>
        </p:nvSpPr>
        <p:spPr>
          <a:xfrm>
            <a:off x="6108700" y="2641600"/>
            <a:ext cx="203200" cy="203200"/>
          </a:xfrm>
          <a:prstGeom prst="rightArrow">
            <a:avLst>
              <a:gd name="adj1" fmla="val 55000"/>
              <a:gd name="adj2" fmla="val 50000"/>
            </a:avLst>
          </a:prstGeom>
          <a:solidFill>
            <a:srgbClr val="9AA0A6"/>
          </a:solidFill>
          <a:ln>
            <a:noFill/>
          </a:ln>
        </p:spPr>
        <p:txBody>
          <a:bodyPr/>
          <a:lstStyle/>
          <a:p>
            <a:endParaRPr lang="ja-JP"/>
          </a:p>
        </p:txBody>
      </p:sp>
      <p:sp>
        <p:nvSpPr>
          <p:cNvPr id="633" name="Arrow"/>
          <p:cNvSpPr/>
          <p:nvPr/>
        </p:nvSpPr>
        <p:spPr>
          <a:xfrm>
            <a:off x="8013700" y="2641600"/>
            <a:ext cx="203200" cy="203200"/>
          </a:xfrm>
          <a:prstGeom prst="rightArrow">
            <a:avLst>
              <a:gd name="adj1" fmla="val 55000"/>
              <a:gd name="adj2" fmla="val 50000"/>
            </a:avLst>
          </a:prstGeom>
          <a:solidFill>
            <a:srgbClr val="9AA0A6"/>
          </a:solidFill>
          <a:ln>
            <a:noFill/>
          </a:ln>
        </p:spPr>
        <p:txBody>
          <a:bodyPr/>
          <a:lstStyle/>
          <a:p>
            <a:endParaRPr lang="ja-JP"/>
          </a:p>
        </p:txBody>
      </p:sp>
      <p:sp>
        <p:nvSpPr>
          <p:cNvPr id="634" name="Arrow"/>
          <p:cNvSpPr/>
          <p:nvPr/>
        </p:nvSpPr>
        <p:spPr>
          <a:xfrm>
            <a:off x="9925050" y="2641600"/>
            <a:ext cx="203200" cy="203200"/>
          </a:xfrm>
          <a:prstGeom prst="rightArrow">
            <a:avLst>
              <a:gd name="adj1" fmla="val 55000"/>
              <a:gd name="adj2" fmla="val 50000"/>
            </a:avLst>
          </a:prstGeom>
          <a:solidFill>
            <a:srgbClr val="9AA0A6"/>
          </a:solidFill>
          <a:ln>
            <a:noFill/>
          </a:ln>
        </p:spPr>
        <p:txBody>
          <a:bodyPr/>
          <a:lstStyle/>
          <a:p>
            <a:endParaRPr lang="ja-JP"/>
          </a:p>
        </p:txBody>
      </p:sp>
      <p:sp>
        <p:nvSpPr>
          <p:cNvPr id="635" name="T636"/>
          <p:cNvSpPr txBox="1"/>
          <p:nvPr/>
        </p:nvSpPr>
        <p:spPr>
          <a:xfrm>
            <a:off x="622300" y="1422400"/>
            <a:ext cx="6350000" cy="228600"/>
          </a:xfrm>
          <a:prstGeom prst="rect">
            <a:avLst/>
          </a:prstGeom>
          <a:noFill/>
        </p:spPr>
        <p:txBody>
          <a:bodyPr wrap="square" lIns="0" tIns="0" rIns="0" bIns="0" anchor="t"/>
          <a:lstStyle/>
          <a:p>
            <a:pPr marL="0" indent="0" algn="l">
              <a:buNone/>
            </a:pPr>
            <a:r>
              <a:rPr lang="ja-JP" altLang="en-US" sz="1300" b="1" i="0" dirty="0">
                <a:solidFill>
                  <a:srgbClr val="1F6FB5"/>
                </a:solidFill>
              </a:rPr>
              <a:t>入力： OSM ＋ OCCTO 公開データ</a:t>
            </a:r>
          </a:p>
        </p:txBody>
      </p:sp>
      <p:sp>
        <p:nvSpPr>
          <p:cNvPr id="636" name="T637"/>
          <p:cNvSpPr txBox="1"/>
          <p:nvPr/>
        </p:nvSpPr>
        <p:spPr>
          <a:xfrm>
            <a:off x="622300" y="4140200"/>
            <a:ext cx="11176000" cy="228600"/>
          </a:xfrm>
          <a:prstGeom prst="rect">
            <a:avLst/>
          </a:prstGeom>
          <a:noFill/>
        </p:spPr>
        <p:txBody>
          <a:bodyPr wrap="square" lIns="0" tIns="0" rIns="0" bIns="0" anchor="t"/>
          <a:lstStyle/>
          <a:p>
            <a:pPr marL="0" indent="0" algn="l">
              <a:buNone/>
            </a:pPr>
            <a:r>
              <a:rPr lang="ja-JP" altLang="en-US" sz="1300" b="1" i="0" dirty="0">
                <a:solidFill>
                  <a:srgbClr val="C1502E"/>
                </a:solidFill>
              </a:rPr>
              <a:t>出力： GeoJSON / pandapower / MATPOWER / 解析結果（GitHub 公開）</a:t>
            </a:r>
          </a:p>
        </p:txBody>
      </p:sp>
    </p:spTree>
    <p:extLst>
      <p:ext uri="{BB962C8B-B14F-4D97-AF65-F5344CB8AC3E}">
        <p14:creationId xmlns:p14="http://schemas.microsoft.com/office/powerpoint/2010/main" val="38632131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A9AA6"/>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第1幕 v1.0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初版で出た数字：全国10地域・50/60 Hz を1つのデータセットに</a:t>
            </a:r>
            <a:endParaRPr lang="en-US" sz="2100" dirty="0"/>
          </a:p>
        </p:txBody>
      </p:sp>
      <p:sp>
        <p:nvSpPr>
          <p:cNvPr id="5" name="Shape 3"/>
          <p:cNvSpPr/>
          <p:nvPr/>
        </p:nvSpPr>
        <p:spPr>
          <a:xfrm>
            <a:off x="822960" y="1234440"/>
            <a:ext cx="2514600" cy="1143000"/>
          </a:xfrm>
          <a:prstGeom prst="roundRect">
            <a:avLst>
              <a:gd name="adj" fmla="val 4800"/>
            </a:avLst>
          </a:prstGeom>
          <a:solidFill>
            <a:srgbClr val="F4F4F6"/>
          </a:solidFill>
          <a:ln/>
        </p:spPr>
        <p:txBody>
          <a:bodyPr/>
          <a:lstStyle/>
          <a:p>
            <a:endParaRPr lang="ja-JP" altLang="en-US"/>
          </a:p>
        </p:txBody>
      </p:sp>
      <p:sp>
        <p:nvSpPr>
          <p:cNvPr id="6" name="Text 4"/>
          <p:cNvSpPr/>
          <p:nvPr/>
        </p:nvSpPr>
        <p:spPr>
          <a:xfrm>
            <a:off x="82296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6,962</a:t>
            </a:r>
            <a:endParaRPr lang="en-US" sz="2600" dirty="0"/>
          </a:p>
        </p:txBody>
      </p:sp>
      <p:sp>
        <p:nvSpPr>
          <p:cNvPr id="7" name="Text 5"/>
          <p:cNvSpPr/>
          <p:nvPr/>
        </p:nvSpPr>
        <p:spPr>
          <a:xfrm>
            <a:off x="91440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変電所 feature</a:t>
            </a:r>
            <a:endParaRPr lang="en-US" sz="1050" dirty="0"/>
          </a:p>
        </p:txBody>
      </p:sp>
      <p:sp>
        <p:nvSpPr>
          <p:cNvPr id="8" name="Text 6"/>
          <p:cNvSpPr/>
          <p:nvPr/>
        </p:nvSpPr>
        <p:spPr>
          <a:xfrm>
            <a:off x="91440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9" name="Shape 7"/>
          <p:cNvSpPr/>
          <p:nvPr/>
        </p:nvSpPr>
        <p:spPr>
          <a:xfrm>
            <a:off x="3520440" y="1234440"/>
            <a:ext cx="2514600" cy="1143000"/>
          </a:xfrm>
          <a:prstGeom prst="roundRect">
            <a:avLst>
              <a:gd name="adj" fmla="val 4800"/>
            </a:avLst>
          </a:prstGeom>
          <a:solidFill>
            <a:srgbClr val="F4F4F6"/>
          </a:solidFill>
          <a:ln/>
        </p:spPr>
        <p:txBody>
          <a:bodyPr/>
          <a:lstStyle/>
          <a:p>
            <a:endParaRPr lang="ja-JP" altLang="en-US"/>
          </a:p>
        </p:txBody>
      </p:sp>
      <p:sp>
        <p:nvSpPr>
          <p:cNvPr id="10" name="Text 8"/>
          <p:cNvSpPr/>
          <p:nvPr/>
        </p:nvSpPr>
        <p:spPr>
          <a:xfrm>
            <a:off x="352044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40,077</a:t>
            </a:r>
            <a:endParaRPr lang="en-US" sz="2600" dirty="0"/>
          </a:p>
        </p:txBody>
      </p:sp>
      <p:sp>
        <p:nvSpPr>
          <p:cNvPr id="11" name="Text 9"/>
          <p:cNvSpPr/>
          <p:nvPr/>
        </p:nvSpPr>
        <p:spPr>
          <a:xfrm>
            <a:off x="361188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送電線</a:t>
            </a:r>
            <a:endParaRPr lang="en-US" sz="1050" dirty="0"/>
          </a:p>
        </p:txBody>
      </p:sp>
      <p:sp>
        <p:nvSpPr>
          <p:cNvPr id="12" name="Text 10"/>
          <p:cNvSpPr/>
          <p:nvPr/>
        </p:nvSpPr>
        <p:spPr>
          <a:xfrm>
            <a:off x="361188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3" name="Shape 11"/>
          <p:cNvSpPr/>
          <p:nvPr/>
        </p:nvSpPr>
        <p:spPr>
          <a:xfrm>
            <a:off x="6217920" y="1234440"/>
            <a:ext cx="2514600" cy="1143000"/>
          </a:xfrm>
          <a:prstGeom prst="roundRect">
            <a:avLst>
              <a:gd name="adj" fmla="val 4800"/>
            </a:avLst>
          </a:prstGeom>
          <a:solidFill>
            <a:srgbClr val="F4F4F6"/>
          </a:solidFill>
          <a:ln/>
        </p:spPr>
        <p:txBody>
          <a:bodyPr/>
          <a:lstStyle/>
          <a:p>
            <a:endParaRPr lang="ja-JP" altLang="en-US"/>
          </a:p>
        </p:txBody>
      </p:sp>
      <p:sp>
        <p:nvSpPr>
          <p:cNvPr id="14" name="Text 12"/>
          <p:cNvSpPr/>
          <p:nvPr/>
        </p:nvSpPr>
        <p:spPr>
          <a:xfrm>
            <a:off x="6217920" y="1307592"/>
            <a:ext cx="2514600" cy="502920"/>
          </a:xfrm>
          <a:prstGeom prst="rect">
            <a:avLst/>
          </a:prstGeom>
          <a:noFill/>
          <a:ln/>
        </p:spPr>
        <p:txBody>
          <a:bodyPr wrap="square" lIns="0" tIns="0" rIns="0" bIns="0" rtlCol="0" anchor="ctr"/>
          <a:lstStyle/>
          <a:p>
            <a:pPr marL="0" indent="0" algn="ctr">
              <a:buNone/>
            </a:pPr>
            <a:r>
              <a:rPr lang="en-US" sz="2600" b="1" dirty="0">
                <a:solidFill>
                  <a:srgbClr val="1A1A1A"/>
                </a:solidFill>
                <a:latin typeface="Helvetica Neue" pitchFamily="34" charset="0"/>
                <a:ea typeface="Helvetica Neue" pitchFamily="34" charset="-122"/>
                <a:cs typeface="Helvetica Neue" pitchFamily="34" charset="-120"/>
              </a:rPr>
              <a:t>19,138</a:t>
            </a:r>
            <a:endParaRPr lang="en-US" sz="2600" dirty="0"/>
          </a:p>
        </p:txBody>
      </p:sp>
      <p:sp>
        <p:nvSpPr>
          <p:cNvPr id="15" name="Text 13"/>
          <p:cNvSpPr/>
          <p:nvPr/>
        </p:nvSpPr>
        <p:spPr>
          <a:xfrm>
            <a:off x="630936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発電所</a:t>
            </a:r>
            <a:endParaRPr lang="en-US" sz="1050" dirty="0"/>
          </a:p>
        </p:txBody>
      </p:sp>
      <p:sp>
        <p:nvSpPr>
          <p:cNvPr id="16" name="Text 14"/>
          <p:cNvSpPr/>
          <p:nvPr/>
        </p:nvSpPr>
        <p:spPr>
          <a:xfrm>
            <a:off x="630936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測定 v1.2 で確定</a:t>
            </a:r>
            <a:endParaRPr lang="en-US" sz="850" dirty="0"/>
          </a:p>
        </p:txBody>
      </p:sp>
      <p:sp>
        <p:nvSpPr>
          <p:cNvPr id="17" name="Shape 15"/>
          <p:cNvSpPr/>
          <p:nvPr/>
        </p:nvSpPr>
        <p:spPr>
          <a:xfrm>
            <a:off x="8915400" y="1234440"/>
            <a:ext cx="2514600" cy="1143000"/>
          </a:xfrm>
          <a:prstGeom prst="roundRect">
            <a:avLst>
              <a:gd name="adj" fmla="val 4800"/>
            </a:avLst>
          </a:prstGeom>
          <a:solidFill>
            <a:srgbClr val="F4F4F6"/>
          </a:solidFill>
          <a:ln/>
        </p:spPr>
        <p:txBody>
          <a:bodyPr/>
          <a:lstStyle/>
          <a:p>
            <a:endParaRPr lang="ja-JP" altLang="en-US"/>
          </a:p>
        </p:txBody>
      </p:sp>
      <p:sp>
        <p:nvSpPr>
          <p:cNvPr id="18" name="Text 16"/>
          <p:cNvSpPr/>
          <p:nvPr/>
        </p:nvSpPr>
        <p:spPr>
          <a:xfrm>
            <a:off x="8915400" y="1307592"/>
            <a:ext cx="251460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10 / 10</a:t>
            </a:r>
            <a:endParaRPr lang="en-US" sz="2600" dirty="0"/>
          </a:p>
        </p:txBody>
      </p:sp>
      <p:sp>
        <p:nvSpPr>
          <p:cNvPr id="19" name="Text 17"/>
          <p:cNvSpPr/>
          <p:nvPr/>
        </p:nvSpPr>
        <p:spPr>
          <a:xfrm>
            <a:off x="9006840" y="1810512"/>
            <a:ext cx="233172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地域（50/60 Hz 両系統）</a:t>
            </a:r>
            <a:endParaRPr lang="en-US" sz="1050" dirty="0"/>
          </a:p>
        </p:txBody>
      </p:sp>
      <p:sp>
        <p:nvSpPr>
          <p:cNvPr id="20" name="Text 18"/>
          <p:cNvSpPr/>
          <p:nvPr/>
        </p:nvSpPr>
        <p:spPr>
          <a:xfrm>
            <a:off x="9006840" y="2103120"/>
            <a:ext cx="233172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v1.0.0</a:t>
            </a:r>
            <a:endParaRPr lang="en-US" sz="850" dirty="0"/>
          </a:p>
        </p:txBody>
      </p:sp>
      <p:sp>
        <p:nvSpPr>
          <p:cNvPr id="21" name="Shape 19"/>
          <p:cNvSpPr/>
          <p:nvPr/>
        </p:nvSpPr>
        <p:spPr>
          <a:xfrm>
            <a:off x="822960" y="2743200"/>
            <a:ext cx="10607040" cy="2286000"/>
          </a:xfrm>
          <a:prstGeom prst="roundRect">
            <a:avLst>
              <a:gd name="adj" fmla="val 2400"/>
            </a:avLst>
          </a:prstGeom>
          <a:solidFill>
            <a:srgbClr val="FFFFFF"/>
          </a:solidFill>
          <a:ln w="15240">
            <a:solidFill>
              <a:srgbClr val="1E2761"/>
            </a:solidFill>
            <a:prstDash val="solid"/>
          </a:ln>
        </p:spPr>
        <p:txBody>
          <a:bodyPr/>
          <a:lstStyle/>
          <a:p>
            <a:endParaRPr lang="ja-JP" altLang="en-US"/>
          </a:p>
        </p:txBody>
      </p:sp>
      <p:sp>
        <p:nvSpPr>
          <p:cNvPr id="22" name="Text 20"/>
          <p:cNvSpPr/>
          <p:nvPr/>
        </p:nvSpPr>
        <p:spPr>
          <a:xfrm>
            <a:off x="1051560" y="2880360"/>
            <a:ext cx="10058400" cy="292608"/>
          </a:xfrm>
          <a:prstGeom prst="rect">
            <a:avLst/>
          </a:prstGeom>
          <a:noFill/>
          <a:ln/>
        </p:spPr>
        <p:txBody>
          <a:bodyPr wrap="square" lIns="0" tIns="0" rIns="0" bIns="0" rtlCol="0" anchor="ctr"/>
          <a:lstStyle/>
          <a:p>
            <a:pPr marL="0" indent="0">
              <a:buNone/>
            </a:pPr>
            <a:r>
              <a:rPr lang="en-US" sz="1350" b="1" dirty="0">
                <a:solidFill>
                  <a:srgbClr val="1E2761"/>
                </a:solidFill>
                <a:latin typeface="Hiragino Sans" pitchFamily="34" charset="0"/>
                <a:ea typeface="Hiragino Sans" pitchFamily="34" charset="-122"/>
                <a:cs typeface="Hiragino Sans" pitchFamily="34" charset="-120"/>
              </a:rPr>
              <a:t>全国ユニットコミットメント（757機・10地域・24時間・MILP）</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051560" y="3291840"/>
          <a:ext cx="7498080" cy="1463040"/>
        </p:xfrm>
        <a:graphic>
          <a:graphicData uri="http://schemas.openxmlformats.org/drawingml/2006/table">
            <a:tbl>
              <a:tblPr/>
              <a:tblGrid>
                <a:gridCol w="3840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銅板（連系線制約なし）</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7.65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9.28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連系線制約あり</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7.76 兆円</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8.72 s</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混雑コストプレミアム</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+1.40 %</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Hiragino Sans" pitchFamily="34" charset="0"/>
                          <a:ea typeface="Hiragino Sans" pitchFamily="34" charset="-122"/>
                          <a:cs typeface="Hiragino Sans" pitchFamily="34" charset="-120"/>
                        </a:rPr>
                        <a:t>—</a:t>
                      </a:r>
                      <a:endParaRPr lang="en-US" sz="1250" dirty="0">
                        <a:latin typeface="Hiragino Sans" charset="0"/>
                        <a:ea typeface="Hiragino Sans" charset="0"/>
                        <a:cs typeface="Hiragino Sans" charset="0"/>
                      </a:endParaRPr>
                    </a:p>
                  </a:txBody>
                  <a:tcPr marL="54864" marR="54864" marT="54864" marB="54864">
                    <a:lnL w="9525" cap="flat" cmpd="sng" algn="ctr">
                      <a:solidFill>
                        <a:srgbClr val="DDDDE2"/>
                      </a:solidFill>
                      <a:prstDash val="solid"/>
                      <a:round/>
                      <a:headEnd type="none" w="med" len="med"/>
                      <a:tailEnd type="none" w="med" len="med"/>
                    </a:lnL>
                    <a:lnR w="9525" cap="flat" cmpd="sng" algn="ctr">
                      <a:solidFill>
                        <a:srgbClr val="DDDDE2"/>
                      </a:solidFill>
                      <a:prstDash val="solid"/>
                      <a:round/>
                      <a:headEnd type="none" w="med" len="med"/>
                      <a:tailEnd type="none" w="med" len="med"/>
                    </a:lnR>
                    <a:lnT w="9525" cap="flat" cmpd="sng" algn="ctr">
                      <a:solidFill>
                        <a:srgbClr val="DDDDE2"/>
                      </a:solidFill>
                      <a:prstDash val="solid"/>
                      <a:round/>
                      <a:headEnd type="none" w="med" len="med"/>
                      <a:tailEnd type="none" w="med" len="med"/>
                    </a:lnT>
                    <a:lnB w="9525" cap="flat" cmpd="sng" algn="ctr">
                      <a:solidFill>
                        <a:srgbClr val="DDDD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4" name="Text 21"/>
          <p:cNvSpPr/>
          <p:nvPr/>
        </p:nvSpPr>
        <p:spPr>
          <a:xfrm>
            <a:off x="8778240" y="3383280"/>
            <a:ext cx="2514600" cy="128016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最適解まで 10 秒未満。</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9連系線すべてがピーク需要時に利用率 100 %。</a:t>
            </a:r>
            <a:endParaRPr lang="en-US" sz="1100" dirty="0"/>
          </a:p>
        </p:txBody>
      </p:sp>
      <p:sp>
        <p:nvSpPr>
          <p:cNvPr id="25" name="Text 22"/>
          <p:cNvSpPr/>
          <p:nvPr/>
        </p:nvSpPr>
        <p:spPr>
          <a:xfrm>
            <a:off x="822960" y="530352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C62828"/>
                </a:solidFill>
                <a:latin typeface="Hiragino Sans" pitchFamily="34" charset="0"/>
                <a:ea typeface="Hiragino Sans" pitchFamily="34" charset="-122"/>
                <a:cs typeface="Hiragino Sans" pitchFamily="34" charset="-120"/>
              </a:rPr>
              <a:t>限界も初版から明記：インピーダンスは合成推定・端点マッチング誤接続 ~2–3 %・運用計画には使えない（研究・教育用）。</a:t>
            </a:r>
            <a:endParaRPr lang="en-US" sz="1200" dirty="0"/>
          </a:p>
        </p:txBody>
      </p:sp>
      <p:sp>
        <p:nvSpPr>
          <p:cNvPr id="26" name="Text 23"/>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4"/>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8" name="Text 25"/>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8</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第2幕 v1.2</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標準で渡す：CIM/CGMES は輸出先ではなく検証器だった</a:t>
            </a:r>
            <a:endParaRPr lang="en-US" sz="2100" dirty="0"/>
          </a:p>
        </p:txBody>
      </p:sp>
      <p:sp>
        <p:nvSpPr>
          <p:cNvPr id="5" name="Shape 3"/>
          <p:cNvSpPr/>
          <p:nvPr/>
        </p:nvSpPr>
        <p:spPr>
          <a:xfrm>
            <a:off x="822960" y="1188720"/>
            <a:ext cx="5120640" cy="1325880"/>
          </a:xfrm>
          <a:prstGeom prst="roundRect">
            <a:avLst>
              <a:gd name="adj" fmla="val 4138"/>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17BECF"/>
          </a:solidFill>
          <a:ln/>
        </p:spPr>
        <p:txBody>
          <a:bodyPr/>
          <a:lstStyle/>
          <a:p>
            <a:endParaRPr lang="ja-JP" altLang="en-US"/>
          </a:p>
        </p:txBody>
      </p:sp>
      <p:sp>
        <p:nvSpPr>
          <p:cNvPr id="7" name="Text 5"/>
          <p:cNvSpPr/>
          <p:nvPr/>
        </p:nvSpPr>
        <p:spPr>
          <a:xfrm>
            <a:off x="1234440" y="1298448"/>
            <a:ext cx="4663440" cy="320040"/>
          </a:xfrm>
          <a:prstGeom prst="rect">
            <a:avLst/>
          </a:prstGeom>
          <a:noFill/>
          <a:ln/>
        </p:spPr>
        <p:txBody>
          <a:bodyPr wrap="square" lIns="0" tIns="0" rIns="0" bIns="0" rtlCol="0" anchor="ctr"/>
          <a:lstStyle/>
          <a:p>
            <a:pPr marL="0" indent="0">
              <a:buNone/>
            </a:pPr>
            <a:r>
              <a:rPr lang="en-US" sz="1350" b="1" dirty="0">
                <a:solidFill>
                  <a:srgbClr val="1A1A1A"/>
                </a:solidFill>
                <a:latin typeface="Hiragino Sans" pitchFamily="34" charset="0"/>
                <a:ea typeface="Hiragino Sans" pitchFamily="34" charset="-122"/>
                <a:cs typeface="Hiragino Sans" pitchFamily="34" charset="-120"/>
              </a:rPr>
              <a:t>IEC 61970 CIM (CGMES 2.4.15) 書き出し</a:t>
            </a:r>
            <a:endParaRPr lang="en-US" sz="1350" dirty="0"/>
          </a:p>
        </p:txBody>
      </p:sp>
      <p:sp>
        <p:nvSpPr>
          <p:cNvPr id="8" name="Text 6"/>
          <p:cNvSpPr/>
          <p:nvPr/>
        </p:nvSpPr>
        <p:spPr>
          <a:xfrm>
            <a:off x="1051560" y="1645920"/>
            <a:ext cx="4663440" cy="758952"/>
          </a:xfrm>
          <a:prstGeom prst="rect">
            <a:avLst/>
          </a:prstGeom>
          <a:noFill/>
          <a:ln/>
        </p:spPr>
        <p:txBody>
          <a:bodyPr wrap="square" lIns="0" tIns="0" rIns="0" bIns="0" rtlCol="0" anchor="t"/>
          <a:lstStyle/>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EQ + GL の全10地域。決定的 UUIDv5 mRID・dangling参照 0。</a:t>
            </a:r>
            <a:endParaRPr lang="en-US" sz="1150" dirty="0"/>
          </a:p>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独立実装 pandapower cim2pp で読み戻して検証</a:t>
            </a:r>
            <a:endParaRPr lang="en-US" sz="1150" dirty="0"/>
          </a:p>
        </p:txBody>
      </p:sp>
      <p:sp>
        <p:nvSpPr>
          <p:cNvPr id="9" name="Shape 7"/>
          <p:cNvSpPr/>
          <p:nvPr/>
        </p:nvSpPr>
        <p:spPr>
          <a:xfrm>
            <a:off x="822960" y="2743200"/>
            <a:ext cx="5120640" cy="1325880"/>
          </a:xfrm>
          <a:prstGeom prst="roundRect">
            <a:avLst>
              <a:gd name="adj" fmla="val 4138"/>
            </a:avLst>
          </a:prstGeom>
          <a:solidFill>
            <a:srgbClr val="F4F4F6"/>
          </a:solidFill>
          <a:ln/>
        </p:spPr>
        <p:txBody>
          <a:bodyPr/>
          <a:lstStyle/>
          <a:p>
            <a:endParaRPr lang="ja-JP" altLang="en-US"/>
          </a:p>
        </p:txBody>
      </p:sp>
      <p:sp>
        <p:nvSpPr>
          <p:cNvPr id="10" name="Shape 8"/>
          <p:cNvSpPr/>
          <p:nvPr/>
        </p:nvSpPr>
        <p:spPr>
          <a:xfrm>
            <a:off x="1024128" y="2962656"/>
            <a:ext cx="128016" cy="128016"/>
          </a:xfrm>
          <a:prstGeom prst="rect">
            <a:avLst/>
          </a:prstGeom>
          <a:solidFill>
            <a:srgbClr val="17BECF"/>
          </a:solidFill>
          <a:ln/>
        </p:spPr>
        <p:txBody>
          <a:bodyPr/>
          <a:lstStyle/>
          <a:p>
            <a:endParaRPr lang="ja-JP" altLang="en-US"/>
          </a:p>
        </p:txBody>
      </p:sp>
      <p:sp>
        <p:nvSpPr>
          <p:cNvPr id="11" name="Text 9"/>
          <p:cNvSpPr/>
          <p:nvPr/>
        </p:nvSpPr>
        <p:spPr>
          <a:xfrm>
            <a:off x="1234440" y="2852928"/>
            <a:ext cx="4663440" cy="320040"/>
          </a:xfrm>
          <a:prstGeom prst="rect">
            <a:avLst/>
          </a:prstGeom>
          <a:noFill/>
          <a:ln/>
        </p:spPr>
        <p:txBody>
          <a:bodyPr wrap="square" lIns="0" tIns="0" rIns="0" bIns="0" rtlCol="0" anchor="ctr"/>
          <a:lstStyle/>
          <a:p>
            <a:pPr marL="0" indent="0">
              <a:buNone/>
            </a:pPr>
            <a:r>
              <a:rPr lang="en-US" sz="1350" b="1" dirty="0">
                <a:solidFill>
                  <a:srgbClr val="1A1A1A"/>
                </a:solidFill>
                <a:latin typeface="Hiragino Sans" pitchFamily="34" charset="0"/>
                <a:ea typeface="Hiragino Sans" pitchFamily="34" charset="-122"/>
                <a:cs typeface="Hiragino Sans" pitchFamily="34" charset="-120"/>
              </a:rPr>
              <a:t>Level-2：解ける潮流ケース</a:t>
            </a:r>
            <a:endParaRPr lang="en-US" sz="1350" dirty="0"/>
          </a:p>
        </p:txBody>
      </p:sp>
      <p:sp>
        <p:nvSpPr>
          <p:cNvPr id="12" name="Text 10"/>
          <p:cNvSpPr/>
          <p:nvPr/>
        </p:nvSpPr>
        <p:spPr>
          <a:xfrm>
            <a:off x="1051560" y="3200400"/>
            <a:ext cx="4663440" cy="758952"/>
          </a:xfrm>
          <a:prstGeom prst="rect">
            <a:avLst/>
          </a:prstGeom>
          <a:noFill/>
          <a:ln/>
        </p:spPr>
        <p:txBody>
          <a:bodyPr wrap="square" lIns="0" tIns="0" rIns="0" bIns="0" rtlCol="0" anchor="t"/>
          <a:lstStyle/>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EQ/TP/SSH/SV。cim2pp ラウンドトリップ後に runpp が収束</a:t>
            </a:r>
            <a:endParaRPr lang="en-US" sz="1150" dirty="0"/>
          </a:p>
          <a:p>
            <a:pPr marL="0" indent="0">
              <a:lnSpc>
                <a:spcPts val="1500"/>
              </a:lnSpc>
              <a:buNone/>
            </a:pPr>
            <a:r>
              <a:rPr lang="en-US" sz="1150" dirty="0">
                <a:solidFill>
                  <a:srgbClr val="55555F"/>
                </a:solidFill>
                <a:latin typeface="Hiragino Sans" pitchFamily="34" charset="0"/>
                <a:ea typeface="Hiragino Sans" pitchFamily="34" charset="-122"/>
                <a:cs typeface="Hiragino Sans" pitchFamily="34" charset="-120"/>
              </a:rPr>
              <a:t>（初出 okinawa 81母線 → 境界セット整備で全10地域）</a:t>
            </a:r>
            <a:endParaRPr lang="en-US" sz="1150" dirty="0"/>
          </a:p>
        </p:txBody>
      </p:sp>
      <p:sp>
        <p:nvSpPr>
          <p:cNvPr id="13" name="Shape 11"/>
          <p:cNvSpPr/>
          <p:nvPr/>
        </p:nvSpPr>
        <p:spPr>
          <a:xfrm>
            <a:off x="822960" y="4297680"/>
            <a:ext cx="5120640" cy="1325880"/>
          </a:xfrm>
          <a:prstGeom prst="roundRect">
            <a:avLst>
              <a:gd name="adj" fmla="val 4138"/>
            </a:avLst>
          </a:prstGeom>
          <a:solidFill>
            <a:srgbClr val="F4F4F6"/>
          </a:solidFill>
          <a:ln/>
        </p:spPr>
        <p:txBody>
          <a:bodyPr/>
          <a:lstStyle/>
          <a:p>
            <a:endParaRPr lang="ja-JP" altLang="en-US"/>
          </a:p>
        </p:txBody>
      </p:sp>
      <p:sp>
        <p:nvSpPr>
          <p:cNvPr id="14" name="Shape 12"/>
          <p:cNvSpPr/>
          <p:nvPr/>
        </p:nvSpPr>
        <p:spPr>
          <a:xfrm>
            <a:off x="1024128" y="4517136"/>
            <a:ext cx="128016" cy="128016"/>
          </a:xfrm>
          <a:prstGeom prst="rect">
            <a:avLst/>
          </a:prstGeom>
          <a:solidFill>
            <a:srgbClr val="17BECF"/>
          </a:solidFill>
          <a:ln/>
        </p:spPr>
        <p:txBody>
          <a:bodyPr/>
          <a:lstStyle/>
          <a:p>
            <a:endParaRPr lang="ja-JP" altLang="en-US"/>
          </a:p>
        </p:txBody>
      </p:sp>
      <p:sp>
        <p:nvSpPr>
          <p:cNvPr id="15" name="Text 13"/>
          <p:cNvSpPr/>
          <p:nvPr/>
        </p:nvSpPr>
        <p:spPr>
          <a:xfrm>
            <a:off x="1234440" y="4407408"/>
            <a:ext cx="46634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統一DB（R/C/D 3層・SQLite）</a:t>
            </a:r>
            <a:endParaRPr lang="en-US" sz="1250" dirty="0"/>
          </a:p>
        </p:txBody>
      </p:sp>
      <p:sp>
        <p:nvSpPr>
          <p:cNvPr id="16" name="Text 14"/>
          <p:cNvSpPr/>
          <p:nvPr/>
        </p:nvSpPr>
        <p:spPr>
          <a:xfrm>
            <a:off x="1051560" y="4754880"/>
            <a:ext cx="4663440" cy="7589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生feature（不変）/ キュレーション / 導出を分離。232,139行の</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人手修正が OSM 再取得を生き延びる — 出所つきで</a:t>
            </a:r>
            <a:endParaRPr lang="en-US" sz="1050" dirty="0"/>
          </a:p>
        </p:txBody>
      </p:sp>
      <p:sp>
        <p:nvSpPr>
          <p:cNvPr id="17" name="Shape 15"/>
          <p:cNvSpPr/>
          <p:nvPr/>
        </p:nvSpPr>
        <p:spPr>
          <a:xfrm>
            <a:off x="6309360" y="1188720"/>
            <a:ext cx="5120640" cy="4937760"/>
          </a:xfrm>
          <a:prstGeom prst="roundRect">
            <a:avLst>
              <a:gd name="adj" fmla="val 1111"/>
            </a:avLst>
          </a:prstGeom>
          <a:solidFill>
            <a:srgbClr val="FFF3F3"/>
          </a:solidFill>
          <a:ln w="13970">
            <a:solidFill>
              <a:srgbClr val="C62828"/>
            </a:solidFill>
            <a:prstDash val="solid"/>
          </a:ln>
        </p:spPr>
        <p:txBody>
          <a:bodyPr/>
          <a:lstStyle/>
          <a:p>
            <a:endParaRPr lang="ja-JP" altLang="en-US"/>
          </a:p>
        </p:txBody>
      </p:sp>
      <p:sp>
        <p:nvSpPr>
          <p:cNvPr id="18" name="Text 16"/>
          <p:cNvSpPr/>
          <p:nvPr/>
        </p:nvSpPr>
        <p:spPr>
          <a:xfrm>
            <a:off x="6537960" y="1325880"/>
            <a:ext cx="4663440" cy="502920"/>
          </a:xfrm>
          <a:prstGeom prst="rect">
            <a:avLst/>
          </a:prstGeom>
          <a:noFill/>
          <a:ln/>
        </p:spPr>
        <p:txBody>
          <a:bodyPr wrap="square" lIns="0" tIns="0" rIns="0" bIns="0" rtlCol="0" anchor="ctr"/>
          <a:lstStyle/>
          <a:p>
            <a:pPr marL="0" indent="0">
              <a:buNone/>
            </a:pPr>
            <a:r>
              <a:rPr lang="en-US" sz="1300" b="1" dirty="0">
                <a:solidFill>
                  <a:srgbClr val="C62828"/>
                </a:solidFill>
                <a:latin typeface="Hiragino Sans" pitchFamily="34" charset="0"/>
                <a:ea typeface="Hiragino Sans" pitchFamily="34" charset="-122"/>
                <a:cs typeface="Hiragino Sans" pitchFamily="34" charset="-120"/>
              </a:rPr>
              <a:t>ラウンドトリップ検証が捕まえた電気的バグ（v1.2.1）</a:t>
            </a:r>
            <a:endParaRPr lang="en-US" sz="1300" dirty="0"/>
          </a:p>
        </p:txBody>
      </p:sp>
      <p:sp>
        <p:nvSpPr>
          <p:cNvPr id="19" name="Text 17"/>
          <p:cNvSpPr/>
          <p:nvPr/>
        </p:nvSpPr>
        <p:spPr>
          <a:xfrm>
            <a:off x="6537960" y="1920240"/>
            <a:ext cx="4709160" cy="329184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並列回線・変圧器バンクのインピーダンスが最大4倍（束等価を書かず素の値を出していた）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Conductor.length がメートルのまま → km と解釈され1000倍で往復</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in_service が落ち、停止線・停止負荷がインポートで再充電</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需要スケール版が発電3.5倍のまま出荷、slack が72%を吸収（→ load×1.05 に再配分）</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『native収束』を名乗っていた2地域は、バグ入り往復が偶然収束していただけ</a:t>
            </a:r>
            <a:endParaRPr lang="en-US" sz="1150" dirty="0"/>
          </a:p>
        </p:txBody>
      </p:sp>
      <p:sp>
        <p:nvSpPr>
          <p:cNvPr id="20" name="Text 18"/>
          <p:cNvSpPr/>
          <p:nvPr/>
        </p:nvSpPr>
        <p:spPr>
          <a:xfrm>
            <a:off x="6537960" y="5257800"/>
            <a:ext cx="4709160" cy="731520"/>
          </a:xfrm>
          <a:prstGeom prst="rect">
            <a:avLst/>
          </a:prstGeom>
          <a:noFill/>
          <a:ln/>
        </p:spPr>
        <p:txBody>
          <a:bodyPr wrap="square" lIns="0" tIns="0" rIns="0" bIns="0" rtlCol="0" anchor="ctr"/>
          <a:lstStyle/>
          <a:p>
            <a:pPr marL="0" indent="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 修正後は vm差 &lt; 1e-4 pu の電気的同一性を回帰テストで固定。</a:t>
            </a:r>
            <a:endParaRPr lang="en-US" sz="1150" dirty="0"/>
          </a:p>
          <a:p>
            <a:pPr marL="0" indent="0">
              <a:lnSpc>
                <a:spcPts val="1600"/>
              </a:lnSpc>
              <a:buNone/>
            </a:pPr>
            <a:r>
              <a:rPr lang="en-US" sz="1150" b="1" dirty="0">
                <a:solidFill>
                  <a:srgbClr val="1E2761"/>
                </a:solidFill>
                <a:latin typeface="Hiragino Sans" pitchFamily="34" charset="0"/>
                <a:ea typeface="Hiragino Sans" pitchFamily="34" charset="-122"/>
                <a:cs typeface="Hiragino Sans" pitchFamily="34" charset="-120"/>
              </a:rPr>
              <a:t>標準に書き出せる＝独立実装に読ませて突き合わせられる、ということ。</a:t>
            </a:r>
            <a:endParaRPr lang="en-US" sz="1150" dirty="0"/>
          </a:p>
        </p:txBody>
      </p:sp>
      <p:sp>
        <p:nvSpPr>
          <p:cNvPr id="21" name="Text 1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2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9</a:t>
            </a:r>
            <a:endParaRPr lang="en-US" sz="1000" dirty="0"/>
          </a:p>
        </p:txBody>
      </p:sp>
      <p:sp>
        <p:nvSpPr>
          <p:cNvPr id="24" name="テキスト ボックス 23">
            <a:extLst>
              <a:ext uri="{FF2B5EF4-FFF2-40B4-BE49-F238E27FC236}">
                <a16:creationId xmlns:a16="http://schemas.microsoft.com/office/drawing/2014/main" id="{7443CD68-6562-E16C-0E46-8911613FFA50}"/>
              </a:ext>
            </a:extLst>
          </p:cNvPr>
          <p:cNvSpPr txBox="1"/>
          <p:nvPr/>
        </p:nvSpPr>
        <p:spPr>
          <a:xfrm>
            <a:off x="2325757" y="7013448"/>
            <a:ext cx="24773641" cy="2308324"/>
          </a:xfrm>
          <a:prstGeom prst="rect">
            <a:avLst/>
          </a:prstGeom>
          <a:noFill/>
        </p:spPr>
        <p:txBody>
          <a:bodyPr wrap="none" rtlCol="0">
            <a:spAutoFit/>
          </a:bodyPr>
          <a:lstStyle/>
          <a:p>
            <a:pPr lvl="0"/>
            <a:r>
              <a:rPr lang="ja-JP" altLang="ja-JP" b="1"/>
              <a:t>IEC 61970</a:t>
            </a:r>
            <a:endParaRPr lang="ja-JP" altLang="ja-JP"/>
          </a:p>
          <a:p>
            <a:pPr lvl="1"/>
            <a:r>
              <a:rPr lang="ja-JP" altLang="ja-JP" b="1"/>
              <a:t>概要</a:t>
            </a:r>
            <a:r>
              <a:rPr lang="ja-JP" altLang="ja-JP"/>
              <a:t>: 国際電気標準会議（IEC）が策定した、</a:t>
            </a:r>
            <a:r>
              <a:rPr lang="ja-JP" altLang="ja-JP" b="1"/>
              <a:t>送電管理・系統運用（EMS）</a:t>
            </a:r>
            <a:r>
              <a:rPr lang="ja-JP" altLang="ja-JP"/>
              <a:t>システム間でネットワークモデルなどのデータをやり取りするための国際標準規格シリーズです。</a:t>
            </a:r>
          </a:p>
          <a:p>
            <a:pPr lvl="0"/>
            <a:r>
              <a:rPr lang="ja-JP" altLang="ja-JP" b="1"/>
              <a:t>CIM（Common Information Model）</a:t>
            </a:r>
            <a:endParaRPr lang="ja-JP" altLang="ja-JP"/>
          </a:p>
          <a:p>
            <a:pPr lvl="1"/>
            <a:r>
              <a:rPr lang="ja-JP" altLang="ja-JP" b="1"/>
              <a:t>概要</a:t>
            </a:r>
            <a:r>
              <a:rPr lang="ja-JP" altLang="ja-JP"/>
              <a:t>: この規格のベースとなる</a:t>
            </a:r>
            <a:r>
              <a:rPr lang="ja-JP" altLang="ja-JP" b="1"/>
              <a:t>「共通情報モデル」</a:t>
            </a:r>
            <a:r>
              <a:rPr lang="ja-JP" altLang="ja-JP"/>
              <a:t>です。電力網の物理的な設備（変圧器、遮断器など）をオブジェクト指向の共通言語として定義しています。</a:t>
            </a:r>
          </a:p>
          <a:p>
            <a:pPr lvl="0"/>
            <a:r>
              <a:rPr lang="ja-JP" altLang="ja-JP" b="1"/>
              <a:t>CGMES 2.4.15</a:t>
            </a:r>
            <a:endParaRPr lang="ja-JP" altLang="ja-JP"/>
          </a:p>
          <a:p>
            <a:pPr lvl="1"/>
            <a:r>
              <a:rPr lang="ja-JP" altLang="ja-JP" b="1"/>
              <a:t>概要</a:t>
            </a:r>
            <a:r>
              <a:rPr lang="ja-JP" altLang="ja-JP"/>
              <a:t>: </a:t>
            </a:r>
            <a:r>
              <a:rPr lang="ja-JP" altLang="ja-JP" b="1"/>
              <a:t>Common Grid Model Exchange Standard</a:t>
            </a:r>
            <a:r>
              <a:rPr lang="ja-JP" altLang="ja-JP"/>
              <a:t> の略で、欧州の送電運行会社ネットワーク（</a:t>
            </a:r>
            <a:r>
              <a:rPr lang="ja-JP" altLang="ja-JP" b="1">
                <a:hlinkClick r:id="rId3"/>
              </a:rPr>
              <a:t>ENTSO-E</a:t>
            </a:r>
            <a:r>
              <a:rPr lang="ja-JP" altLang="ja-JP"/>
              <a:t>）が策定したCIMの適用ルール（アプリケーション・プロファイル）です。</a:t>
            </a:r>
          </a:p>
          <a:p>
            <a:pPr lvl="1"/>
            <a:r>
              <a:rPr lang="ja-JP" altLang="ja-JP" b="1"/>
              <a:t>「2.4.15」という数値について</a:t>
            </a:r>
            <a:r>
              <a:rPr lang="ja-JP" altLang="ja-JP"/>
              <a:t>: これは欧州の電力広域連携で長年ベースラインとして実運用されてきた</a:t>
            </a:r>
            <a:r>
              <a:rPr lang="ja-JP" altLang="ja-JP" b="1"/>
              <a:t>特定の安定バージョン</a:t>
            </a:r>
            <a:r>
              <a:rPr lang="ja-JP" altLang="ja-JP"/>
              <a:t>を示しています（主に2021年の共通グリッドモデル運用開始時に使われ、現在は後継のCGMES 3.0なども登場</a:t>
            </a:r>
          </a:p>
          <a:p>
            <a:endParaRPr kumimoji="1" lang="ja-JP"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7BECF"/>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第2幕 v1.3–1.4</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解ける化：トポロジのバグを潰したら 10/10 地域が解けた</a:t>
            </a:r>
            <a:endParaRPr lang="en-US" sz="2100" dirty="0"/>
          </a:p>
        </p:txBody>
      </p:sp>
      <p:sp>
        <p:nvSpPr>
          <p:cNvPr id="5" name="Shape 3"/>
          <p:cNvSpPr/>
          <p:nvPr/>
        </p:nvSpPr>
        <p:spPr>
          <a:xfrm>
            <a:off x="822960" y="1188720"/>
            <a:ext cx="5669280" cy="1280160"/>
          </a:xfrm>
          <a:prstGeom prst="roundRect">
            <a:avLst>
              <a:gd name="adj" fmla="val 4286"/>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17BECF"/>
          </a:solidFill>
          <a:ln/>
        </p:spPr>
        <p:txBody>
          <a:bodyPr/>
          <a:lstStyle/>
          <a:p>
            <a:endParaRPr lang="ja-JP" altLang="en-US"/>
          </a:p>
        </p:txBody>
      </p:sp>
      <p:sp>
        <p:nvSpPr>
          <p:cNvPr id="7" name="Text 5"/>
          <p:cNvSpPr/>
          <p:nvPr/>
        </p:nvSpPr>
        <p:spPr>
          <a:xfrm>
            <a:off x="1234440" y="1298448"/>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並列回線の数え方（v1.3）</a:t>
            </a:r>
            <a:endParaRPr lang="en-US" sz="1200" dirty="0"/>
          </a:p>
        </p:txBody>
      </p:sp>
      <p:sp>
        <p:nvSpPr>
          <p:cNvPr id="8" name="Text 6"/>
          <p:cNvSpPr/>
          <p:nvPr/>
        </p:nvSpPr>
        <p:spPr>
          <a:xfrm>
            <a:off x="1051560" y="1645920"/>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1本のwayがノード対をジグザグに跨ぐと並列数が水増しされていた。</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次数2連鎖の縮約が回線多重度を1にリセットするのも修正 → 同鉄塔2回線の容量が戻る</a:t>
            </a:r>
            <a:endParaRPr lang="en-US" sz="1000" dirty="0"/>
          </a:p>
        </p:txBody>
      </p:sp>
      <p:sp>
        <p:nvSpPr>
          <p:cNvPr id="9" name="Shape 7"/>
          <p:cNvSpPr/>
          <p:nvPr/>
        </p:nvSpPr>
        <p:spPr>
          <a:xfrm>
            <a:off x="822960" y="2578608"/>
            <a:ext cx="5669280" cy="1280160"/>
          </a:xfrm>
          <a:prstGeom prst="roundRect">
            <a:avLst>
              <a:gd name="adj" fmla="val 4286"/>
            </a:avLst>
          </a:prstGeom>
          <a:solidFill>
            <a:srgbClr val="F4F4F6"/>
          </a:solidFill>
          <a:ln/>
        </p:spPr>
        <p:txBody>
          <a:bodyPr/>
          <a:lstStyle/>
          <a:p>
            <a:endParaRPr lang="ja-JP" altLang="en-US"/>
          </a:p>
        </p:txBody>
      </p:sp>
      <p:sp>
        <p:nvSpPr>
          <p:cNvPr id="10" name="Shape 8"/>
          <p:cNvSpPr/>
          <p:nvPr/>
        </p:nvSpPr>
        <p:spPr>
          <a:xfrm>
            <a:off x="1024128" y="2798064"/>
            <a:ext cx="128016" cy="128016"/>
          </a:xfrm>
          <a:prstGeom prst="rect">
            <a:avLst/>
          </a:prstGeom>
          <a:solidFill>
            <a:srgbClr val="17BECF"/>
          </a:solidFill>
          <a:ln/>
        </p:spPr>
        <p:txBody>
          <a:bodyPr/>
          <a:lstStyle/>
          <a:p>
            <a:endParaRPr lang="ja-JP" altLang="en-US"/>
          </a:p>
        </p:txBody>
      </p:sp>
      <p:sp>
        <p:nvSpPr>
          <p:cNvPr id="11" name="Text 9"/>
          <p:cNvSpPr/>
          <p:nvPr/>
        </p:nvSpPr>
        <p:spPr>
          <a:xfrm>
            <a:off x="1234440" y="2688336"/>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電圧タグ解釈の統一（v1.3）</a:t>
            </a:r>
            <a:endParaRPr lang="en-US" sz="1200" dirty="0"/>
          </a:p>
        </p:txBody>
      </p:sp>
      <p:sp>
        <p:nvSpPr>
          <p:cNvPr id="12" name="Text 10"/>
          <p:cNvSpPr/>
          <p:nvPr/>
        </p:nvSpPr>
        <p:spPr>
          <a:xfrm>
            <a:off x="1051560" y="3035808"/>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"66000;154000" は最高階級154 kVに解決、"," は値区切り</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（"77000,6600" → 770006.6 kV という連結事故を根絶）。6実装2意味論 → 1実装</a:t>
            </a:r>
            <a:endParaRPr lang="en-US" sz="1000" dirty="0"/>
          </a:p>
        </p:txBody>
      </p:sp>
      <p:sp>
        <p:nvSpPr>
          <p:cNvPr id="13" name="Shape 11"/>
          <p:cNvSpPr/>
          <p:nvPr/>
        </p:nvSpPr>
        <p:spPr>
          <a:xfrm>
            <a:off x="822960" y="3968496"/>
            <a:ext cx="5669280" cy="1280160"/>
          </a:xfrm>
          <a:prstGeom prst="roundRect">
            <a:avLst>
              <a:gd name="adj" fmla="val 4286"/>
            </a:avLst>
          </a:prstGeom>
          <a:solidFill>
            <a:srgbClr val="F4F4F6"/>
          </a:solidFill>
          <a:ln/>
        </p:spPr>
        <p:txBody>
          <a:bodyPr/>
          <a:lstStyle/>
          <a:p>
            <a:endParaRPr lang="ja-JP" altLang="en-US"/>
          </a:p>
        </p:txBody>
      </p:sp>
      <p:sp>
        <p:nvSpPr>
          <p:cNvPr id="14" name="Shape 12"/>
          <p:cNvSpPr/>
          <p:nvPr/>
        </p:nvSpPr>
        <p:spPr>
          <a:xfrm>
            <a:off x="1024128" y="4187952"/>
            <a:ext cx="128016" cy="128016"/>
          </a:xfrm>
          <a:prstGeom prst="rect">
            <a:avLst/>
          </a:prstGeom>
          <a:solidFill>
            <a:srgbClr val="2E7D32"/>
          </a:solidFill>
          <a:ln/>
        </p:spPr>
        <p:txBody>
          <a:bodyPr/>
          <a:lstStyle/>
          <a:p>
            <a:endParaRPr lang="ja-JP" altLang="en-US"/>
          </a:p>
        </p:txBody>
      </p:sp>
      <p:sp>
        <p:nvSpPr>
          <p:cNvPr id="15" name="Text 13"/>
          <p:cNvSpPr/>
          <p:nvPr/>
        </p:nvSpPr>
        <p:spPr>
          <a:xfrm>
            <a:off x="1234440" y="4078224"/>
            <a:ext cx="521208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実データとの外部検証（v1.4）</a:t>
            </a:r>
            <a:endParaRPr lang="en-US" sz="1200" dirty="0"/>
          </a:p>
        </p:txBody>
      </p:sp>
      <p:sp>
        <p:nvSpPr>
          <p:cNvPr id="16" name="Text 14"/>
          <p:cNvSpPr/>
          <p:nvPr/>
        </p:nvSpPr>
        <p:spPr>
          <a:xfrm>
            <a:off x="1051560" y="4425696"/>
            <a:ext cx="5212080" cy="71323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東電の線別潮流と回廊利用率の順位相関、関西の開示線名と照合</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（≥154 kV 幹線38本で97%一致）— スコアカードをJSONで同梱</a:t>
            </a:r>
            <a:endParaRPr lang="en-US" sz="1000" dirty="0"/>
          </a:p>
        </p:txBody>
      </p:sp>
      <p:pic>
        <p:nvPicPr>
          <p:cNvPr id="17" name="Image 0" descr="assets/fig_satellite_validation.png"/>
          <p:cNvPicPr>
            <a:picLocks noChangeAspect="1"/>
          </p:cNvPicPr>
          <p:nvPr/>
        </p:nvPicPr>
        <p:blipFill>
          <a:blip r:embed="rId3"/>
          <a:srcRect/>
          <a:stretch/>
        </p:blipFill>
        <p:spPr>
          <a:xfrm>
            <a:off x="822960" y="5376672"/>
            <a:ext cx="5669280" cy="1042416"/>
          </a:xfrm>
          <a:prstGeom prst="rect">
            <a:avLst/>
          </a:prstGeom>
        </p:spPr>
      </p:pic>
      <p:sp>
        <p:nvSpPr>
          <p:cNvPr id="18" name="Shape 15"/>
          <p:cNvSpPr/>
          <p:nvPr/>
        </p:nvSpPr>
        <p:spPr>
          <a:xfrm>
            <a:off x="822960" y="6144768"/>
            <a:ext cx="5669280" cy="274320"/>
          </a:xfrm>
          <a:prstGeom prst="rect">
            <a:avLst/>
          </a:prstGeom>
          <a:solidFill>
            <a:srgbClr val="000000">
              <a:alpha val="55000"/>
            </a:srgbClr>
          </a:solidFill>
          <a:ln/>
        </p:spPr>
        <p:txBody>
          <a:bodyPr/>
          <a:lstStyle/>
          <a:p>
            <a:endParaRPr lang="ja-JP" altLang="en-US"/>
          </a:p>
        </p:txBody>
      </p:sp>
      <p:sp>
        <p:nvSpPr>
          <p:cNvPr id="19" name="Text 16"/>
          <p:cNvSpPr/>
          <p:nvPr/>
        </p:nvSpPr>
        <p:spPr>
          <a:xfrm>
            <a:off x="914400" y="6144768"/>
            <a:ext cx="5486400" cy="274320"/>
          </a:xfrm>
          <a:prstGeom prst="rect">
            <a:avLst/>
          </a:prstGeom>
          <a:noFill/>
          <a:ln/>
        </p:spPr>
        <p:txBody>
          <a:bodyPr wrap="square" lIns="0" tIns="0" rIns="0" bIns="0" rtlCol="0" anchor="ctr"/>
          <a:lstStyle/>
          <a:p>
            <a:pPr marL="0" indent="0">
              <a:buNone/>
            </a:pPr>
            <a:r>
              <a:rPr lang="en-US" sz="850" dirty="0">
                <a:solidFill>
                  <a:srgbClr val="FFFFFF"/>
                </a:solidFill>
                <a:latin typeface="Hiragino Sans" pitchFamily="34" charset="0"/>
                <a:ea typeface="Hiragino Sans" pitchFamily="34" charset="-122"/>
                <a:cs typeface="Hiragino Sans" pitchFamily="34" charset="-120"/>
              </a:rPr>
              <a:t>v1.1 比較タブ：衛星写真上で位置を目視検証（左から鹿島・火力構内・変電所）</a:t>
            </a:r>
            <a:endParaRPr lang="en-US" sz="850" dirty="0"/>
          </a:p>
        </p:txBody>
      </p:sp>
      <p:pic>
        <p:nvPicPr>
          <p:cNvPr id="20" name="Image 1" descr="assets/fig_cim_national_pf.png"/>
          <p:cNvPicPr>
            <a:picLocks noChangeAspect="1"/>
          </p:cNvPicPr>
          <p:nvPr/>
        </p:nvPicPr>
        <p:blipFill>
          <a:blip r:embed="rId4"/>
          <a:stretch>
            <a:fillRect/>
          </a:stretch>
        </p:blipFill>
        <p:spPr>
          <a:xfrm>
            <a:off x="6903720" y="1234440"/>
            <a:ext cx="4709160" cy="4636008"/>
          </a:xfrm>
          <a:prstGeom prst="rect">
            <a:avLst/>
          </a:prstGeom>
        </p:spPr>
      </p:pic>
      <p:sp>
        <p:nvSpPr>
          <p:cNvPr id="21" name="Text 17"/>
          <p:cNvSpPr/>
          <p:nvPr/>
        </p:nvSpPr>
        <p:spPr>
          <a:xfrm>
            <a:off x="6720840" y="5943600"/>
            <a:ext cx="4846320" cy="457200"/>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全国ACPF：14,647母線・10/10地域が解けた（v1.4・CGMES往復後）</a:t>
            </a:r>
            <a:endParaRPr lang="en-US" sz="1050" dirty="0"/>
          </a:p>
        </p:txBody>
      </p:sp>
      <p:sp>
        <p:nvSpPr>
          <p:cNvPr id="22" name="Text 1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3" name="Text 1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4" name="Text 2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10</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第3幕 v1.5</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収束は正しさではない — 誠実さを仕組みに変えた</a:t>
            </a:r>
            <a:endParaRPr lang="en-US" sz="2100" dirty="0"/>
          </a:p>
        </p:txBody>
      </p:sp>
      <p:sp>
        <p:nvSpPr>
          <p:cNvPr id="5" name="Shape 3"/>
          <p:cNvSpPr/>
          <p:nvPr/>
        </p:nvSpPr>
        <p:spPr>
          <a:xfrm>
            <a:off x="822960" y="1143000"/>
            <a:ext cx="10607040" cy="914400"/>
          </a:xfrm>
          <a:prstGeom prst="roundRect">
            <a:avLst>
              <a:gd name="adj" fmla="val 6000"/>
            </a:avLst>
          </a:prstGeom>
          <a:solidFill>
            <a:srgbClr val="1E2761"/>
          </a:solidFill>
          <a:ln/>
        </p:spPr>
        <p:txBody>
          <a:bodyPr/>
          <a:lstStyle/>
          <a:p>
            <a:endParaRPr lang="ja-JP" altLang="en-US"/>
          </a:p>
        </p:txBody>
      </p:sp>
      <p:sp>
        <p:nvSpPr>
          <p:cNvPr id="6" name="Text 4"/>
          <p:cNvSpPr/>
          <p:nvPr/>
        </p:nvSpPr>
        <p:spPr>
          <a:xfrm>
            <a:off x="1097280" y="1143000"/>
            <a:ext cx="10058400" cy="914400"/>
          </a:xfrm>
          <a:prstGeom prst="rect">
            <a:avLst/>
          </a:prstGeom>
          <a:noFill/>
          <a:ln/>
        </p:spPr>
        <p:txBody>
          <a:bodyPr wrap="square" lIns="0" tIns="0" rIns="0" bIns="0" rtlCol="0" anchor="ctr"/>
          <a:lstStyle/>
          <a:p>
            <a:pPr marL="0" indent="0">
              <a:buNone/>
            </a:pPr>
            <a:r>
              <a:rPr lang="en-US" sz="1450" b="1" dirty="0">
                <a:solidFill>
                  <a:srgbClr val="FFFFFF"/>
                </a:solidFill>
                <a:latin typeface="Hiragino Sans" pitchFamily="34" charset="0"/>
                <a:ea typeface="Hiragino Sans" pitchFamily="34" charset="-122"/>
                <a:cs typeface="Hiragino Sans" pitchFamily="34" charset="-120"/>
              </a:rPr>
              <a:t>モデルを「繋がって・解けて・完全に」見せる機構は19個あった。ひとつずつ台帳に載せ、OFFスイッチを付けた。</a:t>
            </a:r>
            <a:endParaRPr lang="en-US" sz="1450" dirty="0"/>
          </a:p>
        </p:txBody>
      </p:sp>
      <p:sp>
        <p:nvSpPr>
          <p:cNvPr id="7" name="Shape 5"/>
          <p:cNvSpPr/>
          <p:nvPr/>
        </p:nvSpPr>
        <p:spPr>
          <a:xfrm>
            <a:off x="822960" y="2286000"/>
            <a:ext cx="5120640" cy="1463040"/>
          </a:xfrm>
          <a:prstGeom prst="roundRect">
            <a:avLst>
              <a:gd name="adj" fmla="val 3750"/>
            </a:avLst>
          </a:prstGeom>
          <a:solidFill>
            <a:srgbClr val="F4F4F6"/>
          </a:solidFill>
          <a:ln/>
        </p:spPr>
        <p:txBody>
          <a:bodyPr/>
          <a:lstStyle/>
          <a:p>
            <a:endParaRPr lang="ja-JP" altLang="en-US"/>
          </a:p>
        </p:txBody>
      </p:sp>
      <p:sp>
        <p:nvSpPr>
          <p:cNvPr id="8" name="Shape 6"/>
          <p:cNvSpPr/>
          <p:nvPr/>
        </p:nvSpPr>
        <p:spPr>
          <a:xfrm>
            <a:off x="1024128" y="2505456"/>
            <a:ext cx="128016" cy="128016"/>
          </a:xfrm>
          <a:prstGeom prst="rect">
            <a:avLst/>
          </a:prstGeom>
          <a:solidFill>
            <a:srgbClr val="9467BD"/>
          </a:solidFill>
          <a:ln/>
        </p:spPr>
        <p:txBody>
          <a:bodyPr/>
          <a:lstStyle/>
          <a:p>
            <a:endParaRPr lang="ja-JP" altLang="en-US"/>
          </a:p>
        </p:txBody>
      </p:sp>
      <p:sp>
        <p:nvSpPr>
          <p:cNvPr id="9" name="Text 7"/>
          <p:cNvSpPr/>
          <p:nvPr/>
        </p:nvSpPr>
        <p:spPr>
          <a:xfrm>
            <a:off x="1234440" y="239572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介入台帳 MODEL_INTERVENTIONS.md</a:t>
            </a:r>
            <a:endParaRPr lang="en-US" sz="1200" dirty="0"/>
          </a:p>
        </p:txBody>
      </p:sp>
      <p:sp>
        <p:nvSpPr>
          <p:cNvPr id="10" name="Text 8"/>
          <p:cNvSpPr/>
          <p:nvPr/>
        </p:nvSpPr>
        <p:spPr>
          <a:xfrm>
            <a:off x="1051560" y="2743200"/>
            <a:ext cx="4663440" cy="8961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最近傍発電機接続・合成需要配分・既定容量・成分別slack・</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刈り込み梯子…19機構すべてに根拠・台帳・OFFスイッチ</a:t>
            </a:r>
            <a:endParaRPr lang="en-US" sz="1000" dirty="0"/>
          </a:p>
        </p:txBody>
      </p:sp>
      <p:sp>
        <p:nvSpPr>
          <p:cNvPr id="11" name="Shape 9"/>
          <p:cNvSpPr/>
          <p:nvPr/>
        </p:nvSpPr>
        <p:spPr>
          <a:xfrm>
            <a:off x="822960" y="3886200"/>
            <a:ext cx="5120640" cy="1463040"/>
          </a:xfrm>
          <a:prstGeom prst="roundRect">
            <a:avLst>
              <a:gd name="adj" fmla="val 3750"/>
            </a:avLst>
          </a:prstGeom>
          <a:solidFill>
            <a:srgbClr val="F4F4F6"/>
          </a:solidFill>
          <a:ln/>
        </p:spPr>
        <p:txBody>
          <a:bodyPr/>
          <a:lstStyle/>
          <a:p>
            <a:endParaRPr lang="ja-JP" altLang="en-US"/>
          </a:p>
        </p:txBody>
      </p:sp>
      <p:sp>
        <p:nvSpPr>
          <p:cNvPr id="12" name="Shape 10"/>
          <p:cNvSpPr/>
          <p:nvPr/>
        </p:nvSpPr>
        <p:spPr>
          <a:xfrm>
            <a:off x="1024128" y="4105656"/>
            <a:ext cx="128016" cy="128016"/>
          </a:xfrm>
          <a:prstGeom prst="rect">
            <a:avLst/>
          </a:prstGeom>
          <a:solidFill>
            <a:srgbClr val="9467BD"/>
          </a:solidFill>
          <a:ln/>
        </p:spPr>
        <p:txBody>
          <a:bodyPr/>
          <a:lstStyle/>
          <a:p>
            <a:endParaRPr lang="ja-JP" altLang="en-US"/>
          </a:p>
        </p:txBody>
      </p:sp>
      <p:sp>
        <p:nvSpPr>
          <p:cNvPr id="13" name="Text 11"/>
          <p:cNvSpPr/>
          <p:nvPr/>
        </p:nvSpPr>
        <p:spPr>
          <a:xfrm>
            <a:off x="1234440" y="399592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fake-AC ガード</a:t>
            </a:r>
            <a:endParaRPr lang="en-US" sz="1200" dirty="0"/>
          </a:p>
        </p:txBody>
      </p:sp>
      <p:sp>
        <p:nvSpPr>
          <p:cNvPr id="14" name="Text 12"/>
          <p:cNvSpPr/>
          <p:nvPr/>
        </p:nvSpPr>
        <p:spPr>
          <a:xfrm>
            <a:off x="1051560" y="4343400"/>
            <a:ext cx="4663440" cy="89611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AC解は解前需要の95%以上を給電していなければ無効。</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served_frac を全結果JSONに同梱 — 収束≠正しさ</a:t>
            </a:r>
            <a:endParaRPr lang="en-US" sz="1000" dirty="0"/>
          </a:p>
        </p:txBody>
      </p:sp>
      <p:sp>
        <p:nvSpPr>
          <p:cNvPr id="15" name="Shape 13"/>
          <p:cNvSpPr/>
          <p:nvPr/>
        </p:nvSpPr>
        <p:spPr>
          <a:xfrm>
            <a:off x="6309360" y="2286000"/>
            <a:ext cx="5120640" cy="3063240"/>
          </a:xfrm>
          <a:prstGeom prst="roundRect">
            <a:avLst>
              <a:gd name="adj" fmla="val 1791"/>
            </a:avLst>
          </a:prstGeom>
          <a:solidFill>
            <a:srgbClr val="FFF3F3"/>
          </a:solidFill>
          <a:ln w="13970">
            <a:solidFill>
              <a:srgbClr val="C62828"/>
            </a:solidFill>
            <a:prstDash val="solid"/>
          </a:ln>
        </p:spPr>
        <p:txBody>
          <a:bodyPr/>
          <a:lstStyle/>
          <a:p>
            <a:endParaRPr lang="ja-JP" altLang="en-US"/>
          </a:p>
        </p:txBody>
      </p:sp>
      <p:sp>
        <p:nvSpPr>
          <p:cNvPr id="16" name="Text 14"/>
          <p:cNvSpPr/>
          <p:nvPr/>
        </p:nvSpPr>
        <p:spPr>
          <a:xfrm>
            <a:off x="6537960" y="2423160"/>
            <a:ext cx="4663440" cy="292608"/>
          </a:xfrm>
          <a:prstGeom prst="rect">
            <a:avLst/>
          </a:prstGeom>
          <a:noFill/>
          <a:ln/>
        </p:spPr>
        <p:txBody>
          <a:bodyPr wrap="square" lIns="0" tIns="0" rIns="0" bIns="0" rtlCol="0" anchor="ctr"/>
          <a:lstStyle/>
          <a:p>
            <a:pPr marL="0" indent="0">
              <a:buNone/>
            </a:pPr>
            <a:r>
              <a:rPr lang="en-US" sz="1300" b="1" dirty="0">
                <a:solidFill>
                  <a:srgbClr val="C62828"/>
                </a:solidFill>
                <a:latin typeface="Hiragino Sans" pitchFamily="34" charset="0"/>
                <a:ea typeface="Hiragino Sans" pitchFamily="34" charset="-122"/>
                <a:cs typeface="Hiragino Sans" pitchFamily="34" charset="-120"/>
              </a:rPr>
              <a:t>一番痛かった再解釈：東日本フルAC</a:t>
            </a:r>
            <a:endParaRPr lang="en-US" sz="1300" dirty="0"/>
          </a:p>
        </p:txBody>
      </p:sp>
      <p:sp>
        <p:nvSpPr>
          <p:cNvPr id="17" name="Text 15"/>
          <p:cNvSpPr/>
          <p:nvPr/>
        </p:nvSpPr>
        <p:spPr>
          <a:xfrm>
            <a:off x="6537960" y="2788920"/>
            <a:ext cx="4709160" cy="2103120"/>
          </a:xfrm>
          <a:prstGeom prst="rect">
            <a:avLst/>
          </a:prstGeom>
          <a:noFill/>
          <a:ln/>
        </p:spPr>
        <p:txBody>
          <a:bodyPr wrap="square" lIns="0" tIns="0" rIns="0" bIns="0" rtlCol="0" anchor="ctr"/>
          <a:lstStyle/>
          <a:p>
            <a:pPr marL="0" indent="0">
              <a:lnSpc>
                <a:spcPts val="1700"/>
              </a:lnSpc>
              <a:buNone/>
            </a:pPr>
            <a:r>
              <a:rPr lang="en-US" sz="1150" dirty="0">
                <a:solidFill>
                  <a:srgbClr val="1A1A1A"/>
                </a:solidFill>
                <a:latin typeface="Hiragino Sans" pitchFamily="34" charset="0"/>
                <a:ea typeface="Hiragino Sans" pitchFamily="34" charset="-122"/>
                <a:cs typeface="Hiragino Sans" pitchFamily="34" charset="-120"/>
              </a:rPr>
              <a:t>誇っていた「フルAC 99.0 % 給電」を7変種プローブで解体したら、bboxで誤配置された需要地理の上に立っていた。地理を正した時点ではフルACは解けず、dc_fallback と報告する側に倒した(この判断は第6幕でひっくり返る)。</a:t>
            </a:r>
            <a:endParaRPr lang="en-US" sz="1150" dirty="0"/>
          </a:p>
          <a:p>
            <a:pPr marL="0" indent="0">
              <a:lnSpc>
                <a:spcPts val="1700"/>
              </a:lnSpc>
              <a:buNone/>
            </a:pPr>
            <a:endParaRPr lang="en-US" sz="1150" dirty="0"/>
          </a:p>
          <a:p>
            <a:pPr marL="0" indent="0">
              <a:lnSpc>
                <a:spcPts val="1700"/>
              </a:lnSpc>
              <a:buNone/>
            </a:pPr>
            <a:r>
              <a:rPr lang="en-US" sz="1150" dirty="0">
                <a:solidFill>
                  <a:srgbClr val="1A1A1A"/>
                </a:solidFill>
                <a:latin typeface="Hiragino Sans" pitchFamily="34" charset="0"/>
                <a:ea typeface="Hiragino Sans" pitchFamily="34" charset="-122"/>
                <a:cs typeface="Hiragino Sans" pitchFamily="34" charset="-120"/>
              </a:rPr>
              <a:t>途中「復活した」と見えた解も、飛騨回廊に偶然2.3 GWのバラストを置く重み付けバグだった。出荷前に棄却。</a:t>
            </a:r>
            <a:endParaRPr lang="en-US" sz="1150" dirty="0"/>
          </a:p>
        </p:txBody>
      </p:sp>
      <p:sp>
        <p:nvSpPr>
          <p:cNvPr id="18" name="Text 16"/>
          <p:cNvSpPr/>
          <p:nvPr/>
        </p:nvSpPr>
        <p:spPr>
          <a:xfrm>
            <a:off x="6537960" y="4892040"/>
            <a:ext cx="4709160" cy="365760"/>
          </a:xfrm>
          <a:prstGeom prst="rect">
            <a:avLst/>
          </a:prstGeom>
          <a:noFill/>
          <a:ln/>
        </p:spPr>
        <p:txBody>
          <a:bodyPr wrap="square" lIns="0" tIns="0" rIns="0" bIns="0" rtlCol="0" anchor="ctr"/>
          <a:lstStyle/>
          <a:p>
            <a:pPr marL="0" indent="0">
              <a:buNone/>
            </a:pPr>
            <a:r>
              <a:rPr lang="en-US" sz="1150" b="1" dirty="0">
                <a:solidFill>
                  <a:srgbClr val="1E2761"/>
                </a:solidFill>
                <a:latin typeface="Hiragino Sans" pitchFamily="34" charset="0"/>
                <a:ea typeface="Hiragino Sans" pitchFamily="34" charset="-122"/>
                <a:cs typeface="Hiragino Sans" pitchFamily="34" charset="-120"/>
              </a:rPr>
              <a:t>結果を良くする変更より、結果を悪くする訂正の方が価値がある。</a:t>
            </a:r>
            <a:endParaRPr lang="en-US" sz="1150" dirty="0"/>
          </a:p>
        </p:txBody>
      </p:sp>
      <p:sp>
        <p:nvSpPr>
          <p:cNvPr id="19" name="Text 17"/>
          <p:cNvSpPr/>
          <p:nvPr/>
        </p:nvSpPr>
        <p:spPr>
          <a:xfrm>
            <a:off x="822960" y="5532120"/>
            <a:ext cx="10607040" cy="548640"/>
          </a:xfrm>
          <a:prstGeom prst="rect">
            <a:avLst/>
          </a:prstGeom>
          <a:noFill/>
          <a:ln/>
        </p:spPr>
        <p:txBody>
          <a:bodyPr wrap="square" lIns="0" tIns="0" rIns="0" bIns="0" rtlCol="0" anchor="ctr"/>
          <a:lstStyle/>
          <a:p>
            <a:pPr marL="0" indent="0">
              <a:lnSpc>
                <a:spcPts val="1600"/>
              </a:lnSpc>
              <a:buNone/>
            </a:pPr>
            <a:r>
              <a:rPr lang="en-US" sz="1150" dirty="0">
                <a:solidFill>
                  <a:srgbClr val="55555F"/>
                </a:solidFill>
                <a:latin typeface="Hiragino Sans" pitchFamily="34" charset="0"/>
                <a:ea typeface="Hiragino Sans" pitchFamily="34" charset="-122"/>
                <a:cs typeface="Hiragino Sans" pitchFamily="34" charset="-120"/>
              </a:rPr>
              <a:t>あわせて v1.5 で配布基盤も整備：自己完結バンドル（SHA256 MANIFEST）・pandapower/MATLAB両チュートリアルを実ダウンロード→新環境E2Eで検証してから公開。</a:t>
            </a:r>
            <a:endParaRPr lang="en-US" sz="1150" dirty="0"/>
          </a:p>
        </p:txBody>
      </p:sp>
      <p:sp>
        <p:nvSpPr>
          <p:cNvPr id="20" name="Text 1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2" name="Text 2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11</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9467BD"/>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第3幕 v1.6</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西日本 2,531成分の謎：バグは1つ、見え方は3つ</a:t>
            </a:r>
            <a:endParaRPr lang="en-US" sz="2100" dirty="0"/>
          </a:p>
        </p:txBody>
      </p:sp>
      <p:sp>
        <p:nvSpPr>
          <p:cNvPr id="5" name="Shape 3"/>
          <p:cNvSpPr/>
          <p:nvPr/>
        </p:nvSpPr>
        <p:spPr>
          <a:xfrm>
            <a:off x="822960" y="1188720"/>
            <a:ext cx="3383280" cy="1417320"/>
          </a:xfrm>
          <a:prstGeom prst="roundRect">
            <a:avLst>
              <a:gd name="adj" fmla="val 3871"/>
            </a:avLst>
          </a:prstGeom>
          <a:solidFill>
            <a:srgbClr val="F4F4F6"/>
          </a:solidFill>
          <a:ln/>
        </p:spPr>
        <p:txBody>
          <a:bodyPr/>
          <a:lstStyle/>
          <a:p>
            <a:endParaRPr lang="ja-JP" altLang="en-US"/>
          </a:p>
        </p:txBody>
      </p:sp>
      <p:sp>
        <p:nvSpPr>
          <p:cNvPr id="6" name="Text 4"/>
          <p:cNvSpPr/>
          <p:nvPr/>
        </p:nvSpPr>
        <p:spPr>
          <a:xfrm>
            <a:off x="1005840" y="1298448"/>
            <a:ext cx="3017520" cy="274320"/>
          </a:xfrm>
          <a:prstGeom prst="rect">
            <a:avLst/>
          </a:prstGeom>
          <a:noFill/>
          <a:ln/>
        </p:spPr>
        <p:txBody>
          <a:bodyPr wrap="square" lIns="0" tIns="0" rIns="0" bIns="0" rtlCol="0" anchor="ctr"/>
          <a:lstStyle/>
          <a:p>
            <a:pPr marL="0" indent="0">
              <a:buNone/>
            </a:pPr>
            <a:r>
              <a:rPr lang="en-US" sz="1250" b="1" dirty="0">
                <a:solidFill>
                  <a:srgbClr val="C62828"/>
                </a:solidFill>
                <a:latin typeface="Hiragino Sans" pitchFamily="34" charset="0"/>
                <a:ea typeface="Hiragino Sans" pitchFamily="34" charset="-122"/>
                <a:cs typeface="Hiragino Sans" pitchFamily="34" charset="-120"/>
              </a:rPr>
              <a:t>観測</a:t>
            </a:r>
            <a:endParaRPr lang="en-US" sz="1250" dirty="0"/>
          </a:p>
        </p:txBody>
      </p:sp>
      <p:sp>
        <p:nvSpPr>
          <p:cNvPr id="7" name="Text 5"/>
          <p:cNvSpPr/>
          <p:nvPr/>
        </p:nvSpPr>
        <p:spPr>
          <a:xfrm>
            <a:off x="10058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西日本が2,531の連結成分に割れる</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東西で損失が不自然に小さい</a:t>
            </a:r>
            <a:endParaRPr lang="en-US" sz="1050" dirty="0"/>
          </a:p>
        </p:txBody>
      </p:sp>
      <p:sp>
        <p:nvSpPr>
          <p:cNvPr id="8" name="Text 6"/>
          <p:cNvSpPr/>
          <p:nvPr/>
        </p:nvSpPr>
        <p:spPr>
          <a:xfrm>
            <a:off x="4187952" y="1691640"/>
            <a:ext cx="320040" cy="365760"/>
          </a:xfrm>
          <a:prstGeom prst="rect">
            <a:avLst/>
          </a:prstGeom>
          <a:noFill/>
          <a:ln/>
        </p:spPr>
        <p:txBody>
          <a:bodyPr wrap="square" lIns="0" tIns="0" rIns="0" bIns="0" rtlCol="0" anchor="ctr"/>
          <a:lstStyle/>
          <a:p>
            <a:pPr marL="0" indent="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9" name="Shape 7"/>
          <p:cNvSpPr/>
          <p:nvPr/>
        </p:nvSpPr>
        <p:spPr>
          <a:xfrm>
            <a:off x="4480560" y="1188720"/>
            <a:ext cx="3383280" cy="1417320"/>
          </a:xfrm>
          <a:prstGeom prst="roundRect">
            <a:avLst>
              <a:gd name="adj" fmla="val 3871"/>
            </a:avLst>
          </a:prstGeom>
          <a:solidFill>
            <a:srgbClr val="F4F4F6"/>
          </a:solidFill>
          <a:ln/>
        </p:spPr>
        <p:txBody>
          <a:bodyPr/>
          <a:lstStyle/>
          <a:p>
            <a:endParaRPr lang="ja-JP" altLang="en-US"/>
          </a:p>
        </p:txBody>
      </p:sp>
      <p:sp>
        <p:nvSpPr>
          <p:cNvPr id="10" name="Text 8"/>
          <p:cNvSpPr/>
          <p:nvPr/>
        </p:nvSpPr>
        <p:spPr>
          <a:xfrm>
            <a:off x="4663440" y="1298448"/>
            <a:ext cx="301752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根因</a:t>
            </a:r>
            <a:endParaRPr lang="en-US" sz="1250" dirty="0"/>
          </a:p>
        </p:txBody>
      </p:sp>
      <p:sp>
        <p:nvSpPr>
          <p:cNvPr id="11" name="Text 9"/>
          <p:cNvSpPr/>
          <p:nvPr/>
        </p:nvSpPr>
        <p:spPr>
          <a:xfrm>
            <a:off x="46634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地域bboxの重なりが同一設備を二重登録</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（同じosm_idが隣接2地域の抽出に載る）</a:t>
            </a:r>
            <a:endParaRPr lang="en-US" sz="1050" dirty="0"/>
          </a:p>
        </p:txBody>
      </p:sp>
      <p:sp>
        <p:nvSpPr>
          <p:cNvPr id="12" name="Text 10"/>
          <p:cNvSpPr/>
          <p:nvPr/>
        </p:nvSpPr>
        <p:spPr>
          <a:xfrm>
            <a:off x="7845552" y="1691640"/>
            <a:ext cx="320040" cy="365760"/>
          </a:xfrm>
          <a:prstGeom prst="rect">
            <a:avLst/>
          </a:prstGeom>
          <a:noFill/>
          <a:ln/>
        </p:spPr>
        <p:txBody>
          <a:bodyPr wrap="square" lIns="0" tIns="0" rIns="0" bIns="0" rtlCol="0" anchor="ctr"/>
          <a:lstStyle/>
          <a:p>
            <a:pPr marL="0" indent="0">
              <a:buNone/>
            </a:pPr>
            <a:r>
              <a:rPr lang="en-US" sz="1800" b="1" dirty="0">
                <a:solidFill>
                  <a:srgbClr val="55555F"/>
                </a:solidFill>
                <a:latin typeface="Helvetica Neue" pitchFamily="34" charset="0"/>
                <a:ea typeface="Helvetica Neue" pitchFamily="34" charset="-122"/>
                <a:cs typeface="Helvetica Neue" pitchFamily="34" charset="-120"/>
              </a:rPr>
              <a:t>→</a:t>
            </a:r>
            <a:endParaRPr lang="en-US" sz="1800" dirty="0"/>
          </a:p>
        </p:txBody>
      </p:sp>
      <p:sp>
        <p:nvSpPr>
          <p:cNvPr id="13" name="Shape 11"/>
          <p:cNvSpPr/>
          <p:nvPr/>
        </p:nvSpPr>
        <p:spPr>
          <a:xfrm>
            <a:off x="8138160" y="1188720"/>
            <a:ext cx="3383280" cy="1417320"/>
          </a:xfrm>
          <a:prstGeom prst="roundRect">
            <a:avLst>
              <a:gd name="adj" fmla="val 3871"/>
            </a:avLst>
          </a:prstGeom>
          <a:solidFill>
            <a:srgbClr val="F4F4F6"/>
          </a:solidFill>
          <a:ln/>
        </p:spPr>
        <p:txBody>
          <a:bodyPr/>
          <a:lstStyle/>
          <a:p>
            <a:endParaRPr lang="ja-JP" altLang="en-US"/>
          </a:p>
        </p:txBody>
      </p:sp>
      <p:sp>
        <p:nvSpPr>
          <p:cNvPr id="14" name="Text 12"/>
          <p:cNvSpPr/>
          <p:nvPr/>
        </p:nvSpPr>
        <p:spPr>
          <a:xfrm>
            <a:off x="8321040" y="1298448"/>
            <a:ext cx="3017520" cy="274320"/>
          </a:xfrm>
          <a:prstGeom prst="rect">
            <a:avLst/>
          </a:prstGeom>
          <a:noFill/>
          <a:ln/>
        </p:spPr>
        <p:txBody>
          <a:bodyPr wrap="square" lIns="0" tIns="0" rIns="0" bIns="0" rtlCol="0" anchor="ctr"/>
          <a:lstStyle/>
          <a:p>
            <a:pPr marL="0" indent="0">
              <a:buNone/>
            </a:pPr>
            <a:r>
              <a:rPr lang="en-US" sz="1250" b="1" dirty="0">
                <a:solidFill>
                  <a:srgbClr val="2E7D32"/>
                </a:solidFill>
                <a:latin typeface="Hiragino Sans" pitchFamily="34" charset="0"/>
                <a:ea typeface="Hiragino Sans" pitchFamily="34" charset="-122"/>
                <a:cs typeface="Hiragino Sans" pitchFamily="34" charset="-120"/>
              </a:rPr>
              <a:t>処置</a:t>
            </a:r>
            <a:endParaRPr lang="en-US" sz="1250" dirty="0"/>
          </a:p>
        </p:txBody>
      </p:sp>
      <p:sp>
        <p:nvSpPr>
          <p:cNvPr id="15" name="Text 13"/>
          <p:cNvSpPr/>
          <p:nvPr/>
        </p:nvSpPr>
        <p:spPr>
          <a:xfrm>
            <a:off x="8321040" y="1609344"/>
            <a:ext cx="3063240" cy="914400"/>
          </a:xfrm>
          <a:prstGeom prst="rect">
            <a:avLst/>
          </a:prstGeom>
          <a:noFill/>
          <a:ln/>
        </p:spPr>
        <p:txBody>
          <a:bodyPr wrap="square" lIns="0" tIns="0" rIns="0" bIns="0" rtlCol="0" anchor="ctr"/>
          <a:lstStyle/>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座標+電圧の同一ノード・同経路の同一枝を統合</a:t>
            </a:r>
            <a:endParaRPr lang="en-US" sz="1050" dirty="0"/>
          </a:p>
          <a:p>
            <a:pPr marL="0" indent="0">
              <a:lnSpc>
                <a:spcPts val="1500"/>
              </a:lnSpc>
              <a:buNone/>
            </a:pPr>
            <a:r>
              <a:rPr lang="en-US" sz="1050" dirty="0">
                <a:solidFill>
                  <a:srgbClr val="1A1A1A"/>
                </a:solidFill>
                <a:latin typeface="Hiragino Sans" pitchFamily="34" charset="0"/>
                <a:ea typeface="Hiragino Sans" pitchFamily="34" charset="-122"/>
                <a:cs typeface="Hiragino Sans" pitchFamily="34" charset="-120"/>
              </a:rPr>
              <a:t>（実並列回線 par&gt;1 の8,898本は無傷）</a:t>
            </a:r>
            <a:endParaRPr lang="en-US" sz="1050" dirty="0"/>
          </a:p>
        </p:txBody>
      </p:sp>
      <p:sp>
        <p:nvSpPr>
          <p:cNvPr id="16" name="Shape 14"/>
          <p:cNvSpPr/>
          <p:nvPr/>
        </p:nvSpPr>
        <p:spPr>
          <a:xfrm>
            <a:off x="822960" y="2880360"/>
            <a:ext cx="3383280" cy="1143000"/>
          </a:xfrm>
          <a:prstGeom prst="roundRect">
            <a:avLst>
              <a:gd name="adj" fmla="val 4800"/>
            </a:avLst>
          </a:prstGeom>
          <a:solidFill>
            <a:srgbClr val="F4F4F6"/>
          </a:solidFill>
          <a:ln/>
        </p:spPr>
        <p:txBody>
          <a:bodyPr/>
          <a:lstStyle/>
          <a:p>
            <a:endParaRPr lang="ja-JP" altLang="en-US"/>
          </a:p>
        </p:txBody>
      </p:sp>
      <p:sp>
        <p:nvSpPr>
          <p:cNvPr id="17" name="Text 15"/>
          <p:cNvSpPr/>
          <p:nvPr/>
        </p:nvSpPr>
        <p:spPr>
          <a:xfrm>
            <a:off x="822960" y="2953512"/>
            <a:ext cx="33832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2,531 → 544</a:t>
            </a:r>
            <a:endParaRPr lang="en-US" sz="2600" dirty="0"/>
          </a:p>
        </p:txBody>
      </p:sp>
      <p:sp>
        <p:nvSpPr>
          <p:cNvPr id="18" name="Text 16"/>
          <p:cNvSpPr/>
          <p:nvPr/>
        </p:nvSpPr>
        <p:spPr>
          <a:xfrm>
            <a:off x="91440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西日本の連結成分数</a:t>
            </a:r>
            <a:endParaRPr lang="en-US" sz="1050" dirty="0"/>
          </a:p>
        </p:txBody>
      </p:sp>
      <p:sp>
        <p:nvSpPr>
          <p:cNvPr id="19" name="Text 17"/>
          <p:cNvSpPr/>
          <p:nvPr/>
        </p:nvSpPr>
        <p:spPr>
          <a:xfrm>
            <a:off x="91440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0" name="Shape 18"/>
          <p:cNvSpPr/>
          <p:nvPr/>
        </p:nvSpPr>
        <p:spPr>
          <a:xfrm>
            <a:off x="4434840" y="2880360"/>
            <a:ext cx="3383280" cy="1143000"/>
          </a:xfrm>
          <a:prstGeom prst="roundRect">
            <a:avLst>
              <a:gd name="adj" fmla="val 4800"/>
            </a:avLst>
          </a:prstGeom>
          <a:solidFill>
            <a:srgbClr val="F4F4F6"/>
          </a:solidFill>
          <a:ln/>
        </p:spPr>
        <p:txBody>
          <a:bodyPr/>
          <a:lstStyle/>
          <a:p>
            <a:endParaRPr lang="ja-JP" altLang="en-US"/>
          </a:p>
        </p:txBody>
      </p:sp>
      <p:sp>
        <p:nvSpPr>
          <p:cNvPr id="21" name="Text 19"/>
          <p:cNvSpPr/>
          <p:nvPr/>
        </p:nvSpPr>
        <p:spPr>
          <a:xfrm>
            <a:off x="4434840" y="2953512"/>
            <a:ext cx="33832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9,793 → 8,353</a:t>
            </a:r>
            <a:endParaRPr lang="en-US" sz="2600" dirty="0"/>
          </a:p>
        </p:txBody>
      </p:sp>
      <p:sp>
        <p:nvSpPr>
          <p:cNvPr id="22" name="Text 20"/>
          <p:cNvSpPr/>
          <p:nvPr/>
        </p:nvSpPr>
        <p:spPr>
          <a:xfrm>
            <a:off x="452628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西日本の線数（二重計上の解消）</a:t>
            </a:r>
            <a:endParaRPr lang="en-US" sz="1050" dirty="0"/>
          </a:p>
        </p:txBody>
      </p:sp>
      <p:sp>
        <p:nvSpPr>
          <p:cNvPr id="23" name="Text 21"/>
          <p:cNvSpPr/>
          <p:nvPr/>
        </p:nvSpPr>
        <p:spPr>
          <a:xfrm>
            <a:off x="452628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 dedup 前→後</a:t>
            </a:r>
            <a:endParaRPr lang="en-US" sz="850" dirty="0"/>
          </a:p>
        </p:txBody>
      </p:sp>
      <p:sp>
        <p:nvSpPr>
          <p:cNvPr id="24" name="Shape 22"/>
          <p:cNvSpPr/>
          <p:nvPr/>
        </p:nvSpPr>
        <p:spPr>
          <a:xfrm>
            <a:off x="8046720" y="2880360"/>
            <a:ext cx="3383280" cy="1143000"/>
          </a:xfrm>
          <a:prstGeom prst="roundRect">
            <a:avLst>
              <a:gd name="adj" fmla="val 4800"/>
            </a:avLst>
          </a:prstGeom>
          <a:solidFill>
            <a:srgbClr val="F4F4F6"/>
          </a:solidFill>
          <a:ln/>
        </p:spPr>
        <p:txBody>
          <a:bodyPr/>
          <a:lstStyle/>
          <a:p>
            <a:endParaRPr lang="ja-JP" altLang="en-US"/>
          </a:p>
        </p:txBody>
      </p:sp>
      <p:sp>
        <p:nvSpPr>
          <p:cNvPr id="25" name="Text 23"/>
          <p:cNvSpPr/>
          <p:nvPr/>
        </p:nvSpPr>
        <p:spPr>
          <a:xfrm>
            <a:off x="8046720" y="2953512"/>
            <a:ext cx="3383280" cy="502920"/>
          </a:xfrm>
          <a:prstGeom prst="rect">
            <a:avLst/>
          </a:prstGeom>
          <a:noFill/>
          <a:ln/>
        </p:spPr>
        <p:txBody>
          <a:bodyPr wrap="square" lIns="0" tIns="0" rIns="0" bIns="0" rtlCol="0" anchor="ctr"/>
          <a:lstStyle/>
          <a:p>
            <a:pPr marL="0" indent="0" algn="ctr">
              <a:buNone/>
            </a:pPr>
            <a:r>
              <a:rPr lang="en-US" sz="2600" b="1" dirty="0">
                <a:solidFill>
                  <a:srgbClr val="C62828"/>
                </a:solidFill>
                <a:latin typeface="Helvetica Neue" pitchFamily="34" charset="0"/>
                <a:ea typeface="Helvetica Neue" pitchFamily="34" charset="-122"/>
                <a:cs typeface="Helvetica Neue" pitchFamily="34" charset="-120"/>
              </a:rPr>
              <a:t>+5.7 %</a:t>
            </a:r>
            <a:endParaRPr lang="en-US" sz="2600" dirty="0"/>
          </a:p>
        </p:txBody>
      </p:sp>
      <p:sp>
        <p:nvSpPr>
          <p:cNvPr id="26" name="Text 24"/>
          <p:cNvSpPr/>
          <p:nvPr/>
        </p:nvSpPr>
        <p:spPr>
          <a:xfrm>
            <a:off x="8138160" y="3456432"/>
            <a:ext cx="32004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東日本AC損失（増える＝正しくなる）</a:t>
            </a:r>
            <a:endParaRPr lang="en-US" sz="1050" dirty="0"/>
          </a:p>
        </p:txBody>
      </p:sp>
      <p:sp>
        <p:nvSpPr>
          <p:cNvPr id="27" name="Text 25"/>
          <p:cNvSpPr/>
          <p:nvPr/>
        </p:nvSpPr>
        <p:spPr>
          <a:xfrm>
            <a:off x="8138160" y="3749040"/>
            <a:ext cx="32004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v1.6：人工的な半減の解消</a:t>
            </a:r>
            <a:endParaRPr lang="en-US" sz="850" dirty="0"/>
          </a:p>
        </p:txBody>
      </p:sp>
      <p:sp>
        <p:nvSpPr>
          <p:cNvPr id="28" name="Text 26"/>
          <p:cNvSpPr/>
          <p:nvPr/>
        </p:nvSpPr>
        <p:spPr>
          <a:xfrm>
            <a:off x="822960" y="420624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Hiragino Sans" pitchFamily="34" charset="0"/>
                <a:ea typeface="Hiragino Sans" pitchFamily="34" charset="-122"/>
                <a:cs typeface="Hiragino Sans" pitchFamily="34" charset="-120"/>
              </a:rPr>
              <a:t>損失が増えるのは劣化ではない。二重登録がインピーダンスを実効的に半減させていた — その訂正である。既定ONへの昇格は4島のbefore/afterプローブと44ゲートで判定してから。</a:t>
            </a:r>
            <a:endParaRPr lang="en-US" sz="1200" dirty="0"/>
          </a:p>
        </p:txBody>
      </p:sp>
      <p:sp>
        <p:nvSpPr>
          <p:cNvPr id="29" name="Shape 27"/>
          <p:cNvSpPr/>
          <p:nvPr/>
        </p:nvSpPr>
        <p:spPr>
          <a:xfrm>
            <a:off x="822960" y="4892040"/>
            <a:ext cx="10607040" cy="1097280"/>
          </a:xfrm>
          <a:prstGeom prst="roundRect">
            <a:avLst>
              <a:gd name="adj" fmla="val 5000"/>
            </a:avLst>
          </a:prstGeom>
          <a:solidFill>
            <a:srgbClr val="F7F7F2"/>
          </a:solidFill>
          <a:ln/>
        </p:spPr>
        <p:txBody>
          <a:bodyPr/>
          <a:lstStyle/>
          <a:p>
            <a:endParaRPr lang="ja-JP" altLang="en-US"/>
          </a:p>
        </p:txBody>
      </p:sp>
      <p:sp>
        <p:nvSpPr>
          <p:cNvPr id="30" name="Text 28"/>
          <p:cNvSpPr/>
          <p:nvPr/>
        </p:nvSpPr>
        <p:spPr>
          <a:xfrm>
            <a:off x="1051560" y="4892040"/>
            <a:ext cx="10149840" cy="1097280"/>
          </a:xfrm>
          <a:prstGeom prst="rect">
            <a:avLst/>
          </a:prstGeom>
          <a:noFill/>
          <a:ln/>
        </p:spPr>
        <p:txBody>
          <a:bodyPr wrap="square" lIns="0" tIns="0" rIns="0" bIns="0" rtlCol="0" anchor="ctr"/>
          <a:lstStyle/>
          <a:p>
            <a:pPr marL="0" indent="0">
              <a:lnSpc>
                <a:spcPts val="1700"/>
              </a:lnSpc>
              <a:buNone/>
            </a:pPr>
            <a:r>
              <a:rPr lang="en-US" sz="1150" b="1" dirty="0">
                <a:solidFill>
                  <a:srgbClr val="1A1A1A"/>
                </a:solidFill>
                <a:latin typeface="Hiragino Sans" pitchFamily="34" charset="0"/>
                <a:ea typeface="Hiragino Sans" pitchFamily="34" charset="-122"/>
                <a:cs typeface="Hiragino Sans" pitchFamily="34" charset="-120"/>
              </a:rPr>
              <a:t>方法論として一般化して公開　</a:t>
            </a:r>
            <a:r>
              <a:rPr lang="en-US" sz="1150" dirty="0">
                <a:solidFill>
                  <a:srgbClr val="1A1A1A"/>
                </a:solidFill>
                <a:latin typeface="Hiragino Sans" pitchFamily="34" charset="0"/>
                <a:ea typeface="Hiragino Sans" pitchFamily="34" charset="-122"/>
                <a:cs typeface="Hiragino Sans" pitchFamily="34" charset="-120"/>
              </a:rPr>
              <a:t>OSM由来系統モデルの落とし穴4クラス／診断手法5種（変種プローブ・プロセス分離・served_fracガード・DC角トリアージ・不変量比較）／他プロジェクト向け12項目チェックリスト — 負の結果も記録</a:t>
            </a:r>
            <a:endParaRPr lang="en-US" sz="1150" dirty="0"/>
          </a:p>
        </p:txBody>
      </p:sp>
      <p:sp>
        <p:nvSpPr>
          <p:cNvPr id="31" name="Text 2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2" name="Text 3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33" name="Text 3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12</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FF7F0E"/>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第4幕 v1.7</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公式開示と接続する：開示データは「上書き」ではなく「照合」</a:t>
            </a:r>
            <a:endParaRPr lang="en-US" sz="2100" dirty="0"/>
          </a:p>
        </p:txBody>
      </p:sp>
      <p:sp>
        <p:nvSpPr>
          <p:cNvPr id="5" name="Shape 3"/>
          <p:cNvSpPr/>
          <p:nvPr/>
        </p:nvSpPr>
        <p:spPr>
          <a:xfrm>
            <a:off x="822960" y="1188720"/>
            <a:ext cx="5120640" cy="1325880"/>
          </a:xfrm>
          <a:prstGeom prst="roundRect">
            <a:avLst>
              <a:gd name="adj" fmla="val 4138"/>
            </a:avLst>
          </a:prstGeom>
          <a:solidFill>
            <a:srgbClr val="F4F4F6"/>
          </a:solidFill>
          <a:ln/>
        </p:spPr>
        <p:txBody>
          <a:bodyPr/>
          <a:lstStyle/>
          <a:p>
            <a:endParaRPr lang="ja-JP" altLang="en-US"/>
          </a:p>
        </p:txBody>
      </p:sp>
      <p:sp>
        <p:nvSpPr>
          <p:cNvPr id="6" name="Shape 4"/>
          <p:cNvSpPr/>
          <p:nvPr/>
        </p:nvSpPr>
        <p:spPr>
          <a:xfrm>
            <a:off x="1024128" y="1408176"/>
            <a:ext cx="128016" cy="128016"/>
          </a:xfrm>
          <a:prstGeom prst="rect">
            <a:avLst/>
          </a:prstGeom>
          <a:solidFill>
            <a:srgbClr val="FF7F0E"/>
          </a:solidFill>
          <a:ln/>
        </p:spPr>
        <p:txBody>
          <a:bodyPr/>
          <a:lstStyle/>
          <a:p>
            <a:endParaRPr lang="ja-JP" altLang="en-US"/>
          </a:p>
        </p:txBody>
      </p:sp>
      <p:sp>
        <p:nvSpPr>
          <p:cNvPr id="7" name="Text 5"/>
          <p:cNvSpPr/>
          <p:nvPr/>
        </p:nvSpPr>
        <p:spPr>
          <a:xfrm>
            <a:off x="1234440" y="1298448"/>
            <a:ext cx="4663440" cy="320040"/>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様式5 インピーダンス表（全10 TSO）</a:t>
            </a:r>
            <a:endParaRPr lang="en-US" sz="1300" dirty="0"/>
          </a:p>
        </p:txBody>
      </p:sp>
      <p:sp>
        <p:nvSpPr>
          <p:cNvPr id="8" name="Text 6"/>
          <p:cNvSpPr/>
          <p:nvPr/>
        </p:nvSpPr>
        <p:spPr>
          <a:xfrm>
            <a:off x="1051560" y="1645920"/>
            <a:ext cx="4663440" cy="758952"/>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1,009線・213変圧器を正規化し、実証接続89本を canon に適用。</a:t>
            </a:r>
            <a:endParaRPr lang="en-US" sz="1100" dirty="0"/>
          </a:p>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再生成のたびに再適用されるパイプライン段として組込（黙って消えない）</a:t>
            </a:r>
            <a:endParaRPr lang="en-US" sz="1100" dirty="0"/>
          </a:p>
        </p:txBody>
      </p:sp>
      <p:sp>
        <p:nvSpPr>
          <p:cNvPr id="9" name="Shape 7"/>
          <p:cNvSpPr/>
          <p:nvPr/>
        </p:nvSpPr>
        <p:spPr>
          <a:xfrm>
            <a:off x="822960" y="2697480"/>
            <a:ext cx="5120640" cy="1325880"/>
          </a:xfrm>
          <a:prstGeom prst="roundRect">
            <a:avLst>
              <a:gd name="adj" fmla="val 4138"/>
            </a:avLst>
          </a:prstGeom>
          <a:solidFill>
            <a:srgbClr val="F4F4F6"/>
          </a:solidFill>
          <a:ln/>
        </p:spPr>
        <p:txBody>
          <a:bodyPr/>
          <a:lstStyle/>
          <a:p>
            <a:endParaRPr lang="ja-JP" altLang="en-US"/>
          </a:p>
        </p:txBody>
      </p:sp>
      <p:sp>
        <p:nvSpPr>
          <p:cNvPr id="10" name="Shape 8"/>
          <p:cNvSpPr/>
          <p:nvPr/>
        </p:nvSpPr>
        <p:spPr>
          <a:xfrm>
            <a:off x="1024128" y="2916936"/>
            <a:ext cx="128016" cy="128016"/>
          </a:xfrm>
          <a:prstGeom prst="rect">
            <a:avLst/>
          </a:prstGeom>
          <a:solidFill>
            <a:srgbClr val="FF7F0E"/>
          </a:solidFill>
          <a:ln/>
        </p:spPr>
        <p:txBody>
          <a:bodyPr/>
          <a:lstStyle/>
          <a:p>
            <a:endParaRPr lang="ja-JP" altLang="en-US"/>
          </a:p>
        </p:txBody>
      </p:sp>
      <p:sp>
        <p:nvSpPr>
          <p:cNvPr id="11" name="Text 9"/>
          <p:cNvSpPr/>
          <p:nvPr/>
        </p:nvSpPr>
        <p:spPr>
          <a:xfrm>
            <a:off x="1234440" y="2807208"/>
            <a:ext cx="4663440" cy="320040"/>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EGGC：証拠ゲート付きの線形照合</a:t>
            </a:r>
            <a:endParaRPr lang="en-US" sz="1300" dirty="0"/>
          </a:p>
        </p:txBody>
      </p:sp>
      <p:sp>
        <p:nvSpPr>
          <p:cNvPr id="12" name="Text 10"/>
          <p:cNvSpPr/>
          <p:nvPr/>
        </p:nvSpPr>
        <p:spPr>
          <a:xfrm>
            <a:off x="1051560" y="3154680"/>
            <a:ext cx="4663440" cy="758952"/>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開示コードがOSM実線形に吸着するのは「断片＝開示線そのもの」</a:t>
            </a:r>
            <a:endParaRPr lang="en-US" sz="1100" dirty="0"/>
          </a:p>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（off-main比 ≥ 0.7）のときだけ。幾何の捏造なし・14本を台帳化</a:t>
            </a:r>
            <a:endParaRPr lang="en-US" sz="1100" dirty="0"/>
          </a:p>
        </p:txBody>
      </p:sp>
      <p:sp>
        <p:nvSpPr>
          <p:cNvPr id="13" name="Shape 11"/>
          <p:cNvSpPr/>
          <p:nvPr/>
        </p:nvSpPr>
        <p:spPr>
          <a:xfrm>
            <a:off x="822960" y="4206240"/>
            <a:ext cx="5120640" cy="1325880"/>
          </a:xfrm>
          <a:prstGeom prst="roundRect">
            <a:avLst>
              <a:gd name="adj" fmla="val 4138"/>
            </a:avLst>
          </a:prstGeom>
          <a:solidFill>
            <a:srgbClr val="F4F4F6"/>
          </a:solidFill>
          <a:ln/>
        </p:spPr>
        <p:txBody>
          <a:bodyPr/>
          <a:lstStyle/>
          <a:p>
            <a:endParaRPr lang="ja-JP" altLang="en-US"/>
          </a:p>
        </p:txBody>
      </p:sp>
      <p:sp>
        <p:nvSpPr>
          <p:cNvPr id="14" name="Shape 12"/>
          <p:cNvSpPr/>
          <p:nvPr/>
        </p:nvSpPr>
        <p:spPr>
          <a:xfrm>
            <a:off x="1024128" y="4425696"/>
            <a:ext cx="128016" cy="128016"/>
          </a:xfrm>
          <a:prstGeom prst="rect">
            <a:avLst/>
          </a:prstGeom>
          <a:solidFill>
            <a:srgbClr val="C62828"/>
          </a:solidFill>
          <a:ln/>
        </p:spPr>
        <p:txBody>
          <a:bodyPr/>
          <a:lstStyle/>
          <a:p>
            <a:endParaRPr lang="ja-JP" altLang="en-US"/>
          </a:p>
        </p:txBody>
      </p:sp>
      <p:sp>
        <p:nvSpPr>
          <p:cNvPr id="15" name="Text 13"/>
          <p:cNvSpPr/>
          <p:nvPr/>
        </p:nvSpPr>
        <p:spPr>
          <a:xfrm>
            <a:off x="1234440" y="4315968"/>
            <a:ext cx="466344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UC定式の訂正</a:t>
            </a:r>
            <a:endParaRPr lang="en-US" sz="1200" dirty="0"/>
          </a:p>
        </p:txBody>
      </p:sp>
      <p:sp>
        <p:nvSpPr>
          <p:cNvPr id="16" name="Text 14"/>
          <p:cNvSpPr/>
          <p:nvPr/>
        </p:nvSpPr>
        <p:spPr>
          <a:xfrm>
            <a:off x="1051560" y="4663440"/>
            <a:ext cx="466344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地域収支が不等式で「余剰のタダ捨て」を許していた → 等式＋</a:t>
            </a:r>
            <a:endParaRPr lang="en-US" sz="1000" dirty="0"/>
          </a:p>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明示スピル変数に。九州の幻の5.7 GW発電と関門2倍違反が消えた</a:t>
            </a:r>
            <a:endParaRPr lang="en-US" sz="1000" dirty="0"/>
          </a:p>
        </p:txBody>
      </p:sp>
      <p:sp>
        <p:nvSpPr>
          <p:cNvPr id="17" name="Shape 15"/>
          <p:cNvSpPr/>
          <p:nvPr/>
        </p:nvSpPr>
        <p:spPr>
          <a:xfrm>
            <a:off x="6309360" y="1188720"/>
            <a:ext cx="5120640" cy="3337560"/>
          </a:xfrm>
          <a:prstGeom prst="roundRect">
            <a:avLst>
              <a:gd name="adj" fmla="val 1644"/>
            </a:avLst>
          </a:prstGeom>
          <a:solidFill>
            <a:srgbClr val="F4F4F6"/>
          </a:solidFill>
          <a:ln/>
        </p:spPr>
        <p:txBody>
          <a:bodyPr/>
          <a:lstStyle/>
          <a:p>
            <a:endParaRPr lang="ja-JP" altLang="en-US"/>
          </a:p>
        </p:txBody>
      </p:sp>
      <p:sp>
        <p:nvSpPr>
          <p:cNvPr id="18" name="Text 16"/>
          <p:cNvSpPr/>
          <p:nvPr/>
        </p:nvSpPr>
        <p:spPr>
          <a:xfrm>
            <a:off x="6537960" y="1325880"/>
            <a:ext cx="4754880" cy="32004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連系線を一次資料で引き直す（OCCTO公表28レコード）</a:t>
            </a:r>
            <a:endParaRPr lang="en-US" sz="1250" dirty="0"/>
          </a:p>
        </p:txBody>
      </p:sp>
      <p:sp>
        <p:nvSpPr>
          <p:cNvPr id="19" name="Text 17"/>
          <p:cNvSpPr/>
          <p:nvPr/>
        </p:nvSpPr>
        <p:spPr>
          <a:xfrm>
            <a:off x="6537960" y="1783080"/>
            <a:ext cx="4709160" cy="2651760"/>
          </a:xfrm>
          <a:prstGeom prst="rect">
            <a:avLst/>
          </a:prstGeom>
          <a:noFill/>
          <a:ln/>
        </p:spPr>
        <p:txBody>
          <a:bodyPr wrap="square" lIns="0" tIns="0" rIns="0" bIns="0" rtlCol="0" anchor="t"/>
          <a:lstStyle/>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関門：対称2,780 MW → 方向別 850 / 2,850 MW（順方向を3.3倍過大評価していた）</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南福光はBTB直流300 MW — ACスルーで575–1,210 MW流れていた母線を分割</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OCCTO直線の合成連系線7本は実形と二重計上 → in_service=False で退役</a:t>
            </a:r>
            <a:endParaRPr lang="en-US" sz="1150" dirty="0"/>
          </a:p>
          <a:p>
            <a:pPr marL="152400" indent="-152400">
              <a:lnSpc>
                <a:spcPts val="1600"/>
              </a:lnSpc>
              <a:buSzPct val="100000"/>
              <a:buChar char="•"/>
            </a:pPr>
            <a:r>
              <a:rPr lang="en-US" sz="1150" dirty="0">
                <a:solidFill>
                  <a:srgbClr val="1A1A1A"/>
                </a:solidFill>
                <a:latin typeface="Hiragino Sans" pitchFamily="34" charset="0"/>
                <a:ea typeface="Hiragino Sans" pitchFamily="34" charset="-122"/>
                <a:cs typeface="Hiragino Sans" pitchFamily="34" charset="-120"/>
              </a:rPr>
              <a:t>阿南紀北直流幹線に実OSM線形（海底46 km＋架空50.6 km）</a:t>
            </a:r>
            <a:endParaRPr lang="en-US" sz="1150" dirty="0"/>
          </a:p>
        </p:txBody>
      </p:sp>
      <p:sp>
        <p:nvSpPr>
          <p:cNvPr id="20" name="Shape 18"/>
          <p:cNvSpPr/>
          <p:nvPr/>
        </p:nvSpPr>
        <p:spPr>
          <a:xfrm>
            <a:off x="6309360" y="4663440"/>
            <a:ext cx="5120640" cy="1600200"/>
          </a:xfrm>
          <a:prstGeom prst="roundRect">
            <a:avLst>
              <a:gd name="adj" fmla="val 3429"/>
            </a:avLst>
          </a:prstGeom>
          <a:solidFill>
            <a:srgbClr val="FFFFFF"/>
          </a:solidFill>
          <a:ln w="15240">
            <a:solidFill>
              <a:srgbClr val="1E2761"/>
            </a:solidFill>
            <a:prstDash val="solid"/>
          </a:ln>
        </p:spPr>
        <p:txBody>
          <a:bodyPr/>
          <a:lstStyle/>
          <a:p>
            <a:endParaRPr lang="ja-JP" altLang="en-US"/>
          </a:p>
        </p:txBody>
      </p:sp>
      <p:sp>
        <p:nvSpPr>
          <p:cNvPr id="21" name="Text 19"/>
          <p:cNvSpPr/>
          <p:nvPr/>
        </p:nvSpPr>
        <p:spPr>
          <a:xfrm>
            <a:off x="6537960" y="4800600"/>
            <a:ext cx="4754880" cy="274320"/>
          </a:xfrm>
          <a:prstGeom prst="rect">
            <a:avLst/>
          </a:prstGeom>
          <a:noFill/>
          <a:ln/>
        </p:spPr>
        <p:txBody>
          <a:bodyPr wrap="square" lIns="0" tIns="0" rIns="0" bIns="0" rtlCol="0" anchor="ctr"/>
          <a:lstStyle/>
          <a:p>
            <a:pPr marL="0" indent="0">
              <a:buNone/>
            </a:pPr>
            <a:r>
              <a:rPr lang="en-US" sz="1250" b="1" dirty="0">
                <a:solidFill>
                  <a:srgbClr val="1E2761"/>
                </a:solidFill>
                <a:latin typeface="Hiragino Sans" pitchFamily="34" charset="0"/>
                <a:ea typeface="Hiragino Sans" pitchFamily="34" charset="-122"/>
                <a:cs typeface="Hiragino Sans" pitchFamily="34" charset="-120"/>
              </a:rPr>
              <a:t>容量の出典主義</a:t>
            </a:r>
            <a:endParaRPr lang="en-US" sz="1250" dirty="0"/>
          </a:p>
        </p:txBody>
      </p:sp>
      <p:sp>
        <p:nvSpPr>
          <p:cNvPr id="22" name="Text 20"/>
          <p:cNvSpPr/>
          <p:nvPr/>
        </p:nvSpPr>
        <p:spPr>
          <a:xfrm>
            <a:off x="6537960" y="5120640"/>
            <a:ext cx="4754880" cy="1051560"/>
          </a:xfrm>
          <a:prstGeom prst="rect">
            <a:avLst/>
          </a:prstGeom>
          <a:noFill/>
          <a:ln/>
        </p:spPr>
        <p:txBody>
          <a:bodyPr wrap="square" lIns="0" tIns="0" rIns="0" bIns="0" rtlCol="0" anchor="ctr"/>
          <a:lstStyle/>
          <a:p>
            <a:pPr marL="0" indent="0">
              <a:lnSpc>
                <a:spcPts val="1600"/>
              </a:lnSpc>
              <a:buNone/>
            </a:pPr>
            <a:r>
              <a:rPr lang="en-US" sz="1150" dirty="0">
                <a:solidFill>
                  <a:srgbClr val="1A1A1A"/>
                </a:solidFill>
                <a:latin typeface="Hiragino Sans" pitchFamily="34" charset="0"/>
                <a:ea typeface="Hiragino Sans" pitchFamily="34" charset="-122"/>
                <a:cs typeface="Hiragino Sans" pitchFamily="34" charset="-120"/>
              </a:rPr>
              <a:t>発電容量・変圧器銘板・連系線容量はすべて「出典URL＋原文引用つきレコード」の provenance DB 経由でだけモデルに入る。出典が無い値は既定値のまま、既定値と明記される。</a:t>
            </a:r>
            <a:endParaRPr lang="en-US" sz="11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13</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flow_map_demo.gif">
            <a:hlinkClick r:id="" action="ppaction://media"/>
            <a:extLst>
              <a:ext uri="{FF2B5EF4-FFF2-40B4-BE49-F238E27FC236}">
                <a16:creationId xmlns:a16="http://schemas.microsoft.com/office/drawing/2014/main" id="{5E2F81F8-61D5-8AF4-679A-D83087D961E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4800" y="838200"/>
            <a:ext cx="8026400" cy="5461000"/>
          </a:xfrm>
          <a:prstGeom prst="rect">
            <a:avLst/>
          </a:prstGeom>
        </p:spPr>
      </p:pic>
      <p:sp>
        <p:nvSpPr>
          <p:cNvPr id="3" name="Text 3">
            <a:extLst>
              <a:ext uri="{FF2B5EF4-FFF2-40B4-BE49-F238E27FC236}">
                <a16:creationId xmlns:a16="http://schemas.microsoft.com/office/drawing/2014/main" id="{F4B5F80A-6486-9723-3545-7EAA8F89C56B}"/>
              </a:ext>
            </a:extLst>
          </p:cNvPr>
          <p:cNvSpPr/>
          <p:nvPr/>
        </p:nvSpPr>
        <p:spPr>
          <a:xfrm>
            <a:off x="8763000" y="6070600"/>
            <a:ext cx="3124200" cy="431800"/>
          </a:xfrm>
          <a:prstGeom prst="rect">
            <a:avLst/>
          </a:prstGeom>
          <a:noFill/>
          <a:ln/>
        </p:spPr>
        <p:txBody>
          <a:bodyPr wrap="square" lIns="0" tIns="0" rIns="0" bIns="0" rtlCol="0" anchor="ctr"/>
          <a:lstStyle/>
          <a:p>
            <a:pPr marL="0" indent="0" algn="l">
              <a:lnSpc>
                <a:spcPct val="115000"/>
              </a:lnSpc>
              <a:buNone/>
            </a:pPr>
            <a:r>
              <a:rPr lang="ja-JP" altLang="en-US" sz="1100" b="0" i="0" dirty="0">
                <a:solidFill>
                  <a:srgbClr val="6B7280"/>
                </a:solidFill>
              </a:rPr>
              <a:t>flow_map.html — 24時間ノード潮流・方向つきアニメーション（スライドショーで再生）</a:t>
            </a:r>
          </a:p>
        </p:txBody>
      </p:sp>
      <p:sp>
        <p:nvSpPr>
          <p:cNvPr id="4" name="Shape 4">
            <a:extLst>
              <a:ext uri="{FF2B5EF4-FFF2-40B4-BE49-F238E27FC236}">
                <a16:creationId xmlns:a16="http://schemas.microsoft.com/office/drawing/2014/main" id="{604241E0-1BC2-A1A9-71EC-534F1B713845}"/>
              </a:ext>
            </a:extLst>
          </p:cNvPr>
          <p:cNvSpPr/>
          <p:nvPr/>
        </p:nvSpPr>
        <p:spPr>
          <a:xfrm>
            <a:off x="8763000" y="787400"/>
            <a:ext cx="3124200" cy="1295400"/>
          </a:xfrm>
          <a:prstGeom prst="roundRect">
            <a:avLst>
              <a:gd name="adj" fmla="val 3333"/>
            </a:avLst>
          </a:prstGeom>
          <a:solidFill>
            <a:srgbClr val="F4F4F6"/>
          </a:solidFill>
          <a:ln/>
        </p:spPr>
        <p:txBody>
          <a:bodyPr/>
          <a:lstStyle/>
          <a:p>
            <a:endParaRPr lang="ja-JP" altLang="en-US"/>
          </a:p>
        </p:txBody>
      </p:sp>
      <p:sp>
        <p:nvSpPr>
          <p:cNvPr id="5" name="Shape 5">
            <a:extLst>
              <a:ext uri="{FF2B5EF4-FFF2-40B4-BE49-F238E27FC236}">
                <a16:creationId xmlns:a16="http://schemas.microsoft.com/office/drawing/2014/main" id="{0867538C-21FA-00D2-F999-EF9F6E7551FC}"/>
              </a:ext>
            </a:extLst>
          </p:cNvPr>
          <p:cNvSpPr/>
          <p:nvPr/>
        </p:nvSpPr>
        <p:spPr>
          <a:xfrm>
            <a:off x="8928100" y="965200"/>
            <a:ext cx="114300" cy="114300"/>
          </a:xfrm>
          <a:prstGeom prst="rect">
            <a:avLst/>
          </a:prstGeom>
          <a:solidFill>
            <a:srgbClr val="2E7D32"/>
          </a:solidFill>
          <a:ln/>
        </p:spPr>
        <p:txBody>
          <a:bodyPr/>
          <a:lstStyle/>
          <a:p>
            <a:endParaRPr lang="ja-JP" altLang="en-US"/>
          </a:p>
        </p:txBody>
      </p:sp>
      <p:sp>
        <p:nvSpPr>
          <p:cNvPr id="6" name="Text 6">
            <a:extLst>
              <a:ext uri="{FF2B5EF4-FFF2-40B4-BE49-F238E27FC236}">
                <a16:creationId xmlns:a16="http://schemas.microsoft.com/office/drawing/2014/main" id="{A25E12FF-2425-2AAC-61C7-49E5147548A7}"/>
              </a:ext>
            </a:extLst>
          </p:cNvPr>
          <p:cNvSpPr/>
          <p:nvPr/>
        </p:nvSpPr>
        <p:spPr>
          <a:xfrm>
            <a:off x="9118600" y="889000"/>
            <a:ext cx="2603500" cy="279400"/>
          </a:xfrm>
          <a:prstGeom prst="rect">
            <a:avLst/>
          </a:prstGeom>
          <a:noFill/>
          <a:ln/>
        </p:spPr>
        <p:txBody>
          <a:bodyPr wrap="square" lIns="0" tIns="0" rIns="0" bIns="0" rtlCol="0" anchor="ctr"/>
          <a:lstStyle/>
          <a:p>
            <a:pPr marL="0" indent="0">
              <a:buNone/>
            </a:pPr>
            <a:r>
              <a:rPr lang="en-US" sz="1400" b="1" dirty="0">
                <a:latin typeface="Hiragino Sans" pitchFamily="34" charset="0"/>
                <a:ea typeface="Hiragino Sans" pitchFamily="34" charset="-122"/>
                <a:cs typeface="Hiragino Sans" pitchFamily="34" charset="-120"/>
              </a:rPr>
              <a:t>燃料別の実績注入</a:t>
            </a:r>
            <a:endParaRPr lang="en-US" sz="1400" b="1" dirty="0">
              <a:solidFill>
                <a:srgbClr val="1F1F1F"/>
              </a:solidFill>
            </a:endParaRPr>
          </a:p>
        </p:txBody>
      </p:sp>
      <p:sp>
        <p:nvSpPr>
          <p:cNvPr id="7" name="Text 7">
            <a:extLst>
              <a:ext uri="{FF2B5EF4-FFF2-40B4-BE49-F238E27FC236}">
                <a16:creationId xmlns:a16="http://schemas.microsoft.com/office/drawing/2014/main" id="{864A3A19-DEFB-E3F6-5644-F1C35A68412E}"/>
              </a:ext>
            </a:extLst>
          </p:cNvPr>
          <p:cNvSpPr/>
          <p:nvPr/>
        </p:nvSpPr>
        <p:spPr>
          <a:xfrm>
            <a:off x="8953500" y="1219200"/>
            <a:ext cx="2755900" cy="762000"/>
          </a:xfrm>
          <a:prstGeom prst="rect">
            <a:avLst/>
          </a:prstGeom>
          <a:noFill/>
          <a:ln/>
        </p:spPr>
        <p:txBody>
          <a:bodyPr wrap="square" lIns="0" tIns="0" rIns="0" bIns="0" rtlCol="0" anchor="t"/>
          <a:lstStyle/>
          <a:p>
            <a:pPr marL="0" indent="0">
              <a:lnSpc>
                <a:spcPts val="1500"/>
              </a:lnSpc>
              <a:buNone/>
            </a:pPr>
            <a:r>
              <a:rPr lang="en-US" sz="1200" b="0" dirty="0">
                <a:latin typeface="Hiragino Sans" pitchFamily="34" charset="0"/>
                <a:ea typeface="Hiragino Sans" pitchFamily="34" charset="-122"/>
                <a:cs typeface="Hiragino Sans" pitchFamily="34" charset="-120"/>
              </a:rPr>
              <a:t>10エリアのうち9エリアのTSO需給実績から燃料構成と原子力停止が日次断面へ自動反映。ゾーン純位置は公表連系実績と39–129 MWで一致（v1.7検証）</a:t>
            </a:r>
            <a:endParaRPr lang="en-US" sz="1200" b="0" dirty="0">
              <a:solidFill>
                <a:srgbClr val="3B3B3B"/>
              </a:solidFill>
            </a:endParaRPr>
          </a:p>
        </p:txBody>
      </p:sp>
      <p:sp>
        <p:nvSpPr>
          <p:cNvPr id="8" name="Shape 8">
            <a:extLst>
              <a:ext uri="{FF2B5EF4-FFF2-40B4-BE49-F238E27FC236}">
                <a16:creationId xmlns:a16="http://schemas.microsoft.com/office/drawing/2014/main" id="{41A8A471-4AAC-F3F8-B368-866D5843603E}"/>
              </a:ext>
            </a:extLst>
          </p:cNvPr>
          <p:cNvSpPr/>
          <p:nvPr/>
        </p:nvSpPr>
        <p:spPr>
          <a:xfrm>
            <a:off x="8763000" y="2184400"/>
            <a:ext cx="3124200" cy="1295400"/>
          </a:xfrm>
          <a:prstGeom prst="roundRect">
            <a:avLst>
              <a:gd name="adj" fmla="val 3871"/>
            </a:avLst>
          </a:prstGeom>
          <a:solidFill>
            <a:srgbClr val="F4F4F6"/>
          </a:solidFill>
          <a:ln/>
        </p:spPr>
        <p:txBody>
          <a:bodyPr/>
          <a:lstStyle/>
          <a:p>
            <a:endParaRPr lang="ja-JP" altLang="en-US"/>
          </a:p>
        </p:txBody>
      </p:sp>
      <p:sp>
        <p:nvSpPr>
          <p:cNvPr id="9" name="Shape 9">
            <a:extLst>
              <a:ext uri="{FF2B5EF4-FFF2-40B4-BE49-F238E27FC236}">
                <a16:creationId xmlns:a16="http://schemas.microsoft.com/office/drawing/2014/main" id="{6D821BED-E58A-89A7-E4D9-F4BE68EDCD09}"/>
              </a:ext>
            </a:extLst>
          </p:cNvPr>
          <p:cNvSpPr/>
          <p:nvPr/>
        </p:nvSpPr>
        <p:spPr>
          <a:xfrm>
            <a:off x="8928100" y="2362200"/>
            <a:ext cx="114300" cy="114300"/>
          </a:xfrm>
          <a:prstGeom prst="rect">
            <a:avLst/>
          </a:prstGeom>
          <a:solidFill>
            <a:srgbClr val="FF7F0E"/>
          </a:solidFill>
          <a:ln/>
        </p:spPr>
        <p:txBody>
          <a:bodyPr/>
          <a:lstStyle/>
          <a:p>
            <a:endParaRPr lang="ja-JP" altLang="en-US"/>
          </a:p>
        </p:txBody>
      </p:sp>
      <p:sp>
        <p:nvSpPr>
          <p:cNvPr id="10" name="Text 10">
            <a:extLst>
              <a:ext uri="{FF2B5EF4-FFF2-40B4-BE49-F238E27FC236}">
                <a16:creationId xmlns:a16="http://schemas.microsoft.com/office/drawing/2014/main" id="{7BDAE90B-F719-0AC3-6287-5D77014AE409}"/>
              </a:ext>
            </a:extLst>
          </p:cNvPr>
          <p:cNvSpPr/>
          <p:nvPr/>
        </p:nvSpPr>
        <p:spPr>
          <a:xfrm>
            <a:off x="9118600" y="2286000"/>
            <a:ext cx="2603500" cy="279400"/>
          </a:xfrm>
          <a:prstGeom prst="rect">
            <a:avLst/>
          </a:prstGeom>
          <a:noFill/>
          <a:ln/>
        </p:spPr>
        <p:txBody>
          <a:bodyPr wrap="square" lIns="0" tIns="0" rIns="0" bIns="0" rtlCol="0" anchor="ctr"/>
          <a:lstStyle/>
          <a:p>
            <a:pPr marL="0" indent="0">
              <a:buNone/>
            </a:pPr>
            <a:r>
              <a:rPr lang="en-US" sz="1400" b="1" dirty="0">
                <a:latin typeface="Hiragino Sans" pitchFamily="34" charset="0"/>
                <a:ea typeface="Hiragino Sans" pitchFamily="34" charset="-122"/>
                <a:cs typeface="Hiragino Sans" pitchFamily="34" charset="-120"/>
              </a:rPr>
              <a:t>リアルタイム断面</a:t>
            </a:r>
            <a:endParaRPr lang="en-US" sz="1400" b="1" dirty="0">
              <a:solidFill>
                <a:srgbClr val="1F1F1F"/>
              </a:solidFill>
            </a:endParaRPr>
          </a:p>
        </p:txBody>
      </p:sp>
      <p:sp>
        <p:nvSpPr>
          <p:cNvPr id="11" name="Text 11">
            <a:extLst>
              <a:ext uri="{FF2B5EF4-FFF2-40B4-BE49-F238E27FC236}">
                <a16:creationId xmlns:a16="http://schemas.microsoft.com/office/drawing/2014/main" id="{813720B8-C412-2DF5-D1D2-5F141240EA30}"/>
              </a:ext>
            </a:extLst>
          </p:cNvPr>
          <p:cNvSpPr/>
          <p:nvPr/>
        </p:nvSpPr>
        <p:spPr>
          <a:xfrm>
            <a:off x="8953500" y="2616200"/>
            <a:ext cx="2755900" cy="762000"/>
          </a:xfrm>
          <a:prstGeom prst="rect">
            <a:avLst/>
          </a:prstGeom>
          <a:noFill/>
          <a:ln/>
        </p:spPr>
        <p:txBody>
          <a:bodyPr wrap="square" lIns="0" tIns="0" rIns="0" bIns="0" rtlCol="0" anchor="t"/>
          <a:lstStyle/>
          <a:p>
            <a:pPr marL="0" indent="0">
              <a:lnSpc>
                <a:spcPts val="1500"/>
              </a:lnSpc>
              <a:buNone/>
            </a:pPr>
            <a:r>
              <a:rPr lang="en-US" sz="1200" b="0" dirty="0">
                <a:latin typeface="Hiragino Sans" pitchFamily="34" charset="0"/>
                <a:ea typeface="Hiragino Sans" pitchFamily="34" charset="-122"/>
                <a:cs typeface="Hiragino Sans" pitchFamily="34" charset="-120"/>
              </a:rPr>
              <a:t>でんき予報の実績需要スナップショットでNOW断面PFを毎時再計算（launchd常駐・v1.8後）</a:t>
            </a:r>
            <a:endParaRPr lang="en-US" sz="1200" b="0" dirty="0">
              <a:solidFill>
                <a:srgbClr val="3B3B3B"/>
              </a:solidFill>
            </a:endParaRPr>
          </a:p>
        </p:txBody>
      </p:sp>
      <p:sp>
        <p:nvSpPr>
          <p:cNvPr id="12" name="Shape 12">
            <a:extLst>
              <a:ext uri="{FF2B5EF4-FFF2-40B4-BE49-F238E27FC236}">
                <a16:creationId xmlns:a16="http://schemas.microsoft.com/office/drawing/2014/main" id="{2B7EBFBB-A6A7-1BF6-E9B8-E6972A6A6373}"/>
              </a:ext>
            </a:extLst>
          </p:cNvPr>
          <p:cNvSpPr/>
          <p:nvPr/>
        </p:nvSpPr>
        <p:spPr>
          <a:xfrm>
            <a:off x="8763000" y="3581400"/>
            <a:ext cx="3124200" cy="1295400"/>
          </a:xfrm>
          <a:prstGeom prst="roundRect">
            <a:avLst>
              <a:gd name="adj" fmla="val 3871"/>
            </a:avLst>
          </a:prstGeom>
          <a:solidFill>
            <a:srgbClr val="F4F4F6"/>
          </a:solidFill>
          <a:ln/>
        </p:spPr>
        <p:txBody>
          <a:bodyPr/>
          <a:lstStyle/>
          <a:p>
            <a:endParaRPr lang="ja-JP" altLang="en-US"/>
          </a:p>
        </p:txBody>
      </p:sp>
      <p:sp>
        <p:nvSpPr>
          <p:cNvPr id="13" name="Shape 13">
            <a:extLst>
              <a:ext uri="{FF2B5EF4-FFF2-40B4-BE49-F238E27FC236}">
                <a16:creationId xmlns:a16="http://schemas.microsoft.com/office/drawing/2014/main" id="{0069BF61-130B-550E-E835-3FC8E009A22B}"/>
              </a:ext>
            </a:extLst>
          </p:cNvPr>
          <p:cNvSpPr/>
          <p:nvPr/>
        </p:nvSpPr>
        <p:spPr>
          <a:xfrm>
            <a:off x="8928100" y="3759200"/>
            <a:ext cx="114300" cy="114300"/>
          </a:xfrm>
          <a:prstGeom prst="rect">
            <a:avLst/>
          </a:prstGeom>
          <a:solidFill>
            <a:srgbClr val="FF7F0E"/>
          </a:solidFill>
          <a:ln/>
        </p:spPr>
        <p:txBody>
          <a:bodyPr/>
          <a:lstStyle/>
          <a:p>
            <a:endParaRPr lang="ja-JP" altLang="en-US"/>
          </a:p>
        </p:txBody>
      </p:sp>
      <p:sp>
        <p:nvSpPr>
          <p:cNvPr id="14" name="Text 14">
            <a:extLst>
              <a:ext uri="{FF2B5EF4-FFF2-40B4-BE49-F238E27FC236}">
                <a16:creationId xmlns:a16="http://schemas.microsoft.com/office/drawing/2014/main" id="{30534E1D-DBC2-EB19-5A33-ECA4BE219005}"/>
              </a:ext>
            </a:extLst>
          </p:cNvPr>
          <p:cNvSpPr/>
          <p:nvPr/>
        </p:nvSpPr>
        <p:spPr>
          <a:xfrm>
            <a:off x="9118600" y="3683000"/>
            <a:ext cx="2603500" cy="279400"/>
          </a:xfrm>
          <a:prstGeom prst="rect">
            <a:avLst/>
          </a:prstGeom>
          <a:noFill/>
          <a:ln/>
        </p:spPr>
        <p:txBody>
          <a:bodyPr wrap="square" lIns="0" tIns="0" rIns="0" bIns="0" rtlCol="0" anchor="ctr"/>
          <a:lstStyle/>
          <a:p>
            <a:pPr marL="0" indent="0">
              <a:buNone/>
            </a:pPr>
            <a:r>
              <a:rPr lang="en-US" sz="1400" b="1" dirty="0">
                <a:latin typeface="Hiragino Sans" pitchFamily="34" charset="0"/>
                <a:ea typeface="Hiragino Sans" pitchFamily="34" charset="-122"/>
                <a:cs typeface="Hiragino Sans" pitchFamily="34" charset="-120"/>
              </a:rPr>
              <a:t>観測方向の照合</a:t>
            </a:r>
            <a:endParaRPr lang="en-US" sz="1400" b="1" dirty="0">
              <a:solidFill>
                <a:srgbClr val="1F1F1F"/>
              </a:solidFill>
            </a:endParaRPr>
          </a:p>
        </p:txBody>
      </p:sp>
      <p:sp>
        <p:nvSpPr>
          <p:cNvPr id="15" name="Text 15">
            <a:extLst>
              <a:ext uri="{FF2B5EF4-FFF2-40B4-BE49-F238E27FC236}">
                <a16:creationId xmlns:a16="http://schemas.microsoft.com/office/drawing/2014/main" id="{DF45DD82-BDBC-2388-150E-5F4E2C2E9A07}"/>
              </a:ext>
            </a:extLst>
          </p:cNvPr>
          <p:cNvSpPr/>
          <p:nvPr/>
        </p:nvSpPr>
        <p:spPr>
          <a:xfrm>
            <a:off x="8953500" y="4013200"/>
            <a:ext cx="2755900" cy="762000"/>
          </a:xfrm>
          <a:prstGeom prst="rect">
            <a:avLst/>
          </a:prstGeom>
          <a:noFill/>
          <a:ln/>
        </p:spPr>
        <p:txBody>
          <a:bodyPr wrap="square" lIns="0" tIns="0" rIns="0" bIns="0" rtlCol="0" anchor="t"/>
          <a:lstStyle/>
          <a:p>
            <a:pPr marL="0" indent="0">
              <a:lnSpc>
                <a:spcPts val="1500"/>
              </a:lnSpc>
              <a:buNone/>
            </a:pPr>
            <a:r>
              <a:rPr lang="en-US" sz="1200" b="0" dirty="0">
                <a:latin typeface="Hiragino Sans" pitchFamily="34" charset="0"/>
                <a:ea typeface="Hiragino Sans" pitchFamily="34" charset="-122"/>
                <a:cs typeface="Hiragino Sans" pitchFamily="34" charset="-120"/>
              </a:rPr>
              <a:t>モデル潮流の向きを公表実績の向きと突合し、一致/不一致を地図に描く — 隠さず可視化</a:t>
            </a:r>
            <a:endParaRPr lang="en-US" sz="1200" b="0" dirty="0">
              <a:solidFill>
                <a:srgbClr val="3B3B3B"/>
              </a:solidFill>
            </a:endParaRPr>
          </a:p>
        </p:txBody>
      </p:sp>
      <p:sp>
        <p:nvSpPr>
          <p:cNvPr id="16" name="Text 16">
            <a:extLst>
              <a:ext uri="{FF2B5EF4-FFF2-40B4-BE49-F238E27FC236}">
                <a16:creationId xmlns:a16="http://schemas.microsoft.com/office/drawing/2014/main" id="{9556839D-A4B8-04F9-2D1D-F2710D873150}"/>
              </a:ext>
            </a:extLst>
          </p:cNvPr>
          <p:cNvSpPr/>
          <p:nvPr/>
        </p:nvSpPr>
        <p:spPr>
          <a:xfrm>
            <a:off x="304800" y="6426200"/>
            <a:ext cx="4699000" cy="203200"/>
          </a:xfrm>
          <a:prstGeom prst="rect">
            <a:avLst/>
          </a:prstGeom>
          <a:noFill/>
          <a:ln/>
        </p:spPr>
        <p:txBody>
          <a:bodyPr wrap="square" lIns="0" tIns="0" rIns="0" bIns="0" rtlCol="0" anchor="ctr"/>
          <a:lstStyle/>
          <a:p>
            <a:pPr marL="0" indent="0">
              <a:buNone/>
            </a:pPr>
            <a:r>
              <a:rPr lang="en-US" sz="1200" b="0" dirty="0">
                <a:latin typeface="Helvetica Neue" pitchFamily="34" charset="0"/>
                <a:ea typeface="Helvetica Neue" pitchFamily="34" charset="-122"/>
                <a:cs typeface="Helvetica Neue" pitchFamily="34" charset="-120"/>
              </a:rPr>
              <a:t>All-Japan-Grid — the making of</a:t>
            </a:r>
            <a:endParaRPr lang="en-US" sz="1200" b="0" dirty="0">
              <a:solidFill>
                <a:srgbClr val="5A5A5A"/>
              </a:solidFill>
            </a:endParaRPr>
          </a:p>
        </p:txBody>
      </p:sp>
      <p:sp>
        <p:nvSpPr>
          <p:cNvPr id="17" name="takeaway">
            <a:extLst>
              <a:ext uri="{FF2B5EF4-FFF2-40B4-BE49-F238E27FC236}">
                <a16:creationId xmlns:a16="http://schemas.microsoft.com/office/drawing/2014/main" id="{796CCE2B-F50E-6B22-FB21-F1A63580799A}"/>
              </a:ext>
            </a:extLst>
          </p:cNvPr>
          <p:cNvSpPr/>
          <p:nvPr/>
        </p:nvSpPr>
        <p:spPr>
          <a:xfrm>
            <a:off x="8763000" y="5054600"/>
            <a:ext cx="3124200" cy="914400"/>
          </a:xfrm>
          <a:prstGeom prst="rect">
            <a:avLst/>
          </a:prstGeom>
          <a:noFill/>
          <a:ln>
            <a:noFill/>
          </a:ln>
        </p:spPr>
        <p:txBody>
          <a:bodyPr wrap="square" lIns="0" tIns="0" rIns="0" bIns="0" anchor="t">
            <a:normAutofit lnSpcReduction="10000"/>
          </a:bodyPr>
          <a:lstStyle/>
          <a:p>
            <a:pPr marL="0" indent="0" algn="l">
              <a:lnSpc>
                <a:spcPct val="115000"/>
              </a:lnSpc>
              <a:buNone/>
            </a:pPr>
            <a:r>
              <a:rPr lang="ja-JP" altLang="en-US" sz="1300" b="1" i="0" dirty="0">
                <a:solidFill>
                  <a:srgbClr val="1F1F1F"/>
                </a:solidFill>
              </a:rPr>
              <a:t>モデルの潮流方向を公表実績と突合し、一致／不一致を隠さず同じ画面に出す。</a:t>
            </a:r>
          </a:p>
          <a:p>
            <a:pPr marL="0" indent="0" algn="l">
              <a:lnSpc>
                <a:spcPct val="115000"/>
              </a:lnSpc>
              <a:spcBef>
                <a:spcPts val="300"/>
              </a:spcBef>
              <a:buNone/>
            </a:pPr>
            <a:r>
              <a:rPr lang="ja-JP" altLang="en-US" sz="1300" b="0" i="0" dirty="0">
                <a:solidFill>
                  <a:srgbClr val="3B3B3B"/>
                </a:solidFill>
              </a:rPr>
              <a:t>全国10エリア・年間分を同一ビューで確認できる。</a:t>
            </a:r>
          </a:p>
        </p:txBody>
      </p:sp>
      <p:sp>
        <p:nvSpPr>
          <p:cNvPr id="18" name="テキスト ボックス 17">
            <a:extLst>
              <a:ext uri="{FF2B5EF4-FFF2-40B4-BE49-F238E27FC236}">
                <a16:creationId xmlns:a16="http://schemas.microsoft.com/office/drawing/2014/main" id="{796B3816-EDC8-8BF1-D98A-44997B74DC76}"/>
              </a:ext>
            </a:extLst>
          </p:cNvPr>
          <p:cNvSpPr txBox="1"/>
          <p:nvPr/>
        </p:nvSpPr>
        <p:spPr>
          <a:xfrm>
            <a:off x="457200" y="208002"/>
            <a:ext cx="1338828" cy="369332"/>
          </a:xfrm>
          <a:prstGeom prst="rect">
            <a:avLst/>
          </a:prstGeom>
          <a:noFill/>
        </p:spPr>
        <p:txBody>
          <a:bodyPr wrap="none" rtlCol="0">
            <a:spAutoFit/>
          </a:bodyPr>
          <a:lstStyle/>
          <a:p>
            <a:r>
              <a:rPr kumimoji="1" lang="ja-JP" altLang="en-US"/>
              <a:t>実績を表示</a:t>
            </a:r>
          </a:p>
        </p:txBody>
      </p:sp>
    </p:spTree>
    <p:extLst>
      <p:ext uri="{BB962C8B-B14F-4D97-AF65-F5344CB8AC3E}">
        <p14:creationId xmlns:p14="http://schemas.microsoft.com/office/powerpoint/2010/main" val="427451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repeatCount="indefinite" fill="hold" display="0">
                  <p:stCondLst>
                    <p:cond delay="indefinite"/>
                  </p:stCondLst>
                </p:cTn>
                <p:tgtEl>
                  <p:spTgt spid="2"/>
                </p:tgtEl>
              </p:cMediaNode>
            </p:video>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A87258-5860-0BCE-D1BE-F2D4FAD6E051}"/>
              </a:ext>
            </a:extLst>
          </p:cNvPr>
          <p:cNvSpPr>
            <a:spLocks noGrp="1"/>
          </p:cNvSpPr>
          <p:nvPr>
            <p:ph type="title"/>
          </p:nvPr>
        </p:nvSpPr>
        <p:spPr>
          <a:xfrm>
            <a:off x="546100" y="177800"/>
            <a:ext cx="11150600" cy="431800"/>
          </a:xfrm>
        </p:spPr>
        <p:txBody>
          <a:bodyPr/>
          <a:lstStyle/>
          <a:p>
            <a:pPr algn="l">
              <a:buNone/>
            </a:pPr>
            <a:r>
              <a:rPr lang="ja-JP" altLang="en-US" sz="2200" b="1" dirty="0">
                <a:solidFill>
                  <a:srgbClr val="1F3556"/>
                </a:solidFill>
              </a:rPr>
              <a:t>変電所の中へ — 航空写真から単線結線図（SubSLD）を復元する</a:t>
            </a:r>
          </a:p>
        </p:txBody>
      </p:sp>
      <p:sp>
        <p:nvSpPr>
          <p:cNvPr id="3" name="スライド番号プレースホルダー 2">
            <a:extLst>
              <a:ext uri="{FF2B5EF4-FFF2-40B4-BE49-F238E27FC236}">
                <a16:creationId xmlns:a16="http://schemas.microsoft.com/office/drawing/2014/main" id="{193E38F9-964E-1BBE-8453-0A09C7D59786}"/>
              </a:ext>
            </a:extLst>
          </p:cNvPr>
          <p:cNvSpPr>
            <a:spLocks noGrp="1"/>
          </p:cNvSpPr>
          <p:nvPr>
            <p:ph type="sldNum" sz="quarter" idx="4"/>
          </p:nvPr>
        </p:nvSpPr>
        <p:spPr/>
        <p:txBody>
          <a:bodyPr/>
          <a:lstStyle/>
          <a:p>
            <a:fld id="{FB3508C7-2FE0-4945-9CBD-863E05F850D2}" type="slidenum">
              <a:rPr lang="ja-JP" altLang="en-US" smtClean="0"/>
              <a:pPr/>
              <a:t>54</a:t>
            </a:fld>
            <a:endParaRPr lang="ja-JP" altLang="en-US" dirty="0"/>
          </a:p>
        </p:txBody>
      </p:sp>
      <p:pic>
        <p:nvPicPr>
          <p:cNvPr id="4" name="Image 0" descr="assets/geo_shinkeiyo.png">
            <a:extLst>
              <a:ext uri="{FF2B5EF4-FFF2-40B4-BE49-F238E27FC236}">
                <a16:creationId xmlns:a16="http://schemas.microsoft.com/office/drawing/2014/main" id="{C6D51898-7865-DA43-7E88-B1A1CF503C06}"/>
              </a:ext>
            </a:extLst>
          </p:cNvPr>
          <p:cNvPicPr>
            <a:picLocks noChangeAspect="1"/>
          </p:cNvPicPr>
          <p:nvPr/>
        </p:nvPicPr>
        <p:blipFill>
          <a:blip r:embed="rId2"/>
          <a:stretch>
            <a:fillRect/>
          </a:stretch>
        </p:blipFill>
        <p:spPr>
          <a:xfrm>
            <a:off x="1549400" y="863600"/>
            <a:ext cx="4762500" cy="5080000"/>
          </a:xfrm>
          <a:prstGeom prst="rect">
            <a:avLst/>
          </a:prstGeom>
        </p:spPr>
      </p:pic>
      <p:pic>
        <p:nvPicPr>
          <p:cNvPr id="5" name="Image 1" descr="assets/sld_shinkeiyo.png">
            <a:extLst>
              <a:ext uri="{FF2B5EF4-FFF2-40B4-BE49-F238E27FC236}">
                <a16:creationId xmlns:a16="http://schemas.microsoft.com/office/drawing/2014/main" id="{899EE00B-9FEA-81B9-E838-6A84E5211197}"/>
              </a:ext>
            </a:extLst>
          </p:cNvPr>
          <p:cNvPicPr>
            <a:picLocks noChangeAspect="1"/>
          </p:cNvPicPr>
          <p:nvPr/>
        </p:nvPicPr>
        <p:blipFill>
          <a:blip r:embed="rId3"/>
          <a:stretch>
            <a:fillRect/>
          </a:stretch>
        </p:blipFill>
        <p:spPr>
          <a:xfrm>
            <a:off x="6616700" y="863600"/>
            <a:ext cx="4013200" cy="5080000"/>
          </a:xfrm>
          <a:prstGeom prst="rect">
            <a:avLst/>
          </a:prstGeom>
        </p:spPr>
      </p:pic>
      <p:sp>
        <p:nvSpPr>
          <p:cNvPr id="400" name="Cap401"/>
          <p:cNvSpPr txBox="1"/>
          <p:nvPr/>
        </p:nvSpPr>
        <p:spPr>
          <a:xfrm>
            <a:off x="1549400" y="6019800"/>
            <a:ext cx="4762500" cy="406400"/>
          </a:xfrm>
          <a:prstGeom prst="rect">
            <a:avLst/>
          </a:prstGeom>
          <a:noFill/>
        </p:spPr>
        <p:txBody>
          <a:bodyPr wrap="square" lIns="0" tIns="0" rIns="0" bIns="0" anchor="t"/>
          <a:lstStyle/>
          <a:p>
            <a:pPr marL="0" indent="0" algn="l">
              <a:lnSpc>
                <a:spcPct val="115000"/>
              </a:lnSpc>
              <a:buNone/>
            </a:pPr>
            <a:r>
              <a:rPr lang="ja-JP" altLang="en-US" sz="1200" b="0" dirty="0">
                <a:solidFill>
                  <a:srgbClr val="4A5568"/>
                </a:solidFill>
              </a:rPr>
              <a:t>① 航空写真に OSM の構内設備を重ね、母線・機器の位置を同定（出典：地理院タイル 全国最新写真）</a:t>
            </a:r>
          </a:p>
        </p:txBody>
      </p:sp>
      <p:sp>
        <p:nvSpPr>
          <p:cNvPr id="401" name="Cap402"/>
          <p:cNvSpPr txBox="1"/>
          <p:nvPr/>
        </p:nvSpPr>
        <p:spPr>
          <a:xfrm>
            <a:off x="6616700" y="6019800"/>
            <a:ext cx="4013200" cy="406400"/>
          </a:xfrm>
          <a:prstGeom prst="rect">
            <a:avLst/>
          </a:prstGeom>
          <a:noFill/>
        </p:spPr>
        <p:txBody>
          <a:bodyPr wrap="square" lIns="0" tIns="0" rIns="0" bIns="0" anchor="t"/>
          <a:lstStyle/>
          <a:p>
            <a:pPr marL="0" indent="0" algn="l">
              <a:lnSpc>
                <a:spcPct val="115000"/>
              </a:lnSpc>
              <a:buNone/>
            </a:pPr>
            <a:r>
              <a:rPr lang="ja-JP" altLang="en-US" sz="1200" b="0" dirty="0">
                <a:solidFill>
                  <a:srgbClr val="4A5568"/>
                </a:solidFill>
              </a:rPr>
              <a:t>② 復元した SubSLD：500／275／154／66 kV の母線と変圧器接続（node-breaker 表現）</a:t>
            </a:r>
          </a:p>
        </p:txBody>
      </p:sp>
    </p:spTree>
    <p:extLst>
      <p:ext uri="{BB962C8B-B14F-4D97-AF65-F5344CB8AC3E}">
        <p14:creationId xmlns:p14="http://schemas.microsoft.com/office/powerpoint/2010/main" val="18400764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384BBEE4-5D75-0A9D-EBE0-2AF74B96EC05}"/>
              </a:ext>
            </a:extLst>
          </p:cNvPr>
          <p:cNvSpPr>
            <a:spLocks noGrp="1"/>
          </p:cNvSpPr>
          <p:nvPr>
            <p:ph type="sldNum" sz="quarter" idx="4"/>
          </p:nvPr>
        </p:nvSpPr>
        <p:spPr/>
        <p:txBody>
          <a:bodyPr/>
          <a:lstStyle/>
          <a:p>
            <a:fld id="{FB3508C7-2FE0-4945-9CBD-863E05F850D2}" type="slidenum">
              <a:rPr lang="ja-JP" altLang="en-US" smtClean="0"/>
              <a:pPr/>
              <a:t>55</a:t>
            </a:fld>
            <a:endParaRPr lang="ja-JP" altLang="en-US" dirty="0"/>
          </a:p>
        </p:txBody>
      </p:sp>
      <p:pic>
        <p:nvPicPr>
          <p:cNvPr id="4" name="Image 0" descr="assets/subsld_flipbook.gif">
            <a:hlinkClick r:id="" action="ppaction://media"/>
            <a:extLst>
              <a:ext uri="{FF2B5EF4-FFF2-40B4-BE49-F238E27FC236}">
                <a16:creationId xmlns:a16="http://schemas.microsoft.com/office/drawing/2014/main" id="{29173F82-DBB2-7608-89E6-79048268AF2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39800" y="228600"/>
            <a:ext cx="10312400" cy="6299200"/>
          </a:xfrm>
          <a:prstGeom prst="rect">
            <a:avLst/>
          </a:prstGeom>
        </p:spPr>
      </p:pic>
    </p:spTree>
    <p:extLst>
      <p:ext uri="{BB962C8B-B14F-4D97-AF65-F5344CB8AC3E}">
        <p14:creationId xmlns:p14="http://schemas.microsoft.com/office/powerpoint/2010/main" val="6522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8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D62728"/>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第5幕 v1.8</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最後の暗箱：変電所の中へ — SubSLD法</a:t>
            </a:r>
            <a:endParaRPr lang="en-US" sz="2100" dirty="0"/>
          </a:p>
        </p:txBody>
      </p:sp>
      <p:pic>
        <p:nvPicPr>
          <p:cNvPr id="5" name="Image 0" descr="assets/geo_shinkeiyo.png"/>
          <p:cNvPicPr>
            <a:picLocks noChangeAspect="1"/>
          </p:cNvPicPr>
          <p:nvPr/>
        </p:nvPicPr>
        <p:blipFill>
          <a:blip r:embed="rId3"/>
          <a:stretch>
            <a:fillRect/>
          </a:stretch>
        </p:blipFill>
        <p:spPr>
          <a:xfrm>
            <a:off x="822960" y="1234440"/>
            <a:ext cx="3520440" cy="3758184"/>
          </a:xfrm>
          <a:prstGeom prst="rect">
            <a:avLst/>
          </a:prstGeom>
        </p:spPr>
      </p:pic>
      <p:pic>
        <p:nvPicPr>
          <p:cNvPr id="6" name="Image 1" descr="assets/sld_shinkeiyo.png"/>
          <p:cNvPicPr>
            <a:picLocks noChangeAspect="1"/>
          </p:cNvPicPr>
          <p:nvPr/>
        </p:nvPicPr>
        <p:blipFill>
          <a:blip r:embed="rId4"/>
          <a:stretch>
            <a:fillRect/>
          </a:stretch>
        </p:blipFill>
        <p:spPr>
          <a:xfrm>
            <a:off x="4526280" y="1234440"/>
            <a:ext cx="2971800" cy="3758184"/>
          </a:xfrm>
          <a:prstGeom prst="rect">
            <a:avLst/>
          </a:prstGeom>
        </p:spPr>
      </p:pic>
      <p:sp>
        <p:nvSpPr>
          <p:cNvPr id="7" name="Text 3"/>
          <p:cNvSpPr/>
          <p:nvPr/>
        </p:nvSpPr>
        <p:spPr>
          <a:xfrm>
            <a:off x="822960" y="5074920"/>
            <a:ext cx="667512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実証ペア図（新京葉 500/275/154/66 kV）：構内幾何 × 単線結線図</a:t>
            </a:r>
            <a:endParaRPr lang="en-US" sz="1050" dirty="0"/>
          </a:p>
        </p:txBody>
      </p:sp>
      <p:sp>
        <p:nvSpPr>
          <p:cNvPr id="8" name="Shape 4"/>
          <p:cNvSpPr/>
          <p:nvPr/>
        </p:nvSpPr>
        <p:spPr>
          <a:xfrm>
            <a:off x="7818120" y="1234440"/>
            <a:ext cx="3611880" cy="1371600"/>
          </a:xfrm>
          <a:prstGeom prst="roundRect">
            <a:avLst>
              <a:gd name="adj" fmla="val 4000"/>
            </a:avLst>
          </a:prstGeom>
          <a:solidFill>
            <a:srgbClr val="F4F4F6"/>
          </a:solidFill>
          <a:ln/>
        </p:spPr>
        <p:txBody>
          <a:bodyPr/>
          <a:lstStyle/>
          <a:p>
            <a:endParaRPr lang="ja-JP" altLang="en-US"/>
          </a:p>
        </p:txBody>
      </p:sp>
      <p:sp>
        <p:nvSpPr>
          <p:cNvPr id="9" name="Text 5"/>
          <p:cNvSpPr/>
          <p:nvPr/>
        </p:nvSpPr>
        <p:spPr>
          <a:xfrm>
            <a:off x="8001000" y="1371600"/>
            <a:ext cx="3291840" cy="457200"/>
          </a:xfrm>
          <a:prstGeom prst="rect">
            <a:avLst/>
          </a:prstGeom>
          <a:noFill/>
          <a:ln/>
        </p:spPr>
        <p:txBody>
          <a:bodyPr wrap="square" lIns="0" tIns="0" rIns="0" bIns="0" rtlCol="0" anchor="ctr"/>
          <a:lstStyle/>
          <a:p>
            <a:pPr marL="0" indent="0" algn="l">
              <a:buNone/>
            </a:pPr>
            <a:r>
              <a:rPr lang="en-US" sz="1700" i="1" dirty="0">
                <a:solidFill>
                  <a:srgbClr val="1A1A1A"/>
                </a:solidFill>
                <a:latin typeface="Cambria Math" pitchFamily="34" charset="0"/>
                <a:ea typeface="Cambria Math" pitchFamily="34" charset="-122"/>
                <a:cs typeface="Cambria Math" pitchFamily="34" charset="-120"/>
              </a:rPr>
              <a:t>F</a:t>
            </a:r>
            <a:r>
              <a:rPr lang="en-US" sz="1700" dirty="0">
                <a:solidFill>
                  <a:srgbClr val="1A1A1A"/>
                </a:solidFill>
                <a:latin typeface="Cambria Math" pitchFamily="34" charset="0"/>
                <a:ea typeface="Cambria Math" pitchFamily="34" charset="-122"/>
                <a:cs typeface="Cambria Math" pitchFamily="34" charset="-120"/>
              </a:rPr>
              <a:t>(</a:t>
            </a:r>
            <a:r>
              <a:rPr lang="en-US" sz="1700" i="1" dirty="0">
                <a:solidFill>
                  <a:srgbClr val="1A1A1A"/>
                </a:solidFill>
                <a:latin typeface="Cambria Math" pitchFamily="34" charset="0"/>
                <a:ea typeface="Cambria Math" pitchFamily="34" charset="-122"/>
                <a:cs typeface="Cambria Math" pitchFamily="34" charset="-120"/>
              </a:rPr>
              <a:t>O</a:t>
            </a:r>
            <a:r>
              <a:rPr lang="en-US" sz="1700" dirty="0">
                <a:solidFill>
                  <a:srgbClr val="1A1A1A"/>
                </a:solidFill>
                <a:latin typeface="Cambria Math" pitchFamily="34" charset="0"/>
                <a:ea typeface="Cambria Math" pitchFamily="34" charset="-122"/>
                <a:cs typeface="Cambria Math" pitchFamily="34" charset="-120"/>
              </a:rPr>
              <a:t>) = </a:t>
            </a:r>
            <a:r>
              <a:rPr lang="en-US" sz="1700" i="1" dirty="0">
                <a:solidFill>
                  <a:srgbClr val="1A1A1A"/>
                </a:solidFill>
                <a:latin typeface="Cambria Math" pitchFamily="34" charset="0"/>
                <a:ea typeface="Cambria Math" pitchFamily="34" charset="-122"/>
                <a:cs typeface="Cambria Math" pitchFamily="34" charset="-120"/>
              </a:rPr>
              <a:t>S</a:t>
            </a:r>
            <a:r>
              <a:rPr lang="en-US" sz="1700" baseline="30000" dirty="0">
                <a:solidFill>
                  <a:srgbClr val="1A1A1A"/>
                </a:solidFill>
                <a:latin typeface="Cambria Math" pitchFamily="34" charset="0"/>
                <a:ea typeface="Cambria Math" pitchFamily="34" charset="-122"/>
                <a:cs typeface="Cambria Math" pitchFamily="34" charset="-120"/>
              </a:rPr>
              <a:t>*</a:t>
            </a:r>
            <a:endParaRPr lang="en-US" sz="1700" dirty="0"/>
          </a:p>
        </p:txBody>
      </p:sp>
      <p:sp>
        <p:nvSpPr>
          <p:cNvPr id="10" name="Text 6"/>
          <p:cNvSpPr/>
          <p:nvPr/>
        </p:nvSpPr>
        <p:spPr>
          <a:xfrm>
            <a:off x="8001000" y="1828800"/>
            <a:ext cx="3291840" cy="777240"/>
          </a:xfrm>
          <a:prstGeom prst="rect">
            <a:avLst/>
          </a:prstGeom>
          <a:noFill/>
          <a:ln/>
        </p:spPr>
        <p:txBody>
          <a:bodyPr wrap="square" lIns="0" tIns="0" rIns="0" bIns="0" rtlCol="0" anchor="ctr"/>
          <a:lstStyle/>
          <a:p>
            <a:pPr marL="0" indent="0">
              <a:lnSpc>
                <a:spcPts val="1400"/>
              </a:lnSpc>
              <a:buNone/>
            </a:pPr>
            <a:r>
              <a:rPr lang="en-US" sz="1050" dirty="0">
                <a:solidFill>
                  <a:srgbClr val="1A1A1A"/>
                </a:solidFill>
                <a:latin typeface="Hiragino Sans" pitchFamily="34" charset="0"/>
                <a:ea typeface="Hiragino Sans" pitchFamily="34" charset="-122"/>
                <a:cs typeface="Hiragino Sans" pitchFamily="34" charset="-120"/>
              </a:rPr>
              <a:t>証拠閉包：witness を持つ要素だけを出す。健全性（捏造ゼロ）は構成的に成立し、完全性は主張せず測定する</a:t>
            </a:r>
            <a:endParaRPr lang="en-US" sz="1050" dirty="0"/>
          </a:p>
        </p:txBody>
      </p:sp>
      <p:sp>
        <p:nvSpPr>
          <p:cNvPr id="11" name="Shape 7"/>
          <p:cNvSpPr/>
          <p:nvPr/>
        </p:nvSpPr>
        <p:spPr>
          <a:xfrm>
            <a:off x="7818120" y="2834640"/>
            <a:ext cx="3611880" cy="1143000"/>
          </a:xfrm>
          <a:prstGeom prst="roundRect">
            <a:avLst>
              <a:gd name="adj" fmla="val 4800"/>
            </a:avLst>
          </a:prstGeom>
          <a:solidFill>
            <a:srgbClr val="F4F4F6"/>
          </a:solidFill>
          <a:ln/>
        </p:spPr>
        <p:txBody>
          <a:bodyPr/>
          <a:lstStyle/>
          <a:p>
            <a:endParaRPr lang="ja-JP" altLang="en-US"/>
          </a:p>
        </p:txBody>
      </p:sp>
      <p:sp>
        <p:nvSpPr>
          <p:cNvPr id="12" name="Text 8"/>
          <p:cNvSpPr/>
          <p:nvPr/>
        </p:nvSpPr>
        <p:spPr>
          <a:xfrm>
            <a:off x="7818120" y="2907792"/>
            <a:ext cx="3611880" cy="502920"/>
          </a:xfrm>
          <a:prstGeom prst="rect">
            <a:avLst/>
          </a:prstGeom>
          <a:noFill/>
          <a:ln/>
        </p:spPr>
        <p:txBody>
          <a:bodyPr wrap="square" lIns="0" tIns="0" rIns="0" bIns="0" rtlCol="0" anchor="ctr"/>
          <a:lstStyle/>
          <a:p>
            <a:pPr marL="0" indent="0" algn="ctr">
              <a:buNone/>
            </a:pPr>
            <a:r>
              <a:rPr lang="en-US" sz="2600" b="1" dirty="0">
                <a:solidFill>
                  <a:srgbClr val="D62728"/>
                </a:solidFill>
                <a:latin typeface="Helvetica Neue" pitchFamily="34" charset="0"/>
                <a:ea typeface="Helvetica Neue" pitchFamily="34" charset="-122"/>
                <a:cs typeface="Helvetica Neue" pitchFamily="34" charset="-120"/>
              </a:rPr>
              <a:t>7,239</a:t>
            </a:r>
            <a:endParaRPr lang="en-US" sz="2600" dirty="0"/>
          </a:p>
        </p:txBody>
      </p:sp>
      <p:sp>
        <p:nvSpPr>
          <p:cNvPr id="13" name="Text 9"/>
          <p:cNvSpPr/>
          <p:nvPr/>
        </p:nvSpPr>
        <p:spPr>
          <a:xfrm>
            <a:off x="7909560" y="3410712"/>
            <a:ext cx="34290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全サイトの構造抽出＋ペア図</a:t>
            </a:r>
            <a:endParaRPr lang="en-US" sz="1050" dirty="0"/>
          </a:p>
        </p:txBody>
      </p:sp>
      <p:sp>
        <p:nvSpPr>
          <p:cNvPr id="14" name="Text 10"/>
          <p:cNvSpPr/>
          <p:nvPr/>
        </p:nvSpPr>
        <p:spPr>
          <a:xfrm>
            <a:off x="7909560" y="3703320"/>
            <a:ext cx="34290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構造DB v1.8（feature数とは別定義）</a:t>
            </a:r>
            <a:endParaRPr lang="en-US" sz="850" dirty="0"/>
          </a:p>
        </p:txBody>
      </p:sp>
      <p:sp>
        <p:nvSpPr>
          <p:cNvPr id="15" name="Shape 11"/>
          <p:cNvSpPr/>
          <p:nvPr/>
        </p:nvSpPr>
        <p:spPr>
          <a:xfrm>
            <a:off x="7818120" y="4160520"/>
            <a:ext cx="3611880" cy="1143000"/>
          </a:xfrm>
          <a:prstGeom prst="roundRect">
            <a:avLst>
              <a:gd name="adj" fmla="val 4800"/>
            </a:avLst>
          </a:prstGeom>
          <a:solidFill>
            <a:srgbClr val="F4F4F6"/>
          </a:solidFill>
          <a:ln/>
        </p:spPr>
        <p:txBody>
          <a:bodyPr/>
          <a:lstStyle/>
          <a:p>
            <a:endParaRPr lang="ja-JP" altLang="en-US"/>
          </a:p>
        </p:txBody>
      </p:sp>
      <p:sp>
        <p:nvSpPr>
          <p:cNvPr id="16" name="Text 12"/>
          <p:cNvSpPr/>
          <p:nvPr/>
        </p:nvSpPr>
        <p:spPr>
          <a:xfrm>
            <a:off x="7818120" y="4233672"/>
            <a:ext cx="361188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Helvetica Neue" pitchFamily="34" charset="0"/>
                <a:ea typeface="Helvetica Neue" pitchFamily="34" charset="-122"/>
                <a:cs typeface="Helvetica Neue" pitchFamily="34" charset="-120"/>
              </a:rPr>
              <a:t>≈ 4 秒</a:t>
            </a:r>
            <a:endParaRPr lang="en-US" sz="2600" dirty="0"/>
          </a:p>
        </p:txBody>
      </p:sp>
      <p:sp>
        <p:nvSpPr>
          <p:cNvPr id="17" name="Text 13"/>
          <p:cNvSpPr/>
          <p:nvPr/>
        </p:nvSpPr>
        <p:spPr>
          <a:xfrm>
            <a:off x="7909560" y="4736592"/>
            <a:ext cx="3429000" cy="310896"/>
          </a:xfrm>
          <a:prstGeom prst="rect">
            <a:avLst/>
          </a:prstGeom>
          <a:noFill/>
          <a:ln/>
        </p:spPr>
        <p:txBody>
          <a:bodyPr wrap="square" lIns="0" tIns="0" rIns="0" bIns="0" rtlCol="0" anchor="ctr"/>
          <a:lstStyle/>
          <a:p>
            <a:pPr marL="0" indent="0" algn="ctr">
              <a:buNone/>
            </a:pPr>
            <a:r>
              <a:rPr lang="en-US" sz="1050" dirty="0">
                <a:solidFill>
                  <a:srgbClr val="1A1A1A"/>
                </a:solidFill>
                <a:latin typeface="Hiragino Sans" pitchFamily="34" charset="0"/>
                <a:ea typeface="Hiragino Sans" pitchFamily="34" charset="-122"/>
                <a:cs typeface="Hiragino Sans" pitchFamily="34" charset="-120"/>
              </a:rPr>
              <a:t>全国抽出（決定的・冪等）</a:t>
            </a:r>
            <a:endParaRPr lang="en-US" sz="1050" dirty="0"/>
          </a:p>
        </p:txBody>
      </p:sp>
      <p:sp>
        <p:nvSpPr>
          <p:cNvPr id="18" name="Text 14"/>
          <p:cNvSpPr/>
          <p:nvPr/>
        </p:nvSpPr>
        <p:spPr>
          <a:xfrm>
            <a:off x="7909560" y="5029200"/>
            <a:ext cx="3429000" cy="237744"/>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v1.8</a:t>
            </a:r>
            <a:endParaRPr lang="en-US" sz="850" dirty="0"/>
          </a:p>
        </p:txBody>
      </p:sp>
      <p:sp>
        <p:nvSpPr>
          <p:cNvPr id="19" name="Text 15"/>
          <p:cNvSpPr/>
          <p:nvPr/>
        </p:nvSpPr>
        <p:spPr>
          <a:xfrm>
            <a:off x="822960" y="5532120"/>
            <a:ext cx="10607040" cy="548640"/>
          </a:xfrm>
          <a:prstGeom prst="rect">
            <a:avLst/>
          </a:prstGeom>
          <a:noFill/>
          <a:ln/>
        </p:spPr>
        <p:txBody>
          <a:bodyPr wrap="square" lIns="0" tIns="0" rIns="0" bIns="0" rtlCol="0" anchor="ctr"/>
          <a:lstStyle/>
          <a:p>
            <a:pPr marL="0" indent="0">
              <a:lnSpc>
                <a:spcPts val="1700"/>
              </a:lnSpc>
              <a:buNone/>
            </a:pPr>
            <a:r>
              <a:rPr lang="en-US" sz="1200" dirty="0">
                <a:solidFill>
                  <a:srgbClr val="1A1A1A"/>
                </a:solidFill>
                <a:latin typeface="Hiragino Sans" pitchFamily="34" charset="0"/>
                <a:ea typeface="Hiragino Sans" pitchFamily="34" charset="-122"/>
                <a:cs typeface="Hiragino Sans" pitchFamily="34" charset="-120"/>
              </a:rPr>
              <a:t>推定は推定と明記（推定母線は破線・inferred-topology）。node-breaker層は CIM の BusbarSection / Bay / Terminal として書き出し、第2幕の標準ラインに合流。</a:t>
            </a:r>
            <a:endParaRPr lang="en-US" sz="1200" dirty="0"/>
          </a:p>
        </p:txBody>
      </p:sp>
      <p:sp>
        <p:nvSpPr>
          <p:cNvPr id="20" name="Text 16"/>
          <p:cNvSpPr/>
          <p:nvPr/>
        </p:nvSpPr>
        <p:spPr>
          <a:xfrm>
            <a:off x="822960" y="6053328"/>
            <a:ext cx="10607040" cy="292608"/>
          </a:xfrm>
          <a:prstGeom prst="rect">
            <a:avLst/>
          </a:prstGeom>
          <a:noFill/>
          <a:ln/>
        </p:spPr>
        <p:txBody>
          <a:bodyPr wrap="square" lIns="0" tIns="0" rIns="0" bIns="0" rtlCol="0" anchor="ctr"/>
          <a:lstStyle/>
          <a:p>
            <a:pPr marL="0" indent="0">
              <a:buNone/>
            </a:pPr>
            <a:r>
              <a:rPr lang="en-US" sz="1100" dirty="0">
                <a:solidFill>
                  <a:srgbClr val="55555F"/>
                </a:solidFill>
                <a:latin typeface="Hiragino Sans" pitchFamily="34" charset="0"/>
                <a:ea typeface="Hiragino Sans" pitchFamily="34" charset="-122"/>
                <a:cs typeface="Hiragino Sans" pitchFamily="34" charset="-120"/>
              </a:rPr>
              <a:t>→ 手法の詳細は姉妹デッキ SubSLD_paper_talk.pptx（16枚）と論文 papers/subsld/（IEEEtran 6p）</a:t>
            </a:r>
            <a:endParaRPr lang="en-US" sz="1100" dirty="0"/>
          </a:p>
        </p:txBody>
      </p:sp>
      <p:sp>
        <p:nvSpPr>
          <p:cNvPr id="21"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1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2:00</a:t>
            </a:r>
            <a:endParaRPr lang="en-US" sz="900" dirty="0"/>
          </a:p>
        </p:txBody>
      </p:sp>
      <p:sp>
        <p:nvSpPr>
          <p:cNvPr id="23"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name="Slide 17">
    <p:bg>
      <p:bgPr>
        <a:solidFill>
          <a:srgbClr val="0A0D1A"/>
        </a:solidFill>
        <a:effectLst/>
      </p:bgPr>
    </p:bg>
    <p:spTree>
      <p:nvGrpSpPr>
        <p:cNvPr id="1" name=""/>
        <p:cNvGrpSpPr/>
        <p:nvPr/>
      </p:nvGrpSpPr>
      <p:grpSpPr>
        <a:xfrm>
          <a:off x="0" y="0"/>
          <a:ext cx="0" cy="0"/>
          <a:chOff x="0" y="0"/>
          <a:chExt cx="0" cy="0"/>
        </a:xfrm>
      </p:grpSpPr>
      <p:pic>
        <p:nvPicPr>
          <p:cNvPr id="2" name="Image 0" descr="assets/subsld_flipbook.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変電所の中を機械生成する — SubSLD法</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第5幕 v1.8</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最後の問い：発電所が突然落ちたら、この系統は生き残れるか</a:t>
            </a:r>
            <a:endParaRPr lang="en-US" sz="2100" dirty="0"/>
          </a:p>
        </p:txBody>
      </p:sp>
      <p:sp>
        <p:nvSpPr>
          <p:cNvPr id="5" name="Shape 3"/>
          <p:cNvSpPr/>
          <p:nvPr/>
        </p:nvSpPr>
        <p:spPr>
          <a:xfrm>
            <a:off x="822960" y="1143000"/>
            <a:ext cx="10607040" cy="1188720"/>
          </a:xfrm>
          <a:prstGeom prst="roundRect">
            <a:avLst>
              <a:gd name="adj" fmla="val 4615"/>
            </a:avLst>
          </a:prstGeom>
          <a:solidFill>
            <a:srgbClr val="F4F4F6"/>
          </a:solidFill>
          <a:ln/>
        </p:spPr>
        <p:txBody>
          <a:bodyPr/>
          <a:lstStyle/>
          <a:p>
            <a:endParaRPr lang="ja-JP" altLang="en-US"/>
          </a:p>
        </p:txBody>
      </p:sp>
      <p:sp>
        <p:nvSpPr>
          <p:cNvPr id="6" name="Text 4"/>
          <p:cNvSpPr/>
          <p:nvPr/>
        </p:nvSpPr>
        <p:spPr>
          <a:xfrm>
            <a:off x="1097280" y="1143000"/>
            <a:ext cx="10058400" cy="1188720"/>
          </a:xfrm>
          <a:prstGeom prst="rect">
            <a:avLst/>
          </a:prstGeom>
          <a:noFill/>
          <a:ln/>
        </p:spPr>
        <p:txBody>
          <a:bodyPr wrap="square" lIns="0" tIns="0" rIns="0" bIns="0" rtlCol="0" anchor="ctr"/>
          <a:lstStyle/>
          <a:p>
            <a:pPr marL="0" indent="0">
              <a:lnSpc>
                <a:spcPts val="2200"/>
              </a:lnSpc>
              <a:buNone/>
            </a:pPr>
            <a:r>
              <a:rPr lang="en-US" sz="1400" b="1" dirty="0">
                <a:solidFill>
                  <a:srgbClr val="1A1A1A"/>
                </a:solidFill>
                <a:latin typeface="Hiragino Sans" pitchFamily="34" charset="0"/>
                <a:ea typeface="Hiragino Sans" pitchFamily="34" charset="-122"/>
                <a:cs typeface="Hiragino Sans" pitchFamily="34" charset="-120"/>
              </a:rPr>
              <a:t>電気は貯められない。</a:t>
            </a:r>
            <a:r>
              <a:rPr lang="en-US" sz="1400" dirty="0">
                <a:solidFill>
                  <a:srgbClr val="1A1A1A"/>
                </a:solidFill>
                <a:latin typeface="Hiragino Sans" pitchFamily="34" charset="0"/>
                <a:ea typeface="Hiragino Sans" pitchFamily="34" charset="-122"/>
                <a:cs typeface="Hiragino Sans" pitchFamily="34" charset="-120"/>
              </a:rPr>
              <a:t>作る量と使う量がズレると、周波数(50/60 Hz)がズレる。ズレすぎると発電機が次々止まり、大停電になる。
</a:t>
            </a:r>
            <a:r>
              <a:rPr lang="en-US" sz="1400" b="1" dirty="0">
                <a:solidFill>
                  <a:srgbClr val="1E2761"/>
                </a:solidFill>
                <a:latin typeface="Hiragino Sans" pitchFamily="34" charset="0"/>
                <a:ea typeface="Hiragino Sans" pitchFamily="34" charset="-122"/>
                <a:cs typeface="Hiragino Sans" pitchFamily="34" charset="-120"/>
              </a:rPr>
              <a:t>AGC（自動発電制御）</a:t>
            </a:r>
            <a:r>
              <a:rPr lang="en-US" sz="1400" dirty="0">
                <a:solidFill>
                  <a:srgbClr val="1A1A1A"/>
                </a:solidFill>
                <a:latin typeface="Hiragino Sans" pitchFamily="34" charset="0"/>
                <a:ea typeface="Hiragino Sans" pitchFamily="34" charset="-122"/>
                <a:cs typeface="Hiragino Sans" pitchFamily="34" charset="-120"/>
              </a:rPr>
              <a:t> ＝ 周波数のズレを見て発電所の出力を自動で増減し、系統を守る仕組み。</a:t>
            </a:r>
            <a:endParaRPr lang="en-US" sz="1400" dirty="0"/>
          </a:p>
        </p:txBody>
      </p:sp>
      <p:sp>
        <p:nvSpPr>
          <p:cNvPr id="7" name="Shape 5"/>
          <p:cNvSpPr/>
          <p:nvPr/>
        </p:nvSpPr>
        <p:spPr>
          <a:xfrm>
            <a:off x="822960" y="2606040"/>
            <a:ext cx="3291840" cy="2377440"/>
          </a:xfrm>
          <a:prstGeom prst="roundRect">
            <a:avLst>
              <a:gd name="adj" fmla="val 2692"/>
            </a:avLst>
          </a:prstGeom>
          <a:solidFill>
            <a:srgbClr val="F4F4F6"/>
          </a:solidFill>
          <a:ln/>
        </p:spPr>
        <p:txBody>
          <a:bodyPr/>
          <a:lstStyle/>
          <a:p>
            <a:endParaRPr lang="ja-JP" altLang="en-US"/>
          </a:p>
        </p:txBody>
      </p:sp>
      <p:sp>
        <p:nvSpPr>
          <p:cNvPr id="8" name="Shape 6"/>
          <p:cNvSpPr/>
          <p:nvPr/>
        </p:nvSpPr>
        <p:spPr>
          <a:xfrm>
            <a:off x="822960" y="2606040"/>
            <a:ext cx="3291840" cy="109728"/>
          </a:xfrm>
          <a:prstGeom prst="rect">
            <a:avLst/>
          </a:prstGeom>
          <a:solidFill>
            <a:srgbClr val="9A9AA6"/>
          </a:solidFill>
          <a:ln/>
        </p:spPr>
        <p:txBody>
          <a:bodyPr/>
          <a:lstStyle/>
          <a:p>
            <a:endParaRPr lang="ja-JP" altLang="en-US"/>
          </a:p>
        </p:txBody>
      </p:sp>
      <p:sp>
        <p:nvSpPr>
          <p:cNvPr id="9" name="Text 7"/>
          <p:cNvSpPr/>
          <p:nvPr/>
        </p:nvSpPr>
        <p:spPr>
          <a:xfrm>
            <a:off x="10058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① 計画する</a:t>
            </a:r>
            <a:endParaRPr lang="en-US" sz="1500" dirty="0"/>
          </a:p>
        </p:txBody>
      </p:sp>
      <p:sp>
        <p:nvSpPr>
          <p:cNvPr id="10" name="Text 8"/>
          <p:cNvSpPr/>
          <p:nvPr/>
        </p:nvSpPr>
        <p:spPr>
          <a:xfrm>
            <a:off x="2926080" y="2834640"/>
            <a:ext cx="1051560" cy="292608"/>
          </a:xfrm>
          <a:prstGeom prst="rect">
            <a:avLst/>
          </a:prstGeom>
          <a:noFill/>
          <a:ln/>
        </p:spPr>
        <p:txBody>
          <a:bodyPr wrap="square" lIns="0" tIns="0" rIns="0" bIns="0" rtlCol="0" anchor="ctr"/>
          <a:lstStyle/>
          <a:p>
            <a:pPr marL="0" indent="0" algn="r">
              <a:buNone/>
            </a:pPr>
            <a:r>
              <a:rPr lang="en-US" sz="1100" b="1" dirty="0">
                <a:solidFill>
                  <a:srgbClr val="55555F"/>
                </a:solidFill>
                <a:latin typeface="Helvetica Neue" pitchFamily="34" charset="0"/>
                <a:ea typeface="Helvetica Neue" pitchFamily="34" charset="-122"/>
                <a:cs typeface="Helvetica Neue" pitchFamily="34" charset="-120"/>
              </a:rPr>
              <a:t>UC</a:t>
            </a:r>
            <a:endParaRPr lang="en-US" sz="1100" dirty="0"/>
          </a:p>
        </p:txBody>
      </p:sp>
      <p:sp>
        <p:nvSpPr>
          <p:cNvPr id="11" name="Text 9"/>
          <p:cNvSpPr/>
          <p:nvPr/>
        </p:nvSpPr>
        <p:spPr>
          <a:xfrm>
            <a:off x="10058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「今日どの発電所を動かす？」</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24時間の起動停止を最適化。</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この選択が、事故時に系統を支える</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「慣性」と「調整余力」も決める</a:t>
            </a:r>
            <a:endParaRPr lang="en-US" sz="1100" dirty="0"/>
          </a:p>
        </p:txBody>
      </p:sp>
      <p:sp>
        <p:nvSpPr>
          <p:cNvPr id="12" name="Text 10"/>
          <p:cNvSpPr/>
          <p:nvPr/>
        </p:nvSpPr>
        <p:spPr>
          <a:xfrm>
            <a:off x="4133088" y="3520440"/>
            <a:ext cx="365760" cy="365760"/>
          </a:xfrm>
          <a:prstGeom prst="rect">
            <a:avLst/>
          </a:prstGeom>
          <a:noFill/>
          <a:ln/>
        </p:spPr>
        <p:txBody>
          <a:bodyPr wrap="square" lIns="0" tIns="0" rIns="0" bIns="0" rtlCol="0" anchor="ctr"/>
          <a:lstStyle/>
          <a:p>
            <a:pPr marL="0" indent="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3" name="Shape 11"/>
          <p:cNvSpPr/>
          <p:nvPr/>
        </p:nvSpPr>
        <p:spPr>
          <a:xfrm>
            <a:off x="4480560" y="2606040"/>
            <a:ext cx="3291840" cy="2377440"/>
          </a:xfrm>
          <a:prstGeom prst="roundRect">
            <a:avLst>
              <a:gd name="adj" fmla="val 2692"/>
            </a:avLst>
          </a:prstGeom>
          <a:solidFill>
            <a:srgbClr val="F4F4F6"/>
          </a:solidFill>
          <a:ln/>
        </p:spPr>
        <p:txBody>
          <a:bodyPr/>
          <a:lstStyle/>
          <a:p>
            <a:endParaRPr lang="ja-JP" altLang="en-US"/>
          </a:p>
        </p:txBody>
      </p:sp>
      <p:sp>
        <p:nvSpPr>
          <p:cNvPr id="14" name="Shape 12"/>
          <p:cNvSpPr/>
          <p:nvPr/>
        </p:nvSpPr>
        <p:spPr>
          <a:xfrm>
            <a:off x="4480560" y="2606040"/>
            <a:ext cx="3291840" cy="109728"/>
          </a:xfrm>
          <a:prstGeom prst="rect">
            <a:avLst/>
          </a:prstGeom>
          <a:solidFill>
            <a:srgbClr val="17BECF"/>
          </a:solidFill>
          <a:ln/>
        </p:spPr>
        <p:txBody>
          <a:bodyPr/>
          <a:lstStyle/>
          <a:p>
            <a:endParaRPr lang="ja-JP" altLang="en-US"/>
          </a:p>
        </p:txBody>
      </p:sp>
      <p:sp>
        <p:nvSpPr>
          <p:cNvPr id="15" name="Text 13"/>
          <p:cNvSpPr/>
          <p:nvPr/>
        </p:nvSpPr>
        <p:spPr>
          <a:xfrm>
            <a:off x="46634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② 流してみる</a:t>
            </a:r>
            <a:endParaRPr lang="en-US" sz="1500" dirty="0"/>
          </a:p>
        </p:txBody>
      </p:sp>
      <p:sp>
        <p:nvSpPr>
          <p:cNvPr id="16" name="Text 14"/>
          <p:cNvSpPr/>
          <p:nvPr/>
        </p:nvSpPr>
        <p:spPr>
          <a:xfrm>
            <a:off x="6583680" y="2834640"/>
            <a:ext cx="1051560" cy="292608"/>
          </a:xfrm>
          <a:prstGeom prst="rect">
            <a:avLst/>
          </a:prstGeom>
          <a:noFill/>
          <a:ln/>
        </p:spPr>
        <p:txBody>
          <a:bodyPr wrap="square" lIns="0" tIns="0" rIns="0" bIns="0" rtlCol="0" anchor="ctr"/>
          <a:lstStyle/>
          <a:p>
            <a:pPr marL="0" indent="0" algn="r">
              <a:buNone/>
            </a:pPr>
            <a:r>
              <a:rPr lang="en-US" sz="1100" b="1" dirty="0">
                <a:solidFill>
                  <a:srgbClr val="17BECF"/>
                </a:solidFill>
                <a:latin typeface="Helvetica Neue" pitchFamily="34" charset="0"/>
                <a:ea typeface="Helvetica Neue" pitchFamily="34" charset="-122"/>
                <a:cs typeface="Helvetica Neue" pitchFamily="34" charset="-120"/>
              </a:rPr>
              <a:t>潮流計算</a:t>
            </a:r>
            <a:endParaRPr lang="en-US" sz="1100" dirty="0"/>
          </a:p>
        </p:txBody>
      </p:sp>
      <p:sp>
        <p:nvSpPr>
          <p:cNvPr id="17" name="Text 15"/>
          <p:cNvSpPr/>
          <p:nvPr/>
        </p:nvSpPr>
        <p:spPr>
          <a:xfrm>
            <a:off x="46634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「その電気、送りきれる？」</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計画した発電を実際の送電線網に</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流して確認 — 4島すべて100%供給</a:t>
            </a:r>
            <a:endParaRPr lang="en-US" sz="1100" dirty="0"/>
          </a:p>
        </p:txBody>
      </p:sp>
      <p:sp>
        <p:nvSpPr>
          <p:cNvPr id="18" name="Text 16"/>
          <p:cNvSpPr/>
          <p:nvPr/>
        </p:nvSpPr>
        <p:spPr>
          <a:xfrm>
            <a:off x="7790688" y="3520440"/>
            <a:ext cx="365760" cy="365760"/>
          </a:xfrm>
          <a:prstGeom prst="rect">
            <a:avLst/>
          </a:prstGeom>
          <a:noFill/>
          <a:ln/>
        </p:spPr>
        <p:txBody>
          <a:bodyPr wrap="square" lIns="0" tIns="0" rIns="0" bIns="0" rtlCol="0" anchor="ctr"/>
          <a:lstStyle/>
          <a:p>
            <a:pPr marL="0" indent="0">
              <a:buNone/>
            </a:pPr>
            <a:r>
              <a:rPr lang="en-US" sz="2000" b="1"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9" name="Shape 17"/>
          <p:cNvSpPr/>
          <p:nvPr/>
        </p:nvSpPr>
        <p:spPr>
          <a:xfrm>
            <a:off x="8138160" y="2606040"/>
            <a:ext cx="3291840" cy="2377440"/>
          </a:xfrm>
          <a:prstGeom prst="roundRect">
            <a:avLst>
              <a:gd name="adj" fmla="val 2692"/>
            </a:avLst>
          </a:prstGeom>
          <a:solidFill>
            <a:srgbClr val="F4F4F6"/>
          </a:solidFill>
          <a:ln/>
        </p:spPr>
        <p:txBody>
          <a:bodyPr/>
          <a:lstStyle/>
          <a:p>
            <a:endParaRPr lang="ja-JP" altLang="en-US"/>
          </a:p>
        </p:txBody>
      </p:sp>
      <p:sp>
        <p:nvSpPr>
          <p:cNvPr id="20" name="Shape 18"/>
          <p:cNvSpPr/>
          <p:nvPr/>
        </p:nvSpPr>
        <p:spPr>
          <a:xfrm>
            <a:off x="8138160" y="2606040"/>
            <a:ext cx="3291840" cy="109728"/>
          </a:xfrm>
          <a:prstGeom prst="rect">
            <a:avLst/>
          </a:prstGeom>
          <a:solidFill>
            <a:srgbClr val="D62728"/>
          </a:solidFill>
          <a:ln/>
        </p:spPr>
        <p:txBody>
          <a:bodyPr/>
          <a:lstStyle/>
          <a:p>
            <a:endParaRPr lang="ja-JP" altLang="en-US"/>
          </a:p>
        </p:txBody>
      </p:sp>
      <p:sp>
        <p:nvSpPr>
          <p:cNvPr id="21" name="Text 19"/>
          <p:cNvSpPr/>
          <p:nvPr/>
        </p:nvSpPr>
        <p:spPr>
          <a:xfrm>
            <a:off x="8321040" y="2816352"/>
            <a:ext cx="2011680" cy="320040"/>
          </a:xfrm>
          <a:prstGeom prst="rect">
            <a:avLst/>
          </a:prstGeom>
          <a:noFill/>
          <a:ln/>
        </p:spPr>
        <p:txBody>
          <a:bodyPr wrap="square" lIns="0" tIns="0" rIns="0" bIns="0" rtlCol="0" anchor="ctr"/>
          <a:lstStyle/>
          <a:p>
            <a:pPr marL="0" indent="0">
              <a:buNone/>
            </a:pPr>
            <a:r>
              <a:rPr lang="en-US" sz="1500" b="1" dirty="0">
                <a:solidFill>
                  <a:srgbClr val="1A1A1A"/>
                </a:solidFill>
                <a:latin typeface="Hiragino Sans" pitchFamily="34" charset="0"/>
                <a:ea typeface="Hiragino Sans" pitchFamily="34" charset="-122"/>
                <a:cs typeface="Hiragino Sans" pitchFamily="34" charset="-120"/>
              </a:rPr>
              <a:t>③ 事故らせる</a:t>
            </a:r>
            <a:endParaRPr lang="en-US" sz="1500" dirty="0"/>
          </a:p>
        </p:txBody>
      </p:sp>
      <p:sp>
        <p:nvSpPr>
          <p:cNvPr id="22" name="Text 20"/>
          <p:cNvSpPr/>
          <p:nvPr/>
        </p:nvSpPr>
        <p:spPr>
          <a:xfrm>
            <a:off x="10241280" y="2834640"/>
            <a:ext cx="1051560" cy="292608"/>
          </a:xfrm>
          <a:prstGeom prst="rect">
            <a:avLst/>
          </a:prstGeom>
          <a:noFill/>
          <a:ln/>
        </p:spPr>
        <p:txBody>
          <a:bodyPr wrap="square" lIns="0" tIns="0" rIns="0" bIns="0" rtlCol="0" anchor="ctr"/>
          <a:lstStyle/>
          <a:p>
            <a:pPr marL="0" indent="0" algn="r">
              <a:buNone/>
            </a:pPr>
            <a:r>
              <a:rPr lang="en-US" sz="1100" b="1" dirty="0">
                <a:solidFill>
                  <a:srgbClr val="D62728"/>
                </a:solidFill>
                <a:latin typeface="Helvetica Neue" pitchFamily="34" charset="0"/>
                <a:ea typeface="Helvetica Neue" pitchFamily="34" charset="-122"/>
                <a:cs typeface="Helvetica Neue" pitchFamily="34" charset="-120"/>
              </a:rPr>
              <a:t>AGC</a:t>
            </a:r>
            <a:endParaRPr lang="en-US" sz="1100" dirty="0"/>
          </a:p>
        </p:txBody>
      </p:sp>
      <p:sp>
        <p:nvSpPr>
          <p:cNvPr id="23" name="Text 21"/>
          <p:cNvSpPr/>
          <p:nvPr/>
        </p:nvSpPr>
        <p:spPr>
          <a:xfrm>
            <a:off x="8321040" y="3200400"/>
            <a:ext cx="2971800" cy="1691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「突然、最大の発電所が落ちたら？」</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周波数の急落と自動復帰を秒単位で</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再現 — 制御の仕組みは電気学会の</a:t>
            </a:r>
            <a:endParaRPr lang="en-US" sz="1100" dirty="0"/>
          </a:p>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標準モデル(AGC30)に準拠</a:t>
            </a:r>
            <a:endParaRPr lang="en-US" sz="1100" dirty="0"/>
          </a:p>
        </p:txBody>
      </p:sp>
      <p:sp>
        <p:nvSpPr>
          <p:cNvPr id="24" name="Shape 22"/>
          <p:cNvSpPr/>
          <p:nvPr/>
        </p:nvSpPr>
        <p:spPr>
          <a:xfrm>
            <a:off x="822960" y="5257800"/>
            <a:ext cx="10607040" cy="960120"/>
          </a:xfrm>
          <a:prstGeom prst="roundRect">
            <a:avLst>
              <a:gd name="adj" fmla="val 5714"/>
            </a:avLst>
          </a:prstGeom>
          <a:solidFill>
            <a:srgbClr val="1E2761"/>
          </a:solidFill>
          <a:ln/>
        </p:spPr>
        <p:txBody>
          <a:bodyPr/>
          <a:lstStyle/>
          <a:p>
            <a:endParaRPr lang="ja-JP" altLang="en-US"/>
          </a:p>
        </p:txBody>
      </p:sp>
      <p:sp>
        <p:nvSpPr>
          <p:cNvPr id="25" name="Text 23"/>
          <p:cNvSpPr/>
          <p:nvPr/>
        </p:nvSpPr>
        <p:spPr>
          <a:xfrm>
            <a:off x="1097280" y="5257800"/>
            <a:ext cx="10058400" cy="960120"/>
          </a:xfrm>
          <a:prstGeom prst="rect">
            <a:avLst/>
          </a:prstGeom>
          <a:noFill/>
          <a:ln/>
        </p:spPr>
        <p:txBody>
          <a:bodyPr wrap="square" lIns="0" tIns="0" rIns="0" bIns="0" rtlCol="0" anchor="ctr"/>
          <a:lstStyle/>
          <a:p>
            <a:pPr marL="0" indent="0">
              <a:lnSpc>
                <a:spcPts val="2100"/>
              </a:lnSpc>
              <a:buNone/>
            </a:pPr>
            <a:r>
              <a:rPr lang="en-US" sz="1400" b="1" dirty="0">
                <a:solidFill>
                  <a:srgbClr val="FFFFFF"/>
                </a:solidFill>
                <a:latin typeface="Hiragino Sans" pitchFamily="34" charset="0"/>
                <a:ea typeface="Hiragino Sans" pitchFamily="34" charset="-122"/>
                <a:cs typeface="Hiragino Sans" pitchFamily="34" charset="-120"/>
              </a:rPr>
              <a:t>この3つは本来、別々の組織の、別々の非公開データの仕事。ここでは地図から作った1つの公開モデルの上で、1コマンドで全部つながって動く。</a:t>
            </a:r>
            <a:endParaRPr lang="en-US" sz="1400" dirty="0"/>
          </a:p>
        </p:txBody>
      </p:sp>
      <p:sp>
        <p:nvSpPr>
          <p:cNvPr id="26" name="Text 2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7" name="Text 2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8" name="Text 2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16</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事故を起こしてみた：最大の発電所を、いきなり落とす</a:t>
            </a:r>
            <a:endParaRPr lang="en-US" sz="2100" dirty="0"/>
          </a:p>
        </p:txBody>
      </p:sp>
      <p:pic>
        <p:nvPicPr>
          <p:cNvPr id="5" name="Image 0" descr="assets/fig_agc_map.png"/>
          <p:cNvPicPr>
            <a:picLocks noChangeAspect="1"/>
          </p:cNvPicPr>
          <p:nvPr/>
        </p:nvPicPr>
        <p:blipFill>
          <a:blip r:embed="rId3"/>
          <a:stretch>
            <a:fillRect/>
          </a:stretch>
        </p:blipFill>
        <p:spPr>
          <a:xfrm>
            <a:off x="502920" y="1097280"/>
            <a:ext cx="3977640" cy="4974336"/>
          </a:xfrm>
          <a:prstGeom prst="rect">
            <a:avLst/>
          </a:prstGeom>
        </p:spPr>
      </p:pic>
      <p:pic>
        <p:nvPicPr>
          <p:cNvPr id="6" name="Image 1" descr="assets/fig_agc_story.png"/>
          <p:cNvPicPr>
            <a:picLocks noChangeAspect="1"/>
          </p:cNvPicPr>
          <p:nvPr/>
        </p:nvPicPr>
        <p:blipFill>
          <a:blip r:embed="rId4"/>
          <a:stretch>
            <a:fillRect/>
          </a:stretch>
        </p:blipFill>
        <p:spPr>
          <a:xfrm>
            <a:off x="4617720" y="1234440"/>
            <a:ext cx="7086600" cy="4069080"/>
          </a:xfrm>
          <a:prstGeom prst="rect">
            <a:avLst/>
          </a:prstGeom>
        </p:spPr>
      </p:pic>
      <p:sp>
        <p:nvSpPr>
          <p:cNvPr id="7" name="Text 3"/>
          <p:cNvSpPr/>
          <p:nvPr/>
        </p:nvSpPr>
        <p:spPr>
          <a:xfrm>
            <a:off x="4709160" y="5349240"/>
            <a:ext cx="6949440" cy="274320"/>
          </a:xfrm>
          <a:prstGeom prst="rect">
            <a:avLst/>
          </a:prstGeom>
          <a:noFill/>
          <a:ln/>
        </p:spPr>
        <p:txBody>
          <a:bodyPr wrap="square" lIns="0" tIns="0" rIns="0" bIns="0" rtlCol="0" anchor="ctr"/>
          <a:lstStyle/>
          <a:p>
            <a:pPr marL="0" indent="0">
              <a:buNone/>
            </a:pPr>
            <a:r>
              <a:rPr lang="en-US" sz="1150" b="1" dirty="0">
                <a:solidFill>
                  <a:srgbClr val="1A1A1A"/>
                </a:solidFill>
                <a:latin typeface="Hiragino Sans" pitchFamily="34" charset="0"/>
                <a:ea typeface="Hiragino Sans" pitchFamily="34" charset="-122"/>
                <a:cs typeface="Hiragino Sans" pitchFamily="34" charset="-120"/>
              </a:rPr>
              <a:t>地図の島の色 ＝ グラフの線の色。★が落とした発電所の実在の場所。</a:t>
            </a:r>
            <a:endParaRPr lang="en-US" sz="1150" dirty="0"/>
          </a:p>
        </p:txBody>
      </p:sp>
      <p:sp>
        <p:nvSpPr>
          <p:cNvPr id="8" name="Text 4"/>
          <p:cNvSpPr/>
          <p:nvPr/>
        </p:nvSpPr>
        <p:spPr>
          <a:xfrm>
            <a:off x="4709160" y="5669280"/>
            <a:ext cx="6949440" cy="548640"/>
          </a:xfrm>
          <a:prstGeom prst="rect">
            <a:avLst/>
          </a:prstGeom>
          <a:noFill/>
          <a:ln/>
        </p:spPr>
        <p:txBody>
          <a:bodyPr wrap="square" lIns="0" tIns="0" rIns="0" bIns="0" rtlCol="0" anchor="ctr"/>
          <a:lstStyle/>
          <a:p>
            <a:pPr marL="0" indent="0">
              <a:lnSpc>
                <a:spcPts val="1600"/>
              </a:lnSpc>
              <a:buNone/>
            </a:pPr>
            <a:r>
              <a:rPr lang="en-US" sz="1100" dirty="0">
                <a:solidFill>
                  <a:srgbClr val="55555F"/>
                </a:solidFill>
                <a:latin typeface="Hiragino Sans" pitchFamily="34" charset="0"/>
                <a:ea typeface="Hiragino Sans" pitchFamily="34" charset="-122"/>
                <a:cs typeface="Hiragino Sans" pitchFamily="34" charset="-120"/>
              </a:rPr>
              <a:t>小さな北海道(4.4 GW)は苫東厚真を失うと負荷遮断まで落ち込む。大きな東日本(59 GW)は3倍の規模(富津 5,040 MW)を失っても踏みとどまる — 系統の大きさ(慣性)の差が、そのまま運命の差になる。(この層はプラント全体5,040 MWを落とす上界評価 — 次章の多機層は同じ富津をUC運転点3,893 MWで落とす)</a:t>
            </a:r>
            <a:endParaRPr lang="en-US" sz="1100" dirty="0"/>
          </a:p>
        </p:txBody>
      </p:sp>
      <p:sp>
        <p:nvSpPr>
          <p:cNvPr id="9" name="Text 5"/>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0" name="Text 6"/>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11" name="Text 7"/>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17</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動揺も解ける：同じ事故を、54機を1機ずつ解く（AGC30 → AGC-N）</a:t>
            </a:r>
            <a:endParaRPr lang="en-US" sz="2100" dirty="0"/>
          </a:p>
        </p:txBody>
      </p:sp>
      <p:pic>
        <p:nvPicPr>
          <p:cNvPr id="5" name="Image 0" descr="assets/fig_swing_hokkaido.png"/>
          <p:cNvPicPr>
            <a:picLocks noChangeAspect="1"/>
          </p:cNvPicPr>
          <p:nvPr/>
        </p:nvPicPr>
        <p:blipFill>
          <a:blip r:embed="rId3"/>
          <a:stretch>
            <a:fillRect/>
          </a:stretch>
        </p:blipFill>
        <p:spPr>
          <a:xfrm>
            <a:off x="777240" y="1051560"/>
            <a:ext cx="10607040" cy="4828032"/>
          </a:xfrm>
          <a:prstGeom prst="rect">
            <a:avLst/>
          </a:prstGeom>
        </p:spPr>
      </p:pic>
      <p:sp>
        <p:nvSpPr>
          <p:cNvPr id="6" name="Text 3"/>
          <p:cNvSpPr/>
          <p:nvPr/>
        </p:nvSpPr>
        <p:spPr>
          <a:xfrm>
            <a:off x="822960" y="5943600"/>
            <a:ext cx="10607040" cy="320040"/>
          </a:xfrm>
          <a:prstGeom prst="rect">
            <a:avLst/>
          </a:prstGeom>
          <a:noFill/>
          <a:ln/>
        </p:spPr>
        <p:txBody>
          <a:bodyPr wrap="square" lIns="0" tIns="0" rIns="0" bIns="0" rtlCol="0" anchor="ctr"/>
          <a:lstStyle/>
          <a:p>
            <a:pPr marL="0" indent="0">
              <a:buNone/>
            </a:pPr>
            <a:r>
              <a:rPr lang="en-US" sz="1150" dirty="0">
                <a:solidFill>
                  <a:srgbClr val="1A1A1A"/>
                </a:solidFill>
                <a:latin typeface="Hiragino Sans" pitchFamily="34" charset="0"/>
                <a:ea typeface="Hiragino Sans" pitchFamily="34" charset="-122"/>
                <a:cs typeface="Hiragino Sans" pitchFamily="34" charset="-120"/>
              </a:rPr>
              <a:t>AGC30の機種モデルをUCがオンラインにした全プラントへ1機ずつ与え、実網のKron縮約Ybus上で動揺方程式と共シミュレーション。潮流解との初期化整合は厳密(max 0.0 MW)。</a:t>
            </a:r>
            <a:endParaRPr lang="en-US" sz="1150" dirty="0"/>
          </a:p>
        </p:txBody>
      </p:sp>
      <p:sp>
        <p:nvSpPr>
          <p:cNvPr id="7" name="Text 4"/>
          <p:cNvSpPr/>
          <p:nvPr/>
        </p:nvSpPr>
        <p:spPr>
          <a:xfrm>
            <a:off x="822960" y="6236208"/>
            <a:ext cx="1060704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下段=各機の相差角(±40°の動揺→減衰整定)。多機版はCOI簡約版よりやや深く沈む(−2.7 vs −2.5 Hz) — 定Z負荷とGF幅の実装差で、帳簿に開示。</a:t>
            </a:r>
            <a:endParaRPr lang="en-US" sz="1050" dirty="0"/>
          </a:p>
        </p:txBody>
      </p:sp>
      <p:sp>
        <p:nvSpPr>
          <p:cNvPr id="8" name="Text 5"/>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9" name="Text 6"/>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0" name="Text 7"/>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18</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系統ごと、全部解く：4島・541機の動揺</a:t>
            </a:r>
            <a:endParaRPr lang="en-US" sz="2100" dirty="0"/>
          </a:p>
        </p:txBody>
      </p:sp>
      <p:pic>
        <p:nvPicPr>
          <p:cNvPr id="5" name="Image 0" descr="assets/fig_swing_national.png"/>
          <p:cNvPicPr>
            <a:picLocks noChangeAspect="1"/>
          </p:cNvPicPr>
          <p:nvPr/>
        </p:nvPicPr>
        <p:blipFill>
          <a:blip r:embed="rId3"/>
          <a:stretch>
            <a:fillRect/>
          </a:stretch>
        </p:blipFill>
        <p:spPr>
          <a:xfrm>
            <a:off x="1737360" y="932688"/>
            <a:ext cx="8732520" cy="5047488"/>
          </a:xfrm>
          <a:prstGeom prst="rect">
            <a:avLst/>
          </a:prstGeom>
        </p:spPr>
      </p:pic>
      <p:sp>
        <p:nvSpPr>
          <p:cNvPr id="6" name="Text 3"/>
          <p:cNvSpPr/>
          <p:nvPr/>
        </p:nvSpPr>
        <p:spPr>
          <a:xfrm>
            <a:off x="822960" y="6053328"/>
            <a:ext cx="10607040" cy="384048"/>
          </a:xfrm>
          <a:prstGeom prst="rect">
            <a:avLst/>
          </a:prstGeom>
          <a:noFill/>
          <a:ln/>
        </p:spPr>
        <p:txBody>
          <a:bodyPr wrap="square" lIns="0" tIns="0" rIns="0" bIns="0" rtlCol="0" anchor="ctr"/>
          <a:lstStyle/>
          <a:p>
            <a:pPr marL="0" indent="0">
              <a:lnSpc>
                <a:spcPts val="1350"/>
              </a:lnSpc>
              <a:buNone/>
            </a:pPr>
            <a:r>
              <a:rPr lang="en-US" sz="1050" dirty="0">
                <a:solidFill>
                  <a:srgbClr val="1A1A1A"/>
                </a:solidFill>
                <a:latin typeface="Hiragino Sans" pitchFamily="34" charset="0"/>
                <a:ea typeface="Hiragino Sans" pitchFamily="34" charset="-122"/>
                <a:cs typeface="Hiragino Sans" pitchFamily="34" charset="-120"/>
              </a:rPr>
              <a:t>東183機は富津3,893MWを失っても−0.44Hzで踏みとどまり、全機がうねりながら回復する。西298機は±0.3Hzの機間動揺が10秒で減衰。弱結合の小規模機7機は脱調保護が切り離す(切離しの瞬間まで描画・全経過は帳簿)。</a:t>
            </a:r>
            <a:endParaRPr lang="en-US" sz="105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19</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0">
    <p:bg>
      <p:bgPr>
        <a:solidFill>
          <a:srgbClr val="0A0D1A"/>
        </a:solidFill>
        <a:effectLst/>
      </p:bgPr>
    </p:bg>
    <p:spTree>
      <p:nvGrpSpPr>
        <p:cNvPr id="1" name=""/>
        <p:cNvGrpSpPr/>
        <p:nvPr/>
      </p:nvGrpSpPr>
      <p:grpSpPr>
        <a:xfrm>
          <a:off x="0" y="0"/>
          <a:ext cx="0" cy="0"/>
          <a:chOff x="0" y="0"/>
          <a:chExt cx="0" cy="0"/>
        </a:xfrm>
      </p:grpSpPr>
      <p:pic>
        <p:nvPicPr>
          <p:cNvPr id="2" name="Image 0" descr="assets/loading_map_peak.png"/>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ピーク断面の線路負荷率 — 東西フル網のAC潮流(UC断面注入)</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定格は電圧階級の推定 — 相対的な混雑指標</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1">
    <p:bg>
      <p:bgPr>
        <a:solidFill>
          <a:srgbClr val="0A0D1A"/>
        </a:solidFill>
        <a:effectLst/>
      </p:bgPr>
    </p:bg>
    <p:spTree>
      <p:nvGrpSpPr>
        <p:cNvPr id="1" name=""/>
        <p:cNvGrpSpPr/>
        <p:nvPr/>
      </p:nvGrpSpPr>
      <p:grpSpPr>
        <a:xfrm>
          <a:off x="0" y="0"/>
          <a:ext cx="0" cy="0"/>
          <a:chOff x="0" y="0"/>
          <a:chExt cx="0" cy="0"/>
        </a:xfrm>
      </p:grpSpPr>
      <p:pic>
        <p:nvPicPr>
          <p:cNvPr id="2" name="Image 0" descr="assets/scr_map.png"/>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系統の強さの地図 — 全バス短絡容量(SCC)</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UCピーク断面・古典近似(図中に開示)</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25">
    <p:bg>
      <p:bgPr>
        <a:solidFill>
          <a:srgbClr val="0A0D1A"/>
        </a:solidFill>
        <a:effectLst/>
      </p:bgPr>
    </p:bg>
    <p:spTree>
      <p:nvGrpSpPr>
        <p:cNvPr id="1" name=""/>
        <p:cNvGrpSpPr/>
        <p:nvPr/>
      </p:nvGrpSpPr>
      <p:grpSpPr>
        <a:xfrm>
          <a:off x="0" y="0"/>
          <a:ext cx="0" cy="0"/>
          <a:chOff x="0" y="0"/>
          <a:chExt cx="0" cy="0"/>
        </a:xfrm>
      </p:grpSpPr>
      <p:pic>
        <p:nvPicPr>
          <p:cNvPr id="2" name="Image 0" descr="assets/interarea_mode.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逆位相動揺 — 九州側と関西側の綱引き</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西日本298機・最大機トリップ後</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22">
    <p:bg>
      <p:bgPr>
        <a:solidFill>
          <a:srgbClr val="0A0D1A"/>
        </a:solidFill>
        <a:effectLst/>
      </p:bgPr>
    </p:bg>
    <p:spTree>
      <p:nvGrpSpPr>
        <p:cNvPr id="1" name=""/>
        <p:cNvGrpSpPr/>
        <p:nvPr/>
      </p:nvGrpSpPr>
      <p:grpSpPr>
        <a:xfrm>
          <a:off x="0" y="0"/>
          <a:ext cx="0" cy="0"/>
          <a:chOff x="0" y="0"/>
          <a:chExt cx="0" cy="0"/>
        </a:xfrm>
      </p:grpSpPr>
      <p:pic>
        <p:nvPicPr>
          <p:cNvPr id="2" name="Image 0" descr="assets/agc_east_wave.gif"/>
          <p:cNvPicPr>
            <a:picLocks noChangeAspect="1"/>
          </p:cNvPicPr>
          <p:nvPr/>
        </p:nvPicPr>
        <p:blipFill>
          <a:blip r:embed="rId3"/>
          <a:stretch>
            <a:fillRect/>
          </a:stretch>
        </p:blipFill>
        <p:spPr>
          <a:xfrm>
            <a:off x="3227832" y="137160"/>
            <a:ext cx="8503920" cy="6382512"/>
          </a:xfrm>
          <a:prstGeom prst="rect">
            <a:avLst/>
          </a:prstGeom>
        </p:spPr>
      </p:pic>
      <p:sp>
        <p:nvSpPr>
          <p:cNvPr id="3" name="Text 0"/>
          <p:cNvSpPr/>
          <p:nvPr/>
        </p:nvSpPr>
        <p:spPr>
          <a:xfrm>
            <a:off x="502920" y="640080"/>
            <a:ext cx="2651760" cy="457200"/>
          </a:xfrm>
          <a:prstGeom prst="rect">
            <a:avLst/>
          </a:prstGeom>
          <a:noFill/>
          <a:ln/>
        </p:spPr>
        <p:txBody>
          <a:bodyPr wrap="square" lIns="0" tIns="0" rIns="0" bIns="0" rtlCol="0" anchor="ctr"/>
          <a:lstStyle/>
          <a:p>
            <a:pPr marL="0" indent="0">
              <a:buNone/>
            </a:pPr>
            <a:r>
              <a:rPr lang="en-US" sz="2400" b="1" dirty="0">
                <a:solidFill>
                  <a:srgbClr val="FFFFFF"/>
                </a:solidFill>
                <a:latin typeface="Hiragino Sans" pitchFamily="34" charset="0"/>
                <a:ea typeface="Hiragino Sans" pitchFamily="34" charset="-122"/>
                <a:cs typeface="Hiragino Sans" pitchFamily="34" charset="-120"/>
              </a:rPr>
              <a:t>波が、走る。</a:t>
            </a:r>
            <a:endParaRPr lang="en-US" sz="2400" dirty="0"/>
          </a:p>
        </p:txBody>
      </p:sp>
      <p:sp>
        <p:nvSpPr>
          <p:cNvPr id="4" name="Text 1"/>
          <p:cNvSpPr/>
          <p:nvPr/>
        </p:nvSpPr>
        <p:spPr>
          <a:xfrm>
            <a:off x="521208" y="1234440"/>
            <a:ext cx="2697480" cy="1005840"/>
          </a:xfrm>
          <a:prstGeom prst="rect">
            <a:avLst/>
          </a:prstGeom>
          <a:noFill/>
          <a:ln/>
        </p:spPr>
        <p:txBody>
          <a:bodyPr wrap="square" lIns="0" tIns="0" rIns="0" bIns="0" rtlCol="0" anchor="ctr"/>
          <a:lstStyle/>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富津で3,893MWが消えた瞬間、</a:t>
            </a:r>
            <a:endParaRPr lang="en-US" sz="1250" dirty="0"/>
          </a:p>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周波数低下の波が実網インピーダンス</a:t>
            </a:r>
            <a:endParaRPr lang="en-US" sz="1250" dirty="0"/>
          </a:p>
          <a:p>
            <a:pPr marL="0" indent="0">
              <a:lnSpc>
                <a:spcPts val="1800"/>
              </a:lnSpc>
              <a:buNone/>
            </a:pPr>
            <a:r>
              <a:rPr lang="en-US" sz="1250" dirty="0">
                <a:solidFill>
                  <a:srgbClr val="C8CDD8"/>
                </a:solidFill>
                <a:latin typeface="Hiragino Sans" pitchFamily="34" charset="0"/>
                <a:ea typeface="Hiragino Sans" pitchFamily="34" charset="-122"/>
                <a:cs typeface="Hiragino Sans" pitchFamily="34" charset="-120"/>
              </a:rPr>
              <a:t>を伝って東北へ駆け上がる。</a:t>
            </a:r>
            <a:endParaRPr lang="en-US" sz="1250" dirty="0"/>
          </a:p>
        </p:txBody>
      </p:sp>
      <p:sp>
        <p:nvSpPr>
          <p:cNvPr id="5" name="Text 2"/>
          <p:cNvSpPr/>
          <p:nvPr/>
        </p:nvSpPr>
        <p:spPr>
          <a:xfrm>
            <a:off x="521208" y="2514600"/>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丸</a:t>
            </a:r>
            <a:endParaRPr lang="en-US" sz="1150" dirty="0"/>
          </a:p>
        </p:txBody>
      </p:sp>
      <p:sp>
        <p:nvSpPr>
          <p:cNvPr id="6" name="Text 3"/>
          <p:cNvSpPr/>
          <p:nvPr/>
        </p:nvSpPr>
        <p:spPr>
          <a:xfrm>
            <a:off x="521208" y="2761488"/>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発電機(実座標・大きさ=定格)</a:t>
            </a:r>
            <a:endParaRPr lang="en-US" sz="1000" dirty="0"/>
          </a:p>
        </p:txBody>
      </p:sp>
      <p:sp>
        <p:nvSpPr>
          <p:cNvPr id="7" name="Text 4"/>
          <p:cNvSpPr/>
          <p:nvPr/>
        </p:nvSpPr>
        <p:spPr>
          <a:xfrm>
            <a:off x="521208" y="3172968"/>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色</a:t>
            </a:r>
            <a:endParaRPr lang="en-US" sz="1150" dirty="0"/>
          </a:p>
        </p:txBody>
      </p:sp>
      <p:sp>
        <p:nvSpPr>
          <p:cNvPr id="8" name="Text 5"/>
          <p:cNvSpPr/>
          <p:nvPr/>
        </p:nvSpPr>
        <p:spPr>
          <a:xfrm>
            <a:off x="521208" y="3419856"/>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その機のローカル周波数</a:t>
            </a:r>
            <a:endParaRPr lang="en-US" sz="1000" dirty="0"/>
          </a:p>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(青=50Hz → 赤=低下)</a:t>
            </a:r>
            <a:endParaRPr lang="en-US" sz="1000" dirty="0"/>
          </a:p>
        </p:txBody>
      </p:sp>
      <p:sp>
        <p:nvSpPr>
          <p:cNvPr id="9" name="Text 6"/>
          <p:cNvSpPr/>
          <p:nvPr/>
        </p:nvSpPr>
        <p:spPr>
          <a:xfrm>
            <a:off x="521208" y="3831336"/>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a:t>
            </a:r>
            <a:endParaRPr lang="en-US" sz="1150" dirty="0"/>
          </a:p>
        </p:txBody>
      </p:sp>
      <p:sp>
        <p:nvSpPr>
          <p:cNvPr id="10" name="Text 7"/>
          <p:cNvSpPr/>
          <p:nvPr/>
        </p:nvSpPr>
        <p:spPr>
          <a:xfrm>
            <a:off x="521208" y="4078224"/>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落ちた発電所(富津)</a:t>
            </a:r>
            <a:endParaRPr lang="en-US" sz="1000" dirty="0"/>
          </a:p>
        </p:txBody>
      </p:sp>
      <p:sp>
        <p:nvSpPr>
          <p:cNvPr id="11" name="Text 8"/>
          <p:cNvSpPr/>
          <p:nvPr/>
        </p:nvSpPr>
        <p:spPr>
          <a:xfrm>
            <a:off x="521208" y="4489704"/>
            <a:ext cx="109728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右下</a:t>
            </a:r>
            <a:endParaRPr lang="en-US" sz="1150" dirty="0"/>
          </a:p>
        </p:txBody>
      </p:sp>
      <p:sp>
        <p:nvSpPr>
          <p:cNvPr id="12" name="Text 9"/>
          <p:cNvSpPr/>
          <p:nvPr/>
        </p:nvSpPr>
        <p:spPr>
          <a:xfrm>
            <a:off x="521208" y="4736592"/>
            <a:ext cx="2697480" cy="502920"/>
          </a:xfrm>
          <a:prstGeom prst="rect">
            <a:avLst/>
          </a:prstGeom>
          <a:noFill/>
          <a:ln/>
        </p:spPr>
        <p:txBody>
          <a:bodyPr wrap="square" lIns="0" tIns="0" rIns="0" bIns="0" rtlCol="0" anchor="ctr"/>
          <a:lstStyle/>
          <a:p>
            <a:pPr marL="0" indent="0">
              <a:lnSpc>
                <a:spcPts val="1300"/>
              </a:lnSpc>
              <a:buNone/>
            </a:pPr>
            <a:r>
              <a:rPr lang="en-US" sz="1000" dirty="0">
                <a:solidFill>
                  <a:srgbClr val="8E96B8"/>
                </a:solidFill>
                <a:latin typeface="Hiragino Sans" pitchFamily="34" charset="0"/>
                <a:ea typeface="Hiragino Sans" pitchFamily="34" charset="-122"/>
                <a:cs typeface="Hiragino Sans" pitchFamily="34" charset="-120"/>
              </a:rPr>
              <a:t>全機波形+現在時刻カーソル</a:t>
            </a:r>
            <a:endParaRPr lang="en-US" sz="1000" dirty="0"/>
          </a:p>
        </p:txBody>
      </p:sp>
      <p:sp>
        <p:nvSpPr>
          <p:cNvPr id="13" name="Text 10"/>
          <p:cNvSpPr/>
          <p:nvPr/>
        </p:nvSpPr>
        <p:spPr>
          <a:xfrm>
            <a:off x="521208" y="5303520"/>
            <a:ext cx="2697480" cy="640080"/>
          </a:xfrm>
          <a:prstGeom prst="rect">
            <a:avLst/>
          </a:prstGeom>
          <a:noFill/>
          <a:ln/>
        </p:spPr>
        <p:txBody>
          <a:bodyPr wrap="square" lIns="0" tIns="0" rIns="0" bIns="0" rtlCol="0" anchor="ctr"/>
          <a:lstStyle/>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事故直後は超スローモーション(ミリ秒表示)。</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遠い機ほど遅れて落ちる=同期化力の伝播。</a:t>
            </a:r>
            <a:endParaRPr lang="en-US" sz="1000" dirty="0"/>
          </a:p>
        </p:txBody>
      </p:sp>
      <p:sp>
        <p:nvSpPr>
          <p:cNvPr id="14" name="Text 11"/>
          <p:cNvSpPr/>
          <p:nvPr/>
        </p:nvSpPr>
        <p:spPr>
          <a:xfrm>
            <a:off x="521208" y="6035040"/>
            <a:ext cx="2651760" cy="274320"/>
          </a:xfrm>
          <a:prstGeom prst="rect">
            <a:avLst/>
          </a:prstGeom>
          <a:noFill/>
          <a:ln/>
        </p:spPr>
        <p:txBody>
          <a:bodyPr wrap="square" lIns="0" tIns="0" rIns="0" bIns="0" rtlCol="0" anchor="ctr"/>
          <a:lstStyle/>
          <a:p>
            <a:pPr marL="0" indent="0">
              <a:buNone/>
            </a:pPr>
            <a:r>
              <a:rPr lang="en-US" sz="1000" i="1" dirty="0">
                <a:solidFill>
                  <a:srgbClr val="8E96B8"/>
                </a:solidFill>
                <a:latin typeface="Hiragino Sans" pitchFamily="34" charset="0"/>
                <a:ea typeface="Hiragino Sans" pitchFamily="34" charset="-122"/>
                <a:cs typeface="Hiragino Sans" pitchFamily="34" charset="-120"/>
              </a:rPr>
              <a:t>スライドショー再生で動きます(GIF)</a:t>
            </a:r>
            <a:endParaRPr lang="en-US" sz="1000" dirty="0"/>
          </a:p>
        </p:txBody>
      </p:sp>
      <p:sp>
        <p:nvSpPr>
          <p:cNvPr id="15" name="Text 1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6" name="Text 1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17" name="Text 1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20</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23">
    <p:bg>
      <p:bgPr>
        <a:solidFill>
          <a:srgbClr val="0A0D1A"/>
        </a:solidFill>
        <a:effectLst/>
      </p:bgPr>
    </p:bg>
    <p:spTree>
      <p:nvGrpSpPr>
        <p:cNvPr id="1" name=""/>
        <p:cNvGrpSpPr/>
        <p:nvPr/>
      </p:nvGrpSpPr>
      <p:grpSpPr>
        <a:xfrm>
          <a:off x="0" y="0"/>
          <a:ext cx="0" cy="0"/>
          <a:chOff x="0" y="0"/>
          <a:chExt cx="0" cy="0"/>
        </a:xfrm>
      </p:grpSpPr>
      <p:pic>
        <p:nvPicPr>
          <p:cNvPr id="2" name="Image 0" descr="assets/east_inciden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東日本全域 N-3実験 — 富津+東新潟+千葉 10,618MW同時脱落(設計外デモ)</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UCピーク断面 59.4GW</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24">
    <p:bg>
      <p:bgPr>
        <a:solidFill>
          <a:srgbClr val="0A0D1A"/>
        </a:solidFill>
        <a:effectLst/>
      </p:bgPr>
    </p:bg>
    <p:spTree>
      <p:nvGrpSpPr>
        <p:cNvPr id="1" name=""/>
        <p:cNvGrpSpPr/>
        <p:nvPr/>
      </p:nvGrpSpPr>
      <p:grpSpPr>
        <a:xfrm>
          <a:off x="0" y="0"/>
          <a:ext cx="0" cy="0"/>
          <a:chOff x="0" y="0"/>
          <a:chExt cx="0" cy="0"/>
        </a:xfrm>
      </p:grpSpPr>
      <p:pic>
        <p:nvPicPr>
          <p:cNvPr id="2" name="Image 0" descr="assets/eastwest_swing.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東西動揺 — ほぼ同じ4GW級の脱落。なぜ落ち方が違うのか</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東 富津3,893MW / 西 川越3,990MW</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5625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28">
    <p:bg>
      <p:bgPr>
        <a:solidFill>
          <a:srgbClr val="0A0D1A"/>
        </a:solidFill>
        <a:effectLst/>
      </p:bgPr>
    </p:bg>
    <p:spTree>
      <p:nvGrpSpPr>
        <p:cNvPr id="1" name=""/>
        <p:cNvGrpSpPr/>
        <p:nvPr/>
      </p:nvGrpSpPr>
      <p:grpSpPr>
        <a:xfrm>
          <a:off x="0" y="0"/>
          <a:ext cx="0" cy="0"/>
          <a:chOff x="0" y="0"/>
          <a:chExt cx="0" cy="0"/>
        </a:xfrm>
      </p:grpSpPr>
      <p:pic>
        <p:nvPicPr>
          <p:cNvPr id="2" name="Image 0" descr="assets/agc_hokkaido_trip.gif"/>
          <p:cNvPicPr>
            <a:picLocks noChangeAspect="1"/>
          </p:cNvPicPr>
          <p:nvPr/>
        </p:nvPicPr>
        <p:blipFill>
          <a:blip r:embed="rId3"/>
          <a:stretch>
            <a:fillRect/>
          </a:stretch>
        </p:blipFill>
        <p:spPr>
          <a:xfrm>
            <a:off x="3227832" y="137160"/>
            <a:ext cx="8503920" cy="6382512"/>
          </a:xfrm>
          <a:prstGeom prst="rect">
            <a:avLst/>
          </a:prstGeom>
        </p:spPr>
      </p:pic>
      <p:sp>
        <p:nvSpPr>
          <p:cNvPr id="3" name="Text 0"/>
          <p:cNvSpPr/>
          <p:nvPr/>
        </p:nvSpPr>
        <p:spPr>
          <a:xfrm>
            <a:off x="502920" y="640080"/>
            <a:ext cx="2651760" cy="457200"/>
          </a:xfrm>
          <a:prstGeom prst="rect">
            <a:avLst/>
          </a:prstGeom>
          <a:noFill/>
          <a:ln/>
        </p:spPr>
        <p:txBody>
          <a:bodyPr wrap="square" lIns="0" tIns="0" rIns="0" bIns="0" rtlCol="0" anchor="ctr"/>
          <a:lstStyle/>
          <a:p>
            <a:pPr marL="0" indent="0">
              <a:buNone/>
            </a:pPr>
            <a:r>
              <a:rPr lang="en-US" sz="2400" b="1" dirty="0">
                <a:solidFill>
                  <a:srgbClr val="FFFFFF"/>
                </a:solidFill>
                <a:latin typeface="Hiragino Sans" pitchFamily="34" charset="0"/>
                <a:ea typeface="Hiragino Sans" pitchFamily="34" charset="-122"/>
                <a:cs typeface="Hiragino Sans" pitchFamily="34" charset="-120"/>
              </a:rPr>
              <a:t>実況リプレイ</a:t>
            </a:r>
            <a:endParaRPr lang="en-US" sz="2400" dirty="0"/>
          </a:p>
        </p:txBody>
      </p:sp>
      <p:sp>
        <p:nvSpPr>
          <p:cNvPr id="4" name="Text 1"/>
          <p:cNvSpPr/>
          <p:nvPr/>
        </p:nvSpPr>
        <p:spPr>
          <a:xfrm>
            <a:off x="521208" y="1234440"/>
            <a:ext cx="2697480" cy="777240"/>
          </a:xfrm>
          <a:prstGeom prst="rect">
            <a:avLst/>
          </a:prstGeom>
          <a:noFill/>
          <a:ln/>
        </p:spPr>
        <p:txBody>
          <a:bodyPr wrap="square" lIns="0" tIns="0" rIns="0" bIns="0" rtlCol="0" anchor="ctr"/>
          <a:lstStyle/>
          <a:p>
            <a:pPr marL="0" indent="0">
              <a:lnSpc>
                <a:spcPts val="1900"/>
              </a:lnSpc>
              <a:buNone/>
            </a:pPr>
            <a:r>
              <a:rPr lang="en-US" sz="1300" dirty="0">
                <a:solidFill>
                  <a:srgbClr val="C8CDD8"/>
                </a:solidFill>
                <a:latin typeface="Hiragino Sans" pitchFamily="34" charset="0"/>
                <a:ea typeface="Hiragino Sans" pitchFamily="34" charset="-122"/>
                <a:cs typeface="Hiragino Sans" pitchFamily="34" charset="-120"/>
              </a:rPr>
              <a:t>苫東厚真の脱落を、北海道の</a:t>
            </a:r>
            <a:endParaRPr lang="en-US" sz="1300" dirty="0"/>
          </a:p>
          <a:p>
            <a:pPr marL="0" indent="0">
              <a:lnSpc>
                <a:spcPts val="1900"/>
              </a:lnSpc>
              <a:buNone/>
            </a:pPr>
            <a:r>
              <a:rPr lang="en-US" sz="1300" dirty="0">
                <a:solidFill>
                  <a:srgbClr val="C8CDD8"/>
                </a:solidFill>
                <a:latin typeface="Hiragino Sans" pitchFamily="34" charset="0"/>
                <a:ea typeface="Hiragino Sans" pitchFamily="34" charset="-122"/>
                <a:cs typeface="Hiragino Sans" pitchFamily="34" charset="-120"/>
              </a:rPr>
              <a:t>実系統地図の上で再生する。</a:t>
            </a:r>
            <a:endParaRPr lang="en-US" sz="1300" dirty="0"/>
          </a:p>
        </p:txBody>
      </p:sp>
      <p:sp>
        <p:nvSpPr>
          <p:cNvPr id="5" name="Text 2"/>
          <p:cNvSpPr/>
          <p:nvPr/>
        </p:nvSpPr>
        <p:spPr>
          <a:xfrm>
            <a:off x="521208" y="2286000"/>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線の色</a:t>
            </a:r>
            <a:endParaRPr lang="en-US" sz="1150" dirty="0"/>
          </a:p>
        </p:txBody>
      </p:sp>
      <p:sp>
        <p:nvSpPr>
          <p:cNvPr id="6" name="Text 3"/>
          <p:cNvSpPr/>
          <p:nvPr/>
        </p:nvSpPr>
        <p:spPr>
          <a:xfrm>
            <a:off x="521208" y="2542032"/>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周波数(青白50Hz → 深赤47.5Hz)</a:t>
            </a:r>
            <a:endParaRPr lang="en-US" sz="1050" dirty="0"/>
          </a:p>
        </p:txBody>
      </p:sp>
      <p:sp>
        <p:nvSpPr>
          <p:cNvPr id="7" name="Text 4"/>
          <p:cNvSpPr/>
          <p:nvPr/>
        </p:nvSpPr>
        <p:spPr>
          <a:xfrm>
            <a:off x="521208" y="2852928"/>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a:t>
            </a:r>
            <a:endParaRPr lang="en-US" sz="1150" dirty="0"/>
          </a:p>
        </p:txBody>
      </p:sp>
      <p:sp>
        <p:nvSpPr>
          <p:cNvPr id="8" name="Text 5"/>
          <p:cNvSpPr/>
          <p:nvPr/>
        </p:nvSpPr>
        <p:spPr>
          <a:xfrm>
            <a:off x="521208" y="3108960"/>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落ちた発電所(実座標)</a:t>
            </a:r>
            <a:endParaRPr lang="en-US" sz="1050" dirty="0"/>
          </a:p>
        </p:txBody>
      </p:sp>
      <p:sp>
        <p:nvSpPr>
          <p:cNvPr id="9" name="Text 6"/>
          <p:cNvSpPr/>
          <p:nvPr/>
        </p:nvSpPr>
        <p:spPr>
          <a:xfrm>
            <a:off x="521208" y="3419856"/>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消える白点</a:t>
            </a:r>
            <a:endParaRPr lang="en-US" sz="1150" dirty="0"/>
          </a:p>
        </p:txBody>
      </p:sp>
      <p:sp>
        <p:nvSpPr>
          <p:cNvPr id="10" name="Text 7"/>
          <p:cNvSpPr/>
          <p:nvPr/>
        </p:nvSpPr>
        <p:spPr>
          <a:xfrm>
            <a:off x="521208" y="3675888"/>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UFLSで遮断された変電所ぶん</a:t>
            </a:r>
            <a:endParaRPr lang="en-US" sz="1050" dirty="0"/>
          </a:p>
        </p:txBody>
      </p:sp>
      <p:sp>
        <p:nvSpPr>
          <p:cNvPr id="11" name="Text 8"/>
          <p:cNvSpPr/>
          <p:nvPr/>
        </p:nvSpPr>
        <p:spPr>
          <a:xfrm>
            <a:off x="521208" y="3986784"/>
            <a:ext cx="1463040" cy="274320"/>
          </a:xfrm>
          <a:prstGeom prst="rect">
            <a:avLst/>
          </a:prstGeom>
          <a:noFill/>
          <a:ln/>
        </p:spPr>
        <p:txBody>
          <a:bodyPr wrap="square" lIns="0" tIns="0" rIns="0" bIns="0" rtlCol="0" anchor="ctr"/>
          <a:lstStyle/>
          <a:p>
            <a:pPr marL="0" indent="0">
              <a:buNone/>
            </a:pPr>
            <a:r>
              <a:rPr lang="en-US" sz="1150" b="1" dirty="0">
                <a:solidFill>
                  <a:srgbClr val="FFFFFF"/>
                </a:solidFill>
                <a:latin typeface="Hiragino Sans" pitchFamily="34" charset="0"/>
                <a:ea typeface="Hiragino Sans" pitchFamily="34" charset="-122"/>
                <a:cs typeface="Hiragino Sans" pitchFamily="34" charset="-120"/>
              </a:rPr>
              <a:t>時間軸</a:t>
            </a:r>
            <a:endParaRPr lang="en-US" sz="1150" dirty="0"/>
          </a:p>
        </p:txBody>
      </p:sp>
      <p:sp>
        <p:nvSpPr>
          <p:cNvPr id="12" name="Text 9"/>
          <p:cNvSpPr/>
          <p:nvPr/>
        </p:nvSpPr>
        <p:spPr>
          <a:xfrm>
            <a:off x="521208" y="4242816"/>
            <a:ext cx="2697480" cy="274320"/>
          </a:xfrm>
          <a:prstGeom prst="rect">
            <a:avLst/>
          </a:prstGeom>
          <a:noFill/>
          <a:ln/>
        </p:spPr>
        <p:txBody>
          <a:bodyPr wrap="square" lIns="0" tIns="0" rIns="0" bIns="0" rtlCol="0" anchor="ctr"/>
          <a:lstStyle/>
          <a:p>
            <a:pPr marL="0" indent="0">
              <a:buNone/>
            </a:pPr>
            <a:r>
              <a:rPr lang="en-US" sz="1050" dirty="0">
                <a:solidFill>
                  <a:srgbClr val="8E96B8"/>
                </a:solidFill>
                <a:latin typeface="Hiragino Sans" pitchFamily="34" charset="0"/>
                <a:ea typeface="Hiragino Sans" pitchFamily="34" charset="-122"/>
                <a:cs typeface="Hiragino Sans" pitchFamily="34" charset="-120"/>
              </a:rPr>
              <a:t>直後スロー→復帰タイムラプス</a:t>
            </a:r>
            <a:endParaRPr lang="en-US" sz="1050" dirty="0"/>
          </a:p>
        </p:txBody>
      </p:sp>
      <p:sp>
        <p:nvSpPr>
          <p:cNvPr id="13" name="Text 10"/>
          <p:cNvSpPr/>
          <p:nvPr/>
        </p:nvSpPr>
        <p:spPr>
          <a:xfrm>
            <a:off x="521208" y="4846320"/>
            <a:ext cx="2697480" cy="914400"/>
          </a:xfrm>
          <a:prstGeom prst="rect">
            <a:avLst/>
          </a:prstGeom>
          <a:noFill/>
          <a:ln/>
        </p:spPr>
        <p:txBody>
          <a:bodyPr wrap="square" lIns="0" tIns="0" rIns="0" bIns="0" rtlCol="0" anchor="ctr"/>
          <a:lstStyle/>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遮断量はシミュレーション実値。</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どの変電所を切るかは非公開のため</a:t>
            </a:r>
            <a:endParaRPr lang="en-US" sz="1000" dirty="0"/>
          </a:p>
          <a:p>
            <a:pPr marL="0" indent="0">
              <a:lnSpc>
                <a:spcPts val="1400"/>
              </a:lnSpc>
              <a:buNone/>
            </a:pPr>
            <a:r>
              <a:rPr lang="en-US" sz="1000" dirty="0">
                <a:solidFill>
                  <a:srgbClr val="5A648F"/>
                </a:solidFill>
                <a:latin typeface="Hiragino Sans" pitchFamily="34" charset="0"/>
                <a:ea typeface="Hiragino Sans" pitchFamily="34" charset="-122"/>
                <a:cs typeface="Hiragino Sans" pitchFamily="34" charset="-120"/>
              </a:rPr>
              <a:t>消灯箇所は演出(画面内にも明記)。</a:t>
            </a:r>
            <a:endParaRPr lang="en-US" sz="1000" dirty="0"/>
          </a:p>
        </p:txBody>
      </p:sp>
      <p:sp>
        <p:nvSpPr>
          <p:cNvPr id="14" name="Text 11"/>
          <p:cNvSpPr/>
          <p:nvPr/>
        </p:nvSpPr>
        <p:spPr>
          <a:xfrm>
            <a:off x="521208" y="6035040"/>
            <a:ext cx="2651760" cy="274320"/>
          </a:xfrm>
          <a:prstGeom prst="rect">
            <a:avLst/>
          </a:prstGeom>
          <a:noFill/>
          <a:ln/>
        </p:spPr>
        <p:txBody>
          <a:bodyPr wrap="square" lIns="0" tIns="0" rIns="0" bIns="0" rtlCol="0" anchor="ctr"/>
          <a:lstStyle/>
          <a:p>
            <a:pPr marL="0" indent="0">
              <a:buNone/>
            </a:pPr>
            <a:r>
              <a:rPr lang="en-US" sz="1000" i="1" dirty="0">
                <a:solidFill>
                  <a:srgbClr val="8E96B8"/>
                </a:solidFill>
                <a:latin typeface="Hiragino Sans" pitchFamily="34" charset="0"/>
                <a:ea typeface="Hiragino Sans" pitchFamily="34" charset="-122"/>
                <a:cs typeface="Hiragino Sans" pitchFamily="34" charset="-120"/>
              </a:rPr>
              <a:t>スライドショー再生で動きます(GIF)</a:t>
            </a:r>
            <a:endParaRPr lang="en-US" sz="1000" dirty="0"/>
          </a:p>
        </p:txBody>
      </p:sp>
      <p:sp>
        <p:nvSpPr>
          <p:cNvPr id="15" name="Text 1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16" name="Text 1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17" name="Text 1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22</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A0A43-4C9D-AA81-4252-00A19A6CC2F9}"/>
              </a:ext>
            </a:extLst>
          </p:cNvPr>
          <p:cNvSpPr>
            <a:spLocks noGrp="1"/>
          </p:cNvSpPr>
          <p:nvPr>
            <p:ph type="title"/>
          </p:nvPr>
        </p:nvSpPr>
        <p:spPr/>
        <p:txBody>
          <a:bodyPr/>
          <a:lstStyle/>
          <a:p>
            <a:endParaRPr kumimoji="1" lang="ja-JP" altLang="en-US"/>
          </a:p>
        </p:txBody>
      </p:sp>
    </p:spTree>
    <p:extLst>
      <p:ext uri="{BB962C8B-B14F-4D97-AF65-F5344CB8AC3E}">
        <p14:creationId xmlns:p14="http://schemas.microsoft.com/office/powerpoint/2010/main" val="32180065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ankai_scenario_night_east_collapse_tsunami.gif">
            <a:extLst>
              <a:ext uri="{FF2B5EF4-FFF2-40B4-BE49-F238E27FC236}">
                <a16:creationId xmlns:a16="http://schemas.microsoft.com/office/drawing/2014/main" id="{2788BD21-1D8A-029D-081A-9ED126968CAC}"/>
              </a:ext>
            </a:extLst>
          </p:cNvPr>
          <p:cNvPicPr>
            <a:picLocks noChangeAspect="1"/>
          </p:cNvPicPr>
          <p:nvPr/>
        </p:nvPicPr>
        <p:blipFill>
          <a:blip r:embed="rId2"/>
          <a:stretch>
            <a:fillRect/>
          </a:stretch>
        </p:blipFill>
        <p:spPr>
          <a:xfrm>
            <a:off x="-2" y="0"/>
            <a:ext cx="12192002" cy="6858000"/>
          </a:xfrm>
          <a:prstGeom prst="rect">
            <a:avLst/>
          </a:prstGeom>
        </p:spPr>
      </p:pic>
    </p:spTree>
    <p:extLst>
      <p:ext uri="{BB962C8B-B14F-4D97-AF65-F5344CB8AC3E}">
        <p14:creationId xmlns:p14="http://schemas.microsoft.com/office/powerpoint/2010/main" val="22782869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ankai_scenario_night_east_collapse_early.gif">
            <a:extLst>
              <a:ext uri="{FF2B5EF4-FFF2-40B4-BE49-F238E27FC236}">
                <a16:creationId xmlns:a16="http://schemas.microsoft.com/office/drawing/2014/main" id="{623D9E67-BACA-760B-B434-97EB84605E89}"/>
              </a:ext>
            </a:extLst>
          </p:cNvPr>
          <p:cNvPicPr>
            <a:picLocks noChangeAspect="1"/>
          </p:cNvPicPr>
          <p:nvPr/>
        </p:nvPicPr>
        <p:blipFill>
          <a:blip r:embed="rId2"/>
          <a:stretch>
            <a:fillRect/>
          </a:stretch>
        </p:blipFill>
        <p:spPr>
          <a:xfrm>
            <a:off x="0" y="-54524"/>
            <a:ext cx="12288932" cy="6912524"/>
          </a:xfrm>
          <a:prstGeom prst="rect">
            <a:avLst/>
          </a:prstGeom>
        </p:spPr>
      </p:pic>
    </p:spTree>
    <p:extLst>
      <p:ext uri="{BB962C8B-B14F-4D97-AF65-F5344CB8AC3E}">
        <p14:creationId xmlns:p14="http://schemas.microsoft.com/office/powerpoint/2010/main" val="29175235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ankai_scenario_night_default.gif">
            <a:extLst>
              <a:ext uri="{FF2B5EF4-FFF2-40B4-BE49-F238E27FC236}">
                <a16:creationId xmlns:a16="http://schemas.microsoft.com/office/drawing/2014/main" id="{FDDF51EA-93D0-0224-DACE-2A54937BFA06}"/>
              </a:ext>
            </a:extLst>
          </p:cNvPr>
          <p:cNvPicPr>
            <a:picLocks noChangeAspect="1"/>
          </p:cNvPicPr>
          <p:nvPr/>
        </p:nvPicPr>
        <p:blipFill>
          <a:blip r:embed="rId2"/>
          <a:stretch>
            <a:fillRect/>
          </a:stretch>
        </p:blipFill>
        <p:spPr>
          <a:xfrm>
            <a:off x="0" y="-54524"/>
            <a:ext cx="12288932" cy="6912524"/>
          </a:xfrm>
          <a:prstGeom prst="rect">
            <a:avLst/>
          </a:prstGeom>
        </p:spPr>
      </p:pic>
    </p:spTree>
    <p:extLst>
      <p:ext uri="{BB962C8B-B14F-4D97-AF65-F5344CB8AC3E}">
        <p14:creationId xmlns:p14="http://schemas.microsoft.com/office/powerpoint/2010/main" val="32369196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ankai_scenario_restore_default.gif">
            <a:extLst>
              <a:ext uri="{FF2B5EF4-FFF2-40B4-BE49-F238E27FC236}">
                <a16:creationId xmlns:a16="http://schemas.microsoft.com/office/drawing/2014/main" id="{D6821814-2B0D-41FB-37E1-1B12B66C8A16}"/>
              </a:ext>
            </a:extLst>
          </p:cNvPr>
          <p:cNvPicPr>
            <a:picLocks noChangeAspect="1"/>
          </p:cNvPicPr>
          <p:nvPr/>
        </p:nvPicPr>
        <p:blipFill>
          <a:blip r:embed="rId2"/>
          <a:stretch>
            <a:fillRect/>
          </a:stretch>
        </p:blipFill>
        <p:spPr>
          <a:xfrm>
            <a:off x="41096" y="0"/>
            <a:ext cx="12109807" cy="6811767"/>
          </a:xfrm>
          <a:prstGeom prst="rect">
            <a:avLst/>
          </a:prstGeom>
        </p:spPr>
      </p:pic>
    </p:spTree>
    <p:extLst>
      <p:ext uri="{BB962C8B-B14F-4D97-AF65-F5344CB8AC3E}">
        <p14:creationId xmlns:p14="http://schemas.microsoft.com/office/powerpoint/2010/main" val="25007358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39">
    <p:bg>
      <p:bgPr>
        <a:solidFill>
          <a:srgbClr val="0A0D1A"/>
        </a:solidFill>
        <a:effectLst/>
      </p:bgPr>
    </p:bg>
    <p:spTree>
      <p:nvGrpSpPr>
        <p:cNvPr id="1" name=""/>
        <p:cNvGrpSpPr/>
        <p:nvPr/>
      </p:nvGrpSpPr>
      <p:grpSpPr>
        <a:xfrm>
          <a:off x="0" y="0"/>
          <a:ext cx="0" cy="0"/>
          <a:chOff x="0" y="0"/>
          <a:chExt cx="0" cy="0"/>
        </a:xfrm>
      </p:grpSpPr>
      <p:pic>
        <p:nvPicPr>
          <p:cNvPr id="2" name="Image 0" descr="assets/grand_trailer.gif"/>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545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26">
    <p:bg>
      <p:bgPr>
        <a:solidFill>
          <a:srgbClr val="0A0D1A"/>
        </a:solidFill>
        <a:effectLst/>
      </p:bgPr>
    </p:bg>
    <p:spTree>
      <p:nvGrpSpPr>
        <p:cNvPr id="1" name=""/>
        <p:cNvGrpSpPr/>
        <p:nvPr/>
      </p:nvGrpSpPr>
      <p:grpSpPr>
        <a:xfrm>
          <a:off x="0" y="0"/>
          <a:ext cx="0" cy="0"/>
          <a:chOff x="0" y="0"/>
          <a:chExt cx="0" cy="0"/>
        </a:xfrm>
      </p:grpSpPr>
      <p:pic>
        <p:nvPicPr>
          <p:cNvPr id="2" name="Image 0" descr="assets/freq_recovery_eas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周波数が戻るさま — 東N-3(10,618MW脱落)から15分</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多機層(AGC-N)・第10波LFC修正済み</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終幕 v1.9へ</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24時間の断面：同じ事故でも、夜がいちばん危ない</a:t>
            </a:r>
            <a:endParaRPr lang="en-US" sz="2100" dirty="0"/>
          </a:p>
        </p:txBody>
      </p:sp>
      <p:pic>
        <p:nvPicPr>
          <p:cNvPr id="5" name="Image 0" descr="assets/fig_agc_24h.png"/>
          <p:cNvPicPr>
            <a:picLocks noChangeAspect="1"/>
          </p:cNvPicPr>
          <p:nvPr/>
        </p:nvPicPr>
        <p:blipFill>
          <a:blip r:embed="rId3"/>
          <a:stretch>
            <a:fillRect/>
          </a:stretch>
        </p:blipFill>
        <p:spPr>
          <a:xfrm>
            <a:off x="2286000" y="960120"/>
            <a:ext cx="7635240" cy="5010912"/>
          </a:xfrm>
          <a:prstGeom prst="rect">
            <a:avLst/>
          </a:prstGeom>
        </p:spPr>
      </p:pic>
      <p:sp>
        <p:nvSpPr>
          <p:cNvPr id="6" name="Text 3"/>
          <p:cNvSpPr/>
          <p:nvPr/>
        </p:nvSpPr>
        <p:spPr>
          <a:xfrm>
            <a:off x="822960" y="6053328"/>
            <a:ext cx="10607040" cy="384048"/>
          </a:xfrm>
          <a:prstGeom prst="rect">
            <a:avLst/>
          </a:prstGeom>
          <a:noFill/>
          <a:ln/>
        </p:spPr>
        <p:txBody>
          <a:bodyPr wrap="square" lIns="0" tIns="0" rIns="0" bIns="0" rtlCol="0" anchor="ctr"/>
          <a:lstStyle/>
          <a:p>
            <a:pPr marL="0" indent="0">
              <a:lnSpc>
                <a:spcPts val="1350"/>
              </a:lnSpc>
              <a:buNone/>
            </a:pPr>
            <a:r>
              <a:rPr lang="en-US" sz="1050" dirty="0">
                <a:solidFill>
                  <a:srgbClr val="1A1A1A"/>
                </a:solidFill>
                <a:latin typeface="Hiragino Sans" pitchFamily="34" charset="0"/>
                <a:ea typeface="Hiragino Sans" pitchFamily="34" charset="-122"/>
                <a:cs typeface="Hiragino Sans" pitchFamily="34" charset="-120"/>
              </a:rPr>
              <a:t>UCの24時間コミットメントを1時刻ずつ断面にして最大オンラインプラントを落とす。夜間はオンライン機が減る→慣性が3割落ちる→同じ事故でも深く速く落ちる。北海道の最悪は深夜3時＝実際の2018年ブラックアウト(3:08)と同じ時間帯。</a:t>
            </a:r>
            <a:endParaRPr lang="en-US" sz="1050" dirty="0"/>
          </a:p>
        </p:txBody>
      </p:sp>
      <p:sp>
        <p:nvSpPr>
          <p:cNvPr id="7" name="Text 4"/>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8" name="Text 5"/>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9" name="Text 6"/>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21</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name="Slide 29">
    <p:bg>
      <p:bgPr>
        <a:solidFill>
          <a:srgbClr val="0A0D1A"/>
        </a:solidFill>
        <a:effectLst/>
      </p:bgPr>
    </p:bg>
    <p:spTree>
      <p:nvGrpSpPr>
        <p:cNvPr id="1" name=""/>
        <p:cNvGrpSpPr/>
        <p:nvPr/>
      </p:nvGrpSpPr>
      <p:grpSpPr>
        <a:xfrm>
          <a:off x="0" y="0"/>
          <a:ext cx="0" cy="0"/>
          <a:chOff x="0" y="0"/>
          <a:chExt cx="0" cy="0"/>
        </a:xfrm>
      </p:grpSpPr>
      <p:pic>
        <p:nvPicPr>
          <p:cNvPr id="2" name="Image 0" descr="assets/uc_dispatch_stack.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一日の起動停止計画(UC) — 757機・9連系線・fy2023r2</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全国UC最適解(求解約10秒)</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0F7B6C"/>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最後のDC島 — 西のACを一夜で正典にする</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4島のうち西日本だけがAC不成立のまま「今後」に残っていた — その宿題を今夜のうちに</a:t>
            </a:r>
            <a:endParaRPr lang="en-US" sz="1200" dirty="0"/>
          </a:p>
        </p:txBody>
      </p:sp>
      <p:sp>
        <p:nvSpPr>
          <p:cNvPr id="6" name="Shape 4"/>
          <p:cNvSpPr/>
          <p:nvPr/>
        </p:nvSpPr>
        <p:spPr>
          <a:xfrm>
            <a:off x="822960" y="1234440"/>
            <a:ext cx="6400800" cy="1325880"/>
          </a:xfrm>
          <a:prstGeom prst="roundRect">
            <a:avLst>
              <a:gd name="adj" fmla="val 4138"/>
            </a:avLst>
          </a:prstGeom>
          <a:solidFill>
            <a:srgbClr val="F4F4F6"/>
          </a:solidFill>
          <a:ln/>
        </p:spPr>
        <p:txBody>
          <a:bodyPr/>
          <a:lstStyle/>
          <a:p>
            <a:endParaRPr lang="ja-JP" altLang="en-US"/>
          </a:p>
        </p:txBody>
      </p:sp>
      <p:sp>
        <p:nvSpPr>
          <p:cNvPr id="7" name="Shape 5"/>
          <p:cNvSpPr/>
          <p:nvPr/>
        </p:nvSpPr>
        <p:spPr>
          <a:xfrm>
            <a:off x="1024128" y="1453896"/>
            <a:ext cx="128016" cy="128016"/>
          </a:xfrm>
          <a:prstGeom prst="rect">
            <a:avLst/>
          </a:prstGeom>
          <a:solidFill>
            <a:srgbClr val="C62828"/>
          </a:solidFill>
          <a:ln/>
        </p:spPr>
        <p:txBody>
          <a:bodyPr/>
          <a:lstStyle/>
          <a:p>
            <a:endParaRPr lang="ja-JP" altLang="en-US"/>
          </a:p>
        </p:txBody>
      </p:sp>
      <p:sp>
        <p:nvSpPr>
          <p:cNvPr id="8" name="Text 6"/>
          <p:cNvSpPr/>
          <p:nvPr/>
        </p:nvSpPr>
        <p:spPr>
          <a:xfrm>
            <a:off x="1234440" y="1344168"/>
            <a:ext cx="594360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謎: バックボーンでも解けない</a:t>
            </a:r>
            <a:endParaRPr lang="en-US" sz="1200" dirty="0"/>
          </a:p>
        </p:txBody>
      </p:sp>
      <p:sp>
        <p:nvSpPr>
          <p:cNvPr id="9" name="Text 7"/>
          <p:cNvSpPr/>
          <p:nvPr/>
        </p:nvSpPr>
        <p:spPr>
          <a:xfrm>
            <a:off x="1051560" y="1691640"/>
            <a:ext cx="594360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≥154 kVに絞っても dc_fallback。プローブ第1〜4波(サイト変圧器・無効電力・時刻別シャント)は全て空振り。NR最終ミスマッチは右図のとおり全域が瓦礫で、震源が読めない → 反復を1回で止めて観察する onset 診断に切替</a:t>
            </a:r>
            <a:endParaRPr lang="en-US" sz="1000" dirty="0"/>
          </a:p>
        </p:txBody>
      </p:sp>
      <p:sp>
        <p:nvSpPr>
          <p:cNvPr id="10" name="Shape 8"/>
          <p:cNvSpPr/>
          <p:nvPr/>
        </p:nvSpPr>
        <p:spPr>
          <a:xfrm>
            <a:off x="7360920" y="1234440"/>
            <a:ext cx="4114800" cy="3520440"/>
          </a:xfrm>
          <a:prstGeom prst="roundRect">
            <a:avLst>
              <a:gd name="adj" fmla="val 1299"/>
            </a:avLst>
          </a:prstGeom>
          <a:solidFill>
            <a:srgbClr val="FFFFFF"/>
          </a:solidFill>
          <a:ln w="12700">
            <a:solidFill>
              <a:srgbClr val="D9D9E0"/>
            </a:solidFill>
            <a:prstDash val="solid"/>
          </a:ln>
        </p:spPr>
        <p:txBody>
          <a:bodyPr/>
          <a:lstStyle/>
          <a:p>
            <a:endParaRPr lang="ja-JP" altLang="en-US"/>
          </a:p>
        </p:txBody>
      </p:sp>
      <p:pic>
        <p:nvPicPr>
          <p:cNvPr id="11" name="Image 0" descr="assets/fig_west_wreckage.png"/>
          <p:cNvPicPr>
            <a:picLocks noChangeAspect="1"/>
          </p:cNvPicPr>
          <p:nvPr/>
        </p:nvPicPr>
        <p:blipFill>
          <a:blip r:embed="rId3"/>
          <a:stretch>
            <a:fillRect/>
          </a:stretch>
        </p:blipFill>
        <p:spPr>
          <a:xfrm>
            <a:off x="7461504" y="1325880"/>
            <a:ext cx="3913632" cy="3282696"/>
          </a:xfrm>
          <a:prstGeom prst="rect">
            <a:avLst/>
          </a:prstGeom>
        </p:spPr>
      </p:pic>
      <p:sp>
        <p:nvSpPr>
          <p:cNvPr id="12" name="Text 9"/>
          <p:cNvSpPr/>
          <p:nvPr/>
        </p:nvSpPr>
        <p:spPr>
          <a:xfrm>
            <a:off x="7461504" y="4626864"/>
            <a:ext cx="3913632" cy="292608"/>
          </a:xfrm>
          <a:prstGeom prst="rect">
            <a:avLst/>
          </a:prstGeom>
          <a:noFill/>
          <a:ln/>
        </p:spPr>
        <p:txBody>
          <a:bodyPr wrap="square" lIns="0" tIns="0" rIns="0" bIns="0" rtlCol="0" anchor="ctr"/>
          <a:lstStyle/>
          <a:p>
            <a:pPr marL="0" indent="0">
              <a:buNone/>
            </a:pPr>
            <a:r>
              <a:rPr lang="en-US" sz="850" dirty="0">
                <a:solidFill>
                  <a:srgbClr val="55555F"/>
                </a:solidFill>
                <a:latin typeface="Hiragino Sans" pitchFamily="34" charset="0"/>
                <a:ea typeface="Hiragino Sans" pitchFamily="34" charset="-122"/>
                <a:cs typeface="Hiragino Sans" pitchFamily="34" charset="-120"/>
              </a:rPr>
              <a:t>証拠物件: 発散後の最終ミスマッチ — 全域瓦礫(ここから犯人は読めない)</a:t>
            </a:r>
            <a:endParaRPr lang="en-US" sz="850" dirty="0"/>
          </a:p>
        </p:txBody>
      </p:sp>
      <p:sp>
        <p:nvSpPr>
          <p:cNvPr id="13" name="Shape 10"/>
          <p:cNvSpPr/>
          <p:nvPr/>
        </p:nvSpPr>
        <p:spPr>
          <a:xfrm>
            <a:off x="822960" y="2697480"/>
            <a:ext cx="6400800" cy="1325880"/>
          </a:xfrm>
          <a:prstGeom prst="roundRect">
            <a:avLst>
              <a:gd name="adj" fmla="val 4138"/>
            </a:avLst>
          </a:prstGeom>
          <a:solidFill>
            <a:srgbClr val="F4F4F6"/>
          </a:solidFill>
          <a:ln/>
        </p:spPr>
        <p:txBody>
          <a:bodyPr/>
          <a:lstStyle/>
          <a:p>
            <a:endParaRPr lang="ja-JP" altLang="en-US"/>
          </a:p>
        </p:txBody>
      </p:sp>
      <p:sp>
        <p:nvSpPr>
          <p:cNvPr id="14" name="Shape 11"/>
          <p:cNvSpPr/>
          <p:nvPr/>
        </p:nvSpPr>
        <p:spPr>
          <a:xfrm>
            <a:off x="1024128" y="2916936"/>
            <a:ext cx="128016" cy="128016"/>
          </a:xfrm>
          <a:prstGeom prst="rect">
            <a:avLst/>
          </a:prstGeom>
          <a:solidFill>
            <a:srgbClr val="FF7F0E"/>
          </a:solidFill>
          <a:ln/>
        </p:spPr>
        <p:txBody>
          <a:bodyPr/>
          <a:lstStyle/>
          <a:p>
            <a:endParaRPr lang="ja-JP" altLang="en-US"/>
          </a:p>
        </p:txBody>
      </p:sp>
      <p:sp>
        <p:nvSpPr>
          <p:cNvPr id="15" name="Text 12"/>
          <p:cNvSpPr/>
          <p:nvPr/>
        </p:nvSpPr>
        <p:spPr>
          <a:xfrm>
            <a:off x="1234440" y="2807208"/>
            <a:ext cx="5943600" cy="320040"/>
          </a:xfrm>
          <a:prstGeom prst="rect">
            <a:avLst/>
          </a:prstGeom>
          <a:noFill/>
          <a:ln/>
        </p:spPr>
        <p:txBody>
          <a:bodyPr wrap="square" lIns="0" tIns="0" rIns="0" bIns="0" rtlCol="0" anchor="ctr"/>
          <a:lstStyle/>
          <a:p>
            <a:pPr marL="0" indent="0">
              <a:buNone/>
            </a:pPr>
            <a:r>
              <a:rPr lang="en-US" sz="1200" b="1" dirty="0">
                <a:solidFill>
                  <a:srgbClr val="1A1A1A"/>
                </a:solidFill>
                <a:latin typeface="Hiragino Sans" pitchFamily="34" charset="0"/>
                <a:ea typeface="Hiragino Sans" pitchFamily="34" charset="-122"/>
                <a:cs typeface="Hiragino Sans" pitchFamily="34" charset="-120"/>
              </a:rPr>
              <a:t>第一容疑者: 大阪都心154 kVクラスタ</a:t>
            </a:r>
            <a:endParaRPr lang="en-US" sz="1200" dirty="0"/>
          </a:p>
        </p:txBody>
      </p:sp>
      <p:sp>
        <p:nvSpPr>
          <p:cNvPr id="16" name="Text 13"/>
          <p:cNvSpPr/>
          <p:nvPr/>
        </p:nvSpPr>
        <p:spPr>
          <a:xfrm>
            <a:off x="1051560" y="3154680"/>
            <a:ext cx="5943600" cy="758952"/>
          </a:xfrm>
          <a:prstGeom prst="rect">
            <a:avLst/>
          </a:prstGeom>
          <a:noFill/>
          <a:ln/>
        </p:spPr>
        <p:txBody>
          <a:bodyPr wrap="square" lIns="0" tIns="0" rIns="0" bIns="0" rtlCol="0" anchor="t"/>
          <a:lstStyle/>
          <a:p>
            <a:pPr marL="0" indent="0">
              <a:lnSpc>
                <a:spcPts val="1500"/>
              </a:lnSpc>
              <a:buNone/>
            </a:pPr>
            <a:r>
              <a:rPr lang="en-US" sz="1000" dirty="0">
                <a:solidFill>
                  <a:srgbClr val="55555F"/>
                </a:solidFill>
                <a:latin typeface="Hiragino Sans" pitchFamily="34" charset="0"/>
                <a:ea typeface="Hiragino Sans" pitchFamily="34" charset="-122"/>
                <a:cs typeface="Hiragino Sans" pitchFamily="34" charset="-120"/>
              </a:rPr>
              <a:t>梅田・北浜・小曽根…上位(≥275 kV)への変圧器がゼロ。関西の275 kV地中網はOSM未収載で、開示系統図は実名匿名化=出典回復が不可能(#28型が使えない)</a:t>
            </a:r>
            <a:endParaRPr lang="en-US" sz="1000" dirty="0"/>
          </a:p>
        </p:txBody>
      </p:sp>
      <p:sp>
        <p:nvSpPr>
          <p:cNvPr id="17" name="Shape 14"/>
          <p:cNvSpPr/>
          <p:nvPr/>
        </p:nvSpPr>
        <p:spPr>
          <a:xfrm>
            <a:off x="822960" y="4956048"/>
            <a:ext cx="10607040" cy="1170432"/>
          </a:xfrm>
          <a:prstGeom prst="roundRect">
            <a:avLst>
              <a:gd name="adj" fmla="val 6250"/>
            </a:avLst>
          </a:prstGeom>
          <a:solidFill>
            <a:srgbClr val="0F7B6C"/>
          </a:solidFill>
          <a:ln/>
        </p:spPr>
        <p:txBody>
          <a:bodyPr/>
          <a:lstStyle/>
          <a:p>
            <a:endParaRPr lang="ja-JP" altLang="en-US"/>
          </a:p>
        </p:txBody>
      </p:sp>
      <p:sp>
        <p:nvSpPr>
          <p:cNvPr id="18" name="Text 15"/>
          <p:cNvSpPr/>
          <p:nvPr/>
        </p:nvSpPr>
        <p:spPr>
          <a:xfrm>
            <a:off x="1097280" y="4956048"/>
            <a:ext cx="10058400" cy="1170432"/>
          </a:xfrm>
          <a:prstGeom prst="rect">
            <a:avLst/>
          </a:prstGeom>
          <a:noFill/>
          <a:ln/>
        </p:spPr>
        <p:txBody>
          <a:bodyPr wrap="square" lIns="0" tIns="0" rIns="0" bIns="0" rtlCol="0" anchor="ctr"/>
          <a:lstStyle/>
          <a:p>
            <a:pPr marL="0" indent="0">
              <a:lnSpc>
                <a:spcPts val="1600"/>
              </a:lnSpc>
              <a:buNone/>
            </a:pPr>
            <a:r>
              <a:rPr lang="en-US" sz="1350" b="1" dirty="0">
                <a:solidFill>
                  <a:srgbClr val="FFFFFF"/>
                </a:solidFill>
                <a:latin typeface="Hiragino Sans" pitchFamily="34" charset="0"/>
                <a:ea typeface="Hiragino Sans" pitchFamily="34" charset="-122"/>
                <a:cs typeface="Hiragino Sans" pitchFamily="34" charset="-120"/>
              </a:rPr>
              <a:t>介入#37「都心給電の必然接続(仮)」 — </a:t>
            </a:r>
            <a:r>
              <a:rPr lang="en-US" sz="1150" dirty="0">
                <a:solidFill>
                  <a:srgbClr val="E6F4F1"/>
                </a:solidFill>
                <a:latin typeface="Hiragino Sans" pitchFamily="34" charset="0"/>
                <a:ea typeface="Hiragino Sans" pitchFamily="34" charset="-122"/>
                <a:cs typeface="Hiragino Sans" pitchFamily="34" charset="-120"/>
              </a:rPr>
              <a:t>負荷が現に供給されている以上、給電経路の存在は電気的必然。存在のみ主張し、経路・容量は(仮)明記+全件台帳。</a:t>
            </a:r>
            <a:r>
              <a:rPr lang="en-US" sz="1150" b="1" dirty="0">
                <a:solidFill>
                  <a:srgbClr val="FFE082"/>
                </a:solidFill>
                <a:latin typeface="Hiragino Sans" pitchFamily="34" charset="0"/>
                <a:ea typeface="Hiragino Sans" pitchFamily="34" charset="-122"/>
                <a:cs typeface="Hiragino Sans" pitchFamily="34" charset="-120"/>
              </a:rPr>
              <a:t>オーナー裁定「仮が事実でないかもしれないなら、それを明記しておけば正典として良い」</a:t>
            </a:r>
            <a:endParaRPr lang="en-US" sz="1350" dirty="0"/>
          </a:p>
        </p:txBody>
      </p:sp>
      <p:sp>
        <p:nvSpPr>
          <p:cNvPr id="19" name="Text 16"/>
          <p:cNvSpPr/>
          <p:nvPr/>
        </p:nvSpPr>
        <p:spPr>
          <a:xfrm>
            <a:off x="822960" y="6181344"/>
            <a:ext cx="10607040" cy="274320"/>
          </a:xfrm>
          <a:prstGeom prst="rect">
            <a:avLst/>
          </a:prstGeom>
          <a:noFill/>
          <a:ln/>
        </p:spPr>
        <p:txBody>
          <a:bodyPr wrap="square" lIns="0" tIns="0" rIns="0" bIns="0" rtlCol="0" anchor="ctr"/>
          <a:lstStyle/>
          <a:p>
            <a:pPr marL="0" indent="0">
              <a:buNone/>
            </a:pPr>
            <a:r>
              <a:rPr lang="en-US" sz="1150" b="1" dirty="0">
                <a:solidFill>
                  <a:srgbClr val="2E7D32"/>
                </a:solidFill>
                <a:latin typeface="Hiragino Sans" pitchFamily="34" charset="0"/>
                <a:ea typeface="Hiragino Sans" pitchFamily="34" charset="-122"/>
                <a:cs typeface="Hiragino Sans" pitchFamily="34" charset="-120"/>
              </a:rPr>
              <a:t>→ (仮)のみで西バックボーンAC初成立(served 96.5%)。ならばフルの犯人は154 kV未満の層 — 捜査は66/77 kVへ</a:t>
            </a:r>
            <a:endParaRPr lang="en-US" sz="1150" dirty="0"/>
          </a:p>
        </p:txBody>
      </p:sp>
      <p:sp>
        <p:nvSpPr>
          <p:cNvPr id="20" name="Text 17"/>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1" name="Text 18"/>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2" name="Text 19"/>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23</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0F7B6C"/>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犯人は大阪ではなかった — 50Hz設備の混入</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onset診断: NRを反復1回で止めて観察 → 最初に暴れたのは軽井沢・御代田・嬬恋の66/77 kV(|V|→6.6)</a:t>
            </a:r>
            <a:endParaRPr lang="en-US" sz="1200" dirty="0"/>
          </a:p>
        </p:txBody>
      </p:sp>
      <p:sp>
        <p:nvSpPr>
          <p:cNvPr id="6" name="Shape 4"/>
          <p:cNvSpPr/>
          <p:nvPr/>
        </p:nvSpPr>
        <p:spPr>
          <a:xfrm>
            <a:off x="822960" y="1234440"/>
            <a:ext cx="10607040" cy="1078992"/>
          </a:xfrm>
          <a:prstGeom prst="roundRect">
            <a:avLst>
              <a:gd name="adj" fmla="val 5085"/>
            </a:avLst>
          </a:prstGeom>
          <a:solidFill>
            <a:srgbClr val="F4F4F6"/>
          </a:solidFill>
          <a:ln/>
        </p:spPr>
        <p:txBody>
          <a:bodyPr/>
          <a:lstStyle/>
          <a:p>
            <a:endParaRPr lang="ja-JP" altLang="en-US"/>
          </a:p>
        </p:txBody>
      </p:sp>
      <p:sp>
        <p:nvSpPr>
          <p:cNvPr id="7" name="Shape 5"/>
          <p:cNvSpPr/>
          <p:nvPr/>
        </p:nvSpPr>
        <p:spPr>
          <a:xfrm>
            <a:off x="1005840" y="1371600"/>
            <a:ext cx="128016" cy="804672"/>
          </a:xfrm>
          <a:prstGeom prst="rect">
            <a:avLst/>
          </a:prstGeom>
          <a:solidFill>
            <a:srgbClr val="17BECF"/>
          </a:solidFill>
          <a:ln/>
        </p:spPr>
        <p:txBody>
          <a:bodyPr/>
          <a:lstStyle/>
          <a:p>
            <a:endParaRPr lang="ja-JP" altLang="en-US"/>
          </a:p>
        </p:txBody>
      </p:sp>
      <p:sp>
        <p:nvSpPr>
          <p:cNvPr id="8" name="Text 6"/>
          <p:cNvSpPr/>
          <p:nvPr/>
        </p:nvSpPr>
        <p:spPr>
          <a:xfrm>
            <a:off x="1325880" y="1325880"/>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観察</a:t>
            </a:r>
            <a:endParaRPr lang="en-US" sz="1300" dirty="0"/>
          </a:p>
        </p:txBody>
      </p:sp>
      <p:sp>
        <p:nvSpPr>
          <p:cNvPr id="9" name="Text 7"/>
          <p:cNvSpPr/>
          <p:nvPr/>
        </p:nvSpPr>
        <p:spPr>
          <a:xfrm>
            <a:off x="3794760" y="1325880"/>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発散の初動は長野東信〜群馬の66/77 kVポケット。大阪はもう鎮まっていた</a:t>
            </a:r>
            <a:endParaRPr lang="en-US" sz="1050" dirty="0"/>
          </a:p>
        </p:txBody>
      </p:sp>
      <p:sp>
        <p:nvSpPr>
          <p:cNvPr id="10" name="Shape 8"/>
          <p:cNvSpPr/>
          <p:nvPr/>
        </p:nvSpPr>
        <p:spPr>
          <a:xfrm>
            <a:off x="822960" y="2441448"/>
            <a:ext cx="10607040" cy="1078992"/>
          </a:xfrm>
          <a:prstGeom prst="roundRect">
            <a:avLst>
              <a:gd name="adj" fmla="val 5085"/>
            </a:avLst>
          </a:prstGeom>
          <a:solidFill>
            <a:srgbClr val="F4F4F6"/>
          </a:solidFill>
          <a:ln/>
        </p:spPr>
        <p:txBody>
          <a:bodyPr/>
          <a:lstStyle/>
          <a:p>
            <a:endParaRPr lang="ja-JP" altLang="en-US"/>
          </a:p>
        </p:txBody>
      </p:sp>
      <p:sp>
        <p:nvSpPr>
          <p:cNvPr id="11" name="Shape 9"/>
          <p:cNvSpPr/>
          <p:nvPr/>
        </p:nvSpPr>
        <p:spPr>
          <a:xfrm>
            <a:off x="1005840" y="2578608"/>
            <a:ext cx="128016" cy="804672"/>
          </a:xfrm>
          <a:prstGeom prst="rect">
            <a:avLst/>
          </a:prstGeom>
          <a:solidFill>
            <a:srgbClr val="9467BD"/>
          </a:solidFill>
          <a:ln/>
        </p:spPr>
        <p:txBody>
          <a:bodyPr/>
          <a:lstStyle/>
          <a:p>
            <a:endParaRPr lang="ja-JP" altLang="en-US"/>
          </a:p>
        </p:txBody>
      </p:sp>
      <p:sp>
        <p:nvSpPr>
          <p:cNvPr id="12" name="Text 10"/>
          <p:cNvSpPr/>
          <p:nvPr/>
        </p:nvSpPr>
        <p:spPr>
          <a:xfrm>
            <a:off x="1325880" y="2532888"/>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裏取り(3方向並列)</a:t>
            </a:r>
            <a:endParaRPr lang="en-US" sz="1300" dirty="0"/>
          </a:p>
        </p:txBody>
      </p:sp>
      <p:sp>
        <p:nvSpPr>
          <p:cNvPr id="13" name="Text 11"/>
          <p:cNvSpPr/>
          <p:nvPr/>
        </p:nvSpPr>
        <p:spPr>
          <a:xfrm>
            <a:off x="3794760" y="2532888"/>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コード: 島分けはregionラベルのみ / データ: 群馬・埼玉座標なのにregion=chubuが混在 / 実世界: 軽井沢一帯は中部電力領で、東西は新信濃FCでしか繋がらない(出典つき)</a:t>
            </a:r>
            <a:endParaRPr lang="en-US" sz="1050" dirty="0"/>
          </a:p>
        </p:txBody>
      </p:sp>
      <p:sp>
        <p:nvSpPr>
          <p:cNvPr id="14" name="Shape 12"/>
          <p:cNvSpPr/>
          <p:nvPr/>
        </p:nvSpPr>
        <p:spPr>
          <a:xfrm>
            <a:off x="822960" y="3648456"/>
            <a:ext cx="10607040" cy="1078992"/>
          </a:xfrm>
          <a:prstGeom prst="roundRect">
            <a:avLst>
              <a:gd name="adj" fmla="val 5085"/>
            </a:avLst>
          </a:prstGeom>
          <a:solidFill>
            <a:srgbClr val="F4F4F6"/>
          </a:solidFill>
          <a:ln/>
        </p:spPr>
        <p:txBody>
          <a:bodyPr/>
          <a:lstStyle/>
          <a:p>
            <a:endParaRPr lang="ja-JP" altLang="en-US"/>
          </a:p>
        </p:txBody>
      </p:sp>
      <p:sp>
        <p:nvSpPr>
          <p:cNvPr id="15" name="Shape 13"/>
          <p:cNvSpPr/>
          <p:nvPr/>
        </p:nvSpPr>
        <p:spPr>
          <a:xfrm>
            <a:off x="1005840" y="3785616"/>
            <a:ext cx="128016" cy="804672"/>
          </a:xfrm>
          <a:prstGeom prst="rect">
            <a:avLst/>
          </a:prstGeom>
          <a:solidFill>
            <a:srgbClr val="FF7F0E"/>
          </a:solidFill>
          <a:ln/>
        </p:spPr>
        <p:txBody>
          <a:bodyPr/>
          <a:lstStyle/>
          <a:p>
            <a:endParaRPr lang="ja-JP" altLang="en-US"/>
          </a:p>
        </p:txBody>
      </p:sp>
      <p:sp>
        <p:nvSpPr>
          <p:cNvPr id="16" name="Text 14"/>
          <p:cNvSpPr/>
          <p:nvPr/>
        </p:nvSpPr>
        <p:spPr>
          <a:xfrm>
            <a:off x="1325880" y="3739896"/>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機序(3変種)</a:t>
            </a:r>
            <a:endParaRPr lang="en-US" sz="1300" dirty="0"/>
          </a:p>
        </p:txBody>
      </p:sp>
      <p:sp>
        <p:nvSpPr>
          <p:cNvPr id="17" name="Text 15"/>
          <p:cNvSpPr/>
          <p:nvPr/>
        </p:nvSpPr>
        <p:spPr>
          <a:xfrm>
            <a:off x="3794760" y="3739896"/>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①抽出bboxこぼれ(嬬恋・神保原・榛名・鴨宮・都留) ②座標是正ロジックが「周波数跨ぎ全面禁止」ガードで恒久スキップ ③衛生介入#35にガードが無く逆流8件</a:t>
            </a:r>
            <a:endParaRPr lang="en-US" sz="1050" dirty="0"/>
          </a:p>
        </p:txBody>
      </p:sp>
      <p:sp>
        <p:nvSpPr>
          <p:cNvPr id="18" name="Shape 16"/>
          <p:cNvSpPr/>
          <p:nvPr/>
        </p:nvSpPr>
        <p:spPr>
          <a:xfrm>
            <a:off x="822960" y="4855464"/>
            <a:ext cx="10607040" cy="1078992"/>
          </a:xfrm>
          <a:prstGeom prst="roundRect">
            <a:avLst>
              <a:gd name="adj" fmla="val 5085"/>
            </a:avLst>
          </a:prstGeom>
          <a:solidFill>
            <a:srgbClr val="F4F4F6"/>
          </a:solidFill>
          <a:ln/>
        </p:spPr>
        <p:txBody>
          <a:bodyPr/>
          <a:lstStyle/>
          <a:p>
            <a:endParaRPr lang="ja-JP" altLang="en-US"/>
          </a:p>
        </p:txBody>
      </p:sp>
      <p:sp>
        <p:nvSpPr>
          <p:cNvPr id="19" name="Shape 17"/>
          <p:cNvSpPr/>
          <p:nvPr/>
        </p:nvSpPr>
        <p:spPr>
          <a:xfrm>
            <a:off x="1005840" y="4992624"/>
            <a:ext cx="128016" cy="804672"/>
          </a:xfrm>
          <a:prstGeom prst="rect">
            <a:avLst/>
          </a:prstGeom>
          <a:solidFill>
            <a:srgbClr val="0F7B6C"/>
          </a:solidFill>
          <a:ln/>
        </p:spPr>
        <p:txBody>
          <a:bodyPr/>
          <a:lstStyle/>
          <a:p>
            <a:endParaRPr lang="ja-JP" altLang="en-US"/>
          </a:p>
        </p:txBody>
      </p:sp>
      <p:sp>
        <p:nvSpPr>
          <p:cNvPr id="20" name="Text 18"/>
          <p:cNvSpPr/>
          <p:nvPr/>
        </p:nvSpPr>
        <p:spPr>
          <a:xfrm>
            <a:off x="1325880" y="4946904"/>
            <a:ext cx="2377440" cy="896112"/>
          </a:xfrm>
          <a:prstGeom prst="rect">
            <a:avLst/>
          </a:prstGeom>
          <a:noFill/>
          <a:ln/>
        </p:spPr>
        <p:txBody>
          <a:bodyPr wrap="square" lIns="0" tIns="0" rIns="0" bIns="0" rtlCol="0" anchor="ctr"/>
          <a:lstStyle/>
          <a:p>
            <a:pPr marL="0" indent="0">
              <a:buNone/>
            </a:pPr>
            <a:r>
              <a:rPr lang="en-US" sz="1300" b="1" dirty="0">
                <a:solidFill>
                  <a:srgbClr val="1A1A1A"/>
                </a:solidFill>
                <a:latin typeface="Hiragino Sans" pitchFamily="34" charset="0"/>
                <a:ea typeface="Hiragino Sans" pitchFamily="34" charset="-122"/>
                <a:cs typeface="Hiragino Sans" pitchFamily="34" charset="-120"/>
              </a:rPr>
              <a:t>介入#38</a:t>
            </a:r>
            <a:endParaRPr lang="en-US" sz="1300" dirty="0"/>
          </a:p>
        </p:txBody>
      </p:sp>
      <p:sp>
        <p:nvSpPr>
          <p:cNvPr id="21" name="Text 19"/>
          <p:cNvSpPr/>
          <p:nvPr/>
        </p:nvSpPr>
        <p:spPr>
          <a:xfrm>
            <a:off x="3794760" y="4946904"/>
            <a:ext cx="7498080" cy="896112"/>
          </a:xfrm>
          <a:prstGeom prst="rect">
            <a:avLst/>
          </a:prstGeom>
          <a:noFill/>
          <a:ln/>
        </p:spPr>
        <p:txBody>
          <a:bodyPr wrap="square" lIns="0" tIns="0" rIns="0" bIns="0" rtlCol="0" anchor="ctr"/>
          <a:lstStyle/>
          <a:p>
            <a:pPr marL="0" indent="0">
              <a:lnSpc>
                <a:spcPts val="1400"/>
              </a:lnSpc>
              <a:buNone/>
            </a:pPr>
            <a:r>
              <a:rPr lang="en-US" sz="1050" dirty="0">
                <a:solidFill>
                  <a:srgbClr val="55555F"/>
                </a:solidFill>
                <a:latin typeface="Hiragino Sans" pitchFamily="34" charset="0"/>
                <a:ea typeface="Hiragino Sans" pitchFamily="34" charset="-122"/>
                <a:cs typeface="Hiragino Sans" pitchFamily="34" charset="-120"/>
              </a:rPr>
              <a:t>ガードを精緻化: 周波数が県内で一意な県(関東+山梨/愛知以西+北陸)への是正だけ跨ぎを許可。混在県(長野・新潟・静岡)は従来どおり保護 — 安曇幹線は切らない</a:t>
            </a:r>
            <a:endParaRPr lang="en-US" sz="1050" dirty="0"/>
          </a:p>
        </p:txBody>
      </p:sp>
      <p:sp>
        <p:nvSpPr>
          <p:cNvPr id="22" name="Text 20"/>
          <p:cNvSpPr/>
          <p:nvPr/>
        </p:nvSpPr>
        <p:spPr>
          <a:xfrm>
            <a:off x="822960" y="6126480"/>
            <a:ext cx="10607040" cy="274320"/>
          </a:xfrm>
          <a:prstGeom prst="rect">
            <a:avLst/>
          </a:prstGeom>
          <a:noFill/>
          <a:ln/>
        </p:spPr>
        <p:txBody>
          <a:bodyPr wrap="square" lIns="0" tIns="0" rIns="0" bIns="0" rtlCol="0" anchor="ctr"/>
          <a:lstStyle/>
          <a:p>
            <a:pPr marL="0" indent="0">
              <a:buNone/>
            </a:pPr>
            <a:r>
              <a:rPr lang="en-US" sz="1050" dirty="0">
                <a:solidFill>
                  <a:srgbClr val="55555F"/>
                </a:solidFill>
                <a:latin typeface="Hiragino Sans" pitchFamily="34" charset="0"/>
                <a:ea typeface="Hiragino Sans" pitchFamily="34" charset="-122"/>
                <a:cs typeface="Hiragino Sans" pitchFamily="34" charset="-120"/>
              </a:rPr>
              <a:t>誤帰属ノードは是正後もregion_srcに原ラベルを退避 — 何を動かしたかは常に監査可能</a:t>
            </a:r>
            <a:endParaRPr lang="en-US" sz="10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24</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34">
    <p:bg>
      <p:bgPr>
        <a:solidFill>
          <a:srgbClr val="0A0D1A"/>
        </a:solidFill>
        <a:effectLst/>
      </p:bgPr>
    </p:bg>
    <p:spTree>
      <p:nvGrpSpPr>
        <p:cNvPr id="1" name=""/>
        <p:cNvGrpSpPr/>
        <p:nvPr/>
      </p:nvGrpSpPr>
      <p:grpSpPr>
        <a:xfrm>
          <a:off x="0" y="0"/>
          <a:ext cx="0" cy="0"/>
          <a:chOff x="0" y="0"/>
          <a:chExt cx="0" cy="0"/>
        </a:xfrm>
      </p:grpSpPr>
      <p:pic>
        <p:nvPicPr>
          <p:cNvPr id="2" name="Image 0" descr="assets/west_ac_onset.gif"/>
          <p:cNvPicPr>
            <a:picLocks noChangeAspect="1"/>
          </p:cNvPicPr>
          <p:nvPr/>
        </p:nvPicPr>
        <p:blipFill>
          <a:blip r:embed="rId3"/>
          <a:stretch>
            <a:fillRect/>
          </a:stretch>
        </p:blipFill>
        <p:spPr>
          <a:xfrm>
            <a:off x="518668" y="585216"/>
            <a:ext cx="11151616" cy="6272784"/>
          </a:xfrm>
          <a:prstGeom prst="rect">
            <a:avLst/>
          </a:prstGeom>
        </p:spPr>
      </p:pic>
      <p:sp>
        <p:nvSpPr>
          <p:cNvPr id="3" name="Text 0"/>
          <p:cNvSpPr/>
          <p:nvPr/>
        </p:nvSpPr>
        <p:spPr>
          <a:xfrm>
            <a:off x="502920" y="91440"/>
            <a:ext cx="10424160" cy="402336"/>
          </a:xfrm>
          <a:prstGeom prst="rect">
            <a:avLst/>
          </a:prstGeom>
          <a:noFill/>
          <a:ln/>
        </p:spPr>
        <p:txBody>
          <a:bodyPr wrap="square" lIns="0" tIns="0" rIns="0" bIns="0" rtlCol="0" anchor="ctr"/>
          <a:lstStyle/>
          <a:p>
            <a:pPr marL="0" indent="0">
              <a:buNone/>
            </a:pPr>
            <a:r>
              <a:rPr lang="en-US" sz="1900" b="1" dirty="0">
                <a:solidFill>
                  <a:srgbClr val="FFFFFF"/>
                </a:solidFill>
                <a:latin typeface="Hiragino Sans" pitchFamily="34" charset="0"/>
                <a:ea typeface="Hiragino Sans" pitchFamily="34" charset="-122"/>
                <a:cs typeface="Hiragino Sans" pitchFamily="34" charset="-120"/>
              </a:rPr>
              <a:t>発散が育つ → 収束する — ニュートン反復を1回ずつ止めて観察する</a:t>
            </a:r>
            <a:endParaRPr lang="en-US" sz="1900" dirty="0"/>
          </a:p>
        </p:txBody>
      </p:sp>
      <p:sp>
        <p:nvSpPr>
          <p:cNvPr id="4" name="Text 1"/>
          <p:cNvSpPr/>
          <p:nvPr/>
        </p:nvSpPr>
        <p:spPr>
          <a:xfrm>
            <a:off x="502920" y="91440"/>
            <a:ext cx="11247120" cy="402336"/>
          </a:xfrm>
          <a:prstGeom prst="rect">
            <a:avLst/>
          </a:prstGeom>
          <a:noFill/>
          <a:ln/>
        </p:spPr>
        <p:txBody>
          <a:bodyPr wrap="square" lIns="0" tIns="0" rIns="0" bIns="0" rtlCol="0" anchor="ctr"/>
          <a:lstStyle/>
          <a:p>
            <a:pPr marL="0" indent="0" algn="r">
              <a:buNone/>
            </a:pPr>
            <a:r>
              <a:rPr lang="en-US" sz="1100" dirty="0">
                <a:solidFill>
                  <a:srgbClr val="8E96B8"/>
                </a:solidFill>
                <a:latin typeface="Hiragino Sans" pitchFamily="34" charset="0"/>
                <a:ea typeface="Hiragino Sans" pitchFamily="34" charset="-122"/>
                <a:cs typeface="Hiragino Sans" pitchFamily="34" charset="-120"/>
              </a:rPr>
              <a:t>西日本フル網・介入#37/#38/#39</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35">
    <p:bg>
      <p:bgPr>
        <a:solidFill>
          <a:srgbClr val="0A0D1A"/>
        </a:solidFill>
        <a:effectLst/>
      </p:bgPr>
    </p:bg>
    <p:spTree>
      <p:nvGrpSpPr>
        <p:cNvPr id="1" name=""/>
        <p:cNvGrpSpPr/>
        <p:nvPr/>
      </p:nvGrpSpPr>
      <p:grpSpPr>
        <a:xfrm>
          <a:off x="0" y="0"/>
          <a:ext cx="0" cy="0"/>
          <a:chOff x="0" y="0"/>
          <a:chExt cx="0" cy="0"/>
        </a:xfrm>
      </p:grpSpPr>
      <p:pic>
        <p:nvPicPr>
          <p:cNvPr id="2" name="Image 0" descr="assets/fig_west_ac_map.png"/>
          <p:cNvPicPr>
            <a:picLocks noChangeAspect="1"/>
          </p:cNvPicPr>
          <p:nvPr/>
        </p:nvPicPr>
        <p:blipFill>
          <a:blip r:embed="rId3"/>
          <a:stretch>
            <a:fillRect/>
          </a:stretch>
        </p:blipFill>
        <p:spPr>
          <a:xfrm>
            <a:off x="137160" y="685800"/>
            <a:ext cx="11914632" cy="5440680"/>
          </a:xfrm>
          <a:prstGeom prst="rect">
            <a:avLst/>
          </a:prstGeom>
        </p:spPr>
      </p:pic>
      <p:sp>
        <p:nvSpPr>
          <p:cNvPr id="3" name="Text 0"/>
          <p:cNvSpPr/>
          <p:nvPr/>
        </p:nvSpPr>
        <p:spPr>
          <a:xfrm>
            <a:off x="640080" y="10972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Hiragino Sans" pitchFamily="34" charset="0"/>
                <a:ea typeface="Hiragino Sans" pitchFamily="34" charset="-122"/>
                <a:cs typeface="Hiragino Sans" pitchFamily="34" charset="-120"/>
              </a:rPr>
              <a:t>そして、西日本が点灯する</a:t>
            </a:r>
            <a:endParaRPr lang="en-US" sz="2200" dirty="0"/>
          </a:p>
        </p:txBody>
      </p:sp>
      <p:sp>
        <p:nvSpPr>
          <p:cNvPr id="4" name="Text 1"/>
          <p:cNvSpPr/>
          <p:nvPr/>
        </p:nvSpPr>
        <p:spPr>
          <a:xfrm>
            <a:off x="640080" y="6181344"/>
            <a:ext cx="10058400" cy="256032"/>
          </a:xfrm>
          <a:prstGeom prst="rect">
            <a:avLst/>
          </a:prstGeom>
          <a:noFill/>
          <a:ln/>
        </p:spPr>
        <p:txBody>
          <a:bodyPr wrap="square" lIns="0" tIns="0" rIns="0" bIns="0" rtlCol="0" anchor="ctr"/>
          <a:lstStyle/>
          <a:p>
            <a:pPr marL="0" indent="0">
              <a:buNone/>
            </a:pPr>
            <a:r>
              <a:rPr lang="en-US" sz="1100" dirty="0">
                <a:solidFill>
                  <a:srgbClr val="8E96B8"/>
                </a:solidFill>
                <a:latin typeface="Hiragino Sans" pitchFamily="34" charset="0"/>
                <a:ea typeface="Hiragino Sans" pitchFamily="34" charset="-122"/>
                <a:cs typeface="Hiragino Sans" pitchFamily="34" charset="-120"/>
              </a:rPr>
              <a:t>4島フルAC / 西も24時間全時刻AC(第8波: 下流専属負荷の見逃しを塞いで昼間帯も点灯) / slack 13%と局所低電圧も正直に開示</a:t>
            </a:r>
            <a:endParaRPr lang="en-US" sz="1100" dirty="0"/>
          </a:p>
        </p:txBody>
      </p:sp>
      <p:sp>
        <p:nvSpPr>
          <p:cNvPr id="5" name="Text 2"/>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6" name="Text 3"/>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7" name="Text 4"/>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25</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このモデルは正しいのか — 3つの検証と、その限界</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「解けた」は正しさではない(第3幕)。ならば外の実測と突き合わせる — 限界を同じ文で開示する</a:t>
            </a:r>
            <a:endParaRPr lang="en-US" sz="1200" dirty="0"/>
          </a:p>
        </p:txBody>
      </p:sp>
      <p:sp>
        <p:nvSpPr>
          <p:cNvPr id="6" name="Shape 4"/>
          <p:cNvSpPr/>
          <p:nvPr/>
        </p:nvSpPr>
        <p:spPr>
          <a:xfrm>
            <a:off x="822960" y="1325880"/>
            <a:ext cx="3520440" cy="1783080"/>
          </a:xfrm>
          <a:prstGeom prst="roundRect">
            <a:avLst>
              <a:gd name="adj" fmla="val 3077"/>
            </a:avLst>
          </a:prstGeom>
          <a:solidFill>
            <a:srgbClr val="F4F4F6"/>
          </a:solidFill>
          <a:ln/>
        </p:spPr>
        <p:txBody>
          <a:bodyPr/>
          <a:lstStyle/>
          <a:p>
            <a:endParaRPr lang="ja-JP" altLang="en-US"/>
          </a:p>
        </p:txBody>
      </p:sp>
      <p:sp>
        <p:nvSpPr>
          <p:cNvPr id="7" name="Shape 5"/>
          <p:cNvSpPr/>
          <p:nvPr/>
        </p:nvSpPr>
        <p:spPr>
          <a:xfrm>
            <a:off x="1024128" y="1545336"/>
            <a:ext cx="128016" cy="128016"/>
          </a:xfrm>
          <a:prstGeom prst="rect">
            <a:avLst/>
          </a:prstGeom>
          <a:solidFill>
            <a:srgbClr val="FF7F0E"/>
          </a:solidFill>
          <a:ln/>
        </p:spPr>
        <p:txBody>
          <a:bodyPr/>
          <a:lstStyle/>
          <a:p>
            <a:endParaRPr lang="ja-JP" altLang="en-US"/>
          </a:p>
        </p:txBody>
      </p:sp>
      <p:sp>
        <p:nvSpPr>
          <p:cNvPr id="8" name="Text 6"/>
          <p:cNvSpPr/>
          <p:nvPr/>
        </p:nvSpPr>
        <p:spPr>
          <a:xfrm>
            <a:off x="1234440" y="1435608"/>
            <a:ext cx="30632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① 実測潮流との順位相関(東京)</a:t>
            </a:r>
            <a:endParaRPr lang="en-US" sz="1250" dirty="0"/>
          </a:p>
        </p:txBody>
      </p:sp>
      <p:sp>
        <p:nvSpPr>
          <p:cNvPr id="9" name="Text 7"/>
          <p:cNvSpPr/>
          <p:nvPr/>
        </p:nvSpPr>
        <p:spPr>
          <a:xfrm>
            <a:off x="1051560" y="1783080"/>
            <a:ext cx="306324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事業者公表の線路別潮流と突合。ρ=0.721。</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ただしこれは容量/トポロジの代理指標であって潮流の一致ではない。実測ACでの相関は ρ≈0.46-0.60</a:t>
            </a:r>
            <a:endParaRPr lang="en-US" sz="1050" dirty="0"/>
          </a:p>
        </p:txBody>
      </p:sp>
      <p:sp>
        <p:nvSpPr>
          <p:cNvPr id="10" name="Shape 8"/>
          <p:cNvSpPr/>
          <p:nvPr/>
        </p:nvSpPr>
        <p:spPr>
          <a:xfrm>
            <a:off x="4572000" y="1325880"/>
            <a:ext cx="3520440" cy="1783080"/>
          </a:xfrm>
          <a:prstGeom prst="roundRect">
            <a:avLst>
              <a:gd name="adj" fmla="val 3077"/>
            </a:avLst>
          </a:prstGeom>
          <a:solidFill>
            <a:srgbClr val="F4F4F6"/>
          </a:solidFill>
          <a:ln/>
        </p:spPr>
        <p:txBody>
          <a:bodyPr/>
          <a:lstStyle/>
          <a:p>
            <a:endParaRPr lang="ja-JP" altLang="en-US"/>
          </a:p>
        </p:txBody>
      </p:sp>
      <p:sp>
        <p:nvSpPr>
          <p:cNvPr id="11" name="Shape 9"/>
          <p:cNvSpPr/>
          <p:nvPr/>
        </p:nvSpPr>
        <p:spPr>
          <a:xfrm>
            <a:off x="4773168" y="1545336"/>
            <a:ext cx="128016" cy="128016"/>
          </a:xfrm>
          <a:prstGeom prst="rect">
            <a:avLst/>
          </a:prstGeom>
          <a:solidFill>
            <a:srgbClr val="FF7F0E"/>
          </a:solidFill>
          <a:ln/>
        </p:spPr>
        <p:txBody>
          <a:bodyPr/>
          <a:lstStyle/>
          <a:p>
            <a:endParaRPr lang="ja-JP" altLang="en-US"/>
          </a:p>
        </p:txBody>
      </p:sp>
      <p:sp>
        <p:nvSpPr>
          <p:cNvPr id="12" name="Text 10"/>
          <p:cNvSpPr/>
          <p:nvPr/>
        </p:nvSpPr>
        <p:spPr>
          <a:xfrm>
            <a:off x="4983480" y="1435608"/>
            <a:ext cx="306324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② 電圧クラスの突合(関西)</a:t>
            </a:r>
            <a:endParaRPr lang="en-US" sz="1250" dirty="0"/>
          </a:p>
        </p:txBody>
      </p:sp>
      <p:sp>
        <p:nvSpPr>
          <p:cNvPr id="13" name="Text 11"/>
          <p:cNvSpPr/>
          <p:nvPr/>
        </p:nvSpPr>
        <p:spPr>
          <a:xfrm>
            <a:off x="4800600" y="1783080"/>
            <a:ext cx="306324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開示系統図と電圧階級を照合し 37/38 が一致(97%)。</a:t>
            </a:r>
            <a:endParaRPr lang="en-US" sz="1050" dirty="0"/>
          </a:p>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ただし母数は開示182本中、照合が成立した38本のみ。クラス限定の検証</a:t>
            </a:r>
            <a:endParaRPr lang="en-US" sz="1050" dirty="0"/>
          </a:p>
        </p:txBody>
      </p:sp>
      <p:sp>
        <p:nvSpPr>
          <p:cNvPr id="14" name="Shape 12"/>
          <p:cNvSpPr/>
          <p:nvPr/>
        </p:nvSpPr>
        <p:spPr>
          <a:xfrm>
            <a:off x="8321040" y="1325880"/>
            <a:ext cx="3108960" cy="1783080"/>
          </a:xfrm>
          <a:prstGeom prst="roundRect">
            <a:avLst>
              <a:gd name="adj" fmla="val 3077"/>
            </a:avLst>
          </a:prstGeom>
          <a:solidFill>
            <a:srgbClr val="F4F4F6"/>
          </a:solidFill>
          <a:ln/>
        </p:spPr>
        <p:txBody>
          <a:bodyPr/>
          <a:lstStyle/>
          <a:p>
            <a:endParaRPr lang="ja-JP" altLang="en-US"/>
          </a:p>
        </p:txBody>
      </p:sp>
      <p:sp>
        <p:nvSpPr>
          <p:cNvPr id="15" name="Shape 13"/>
          <p:cNvSpPr/>
          <p:nvPr/>
        </p:nvSpPr>
        <p:spPr>
          <a:xfrm>
            <a:off x="8522208" y="1545336"/>
            <a:ext cx="128016" cy="128016"/>
          </a:xfrm>
          <a:prstGeom prst="rect">
            <a:avLst/>
          </a:prstGeom>
          <a:solidFill>
            <a:srgbClr val="17BECF"/>
          </a:solidFill>
          <a:ln/>
        </p:spPr>
        <p:txBody>
          <a:bodyPr/>
          <a:lstStyle/>
          <a:p>
            <a:endParaRPr lang="ja-JP" altLang="en-US"/>
          </a:p>
        </p:txBody>
      </p:sp>
      <p:sp>
        <p:nvSpPr>
          <p:cNvPr id="16" name="Text 14"/>
          <p:cNvSpPr/>
          <p:nvPr/>
        </p:nvSpPr>
        <p:spPr>
          <a:xfrm>
            <a:off x="8732520" y="1435608"/>
            <a:ext cx="265176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③ 標準による自己検証</a:t>
            </a:r>
            <a:endParaRPr lang="en-US" sz="1250" dirty="0"/>
          </a:p>
        </p:txBody>
      </p:sp>
      <p:sp>
        <p:nvSpPr>
          <p:cNvPr id="17" name="Text 15"/>
          <p:cNvSpPr/>
          <p:nvPr/>
        </p:nvSpPr>
        <p:spPr>
          <a:xfrm>
            <a:off x="8549640" y="1783080"/>
            <a:ext cx="265176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CGMES(EQ+TP+SSH+SV+GL)を全10地域で書き出し、独立実装 pandapower cim2pp で読み戻す。10/10 VALID・dangling参照 0・往復後 vm差&lt;1e-4 pu</a:t>
            </a:r>
            <a:endParaRPr lang="en-US" sz="1050" dirty="0"/>
          </a:p>
        </p:txBody>
      </p:sp>
      <p:sp>
        <p:nvSpPr>
          <p:cNvPr id="18" name="Shape 16"/>
          <p:cNvSpPr/>
          <p:nvPr/>
        </p:nvSpPr>
        <p:spPr>
          <a:xfrm>
            <a:off x="822960" y="3401568"/>
            <a:ext cx="10607040" cy="1234440"/>
          </a:xfrm>
          <a:prstGeom prst="roundRect">
            <a:avLst>
              <a:gd name="adj" fmla="val 5926"/>
            </a:avLst>
          </a:prstGeom>
          <a:solidFill>
            <a:srgbClr val="7A1F1F"/>
          </a:solidFill>
          <a:ln/>
        </p:spPr>
        <p:txBody>
          <a:bodyPr/>
          <a:lstStyle/>
          <a:p>
            <a:endParaRPr lang="ja-JP" altLang="en-US"/>
          </a:p>
        </p:txBody>
      </p:sp>
      <p:sp>
        <p:nvSpPr>
          <p:cNvPr id="19" name="Text 17"/>
          <p:cNvSpPr/>
          <p:nvPr/>
        </p:nvSpPr>
        <p:spPr>
          <a:xfrm>
            <a:off x="1097280" y="3401568"/>
            <a:ext cx="10058400" cy="1234440"/>
          </a:xfrm>
          <a:prstGeom prst="rect">
            <a:avLst/>
          </a:prstGeom>
          <a:noFill/>
          <a:ln/>
        </p:spPr>
        <p:txBody>
          <a:bodyPr wrap="square" lIns="0" tIns="0" rIns="0" bIns="0" rtlCol="0" anchor="ctr"/>
          <a:lstStyle/>
          <a:p>
            <a:pPr marL="0" indent="0">
              <a:lnSpc>
                <a:spcPts val="1600"/>
              </a:lnSpc>
              <a:buNone/>
            </a:pPr>
            <a:r>
              <a:rPr lang="en-US" sz="1300" b="1" dirty="0">
                <a:solidFill>
                  <a:srgbClr val="FFFFFF"/>
                </a:solidFill>
                <a:latin typeface="Hiragino Sans" pitchFamily="34" charset="0"/>
                <a:ea typeface="Hiragino Sans" pitchFamily="34" charset="-122"/>
                <a:cs typeface="Hiragino Sans" pitchFamily="34" charset="-120"/>
              </a:rPr>
              <a:t>言ってはいけないこと(自戒) — </a:t>
            </a:r>
            <a:r>
              <a:rPr lang="en-US" sz="1150" dirty="0">
                <a:solidFill>
                  <a:srgbClr val="FFE0E0"/>
                </a:solidFill>
                <a:latin typeface="Hiragino Sans" pitchFamily="34" charset="0"/>
                <a:ea typeface="Hiragino Sans" pitchFamily="34" charset="-122"/>
                <a:cs typeface="Hiragino Sans" pitchFamily="34" charset="-120"/>
              </a:rPr>
              <a:t>「ρ=0.721 は潮流が一致した」「実測突合そのものが新規」。ρは代理指標であり、PyPSA-Eur の ρ=0.96-0.998(回路長/ルート長)とは物理量が違うので横並べできない。</a:t>
            </a:r>
            <a:endParaRPr lang="en-US" sz="1300" dirty="0"/>
          </a:p>
        </p:txBody>
      </p:sp>
      <p:sp>
        <p:nvSpPr>
          <p:cNvPr id="20" name="Text 18"/>
          <p:cNvSpPr/>
          <p:nvPr/>
        </p:nvSpPr>
        <p:spPr>
          <a:xfrm>
            <a:off x="822960" y="4864608"/>
            <a:ext cx="10607040" cy="457200"/>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検証の弱さも成果物として開示している: 容量の訂正値は表示専用で潮流には未伝播(辞書に明記)/連結性・検証の広さは先行勢に劣る/DAG・DOIは未整備 — 次スライドの位置づけへ</a:t>
            </a:r>
            <a:endParaRPr lang="en-US" sz="1100" dirty="0"/>
          </a:p>
        </p:txBody>
      </p:sp>
      <p:sp>
        <p:nvSpPr>
          <p:cNvPr id="21" name="Text 19"/>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2" name="Text 20"/>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1:30</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26</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現在</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いまの姿：1コマンドで再生成できる5層スタック</a:t>
            </a:r>
            <a:endParaRPr lang="en-US" sz="2100" dirty="0"/>
          </a:p>
        </p:txBody>
      </p:sp>
      <p:sp>
        <p:nvSpPr>
          <p:cNvPr id="5" name="Shape 3"/>
          <p:cNvSpPr/>
          <p:nvPr/>
        </p:nvSpPr>
        <p:spPr>
          <a:xfrm>
            <a:off x="822960" y="1188720"/>
            <a:ext cx="8229600" cy="786384"/>
          </a:xfrm>
          <a:prstGeom prst="roundRect">
            <a:avLst>
              <a:gd name="adj" fmla="val 6977"/>
            </a:avLst>
          </a:prstGeom>
          <a:solidFill>
            <a:srgbClr val="F4F4F6"/>
          </a:solidFill>
          <a:ln/>
        </p:spPr>
        <p:txBody>
          <a:bodyPr/>
          <a:lstStyle/>
          <a:p>
            <a:endParaRPr lang="ja-JP" altLang="en-US"/>
          </a:p>
        </p:txBody>
      </p:sp>
      <p:sp>
        <p:nvSpPr>
          <p:cNvPr id="6" name="Shape 4"/>
          <p:cNvSpPr/>
          <p:nvPr/>
        </p:nvSpPr>
        <p:spPr>
          <a:xfrm>
            <a:off x="822960" y="1188720"/>
            <a:ext cx="128016" cy="786384"/>
          </a:xfrm>
          <a:prstGeom prst="rect">
            <a:avLst/>
          </a:prstGeom>
          <a:solidFill>
            <a:srgbClr val="D62728"/>
          </a:solidFill>
          <a:ln/>
        </p:spPr>
        <p:txBody>
          <a:bodyPr/>
          <a:lstStyle/>
          <a:p>
            <a:endParaRPr lang="ja-JP" altLang="en-US"/>
          </a:p>
        </p:txBody>
      </p:sp>
      <p:sp>
        <p:nvSpPr>
          <p:cNvPr id="7" name="Text 5"/>
          <p:cNvSpPr/>
          <p:nvPr/>
        </p:nvSpPr>
        <p:spPr>
          <a:xfrm>
            <a:off x="1143000" y="1188720"/>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観測・UI</a:t>
            </a:r>
            <a:endParaRPr lang="en-US" sz="1250" dirty="0"/>
          </a:p>
        </p:txBody>
      </p:sp>
      <p:sp>
        <p:nvSpPr>
          <p:cNvPr id="8" name="Text 6"/>
          <p:cNvSpPr/>
          <p:nvPr/>
        </p:nvSpPr>
        <p:spPr>
          <a:xfrm>
            <a:off x="2834640" y="1188720"/>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Pages: flow map（毎時更新）/ SubSLDビューア / エディタ / ダウンロード</a:t>
            </a:r>
            <a:endParaRPr lang="en-US" sz="1100" dirty="0"/>
          </a:p>
        </p:txBody>
      </p:sp>
      <p:sp>
        <p:nvSpPr>
          <p:cNvPr id="9" name="Shape 7"/>
          <p:cNvSpPr/>
          <p:nvPr/>
        </p:nvSpPr>
        <p:spPr>
          <a:xfrm>
            <a:off x="822960" y="2084832"/>
            <a:ext cx="8229600" cy="786384"/>
          </a:xfrm>
          <a:prstGeom prst="roundRect">
            <a:avLst>
              <a:gd name="adj" fmla="val 6977"/>
            </a:avLst>
          </a:prstGeom>
          <a:solidFill>
            <a:srgbClr val="F4F4F6"/>
          </a:solidFill>
          <a:ln/>
        </p:spPr>
        <p:txBody>
          <a:bodyPr/>
          <a:lstStyle/>
          <a:p>
            <a:endParaRPr lang="ja-JP" altLang="en-US"/>
          </a:p>
        </p:txBody>
      </p:sp>
      <p:sp>
        <p:nvSpPr>
          <p:cNvPr id="10" name="Shape 8"/>
          <p:cNvSpPr/>
          <p:nvPr/>
        </p:nvSpPr>
        <p:spPr>
          <a:xfrm>
            <a:off x="822960" y="2084832"/>
            <a:ext cx="128016" cy="786384"/>
          </a:xfrm>
          <a:prstGeom prst="rect">
            <a:avLst/>
          </a:prstGeom>
          <a:solidFill>
            <a:srgbClr val="FF7F0E"/>
          </a:solidFill>
          <a:ln/>
        </p:spPr>
        <p:txBody>
          <a:bodyPr/>
          <a:lstStyle/>
          <a:p>
            <a:endParaRPr lang="ja-JP" altLang="en-US"/>
          </a:p>
        </p:txBody>
      </p:sp>
      <p:sp>
        <p:nvSpPr>
          <p:cNvPr id="11" name="Text 9"/>
          <p:cNvSpPr/>
          <p:nvPr/>
        </p:nvSpPr>
        <p:spPr>
          <a:xfrm>
            <a:off x="1143000" y="2084832"/>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標準出力</a:t>
            </a:r>
            <a:endParaRPr lang="en-US" sz="1250" dirty="0"/>
          </a:p>
        </p:txBody>
      </p:sp>
      <p:sp>
        <p:nvSpPr>
          <p:cNvPr id="12" name="Text 10"/>
          <p:cNvSpPr/>
          <p:nvPr/>
        </p:nvSpPr>
        <p:spPr>
          <a:xfrm>
            <a:off x="2834640" y="2084832"/>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CIM/CGMES EQ+GL＋Level-2（node-breaker層込み）/ MATPOWER / GeoJSON / Ybus</a:t>
            </a:r>
            <a:endParaRPr lang="en-US" sz="1100" dirty="0"/>
          </a:p>
        </p:txBody>
      </p:sp>
      <p:sp>
        <p:nvSpPr>
          <p:cNvPr id="13" name="Shape 11"/>
          <p:cNvSpPr/>
          <p:nvPr/>
        </p:nvSpPr>
        <p:spPr>
          <a:xfrm>
            <a:off x="822960" y="2980944"/>
            <a:ext cx="8229600" cy="786384"/>
          </a:xfrm>
          <a:prstGeom prst="roundRect">
            <a:avLst>
              <a:gd name="adj" fmla="val 6977"/>
            </a:avLst>
          </a:prstGeom>
          <a:solidFill>
            <a:srgbClr val="F4F4F6"/>
          </a:solidFill>
          <a:ln/>
        </p:spPr>
        <p:txBody>
          <a:bodyPr/>
          <a:lstStyle/>
          <a:p>
            <a:endParaRPr lang="ja-JP" altLang="en-US"/>
          </a:p>
        </p:txBody>
      </p:sp>
      <p:sp>
        <p:nvSpPr>
          <p:cNvPr id="14" name="Shape 12"/>
          <p:cNvSpPr/>
          <p:nvPr/>
        </p:nvSpPr>
        <p:spPr>
          <a:xfrm>
            <a:off x="822960" y="2980944"/>
            <a:ext cx="128016" cy="786384"/>
          </a:xfrm>
          <a:prstGeom prst="rect">
            <a:avLst/>
          </a:prstGeom>
          <a:solidFill>
            <a:srgbClr val="9467BD"/>
          </a:solidFill>
          <a:ln/>
        </p:spPr>
        <p:txBody>
          <a:bodyPr/>
          <a:lstStyle/>
          <a:p>
            <a:endParaRPr lang="ja-JP" altLang="en-US"/>
          </a:p>
        </p:txBody>
      </p:sp>
      <p:sp>
        <p:nvSpPr>
          <p:cNvPr id="15" name="Text 13"/>
          <p:cNvSpPr/>
          <p:nvPr/>
        </p:nvSpPr>
        <p:spPr>
          <a:xfrm>
            <a:off x="1143000" y="2980944"/>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モデル</a:t>
            </a:r>
            <a:endParaRPr lang="en-US" sz="1250" dirty="0"/>
          </a:p>
        </p:txBody>
      </p:sp>
      <p:sp>
        <p:nvSpPr>
          <p:cNvPr id="16" name="Text 14"/>
          <p:cNvSpPr/>
          <p:nvPr/>
        </p:nvSpPr>
        <p:spPr>
          <a:xfrm>
            <a:off x="2834640" y="2980944"/>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built canon（介入台帳つき）/ 全国UC / 島別PF / AGC連鎖 / 変電所構造DB</a:t>
            </a:r>
            <a:endParaRPr lang="en-US" sz="1100" dirty="0"/>
          </a:p>
        </p:txBody>
      </p:sp>
      <p:sp>
        <p:nvSpPr>
          <p:cNvPr id="17" name="Shape 15"/>
          <p:cNvSpPr/>
          <p:nvPr/>
        </p:nvSpPr>
        <p:spPr>
          <a:xfrm>
            <a:off x="822960" y="3877056"/>
            <a:ext cx="8229600" cy="786384"/>
          </a:xfrm>
          <a:prstGeom prst="roundRect">
            <a:avLst>
              <a:gd name="adj" fmla="val 6977"/>
            </a:avLst>
          </a:prstGeom>
          <a:solidFill>
            <a:srgbClr val="F4F4F6"/>
          </a:solidFill>
          <a:ln/>
        </p:spPr>
        <p:txBody>
          <a:bodyPr/>
          <a:lstStyle/>
          <a:p>
            <a:endParaRPr lang="ja-JP" altLang="en-US"/>
          </a:p>
        </p:txBody>
      </p:sp>
      <p:sp>
        <p:nvSpPr>
          <p:cNvPr id="18" name="Shape 16"/>
          <p:cNvSpPr/>
          <p:nvPr/>
        </p:nvSpPr>
        <p:spPr>
          <a:xfrm>
            <a:off x="822960" y="3877056"/>
            <a:ext cx="128016" cy="786384"/>
          </a:xfrm>
          <a:prstGeom prst="rect">
            <a:avLst/>
          </a:prstGeom>
          <a:solidFill>
            <a:srgbClr val="17BECF"/>
          </a:solidFill>
          <a:ln/>
        </p:spPr>
        <p:txBody>
          <a:bodyPr/>
          <a:lstStyle/>
          <a:p>
            <a:endParaRPr lang="ja-JP" altLang="en-US"/>
          </a:p>
        </p:txBody>
      </p:sp>
      <p:sp>
        <p:nvSpPr>
          <p:cNvPr id="19" name="Text 17"/>
          <p:cNvSpPr/>
          <p:nvPr/>
        </p:nvSpPr>
        <p:spPr>
          <a:xfrm>
            <a:off x="1143000" y="3877056"/>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統一DB</a:t>
            </a:r>
            <a:endParaRPr lang="en-US" sz="1250" dirty="0"/>
          </a:p>
        </p:txBody>
      </p:sp>
      <p:sp>
        <p:nvSpPr>
          <p:cNvPr id="20" name="Text 18"/>
          <p:cNvSpPr/>
          <p:nvPr/>
        </p:nvSpPr>
        <p:spPr>
          <a:xfrm>
            <a:off x="2834640" y="3877056"/>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SQLite R/C/D 3層 — 生feature不変・キュレーション出所つき・導出は再生成可能</a:t>
            </a:r>
            <a:endParaRPr lang="en-US" sz="1100" dirty="0"/>
          </a:p>
        </p:txBody>
      </p:sp>
      <p:sp>
        <p:nvSpPr>
          <p:cNvPr id="21" name="Shape 19"/>
          <p:cNvSpPr/>
          <p:nvPr/>
        </p:nvSpPr>
        <p:spPr>
          <a:xfrm>
            <a:off x="822960" y="4773168"/>
            <a:ext cx="8229600" cy="786384"/>
          </a:xfrm>
          <a:prstGeom prst="roundRect">
            <a:avLst>
              <a:gd name="adj" fmla="val 6977"/>
            </a:avLst>
          </a:prstGeom>
          <a:solidFill>
            <a:srgbClr val="F4F4F6"/>
          </a:solidFill>
          <a:ln/>
        </p:spPr>
        <p:txBody>
          <a:bodyPr/>
          <a:lstStyle/>
          <a:p>
            <a:endParaRPr lang="ja-JP" altLang="en-US"/>
          </a:p>
        </p:txBody>
      </p:sp>
      <p:sp>
        <p:nvSpPr>
          <p:cNvPr id="22" name="Shape 20"/>
          <p:cNvSpPr/>
          <p:nvPr/>
        </p:nvSpPr>
        <p:spPr>
          <a:xfrm>
            <a:off x="822960" y="4773168"/>
            <a:ext cx="128016" cy="786384"/>
          </a:xfrm>
          <a:prstGeom prst="rect">
            <a:avLst/>
          </a:prstGeom>
          <a:solidFill>
            <a:srgbClr val="9A9AA6"/>
          </a:solidFill>
          <a:ln/>
        </p:spPr>
        <p:txBody>
          <a:bodyPr/>
          <a:lstStyle/>
          <a:p>
            <a:endParaRPr lang="ja-JP" altLang="en-US"/>
          </a:p>
        </p:txBody>
      </p:sp>
      <p:sp>
        <p:nvSpPr>
          <p:cNvPr id="23" name="Text 21"/>
          <p:cNvSpPr/>
          <p:nvPr/>
        </p:nvSpPr>
        <p:spPr>
          <a:xfrm>
            <a:off x="1143000" y="4773168"/>
            <a:ext cx="1600200" cy="786384"/>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基底データ</a:t>
            </a:r>
            <a:endParaRPr lang="en-US" sz="1250" dirty="0"/>
          </a:p>
        </p:txBody>
      </p:sp>
      <p:sp>
        <p:nvSpPr>
          <p:cNvPr id="24" name="Text 22"/>
          <p:cNvSpPr/>
          <p:nvPr/>
        </p:nvSpPr>
        <p:spPr>
          <a:xfrm>
            <a:off x="2834640" y="4773168"/>
            <a:ext cx="6126480" cy="786384"/>
          </a:xfrm>
          <a:prstGeom prst="rect">
            <a:avLst/>
          </a:prstGeom>
          <a:noFill/>
          <a:ln/>
        </p:spPr>
        <p:txBody>
          <a:bodyPr wrap="square" lIns="0" tIns="0" rIns="0" bIns="0" rtlCol="0" anchor="ctr"/>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OSMスナップショット + 開示（様式5・OCCTO）+ 出典つき容量/銘板DB</a:t>
            </a:r>
            <a:endParaRPr lang="en-US" sz="1100" dirty="0"/>
          </a:p>
        </p:txBody>
      </p:sp>
      <p:sp>
        <p:nvSpPr>
          <p:cNvPr id="25" name="Shape 23"/>
          <p:cNvSpPr/>
          <p:nvPr/>
        </p:nvSpPr>
        <p:spPr>
          <a:xfrm>
            <a:off x="9326880" y="1188720"/>
            <a:ext cx="2103120" cy="4370832"/>
          </a:xfrm>
          <a:prstGeom prst="roundRect">
            <a:avLst>
              <a:gd name="adj" fmla="val 2609"/>
            </a:avLst>
          </a:prstGeom>
          <a:solidFill>
            <a:srgbClr val="F7F7F2"/>
          </a:solidFill>
          <a:ln/>
        </p:spPr>
        <p:txBody>
          <a:bodyPr/>
          <a:lstStyle/>
          <a:p>
            <a:endParaRPr lang="ja-JP" altLang="en-US"/>
          </a:p>
        </p:txBody>
      </p:sp>
      <p:sp>
        <p:nvSpPr>
          <p:cNvPr id="26" name="Text 24"/>
          <p:cNvSpPr/>
          <p:nvPr/>
        </p:nvSpPr>
        <p:spPr>
          <a:xfrm>
            <a:off x="9464040" y="1325880"/>
            <a:ext cx="1828800" cy="502920"/>
          </a:xfrm>
          <a:prstGeom prst="rect">
            <a:avLst/>
          </a:prstGeom>
          <a:noFill/>
          <a:ln/>
        </p:spPr>
        <p:txBody>
          <a:bodyPr wrap="square" lIns="0" tIns="0" rIns="0" bIns="0" rtlCol="0" anchor="ctr"/>
          <a:lstStyle/>
          <a:p>
            <a:pPr marL="0" indent="0">
              <a:buNone/>
            </a:pPr>
            <a:r>
              <a:rPr lang="en-US" sz="1100" b="1" dirty="0">
                <a:solidFill>
                  <a:srgbClr val="1A1A1A"/>
                </a:solidFill>
                <a:latin typeface="Courier New" pitchFamily="34" charset="0"/>
                <a:ea typeface="Courier New" pitchFamily="34" charset="-122"/>
                <a:cs typeface="Courier New" pitchFamily="34" charset="-120"/>
              </a:rPr>
              <a:t>regenerate_all.py</a:t>
            </a:r>
            <a:endParaRPr lang="en-US" sz="1100" dirty="0"/>
          </a:p>
        </p:txBody>
      </p:sp>
      <p:sp>
        <p:nvSpPr>
          <p:cNvPr id="27" name="Text 25"/>
          <p:cNvSpPr/>
          <p:nvPr/>
        </p:nvSpPr>
        <p:spPr>
          <a:xfrm>
            <a:off x="9464040" y="1828800"/>
            <a:ext cx="1828800" cy="1828800"/>
          </a:xfrm>
          <a:prstGeom prst="rect">
            <a:avLst/>
          </a:prstGeom>
          <a:noFill/>
          <a:ln/>
        </p:spPr>
        <p:txBody>
          <a:bodyPr wrap="square" lIns="0" tIns="0" rIns="0" bIns="0" rtlCol="0" anchor="ctr"/>
          <a:lstStyle/>
          <a:p>
            <a:pPr marL="0" indent="0">
              <a:lnSpc>
                <a:spcPts val="1400"/>
              </a:lnSpc>
              <a:buNone/>
            </a:pPr>
            <a:r>
              <a:rPr lang="en-US" sz="1000" dirty="0">
                <a:solidFill>
                  <a:srgbClr val="55555F"/>
                </a:solidFill>
                <a:latin typeface="Hiragino Sans" pitchFamily="34" charset="0"/>
                <a:ea typeface="Hiragino Sans" pitchFamily="34" charset="-122"/>
                <a:cs typeface="Hiragino Sans" pitchFamily="34" charset="-120"/>
              </a:rPr>
              <a:t>全層を1コマンドで順に再生成し、git HEAD と各段の生成時刻を MODEL_VERSION に刻印 — 鮮度ズレを可視化</a:t>
            </a:r>
            <a:endParaRPr lang="en-US" sz="1000" dirty="0"/>
          </a:p>
        </p:txBody>
      </p:sp>
      <p:pic>
        <p:nvPicPr>
          <p:cNvPr id="28" name="Image 0" descr="assets/qr_repo.png"/>
          <p:cNvPicPr>
            <a:picLocks noChangeAspect="1"/>
          </p:cNvPicPr>
          <p:nvPr/>
        </p:nvPicPr>
        <p:blipFill>
          <a:blip r:embed="rId3"/>
          <a:stretch>
            <a:fillRect/>
          </a:stretch>
        </p:blipFill>
        <p:spPr>
          <a:xfrm>
            <a:off x="9601200" y="3840480"/>
            <a:ext cx="731520" cy="731520"/>
          </a:xfrm>
          <a:prstGeom prst="rect">
            <a:avLst/>
          </a:prstGeom>
        </p:spPr>
      </p:pic>
      <p:pic>
        <p:nvPicPr>
          <p:cNvPr id="29" name="Image 1" descr="assets/qr_viewer.png"/>
          <p:cNvPicPr>
            <a:picLocks noChangeAspect="1"/>
          </p:cNvPicPr>
          <p:nvPr/>
        </p:nvPicPr>
        <p:blipFill>
          <a:blip r:embed="rId4"/>
          <a:stretch>
            <a:fillRect/>
          </a:stretch>
        </p:blipFill>
        <p:spPr>
          <a:xfrm>
            <a:off x="10515600" y="3840480"/>
            <a:ext cx="731520" cy="731520"/>
          </a:xfrm>
          <a:prstGeom prst="rect">
            <a:avLst/>
          </a:prstGeom>
        </p:spPr>
      </p:pic>
      <p:sp>
        <p:nvSpPr>
          <p:cNvPr id="30" name="Text 26"/>
          <p:cNvSpPr/>
          <p:nvPr/>
        </p:nvSpPr>
        <p:spPr>
          <a:xfrm>
            <a:off x="9509760" y="4617720"/>
            <a:ext cx="1828800" cy="228600"/>
          </a:xfrm>
          <a:prstGeom prst="rect">
            <a:avLst/>
          </a:prstGeom>
          <a:noFill/>
          <a:ln/>
        </p:spPr>
        <p:txBody>
          <a:bodyPr wrap="square" lIns="0" tIns="0" rIns="0" bIns="0" rtlCol="0" anchor="ctr"/>
          <a:lstStyle/>
          <a:p>
            <a:pPr marL="0" indent="0" algn="ctr">
              <a:buNone/>
            </a:pPr>
            <a:r>
              <a:rPr lang="en-US" sz="850" dirty="0">
                <a:solidFill>
                  <a:srgbClr val="55555F"/>
                </a:solidFill>
                <a:latin typeface="Hiragino Sans" pitchFamily="34" charset="0"/>
                <a:ea typeface="Hiragino Sans" pitchFamily="34" charset="-122"/>
                <a:cs typeface="Hiragino Sans" pitchFamily="34" charset="-120"/>
              </a:rPr>
              <a:t>GitHub / ビューア</a:t>
            </a:r>
            <a:endParaRPr lang="en-US" sz="850" dirty="0"/>
          </a:p>
        </p:txBody>
      </p:sp>
      <p:sp>
        <p:nvSpPr>
          <p:cNvPr id="31" name="Text 27"/>
          <p:cNvSpPr/>
          <p:nvPr/>
        </p:nvSpPr>
        <p:spPr>
          <a:xfrm>
            <a:off x="822960" y="5760720"/>
            <a:ext cx="10607040" cy="320040"/>
          </a:xfrm>
          <a:prstGeom prst="rect">
            <a:avLst/>
          </a:prstGeom>
          <a:noFill/>
          <a:ln/>
        </p:spPr>
        <p:txBody>
          <a:bodyPr wrap="square" lIns="0" tIns="0" rIns="0" bIns="0" rtlCol="0" anchor="ctr"/>
          <a:lstStyle/>
          <a:p>
            <a:pPr marL="0" indent="0">
              <a:buNone/>
            </a:pPr>
            <a:r>
              <a:rPr lang="en-US" sz="1200" dirty="0">
                <a:solidFill>
                  <a:srgbClr val="1A1A1A"/>
                </a:solidFill>
                <a:latin typeface="Hiragino Sans" pitchFamily="34" charset="0"/>
                <a:ea typeface="Hiragino Sans" pitchFamily="34" charset="-122"/>
                <a:cs typeface="Hiragino Sans" pitchFamily="34" charset="-120"/>
              </a:rPr>
              <a:t>下の層ほど古い幕の成果。上の幕は下を壊さず積んだ — 幕の色がそのまま層の色。</a:t>
            </a:r>
            <a:endParaRPr lang="en-US" sz="1200" dirty="0"/>
          </a:p>
        </p:txBody>
      </p:sp>
      <p:sp>
        <p:nvSpPr>
          <p:cNvPr id="32" name="Text 28"/>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33" name="Text 29"/>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34" name="Text 30"/>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27</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C0392B"/>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第6幕 2026-08-30</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失敗も、台帳に載せる</a:t>
            </a:r>
            <a:endParaRPr lang="en-US" sz="21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marL="0" indent="0">
              <a:buNone/>
            </a:pPr>
            <a:r>
              <a:rPr lang="en-US" sz="1200" dirty="0">
                <a:solidFill>
                  <a:srgbClr val="55555F"/>
                </a:solidFill>
                <a:latin typeface="Hiragino Sans" pitchFamily="34" charset="0"/>
                <a:ea typeface="Hiragino Sans" pitchFamily="34" charset="-122"/>
                <a:cs typeface="Hiragino Sans" pitchFamily="34" charset="-120"/>
              </a:rPr>
              <a:t>成功だけを並べたスライドは、開発の実像ではない — 直近2週間だけでもこれだけ転んだ</a:t>
            </a:r>
            <a:endParaRPr lang="en-US" sz="1200" dirty="0"/>
          </a:p>
        </p:txBody>
      </p:sp>
      <p:sp>
        <p:nvSpPr>
          <p:cNvPr id="6" name="Shape 4"/>
          <p:cNvSpPr/>
          <p:nvPr/>
        </p:nvSpPr>
        <p:spPr>
          <a:xfrm>
            <a:off x="822960" y="1280160"/>
            <a:ext cx="5212080" cy="1783080"/>
          </a:xfrm>
          <a:prstGeom prst="roundRect">
            <a:avLst>
              <a:gd name="adj" fmla="val 3077"/>
            </a:avLst>
          </a:prstGeom>
          <a:solidFill>
            <a:srgbClr val="F4F4F6"/>
          </a:solidFill>
          <a:ln/>
        </p:spPr>
        <p:txBody>
          <a:bodyPr/>
          <a:lstStyle/>
          <a:p>
            <a:endParaRPr lang="ja-JP" altLang="en-US"/>
          </a:p>
        </p:txBody>
      </p:sp>
      <p:sp>
        <p:nvSpPr>
          <p:cNvPr id="7" name="Shape 5"/>
          <p:cNvSpPr/>
          <p:nvPr/>
        </p:nvSpPr>
        <p:spPr>
          <a:xfrm>
            <a:off x="1024128" y="1499616"/>
            <a:ext cx="128016" cy="128016"/>
          </a:xfrm>
          <a:prstGeom prst="rect">
            <a:avLst/>
          </a:prstGeom>
          <a:solidFill>
            <a:srgbClr val="C0392B"/>
          </a:solidFill>
          <a:ln/>
        </p:spPr>
        <p:txBody>
          <a:bodyPr/>
          <a:lstStyle/>
          <a:p>
            <a:endParaRPr lang="ja-JP" altLang="en-US"/>
          </a:p>
        </p:txBody>
      </p:sp>
      <p:sp>
        <p:nvSpPr>
          <p:cNvPr id="8" name="Text 6"/>
          <p:cNvSpPr/>
          <p:nvPr/>
        </p:nvSpPr>
        <p:spPr>
          <a:xfrm>
            <a:off x="1234440" y="138988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介入#40 人口傾斜 — 退行して不採用</a:t>
            </a:r>
            <a:endParaRPr lang="en-US" sz="1250" dirty="0"/>
          </a:p>
        </p:txBody>
      </p:sp>
      <p:sp>
        <p:nvSpPr>
          <p:cNvPr id="9" name="Text 7"/>
          <p:cNvSpPr/>
          <p:nvPr/>
        </p:nvSpPr>
        <p:spPr>
          <a:xfrm>
            <a:off x="1051560" y="173736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国勢調査メッシュで需要配分を人口比に傾斜 → 手元データは全国人口の39%しか覆っておらず、被覆内だけ歪んで東西フルACがdc_fallbackに退行。採用せず既定OFF — 『負の結果』も理由つきでレジストリに残した。皮肉なことに、動機だった江田島(広島66kV・4バス137.9MW vs 実勢ピーク≈30MW)は被覆外で無変化だった</a:t>
            </a:r>
            <a:endParaRPr lang="en-US" sz="1050" dirty="0"/>
          </a:p>
        </p:txBody>
      </p:sp>
      <p:sp>
        <p:nvSpPr>
          <p:cNvPr id="10" name="Shape 8"/>
          <p:cNvSpPr/>
          <p:nvPr/>
        </p:nvSpPr>
        <p:spPr>
          <a:xfrm>
            <a:off x="6217920" y="1280160"/>
            <a:ext cx="5212080" cy="1783080"/>
          </a:xfrm>
          <a:prstGeom prst="roundRect">
            <a:avLst>
              <a:gd name="adj" fmla="val 3077"/>
            </a:avLst>
          </a:prstGeom>
          <a:solidFill>
            <a:srgbClr val="F4F4F6"/>
          </a:solidFill>
          <a:ln/>
        </p:spPr>
        <p:txBody>
          <a:bodyPr/>
          <a:lstStyle/>
          <a:p>
            <a:endParaRPr lang="ja-JP" altLang="en-US"/>
          </a:p>
        </p:txBody>
      </p:sp>
      <p:sp>
        <p:nvSpPr>
          <p:cNvPr id="11" name="Shape 9"/>
          <p:cNvSpPr/>
          <p:nvPr/>
        </p:nvSpPr>
        <p:spPr>
          <a:xfrm>
            <a:off x="6419088" y="1499616"/>
            <a:ext cx="128016" cy="128016"/>
          </a:xfrm>
          <a:prstGeom prst="rect">
            <a:avLst/>
          </a:prstGeom>
          <a:solidFill>
            <a:srgbClr val="C0392B"/>
          </a:solidFill>
          <a:ln/>
        </p:spPr>
        <p:txBody>
          <a:bodyPr/>
          <a:lstStyle/>
          <a:p>
            <a:endParaRPr lang="ja-JP" altLang="en-US"/>
          </a:p>
        </p:txBody>
      </p:sp>
      <p:sp>
        <p:nvSpPr>
          <p:cNvPr id="12" name="Text 10"/>
          <p:cNvSpPr/>
          <p:nvPr/>
        </p:nvSpPr>
        <p:spPr>
          <a:xfrm>
            <a:off x="6629400" y="138988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第10波 多機LFCバグ — 全成果物を作り直し</a:t>
            </a:r>
            <a:endParaRPr lang="en-US" sz="1250" dirty="0"/>
          </a:p>
        </p:txBody>
      </p:sp>
      <p:sp>
        <p:nvSpPr>
          <p:cNvPr id="13" name="Text 11"/>
          <p:cNvSpPr/>
          <p:nvPr/>
        </p:nvSpPr>
        <p:spPr>
          <a:xfrm>
            <a:off x="6446520" y="173736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二次制御のACEに周波数バイアスが欠落=実質無効(900秒たっても47Hz台に張り付き)。COI層と同形のB=K_SYS·負荷·f0を導入して修正。検証: 北海道900秒で47.29→49.81Hzに回復(修正前は47.05で張り付き) → 正典4島+N-3+GIF群を一括再生成し、依存する図・スライドも作り直した</a:t>
            </a:r>
            <a:endParaRPr lang="en-US" sz="1050" dirty="0"/>
          </a:p>
        </p:txBody>
      </p:sp>
      <p:sp>
        <p:nvSpPr>
          <p:cNvPr id="14" name="Shape 12"/>
          <p:cNvSpPr/>
          <p:nvPr/>
        </p:nvSpPr>
        <p:spPr>
          <a:xfrm>
            <a:off x="822960" y="3246120"/>
            <a:ext cx="5212080" cy="1783080"/>
          </a:xfrm>
          <a:prstGeom prst="roundRect">
            <a:avLst>
              <a:gd name="adj" fmla="val 3077"/>
            </a:avLst>
          </a:prstGeom>
          <a:solidFill>
            <a:srgbClr val="F4F4F6"/>
          </a:solidFill>
          <a:ln/>
        </p:spPr>
        <p:txBody>
          <a:bodyPr/>
          <a:lstStyle/>
          <a:p>
            <a:endParaRPr lang="ja-JP" altLang="en-US"/>
          </a:p>
        </p:txBody>
      </p:sp>
      <p:sp>
        <p:nvSpPr>
          <p:cNvPr id="15" name="Shape 13"/>
          <p:cNvSpPr/>
          <p:nvPr/>
        </p:nvSpPr>
        <p:spPr>
          <a:xfrm>
            <a:off x="1024128" y="3465576"/>
            <a:ext cx="128016" cy="128016"/>
          </a:xfrm>
          <a:prstGeom prst="rect">
            <a:avLst/>
          </a:prstGeom>
          <a:solidFill>
            <a:srgbClr val="1F4E79"/>
          </a:solidFill>
          <a:ln/>
        </p:spPr>
        <p:txBody>
          <a:bodyPr/>
          <a:lstStyle/>
          <a:p>
            <a:endParaRPr lang="ja-JP" altLang="en-US"/>
          </a:p>
        </p:txBody>
      </p:sp>
      <p:sp>
        <p:nvSpPr>
          <p:cNvPr id="16" name="Text 14"/>
          <p:cNvSpPr/>
          <p:nvPr/>
        </p:nvSpPr>
        <p:spPr>
          <a:xfrm>
            <a:off x="1234440" y="335584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動揺GIFは3回作り直し</a:t>
            </a:r>
            <a:endParaRPr lang="en-US" sz="1250" dirty="0"/>
          </a:p>
        </p:txBody>
      </p:sp>
      <p:sp>
        <p:nvSpPr>
          <p:cNvPr id="17" name="Text 15"/>
          <p:cNvSpPr/>
          <p:nvPr/>
        </p:nvSpPr>
        <p:spPr>
          <a:xfrm>
            <a:off x="1051560" y="370332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『リニアに回復するのは違和感、停滞するはず』→ 停滞は実在(60-180s・速い水力余力の枯渇)、900秒窓で開示。『矢印が合っていない・位相シフト?』→ 速度と位相は90°ずれる(振り子と同じ) — 色を位相に揃え、90°のずれ自体を注記と『綱引きの4拍子』で説明に変えた</a:t>
            </a:r>
            <a:endParaRPr lang="en-US" sz="1050" dirty="0"/>
          </a:p>
        </p:txBody>
      </p:sp>
      <p:sp>
        <p:nvSpPr>
          <p:cNvPr id="18" name="Shape 16"/>
          <p:cNvSpPr/>
          <p:nvPr/>
        </p:nvSpPr>
        <p:spPr>
          <a:xfrm>
            <a:off x="6217920" y="3246120"/>
            <a:ext cx="5212080" cy="1783080"/>
          </a:xfrm>
          <a:prstGeom prst="roundRect">
            <a:avLst>
              <a:gd name="adj" fmla="val 3077"/>
            </a:avLst>
          </a:prstGeom>
          <a:solidFill>
            <a:srgbClr val="F4F4F6"/>
          </a:solidFill>
          <a:ln/>
        </p:spPr>
        <p:txBody>
          <a:bodyPr/>
          <a:lstStyle/>
          <a:p>
            <a:endParaRPr lang="ja-JP" altLang="en-US"/>
          </a:p>
        </p:txBody>
      </p:sp>
      <p:sp>
        <p:nvSpPr>
          <p:cNvPr id="19" name="Shape 17"/>
          <p:cNvSpPr/>
          <p:nvPr/>
        </p:nvSpPr>
        <p:spPr>
          <a:xfrm>
            <a:off x="6419088" y="3465576"/>
            <a:ext cx="128016" cy="128016"/>
          </a:xfrm>
          <a:prstGeom prst="rect">
            <a:avLst/>
          </a:prstGeom>
          <a:solidFill>
            <a:srgbClr val="0F7B6C"/>
          </a:solidFill>
          <a:ln/>
        </p:spPr>
        <p:txBody>
          <a:bodyPr/>
          <a:lstStyle/>
          <a:p>
            <a:endParaRPr lang="ja-JP" altLang="en-US"/>
          </a:p>
        </p:txBody>
      </p:sp>
      <p:sp>
        <p:nvSpPr>
          <p:cNvPr id="20" name="Text 18"/>
          <p:cNvSpPr/>
          <p:nvPr/>
        </p:nvSpPr>
        <p:spPr>
          <a:xfrm>
            <a:off x="6629400" y="3355848"/>
            <a:ext cx="4754880" cy="320040"/>
          </a:xfrm>
          <a:prstGeom prst="rect">
            <a:avLst/>
          </a:prstGeom>
          <a:noFill/>
          <a:ln/>
        </p:spPr>
        <p:txBody>
          <a:bodyPr wrap="square" lIns="0" tIns="0" rIns="0" bIns="0" rtlCol="0" anchor="ctr"/>
          <a:lstStyle/>
          <a:p>
            <a:pPr marL="0" indent="0">
              <a:buNone/>
            </a:pPr>
            <a:r>
              <a:rPr lang="en-US" sz="1250" b="1" dirty="0">
                <a:solidFill>
                  <a:srgbClr val="1A1A1A"/>
                </a:solidFill>
                <a:latin typeface="Hiragino Sans" pitchFamily="34" charset="0"/>
                <a:ea typeface="Hiragino Sans" pitchFamily="34" charset="-122"/>
                <a:cs typeface="Hiragino Sans" pitchFamily="34" charset="-120"/>
              </a:rPr>
              <a:t>○ だから台帳がある</a:t>
            </a:r>
            <a:endParaRPr lang="en-US" sz="1250" dirty="0"/>
          </a:p>
        </p:txBody>
      </p:sp>
      <p:sp>
        <p:nvSpPr>
          <p:cNvPr id="21" name="Text 19"/>
          <p:cNvSpPr/>
          <p:nvPr/>
        </p:nvSpPr>
        <p:spPr>
          <a:xfrm>
            <a:off x="6446520" y="3703320"/>
            <a:ext cx="4754880" cy="1216152"/>
          </a:xfrm>
          <a:prstGeom prst="rect">
            <a:avLst/>
          </a:prstGeom>
          <a:noFill/>
          <a:ln/>
        </p:spPr>
        <p:txBody>
          <a:bodyPr wrap="square" lIns="0" tIns="0" rIns="0" bIns="0" rtlCol="0" anchor="t"/>
          <a:lstStyle/>
          <a:p>
            <a:pPr marL="0" indent="0">
              <a:lnSpc>
                <a:spcPts val="1500"/>
              </a:lnSpc>
              <a:buNone/>
            </a:pPr>
            <a:r>
              <a:rPr lang="en-US" sz="1050" dirty="0">
                <a:solidFill>
                  <a:srgbClr val="55555F"/>
                </a:solidFill>
                <a:latin typeface="Hiragino Sans" pitchFamily="34" charset="0"/>
                <a:ea typeface="Hiragino Sans" pitchFamily="34" charset="-122"/>
                <a:cs typeface="Hiragino Sans" pitchFamily="34" charset="-120"/>
              </a:rPr>
              <a:t>介入#1〜#40: 全件に理由・出典・可逆手順。(仮)は(仮)と明記し、オーナー裁定を記録。失敗を隠すと次の失敗が見えなくなる — 誠実さは態度ではなく、仕組み。このスライド自体が、その仕組みの出力</a:t>
            </a:r>
            <a:endParaRPr lang="en-US" sz="1050" dirty="0"/>
          </a:p>
        </p:txBody>
      </p:sp>
      <p:sp>
        <p:nvSpPr>
          <p:cNvPr id="22" name="Text 20"/>
          <p:cNvSpPr/>
          <p:nvPr/>
        </p:nvSpPr>
        <p:spPr>
          <a:xfrm>
            <a:off x="822960" y="5349240"/>
            <a:ext cx="10607040" cy="365760"/>
          </a:xfrm>
          <a:prstGeom prst="rect">
            <a:avLst/>
          </a:prstGeom>
          <a:noFill/>
          <a:ln/>
        </p:spPr>
        <p:txBody>
          <a:bodyPr wrap="square" lIns="0" tIns="0" rIns="0" bIns="0" rtlCol="0" anchor="ctr"/>
          <a:lstStyle/>
          <a:p>
            <a:pPr marL="0" indent="0" algn="ctr">
              <a:buNone/>
            </a:pPr>
            <a:r>
              <a:rPr lang="en-US" sz="1350" b="1" dirty="0">
                <a:solidFill>
                  <a:srgbClr val="1A1A1A"/>
                </a:solidFill>
                <a:latin typeface="Hiragino Sans" pitchFamily="34" charset="0"/>
                <a:ea typeface="Hiragino Sans" pitchFamily="34" charset="-122"/>
                <a:cs typeface="Hiragino Sans" pitchFamily="34" charset="-120"/>
              </a:rPr>
              <a:t>つまずき → 観察 → 介入(台帳) → 検証 → だめなら戻す — このループが6ヶ月分、全部残っている</a:t>
            </a:r>
            <a:endParaRPr lang="en-US" sz="13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0:50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28</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347472"/>
            <a:ext cx="1920240" cy="274320"/>
          </a:xfrm>
          <a:prstGeom prst="roundRect">
            <a:avLst>
              <a:gd name="adj" fmla="val 16667"/>
            </a:avLst>
          </a:prstGeom>
          <a:solidFill>
            <a:srgbClr val="1E2761"/>
          </a:solidFill>
          <a:ln/>
        </p:spPr>
        <p:txBody>
          <a:bodyPr/>
          <a:lstStyle/>
          <a:p>
            <a:endParaRPr lang="ja-JP" altLang="en-US"/>
          </a:p>
        </p:txBody>
      </p:sp>
      <p:sp>
        <p:nvSpPr>
          <p:cNvPr id="3" name="Text 1"/>
          <p:cNvSpPr/>
          <p:nvPr/>
        </p:nvSpPr>
        <p:spPr>
          <a:xfrm>
            <a:off x="621792" y="347472"/>
            <a:ext cx="19202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Hiragino Sans" pitchFamily="34" charset="0"/>
                <a:ea typeface="Hiragino Sans" pitchFamily="34" charset="-122"/>
                <a:cs typeface="Hiragino Sans" pitchFamily="34" charset="-120"/>
              </a:rPr>
              <a:t>総括</a:t>
            </a:r>
            <a:endParaRPr lang="en-US" sz="1100" dirty="0"/>
          </a:p>
        </p:txBody>
      </p:sp>
      <p:sp>
        <p:nvSpPr>
          <p:cNvPr id="4" name="Text 2"/>
          <p:cNvSpPr/>
          <p:nvPr/>
        </p:nvSpPr>
        <p:spPr>
          <a:xfrm>
            <a:off x="2697480" y="310896"/>
            <a:ext cx="8869680" cy="384048"/>
          </a:xfrm>
          <a:prstGeom prst="rect">
            <a:avLst/>
          </a:prstGeom>
          <a:noFill/>
          <a:ln/>
        </p:spPr>
        <p:txBody>
          <a:bodyPr wrap="square" lIns="0" tIns="0" rIns="0" bIns="0" rtlCol="0" anchor="ctr"/>
          <a:lstStyle/>
          <a:p>
            <a:pPr marL="0" indent="0">
              <a:buNone/>
            </a:pPr>
            <a:r>
              <a:rPr lang="en-US" sz="2100" b="1" dirty="0">
                <a:solidFill>
                  <a:srgbClr val="1A1A1A"/>
                </a:solidFill>
                <a:latin typeface="Hiragino Sans" pitchFamily="34" charset="0"/>
                <a:ea typeface="Hiragino Sans" pitchFamily="34" charset="-122"/>
                <a:cs typeface="Hiragino Sans" pitchFamily="34" charset="-120"/>
              </a:rPr>
              <a:t>6ヶ月で学んだこと：正直さは態度ではなく、仕組み</a:t>
            </a:r>
            <a:endParaRPr lang="en-US" sz="2100" dirty="0"/>
          </a:p>
        </p:txBody>
      </p:sp>
      <p:sp>
        <p:nvSpPr>
          <p:cNvPr id="5" name="Shape 3"/>
          <p:cNvSpPr/>
          <p:nvPr/>
        </p:nvSpPr>
        <p:spPr>
          <a:xfrm>
            <a:off x="822960" y="1234440"/>
            <a:ext cx="5166360" cy="1783080"/>
          </a:xfrm>
          <a:prstGeom prst="roundRect">
            <a:avLst>
              <a:gd name="adj" fmla="val 3077"/>
            </a:avLst>
          </a:prstGeom>
          <a:solidFill>
            <a:srgbClr val="F4F4F6"/>
          </a:solidFill>
          <a:ln/>
        </p:spPr>
        <p:txBody>
          <a:bodyPr/>
          <a:lstStyle/>
          <a:p>
            <a:endParaRPr lang="ja-JP" altLang="en-US"/>
          </a:p>
        </p:txBody>
      </p:sp>
      <p:sp>
        <p:nvSpPr>
          <p:cNvPr id="6" name="Text 4"/>
          <p:cNvSpPr/>
          <p:nvPr/>
        </p:nvSpPr>
        <p:spPr>
          <a:xfrm>
            <a:off x="1005840" y="139903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1</a:t>
            </a:r>
            <a:endParaRPr lang="en-US" sz="2200" dirty="0"/>
          </a:p>
        </p:txBody>
      </p:sp>
      <p:sp>
        <p:nvSpPr>
          <p:cNvPr id="7" name="Text 5"/>
          <p:cNvSpPr/>
          <p:nvPr/>
        </p:nvSpPr>
        <p:spPr>
          <a:xfrm>
            <a:off x="1508760" y="139903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捏造ゼロは構成的に成立させる</a:t>
            </a:r>
            <a:endParaRPr lang="en-US" sz="1350" dirty="0"/>
          </a:p>
        </p:txBody>
      </p:sp>
      <p:sp>
        <p:nvSpPr>
          <p:cNvPr id="8" name="Text 6"/>
          <p:cNvSpPr/>
          <p:nvPr/>
        </p:nvSpPr>
        <p:spPr>
          <a:xfrm>
            <a:off x="1508760" y="203911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「気をつける」では守れない。証拠の無い要素が出力に到達できない構造にする（第5幕の証拠閉包はその極致）</a:t>
            </a:r>
            <a:endParaRPr lang="en-US" sz="1100" dirty="0"/>
          </a:p>
        </p:txBody>
      </p:sp>
      <p:sp>
        <p:nvSpPr>
          <p:cNvPr id="9" name="Shape 7"/>
          <p:cNvSpPr/>
          <p:nvPr/>
        </p:nvSpPr>
        <p:spPr>
          <a:xfrm>
            <a:off x="6263640" y="1234440"/>
            <a:ext cx="5166360" cy="1783080"/>
          </a:xfrm>
          <a:prstGeom prst="roundRect">
            <a:avLst>
              <a:gd name="adj" fmla="val 3077"/>
            </a:avLst>
          </a:prstGeom>
          <a:solidFill>
            <a:srgbClr val="F4F4F6"/>
          </a:solidFill>
          <a:ln/>
        </p:spPr>
        <p:txBody>
          <a:bodyPr/>
          <a:lstStyle/>
          <a:p>
            <a:endParaRPr lang="ja-JP" altLang="en-US"/>
          </a:p>
        </p:txBody>
      </p:sp>
      <p:sp>
        <p:nvSpPr>
          <p:cNvPr id="10" name="Text 8"/>
          <p:cNvSpPr/>
          <p:nvPr/>
        </p:nvSpPr>
        <p:spPr>
          <a:xfrm>
            <a:off x="6446520" y="139903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2</a:t>
            </a:r>
            <a:endParaRPr lang="en-US" sz="2200" dirty="0"/>
          </a:p>
        </p:txBody>
      </p:sp>
      <p:sp>
        <p:nvSpPr>
          <p:cNvPr id="11" name="Text 9"/>
          <p:cNvSpPr/>
          <p:nvPr/>
        </p:nvSpPr>
        <p:spPr>
          <a:xfrm>
            <a:off x="6949440" y="139903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モデルを良く見せる機構ほど台帳に載せる</a:t>
            </a:r>
            <a:endParaRPr lang="en-US" sz="1350" dirty="0"/>
          </a:p>
        </p:txBody>
      </p:sp>
      <p:sp>
        <p:nvSpPr>
          <p:cNvPr id="12" name="Text 10"/>
          <p:cNvSpPr/>
          <p:nvPr/>
        </p:nvSpPr>
        <p:spPr>
          <a:xfrm>
            <a:off x="6949440" y="203911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接続・解ける・完全に見せる介入#1〜#40すべてに根拠とOFFスイッチ。介入を隠すとバグと区別がつかなくなる</a:t>
            </a:r>
            <a:endParaRPr lang="en-US" sz="1100" dirty="0"/>
          </a:p>
        </p:txBody>
      </p:sp>
      <p:sp>
        <p:nvSpPr>
          <p:cNvPr id="13" name="Shape 11"/>
          <p:cNvSpPr/>
          <p:nvPr/>
        </p:nvSpPr>
        <p:spPr>
          <a:xfrm>
            <a:off x="822960" y="3200400"/>
            <a:ext cx="5166360" cy="1783080"/>
          </a:xfrm>
          <a:prstGeom prst="roundRect">
            <a:avLst>
              <a:gd name="adj" fmla="val 3077"/>
            </a:avLst>
          </a:prstGeom>
          <a:solidFill>
            <a:srgbClr val="F4F4F6"/>
          </a:solidFill>
          <a:ln/>
        </p:spPr>
        <p:txBody>
          <a:bodyPr/>
          <a:lstStyle/>
          <a:p>
            <a:endParaRPr lang="ja-JP" altLang="en-US"/>
          </a:p>
        </p:txBody>
      </p:sp>
      <p:sp>
        <p:nvSpPr>
          <p:cNvPr id="14" name="Text 12"/>
          <p:cNvSpPr/>
          <p:nvPr/>
        </p:nvSpPr>
        <p:spPr>
          <a:xfrm>
            <a:off x="1005840" y="336499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3</a:t>
            </a:r>
            <a:endParaRPr lang="en-US" sz="2200" dirty="0"/>
          </a:p>
        </p:txBody>
      </p:sp>
      <p:sp>
        <p:nvSpPr>
          <p:cNvPr id="15" name="Text 13"/>
          <p:cNvSpPr/>
          <p:nvPr/>
        </p:nvSpPr>
        <p:spPr>
          <a:xfrm>
            <a:off x="1508760" y="336499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収束は正しさではない</a:t>
            </a:r>
            <a:endParaRPr lang="en-US" sz="1350" dirty="0"/>
          </a:p>
        </p:txBody>
      </p:sp>
      <p:sp>
        <p:nvSpPr>
          <p:cNvPr id="16" name="Text 14"/>
          <p:cNvSpPr/>
          <p:nvPr/>
        </p:nvSpPr>
        <p:spPr>
          <a:xfrm>
            <a:off x="1508760" y="400507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served_frac を結果に同梱。誇っていた数字を自分で解体できるプローブ（変種比較・プロセス分離）を常備する</a:t>
            </a:r>
            <a:endParaRPr lang="en-US" sz="1100" dirty="0"/>
          </a:p>
        </p:txBody>
      </p:sp>
      <p:sp>
        <p:nvSpPr>
          <p:cNvPr id="17" name="Shape 15"/>
          <p:cNvSpPr/>
          <p:nvPr/>
        </p:nvSpPr>
        <p:spPr>
          <a:xfrm>
            <a:off x="6263640" y="3200400"/>
            <a:ext cx="5166360" cy="1783080"/>
          </a:xfrm>
          <a:prstGeom prst="roundRect">
            <a:avLst>
              <a:gd name="adj" fmla="val 3077"/>
            </a:avLst>
          </a:prstGeom>
          <a:solidFill>
            <a:srgbClr val="F4F4F6"/>
          </a:solidFill>
          <a:ln/>
        </p:spPr>
        <p:txBody>
          <a:bodyPr/>
          <a:lstStyle/>
          <a:p>
            <a:endParaRPr lang="ja-JP" altLang="en-US"/>
          </a:p>
        </p:txBody>
      </p:sp>
      <p:sp>
        <p:nvSpPr>
          <p:cNvPr id="18" name="Text 16"/>
          <p:cNvSpPr/>
          <p:nvPr/>
        </p:nvSpPr>
        <p:spPr>
          <a:xfrm>
            <a:off x="6446520" y="3364992"/>
            <a:ext cx="457200" cy="457200"/>
          </a:xfrm>
          <a:prstGeom prst="rect">
            <a:avLst/>
          </a:prstGeom>
          <a:noFill/>
          <a:ln/>
        </p:spPr>
        <p:txBody>
          <a:bodyPr wrap="square" lIns="0" tIns="0" rIns="0" bIns="0" rtlCol="0" anchor="ctr"/>
          <a:lstStyle/>
          <a:p>
            <a:pPr marL="0" indent="0">
              <a:buNone/>
            </a:pPr>
            <a:r>
              <a:rPr lang="en-US" sz="2200" b="1" dirty="0">
                <a:solidFill>
                  <a:srgbClr val="1E2761"/>
                </a:solidFill>
                <a:latin typeface="Helvetica Neue" pitchFamily="34" charset="0"/>
                <a:ea typeface="Helvetica Neue" pitchFamily="34" charset="-122"/>
                <a:cs typeface="Helvetica Neue" pitchFamily="34" charset="-120"/>
              </a:rPr>
              <a:t>4</a:t>
            </a:r>
            <a:endParaRPr lang="en-US" sz="2200" dirty="0"/>
          </a:p>
        </p:txBody>
      </p:sp>
      <p:sp>
        <p:nvSpPr>
          <p:cNvPr id="19" name="Text 17"/>
          <p:cNvSpPr/>
          <p:nvPr/>
        </p:nvSpPr>
        <p:spPr>
          <a:xfrm>
            <a:off x="6949440" y="3364992"/>
            <a:ext cx="4343400" cy="594360"/>
          </a:xfrm>
          <a:prstGeom prst="rect">
            <a:avLst/>
          </a:prstGeom>
          <a:noFill/>
          <a:ln/>
        </p:spPr>
        <p:txBody>
          <a:bodyPr wrap="square" lIns="0" tIns="0" rIns="0" bIns="0" rtlCol="0" anchor="ctr"/>
          <a:lstStyle/>
          <a:p>
            <a:pPr marL="0" indent="0">
              <a:lnSpc>
                <a:spcPts val="1800"/>
              </a:lnSpc>
              <a:buNone/>
            </a:pPr>
            <a:r>
              <a:rPr lang="en-US" sz="1350" b="1" dirty="0">
                <a:solidFill>
                  <a:srgbClr val="1A1A1A"/>
                </a:solidFill>
                <a:latin typeface="Hiragino Sans" pitchFamily="34" charset="0"/>
                <a:ea typeface="Hiragino Sans" pitchFamily="34" charset="-122"/>
                <a:cs typeface="Hiragino Sans" pitchFamily="34" charset="-120"/>
              </a:rPr>
              <a:t>欠測は隠さず、測って作業リストにする</a:t>
            </a:r>
            <a:endParaRPr lang="en-US" sz="1350" dirty="0"/>
          </a:p>
        </p:txBody>
      </p:sp>
      <p:sp>
        <p:nvSpPr>
          <p:cNvPr id="20" name="Text 18"/>
          <p:cNvSpPr/>
          <p:nvPr/>
        </p:nvSpPr>
        <p:spPr>
          <a:xfrm>
            <a:off x="6949440" y="4005072"/>
            <a:ext cx="4343400" cy="914400"/>
          </a:xfrm>
          <a:prstGeom prst="rect">
            <a:avLst/>
          </a:prstGeom>
          <a:noFill/>
          <a:ln/>
        </p:spPr>
        <p:txBody>
          <a:bodyPr wrap="square" lIns="0" tIns="0" rIns="0" bIns="0" rtlCol="0" anchor="t"/>
          <a:lstStyle/>
          <a:p>
            <a:pPr marL="0" indent="0">
              <a:lnSpc>
                <a:spcPts val="1500"/>
              </a:lnSpc>
              <a:buNone/>
            </a:pPr>
            <a:r>
              <a:rPr lang="en-US" sz="1100" dirty="0">
                <a:solidFill>
                  <a:srgbClr val="55555F"/>
                </a:solidFill>
                <a:latin typeface="Hiragino Sans" pitchFamily="34" charset="0"/>
                <a:ea typeface="Hiragino Sans" pitchFamily="34" charset="-122"/>
                <a:cs typeface="Hiragino Sans" pitchFamily="34" charset="-120"/>
              </a:rPr>
              <a:t>被覆・棄権率・欠測は報告値。測った欠測はOSMコミュニティへの貢献リストになる — 欠測が資産に変わる</a:t>
            </a:r>
            <a:endParaRPr lang="en-US" sz="1100" dirty="0"/>
          </a:p>
        </p:txBody>
      </p:sp>
      <p:sp>
        <p:nvSpPr>
          <p:cNvPr id="21" name="Shape 19"/>
          <p:cNvSpPr/>
          <p:nvPr/>
        </p:nvSpPr>
        <p:spPr>
          <a:xfrm>
            <a:off x="822960" y="5257800"/>
            <a:ext cx="10607040" cy="868680"/>
          </a:xfrm>
          <a:prstGeom prst="roundRect">
            <a:avLst>
              <a:gd name="adj" fmla="val 6316"/>
            </a:avLst>
          </a:prstGeom>
          <a:solidFill>
            <a:srgbClr val="1E2761"/>
          </a:solidFill>
          <a:ln/>
        </p:spPr>
        <p:txBody>
          <a:bodyPr/>
          <a:lstStyle/>
          <a:p>
            <a:endParaRPr lang="ja-JP" altLang="en-US"/>
          </a:p>
        </p:txBody>
      </p:sp>
      <p:sp>
        <p:nvSpPr>
          <p:cNvPr id="22" name="Text 20"/>
          <p:cNvSpPr/>
          <p:nvPr/>
        </p:nvSpPr>
        <p:spPr>
          <a:xfrm>
            <a:off x="1097280" y="5257800"/>
            <a:ext cx="10058400" cy="868680"/>
          </a:xfrm>
          <a:prstGeom prst="rect">
            <a:avLst/>
          </a:prstGeom>
          <a:noFill/>
          <a:ln/>
        </p:spPr>
        <p:txBody>
          <a:bodyPr wrap="square" lIns="0" tIns="0" rIns="0" bIns="0" rtlCol="0" anchor="ctr"/>
          <a:lstStyle/>
          <a:p>
            <a:pPr marL="0" indent="0">
              <a:buNone/>
            </a:pPr>
            <a:r>
              <a:rPr lang="en-US" sz="1450" b="1" dirty="0">
                <a:solidFill>
                  <a:srgbClr val="FFFFFF"/>
                </a:solidFill>
                <a:latin typeface="Hiragino Sans" pitchFamily="34" charset="0"/>
                <a:ea typeface="Hiragino Sans" pitchFamily="34" charset="-122"/>
                <a:cs typeface="Hiragino Sans" pitchFamily="34" charset="-120"/>
              </a:rPr>
              <a:t>この4つはどれも、一度「良い数字」を出してから学び直したものである。</a:t>
            </a:r>
            <a:endParaRPr lang="en-US" sz="1450" dirty="0"/>
          </a:p>
        </p:txBody>
      </p:sp>
      <p:sp>
        <p:nvSpPr>
          <p:cNvPr id="23" name="Text 21"/>
          <p:cNvSpPr/>
          <p:nvPr/>
        </p:nvSpPr>
        <p:spPr>
          <a:xfrm>
            <a:off x="640080" y="6510528"/>
            <a:ext cx="5486400" cy="256032"/>
          </a:xfrm>
          <a:prstGeom prst="rect">
            <a:avLst/>
          </a:prstGeom>
          <a:noFill/>
          <a:ln/>
        </p:spPr>
        <p:txBody>
          <a:bodyPr wrap="square" lIns="0" tIns="0" rIns="0" bIns="0" rtlCol="0" anchor="ctr"/>
          <a:lstStyle/>
          <a:p>
            <a:pPr marL="0" indent="0">
              <a:buNone/>
            </a:pPr>
            <a:r>
              <a:rPr lang="en-US" sz="900" dirty="0">
                <a:solidFill>
                  <a:srgbClr val="55555F"/>
                </a:solidFill>
                <a:latin typeface="Helvetica Neue" pitchFamily="34" charset="0"/>
                <a:ea typeface="Helvetica Neue" pitchFamily="34" charset="-122"/>
                <a:cs typeface="Helvetica Neue" pitchFamily="34" charset="-120"/>
              </a:rPr>
              <a:t>All-Japan-Grid — the making of</a:t>
            </a:r>
            <a:endParaRPr lang="en-US" sz="900" dirty="0"/>
          </a:p>
        </p:txBody>
      </p:sp>
      <p:sp>
        <p:nvSpPr>
          <p:cNvPr id="24" name="Text 22"/>
          <p:cNvSpPr/>
          <p:nvPr/>
        </p:nvSpPr>
        <p:spPr>
          <a:xfrm>
            <a:off x="9692640" y="6510528"/>
            <a:ext cx="1463040" cy="256032"/>
          </a:xfrm>
          <a:prstGeom prst="rect">
            <a:avLst/>
          </a:prstGeom>
          <a:noFill/>
          <a:ln/>
        </p:spPr>
        <p:txBody>
          <a:bodyPr wrap="square" lIns="0" tIns="0" rIns="0" bIns="0" rtlCol="0" anchor="ctr"/>
          <a:lstStyle/>
          <a:p>
            <a:pPr marL="0" indent="0" algn="r">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25" name="Text 23"/>
          <p:cNvSpPr/>
          <p:nvPr/>
        </p:nvSpPr>
        <p:spPr>
          <a:xfrm>
            <a:off x="11338560" y="6510528"/>
            <a:ext cx="457200" cy="256032"/>
          </a:xfrm>
          <a:prstGeom prst="rect">
            <a:avLst/>
          </a:prstGeom>
          <a:noFill/>
          <a:ln/>
        </p:spPr>
        <p:txBody>
          <a:bodyPr wrap="square" lIns="0" tIns="0" rIns="0" bIns="0" rtlCol="0" anchor="ctr"/>
          <a:lstStyle/>
          <a:p>
            <a:pPr marL="0" indent="0" algn="r">
              <a:buNone/>
            </a:pPr>
            <a:r>
              <a:rPr lang="en-US" sz="1000" dirty="0">
                <a:solidFill>
                  <a:srgbClr val="55555F"/>
                </a:solidFill>
                <a:latin typeface="Helvetica Neue" pitchFamily="34" charset="0"/>
                <a:ea typeface="Helvetica Neue" pitchFamily="34" charset="-122"/>
                <a:cs typeface="Helvetica Neue" pitchFamily="34" charset="-120"/>
              </a:rPr>
              <a:t>29</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cx4="http://schemas.microsoft.com/office/drawing/2016/5/10/chartex" Requires="cx4">
          <p:graphicFrame>
            <p:nvGraphicFramePr>
              <p:cNvPr id="2" name="グラフ 1">
                <a:extLst>
                  <a:ext uri="{FF2B5EF4-FFF2-40B4-BE49-F238E27FC236}">
                    <a16:creationId xmlns:a16="http://schemas.microsoft.com/office/drawing/2014/main" id="{E9B40C32-58FE-CB30-F27F-3296273DD59E}"/>
                  </a:ext>
                </a:extLst>
              </p:cNvPr>
              <p:cNvGraphicFramePr/>
              <p:nvPr/>
            </p:nvGraphicFramePr>
            <p:xfrm>
              <a:off x="0" y="0"/>
              <a:ext cx="12192000" cy="6858000"/>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2" name="グラフ 1">
                <a:extLst>
                  <a:ext uri="{FF2B5EF4-FFF2-40B4-BE49-F238E27FC236}">
                    <a16:creationId xmlns:a16="http://schemas.microsoft.com/office/drawing/2014/main" id="{E9B40C32-58FE-CB30-F27F-3296273DD59E}"/>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876683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8867472553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AB9775C-BA25-A646-8BD2-4D28288C3504}">
  <we:reference id="wa200010001" version="1.0.0.1" store="ja-JP" storeType="OMEX"/>
  <we:alternateReferences>
    <we:reference id="wa200010001" version="1.0.0.1" store="" storeType="OMEX"/>
  </we:alternateReferences>
  <we:properties>
    <we:property name="claude.fileId" value="&quot;68d4d5e0-04b4-4f2d-b384-b7e13b919b9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E76736A-6610-BE4C-AEAA-EF6088787950}">
  <we:reference id="wa200010473" version="1.0.0.4" store="en-US" storeType="OMEX"/>
  <we:alternateReferences>
    <we:reference id="WA200010473" version="1.0.0.4"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7210</TotalTime>
  <Words>11590</Words>
  <Application>Microsoft Macintosh PowerPoint</Application>
  <PresentationFormat>ワイド画面</PresentationFormat>
  <Paragraphs>1277</Paragraphs>
  <Slides>88</Slides>
  <Notes>44</Notes>
  <HiddenSlides>25</HiddenSlides>
  <MMClips>2</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88</vt:i4>
      </vt:variant>
    </vt:vector>
  </HeadingPairs>
  <TitlesOfParts>
    <vt:vector size="101" baseType="lpstr">
      <vt:lpstr>Hiragino Sans</vt:lpstr>
      <vt:lpstr>UD デジタル 教科書体 NK-B</vt:lpstr>
      <vt:lpstr>UD Digi Kyokasho NK-R</vt:lpstr>
      <vt:lpstr>游ゴシック</vt:lpstr>
      <vt:lpstr>Arial</vt:lpstr>
      <vt:lpstr>Calibri</vt:lpstr>
      <vt:lpstr>Cambria Math</vt:lpstr>
      <vt:lpstr>Consolas</vt:lpstr>
      <vt:lpstr>Courier New</vt:lpstr>
      <vt:lpstr>Helvetica Neue</vt:lpstr>
      <vt:lpstr>Office Theme</vt:lpstr>
      <vt:lpstr>Office Theme [1788674725534]</vt:lpstr>
      <vt:lpstr>1_Office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JSON は「テキストで構造を書く」共通フォーマット</vt:lpstr>
      <vt:lpstr>GeoJSON は「地理を JSON で書く」地理フォーマット</vt:lpstr>
      <vt:lpstr>OSM の実データは power タグで取り出せる</vt:lpstr>
      <vt:lpstr>実装と検証の全体像 — パイプラインと検証の階段</vt:lpstr>
      <vt:lpstr>OSM から取れる属性と記録率 — 生データのままでは解析に使えない</vt:lpstr>
      <vt:lpstr>地理トポロジの再構築 — 座標の点列を「つながる系統」にする</vt:lpstr>
      <vt:lpstr>全国 UC 24時間プロファイル</vt:lpstr>
      <vt:lpstr>全10地域が解けている — 地域別の AC 潮流結果とデータ規模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変電所の中へ — 航空写真から単線結線図（SubSLD）を復元する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颯人 重信</cp:lastModifiedBy>
  <cp:revision>21</cp:revision>
  <dcterms:created xsi:type="dcterms:W3CDTF">2026-08-30T15:52:44Z</dcterms:created>
  <dcterms:modified xsi:type="dcterms:W3CDTF">2026-09-18T01:59:38Z</dcterms:modified>
</cp:coreProperties>
</file>