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002acd465d4596" /><Relationship Type="http://schemas.openxmlformats.org/officeDocument/2006/relationships/extended-properties" Target="/docProps/app.xml" Id="Rc465edf67a79494a" /><Relationship Type="http://schemas.openxmlformats.org/officeDocument/2006/relationships/officeDocument" Target="/ppt/presentation.xml" Id="R3426180bf9b541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f6e4fd49de48d6"/>
  </p:sldMasterIdLst>
  <p:notesMasterIdLst>
    <p:notesMasterId xmlns:r="http://schemas.openxmlformats.org/officeDocument/2006/relationships" r:id="Rf7c26f1ba7f24326"/>
  </p:notesMasterIdLst>
  <p:sldIdLst>
    <p:sldId xmlns:r="http://schemas.openxmlformats.org/officeDocument/2006/relationships" id="256" r:id="R5ccea93166cd4462"/>
    <p:sldId xmlns:r="http://schemas.openxmlformats.org/officeDocument/2006/relationships" id="257" r:id="Reb1ef0e66bfe41c1"/>
    <p:sldId xmlns:r="http://schemas.openxmlformats.org/officeDocument/2006/relationships" id="258" r:id="R3a7db1ef8c8c4e8d"/>
    <p:sldId xmlns:r="http://schemas.openxmlformats.org/officeDocument/2006/relationships" id="259" r:id="Rc03c12ab31874a50"/>
    <p:sldId xmlns:r="http://schemas.openxmlformats.org/officeDocument/2006/relationships" id="260" r:id="R010d931a890a4353"/>
    <p:sldId xmlns:r="http://schemas.openxmlformats.org/officeDocument/2006/relationships" id="261" r:id="R78cdbd642b6240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ce6cabf20846bc" /><Relationship Type="http://schemas.openxmlformats.org/officeDocument/2006/relationships/slideMaster" Target="/ppt/slideMasters/slideMaster1.xml" Id="R4af6e4fd49de48d6" /><Relationship Type="http://schemas.openxmlformats.org/officeDocument/2006/relationships/notesMaster" Target="/ppt/notesMasters/notesMaster1.xml" Id="Rf7c26f1ba7f24326" /><Relationship Type="http://schemas.openxmlformats.org/officeDocument/2006/relationships/presProps" Target="/ppt/presProps.xml" Id="R7087eaa5d13e414e" /><Relationship Type="http://schemas.openxmlformats.org/officeDocument/2006/relationships/tableStyles" Target="/ppt/tableStyles.xml" Id="Rd52d024c26074377" /><Relationship Type="http://schemas.openxmlformats.org/officeDocument/2006/relationships/slide" Target="/ppt/slides/slide1.xml" Id="R5ccea93166cd4462" /><Relationship Type="http://schemas.openxmlformats.org/officeDocument/2006/relationships/slide" Target="/ppt/slides/slide2.xml" Id="Reb1ef0e66bfe41c1" /><Relationship Type="http://schemas.openxmlformats.org/officeDocument/2006/relationships/slide" Target="/ppt/slides/slide3.xml" Id="R3a7db1ef8c8c4e8d" /><Relationship Type="http://schemas.openxmlformats.org/officeDocument/2006/relationships/slide" Target="/ppt/slides/slide4.xml" Id="Rc03c12ab31874a50" /><Relationship Type="http://schemas.openxmlformats.org/officeDocument/2006/relationships/slide" Target="/ppt/slides/slide5.xml" Id="R010d931a890a4353" /><Relationship Type="http://schemas.openxmlformats.org/officeDocument/2006/relationships/slide" Target="/ppt/slides/slide6.xml" Id="R78cdbd642b6240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9f8ed4930d43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a9a6f753734548" /><Relationship Type="http://schemas.openxmlformats.org/officeDocument/2006/relationships/notesMaster" Target="/ppt/notesMasters/notesMaster1.xml" Id="Ra5512ad944cf42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b85c9356214a3d" /><Relationship Type="http://schemas.openxmlformats.org/officeDocument/2006/relationships/notesMaster" Target="/ppt/notesMasters/notesMaster1.xml" Id="R12a94299ecaa42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3e123f1c3347af" /><Relationship Type="http://schemas.openxmlformats.org/officeDocument/2006/relationships/notesMaster" Target="/ppt/notesMasters/notesMaster1.xml" Id="R6b9d9c25aa3c4b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46d575dd124d89" /><Relationship Type="http://schemas.openxmlformats.org/officeDocument/2006/relationships/notesMaster" Target="/ppt/notesMasters/notesMaster1.xml" Id="Rbd87e7573d8747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c2de9a7905419f" /><Relationship Type="http://schemas.openxmlformats.org/officeDocument/2006/relationships/notesMaster" Target="/ppt/notesMasters/notesMaster1.xml" Id="Rc9fc24b960bb41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2143e4905b4266" /><Relationship Type="http://schemas.openxmlformats.org/officeDocument/2006/relationships/notesMaster" Target="/ppt/notesMasters/notesMaster1.xml" Id="R85421eb7da434f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秩父の第三案。紫のS1は元OSM敷地の表示用代表点であり、母線の実測位置ではない。T1/T2は保存線形の端。敷地から離れた代表座標へすべてを吸着すると、設備の実在位置と接続の不確実性が消えてしまう。第三案は元モデルの記録を保持し、設備への所属を別の対応表に持つ。直線の引込を描き足す操作ではない。写真は2024年4月。保存線形には以前の再構成区間も含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出典：航空写真：国土地理院 https://maps.gsi.go.jp/development/ichiran.html ／ 敷地・線形：© OpenStreetMap contributors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最初は同名500m以内の27組をOSM IDと電圧で照合し、13組を複製モデルで同定した。元電圧タグが一致する5組と、欠測の8組を分けて比較した。これは当初の対照実験の記録。その後、航空写真を実際に全27組目視し、別の5組（渋川市・福島・保渡田町・古里・中村）を引込先の再追跡へ戻した。断片の減少を物理精度向上と同一視しない。正典は未適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出典：trial.json / visual_review.json / source SHA 955d6e0b…e33b6a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航空写真ではAが河岸の実在敷地に重なる。一方、Bは約398m離れ、鉄道を隔てた耕地側にある。元のOSM IDが同じことは重複レコードの仮説を支持するが、B周辺の枝がすべてAへ入ることの根拠にはならない。このため単純同定の適用候補から再追跡へ戻した。第三案では敷地そのものを保持し、既存の枝端を元wayと結び直す調査対象として残す。撮影期間は2020年5月〜8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出典：航空写真：国土地理院 https://maps.gsi.go.jp/development/ichiran.html ／ 敷地・線形：© OpenStreetMap contributors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黄色は保存線形の共通区間の局所図。枝5923「宮地線」の9区間すべてが、復元枝19942にも含まれ、共通区間長は約1.350934km。元の回線数は2と1で異なる。復元枝は6wayを連結し、継ぎ目最大194mという来歴を持つ。同形の並列回線もあり得るので、図だけでどちらかを削除してはいけない。元way・回線ID・途中端子を追い、共通区間と専用区間を分けて扱う対象である。同じ基準の周辺監査では42組を検出したが、誤回線42組の確定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出典：航空写真：国土地理院 https://maps.gsi.go.jp/development/ichiran.html ／ 敷地・線形：© OpenStreetMap contributors / path_overlaps.json OV13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案の実装はsite_terminals.py。敷地は元の形状と内部代表点、枝端は保存線形の端と既存ビルダーの割当根拠、母線は電圧別ID、欠測は未解決として残す。保存線形から確認できる端と、線形のない推定引込を区別する。画像上で敷地を横断する線も、単に線を切って母線へ自動接続しない。元17,738ノードと19,944枝の記録は保持し、13組の同定仮説を計算用に集約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出典：src/powerflow/site_terminals.py / site_terminals.json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際の東日本回路を一度組み、負荷55,250MW、無効電力約18,159.80Mvar、発電P設定58,012.5MWを固定した。単純同定案と第三案の電気テーブルを比較し、バスgeo以外のバス属性、line、trafo、load、gen、sgen、shunt、switchが一致した。第三案では34バスの表示位置を元敷地の代表点へ戻したが、DC最大枝潮流差は0MWだった。同一電気系なので表示変更のためにACは再実行していない。先行する固定NR/DC初期値50反復のAC未収束が残る。地理と回路を分けられることの検証で、実配線の正しさの証明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出典：site_terminal_verification.json / powerflow.json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b9658c0974c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685d7e702d48b1" /><Relationship Type="http://schemas.openxmlformats.org/officeDocument/2006/relationships/slideLayout" Target="/ppt/slideLayouts/slideLayout1.xml" Id="R379ea9394a4341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9ea9394a4341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6887efe3a449d" /><Relationship Type="http://schemas.openxmlformats.org/officeDocument/2006/relationships/image" Target="/ppt/media/image.png" Id="Rf7b3221969d74127" /><Relationship Type="http://schemas.openxmlformats.org/officeDocument/2006/relationships/notesSlide" Target="/ppt/notesSlides/notesSlide1.xml" Id="Rbe687e9f637f4e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c43a96524405c" /><Relationship Type="http://schemas.openxmlformats.org/officeDocument/2006/relationships/notesSlide" Target="/ppt/notesSlides/notesSlide2.xml" Id="R49f5aabcb7bc4b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aa7814b374e7c" /><Relationship Type="http://schemas.openxmlformats.org/officeDocument/2006/relationships/image" Target="/ppt/media/image2.png" Id="Rcf9c7c5713a64bc8" /><Relationship Type="http://schemas.openxmlformats.org/officeDocument/2006/relationships/notesSlide" Target="/ppt/notesSlides/notesSlide3.xml" Id="R784d605490d742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57710304f459d" /><Relationship Type="http://schemas.openxmlformats.org/officeDocument/2006/relationships/image" Target="/ppt/media/image3.png" Id="Rdc2f436b9a904f15" /><Relationship Type="http://schemas.openxmlformats.org/officeDocument/2006/relationships/notesSlide" Target="/ppt/notesSlides/notesSlide4.xml" Id="Rd4e888b145864e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11f7d5ca14d5c" /><Relationship Type="http://schemas.openxmlformats.org/officeDocument/2006/relationships/notesSlide" Target="/ppt/notesSlides/notesSlide5.xml" Id="R65b6ffedeece49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b680472b94c19" /><Relationship Type="http://schemas.openxmlformats.org/officeDocument/2006/relationships/notesSlide" Target="/ppt/notesSlides/notesSlide6.xml" Id="R43647a9790c94f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673DB-DF9E-4D1F-B75C-29E31199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実在する敷地と線端を残す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8E0F0-52EE-4C41-8DF7-2086AE6A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航空写真：国土地理院 https://maps.gsi.go.jp/development/ichiran.html ／ 敷地・線形：© OpenStreetMap contributors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3FA6C-A750-429D-954B-0AD51ED4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3221969d74127"/>
          <a:stretch xmlns:a="http://schemas.openxmlformats.org/drawingml/2006/main"/>
        </p:blipFill>
        <p:spPr>
          <a:xfrm xmlns:a="http://schemas.openxmlformats.org/drawingml/2006/main">
            <a:off x="621220" y="1581150"/>
            <a:ext cx="6272784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146E6-71C5-497A-B2F3-BEF87C67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4248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rPr>
              <a:t>敷地は、地図上の位置に残す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350EE-1BB6-4AC8-B239-0D500FB0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90850"/>
            <a:ext cx="4248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線端の位置と、どの母線へ</a:t>
            </a:r>
          </a:p>
          <a:p xmlns:a="http://schemas.openxmlformats.org/drawingml/2006/main">
            <a:pPr>
              <a:defRPr sz="217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属するかを別に記録する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4088C-3F80-4364-A804-1F02C433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86300"/>
            <a:ext cx="4248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不明な接続も消さず、</a:t>
            </a:r>
          </a:p>
          <a:p xmlns:a="http://schemas.openxmlformats.org/drawingml/2006/main">
            <a:pPr>
              <a:defRPr sz="21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追加で調べる根拠を残す</a:t>
            </a:r>
          </a:p>
        </p:txBody>
      </p:sp>
    </p:spTree>
    <p:extLst>
      <p:ext uri="{BB962C8B-B14F-4D97-AF65-F5344CB8AC3E}">
        <p14:creationId xmlns:p14="http://schemas.microsoft.com/office/powerpoint/2010/main" val="1687357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EBD67-736A-4909-A671-2A6CE4A1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同定で断片は減ったが、実配線は未確定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A94E8-0AC8-4693-92DA-730317E3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trial.json / visual_review.json / source SHA 955d6e0b…e33b6a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6467F-1EAF-471C-8306-6B5447CB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109537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048000"/>
                <a:gridCol w="3524250"/>
              </a:tblGrid>
              <a:tr h="6905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複製モデルの条件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東日本の地理的断片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AC / 固定条件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変更前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未収束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元電圧タグ一致の5組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未収束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同一モデル電圧の13組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未収束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F2B19-DCF3-4AB6-A159-6C6AEBD1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05375"/>
            <a:ext cx="1090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rPr>
              <a:t>写真による再評価：13組のうち5組は引込先の再追跡へ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EB700-FA9D-4955-9A99-2DC6FB04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67375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残る8組も、端子・電圧を追加確認する調査候補</a:t>
            </a:r>
          </a:p>
        </p:txBody>
      </p:sp>
    </p:spTree>
    <p:extLst>
      <p:ext uri="{BB962C8B-B14F-4D97-AF65-F5344CB8AC3E}">
        <p14:creationId xmlns:p14="http://schemas.microsoft.com/office/powerpoint/2010/main" val="1934664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61762-382F-47B5-80FA-2A7EDE27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写真で見直した渋川市の引込先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8058A-42FD-480C-B752-5470988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航空写真：国土地理院 https://maps.gsi.go.jp/development/ichiran.html ／ 敷地・線形：© OpenStreetMap contributors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08E56-8E2B-4037-B787-681A76DA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c7c5713a64bc8"/>
          <a:stretch xmlns:a="http://schemas.openxmlformats.org/drawingml/2006/main"/>
        </p:blipFill>
        <p:spPr>
          <a:xfrm xmlns:a="http://schemas.openxmlformats.org/drawingml/2006/main">
            <a:off x="705917" y="1619250"/>
            <a:ext cx="6131966" cy="4562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169E6-37AB-4E63-8253-FDD2061C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800225"/>
            <a:ext cx="4219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rPr>
              <a:t>A：実在敷地の中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B75F3-F56A-45CE-8AA2-E866DD50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62250"/>
            <a:ext cx="4219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rPr>
              <a:t>B：約400 m離れた耕地側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E201A-EE84-405B-9A01-75755BA9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048125"/>
            <a:ext cx="42195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同じ設備IDでも、</a:t>
            </a:r>
          </a:p>
          <a:p xmlns:a="http://schemas.openxmlformats.org/drawingml/2006/main">
            <a:pPr>
              <a:defRPr sz="217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Bの枝の所属は未確定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297C9-4568-4470-8B27-AD37CF08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438775"/>
            <a:ext cx="4219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敷地から引込を再追跡する</a:t>
            </a:r>
          </a:p>
        </p:txBody>
      </p:sp>
    </p:spTree>
    <p:extLst>
      <p:ext uri="{BB962C8B-B14F-4D97-AF65-F5344CB8AC3E}">
        <p14:creationId xmlns:p14="http://schemas.microsoft.com/office/powerpoint/2010/main" val="642810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295A0-79EA-424C-9ED3-12BF760D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秩父で見つかった保存線形の重複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65643-F7A3-4E7F-965F-160B249C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航空写真：国土地理院 https://maps.gsi.go.jp/development/ichiran.html ／ 敷地・線形：© OpenStreetMap contributors / path_overlaps.json OV13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69189-0E17-4EBD-9ACB-CB8DC6D4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f436b9a904f15"/>
          <a:stretch xmlns:a="http://schemas.openxmlformats.org/drawingml/2006/main"/>
        </p:blipFill>
        <p:spPr>
          <a:xfrm xmlns:a="http://schemas.openxmlformats.org/drawingml/2006/main">
            <a:off x="705917" y="1619250"/>
            <a:ext cx="6131966" cy="4562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2A107-D81D-4BDD-A552-BAAD10D4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81175"/>
            <a:ext cx="423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rPr>
              <a:t>9 / 9 区間が共通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7639F-F969-43C1-9316-782FCA8A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86050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rPr>
              <a:t>約1.351 km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4B797-FCF7-4DB4-94EF-BAC3A2E8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76675"/>
            <a:ext cx="423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回線数の記録は 2 と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5D97C-28F3-4351-A819-B100FCB8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38725"/>
            <a:ext cx="42386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元way・途中端子・回線IDを</a:t>
            </a:r>
          </a:p>
          <a:p xmlns:a="http://schemas.openxmlformats.org/drawingml/2006/main">
            <a:pPr>
              <a:defRPr sz="2100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確認して区間ごとに扱う</a:t>
            </a:r>
          </a:p>
        </p:txBody>
      </p:sp>
    </p:spTree>
    <p:extLst>
      <p:ext uri="{BB962C8B-B14F-4D97-AF65-F5344CB8AC3E}">
        <p14:creationId xmlns:p14="http://schemas.microsoft.com/office/powerpoint/2010/main" val="7244257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437A3-076A-49DF-891F-DB21291C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敷地・線端・母線を別の記録にする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3563A-5067-483A-B39D-70DAA347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src/powerflow/site_terminals.py / site_terminals.json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75EDA-0AF1-4A4F-95DE-E0FD0036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952875"/>
                <a:gridCol w="5210175"/>
              </a:tblGrid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対象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保持する情報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接続との関係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敷地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形状・設備ID・表示位置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同じ場所だけでは母線を統合しない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枝端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保存線形の端・元の割当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敷地内・敷地外・線形欠測を区別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母線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電圧別のID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地図上の位置に依存せず指定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未解決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不足する根拠・矛盾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設備・枝を消さずに再調査へ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04F5C-0DA5-4142-A359-182B82B6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rPr>
              <a:t>70枝端を記録：保存線形なし21、敷地外終端33など</a:t>
            </a:r>
          </a:p>
        </p:txBody>
      </p:sp>
    </p:spTree>
    <p:extLst>
      <p:ext uri="{BB962C8B-B14F-4D97-AF65-F5344CB8AC3E}">
        <p14:creationId xmlns:p14="http://schemas.microsoft.com/office/powerpoint/2010/main" val="1414700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52AB3-B1DC-4259-98B2-CB83785D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表示位置を戻しても、回路の計算を保てる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D7E56-0DAF-4CA5-9489-20639425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site_terminal_verification.json / powerflow.json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6A367-F373-4D31-A363-67A0A45C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676400"/>
          <a:ext xmlns:a="http://schemas.openxmlformats.org/drawingml/2006/main" cx="1095375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715000"/>
              </a:tblGrid>
              <a:tr h="64389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固定したもの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単純同定案と第三案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線路 / 変圧器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6,467本 / 677台で一致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負荷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55,250 MWで一致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電気定数・機器の注入値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全比較テーブルで一致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DCの最大枝潮流差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 MW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B1F39-EDAE-4CCA-8015-B50682AE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10896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rPr>
              <a:t>ACは先行試行で未収束。表示だけの変更では再計算していない</a:t>
            </a:r>
          </a:p>
        </p:txBody>
      </p:sp>
    </p:spTree>
    <p:extLst>
      <p:ext uri="{BB962C8B-B14F-4D97-AF65-F5344CB8AC3E}">
        <p14:creationId xmlns:p14="http://schemas.microsoft.com/office/powerpoint/2010/main" val="1200793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2026-09-14T00:01:54.0690000Z</dcterms:created>
  <dcterms:modified xsi:type="dcterms:W3CDTF">2026-09-14T00:01:54.0690000Z</dcterms:modified>
</coreProperties>
</file>