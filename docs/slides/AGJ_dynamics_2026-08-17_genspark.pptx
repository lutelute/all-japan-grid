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301" r:id="rId2"/>
    <p:sldId id="338" r:id="rId3"/>
    <p:sldId id="305" r:id="rId4"/>
    <p:sldId id="341" r:id="rId5"/>
    <p:sldId id="309" r:id="rId6"/>
    <p:sldId id="345" r:id="rId7"/>
    <p:sldId id="317" r:id="rId8"/>
    <p:sldId id="346" r:id="rId9"/>
    <p:sldId id="347" r:id="rId10"/>
    <p:sldId id="324" r:id="rId11"/>
    <p:sldId id="348" r:id="rId12"/>
    <p:sldId id="328" r:id="rId13"/>
    <p:sldId id="330" r:id="rId14"/>
    <p:sldId id="331" r:id="rId15"/>
    <p:sldId id="353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880"/>
    <p:restoredTop sz="94635"/>
  </p:normalViewPr>
  <p:slideViewPr>
    <p:cSldViewPr snapToGrid="0" snapToObjects="1">
      <p:cViewPr>
        <p:scale>
          <a:sx n="103" d="100"/>
          <a:sy n="103" d="100"/>
        </p:scale>
        <p:origin x="832" y="141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svg"/><Relationship Id="rId4" Type="http://schemas.openxmlformats.org/officeDocument/2006/relationships/image" Target="../media/image8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3" name="Deco 213"/>
          <p:cNvSpPr/>
          <p:nvPr/>
        </p:nvSpPr>
        <p:spPr>
          <a:xfrm>
            <a:off x="9042400" y="3810000"/>
            <a:ext cx="2603500" cy="1905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12" name="Deco 212"/>
          <p:cNvSpPr/>
          <p:nvPr/>
        </p:nvSpPr>
        <p:spPr>
          <a:xfrm>
            <a:off x="6210300" y="3810000"/>
            <a:ext cx="2603500" cy="1905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11" name="Deco 211"/>
          <p:cNvSpPr/>
          <p:nvPr/>
        </p:nvSpPr>
        <p:spPr>
          <a:xfrm>
            <a:off x="3378200" y="3810000"/>
            <a:ext cx="2603500" cy="1905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10" name="Deco 210"/>
          <p:cNvSpPr/>
          <p:nvPr/>
        </p:nvSpPr>
        <p:spPr>
          <a:xfrm>
            <a:off x="546100" y="3810000"/>
            <a:ext cx="2603500" cy="1905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23" name="Deco 223"/>
          <p:cNvSpPr/>
          <p:nvPr/>
        </p:nvSpPr>
        <p:spPr>
          <a:xfrm>
            <a:off x="9042400" y="3810000"/>
            <a:ext cx="2603500" cy="381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22" name="Deco 222"/>
          <p:cNvSpPr/>
          <p:nvPr/>
        </p:nvSpPr>
        <p:spPr>
          <a:xfrm>
            <a:off x="6210300" y="3810000"/>
            <a:ext cx="2603500" cy="381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21" name="Deco 221"/>
          <p:cNvSpPr/>
          <p:nvPr/>
        </p:nvSpPr>
        <p:spPr>
          <a:xfrm>
            <a:off x="3378200" y="3810000"/>
            <a:ext cx="2603500" cy="381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20" name="Deco 220"/>
          <p:cNvSpPr/>
          <p:nvPr/>
        </p:nvSpPr>
        <p:spPr>
          <a:xfrm>
            <a:off x="546100" y="3810000"/>
            <a:ext cx="2603500" cy="381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2" name="Deco 202"/>
          <p:cNvSpPr/>
          <p:nvPr/>
        </p:nvSpPr>
        <p:spPr>
          <a:xfrm>
            <a:off x="546100" y="6172200"/>
            <a:ext cx="11099800" cy="1143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1" name="Deco 201"/>
          <p:cNvSpPr/>
          <p:nvPr/>
        </p:nvSpPr>
        <p:spPr>
          <a:xfrm>
            <a:off x="546100" y="711200"/>
            <a:ext cx="736600" cy="381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0" name="Deco 200"/>
          <p:cNvSpPr/>
          <p:nvPr/>
        </p:nvSpPr>
        <p:spPr>
          <a:xfrm>
            <a:off x="546100" y="736600"/>
            <a:ext cx="11099800" cy="1143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6100" y="279400"/>
            <a:ext cx="11099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1300" b="1" spc="120" dirty="0">
                <a:solidFill>
                  <a:srgbClr val="8A2E3B"/>
                </a:solidFill>
                <a:latin typeface="Calibri"/>
              </a:rPr>
              <a:t>ALL-JAPAN-GRID ｜ 動的検証キャンペーン 2026-08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6100" y="990600"/>
            <a:ext cx="11099800" cy="14243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lang="ja-JP" sz="4000" b="1" dirty="0">
                <a:solidFill>
                  <a:srgbClr val="1A2744"/>
                </a:solidFill>
                <a:latin typeface="Calibri"/>
              </a:rPr>
              <a:t>日本の送電網は、公開データだけで</a:t>
            </a:r>
          </a:p>
          <a:p>
            <a:pPr algn="l">
              <a:lnSpc>
                <a:spcPct val="112000"/>
              </a:lnSpc>
            </a:pPr>
            <a:r>
              <a:rPr lang="ja-JP" sz="4000" b="1" dirty="0">
                <a:solidFill>
                  <a:srgbClr val="1A2744"/>
                </a:solidFill>
                <a:latin typeface="Calibri"/>
              </a:rPr>
              <a:t>どこまで「見える」か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6100" y="2692400"/>
            <a:ext cx="9652000" cy="745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ja-JP" sz="1500" dirty="0">
                <a:solidFill>
                  <a:srgbClr val="3D4657"/>
                </a:solidFill>
                <a:latin typeface="Calibri"/>
              </a:rPr>
              <a:t>OSMの線形と、各社が制度に基づき公表するインピーダンス・潮流・系統図。その2つだけから組み上げた全国モデルが、静的な地図を越えて「系統の強さと揺れ」まで再現した記録 — 原理・数式・答え合わせつき。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700" y="4089400"/>
            <a:ext cx="21463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2400" b="1" dirty="0">
                <a:solidFill>
                  <a:srgbClr val="1A2744"/>
                </a:solidFill>
                <a:latin typeface="Calibri"/>
              </a:rPr>
              <a:t>17,881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4700" y="4699000"/>
            <a:ext cx="2146300" cy="3462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lang="ja-JP" sz="1400" dirty="0">
                <a:solidFill>
                  <a:srgbClr val="5B6470"/>
                </a:solidFill>
                <a:latin typeface="Calibri"/>
              </a:rPr>
              <a:t>ノード(全国)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6800" y="4089400"/>
            <a:ext cx="21463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2400" b="1" dirty="0">
                <a:solidFill>
                  <a:srgbClr val="1A2744"/>
                </a:solidFill>
                <a:latin typeface="Calibri"/>
              </a:rPr>
              <a:t>4島 AC収束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6800" y="4699000"/>
            <a:ext cx="2146300" cy="3462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lang="ja-JP" sz="1400" dirty="0">
                <a:solidFill>
                  <a:srgbClr val="5B6470"/>
                </a:solidFill>
                <a:latin typeface="Calibri"/>
              </a:rPr>
              <a:t>全規模潮流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38900" y="4089400"/>
            <a:ext cx="21463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2400" b="1" dirty="0">
                <a:solidFill>
                  <a:srgbClr val="1A2744"/>
                </a:solidFill>
                <a:latin typeface="Calibri"/>
              </a:rPr>
              <a:t>0.43 Hz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8900" y="4699000"/>
            <a:ext cx="2146300" cy="3462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lang="ja-JP" sz="1400" dirty="0">
                <a:solidFill>
                  <a:srgbClr val="5B6470"/>
                </a:solidFill>
                <a:latin typeface="Calibri"/>
              </a:rPr>
              <a:t>西日本長軸振動の再現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71000" y="4089400"/>
            <a:ext cx="21463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2400" b="1" dirty="0">
                <a:solidFill>
                  <a:srgbClr val="1A2744"/>
                </a:solidFill>
                <a:latin typeface="Calibri"/>
              </a:rPr>
              <a:t>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71000" y="4699000"/>
            <a:ext cx="2146300" cy="3462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lang="ja-JP" sz="1400" dirty="0">
                <a:solidFill>
                  <a:srgbClr val="5B6470"/>
                </a:solidFill>
                <a:latin typeface="Calibri"/>
              </a:rPr>
              <a:t>介入台帳(全仮定の目録)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6100" y="6273800"/>
            <a:ext cx="110998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1100" dirty="0">
                <a:solidFill>
                  <a:srgbClr val="5B6470"/>
                </a:solidFill>
                <a:latin typeface="Calibri"/>
              </a:rPr>
              <a:t>01 / 15   出典付き・帳簿駆動・全再現可能(regenerate_all)</a:t>
            </a:r>
          </a:p>
        </p:txBody>
      </p:sp>
    </p:spTree>
    <p:extLst>
      <p:ext uri="{BB962C8B-B14F-4D97-AF65-F5344CB8AC3E}">
        <p14:creationId xmlns:p14="http://schemas.microsoft.com/office/powerpoint/2010/main" val="31357739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0" name="Dg 400"/>
          <p:cNvSpPr/>
          <p:nvPr/>
        </p:nvSpPr>
        <p:spPr>
          <a:xfrm>
            <a:off x="546100" y="2159000"/>
            <a:ext cx="5969000" cy="2286000"/>
          </a:xfrm>
          <a:prstGeom prst="rect">
            <a:avLst/>
          </a:prstGeom>
          <a:solidFill>
            <a:srgbClr val="FCFDFE"/>
          </a:solidFill>
          <a:ln w="9525">
            <a:solidFill>
              <a:srgbClr val="D8DEE7"/>
            </a:solidFill>
          </a:ln>
        </p:spPr>
        <p:txBody>
          <a:bodyPr lIns="0" tIns="0" rIns="0" bIns="0" rtlCol="0" anchor="ctr"/>
          <a:lstStyle/>
          <a:p>
            <a:endParaRPr/>
          </a:p>
        </p:txBody>
      </p:sp>
      <p:sp>
        <p:nvSpPr>
          <p:cNvPr id="310" name="Dg 310"/>
          <p:cNvSpPr/>
          <p:nvPr/>
        </p:nvSpPr>
        <p:spPr>
          <a:xfrm>
            <a:off x="6680200" y="2159000"/>
            <a:ext cx="4965700" cy="1651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txBody>
          <a:bodyPr lIns="0" tIns="0" rIns="0" bIns="0" rtlCol="0" anchor="ctr"/>
          <a:lstStyle/>
          <a:p>
            <a:endParaRPr/>
          </a:p>
        </p:txBody>
      </p:sp>
      <p:sp>
        <p:nvSpPr>
          <p:cNvPr id="311" name="Dg 311"/>
          <p:cNvSpPr/>
          <p:nvPr/>
        </p:nvSpPr>
        <p:spPr>
          <a:xfrm>
            <a:off x="6680200" y="2159000"/>
            <a:ext cx="38100" cy="16510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 lIns="0" tIns="0" rIns="0" bIns="0" rtlCol="0" anchor="ctr"/>
          <a:lstStyle/>
          <a:p>
            <a:endParaRPr/>
          </a:p>
        </p:txBody>
      </p:sp>
      <p:sp>
        <p:nvSpPr>
          <p:cNvPr id="312" name="Dg 312"/>
          <p:cNvSpPr/>
          <p:nvPr/>
        </p:nvSpPr>
        <p:spPr>
          <a:xfrm>
            <a:off x="6680200" y="4013200"/>
            <a:ext cx="4965700" cy="2159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txBody>
          <a:bodyPr lIns="0" tIns="0" rIns="0" bIns="0" rtlCol="0" anchor="ctr"/>
          <a:lstStyle/>
          <a:p>
            <a:endParaRPr/>
          </a:p>
        </p:txBody>
      </p:sp>
      <p:sp>
        <p:nvSpPr>
          <p:cNvPr id="313" name="Dg 313"/>
          <p:cNvSpPr/>
          <p:nvPr/>
        </p:nvSpPr>
        <p:spPr>
          <a:xfrm>
            <a:off x="6680200" y="4013200"/>
            <a:ext cx="4965700" cy="381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 lIns="0" tIns="0" rIns="0" bIns="0" rtlCol="0" anchor="ctr"/>
          <a:lstStyle/>
          <a:p>
            <a:endParaRPr/>
          </a:p>
        </p:txBody>
      </p:sp>
      <p:sp>
        <p:nvSpPr>
          <p:cNvPr id="320" name="Dg 320"/>
          <p:cNvSpPr/>
          <p:nvPr/>
        </p:nvSpPr>
        <p:spPr>
          <a:xfrm>
            <a:off x="546100" y="4826000"/>
            <a:ext cx="5969000" cy="13462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txBody>
          <a:bodyPr lIns="0" tIns="0" rIns="0" bIns="0" rtlCol="0" anchor="ctr"/>
          <a:lstStyle/>
          <a:p>
            <a:endParaRPr/>
          </a:p>
        </p:txBody>
      </p:sp>
      <p:sp>
        <p:nvSpPr>
          <p:cNvPr id="321" name="Dg 321"/>
          <p:cNvSpPr/>
          <p:nvPr/>
        </p:nvSpPr>
        <p:spPr>
          <a:xfrm>
            <a:off x="546100" y="4826000"/>
            <a:ext cx="38100" cy="13462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 lIns="0" tIns="0" rIns="0" bIns="0" rtlCol="0" anchor="ctr"/>
          <a:lstStyle/>
          <a:p>
            <a:endParaRPr/>
          </a:p>
        </p:txBody>
      </p:sp>
      <p:sp>
        <p:nvSpPr>
          <p:cNvPr id="300" name="Deco 300"/>
          <p:cNvSpPr/>
          <p:nvPr/>
        </p:nvSpPr>
        <p:spPr>
          <a:xfrm>
            <a:off x="546100" y="736600"/>
            <a:ext cx="11099800" cy="1143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" name="Deco 301"/>
          <p:cNvSpPr/>
          <p:nvPr/>
        </p:nvSpPr>
        <p:spPr>
          <a:xfrm>
            <a:off x="546100" y="711200"/>
            <a:ext cx="736600" cy="381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" name="Deco 302"/>
          <p:cNvSpPr/>
          <p:nvPr/>
        </p:nvSpPr>
        <p:spPr>
          <a:xfrm>
            <a:off x="546100" y="6172200"/>
            <a:ext cx="11099800" cy="1143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" name="Deco 310"/>
          <p:cNvSpPr/>
          <p:nvPr/>
        </p:nvSpPr>
        <p:spPr>
          <a:xfrm>
            <a:off x="6680200" y="2235200"/>
            <a:ext cx="4965700" cy="28702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" name="Deco 311"/>
          <p:cNvSpPr/>
          <p:nvPr/>
        </p:nvSpPr>
        <p:spPr>
          <a:xfrm>
            <a:off x="6680200" y="2235200"/>
            <a:ext cx="4965700" cy="381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3" name="Deco 320"/>
          <p:cNvSpPr/>
          <p:nvPr/>
        </p:nvSpPr>
        <p:spPr>
          <a:xfrm>
            <a:off x="546100" y="2235200"/>
            <a:ext cx="5969000" cy="1270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4" name="Deco 321"/>
          <p:cNvSpPr/>
          <p:nvPr/>
        </p:nvSpPr>
        <p:spPr>
          <a:xfrm>
            <a:off x="546100" y="2235200"/>
            <a:ext cx="38100" cy="12700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6100" y="279400"/>
            <a:ext cx="11099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1300" b="1" spc="120" dirty="0">
                <a:solidFill>
                  <a:srgbClr val="8A2E3B"/>
                </a:solidFill>
                <a:latin typeface="Calibri"/>
              </a:rPr>
              <a:t>原理 0 ｜ 系統の数学的正体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6100" y="889000"/>
            <a:ext cx="110998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2800" b="1" dirty="0">
                <a:solidFill>
                  <a:srgbClr val="1A2744"/>
                </a:solidFill>
                <a:latin typeface="Calibri"/>
              </a:rPr>
              <a:t>系統は1枚の行列 — ノードアドミタンス行列 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6100" y="1498600"/>
            <a:ext cx="11099800" cy="3817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ja-JP" sz="1500" dirty="0">
                <a:solidFill>
                  <a:srgbClr val="3D4657"/>
                </a:solidFill>
                <a:latin typeface="Calibri"/>
              </a:rPr>
              <a:t>送電網はバス(節点)と枝(線路・変圧器)のグラフ。各枝のインピーダンス z = r + jx の逆数を節点方程式に並べたもの。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6100" y="4826000"/>
            <a:ext cx="5969000" cy="1346200"/>
          </a:xfrm>
          <a:prstGeom prst="rect">
            <a:avLst/>
          </a:prstGeom>
          <a:solidFill>
            <a:srgbClr val="F4F6FA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52400" rIns="152400" bIns="152400" rtlCol="0" anchor="ctr"/>
          <a:lstStyle/>
          <a:p>
            <a:pPr algn="l">
              <a:spcAft>
                <a:spcPts val="400"/>
              </a:spcAft>
            </a:pPr>
            <a:r>
              <a:rPr lang="en-US" sz="1900" b="1" dirty="0">
                <a:solidFill>
                  <a:srgbClr val="2C5F8A"/>
                </a:solidFill>
                <a:latin typeface="Cambria Math"/>
              </a:rPr>
              <a:t>I</a:t>
            </a:r>
            <a:r>
              <a:rPr lang="en-US" sz="1900" dirty="0">
                <a:solidFill>
                  <a:srgbClr val="1A2744"/>
                </a:solidFill>
                <a:latin typeface="Cambria Math"/>
              </a:rPr>
              <a:t> = </a:t>
            </a:r>
            <a:r>
              <a:rPr lang="en-US" sz="1900" b="1" dirty="0">
                <a:solidFill>
                  <a:srgbClr val="8A2E3B"/>
                </a:solidFill>
                <a:latin typeface="Cambria Math"/>
              </a:rPr>
              <a:t>Y</a:t>
            </a:r>
            <a:r>
              <a:rPr lang="en-US" sz="1900" dirty="0">
                <a:solidFill>
                  <a:srgbClr val="1A2744"/>
                </a:solidFill>
                <a:latin typeface="Cambria Math"/>
              </a:rPr>
              <a:t> · </a:t>
            </a:r>
            <a:r>
              <a:rPr lang="en-US" sz="1900" b="1" dirty="0">
                <a:solidFill>
                  <a:srgbClr val="2E7D5B"/>
                </a:solidFill>
                <a:latin typeface="Cambria Math"/>
              </a:rPr>
              <a:t>V</a:t>
            </a:r>
          </a:p>
          <a:p>
            <a:pPr algn="l">
              <a:spcAft>
                <a:spcPts val="500"/>
              </a:spcAft>
            </a:pPr>
            <a:r>
              <a:rPr lang="en-US" sz="1900" b="1" dirty="0">
                <a:solidFill>
                  <a:srgbClr val="8A2E3B"/>
                </a:solidFill>
                <a:latin typeface="Cambria Math"/>
              </a:rPr>
              <a:t>Y</a:t>
            </a:r>
            <a:r>
              <a:rPr lang="en-US" sz="1368" b="1" baseline="-25000" dirty="0">
                <a:solidFill>
                  <a:srgbClr val="8A2E3B"/>
                </a:solidFill>
                <a:latin typeface="Cambria Math"/>
              </a:rPr>
              <a:t>ij</a:t>
            </a:r>
            <a:r>
              <a:rPr lang="en-US" sz="1900" dirty="0">
                <a:solidFill>
                  <a:srgbClr val="1A2744"/>
                </a:solidFill>
                <a:latin typeface="Cambria Math"/>
              </a:rPr>
              <a:t> = − </a:t>
            </a:r>
            <a:r>
              <a:rPr lang="en-US" sz="1900" b="1" dirty="0">
                <a:solidFill>
                  <a:srgbClr val="1A2744"/>
                </a:solidFill>
                <a:latin typeface="Cambria Math"/>
              </a:rPr>
              <a:t>y</a:t>
            </a:r>
            <a:r>
              <a:rPr lang="en-US" sz="1368" baseline="-25000" dirty="0">
                <a:solidFill>
                  <a:srgbClr val="1A2744"/>
                </a:solidFill>
                <a:latin typeface="Cambria Math"/>
              </a:rPr>
              <a:t>ij</a:t>
            </a:r>
            <a:r>
              <a:rPr lang="en-US" sz="1900" dirty="0">
                <a:solidFill>
                  <a:srgbClr val="1A2744"/>
                </a:solidFill>
                <a:latin typeface="Cambria Math"/>
              </a:rPr>
              <a:t> ,    </a:t>
            </a:r>
            <a:r>
              <a:rPr lang="en-US" sz="1900" b="1" dirty="0">
                <a:solidFill>
                  <a:srgbClr val="8A2E3B"/>
                </a:solidFill>
                <a:latin typeface="Cambria Math"/>
              </a:rPr>
              <a:t>Y</a:t>
            </a:r>
            <a:r>
              <a:rPr lang="en-US" sz="1368" b="1" baseline="-25000" dirty="0">
                <a:solidFill>
                  <a:srgbClr val="8A2E3B"/>
                </a:solidFill>
                <a:latin typeface="Cambria Math"/>
              </a:rPr>
              <a:t>ii</a:t>
            </a:r>
            <a:r>
              <a:rPr lang="en-US" sz="1900" dirty="0">
                <a:solidFill>
                  <a:srgbClr val="1A2744"/>
                </a:solidFill>
                <a:latin typeface="Cambria Math"/>
              </a:rPr>
              <a:t> = Σ</a:t>
            </a:r>
            <a:r>
              <a:rPr lang="en-US" sz="1368" baseline="-25000" dirty="0">
                <a:solidFill>
                  <a:srgbClr val="1A2744"/>
                </a:solidFill>
                <a:latin typeface="Cambria Math"/>
              </a:rPr>
              <a:t>k</a:t>
            </a:r>
            <a:r>
              <a:rPr lang="en-US" sz="1900" dirty="0">
                <a:solidFill>
                  <a:srgbClr val="1A2744"/>
                </a:solidFill>
                <a:latin typeface="Cambria Math"/>
              </a:rPr>
              <a:t> </a:t>
            </a:r>
            <a:r>
              <a:rPr lang="en-US" sz="1900" b="1" dirty="0">
                <a:solidFill>
                  <a:srgbClr val="1A2744"/>
                </a:solidFill>
                <a:latin typeface="Cambria Math"/>
              </a:rPr>
              <a:t>y</a:t>
            </a:r>
            <a:r>
              <a:rPr lang="en-US" sz="1368" baseline="-25000" dirty="0">
                <a:solidFill>
                  <a:srgbClr val="1A2744"/>
                </a:solidFill>
                <a:latin typeface="Cambria Math"/>
              </a:rPr>
              <a:t>ik</a:t>
            </a:r>
            <a:r>
              <a:rPr lang="en-US" sz="1900" dirty="0">
                <a:solidFill>
                  <a:srgbClr val="1A2744"/>
                </a:solidFill>
                <a:latin typeface="Cambria Math"/>
              </a:rPr>
              <a:t> + </a:t>
            </a:r>
            <a:r>
              <a:rPr lang="en-US" sz="1900" b="1" dirty="0">
                <a:solidFill>
                  <a:srgbClr val="1A2744"/>
                </a:solidFill>
                <a:latin typeface="Cambria Math"/>
              </a:rPr>
              <a:t>y</a:t>
            </a:r>
            <a:r>
              <a:rPr lang="en-US" sz="1368" baseline="-25000" dirty="0">
                <a:solidFill>
                  <a:srgbClr val="1A2744"/>
                </a:solidFill>
                <a:latin typeface="Cambria Math"/>
              </a:rPr>
              <a:t>i(sh)</a:t>
            </a:r>
          </a:p>
          <a:p>
            <a:pPr algn="l">
              <a:lnSpc>
                <a:spcPct val="130000"/>
              </a:lnSpc>
            </a:pPr>
            <a:r>
              <a:rPr lang="ja-JP" sz="1400" dirty="0">
                <a:solidFill>
                  <a:srgbClr val="5B6470"/>
                </a:solidFill>
                <a:latin typeface="Calibri"/>
              </a:rPr>
              <a:t>I = 節点注入電流 ・ V = 節点電圧 (17,862² ・ 非零 0.019%)</a:t>
            </a:r>
          </a:p>
        </p:txBody>
      </p:sp>
      <p:sp>
        <p:nvSpPr>
          <p:cNvPr id="7" name="Rectangle 6"/>
          <p:cNvSpPr/>
          <p:nvPr/>
        </p:nvSpPr>
        <p:spPr>
          <a:xfrm>
            <a:off x="6680200" y="2159000"/>
            <a:ext cx="4965700" cy="1651000"/>
          </a:xfrm>
          <a:prstGeom prst="rect">
            <a:avLst/>
          </a:prstGeom>
          <a:solidFill>
            <a:srgbClr val="F4F6FA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52400" rIns="152400" bIns="152400" rtlCol="0" anchor="ctr"/>
          <a:lstStyle/>
          <a:p>
            <a:pPr algn="l">
              <a:spcAft>
                <a:spcPts val="500"/>
              </a:spcAft>
            </a:pPr>
            <a:r>
              <a:rPr lang="en-US" sz="1700" b="1" dirty="0">
                <a:solidFill>
                  <a:srgbClr val="1A2744"/>
                </a:solidFill>
                <a:latin typeface="Cambria Math"/>
              </a:rPr>
              <a:t>P</a:t>
            </a:r>
            <a:r>
              <a:rPr lang="en-US" sz="1224" baseline="-25000" dirty="0">
                <a:solidFill>
                  <a:srgbClr val="1A2744"/>
                </a:solidFill>
                <a:latin typeface="Cambria Math"/>
              </a:rPr>
              <a:t>i</a:t>
            </a:r>
            <a:r>
              <a:rPr lang="en-US" sz="1700" dirty="0">
                <a:solidFill>
                  <a:srgbClr val="1A2744"/>
                </a:solidFill>
                <a:latin typeface="Cambria Math"/>
              </a:rPr>
              <a:t> = </a:t>
            </a:r>
            <a:r>
              <a:rPr lang="en-US" sz="1700" b="1" dirty="0">
                <a:solidFill>
                  <a:srgbClr val="2E7D5B"/>
                </a:solidFill>
                <a:latin typeface="Cambria Math"/>
              </a:rPr>
              <a:t>V</a:t>
            </a:r>
            <a:r>
              <a:rPr lang="en-US" sz="1224" baseline="-25000" dirty="0">
                <a:solidFill>
                  <a:srgbClr val="2E7D5B"/>
                </a:solidFill>
                <a:latin typeface="Cambria Math"/>
              </a:rPr>
              <a:t>i</a:t>
            </a:r>
            <a:r>
              <a:rPr lang="en-US" sz="1700" dirty="0">
                <a:solidFill>
                  <a:srgbClr val="1A2744"/>
                </a:solidFill>
                <a:latin typeface="Cambria Math"/>
              </a:rPr>
              <a:t> Σ</a:t>
            </a:r>
            <a:r>
              <a:rPr lang="en-US" sz="1224" baseline="-25000" dirty="0">
                <a:solidFill>
                  <a:srgbClr val="1A2744"/>
                </a:solidFill>
                <a:latin typeface="Cambria Math"/>
              </a:rPr>
              <a:t>j</a:t>
            </a:r>
            <a:r>
              <a:rPr lang="en-US" sz="1700" dirty="0">
                <a:solidFill>
                  <a:srgbClr val="1A2744"/>
                </a:solidFill>
                <a:latin typeface="Cambria Math"/>
              </a:rPr>
              <a:t> </a:t>
            </a:r>
            <a:r>
              <a:rPr lang="en-US" sz="1700" b="1" dirty="0">
                <a:solidFill>
                  <a:srgbClr val="2E7D5B"/>
                </a:solidFill>
                <a:latin typeface="Cambria Math"/>
              </a:rPr>
              <a:t>V</a:t>
            </a:r>
            <a:r>
              <a:rPr lang="en-US" sz="1224" baseline="-25000" dirty="0">
                <a:solidFill>
                  <a:srgbClr val="2E7D5B"/>
                </a:solidFill>
                <a:latin typeface="Cambria Math"/>
              </a:rPr>
              <a:t>j</a:t>
            </a:r>
            <a:r>
              <a:rPr lang="en-US" sz="1700" dirty="0">
                <a:solidFill>
                  <a:srgbClr val="1A2744"/>
                </a:solidFill>
                <a:latin typeface="Cambria Math"/>
              </a:rPr>
              <a:t> ( </a:t>
            </a:r>
            <a:r>
              <a:rPr lang="en-US" sz="1700" b="1" dirty="0">
                <a:solidFill>
                  <a:srgbClr val="2C5F8A"/>
                </a:solidFill>
                <a:latin typeface="Cambria Math"/>
              </a:rPr>
              <a:t>G</a:t>
            </a:r>
            <a:r>
              <a:rPr lang="en-US" sz="1224" baseline="-25000" dirty="0">
                <a:solidFill>
                  <a:srgbClr val="2C5F8A"/>
                </a:solidFill>
                <a:latin typeface="Cambria Math"/>
              </a:rPr>
              <a:t>ij</a:t>
            </a:r>
            <a:r>
              <a:rPr lang="en-US" sz="1700" dirty="0">
                <a:solidFill>
                  <a:srgbClr val="1A2744"/>
                </a:solidFill>
                <a:latin typeface="Cambria Math"/>
              </a:rPr>
              <a:t> cos θ</a:t>
            </a:r>
            <a:r>
              <a:rPr lang="en-US" sz="1224" baseline="-25000" dirty="0">
                <a:solidFill>
                  <a:srgbClr val="1A2744"/>
                </a:solidFill>
                <a:latin typeface="Cambria Math"/>
              </a:rPr>
              <a:t>ij</a:t>
            </a:r>
            <a:r>
              <a:rPr lang="en-US" sz="1700" dirty="0">
                <a:solidFill>
                  <a:srgbClr val="1A2744"/>
                </a:solidFill>
                <a:latin typeface="Cambria Math"/>
              </a:rPr>
              <a:t> + </a:t>
            </a:r>
            <a:r>
              <a:rPr lang="en-US" sz="1700" b="1" dirty="0">
                <a:solidFill>
                  <a:srgbClr val="8A2E3B"/>
                </a:solidFill>
                <a:latin typeface="Cambria Math"/>
              </a:rPr>
              <a:t>B</a:t>
            </a:r>
            <a:r>
              <a:rPr lang="en-US" sz="1224" baseline="-25000" dirty="0">
                <a:solidFill>
                  <a:srgbClr val="8A2E3B"/>
                </a:solidFill>
                <a:latin typeface="Cambria Math"/>
              </a:rPr>
              <a:t>ij</a:t>
            </a:r>
            <a:r>
              <a:rPr lang="en-US" sz="1700" dirty="0">
                <a:solidFill>
                  <a:srgbClr val="1A2744"/>
                </a:solidFill>
                <a:latin typeface="Cambria Math"/>
              </a:rPr>
              <a:t> sin θ</a:t>
            </a:r>
            <a:r>
              <a:rPr lang="en-US" sz="1224" baseline="-25000" dirty="0">
                <a:solidFill>
                  <a:srgbClr val="1A2744"/>
                </a:solidFill>
                <a:latin typeface="Cambria Math"/>
              </a:rPr>
              <a:t>ij</a:t>
            </a:r>
            <a:r>
              <a:rPr lang="en-US" sz="1700" dirty="0">
                <a:solidFill>
                  <a:srgbClr val="1A2744"/>
                </a:solidFill>
                <a:latin typeface="Cambria Math"/>
              </a:rPr>
              <a:t> )</a:t>
            </a:r>
          </a:p>
          <a:p>
            <a:pPr algn="l">
              <a:lnSpc>
                <a:spcPct val="130000"/>
              </a:lnSpc>
            </a:pPr>
            <a:r>
              <a:rPr lang="ja-JP" sz="1400" dirty="0">
                <a:solidFill>
                  <a:srgbClr val="5B6470"/>
                </a:solidFill>
                <a:latin typeface="Calibri"/>
              </a:rPr>
              <a:t>潮流方程式。G + jB = Y の実部/虚部、θij = 位相差。Newton–Raphson で解く = 潮流計算。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34200" y="4267200"/>
            <a:ext cx="445770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1800" b="1" dirty="0">
                <a:solidFill>
                  <a:srgbClr val="1A2744"/>
                </a:solidFill>
                <a:latin typeface="Calibri"/>
              </a:rPr>
              <a:t>この1枚から出るもの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34200" y="4775200"/>
            <a:ext cx="4457700" cy="14185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lnSpc>
                <a:spcPct val="130000"/>
              </a:lnSpc>
              <a:spcAft>
                <a:spcPts val="400"/>
              </a:spcAft>
              <a:buFont typeface="Arial"/>
              <a:buChar char="•"/>
            </a:pPr>
            <a:r>
              <a:rPr lang="ja-JP" sz="1500" dirty="0">
                <a:solidFill>
                  <a:srgbClr val="3D4657"/>
                </a:solidFill>
                <a:latin typeface="Calibri"/>
              </a:rPr>
              <a:t>潮流 — どの線に何MW流れるか(観測と突合可)</a:t>
            </a:r>
          </a:p>
          <a:p>
            <a:pPr marL="171450" indent="-171450" algn="l">
              <a:lnSpc>
                <a:spcPct val="130000"/>
              </a:lnSpc>
              <a:spcAft>
                <a:spcPts val="400"/>
              </a:spcAft>
              <a:buFont typeface="Arial"/>
              <a:buChar char="•"/>
            </a:pPr>
            <a:r>
              <a:rPr lang="ja-JP" sz="1500" dirty="0">
                <a:solidFill>
                  <a:srgbClr val="3D4657"/>
                </a:solidFill>
                <a:latin typeface="Calibri"/>
              </a:rPr>
              <a:t>短絡容量 — 系統の「強さ」(原理I)</a:t>
            </a:r>
          </a:p>
          <a:p>
            <a:pPr marL="171450" indent="-171450" algn="l">
              <a:lnSpc>
                <a:spcPct val="130000"/>
              </a:lnSpc>
              <a:spcAft>
                <a:spcPts val="400"/>
              </a:spcAft>
              <a:buFont typeface="Arial"/>
              <a:buChar char="•"/>
            </a:pPr>
            <a:r>
              <a:rPr lang="ja-JP" sz="1500" dirty="0">
                <a:solidFill>
                  <a:srgbClr val="3D4657"/>
                </a:solidFill>
                <a:latin typeface="Calibri"/>
              </a:rPr>
              <a:t>動揺モード — 系統の「揺れ」(原理II)</a:t>
            </a:r>
          </a:p>
          <a:p>
            <a:pPr marL="171450" indent="-171450" algn="l">
              <a:lnSpc>
                <a:spcPct val="130000"/>
              </a:lnSpc>
              <a:spcAft>
                <a:spcPts val="400"/>
              </a:spcAft>
              <a:buFont typeface="Arial"/>
              <a:buChar char="•"/>
            </a:pPr>
            <a:r>
              <a:rPr lang="ja-JP" sz="1500" dirty="0">
                <a:solidFill>
                  <a:srgbClr val="3D4657"/>
                </a:solidFill>
                <a:latin typeface="Calibri"/>
              </a:rPr>
              <a:t>Z(jω) — 周波数依存化すれば共振の判定へ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6100" y="6273800"/>
            <a:ext cx="110998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1100" dirty="0">
                <a:solidFill>
                  <a:srgbClr val="5B6470"/>
                </a:solidFill>
                <a:latin typeface="Calibri"/>
              </a:rPr>
              <a:t>02 / 15   Yはpandapower/pypower makeYbus(業界標準実装)・出荷v5.0.1</a:t>
            </a:r>
          </a:p>
        </p:txBody>
      </p:sp>
      <p:sp>
        <p:nvSpPr>
          <p:cNvPr id="401" name="TB 401"/>
          <p:cNvSpPr txBox="1"/>
          <p:nvPr/>
        </p:nvSpPr>
        <p:spPr>
          <a:xfrm>
            <a:off x="698500" y="2311400"/>
            <a:ext cx="5664200" cy="2540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lang="ja-JP" sz="1400" dirty="0">
                <a:solidFill>
                  <a:srgbClr val="5B6470"/>
                </a:solidFill>
                <a:latin typeface="Calibri"/>
              </a:rPr>
              <a:t>概念図 — 発電機・インピーダンス・三相短絡</a:t>
            </a:r>
          </a:p>
        </p:txBody>
      </p:sp>
      <p:sp>
        <p:nvSpPr>
          <p:cNvPr id="410" name="Dg 410"/>
          <p:cNvSpPr/>
          <p:nvPr/>
        </p:nvSpPr>
        <p:spPr>
          <a:xfrm>
            <a:off x="787400" y="2768600"/>
            <a:ext cx="914400" cy="9144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2744"/>
            </a:solidFill>
          </a:ln>
        </p:spPr>
        <p:txBody>
          <a:bodyPr lIns="0" tIns="0" rIns="0" bIns="0" rtlCol="0" anchor="ctr"/>
          <a:lstStyle/>
          <a:p>
            <a:pPr algn="ctr"/>
            <a:r>
              <a:rPr lang="en-US" sz="2400" b="1" dirty="0">
                <a:solidFill>
                  <a:srgbClr val="1A2744"/>
                </a:solidFill>
                <a:latin typeface="Cambria Math"/>
              </a:rPr>
              <a:t>G</a:t>
            </a:r>
          </a:p>
        </p:txBody>
      </p:sp>
      <p:sp>
        <p:nvSpPr>
          <p:cNvPr id="411" name="Dg 411"/>
          <p:cNvSpPr/>
          <p:nvPr/>
        </p:nvSpPr>
        <p:spPr>
          <a:xfrm>
            <a:off x="1701800" y="3200400"/>
            <a:ext cx="558800" cy="3810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txBody>
          <a:bodyPr lIns="0" tIns="0" rIns="0" bIns="0" rtlCol="0" anchor="ctr"/>
          <a:lstStyle/>
          <a:p>
            <a:endParaRPr/>
          </a:p>
        </p:txBody>
      </p:sp>
      <p:sp>
        <p:nvSpPr>
          <p:cNvPr id="412" name="Dg 412"/>
          <p:cNvSpPr/>
          <p:nvPr/>
        </p:nvSpPr>
        <p:spPr>
          <a:xfrm>
            <a:off x="2260600" y="2971800"/>
            <a:ext cx="1219200" cy="50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1A2744"/>
            </a:solidFill>
          </a:ln>
        </p:spPr>
        <p:txBody>
          <a:bodyPr lIns="0" tIns="0" rIns="0" bIns="0" rtlCol="0" anchor="ctr"/>
          <a:lstStyle/>
          <a:p>
            <a:pPr algn="ctr"/>
            <a:r>
              <a:rPr lang="en-US" sz="2200" b="1" dirty="0">
                <a:solidFill>
                  <a:srgbClr val="2C5F8A"/>
                </a:solidFill>
                <a:latin typeface="Cambria Math"/>
              </a:rPr>
              <a:t>Z</a:t>
            </a:r>
          </a:p>
        </p:txBody>
      </p:sp>
      <p:sp>
        <p:nvSpPr>
          <p:cNvPr id="413" name="Dg 413"/>
          <p:cNvSpPr/>
          <p:nvPr/>
        </p:nvSpPr>
        <p:spPr>
          <a:xfrm>
            <a:off x="3479800" y="3200400"/>
            <a:ext cx="508000" cy="3810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txBody>
          <a:bodyPr lIns="0" tIns="0" rIns="0" bIns="0" rtlCol="0" anchor="ctr"/>
          <a:lstStyle/>
          <a:p>
            <a:endParaRPr/>
          </a:p>
        </p:txBody>
      </p:sp>
      <p:sp>
        <p:nvSpPr>
          <p:cNvPr id="414" name="Dg 414"/>
          <p:cNvSpPr/>
          <p:nvPr/>
        </p:nvSpPr>
        <p:spPr>
          <a:xfrm>
            <a:off x="3810000" y="2997200"/>
            <a:ext cx="1168400" cy="3810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txBody>
          <a:bodyPr lIns="0" tIns="0" rIns="0" bIns="0" rtlCol="0" anchor="ctr"/>
          <a:lstStyle/>
          <a:p>
            <a:endParaRPr/>
          </a:p>
        </p:txBody>
      </p:sp>
      <p:sp>
        <p:nvSpPr>
          <p:cNvPr id="415" name="Dg 415"/>
          <p:cNvSpPr/>
          <p:nvPr/>
        </p:nvSpPr>
        <p:spPr>
          <a:xfrm>
            <a:off x="3810000" y="3200400"/>
            <a:ext cx="1168400" cy="3810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txBody>
          <a:bodyPr lIns="0" tIns="0" rIns="0" bIns="0" rtlCol="0" anchor="ctr"/>
          <a:lstStyle/>
          <a:p>
            <a:endParaRPr/>
          </a:p>
        </p:txBody>
      </p:sp>
      <p:sp>
        <p:nvSpPr>
          <p:cNvPr id="416" name="Dg 416"/>
          <p:cNvSpPr/>
          <p:nvPr/>
        </p:nvSpPr>
        <p:spPr>
          <a:xfrm>
            <a:off x="3810000" y="3403600"/>
            <a:ext cx="1168400" cy="3810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txBody>
          <a:bodyPr lIns="0" tIns="0" rIns="0" bIns="0" rtlCol="0" anchor="ctr"/>
          <a:lstStyle/>
          <a:p>
            <a:endParaRPr/>
          </a:p>
        </p:txBody>
      </p:sp>
      <p:sp>
        <p:nvSpPr>
          <p:cNvPr id="417" name="Dg 417"/>
          <p:cNvSpPr/>
          <p:nvPr/>
        </p:nvSpPr>
        <p:spPr>
          <a:xfrm>
            <a:off x="4978400" y="2997200"/>
            <a:ext cx="50800" cy="4445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 lIns="0" tIns="0" rIns="0" bIns="0" rtlCol="0" anchor="ctr"/>
          <a:lstStyle/>
          <a:p>
            <a:endParaRPr/>
          </a:p>
        </p:txBody>
      </p:sp>
      <p:sp>
        <p:nvSpPr>
          <p:cNvPr id="418" name="Dg 418"/>
          <p:cNvSpPr/>
          <p:nvPr/>
        </p:nvSpPr>
        <p:spPr>
          <a:xfrm>
            <a:off x="5029200" y="2870200"/>
            <a:ext cx="254000" cy="698500"/>
          </a:xfrm>
          <a:prstGeom prst="lightningBolt">
            <a:avLst/>
          </a:prstGeom>
          <a:solidFill>
            <a:srgbClr val="8A2E3B"/>
          </a:solidFill>
          <a:ln>
            <a:noFill/>
          </a:ln>
        </p:spPr>
        <p:txBody>
          <a:bodyPr lIns="0" tIns="0" rIns="0" bIns="0" rtlCol="0" anchor="ctr"/>
          <a:lstStyle/>
          <a:p>
            <a:endParaRPr/>
          </a:p>
        </p:txBody>
      </p:sp>
      <p:sp>
        <p:nvSpPr>
          <p:cNvPr id="419" name="Dg 419"/>
          <p:cNvSpPr/>
          <p:nvPr/>
        </p:nvSpPr>
        <p:spPr>
          <a:xfrm>
            <a:off x="5334000" y="3098800"/>
            <a:ext cx="558800" cy="254000"/>
          </a:xfrm>
          <a:prstGeom prst="rightArrow">
            <a:avLst/>
          </a:prstGeom>
          <a:solidFill>
            <a:srgbClr val="8A2E3B"/>
          </a:solidFill>
          <a:ln>
            <a:noFill/>
          </a:ln>
        </p:spPr>
        <p:txBody>
          <a:bodyPr lIns="0" tIns="0" rIns="0" bIns="0" rtlCol="0" anchor="ctr"/>
          <a:lstStyle/>
          <a:p>
            <a:endParaRPr/>
          </a:p>
        </p:txBody>
      </p:sp>
      <p:sp>
        <p:nvSpPr>
          <p:cNvPr id="420" name="TB 420"/>
          <p:cNvSpPr txBox="1"/>
          <p:nvPr/>
        </p:nvSpPr>
        <p:spPr>
          <a:xfrm>
            <a:off x="711200" y="3759200"/>
            <a:ext cx="1168400" cy="279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lang="ja-JP" sz="1400" dirty="0">
                <a:solidFill>
                  <a:srgbClr val="1A2744"/>
                </a:solidFill>
                <a:latin typeface="Calibri"/>
              </a:rPr>
              <a:t>発電機 E</a:t>
            </a:r>
          </a:p>
        </p:txBody>
      </p:sp>
      <p:sp>
        <p:nvSpPr>
          <p:cNvPr id="421" name="TB 421"/>
          <p:cNvSpPr txBox="1"/>
          <p:nvPr/>
        </p:nvSpPr>
        <p:spPr>
          <a:xfrm>
            <a:off x="2057400" y="3759200"/>
            <a:ext cx="1600200" cy="279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lang="ja-JP" sz="1400" dirty="0">
                <a:solidFill>
                  <a:srgbClr val="2C5F8A"/>
                </a:solidFill>
                <a:latin typeface="Calibri"/>
              </a:rPr>
              <a:t>線路 Z = R + jX</a:t>
            </a:r>
          </a:p>
        </p:txBody>
      </p:sp>
      <p:sp>
        <p:nvSpPr>
          <p:cNvPr id="422" name="TB 422"/>
          <p:cNvSpPr txBox="1"/>
          <p:nvPr/>
        </p:nvSpPr>
        <p:spPr>
          <a:xfrm>
            <a:off x="4089400" y="3759200"/>
            <a:ext cx="1778000" cy="279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lang="ja-JP" sz="1400" dirty="0">
                <a:solidFill>
                  <a:srgbClr val="8A2E3B"/>
                </a:solidFill>
                <a:latin typeface="Calibri"/>
              </a:rPr>
              <a:t>三相短絡</a:t>
            </a:r>
          </a:p>
        </p:txBody>
      </p:sp>
      <p:sp>
        <p:nvSpPr>
          <p:cNvPr id="423" name="TB 423"/>
          <p:cNvSpPr txBox="1"/>
          <p:nvPr/>
        </p:nvSpPr>
        <p:spPr>
          <a:xfrm>
            <a:off x="3759200" y="2616200"/>
            <a:ext cx="1473200" cy="279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lang="ja-JP" sz="1400" dirty="0">
                <a:solidFill>
                  <a:srgbClr val="5B6470"/>
                </a:solidFill>
                <a:latin typeface="Calibri"/>
              </a:rPr>
              <a:t>三相母線</a:t>
            </a:r>
          </a:p>
        </p:txBody>
      </p:sp>
      <p:sp>
        <p:nvSpPr>
          <p:cNvPr id="424" name="TB 424"/>
          <p:cNvSpPr txBox="1"/>
          <p:nvPr/>
        </p:nvSpPr>
        <p:spPr>
          <a:xfrm>
            <a:off x="5257800" y="2667000"/>
            <a:ext cx="762000" cy="279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lang="en-US" sz="1600" b="1" dirty="0">
                <a:solidFill>
                  <a:srgbClr val="8A2E3B"/>
                </a:solidFill>
                <a:latin typeface="Cambria Math"/>
              </a:rPr>
              <a:t>I</a:t>
            </a:r>
            <a:r>
              <a:rPr lang="en-US" sz="1152" b="1" baseline="-25000" dirty="0">
                <a:solidFill>
                  <a:srgbClr val="8A2E3B"/>
                </a:solidFill>
                <a:latin typeface="Cambria Math"/>
              </a:rPr>
              <a:t>sc</a:t>
            </a:r>
          </a:p>
        </p:txBody>
      </p:sp>
      <p:sp>
        <p:nvSpPr>
          <p:cNvPr id="425" name="TB 425"/>
          <p:cNvSpPr txBox="1"/>
          <p:nvPr/>
        </p:nvSpPr>
        <p:spPr>
          <a:xfrm>
            <a:off x="698500" y="4114800"/>
            <a:ext cx="5664200" cy="279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lang="en-US" sz="1500" b="1" dirty="0">
                <a:solidFill>
                  <a:srgbClr val="8A2E3B"/>
                </a:solidFill>
                <a:latin typeface="Cambria Math"/>
              </a:rPr>
              <a:t>I</a:t>
            </a:r>
            <a:r>
              <a:rPr lang="en-US" sz="1080" b="1" baseline="-25000" dirty="0">
                <a:solidFill>
                  <a:srgbClr val="8A2E3B"/>
                </a:solidFill>
                <a:latin typeface="Cambria Math"/>
              </a:rPr>
              <a:t>sc</a:t>
            </a:r>
            <a:r>
              <a:rPr lang="en-US" sz="1500" dirty="0">
                <a:solidFill>
                  <a:srgbClr val="1A2744"/>
                </a:solidFill>
                <a:latin typeface="Cambria Math"/>
              </a:rPr>
              <a:t> = </a:t>
            </a:r>
            <a:r>
              <a:rPr lang="en-US" sz="1500" b="1" dirty="0">
                <a:solidFill>
                  <a:srgbClr val="1A2744"/>
                </a:solidFill>
                <a:latin typeface="Cambria Math"/>
              </a:rPr>
              <a:t>E</a:t>
            </a:r>
            <a:r>
              <a:rPr lang="en-US" sz="1500" dirty="0">
                <a:solidFill>
                  <a:srgbClr val="1A2744"/>
                </a:solidFill>
                <a:latin typeface="Cambria Math"/>
              </a:rPr>
              <a:t> / </a:t>
            </a:r>
            <a:r>
              <a:rPr lang="en-US" sz="1500" b="1" dirty="0">
                <a:solidFill>
                  <a:srgbClr val="2C5F8A"/>
                </a:solidFill>
                <a:latin typeface="Cambria Math"/>
              </a:rPr>
              <a:t>Z</a:t>
            </a:r>
            <a:r>
              <a:rPr lang="ja-JP" sz="1400" dirty="0">
                <a:solidFill>
                  <a:srgbClr val="5B6470"/>
                </a:solidFill>
                <a:latin typeface="Calibri"/>
              </a:rPr>
              <a:t>　— 短絡電流は電源とインピーダンスだけで決まる</a:t>
            </a:r>
          </a:p>
        </p:txBody>
      </p:sp>
      <p:sp>
        <p:nvSpPr>
          <p:cNvPr id="426" name="TB 426"/>
          <p:cNvSpPr txBox="1"/>
          <p:nvPr/>
        </p:nvSpPr>
        <p:spPr>
          <a:xfrm>
            <a:off x="546100" y="4521200"/>
            <a:ext cx="5969000" cy="2540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lang="ja-JP" sz="1400" i="1" dirty="0">
                <a:solidFill>
                  <a:srgbClr val="5B6470"/>
                </a:solidFill>
                <a:latin typeface="Calibri"/>
              </a:rPr>
              <a:t>「インピーダンスだけで系統は基本計算できる」— その理由が下の2式。</a:t>
            </a:r>
          </a:p>
        </p:txBody>
      </p:sp>
    </p:spTree>
    <p:extLst>
      <p:ext uri="{BB962C8B-B14F-4D97-AF65-F5344CB8AC3E}">
        <p14:creationId xmlns:p14="http://schemas.microsoft.com/office/powerpoint/2010/main" val="14819549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0" name="Deco 300"/>
          <p:cNvSpPr/>
          <p:nvPr/>
        </p:nvSpPr>
        <p:spPr>
          <a:xfrm>
            <a:off x="546100" y="736600"/>
            <a:ext cx="11099800" cy="1143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" name="Deco 301"/>
          <p:cNvSpPr/>
          <p:nvPr/>
        </p:nvSpPr>
        <p:spPr>
          <a:xfrm>
            <a:off x="546100" y="711200"/>
            <a:ext cx="736600" cy="381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" name="Deco 302"/>
          <p:cNvSpPr/>
          <p:nvPr/>
        </p:nvSpPr>
        <p:spPr>
          <a:xfrm>
            <a:off x="546100" y="6172200"/>
            <a:ext cx="11099800" cy="1143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0" name="Deco 310"/>
          <p:cNvSpPr/>
          <p:nvPr/>
        </p:nvSpPr>
        <p:spPr>
          <a:xfrm>
            <a:off x="546100" y="5054600"/>
            <a:ext cx="11099800" cy="9398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1" name="Deco 311"/>
          <p:cNvSpPr/>
          <p:nvPr/>
        </p:nvSpPr>
        <p:spPr>
          <a:xfrm>
            <a:off x="546100" y="5054600"/>
            <a:ext cx="38100" cy="9398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6100" y="279400"/>
            <a:ext cx="11099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1300" b="1" spc="120" dirty="0">
                <a:solidFill>
                  <a:srgbClr val="8A2E3B"/>
                </a:solidFill>
                <a:latin typeface="Calibri"/>
              </a:rPr>
              <a:t>主張の型 ｜ 何が新しいのか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6100" y="889000"/>
            <a:ext cx="110998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2800" b="1" dirty="0">
                <a:solidFill>
                  <a:srgbClr val="1A2744"/>
                </a:solidFill>
                <a:latin typeface="Calibri"/>
              </a:rPr>
              <a:t>「モデルが凄い」ではなく「答え合わせが凄い」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6100" y="1498600"/>
            <a:ext cx="1109980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1500" dirty="0">
                <a:solidFill>
                  <a:srgbClr val="3D4657"/>
                </a:solidFill>
                <a:latin typeface="Calibri"/>
              </a:rPr>
              <a:t>4つの層それぞれに、独立の公開データによる検算がある。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7142560"/>
              </p:ext>
            </p:extLst>
          </p:nvPr>
        </p:nvGraphicFramePr>
        <p:xfrm>
          <a:off x="546100" y="2006600"/>
          <a:ext cx="11099800" cy="284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5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1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2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層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</a:lnL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モデル側</a:t>
                      </a:r>
                    </a:p>
                  </a:txBody>
                  <a:tcPr anchor="ctr"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独立の公開データ</a:t>
                      </a:r>
                    </a:p>
                  </a:txBody>
                  <a:tcPr anchor="ctr"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結果</a:t>
                      </a:r>
                    </a:p>
                  </a:txBody>
                  <a:tcPr anchor="ctr">
                    <a:solidFill>
                      <a:srgbClr val="1A27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A2744"/>
                          </a:solidFill>
                          <a:latin typeface="Calibri"/>
                          <a:cs typeface="Calibri"/>
                        </a:rPr>
                        <a:t>① インピーダンス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D4657"/>
                          </a:solidFill>
                          <a:latin typeface="Calibri"/>
                          <a:cs typeface="Calibri"/>
                        </a:rPr>
                        <a:t>線種×実線長(par合成)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D4657"/>
                          </a:solidFill>
                          <a:latin typeface="Calibri"/>
                          <a:cs typeface="Calibri"/>
                        </a:rPr>
                        <a:t>様式5 公表R/X(404線)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8A2E3B"/>
                          </a:solidFill>
                          <a:latin typeface="Calibri"/>
                          <a:cs typeface="Calibri"/>
                        </a:rPr>
                        <a:t>比 中央値1.22 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A2744"/>
                          </a:solidFill>
                          <a:latin typeface="Calibri"/>
                          <a:cs typeface="Calibri"/>
                        </a:rPr>
                        <a:t>② 潮流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</a:lnL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D4657"/>
                          </a:solidFill>
                          <a:latin typeface="Calibri"/>
                          <a:cs typeface="Calibri"/>
                        </a:rPr>
                        <a:t>AC潮流解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D4657"/>
                          </a:solidFill>
                          <a:latin typeface="Calibri"/>
                          <a:cs typeface="Calibri"/>
                        </a:rPr>
                        <a:t>潮流実績CSV(2,600線超)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8A2E3B"/>
                          </a:solidFill>
                          <a:latin typeface="Calibri"/>
                          <a:cs typeface="Calibri"/>
                        </a:rPr>
                        <a:t>Spearman 0.41 ✓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A2744"/>
                          </a:solidFill>
                          <a:latin typeface="Calibri"/>
                          <a:cs typeface="Calibri"/>
                        </a:rPr>
                        <a:t>③ 静的強度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D4657"/>
                          </a:solidFill>
                          <a:latin typeface="Calibri"/>
                          <a:cs typeface="Calibri"/>
                        </a:rPr>
                        <a:t>テブナン短絡容量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D4657"/>
                          </a:solidFill>
                          <a:latin typeface="Calibri"/>
                          <a:cs typeface="Calibri"/>
                        </a:rPr>
                        <a:t>物理帯(66kV≈1–2GVA)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8A2E3B"/>
                          </a:solidFill>
                          <a:latin typeface="Calibri"/>
                          <a:cs typeface="Calibri"/>
                        </a:rPr>
                        <a:t>896–2,207 MVA 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A2744"/>
                          </a:solidFill>
                          <a:latin typeface="Calibri"/>
                          <a:cs typeface="Calibri"/>
                        </a:rPr>
                        <a:t>④ 動的挙動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</a:lnL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D4657"/>
                          </a:solidFill>
                          <a:latin typeface="Calibri"/>
                          <a:cs typeface="Calibri"/>
                        </a:rPr>
                        <a:t>長軸振動モード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D4657"/>
                          </a:solidFill>
                          <a:latin typeface="Calibri"/>
                          <a:cs typeface="Calibri"/>
                        </a:rPr>
                        <a:t>実測で知られる約0.4Hz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8A2E3B"/>
                          </a:solidFill>
                          <a:latin typeface="Calibri"/>
                          <a:cs typeface="Calibri"/>
                        </a:rPr>
                        <a:t>0.434 Hz ✓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00100" y="5257800"/>
            <a:ext cx="10591800" cy="373115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35000"/>
              </a:lnSpc>
            </a:pPr>
            <a:r>
              <a:rPr lang="ja-JP" sz="1500" dirty="0">
                <a:solidFill>
                  <a:srgbClr val="3D4657"/>
                </a:solidFill>
                <a:latin typeface="Calibri"/>
              </a:rPr>
              <a:t>既存のオープン系統モデル(SciGRID・GridKit・PyPSA-Eur)は静的トポロジ止まり — </a:t>
            </a:r>
            <a:r>
              <a:rPr lang="ja-JP" sz="1500" b="1" dirty="0">
                <a:solidFill>
                  <a:srgbClr val="8A2E3B"/>
                </a:solidFill>
                <a:latin typeface="Calibri"/>
              </a:rPr>
              <a:t>動的検証まで到達した公開モデルは例がない。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6100" y="6273800"/>
            <a:ext cx="110998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1100" dirty="0">
                <a:solidFill>
                  <a:srgbClr val="5B6470"/>
                </a:solidFill>
                <a:latin typeface="Calibri"/>
              </a:rPr>
              <a:t>03 / 15   検証4点セット</a:t>
            </a:r>
          </a:p>
        </p:txBody>
      </p:sp>
    </p:spTree>
    <p:extLst>
      <p:ext uri="{BB962C8B-B14F-4D97-AF65-F5344CB8AC3E}">
        <p14:creationId xmlns:p14="http://schemas.microsoft.com/office/powerpoint/2010/main" val="31925624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0">
            <a:scrgbClr r="0" g="0" b="0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0" name="Deco 300"/>
          <p:cNvSpPr/>
          <p:nvPr/>
        </p:nvSpPr>
        <p:spPr>
          <a:xfrm>
            <a:off x="546100" y="736600"/>
            <a:ext cx="11099800" cy="1143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" name="Deco 301"/>
          <p:cNvSpPr/>
          <p:nvPr/>
        </p:nvSpPr>
        <p:spPr>
          <a:xfrm>
            <a:off x="546100" y="711200"/>
            <a:ext cx="736600" cy="381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" name="Deco 302"/>
          <p:cNvSpPr/>
          <p:nvPr/>
        </p:nvSpPr>
        <p:spPr>
          <a:xfrm>
            <a:off x="546100" y="6172200"/>
            <a:ext cx="11099800" cy="1143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20" name="Deco 320"/>
          <p:cNvSpPr/>
          <p:nvPr/>
        </p:nvSpPr>
        <p:spPr>
          <a:xfrm>
            <a:off x="546100" y="3327400"/>
            <a:ext cx="4572000" cy="21082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21" name="Deco 321"/>
          <p:cNvSpPr/>
          <p:nvPr/>
        </p:nvSpPr>
        <p:spPr>
          <a:xfrm>
            <a:off x="546100" y="3327400"/>
            <a:ext cx="38100" cy="21082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30" name="Deco 330"/>
          <p:cNvSpPr/>
          <p:nvPr/>
        </p:nvSpPr>
        <p:spPr>
          <a:xfrm>
            <a:off x="546100" y="5537200"/>
            <a:ext cx="38100" cy="5588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6100" y="279400"/>
            <a:ext cx="11099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1300" b="1" spc="120" dirty="0">
                <a:solidFill>
                  <a:srgbClr val="8A2E3B"/>
                </a:solidFill>
                <a:latin typeface="Calibri"/>
              </a:rPr>
              <a:t>検証 ①② ｜ 観測との突合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6100" y="838200"/>
            <a:ext cx="4572000" cy="9790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lang="ja-JP" sz="2600" b="1" dirty="0">
                <a:solidFill>
                  <a:srgbClr val="1A2744"/>
                </a:solidFill>
                <a:latin typeface="Calibri"/>
              </a:rPr>
              <a:t>2,600本の線に、実測の潮流が流れている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6100" y="2108200"/>
            <a:ext cx="4572000" cy="1066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ja-JP" sz="1400" dirty="0">
                <a:solidFill>
                  <a:srgbClr val="3D4657"/>
                </a:solidFill>
                <a:latin typeface="Calibri"/>
              </a:rPr>
              <a:t>10社の「系統情報公表」から潮流実績(1時間値×1年)を機械収集し、OSM由来の線形に配置。青=実測潮流あり・太さ=潮流p95。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6100" y="3327400"/>
            <a:ext cx="4572000" cy="2108200"/>
          </a:xfrm>
          <a:ln/>
          <a:effectLst/>
        </p:spPr>
        <p:style>
          <a:lnRef idx="1">
            <a:schemeClr val="accent1"/>
          </a:lnRef>
          <a:fillRef idx="0">
            <a:scrgbClr r="0" g="0" b="0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52400" rIns="152400" bIns="152400" rtlCol="0" anchor="ctr"/>
          <a:lstStyle/>
          <a:p>
            <a:pPr algn="l"/>
            <a:r>
              <a:rPr lang="en-US" sz="1900" dirty="0">
                <a:solidFill>
                  <a:srgbClr val="1A2744"/>
                </a:solidFill>
                <a:latin typeface="Cambria Math"/>
              </a:rPr>
              <a:t>X公表 / Xモデル の中央値 = 1.22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lang="ja-JP" sz="1400" dirty="0">
                <a:solidFill>
                  <a:srgbClr val="5B6470"/>
                </a:solidFill>
                <a:latin typeface="Calibri"/>
              </a:rPr>
              <a:t>Xモデル=線種典型x×弦距離÷par。弦は実長の下限なので比&gt;1が自然(1.2〜1.4=迂回率)→全国でスケール整合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100" y="5537200"/>
            <a:ext cx="4318000" cy="558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35000"/>
              </a:lnSpc>
            </a:pPr>
            <a:r>
              <a:rPr lang="ja-JP" sz="1400" dirty="0">
                <a:solidFill>
                  <a:srgbClr val="3D4657"/>
                </a:solidFill>
                <a:latin typeface="Calibri"/>
              </a:rPr>
              <a:t>中部はローカル77kVまで実名公表と判明 — 誤認を訂正して収容。</a:t>
            </a:r>
          </a:p>
        </p:txBody>
      </p:sp>
      <p:pic>
        <p:nvPicPr>
          <p:cNvPr id="8" name="Picture 7" descr="fig_national_obs_slide.jpg"/>
          <p:cNvPicPr>
            <a:picLocks noChangeAspect="1"/>
          </p:cNvPicPr>
          <p:nvPr/>
        </p:nvPicPr>
        <p:blipFill>
          <a:blip r:embed="rId2"/>
          <a:srcRect l="9000" t="9000" r="7000" b="10000"/>
          <a:stretch>
            <a:fillRect/>
          </a:stretch>
        </p:blipFill>
        <p:spPr>
          <a:xfrm>
            <a:off x="6573139" y="685800"/>
            <a:ext cx="4176522" cy="5156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6100" y="6273800"/>
            <a:ext cx="110998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1100" dirty="0">
                <a:solidFill>
                  <a:srgbClr val="5B6470"/>
                </a:solidFill>
                <a:latin typeface="Calibri"/>
              </a:rPr>
              <a:t>04 / 15   観測=observed層としてderived(解析値)と分離管理</a:t>
            </a:r>
          </a:p>
        </p:txBody>
      </p:sp>
      <p:sp>
        <p:nvSpPr>
          <p:cNvPr id="400" name="Caption 400"/>
          <p:cNvSpPr txBox="1"/>
          <p:nvPr/>
        </p:nvSpPr>
        <p:spPr>
          <a:xfrm>
            <a:off x="5130800" y="5918200"/>
            <a:ext cx="7061200" cy="2540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lang="ja-JP" sz="1400" dirty="0">
                <a:solidFill>
                  <a:srgbClr val="5B6470"/>
                </a:solidFill>
                <a:latin typeface="Calibri"/>
              </a:rPr>
              <a:t>青=実測潮流あり(全国2,629本)・線の太さ=潮流p95</a:t>
            </a:r>
          </a:p>
        </p:txBody>
      </p:sp>
    </p:spTree>
    <p:extLst>
      <p:ext uri="{BB962C8B-B14F-4D97-AF65-F5344CB8AC3E}">
        <p14:creationId xmlns:p14="http://schemas.microsoft.com/office/powerpoint/2010/main" val="38478360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ln/>
          <a:effectLst/>
        </p:spPr>
        <p:style>
          <a:lnRef idx="1">
            <a:schemeClr val="accent1"/>
          </a:lnRef>
          <a:fillRef idx="0">
            <a:scrgbClr r="0" g="0" b="0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0" name="Dg 300"/>
          <p:cNvSpPr/>
          <p:nvPr/>
        </p:nvSpPr>
        <p:spPr>
          <a:xfrm>
            <a:off x="546100" y="736600"/>
            <a:ext cx="11099800" cy="1143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 lIns="18000" tIns="0" rIns="18000" bIns="0" rtlCol="0" anchor="ctr"/>
          <a:lstStyle/>
          <a:p>
            <a:endParaRPr/>
          </a:p>
        </p:txBody>
      </p:sp>
      <p:sp>
        <p:nvSpPr>
          <p:cNvPr id="301" name="Dg 301"/>
          <p:cNvSpPr/>
          <p:nvPr/>
        </p:nvSpPr>
        <p:spPr>
          <a:xfrm>
            <a:off x="546100" y="711200"/>
            <a:ext cx="736600" cy="381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 lIns="18000" tIns="0" rIns="18000" bIns="0" rtlCol="0" anchor="ctr"/>
          <a:lstStyle/>
          <a:p>
            <a:endParaRPr/>
          </a:p>
        </p:txBody>
      </p:sp>
      <p:sp>
        <p:nvSpPr>
          <p:cNvPr id="302" name="Dg 302"/>
          <p:cNvSpPr/>
          <p:nvPr/>
        </p:nvSpPr>
        <p:spPr>
          <a:xfrm>
            <a:off x="546100" y="6172200"/>
            <a:ext cx="11099800" cy="1143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 lIns="18000" tIns="0" rIns="18000" bIns="0" rtlCol="0" anchor="ctr"/>
          <a:lstStyle/>
          <a:p>
            <a:endParaRPr/>
          </a:p>
        </p:txBody>
      </p:sp>
      <p:sp>
        <p:nvSpPr>
          <p:cNvPr id="320" name="Dg 320"/>
          <p:cNvSpPr/>
          <p:nvPr/>
        </p:nvSpPr>
        <p:spPr>
          <a:xfrm>
            <a:off x="546100" y="4064000"/>
            <a:ext cx="5969000" cy="17272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txBody>
          <a:bodyPr lIns="18000" tIns="0" rIns="18000" bIns="0" rtlCol="0" anchor="ctr"/>
          <a:lstStyle/>
          <a:p>
            <a:endParaRPr/>
          </a:p>
        </p:txBody>
      </p:sp>
      <p:sp>
        <p:nvSpPr>
          <p:cNvPr id="321" name="Dg 321"/>
          <p:cNvSpPr/>
          <p:nvPr/>
        </p:nvSpPr>
        <p:spPr>
          <a:xfrm>
            <a:off x="546100" y="4064000"/>
            <a:ext cx="38100" cy="17272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 lIns="18000" tIns="0" rIns="18000" bIns="0" rtlCol="0" anchor="ctr"/>
          <a:lstStyle/>
          <a:p>
            <a:endParaRPr/>
          </a:p>
        </p:txBody>
      </p:sp>
      <p:sp>
        <p:nvSpPr>
          <p:cNvPr id="322" name="Dg 322"/>
          <p:cNvSpPr/>
          <p:nvPr/>
        </p:nvSpPr>
        <p:spPr>
          <a:xfrm>
            <a:off x="6680200" y="2286000"/>
            <a:ext cx="4965700" cy="15748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txBody>
          <a:bodyPr lIns="18000" tIns="0" rIns="18000" bIns="0" rtlCol="0" anchor="ctr"/>
          <a:lstStyle/>
          <a:p>
            <a:endParaRPr/>
          </a:p>
        </p:txBody>
      </p:sp>
      <p:sp>
        <p:nvSpPr>
          <p:cNvPr id="323" name="Dg 323"/>
          <p:cNvSpPr/>
          <p:nvPr/>
        </p:nvSpPr>
        <p:spPr>
          <a:xfrm>
            <a:off x="6680200" y="2286000"/>
            <a:ext cx="38100" cy="15748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 lIns="18000" tIns="0" rIns="18000" bIns="0" rtlCol="0" anchor="ctr"/>
          <a:lstStyle/>
          <a:p>
            <a:endParaRPr/>
          </a:p>
        </p:txBody>
      </p:sp>
      <p:sp>
        <p:nvSpPr>
          <p:cNvPr id="310" name="Dg 310"/>
          <p:cNvSpPr/>
          <p:nvPr/>
        </p:nvSpPr>
        <p:spPr>
          <a:xfrm>
            <a:off x="6680200" y="4013200"/>
            <a:ext cx="4965700" cy="1778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txBody>
          <a:bodyPr lIns="18000" tIns="0" rIns="18000" bIns="0" rtlCol="0" anchor="ctr"/>
          <a:lstStyle/>
          <a:p>
            <a:endParaRPr/>
          </a:p>
        </p:txBody>
      </p:sp>
      <p:sp>
        <p:nvSpPr>
          <p:cNvPr id="311" name="Dg 311"/>
          <p:cNvSpPr/>
          <p:nvPr/>
        </p:nvSpPr>
        <p:spPr>
          <a:xfrm>
            <a:off x="6680200" y="4013200"/>
            <a:ext cx="4965700" cy="381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 lIns="18000" tIns="0" rIns="18000" bIns="0"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6100" y="279400"/>
            <a:ext cx="11099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1300" b="1" spc="120" dirty="0">
                <a:solidFill>
                  <a:srgbClr val="8A2E3B"/>
                </a:solidFill>
                <a:latin typeface="Calibri"/>
              </a:rPr>
              <a:t>原理 I ｜ 系統の強さ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6100" y="838200"/>
            <a:ext cx="110998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2800" b="1" dirty="0">
                <a:solidFill>
                  <a:srgbClr val="1A2744"/>
                </a:solidFill>
                <a:latin typeface="Calibri"/>
              </a:rPr>
              <a:t>テブナンの定理で「強さ」を1点の数字にする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6100" y="1473200"/>
            <a:ext cx="5969000" cy="7049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ja-JP" sz="1500" dirty="0">
                <a:solidFill>
                  <a:srgbClr val="3D4657"/>
                </a:solidFill>
                <a:latin typeface="Calibri"/>
              </a:rPr>
              <a:t>バスiから系統を見ると、どんな複雑な網も「1つの電源 + 1つのインピーダンス Zth」に等価化できる。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6100" y="4064000"/>
            <a:ext cx="5969000" cy="1727200"/>
          </a:xfrm>
          <a:ln/>
          <a:effectLst/>
        </p:spPr>
        <p:style>
          <a:lnRef idx="1">
            <a:schemeClr val="accent1"/>
          </a:lnRef>
          <a:fillRef idx="0">
            <a:scrgbClr r="0" g="0" b="0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52400" rIns="152400" bIns="152400" rtlCol="0" anchor="ctr"/>
          <a:lstStyle/>
          <a:p>
            <a:pPr algn="l">
              <a:spcAft>
                <a:spcPts val="300"/>
              </a:spcAft>
            </a:pPr>
            <a:r>
              <a:rPr lang="en-US" sz="1900" dirty="0">
                <a:solidFill>
                  <a:srgbClr val="1A2744"/>
                </a:solidFill>
                <a:latin typeface="Cambria Math"/>
              </a:rPr>
              <a:t>Zth,i = [ Y⁻¹ ]ii</a:t>
            </a:r>
          </a:p>
          <a:p>
            <a:pPr algn="l">
              <a:spcAft>
                <a:spcPts val="300"/>
              </a:spcAft>
            </a:pPr>
            <a:r>
              <a:rPr lang="en-US" sz="1900" dirty="0">
                <a:solidFill>
                  <a:srgbClr val="1A2744"/>
                </a:solidFill>
                <a:latin typeface="Cambria Math"/>
              </a:rPr>
              <a:t>Ssc,i = |V|² / |Zth,i| ≈ Sbase / |Zth,i(pu)|</a:t>
            </a:r>
          </a:p>
          <a:p>
            <a:pPr algn="l">
              <a:lnSpc>
                <a:spcPct val="135000"/>
              </a:lnSpc>
              <a:spcBef>
                <a:spcPts val="500"/>
              </a:spcBef>
            </a:pPr>
            <a:r>
              <a:rPr lang="ja-JP" sz="1400" dirty="0">
                <a:solidFill>
                  <a:srgbClr val="5B6470"/>
                </a:solidFill>
                <a:latin typeface="Calibri"/>
              </a:rPr>
              <a:t>逆行列は作らず疎LUで Y x = ei を解き対角のみ取得(島あたり数十秒)。発電機は xd″=0.2pu(典型値)で参加。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680200" y="2286000"/>
            <a:ext cx="4965700" cy="1574800"/>
          </a:xfrm>
          <a:ln/>
          <a:effectLst/>
        </p:spPr>
        <p:style>
          <a:lnRef idx="1">
            <a:schemeClr val="accent1"/>
          </a:lnRef>
          <a:fillRef idx="0">
            <a:scrgbClr r="0" g="0" b="0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52400" rIns="152400" bIns="152400" rtlCol="0" anchor="ctr"/>
          <a:lstStyle/>
          <a:p>
            <a:pPr algn="l">
              <a:spcAft>
                <a:spcPts val="300"/>
              </a:spcAft>
            </a:pPr>
            <a:r>
              <a:rPr lang="en-US" sz="1800" dirty="0">
                <a:solidFill>
                  <a:srgbClr val="1A2744"/>
                </a:solidFill>
                <a:latin typeface="Cambria Math"/>
              </a:rPr>
              <a:t>ΔV ≈ Zth · ΔI ,   SCRi = Ssc,i / SIBR,i</a:t>
            </a:r>
          </a:p>
          <a:p>
            <a:pPr algn="l">
              <a:lnSpc>
                <a:spcPct val="135000"/>
              </a:lnSpc>
              <a:spcBef>
                <a:spcPts val="500"/>
              </a:spcBef>
            </a:pPr>
            <a:r>
              <a:rPr lang="ja-JP" sz="1400" dirty="0">
                <a:solidFill>
                  <a:srgbClr val="5B6470"/>
                </a:solidFill>
                <a:latin typeface="Calibri"/>
              </a:rPr>
              <a:t>Zthが大きい(弱い)ほどインバータの電流変化が自端電圧を動かし、PLLが自分の起こした変動を追って発振する。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34200" y="4267200"/>
            <a:ext cx="44577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1800" b="1" dirty="0">
                <a:solidFill>
                  <a:srgbClr val="1A2744"/>
                </a:solidFill>
                <a:latin typeface="Calibri"/>
              </a:rPr>
              <a:t>読みどころ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34200" y="4724400"/>
            <a:ext cx="4457700" cy="1263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lnSpc>
                <a:spcPct val="130000"/>
              </a:lnSpc>
              <a:spcAft>
                <a:spcPts val="300"/>
              </a:spcAft>
              <a:buFont typeface="Arial"/>
              <a:buChar char="•"/>
            </a:pPr>
            <a:r>
              <a:rPr lang="ja-JP" sz="1400" dirty="0">
                <a:solidFill>
                  <a:srgbClr val="3D4657"/>
                </a:solidFill>
                <a:latin typeface="Calibri"/>
              </a:rPr>
              <a:t>経験則: SCR &lt; 3 で不安定リスク帯(IEEE系の知見)</a:t>
            </a:r>
          </a:p>
          <a:p>
            <a:pPr marL="171450" indent="-171450" algn="l">
              <a:lnSpc>
                <a:spcPct val="130000"/>
              </a:lnSpc>
              <a:spcAft>
                <a:spcPts val="300"/>
              </a:spcAft>
              <a:buFont typeface="Arial"/>
              <a:buChar char="•"/>
            </a:pPr>
            <a:r>
              <a:rPr lang="ja-JP" sz="1400" dirty="0">
                <a:solidFill>
                  <a:srgbClr val="3D4657"/>
                </a:solidFill>
                <a:latin typeface="Calibri"/>
              </a:rPr>
              <a:t>66kV系で Ssc ≈ 1〜2 GVA が普通の値</a:t>
            </a:r>
          </a:p>
          <a:p>
            <a:pPr marL="171450" indent="-171450" algn="l">
              <a:lnSpc>
                <a:spcPct val="130000"/>
              </a:lnSpc>
              <a:spcAft>
                <a:spcPts val="300"/>
              </a:spcAft>
              <a:buFont typeface="Arial"/>
              <a:buChar char="•"/>
            </a:pPr>
            <a:r>
              <a:rPr lang="ja-JP" sz="1400" dirty="0">
                <a:solidFill>
                  <a:srgbClr val="3D4657"/>
                </a:solidFill>
                <a:latin typeface="Calibri"/>
              </a:rPr>
              <a:t>モデルの66–77kV帯中央値: 0.9〜2.2 GVA — 物理帯に整合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6100" y="6273800"/>
            <a:ext cx="110998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1100" dirty="0">
                <a:solidFill>
                  <a:srgbClr val="5B6470"/>
                </a:solidFill>
                <a:latin typeface="Calibri"/>
              </a:rPr>
              <a:t>05 / 15   gen_grid_strength_map.py — 機械はG表(号機×型式別典型値)から</a:t>
            </a:r>
          </a:p>
        </p:txBody>
      </p:sp>
      <p:sp>
        <p:nvSpPr>
          <p:cNvPr id="350" name="Dg 350"/>
          <p:cNvSpPr/>
          <p:nvPr/>
        </p:nvSpPr>
        <p:spPr>
          <a:xfrm>
            <a:off x="546100" y="2438400"/>
            <a:ext cx="2032000" cy="1117600"/>
          </a:xfrm>
          <a:prstGeom prst="cloud">
            <a:avLst/>
          </a:prstGeom>
          <a:solidFill>
            <a:srgbClr val="F4F6FA"/>
          </a:solidFill>
          <a:ln>
            <a:noFill/>
          </a:ln>
        </p:spPr>
        <p:txBody>
          <a:bodyPr lIns="18000" tIns="0" rIns="18000" bIns="0" rtlCol="0" anchor="ctr"/>
          <a:lstStyle/>
          <a:p>
            <a:pPr algn="ctr"/>
            <a:r>
              <a:rPr lang="ja-JP" sz="1400" b="1" dirty="0">
                <a:solidFill>
                  <a:srgbClr val="1A2744"/>
                </a:solidFill>
                <a:latin typeface="Calibri"/>
              </a:rPr>
              <a:t>複雑な系統網</a:t>
            </a:r>
          </a:p>
        </p:txBody>
      </p:sp>
      <p:sp>
        <p:nvSpPr>
          <p:cNvPr id="360" name="TB 360"/>
          <p:cNvSpPr txBox="1"/>
          <p:nvPr/>
        </p:nvSpPr>
        <p:spPr>
          <a:xfrm>
            <a:off x="2616200" y="2540000"/>
            <a:ext cx="711200" cy="2286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lang="ja-JP" sz="1400" dirty="0">
                <a:solidFill>
                  <a:srgbClr val="5B6470"/>
                </a:solidFill>
                <a:latin typeface="Calibri"/>
              </a:rPr>
              <a:t>等価化</a:t>
            </a:r>
          </a:p>
        </p:txBody>
      </p:sp>
      <p:sp>
        <p:nvSpPr>
          <p:cNvPr id="351" name="Dg 351"/>
          <p:cNvSpPr/>
          <p:nvPr/>
        </p:nvSpPr>
        <p:spPr>
          <a:xfrm>
            <a:off x="2667000" y="2844800"/>
            <a:ext cx="609600" cy="304800"/>
          </a:xfrm>
          <a:prstGeom prst="rightArrow">
            <a:avLst/>
          </a:prstGeom>
          <a:solidFill>
            <a:srgbClr val="8A2E3B"/>
          </a:solidFill>
          <a:ln>
            <a:noFill/>
          </a:ln>
        </p:spPr>
        <p:txBody>
          <a:bodyPr lIns="18000" tIns="0" rIns="18000" bIns="0" rtlCol="0" anchor="ctr"/>
          <a:lstStyle/>
          <a:p>
            <a:endParaRPr/>
          </a:p>
        </p:txBody>
      </p:sp>
      <p:sp>
        <p:nvSpPr>
          <p:cNvPr id="352" name="Dg 352"/>
          <p:cNvSpPr/>
          <p:nvPr/>
        </p:nvSpPr>
        <p:spPr>
          <a:xfrm>
            <a:off x="3505200" y="2743200"/>
            <a:ext cx="508000" cy="5080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A2744"/>
            </a:solidFill>
          </a:ln>
        </p:spPr>
        <p:txBody>
          <a:bodyPr lIns="18000" tIns="0" rIns="18000" bIns="0" rtlCol="0" anchor="ctr"/>
          <a:lstStyle/>
          <a:p>
            <a:pPr algn="ctr"/>
            <a:r>
              <a:rPr lang="ja-JP" sz="1800" b="1" dirty="0">
                <a:solidFill>
                  <a:srgbClr val="1A2744"/>
                </a:solidFill>
                <a:latin typeface="Calibri"/>
              </a:rPr>
              <a:t>~</a:t>
            </a:r>
          </a:p>
        </p:txBody>
      </p:sp>
      <p:sp>
        <p:nvSpPr>
          <p:cNvPr id="355" name="Dg 355"/>
          <p:cNvSpPr/>
          <p:nvPr/>
        </p:nvSpPr>
        <p:spPr>
          <a:xfrm>
            <a:off x="4013200" y="2984500"/>
            <a:ext cx="406400" cy="1905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txBody>
          <a:bodyPr lIns="18000" tIns="0" rIns="18000" bIns="0" rtlCol="0" anchor="ctr"/>
          <a:lstStyle/>
          <a:p>
            <a:endParaRPr/>
          </a:p>
        </p:txBody>
      </p:sp>
      <p:sp>
        <p:nvSpPr>
          <p:cNvPr id="353" name="Dg 353"/>
          <p:cNvSpPr/>
          <p:nvPr/>
        </p:nvSpPr>
        <p:spPr>
          <a:xfrm>
            <a:off x="4419600" y="2819400"/>
            <a:ext cx="914400" cy="33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A2744"/>
            </a:solidFill>
          </a:ln>
        </p:spPr>
        <p:txBody>
          <a:bodyPr lIns="18000" tIns="0" rIns="18000" bIns="0" rtlCol="0" anchor="ctr"/>
          <a:lstStyle/>
          <a:p>
            <a:pPr algn="ctr"/>
            <a:r>
              <a:rPr lang="ja-JP" sz="1400" b="1" dirty="0">
                <a:solidFill>
                  <a:srgbClr val="1A2744"/>
                </a:solidFill>
                <a:latin typeface="Calibri"/>
              </a:rPr>
              <a:t>Zth</a:t>
            </a:r>
          </a:p>
        </p:txBody>
      </p:sp>
      <p:sp>
        <p:nvSpPr>
          <p:cNvPr id="356" name="Dg 356"/>
          <p:cNvSpPr/>
          <p:nvPr/>
        </p:nvSpPr>
        <p:spPr>
          <a:xfrm>
            <a:off x="5334000" y="2984500"/>
            <a:ext cx="330200" cy="1905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txBody>
          <a:bodyPr lIns="18000" tIns="0" rIns="18000" bIns="0" rtlCol="0" anchor="ctr"/>
          <a:lstStyle/>
          <a:p>
            <a:endParaRPr/>
          </a:p>
        </p:txBody>
      </p:sp>
      <p:sp>
        <p:nvSpPr>
          <p:cNvPr id="354" name="Dg 354"/>
          <p:cNvSpPr/>
          <p:nvPr/>
        </p:nvSpPr>
        <p:spPr>
          <a:xfrm>
            <a:off x="5664200" y="2641600"/>
            <a:ext cx="63500" cy="71120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txBody>
          <a:bodyPr lIns="18000" tIns="0" rIns="18000" bIns="0" rtlCol="0" anchor="ctr"/>
          <a:lstStyle/>
          <a:p>
            <a:endParaRPr/>
          </a:p>
        </p:txBody>
      </p:sp>
      <p:sp>
        <p:nvSpPr>
          <p:cNvPr id="362" name="TB 362"/>
          <p:cNvSpPr txBox="1"/>
          <p:nvPr/>
        </p:nvSpPr>
        <p:spPr>
          <a:xfrm>
            <a:off x="3378200" y="3327400"/>
            <a:ext cx="762000" cy="2286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lang="ja-JP" sz="1400" dirty="0">
                <a:solidFill>
                  <a:srgbClr val="5B6470"/>
                </a:solidFill>
                <a:latin typeface="Calibri"/>
              </a:rPr>
              <a:t>Vth</a:t>
            </a:r>
          </a:p>
        </p:txBody>
      </p:sp>
      <p:sp>
        <p:nvSpPr>
          <p:cNvPr id="361" name="TB 361"/>
          <p:cNvSpPr txBox="1"/>
          <p:nvPr/>
        </p:nvSpPr>
        <p:spPr>
          <a:xfrm>
            <a:off x="5207000" y="3403600"/>
            <a:ext cx="990600" cy="2286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lang="ja-JP" sz="1400" dirty="0">
                <a:solidFill>
                  <a:srgbClr val="5B6470"/>
                </a:solidFill>
                <a:latin typeface="Calibri"/>
              </a:rPr>
              <a:t>バス i</a:t>
            </a:r>
          </a:p>
        </p:txBody>
      </p:sp>
      <p:sp>
        <p:nvSpPr>
          <p:cNvPr id="365" name="TB 365"/>
          <p:cNvSpPr txBox="1"/>
          <p:nvPr/>
        </p:nvSpPr>
        <p:spPr>
          <a:xfrm>
            <a:off x="546100" y="3708400"/>
            <a:ext cx="5969000" cy="2540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lang="ja-JP" sz="1400" dirty="0">
                <a:solidFill>
                  <a:srgbClr val="5B6470"/>
                </a:solidFill>
                <a:latin typeface="Calibri"/>
              </a:rPr>
              <a:t>どんな複雑な網も、バス i から見れば「1電源 + 1インピーダンス」</a:t>
            </a:r>
          </a:p>
        </p:txBody>
      </p:sp>
    </p:spTree>
    <p:extLst>
      <p:ext uri="{BB962C8B-B14F-4D97-AF65-F5344CB8AC3E}">
        <p14:creationId xmlns:p14="http://schemas.microsoft.com/office/powerpoint/2010/main" val="30912088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0">
            <a:scrgbClr r="0" g="0" b="0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0" name="Deco 300"/>
          <p:cNvSpPr/>
          <p:nvPr/>
        </p:nvSpPr>
        <p:spPr>
          <a:xfrm>
            <a:off x="546100" y="736600"/>
            <a:ext cx="11099800" cy="1143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" name="Deco 301"/>
          <p:cNvSpPr/>
          <p:nvPr/>
        </p:nvSpPr>
        <p:spPr>
          <a:xfrm>
            <a:off x="546100" y="711200"/>
            <a:ext cx="736600" cy="381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" name="Deco 302"/>
          <p:cNvSpPr/>
          <p:nvPr/>
        </p:nvSpPr>
        <p:spPr>
          <a:xfrm>
            <a:off x="546100" y="6172200"/>
            <a:ext cx="11099800" cy="1143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20" name="Deco 320"/>
          <p:cNvSpPr/>
          <p:nvPr/>
        </p:nvSpPr>
        <p:spPr>
          <a:xfrm>
            <a:off x="546100" y="3403600"/>
            <a:ext cx="5588000" cy="23876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21" name="Deco 321"/>
          <p:cNvSpPr/>
          <p:nvPr/>
        </p:nvSpPr>
        <p:spPr>
          <a:xfrm>
            <a:off x="546100" y="3403600"/>
            <a:ext cx="38100" cy="23876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30" name="Deco 330"/>
          <p:cNvSpPr/>
          <p:nvPr/>
        </p:nvSpPr>
        <p:spPr>
          <a:xfrm>
            <a:off x="546100" y="2489200"/>
            <a:ext cx="203200" cy="203200"/>
          </a:xfrm>
          <a:prstGeom prst="rect">
            <a:avLst/>
          </a:prstGeom>
          <a:solidFill>
            <a:srgbClr val="2E7D5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31" name="Deco 331"/>
          <p:cNvSpPr/>
          <p:nvPr/>
        </p:nvSpPr>
        <p:spPr>
          <a:xfrm>
            <a:off x="546100" y="2895600"/>
            <a:ext cx="203200" cy="203200"/>
          </a:xfrm>
          <a:prstGeom prst="rect">
            <a:avLst/>
          </a:prstGeom>
          <a:solidFill>
            <a:srgbClr val="E4572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6100" y="279400"/>
            <a:ext cx="11099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1300" b="1" spc="120" dirty="0">
                <a:solidFill>
                  <a:srgbClr val="8A2E3B"/>
                </a:solidFill>
                <a:latin typeface="Calibri"/>
              </a:rPr>
              <a:t>結果 I ｜ 系統強度ネットワーク図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6100" y="838200"/>
            <a:ext cx="5486400" cy="9790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lang="ja-JP" sz="2600" b="1" dirty="0">
                <a:solidFill>
                  <a:srgbClr val="1A2744"/>
                </a:solidFill>
                <a:latin typeface="Calibri"/>
              </a:rPr>
              <a:t>「コンセントの奥に、どれだけ</a:t>
            </a:r>
          </a:p>
          <a:p>
            <a:pPr algn="l">
              <a:lnSpc>
                <a:spcPct val="115000"/>
              </a:lnSpc>
            </a:pPr>
            <a:r>
              <a:rPr lang="ja-JP" sz="2600" b="1" dirty="0">
                <a:solidFill>
                  <a:srgbClr val="1A2744"/>
                </a:solidFill>
                <a:latin typeface="Calibri"/>
              </a:rPr>
              <a:t>発電機が控えているか」の地図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900" y="3683000"/>
            <a:ext cx="5029200" cy="15131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lnSpc>
                <a:spcPct val="135000"/>
              </a:lnSpc>
              <a:spcAft>
                <a:spcPts val="800"/>
              </a:spcAft>
              <a:buFont typeface="Arial"/>
              <a:buChar char="•"/>
            </a:pPr>
            <a:r>
              <a:rPr lang="ja-JP" sz="1500" dirty="0">
                <a:solidFill>
                  <a:srgbClr val="3D4657"/>
                </a:solidFill>
                <a:latin typeface="Calibri"/>
              </a:rPr>
              <a:t>Sscはバス量 → min(両端Ssc)で線に写像(全国18,769線分)</a:t>
            </a:r>
          </a:p>
          <a:p>
            <a:pPr marL="171450" indent="-171450" algn="l">
              <a:lnSpc>
                <a:spcPct val="135000"/>
              </a:lnSpc>
              <a:spcAft>
                <a:spcPts val="800"/>
              </a:spcAft>
              <a:buFont typeface="Arial"/>
              <a:buChar char="•"/>
            </a:pPr>
            <a:r>
              <a:rPr lang="ja-JP" sz="1500" dirty="0">
                <a:solidFill>
                  <a:srgbClr val="3D4657"/>
                </a:solidFill>
                <a:latin typeface="Calibri"/>
              </a:rPr>
              <a:t>基幹回廊が緑・放射状66kV末端が赤 — 直観と一致</a:t>
            </a:r>
          </a:p>
          <a:p>
            <a:pPr marL="171450" indent="-171450" algn="l">
              <a:lnSpc>
                <a:spcPct val="135000"/>
              </a:lnSpc>
              <a:spcAft>
                <a:spcPts val="800"/>
              </a:spcAft>
              <a:buFont typeface="Arial"/>
              <a:buChar char="•"/>
            </a:pPr>
            <a:r>
              <a:rPr lang="ja-JP" sz="1500" dirty="0">
                <a:solidFill>
                  <a:srgbClr val="3D4657"/>
                </a:solidFill>
                <a:latin typeface="Calibri"/>
              </a:rPr>
              <a:t>赤いエリア × 太陽光集中 = ホスティング容量とGFM配置の優先地図</a:t>
            </a:r>
          </a:p>
        </p:txBody>
      </p:sp>
      <p:pic>
        <p:nvPicPr>
          <p:cNvPr id="6" name="Picture 5" descr="fig_scr_network_slide.jpg"/>
          <p:cNvPicPr>
            <a:picLocks noChangeAspect="1"/>
          </p:cNvPicPr>
          <p:nvPr/>
        </p:nvPicPr>
        <p:blipFill>
          <a:blip r:embed="rId2"/>
          <a:srcRect l="25000" t="5000" r="14000" b="7000"/>
          <a:stretch>
            <a:fillRect/>
          </a:stretch>
        </p:blipFill>
        <p:spPr>
          <a:xfrm>
            <a:off x="7657209" y="584200"/>
            <a:ext cx="3202182" cy="5232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6100" y="6273800"/>
            <a:ext cx="110998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1100" dirty="0">
                <a:solidFill>
                  <a:srgbClr val="5B6470"/>
                </a:solidFill>
                <a:latin typeface="Calibri"/>
              </a:rPr>
              <a:t>06 / 15   非物理値(119GVA)は単位表記バグを検算で発見 → v5.0.1で修正</a:t>
            </a:r>
          </a:p>
        </p:txBody>
      </p:sp>
      <p:sp>
        <p:nvSpPr>
          <p:cNvPr id="340" name="TB 340"/>
          <p:cNvSpPr txBox="1"/>
          <p:nvPr/>
        </p:nvSpPr>
        <p:spPr>
          <a:xfrm>
            <a:off x="863600" y="2463800"/>
            <a:ext cx="5080000" cy="2540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lang="ja-JP" sz="1400" dirty="0">
                <a:solidFill>
                  <a:srgbClr val="3D4657"/>
                </a:solidFill>
                <a:latin typeface="Calibri"/>
              </a:rPr>
              <a:t>緑 = 硬い系統(Sscが大きい)</a:t>
            </a:r>
          </a:p>
        </p:txBody>
      </p:sp>
      <p:sp>
        <p:nvSpPr>
          <p:cNvPr id="341" name="TB 341"/>
          <p:cNvSpPr txBox="1"/>
          <p:nvPr/>
        </p:nvSpPr>
        <p:spPr>
          <a:xfrm>
            <a:off x="863600" y="2870200"/>
            <a:ext cx="5080000" cy="2540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lang="ja-JP" sz="1400" dirty="0">
                <a:solidFill>
                  <a:srgbClr val="3D4657"/>
                </a:solidFill>
                <a:latin typeface="Calibri"/>
              </a:rPr>
              <a:t>赤 = 柔らかい系統(Sscが小さい)</a:t>
            </a:r>
          </a:p>
        </p:txBody>
      </p:sp>
      <p:sp>
        <p:nvSpPr>
          <p:cNvPr id="342" name="TB 342"/>
          <p:cNvSpPr txBox="1"/>
          <p:nvPr/>
        </p:nvSpPr>
        <p:spPr>
          <a:xfrm>
            <a:off x="546100" y="2133600"/>
            <a:ext cx="5486400" cy="2540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lang="ja-JP" sz="1400" dirty="0">
                <a:solidFill>
                  <a:srgbClr val="5B6470"/>
                </a:solidFill>
                <a:latin typeface="Calibri"/>
              </a:rPr>
              <a:t>凡例</a:t>
            </a:r>
          </a:p>
        </p:txBody>
      </p:sp>
      <p:sp>
        <p:nvSpPr>
          <p:cNvPr id="343" name="TB 343"/>
          <p:cNvSpPr txBox="1"/>
          <p:nvPr/>
        </p:nvSpPr>
        <p:spPr>
          <a:xfrm>
            <a:off x="6324600" y="5892800"/>
            <a:ext cx="5867400" cy="2540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lang="ja-JP" sz="1400" dirty="0">
                <a:solidFill>
                  <a:srgbClr val="5B6470"/>
                </a:solidFill>
                <a:latin typeface="Calibri"/>
              </a:rPr>
              <a:t>全国18,769線分の系統強度マップ(min(両端Ssc)で着色)</a:t>
            </a:r>
          </a:p>
        </p:txBody>
      </p:sp>
    </p:spTree>
    <p:extLst>
      <p:ext uri="{BB962C8B-B14F-4D97-AF65-F5344CB8AC3E}">
        <p14:creationId xmlns:p14="http://schemas.microsoft.com/office/powerpoint/2010/main" val="25670405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0" name="Dg 300"/>
          <p:cNvSpPr/>
          <p:nvPr/>
        </p:nvSpPr>
        <p:spPr>
          <a:xfrm>
            <a:off x="546100" y="736600"/>
            <a:ext cx="11099800" cy="1143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 lIns="0" tIns="0" rIns="0" bIns="0" rtlCol="0" anchor="ctr"/>
          <a:lstStyle/>
          <a:p>
            <a:endParaRPr/>
          </a:p>
        </p:txBody>
      </p:sp>
      <p:sp>
        <p:nvSpPr>
          <p:cNvPr id="301" name="Dg 301"/>
          <p:cNvSpPr/>
          <p:nvPr/>
        </p:nvSpPr>
        <p:spPr>
          <a:xfrm>
            <a:off x="546100" y="711200"/>
            <a:ext cx="736600" cy="381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 lIns="0" tIns="0" rIns="0" bIns="0" rtlCol="0" anchor="ctr"/>
          <a:lstStyle/>
          <a:p>
            <a:endParaRPr/>
          </a:p>
        </p:txBody>
      </p:sp>
      <p:sp>
        <p:nvSpPr>
          <p:cNvPr id="302" name="Dg 302"/>
          <p:cNvSpPr/>
          <p:nvPr/>
        </p:nvSpPr>
        <p:spPr>
          <a:xfrm>
            <a:off x="546100" y="6172200"/>
            <a:ext cx="11099800" cy="1143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 lIns="0" tIns="0" rIns="0" bIns="0" rtlCol="0" anchor="ctr"/>
          <a:lstStyle/>
          <a:p>
            <a:endParaRPr/>
          </a:p>
        </p:txBody>
      </p:sp>
      <p:sp>
        <p:nvSpPr>
          <p:cNvPr id="320" name="Dg 320"/>
          <p:cNvSpPr/>
          <p:nvPr/>
        </p:nvSpPr>
        <p:spPr>
          <a:xfrm>
            <a:off x="546100" y="1574800"/>
            <a:ext cx="5969000" cy="16002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txBody>
          <a:bodyPr lIns="0" tIns="0" rIns="0" bIns="0" rtlCol="0" anchor="ctr"/>
          <a:lstStyle/>
          <a:p>
            <a:endParaRPr/>
          </a:p>
        </p:txBody>
      </p:sp>
      <p:sp>
        <p:nvSpPr>
          <p:cNvPr id="321" name="Dg 321"/>
          <p:cNvSpPr/>
          <p:nvPr/>
        </p:nvSpPr>
        <p:spPr>
          <a:xfrm>
            <a:off x="546100" y="1574800"/>
            <a:ext cx="38100" cy="16002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 lIns="0" tIns="0" rIns="0" bIns="0" rtlCol="0" anchor="ctr"/>
          <a:lstStyle/>
          <a:p>
            <a:endParaRPr/>
          </a:p>
        </p:txBody>
      </p:sp>
      <p:sp>
        <p:nvSpPr>
          <p:cNvPr id="322" name="Dg 322"/>
          <p:cNvSpPr/>
          <p:nvPr/>
        </p:nvSpPr>
        <p:spPr>
          <a:xfrm>
            <a:off x="546100" y="3327400"/>
            <a:ext cx="5969000" cy="14986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txBody>
          <a:bodyPr lIns="0" tIns="0" rIns="0" bIns="0" rtlCol="0" anchor="ctr"/>
          <a:lstStyle/>
          <a:p>
            <a:endParaRPr/>
          </a:p>
        </p:txBody>
      </p:sp>
      <p:sp>
        <p:nvSpPr>
          <p:cNvPr id="323" name="Dg 323"/>
          <p:cNvSpPr/>
          <p:nvPr/>
        </p:nvSpPr>
        <p:spPr>
          <a:xfrm>
            <a:off x="546100" y="3327400"/>
            <a:ext cx="38100" cy="14986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 lIns="0" tIns="0" rIns="0" bIns="0" rtlCol="0" anchor="ctr"/>
          <a:lstStyle/>
          <a:p>
            <a:endParaRPr/>
          </a:p>
        </p:txBody>
      </p:sp>
      <p:sp>
        <p:nvSpPr>
          <p:cNvPr id="324" name="Dg 324"/>
          <p:cNvSpPr/>
          <p:nvPr/>
        </p:nvSpPr>
        <p:spPr>
          <a:xfrm>
            <a:off x="6680200" y="1574800"/>
            <a:ext cx="4965700" cy="22352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txBody>
          <a:bodyPr lIns="0" tIns="0" rIns="0" bIns="0" rtlCol="0" anchor="ctr"/>
          <a:lstStyle/>
          <a:p>
            <a:endParaRPr/>
          </a:p>
        </p:txBody>
      </p:sp>
      <p:sp>
        <p:nvSpPr>
          <p:cNvPr id="325" name="Dg 325"/>
          <p:cNvSpPr/>
          <p:nvPr/>
        </p:nvSpPr>
        <p:spPr>
          <a:xfrm>
            <a:off x="6680200" y="1574800"/>
            <a:ext cx="38100" cy="22352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 lIns="0" tIns="0" rIns="0" bIns="0" rtlCol="0" anchor="ctr"/>
          <a:lstStyle/>
          <a:p>
            <a:endParaRPr/>
          </a:p>
        </p:txBody>
      </p:sp>
      <p:sp>
        <p:nvSpPr>
          <p:cNvPr id="326" name="Dg 326"/>
          <p:cNvSpPr/>
          <p:nvPr/>
        </p:nvSpPr>
        <p:spPr>
          <a:xfrm>
            <a:off x="6680200" y="3962400"/>
            <a:ext cx="4965700" cy="20066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txBody>
          <a:bodyPr lIns="0" tIns="0" rIns="0" bIns="0" rtlCol="0" anchor="ctr"/>
          <a:lstStyle/>
          <a:p>
            <a:endParaRPr/>
          </a:p>
        </p:txBody>
      </p:sp>
      <p:sp>
        <p:nvSpPr>
          <p:cNvPr id="327" name="Dg 327"/>
          <p:cNvSpPr/>
          <p:nvPr/>
        </p:nvSpPr>
        <p:spPr>
          <a:xfrm>
            <a:off x="6680200" y="3962400"/>
            <a:ext cx="4965700" cy="381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 lIns="0" tIns="0" rIns="0" bIns="0"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6100" y="279400"/>
            <a:ext cx="11099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1300" b="1" spc="120" dirty="0">
                <a:solidFill>
                  <a:srgbClr val="8A2E3B"/>
                </a:solidFill>
                <a:latin typeface="Calibri"/>
              </a:rPr>
              <a:t>原理 II ｜ 系統の揺れ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6100" y="838200"/>
            <a:ext cx="110998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2800" b="1" dirty="0">
                <a:solidFill>
                  <a:srgbClr val="1A2744"/>
                </a:solidFill>
                <a:latin typeface="Calibri"/>
              </a:rPr>
              <a:t>発電機は振り子、送電網はバネ — 動揺方程式</a:t>
            </a:r>
          </a:p>
        </p:txBody>
      </p:sp>
      <p:sp>
        <p:nvSpPr>
          <p:cNvPr id="5" name="Rectangle 4"/>
          <p:cNvSpPr/>
          <p:nvPr/>
        </p:nvSpPr>
        <p:spPr>
          <a:xfrm>
            <a:off x="546100" y="1574800"/>
            <a:ext cx="5969000" cy="1600200"/>
          </a:xfrm>
          <a:ln/>
          <a:effectLst/>
        </p:spPr>
        <p:style>
          <a:lnRef idx="1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52400" rIns="152400" bIns="152400" rtlCol="0" anchor="ctr"/>
          <a:lstStyle/>
          <a:p>
            <a:pPr algn="l">
              <a:spcAft>
                <a:spcPts val="300"/>
              </a:spcAft>
            </a:pPr>
            <a:r>
              <a:rPr lang="en-US" sz="1800" dirty="0">
                <a:solidFill>
                  <a:srgbClr val="1A2744"/>
                </a:solidFill>
                <a:latin typeface="Cambria Math"/>
              </a:rPr>
              <a:t>(2Hi/ωs)·d²δi/dt² = Pm,i − Pe,i(δ)</a:t>
            </a:r>
          </a:p>
          <a:p>
            <a:pPr algn="l">
              <a:spcAft>
                <a:spcPts val="300"/>
              </a:spcAft>
            </a:pPr>
            <a:r>
              <a:rPr lang="en-US" sz="1700" dirty="0">
                <a:solidFill>
                  <a:srgbClr val="1A2744"/>
                </a:solidFill>
                <a:latin typeface="Cambria Math"/>
              </a:rPr>
              <a:t>Pe,i = Ei Σj Ej ( Gij cos δij + Bij sin δij )</a:t>
            </a:r>
          </a:p>
          <a:p>
            <a:pPr algn="l">
              <a:lnSpc>
                <a:spcPct val="135000"/>
              </a:lnSpc>
              <a:spcBef>
                <a:spcPts val="500"/>
              </a:spcBef>
            </a:pPr>
            <a:r>
              <a:rPr lang="ja-JP" sz="1400" dirty="0">
                <a:solidFill>
                  <a:srgbClr val="5B6470"/>
                </a:solidFill>
                <a:latin typeface="Calibri"/>
              </a:rPr>
              <a:t>δ=回転子角・H=慣性定数[s]。G,BはYを発電機内部ノードへ縮約(Schur縮約)。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6100" y="3327400"/>
            <a:ext cx="5969000" cy="1498600"/>
          </a:xfrm>
          <a:ln/>
          <a:effectLst/>
        </p:spPr>
        <p:style>
          <a:lnRef idx="1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52400" rIns="152400" bIns="152400" rtlCol="0" anchor="ctr"/>
          <a:lstStyle/>
          <a:p>
            <a:pPr algn="l">
              <a:spcAft>
                <a:spcPts val="300"/>
              </a:spcAft>
            </a:pPr>
            <a:r>
              <a:rPr lang="en-US" sz="1800" dirty="0">
                <a:solidFill>
                  <a:srgbClr val="1A2744"/>
                </a:solidFill>
                <a:latin typeface="Cambria Math"/>
              </a:rPr>
              <a:t>M Δδ̈ = − K Δδ ,   Kij = ∂Pe,i/∂δj</a:t>
            </a:r>
          </a:p>
          <a:p>
            <a:pPr algn="l">
              <a:spcAft>
                <a:spcPts val="300"/>
              </a:spcAft>
            </a:pPr>
            <a:r>
              <a:rPr lang="en-US" sz="1800" dirty="0">
                <a:solidFill>
                  <a:srgbClr val="1A2744"/>
                </a:solidFill>
                <a:latin typeface="Cambria Math"/>
              </a:rPr>
              <a:t>M⁻¹K の固有値 λk  →  fk = √λk / 2π</a:t>
            </a:r>
          </a:p>
          <a:p>
            <a:pPr algn="l">
              <a:lnSpc>
                <a:spcPct val="135000"/>
              </a:lnSpc>
              <a:spcBef>
                <a:spcPts val="500"/>
              </a:spcBef>
            </a:pPr>
            <a:r>
              <a:rPr lang="ja-JP" sz="1400" dirty="0">
                <a:solidFill>
                  <a:srgbClr val="5B6470"/>
                </a:solidFill>
                <a:latin typeface="Calibri"/>
              </a:rPr>
              <a:t>K=同期化トルク・固有ベクトル=モード形(揺れの向き)。運転点は収束ACの E∠δ。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680200" y="1574800"/>
            <a:ext cx="4965700" cy="2235200"/>
          </a:xfrm>
          <a:ln/>
          <a:effectLst/>
        </p:spPr>
        <p:style>
          <a:lnRef idx="1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52400" rIns="152400" bIns="152400" rtlCol="0" anchor="ctr"/>
          <a:lstStyle/>
          <a:p>
            <a:pPr algn="l">
              <a:spcAft>
                <a:spcPts val="300"/>
              </a:spcAft>
            </a:pPr>
            <a:r>
              <a:rPr lang="en-US" sz="1600" dirty="0">
                <a:solidFill>
                  <a:srgbClr val="1A2744"/>
                </a:solidFill>
                <a:latin typeface="Cambria Math"/>
              </a:rPr>
              <a:t>Hagg = Σ Hi Si / Σ Si ,   1/x″agg = Σ 1/x″i</a:t>
            </a:r>
          </a:p>
          <a:p>
            <a:pPr algn="l">
              <a:spcAft>
                <a:spcPts val="300"/>
              </a:spcAft>
            </a:pPr>
            <a:r>
              <a:rPr lang="en-US" sz="1800" dirty="0">
                <a:solidFill>
                  <a:srgbClr val="1A2744"/>
                </a:solidFill>
                <a:latin typeface="Cambria Math"/>
              </a:rPr>
              <a:t>E∠δ = V + j x″d · I</a:t>
            </a:r>
          </a:p>
          <a:p>
            <a:pPr algn="l">
              <a:lnSpc>
                <a:spcPct val="135000"/>
              </a:lnSpc>
              <a:spcBef>
                <a:spcPts val="500"/>
              </a:spcBef>
            </a:pPr>
            <a:r>
              <a:rPr lang="ja-JP" sz="1400" dirty="0">
                <a:solidFill>
                  <a:srgbClr val="5B6470"/>
                </a:solidFill>
                <a:latin typeface="Calibri"/>
              </a:rPr>
              <a:t>機械集約(容量加重H・xd″並列合成)がFIT極小機の慣性アーティファクト(11〜2,284Hzの非物理)を根治し、0.4Hz帯が現れた。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34200" y="4749800"/>
            <a:ext cx="4457700" cy="950838"/>
          </a:xfrm>
          <a:prstGeom prst="rect">
            <a:avLst/>
          </a:prstGeom>
          <a:solidFill>
            <a:srgbClr val="F4F6FA"/>
          </a:solidFill>
        </p:spPr>
        <p:txBody>
          <a:bodyPr wrap="square" lIns="0" tIns="0" rIns="0" bIns="0" anchor="t">
            <a:spAutoFit/>
          </a:bodyPr>
          <a:lstStyle/>
          <a:p>
            <a:pPr marL="171450" indent="-171450" algn="l">
              <a:lnSpc>
                <a:spcPct val="135000"/>
              </a:lnSpc>
              <a:spcAft>
                <a:spcPts val="600"/>
              </a:spcAft>
              <a:buFont typeface="Arial"/>
              <a:buChar char="•"/>
            </a:pPr>
            <a:r>
              <a:rPr lang="ja-JP" sz="1450" dirty="0">
                <a:solidFill>
                  <a:srgbClr val="3D4657"/>
                </a:solidFill>
                <a:latin typeface="Calibri"/>
              </a:rPr>
              <a:t>インバータ(IBR)は慣性を持たない → 動揺方程式から分離(west 24GVA / 8,026機)</a:t>
            </a:r>
          </a:p>
          <a:p>
            <a:pPr marL="171450" indent="-171450" algn="l">
              <a:lnSpc>
                <a:spcPct val="135000"/>
              </a:lnSpc>
              <a:spcAft>
                <a:spcPts val="600"/>
              </a:spcAft>
              <a:buFont typeface="Arial"/>
              <a:buChar char="•"/>
            </a:pPr>
            <a:r>
              <a:rPr lang="ja-JP" sz="1450" dirty="0">
                <a:solidFill>
                  <a:srgbClr val="3D4657"/>
                </a:solidFill>
                <a:latin typeface="Calibri"/>
              </a:rPr>
              <a:t>定数 H, xd″ は型式別の典型値(IEEJ/教科書帯)と明示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6100" y="6273800"/>
            <a:ext cx="110998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1100" dirty="0">
                <a:solidFill>
                  <a:srgbClr val="5B6470"/>
                </a:solidFill>
                <a:latin typeface="Calibri"/>
              </a:rPr>
              <a:t>07 / 15   src/dynamics/machine_agg.py</a:t>
            </a:r>
          </a:p>
        </p:txBody>
      </p:sp>
      <p:sp>
        <p:nvSpPr>
          <p:cNvPr id="340" name="TB 340"/>
          <p:cNvSpPr txBox="1"/>
          <p:nvPr/>
        </p:nvSpPr>
        <p:spPr>
          <a:xfrm>
            <a:off x="6934200" y="4241800"/>
            <a:ext cx="4457700" cy="3048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lang="ja-JP" sz="1600" dirty="0">
                <a:solidFill>
                  <a:srgbClr val="1A2744"/>
                </a:solidFill>
                <a:latin typeface="Calibri"/>
              </a:rPr>
              <a:t>前提と限界</a:t>
            </a:r>
          </a:p>
        </p:txBody>
      </p:sp>
      <p:sp>
        <p:nvSpPr>
          <p:cNvPr id="350" name="TB 350"/>
          <p:cNvSpPr txBox="1"/>
          <p:nvPr/>
        </p:nvSpPr>
        <p:spPr>
          <a:xfrm>
            <a:off x="1854200" y="5003800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lang="ja-JP" sz="1400" dirty="0">
                <a:solidFill>
                  <a:srgbClr val="8A2E3B"/>
                </a:solidFill>
                <a:latin typeface="Cambria Math"/>
              </a:rPr>
              <a:t>K = ∂Pe/∂δ</a:t>
            </a:r>
          </a:p>
        </p:txBody>
      </p:sp>
      <p:sp>
        <p:nvSpPr>
          <p:cNvPr id="351" name="Dg 351"/>
          <p:cNvSpPr/>
          <p:nvPr/>
        </p:nvSpPr>
        <p:spPr>
          <a:xfrm>
            <a:off x="1270000" y="5257800"/>
            <a:ext cx="609600" cy="45720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r>
              <a:rPr lang="ja-JP" sz="1400" b="1" dirty="0">
                <a:solidFill>
                  <a:srgbClr val="FFFFFF"/>
                </a:solidFill>
                <a:latin typeface="Calibri"/>
              </a:rPr>
              <a:t>G1</a:t>
            </a:r>
          </a:p>
        </p:txBody>
      </p:sp>
      <p:sp>
        <p:nvSpPr>
          <p:cNvPr id="352" name="Dg 352"/>
          <p:cNvSpPr/>
          <p:nvPr/>
        </p:nvSpPr>
        <p:spPr>
          <a:xfrm>
            <a:off x="4114800" y="5257800"/>
            <a:ext cx="609600" cy="45720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r>
              <a:rPr lang="ja-JP" sz="1400" b="1" dirty="0">
                <a:solidFill>
                  <a:srgbClr val="FFFFFF"/>
                </a:solidFill>
                <a:latin typeface="Calibri"/>
              </a:rPr>
              <a:t>G2</a:t>
            </a:r>
          </a:p>
        </p:txBody>
      </p:sp>
      <p:sp>
        <p:nvSpPr>
          <p:cNvPr id="353" name="Dg 353"/>
          <p:cNvSpPr/>
          <p:nvPr/>
        </p:nvSpPr>
        <p:spPr>
          <a:xfrm>
            <a:off x="1879600" y="5473700"/>
            <a:ext cx="2235200" cy="25400"/>
          </a:xfrm>
          <a:prstGeom prst="rect">
            <a:avLst/>
          </a:prstGeom>
          <a:solidFill>
            <a:srgbClr val="5B6470"/>
          </a:solidFill>
          <a:ln>
            <a:noFill/>
          </a:ln>
        </p:spPr>
        <p:txBody>
          <a:bodyPr lIns="0" tIns="0" rIns="0" bIns="0" rtlCol="0" anchor="ctr"/>
          <a:lstStyle/>
          <a:p>
            <a:endParaRPr/>
          </a:p>
        </p:txBody>
      </p:sp>
      <p:sp>
        <p:nvSpPr>
          <p:cNvPr id="354" name="Dg 354"/>
          <p:cNvSpPr/>
          <p:nvPr/>
        </p:nvSpPr>
        <p:spPr>
          <a:xfrm>
            <a:off x="762000" y="5359400"/>
            <a:ext cx="406400" cy="254000"/>
          </a:xfrm>
          <a:prstGeom prst="leftArrow">
            <a:avLst/>
          </a:prstGeom>
          <a:solidFill>
            <a:srgbClr val="8A2E3B"/>
          </a:solidFill>
          <a:ln>
            <a:noFill/>
          </a:ln>
        </p:spPr>
        <p:txBody>
          <a:bodyPr lIns="0" tIns="0" rIns="0" bIns="0" rtlCol="0" anchor="ctr"/>
          <a:lstStyle/>
          <a:p>
            <a:endParaRPr/>
          </a:p>
        </p:txBody>
      </p:sp>
      <p:sp>
        <p:nvSpPr>
          <p:cNvPr id="355" name="Dg 355"/>
          <p:cNvSpPr/>
          <p:nvPr/>
        </p:nvSpPr>
        <p:spPr>
          <a:xfrm>
            <a:off x="4826000" y="5359400"/>
            <a:ext cx="406400" cy="254000"/>
          </a:xfrm>
          <a:prstGeom prst="rightArrow">
            <a:avLst/>
          </a:prstGeom>
          <a:solidFill>
            <a:srgbClr val="8A2E3B"/>
          </a:solidFill>
          <a:ln>
            <a:noFill/>
          </a:ln>
        </p:spPr>
        <p:txBody>
          <a:bodyPr lIns="0" tIns="0" rIns="0" bIns="0" rtlCol="0" anchor="ctr"/>
          <a:lstStyle/>
          <a:p>
            <a:endParaRPr/>
          </a:p>
        </p:txBody>
      </p:sp>
      <p:sp>
        <p:nvSpPr>
          <p:cNvPr id="356" name="TB 356"/>
          <p:cNvSpPr txBox="1"/>
          <p:nvPr/>
        </p:nvSpPr>
        <p:spPr>
          <a:xfrm>
            <a:off x="546100" y="5816600"/>
            <a:ext cx="5969000" cy="2540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lang="ja-JP" sz="1400" dirty="0">
                <a:solidFill>
                  <a:srgbClr val="5B6470"/>
                </a:solidFill>
                <a:latin typeface="Calibri"/>
              </a:rPr>
              <a:t>バネ–質点系と同型 — 揺れの周波数は固有値から決まる</a:t>
            </a:r>
          </a:p>
        </p:txBody>
      </p:sp>
    </p:spTree>
    <p:extLst>
      <p:ext uri="{BB962C8B-B14F-4D97-AF65-F5344CB8AC3E}">
        <p14:creationId xmlns:p14="http://schemas.microsoft.com/office/powerpoint/2010/main" val="34804335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0" name="Dg 300"/>
          <p:cNvSpPr/>
          <p:nvPr/>
        </p:nvSpPr>
        <p:spPr>
          <a:xfrm>
            <a:off x="546100" y="736600"/>
            <a:ext cx="11099800" cy="1143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" name="Dg 301"/>
          <p:cNvSpPr/>
          <p:nvPr/>
        </p:nvSpPr>
        <p:spPr>
          <a:xfrm>
            <a:off x="546100" y="711200"/>
            <a:ext cx="736600" cy="381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" name="Dg 302"/>
          <p:cNvSpPr/>
          <p:nvPr/>
        </p:nvSpPr>
        <p:spPr>
          <a:xfrm>
            <a:off x="546100" y="6172200"/>
            <a:ext cx="11099800" cy="1143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0" name="Dg 310"/>
          <p:cNvSpPr/>
          <p:nvPr/>
        </p:nvSpPr>
        <p:spPr>
          <a:xfrm>
            <a:off x="546100" y="1524000"/>
            <a:ext cx="2628900" cy="9398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1" name="Dg 311"/>
          <p:cNvSpPr/>
          <p:nvPr/>
        </p:nvSpPr>
        <p:spPr>
          <a:xfrm>
            <a:off x="546100" y="1524000"/>
            <a:ext cx="2628900" cy="381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2" name="Dg 312"/>
          <p:cNvSpPr/>
          <p:nvPr/>
        </p:nvSpPr>
        <p:spPr>
          <a:xfrm>
            <a:off x="3251200" y="1524000"/>
            <a:ext cx="2628900" cy="9398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3" name="Dg 313"/>
          <p:cNvSpPr/>
          <p:nvPr/>
        </p:nvSpPr>
        <p:spPr>
          <a:xfrm>
            <a:off x="3251200" y="1524000"/>
            <a:ext cx="2628900" cy="381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20" name="Dg 320"/>
          <p:cNvSpPr/>
          <p:nvPr/>
        </p:nvSpPr>
        <p:spPr>
          <a:xfrm>
            <a:off x="546100" y="2717800"/>
            <a:ext cx="5334000" cy="25146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21" name="Dg 321"/>
          <p:cNvSpPr/>
          <p:nvPr/>
        </p:nvSpPr>
        <p:spPr>
          <a:xfrm>
            <a:off x="546100" y="2717800"/>
            <a:ext cx="38100" cy="25146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6100" y="279400"/>
            <a:ext cx="11099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1300" b="1" spc="120" dirty="0">
                <a:solidFill>
                  <a:srgbClr val="8A2E3B"/>
                </a:solidFill>
                <a:latin typeface="Calibri"/>
              </a:rPr>
              <a:t>結果 II ｜ 長軸振動の地理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6100" y="812800"/>
            <a:ext cx="55880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2800" b="1" dirty="0">
                <a:solidFill>
                  <a:srgbClr val="1A2744"/>
                </a:solidFill>
                <a:latin typeface="Calibri"/>
              </a:rPr>
              <a:t>九州と関西は、シーソーしている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900" y="2997200"/>
            <a:ext cx="4724400" cy="17872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1450" indent="-171450" algn="l">
              <a:lnSpc>
                <a:spcPct val="140000"/>
              </a:lnSpc>
              <a:spcAft>
                <a:spcPts val="800"/>
              </a:spcAft>
              <a:buFont typeface="Arial"/>
              <a:buChar char="•"/>
            </a:pPr>
            <a:r>
              <a:rPr lang="ja-JP" sz="1500" dirty="0">
                <a:solidFill>
                  <a:srgbClr val="3D4657"/>
                </a:solidFill>
                <a:latin typeface="Calibri"/>
              </a:rPr>
              <a:t>最低モードの固有ベクトルを地図に置くと、青群と赤群が逆位相で揺れ合う構造が現れる</a:t>
            </a:r>
          </a:p>
          <a:p>
            <a:pPr marL="171450" indent="-171450" algn="l">
              <a:lnSpc>
                <a:spcPct val="140000"/>
              </a:lnSpc>
              <a:spcAft>
                <a:spcPts val="800"/>
              </a:spcAft>
              <a:buFont typeface="Arial"/>
              <a:buChar char="•"/>
            </a:pPr>
            <a:r>
              <a:rPr lang="ja-JP" sz="1500" dirty="0">
                <a:solidFill>
                  <a:srgbClr val="3D4657"/>
                </a:solidFill>
                <a:latin typeface="Calibri"/>
              </a:rPr>
              <a:t>モード形の大きい機に制動(PSS/GFM)を置くのが定石</a:t>
            </a:r>
          </a:p>
          <a:p>
            <a:pPr marL="171450" indent="-171450" algn="l">
              <a:lnSpc>
                <a:spcPct val="140000"/>
              </a:lnSpc>
              <a:spcAft>
                <a:spcPts val="800"/>
              </a:spcAft>
              <a:buFont typeface="Arial"/>
              <a:buChar char="•"/>
            </a:pPr>
            <a:r>
              <a:rPr lang="ja-JP" sz="1500" dirty="0">
                <a:solidFill>
                  <a:srgbClr val="3D4657"/>
                </a:solidFill>
                <a:latin typeface="Calibri"/>
              </a:rPr>
              <a:t>この振動の減衰が連系線の運用限界を決める(1996 米WSCC大停電)</a:t>
            </a:r>
          </a:p>
        </p:txBody>
      </p:sp>
      <p:pic>
        <p:nvPicPr>
          <p:cNvPr id="6" name="Picture 5" descr="fig_swing_map_slide.jpg"/>
          <p:cNvPicPr>
            <a:picLocks noChangeAspect="1"/>
          </p:cNvPicPr>
          <p:nvPr/>
        </p:nvPicPr>
        <p:blipFill>
          <a:blip r:embed="rId2"/>
          <a:srcRect l="22000" t="5000" r="16000" b="7000"/>
          <a:stretch>
            <a:fillRect/>
          </a:stretch>
        </p:blipFill>
        <p:spPr>
          <a:xfrm>
            <a:off x="7315438" y="558800"/>
            <a:ext cx="3631725" cy="5257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6100" y="6273800"/>
            <a:ext cx="110998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1100" dirty="0">
                <a:solidFill>
                  <a:srgbClr val="5B6470"/>
                </a:solidFill>
                <a:latin typeface="Calibri"/>
              </a:rPr>
              <a:t>08 / 15   gen_swing_map.py — 運転点は本番前処理フルセット(介入#19/#20/#24/#26既定込み)</a:t>
            </a:r>
          </a:p>
        </p:txBody>
      </p:sp>
      <p:sp>
        <p:nvSpPr>
          <p:cNvPr id="330" name="TB 330"/>
          <p:cNvSpPr txBox="1"/>
          <p:nvPr/>
        </p:nvSpPr>
        <p:spPr>
          <a:xfrm>
            <a:off x="800100" y="1701800"/>
            <a:ext cx="2120900" cy="3302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lang="en-US" sz="2000" b="1" dirty="0">
                <a:solidFill>
                  <a:srgbClr val="1A2744"/>
                </a:solidFill>
                <a:latin typeface="Cambria Math"/>
              </a:rPr>
              <a:t>0.434 Hz</a:t>
            </a:r>
          </a:p>
        </p:txBody>
      </p:sp>
      <p:sp>
        <p:nvSpPr>
          <p:cNvPr id="331" name="TB 331"/>
          <p:cNvSpPr txBox="1"/>
          <p:nvPr/>
        </p:nvSpPr>
        <p:spPr>
          <a:xfrm>
            <a:off x="800100" y="2082800"/>
            <a:ext cx="2120900" cy="279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lnSpc>
                <a:spcPct val="125000"/>
              </a:lnSpc>
            </a:pPr>
            <a:r>
              <a:rPr lang="ja-JP" sz="1400" dirty="0">
                <a:solidFill>
                  <a:srgbClr val="5B6470"/>
                </a:solidFill>
                <a:latin typeface="Calibri"/>
              </a:rPr>
              <a:t>west — 九州 ⇔ 中部・関西</a:t>
            </a:r>
          </a:p>
        </p:txBody>
      </p:sp>
      <p:sp>
        <p:nvSpPr>
          <p:cNvPr id="332" name="TB 332"/>
          <p:cNvSpPr txBox="1"/>
          <p:nvPr/>
        </p:nvSpPr>
        <p:spPr>
          <a:xfrm>
            <a:off x="3505200" y="1701800"/>
            <a:ext cx="2120900" cy="3302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lang="en-US" sz="2000" b="1" dirty="0">
                <a:solidFill>
                  <a:srgbClr val="1A2744"/>
                </a:solidFill>
                <a:latin typeface="Cambria Math"/>
              </a:rPr>
              <a:t>0.592 Hz</a:t>
            </a:r>
          </a:p>
        </p:txBody>
      </p:sp>
      <p:sp>
        <p:nvSpPr>
          <p:cNvPr id="333" name="TB 333"/>
          <p:cNvSpPr txBox="1"/>
          <p:nvPr/>
        </p:nvSpPr>
        <p:spPr>
          <a:xfrm>
            <a:off x="3505200" y="2082800"/>
            <a:ext cx="2120900" cy="279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lnSpc>
                <a:spcPct val="125000"/>
              </a:lnSpc>
            </a:pPr>
            <a:r>
              <a:rPr lang="ja-JP" sz="1400" dirty="0">
                <a:solidFill>
                  <a:srgbClr val="5B6470"/>
                </a:solidFill>
                <a:latin typeface="Calibri"/>
              </a:rPr>
              <a:t>east — 東北 ⇔ 関東</a:t>
            </a:r>
          </a:p>
        </p:txBody>
      </p:sp>
      <p:sp>
        <p:nvSpPr>
          <p:cNvPr id="340" name="Dg 340"/>
          <p:cNvSpPr/>
          <p:nvPr/>
        </p:nvSpPr>
        <p:spPr>
          <a:xfrm>
            <a:off x="546100" y="5562600"/>
            <a:ext cx="203200" cy="203200"/>
          </a:xfrm>
          <a:prstGeom prst="rect">
            <a:avLst/>
          </a:prstGeom>
          <a:solidFill>
            <a:srgbClr val="4A7EB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41" name="TB 341"/>
          <p:cNvSpPr txBox="1"/>
          <p:nvPr/>
        </p:nvSpPr>
        <p:spPr>
          <a:xfrm>
            <a:off x="850900" y="5588000"/>
            <a:ext cx="1905000" cy="2540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lang="ja-JP" sz="1400" dirty="0">
                <a:solidFill>
                  <a:srgbClr val="3D4657"/>
                </a:solidFill>
                <a:latin typeface="Calibri"/>
              </a:rPr>
              <a:t>同位相グループ</a:t>
            </a:r>
          </a:p>
        </p:txBody>
      </p:sp>
      <p:sp>
        <p:nvSpPr>
          <p:cNvPr id="342" name="Dg 342"/>
          <p:cNvSpPr/>
          <p:nvPr/>
        </p:nvSpPr>
        <p:spPr>
          <a:xfrm>
            <a:off x="2946400" y="5562600"/>
            <a:ext cx="203200" cy="203200"/>
          </a:xfrm>
          <a:prstGeom prst="rect">
            <a:avLst/>
          </a:prstGeom>
          <a:solidFill>
            <a:srgbClr val="E08A5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43" name="TB 343"/>
          <p:cNvSpPr txBox="1"/>
          <p:nvPr/>
        </p:nvSpPr>
        <p:spPr>
          <a:xfrm>
            <a:off x="3251200" y="5588000"/>
            <a:ext cx="2286000" cy="2540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lang="ja-JP" sz="1400" dirty="0">
                <a:solidFill>
                  <a:srgbClr val="3D4657"/>
                </a:solidFill>
                <a:latin typeface="Calibri"/>
              </a:rPr>
              <a:t>逆位相グループ</a:t>
            </a:r>
          </a:p>
        </p:txBody>
      </p:sp>
      <p:sp>
        <p:nvSpPr>
          <p:cNvPr id="344" name="TB 344"/>
          <p:cNvSpPr txBox="1"/>
          <p:nvPr/>
        </p:nvSpPr>
        <p:spPr>
          <a:xfrm>
            <a:off x="546100" y="5892800"/>
            <a:ext cx="5334000" cy="2540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lang="ja-JP" sz="1400" dirty="0">
                <a:solidFill>
                  <a:srgbClr val="5B6470"/>
                </a:solidFill>
                <a:latin typeface="Calibri"/>
              </a:rPr>
              <a:t>色 = 最低モード固有ベクトルの符号・濃さ = 振幅</a:t>
            </a:r>
          </a:p>
        </p:txBody>
      </p:sp>
      <p:sp>
        <p:nvSpPr>
          <p:cNvPr id="350" name="TB 350"/>
          <p:cNvSpPr txBox="1"/>
          <p:nvPr/>
        </p:nvSpPr>
        <p:spPr>
          <a:xfrm>
            <a:off x="6070600" y="5892800"/>
            <a:ext cx="6121400" cy="2540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lang="ja-JP" sz="1400" dirty="0">
                <a:solidFill>
                  <a:srgbClr val="5B6470"/>
                </a:solidFill>
                <a:latin typeface="Calibri"/>
              </a:rPr>
              <a:t>west モード(0.434Hz)の固有ベクトルを全国地図に投影</a:t>
            </a:r>
          </a:p>
        </p:txBody>
      </p:sp>
    </p:spTree>
    <p:extLst>
      <p:ext uri="{BB962C8B-B14F-4D97-AF65-F5344CB8AC3E}">
        <p14:creationId xmlns:p14="http://schemas.microsoft.com/office/powerpoint/2010/main" val="9212422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0" name="Dg 300"/>
          <p:cNvSpPr/>
          <p:nvPr/>
        </p:nvSpPr>
        <p:spPr>
          <a:xfrm>
            <a:off x="546100" y="736600"/>
            <a:ext cx="11099800" cy="1143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" name="Dg 301"/>
          <p:cNvSpPr/>
          <p:nvPr/>
        </p:nvSpPr>
        <p:spPr>
          <a:xfrm>
            <a:off x="546100" y="711200"/>
            <a:ext cx="736600" cy="381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" name="Dg 302"/>
          <p:cNvSpPr/>
          <p:nvPr/>
        </p:nvSpPr>
        <p:spPr>
          <a:xfrm>
            <a:off x="546100" y="6172200"/>
            <a:ext cx="11099800" cy="1143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0" name="Dg 310"/>
          <p:cNvSpPr/>
          <p:nvPr/>
        </p:nvSpPr>
        <p:spPr>
          <a:xfrm>
            <a:off x="8382000" y="1422400"/>
            <a:ext cx="3263900" cy="23876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1" name="Dg 311"/>
          <p:cNvSpPr/>
          <p:nvPr/>
        </p:nvSpPr>
        <p:spPr>
          <a:xfrm>
            <a:off x="8382000" y="1422400"/>
            <a:ext cx="38100" cy="23876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2" name="Dg 312"/>
          <p:cNvSpPr/>
          <p:nvPr/>
        </p:nvSpPr>
        <p:spPr>
          <a:xfrm>
            <a:off x="8382000" y="3962400"/>
            <a:ext cx="3263900" cy="18542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3" name="Dg 313"/>
          <p:cNvSpPr/>
          <p:nvPr/>
        </p:nvSpPr>
        <p:spPr>
          <a:xfrm>
            <a:off x="8382000" y="3962400"/>
            <a:ext cx="3263900" cy="381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20" name="Dg 320"/>
          <p:cNvSpPr/>
          <p:nvPr/>
        </p:nvSpPr>
        <p:spPr>
          <a:xfrm>
            <a:off x="546100" y="5105400"/>
            <a:ext cx="2451100" cy="7112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21" name="Dg 321"/>
          <p:cNvSpPr/>
          <p:nvPr/>
        </p:nvSpPr>
        <p:spPr>
          <a:xfrm>
            <a:off x="546100" y="5105400"/>
            <a:ext cx="2451100" cy="381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22" name="Dg 322"/>
          <p:cNvSpPr/>
          <p:nvPr/>
        </p:nvSpPr>
        <p:spPr>
          <a:xfrm>
            <a:off x="3124200" y="5105400"/>
            <a:ext cx="2451100" cy="7112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23" name="Dg 323"/>
          <p:cNvSpPr/>
          <p:nvPr/>
        </p:nvSpPr>
        <p:spPr>
          <a:xfrm>
            <a:off x="3124200" y="5105400"/>
            <a:ext cx="2451100" cy="381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24" name="Dg 324"/>
          <p:cNvSpPr/>
          <p:nvPr/>
        </p:nvSpPr>
        <p:spPr>
          <a:xfrm>
            <a:off x="5702300" y="5105400"/>
            <a:ext cx="2451100" cy="7112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25" name="Dg 325"/>
          <p:cNvSpPr/>
          <p:nvPr/>
        </p:nvSpPr>
        <p:spPr>
          <a:xfrm>
            <a:off x="5702300" y="5105400"/>
            <a:ext cx="2451100" cy="381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6100" y="279400"/>
            <a:ext cx="11099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lang="ja-JP" sz="1300" b="1" spc="120" dirty="0">
                <a:solidFill>
                  <a:srgbClr val="8A2E3B"/>
                </a:solidFill>
                <a:latin typeface="Calibri"/>
              </a:rPr>
              <a:t>結果 III ｜ PV有無×UC — 慣性の日内変動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6100" y="812800"/>
            <a:ext cx="110998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2800" b="1" dirty="0">
                <a:solidFill>
                  <a:srgbClr val="1A2744"/>
                </a:solidFill>
                <a:latin typeface="Calibri"/>
              </a:rPr>
              <a:t>太陽は同期機を止め、系統の慣性を昼に沈める</a:t>
            </a:r>
          </a:p>
        </p:txBody>
      </p:sp>
      <p:pic>
        <p:nvPicPr>
          <p:cNvPr id="5" name="Picture 4" descr="fig_pv_inertia_slide.jpg"/>
          <p:cNvPicPr>
            <a:picLocks noChangeAspect="1"/>
          </p:cNvPicPr>
          <p:nvPr/>
        </p:nvPicPr>
        <p:blipFill>
          <a:blip r:embed="rId2"/>
          <a:srcRect t="12000"/>
          <a:stretch>
            <a:fillRect/>
          </a:stretch>
        </p:blipFill>
        <p:spPr>
          <a:xfrm>
            <a:off x="546100" y="1320800"/>
            <a:ext cx="7924800" cy="298014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82000" y="1422400"/>
            <a:ext cx="3263900" cy="2387600"/>
          </a:xfrm>
          <a:ln/>
          <a:effectLst/>
        </p:spPr>
        <p:style>
          <a:lnRef idx="1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0" tIns="152400" rIns="152400" bIns="152400" rtlCol="0" anchor="ctr"/>
          <a:lstStyle/>
          <a:p>
            <a:pPr algn="l">
              <a:spcAft>
                <a:spcPts val="600"/>
              </a:spcAft>
            </a:pPr>
            <a:r>
              <a:rPr lang="en-US" sz="1800" dirty="0">
                <a:solidFill>
                  <a:srgbClr val="1A2744"/>
                </a:solidFill>
                <a:latin typeface="Cambria Math"/>
              </a:rPr>
              <a:t>ROCOF = ΔP · f₀ / 2Ek</a:t>
            </a:r>
          </a:p>
          <a:p>
            <a:pPr algn="l">
              <a:lnSpc>
                <a:spcPct val="135000"/>
              </a:lnSpc>
            </a:pPr>
            <a:r>
              <a:rPr lang="ja-JP" sz="1400" dirty="0">
                <a:solidFill>
                  <a:srgbClr val="5B6470"/>
                </a:solidFill>
                <a:latin typeface="Calibri"/>
              </a:rPr>
              <a:t>正午にPVが46GWの同期機を止め、Ek が east −21% / west −26%。1GW脱落時の周波数低下速度は +27〜36% 悪化。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36000" y="4191000"/>
            <a:ext cx="2755900" cy="152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1450" indent="-171450" algn="l">
              <a:lnSpc>
                <a:spcPct val="135000"/>
              </a:lnSpc>
              <a:spcAft>
                <a:spcPts val="600"/>
              </a:spcAft>
              <a:buFont typeface="Arial"/>
              <a:buChar char="•"/>
            </a:pPr>
            <a:r>
              <a:rPr lang="ja-JP" sz="1400" dirty="0">
                <a:solidFill>
                  <a:srgbClr val="3D4657"/>
                </a:solidFill>
                <a:latin typeface="Calibri"/>
              </a:rPr>
              <a:t>モード周波数はほぼ不変 — K と M が同率に減るため(正しい物理)。効くのは ROCOF</a:t>
            </a:r>
          </a:p>
          <a:p>
            <a:pPr marL="171450" indent="-171450" algn="l">
              <a:lnSpc>
                <a:spcPct val="135000"/>
              </a:lnSpc>
              <a:spcAft>
                <a:spcPts val="600"/>
              </a:spcAft>
              <a:buFont typeface="Arial"/>
              <a:buChar char="•"/>
            </a:pPr>
            <a:r>
              <a:rPr lang="ja-JP" sz="1400" dirty="0">
                <a:solidFill>
                  <a:srgbClr val="3D4657"/>
                </a:solidFill>
                <a:latin typeface="Calibri"/>
              </a:rPr>
              <a:t>夜明け前の慣性最小・夕方ランプ(ダックカーブ裏面)も出現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6100" y="6273800"/>
            <a:ext cx="110998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1100" dirty="0">
                <a:solidFill>
                  <a:srgbClr val="5B6470"/>
                </a:solidFill>
                <a:latin typeface="Calibri"/>
              </a:rPr>
              <a:t>09 / 15   uc_pv_compare.py → pv_dynamics_compare.py(容量比例ブリッジ・開示済)</a:t>
            </a:r>
          </a:p>
        </p:txBody>
      </p:sp>
      <p:sp>
        <p:nvSpPr>
          <p:cNvPr id="330" name="TB 330"/>
          <p:cNvSpPr txBox="1"/>
          <p:nvPr/>
        </p:nvSpPr>
        <p:spPr>
          <a:xfrm>
            <a:off x="546100" y="4402547"/>
            <a:ext cx="7924800" cy="2540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lang="ja-JP" sz="1400" dirty="0">
                <a:solidFill>
                  <a:srgbClr val="5B6470"/>
                </a:solidFill>
                <a:latin typeface="Calibri"/>
              </a:rPr>
              <a:t>左: Ek の日内推移(実線=PVあり / 破線=PVなし) ｜ 右: 1GW脱落時の ROCOF</a:t>
            </a:r>
          </a:p>
        </p:txBody>
      </p:sp>
      <p:sp>
        <p:nvSpPr>
          <p:cNvPr id="340" name="TB 340"/>
          <p:cNvSpPr txBox="1"/>
          <p:nvPr/>
        </p:nvSpPr>
        <p:spPr>
          <a:xfrm>
            <a:off x="749300" y="5257800"/>
            <a:ext cx="2044700" cy="279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lang="en-US" sz="1900" b="1" dirty="0">
                <a:solidFill>
                  <a:srgbClr val="1A2744"/>
                </a:solidFill>
                <a:latin typeface="Cambria Math"/>
              </a:rPr>
              <a:t>−21 %</a:t>
            </a:r>
          </a:p>
        </p:txBody>
      </p:sp>
      <p:sp>
        <p:nvSpPr>
          <p:cNvPr id="350" name="TB 350"/>
          <p:cNvSpPr txBox="1"/>
          <p:nvPr/>
        </p:nvSpPr>
        <p:spPr>
          <a:xfrm>
            <a:off x="749300" y="5588000"/>
            <a:ext cx="2044700" cy="2286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lang="ja-JP" sz="1400" dirty="0">
                <a:solidFill>
                  <a:srgbClr val="5B6470"/>
                </a:solidFill>
                <a:latin typeface="Calibri"/>
              </a:rPr>
              <a:t>Ek east(正午)</a:t>
            </a:r>
          </a:p>
        </p:txBody>
      </p:sp>
      <p:sp>
        <p:nvSpPr>
          <p:cNvPr id="341" name="TB 341"/>
          <p:cNvSpPr txBox="1"/>
          <p:nvPr/>
        </p:nvSpPr>
        <p:spPr>
          <a:xfrm>
            <a:off x="3327400" y="5257800"/>
            <a:ext cx="2044700" cy="279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lang="en-US" sz="1900" b="1" dirty="0">
                <a:solidFill>
                  <a:srgbClr val="1A2744"/>
                </a:solidFill>
                <a:latin typeface="Cambria Math"/>
              </a:rPr>
              <a:t>−26 %</a:t>
            </a:r>
          </a:p>
        </p:txBody>
      </p:sp>
      <p:sp>
        <p:nvSpPr>
          <p:cNvPr id="351" name="TB 351"/>
          <p:cNvSpPr txBox="1"/>
          <p:nvPr/>
        </p:nvSpPr>
        <p:spPr>
          <a:xfrm>
            <a:off x="3327400" y="5588000"/>
            <a:ext cx="2044700" cy="2286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lang="ja-JP" sz="1400" dirty="0">
                <a:solidFill>
                  <a:srgbClr val="5B6470"/>
                </a:solidFill>
                <a:latin typeface="Calibri"/>
              </a:rPr>
              <a:t>Ek west(正午)</a:t>
            </a:r>
          </a:p>
        </p:txBody>
      </p:sp>
      <p:sp>
        <p:nvSpPr>
          <p:cNvPr id="342" name="TB 342"/>
          <p:cNvSpPr txBox="1"/>
          <p:nvPr/>
        </p:nvSpPr>
        <p:spPr>
          <a:xfrm>
            <a:off x="5905500" y="5257800"/>
            <a:ext cx="2044700" cy="279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lang="en-US" sz="1900" b="1" dirty="0">
                <a:solidFill>
                  <a:srgbClr val="1A2744"/>
                </a:solidFill>
                <a:latin typeface="Cambria Math"/>
              </a:rPr>
              <a:t>+27〜36 %</a:t>
            </a:r>
          </a:p>
        </p:txBody>
      </p:sp>
      <p:sp>
        <p:nvSpPr>
          <p:cNvPr id="352" name="TB 352"/>
          <p:cNvSpPr txBox="1"/>
          <p:nvPr/>
        </p:nvSpPr>
        <p:spPr>
          <a:xfrm>
            <a:off x="5905500" y="5588000"/>
            <a:ext cx="2044700" cy="2286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lang="ja-JP" sz="1400" dirty="0">
                <a:solidFill>
                  <a:srgbClr val="5B6470"/>
                </a:solidFill>
                <a:latin typeface="Calibri"/>
              </a:rPr>
              <a:t>ROCOF(正午)</a:t>
            </a:r>
          </a:p>
        </p:txBody>
      </p:sp>
    </p:spTree>
    <p:extLst>
      <p:ext uri="{BB962C8B-B14F-4D97-AF65-F5344CB8AC3E}">
        <p14:creationId xmlns:p14="http://schemas.microsoft.com/office/powerpoint/2010/main" val="34909566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0" name="Dg 300"/>
          <p:cNvSpPr/>
          <p:nvPr/>
        </p:nvSpPr>
        <p:spPr>
          <a:xfrm>
            <a:off x="546100" y="736600"/>
            <a:ext cx="11099800" cy="1143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" name="Dg 301"/>
          <p:cNvSpPr/>
          <p:nvPr/>
        </p:nvSpPr>
        <p:spPr>
          <a:xfrm>
            <a:off x="546100" y="711200"/>
            <a:ext cx="736600" cy="381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" name="Dg 302"/>
          <p:cNvSpPr/>
          <p:nvPr/>
        </p:nvSpPr>
        <p:spPr>
          <a:xfrm>
            <a:off x="546100" y="6172200"/>
            <a:ext cx="11099800" cy="1143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0" name="Dg 310"/>
          <p:cNvSpPr/>
          <p:nvPr/>
        </p:nvSpPr>
        <p:spPr>
          <a:xfrm>
            <a:off x="546100" y="1397000"/>
            <a:ext cx="11099800" cy="1905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1" name="Dg 311"/>
          <p:cNvSpPr/>
          <p:nvPr/>
        </p:nvSpPr>
        <p:spPr>
          <a:xfrm>
            <a:off x="546100" y="1397000"/>
            <a:ext cx="63500" cy="19050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20" name="Dg 320"/>
          <p:cNvSpPr/>
          <p:nvPr/>
        </p:nvSpPr>
        <p:spPr>
          <a:xfrm>
            <a:off x="546100" y="4470400"/>
            <a:ext cx="3454400" cy="13716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30" name="Dg 330"/>
          <p:cNvSpPr/>
          <p:nvPr/>
        </p:nvSpPr>
        <p:spPr>
          <a:xfrm>
            <a:off x="546100" y="4470400"/>
            <a:ext cx="3454400" cy="381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21" name="Dg 321"/>
          <p:cNvSpPr/>
          <p:nvPr/>
        </p:nvSpPr>
        <p:spPr>
          <a:xfrm>
            <a:off x="4368800" y="4470400"/>
            <a:ext cx="3454400" cy="13716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31" name="Dg 331"/>
          <p:cNvSpPr/>
          <p:nvPr/>
        </p:nvSpPr>
        <p:spPr>
          <a:xfrm>
            <a:off x="4368800" y="4470400"/>
            <a:ext cx="3454400" cy="381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22" name="Dg 322"/>
          <p:cNvSpPr/>
          <p:nvPr/>
        </p:nvSpPr>
        <p:spPr>
          <a:xfrm>
            <a:off x="8191500" y="4470400"/>
            <a:ext cx="3454400" cy="13716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32" name="Dg 332"/>
          <p:cNvSpPr/>
          <p:nvPr/>
        </p:nvSpPr>
        <p:spPr>
          <a:xfrm>
            <a:off x="8191500" y="4470400"/>
            <a:ext cx="3454400" cy="381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6100" y="279400"/>
            <a:ext cx="110998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1300" b="1" spc="120" dirty="0">
                <a:solidFill>
                  <a:srgbClr val="8A2E3B"/>
                </a:solidFill>
                <a:latin typeface="Calibri"/>
              </a:rPr>
              <a:t>ヘッドライン ｜ 何が確かめられたか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625600"/>
            <a:ext cx="10414000" cy="1524000"/>
          </a:xfrm>
          <a:solidFill>
            <a:srgbClr val="F0F2F5"/>
          </a:solidFill>
          <a:ln>
            <a:solidFill>
              <a:srgbClr val="26374A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32000"/>
              </a:lnSpc>
            </a:pPr>
            <a:r>
              <a:rPr lang="ja-JP" sz="2600" b="1" dirty="0">
                <a:solidFill>
                  <a:srgbClr val="1A2744"/>
                </a:solidFill>
                <a:latin typeface="Calibri"/>
              </a:rPr>
              <a:t>公開データのみから構築した全国送電網モデルが、</a:t>
            </a:r>
          </a:p>
          <a:p>
            <a:pPr algn="l">
              <a:lnSpc>
                <a:spcPct val="132000"/>
              </a:lnSpc>
            </a:pPr>
            <a:r>
              <a:rPr lang="ja-JP" sz="2600" b="1" dirty="0">
                <a:solidFill>
                  <a:srgbClr val="1A2744"/>
                </a:solidFill>
                <a:latin typeface="Calibri"/>
              </a:rPr>
              <a:t>実測で知られる西日本長軸振動(約0.4Hz)の</a:t>
            </a:r>
          </a:p>
          <a:p>
            <a:pPr algn="l">
              <a:lnSpc>
                <a:spcPct val="132000"/>
              </a:lnSpc>
            </a:pPr>
            <a:r>
              <a:rPr lang="ja-JP" sz="2600" b="1" dirty="0">
                <a:solidFill>
                  <a:srgbClr val="1A2744"/>
                </a:solidFill>
                <a:latin typeface="Calibri"/>
              </a:rPr>
              <a:t>周波数と地理形状を再現した。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6100" y="3530600"/>
            <a:ext cx="11099800" cy="28975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lang="ja-JP" sz="1500" dirty="0">
                <a:solidFill>
                  <a:srgbClr val="3D4657"/>
                </a:solidFill>
                <a:latin typeface="Calibri"/>
              </a:rPr>
              <a:t>周波数だけでなく「九州⇔中部・関西の逆位相」という形まで一致 — トポロジ・インピーダンス・慣性配置がまとめて本物らしいことの証明。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0100" y="4724400"/>
            <a:ext cx="2946400" cy="431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ja-JP" sz="2600" b="1" dirty="0">
                <a:solidFill>
                  <a:srgbClr val="1A2744"/>
                </a:solidFill>
                <a:latin typeface="Cambria Math"/>
              </a:rPr>
              <a:t>0.434 Hz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100" y="5232400"/>
            <a:ext cx="29464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lang="ja-JP" sz="1400" dirty="0">
                <a:solidFill>
                  <a:srgbClr val="5B6470"/>
                </a:solidFill>
                <a:latin typeface="Calibri"/>
              </a:rPr>
              <a:t>west 最低モード(文献 ≈ 0.4 Hz)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22800" y="4724400"/>
            <a:ext cx="2946400" cy="431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ja-JP" sz="2600" b="1" dirty="0">
                <a:solidFill>
                  <a:srgbClr val="1A2744"/>
                </a:solidFill>
                <a:latin typeface="Cambria Math"/>
              </a:rPr>
              <a:t>0.592 Hz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22800" y="5232400"/>
            <a:ext cx="29464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lang="ja-JP" sz="1400" dirty="0">
                <a:solidFill>
                  <a:srgbClr val="5B6470"/>
                </a:solidFill>
                <a:latin typeface="Calibri"/>
              </a:rPr>
              <a:t>east 最低モード(東北 ⇔ 関東)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45500" y="4724400"/>
            <a:ext cx="2946400" cy="431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ja-JP" sz="2600" b="1" dirty="0">
                <a:solidFill>
                  <a:srgbClr val="1A2744"/>
                </a:solidFill>
                <a:latin typeface="Cambria Math"/>
              </a:rPr>
              <a:t>409 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45500" y="5232400"/>
            <a:ext cx="29464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lang="ja-JP" sz="1400" dirty="0">
                <a:solidFill>
                  <a:srgbClr val="5B6470"/>
                </a:solidFill>
                <a:latin typeface="Calibri"/>
              </a:rPr>
              <a:t>west 同期機(集約後)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6100" y="6273800"/>
            <a:ext cx="110998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1100" dirty="0">
                <a:solidFill>
                  <a:srgbClr val="5B6470"/>
                </a:solidFill>
                <a:latin typeface="Calibri"/>
              </a:rPr>
              <a:t>10 / 15   再現: PYTHONPATH=. python3 scripts/gen_swing_map.py</a:t>
            </a:r>
          </a:p>
        </p:txBody>
      </p:sp>
    </p:spTree>
    <p:extLst>
      <p:ext uri="{BB962C8B-B14F-4D97-AF65-F5344CB8AC3E}">
        <p14:creationId xmlns:p14="http://schemas.microsoft.com/office/powerpoint/2010/main" val="38260198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0">
            <a:scrgbClr r="0" g="0" b="0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0" name="Dg 300"/>
          <p:cNvSpPr/>
          <p:nvPr/>
        </p:nvSpPr>
        <p:spPr>
          <a:xfrm>
            <a:off x="546100" y="736600"/>
            <a:ext cx="11099800" cy="1143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" name="Dg 301"/>
          <p:cNvSpPr/>
          <p:nvPr/>
        </p:nvSpPr>
        <p:spPr>
          <a:xfrm>
            <a:off x="546100" y="711200"/>
            <a:ext cx="736600" cy="381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" name="Dg 302"/>
          <p:cNvSpPr/>
          <p:nvPr/>
        </p:nvSpPr>
        <p:spPr>
          <a:xfrm>
            <a:off x="546100" y="6172200"/>
            <a:ext cx="11099800" cy="1143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0" name="Dg 310"/>
          <p:cNvSpPr/>
          <p:nvPr/>
        </p:nvSpPr>
        <p:spPr>
          <a:xfrm>
            <a:off x="546100" y="2260600"/>
            <a:ext cx="5588000" cy="14732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1" name="Dg 311"/>
          <p:cNvSpPr/>
          <p:nvPr/>
        </p:nvSpPr>
        <p:spPr>
          <a:xfrm>
            <a:off x="546100" y="2260600"/>
            <a:ext cx="38100" cy="14732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2" name="Dg 312"/>
          <p:cNvSpPr/>
          <p:nvPr/>
        </p:nvSpPr>
        <p:spPr>
          <a:xfrm>
            <a:off x="546100" y="3911600"/>
            <a:ext cx="5588000" cy="18796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3" name="Dg 313"/>
          <p:cNvSpPr/>
          <p:nvPr/>
        </p:nvSpPr>
        <p:spPr>
          <a:xfrm>
            <a:off x="546100" y="3911600"/>
            <a:ext cx="38100" cy="18796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20" name="Dg 320"/>
          <p:cNvSpPr/>
          <p:nvPr/>
        </p:nvSpPr>
        <p:spPr>
          <a:xfrm>
            <a:off x="6350000" y="4724400"/>
            <a:ext cx="2540000" cy="10668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21" name="Dg 321"/>
          <p:cNvSpPr/>
          <p:nvPr/>
        </p:nvSpPr>
        <p:spPr>
          <a:xfrm>
            <a:off x="6350000" y="4724400"/>
            <a:ext cx="2540000" cy="38100"/>
          </a:xfrm>
          <a:prstGeom prst="rect">
            <a:avLst/>
          </a:prstGeom>
          <a:solidFill>
            <a:srgbClr val="2E7D5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22" name="Dg 322"/>
          <p:cNvSpPr/>
          <p:nvPr/>
        </p:nvSpPr>
        <p:spPr>
          <a:xfrm>
            <a:off x="9105900" y="4724400"/>
            <a:ext cx="2540000" cy="10668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23" name="Dg 323"/>
          <p:cNvSpPr/>
          <p:nvPr/>
        </p:nvSpPr>
        <p:spPr>
          <a:xfrm>
            <a:off x="9105900" y="4724400"/>
            <a:ext cx="2540000" cy="38100"/>
          </a:xfrm>
          <a:prstGeom prst="rect">
            <a:avLst/>
          </a:prstGeom>
          <a:solidFill>
            <a:srgbClr val="5B647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6100" y="279400"/>
            <a:ext cx="11099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1300" b="1" spc="120" dirty="0">
                <a:solidFill>
                  <a:srgbClr val="8A2E3B"/>
                </a:solidFill>
                <a:latin typeface="Calibri"/>
              </a:rPr>
              <a:t>方法論 ｜ トポロジをどう作ったか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6100" y="812800"/>
            <a:ext cx="110998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2800" b="1" dirty="0">
                <a:solidFill>
                  <a:srgbClr val="1A2744"/>
                </a:solidFill>
                <a:latin typeface="Calibri"/>
              </a:rPr>
              <a:t>EGGC — 証拠ゲート付き系統コンフレーション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6100" y="1473200"/>
            <a:ext cx="5588000" cy="7049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ja-JP" sz="1500" dirty="0">
                <a:solidFill>
                  <a:srgbClr val="3D4657"/>
                </a:solidFill>
                <a:latin typeface="Calibri"/>
              </a:rPr>
              <a:t>公表資料の「論理接続(直線)」をOSMの「物理線形」へ写像。核心は、採否を証拠でゲートすること。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6100" y="2260600"/>
            <a:ext cx="5588000" cy="1473200"/>
          </a:xfrm>
          <a:ln/>
          <a:effectLst/>
        </p:spPr>
        <p:style>
          <a:lnRef idx="1">
            <a:schemeClr val="accent1"/>
          </a:lnRef>
          <a:fillRef idx="0">
            <a:scrgbClr r="0" g="0" b="0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52400" rIns="152400" bIns="152400" rtlCol="0" anchor="ctr"/>
          <a:lstStyle/>
          <a:p>
            <a:pPr algn="l">
              <a:spcAft>
                <a:spcPts val="500"/>
              </a:spcAft>
            </a:pPr>
            <a:r>
              <a:rPr lang="en-US" sz="1700" dirty="0">
                <a:solidFill>
                  <a:srgbClr val="1A2744"/>
                </a:solidFill>
                <a:latin typeface="Cambria Math"/>
              </a:rPr>
              <a:t>off-main 比率 = 浮いた断片の長さ / 経路総延長</a:t>
            </a:r>
          </a:p>
          <a:p>
            <a:pPr algn="l">
              <a:lnSpc>
                <a:spcPct val="135000"/>
              </a:lnSpc>
            </a:pPr>
            <a:r>
              <a:rPr lang="ja-JP" sz="1400" dirty="0">
                <a:solidFill>
                  <a:srgbClr val="5B6470"/>
                </a:solidFill>
                <a:latin typeface="Calibri"/>
              </a:rPr>
              <a:t>この1つの比率で、公表線を実線形に吸着させるか、直線のまま残すかを機械的に決める。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6100" y="4071571"/>
            <a:ext cx="5588000" cy="1559658"/>
          </a:xfrm>
          <a:prstGeom prst="rect">
            <a:avLst/>
          </a:prstGeom>
          <a:solidFill>
            <a:srgbClr val="F4F6FA"/>
          </a:solidFill>
        </p:spPr>
        <p:txBody>
          <a:bodyPr wrap="square" lIns="228600" tIns="152400" rIns="152400" bIns="15240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lang="ja-JP" sz="1400" dirty="0">
                <a:solidFill>
                  <a:srgbClr val="3D4657"/>
                </a:solidFill>
                <a:latin typeface="Calibri"/>
              </a:rPr>
              <a:t>系譜: HMMマップマッチング(Newson &amp; Krumm 2009)・地図コンフレーション(Saalfeld 1988)・GridKit系(逆方向)。</a:t>
            </a:r>
          </a:p>
          <a:p>
            <a:pPr algn="l">
              <a:lnSpc>
                <a:spcPct val="140000"/>
              </a:lnSpc>
            </a:pPr>
            <a:r>
              <a:rPr lang="ja-JP" sz="1400" dirty="0">
                <a:solidFill>
                  <a:srgbClr val="5B6470"/>
                </a:solidFill>
                <a:latin typeface="Calibri"/>
              </a:rPr>
              <a:t>公表論理エッジを入力とし、検証可能な採否基準を持つ点が新規。全接続は帳簿駆動(217本)・可逆。</a:t>
            </a:r>
          </a:p>
        </p:txBody>
      </p:sp>
      <p:pic>
        <p:nvPicPr>
          <p:cNvPr id="8" name="Picture 7" descr="fig_ybus_compare_slide.jpg"/>
          <p:cNvPicPr>
            <a:picLocks noChangeAspect="1"/>
          </p:cNvPicPr>
          <p:nvPr/>
        </p:nvPicPr>
        <p:blipFill>
          <a:blip r:embed="rId2"/>
          <a:srcRect t="13000" b="2000"/>
          <a:stretch>
            <a:fillRect/>
          </a:stretch>
        </p:blipFill>
        <p:spPr>
          <a:xfrm>
            <a:off x="6324600" y="1320800"/>
            <a:ext cx="5867400" cy="259339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4600" y="4015791"/>
            <a:ext cx="5867400" cy="279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lang="ja-JP" sz="1400" dirty="0">
                <a:solidFill>
                  <a:srgbClr val="5B6470"/>
                </a:solidFill>
                <a:latin typeface="Calibri"/>
              </a:rPr>
              <a:t>Ybus疎行列構造 — 大工事の前後で結線 +7.1%・疎性は不変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6100" y="6273800"/>
            <a:ext cx="110998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1100" dirty="0">
                <a:solidFill>
                  <a:srgbClr val="5B6470"/>
                </a:solidFill>
                <a:latin typeface="Calibri"/>
              </a:rPr>
              <a:t>11 / 15   route_disclosure_edges.py / apply_disclosure_v2.py</a:t>
            </a:r>
          </a:p>
        </p:txBody>
      </p:sp>
      <p:sp>
        <p:nvSpPr>
          <p:cNvPr id="330" name="TB 330"/>
          <p:cNvSpPr txBox="1"/>
          <p:nvPr/>
        </p:nvSpPr>
        <p:spPr>
          <a:xfrm>
            <a:off x="6604000" y="4953000"/>
            <a:ext cx="2032000" cy="3302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lang="en-US" sz="1800" b="1" dirty="0">
                <a:solidFill>
                  <a:srgbClr val="2E7D5B"/>
                </a:solidFill>
                <a:latin typeface="Cambria Math"/>
              </a:rPr>
              <a:t>≥ 0.7</a:t>
            </a:r>
          </a:p>
        </p:txBody>
      </p:sp>
      <p:sp>
        <p:nvSpPr>
          <p:cNvPr id="331" name="TB 331"/>
          <p:cNvSpPr txBox="1"/>
          <p:nvPr/>
        </p:nvSpPr>
        <p:spPr>
          <a:xfrm>
            <a:off x="6604000" y="5334000"/>
            <a:ext cx="2032000" cy="2540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lang="ja-JP" sz="1400" dirty="0">
                <a:solidFill>
                  <a:srgbClr val="3D4657"/>
                </a:solidFill>
                <a:latin typeface="Calibri"/>
              </a:rPr>
              <a:t>実線形に吸着</a:t>
            </a:r>
          </a:p>
        </p:txBody>
      </p:sp>
      <p:sp>
        <p:nvSpPr>
          <p:cNvPr id="332" name="TB 332"/>
          <p:cNvSpPr txBox="1"/>
          <p:nvPr/>
        </p:nvSpPr>
        <p:spPr>
          <a:xfrm>
            <a:off x="9359900" y="4953000"/>
            <a:ext cx="2032000" cy="3302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lang="en-US" sz="1800" b="1" dirty="0">
                <a:solidFill>
                  <a:srgbClr val="5B6470"/>
                </a:solidFill>
                <a:latin typeface="Cambria Math"/>
              </a:rPr>
              <a:t>&lt; 0.3</a:t>
            </a:r>
          </a:p>
        </p:txBody>
      </p:sp>
      <p:sp>
        <p:nvSpPr>
          <p:cNvPr id="333" name="TB 333"/>
          <p:cNvSpPr txBox="1"/>
          <p:nvPr/>
        </p:nvSpPr>
        <p:spPr>
          <a:xfrm>
            <a:off x="9359900" y="5334000"/>
            <a:ext cx="2032000" cy="2540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lang="ja-JP" sz="1400" dirty="0">
                <a:solidFill>
                  <a:srgbClr val="3D4657"/>
                </a:solidFill>
                <a:latin typeface="Calibri"/>
              </a:rPr>
              <a:t>直線を保持(捏造しない)</a:t>
            </a:r>
          </a:p>
        </p:txBody>
      </p:sp>
    </p:spTree>
    <p:extLst>
      <p:ext uri="{BB962C8B-B14F-4D97-AF65-F5344CB8AC3E}">
        <p14:creationId xmlns:p14="http://schemas.microsoft.com/office/powerpoint/2010/main" val="26636133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ln/>
          <a:effectLst/>
        </p:spPr>
        <p:style>
          <a:lnRef idx="1">
            <a:schemeClr val="accent1"/>
          </a:lnRef>
          <a:fillRef idx="0">
            <a:scrgbClr r="0" g="0" b="0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0" name="Dg 300"/>
          <p:cNvSpPr/>
          <p:nvPr/>
        </p:nvSpPr>
        <p:spPr>
          <a:xfrm>
            <a:off x="546100" y="736600"/>
            <a:ext cx="11099800" cy="1143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" name="Dg 301"/>
          <p:cNvSpPr/>
          <p:nvPr/>
        </p:nvSpPr>
        <p:spPr>
          <a:xfrm>
            <a:off x="546100" y="711200"/>
            <a:ext cx="736600" cy="381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" name="Dg 302"/>
          <p:cNvSpPr/>
          <p:nvPr/>
        </p:nvSpPr>
        <p:spPr>
          <a:xfrm>
            <a:off x="546100" y="6172200"/>
            <a:ext cx="11099800" cy="1143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6100" y="279400"/>
            <a:ext cx="110998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lang="ja-JP" sz="1300" b="1" spc="120" dirty="0">
                <a:solidFill>
                  <a:srgbClr val="8A2E3B"/>
                </a:solidFill>
                <a:latin typeface="Calibri"/>
              </a:rPr>
              <a:t>誠実性 ｜ 何を仮定し、何を仮定していないか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6100" y="812800"/>
            <a:ext cx="110998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2800" b="1" dirty="0">
                <a:solidFill>
                  <a:srgbClr val="1A2744"/>
                </a:solidFill>
                <a:latin typeface="Calibri"/>
              </a:rPr>
              <a:t>滑らかさは、検証の証拠ではない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6100" y="1447800"/>
            <a:ext cx="11099800" cy="2308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ja-JP" sz="1500" dirty="0">
                <a:solidFill>
                  <a:srgbClr val="3D4657"/>
                </a:solidFill>
                <a:latin typeface="Calibri"/>
              </a:rPr>
              <a:t>完成品の見栄えは「仮定を重ねた推定」を「実在の観測」と誤認させる。だから仮定の全量を1枚の台帳で見えるようにする。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13000" y="2133600"/>
            <a:ext cx="9232900" cy="2619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lang="ja-JP" sz="1400" dirty="0">
                <a:solidFill>
                  <a:srgbClr val="3D4657"/>
                </a:solidFill>
                <a:latin typeface="Calibri"/>
              </a:rPr>
              <a:t>接続・値・配分を作る介入30件すべてを ①根拠 ②帳簿 ③無効化手段 の3点セットで登録(登録なき介入は禁止)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6100" y="6273800"/>
            <a:ext cx="110998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1100" dirty="0">
                <a:solidFill>
                  <a:srgbClr val="5B6470"/>
                </a:solidFill>
                <a:latin typeface="Calibri"/>
              </a:rPr>
              <a:t>12 / 15   docs/MODEL_INTERVENTIONS.md — 「盲信につながる修正は全部ここに載せる」</a:t>
            </a:r>
          </a:p>
        </p:txBody>
      </p:sp>
      <p:sp>
        <p:nvSpPr>
          <p:cNvPr id="310" name="Dg 310"/>
          <p:cNvSpPr/>
          <p:nvPr/>
        </p:nvSpPr>
        <p:spPr>
          <a:xfrm>
            <a:off x="546100" y="2895600"/>
            <a:ext cx="11099800" cy="1143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1" name="Dg 311"/>
          <p:cNvSpPr/>
          <p:nvPr/>
        </p:nvSpPr>
        <p:spPr>
          <a:xfrm>
            <a:off x="546100" y="3759200"/>
            <a:ext cx="11099800" cy="1143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2" name="Dg 312"/>
          <p:cNvSpPr/>
          <p:nvPr/>
        </p:nvSpPr>
        <p:spPr>
          <a:xfrm>
            <a:off x="546100" y="4445000"/>
            <a:ext cx="11099800" cy="1143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3" name="Dg 313"/>
          <p:cNvSpPr/>
          <p:nvPr/>
        </p:nvSpPr>
        <p:spPr>
          <a:xfrm>
            <a:off x="546100" y="5130800"/>
            <a:ext cx="11099800" cy="1143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20" name="TB 320"/>
          <p:cNvSpPr txBox="1"/>
          <p:nvPr/>
        </p:nvSpPr>
        <p:spPr>
          <a:xfrm>
            <a:off x="711200" y="2133600"/>
            <a:ext cx="1905000" cy="3048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lang="ja-JP" sz="1500" b="1" dirty="0">
                <a:solidFill>
                  <a:srgbClr val="1A2744"/>
                </a:solidFill>
                <a:latin typeface="Calibri"/>
              </a:rPr>
              <a:t>介入台帳</a:t>
            </a:r>
          </a:p>
        </p:txBody>
      </p:sp>
      <p:sp>
        <p:nvSpPr>
          <p:cNvPr id="330" name="Dg 330"/>
          <p:cNvSpPr/>
          <p:nvPr/>
        </p:nvSpPr>
        <p:spPr>
          <a:xfrm>
            <a:off x="546100" y="2120900"/>
            <a:ext cx="38100" cy="3048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21" name="TB 321"/>
          <p:cNvSpPr txBox="1"/>
          <p:nvPr/>
        </p:nvSpPr>
        <p:spPr>
          <a:xfrm>
            <a:off x="711200" y="2997200"/>
            <a:ext cx="1905000" cy="3048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lang="ja-JP" sz="1500" b="1" dirty="0">
                <a:solidFill>
                  <a:srgbClr val="1A2744"/>
                </a:solidFill>
                <a:latin typeface="Calibri"/>
              </a:rPr>
              <a:t>出典必須</a:t>
            </a:r>
          </a:p>
        </p:txBody>
      </p:sp>
      <p:sp>
        <p:nvSpPr>
          <p:cNvPr id="331" name="Dg 331"/>
          <p:cNvSpPr/>
          <p:nvPr/>
        </p:nvSpPr>
        <p:spPr>
          <a:xfrm>
            <a:off x="546100" y="2984500"/>
            <a:ext cx="38100" cy="3048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41" name="TB 341"/>
          <p:cNvSpPr txBox="1"/>
          <p:nvPr/>
        </p:nvSpPr>
        <p:spPr>
          <a:xfrm>
            <a:off x="2413000" y="2997200"/>
            <a:ext cx="9232900" cy="6858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lnSpc>
                <a:spcPct val="135000"/>
              </a:lnSpc>
            </a:pPr>
            <a:r>
              <a:rPr lang="ja-JP" sz="1400" dirty="0">
                <a:solidFill>
                  <a:srgbClr val="3D4657"/>
                </a:solidFill>
                <a:latin typeface="Calibri"/>
              </a:rPr>
              <a:t>容量・接続は出典URL+原文引用がないものをREJECT。動的定数は「型式別典型値・個別実測でない」と列で明示</a:t>
            </a:r>
          </a:p>
        </p:txBody>
      </p:sp>
      <p:sp>
        <p:nvSpPr>
          <p:cNvPr id="322" name="TB 322"/>
          <p:cNvSpPr txBox="1"/>
          <p:nvPr/>
        </p:nvSpPr>
        <p:spPr>
          <a:xfrm>
            <a:off x="711200" y="3860800"/>
            <a:ext cx="1905000" cy="3048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lang="ja-JP" sz="1500" b="1" dirty="0">
                <a:solidFill>
                  <a:srgbClr val="1A2744"/>
                </a:solidFill>
                <a:latin typeface="Calibri"/>
              </a:rPr>
              <a:t>負の結果</a:t>
            </a:r>
          </a:p>
        </p:txBody>
      </p:sp>
      <p:sp>
        <p:nvSpPr>
          <p:cNvPr id="332" name="Dg 332"/>
          <p:cNvSpPr/>
          <p:nvPr/>
        </p:nvSpPr>
        <p:spPr>
          <a:xfrm>
            <a:off x="546100" y="3848100"/>
            <a:ext cx="38100" cy="3048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42" name="TB 342"/>
          <p:cNvSpPr txBox="1"/>
          <p:nvPr/>
        </p:nvSpPr>
        <p:spPr>
          <a:xfrm>
            <a:off x="2413000" y="3860800"/>
            <a:ext cx="9232900" cy="5080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lnSpc>
                <a:spcPct val="135000"/>
              </a:lnSpc>
            </a:pPr>
            <a:r>
              <a:rPr lang="ja-JP" sz="1400" dirty="0">
                <a:solidFill>
                  <a:srgbClr val="3D4657"/>
                </a:solidFill>
                <a:latin typeface="Calibri"/>
              </a:rPr>
              <a:t>失敗・棄却した仮説も検証図つきで報告に残す</a:t>
            </a:r>
          </a:p>
        </p:txBody>
      </p:sp>
      <p:sp>
        <p:nvSpPr>
          <p:cNvPr id="323" name="TB 323"/>
          <p:cNvSpPr txBox="1"/>
          <p:nvPr/>
        </p:nvSpPr>
        <p:spPr>
          <a:xfrm>
            <a:off x="711200" y="4546600"/>
            <a:ext cx="1905000" cy="3048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lang="ja-JP" sz="1500" b="1" dirty="0">
                <a:solidFill>
                  <a:srgbClr val="1A2744"/>
                </a:solidFill>
                <a:latin typeface="Calibri"/>
              </a:rPr>
              <a:t>A/B保留</a:t>
            </a:r>
          </a:p>
        </p:txBody>
      </p:sp>
      <p:sp>
        <p:nvSpPr>
          <p:cNvPr id="333" name="Dg 333"/>
          <p:cNvSpPr/>
          <p:nvPr/>
        </p:nvSpPr>
        <p:spPr>
          <a:xfrm>
            <a:off x="546100" y="4533900"/>
            <a:ext cx="38100" cy="3048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43" name="TB 343"/>
          <p:cNvSpPr txBox="1"/>
          <p:nvPr/>
        </p:nvSpPr>
        <p:spPr>
          <a:xfrm>
            <a:off x="2413000" y="4546600"/>
            <a:ext cx="9232900" cy="5080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lnSpc>
                <a:spcPct val="135000"/>
              </a:lnSpc>
            </a:pPr>
            <a:r>
              <a:rPr lang="ja-JP" sz="1400" dirty="0">
                <a:solidFill>
                  <a:srgbClr val="3D4657"/>
                </a:solidFill>
                <a:latin typeface="Calibri"/>
              </a:rPr>
              <a:t>効果が測れない改良は採用しない(例: 地点需要ピン留め=害なし・カバレッジ0.3%で保留)</a:t>
            </a:r>
          </a:p>
        </p:txBody>
      </p:sp>
      <p:sp>
        <p:nvSpPr>
          <p:cNvPr id="324" name="TB 324"/>
          <p:cNvSpPr txBox="1"/>
          <p:nvPr/>
        </p:nvSpPr>
        <p:spPr>
          <a:xfrm>
            <a:off x="711200" y="5232400"/>
            <a:ext cx="1905000" cy="3048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lang="ja-JP" sz="1500" b="1" dirty="0">
                <a:solidFill>
                  <a:srgbClr val="1A2744"/>
                </a:solidFill>
                <a:latin typeface="Calibri"/>
              </a:rPr>
              <a:t>近似の明示</a:t>
            </a:r>
          </a:p>
        </p:txBody>
      </p:sp>
      <p:sp>
        <p:nvSpPr>
          <p:cNvPr id="334" name="Dg 334"/>
          <p:cNvSpPr/>
          <p:nvPr/>
        </p:nvSpPr>
        <p:spPr>
          <a:xfrm>
            <a:off x="546100" y="5219700"/>
            <a:ext cx="38100" cy="3048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44" name="TB 344"/>
          <p:cNvSpPr txBox="1"/>
          <p:nvPr/>
        </p:nvSpPr>
        <p:spPr>
          <a:xfrm>
            <a:off x="2413000" y="5232400"/>
            <a:ext cx="9232900" cy="6858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lnSpc>
                <a:spcPct val="135000"/>
              </a:lnSpc>
            </a:pPr>
            <a:r>
              <a:rPr lang="ja-JP" sz="1400" dirty="0">
                <a:solidFill>
                  <a:srgbClr val="3D4657"/>
                </a:solidFill>
                <a:latin typeface="Calibri"/>
              </a:rPr>
              <a:t>長軸振動は「帯と形の再現」。減衰率の定量にはAVR/PSS/ガバナの制御系モデルが要る(未実装と明記)</a:t>
            </a:r>
          </a:p>
        </p:txBody>
      </p:sp>
    </p:spTree>
    <p:extLst>
      <p:ext uri="{BB962C8B-B14F-4D97-AF65-F5344CB8AC3E}">
        <p14:creationId xmlns:p14="http://schemas.microsoft.com/office/powerpoint/2010/main" val="16331654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0" name="Dg 300"/>
          <p:cNvSpPr/>
          <p:nvPr/>
        </p:nvSpPr>
        <p:spPr>
          <a:xfrm>
            <a:off x="546100" y="736600"/>
            <a:ext cx="11099800" cy="1143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" name="Dg 301"/>
          <p:cNvSpPr/>
          <p:nvPr/>
        </p:nvSpPr>
        <p:spPr>
          <a:xfrm>
            <a:off x="546100" y="711200"/>
            <a:ext cx="736600" cy="381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" name="Dg 302"/>
          <p:cNvSpPr/>
          <p:nvPr/>
        </p:nvSpPr>
        <p:spPr>
          <a:xfrm>
            <a:off x="546100" y="6172200"/>
            <a:ext cx="11099800" cy="1143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0" name="Dg 310"/>
          <p:cNvSpPr/>
          <p:nvPr/>
        </p:nvSpPr>
        <p:spPr>
          <a:xfrm>
            <a:off x="546100" y="1524000"/>
            <a:ext cx="5664200" cy="14224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1" name="Dg 311"/>
          <p:cNvSpPr/>
          <p:nvPr/>
        </p:nvSpPr>
        <p:spPr>
          <a:xfrm>
            <a:off x="546100" y="1524000"/>
            <a:ext cx="38100" cy="14224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2" name="Dg 312"/>
          <p:cNvSpPr/>
          <p:nvPr/>
        </p:nvSpPr>
        <p:spPr>
          <a:xfrm>
            <a:off x="546100" y="3098800"/>
            <a:ext cx="5664200" cy="14224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3" name="Dg 313"/>
          <p:cNvSpPr/>
          <p:nvPr/>
        </p:nvSpPr>
        <p:spPr>
          <a:xfrm>
            <a:off x="546100" y="3098800"/>
            <a:ext cx="38100" cy="14224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4" name="Dg 314"/>
          <p:cNvSpPr/>
          <p:nvPr/>
        </p:nvSpPr>
        <p:spPr>
          <a:xfrm>
            <a:off x="6489700" y="5207000"/>
            <a:ext cx="5156200" cy="5842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5" name="Dg 315"/>
          <p:cNvSpPr/>
          <p:nvPr/>
        </p:nvSpPr>
        <p:spPr>
          <a:xfrm>
            <a:off x="6489700" y="5207000"/>
            <a:ext cx="38100" cy="5842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6100" y="279400"/>
            <a:ext cx="11099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1300" b="1" spc="120" dirty="0">
                <a:solidFill>
                  <a:srgbClr val="8A2E3B"/>
                </a:solidFill>
                <a:latin typeface="Calibri"/>
              </a:rPr>
              <a:t>次の原理 ｜ 負性インピーダンスと安定判別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6100" y="812800"/>
            <a:ext cx="110998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2800" b="1" dirty="0">
                <a:solidFill>
                  <a:srgbClr val="1A2744"/>
                </a:solidFill>
                <a:latin typeface="Calibri"/>
              </a:rPr>
              <a:t>次に足す数式 — インピーダンス比のナイキスト判定</a:t>
            </a:r>
          </a:p>
        </p:txBody>
      </p:sp>
      <p:sp>
        <p:nvSpPr>
          <p:cNvPr id="5" name="Rectangle 4"/>
          <p:cNvSpPr/>
          <p:nvPr/>
        </p:nvSpPr>
        <p:spPr>
          <a:xfrm>
            <a:off x="546100" y="1524000"/>
            <a:ext cx="5664200" cy="1422400"/>
          </a:xfrm>
          <a:ln/>
          <a:effectLst/>
        </p:spPr>
        <p:style>
          <a:lnRef idx="1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52400" rIns="152400" bIns="152400" rtlCol="0" anchor="ctr"/>
          <a:lstStyle/>
          <a:p>
            <a:pPr algn="l">
              <a:spcAft>
                <a:spcPts val="600"/>
              </a:spcAft>
            </a:pPr>
            <a:r>
              <a:rPr lang="en-US" sz="1700" dirty="0">
                <a:solidFill>
                  <a:srgbClr val="1A2744"/>
                </a:solidFill>
                <a:latin typeface="Cambria Math"/>
              </a:rPr>
              <a:t>安定 ⇔ Zgrid(jω) / Zinv(jω) がナイキスト判別を満たす</a:t>
            </a:r>
          </a:p>
          <a:p>
            <a:pPr algn="l">
              <a:lnSpc>
                <a:spcPct val="135000"/>
              </a:lnSpc>
            </a:pPr>
            <a:r>
              <a:rPr lang="ja-JP" sz="1400" dirty="0">
                <a:solidFill>
                  <a:srgbClr val="5B6470"/>
                </a:solidFill>
                <a:latin typeface="Calibri"/>
              </a:rPr>
              <a:t>Middlebrook(1976) → Sun(2011)の系統連系版。Zgrid(jω)はYbusの周波数依存化から各バスで計算 — 様式5の実R/Xが効く。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6100" y="3098800"/>
            <a:ext cx="5664200" cy="1422400"/>
          </a:xfrm>
          <a:ln/>
          <a:effectLst/>
        </p:spPr>
        <p:style>
          <a:lnRef idx="1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52400" rIns="152400" bIns="152400" rtlCol="0" anchor="ctr"/>
          <a:lstStyle/>
          <a:p>
            <a:pPr algn="l">
              <a:spcAft>
                <a:spcPts val="600"/>
              </a:spcAft>
            </a:pPr>
            <a:r>
              <a:rPr lang="en-US" sz="1700" dirty="0">
                <a:solidFill>
                  <a:srgbClr val="1A2744"/>
                </a:solidFill>
                <a:latin typeface="Cambria Math"/>
              </a:rPr>
              <a:t>Re[ Zinv(jω) ] &lt; 0 の帯域 = 負性抵抗</a:t>
            </a:r>
          </a:p>
          <a:p>
            <a:pPr algn="l">
              <a:lnSpc>
                <a:spcPct val="135000"/>
              </a:lnSpc>
            </a:pPr>
            <a:r>
              <a:rPr lang="ja-JP" sz="1400" dirty="0">
                <a:solidFill>
                  <a:srgbClr val="5B6470"/>
                </a:solidFill>
                <a:latin typeface="Calibri"/>
              </a:rPr>
              <a:t>インバータは制御帯域(PLL)・定電力負荷で負の抵抗に見える。弱い系統 × 負性帯域の重なり = 共振・発振の条件。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0424832"/>
              </p:ext>
            </p:extLst>
          </p:nvPr>
        </p:nvGraphicFramePr>
        <p:xfrm>
          <a:off x="6489700" y="1879600"/>
          <a:ext cx="5156200" cy="3220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95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95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algn="l"/>
                      <a:r>
                        <a:rPr sz="14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</a:p>
                  </a:txBody>
                  <a:tcPr anchor="ctr">
                    <a:lnL w="6350">
                      <a:solidFill>
                        <a:srgbClr val="D0D5DD"/>
                      </a:solidFill>
                    </a:lnL>
                    <a:lnR w="6350">
                      <a:solidFill>
                        <a:srgbClr val="D0D5DD"/>
                      </a:solidFill>
                    </a:lnR>
                    <a:lnT w="6350">
                      <a:solidFill>
                        <a:srgbClr val="D0D5DD"/>
                      </a:solidFill>
                    </a:lnT>
                    <a:lnB w="6350">
                      <a:solidFill>
                        <a:srgbClr val="D0D5DD"/>
                      </a:solidFill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内容</a:t>
                      </a:r>
                    </a:p>
                  </a:txBody>
                  <a:tcPr anchor="ctr">
                    <a:lnL w="6350">
                      <a:solidFill>
                        <a:srgbClr val="D0D5DD"/>
                      </a:solidFill>
                    </a:lnL>
                    <a:lnR w="6350">
                      <a:solidFill>
                        <a:srgbClr val="D0D5DD"/>
                      </a:solidFill>
                    </a:lnR>
                    <a:lnT w="6350">
                      <a:solidFill>
                        <a:srgbClr val="D0D5DD"/>
                      </a:solidFill>
                    </a:lnT>
                    <a:lnB w="6350">
                      <a:solidFill>
                        <a:srgbClr val="D0D5DD"/>
                      </a:solidFill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解ける問い</a:t>
                      </a:r>
                    </a:p>
                  </a:txBody>
                  <a:tcPr anchor="ctr">
                    <a:lnL w="6350">
                      <a:solidFill>
                        <a:srgbClr val="D0D5DD"/>
                      </a:solidFill>
                    </a:lnL>
                    <a:lnR w="6350">
                      <a:solidFill>
                        <a:srgbClr val="D0D5DD"/>
                      </a:solidFill>
                    </a:lnR>
                    <a:lnT w="6350">
                      <a:solidFill>
                        <a:srgbClr val="D0D5DD"/>
                      </a:solidFill>
                    </a:lnT>
                    <a:lnB w="6350">
                      <a:solidFill>
                        <a:srgbClr val="D0D5DD"/>
                      </a:solidFill>
                    </a:lnB>
                    <a:solidFill>
                      <a:srgbClr val="1A27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400" b="1" dirty="0">
                          <a:solidFill>
                            <a:srgbClr val="1A2744"/>
                          </a:solidFill>
                          <a:latin typeface="Calibri"/>
                          <a:cs typeface="Calibri"/>
                        </a:rPr>
                        <a:t>Phase 1</a:t>
                      </a:r>
                    </a:p>
                  </a:txBody>
                  <a:tcPr anchor="ctr">
                    <a:lnL w="6350">
                      <a:solidFill>
                        <a:srgbClr val="D0D5DD"/>
                      </a:solidFill>
                    </a:lnL>
                    <a:lnR w="6350">
                      <a:solidFill>
                        <a:srgbClr val="D0D5DD"/>
                      </a:solidFill>
                    </a:lnR>
                    <a:lnT w="6350">
                      <a:solidFill>
                        <a:srgbClr val="D0D5DD"/>
                      </a:solidFill>
                    </a:lnT>
                    <a:lnB w="6350">
                      <a:solidFill>
                        <a:srgbClr val="D0D5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>
                          <a:solidFill>
                            <a:srgbClr val="3D4657"/>
                          </a:solidFill>
                          <a:latin typeface="Calibri"/>
                          <a:cs typeface="Calibri"/>
                        </a:rPr>
                        <a:t>ZIP負荷+公表R/XでY(jω)スキャン</a:t>
                      </a:r>
                    </a:p>
                  </a:txBody>
                  <a:tcPr anchor="ctr">
                    <a:lnL w="6350">
                      <a:solidFill>
                        <a:srgbClr val="D0D5DD"/>
                      </a:solidFill>
                    </a:lnL>
                    <a:lnR w="6350">
                      <a:solidFill>
                        <a:srgbClr val="D0D5DD"/>
                      </a:solidFill>
                    </a:lnR>
                    <a:lnT w="6350">
                      <a:solidFill>
                        <a:srgbClr val="D0D5DD"/>
                      </a:solidFill>
                    </a:lnT>
                    <a:lnB w="6350">
                      <a:solidFill>
                        <a:srgbClr val="D0D5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>
                          <a:solidFill>
                            <a:srgbClr val="3D4657"/>
                          </a:solidFill>
                          <a:latin typeface="Calibri"/>
                          <a:cs typeface="Calibri"/>
                        </a:rPr>
                        <a:t>受動性が失われる帯域=共振リスク地図</a:t>
                      </a:r>
                    </a:p>
                  </a:txBody>
                  <a:tcPr anchor="ctr">
                    <a:lnL w="6350">
                      <a:solidFill>
                        <a:srgbClr val="D0D5DD"/>
                      </a:solidFill>
                    </a:lnL>
                    <a:lnR w="6350">
                      <a:solidFill>
                        <a:srgbClr val="D0D5DD"/>
                      </a:solidFill>
                    </a:lnR>
                    <a:lnT w="6350">
                      <a:solidFill>
                        <a:srgbClr val="D0D5DD"/>
                      </a:solidFill>
                    </a:lnT>
                    <a:lnB w="6350">
                      <a:solidFill>
                        <a:srgbClr val="D0D5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400" b="1" dirty="0">
                          <a:solidFill>
                            <a:srgbClr val="1A2744"/>
                          </a:solidFill>
                          <a:latin typeface="Calibri"/>
                          <a:cs typeface="Calibri"/>
                        </a:rPr>
                        <a:t>Phase 2</a:t>
                      </a:r>
                    </a:p>
                  </a:txBody>
                  <a:tcPr anchor="ctr">
                    <a:lnL w="6350">
                      <a:solidFill>
                        <a:srgbClr val="D0D5DD"/>
                      </a:solidFill>
                    </a:lnL>
                    <a:lnR w="6350">
                      <a:solidFill>
                        <a:srgbClr val="D0D5DD"/>
                      </a:solidFill>
                    </a:lnR>
                    <a:lnT w="6350">
                      <a:solidFill>
                        <a:srgbClr val="D0D5DD"/>
                      </a:solidFill>
                    </a:lnT>
                    <a:lnB w="6350">
                      <a:solidFill>
                        <a:srgbClr val="D0D5DD"/>
                      </a:solidFill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>
                          <a:solidFill>
                            <a:srgbClr val="3D4657"/>
                          </a:solidFill>
                          <a:latin typeface="Calibri"/>
                          <a:cs typeface="Calibri"/>
                        </a:rPr>
                        <a:t>GFL/GFMのZinv×ナイキスト</a:t>
                      </a:r>
                    </a:p>
                  </a:txBody>
                  <a:tcPr anchor="ctr">
                    <a:lnL w="6350">
                      <a:solidFill>
                        <a:srgbClr val="D0D5DD"/>
                      </a:solidFill>
                    </a:lnL>
                    <a:lnR w="6350">
                      <a:solidFill>
                        <a:srgbClr val="D0D5DD"/>
                      </a:solidFill>
                    </a:lnR>
                    <a:lnT w="6350">
                      <a:solidFill>
                        <a:srgbClr val="D0D5DD"/>
                      </a:solidFill>
                    </a:lnT>
                    <a:lnB w="6350">
                      <a:solidFill>
                        <a:srgbClr val="D0D5DD"/>
                      </a:solidFill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>
                          <a:solidFill>
                            <a:srgbClr val="3D4657"/>
                          </a:solidFill>
                          <a:latin typeface="Calibri"/>
                          <a:cs typeface="Calibri"/>
                        </a:rPr>
                        <a:t>負性インピーダンス安定性の全国スクリーニング</a:t>
                      </a:r>
                    </a:p>
                  </a:txBody>
                  <a:tcPr anchor="ctr">
                    <a:lnL w="6350">
                      <a:solidFill>
                        <a:srgbClr val="D0D5DD"/>
                      </a:solidFill>
                    </a:lnL>
                    <a:lnR w="6350">
                      <a:solidFill>
                        <a:srgbClr val="D0D5DD"/>
                      </a:solidFill>
                    </a:lnR>
                    <a:lnT w="6350">
                      <a:solidFill>
                        <a:srgbClr val="D0D5DD"/>
                      </a:solidFill>
                    </a:lnT>
                    <a:lnB w="6350">
                      <a:solidFill>
                        <a:srgbClr val="D0D5DD"/>
                      </a:solidFill>
                    </a:lnB>
                    <a:solidFill>
                      <a:srgbClr val="F4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400" b="1" dirty="0">
                          <a:solidFill>
                            <a:srgbClr val="1A2744"/>
                          </a:solidFill>
                          <a:latin typeface="Calibri"/>
                          <a:cs typeface="Calibri"/>
                        </a:rPr>
                        <a:t>Phase 3</a:t>
                      </a:r>
                    </a:p>
                  </a:txBody>
                  <a:tcPr anchor="ctr">
                    <a:lnL w="6350">
                      <a:solidFill>
                        <a:srgbClr val="D0D5DD"/>
                      </a:solidFill>
                    </a:lnL>
                    <a:lnR w="6350">
                      <a:solidFill>
                        <a:srgbClr val="D0D5DD"/>
                      </a:solidFill>
                    </a:lnR>
                    <a:lnT w="6350">
                      <a:solidFill>
                        <a:srgbClr val="D0D5DD"/>
                      </a:solidFill>
                    </a:lnT>
                    <a:lnB w="6350">
                      <a:solidFill>
                        <a:srgbClr val="D0D5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>
                          <a:solidFill>
                            <a:srgbClr val="3D4657"/>
                          </a:solidFill>
                          <a:latin typeface="Calibri"/>
                          <a:cs typeface="Calibri"/>
                        </a:rPr>
                        <a:t>RMS動的(CGMES資産が入口)</a:t>
                      </a:r>
                    </a:p>
                  </a:txBody>
                  <a:tcPr anchor="ctr">
                    <a:lnL w="6350">
                      <a:solidFill>
                        <a:srgbClr val="D0D5DD"/>
                      </a:solidFill>
                    </a:lnL>
                    <a:lnR w="6350">
                      <a:solidFill>
                        <a:srgbClr val="D0D5DD"/>
                      </a:solidFill>
                    </a:lnR>
                    <a:lnT w="6350">
                      <a:solidFill>
                        <a:srgbClr val="D0D5DD"/>
                      </a:solidFill>
                    </a:lnT>
                    <a:lnB w="6350">
                      <a:solidFill>
                        <a:srgbClr val="D0D5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>
                          <a:solidFill>
                            <a:srgbClr val="3D4657"/>
                          </a:solidFill>
                          <a:latin typeface="Calibri"/>
                          <a:cs typeface="Calibri"/>
                        </a:rPr>
                        <a:t>慣性低下シナリオ・GFM最適配置</a:t>
                      </a:r>
                    </a:p>
                  </a:txBody>
                  <a:tcPr anchor="ctr">
                    <a:lnL w="6350">
                      <a:solidFill>
                        <a:srgbClr val="D0D5DD"/>
                      </a:solidFill>
                    </a:lnL>
                    <a:lnR w="6350">
                      <a:solidFill>
                        <a:srgbClr val="D0D5DD"/>
                      </a:solidFill>
                    </a:lnR>
                    <a:lnT w="6350">
                      <a:solidFill>
                        <a:srgbClr val="D0D5DD"/>
                      </a:solidFill>
                    </a:lnT>
                    <a:lnB w="6350">
                      <a:solidFill>
                        <a:srgbClr val="D0D5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400" b="1" dirty="0">
                          <a:solidFill>
                            <a:srgbClr val="1A2744"/>
                          </a:solidFill>
                          <a:latin typeface="Calibri"/>
                          <a:cs typeface="Calibri"/>
                        </a:rPr>
                        <a:t>DB拡張</a:t>
                      </a:r>
                    </a:p>
                  </a:txBody>
                  <a:tcPr anchor="ctr">
                    <a:lnL w="6350">
                      <a:solidFill>
                        <a:srgbClr val="D0D5DD"/>
                      </a:solidFill>
                    </a:lnL>
                    <a:lnR w="6350">
                      <a:solidFill>
                        <a:srgbClr val="D0D5DD"/>
                      </a:solidFill>
                    </a:lnR>
                    <a:lnT w="6350">
                      <a:solidFill>
                        <a:srgbClr val="D0D5DD"/>
                      </a:solidFill>
                    </a:lnT>
                    <a:lnB w="6350">
                      <a:solidFill>
                        <a:srgbClr val="D0D5DD"/>
                      </a:solidFill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>
                          <a:solidFill>
                            <a:srgbClr val="3D4657"/>
                          </a:solidFill>
                          <a:latin typeface="Calibri"/>
                          <a:cs typeface="Calibri"/>
                        </a:rPr>
                        <a:t>G_DB(38万行済)+L_DB(1,135バンク済)</a:t>
                      </a:r>
                    </a:p>
                  </a:txBody>
                  <a:tcPr anchor="ctr">
                    <a:lnL w="6350">
                      <a:solidFill>
                        <a:srgbClr val="D0D5DD"/>
                      </a:solidFill>
                    </a:lnL>
                    <a:lnR w="6350">
                      <a:solidFill>
                        <a:srgbClr val="D0D5DD"/>
                      </a:solidFill>
                    </a:lnR>
                    <a:lnT w="6350">
                      <a:solidFill>
                        <a:srgbClr val="D0D5DD"/>
                      </a:solidFill>
                    </a:lnT>
                    <a:lnB w="6350">
                      <a:solidFill>
                        <a:srgbClr val="D0D5DD"/>
                      </a:solidFill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>
                          <a:solidFill>
                            <a:srgbClr val="3D4657"/>
                          </a:solidFill>
                          <a:latin typeface="Calibri"/>
                          <a:cs typeface="Calibri"/>
                        </a:rPr>
                        <a:t>すべての解析の底上げ</a:t>
                      </a:r>
                    </a:p>
                  </a:txBody>
                  <a:tcPr anchor="ctr">
                    <a:lnL w="6350">
                      <a:solidFill>
                        <a:srgbClr val="D0D5DD"/>
                      </a:solidFill>
                    </a:lnL>
                    <a:lnR w="6350">
                      <a:solidFill>
                        <a:srgbClr val="D0D5DD"/>
                      </a:solidFill>
                    </a:lnR>
                    <a:lnT w="6350">
                      <a:solidFill>
                        <a:srgbClr val="D0D5DD"/>
                      </a:solidFill>
                    </a:lnT>
                    <a:lnB w="6350">
                      <a:solidFill>
                        <a:srgbClr val="D0D5DD"/>
                      </a:solidFill>
                    </a:lnB>
                    <a:solidFill>
                      <a:srgbClr val="F4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6100" y="6273800"/>
            <a:ext cx="110998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1100" dirty="0">
                <a:solidFill>
                  <a:srgbClr val="5B6470"/>
                </a:solidFill>
                <a:latin typeface="Calibri"/>
              </a:rPr>
              <a:t>13 / 15   ZIP負荷: P(V) = P₀(aV² + bV + c)</a:t>
            </a:r>
          </a:p>
        </p:txBody>
      </p:sp>
      <p:sp>
        <p:nvSpPr>
          <p:cNvPr id="350" name="Dg 350"/>
          <p:cNvSpPr/>
          <p:nvPr/>
        </p:nvSpPr>
        <p:spPr>
          <a:xfrm>
            <a:off x="762000" y="5232400"/>
            <a:ext cx="5207000" cy="12700"/>
          </a:xfrm>
          <a:prstGeom prst="rect">
            <a:avLst/>
          </a:prstGeom>
          <a:solidFill>
            <a:srgbClr val="5B647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51" name="Dg 351"/>
          <p:cNvSpPr/>
          <p:nvPr/>
        </p:nvSpPr>
        <p:spPr>
          <a:xfrm>
            <a:off x="2413000" y="4673600"/>
            <a:ext cx="12700" cy="1117600"/>
          </a:xfrm>
          <a:prstGeom prst="rect">
            <a:avLst/>
          </a:prstGeom>
          <a:solidFill>
            <a:srgbClr val="5B647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52" name="Dg 352"/>
          <p:cNvSpPr/>
          <p:nvPr/>
        </p:nvSpPr>
        <p:spPr>
          <a:xfrm>
            <a:off x="1905000" y="4724400"/>
            <a:ext cx="1016000" cy="1016000"/>
          </a:xfrm>
          <a:prstGeom prst="ellipse">
            <a:avLst/>
          </a:prstGeom>
          <a:noFill/>
          <a:ln w="9525">
            <a:solidFill>
              <a:srgbClr val="5B6470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353" name="Dg 353"/>
          <p:cNvSpPr/>
          <p:nvPr/>
        </p:nvSpPr>
        <p:spPr>
          <a:xfrm>
            <a:off x="2540000" y="4851400"/>
            <a:ext cx="2159000" cy="787400"/>
          </a:xfrm>
          <a:prstGeom prst="ellipse">
            <a:avLst/>
          </a:prstGeom>
          <a:noFill/>
          <a:ln w="19050">
            <a:solidFill>
              <a:srgbClr val="8A2E3B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54" name="Dg 354"/>
          <p:cNvSpPr/>
          <p:nvPr/>
        </p:nvSpPr>
        <p:spPr>
          <a:xfrm>
            <a:off x="1854200" y="5181600"/>
            <a:ext cx="114300" cy="114300"/>
          </a:xfrm>
          <a:prstGeom prst="ellipse">
            <a:avLst/>
          </a:prstGeom>
          <a:solidFill>
            <a:srgbClr val="1A2744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60" name="TB 360"/>
          <p:cNvSpPr txBox="1"/>
          <p:nvPr/>
        </p:nvSpPr>
        <p:spPr>
          <a:xfrm>
            <a:off x="1447800" y="5257800"/>
            <a:ext cx="381000" cy="2286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r"/>
            <a:r>
              <a:rPr lang="ja-JP" sz="1400" dirty="0">
                <a:solidFill>
                  <a:srgbClr val="1A2744"/>
                </a:solidFill>
                <a:latin typeface="Cambria Math"/>
              </a:rPr>
              <a:t>−1</a:t>
            </a:r>
          </a:p>
        </p:txBody>
      </p:sp>
      <p:sp>
        <p:nvSpPr>
          <p:cNvPr id="361" name="TB 361"/>
          <p:cNvSpPr txBox="1"/>
          <p:nvPr/>
        </p:nvSpPr>
        <p:spPr>
          <a:xfrm>
            <a:off x="3810000" y="4572000"/>
            <a:ext cx="1143000" cy="2286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lang="ja-JP" sz="1400" dirty="0">
                <a:solidFill>
                  <a:srgbClr val="8A2E3B"/>
                </a:solidFill>
                <a:latin typeface="Calibri"/>
              </a:rPr>
              <a:t>軌跡</a:t>
            </a:r>
          </a:p>
        </p:txBody>
      </p:sp>
      <p:sp>
        <p:nvSpPr>
          <p:cNvPr id="362" name="TB 362"/>
          <p:cNvSpPr txBox="1"/>
          <p:nvPr/>
        </p:nvSpPr>
        <p:spPr>
          <a:xfrm>
            <a:off x="546100" y="5867400"/>
            <a:ext cx="5664200" cy="2286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lang="ja-JP" sz="1400" dirty="0">
                <a:solidFill>
                  <a:srgbClr val="5B6470"/>
                </a:solidFill>
                <a:latin typeface="Calibri"/>
              </a:rPr>
              <a:t>軌跡が −1 点を囲まなければ安定(破線は単位円)</a:t>
            </a:r>
          </a:p>
        </p:txBody>
      </p:sp>
      <p:sp>
        <p:nvSpPr>
          <p:cNvPr id="370" name="TB 370"/>
          <p:cNvSpPr txBox="1"/>
          <p:nvPr/>
        </p:nvSpPr>
        <p:spPr>
          <a:xfrm>
            <a:off x="6489700" y="1498600"/>
            <a:ext cx="5156200" cy="3048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lang="ja-JP" sz="1800" dirty="0">
                <a:solidFill>
                  <a:srgbClr val="1A2744"/>
                </a:solidFill>
                <a:latin typeface="Calibri"/>
              </a:rPr>
              <a:t>拡張ロードマップ</a:t>
            </a:r>
          </a:p>
        </p:txBody>
      </p:sp>
      <p:sp>
        <p:nvSpPr>
          <p:cNvPr id="371" name="TB 371"/>
          <p:cNvSpPr txBox="1"/>
          <p:nvPr/>
        </p:nvSpPr>
        <p:spPr>
          <a:xfrm>
            <a:off x="6743700" y="5359400"/>
            <a:ext cx="4775200" cy="279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lang="ja-JP" sz="1400" dirty="0">
                <a:solidFill>
                  <a:srgbClr val="3D4657"/>
                </a:solidFill>
                <a:latin typeface="Calibri"/>
              </a:rPr>
              <a:t>様式5(実R/X)の公表が、すべての段階の精度を底上げする</a:t>
            </a:r>
          </a:p>
        </p:txBody>
      </p:sp>
    </p:spTree>
    <p:extLst>
      <p:ext uri="{BB962C8B-B14F-4D97-AF65-F5344CB8AC3E}">
        <p14:creationId xmlns:p14="http://schemas.microsoft.com/office/powerpoint/2010/main" val="330976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0" name="Dg 300"/>
          <p:cNvSpPr/>
          <p:nvPr/>
        </p:nvSpPr>
        <p:spPr>
          <a:xfrm>
            <a:off x="546100" y="736600"/>
            <a:ext cx="11099800" cy="1143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" name="Dg 301"/>
          <p:cNvSpPr/>
          <p:nvPr/>
        </p:nvSpPr>
        <p:spPr>
          <a:xfrm>
            <a:off x="546100" y="711200"/>
            <a:ext cx="736600" cy="381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" name="Dg 302"/>
          <p:cNvSpPr/>
          <p:nvPr/>
        </p:nvSpPr>
        <p:spPr>
          <a:xfrm>
            <a:off x="546100" y="6172200"/>
            <a:ext cx="11099800" cy="1143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0" name="Dg 310"/>
          <p:cNvSpPr/>
          <p:nvPr/>
        </p:nvSpPr>
        <p:spPr>
          <a:xfrm>
            <a:off x="6489700" y="1447800"/>
            <a:ext cx="5156200" cy="15748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1" name="Dg 311"/>
          <p:cNvSpPr/>
          <p:nvPr/>
        </p:nvSpPr>
        <p:spPr>
          <a:xfrm>
            <a:off x="6489700" y="1447800"/>
            <a:ext cx="38100" cy="15748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2" name="Dg 312"/>
          <p:cNvSpPr/>
          <p:nvPr/>
        </p:nvSpPr>
        <p:spPr>
          <a:xfrm>
            <a:off x="6489700" y="3175000"/>
            <a:ext cx="5156200" cy="24384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3" name="Dg 313"/>
          <p:cNvSpPr/>
          <p:nvPr/>
        </p:nvSpPr>
        <p:spPr>
          <a:xfrm>
            <a:off x="6489700" y="3175000"/>
            <a:ext cx="5156200" cy="381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6100" y="279400"/>
            <a:ext cx="11099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1300" b="1" spc="120" dirty="0">
                <a:solidFill>
                  <a:srgbClr val="8A2E3B"/>
                </a:solidFill>
                <a:latin typeface="Calibri"/>
              </a:rPr>
              <a:t>検証の第5層へ ｜ コンセントで系統を測る(PMU)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6100" y="812800"/>
            <a:ext cx="110998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2800" b="1" dirty="0">
                <a:solidFill>
                  <a:srgbClr val="1A2744"/>
                </a:solidFill>
                <a:latin typeface="Calibri"/>
              </a:rPr>
              <a:t>モデルが予言した0.4Hzを、壁の100Vコンセントから実測する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6100" y="1447800"/>
            <a:ext cx="5664200" cy="93576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lang="ja-JP" sz="1500" dirty="0">
                <a:solidFill>
                  <a:srgbClr val="3D4657"/>
                </a:solidFill>
                <a:latin typeface="Calibri"/>
              </a:rPr>
              <a:t>周波数と低周波動揺(0.2〜1Hz)は系統全体で共有される量 — 単相100Vの末端でも観測できる(米FNET/GridEyeが壁コンセント計測網で実証)。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0728104"/>
              </p:ext>
            </p:extLst>
          </p:nvPr>
        </p:nvGraphicFramePr>
        <p:xfrm>
          <a:off x="548640" y="2743200"/>
          <a:ext cx="5664200" cy="309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9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台数</a:t>
                      </a:r>
                    </a:p>
                  </a:txBody>
                  <a:tcPr anchor="ctr"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できる解析</a:t>
                      </a:r>
                    </a:p>
                  </a:txBody>
                  <a:tcPr anchor="ctr">
                    <a:solidFill>
                      <a:srgbClr val="1A27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04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744"/>
                          </a:solidFill>
                          <a:latin typeface="Calibri"/>
                          <a:cs typeface="Calibri"/>
                        </a:rPr>
                        <a:t>1台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D4657"/>
                          </a:solidFill>
                          <a:latin typeface="Calibri"/>
                          <a:cs typeface="Calibri"/>
                        </a:rPr>
                        <a:t>周波数イベント検出・df/dtから脱落電源の規模推定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604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744"/>
                          </a:solidFill>
                          <a:latin typeface="Calibri"/>
                          <a:cs typeface="Calibri"/>
                        </a:rPr>
                        <a:t>2台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D4657"/>
                          </a:solidFill>
                          <a:latin typeface="Calibri"/>
                          <a:cs typeface="Calibri"/>
                        </a:rPr>
                        <a:t>長軸振動の位相差=モードの直接観測(九州×関西で0.43Hzのシーソーを見る)・地域間角差=潮流の代理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04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744"/>
                          </a:solidFill>
                          <a:latin typeface="Calibri"/>
                          <a:cs typeface="Calibri"/>
                        </a:rPr>
                        <a:t>3台+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D4657"/>
                          </a:solidFill>
                          <a:latin typeface="Calibri"/>
                          <a:cs typeface="Calibri"/>
                        </a:rPr>
                        <a:t>周波数波の到達時刻差 → 擾乱源の位置標定(三角測量)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04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744"/>
                          </a:solidFill>
                          <a:latin typeface="Calibri"/>
                          <a:cs typeface="Calibri"/>
                        </a:rPr>
                        <a:t>10台+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D4657"/>
                          </a:solidFill>
                          <a:latin typeface="Calibri"/>
                          <a:cs typeface="Calibri"/>
                        </a:rPr>
                        <a:t>モード形の実測地図 → 本モデルの振動地図と直接突合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743700" y="1447800"/>
            <a:ext cx="4648200" cy="1574800"/>
          </a:xfrm>
          <a:prstGeom prst="rect">
            <a:avLst/>
          </a:prstGeom>
          <a:solidFill>
            <a:srgbClr val="F0F2F5"/>
          </a:solidFill>
          <a:ln>
            <a:solidFill>
              <a:srgbClr val="26374A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Aft>
                <a:spcPts val="600"/>
              </a:spcAft>
            </a:pPr>
            <a:r>
              <a:rPr lang="en-US" sz="1800" dirty="0">
                <a:solidFill>
                  <a:srgbClr val="1A2744"/>
                </a:solidFill>
                <a:latin typeface="Cambria Math"/>
              </a:rPr>
              <a:t>モデル( M⁻¹K )の予言  ⇄  PMU実測 f, Δφ(t)</a:t>
            </a:r>
          </a:p>
          <a:p>
            <a:pPr algn="l">
              <a:lnSpc>
                <a:spcPct val="135000"/>
              </a:lnSpc>
            </a:pPr>
            <a:r>
              <a:rPr lang="ja-JP" sz="1400" dirty="0">
                <a:solidFill>
                  <a:srgbClr val="5B6470"/>
                </a:solidFill>
                <a:latin typeface="Calibri"/>
              </a:rPr>
              <a:t>予測したモード周波数・形を自前の観測網で検証 — 公開データ検証(4層)の上に「自分の計測」という第5層が載る。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43700" y="3429000"/>
            <a:ext cx="4648200" cy="160492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1450" indent="-171450" algn="l">
              <a:lnSpc>
                <a:spcPct val="135000"/>
              </a:lnSpc>
              <a:spcAft>
                <a:spcPts val="700"/>
              </a:spcAft>
              <a:buFont typeface="Arial"/>
              <a:buChar char="•"/>
            </a:pPr>
            <a:r>
              <a:rPr lang="ja-JP" sz="1400" dirty="0">
                <a:solidFill>
                  <a:srgbClr val="3D4657"/>
                </a:solidFill>
                <a:latin typeface="Calibri"/>
              </a:rPr>
              <a:t>ハード: GPS 1PPS + ADC(Raspberry Pi級・数千円〜で自作可)</a:t>
            </a:r>
          </a:p>
          <a:p>
            <a:pPr marL="171450" indent="-171450" algn="l">
              <a:lnSpc>
                <a:spcPct val="135000"/>
              </a:lnSpc>
              <a:spcAft>
                <a:spcPts val="700"/>
              </a:spcAft>
              <a:buFont typeface="Arial"/>
              <a:buChar char="•"/>
            </a:pPr>
            <a:r>
              <a:rPr lang="ja-JP" sz="1400" dirty="0">
                <a:solidFill>
                  <a:srgbClr val="3D4657"/>
                </a:solidFill>
                <a:latin typeface="Calibri"/>
              </a:rPr>
              <a:t>単相100Vの位相は配電変圧器の結線分だけずれるが、周波数と動揺成分は系統共通</a:t>
            </a:r>
          </a:p>
          <a:p>
            <a:pPr marL="171450" indent="-171450" algn="l">
              <a:lnSpc>
                <a:spcPct val="135000"/>
              </a:lnSpc>
              <a:spcAft>
                <a:spcPts val="700"/>
              </a:spcAft>
              <a:buFont typeface="Arial"/>
              <a:buChar char="•"/>
            </a:pPr>
            <a:r>
              <a:rPr lang="ja-JP" sz="1400" dirty="0">
                <a:solidFill>
                  <a:srgbClr val="3D4657"/>
                </a:solidFill>
                <a:latin typeface="Calibri"/>
              </a:rPr>
              <a:t>位置標定に要る「周波数波の伝播速度」= 慣性密度分布は本モデルの M から計算できる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6100" y="6273800"/>
            <a:ext cx="110998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1100" dirty="0">
                <a:solidFill>
                  <a:srgbClr val="5B6470"/>
                </a:solidFill>
                <a:latin typeface="Calibri"/>
              </a:rPr>
              <a:t>14 / 15   先例: FNET/GridEye(米)。日本の分散PMU網は未開拓</a:t>
            </a:r>
          </a:p>
        </p:txBody>
      </p:sp>
    </p:spTree>
    <p:extLst>
      <p:ext uri="{BB962C8B-B14F-4D97-AF65-F5344CB8AC3E}">
        <p14:creationId xmlns:p14="http://schemas.microsoft.com/office/powerpoint/2010/main" val="38935120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0" name="Dg 300"/>
          <p:cNvSpPr/>
          <p:nvPr/>
        </p:nvSpPr>
        <p:spPr>
          <a:xfrm>
            <a:off x="546100" y="736600"/>
            <a:ext cx="11099800" cy="1143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" name="Dg 301"/>
          <p:cNvSpPr/>
          <p:nvPr/>
        </p:nvSpPr>
        <p:spPr>
          <a:xfrm>
            <a:off x="546100" y="711200"/>
            <a:ext cx="736600" cy="381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" name="Dg 302"/>
          <p:cNvSpPr/>
          <p:nvPr/>
        </p:nvSpPr>
        <p:spPr>
          <a:xfrm>
            <a:off x="546100" y="6172200"/>
            <a:ext cx="11099800" cy="1143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90" name="Dg 390"/>
          <p:cNvSpPr/>
          <p:nvPr/>
        </p:nvSpPr>
        <p:spPr>
          <a:xfrm>
            <a:off x="546100" y="5207000"/>
            <a:ext cx="11099800" cy="5842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91" name="Dg 391"/>
          <p:cNvSpPr/>
          <p:nvPr/>
        </p:nvSpPr>
        <p:spPr>
          <a:xfrm>
            <a:off x="546100" y="5207000"/>
            <a:ext cx="50800" cy="5842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0" name="Dg 310"/>
          <p:cNvSpPr/>
          <p:nvPr/>
        </p:nvSpPr>
        <p:spPr>
          <a:xfrm>
            <a:off x="546100" y="2235200"/>
            <a:ext cx="2489200" cy="2667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1" name="Dg 311"/>
          <p:cNvSpPr/>
          <p:nvPr/>
        </p:nvSpPr>
        <p:spPr>
          <a:xfrm>
            <a:off x="3416300" y="2235200"/>
            <a:ext cx="2489200" cy="2667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2" name="Dg 312"/>
          <p:cNvSpPr/>
          <p:nvPr/>
        </p:nvSpPr>
        <p:spPr>
          <a:xfrm>
            <a:off x="6286500" y="2235200"/>
            <a:ext cx="2489200" cy="2667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3" name="Dg 313"/>
          <p:cNvSpPr/>
          <p:nvPr/>
        </p:nvSpPr>
        <p:spPr>
          <a:xfrm>
            <a:off x="9156700" y="2235200"/>
            <a:ext cx="2489200" cy="2667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20" name="Dg 320"/>
          <p:cNvSpPr/>
          <p:nvPr/>
        </p:nvSpPr>
        <p:spPr>
          <a:xfrm>
            <a:off x="546100" y="2235200"/>
            <a:ext cx="2489200" cy="381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21" name="Dg 321"/>
          <p:cNvSpPr/>
          <p:nvPr/>
        </p:nvSpPr>
        <p:spPr>
          <a:xfrm>
            <a:off x="3416300" y="2235200"/>
            <a:ext cx="2489200" cy="381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22" name="Dg 322"/>
          <p:cNvSpPr/>
          <p:nvPr/>
        </p:nvSpPr>
        <p:spPr>
          <a:xfrm>
            <a:off x="6286500" y="2235200"/>
            <a:ext cx="2489200" cy="381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23" name="Dg 323"/>
          <p:cNvSpPr/>
          <p:nvPr/>
        </p:nvSpPr>
        <p:spPr>
          <a:xfrm>
            <a:off x="9156700" y="2235200"/>
            <a:ext cx="2489200" cy="381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6100" y="279400"/>
            <a:ext cx="110998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1300" b="1" spc="120" dirty="0">
                <a:solidFill>
                  <a:srgbClr val="8A2E3B"/>
                </a:solidFill>
                <a:latin typeface="Calibri"/>
              </a:rPr>
              <a:t>まとめ ｜ 検証の階段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6100" y="838200"/>
            <a:ext cx="11099800" cy="751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ja-JP" sz="2800" b="1" dirty="0">
                <a:solidFill>
                  <a:srgbClr val="1A2744"/>
                </a:solidFill>
                <a:latin typeface="Calibri"/>
              </a:rPr>
              <a:t>Y行列 → 潮流 → 強さ → 揺れ → 実測(PMU)</a:t>
            </a:r>
          </a:p>
          <a:p>
            <a:pPr algn="l">
              <a:spcBef>
                <a:spcPts val="700"/>
              </a:spcBef>
            </a:pPr>
            <a:r>
              <a:rPr lang="ja-JP" sz="1500" dirty="0">
                <a:solidFill>
                  <a:srgbClr val="3D4657"/>
                </a:solidFill>
                <a:latin typeface="Calibri"/>
              </a:rPr>
              <a:t>下の層の検証が、上の層の解析を可能にする階段。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300" y="3149600"/>
            <a:ext cx="2082800" cy="406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ja-JP" sz="1900" b="1" dirty="0">
                <a:solidFill>
                  <a:srgbClr val="1A2744"/>
                </a:solidFill>
                <a:latin typeface="Cambria Math"/>
              </a:rPr>
              <a:t>I = Y 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300" y="3683000"/>
            <a:ext cx="2082800" cy="5374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lang="ja-JP" sz="1400" dirty="0">
                <a:solidFill>
                  <a:srgbClr val="5B6470"/>
                </a:solidFill>
                <a:latin typeface="Calibri"/>
              </a:rPr>
              <a:t>土台 — 公表R/Xと整合(1.22)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19500" y="3149600"/>
            <a:ext cx="2082800" cy="406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ja-JP" sz="1800" b="1" dirty="0">
                <a:solidFill>
                  <a:srgbClr val="1A2744"/>
                </a:solidFill>
                <a:latin typeface="Cambria Math"/>
              </a:rPr>
              <a:t>Zth = [ Y⁻¹ ]ii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9500" y="3683000"/>
            <a:ext cx="2082800" cy="533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lang="ja-JP" sz="1400" dirty="0">
                <a:solidFill>
                  <a:srgbClr val="5B6470"/>
                </a:solidFill>
                <a:latin typeface="Calibri"/>
              </a:rPr>
              <a:t>強さの地図 — 物理帯に整合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89700" y="3149600"/>
            <a:ext cx="2082800" cy="406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ja-JP" sz="1900" b="1" dirty="0">
                <a:solidFill>
                  <a:srgbClr val="1A2744"/>
                </a:solidFill>
                <a:latin typeface="Cambria Math"/>
              </a:rPr>
              <a:t>M⁻¹K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89700" y="3683000"/>
            <a:ext cx="2082800" cy="533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lang="ja-JP" sz="1400" dirty="0">
                <a:solidFill>
                  <a:srgbClr val="5B6470"/>
                </a:solidFill>
                <a:latin typeface="Calibri"/>
              </a:rPr>
              <a:t>揺れのモード — 文献0.4Hzを再現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59900" y="3149600"/>
            <a:ext cx="2082800" cy="406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ja-JP" sz="1700" b="1" dirty="0">
                <a:solidFill>
                  <a:srgbClr val="1A2744"/>
                </a:solidFill>
                <a:latin typeface="Calibri"/>
              </a:rPr>
              <a:t>Z比ナイキスト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59900" y="3683000"/>
            <a:ext cx="2082800" cy="2539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lang="ja-JP" sz="1400" dirty="0">
                <a:solidFill>
                  <a:srgbClr val="5B6470"/>
                </a:solidFill>
                <a:latin typeface="Calibri"/>
              </a:rPr>
              <a:t>次の一手 — IBR安定性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" y="5359400"/>
            <a:ext cx="10591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ja-JP" sz="1500" b="1" dirty="0">
                <a:solidFill>
                  <a:srgbClr val="1A2744"/>
                </a:solidFill>
                <a:latin typeface="Calibri"/>
              </a:rPr>
              <a:t>github.com/lutelute/All-Japan-Grid — 出典付き・帳簿駆動・全再現可能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6100" y="6273800"/>
            <a:ext cx="110998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1100" dirty="0">
                <a:solidFill>
                  <a:srgbClr val="5B6470"/>
                </a:solidFill>
                <a:latin typeface="Calibri"/>
              </a:rPr>
              <a:t>15 / 15   All-Japan-Grid 動的検証キャンペーン 2026-08</a:t>
            </a:r>
          </a:p>
        </p:txBody>
      </p:sp>
      <p:sp>
        <p:nvSpPr>
          <p:cNvPr id="360" name="Arrow 0"/>
          <p:cNvSpPr/>
          <p:nvPr/>
        </p:nvSpPr>
        <p:spPr>
          <a:xfrm>
            <a:off x="3086100" y="3454400"/>
            <a:ext cx="254000" cy="203200"/>
          </a:xfrm>
          <a:prstGeom prst="rightArrow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61" name="Arrow 1"/>
          <p:cNvSpPr/>
          <p:nvPr/>
        </p:nvSpPr>
        <p:spPr>
          <a:xfrm>
            <a:off x="5956300" y="3454400"/>
            <a:ext cx="254000" cy="203200"/>
          </a:xfrm>
          <a:prstGeom prst="rightArrow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62" name="Arrow 2"/>
          <p:cNvSpPr/>
          <p:nvPr/>
        </p:nvSpPr>
        <p:spPr>
          <a:xfrm>
            <a:off x="8826500" y="3454400"/>
            <a:ext cx="254000" cy="203200"/>
          </a:xfrm>
          <a:prstGeom prst="rightArrow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pic>
        <p:nvPicPr>
          <p:cNvPr id="392" name="Graphic 392" descr="系統のネットワーク図（Y行列）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536700" y="2489200"/>
            <a:ext cx="508000" cy="508000"/>
          </a:xfrm>
          <a:prstGeom prst="rect">
            <a:avLst/>
          </a:prstGeom>
        </p:spPr>
      </p:pic>
      <p:pic>
        <p:nvPicPr>
          <p:cNvPr id="393" name="Graphic 393" descr="短絡容量・系統の強さ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6900" y="2489200"/>
            <a:ext cx="508000" cy="508000"/>
          </a:xfrm>
          <a:prstGeom prst="rect">
            <a:avLst/>
          </a:prstGeom>
        </p:spPr>
      </p:pic>
      <p:pic>
        <p:nvPicPr>
          <p:cNvPr id="394" name="Graphic 394" descr="動揺モード・系統の揺れ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277100" y="2489200"/>
            <a:ext cx="508000" cy="508000"/>
          </a:xfrm>
          <a:prstGeom prst="rect">
            <a:avLst/>
          </a:prstGeom>
        </p:spPr>
      </p:pic>
      <p:pic>
        <p:nvPicPr>
          <p:cNvPr id="395" name="Graphic 395" descr="安定性判定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147300" y="2489200"/>
            <a:ext cx="508000" cy="50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20342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4C8ED1F5-BF28-D342-9E8C-2648FBB44D18}">
  <we:reference id="wa200010001" version="1.0.0.1" store="ja-JP" storeType="OMEX"/>
  <we:alternateReferences>
    <we:reference id="WA200010001" version="1.0.0.1" store="" storeType="OMEX"/>
  </we:alternateReferences>
  <we:properties>
    <we:property name="claude.fileId" value="&quot;22d5790c-c4cb-4d7d-bd96-4bf97e135684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524ACCA2-15D2-494C-9397-5BD4C891111A}">
  <we:reference id="wa200010473" version="1.0.0.4" store="en-US" storeType="OMEX"/>
  <we:alternateReferences>
    <we:reference id="WA200010473" version="1.0.0.4" store="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200</TotalTime>
  <Words>2705</Words>
  <Application>Microsoft Macintosh PowerPoint</Application>
  <PresentationFormat>ワイド画面</PresentationFormat>
  <Paragraphs>246</Paragraphs>
  <Slides>15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15</vt:i4>
      </vt:variant>
    </vt:vector>
  </HeadingPairs>
  <TitlesOfParts>
    <vt:vector size="19" baseType="lpstr">
      <vt:lpstr>Arial</vt:lpstr>
      <vt:lpstr>Calibri</vt:lpstr>
      <vt:lpstr>Cambria Math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颯人 重信</cp:lastModifiedBy>
  <cp:revision>3</cp:revision>
  <dcterms:created xsi:type="dcterms:W3CDTF">2013-01-27T09:14:16Z</dcterms:created>
  <dcterms:modified xsi:type="dcterms:W3CDTF">2026-08-17T04:58:09Z</dcterms:modified>
  <cp:category/>
</cp:coreProperties>
</file>