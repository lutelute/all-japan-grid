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1" r:id="rId2"/>
    <p:sldId id="371" r:id="rId3"/>
    <p:sldId id="305" r:id="rId4"/>
    <p:sldId id="341" r:id="rId5"/>
    <p:sldId id="372" r:id="rId6"/>
    <p:sldId id="345" r:id="rId7"/>
    <p:sldId id="374" r:id="rId8"/>
    <p:sldId id="346" r:id="rId9"/>
    <p:sldId id="375" r:id="rId10"/>
    <p:sldId id="324" r:id="rId11"/>
    <p:sldId id="348" r:id="rId12"/>
    <p:sldId id="328" r:id="rId13"/>
    <p:sldId id="377" r:id="rId14"/>
    <p:sldId id="331" r:id="rId15"/>
    <p:sldId id="38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0"/>
    <p:restoredTop sz="94635"/>
  </p:normalViewPr>
  <p:slideViewPr>
    <p:cSldViewPr snapToGrid="0" snapToObjects="1">
      <p:cViewPr>
        <p:scale>
          <a:sx n="132" d="100"/>
          <a:sy n="132" d="100"/>
        </p:scale>
        <p:origin x="-280" y="7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Deco 213"/>
          <p:cNvSpPr/>
          <p:nvPr/>
        </p:nvSpPr>
        <p:spPr>
          <a:xfrm>
            <a:off x="9042400" y="3810000"/>
            <a:ext cx="2603500" cy="190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Deco 212"/>
          <p:cNvSpPr/>
          <p:nvPr/>
        </p:nvSpPr>
        <p:spPr>
          <a:xfrm>
            <a:off x="6210300" y="3810000"/>
            <a:ext cx="2603500" cy="190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Deco 211"/>
          <p:cNvSpPr/>
          <p:nvPr/>
        </p:nvSpPr>
        <p:spPr>
          <a:xfrm>
            <a:off x="3378200" y="3810000"/>
            <a:ext cx="2603500" cy="190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Deco 210"/>
          <p:cNvSpPr/>
          <p:nvPr/>
        </p:nvSpPr>
        <p:spPr>
          <a:xfrm>
            <a:off x="546100" y="3810000"/>
            <a:ext cx="2603500" cy="190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Deco 223"/>
          <p:cNvSpPr/>
          <p:nvPr/>
        </p:nvSpPr>
        <p:spPr>
          <a:xfrm>
            <a:off x="9042400" y="3810000"/>
            <a:ext cx="26035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Deco 222"/>
          <p:cNvSpPr/>
          <p:nvPr/>
        </p:nvSpPr>
        <p:spPr>
          <a:xfrm>
            <a:off x="6210300" y="3810000"/>
            <a:ext cx="26035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Deco 221"/>
          <p:cNvSpPr/>
          <p:nvPr/>
        </p:nvSpPr>
        <p:spPr>
          <a:xfrm>
            <a:off x="3378200" y="3810000"/>
            <a:ext cx="26035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Deco 220"/>
          <p:cNvSpPr/>
          <p:nvPr/>
        </p:nvSpPr>
        <p:spPr>
          <a:xfrm>
            <a:off x="546100" y="3810000"/>
            <a:ext cx="26035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Deco 2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Deco 2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Deco 2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ALL-JAPAN-GRID ｜ 動的検証キャンペーン 2026-08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990600"/>
            <a:ext cx="11099800" cy="1424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lang="ja-JP" sz="4000" b="1" dirty="0">
                <a:solidFill>
                  <a:srgbClr val="1A2744"/>
                </a:solidFill>
                <a:latin typeface="Calibri"/>
              </a:rPr>
              <a:t>日本の送電網は、公開データだけで</a:t>
            </a:r>
          </a:p>
          <a:p>
            <a:pPr algn="l">
              <a:lnSpc>
                <a:spcPct val="112000"/>
              </a:lnSpc>
            </a:pPr>
            <a:r>
              <a:rPr lang="ja-JP" sz="4000" b="1" dirty="0">
                <a:solidFill>
                  <a:srgbClr val="1A2744"/>
                </a:solidFill>
                <a:latin typeface="Calibri"/>
              </a:rPr>
              <a:t>どこまで「見える」か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2692400"/>
            <a:ext cx="9652000" cy="74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OSMの線形と、各社が制度に基づき公表するインピーダンス・潮流・系統図。その2つだけから組み上げた全国モデルが、静的な地図を越えて「系統の強さと揺れ」まで再現した記録 — 原理・数式・答え合わせつき。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" y="4089400"/>
            <a:ext cx="2146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400" b="1" dirty="0">
                <a:solidFill>
                  <a:srgbClr val="1A2744"/>
                </a:solidFill>
                <a:latin typeface="Calibri"/>
              </a:rPr>
              <a:t>17,881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700" y="4699000"/>
            <a:ext cx="21463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ノード(全国)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6800" y="4089400"/>
            <a:ext cx="2146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400" b="1" dirty="0">
                <a:solidFill>
                  <a:srgbClr val="1A2744"/>
                </a:solidFill>
                <a:latin typeface="Calibri"/>
              </a:rPr>
              <a:t>4島 AC収束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6800" y="4699000"/>
            <a:ext cx="21463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全規模潮流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4089400"/>
            <a:ext cx="2146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400" b="1" dirty="0">
                <a:solidFill>
                  <a:srgbClr val="1A2744"/>
                </a:solidFill>
                <a:latin typeface="Calibri"/>
              </a:rPr>
              <a:t>0.43 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4699000"/>
            <a:ext cx="21463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西日本長軸振動の再現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1000" y="4089400"/>
            <a:ext cx="2146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400" b="1" dirty="0">
                <a:solidFill>
                  <a:srgbClr val="1A2744"/>
                </a:solidFill>
                <a:latin typeface="Calibri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1000" y="4699000"/>
            <a:ext cx="21463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介入台帳(全仮定の目録)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01 / 15   出典付き・帳簿駆動・全再現可能(regenerate_all)</a:t>
            </a:r>
          </a:p>
        </p:txBody>
      </p:sp>
    </p:spTree>
    <p:extLst>
      <p:ext uri="{BB962C8B-B14F-4D97-AF65-F5344CB8AC3E}">
        <p14:creationId xmlns:p14="http://schemas.microsoft.com/office/powerpoint/2010/main" val="3135773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Dg 400"/>
          <p:cNvSpPr/>
          <p:nvPr/>
        </p:nvSpPr>
        <p:spPr>
          <a:xfrm>
            <a:off x="495300" y="2009458"/>
            <a:ext cx="5969000" cy="2286000"/>
          </a:xfrm>
          <a:prstGeom prst="rect">
            <a:avLst/>
          </a:prstGeom>
          <a:solidFill>
            <a:srgbClr val="FCFDFE"/>
          </a:solidFill>
          <a:ln w="9525">
            <a:solidFill>
              <a:srgbClr val="D8DEE7"/>
            </a:solidFill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10" name="Dg 310"/>
          <p:cNvSpPr/>
          <p:nvPr/>
        </p:nvSpPr>
        <p:spPr>
          <a:xfrm>
            <a:off x="6680200" y="2159000"/>
            <a:ext cx="4965700" cy="1651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6680200" y="2159000"/>
            <a:ext cx="38100" cy="16510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12" name="Dg 312"/>
          <p:cNvSpPr/>
          <p:nvPr/>
        </p:nvSpPr>
        <p:spPr>
          <a:xfrm>
            <a:off x="6680200" y="4013200"/>
            <a:ext cx="4965700" cy="2159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13" name="Dg 313"/>
          <p:cNvSpPr/>
          <p:nvPr/>
        </p:nvSpPr>
        <p:spPr>
          <a:xfrm>
            <a:off x="6680200" y="4013200"/>
            <a:ext cx="49657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20" name="Dg 320"/>
          <p:cNvSpPr/>
          <p:nvPr/>
        </p:nvSpPr>
        <p:spPr>
          <a:xfrm>
            <a:off x="546100" y="4826000"/>
            <a:ext cx="5969000" cy="1346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21" name="Dg 321"/>
          <p:cNvSpPr/>
          <p:nvPr/>
        </p:nvSpPr>
        <p:spPr>
          <a:xfrm>
            <a:off x="546100" y="4826000"/>
            <a:ext cx="38100" cy="13462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00" name="Deco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eco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eco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原理 0 ｜ 系統の数学的正体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89000"/>
            <a:ext cx="11099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系統は1枚の行列 — ノードアドミタンス行列 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46100" y="1498600"/>
                <a:ext cx="11099800" cy="381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40000"/>
                  </a:lnSpc>
                </a:pPr>
                <a:r>
                  <a:rPr lang="ja-JP" sz="1500" dirty="0">
                    <a:solidFill>
                      <a:srgbClr val="3D4657"/>
                    </a:solidFill>
                    <a:latin typeface="Calibri"/>
                  </a:rPr>
                  <a:t>送電網はバス(節点)と枝(線路・変圧器)のグラフ。各枝のインピーダンス </a:t>
                </a:r>
                <a14:m>
                  <m:oMath xmlns:m="http://schemas.openxmlformats.org/officeDocument/2006/math">
                    <m:r>
                      <a:rPr lang="ja-JP" altLang="en-US" sz="1500" i="1" dirty="0" smtClean="0">
                        <a:solidFill>
                          <a:srgbClr val="3D465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ja-JP" sz="1500" i="1" dirty="0">
                        <a:solidFill>
                          <a:srgbClr val="3D4657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ja-JP" altLang="en-US" sz="1500" i="1" dirty="0">
                        <a:solidFill>
                          <a:srgbClr val="3D465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ja-JP" sz="1500" i="1" dirty="0">
                        <a:solidFill>
                          <a:srgbClr val="3D4657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ja-JP" altLang="en-US" sz="1500" i="1" dirty="0">
                        <a:solidFill>
                          <a:srgbClr val="3D4657"/>
                        </a:solidFill>
                        <a:latin typeface="Cambria Math" panose="02040503050406030204" pitchFamily="18" charset="0"/>
                      </a:rPr>
                      <m:t>𝑗𝑥</m:t>
                    </m:r>
                    <m:r>
                      <a:rPr lang="ja-JP" sz="1500" i="1" dirty="0">
                        <a:solidFill>
                          <a:srgbClr val="3D4657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sz="1500" dirty="0">
                    <a:solidFill>
                      <a:srgbClr val="3D4657"/>
                    </a:solidFill>
                    <a:latin typeface="Calibri"/>
                  </a:rPr>
                  <a:t>の逆数を節点方程式に並べたもの。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1498600"/>
                <a:ext cx="11099800" cy="381771"/>
              </a:xfrm>
              <a:prstGeom prst="rect">
                <a:avLst/>
              </a:prstGeom>
              <a:blipFill>
                <a:blip r:embed="rId2"/>
                <a:stretch>
                  <a:fillRect l="-343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546100" y="4826000"/>
                <a:ext cx="5969000" cy="1346200"/>
              </a:xfrm>
              <a:prstGeom prst="rect">
                <a:avLst/>
              </a:prstGeom>
              <a:solidFill>
                <a:srgbClr val="F4F6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tIns="152400" rIns="152400" bIns="152400"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800" dirty="0">
                          <a:solidFill>
                            <a:srgbClr val="2C5F8A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8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800" dirty="0">
                          <a:solidFill>
                            <a:srgbClr val="2E7D5B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8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8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−</m:t>
                      </m:r>
                      <m:sSub>
                        <m:sSubPr>
                          <m:ctrlP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,   </m:t>
                      </m:r>
                      <m:sSub>
                        <m:sSubPr>
                          <m:ctrlPr>
                            <a:rPr lang="en-US" sz="18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8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sz="18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𝑠ℎ</m:t>
                          </m:r>
                          <m:r>
                            <a:rPr lang="en-US" sz="18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algn="l">
                  <a:lnSpc>
                    <a:spcPct val="130000"/>
                  </a:lnSpc>
                </a:pPr>
                <a:r>
                  <a:rPr lang="ja-JP" sz="1400" dirty="0">
                    <a:solidFill>
                      <a:srgbClr val="5B6470"/>
                    </a:solidFill>
                    <a:latin typeface="Calibri"/>
                  </a:rPr>
                  <a:t>I = 節点注入電流 ・ V = 節点電圧 (17,862² ・ 非零 0.019%)</a:t>
                </a: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4826000"/>
                <a:ext cx="5969000" cy="1346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6680200" y="2159000"/>
                <a:ext cx="4965700" cy="1651000"/>
              </a:xfrm>
              <a:prstGeom prst="rect">
                <a:avLst/>
              </a:prstGeom>
              <a:solidFill>
                <a:srgbClr val="F4F6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tIns="152400" rIns="152400" bIns="152400"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2E7D5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2E7D5B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2E7D5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2E7D5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2E7D5B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2E7D5B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/>
              </a:p>
              <a:p>
                <a:pPr algn="l">
                  <a:lnSpc>
                    <a:spcPct val="130000"/>
                  </a:lnSpc>
                </a:pPr>
                <a:r>
                  <a:rPr lang="ja-JP" sz="1400" dirty="0">
                    <a:solidFill>
                      <a:srgbClr val="5B6470"/>
                    </a:solidFill>
                    <a:latin typeface="Calibri"/>
                  </a:rPr>
                  <a:t>潮流方程式。G + jB = Y の実部/虚部、θij = 位相差。Newton–Raphson で解く = 潮流計算。</a:t>
                </a: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200" y="2159000"/>
                <a:ext cx="4965700" cy="1651000"/>
              </a:xfrm>
              <a:prstGeom prst="rect">
                <a:avLst/>
              </a:prstGeom>
              <a:blipFill>
                <a:blip r:embed="rId4"/>
                <a:stretch>
                  <a:fillRect t="-39695" b="-320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934200" y="4267200"/>
            <a:ext cx="44577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800" b="1" dirty="0">
                <a:solidFill>
                  <a:srgbClr val="1A2744"/>
                </a:solidFill>
                <a:latin typeface="Calibri"/>
              </a:rPr>
              <a:t>この1枚から出るもの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4200" y="4775200"/>
            <a:ext cx="4457700" cy="1418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30000"/>
              </a:lnSpc>
              <a:spcAft>
                <a:spcPts val="4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潮流 — どの線に何MW流れるか(観測と突合可)</a:t>
            </a:r>
          </a:p>
          <a:p>
            <a:pPr marL="171450" indent="-171450" algn="l">
              <a:lnSpc>
                <a:spcPct val="130000"/>
              </a:lnSpc>
              <a:spcAft>
                <a:spcPts val="4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短絡容量 — 系統の「強さ」(原理I)</a:t>
            </a:r>
          </a:p>
          <a:p>
            <a:pPr marL="171450" indent="-171450" algn="l">
              <a:lnSpc>
                <a:spcPct val="130000"/>
              </a:lnSpc>
              <a:spcAft>
                <a:spcPts val="4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動揺モード — 系統の「揺れ」(原理II)</a:t>
            </a:r>
          </a:p>
          <a:p>
            <a:pPr marL="171450" indent="-171450" algn="l">
              <a:lnSpc>
                <a:spcPct val="130000"/>
              </a:lnSpc>
              <a:spcAft>
                <a:spcPts val="4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Z(jω) — 周波数依存化すれば共振の判定へ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02 / 15   Yはpandapower/pypower makeYbus(業界標準実装)・出荷v5.0.1</a:t>
            </a:r>
          </a:p>
        </p:txBody>
      </p:sp>
      <p:sp>
        <p:nvSpPr>
          <p:cNvPr id="401" name="TB 401"/>
          <p:cNvSpPr txBox="1"/>
          <p:nvPr/>
        </p:nvSpPr>
        <p:spPr>
          <a:xfrm>
            <a:off x="698500" y="2311400"/>
            <a:ext cx="56642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概念図 — 発電機・インピーダンス・三相短絡</a:t>
            </a:r>
          </a:p>
        </p:txBody>
      </p:sp>
      <p:sp>
        <p:nvSpPr>
          <p:cNvPr id="410" name="Dg 410"/>
          <p:cNvSpPr/>
          <p:nvPr/>
        </p:nvSpPr>
        <p:spPr>
          <a:xfrm>
            <a:off x="787400" y="2768600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2744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2400" b="1" dirty="0">
                <a:solidFill>
                  <a:srgbClr val="1A2744"/>
                </a:solidFill>
                <a:latin typeface="Cambria Math"/>
              </a:rPr>
              <a:t>G</a:t>
            </a:r>
          </a:p>
        </p:txBody>
      </p:sp>
      <p:sp>
        <p:nvSpPr>
          <p:cNvPr id="411" name="Dg 411"/>
          <p:cNvSpPr/>
          <p:nvPr/>
        </p:nvSpPr>
        <p:spPr>
          <a:xfrm>
            <a:off x="1701800" y="3200400"/>
            <a:ext cx="55880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412" name="Dg 412"/>
          <p:cNvSpPr/>
          <p:nvPr/>
        </p:nvSpPr>
        <p:spPr>
          <a:xfrm>
            <a:off x="2260600" y="2971800"/>
            <a:ext cx="1219200" cy="50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2744"/>
            </a:solidFill>
          </a:ln>
        </p:spPr>
        <p:txBody>
          <a:bodyPr lIns="0" tIns="0" rIns="0" bIns="0" rtlCol="0" anchor="ctr"/>
          <a:lstStyle/>
          <a:p>
            <a:pPr algn="ctr"/>
            <a:r>
              <a:rPr lang="en-US" sz="2200" b="1" dirty="0">
                <a:solidFill>
                  <a:srgbClr val="2C5F8A"/>
                </a:solidFill>
                <a:latin typeface="Cambria Math"/>
              </a:rPr>
              <a:t>Z</a:t>
            </a:r>
          </a:p>
        </p:txBody>
      </p:sp>
      <p:sp>
        <p:nvSpPr>
          <p:cNvPr id="420" name="TB 420"/>
          <p:cNvSpPr txBox="1"/>
          <p:nvPr/>
        </p:nvSpPr>
        <p:spPr>
          <a:xfrm>
            <a:off x="711200" y="3759200"/>
            <a:ext cx="11684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ja-JP" sz="1400" dirty="0">
                <a:solidFill>
                  <a:srgbClr val="1A2744"/>
                </a:solidFill>
                <a:latin typeface="Calibri"/>
              </a:rPr>
              <a:t>発電機 E</a:t>
            </a:r>
          </a:p>
        </p:txBody>
      </p:sp>
      <p:sp>
        <p:nvSpPr>
          <p:cNvPr id="421" name="TB 421"/>
          <p:cNvSpPr txBox="1"/>
          <p:nvPr/>
        </p:nvSpPr>
        <p:spPr>
          <a:xfrm>
            <a:off x="2057400" y="3759200"/>
            <a:ext cx="16002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ja-JP" sz="1400" dirty="0">
                <a:solidFill>
                  <a:srgbClr val="2C5F8A"/>
                </a:solidFill>
                <a:latin typeface="Calibri"/>
              </a:rPr>
              <a:t>線路 Z = R + jX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5" name="TB 425"/>
              <p:cNvSpPr txBox="1"/>
              <p:nvPr/>
            </p:nvSpPr>
            <p:spPr>
              <a:xfrm>
                <a:off x="698500" y="3987800"/>
                <a:ext cx="5664200" cy="5842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700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700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  <m:t>𝑠𝑐</m:t>
                        </m:r>
                      </m:sub>
                    </m:sSub>
                    <m:r>
                      <a:rPr lang="en-US" sz="1700" dirty="0">
                        <a:solidFill>
                          <a:srgbClr val="1A2744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sz="1700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700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sz="1700" dirty="0">
                            <a:solidFill>
                              <a:srgbClr val="2C5F8A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</m:oMath>
                </a14:m>
                <a:r>
                  <a:rPr lang="ja-JP" sz="1400" dirty="0">
                    <a:solidFill>
                      <a:srgbClr val="5B6470"/>
                    </a:solidFill>
                    <a:latin typeface="Calibri"/>
                  </a:rPr>
                  <a:t>　短絡電流は電源とインピーダンスだけで決まる</a:t>
                </a:r>
              </a:p>
            </p:txBody>
          </p:sp>
        </mc:Choice>
        <mc:Fallback>
          <p:sp>
            <p:nvSpPr>
              <p:cNvPr id="425" name="TB 4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3987800"/>
                <a:ext cx="5664200" cy="584200"/>
              </a:xfrm>
              <a:prstGeom prst="rect">
                <a:avLst/>
              </a:prstGeom>
              <a:blipFill>
                <a:blip r:embed="rId5"/>
                <a:stretch>
                  <a:fillRect l="-13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6" name="TB 426"/>
          <p:cNvSpPr txBox="1"/>
          <p:nvPr/>
        </p:nvSpPr>
        <p:spPr>
          <a:xfrm>
            <a:off x="546100" y="4521200"/>
            <a:ext cx="5969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「インピーダンスだけで系統は基本計算できる」— その理由が下の2式。</a:t>
            </a:r>
          </a:p>
        </p:txBody>
      </p:sp>
      <p:sp>
        <p:nvSpPr>
          <p:cNvPr id="903" name="Dg 903"/>
          <p:cNvSpPr/>
          <p:nvPr/>
        </p:nvSpPr>
        <p:spPr>
          <a:xfrm>
            <a:off x="4225678" y="2922905"/>
            <a:ext cx="584200" cy="228600"/>
          </a:xfrm>
          <a:prstGeom prst="rightArrow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4" name="TB 904"/>
              <p:cNvSpPr txBox="1"/>
              <p:nvPr/>
            </p:nvSpPr>
            <p:spPr>
              <a:xfrm>
                <a:off x="3964679" y="2708751"/>
                <a:ext cx="838200" cy="2540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ja-JP" altLang="en-US" sz="1400" b="1" i="1" dirty="0" smtClean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1400" b="1" i="1" dirty="0" smtClean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ja-JP" altLang="en-US" sz="1400" b="1" i="1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𝒔𝒄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04" name="TB 9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679" y="2708751"/>
                <a:ext cx="838200" cy="254000"/>
              </a:xfrm>
              <a:prstGeom prst="rect">
                <a:avLst/>
              </a:prstGeom>
              <a:blipFill>
                <a:blip r:embed="rId6"/>
                <a:stretch>
                  <a:fillRect t="-23810" b="-285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5" name="TB 905"/>
          <p:cNvSpPr txBox="1"/>
          <p:nvPr/>
        </p:nvSpPr>
        <p:spPr>
          <a:xfrm>
            <a:off x="4198570" y="3245326"/>
            <a:ext cx="11684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ja-JP" sz="1400" dirty="0">
                <a:solidFill>
                  <a:srgbClr val="8A2E3B"/>
                </a:solidFill>
                <a:latin typeface="Calibri"/>
              </a:rPr>
              <a:t>三相短絡</a:t>
            </a: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7725A016-22F0-2AD2-AC56-EBECC4625108}"/>
              </a:ext>
            </a:extLst>
          </p:cNvPr>
          <p:cNvGrpSpPr/>
          <p:nvPr/>
        </p:nvGrpSpPr>
        <p:grpSpPr>
          <a:xfrm>
            <a:off x="4052323" y="3207702"/>
            <a:ext cx="394335" cy="544195"/>
            <a:chOff x="4343400" y="3208655"/>
            <a:chExt cx="394335" cy="544195"/>
          </a:xfrm>
        </p:grpSpPr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68F930BF-2E45-38DE-F70D-E8BB62165479}"/>
                </a:ext>
              </a:extLst>
            </p:cNvPr>
            <p:cNvCxnSpPr>
              <a:cxnSpLocks/>
            </p:cNvCxnSpPr>
            <p:nvPr/>
          </p:nvCxnSpPr>
          <p:spPr>
            <a:xfrm>
              <a:off x="4343400" y="3219450"/>
              <a:ext cx="23907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5A4F5D32-1CD3-3D89-4BF8-9F56937239A3}"/>
                </a:ext>
              </a:extLst>
            </p:cNvPr>
            <p:cNvCxnSpPr>
              <a:cxnSpLocks/>
            </p:cNvCxnSpPr>
            <p:nvPr/>
          </p:nvCxnSpPr>
          <p:spPr>
            <a:xfrm>
              <a:off x="4582477" y="3208655"/>
              <a:ext cx="0" cy="3975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BBAE64D5-B826-F06A-D353-876B641766A5}"/>
                </a:ext>
              </a:extLst>
            </p:cNvPr>
            <p:cNvCxnSpPr>
              <a:cxnSpLocks/>
            </p:cNvCxnSpPr>
            <p:nvPr/>
          </p:nvCxnSpPr>
          <p:spPr>
            <a:xfrm>
              <a:off x="4427220" y="3613150"/>
              <a:ext cx="31051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13AA81AF-35A9-BD76-3779-CB64407BA794}"/>
                </a:ext>
              </a:extLst>
            </p:cNvPr>
            <p:cNvCxnSpPr>
              <a:cxnSpLocks/>
            </p:cNvCxnSpPr>
            <p:nvPr/>
          </p:nvCxnSpPr>
          <p:spPr>
            <a:xfrm>
              <a:off x="4473416" y="3683000"/>
              <a:ext cx="21812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52F18EC8-E3AE-6710-2DB3-7E53DF2C7C2B}"/>
                </a:ext>
              </a:extLst>
            </p:cNvPr>
            <p:cNvCxnSpPr>
              <a:cxnSpLocks/>
            </p:cNvCxnSpPr>
            <p:nvPr/>
          </p:nvCxnSpPr>
          <p:spPr>
            <a:xfrm>
              <a:off x="4516755" y="3752850"/>
              <a:ext cx="13144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Ln 901">
            <a:extLst>
              <a:ext uri="{FF2B5EF4-FFF2-40B4-BE49-F238E27FC236}">
                <a16:creationId xmlns:a16="http://schemas.microsoft.com/office/drawing/2014/main" id="{EA8F69D7-B457-989B-B5B7-E0088AB2986C}"/>
              </a:ext>
            </a:extLst>
          </p:cNvPr>
          <p:cNvSpPr/>
          <p:nvPr/>
        </p:nvSpPr>
        <p:spPr>
          <a:xfrm>
            <a:off x="4053469" y="2923948"/>
            <a:ext cx="0" cy="555852"/>
          </a:xfrm>
          <a:prstGeom prst="line">
            <a:avLst/>
          </a:prstGeom>
          <a:ln w="6350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Dg 411">
            <a:extLst>
              <a:ext uri="{FF2B5EF4-FFF2-40B4-BE49-F238E27FC236}">
                <a16:creationId xmlns:a16="http://schemas.microsoft.com/office/drawing/2014/main" id="{9B696906-5F25-B891-A287-411792F990AC}"/>
              </a:ext>
            </a:extLst>
          </p:cNvPr>
          <p:cNvSpPr/>
          <p:nvPr/>
        </p:nvSpPr>
        <p:spPr>
          <a:xfrm>
            <a:off x="3474791" y="3200400"/>
            <a:ext cx="55880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7527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eco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eco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eco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Deco 310"/>
          <p:cNvSpPr/>
          <p:nvPr/>
        </p:nvSpPr>
        <p:spPr>
          <a:xfrm>
            <a:off x="546100" y="5054600"/>
            <a:ext cx="11099800" cy="939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eco 311"/>
          <p:cNvSpPr/>
          <p:nvPr/>
        </p:nvSpPr>
        <p:spPr>
          <a:xfrm>
            <a:off x="546100" y="5054600"/>
            <a:ext cx="38100" cy="9398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主張の型 ｜ 何が新しいのか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89000"/>
            <a:ext cx="11099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「モデルが凄い」ではなく「答え合わせが凄い」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1498600"/>
            <a:ext cx="110998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500" dirty="0">
                <a:solidFill>
                  <a:srgbClr val="3D4657"/>
                </a:solidFill>
                <a:latin typeface="Calibri"/>
              </a:rPr>
              <a:t>4つの層それぞれに、独立の公開データによる検算がある。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142560"/>
              </p:ext>
            </p:extLst>
          </p:nvPr>
        </p:nvGraphicFramePr>
        <p:xfrm>
          <a:off x="546100" y="2006600"/>
          <a:ext cx="110998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</a:lnL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モデル側</a:t>
                      </a:r>
                    </a:p>
                  </a:txBody>
                  <a:tcPr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独立の公開データ</a:t>
                      </a:r>
                    </a:p>
                  </a:txBody>
                  <a:tcPr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結果</a:t>
                      </a:r>
                    </a:p>
                  </a:txBody>
                  <a:tcPr anchor="ctr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① インピーダンス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線種×実線長(par合成)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様式5 公表R/X(404線)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8A2E3B"/>
                          </a:solidFill>
                          <a:latin typeface="Calibri"/>
                          <a:cs typeface="Calibri"/>
                        </a:rPr>
                        <a:t>比 中央値1.22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② 潮流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</a:lnL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AC潮流解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潮流実績CSV(2,600線超)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8A2E3B"/>
                          </a:solidFill>
                          <a:latin typeface="Calibri"/>
                          <a:cs typeface="Calibri"/>
                        </a:rPr>
                        <a:t>Spearman 0.41 ✓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③ 静的強度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テブナン短絡容量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物理帯(66kV≈1–2GVA)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8A2E3B"/>
                          </a:solidFill>
                          <a:latin typeface="Calibri"/>
                          <a:cs typeface="Calibri"/>
                        </a:rPr>
                        <a:t>896–2,207 MVA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④ 動的挙動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</a:lnL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長軸振動モード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実測で知られる約0.4Hz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8A2E3B"/>
                          </a:solidFill>
                          <a:latin typeface="Calibri"/>
                          <a:cs typeface="Calibri"/>
                        </a:rPr>
                        <a:t>0.434 Hz ✓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0100" y="5257800"/>
            <a:ext cx="10591800" cy="37311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既存のオープン系統モデル(SciGRID・GridKit・PyPSA-Eur)は静的トポロジ止まり — </a:t>
            </a:r>
            <a:r>
              <a:rPr lang="ja-JP" sz="1500" b="1" dirty="0">
                <a:solidFill>
                  <a:srgbClr val="8A2E3B"/>
                </a:solidFill>
                <a:latin typeface="Calibri"/>
              </a:rPr>
              <a:t>動的検証まで到達した公開モデルは例がない。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03 / 15   検証4点セット</a:t>
            </a:r>
          </a:p>
        </p:txBody>
      </p:sp>
    </p:spTree>
    <p:extLst>
      <p:ext uri="{BB962C8B-B14F-4D97-AF65-F5344CB8AC3E}">
        <p14:creationId xmlns:p14="http://schemas.microsoft.com/office/powerpoint/2010/main" val="3192562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eco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eco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eco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Deco 320"/>
          <p:cNvSpPr/>
          <p:nvPr/>
        </p:nvSpPr>
        <p:spPr>
          <a:xfrm>
            <a:off x="546100" y="3327400"/>
            <a:ext cx="4572000" cy="2108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Deco 321"/>
          <p:cNvSpPr/>
          <p:nvPr/>
        </p:nvSpPr>
        <p:spPr>
          <a:xfrm>
            <a:off x="546100" y="3327400"/>
            <a:ext cx="38100" cy="21082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0" name="Deco 330"/>
          <p:cNvSpPr/>
          <p:nvPr/>
        </p:nvSpPr>
        <p:spPr>
          <a:xfrm>
            <a:off x="546100" y="5537200"/>
            <a:ext cx="38100" cy="5588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検証 ①② ｜ 観測との突合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38200"/>
            <a:ext cx="4572000" cy="979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ja-JP" sz="2600" b="1" dirty="0">
                <a:solidFill>
                  <a:srgbClr val="1A2744"/>
                </a:solidFill>
                <a:latin typeface="Calibri"/>
              </a:rPr>
              <a:t>2,600本の線に、実測の潮流が流れている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2108200"/>
            <a:ext cx="457200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10社の「系統情報公表」から潮流実績(1時間値×1年)を機械収集し、OSM由来の線形に配置。青=実測潮流あり・太さ=潮流p95。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6100" y="3327400"/>
            <a:ext cx="4572000" cy="2108200"/>
          </a:xfrm>
          <a:ln/>
          <a:effectLst/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52400" rIns="152400" bIns="152400" rtlCol="0" anchor="ctr"/>
          <a:lstStyle/>
          <a:p>
            <a:pPr algn="l"/>
            <a:r>
              <a:rPr lang="en-US" sz="1900" dirty="0">
                <a:solidFill>
                  <a:srgbClr val="1A2744"/>
                </a:solidFill>
                <a:latin typeface="Cambria Math"/>
              </a:rPr>
              <a:t>X公表 / Xモデル の中央値 = 1.22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Xモデル=線種典型x×弦距離÷par。弦は実長の下限なので比&gt;1が自然(1.2〜1.4=迂回率)→全国でスケール整合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5537200"/>
            <a:ext cx="4318000" cy="55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中部はローカル77kVまで実名公表と判明 — 誤認を訂正して収容。</a:t>
            </a:r>
          </a:p>
        </p:txBody>
      </p:sp>
      <p:pic>
        <p:nvPicPr>
          <p:cNvPr id="8" name="Picture 7" descr="fig_national_obs_slide.jpg"/>
          <p:cNvPicPr>
            <a:picLocks noChangeAspect="1"/>
          </p:cNvPicPr>
          <p:nvPr/>
        </p:nvPicPr>
        <p:blipFill>
          <a:blip r:embed="rId2"/>
          <a:srcRect l="9000" t="9000" r="7000" b="10000"/>
          <a:stretch>
            <a:fillRect/>
          </a:stretch>
        </p:blipFill>
        <p:spPr>
          <a:xfrm>
            <a:off x="6573139" y="685800"/>
            <a:ext cx="4176522" cy="515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04 / 15   観測=observed層としてderived(解析値)と分離管理</a:t>
            </a:r>
          </a:p>
        </p:txBody>
      </p:sp>
      <p:sp>
        <p:nvSpPr>
          <p:cNvPr id="400" name="Caption 400"/>
          <p:cNvSpPr txBox="1"/>
          <p:nvPr/>
        </p:nvSpPr>
        <p:spPr>
          <a:xfrm>
            <a:off x="5130800" y="5918200"/>
            <a:ext cx="70612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青=実測潮流あり(全国2,629本)・線の太さ=潮流p95</a:t>
            </a:r>
          </a:p>
        </p:txBody>
      </p:sp>
    </p:spTree>
    <p:extLst>
      <p:ext uri="{BB962C8B-B14F-4D97-AF65-F5344CB8AC3E}">
        <p14:creationId xmlns:p14="http://schemas.microsoft.com/office/powerpoint/2010/main" val="3847836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ln/>
          <a:effectLst/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0" name="Dg 800"/>
          <p:cNvSpPr/>
          <p:nvPr/>
        </p:nvSpPr>
        <p:spPr>
          <a:xfrm>
            <a:off x="546100" y="2133600"/>
            <a:ext cx="5969000" cy="1930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1" name="Dg 801"/>
          <p:cNvSpPr/>
          <p:nvPr/>
        </p:nvSpPr>
        <p:spPr>
          <a:xfrm>
            <a:off x="546100" y="2133600"/>
            <a:ext cx="38100" cy="19304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20" name="Dg 320"/>
          <p:cNvSpPr/>
          <p:nvPr/>
        </p:nvSpPr>
        <p:spPr>
          <a:xfrm>
            <a:off x="546100" y="4191000"/>
            <a:ext cx="5969000" cy="1981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21" name="Dg 321"/>
          <p:cNvSpPr/>
          <p:nvPr/>
        </p:nvSpPr>
        <p:spPr>
          <a:xfrm>
            <a:off x="546100" y="4191000"/>
            <a:ext cx="38100" cy="19812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22" name="Dg 322"/>
          <p:cNvSpPr/>
          <p:nvPr/>
        </p:nvSpPr>
        <p:spPr>
          <a:xfrm>
            <a:off x="6680200" y="1752600"/>
            <a:ext cx="4965700" cy="1930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23" name="Dg 323"/>
          <p:cNvSpPr/>
          <p:nvPr/>
        </p:nvSpPr>
        <p:spPr>
          <a:xfrm>
            <a:off x="6680200" y="1752600"/>
            <a:ext cx="38100" cy="19304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10" name="Dg 310"/>
          <p:cNvSpPr/>
          <p:nvPr/>
        </p:nvSpPr>
        <p:spPr>
          <a:xfrm>
            <a:off x="6680200" y="3835400"/>
            <a:ext cx="4965700" cy="2336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6680200" y="3835400"/>
            <a:ext cx="49657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原理 I ｜ 系統の強さ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38200"/>
            <a:ext cx="11099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テブナンの定理で「強さ」を1点の数字にする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1447800"/>
            <a:ext cx="5969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バスiから系統を見ると、どんな複雑な網も「1つの電源 + 1つのインピーダンス Zth」に等価化できる。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" y="5715000"/>
            <a:ext cx="5461000" cy="406400"/>
          </a:xfrm>
          <a:ln/>
          <a:effectLst/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逆行列は作らず疏ＬＵで Y x = ei を解き対角のみ取得(島あたり数十秒)。発電機は x″d = 0.2pu(典型値)で参加。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934200" y="3251200"/>
            <a:ext cx="4457700" cy="431800"/>
          </a:xfrm>
          <a:ln/>
          <a:effectLst/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Zth が大きい(弱い)ほど、インバータの電流変化が自端電圧を動かし、PLLが自分の起こした変動を追って発振する。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4200" y="4089400"/>
            <a:ext cx="44577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800" b="1" dirty="0">
                <a:solidFill>
                  <a:srgbClr val="1A2744"/>
                </a:solidFill>
                <a:latin typeface="Calibri"/>
              </a:rPr>
              <a:t>読みどころ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4200" y="4572000"/>
            <a:ext cx="44577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30000"/>
              </a:lnSpc>
              <a:spcAft>
                <a:spcPts val="300"/>
              </a:spcAft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経験則: SCR &lt; 3 で不安定リスク帯(IEEE系の知見)</a:t>
            </a:r>
          </a:p>
          <a:p>
            <a:pPr marL="171450" indent="-171450" algn="l">
              <a:lnSpc>
                <a:spcPct val="130000"/>
              </a:lnSpc>
              <a:spcAft>
                <a:spcPts val="300"/>
              </a:spcAft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66kV系で Ssc ≈ 1〜2 GVA が普通の値</a:t>
            </a:r>
          </a:p>
          <a:p>
            <a:pPr marL="171450" indent="-171450" algn="l">
              <a:lnSpc>
                <a:spcPct val="130000"/>
              </a:lnSpc>
              <a:spcAft>
                <a:spcPts val="300"/>
              </a:spcAft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モデルの66–77kV帯中央値: 0.9〜2.2 GVA — 物理帯に整合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05 / 15   gen_grid_strength_map.py — 機械はG表(号機×型式別典型値)から</a:t>
            </a:r>
          </a:p>
        </p:txBody>
      </p:sp>
      <p:sp>
        <p:nvSpPr>
          <p:cNvPr id="350" name="Dg 350"/>
          <p:cNvSpPr/>
          <p:nvPr/>
        </p:nvSpPr>
        <p:spPr>
          <a:xfrm>
            <a:off x="698500" y="2362200"/>
            <a:ext cx="1930400" cy="1016000"/>
          </a:xfrm>
          <a:prstGeom prst="cloud">
            <a:avLst/>
          </a:prstGeom>
          <a:solidFill>
            <a:srgbClr val="FFFFFF"/>
          </a:solidFill>
          <a:ln w="12700">
            <a:solidFill>
              <a:srgbClr val="5B6470"/>
            </a:solidFill>
          </a:ln>
        </p:spPr>
        <p:txBody>
          <a:bodyPr lIns="18000" tIns="0" rIns="18000" bIns="0" rtlCol="0" anchor="ctr"/>
          <a:lstStyle/>
          <a:p>
            <a:pPr algn="ctr"/>
            <a:r>
              <a:rPr lang="ja-JP" sz="1400" b="1" dirty="0">
                <a:solidFill>
                  <a:srgbClr val="1A2744"/>
                </a:solidFill>
                <a:latin typeface="Calibri"/>
              </a:rPr>
              <a:t>複雑な系統網</a:t>
            </a:r>
          </a:p>
        </p:txBody>
      </p:sp>
      <p:sp>
        <p:nvSpPr>
          <p:cNvPr id="360" name="TB 360"/>
          <p:cNvSpPr txBox="1"/>
          <p:nvPr/>
        </p:nvSpPr>
        <p:spPr>
          <a:xfrm>
            <a:off x="2717800" y="24384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ja-JP" sz="1400" dirty="0">
                <a:solidFill>
                  <a:srgbClr val="5B6470"/>
                </a:solidFill>
                <a:latin typeface="Calibri"/>
              </a:rPr>
              <a:t>等価化</a:t>
            </a:r>
          </a:p>
        </p:txBody>
      </p:sp>
      <p:sp>
        <p:nvSpPr>
          <p:cNvPr id="351" name="Dg 351"/>
          <p:cNvSpPr/>
          <p:nvPr/>
        </p:nvSpPr>
        <p:spPr>
          <a:xfrm>
            <a:off x="2692400" y="2743200"/>
            <a:ext cx="635000" cy="330200"/>
          </a:xfrm>
          <a:prstGeom prst="rightArrow">
            <a:avLst/>
          </a:prstGeom>
          <a:solidFill>
            <a:srgbClr val="8A2E3B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52" name="Dg 352"/>
          <p:cNvSpPr/>
          <p:nvPr/>
        </p:nvSpPr>
        <p:spPr>
          <a:xfrm>
            <a:off x="3454400" y="2590800"/>
            <a:ext cx="635000" cy="635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2744"/>
            </a:solidFill>
          </a:ln>
        </p:spPr>
        <p:txBody>
          <a:bodyPr lIns="18000" tIns="0" rIns="18000" bIns="0" rtlCol="0" anchor="ctr"/>
          <a:lstStyle/>
          <a:p>
            <a:pPr algn="ctr"/>
            <a:r>
              <a:rPr lang="ja-JP" sz="1800" b="1" dirty="0">
                <a:solidFill>
                  <a:srgbClr val="1A2744"/>
                </a:solidFill>
                <a:latin typeface="Calibri"/>
              </a:rPr>
              <a:t>~</a:t>
            </a:r>
          </a:p>
        </p:txBody>
      </p:sp>
      <p:sp>
        <p:nvSpPr>
          <p:cNvPr id="355" name="Dg 355"/>
          <p:cNvSpPr/>
          <p:nvPr/>
        </p:nvSpPr>
        <p:spPr>
          <a:xfrm>
            <a:off x="4089400" y="2895600"/>
            <a:ext cx="381000" cy="25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53" name="Dg 353"/>
          <p:cNvSpPr/>
          <p:nvPr/>
        </p:nvSpPr>
        <p:spPr>
          <a:xfrm>
            <a:off x="4470400" y="2705100"/>
            <a:ext cx="10160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744"/>
            </a:solidFill>
          </a:ln>
        </p:spPr>
        <p:txBody>
          <a:bodyPr lIns="18000" tIns="0" rIns="18000" bIns="0" rtlCol="0" anchor="ctr"/>
          <a:lstStyle/>
          <a:p>
            <a:pPr algn="ctr"/>
            <a:r>
              <a:rPr lang="ja-JP" sz="1400" b="1" dirty="0">
                <a:solidFill>
                  <a:srgbClr val="1A2744"/>
                </a:solidFill>
                <a:latin typeface="Calibri"/>
              </a:rPr>
              <a:t>Zth</a:t>
            </a:r>
          </a:p>
        </p:txBody>
      </p:sp>
      <p:sp>
        <p:nvSpPr>
          <p:cNvPr id="356" name="Dg 356"/>
          <p:cNvSpPr/>
          <p:nvPr/>
        </p:nvSpPr>
        <p:spPr>
          <a:xfrm>
            <a:off x="5486400" y="2895600"/>
            <a:ext cx="330200" cy="25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54" name="Dg 354"/>
          <p:cNvSpPr/>
          <p:nvPr/>
        </p:nvSpPr>
        <p:spPr>
          <a:xfrm>
            <a:off x="5816600" y="2514600"/>
            <a:ext cx="63500" cy="787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lIns="18000" tIns="0" rIns="18000" bIns="0" rtlCol="0" anchor="ctr"/>
          <a:lstStyle/>
          <a:p>
            <a:endParaRPr/>
          </a:p>
        </p:txBody>
      </p:sp>
      <p:sp>
        <p:nvSpPr>
          <p:cNvPr id="362" name="TB 362"/>
          <p:cNvSpPr txBox="1"/>
          <p:nvPr/>
        </p:nvSpPr>
        <p:spPr>
          <a:xfrm>
            <a:off x="3390900" y="32766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ja-JP" sz="1400" dirty="0">
                <a:solidFill>
                  <a:srgbClr val="5B6470"/>
                </a:solidFill>
                <a:latin typeface="Calibri"/>
              </a:rPr>
              <a:t>Vth</a:t>
            </a:r>
          </a:p>
        </p:txBody>
      </p:sp>
      <p:sp>
        <p:nvSpPr>
          <p:cNvPr id="361" name="TB 361"/>
          <p:cNvSpPr txBox="1"/>
          <p:nvPr/>
        </p:nvSpPr>
        <p:spPr>
          <a:xfrm>
            <a:off x="5334000" y="33528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ja-JP" sz="1400" dirty="0">
                <a:solidFill>
                  <a:srgbClr val="5B6470"/>
                </a:solidFill>
                <a:latin typeface="Calibri"/>
              </a:rPr>
              <a:t>バス i</a:t>
            </a:r>
          </a:p>
        </p:txBody>
      </p:sp>
      <p:sp>
        <p:nvSpPr>
          <p:cNvPr id="365" name="TB 365"/>
          <p:cNvSpPr txBox="1"/>
          <p:nvPr/>
        </p:nvSpPr>
        <p:spPr>
          <a:xfrm>
            <a:off x="698500" y="3657600"/>
            <a:ext cx="5588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どんな複雑な網も、バス i から見れば「1電源 + 1インピーダンス」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0" name="TB 810"/>
              <p:cNvSpPr txBox="1"/>
              <p:nvPr/>
            </p:nvSpPr>
            <p:spPr>
              <a:xfrm>
                <a:off x="800100" y="4368800"/>
                <a:ext cx="54610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𝑡ℎ</m:t>
                          </m:r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10" name="TB 8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4368800"/>
                <a:ext cx="5461000" cy="381000"/>
              </a:xfrm>
              <a:prstGeom prst="rect">
                <a:avLst/>
              </a:prstGeom>
              <a:blipFill>
                <a:blip r:embed="rId2"/>
                <a:stretch>
                  <a:fillRect l="-1160" t="-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1" name="TB 811"/>
              <p:cNvSpPr txBox="1"/>
              <p:nvPr/>
            </p:nvSpPr>
            <p:spPr>
              <a:xfrm>
                <a:off x="800100" y="4902200"/>
                <a:ext cx="5461000" cy="7112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𝑠𝑐</m:t>
                          </m:r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700" i="1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𝑡ℎ</m:t>
                              </m:r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 ≈  </m:t>
                      </m:r>
                      <m:f>
                        <m:fPr>
                          <m:ctrlPr>
                            <a:rPr lang="en-US" sz="1700" i="1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𝑏𝑎𝑠𝑒</m:t>
                              </m:r>
                            </m:sub>
                          </m:sSub>
                        </m:num>
                        <m:den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𝑡ℎ</m:t>
                              </m:r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𝑝𝑢</m:t>
                              </m:r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11" name="TB 8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4902200"/>
                <a:ext cx="5461000" cy="711200"/>
              </a:xfrm>
              <a:prstGeom prst="rect">
                <a:avLst/>
              </a:prstGeom>
              <a:blipFill>
                <a:blip r:embed="rId3"/>
                <a:stretch>
                  <a:fillRect l="-11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0" name="TB 850"/>
          <p:cNvSpPr txBox="1"/>
          <p:nvPr/>
        </p:nvSpPr>
        <p:spPr>
          <a:xfrm>
            <a:off x="6680200" y="1397000"/>
            <a:ext cx="49657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500" b="1" dirty="0">
                <a:solidFill>
                  <a:srgbClr val="8A2E3B"/>
                </a:solidFill>
                <a:latin typeface="Calibri"/>
              </a:rPr>
              <a:t>弱い系統ほど電圧が動く → SCR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1" name="TB 851"/>
              <p:cNvSpPr txBox="1"/>
              <p:nvPr/>
            </p:nvSpPr>
            <p:spPr>
              <a:xfrm>
                <a:off x="6934200" y="2006600"/>
                <a:ext cx="44577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700" dirty="0">
                          <a:solidFill>
                            <a:srgbClr val="2C5F8A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≈ 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𝑡ℎ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r>
                        <m:rPr>
                          <m:sty m:val="p"/>
                        </m:rP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51" name="TB 8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2006600"/>
                <a:ext cx="4457700" cy="381000"/>
              </a:xfrm>
              <a:prstGeom prst="rect">
                <a:avLst/>
              </a:prstGeom>
              <a:blipFill>
                <a:blip r:embed="rId4"/>
                <a:stretch>
                  <a:fillRect l="-1705" t="-31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2" name="TB 852"/>
              <p:cNvSpPr txBox="1"/>
              <p:nvPr/>
            </p:nvSpPr>
            <p:spPr>
              <a:xfrm>
                <a:off x="6934200" y="2463800"/>
                <a:ext cx="4457700" cy="7112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𝑆𝐶𝑅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700" i="1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𝑠𝑐</m:t>
                              </m:r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𝐼𝐵𝑅</m:t>
                              </m:r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52" name="TB 8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2463800"/>
                <a:ext cx="4457700" cy="711200"/>
              </a:xfrm>
              <a:prstGeom prst="rect">
                <a:avLst/>
              </a:prstGeom>
              <a:blipFill>
                <a:blip r:embed="rId5"/>
                <a:stretch>
                  <a:fillRect l="-1705" t="-17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326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eco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eco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eco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Deco 320"/>
          <p:cNvSpPr/>
          <p:nvPr/>
        </p:nvSpPr>
        <p:spPr>
          <a:xfrm>
            <a:off x="546100" y="3403600"/>
            <a:ext cx="5588000" cy="2387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Deco 321"/>
          <p:cNvSpPr/>
          <p:nvPr/>
        </p:nvSpPr>
        <p:spPr>
          <a:xfrm>
            <a:off x="546100" y="3403600"/>
            <a:ext cx="38100" cy="23876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0" name="Deco 330"/>
          <p:cNvSpPr/>
          <p:nvPr/>
        </p:nvSpPr>
        <p:spPr>
          <a:xfrm>
            <a:off x="546100" y="2489200"/>
            <a:ext cx="203200" cy="2032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1" name="Deco 331"/>
          <p:cNvSpPr/>
          <p:nvPr/>
        </p:nvSpPr>
        <p:spPr>
          <a:xfrm>
            <a:off x="546100" y="2895600"/>
            <a:ext cx="203200" cy="203200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結果 I ｜ 系統強度ネットワーク図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38200"/>
            <a:ext cx="5486400" cy="979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ja-JP" sz="2600" b="1" dirty="0">
                <a:solidFill>
                  <a:srgbClr val="1A2744"/>
                </a:solidFill>
                <a:latin typeface="Calibri"/>
              </a:rPr>
              <a:t>「コンセントの奥に、どれだけ</a:t>
            </a:r>
          </a:p>
          <a:p>
            <a:pPr algn="l">
              <a:lnSpc>
                <a:spcPct val="115000"/>
              </a:lnSpc>
            </a:pPr>
            <a:r>
              <a:rPr lang="ja-JP" sz="2600" b="1" dirty="0">
                <a:solidFill>
                  <a:srgbClr val="1A2744"/>
                </a:solidFill>
                <a:latin typeface="Calibri"/>
              </a:rPr>
              <a:t>発電機が控えているか」の地図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900" y="3683000"/>
            <a:ext cx="5029200" cy="1513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35000"/>
              </a:lnSpc>
              <a:spcAft>
                <a:spcPts val="8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Sscはバス量 → min(両端Ssc)で線に写像(全国18,769線分)</a:t>
            </a:r>
          </a:p>
          <a:p>
            <a:pPr marL="171450" indent="-171450" algn="l">
              <a:lnSpc>
                <a:spcPct val="135000"/>
              </a:lnSpc>
              <a:spcAft>
                <a:spcPts val="8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基幹回廊が緑・放射状66kV末端が赤 — 直観と一致</a:t>
            </a:r>
          </a:p>
          <a:p>
            <a:pPr marL="171450" indent="-171450" algn="l">
              <a:lnSpc>
                <a:spcPct val="135000"/>
              </a:lnSpc>
              <a:spcAft>
                <a:spcPts val="8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赤いエリア × 太陽光集中 = ホスティング容量とGFM配置の優先地図</a:t>
            </a:r>
          </a:p>
        </p:txBody>
      </p:sp>
      <p:pic>
        <p:nvPicPr>
          <p:cNvPr id="6" name="Picture 5" descr="fig_scr_network_slide.jpg"/>
          <p:cNvPicPr>
            <a:picLocks noChangeAspect="1"/>
          </p:cNvPicPr>
          <p:nvPr/>
        </p:nvPicPr>
        <p:blipFill>
          <a:blip r:embed="rId2"/>
          <a:srcRect l="25000" t="5000" r="14000" b="7000"/>
          <a:stretch>
            <a:fillRect/>
          </a:stretch>
        </p:blipFill>
        <p:spPr>
          <a:xfrm>
            <a:off x="7657209" y="584200"/>
            <a:ext cx="3202182" cy="523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6100" y="6273800"/>
            <a:ext cx="11099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06 / 15   非物理値(119GVA)は単位表記バグを検算で発見 → v5.0.1で修正</a:t>
            </a:r>
          </a:p>
        </p:txBody>
      </p:sp>
      <p:sp>
        <p:nvSpPr>
          <p:cNvPr id="340" name="TB 340"/>
          <p:cNvSpPr txBox="1"/>
          <p:nvPr/>
        </p:nvSpPr>
        <p:spPr>
          <a:xfrm>
            <a:off x="863600" y="24638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3D4657"/>
                </a:solidFill>
                <a:latin typeface="Calibri"/>
              </a:rPr>
              <a:t>緑 = 硬い系統(Sscが大きい)</a:t>
            </a:r>
          </a:p>
        </p:txBody>
      </p:sp>
      <p:sp>
        <p:nvSpPr>
          <p:cNvPr id="341" name="TB 341"/>
          <p:cNvSpPr txBox="1"/>
          <p:nvPr/>
        </p:nvSpPr>
        <p:spPr>
          <a:xfrm>
            <a:off x="863600" y="2870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3D4657"/>
                </a:solidFill>
                <a:latin typeface="Calibri"/>
              </a:rPr>
              <a:t>赤 = 柔らかい系統(Sscが小さい)</a:t>
            </a:r>
          </a:p>
        </p:txBody>
      </p:sp>
      <p:sp>
        <p:nvSpPr>
          <p:cNvPr id="342" name="TB 342"/>
          <p:cNvSpPr txBox="1"/>
          <p:nvPr/>
        </p:nvSpPr>
        <p:spPr>
          <a:xfrm>
            <a:off x="546100" y="2133600"/>
            <a:ext cx="54864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凡例</a:t>
            </a:r>
          </a:p>
        </p:txBody>
      </p:sp>
      <p:sp>
        <p:nvSpPr>
          <p:cNvPr id="343" name="TB 343"/>
          <p:cNvSpPr txBox="1"/>
          <p:nvPr/>
        </p:nvSpPr>
        <p:spPr>
          <a:xfrm>
            <a:off x="6324600" y="5892800"/>
            <a:ext cx="58674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ja-JP" sz="1400" dirty="0">
                <a:solidFill>
                  <a:srgbClr val="5B6470"/>
                </a:solidFill>
                <a:latin typeface="Calibri"/>
              </a:rPr>
              <a:t>全国18,769線分の系統強度マップ(min(両端Ssc)で着色)</a:t>
            </a:r>
          </a:p>
        </p:txBody>
      </p:sp>
    </p:spTree>
    <p:extLst>
      <p:ext uri="{BB962C8B-B14F-4D97-AF65-F5344CB8AC3E}">
        <p14:creationId xmlns:p14="http://schemas.microsoft.com/office/powerpoint/2010/main" val="2567040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Dg 320"/>
          <p:cNvSpPr/>
          <p:nvPr/>
        </p:nvSpPr>
        <p:spPr>
          <a:xfrm>
            <a:off x="546100" y="1397000"/>
            <a:ext cx="5969000" cy="2413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Dg 321"/>
          <p:cNvSpPr/>
          <p:nvPr/>
        </p:nvSpPr>
        <p:spPr>
          <a:xfrm>
            <a:off x="546100" y="1397000"/>
            <a:ext cx="38100" cy="24130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2" name="Dg 322"/>
          <p:cNvSpPr/>
          <p:nvPr/>
        </p:nvSpPr>
        <p:spPr>
          <a:xfrm>
            <a:off x="546100" y="3937000"/>
            <a:ext cx="5969000" cy="2235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3" name="Dg 323"/>
          <p:cNvSpPr/>
          <p:nvPr/>
        </p:nvSpPr>
        <p:spPr>
          <a:xfrm>
            <a:off x="546100" y="3937000"/>
            <a:ext cx="38100" cy="22352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4" name="Dg 324"/>
          <p:cNvSpPr/>
          <p:nvPr/>
        </p:nvSpPr>
        <p:spPr>
          <a:xfrm>
            <a:off x="6680200" y="1727200"/>
            <a:ext cx="4965700" cy="2819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5" name="Dg 325"/>
          <p:cNvSpPr/>
          <p:nvPr/>
        </p:nvSpPr>
        <p:spPr>
          <a:xfrm>
            <a:off x="6680200" y="1727200"/>
            <a:ext cx="38100" cy="28194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6" name="Dg 326"/>
          <p:cNvSpPr/>
          <p:nvPr/>
        </p:nvSpPr>
        <p:spPr>
          <a:xfrm>
            <a:off x="6680200" y="4673600"/>
            <a:ext cx="4965700" cy="1498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7" name="Dg 327"/>
          <p:cNvSpPr/>
          <p:nvPr/>
        </p:nvSpPr>
        <p:spPr>
          <a:xfrm>
            <a:off x="6680200" y="4673600"/>
            <a:ext cx="38100" cy="14986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lIns="0" tIns="0" rIns="0" bIns="0"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原理 II ｜ 系統の揺れ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38200"/>
            <a:ext cx="11099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発電機は振り子、送電網はバネ — 動揺方程式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5486400"/>
            <a:ext cx="5461000" cy="609600"/>
          </a:xfrm>
          <a:ln/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δ = 回転子角 ・ H = 慣性定数[s] ・ Pm = 機械入力 ・ Pe = 電気出力。G, B は Y を発電機内部ノードへ縮約(Schur補元)した値。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934200" y="4267200"/>
            <a:ext cx="4457700" cy="228600"/>
          </a:xfrm>
          <a:ln/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固有ベクトル = モード形(揺れの向き)</a:t>
            </a:r>
          </a:p>
        </p:txBody>
      </p:sp>
      <p:sp>
        <p:nvSpPr>
          <p:cNvPr id="7" name="Rectangle 6"/>
          <p:cNvSpPr/>
          <p:nvPr/>
        </p:nvSpPr>
        <p:spPr>
          <a:xfrm>
            <a:off x="6934200" y="5486400"/>
            <a:ext cx="4457700" cy="228600"/>
          </a:xfrm>
          <a:ln/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容量加重H ・ 並列合成 1/x″agg = Σ 1/x″i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4200" y="5740400"/>
            <a:ext cx="4457700" cy="458587"/>
          </a:xfrm>
          <a:prstGeom prst="rect">
            <a:avLst/>
          </a:prstGeom>
          <a:solidFill>
            <a:srgbClr val="F4F6FA"/>
          </a:solidFill>
        </p:spPr>
        <p:txBody>
          <a:bodyPr wrap="square" lIns="0" tIns="0" rIns="0" bIns="0" anchor="t">
            <a:spAutoFit/>
          </a:bodyPr>
          <a:lstStyle/>
          <a:p>
            <a:pPr marL="150000" indent="-150000" algn="l">
              <a:lnSpc>
                <a:spcPct val="110000"/>
              </a:lnSpc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前提: IBRは慣性なし → 動揺方程式から分離(west 24GVA)</a:t>
            </a:r>
          </a:p>
          <a:p>
            <a:pPr marL="150000" indent="-150000" algn="l">
              <a:lnSpc>
                <a:spcPct val="110000"/>
              </a:lnSpc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定数 H, x″d は型式別の典型値(IEEJ/教科書帯)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07 / 15   src/dynamics/machine_agg.py</a:t>
            </a:r>
          </a:p>
        </p:txBody>
      </p:sp>
      <p:sp>
        <p:nvSpPr>
          <p:cNvPr id="700" name="Ln 700"/>
          <p:cNvSpPr/>
          <p:nvPr/>
        </p:nvSpPr>
        <p:spPr>
          <a:xfrm>
            <a:off x="800100" y="1701800"/>
            <a:ext cx="5461000" cy="0"/>
          </a:xfrm>
          <a:prstGeom prst="line">
            <a:avLst/>
          </a:prstGeom>
          <a:ln w="12700">
            <a:solidFill>
              <a:srgbClr val="5B647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01" name="TB 701"/>
          <p:cNvSpPr txBox="1"/>
          <p:nvPr/>
        </p:nvSpPr>
        <p:spPr>
          <a:xfrm>
            <a:off x="800100" y="1778000"/>
            <a:ext cx="5461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← 逆位相にシーソー(inter-areaモード) →</a:t>
            </a:r>
          </a:p>
        </p:txBody>
      </p:sp>
      <p:sp>
        <p:nvSpPr>
          <p:cNvPr id="702" name="Ln 702"/>
          <p:cNvSpPr/>
          <p:nvPr/>
        </p:nvSpPr>
        <p:spPr>
          <a:xfrm flipH="1">
            <a:off x="1905000" y="1727200"/>
            <a:ext cx="635000" cy="990600"/>
          </a:xfrm>
          <a:prstGeom prst="line">
            <a:avLst/>
          </a:prstGeom>
          <a:ln w="15875">
            <a:solidFill>
              <a:srgbClr val="5B647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3" name="Ln 703"/>
          <p:cNvSpPr/>
          <p:nvPr/>
        </p:nvSpPr>
        <p:spPr>
          <a:xfrm>
            <a:off x="4521200" y="1727200"/>
            <a:ext cx="635000" cy="990600"/>
          </a:xfrm>
          <a:prstGeom prst="line">
            <a:avLst/>
          </a:prstGeom>
          <a:ln w="15875">
            <a:solidFill>
              <a:srgbClr val="5B647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4" name="Dg 704"/>
          <p:cNvSpPr/>
          <p:nvPr/>
        </p:nvSpPr>
        <p:spPr>
          <a:xfrm>
            <a:off x="1625600" y="2717800"/>
            <a:ext cx="558800" cy="5588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5" name="Dg 705"/>
          <p:cNvSpPr/>
          <p:nvPr/>
        </p:nvSpPr>
        <p:spPr>
          <a:xfrm>
            <a:off x="4876800" y="2717800"/>
            <a:ext cx="558800" cy="558800"/>
          </a:xfrm>
          <a:prstGeom prst="ellipse">
            <a:avLst/>
          </a:prstGeom>
          <a:solidFill>
            <a:srgbClr val="B447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0" name="Ln 710"/>
          <p:cNvSpPr/>
          <p:nvPr/>
        </p:nvSpPr>
        <p:spPr>
          <a:xfrm flipV="1">
            <a:off x="218440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1" name="Ln 711"/>
          <p:cNvSpPr/>
          <p:nvPr/>
        </p:nvSpPr>
        <p:spPr>
          <a:xfrm>
            <a:off x="245364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2" name="Ln 712"/>
          <p:cNvSpPr/>
          <p:nvPr/>
        </p:nvSpPr>
        <p:spPr>
          <a:xfrm flipV="1">
            <a:off x="272288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3" name="Ln 713"/>
          <p:cNvSpPr/>
          <p:nvPr/>
        </p:nvSpPr>
        <p:spPr>
          <a:xfrm>
            <a:off x="299212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4" name="Ln 714"/>
          <p:cNvSpPr/>
          <p:nvPr/>
        </p:nvSpPr>
        <p:spPr>
          <a:xfrm flipV="1">
            <a:off x="326136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5" name="Ln 715"/>
          <p:cNvSpPr/>
          <p:nvPr/>
        </p:nvSpPr>
        <p:spPr>
          <a:xfrm>
            <a:off x="353060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6" name="Ln 716"/>
          <p:cNvSpPr/>
          <p:nvPr/>
        </p:nvSpPr>
        <p:spPr>
          <a:xfrm flipV="1">
            <a:off x="379984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7" name="Ln 717"/>
          <p:cNvSpPr/>
          <p:nvPr/>
        </p:nvSpPr>
        <p:spPr>
          <a:xfrm>
            <a:off x="406908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8" name="Ln 718"/>
          <p:cNvSpPr/>
          <p:nvPr/>
        </p:nvSpPr>
        <p:spPr>
          <a:xfrm flipV="1">
            <a:off x="433832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9" name="Ln 719"/>
          <p:cNvSpPr/>
          <p:nvPr/>
        </p:nvSpPr>
        <p:spPr>
          <a:xfrm>
            <a:off x="4607560" y="2857500"/>
            <a:ext cx="269240" cy="2794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0" name="TB 730"/>
          <p:cNvSpPr txBox="1"/>
          <p:nvPr/>
        </p:nvSpPr>
        <p:spPr>
          <a:xfrm>
            <a:off x="1270000" y="2438400"/>
            <a:ext cx="4521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lang="ja-JP" sz="1400" dirty="0">
                <a:solidFill>
                  <a:srgbClr val="8A2E3B"/>
                </a:solidFill>
                <a:latin typeface="Calibri"/>
              </a:rPr>
              <a:t>送電網 = バネ(剛性 K ∝ 1/X)</a:t>
            </a:r>
          </a:p>
        </p:txBody>
      </p:sp>
      <p:sp>
        <p:nvSpPr>
          <p:cNvPr id="731" name="TB 731"/>
          <p:cNvSpPr txBox="1"/>
          <p:nvPr/>
        </p:nvSpPr>
        <p:spPr>
          <a:xfrm>
            <a:off x="546100" y="3403600"/>
            <a:ext cx="2717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lang="ja-JP" sz="1400" dirty="0">
                <a:solidFill>
                  <a:srgbClr val="2C5F8A"/>
                </a:solidFill>
                <a:latin typeface="Calibri"/>
              </a:rPr>
              <a:t>発電機群A(慣性 M = 2H·S/ω)</a:t>
            </a:r>
          </a:p>
        </p:txBody>
      </p:sp>
      <p:sp>
        <p:nvSpPr>
          <p:cNvPr id="732" name="TB 732"/>
          <p:cNvSpPr txBox="1"/>
          <p:nvPr/>
        </p:nvSpPr>
        <p:spPr>
          <a:xfrm>
            <a:off x="4318000" y="3403600"/>
            <a:ext cx="16764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lang="ja-JP" sz="1400" dirty="0">
                <a:solidFill>
                  <a:srgbClr val="B4472C"/>
                </a:solidFill>
                <a:latin typeface="Calibri"/>
              </a:rPr>
              <a:t>発電機群B</a:t>
            </a:r>
          </a:p>
        </p:txBody>
      </p:sp>
      <p:sp>
        <p:nvSpPr>
          <p:cNvPr id="750" name="TB 750"/>
          <p:cNvSpPr txBox="1"/>
          <p:nvPr/>
        </p:nvSpPr>
        <p:spPr>
          <a:xfrm>
            <a:off x="6680200" y="1397000"/>
            <a:ext cx="49657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ja-JP" sz="1500" b="1" dirty="0">
                <a:solidFill>
                  <a:srgbClr val="8A2E3B"/>
                </a:solidFill>
                <a:latin typeface="Calibri"/>
              </a:rPr>
              <a:t>小さな揺れに線形化 → 固有値問題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0" name="EQ 900"/>
              <p:cNvSpPr txBox="1"/>
              <p:nvPr/>
            </p:nvSpPr>
            <p:spPr>
              <a:xfrm>
                <a:off x="800100" y="4114800"/>
                <a:ext cx="5461000" cy="7874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sz="1700" i="1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dt</m:t>
                              </m:r>
                            </m:e>
                            <m:sup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00" name="EQ 9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4114800"/>
                <a:ext cx="5461000" cy="787400"/>
              </a:xfrm>
              <a:prstGeom prst="rect">
                <a:avLst/>
              </a:prstGeom>
              <a:blipFill>
                <a:blip r:embed="rId2"/>
                <a:stretch>
                  <a:fillRect l="-1392" t="-161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1" name="EQ 901"/>
              <p:cNvSpPr txBox="1"/>
              <p:nvPr/>
            </p:nvSpPr>
            <p:spPr>
              <a:xfrm>
                <a:off x="800100" y="5003800"/>
                <a:ext cx="54610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8A2E3B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01" name="EQ 9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5003800"/>
                <a:ext cx="5461000" cy="381000"/>
              </a:xfrm>
              <a:prstGeom prst="rect">
                <a:avLst/>
              </a:prstGeom>
              <a:blipFill>
                <a:blip r:embed="rId3"/>
                <a:stretch>
                  <a:fillRect l="-1160" t="-260000" b="-39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0" name="EQ 910"/>
              <p:cNvSpPr txBox="1"/>
              <p:nvPr/>
            </p:nvSpPr>
            <p:spPr>
              <a:xfrm>
                <a:off x="6934200" y="1930400"/>
                <a:ext cx="44577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700" b="1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7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17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̈ = − </m:t>
                      </m:r>
                      <m:r>
                        <a:rPr lang="en-US" sz="1700" b="1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7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10" name="EQ 9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1930400"/>
                <a:ext cx="4457700" cy="381000"/>
              </a:xfrm>
              <a:prstGeom prst="rect">
                <a:avLst/>
              </a:prstGeom>
              <a:blipFill>
                <a:blip r:embed="rId4"/>
                <a:stretch>
                  <a:fillRect l="-1705" t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1" name="EQ 911"/>
              <p:cNvSpPr txBox="1"/>
              <p:nvPr/>
            </p:nvSpPr>
            <p:spPr>
              <a:xfrm>
                <a:off x="6934200" y="2362200"/>
                <a:ext cx="4457700" cy="7366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11" name="EQ 9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2362200"/>
                <a:ext cx="4457700" cy="736600"/>
              </a:xfrm>
              <a:prstGeom prst="rect">
                <a:avLst/>
              </a:prstGeom>
              <a:blipFill>
                <a:blip r:embed="rId5"/>
                <a:stretch>
                  <a:fillRect l="-1705" t="-3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2" name="EQ 912"/>
              <p:cNvSpPr txBox="1"/>
              <p:nvPr/>
            </p:nvSpPr>
            <p:spPr>
              <a:xfrm>
                <a:off x="6934200" y="3149600"/>
                <a:ext cx="4457700" cy="3302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5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sz="1500" dirty="0">
                              <a:solidFill>
                                <a:srgbClr val="2C5F8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dirty="0">
                              <a:solidFill>
                                <a:srgbClr val="2C5F8A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2C5F8A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5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5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12" name="EQ 9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3149600"/>
                <a:ext cx="4457700" cy="330200"/>
              </a:xfrm>
              <a:prstGeom prst="rect">
                <a:avLst/>
              </a:prstGeom>
              <a:blipFill>
                <a:blip r:embed="rId6"/>
                <a:stretch>
                  <a:fillRect l="-2273" t="-74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3" name="EQ 913"/>
              <p:cNvSpPr txBox="1"/>
              <p:nvPr/>
            </p:nvSpPr>
            <p:spPr>
              <a:xfrm>
                <a:off x="6934200" y="3530600"/>
                <a:ext cx="4457700" cy="7366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 xmlns:m="http://schemas.openxmlformats.org/officeDocument/2006/math">
                    <m:sSup>
                      <m:sSupPr>
                        <m:ctrlPr>
                          <a:rPr lang="en-US" sz="1700" b="1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1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sz="1700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700" b="1" dirty="0">
                        <a:solidFill>
                          <a:srgbClr val="1A2744"/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ja-JP" sz="1500" dirty="0">
                    <a:solidFill>
                      <a:srgbClr val="1A2744"/>
                    </a:solidFill>
                    <a:latin typeface="Calibri"/>
                  </a:rPr>
                  <a:t> の固有値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700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700" dirty="0">
                        <a:solidFill>
                          <a:srgbClr val="1A2744"/>
                        </a:solidFill>
                        <a:latin typeface="Cambria Math" panose="02040503050406030204" pitchFamily="18" charset="0"/>
                      </a:rPr>
                      <m:t> → </m:t>
                    </m:r>
                    <m:sSub>
                      <m:sSubPr>
                        <m:ctrlPr>
                          <a:rPr lang="en-US" sz="1700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700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700" dirty="0">
                        <a:solidFill>
                          <a:srgbClr val="1A2744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17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1700" dirty="0">
                                    <a:solidFill>
                                      <a:srgbClr val="8A2E3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 dirty="0">
                                    <a:solidFill>
                                      <a:srgbClr val="8A2E3B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700" dirty="0">
                                    <a:solidFill>
                                      <a:srgbClr val="8A2E3B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a:rPr lang="en-US" sz="1700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1700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endParaRPr lang="ja-JP" sz="1500" dirty="0">
                  <a:solidFill>
                    <a:srgbClr val="1A2744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913" name="EQ 9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3530600"/>
                <a:ext cx="4457700" cy="736600"/>
              </a:xfrm>
              <a:prstGeom prst="rect">
                <a:avLst/>
              </a:prstGeom>
              <a:blipFill>
                <a:blip r:embed="rId7"/>
                <a:stretch>
                  <a:fillRect l="-17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0" name="EQ 920"/>
              <p:cNvSpPr txBox="1"/>
              <p:nvPr/>
            </p:nvSpPr>
            <p:spPr>
              <a:xfrm>
                <a:off x="6934200" y="4749800"/>
                <a:ext cx="4457700" cy="7112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𝑎𝑔𝑔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700" i="1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700" dirty="0">
                                      <a:solidFill>
                                        <a:srgbClr val="1A274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 dirty="0">
                                      <a:solidFill>
                                        <a:srgbClr val="1A2744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700" dirty="0">
                                      <a:solidFill>
                                        <a:srgbClr val="1A2744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700" dirty="0">
                                      <a:solidFill>
                                        <a:srgbClr val="1A274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 dirty="0">
                                      <a:solidFill>
                                        <a:srgbClr val="1A274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700" dirty="0">
                                      <a:solidFill>
                                        <a:srgbClr val="1A2744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700" dirty="0">
                                      <a:solidFill>
                                        <a:srgbClr val="1A274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00" dirty="0">
                                      <a:solidFill>
                                        <a:srgbClr val="1A2744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700" dirty="0">
                                      <a:solidFill>
                                        <a:srgbClr val="1A2744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20" name="EQ 9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4749800"/>
                <a:ext cx="4457700" cy="711200"/>
              </a:xfrm>
              <a:prstGeom prst="rect">
                <a:avLst/>
              </a:prstGeom>
              <a:blipFill>
                <a:blip r:embed="rId8"/>
                <a:stretch>
                  <a:fillRect l="-1705" t="-58621" b="-655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1" name="EQ 921"/>
              <p:cNvSpPr txBox="1"/>
              <p:nvPr/>
            </p:nvSpPr>
            <p:spPr>
              <a:xfrm>
                <a:off x="8890000" y="4927600"/>
                <a:ext cx="2667000" cy="355600"/>
              </a:xfrm>
              <a:prstGeom prst="rect">
                <a:avLst/>
              </a:prstGeom>
              <a:noFill/>
            </p:spPr>
            <p:txBody>
              <a:bodyPr wrap="square" lIns="0" tIns="0" rIns="0" bIns="0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7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∠ </m:t>
                      </m:r>
                      <m:r>
                        <a:rPr lang="en-US" sz="17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21" name="EQ 9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0" y="4927600"/>
                <a:ext cx="2667000" cy="355600"/>
              </a:xfrm>
              <a:prstGeom prst="rect">
                <a:avLst/>
              </a:prstGeom>
              <a:blipFill>
                <a:blip r:embed="rId9"/>
                <a:stretch>
                  <a:fillRect l="-2358" t="-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5194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Dg 310"/>
          <p:cNvSpPr/>
          <p:nvPr/>
        </p:nvSpPr>
        <p:spPr>
          <a:xfrm>
            <a:off x="546100" y="1524000"/>
            <a:ext cx="2628900" cy="939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546100" y="1524000"/>
            <a:ext cx="26289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Dg 312"/>
          <p:cNvSpPr/>
          <p:nvPr/>
        </p:nvSpPr>
        <p:spPr>
          <a:xfrm>
            <a:off x="3251200" y="1524000"/>
            <a:ext cx="2628900" cy="939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3" name="Dg 313"/>
          <p:cNvSpPr/>
          <p:nvPr/>
        </p:nvSpPr>
        <p:spPr>
          <a:xfrm>
            <a:off x="3251200" y="1524000"/>
            <a:ext cx="26289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Dg 320"/>
          <p:cNvSpPr/>
          <p:nvPr/>
        </p:nvSpPr>
        <p:spPr>
          <a:xfrm>
            <a:off x="546100" y="2717800"/>
            <a:ext cx="5334000" cy="2514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Dg 321"/>
          <p:cNvSpPr/>
          <p:nvPr/>
        </p:nvSpPr>
        <p:spPr>
          <a:xfrm>
            <a:off x="546100" y="2717800"/>
            <a:ext cx="38100" cy="25146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結果 II ｜ 長軸振動の地理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12800"/>
            <a:ext cx="55880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九州と関西は、シーソーしている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900" y="2997200"/>
            <a:ext cx="4724400" cy="17872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 algn="l">
              <a:lnSpc>
                <a:spcPct val="140000"/>
              </a:lnSpc>
              <a:spcAft>
                <a:spcPts val="8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最低モードの固有ベクトルを地図に置くと、青群と赤群が逆位相で揺れ合う構造が現れる</a:t>
            </a:r>
          </a:p>
          <a:p>
            <a:pPr marL="171450" indent="-171450" algn="l">
              <a:lnSpc>
                <a:spcPct val="140000"/>
              </a:lnSpc>
              <a:spcAft>
                <a:spcPts val="8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モード形の大きい機に制動(PSS/GFM)を置くのが定石</a:t>
            </a:r>
          </a:p>
          <a:p>
            <a:pPr marL="171450" indent="-171450" algn="l">
              <a:lnSpc>
                <a:spcPct val="140000"/>
              </a:lnSpc>
              <a:spcAft>
                <a:spcPts val="800"/>
              </a:spcAft>
              <a:buFont typeface="Arial"/>
              <a:buChar char="•"/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この振動の減衰が連系線の運用限界を決める(1996 米WSCC大停電)</a:t>
            </a:r>
          </a:p>
        </p:txBody>
      </p:sp>
      <p:pic>
        <p:nvPicPr>
          <p:cNvPr id="6" name="Picture 5" descr="fig_swing_map_slide.jpg"/>
          <p:cNvPicPr>
            <a:picLocks noChangeAspect="1"/>
          </p:cNvPicPr>
          <p:nvPr/>
        </p:nvPicPr>
        <p:blipFill>
          <a:blip r:embed="rId2"/>
          <a:srcRect l="-769" t="-628" r="13230" b="-652"/>
          <a:stretch>
            <a:fillRect/>
          </a:stretch>
        </p:blipFill>
        <p:spPr>
          <a:xfrm>
            <a:off x="6248247" y="-126073"/>
            <a:ext cx="5918200" cy="69840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08 / 15   gen_swing_map.py — 運転点は本番前処理フルセット(介入#19/#20/#24/#26既定込み)</a:t>
            </a:r>
          </a:p>
        </p:txBody>
      </p:sp>
      <p:sp>
        <p:nvSpPr>
          <p:cNvPr id="330" name="TB 330"/>
          <p:cNvSpPr txBox="1"/>
          <p:nvPr/>
        </p:nvSpPr>
        <p:spPr>
          <a:xfrm>
            <a:off x="800100" y="1701800"/>
            <a:ext cx="2120900" cy="330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2000" b="1" dirty="0">
                <a:solidFill>
                  <a:srgbClr val="1A2744"/>
                </a:solidFill>
                <a:latin typeface="Cambria Math"/>
              </a:rPr>
              <a:t>0.434 Hz</a:t>
            </a:r>
          </a:p>
        </p:txBody>
      </p:sp>
      <p:sp>
        <p:nvSpPr>
          <p:cNvPr id="331" name="TB 331"/>
          <p:cNvSpPr txBox="1"/>
          <p:nvPr/>
        </p:nvSpPr>
        <p:spPr>
          <a:xfrm>
            <a:off x="800100" y="2082800"/>
            <a:ext cx="21209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west — 九州 ⇔ 中部・関西</a:t>
            </a:r>
          </a:p>
        </p:txBody>
      </p:sp>
      <p:sp>
        <p:nvSpPr>
          <p:cNvPr id="332" name="TB 332"/>
          <p:cNvSpPr txBox="1"/>
          <p:nvPr/>
        </p:nvSpPr>
        <p:spPr>
          <a:xfrm>
            <a:off x="3505200" y="1701800"/>
            <a:ext cx="2120900" cy="330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2000" b="1" dirty="0">
                <a:solidFill>
                  <a:srgbClr val="1A2744"/>
                </a:solidFill>
                <a:latin typeface="Cambria Math"/>
              </a:rPr>
              <a:t>0.592 Hz</a:t>
            </a:r>
          </a:p>
        </p:txBody>
      </p:sp>
      <p:sp>
        <p:nvSpPr>
          <p:cNvPr id="333" name="TB 333"/>
          <p:cNvSpPr txBox="1"/>
          <p:nvPr/>
        </p:nvSpPr>
        <p:spPr>
          <a:xfrm>
            <a:off x="3505200" y="2082800"/>
            <a:ext cx="21209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2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east — 東北 ⇔ 関東</a:t>
            </a:r>
          </a:p>
        </p:txBody>
      </p:sp>
      <p:sp>
        <p:nvSpPr>
          <p:cNvPr id="340" name="Dg 340"/>
          <p:cNvSpPr/>
          <p:nvPr/>
        </p:nvSpPr>
        <p:spPr>
          <a:xfrm>
            <a:off x="546100" y="5562600"/>
            <a:ext cx="203200" cy="203200"/>
          </a:xfrm>
          <a:prstGeom prst="rect">
            <a:avLst/>
          </a:prstGeom>
          <a:solidFill>
            <a:srgbClr val="4A7EB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1" name="TB 341"/>
          <p:cNvSpPr txBox="1"/>
          <p:nvPr/>
        </p:nvSpPr>
        <p:spPr>
          <a:xfrm>
            <a:off x="850900" y="55880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3D4657"/>
                </a:solidFill>
                <a:latin typeface="Calibri"/>
              </a:rPr>
              <a:t>同位相グループ</a:t>
            </a:r>
          </a:p>
        </p:txBody>
      </p:sp>
      <p:sp>
        <p:nvSpPr>
          <p:cNvPr id="342" name="Dg 342"/>
          <p:cNvSpPr/>
          <p:nvPr/>
        </p:nvSpPr>
        <p:spPr>
          <a:xfrm>
            <a:off x="2946400" y="5562600"/>
            <a:ext cx="203200" cy="203200"/>
          </a:xfrm>
          <a:prstGeom prst="rect">
            <a:avLst/>
          </a:prstGeom>
          <a:solidFill>
            <a:srgbClr val="E08A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3" name="TB 343"/>
          <p:cNvSpPr txBox="1"/>
          <p:nvPr/>
        </p:nvSpPr>
        <p:spPr>
          <a:xfrm>
            <a:off x="3251200" y="5588000"/>
            <a:ext cx="2286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3D4657"/>
                </a:solidFill>
                <a:latin typeface="Calibri"/>
              </a:rPr>
              <a:t>逆位相グループ</a:t>
            </a:r>
          </a:p>
        </p:txBody>
      </p:sp>
      <p:sp>
        <p:nvSpPr>
          <p:cNvPr id="344" name="TB 344"/>
          <p:cNvSpPr txBox="1"/>
          <p:nvPr/>
        </p:nvSpPr>
        <p:spPr>
          <a:xfrm>
            <a:off x="546100" y="5892800"/>
            <a:ext cx="5334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色 = 最低モード固有ベクトルの符号・濃さ = 振幅</a:t>
            </a:r>
          </a:p>
        </p:txBody>
      </p:sp>
      <p:sp>
        <p:nvSpPr>
          <p:cNvPr id="350" name="TB 350"/>
          <p:cNvSpPr txBox="1"/>
          <p:nvPr/>
        </p:nvSpPr>
        <p:spPr>
          <a:xfrm>
            <a:off x="7246293" y="5638800"/>
            <a:ext cx="4945402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ja-JP" sz="1400" dirty="0">
                <a:solidFill>
                  <a:srgbClr val="5B6470"/>
                </a:solidFill>
                <a:latin typeface="Calibri"/>
              </a:rPr>
              <a:t>west モード(0.434Hz)の固有ベクトルを全国地図に投影</a:t>
            </a:r>
          </a:p>
        </p:txBody>
      </p:sp>
      <p:pic>
        <p:nvPicPr>
          <p:cNvPr id="8" name="Picture 5" descr="fig_swing_map_slide.jpg">
            <a:extLst>
              <a:ext uri="{FF2B5EF4-FFF2-40B4-BE49-F238E27FC236}">
                <a16:creationId xmlns:a16="http://schemas.microsoft.com/office/drawing/2014/main" id="{93098576-2AD6-43D5-3615-A19F73E221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038" t="14842" r="603" b="13801"/>
          <a:stretch>
            <a:fillRect/>
          </a:stretch>
        </p:blipFill>
        <p:spPr>
          <a:xfrm>
            <a:off x="11150371" y="1853799"/>
            <a:ext cx="685800" cy="403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242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Dg 310"/>
          <p:cNvSpPr/>
          <p:nvPr/>
        </p:nvSpPr>
        <p:spPr>
          <a:xfrm>
            <a:off x="8382000" y="1422400"/>
            <a:ext cx="3263900" cy="2387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8382000" y="1422400"/>
            <a:ext cx="38100" cy="23876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Dg 312"/>
          <p:cNvSpPr/>
          <p:nvPr/>
        </p:nvSpPr>
        <p:spPr>
          <a:xfrm>
            <a:off x="8382000" y="3962400"/>
            <a:ext cx="3263900" cy="1854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3" name="Dg 313"/>
          <p:cNvSpPr/>
          <p:nvPr/>
        </p:nvSpPr>
        <p:spPr>
          <a:xfrm>
            <a:off x="8382000" y="3962400"/>
            <a:ext cx="32639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Dg 320"/>
          <p:cNvSpPr/>
          <p:nvPr/>
        </p:nvSpPr>
        <p:spPr>
          <a:xfrm>
            <a:off x="546100" y="5105400"/>
            <a:ext cx="2451100" cy="711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Dg 321"/>
          <p:cNvSpPr/>
          <p:nvPr/>
        </p:nvSpPr>
        <p:spPr>
          <a:xfrm>
            <a:off x="546100" y="5105400"/>
            <a:ext cx="24511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2" name="Dg 322"/>
          <p:cNvSpPr/>
          <p:nvPr/>
        </p:nvSpPr>
        <p:spPr>
          <a:xfrm>
            <a:off x="3124200" y="5105400"/>
            <a:ext cx="2451100" cy="711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3" name="Dg 323"/>
          <p:cNvSpPr/>
          <p:nvPr/>
        </p:nvSpPr>
        <p:spPr>
          <a:xfrm>
            <a:off x="3124200" y="5105400"/>
            <a:ext cx="24511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4" name="Dg 324"/>
          <p:cNvSpPr/>
          <p:nvPr/>
        </p:nvSpPr>
        <p:spPr>
          <a:xfrm>
            <a:off x="5702300" y="5105400"/>
            <a:ext cx="2451100" cy="711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5" name="Dg 325"/>
          <p:cNvSpPr/>
          <p:nvPr/>
        </p:nvSpPr>
        <p:spPr>
          <a:xfrm>
            <a:off x="5702300" y="5105400"/>
            <a:ext cx="24511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結果 III ｜ PV有無×UC — 慣性の日内変動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12800"/>
            <a:ext cx="11099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太陽は同期機を止め、系統の慣性を昼に沈める</a:t>
            </a:r>
          </a:p>
        </p:txBody>
      </p:sp>
      <p:pic>
        <p:nvPicPr>
          <p:cNvPr id="5" name="Picture 4" descr="fig_pv_inertia_slide.jpg"/>
          <p:cNvPicPr>
            <a:picLocks noChangeAspect="1"/>
          </p:cNvPicPr>
          <p:nvPr/>
        </p:nvPicPr>
        <p:blipFill>
          <a:blip r:embed="rId2"/>
          <a:srcRect t="12000"/>
          <a:stretch>
            <a:fillRect/>
          </a:stretch>
        </p:blipFill>
        <p:spPr>
          <a:xfrm>
            <a:off x="546100" y="1320800"/>
            <a:ext cx="7924800" cy="298014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8382000" y="1422400"/>
                <a:ext cx="3263900" cy="2387600"/>
              </a:xfrm>
              <a:ln/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90500" tIns="152400" rIns="152400" bIns="152400"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7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ROCOF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 · 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  <a:p>
                <a:pPr algn="l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ja-JP" sz="1400" dirty="0">
                    <a:solidFill>
                      <a:srgbClr val="5B6470"/>
                    </a:solidFill>
                    <a:latin typeface="Calibri"/>
                  </a:rPr>
                  <a:t>正午にPVが46GWの同期機を止め、Ek が east −21% / west −26%。1GW脱落時の周波数低下速度は +27〜36% 悪化。</a:t>
                </a: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1422400"/>
                <a:ext cx="3263900" cy="2387600"/>
              </a:xfrm>
              <a:blipFill>
                <a:blip r:embed="rId3"/>
                <a:stretch>
                  <a:fillRect/>
                </a:stretch>
              </a:blipFill>
              <a:ln/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8636000" y="4191000"/>
            <a:ext cx="2755900" cy="152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 algn="l">
              <a:lnSpc>
                <a:spcPct val="135000"/>
              </a:lnSpc>
              <a:spcAft>
                <a:spcPts val="600"/>
              </a:spcAft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モード周波数はほぼ不変 — K と M が同率に減るため(正しい物理)。効くのは ROCOF</a:t>
            </a:r>
          </a:p>
          <a:p>
            <a:pPr marL="171450" indent="-171450" algn="l">
              <a:lnSpc>
                <a:spcPct val="135000"/>
              </a:lnSpc>
              <a:spcAft>
                <a:spcPts val="600"/>
              </a:spcAft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夜明け前の慣性最小・夕方ランプ(ダックカーブ裏面)も出現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09 / 15   uc_pv_compare.py → pv_dynamics_compare.py(容量比例ブリッジ・開示済)</a:t>
            </a:r>
          </a:p>
        </p:txBody>
      </p:sp>
      <p:sp>
        <p:nvSpPr>
          <p:cNvPr id="330" name="TB 330"/>
          <p:cNvSpPr txBox="1"/>
          <p:nvPr/>
        </p:nvSpPr>
        <p:spPr>
          <a:xfrm>
            <a:off x="546100" y="4402547"/>
            <a:ext cx="79248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左: Ek の日内推移(実線=PVあり / 破線=PVなし) ｜ 右: 1GW脱落時の ROCOF</a:t>
            </a:r>
          </a:p>
        </p:txBody>
      </p:sp>
      <p:sp>
        <p:nvSpPr>
          <p:cNvPr id="340" name="TB 340"/>
          <p:cNvSpPr txBox="1"/>
          <p:nvPr/>
        </p:nvSpPr>
        <p:spPr>
          <a:xfrm>
            <a:off x="749300" y="5257800"/>
            <a:ext cx="20447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900" b="1" dirty="0">
                <a:solidFill>
                  <a:srgbClr val="1A2744"/>
                </a:solidFill>
                <a:latin typeface="Cambria Math"/>
              </a:rPr>
              <a:t>−21 %</a:t>
            </a:r>
          </a:p>
        </p:txBody>
      </p:sp>
      <p:sp>
        <p:nvSpPr>
          <p:cNvPr id="350" name="TB 350"/>
          <p:cNvSpPr txBox="1"/>
          <p:nvPr/>
        </p:nvSpPr>
        <p:spPr>
          <a:xfrm>
            <a:off x="749300" y="5588000"/>
            <a:ext cx="20447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Ek east(正午)</a:t>
            </a:r>
          </a:p>
        </p:txBody>
      </p:sp>
      <p:sp>
        <p:nvSpPr>
          <p:cNvPr id="341" name="TB 341"/>
          <p:cNvSpPr txBox="1"/>
          <p:nvPr/>
        </p:nvSpPr>
        <p:spPr>
          <a:xfrm>
            <a:off x="3327400" y="5257800"/>
            <a:ext cx="20447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900" b="1" dirty="0">
                <a:solidFill>
                  <a:srgbClr val="1A2744"/>
                </a:solidFill>
                <a:latin typeface="Cambria Math"/>
              </a:rPr>
              <a:t>−26 %</a:t>
            </a:r>
          </a:p>
        </p:txBody>
      </p:sp>
      <p:sp>
        <p:nvSpPr>
          <p:cNvPr id="351" name="TB 351"/>
          <p:cNvSpPr txBox="1"/>
          <p:nvPr/>
        </p:nvSpPr>
        <p:spPr>
          <a:xfrm>
            <a:off x="3327400" y="5588000"/>
            <a:ext cx="20447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Ek west(正午)</a:t>
            </a:r>
          </a:p>
        </p:txBody>
      </p:sp>
      <p:sp>
        <p:nvSpPr>
          <p:cNvPr id="342" name="TB 342"/>
          <p:cNvSpPr txBox="1"/>
          <p:nvPr/>
        </p:nvSpPr>
        <p:spPr>
          <a:xfrm>
            <a:off x="5905500" y="5257800"/>
            <a:ext cx="20447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900" b="1" dirty="0">
                <a:solidFill>
                  <a:srgbClr val="1A2744"/>
                </a:solidFill>
                <a:latin typeface="Cambria Math"/>
              </a:rPr>
              <a:t>+27〜36 %</a:t>
            </a:r>
          </a:p>
        </p:txBody>
      </p:sp>
      <p:sp>
        <p:nvSpPr>
          <p:cNvPr id="352" name="TB 352"/>
          <p:cNvSpPr txBox="1"/>
          <p:nvPr/>
        </p:nvSpPr>
        <p:spPr>
          <a:xfrm>
            <a:off x="5905500" y="5588000"/>
            <a:ext cx="20447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ROCOF(正午)</a:t>
            </a:r>
          </a:p>
        </p:txBody>
      </p:sp>
    </p:spTree>
    <p:extLst>
      <p:ext uri="{BB962C8B-B14F-4D97-AF65-F5344CB8AC3E}">
        <p14:creationId xmlns:p14="http://schemas.microsoft.com/office/powerpoint/2010/main" val="1299237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Dg 310"/>
          <p:cNvSpPr/>
          <p:nvPr/>
        </p:nvSpPr>
        <p:spPr>
          <a:xfrm>
            <a:off x="546100" y="1397000"/>
            <a:ext cx="11099800" cy="1905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546100" y="1397000"/>
            <a:ext cx="63500" cy="19050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Dg 320"/>
          <p:cNvSpPr/>
          <p:nvPr/>
        </p:nvSpPr>
        <p:spPr>
          <a:xfrm>
            <a:off x="546100" y="4470400"/>
            <a:ext cx="3454400" cy="1371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0" name="Dg 330"/>
          <p:cNvSpPr/>
          <p:nvPr/>
        </p:nvSpPr>
        <p:spPr>
          <a:xfrm>
            <a:off x="546100" y="4470400"/>
            <a:ext cx="34544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Dg 321"/>
          <p:cNvSpPr/>
          <p:nvPr/>
        </p:nvSpPr>
        <p:spPr>
          <a:xfrm>
            <a:off x="4368800" y="4470400"/>
            <a:ext cx="3454400" cy="1371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1" name="Dg 331"/>
          <p:cNvSpPr/>
          <p:nvPr/>
        </p:nvSpPr>
        <p:spPr>
          <a:xfrm>
            <a:off x="4368800" y="4470400"/>
            <a:ext cx="34544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2" name="Dg 322"/>
          <p:cNvSpPr/>
          <p:nvPr/>
        </p:nvSpPr>
        <p:spPr>
          <a:xfrm>
            <a:off x="8191500" y="4470400"/>
            <a:ext cx="3454400" cy="1371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2" name="Dg 332"/>
          <p:cNvSpPr/>
          <p:nvPr/>
        </p:nvSpPr>
        <p:spPr>
          <a:xfrm>
            <a:off x="8191500" y="4470400"/>
            <a:ext cx="34544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ヘッドライン ｜ 何が確かめられたか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25600"/>
            <a:ext cx="10414000" cy="1524000"/>
          </a:xfrm>
          <a:solidFill>
            <a:srgbClr val="F0F2F5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32000"/>
              </a:lnSpc>
            </a:pPr>
            <a:r>
              <a:rPr lang="ja-JP" sz="2600" b="1" dirty="0">
                <a:solidFill>
                  <a:srgbClr val="1A2744"/>
                </a:solidFill>
                <a:latin typeface="Calibri"/>
              </a:rPr>
              <a:t>公開データのみから構築した全国送電網モデルが、</a:t>
            </a:r>
          </a:p>
          <a:p>
            <a:pPr algn="l">
              <a:lnSpc>
                <a:spcPct val="132000"/>
              </a:lnSpc>
            </a:pPr>
            <a:r>
              <a:rPr lang="ja-JP" sz="2600" b="1" dirty="0">
                <a:solidFill>
                  <a:srgbClr val="1A2744"/>
                </a:solidFill>
                <a:latin typeface="Calibri"/>
              </a:rPr>
              <a:t>実測で知られる西日本長軸振動(約0.4Hz)の</a:t>
            </a:r>
          </a:p>
          <a:p>
            <a:pPr algn="l">
              <a:lnSpc>
                <a:spcPct val="132000"/>
              </a:lnSpc>
            </a:pPr>
            <a:r>
              <a:rPr lang="ja-JP" sz="2600" b="1" dirty="0">
                <a:solidFill>
                  <a:srgbClr val="1A2744"/>
                </a:solidFill>
                <a:latin typeface="Calibri"/>
              </a:rPr>
              <a:t>周波数と地理形状を再現した。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3530600"/>
            <a:ext cx="11099800" cy="289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周波数だけでなく「九州⇔中部・関西の逆位相」という形まで一致 — トポロジ・インピーダンス・慣性配置がまとめて本物らしいことの証明。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4724400"/>
            <a:ext cx="29464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ja-JP" sz="2600" b="1" dirty="0">
                <a:solidFill>
                  <a:srgbClr val="1A2744"/>
                </a:solidFill>
                <a:latin typeface="Cambria Math"/>
              </a:rPr>
              <a:t>0.434 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5232400"/>
            <a:ext cx="294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west 最低モード(文献 ≈ 0.4 Hz)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2800" y="4724400"/>
            <a:ext cx="29464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ja-JP" sz="2600" b="1" dirty="0">
                <a:solidFill>
                  <a:srgbClr val="1A2744"/>
                </a:solidFill>
                <a:latin typeface="Cambria Math"/>
              </a:rPr>
              <a:t>0.592 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2800" y="5232400"/>
            <a:ext cx="294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east 最低モード(東北 ⇔ 関東)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5500" y="4724400"/>
            <a:ext cx="29464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ja-JP" sz="2600" b="1" dirty="0">
                <a:solidFill>
                  <a:srgbClr val="1A2744"/>
                </a:solidFill>
                <a:latin typeface="Cambria Math"/>
              </a:rPr>
              <a:t>409 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5500" y="5232400"/>
            <a:ext cx="294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west 同期機(集約後)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10 / 15   再現: PYTHONPATH=. python3 scripts/gen_swing_map.py</a:t>
            </a:r>
          </a:p>
        </p:txBody>
      </p:sp>
    </p:spTree>
    <p:extLst>
      <p:ext uri="{BB962C8B-B14F-4D97-AF65-F5344CB8AC3E}">
        <p14:creationId xmlns:p14="http://schemas.microsoft.com/office/powerpoint/2010/main" val="3826019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Dg 310"/>
          <p:cNvSpPr/>
          <p:nvPr/>
        </p:nvSpPr>
        <p:spPr>
          <a:xfrm>
            <a:off x="546100" y="2260600"/>
            <a:ext cx="5588000" cy="1473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546100" y="2260600"/>
            <a:ext cx="38100" cy="14732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Dg 312"/>
          <p:cNvSpPr/>
          <p:nvPr/>
        </p:nvSpPr>
        <p:spPr>
          <a:xfrm>
            <a:off x="546100" y="3911600"/>
            <a:ext cx="5588000" cy="1879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3" name="Dg 313"/>
          <p:cNvSpPr/>
          <p:nvPr/>
        </p:nvSpPr>
        <p:spPr>
          <a:xfrm>
            <a:off x="546100" y="3911600"/>
            <a:ext cx="38100" cy="18796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Dg 320"/>
          <p:cNvSpPr/>
          <p:nvPr/>
        </p:nvSpPr>
        <p:spPr>
          <a:xfrm>
            <a:off x="6350000" y="4724400"/>
            <a:ext cx="2540000" cy="1066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Dg 321"/>
          <p:cNvSpPr/>
          <p:nvPr/>
        </p:nvSpPr>
        <p:spPr>
          <a:xfrm>
            <a:off x="6350000" y="4724400"/>
            <a:ext cx="2540000" cy="381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2" name="Dg 322"/>
          <p:cNvSpPr/>
          <p:nvPr/>
        </p:nvSpPr>
        <p:spPr>
          <a:xfrm>
            <a:off x="9105900" y="4724400"/>
            <a:ext cx="2540000" cy="1066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3" name="Dg 323"/>
          <p:cNvSpPr/>
          <p:nvPr/>
        </p:nvSpPr>
        <p:spPr>
          <a:xfrm>
            <a:off x="9105900" y="4724400"/>
            <a:ext cx="2540000" cy="38100"/>
          </a:xfrm>
          <a:prstGeom prst="rect">
            <a:avLst/>
          </a:prstGeom>
          <a:solidFill>
            <a:srgbClr val="5B647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方法論 ｜ トポロジをどう作ったか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12800"/>
            <a:ext cx="11099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EGGC — 証拠ゲート付き系統コンフレーション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1473200"/>
            <a:ext cx="5588000" cy="704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公表資料の「論理接続(直線)」をOSMの「物理線形」へ写像。核心は、採否を証拠でゲートすること。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6100" y="2260600"/>
            <a:ext cx="5588000" cy="1473200"/>
          </a:xfrm>
          <a:ln/>
          <a:effectLst/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52400" rIns="152400" bIns="152400" rtlCol="0" anchor="ctr"/>
          <a:lstStyle/>
          <a:p>
            <a:pPr algn="l">
              <a:spcAft>
                <a:spcPts val="500"/>
              </a:spcAft>
            </a:pPr>
            <a:r>
              <a:rPr lang="en-US" sz="1700" dirty="0">
                <a:solidFill>
                  <a:srgbClr val="1A2744"/>
                </a:solidFill>
                <a:latin typeface="Cambria Math"/>
              </a:rPr>
              <a:t>off-main 比率 = 浮いた断片の長さ / 経路総延長</a:t>
            </a:r>
          </a:p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この1つの比率で、公表線を実線形に吸着させるか、直線のまま残すかを機械的に決める。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100" y="4071571"/>
            <a:ext cx="5588000" cy="1559658"/>
          </a:xfrm>
          <a:prstGeom prst="rect">
            <a:avLst/>
          </a:prstGeom>
          <a:solidFill>
            <a:srgbClr val="F4F6FA"/>
          </a:solidFill>
        </p:spPr>
        <p:txBody>
          <a:bodyPr wrap="square" lIns="228600" tIns="152400" rIns="152400" bIns="15240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系譜: HMMマップマッチング(Newson &amp; Krumm 2009)・地図コンフレーション(Saalfeld 1988)・GridKit系(逆方向)。</a:t>
            </a:r>
          </a:p>
          <a:p>
            <a:pPr algn="l">
              <a:lnSpc>
                <a:spcPct val="140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公表論理エッジを入力とし、検証可能な採否基準を持つ点が新規。全接続は帳簿駆動(217本)・可逆。</a:t>
            </a:r>
          </a:p>
        </p:txBody>
      </p:sp>
      <p:pic>
        <p:nvPicPr>
          <p:cNvPr id="8" name="Picture 7" descr="fig_ybus_compare_slide.jpg"/>
          <p:cNvPicPr>
            <a:picLocks noChangeAspect="1"/>
          </p:cNvPicPr>
          <p:nvPr/>
        </p:nvPicPr>
        <p:blipFill>
          <a:blip r:embed="rId2"/>
          <a:srcRect t="13000" b="2000"/>
          <a:stretch>
            <a:fillRect/>
          </a:stretch>
        </p:blipFill>
        <p:spPr>
          <a:xfrm>
            <a:off x="6324600" y="1320800"/>
            <a:ext cx="5867400" cy="25933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4600" y="4015791"/>
            <a:ext cx="58674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Ybus疎行列構造 — 大工事の前後で結線 +7.1%・疎性は不変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11 / 15   route_disclosure_edges.py / apply_disclosure_v2.py</a:t>
            </a:r>
          </a:p>
        </p:txBody>
      </p:sp>
      <p:sp>
        <p:nvSpPr>
          <p:cNvPr id="330" name="TB 330"/>
          <p:cNvSpPr txBox="1"/>
          <p:nvPr/>
        </p:nvSpPr>
        <p:spPr>
          <a:xfrm>
            <a:off x="6604000" y="4953000"/>
            <a:ext cx="2032000" cy="330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800" b="1" dirty="0">
                <a:solidFill>
                  <a:srgbClr val="2E7D5B"/>
                </a:solidFill>
                <a:latin typeface="Cambria Math"/>
              </a:rPr>
              <a:t>≥ 0.7</a:t>
            </a:r>
          </a:p>
        </p:txBody>
      </p:sp>
      <p:sp>
        <p:nvSpPr>
          <p:cNvPr id="331" name="TB 331"/>
          <p:cNvSpPr txBox="1"/>
          <p:nvPr/>
        </p:nvSpPr>
        <p:spPr>
          <a:xfrm>
            <a:off x="6604000" y="5334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3D4657"/>
                </a:solidFill>
                <a:latin typeface="Calibri"/>
              </a:rPr>
              <a:t>実線形に吸着</a:t>
            </a:r>
          </a:p>
        </p:txBody>
      </p:sp>
      <p:sp>
        <p:nvSpPr>
          <p:cNvPr id="332" name="TB 332"/>
          <p:cNvSpPr txBox="1"/>
          <p:nvPr/>
        </p:nvSpPr>
        <p:spPr>
          <a:xfrm>
            <a:off x="9359900" y="4953000"/>
            <a:ext cx="2032000" cy="330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800" b="1" dirty="0">
                <a:solidFill>
                  <a:srgbClr val="5B6470"/>
                </a:solidFill>
                <a:latin typeface="Cambria Math"/>
              </a:rPr>
              <a:t>&lt; 0.3</a:t>
            </a:r>
          </a:p>
        </p:txBody>
      </p:sp>
      <p:sp>
        <p:nvSpPr>
          <p:cNvPr id="333" name="TB 333"/>
          <p:cNvSpPr txBox="1"/>
          <p:nvPr/>
        </p:nvSpPr>
        <p:spPr>
          <a:xfrm>
            <a:off x="9359900" y="5334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3D4657"/>
                </a:solidFill>
                <a:latin typeface="Calibri"/>
              </a:rPr>
              <a:t>直線を保持(捏造しない)</a:t>
            </a:r>
          </a:p>
        </p:txBody>
      </p:sp>
    </p:spTree>
    <p:extLst>
      <p:ext uri="{BB962C8B-B14F-4D97-AF65-F5344CB8AC3E}">
        <p14:creationId xmlns:p14="http://schemas.microsoft.com/office/powerpoint/2010/main" val="2663613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ln/>
          <a:effectLst/>
        </p:spPr>
        <p:style>
          <a:lnRef idx="1">
            <a:schemeClr val="accent1"/>
          </a:lnRef>
          <a:fillRef idx="0">
            <a:scrgbClr r="0" g="0" b="0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誠実性 ｜ 何を仮定し、何を仮定していないか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12800"/>
            <a:ext cx="11099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滑らかさは、検証の証拠ではない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1447800"/>
            <a:ext cx="110998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ja-JP" sz="1500" dirty="0">
                <a:solidFill>
                  <a:srgbClr val="3D4657"/>
                </a:solidFill>
                <a:latin typeface="Calibri"/>
              </a:rPr>
              <a:t>完成品の見栄えは「仮定を重ねた推定」を「実在の観測」と誤認させる。だから仮定の全量を1枚の台帳で見えるようにする。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2133600"/>
            <a:ext cx="9232900" cy="2619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接続・値・配分を作る介入30件すべてを ①根拠 ②帳簿 ③無効化手段 の3点セットで登録(登録なき介入は禁止)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12 / 15   docs/MODEL_INTERVENTIONS.md — 「盲信につながる修正は全部ここに載せる」</a:t>
            </a:r>
          </a:p>
        </p:txBody>
      </p:sp>
      <p:sp>
        <p:nvSpPr>
          <p:cNvPr id="310" name="Dg 310"/>
          <p:cNvSpPr/>
          <p:nvPr/>
        </p:nvSpPr>
        <p:spPr>
          <a:xfrm>
            <a:off x="546100" y="2895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546100" y="3759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Dg 312"/>
          <p:cNvSpPr/>
          <p:nvPr/>
        </p:nvSpPr>
        <p:spPr>
          <a:xfrm>
            <a:off x="546100" y="44450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3" name="Dg 313"/>
          <p:cNvSpPr/>
          <p:nvPr/>
        </p:nvSpPr>
        <p:spPr>
          <a:xfrm>
            <a:off x="546100" y="51308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TB 320"/>
          <p:cNvSpPr txBox="1"/>
          <p:nvPr/>
        </p:nvSpPr>
        <p:spPr>
          <a:xfrm>
            <a:off x="711200" y="2133600"/>
            <a:ext cx="19050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500" b="1" dirty="0">
                <a:solidFill>
                  <a:srgbClr val="1A2744"/>
                </a:solidFill>
                <a:latin typeface="Calibri"/>
              </a:rPr>
              <a:t>介入台帳</a:t>
            </a:r>
          </a:p>
        </p:txBody>
      </p:sp>
      <p:sp>
        <p:nvSpPr>
          <p:cNvPr id="330" name="Dg 330"/>
          <p:cNvSpPr/>
          <p:nvPr/>
        </p:nvSpPr>
        <p:spPr>
          <a:xfrm>
            <a:off x="546100" y="2120900"/>
            <a:ext cx="38100" cy="3048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TB 321"/>
          <p:cNvSpPr txBox="1"/>
          <p:nvPr/>
        </p:nvSpPr>
        <p:spPr>
          <a:xfrm>
            <a:off x="711200" y="2997200"/>
            <a:ext cx="19050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500" b="1" dirty="0">
                <a:solidFill>
                  <a:srgbClr val="1A2744"/>
                </a:solidFill>
                <a:latin typeface="Calibri"/>
              </a:rPr>
              <a:t>出典必須</a:t>
            </a:r>
          </a:p>
        </p:txBody>
      </p:sp>
      <p:sp>
        <p:nvSpPr>
          <p:cNvPr id="331" name="Dg 331"/>
          <p:cNvSpPr/>
          <p:nvPr/>
        </p:nvSpPr>
        <p:spPr>
          <a:xfrm>
            <a:off x="546100" y="2984500"/>
            <a:ext cx="38100" cy="3048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1" name="TB 341"/>
          <p:cNvSpPr txBox="1"/>
          <p:nvPr/>
        </p:nvSpPr>
        <p:spPr>
          <a:xfrm>
            <a:off x="2413000" y="2997200"/>
            <a:ext cx="9232900" cy="685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容量・接続は出典URL+原文引用がないものをREJECT。動的定数は「型式別典型値・個別実測でない」と列で明示</a:t>
            </a:r>
          </a:p>
        </p:txBody>
      </p:sp>
      <p:sp>
        <p:nvSpPr>
          <p:cNvPr id="322" name="TB 322"/>
          <p:cNvSpPr txBox="1"/>
          <p:nvPr/>
        </p:nvSpPr>
        <p:spPr>
          <a:xfrm>
            <a:off x="711200" y="3860800"/>
            <a:ext cx="19050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500" b="1" dirty="0">
                <a:solidFill>
                  <a:srgbClr val="1A2744"/>
                </a:solidFill>
                <a:latin typeface="Calibri"/>
              </a:rPr>
              <a:t>負の結果</a:t>
            </a:r>
          </a:p>
        </p:txBody>
      </p:sp>
      <p:sp>
        <p:nvSpPr>
          <p:cNvPr id="332" name="Dg 332"/>
          <p:cNvSpPr/>
          <p:nvPr/>
        </p:nvSpPr>
        <p:spPr>
          <a:xfrm>
            <a:off x="546100" y="3848100"/>
            <a:ext cx="38100" cy="3048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2" name="TB 342"/>
          <p:cNvSpPr txBox="1"/>
          <p:nvPr/>
        </p:nvSpPr>
        <p:spPr>
          <a:xfrm>
            <a:off x="2413000" y="3860800"/>
            <a:ext cx="92329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失敗・棄却した仮説も検証図つきで報告に残す</a:t>
            </a:r>
          </a:p>
        </p:txBody>
      </p:sp>
      <p:sp>
        <p:nvSpPr>
          <p:cNvPr id="323" name="TB 323"/>
          <p:cNvSpPr txBox="1"/>
          <p:nvPr/>
        </p:nvSpPr>
        <p:spPr>
          <a:xfrm>
            <a:off x="711200" y="4546600"/>
            <a:ext cx="19050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500" b="1" dirty="0">
                <a:solidFill>
                  <a:srgbClr val="1A2744"/>
                </a:solidFill>
                <a:latin typeface="Calibri"/>
              </a:rPr>
              <a:t>A/B保留</a:t>
            </a:r>
          </a:p>
        </p:txBody>
      </p:sp>
      <p:sp>
        <p:nvSpPr>
          <p:cNvPr id="333" name="Dg 333"/>
          <p:cNvSpPr/>
          <p:nvPr/>
        </p:nvSpPr>
        <p:spPr>
          <a:xfrm>
            <a:off x="546100" y="4533900"/>
            <a:ext cx="38100" cy="3048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3" name="TB 343"/>
          <p:cNvSpPr txBox="1"/>
          <p:nvPr/>
        </p:nvSpPr>
        <p:spPr>
          <a:xfrm>
            <a:off x="2413000" y="4546600"/>
            <a:ext cx="9232900" cy="508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効果が測れない改良は採用しない(例: 地点需要ピン留め=害なし・カバレッジ0.3%で保留)</a:t>
            </a:r>
          </a:p>
        </p:txBody>
      </p:sp>
      <p:sp>
        <p:nvSpPr>
          <p:cNvPr id="324" name="TB 324"/>
          <p:cNvSpPr txBox="1"/>
          <p:nvPr/>
        </p:nvSpPr>
        <p:spPr>
          <a:xfrm>
            <a:off x="711200" y="5232400"/>
            <a:ext cx="19050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500" b="1" dirty="0">
                <a:solidFill>
                  <a:srgbClr val="1A2744"/>
                </a:solidFill>
                <a:latin typeface="Calibri"/>
              </a:rPr>
              <a:t>近似の明示</a:t>
            </a:r>
          </a:p>
        </p:txBody>
      </p:sp>
      <p:sp>
        <p:nvSpPr>
          <p:cNvPr id="334" name="Dg 334"/>
          <p:cNvSpPr/>
          <p:nvPr/>
        </p:nvSpPr>
        <p:spPr>
          <a:xfrm>
            <a:off x="546100" y="5219700"/>
            <a:ext cx="38100" cy="3048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4" name="TB 344"/>
          <p:cNvSpPr txBox="1"/>
          <p:nvPr/>
        </p:nvSpPr>
        <p:spPr>
          <a:xfrm>
            <a:off x="2413000" y="5232400"/>
            <a:ext cx="9232900" cy="685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長軸振動は「帯と形の再現」。減衰率の定量にはAVR/PSS/ガバナの制御系モデルが要る(未実装と明記)</a:t>
            </a:r>
          </a:p>
        </p:txBody>
      </p:sp>
    </p:spTree>
    <p:extLst>
      <p:ext uri="{BB962C8B-B14F-4D97-AF65-F5344CB8AC3E}">
        <p14:creationId xmlns:p14="http://schemas.microsoft.com/office/powerpoint/2010/main" val="1633165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Dg 310"/>
          <p:cNvSpPr/>
          <p:nvPr/>
        </p:nvSpPr>
        <p:spPr>
          <a:xfrm>
            <a:off x="546100" y="1524000"/>
            <a:ext cx="5664200" cy="1422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546100" y="1524000"/>
            <a:ext cx="38100" cy="14224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Dg 312"/>
          <p:cNvSpPr/>
          <p:nvPr/>
        </p:nvSpPr>
        <p:spPr>
          <a:xfrm>
            <a:off x="546100" y="3098800"/>
            <a:ext cx="5664200" cy="1422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3" name="Dg 313"/>
          <p:cNvSpPr/>
          <p:nvPr/>
        </p:nvSpPr>
        <p:spPr>
          <a:xfrm>
            <a:off x="546100" y="3098800"/>
            <a:ext cx="38100" cy="14224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4" name="Dg 314"/>
          <p:cNvSpPr/>
          <p:nvPr/>
        </p:nvSpPr>
        <p:spPr>
          <a:xfrm>
            <a:off x="6489700" y="5207000"/>
            <a:ext cx="5156200" cy="584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5" name="Dg 315"/>
          <p:cNvSpPr/>
          <p:nvPr/>
        </p:nvSpPr>
        <p:spPr>
          <a:xfrm>
            <a:off x="6489700" y="5207000"/>
            <a:ext cx="38100" cy="5842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次の原理 ｜ 負性インピーダンスと安定判別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12800"/>
            <a:ext cx="11099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次に足す数式 — インピーダンス比のナイキスト判定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546100" y="1524000"/>
                <a:ext cx="5664200" cy="1422400"/>
              </a:xfrm>
              <a:ln/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tIns="152400" rIns="152400" bIns="152400" rtlCol="0" anchor="ctr"/>
              <a:lstStyle/>
              <a:p>
                <a:pPr algn="l"/>
                <a:r>
                  <a:rPr lang="ja-JP" sz="1600" dirty="0">
                    <a:solidFill>
                      <a:srgbClr val="1A2744"/>
                    </a:solidFill>
                    <a:latin typeface="Calibri"/>
                  </a:rPr>
                  <a:t>安定 ⇔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solidFill>
                              <a:srgbClr val="8A2E3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dirty="0">
                                <a:solidFill>
                                  <a:srgbClr val="8A2E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dirty="0">
                                <a:solidFill>
                                  <a:srgbClr val="8A2E3B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600" dirty="0">
                                <a:solidFill>
                                  <a:srgbClr val="8A2E3B"/>
                                </a:solidFill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b>
                        </m:sSub>
                        <m:r>
                          <a:rPr lang="en-US" sz="1600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sz="1600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600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1600" dirty="0">
                                <a:solidFill>
                                  <a:srgbClr val="2C5F8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dirty="0">
                                <a:solidFill>
                                  <a:srgbClr val="2C5F8A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600" dirty="0">
                                <a:solidFill>
                                  <a:srgbClr val="2C5F8A"/>
                                </a:solidFill>
                                <a:latin typeface="Cambria Math" panose="02040503050406030204" pitchFamily="18" charset="0"/>
                              </a:rPr>
                              <m:t>𝑖𝑛𝑣</m:t>
                            </m:r>
                          </m:sub>
                        </m:sSub>
                        <m:r>
                          <a:rPr lang="en-US" sz="1600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600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sz="1600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600" dirty="0">
                            <a:solidFill>
                              <a:srgbClr val="1A2744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ja-JP" sz="1600" dirty="0">
                    <a:solidFill>
                      <a:srgbClr val="1A2744"/>
                    </a:solidFill>
                    <a:latin typeface="Calibri"/>
                  </a:rPr>
                  <a:t> がナイキスト判別を満たす</a:t>
                </a:r>
              </a:p>
              <a:p>
                <a:pPr algn="l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ja-JP" sz="1400" dirty="0">
                    <a:solidFill>
                      <a:srgbClr val="5B6470"/>
                    </a:solidFill>
                    <a:latin typeface="Calibri"/>
                  </a:rPr>
                  <a:t>Middlebrook(1976) → Sun(2011)の系統連系版。Zgrid(jω)はYbusの周波数依存化から各バスで計算 — 様式5の実R/Xが効く。</a:t>
                </a: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1524000"/>
                <a:ext cx="5664200" cy="1422400"/>
              </a:xfrm>
              <a:blipFill>
                <a:blip r:embed="rId2"/>
                <a:stretch>
                  <a:fillRect/>
                </a:stretch>
              </a:blipFill>
              <a:ln/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546100" y="3098800"/>
                <a:ext cx="5664200" cy="1422400"/>
              </a:xfrm>
              <a:ln/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tIns="152400" rIns="152400" bIns="152400" rtlCol="0" anchor="ctr"/>
              <a:lstStyle/>
              <a:p>
                <a:pPr algn="l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 dirty="0">
                        <a:solidFill>
                          <a:srgbClr val="1A2744"/>
                        </a:solidFill>
                        <a:latin typeface="Cambria Math" panose="02040503050406030204" pitchFamily="18" charset="0"/>
                      </a:rPr>
                      <m:t>Re</m:t>
                    </m:r>
                    <m:r>
                      <a:rPr lang="en-US" sz="1700" dirty="0">
                        <a:solidFill>
                          <a:srgbClr val="1A2744"/>
                        </a:solidFill>
                        <a:latin typeface="Cambria Math" panose="02040503050406030204" pitchFamily="18" charset="0"/>
                      </a:rPr>
                      <m:t>[ </m:t>
                    </m:r>
                    <m:sSub>
                      <m:sSubPr>
                        <m:ctrlPr>
                          <a:rPr lang="en-US" sz="1700" dirty="0">
                            <a:solidFill>
                              <a:srgbClr val="2C5F8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dirty="0">
                            <a:solidFill>
                              <a:srgbClr val="2C5F8A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700" dirty="0">
                            <a:solidFill>
                              <a:srgbClr val="2C5F8A"/>
                            </a:solidFill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  <m:r>
                      <a:rPr lang="en-US" sz="1700" dirty="0">
                        <a:solidFill>
                          <a:srgbClr val="1A274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700" dirty="0">
                        <a:solidFill>
                          <a:srgbClr val="1A2744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1700" dirty="0">
                        <a:solidFill>
                          <a:srgbClr val="1A2744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700" dirty="0">
                        <a:solidFill>
                          <a:srgbClr val="1A2744"/>
                        </a:solidFill>
                        <a:latin typeface="Cambria Math" panose="02040503050406030204" pitchFamily="18" charset="0"/>
                      </a:rPr>
                      <m:t>) ] &lt; 0</m:t>
                    </m:r>
                  </m:oMath>
                </a14:m>
                <a:r>
                  <a:rPr lang="ja-JP" sz="1600" dirty="0">
                    <a:solidFill>
                      <a:srgbClr val="1A2744"/>
                    </a:solidFill>
                    <a:latin typeface="Calibri"/>
                  </a:rPr>
                  <a:t>　の帯域 = 負性抵抗</a:t>
                </a:r>
              </a:p>
              <a:p>
                <a:pPr algn="l">
                  <a:lnSpc>
                    <a:spcPct val="130000"/>
                  </a:lnSpc>
                  <a:spcBef>
                    <a:spcPts val="600"/>
                  </a:spcBef>
                </a:pPr>
                <a:r>
                  <a:rPr lang="ja-JP" sz="1400" dirty="0">
                    <a:solidFill>
                      <a:srgbClr val="5B6470"/>
                    </a:solidFill>
                    <a:latin typeface="Calibri"/>
                  </a:rPr>
                  <a:t>インバータは制御帯域(PLL)・定電力負荷で負の抵抗に見える。弱い系統 × 負性帯域の重なり = 共振・発振の条件。</a:t>
                </a: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" y="3098800"/>
                <a:ext cx="5664200" cy="1422400"/>
              </a:xfrm>
              <a:blipFill>
                <a:blip r:embed="rId3"/>
                <a:stretch>
                  <a:fillRect/>
                </a:stretch>
              </a:blipFill>
              <a:ln/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096436"/>
              </p:ext>
            </p:extLst>
          </p:nvPr>
        </p:nvGraphicFramePr>
        <p:xfrm>
          <a:off x="6489700" y="1879600"/>
          <a:ext cx="5156200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内容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解ける問い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Phase 1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ZIP負荷+公表R/XでY(jω)スキャン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受動性が失われる帯域=共振リスク地図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Phase 2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GFL/GFMのZinv×ナイキスト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負性インピーダンス安定性の全国スクリーニング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Phase 3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RMS動的(CGMES資産が入口)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慣性低下シナリオ・GFM最適配置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DB拡張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G_DB(38万行済)+L_DB(1,135バンク済)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すべての解析の底上げ</a:t>
                      </a:r>
                    </a:p>
                  </a:txBody>
                  <a:tcPr anchor="ctr">
                    <a:lnL w="6350">
                      <a:solidFill>
                        <a:srgbClr val="D0D5DD"/>
                      </a:solidFill>
                    </a:lnL>
                    <a:lnR w="6350">
                      <a:solidFill>
                        <a:srgbClr val="D0D5DD"/>
                      </a:solidFill>
                    </a:lnR>
                    <a:lnT w="6350">
                      <a:solidFill>
                        <a:srgbClr val="D0D5DD"/>
                      </a:solidFill>
                    </a:lnT>
                    <a:lnB w="6350">
                      <a:solidFill>
                        <a:srgbClr val="D0D5DD"/>
                      </a:solidFill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13 / 15   ZIP負荷: P(V) = P₀(aV² + bV + c)</a:t>
            </a:r>
          </a:p>
        </p:txBody>
      </p:sp>
      <p:sp>
        <p:nvSpPr>
          <p:cNvPr id="350" name="Dg 350"/>
          <p:cNvSpPr/>
          <p:nvPr/>
        </p:nvSpPr>
        <p:spPr>
          <a:xfrm>
            <a:off x="762000" y="5232400"/>
            <a:ext cx="5207000" cy="12700"/>
          </a:xfrm>
          <a:prstGeom prst="rect">
            <a:avLst/>
          </a:prstGeom>
          <a:solidFill>
            <a:srgbClr val="5B647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1" name="Dg 351"/>
          <p:cNvSpPr/>
          <p:nvPr/>
        </p:nvSpPr>
        <p:spPr>
          <a:xfrm>
            <a:off x="2413000" y="4673600"/>
            <a:ext cx="12700" cy="1117600"/>
          </a:xfrm>
          <a:prstGeom prst="rect">
            <a:avLst/>
          </a:prstGeom>
          <a:solidFill>
            <a:srgbClr val="5B647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2" name="Dg 352"/>
          <p:cNvSpPr/>
          <p:nvPr/>
        </p:nvSpPr>
        <p:spPr>
          <a:xfrm>
            <a:off x="1905000" y="4724400"/>
            <a:ext cx="1016000" cy="1016000"/>
          </a:xfrm>
          <a:prstGeom prst="ellipse">
            <a:avLst/>
          </a:prstGeom>
          <a:noFill/>
          <a:ln w="9525">
            <a:solidFill>
              <a:srgbClr val="5B647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53" name="Dg 353"/>
          <p:cNvSpPr/>
          <p:nvPr/>
        </p:nvSpPr>
        <p:spPr>
          <a:xfrm>
            <a:off x="2540000" y="4851400"/>
            <a:ext cx="2159000" cy="787400"/>
          </a:xfrm>
          <a:prstGeom prst="ellipse">
            <a:avLst/>
          </a:prstGeom>
          <a:noFill/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4" name="Dg 354"/>
          <p:cNvSpPr/>
          <p:nvPr/>
        </p:nvSpPr>
        <p:spPr>
          <a:xfrm>
            <a:off x="1854200" y="5181600"/>
            <a:ext cx="114300" cy="1143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0" name="TB 360"/>
          <p:cNvSpPr txBox="1"/>
          <p:nvPr/>
        </p:nvSpPr>
        <p:spPr>
          <a:xfrm>
            <a:off x="1447800" y="52578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lang="ja-JP" sz="1400" dirty="0">
                <a:solidFill>
                  <a:srgbClr val="1A2744"/>
                </a:solidFill>
                <a:latin typeface="Cambria Math"/>
              </a:rPr>
              <a:t>−1</a:t>
            </a:r>
          </a:p>
        </p:txBody>
      </p:sp>
      <p:sp>
        <p:nvSpPr>
          <p:cNvPr id="361" name="TB 361"/>
          <p:cNvSpPr txBox="1"/>
          <p:nvPr/>
        </p:nvSpPr>
        <p:spPr>
          <a:xfrm>
            <a:off x="3810000" y="45720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8A2E3B"/>
                </a:solidFill>
                <a:latin typeface="Calibri"/>
              </a:rPr>
              <a:t>軌跡</a:t>
            </a:r>
          </a:p>
        </p:txBody>
      </p:sp>
      <p:sp>
        <p:nvSpPr>
          <p:cNvPr id="362" name="TB 362"/>
          <p:cNvSpPr txBox="1"/>
          <p:nvPr/>
        </p:nvSpPr>
        <p:spPr>
          <a:xfrm>
            <a:off x="546100" y="5867400"/>
            <a:ext cx="56642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5B6470"/>
                </a:solidFill>
                <a:latin typeface="Calibri"/>
              </a:rPr>
              <a:t>軌跡が −1 点を囲まなければ安定(破線は単位円)</a:t>
            </a:r>
          </a:p>
        </p:txBody>
      </p:sp>
      <p:sp>
        <p:nvSpPr>
          <p:cNvPr id="370" name="TB 370"/>
          <p:cNvSpPr txBox="1"/>
          <p:nvPr/>
        </p:nvSpPr>
        <p:spPr>
          <a:xfrm>
            <a:off x="6489700" y="1498600"/>
            <a:ext cx="5156200" cy="3048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800" dirty="0">
                <a:solidFill>
                  <a:srgbClr val="1A2744"/>
                </a:solidFill>
                <a:latin typeface="Calibri"/>
              </a:rPr>
              <a:t>拡張ロードマップ</a:t>
            </a:r>
          </a:p>
        </p:txBody>
      </p:sp>
      <p:sp>
        <p:nvSpPr>
          <p:cNvPr id="371" name="TB 371"/>
          <p:cNvSpPr txBox="1"/>
          <p:nvPr/>
        </p:nvSpPr>
        <p:spPr>
          <a:xfrm>
            <a:off x="6743700" y="5359400"/>
            <a:ext cx="47752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ja-JP" sz="1400" dirty="0">
                <a:solidFill>
                  <a:srgbClr val="3D4657"/>
                </a:solidFill>
                <a:latin typeface="Calibri"/>
              </a:rPr>
              <a:t>様式5(実R/X)の公表が、すべての段階の精度を底上げする</a:t>
            </a:r>
          </a:p>
        </p:txBody>
      </p:sp>
    </p:spTree>
    <p:extLst>
      <p:ext uri="{BB962C8B-B14F-4D97-AF65-F5344CB8AC3E}">
        <p14:creationId xmlns:p14="http://schemas.microsoft.com/office/powerpoint/2010/main" val="2094966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Dg 310"/>
          <p:cNvSpPr/>
          <p:nvPr/>
        </p:nvSpPr>
        <p:spPr>
          <a:xfrm>
            <a:off x="6489700" y="1447800"/>
            <a:ext cx="5156200" cy="1574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6489700" y="1447800"/>
            <a:ext cx="38100" cy="15748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Dg 312"/>
          <p:cNvSpPr/>
          <p:nvPr/>
        </p:nvSpPr>
        <p:spPr>
          <a:xfrm>
            <a:off x="6489700" y="3175000"/>
            <a:ext cx="5156200" cy="2438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3" name="Dg 313"/>
          <p:cNvSpPr/>
          <p:nvPr/>
        </p:nvSpPr>
        <p:spPr>
          <a:xfrm>
            <a:off x="6489700" y="3175000"/>
            <a:ext cx="51562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検証の第5層へ ｜ コンセントで系統を測る(PMU)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12800"/>
            <a:ext cx="110998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モデルが予言した0.4Hzを、壁の100Vコンセントから実測する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1447800"/>
            <a:ext cx="5664200" cy="9357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周波数と低周波動揺(0.2〜1Hz)は系統全体で共有される量 — 単相100Vの末端でも観測できる(米FNET/GridEyeが壁コンセント計測網で実証)。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728104"/>
              </p:ext>
            </p:extLst>
          </p:nvPr>
        </p:nvGraphicFramePr>
        <p:xfrm>
          <a:off x="548640" y="2743200"/>
          <a:ext cx="5664200" cy="309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台数</a:t>
                      </a:r>
                    </a:p>
                  </a:txBody>
                  <a:tcPr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できる解析</a:t>
                      </a:r>
                    </a:p>
                  </a:txBody>
                  <a:tcPr anchor="ctr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1台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周波数イベント検出・df/dtから脱落電源の規模推定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2台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長軸振動の位相差=モードの直接観測(九州×関西で0.43Hzのシーソーを見る)・地域間角差=潮流の代理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3台+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周波数波の到達時刻差 → 擾乱源の位置標定(三角測量)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2744"/>
                          </a:solidFill>
                          <a:latin typeface="Calibri"/>
                          <a:cs typeface="Calibri"/>
                        </a:rPr>
                        <a:t>10台+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D4657"/>
                          </a:solidFill>
                          <a:latin typeface="Calibri"/>
                          <a:cs typeface="Calibri"/>
                        </a:rPr>
                        <a:t>モード形の実測地図 → 本モデルの振動地図と直接突合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743700" y="1447800"/>
            <a:ext cx="4648200" cy="1574800"/>
          </a:xfrm>
          <a:prstGeom prst="rect">
            <a:avLst/>
          </a:prstGeom>
          <a:solidFill>
            <a:srgbClr val="F0F2F5"/>
          </a:solidFill>
          <a:ln>
            <a:solidFill>
              <a:srgbClr val="26374A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Aft>
                <a:spcPts val="600"/>
              </a:spcAft>
            </a:pPr>
            <a:r>
              <a:rPr lang="en-US" sz="1800" dirty="0">
                <a:solidFill>
                  <a:srgbClr val="1A2744"/>
                </a:solidFill>
                <a:latin typeface="Cambria Math"/>
              </a:rPr>
              <a:t>モデル( M⁻¹K )の予言  ⇄  PMU実測 f, Δφ(t)</a:t>
            </a:r>
          </a:p>
          <a:p>
            <a:pPr algn="l">
              <a:lnSpc>
                <a:spcPct val="135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予測したモード周波数・形を自前の観測網で検証 — 公開データ検証(4層)の上に「自分の計測」という第5層が載る。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3700" y="3429000"/>
            <a:ext cx="4648200" cy="1604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 algn="l">
              <a:lnSpc>
                <a:spcPct val="135000"/>
              </a:lnSpc>
              <a:spcAft>
                <a:spcPts val="700"/>
              </a:spcAft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ハード: GPS 1PPS + ADC(Raspberry Pi級・数千円〜で自作可)</a:t>
            </a:r>
          </a:p>
          <a:p>
            <a:pPr marL="171450" indent="-171450" algn="l">
              <a:lnSpc>
                <a:spcPct val="135000"/>
              </a:lnSpc>
              <a:spcAft>
                <a:spcPts val="700"/>
              </a:spcAft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単相100Vの位相は配電変圧器の結線分だけずれるが、周波数と動揺成分は系統共通</a:t>
            </a:r>
          </a:p>
          <a:p>
            <a:pPr marL="171450" indent="-171450" algn="l">
              <a:lnSpc>
                <a:spcPct val="135000"/>
              </a:lnSpc>
              <a:spcAft>
                <a:spcPts val="700"/>
              </a:spcAft>
              <a:buFont typeface="Arial"/>
              <a:buChar char="•"/>
            </a:pPr>
            <a:r>
              <a:rPr lang="ja-JP" sz="1400" dirty="0">
                <a:solidFill>
                  <a:srgbClr val="3D4657"/>
                </a:solidFill>
                <a:latin typeface="Calibri"/>
              </a:rPr>
              <a:t>位置標定に要る「周波数波の伝播速度」= 慣性密度分布は本モデルの M から計算できる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14 / 15   先例: FNET/GridEye(米)。日本の分散PMU網は未開拓</a:t>
            </a:r>
          </a:p>
        </p:txBody>
      </p:sp>
    </p:spTree>
    <p:extLst>
      <p:ext uri="{BB962C8B-B14F-4D97-AF65-F5344CB8AC3E}">
        <p14:creationId xmlns:p14="http://schemas.microsoft.com/office/powerpoint/2010/main" val="3893512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Dg 300"/>
          <p:cNvSpPr/>
          <p:nvPr/>
        </p:nvSpPr>
        <p:spPr>
          <a:xfrm>
            <a:off x="546100" y="7366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g 301"/>
          <p:cNvSpPr/>
          <p:nvPr/>
        </p:nvSpPr>
        <p:spPr>
          <a:xfrm>
            <a:off x="546100" y="711200"/>
            <a:ext cx="7366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g 302"/>
          <p:cNvSpPr/>
          <p:nvPr/>
        </p:nvSpPr>
        <p:spPr>
          <a:xfrm>
            <a:off x="546100" y="6172200"/>
            <a:ext cx="11099800" cy="1143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0" name="Dg 390"/>
          <p:cNvSpPr/>
          <p:nvPr/>
        </p:nvSpPr>
        <p:spPr>
          <a:xfrm>
            <a:off x="546100" y="5207000"/>
            <a:ext cx="11099800" cy="5842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1" name="Dg 391"/>
          <p:cNvSpPr/>
          <p:nvPr/>
        </p:nvSpPr>
        <p:spPr>
          <a:xfrm>
            <a:off x="546100" y="5207000"/>
            <a:ext cx="50800" cy="5842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Dg 310"/>
          <p:cNvSpPr/>
          <p:nvPr/>
        </p:nvSpPr>
        <p:spPr>
          <a:xfrm>
            <a:off x="546100" y="2235200"/>
            <a:ext cx="2489200" cy="2667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g 311"/>
          <p:cNvSpPr/>
          <p:nvPr/>
        </p:nvSpPr>
        <p:spPr>
          <a:xfrm>
            <a:off x="3416300" y="2235200"/>
            <a:ext cx="2489200" cy="2667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Dg 312"/>
          <p:cNvSpPr/>
          <p:nvPr/>
        </p:nvSpPr>
        <p:spPr>
          <a:xfrm>
            <a:off x="6286500" y="2235200"/>
            <a:ext cx="2489200" cy="2667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3" name="Dg 313"/>
          <p:cNvSpPr/>
          <p:nvPr/>
        </p:nvSpPr>
        <p:spPr>
          <a:xfrm>
            <a:off x="9156700" y="2235200"/>
            <a:ext cx="2489200" cy="2667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Dg 320"/>
          <p:cNvSpPr/>
          <p:nvPr/>
        </p:nvSpPr>
        <p:spPr>
          <a:xfrm>
            <a:off x="546100" y="2235200"/>
            <a:ext cx="24892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Dg 321"/>
          <p:cNvSpPr/>
          <p:nvPr/>
        </p:nvSpPr>
        <p:spPr>
          <a:xfrm>
            <a:off x="3416300" y="2235200"/>
            <a:ext cx="24892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2" name="Dg 322"/>
          <p:cNvSpPr/>
          <p:nvPr/>
        </p:nvSpPr>
        <p:spPr>
          <a:xfrm>
            <a:off x="6286500" y="2235200"/>
            <a:ext cx="24892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3" name="Dg 323"/>
          <p:cNvSpPr/>
          <p:nvPr/>
        </p:nvSpPr>
        <p:spPr>
          <a:xfrm>
            <a:off x="9156700" y="2235200"/>
            <a:ext cx="2489200" cy="381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6100" y="279400"/>
            <a:ext cx="11099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300" b="1" spc="120" dirty="0">
                <a:solidFill>
                  <a:srgbClr val="8A2E3B"/>
                </a:solidFill>
                <a:latin typeface="Calibri"/>
              </a:rPr>
              <a:t>まとめ ｜ 検証の階段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838200"/>
            <a:ext cx="11099800" cy="751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ja-JP" sz="2800" b="1" dirty="0">
                <a:solidFill>
                  <a:srgbClr val="1A2744"/>
                </a:solidFill>
                <a:latin typeface="Calibri"/>
              </a:rPr>
              <a:t>Y行列 → 潮流 → 強さ → 揺れ → 実測(PMU)</a:t>
            </a:r>
          </a:p>
          <a:p>
            <a:pPr algn="l">
              <a:spcBef>
                <a:spcPts val="700"/>
              </a:spcBef>
            </a:pPr>
            <a:r>
              <a:rPr lang="ja-JP" sz="1500" dirty="0">
                <a:solidFill>
                  <a:srgbClr val="3D4657"/>
                </a:solidFill>
                <a:latin typeface="Calibri"/>
              </a:rPr>
              <a:t>下の層の検証が、上の層の解析を可能にする階段。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49300" y="3835400"/>
                <a:ext cx="20828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700" dirty="0">
                          <a:solidFill>
                            <a:srgbClr val="2C5F8A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7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00" y="3835400"/>
                <a:ext cx="2082800" cy="381000"/>
              </a:xfrm>
              <a:prstGeom prst="rect">
                <a:avLst/>
              </a:prstGeom>
              <a:blipFill>
                <a:blip r:embed="rId2"/>
                <a:stretch>
                  <a:fillRect l="-3636" t="-31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749300" y="4216400"/>
            <a:ext cx="2159000" cy="532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lang="ja-JP" sz="1500" b="1" dirty="0">
                <a:solidFill>
                  <a:srgbClr val="1A2744"/>
                </a:solidFill>
                <a:latin typeface="Calibri"/>
              </a:rPr>
              <a:t>土台</a:t>
            </a:r>
          </a:p>
          <a:p>
            <a:pPr algn="l">
              <a:lnSpc>
                <a:spcPct val="118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公表R/Xと整合 1.22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619500" y="3835400"/>
                <a:ext cx="20828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𝑡ℎ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 dirty="0">
                                  <a:solidFill>
                                    <a:srgbClr val="2C5F8A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1700" dirty="0">
                                  <a:solidFill>
                                    <a:srgbClr val="1A2744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0" y="3835400"/>
                <a:ext cx="2082800" cy="381000"/>
              </a:xfrm>
              <a:prstGeom prst="rect">
                <a:avLst/>
              </a:prstGeom>
              <a:blipFill>
                <a:blip r:embed="rId3"/>
                <a:stretch>
                  <a:fillRect l="-3659" t="-31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619500" y="4216400"/>
            <a:ext cx="2159000" cy="532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lang="ja-JP" sz="1500" b="1" dirty="0">
                <a:solidFill>
                  <a:srgbClr val="1A2744"/>
                </a:solidFill>
                <a:latin typeface="Calibri"/>
              </a:rPr>
              <a:t>強さの地図</a:t>
            </a:r>
          </a:p>
          <a:p>
            <a:pPr algn="l">
              <a:lnSpc>
                <a:spcPct val="118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物理帯に整合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6489700" y="3835400"/>
                <a:ext cx="20828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700" dirty="0">
                              <a:solidFill>
                                <a:srgbClr val="1A2744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700" dirty="0">
                          <a:solidFill>
                            <a:srgbClr val="8A2E3B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700" y="3835400"/>
                <a:ext cx="2082800" cy="381000"/>
              </a:xfrm>
              <a:prstGeom prst="rect">
                <a:avLst/>
              </a:prstGeom>
              <a:blipFill>
                <a:blip r:embed="rId4"/>
                <a:stretch>
                  <a:fillRect l="-36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489700" y="4216400"/>
            <a:ext cx="2159000" cy="532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lang="ja-JP" sz="1500" b="1" dirty="0">
                <a:solidFill>
                  <a:srgbClr val="1A2744"/>
                </a:solidFill>
                <a:latin typeface="Calibri"/>
              </a:rPr>
              <a:t>揺れのモード</a:t>
            </a:r>
          </a:p>
          <a:p>
            <a:pPr algn="l">
              <a:lnSpc>
                <a:spcPct val="118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文献0.4Hzを再現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9359900" y="3835400"/>
                <a:ext cx="20828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8A2E3B"/>
                              </a:solidFill>
                              <a:latin typeface="Cambria Math" panose="02040503050406030204" pitchFamily="18" charset="0"/>
                            </a:rPr>
                            <m:t>𝑔𝑟𝑖𝑑</m:t>
                          </m:r>
                        </m:sub>
                      </m:sSub>
                      <m:r>
                        <a:rPr lang="en-US" sz="1700" dirty="0">
                          <a:solidFill>
                            <a:srgbClr val="1A2744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2C5F8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dirty="0">
                              <a:solidFill>
                                <a:srgbClr val="2C5F8A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2C5F8A"/>
                              </a:solidFill>
                              <a:latin typeface="Cambria Math" panose="02040503050406030204" pitchFamily="18" charset="0"/>
                            </a:rPr>
                            <m:t>𝑖𝑛𝑣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900" y="3835400"/>
                <a:ext cx="2082800" cy="381000"/>
              </a:xfrm>
              <a:prstGeom prst="rect">
                <a:avLst/>
              </a:prstGeom>
              <a:blipFill>
                <a:blip r:embed="rId5"/>
                <a:stretch>
                  <a:fillRect l="-30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9359900" y="4216400"/>
            <a:ext cx="2159000" cy="5325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lang="ja-JP" sz="1500" b="1" dirty="0">
                <a:solidFill>
                  <a:srgbClr val="1A2744"/>
                </a:solidFill>
                <a:latin typeface="Calibri"/>
              </a:rPr>
              <a:t>次の一手</a:t>
            </a:r>
          </a:p>
          <a:p>
            <a:pPr algn="l">
              <a:lnSpc>
                <a:spcPct val="118000"/>
              </a:lnSpc>
            </a:pPr>
            <a:r>
              <a:rPr lang="ja-JP" sz="1400" dirty="0">
                <a:solidFill>
                  <a:srgbClr val="5B6470"/>
                </a:solidFill>
                <a:latin typeface="Calibri"/>
              </a:rPr>
              <a:t>IBR安定性の判定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5359400"/>
            <a:ext cx="10591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ja-JP" sz="1500" b="1" dirty="0">
                <a:solidFill>
                  <a:srgbClr val="1A2744"/>
                </a:solidFill>
                <a:latin typeface="Calibri"/>
              </a:rPr>
              <a:t>github.com/lutelute/All-Japan-Grid — 出典付き・帳簿駆動・全再現可能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100" y="6273800"/>
            <a:ext cx="11099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sz="1100" dirty="0">
                <a:solidFill>
                  <a:srgbClr val="5B6470"/>
                </a:solidFill>
                <a:latin typeface="Calibri"/>
              </a:rPr>
              <a:t>15 / 15   All-Japan-Grid 動的検証キャンペーン 2026-08</a:t>
            </a:r>
          </a:p>
        </p:txBody>
      </p:sp>
      <p:sp>
        <p:nvSpPr>
          <p:cNvPr id="870" name="Num 870"/>
          <p:cNvSpPr/>
          <p:nvPr/>
        </p:nvSpPr>
        <p:spPr>
          <a:xfrm>
            <a:off x="749300" y="2489200"/>
            <a:ext cx="355600" cy="355600"/>
          </a:xfrm>
          <a:prstGeom prst="ellipse">
            <a:avLst/>
          </a:prstGeom>
          <a:solidFill>
            <a:srgbClr val="8A2E3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71" name="Num 871"/>
          <p:cNvSpPr/>
          <p:nvPr/>
        </p:nvSpPr>
        <p:spPr>
          <a:xfrm>
            <a:off x="3619500" y="2489200"/>
            <a:ext cx="355600" cy="355600"/>
          </a:xfrm>
          <a:prstGeom prst="ellipse">
            <a:avLst/>
          </a:prstGeom>
          <a:solidFill>
            <a:srgbClr val="8A2E3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72" name="Num 872"/>
          <p:cNvSpPr/>
          <p:nvPr/>
        </p:nvSpPr>
        <p:spPr>
          <a:xfrm>
            <a:off x="6489700" y="2489200"/>
            <a:ext cx="355600" cy="355600"/>
          </a:xfrm>
          <a:prstGeom prst="ellipse">
            <a:avLst/>
          </a:prstGeom>
          <a:solidFill>
            <a:srgbClr val="8A2E3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73" name="Num 873"/>
          <p:cNvSpPr/>
          <p:nvPr/>
        </p:nvSpPr>
        <p:spPr>
          <a:xfrm>
            <a:off x="9359900" y="2489200"/>
            <a:ext cx="355600" cy="355600"/>
          </a:xfrm>
          <a:prstGeom prst="ellipse">
            <a:avLst/>
          </a:prstGeom>
          <a:solidFill>
            <a:srgbClr val="8A2E3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50" name="Mini 951"/>
          <p:cNvSpPr/>
          <p:nvPr/>
        </p:nvSpPr>
        <p:spPr>
          <a:xfrm flipV="1">
            <a:off x="927100" y="3048000"/>
            <a:ext cx="685800" cy="152400"/>
          </a:xfrm>
          <a:prstGeom prst="line">
            <a:avLst/>
          </a:prstGeom>
          <a:ln w="12700">
            <a:solidFill>
              <a:srgbClr val="5B647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1" name="Mini 952"/>
          <p:cNvSpPr/>
          <p:nvPr/>
        </p:nvSpPr>
        <p:spPr>
          <a:xfrm>
            <a:off x="927100" y="3200400"/>
            <a:ext cx="685800" cy="406400"/>
          </a:xfrm>
          <a:prstGeom prst="line">
            <a:avLst/>
          </a:prstGeom>
          <a:ln w="12700">
            <a:solidFill>
              <a:srgbClr val="5B647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2" name="Mini 953"/>
          <p:cNvSpPr/>
          <p:nvPr/>
        </p:nvSpPr>
        <p:spPr>
          <a:xfrm>
            <a:off x="1612900" y="3048000"/>
            <a:ext cx="0" cy="558800"/>
          </a:xfrm>
          <a:prstGeom prst="line">
            <a:avLst/>
          </a:prstGeom>
          <a:ln w="12700">
            <a:solidFill>
              <a:srgbClr val="5B647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3" name="Mini 954"/>
          <p:cNvSpPr/>
          <p:nvPr/>
        </p:nvSpPr>
        <p:spPr>
          <a:xfrm>
            <a:off x="1612900" y="3048000"/>
            <a:ext cx="787400" cy="279400"/>
          </a:xfrm>
          <a:prstGeom prst="line">
            <a:avLst/>
          </a:prstGeom>
          <a:ln w="12700">
            <a:solidFill>
              <a:srgbClr val="5B647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4" name="Mini 955"/>
          <p:cNvSpPr/>
          <p:nvPr/>
        </p:nvSpPr>
        <p:spPr>
          <a:xfrm flipV="1">
            <a:off x="1612900" y="3327400"/>
            <a:ext cx="787400" cy="279400"/>
          </a:xfrm>
          <a:prstGeom prst="line">
            <a:avLst/>
          </a:prstGeom>
          <a:ln w="12700">
            <a:solidFill>
              <a:srgbClr val="5B647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5" name="Mini 956"/>
          <p:cNvSpPr/>
          <p:nvPr/>
        </p:nvSpPr>
        <p:spPr>
          <a:xfrm>
            <a:off x="850900" y="3124200"/>
            <a:ext cx="152400" cy="1524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6" name="Mini 957"/>
          <p:cNvSpPr/>
          <p:nvPr/>
        </p:nvSpPr>
        <p:spPr>
          <a:xfrm>
            <a:off x="1536700" y="2971800"/>
            <a:ext cx="152400" cy="1524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Mini 958"/>
          <p:cNvSpPr/>
          <p:nvPr/>
        </p:nvSpPr>
        <p:spPr>
          <a:xfrm>
            <a:off x="1536700" y="3530600"/>
            <a:ext cx="152400" cy="1524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8" name="Mini 959"/>
          <p:cNvSpPr/>
          <p:nvPr/>
        </p:nvSpPr>
        <p:spPr>
          <a:xfrm>
            <a:off x="2324100" y="3251200"/>
            <a:ext cx="152400" cy="1524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9" name="Mini 960"/>
          <p:cNvSpPr/>
          <p:nvPr/>
        </p:nvSpPr>
        <p:spPr>
          <a:xfrm>
            <a:off x="3746500" y="3213100"/>
            <a:ext cx="254000" cy="254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27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0" name="Mini 961"/>
          <p:cNvSpPr/>
          <p:nvPr/>
        </p:nvSpPr>
        <p:spPr>
          <a:xfrm>
            <a:off x="4000500" y="3327400"/>
            <a:ext cx="279400" cy="25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1" name="Mini 962"/>
          <p:cNvSpPr/>
          <p:nvPr/>
        </p:nvSpPr>
        <p:spPr>
          <a:xfrm>
            <a:off x="4279900" y="3238500"/>
            <a:ext cx="457200" cy="20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7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2" name="Mini 963"/>
          <p:cNvSpPr/>
          <p:nvPr/>
        </p:nvSpPr>
        <p:spPr>
          <a:xfrm>
            <a:off x="4737100" y="3327400"/>
            <a:ext cx="254000" cy="25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3" name="Mini 964"/>
          <p:cNvSpPr/>
          <p:nvPr/>
        </p:nvSpPr>
        <p:spPr>
          <a:xfrm>
            <a:off x="4991100" y="3149600"/>
            <a:ext cx="50800" cy="381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4" name="Mini 965"/>
          <p:cNvSpPr/>
          <p:nvPr/>
        </p:nvSpPr>
        <p:spPr>
          <a:xfrm>
            <a:off x="6565900" y="3225800"/>
            <a:ext cx="254000" cy="2540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5" name="Mini 966"/>
          <p:cNvSpPr/>
          <p:nvPr/>
        </p:nvSpPr>
        <p:spPr>
          <a:xfrm>
            <a:off x="7988300" y="3225800"/>
            <a:ext cx="254000" cy="254000"/>
          </a:xfrm>
          <a:prstGeom prst="ellipse">
            <a:avLst/>
          </a:prstGeom>
          <a:solidFill>
            <a:srgbClr val="B4472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Mini 973"/>
          <p:cNvSpPr/>
          <p:nvPr/>
        </p:nvSpPr>
        <p:spPr>
          <a:xfrm>
            <a:off x="9461500" y="3352800"/>
            <a:ext cx="1828800" cy="0"/>
          </a:xfrm>
          <a:prstGeom prst="line">
            <a:avLst/>
          </a:prstGeom>
          <a:ln w="9525">
            <a:solidFill>
              <a:srgbClr val="5B647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3" name="Mini 974"/>
          <p:cNvSpPr/>
          <p:nvPr/>
        </p:nvSpPr>
        <p:spPr>
          <a:xfrm>
            <a:off x="10147300" y="3022600"/>
            <a:ext cx="0" cy="660400"/>
          </a:xfrm>
          <a:prstGeom prst="line">
            <a:avLst/>
          </a:prstGeom>
          <a:ln w="9525">
            <a:solidFill>
              <a:srgbClr val="5B647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4" name="Mini 975"/>
          <p:cNvSpPr/>
          <p:nvPr/>
        </p:nvSpPr>
        <p:spPr>
          <a:xfrm>
            <a:off x="9867900" y="3098800"/>
            <a:ext cx="508000" cy="508000"/>
          </a:xfrm>
          <a:prstGeom prst="ellipse">
            <a:avLst/>
          </a:prstGeom>
          <a:noFill/>
          <a:ln w="9525">
            <a:solidFill>
              <a:srgbClr val="5B647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75" name="Mini 976"/>
          <p:cNvSpPr/>
          <p:nvPr/>
        </p:nvSpPr>
        <p:spPr>
          <a:xfrm>
            <a:off x="10121900" y="3149600"/>
            <a:ext cx="889000" cy="406400"/>
          </a:xfrm>
          <a:prstGeom prst="ellipse">
            <a:avLst/>
          </a:prstGeom>
          <a:noFill/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6" name="Mini 977"/>
          <p:cNvSpPr/>
          <p:nvPr/>
        </p:nvSpPr>
        <p:spPr>
          <a:xfrm>
            <a:off x="9817100" y="3302000"/>
            <a:ext cx="101600" cy="101600"/>
          </a:xfrm>
          <a:prstGeom prst="ellipse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0" name="Link 991"/>
          <p:cNvSpPr/>
          <p:nvPr/>
        </p:nvSpPr>
        <p:spPr>
          <a:xfrm>
            <a:off x="3035300" y="2654300"/>
            <a:ext cx="381000" cy="254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1" name="Link 992"/>
          <p:cNvSpPr/>
          <p:nvPr/>
        </p:nvSpPr>
        <p:spPr>
          <a:xfrm>
            <a:off x="5905500" y="2654300"/>
            <a:ext cx="381000" cy="254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2" name="Link 993"/>
          <p:cNvSpPr/>
          <p:nvPr/>
        </p:nvSpPr>
        <p:spPr>
          <a:xfrm>
            <a:off x="8775700" y="2654300"/>
            <a:ext cx="381000" cy="25400"/>
          </a:xfrm>
          <a:prstGeom prst="rect">
            <a:avLst/>
          </a:prstGeom>
          <a:solidFill>
            <a:srgbClr val="8A2E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0" name="Spring 1041"/>
          <p:cNvSpPr/>
          <p:nvPr/>
        </p:nvSpPr>
        <p:spPr>
          <a:xfrm flipV="1">
            <a:off x="6819900" y="3238500"/>
            <a:ext cx="194733" cy="2286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1" name="Spring 1042"/>
          <p:cNvSpPr/>
          <p:nvPr/>
        </p:nvSpPr>
        <p:spPr>
          <a:xfrm>
            <a:off x="7014633" y="3238500"/>
            <a:ext cx="194733" cy="2286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2" name="Spring 1043"/>
          <p:cNvSpPr/>
          <p:nvPr/>
        </p:nvSpPr>
        <p:spPr>
          <a:xfrm flipV="1">
            <a:off x="7209367" y="3238500"/>
            <a:ext cx="194733" cy="2286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3" name="Spring 1044"/>
          <p:cNvSpPr/>
          <p:nvPr/>
        </p:nvSpPr>
        <p:spPr>
          <a:xfrm>
            <a:off x="7404100" y="3238500"/>
            <a:ext cx="194733" cy="2286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4" name="Spring 1045"/>
          <p:cNvSpPr/>
          <p:nvPr/>
        </p:nvSpPr>
        <p:spPr>
          <a:xfrm flipV="1">
            <a:off x="7598833" y="3238500"/>
            <a:ext cx="194733" cy="2286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5" name="Spring 1046"/>
          <p:cNvSpPr/>
          <p:nvPr/>
        </p:nvSpPr>
        <p:spPr>
          <a:xfrm>
            <a:off x="7793567" y="3238500"/>
            <a:ext cx="194733" cy="228600"/>
          </a:xfrm>
          <a:prstGeom prst="line">
            <a:avLst/>
          </a:prstGeom>
          <a:ln w="19050">
            <a:solidFill>
              <a:srgbClr val="8A2E3B"/>
            </a:solidFill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639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4C8ED1F5-BF28-D342-9E8C-2648FBB44D18}">
  <we:reference id="wa200010001" version="1.0.0.1" store="ja-JP" storeType="OMEX"/>
  <we:alternateReferences>
    <we:reference id="WA200010001" version="1.0.0.1" store="" storeType="OMEX"/>
  </we:alternateReferences>
  <we:properties>
    <we:property name="claude.fileId" value="&quot;22d5790c-c4cb-4d7d-bd96-4bf97e135684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24ACCA2-15D2-494C-9397-5BD4C891111A}">
  <we:reference id="wa200010473" version="1.0.0.4" store="en-US" storeType="OMEX"/>
  <we:alternateReferences>
    <we:reference id="WA200010473" version="1.0.0.4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989</TotalTime>
  <Words>2606</Words>
  <Application>Microsoft Macintosh PowerPoint</Application>
  <PresentationFormat>ワイド画面</PresentationFormat>
  <Paragraphs>257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颯人 重信</cp:lastModifiedBy>
  <cp:revision>5</cp:revision>
  <dcterms:created xsi:type="dcterms:W3CDTF">2013-01-27T09:14:16Z</dcterms:created>
  <dcterms:modified xsi:type="dcterms:W3CDTF">2026-08-17T18:06:44Z</dcterms:modified>
  <cp:category/>
</cp:coreProperties>
</file>