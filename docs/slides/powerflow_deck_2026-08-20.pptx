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92024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2B4A63"/>
                </a:solidFill>
                <a:latin typeface="Hiragino Sans"/>
              </a:rPr>
              <a:t>All-Japan-Grid 潮流計算編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10896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444A50"/>
                </a:solidFill>
                <a:latin typeface="Hiragino Sans"/>
              </a:rPr>
              <a:t>OSM+公表資料の全国送電網モデルで、どこまで・どうやって潮流が解けるのか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486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444A50"/>
                </a:solidFill>
                <a:latin typeface="Hiragino Sans"/>
              </a:rPr>
              <a:t>2026-08-20 / v1.7.0時点 / 介入台帳#33まで・試験記録つき</a:t>
            </a:r>
          </a:p>
          <a:p>
            <a:r>
              <a:rPr sz="1250" b="0">
                <a:solidFill>
                  <a:srgbClr val="444A50"/>
                </a:solidFill>
                <a:latin typeface="Hiragino Sans"/>
              </a:rPr>
              <a:t>正本: docs/reports/(trial_*, interconnector_*, IMPROVEMENT_LOG)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B4A63"/>
                </a:solidFill>
                <a:latin typeface="Hiragino Sans"/>
              </a:rPr>
              <a:t>全体像 — なぜ「4つの島」を別々に解くのか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444A50"/>
                </a:solidFill>
                <a:latin typeface="Hiragino Sans"/>
              </a:rPr>
              <a:t>日本の系統は同期的に一枚ではない。周波数と直流設備が島境界を作る</a:t>
            </a:r>
          </a:p>
        </p:txBody>
      </p:sp>
      <p:pic>
        <p:nvPicPr>
          <p:cNvPr id="4" name="Picture 3" descr="fig_cim_national_p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34440"/>
            <a:ext cx="5760720" cy="56758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46304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44A50"/>
                </a:solidFill>
                <a:latin typeface="Hiragino Sans"/>
              </a:rPr>
              <a:t>非同期4島(それぞれ独立のAC問題):</a:t>
            </a:r>
          </a:p>
          <a:p>
            <a:r>
              <a:rPr sz="1600" b="0">
                <a:solidFill>
                  <a:srgbClr val="444A50"/>
                </a:solidFill>
                <a:latin typeface="Hiragino Sans"/>
              </a:rPr>
              <a:t>  ・北海道 50Hz — 北本HVDCで本州と接続</a:t>
            </a:r>
          </a:p>
          <a:p>
            <a:r>
              <a:rPr sz="1600" b="0">
                <a:solidFill>
                  <a:srgbClr val="444A50"/>
                </a:solidFill>
                <a:latin typeface="Hiragino Sans"/>
              </a:rPr>
              <a:t>  ・東日本 50Hz(東北+東京)</a:t>
            </a:r>
          </a:p>
          <a:p>
            <a:r>
              <a:rPr sz="1600" b="0">
                <a:solidFill>
                  <a:srgbClr val="444A50"/>
                </a:solidFill>
                <a:latin typeface="Hiragino Sans"/>
              </a:rPr>
              <a:t>  ・西日本 60Hz(中部〜九州の6社)</a:t>
            </a:r>
          </a:p>
          <a:p>
            <a:r>
              <a:rPr sz="1600" b="0">
                <a:solidFill>
                  <a:srgbClr val="444A50"/>
                </a:solidFill>
                <a:latin typeface="Hiragino Sans"/>
              </a:rPr>
              <a:t>  ・沖縄 60Hz(独立)</a:t>
            </a:r>
          </a:p>
          <a:p/>
          <a:p>
            <a:r>
              <a:rPr sz="1600" b="0">
                <a:solidFill>
                  <a:srgbClr val="444A50"/>
                </a:solidFill>
                <a:latin typeface="Hiragino Sans"/>
              </a:rPr>
              <a:t>島の間はFC(周波数変換2,100MW)と</a:t>
            </a:r>
          </a:p>
          <a:p>
            <a:r>
              <a:rPr sz="1600" b="0">
                <a:solidFill>
                  <a:srgbClr val="444A50"/>
                </a:solidFill>
                <a:latin typeface="Hiragino Sans"/>
              </a:rPr>
              <a:t>HVDC(北本900MW)= AC枝は張らない</a:t>
            </a:r>
          </a:p>
          <a:p>
            <a:r>
              <a:rPr sz="1600" b="0">
                <a:solidFill>
                  <a:srgbClr val="444A50"/>
                </a:solidFill>
                <a:latin typeface="Hiragino Sans"/>
              </a:rPr>
              <a:t>→ 融通は変換所バスへの注入で表現</a:t>
            </a:r>
          </a:p>
          <a:p/>
          <a:p>
            <a:r>
              <a:rPr sz="1600" b="0">
                <a:solidFill>
                  <a:srgbClr val="444A50"/>
                </a:solidFill>
                <a:latin typeface="Hiragino Sans"/>
              </a:rPr>
              <a:t>島内のDC/BTB(阿南紀北・南福光)も</a:t>
            </a:r>
          </a:p>
          <a:p>
            <a:r>
              <a:rPr sz="1600" b="0">
                <a:solidFill>
                  <a:srgbClr val="444A50"/>
                </a:solidFill>
                <a:latin typeface="Hiragino Sans"/>
              </a:rPr>
              <a:t>介入#31/#32でAC素通しを排除(8/19)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B4A63"/>
                </a:solidFill>
                <a:latin typeface="Hiragino Sans"/>
              </a:rPr>
              <a:t>計算パイプライン — built正典から潮流まで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444A50"/>
                </a:solidFill>
                <a:latin typeface="Hiragino Sans"/>
              </a:rPr>
              <a:t>「モデルを一つ持ち、断面ごとに需要と発電を注入する」構造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>
                <a:solidFill>
                  <a:srgbClr val="444A50"/>
                </a:solidFill>
                <a:latin typeface="Hiragino Sans"/>
              </a:rPr>
              <a:t>① built正典(17,872ノード/19,747枝・OSM+公表接続89本・介入#19〜#33既定ON)</a:t>
            </a:r>
          </a:p>
          <a:p>
            <a:r>
              <a:rPr sz="1650" b="0">
                <a:solidFill>
                  <a:srgbClr val="444A50"/>
                </a:solidFill>
                <a:latin typeface="Hiragino Sans"/>
              </a:rPr>
              <a:t>      ↓ build_island_net(領土再帰属・重複統合・銘板変圧器・タイ非通電・BTB分割)</a:t>
            </a:r>
          </a:p>
          <a:p>
            <a:r>
              <a:rPr sz="1650" b="0">
                <a:solidFill>
                  <a:srgbClr val="444A50"/>
                </a:solidFill>
                <a:latin typeface="Hiragino Sans"/>
              </a:rPr>
              <a:t>② 島ネット(バス+線+変圧器)  例: west 8,242バス/944変圧器・east 6,145バス</a:t>
            </a:r>
          </a:p>
          <a:p>
            <a:r>
              <a:rPr sz="1650" b="0">
                <a:solidFill>
                  <a:srgbClr val="444A50"/>
                </a:solidFill>
                <a:latin typeface="Hiragino Sans"/>
              </a:rPr>
              <a:t>      ↓ 注入</a:t>
            </a:r>
          </a:p>
          <a:p>
            <a:r>
              <a:rPr sz="1650" b="0">
                <a:solidFill>
                  <a:srgbClr val="444A50"/>
                </a:solidFill>
                <a:latin typeface="Hiragino Sans"/>
              </a:rPr>
              <a:t>③ 需要 = 地域ピーク×県別実需要シェア×電圧重み + L_DB実測地点ピン(#30)</a:t>
            </a:r>
          </a:p>
          <a:p>
            <a:r>
              <a:rPr sz="1650" b="0">
                <a:solidFill>
                  <a:srgbClr val="444A50"/>
                </a:solidFill>
                <a:latin typeface="Hiragino Sans"/>
              </a:rPr>
              <a:t>    発電 = 3モード {容量比例balance / UCディスパッチ / 公表燃料実績(手法a)}</a:t>
            </a:r>
          </a:p>
          <a:p>
            <a:r>
              <a:rPr sz="1650" b="0">
                <a:solidFill>
                  <a:srgbClr val="444A50"/>
                </a:solidFill>
                <a:latin typeface="Hiragino Sans"/>
              </a:rPr>
              <a:t>    + 無効電力補償(コンデンサ・出典アンカー係数) + 成分別スラック</a:t>
            </a:r>
          </a:p>
          <a:p>
            <a:r>
              <a:rPr sz="1650" b="0">
                <a:solidFill>
                  <a:srgbClr val="444A50"/>
                </a:solidFill>
                <a:latin typeface="Hiragino Sans"/>
              </a:rPr>
              <a:t>      ↓ 求解</a:t>
            </a:r>
          </a:p>
          <a:p>
            <a:r>
              <a:rPr sz="1650" b="0">
                <a:solidFill>
                  <a:srgbClr val="444A50"/>
                </a:solidFill>
                <a:latin typeface="Hiragino Sans"/>
              </a:rPr>
              <a:t>④ DC(常時成立・線形) / AC(Newton-Raphson 6段フォールバック+prune ladder)</a:t>
            </a:r>
          </a:p>
          <a:p>
            <a:r>
              <a:rPr sz="1650" b="0">
                <a:solidFill>
                  <a:srgbClr val="444A50"/>
                </a:solidFill>
                <a:latin typeface="Hiragino Sans"/>
              </a:rPr>
              <a:t>      ↓ 出荷</a:t>
            </a:r>
          </a:p>
          <a:p>
            <a:r>
              <a:rPr sz="1650" b="0">
                <a:solidFill>
                  <a:srgbClr val="444A50"/>
                </a:solidFill>
                <a:latin typeface="Hiragino Sans"/>
              </a:rPr>
              <a:t>⑤ flow_map(24h×15,403線)・日付断面・MATPOWERケース・Ybus・PTDF/LODF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B4A63"/>
                </a:solidFill>
                <a:latin typeface="Hiragino Sans"/>
              </a:rPr>
              <a:t>到達点 — 島ごとのAC/DCの現在地(正直な表)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444A50"/>
                </a:solidFill>
                <a:latin typeface="Hiragino Sans"/>
              </a:rPr>
              <a:t>「AC収束」は許容誤差(tol)込みで語る — 今回の試験で品質を初開示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4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475488">
                <a:tc>
                  <a:txBody>
                    <a:bodyPr/>
                    <a:lstStyle/>
                    <a:p>
                      <a:r>
                        <a:rPr sz="1350" b="1">
                          <a:latin typeface="Hiragino Sans"/>
                        </a:rPr>
                        <a:t>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50" b="1">
                          <a:latin typeface="Hiragino Sans"/>
                        </a:rPr>
                        <a:t>規模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50" b="1">
                          <a:latin typeface="Hiragino Sans"/>
                        </a:rPr>
                        <a:t>DC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50" b="1">
                          <a:latin typeface="Hiragino Sans"/>
                        </a:rPr>
                        <a:t>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50" b="1">
                          <a:latin typeface="Hiragino Sans"/>
                        </a:rPr>
                        <a:t>解の品質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50" b="0">
                          <a:latin typeface="Hiragino Sans"/>
                        </a:rPr>
                        <a:t>北海道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50" b="0">
                          <a:latin typeface="Hiragino Sans"/>
                        </a:rPr>
                        <a:t>831バス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50" b="0">
                          <a:latin typeface="Hiragino Sans"/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50" b="0">
                          <a:latin typeface="Hiragino Sans"/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50" b="0">
                          <a:latin typeface="Hiragino Sans"/>
                        </a:rPr>
                        <a:t>真解(既定tol)・MATLAB損失3.99%・9成分多スラック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50" b="0">
                          <a:latin typeface="Hiragino Sans"/>
                        </a:rPr>
                        <a:t>東日本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50" b="0">
                          <a:latin typeface="Hiragino Sans"/>
                        </a:rPr>
                        <a:t>6,145バス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50" b="0">
                          <a:latin typeface="Hiragino Sans"/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50" b="0">
                          <a:latin typeface="Hiragino Sans"/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50" b="0">
                          <a:latin typeface="Hiragino Sans"/>
                        </a:rPr>
                        <a:t>真解(既定tol)・素朴NRでも0.2秒・vm≥0.830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50" b="0">
                          <a:latin typeface="Hiragino Sans"/>
                        </a:rPr>
                        <a:t>西日本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50" b="0">
                          <a:latin typeface="Hiragino Sans"/>
                        </a:rPr>
                        <a:t>8,242バス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50" b="0">
                          <a:latin typeface="Hiragino Sans"/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50" b="0">
                          <a:latin typeface="Hiragino Sans"/>
                        </a:rPr>
                        <a:t>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50" b="0">
                          <a:latin typeface="Hiragino Sans"/>
                        </a:rPr>
                        <a:t>tol=10MVAの緩解のみ(vm_min 0.725)…※次頁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50" b="0">
                          <a:latin typeface="Hiragino Sans"/>
                        </a:rPr>
                        <a:t>西日本(集約)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50" b="0">
                          <a:latin typeface="Hiragino Sans"/>
                        </a:rPr>
                        <a:t>6,139バス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50" b="0">
                          <a:latin typeface="Hiragino Sans"/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50" b="0">
                          <a:latin typeface="Hiragino Sans"/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50" b="0">
                          <a:latin typeface="Hiragino Sans"/>
                        </a:rPr>
                        <a:t>真解(既定tol)・0.2秒・vm≥0.927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50" b="0">
                          <a:latin typeface="Hiragino Sans"/>
                        </a:rPr>
                        <a:t>沖縄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50" b="0">
                          <a:latin typeface="Hiragino Sans"/>
                        </a:rPr>
                        <a:t>100バス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50" b="0">
                          <a:latin typeface="Hiragino Sans"/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50" b="0">
                          <a:latin typeface="Hiragino Sans"/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50" b="0">
                          <a:latin typeface="Hiragino Sans"/>
                        </a:rPr>
                        <a:t>真解・損失2.63/2.64%(pandapower/MATPOWER一致)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7548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A4A2A"/>
                </a:solidFill>
                <a:latin typeface="Hiragino Sans"/>
              </a:rPr>
              <a:t>UC断面はすべての連系断面が運用容量内(8/19是正後: 関門6,399→3,076MW等)。</a:t>
            </a:r>
          </a:p>
          <a:p>
            <a:r>
              <a:rPr sz="1500" b="0">
                <a:solidFill>
                  <a:srgbClr val="1A4A2A"/>
                </a:solidFill>
                <a:latin typeface="Hiragino Sans"/>
              </a:rPr>
              <a:t>実績断面はゾーン純位置が公表「連系線」列と39〜129MWで一致(中国39/四国129/中部~70)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B4A63"/>
                </a:solidFill>
                <a:latin typeface="Hiragino Sans"/>
              </a:rPr>
              <a:t>解き方の実際 — 6段フォールバック+prune ladder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444A50"/>
                </a:solidFill>
                <a:latin typeface="Hiragino Sans"/>
              </a:rPr>
              <a:t>run_powerflow(batch_solve)の設計と、今回の切り分けで判明した実挙動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8778240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  <a:gridCol w="2926080"/>
              </a:tblGrid>
              <a:tr h="420624">
                <a:tc>
                  <a:txBody>
                    <a:bodyPr/>
                    <a:lstStyle/>
                    <a:p>
                      <a:r>
                        <a:rPr sz="1300" b="1">
                          <a:latin typeface="Hiragino Sans"/>
                        </a:rPr>
                        <a:t>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Hiragino Sans"/>
                        </a:rPr>
                        <a:t>設定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Hiragino Sans"/>
                        </a:rPr>
                        <a:t>west(全部入り)の実測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0">
                          <a:latin typeface="Hiragino San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Hiragino Sans"/>
                        </a:rPr>
                        <a:t>NR・DC初期化・Q制限・tol 1e-2 MVA・iter100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Hiragino Sans"/>
                        </a:rPr>
                        <a:t>❌ 2.7s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0">
                          <a:latin typeface="Hiragino San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Hiragino Sans"/>
                        </a:rPr>
                        <a:t>同・フラットスタート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Hiragino Sans"/>
                        </a:rPr>
                        <a:t>❌ 3.6s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0">
                          <a:latin typeface="Hiragino San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Hiragino Sans"/>
                        </a:rPr>
                        <a:t>同・Q制限なし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Hiragino Sans"/>
                        </a:rPr>
                        <a:t>❌ 1.1s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0">
                          <a:latin typeface="Hiragino San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Hiragino Sans"/>
                        </a:rPr>
                        <a:t>tol 0.1 MVA・iter200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Hiragino Sans"/>
                        </a:rPr>
                        <a:t>❌ 2.7s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0">
                          <a:latin typeface="Hiragino San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Hiragino Sans"/>
                        </a:rPr>
                        <a:t>tol 1.0 MVA・iter300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Hiragino Sans"/>
                        </a:rPr>
                        <a:t>❌ 2.3s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00" b="0">
                          <a:latin typeface="Hiragino San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Hiragino Sans"/>
                        </a:rPr>
                        <a:t>tol 10 MVA・iter300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Hiragino Sans"/>
                        </a:rPr>
                        <a:t>✅ 0.04s(数反復で到達)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29768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444A50"/>
                </a:solidFill>
                <a:latin typeface="Hiragino Sans"/>
              </a:rPr>
              <a:t>・ladderが11.6秒かかる正体 = 「1〜5段が全滅する時間」+第6段0.04秒</a:t>
            </a:r>
          </a:p>
          <a:p>
            <a:r>
              <a:rPr sz="1500" b="0">
                <a:solidFill>
                  <a:srgbClr val="444A50"/>
                </a:solidFill>
                <a:latin typeface="Hiragino Sans"/>
              </a:rPr>
              <a:t>・fast-decoupled法は即死(0.1s) = 下位網のR/X比がX≫R仮定を破る(6月のfd系除外判断と整合)</a:t>
            </a:r>
          </a:p>
          <a:p>
            <a:r>
              <a:rPr sz="1500" b="0">
                <a:solidFill>
                  <a:srgbClr val="444A50"/>
                </a:solidFill>
                <a:latin typeface="Hiragino Sans"/>
              </a:rPr>
              <a:t>・prune段(極端角の枝外し)の寄与はゼロと確認(外した枝0本で成立)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B4A63"/>
                </a:solidFill>
                <a:latin typeface="Hiragino Sans"/>
              </a:rPr>
              <a:t>収束の敵 — 低圧アンテナ(概念)</a:t>
            </a:r>
          </a:p>
        </p:txBody>
      </p:sp>
      <p:pic>
        <p:nvPicPr>
          <p:cNvPr id="3" name="Picture 2" descr="antenna_trial_concept_2026-08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0"/>
            <a:ext cx="11338560" cy="46216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B4A63"/>
                </a:solidFill>
                <a:latin typeface="Hiragino Sans"/>
              </a:rPr>
              <a:t>実データ — west島のアンテナ2,103バス(26%)の分布</a:t>
            </a:r>
          </a:p>
        </p:txBody>
      </p:sp>
      <p:pic>
        <p:nvPicPr>
          <p:cNvPr id="3" name="Picture 2" descr="antenna_trial_map_2026-08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1143000"/>
            <a:ext cx="7537248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B4A63"/>
                </a:solidFill>
                <a:latin typeface="Hiragino Sans"/>
              </a:rPr>
              <a:t>実測 — 低い電圧はアンテナに住んでいた</a:t>
            </a:r>
          </a:p>
        </p:txBody>
      </p:sp>
      <p:pic>
        <p:nvPicPr>
          <p:cNvPr id="3" name="Picture 2" descr="antenna_trial_vm_2026-08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371600"/>
            <a:ext cx="9692640" cy="47906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80160" y="598932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0">
                <a:solidFill>
                  <a:srgbClr val="8C3326"/>
                </a:solidFill>
                <a:latin typeface="Hiragino Sans"/>
              </a:rPr>
              <a:t>E0のvm_min 0.725は全てアンテナ側(幹線側min 0.862)。集約後は既定tolで0.2秒収束・vm≥0.927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B4A63"/>
                </a:solidFill>
                <a:latin typeface="Hiragino Sans"/>
              </a:rPr>
              <a:t>重要な負の結果 — warm startすら効かない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444A50"/>
                </a:solidFill>
                <a:latin typeface="Hiragino Sans"/>
              </a:rPr>
              <a:t>「初期値の問題」ではないことの証明(2026-08-20 追試・23試行)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>
                <a:solidFill>
                  <a:srgbClr val="444A50"/>
                </a:solidFill>
                <a:latin typeface="Hiragino Sans"/>
              </a:rPr>
              <a:t>試したが全滅(アンテナ温存・8,242バスのまま):</a:t>
            </a:r>
          </a:p>
          <a:p>
            <a:r>
              <a:rPr sz="1650" b="0">
                <a:solidFill>
                  <a:srgbClr val="444A50"/>
                </a:solidFill>
                <a:latin typeface="Hiragino Sans"/>
              </a:rPr>
              <a:t>  ・DC初期化(角度を先に解いて渡す) → ❌ 0.7s</a:t>
            </a:r>
          </a:p>
          <a:p>
            <a:r>
              <a:rPr sz="1650" b="0">
                <a:solidFill>
                  <a:srgbClr val="444A50"/>
                </a:solidFill>
                <a:latin typeface="Hiragino Sans"/>
              </a:rPr>
              <a:t>  ・fast-decoupled(fdbx) → ❌ 0.1s 即死</a:t>
            </a:r>
          </a:p>
          <a:p>
            <a:r>
              <a:rPr sz="1650" b="0">
                <a:solidFill>
                  <a:srgbClr val="444A50"/>
                </a:solidFill>
                <a:latin typeface="Hiragino Sans"/>
              </a:rPr>
              <a:t>  ・tol 1e-5〜1.0/Q制限あり/なし/反復30〜300 → ❌ 全滅</a:t>
            </a:r>
          </a:p>
          <a:p>
            <a:r>
              <a:rPr sz="1650" b="0">
                <a:solidFill>
                  <a:srgbClr val="444A50"/>
                </a:solidFill>
                <a:latin typeface="Hiragino Sans"/>
              </a:rPr>
              <a:t>  ・本体ladderの収束解(tol10MVA緩解)を初期値に移植 → ❌ 発散</a:t>
            </a:r>
          </a:p>
          <a:p/>
          <a:p>
            <a:r>
              <a:rPr sz="1650" b="0">
                <a:solidFill>
                  <a:srgbClr val="444A50"/>
                </a:solidFill>
                <a:latin typeface="Hiragino Sans"/>
              </a:rPr>
              <a:t>解釈: 緩解は厳密解の吸引域に居ない = その近傍に真解が無い可能性(仮説)。</a:t>
            </a:r>
          </a:p>
          <a:p>
            <a:r>
              <a:rPr sz="1650" b="0">
                <a:solidFill>
                  <a:srgbClr val="444A50"/>
                </a:solidFill>
                <a:latin typeface="Hiragino Sans"/>
              </a:rPr>
              <a:t>末端はPVカーブの鼻の先 — 実系統ではLTCタップ・調相設備が末端電圧を支えるが、</a:t>
            </a:r>
          </a:p>
          <a:p>
            <a:r>
              <a:rPr sz="1650" b="0">
                <a:solidFill>
                  <a:srgbClr val="444A50"/>
                </a:solidFill>
                <a:latin typeface="Hiragino Sans"/>
              </a:rPr>
              <a:t>モデルにその「電圧調整の物理」が無い。</a:t>
            </a:r>
          </a:p>
          <a:p/>
          <a:p>
            <a:r>
              <a:rPr sz="1650" b="0">
                <a:solidFill>
                  <a:srgbClr val="444A50"/>
                </a:solidFill>
                <a:latin typeface="Hiragino Sans"/>
              </a:rPr>
              <a:t>→ 二択: 構造を消す(アンテナ集約=帳簿つき縮約・正典不変) or 物理を足す(LTC/調相)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B4A63"/>
                </a:solidFill>
                <a:latin typeface="Hiragino Sans"/>
              </a:rPr>
              <a:t>検証 — 計算潮流は現実と合っているか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444A50"/>
                </a:solidFill>
                <a:latin typeface="Hiragino Sans"/>
              </a:rPr>
              <a:t>公表実績との3層突合(2026-08-17〜19)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44A50"/>
                </a:solidFill>
                <a:latin typeface="Hiragino Sans"/>
              </a:rPr>
              <a:t>① ゾーン純位置 vs 公表「連系線」列(エリア需給実績):</a:t>
            </a:r>
          </a:p>
          <a:p>
            <a:r>
              <a:rPr sz="1600" b="0">
                <a:solidFill>
                  <a:srgbClr val="444A50"/>
                </a:solidFill>
                <a:latin typeface="Hiragino Sans"/>
              </a:rPr>
              <a:t>      中国 39MW差 / 四国 129MW差 / 中部 ~70MW差(FC除き) — 手法(a)実績注入断面</a:t>
            </a:r>
          </a:p>
          <a:p/>
          <a:p>
            <a:r>
              <a:rPr sz="1600" b="0">
                <a:solidFill>
                  <a:srgbClr val="444A50"/>
                </a:solidFill>
                <a:latin typeface="Hiragino Sans"/>
              </a:rPr>
              <a:t>② 線潮流の向き vs 観測(様式5実績61線): 一致67〜70%</a:t>
            </a:r>
          </a:p>
          <a:p>
            <a:r>
              <a:rPr sz="1600" b="0">
                <a:solidFill>
                  <a:srgbClr val="444A50"/>
                </a:solidFill>
                <a:latin typeface="Hiragino Sans"/>
              </a:rPr>
              <a:t>      UC断面と実績の差分一致率 ±50MWで84.3%(flow_map比較モード)</a:t>
            </a:r>
          </a:p>
          <a:p/>
          <a:p>
            <a:r>
              <a:rPr sz="1600" b="0">
                <a:solidFill>
                  <a:srgbClr val="444A50"/>
                </a:solidFill>
                <a:latin typeface="Hiragino Sans"/>
              </a:rPr>
              <a:t>③ 連系断面 vs OCCTO運用容量(8/19是正後・UC代表日):</a:t>
            </a:r>
          </a:p>
          <a:p>
            <a:r>
              <a:rPr sz="1600" b="0">
                <a:solidFill>
                  <a:srgbClr val="444A50"/>
                </a:solidFill>
                <a:latin typeface="Hiragino Sans"/>
              </a:rPr>
              <a:t>      関門 3,076 ≤ 2,850+損失 / 東岡山西播 4,858 ≤ 4,850 / 本四 1,410 ≤ 1,450</a:t>
            </a:r>
          </a:p>
          <a:p>
            <a:r>
              <a:rPr sz="1600" b="0">
                <a:solidFill>
                  <a:srgbClr val="444A50"/>
                </a:solidFill>
                <a:latin typeface="Hiragino Sans"/>
              </a:rPr>
              <a:t>      是正前は関門6,399(容量の2.2倍)=UC収支の不等式バグが真因だった</a:t>
            </a:r>
          </a:p>
          <a:p/>
          <a:p>
            <a:r>
              <a:rPr sz="1600" b="0">
                <a:solidFill>
                  <a:srgbClr val="444A50"/>
                </a:solidFill>
                <a:latin typeface="Hiragino Sans"/>
              </a:rPr>
              <a:t>検証の思想: 「合わせに行く」のではなく、公表実績を独立の答え合わせに使う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B4A63"/>
                </a:solidFill>
                <a:latin typeface="Hiragino Sans"/>
              </a:rPr>
              <a:t>3つの断面 — 同じ網に違う現実を流す</a:t>
            </a:r>
          </a:p>
        </p:txBody>
      </p:sp>
      <p:pic>
        <p:nvPicPr>
          <p:cNvPr id="3" name="Picture 2" descr="frame_flow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371600"/>
            <a:ext cx="5120640" cy="34769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17320"/>
            <a:ext cx="5943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44A50"/>
                </a:solidFill>
                <a:latin typeface="Hiragino Sans"/>
              </a:rPr>
              <a:t>UC代表日断面:</a:t>
            </a:r>
          </a:p>
          <a:p>
            <a:r>
              <a:rPr sz="1600" b="0">
                <a:solidFill>
                  <a:srgbClr val="444A50"/>
                </a:solidFill>
                <a:latin typeface="Hiragino Sans"/>
              </a:rPr>
              <a:t>  fy2023シナリオ→起動停止最適化→ノード注入</a:t>
            </a:r>
          </a:p>
          <a:p>
            <a:r>
              <a:rPr sz="1600" b="0">
                <a:solidFill>
                  <a:srgbClr val="444A50"/>
                </a:solidFill>
                <a:latin typeface="Hiragino Sans"/>
              </a:rPr>
              <a:t>  (8/19: 収支等式化+spill帳簿で容量整合)</a:t>
            </a:r>
          </a:p>
          <a:p/>
          <a:p>
            <a:r>
              <a:rPr sz="1600" b="0">
                <a:solidFill>
                  <a:srgbClr val="444A50"/>
                </a:solidFill>
                <a:latin typeface="Hiragino Sans"/>
              </a:rPr>
              <a:t>実績日付断面(手法a・8/19):</a:t>
            </a:r>
          </a:p>
          <a:p>
            <a:r>
              <a:rPr sz="1600" b="0">
                <a:solidFill>
                  <a:srgbClr val="444A50"/>
                </a:solidFill>
                <a:latin typeface="Hiragino Sans"/>
              </a:rPr>
              <a:t>  9/10社の燃料別実績+FC/北本計画潮流を注入</a:t>
            </a:r>
          </a:p>
          <a:p>
            <a:r>
              <a:rPr sz="1600" b="0">
                <a:solidFill>
                  <a:srgbClr val="444A50"/>
                </a:solidFill>
                <a:latin typeface="Hiragino Sans"/>
              </a:rPr>
              <a:t>  原発停止などの時事が公表実績経由で自動反映</a:t>
            </a:r>
          </a:p>
          <a:p/>
          <a:p>
            <a:r>
              <a:rPr sz="1600" b="0">
                <a:solidFill>
                  <a:srgbClr val="444A50"/>
                </a:solidFill>
                <a:latin typeface="Hiragino Sans"/>
              </a:rPr>
              <a:t>⚡NOW断面:</a:t>
            </a:r>
          </a:p>
          <a:p>
            <a:r>
              <a:rPr sz="1600" b="0">
                <a:solidFill>
                  <a:srgbClr val="444A50"/>
                </a:solidFill>
                <a:latin typeface="Hiragino Sans"/>
              </a:rPr>
              <a:t>  でんき予報の当日需要で1時間毎更新</a:t>
            </a:r>
          </a:p>
          <a:p/>
          <a:p>
            <a:r>
              <a:rPr sz="1600" b="0">
                <a:solidFill>
                  <a:srgbClr val="444A50"/>
                </a:solidFill>
                <a:latin typeface="Hiragino Sans"/>
              </a:rPr>
              <a:t>flow_mapで3断面を切替・比較(右図)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B4A63"/>
                </a:solidFill>
                <a:latin typeface="Hiragino Sans"/>
              </a:rPr>
              <a:t>連系線の整合 — 8/19是正のbefore/after</a:t>
            </a:r>
          </a:p>
        </p:txBody>
      </p:sp>
      <p:pic>
        <p:nvPicPr>
          <p:cNvPr id="3" name="Picture 2" descr="ba_interconnectors_2026-08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325880"/>
            <a:ext cx="9326880" cy="508738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B4A63"/>
                </a:solidFill>
                <a:latin typeface="Hiragino Sans"/>
              </a:rPr>
              <a:t>潮流から派生する出荷物</a:t>
            </a:r>
          </a:p>
        </p:txBody>
      </p:sp>
      <p:pic>
        <p:nvPicPr>
          <p:cNvPr id="3" name="Picture 2" descr="ybus_spy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4114800" cy="43092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17320"/>
            <a:ext cx="68580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44A50"/>
                </a:solidFill>
                <a:latin typeface="Hiragino Sans"/>
              </a:rPr>
              <a:t>・数値Ybus(4島・検証つき・v1.7.0で非通電枝除外)</a:t>
            </a:r>
          </a:p>
          <a:p>
            <a:r>
              <a:rPr sz="1600" b="0">
                <a:solidFill>
                  <a:srgbClr val="444A50"/>
                </a:solidFill>
                <a:latin typeface="Hiragino Sans"/>
              </a:rPr>
              <a:t>    再構成恒等式を機械精度で確認(右図=スパイパターン)</a:t>
            </a:r>
          </a:p>
          <a:p/>
          <a:p>
            <a:r>
              <a:rPr sz="1600" b="0">
                <a:solidFill>
                  <a:srgbClr val="444A50"/>
                </a:solidFill>
                <a:latin typeface="Hiragino Sans"/>
              </a:rPr>
              <a:t>・感度行列 PTDF/LODF: 潮流を×1,400〜15,000倍高速化</a:t>
            </a:r>
          </a:p>
          <a:p>
            <a:r>
              <a:rPr sz="1600" b="0">
                <a:solidFill>
                  <a:srgbClr val="444A50"/>
                </a:solidFill>
                <a:latin typeface="Hiragino Sans"/>
              </a:rPr>
              <a:t>    N-1解析はDC枠内で厳密</a:t>
            </a:r>
          </a:p>
          <a:p/>
          <a:p>
            <a:r>
              <a:rPr sz="1600" b="0">
                <a:solidFill>
                  <a:srgbClr val="444A50"/>
                </a:solidFill>
                <a:latin typeface="Hiragino Sans"/>
              </a:rPr>
              <a:t>・MATPOWER配布ケース(v1.7.0): 4島 .mat+CSV</a:t>
            </a:r>
          </a:p>
          <a:p>
            <a:r>
              <a:rPr sz="1600" b="0">
                <a:solidFill>
                  <a:srgbClr val="444A50"/>
                </a:solidFill>
                <a:latin typeface="Hiragino Sans"/>
              </a:rPr>
              <a:t>    MATLAB実機検証済(沖縄2.64%=pandapower2.63%と一致)</a:t>
            </a:r>
          </a:p>
          <a:p/>
          <a:p>
            <a:r>
              <a:rPr sz="1600" b="0">
                <a:solidFill>
                  <a:srgbClr val="444A50"/>
                </a:solidFill>
                <a:latin typeface="Hiragino Sans"/>
              </a:rPr>
              <a:t>・flow_map(GitHub Pages): 24h×15,403線・流光アニメ</a:t>
            </a:r>
          </a:p>
          <a:p>
            <a:r>
              <a:rPr sz="1600" b="0">
                <a:solidFill>
                  <a:srgbClr val="444A50"/>
                </a:solidFill>
                <a:latin typeface="Hiragino Sans"/>
              </a:rPr>
              <a:t>    日付選択・実績/UC/差分比較・線クリックで観測実績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B4A63"/>
                </a:solidFill>
                <a:latin typeface="Hiragino Sans"/>
              </a:rPr>
              <a:t>未解決の課題と次の一手(優先順)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6304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0">
                <a:solidFill>
                  <a:srgbClr val="444A50"/>
                </a:solidFill>
                <a:latin typeface="Hiragino Sans"/>
              </a:rPr>
              <a:t>1. west厳密AC: 「物理を足す」— LTCタップ・調相設備のモデル化(本丸・研究テーマ)</a:t>
            </a:r>
          </a:p>
          <a:p>
            <a:r>
              <a:rPr sz="1650" b="0">
                <a:solidFill>
                  <a:srgbClr val="444A50"/>
                </a:solidFill>
                <a:latin typeface="Hiragino Sans"/>
              </a:rPr>
              <a:t>     または末端線・変圧器の実R/X精緻化(様式5 crosswalk照合の本実装)</a:t>
            </a:r>
          </a:p>
          <a:p/>
          <a:p>
            <a:r>
              <a:rPr sz="1650" b="0">
                <a:solidFill>
                  <a:srgbClr val="444A50"/>
                </a:solidFill>
                <a:latin typeface="Hiragino Sans"/>
              </a:rPr>
              <a:t>2. 配布ケースの改善: --reduced(アンテナ集約・帳簿つき)同梱 → MATPOWERで全島runpf</a:t>
            </a:r>
          </a:p>
          <a:p>
            <a:r>
              <a:rPr sz="1650" b="0">
                <a:solidFill>
                  <a:srgbClr val="444A50"/>
                </a:solidFill>
                <a:latin typeface="Hiragino Sans"/>
              </a:rPr>
              <a:t>     + エクスポータを正典系譜へ切替(eastは正典なら素朴ACが通ることを確認済み)</a:t>
            </a:r>
          </a:p>
          <a:p/>
          <a:p>
            <a:r>
              <a:rPr sz="1650" b="0">
                <a:solidFill>
                  <a:srgbClr val="444A50"/>
                </a:solidFill>
                <a:latin typeface="Hiragino Sans"/>
              </a:rPr>
              <a:t>3. 検証の拡張: 24h横断・実績断面でのE3再現 / 観測方向一致率の向上(現67-70%)</a:t>
            </a:r>
          </a:p>
          <a:p/>
          <a:p>
            <a:r>
              <a:rPr sz="1650" b="0">
                <a:solidFill>
                  <a:srgbClr val="444A50"/>
                </a:solidFill>
                <a:latin typeface="Hiragino Sans"/>
              </a:rPr>
              <a:t>4. 誠実性の運用: west AC品質は必ずtol併記 / vm統計は非有限カウント併記</a:t>
            </a:r>
          </a:p>
          <a:p/>
          <a:p>
            <a:r>
              <a:rPr sz="1650" b="0">
                <a:solidFill>
                  <a:srgbClr val="444A50"/>
                </a:solidFill>
                <a:latin typeface="Hiragino Sans"/>
              </a:rPr>
              <a:t>全23試行の記録(失敗込み・設定・時間・原因解釈)=</a:t>
            </a:r>
          </a:p>
          <a:p>
            <a:r>
              <a:rPr sz="1650" b="0">
                <a:solidFill>
                  <a:srgbClr val="444A50"/>
                </a:solidFill>
                <a:latin typeface="Hiragino Sans"/>
              </a:rPr>
              <a:t>docs/reports/trial_trafo_impedance_antenna_2026-08-20.md 付録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B4A63"/>
                </a:solidFill>
                <a:latin typeface="Hiragino Sans"/>
              </a:rPr>
              <a:t>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B4A63"/>
                </a:solidFill>
                <a:latin typeface="Hiragino Sans"/>
              </a:rPr>
              <a:t>・4島のうち3島+集約west = 既定許容誤差の真解ACが取れる</a:t>
            </a:r>
          </a:p>
          <a:p>
            <a:r>
              <a:rPr sz="1800" b="0">
                <a:solidFill>
                  <a:srgbClr val="2B4A63"/>
                </a:solidFill>
                <a:latin typeface="Hiragino Sans"/>
              </a:rPr>
              <a:t>・全部入りwestは現状「10MVA緩解」— 今回の試験でその実態を初めて開示した</a:t>
            </a:r>
          </a:p>
          <a:p>
            <a:r>
              <a:rPr sz="1800" b="0">
                <a:solidFill>
                  <a:srgbClr val="2B4A63"/>
                </a:solidFill>
                <a:latin typeface="Hiragino Sans"/>
              </a:rPr>
              <a:t>・収束の敵は低圧アンテナ(26%)であり、変圧器でも初期値でもなかった</a:t>
            </a:r>
          </a:p>
          <a:p>
            <a:r>
              <a:rPr sz="1800" b="0">
                <a:solidFill>
                  <a:srgbClr val="2B4A63"/>
                </a:solidFill>
                <a:latin typeface="Hiragino Sans"/>
              </a:rPr>
              <a:t>・検証は公表実績との3層突合で、ゾーン純位置は数十MW精度</a:t>
            </a:r>
          </a:p>
          <a:p>
            <a:r>
              <a:rPr sz="1800" b="0">
                <a:solidFill>
                  <a:srgbClr val="2B4A63"/>
                </a:solidFill>
                <a:latin typeface="Hiragino Sans"/>
              </a:rPr>
              <a:t>・UC・実績・NOWの3断面が同じ網の上で動き、時事は公表実績経由で自動反映</a:t>
            </a:r>
          </a:p>
          <a:p>
            <a:r>
              <a:rPr sz="1800" b="0">
                <a:solidFill>
                  <a:srgbClr val="2B4A63"/>
                </a:solidFill>
                <a:latin typeface="Hiragino Sans"/>
              </a:rPr>
              <a:t>・失敗も含む全試行が再現ハーネスつきで記録されている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