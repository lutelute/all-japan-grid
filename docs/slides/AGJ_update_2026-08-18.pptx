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ALL-JAPAN-GRID  動的検証キャンペーン 2026-08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E9EDF2"/>
                </a:solidFill>
                <a:latin typeface="Hiragino Sans"/>
              </a:rPr>
              <a:t>日本の送電網は、公開データだけで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E9EDF2"/>
                </a:solidFill>
                <a:latin typeface="Hiragino Sans"/>
              </a:rPr>
              <a:t>どこまで「見える」か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OSMの線形と、各社が制度に基づき公表するインピーダンス・潮流・系統図。その2つだけから組み上げた全国モデルが、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静的な地図を越えて「系統の強さと揺れ」まで再現した記録 — 原理・数式・答え合わせつき。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0A13A"/>
                </a:solidFill>
                <a:latin typeface="Hiragino Sans"/>
              </a:rPr>
              <a:t>17,881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ノード(全国)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8B368"/>
                </a:solidFill>
                <a:latin typeface="Hiragino Sans"/>
              </a:rPr>
              <a:t>4島 AC収束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全規模潮流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F9FD8"/>
                </a:solidFill>
                <a:latin typeface="Hiragino Sans"/>
              </a:rPr>
              <a:t>0.43 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西日本長軸振動の再現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4572E"/>
                </a:solidFill>
                <a:latin typeface="Hiragino Sans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介入台帳(全仮定の目録)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01 / 21   出典付き・帳簿駆動・全再現可能(regenerate_all)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0  系統の数学的正体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系統は1枚の行列 — ノードアドミタンス行列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送電網はバス(節点)と枝(線路・変圧器)のグラフ。各枝の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インピーダンス z = r + jx の逆数を節点方程式に並べたもの。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76072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I = Y·V,   Yij = −yij,   Yii = Σ yik + yi(sh)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I=節点注入電流・V=節点電圧。本モデル: 17,862×17,862・非零0.019%・回線数parでxを1/par倍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576072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Pi = Vi Σj Vj (Gij cosθij + Bij sinθij)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潮流方程式(G+jB=Yの実/虚部・θij=位相差)。Newton–Raphsonで解く=潮流計算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0A13A"/>
                </a:solidFill>
                <a:latin typeface="Hiragino Sans"/>
              </a:rPr>
              <a:t>この1枚から出るもの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・潮流 — どの線に何MW流れるか(観測と突合可)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・短絡容量 — 系統の「強さ」(原理I)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・動揺モード — 系統の「揺れ」(原理II)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・Z(jω) — 周波数依存化すれば共振・受動性(次段)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8920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「インピーダンスだけで系統は基本計算できる」——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この直観が正しい理由が上の2式。発電機・負荷モデルを足すほど見える現象が増える。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02 / 21   Yはpandapower/pypower makeYbus(業界標準実装)・出荷v5.0.1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主張の型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「モデルが凄い」ではなく「答え合わせが凄い」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4つの層それぞれに、独立の公開データによる検算がある。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1168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3291840"/>
                <a:gridCol w="265176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層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モデル側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独立の公開データ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結果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① インピーダンス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線種×実線長(par合成)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様式5 公表R/X(404線)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比 中央値1.22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② 潮流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AC潮流解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潮流実績CSV(2,600線超)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Spearman 0.41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③ 静的強度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テブナン短絡容量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物理帯(66kV≈1–2GVA)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896–2,207 MVA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④ 動的挙動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長軸振動モード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実測で知られる約0.4Hz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0.434 Hz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A0B2"/>
                </a:solidFill>
                <a:latin typeface="Hiragino Sans"/>
              </a:rPr>
              <a:t>既存のオープン系統モデル(SciGRID・GridKit・PyPSA-Eur)は静的トポロジ止まり — 動的検証まで到達した公開モデルは例がない。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03 / 21   検証4点セット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検証 ①②  観測との突合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2,600本の線に、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実測の潮流が流れている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10社の「系統情報公表」から潮流実績(1時間値×1年)を機械収集し、OSM由来の線形に配置。青=実測潮流あり・太さ=潮流p95。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71800"/>
            <a:ext cx="548640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X公表 / Xモデル の中央値 = 1.22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Xモデル=線種典型x×弦距離÷par。弦は実長の下限なので比&gt;1が自然(1.2〜1.4=迂回率)→全国でスケール整合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・中部は「仮名化」ではなくローカル77kVまで実名公表と判明(誤認を訂正して収容)</a:t>
            </a:r>
          </a:p>
        </p:txBody>
      </p:sp>
      <p:pic>
        <p:nvPicPr>
          <p:cNvPr id="8" name="Picture 7" descr="fig_national_obs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731520"/>
            <a:ext cx="4291838" cy="5486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04 / 21   観測=observed層としてderived(解析値)と分離管理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I  系統の強さ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テブナンの定理で「強さ」を1点の数字にする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バスiから系統を見ると、どんな複雑な網も「1つの電源+1つのインピーダンスZth」に等価化できる。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Zth,i = [Y⁻¹]ii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Ssc,i = |V|²/|Zth,i| ≈ Sbase/|Zth,i(pu)|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逆行列は作らず疎LUでY x=eiを解き対角のみ取得(島あたり数十秒)。発電機はxd″=0.2pu(典型値)で参加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34340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ΔV ≈ Zth·ΔI,   SCRi = Ssc,i / SIBR,i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Zthが大きい(弱い)ほどインバータの電流変化が自端電圧を動かし、PLLが自分の起こした変動を追って発振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0A13A"/>
                </a:solidFill>
                <a:latin typeface="Hiragino Sans"/>
              </a:rPr>
              <a:t>読みどころ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・経験則: SCR &lt; 3 で不安定リスク帯(IEEE系の知見)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・66kV系で Ssc ≈ 1〜2GVA が普通の値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・モデルの66-77kV帯中央値: 0.9〜2.2GVA — 物理帯に整合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05 / 21   gen_grid_strength_map.py — 機械はG表(号機×型式別典型値)から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  系統強度ネットワーク図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「コンセントの奥に、どれだけ</a:t>
            </a:r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発電機が控えているか」の地図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・緑=硬い系統 / 赤=柔らかい系統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・Sscはバス量 → 「回廊は弱い方の端に支配される」min(両端)で線に写像(18,769線分)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・基幹回廊が緑・放射状66kV末端が赤 — 直観と一致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・赤いエリア×太陽光集中=ホスティング容量・GFM配置の優先地図</a:t>
            </a:r>
          </a:p>
        </p:txBody>
      </p:sp>
      <p:pic>
        <p:nvPicPr>
          <p:cNvPr id="6" name="Picture 5" descr="fig_scr_network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685800"/>
            <a:ext cx="4924520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06 / 21   初回の非物理値(119GVA)は出荷Ybusの単位表記バグを検算で発見→v5.0.1修正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II  系統の揺れ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発電機は振り子、送電網はバネ — 動揺方程式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(2Hi/ωs)·d²δi/dt² = Pm,i − Pe,i(δ)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Pe,i = Ei Σj Ej (Gij cosδij + Bij sinδij)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δ=回転子角・H=慣性定数[s]。G,BはYを発電機内部ノードへ縮約(Schur: Yred=YGG−YGL·YLL⁻¹·YLG)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2044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M Δδ̈ = −K Δδ,  Kij = ∂Pe,i/∂δj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M⁻¹K の固有値 λk → fk = √λk / 2π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バネ-質点系と同型。K=同期化トルク・固有ベクトル=モード形(揺れの向き)。運転点(収束ACのE∠δ)込み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54480"/>
            <a:ext cx="512064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Hagg = ΣHiSi / ΣSi,  1/x″agg = Σ1/x″i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E∠δ = V + jx″d·I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機械集約(容量加重H・xd″並列合成)がFIT極小機の慣性アーティファクト(11〜2,284Hzの非物理)を根治し0.4Hz帯が現れた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・インバータ(IBR)は慣性を持たない→動揺方程式から分離(west 24GVA/8,026機)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・定数H, xd″は型式別典型値(IEEJ/教科書帯)と明示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07 / 21   src/dynamics/machine_agg.py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II  長軸振動の地理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九州と関西は、シーソーしている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・最低モードの固有ベクトルを地図に置くと、青群と赤群が逆位相で揺れ合う構造が現れる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・west 0.434Hz(周期2.3秒) — 九州⇔中部・関西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・east 0.592Hz — 東北⇔関東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・モード形の大きい機に制動(PSS/GFM)を置くのが定石。この振動の減衰が連系線の運用限界を決める(1996 米WSCC大停電)</a:t>
            </a:r>
          </a:p>
        </p:txBody>
      </p:sp>
      <p:pic>
        <p:nvPicPr>
          <p:cNvPr id="6" name="Picture 5" descr="fig_swing_ma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685800"/>
            <a:ext cx="5468471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08 / 21   gen_swing_map.py — 運転点は本番前処理フルセット(介入#19/#20/#24/#26既定込み)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III  PV有無×UC — 慣性の日内変動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太陽は同期機を止め、系統の慣性を昼に沈める</a:t>
            </a:r>
          </a:p>
        </p:txBody>
      </p:sp>
      <p:pic>
        <p:nvPicPr>
          <p:cNvPr id="5" name="Picture 4" descr="fig_pv_inertia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863840" cy="33604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ROCOF = ΔP·f₀ / 2Ek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正午にPVが46GWの同期機を止め Ek east−21%/west−26% → 1GW脱落時の周波数低下速度+27〜36%悪化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3832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>
                <a:solidFill>
                  <a:srgbClr val="E9EDF2"/>
                </a:solidFill>
                <a:latin typeface="Hiragino Sans"/>
              </a:rPr>
              <a:t>・モード周波数はほぼ不変 — KとMが同率に減るため(正しい物理)。効くのはROCOF</a:t>
            </a:r>
          </a:p>
          <a:p>
            <a:pPr>
              <a:lnSpc>
                <a:spcPct val="130000"/>
              </a:lnSpc>
            </a:pPr>
            <a:r>
              <a:rPr sz="1100">
                <a:solidFill>
                  <a:srgbClr val="E9EDF2"/>
                </a:solidFill>
                <a:latin typeface="Hiragino Sans"/>
              </a:rPr>
              <a:t>・夜明け前の慣性最小・夕方ランプ(ダックカーブ裏面)も出現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09 / 21   uc_pv_compare.py → pv_dynamics_compare.py(容量比例ブリッジ・開示済)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ヘッドライン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377440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20040"/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公開データのみから構築した全国送電網モデルが、</a:t>
            </a:r>
          </a:p>
          <a:p>
            <a:pPr>
              <a:lnSpc>
                <a:spcPct val="135000"/>
              </a:lnSpc>
            </a:pPr>
            <a:r>
              <a:rPr sz="2400" b="1">
                <a:solidFill>
                  <a:srgbClr val="E0A13A"/>
                </a:solidFill>
                <a:latin typeface="Hiragino Sans"/>
              </a:rPr>
              <a:t>実測で知られる西日本長軸振動(約0.4Hz)の</a:t>
            </a:r>
          </a:p>
          <a:p>
            <a:pPr>
              <a:lnSpc>
                <a:spcPct val="13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周波数と地理形状を再現した。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A0B2"/>
                </a:solidFill>
                <a:latin typeface="Hiragino Sans"/>
              </a:rPr>
              <a:t>周波数だけでなく「九州⇔中部・関西の逆位相」という形まで一致 — トポロジ・インピーダンス・慣性配置がまとめて本物らしいことの証明。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F9FD8"/>
                </a:solidFill>
                <a:latin typeface="Hiragino Sans"/>
              </a:rPr>
              <a:t>0.434 Hz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west 最低モード(文献≈0.4Hz)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4572E"/>
                </a:solidFill>
                <a:latin typeface="Hiragino Sans"/>
              </a:rPr>
              <a:t>0.592 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east 最低モード(東北⇔関東)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0A13A"/>
                </a:solidFill>
                <a:latin typeface="Hiragino Sans"/>
              </a:rPr>
              <a:t>409機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9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west 同期機(集約後)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10 / 21   再現: PYTHONPATH=. python3 scripts/gen_swing_map.py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方法論  トポロジをどう作ったか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9EDF2"/>
                </a:solidFill>
                <a:latin typeface="Hiragino Sans"/>
              </a:rPr>
              <a:t>EGGC — 証拠ゲート付き系統コンフレーション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公表資料の「論理接続(直線)」をOSMの「物理線形」へ写像。核心は採否を証拠でゲートすること: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off-main比率 = 浮いた断片の長さ / 経路総延長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≥0.7 → 断片こそ公表線そのもの → 実線形に吸着 / &lt;0.3や経路なし → 直線を保持(存在しない線形を捏造しない)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5669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系譜: HMMマップマッチング(Newson &amp; Krumm 2009)・地図コンフレーション(Saalfeld 1988)・GridKit系(逆方向)。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公表論理エッジを入力とし、検証可能な採否基準を持つ点が新規。全接続は帳簿駆動(217本)・可逆。</a:t>
            </a:r>
          </a:p>
        </p:txBody>
      </p:sp>
      <p:pic>
        <p:nvPicPr>
          <p:cNvPr id="8" name="Picture 7" descr="fig_ybus_compare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394960" cy="28053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548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A0B2"/>
                </a:solidFill>
                <a:latin typeface="Hiragino Sans"/>
              </a:rPr>
              <a:t>Ybus疎行列構造: OSM再抽出の前後で結線+7.1%・疎性(帯構造)は不変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11 / 21   route_disclosure_edges.py / apply_disclosure_v2.py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誠実性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滑らかさは、検証の証拠ではない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完成品の見栄えは「仮定を重ねた推定」を「実在の観測」と誤認させる。だから仮定の全量を1枚の台帳で見えるようにする。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・介入台帳 — 接続・値・配分を作る介入30件すべてを ①根拠 ②帳簿 ③無効化手段 の3点セットで登録(登録なき介入は禁止)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・出典必須 — 容量・接続は出典URL+原文引用がないものをREJECT。動的定数は「型式別典型値・個別実測でない」と列で明示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・負の結果 — 失敗・棄却した仮説も検証図つきで報告に残す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・A/B保留 — 効果が測れない改良は採用しない(例: 地点需要ピン留め=害なし・カバレッジ0.3%で保留)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・近似の明示 — 長軸振動は「帯と形の再現」。減衰率の定量にはAVR/PSS/ガバナの制御系モデルが要る(未実装と明記)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12 / 21   docs/MODEL_INTERVENTIONS.md — 「盲信につながる修正は全部ここに載せる」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次の原理  負性インピーダンスと安定判別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次に足す数式 — インピーダンス比のナイキスト判定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安定 ⇔ Zgrid(jω)/Zinv(jω) がナイキスト判別を満たす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Middlebrook(1976)→Sun(2011)の系統連系版。Zgrid(jω)はYbusの周波数依存化から各バスで計算 — 様式5実R/Xが効く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5468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Re[Zinv(jω)] &lt; 0 の帯域 = 負性抵抗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インバータは制御帯域(PLL)・定電力負荷で負の抵抗に見える。弱い系統×負性帯域の重なり=共振・発振の条件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554480"/>
          <a:ext cx="51206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031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 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内容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解ける問い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1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ZIP負荷+公表R/XでY(jω)スキャン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受動性が失われる帯域=共振リスク地図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2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GFL/GFMのZinv×ナイキスト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負性インピーダンス安定性の全国スクリーニング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3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RMS動的(CGMES資産が入口)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慣性低下シナリオ・GFM最適配置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DB拡張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G_DB(38万行済)+L_DB(1,135バンク済)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すべての解析の底上げ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13 / 21   ZIP負荷: P(V)=P₀(aV²+bV+c)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検証の第5層へ  コンセントで系統を測る(PMU)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E9EDF2"/>
                </a:solidFill>
                <a:latin typeface="Hiragino Sans"/>
              </a:rPr>
              <a:t>モデルが予言した0.4Hzを、壁の100Vコンセントから実測する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周波数と低周波動揺(0.2〜1Hz)は系統全体で共有される量 — 単相100Vの末端でも観測できる(米FNET/GridEyeが壁コンセント計測網で実証)。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4320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4754880"/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8FA0B2"/>
                          </a:solidFill>
                          <a:latin typeface="Hiragino Sans"/>
                        </a:rPr>
                        <a:t>台数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できる解析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1台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周波数イベント検出・df/dtから脱落電源の規模推定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2台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長軸振動の位相差=モードの直接観測(九州×関西で0.43Hzのシーソーを見る)・地域間角差=潮流の代理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3台+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周波数波の到達時刻差 → 擾乱源の位置標定(三角測量)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10台+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モード形の実測地図 → 本モデルの振動地図と直接突合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92240" y="2194560"/>
            <a:ext cx="512064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モデル(M⁻¹K)の予言 ⇄ PMU実測 f, Δφ(t)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予測したモード周波数・形を自前の観測網で検証 — 公開データ検証(4層)の上に「自分の計測」という第5層が載る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・ハード: GPS 1PPS+ADC(Raspberry Pi級・数千円〜で自作可)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・単相100Vの位相は配電変圧器結線分だけずれるが、周波数と動揺成分は系統共通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・位置標定に要る「周波数波の伝播速度」=慣性密度分布は本モデルのMから計算できる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14 / 21   先例: FNET/GridEye(米)。日本の分散PMU網は未開拓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9EDF2"/>
                </a:solidFill>
                <a:latin typeface="Hiragino Sans"/>
              </a:rPr>
              <a:t>Y行列 → 潮流 → 強さ → 揺れ → 実測(PMU)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FA0B2"/>
                </a:solidFill>
                <a:latin typeface="Hiragino Sans"/>
              </a:rPr>
              <a:t>下の層の検証が、上の層の解析を可能にする階段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E0A13A"/>
                </a:solidFill>
                <a:latin typeface="Hiragino Sans"/>
              </a:rPr>
              <a:t>I = YV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土台(公表R/Xと整合1.22)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8B368"/>
                </a:solidFill>
                <a:latin typeface="Hiragino Sans"/>
              </a:rPr>
              <a:t>Zth = [Y⁻¹]ii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強さの地図(物理帯に整合)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4F9FD8"/>
                </a:solidFill>
                <a:latin typeface="Hiragino Sans"/>
              </a:rPr>
              <a:t>M⁻¹K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揺れのモード(文献0.4Hz再現)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E4572E"/>
                </a:solidFill>
                <a:latin typeface="Hiragino Sans"/>
              </a:rPr>
              <a:t>Z比ナイキスト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次: IBR安定性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github.com/lutelute/All-Japan-Grid — 出典付き・帳簿駆動・全再現可能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15 / 21   All-Japan-Grid 動的検証キャンペーン 2026-08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最新成果 — ライブ系統マップ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全1.5万線が時刻で動く — UC×24時間の全ノーダル潮流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タイムスライダー・流光=向き・色=負荷率(4島96ソルブ全収束)</a:t>
            </a:r>
          </a:p>
        </p:txBody>
      </p:sp>
      <p:pic>
        <p:nvPicPr>
          <p:cNvPr id="5" name="Picture 4" descr="flowlive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715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・先行例(powerjp)は実測330本の可視化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・AGJは物理モデル — 実測が無い線も全て埋まる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・流光の選定=|P|×線長(輸送モーメント)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・線クリックで24hスパークライン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16 / 21   lutelute.github.io/All-Japan-Grid/flow_map.html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最新成果 — 準リアルタイム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NOW — でんき予報9社の当日実績で「いまの潮流」を推計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実績需要でzone負荷をスケール → 全ノーダルPF(数分遅れの断面)</a:t>
            </a:r>
          </a:p>
        </p:txBody>
      </p:sp>
      <p:pic>
        <p:nvPicPr>
          <p:cNvPr id="5" name="Picture 4" descr="flownow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6949440" cy="4715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・10社中9社の公表CSVを自動取得(1時間値)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・実測の生値は再配信しない — 配るのは計算結果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・サイクル: 取得→PF→公開を約7分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・サーバ常駐は停電明けに設置予定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17 / 21   fetch_denkiyoho.py → export_flow_map_data --realtime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最新成果 — 発電の見せ方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発電所は円周ゲージ — 円=定格・弧=いまの出力</a:t>
            </a:r>
          </a:p>
        </p:txBody>
      </p:sp>
      <p:pic>
        <p:nvPicPr>
          <p:cNvPr id="5" name="Picture 4" descr="flowzoom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949440" cy="4715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9202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・燃料で色分け(原子力/LNG/石炭/水力…)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・UC稼働率パネル: 地域×燃料の24hディスパッチ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・ズームで77kV局所網まで降りられる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18 / 21   円周ゲージ=出力/定格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誠実性 — 見つけて、直して、記録する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連系タイの二重計上を発見・是正(介入#31)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「四国関西の直線が長すぎる」の指摘 → 7断面すべて監査</a:t>
            </a:r>
          </a:p>
        </p:txBody>
      </p:sp>
      <p:pic>
        <p:nvPicPr>
          <p:cNvPr id="5" name="Picture 4" descr="tiefix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7498079" cy="35990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92024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・合成タイが500kV交流線として二重計上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・DC連系(阿南紀北)の実線形を取込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・A/B: 観測整合は不変・物理が正しく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・全て台帳#31に記録・可逆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19 / 21   tie_duplication_audit_2026-08-17.md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次の一手 — 欠落の設計図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外部データ突合で被覆率93.2% — 残り5,868kmの地図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REI送電線マップ13,084本との全国照合(赤=AGJ欠落候補)</a:t>
            </a:r>
          </a:p>
        </p:txBody>
      </p:sp>
      <p:pic>
        <p:nvPicPr>
          <p:cNvPr id="5" name="Picture 4" descr="reiga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416052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92024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・中部77kV局所網が最大(1,702km)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・DC連系実線形3本は即取込可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・全国ノーダルの公開網は国際的にもAGJのみ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・取込はTier制・証拠ゲート(EGGC)で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20 / 21   rei_conflation_plan_2026-08-17.md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最新成果 — 実績とUCの断面比較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E9EDF2"/>
                </a:solidFill>
                <a:latin typeface="Hiragino Sans"/>
              </a:rPr>
              <a:t>実績需要断面 vs UC計画断面 — ±50MWで84.3%が一致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2026-08-17実績(でんき予報7エリア×24h)との差分モード(緑=概ね一致)</a:t>
            </a:r>
          </a:p>
        </p:txBody>
      </p:sp>
      <p:pic>
        <p:nvPicPr>
          <p:cNvPr id="5" name="Picture 4" descr="diffdemo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7223760" cy="49018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92024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・日付セレクタで実績日を選択・UCと切替比較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・差分=赤:実績&gt;UC・青:実績&lt;UC・緑:±許容内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・±50MW以内: 84.3%(12,978/15,403線)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・乖離は北海道(需要差)等に局在=説明可能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・一致率は許容値(±10〜200MW)と時刻で即時更新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21 / 21   export_day_flows.py — 24時刻×4島 全収束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