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揺れで火力 10.8 GW が止まり、2 分で 48.49 Hz まで下がって UFLS 1 段目が 6.7 GW を遮断、周波数は戻る。90.5 分に津波が鹿島の変電所に届き、鹿島の火力群(運転中 4.6 GW)が本体から切り離されて崩壊する。本体は 4.6 GW を失うが、残っていた UFLS の段が 3.8 GW を遮断して 49.9 Hz で持ちこたえる。3 時間後の受電率 83.6%。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揺れで火力 17.4 GW が止まり(生きる例の 1.6 倍)、47.91 Hz まで下がって UFLS の 2 段がほぼ全部動く(合計 15.3 GW)。ここまでは受電率 73% で止まる。90.5 分に鹿島の火力群 4.9 GW が切り離されると、UFLS の残りは 2.3 GW しかなく、周波数が 47 Hz 台を割って太陽光・風力 1.4 GW、火力 4.3 GW が周波数低下保護で解列し、91.0 分に本体 33 GW が崩壊する。3 時間後の受電率 5.5%。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揺れで火力 21.6 GW(需要の 39%)が止まる。UFLS 2 段 14.0 GW でも足りず、45.2 Hz まで落ちて水力・火力の周波数低下保護が 6.0 GW を解列、127 秒で 34 GW が崩壊する。200 サンプルのうち全域崩壊は 20 で、揺れの直後に崩れる型が 2、津波の後に崩れる型が 18。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table-slide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時刻は事象の記録どおり(cascade_east_collapse_night_meta.json)。生きる例(#89)は同じ 90.5 分の鹿島の切り離しを、残っていた UFLS 3.8 GW で吸収した。違いは最初に失った火力の量(10.8 GW 対 17.4 GW)で、それは J-SHIS の震度場と火力の停止率曲線を乱数で引いた結果の差。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設定は hazard/nankai/config/dynamics_default.yaml。設定ファイルの「UFLS 遮断分は 1 時間で再送電」は実装されておらず、計算では 3 時間戻さない(2026-09-16 に確認)。戻して段を再び使えるようにすると、津波後に崩れる型は減る方向。直すかは判断待ち。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動画と静止画は docs/reports/nankai_hazard_2026-09-13/dynamics/cascade_east_{survive,collapse,collapse_early}_night.{gif,mp4,_still_*.png}。GIF は 6 fps・960 px、mp4 は 15 fps・1920 px。PowerPoint には mp4 を貼ると滑らかで、GIF は自動再生。</a:t>
            </a:r>
          </a:p>
          <a:p/>
          <a:p>
            <a:r>
              <a:t>_class: pros-cons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東が持ちこたえる — 90 分後の 2 度目の衝撃を UFLS が吸収する</a:t>
            </a:r>
          </a:p>
        </p:txBody>
      </p:sp>
      <p:pic>
        <p:nvPicPr>
          <p:cNvPr id="3" name="Picture 2" descr="cascade_east_survive_nigh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900" y="713232"/>
            <a:ext cx="9461895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3706A"/>
                </a:solidFill>
                <a:latin typeface="Avenir Next"/>
                <a:ea typeface="Hiragino Sans"/>
                <a:cs typeface="Hiragino Sans"/>
              </a:rPr>
              <a:t>出典｜hazard/nankai/output/run_v7 東 50 Hz サンプル #89(3 分後の受電が 200 サンプルの中央値に最も近い)/ make_dynamic_cascade_viz.py --style night --late-step 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東が死ぬ(1) — 2 分で UFLS を使い切り、90 分後の津波で全域崩壊</a:t>
            </a:r>
          </a:p>
        </p:txBody>
      </p:sp>
      <p:pic>
        <p:nvPicPr>
          <p:cNvPr id="3" name="Picture 2" descr="cascade_east_collapse_nigh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407" y="713232"/>
            <a:ext cx="9834880" cy="553212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3706A"/>
                </a:solidFill>
                <a:latin typeface="Avenir Next"/>
                <a:ea typeface="Hiragino Sans"/>
                <a:cs typeface="Hiragino Sans"/>
              </a:rPr>
              <a:t>出典｜hazard/nankai/output/run_v7 東 50 Hz サンプル #9(3 時間後に需要の 8 割超が崩壊した 20 サンプルの 1 つ・津波後に崩れる型)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東が死ぬ(2) — 揺れで 21.6 GW を失い、2 分で全域崩壊</a:t>
            </a:r>
          </a:p>
        </p:txBody>
      </p:sp>
      <p:pic>
        <p:nvPicPr>
          <p:cNvPr id="3" name="Picture 2" descr="cascade_east_collapse_early_nigh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407" y="713232"/>
            <a:ext cx="9834880" cy="553212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3706A"/>
                </a:solidFill>
                <a:latin typeface="Avenir Next"/>
                <a:ea typeface="Hiragino Sans"/>
                <a:cs typeface="Hiragino Sans"/>
              </a:rPr>
              <a:t>出典｜hazard/nankai/output/run_v7 東 50 Hz サンプル #59(揺れの直後に崩れる型)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4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分かれ目は「最初に失う火力」と「残っている UFLS の段」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783290" y="2044827"/>
          <a:ext cx="8625114" cy="3371850"/>
        </p:xfrm>
        <a:graphic>
          <a:graphicData uri="http://schemas.openxmlformats.org/drawingml/2006/table">
            <a:tbl>
              <a:tblPr/>
              <a:tblGrid>
                <a:gridCol w="3293977"/>
                <a:gridCol w="1672262"/>
                <a:gridCol w="1886867"/>
                <a:gridCol w="1772008"/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項目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141413"/>
                      </a:solidFill>
                      <a:prstDash val="solid"/>
                    </a:lnB>
                    <a:lnT w="15875" cap="flat" cmpd="sng" algn="ctr">
                      <a:solidFill>
                        <a:srgbClr val="141413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生きる #89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141413"/>
                      </a:solidFill>
                      <a:prstDash val="solid"/>
                    </a:lnB>
                    <a:lnT w="15875" cap="flat" cmpd="sng" algn="ctr">
                      <a:solidFill>
                        <a:srgbClr val="141413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死ぬ(津波後)#9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141413"/>
                      </a:solidFill>
                      <a:prstDash val="solid"/>
                    </a:lnB>
                    <a:lnT w="15875" cap="flat" cmpd="sng" algn="ctr">
                      <a:solidFill>
                        <a:srgbClr val="141413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死ぬ(直後)#59</a:t>
                      </a:r>
                    </a:p>
                  </a:txBody>
                  <a:tcPr anchor="ctr" marL="127000" marR="127000" marT="76200" marB="76200">
                    <a:lnB w="12700" cap="flat" cmpd="sng" algn="ctr">
                      <a:solidFill>
                        <a:srgbClr val="141413"/>
                      </a:solidFill>
                      <a:prstDash val="solid"/>
                    </a:lnB>
                    <a:lnT w="15875" cap="flat" cmpd="sng" algn="ctr">
                      <a:solidFill>
                        <a:srgbClr val="141413"/>
                      </a:solidFill>
                      <a:prstDash val="solid"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揺れで止まった火力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10.8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17.4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21.6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2 分後の最下点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48.49 Hz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47.91 Hz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45.20 Hz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UFLS の遮断(3 時間の合計)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6.7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15.3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14.0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過負荷リレーで切れた線路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19 本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12 本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4 本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90.5 分 鹿島の切り離しで失う発電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4.6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4.9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—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周波数低下保護で解列した発電機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0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5.8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6.0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全域崩壊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なし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91.0 分・33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2.1 分・34 GW</a:t>
                      </a:r>
                    </a:p>
                  </a:txBody>
                  <a:tcPr anchor="ctr" marL="127000" marR="127000" marT="76200" marB="76200">
                    <a:lnB w="6350" cap="flat" cmpd="sng" algn="ctr">
                      <a:solidFill>
                        <a:srgbClr val="E8E6DC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5A5852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受電率 10 分 / 1 時間 / 3 時間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14141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91 / 93 / 84%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14141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73 / 74 / 5%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14141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41413"/>
                          </a:solidFill>
                          <a:latin typeface="Avenir Next"/>
                          <a:ea typeface="Hiragino Sans"/>
                          <a:cs typeface="Hiragino Sans"/>
                        </a:rPr>
                        <a:t>6 / 6 / 6%</a:t>
                      </a:r>
                    </a:p>
                  </a:txBody>
                  <a:tcPr anchor="ctr" marL="127000" marR="127000" marT="76200" marB="76200">
                    <a:lnB w="15875" cap="flat" cmpd="sng" algn="ctr">
                      <a:solidFill>
                        <a:srgbClr val="141413"/>
                      </a:solidFill>
                      <a:prstDash val="solid"/>
                    </a:lnB>
                    <a:lnT>
                      <a:noFill/>
                    </a:lnT>
                    <a:lnR>
                      <a:noFill/>
                    </a:lnR>
                    <a:lnL>
                      <a:noFill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66928" y="6291072"/>
            <a:ext cx="2560320" cy="9525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354572"/>
            <a:ext cx="99605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rPr>
              <a:t>需要 55.2 GW(東京 + 東北)。UFLS は 48.5 Hz(0.1〜21 秒・15%)と 48.0 Hz(0.1〜6 秒・15%)の 2 段で、島の需要の最大 3 割まで。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死ぬ(津波後)の経緯 — 4 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53312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0〜2 分｜揺れが東京湾岸に届く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412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震度 6 弱以上の火力が到達 2 秒後に止まり、合計 </a:t>
            </a:r>
            <a:r>
              <a:rPr sz="1500">
                <a:solidFill>
                  <a:srgbClr val="141413"/>
                </a:solidFill>
                <a:highlight>
                  <a:srgbClr val="F4D8CF"/>
                </a:highlight>
                <a:latin typeface="Avenir Next"/>
                <a:ea typeface="Hiragino Sans"/>
                <a:cs typeface="Hiragino Sans"/>
              </a:rPr>
              <a:t>17.4 GW</a:t>
            </a: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(需要の 32%)を失う。周波数は 47.91 Hz まで落ち、UFLS の 2 段(48.5 / 48.0 Hz)がほぼ全部動いて 13 GW を遮断。2 分の過負荷チェックで線路 12 本が開く。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492629"/>
            <a:ext cx="11057839" cy="9525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6699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2 分〜90 分｜受電率 73% で膠着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62021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UFLS で切った負荷は戻らず、周波数は 49.9 Hz で安定。この間に津波が湾岸へ届くが、湾岸の大型火力はすでに揺れで止まっていて追加の損失は小さい(1.9 GW)。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809238"/>
            <a:ext cx="11057839" cy="9525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8653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90.5 分｜鹿島が切り離される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78630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津波が鹿島の 275 kV 変電所に届き、鹿島火力・日本製鉄鹿島・鹿島共同(定格 8.7 GW・運転中 4.9 GW)が需要 61 MW の小さな島として本体から離れ、周波数上昇で崩壊。本体は </a:t>
            </a:r>
            <a:r>
              <a:rPr sz="1500">
                <a:solidFill>
                  <a:srgbClr val="141413"/>
                </a:solidFill>
                <a:highlight>
                  <a:srgbClr val="F4D8CF"/>
                </a:highlight>
                <a:latin typeface="Avenir Next"/>
                <a:ea typeface="Hiragino Sans"/>
                <a:cs typeface="Hiragino Sans"/>
              </a:rPr>
              <a:t>4.9 GW</a:t>
            </a: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 を一度に失う。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125847"/>
            <a:ext cx="11057839" cy="9525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303139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90.7〜91.0 分｜保護が発電機を切り、全域崩壊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95239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残っていた UFLS は 2.3 GW だけ。周波数が 47 Hz 台を割り、太陽光・風力 1.4 GW(47.5 Hz)と火力 4.3 GW(47.0 Hz)が周波数低下保護で解列。91.0 分に本体 </a:t>
            </a:r>
            <a:r>
              <a:rPr sz="1500">
                <a:solidFill>
                  <a:srgbClr val="141413"/>
                </a:solidFill>
                <a:highlight>
                  <a:srgbClr val="F4D8CF"/>
                </a:highlight>
                <a:latin typeface="Avenir Next"/>
                <a:ea typeface="Hiragino Sans"/>
                <a:cs typeface="Hiragino Sans"/>
              </a:rPr>
              <a:t>33 GW</a:t>
            </a: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 が 45 Hz を割って全停。以後 3 時間まで受電率 5.5%(残るのは東北の一部の島)。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モデルの中で動いている仕組みと整定値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53312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周波数｜島ごとに 1 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412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慣性中心の周波数を島ごとに解く。慣性は運転中の同期機の合計、ガバナは上げ代で頭打ち、負荷の周波数特性 2%/Hz、北本・周波数変換所の緊急融通。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492629"/>
            <a:ext cx="11057839" cy="9525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669921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UFLS｜48.5 Hz と 48.0 Hz の 2 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62021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時限 0.1〜21 秒(8 本)と 0.1〜6 秒(6 本)の対数間隔、各段 15%。整定は北海道 2018 の比を移した仮定。一度動いた段は再び動かず、切った負荷は 3 時間戻さない(表示は変電所ごとの消灯)。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809238"/>
            <a:ext cx="11057839" cy="9525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8653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発電機の保護｜低周波数・高周波数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78630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水力 46.0 Hz(0.5 秒・北海道の実績)、火力 47.0 Hz(30 秒・仮定)、太陽光・風力 47.5 Hz(0.2 秒・FRT 下限の仮定)。上昇側は水力 52 Hz、火力 52.5 Hz。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125847"/>
            <a:ext cx="11057839" cy="9525"/>
          </a:xfrm>
          <a:prstGeom prst="rect">
            <a:avLst/>
          </a:prstGeom>
          <a:solidFill>
            <a:srgbClr val="E8E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303139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A5852"/>
                </a:solidFill>
                <a:latin typeface="Avenir Next"/>
                <a:ea typeface="Hiragino Sans"/>
                <a:cs typeface="Hiragino Sans"/>
              </a:rPr>
              <a:t>崩壊と過負荷｜しきい値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95239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島の周波数が 45 Hz 未満・55 Hz 超、または同期機がほぼ無い(慣性 0.5 秒未満)で崩壊。過負荷は主幹系統の DC 潮流で緊急定格 1.25 倍を超えた枝を 10 秒〜2 時間の決まった時刻に開く。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3706A"/>
                </a:solidFill>
                <a:latin typeface="Avenir Next"/>
                <a:ea typeface="Hiragino Sans"/>
                <a:cs typeface="Hiragino Sans"/>
              </a:defRPr>
            </a:pPr>
            <a: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141413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言えること、まだ言えないこと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719072"/>
            <a:ext cx="5391759" cy="4023360"/>
          </a:xfrm>
          <a:prstGeom prst="roundRect">
            <a:avLst>
              <a:gd name="adj" fmla="val 3500"/>
            </a:avLst>
          </a:prstGeom>
          <a:solidFill>
            <a:srgbClr val="EFF4F1"/>
          </a:solidFill>
          <a:ln w="9525">
            <a:solidFill>
              <a:srgbClr val="9FB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719072"/>
            <a:ext cx="5391759" cy="566928"/>
          </a:xfrm>
          <a:prstGeom prst="rect">
            <a:avLst/>
          </a:prstGeom>
          <a:solidFill>
            <a:srgbClr val="3F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/>
          <a:lstStyle/>
          <a:p>
            <a:pPr algn="ctr">
              <a:defRPr sz="18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✓  Pros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128" y="2438400"/>
            <a:ext cx="4985359" cy="3151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✓  崩れるかどうかは、揺れで失う火力の量と UFLS の残りで決まる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✓  津波後の崩壊は鹿島の系統の切り離しが引き金(20 例中 18 例がこの型)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✓  過負荷リレーの扱いを変えても全域崩壊は 6〜10% で変わらない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✓  同じ乱数で再計算すると事象の時刻まで一致する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719072"/>
            <a:ext cx="5391759" cy="4023360"/>
          </a:xfrm>
          <a:prstGeom prst="roundRect">
            <a:avLst>
              <a:gd name="adj" fmla="val 3500"/>
            </a:avLst>
          </a:prstGeom>
          <a:solidFill>
            <a:srgbClr val="F8F0EF"/>
          </a:solidFill>
          <a:ln w="9525">
            <a:solidFill>
              <a:srgbClr val="D3A2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3007" y="1719072"/>
            <a:ext cx="5391759" cy="566928"/>
          </a:xfrm>
          <a:prstGeom prst="rect">
            <a:avLst/>
          </a:prstGeom>
          <a:solidFill>
            <a:srgbClr val="A84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/>
          <a:lstStyle/>
          <a:p>
            <a:pPr algn="ctr">
              <a:defRPr sz="18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✗  Cons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6207" y="2438400"/>
            <a:ext cx="4985359" cy="31516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✗  UFLS の整定・遮断量は本州分が非公表で、北海道の比を移した仮定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✗  火力の低周波数保護 47 Hz・30 秒は仮定で、崩壊の時刻を左右する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✗  UFLS で切った負荷を 3 時間戻さない(設定の 1 時間再送電は未実装)</a:t>
            </a:r>
          </a:p>
          <a:p>
            <a:pPr>
              <a:spcBef>
                <a:spcPts val="800"/>
              </a:spcBef>
            </a:pPr>
            <a:r>
              <a:rPr sz="1500">
                <a:solidFill>
                  <a:srgbClr val="141413"/>
                </a:solidFill>
                <a:latin typeface="Avenir Next"/>
                <a:ea typeface="Hiragino Sans"/>
                <a:cs typeface="Hiragino Sans"/>
              </a:rPr>
              <a:t>✗  運転員の再給電・電源制限・系統安定化装置は入っていない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