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元のデッキの「2 導体と仮定すると鉄塔に 42 m の線間距離が必要」を、式の意味から順に読めるように分解した補足。図は scripts/plot_why42m.py で再生成できる。</a:t>
            </a:r>
          </a:p>
          <a:p/>
          <a:p>
            <a:r>
              <a:t>_class: title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rq</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definition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GMR は幾何平均半径。ここでは断面積 330 mm² から等価円の半径を出し 0.78 倍した近似（約 8.0 mm）。2 導体は √(GMR×素導体間隔 400 mm) で約 57 mm。</a:t>
            </a:r>
          </a:p>
          <a:p/>
          <a:p>
            <a:r>
              <a:t>_class: figure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equation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0.0628 は 2π×50×2×10⁻⁷ を Ω/km に直した値。ここで決まったのは比だけで、D も GMR もまだ決まっていない。次のスライドで GMR を仮定ごとに入れる。</a:t>
            </a:r>
          </a:p>
          <a:p/>
          <a:p>
            <a:r>
              <a:t>_class: big-number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figure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逆向きの読み方。鉄塔の寸法を先に決めて x を予測すると、単導体は実測と一致し、2 導体は 3 割足りない。線間距離を広げても x は対数でしか増えないので、6 m から少し広げた程度では届かない。</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線路ごとの x は公表インピーダンス ÷ モデルの実線形長。周波数は会社ごと（北海道 50 Hz・四国 60 Hz）に分けて逆算した。14 線路は単導体なら 5.4〜6.7 m、2 導体だと 38〜48 m。4 線路は逆に 2 導体なら 6.1〜8.8 m で、単導体だと 1 m 前後＝鉄塔として狭すぎる＝実際に 2 導体の線路である可能性。残り 2 線路はどちらの仮定でも外れる。</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table-slide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GMR は断面積からの近似（0.78×半径）で、実際の ACSR の鋼心構造は反映していない。ただし単導体と 2 導体の差は約 7 倍あり、この近似の粗さでは結論は覆らない。抵抗の設定値 r=0.038 は単導体理論 0.0918 の 0.41 倍で、それ自体が説明できない値（元デッキ 10 枚目）。</a:t>
            </a:r>
          </a:p>
          <a:p/>
          <a:p>
            <a:r>
              <a:t>_class: pros-cons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東京エリアには最大 10 導体の線路があるという情報もある（未確認）。電圧階級で一律の導体方式という仮定そのものを見直す課題として issue #56 に登録した。</a:t>
            </a:r>
          </a:p>
          <a:p/>
          <a:p>
            <a:r>
              <a:t>_class: takeaway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Subtitle 2"/>
          <p:cNvSpPr>
            <a:spLocks noGrp="1"/>
          </p:cNvSpPr>
          <p:nvPr>
            <p:ph type="subTitle" idx="1"/>
          </p:nvPr>
        </p:nvSpPr>
        <p:spPr>
          <a:xfrm>
            <a:off x="1371600" y="3886200"/>
            <a:ext cx="6400800" cy="1752600"/>
          </a:xfrm>
        </p:spPr>
        <p:txBody>
          <a:bodyPr/>
          <a:lstStyle>
            <a:lvl1pPr marL="0" indent="0" algn="ctr">
              <a:buNone/>
              <a:defRPr>
                <a:ea typeface="Hiragino Sans"/>
                <a:cs typeface="Hiragino Sans"/>
                <a:solidFill>
                  <a:schemeClr val="tx1">
                    <a:tint val="75000"/>
                  </a:schemeClr>
                </a:solidFill>
              </a:defRPr>
            </a:lvl1pPr>
            <a:lvl2pPr marL="457200" indent="0" algn="ctr">
              <a:buNone/>
              <a:defRPr>
                <a:ea typeface="Hiragino Sans"/>
                <a:cs typeface="Hiragino Sans"/>
                <a:solidFill>
                  <a:schemeClr val="tx1">
                    <a:tint val="75000"/>
                  </a:schemeClr>
                </a:solidFill>
              </a:defRPr>
            </a:lvl2pPr>
            <a:lvl3pPr marL="914400" indent="0" algn="ctr">
              <a:buNone/>
              <a:defRPr>
                <a:ea typeface="Hiragino Sans"/>
                <a:cs typeface="Hiragino Sans"/>
                <a:solidFill>
                  <a:schemeClr val="tx1">
                    <a:tint val="75000"/>
                  </a:schemeClr>
                </a:solidFill>
              </a:defRPr>
            </a:lvl3pPr>
            <a:lvl4pPr marL="1371600" indent="0" algn="ctr">
              <a:buNone/>
              <a:defRPr>
                <a:ea typeface="Hiragino Sans"/>
                <a:cs typeface="Hiragino Sans"/>
                <a:solidFill>
                  <a:schemeClr val="tx1">
                    <a:tint val="75000"/>
                  </a:schemeClr>
                </a:solidFill>
              </a:defRPr>
            </a:lvl4pPr>
            <a:lvl5pPr marL="1828800" indent="0" algn="ctr">
              <a:buNone/>
              <a:defRPr>
                <a:ea typeface="Hiragino Sans"/>
                <a:cs typeface="Hiragino Sans"/>
                <a:solidFill>
                  <a:schemeClr val="tx1">
                    <a:tint val="75000"/>
                  </a:schemeClr>
                </a:solidFill>
              </a:defRPr>
            </a:lvl5pPr>
            <a:lvl6pPr marL="2286000" indent="0" algn="ctr">
              <a:buNone/>
              <a:defRPr>
                <a:ea typeface="Hiragino Sans"/>
                <a:cs typeface="Hiragino Sans"/>
                <a:solidFill>
                  <a:schemeClr val="tx1">
                    <a:tint val="75000"/>
                  </a:schemeClr>
                </a:solidFill>
              </a:defRPr>
            </a:lvl6pPr>
            <a:lvl7pPr marL="2743200" indent="0" algn="ctr">
              <a:buNone/>
              <a:defRPr>
                <a:ea typeface="Hiragino Sans"/>
                <a:cs typeface="Hiragino Sans"/>
                <a:solidFill>
                  <a:schemeClr val="tx1">
                    <a:tint val="75000"/>
                  </a:schemeClr>
                </a:solidFill>
              </a:defRPr>
            </a:lvl7pPr>
            <a:lvl8pPr marL="3200400" indent="0" algn="ctr">
              <a:buNone/>
              <a:defRPr>
                <a:ea typeface="Hiragino Sans"/>
                <a:cs typeface="Hiragino Sans"/>
                <a:solidFill>
                  <a:schemeClr val="tx1">
                    <a:tint val="75000"/>
                  </a:schemeClr>
                </a:solidFill>
              </a:defRPr>
            </a:lvl8pPr>
            <a:lvl9pPr marL="3657600" indent="0" algn="ctr">
              <a:buNone/>
              <a:defRPr>
                <a:ea typeface="Hiragino Sans"/>
                <a:cs typeface="Hiragino Sans"/>
                <a:solidFill>
                  <a:schemeClr val="tx1">
                    <a:tint val="75000"/>
                  </a:schemeClr>
                </a:solidFill>
              </a:defRPr>
            </a:lvl9pPr>
          </a:lstStyle>
          <a:p>
            <a:r>
              <a:rPr lang="en-US" smtClean="0">
                <a:ea typeface="Hiragino Sans"/>
                <a:cs typeface="Hiragino Sans"/>
              </a:rPr>
              <a:t>Click to edit Master subtitle style</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idx="1"/>
          </p:nvPr>
        </p:nvSpPr>
        <p:spPr/>
        <p:txBody>
          <a:body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ea typeface="Hiragino Sans"/>
                <a:cs typeface="Hiragino Sans"/>
                <a:solidFill>
                  <a:schemeClr val="tx1">
                    <a:tint val="75000"/>
                  </a:schemeClr>
                </a:solidFill>
              </a:defRPr>
            </a:lvl1pPr>
            <a:lvl2pPr marL="457200" indent="0">
              <a:buNone/>
              <a:defRPr sz="1800">
                <a:ea typeface="Hiragino Sans"/>
                <a:cs typeface="Hiragino Sans"/>
                <a:solidFill>
                  <a:schemeClr val="tx1">
                    <a:tint val="75000"/>
                  </a:schemeClr>
                </a:solidFill>
              </a:defRPr>
            </a:lvl2pPr>
            <a:lvl3pPr marL="914400" indent="0">
              <a:buNone/>
              <a:defRPr sz="1600">
                <a:ea typeface="Hiragino Sans"/>
                <a:cs typeface="Hiragino Sans"/>
                <a:solidFill>
                  <a:schemeClr val="tx1">
                    <a:tint val="75000"/>
                  </a:schemeClr>
                </a:solidFill>
              </a:defRPr>
            </a:lvl3pPr>
            <a:lvl4pPr marL="1371600" indent="0">
              <a:buNone/>
              <a:defRPr sz="1400">
                <a:ea typeface="Hiragino Sans"/>
                <a:cs typeface="Hiragino Sans"/>
                <a:solidFill>
                  <a:schemeClr val="tx1">
                    <a:tint val="75000"/>
                  </a:schemeClr>
                </a:solidFill>
              </a:defRPr>
            </a:lvl4pPr>
            <a:lvl5pPr marL="1828800" indent="0">
              <a:buNone/>
              <a:defRPr sz="1400">
                <a:ea typeface="Hiragino Sans"/>
                <a:cs typeface="Hiragino Sans"/>
                <a:solidFill>
                  <a:schemeClr val="tx1">
                    <a:tint val="75000"/>
                  </a:schemeClr>
                </a:solidFill>
              </a:defRPr>
            </a:lvl5pPr>
            <a:lvl6pPr marL="2286000" indent="0">
              <a:buNone/>
              <a:defRPr sz="1400">
                <a:ea typeface="Hiragino Sans"/>
                <a:cs typeface="Hiragino Sans"/>
                <a:solidFill>
                  <a:schemeClr val="tx1">
                    <a:tint val="75000"/>
                  </a:schemeClr>
                </a:solidFill>
              </a:defRPr>
            </a:lvl6pPr>
            <a:lvl7pPr marL="2743200" indent="0">
              <a:buNone/>
              <a:defRPr sz="1400">
                <a:ea typeface="Hiragino Sans"/>
                <a:cs typeface="Hiragino Sans"/>
                <a:solidFill>
                  <a:schemeClr val="tx1">
                    <a:tint val="75000"/>
                  </a:schemeClr>
                </a:solidFill>
              </a:defRPr>
            </a:lvl7pPr>
            <a:lvl8pPr marL="3200400" indent="0">
              <a:buNone/>
              <a:defRPr sz="1400">
                <a:ea typeface="Hiragino Sans"/>
                <a:cs typeface="Hiragino Sans"/>
                <a:solidFill>
                  <a:schemeClr val="tx1">
                    <a:tint val="75000"/>
                  </a:schemeClr>
                </a:solidFill>
              </a:defRPr>
            </a:lvl8pPr>
            <a:lvl9pPr marL="3657600" indent="0">
              <a:buNone/>
              <a:defRPr sz="1400">
                <a:ea typeface="Hiragino Sans"/>
                <a:cs typeface="Hiragino Sans"/>
                <a:solidFill>
                  <a:schemeClr val="tx1">
                    <a:tint val="75000"/>
                  </a:schemeClr>
                </a:solidFill>
              </a:defRPr>
            </a:lvl9pPr>
          </a:lstStyle>
          <a:p>
            <a:pPr lvl="0"/>
            <a:r>
              <a:rPr lang="en-US" smtClean="0">
                <a:ea typeface="Hiragino Sans"/>
                <a:cs typeface="Hiragino Sans"/>
              </a:rPr>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sz="half" idx="1"/>
          </p:nvPr>
        </p:nvSpPr>
        <p:spPr>
          <a:xfrm>
            <a:off x="457200" y="1600200"/>
            <a:ext cx="4038600" cy="4525963"/>
          </a:xfrm>
        </p:spPr>
        <p:txBody>
          <a:bodyPr/>
          <a:lstStyle>
            <a:lvl1pPr>
              <a:defRPr sz="2800">
                <a:ea typeface="Hiragino Sans"/>
                <a:cs typeface="Hiragino Sans"/>
              </a:defRPr>
            </a:lvl1pPr>
            <a:lvl2pPr>
              <a:defRPr sz="2400">
                <a:ea typeface="Hiragino Sans"/>
                <a:cs typeface="Hiragino Sans"/>
              </a:defRPr>
            </a:lvl2pPr>
            <a:lvl3pPr>
              <a:defRPr sz="2000">
                <a:ea typeface="Hiragino Sans"/>
                <a:cs typeface="Hiragino Sans"/>
              </a:defRPr>
            </a:lvl3pPr>
            <a:lvl4pPr>
              <a:defRPr sz="1800">
                <a:ea typeface="Hiragino Sans"/>
                <a:cs typeface="Hiragino Sans"/>
              </a:defRPr>
            </a:lvl4pPr>
            <a:lvl5pPr>
              <a:defRPr sz="1800">
                <a:ea typeface="Hiragino Sans"/>
                <a:cs typeface="Hiragino Sans"/>
              </a:defRPr>
            </a:lvl5pPr>
            <a:lvl6pPr>
              <a:defRPr sz="1800">
                <a:ea typeface="Hiragino Sans"/>
                <a:cs typeface="Hiragino Sans"/>
              </a:defRPr>
            </a:lvl6pPr>
            <a:lvl7pPr>
              <a:defRPr sz="1800">
                <a:ea typeface="Hiragino Sans"/>
                <a:cs typeface="Hiragino Sans"/>
              </a:defRPr>
            </a:lvl7pPr>
            <a:lvl8pPr>
              <a:defRPr sz="1800">
                <a:ea typeface="Hiragino Sans"/>
                <a:cs typeface="Hiragino Sans"/>
              </a:defRPr>
            </a:lvl8pPr>
            <a:lvl9pPr>
              <a:defRPr sz="18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Content Placeholder 3"/>
          <p:cNvSpPr>
            <a:spLocks noGrp="1"/>
          </p:cNvSpPr>
          <p:nvPr>
            <p:ph sz="half" idx="2"/>
          </p:nvPr>
        </p:nvSpPr>
        <p:spPr>
          <a:xfrm>
            <a:off x="4648200" y="1600200"/>
            <a:ext cx="4038600" cy="4525963"/>
          </a:xfrm>
        </p:spPr>
        <p:txBody>
          <a:bodyPr/>
          <a:lstStyle>
            <a:lvl1pPr>
              <a:defRPr sz="2800">
                <a:ea typeface="Hiragino Sans"/>
                <a:cs typeface="Hiragino Sans"/>
              </a:defRPr>
            </a:lvl1pPr>
            <a:lvl2pPr>
              <a:defRPr sz="2400">
                <a:ea typeface="Hiragino Sans"/>
                <a:cs typeface="Hiragino Sans"/>
              </a:defRPr>
            </a:lvl2pPr>
            <a:lvl3pPr>
              <a:defRPr sz="2000">
                <a:ea typeface="Hiragino Sans"/>
                <a:cs typeface="Hiragino Sans"/>
              </a:defRPr>
            </a:lvl3pPr>
            <a:lvl4pPr>
              <a:defRPr sz="1800">
                <a:ea typeface="Hiragino Sans"/>
                <a:cs typeface="Hiragino Sans"/>
              </a:defRPr>
            </a:lvl4pPr>
            <a:lvl5pPr>
              <a:defRPr sz="1800">
                <a:ea typeface="Hiragino Sans"/>
                <a:cs typeface="Hiragino Sans"/>
              </a:defRPr>
            </a:lvl5pPr>
            <a:lvl6pPr>
              <a:defRPr sz="1800">
                <a:ea typeface="Hiragino Sans"/>
                <a:cs typeface="Hiragino Sans"/>
              </a:defRPr>
            </a:lvl6pPr>
            <a:lvl7pPr>
              <a:defRPr sz="1800">
                <a:ea typeface="Hiragino Sans"/>
                <a:cs typeface="Hiragino Sans"/>
              </a:defRPr>
            </a:lvl7pPr>
            <a:lvl8pPr>
              <a:defRPr sz="1800">
                <a:ea typeface="Hiragino Sans"/>
                <a:cs typeface="Hiragino Sans"/>
              </a:defRPr>
            </a:lvl8pPr>
            <a:lvl9pPr>
              <a:defRPr sz="18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ea typeface="Hiragino Sans"/>
                <a:cs typeface="Hiragino Sans"/>
              </a:defRPr>
            </a:lvl1pPr>
            <a:lvl2pPr marL="457200" indent="0">
              <a:buNone/>
              <a:defRPr sz="2000" b="1">
                <a:ea typeface="Hiragino Sans"/>
                <a:cs typeface="Hiragino Sans"/>
              </a:defRPr>
            </a:lvl2pPr>
            <a:lvl3pPr marL="914400" indent="0">
              <a:buNone/>
              <a:defRPr sz="1800" b="1">
                <a:ea typeface="Hiragino Sans"/>
                <a:cs typeface="Hiragino Sans"/>
              </a:defRPr>
            </a:lvl3pPr>
            <a:lvl4pPr marL="1371600" indent="0">
              <a:buNone/>
              <a:defRPr sz="1600" b="1">
                <a:ea typeface="Hiragino Sans"/>
                <a:cs typeface="Hiragino Sans"/>
              </a:defRPr>
            </a:lvl4pPr>
            <a:lvl5pPr marL="1828800" indent="0">
              <a:buNone/>
              <a:defRPr sz="1600" b="1">
                <a:ea typeface="Hiragino Sans"/>
                <a:cs typeface="Hiragino Sans"/>
              </a:defRPr>
            </a:lvl5pPr>
            <a:lvl6pPr marL="2286000" indent="0">
              <a:buNone/>
              <a:defRPr sz="1600" b="1">
                <a:ea typeface="Hiragino Sans"/>
                <a:cs typeface="Hiragino Sans"/>
              </a:defRPr>
            </a:lvl6pPr>
            <a:lvl7pPr marL="2743200" indent="0">
              <a:buNone/>
              <a:defRPr sz="1600" b="1">
                <a:ea typeface="Hiragino Sans"/>
                <a:cs typeface="Hiragino Sans"/>
              </a:defRPr>
            </a:lvl7pPr>
            <a:lvl8pPr marL="3200400" indent="0">
              <a:buNone/>
              <a:defRPr sz="1600" b="1">
                <a:ea typeface="Hiragino Sans"/>
                <a:cs typeface="Hiragino Sans"/>
              </a:defRPr>
            </a:lvl8pPr>
            <a:lvl9pPr marL="3657600" indent="0">
              <a:buNone/>
              <a:defRPr sz="1600" b="1">
                <a:ea typeface="Hiragino Sans"/>
                <a:cs typeface="Hiragino Sans"/>
              </a:defRPr>
            </a:lvl9pPr>
          </a:lstStyle>
          <a:p>
            <a:pPr lvl="0"/>
            <a:r>
              <a:rPr lang="en-US" smtClean="0">
                <a:ea typeface="Hiragino Sans"/>
                <a:cs typeface="Hiragino Sans"/>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ea typeface="Hiragino Sans"/>
                <a:cs typeface="Hiragino Sans"/>
              </a:defRPr>
            </a:lvl1pPr>
            <a:lvl2pPr>
              <a:defRPr sz="2000">
                <a:ea typeface="Hiragino Sans"/>
                <a:cs typeface="Hiragino Sans"/>
              </a:defRPr>
            </a:lvl2pPr>
            <a:lvl3pPr>
              <a:defRPr sz="1800">
                <a:ea typeface="Hiragino Sans"/>
                <a:cs typeface="Hiragino Sans"/>
              </a:defRPr>
            </a:lvl3pPr>
            <a:lvl4pPr>
              <a:defRPr sz="1600">
                <a:ea typeface="Hiragino Sans"/>
                <a:cs typeface="Hiragino Sans"/>
              </a:defRPr>
            </a:lvl4pPr>
            <a:lvl5pPr>
              <a:defRPr sz="1600">
                <a:ea typeface="Hiragino Sans"/>
                <a:cs typeface="Hiragino Sans"/>
              </a:defRPr>
            </a:lvl5pPr>
            <a:lvl6pPr>
              <a:defRPr sz="1600">
                <a:ea typeface="Hiragino Sans"/>
                <a:cs typeface="Hiragino Sans"/>
              </a:defRPr>
            </a:lvl6pPr>
            <a:lvl7pPr>
              <a:defRPr sz="1600">
                <a:ea typeface="Hiragino Sans"/>
                <a:cs typeface="Hiragino Sans"/>
              </a:defRPr>
            </a:lvl7pPr>
            <a:lvl8pPr>
              <a:defRPr sz="1600">
                <a:ea typeface="Hiragino Sans"/>
                <a:cs typeface="Hiragino Sans"/>
              </a:defRPr>
            </a:lvl8pPr>
            <a:lvl9pPr>
              <a:defRPr sz="16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ea typeface="Hiragino Sans"/>
                <a:cs typeface="Hiragino Sans"/>
              </a:defRPr>
            </a:lvl1pPr>
            <a:lvl2pPr marL="457200" indent="0">
              <a:buNone/>
              <a:defRPr sz="2000" b="1">
                <a:ea typeface="Hiragino Sans"/>
                <a:cs typeface="Hiragino Sans"/>
              </a:defRPr>
            </a:lvl2pPr>
            <a:lvl3pPr marL="914400" indent="0">
              <a:buNone/>
              <a:defRPr sz="1800" b="1">
                <a:ea typeface="Hiragino Sans"/>
                <a:cs typeface="Hiragino Sans"/>
              </a:defRPr>
            </a:lvl3pPr>
            <a:lvl4pPr marL="1371600" indent="0">
              <a:buNone/>
              <a:defRPr sz="1600" b="1">
                <a:ea typeface="Hiragino Sans"/>
                <a:cs typeface="Hiragino Sans"/>
              </a:defRPr>
            </a:lvl4pPr>
            <a:lvl5pPr marL="1828800" indent="0">
              <a:buNone/>
              <a:defRPr sz="1600" b="1">
                <a:ea typeface="Hiragino Sans"/>
                <a:cs typeface="Hiragino Sans"/>
              </a:defRPr>
            </a:lvl5pPr>
            <a:lvl6pPr marL="2286000" indent="0">
              <a:buNone/>
              <a:defRPr sz="1600" b="1">
                <a:ea typeface="Hiragino Sans"/>
                <a:cs typeface="Hiragino Sans"/>
              </a:defRPr>
            </a:lvl6pPr>
            <a:lvl7pPr marL="2743200" indent="0">
              <a:buNone/>
              <a:defRPr sz="1600" b="1">
                <a:ea typeface="Hiragino Sans"/>
                <a:cs typeface="Hiragino Sans"/>
              </a:defRPr>
            </a:lvl7pPr>
            <a:lvl8pPr marL="3200400" indent="0">
              <a:buNone/>
              <a:defRPr sz="1600" b="1">
                <a:ea typeface="Hiragino Sans"/>
                <a:cs typeface="Hiragino Sans"/>
              </a:defRPr>
            </a:lvl8pPr>
            <a:lvl9pPr marL="3657600" indent="0">
              <a:buNone/>
              <a:defRPr sz="1600" b="1">
                <a:ea typeface="Hiragino Sans"/>
                <a:cs typeface="Hiragino Sans"/>
              </a:defRPr>
            </a:lvl9pPr>
          </a:lstStyle>
          <a:p>
            <a:pPr lvl="0"/>
            <a:r>
              <a:rPr lang="en-US" smtClean="0">
                <a:ea typeface="Hiragino Sans"/>
                <a:cs typeface="Hiragino Sans"/>
              </a:rP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ea typeface="Hiragino Sans"/>
                <a:cs typeface="Hiragino Sans"/>
              </a:defRPr>
            </a:lvl1pPr>
            <a:lvl2pPr>
              <a:defRPr sz="2000">
                <a:ea typeface="Hiragino Sans"/>
                <a:cs typeface="Hiragino Sans"/>
              </a:defRPr>
            </a:lvl2pPr>
            <a:lvl3pPr>
              <a:defRPr sz="1800">
                <a:ea typeface="Hiragino Sans"/>
                <a:cs typeface="Hiragino Sans"/>
              </a:defRPr>
            </a:lvl3pPr>
            <a:lvl4pPr>
              <a:defRPr sz="1600">
                <a:ea typeface="Hiragino Sans"/>
                <a:cs typeface="Hiragino Sans"/>
              </a:defRPr>
            </a:lvl4pPr>
            <a:lvl5pPr>
              <a:defRPr sz="1600">
                <a:ea typeface="Hiragino Sans"/>
                <a:cs typeface="Hiragino Sans"/>
              </a:defRPr>
            </a:lvl5pPr>
            <a:lvl6pPr>
              <a:defRPr sz="1600">
                <a:ea typeface="Hiragino Sans"/>
                <a:cs typeface="Hiragino Sans"/>
              </a:defRPr>
            </a:lvl6pPr>
            <a:lvl7pPr>
              <a:defRPr sz="1600">
                <a:ea typeface="Hiragino Sans"/>
                <a:cs typeface="Hiragino Sans"/>
              </a:defRPr>
            </a:lvl7pPr>
            <a:lvl8pPr>
              <a:defRPr sz="1600">
                <a:ea typeface="Hiragino Sans"/>
                <a:cs typeface="Hiragino Sans"/>
              </a:defRPr>
            </a:lvl8pPr>
            <a:lvl9pPr>
              <a:defRPr sz="16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7" name="Date Placeholder 6"/>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8" name="Footer Placeholder 7"/>
          <p:cNvSpPr>
            <a:spLocks noGrp="1"/>
          </p:cNvSpPr>
          <p:nvPr>
            <p:ph type="ftr" sz="quarter" idx="11"/>
          </p:nvPr>
        </p:nvSpPr>
        <p:spPr/>
        <p:txBody>
          <a:bodyPr/>
          <a:lstStyle/>
          <a:p>
            <a:endParaRPr lang="en-US">
              <a:ea typeface="Hiragino Sans"/>
              <a:cs typeface="Hiragino Sans"/>
            </a:endParaRPr>
          </a:p>
        </p:txBody>
      </p:sp>
      <p:sp>
        <p:nvSpPr>
          <p:cNvPr id="9" name="Slide Number Placeholder 8"/>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Date Placeholder 2"/>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4" name="Footer Placeholder 3"/>
          <p:cNvSpPr>
            <a:spLocks noGrp="1"/>
          </p:cNvSpPr>
          <p:nvPr>
            <p:ph type="ftr" sz="quarter" idx="11"/>
          </p:nvPr>
        </p:nvSpPr>
        <p:spPr/>
        <p:txBody>
          <a:bodyPr/>
          <a:lstStyle/>
          <a:p>
            <a:endParaRPr lang="en-US">
              <a:ea typeface="Hiragino Sans"/>
              <a:cs typeface="Hiragino Sans"/>
            </a:endParaRPr>
          </a:p>
        </p:txBody>
      </p:sp>
      <p:sp>
        <p:nvSpPr>
          <p:cNvPr id="5" name="Slide Number Placeholder 4"/>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3" name="Footer Placeholder 2"/>
          <p:cNvSpPr>
            <a:spLocks noGrp="1"/>
          </p:cNvSpPr>
          <p:nvPr>
            <p:ph type="ftr" sz="quarter" idx="11"/>
          </p:nvPr>
        </p:nvSpPr>
        <p:spPr/>
        <p:txBody>
          <a:bodyPr/>
          <a:lstStyle/>
          <a:p>
            <a:endParaRPr lang="en-US">
              <a:ea typeface="Hiragino Sans"/>
              <a:cs typeface="Hiragino Sans"/>
            </a:endParaRPr>
          </a:p>
        </p:txBody>
      </p:sp>
      <p:sp>
        <p:nvSpPr>
          <p:cNvPr id="4" name="Slide Number Placeholder 3"/>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idx="1"/>
          </p:nvPr>
        </p:nvSpPr>
        <p:spPr>
          <a:xfrm>
            <a:off x="3575050" y="273050"/>
            <a:ext cx="5111750" cy="5853113"/>
          </a:xfrm>
        </p:spPr>
        <p:txBody>
          <a:bodyPr/>
          <a:lstStyle>
            <a:lvl1pPr>
              <a:defRPr sz="3200">
                <a:ea typeface="Hiragino Sans"/>
                <a:cs typeface="Hiragino Sans"/>
              </a:defRPr>
            </a:lvl1pPr>
            <a:lvl2pPr>
              <a:defRPr sz="2800">
                <a:ea typeface="Hiragino Sans"/>
                <a:cs typeface="Hiragino Sans"/>
              </a:defRPr>
            </a:lvl2pPr>
            <a:lvl3pPr>
              <a:defRPr sz="2400">
                <a:ea typeface="Hiragino Sans"/>
                <a:cs typeface="Hiragino Sans"/>
              </a:defRPr>
            </a:lvl3pPr>
            <a:lvl4pPr>
              <a:defRPr sz="2000">
                <a:ea typeface="Hiragino Sans"/>
                <a:cs typeface="Hiragino Sans"/>
              </a:defRPr>
            </a:lvl4pPr>
            <a:lvl5pPr>
              <a:defRPr sz="2000">
                <a:ea typeface="Hiragino Sans"/>
                <a:cs typeface="Hiragino Sans"/>
              </a:defRPr>
            </a:lvl5pPr>
            <a:lvl6pPr>
              <a:defRPr sz="2000">
                <a:ea typeface="Hiragino Sans"/>
                <a:cs typeface="Hiragino Sans"/>
              </a:defRPr>
            </a:lvl6pPr>
            <a:lvl7pPr>
              <a:defRPr sz="2000">
                <a:ea typeface="Hiragino Sans"/>
                <a:cs typeface="Hiragino Sans"/>
              </a:defRPr>
            </a:lvl7pPr>
            <a:lvl8pPr>
              <a:defRPr sz="2000">
                <a:ea typeface="Hiragino Sans"/>
                <a:cs typeface="Hiragino Sans"/>
              </a:defRPr>
            </a:lvl8pPr>
            <a:lvl9pPr>
              <a:defRPr sz="20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ea typeface="Hiragino Sans"/>
                <a:cs typeface="Hiragino Sans"/>
              </a:defRPr>
            </a:lvl1pPr>
            <a:lvl2pPr marL="457200" indent="0">
              <a:buNone/>
              <a:defRPr sz="1200">
                <a:ea typeface="Hiragino Sans"/>
                <a:cs typeface="Hiragino Sans"/>
              </a:defRPr>
            </a:lvl2pPr>
            <a:lvl3pPr marL="914400" indent="0">
              <a:buNone/>
              <a:defRPr sz="1000">
                <a:ea typeface="Hiragino Sans"/>
                <a:cs typeface="Hiragino Sans"/>
              </a:defRPr>
            </a:lvl3pPr>
            <a:lvl4pPr marL="1371600" indent="0">
              <a:buNone/>
              <a:defRPr sz="900">
                <a:ea typeface="Hiragino Sans"/>
                <a:cs typeface="Hiragino Sans"/>
              </a:defRPr>
            </a:lvl4pPr>
            <a:lvl5pPr marL="1828800" indent="0">
              <a:buNone/>
              <a:defRPr sz="900">
                <a:ea typeface="Hiragino Sans"/>
                <a:cs typeface="Hiragino Sans"/>
              </a:defRPr>
            </a:lvl5pPr>
            <a:lvl6pPr marL="2286000" indent="0">
              <a:buNone/>
              <a:defRPr sz="900">
                <a:ea typeface="Hiragino Sans"/>
                <a:cs typeface="Hiragino Sans"/>
              </a:defRPr>
            </a:lvl6pPr>
            <a:lvl7pPr marL="2743200" indent="0">
              <a:buNone/>
              <a:defRPr sz="900">
                <a:ea typeface="Hiragino Sans"/>
                <a:cs typeface="Hiragino Sans"/>
              </a:defRPr>
            </a:lvl7pPr>
            <a:lvl8pPr marL="3200400" indent="0">
              <a:buNone/>
              <a:defRPr sz="900">
                <a:ea typeface="Hiragino Sans"/>
                <a:cs typeface="Hiragino Sans"/>
              </a:defRPr>
            </a:lvl8pPr>
            <a:lvl9pPr marL="3657600" indent="0">
              <a:buNone/>
              <a:defRPr sz="900">
                <a:ea typeface="Hiragino Sans"/>
                <a:cs typeface="Hiragino Sans"/>
              </a:defRPr>
            </a:lvl9pPr>
          </a:lstStyle>
          <a:p>
            <a:pPr lvl="0"/>
            <a:r>
              <a:rPr lang="en-US" smtClean="0">
                <a:ea typeface="Hiragino Sans"/>
                <a:cs typeface="Hiragino Sans"/>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ea typeface="Hiragino Sans"/>
                <a:cs typeface="Hiragino Sans"/>
              </a:defRPr>
            </a:lvl1pPr>
            <a:lvl2pPr marL="457200" indent="0">
              <a:buNone/>
              <a:defRPr sz="2800">
                <a:ea typeface="Hiragino Sans"/>
                <a:cs typeface="Hiragino Sans"/>
              </a:defRPr>
            </a:lvl2pPr>
            <a:lvl3pPr marL="914400" indent="0">
              <a:buNone/>
              <a:defRPr sz="2400">
                <a:ea typeface="Hiragino Sans"/>
                <a:cs typeface="Hiragino Sans"/>
              </a:defRPr>
            </a:lvl3pPr>
            <a:lvl4pPr marL="1371600" indent="0">
              <a:buNone/>
              <a:defRPr sz="2000">
                <a:ea typeface="Hiragino Sans"/>
                <a:cs typeface="Hiragino Sans"/>
              </a:defRPr>
            </a:lvl4pPr>
            <a:lvl5pPr marL="1828800" indent="0">
              <a:buNone/>
              <a:defRPr sz="2000">
                <a:ea typeface="Hiragino Sans"/>
                <a:cs typeface="Hiragino Sans"/>
              </a:defRPr>
            </a:lvl5pPr>
            <a:lvl6pPr marL="2286000" indent="0">
              <a:buNone/>
              <a:defRPr sz="2000">
                <a:ea typeface="Hiragino Sans"/>
                <a:cs typeface="Hiragino Sans"/>
              </a:defRPr>
            </a:lvl6pPr>
            <a:lvl7pPr marL="2743200" indent="0">
              <a:buNone/>
              <a:defRPr sz="2000">
                <a:ea typeface="Hiragino Sans"/>
                <a:cs typeface="Hiragino Sans"/>
              </a:defRPr>
            </a:lvl7pPr>
            <a:lvl8pPr marL="3200400" indent="0">
              <a:buNone/>
              <a:defRPr sz="2000">
                <a:ea typeface="Hiragino Sans"/>
                <a:cs typeface="Hiragino Sans"/>
              </a:defRPr>
            </a:lvl8pPr>
            <a:lvl9pPr marL="3657600" indent="0">
              <a:buNone/>
              <a:defRPr sz="2000">
                <a:ea typeface="Hiragino Sans"/>
                <a:cs typeface="Hiragino Sans"/>
              </a:defRPr>
            </a:lvl9pPr>
          </a:lstStyle>
          <a:p>
            <a:endParaRPr lang="en-US">
              <a:ea typeface="Hiragino Sans"/>
              <a:cs typeface="Hiragino San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ea typeface="Hiragino Sans"/>
                <a:cs typeface="Hiragino Sans"/>
              </a:defRPr>
            </a:lvl1pPr>
            <a:lvl2pPr marL="457200" indent="0">
              <a:buNone/>
              <a:defRPr sz="1200">
                <a:ea typeface="Hiragino Sans"/>
                <a:cs typeface="Hiragino Sans"/>
              </a:defRPr>
            </a:lvl2pPr>
            <a:lvl3pPr marL="914400" indent="0">
              <a:buNone/>
              <a:defRPr sz="1000">
                <a:ea typeface="Hiragino Sans"/>
                <a:cs typeface="Hiragino Sans"/>
              </a:defRPr>
            </a:lvl3pPr>
            <a:lvl4pPr marL="1371600" indent="0">
              <a:buNone/>
              <a:defRPr sz="900">
                <a:ea typeface="Hiragino Sans"/>
                <a:cs typeface="Hiragino Sans"/>
              </a:defRPr>
            </a:lvl4pPr>
            <a:lvl5pPr marL="1828800" indent="0">
              <a:buNone/>
              <a:defRPr sz="900">
                <a:ea typeface="Hiragino Sans"/>
                <a:cs typeface="Hiragino Sans"/>
              </a:defRPr>
            </a:lvl5pPr>
            <a:lvl6pPr marL="2286000" indent="0">
              <a:buNone/>
              <a:defRPr sz="900">
                <a:ea typeface="Hiragino Sans"/>
                <a:cs typeface="Hiragino Sans"/>
              </a:defRPr>
            </a:lvl6pPr>
            <a:lvl7pPr marL="2743200" indent="0">
              <a:buNone/>
              <a:defRPr sz="900">
                <a:ea typeface="Hiragino Sans"/>
                <a:cs typeface="Hiragino Sans"/>
              </a:defRPr>
            </a:lvl7pPr>
            <a:lvl8pPr marL="3200400" indent="0">
              <a:buNone/>
              <a:defRPr sz="900">
                <a:ea typeface="Hiragino Sans"/>
                <a:cs typeface="Hiragino Sans"/>
              </a:defRPr>
            </a:lvl8pPr>
            <a:lvl9pPr marL="3657600" indent="0">
              <a:buNone/>
              <a:defRPr sz="900">
                <a:ea typeface="Hiragino Sans"/>
                <a:cs typeface="Hiragino Sans"/>
              </a:defRPr>
            </a:lvl9pPr>
          </a:lstStyle>
          <a:p>
            <a:pPr lvl="0"/>
            <a:r>
              <a:rPr lang="en-US" smtClean="0">
                <a:ea typeface="Hiragino Sans"/>
                <a:cs typeface="Hiragino Sans"/>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Vertical Text Placeholder 2"/>
          <p:cNvSpPr>
            <a:spLocks noGrp="1"/>
          </p:cNvSpPr>
          <p:nvPr>
            <p:ph type="body" orient="vert" idx="1"/>
          </p:nvPr>
        </p:nvSpPr>
        <p:spPr/>
        <p:txBody>
          <a:bodyPr vert="eaVert"/>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ea typeface="Hiragino Sans"/>
                <a:cs typeface="Hiragino Sans"/>
              </a:rPr>
              <a:t>Click to edit Master title style</a:t>
            </a:r>
            <a:endParaRPr lang="en-US">
              <a:ea typeface="Hiragino Sans"/>
              <a:cs typeface="Hiragino Sans"/>
            </a:endParaRP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ea typeface="Hiragino Sans"/>
                <a:cs typeface="Hiragino Sans"/>
                <a:solidFill>
                  <a:schemeClr val="tx1">
                    <a:tint val="75000"/>
                  </a:schemeClr>
                </a:solidFill>
              </a:defRPr>
            </a:lvl1p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ea typeface="Hiragino Sans"/>
                <a:cs typeface="Hiragino Sans"/>
                <a:solidFill>
                  <a:schemeClr val="tx1">
                    <a:tint val="75000"/>
                  </a:schemeClr>
                </a:solidFill>
              </a:defRPr>
            </a:lvl1pPr>
          </a:lstStyle>
          <a:p>
            <a:endParaRPr lang="en-US">
              <a:ea typeface="Hiragino Sans"/>
              <a:cs typeface="Hiragino San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ea typeface="Hiragino Sans"/>
                <a:cs typeface="Hiragino Sans"/>
                <a:solidFill>
                  <a:schemeClr val="tx1">
                    <a:tint val="75000"/>
                  </a:schemeClr>
                </a:solidFill>
              </a:defRPr>
            </a:lvl1p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Hiragino Sans"/>
          <a:cs typeface="Hiragino San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Hiragino Sans"/>
          <a:cs typeface="Hiragino Sans"/>
        </a:defRPr>
      </a:lvl1pPr>
      <a:lvl2pPr marL="742950" indent="-285750" algn="l" defTabSz="457200" rtl="0" eaLnBrk="1" latinLnBrk="0" hangingPunct="1">
        <a:spcBef>
          <a:spcPct val="20000"/>
        </a:spcBef>
        <a:buFont typeface="Arial"/>
        <a:buChar char="–"/>
        <a:defRPr sz="2800" kern="1200">
          <a:solidFill>
            <a:schemeClr val="tx1"/>
          </a:solidFill>
          <a:latin typeface="+mn-lt"/>
          <a:ea typeface="Hiragino Sans"/>
          <a:cs typeface="Hiragino Sans"/>
        </a:defRPr>
      </a:lvl2pPr>
      <a:lvl3pPr marL="1143000" indent="-228600" algn="l" defTabSz="457200" rtl="0" eaLnBrk="1" latinLnBrk="0" hangingPunct="1">
        <a:spcBef>
          <a:spcPct val="20000"/>
        </a:spcBef>
        <a:buFont typeface="Arial"/>
        <a:buChar char="•"/>
        <a:defRPr sz="2400" kern="1200">
          <a:solidFill>
            <a:schemeClr val="tx1"/>
          </a:solidFill>
          <a:latin typeface="+mn-lt"/>
          <a:ea typeface="Hiragino Sans"/>
          <a:cs typeface="Hiragino Sans"/>
        </a:defRPr>
      </a:lvl3pPr>
      <a:lvl4pPr marL="16002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4pPr>
      <a:lvl5pPr marL="20574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5pPr>
      <a:lvl6pPr marL="25146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6pPr>
      <a:lvl7pPr marL="29718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7pPr>
      <a:lvl8pPr marL="34290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8pPr>
      <a:lvl9pPr marL="38862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9pPr>
    </p:bodyStyle>
    <p:otherStyle>
      <a:defPPr>
        <a:defRPr lang="en-US">
          <a:ea typeface="Hiragino Sans"/>
          <a:cs typeface="Hiragino Sans"/>
        </a:defRPr>
      </a:defPPr>
      <a:lvl1pPr marL="0" algn="l" defTabSz="457200" rtl="0" eaLnBrk="1" latinLnBrk="0" hangingPunct="1">
        <a:defRPr sz="1800" kern="1200">
          <a:solidFill>
            <a:schemeClr val="tx1"/>
          </a:solidFill>
          <a:latin typeface="+mn-lt"/>
          <a:ea typeface="Hiragino Sans"/>
          <a:cs typeface="Hiragino Sans"/>
        </a:defRPr>
      </a:lvl1pPr>
      <a:lvl2pPr marL="457200" algn="l" defTabSz="457200" rtl="0" eaLnBrk="1" latinLnBrk="0" hangingPunct="1">
        <a:defRPr sz="1800" kern="1200">
          <a:solidFill>
            <a:schemeClr val="tx1"/>
          </a:solidFill>
          <a:latin typeface="+mn-lt"/>
          <a:ea typeface="Hiragino Sans"/>
          <a:cs typeface="Hiragino Sans"/>
        </a:defRPr>
      </a:lvl2pPr>
      <a:lvl3pPr marL="914400" algn="l" defTabSz="457200" rtl="0" eaLnBrk="1" latinLnBrk="0" hangingPunct="1">
        <a:defRPr sz="1800" kern="1200">
          <a:solidFill>
            <a:schemeClr val="tx1"/>
          </a:solidFill>
          <a:latin typeface="+mn-lt"/>
          <a:ea typeface="Hiragino Sans"/>
          <a:cs typeface="Hiragino Sans"/>
        </a:defRPr>
      </a:lvl3pPr>
      <a:lvl4pPr marL="1371600" algn="l" defTabSz="457200" rtl="0" eaLnBrk="1" latinLnBrk="0" hangingPunct="1">
        <a:defRPr sz="1800" kern="1200">
          <a:solidFill>
            <a:schemeClr val="tx1"/>
          </a:solidFill>
          <a:latin typeface="+mn-lt"/>
          <a:ea typeface="Hiragino Sans"/>
          <a:cs typeface="Hiragino Sans"/>
        </a:defRPr>
      </a:lvl4pPr>
      <a:lvl5pPr marL="1828800" algn="l" defTabSz="457200" rtl="0" eaLnBrk="1" latinLnBrk="0" hangingPunct="1">
        <a:defRPr sz="1800" kern="1200">
          <a:solidFill>
            <a:schemeClr val="tx1"/>
          </a:solidFill>
          <a:latin typeface="+mn-lt"/>
          <a:ea typeface="Hiragino Sans"/>
          <a:cs typeface="Hiragino Sans"/>
        </a:defRPr>
      </a:lvl5pPr>
      <a:lvl6pPr marL="2286000" algn="l" defTabSz="457200" rtl="0" eaLnBrk="1" latinLnBrk="0" hangingPunct="1">
        <a:defRPr sz="1800" kern="1200">
          <a:solidFill>
            <a:schemeClr val="tx1"/>
          </a:solidFill>
          <a:latin typeface="+mn-lt"/>
          <a:ea typeface="Hiragino Sans"/>
          <a:cs typeface="Hiragino Sans"/>
        </a:defRPr>
      </a:lvl6pPr>
      <a:lvl7pPr marL="2743200" algn="l" defTabSz="457200" rtl="0" eaLnBrk="1" latinLnBrk="0" hangingPunct="1">
        <a:defRPr sz="1800" kern="1200">
          <a:solidFill>
            <a:schemeClr val="tx1"/>
          </a:solidFill>
          <a:latin typeface="+mn-lt"/>
          <a:ea typeface="Hiragino Sans"/>
          <a:cs typeface="Hiragino Sans"/>
        </a:defRPr>
      </a:lvl7pPr>
      <a:lvl8pPr marL="3200400" algn="l" defTabSz="457200" rtl="0" eaLnBrk="1" latinLnBrk="0" hangingPunct="1">
        <a:defRPr sz="1800" kern="1200">
          <a:solidFill>
            <a:schemeClr val="tx1"/>
          </a:solidFill>
          <a:latin typeface="+mn-lt"/>
          <a:ea typeface="Hiragino Sans"/>
          <a:cs typeface="Hiragino Sans"/>
        </a:defRPr>
      </a:lvl8pPr>
      <a:lvl9pPr marL="3657600" algn="l" defTabSz="457200" rtl="0" eaLnBrk="1" latinLnBrk="0" hangingPunct="1">
        <a:defRPr sz="1800" kern="1200">
          <a:solidFill>
            <a:schemeClr val="tx1"/>
          </a:solidFill>
          <a:latin typeface="+mn-lt"/>
          <a:ea typeface="Hiragino Sans"/>
          <a:cs typeface="Hiragino San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413"/>
        </a:solidFill>
        <a:effectLst/>
      </p:bgPr>
    </p:bg>
    <p:spTree>
      <p:nvGrpSpPr>
        <p:cNvPr id="1" name=""/>
        <p:cNvGrpSpPr/>
        <p:nvPr/>
      </p:nvGrpSpPr>
      <p:grpSpPr/>
      <p:sp>
        <p:nvSpPr>
          <p:cNvPr id="2" name="deco:arc"/>
          <p:cNvSpPr/>
          <p:nvPr/>
        </p:nvSpPr>
        <p:spPr>
          <a:xfrm>
            <a:off x="10194645" y="4242816"/>
            <a:ext cx="4754880" cy="4754880"/>
          </a:xfrm>
          <a:prstGeom prst="ellipse">
            <a:avLst/>
          </a:prstGeom>
          <a:solidFill>
            <a:srgbClr val="242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eco:dot"/>
          <p:cNvSpPr/>
          <p:nvPr/>
        </p:nvSpPr>
        <p:spPr>
          <a:xfrm>
            <a:off x="10751697" y="47998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31720"/>
            <a:ext cx="10362895" cy="237744"/>
          </a:xfrm>
          <a:prstGeom prst="rect">
            <a:avLst/>
          </a:prstGeom>
          <a:noFill/>
        </p:spPr>
        <p:txBody>
          <a:bodyPr wrap="none" lIns="0" rIns="0" tIns="0" bIns="0">
            <a:noAutofit/>
          </a:bodyPr>
          <a:lstStyle/>
          <a:p>
            <a:pPr algn="ctr">
              <a:defRPr sz="1200" b="1">
                <a:solidFill>
                  <a:srgbClr val="D97757"/>
                </a:solidFill>
                <a:latin typeface="Avenir Next"/>
                <a:ea typeface="Hiragino Sans"/>
                <a:cs typeface="Hiragino Sans"/>
              </a:defRPr>
            </a:pPr>
            <a:r>
              <a:rPr spc="40">
                <a:ea typeface="Hiragino Sans"/>
                <a:cs typeface="Hiragino Sans"/>
              </a:rPr>
              <a:t>187 kV は本当に 2 導体（複導体）か</a:t>
            </a:r>
          </a:p>
        </p:txBody>
      </p:sp>
      <p:sp>
        <p:nvSpPr>
          <p:cNvPr id="5" name="Rectangle 4"/>
          <p:cNvSpPr/>
          <p:nvPr/>
        </p:nvSpPr>
        <p:spPr>
          <a:xfrm>
            <a:off x="5592927" y="2889504"/>
            <a:ext cx="1005840" cy="20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054096"/>
            <a:ext cx="10728655" cy="1817370"/>
          </a:xfrm>
          <a:prstGeom prst="rect">
            <a:avLst/>
          </a:prstGeom>
          <a:noFill/>
        </p:spPr>
        <p:txBody>
          <a:bodyPr wrap="square" lIns="0" rIns="0" tIns="0" bIns="0" anchor="t">
            <a:noAutofit/>
          </a:bodyPr>
          <a:lstStyle/>
          <a:p>
            <a:pPr algn="ctr">
              <a:lnSpc>
                <a:spcPct val="106000"/>
              </a:lnSpc>
              <a:defRPr sz="5400" b="1">
                <a:solidFill>
                  <a:srgbClr val="FFFFFF"/>
                </a:solidFill>
                <a:latin typeface="Avenir Next"/>
                <a:ea typeface="Hiragino Sans"/>
                <a:cs typeface="Hiragino Sans"/>
              </a:defRPr>
            </a:pPr>
            <a:r>
              <a:rPr>
                <a:ea typeface="Hiragino Sans"/>
                <a:cs typeface="Hiragino Sans"/>
              </a:rPr>
              <a:t>「42 m」をほどく</a:t>
            </a:r>
          </a:p>
        </p:txBody>
      </p:sp>
      <p:sp>
        <p:nvSpPr>
          <p:cNvPr id="7" name="TextBox 6"/>
          <p:cNvSpPr txBox="1"/>
          <p:nvPr/>
        </p:nvSpPr>
        <p:spPr>
          <a:xfrm>
            <a:off x="1097280" y="5100066"/>
            <a:ext cx="9997135" cy="868680"/>
          </a:xfrm>
          <a:prstGeom prst="rect">
            <a:avLst/>
          </a:prstGeom>
          <a:noFill/>
        </p:spPr>
        <p:txBody>
          <a:bodyPr wrap="square" lIns="0" rIns="0" tIns="0" bIns="0">
            <a:noAutofit/>
          </a:bodyPr>
          <a:lstStyle/>
          <a:p>
            <a:pPr algn="ctr"/>
            <a:r>
              <a:rPr sz="1800">
                <a:solidFill>
                  <a:srgbClr val="DBDBDB"/>
                </a:solidFill>
                <a:latin typeface="Avenir Next"/>
                <a:ea typeface="Hiragino Sans"/>
                <a:cs typeface="Hiragino Sans"/>
              </a:rPr>
              <a:t>All-Japan-Grid インピーダンス較正の補足</a:t>
            </a:r>
          </a:p>
        </p:txBody>
      </p:sp>
      <p:sp>
        <p:nvSpPr>
          <p:cNvPr id="8" name="TextBox 7"/>
          <p:cNvSpPr txBox="1"/>
          <p:nvPr/>
        </p:nvSpPr>
        <p:spPr>
          <a:xfrm>
            <a:off x="914400" y="6014466"/>
            <a:ext cx="10362895" cy="411480"/>
          </a:xfrm>
          <a:prstGeom prst="rect">
            <a:avLst/>
          </a:prstGeom>
          <a:noFill/>
        </p:spPr>
        <p:txBody>
          <a:bodyPr wrap="none" lIns="0" rIns="0" tIns="0" bIns="0">
            <a:noAutofit/>
          </a:bodyPr>
          <a:lstStyle/>
          <a:p>
            <a:pPr algn="ctr"/>
            <a:r>
              <a:rPr sz="1400">
                <a:solidFill>
                  <a:srgbClr val="DBDBDB"/>
                </a:solidFill>
                <a:latin typeface="Avenir Next"/>
                <a:ea typeface="Hiragino Sans"/>
                <a:cs typeface="Hiragino Sans"/>
              </a:rPr>
              <a:t>2026-09-17 ｜ 元スライド: impedance_calibration_2026-08-20 の 9 枚目</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141413"/>
                </a:solidFill>
                <a:latin typeface="Avenir Next"/>
                <a:ea typeface="Hiragino Sans"/>
                <a:cs typeface="Hiragino Sans"/>
              </a:defRPr>
            </a:pPr>
            <a:r>
              <a:rPr>
                <a:ea typeface="Hiragino Sans"/>
                <a:cs typeface="Hiragino Sans"/>
              </a:rPr>
              <a:t>確かめたいこと</a:t>
            </a:r>
          </a:p>
        </p:txBody>
      </p:sp>
      <p:sp>
        <p:nvSpPr>
          <p:cNvPr id="3" name="Rounded Rectangle 2"/>
          <p:cNvSpPr/>
          <p:nvPr/>
        </p:nvSpPr>
        <p:spPr>
          <a:xfrm>
            <a:off x="1562134" y="2370582"/>
            <a:ext cx="9067427" cy="1714500"/>
          </a:xfrm>
          <a:prstGeom prst="roundRect">
            <a:avLst>
              <a:gd name="adj" fmla="val 3500"/>
            </a:avLst>
          </a:prstGeom>
          <a:solidFill>
            <a:srgbClr val="FFFFFF"/>
          </a:solidFill>
          <a:ln w="9525">
            <a:solidFill>
              <a:srgbClr val="E8E6DC"/>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562134" y="2370582"/>
            <a:ext cx="9067427" cy="381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790734" y="2637282"/>
            <a:ext cx="8610227" cy="1219200"/>
          </a:xfrm>
          <a:prstGeom prst="rect">
            <a:avLst/>
          </a:prstGeom>
          <a:noFill/>
        </p:spPr>
        <p:txBody>
          <a:bodyPr wrap="square" lIns="0" rIns="0" tIns="0" bIns="0" anchor="ctr">
            <a:noAutofit/>
          </a:bodyPr>
          <a:lstStyle/>
          <a:p>
            <a:r>
              <a:rPr sz="2400">
                <a:solidFill>
                  <a:srgbClr val="141413"/>
                </a:solidFill>
                <a:latin typeface="Avenir Next"/>
                <a:ea typeface="Hiragino Sans"/>
                <a:cs typeface="Hiragino Sans"/>
              </a:rPr>
              <a:t>設定ファイルは 187 kV 線路を「ACSR 330 mm² の 2 導体」と仮定している。実測のリアクタンスは設定の 1.19 倍。この仮定は正しいか？</a:t>
            </a:r>
          </a:p>
        </p:txBody>
      </p:sp>
      <p:sp>
        <p:nvSpPr>
          <p:cNvPr id="6" name="TextBox 5"/>
          <p:cNvSpPr txBox="1"/>
          <p:nvPr/>
        </p:nvSpPr>
        <p:spPr>
          <a:xfrm>
            <a:off x="1562134" y="4359402"/>
            <a:ext cx="9067427" cy="731520"/>
          </a:xfrm>
          <a:prstGeom prst="rect">
            <a:avLst/>
          </a:prstGeom>
          <a:noFill/>
        </p:spPr>
        <p:txBody>
          <a:bodyPr wrap="square" lIns="0" rIns="0" tIns="0" bIns="0" anchor="t">
            <a:noAutofit/>
          </a:bodyPr>
          <a:lstStyle/>
          <a:p>
            <a:pPr algn="ctr"/>
            <a:r>
              <a:rPr sz="1400">
                <a:solidFill>
                  <a:srgbClr val="73706A"/>
                </a:solidFill>
                <a:latin typeface="Avenir Next"/>
                <a:ea typeface="Hiragino Sans"/>
                <a:cs typeface="Hiragino Sans"/>
              </a:rPr>
              <a:t>— 2 導体が正しいなら鉄塔はどんな寸法のはずかを逆算し、実物と比べる</a:t>
            </a:r>
          </a:p>
        </p:txBody>
      </p:sp>
      <p:sp>
        <p:nvSpPr>
          <p:cNvPr id="7" name="TextBox 6"/>
          <p:cNvSpPr txBox="1"/>
          <p:nvPr/>
        </p:nvSpPr>
        <p:spPr>
          <a:xfrm>
            <a:off x="566928" y="6473952"/>
            <a:ext cx="11057839" cy="228600"/>
          </a:xfrm>
          <a:prstGeom prst="rect">
            <a:avLst/>
          </a:prstGeom>
          <a:noFill/>
        </p:spPr>
        <p:txBody>
          <a:bodyPr wrap="none" lIns="0" rIns="0" tIns="0" bIns="0">
            <a:noAutofit/>
          </a:bodyPr>
          <a:lstStyle/>
          <a:p>
            <a:pPr algn="r">
              <a:defRPr sz="1100">
                <a:solidFill>
                  <a:srgbClr val="73706A"/>
                </a:solidFill>
                <a:latin typeface="Avenir Next"/>
                <a:ea typeface="Hiragino Sans"/>
                <a:cs typeface="Hiragino Sans"/>
              </a:defRPr>
            </a:pPr>
            <a: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141413"/>
                </a:solidFill>
                <a:latin typeface="Avenir Next"/>
                <a:ea typeface="Hiragino Sans"/>
                <a:cs typeface="Hiragino Sans"/>
              </a:defRPr>
            </a:pPr>
            <a:r>
              <a:rPr>
                <a:ea typeface="Hiragino Sans"/>
                <a:cs typeface="Hiragino Sans"/>
              </a:rPr>
              <a:t>ここでいう「導体数」</a:t>
            </a:r>
          </a:p>
        </p:txBody>
      </p:sp>
      <p:sp>
        <p:nvSpPr>
          <p:cNvPr id="3" name="Rectangle 2"/>
          <p:cNvSpPr/>
          <p:nvPr/>
        </p:nvSpPr>
        <p:spPr>
          <a:xfrm>
            <a:off x="566928" y="2623312"/>
            <a:ext cx="38100" cy="145923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2403856"/>
            <a:ext cx="10692079" cy="237744"/>
          </a:xfrm>
          <a:prstGeom prst="rect">
            <a:avLst/>
          </a:prstGeom>
          <a:noFill/>
        </p:spPr>
        <p:txBody>
          <a:bodyPr wrap="none" lIns="0" rIns="0" tIns="0" bIns="0">
            <a:noAutofit/>
          </a:bodyPr>
          <a:lstStyle/>
          <a:p>
            <a:pPr algn="l">
              <a:defRPr sz="1200" b="1">
                <a:solidFill>
                  <a:srgbClr val="B3502F"/>
                </a:solidFill>
                <a:latin typeface="Avenir Next"/>
                <a:ea typeface="Hiragino Sans"/>
                <a:cs typeface="Hiragino Sans"/>
              </a:defRPr>
            </a:pPr>
            <a:r>
              <a:rPr spc="180">
                <a:ea typeface="Hiragino Sans"/>
                <a:cs typeface="Hiragino Sans"/>
              </a:rPr>
              <a:t>DEFINITION</a:t>
            </a:r>
          </a:p>
        </p:txBody>
      </p:sp>
      <p:sp>
        <p:nvSpPr>
          <p:cNvPr id="5" name="TextBox 4"/>
          <p:cNvSpPr txBox="1"/>
          <p:nvPr/>
        </p:nvSpPr>
        <p:spPr>
          <a:xfrm>
            <a:off x="932688" y="2623312"/>
            <a:ext cx="10692079" cy="640080"/>
          </a:xfrm>
          <a:prstGeom prst="rect">
            <a:avLst/>
          </a:prstGeom>
          <a:noFill/>
        </p:spPr>
        <p:txBody>
          <a:bodyPr wrap="none" lIns="0" rIns="0" tIns="0" bIns="0">
            <a:noAutofit/>
          </a:bodyPr>
          <a:lstStyle/>
          <a:p>
            <a:r>
              <a:rPr sz="2800" b="1">
                <a:solidFill>
                  <a:srgbClr val="141413"/>
                </a:solidFill>
                <a:latin typeface="Avenir Next"/>
                <a:ea typeface="Hiragino Sans"/>
                <a:cs typeface="Hiragino Sans"/>
              </a:rPr>
              <a:t>導体数（導体方式）＝ 1 相あたりの素導体の条数</a:t>
            </a:r>
          </a:p>
        </p:txBody>
      </p:sp>
      <p:sp>
        <p:nvSpPr>
          <p:cNvPr id="6" name="TextBox 5"/>
          <p:cNvSpPr txBox="1"/>
          <p:nvPr/>
        </p:nvSpPr>
        <p:spPr>
          <a:xfrm>
            <a:off x="932688" y="3446272"/>
            <a:ext cx="10692079" cy="819150"/>
          </a:xfrm>
          <a:prstGeom prst="rect">
            <a:avLst/>
          </a:prstGeom>
          <a:noFill/>
        </p:spPr>
        <p:txBody>
          <a:bodyPr wrap="square" lIns="0" rIns="0" tIns="0" bIns="0">
            <a:noAutofit/>
          </a:bodyPr>
          <a:lstStyle/>
          <a:p>
            <a:pPr>
              <a:lnSpc>
                <a:spcPct val="130000"/>
              </a:lnSpc>
            </a:pPr>
            <a:r>
              <a:rPr sz="1800">
                <a:solidFill>
                  <a:srgbClr val="141413"/>
                </a:solidFill>
                <a:latin typeface="Avenir Next"/>
                <a:ea typeface="Hiragino Sans"/>
                <a:cs typeface="Hiragino Sans"/>
              </a:rPr>
              <a:t>ACSR 330 mm² のより線 1 条だけで 1 相を作れば</a:t>
            </a:r>
            <a:r>
              <a:rPr sz="1800" b="1">
                <a:solidFill>
                  <a:srgbClr val="141413"/>
                </a:solidFill>
                <a:latin typeface="Avenir Next"/>
                <a:ea typeface="Hiragino Sans"/>
                <a:cs typeface="Hiragino Sans"/>
              </a:rPr>
              <a:t>単導体</a:t>
            </a:r>
            <a:r>
              <a:rPr sz="1800">
                <a:solidFill>
                  <a:srgbClr val="141413"/>
                </a:solidFill>
                <a:latin typeface="Avenir Next"/>
                <a:ea typeface="Hiragino Sans"/>
                <a:cs typeface="Hiragino Sans"/>
              </a:rPr>
              <a:t>。2 条をスペーサで約 40 cm 離して並べれば </a:t>
            </a:r>
            <a:r>
              <a:rPr sz="1800" b="1">
                <a:solidFill>
                  <a:srgbClr val="141413"/>
                </a:solidFill>
                <a:latin typeface="Avenir Next"/>
                <a:ea typeface="Hiragino Sans"/>
                <a:cs typeface="Hiragino Sans"/>
              </a:rPr>
              <a:t>2 導体（複導体）</a:t>
            </a:r>
            <a:r>
              <a:rPr sz="1800">
                <a:solidFill>
                  <a:srgbClr val="141413"/>
                </a:solidFill>
                <a:latin typeface="Avenir Next"/>
                <a:ea typeface="Hiragino Sans"/>
                <a:cs typeface="Hiragino Sans"/>
              </a:rPr>
              <a:t>。複導体は電圧の高い線で使われ、電気的に「太い 1 条」として働く。</a:t>
            </a:r>
          </a:p>
        </p:txBody>
      </p:sp>
      <p:sp>
        <p:nvSpPr>
          <p:cNvPr id="7" name="TextBox 6"/>
          <p:cNvSpPr txBox="1"/>
          <p:nvPr/>
        </p:nvSpPr>
        <p:spPr>
          <a:xfrm>
            <a:off x="932688" y="4539742"/>
            <a:ext cx="10692079" cy="298450"/>
          </a:xfrm>
          <a:prstGeom prst="rect">
            <a:avLst/>
          </a:prstGeom>
          <a:noFill/>
        </p:spPr>
        <p:txBody>
          <a:bodyPr wrap="square" lIns="0" rIns="0" tIns="0" bIns="0">
            <a:noAutofit/>
          </a:bodyPr>
          <a:lstStyle/>
          <a:p>
            <a:r>
              <a:rPr sz="1400">
                <a:solidFill>
                  <a:srgbClr val="73706A"/>
                </a:solidFill>
                <a:latin typeface="Avenir Next"/>
                <a:ea typeface="Hiragino Sans"/>
                <a:cs typeface="Hiragino Sans"/>
              </a:rPr>
              <a:t>より線の素線数とは別（ACSR は 1 条でより線）。回線数とも別（2 回線はモデルでは par で扱う）。</a:t>
            </a:r>
          </a:p>
        </p:txBody>
      </p:sp>
      <p:sp>
        <p:nvSpPr>
          <p:cNvPr id="8" name="TextBox 7"/>
          <p:cNvSpPr txBox="1"/>
          <p:nvPr/>
        </p:nvSpPr>
        <p:spPr>
          <a:xfrm>
            <a:off x="566928" y="6473952"/>
            <a:ext cx="11057839" cy="228600"/>
          </a:xfrm>
          <a:prstGeom prst="rect">
            <a:avLst/>
          </a:prstGeom>
          <a:noFill/>
        </p:spPr>
        <p:txBody>
          <a:bodyPr wrap="none" lIns="0" rIns="0" tIns="0" bIns="0">
            <a:noAutofit/>
          </a:bodyPr>
          <a:lstStyle/>
          <a:p>
            <a:pPr algn="r">
              <a:defRPr sz="1100">
                <a:solidFill>
                  <a:srgbClr val="73706A"/>
                </a:solidFill>
                <a:latin typeface="Avenir Next"/>
                <a:ea typeface="Hiragino Sans"/>
                <a:cs typeface="Hiragino Sans"/>
              </a:defRPr>
            </a:pPr>
            <a:r>
              <a:t>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141413"/>
                </a:solidFill>
                <a:latin typeface="Avenir Next"/>
                <a:ea typeface="Hiragino Sans"/>
                <a:cs typeface="Hiragino Sans"/>
              </a:defRPr>
            </a:pPr>
            <a:r>
              <a:rPr>
                <a:ea typeface="Hiragino Sans"/>
                <a:cs typeface="Hiragino Sans"/>
              </a:rPr>
              <a:t>部品は 2 つだけ</a:t>
            </a:r>
          </a:p>
        </p:txBody>
      </p:sp>
      <p:pic>
        <p:nvPicPr>
          <p:cNvPr id="3" name="Picture 2" descr="why42m_parts.png"/>
          <p:cNvPicPr>
            <a:picLocks noChangeAspect="1"/>
          </p:cNvPicPr>
          <p:nvPr/>
        </p:nvPicPr>
        <p:blipFill>
          <a:blip r:embed="rId2"/>
          <a:stretch>
            <a:fillRect/>
          </a:stretch>
        </p:blipFill>
        <p:spPr>
          <a:xfrm>
            <a:off x="2467923" y="1353312"/>
            <a:ext cx="7255849" cy="3547110"/>
          </a:xfrm>
          <a:prstGeom prst="rect">
            <a:avLst/>
          </a:prstGeom>
        </p:spPr>
      </p:pic>
      <p:sp>
        <p:nvSpPr>
          <p:cNvPr id="4" name="TextBox 3"/>
          <p:cNvSpPr txBox="1"/>
          <p:nvPr/>
        </p:nvSpPr>
        <p:spPr>
          <a:xfrm>
            <a:off x="566928" y="5037582"/>
            <a:ext cx="11057839" cy="298450"/>
          </a:xfrm>
          <a:prstGeom prst="rect">
            <a:avLst/>
          </a:prstGeom>
          <a:noFill/>
        </p:spPr>
        <p:txBody>
          <a:bodyPr wrap="square" lIns="0" rIns="0" tIns="0" bIns="0">
            <a:noAutofit/>
          </a:bodyPr>
          <a:lstStyle/>
          <a:p>
            <a:pPr algn="ctr"/>
            <a:r>
              <a:rPr sz="1400">
                <a:solidFill>
                  <a:srgbClr val="73706A"/>
                </a:solidFill>
                <a:latin typeface="Avenir Next"/>
                <a:ea typeface="Hiragino Sans"/>
                <a:cs typeface="Hiragino Sans"/>
              </a:rPr>
              <a:t>左: 鉄塔の腕で決まる線間距離 D（メートル）。右: 1 相ぶんの導体の電気的な太さ GMR（ミリメートル）。</a:t>
            </a:r>
          </a:p>
        </p:txBody>
      </p:sp>
      <p:sp>
        <p:nvSpPr>
          <p:cNvPr id="5" name="TextBox 4"/>
          <p:cNvSpPr txBox="1"/>
          <p:nvPr/>
        </p:nvSpPr>
        <p:spPr>
          <a:xfrm>
            <a:off x="566928" y="5518912"/>
            <a:ext cx="11057839" cy="635000"/>
          </a:xfrm>
          <a:prstGeom prst="rect">
            <a:avLst/>
          </a:prstGeom>
          <a:noFill/>
        </p:spPr>
        <p:txBody>
          <a:bodyPr wrap="square" lIns="0" rIns="0" tIns="0" bIns="0">
            <a:spAutoFit/>
          </a:bodyPr>
          <a:lstStyle/>
          <a:p>
            <a:pPr>
              <a:spcBef>
                <a:spcPts val="400"/>
              </a:spcBef>
              <a:buChar char="•"/>
            </a:pPr>
            <a:r>
              <a:rPr sz="1600">
                <a:solidFill>
                  <a:srgbClr val="141413"/>
                </a:solidFill>
                <a:latin typeface="Avenir Next"/>
                <a:ea typeface="Hiragino Sans"/>
                <a:cs typeface="Hiragino Sans"/>
              </a:rPr>
              <a:t>2 導体にすると GMR は 8 mm → 57 mm（</a:t>
            </a:r>
            <a:r>
              <a:rPr sz="1600" b="1">
                <a:solidFill>
                  <a:srgbClr val="141413"/>
                </a:solidFill>
                <a:latin typeface="Avenir Next"/>
                <a:ea typeface="Hiragino Sans"/>
                <a:cs typeface="Hiragino Sans"/>
              </a:rPr>
              <a:t>約 7 倍</a:t>
            </a:r>
            <a:r>
              <a:rPr sz="1600">
                <a:solidFill>
                  <a:srgbClr val="141413"/>
                </a:solidFill>
                <a:latin typeface="Avenir Next"/>
                <a:ea typeface="Hiragino Sans"/>
                <a:cs typeface="Hiragino Sans"/>
              </a:rPr>
              <a:t>）になる</a:t>
            </a:r>
          </a:p>
          <a:p>
            <a:pPr>
              <a:spcBef>
                <a:spcPts val="400"/>
              </a:spcBef>
              <a:buChar char="•"/>
            </a:pPr>
            <a:r>
              <a:rPr sz="1600">
                <a:solidFill>
                  <a:srgbClr val="141413"/>
                </a:solidFill>
                <a:latin typeface="Avenir Next"/>
                <a:ea typeface="Hiragino Sans"/>
                <a:cs typeface="Hiragino Sans"/>
              </a:rPr>
              <a:t>太く見えるぶんリアクタンスが下がる — 高い電圧の線が複導体を使う理由</a:t>
            </a:r>
          </a:p>
        </p:txBody>
      </p:sp>
      <p:sp>
        <p:nvSpPr>
          <p:cNvPr id="6" name="TextBox 5"/>
          <p:cNvSpPr txBox="1"/>
          <p:nvPr/>
        </p:nvSpPr>
        <p:spPr>
          <a:xfrm>
            <a:off x="566928" y="6473952"/>
            <a:ext cx="11057839" cy="228600"/>
          </a:xfrm>
          <a:prstGeom prst="rect">
            <a:avLst/>
          </a:prstGeom>
          <a:noFill/>
        </p:spPr>
        <p:txBody>
          <a:bodyPr wrap="none" lIns="0" rIns="0" tIns="0" bIns="0">
            <a:noAutofit/>
          </a:bodyPr>
          <a:lstStyle/>
          <a:p>
            <a:pPr algn="r">
              <a:defRPr sz="1100">
                <a:solidFill>
                  <a:srgbClr val="73706A"/>
                </a:solidFill>
                <a:latin typeface="Avenir Next"/>
                <a:ea typeface="Hiragino Sans"/>
                <a:cs typeface="Hiragino Sans"/>
              </a:defRPr>
            </a:pPr>
            <a:r>
              <a:t>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141413"/>
                </a:solidFill>
                <a:latin typeface="Avenir Next"/>
                <a:ea typeface="Hiragino Sans"/>
                <a:cs typeface="Hiragino Sans"/>
              </a:defRPr>
            </a:pPr>
            <a:r>
              <a:rPr>
                <a:ea typeface="Hiragino Sans"/>
                <a:cs typeface="Hiragino Sans"/>
              </a:rPr>
              <a:t>リアクタンスは「比」で決まる</a:t>
            </a:r>
          </a:p>
        </p:txBody>
      </p:sp>
      <p:sp>
        <p:nvSpPr>
          <p:cNvPr id="3" name="TextBox 2"/>
          <p:cNvSpPr txBox="1"/>
          <p:nvPr/>
        </p:nvSpPr>
        <p:spPr>
          <a:xfrm>
            <a:off x="566928" y="1900428"/>
            <a:ext cx="11057839" cy="1219200"/>
          </a:xfrm>
          <a:prstGeom prst="rect">
            <a:avLst/>
          </a:prstGeom>
          <a:noFill/>
        </p:spPr>
        <p:txBody>
          <a:bodyPr wrap="square" lIns="0" rIns="0" tIns="0" bIns="0" anchor="ctr">
            <a:noAutofit/>
          </a:bodyPr>
          <a:lstStyle/>
          <a:p>
            <a:pPr algn="ctr"/>
            <a:r>
              <a:rPr sz="4000">
                <a:solidFill>
                  <a:srgbClr val="141413"/>
                </a:solidFill>
                <a:latin typeface="Avenir Next"/>
                <a:ea typeface="Hiragino Sans"/>
                <a:cs typeface="Hiragino Sans"/>
              </a:rPr>
              <a:t/>
            </a:r>
            <a14:m xmlns:a14="http://schemas.microsoft.com/office/drawing/2010/main" xmlns:mc="http://schemas.openxmlformats.org/markup-compatibility/2006">
              <m:oMathPara xmlns:m="http://schemas.openxmlformats.org/officeDocument/2006/math">
                <m:oMathParaPr>
                  <m:jc m:val="center"/>
                </m:oMathParaPr>
                <m:oMath>
                  <m:r>
                    <a:rPr lang="en-US" sz="4000">
                      <a:latin typeface="Cambria Math"/>
                    </a:rPr>
                    <m:t>x</m:t>
                  </m:r>
                  <m:r>
                    <m:rPr>
                      <m:sty m:val="p"/>
                    </m:rPr>
                    <a:rPr lang="en-US" sz="4000">
                      <a:latin typeface="Cambria Math"/>
                    </a:rPr>
                    <m:t>=</m:t>
                  </m:r>
                  <m:r>
                    <a:rPr lang="en-US" sz="4000">
                      <a:latin typeface="Cambria Math"/>
                    </a:rPr>
                    <m:t>2</m:t>
                  </m:r>
                  <m:r>
                    <a:rPr lang="en-US" sz="4000">
                      <a:latin typeface="Cambria Math"/>
                    </a:rPr>
                    <m:t>π</m:t>
                  </m:r>
                  <m:r>
                    <a:rPr lang="en-US" sz="4000">
                      <a:latin typeface="Cambria Math"/>
                    </a:rPr>
                    <m:t>f</m:t>
                  </m:r>
                  <m:r>
                    <m:rPr>
                      <m:sty m:val="p"/>
                    </m:rPr>
                    <a:rPr lang="en-US" sz="4000">
                      <a:latin typeface="Cambria Math"/>
                    </a:rPr>
                    <m:t>⋅</m:t>
                  </m:r>
                  <m:r>
                    <a:rPr lang="en-US" sz="4000">
                      <a:latin typeface="Cambria Math"/>
                    </a:rPr>
                    <m:t>2</m:t>
                  </m:r>
                  <m:r>
                    <m:rPr>
                      <m:sty m:val="p"/>
                    </m:rPr>
                    <a:rPr lang="en-US" sz="4000">
                      <a:latin typeface="Cambria Math"/>
                    </a:rPr>
                    <m:t>×</m:t>
                  </m:r>
                  <m:sSup>
                    <m:e>
                      <m:r>
                        <a:rPr lang="en-US" sz="4000">
                          <a:latin typeface="Cambria Math"/>
                        </a:rPr>
                        <m:t>10</m:t>
                      </m:r>
                    </m:e>
                    <m:sup>
                      <m:r>
                        <m:rPr>
                          <m:sty m:val="p"/>
                        </m:rPr>
                        <a:rPr lang="en-US" sz="4000">
                          <a:latin typeface="Cambria Math"/>
                        </a:rPr>
                        <m:t>−</m:t>
                      </m:r>
                      <m:r>
                        <a:rPr lang="en-US" sz="4000">
                          <a:latin typeface="Cambria Math"/>
                        </a:rPr>
                        <m:t>7</m:t>
                      </m:r>
                    </m:sup>
                  </m:sSup>
                  <m:r>
                    <m:rPr>
                      <m:sty m:val="p"/>
                    </m:rPr>
                    <a:rPr lang="en-US" sz="4000">
                      <a:latin typeface="Cambria Math"/>
                    </a:rPr>
                    <m:t>ln</m:t>
                  </m:r>
                  <m:f>
                    <m:fPr>
                      <m:type m:val="bar"/>
                    </m:fPr>
                    <m:num>
                      <m:r>
                        <a:rPr lang="en-US" sz="4000">
                          <a:latin typeface="Cambria Math"/>
                        </a:rPr>
                        <m:t>D</m:t>
                      </m:r>
                    </m:num>
                    <m:den>
                      <m:r>
                        <m:rPr>
                          <m:sty m:val="p"/>
                        </m:rPr>
                        <a:rPr lang="en-US" sz="4000">
                          <a:latin typeface="Cambria Math"/>
                        </a:rPr>
                        <m:t>G</m:t>
                      </m:r>
                      <m:r>
                        <m:rPr>
                          <m:sty m:val="p"/>
                        </m:rPr>
                        <a:rPr lang="en-US" sz="4000">
                          <a:latin typeface="Cambria Math"/>
                        </a:rPr>
                        <m:t>M</m:t>
                      </m:r>
                      <m:r>
                        <m:rPr>
                          <m:sty m:val="p"/>
                        </m:rPr>
                        <a:rPr lang="en-US" sz="4000">
                          <a:latin typeface="Cambria Math"/>
                        </a:rPr>
                        <m:t>R</m:t>
                      </m:r>
                    </m:den>
                  </m:f>
                </m:oMath>
              </m:oMathPara>
            </a14:m>
          </a:p>
        </p:txBody>
      </p:sp>
      <p:sp>
        <p:nvSpPr>
          <p:cNvPr id="4" name="TextBox 3"/>
          <p:cNvSpPr txBox="1"/>
          <p:nvPr/>
        </p:nvSpPr>
        <p:spPr>
          <a:xfrm>
            <a:off x="2255367" y="3147060"/>
            <a:ext cx="1554480" cy="237744"/>
          </a:xfrm>
          <a:prstGeom prst="rect">
            <a:avLst/>
          </a:prstGeom>
          <a:noFill/>
        </p:spPr>
        <p:txBody>
          <a:bodyPr wrap="none" lIns="0" rIns="0" tIns="0" bIns="0">
            <a:noAutofit/>
          </a:bodyPr>
          <a:lstStyle/>
          <a:p>
            <a:pPr algn="r">
              <a:defRPr sz="1200" b="1">
                <a:solidFill>
                  <a:srgbClr val="73706A"/>
                </a:solidFill>
                <a:latin typeface="Avenir Next"/>
                <a:ea typeface="Hiragino Sans"/>
                <a:cs typeface="Hiragino Sans"/>
              </a:defRPr>
            </a:pPr>
            <a:r>
              <a:rPr spc="180">
                <a:ea typeface="Hiragino Sans"/>
                <a:cs typeface="Hiragino Sans"/>
              </a:rPr>
              <a:t>WHERE</a:t>
            </a:r>
          </a:p>
        </p:txBody>
      </p:sp>
      <p:sp>
        <p:nvSpPr>
          <p:cNvPr id="5" name="Rectangle 4"/>
          <p:cNvSpPr/>
          <p:nvPr/>
        </p:nvSpPr>
        <p:spPr>
          <a:xfrm>
            <a:off x="4038447" y="3384804"/>
            <a:ext cx="9525" cy="1755648"/>
          </a:xfrm>
          <a:prstGeom prst="rect">
            <a:avLst/>
          </a:prstGeom>
          <a:solidFill>
            <a:srgbClr val="E8E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55367" y="3348228"/>
            <a:ext cx="1554480" cy="457200"/>
          </a:xfrm>
          <a:prstGeom prst="rect">
            <a:avLst/>
          </a:prstGeom>
          <a:noFill/>
        </p:spPr>
        <p:txBody>
          <a:bodyPr wrap="none" lIns="0" rIns="0" tIns="0" bIns="0" anchor="ctr">
            <a:noAutofit/>
          </a:bodyPr>
          <a:lstStyle/>
          <a:p>
            <a:pPr algn="r"/>
            <a:r>
              <a:rPr sz="2000">
                <a:solidFill>
                  <a:srgbClr val="B3502F"/>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a:rPr lang="en-US" sz="2000">
                    <a:latin typeface="Cambria Math"/>
                  </a:rPr>
                  <m:t>x</m:t>
                </m:r>
              </m:oMath>
            </a14:m>
          </a:p>
        </p:txBody>
      </p:sp>
      <p:sp>
        <p:nvSpPr>
          <p:cNvPr id="7" name="TextBox 6"/>
          <p:cNvSpPr txBox="1"/>
          <p:nvPr/>
        </p:nvSpPr>
        <p:spPr>
          <a:xfrm>
            <a:off x="4267047" y="3348228"/>
            <a:ext cx="5669280" cy="457200"/>
          </a:xfrm>
          <a:prstGeom prst="rect">
            <a:avLst/>
          </a:prstGeom>
          <a:noFill/>
        </p:spPr>
        <p:txBody>
          <a:bodyPr wrap="square" lIns="0" rIns="0" tIns="0" bIns="0" anchor="ctr">
            <a:noAutofit/>
          </a:bodyPr>
          <a:lstStyle/>
          <a:p>
            <a:r>
              <a:rPr sz="1700">
                <a:solidFill>
                  <a:srgbClr val="141413"/>
                </a:solidFill>
                <a:latin typeface="Avenir Next"/>
                <a:ea typeface="Hiragino Sans"/>
                <a:cs typeface="Hiragino Sans"/>
              </a:rPr>
              <a:t>作用リアクタンス [Ω/m]</a:t>
            </a:r>
          </a:p>
        </p:txBody>
      </p:sp>
      <p:sp>
        <p:nvSpPr>
          <p:cNvPr id="8" name="TextBox 7"/>
          <p:cNvSpPr txBox="1"/>
          <p:nvPr/>
        </p:nvSpPr>
        <p:spPr>
          <a:xfrm>
            <a:off x="2255367" y="3805428"/>
            <a:ext cx="1554480" cy="457200"/>
          </a:xfrm>
          <a:prstGeom prst="rect">
            <a:avLst/>
          </a:prstGeom>
          <a:noFill/>
        </p:spPr>
        <p:txBody>
          <a:bodyPr wrap="none" lIns="0" rIns="0" tIns="0" bIns="0" anchor="ctr">
            <a:noAutofit/>
          </a:bodyPr>
          <a:lstStyle/>
          <a:p>
            <a:pPr algn="r"/>
            <a:r>
              <a:rPr sz="2000">
                <a:solidFill>
                  <a:srgbClr val="B3502F"/>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a:rPr lang="en-US" sz="2000">
                    <a:latin typeface="Cambria Math"/>
                  </a:rPr>
                  <m:t>f</m:t>
                </m:r>
              </m:oMath>
            </a14:m>
          </a:p>
        </p:txBody>
      </p:sp>
      <p:sp>
        <p:nvSpPr>
          <p:cNvPr id="9" name="TextBox 8"/>
          <p:cNvSpPr txBox="1"/>
          <p:nvPr/>
        </p:nvSpPr>
        <p:spPr>
          <a:xfrm>
            <a:off x="4267047" y="3805428"/>
            <a:ext cx="5669280" cy="457200"/>
          </a:xfrm>
          <a:prstGeom prst="rect">
            <a:avLst/>
          </a:prstGeom>
          <a:noFill/>
        </p:spPr>
        <p:txBody>
          <a:bodyPr wrap="square" lIns="0" rIns="0" tIns="0" bIns="0" anchor="ctr">
            <a:noAutofit/>
          </a:bodyPr>
          <a:lstStyle/>
          <a:p>
            <a:r>
              <a:rPr sz="1700">
                <a:solidFill>
                  <a:srgbClr val="141413"/>
                </a:solidFill>
                <a:latin typeface="Avenir Next"/>
                <a:ea typeface="Hiragino Sans"/>
                <a:cs typeface="Hiragino Sans"/>
              </a:rPr>
              <a:t>周波数（北海道 50 Hz、四国 60 Hz）</a:t>
            </a:r>
          </a:p>
        </p:txBody>
      </p:sp>
      <p:sp>
        <p:nvSpPr>
          <p:cNvPr id="10" name="TextBox 9"/>
          <p:cNvSpPr txBox="1"/>
          <p:nvPr/>
        </p:nvSpPr>
        <p:spPr>
          <a:xfrm>
            <a:off x="2255367" y="4262628"/>
            <a:ext cx="1554480" cy="457200"/>
          </a:xfrm>
          <a:prstGeom prst="rect">
            <a:avLst/>
          </a:prstGeom>
          <a:noFill/>
        </p:spPr>
        <p:txBody>
          <a:bodyPr wrap="none" lIns="0" rIns="0" tIns="0" bIns="0" anchor="ctr">
            <a:noAutofit/>
          </a:bodyPr>
          <a:lstStyle/>
          <a:p>
            <a:pPr algn="r"/>
            <a:r>
              <a:rPr sz="2000">
                <a:solidFill>
                  <a:srgbClr val="B3502F"/>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a:rPr lang="en-US" sz="2000">
                    <a:latin typeface="Cambria Math"/>
                  </a:rPr>
                  <m:t>D</m:t>
                </m:r>
              </m:oMath>
            </a14:m>
          </a:p>
        </p:txBody>
      </p:sp>
      <p:sp>
        <p:nvSpPr>
          <p:cNvPr id="11" name="TextBox 10"/>
          <p:cNvSpPr txBox="1"/>
          <p:nvPr/>
        </p:nvSpPr>
        <p:spPr>
          <a:xfrm>
            <a:off x="4267047" y="4262628"/>
            <a:ext cx="5669280" cy="457200"/>
          </a:xfrm>
          <a:prstGeom prst="rect">
            <a:avLst/>
          </a:prstGeom>
          <a:noFill/>
        </p:spPr>
        <p:txBody>
          <a:bodyPr wrap="square" lIns="0" rIns="0" tIns="0" bIns="0" anchor="ctr">
            <a:noAutofit/>
          </a:bodyPr>
          <a:lstStyle/>
          <a:p>
            <a:r>
              <a:rPr sz="1700">
                <a:solidFill>
                  <a:srgbClr val="141413"/>
                </a:solidFill>
                <a:latin typeface="Avenir Next"/>
                <a:ea typeface="Hiragino Sans"/>
                <a:cs typeface="Hiragino Sans"/>
              </a:rPr>
              <a:t>線間距離（鉄塔の腕で決まる）</a:t>
            </a:r>
          </a:p>
        </p:txBody>
      </p:sp>
      <p:sp>
        <p:nvSpPr>
          <p:cNvPr id="12" name="TextBox 11"/>
          <p:cNvSpPr txBox="1"/>
          <p:nvPr/>
        </p:nvSpPr>
        <p:spPr>
          <a:xfrm>
            <a:off x="2255367" y="4719828"/>
            <a:ext cx="1554480" cy="457200"/>
          </a:xfrm>
          <a:prstGeom prst="rect">
            <a:avLst/>
          </a:prstGeom>
          <a:noFill/>
        </p:spPr>
        <p:txBody>
          <a:bodyPr wrap="none" lIns="0" rIns="0" tIns="0" bIns="0" anchor="ctr">
            <a:noAutofit/>
          </a:bodyPr>
          <a:lstStyle/>
          <a:p>
            <a:pPr algn="r"/>
            <a:r>
              <a:rPr sz="2000">
                <a:solidFill>
                  <a:srgbClr val="B3502F"/>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m:rPr>
                    <m:sty m:val="p"/>
                  </m:rPr>
                  <a:rPr lang="en-US" sz="2000">
                    <a:latin typeface="Cambria Math"/>
                  </a:rPr>
                  <m:t>G</m:t>
                </m:r>
                <m:r>
                  <m:rPr>
                    <m:sty m:val="p"/>
                  </m:rPr>
                  <a:rPr lang="en-US" sz="2000">
                    <a:latin typeface="Cambria Math"/>
                  </a:rPr>
                  <m:t>M</m:t>
                </m:r>
                <m:r>
                  <m:rPr>
                    <m:sty m:val="p"/>
                  </m:rPr>
                  <a:rPr lang="en-US" sz="2000">
                    <a:latin typeface="Cambria Math"/>
                  </a:rPr>
                  <m:t>R</m:t>
                </m:r>
              </m:oMath>
            </a14:m>
          </a:p>
        </p:txBody>
      </p:sp>
      <p:sp>
        <p:nvSpPr>
          <p:cNvPr id="13" name="TextBox 12"/>
          <p:cNvSpPr txBox="1"/>
          <p:nvPr/>
        </p:nvSpPr>
        <p:spPr>
          <a:xfrm>
            <a:off x="4267047" y="4719828"/>
            <a:ext cx="5669280" cy="457200"/>
          </a:xfrm>
          <a:prstGeom prst="rect">
            <a:avLst/>
          </a:prstGeom>
          <a:noFill/>
        </p:spPr>
        <p:txBody>
          <a:bodyPr wrap="square" lIns="0" rIns="0" tIns="0" bIns="0" anchor="ctr">
            <a:noAutofit/>
          </a:bodyPr>
          <a:lstStyle/>
          <a:p>
            <a:r>
              <a:rPr sz="1700">
                <a:solidFill>
                  <a:srgbClr val="141413"/>
                </a:solidFill>
                <a:latin typeface="Avenir Next"/>
                <a:ea typeface="Hiragino Sans"/>
                <a:cs typeface="Hiragino Sans"/>
              </a:rPr>
              <a:t>導体の電気的な太さ（導体数と素導体間隔で決まる）</a:t>
            </a:r>
          </a:p>
        </p:txBody>
      </p:sp>
      <p:sp>
        <p:nvSpPr>
          <p:cNvPr id="14" name="Rectangle 13"/>
          <p:cNvSpPr/>
          <p:nvPr/>
        </p:nvSpPr>
        <p:spPr>
          <a:xfrm>
            <a:off x="566928" y="6291072"/>
            <a:ext cx="2560320" cy="9525"/>
          </a:xfrm>
          <a:prstGeom prst="rect">
            <a:avLst/>
          </a:prstGeom>
          <a:solidFill>
            <a:srgbClr val="E8E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6354572"/>
            <a:ext cx="9960559" cy="365760"/>
          </a:xfrm>
          <a:prstGeom prst="rect">
            <a:avLst/>
          </a:prstGeom>
          <a:noFill/>
        </p:spPr>
        <p:txBody>
          <a:bodyPr wrap="square" lIns="0" rIns="0" tIns="0" bIns="0">
            <a:spAutoFit/>
          </a:bodyPr>
          <a:lstStyle/>
          <a:p>
            <a:r>
              <a:rPr sz="1100">
                <a:solidFill>
                  <a:srgbClr val="73706A"/>
                </a:solidFill>
                <a:latin typeface="Avenir Next"/>
                <a:ea typeface="Hiragino Sans"/>
                <a:cs typeface="Hiragino Sans"/>
              </a:rPr>
              <a:t>D と GMR は割り算の形でしか入らない。だから実測 x から分かるのは「D ÷ GMR」という比だけ。</a:t>
            </a:r>
          </a:p>
        </p:txBody>
      </p:sp>
      <p:sp>
        <p:nvSpPr>
          <p:cNvPr id="16" name="TextBox 15"/>
          <p:cNvSpPr txBox="1"/>
          <p:nvPr/>
        </p:nvSpPr>
        <p:spPr>
          <a:xfrm>
            <a:off x="566928" y="6473952"/>
            <a:ext cx="11057839" cy="228600"/>
          </a:xfrm>
          <a:prstGeom prst="rect">
            <a:avLst/>
          </a:prstGeom>
          <a:noFill/>
        </p:spPr>
        <p:txBody>
          <a:bodyPr wrap="none" lIns="0" rIns="0" tIns="0" bIns="0">
            <a:noAutofit/>
          </a:bodyPr>
          <a:lstStyle/>
          <a:p>
            <a:pPr algn="r">
              <a:defRPr sz="1100">
                <a:solidFill>
                  <a:srgbClr val="73706A"/>
                </a:solidFill>
                <a:latin typeface="Avenir Next"/>
                <a:ea typeface="Hiragino Sans"/>
                <a:cs typeface="Hiragino Sans"/>
              </a:defRPr>
            </a:pPr>
            <a:r>
              <a:t>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141413"/>
                </a:solidFill>
                <a:latin typeface="Avenir Next"/>
                <a:ea typeface="Hiragino Sans"/>
                <a:cs typeface="Hiragino Sans"/>
              </a:defRPr>
            </a:pPr>
            <a:r>
              <a:rPr>
                <a:ea typeface="Hiragino Sans"/>
                <a:cs typeface="Hiragino Sans"/>
              </a:rPr>
              <a:t>実測 x が決める比は約 750</a:t>
            </a:r>
          </a:p>
        </p:txBody>
      </p:sp>
      <p:sp>
        <p:nvSpPr>
          <p:cNvPr id="3" name="TextBox 2"/>
          <p:cNvSpPr txBox="1"/>
          <p:nvPr/>
        </p:nvSpPr>
        <p:spPr>
          <a:xfrm>
            <a:off x="566928" y="2597912"/>
            <a:ext cx="11057839" cy="1397000"/>
          </a:xfrm>
          <a:prstGeom prst="rect">
            <a:avLst/>
          </a:prstGeom>
          <a:noFill/>
        </p:spPr>
        <p:txBody>
          <a:bodyPr wrap="none" lIns="0" rIns="0" tIns="0" bIns="0" anchor="ctr">
            <a:noAutofit/>
          </a:bodyPr>
          <a:lstStyle/>
          <a:p>
            <a:pPr algn="ctr">
              <a:defRPr sz="8800" b="1">
                <a:solidFill>
                  <a:srgbClr val="D97757"/>
                </a:solidFill>
                <a:latin typeface="Avenir Next"/>
                <a:ea typeface="Hiragino Sans"/>
                <a:cs typeface="Hiragino Sans"/>
              </a:defRPr>
            </a:pPr>
            <a:r>
              <a:rPr>
                <a:ea typeface="Hiragino Sans"/>
                <a:cs typeface="Hiragino Sans"/>
              </a:rPr>
              <a:t>750 倍</a:t>
            </a:r>
          </a:p>
        </p:txBody>
      </p:sp>
      <p:sp>
        <p:nvSpPr>
          <p:cNvPr id="4" name="Rectangle 3"/>
          <p:cNvSpPr/>
          <p:nvPr/>
        </p:nvSpPr>
        <p:spPr>
          <a:xfrm>
            <a:off x="5638647" y="4013200"/>
            <a:ext cx="914400" cy="3175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4141216"/>
            <a:ext cx="11057839" cy="457200"/>
          </a:xfrm>
          <a:prstGeom prst="rect">
            <a:avLst/>
          </a:prstGeom>
          <a:noFill/>
        </p:spPr>
        <p:txBody>
          <a:bodyPr wrap="none" lIns="0" rIns="0" tIns="0" bIns="0">
            <a:noAutofit/>
          </a:bodyPr>
          <a:lstStyle/>
          <a:p>
            <a:pPr algn="ctr">
              <a:defRPr sz="1600" b="1">
                <a:solidFill>
                  <a:srgbClr val="5A5852"/>
                </a:solidFill>
                <a:latin typeface="Avenir Next"/>
                <a:ea typeface="Hiragino Sans"/>
                <a:cs typeface="Hiragino Sans"/>
              </a:defRPr>
            </a:pPr>
            <a:r>
              <a:rPr spc="40">
                <a:ea typeface="Hiragino Sans"/>
                <a:cs typeface="Hiragino Sans"/>
              </a:rPr>
              <a:t>線間距離 D ÷ 導体の電気的な太さ GMR</a:t>
            </a:r>
          </a:p>
        </p:txBody>
      </p:sp>
      <p:sp>
        <p:nvSpPr>
          <p:cNvPr id="6" name="TextBox 5"/>
          <p:cNvSpPr txBox="1"/>
          <p:nvPr/>
        </p:nvSpPr>
        <p:spPr>
          <a:xfrm>
            <a:off x="566928" y="4598416"/>
            <a:ext cx="11057839" cy="411480"/>
          </a:xfrm>
          <a:prstGeom prst="rect">
            <a:avLst/>
          </a:prstGeom>
          <a:noFill/>
        </p:spPr>
        <p:txBody>
          <a:bodyPr wrap="square" lIns="0" rIns="0" tIns="0" bIns="0">
            <a:noAutofit/>
          </a:bodyPr>
          <a:lstStyle/>
          <a:p>
            <a:pPr algn="ctr"/>
            <a:r>
              <a:rPr sz="1400">
                <a:solidFill>
                  <a:srgbClr val="73706A"/>
                </a:solidFill>
                <a:latin typeface="Avenir Next"/>
                <a:ea typeface="Hiragino Sans"/>
                <a:cs typeface="Hiragino Sans"/>
              </a:rPr>
              <a:t>x = 0.416 Ω/km（50 Hz）→ ln(D/GMR) = 0.416 ÷ 0.0628 = 6.62 → e の 6.62 乗 ≒ 750</a:t>
            </a:r>
          </a:p>
        </p:txBody>
      </p:sp>
      <p:sp>
        <p:nvSpPr>
          <p:cNvPr id="7" name="Rectangle 6"/>
          <p:cNvSpPr/>
          <p:nvPr/>
        </p:nvSpPr>
        <p:spPr>
          <a:xfrm>
            <a:off x="566928" y="6291072"/>
            <a:ext cx="2560320" cy="9525"/>
          </a:xfrm>
          <a:prstGeom prst="rect">
            <a:avLst/>
          </a:prstGeom>
          <a:solidFill>
            <a:srgbClr val="E8E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354572"/>
            <a:ext cx="9960559" cy="365760"/>
          </a:xfrm>
          <a:prstGeom prst="rect">
            <a:avLst/>
          </a:prstGeom>
          <a:noFill/>
        </p:spPr>
        <p:txBody>
          <a:bodyPr wrap="square" lIns="0" rIns="0" tIns="0" bIns="0">
            <a:spAutoFit/>
          </a:bodyPr>
          <a:lstStyle/>
          <a:p>
            <a:r>
              <a:rPr sz="1100">
                <a:solidFill>
                  <a:srgbClr val="73706A"/>
                </a:solidFill>
                <a:latin typeface="Avenir Next"/>
                <a:ea typeface="Hiragino Sans"/>
                <a:cs typeface="Hiragino Sans"/>
              </a:rPr>
              <a:t>様式5 公表インピーダンスを実線形長で割った 187 kV の中央値（n=31 線路・介入 #46）</a:t>
            </a:r>
          </a:p>
        </p:txBody>
      </p:sp>
      <p:sp>
        <p:nvSpPr>
          <p:cNvPr id="9" name="TextBox 8"/>
          <p:cNvSpPr txBox="1"/>
          <p:nvPr/>
        </p:nvSpPr>
        <p:spPr>
          <a:xfrm>
            <a:off x="566928" y="6473952"/>
            <a:ext cx="11057839" cy="228600"/>
          </a:xfrm>
          <a:prstGeom prst="rect">
            <a:avLst/>
          </a:prstGeom>
          <a:noFill/>
        </p:spPr>
        <p:txBody>
          <a:bodyPr wrap="none" lIns="0" rIns="0" tIns="0" bIns="0">
            <a:noAutofit/>
          </a:bodyPr>
          <a:lstStyle/>
          <a:p>
            <a:pPr algn="r">
              <a:defRPr sz="1100">
                <a:solidFill>
                  <a:srgbClr val="73706A"/>
                </a:solidFill>
                <a:latin typeface="Avenir Next"/>
                <a:ea typeface="Hiragino Sans"/>
                <a:cs typeface="Hiragino Sans"/>
              </a:defRPr>
            </a:pPr>
            <a: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141413"/>
                </a:solidFill>
                <a:latin typeface="Avenir Next"/>
                <a:ea typeface="Hiragino Sans"/>
                <a:cs typeface="Hiragino Sans"/>
              </a:defRPr>
            </a:pPr>
            <a:r>
              <a:rPr>
                <a:ea typeface="Hiragino Sans"/>
                <a:cs typeface="Hiragino Sans"/>
              </a:rPr>
              <a:t>太さ 7 倍なら、腕も 7 倍</a:t>
            </a:r>
          </a:p>
        </p:txBody>
      </p:sp>
      <p:pic>
        <p:nvPicPr>
          <p:cNvPr id="3" name="Picture 2" descr="why42m_ratio.png"/>
          <p:cNvPicPr>
            <a:picLocks noChangeAspect="1"/>
          </p:cNvPicPr>
          <p:nvPr/>
        </p:nvPicPr>
        <p:blipFill>
          <a:blip r:embed="rId2"/>
          <a:stretch>
            <a:fillRect/>
          </a:stretch>
        </p:blipFill>
        <p:spPr>
          <a:xfrm>
            <a:off x="2207669" y="1353312"/>
            <a:ext cx="7776356" cy="3547110"/>
          </a:xfrm>
          <a:prstGeom prst="rect">
            <a:avLst/>
          </a:prstGeom>
        </p:spPr>
      </p:pic>
      <p:sp>
        <p:nvSpPr>
          <p:cNvPr id="4" name="TextBox 3"/>
          <p:cNvSpPr txBox="1"/>
          <p:nvPr/>
        </p:nvSpPr>
        <p:spPr>
          <a:xfrm>
            <a:off x="566928" y="5037582"/>
            <a:ext cx="11057839" cy="298450"/>
          </a:xfrm>
          <a:prstGeom prst="rect">
            <a:avLst/>
          </a:prstGeom>
          <a:noFill/>
        </p:spPr>
        <p:txBody>
          <a:bodyPr wrap="square" lIns="0" rIns="0" tIns="0" bIns="0">
            <a:noAutofit/>
          </a:bodyPr>
          <a:lstStyle/>
          <a:p>
            <a:pPr algn="ctr"/>
            <a:r>
              <a:rPr sz="1400">
                <a:solidFill>
                  <a:srgbClr val="73706A"/>
                </a:solidFill>
                <a:latin typeface="Avenir Next"/>
                <a:ea typeface="Hiragino Sans"/>
                <a:cs typeface="Hiragino Sans"/>
              </a:rPr>
              <a:t>どちらの線も「× 約 750」。対数目盛なので同じ長さに見える。緑の帯は 187 kV 鉄塔の線間距離の目安。</a:t>
            </a:r>
          </a:p>
        </p:txBody>
      </p:sp>
      <p:sp>
        <p:nvSpPr>
          <p:cNvPr id="5" name="TextBox 4"/>
          <p:cNvSpPr txBox="1"/>
          <p:nvPr/>
        </p:nvSpPr>
        <p:spPr>
          <a:xfrm>
            <a:off x="566928" y="5518912"/>
            <a:ext cx="11057839" cy="635000"/>
          </a:xfrm>
          <a:prstGeom prst="rect">
            <a:avLst/>
          </a:prstGeom>
          <a:noFill/>
        </p:spPr>
        <p:txBody>
          <a:bodyPr wrap="square" lIns="0" rIns="0" tIns="0" bIns="0">
            <a:spAutoFit/>
          </a:bodyPr>
          <a:lstStyle/>
          <a:p>
            <a:pPr>
              <a:spcBef>
                <a:spcPts val="400"/>
              </a:spcBef>
              <a:buChar char="•"/>
            </a:pPr>
            <a:r>
              <a:rPr sz="1600" b="1">
                <a:solidFill>
                  <a:srgbClr val="141413"/>
                </a:solidFill>
                <a:latin typeface="Avenir Next"/>
                <a:ea typeface="Hiragino Sans"/>
                <a:cs typeface="Hiragino Sans"/>
              </a:rPr>
              <a:t>単導体</a:t>
            </a:r>
            <a:r>
              <a:rPr sz="1600">
                <a:solidFill>
                  <a:srgbClr val="141413"/>
                </a:solidFill>
                <a:latin typeface="Avenir Next"/>
                <a:ea typeface="Hiragino Sans"/>
                <a:cs typeface="Hiragino Sans"/>
              </a:rPr>
              <a:t>: 8 mm × 750 ＝ </a:t>
            </a:r>
            <a:r>
              <a:rPr sz="1600" b="1">
                <a:solidFill>
                  <a:srgbClr val="141413"/>
                </a:solidFill>
                <a:latin typeface="Avenir Next"/>
                <a:ea typeface="Hiragino Sans"/>
                <a:cs typeface="Hiragino Sans"/>
              </a:rPr>
              <a:t>6.0 m</a:t>
            </a:r>
            <a:r>
              <a:rPr sz="1600">
                <a:solidFill>
                  <a:srgbClr val="141413"/>
                </a:solidFill>
                <a:latin typeface="Avenir Next"/>
                <a:ea typeface="Hiragino Sans"/>
                <a:cs typeface="Hiragino Sans"/>
              </a:rPr>
              <a:t> → 鉄塔に収まる</a:t>
            </a:r>
          </a:p>
          <a:p>
            <a:pPr>
              <a:spcBef>
                <a:spcPts val="400"/>
              </a:spcBef>
              <a:buChar char="•"/>
            </a:pPr>
            <a:r>
              <a:rPr sz="1600" b="1">
                <a:solidFill>
                  <a:srgbClr val="141413"/>
                </a:solidFill>
                <a:latin typeface="Avenir Next"/>
                <a:ea typeface="Hiragino Sans"/>
                <a:cs typeface="Hiragino Sans"/>
              </a:rPr>
              <a:t>2 導体</a:t>
            </a:r>
            <a:r>
              <a:rPr sz="1600">
                <a:solidFill>
                  <a:srgbClr val="141413"/>
                </a:solidFill>
                <a:latin typeface="Avenir Next"/>
                <a:ea typeface="Hiragino Sans"/>
                <a:cs typeface="Hiragino Sans"/>
              </a:rPr>
              <a:t>: 57 mm × 750 ＝ </a:t>
            </a:r>
            <a:r>
              <a:rPr sz="1600" b="1">
                <a:solidFill>
                  <a:srgbClr val="141413"/>
                </a:solidFill>
                <a:latin typeface="Avenir Next"/>
                <a:ea typeface="Hiragino Sans"/>
                <a:cs typeface="Hiragino Sans"/>
              </a:rPr>
              <a:t>42 m</a:t>
            </a:r>
            <a:r>
              <a:rPr sz="1600">
                <a:solidFill>
                  <a:srgbClr val="141413"/>
                </a:solidFill>
                <a:latin typeface="Avenir Next"/>
                <a:ea typeface="Hiragino Sans"/>
                <a:cs typeface="Hiragino Sans"/>
              </a:rPr>
              <a:t> → 収まらない。これが「42 m」の正体</a:t>
            </a:r>
          </a:p>
        </p:txBody>
      </p:sp>
      <p:sp>
        <p:nvSpPr>
          <p:cNvPr id="6" name="TextBox 5"/>
          <p:cNvSpPr txBox="1"/>
          <p:nvPr/>
        </p:nvSpPr>
        <p:spPr>
          <a:xfrm>
            <a:off x="566928" y="6473952"/>
            <a:ext cx="11057839" cy="228600"/>
          </a:xfrm>
          <a:prstGeom prst="rect">
            <a:avLst/>
          </a:prstGeom>
          <a:noFill/>
        </p:spPr>
        <p:txBody>
          <a:bodyPr wrap="none" lIns="0" rIns="0" tIns="0" bIns="0">
            <a:noAutofit/>
          </a:bodyPr>
          <a:lstStyle/>
          <a:p>
            <a:pPr algn="r">
              <a:defRPr sz="1100">
                <a:solidFill>
                  <a:srgbClr val="73706A"/>
                </a:solidFill>
                <a:latin typeface="Avenir Next"/>
                <a:ea typeface="Hiragino Sans"/>
                <a:cs typeface="Hiragino Sans"/>
              </a:defRPr>
            </a:pPr>
            <a: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141413"/>
                </a:solidFill>
                <a:latin typeface="Avenir Next"/>
                <a:ea typeface="Hiragino Sans"/>
                <a:cs typeface="Hiragino Sans"/>
              </a:defRPr>
            </a:pPr>
            <a:r>
              <a:rPr>
                <a:ea typeface="Hiragino Sans"/>
                <a:cs typeface="Hiragino Sans"/>
              </a:rPr>
              <a:t>42 m は 14 階建ての高さ</a:t>
            </a:r>
          </a:p>
        </p:txBody>
      </p:sp>
      <p:pic>
        <p:nvPicPr>
          <p:cNvPr id="3" name="Picture 2" descr="tower_scale.png"/>
          <p:cNvPicPr>
            <a:picLocks noChangeAspect="1"/>
          </p:cNvPicPr>
          <p:nvPr/>
        </p:nvPicPr>
        <p:blipFill>
          <a:blip r:embed="rId2"/>
          <a:stretch>
            <a:fillRect/>
          </a:stretch>
        </p:blipFill>
        <p:spPr>
          <a:xfrm>
            <a:off x="2533735" y="713232"/>
            <a:ext cx="7124225" cy="5532120"/>
          </a:xfrm>
          <a:prstGeom prst="rect">
            <a:avLst/>
          </a:prstGeom>
        </p:spPr>
      </p:pic>
      <p:sp>
        <p:nvSpPr>
          <p:cNvPr id="4" name="edge:caption"/>
          <p:cNvSpPr txBox="1"/>
          <p:nvPr/>
        </p:nvSpPr>
        <p:spPr>
          <a:xfrm>
            <a:off x="228600" y="6300216"/>
            <a:ext cx="11734495" cy="310896"/>
          </a:xfrm>
          <a:prstGeom prst="rect">
            <a:avLst/>
          </a:prstGeom>
          <a:noFill/>
        </p:spPr>
        <p:txBody>
          <a:bodyPr wrap="square" lIns="0" rIns="0" tIns="0" bIns="0">
            <a:noAutofit/>
          </a:bodyPr>
          <a:lstStyle/>
          <a:p>
            <a:pPr algn="ctr"/>
            <a:r>
              <a:rPr sz="1400">
                <a:solidFill>
                  <a:srgbClr val="73706A"/>
                </a:solidFill>
                <a:latin typeface="Avenir Next"/>
                <a:ea typeface="Hiragino Sans"/>
                <a:cs typeface="Hiragino Sans"/>
              </a:rPr>
              <a:t>同じ縮尺で並べた。2 導体と仮定すると、187 kV 鉄塔の約 7 倍の腕が必要になる。</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3706A"/>
                </a:solidFill>
                <a:latin typeface="Avenir Next"/>
                <a:ea typeface="Hiragino Sans"/>
                <a:cs typeface="Hiragino Sans"/>
              </a:defRPr>
            </a:pPr>
            <a:r>
              <a:t>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141413"/>
                </a:solidFill>
                <a:latin typeface="Avenir Next"/>
                <a:ea typeface="Hiragino Sans"/>
                <a:cs typeface="Hiragino Sans"/>
              </a:defRPr>
            </a:pPr>
            <a:r>
              <a:rPr>
                <a:ea typeface="Hiragino Sans"/>
                <a:cs typeface="Hiragino Sans"/>
              </a:rPr>
              <a:t>腕 6 m では、2 導体は実測に届かない</a:t>
            </a:r>
          </a:p>
        </p:txBody>
      </p:sp>
      <p:pic>
        <p:nvPicPr>
          <p:cNvPr id="3" name="Picture 2" descr="why42m_curve.png"/>
          <p:cNvPicPr>
            <a:picLocks noChangeAspect="1"/>
          </p:cNvPicPr>
          <p:nvPr/>
        </p:nvPicPr>
        <p:blipFill>
          <a:blip r:embed="rId2"/>
          <a:stretch>
            <a:fillRect/>
          </a:stretch>
        </p:blipFill>
        <p:spPr>
          <a:xfrm>
            <a:off x="918493" y="713232"/>
            <a:ext cx="10354709" cy="5532119"/>
          </a:xfrm>
          <a:prstGeom prst="rect">
            <a:avLst/>
          </a:prstGeom>
        </p:spPr>
      </p:pic>
      <p:sp>
        <p:nvSpPr>
          <p:cNvPr id="4" name="edge:caption"/>
          <p:cNvSpPr txBox="1"/>
          <p:nvPr/>
        </p:nvSpPr>
        <p:spPr>
          <a:xfrm>
            <a:off x="228600" y="6300216"/>
            <a:ext cx="11734495" cy="310896"/>
          </a:xfrm>
          <a:prstGeom prst="rect">
            <a:avLst/>
          </a:prstGeom>
          <a:noFill/>
        </p:spPr>
        <p:txBody>
          <a:bodyPr wrap="square" lIns="0" rIns="0" tIns="0" bIns="0">
            <a:noAutofit/>
          </a:bodyPr>
          <a:lstStyle/>
          <a:p>
            <a:pPr algn="ctr"/>
            <a:r>
              <a:rPr sz="1400">
                <a:solidFill>
                  <a:srgbClr val="73706A"/>
                </a:solidFill>
                <a:latin typeface="Avenir Next"/>
                <a:ea typeface="Hiragino Sans"/>
                <a:cs typeface="Hiragino Sans"/>
              </a:rPr>
              <a:t>青・橙は導体数ごとの x、破線が実測。腕 6 m なら 2 導体は実測の 0.70 倍。届くのは 42 m の点だけ。</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3706A"/>
                </a:solidFill>
                <a:latin typeface="Avenir Next"/>
                <a:ea typeface="Hiragino Sans"/>
                <a:cs typeface="Hiragino Sans"/>
              </a:defRPr>
            </a:pPr>
            <a: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141413"/>
                </a:solidFill>
                <a:latin typeface="Avenir Next"/>
                <a:ea typeface="Hiragino Sans"/>
                <a:cs typeface="Hiragino Sans"/>
              </a:defRPr>
            </a:pPr>
            <a:r>
              <a:rPr>
                <a:ea typeface="Hiragino Sans"/>
                <a:cs typeface="Hiragino Sans"/>
              </a:rPr>
              <a:t>線路ごとに見ても、大半は単導体の寸法</a:t>
            </a:r>
          </a:p>
        </p:txBody>
      </p:sp>
      <p:pic>
        <p:nvPicPr>
          <p:cNvPr id="3" name="Picture 2" descr="why42m_perline.png"/>
          <p:cNvPicPr>
            <a:picLocks noChangeAspect="1"/>
          </p:cNvPicPr>
          <p:nvPr/>
        </p:nvPicPr>
        <p:blipFill>
          <a:blip r:embed="rId2"/>
          <a:stretch>
            <a:fillRect/>
          </a:stretch>
        </p:blipFill>
        <p:spPr>
          <a:xfrm>
            <a:off x="414489" y="713232"/>
            <a:ext cx="11362717" cy="5532120"/>
          </a:xfrm>
          <a:prstGeom prst="rect">
            <a:avLst/>
          </a:prstGeom>
        </p:spPr>
      </p:pic>
      <p:sp>
        <p:nvSpPr>
          <p:cNvPr id="4" name="edge:caption"/>
          <p:cNvSpPr txBox="1"/>
          <p:nvPr/>
        </p:nvSpPr>
        <p:spPr>
          <a:xfrm>
            <a:off x="228600" y="6300216"/>
            <a:ext cx="11734495" cy="310896"/>
          </a:xfrm>
          <a:prstGeom prst="rect">
            <a:avLst/>
          </a:prstGeom>
          <a:noFill/>
        </p:spPr>
        <p:txBody>
          <a:bodyPr wrap="square" lIns="0" rIns="0" tIns="0" bIns="0">
            <a:noAutofit/>
          </a:bodyPr>
          <a:lstStyle/>
          <a:p>
            <a:pPr algn="ctr"/>
            <a:r>
              <a:rPr sz="1400">
                <a:solidFill>
                  <a:srgbClr val="73706A"/>
                </a:solidFill>
                <a:latin typeface="Avenir Next"/>
                <a:ea typeface="Hiragino Sans"/>
                <a:cs typeface="Hiragino Sans"/>
              </a:rPr>
              <a:t>1 行が 1 線路（北海道 10・四国 10、線名は非表示）。青は単導体、橙は 2 導体と仮定したときの必要な線間距離。</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3706A"/>
                </a:solidFill>
                <a:latin typeface="Avenir Next"/>
                <a:ea typeface="Hiragino Sans"/>
                <a:cs typeface="Hiragino Sans"/>
              </a:defRPr>
            </a:pPr>
            <a: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141413"/>
                </a:solidFill>
                <a:latin typeface="Avenir Next"/>
                <a:ea typeface="Hiragino Sans"/>
                <a:cs typeface="Hiragino Sans"/>
              </a:defRPr>
            </a:pPr>
            <a:r>
              <a:rPr>
                <a:ea typeface="Hiragino Sans"/>
                <a:cs typeface="Hiragino Sans"/>
              </a:rPr>
              <a:t>周波数を分けても結論は同じ</a:t>
            </a:r>
          </a:p>
        </p:txBody>
      </p:sp>
      <p:sp>
        <p:nvSpPr>
          <p:cNvPr id="3" name="TextBox 2"/>
          <p:cNvSpPr txBox="1"/>
          <p:nvPr/>
        </p:nvSpPr>
        <p:spPr>
          <a:xfrm>
            <a:off x="566928" y="2204212"/>
            <a:ext cx="11057839" cy="365760"/>
          </a:xfrm>
          <a:prstGeom prst="rect">
            <a:avLst/>
          </a:prstGeom>
          <a:noFill/>
        </p:spPr>
        <p:txBody>
          <a:bodyPr wrap="none" lIns="0" rIns="0" tIns="0" bIns="0">
            <a:noAutofit/>
          </a:bodyPr>
          <a:lstStyle/>
          <a:p>
            <a:pPr>
              <a:defRPr sz="1600" b="1">
                <a:solidFill>
                  <a:srgbClr val="5A5852"/>
                </a:solidFill>
                <a:latin typeface="Avenir Next"/>
                <a:ea typeface="Hiragino Sans"/>
                <a:cs typeface="Hiragino Sans"/>
              </a:defRPr>
            </a:pPr>
            <a:r>
              <a:rPr>
                <a:ea typeface="Hiragino Sans"/>
                <a:cs typeface="Hiragino Sans"/>
              </a:rPr>
              <a:t>50 Hz と 60 Hz で別々に逆算し直した</a:t>
            </a:r>
          </a:p>
        </p:txBody>
      </p:sp>
      <p:graphicFrame>
        <p:nvGraphicFramePr>
          <p:cNvPr id="4" name="Table 3"/>
          <p:cNvGraphicFramePr>
            <a:graphicFrameLocks noGrp="1"/>
          </p:cNvGraphicFramePr>
          <p:nvPr/>
        </p:nvGraphicFramePr>
        <p:xfrm>
          <a:off x="1783290" y="2752852"/>
          <a:ext cx="8625114" cy="1498600"/>
        </p:xfrm>
        <a:graphic>
          <a:graphicData uri="http://schemas.openxmlformats.org/drawingml/2006/table">
            <a:tbl>
              <a:tblPr/>
              <a:tblGrid>
                <a:gridCol w="2721539"/>
                <a:gridCol w="886995"/>
                <a:gridCol w="787400"/>
                <a:gridCol w="1398347"/>
                <a:gridCol w="1424662"/>
                <a:gridCol w="1406171"/>
              </a:tblGrid>
              <a:tr h="374650">
                <a:tc>
                  <a:txBody>
                    <a:bodyPr/>
                    <a:lstStyle/>
                    <a:p>
                      <a:pPr algn="l"/>
                      <a:r>
                        <a:rPr sz="1400" b="1">
                          <a:solidFill>
                            <a:srgbClr val="141413"/>
                          </a:solidFill>
                          <a:latin typeface="Avenir Next"/>
                          <a:ea typeface="Hiragino Sans"/>
                          <a:cs typeface="Hiragino Sans"/>
                        </a:rPr>
                        <a:t>対象</a:t>
                      </a:r>
                    </a:p>
                  </a:txBody>
                  <a:tcPr anchor="ctr" marL="127000" marR="127000" marT="76200" marB="76200">
                    <a:lnB w="12700" cap="flat" cmpd="sng" algn="ctr">
                      <a:solidFill>
                        <a:srgbClr val="141413"/>
                      </a:solidFill>
                      <a:prstDash val="solid"/>
                    </a:lnB>
                    <a:lnT w="15875" cap="flat" cmpd="sng" algn="ctr">
                      <a:solidFill>
                        <a:srgbClr val="141413"/>
                      </a:solidFill>
                      <a:prstDash val="solid"/>
                    </a:lnT>
                    <a:lnR>
                      <a:noFill/>
                    </a:lnR>
                    <a:lnL>
                      <a:noFill/>
                    </a:lnL>
                    <a:noFill/>
                  </a:tcPr>
                </a:tc>
                <a:tc>
                  <a:txBody>
                    <a:bodyPr/>
                    <a:lstStyle/>
                    <a:p>
                      <a:pPr algn="l"/>
                      <a:r>
                        <a:rPr sz="1400" b="1">
                          <a:solidFill>
                            <a:srgbClr val="141413"/>
                          </a:solidFill>
                          <a:latin typeface="Avenir Next"/>
                          <a:ea typeface="Hiragino Sans"/>
                          <a:cs typeface="Hiragino Sans"/>
                        </a:rPr>
                        <a:t>周波数</a:t>
                      </a:r>
                    </a:p>
                  </a:txBody>
                  <a:tcPr anchor="ctr" marL="127000" marR="127000" marT="76200" marB="76200">
                    <a:lnB w="12700" cap="flat" cmpd="sng" algn="ctr">
                      <a:solidFill>
                        <a:srgbClr val="141413"/>
                      </a:solidFill>
                      <a:prstDash val="solid"/>
                    </a:lnB>
                    <a:lnT w="15875" cap="flat" cmpd="sng" algn="ctr">
                      <a:solidFill>
                        <a:srgbClr val="141413"/>
                      </a:solidFill>
                      <a:prstDash val="solid"/>
                    </a:lnT>
                    <a:lnR>
                      <a:noFill/>
                    </a:lnR>
                    <a:lnL>
                      <a:noFill/>
                    </a:lnL>
                    <a:noFill/>
                  </a:tcPr>
                </a:tc>
                <a:tc>
                  <a:txBody>
                    <a:bodyPr/>
                    <a:lstStyle/>
                    <a:p>
                      <a:pPr algn="r"/>
                      <a:r>
                        <a:rPr sz="1400" b="1">
                          <a:solidFill>
                            <a:srgbClr val="141413"/>
                          </a:solidFill>
                          <a:latin typeface="Avenir Next"/>
                          <a:ea typeface="Hiragino Sans"/>
                          <a:cs typeface="Hiragino Sans"/>
                        </a:rPr>
                        <a:t>線路数</a:t>
                      </a:r>
                    </a:p>
                  </a:txBody>
                  <a:tcPr anchor="ctr" marL="127000" marR="127000" marT="76200" marB="76200">
                    <a:lnB w="12700" cap="flat" cmpd="sng" algn="ctr">
                      <a:solidFill>
                        <a:srgbClr val="141413"/>
                      </a:solidFill>
                      <a:prstDash val="solid"/>
                    </a:lnB>
                    <a:lnT w="15875" cap="flat" cmpd="sng" algn="ctr">
                      <a:solidFill>
                        <a:srgbClr val="141413"/>
                      </a:solidFill>
                      <a:prstDash val="solid"/>
                    </a:lnT>
                    <a:lnR>
                      <a:noFill/>
                    </a:lnR>
                    <a:lnL>
                      <a:noFill/>
                    </a:lnL>
                    <a:noFill/>
                  </a:tcPr>
                </a:tc>
                <a:tc>
                  <a:txBody>
                    <a:bodyPr/>
                    <a:lstStyle/>
                    <a:p>
                      <a:pPr algn="l"/>
                      <a:r>
                        <a:rPr sz="1400" b="1">
                          <a:solidFill>
                            <a:srgbClr val="141413"/>
                          </a:solidFill>
                          <a:latin typeface="Avenir Next"/>
                          <a:ea typeface="Hiragino Sans"/>
                          <a:cs typeface="Hiragino Sans"/>
                        </a:rPr>
                        <a:t>x の中央値</a:t>
                      </a:r>
                    </a:p>
                  </a:txBody>
                  <a:tcPr anchor="ctr" marL="127000" marR="127000" marT="76200" marB="76200">
                    <a:lnB w="12700" cap="flat" cmpd="sng" algn="ctr">
                      <a:solidFill>
                        <a:srgbClr val="141413"/>
                      </a:solidFill>
                      <a:prstDash val="solid"/>
                    </a:lnB>
                    <a:lnT w="15875" cap="flat" cmpd="sng" algn="ctr">
                      <a:solidFill>
                        <a:srgbClr val="141413"/>
                      </a:solidFill>
                      <a:prstDash val="solid"/>
                    </a:lnT>
                    <a:lnR>
                      <a:noFill/>
                    </a:lnR>
                    <a:lnL>
                      <a:noFill/>
                    </a:lnL>
                    <a:noFill/>
                  </a:tcPr>
                </a:tc>
                <a:tc>
                  <a:txBody>
                    <a:bodyPr/>
                    <a:lstStyle/>
                    <a:p>
                      <a:pPr algn="l"/>
                      <a:r>
                        <a:rPr sz="1400" b="1">
                          <a:solidFill>
                            <a:srgbClr val="141413"/>
                          </a:solidFill>
                          <a:latin typeface="Avenir Next"/>
                          <a:ea typeface="Hiragino Sans"/>
                          <a:cs typeface="Hiragino Sans"/>
                        </a:rPr>
                        <a:t>単導体なら D</a:t>
                      </a:r>
                    </a:p>
                  </a:txBody>
                  <a:tcPr anchor="ctr" marL="127000" marR="127000" marT="76200" marB="76200">
                    <a:lnB w="12700" cap="flat" cmpd="sng" algn="ctr">
                      <a:solidFill>
                        <a:srgbClr val="141413"/>
                      </a:solidFill>
                      <a:prstDash val="solid"/>
                    </a:lnB>
                    <a:lnT w="15875" cap="flat" cmpd="sng" algn="ctr">
                      <a:solidFill>
                        <a:srgbClr val="141413"/>
                      </a:solidFill>
                      <a:prstDash val="solid"/>
                    </a:lnT>
                    <a:lnR>
                      <a:noFill/>
                    </a:lnR>
                    <a:lnL>
                      <a:noFill/>
                    </a:lnL>
                    <a:noFill/>
                  </a:tcPr>
                </a:tc>
                <a:tc>
                  <a:txBody>
                    <a:bodyPr/>
                    <a:lstStyle/>
                    <a:p>
                      <a:pPr algn="l"/>
                      <a:r>
                        <a:rPr sz="1400" b="1">
                          <a:solidFill>
                            <a:srgbClr val="141413"/>
                          </a:solidFill>
                          <a:latin typeface="Avenir Next"/>
                          <a:ea typeface="Hiragino Sans"/>
                          <a:cs typeface="Hiragino Sans"/>
                        </a:rPr>
                        <a:t>2 導体なら D</a:t>
                      </a:r>
                    </a:p>
                  </a:txBody>
                  <a:tcPr anchor="ctr" marL="127000" marR="127000" marT="76200" marB="76200">
                    <a:lnB w="12700" cap="flat" cmpd="sng" algn="ctr">
                      <a:solidFill>
                        <a:srgbClr val="141413"/>
                      </a:solidFill>
                      <a:prstDash val="solid"/>
                    </a:lnB>
                    <a:lnT w="15875" cap="flat" cmpd="sng" algn="ctr">
                      <a:solidFill>
                        <a:srgbClr val="141413"/>
                      </a:solidFill>
                      <a:prstDash val="solid"/>
                    </a:lnT>
                    <a:lnR>
                      <a:noFill/>
                    </a:lnR>
                    <a:lnL>
                      <a:noFill/>
                    </a:lnL>
                    <a:noFill/>
                  </a:tcPr>
                </a:tc>
              </a:tr>
              <a:tr h="374650">
                <a:tc>
                  <a:txBody>
                    <a:bodyPr/>
                    <a:lstStyle/>
                    <a:p>
                      <a:pPr algn="l"/>
                      <a:r>
                        <a:rPr sz="1400" b="1">
                          <a:solidFill>
                            <a:srgbClr val="5A5852"/>
                          </a:solidFill>
                          <a:latin typeface="Avenir Next"/>
                          <a:ea typeface="Hiragino Sans"/>
                          <a:cs typeface="Hiragino Sans"/>
                        </a:rPr>
                        <a:t>北海道</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50 Hz</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r"/>
                      <a:r>
                        <a:rPr sz="1400">
                          <a:solidFill>
                            <a:srgbClr val="141413"/>
                          </a:solidFill>
                          <a:latin typeface="Avenir Next"/>
                          <a:ea typeface="Hiragino Sans"/>
                          <a:cs typeface="Hiragino Sans"/>
                        </a:rPr>
                        <a:t>10</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0.414 Ω/km</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5.8 m</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41 m</a:t>
                      </a:r>
                    </a:p>
                  </a:txBody>
                  <a:tcPr anchor="ctr" marL="127000" marR="127000" marT="76200" marB="76200">
                    <a:lnB w="6350" cap="flat" cmpd="sng" algn="ctr">
                      <a:solidFill>
                        <a:srgbClr val="E8E6DC"/>
                      </a:solidFill>
                      <a:prstDash val="solid"/>
                    </a:lnB>
                    <a:lnT>
                      <a:noFill/>
                    </a:lnT>
                    <a:lnR>
                      <a:noFill/>
                    </a:lnR>
                    <a:lnL>
                      <a:noFill/>
                    </a:lnL>
                    <a:noFill/>
                  </a:tcPr>
                </a:tc>
              </a:tr>
              <a:tr h="374650">
                <a:tc>
                  <a:txBody>
                    <a:bodyPr/>
                    <a:lstStyle/>
                    <a:p>
                      <a:pPr algn="l"/>
                      <a:r>
                        <a:rPr sz="1400" b="1">
                          <a:solidFill>
                            <a:srgbClr val="5A5852"/>
                          </a:solidFill>
                          <a:latin typeface="Avenir Next"/>
                          <a:ea typeface="Hiragino Sans"/>
                          <a:cs typeface="Hiragino Sans"/>
                        </a:rPr>
                        <a:t>四国</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60 Hz</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r"/>
                      <a:r>
                        <a:rPr sz="1400">
                          <a:solidFill>
                            <a:srgbClr val="141413"/>
                          </a:solidFill>
                          <a:latin typeface="Avenir Next"/>
                          <a:ea typeface="Hiragino Sans"/>
                          <a:cs typeface="Hiragino Sans"/>
                        </a:rPr>
                        <a:t>10</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0.493 Ω/km</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5.6 m</a:t>
                      </a:r>
                    </a:p>
                  </a:txBody>
                  <a:tcPr anchor="ctr" marL="127000" marR="127000" marT="76200" marB="76200">
                    <a:lnB w="6350" cap="flat" cmpd="sng" algn="ctr">
                      <a:solidFill>
                        <a:srgbClr val="E8E6DC"/>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39 m</a:t>
                      </a:r>
                    </a:p>
                  </a:txBody>
                  <a:tcPr anchor="ctr" marL="127000" marR="127000" marT="76200" marB="76200">
                    <a:lnB w="6350" cap="flat" cmpd="sng" algn="ctr">
                      <a:solidFill>
                        <a:srgbClr val="E8E6DC"/>
                      </a:solidFill>
                      <a:prstDash val="solid"/>
                    </a:lnB>
                    <a:lnT>
                      <a:noFill/>
                    </a:lnT>
                    <a:lnR>
                      <a:noFill/>
                    </a:lnR>
                    <a:lnL>
                      <a:noFill/>
                    </a:lnL>
                    <a:noFill/>
                  </a:tcPr>
                </a:tc>
              </a:tr>
              <a:tr h="374650">
                <a:tc>
                  <a:txBody>
                    <a:bodyPr/>
                    <a:lstStyle/>
                    <a:p>
                      <a:pPr algn="l"/>
                      <a:r>
                        <a:rPr sz="1400" b="1">
                          <a:solidFill>
                            <a:srgbClr val="5A5852"/>
                          </a:solidFill>
                          <a:latin typeface="Avenir Next"/>
                          <a:ea typeface="Hiragino Sans"/>
                          <a:cs typeface="Hiragino Sans"/>
                        </a:rPr>
                        <a:t>元の計算（全線 50 Hz 扱い）</a:t>
                      </a:r>
                    </a:p>
                  </a:txBody>
                  <a:tcPr anchor="ctr" marL="127000" marR="127000" marT="76200" marB="76200">
                    <a:lnB w="15875" cap="flat" cmpd="sng" algn="ctr">
                      <a:solidFill>
                        <a:srgbClr val="141413"/>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50 Hz</a:t>
                      </a:r>
                    </a:p>
                  </a:txBody>
                  <a:tcPr anchor="ctr" marL="127000" marR="127000" marT="76200" marB="76200">
                    <a:lnB w="15875" cap="flat" cmpd="sng" algn="ctr">
                      <a:solidFill>
                        <a:srgbClr val="141413"/>
                      </a:solidFill>
                      <a:prstDash val="solid"/>
                    </a:lnB>
                    <a:lnT>
                      <a:noFill/>
                    </a:lnT>
                    <a:lnR>
                      <a:noFill/>
                    </a:lnR>
                    <a:lnL>
                      <a:noFill/>
                    </a:lnL>
                    <a:noFill/>
                  </a:tcPr>
                </a:tc>
                <a:tc>
                  <a:txBody>
                    <a:bodyPr/>
                    <a:lstStyle/>
                    <a:p>
                      <a:pPr algn="r"/>
                      <a:r>
                        <a:rPr sz="1400">
                          <a:solidFill>
                            <a:srgbClr val="141413"/>
                          </a:solidFill>
                          <a:latin typeface="Avenir Next"/>
                          <a:ea typeface="Hiragino Sans"/>
                          <a:cs typeface="Hiragino Sans"/>
                        </a:rPr>
                        <a:t>31</a:t>
                      </a:r>
                    </a:p>
                  </a:txBody>
                  <a:tcPr anchor="ctr" marL="127000" marR="127000" marT="76200" marB="76200">
                    <a:lnB w="15875" cap="flat" cmpd="sng" algn="ctr">
                      <a:solidFill>
                        <a:srgbClr val="141413"/>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0.416 Ω/km</a:t>
                      </a:r>
                    </a:p>
                  </a:txBody>
                  <a:tcPr anchor="ctr" marL="127000" marR="127000" marT="76200" marB="76200">
                    <a:lnB w="15875" cap="flat" cmpd="sng" algn="ctr">
                      <a:solidFill>
                        <a:srgbClr val="141413"/>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6.0 m</a:t>
                      </a:r>
                    </a:p>
                  </a:txBody>
                  <a:tcPr anchor="ctr" marL="127000" marR="127000" marT="76200" marB="76200">
                    <a:lnB w="15875" cap="flat" cmpd="sng" algn="ctr">
                      <a:solidFill>
                        <a:srgbClr val="141413"/>
                      </a:solidFill>
                      <a:prstDash val="solid"/>
                    </a:lnB>
                    <a:lnT>
                      <a:noFill/>
                    </a:lnT>
                    <a:lnR>
                      <a:noFill/>
                    </a:lnR>
                    <a:lnL>
                      <a:noFill/>
                    </a:lnL>
                    <a:noFill/>
                  </a:tcPr>
                </a:tc>
                <a:tc>
                  <a:txBody>
                    <a:bodyPr/>
                    <a:lstStyle/>
                    <a:p>
                      <a:pPr algn="l"/>
                      <a:r>
                        <a:rPr sz="1400">
                          <a:solidFill>
                            <a:srgbClr val="141413"/>
                          </a:solidFill>
                          <a:latin typeface="Avenir Next"/>
                          <a:ea typeface="Hiragino Sans"/>
                          <a:cs typeface="Hiragino Sans"/>
                        </a:rPr>
                        <a:t>42 m</a:t>
                      </a:r>
                    </a:p>
                  </a:txBody>
                  <a:tcPr anchor="ctr" marL="127000" marR="127000" marT="76200" marB="76200">
                    <a:lnB w="15875" cap="flat" cmpd="sng" algn="ctr">
                      <a:solidFill>
                        <a:srgbClr val="141413"/>
                      </a:solidFill>
                      <a:prstDash val="solid"/>
                    </a:lnB>
                    <a:lnT>
                      <a:noFill/>
                    </a:lnT>
                    <a:lnR>
                      <a:noFill/>
                    </a:lnR>
                    <a:lnL>
                      <a:noFill/>
                    </a:lnL>
                    <a:noFill/>
                  </a:tcPr>
                </a:tc>
              </a:tr>
            </a:tbl>
          </a:graphicData>
        </a:graphic>
      </p:graphicFrame>
      <p:sp>
        <p:nvSpPr>
          <p:cNvPr id="5" name="Rounded Rectangle 4"/>
          <p:cNvSpPr/>
          <p:nvPr/>
        </p:nvSpPr>
        <p:spPr>
          <a:xfrm>
            <a:off x="566928" y="4434332"/>
            <a:ext cx="11057839" cy="822960"/>
          </a:xfrm>
          <a:prstGeom prst="roundRect">
            <a:avLst>
              <a:gd name="adj" fmla="val 3500"/>
            </a:avLst>
          </a:prstGeom>
          <a:solidFill>
            <a:srgbClr val="FFFFFF"/>
          </a:solidFill>
          <a:ln w="9525">
            <a:solidFill>
              <a:srgbClr val="E8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4434332"/>
            <a:ext cx="50800" cy="822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4535932"/>
            <a:ext cx="10626039" cy="619760"/>
          </a:xfrm>
          <a:prstGeom prst="rect">
            <a:avLst/>
          </a:prstGeom>
          <a:noFill/>
        </p:spPr>
        <p:txBody>
          <a:bodyPr wrap="square" lIns="0" rIns="0" tIns="0" bIns="0" anchor="ctr">
            <a:noAutofit/>
          </a:bodyPr>
          <a:lstStyle/>
          <a:p>
            <a:pPr>
              <a:spcBef>
                <a:spcPts val="400"/>
              </a:spcBef>
            </a:pPr>
            <a:r>
              <a:rPr sz="1500">
                <a:solidFill>
                  <a:srgbClr val="141413"/>
                </a:solidFill>
                <a:latin typeface="Avenir Next"/>
                <a:ea typeface="Hiragino Sans"/>
                <a:cs typeface="Hiragino Sans"/>
              </a:rPr>
              <a:t>四国の x が高いのは 60 Hz だから。周波数で割り戻すと、2 社は同じ寸法を指す。</a:t>
            </a:r>
          </a:p>
        </p:txBody>
      </p:sp>
      <p:sp>
        <p:nvSpPr>
          <p:cNvPr id="8" name="Rectangle 7"/>
          <p:cNvSpPr/>
          <p:nvPr/>
        </p:nvSpPr>
        <p:spPr>
          <a:xfrm>
            <a:off x="566928" y="6291072"/>
            <a:ext cx="2560320" cy="9525"/>
          </a:xfrm>
          <a:prstGeom prst="rect">
            <a:avLst/>
          </a:prstGeom>
          <a:solidFill>
            <a:srgbClr val="E8E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354572"/>
            <a:ext cx="9960559" cy="365760"/>
          </a:xfrm>
          <a:prstGeom prst="rect">
            <a:avLst/>
          </a:prstGeom>
          <a:noFill/>
        </p:spPr>
        <p:txBody>
          <a:bodyPr wrap="square" lIns="0" rIns="0" tIns="0" bIns="0">
            <a:spAutoFit/>
          </a:bodyPr>
          <a:lstStyle/>
          <a:p>
            <a:r>
              <a:rPr sz="1100">
                <a:solidFill>
                  <a:srgbClr val="73706A"/>
                </a:solidFill>
                <a:latin typeface="Avenir Next"/>
                <a:ea typeface="Hiragino Sans"/>
                <a:cs typeface="Hiragino Sans"/>
              </a:rPr>
              <a:t>元の計算は四国の線路も 50 Hz として扱っていた。分けると 42 m → 39〜41 m になるが、6 m との桁の差は変わらない。</a:t>
            </a:r>
          </a:p>
        </p:txBody>
      </p:sp>
      <p:sp>
        <p:nvSpPr>
          <p:cNvPr id="10" name="TextBox 9"/>
          <p:cNvSpPr txBox="1"/>
          <p:nvPr/>
        </p:nvSpPr>
        <p:spPr>
          <a:xfrm>
            <a:off x="566928" y="6473952"/>
            <a:ext cx="11057839" cy="228600"/>
          </a:xfrm>
          <a:prstGeom prst="rect">
            <a:avLst/>
          </a:prstGeom>
          <a:noFill/>
        </p:spPr>
        <p:txBody>
          <a:bodyPr wrap="none" lIns="0" rIns="0" tIns="0" bIns="0">
            <a:noAutofit/>
          </a:bodyPr>
          <a:lstStyle/>
          <a:p>
            <a:pPr algn="r">
              <a:defRPr sz="1100">
                <a:solidFill>
                  <a:srgbClr val="73706A"/>
                </a:solidFill>
                <a:latin typeface="Avenir Next"/>
                <a:ea typeface="Hiragino Sans"/>
                <a:cs typeface="Hiragino Sans"/>
              </a:defRPr>
            </a:pPr>
            <a: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141413"/>
                </a:solidFill>
                <a:latin typeface="Avenir Next"/>
                <a:ea typeface="Hiragino Sans"/>
                <a:cs typeface="Hiragino Sans"/>
              </a:defRPr>
            </a:pPr>
            <a:r>
              <a:rPr>
                <a:ea typeface="Hiragino Sans"/>
                <a:cs typeface="Hiragino Sans"/>
              </a:rPr>
              <a:t>言えること・まだ言えないこと</a:t>
            </a:r>
          </a:p>
        </p:txBody>
      </p:sp>
      <p:sp>
        <p:nvSpPr>
          <p:cNvPr id="3" name="Rounded Rectangle 2"/>
          <p:cNvSpPr/>
          <p:nvPr/>
        </p:nvSpPr>
        <p:spPr>
          <a:xfrm>
            <a:off x="566928" y="1719072"/>
            <a:ext cx="5391759" cy="4023360"/>
          </a:xfrm>
          <a:prstGeom prst="roundRect">
            <a:avLst>
              <a:gd name="adj" fmla="val 3500"/>
            </a:avLst>
          </a:prstGeom>
          <a:solidFill>
            <a:srgbClr val="EFF4F1"/>
          </a:solidFill>
          <a:ln w="9525">
            <a:solidFill>
              <a:srgbClr val="9FB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719072"/>
            <a:ext cx="5391759" cy="566928"/>
          </a:xfrm>
          <a:prstGeom prst="rect">
            <a:avLst/>
          </a:prstGeom>
          <a:solidFill>
            <a:srgbClr val="3F7A5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3200"/>
          <a:lstStyle/>
          <a:p>
            <a:pPr algn="ctr">
              <a:defRPr sz="1800" b="1">
                <a:solidFill>
                  <a:srgbClr val="FFFFFF"/>
                </a:solidFill>
                <a:latin typeface="Avenir Next"/>
                <a:ea typeface="Hiragino Sans"/>
                <a:cs typeface="Hiragino Sans"/>
              </a:defRPr>
            </a:pPr>
            <a:r>
              <a:rPr>
                <a:ea typeface="Hiragino Sans"/>
                <a:cs typeface="Hiragino Sans"/>
              </a:rPr>
              <a:t>✓  Pros</a:t>
            </a:r>
          </a:p>
        </p:txBody>
      </p:sp>
      <p:sp>
        <p:nvSpPr>
          <p:cNvPr id="5" name="TextBox 4"/>
          <p:cNvSpPr txBox="1"/>
          <p:nvPr/>
        </p:nvSpPr>
        <p:spPr>
          <a:xfrm>
            <a:off x="770128" y="2438400"/>
            <a:ext cx="4985359" cy="3151632"/>
          </a:xfrm>
          <a:prstGeom prst="rect">
            <a:avLst/>
          </a:prstGeom>
          <a:noFill/>
        </p:spPr>
        <p:txBody>
          <a:bodyPr wrap="square" lIns="0" rIns="0" tIns="0" bIns="0">
            <a:noAutofit/>
          </a:bodyPr>
          <a:lstStyle/>
          <a:p>
            <a:pPr>
              <a:spcBef>
                <a:spcPts val="800"/>
              </a:spcBef>
            </a:pPr>
            <a:r>
              <a:rPr sz="1500">
                <a:solidFill>
                  <a:srgbClr val="141413"/>
                </a:solidFill>
                <a:latin typeface="Avenir Next"/>
                <a:ea typeface="Hiragino Sans"/>
                <a:cs typeface="Hiragino Sans"/>
              </a:rPr>
              <a:t>✓  「187 kV は全線 2 導体」は実測と桁で合わない（約 40 m 対 6 m）</a:t>
            </a:r>
          </a:p>
          <a:p>
            <a:pPr>
              <a:spcBef>
                <a:spcPts val="800"/>
              </a:spcBef>
            </a:pPr>
            <a:r>
              <a:rPr sz="1500">
                <a:solidFill>
                  <a:srgbClr val="141413"/>
                </a:solidFill>
                <a:latin typeface="Avenir Next"/>
                <a:ea typeface="Hiragino Sans"/>
                <a:cs typeface="Hiragino Sans"/>
              </a:rPr>
              <a:t>✓  周波数の違う 2 社が、別々に同じ寸法を指す</a:t>
            </a:r>
          </a:p>
          <a:p>
            <a:pPr>
              <a:spcBef>
                <a:spcPts val="800"/>
              </a:spcBef>
            </a:pPr>
            <a:r>
              <a:rPr sz="1500">
                <a:solidFill>
                  <a:srgbClr val="141413"/>
                </a:solidFill>
                <a:latin typeface="Avenir Next"/>
                <a:ea typeface="Hiragino Sans"/>
                <a:cs typeface="Hiragino Sans"/>
              </a:rPr>
              <a:t>✓  抵抗も同じ向きにずれている（設定の 1.49 倍）</a:t>
            </a:r>
          </a:p>
        </p:txBody>
      </p:sp>
      <p:sp>
        <p:nvSpPr>
          <p:cNvPr id="6" name="Rounded Rectangle 5"/>
          <p:cNvSpPr/>
          <p:nvPr/>
        </p:nvSpPr>
        <p:spPr>
          <a:xfrm>
            <a:off x="6233007" y="1719072"/>
            <a:ext cx="5391759" cy="4023360"/>
          </a:xfrm>
          <a:prstGeom prst="roundRect">
            <a:avLst>
              <a:gd name="adj" fmla="val 3500"/>
            </a:avLst>
          </a:prstGeom>
          <a:solidFill>
            <a:srgbClr val="F8F0EF"/>
          </a:solidFill>
          <a:ln w="9525">
            <a:solidFill>
              <a:srgbClr val="D3A2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33007" y="1719072"/>
            <a:ext cx="5391759" cy="566928"/>
          </a:xfrm>
          <a:prstGeom prst="rect">
            <a:avLst/>
          </a:prstGeom>
          <a:solidFill>
            <a:srgbClr val="A8453A"/>
          </a:solidFill>
          <a:ln>
            <a:noFill/>
          </a:ln>
          <a:effectLst/>
        </p:spPr>
        <p:style>
          <a:lnRef idx="1">
            <a:schemeClr val="accent1"/>
          </a:lnRef>
          <a:fillRef idx="3">
            <a:schemeClr val="accent1"/>
          </a:fillRef>
          <a:effectRef idx="2">
            <a:schemeClr val="accent1"/>
          </a:effectRef>
          <a:fontRef idx="minor">
            <a:schemeClr val="lt1"/>
          </a:fontRef>
        </p:style>
        <p:txBody>
          <a:bodyPr rtlCol="0" anchor="ctr" lIns="203200"/>
          <a:lstStyle/>
          <a:p>
            <a:pPr algn="ctr">
              <a:defRPr sz="1800" b="1">
                <a:solidFill>
                  <a:srgbClr val="FFFFFF"/>
                </a:solidFill>
                <a:latin typeface="Avenir Next"/>
                <a:ea typeface="Hiragino Sans"/>
                <a:cs typeface="Hiragino Sans"/>
              </a:defRPr>
            </a:pPr>
            <a:r>
              <a:rPr>
                <a:ea typeface="Hiragino Sans"/>
                <a:cs typeface="Hiragino Sans"/>
              </a:rPr>
              <a:t>✗  Cons</a:t>
            </a:r>
          </a:p>
        </p:txBody>
      </p:sp>
      <p:sp>
        <p:nvSpPr>
          <p:cNvPr id="8" name="TextBox 7"/>
          <p:cNvSpPr txBox="1"/>
          <p:nvPr/>
        </p:nvSpPr>
        <p:spPr>
          <a:xfrm>
            <a:off x="6436207" y="2438400"/>
            <a:ext cx="4985359" cy="3151632"/>
          </a:xfrm>
          <a:prstGeom prst="rect">
            <a:avLst/>
          </a:prstGeom>
          <a:noFill/>
        </p:spPr>
        <p:txBody>
          <a:bodyPr wrap="square" lIns="0" rIns="0" tIns="0" bIns="0">
            <a:noAutofit/>
          </a:bodyPr>
          <a:lstStyle/>
          <a:p>
            <a:pPr>
              <a:spcBef>
                <a:spcPts val="800"/>
              </a:spcBef>
            </a:pPr>
            <a:r>
              <a:rPr sz="1500">
                <a:solidFill>
                  <a:srgbClr val="141413"/>
                </a:solidFill>
                <a:latin typeface="Avenir Next"/>
                <a:ea typeface="Hiragino Sans"/>
                <a:cs typeface="Hiragino Sans"/>
              </a:rPr>
              <a:t>✗  どの線路が 2 導体かは一次資料で確認が要る</a:t>
            </a:r>
          </a:p>
          <a:p>
            <a:pPr>
              <a:spcBef>
                <a:spcPts val="800"/>
              </a:spcBef>
            </a:pPr>
            <a:r>
              <a:rPr sz="1500">
                <a:solidFill>
                  <a:srgbClr val="141413"/>
                </a:solidFill>
                <a:latin typeface="Avenir Next"/>
                <a:ea typeface="Hiragino Sans"/>
                <a:cs typeface="Hiragino Sans"/>
              </a:rPr>
              <a:t>✗  抵抗 1.49 倍は「単導体なら 2 倍」に届かない</a:t>
            </a:r>
          </a:p>
          <a:p>
            <a:pPr>
              <a:spcBef>
                <a:spcPts val="800"/>
              </a:spcBef>
            </a:pPr>
            <a:r>
              <a:rPr sz="1500">
                <a:solidFill>
                  <a:srgbClr val="141413"/>
                </a:solidFill>
                <a:latin typeface="Avenir Next"/>
                <a:ea typeface="Hiragino Sans"/>
                <a:cs typeface="Hiragino Sans"/>
              </a:rPr>
              <a:t>✗  鉄塔寸法 4.5〜6.5 m は想定値で出典未確認</a:t>
            </a:r>
          </a:p>
          <a:p>
            <a:pPr>
              <a:spcBef>
                <a:spcPts val="800"/>
              </a:spcBef>
            </a:pPr>
            <a:r>
              <a:rPr sz="1500">
                <a:solidFill>
                  <a:srgbClr val="141413"/>
                </a:solidFill>
                <a:latin typeface="Avenir Next"/>
                <a:ea typeface="Hiragino Sans"/>
                <a:cs typeface="Hiragino Sans"/>
              </a:rPr>
              <a:t>✗  220・500・66 kV は同じ方法で説明できない</a:t>
            </a:r>
          </a:p>
        </p:txBody>
      </p:sp>
      <p:sp>
        <p:nvSpPr>
          <p:cNvPr id="9" name="TextBox 8"/>
          <p:cNvSpPr txBox="1"/>
          <p:nvPr/>
        </p:nvSpPr>
        <p:spPr>
          <a:xfrm>
            <a:off x="566928" y="6473952"/>
            <a:ext cx="11057839" cy="228600"/>
          </a:xfrm>
          <a:prstGeom prst="rect">
            <a:avLst/>
          </a:prstGeom>
          <a:noFill/>
        </p:spPr>
        <p:txBody>
          <a:bodyPr wrap="none" lIns="0" rIns="0" tIns="0" bIns="0">
            <a:noAutofit/>
          </a:bodyPr>
          <a:lstStyle/>
          <a:p>
            <a:pPr algn="r">
              <a:defRPr sz="1100">
                <a:solidFill>
                  <a:srgbClr val="73706A"/>
                </a:solidFill>
                <a:latin typeface="Avenir Next"/>
                <a:ea typeface="Hiragino Sans"/>
                <a:cs typeface="Hiragino Sans"/>
              </a:defRPr>
            </a:pPr>
            <a: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141413"/>
                </a:solidFill>
                <a:latin typeface="Avenir Next"/>
                <a:ea typeface="Hiragino Sans"/>
                <a:cs typeface="Hiragino Sans"/>
              </a:defRPr>
            </a:pPr>
            <a:r>
              <a:rPr>
                <a:ea typeface="Hiragino Sans"/>
                <a:cs typeface="Hiragino Sans"/>
              </a:rPr>
              <a:t>持ち帰ってほしいこと</a:t>
            </a:r>
          </a:p>
        </p:txBody>
      </p:sp>
      <p:sp>
        <p:nvSpPr>
          <p:cNvPr id="3" name="Rectangle 2"/>
          <p:cNvSpPr/>
          <p:nvPr/>
        </p:nvSpPr>
        <p:spPr>
          <a:xfrm>
            <a:off x="5547207" y="2171954"/>
            <a:ext cx="1097280" cy="3175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2373122"/>
            <a:ext cx="10143439" cy="1409700"/>
          </a:xfrm>
          <a:prstGeom prst="rect">
            <a:avLst/>
          </a:prstGeom>
          <a:noFill/>
        </p:spPr>
        <p:txBody>
          <a:bodyPr wrap="square" lIns="0" rIns="0" tIns="0" bIns="0">
            <a:noAutofit/>
          </a:bodyPr>
          <a:lstStyle/>
          <a:p>
            <a:pPr algn="ctr">
              <a:lnSpc>
                <a:spcPct val="106000"/>
              </a:lnSpc>
            </a:pPr>
            <a:r>
              <a:rPr sz="2800" b="1">
                <a:solidFill>
                  <a:srgbClr val="141413"/>
                </a:solidFill>
                <a:latin typeface="Avenir Next"/>
                <a:ea typeface="Hiragino Sans"/>
                <a:cs typeface="Hiragino Sans"/>
              </a:rPr>
              <a:t>実測が決めるのは「線間距離 ÷ 導体の太さ」だけ。2 導体で太さが 7 倍なら腕も 7 倍の 42 m が要るので、「全線 2 導体」は捨てられる</a:t>
            </a:r>
          </a:p>
        </p:txBody>
      </p:sp>
      <p:sp>
        <p:nvSpPr>
          <p:cNvPr id="5" name="TextBox 4"/>
          <p:cNvSpPr txBox="1"/>
          <p:nvPr/>
        </p:nvSpPr>
        <p:spPr>
          <a:xfrm>
            <a:off x="1847088" y="4148582"/>
            <a:ext cx="8497519" cy="939800"/>
          </a:xfrm>
          <a:prstGeom prst="rect">
            <a:avLst/>
          </a:prstGeom>
          <a:noFill/>
        </p:spPr>
        <p:txBody>
          <a:bodyPr wrap="square" lIns="0" rIns="0" tIns="0" bIns="0">
            <a:noAutofit/>
          </a:bodyPr>
          <a:lstStyle/>
          <a:p>
            <a:pPr>
              <a:spcBef>
                <a:spcPts val="800"/>
              </a:spcBef>
            </a:pPr>
            <a:r>
              <a:rPr sz="1600">
                <a:solidFill>
                  <a:srgbClr val="141413"/>
                </a:solidFill>
                <a:latin typeface="Avenir Next"/>
                <a:ea typeface="Hiragino Sans"/>
                <a:cs typeface="Hiragino Sans"/>
              </a:rPr>
              <a:t>•  単導体なら 6.0 m で、187 kV 鉄塔の寸法にそのまま合う</a:t>
            </a:r>
          </a:p>
          <a:p>
            <a:pPr>
              <a:spcBef>
                <a:spcPts val="800"/>
              </a:spcBef>
            </a:pPr>
            <a:r>
              <a:rPr sz="1600">
                <a:solidFill>
                  <a:srgbClr val="141413"/>
                </a:solidFill>
                <a:latin typeface="Avenir Next"/>
                <a:ea typeface="Hiragino Sans"/>
                <a:cs typeface="Hiragino Sans"/>
              </a:rPr>
              <a:t>•  線路ごとでも 20 線路中 14 線路が単導体の寸法。4 線路は 2 導体の可能性</a:t>
            </a:r>
          </a:p>
          <a:p>
            <a:pPr>
              <a:spcBef>
                <a:spcPts val="800"/>
              </a:spcBef>
            </a:pPr>
            <a:r>
              <a:rPr sz="1600">
                <a:solidFill>
                  <a:srgbClr val="141413"/>
                </a:solidFill>
                <a:latin typeface="Avenir Next"/>
                <a:ea typeface="Hiragino Sans"/>
                <a:cs typeface="Hiragino Sans"/>
              </a:rPr>
              <a:t>•  次の一手: 線路ごとの導体方式を一次資料で集める（issue #56）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