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タイトルと所属だけ読み、すぐ次へ。数値は一切言わない。0:30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公開モデルは柵の外まで。中は事業者図面。だからこの3つができない。右へ振って「しかし中は公開データに写っている」。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結論を先に言う。④は論文に載っていないと最初に宣言し、以後この線引きの質問を発生させない。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先に現物。以降の説明は全部「この1枚をなぜ信じてよいか」の話。●■▲を指して『証拠の強さが線の描き方に出ている』を1回だけ言い切る。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先行研究は変電所を1ノードに畳む。中身が出る場合もそれは抽出ではなく仮定。TTPLAは検出器ではなく人手トリアージの経路として軽く使う、と1文添える。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命題1は運用上の意味に翻訳して読む。最後の『完全性は主張しない、だから測る』はゆっくり。ここが後半の受け取り方を決める。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 で見た破線スタブはここで決まっている、と現物に戻して繋ぐ。ゲートは実例で締める。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効かせどころは『少なくともこれだけある／過大評価しない側に誤る』。証明骨子は読み上げず、A1・A2 を指して20秒で通す。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第三の値を置いたことが要点。実測パーセンテージはこの枚では言わず S11 に集約する。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事実の羅列で速く抜ける。母線・ベイ・変圧器の件数はここで出さない（S13 に一本化）。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発表の重心。図の値をそのまま読む。最後の一文を言い切って S12 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『14件をレビューし、うち9件（64%）が…』『残りは GIS または屋内設備で…』と件数を出さずに述べる。被覆率統計が作業に変わった、が落とし所。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『推定母線は CGMES でも推定のまま』を必ず言う。件数の差（構造DB 5,228 vs CIM 4,743）は電圧階級が確定しない分を出さないため、と口頭で自己開示する。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限界を先に自分から出し、結論一文で閉じる。質疑中も投影し続けられる面。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質疑用。『Algorithm はどう動くのか』『推定母線は捏造では』に対して出す。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質疑専用。冒頭で必ず『論文未収載』と断る。開閉器は導出であって観測ではない、ループは事実だが被覆に縛られる、と3層で格付けして話す。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960120"/>
            <a:ext cx="10607040" cy="822960"/>
          </a:xfrm>
          <a:prstGeom prst="rect">
            <a:avLst/>
          </a:prstGeom>
          <a:noFill/>
          <a:ln/>
        </p:spPr>
        <p:txBody>
          <a:bodyPr wrap="square" lIns="0" tIns="0" rIns="0" bIns="0" rtlCol="0" anchor="ctr"/>
          <a:lstStyle/>
          <a:p>
            <a:pPr indent="0" marL="0">
              <a:buNone/>
            </a:pPr>
            <a:r>
              <a:rPr lang="en-US" sz="3200" b="1" dirty="0">
                <a:solidFill>
                  <a:srgbClr val="1A1A1A"/>
                </a:solidFill>
                <a:latin typeface="Hiragino Sans" pitchFamily="34" charset="0"/>
                <a:ea typeface="Hiragino Sans" pitchFamily="34" charset="-122"/>
                <a:cs typeface="Hiragino Sans" pitchFamily="34" charset="-120"/>
              </a:rPr>
              <a:t>SubSLD：公開地理データから変電所の中を描く</a:t>
            </a:r>
            <a:endParaRPr lang="en-US" sz="3200" dirty="0"/>
          </a:p>
        </p:txBody>
      </p:sp>
      <p:sp>
        <p:nvSpPr>
          <p:cNvPr id="3" name="Text 1"/>
          <p:cNvSpPr/>
          <p:nvPr/>
        </p:nvSpPr>
        <p:spPr>
          <a:xfrm>
            <a:off x="850392" y="1874520"/>
            <a:ext cx="10515600" cy="777240"/>
          </a:xfrm>
          <a:prstGeom prst="rect">
            <a:avLst/>
          </a:prstGeom>
          <a:noFill/>
          <a:ln/>
        </p:spPr>
        <p:txBody>
          <a:bodyPr wrap="square" lIns="0" tIns="0" rIns="0" bIns="0" rtlCol="0" anchor="ctr"/>
          <a:lstStyle/>
          <a:p>
            <a:pPr indent="0" marL="0">
              <a:lnSpc>
                <a:spcPts val="2200"/>
              </a:lnSpc>
              <a:buNone/>
            </a:pPr>
            <a:r>
              <a:rPr lang="en-US" sz="1500" i="1" dirty="0">
                <a:solidFill>
                  <a:srgbClr val="1E2761"/>
                </a:solidFill>
                <a:latin typeface="Helvetica Neue" pitchFamily="34" charset="0"/>
                <a:ea typeface="Helvetica Neue" pitchFamily="34" charset="-122"/>
                <a:cs typeface="Helvetica Neue" pitchFamily="34" charset="-120"/>
              </a:rPr>
              <a:t>SubSLD: Evidence-Paired Generation of Substation Single-Line</a:t>
            </a:r>
            <a:endParaRPr lang="en-US" sz="1500" dirty="0"/>
          </a:p>
          <a:p>
            <a:pPr indent="0" marL="0">
              <a:lnSpc>
                <a:spcPts val="2200"/>
              </a:lnSpc>
              <a:buNone/>
            </a:pPr>
            <a:r>
              <a:rPr lang="en-US" sz="1500" i="1" dirty="0">
                <a:solidFill>
                  <a:srgbClr val="1E2761"/>
                </a:solidFill>
                <a:latin typeface="Helvetica Neue" pitchFamily="34" charset="0"/>
                <a:ea typeface="Helvetica Neue" pitchFamily="34" charset="-122"/>
                <a:cs typeface="Helvetica Neue" pitchFamily="34" charset="-120"/>
              </a:rPr>
              <a:t>Diagrams from Volunteered Geographic Information</a:t>
            </a:r>
            <a:endParaRPr lang="en-US" sz="1500" dirty="0"/>
          </a:p>
        </p:txBody>
      </p:sp>
      <p:sp>
        <p:nvSpPr>
          <p:cNvPr id="4" name="Text 2"/>
          <p:cNvSpPr/>
          <p:nvPr/>
        </p:nvSpPr>
        <p:spPr>
          <a:xfrm>
            <a:off x="850392" y="2788920"/>
            <a:ext cx="10515600" cy="320040"/>
          </a:xfrm>
          <a:prstGeom prst="rect">
            <a:avLst/>
          </a:prstGeom>
          <a:noFill/>
          <a:ln/>
        </p:spPr>
        <p:txBody>
          <a:bodyPr wrap="square" lIns="0" tIns="0" rIns="0" bIns="0" rtlCol="0" anchor="ctr"/>
          <a:lstStyle/>
          <a:p>
            <a:pPr indent="0" marL="0">
              <a:buNone/>
            </a:pPr>
            <a:r>
              <a:rPr lang="en-US" sz="1250" dirty="0">
                <a:solidFill>
                  <a:srgbClr val="55555F"/>
                </a:solidFill>
                <a:latin typeface="Hiragino Sans" pitchFamily="34" charset="0"/>
                <a:ea typeface="Hiragino Sans" pitchFamily="34" charset="-122"/>
                <a:cs typeface="Hiragino Sans" pitchFamily="34" charset="-120"/>
              </a:rPr>
              <a:t>Ryuto Shigenobu　—　University of Fukui, Dept. of Electrical, Electronic and Computer Engineering</a:t>
            </a:r>
            <a:endParaRPr lang="en-US" sz="1250" dirty="0"/>
          </a:p>
        </p:txBody>
      </p:sp>
      <p:sp>
        <p:nvSpPr>
          <p:cNvPr id="5" name="Text 3"/>
          <p:cNvSpPr/>
          <p:nvPr/>
        </p:nvSpPr>
        <p:spPr>
          <a:xfrm>
            <a:off x="850392" y="3246120"/>
            <a:ext cx="10515600" cy="365760"/>
          </a:xfrm>
          <a:prstGeom prst="rect">
            <a:avLst/>
          </a:prstGeom>
          <a:noFill/>
          <a:ln/>
        </p:spPr>
        <p:txBody>
          <a:bodyPr wrap="square" lIns="0" tIns="0" rIns="0" bIns="0" rtlCol="0" anchor="ctr"/>
          <a:lstStyle/>
          <a:p>
            <a:pPr indent="0" marL="0">
              <a:buNone/>
            </a:pPr>
            <a:r>
              <a:rPr lang="en-US" sz="1500" dirty="0">
                <a:solidFill>
                  <a:srgbClr val="1A1A1A"/>
                </a:solidFill>
                <a:latin typeface="Hiragino Sans" pitchFamily="34" charset="0"/>
                <a:ea typeface="Hiragino Sans" pitchFamily="34" charset="-122"/>
                <a:cs typeface="Hiragino Sans" pitchFamily="34" charset="-120"/>
              </a:rPr>
              <a:t>OSM を正とし、根拠のある要素だけを出す。</a:t>
            </a:r>
            <a:endParaRPr lang="en-US" sz="1500" dirty="0"/>
          </a:p>
        </p:txBody>
      </p:sp>
      <p:pic>
        <p:nvPicPr>
          <p:cNvPr id="6" name="Image 0" descr="assets/title_strip.png">    </p:cNvPr>
          <p:cNvPicPr>
            <a:picLocks noChangeAspect="1"/>
          </p:cNvPicPr>
          <p:nvPr/>
        </p:nvPicPr>
        <p:blipFill>
          <a:blip r:embed="rId1"/>
          <a:stretch>
            <a:fillRect/>
          </a:stretch>
        </p:blipFill>
        <p:spPr>
          <a:xfrm>
            <a:off x="0" y="4160520"/>
            <a:ext cx="12188952" cy="2697480"/>
          </a:xfrm>
          <a:prstGeom prst="rect">
            <a:avLst/>
          </a:prstGeom>
        </p:spPr>
      </p:pic>
      <p:sp>
        <p:nvSpPr>
          <p:cNvPr id="7" name="Shape 4"/>
          <p:cNvSpPr/>
          <p:nvPr/>
        </p:nvSpPr>
        <p:spPr>
          <a:xfrm>
            <a:off x="0" y="4160520"/>
            <a:ext cx="12188952" cy="2697480"/>
          </a:xfrm>
          <a:prstGeom prst="rect">
            <a:avLst/>
          </a:prstGeom>
          <a:solidFill>
            <a:srgbClr val="000000">
              <a:alpha val="22000"/>
            </a:srgbClr>
          </a:solidFill>
          <a:ln/>
        </p:spPr>
      </p:sp>
      <p:sp>
        <p:nvSpPr>
          <p:cNvPr id="8" name="Text 5"/>
          <p:cNvSpPr/>
          <p:nvPr/>
        </p:nvSpPr>
        <p:spPr>
          <a:xfrm>
            <a:off x="640080" y="6382512"/>
            <a:ext cx="10058400" cy="292608"/>
          </a:xfrm>
          <a:prstGeom prst="rect">
            <a:avLst/>
          </a:prstGeom>
          <a:noFill/>
          <a:ln/>
        </p:spPr>
        <p:txBody>
          <a:bodyPr wrap="square" lIns="0" tIns="0" rIns="0" bIns="0" rtlCol="0" anchor="ctr"/>
          <a:lstStyle/>
          <a:p>
            <a:pPr indent="0" marL="0">
              <a:buNone/>
            </a:pPr>
            <a:r>
              <a:rPr lang="en-US" sz="1050" dirty="0">
                <a:solidFill>
                  <a:srgbClr val="FFFFFF"/>
                </a:solidFill>
                <a:latin typeface="Hiragino Sans" pitchFamily="34" charset="0"/>
                <a:ea typeface="Hiragino Sans" pitchFamily="34" charset="-122"/>
                <a:cs typeface="Hiragino Sans" pitchFamily="34" charset="-120"/>
              </a:rPr>
              <a:t>GeoPane（駿遠変電所・500/275/154/77 kV）— OSM の証拠を地理院写真に重畳した実出力</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§I</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公開送電網モデルは変電所の「柵」で止まる</a:t>
            </a:r>
            <a:endParaRPr lang="en-US" sz="2200" dirty="0"/>
          </a:p>
        </p:txBody>
      </p:sp>
      <p:sp>
        <p:nvSpPr>
          <p:cNvPr id="5" name="Text 3"/>
          <p:cNvSpPr/>
          <p:nvPr/>
        </p:nvSpPr>
        <p:spPr>
          <a:xfrm>
            <a:off x="822960" y="1051560"/>
            <a:ext cx="4572000" cy="292608"/>
          </a:xfrm>
          <a:prstGeom prst="rect">
            <a:avLst/>
          </a:prstGeom>
          <a:noFill/>
          <a:ln/>
        </p:spPr>
        <p:txBody>
          <a:bodyPr wrap="square" lIns="0" tIns="0" rIns="0" bIns="0" rtlCol="0" anchor="ctr"/>
          <a:lstStyle/>
          <a:p>
            <a:pPr indent="0" marL="0">
              <a:buNone/>
            </a:pPr>
            <a:r>
              <a:rPr lang="en-US" sz="1300" b="1" dirty="0">
                <a:solidFill>
                  <a:srgbClr val="55555F"/>
                </a:solidFill>
                <a:latin typeface="Hiragino Sans" pitchFamily="34" charset="0"/>
                <a:ea typeface="Hiragino Sans" pitchFamily="34" charset="-122"/>
                <a:cs typeface="Hiragino Sans" pitchFamily="34" charset="-120"/>
              </a:rPr>
              <a:t>従来の公開モデル</a:t>
            </a:r>
            <a:endParaRPr lang="en-US" sz="1300" dirty="0"/>
          </a:p>
        </p:txBody>
      </p:sp>
      <p:sp>
        <p:nvSpPr>
          <p:cNvPr id="6" name="Shape 4"/>
          <p:cNvSpPr/>
          <p:nvPr/>
        </p:nvSpPr>
        <p:spPr>
          <a:xfrm>
            <a:off x="2148840" y="1920240"/>
            <a:ext cx="713232" cy="713232"/>
          </a:xfrm>
          <a:prstGeom prst="ellipse">
            <a:avLst/>
          </a:prstGeom>
          <a:solidFill>
            <a:srgbClr val="9A9AA6"/>
          </a:solidFill>
          <a:ln/>
        </p:spPr>
      </p:sp>
      <p:sp>
        <p:nvSpPr>
          <p:cNvPr id="7" name="Shape 5"/>
          <p:cNvSpPr/>
          <p:nvPr/>
        </p:nvSpPr>
        <p:spPr>
          <a:xfrm>
            <a:off x="914400" y="1463040"/>
            <a:ext cx="1591056" cy="813816"/>
          </a:xfrm>
          <a:prstGeom prst="line">
            <a:avLst/>
          </a:prstGeom>
          <a:noFill/>
          <a:ln w="20320">
            <a:solidFill>
              <a:srgbClr val="9A9AA6"/>
            </a:solidFill>
            <a:prstDash val="solid"/>
          </a:ln>
        </p:spPr>
      </p:sp>
      <p:sp>
        <p:nvSpPr>
          <p:cNvPr id="8" name="Shape 6"/>
          <p:cNvSpPr/>
          <p:nvPr/>
        </p:nvSpPr>
        <p:spPr>
          <a:xfrm flipV="1">
            <a:off x="914400" y="2276856"/>
            <a:ext cx="1591056" cy="832104"/>
          </a:xfrm>
          <a:prstGeom prst="line">
            <a:avLst/>
          </a:prstGeom>
          <a:noFill/>
          <a:ln w="20320">
            <a:solidFill>
              <a:srgbClr val="9A9AA6"/>
            </a:solidFill>
            <a:prstDash val="solid"/>
          </a:ln>
        </p:spPr>
      </p:sp>
      <p:sp>
        <p:nvSpPr>
          <p:cNvPr id="9" name="Shape 7"/>
          <p:cNvSpPr/>
          <p:nvPr/>
        </p:nvSpPr>
        <p:spPr>
          <a:xfrm flipH="1">
            <a:off x="2505456" y="1463040"/>
            <a:ext cx="1609344" cy="813816"/>
          </a:xfrm>
          <a:prstGeom prst="line">
            <a:avLst/>
          </a:prstGeom>
          <a:noFill/>
          <a:ln w="20320">
            <a:solidFill>
              <a:srgbClr val="9A9AA6"/>
            </a:solidFill>
            <a:prstDash val="solid"/>
          </a:ln>
        </p:spPr>
      </p:sp>
      <p:sp>
        <p:nvSpPr>
          <p:cNvPr id="10" name="Shape 8"/>
          <p:cNvSpPr/>
          <p:nvPr/>
        </p:nvSpPr>
        <p:spPr>
          <a:xfrm flipH="1" flipV="1">
            <a:off x="2505456" y="2276856"/>
            <a:ext cx="1609344" cy="832104"/>
          </a:xfrm>
          <a:prstGeom prst="line">
            <a:avLst/>
          </a:prstGeom>
          <a:noFill/>
          <a:ln w="20320">
            <a:solidFill>
              <a:srgbClr val="9A9AA6"/>
            </a:solidFill>
            <a:prstDash val="solid"/>
          </a:ln>
        </p:spPr>
      </p:sp>
      <p:sp>
        <p:nvSpPr>
          <p:cNvPr id="11" name="Text 9"/>
          <p:cNvSpPr/>
          <p:nvPr/>
        </p:nvSpPr>
        <p:spPr>
          <a:xfrm>
            <a:off x="1325880" y="2743200"/>
            <a:ext cx="2377440" cy="274320"/>
          </a:xfrm>
          <a:prstGeom prst="rect">
            <a:avLst/>
          </a:prstGeom>
          <a:noFill/>
          <a:ln/>
        </p:spPr>
        <p:txBody>
          <a:bodyPr wrap="square" lIns="0" tIns="0" rIns="0" bIns="0" rtlCol="0" anchor="ctr"/>
          <a:lstStyle/>
          <a:p>
            <a:pPr algn="ctr" indent="0" marL="0">
              <a:buNone/>
            </a:pPr>
            <a:r>
              <a:rPr lang="en-US" sz="1100" dirty="0">
                <a:solidFill>
                  <a:srgbClr val="55555F"/>
                </a:solidFill>
                <a:latin typeface="Hiragino Sans" pitchFamily="34" charset="0"/>
                <a:ea typeface="Hiragino Sans" pitchFamily="34" charset="-122"/>
                <a:cs typeface="Hiragino Sans" pitchFamily="34" charset="-120"/>
              </a:rPr>
              <a:t>変電所 = 1ノード</a:t>
            </a:r>
            <a:endParaRPr lang="en-US" sz="1100" dirty="0"/>
          </a:p>
        </p:txBody>
      </p:sp>
      <p:sp>
        <p:nvSpPr>
          <p:cNvPr id="12" name="Text 10"/>
          <p:cNvSpPr/>
          <p:nvPr/>
        </p:nvSpPr>
        <p:spPr>
          <a:xfrm>
            <a:off x="6400800" y="1051560"/>
            <a:ext cx="5120640" cy="292608"/>
          </a:xfrm>
          <a:prstGeom prst="rect">
            <a:avLst/>
          </a:prstGeom>
          <a:noFill/>
          <a:ln/>
        </p:spPr>
        <p:txBody>
          <a:bodyPr wrap="square" lIns="0" tIns="0" rIns="0" bIns="0" rtlCol="0" anchor="ctr"/>
          <a:lstStyle/>
          <a:p>
            <a:pPr indent="0" marL="0">
              <a:buNone/>
            </a:pPr>
            <a:r>
              <a:rPr lang="en-US" sz="1300" b="1" dirty="0">
                <a:solidFill>
                  <a:srgbClr val="1E2761"/>
                </a:solidFill>
                <a:latin typeface="Hiragino Sans" pitchFamily="34" charset="0"/>
                <a:ea typeface="Hiragino Sans" pitchFamily="34" charset="-122"/>
                <a:cs typeface="Hiragino Sans" pitchFamily="34" charset="-120"/>
              </a:rPr>
              <a:t>本研究が出すもの（node-breaker）</a:t>
            </a:r>
            <a:endParaRPr lang="en-US" sz="1300" dirty="0"/>
          </a:p>
        </p:txBody>
      </p:sp>
      <p:sp>
        <p:nvSpPr>
          <p:cNvPr id="13" name="Shape 11"/>
          <p:cNvSpPr/>
          <p:nvPr/>
        </p:nvSpPr>
        <p:spPr>
          <a:xfrm>
            <a:off x="6583680" y="1783080"/>
            <a:ext cx="4023360" cy="0"/>
          </a:xfrm>
          <a:prstGeom prst="line">
            <a:avLst/>
          </a:prstGeom>
          <a:noFill/>
          <a:ln w="50800">
            <a:solidFill>
              <a:srgbClr val="D62728"/>
            </a:solidFill>
            <a:prstDash val="solid"/>
          </a:ln>
        </p:spPr>
      </p:sp>
      <p:sp>
        <p:nvSpPr>
          <p:cNvPr id="14" name="Shape 12"/>
          <p:cNvSpPr/>
          <p:nvPr/>
        </p:nvSpPr>
        <p:spPr>
          <a:xfrm>
            <a:off x="6583680" y="2880360"/>
            <a:ext cx="4023360" cy="0"/>
          </a:xfrm>
          <a:prstGeom prst="line">
            <a:avLst/>
          </a:prstGeom>
          <a:noFill/>
          <a:ln w="50800">
            <a:solidFill>
              <a:srgbClr val="17BECF"/>
            </a:solidFill>
            <a:prstDash val="solid"/>
          </a:ln>
        </p:spPr>
      </p:sp>
      <p:sp>
        <p:nvSpPr>
          <p:cNvPr id="15" name="Shape 13"/>
          <p:cNvSpPr/>
          <p:nvPr/>
        </p:nvSpPr>
        <p:spPr>
          <a:xfrm>
            <a:off x="7040880" y="1371600"/>
            <a:ext cx="0" cy="411480"/>
          </a:xfrm>
          <a:prstGeom prst="line">
            <a:avLst/>
          </a:prstGeom>
          <a:noFill/>
          <a:ln w="19050">
            <a:solidFill>
              <a:srgbClr val="D62728"/>
            </a:solidFill>
            <a:prstDash val="solid"/>
          </a:ln>
        </p:spPr>
      </p:sp>
      <p:sp>
        <p:nvSpPr>
          <p:cNvPr id="16" name="Shape 14"/>
          <p:cNvSpPr/>
          <p:nvPr/>
        </p:nvSpPr>
        <p:spPr>
          <a:xfrm>
            <a:off x="8321040" y="1371600"/>
            <a:ext cx="0" cy="411480"/>
          </a:xfrm>
          <a:prstGeom prst="line">
            <a:avLst/>
          </a:prstGeom>
          <a:noFill/>
          <a:ln w="19050">
            <a:solidFill>
              <a:srgbClr val="D62728"/>
            </a:solidFill>
            <a:prstDash val="solid"/>
          </a:ln>
        </p:spPr>
      </p:sp>
      <p:sp>
        <p:nvSpPr>
          <p:cNvPr id="17" name="Shape 15"/>
          <p:cNvSpPr/>
          <p:nvPr/>
        </p:nvSpPr>
        <p:spPr>
          <a:xfrm>
            <a:off x="9692640" y="1371600"/>
            <a:ext cx="0" cy="411480"/>
          </a:xfrm>
          <a:prstGeom prst="line">
            <a:avLst/>
          </a:prstGeom>
          <a:noFill/>
          <a:ln w="19050">
            <a:solidFill>
              <a:srgbClr val="D62728"/>
            </a:solidFill>
            <a:prstDash val="solid"/>
          </a:ln>
        </p:spPr>
      </p:sp>
      <p:sp>
        <p:nvSpPr>
          <p:cNvPr id="18" name="Shape 16"/>
          <p:cNvSpPr/>
          <p:nvPr/>
        </p:nvSpPr>
        <p:spPr>
          <a:xfrm>
            <a:off x="7498080" y="2880360"/>
            <a:ext cx="0" cy="411480"/>
          </a:xfrm>
          <a:prstGeom prst="line">
            <a:avLst/>
          </a:prstGeom>
          <a:noFill/>
          <a:ln w="19050">
            <a:solidFill>
              <a:srgbClr val="17BECF"/>
            </a:solidFill>
            <a:prstDash val="solid"/>
          </a:ln>
        </p:spPr>
      </p:sp>
      <p:sp>
        <p:nvSpPr>
          <p:cNvPr id="19" name="Shape 17"/>
          <p:cNvSpPr/>
          <p:nvPr/>
        </p:nvSpPr>
        <p:spPr>
          <a:xfrm>
            <a:off x="9144000" y="2880360"/>
            <a:ext cx="0" cy="411480"/>
          </a:xfrm>
          <a:prstGeom prst="line">
            <a:avLst/>
          </a:prstGeom>
          <a:noFill/>
          <a:ln w="19050">
            <a:solidFill>
              <a:srgbClr val="17BECF"/>
            </a:solidFill>
            <a:prstDash val="solid"/>
          </a:ln>
        </p:spPr>
      </p:sp>
      <p:sp>
        <p:nvSpPr>
          <p:cNvPr id="20" name="Shape 18"/>
          <p:cNvSpPr/>
          <p:nvPr/>
        </p:nvSpPr>
        <p:spPr>
          <a:xfrm>
            <a:off x="10881360" y="1783080"/>
            <a:ext cx="0" cy="1097280"/>
          </a:xfrm>
          <a:prstGeom prst="line">
            <a:avLst/>
          </a:prstGeom>
          <a:noFill/>
          <a:ln w="17780">
            <a:solidFill>
              <a:srgbClr val="444444"/>
            </a:solidFill>
            <a:prstDash val="solid"/>
          </a:ln>
        </p:spPr>
      </p:sp>
      <p:sp>
        <p:nvSpPr>
          <p:cNvPr id="21" name="Shape 19"/>
          <p:cNvSpPr/>
          <p:nvPr/>
        </p:nvSpPr>
        <p:spPr>
          <a:xfrm>
            <a:off x="10753344" y="2148840"/>
            <a:ext cx="256032" cy="256032"/>
          </a:xfrm>
          <a:prstGeom prst="ellipse">
            <a:avLst/>
          </a:prstGeom>
          <a:ln w="17780">
            <a:solidFill>
              <a:srgbClr val="444444"/>
            </a:solidFill>
            <a:prstDash val="solid"/>
          </a:ln>
        </p:spPr>
      </p:sp>
      <p:sp>
        <p:nvSpPr>
          <p:cNvPr id="22" name="Shape 20"/>
          <p:cNvSpPr/>
          <p:nvPr/>
        </p:nvSpPr>
        <p:spPr>
          <a:xfrm>
            <a:off x="10753344" y="2395728"/>
            <a:ext cx="256032" cy="256032"/>
          </a:xfrm>
          <a:prstGeom prst="ellipse">
            <a:avLst/>
          </a:prstGeom>
          <a:ln w="17780">
            <a:solidFill>
              <a:srgbClr val="444444"/>
            </a:solidFill>
            <a:prstDash val="solid"/>
          </a:ln>
        </p:spPr>
      </p:sp>
      <p:sp>
        <p:nvSpPr>
          <p:cNvPr id="23" name="Text 21"/>
          <p:cNvSpPr/>
          <p:nvPr/>
        </p:nvSpPr>
        <p:spPr>
          <a:xfrm>
            <a:off x="6400800" y="3429000"/>
            <a:ext cx="5120640" cy="274320"/>
          </a:xfrm>
          <a:prstGeom prst="rect">
            <a:avLst/>
          </a:prstGeom>
          <a:noFill/>
          <a:ln/>
        </p:spPr>
        <p:txBody>
          <a:bodyPr wrap="square" lIns="0" tIns="0" rIns="0" bIns="0" rtlCol="0" anchor="ctr"/>
          <a:lstStyle/>
          <a:p>
            <a:pPr indent="0" marL="0">
              <a:buNone/>
            </a:pPr>
            <a:r>
              <a:rPr lang="en-US" sz="1100" dirty="0">
                <a:solidFill>
                  <a:srgbClr val="55555F"/>
                </a:solidFill>
                <a:latin typeface="Hiragino Sans" pitchFamily="34" charset="0"/>
                <a:ea typeface="Hiragino Sans" pitchFamily="34" charset="-122"/>
                <a:cs typeface="Hiragino Sans" pitchFamily="34" charset="-120"/>
              </a:rPr>
              <a:t>母線区分・ベイ・端子の根拠・回線数・変圧器</a:t>
            </a:r>
            <a:endParaRPr lang="en-US" sz="1100" dirty="0"/>
          </a:p>
        </p:txBody>
      </p:sp>
      <p:sp>
        <p:nvSpPr>
          <p:cNvPr id="24" name="Text 22"/>
          <p:cNvSpPr/>
          <p:nvPr/>
        </p:nvSpPr>
        <p:spPr>
          <a:xfrm>
            <a:off x="822960" y="3977640"/>
            <a:ext cx="10607040" cy="320040"/>
          </a:xfrm>
          <a:prstGeom prst="rect">
            <a:avLst/>
          </a:prstGeom>
          <a:noFill/>
          <a:ln/>
        </p:spPr>
        <p:txBody>
          <a:bodyPr wrap="square" lIns="0" tIns="0" rIns="0" bIns="0" rtlCol="0" anchor="ctr"/>
          <a:lstStyle/>
          <a:p>
            <a:pPr indent="0" marL="0">
              <a:buNone/>
            </a:pPr>
            <a:r>
              <a:rPr lang="en-US" sz="1250" b="1" dirty="0">
                <a:solidFill>
                  <a:srgbClr val="1A1A1A"/>
                </a:solidFill>
                <a:latin typeface="Hiragino Sans" pitchFamily="34" charset="0"/>
                <a:ea typeface="Hiragino Sans" pitchFamily="34" charset="-122"/>
                <a:cs typeface="Hiragino Sans" pitchFamily="34" charset="-120"/>
              </a:rPr>
              <a:t>できないこと：</a:t>
            </a:r>
            <a:pPr indent="0" marL="0">
              <a:buNone/>
            </a:pPr>
            <a:r>
              <a:rPr lang="en-US" sz="1250" dirty="0">
                <a:solidFill>
                  <a:srgbClr val="55555F"/>
                </a:solidFill>
                <a:latin typeface="Hiragino Sans" pitchFamily="34" charset="0"/>
                <a:ea typeface="Hiragino Sans" pitchFamily="34" charset="-122"/>
                <a:cs typeface="Hiragino Sans" pitchFamily="34" charset="-120"/>
              </a:rPr>
              <a:t>(1) bus-splitting　(2) 遮断器レベルの事故時解析　(3) ベイ単位のホスティングキャパシティ</a:t>
            </a:r>
            <a:endParaRPr lang="en-US" sz="1250" dirty="0"/>
          </a:p>
        </p:txBody>
      </p:sp>
      <p:sp>
        <p:nvSpPr>
          <p:cNvPr id="25" name="Text 23"/>
          <p:cNvSpPr/>
          <p:nvPr/>
        </p:nvSpPr>
        <p:spPr>
          <a:xfrm>
            <a:off x="822960" y="4343400"/>
            <a:ext cx="10607040" cy="320040"/>
          </a:xfrm>
          <a:prstGeom prst="rect">
            <a:avLst/>
          </a:prstGeom>
          <a:noFill/>
          <a:ln/>
        </p:spPr>
        <p:txBody>
          <a:bodyPr wrap="square" lIns="0" tIns="0" rIns="0" bIns="0" rtlCol="0" anchor="ctr"/>
          <a:lstStyle/>
          <a:p>
            <a:pPr indent="0" marL="0">
              <a:buNone/>
            </a:pPr>
            <a:r>
              <a:rPr lang="en-US" sz="1250" dirty="0">
                <a:solidFill>
                  <a:srgbClr val="55555F"/>
                </a:solidFill>
                <a:latin typeface="Hiragino Sans" pitchFamily="34" charset="0"/>
                <a:ea typeface="Hiragino Sans" pitchFamily="34" charset="-122"/>
                <a:cs typeface="Hiragino Sans" pitchFamily="34" charset="-120"/>
              </a:rPr>
              <a:t>加えて、ノードと枝だけで描くと「その表現がどれだけ強い証拠に立っているか」自体が見えない。</a:t>
            </a:r>
            <a:endParaRPr lang="en-US" sz="1250" dirty="0"/>
          </a:p>
        </p:txBody>
      </p:sp>
      <p:sp>
        <p:nvSpPr>
          <p:cNvPr id="26" name="Text 24"/>
          <p:cNvSpPr/>
          <p:nvPr/>
        </p:nvSpPr>
        <p:spPr>
          <a:xfrm>
            <a:off x="822960" y="4892040"/>
            <a:ext cx="10607040" cy="320040"/>
          </a:xfrm>
          <a:prstGeom prst="rect">
            <a:avLst/>
          </a:prstGeom>
          <a:noFill/>
          <a:ln/>
        </p:spPr>
        <p:txBody>
          <a:bodyPr wrap="square" lIns="0" tIns="0" rIns="0" bIns="0" rtlCol="0" anchor="ctr"/>
          <a:lstStyle/>
          <a:p>
            <a:pPr indent="0" marL="0">
              <a:buNone/>
            </a:pPr>
            <a:r>
              <a:rPr lang="en-US" sz="1400" b="1" dirty="0">
                <a:solidFill>
                  <a:srgbClr val="1E2761"/>
                </a:solidFill>
                <a:latin typeface="Hiragino Sans" pitchFamily="34" charset="0"/>
                <a:ea typeface="Hiragino Sans" pitchFamily="34" charset="-122"/>
                <a:cs typeface="Hiragino Sans" pitchFamily="34" charset="-120"/>
              </a:rPr>
              <a:t>出発点：変電所の中は、公開データに部分的に写っている</a:t>
            </a:r>
            <a:endParaRPr lang="en-US" sz="1400" dirty="0"/>
          </a:p>
        </p:txBody>
      </p:sp>
      <p:sp>
        <p:nvSpPr>
          <p:cNvPr id="27" name="Shape 25"/>
          <p:cNvSpPr/>
          <p:nvPr/>
        </p:nvSpPr>
        <p:spPr>
          <a:xfrm>
            <a:off x="822960" y="5285232"/>
            <a:ext cx="3291840" cy="868680"/>
          </a:xfrm>
          <a:prstGeom prst="roundRect">
            <a:avLst>
              <a:gd name="adj" fmla="val 6316"/>
            </a:avLst>
          </a:prstGeom>
          <a:solidFill>
            <a:srgbClr val="F4F4F6"/>
          </a:solidFill>
          <a:ln/>
        </p:spPr>
      </p:sp>
      <p:sp>
        <p:nvSpPr>
          <p:cNvPr id="28" name="Shape 26"/>
          <p:cNvSpPr/>
          <p:nvPr/>
        </p:nvSpPr>
        <p:spPr>
          <a:xfrm>
            <a:off x="1024128" y="5468112"/>
            <a:ext cx="128016" cy="128016"/>
          </a:xfrm>
          <a:prstGeom prst="rect">
            <a:avLst/>
          </a:prstGeom>
          <a:solidFill>
            <a:srgbClr val="1E2761"/>
          </a:solidFill>
          <a:ln/>
        </p:spPr>
      </p:sp>
      <p:sp>
        <p:nvSpPr>
          <p:cNvPr id="29" name="Text 27"/>
          <p:cNvSpPr/>
          <p:nvPr/>
        </p:nvSpPr>
        <p:spPr>
          <a:xfrm>
            <a:off x="1243584" y="5376672"/>
            <a:ext cx="2743200" cy="310896"/>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航空写真</a:t>
            </a:r>
            <a:endParaRPr lang="en-US" sz="1200" dirty="0"/>
          </a:p>
        </p:txBody>
      </p:sp>
      <p:sp>
        <p:nvSpPr>
          <p:cNvPr id="30" name="Text 28"/>
          <p:cNvSpPr/>
          <p:nvPr/>
        </p:nvSpPr>
        <p:spPr>
          <a:xfrm>
            <a:off x="1042416" y="5724144"/>
            <a:ext cx="2852928" cy="320040"/>
          </a:xfrm>
          <a:prstGeom prst="rect">
            <a:avLst/>
          </a:prstGeom>
          <a:noFill/>
          <a:ln/>
        </p:spPr>
        <p:txBody>
          <a:bodyPr wrap="square" lIns="0" tIns="0" rIns="0" bIns="0" rtlCol="0" anchor="t"/>
          <a:lstStyle/>
          <a:p>
            <a:pPr indent="0" marL="0">
              <a:lnSpc>
                <a:spcPts val="1600"/>
              </a:lnSpc>
              <a:buNone/>
            </a:pPr>
            <a:r>
              <a:rPr lang="en-US" sz="1000" dirty="0">
                <a:solidFill>
                  <a:srgbClr val="55555F"/>
                </a:solidFill>
                <a:latin typeface="Hiragino Sans" pitchFamily="34" charset="0"/>
                <a:ea typeface="Hiragino Sans" pitchFamily="34" charset="-122"/>
                <a:cs typeface="Hiragino Sans" pitchFamily="34" charset="-120"/>
              </a:rPr>
              <a:t>屋外母線とベイ列が写る</a:t>
            </a:r>
            <a:endParaRPr lang="en-US" sz="1000" dirty="0"/>
          </a:p>
        </p:txBody>
      </p:sp>
      <p:sp>
        <p:nvSpPr>
          <p:cNvPr id="31" name="Shape 29"/>
          <p:cNvSpPr/>
          <p:nvPr/>
        </p:nvSpPr>
        <p:spPr>
          <a:xfrm>
            <a:off x="4389120" y="5285232"/>
            <a:ext cx="3291840" cy="868680"/>
          </a:xfrm>
          <a:prstGeom prst="roundRect">
            <a:avLst>
              <a:gd name="adj" fmla="val 6316"/>
            </a:avLst>
          </a:prstGeom>
          <a:solidFill>
            <a:srgbClr val="F4F4F6"/>
          </a:solidFill>
          <a:ln/>
        </p:spPr>
      </p:sp>
      <p:sp>
        <p:nvSpPr>
          <p:cNvPr id="32" name="Shape 30"/>
          <p:cNvSpPr/>
          <p:nvPr/>
        </p:nvSpPr>
        <p:spPr>
          <a:xfrm>
            <a:off x="4590288" y="5468112"/>
            <a:ext cx="128016" cy="128016"/>
          </a:xfrm>
          <a:prstGeom prst="rect">
            <a:avLst/>
          </a:prstGeom>
          <a:solidFill>
            <a:srgbClr val="1E2761"/>
          </a:solidFill>
          <a:ln/>
        </p:spPr>
      </p:sp>
      <p:sp>
        <p:nvSpPr>
          <p:cNvPr id="33" name="Text 31"/>
          <p:cNvSpPr/>
          <p:nvPr/>
        </p:nvSpPr>
        <p:spPr>
          <a:xfrm>
            <a:off x="4809744" y="5376672"/>
            <a:ext cx="2743200" cy="310896"/>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OSM 変電所ポリゴン</a:t>
            </a:r>
            <a:endParaRPr lang="en-US" sz="1200" dirty="0"/>
          </a:p>
        </p:txBody>
      </p:sp>
      <p:sp>
        <p:nvSpPr>
          <p:cNvPr id="34" name="Text 32"/>
          <p:cNvSpPr/>
          <p:nvPr/>
        </p:nvSpPr>
        <p:spPr>
          <a:xfrm>
            <a:off x="4608576" y="5724144"/>
            <a:ext cx="2852928" cy="320040"/>
          </a:xfrm>
          <a:prstGeom prst="rect">
            <a:avLst/>
          </a:prstGeom>
          <a:noFill/>
          <a:ln/>
        </p:spPr>
        <p:txBody>
          <a:bodyPr wrap="square" lIns="0" tIns="0" rIns="0" bIns="0" rtlCol="0" anchor="t"/>
          <a:lstStyle/>
          <a:p>
            <a:pPr indent="0" marL="0">
              <a:lnSpc>
                <a:spcPts val="1600"/>
              </a:lnSpc>
              <a:buNone/>
            </a:pPr>
            <a:r>
              <a:rPr lang="en-US" sz="1000" dirty="0">
                <a:solidFill>
                  <a:srgbClr val="55555F"/>
                </a:solidFill>
                <a:latin typeface="Hiragino Sans" pitchFamily="34" charset="0"/>
                <a:ea typeface="Hiragino Sans" pitchFamily="34" charset="-122"/>
                <a:cs typeface="Hiragino Sans" pitchFamily="34" charset="-120"/>
              </a:rPr>
              <a:t>敷地の外形</a:t>
            </a:r>
            <a:endParaRPr lang="en-US" sz="1000" dirty="0"/>
          </a:p>
        </p:txBody>
      </p:sp>
      <p:sp>
        <p:nvSpPr>
          <p:cNvPr id="35" name="Shape 33"/>
          <p:cNvSpPr/>
          <p:nvPr/>
        </p:nvSpPr>
        <p:spPr>
          <a:xfrm>
            <a:off x="7955280" y="5285232"/>
            <a:ext cx="3291840" cy="868680"/>
          </a:xfrm>
          <a:prstGeom prst="roundRect">
            <a:avLst>
              <a:gd name="adj" fmla="val 6316"/>
            </a:avLst>
          </a:prstGeom>
          <a:solidFill>
            <a:srgbClr val="F4F4F6"/>
          </a:solidFill>
          <a:ln/>
        </p:spPr>
      </p:sp>
      <p:sp>
        <p:nvSpPr>
          <p:cNvPr id="36" name="Shape 34"/>
          <p:cNvSpPr/>
          <p:nvPr/>
        </p:nvSpPr>
        <p:spPr>
          <a:xfrm>
            <a:off x="8156448" y="5468112"/>
            <a:ext cx="128016" cy="128016"/>
          </a:xfrm>
          <a:prstGeom prst="rect">
            <a:avLst/>
          </a:prstGeom>
          <a:solidFill>
            <a:srgbClr val="1E2761"/>
          </a:solidFill>
          <a:ln/>
        </p:spPr>
      </p:sp>
      <p:sp>
        <p:nvSpPr>
          <p:cNvPr id="37" name="Text 35"/>
          <p:cNvSpPr/>
          <p:nvPr/>
        </p:nvSpPr>
        <p:spPr>
          <a:xfrm>
            <a:off x="8375904" y="5376672"/>
            <a:ext cx="2743200" cy="310896"/>
          </a:xfrm>
          <a:prstGeom prst="rect">
            <a:avLst/>
          </a:prstGeom>
          <a:noFill/>
          <a:ln/>
        </p:spPr>
        <p:txBody>
          <a:bodyPr wrap="square" lIns="0" tIns="0" rIns="0" bIns="0" rtlCol="0" anchor="ctr"/>
          <a:lstStyle/>
          <a:p>
            <a:pPr indent="0" marL="0">
              <a:buNone/>
            </a:pPr>
            <a:r>
              <a:rPr lang="en-US" sz="1200" b="1" dirty="0">
                <a:solidFill>
                  <a:srgbClr val="1A1A1A"/>
                </a:solidFill>
                <a:latin typeface="Hiragino Sans" pitchFamily="34" charset="0"/>
                <a:ea typeface="Hiragino Sans" pitchFamily="34" charset="-122"/>
                <a:cs typeface="Hiragino Sans" pitchFamily="34" charset="-120"/>
              </a:rPr>
              <a:t>OSM 構内way・線路タグ</a:t>
            </a:r>
            <a:endParaRPr lang="en-US" sz="1200" dirty="0"/>
          </a:p>
        </p:txBody>
      </p:sp>
      <p:sp>
        <p:nvSpPr>
          <p:cNvPr id="38" name="Text 36"/>
          <p:cNvSpPr/>
          <p:nvPr/>
        </p:nvSpPr>
        <p:spPr>
          <a:xfrm>
            <a:off x="8174736" y="5724144"/>
            <a:ext cx="2852928" cy="320040"/>
          </a:xfrm>
          <a:prstGeom prst="rect">
            <a:avLst/>
          </a:prstGeom>
          <a:noFill/>
          <a:ln/>
        </p:spPr>
        <p:txBody>
          <a:bodyPr wrap="square" lIns="0" tIns="0" rIns="0" bIns="0" rtlCol="0" anchor="t"/>
          <a:lstStyle/>
          <a:p>
            <a:pPr indent="0" marL="0">
              <a:lnSpc>
                <a:spcPts val="1600"/>
              </a:lnSpc>
              <a:buNone/>
            </a:pPr>
            <a:r>
              <a:rPr lang="en-US" sz="1000" dirty="0">
                <a:solidFill>
                  <a:srgbClr val="55555F"/>
                </a:solidFill>
                <a:latin typeface="Hiragino Sans" pitchFamily="34" charset="0"/>
                <a:ea typeface="Hiragino Sans" pitchFamily="34" charset="-122"/>
                <a:cs typeface="Hiragino Sans" pitchFamily="34" charset="-120"/>
              </a:rPr>
              <a:t>line=busbar / bay、circuits・cables・wires</a:t>
            </a:r>
            <a:endParaRPr lang="en-US" sz="1000" dirty="0"/>
          </a:p>
        </p:txBody>
      </p:sp>
      <p:sp>
        <p:nvSpPr>
          <p:cNvPr id="39" name="Text 37"/>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40" name="Text 38"/>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1:00</a:t>
            </a:r>
            <a:endParaRPr lang="en-US" sz="900" dirty="0"/>
          </a:p>
        </p:txBody>
      </p:sp>
      <p:sp>
        <p:nvSpPr>
          <p:cNvPr id="41" name="Text 39"/>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§I</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本発表の道筋：中を出す → 測る → 標準で渡す</a:t>
            </a:r>
            <a:endParaRPr lang="en-US" sz="2200" dirty="0"/>
          </a:p>
        </p:txBody>
      </p:sp>
      <p:sp>
        <p:nvSpPr>
          <p:cNvPr id="5" name="Text 3"/>
          <p:cNvSpPr/>
          <p:nvPr/>
        </p:nvSpPr>
        <p:spPr>
          <a:xfrm>
            <a:off x="822960" y="1097280"/>
            <a:ext cx="10607040" cy="868680"/>
          </a:xfrm>
          <a:prstGeom prst="rect">
            <a:avLst/>
          </a:prstGeom>
          <a:noFill/>
          <a:ln/>
        </p:spPr>
        <p:txBody>
          <a:bodyPr wrap="square" lIns="0" tIns="0" rIns="0" bIns="0" rtlCol="0" anchor="ctr"/>
          <a:lstStyle/>
          <a:p>
            <a:pPr indent="0" marL="0">
              <a:lnSpc>
                <a:spcPts val="3000"/>
              </a:lnSpc>
              <a:buNone/>
            </a:pPr>
            <a:r>
              <a:rPr lang="en-US" sz="1900" b="1" dirty="0">
                <a:solidFill>
                  <a:srgbClr val="1A1A1A"/>
                </a:solidFill>
                <a:latin typeface="Hiragino Sans" pitchFamily="34" charset="0"/>
                <a:ea typeface="Hiragino Sans" pitchFamily="34" charset="-122"/>
                <a:cs typeface="Hiragino Sans" pitchFamily="34" charset="-120"/>
              </a:rPr>
              <a:t>変電所の中は、根拠のある要素しか出さない抽出だけで全国分描ける。</a:t>
            </a:r>
            <a:endParaRPr lang="en-US" sz="1900" dirty="0"/>
          </a:p>
          <a:p>
            <a:pPr indent="0" marL="0">
              <a:lnSpc>
                <a:spcPts val="3000"/>
              </a:lnSpc>
              <a:buNone/>
            </a:pPr>
            <a:r>
              <a:rPr lang="en-US" sz="1900" b="1" dirty="0">
                <a:solidFill>
                  <a:srgbClr val="1A1A1A"/>
                </a:solidFill>
                <a:latin typeface="Hiragino Sans" pitchFamily="34" charset="0"/>
                <a:ea typeface="Hiragino Sans" pitchFamily="34" charset="-122"/>
                <a:cs typeface="Hiragino Sans" pitchFamily="34" charset="-120"/>
              </a:rPr>
              <a:t>描けなかった所こそが、次に何をマップすべきかを教える。</a:t>
            </a:r>
            <a:endParaRPr lang="en-US" sz="1900" dirty="0"/>
          </a:p>
        </p:txBody>
      </p:sp>
      <p:sp>
        <p:nvSpPr>
          <p:cNvPr id="6" name="Shape 4"/>
          <p:cNvSpPr/>
          <p:nvPr/>
        </p:nvSpPr>
        <p:spPr>
          <a:xfrm>
            <a:off x="822960" y="2286000"/>
            <a:ext cx="2560320" cy="1371600"/>
          </a:xfrm>
          <a:prstGeom prst="roundRect">
            <a:avLst>
              <a:gd name="adj" fmla="val 5333"/>
            </a:avLst>
          </a:prstGeom>
          <a:solidFill>
            <a:srgbClr val="1E2761"/>
          </a:solidFill>
          <a:ln/>
        </p:spPr>
      </p:sp>
      <p:sp>
        <p:nvSpPr>
          <p:cNvPr id="7" name="Text 5"/>
          <p:cNvSpPr/>
          <p:nvPr/>
        </p:nvSpPr>
        <p:spPr>
          <a:xfrm>
            <a:off x="1005840" y="2395728"/>
            <a:ext cx="2194560" cy="320040"/>
          </a:xfrm>
          <a:prstGeom prst="rect">
            <a:avLst/>
          </a:prstGeom>
          <a:noFill/>
          <a:ln/>
        </p:spPr>
        <p:txBody>
          <a:bodyPr wrap="square" lIns="0" tIns="0" rIns="0" bIns="0" rtlCol="0" anchor="ct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①  抽出</a:t>
            </a:r>
            <a:endParaRPr lang="en-US" sz="1400" dirty="0"/>
          </a:p>
        </p:txBody>
      </p:sp>
      <p:sp>
        <p:nvSpPr>
          <p:cNvPr id="8" name="Text 6"/>
          <p:cNvSpPr/>
          <p:nvPr/>
        </p:nvSpPr>
        <p:spPr>
          <a:xfrm>
            <a:off x="1005840" y="2743200"/>
            <a:ext cx="2240280" cy="777240"/>
          </a:xfrm>
          <a:prstGeom prst="rect">
            <a:avLst/>
          </a:prstGeom>
          <a:noFill/>
          <a:ln/>
        </p:spPr>
        <p:txBody>
          <a:bodyPr wrap="square" lIns="0" tIns="0" rIns="0" bIns="0" rtlCol="0" anchor="ctr"/>
          <a:lstStyle/>
          <a:p>
            <a:pPr indent="0" marL="0">
              <a:lnSpc>
                <a:spcPts val="1500"/>
              </a:lnSpc>
              <a:buNone/>
            </a:pPr>
            <a:r>
              <a:rPr lang="en-US" sz="1150" dirty="0">
                <a:solidFill>
                  <a:srgbClr val="E8E8F0"/>
                </a:solidFill>
                <a:latin typeface="Hiragino Sans" pitchFamily="34" charset="0"/>
                <a:ea typeface="Hiragino Sans" pitchFamily="34" charset="-122"/>
                <a:cs typeface="Hiragino Sans" pitchFamily="34" charset="-120"/>
              </a:rPr>
              <a:t>OSM＋航空写真から</a:t>
            </a:r>
            <a:endParaRPr lang="en-US" sz="1150" dirty="0"/>
          </a:p>
          <a:p>
            <a:pPr indent="0" marL="0">
              <a:lnSpc>
                <a:spcPts val="1500"/>
              </a:lnSpc>
              <a:buNone/>
            </a:pPr>
            <a:r>
              <a:rPr lang="en-US" sz="1150" dirty="0">
                <a:solidFill>
                  <a:srgbClr val="E8E8F0"/>
                </a:solidFill>
                <a:latin typeface="Hiragino Sans" pitchFamily="34" charset="0"/>
                <a:ea typeface="Hiragino Sans" pitchFamily="34" charset="-122"/>
                <a:cs typeface="Hiragino Sans" pitchFamily="34" charset="-120"/>
              </a:rPr>
              <a:t>node-breaker 構造</a:t>
            </a:r>
            <a:endParaRPr lang="en-US" sz="1150" dirty="0"/>
          </a:p>
        </p:txBody>
      </p:sp>
      <p:sp>
        <p:nvSpPr>
          <p:cNvPr id="9" name="Text 7"/>
          <p:cNvSpPr/>
          <p:nvPr/>
        </p:nvSpPr>
        <p:spPr>
          <a:xfrm>
            <a:off x="3218688" y="2788920"/>
            <a:ext cx="411480" cy="365760"/>
          </a:xfrm>
          <a:prstGeom prst="rect">
            <a:avLst/>
          </a:prstGeom>
          <a:noFill/>
          <a:ln/>
        </p:spPr>
        <p:txBody>
          <a:bodyPr wrap="square" lIns="0" tIns="0" rIns="0" bIns="0" rtlCol="0" anchor="ctr"/>
          <a:lstStyle/>
          <a:p>
            <a:pPr algn="ctr" indent="0" marL="0">
              <a:buNone/>
            </a:pPr>
            <a:r>
              <a:rPr lang="en-US" sz="2000" dirty="0">
                <a:solidFill>
                  <a:srgbClr val="55555F"/>
                </a:solidFill>
                <a:latin typeface="Helvetica Neue" pitchFamily="34" charset="0"/>
                <a:ea typeface="Helvetica Neue" pitchFamily="34" charset="-122"/>
                <a:cs typeface="Helvetica Neue" pitchFamily="34" charset="-120"/>
              </a:rPr>
              <a:t>→</a:t>
            </a:r>
            <a:endParaRPr lang="en-US" sz="2000" dirty="0"/>
          </a:p>
        </p:txBody>
      </p:sp>
      <p:sp>
        <p:nvSpPr>
          <p:cNvPr id="10" name="Shape 8"/>
          <p:cNvSpPr/>
          <p:nvPr/>
        </p:nvSpPr>
        <p:spPr>
          <a:xfrm>
            <a:off x="3611880" y="2286000"/>
            <a:ext cx="2560320" cy="1371600"/>
          </a:xfrm>
          <a:prstGeom prst="roundRect">
            <a:avLst>
              <a:gd name="adj" fmla="val 5333"/>
            </a:avLst>
          </a:prstGeom>
          <a:solidFill>
            <a:srgbClr val="1E2761"/>
          </a:solidFill>
          <a:ln/>
        </p:spPr>
      </p:sp>
      <p:sp>
        <p:nvSpPr>
          <p:cNvPr id="11" name="Text 9"/>
          <p:cNvSpPr/>
          <p:nvPr/>
        </p:nvSpPr>
        <p:spPr>
          <a:xfrm>
            <a:off x="3794760" y="2395728"/>
            <a:ext cx="2194560" cy="320040"/>
          </a:xfrm>
          <a:prstGeom prst="rect">
            <a:avLst/>
          </a:prstGeom>
          <a:noFill/>
          <a:ln/>
        </p:spPr>
        <p:txBody>
          <a:bodyPr wrap="square" lIns="0" tIns="0" rIns="0" bIns="0" rtlCol="0" anchor="ct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②  測る</a:t>
            </a:r>
            <a:endParaRPr lang="en-US" sz="1400" dirty="0"/>
          </a:p>
        </p:txBody>
      </p:sp>
      <p:sp>
        <p:nvSpPr>
          <p:cNvPr id="12" name="Text 10"/>
          <p:cNvSpPr/>
          <p:nvPr/>
        </p:nvSpPr>
        <p:spPr>
          <a:xfrm>
            <a:off x="3794760" y="2743200"/>
            <a:ext cx="2240280" cy="777240"/>
          </a:xfrm>
          <a:prstGeom prst="rect">
            <a:avLst/>
          </a:prstGeom>
          <a:noFill/>
          <a:ln/>
        </p:spPr>
        <p:txBody>
          <a:bodyPr wrap="square" lIns="0" tIns="0" rIns="0" bIns="0" rtlCol="0" anchor="ctr"/>
          <a:lstStyle/>
          <a:p>
            <a:pPr indent="0" marL="0">
              <a:lnSpc>
                <a:spcPts val="1500"/>
              </a:lnSpc>
              <a:buNone/>
            </a:pPr>
            <a:r>
              <a:rPr lang="en-US" sz="1150" dirty="0">
                <a:solidFill>
                  <a:srgbClr val="E8E8F0"/>
                </a:solidFill>
                <a:latin typeface="Hiragino Sans" pitchFamily="34" charset="0"/>
                <a:ea typeface="Hiragino Sans" pitchFamily="34" charset="-122"/>
                <a:cs typeface="Hiragino Sans" pitchFamily="34" charset="-120"/>
              </a:rPr>
              <a:t>どこまで見えたかを</a:t>
            </a:r>
            <a:endParaRPr lang="en-US" sz="1150" dirty="0"/>
          </a:p>
          <a:p>
            <a:pPr indent="0" marL="0">
              <a:lnSpc>
                <a:spcPts val="1500"/>
              </a:lnSpc>
              <a:buNone/>
            </a:pPr>
            <a:r>
              <a:rPr lang="en-US" sz="1150" dirty="0">
                <a:solidFill>
                  <a:srgbClr val="E8E8F0"/>
                </a:solidFill>
                <a:latin typeface="Hiragino Sans" pitchFamily="34" charset="0"/>
                <a:ea typeface="Hiragino Sans" pitchFamily="34" charset="-122"/>
                <a:cs typeface="Hiragino Sans" pitchFamily="34" charset="-120"/>
              </a:rPr>
              <a:t>被覆として報告</a:t>
            </a:r>
            <a:endParaRPr lang="en-US" sz="1150" dirty="0"/>
          </a:p>
        </p:txBody>
      </p:sp>
      <p:sp>
        <p:nvSpPr>
          <p:cNvPr id="13" name="Text 11"/>
          <p:cNvSpPr/>
          <p:nvPr/>
        </p:nvSpPr>
        <p:spPr>
          <a:xfrm>
            <a:off x="6007608" y="2788920"/>
            <a:ext cx="411480" cy="365760"/>
          </a:xfrm>
          <a:prstGeom prst="rect">
            <a:avLst/>
          </a:prstGeom>
          <a:noFill/>
          <a:ln/>
        </p:spPr>
        <p:txBody>
          <a:bodyPr wrap="square" lIns="0" tIns="0" rIns="0" bIns="0" rtlCol="0" anchor="ctr"/>
          <a:lstStyle/>
          <a:p>
            <a:pPr algn="ctr" indent="0" marL="0">
              <a:buNone/>
            </a:pPr>
            <a:r>
              <a:rPr lang="en-US" sz="2000" dirty="0">
                <a:solidFill>
                  <a:srgbClr val="55555F"/>
                </a:solidFill>
                <a:latin typeface="Helvetica Neue" pitchFamily="34" charset="0"/>
                <a:ea typeface="Helvetica Neue" pitchFamily="34" charset="-122"/>
                <a:cs typeface="Helvetica Neue" pitchFamily="34" charset="-120"/>
              </a:rPr>
              <a:t>→</a:t>
            </a:r>
            <a:endParaRPr lang="en-US" sz="2000" dirty="0"/>
          </a:p>
        </p:txBody>
      </p:sp>
      <p:sp>
        <p:nvSpPr>
          <p:cNvPr id="14" name="Shape 12"/>
          <p:cNvSpPr/>
          <p:nvPr/>
        </p:nvSpPr>
        <p:spPr>
          <a:xfrm>
            <a:off x="6400800" y="2286000"/>
            <a:ext cx="2560320" cy="1371600"/>
          </a:xfrm>
          <a:prstGeom prst="roundRect">
            <a:avLst>
              <a:gd name="adj" fmla="val 5333"/>
            </a:avLst>
          </a:prstGeom>
          <a:solidFill>
            <a:srgbClr val="1E2761"/>
          </a:solidFill>
          <a:ln/>
        </p:spPr>
      </p:sp>
      <p:sp>
        <p:nvSpPr>
          <p:cNvPr id="15" name="Text 13"/>
          <p:cNvSpPr/>
          <p:nvPr/>
        </p:nvSpPr>
        <p:spPr>
          <a:xfrm>
            <a:off x="6583680" y="2395728"/>
            <a:ext cx="2194560" cy="320040"/>
          </a:xfrm>
          <a:prstGeom prst="rect">
            <a:avLst/>
          </a:prstGeom>
          <a:noFill/>
          <a:ln/>
        </p:spPr>
        <p:txBody>
          <a:bodyPr wrap="square" lIns="0" tIns="0" rIns="0" bIns="0" rtlCol="0" anchor="ct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③  渡す</a:t>
            </a:r>
            <a:endParaRPr lang="en-US" sz="1400" dirty="0"/>
          </a:p>
        </p:txBody>
      </p:sp>
      <p:sp>
        <p:nvSpPr>
          <p:cNvPr id="16" name="Text 14"/>
          <p:cNvSpPr/>
          <p:nvPr/>
        </p:nvSpPr>
        <p:spPr>
          <a:xfrm>
            <a:off x="6583680" y="2743200"/>
            <a:ext cx="2240280" cy="777240"/>
          </a:xfrm>
          <a:prstGeom prst="rect">
            <a:avLst/>
          </a:prstGeom>
          <a:noFill/>
          <a:ln/>
        </p:spPr>
        <p:txBody>
          <a:bodyPr wrap="square" lIns="0" tIns="0" rIns="0" bIns="0" rtlCol="0" anchor="ctr"/>
          <a:lstStyle/>
          <a:p>
            <a:pPr indent="0" marL="0">
              <a:lnSpc>
                <a:spcPts val="1500"/>
              </a:lnSpc>
              <a:buNone/>
            </a:pPr>
            <a:r>
              <a:rPr lang="en-US" sz="1150" dirty="0">
                <a:solidFill>
                  <a:srgbClr val="E8E8F0"/>
                </a:solidFill>
                <a:latin typeface="Hiragino Sans" pitchFamily="34" charset="0"/>
                <a:ea typeface="Hiragino Sans" pitchFamily="34" charset="-122"/>
                <a:cs typeface="Hiragino Sans" pitchFamily="34" charset="-120"/>
              </a:rPr>
              <a:t>CIM/CGMES へ</a:t>
            </a:r>
            <a:endParaRPr lang="en-US" sz="1150" dirty="0"/>
          </a:p>
          <a:p>
            <a:pPr indent="0" marL="0">
              <a:lnSpc>
                <a:spcPts val="1500"/>
              </a:lnSpc>
              <a:buNone/>
            </a:pPr>
            <a:r>
              <a:rPr lang="en-US" sz="1150" dirty="0">
                <a:solidFill>
                  <a:srgbClr val="E8E8F0"/>
                </a:solidFill>
                <a:latin typeface="Hiragino Sans" pitchFamily="34" charset="0"/>
                <a:ea typeface="Hiragino Sans" pitchFamily="34" charset="-122"/>
                <a:cs typeface="Hiragino Sans" pitchFamily="34" charset="-120"/>
              </a:rPr>
              <a:t>直接シリアライズ</a:t>
            </a:r>
            <a:endParaRPr lang="en-US" sz="1150" dirty="0"/>
          </a:p>
        </p:txBody>
      </p:sp>
      <p:sp>
        <p:nvSpPr>
          <p:cNvPr id="17" name="Text 15"/>
          <p:cNvSpPr/>
          <p:nvPr/>
        </p:nvSpPr>
        <p:spPr>
          <a:xfrm>
            <a:off x="8796528" y="2788920"/>
            <a:ext cx="411480" cy="365760"/>
          </a:xfrm>
          <a:prstGeom prst="rect">
            <a:avLst/>
          </a:prstGeom>
          <a:noFill/>
          <a:ln/>
        </p:spPr>
        <p:txBody>
          <a:bodyPr wrap="square" lIns="0" tIns="0" rIns="0" bIns="0" rtlCol="0" anchor="ctr"/>
          <a:lstStyle/>
          <a:p>
            <a:pPr algn="ctr" indent="0" marL="0">
              <a:buNone/>
            </a:pPr>
            <a:r>
              <a:rPr lang="en-US" sz="2000" dirty="0">
                <a:solidFill>
                  <a:srgbClr val="55555F"/>
                </a:solidFill>
                <a:latin typeface="Helvetica Neue" pitchFamily="34" charset="0"/>
                <a:ea typeface="Helvetica Neue" pitchFamily="34" charset="-122"/>
                <a:cs typeface="Helvetica Neue" pitchFamily="34" charset="-120"/>
              </a:rPr>
              <a:t>→</a:t>
            </a:r>
            <a:endParaRPr lang="en-US" sz="2000" dirty="0"/>
          </a:p>
        </p:txBody>
      </p:sp>
      <p:sp>
        <p:nvSpPr>
          <p:cNvPr id="18" name="Shape 16"/>
          <p:cNvSpPr/>
          <p:nvPr/>
        </p:nvSpPr>
        <p:spPr>
          <a:xfrm>
            <a:off x="9189720" y="2286000"/>
            <a:ext cx="2560320" cy="1371600"/>
          </a:xfrm>
          <a:prstGeom prst="roundRect">
            <a:avLst>
              <a:gd name="adj" fmla="val 5333"/>
            </a:avLst>
          </a:prstGeom>
          <a:solidFill>
            <a:srgbClr val="B9B9C2"/>
          </a:solidFill>
          <a:ln/>
        </p:spPr>
      </p:sp>
      <p:sp>
        <p:nvSpPr>
          <p:cNvPr id="19" name="Text 17"/>
          <p:cNvSpPr/>
          <p:nvPr/>
        </p:nvSpPr>
        <p:spPr>
          <a:xfrm>
            <a:off x="9372600" y="2395728"/>
            <a:ext cx="2194560" cy="320040"/>
          </a:xfrm>
          <a:prstGeom prst="rect">
            <a:avLst/>
          </a:prstGeom>
          <a:noFill/>
          <a:ln/>
        </p:spPr>
        <p:txBody>
          <a:bodyPr wrap="square" lIns="0" tIns="0" rIns="0" bIns="0" rtlCol="0" anchor="ctr"/>
          <a:lstStyle/>
          <a:p>
            <a:pPr indent="0" marL="0">
              <a:buNone/>
            </a:pPr>
            <a:r>
              <a:rPr lang="en-US" sz="1400" b="1" dirty="0">
                <a:solidFill>
                  <a:srgbClr val="3A3A44"/>
                </a:solidFill>
                <a:latin typeface="Hiragino Sans" pitchFamily="34" charset="0"/>
                <a:ea typeface="Hiragino Sans" pitchFamily="34" charset="-122"/>
                <a:cs typeface="Hiragino Sans" pitchFamily="34" charset="-120"/>
              </a:rPr>
              <a:t>④  運用に触る</a:t>
            </a:r>
            <a:endParaRPr lang="en-US" sz="1400" dirty="0"/>
          </a:p>
        </p:txBody>
      </p:sp>
      <p:sp>
        <p:nvSpPr>
          <p:cNvPr id="20" name="Text 18"/>
          <p:cNvSpPr/>
          <p:nvPr/>
        </p:nvSpPr>
        <p:spPr>
          <a:xfrm>
            <a:off x="9372600" y="2743200"/>
            <a:ext cx="2240280" cy="777240"/>
          </a:xfrm>
          <a:prstGeom prst="rect">
            <a:avLst/>
          </a:prstGeom>
          <a:noFill/>
          <a:ln/>
        </p:spPr>
        <p:txBody>
          <a:bodyPr wrap="square" lIns="0" tIns="0" rIns="0" bIns="0" rtlCol="0" anchor="ctr"/>
          <a:lstStyle/>
          <a:p>
            <a:pPr indent="0" marL="0">
              <a:lnSpc>
                <a:spcPts val="1500"/>
              </a:lnSpc>
              <a:buNone/>
            </a:pPr>
            <a:r>
              <a:rPr lang="en-US" sz="1150" dirty="0">
                <a:solidFill>
                  <a:srgbClr val="55555F"/>
                </a:solidFill>
                <a:latin typeface="Hiragino Sans" pitchFamily="34" charset="0"/>
                <a:ea typeface="Hiragino Sans" pitchFamily="34" charset="-122"/>
                <a:cs typeface="Hiragino Sans" pitchFamily="34" charset="-120"/>
              </a:rPr>
              <a:t>開閉器・ループ・2ロール</a:t>
            </a:r>
            <a:endParaRPr lang="en-US" sz="1150" dirty="0"/>
          </a:p>
        </p:txBody>
      </p:sp>
      <p:sp>
        <p:nvSpPr>
          <p:cNvPr id="21" name="Shape 19"/>
          <p:cNvSpPr/>
          <p:nvPr/>
        </p:nvSpPr>
        <p:spPr>
          <a:xfrm>
            <a:off x="9692640" y="2157984"/>
            <a:ext cx="2011680" cy="274320"/>
          </a:xfrm>
          <a:prstGeom prst="roundRect">
            <a:avLst>
              <a:gd name="adj" fmla="val 16667"/>
            </a:avLst>
          </a:prstGeom>
          <a:solidFill>
            <a:srgbClr val="C62828"/>
          </a:solidFill>
          <a:ln/>
        </p:spPr>
      </p:sp>
      <p:sp>
        <p:nvSpPr>
          <p:cNvPr id="22" name="Text 20"/>
          <p:cNvSpPr/>
          <p:nvPr/>
        </p:nvSpPr>
        <p:spPr>
          <a:xfrm>
            <a:off x="9692640" y="2157984"/>
            <a:ext cx="2011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Hiragino Sans" pitchFamily="34" charset="0"/>
                <a:ea typeface="Hiragino Sans" pitchFamily="34" charset="-122"/>
                <a:cs typeface="Hiragino Sans" pitchFamily="34" charset="-120"/>
              </a:rPr>
              <a:t>本稿の先（予備 S16）</a:t>
            </a:r>
            <a:endParaRPr lang="en-US" sz="1000" dirty="0"/>
          </a:p>
        </p:txBody>
      </p:sp>
      <p:sp>
        <p:nvSpPr>
          <p:cNvPr id="23" name="Text 21"/>
          <p:cNvSpPr/>
          <p:nvPr/>
        </p:nvSpPr>
        <p:spPr>
          <a:xfrm>
            <a:off x="822960" y="3794760"/>
            <a:ext cx="7315200" cy="274320"/>
          </a:xfrm>
          <a:prstGeom prst="rect">
            <a:avLst/>
          </a:prstGeom>
          <a:noFill/>
          <a:ln/>
        </p:spPr>
        <p:txBody>
          <a:bodyPr wrap="square" lIns="0" tIns="0" rIns="0" bIns="0" rtlCol="0" anchor="ctr"/>
          <a:lstStyle/>
          <a:p>
            <a:pPr indent="0" marL="0">
              <a:buNone/>
            </a:pPr>
            <a:r>
              <a:rPr lang="en-US" sz="1150" dirty="0">
                <a:solidFill>
                  <a:srgbClr val="55555F"/>
                </a:solidFill>
                <a:latin typeface="Hiragino Sans" pitchFamily="34" charset="0"/>
                <a:ea typeface="Hiragino Sans" pitchFamily="34" charset="-122"/>
                <a:cs typeface="Hiragino Sans" pitchFamily="34" charset="-120"/>
              </a:rPr>
              <a:t>①②③ が本稿の範囲</a:t>
            </a:r>
            <a:endParaRPr lang="en-US" sz="1150" dirty="0"/>
          </a:p>
        </p:txBody>
      </p:sp>
      <p:sp>
        <p:nvSpPr>
          <p:cNvPr id="24" name="Shape 22"/>
          <p:cNvSpPr/>
          <p:nvPr/>
        </p:nvSpPr>
        <p:spPr>
          <a:xfrm>
            <a:off x="822960" y="4434840"/>
            <a:ext cx="10607040" cy="1371600"/>
          </a:xfrm>
          <a:prstGeom prst="roundRect">
            <a:avLst>
              <a:gd name="adj" fmla="val 4667"/>
            </a:avLst>
          </a:prstGeom>
          <a:solidFill>
            <a:srgbClr val="F4F4F6"/>
          </a:solidFill>
          <a:ln/>
        </p:spPr>
      </p:sp>
      <p:sp>
        <p:nvSpPr>
          <p:cNvPr id="25" name="Text 23"/>
          <p:cNvSpPr/>
          <p:nvPr/>
        </p:nvSpPr>
        <p:spPr>
          <a:xfrm>
            <a:off x="1097280" y="4572000"/>
            <a:ext cx="3657600" cy="292608"/>
          </a:xfrm>
          <a:prstGeom prst="rect">
            <a:avLst/>
          </a:prstGeom>
          <a:noFill/>
          <a:ln/>
        </p:spPr>
        <p:txBody>
          <a:bodyPr wrap="square" lIns="0" tIns="0" rIns="0" bIns="0" rtlCol="0" anchor="ctr"/>
          <a:lstStyle/>
          <a:p>
            <a:pPr indent="0" marL="0">
              <a:buNone/>
            </a:pPr>
            <a:r>
              <a:rPr lang="en-US" sz="1300" b="1" dirty="0">
                <a:solidFill>
                  <a:srgbClr val="1E2761"/>
                </a:solidFill>
                <a:latin typeface="Hiragino Sans" pitchFamily="34" charset="0"/>
                <a:ea typeface="Hiragino Sans" pitchFamily="34" charset="-122"/>
                <a:cs typeface="Hiragino Sans" pitchFamily="34" charset="-120"/>
              </a:rPr>
              <a:t>設計原則</a:t>
            </a:r>
            <a:endParaRPr lang="en-US" sz="1300" dirty="0"/>
          </a:p>
        </p:txBody>
      </p:sp>
      <p:sp>
        <p:nvSpPr>
          <p:cNvPr id="26" name="Text 24"/>
          <p:cNvSpPr/>
          <p:nvPr/>
        </p:nvSpPr>
        <p:spPr>
          <a:xfrm>
            <a:off x="1097280" y="4956048"/>
            <a:ext cx="10058400" cy="731520"/>
          </a:xfrm>
          <a:prstGeom prst="rect">
            <a:avLst/>
          </a:prstGeom>
          <a:noFill/>
          <a:ln/>
        </p:spPr>
        <p:txBody>
          <a:bodyPr wrap="square" lIns="0" tIns="0" rIns="0" bIns="0" rtlCol="0" anchor="ctr"/>
          <a:lstStyle/>
          <a:p>
            <a:pPr indent="0" marL="0">
              <a:lnSpc>
                <a:spcPts val="2400"/>
              </a:lnSpc>
              <a:buNone/>
            </a:pPr>
            <a:r>
              <a:rPr lang="en-US" sz="1500" b="1" dirty="0">
                <a:solidFill>
                  <a:srgbClr val="1A1A1A"/>
                </a:solidFill>
                <a:latin typeface="Hiragino Sans" pitchFamily="34" charset="0"/>
                <a:ea typeface="Hiragino Sans" pitchFamily="34" charset="-122"/>
                <a:cs typeface="Hiragino Sans" pitchFamily="34" charset="-120"/>
              </a:rPr>
              <a:t>健全性（捏造ゼロ）は構成的に成立させる</a:t>
            </a:r>
            <a:endParaRPr lang="en-US" sz="1500" dirty="0"/>
          </a:p>
          <a:p>
            <a:pPr indent="0" marL="0">
              <a:lnSpc>
                <a:spcPts val="2400"/>
              </a:lnSpc>
              <a:buNone/>
            </a:pPr>
            <a:r>
              <a:rPr lang="en-US" sz="1500" b="1" dirty="0">
                <a:solidFill>
                  <a:srgbClr val="1A1A1A"/>
                </a:solidFill>
                <a:latin typeface="Hiragino Sans" pitchFamily="34" charset="0"/>
                <a:ea typeface="Hiragino Sans" pitchFamily="34" charset="-122"/>
                <a:cs typeface="Hiragino Sans" pitchFamily="34" charset="-120"/>
              </a:rPr>
              <a:t>完全性は主張せず測定する</a:t>
            </a:r>
            <a:endParaRPr lang="en-US" sz="1500" dirty="0"/>
          </a:p>
        </p:txBody>
      </p:sp>
      <p:sp>
        <p:nvSpPr>
          <p:cNvPr id="27" name="Text 25"/>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28" name="Text 26"/>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0:45</a:t>
            </a:r>
            <a:endParaRPr lang="en-US" sz="900" dirty="0"/>
          </a:p>
        </p:txBody>
      </p:sp>
      <p:sp>
        <p:nvSpPr>
          <p:cNvPr id="29" name="Text 27"/>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§VII</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まず現物：実証ペア図（新京葉・500/275/154/66 kV）</a:t>
            </a:r>
            <a:endParaRPr lang="en-US" sz="2200" dirty="0"/>
          </a:p>
        </p:txBody>
      </p:sp>
      <p:pic>
        <p:nvPicPr>
          <p:cNvPr id="5" name="Image 0" descr="assets/geo_shinkeiyo.png">    </p:cNvPr>
          <p:cNvPicPr>
            <a:picLocks noChangeAspect="1"/>
          </p:cNvPicPr>
          <p:nvPr/>
        </p:nvPicPr>
        <p:blipFill>
          <a:blip r:embed="rId1"/>
          <a:stretch>
            <a:fillRect/>
          </a:stretch>
        </p:blipFill>
        <p:spPr>
          <a:xfrm>
            <a:off x="777240" y="1143000"/>
            <a:ext cx="4261104" cy="4553712"/>
          </a:xfrm>
          <a:prstGeom prst="rect">
            <a:avLst/>
          </a:prstGeom>
        </p:spPr>
      </p:pic>
      <p:sp>
        <p:nvSpPr>
          <p:cNvPr id="6" name="Shape 3"/>
          <p:cNvSpPr/>
          <p:nvPr/>
        </p:nvSpPr>
        <p:spPr>
          <a:xfrm>
            <a:off x="5532120" y="1143000"/>
            <a:ext cx="5897880" cy="4553712"/>
          </a:xfrm>
          <a:prstGeom prst="roundRect">
            <a:avLst>
              <a:gd name="adj" fmla="val 1004"/>
            </a:avLst>
          </a:prstGeom>
          <a:solidFill>
            <a:srgbClr val="FBFBF9"/>
          </a:solidFill>
          <a:ln w="10160">
            <a:solidFill>
              <a:srgbClr val="E3E3E8"/>
            </a:solidFill>
            <a:prstDash val="solid"/>
          </a:ln>
        </p:spPr>
      </p:sp>
      <p:pic>
        <p:nvPicPr>
          <p:cNvPr id="7" name="Image 1" descr="assets/sld_shinkeiyo.png">    </p:cNvPr>
          <p:cNvPicPr>
            <a:picLocks noChangeAspect="1"/>
          </p:cNvPicPr>
          <p:nvPr/>
        </p:nvPicPr>
        <p:blipFill>
          <a:blip r:embed="rId2"/>
          <a:stretch>
            <a:fillRect/>
          </a:stretch>
        </p:blipFill>
        <p:spPr>
          <a:xfrm>
            <a:off x="6446520" y="1252728"/>
            <a:ext cx="3429000" cy="4334256"/>
          </a:xfrm>
          <a:prstGeom prst="rect">
            <a:avLst/>
          </a:prstGeom>
        </p:spPr>
      </p:pic>
      <p:sp>
        <p:nvSpPr>
          <p:cNvPr id="8" name="Text 4"/>
          <p:cNvSpPr/>
          <p:nvPr/>
        </p:nvSpPr>
        <p:spPr>
          <a:xfrm>
            <a:off x="777240" y="5760720"/>
            <a:ext cx="4297680" cy="274320"/>
          </a:xfrm>
          <a:prstGeom prst="rect">
            <a:avLst/>
          </a:prstGeom>
          <a:noFill/>
          <a:ln/>
        </p:spPr>
        <p:txBody>
          <a:bodyPr wrap="square" lIns="0" tIns="0" rIns="0" bIns="0" rtlCol="0" anchor="ctr"/>
          <a:lstStyle/>
          <a:p>
            <a:pPr indent="0" marL="0">
              <a:buNone/>
            </a:pPr>
            <a:r>
              <a:rPr lang="en-US" sz="1100" dirty="0">
                <a:solidFill>
                  <a:srgbClr val="55555F"/>
                </a:solidFill>
                <a:latin typeface="Hiragino Sans" pitchFamily="34" charset="0"/>
                <a:ea typeface="Hiragino Sans" pitchFamily="34" charset="-122"/>
                <a:cs typeface="Hiragino Sans" pitchFamily="34" charset="-120"/>
              </a:rPr>
              <a:t>(a) GeoPane — 構内幾何・端子の根拠</a:t>
            </a:r>
            <a:endParaRPr lang="en-US" sz="1100" dirty="0"/>
          </a:p>
        </p:txBody>
      </p:sp>
      <p:sp>
        <p:nvSpPr>
          <p:cNvPr id="9" name="Text 5"/>
          <p:cNvSpPr/>
          <p:nvPr/>
        </p:nvSpPr>
        <p:spPr>
          <a:xfrm>
            <a:off x="5532120" y="5760720"/>
            <a:ext cx="4572000" cy="274320"/>
          </a:xfrm>
          <a:prstGeom prst="rect">
            <a:avLst/>
          </a:prstGeom>
          <a:noFill/>
          <a:ln/>
        </p:spPr>
        <p:txBody>
          <a:bodyPr wrap="square" lIns="0" tIns="0" rIns="0" bIns="0" rtlCol="0" anchor="ctr"/>
          <a:lstStyle/>
          <a:p>
            <a:pPr indent="0" marL="0">
              <a:buNone/>
            </a:pPr>
            <a:r>
              <a:rPr lang="en-US" sz="1100" dirty="0">
                <a:solidFill>
                  <a:srgbClr val="55555F"/>
                </a:solidFill>
                <a:latin typeface="Hiragino Sans" pitchFamily="34" charset="0"/>
                <a:ea typeface="Hiragino Sans" pitchFamily="34" charset="-122"/>
                <a:cs typeface="Hiragino Sans" pitchFamily="34" charset="-120"/>
              </a:rPr>
              <a:t>(b) SLDPane — 同じ証拠の電気的な読み</a:t>
            </a:r>
            <a:endParaRPr lang="en-US" sz="1100" dirty="0"/>
          </a:p>
        </p:txBody>
      </p:sp>
      <p:sp>
        <p:nvSpPr>
          <p:cNvPr id="10" name="Shape 6"/>
          <p:cNvSpPr/>
          <p:nvPr/>
        </p:nvSpPr>
        <p:spPr>
          <a:xfrm>
            <a:off x="10012680" y="1325880"/>
            <a:ext cx="1325880" cy="1371600"/>
          </a:xfrm>
          <a:prstGeom prst="roundRect">
            <a:avLst>
              <a:gd name="adj" fmla="val 3448"/>
            </a:avLst>
          </a:prstGeom>
          <a:solidFill>
            <a:srgbClr val="FFFFFF">
              <a:alpha val="92000"/>
            </a:srgbClr>
          </a:solidFill>
          <a:ln w="10160">
            <a:solidFill>
              <a:srgbClr val="E3E3E8"/>
            </a:solidFill>
            <a:prstDash val="solid"/>
          </a:ln>
        </p:spPr>
      </p:sp>
      <p:sp>
        <p:nvSpPr>
          <p:cNvPr id="11" name="Text 7"/>
          <p:cNvSpPr/>
          <p:nvPr/>
        </p:nvSpPr>
        <p:spPr>
          <a:xfrm>
            <a:off x="10104120" y="1417320"/>
            <a:ext cx="1188720" cy="1188720"/>
          </a:xfrm>
          <a:prstGeom prst="rect">
            <a:avLst/>
          </a:prstGeom>
          <a:noFill/>
          <a:ln/>
        </p:spPr>
        <p:txBody>
          <a:bodyPr wrap="square" lIns="0" tIns="0" rIns="0" bIns="0" rtlCol="0" anchor="ctr"/>
          <a:lstStyle/>
          <a:p>
            <a:pPr indent="0" marL="0">
              <a:lnSpc>
                <a:spcPts val="1300"/>
              </a:lnSpc>
              <a:buNone/>
            </a:pPr>
            <a:r>
              <a:rPr lang="en-US" sz="1000" b="1" dirty="0">
                <a:solidFill>
                  <a:srgbClr val="1A1A1A"/>
                </a:solidFill>
                <a:latin typeface="Hiragino Sans" pitchFamily="34" charset="0"/>
                <a:ea typeface="Hiragino Sans" pitchFamily="34" charset="-122"/>
                <a:cs typeface="Hiragino Sans" pitchFamily="34" charset="-120"/>
              </a:rPr>
              <a:t>視覚文法</a:t>
            </a:r>
            <a:endParaRPr lang="en-US" sz="1000" dirty="0"/>
          </a:p>
          <a:p>
            <a:pPr indent="0" marL="0">
              <a:lnSpc>
                <a:spcPts val="1300"/>
              </a:lnSpc>
              <a:buNone/>
            </a:pPr>
            <a:r>
              <a:rPr lang="en-US" sz="900" dirty="0">
                <a:solidFill>
                  <a:srgbClr val="1A1A1A"/>
                </a:solidFill>
                <a:latin typeface="Hiragino Sans" pitchFamily="34" charset="0"/>
                <a:ea typeface="Hiragino Sans" pitchFamily="34" charset="-122"/>
                <a:cs typeface="Hiragino Sans" pitchFamily="34" charset="-120"/>
              </a:rPr>
              <a:t>破線＝弱い証拠</a:t>
            </a:r>
            <a:endParaRPr lang="en-US" sz="1000" dirty="0"/>
          </a:p>
          <a:p>
            <a:pPr indent="0" marL="0">
              <a:lnSpc>
                <a:spcPts val="1300"/>
              </a:lnSpc>
              <a:buNone/>
            </a:pPr>
            <a:r>
              <a:rPr lang="en-US" sz="900" dirty="0">
                <a:solidFill>
                  <a:srgbClr val="1A1A1A"/>
                </a:solidFill>
                <a:latin typeface="Hiragino Sans" pitchFamily="34" charset="0"/>
                <a:ea typeface="Hiragino Sans" pitchFamily="34" charset="-122"/>
                <a:cs typeface="Hiragino Sans" pitchFamily="34" charset="-120"/>
              </a:rPr>
              <a:t>灰＝棄権</a:t>
            </a:r>
            <a:endParaRPr lang="en-US" sz="1000" dirty="0"/>
          </a:p>
          <a:p>
            <a:pPr indent="0" marL="0">
              <a:lnSpc>
                <a:spcPts val="1300"/>
              </a:lnSpc>
              <a:buNone/>
            </a:pPr>
            <a:r>
              <a:rPr lang="en-US" sz="900" dirty="0">
                <a:solidFill>
                  <a:srgbClr val="1A1A1A"/>
                </a:solidFill>
                <a:latin typeface="Hiragino Sans" pitchFamily="34" charset="0"/>
                <a:ea typeface="Hiragino Sans" pitchFamily="34" charset="-122"/>
                <a:cs typeface="Hiragino Sans" pitchFamily="34" charset="-120"/>
              </a:rPr>
              <a:t>破線母線＝推定</a:t>
            </a:r>
            <a:endParaRPr lang="en-US" sz="1000" dirty="0"/>
          </a:p>
        </p:txBody>
      </p:sp>
      <p:sp>
        <p:nvSpPr>
          <p:cNvPr id="12" name="Text 8"/>
          <p:cNvSpPr/>
          <p:nvPr/>
        </p:nvSpPr>
        <p:spPr>
          <a:xfrm>
            <a:off x="777240" y="6080760"/>
            <a:ext cx="10698480" cy="292608"/>
          </a:xfrm>
          <a:prstGeom prst="rect">
            <a:avLst/>
          </a:prstGeom>
          <a:noFill/>
          <a:ln/>
        </p:spPr>
        <p:txBody>
          <a:bodyPr wrap="square" lIns="0" tIns="0" rIns="0" bIns="0" rtlCol="0" anchor="ctr"/>
          <a:lstStyle/>
          <a:p>
            <a:pPr indent="0" marL="0">
              <a:buNone/>
            </a:pPr>
            <a:r>
              <a:rPr lang="en-US" sz="1200" dirty="0">
                <a:solidFill>
                  <a:srgbClr val="1A1A1A"/>
                </a:solidFill>
                <a:latin typeface="Hiragino Sans" pitchFamily="34" charset="0"/>
                <a:ea typeface="Hiragino Sans" pitchFamily="34" charset="-122"/>
                <a:cs typeface="Hiragino Sans" pitchFamily="34" charset="-120"/>
              </a:rPr>
              <a:t>左は監査面 — どの線路の話で、どれだけ強く接続されているかが見える。右は同じ証拠の電気的な読み取り。</a:t>
            </a:r>
            <a:endParaRPr lang="en-US" sz="1200" dirty="0"/>
          </a:p>
        </p:txBody>
      </p:sp>
      <p:sp>
        <p:nvSpPr>
          <p:cNvPr id="13" name="Text 9"/>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14" name="Text 10"/>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1:20</a:t>
            </a:r>
            <a:endParaRPr lang="en-US" sz="900" dirty="0"/>
          </a:p>
        </p:txBody>
      </p:sp>
      <p:sp>
        <p:nvSpPr>
          <p:cNvPr id="15" name="Text 11"/>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§II</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位置づけ：変電所を「1ノード」に畳むか、中身を出すか</a:t>
            </a:r>
            <a:endParaRPr lang="en-US" sz="2200" dirty="0"/>
          </a:p>
        </p:txBody>
      </p:sp>
      <p:sp>
        <p:nvSpPr>
          <p:cNvPr id="5" name="Text 3"/>
          <p:cNvSpPr/>
          <p:nvPr/>
        </p:nvSpPr>
        <p:spPr>
          <a:xfrm>
            <a:off x="932688" y="1234440"/>
            <a:ext cx="3017520" cy="274320"/>
          </a:xfrm>
          <a:prstGeom prst="rect">
            <a:avLst/>
          </a:prstGeom>
          <a:noFill/>
          <a:ln/>
        </p:spPr>
        <p:txBody>
          <a:bodyPr wrap="square" lIns="0" tIns="0" rIns="0" bIns="0" rtlCol="0" anchor="ctr"/>
          <a:lstStyle/>
          <a:p>
            <a:pPr indent="0" marL="0">
              <a:buNone/>
            </a:pPr>
            <a:endParaRPr lang="en-US" sz="1100" dirty="0"/>
          </a:p>
        </p:txBody>
      </p:sp>
      <p:sp>
        <p:nvSpPr>
          <p:cNvPr id="6" name="Text 4"/>
          <p:cNvSpPr/>
          <p:nvPr/>
        </p:nvSpPr>
        <p:spPr>
          <a:xfrm>
            <a:off x="4133088" y="1234440"/>
            <a:ext cx="2103120" cy="274320"/>
          </a:xfrm>
          <a:prstGeom prst="rect">
            <a:avLst/>
          </a:prstGeom>
          <a:noFill/>
          <a:ln/>
        </p:spPr>
        <p:txBody>
          <a:bodyPr wrap="square" lIns="0" tIns="0" rIns="0" bIns="0" rtlCol="0" anchor="ctr"/>
          <a:lstStyle/>
          <a:p>
            <a:pPr indent="0" marL="0">
              <a:buNone/>
            </a:pPr>
            <a:r>
              <a:rPr lang="en-US" sz="1100" b="1" dirty="0">
                <a:solidFill>
                  <a:srgbClr val="1E2761"/>
                </a:solidFill>
                <a:latin typeface="Hiragino Sans" pitchFamily="34" charset="0"/>
                <a:ea typeface="Hiragino Sans" pitchFamily="34" charset="-122"/>
                <a:cs typeface="Hiragino Sans" pitchFamily="34" charset="-120"/>
              </a:rPr>
              <a:t>変電所の扱い</a:t>
            </a:r>
            <a:endParaRPr lang="en-US" sz="1100" dirty="0"/>
          </a:p>
        </p:txBody>
      </p:sp>
      <p:sp>
        <p:nvSpPr>
          <p:cNvPr id="7" name="Text 5"/>
          <p:cNvSpPr/>
          <p:nvPr/>
        </p:nvSpPr>
        <p:spPr>
          <a:xfrm>
            <a:off x="6419088" y="1234440"/>
            <a:ext cx="2743200" cy="274320"/>
          </a:xfrm>
          <a:prstGeom prst="rect">
            <a:avLst/>
          </a:prstGeom>
          <a:noFill/>
          <a:ln/>
        </p:spPr>
        <p:txBody>
          <a:bodyPr wrap="square" lIns="0" tIns="0" rIns="0" bIns="0" rtlCol="0" anchor="ctr"/>
          <a:lstStyle/>
          <a:p>
            <a:pPr indent="0" marL="0">
              <a:buNone/>
            </a:pPr>
            <a:r>
              <a:rPr lang="en-US" sz="1100" b="1" dirty="0">
                <a:solidFill>
                  <a:srgbClr val="1E2761"/>
                </a:solidFill>
                <a:latin typeface="Hiragino Sans" pitchFamily="34" charset="0"/>
                <a:ea typeface="Hiragino Sans" pitchFamily="34" charset="-122"/>
                <a:cs typeface="Hiragino Sans" pitchFamily="34" charset="-120"/>
              </a:rPr>
              <a:t>内部構造の出所</a:t>
            </a:r>
            <a:endParaRPr lang="en-US" sz="1100" dirty="0"/>
          </a:p>
        </p:txBody>
      </p:sp>
      <p:sp>
        <p:nvSpPr>
          <p:cNvPr id="8" name="Text 6"/>
          <p:cNvSpPr/>
          <p:nvPr/>
        </p:nvSpPr>
        <p:spPr>
          <a:xfrm>
            <a:off x="9345168" y="1234440"/>
            <a:ext cx="2468880" cy="274320"/>
          </a:xfrm>
          <a:prstGeom prst="rect">
            <a:avLst/>
          </a:prstGeom>
          <a:noFill/>
          <a:ln/>
        </p:spPr>
        <p:txBody>
          <a:bodyPr wrap="square" lIns="0" tIns="0" rIns="0" bIns="0" rtlCol="0" anchor="ctr"/>
          <a:lstStyle/>
          <a:p>
            <a:pPr indent="0" marL="0">
              <a:buNone/>
            </a:pPr>
            <a:r>
              <a:rPr lang="en-US" sz="1100" b="1" dirty="0">
                <a:solidFill>
                  <a:srgbClr val="1E2761"/>
                </a:solidFill>
                <a:latin typeface="Hiragino Sans" pitchFamily="34" charset="0"/>
                <a:ea typeface="Hiragino Sans" pitchFamily="34" charset="-122"/>
                <a:cs typeface="Hiragino Sans" pitchFamily="34" charset="-120"/>
              </a:rPr>
              <a:t>要素ごとの根拠</a:t>
            </a:r>
            <a:endParaRPr lang="en-US" sz="1100" dirty="0"/>
          </a:p>
        </p:txBody>
      </p:sp>
      <p:sp>
        <p:nvSpPr>
          <p:cNvPr id="9" name="Shape 7"/>
          <p:cNvSpPr/>
          <p:nvPr/>
        </p:nvSpPr>
        <p:spPr>
          <a:xfrm>
            <a:off x="822960" y="1600200"/>
            <a:ext cx="11064240" cy="1005840"/>
          </a:xfrm>
          <a:prstGeom prst="rect">
            <a:avLst/>
          </a:prstGeom>
          <a:solidFill>
            <a:srgbClr val="F4F4F6"/>
          </a:solidFill>
          <a:ln/>
        </p:spPr>
      </p:sp>
      <p:sp>
        <p:nvSpPr>
          <p:cNvPr id="10" name="Text 8"/>
          <p:cNvSpPr/>
          <p:nvPr/>
        </p:nvSpPr>
        <p:spPr>
          <a:xfrm>
            <a:off x="932688" y="1655064"/>
            <a:ext cx="2980944" cy="896112"/>
          </a:xfrm>
          <a:prstGeom prst="rect">
            <a:avLst/>
          </a:prstGeom>
          <a:noFill/>
          <a:ln/>
        </p:spPr>
        <p:txBody>
          <a:bodyPr wrap="square" lIns="0" tIns="0" rIns="0" bIns="0" rtlCol="0" anchor="ctr"/>
          <a:lstStyle/>
          <a:p>
            <a:pPr indent="0" marL="0">
              <a:lnSpc>
                <a:spcPts val="1500"/>
              </a:lnSpc>
              <a:buNone/>
            </a:pPr>
            <a:r>
              <a:rPr lang="en-US" sz="1150" b="1" dirty="0">
                <a:solidFill>
                  <a:srgbClr val="1A1A1A"/>
                </a:solidFill>
                <a:latin typeface="Hiragino Sans" pitchFamily="34" charset="0"/>
                <a:ea typeface="Hiragino Sans" pitchFamily="34" charset="-122"/>
                <a:cs typeface="Hiragino Sans" pitchFamily="34" charset="-120"/>
              </a:rPr>
              <a:t>大陸/国スケール抽出</a:t>
            </a:r>
            <a:endParaRPr lang="en-US" sz="1150" dirty="0"/>
          </a:p>
          <a:p>
            <a:pPr indent="0" marL="0">
              <a:lnSpc>
                <a:spcPts val="1500"/>
              </a:lnSpc>
              <a:buNone/>
            </a:pPr>
            <a:r>
              <a:rPr lang="en-US" sz="1150" b="1" dirty="0">
                <a:solidFill>
                  <a:srgbClr val="1A1A1A"/>
                </a:solidFill>
                <a:latin typeface="Hiragino Sans" pitchFamily="34" charset="0"/>
                <a:ea typeface="Hiragino Sans" pitchFamily="34" charset="-122"/>
                <a:cs typeface="Hiragino Sans" pitchFamily="34" charset="-120"/>
              </a:rPr>
              <a:t>(SciGRID, PyPSA-Eur ほか)</a:t>
            </a:r>
            <a:endParaRPr lang="en-US" sz="1150" dirty="0"/>
          </a:p>
        </p:txBody>
      </p:sp>
      <p:sp>
        <p:nvSpPr>
          <p:cNvPr id="11" name="Text 9"/>
          <p:cNvSpPr/>
          <p:nvPr/>
        </p:nvSpPr>
        <p:spPr>
          <a:xfrm>
            <a:off x="4133088" y="1655064"/>
            <a:ext cx="2066544" cy="896112"/>
          </a:xfrm>
          <a:prstGeom prst="rect">
            <a:avLst/>
          </a:prstGeom>
          <a:noFill/>
          <a:ln/>
        </p:spPr>
        <p:txBody>
          <a:bodyPr wrap="square" lIns="0" tIns="0" rIns="0" bIns="0" rtlCol="0" anchor="ctr"/>
          <a:lstStyle/>
          <a:p>
            <a:pPr indent="0" marL="0">
              <a:lnSpc>
                <a:spcPts val="1500"/>
              </a:lnSpc>
              <a:buNone/>
            </a:pPr>
            <a:r>
              <a:rPr lang="en-US" sz="1100" dirty="0">
                <a:solidFill>
                  <a:srgbClr val="1A1A1A"/>
                </a:solidFill>
                <a:latin typeface="Hiragino Sans" pitchFamily="34" charset="0"/>
                <a:ea typeface="Hiragino Sans" pitchFamily="34" charset="-122"/>
                <a:cs typeface="Hiragino Sans" pitchFamily="34" charset="-120"/>
              </a:rPr>
              <a:t>単一ノードに抽象化</a:t>
            </a:r>
            <a:endParaRPr lang="en-US" sz="1100" dirty="0"/>
          </a:p>
        </p:txBody>
      </p:sp>
      <p:sp>
        <p:nvSpPr>
          <p:cNvPr id="12" name="Text 10"/>
          <p:cNvSpPr/>
          <p:nvPr/>
        </p:nvSpPr>
        <p:spPr>
          <a:xfrm>
            <a:off x="6419088" y="1655064"/>
            <a:ext cx="2706624" cy="896112"/>
          </a:xfrm>
          <a:prstGeom prst="rect">
            <a:avLst/>
          </a:prstGeom>
          <a:noFill/>
          <a:ln/>
        </p:spPr>
        <p:txBody>
          <a:bodyPr wrap="square" lIns="0" tIns="0" rIns="0" bIns="0" rtlCol="0" anchor="ctr"/>
          <a:lstStyle/>
          <a:p>
            <a:pPr indent="0" marL="0">
              <a:lnSpc>
                <a:spcPts val="1500"/>
              </a:lnSpc>
              <a:buNone/>
            </a:pPr>
            <a:r>
              <a:rPr lang="en-US" sz="1100" dirty="0">
                <a:solidFill>
                  <a:srgbClr val="1A1A1A"/>
                </a:solidFill>
                <a:latin typeface="Hiragino Sans" pitchFamily="34" charset="0"/>
                <a:ea typeface="Hiragino Sans" pitchFamily="34" charset="-122"/>
                <a:cs typeface="Hiragino Sans" pitchFamily="34" charset="-120"/>
              </a:rPr>
              <a:t>内部が現れる場合も</a:t>
            </a:r>
            <a:endParaRPr lang="en-US" sz="1100" dirty="0"/>
          </a:p>
          <a:p>
            <a:pPr indent="0" marL="0">
              <a:lnSpc>
                <a:spcPts val="1500"/>
              </a:lnSpc>
              <a:buNone/>
            </a:pPr>
            <a:r>
              <a:rPr lang="en-US" sz="1100" dirty="0">
                <a:solidFill>
                  <a:srgbClr val="1A1A1A"/>
                </a:solidFill>
                <a:latin typeface="Hiragino Sans" pitchFamily="34" charset="0"/>
                <a:ea typeface="Hiragino Sans" pitchFamily="34" charset="-122"/>
                <a:cs typeface="Hiragino Sans" pitchFamily="34" charset="-120"/>
              </a:rPr>
              <a:t>「抽出」ではなく「仮定」</a:t>
            </a:r>
            <a:endParaRPr lang="en-US" sz="1100" dirty="0"/>
          </a:p>
        </p:txBody>
      </p:sp>
      <p:sp>
        <p:nvSpPr>
          <p:cNvPr id="13" name="Text 11"/>
          <p:cNvSpPr/>
          <p:nvPr/>
        </p:nvSpPr>
        <p:spPr>
          <a:xfrm>
            <a:off x="9345168" y="1655064"/>
            <a:ext cx="2432304" cy="896112"/>
          </a:xfrm>
          <a:prstGeom prst="rect">
            <a:avLst/>
          </a:prstGeom>
          <a:noFill/>
          <a:ln/>
        </p:spPr>
        <p:txBody>
          <a:bodyPr wrap="square" lIns="0" tIns="0" rIns="0" bIns="0" rtlCol="0" anchor="ctr"/>
          <a:lstStyle/>
          <a:p>
            <a:pPr indent="0" marL="0">
              <a:lnSpc>
                <a:spcPts val="1500"/>
              </a:lnSpc>
              <a:buNone/>
            </a:pPr>
            <a:r>
              <a:rPr lang="en-US" sz="1100" dirty="0">
                <a:solidFill>
                  <a:srgbClr val="1A1A1A"/>
                </a:solidFill>
                <a:latin typeface="Hiragino Sans" pitchFamily="34" charset="0"/>
                <a:ea typeface="Hiragino Sans" pitchFamily="34" charset="-122"/>
                <a:cs typeface="Hiragino Sans" pitchFamily="34" charset="-120"/>
              </a:rPr>
              <a:t>なし</a:t>
            </a:r>
            <a:endParaRPr lang="en-US" sz="1100" dirty="0"/>
          </a:p>
        </p:txBody>
      </p:sp>
      <p:sp>
        <p:nvSpPr>
          <p:cNvPr id="14" name="Shape 12"/>
          <p:cNvSpPr/>
          <p:nvPr/>
        </p:nvSpPr>
        <p:spPr>
          <a:xfrm>
            <a:off x="822960" y="2697480"/>
            <a:ext cx="11064240" cy="1005840"/>
          </a:xfrm>
          <a:prstGeom prst="rect">
            <a:avLst/>
          </a:prstGeom>
          <a:solidFill>
            <a:srgbClr val="FFFFFF"/>
          </a:solidFill>
          <a:ln/>
        </p:spPr>
      </p:sp>
      <p:sp>
        <p:nvSpPr>
          <p:cNvPr id="15" name="Text 13"/>
          <p:cNvSpPr/>
          <p:nvPr/>
        </p:nvSpPr>
        <p:spPr>
          <a:xfrm>
            <a:off x="932688" y="2752344"/>
            <a:ext cx="2980944" cy="896112"/>
          </a:xfrm>
          <a:prstGeom prst="rect">
            <a:avLst/>
          </a:prstGeom>
          <a:noFill/>
          <a:ln/>
        </p:spPr>
        <p:txBody>
          <a:bodyPr wrap="square" lIns="0" tIns="0" rIns="0" bIns="0" rtlCol="0" anchor="ctr"/>
          <a:lstStyle/>
          <a:p>
            <a:pPr indent="0" marL="0">
              <a:lnSpc>
                <a:spcPts val="1500"/>
              </a:lnSpc>
              <a:buNone/>
            </a:pPr>
            <a:r>
              <a:rPr lang="en-US" sz="1150" b="1" dirty="0">
                <a:solidFill>
                  <a:srgbClr val="1A1A1A"/>
                </a:solidFill>
                <a:latin typeface="Hiragino Sans" pitchFamily="34" charset="0"/>
                <a:ea typeface="Hiragino Sans" pitchFamily="34" charset="-122"/>
                <a:cs typeface="Hiragino Sans" pitchFamily="34" charset="-120"/>
              </a:rPr>
              <a:t>航空写真からの設備検出</a:t>
            </a:r>
            <a:endParaRPr lang="en-US" sz="1150" dirty="0"/>
          </a:p>
          <a:p>
            <a:pPr indent="0" marL="0">
              <a:lnSpc>
                <a:spcPts val="1500"/>
              </a:lnSpc>
              <a:buNone/>
            </a:pPr>
            <a:r>
              <a:rPr lang="en-US" sz="1150" b="1" dirty="0">
                <a:solidFill>
                  <a:srgbClr val="1A1A1A"/>
                </a:solidFill>
                <a:latin typeface="Hiragino Sans" pitchFamily="34" charset="0"/>
                <a:ea typeface="Hiragino Sans" pitchFamily="34" charset="-122"/>
                <a:cs typeface="Hiragino Sans" pitchFamily="34" charset="-120"/>
              </a:rPr>
              <a:t>(TTPLA ほか)</a:t>
            </a:r>
            <a:endParaRPr lang="en-US" sz="1150" dirty="0"/>
          </a:p>
        </p:txBody>
      </p:sp>
      <p:sp>
        <p:nvSpPr>
          <p:cNvPr id="16" name="Text 14"/>
          <p:cNvSpPr/>
          <p:nvPr/>
        </p:nvSpPr>
        <p:spPr>
          <a:xfrm>
            <a:off x="4133088" y="2752344"/>
            <a:ext cx="2066544" cy="896112"/>
          </a:xfrm>
          <a:prstGeom prst="rect">
            <a:avLst/>
          </a:prstGeom>
          <a:noFill/>
          <a:ln/>
        </p:spPr>
        <p:txBody>
          <a:bodyPr wrap="square" lIns="0" tIns="0" rIns="0" bIns="0" rtlCol="0" anchor="ctr"/>
          <a:lstStyle/>
          <a:p>
            <a:pPr indent="0" marL="0">
              <a:lnSpc>
                <a:spcPts val="1500"/>
              </a:lnSpc>
              <a:buNone/>
            </a:pPr>
            <a:r>
              <a:rPr lang="en-US" sz="1100" dirty="0">
                <a:solidFill>
                  <a:srgbClr val="1A1A1A"/>
                </a:solidFill>
                <a:latin typeface="Hiragino Sans" pitchFamily="34" charset="0"/>
                <a:ea typeface="Hiragino Sans" pitchFamily="34" charset="-122"/>
                <a:cs typeface="Hiragino Sans" pitchFamily="34" charset="-120"/>
              </a:rPr>
              <a:t>対象外（線路・鉄塔）</a:t>
            </a:r>
            <a:endParaRPr lang="en-US" sz="1100" dirty="0"/>
          </a:p>
        </p:txBody>
      </p:sp>
      <p:sp>
        <p:nvSpPr>
          <p:cNvPr id="17" name="Text 15"/>
          <p:cNvSpPr/>
          <p:nvPr/>
        </p:nvSpPr>
        <p:spPr>
          <a:xfrm>
            <a:off x="6419088" y="2752344"/>
            <a:ext cx="2706624" cy="896112"/>
          </a:xfrm>
          <a:prstGeom prst="rect">
            <a:avLst/>
          </a:prstGeom>
          <a:noFill/>
          <a:ln/>
        </p:spPr>
        <p:txBody>
          <a:bodyPr wrap="square" lIns="0" tIns="0" rIns="0" bIns="0" rtlCol="0" anchor="ctr"/>
          <a:lstStyle/>
          <a:p>
            <a:pPr indent="0" marL="0">
              <a:lnSpc>
                <a:spcPts val="1500"/>
              </a:lnSpc>
              <a:buNone/>
            </a:pPr>
            <a:r>
              <a:rPr lang="en-US" sz="1100" dirty="0">
                <a:solidFill>
                  <a:srgbClr val="1A1A1A"/>
                </a:solidFill>
                <a:latin typeface="Hiragino Sans" pitchFamily="34" charset="0"/>
                <a:ea typeface="Hiragino Sans" pitchFamily="34" charset="-122"/>
                <a:cs typeface="Hiragino Sans" pitchFamily="34" charset="-120"/>
              </a:rPr>
              <a:t>画像からの自動検出</a:t>
            </a:r>
            <a:endParaRPr lang="en-US" sz="1100" dirty="0"/>
          </a:p>
        </p:txBody>
      </p:sp>
      <p:sp>
        <p:nvSpPr>
          <p:cNvPr id="18" name="Text 16"/>
          <p:cNvSpPr/>
          <p:nvPr/>
        </p:nvSpPr>
        <p:spPr>
          <a:xfrm>
            <a:off x="9345168" y="2752344"/>
            <a:ext cx="2432304" cy="896112"/>
          </a:xfrm>
          <a:prstGeom prst="rect">
            <a:avLst/>
          </a:prstGeom>
          <a:noFill/>
          <a:ln/>
        </p:spPr>
        <p:txBody>
          <a:bodyPr wrap="square" lIns="0" tIns="0" rIns="0" bIns="0" rtlCol="0" anchor="ctr"/>
          <a:lstStyle/>
          <a:p>
            <a:pPr indent="0" marL="0">
              <a:lnSpc>
                <a:spcPts val="1500"/>
              </a:lnSpc>
              <a:buNone/>
            </a:pPr>
            <a:r>
              <a:rPr lang="en-US" sz="1100" dirty="0">
                <a:solidFill>
                  <a:srgbClr val="1A1A1A"/>
                </a:solidFill>
                <a:latin typeface="Hiragino Sans" pitchFamily="34" charset="0"/>
                <a:ea typeface="Hiragino Sans" pitchFamily="34" charset="-122"/>
                <a:cs typeface="Hiragino Sans" pitchFamily="34" charset="-120"/>
              </a:rPr>
              <a:t>検出器としては使わず</a:t>
            </a:r>
            <a:endParaRPr lang="en-US" sz="1100" dirty="0"/>
          </a:p>
          <a:p>
            <a:pPr indent="0" marL="0">
              <a:lnSpc>
                <a:spcPts val="1500"/>
              </a:lnSpc>
              <a:buNone/>
            </a:pPr>
            <a:r>
              <a:rPr lang="en-US" sz="1100" dirty="0">
                <a:solidFill>
                  <a:srgbClr val="1A1A1A"/>
                </a:solidFill>
                <a:latin typeface="Hiragino Sans" pitchFamily="34" charset="0"/>
                <a:ea typeface="Hiragino Sans" pitchFamily="34" charset="-122"/>
                <a:cs typeface="Hiragino Sans" pitchFamily="34" charset="-120"/>
              </a:rPr>
              <a:t>人手トリアージの経路</a:t>
            </a:r>
            <a:endParaRPr lang="en-US" sz="1100" dirty="0"/>
          </a:p>
        </p:txBody>
      </p:sp>
      <p:sp>
        <p:nvSpPr>
          <p:cNvPr id="19" name="Shape 17"/>
          <p:cNvSpPr/>
          <p:nvPr/>
        </p:nvSpPr>
        <p:spPr>
          <a:xfrm>
            <a:off x="822960" y="3794760"/>
            <a:ext cx="11064240" cy="1005840"/>
          </a:xfrm>
          <a:prstGeom prst="rect">
            <a:avLst/>
          </a:prstGeom>
          <a:solidFill>
            <a:srgbClr val="1E2761"/>
          </a:solidFill>
          <a:ln/>
        </p:spPr>
      </p:sp>
      <p:sp>
        <p:nvSpPr>
          <p:cNvPr id="20" name="Text 18"/>
          <p:cNvSpPr/>
          <p:nvPr/>
        </p:nvSpPr>
        <p:spPr>
          <a:xfrm>
            <a:off x="932688" y="3849624"/>
            <a:ext cx="2980944" cy="896112"/>
          </a:xfrm>
          <a:prstGeom prst="rect">
            <a:avLst/>
          </a:prstGeom>
          <a:noFill/>
          <a:ln/>
        </p:spPr>
        <p:txBody>
          <a:bodyPr wrap="square" lIns="0" tIns="0" rIns="0" bIns="0" rtlCol="0" anchor="ctr"/>
          <a:lstStyle/>
          <a:p>
            <a:pPr indent="0" marL="0">
              <a:lnSpc>
                <a:spcPts val="1500"/>
              </a:lnSpc>
              <a:buNone/>
            </a:pPr>
            <a:r>
              <a:rPr lang="en-US" sz="1150" b="1" dirty="0">
                <a:solidFill>
                  <a:srgbClr val="FFFFFF"/>
                </a:solidFill>
                <a:latin typeface="Hiragino Sans" pitchFamily="34" charset="0"/>
                <a:ea typeface="Hiragino Sans" pitchFamily="34" charset="-122"/>
                <a:cs typeface="Hiragino Sans" pitchFamily="34" charset="-120"/>
              </a:rPr>
              <a:t>SubSLD（本研究）</a:t>
            </a:r>
            <a:endParaRPr lang="en-US" sz="1150" dirty="0"/>
          </a:p>
        </p:txBody>
      </p:sp>
      <p:sp>
        <p:nvSpPr>
          <p:cNvPr id="21" name="Text 19"/>
          <p:cNvSpPr/>
          <p:nvPr/>
        </p:nvSpPr>
        <p:spPr>
          <a:xfrm>
            <a:off x="4133088" y="3849624"/>
            <a:ext cx="2066544" cy="896112"/>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Hiragino Sans" pitchFamily="34" charset="0"/>
                <a:ea typeface="Hiragino Sans" pitchFamily="34" charset="-122"/>
                <a:cs typeface="Hiragino Sans" pitchFamily="34" charset="-120"/>
              </a:rPr>
              <a:t>内部構造を抽出</a:t>
            </a:r>
            <a:endParaRPr lang="en-US" sz="1100" dirty="0"/>
          </a:p>
        </p:txBody>
      </p:sp>
      <p:sp>
        <p:nvSpPr>
          <p:cNvPr id="22" name="Text 20"/>
          <p:cNvSpPr/>
          <p:nvPr/>
        </p:nvSpPr>
        <p:spPr>
          <a:xfrm>
            <a:off x="6419088" y="3849624"/>
            <a:ext cx="2706624" cy="896112"/>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Hiragino Sans" pitchFamily="34" charset="0"/>
                <a:ea typeface="Hiragino Sans" pitchFamily="34" charset="-122"/>
                <a:cs typeface="Hiragino Sans" pitchFamily="34" charset="-120"/>
              </a:rPr>
              <a:t>OSM 構内way＋タグの実証拠</a:t>
            </a:r>
            <a:endParaRPr lang="en-US" sz="1100" dirty="0"/>
          </a:p>
        </p:txBody>
      </p:sp>
      <p:sp>
        <p:nvSpPr>
          <p:cNvPr id="23" name="Text 21"/>
          <p:cNvSpPr/>
          <p:nvPr/>
        </p:nvSpPr>
        <p:spPr>
          <a:xfrm>
            <a:off x="9345168" y="3849624"/>
            <a:ext cx="2432304" cy="896112"/>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Hiragino Sans" pitchFamily="34" charset="0"/>
                <a:ea typeface="Hiragino Sans" pitchFamily="34" charset="-122"/>
                <a:cs typeface="Hiragino Sans" pitchFamily="34" charset="-120"/>
              </a:rPr>
              <a:t>要素ごとに provenance</a:t>
            </a:r>
            <a:endParaRPr lang="en-US" sz="1100" dirty="0"/>
          </a:p>
        </p:txBody>
      </p:sp>
      <p:sp>
        <p:nvSpPr>
          <p:cNvPr id="24" name="Shape 22"/>
          <p:cNvSpPr/>
          <p:nvPr/>
        </p:nvSpPr>
        <p:spPr>
          <a:xfrm>
            <a:off x="822960" y="5029200"/>
            <a:ext cx="10607040" cy="548640"/>
          </a:xfrm>
          <a:prstGeom prst="roundRect">
            <a:avLst>
              <a:gd name="adj" fmla="val 10000"/>
            </a:avLst>
          </a:prstGeom>
          <a:solidFill>
            <a:srgbClr val="F4F4F6"/>
          </a:solidFill>
          <a:ln/>
        </p:spPr>
      </p:sp>
      <p:sp>
        <p:nvSpPr>
          <p:cNvPr id="25" name="Text 23"/>
          <p:cNvSpPr/>
          <p:nvPr/>
        </p:nvSpPr>
        <p:spPr>
          <a:xfrm>
            <a:off x="1051560" y="5029200"/>
            <a:ext cx="10149840" cy="548640"/>
          </a:xfrm>
          <a:prstGeom prst="rect">
            <a:avLst/>
          </a:prstGeom>
          <a:noFill/>
          <a:ln/>
        </p:spPr>
        <p:txBody>
          <a:bodyPr wrap="square" lIns="0" tIns="0" rIns="0" bIns="0" rtlCol="0" anchor="ct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公開データから全国規模の変電所群に対し、要素ごとの provenance 付き単線結線図を機械生成した先行研究は、著者の知る限り無い。</a:t>
            </a:r>
            <a:endParaRPr lang="en-US" sz="1250" dirty="0"/>
          </a:p>
        </p:txBody>
      </p:sp>
      <p:sp>
        <p:nvSpPr>
          <p:cNvPr id="26" name="Text 24"/>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27" name="Text 25"/>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0:45</a:t>
            </a:r>
            <a:endParaRPr lang="en-US" sz="900" dirty="0"/>
          </a:p>
        </p:txBody>
      </p:sp>
      <p:sp>
        <p:nvSpPr>
          <p:cNvPr id="28" name="Text 26"/>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§IV</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定式化：抽出は「証拠閉包」作用素</a:t>
            </a:r>
            <a:endParaRPr lang="en-US" sz="2200" dirty="0"/>
          </a:p>
        </p:txBody>
      </p:sp>
      <p:pic>
        <p:nvPicPr>
          <p:cNvPr id="5" name="Image 0" descr="assets/fig_concept.png">    </p:cNvPr>
          <p:cNvPicPr>
            <a:picLocks noChangeAspect="1"/>
          </p:cNvPicPr>
          <p:nvPr/>
        </p:nvPicPr>
        <p:blipFill>
          <a:blip r:embed="rId1"/>
          <a:stretch>
            <a:fillRect/>
          </a:stretch>
        </p:blipFill>
        <p:spPr>
          <a:xfrm>
            <a:off x="685800" y="960120"/>
            <a:ext cx="10789920" cy="1956816"/>
          </a:xfrm>
          <a:prstGeom prst="rect">
            <a:avLst/>
          </a:prstGeom>
        </p:spPr>
      </p:pic>
      <p:sp>
        <p:nvSpPr>
          <p:cNvPr id="6" name="Shape 3"/>
          <p:cNvSpPr/>
          <p:nvPr/>
        </p:nvSpPr>
        <p:spPr>
          <a:xfrm>
            <a:off x="822960" y="3108960"/>
            <a:ext cx="5120640" cy="960120"/>
          </a:xfrm>
          <a:prstGeom prst="roundRect">
            <a:avLst>
              <a:gd name="adj" fmla="val 5714"/>
            </a:avLst>
          </a:prstGeom>
          <a:solidFill>
            <a:srgbClr val="F4F4F6"/>
          </a:solidFill>
          <a:ln/>
        </p:spPr>
      </p:sp>
      <p:sp>
        <p:nvSpPr>
          <p:cNvPr id="7" name="Text 4"/>
          <p:cNvSpPr/>
          <p:nvPr/>
        </p:nvSpPr>
        <p:spPr>
          <a:xfrm>
            <a:off x="1005840" y="3182112"/>
            <a:ext cx="4572000" cy="256032"/>
          </a:xfrm>
          <a:prstGeom prst="rect">
            <a:avLst/>
          </a:prstGeom>
          <a:noFill/>
          <a:ln/>
        </p:spPr>
        <p:txBody>
          <a:bodyPr wrap="square" lIns="0" tIns="0" rIns="0" bIns="0" rtlCol="0" anchor="ctr"/>
          <a:lstStyle/>
          <a:p>
            <a:pPr indent="0" marL="0">
              <a:buNone/>
            </a:pPr>
            <a:r>
              <a:rPr lang="en-US" sz="1150" b="1" dirty="0">
                <a:solidFill>
                  <a:srgbClr val="1E2761"/>
                </a:solidFill>
                <a:latin typeface="Hiragino Sans" pitchFamily="34" charset="0"/>
                <a:ea typeface="Hiragino Sans" pitchFamily="34" charset="-122"/>
                <a:cs typeface="Hiragino Sans" pitchFamily="34" charset="-120"/>
              </a:rPr>
              <a:t>Definition 1（証拠閉包）</a:t>
            </a:r>
            <a:endParaRPr lang="en-US" sz="1150" dirty="0"/>
          </a:p>
        </p:txBody>
      </p:sp>
      <p:sp>
        <p:nvSpPr>
          <p:cNvPr id="8" name="Text 5"/>
          <p:cNvSpPr/>
          <p:nvPr/>
        </p:nvSpPr>
        <p:spPr>
          <a:xfrm>
            <a:off x="1005840" y="3493008"/>
            <a:ext cx="4754880" cy="457200"/>
          </a:xfrm>
          <a:prstGeom prst="rect">
            <a:avLst/>
          </a:prstGeom>
          <a:noFill/>
          <a:ln/>
        </p:spPr>
        <p:txBody>
          <a:bodyPr wrap="square" lIns="0" tIns="0" rIns="0" bIns="0" rtlCol="0" anchor="ctr"/>
          <a:lstStyle/>
          <a:p>
            <a:pPr algn="l" indent="0" marL="0">
              <a:buNone/>
            </a:pPr>
            <a:r>
              <a:rPr lang="en-US" sz="1600" i="1" dirty="0">
                <a:solidFill>
                  <a:srgbClr val="1A1A1A"/>
                </a:solidFill>
                <a:latin typeface="Cambria Math" pitchFamily="34" charset="0"/>
                <a:ea typeface="Cambria Math" pitchFamily="34" charset="-122"/>
                <a:cs typeface="Cambria Math" pitchFamily="34" charset="-120"/>
              </a:rPr>
              <a:t>F</a:t>
            </a:r>
            <a:pPr algn="l" indent="0" marL="0">
              <a:buNone/>
            </a:pPr>
            <a:r>
              <a:rPr lang="en-US" sz="1600" dirty="0">
                <a:solidFill>
                  <a:srgbClr val="1A1A1A"/>
                </a:solidFill>
                <a:latin typeface="Cambria Math" pitchFamily="34" charset="0"/>
                <a:ea typeface="Cambria Math" pitchFamily="34" charset="-122"/>
                <a:cs typeface="Cambria Math" pitchFamily="34" charset="-120"/>
              </a:rPr>
              <a:t>(</a:t>
            </a:r>
            <a:pPr algn="l" indent="0" marL="0">
              <a:buNone/>
            </a:pPr>
            <a:r>
              <a:rPr lang="en-US" sz="1600" i="1" dirty="0">
                <a:solidFill>
                  <a:srgbClr val="1A1A1A"/>
                </a:solidFill>
                <a:latin typeface="Cambria Math" pitchFamily="34" charset="0"/>
                <a:ea typeface="Cambria Math" pitchFamily="34" charset="-122"/>
                <a:cs typeface="Cambria Math" pitchFamily="34" charset="-120"/>
              </a:rPr>
              <a:t>O</a:t>
            </a:r>
            <a:pPr algn="l" indent="0" marL="0">
              <a:buNone/>
            </a:pPr>
            <a:r>
              <a:rPr lang="en-US" sz="1600" dirty="0">
                <a:solidFill>
                  <a:srgbClr val="1A1A1A"/>
                </a:solidFill>
                <a:latin typeface="Cambria Math" pitchFamily="34" charset="0"/>
                <a:ea typeface="Cambria Math" pitchFamily="34" charset="-122"/>
                <a:cs typeface="Cambria Math" pitchFamily="34" charset="-120"/>
              </a:rPr>
              <a:t>) = </a:t>
            </a:r>
            <a:pPr algn="l" indent="0" marL="0">
              <a:buNone/>
            </a:pPr>
            <a:r>
              <a:rPr lang="en-US" sz="1600" i="1" dirty="0">
                <a:solidFill>
                  <a:srgbClr val="1A1A1A"/>
                </a:solidFill>
                <a:latin typeface="Cambria Math" pitchFamily="34" charset="0"/>
                <a:ea typeface="Cambria Math" pitchFamily="34" charset="-122"/>
                <a:cs typeface="Cambria Math" pitchFamily="34" charset="-120"/>
              </a:rPr>
              <a:t>S</a:t>
            </a:r>
            <a:pPr algn="l" indent="0" marL="0">
              <a:buNone/>
            </a:pPr>
            <a:r>
              <a:rPr lang="en-US" sz="1600" baseline="30000" dirty="0">
                <a:solidFill>
                  <a:srgbClr val="1A1A1A"/>
                </a:solidFill>
                <a:latin typeface="Cambria Math" pitchFamily="34" charset="0"/>
                <a:ea typeface="Cambria Math" pitchFamily="34" charset="-122"/>
                <a:cs typeface="Cambria Math" pitchFamily="34" charset="-120"/>
              </a:rPr>
              <a:t>*</a:t>
            </a:r>
            <a:pPr algn="l" indent="0" marL="0">
              <a:buNone/>
            </a:pPr>
            <a:r>
              <a:rPr lang="en-US" sz="1600" dirty="0">
                <a:solidFill>
                  <a:srgbClr val="1A1A1A"/>
                </a:solidFill>
                <a:latin typeface="Cambria Math" pitchFamily="34" charset="0"/>
                <a:ea typeface="Cambria Math" pitchFamily="34" charset="-122"/>
                <a:cs typeface="Cambria Math" pitchFamily="34" charset="-120"/>
              </a:rPr>
              <a:t> = { </a:t>
            </a:r>
            <a:pPr algn="l" indent="0" marL="0">
              <a:buNone/>
            </a:pPr>
            <a:r>
              <a:rPr lang="en-US" sz="1600" i="1" dirty="0">
                <a:solidFill>
                  <a:srgbClr val="1A1A1A"/>
                </a:solidFill>
                <a:latin typeface="Cambria Math" pitchFamily="34" charset="0"/>
                <a:ea typeface="Cambria Math" pitchFamily="34" charset="-122"/>
                <a:cs typeface="Cambria Math" pitchFamily="34" charset="-120"/>
              </a:rPr>
              <a:t>x</a:t>
            </a:r>
            <a:pPr algn="l" indent="0" marL="0">
              <a:buNone/>
            </a:pPr>
            <a:r>
              <a:rPr lang="en-US" sz="1600" dirty="0">
                <a:solidFill>
                  <a:srgbClr val="1A1A1A"/>
                </a:solidFill>
                <a:latin typeface="Cambria Math" pitchFamily="34" charset="0"/>
                <a:ea typeface="Cambria Math" pitchFamily="34" charset="-122"/>
                <a:cs typeface="Cambria Math" pitchFamily="34" charset="-120"/>
              </a:rPr>
              <a:t> | witnesses(</a:t>
            </a:r>
            <a:pPr algn="l" indent="0" marL="0">
              <a:buNone/>
            </a:pPr>
            <a:r>
              <a:rPr lang="en-US" sz="1600" i="1" dirty="0">
                <a:solidFill>
                  <a:srgbClr val="1A1A1A"/>
                </a:solidFill>
                <a:latin typeface="Cambria Math" pitchFamily="34" charset="0"/>
                <a:ea typeface="Cambria Math" pitchFamily="34" charset="-122"/>
                <a:cs typeface="Cambria Math" pitchFamily="34" charset="-120"/>
              </a:rPr>
              <a:t>x</a:t>
            </a:r>
            <a:pPr algn="l" indent="0" marL="0">
              <a:buNone/>
            </a:pPr>
            <a:r>
              <a:rPr lang="en-US" sz="1600" dirty="0">
                <a:solidFill>
                  <a:srgbClr val="1A1A1A"/>
                </a:solidFill>
                <a:latin typeface="Cambria Math" pitchFamily="34" charset="0"/>
                <a:ea typeface="Cambria Math" pitchFamily="34" charset="-122"/>
                <a:cs typeface="Cambria Math" pitchFamily="34" charset="-120"/>
              </a:rPr>
              <a:t>, </a:t>
            </a:r>
            <a:pPr algn="l" indent="0" marL="0">
              <a:buNone/>
            </a:pPr>
            <a:r>
              <a:rPr lang="en-US" sz="1600" i="1" dirty="0">
                <a:solidFill>
                  <a:srgbClr val="1A1A1A"/>
                </a:solidFill>
                <a:latin typeface="Cambria Math" pitchFamily="34" charset="0"/>
                <a:ea typeface="Cambria Math" pitchFamily="34" charset="-122"/>
                <a:cs typeface="Cambria Math" pitchFamily="34" charset="-120"/>
              </a:rPr>
              <a:t>O</a:t>
            </a:r>
            <a:pPr algn="l" indent="0" marL="0">
              <a:buNone/>
            </a:pPr>
            <a:r>
              <a:rPr lang="en-US" sz="1600" dirty="0">
                <a:solidFill>
                  <a:srgbClr val="1A1A1A"/>
                </a:solidFill>
                <a:latin typeface="Cambria Math" pitchFamily="34" charset="0"/>
                <a:ea typeface="Cambria Math" pitchFamily="34" charset="-122"/>
                <a:cs typeface="Cambria Math" pitchFamily="34" charset="-120"/>
              </a:rPr>
              <a:t>) ≠ ∅ }</a:t>
            </a:r>
            <a:endParaRPr lang="en-US" sz="1600" dirty="0"/>
          </a:p>
        </p:txBody>
      </p:sp>
      <p:sp>
        <p:nvSpPr>
          <p:cNvPr id="9" name="Shape 6"/>
          <p:cNvSpPr/>
          <p:nvPr/>
        </p:nvSpPr>
        <p:spPr>
          <a:xfrm>
            <a:off x="6309360" y="3108960"/>
            <a:ext cx="5120640" cy="2103120"/>
          </a:xfrm>
          <a:prstGeom prst="roundRect">
            <a:avLst>
              <a:gd name="adj" fmla="val 2609"/>
            </a:avLst>
          </a:prstGeom>
          <a:solidFill>
            <a:srgbClr val="FFFFFF"/>
          </a:solidFill>
          <a:ln w="15240">
            <a:solidFill>
              <a:srgbClr val="1E2761"/>
            </a:solidFill>
            <a:prstDash val="solid"/>
          </a:ln>
        </p:spPr>
      </p:sp>
      <p:sp>
        <p:nvSpPr>
          <p:cNvPr id="10" name="Text 7"/>
          <p:cNvSpPr/>
          <p:nvPr/>
        </p:nvSpPr>
        <p:spPr>
          <a:xfrm>
            <a:off x="6537960" y="3200400"/>
            <a:ext cx="457200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命題 1（F の性質）</a:t>
            </a:r>
            <a:endParaRPr lang="en-US" sz="1250" dirty="0"/>
          </a:p>
        </p:txBody>
      </p:sp>
      <p:sp>
        <p:nvSpPr>
          <p:cNvPr id="11" name="Text 8"/>
          <p:cNvSpPr/>
          <p:nvPr/>
        </p:nvSpPr>
        <p:spPr>
          <a:xfrm>
            <a:off x="6537960" y="3566160"/>
            <a:ext cx="1371600" cy="256032"/>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(i) 決定性</a:t>
            </a:r>
            <a:endParaRPr lang="en-US" sz="1150" dirty="0"/>
          </a:p>
        </p:txBody>
      </p:sp>
      <p:sp>
        <p:nvSpPr>
          <p:cNvPr id="12" name="Text 9"/>
          <p:cNvSpPr/>
          <p:nvPr/>
        </p:nvSpPr>
        <p:spPr>
          <a:xfrm>
            <a:off x="7863840" y="3566160"/>
            <a:ext cx="3429000" cy="457200"/>
          </a:xfrm>
          <a:prstGeom prst="rect">
            <a:avLst/>
          </a:prstGeom>
          <a:noFill/>
          <a:ln/>
        </p:spPr>
        <p:txBody>
          <a:bodyPr wrap="square" lIns="0" tIns="0" rIns="0" bIns="0" rtlCol="0" anchor="ctr"/>
          <a:lstStyle/>
          <a:p>
            <a:pPr indent="0" marL="0">
              <a:lnSpc>
                <a:spcPts val="1300"/>
              </a:lnSpc>
              <a:buNone/>
            </a:pPr>
            <a:r>
              <a:rPr lang="en-US" sz="1050" dirty="0">
                <a:solidFill>
                  <a:srgbClr val="55555F"/>
                </a:solidFill>
                <a:latin typeface="Hiragino Sans" pitchFamily="34" charset="0"/>
                <a:ea typeface="Hiragino Sans" pitchFamily="34" charset="-122"/>
                <a:cs typeface="Hiragino Sans" pitchFamily="34" charset="-120"/>
              </a:rPr>
              <a:t>同一入力から byte-identical（全国テストで検証）</a:t>
            </a:r>
            <a:endParaRPr lang="en-US" sz="1050" dirty="0"/>
          </a:p>
        </p:txBody>
      </p:sp>
      <p:sp>
        <p:nvSpPr>
          <p:cNvPr id="13" name="Text 10"/>
          <p:cNvSpPr/>
          <p:nvPr/>
        </p:nvSpPr>
        <p:spPr>
          <a:xfrm>
            <a:off x="6537960" y="4114800"/>
            <a:ext cx="1371600" cy="256032"/>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(ii) 冪等性</a:t>
            </a:r>
            <a:endParaRPr lang="en-US" sz="1150" dirty="0"/>
          </a:p>
        </p:txBody>
      </p:sp>
      <p:sp>
        <p:nvSpPr>
          <p:cNvPr id="14" name="Text 11"/>
          <p:cNvSpPr/>
          <p:nvPr/>
        </p:nvSpPr>
        <p:spPr>
          <a:xfrm>
            <a:off x="7863840" y="4114800"/>
            <a:ext cx="3429000" cy="457200"/>
          </a:xfrm>
          <a:prstGeom prst="rect">
            <a:avLst/>
          </a:prstGeom>
          <a:noFill/>
          <a:ln/>
        </p:spPr>
        <p:txBody>
          <a:bodyPr wrap="square" lIns="0" tIns="0" rIns="0" bIns="0" rtlCol="0" anchor="ctr"/>
          <a:lstStyle/>
          <a:p>
            <a:pPr indent="0" marL="0">
              <a:lnSpc>
                <a:spcPts val="1300"/>
              </a:lnSpc>
              <a:buNone/>
            </a:pPr>
            <a:r>
              <a:rPr lang="en-US" sz="1050" dirty="0">
                <a:solidFill>
                  <a:srgbClr val="55555F"/>
                </a:solidFill>
                <a:latin typeface="Hiragino Sans" pitchFamily="34" charset="0"/>
                <a:ea typeface="Hiragino Sans" pitchFamily="34" charset="-122"/>
                <a:cs typeface="Hiragino Sans" pitchFamily="34" charset="-120"/>
              </a:rPr>
              <a:t>再適用しても変わらない → 再生成パイプラインに埋め込める</a:t>
            </a:r>
            <a:endParaRPr lang="en-US" sz="1050" dirty="0"/>
          </a:p>
        </p:txBody>
      </p:sp>
      <p:sp>
        <p:nvSpPr>
          <p:cNvPr id="15" name="Text 12"/>
          <p:cNvSpPr/>
          <p:nvPr/>
        </p:nvSpPr>
        <p:spPr>
          <a:xfrm>
            <a:off x="6537960" y="4663440"/>
            <a:ext cx="1371600" cy="256032"/>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(iii) 健全性</a:t>
            </a:r>
            <a:endParaRPr lang="en-US" sz="1150" dirty="0"/>
          </a:p>
        </p:txBody>
      </p:sp>
      <p:sp>
        <p:nvSpPr>
          <p:cNvPr id="16" name="Text 13"/>
          <p:cNvSpPr/>
          <p:nvPr/>
        </p:nvSpPr>
        <p:spPr>
          <a:xfrm>
            <a:off x="7863840" y="4663440"/>
            <a:ext cx="3429000" cy="457200"/>
          </a:xfrm>
          <a:prstGeom prst="rect">
            <a:avLst/>
          </a:prstGeom>
          <a:noFill/>
          <a:ln/>
        </p:spPr>
        <p:txBody>
          <a:bodyPr wrap="square" lIns="0" tIns="0" rIns="0" bIns="0" rtlCol="0" anchor="ctr"/>
          <a:lstStyle/>
          <a:p>
            <a:pPr indent="0" marL="0">
              <a:lnSpc>
                <a:spcPts val="1300"/>
              </a:lnSpc>
              <a:buNone/>
            </a:pPr>
            <a:r>
              <a:rPr lang="en-US" sz="1050" dirty="0">
                <a:solidFill>
                  <a:srgbClr val="55555F"/>
                </a:solidFill>
                <a:latin typeface="Hiragino Sans" pitchFamily="34" charset="0"/>
                <a:ea typeface="Hiragino Sans" pitchFamily="34" charset="-122"/>
                <a:cs typeface="Hiragino Sans" pitchFamily="34" charset="-120"/>
              </a:rPr>
              <a:t>全要素が witness を持つ ＝「捏造ゼロ」の形式的内容</a:t>
            </a:r>
            <a:endParaRPr lang="en-US" sz="1050" dirty="0"/>
          </a:p>
        </p:txBody>
      </p:sp>
      <p:sp>
        <p:nvSpPr>
          <p:cNvPr id="17" name="Shape 14"/>
          <p:cNvSpPr/>
          <p:nvPr/>
        </p:nvSpPr>
        <p:spPr>
          <a:xfrm>
            <a:off x="822960" y="4297680"/>
            <a:ext cx="5120640" cy="914400"/>
          </a:xfrm>
          <a:prstGeom prst="roundRect">
            <a:avLst>
              <a:gd name="adj" fmla="val 6000"/>
            </a:avLst>
          </a:prstGeom>
          <a:solidFill>
            <a:srgbClr val="FFF3F3"/>
          </a:solidFill>
          <a:ln w="13970">
            <a:solidFill>
              <a:srgbClr val="C62828"/>
            </a:solidFill>
            <a:prstDash val="solid"/>
          </a:ln>
        </p:spPr>
      </p:sp>
      <p:sp>
        <p:nvSpPr>
          <p:cNvPr id="18" name="Text 15"/>
          <p:cNvSpPr/>
          <p:nvPr/>
        </p:nvSpPr>
        <p:spPr>
          <a:xfrm>
            <a:off x="1005840" y="4389120"/>
            <a:ext cx="4754880" cy="731520"/>
          </a:xfrm>
          <a:prstGeom prst="rect">
            <a:avLst/>
          </a:prstGeom>
          <a:noFill/>
          <a:ln/>
        </p:spPr>
        <p:txBody>
          <a:bodyPr wrap="square" lIns="0" tIns="0" rIns="0" bIns="0" rtlCol="0" anchor="ctr"/>
          <a:lstStyle/>
          <a:p>
            <a:pPr indent="0" marL="0">
              <a:lnSpc>
                <a:spcPts val="1900"/>
              </a:lnSpc>
              <a:buNone/>
            </a:pPr>
            <a:r>
              <a:rPr lang="en-US" sz="1250" b="1" dirty="0">
                <a:solidFill>
                  <a:srgbClr val="C62828"/>
                </a:solidFill>
                <a:latin typeface="Hiragino Sans" pitchFamily="34" charset="0"/>
                <a:ea typeface="Hiragino Sans" pitchFamily="34" charset="-122"/>
                <a:cs typeface="Hiragino Sans" pitchFamily="34" charset="-120"/>
              </a:rPr>
              <a:t>逆の完全性は主張しない。O の被覆に縛られるから。</a:t>
            </a:r>
            <a:endParaRPr lang="en-US" sz="1250" dirty="0"/>
          </a:p>
          <a:p>
            <a:pPr indent="0" marL="0">
              <a:lnSpc>
                <a:spcPts val="1900"/>
              </a:lnSpc>
              <a:buNone/>
            </a:pPr>
            <a:r>
              <a:rPr lang="en-US" sz="1250" b="1" dirty="0">
                <a:solidFill>
                  <a:srgbClr val="C62828"/>
                </a:solidFill>
                <a:latin typeface="Hiragino Sans" pitchFamily="34" charset="0"/>
                <a:ea typeface="Hiragino Sans" pitchFamily="34" charset="-122"/>
                <a:cs typeface="Hiragino Sans" pitchFamily="34" charset="-120"/>
              </a:rPr>
              <a:t>だから測って報告する（→ S11）</a:t>
            </a:r>
            <a:endParaRPr lang="en-US" sz="1250" dirty="0"/>
          </a:p>
        </p:txBody>
      </p:sp>
      <p:sp>
        <p:nvSpPr>
          <p:cNvPr id="19" name="Text 16"/>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20" name="Text 17"/>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1:20</a:t>
            </a:r>
            <a:endParaRPr lang="en-US" sz="900" dirty="0"/>
          </a:p>
        </p:txBody>
      </p:sp>
      <p:sp>
        <p:nvSpPr>
          <p:cNvPr id="21" name="Text 18"/>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§IV</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端子束縛：証拠の辞書式最大化と、近さ≠接続のゲート</a:t>
            </a:r>
            <a:endParaRPr lang="en-US" sz="2200" dirty="0"/>
          </a:p>
        </p:txBody>
      </p:sp>
      <p:sp>
        <p:nvSpPr>
          <p:cNvPr id="5" name="Shape 3"/>
          <p:cNvSpPr/>
          <p:nvPr/>
        </p:nvSpPr>
        <p:spPr>
          <a:xfrm>
            <a:off x="822960" y="1051560"/>
            <a:ext cx="5486400" cy="1691640"/>
          </a:xfrm>
          <a:prstGeom prst="roundRect">
            <a:avLst>
              <a:gd name="adj" fmla="val 3243"/>
            </a:avLst>
          </a:prstGeom>
          <a:solidFill>
            <a:srgbClr val="F4F4F6"/>
          </a:solidFill>
          <a:ln/>
        </p:spPr>
      </p:sp>
      <p:sp>
        <p:nvSpPr>
          <p:cNvPr id="6" name="Text 4"/>
          <p:cNvSpPr/>
          <p:nvPr/>
        </p:nvSpPr>
        <p:spPr>
          <a:xfrm>
            <a:off x="1051560" y="1170432"/>
            <a:ext cx="5120640" cy="457200"/>
          </a:xfrm>
          <a:prstGeom prst="rect">
            <a:avLst/>
          </a:prstGeom>
          <a:noFill/>
          <a:ln/>
        </p:spPr>
        <p:txBody>
          <a:bodyPr wrap="square" lIns="0" tIns="0" rIns="0" bIns="0" rtlCol="0" anchor="ctr"/>
          <a:lstStyle/>
          <a:p>
            <a:pPr algn="l" indent="0" marL="0">
              <a:buNone/>
            </a:pPr>
            <a:r>
              <a:rPr lang="en-US" sz="1600" dirty="0">
                <a:solidFill>
                  <a:srgbClr val="1A1A1A"/>
                </a:solidFill>
                <a:latin typeface="Cambria Math" pitchFamily="34" charset="0"/>
                <a:ea typeface="Cambria Math" pitchFamily="34" charset="-122"/>
                <a:cs typeface="Cambria Math" pitchFamily="34" charset="-120"/>
              </a:rPr>
              <a:t>binding(</a:t>
            </a:r>
            <a:pPr algn="l" indent="0" marL="0">
              <a:buNone/>
            </a:pPr>
            <a:r>
              <a:rPr lang="en-US" sz="1600" i="1" dirty="0">
                <a:solidFill>
                  <a:srgbClr val="1A1A1A"/>
                </a:solidFill>
                <a:latin typeface="Cambria Math" pitchFamily="34" charset="0"/>
                <a:ea typeface="Cambria Math" pitchFamily="34" charset="-122"/>
                <a:cs typeface="Cambria Math" pitchFamily="34" charset="-120"/>
              </a:rPr>
              <a:t>t</a:t>
            </a:r>
            <a:pPr algn="l" indent="0" marL="0">
              <a:buNone/>
            </a:pPr>
            <a:r>
              <a:rPr lang="en-US" sz="1600" dirty="0">
                <a:solidFill>
                  <a:srgbClr val="1A1A1A"/>
                </a:solidFill>
                <a:latin typeface="Cambria Math" pitchFamily="34" charset="0"/>
                <a:ea typeface="Cambria Math" pitchFamily="34" charset="-122"/>
                <a:cs typeface="Cambria Math" pitchFamily="34" charset="-120"/>
              </a:rPr>
              <a:t>) = max</a:t>
            </a:r>
            <a:pPr algn="l" indent="0" marL="0">
              <a:buNone/>
            </a:pPr>
            <a:r>
              <a:rPr lang="en-US" sz="1600" baseline="-40000" dirty="0">
                <a:solidFill>
                  <a:srgbClr val="1A1A1A"/>
                </a:solidFill>
                <a:latin typeface="Cambria Math" pitchFamily="34" charset="0"/>
                <a:ea typeface="Cambria Math" pitchFamily="34" charset="-122"/>
                <a:cs typeface="Cambria Math" pitchFamily="34" charset="-120"/>
              </a:rPr>
              <a:t>≻</a:t>
            </a:r>
            <a:pPr algn="l" indent="0" marL="0">
              <a:buNone/>
            </a:pPr>
            <a:r>
              <a:rPr lang="en-US" sz="1600" dirty="0">
                <a:solidFill>
                  <a:srgbClr val="1A1A1A"/>
                </a:solidFill>
                <a:latin typeface="Cambria Math" pitchFamily="34" charset="0"/>
                <a:ea typeface="Cambria Math" pitchFamily="34" charset="-122"/>
                <a:cs typeface="Cambria Math" pitchFamily="34" charset="-120"/>
              </a:rPr>
              <a:t> { </a:t>
            </a:r>
            <a:pPr algn="l" indent="0" marL="0">
              <a:buNone/>
            </a:pPr>
            <a:r>
              <a:rPr lang="en-US" sz="1600" i="1" dirty="0">
                <a:solidFill>
                  <a:srgbClr val="1A1A1A"/>
                </a:solidFill>
                <a:latin typeface="Cambria Math" pitchFamily="34" charset="0"/>
                <a:ea typeface="Cambria Math" pitchFamily="34" charset="-122"/>
                <a:cs typeface="Cambria Math" pitchFamily="34" charset="-120"/>
              </a:rPr>
              <a:t>e</a:t>
            </a:r>
            <a:pPr algn="l" indent="0" marL="0">
              <a:buNone/>
            </a:pPr>
            <a:r>
              <a:rPr lang="en-US" sz="1600" dirty="0">
                <a:solidFill>
                  <a:srgbClr val="1A1A1A"/>
                </a:solidFill>
                <a:latin typeface="Cambria Math" pitchFamily="34" charset="0"/>
                <a:ea typeface="Cambria Math" pitchFamily="34" charset="-122"/>
                <a:cs typeface="Cambria Math" pitchFamily="34" charset="-120"/>
              </a:rPr>
              <a:t> | </a:t>
            </a:r>
            <a:pPr algn="l" indent="0" marL="0">
              <a:buNone/>
            </a:pPr>
            <a:r>
              <a:rPr lang="en-US" sz="1600" i="1" dirty="0">
                <a:solidFill>
                  <a:srgbClr val="1A1A1A"/>
                </a:solidFill>
                <a:latin typeface="Cambria Math" pitchFamily="34" charset="0"/>
                <a:ea typeface="Cambria Math" pitchFamily="34" charset="-122"/>
                <a:cs typeface="Cambria Math" pitchFamily="34" charset="-120"/>
              </a:rPr>
              <a:t>e</a:t>
            </a:r>
            <a:pPr algn="l" indent="0" marL="0">
              <a:buNone/>
            </a:pPr>
            <a:r>
              <a:rPr lang="en-US" sz="1300" dirty="0">
                <a:solidFill>
                  <a:srgbClr val="1A1A1A"/>
                </a:solidFill>
                <a:latin typeface="Hiragino Sans" pitchFamily="34" charset="0"/>
                <a:ea typeface="Hiragino Sans" pitchFamily="34" charset="-122"/>
                <a:cs typeface="Hiragino Sans" pitchFamily="34" charset="-120"/>
              </a:rPr>
              <a:t> は t の証人 }</a:t>
            </a:r>
            <a:endParaRPr lang="en-US" sz="1600" dirty="0"/>
          </a:p>
        </p:txBody>
      </p:sp>
      <p:sp>
        <p:nvSpPr>
          <p:cNvPr id="7" name="Text 5"/>
          <p:cNvSpPr/>
          <p:nvPr/>
        </p:nvSpPr>
        <p:spPr>
          <a:xfrm>
            <a:off x="1051560" y="1719072"/>
            <a:ext cx="5120640" cy="457200"/>
          </a:xfrm>
          <a:prstGeom prst="rect">
            <a:avLst/>
          </a:prstGeom>
          <a:noFill/>
          <a:ln/>
        </p:spPr>
        <p:txBody>
          <a:bodyPr wrap="square" lIns="0" tIns="0" rIns="0" bIns="0" rtlCol="0" anchor="ctr"/>
          <a:lstStyle/>
          <a:p>
            <a:pPr algn="l" indent="0" marL="0">
              <a:buNone/>
            </a:pPr>
            <a:r>
              <a:rPr lang="en-US" sz="1500" dirty="0">
                <a:solidFill>
                  <a:srgbClr val="1A1A1A"/>
                </a:solidFill>
                <a:latin typeface="Cambria Math" pitchFamily="34" charset="0"/>
                <a:ea typeface="Cambria Math" pitchFamily="34" charset="-122"/>
                <a:cs typeface="Cambria Math" pitchFamily="34" charset="-120"/>
              </a:rPr>
              <a:t>vertex  ≻  polygon  ≻  lead-in</a:t>
            </a:r>
            <a:endParaRPr lang="en-US" sz="1500" dirty="0"/>
          </a:p>
        </p:txBody>
      </p:sp>
      <p:sp>
        <p:nvSpPr>
          <p:cNvPr id="8" name="Text 6"/>
          <p:cNvSpPr/>
          <p:nvPr/>
        </p:nvSpPr>
        <p:spPr>
          <a:xfrm>
            <a:off x="1051560" y="2148840"/>
            <a:ext cx="5120640" cy="256032"/>
          </a:xfrm>
          <a:prstGeom prst="rect">
            <a:avLst/>
          </a:prstGeom>
          <a:noFill/>
          <a:ln/>
        </p:spPr>
        <p:txBody>
          <a:bodyPr wrap="square" lIns="0" tIns="0" rIns="0" bIns="0" rtlCol="0" anchor="ctr"/>
          <a:lstStyle/>
          <a:p>
            <a:pPr indent="0" marL="0">
              <a:buNone/>
            </a:pPr>
            <a:r>
              <a:rPr lang="en-US" sz="1100" dirty="0">
                <a:solidFill>
                  <a:srgbClr val="55555F"/>
                </a:solidFill>
                <a:latin typeface="Hiragino Sans" pitchFamily="34" charset="0"/>
                <a:ea typeface="Hiragino Sans" pitchFamily="34" charset="-122"/>
                <a:cs typeface="Hiragino Sans" pitchFamily="34" charset="-120"/>
              </a:rPr>
              <a:t>頂点共有 ≻ 敷地内包 ≻ 引込帯（δ = 0.6 km）</a:t>
            </a:r>
            <a:endParaRPr lang="en-US" sz="1100" dirty="0"/>
          </a:p>
        </p:txBody>
      </p:sp>
      <p:sp>
        <p:nvSpPr>
          <p:cNvPr id="9" name="Text 7"/>
          <p:cNvSpPr/>
          <p:nvPr/>
        </p:nvSpPr>
        <p:spPr>
          <a:xfrm>
            <a:off x="1051560" y="2404872"/>
            <a:ext cx="5120640" cy="274320"/>
          </a:xfrm>
          <a:prstGeom prst="rect">
            <a:avLst/>
          </a:prstGeom>
          <a:noFill/>
          <a:ln/>
        </p:spPr>
        <p:txBody>
          <a:bodyPr wrap="square" lIns="0" tIns="0" rIns="0" bIns="0" rtlCol="0" anchor="ctr"/>
          <a:lstStyle/>
          <a:p>
            <a:pPr indent="0" marL="0">
              <a:buNone/>
            </a:pPr>
            <a:r>
              <a:rPr lang="en-US" sz="1100" dirty="0">
                <a:solidFill>
                  <a:srgbClr val="1E2761"/>
                </a:solidFill>
                <a:latin typeface="Hiragino Sans" pitchFamily="34" charset="0"/>
                <a:ea typeface="Hiragino Sans" pitchFamily="34" charset="-122"/>
                <a:cs typeface="Hiragino Sans" pitchFamily="34" charset="-120"/>
              </a:rPr>
              <a:t>選ばれた証拠は記録に残る。弱い証拠は弱く描く（lead-in → 破線スタブ）</a:t>
            </a:r>
            <a:endParaRPr lang="en-US" sz="1100" dirty="0"/>
          </a:p>
        </p:txBody>
      </p:sp>
      <p:sp>
        <p:nvSpPr>
          <p:cNvPr id="10" name="Text 8"/>
          <p:cNvSpPr/>
          <p:nvPr/>
        </p:nvSpPr>
        <p:spPr>
          <a:xfrm>
            <a:off x="6675120" y="1097280"/>
            <a:ext cx="484632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整合制約：物理的近接は電気的接続ではない</a:t>
            </a:r>
            <a:endParaRPr lang="en-US" sz="1250" dirty="0"/>
          </a:p>
        </p:txBody>
      </p:sp>
      <p:sp>
        <p:nvSpPr>
          <p:cNvPr id="11" name="Shape 9"/>
          <p:cNvSpPr/>
          <p:nvPr/>
        </p:nvSpPr>
        <p:spPr>
          <a:xfrm>
            <a:off x="6675120" y="1417320"/>
            <a:ext cx="4800600" cy="685800"/>
          </a:xfrm>
          <a:prstGeom prst="roundRect">
            <a:avLst>
              <a:gd name="adj" fmla="val 8000"/>
            </a:avLst>
          </a:prstGeom>
          <a:solidFill>
            <a:srgbClr val="F4F4F6"/>
          </a:solidFill>
          <a:ln/>
        </p:spPr>
      </p:sp>
      <p:sp>
        <p:nvSpPr>
          <p:cNvPr id="12" name="Text 10"/>
          <p:cNvSpPr/>
          <p:nvPr/>
        </p:nvSpPr>
        <p:spPr>
          <a:xfrm>
            <a:off x="6812280" y="1463040"/>
            <a:ext cx="4572000" cy="457200"/>
          </a:xfrm>
          <a:prstGeom prst="rect">
            <a:avLst/>
          </a:prstGeom>
          <a:noFill/>
          <a:ln/>
        </p:spPr>
        <p:txBody>
          <a:bodyPr wrap="square" lIns="0" tIns="0" rIns="0" bIns="0" rtlCol="0" anchor="ctr"/>
          <a:lstStyle/>
          <a:p>
            <a:pPr algn="l" indent="0" marL="0">
              <a:buNone/>
            </a:pPr>
            <a:r>
              <a:rPr lang="en-US" sz="1300" dirty="0">
                <a:solidFill>
                  <a:srgbClr val="1A1A1A"/>
                </a:solidFill>
                <a:latin typeface="Cambria Math" pitchFamily="34" charset="0"/>
                <a:ea typeface="Cambria Math" pitchFamily="34" charset="-122"/>
                <a:cs typeface="Cambria Math" pitchFamily="34" charset="-120"/>
              </a:rPr>
              <a:t>admit(</a:t>
            </a:r>
            <a:pPr algn="l" indent="0" marL="0">
              <a:buNone/>
            </a:pPr>
            <a:r>
              <a:rPr lang="en-US" sz="1300" i="1" dirty="0">
                <a:solidFill>
                  <a:srgbClr val="1A1A1A"/>
                </a:solidFill>
                <a:latin typeface="Cambria Math" pitchFamily="34" charset="0"/>
                <a:ea typeface="Cambria Math" pitchFamily="34" charset="-122"/>
                <a:cs typeface="Cambria Math" pitchFamily="34" charset="-120"/>
              </a:rPr>
              <a:t>ℓ</a:t>
            </a:r>
            <a:pPr algn="l" indent="0" marL="0">
              <a:buNone/>
            </a:pPr>
            <a:r>
              <a:rPr lang="en-US" sz="1300" dirty="0">
                <a:solidFill>
                  <a:srgbClr val="1A1A1A"/>
                </a:solidFill>
                <a:latin typeface="Cambria Math" pitchFamily="34" charset="0"/>
                <a:ea typeface="Cambria Math" pitchFamily="34" charset="-122"/>
                <a:cs typeface="Cambria Math" pitchFamily="34" charset="-120"/>
              </a:rPr>
              <a:t>,</a:t>
            </a:r>
            <a:pPr algn="l" indent="0" marL="0">
              <a:buNone/>
            </a:pPr>
            <a:r>
              <a:rPr lang="en-US" sz="1300" i="1" dirty="0">
                <a:solidFill>
                  <a:srgbClr val="1A1A1A"/>
                </a:solidFill>
                <a:latin typeface="Cambria Math" pitchFamily="34" charset="0"/>
                <a:ea typeface="Cambria Math" pitchFamily="34" charset="-122"/>
                <a:cs typeface="Cambria Math" pitchFamily="34" charset="-120"/>
              </a:rPr>
              <a:t>n</a:t>
            </a:r>
            <a:pPr algn="l" indent="0" marL="0">
              <a:buNone/>
            </a:pPr>
            <a:r>
              <a:rPr lang="en-US" sz="1300" dirty="0">
                <a:solidFill>
                  <a:srgbClr val="1A1A1A"/>
                </a:solidFill>
                <a:latin typeface="Cambria Math" pitchFamily="34" charset="0"/>
                <a:ea typeface="Cambria Math" pitchFamily="34" charset="-122"/>
                <a:cs typeface="Cambria Math" pitchFamily="34" charset="-120"/>
              </a:rPr>
              <a:t>) ⟺ ¬( |</a:t>
            </a:r>
            <a:pPr algn="l" indent="0" marL="0">
              <a:buNone/>
            </a:pPr>
            <a:r>
              <a:rPr lang="en-US" sz="1300" i="1" dirty="0">
                <a:solidFill>
                  <a:srgbClr val="1A1A1A"/>
                </a:solidFill>
                <a:latin typeface="Cambria Math" pitchFamily="34" charset="0"/>
                <a:ea typeface="Cambria Math" pitchFamily="34" charset="-122"/>
                <a:cs typeface="Cambria Math" pitchFamily="34" charset="-120"/>
              </a:rPr>
              <a:t>kv</a:t>
            </a:r>
            <a:pPr algn="l" indent="0" marL="0">
              <a:buNone/>
            </a:pPr>
            <a:r>
              <a:rPr lang="en-US" sz="1300" i="1" baseline="-40000" dirty="0">
                <a:solidFill>
                  <a:srgbClr val="1A1A1A"/>
                </a:solidFill>
                <a:latin typeface="Cambria Math" pitchFamily="34" charset="0"/>
                <a:ea typeface="Cambria Math" pitchFamily="34" charset="-122"/>
                <a:cs typeface="Cambria Math" pitchFamily="34" charset="-120"/>
              </a:rPr>
              <a:t>ℓ</a:t>
            </a:r>
            <a:pPr algn="l" indent="0" marL="0">
              <a:buNone/>
            </a:pPr>
            <a:r>
              <a:rPr lang="en-US" sz="1300" dirty="0">
                <a:solidFill>
                  <a:srgbClr val="1A1A1A"/>
                </a:solidFill>
                <a:latin typeface="Cambria Math" pitchFamily="34" charset="0"/>
                <a:ea typeface="Cambria Math" pitchFamily="34" charset="-122"/>
                <a:cs typeface="Cambria Math" pitchFamily="34" charset="-120"/>
              </a:rPr>
              <a:t>−</a:t>
            </a:r>
            <a:pPr algn="l" indent="0" marL="0">
              <a:buNone/>
            </a:pPr>
            <a:r>
              <a:rPr lang="en-US" sz="1300" i="1" dirty="0">
                <a:solidFill>
                  <a:srgbClr val="1A1A1A"/>
                </a:solidFill>
                <a:latin typeface="Cambria Math" pitchFamily="34" charset="0"/>
                <a:ea typeface="Cambria Math" pitchFamily="34" charset="-122"/>
                <a:cs typeface="Cambria Math" pitchFamily="34" charset="-120"/>
              </a:rPr>
              <a:t>kv</a:t>
            </a:r>
            <a:pPr algn="l" indent="0" marL="0">
              <a:buNone/>
            </a:pPr>
            <a:r>
              <a:rPr lang="en-US" sz="1300" i="1" baseline="-40000" dirty="0">
                <a:solidFill>
                  <a:srgbClr val="1A1A1A"/>
                </a:solidFill>
                <a:latin typeface="Cambria Math" pitchFamily="34" charset="0"/>
                <a:ea typeface="Cambria Math" pitchFamily="34" charset="-122"/>
                <a:cs typeface="Cambria Math" pitchFamily="34" charset="-120"/>
              </a:rPr>
              <a:t>n</a:t>
            </a:r>
            <a:pPr algn="l" indent="0" marL="0">
              <a:buNone/>
            </a:pPr>
            <a:r>
              <a:rPr lang="en-US" sz="1300" dirty="0">
                <a:solidFill>
                  <a:srgbClr val="1A1A1A"/>
                </a:solidFill>
                <a:latin typeface="Cambria Math" pitchFamily="34" charset="0"/>
                <a:ea typeface="Cambria Math" pitchFamily="34" charset="-122"/>
                <a:cs typeface="Cambria Math" pitchFamily="34" charset="-120"/>
              </a:rPr>
              <a:t>| &gt; 0.25·max(</a:t>
            </a:r>
            <a:pPr algn="l" indent="0" marL="0">
              <a:buNone/>
            </a:pPr>
            <a:r>
              <a:rPr lang="en-US" sz="1300" i="1" dirty="0">
                <a:solidFill>
                  <a:srgbClr val="1A1A1A"/>
                </a:solidFill>
                <a:latin typeface="Cambria Math" pitchFamily="34" charset="0"/>
                <a:ea typeface="Cambria Math" pitchFamily="34" charset="-122"/>
                <a:cs typeface="Cambria Math" pitchFamily="34" charset="-120"/>
              </a:rPr>
              <a:t>kv</a:t>
            </a:r>
            <a:pPr algn="l" indent="0" marL="0">
              <a:buNone/>
            </a:pPr>
            <a:r>
              <a:rPr lang="en-US" sz="1300" i="1" baseline="-40000" dirty="0">
                <a:solidFill>
                  <a:srgbClr val="1A1A1A"/>
                </a:solidFill>
                <a:latin typeface="Cambria Math" pitchFamily="34" charset="0"/>
                <a:ea typeface="Cambria Math" pitchFamily="34" charset="-122"/>
                <a:cs typeface="Cambria Math" pitchFamily="34" charset="-120"/>
              </a:rPr>
              <a:t>n</a:t>
            </a:r>
            <a:pPr algn="l" indent="0" marL="0">
              <a:buNone/>
            </a:pPr>
            <a:r>
              <a:rPr lang="en-US" sz="1300" dirty="0">
                <a:solidFill>
                  <a:srgbClr val="1A1A1A"/>
                </a:solidFill>
                <a:latin typeface="Cambria Math" pitchFamily="34" charset="0"/>
                <a:ea typeface="Cambria Math" pitchFamily="34" charset="-122"/>
                <a:cs typeface="Cambria Math" pitchFamily="34" charset="-120"/>
              </a:rPr>
              <a:t>,1) )</a:t>
            </a:r>
            <a:endParaRPr lang="en-US" sz="1300" dirty="0"/>
          </a:p>
        </p:txBody>
      </p:sp>
      <p:sp>
        <p:nvSpPr>
          <p:cNvPr id="13" name="Shape 11"/>
          <p:cNvSpPr/>
          <p:nvPr/>
        </p:nvSpPr>
        <p:spPr>
          <a:xfrm>
            <a:off x="6675120" y="2240280"/>
            <a:ext cx="4800600" cy="685800"/>
          </a:xfrm>
          <a:prstGeom prst="roundRect">
            <a:avLst>
              <a:gd name="adj" fmla="val 6667"/>
            </a:avLst>
          </a:prstGeom>
          <a:solidFill>
            <a:srgbClr val="FFFFFF"/>
          </a:solidFill>
          <a:ln w="13970">
            <a:solidFill>
              <a:srgbClr val="2E7D32"/>
            </a:solidFill>
            <a:prstDash val="solid"/>
          </a:ln>
        </p:spPr>
      </p:sp>
      <p:sp>
        <p:nvSpPr>
          <p:cNvPr id="14" name="Text 12"/>
          <p:cNvSpPr/>
          <p:nvPr/>
        </p:nvSpPr>
        <p:spPr>
          <a:xfrm>
            <a:off x="6812280" y="2240280"/>
            <a:ext cx="365760" cy="685800"/>
          </a:xfrm>
          <a:prstGeom prst="rect">
            <a:avLst/>
          </a:prstGeom>
          <a:noFill/>
          <a:ln/>
        </p:spPr>
        <p:txBody>
          <a:bodyPr wrap="square" lIns="0" tIns="0" rIns="0" bIns="0" rtlCol="0" anchor="ctr"/>
          <a:lstStyle/>
          <a:p>
            <a:pPr algn="ctr" indent="0" marL="0">
              <a:buNone/>
            </a:pPr>
            <a:r>
              <a:rPr lang="en-US" sz="1800" b="1" dirty="0">
                <a:solidFill>
                  <a:srgbClr val="2E7D32"/>
                </a:solidFill>
                <a:latin typeface="Hiragino Sans" pitchFamily="34" charset="0"/>
                <a:ea typeface="Hiragino Sans" pitchFamily="34" charset="-122"/>
                <a:cs typeface="Hiragino Sans" pitchFamily="34" charset="-120"/>
              </a:rPr>
              <a:t>✓</a:t>
            </a:r>
            <a:endParaRPr lang="en-US" sz="1800" dirty="0"/>
          </a:p>
        </p:txBody>
      </p:sp>
      <p:sp>
        <p:nvSpPr>
          <p:cNvPr id="15" name="Text 13"/>
          <p:cNvSpPr/>
          <p:nvPr/>
        </p:nvSpPr>
        <p:spPr>
          <a:xfrm>
            <a:off x="7269480" y="2313432"/>
            <a:ext cx="2011680" cy="274320"/>
          </a:xfrm>
          <a:prstGeom prst="rect">
            <a:avLst/>
          </a:prstGeom>
          <a:noFill/>
          <a:ln/>
        </p:spPr>
        <p:txBody>
          <a:bodyPr wrap="square" lIns="0" tIns="0" rIns="0" bIns="0" rtlCol="0" anchor="ctr"/>
          <a:lstStyle/>
          <a:p>
            <a:pPr indent="0" marL="0">
              <a:buNone/>
            </a:pPr>
            <a:r>
              <a:rPr lang="en-US" sz="1150" b="1" dirty="0">
                <a:solidFill>
                  <a:srgbClr val="2E7D32"/>
                </a:solidFill>
                <a:latin typeface="Hiragino Sans" pitchFamily="34" charset="0"/>
                <a:ea typeface="Hiragino Sans" pitchFamily="34" charset="-122"/>
                <a:cs typeface="Hiragino Sans" pitchFamily="34" charset="-120"/>
              </a:rPr>
              <a:t>ケースA 適合</a:t>
            </a:r>
            <a:endParaRPr lang="en-US" sz="1150" dirty="0"/>
          </a:p>
        </p:txBody>
      </p:sp>
      <p:sp>
        <p:nvSpPr>
          <p:cNvPr id="16" name="Text 14"/>
          <p:cNvSpPr/>
          <p:nvPr/>
        </p:nvSpPr>
        <p:spPr>
          <a:xfrm>
            <a:off x="7269480" y="2587752"/>
            <a:ext cx="4023360" cy="274320"/>
          </a:xfrm>
          <a:prstGeom prst="rect">
            <a:avLst/>
          </a:prstGeom>
          <a:noFill/>
          <a:ln/>
        </p:spPr>
        <p:txBody>
          <a:bodyPr wrap="square" lIns="0" tIns="0" rIns="0" bIns="0" rtlCol="0" anchor="ctr"/>
          <a:lstStyle/>
          <a:p>
            <a:pPr indent="0" marL="0">
              <a:buNone/>
            </a:pPr>
            <a:r>
              <a:rPr lang="en-US" sz="1050" dirty="0">
                <a:solidFill>
                  <a:srgbClr val="55555F"/>
                </a:solidFill>
                <a:latin typeface="Hiragino Sans" pitchFamily="34" charset="0"/>
                <a:ea typeface="Hiragino Sans" pitchFamily="34" charset="-122"/>
                <a:cs typeface="Hiragino Sans" pitchFamily="34" charset="-120"/>
              </a:rPr>
              <a:t>66 kV 線 → 66 kV ノード</a:t>
            </a:r>
            <a:endParaRPr lang="en-US" sz="1050" dirty="0"/>
          </a:p>
        </p:txBody>
      </p:sp>
      <p:sp>
        <p:nvSpPr>
          <p:cNvPr id="17" name="Shape 15"/>
          <p:cNvSpPr/>
          <p:nvPr/>
        </p:nvSpPr>
        <p:spPr>
          <a:xfrm>
            <a:off x="6675120" y="3017520"/>
            <a:ext cx="4800600" cy="685800"/>
          </a:xfrm>
          <a:prstGeom prst="roundRect">
            <a:avLst>
              <a:gd name="adj" fmla="val 6667"/>
            </a:avLst>
          </a:prstGeom>
          <a:solidFill>
            <a:srgbClr val="FFFFFF"/>
          </a:solidFill>
          <a:ln w="13970">
            <a:solidFill>
              <a:srgbClr val="C62828"/>
            </a:solidFill>
            <a:prstDash val="solid"/>
          </a:ln>
        </p:spPr>
      </p:sp>
      <p:sp>
        <p:nvSpPr>
          <p:cNvPr id="18" name="Text 16"/>
          <p:cNvSpPr/>
          <p:nvPr/>
        </p:nvSpPr>
        <p:spPr>
          <a:xfrm>
            <a:off x="6812280" y="3017520"/>
            <a:ext cx="365760" cy="685800"/>
          </a:xfrm>
          <a:prstGeom prst="rect">
            <a:avLst/>
          </a:prstGeom>
          <a:noFill/>
          <a:ln/>
        </p:spPr>
        <p:txBody>
          <a:bodyPr wrap="square" lIns="0" tIns="0" rIns="0" bIns="0" rtlCol="0" anchor="ctr"/>
          <a:lstStyle/>
          <a:p>
            <a:pPr algn="ctr" indent="0" marL="0">
              <a:buNone/>
            </a:pPr>
            <a:r>
              <a:rPr lang="en-US" sz="1800" b="1" dirty="0">
                <a:solidFill>
                  <a:srgbClr val="C62828"/>
                </a:solidFill>
                <a:latin typeface="Hiragino Sans" pitchFamily="34" charset="0"/>
                <a:ea typeface="Hiragino Sans" pitchFamily="34" charset="-122"/>
                <a:cs typeface="Hiragino Sans" pitchFamily="34" charset="-120"/>
              </a:rPr>
              <a:t>✗</a:t>
            </a:r>
            <a:endParaRPr lang="en-US" sz="1800" dirty="0"/>
          </a:p>
        </p:txBody>
      </p:sp>
      <p:sp>
        <p:nvSpPr>
          <p:cNvPr id="19" name="Text 17"/>
          <p:cNvSpPr/>
          <p:nvPr/>
        </p:nvSpPr>
        <p:spPr>
          <a:xfrm>
            <a:off x="7269480" y="3090672"/>
            <a:ext cx="2011680" cy="274320"/>
          </a:xfrm>
          <a:prstGeom prst="rect">
            <a:avLst/>
          </a:prstGeom>
          <a:noFill/>
          <a:ln/>
        </p:spPr>
        <p:txBody>
          <a:bodyPr wrap="square" lIns="0" tIns="0" rIns="0" bIns="0" rtlCol="0" anchor="ctr"/>
          <a:lstStyle/>
          <a:p>
            <a:pPr indent="0" marL="0">
              <a:buNone/>
            </a:pPr>
            <a:r>
              <a:rPr lang="en-US" sz="1150" b="1" dirty="0">
                <a:solidFill>
                  <a:srgbClr val="C62828"/>
                </a:solidFill>
                <a:latin typeface="Hiragino Sans" pitchFamily="34" charset="0"/>
                <a:ea typeface="Hiragino Sans" pitchFamily="34" charset="-122"/>
                <a:cs typeface="Hiragino Sans" pitchFamily="34" charset="-120"/>
              </a:rPr>
              <a:t>ケースB 棄却</a:t>
            </a:r>
            <a:endParaRPr lang="en-US" sz="1150" dirty="0"/>
          </a:p>
        </p:txBody>
      </p:sp>
      <p:sp>
        <p:nvSpPr>
          <p:cNvPr id="20" name="Text 18"/>
          <p:cNvSpPr/>
          <p:nvPr/>
        </p:nvSpPr>
        <p:spPr>
          <a:xfrm>
            <a:off x="7269480" y="3364992"/>
            <a:ext cx="4023360" cy="274320"/>
          </a:xfrm>
          <a:prstGeom prst="rect">
            <a:avLst/>
          </a:prstGeom>
          <a:noFill/>
          <a:ln/>
        </p:spPr>
        <p:txBody>
          <a:bodyPr wrap="square" lIns="0" tIns="0" rIns="0" bIns="0" rtlCol="0" anchor="ctr"/>
          <a:lstStyle/>
          <a:p>
            <a:pPr indent="0" marL="0">
              <a:buNone/>
            </a:pPr>
            <a:r>
              <a:rPr lang="en-US" sz="1050" dirty="0">
                <a:solidFill>
                  <a:srgbClr val="55555F"/>
                </a:solidFill>
                <a:latin typeface="Hiragino Sans" pitchFamily="34" charset="0"/>
                <a:ea typeface="Hiragino Sans" pitchFamily="34" charset="-122"/>
                <a:cs typeface="Hiragino Sans" pitchFamily="34" charset="-120"/>
              </a:rPr>
              <a:t>66 kV 線 → 154 kV ノード（80 m 以内）</a:t>
            </a:r>
            <a:endParaRPr lang="en-US" sz="1050" dirty="0"/>
          </a:p>
        </p:txBody>
      </p:sp>
      <p:sp>
        <p:nvSpPr>
          <p:cNvPr id="21" name="Shape 19"/>
          <p:cNvSpPr/>
          <p:nvPr/>
        </p:nvSpPr>
        <p:spPr>
          <a:xfrm>
            <a:off x="822960" y="3977640"/>
            <a:ext cx="10607040" cy="1371600"/>
          </a:xfrm>
          <a:prstGeom prst="roundRect">
            <a:avLst>
              <a:gd name="adj" fmla="val 4000"/>
            </a:avLst>
          </a:prstGeom>
          <a:solidFill>
            <a:srgbClr val="F4F4F6"/>
          </a:solidFill>
          <a:ln/>
        </p:spPr>
      </p:sp>
      <p:sp>
        <p:nvSpPr>
          <p:cNvPr id="22" name="Text 20"/>
          <p:cNvSpPr/>
          <p:nvPr/>
        </p:nvSpPr>
        <p:spPr>
          <a:xfrm>
            <a:off x="1051560" y="4114800"/>
            <a:ext cx="365760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ゲートが効いた実例</a:t>
            </a:r>
            <a:endParaRPr lang="en-US" sz="1250" dirty="0"/>
          </a:p>
        </p:txBody>
      </p:sp>
      <p:sp>
        <p:nvSpPr>
          <p:cNvPr id="23" name="Text 21"/>
          <p:cNvSpPr/>
          <p:nvPr/>
        </p:nvSpPr>
        <p:spPr>
          <a:xfrm>
            <a:off x="1051560" y="4434840"/>
            <a:ext cx="10149840" cy="777240"/>
          </a:xfrm>
          <a:prstGeom prst="rect">
            <a:avLst/>
          </a:prstGeom>
          <a:noFill/>
          <a:ln/>
        </p:spPr>
        <p:txBody>
          <a:bodyPr wrap="square" lIns="0" tIns="0" rIns="0" bIns="0" rtlCol="0" anchor="ctr"/>
          <a:lstStyle/>
          <a:p>
            <a:pPr indent="0" marL="0">
              <a:lnSpc>
                <a:spcPts val="1900"/>
              </a:lnSpc>
              <a:buNone/>
            </a:pPr>
            <a:r>
              <a:rPr lang="en-US" sz="1250" dirty="0">
                <a:solidFill>
                  <a:srgbClr val="1A1A1A"/>
                </a:solidFill>
                <a:latin typeface="Hiragino Sans" pitchFamily="34" charset="0"/>
                <a:ea typeface="Hiragino Sans" pitchFamily="34" charset="-122"/>
                <a:cs typeface="Hiragino Sans" pitchFamily="34" charset="-120"/>
              </a:rPr>
              <a:t>154 kV ジャンクションに 80 m 以内で接する 66 kV フラグメントを正しく棄却した。後の診断で、そのフラグメント自体が</a:t>
            </a:r>
            <a:endParaRPr lang="en-US" sz="1250" dirty="0"/>
          </a:p>
          <a:p>
            <a:pPr indent="0" marL="0">
              <a:lnSpc>
                <a:spcPts val="1900"/>
              </a:lnSpc>
              <a:buNone/>
            </a:pPr>
            <a:r>
              <a:rPr lang="en-US" sz="1250" dirty="0">
                <a:solidFill>
                  <a:srgbClr val="1A1A1A"/>
                </a:solidFill>
                <a:latin typeface="Hiragino Sans" pitchFamily="34" charset="0"/>
                <a:ea typeface="Hiragino Sans" pitchFamily="34" charset="-122"/>
                <a:cs typeface="Hiragino Sans" pitchFamily="34" charset="-120"/>
              </a:rPr>
              <a:t>クロスリージョン登録アーティファクトだと判明 — ゲートは、真因が別の場所にある誤りを未然に防いだ。</a:t>
            </a:r>
            <a:endParaRPr lang="en-US" sz="1250" dirty="0"/>
          </a:p>
        </p:txBody>
      </p:sp>
      <p:sp>
        <p:nvSpPr>
          <p:cNvPr id="24" name="Text 22"/>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25" name="Text 23"/>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1:05</a:t>
            </a:r>
            <a:endParaRPr lang="en-US" sz="900" dirty="0"/>
          </a:p>
        </p:txBody>
      </p:sp>
      <p:sp>
        <p:nvSpPr>
          <p:cNvPr id="26" name="Text 24"/>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§V</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回線数：埋めずに、証明付きの下界として保証する</a:t>
            </a:r>
            <a:endParaRPr lang="en-US" sz="2200" dirty="0"/>
          </a:p>
        </p:txBody>
      </p:sp>
      <p:sp>
        <p:nvSpPr>
          <p:cNvPr id="5" name="Shape 3"/>
          <p:cNvSpPr/>
          <p:nvPr/>
        </p:nvSpPr>
        <p:spPr>
          <a:xfrm>
            <a:off x="822960" y="1051560"/>
            <a:ext cx="10607040" cy="1325880"/>
          </a:xfrm>
          <a:prstGeom prst="roundRect">
            <a:avLst>
              <a:gd name="adj" fmla="val 4138"/>
            </a:avLst>
          </a:prstGeom>
          <a:solidFill>
            <a:srgbClr val="F4F4F6"/>
          </a:solidFill>
          <a:ln/>
        </p:spPr>
      </p:sp>
      <p:sp>
        <p:nvSpPr>
          <p:cNvPr id="6" name="Text 4"/>
          <p:cNvSpPr/>
          <p:nvPr/>
        </p:nvSpPr>
        <p:spPr>
          <a:xfrm>
            <a:off x="2286000" y="1481328"/>
            <a:ext cx="1005840" cy="457200"/>
          </a:xfrm>
          <a:prstGeom prst="rect">
            <a:avLst/>
          </a:prstGeom>
          <a:noFill/>
          <a:ln/>
        </p:spPr>
        <p:txBody>
          <a:bodyPr wrap="square" lIns="0" tIns="0" rIns="0" bIns="0" rtlCol="0" anchor="ctr"/>
          <a:lstStyle/>
          <a:p>
            <a:pPr algn="r" indent="0" marL="0">
              <a:buNone/>
            </a:pPr>
            <a:r>
              <a:rPr lang="en-US" sz="2000" i="1" dirty="0">
                <a:solidFill>
                  <a:srgbClr val="1A1A1A"/>
                </a:solidFill>
                <a:latin typeface="Cambria Math" pitchFamily="34" charset="0"/>
                <a:ea typeface="Cambria Math" pitchFamily="34" charset="-122"/>
                <a:cs typeface="Cambria Math" pitchFamily="34" charset="-120"/>
              </a:rPr>
              <a:t>ĉ</a:t>
            </a:r>
            <a:pPr algn="r" indent="0" marL="0">
              <a:buNone/>
            </a:pPr>
            <a:r>
              <a:rPr lang="en-US" sz="2000" dirty="0">
                <a:solidFill>
                  <a:srgbClr val="1A1A1A"/>
                </a:solidFill>
                <a:latin typeface="Cambria Math" pitchFamily="34" charset="0"/>
                <a:ea typeface="Cambria Math" pitchFamily="34" charset="-122"/>
                <a:cs typeface="Cambria Math" pitchFamily="34" charset="-120"/>
              </a:rPr>
              <a:t>(</a:t>
            </a:r>
            <a:pPr algn="r" indent="0" marL="0">
              <a:buNone/>
            </a:pPr>
            <a:r>
              <a:rPr lang="en-US" sz="2000" i="1" dirty="0">
                <a:solidFill>
                  <a:srgbClr val="1A1A1A"/>
                </a:solidFill>
                <a:latin typeface="Cambria Math" pitchFamily="34" charset="0"/>
                <a:ea typeface="Cambria Math" pitchFamily="34" charset="-122"/>
                <a:cs typeface="Cambria Math" pitchFamily="34" charset="-120"/>
              </a:rPr>
              <a:t>w</a:t>
            </a:r>
            <a:pPr algn="r" indent="0" marL="0">
              <a:buNone/>
            </a:pPr>
            <a:r>
              <a:rPr lang="en-US" sz="2000" dirty="0">
                <a:solidFill>
                  <a:srgbClr val="1A1A1A"/>
                </a:solidFill>
                <a:latin typeface="Cambria Math" pitchFamily="34" charset="0"/>
                <a:ea typeface="Cambria Math" pitchFamily="34" charset="-122"/>
                <a:cs typeface="Cambria Math" pitchFamily="34" charset="-120"/>
              </a:rPr>
              <a:t>) =</a:t>
            </a:r>
            <a:endParaRPr lang="en-US" sz="2000" dirty="0"/>
          </a:p>
        </p:txBody>
      </p:sp>
      <p:sp>
        <p:nvSpPr>
          <p:cNvPr id="7" name="Text 5"/>
          <p:cNvSpPr/>
          <p:nvPr/>
        </p:nvSpPr>
        <p:spPr>
          <a:xfrm>
            <a:off x="3310128" y="1170432"/>
            <a:ext cx="365760" cy="1097280"/>
          </a:xfrm>
          <a:prstGeom prst="rect">
            <a:avLst/>
          </a:prstGeom>
          <a:noFill/>
          <a:ln/>
        </p:spPr>
        <p:txBody>
          <a:bodyPr wrap="square" lIns="0" tIns="0" rIns="0" bIns="0" rtlCol="0" anchor="ctr"/>
          <a:lstStyle/>
          <a:p>
            <a:pPr indent="0" marL="0">
              <a:buNone/>
            </a:pPr>
            <a:r>
              <a:rPr lang="en-US" sz="4400" dirty="0">
                <a:solidFill>
                  <a:srgbClr val="1A1A1A"/>
                </a:solidFill>
                <a:latin typeface="Cambria Math" pitchFamily="34" charset="0"/>
                <a:ea typeface="Cambria Math" pitchFamily="34" charset="-122"/>
                <a:cs typeface="Cambria Math" pitchFamily="34" charset="-120"/>
              </a:rPr>
              <a:t>{</a:t>
            </a:r>
            <a:endParaRPr lang="en-US" sz="4400" dirty="0"/>
          </a:p>
        </p:txBody>
      </p:sp>
      <p:sp>
        <p:nvSpPr>
          <p:cNvPr id="8" name="Text 6"/>
          <p:cNvSpPr/>
          <p:nvPr/>
        </p:nvSpPr>
        <p:spPr>
          <a:xfrm>
            <a:off x="3611880" y="1115568"/>
            <a:ext cx="2286000" cy="457200"/>
          </a:xfrm>
          <a:prstGeom prst="rect">
            <a:avLst/>
          </a:prstGeom>
          <a:noFill/>
          <a:ln/>
        </p:spPr>
        <p:txBody>
          <a:bodyPr wrap="square" lIns="0" tIns="0" rIns="0" bIns="0" rtlCol="0" anchor="ctr"/>
          <a:lstStyle/>
          <a:p>
            <a:pPr algn="l" indent="0" marL="0">
              <a:buNone/>
            </a:pPr>
            <a:r>
              <a:rPr lang="en-US" sz="1800" i="1" dirty="0">
                <a:solidFill>
                  <a:srgbClr val="1A1A1A"/>
                </a:solidFill>
                <a:latin typeface="Cambria Math" pitchFamily="34" charset="0"/>
                <a:ea typeface="Cambria Math" pitchFamily="34" charset="-122"/>
                <a:cs typeface="Cambria Math" pitchFamily="34" charset="-120"/>
              </a:rPr>
              <a:t>c</a:t>
            </a:r>
            <a:pPr algn="l" indent="0" marL="0">
              <a:buNone/>
            </a:pPr>
            <a:r>
              <a:rPr lang="en-US" sz="1800" baseline="-40000" dirty="0">
                <a:solidFill>
                  <a:srgbClr val="1A1A1A"/>
                </a:solidFill>
                <a:latin typeface="Cambria Math" pitchFamily="34" charset="0"/>
                <a:ea typeface="Cambria Math" pitchFamily="34" charset="-122"/>
                <a:cs typeface="Cambria Math" pitchFamily="34" charset="-120"/>
              </a:rPr>
              <a:t>tag</a:t>
            </a:r>
            <a:pPr algn="l" indent="0" marL="0">
              <a:buNone/>
            </a:pPr>
            <a:r>
              <a:rPr lang="en-US" sz="1800" dirty="0">
                <a:solidFill>
                  <a:srgbClr val="1A1A1A"/>
                </a:solidFill>
                <a:latin typeface="Cambria Math" pitchFamily="34" charset="0"/>
                <a:ea typeface="Cambria Math" pitchFamily="34" charset="-122"/>
                <a:cs typeface="Cambria Math" pitchFamily="34" charset="-120"/>
              </a:rPr>
              <a:t>(</a:t>
            </a:r>
            <a:pPr algn="l" indent="0" marL="0">
              <a:buNone/>
            </a:pPr>
            <a:r>
              <a:rPr lang="en-US" sz="1800" i="1" dirty="0">
                <a:solidFill>
                  <a:srgbClr val="1A1A1A"/>
                </a:solidFill>
                <a:latin typeface="Cambria Math" pitchFamily="34" charset="0"/>
                <a:ea typeface="Cambria Math" pitchFamily="34" charset="-122"/>
                <a:cs typeface="Cambria Math" pitchFamily="34" charset="-120"/>
              </a:rPr>
              <a:t>w</a:t>
            </a:r>
            <a:pPr algn="l" indent="0" marL="0">
              <a:buNone/>
            </a:pPr>
            <a:r>
              <a:rPr lang="en-US" sz="1800" dirty="0">
                <a:solidFill>
                  <a:srgbClr val="1A1A1A"/>
                </a:solidFill>
                <a:latin typeface="Cambria Math" pitchFamily="34" charset="0"/>
                <a:ea typeface="Cambria Math" pitchFamily="34" charset="-122"/>
                <a:cs typeface="Cambria Math" pitchFamily="34" charset="-120"/>
              </a:rPr>
              <a:t>)</a:t>
            </a:r>
            <a:endParaRPr lang="en-US" sz="1800" dirty="0"/>
          </a:p>
        </p:txBody>
      </p:sp>
      <p:sp>
        <p:nvSpPr>
          <p:cNvPr id="9" name="Text 7"/>
          <p:cNvSpPr/>
          <p:nvPr/>
        </p:nvSpPr>
        <p:spPr>
          <a:xfrm>
            <a:off x="6126480" y="1207008"/>
            <a:ext cx="3840480" cy="274320"/>
          </a:xfrm>
          <a:prstGeom prst="rect">
            <a:avLst/>
          </a:prstGeom>
          <a:noFill/>
          <a:ln/>
        </p:spPr>
        <p:txBody>
          <a:bodyPr wrap="square" lIns="0" tIns="0" rIns="0" bIns="0" rtlCol="0" anchor="ctr"/>
          <a:lstStyle/>
          <a:p>
            <a:pPr indent="0" marL="0">
              <a:buNone/>
            </a:pPr>
            <a:r>
              <a:rPr lang="en-US" sz="1100" dirty="0">
                <a:solidFill>
                  <a:srgbClr val="55555F"/>
                </a:solidFill>
                <a:latin typeface="Hiragino Sans" pitchFamily="34" charset="0"/>
                <a:ea typeface="Hiragino Sans" pitchFamily="34" charset="-122"/>
                <a:cs typeface="Hiragino Sans" pitchFamily="34" charset="-120"/>
              </a:rPr>
              <a:t>circuits タグがある</a:t>
            </a:r>
            <a:endParaRPr lang="en-US" sz="1100" dirty="0"/>
          </a:p>
        </p:txBody>
      </p:sp>
      <p:sp>
        <p:nvSpPr>
          <p:cNvPr id="10" name="Text 8"/>
          <p:cNvSpPr/>
          <p:nvPr/>
        </p:nvSpPr>
        <p:spPr>
          <a:xfrm>
            <a:off x="3611880" y="1481328"/>
            <a:ext cx="2286000" cy="457200"/>
          </a:xfrm>
          <a:prstGeom prst="rect">
            <a:avLst/>
          </a:prstGeom>
          <a:noFill/>
          <a:ln/>
        </p:spPr>
        <p:txBody>
          <a:bodyPr wrap="square" lIns="0" tIns="0" rIns="0" bIns="0" rtlCol="0" anchor="ctr"/>
          <a:lstStyle/>
          <a:p>
            <a:pPr algn="l" indent="0" marL="0">
              <a:buNone/>
            </a:pPr>
            <a:r>
              <a:rPr lang="en-US" sz="1800" dirty="0">
                <a:solidFill>
                  <a:srgbClr val="1A1A1A"/>
                </a:solidFill>
                <a:latin typeface="Cambria Math" pitchFamily="34" charset="0"/>
                <a:ea typeface="Cambria Math" pitchFamily="34" charset="-122"/>
                <a:cs typeface="Cambria Math" pitchFamily="34" charset="-120"/>
              </a:rPr>
              <a:t>⌊</a:t>
            </a:r>
            <a:pPr algn="l" indent="0" marL="0">
              <a:buNone/>
            </a:pPr>
            <a:r>
              <a:rPr lang="en-US" sz="1800" i="1" dirty="0">
                <a:solidFill>
                  <a:srgbClr val="1A1A1A"/>
                </a:solidFill>
                <a:latin typeface="Cambria Math" pitchFamily="34" charset="0"/>
                <a:ea typeface="Cambria Math" pitchFamily="34" charset="-122"/>
                <a:cs typeface="Cambria Math" pitchFamily="34" charset="-120"/>
              </a:rPr>
              <a:t>n</a:t>
            </a:r>
            <a:pPr algn="l" indent="0" marL="0">
              <a:buNone/>
            </a:pPr>
            <a:r>
              <a:rPr lang="en-US" sz="1800" baseline="-40000" dirty="0">
                <a:solidFill>
                  <a:srgbClr val="1A1A1A"/>
                </a:solidFill>
                <a:latin typeface="Cambria Math" pitchFamily="34" charset="0"/>
                <a:ea typeface="Cambria Math" pitchFamily="34" charset="-122"/>
                <a:cs typeface="Cambria Math" pitchFamily="34" charset="-120"/>
              </a:rPr>
              <a:t>cables</a:t>
            </a:r>
            <a:pPr algn="l" indent="0" marL="0">
              <a:buNone/>
            </a:pPr>
            <a:r>
              <a:rPr lang="en-US" sz="1800" dirty="0">
                <a:solidFill>
                  <a:srgbClr val="1A1A1A"/>
                </a:solidFill>
                <a:latin typeface="Cambria Math" pitchFamily="34" charset="0"/>
                <a:ea typeface="Cambria Math" pitchFamily="34" charset="-122"/>
                <a:cs typeface="Cambria Math" pitchFamily="34" charset="-120"/>
              </a:rPr>
              <a:t>(</a:t>
            </a:r>
            <a:pPr algn="l" indent="0" marL="0">
              <a:buNone/>
            </a:pPr>
            <a:r>
              <a:rPr lang="en-US" sz="1800" i="1" dirty="0">
                <a:solidFill>
                  <a:srgbClr val="1A1A1A"/>
                </a:solidFill>
                <a:latin typeface="Cambria Math" pitchFamily="34" charset="0"/>
                <a:ea typeface="Cambria Math" pitchFamily="34" charset="-122"/>
                <a:cs typeface="Cambria Math" pitchFamily="34" charset="-120"/>
              </a:rPr>
              <a:t>w</a:t>
            </a:r>
            <a:pPr algn="l" indent="0" marL="0">
              <a:buNone/>
            </a:pPr>
            <a:r>
              <a:rPr lang="en-US" sz="1800" dirty="0">
                <a:solidFill>
                  <a:srgbClr val="1A1A1A"/>
                </a:solidFill>
                <a:latin typeface="Cambria Math" pitchFamily="34" charset="0"/>
                <a:ea typeface="Cambria Math" pitchFamily="34" charset="-122"/>
                <a:cs typeface="Cambria Math" pitchFamily="34" charset="-120"/>
              </a:rPr>
              <a:t>)/3⌋</a:t>
            </a:r>
            <a:endParaRPr lang="en-US" sz="1800" dirty="0"/>
          </a:p>
        </p:txBody>
      </p:sp>
      <p:sp>
        <p:nvSpPr>
          <p:cNvPr id="11" name="Text 9"/>
          <p:cNvSpPr/>
          <p:nvPr/>
        </p:nvSpPr>
        <p:spPr>
          <a:xfrm>
            <a:off x="6126480" y="1572768"/>
            <a:ext cx="3840480" cy="274320"/>
          </a:xfrm>
          <a:prstGeom prst="rect">
            <a:avLst/>
          </a:prstGeom>
          <a:noFill/>
          <a:ln/>
        </p:spPr>
        <p:txBody>
          <a:bodyPr wrap="square" lIns="0" tIns="0" rIns="0" bIns="0" rtlCol="0" anchor="ctr"/>
          <a:lstStyle/>
          <a:p>
            <a:pPr indent="0" marL="0">
              <a:buNone/>
            </a:pPr>
            <a:r>
              <a:rPr lang="en-US" sz="1100" dirty="0">
                <a:solidFill>
                  <a:srgbClr val="55555F"/>
                </a:solidFill>
                <a:latin typeface="Hiragino Sans" pitchFamily="34" charset="0"/>
                <a:ea typeface="Hiragino Sans" pitchFamily="34" charset="-122"/>
                <a:cs typeface="Hiragino Sans" pitchFamily="34" charset="-120"/>
              </a:rPr>
              <a:t>circuits が無く cables がある（切り捨て）</a:t>
            </a:r>
            <a:endParaRPr lang="en-US" sz="1100" dirty="0"/>
          </a:p>
        </p:txBody>
      </p:sp>
      <p:sp>
        <p:nvSpPr>
          <p:cNvPr id="12" name="Text 10"/>
          <p:cNvSpPr/>
          <p:nvPr/>
        </p:nvSpPr>
        <p:spPr>
          <a:xfrm>
            <a:off x="3611880" y="1847088"/>
            <a:ext cx="2286000" cy="457200"/>
          </a:xfrm>
          <a:prstGeom prst="rect">
            <a:avLst/>
          </a:prstGeom>
          <a:noFill/>
          <a:ln/>
        </p:spPr>
        <p:txBody>
          <a:bodyPr wrap="square" lIns="0" tIns="0" rIns="0" bIns="0" rtlCol="0" anchor="ctr"/>
          <a:lstStyle/>
          <a:p>
            <a:pPr algn="l" indent="0" marL="0">
              <a:buNone/>
            </a:pPr>
            <a:r>
              <a:rPr lang="en-US" sz="1800" dirty="0">
                <a:solidFill>
                  <a:srgbClr val="1A1A1A"/>
                </a:solidFill>
                <a:latin typeface="Cambria Math" pitchFamily="34" charset="0"/>
                <a:ea typeface="Cambria Math" pitchFamily="34" charset="-122"/>
                <a:cs typeface="Cambria Math" pitchFamily="34" charset="-120"/>
              </a:rPr>
              <a:t>1</a:t>
            </a:r>
            <a:endParaRPr lang="en-US" sz="1800" dirty="0"/>
          </a:p>
        </p:txBody>
      </p:sp>
      <p:sp>
        <p:nvSpPr>
          <p:cNvPr id="13" name="Text 11"/>
          <p:cNvSpPr/>
          <p:nvPr/>
        </p:nvSpPr>
        <p:spPr>
          <a:xfrm>
            <a:off x="6126480" y="1938528"/>
            <a:ext cx="3840480" cy="274320"/>
          </a:xfrm>
          <a:prstGeom prst="rect">
            <a:avLst/>
          </a:prstGeom>
          <a:noFill/>
          <a:ln/>
        </p:spPr>
        <p:txBody>
          <a:bodyPr wrap="square" lIns="0" tIns="0" rIns="0" bIns="0" rtlCol="0" anchor="ctr"/>
          <a:lstStyle/>
          <a:p>
            <a:pPr indent="0" marL="0">
              <a:buNone/>
            </a:pPr>
            <a:r>
              <a:rPr lang="en-US" sz="1100" dirty="0">
                <a:solidFill>
                  <a:srgbClr val="55555F"/>
                </a:solidFill>
                <a:latin typeface="Hiragino Sans" pitchFamily="34" charset="0"/>
                <a:ea typeface="Hiragino Sans" pitchFamily="34" charset="-122"/>
                <a:cs typeface="Hiragino Sans" pitchFamily="34" charset="-120"/>
              </a:rPr>
              <a:t>どちらの証拠も無い（存在の下限）</a:t>
            </a:r>
            <a:endParaRPr lang="en-US" sz="1100" dirty="0"/>
          </a:p>
        </p:txBody>
      </p:sp>
      <p:sp>
        <p:nvSpPr>
          <p:cNvPr id="14" name="Shape 12"/>
          <p:cNvSpPr/>
          <p:nvPr/>
        </p:nvSpPr>
        <p:spPr>
          <a:xfrm>
            <a:off x="822960" y="2487168"/>
            <a:ext cx="10607040" cy="1965960"/>
          </a:xfrm>
          <a:prstGeom prst="roundRect">
            <a:avLst>
              <a:gd name="adj" fmla="val 2791"/>
            </a:avLst>
          </a:prstGeom>
          <a:solidFill>
            <a:srgbClr val="FFFFFF"/>
          </a:solidFill>
          <a:ln w="15240">
            <a:solidFill>
              <a:srgbClr val="1E2761"/>
            </a:solidFill>
            <a:prstDash val="solid"/>
          </a:ln>
        </p:spPr>
      </p:sp>
      <p:sp>
        <p:nvSpPr>
          <p:cNvPr id="15" name="Text 13"/>
          <p:cNvSpPr/>
          <p:nvPr/>
        </p:nvSpPr>
        <p:spPr>
          <a:xfrm>
            <a:off x="1051560" y="2596896"/>
            <a:ext cx="3657600" cy="274320"/>
          </a:xfrm>
          <a:prstGeom prst="rect">
            <a:avLst/>
          </a:prstGeom>
          <a:noFill/>
          <a:ln/>
        </p:spPr>
        <p:txBody>
          <a:bodyPr wrap="square" lIns="0" tIns="0" rIns="0" bIns="0" rtlCol="0" anchor="ctr"/>
          <a:lstStyle/>
          <a:p>
            <a:pPr indent="0" marL="0">
              <a:buNone/>
            </a:pPr>
            <a:r>
              <a:rPr lang="en-US" sz="1300" b="1" dirty="0">
                <a:solidFill>
                  <a:srgbClr val="1E2761"/>
                </a:solidFill>
                <a:latin typeface="Hiragino Sans" pitchFamily="34" charset="0"/>
                <a:ea typeface="Hiragino Sans" pitchFamily="34" charset="-122"/>
                <a:cs typeface="Hiragino Sans" pitchFamily="34" charset="-120"/>
              </a:rPr>
              <a:t>命題 2（下界性）</a:t>
            </a:r>
            <a:endParaRPr lang="en-US" sz="1300" dirty="0"/>
          </a:p>
        </p:txBody>
      </p:sp>
      <p:sp>
        <p:nvSpPr>
          <p:cNvPr id="16" name="Text 14"/>
          <p:cNvSpPr/>
          <p:nvPr/>
        </p:nvSpPr>
        <p:spPr>
          <a:xfrm>
            <a:off x="1051560" y="2880360"/>
            <a:ext cx="10149840" cy="457200"/>
          </a:xfrm>
          <a:prstGeom prst="rect">
            <a:avLst/>
          </a:prstGeom>
          <a:noFill/>
          <a:ln/>
        </p:spPr>
        <p:txBody>
          <a:bodyPr wrap="square" lIns="0" tIns="0" rIns="0" bIns="0" rtlCol="0" anchor="ctr"/>
          <a:lstStyle/>
          <a:p>
            <a:pPr algn="ctr" indent="0" marL="0">
              <a:buNone/>
            </a:pPr>
            <a:r>
              <a:rPr lang="en-US" sz="2000" i="1" dirty="0">
                <a:solidFill>
                  <a:srgbClr val="1A1A1A"/>
                </a:solidFill>
                <a:latin typeface="Cambria Math" pitchFamily="34" charset="0"/>
                <a:ea typeface="Cambria Math" pitchFamily="34" charset="-122"/>
                <a:cs typeface="Cambria Math" pitchFamily="34" charset="-120"/>
              </a:rPr>
              <a:t>c</a:t>
            </a:r>
            <a:pPr algn="ctr" indent="0" marL="0">
              <a:buNone/>
            </a:pPr>
            <a:r>
              <a:rPr lang="en-US" sz="2000" baseline="-40000" dirty="0">
                <a:solidFill>
                  <a:srgbClr val="1A1A1A"/>
                </a:solidFill>
                <a:latin typeface="Cambria Math" pitchFamily="34" charset="0"/>
                <a:ea typeface="Cambria Math" pitchFamily="34" charset="-122"/>
                <a:cs typeface="Cambria Math" pitchFamily="34" charset="-120"/>
              </a:rPr>
              <a:t>sum</a:t>
            </a:r>
            <a:pPr algn="ctr" indent="0" marL="0">
              <a:buNone/>
            </a:pPr>
            <a:r>
              <a:rPr lang="en-US" sz="2000" dirty="0">
                <a:solidFill>
                  <a:srgbClr val="1A1A1A"/>
                </a:solidFill>
                <a:latin typeface="Cambria Math" pitchFamily="34" charset="0"/>
                <a:ea typeface="Cambria Math" pitchFamily="34" charset="-122"/>
                <a:cs typeface="Cambria Math" pitchFamily="34" charset="-120"/>
              </a:rPr>
              <a:t>(</a:t>
            </a:r>
            <a:pPr algn="ctr" indent="0" marL="0">
              <a:buNone/>
            </a:pPr>
            <a:r>
              <a:rPr lang="en-US" sz="2000" i="1" dirty="0">
                <a:solidFill>
                  <a:srgbClr val="1A1A1A"/>
                </a:solidFill>
                <a:latin typeface="Cambria Math" pitchFamily="34" charset="0"/>
                <a:ea typeface="Cambria Math" pitchFamily="34" charset="-122"/>
                <a:cs typeface="Cambria Math" pitchFamily="34" charset="-120"/>
              </a:rPr>
              <a:t>s</a:t>
            </a:r>
            <a:pPr algn="ctr" indent="0" marL="0">
              <a:buNone/>
            </a:pPr>
            <a:r>
              <a:rPr lang="en-US" sz="2000" dirty="0">
                <a:solidFill>
                  <a:srgbClr val="1A1A1A"/>
                </a:solidFill>
                <a:latin typeface="Cambria Math" pitchFamily="34" charset="0"/>
                <a:ea typeface="Cambria Math" pitchFamily="34" charset="-122"/>
                <a:cs typeface="Cambria Math" pitchFamily="34" charset="-120"/>
              </a:rPr>
              <a:t>,</a:t>
            </a:r>
            <a:pPr algn="ctr" indent="0" marL="0">
              <a:buNone/>
            </a:pPr>
            <a:r>
              <a:rPr lang="en-US" sz="2000" i="1" dirty="0">
                <a:solidFill>
                  <a:srgbClr val="1A1A1A"/>
                </a:solidFill>
                <a:latin typeface="Cambria Math" pitchFamily="34" charset="0"/>
                <a:ea typeface="Cambria Math" pitchFamily="34" charset="-122"/>
                <a:cs typeface="Cambria Math" pitchFamily="34" charset="-120"/>
              </a:rPr>
              <a:t>v</a:t>
            </a:r>
            <a:pPr algn="ctr" indent="0" marL="0">
              <a:buNone/>
            </a:pPr>
            <a:r>
              <a:rPr lang="en-US" sz="2000" dirty="0">
                <a:solidFill>
                  <a:srgbClr val="1A1A1A"/>
                </a:solidFill>
                <a:latin typeface="Cambria Math" pitchFamily="34" charset="0"/>
                <a:ea typeface="Cambria Math" pitchFamily="34" charset="-122"/>
                <a:cs typeface="Cambria Math" pitchFamily="34" charset="-120"/>
              </a:rPr>
              <a:t>)  ≤  </a:t>
            </a:r>
            <a:pPr algn="ctr" indent="0" marL="0">
              <a:buNone/>
            </a:pPr>
            <a:r>
              <a:rPr lang="en-US" sz="2000" i="1" dirty="0">
                <a:solidFill>
                  <a:srgbClr val="1A1A1A"/>
                </a:solidFill>
                <a:latin typeface="Cambria Math" pitchFamily="34" charset="0"/>
                <a:ea typeface="Cambria Math" pitchFamily="34" charset="-122"/>
                <a:cs typeface="Cambria Math" pitchFamily="34" charset="-120"/>
              </a:rPr>
              <a:t>c</a:t>
            </a:r>
            <a:pPr algn="ctr" indent="0" marL="0">
              <a:buNone/>
            </a:pPr>
            <a:r>
              <a:rPr lang="en-US" sz="2000" baseline="-40000" dirty="0">
                <a:solidFill>
                  <a:srgbClr val="1A1A1A"/>
                </a:solidFill>
                <a:latin typeface="Cambria Math" pitchFamily="34" charset="0"/>
                <a:ea typeface="Cambria Math" pitchFamily="34" charset="-122"/>
                <a:cs typeface="Cambria Math" pitchFamily="34" charset="-120"/>
              </a:rPr>
              <a:t>est</a:t>
            </a:r>
            <a:pPr algn="ctr" indent="0" marL="0">
              <a:buNone/>
            </a:pPr>
            <a:r>
              <a:rPr lang="en-US" sz="2000" dirty="0">
                <a:solidFill>
                  <a:srgbClr val="1A1A1A"/>
                </a:solidFill>
                <a:latin typeface="Cambria Math" pitchFamily="34" charset="0"/>
                <a:ea typeface="Cambria Math" pitchFamily="34" charset="-122"/>
                <a:cs typeface="Cambria Math" pitchFamily="34" charset="-120"/>
              </a:rPr>
              <a:t>(</a:t>
            </a:r>
            <a:pPr algn="ctr" indent="0" marL="0">
              <a:buNone/>
            </a:pPr>
            <a:r>
              <a:rPr lang="en-US" sz="2000" i="1" dirty="0">
                <a:solidFill>
                  <a:srgbClr val="1A1A1A"/>
                </a:solidFill>
                <a:latin typeface="Cambria Math" pitchFamily="34" charset="0"/>
                <a:ea typeface="Cambria Math" pitchFamily="34" charset="-122"/>
                <a:cs typeface="Cambria Math" pitchFamily="34" charset="-120"/>
              </a:rPr>
              <a:t>s</a:t>
            </a:r>
            <a:pPr algn="ctr" indent="0" marL="0">
              <a:buNone/>
            </a:pPr>
            <a:r>
              <a:rPr lang="en-US" sz="2000" dirty="0">
                <a:solidFill>
                  <a:srgbClr val="1A1A1A"/>
                </a:solidFill>
                <a:latin typeface="Cambria Math" pitchFamily="34" charset="0"/>
                <a:ea typeface="Cambria Math" pitchFamily="34" charset="-122"/>
                <a:cs typeface="Cambria Math" pitchFamily="34" charset="-120"/>
              </a:rPr>
              <a:t>,</a:t>
            </a:r>
            <a:pPr algn="ctr" indent="0" marL="0">
              <a:buNone/>
            </a:pPr>
            <a:r>
              <a:rPr lang="en-US" sz="2000" i="1" dirty="0">
                <a:solidFill>
                  <a:srgbClr val="1A1A1A"/>
                </a:solidFill>
                <a:latin typeface="Cambria Math" pitchFamily="34" charset="0"/>
                <a:ea typeface="Cambria Math" pitchFamily="34" charset="-122"/>
                <a:cs typeface="Cambria Math" pitchFamily="34" charset="-120"/>
              </a:rPr>
              <a:t>v</a:t>
            </a:r>
            <a:pPr algn="ctr" indent="0" marL="0">
              <a:buNone/>
            </a:pPr>
            <a:r>
              <a:rPr lang="en-US" sz="2000" dirty="0">
                <a:solidFill>
                  <a:srgbClr val="1A1A1A"/>
                </a:solidFill>
                <a:latin typeface="Cambria Math" pitchFamily="34" charset="0"/>
                <a:ea typeface="Cambria Math" pitchFamily="34" charset="-122"/>
                <a:cs typeface="Cambria Math" pitchFamily="34" charset="-120"/>
              </a:rPr>
              <a:t>)  ≤  </a:t>
            </a:r>
            <a:pPr algn="ctr" indent="0" marL="0">
              <a:buNone/>
            </a:pPr>
            <a:r>
              <a:rPr lang="en-US" sz="2000" i="1" dirty="0">
                <a:solidFill>
                  <a:srgbClr val="1A1A1A"/>
                </a:solidFill>
                <a:latin typeface="Cambria Math" pitchFamily="34" charset="0"/>
                <a:ea typeface="Cambria Math" pitchFamily="34" charset="-122"/>
                <a:cs typeface="Cambria Math" pitchFamily="34" charset="-120"/>
              </a:rPr>
              <a:t>c</a:t>
            </a:r>
            <a:pPr algn="ctr" indent="0" marL="0">
              <a:buNone/>
            </a:pPr>
            <a:r>
              <a:rPr lang="en-US" sz="2000" baseline="-40000" dirty="0">
                <a:solidFill>
                  <a:srgbClr val="1A1A1A"/>
                </a:solidFill>
                <a:latin typeface="Cambria Math" pitchFamily="34" charset="0"/>
                <a:ea typeface="Cambria Math" pitchFamily="34" charset="-122"/>
                <a:cs typeface="Cambria Math" pitchFamily="34" charset="-120"/>
              </a:rPr>
              <a:t>true</a:t>
            </a:r>
            <a:pPr algn="ctr" indent="0" marL="0">
              <a:buNone/>
            </a:pPr>
            <a:r>
              <a:rPr lang="en-US" sz="2000" dirty="0">
                <a:solidFill>
                  <a:srgbClr val="1A1A1A"/>
                </a:solidFill>
                <a:latin typeface="Cambria Math" pitchFamily="34" charset="0"/>
                <a:ea typeface="Cambria Math" pitchFamily="34" charset="-122"/>
                <a:cs typeface="Cambria Math" pitchFamily="34" charset="-120"/>
              </a:rPr>
              <a:t>(</a:t>
            </a:r>
            <a:pPr algn="ctr" indent="0" marL="0">
              <a:buNone/>
            </a:pPr>
            <a:r>
              <a:rPr lang="en-US" sz="2000" i="1" dirty="0">
                <a:solidFill>
                  <a:srgbClr val="1A1A1A"/>
                </a:solidFill>
                <a:latin typeface="Cambria Math" pitchFamily="34" charset="0"/>
                <a:ea typeface="Cambria Math" pitchFamily="34" charset="-122"/>
                <a:cs typeface="Cambria Math" pitchFamily="34" charset="-120"/>
              </a:rPr>
              <a:t>s</a:t>
            </a:r>
            <a:pPr algn="ctr" indent="0" marL="0">
              <a:buNone/>
            </a:pPr>
            <a:r>
              <a:rPr lang="en-US" sz="2000" dirty="0">
                <a:solidFill>
                  <a:srgbClr val="1A1A1A"/>
                </a:solidFill>
                <a:latin typeface="Cambria Math" pitchFamily="34" charset="0"/>
                <a:ea typeface="Cambria Math" pitchFamily="34" charset="-122"/>
                <a:cs typeface="Cambria Math" pitchFamily="34" charset="-120"/>
              </a:rPr>
              <a:t>,</a:t>
            </a:r>
            <a:pPr algn="ctr" indent="0" marL="0">
              <a:buNone/>
            </a:pPr>
            <a:r>
              <a:rPr lang="en-US" sz="2000" i="1" dirty="0">
                <a:solidFill>
                  <a:srgbClr val="1A1A1A"/>
                </a:solidFill>
                <a:latin typeface="Cambria Math" pitchFamily="34" charset="0"/>
                <a:ea typeface="Cambria Math" pitchFamily="34" charset="-122"/>
                <a:cs typeface="Cambria Math" pitchFamily="34" charset="-120"/>
              </a:rPr>
              <a:t>v</a:t>
            </a:r>
            <a:pPr algn="ctr" indent="0" marL="0">
              <a:buNone/>
            </a:pPr>
            <a:r>
              <a:rPr lang="en-US" sz="2000" dirty="0">
                <a:solidFill>
                  <a:srgbClr val="1A1A1A"/>
                </a:solidFill>
                <a:latin typeface="Cambria Math" pitchFamily="34" charset="0"/>
                <a:ea typeface="Cambria Math" pitchFamily="34" charset="-122"/>
                <a:cs typeface="Cambria Math" pitchFamily="34" charset="-120"/>
              </a:rPr>
              <a:t>)</a:t>
            </a:r>
            <a:endParaRPr lang="en-US" sz="2000" dirty="0"/>
          </a:p>
        </p:txBody>
      </p:sp>
      <p:sp>
        <p:nvSpPr>
          <p:cNvPr id="17" name="Text 15"/>
          <p:cNvSpPr/>
          <p:nvPr/>
        </p:nvSpPr>
        <p:spPr>
          <a:xfrm>
            <a:off x="1051560" y="3346704"/>
            <a:ext cx="10149840" cy="256032"/>
          </a:xfrm>
          <a:prstGeom prst="rect">
            <a:avLst/>
          </a:prstGeom>
          <a:noFill/>
          <a:ln/>
        </p:spPr>
        <p:txBody>
          <a:bodyPr wrap="square" lIns="0" tIns="0" rIns="0" bIns="0" rtlCol="0" anchor="ctr"/>
          <a:lstStyle/>
          <a:p>
            <a:pPr algn="ctr" indent="0" marL="0">
              <a:buNone/>
            </a:pPr>
            <a:r>
              <a:rPr lang="en-US" sz="1100" dirty="0">
                <a:solidFill>
                  <a:srgbClr val="55555F"/>
                </a:solidFill>
                <a:latin typeface="Hiragino Sans" pitchFamily="34" charset="0"/>
                <a:ea typeface="Hiragino Sans" pitchFamily="34" charset="-122"/>
                <a:cs typeface="Hiragino Sans" pitchFamily="34" charset="-120"/>
              </a:rPr>
              <a:t>仮定 A1: 存在する circuits タグは正しい　／　A2: 三相回線は少なくとも 3 導体を使う</a:t>
            </a:r>
            <a:endParaRPr lang="en-US" sz="1100" dirty="0"/>
          </a:p>
        </p:txBody>
      </p:sp>
      <p:sp>
        <p:nvSpPr>
          <p:cNvPr id="18" name="Shape 16"/>
          <p:cNvSpPr/>
          <p:nvPr/>
        </p:nvSpPr>
        <p:spPr>
          <a:xfrm>
            <a:off x="1051560" y="3630168"/>
            <a:ext cx="10149840" cy="713232"/>
          </a:xfrm>
          <a:prstGeom prst="roundRect">
            <a:avLst>
              <a:gd name="adj" fmla="val 6410"/>
            </a:avLst>
          </a:prstGeom>
          <a:solidFill>
            <a:srgbClr val="F7F7F2"/>
          </a:solidFill>
          <a:ln/>
        </p:spPr>
      </p:sp>
      <p:sp>
        <p:nvSpPr>
          <p:cNvPr id="19" name="Text 17"/>
          <p:cNvSpPr/>
          <p:nvPr/>
        </p:nvSpPr>
        <p:spPr>
          <a:xfrm>
            <a:off x="1234440" y="3694176"/>
            <a:ext cx="9784080" cy="603504"/>
          </a:xfrm>
          <a:prstGeom prst="rect">
            <a:avLst/>
          </a:prstGeom>
          <a:noFill/>
          <a:ln/>
        </p:spPr>
        <p:txBody>
          <a:bodyPr wrap="square" lIns="0" tIns="0" rIns="0" bIns="0" rtlCol="0" anchor="ctr"/>
          <a:lstStyle/>
          <a:p>
            <a:pPr indent="0" marL="0">
              <a:lnSpc>
                <a:spcPts val="1400"/>
              </a:lnSpc>
              <a:buNone/>
            </a:pPr>
            <a:r>
              <a:rPr lang="en-US" sz="1050" b="1" dirty="0">
                <a:solidFill>
                  <a:srgbClr val="1A1A1A"/>
                </a:solidFill>
                <a:latin typeface="Hiragino Sans" pitchFamily="34" charset="0"/>
                <a:ea typeface="Hiragino Sans" pitchFamily="34" charset="-122"/>
                <a:cs typeface="Hiragino Sans" pitchFamily="34" charset="-120"/>
              </a:rPr>
              <a:t>証明骨子　</a:t>
            </a:r>
            <a:pPr indent="0" marL="0">
              <a:lnSpc>
                <a:spcPts val="1400"/>
              </a:lnSpc>
              <a:buNone/>
            </a:pPr>
            <a:r>
              <a:rPr lang="en-US" sz="1050" dirty="0">
                <a:solidFill>
                  <a:srgbClr val="1A1A1A"/>
                </a:solidFill>
                <a:latin typeface="Hiragino Sans" pitchFamily="34" charset="0"/>
                <a:ea typeface="Hiragino Sans" pitchFamily="34" charset="-122"/>
                <a:cs typeface="Hiragino Sans" pitchFamily="34" charset="-120"/>
              </a:rPr>
              <a:t>① 項ごとに ĉ(w) ≤ c_true(w)：タグありは A1、cables のみは ⌊n/3⌋ が A2 により過小計上、存在する way は 1 回線以上。</a:t>
            </a:r>
            <a:endParaRPr lang="en-US" sz="1050" dirty="0"/>
          </a:p>
          <a:p>
            <a:pPr indent="0" marL="0">
              <a:lnSpc>
                <a:spcPts val="1400"/>
              </a:lnSpc>
              <a:buNone/>
            </a:pPr>
            <a:r>
              <a:rPr lang="en-US" sz="1050" dirty="0">
                <a:solidFill>
                  <a:srgbClr val="1A1A1A"/>
                </a:solidFill>
                <a:latin typeface="Hiragino Sans" pitchFamily="34" charset="0"/>
                <a:ea typeface="Hiragino Sans" pitchFamily="34" charset="-122"/>
                <a:cs typeface="Hiragino Sans" pitchFamily="34" charset="-120"/>
              </a:rPr>
              <a:t>　② 総和は不等式を保存する。　③ c_sum は c_est の非負項を落とすだけ。</a:t>
            </a:r>
            <a:endParaRPr lang="en-US" sz="1050" dirty="0"/>
          </a:p>
        </p:txBody>
      </p:sp>
      <p:sp>
        <p:nvSpPr>
          <p:cNvPr id="20" name="Shape 18"/>
          <p:cNvSpPr/>
          <p:nvPr/>
        </p:nvSpPr>
        <p:spPr>
          <a:xfrm>
            <a:off x="2194560" y="4892040"/>
            <a:ext cx="7863840" cy="0"/>
          </a:xfrm>
          <a:prstGeom prst="line">
            <a:avLst/>
          </a:prstGeom>
          <a:noFill/>
          <a:ln w="19050">
            <a:solidFill>
              <a:srgbClr val="1A1A1A"/>
            </a:solidFill>
            <a:prstDash val="solid"/>
            <a:tailEnd type="triangle"/>
          </a:ln>
        </p:spPr>
      </p:sp>
      <p:sp>
        <p:nvSpPr>
          <p:cNvPr id="21" name="Shape 19"/>
          <p:cNvSpPr/>
          <p:nvPr/>
        </p:nvSpPr>
        <p:spPr>
          <a:xfrm>
            <a:off x="4937760" y="4818888"/>
            <a:ext cx="3200400" cy="146304"/>
          </a:xfrm>
          <a:prstGeom prst="rect">
            <a:avLst/>
          </a:prstGeom>
          <a:solidFill>
            <a:srgbClr val="F2C4C4"/>
          </a:solidFill>
          <a:ln/>
        </p:spPr>
      </p:sp>
      <p:sp>
        <p:nvSpPr>
          <p:cNvPr id="22" name="Shape 20"/>
          <p:cNvSpPr/>
          <p:nvPr/>
        </p:nvSpPr>
        <p:spPr>
          <a:xfrm>
            <a:off x="3017520" y="4773168"/>
            <a:ext cx="0" cy="237744"/>
          </a:xfrm>
          <a:prstGeom prst="line">
            <a:avLst/>
          </a:prstGeom>
          <a:noFill/>
          <a:ln w="27940">
            <a:solidFill>
              <a:srgbClr val="17BECF"/>
            </a:solidFill>
            <a:prstDash val="solid"/>
          </a:ln>
        </p:spPr>
      </p:sp>
      <p:sp>
        <p:nvSpPr>
          <p:cNvPr id="23" name="Text 21"/>
          <p:cNvSpPr/>
          <p:nvPr/>
        </p:nvSpPr>
        <p:spPr>
          <a:xfrm>
            <a:off x="2377440" y="4983480"/>
            <a:ext cx="1280160" cy="457200"/>
          </a:xfrm>
          <a:prstGeom prst="rect">
            <a:avLst/>
          </a:prstGeom>
          <a:noFill/>
          <a:ln/>
        </p:spPr>
        <p:txBody>
          <a:bodyPr wrap="square" lIns="0" tIns="0" rIns="0" bIns="0" rtlCol="0" anchor="ctr"/>
          <a:lstStyle/>
          <a:p>
            <a:pPr algn="ctr" indent="0" marL="0">
              <a:buNone/>
            </a:pPr>
            <a:r>
              <a:rPr lang="en-US" sz="1300" i="1" dirty="0">
                <a:solidFill>
                  <a:srgbClr val="1A1A1A"/>
                </a:solidFill>
                <a:latin typeface="Cambria Math" pitchFamily="34" charset="0"/>
                <a:ea typeface="Cambria Math" pitchFamily="34" charset="-122"/>
                <a:cs typeface="Cambria Math" pitchFamily="34" charset="-120"/>
              </a:rPr>
              <a:t>c</a:t>
            </a:r>
            <a:pPr algn="ctr" indent="0" marL="0">
              <a:buNone/>
            </a:pPr>
            <a:r>
              <a:rPr lang="en-US" sz="1300" baseline="-40000" dirty="0">
                <a:solidFill>
                  <a:srgbClr val="1A1A1A"/>
                </a:solidFill>
                <a:latin typeface="Cambria Math" pitchFamily="34" charset="0"/>
                <a:ea typeface="Cambria Math" pitchFamily="34" charset="-122"/>
                <a:cs typeface="Cambria Math" pitchFamily="34" charset="-120"/>
              </a:rPr>
              <a:t>sum</a:t>
            </a:r>
            <a:endParaRPr lang="en-US" sz="1300" dirty="0"/>
          </a:p>
        </p:txBody>
      </p:sp>
      <p:sp>
        <p:nvSpPr>
          <p:cNvPr id="24" name="Shape 22"/>
          <p:cNvSpPr/>
          <p:nvPr/>
        </p:nvSpPr>
        <p:spPr>
          <a:xfrm>
            <a:off x="4937760" y="4773168"/>
            <a:ext cx="0" cy="237744"/>
          </a:xfrm>
          <a:prstGeom prst="line">
            <a:avLst/>
          </a:prstGeom>
          <a:noFill/>
          <a:ln w="27940">
            <a:solidFill>
              <a:srgbClr val="1E2761"/>
            </a:solidFill>
            <a:prstDash val="solid"/>
          </a:ln>
        </p:spPr>
      </p:sp>
      <p:sp>
        <p:nvSpPr>
          <p:cNvPr id="25" name="Text 23"/>
          <p:cNvSpPr/>
          <p:nvPr/>
        </p:nvSpPr>
        <p:spPr>
          <a:xfrm>
            <a:off x="4297680" y="4983480"/>
            <a:ext cx="1280160" cy="457200"/>
          </a:xfrm>
          <a:prstGeom prst="rect">
            <a:avLst/>
          </a:prstGeom>
          <a:noFill/>
          <a:ln/>
        </p:spPr>
        <p:txBody>
          <a:bodyPr wrap="square" lIns="0" tIns="0" rIns="0" bIns="0" rtlCol="0" anchor="ctr"/>
          <a:lstStyle/>
          <a:p>
            <a:pPr algn="ctr" indent="0" marL="0">
              <a:buNone/>
            </a:pPr>
            <a:r>
              <a:rPr lang="en-US" sz="1300" i="1" dirty="0">
                <a:solidFill>
                  <a:srgbClr val="1A1A1A"/>
                </a:solidFill>
                <a:latin typeface="Cambria Math" pitchFamily="34" charset="0"/>
                <a:ea typeface="Cambria Math" pitchFamily="34" charset="-122"/>
                <a:cs typeface="Cambria Math" pitchFamily="34" charset="-120"/>
              </a:rPr>
              <a:t>c</a:t>
            </a:r>
            <a:pPr algn="ctr" indent="0" marL="0">
              <a:buNone/>
            </a:pPr>
            <a:r>
              <a:rPr lang="en-US" sz="1300" baseline="-40000" dirty="0">
                <a:solidFill>
                  <a:srgbClr val="1A1A1A"/>
                </a:solidFill>
                <a:latin typeface="Cambria Math" pitchFamily="34" charset="0"/>
                <a:ea typeface="Cambria Math" pitchFamily="34" charset="-122"/>
                <a:cs typeface="Cambria Math" pitchFamily="34" charset="-120"/>
              </a:rPr>
              <a:t>est</a:t>
            </a:r>
            <a:endParaRPr lang="en-US" sz="1300" dirty="0"/>
          </a:p>
        </p:txBody>
      </p:sp>
      <p:sp>
        <p:nvSpPr>
          <p:cNvPr id="26" name="Shape 24"/>
          <p:cNvSpPr/>
          <p:nvPr/>
        </p:nvSpPr>
        <p:spPr>
          <a:xfrm>
            <a:off x="8138160" y="4773168"/>
            <a:ext cx="0" cy="237744"/>
          </a:xfrm>
          <a:prstGeom prst="line">
            <a:avLst/>
          </a:prstGeom>
          <a:noFill/>
          <a:ln w="27940">
            <a:solidFill>
              <a:srgbClr val="D62728"/>
            </a:solidFill>
            <a:prstDash val="solid"/>
          </a:ln>
        </p:spPr>
      </p:sp>
      <p:sp>
        <p:nvSpPr>
          <p:cNvPr id="27" name="Text 25"/>
          <p:cNvSpPr/>
          <p:nvPr/>
        </p:nvSpPr>
        <p:spPr>
          <a:xfrm>
            <a:off x="7498080" y="4983480"/>
            <a:ext cx="1280160" cy="457200"/>
          </a:xfrm>
          <a:prstGeom prst="rect">
            <a:avLst/>
          </a:prstGeom>
          <a:noFill/>
          <a:ln/>
        </p:spPr>
        <p:txBody>
          <a:bodyPr wrap="square" lIns="0" tIns="0" rIns="0" bIns="0" rtlCol="0" anchor="ctr"/>
          <a:lstStyle/>
          <a:p>
            <a:pPr algn="ctr" indent="0" marL="0">
              <a:buNone/>
            </a:pPr>
            <a:r>
              <a:rPr lang="en-US" sz="1300" i="1" dirty="0">
                <a:solidFill>
                  <a:srgbClr val="1A1A1A"/>
                </a:solidFill>
                <a:latin typeface="Cambria Math" pitchFamily="34" charset="0"/>
                <a:ea typeface="Cambria Math" pitchFamily="34" charset="-122"/>
                <a:cs typeface="Cambria Math" pitchFamily="34" charset="-120"/>
              </a:rPr>
              <a:t>c</a:t>
            </a:r>
            <a:pPr algn="ctr" indent="0" marL="0">
              <a:buNone/>
            </a:pPr>
            <a:r>
              <a:rPr lang="en-US" sz="1300" baseline="-40000" dirty="0">
                <a:solidFill>
                  <a:srgbClr val="1A1A1A"/>
                </a:solidFill>
                <a:latin typeface="Cambria Math" pitchFamily="34" charset="0"/>
                <a:ea typeface="Cambria Math" pitchFamily="34" charset="-122"/>
                <a:cs typeface="Cambria Math" pitchFamily="34" charset="-120"/>
              </a:rPr>
              <a:t>true</a:t>
            </a:r>
            <a:endParaRPr lang="en-US" sz="1300" dirty="0"/>
          </a:p>
        </p:txBody>
      </p:sp>
      <p:sp>
        <p:nvSpPr>
          <p:cNvPr id="28" name="Text 26"/>
          <p:cNvSpPr/>
          <p:nvPr/>
        </p:nvSpPr>
        <p:spPr>
          <a:xfrm>
            <a:off x="4663440" y="5376672"/>
            <a:ext cx="5486400" cy="274320"/>
          </a:xfrm>
          <a:prstGeom prst="rect">
            <a:avLst/>
          </a:prstGeom>
          <a:noFill/>
          <a:ln/>
        </p:spPr>
        <p:txBody>
          <a:bodyPr wrap="square" lIns="0" tIns="0" rIns="0" bIns="0" rtlCol="0" anchor="ctr"/>
          <a:lstStyle/>
          <a:p>
            <a:pPr indent="0" marL="0">
              <a:buNone/>
            </a:pPr>
            <a:r>
              <a:rPr lang="en-US" sz="1100" dirty="0">
                <a:solidFill>
                  <a:srgbClr val="55555F"/>
                </a:solidFill>
                <a:latin typeface="Hiragino Sans" pitchFamily="34" charset="0"/>
                <a:ea typeface="Hiragino Sans" pitchFamily="34" charset="-122"/>
                <a:cs typeface="Hiragino Sans" pitchFamily="34" charset="-120"/>
              </a:rPr>
              <a:t>未観測ぶん — 推測で埋めず、この幅自体を測って報告する（→ S11）</a:t>
            </a:r>
            <a:endParaRPr lang="en-US" sz="1100" dirty="0"/>
          </a:p>
        </p:txBody>
      </p:sp>
      <p:sp>
        <p:nvSpPr>
          <p:cNvPr id="29" name="Text 27"/>
          <p:cNvSpPr/>
          <p:nvPr/>
        </p:nvSpPr>
        <p:spPr>
          <a:xfrm>
            <a:off x="822960" y="5760720"/>
            <a:ext cx="10607040" cy="292608"/>
          </a:xfrm>
          <a:prstGeom prst="rect">
            <a:avLst/>
          </a:prstGeom>
          <a:noFill/>
          <a:ln/>
        </p:spPr>
        <p:txBody>
          <a:bodyPr wrap="square" lIns="0" tIns="0" rIns="0" bIns="0" rtlCol="0" anchor="ct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帰結：SubSLD の図は「少なくともこれだけの回線が存在する」と述べる。下流で容量の代理指標に使っても、誤差は保守側に出る。</a:t>
            </a:r>
            <a:endParaRPr lang="en-US" sz="1250" dirty="0"/>
          </a:p>
        </p:txBody>
      </p:sp>
      <p:sp>
        <p:nvSpPr>
          <p:cNvPr id="30" name="Text 28"/>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31" name="Text 29"/>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1:15</a:t>
            </a:r>
            <a:endParaRPr lang="en-US" sz="900" dirty="0"/>
          </a:p>
        </p:txBody>
      </p:sp>
      <p:sp>
        <p:nvSpPr>
          <p:cNvPr id="32" name="Text 30"/>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§VI</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流向：三値推論 — 分からないときは棄権する</a:t>
            </a:r>
            <a:endParaRPr lang="en-US" sz="2200" dirty="0"/>
          </a:p>
        </p:txBody>
      </p:sp>
      <p:sp>
        <p:nvSpPr>
          <p:cNvPr id="5" name="Text 3"/>
          <p:cNvSpPr/>
          <p:nvPr/>
        </p:nvSpPr>
        <p:spPr>
          <a:xfrm>
            <a:off x="822960" y="1051560"/>
            <a:ext cx="10607040" cy="274320"/>
          </a:xfrm>
          <a:prstGeom prst="rect">
            <a:avLst/>
          </a:prstGeom>
          <a:noFill/>
          <a:ln/>
        </p:spPr>
        <p:txBody>
          <a:bodyPr wrap="square" lIns="0" tIns="0" rIns="0" bIns="0" rtlCol="0" anchor="ctr"/>
          <a:lstStyle/>
          <a:p>
            <a:pPr indent="0" marL="0">
              <a:buNone/>
            </a:pPr>
            <a:r>
              <a:rPr lang="en-US" sz="1250" dirty="0">
                <a:solidFill>
                  <a:srgbClr val="55555F"/>
                </a:solidFill>
                <a:latin typeface="Hiragino Sans" pitchFamily="34" charset="0"/>
                <a:ea typeface="Hiragino Sans" pitchFamily="34" charset="-122"/>
                <a:cs typeface="Hiragino Sans" pitchFamily="34" charset="-120"/>
              </a:rPr>
              <a:t>線路が変電所へ入るか出るかはタグ付けされていない。変電所を最高電圧レベルで順序付けて推論する。</a:t>
            </a:r>
            <a:endParaRPr lang="en-US" sz="1250" dirty="0"/>
          </a:p>
        </p:txBody>
      </p:sp>
      <p:sp>
        <p:nvSpPr>
          <p:cNvPr id="6" name="Shape 4"/>
          <p:cNvSpPr/>
          <p:nvPr/>
        </p:nvSpPr>
        <p:spPr>
          <a:xfrm>
            <a:off x="822960" y="1463040"/>
            <a:ext cx="6492240" cy="2377440"/>
          </a:xfrm>
          <a:prstGeom prst="roundRect">
            <a:avLst>
              <a:gd name="adj" fmla="val 2308"/>
            </a:avLst>
          </a:prstGeom>
          <a:solidFill>
            <a:srgbClr val="F4F4F6"/>
          </a:solidFill>
          <a:ln/>
        </p:spPr>
      </p:sp>
      <p:sp>
        <p:nvSpPr>
          <p:cNvPr id="7" name="Text 5"/>
          <p:cNvSpPr/>
          <p:nvPr/>
        </p:nvSpPr>
        <p:spPr>
          <a:xfrm>
            <a:off x="1051560" y="1572768"/>
            <a:ext cx="6126480" cy="457200"/>
          </a:xfrm>
          <a:prstGeom prst="rect">
            <a:avLst/>
          </a:prstGeom>
          <a:noFill/>
          <a:ln/>
        </p:spPr>
        <p:txBody>
          <a:bodyPr wrap="square" lIns="0" tIns="0" rIns="0" bIns="0" rtlCol="0" anchor="ctr"/>
          <a:lstStyle/>
          <a:p>
            <a:pPr algn="l" indent="0" marL="0">
              <a:buNone/>
            </a:pPr>
            <a:r>
              <a:rPr lang="en-US" sz="1700" i="1" dirty="0">
                <a:solidFill>
                  <a:srgbClr val="1A1A1A"/>
                </a:solidFill>
                <a:latin typeface="Cambria Math" pitchFamily="34" charset="0"/>
                <a:ea typeface="Cambria Math" pitchFamily="34" charset="-122"/>
                <a:cs typeface="Cambria Math" pitchFamily="34" charset="-120"/>
              </a:rPr>
              <a:t>d̂</a:t>
            </a:r>
            <a:pPr algn="l" indent="0" marL="0">
              <a:buNone/>
            </a:pPr>
            <a:r>
              <a:rPr lang="en-US" sz="1700" dirty="0">
                <a:solidFill>
                  <a:srgbClr val="1A1A1A"/>
                </a:solidFill>
                <a:latin typeface="Cambria Math" pitchFamily="34" charset="0"/>
                <a:ea typeface="Cambria Math" pitchFamily="34" charset="-122"/>
                <a:cs typeface="Cambria Math" pitchFamily="34" charset="-120"/>
              </a:rPr>
              <a:t> :  </a:t>
            </a:r>
            <a:pPr algn="l" indent="0" marL="0">
              <a:buNone/>
            </a:pPr>
            <a:r>
              <a:rPr lang="en-US" sz="1700" i="1" dirty="0">
                <a:solidFill>
                  <a:srgbClr val="1A1A1A"/>
                </a:solidFill>
                <a:latin typeface="Cambria Math" pitchFamily="34" charset="0"/>
                <a:ea typeface="Cambria Math" pitchFamily="34" charset="-122"/>
                <a:cs typeface="Cambria Math" pitchFamily="34" charset="-120"/>
              </a:rPr>
              <a:t>G</a:t>
            </a:r>
            <a:pPr algn="l" indent="0" marL="0">
              <a:buNone/>
            </a:pPr>
            <a:r>
              <a:rPr lang="en-US" sz="1700" dirty="0">
                <a:solidFill>
                  <a:srgbClr val="1A1A1A"/>
                </a:solidFill>
                <a:latin typeface="Cambria Math" pitchFamily="34" charset="0"/>
                <a:ea typeface="Cambria Math" pitchFamily="34" charset="-122"/>
                <a:cs typeface="Cambria Math" pitchFamily="34" charset="-120"/>
              </a:rPr>
              <a:t>  →  { in,  out,  ⊥ }</a:t>
            </a:r>
            <a:endParaRPr lang="en-US" sz="1700" dirty="0"/>
          </a:p>
        </p:txBody>
      </p:sp>
      <p:sp>
        <p:nvSpPr>
          <p:cNvPr id="8" name="Text 6"/>
          <p:cNvSpPr/>
          <p:nvPr/>
        </p:nvSpPr>
        <p:spPr>
          <a:xfrm>
            <a:off x="1051560" y="2103120"/>
            <a:ext cx="6126480" cy="457200"/>
          </a:xfrm>
          <a:prstGeom prst="rect">
            <a:avLst/>
          </a:prstGeom>
          <a:noFill/>
          <a:ln/>
        </p:spPr>
        <p:txBody>
          <a:bodyPr wrap="square" lIns="0" tIns="0" rIns="0" bIns="0" rtlCol="0" anchor="ctr"/>
          <a:lstStyle/>
          <a:p>
            <a:pPr algn="l" indent="0" marL="0">
              <a:buNone/>
            </a:pPr>
            <a:r>
              <a:rPr lang="en-US" sz="1300" i="1" dirty="0">
                <a:solidFill>
                  <a:srgbClr val="1A1A1A"/>
                </a:solidFill>
                <a:latin typeface="Cambria Math" pitchFamily="34" charset="0"/>
                <a:ea typeface="Cambria Math" pitchFamily="34" charset="-122"/>
                <a:cs typeface="Cambria Math" pitchFamily="34" charset="-120"/>
              </a:rPr>
              <a:t>d̂</a:t>
            </a:r>
            <a:pPr algn="l" indent="0" marL="0">
              <a:buNone/>
            </a:pPr>
            <a:r>
              <a:rPr lang="en-US" sz="1300" dirty="0">
                <a:solidFill>
                  <a:srgbClr val="1A1A1A"/>
                </a:solidFill>
                <a:latin typeface="Cambria Math" pitchFamily="34" charset="0"/>
                <a:ea typeface="Cambria Math" pitchFamily="34" charset="-122"/>
                <a:cs typeface="Cambria Math" pitchFamily="34" charset="-120"/>
              </a:rPr>
              <a:t>(</a:t>
            </a:r>
            <a:pPr algn="l" indent="0" marL="0">
              <a:buNone/>
            </a:pPr>
            <a:r>
              <a:rPr lang="en-US" sz="1300" i="1" dirty="0">
                <a:solidFill>
                  <a:srgbClr val="1A1A1A"/>
                </a:solidFill>
                <a:latin typeface="Cambria Math" pitchFamily="34" charset="0"/>
                <a:ea typeface="Cambria Math" pitchFamily="34" charset="-122"/>
                <a:cs typeface="Cambria Math" pitchFamily="34" charset="-120"/>
              </a:rPr>
              <a:t>g</a:t>
            </a:r>
            <a:pPr algn="l" indent="0" marL="0">
              <a:buNone/>
            </a:pPr>
            <a:r>
              <a:rPr lang="en-US" sz="1300" dirty="0">
                <a:solidFill>
                  <a:srgbClr val="1A1A1A"/>
                </a:solidFill>
                <a:latin typeface="Cambria Math" pitchFamily="34" charset="0"/>
                <a:ea typeface="Cambria Math" pitchFamily="34" charset="-122"/>
                <a:cs typeface="Cambria Math" pitchFamily="34" charset="-120"/>
              </a:rPr>
              <a:t>) = in  ⟺  ∃</a:t>
            </a:r>
            <a:pPr algn="l" indent="0" marL="0">
              <a:buNone/>
            </a:pPr>
            <a:r>
              <a:rPr lang="en-US" sz="1300" i="1" dirty="0">
                <a:solidFill>
                  <a:srgbClr val="1A1A1A"/>
                </a:solidFill>
                <a:latin typeface="Cambria Math" pitchFamily="34" charset="0"/>
                <a:ea typeface="Cambria Math" pitchFamily="34" charset="-122"/>
                <a:cs typeface="Cambria Math" pitchFamily="34" charset="-120"/>
              </a:rPr>
              <a:t>s′</a:t>
            </a:r>
            <a:pPr algn="l" indent="0" marL="0">
              <a:buNone/>
            </a:pPr>
            <a:r>
              <a:rPr lang="en-US" sz="1300" dirty="0">
                <a:solidFill>
                  <a:srgbClr val="1A1A1A"/>
                </a:solidFill>
                <a:latin typeface="Cambria Math" pitchFamily="34" charset="0"/>
                <a:ea typeface="Cambria Math" pitchFamily="34" charset="-122"/>
                <a:cs typeface="Cambria Math" pitchFamily="34" charset="-120"/>
              </a:rPr>
              <a:t>∈far(</a:t>
            </a:r>
            <a:pPr algn="l" indent="0" marL="0">
              <a:buNone/>
            </a:pPr>
            <a:r>
              <a:rPr lang="en-US" sz="1300" i="1" dirty="0">
                <a:solidFill>
                  <a:srgbClr val="1A1A1A"/>
                </a:solidFill>
                <a:latin typeface="Cambria Math" pitchFamily="34" charset="0"/>
                <a:ea typeface="Cambria Math" pitchFamily="34" charset="-122"/>
                <a:cs typeface="Cambria Math" pitchFamily="34" charset="-120"/>
              </a:rPr>
              <a:t>g</a:t>
            </a:r>
            <a:pPr algn="l" indent="0" marL="0">
              <a:buNone/>
            </a:pPr>
            <a:r>
              <a:rPr lang="en-US" sz="1300" dirty="0">
                <a:solidFill>
                  <a:srgbClr val="1A1A1A"/>
                </a:solidFill>
                <a:latin typeface="Cambria Math" pitchFamily="34" charset="0"/>
                <a:ea typeface="Cambria Math" pitchFamily="34" charset="-122"/>
                <a:cs typeface="Cambria Math" pitchFamily="34" charset="-120"/>
              </a:rPr>
              <a:t>): </a:t>
            </a:r>
            <a:pPr algn="l" indent="0" marL="0">
              <a:buNone/>
            </a:pPr>
            <a:r>
              <a:rPr lang="en-US" sz="1300" i="1" dirty="0">
                <a:solidFill>
                  <a:srgbClr val="1A1A1A"/>
                </a:solidFill>
                <a:latin typeface="Cambria Math" pitchFamily="34" charset="0"/>
                <a:ea typeface="Cambria Math" pitchFamily="34" charset="-122"/>
                <a:cs typeface="Cambria Math" pitchFamily="34" charset="-120"/>
              </a:rPr>
              <a:t>kv</a:t>
            </a:r>
            <a:pPr algn="l" indent="0" marL="0">
              <a:buNone/>
            </a:pPr>
            <a:r>
              <a:rPr lang="en-US" sz="1300" baseline="-40000" dirty="0">
                <a:solidFill>
                  <a:srgbClr val="1A1A1A"/>
                </a:solidFill>
                <a:latin typeface="Cambria Math" pitchFamily="34" charset="0"/>
                <a:ea typeface="Cambria Math" pitchFamily="34" charset="-122"/>
                <a:cs typeface="Cambria Math" pitchFamily="34" charset="-120"/>
              </a:rPr>
              <a:t>max</a:t>
            </a:r>
            <a:pPr algn="l" indent="0" marL="0">
              <a:buNone/>
            </a:pPr>
            <a:r>
              <a:rPr lang="en-US" sz="1300" dirty="0">
                <a:solidFill>
                  <a:srgbClr val="1A1A1A"/>
                </a:solidFill>
                <a:latin typeface="Cambria Math" pitchFamily="34" charset="0"/>
                <a:ea typeface="Cambria Math" pitchFamily="34" charset="-122"/>
                <a:cs typeface="Cambria Math" pitchFamily="34" charset="-120"/>
              </a:rPr>
              <a:t>(</a:t>
            </a:r>
            <a:pPr algn="l" indent="0" marL="0">
              <a:buNone/>
            </a:pPr>
            <a:r>
              <a:rPr lang="en-US" sz="1300" i="1" dirty="0">
                <a:solidFill>
                  <a:srgbClr val="1A1A1A"/>
                </a:solidFill>
                <a:latin typeface="Cambria Math" pitchFamily="34" charset="0"/>
                <a:ea typeface="Cambria Math" pitchFamily="34" charset="-122"/>
                <a:cs typeface="Cambria Math" pitchFamily="34" charset="-120"/>
              </a:rPr>
              <a:t>s′</a:t>
            </a:r>
            <a:pPr algn="l" indent="0" marL="0">
              <a:buNone/>
            </a:pPr>
            <a:r>
              <a:rPr lang="en-US" sz="1300" dirty="0">
                <a:solidFill>
                  <a:srgbClr val="1A1A1A"/>
                </a:solidFill>
                <a:latin typeface="Cambria Math" pitchFamily="34" charset="0"/>
                <a:ea typeface="Cambria Math" pitchFamily="34" charset="-122"/>
                <a:cs typeface="Cambria Math" pitchFamily="34" charset="-120"/>
              </a:rPr>
              <a:t>) &gt; </a:t>
            </a:r>
            <a:pPr algn="l" indent="0" marL="0">
              <a:buNone/>
            </a:pPr>
            <a:r>
              <a:rPr lang="en-US" sz="1300" i="1" dirty="0">
                <a:solidFill>
                  <a:srgbClr val="1A1A1A"/>
                </a:solidFill>
                <a:latin typeface="Cambria Math" pitchFamily="34" charset="0"/>
                <a:ea typeface="Cambria Math" pitchFamily="34" charset="-122"/>
                <a:cs typeface="Cambria Math" pitchFamily="34" charset="-120"/>
              </a:rPr>
              <a:t>kv</a:t>
            </a:r>
            <a:pPr algn="l" indent="0" marL="0">
              <a:buNone/>
            </a:pPr>
            <a:r>
              <a:rPr lang="en-US" sz="1300" i="1" baseline="-40000" dirty="0">
                <a:solidFill>
                  <a:srgbClr val="1A1A1A"/>
                </a:solidFill>
                <a:latin typeface="Cambria Math" pitchFamily="34" charset="0"/>
                <a:ea typeface="Cambria Math" pitchFamily="34" charset="-122"/>
                <a:cs typeface="Cambria Math" pitchFamily="34" charset="-120"/>
              </a:rPr>
              <a:t>v</a:t>
            </a:r>
            <a:pPr algn="l" indent="0" marL="0">
              <a:buNone/>
            </a:pPr>
            <a:r>
              <a:rPr lang="en-US" sz="1300" dirty="0">
                <a:solidFill>
                  <a:srgbClr val="1A1A1A"/>
                </a:solidFill>
                <a:latin typeface="Cambria Math" pitchFamily="34" charset="0"/>
                <a:ea typeface="Cambria Math" pitchFamily="34" charset="-122"/>
                <a:cs typeface="Cambria Math" pitchFamily="34" charset="-120"/>
              </a:rPr>
              <a:t>  ∨  </a:t>
            </a:r>
            <a:pPr algn="l" indent="0" marL="0">
              <a:buNone/>
            </a:pPr>
            <a:r>
              <a:rPr lang="en-US" sz="1300" i="1" dirty="0">
                <a:solidFill>
                  <a:srgbClr val="1A1A1A"/>
                </a:solidFill>
                <a:latin typeface="Cambria Math" pitchFamily="34" charset="0"/>
                <a:ea typeface="Cambria Math" pitchFamily="34" charset="-122"/>
                <a:cs typeface="Cambria Math" pitchFamily="34" charset="-120"/>
              </a:rPr>
              <a:t>kv</a:t>
            </a:r>
            <a:pPr algn="l" indent="0" marL="0">
              <a:buNone/>
            </a:pPr>
            <a:r>
              <a:rPr lang="en-US" sz="1300" i="1" baseline="-40000" dirty="0">
                <a:solidFill>
                  <a:srgbClr val="1A1A1A"/>
                </a:solidFill>
                <a:latin typeface="Cambria Math" pitchFamily="34" charset="0"/>
                <a:ea typeface="Cambria Math" pitchFamily="34" charset="-122"/>
                <a:cs typeface="Cambria Math" pitchFamily="34" charset="-120"/>
              </a:rPr>
              <a:t>v</a:t>
            </a:r>
            <a:pPr algn="l" indent="0" marL="0">
              <a:buNone/>
            </a:pPr>
            <a:r>
              <a:rPr lang="en-US" sz="1300" dirty="0">
                <a:solidFill>
                  <a:srgbClr val="1A1A1A"/>
                </a:solidFill>
                <a:latin typeface="Cambria Math" pitchFamily="34" charset="0"/>
                <a:ea typeface="Cambria Math" pitchFamily="34" charset="-122"/>
                <a:cs typeface="Cambria Math" pitchFamily="34" charset="-120"/>
              </a:rPr>
              <a:t> = </a:t>
            </a:r>
            <a:pPr algn="l" indent="0" marL="0">
              <a:buNone/>
            </a:pPr>
            <a:r>
              <a:rPr lang="en-US" sz="1300" i="1" dirty="0">
                <a:solidFill>
                  <a:srgbClr val="1A1A1A"/>
                </a:solidFill>
                <a:latin typeface="Cambria Math" pitchFamily="34" charset="0"/>
                <a:ea typeface="Cambria Math" pitchFamily="34" charset="-122"/>
                <a:cs typeface="Cambria Math" pitchFamily="34" charset="-120"/>
              </a:rPr>
              <a:t>kv</a:t>
            </a:r>
            <a:pPr algn="l" indent="0" marL="0">
              <a:buNone/>
            </a:pPr>
            <a:r>
              <a:rPr lang="en-US" sz="1300" baseline="-40000" dirty="0">
                <a:solidFill>
                  <a:srgbClr val="1A1A1A"/>
                </a:solidFill>
                <a:latin typeface="Cambria Math" pitchFamily="34" charset="0"/>
                <a:ea typeface="Cambria Math" pitchFamily="34" charset="-122"/>
                <a:cs typeface="Cambria Math" pitchFamily="34" charset="-120"/>
              </a:rPr>
              <a:t>top</a:t>
            </a:r>
            <a:pPr algn="l" indent="0" marL="0">
              <a:buNone/>
            </a:pPr>
            <a:r>
              <a:rPr lang="en-US" sz="1300" dirty="0">
                <a:solidFill>
                  <a:srgbClr val="1A1A1A"/>
                </a:solidFill>
                <a:latin typeface="Cambria Math" pitchFamily="34" charset="0"/>
                <a:ea typeface="Cambria Math" pitchFamily="34" charset="-122"/>
                <a:cs typeface="Cambria Math" pitchFamily="34" charset="-120"/>
              </a:rPr>
              <a:t>(</a:t>
            </a:r>
            <a:pPr algn="l" indent="0" marL="0">
              <a:buNone/>
            </a:pPr>
            <a:r>
              <a:rPr lang="en-US" sz="1300" i="1" dirty="0">
                <a:solidFill>
                  <a:srgbClr val="1A1A1A"/>
                </a:solidFill>
                <a:latin typeface="Cambria Math" pitchFamily="34" charset="0"/>
                <a:ea typeface="Cambria Math" pitchFamily="34" charset="-122"/>
                <a:cs typeface="Cambria Math" pitchFamily="34" charset="-120"/>
              </a:rPr>
              <a:t>s</a:t>
            </a:r>
            <a:pPr algn="l" indent="0" marL="0">
              <a:buNone/>
            </a:pPr>
            <a:r>
              <a:rPr lang="en-US" sz="1300" dirty="0">
                <a:solidFill>
                  <a:srgbClr val="1A1A1A"/>
                </a:solidFill>
                <a:latin typeface="Cambria Math" pitchFamily="34" charset="0"/>
                <a:ea typeface="Cambria Math" pitchFamily="34" charset="-122"/>
                <a:cs typeface="Cambria Math" pitchFamily="34" charset="-120"/>
              </a:rPr>
              <a:t>)</a:t>
            </a:r>
            <a:endParaRPr lang="en-US" sz="1300" dirty="0"/>
          </a:p>
        </p:txBody>
      </p:sp>
      <p:sp>
        <p:nvSpPr>
          <p:cNvPr id="9" name="Text 7"/>
          <p:cNvSpPr/>
          <p:nvPr/>
        </p:nvSpPr>
        <p:spPr>
          <a:xfrm>
            <a:off x="1051560" y="2606040"/>
            <a:ext cx="6126480" cy="457200"/>
          </a:xfrm>
          <a:prstGeom prst="rect">
            <a:avLst/>
          </a:prstGeom>
          <a:noFill/>
          <a:ln/>
        </p:spPr>
        <p:txBody>
          <a:bodyPr wrap="square" lIns="0" tIns="0" rIns="0" bIns="0" rtlCol="0" anchor="ctr"/>
          <a:lstStyle/>
          <a:p>
            <a:pPr algn="l" indent="0" marL="0">
              <a:buNone/>
            </a:pPr>
            <a:r>
              <a:rPr lang="en-US" sz="1500" i="1" dirty="0">
                <a:solidFill>
                  <a:srgbClr val="1A1A1A"/>
                </a:solidFill>
                <a:latin typeface="Cambria Math" pitchFamily="34" charset="0"/>
                <a:ea typeface="Cambria Math" pitchFamily="34" charset="-122"/>
                <a:cs typeface="Cambria Math" pitchFamily="34" charset="-120"/>
              </a:rPr>
              <a:t>d̂</a:t>
            </a:r>
            <a:pPr algn="l" indent="0" marL="0">
              <a:buNone/>
            </a:pPr>
            <a:r>
              <a:rPr lang="en-US" sz="1500" dirty="0">
                <a:solidFill>
                  <a:srgbClr val="1A1A1A"/>
                </a:solidFill>
                <a:latin typeface="Cambria Math" pitchFamily="34" charset="0"/>
                <a:ea typeface="Cambria Math" pitchFamily="34" charset="-122"/>
                <a:cs typeface="Cambria Math" pitchFamily="34" charset="-120"/>
              </a:rPr>
              <a:t>(</a:t>
            </a:r>
            <a:pPr algn="l" indent="0" marL="0">
              <a:buNone/>
            </a:pPr>
            <a:r>
              <a:rPr lang="en-US" sz="1500" i="1" dirty="0">
                <a:solidFill>
                  <a:srgbClr val="1A1A1A"/>
                </a:solidFill>
                <a:latin typeface="Cambria Math" pitchFamily="34" charset="0"/>
                <a:ea typeface="Cambria Math" pitchFamily="34" charset="-122"/>
                <a:cs typeface="Cambria Math" pitchFamily="34" charset="-120"/>
              </a:rPr>
              <a:t>g</a:t>
            </a:r>
            <a:pPr algn="l" indent="0" marL="0">
              <a:buNone/>
            </a:pPr>
            <a:r>
              <a:rPr lang="en-US" sz="1500" dirty="0">
                <a:solidFill>
                  <a:srgbClr val="1A1A1A"/>
                </a:solidFill>
                <a:latin typeface="Cambria Math" pitchFamily="34" charset="0"/>
                <a:ea typeface="Cambria Math" pitchFamily="34" charset="-122"/>
                <a:cs typeface="Cambria Math" pitchFamily="34" charset="-120"/>
              </a:rPr>
              <a:t>) = ⊥  ⟺  far(</a:t>
            </a:r>
            <a:pPr algn="l" indent="0" marL="0">
              <a:buNone/>
            </a:pPr>
            <a:r>
              <a:rPr lang="en-US" sz="1500" i="1" dirty="0">
                <a:solidFill>
                  <a:srgbClr val="1A1A1A"/>
                </a:solidFill>
                <a:latin typeface="Cambria Math" pitchFamily="34" charset="0"/>
                <a:ea typeface="Cambria Math" pitchFamily="34" charset="-122"/>
                <a:cs typeface="Cambria Math" pitchFamily="34" charset="-120"/>
              </a:rPr>
              <a:t>g</a:t>
            </a:r>
            <a:pPr algn="l" indent="0" marL="0">
              <a:buNone/>
            </a:pPr>
            <a:r>
              <a:rPr lang="en-US" sz="1500" dirty="0">
                <a:solidFill>
                  <a:srgbClr val="1A1A1A"/>
                </a:solidFill>
                <a:latin typeface="Cambria Math" pitchFamily="34" charset="0"/>
                <a:ea typeface="Cambria Math" pitchFamily="34" charset="-122"/>
                <a:cs typeface="Cambria Math" pitchFamily="34" charset="-120"/>
              </a:rPr>
              <a:t>) = ∅</a:t>
            </a:r>
            <a:pPr algn="l" indent="0" marL="0">
              <a:buNone/>
            </a:pPr>
            <a:r>
              <a:rPr lang="en-US" sz="1200" dirty="0">
                <a:solidFill>
                  <a:srgbClr val="55555F"/>
                </a:solidFill>
                <a:latin typeface="Hiragino Sans" pitchFamily="34" charset="0"/>
                <a:ea typeface="Hiragino Sans" pitchFamily="34" charset="-122"/>
                <a:cs typeface="Hiragino Sans" pitchFamily="34" charset="-120"/>
              </a:rPr>
              <a:t>　（棄権）</a:t>
            </a:r>
            <a:endParaRPr lang="en-US" sz="1500" dirty="0"/>
          </a:p>
        </p:txBody>
      </p:sp>
      <p:sp>
        <p:nvSpPr>
          <p:cNvPr id="10" name="Text 8"/>
          <p:cNvSpPr/>
          <p:nvPr/>
        </p:nvSpPr>
        <p:spPr>
          <a:xfrm>
            <a:off x="1051560" y="3017520"/>
            <a:ext cx="6126480" cy="457200"/>
          </a:xfrm>
          <a:prstGeom prst="rect">
            <a:avLst/>
          </a:prstGeom>
          <a:noFill/>
          <a:ln/>
        </p:spPr>
        <p:txBody>
          <a:bodyPr wrap="square" lIns="0" tIns="0" rIns="0" bIns="0" rtlCol="0" anchor="ctr"/>
          <a:lstStyle/>
          <a:p>
            <a:pPr algn="l" indent="0" marL="0">
              <a:buNone/>
            </a:pPr>
            <a:r>
              <a:rPr lang="en-US" sz="1500" i="1" dirty="0">
                <a:solidFill>
                  <a:srgbClr val="1A1A1A"/>
                </a:solidFill>
                <a:latin typeface="Cambria Math" pitchFamily="34" charset="0"/>
                <a:ea typeface="Cambria Math" pitchFamily="34" charset="-122"/>
                <a:cs typeface="Cambria Math" pitchFamily="34" charset="-120"/>
              </a:rPr>
              <a:t>d̂</a:t>
            </a:r>
            <a:pPr algn="l" indent="0" marL="0">
              <a:buNone/>
            </a:pPr>
            <a:r>
              <a:rPr lang="en-US" sz="1500" dirty="0">
                <a:solidFill>
                  <a:srgbClr val="1A1A1A"/>
                </a:solidFill>
                <a:latin typeface="Cambria Math" pitchFamily="34" charset="0"/>
                <a:ea typeface="Cambria Math" pitchFamily="34" charset="-122"/>
                <a:cs typeface="Cambria Math" pitchFamily="34" charset="-120"/>
              </a:rPr>
              <a:t>(</a:t>
            </a:r>
            <a:pPr algn="l" indent="0" marL="0">
              <a:buNone/>
            </a:pPr>
            <a:r>
              <a:rPr lang="en-US" sz="1500" i="1" dirty="0">
                <a:solidFill>
                  <a:srgbClr val="1A1A1A"/>
                </a:solidFill>
                <a:latin typeface="Cambria Math" pitchFamily="34" charset="0"/>
                <a:ea typeface="Cambria Math" pitchFamily="34" charset="-122"/>
                <a:cs typeface="Cambria Math" pitchFamily="34" charset="-120"/>
              </a:rPr>
              <a:t>g</a:t>
            </a:r>
            <a:pPr algn="l" indent="0" marL="0">
              <a:buNone/>
            </a:pPr>
            <a:r>
              <a:rPr lang="en-US" sz="1500" dirty="0">
                <a:solidFill>
                  <a:srgbClr val="1A1A1A"/>
                </a:solidFill>
                <a:latin typeface="Cambria Math" pitchFamily="34" charset="0"/>
                <a:ea typeface="Cambria Math" pitchFamily="34" charset="-122"/>
                <a:cs typeface="Cambria Math" pitchFamily="34" charset="-120"/>
              </a:rPr>
              <a:t>) = out　otherwise</a:t>
            </a:r>
            <a:endParaRPr lang="en-US" sz="1500" dirty="0"/>
          </a:p>
        </p:txBody>
      </p:sp>
      <p:sp>
        <p:nvSpPr>
          <p:cNvPr id="11" name="Text 9"/>
          <p:cNvSpPr/>
          <p:nvPr/>
        </p:nvSpPr>
        <p:spPr>
          <a:xfrm>
            <a:off x="1051560" y="3429000"/>
            <a:ext cx="6035040" cy="320040"/>
          </a:xfrm>
          <a:prstGeom prst="rect">
            <a:avLst/>
          </a:prstGeom>
          <a:noFill/>
          <a:ln/>
        </p:spPr>
        <p:txBody>
          <a:bodyPr wrap="square" lIns="0" tIns="0" rIns="0" bIns="0" rtlCol="0" anchor="ctr"/>
          <a:lstStyle/>
          <a:p>
            <a:pPr indent="0" marL="0">
              <a:buNone/>
            </a:pPr>
            <a:r>
              <a:rPr lang="en-US" sz="1050" dirty="0">
                <a:solidFill>
                  <a:srgbClr val="55555F"/>
                </a:solidFill>
                <a:latin typeface="Hiragino Sans" pitchFamily="34" charset="0"/>
                <a:ea typeface="Hiragino Sans" pitchFamily="34" charset="-122"/>
                <a:cs typeface="Hiragino Sans" pitchFamily="34" charset="-120"/>
              </a:rPr>
              <a:t>far(g) は導出済みのサイト間接続から解決し、接続が欠けている場合は「A–B line」形式の線路名にフォールバックする。</a:t>
            </a:r>
            <a:endParaRPr lang="en-US" sz="1050" dirty="0"/>
          </a:p>
        </p:txBody>
      </p:sp>
      <p:sp>
        <p:nvSpPr>
          <p:cNvPr id="12" name="Shape 10"/>
          <p:cNvSpPr/>
          <p:nvPr/>
        </p:nvSpPr>
        <p:spPr>
          <a:xfrm>
            <a:off x="7589520" y="1463040"/>
            <a:ext cx="3840480" cy="2377440"/>
          </a:xfrm>
          <a:prstGeom prst="roundRect">
            <a:avLst>
              <a:gd name="adj" fmla="val 2308"/>
            </a:avLst>
          </a:prstGeom>
          <a:solidFill>
            <a:srgbClr val="FFFFFF"/>
          </a:solidFill>
          <a:ln w="11430">
            <a:solidFill>
              <a:srgbClr val="D8D8DE"/>
            </a:solidFill>
            <a:prstDash val="solid"/>
          </a:ln>
        </p:spPr>
      </p:sp>
      <p:sp>
        <p:nvSpPr>
          <p:cNvPr id="13" name="Text 11"/>
          <p:cNvSpPr/>
          <p:nvPr/>
        </p:nvSpPr>
        <p:spPr>
          <a:xfrm>
            <a:off x="7818120" y="1600200"/>
            <a:ext cx="1188720" cy="256032"/>
          </a:xfrm>
          <a:prstGeom prst="rect">
            <a:avLst/>
          </a:prstGeom>
          <a:noFill/>
          <a:ln/>
        </p:spPr>
        <p:txBody>
          <a:bodyPr wrap="square" lIns="0" tIns="0" rIns="0" bIns="0" rtlCol="0" anchor="ctr"/>
          <a:lstStyle/>
          <a:p>
            <a:pPr indent="0" marL="0">
              <a:buNone/>
            </a:pPr>
            <a:r>
              <a:rPr lang="en-US" sz="1200" i="1" dirty="0">
                <a:solidFill>
                  <a:srgbClr val="D62728"/>
                </a:solidFill>
                <a:latin typeface="Cambria Math" pitchFamily="34" charset="0"/>
                <a:ea typeface="Cambria Math" pitchFamily="34" charset="-122"/>
                <a:cs typeface="Cambria Math" pitchFamily="34" charset="-120"/>
              </a:rPr>
              <a:t>s′ ≻ v</a:t>
            </a:r>
            <a:endParaRPr lang="en-US" sz="1200" dirty="0"/>
          </a:p>
        </p:txBody>
      </p:sp>
      <p:sp>
        <p:nvSpPr>
          <p:cNvPr id="14" name="Shape 12"/>
          <p:cNvSpPr/>
          <p:nvPr/>
        </p:nvSpPr>
        <p:spPr>
          <a:xfrm>
            <a:off x="9144000" y="1828800"/>
            <a:ext cx="0" cy="457200"/>
          </a:xfrm>
          <a:prstGeom prst="line">
            <a:avLst/>
          </a:prstGeom>
          <a:noFill/>
          <a:ln w="25400">
            <a:solidFill>
              <a:srgbClr val="D62728"/>
            </a:solidFill>
            <a:prstDash val="solid"/>
            <a:tailEnd type="triangle"/>
          </a:ln>
        </p:spPr>
      </p:sp>
      <p:sp>
        <p:nvSpPr>
          <p:cNvPr id="15" name="Text 13"/>
          <p:cNvSpPr/>
          <p:nvPr/>
        </p:nvSpPr>
        <p:spPr>
          <a:xfrm>
            <a:off x="9281160" y="1874520"/>
            <a:ext cx="548640" cy="274320"/>
          </a:xfrm>
          <a:prstGeom prst="rect">
            <a:avLst/>
          </a:prstGeom>
          <a:noFill/>
          <a:ln/>
        </p:spPr>
        <p:txBody>
          <a:bodyPr wrap="square" lIns="0" tIns="0" rIns="0" bIns="0" rtlCol="0" anchor="ctr"/>
          <a:lstStyle/>
          <a:p>
            <a:pPr indent="0" marL="0">
              <a:buNone/>
            </a:pPr>
            <a:r>
              <a:rPr lang="en-US" sz="1100" b="1" dirty="0">
                <a:solidFill>
                  <a:srgbClr val="D62728"/>
                </a:solidFill>
                <a:latin typeface="Helvetica Neue" pitchFamily="34" charset="0"/>
                <a:ea typeface="Helvetica Neue" pitchFamily="34" charset="-122"/>
                <a:cs typeface="Helvetica Neue" pitchFamily="34" charset="-120"/>
              </a:rPr>
              <a:t>in</a:t>
            </a:r>
            <a:endParaRPr lang="en-US" sz="1100" dirty="0"/>
          </a:p>
        </p:txBody>
      </p:sp>
      <p:sp>
        <p:nvSpPr>
          <p:cNvPr id="16" name="Shape 14"/>
          <p:cNvSpPr/>
          <p:nvPr/>
        </p:nvSpPr>
        <p:spPr>
          <a:xfrm>
            <a:off x="7818120" y="2423160"/>
            <a:ext cx="3383280" cy="0"/>
          </a:xfrm>
          <a:prstGeom prst="line">
            <a:avLst/>
          </a:prstGeom>
          <a:noFill/>
          <a:ln w="31750">
            <a:solidFill>
              <a:srgbClr val="1A1A1A"/>
            </a:solidFill>
            <a:prstDash val="solid"/>
          </a:ln>
        </p:spPr>
      </p:sp>
      <p:sp>
        <p:nvSpPr>
          <p:cNvPr id="17" name="Text 15"/>
          <p:cNvSpPr/>
          <p:nvPr/>
        </p:nvSpPr>
        <p:spPr>
          <a:xfrm>
            <a:off x="7818120" y="2487168"/>
            <a:ext cx="2286000" cy="256032"/>
          </a:xfrm>
          <a:prstGeom prst="rect">
            <a:avLst/>
          </a:prstGeom>
          <a:noFill/>
          <a:ln/>
        </p:spPr>
        <p:txBody>
          <a:bodyPr wrap="square" lIns="0" tIns="0" rIns="0" bIns="0" rtlCol="0" anchor="ctr"/>
          <a:lstStyle/>
          <a:p>
            <a:pPr indent="0" marL="0">
              <a:buNone/>
            </a:pPr>
            <a:r>
              <a:rPr lang="en-US" sz="950" dirty="0">
                <a:solidFill>
                  <a:srgbClr val="1A1A1A"/>
                </a:solidFill>
                <a:latin typeface="Hiragino Sans" pitchFamily="34" charset="0"/>
                <a:ea typeface="Hiragino Sans" pitchFamily="34" charset="-122"/>
                <a:cs typeface="Hiragino Sans" pitchFamily="34" charset="-120"/>
              </a:rPr>
              <a:t>v（自所の階級）</a:t>
            </a:r>
            <a:endParaRPr lang="en-US" sz="950" dirty="0"/>
          </a:p>
        </p:txBody>
      </p:sp>
      <p:sp>
        <p:nvSpPr>
          <p:cNvPr id="18" name="Text 16"/>
          <p:cNvSpPr/>
          <p:nvPr/>
        </p:nvSpPr>
        <p:spPr>
          <a:xfrm>
            <a:off x="7818120" y="2834640"/>
            <a:ext cx="1188720" cy="256032"/>
          </a:xfrm>
          <a:prstGeom prst="rect">
            <a:avLst/>
          </a:prstGeom>
          <a:noFill/>
          <a:ln/>
        </p:spPr>
        <p:txBody>
          <a:bodyPr wrap="square" lIns="0" tIns="0" rIns="0" bIns="0" rtlCol="0" anchor="ctr"/>
          <a:lstStyle/>
          <a:p>
            <a:pPr indent="0" marL="0">
              <a:buNone/>
            </a:pPr>
            <a:r>
              <a:rPr lang="en-US" sz="1200" i="1" dirty="0">
                <a:solidFill>
                  <a:srgbClr val="17BECF"/>
                </a:solidFill>
                <a:latin typeface="Cambria Math" pitchFamily="34" charset="0"/>
                <a:ea typeface="Cambria Math" pitchFamily="34" charset="-122"/>
                <a:cs typeface="Cambria Math" pitchFamily="34" charset="-120"/>
              </a:rPr>
              <a:t>s′ ∼ v</a:t>
            </a:r>
            <a:endParaRPr lang="en-US" sz="1200" dirty="0"/>
          </a:p>
        </p:txBody>
      </p:sp>
      <p:sp>
        <p:nvSpPr>
          <p:cNvPr id="19" name="Shape 17"/>
          <p:cNvSpPr/>
          <p:nvPr/>
        </p:nvSpPr>
        <p:spPr>
          <a:xfrm>
            <a:off x="9144000" y="2788920"/>
            <a:ext cx="0" cy="457200"/>
          </a:xfrm>
          <a:prstGeom prst="line">
            <a:avLst/>
          </a:prstGeom>
          <a:noFill/>
          <a:ln w="25400">
            <a:solidFill>
              <a:srgbClr val="17BECF"/>
            </a:solidFill>
            <a:prstDash val="solid"/>
            <a:headEnd type="triangle"/>
          </a:ln>
        </p:spPr>
      </p:sp>
      <p:sp>
        <p:nvSpPr>
          <p:cNvPr id="20" name="Text 18"/>
          <p:cNvSpPr/>
          <p:nvPr/>
        </p:nvSpPr>
        <p:spPr>
          <a:xfrm>
            <a:off x="9281160" y="2971800"/>
            <a:ext cx="640080" cy="274320"/>
          </a:xfrm>
          <a:prstGeom prst="rect">
            <a:avLst/>
          </a:prstGeom>
          <a:noFill/>
          <a:ln/>
        </p:spPr>
        <p:txBody>
          <a:bodyPr wrap="square" lIns="0" tIns="0" rIns="0" bIns="0" rtlCol="0" anchor="ctr"/>
          <a:lstStyle/>
          <a:p>
            <a:pPr indent="0" marL="0">
              <a:buNone/>
            </a:pPr>
            <a:r>
              <a:rPr lang="en-US" sz="1100" b="1" dirty="0">
                <a:solidFill>
                  <a:srgbClr val="17BECF"/>
                </a:solidFill>
                <a:latin typeface="Helvetica Neue" pitchFamily="34" charset="0"/>
                <a:ea typeface="Helvetica Neue" pitchFamily="34" charset="-122"/>
                <a:cs typeface="Helvetica Neue" pitchFamily="34" charset="-120"/>
              </a:rPr>
              <a:t>out</a:t>
            </a:r>
            <a:endParaRPr lang="en-US" sz="1100" dirty="0"/>
          </a:p>
        </p:txBody>
      </p:sp>
      <p:sp>
        <p:nvSpPr>
          <p:cNvPr id="21" name="Text 19"/>
          <p:cNvSpPr/>
          <p:nvPr/>
        </p:nvSpPr>
        <p:spPr>
          <a:xfrm>
            <a:off x="7818120" y="3310128"/>
            <a:ext cx="3291840" cy="274320"/>
          </a:xfrm>
          <a:prstGeom prst="rect">
            <a:avLst/>
          </a:prstGeom>
          <a:noFill/>
          <a:ln/>
        </p:spPr>
        <p:txBody>
          <a:bodyPr wrap="square" lIns="0" tIns="0" rIns="0" bIns="0" rtlCol="0" anchor="ctr"/>
          <a:lstStyle/>
          <a:p>
            <a:pPr indent="0" marL="0">
              <a:buNone/>
            </a:pPr>
            <a:r>
              <a:rPr lang="en-US" sz="1000" dirty="0">
                <a:solidFill>
                  <a:srgbClr val="55555F"/>
                </a:solidFill>
                <a:latin typeface="Hiragino Sans" pitchFamily="34" charset="0"/>
                <a:ea typeface="Hiragino Sans" pitchFamily="34" charset="-122"/>
                <a:cs typeface="Hiragino Sans" pitchFamily="34" charset="-120"/>
              </a:rPr>
              <a:t>far(g) = ∅ → ⊥（灰スタブ）</a:t>
            </a:r>
            <a:endParaRPr lang="en-US" sz="1000" dirty="0"/>
          </a:p>
        </p:txBody>
      </p:sp>
      <p:sp>
        <p:nvSpPr>
          <p:cNvPr id="22" name="Shape 20"/>
          <p:cNvSpPr/>
          <p:nvPr/>
        </p:nvSpPr>
        <p:spPr>
          <a:xfrm>
            <a:off x="822960" y="4114800"/>
            <a:ext cx="10607040" cy="1051560"/>
          </a:xfrm>
          <a:prstGeom prst="roundRect">
            <a:avLst>
              <a:gd name="adj" fmla="val 5217"/>
            </a:avLst>
          </a:prstGeom>
          <a:solidFill>
            <a:srgbClr val="FFF3F3"/>
          </a:solidFill>
          <a:ln w="13970">
            <a:solidFill>
              <a:srgbClr val="C62828"/>
            </a:solidFill>
            <a:prstDash val="solid"/>
          </a:ln>
        </p:spPr>
      </p:sp>
      <p:sp>
        <p:nvSpPr>
          <p:cNvPr id="23" name="Text 21"/>
          <p:cNvSpPr/>
          <p:nvPr/>
        </p:nvSpPr>
        <p:spPr>
          <a:xfrm>
            <a:off x="1051560" y="4114800"/>
            <a:ext cx="10149840" cy="1051560"/>
          </a:xfrm>
          <a:prstGeom prst="rect">
            <a:avLst/>
          </a:prstGeom>
          <a:noFill/>
          <a:ln/>
        </p:spPr>
        <p:txBody>
          <a:bodyPr wrap="square" lIns="0" tIns="0" rIns="0" bIns="0" rtlCol="0" anchor="ctr"/>
          <a:lstStyle/>
          <a:p>
            <a:pPr indent="0" marL="0">
              <a:lnSpc>
                <a:spcPts val="2200"/>
              </a:lnSpc>
              <a:buNone/>
            </a:pPr>
            <a:r>
              <a:rPr lang="en-US" sz="1350" b="1" dirty="0">
                <a:solidFill>
                  <a:srgbClr val="C62828"/>
                </a:solidFill>
                <a:latin typeface="Hiragino Sans" pitchFamily="34" charset="0"/>
                <a:ea typeface="Hiragino Sans" pitchFamily="34" charset="-122"/>
                <a:cs typeface="Hiragino Sans" pitchFamily="34" charset="-120"/>
              </a:rPr>
              <a:t>遠端が不明なら手法は棄権し、図はスタブを灰色で描く（S4 で見た灰スタブ）。</a:t>
            </a:r>
            <a:endParaRPr lang="en-US" sz="1350" dirty="0"/>
          </a:p>
          <a:p>
            <a:pPr indent="0" marL="0">
              <a:lnSpc>
                <a:spcPts val="2200"/>
              </a:lnSpc>
              <a:buNone/>
            </a:pPr>
            <a:r>
              <a:rPr lang="en-US" sz="1350" b="1" dirty="0">
                <a:solidFill>
                  <a:srgbClr val="C62828"/>
                </a:solidFill>
                <a:latin typeface="Hiragino Sans" pitchFamily="34" charset="0"/>
                <a:ea typeface="Hiragino Sans" pitchFamily="34" charset="-122"/>
                <a:cs typeface="Hiragino Sans" pitchFamily="34" charset="-120"/>
              </a:rPr>
              <a:t>棄権率は評価指標として報告し、隠さない（→ S11）。</a:t>
            </a:r>
            <a:endParaRPr lang="en-US" sz="1350" dirty="0"/>
          </a:p>
        </p:txBody>
      </p:sp>
      <p:sp>
        <p:nvSpPr>
          <p:cNvPr id="24" name="Text 22"/>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25" name="Text 23"/>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0:55</a:t>
            </a:r>
            <a:endParaRPr lang="en-US" sz="900" dirty="0"/>
          </a:p>
        </p:txBody>
      </p:sp>
      <p:sp>
        <p:nvSpPr>
          <p:cNvPr id="26" name="Text 24"/>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§VII</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全国適用：10地域を同一コードで、決定的に、1コマンドで</a:t>
            </a:r>
            <a:endParaRPr lang="en-US" sz="2200" dirty="0"/>
          </a:p>
        </p:txBody>
      </p:sp>
      <p:sp>
        <p:nvSpPr>
          <p:cNvPr id="5" name="Shape 3"/>
          <p:cNvSpPr/>
          <p:nvPr/>
        </p:nvSpPr>
        <p:spPr>
          <a:xfrm>
            <a:off x="822960" y="1097280"/>
            <a:ext cx="2560320" cy="1051560"/>
          </a:xfrm>
          <a:prstGeom prst="roundRect">
            <a:avLst>
              <a:gd name="adj" fmla="val 6087"/>
            </a:avLst>
          </a:prstGeom>
          <a:solidFill>
            <a:srgbClr val="F4F4F6"/>
          </a:solidFill>
          <a:ln/>
        </p:spPr>
      </p:sp>
      <p:sp>
        <p:nvSpPr>
          <p:cNvPr id="6" name="Text 4"/>
          <p:cNvSpPr/>
          <p:nvPr/>
        </p:nvSpPr>
        <p:spPr>
          <a:xfrm>
            <a:off x="822960" y="1170432"/>
            <a:ext cx="2560320" cy="566928"/>
          </a:xfrm>
          <a:prstGeom prst="rect">
            <a:avLst/>
          </a:prstGeom>
          <a:noFill/>
          <a:ln/>
        </p:spPr>
        <p:txBody>
          <a:bodyPr wrap="square" lIns="0" tIns="0" rIns="0" bIns="0" rtlCol="0" anchor="ctr"/>
          <a:lstStyle/>
          <a:p>
            <a:pPr algn="ctr" indent="0" marL="0">
              <a:buNone/>
            </a:pPr>
            <a:r>
              <a:rPr lang="en-US" sz="2800" b="1" dirty="0">
                <a:solidFill>
                  <a:srgbClr val="1E2761"/>
                </a:solidFill>
                <a:latin typeface="Helvetica Neue" pitchFamily="34" charset="0"/>
                <a:ea typeface="Helvetica Neue" pitchFamily="34" charset="-122"/>
                <a:cs typeface="Helvetica Neue" pitchFamily="34" charset="-120"/>
              </a:rPr>
              <a:t>7,239</a:t>
            </a:r>
            <a:endParaRPr lang="en-US" sz="2800" dirty="0"/>
          </a:p>
        </p:txBody>
      </p:sp>
      <p:sp>
        <p:nvSpPr>
          <p:cNvPr id="7" name="Text 5"/>
          <p:cNvSpPr/>
          <p:nvPr/>
        </p:nvSpPr>
        <p:spPr>
          <a:xfrm>
            <a:off x="822960" y="1737360"/>
            <a:ext cx="2560320" cy="292608"/>
          </a:xfrm>
          <a:prstGeom prst="rect">
            <a:avLst/>
          </a:prstGeom>
          <a:noFill/>
          <a:ln/>
        </p:spPr>
        <p:txBody>
          <a:bodyPr wrap="square" lIns="0" tIns="0" rIns="0" bIns="0" rtlCol="0" anchor="ctr"/>
          <a:lstStyle/>
          <a:p>
            <a:pPr algn="ctr" indent="0" marL="0">
              <a:buNone/>
            </a:pPr>
            <a:r>
              <a:rPr lang="en-US" sz="1050" dirty="0">
                <a:solidFill>
                  <a:srgbClr val="55555F"/>
                </a:solidFill>
                <a:latin typeface="Hiragino Sans" pitchFamily="34" charset="0"/>
                <a:ea typeface="Hiragino Sans" pitchFamily="34" charset="-122"/>
                <a:cs typeface="Hiragino Sans" pitchFamily="34" charset="-120"/>
              </a:rPr>
              <a:t>抽出された変電所構造</a:t>
            </a:r>
            <a:endParaRPr lang="en-US" sz="1050" dirty="0"/>
          </a:p>
        </p:txBody>
      </p:sp>
      <p:sp>
        <p:nvSpPr>
          <p:cNvPr id="8" name="Shape 6"/>
          <p:cNvSpPr/>
          <p:nvPr/>
        </p:nvSpPr>
        <p:spPr>
          <a:xfrm>
            <a:off x="3611880" y="1097280"/>
            <a:ext cx="2560320" cy="1051560"/>
          </a:xfrm>
          <a:prstGeom prst="roundRect">
            <a:avLst>
              <a:gd name="adj" fmla="val 6087"/>
            </a:avLst>
          </a:prstGeom>
          <a:solidFill>
            <a:srgbClr val="F4F4F6"/>
          </a:solidFill>
          <a:ln/>
        </p:spPr>
      </p:sp>
      <p:sp>
        <p:nvSpPr>
          <p:cNvPr id="9" name="Text 7"/>
          <p:cNvSpPr/>
          <p:nvPr/>
        </p:nvSpPr>
        <p:spPr>
          <a:xfrm>
            <a:off x="3611880" y="1170432"/>
            <a:ext cx="2560320" cy="566928"/>
          </a:xfrm>
          <a:prstGeom prst="rect">
            <a:avLst/>
          </a:prstGeom>
          <a:noFill/>
          <a:ln/>
        </p:spPr>
        <p:txBody>
          <a:bodyPr wrap="square" lIns="0" tIns="0" rIns="0" bIns="0" rtlCol="0" anchor="ctr"/>
          <a:lstStyle/>
          <a:p>
            <a:pPr algn="ctr" indent="0" marL="0">
              <a:buNone/>
            </a:pPr>
            <a:r>
              <a:rPr lang="en-US" sz="2800" b="1" dirty="0">
                <a:solidFill>
                  <a:srgbClr val="1E2761"/>
                </a:solidFill>
                <a:latin typeface="Helvetica Neue" pitchFamily="34" charset="0"/>
                <a:ea typeface="Helvetica Neue" pitchFamily="34" charset="-122"/>
                <a:cs typeface="Helvetica Neue" pitchFamily="34" charset="-120"/>
              </a:rPr>
              <a:t>47,979</a:t>
            </a:r>
            <a:endParaRPr lang="en-US" sz="2800" dirty="0"/>
          </a:p>
        </p:txBody>
      </p:sp>
      <p:sp>
        <p:nvSpPr>
          <p:cNvPr id="10" name="Text 8"/>
          <p:cNvSpPr/>
          <p:nvPr/>
        </p:nvSpPr>
        <p:spPr>
          <a:xfrm>
            <a:off x="3611880" y="1737360"/>
            <a:ext cx="2560320" cy="292608"/>
          </a:xfrm>
          <a:prstGeom prst="rect">
            <a:avLst/>
          </a:prstGeom>
          <a:noFill/>
          <a:ln/>
        </p:spPr>
        <p:txBody>
          <a:bodyPr wrap="square" lIns="0" tIns="0" rIns="0" bIns="0" rtlCol="0" anchor="ctr"/>
          <a:lstStyle/>
          <a:p>
            <a:pPr algn="ctr" indent="0" marL="0">
              <a:buNone/>
            </a:pPr>
            <a:r>
              <a:rPr lang="en-US" sz="1050" dirty="0">
                <a:solidFill>
                  <a:srgbClr val="55555F"/>
                </a:solidFill>
                <a:latin typeface="Hiragino Sans" pitchFamily="34" charset="0"/>
                <a:ea typeface="Hiragino Sans" pitchFamily="34" charset="-122"/>
                <a:cs typeface="Hiragino Sans" pitchFamily="34" charset="-120"/>
              </a:rPr>
              <a:t>evidence-bound terminals</a:t>
            </a:r>
            <a:endParaRPr lang="en-US" sz="1050" dirty="0"/>
          </a:p>
        </p:txBody>
      </p:sp>
      <p:sp>
        <p:nvSpPr>
          <p:cNvPr id="11" name="Shape 9"/>
          <p:cNvSpPr/>
          <p:nvPr/>
        </p:nvSpPr>
        <p:spPr>
          <a:xfrm>
            <a:off x="6400800" y="1097280"/>
            <a:ext cx="2560320" cy="1051560"/>
          </a:xfrm>
          <a:prstGeom prst="roundRect">
            <a:avLst>
              <a:gd name="adj" fmla="val 6087"/>
            </a:avLst>
          </a:prstGeom>
          <a:solidFill>
            <a:srgbClr val="F4F4F6"/>
          </a:solidFill>
          <a:ln/>
        </p:spPr>
      </p:sp>
      <p:sp>
        <p:nvSpPr>
          <p:cNvPr id="12" name="Text 10"/>
          <p:cNvSpPr/>
          <p:nvPr/>
        </p:nvSpPr>
        <p:spPr>
          <a:xfrm>
            <a:off x="6400800" y="1170432"/>
            <a:ext cx="2560320" cy="566928"/>
          </a:xfrm>
          <a:prstGeom prst="rect">
            <a:avLst/>
          </a:prstGeom>
          <a:noFill/>
          <a:ln/>
        </p:spPr>
        <p:txBody>
          <a:bodyPr wrap="square" lIns="0" tIns="0" rIns="0" bIns="0" rtlCol="0" anchor="ctr"/>
          <a:lstStyle/>
          <a:p>
            <a:pPr algn="ctr" indent="0" marL="0">
              <a:buNone/>
            </a:pPr>
            <a:r>
              <a:rPr lang="en-US" sz="2800" b="1" dirty="0">
                <a:solidFill>
                  <a:srgbClr val="1E2761"/>
                </a:solidFill>
                <a:latin typeface="Helvetica Neue" pitchFamily="34" charset="0"/>
                <a:ea typeface="Helvetica Neue" pitchFamily="34" charset="-122"/>
                <a:cs typeface="Helvetica Neue" pitchFamily="34" charset="-120"/>
              </a:rPr>
              <a:t>11,586</a:t>
            </a:r>
            <a:endParaRPr lang="en-US" sz="2800" dirty="0"/>
          </a:p>
        </p:txBody>
      </p:sp>
      <p:sp>
        <p:nvSpPr>
          <p:cNvPr id="13" name="Text 11"/>
          <p:cNvSpPr/>
          <p:nvPr/>
        </p:nvSpPr>
        <p:spPr>
          <a:xfrm>
            <a:off x="6400800" y="1737360"/>
            <a:ext cx="2560320" cy="292608"/>
          </a:xfrm>
          <a:prstGeom prst="rect">
            <a:avLst/>
          </a:prstGeom>
          <a:noFill/>
          <a:ln/>
        </p:spPr>
        <p:txBody>
          <a:bodyPr wrap="square" lIns="0" tIns="0" rIns="0" bIns="0" rtlCol="0" anchor="ctr"/>
          <a:lstStyle/>
          <a:p>
            <a:pPr algn="ctr" indent="0" marL="0">
              <a:buNone/>
            </a:pPr>
            <a:r>
              <a:rPr lang="en-US" sz="1050" dirty="0">
                <a:solidFill>
                  <a:srgbClr val="55555F"/>
                </a:solidFill>
                <a:latin typeface="Hiragino Sans" pitchFamily="34" charset="0"/>
                <a:ea typeface="Hiragino Sans" pitchFamily="34" charset="-122"/>
                <a:cs typeface="Hiragino Sans" pitchFamily="34" charset="-120"/>
              </a:rPr>
              <a:t>導出されたサイト間接続</a:t>
            </a:r>
            <a:endParaRPr lang="en-US" sz="1050" dirty="0"/>
          </a:p>
        </p:txBody>
      </p:sp>
      <p:sp>
        <p:nvSpPr>
          <p:cNvPr id="14" name="Shape 12"/>
          <p:cNvSpPr/>
          <p:nvPr/>
        </p:nvSpPr>
        <p:spPr>
          <a:xfrm>
            <a:off x="9189720" y="1097280"/>
            <a:ext cx="2560320" cy="1051560"/>
          </a:xfrm>
          <a:prstGeom prst="roundRect">
            <a:avLst>
              <a:gd name="adj" fmla="val 6087"/>
            </a:avLst>
          </a:prstGeom>
          <a:solidFill>
            <a:srgbClr val="F4F4F6"/>
          </a:solidFill>
          <a:ln/>
        </p:spPr>
      </p:sp>
      <p:sp>
        <p:nvSpPr>
          <p:cNvPr id="15" name="Text 13"/>
          <p:cNvSpPr/>
          <p:nvPr/>
        </p:nvSpPr>
        <p:spPr>
          <a:xfrm>
            <a:off x="9189720" y="1170432"/>
            <a:ext cx="2560320" cy="566928"/>
          </a:xfrm>
          <a:prstGeom prst="rect">
            <a:avLst/>
          </a:prstGeom>
          <a:noFill/>
          <a:ln/>
        </p:spPr>
        <p:txBody>
          <a:bodyPr wrap="square" lIns="0" tIns="0" rIns="0" bIns="0" rtlCol="0" anchor="ctr"/>
          <a:lstStyle/>
          <a:p>
            <a:pPr algn="ctr" indent="0" marL="0">
              <a:buNone/>
            </a:pPr>
            <a:r>
              <a:rPr lang="en-US" sz="2800" b="1" dirty="0">
                <a:solidFill>
                  <a:srgbClr val="1E2761"/>
                </a:solidFill>
                <a:latin typeface="Helvetica Neue" pitchFamily="34" charset="0"/>
                <a:ea typeface="Helvetica Neue" pitchFamily="34" charset="-122"/>
                <a:cs typeface="Helvetica Neue" pitchFamily="34" charset="-120"/>
              </a:rPr>
              <a:t>≈ 4 秒</a:t>
            </a:r>
            <a:endParaRPr lang="en-US" sz="2800" dirty="0"/>
          </a:p>
        </p:txBody>
      </p:sp>
      <p:sp>
        <p:nvSpPr>
          <p:cNvPr id="16" name="Text 14"/>
          <p:cNvSpPr/>
          <p:nvPr/>
        </p:nvSpPr>
        <p:spPr>
          <a:xfrm>
            <a:off x="9189720" y="1737360"/>
            <a:ext cx="2560320" cy="292608"/>
          </a:xfrm>
          <a:prstGeom prst="rect">
            <a:avLst/>
          </a:prstGeom>
          <a:noFill/>
          <a:ln/>
        </p:spPr>
        <p:txBody>
          <a:bodyPr wrap="square" lIns="0" tIns="0" rIns="0" bIns="0" rtlCol="0" anchor="ctr"/>
          <a:lstStyle/>
          <a:p>
            <a:pPr algn="ctr" indent="0" marL="0">
              <a:buNone/>
            </a:pPr>
            <a:r>
              <a:rPr lang="en-US" sz="1050" dirty="0">
                <a:solidFill>
                  <a:srgbClr val="55555F"/>
                </a:solidFill>
                <a:latin typeface="Hiragino Sans" pitchFamily="34" charset="0"/>
                <a:ea typeface="Hiragino Sans" pitchFamily="34" charset="-122"/>
                <a:cs typeface="Hiragino Sans" pitchFamily="34" charset="-120"/>
              </a:rPr>
              <a:t>全国抽出</a:t>
            </a:r>
            <a:endParaRPr lang="en-US" sz="1050" dirty="0"/>
          </a:p>
        </p:txBody>
      </p:sp>
      <p:pic>
        <p:nvPicPr>
          <p:cNvPr id="17" name="Image 0" descr="assets/tile_miyagi.png">    </p:cNvPr>
          <p:cNvPicPr>
            <a:picLocks noChangeAspect="1"/>
          </p:cNvPicPr>
          <p:nvPr/>
        </p:nvPicPr>
        <p:blipFill>
          <a:blip r:embed="rId1"/>
          <a:stretch>
            <a:fillRect/>
          </a:stretch>
        </p:blipFill>
        <p:spPr>
          <a:xfrm>
            <a:off x="822960" y="2377440"/>
            <a:ext cx="2560320" cy="3200400"/>
          </a:xfrm>
          <a:prstGeom prst="rect">
            <a:avLst/>
          </a:prstGeom>
        </p:spPr>
      </p:pic>
      <p:sp>
        <p:nvSpPr>
          <p:cNvPr id="18" name="Text 15"/>
          <p:cNvSpPr/>
          <p:nvPr/>
        </p:nvSpPr>
        <p:spPr>
          <a:xfrm>
            <a:off x="822960" y="5605272"/>
            <a:ext cx="2651760" cy="274320"/>
          </a:xfrm>
          <a:prstGeom prst="rect">
            <a:avLst/>
          </a:prstGeom>
          <a:noFill/>
          <a:ln/>
        </p:spPr>
        <p:txBody>
          <a:bodyPr wrap="square" lIns="0" tIns="0" rIns="0" bIns="0" rtlCol="0" anchor="ctr"/>
          <a:lstStyle/>
          <a:p>
            <a:pPr indent="0" marL="0">
              <a:buNone/>
            </a:pPr>
            <a:r>
              <a:rPr lang="en-US" sz="1000" dirty="0">
                <a:solidFill>
                  <a:srgbClr val="1A1A1A"/>
                </a:solidFill>
                <a:latin typeface="Hiragino Sans" pitchFamily="34" charset="0"/>
                <a:ea typeface="Hiragino Sans" pitchFamily="34" charset="-122"/>
                <a:cs typeface="Hiragino Sans" pitchFamily="34" charset="-120"/>
              </a:rPr>
              <a:t>宮城（東北）500/275/154/66</a:t>
            </a:r>
            <a:endParaRPr lang="en-US" sz="1000" dirty="0"/>
          </a:p>
        </p:txBody>
      </p:sp>
      <p:pic>
        <p:nvPicPr>
          <p:cNvPr id="19" name="Image 1" descr="assets/tile_minamihayakita.png">    </p:cNvPr>
          <p:cNvPicPr>
            <a:picLocks noChangeAspect="1"/>
          </p:cNvPicPr>
          <p:nvPr/>
        </p:nvPicPr>
        <p:blipFill>
          <a:blip r:embed="rId2"/>
          <a:stretch>
            <a:fillRect/>
          </a:stretch>
        </p:blipFill>
        <p:spPr>
          <a:xfrm>
            <a:off x="3611880" y="2377440"/>
            <a:ext cx="2560320" cy="3200400"/>
          </a:xfrm>
          <a:prstGeom prst="rect">
            <a:avLst/>
          </a:prstGeom>
        </p:spPr>
      </p:pic>
      <p:sp>
        <p:nvSpPr>
          <p:cNvPr id="20" name="Text 16"/>
          <p:cNvSpPr/>
          <p:nvPr/>
        </p:nvSpPr>
        <p:spPr>
          <a:xfrm>
            <a:off x="3611880" y="5605272"/>
            <a:ext cx="2651760" cy="274320"/>
          </a:xfrm>
          <a:prstGeom prst="rect">
            <a:avLst/>
          </a:prstGeom>
          <a:noFill/>
          <a:ln/>
        </p:spPr>
        <p:txBody>
          <a:bodyPr wrap="square" lIns="0" tIns="0" rIns="0" bIns="0" rtlCol="0" anchor="ctr"/>
          <a:lstStyle/>
          <a:p>
            <a:pPr indent="0" marL="0">
              <a:buNone/>
            </a:pPr>
            <a:r>
              <a:rPr lang="en-US" sz="1000" dirty="0">
                <a:solidFill>
                  <a:srgbClr val="1A1A1A"/>
                </a:solidFill>
                <a:latin typeface="Hiragino Sans" pitchFamily="34" charset="0"/>
                <a:ea typeface="Hiragino Sans" pitchFamily="34" charset="-122"/>
                <a:cs typeface="Hiragino Sans" pitchFamily="34" charset="-120"/>
              </a:rPr>
              <a:t>南早来（北海道）275/187/66</a:t>
            </a:r>
            <a:endParaRPr lang="en-US" sz="1000" dirty="0"/>
          </a:p>
        </p:txBody>
      </p:sp>
      <p:pic>
        <p:nvPicPr>
          <p:cNvPr id="21" name="Image 2" descr="assets/tile_hitoyoshi.png">    </p:cNvPr>
          <p:cNvPicPr>
            <a:picLocks noChangeAspect="1"/>
          </p:cNvPicPr>
          <p:nvPr/>
        </p:nvPicPr>
        <p:blipFill>
          <a:blip r:embed="rId3"/>
          <a:stretch>
            <a:fillRect/>
          </a:stretch>
        </p:blipFill>
        <p:spPr>
          <a:xfrm>
            <a:off x="6400800" y="2377440"/>
            <a:ext cx="2560320" cy="3200400"/>
          </a:xfrm>
          <a:prstGeom prst="rect">
            <a:avLst/>
          </a:prstGeom>
        </p:spPr>
      </p:pic>
      <p:sp>
        <p:nvSpPr>
          <p:cNvPr id="22" name="Text 17"/>
          <p:cNvSpPr/>
          <p:nvPr/>
        </p:nvSpPr>
        <p:spPr>
          <a:xfrm>
            <a:off x="6400800" y="5605272"/>
            <a:ext cx="2651760" cy="274320"/>
          </a:xfrm>
          <a:prstGeom prst="rect">
            <a:avLst/>
          </a:prstGeom>
          <a:noFill/>
          <a:ln/>
        </p:spPr>
        <p:txBody>
          <a:bodyPr wrap="square" lIns="0" tIns="0" rIns="0" bIns="0" rtlCol="0" anchor="ctr"/>
          <a:lstStyle/>
          <a:p>
            <a:pPr indent="0" marL="0">
              <a:buNone/>
            </a:pPr>
            <a:r>
              <a:rPr lang="en-US" sz="1000" dirty="0">
                <a:solidFill>
                  <a:srgbClr val="1A1A1A"/>
                </a:solidFill>
                <a:latin typeface="Hiragino Sans" pitchFamily="34" charset="0"/>
                <a:ea typeface="Hiragino Sans" pitchFamily="34" charset="-122"/>
                <a:cs typeface="Hiragino Sans" pitchFamily="34" charset="-120"/>
              </a:rPr>
              <a:t>人吉（九州）220/110/66</a:t>
            </a:r>
            <a:endParaRPr lang="en-US" sz="1000" dirty="0"/>
          </a:p>
        </p:txBody>
      </p:sp>
      <p:pic>
        <p:nvPicPr>
          <p:cNvPr id="23" name="Image 3" descr="assets/tile_kochi.png">    </p:cNvPr>
          <p:cNvPicPr>
            <a:picLocks noChangeAspect="1"/>
          </p:cNvPicPr>
          <p:nvPr/>
        </p:nvPicPr>
        <p:blipFill>
          <a:blip r:embed="rId4"/>
          <a:stretch>
            <a:fillRect/>
          </a:stretch>
        </p:blipFill>
        <p:spPr>
          <a:xfrm>
            <a:off x="9189720" y="2377440"/>
            <a:ext cx="2560320" cy="3200400"/>
          </a:xfrm>
          <a:prstGeom prst="rect">
            <a:avLst/>
          </a:prstGeom>
        </p:spPr>
      </p:pic>
      <p:sp>
        <p:nvSpPr>
          <p:cNvPr id="24" name="Text 18"/>
          <p:cNvSpPr/>
          <p:nvPr/>
        </p:nvSpPr>
        <p:spPr>
          <a:xfrm>
            <a:off x="9189720" y="5605272"/>
            <a:ext cx="2651760" cy="274320"/>
          </a:xfrm>
          <a:prstGeom prst="rect">
            <a:avLst/>
          </a:prstGeom>
          <a:noFill/>
          <a:ln/>
        </p:spPr>
        <p:txBody>
          <a:bodyPr wrap="square" lIns="0" tIns="0" rIns="0" bIns="0" rtlCol="0" anchor="ctr"/>
          <a:lstStyle/>
          <a:p>
            <a:pPr indent="0" marL="0">
              <a:buNone/>
            </a:pPr>
            <a:r>
              <a:rPr lang="en-US" sz="1000" dirty="0">
                <a:solidFill>
                  <a:srgbClr val="1A1A1A"/>
                </a:solidFill>
                <a:latin typeface="Hiragino Sans" pitchFamily="34" charset="0"/>
                <a:ea typeface="Hiragino Sans" pitchFamily="34" charset="-122"/>
                <a:cs typeface="Hiragino Sans" pitchFamily="34" charset="-120"/>
              </a:rPr>
              <a:t>高知（四国）187/110/66</a:t>
            </a:r>
            <a:endParaRPr lang="en-US" sz="1000" dirty="0"/>
          </a:p>
        </p:txBody>
      </p:sp>
      <p:sp>
        <p:nvSpPr>
          <p:cNvPr id="25" name="Text 19"/>
          <p:cNvSpPr/>
          <p:nvPr/>
        </p:nvSpPr>
        <p:spPr>
          <a:xfrm>
            <a:off x="822960" y="5943600"/>
            <a:ext cx="10789920" cy="502920"/>
          </a:xfrm>
          <a:prstGeom prst="rect">
            <a:avLst/>
          </a:prstGeom>
          <a:noFill/>
          <a:ln/>
        </p:spPr>
        <p:txBody>
          <a:bodyPr wrap="square" lIns="0" tIns="0" rIns="0" bIns="0" rtlCol="0" anchor="ctr"/>
          <a:lstStyle/>
          <a:p>
            <a:pPr indent="0" marL="0">
              <a:lnSpc>
                <a:spcPts val="1600"/>
              </a:lnSpc>
              <a:buNone/>
            </a:pPr>
            <a:r>
              <a:rPr lang="en-US" sz="1150" dirty="0">
                <a:solidFill>
                  <a:srgbClr val="55555F"/>
                </a:solidFill>
                <a:latin typeface="Hiragino Sans" pitchFamily="34" charset="0"/>
                <a:ea typeface="Hiragino Sans" pitchFamily="34" charset="-122"/>
                <a:cs typeface="Hiragino Sans" pitchFamily="34" charset="-120"/>
              </a:rPr>
              <a:t>ペア図描画は 1〜6 秒/所。160 スレッドのサーバで 10 地域ワーカー、全サイトのスイープが約 1 時間・失敗ゼロ。</a:t>
            </a:r>
            <a:endParaRPr lang="en-US" sz="1150" dirty="0"/>
          </a:p>
          <a:p>
            <a:pPr indent="0" marL="0">
              <a:lnSpc>
                <a:spcPts val="1600"/>
              </a:lnSpc>
              <a:buNone/>
            </a:pPr>
            <a:r>
              <a:rPr lang="en-US" sz="1150" dirty="0">
                <a:solidFill>
                  <a:srgbClr val="55555F"/>
                </a:solidFill>
                <a:latin typeface="Hiragino Sans" pitchFamily="34" charset="0"/>
                <a:ea typeface="Hiragino Sans" pitchFamily="34" charset="-122"/>
                <a:cs typeface="Hiragino Sans" pitchFamily="34" charset="-120"/>
              </a:rPr>
              <a:t>抽出・属性集計・描画の3段すべてが決定的かつ冪等で、プロジェクトの単一再生成コマンドに組み込まれている。</a:t>
            </a:r>
            <a:endParaRPr lang="en-US" sz="1150" dirty="0"/>
          </a:p>
        </p:txBody>
      </p:sp>
      <p:sp>
        <p:nvSpPr>
          <p:cNvPr id="26" name="Text 20"/>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27" name="Text 21"/>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0:50</a:t>
            </a:r>
            <a:endParaRPr lang="en-US" sz="900" dirty="0"/>
          </a:p>
        </p:txBody>
      </p:sp>
      <p:sp>
        <p:nvSpPr>
          <p:cNvPr id="28" name="Text 22"/>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§VII-A</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測った欠測：何が観測できて、何ができなかったか</a:t>
            </a:r>
            <a:endParaRPr lang="en-US" sz="2200" dirty="0"/>
          </a:p>
        </p:txBody>
      </p:sp>
      <p:sp>
        <p:nvSpPr>
          <p:cNvPr id="5" name="Text 3"/>
          <p:cNvSpPr/>
          <p:nvPr/>
        </p:nvSpPr>
        <p:spPr>
          <a:xfrm>
            <a:off x="822960" y="987552"/>
            <a:ext cx="10607040" cy="274320"/>
          </a:xfrm>
          <a:prstGeom prst="rect">
            <a:avLst/>
          </a:prstGeom>
          <a:noFill/>
          <a:ln/>
        </p:spPr>
        <p:txBody>
          <a:bodyPr wrap="square" lIns="0" tIns="0" rIns="0" bIns="0" rtlCol="0" anchor="ctr"/>
          <a:lstStyle/>
          <a:p>
            <a:pPr indent="0" marL="0">
              <a:buNone/>
            </a:pPr>
            <a:r>
              <a:rPr lang="en-US" sz="1250" dirty="0">
                <a:solidFill>
                  <a:srgbClr val="55555F"/>
                </a:solidFill>
                <a:latin typeface="Hiragino Sans" pitchFamily="34" charset="0"/>
                <a:ea typeface="Hiragino Sans" pitchFamily="34" charset="-122"/>
                <a:cs typeface="Hiragino Sans" pitchFamily="34" charset="-120"/>
              </a:rPr>
              <a:t>命題1で「主張しない」と言った完全性を、ここで数値として返す。</a:t>
            </a:r>
            <a:endParaRPr lang="en-US" sz="1250" dirty="0"/>
          </a:p>
        </p:txBody>
      </p:sp>
      <p:pic>
        <p:nvPicPr>
          <p:cNvPr id="6" name="Image 0" descr="assets/fig_coverage.png">    </p:cNvPr>
          <p:cNvPicPr>
            <a:picLocks noChangeAspect="1"/>
          </p:cNvPicPr>
          <p:nvPr/>
        </p:nvPicPr>
        <p:blipFill>
          <a:blip r:embed="rId1"/>
          <a:stretch>
            <a:fillRect/>
          </a:stretch>
        </p:blipFill>
        <p:spPr>
          <a:xfrm>
            <a:off x="548640" y="1371600"/>
            <a:ext cx="11064240" cy="3300984"/>
          </a:xfrm>
          <a:prstGeom prst="rect">
            <a:avLst/>
          </a:prstGeom>
        </p:spPr>
      </p:pic>
      <p:sp>
        <p:nvSpPr>
          <p:cNvPr id="7" name="Text 4"/>
          <p:cNvSpPr/>
          <p:nvPr/>
        </p:nvSpPr>
        <p:spPr>
          <a:xfrm>
            <a:off x="822960" y="4892040"/>
            <a:ext cx="1828800" cy="457200"/>
          </a:xfrm>
          <a:prstGeom prst="rect">
            <a:avLst/>
          </a:prstGeom>
          <a:noFill/>
          <a:ln/>
        </p:spPr>
        <p:txBody>
          <a:bodyPr wrap="square" lIns="0" tIns="0" rIns="0" bIns="0" rtlCol="0" anchor="ctr"/>
          <a:lstStyle/>
          <a:p>
            <a:pPr indent="0" marL="0">
              <a:buNone/>
            </a:pPr>
            <a:r>
              <a:rPr lang="en-US" sz="2400" b="1" dirty="0">
                <a:solidFill>
                  <a:srgbClr val="1E2761"/>
                </a:solidFill>
                <a:latin typeface="Helvetica Neue" pitchFamily="34" charset="0"/>
                <a:ea typeface="Helvetica Neue" pitchFamily="34" charset="-122"/>
                <a:cs typeface="Helvetica Neue" pitchFamily="34" charset="-120"/>
              </a:rPr>
              <a:t>68.2 %</a:t>
            </a:r>
            <a:endParaRPr lang="en-US" sz="2400" dirty="0"/>
          </a:p>
        </p:txBody>
      </p:sp>
      <p:sp>
        <p:nvSpPr>
          <p:cNvPr id="8" name="Text 5"/>
          <p:cNvSpPr/>
          <p:nvPr/>
        </p:nvSpPr>
        <p:spPr>
          <a:xfrm>
            <a:off x="2697480" y="4956048"/>
            <a:ext cx="1737360" cy="384048"/>
          </a:xfrm>
          <a:prstGeom prst="rect">
            <a:avLst/>
          </a:prstGeom>
          <a:noFill/>
          <a:ln/>
        </p:spPr>
        <p:txBody>
          <a:bodyPr wrap="square" lIns="0" tIns="0" rIns="0" bIns="0" rtlCol="0" anchor="ctr"/>
          <a:lstStyle/>
          <a:p>
            <a:pPr indent="0" marL="0">
              <a:lnSpc>
                <a:spcPts val="1300"/>
              </a:lnSpc>
              <a:buNone/>
            </a:pPr>
            <a:r>
              <a:rPr lang="en-US" sz="1050" dirty="0">
                <a:solidFill>
                  <a:srgbClr val="55555F"/>
                </a:solidFill>
                <a:latin typeface="Hiragino Sans" pitchFamily="34" charset="0"/>
                <a:ea typeface="Hiragino Sans" pitchFamily="34" charset="-122"/>
                <a:cs typeface="Hiragino Sans" pitchFamily="34" charset="-120"/>
              </a:rPr>
              <a:t>回線証拠（40,087 本の line 中）</a:t>
            </a:r>
            <a:endParaRPr lang="en-US" sz="1050" dirty="0"/>
          </a:p>
        </p:txBody>
      </p:sp>
      <p:sp>
        <p:nvSpPr>
          <p:cNvPr id="9" name="Text 6"/>
          <p:cNvSpPr/>
          <p:nvPr/>
        </p:nvSpPr>
        <p:spPr>
          <a:xfrm>
            <a:off x="4434840" y="4892040"/>
            <a:ext cx="1828800" cy="457200"/>
          </a:xfrm>
          <a:prstGeom prst="rect">
            <a:avLst/>
          </a:prstGeom>
          <a:noFill/>
          <a:ln/>
        </p:spPr>
        <p:txBody>
          <a:bodyPr wrap="square" lIns="0" tIns="0" rIns="0" bIns="0" rtlCol="0" anchor="ctr"/>
          <a:lstStyle/>
          <a:p>
            <a:pPr indent="0" marL="0">
              <a:buNone/>
            </a:pPr>
            <a:r>
              <a:rPr lang="en-US" sz="2400" b="1" dirty="0">
                <a:solidFill>
                  <a:srgbClr val="1E2761"/>
                </a:solidFill>
                <a:latin typeface="Helvetica Neue" pitchFamily="34" charset="0"/>
                <a:ea typeface="Helvetica Neue" pitchFamily="34" charset="-122"/>
                <a:cs typeface="Helvetica Neue" pitchFamily="34" charset="-120"/>
              </a:rPr>
              <a:t>39.4 %</a:t>
            </a:r>
            <a:endParaRPr lang="en-US" sz="2400" dirty="0"/>
          </a:p>
        </p:txBody>
      </p:sp>
      <p:sp>
        <p:nvSpPr>
          <p:cNvPr id="10" name="Text 7"/>
          <p:cNvSpPr/>
          <p:nvPr/>
        </p:nvSpPr>
        <p:spPr>
          <a:xfrm>
            <a:off x="6309360" y="4956048"/>
            <a:ext cx="1737360" cy="384048"/>
          </a:xfrm>
          <a:prstGeom prst="rect">
            <a:avLst/>
          </a:prstGeom>
          <a:noFill/>
          <a:ln/>
        </p:spPr>
        <p:txBody>
          <a:bodyPr wrap="square" lIns="0" tIns="0" rIns="0" bIns="0" rtlCol="0" anchor="ctr"/>
          <a:lstStyle/>
          <a:p>
            <a:pPr indent="0" marL="0">
              <a:lnSpc>
                <a:spcPts val="1300"/>
              </a:lnSpc>
              <a:buNone/>
            </a:pPr>
            <a:r>
              <a:rPr lang="en-US" sz="1050" dirty="0">
                <a:solidFill>
                  <a:srgbClr val="55555F"/>
                </a:solidFill>
                <a:latin typeface="Hiragino Sans" pitchFamily="34" charset="0"/>
                <a:ea typeface="Hiragino Sans" pitchFamily="34" charset="-122"/>
                <a:cs typeface="Hiragino Sans" pitchFamily="34" charset="-120"/>
              </a:rPr>
              <a:t>流向の棄権（18,851 line group）</a:t>
            </a:r>
            <a:endParaRPr lang="en-US" sz="1050" dirty="0"/>
          </a:p>
        </p:txBody>
      </p:sp>
      <p:sp>
        <p:nvSpPr>
          <p:cNvPr id="11" name="Text 8"/>
          <p:cNvSpPr/>
          <p:nvPr/>
        </p:nvSpPr>
        <p:spPr>
          <a:xfrm>
            <a:off x="8046720" y="4892040"/>
            <a:ext cx="1828800" cy="457200"/>
          </a:xfrm>
          <a:prstGeom prst="rect">
            <a:avLst/>
          </a:prstGeom>
          <a:noFill/>
          <a:ln/>
        </p:spPr>
        <p:txBody>
          <a:bodyPr wrap="square" lIns="0" tIns="0" rIns="0" bIns="0" rtlCol="0" anchor="ctr"/>
          <a:lstStyle/>
          <a:p>
            <a:pPr indent="0" marL="0">
              <a:buNone/>
            </a:pPr>
            <a:r>
              <a:rPr lang="en-US" sz="2400" b="1" dirty="0">
                <a:solidFill>
                  <a:srgbClr val="C62828"/>
                </a:solidFill>
                <a:latin typeface="Helvetica Neue" pitchFamily="34" charset="0"/>
                <a:ea typeface="Helvetica Neue" pitchFamily="34" charset="-122"/>
                <a:cs typeface="Helvetica Neue" pitchFamily="34" charset="-120"/>
              </a:rPr>
              <a:t>14.2 %</a:t>
            </a:r>
            <a:endParaRPr lang="en-US" sz="2400" dirty="0"/>
          </a:p>
        </p:txBody>
      </p:sp>
      <p:sp>
        <p:nvSpPr>
          <p:cNvPr id="12" name="Text 9"/>
          <p:cNvSpPr/>
          <p:nvPr/>
        </p:nvSpPr>
        <p:spPr>
          <a:xfrm>
            <a:off x="9921240" y="4956048"/>
            <a:ext cx="1737360" cy="384048"/>
          </a:xfrm>
          <a:prstGeom prst="rect">
            <a:avLst/>
          </a:prstGeom>
          <a:noFill/>
          <a:ln/>
        </p:spPr>
        <p:txBody>
          <a:bodyPr wrap="square" lIns="0" tIns="0" rIns="0" bIns="0" rtlCol="0" anchor="ctr"/>
          <a:lstStyle/>
          <a:p>
            <a:pPr indent="0" marL="0">
              <a:lnSpc>
                <a:spcPts val="1300"/>
              </a:lnSpc>
              <a:buNone/>
            </a:pPr>
            <a:r>
              <a:rPr lang="en-US" sz="1050" dirty="0">
                <a:solidFill>
                  <a:srgbClr val="55555F"/>
                </a:solidFill>
                <a:latin typeface="Hiragino Sans" pitchFamily="34" charset="0"/>
                <a:ea typeface="Hiragino Sans" pitchFamily="34" charset="-122"/>
                <a:cs typeface="Hiragino Sans" pitchFamily="34" charset="-120"/>
              </a:rPr>
              <a:t>母線way を持つサイト</a:t>
            </a:r>
            <a:endParaRPr lang="en-US" sz="1050" dirty="0"/>
          </a:p>
        </p:txBody>
      </p:sp>
      <p:sp>
        <p:nvSpPr>
          <p:cNvPr id="13" name="Text 10"/>
          <p:cNvSpPr/>
          <p:nvPr/>
        </p:nvSpPr>
        <p:spPr>
          <a:xfrm>
            <a:off x="822960" y="5440680"/>
            <a:ext cx="10607040" cy="502920"/>
          </a:xfrm>
          <a:prstGeom prst="rect">
            <a:avLst/>
          </a:prstGeom>
          <a:noFill/>
          <a:ln/>
        </p:spPr>
        <p:txBody>
          <a:bodyPr wrap="square" lIns="0" tIns="0" rIns="0" bIns="0" rtlCol="0" anchor="ctr"/>
          <a:lstStyle/>
          <a:p>
            <a:pPr indent="0" marL="0">
              <a:lnSpc>
                <a:spcPts val="1600"/>
              </a:lnSpc>
              <a:buNone/>
            </a:pPr>
            <a:r>
              <a:rPr lang="en-US" sz="1150" dirty="0">
                <a:solidFill>
                  <a:srgbClr val="1A1A1A"/>
                </a:solidFill>
                <a:latin typeface="Hiragino Sans" pitchFamily="34" charset="0"/>
                <a:ea typeface="Hiragino Sans" pitchFamily="34" charset="-122"/>
                <a:cs typeface="Hiragino Sans" pitchFamily="34" charset="-120"/>
              </a:rPr>
              <a:t>地域勾配が強い：北海道 53.3 % に対し 東京 5.2 %・沖縄 5.1 %。構内way を持ちえない点ジオメトリのサイトは 3.2 % のみ</a:t>
            </a:r>
            <a:endParaRPr lang="en-US" sz="1150" dirty="0"/>
          </a:p>
          <a:p>
            <a:pPr indent="0" marL="0">
              <a:lnSpc>
                <a:spcPts val="1600"/>
              </a:lnSpc>
              <a:buNone/>
            </a:pPr>
            <a:r>
              <a:rPr lang="en-US" sz="1150" dirty="0">
                <a:solidFill>
                  <a:srgbClr val="1A1A1A"/>
                </a:solidFill>
                <a:latin typeface="Hiragino Sans" pitchFamily="34" charset="0"/>
                <a:ea typeface="Hiragino Sans" pitchFamily="34" charset="-122"/>
                <a:cs typeface="Hiragino Sans" pitchFamily="34" charset="-120"/>
              </a:rPr>
              <a:t>— つまり欠測の大半は「点だから描けない」のではない。</a:t>
            </a:r>
            <a:endParaRPr lang="en-US" sz="1150" dirty="0"/>
          </a:p>
        </p:txBody>
      </p:sp>
      <p:sp>
        <p:nvSpPr>
          <p:cNvPr id="14" name="Shape 11"/>
          <p:cNvSpPr/>
          <p:nvPr/>
        </p:nvSpPr>
        <p:spPr>
          <a:xfrm>
            <a:off x="822960" y="5989320"/>
            <a:ext cx="10607040" cy="457200"/>
          </a:xfrm>
          <a:prstGeom prst="roundRect">
            <a:avLst>
              <a:gd name="adj" fmla="val 12000"/>
            </a:avLst>
          </a:prstGeom>
          <a:solidFill>
            <a:srgbClr val="F4F4F6"/>
          </a:solidFill>
          <a:ln/>
        </p:spPr>
      </p:sp>
      <p:sp>
        <p:nvSpPr>
          <p:cNvPr id="15" name="Text 12"/>
          <p:cNvSpPr/>
          <p:nvPr/>
        </p:nvSpPr>
        <p:spPr>
          <a:xfrm>
            <a:off x="1051560" y="5989320"/>
            <a:ext cx="10149840" cy="457200"/>
          </a:xfrm>
          <a:prstGeom prst="rect">
            <a:avLst/>
          </a:prstGeom>
          <a:noFill/>
          <a:ln/>
        </p:spPr>
        <p:txBody>
          <a:bodyPr wrap="square" lIns="0" tIns="0" rIns="0" bIns="0" rtlCol="0" anchor="ctr"/>
          <a:lstStyle/>
          <a:p>
            <a:pPr indent="0" marL="0">
              <a:buNone/>
            </a:pPr>
            <a:r>
              <a:rPr lang="en-US" sz="1300" b="1" dirty="0">
                <a:solidFill>
                  <a:srgbClr val="1E2761"/>
                </a:solidFill>
                <a:latin typeface="Hiragino Sans" pitchFamily="34" charset="0"/>
                <a:ea typeface="Hiragino Sans" pitchFamily="34" charset="-122"/>
                <a:cs typeface="Hiragino Sans" pitchFamily="34" charset="-120"/>
              </a:rPr>
              <a:t>これらは弱点の告白ではない。完全性を主張しない設計が返す測定値である。</a:t>
            </a:r>
            <a:endParaRPr lang="en-US" sz="1300" dirty="0"/>
          </a:p>
        </p:txBody>
      </p:sp>
      <p:sp>
        <p:nvSpPr>
          <p:cNvPr id="16" name="Text 13"/>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17" name="Text 14"/>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1:40</a:t>
            </a:r>
            <a:endParaRPr lang="en-US" sz="900" dirty="0"/>
          </a:p>
        </p:txBody>
      </p:sp>
      <p:sp>
        <p:nvSpPr>
          <p:cNvPr id="18" name="Text 15"/>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§VII-B</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欠測は作業リストになる：14所の航空写真判読</a:t>
            </a:r>
            <a:endParaRPr lang="en-US" sz="2200" dirty="0"/>
          </a:p>
        </p:txBody>
      </p:sp>
      <p:sp>
        <p:nvSpPr>
          <p:cNvPr id="5" name="Text 3"/>
          <p:cNvSpPr/>
          <p:nvPr/>
        </p:nvSpPr>
        <p:spPr>
          <a:xfrm>
            <a:off x="822960" y="1005840"/>
            <a:ext cx="10607040" cy="292608"/>
          </a:xfrm>
          <a:prstGeom prst="rect">
            <a:avLst/>
          </a:prstGeom>
          <a:noFill/>
          <a:ln/>
        </p:spPr>
        <p:txBody>
          <a:bodyPr wrap="square" lIns="0" tIns="0" rIns="0" bIns="0" rtlCol="0" anchor="ctr"/>
          <a:lstStyle/>
          <a:p>
            <a:pPr indent="0" marL="0">
              <a:buNone/>
            </a:pPr>
            <a:r>
              <a:rPr lang="en-US" sz="1250" dirty="0">
                <a:solidFill>
                  <a:srgbClr val="1A1A1A"/>
                </a:solidFill>
                <a:latin typeface="Hiragino Sans" pitchFamily="34" charset="0"/>
                <a:ea typeface="Hiragino Sans" pitchFamily="34" charset="-122"/>
                <a:cs typeface="Hiragino Sans" pitchFamily="34" charset="-120"/>
              </a:rPr>
              <a:t>問い：このギャップはマッピング漏れか、物理的不在か。母線way を欠く送電変電所 14 件を、それ自身の SubSLD GeoPane で判読した。</a:t>
            </a:r>
            <a:endParaRPr lang="en-US" sz="1250" dirty="0"/>
          </a:p>
        </p:txBody>
      </p:sp>
      <p:sp>
        <p:nvSpPr>
          <p:cNvPr id="6" name="Shape 4"/>
          <p:cNvSpPr/>
          <p:nvPr/>
        </p:nvSpPr>
        <p:spPr>
          <a:xfrm>
            <a:off x="822960" y="1508760"/>
            <a:ext cx="5120640" cy="1371600"/>
          </a:xfrm>
          <a:prstGeom prst="roundRect">
            <a:avLst>
              <a:gd name="adj" fmla="val 4000"/>
            </a:avLst>
          </a:prstGeom>
          <a:solidFill>
            <a:srgbClr val="F4F4F6"/>
          </a:solidFill>
          <a:ln/>
        </p:spPr>
      </p:sp>
      <p:sp>
        <p:nvSpPr>
          <p:cNvPr id="7" name="Shape 5"/>
          <p:cNvSpPr/>
          <p:nvPr/>
        </p:nvSpPr>
        <p:spPr>
          <a:xfrm>
            <a:off x="1024128" y="1691640"/>
            <a:ext cx="128016" cy="128016"/>
          </a:xfrm>
          <a:prstGeom prst="rect">
            <a:avLst/>
          </a:prstGeom>
          <a:solidFill>
            <a:srgbClr val="2E7D32"/>
          </a:solidFill>
          <a:ln/>
        </p:spPr>
      </p:sp>
      <p:sp>
        <p:nvSpPr>
          <p:cNvPr id="8" name="Text 6"/>
          <p:cNvSpPr/>
          <p:nvPr/>
        </p:nvSpPr>
        <p:spPr>
          <a:xfrm>
            <a:off x="1243584" y="1600200"/>
            <a:ext cx="4572000" cy="310896"/>
          </a:xfrm>
          <a:prstGeom prst="rect">
            <a:avLst/>
          </a:prstGeom>
          <a:noFill/>
          <a:ln/>
        </p:spPr>
        <p:txBody>
          <a:bodyPr wrap="square" lIns="0" tIns="0" rIns="0" bIns="0" rtlCol="0" anchor="ctr"/>
          <a:lstStyle/>
          <a:p>
            <a:pPr indent="0" marL="0">
              <a:buNone/>
            </a:pPr>
            <a:r>
              <a:rPr lang="en-US" sz="1400" b="1" dirty="0">
                <a:solidFill>
                  <a:srgbClr val="1A1A1A"/>
                </a:solidFill>
                <a:latin typeface="Hiragino Sans" pitchFamily="34" charset="0"/>
                <a:ea typeface="Hiragino Sans" pitchFamily="34" charset="-122"/>
                <a:cs typeface="Hiragino Sans" pitchFamily="34" charset="-120"/>
              </a:rPr>
              <a:t>マッピング漏れ　9 件（64 %）</a:t>
            </a:r>
            <a:endParaRPr lang="en-US" sz="1400" dirty="0"/>
          </a:p>
        </p:txBody>
      </p:sp>
      <p:sp>
        <p:nvSpPr>
          <p:cNvPr id="9" name="Text 7"/>
          <p:cNvSpPr/>
          <p:nvPr/>
        </p:nvSpPr>
        <p:spPr>
          <a:xfrm>
            <a:off x="1042416" y="1947672"/>
            <a:ext cx="4681728" cy="822960"/>
          </a:xfrm>
          <a:prstGeom prst="rect">
            <a:avLst/>
          </a:prstGeom>
          <a:noFill/>
          <a:ln/>
        </p:spPr>
        <p:txBody>
          <a:bodyPr wrap="square" lIns="0" tIns="0" rIns="0" bIns="0" rtlCol="0" anchor="t"/>
          <a:lstStyle/>
          <a:p>
            <a:pPr indent="0" marL="0">
              <a:lnSpc>
                <a:spcPts val="1600"/>
              </a:lnSpc>
              <a:buNone/>
            </a:pPr>
            <a:r>
              <a:rPr lang="en-US" sz="1200" dirty="0">
                <a:solidFill>
                  <a:srgbClr val="55555F"/>
                </a:solidFill>
                <a:latin typeface="Hiragino Sans" pitchFamily="34" charset="0"/>
                <a:ea typeface="Hiragino Sans" pitchFamily="34" charset="-122"/>
                <a:cs typeface="Hiragino Sans" pitchFamily="34" charset="-120"/>
              </a:rPr>
              <a:t>上空から明瞭に見える屋外気中絶縁母線とベイ列を持つ。</a:t>
            </a:r>
            <a:endParaRPr lang="en-US" sz="1200" dirty="0"/>
          </a:p>
          <a:p>
            <a:pPr indent="0" marL="0">
              <a:lnSpc>
                <a:spcPts val="1600"/>
              </a:lnSpc>
              <a:buNone/>
            </a:pPr>
            <a:r>
              <a:rPr lang="en-US" sz="1200" dirty="0">
                <a:solidFill>
                  <a:srgbClr val="55555F"/>
                </a:solidFill>
                <a:latin typeface="Hiragino Sans" pitchFamily="34" charset="0"/>
                <a:ea typeface="Hiragino Sans" pitchFamily="34" charset="-122"/>
                <a:cs typeface="Hiragino Sans" pitchFamily="34" charset="-120"/>
              </a:rPr>
              <a:t>必要な作業＝新規ジオメトリ＋タグ</a:t>
            </a:r>
            <a:endParaRPr lang="en-US" sz="1200" dirty="0"/>
          </a:p>
        </p:txBody>
      </p:sp>
      <p:sp>
        <p:nvSpPr>
          <p:cNvPr id="10" name="Shape 8"/>
          <p:cNvSpPr/>
          <p:nvPr/>
        </p:nvSpPr>
        <p:spPr>
          <a:xfrm>
            <a:off x="822960" y="3017520"/>
            <a:ext cx="5120640" cy="1371600"/>
          </a:xfrm>
          <a:prstGeom prst="roundRect">
            <a:avLst>
              <a:gd name="adj" fmla="val 4000"/>
            </a:avLst>
          </a:prstGeom>
          <a:solidFill>
            <a:srgbClr val="F4F4F6"/>
          </a:solidFill>
          <a:ln/>
        </p:spPr>
      </p:sp>
      <p:sp>
        <p:nvSpPr>
          <p:cNvPr id="11" name="Shape 9"/>
          <p:cNvSpPr/>
          <p:nvPr/>
        </p:nvSpPr>
        <p:spPr>
          <a:xfrm>
            <a:off x="1024128" y="3200400"/>
            <a:ext cx="128016" cy="128016"/>
          </a:xfrm>
          <a:prstGeom prst="rect">
            <a:avLst/>
          </a:prstGeom>
          <a:solidFill>
            <a:srgbClr val="FF7F0E"/>
          </a:solidFill>
          <a:ln/>
        </p:spPr>
      </p:sp>
      <p:sp>
        <p:nvSpPr>
          <p:cNvPr id="12" name="Text 10"/>
          <p:cNvSpPr/>
          <p:nvPr/>
        </p:nvSpPr>
        <p:spPr>
          <a:xfrm>
            <a:off x="1243584" y="3108960"/>
            <a:ext cx="4572000" cy="310896"/>
          </a:xfrm>
          <a:prstGeom prst="rect">
            <a:avLst/>
          </a:prstGeom>
          <a:noFill/>
          <a:ln/>
        </p:spPr>
        <p:txBody>
          <a:bodyPr wrap="square" lIns="0" tIns="0" rIns="0" bIns="0" rtlCol="0" anchor="ctr"/>
          <a:lstStyle/>
          <a:p>
            <a:pPr indent="0" marL="0">
              <a:buNone/>
            </a:pPr>
            <a:r>
              <a:rPr lang="en-US" sz="1400" b="1" dirty="0">
                <a:solidFill>
                  <a:srgbClr val="1A1A1A"/>
                </a:solidFill>
                <a:latin typeface="Hiragino Sans" pitchFamily="34" charset="0"/>
                <a:ea typeface="Hiragino Sans" pitchFamily="34" charset="-122"/>
                <a:cs typeface="Hiragino Sans" pitchFamily="34" charset="-120"/>
              </a:rPr>
              <a:t>タグ付け漏れ　1 件</a:t>
            </a:r>
            <a:endParaRPr lang="en-US" sz="1400" dirty="0"/>
          </a:p>
        </p:txBody>
      </p:sp>
      <p:sp>
        <p:nvSpPr>
          <p:cNvPr id="13" name="Text 11"/>
          <p:cNvSpPr/>
          <p:nvPr/>
        </p:nvSpPr>
        <p:spPr>
          <a:xfrm>
            <a:off x="1042416" y="3456432"/>
            <a:ext cx="4681728" cy="822960"/>
          </a:xfrm>
          <a:prstGeom prst="rect">
            <a:avLst/>
          </a:prstGeom>
          <a:noFill/>
          <a:ln/>
        </p:spPr>
        <p:txBody>
          <a:bodyPr wrap="square" lIns="0" tIns="0" rIns="0" bIns="0" rtlCol="0" anchor="t"/>
          <a:lstStyle/>
          <a:p>
            <a:pPr indent="0" marL="0">
              <a:lnSpc>
                <a:spcPts val="1600"/>
              </a:lnSpc>
              <a:buNone/>
            </a:pPr>
            <a:r>
              <a:rPr lang="en-US" sz="1200" dirty="0">
                <a:solidFill>
                  <a:srgbClr val="55555F"/>
                </a:solidFill>
                <a:latin typeface="Hiragino Sans" pitchFamily="34" charset="0"/>
                <a:ea typeface="Hiragino Sans" pitchFamily="34" charset="-122"/>
                <a:cs typeface="Hiragino Sans" pitchFamily="34" charset="-120"/>
              </a:rPr>
              <a:t>構内way と頂点共有端子はあるが line=busbar タグが無いだけ。</a:t>
            </a:r>
            <a:endParaRPr lang="en-US" sz="1200" dirty="0"/>
          </a:p>
          <a:p>
            <a:pPr indent="0" marL="0">
              <a:lnSpc>
                <a:spcPts val="1600"/>
              </a:lnSpc>
              <a:buNone/>
            </a:pPr>
            <a:r>
              <a:rPr lang="en-US" sz="1200" dirty="0">
                <a:solidFill>
                  <a:srgbClr val="55555F"/>
                </a:solidFill>
                <a:latin typeface="Hiragino Sans" pitchFamily="34" charset="0"/>
                <a:ea typeface="Hiragino Sans" pitchFamily="34" charset="-122"/>
                <a:cs typeface="Hiragino Sans" pitchFamily="34" charset="-120"/>
              </a:rPr>
              <a:t>必要な作業＝タグのみ（新規ジオメトリ不要）</a:t>
            </a:r>
            <a:endParaRPr lang="en-US" sz="1200" dirty="0"/>
          </a:p>
        </p:txBody>
      </p:sp>
      <p:sp>
        <p:nvSpPr>
          <p:cNvPr id="14" name="Text 12"/>
          <p:cNvSpPr/>
          <p:nvPr/>
        </p:nvSpPr>
        <p:spPr>
          <a:xfrm>
            <a:off x="822960" y="4526280"/>
            <a:ext cx="5212080" cy="548640"/>
          </a:xfrm>
          <a:prstGeom prst="rect">
            <a:avLst/>
          </a:prstGeom>
          <a:noFill/>
          <a:ln/>
        </p:spPr>
        <p:txBody>
          <a:bodyPr wrap="square" lIns="0" tIns="0" rIns="0" bIns="0" rtlCol="0" anchor="ctr"/>
          <a:lstStyle/>
          <a:p>
            <a:pPr indent="0" marL="0">
              <a:lnSpc>
                <a:spcPts val="1600"/>
              </a:lnSpc>
              <a:buNone/>
            </a:pPr>
            <a:r>
              <a:rPr lang="en-US" sz="1150" dirty="0">
                <a:solidFill>
                  <a:srgbClr val="55555F"/>
                </a:solidFill>
                <a:latin typeface="Hiragino Sans" pitchFamily="34" charset="0"/>
                <a:ea typeface="Hiragino Sans" pitchFamily="34" charset="-122"/>
                <a:cs typeface="Hiragino Sans" pitchFamily="34" charset="-120"/>
              </a:rPr>
              <a:t>残りは GIS または屋内設備で、母線が可視の線として存在しない — 推定母線（inferred busbar）が適切な答えとなる。</a:t>
            </a:r>
            <a:endParaRPr lang="en-US" sz="1150" dirty="0"/>
          </a:p>
        </p:txBody>
      </p:sp>
      <p:pic>
        <p:nvPicPr>
          <p:cNvPr id="15" name="Image 0" descr="assets/geo_shinkeiyo.png">    </p:cNvPr>
          <p:cNvPicPr>
            <a:picLocks noChangeAspect="1"/>
          </p:cNvPicPr>
          <p:nvPr/>
        </p:nvPicPr>
        <p:blipFill>
          <a:blip r:embed="rId1"/>
          <a:srcRect l="5455" r="-5455" t="15385" b="-15385"/>
          <a:stretch/>
        </p:blipFill>
        <p:spPr>
          <a:xfrm>
            <a:off x="6400800" y="1508760"/>
            <a:ext cx="5029200" cy="3566160"/>
          </a:xfrm>
          <a:prstGeom prst="rect">
            <a:avLst/>
          </a:prstGeom>
        </p:spPr>
      </p:pic>
      <p:sp>
        <p:nvSpPr>
          <p:cNvPr id="16" name="Text 13"/>
          <p:cNvSpPr/>
          <p:nvPr/>
        </p:nvSpPr>
        <p:spPr>
          <a:xfrm>
            <a:off x="6400800" y="5120640"/>
            <a:ext cx="5029200" cy="274320"/>
          </a:xfrm>
          <a:prstGeom prst="rect">
            <a:avLst/>
          </a:prstGeom>
          <a:noFill/>
          <a:ln/>
        </p:spPr>
        <p:txBody>
          <a:bodyPr wrap="square" lIns="0" tIns="0" rIns="0" bIns="0" rtlCol="0" anchor="ctr"/>
          <a:lstStyle/>
          <a:p>
            <a:pPr indent="0" marL="0">
              <a:buNone/>
            </a:pPr>
            <a:r>
              <a:rPr lang="en-US" sz="1050" dirty="0">
                <a:solidFill>
                  <a:srgbClr val="55555F"/>
                </a:solidFill>
                <a:latin typeface="Hiragino Sans" pitchFamily="34" charset="0"/>
                <a:ea typeface="Hiragino Sans" pitchFamily="34" charset="-122"/>
                <a:cs typeface="Hiragino Sans" pitchFamily="34" charset="-120"/>
              </a:rPr>
              <a:t>判読の実物：屋外母線列とベイ列が上空から見える</a:t>
            </a:r>
            <a:endParaRPr lang="en-US" sz="1050" dirty="0"/>
          </a:p>
        </p:txBody>
      </p:sp>
      <p:sp>
        <p:nvSpPr>
          <p:cNvPr id="17" name="Shape 14"/>
          <p:cNvSpPr/>
          <p:nvPr/>
        </p:nvSpPr>
        <p:spPr>
          <a:xfrm>
            <a:off x="822960" y="5486400"/>
            <a:ext cx="10607040" cy="777240"/>
          </a:xfrm>
          <a:prstGeom prst="roundRect">
            <a:avLst>
              <a:gd name="adj" fmla="val 8235"/>
            </a:avLst>
          </a:prstGeom>
          <a:solidFill>
            <a:srgbClr val="1E2761"/>
          </a:solidFill>
          <a:ln/>
        </p:spPr>
      </p:sp>
      <p:sp>
        <p:nvSpPr>
          <p:cNvPr id="18" name="Text 15"/>
          <p:cNvSpPr/>
          <p:nvPr/>
        </p:nvSpPr>
        <p:spPr>
          <a:xfrm>
            <a:off x="1097280" y="5486400"/>
            <a:ext cx="10149840" cy="777240"/>
          </a:xfrm>
          <a:prstGeom prst="rect">
            <a:avLst/>
          </a:prstGeom>
          <a:noFill/>
          <a:ln/>
        </p:spPr>
        <p:txBody>
          <a:bodyPr wrap="square" lIns="0" tIns="0" rIns="0" bIns="0" rtlCol="0" anchor="ctr"/>
          <a:lstStyle/>
          <a:p>
            <a:pPr indent="0" marL="0">
              <a:buNone/>
            </a:pPr>
            <a:r>
              <a:rPr lang="en-US" sz="1400" b="1" dirty="0">
                <a:solidFill>
                  <a:srgbClr val="FFFFFF"/>
                </a:solidFill>
                <a:latin typeface="Hiragino Sans" pitchFamily="34" charset="0"/>
                <a:ea typeface="Hiragino Sans" pitchFamily="34" charset="-122"/>
                <a:cs typeface="Hiragino Sans" pitchFamily="34" charset="-120"/>
              </a:rPr>
              <a:t>計測されたギャップ →　編集リンク付きの貢献リストとして公開（9 サイト ＋ OSM 未登録の送電線 1 本）</a:t>
            </a:r>
            <a:endParaRPr lang="en-US" sz="1400" dirty="0"/>
          </a:p>
        </p:txBody>
      </p:sp>
      <p:sp>
        <p:nvSpPr>
          <p:cNvPr id="19" name="Text 16"/>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20" name="Text 17"/>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1:20</a:t>
            </a:r>
            <a:endParaRPr lang="en-US" sz="900" dirty="0"/>
          </a:p>
        </p:txBody>
      </p:sp>
      <p:sp>
        <p:nvSpPr>
          <p:cNvPr id="21" name="Text 18"/>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§VIII</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標準への書き出し：証拠と推定の区別はエクスポート後も残る</a:t>
            </a:r>
            <a:endParaRPr lang="en-US" sz="2200" dirty="0"/>
          </a:p>
        </p:txBody>
      </p:sp>
      <p:sp>
        <p:nvSpPr>
          <p:cNvPr id="5" name="Text 3"/>
          <p:cNvSpPr/>
          <p:nvPr/>
        </p:nvSpPr>
        <p:spPr>
          <a:xfrm>
            <a:off x="822960" y="1005840"/>
            <a:ext cx="10607040" cy="292608"/>
          </a:xfrm>
          <a:prstGeom prst="rect">
            <a:avLst/>
          </a:prstGeom>
          <a:noFill/>
          <a:ln/>
        </p:spPr>
        <p:txBody>
          <a:bodyPr wrap="square" lIns="0" tIns="0" rIns="0" bIns="0" rtlCol="0" anchor="ctr"/>
          <a:lstStyle/>
          <a:p>
            <a:pPr indent="0" marL="0">
              <a:buNone/>
            </a:pPr>
            <a:r>
              <a:rPr lang="en-US" sz="1250" dirty="0">
                <a:solidFill>
                  <a:srgbClr val="55555F"/>
                </a:solidFill>
                <a:latin typeface="Hiragino Sans" pitchFamily="34" charset="0"/>
                <a:ea typeface="Hiragino Sans" pitchFamily="34" charset="-122"/>
                <a:cs typeface="Hiragino Sans" pitchFamily="34" charset="-120"/>
              </a:rPr>
              <a:t>自前レンダラ専用の構造では到達範囲が限られる。§IV のデータモデルは当初から CIM に対して定義した — エクスポートは翻訳ではなく直接シリアライズである。</a:t>
            </a:r>
            <a:endParaRPr lang="en-US" sz="1250" dirty="0"/>
          </a:p>
        </p:txBody>
      </p:sp>
      <p:sp>
        <p:nvSpPr>
          <p:cNvPr id="6" name="Text 4"/>
          <p:cNvSpPr/>
          <p:nvPr/>
        </p:nvSpPr>
        <p:spPr>
          <a:xfrm>
            <a:off x="960120" y="1417320"/>
            <a:ext cx="2377440" cy="256032"/>
          </a:xfrm>
          <a:prstGeom prst="rect">
            <a:avLst/>
          </a:prstGeom>
          <a:noFill/>
          <a:ln/>
        </p:spPr>
        <p:txBody>
          <a:bodyPr wrap="square" lIns="0" tIns="0" rIns="0" bIns="0" rtlCol="0" anchor="ctr"/>
          <a:lstStyle/>
          <a:p>
            <a:pPr indent="0" marL="0">
              <a:buNone/>
            </a:pPr>
            <a:r>
              <a:rPr lang="en-US" sz="1100" b="1" dirty="0">
                <a:solidFill>
                  <a:srgbClr val="1E2761"/>
                </a:solidFill>
                <a:latin typeface="Hiragino Sans" pitchFamily="34" charset="0"/>
                <a:ea typeface="Hiragino Sans" pitchFamily="34" charset="-122"/>
                <a:cs typeface="Hiragino Sans" pitchFamily="34" charset="-120"/>
              </a:rPr>
              <a:t>SubSLD クラス</a:t>
            </a:r>
            <a:endParaRPr lang="en-US" sz="1100" dirty="0"/>
          </a:p>
        </p:txBody>
      </p:sp>
      <p:sp>
        <p:nvSpPr>
          <p:cNvPr id="7" name="Text 5"/>
          <p:cNvSpPr/>
          <p:nvPr/>
        </p:nvSpPr>
        <p:spPr>
          <a:xfrm>
            <a:off x="3429000" y="1417320"/>
            <a:ext cx="2560320" cy="256032"/>
          </a:xfrm>
          <a:prstGeom prst="rect">
            <a:avLst/>
          </a:prstGeom>
          <a:noFill/>
          <a:ln/>
        </p:spPr>
        <p:txBody>
          <a:bodyPr wrap="square" lIns="0" tIns="0" rIns="0" bIns="0" rtlCol="0" anchor="ctr"/>
          <a:lstStyle/>
          <a:p>
            <a:pPr indent="0" marL="0">
              <a:buNone/>
            </a:pPr>
            <a:r>
              <a:rPr lang="en-US" sz="1100" b="1" dirty="0">
                <a:solidFill>
                  <a:srgbClr val="1E2761"/>
                </a:solidFill>
                <a:latin typeface="Courier New" pitchFamily="34" charset="0"/>
                <a:ea typeface="Courier New" pitchFamily="34" charset="-122"/>
                <a:cs typeface="Courier New" pitchFamily="34" charset="-120"/>
              </a:rPr>
              <a:t>CIM / CGMES</a:t>
            </a:r>
            <a:endParaRPr lang="en-US" sz="1100" dirty="0"/>
          </a:p>
        </p:txBody>
      </p:sp>
      <p:sp>
        <p:nvSpPr>
          <p:cNvPr id="8" name="Text 6"/>
          <p:cNvSpPr/>
          <p:nvPr/>
        </p:nvSpPr>
        <p:spPr>
          <a:xfrm>
            <a:off x="6080760" y="1417320"/>
            <a:ext cx="2011680" cy="256032"/>
          </a:xfrm>
          <a:prstGeom prst="rect">
            <a:avLst/>
          </a:prstGeom>
          <a:noFill/>
          <a:ln/>
        </p:spPr>
        <p:txBody>
          <a:bodyPr wrap="square" lIns="0" tIns="0" rIns="0" bIns="0" rtlCol="0" anchor="ctr"/>
          <a:lstStyle/>
          <a:p>
            <a:pPr indent="0" marL="0">
              <a:buNone/>
            </a:pPr>
            <a:r>
              <a:rPr lang="en-US" sz="1100" b="1" dirty="0">
                <a:solidFill>
                  <a:srgbClr val="1E2761"/>
                </a:solidFill>
                <a:latin typeface="Hiragino Sans" pitchFamily="34" charset="0"/>
                <a:ea typeface="Hiragino Sans" pitchFamily="34" charset="-122"/>
                <a:cs typeface="Hiragino Sans" pitchFamily="34" charset="-120"/>
              </a:rPr>
              <a:t>全国件数</a:t>
            </a:r>
            <a:endParaRPr lang="en-US" sz="1100" dirty="0"/>
          </a:p>
        </p:txBody>
      </p:sp>
      <p:sp>
        <p:nvSpPr>
          <p:cNvPr id="9" name="Shape 7"/>
          <p:cNvSpPr/>
          <p:nvPr/>
        </p:nvSpPr>
        <p:spPr>
          <a:xfrm>
            <a:off x="822960" y="1737360"/>
            <a:ext cx="7406640" cy="438912"/>
          </a:xfrm>
          <a:prstGeom prst="rect">
            <a:avLst/>
          </a:prstGeom>
          <a:solidFill>
            <a:srgbClr val="F4F4F6"/>
          </a:solidFill>
          <a:ln/>
        </p:spPr>
      </p:sp>
      <p:sp>
        <p:nvSpPr>
          <p:cNvPr id="10" name="Text 8"/>
          <p:cNvSpPr/>
          <p:nvPr/>
        </p:nvSpPr>
        <p:spPr>
          <a:xfrm>
            <a:off x="960120" y="1737360"/>
            <a:ext cx="2377440" cy="438912"/>
          </a:xfrm>
          <a:prstGeom prst="rect">
            <a:avLst/>
          </a:prstGeom>
          <a:noFill/>
          <a:ln/>
        </p:spPr>
        <p:txBody>
          <a:bodyPr wrap="square" lIns="0" tIns="0" rIns="0" bIns="0" rtlCol="0" anchor="ctr"/>
          <a:lstStyle/>
          <a:p>
            <a:pPr indent="0" marL="0">
              <a:buNone/>
            </a:pPr>
            <a:r>
              <a:rPr lang="en-US" sz="1150" dirty="0">
                <a:solidFill>
                  <a:srgbClr val="1A1A1A"/>
                </a:solidFill>
                <a:latin typeface="Hiragino Sans" pitchFamily="34" charset="0"/>
                <a:ea typeface="Hiragino Sans" pitchFamily="34" charset="-122"/>
                <a:cs typeface="Hiragino Sans" pitchFamily="34" charset="-120"/>
              </a:rPr>
              <a:t>SubstationSite</a:t>
            </a:r>
            <a:endParaRPr lang="en-US" sz="1150" dirty="0"/>
          </a:p>
        </p:txBody>
      </p:sp>
      <p:sp>
        <p:nvSpPr>
          <p:cNvPr id="11" name="Text 9"/>
          <p:cNvSpPr/>
          <p:nvPr/>
        </p:nvSpPr>
        <p:spPr>
          <a:xfrm>
            <a:off x="3429000" y="1737360"/>
            <a:ext cx="2560320" cy="438912"/>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cim:Substation</a:t>
            </a:r>
            <a:endParaRPr lang="en-US" sz="1100" dirty="0"/>
          </a:p>
        </p:txBody>
      </p:sp>
      <p:sp>
        <p:nvSpPr>
          <p:cNvPr id="12" name="Text 10"/>
          <p:cNvSpPr/>
          <p:nvPr/>
        </p:nvSpPr>
        <p:spPr>
          <a:xfrm>
            <a:off x="6080760" y="1737360"/>
            <a:ext cx="2057400" cy="438912"/>
          </a:xfrm>
          <a:prstGeom prst="rect">
            <a:avLst/>
          </a:prstGeom>
          <a:noFill/>
          <a:ln/>
        </p:spPr>
        <p:txBody>
          <a:bodyPr wrap="square" lIns="0" tIns="0" rIns="0" bIns="0" rtlCol="0" anchor="ctr"/>
          <a:lstStyle/>
          <a:p>
            <a:pPr indent="0" marL="0">
              <a:buNone/>
            </a:pPr>
            <a:r>
              <a:rPr lang="en-US" sz="1100" dirty="0">
                <a:solidFill>
                  <a:srgbClr val="1A1A1A"/>
                </a:solidFill>
                <a:latin typeface="Hiragino Sans" pitchFamily="34" charset="0"/>
                <a:ea typeface="Hiragino Sans" pitchFamily="34" charset="-122"/>
                <a:cs typeface="Hiragino Sans" pitchFamily="34" charset="-120"/>
              </a:rPr>
              <a:t>サイトごとに 1 件</a:t>
            </a:r>
            <a:endParaRPr lang="en-US" sz="1100" dirty="0"/>
          </a:p>
        </p:txBody>
      </p:sp>
      <p:sp>
        <p:nvSpPr>
          <p:cNvPr id="13" name="Shape 11"/>
          <p:cNvSpPr/>
          <p:nvPr/>
        </p:nvSpPr>
        <p:spPr>
          <a:xfrm>
            <a:off x="822960" y="2212848"/>
            <a:ext cx="7406640" cy="438912"/>
          </a:xfrm>
          <a:prstGeom prst="rect">
            <a:avLst/>
          </a:prstGeom>
          <a:solidFill>
            <a:srgbClr val="FFFFFF"/>
          </a:solidFill>
          <a:ln/>
        </p:spPr>
      </p:sp>
      <p:sp>
        <p:nvSpPr>
          <p:cNvPr id="14" name="Text 12"/>
          <p:cNvSpPr/>
          <p:nvPr/>
        </p:nvSpPr>
        <p:spPr>
          <a:xfrm>
            <a:off x="960120" y="2212848"/>
            <a:ext cx="2377440" cy="438912"/>
          </a:xfrm>
          <a:prstGeom prst="rect">
            <a:avLst/>
          </a:prstGeom>
          <a:noFill/>
          <a:ln/>
        </p:spPr>
        <p:txBody>
          <a:bodyPr wrap="square" lIns="0" tIns="0" rIns="0" bIns="0" rtlCol="0" anchor="ctr"/>
          <a:lstStyle/>
          <a:p>
            <a:pPr indent="0" marL="0">
              <a:buNone/>
            </a:pPr>
            <a:r>
              <a:rPr lang="en-US" sz="1150" dirty="0">
                <a:solidFill>
                  <a:srgbClr val="1A1A1A"/>
                </a:solidFill>
                <a:latin typeface="Hiragino Sans" pitchFamily="34" charset="0"/>
                <a:ea typeface="Hiragino Sans" pitchFamily="34" charset="-122"/>
                <a:cs typeface="Hiragino Sans" pitchFamily="34" charset="-120"/>
              </a:rPr>
              <a:t>VoltageLevel</a:t>
            </a:r>
            <a:endParaRPr lang="en-US" sz="1150" dirty="0"/>
          </a:p>
        </p:txBody>
      </p:sp>
      <p:sp>
        <p:nvSpPr>
          <p:cNvPr id="15" name="Text 13"/>
          <p:cNvSpPr/>
          <p:nvPr/>
        </p:nvSpPr>
        <p:spPr>
          <a:xfrm>
            <a:off x="3429000" y="2212848"/>
            <a:ext cx="2560320" cy="438912"/>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cim:VoltageLevel</a:t>
            </a:r>
            <a:endParaRPr lang="en-US" sz="1100" dirty="0"/>
          </a:p>
        </p:txBody>
      </p:sp>
      <p:sp>
        <p:nvSpPr>
          <p:cNvPr id="16" name="Text 14"/>
          <p:cNvSpPr/>
          <p:nvPr/>
        </p:nvSpPr>
        <p:spPr>
          <a:xfrm>
            <a:off x="6080760" y="2212848"/>
            <a:ext cx="2057400" cy="438912"/>
          </a:xfrm>
          <a:prstGeom prst="rect">
            <a:avLst/>
          </a:prstGeom>
          <a:noFill/>
          <a:ln/>
        </p:spPr>
        <p:txBody>
          <a:bodyPr wrap="square" lIns="0" tIns="0" rIns="0" bIns="0" rtlCol="0" anchor="ctr"/>
          <a:lstStyle/>
          <a:p>
            <a:pPr indent="0" marL="0">
              <a:buNone/>
            </a:pPr>
            <a:r>
              <a:rPr lang="en-US" sz="1100" dirty="0">
                <a:solidFill>
                  <a:srgbClr val="1A1A1A"/>
                </a:solidFill>
                <a:latin typeface="Hiragino Sans" pitchFamily="34" charset="0"/>
                <a:ea typeface="Hiragino Sans" pitchFamily="34" charset="-122"/>
                <a:cs typeface="Hiragino Sans" pitchFamily="34" charset="-120"/>
              </a:rPr>
              <a:t>サイト・電圧クラスごと</a:t>
            </a:r>
            <a:endParaRPr lang="en-US" sz="1100" dirty="0"/>
          </a:p>
        </p:txBody>
      </p:sp>
      <p:sp>
        <p:nvSpPr>
          <p:cNvPr id="17" name="Shape 15"/>
          <p:cNvSpPr/>
          <p:nvPr/>
        </p:nvSpPr>
        <p:spPr>
          <a:xfrm>
            <a:off x="822960" y="2688336"/>
            <a:ext cx="7406640" cy="438912"/>
          </a:xfrm>
          <a:prstGeom prst="rect">
            <a:avLst/>
          </a:prstGeom>
          <a:solidFill>
            <a:srgbClr val="EFF1F8"/>
          </a:solidFill>
          <a:ln/>
        </p:spPr>
      </p:sp>
      <p:sp>
        <p:nvSpPr>
          <p:cNvPr id="18" name="Text 16"/>
          <p:cNvSpPr/>
          <p:nvPr/>
        </p:nvSpPr>
        <p:spPr>
          <a:xfrm>
            <a:off x="960120" y="2688336"/>
            <a:ext cx="2377440" cy="438912"/>
          </a:xfrm>
          <a:prstGeom prst="rect">
            <a:avLst/>
          </a:prstGeom>
          <a:noFill/>
          <a:ln/>
        </p:spPr>
        <p:txBody>
          <a:bodyPr wrap="square" lIns="0" tIns="0" rIns="0" bIns="0" rtlCol="0" anchor="ctr"/>
          <a:lstStyle/>
          <a:p>
            <a:pPr indent="0" marL="0">
              <a:buNone/>
            </a:pPr>
            <a:r>
              <a:rPr lang="en-US" sz="1150" dirty="0">
                <a:solidFill>
                  <a:srgbClr val="1A1A1A"/>
                </a:solidFill>
                <a:latin typeface="Hiragino Sans" pitchFamily="34" charset="0"/>
                <a:ea typeface="Hiragino Sans" pitchFamily="34" charset="-122"/>
                <a:cs typeface="Hiragino Sans" pitchFamily="34" charset="-120"/>
              </a:rPr>
              <a:t>BusbarSection</a:t>
            </a:r>
            <a:endParaRPr lang="en-US" sz="1150" dirty="0"/>
          </a:p>
        </p:txBody>
      </p:sp>
      <p:sp>
        <p:nvSpPr>
          <p:cNvPr id="19" name="Text 17"/>
          <p:cNvSpPr/>
          <p:nvPr/>
        </p:nvSpPr>
        <p:spPr>
          <a:xfrm>
            <a:off x="3429000" y="2688336"/>
            <a:ext cx="2560320" cy="438912"/>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cim:BusbarSection</a:t>
            </a:r>
            <a:endParaRPr lang="en-US" sz="1100" dirty="0"/>
          </a:p>
        </p:txBody>
      </p:sp>
      <p:sp>
        <p:nvSpPr>
          <p:cNvPr id="20" name="Text 18"/>
          <p:cNvSpPr/>
          <p:nvPr/>
        </p:nvSpPr>
        <p:spPr>
          <a:xfrm>
            <a:off x="6080760" y="2688336"/>
            <a:ext cx="2057400" cy="438912"/>
          </a:xfrm>
          <a:prstGeom prst="rect">
            <a:avLst/>
          </a:prstGeom>
          <a:noFill/>
          <a:ln/>
        </p:spPr>
        <p:txBody>
          <a:bodyPr wrap="square" lIns="0" tIns="0" rIns="0" bIns="0" rtlCol="0" anchor="ctr"/>
          <a:lstStyle/>
          <a:p>
            <a:pPr indent="0" marL="0">
              <a:buNone/>
            </a:pPr>
            <a:r>
              <a:rPr lang="en-US" sz="1100" b="1" dirty="0">
                <a:solidFill>
                  <a:srgbClr val="1E2761"/>
                </a:solidFill>
                <a:latin typeface="Hiragino Sans" pitchFamily="34" charset="0"/>
                <a:ea typeface="Hiragino Sans" pitchFamily="34" charset="-122"/>
                <a:cs typeface="Hiragino Sans" pitchFamily="34" charset="-120"/>
              </a:rPr>
              <a:t>4,743（推定 2,289 / 観測 2,454）</a:t>
            </a:r>
            <a:endParaRPr lang="en-US" sz="1100" dirty="0"/>
          </a:p>
        </p:txBody>
      </p:sp>
      <p:sp>
        <p:nvSpPr>
          <p:cNvPr id="21" name="Shape 19"/>
          <p:cNvSpPr/>
          <p:nvPr/>
        </p:nvSpPr>
        <p:spPr>
          <a:xfrm>
            <a:off x="822960" y="3163824"/>
            <a:ext cx="7406640" cy="438912"/>
          </a:xfrm>
          <a:prstGeom prst="rect">
            <a:avLst/>
          </a:prstGeom>
          <a:solidFill>
            <a:srgbClr val="FFFFFF"/>
          </a:solidFill>
          <a:ln/>
        </p:spPr>
      </p:sp>
      <p:sp>
        <p:nvSpPr>
          <p:cNvPr id="22" name="Text 20"/>
          <p:cNvSpPr/>
          <p:nvPr/>
        </p:nvSpPr>
        <p:spPr>
          <a:xfrm>
            <a:off x="960120" y="3163824"/>
            <a:ext cx="2377440" cy="438912"/>
          </a:xfrm>
          <a:prstGeom prst="rect">
            <a:avLst/>
          </a:prstGeom>
          <a:noFill/>
          <a:ln/>
        </p:spPr>
        <p:txBody>
          <a:bodyPr wrap="square" lIns="0" tIns="0" rIns="0" bIns="0" rtlCol="0" anchor="ctr"/>
          <a:lstStyle/>
          <a:p>
            <a:pPr indent="0" marL="0">
              <a:buNone/>
            </a:pPr>
            <a:r>
              <a:rPr lang="en-US" sz="1150" dirty="0">
                <a:solidFill>
                  <a:srgbClr val="1A1A1A"/>
                </a:solidFill>
                <a:latin typeface="Hiragino Sans" pitchFamily="34" charset="0"/>
                <a:ea typeface="Hiragino Sans" pitchFamily="34" charset="-122"/>
                <a:cs typeface="Hiragino Sans" pitchFamily="34" charset="-120"/>
              </a:rPr>
              <a:t>Bay</a:t>
            </a:r>
            <a:endParaRPr lang="en-US" sz="1150" dirty="0"/>
          </a:p>
        </p:txBody>
      </p:sp>
      <p:sp>
        <p:nvSpPr>
          <p:cNvPr id="23" name="Text 21"/>
          <p:cNvSpPr/>
          <p:nvPr/>
        </p:nvSpPr>
        <p:spPr>
          <a:xfrm>
            <a:off x="3429000" y="3163824"/>
            <a:ext cx="2560320" cy="438912"/>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cim:Bay</a:t>
            </a:r>
            <a:endParaRPr lang="en-US" sz="1100" dirty="0"/>
          </a:p>
        </p:txBody>
      </p:sp>
      <p:sp>
        <p:nvSpPr>
          <p:cNvPr id="24" name="Text 22"/>
          <p:cNvSpPr/>
          <p:nvPr/>
        </p:nvSpPr>
        <p:spPr>
          <a:xfrm>
            <a:off x="6080760" y="3163824"/>
            <a:ext cx="2057400" cy="438912"/>
          </a:xfrm>
          <a:prstGeom prst="rect">
            <a:avLst/>
          </a:prstGeom>
          <a:noFill/>
          <a:ln/>
        </p:spPr>
        <p:txBody>
          <a:bodyPr wrap="square" lIns="0" tIns="0" rIns="0" bIns="0" rtlCol="0" anchor="ctr"/>
          <a:lstStyle/>
          <a:p>
            <a:pPr indent="0" marL="0">
              <a:buNone/>
            </a:pPr>
            <a:r>
              <a:rPr lang="en-US" sz="1100" dirty="0">
                <a:solidFill>
                  <a:srgbClr val="1A1A1A"/>
                </a:solidFill>
                <a:latin typeface="Hiragino Sans" pitchFamily="34" charset="0"/>
                <a:ea typeface="Hiragino Sans" pitchFamily="34" charset="-122"/>
                <a:cs typeface="Hiragino Sans" pitchFamily="34" charset="-120"/>
              </a:rPr>
              <a:t>8,475</a:t>
            </a:r>
            <a:endParaRPr lang="en-US" sz="1100" dirty="0"/>
          </a:p>
        </p:txBody>
      </p:sp>
      <p:sp>
        <p:nvSpPr>
          <p:cNvPr id="25" name="Shape 23"/>
          <p:cNvSpPr/>
          <p:nvPr/>
        </p:nvSpPr>
        <p:spPr>
          <a:xfrm>
            <a:off x="822960" y="3639312"/>
            <a:ext cx="7406640" cy="438912"/>
          </a:xfrm>
          <a:prstGeom prst="rect">
            <a:avLst/>
          </a:prstGeom>
          <a:solidFill>
            <a:srgbClr val="F4F4F6"/>
          </a:solidFill>
          <a:ln/>
        </p:spPr>
      </p:sp>
      <p:sp>
        <p:nvSpPr>
          <p:cNvPr id="26" name="Text 24"/>
          <p:cNvSpPr/>
          <p:nvPr/>
        </p:nvSpPr>
        <p:spPr>
          <a:xfrm>
            <a:off x="960120" y="3639312"/>
            <a:ext cx="2377440" cy="438912"/>
          </a:xfrm>
          <a:prstGeom prst="rect">
            <a:avLst/>
          </a:prstGeom>
          <a:noFill/>
          <a:ln/>
        </p:spPr>
        <p:txBody>
          <a:bodyPr wrap="square" lIns="0" tIns="0" rIns="0" bIns="0" rtlCol="0" anchor="ctr"/>
          <a:lstStyle/>
          <a:p>
            <a:pPr indent="0" marL="0">
              <a:buNone/>
            </a:pPr>
            <a:r>
              <a:rPr lang="en-US" sz="1150" dirty="0">
                <a:solidFill>
                  <a:srgbClr val="1A1A1A"/>
                </a:solidFill>
                <a:latin typeface="Hiragino Sans" pitchFamily="34" charset="0"/>
                <a:ea typeface="Hiragino Sans" pitchFamily="34" charset="-122"/>
                <a:cs typeface="Hiragino Sans" pitchFamily="34" charset="-120"/>
              </a:rPr>
              <a:t>TransformerSpec</a:t>
            </a:r>
            <a:endParaRPr lang="en-US" sz="1150" dirty="0"/>
          </a:p>
        </p:txBody>
      </p:sp>
      <p:sp>
        <p:nvSpPr>
          <p:cNvPr id="27" name="Text 25"/>
          <p:cNvSpPr/>
          <p:nvPr/>
        </p:nvSpPr>
        <p:spPr>
          <a:xfrm>
            <a:off x="3429000" y="3639312"/>
            <a:ext cx="2560320" cy="438912"/>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cim:PowerTransformer</a:t>
            </a:r>
            <a:endParaRPr lang="en-US" sz="1100" dirty="0"/>
          </a:p>
        </p:txBody>
      </p:sp>
      <p:sp>
        <p:nvSpPr>
          <p:cNvPr id="28" name="Text 26"/>
          <p:cNvSpPr/>
          <p:nvPr/>
        </p:nvSpPr>
        <p:spPr>
          <a:xfrm>
            <a:off x="6080760" y="3639312"/>
            <a:ext cx="2057400" cy="438912"/>
          </a:xfrm>
          <a:prstGeom prst="rect">
            <a:avLst/>
          </a:prstGeom>
          <a:noFill/>
          <a:ln/>
        </p:spPr>
        <p:txBody>
          <a:bodyPr wrap="square" lIns="0" tIns="0" rIns="0" bIns="0" rtlCol="0" anchor="ctr"/>
          <a:lstStyle/>
          <a:p>
            <a:pPr indent="0" marL="0">
              <a:buNone/>
            </a:pPr>
            <a:r>
              <a:rPr lang="en-US" sz="1100" dirty="0">
                <a:solidFill>
                  <a:srgbClr val="1A1A1A"/>
                </a:solidFill>
                <a:latin typeface="Hiragino Sans" pitchFamily="34" charset="0"/>
                <a:ea typeface="Hiragino Sans" pitchFamily="34" charset="-122"/>
                <a:cs typeface="Hiragino Sans" pitchFamily="34" charset="-120"/>
              </a:rPr>
              <a:t>2,586</a:t>
            </a:r>
            <a:endParaRPr lang="en-US" sz="1100" dirty="0"/>
          </a:p>
        </p:txBody>
      </p:sp>
      <p:sp>
        <p:nvSpPr>
          <p:cNvPr id="29" name="Shape 27"/>
          <p:cNvSpPr/>
          <p:nvPr/>
        </p:nvSpPr>
        <p:spPr>
          <a:xfrm>
            <a:off x="822960" y="4114800"/>
            <a:ext cx="7406640" cy="438912"/>
          </a:xfrm>
          <a:prstGeom prst="rect">
            <a:avLst/>
          </a:prstGeom>
          <a:solidFill>
            <a:srgbClr val="FFFFFF"/>
          </a:solidFill>
          <a:ln/>
        </p:spPr>
      </p:sp>
      <p:sp>
        <p:nvSpPr>
          <p:cNvPr id="30" name="Text 28"/>
          <p:cNvSpPr/>
          <p:nvPr/>
        </p:nvSpPr>
        <p:spPr>
          <a:xfrm>
            <a:off x="960120" y="4114800"/>
            <a:ext cx="2377440" cy="438912"/>
          </a:xfrm>
          <a:prstGeom prst="rect">
            <a:avLst/>
          </a:prstGeom>
          <a:noFill/>
          <a:ln/>
        </p:spPr>
        <p:txBody>
          <a:bodyPr wrap="square" lIns="0" tIns="0" rIns="0" bIns="0" rtlCol="0" anchor="ctr"/>
          <a:lstStyle/>
          <a:p>
            <a:pPr indent="0" marL="0">
              <a:buNone/>
            </a:pPr>
            <a:r>
              <a:rPr lang="en-US" sz="1150" dirty="0">
                <a:solidFill>
                  <a:srgbClr val="1A1A1A"/>
                </a:solidFill>
                <a:latin typeface="Hiragino Sans" pitchFamily="34" charset="0"/>
                <a:ea typeface="Hiragino Sans" pitchFamily="34" charset="-122"/>
                <a:cs typeface="Hiragino Sans" pitchFamily="34" charset="-120"/>
              </a:rPr>
              <a:t>Terminal</a:t>
            </a:r>
            <a:endParaRPr lang="en-US" sz="1150" dirty="0"/>
          </a:p>
        </p:txBody>
      </p:sp>
      <p:sp>
        <p:nvSpPr>
          <p:cNvPr id="31" name="Text 29"/>
          <p:cNvSpPr/>
          <p:nvPr/>
        </p:nvSpPr>
        <p:spPr>
          <a:xfrm>
            <a:off x="3429000" y="4114800"/>
            <a:ext cx="2560320" cy="438912"/>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cim:Terminal</a:t>
            </a:r>
            <a:endParaRPr lang="en-US" sz="1100" dirty="0"/>
          </a:p>
        </p:txBody>
      </p:sp>
      <p:sp>
        <p:nvSpPr>
          <p:cNvPr id="32" name="Text 30"/>
          <p:cNvSpPr/>
          <p:nvPr/>
        </p:nvSpPr>
        <p:spPr>
          <a:xfrm>
            <a:off x="6080760" y="4114800"/>
            <a:ext cx="2057400" cy="438912"/>
          </a:xfrm>
          <a:prstGeom prst="rect">
            <a:avLst/>
          </a:prstGeom>
          <a:noFill/>
          <a:ln/>
        </p:spPr>
        <p:txBody>
          <a:bodyPr wrap="square" lIns="0" tIns="0" rIns="0" bIns="0" rtlCol="0" anchor="ctr"/>
          <a:lstStyle/>
          <a:p>
            <a:pPr indent="0" marL="0">
              <a:buNone/>
            </a:pPr>
            <a:r>
              <a:rPr lang="en-US" sz="1100" dirty="0">
                <a:solidFill>
                  <a:srgbClr val="1A1A1A"/>
                </a:solidFill>
                <a:latin typeface="Hiragino Sans" pitchFamily="34" charset="0"/>
                <a:ea typeface="Hiragino Sans" pitchFamily="34" charset="-122"/>
                <a:cs typeface="Hiragino Sans" pitchFamily="34" charset="-120"/>
              </a:rPr>
              <a:t>ConnectivityNode 付き</a:t>
            </a:r>
            <a:endParaRPr lang="en-US" sz="1100" dirty="0"/>
          </a:p>
        </p:txBody>
      </p:sp>
      <p:sp>
        <p:nvSpPr>
          <p:cNvPr id="33" name="Shape 31"/>
          <p:cNvSpPr/>
          <p:nvPr/>
        </p:nvSpPr>
        <p:spPr>
          <a:xfrm>
            <a:off x="960120" y="4617720"/>
            <a:ext cx="3822192" cy="274320"/>
          </a:xfrm>
          <a:prstGeom prst="rect">
            <a:avLst/>
          </a:prstGeom>
          <a:solidFill>
            <a:srgbClr val="1E2761"/>
          </a:solidFill>
          <a:ln/>
        </p:spPr>
      </p:sp>
      <p:sp>
        <p:nvSpPr>
          <p:cNvPr id="34" name="Shape 32"/>
          <p:cNvSpPr/>
          <p:nvPr/>
        </p:nvSpPr>
        <p:spPr>
          <a:xfrm>
            <a:off x="4782312" y="4617720"/>
            <a:ext cx="3447288" cy="274320"/>
          </a:xfrm>
          <a:prstGeom prst="rect">
            <a:avLst/>
          </a:prstGeom>
          <a:solidFill>
            <a:srgbClr val="B9B9C2"/>
          </a:solidFill>
          <a:ln/>
        </p:spPr>
      </p:sp>
      <p:sp>
        <p:nvSpPr>
          <p:cNvPr id="35" name="Text 33"/>
          <p:cNvSpPr/>
          <p:nvPr/>
        </p:nvSpPr>
        <p:spPr>
          <a:xfrm>
            <a:off x="960120" y="4617720"/>
            <a:ext cx="382219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Hiragino Sans" pitchFamily="34" charset="0"/>
                <a:ea typeface="Hiragino Sans" pitchFamily="34" charset="-122"/>
                <a:cs typeface="Hiragino Sans" pitchFamily="34" charset="-120"/>
              </a:rPr>
              <a:t>観測 2,454</a:t>
            </a:r>
            <a:endParaRPr lang="en-US" sz="1000" dirty="0"/>
          </a:p>
        </p:txBody>
      </p:sp>
      <p:sp>
        <p:nvSpPr>
          <p:cNvPr id="36" name="Text 34"/>
          <p:cNvSpPr/>
          <p:nvPr/>
        </p:nvSpPr>
        <p:spPr>
          <a:xfrm>
            <a:off x="4782312" y="4617720"/>
            <a:ext cx="3447288" cy="274320"/>
          </a:xfrm>
          <a:prstGeom prst="rect">
            <a:avLst/>
          </a:prstGeom>
          <a:noFill/>
          <a:ln/>
        </p:spPr>
        <p:txBody>
          <a:bodyPr wrap="square" lIns="0" tIns="0" rIns="0" bIns="0" rtlCol="0" anchor="ctr"/>
          <a:lstStyle/>
          <a:p>
            <a:pPr algn="ctr" indent="0" marL="0">
              <a:buNone/>
            </a:pPr>
            <a:r>
              <a:rPr lang="en-US" sz="1000" b="1" dirty="0">
                <a:solidFill>
                  <a:srgbClr val="3A3A44"/>
                </a:solidFill>
                <a:latin typeface="Hiragino Sans" pitchFamily="34" charset="0"/>
                <a:ea typeface="Hiragino Sans" pitchFamily="34" charset="-122"/>
                <a:cs typeface="Hiragino Sans" pitchFamily="34" charset="-120"/>
              </a:rPr>
              <a:t>推定 2,289（印つき）</a:t>
            </a:r>
            <a:endParaRPr lang="en-US" sz="1000" dirty="0"/>
          </a:p>
        </p:txBody>
      </p:sp>
      <p:sp>
        <p:nvSpPr>
          <p:cNvPr id="37" name="Shape 35"/>
          <p:cNvSpPr/>
          <p:nvPr/>
        </p:nvSpPr>
        <p:spPr>
          <a:xfrm>
            <a:off x="8458200" y="1417320"/>
            <a:ext cx="2971800" cy="3474720"/>
          </a:xfrm>
          <a:prstGeom prst="roundRect">
            <a:avLst>
              <a:gd name="adj" fmla="val 1846"/>
            </a:avLst>
          </a:prstGeom>
          <a:solidFill>
            <a:srgbClr val="2A2A33"/>
          </a:solidFill>
          <a:ln/>
        </p:spPr>
      </p:sp>
      <p:sp>
        <p:nvSpPr>
          <p:cNvPr id="38" name="Text 36"/>
          <p:cNvSpPr/>
          <p:nvPr/>
        </p:nvSpPr>
        <p:spPr>
          <a:xfrm>
            <a:off x="8641080" y="1536192"/>
            <a:ext cx="2651760" cy="274320"/>
          </a:xfrm>
          <a:prstGeom prst="rect">
            <a:avLst/>
          </a:prstGeom>
          <a:noFill/>
          <a:ln/>
        </p:spPr>
        <p:txBody>
          <a:bodyPr wrap="square" lIns="0" tIns="0" rIns="0" bIns="0" rtlCol="0" anchor="ctr"/>
          <a:lstStyle/>
          <a:p>
            <a:pPr indent="0" marL="0">
              <a:buNone/>
            </a:pPr>
            <a:r>
              <a:rPr lang="en-US" sz="1150" b="1" dirty="0">
                <a:solidFill>
                  <a:srgbClr val="FFD54F"/>
                </a:solidFill>
                <a:latin typeface="Hiragino Sans" pitchFamily="34" charset="0"/>
                <a:ea typeface="Hiragino Sans" pitchFamily="34" charset="-122"/>
                <a:cs typeface="Hiragino Sans" pitchFamily="34" charset="-120"/>
              </a:rPr>
              <a:t>推定母線は印を保持する</a:t>
            </a:r>
            <a:endParaRPr lang="en-US" sz="1150" dirty="0"/>
          </a:p>
        </p:txBody>
      </p:sp>
      <p:sp>
        <p:nvSpPr>
          <p:cNvPr id="39" name="Text 37"/>
          <p:cNvSpPr/>
          <p:nvPr/>
        </p:nvSpPr>
        <p:spPr>
          <a:xfrm>
            <a:off x="8641080" y="1847088"/>
            <a:ext cx="2651760" cy="548640"/>
          </a:xfrm>
          <a:prstGeom prst="rect">
            <a:avLst/>
          </a:prstGeom>
          <a:noFill/>
          <a:ln/>
        </p:spPr>
        <p:txBody>
          <a:bodyPr wrap="square" lIns="0" tIns="0" rIns="0" bIns="0" rtlCol="0" anchor="ctr"/>
          <a:lstStyle/>
          <a:p>
            <a:pPr indent="0" marL="0">
              <a:lnSpc>
                <a:spcPts val="1300"/>
              </a:lnSpc>
              <a:buNone/>
            </a:pPr>
            <a:r>
              <a:rPr lang="en-US" sz="1000" dirty="0">
                <a:solidFill>
                  <a:srgbClr val="C9C9D2"/>
                </a:solidFill>
                <a:latin typeface="Hiragino Sans" pitchFamily="34" charset="0"/>
                <a:ea typeface="Hiragino Sans" pitchFamily="34" charset="-122"/>
                <a:cs typeface="Hiragino Sans" pitchFamily="34" charset="-120"/>
              </a:rPr>
              <a:t>CGMES 2.4 に「estimated」属性が無いため、provenance を</a:t>
            </a:r>
            <a:endParaRPr lang="en-US" sz="1000" dirty="0"/>
          </a:p>
          <a:p>
            <a:pPr indent="0" marL="0">
              <a:lnSpc>
                <a:spcPts val="1300"/>
              </a:lnSpc>
              <a:buNone/>
            </a:pPr>
            <a:r>
              <a:rPr lang="en-US" sz="1000" dirty="0">
                <a:solidFill>
                  <a:srgbClr val="C9C9D2"/>
                </a:solidFill>
                <a:latin typeface="Hiragino Sans" pitchFamily="34" charset="0"/>
                <a:ea typeface="Hiragino Sans" pitchFamily="34" charset="-122"/>
                <a:cs typeface="Hiragino Sans" pitchFamily="34" charset="-120"/>
              </a:rPr>
              <a:t>IdentifiedObject.description に書き込む：</a:t>
            </a:r>
            <a:endParaRPr lang="en-US" sz="1000" dirty="0"/>
          </a:p>
        </p:txBody>
      </p:sp>
      <p:sp>
        <p:nvSpPr>
          <p:cNvPr id="40" name="Text 38"/>
          <p:cNvSpPr/>
          <p:nvPr/>
        </p:nvSpPr>
        <p:spPr>
          <a:xfrm>
            <a:off x="8641080" y="2468880"/>
            <a:ext cx="2651760" cy="1005840"/>
          </a:xfrm>
          <a:prstGeom prst="rect">
            <a:avLst/>
          </a:prstGeom>
          <a:noFill/>
          <a:ln/>
        </p:spPr>
        <p:txBody>
          <a:bodyPr wrap="square" lIns="0" tIns="0" rIns="0" bIns="0" rtlCol="0" anchor="ctr"/>
          <a:lstStyle/>
          <a:p>
            <a:pPr indent="0" marL="0">
              <a:lnSpc>
                <a:spcPts val="1200"/>
              </a:lnSpc>
              <a:buNone/>
            </a:pPr>
            <a:r>
              <a:rPr lang="en-US" sz="900" dirty="0">
                <a:solidFill>
                  <a:srgbClr val="8FE3A0"/>
                </a:solidFill>
                <a:latin typeface="Courier New" pitchFamily="34" charset="0"/>
                <a:ea typeface="Courier New" pitchFamily="34" charset="-122"/>
                <a:cs typeface="Courier New" pitchFamily="34" charset="-120"/>
              </a:rPr>
              <a:t>inferred-topology (SubSLD):</a:t>
            </a:r>
            <a:endParaRPr lang="en-US" sz="900" dirty="0"/>
          </a:p>
          <a:p>
            <a:pPr indent="0" marL="0">
              <a:lnSpc>
                <a:spcPts val="1200"/>
              </a:lnSpc>
              <a:buNone/>
            </a:pPr>
            <a:r>
              <a:rPr lang="en-US" sz="900" dirty="0">
                <a:solidFill>
                  <a:srgbClr val="8FE3A0"/>
                </a:solidFill>
                <a:latin typeface="Courier New" pitchFamily="34" charset="0"/>
                <a:ea typeface="Courier New" pitchFamily="34" charset="-122"/>
                <a:cs typeface="Courier New" pitchFamily="34" charset="-120"/>
              </a:rPr>
              <a:t>no busbar way in OSM;</a:t>
            </a:r>
            <a:endParaRPr lang="en-US" sz="900" dirty="0"/>
          </a:p>
          <a:p>
            <a:pPr indent="0" marL="0">
              <a:lnSpc>
                <a:spcPts val="1200"/>
              </a:lnSpc>
              <a:buNone/>
            </a:pPr>
            <a:r>
              <a:rPr lang="en-US" sz="900" dirty="0">
                <a:solidFill>
                  <a:srgbClr val="8FE3A0"/>
                </a:solidFill>
                <a:latin typeface="Courier New" pitchFamily="34" charset="0"/>
                <a:ea typeface="Courier New" pitchFamily="34" charset="-122"/>
                <a:cs typeface="Courier New" pitchFamily="34" charset="-120"/>
              </a:rPr>
              <a:t>existence derived from</a:t>
            </a:r>
            <a:endParaRPr lang="en-US" sz="900" dirty="0"/>
          </a:p>
          <a:p>
            <a:pPr indent="0" marL="0">
              <a:lnSpc>
                <a:spcPts val="1200"/>
              </a:lnSpc>
              <a:buNone/>
            </a:pPr>
            <a:r>
              <a:rPr lang="en-US" sz="900" dirty="0">
                <a:solidFill>
                  <a:srgbClr val="8FE3A0"/>
                </a:solidFill>
                <a:latin typeface="Courier New" pitchFamily="34" charset="0"/>
                <a:ea typeface="Courier New" pitchFamily="34" charset="-122"/>
                <a:cs typeface="Courier New" pitchFamily="34" charset="-120"/>
              </a:rPr>
              <a:t>strongly-bound terminals</a:t>
            </a:r>
            <a:endParaRPr lang="en-US" sz="900" dirty="0"/>
          </a:p>
        </p:txBody>
      </p:sp>
      <p:sp>
        <p:nvSpPr>
          <p:cNvPr id="41" name="Text 39"/>
          <p:cNvSpPr/>
          <p:nvPr/>
        </p:nvSpPr>
        <p:spPr>
          <a:xfrm>
            <a:off x="8641080" y="3566160"/>
            <a:ext cx="2651760" cy="822960"/>
          </a:xfrm>
          <a:prstGeom prst="rect">
            <a:avLst/>
          </a:prstGeom>
          <a:noFill/>
          <a:ln/>
        </p:spPr>
        <p:txBody>
          <a:bodyPr wrap="square" lIns="0" tIns="0" rIns="0" bIns="0" rtlCol="0" anchor="ctr"/>
          <a:lstStyle/>
          <a:p>
            <a:pPr indent="0" marL="0">
              <a:lnSpc>
                <a:spcPts val="1300"/>
              </a:lnSpc>
              <a:buNone/>
            </a:pPr>
            <a:r>
              <a:rPr lang="en-US" sz="1000" dirty="0">
                <a:solidFill>
                  <a:srgbClr val="E8E8F0"/>
                </a:solidFill>
                <a:latin typeface="Hiragino Sans" pitchFamily="34" charset="0"/>
                <a:ea typeface="Hiragino Sans" pitchFamily="34" charset="-122"/>
                <a:cs typeface="Hiragino Sans" pitchFamily="34" charset="-120"/>
              </a:rPr>
              <a:t>このフィールドを無視するツールも妥当なトポロジを受け取る。読むツールや人は、観測と推定を分離できる。</a:t>
            </a:r>
            <a:endParaRPr lang="en-US" sz="1000" dirty="0"/>
          </a:p>
        </p:txBody>
      </p:sp>
      <p:sp>
        <p:nvSpPr>
          <p:cNvPr id="42" name="Text 40"/>
          <p:cNvSpPr/>
          <p:nvPr/>
        </p:nvSpPr>
        <p:spPr>
          <a:xfrm>
            <a:off x="822960" y="5120640"/>
            <a:ext cx="10607040" cy="502920"/>
          </a:xfrm>
          <a:prstGeom prst="rect">
            <a:avLst/>
          </a:prstGeom>
          <a:noFill/>
          <a:ln/>
        </p:spPr>
        <p:txBody>
          <a:bodyPr wrap="square" lIns="0" tIns="0" rIns="0" bIns="0" rtlCol="0" anchor="ctr"/>
          <a:lstStyle/>
          <a:p>
            <a:pPr indent="0" marL="0">
              <a:lnSpc>
                <a:spcPts val="1600"/>
              </a:lnSpc>
              <a:buNone/>
            </a:pPr>
            <a:r>
              <a:rPr lang="en-US" sz="1150" dirty="0">
                <a:solidFill>
                  <a:srgbClr val="1A1A1A"/>
                </a:solidFill>
                <a:latin typeface="Hiragino Sans" pitchFamily="34" charset="0"/>
                <a:ea typeface="Hiragino Sans" pitchFamily="34" charset="-122"/>
                <a:cs typeface="Hiragino Sans" pitchFamily="34" charset="-120"/>
              </a:rPr>
              <a:t>同一電圧レベルの2つの母線区分に接するベイは coupler 候補として名前で開示する（スイッチは観測していないので Breaker と断定しない）。</a:t>
            </a:r>
            <a:endParaRPr lang="en-US" sz="1150" dirty="0"/>
          </a:p>
        </p:txBody>
      </p:sp>
      <p:sp>
        <p:nvSpPr>
          <p:cNvPr id="43" name="Text 41"/>
          <p:cNvSpPr/>
          <p:nvPr/>
        </p:nvSpPr>
        <p:spPr>
          <a:xfrm>
            <a:off x="822960" y="5715000"/>
            <a:ext cx="10789920" cy="457200"/>
          </a:xfrm>
          <a:prstGeom prst="rect">
            <a:avLst/>
          </a:prstGeom>
          <a:noFill/>
          <a:ln/>
        </p:spPr>
        <p:txBody>
          <a:bodyPr wrap="square" lIns="0" tIns="0" rIns="0" bIns="0" rtlCol="0" anchor="ctr"/>
          <a:lstStyle/>
          <a:p>
            <a:pPr indent="0" marL="0">
              <a:buNone/>
            </a:pPr>
            <a:r>
              <a:rPr lang="en-US" sz="1050" dirty="0">
                <a:solidFill>
                  <a:srgbClr val="55555F"/>
                </a:solidFill>
                <a:latin typeface="Hiragino Sans" pitchFamily="34" charset="0"/>
                <a:ea typeface="Hiragino Sans" pitchFamily="34" charset="-122"/>
                <a:cs typeface="Hiragino Sans" pitchFamily="34" charset="-120"/>
              </a:rPr>
              <a:t>EQ / GL・全 10 地域　｜　Level-2 は独立インポータでラウンドトリップ確認済み　｜　電圧階級が確定しない VoltageLevel は BaseVoltage を捏造しないため出力しない</a:t>
            </a:r>
            <a:endParaRPr lang="en-US" sz="1050" dirty="0"/>
          </a:p>
        </p:txBody>
      </p:sp>
      <p:sp>
        <p:nvSpPr>
          <p:cNvPr id="44" name="Text 42"/>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45" name="Text 43"/>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1:10</a:t>
            </a:r>
            <a:endParaRPr lang="en-US" sz="900" dirty="0"/>
          </a:p>
        </p:txBody>
      </p:sp>
      <p:sp>
        <p:nvSpPr>
          <p:cNvPr id="46" name="Text 44"/>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§IX–X</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まとめ：限界と、次にマップすべきもの</a:t>
            </a:r>
            <a:endParaRPr lang="en-US" sz="2200" dirty="0"/>
          </a:p>
        </p:txBody>
      </p:sp>
      <p:sp>
        <p:nvSpPr>
          <p:cNvPr id="5" name="Shape 3"/>
          <p:cNvSpPr/>
          <p:nvPr/>
        </p:nvSpPr>
        <p:spPr>
          <a:xfrm>
            <a:off x="822960" y="1051560"/>
            <a:ext cx="2514600" cy="1371600"/>
          </a:xfrm>
          <a:prstGeom prst="roundRect">
            <a:avLst>
              <a:gd name="adj" fmla="val 4000"/>
            </a:avLst>
          </a:prstGeom>
          <a:solidFill>
            <a:srgbClr val="F4F4F6"/>
          </a:solidFill>
          <a:ln/>
        </p:spPr>
      </p:sp>
      <p:sp>
        <p:nvSpPr>
          <p:cNvPr id="6" name="Shape 4"/>
          <p:cNvSpPr/>
          <p:nvPr/>
        </p:nvSpPr>
        <p:spPr>
          <a:xfrm>
            <a:off x="1024128" y="1234440"/>
            <a:ext cx="128016" cy="128016"/>
          </a:xfrm>
          <a:prstGeom prst="rect">
            <a:avLst/>
          </a:prstGeom>
          <a:solidFill>
            <a:srgbClr val="55555F"/>
          </a:solidFill>
          <a:ln/>
        </p:spPr>
      </p:sp>
      <p:sp>
        <p:nvSpPr>
          <p:cNvPr id="7" name="Text 5"/>
          <p:cNvSpPr/>
          <p:nvPr/>
        </p:nvSpPr>
        <p:spPr>
          <a:xfrm>
            <a:off x="1243584" y="1143000"/>
            <a:ext cx="1965960" cy="310896"/>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lead-in 帯</a:t>
            </a:r>
            <a:endParaRPr lang="en-US" sz="1150" dirty="0"/>
          </a:p>
        </p:txBody>
      </p:sp>
      <p:sp>
        <p:nvSpPr>
          <p:cNvPr id="8" name="Text 6"/>
          <p:cNvSpPr/>
          <p:nvPr/>
        </p:nvSpPr>
        <p:spPr>
          <a:xfrm>
            <a:off x="1042416" y="1490472"/>
            <a:ext cx="2075688" cy="822960"/>
          </a:xfrm>
          <a:prstGeom prst="rect">
            <a:avLst/>
          </a:prstGeom>
          <a:noFill/>
          <a:ln/>
        </p:spPr>
        <p:txBody>
          <a:bodyPr wrap="square" lIns="0" tIns="0" rIns="0" bIns="0" rtlCol="0" anchor="t"/>
          <a:lstStyle/>
          <a:p>
            <a:pPr indent="0" marL="0">
              <a:lnSpc>
                <a:spcPts val="1600"/>
              </a:lnSpc>
              <a:buNone/>
            </a:pPr>
            <a:r>
              <a:rPr lang="en-US" sz="950" dirty="0">
                <a:solidFill>
                  <a:srgbClr val="55555F"/>
                </a:solidFill>
                <a:latin typeface="Hiragino Sans" pitchFamily="34" charset="0"/>
                <a:ea typeface="Hiragino Sans" pitchFamily="34" charset="-122"/>
                <a:cs typeface="Hiragino Sans" pitchFamily="34" charset="-120"/>
              </a:rPr>
              <a:t>近傍を通過するだけの線路を弱い証拠として受け入れる（可視化はするが除去しない）</a:t>
            </a:r>
            <a:endParaRPr lang="en-US" sz="950" dirty="0"/>
          </a:p>
        </p:txBody>
      </p:sp>
      <p:sp>
        <p:nvSpPr>
          <p:cNvPr id="9" name="Shape 7"/>
          <p:cNvSpPr/>
          <p:nvPr/>
        </p:nvSpPr>
        <p:spPr>
          <a:xfrm>
            <a:off x="3520440" y="1051560"/>
            <a:ext cx="2514600" cy="1371600"/>
          </a:xfrm>
          <a:prstGeom prst="roundRect">
            <a:avLst>
              <a:gd name="adj" fmla="val 4000"/>
            </a:avLst>
          </a:prstGeom>
          <a:solidFill>
            <a:srgbClr val="F4F4F6"/>
          </a:solidFill>
          <a:ln/>
        </p:spPr>
      </p:sp>
      <p:sp>
        <p:nvSpPr>
          <p:cNvPr id="10" name="Shape 8"/>
          <p:cNvSpPr/>
          <p:nvPr/>
        </p:nvSpPr>
        <p:spPr>
          <a:xfrm>
            <a:off x="3721608" y="1234440"/>
            <a:ext cx="128016" cy="128016"/>
          </a:xfrm>
          <a:prstGeom prst="rect">
            <a:avLst/>
          </a:prstGeom>
          <a:solidFill>
            <a:srgbClr val="55555F"/>
          </a:solidFill>
          <a:ln/>
        </p:spPr>
      </p:sp>
      <p:sp>
        <p:nvSpPr>
          <p:cNvPr id="11" name="Text 9"/>
          <p:cNvSpPr/>
          <p:nvPr/>
        </p:nvSpPr>
        <p:spPr>
          <a:xfrm>
            <a:off x="3941064" y="1143000"/>
            <a:ext cx="1965960" cy="310896"/>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流向</a:t>
            </a:r>
            <a:endParaRPr lang="en-US" sz="1150" dirty="0"/>
          </a:p>
        </p:txBody>
      </p:sp>
      <p:sp>
        <p:nvSpPr>
          <p:cNvPr id="12" name="Text 10"/>
          <p:cNvSpPr/>
          <p:nvPr/>
        </p:nvSpPr>
        <p:spPr>
          <a:xfrm>
            <a:off x="3739896" y="1490472"/>
            <a:ext cx="2075688" cy="822960"/>
          </a:xfrm>
          <a:prstGeom prst="rect">
            <a:avLst/>
          </a:prstGeom>
          <a:noFill/>
          <a:ln/>
        </p:spPr>
        <p:txBody>
          <a:bodyPr wrap="square" lIns="0" tIns="0" rIns="0" bIns="0" rtlCol="0" anchor="t"/>
          <a:lstStyle/>
          <a:p>
            <a:pPr indent="0" marL="0">
              <a:lnSpc>
                <a:spcPts val="1600"/>
              </a:lnSpc>
              <a:buNone/>
            </a:pPr>
            <a:r>
              <a:rPr lang="en-US" sz="950" dirty="0">
                <a:solidFill>
                  <a:srgbClr val="55555F"/>
                </a:solidFill>
                <a:latin typeface="Hiragino Sans" pitchFamily="34" charset="0"/>
                <a:ea typeface="Hiragino Sans" pitchFamily="34" charset="-122"/>
                <a:cs typeface="Hiragino Sans" pitchFamily="34" charset="-120"/>
              </a:rPr>
              <a:t>潮流計算ではなく電圧階層ヒューリスティック。全体を通じて inference と表示</a:t>
            </a:r>
            <a:endParaRPr lang="en-US" sz="950" dirty="0"/>
          </a:p>
        </p:txBody>
      </p:sp>
      <p:sp>
        <p:nvSpPr>
          <p:cNvPr id="13" name="Shape 11"/>
          <p:cNvSpPr/>
          <p:nvPr/>
        </p:nvSpPr>
        <p:spPr>
          <a:xfrm>
            <a:off x="6217920" y="1051560"/>
            <a:ext cx="2514600" cy="1371600"/>
          </a:xfrm>
          <a:prstGeom prst="roundRect">
            <a:avLst>
              <a:gd name="adj" fmla="val 4000"/>
            </a:avLst>
          </a:prstGeom>
          <a:solidFill>
            <a:srgbClr val="F4F4F6"/>
          </a:solidFill>
          <a:ln/>
        </p:spPr>
      </p:sp>
      <p:sp>
        <p:nvSpPr>
          <p:cNvPr id="14" name="Shape 12"/>
          <p:cNvSpPr/>
          <p:nvPr/>
        </p:nvSpPr>
        <p:spPr>
          <a:xfrm>
            <a:off x="6419088" y="1234440"/>
            <a:ext cx="128016" cy="128016"/>
          </a:xfrm>
          <a:prstGeom prst="rect">
            <a:avLst/>
          </a:prstGeom>
          <a:solidFill>
            <a:srgbClr val="55555F"/>
          </a:solidFill>
          <a:ln/>
        </p:spPr>
      </p:sp>
      <p:sp>
        <p:nvSpPr>
          <p:cNvPr id="15" name="Text 13"/>
          <p:cNvSpPr/>
          <p:nvPr/>
        </p:nvSpPr>
        <p:spPr>
          <a:xfrm>
            <a:off x="6638544" y="1143000"/>
            <a:ext cx="1965960" cy="310896"/>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導体数</a:t>
            </a:r>
            <a:endParaRPr lang="en-US" sz="1150" dirty="0"/>
          </a:p>
        </p:txBody>
      </p:sp>
      <p:sp>
        <p:nvSpPr>
          <p:cNvPr id="16" name="Text 14"/>
          <p:cNvSpPr/>
          <p:nvPr/>
        </p:nvSpPr>
        <p:spPr>
          <a:xfrm>
            <a:off x="6437376" y="1490472"/>
            <a:ext cx="2075688" cy="822960"/>
          </a:xfrm>
          <a:prstGeom prst="rect">
            <a:avLst/>
          </a:prstGeom>
          <a:noFill/>
          <a:ln/>
        </p:spPr>
        <p:txBody>
          <a:bodyPr wrap="square" lIns="0" tIns="0" rIns="0" bIns="0" rtlCol="0" anchor="t"/>
          <a:lstStyle/>
          <a:p>
            <a:pPr indent="0" marL="0">
              <a:lnSpc>
                <a:spcPts val="1600"/>
              </a:lnSpc>
              <a:buNone/>
            </a:pPr>
            <a:r>
              <a:rPr lang="en-US" sz="950" dirty="0">
                <a:solidFill>
                  <a:srgbClr val="55555F"/>
                </a:solidFill>
                <a:latin typeface="Hiragino Sans" pitchFamily="34" charset="0"/>
                <a:ea typeface="Hiragino Sans" pitchFamily="34" charset="-122"/>
                <a:cs typeface="Hiragino Sans" pitchFamily="34" charset="-120"/>
              </a:rPr>
              <a:t>被覆が低く、束情報はフィールドではなく疎な注釈として扱うべき</a:t>
            </a:r>
            <a:endParaRPr lang="en-US" sz="950" dirty="0"/>
          </a:p>
        </p:txBody>
      </p:sp>
      <p:sp>
        <p:nvSpPr>
          <p:cNvPr id="17" name="Shape 15"/>
          <p:cNvSpPr/>
          <p:nvPr/>
        </p:nvSpPr>
        <p:spPr>
          <a:xfrm>
            <a:off x="8915400" y="1051560"/>
            <a:ext cx="2514600" cy="1371600"/>
          </a:xfrm>
          <a:prstGeom prst="roundRect">
            <a:avLst>
              <a:gd name="adj" fmla="val 4000"/>
            </a:avLst>
          </a:prstGeom>
          <a:solidFill>
            <a:srgbClr val="F4F4F6"/>
          </a:solidFill>
          <a:ln/>
        </p:spPr>
      </p:sp>
      <p:sp>
        <p:nvSpPr>
          <p:cNvPr id="18" name="Shape 16"/>
          <p:cNvSpPr/>
          <p:nvPr/>
        </p:nvSpPr>
        <p:spPr>
          <a:xfrm>
            <a:off x="9116568" y="1234440"/>
            <a:ext cx="128016" cy="128016"/>
          </a:xfrm>
          <a:prstGeom prst="rect">
            <a:avLst/>
          </a:prstGeom>
          <a:solidFill>
            <a:srgbClr val="55555F"/>
          </a:solidFill>
          <a:ln/>
        </p:spPr>
      </p:sp>
      <p:sp>
        <p:nvSpPr>
          <p:cNvPr id="19" name="Text 17"/>
          <p:cNvSpPr/>
          <p:nvPr/>
        </p:nvSpPr>
        <p:spPr>
          <a:xfrm>
            <a:off x="9336024" y="1143000"/>
            <a:ext cx="1965960" cy="310896"/>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被覆数値</a:t>
            </a:r>
            <a:endParaRPr lang="en-US" sz="1150" dirty="0"/>
          </a:p>
        </p:txBody>
      </p:sp>
      <p:sp>
        <p:nvSpPr>
          <p:cNvPr id="20" name="Text 18"/>
          <p:cNvSpPr/>
          <p:nvPr/>
        </p:nvSpPr>
        <p:spPr>
          <a:xfrm>
            <a:off x="9134856" y="1490472"/>
            <a:ext cx="2075688" cy="822960"/>
          </a:xfrm>
          <a:prstGeom prst="rect">
            <a:avLst/>
          </a:prstGeom>
          <a:noFill/>
          <a:ln/>
        </p:spPr>
        <p:txBody>
          <a:bodyPr wrap="square" lIns="0" tIns="0" rIns="0" bIns="0" rtlCol="0" anchor="t"/>
          <a:lstStyle/>
          <a:p>
            <a:pPr indent="0" marL="0">
              <a:lnSpc>
                <a:spcPts val="1600"/>
              </a:lnSpc>
              <a:buNone/>
            </a:pPr>
            <a:r>
              <a:rPr lang="en-US" sz="950" dirty="0">
                <a:solidFill>
                  <a:srgbClr val="55555F"/>
                </a:solidFill>
                <a:latin typeface="Hiragino Sans" pitchFamily="34" charset="0"/>
                <a:ea typeface="Hiragino Sans" pitchFamily="34" charset="-122"/>
                <a:cs typeface="Hiragino Sans" pitchFamily="34" charset="-120"/>
              </a:rPr>
              <a:t>生きたデータベースのスナップショットである</a:t>
            </a:r>
            <a:endParaRPr lang="en-US" sz="950" dirty="0"/>
          </a:p>
        </p:txBody>
      </p:sp>
      <p:sp>
        <p:nvSpPr>
          <p:cNvPr id="21" name="Shape 19"/>
          <p:cNvSpPr/>
          <p:nvPr/>
        </p:nvSpPr>
        <p:spPr>
          <a:xfrm>
            <a:off x="822960" y="2697480"/>
            <a:ext cx="10607040" cy="1371600"/>
          </a:xfrm>
          <a:prstGeom prst="roundRect">
            <a:avLst>
              <a:gd name="adj" fmla="val 5333"/>
            </a:avLst>
          </a:prstGeom>
          <a:solidFill>
            <a:srgbClr val="1E2761"/>
          </a:solidFill>
          <a:ln/>
        </p:spPr>
      </p:sp>
      <p:sp>
        <p:nvSpPr>
          <p:cNvPr id="22" name="Text 20"/>
          <p:cNvSpPr/>
          <p:nvPr/>
        </p:nvSpPr>
        <p:spPr>
          <a:xfrm>
            <a:off x="1097280" y="2697480"/>
            <a:ext cx="10058400" cy="1371600"/>
          </a:xfrm>
          <a:prstGeom prst="rect">
            <a:avLst/>
          </a:prstGeom>
          <a:noFill/>
          <a:ln/>
        </p:spPr>
        <p:txBody>
          <a:bodyPr wrap="square" lIns="0" tIns="0" rIns="0" bIns="0" rtlCol="0" anchor="ctr"/>
          <a:lstStyle/>
          <a:p>
            <a:pPr indent="0" marL="0">
              <a:lnSpc>
                <a:spcPts val="2400"/>
              </a:lnSpc>
              <a:buNone/>
            </a:pPr>
            <a:r>
              <a:rPr lang="en-US" sz="1500" b="1" dirty="0">
                <a:solidFill>
                  <a:srgbClr val="FFFFFF"/>
                </a:solidFill>
                <a:latin typeface="Hiragino Sans" pitchFamily="34" charset="0"/>
                <a:ea typeface="Hiragino Sans" pitchFamily="34" charset="-122"/>
                <a:cs typeface="Hiragino Sans" pitchFamily="34" charset="-120"/>
              </a:rPr>
              <a:t>抽出を健全性が構成的に成立するよう定式化し、推定を下界として保証し、推論に棄権を許すならば、</a:t>
            </a:r>
            <a:endParaRPr lang="en-US" sz="1500" dirty="0"/>
          </a:p>
          <a:p>
            <a:pPr indent="0" marL="0">
              <a:lnSpc>
                <a:spcPts val="2400"/>
              </a:lnSpc>
              <a:buNone/>
            </a:pPr>
            <a:r>
              <a:rPr lang="en-US" sz="1500" b="1" dirty="0">
                <a:solidFill>
                  <a:srgbClr val="FFFFFF"/>
                </a:solidFill>
                <a:latin typeface="Hiragino Sans" pitchFamily="34" charset="0"/>
                <a:ea typeface="Hiragino Sans" pitchFamily="34" charset="-122"/>
                <a:cs typeface="Hiragino Sans" pitchFamily="34" charset="-120"/>
              </a:rPr>
              <a:t>変電所の内部構成は VGI から全国規模で復元できる。計測されたギャップは結果の付録ではなく、</a:t>
            </a:r>
            <a:endParaRPr lang="en-US" sz="1500" dirty="0"/>
          </a:p>
          <a:p>
            <a:pPr indent="0" marL="0">
              <a:lnSpc>
                <a:spcPts val="2400"/>
              </a:lnSpc>
              <a:buNone/>
            </a:pPr>
            <a:r>
              <a:rPr lang="en-US" sz="1500" b="1" dirty="0">
                <a:solidFill>
                  <a:srgbClr val="FFFFFF"/>
                </a:solidFill>
                <a:latin typeface="Hiragino Sans" pitchFamily="34" charset="0"/>
                <a:ea typeface="Hiragino Sans" pitchFamily="34" charset="-122"/>
                <a:cs typeface="Hiragino Sans" pitchFamily="34" charset="-120"/>
              </a:rPr>
              <a:t>次に何をマップすべきかをコミュニティに伝える結果の一部である。</a:t>
            </a:r>
            <a:endParaRPr lang="en-US" sz="1500" dirty="0"/>
          </a:p>
        </p:txBody>
      </p:sp>
      <p:sp>
        <p:nvSpPr>
          <p:cNvPr id="23" name="Text 21"/>
          <p:cNvSpPr/>
          <p:nvPr/>
        </p:nvSpPr>
        <p:spPr>
          <a:xfrm>
            <a:off x="822960" y="4251960"/>
            <a:ext cx="182880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今後</a:t>
            </a:r>
            <a:endParaRPr lang="en-US" sz="1250" dirty="0"/>
          </a:p>
        </p:txBody>
      </p:sp>
      <p:sp>
        <p:nvSpPr>
          <p:cNvPr id="24" name="Text 22"/>
          <p:cNvSpPr/>
          <p:nvPr/>
        </p:nvSpPr>
        <p:spPr>
          <a:xfrm>
            <a:off x="822960" y="4572000"/>
            <a:ext cx="2743200" cy="256032"/>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1. 画像からの自動検出</a:t>
            </a:r>
            <a:endParaRPr lang="en-US" sz="1150" dirty="0"/>
          </a:p>
        </p:txBody>
      </p:sp>
      <p:sp>
        <p:nvSpPr>
          <p:cNvPr id="25" name="Text 23"/>
          <p:cNvSpPr/>
          <p:nvPr/>
        </p:nvSpPr>
        <p:spPr>
          <a:xfrm>
            <a:off x="822960" y="4846320"/>
            <a:ext cx="2788920" cy="548640"/>
          </a:xfrm>
          <a:prstGeom prst="rect">
            <a:avLst/>
          </a:prstGeom>
          <a:noFill/>
          <a:ln/>
        </p:spPr>
        <p:txBody>
          <a:bodyPr wrap="square" lIns="0" tIns="0" rIns="0" bIns="0" rtlCol="0" anchor="t"/>
          <a:lstStyle/>
          <a:p>
            <a:pPr indent="0" marL="0">
              <a:lnSpc>
                <a:spcPts val="1400"/>
              </a:lnSpc>
              <a:buNone/>
            </a:pPr>
            <a:r>
              <a:rPr lang="en-US" sz="1050" dirty="0">
                <a:solidFill>
                  <a:srgbClr val="55555F"/>
                </a:solidFill>
                <a:latin typeface="Hiragino Sans" pitchFamily="34" charset="0"/>
                <a:ea typeface="Hiragino Sans" pitchFamily="34" charset="-122"/>
                <a:cs typeface="Hiragino Sans" pitchFamily="34" charset="-120"/>
              </a:rPr>
              <a:t>鉄塔・母線を検出し、人手レビュー無しに証拠基盤を拡大</a:t>
            </a:r>
            <a:endParaRPr lang="en-US" sz="1050" dirty="0"/>
          </a:p>
        </p:txBody>
      </p:sp>
      <p:sp>
        <p:nvSpPr>
          <p:cNvPr id="26" name="Text 24"/>
          <p:cNvSpPr/>
          <p:nvPr/>
        </p:nvSpPr>
        <p:spPr>
          <a:xfrm>
            <a:off x="3749040" y="4572000"/>
            <a:ext cx="2743200" cy="256032"/>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2. 貢献リスト</a:t>
            </a:r>
            <a:endParaRPr lang="en-US" sz="1150" dirty="0"/>
          </a:p>
        </p:txBody>
      </p:sp>
      <p:sp>
        <p:nvSpPr>
          <p:cNvPr id="27" name="Text 25"/>
          <p:cNvSpPr/>
          <p:nvPr/>
        </p:nvSpPr>
        <p:spPr>
          <a:xfrm>
            <a:off x="3749040" y="4846320"/>
            <a:ext cx="2788920" cy="548640"/>
          </a:xfrm>
          <a:prstGeom prst="rect">
            <a:avLst/>
          </a:prstGeom>
          <a:noFill/>
          <a:ln/>
        </p:spPr>
        <p:txBody>
          <a:bodyPr wrap="square" lIns="0" tIns="0" rIns="0" bIns="0" rtlCol="0" anchor="t"/>
          <a:lstStyle/>
          <a:p>
            <a:pPr indent="0" marL="0">
              <a:lnSpc>
                <a:spcPts val="1400"/>
              </a:lnSpc>
              <a:buNone/>
            </a:pPr>
            <a:r>
              <a:rPr lang="en-US" sz="1050" dirty="0">
                <a:solidFill>
                  <a:srgbClr val="55555F"/>
                </a:solidFill>
                <a:latin typeface="Hiragino Sans" pitchFamily="34" charset="0"/>
                <a:ea typeface="Hiragino Sans" pitchFamily="34" charset="-122"/>
                <a:cs typeface="Hiragino Sans" pitchFamily="34" charset="-120"/>
              </a:rPr>
              <a:t>モデルがソースを改善する循環を閉じる</a:t>
            </a:r>
            <a:endParaRPr lang="en-US" sz="1050" dirty="0"/>
          </a:p>
        </p:txBody>
      </p:sp>
      <p:sp>
        <p:nvSpPr>
          <p:cNvPr id="28" name="Text 26"/>
          <p:cNvSpPr/>
          <p:nvPr/>
        </p:nvSpPr>
        <p:spPr>
          <a:xfrm>
            <a:off x="6675120" y="4572000"/>
            <a:ext cx="2743200" cy="256032"/>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3. ベイレベル構造</a:t>
            </a:r>
            <a:endParaRPr lang="en-US" sz="1150" dirty="0"/>
          </a:p>
        </p:txBody>
      </p:sp>
      <p:sp>
        <p:nvSpPr>
          <p:cNvPr id="29" name="Text 27"/>
          <p:cNvSpPr/>
          <p:nvPr/>
        </p:nvSpPr>
        <p:spPr>
          <a:xfrm>
            <a:off x="6675120" y="4846320"/>
            <a:ext cx="2788920" cy="548640"/>
          </a:xfrm>
          <a:prstGeom prst="rect">
            <a:avLst/>
          </a:prstGeom>
          <a:noFill/>
          <a:ln/>
        </p:spPr>
        <p:txBody>
          <a:bodyPr wrap="square" lIns="0" tIns="0" rIns="0" bIns="0" rtlCol="0" anchor="t"/>
          <a:lstStyle/>
          <a:p>
            <a:pPr indent="0" marL="0">
              <a:lnSpc>
                <a:spcPts val="1400"/>
              </a:lnSpc>
              <a:buNone/>
            </a:pPr>
            <a:r>
              <a:rPr lang="en-US" sz="1050" dirty="0">
                <a:solidFill>
                  <a:srgbClr val="55555F"/>
                </a:solidFill>
                <a:latin typeface="Hiragino Sans" pitchFamily="34" charset="0"/>
                <a:ea typeface="Hiragino Sans" pitchFamily="34" charset="-122"/>
                <a:cs typeface="Hiragino Sans" pitchFamily="34" charset="-120"/>
              </a:rPr>
              <a:t>公開全国モデル上での遮断器レベル解析の前提条件</a:t>
            </a:r>
            <a:endParaRPr lang="en-US" sz="1050" dirty="0"/>
          </a:p>
        </p:txBody>
      </p:sp>
      <p:pic>
        <p:nvPicPr>
          <p:cNvPr id="30" name="Image 0" descr="assets/qr_repo.png">    </p:cNvPr>
          <p:cNvPicPr>
            <a:picLocks noChangeAspect="1"/>
          </p:cNvPicPr>
          <p:nvPr/>
        </p:nvPicPr>
        <p:blipFill>
          <a:blip r:embed="rId1"/>
          <a:stretch>
            <a:fillRect/>
          </a:stretch>
        </p:blipFill>
        <p:spPr>
          <a:xfrm>
            <a:off x="9692640" y="4297680"/>
            <a:ext cx="868680" cy="868680"/>
          </a:xfrm>
          <a:prstGeom prst="rect">
            <a:avLst/>
          </a:prstGeom>
        </p:spPr>
      </p:pic>
      <p:sp>
        <p:nvSpPr>
          <p:cNvPr id="31" name="Text 28"/>
          <p:cNvSpPr/>
          <p:nvPr/>
        </p:nvSpPr>
        <p:spPr>
          <a:xfrm>
            <a:off x="9692640" y="5193792"/>
            <a:ext cx="868680" cy="219456"/>
          </a:xfrm>
          <a:prstGeom prst="rect">
            <a:avLst/>
          </a:prstGeom>
          <a:noFill/>
          <a:ln/>
        </p:spPr>
        <p:txBody>
          <a:bodyPr wrap="square" lIns="0" tIns="0" rIns="0" bIns="0" rtlCol="0" anchor="ctr"/>
          <a:lstStyle/>
          <a:p>
            <a:pPr algn="ctr" indent="0" marL="0">
              <a:buNone/>
            </a:pPr>
            <a:r>
              <a:rPr lang="en-US" sz="900" dirty="0">
                <a:solidFill>
                  <a:srgbClr val="55555F"/>
                </a:solidFill>
                <a:latin typeface="Hiragino Sans" pitchFamily="34" charset="0"/>
                <a:ea typeface="Hiragino Sans" pitchFamily="34" charset="-122"/>
                <a:cs typeface="Hiragino Sans" pitchFamily="34" charset="-120"/>
              </a:rPr>
              <a:t>GitHub</a:t>
            </a:r>
            <a:endParaRPr lang="en-US" sz="900" dirty="0"/>
          </a:p>
        </p:txBody>
      </p:sp>
      <p:pic>
        <p:nvPicPr>
          <p:cNvPr id="32" name="Image 1" descr="assets/qr_viewer.png">    </p:cNvPr>
          <p:cNvPicPr>
            <a:picLocks noChangeAspect="1"/>
          </p:cNvPicPr>
          <p:nvPr/>
        </p:nvPicPr>
        <p:blipFill>
          <a:blip r:embed="rId2"/>
          <a:stretch>
            <a:fillRect/>
          </a:stretch>
        </p:blipFill>
        <p:spPr>
          <a:xfrm>
            <a:off x="10652760" y="4297680"/>
            <a:ext cx="868680" cy="868680"/>
          </a:xfrm>
          <a:prstGeom prst="rect">
            <a:avLst/>
          </a:prstGeom>
        </p:spPr>
      </p:pic>
      <p:sp>
        <p:nvSpPr>
          <p:cNvPr id="33" name="Text 29"/>
          <p:cNvSpPr/>
          <p:nvPr/>
        </p:nvSpPr>
        <p:spPr>
          <a:xfrm>
            <a:off x="10607040" y="5193792"/>
            <a:ext cx="960120" cy="219456"/>
          </a:xfrm>
          <a:prstGeom prst="rect">
            <a:avLst/>
          </a:prstGeom>
          <a:noFill/>
          <a:ln/>
        </p:spPr>
        <p:txBody>
          <a:bodyPr wrap="square" lIns="0" tIns="0" rIns="0" bIns="0" rtlCol="0" anchor="ctr"/>
          <a:lstStyle/>
          <a:p>
            <a:pPr algn="ctr" indent="0" marL="0">
              <a:buNone/>
            </a:pPr>
            <a:r>
              <a:rPr lang="en-US" sz="900" dirty="0">
                <a:solidFill>
                  <a:srgbClr val="55555F"/>
                </a:solidFill>
                <a:latin typeface="Hiragino Sans" pitchFamily="34" charset="0"/>
                <a:ea typeface="Hiragino Sans" pitchFamily="34" charset="-122"/>
                <a:cs typeface="Hiragino Sans" pitchFamily="34" charset="-120"/>
              </a:rPr>
              <a:t>全国ビューア</a:t>
            </a:r>
            <a:endParaRPr lang="en-US" sz="900" dirty="0"/>
          </a:p>
        </p:txBody>
      </p:sp>
      <p:sp>
        <p:nvSpPr>
          <p:cNvPr id="34" name="Text 30"/>
          <p:cNvSpPr/>
          <p:nvPr/>
        </p:nvSpPr>
        <p:spPr>
          <a:xfrm>
            <a:off x="822960" y="5806440"/>
            <a:ext cx="10789920" cy="256032"/>
          </a:xfrm>
          <a:prstGeom prst="rect">
            <a:avLst/>
          </a:prstGeom>
          <a:noFill/>
          <a:ln/>
        </p:spPr>
        <p:txBody>
          <a:bodyPr wrap="square" lIns="0" tIns="0" rIns="0" bIns="0" rtlCol="0" anchor="ctr"/>
          <a:lstStyle/>
          <a:p>
            <a:pPr indent="0" marL="0">
              <a:buNone/>
            </a:pPr>
            <a:r>
              <a:rPr lang="en-US" sz="900" dirty="0">
                <a:solidFill>
                  <a:srgbClr val="55555F"/>
                </a:solidFill>
                <a:latin typeface="Courier New" pitchFamily="34" charset="0"/>
                <a:ea typeface="Courier New" pitchFamily="34" charset="-122"/>
                <a:cs typeface="Courier New" pitchFamily="34" charset="-120"/>
              </a:rPr>
              <a:t>All-Japan-Grid v1.8.0　|　github.com/lutelute/All-Japan-Grid　|　lutelute.github.io/All-Japan-Grid/subsld.html　|　CGMES EQ/GL は scripts/export_cim.py で再生成</a:t>
            </a:r>
            <a:endParaRPr lang="en-US" sz="900" dirty="0"/>
          </a:p>
        </p:txBody>
      </p:sp>
      <p:sp>
        <p:nvSpPr>
          <p:cNvPr id="35" name="Text 31"/>
          <p:cNvSpPr/>
          <p:nvPr/>
        </p:nvSpPr>
        <p:spPr>
          <a:xfrm>
            <a:off x="822960" y="6053328"/>
            <a:ext cx="10789920" cy="256032"/>
          </a:xfrm>
          <a:prstGeom prst="rect">
            <a:avLst/>
          </a:prstGeom>
          <a:noFill/>
          <a:ln/>
        </p:spPr>
        <p:txBody>
          <a:bodyPr wrap="square" lIns="0" tIns="0" rIns="0" bIns="0" rtlCol="0" anchor="ctr"/>
          <a:lstStyle/>
          <a:p>
            <a:pPr indent="0" marL="0">
              <a:buNone/>
            </a:pPr>
            <a:r>
              <a:rPr lang="en-US" sz="900" dirty="0">
                <a:solidFill>
                  <a:srgbClr val="55555F"/>
                </a:solidFill>
                <a:latin typeface="Hiragino Sans" pitchFamily="34" charset="0"/>
                <a:ea typeface="Hiragino Sans" pitchFamily="34" charset="-122"/>
                <a:cs typeface="Hiragino Sans" pitchFamily="34" charset="-120"/>
              </a:rPr>
              <a:t>航空写真：国土地理院　|　ベースマップ：© OpenStreetMap contributors (ODbL)　|　謝辞：本研究を可能にした OpenStreetMap の貢献者に感謝する</a:t>
            </a:r>
            <a:endParaRPr lang="en-US" sz="900" dirty="0"/>
          </a:p>
        </p:txBody>
      </p:sp>
      <p:sp>
        <p:nvSpPr>
          <p:cNvPr id="36" name="Text 32"/>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37" name="Text 33"/>
          <p:cNvSpPr/>
          <p:nvPr/>
        </p:nvSpPr>
        <p:spPr>
          <a:xfrm>
            <a:off x="9692640" y="6510528"/>
            <a:ext cx="1463040" cy="256032"/>
          </a:xfrm>
          <a:prstGeom prst="rect">
            <a:avLst/>
          </a:prstGeom>
          <a:noFill/>
          <a:ln/>
        </p:spPr>
        <p:txBody>
          <a:bodyPr wrap="square" lIns="0" tIns="0" rIns="0" bIns="0" rtlCol="0" anchor="ctr"/>
          <a:lstStyle/>
          <a:p>
            <a:pPr algn="r" indent="0" marL="0">
              <a:buNone/>
            </a:pPr>
            <a:r>
              <a:rPr lang="en-US" sz="900" dirty="0">
                <a:solidFill>
                  <a:srgbClr val="55555F"/>
                </a:solidFill>
                <a:latin typeface="Helvetica Neue" pitchFamily="34" charset="0"/>
                <a:ea typeface="Helvetica Neue" pitchFamily="34" charset="-122"/>
                <a:cs typeface="Helvetica Neue" pitchFamily="34" charset="-120"/>
              </a:rPr>
              <a:t>1:05</a:t>
            </a:r>
            <a:endParaRPr lang="en-US" sz="900" dirty="0"/>
          </a:p>
        </p:txBody>
      </p:sp>
      <p:sp>
        <p:nvSpPr>
          <p:cNvPr id="38" name="Text 34"/>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予備</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Algorithm 1：1変電所ぶんの構造抽出</a:t>
            </a:r>
            <a:endParaRPr lang="en-US" sz="2200" dirty="0"/>
          </a:p>
        </p:txBody>
      </p:sp>
      <p:sp>
        <p:nvSpPr>
          <p:cNvPr id="5" name="Text 3"/>
          <p:cNvSpPr/>
          <p:nvPr/>
        </p:nvSpPr>
        <p:spPr>
          <a:xfrm>
            <a:off x="621792" y="731520"/>
            <a:ext cx="10972800" cy="292608"/>
          </a:xfrm>
          <a:prstGeom prst="rect">
            <a:avLst/>
          </a:prstGeom>
          <a:noFill/>
          <a:ln/>
        </p:spPr>
        <p:txBody>
          <a:bodyPr wrap="square" lIns="0" tIns="0" rIns="0" bIns="0" rtlCol="0" anchor="ctr"/>
          <a:lstStyle/>
          <a:p>
            <a:pPr indent="0" marL="0">
              <a:buNone/>
            </a:pPr>
            <a:r>
              <a:rPr lang="en-US" sz="1200" dirty="0">
                <a:solidFill>
                  <a:srgbClr val="55555F"/>
                </a:solidFill>
                <a:latin typeface="Hiragino Sans" pitchFamily="34" charset="0"/>
                <a:ea typeface="Hiragino Sans" pitchFamily="34" charset="-122"/>
                <a:cs typeface="Hiragino Sans" pitchFamily="34" charset="-120"/>
              </a:rPr>
              <a:t>F の計算的実現（定義そのものは S6）</a:t>
            </a:r>
            <a:endParaRPr lang="en-US" sz="1200" dirty="0"/>
          </a:p>
        </p:txBody>
      </p:sp>
      <p:sp>
        <p:nvSpPr>
          <p:cNvPr id="6" name="Shape 4"/>
          <p:cNvSpPr/>
          <p:nvPr/>
        </p:nvSpPr>
        <p:spPr>
          <a:xfrm>
            <a:off x="822960" y="1188720"/>
            <a:ext cx="6766560" cy="4480560"/>
          </a:xfrm>
          <a:prstGeom prst="roundRect">
            <a:avLst>
              <a:gd name="adj" fmla="val 1224"/>
            </a:avLst>
          </a:prstGeom>
          <a:solidFill>
            <a:srgbClr val="F7F7F2"/>
          </a:solidFill>
          <a:ln w="10160">
            <a:solidFill>
              <a:srgbClr val="E0E0D8"/>
            </a:solidFill>
            <a:prstDash val="solid"/>
          </a:ln>
        </p:spPr>
      </p:sp>
      <p:sp>
        <p:nvSpPr>
          <p:cNvPr id="7" name="Text 5"/>
          <p:cNvSpPr/>
          <p:nvPr/>
        </p:nvSpPr>
        <p:spPr>
          <a:xfrm>
            <a:off x="1051560" y="1417320"/>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入力: 変電所 feature s, 前処理済み ways W</a:t>
            </a:r>
            <a:endParaRPr lang="en-US" sz="1100" dirty="0"/>
          </a:p>
        </p:txBody>
      </p:sp>
      <p:sp>
        <p:nvSpPr>
          <p:cNvPr id="8" name="Text 6"/>
          <p:cNvSpPr/>
          <p:nvPr/>
        </p:nvSpPr>
        <p:spPr>
          <a:xfrm>
            <a:off x="1051560" y="1728216"/>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1: Poly(s) ← shape(s); V ← vcls(tags) ∪ vcls(構内線)</a:t>
            </a:r>
            <a:endParaRPr lang="en-US" sz="1100" dirty="0"/>
          </a:p>
        </p:txBody>
      </p:sp>
      <p:sp>
        <p:nvSpPr>
          <p:cNvPr id="9" name="Text 7"/>
          <p:cNvSpPr/>
          <p:nvPr/>
        </p:nvSpPr>
        <p:spPr>
          <a:xfrm>
            <a:off x="1051560" y="2039112"/>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2: for w ∈ W[busbar]: 頂点共有の連結成分</a:t>
            </a:r>
            <a:endParaRPr lang="en-US" sz="1100" dirty="0"/>
          </a:p>
        </p:txBody>
      </p:sp>
      <p:sp>
        <p:nvSpPr>
          <p:cNvPr id="10" name="Text 8"/>
          <p:cNvSpPr/>
          <p:nvPr/>
        </p:nvSpPr>
        <p:spPr>
          <a:xfrm>
            <a:off x="1051560" y="2350008"/>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     → BusbarSection（無タグは隣接から kv 導出）</a:t>
            </a:r>
            <a:endParaRPr lang="en-US" sz="1100" dirty="0"/>
          </a:p>
        </p:txBody>
      </p:sp>
      <p:sp>
        <p:nvSpPr>
          <p:cNvPr id="11" name="Text 9"/>
          <p:cNvSpPr/>
          <p:nvPr/>
        </p:nvSpPr>
        <p:spPr>
          <a:xfrm>
            <a:off x="1051560" y="2660904"/>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3: for w ∈ W[bay]: 同様 → Bay（接触母線を記録）</a:t>
            </a:r>
            <a:endParaRPr lang="en-US" sz="1100" dirty="0"/>
          </a:p>
        </p:txBody>
      </p:sp>
      <p:sp>
        <p:nvSpPr>
          <p:cNvPr id="12" name="Text 10"/>
          <p:cNvSpPr/>
          <p:nvPr/>
        </p:nvSpPr>
        <p:spPr>
          <a:xfrm>
            <a:off x="1051560" y="2971800"/>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4: for 各本線wayの端点 p:</a:t>
            </a:r>
            <a:endParaRPr lang="en-US" sz="1100" dirty="0"/>
          </a:p>
        </p:txBody>
      </p:sp>
      <p:sp>
        <p:nvSpPr>
          <p:cNvPr id="13" name="Text 11"/>
          <p:cNvSpPr/>
          <p:nvPr/>
        </p:nvSpPr>
        <p:spPr>
          <a:xfrm>
            <a:off x="1051560" y="3282696"/>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5:   b ← binding(p)  … 辞書式最大（S7）</a:t>
            </a:r>
            <a:endParaRPr lang="en-US" sz="1100" dirty="0"/>
          </a:p>
        </p:txBody>
      </p:sp>
      <p:sp>
        <p:nvSpPr>
          <p:cNvPr id="14" name="Text 12"/>
          <p:cNvSpPr/>
          <p:nvPr/>
        </p:nvSpPr>
        <p:spPr>
          <a:xfrm>
            <a:off x="1051560" y="3593592"/>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6:   if b が存在し admit が成立:</a:t>
            </a:r>
            <a:endParaRPr lang="en-US" sz="1100" dirty="0"/>
          </a:p>
        </p:txBody>
      </p:sp>
      <p:sp>
        <p:nvSpPr>
          <p:cNvPr id="15" name="Text 13"/>
          <p:cNvSpPr/>
          <p:nvPr/>
        </p:nvSpPr>
        <p:spPr>
          <a:xfrm>
            <a:off x="1051560" y="3904488"/>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7:     emit Terminal(v, attach, b, par = ĉ(w))</a:t>
            </a:r>
            <a:endParaRPr lang="en-US" sz="1100" dirty="0"/>
          </a:p>
        </p:txBody>
      </p:sp>
      <p:sp>
        <p:nvSpPr>
          <p:cNvPr id="16" name="Text 14"/>
          <p:cNvSpPr/>
          <p:nvPr/>
        </p:nvSpPr>
        <p:spPr>
          <a:xfrm>
            <a:off x="1051560" y="4215384"/>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8: 隣接電圧クラス対 → Transformer (structural)</a:t>
            </a:r>
            <a:endParaRPr lang="en-US" sz="1100" dirty="0"/>
          </a:p>
        </p:txBody>
      </p:sp>
      <p:sp>
        <p:nvSpPr>
          <p:cNvPr id="17" name="Text 15"/>
          <p:cNvSpPr/>
          <p:nvPr/>
        </p:nvSpPr>
        <p:spPr>
          <a:xfrm>
            <a:off x="1051560" y="4526280"/>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9: 階級に強束縛端子が2本以上あり母線wayが無い</a:t>
            </a:r>
            <a:endParaRPr lang="en-US" sz="1100" dirty="0"/>
          </a:p>
        </p:txBody>
      </p:sp>
      <p:sp>
        <p:nvSpPr>
          <p:cNvPr id="18" name="Text 16"/>
          <p:cNvSpPr/>
          <p:nvPr/>
        </p:nvSpPr>
        <p:spPr>
          <a:xfrm>
            <a:off x="1051560" y="4837176"/>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     → 推定母線を emit（印つき）</a:t>
            </a:r>
            <a:endParaRPr lang="en-US" sz="1100" dirty="0"/>
          </a:p>
        </p:txBody>
      </p:sp>
      <p:sp>
        <p:nvSpPr>
          <p:cNvPr id="19" name="Text 17"/>
          <p:cNvSpPr/>
          <p:nvPr/>
        </p:nvSpPr>
        <p:spPr>
          <a:xfrm>
            <a:off x="1051560" y="5148072"/>
            <a:ext cx="6400800" cy="292608"/>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出力: S*（全要素に witness）</a:t>
            </a:r>
            <a:endParaRPr lang="en-US" sz="1100" dirty="0"/>
          </a:p>
        </p:txBody>
      </p:sp>
      <p:sp>
        <p:nvSpPr>
          <p:cNvPr id="20" name="Text 18"/>
          <p:cNvSpPr/>
          <p:nvPr/>
        </p:nvSpPr>
        <p:spPr>
          <a:xfrm>
            <a:off x="7955280" y="1280160"/>
            <a:ext cx="347472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最終ステップの含意</a:t>
            </a:r>
            <a:endParaRPr lang="en-US" sz="1250" dirty="0"/>
          </a:p>
        </p:txBody>
      </p:sp>
      <p:sp>
        <p:nvSpPr>
          <p:cNvPr id="21" name="Text 19"/>
          <p:cNvSpPr/>
          <p:nvPr/>
        </p:nvSpPr>
        <p:spPr>
          <a:xfrm>
            <a:off x="7955280" y="1645920"/>
            <a:ext cx="3474720" cy="3840480"/>
          </a:xfrm>
          <a:prstGeom prst="rect">
            <a:avLst/>
          </a:prstGeom>
          <a:noFill/>
          <a:ln/>
        </p:spPr>
        <p:txBody>
          <a:bodyPr wrap="square" lIns="0" tIns="0" rIns="0" bIns="0" rtlCol="0" anchor="t"/>
          <a:lstStyle/>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GIS・屋内変電所では母線は可視の線として存在せず、観測できない。しかし同一階級に2本以上が強い証拠で束縛されるなら、内部に共通母線があることは電気的に必然である。</a:t>
            </a:r>
            <a:endParaRPr lang="en-US" sz="1100" dirty="0"/>
          </a:p>
          <a:p>
            <a:pPr indent="0" marL="0">
              <a:lnSpc>
                <a:spcPts val="1600"/>
              </a:lnSpc>
              <a:buNone/>
            </a:pPr>
            <a:endParaRPr lang="en-US" sz="1100" dirty="0"/>
          </a:p>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そこで存在のみを主張する推定母線を置く — 幾何も端子の再束縛も主張しない。source = inferred-topology と記録し、図では破線で描く。</a:t>
            </a:r>
            <a:endParaRPr lang="en-US" sz="1100" dirty="0"/>
          </a:p>
          <a:p>
            <a:pPr indent="0" marL="0">
              <a:lnSpc>
                <a:spcPts val="1600"/>
              </a:lnSpc>
              <a:buNone/>
            </a:pPr>
            <a:endParaRPr lang="en-US" sz="1100" dirty="0"/>
          </a:p>
          <a:p>
            <a:pPr indent="0" marL="0">
              <a:lnSpc>
                <a:spcPts val="1600"/>
              </a:lnSpc>
              <a:buNone/>
            </a:pPr>
            <a:r>
              <a:rPr lang="en-US" sz="1100" dirty="0">
                <a:solidFill>
                  <a:srgbClr val="55555F"/>
                </a:solidFill>
                <a:latin typeface="Hiragino Sans" pitchFamily="34" charset="0"/>
                <a:ea typeface="Hiragino Sans" pitchFamily="34" charset="-122"/>
                <a:cs typeface="Hiragino Sans" pitchFamily="34" charset="-120"/>
              </a:rPr>
              <a:t>これにより命題1の健全性は保たれ、注意書きは可視のまま残る。</a:t>
            </a:r>
            <a:endParaRPr lang="en-US" sz="1100" dirty="0"/>
          </a:p>
        </p:txBody>
      </p:sp>
      <p:sp>
        <p:nvSpPr>
          <p:cNvPr id="22" name="Text 20"/>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23" name="Text 21"/>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21792" y="347472"/>
            <a:ext cx="1051560" cy="274320"/>
          </a:xfrm>
          <a:prstGeom prst="roundRect">
            <a:avLst>
              <a:gd name="adj" fmla="val 16667"/>
            </a:avLst>
          </a:prstGeom>
          <a:solidFill>
            <a:srgbClr val="1E2761"/>
          </a:solidFill>
          <a:ln/>
        </p:spPr>
      </p:sp>
      <p:sp>
        <p:nvSpPr>
          <p:cNvPr id="3" name="Text 1"/>
          <p:cNvSpPr/>
          <p:nvPr/>
        </p:nvSpPr>
        <p:spPr>
          <a:xfrm>
            <a:off x="621792" y="347472"/>
            <a:ext cx="1051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Helvetica Neue" pitchFamily="34" charset="0"/>
                <a:ea typeface="Helvetica Neue" pitchFamily="34" charset="-122"/>
                <a:cs typeface="Helvetica Neue" pitchFamily="34" charset="-120"/>
              </a:rPr>
              <a:t>予備</a:t>
            </a:r>
            <a:endParaRPr lang="en-US" sz="1100" dirty="0"/>
          </a:p>
        </p:txBody>
      </p:sp>
      <p:sp>
        <p:nvSpPr>
          <p:cNvPr id="4" name="Text 2"/>
          <p:cNvSpPr/>
          <p:nvPr/>
        </p:nvSpPr>
        <p:spPr>
          <a:xfrm>
            <a:off x="1810512" y="310896"/>
            <a:ext cx="9692640" cy="384048"/>
          </a:xfrm>
          <a:prstGeom prst="rect">
            <a:avLst/>
          </a:prstGeom>
          <a:noFill/>
          <a:ln/>
        </p:spPr>
        <p:txBody>
          <a:bodyPr wrap="square" lIns="0" tIns="0" rIns="0" bIns="0" rtlCol="0" anchor="ctr"/>
          <a:lstStyle/>
          <a:p>
            <a:pPr indent="0" marL="0">
              <a:buNone/>
            </a:pPr>
            <a:r>
              <a:rPr lang="en-US" sz="2200" b="1" dirty="0">
                <a:solidFill>
                  <a:srgbClr val="1A1A1A"/>
                </a:solidFill>
                <a:latin typeface="Hiragino Sans" pitchFamily="34" charset="0"/>
                <a:ea typeface="Hiragino Sans" pitchFamily="34" charset="-122"/>
                <a:cs typeface="Hiragino Sans" pitchFamily="34" charset="-120"/>
              </a:rPr>
              <a:t>本稿の先：開閉器・ループ・2ロール</a:t>
            </a:r>
            <a:endParaRPr lang="en-US" sz="2200" dirty="0"/>
          </a:p>
        </p:txBody>
      </p:sp>
      <p:sp>
        <p:nvSpPr>
          <p:cNvPr id="5" name="Shape 3"/>
          <p:cNvSpPr/>
          <p:nvPr/>
        </p:nvSpPr>
        <p:spPr>
          <a:xfrm>
            <a:off x="822960" y="868680"/>
            <a:ext cx="10607040" cy="384048"/>
          </a:xfrm>
          <a:prstGeom prst="roundRect">
            <a:avLst>
              <a:gd name="adj" fmla="val 11905"/>
            </a:avLst>
          </a:prstGeom>
          <a:solidFill>
            <a:srgbClr val="FFF3F3"/>
          </a:solidFill>
          <a:ln w="13970">
            <a:solidFill>
              <a:srgbClr val="C62828"/>
            </a:solidFill>
            <a:prstDash val="solid"/>
          </a:ln>
        </p:spPr>
      </p:sp>
      <p:sp>
        <p:nvSpPr>
          <p:cNvPr id="6" name="Text 4"/>
          <p:cNvSpPr/>
          <p:nvPr/>
        </p:nvSpPr>
        <p:spPr>
          <a:xfrm>
            <a:off x="1051560" y="868680"/>
            <a:ext cx="10149840" cy="384048"/>
          </a:xfrm>
          <a:prstGeom prst="rect">
            <a:avLst/>
          </a:prstGeom>
          <a:noFill/>
          <a:ln/>
        </p:spPr>
        <p:txBody>
          <a:bodyPr wrap="square" lIns="0" tIns="0" rIns="0" bIns="0" rtlCol="0" anchor="ctr"/>
          <a:lstStyle/>
          <a:p>
            <a:pPr indent="0" marL="0">
              <a:buNone/>
            </a:pPr>
            <a:r>
              <a:rPr lang="en-US" sz="1200" b="1" dirty="0">
                <a:solidFill>
                  <a:srgbClr val="C62828"/>
                </a:solidFill>
                <a:latin typeface="Hiragino Sans" pitchFamily="34" charset="0"/>
                <a:ea typeface="Hiragino Sans" pitchFamily="34" charset="-122"/>
                <a:cs typeface="Hiragino Sans" pitchFamily="34" charset="-120"/>
              </a:rPr>
              <a:t>論文未収載 — v1.8.0 以降の実装であり、本稿の主張には含まれない</a:t>
            </a:r>
            <a:endParaRPr lang="en-US" sz="1200" dirty="0"/>
          </a:p>
        </p:txBody>
      </p:sp>
      <p:sp>
        <p:nvSpPr>
          <p:cNvPr id="7" name="Text 5"/>
          <p:cNvSpPr/>
          <p:nvPr/>
        </p:nvSpPr>
        <p:spPr>
          <a:xfrm>
            <a:off x="822960" y="1417320"/>
            <a:ext cx="512064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① 開閉器（導出）</a:t>
            </a:r>
            <a:endParaRPr lang="en-US" sz="1250" dirty="0"/>
          </a:p>
        </p:txBody>
      </p:sp>
      <p:sp>
        <p:nvSpPr>
          <p:cNvPr id="8" name="Text 6"/>
          <p:cNvSpPr/>
          <p:nvPr/>
        </p:nvSpPr>
        <p:spPr>
          <a:xfrm>
            <a:off x="822960" y="1737360"/>
            <a:ext cx="5120640" cy="685800"/>
          </a:xfrm>
          <a:prstGeom prst="rect">
            <a:avLst/>
          </a:prstGeom>
          <a:noFill/>
          <a:ln/>
        </p:spPr>
        <p:txBody>
          <a:bodyPr wrap="square" lIns="0" tIns="0" rIns="0" bIns="0" rtlCol="0" anchor="ctr"/>
          <a:lstStyle/>
          <a:p>
            <a:pPr indent="0" marL="0">
              <a:lnSpc>
                <a:spcPts val="1500"/>
              </a:lnSpc>
              <a:buNone/>
            </a:pPr>
            <a:r>
              <a:rPr lang="en-US" sz="1100" dirty="0">
                <a:solidFill>
                  <a:srgbClr val="55555F"/>
                </a:solidFill>
                <a:latin typeface="Hiragino Sans" pitchFamily="34" charset="0"/>
                <a:ea typeface="Hiragino Sans" pitchFamily="34" charset="-122"/>
                <a:cs typeface="Hiragino Sans" pitchFamily="34" charset="-120"/>
              </a:rPr>
              <a:t>ベイの位置づけから決定的に導出：2つ以上の母線区分に跨る → coupler、端子が付く → feeder、変圧器の hv/lv → trafo。</a:t>
            </a:r>
            <a:endParaRPr lang="en-US" sz="1100" dirty="0"/>
          </a:p>
          <a:p>
            <a:pPr indent="0" marL="0">
              <a:lnSpc>
                <a:spcPts val="1500"/>
              </a:lnSpc>
              <a:buNone/>
            </a:pPr>
            <a:r>
              <a:rPr lang="en-US" sz="1100" dirty="0">
                <a:solidFill>
                  <a:srgbClr val="55555F"/>
                </a:solidFill>
                <a:latin typeface="Hiragino Sans" pitchFamily="34" charset="0"/>
                <a:ea typeface="Hiragino Sans" pitchFamily="34" charset="-122"/>
                <a:cs typeface="Hiragino Sans" pitchFamily="34" charset="-120"/>
              </a:rPr>
              <a:t>全国 8,386 件（feeder 3,615 / coupler 3,593 / trafo 1,178）。</a:t>
            </a:r>
            <a:endParaRPr lang="en-US" sz="1100" dirty="0"/>
          </a:p>
        </p:txBody>
      </p:sp>
      <p:sp>
        <p:nvSpPr>
          <p:cNvPr id="9" name="Shape 7"/>
          <p:cNvSpPr/>
          <p:nvPr/>
        </p:nvSpPr>
        <p:spPr>
          <a:xfrm>
            <a:off x="1005840" y="2834640"/>
            <a:ext cx="4206240" cy="0"/>
          </a:xfrm>
          <a:prstGeom prst="line">
            <a:avLst/>
          </a:prstGeom>
          <a:noFill/>
          <a:ln w="44450">
            <a:solidFill>
              <a:srgbClr val="D62728"/>
            </a:solidFill>
            <a:prstDash val="solid"/>
          </a:ln>
        </p:spPr>
      </p:sp>
      <p:sp>
        <p:nvSpPr>
          <p:cNvPr id="10" name="Shape 8"/>
          <p:cNvSpPr/>
          <p:nvPr/>
        </p:nvSpPr>
        <p:spPr>
          <a:xfrm>
            <a:off x="1737360" y="2514600"/>
            <a:ext cx="0" cy="320040"/>
          </a:xfrm>
          <a:prstGeom prst="line">
            <a:avLst/>
          </a:prstGeom>
          <a:noFill/>
          <a:ln w="15240">
            <a:solidFill>
              <a:srgbClr val="D62728"/>
            </a:solidFill>
            <a:prstDash val="solid"/>
          </a:ln>
        </p:spPr>
      </p:sp>
      <p:sp>
        <p:nvSpPr>
          <p:cNvPr id="11" name="Shape 9"/>
          <p:cNvSpPr/>
          <p:nvPr/>
        </p:nvSpPr>
        <p:spPr>
          <a:xfrm>
            <a:off x="1655064" y="2432304"/>
            <a:ext cx="164592" cy="164592"/>
          </a:xfrm>
          <a:prstGeom prst="rect">
            <a:avLst/>
          </a:prstGeom>
          <a:solidFill>
            <a:srgbClr val="D62728"/>
          </a:solidFill>
          <a:ln w="17780">
            <a:solidFill>
              <a:srgbClr val="D62728"/>
            </a:solidFill>
            <a:prstDash val="solid"/>
          </a:ln>
        </p:spPr>
      </p:sp>
      <p:sp>
        <p:nvSpPr>
          <p:cNvPr id="12" name="Shape 10"/>
          <p:cNvSpPr/>
          <p:nvPr/>
        </p:nvSpPr>
        <p:spPr>
          <a:xfrm>
            <a:off x="2834640" y="2514600"/>
            <a:ext cx="0" cy="320040"/>
          </a:xfrm>
          <a:prstGeom prst="line">
            <a:avLst/>
          </a:prstGeom>
          <a:noFill/>
          <a:ln w="15240">
            <a:solidFill>
              <a:srgbClr val="D62728"/>
            </a:solidFill>
            <a:prstDash val="solid"/>
          </a:ln>
        </p:spPr>
      </p:sp>
      <p:sp>
        <p:nvSpPr>
          <p:cNvPr id="13" name="Shape 11"/>
          <p:cNvSpPr/>
          <p:nvPr/>
        </p:nvSpPr>
        <p:spPr>
          <a:xfrm>
            <a:off x="2752344" y="2432304"/>
            <a:ext cx="164592" cy="164592"/>
          </a:xfrm>
          <a:prstGeom prst="rect">
            <a:avLst/>
          </a:prstGeom>
          <a:solidFill>
            <a:srgbClr val="FFFFFF"/>
          </a:solidFill>
          <a:ln w="17780">
            <a:solidFill>
              <a:srgbClr val="D62728"/>
            </a:solidFill>
            <a:prstDash val="solid"/>
          </a:ln>
        </p:spPr>
      </p:sp>
      <p:sp>
        <p:nvSpPr>
          <p:cNvPr id="14" name="Shape 12"/>
          <p:cNvSpPr/>
          <p:nvPr/>
        </p:nvSpPr>
        <p:spPr>
          <a:xfrm flipV="1">
            <a:off x="2752344" y="2432304"/>
            <a:ext cx="164592" cy="164592"/>
          </a:xfrm>
          <a:prstGeom prst="line">
            <a:avLst/>
          </a:prstGeom>
          <a:noFill/>
          <a:ln w="15240">
            <a:solidFill>
              <a:srgbClr val="D62728"/>
            </a:solidFill>
            <a:prstDash val="solid"/>
          </a:ln>
        </p:spPr>
      </p:sp>
      <p:sp>
        <p:nvSpPr>
          <p:cNvPr id="15" name="Shape 13"/>
          <p:cNvSpPr/>
          <p:nvPr/>
        </p:nvSpPr>
        <p:spPr>
          <a:xfrm>
            <a:off x="4206240" y="2514600"/>
            <a:ext cx="0" cy="320040"/>
          </a:xfrm>
          <a:prstGeom prst="line">
            <a:avLst/>
          </a:prstGeom>
          <a:noFill/>
          <a:ln w="15240">
            <a:solidFill>
              <a:srgbClr val="D62728"/>
            </a:solidFill>
            <a:prstDash val="solid"/>
          </a:ln>
        </p:spPr>
      </p:sp>
      <p:sp>
        <p:nvSpPr>
          <p:cNvPr id="16" name="Shape 14"/>
          <p:cNvSpPr/>
          <p:nvPr/>
        </p:nvSpPr>
        <p:spPr>
          <a:xfrm>
            <a:off x="4123944" y="2432304"/>
            <a:ext cx="164592" cy="164592"/>
          </a:xfrm>
          <a:prstGeom prst="rect">
            <a:avLst/>
          </a:prstGeom>
          <a:solidFill>
            <a:srgbClr val="D62728"/>
          </a:solidFill>
          <a:ln w="17780">
            <a:solidFill>
              <a:srgbClr val="D62728"/>
            </a:solidFill>
            <a:prstDash val="solid"/>
          </a:ln>
        </p:spPr>
      </p:sp>
      <p:sp>
        <p:nvSpPr>
          <p:cNvPr id="17" name="Text 15"/>
          <p:cNvSpPr/>
          <p:nvPr/>
        </p:nvSpPr>
        <p:spPr>
          <a:xfrm>
            <a:off x="1005840" y="2926080"/>
            <a:ext cx="4206240" cy="256032"/>
          </a:xfrm>
          <a:prstGeom prst="rect">
            <a:avLst/>
          </a:prstGeom>
          <a:noFill/>
          <a:ln/>
        </p:spPr>
        <p:txBody>
          <a:bodyPr wrap="square" lIns="0" tIns="0" rIns="0" bIns="0" rtlCol="0" anchor="ctr"/>
          <a:lstStyle/>
          <a:p>
            <a:pPr indent="0" marL="0">
              <a:buNone/>
            </a:pPr>
            <a:r>
              <a:rPr lang="en-US" sz="1050" dirty="0">
                <a:solidFill>
                  <a:srgbClr val="55555F"/>
                </a:solidFill>
                <a:latin typeface="Hiragino Sans" pitchFamily="34" charset="0"/>
                <a:ea typeface="Hiragino Sans" pitchFamily="34" charset="-122"/>
                <a:cs typeface="Hiragino Sans" pitchFamily="34" charset="-120"/>
              </a:rPr>
              <a:t>□＝閉（導通）　斜線□＝開</a:t>
            </a:r>
            <a:endParaRPr lang="en-US" sz="1050" dirty="0"/>
          </a:p>
        </p:txBody>
      </p:sp>
      <p:sp>
        <p:nvSpPr>
          <p:cNvPr id="18" name="Shape 16"/>
          <p:cNvSpPr/>
          <p:nvPr/>
        </p:nvSpPr>
        <p:spPr>
          <a:xfrm>
            <a:off x="822960" y="3291840"/>
            <a:ext cx="5120640" cy="1051560"/>
          </a:xfrm>
          <a:prstGeom prst="roundRect">
            <a:avLst>
              <a:gd name="adj" fmla="val 4348"/>
            </a:avLst>
          </a:prstGeom>
          <a:solidFill>
            <a:srgbClr val="F7F7F2"/>
          </a:solidFill>
          <a:ln/>
        </p:spPr>
      </p:sp>
      <p:sp>
        <p:nvSpPr>
          <p:cNvPr id="19" name="Text 17"/>
          <p:cNvSpPr/>
          <p:nvPr/>
        </p:nvSpPr>
        <p:spPr>
          <a:xfrm>
            <a:off x="1005840" y="3364992"/>
            <a:ext cx="4800600" cy="914400"/>
          </a:xfrm>
          <a:prstGeom prst="rect">
            <a:avLst/>
          </a:prstGeom>
          <a:noFill/>
          <a:ln/>
        </p:spPr>
        <p:txBody>
          <a:bodyPr wrap="square" lIns="0" tIns="0" rIns="0" bIns="0" rtlCol="0" anchor="ctr"/>
          <a:lstStyle/>
          <a:p>
            <a:pPr indent="0" marL="0">
              <a:lnSpc>
                <a:spcPts val="1300"/>
              </a:lnSpc>
              <a:buNone/>
            </a:pPr>
            <a:r>
              <a:rPr lang="en-US" sz="950" dirty="0">
                <a:solidFill>
                  <a:srgbClr val="1A1A1A"/>
                </a:solidFill>
                <a:latin typeface="Hiragino Sans" pitchFamily="34" charset="0"/>
                <a:ea typeface="Hiragino Sans" pitchFamily="34" charset="-122"/>
                <a:cs typeface="Hiragino Sans" pitchFamily="34" charset="-120"/>
              </a:rPr>
              <a:t>観測ではない：source = inferred-bay。OSM に breaker タグは通常無い。</a:t>
            </a:r>
            <a:endParaRPr lang="en-US" sz="950" dirty="0"/>
          </a:p>
          <a:p>
            <a:pPr indent="0" marL="0">
              <a:lnSpc>
                <a:spcPts val="1300"/>
              </a:lnSpc>
              <a:buNone/>
            </a:pPr>
            <a:r>
              <a:rPr lang="en-US" sz="950" dirty="0">
                <a:solidFill>
                  <a:srgbClr val="1A1A1A"/>
                </a:solidFill>
                <a:latin typeface="Hiragino Sans" pitchFamily="34" charset="0"/>
                <a:ea typeface="Hiragino Sans" pitchFamily="34" charset="-122"/>
                <a:cs typeface="Hiragino Sans" pitchFamily="34" charset="-120"/>
              </a:rPr>
              <a:t>CIM へは cim:Breaker 8,174 件（電圧不明の階級は写像しないため差分 212 件）。</a:t>
            </a:r>
            <a:endParaRPr lang="en-US" sz="950" dirty="0"/>
          </a:p>
          <a:p>
            <a:pPr indent="0" marL="0">
              <a:lnSpc>
                <a:spcPts val="1300"/>
              </a:lnSpc>
              <a:buNone/>
            </a:pPr>
            <a:r>
              <a:rPr lang="en-US" sz="950" dirty="0">
                <a:solidFill>
                  <a:srgbClr val="1A1A1A"/>
                </a:solidFill>
                <a:latin typeface="Hiragino Sans" pitchFamily="34" charset="0"/>
                <a:ea typeface="Hiragino Sans" pitchFamily="34" charset="-122"/>
                <a:cs typeface="Hiragino Sans" pitchFamily="34" charset="-120"/>
              </a:rPr>
              <a:t>normalOpen = 開 は coupler に一律付与した運用上の既定であり、事業者別の実データではない。</a:t>
            </a:r>
            <a:endParaRPr lang="en-US" sz="950" dirty="0"/>
          </a:p>
        </p:txBody>
      </p:sp>
      <p:sp>
        <p:nvSpPr>
          <p:cNvPr id="20" name="Text 18"/>
          <p:cNvSpPr/>
          <p:nvPr/>
        </p:nvSpPr>
        <p:spPr>
          <a:xfrm>
            <a:off x="6309360" y="1417320"/>
            <a:ext cx="512064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② ループ（事実。ただし被覆に縛られる）</a:t>
            </a:r>
            <a:endParaRPr lang="en-US" sz="1250" dirty="0"/>
          </a:p>
        </p:txBody>
      </p:sp>
      <p:pic>
        <p:nvPicPr>
          <p:cNvPr id="21" name="Image 0" descr="assets/fig_loops.png">    </p:cNvPr>
          <p:cNvPicPr>
            <a:picLocks noChangeAspect="1"/>
          </p:cNvPicPr>
          <p:nvPr/>
        </p:nvPicPr>
        <p:blipFill>
          <a:blip r:embed="rId1"/>
          <a:stretch>
            <a:fillRect/>
          </a:stretch>
        </p:blipFill>
        <p:spPr>
          <a:xfrm>
            <a:off x="6309360" y="1737360"/>
            <a:ext cx="5120640" cy="1508760"/>
          </a:xfrm>
          <a:prstGeom prst="rect">
            <a:avLst/>
          </a:prstGeom>
        </p:spPr>
      </p:pic>
      <p:sp>
        <p:nvSpPr>
          <p:cNvPr id="22" name="Text 19"/>
          <p:cNvSpPr/>
          <p:nvPr/>
        </p:nvSpPr>
        <p:spPr>
          <a:xfrm>
            <a:off x="6309360" y="3291840"/>
            <a:ext cx="5120640" cy="1051560"/>
          </a:xfrm>
          <a:prstGeom prst="rect">
            <a:avLst/>
          </a:prstGeom>
          <a:noFill/>
          <a:ln/>
        </p:spPr>
        <p:txBody>
          <a:bodyPr wrap="square" lIns="0" tIns="0" rIns="0" bIns="0" rtlCol="0" anchor="ctr"/>
          <a:lstStyle/>
          <a:p>
            <a:pPr indent="0" marL="0">
              <a:lnSpc>
                <a:spcPts val="1300"/>
              </a:lnSpc>
              <a:buNone/>
            </a:pPr>
            <a:r>
              <a:rPr lang="en-US" sz="950" dirty="0">
                <a:solidFill>
                  <a:srgbClr val="55555F"/>
                </a:solidFill>
                <a:latin typeface="Hiragino Sans" pitchFamily="34" charset="0"/>
                <a:ea typeface="Hiragino Sans" pitchFamily="34" charset="-122"/>
                <a:cs typeface="Hiragino Sans" pitchFamily="34" charset="-120"/>
              </a:rPr>
              <a:t>circuit rank = E − V + C を同期島単位で算出。図の値をそのまま読む。</a:t>
            </a:r>
            <a:endParaRPr lang="en-US" sz="950" dirty="0"/>
          </a:p>
          <a:p>
            <a:pPr indent="0" marL="0">
              <a:lnSpc>
                <a:spcPts val="1300"/>
              </a:lnSpc>
              <a:buNone/>
            </a:pPr>
            <a:r>
              <a:rPr lang="en-US" sz="950" dirty="0">
                <a:solidFill>
                  <a:srgbClr val="55555F"/>
                </a:solidFill>
                <a:latin typeface="Hiragino Sans" pitchFamily="34" charset="0"/>
                <a:ea typeface="Hiragino Sans" pitchFamily="34" charset="-122"/>
                <a:cs typeface="Hiragino Sans" pitchFamily="34" charset="-120"/>
              </a:rPr>
              <a:t>ループはグラフから決まる事実で推定を含まないが、モデルの OSM 被覆に縛られる — 欠測で切れている箇所も橋として現れる。</a:t>
            </a:r>
            <a:endParaRPr lang="en-US" sz="950" dirty="0"/>
          </a:p>
          <a:p>
            <a:pPr indent="0" marL="0">
              <a:lnSpc>
                <a:spcPts val="1300"/>
              </a:lnSpc>
              <a:buNone/>
            </a:pPr>
            <a:r>
              <a:rPr lang="en-US" sz="950" dirty="0">
                <a:solidFill>
                  <a:srgbClr val="55555F"/>
                </a:solidFill>
                <a:latin typeface="Hiragino Sans" pitchFamily="34" charset="0"/>
                <a:ea typeface="Hiragino Sans" pitchFamily="34" charset="-122"/>
                <a:cs typeface="Hiragino Sans" pitchFamily="34" charset="-120"/>
              </a:rPr>
              <a:t>※(c) の母数 n=9,259 は built のノード数で、本編 S10 の 7,239（構造DB のサイト数）とは母数が違う。</a:t>
            </a:r>
            <a:endParaRPr lang="en-US" sz="950" dirty="0"/>
          </a:p>
        </p:txBody>
      </p:sp>
      <p:sp>
        <p:nvSpPr>
          <p:cNvPr id="23" name="Text 20"/>
          <p:cNvSpPr/>
          <p:nvPr/>
        </p:nvSpPr>
        <p:spPr>
          <a:xfrm>
            <a:off x="822960" y="4526280"/>
            <a:ext cx="5120640" cy="274320"/>
          </a:xfrm>
          <a:prstGeom prst="rect">
            <a:avLst/>
          </a:prstGeom>
          <a:noFill/>
          <a:ln/>
        </p:spPr>
        <p:txBody>
          <a:bodyPr wrap="square" lIns="0" tIns="0" rIns="0" bIns="0" rtlCol="0" anchor="ctr"/>
          <a:lstStyle/>
          <a:p>
            <a:pPr indent="0" marL="0">
              <a:buNone/>
            </a:pPr>
            <a:r>
              <a:rPr lang="en-US" sz="1250" b="1" dirty="0">
                <a:solidFill>
                  <a:srgbClr val="1E2761"/>
                </a:solidFill>
                <a:latin typeface="Hiragino Sans" pitchFamily="34" charset="0"/>
                <a:ea typeface="Hiragino Sans" pitchFamily="34" charset="-122"/>
                <a:cs typeface="Hiragino Sans" pitchFamily="34" charset="-120"/>
              </a:rPr>
              <a:t>③ 2つのロール（ビューア実装）</a:t>
            </a:r>
            <a:endParaRPr lang="en-US" sz="1250" dirty="0"/>
          </a:p>
        </p:txBody>
      </p:sp>
      <p:sp>
        <p:nvSpPr>
          <p:cNvPr id="24" name="Shape 21"/>
          <p:cNvSpPr/>
          <p:nvPr/>
        </p:nvSpPr>
        <p:spPr>
          <a:xfrm>
            <a:off x="822960" y="4846320"/>
            <a:ext cx="5120640" cy="1234440"/>
          </a:xfrm>
          <a:prstGeom prst="roundRect">
            <a:avLst>
              <a:gd name="adj" fmla="val 4444"/>
            </a:avLst>
          </a:prstGeom>
          <a:solidFill>
            <a:srgbClr val="F4F4F6"/>
          </a:solidFill>
          <a:ln/>
        </p:spPr>
      </p:sp>
      <p:sp>
        <p:nvSpPr>
          <p:cNvPr id="25" name="Shape 22"/>
          <p:cNvSpPr/>
          <p:nvPr/>
        </p:nvSpPr>
        <p:spPr>
          <a:xfrm>
            <a:off x="1024128" y="5029200"/>
            <a:ext cx="128016" cy="128016"/>
          </a:xfrm>
          <a:prstGeom prst="rect">
            <a:avLst/>
          </a:prstGeom>
          <a:solidFill>
            <a:srgbClr val="1E2761"/>
          </a:solidFill>
          <a:ln/>
        </p:spPr>
      </p:sp>
      <p:sp>
        <p:nvSpPr>
          <p:cNvPr id="26" name="Text 23"/>
          <p:cNvSpPr/>
          <p:nvPr/>
        </p:nvSpPr>
        <p:spPr>
          <a:xfrm>
            <a:off x="1243584" y="4937760"/>
            <a:ext cx="4572000" cy="310896"/>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制御所</a:t>
            </a:r>
            <a:endParaRPr lang="en-US" sz="1150" dirty="0"/>
          </a:p>
        </p:txBody>
      </p:sp>
      <p:sp>
        <p:nvSpPr>
          <p:cNvPr id="27" name="Text 24"/>
          <p:cNvSpPr/>
          <p:nvPr/>
        </p:nvSpPr>
        <p:spPr>
          <a:xfrm>
            <a:off x="1042416" y="5285232"/>
            <a:ext cx="4681728" cy="685800"/>
          </a:xfrm>
          <a:prstGeom prst="rect">
            <a:avLst/>
          </a:prstGeom>
          <a:noFill/>
          <a:ln/>
        </p:spPr>
        <p:txBody>
          <a:bodyPr wrap="square" lIns="0" tIns="0" rIns="0" bIns="0" rtlCol="0" anchor="t"/>
          <a:lstStyle/>
          <a:p>
            <a:pPr indent="0" marL="0">
              <a:lnSpc>
                <a:spcPts val="1600"/>
              </a:lnSpc>
              <a:buNone/>
            </a:pPr>
            <a:r>
              <a:rPr lang="en-US" sz="950" dirty="0">
                <a:solidFill>
                  <a:srgbClr val="55555F"/>
                </a:solidFill>
                <a:latin typeface="Hiragino Sans" pitchFamily="34" charset="0"/>
                <a:ea typeface="Hiragino Sans" pitchFamily="34" charset="-122"/>
                <a:cs typeface="Hiragino Sans" pitchFamily="34" charset="-120"/>
              </a:rPr>
              <a:t>1変電所の開閉器を操作し、母線区分の充電状態を Union-Find で再計算して表示。平常時からの操作差分を追跡・復帰できる。</a:t>
            </a:r>
            <a:endParaRPr lang="en-US" sz="950" dirty="0"/>
          </a:p>
        </p:txBody>
      </p:sp>
      <p:sp>
        <p:nvSpPr>
          <p:cNvPr id="28" name="Shape 25"/>
          <p:cNvSpPr/>
          <p:nvPr/>
        </p:nvSpPr>
        <p:spPr>
          <a:xfrm>
            <a:off x="6309360" y="4846320"/>
            <a:ext cx="5120640" cy="1234440"/>
          </a:xfrm>
          <a:prstGeom prst="roundRect">
            <a:avLst>
              <a:gd name="adj" fmla="val 4444"/>
            </a:avLst>
          </a:prstGeom>
          <a:solidFill>
            <a:srgbClr val="F4F4F6"/>
          </a:solidFill>
          <a:ln/>
        </p:spPr>
      </p:sp>
      <p:sp>
        <p:nvSpPr>
          <p:cNvPr id="29" name="Shape 26"/>
          <p:cNvSpPr/>
          <p:nvPr/>
        </p:nvSpPr>
        <p:spPr>
          <a:xfrm>
            <a:off x="6510528" y="5029200"/>
            <a:ext cx="128016" cy="128016"/>
          </a:xfrm>
          <a:prstGeom prst="rect">
            <a:avLst/>
          </a:prstGeom>
          <a:solidFill>
            <a:srgbClr val="1E2761"/>
          </a:solidFill>
          <a:ln/>
        </p:spPr>
      </p:sp>
      <p:sp>
        <p:nvSpPr>
          <p:cNvPr id="30" name="Text 27"/>
          <p:cNvSpPr/>
          <p:nvPr/>
        </p:nvSpPr>
        <p:spPr>
          <a:xfrm>
            <a:off x="6729984" y="4937760"/>
            <a:ext cx="4572000" cy="310896"/>
          </a:xfrm>
          <a:prstGeom prst="rect">
            <a:avLst/>
          </a:prstGeom>
          <a:noFill/>
          <a:ln/>
        </p:spPr>
        <p:txBody>
          <a:bodyPr wrap="square" lIns="0" tIns="0" rIns="0" bIns="0" rtlCol="0" anchor="ctr"/>
          <a:lstStyle/>
          <a:p>
            <a:pPr indent="0" marL="0">
              <a:buNone/>
            </a:pPr>
            <a:r>
              <a:rPr lang="en-US" sz="1150" b="1" dirty="0">
                <a:solidFill>
                  <a:srgbClr val="1A1A1A"/>
                </a:solidFill>
                <a:latin typeface="Hiragino Sans" pitchFamily="34" charset="0"/>
                <a:ea typeface="Hiragino Sans" pitchFamily="34" charset="-122"/>
                <a:cs typeface="Hiragino Sans" pitchFamily="34" charset="-120"/>
              </a:rPr>
              <a:t>中央給電指令所</a:t>
            </a:r>
            <a:endParaRPr lang="en-US" sz="1150" dirty="0"/>
          </a:p>
        </p:txBody>
      </p:sp>
      <p:sp>
        <p:nvSpPr>
          <p:cNvPr id="31" name="Text 28"/>
          <p:cNvSpPr/>
          <p:nvPr/>
        </p:nvSpPr>
        <p:spPr>
          <a:xfrm>
            <a:off x="6528816" y="5285232"/>
            <a:ext cx="4681728" cy="685800"/>
          </a:xfrm>
          <a:prstGeom prst="rect">
            <a:avLst/>
          </a:prstGeom>
          <a:noFill/>
          <a:ln/>
        </p:spPr>
        <p:txBody>
          <a:bodyPr wrap="square" lIns="0" tIns="0" rIns="0" bIns="0" rtlCol="0" anchor="t"/>
          <a:lstStyle/>
          <a:p>
            <a:pPr indent="0" marL="0">
              <a:lnSpc>
                <a:spcPts val="1600"/>
              </a:lnSpc>
              <a:buNone/>
            </a:pPr>
            <a:r>
              <a:rPr lang="en-US" sz="950" dirty="0">
                <a:solidFill>
                  <a:srgbClr val="55555F"/>
                </a:solidFill>
                <a:latin typeface="Hiragino Sans" pitchFamily="34" charset="0"/>
                <a:ea typeface="Hiragino Sans" pitchFamily="34" charset="-122"/>
                <a:cs typeface="Hiragino Sans" pitchFamily="34" charset="-120"/>
              </a:rPr>
              <a:t>全国の開閉点を地域別に俯瞰し、操作中の変電所を集約する。ループ構造の表もここに出る。</a:t>
            </a:r>
            <a:endParaRPr lang="en-US" sz="950" dirty="0"/>
          </a:p>
        </p:txBody>
      </p:sp>
      <p:sp>
        <p:nvSpPr>
          <p:cNvPr id="32" name="Text 29"/>
          <p:cNvSpPr/>
          <p:nvPr/>
        </p:nvSpPr>
        <p:spPr>
          <a:xfrm>
            <a:off x="640080" y="6510528"/>
            <a:ext cx="5486400" cy="256032"/>
          </a:xfrm>
          <a:prstGeom prst="rect">
            <a:avLst/>
          </a:prstGeom>
          <a:noFill/>
          <a:ln/>
        </p:spPr>
        <p:txBody>
          <a:bodyPr wrap="square" lIns="0" tIns="0" rIns="0" bIns="0" rtlCol="0" anchor="ctr"/>
          <a:lstStyle/>
          <a:p>
            <a:pPr indent="0" marL="0">
              <a:buNone/>
            </a:pPr>
            <a:r>
              <a:rPr lang="en-US" sz="900" dirty="0">
                <a:solidFill>
                  <a:srgbClr val="55555F"/>
                </a:solidFill>
                <a:latin typeface="Helvetica Neue" pitchFamily="34" charset="0"/>
                <a:ea typeface="Helvetica Neue" pitchFamily="34" charset="-122"/>
                <a:cs typeface="Helvetica Neue" pitchFamily="34" charset="-120"/>
              </a:rPr>
              <a:t>SubSLD — All-Japan-Grid</a:t>
            </a:r>
            <a:endParaRPr lang="en-US" sz="900" dirty="0"/>
          </a:p>
        </p:txBody>
      </p:sp>
      <p:sp>
        <p:nvSpPr>
          <p:cNvPr id="33" name="Text 30"/>
          <p:cNvSpPr/>
          <p:nvPr/>
        </p:nvSpPr>
        <p:spPr>
          <a:xfrm>
            <a:off x="11338560" y="6510528"/>
            <a:ext cx="457200" cy="256032"/>
          </a:xfrm>
          <a:prstGeom prst="rect">
            <a:avLst/>
          </a:prstGeom>
          <a:noFill/>
          <a:ln/>
        </p:spPr>
        <p:txBody>
          <a:bodyPr wrap="square" lIns="0" tIns="0" rIns="0" bIns="0" rtlCol="0" anchor="ctr"/>
          <a:lstStyle/>
          <a:p>
            <a:pPr algn="r" indent="0" marL="0">
              <a:buNone/>
            </a:pPr>
            <a:r>
              <a:rPr lang="en-US" sz="1000" dirty="0">
                <a:solidFill>
                  <a:srgbClr val="55555F"/>
                </a:solidFill>
                <a:latin typeface="Helvetica Neue" pitchFamily="34" charset="0"/>
                <a:ea typeface="Helvetica Neue" pitchFamily="34" charset="-122"/>
                <a:cs typeface="Helvetica Neue"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2026-08-28T16:41:35Z</dcterms:created>
  <dcterms:modified xsi:type="dcterms:W3CDTF">2026-08-28T16:41:35Z</dcterms:modified>
</cp:coreProperties>
</file>