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Hiragino Sans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Hiragino Sans"/>
              </a:rPr>
              <a:t>母線way記載率(%) — 地域差の実測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母線way記載率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Helvetica Neu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北海道</c:v>
                  </c:pt>
                  <c:pt idx="1">
                    <c:v>北陸</c:v>
                  </c:pt>
                  <c:pt idx="2">
                    <c:v>東北</c:v>
                  </c:pt>
                  <c:pt idx="3">
                    <c:v>四国</c:v>
                  </c:pt>
                  <c:pt idx="4">
                    <c:v>中国</c:v>
                  </c:pt>
                  <c:pt idx="5">
                    <c:v>九州</c:v>
                  </c:pt>
                  <c:pt idx="6">
                    <c:v>中部</c:v>
                  </c:pt>
                  <c:pt idx="7">
                    <c:v>関西</c:v>
                  </c:pt>
                  <c:pt idx="8">
                    <c:v>東京</c:v>
                  </c:pt>
                  <c:pt idx="9">
                    <c:v>沖縄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53.3</c:v>
                </c:pt>
                <c:pt idx="1">
                  <c:v>25.5</c:v>
                </c:pt>
                <c:pt idx="2">
                  <c:v>25.2</c:v>
                </c:pt>
                <c:pt idx="3">
                  <c:v>11.7</c:v>
                </c:pt>
                <c:pt idx="4">
                  <c:v>10.9</c:v>
                </c:pt>
                <c:pt idx="5">
                  <c:v>10.3</c:v>
                </c:pt>
                <c:pt idx="6">
                  <c:v>10</c:v>
                </c:pt>
                <c:pt idx="7">
                  <c:v>8.1</c:v>
                </c:pt>
                <c:pt idx="8">
                  <c:v>5.2</c:v>
                </c:pt>
                <c:pt idx="9">
                  <c:v>5.1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Helvetica Neu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Hiragino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b"/>
        <c:majorGridlines>
          <c:spPr>
            <a:ln w="6350" cap="flat">
              <a:solidFill>
                <a:srgbClr val="E3E3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F"/>
                </a:solidFill>
                <a:latin typeface="Helvetica Neu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10607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3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SubSLD法：公開地理データからの</a:t>
            </a:r>
            <a:endParaRPr lang="en-US" sz="33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3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変電所内部構成の実証的機械生成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850392" y="27432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Evidence-Paired Substation Single-Line Diagramming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" y="3291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All-Japan-Grid Project  /  2026-08-26</a:t>
            </a:r>
            <a:endParaRPr lang="en-US" sz="1300" dirty="0"/>
          </a:p>
        </p:txBody>
      </p:sp>
      <p:pic>
        <p:nvPicPr>
          <p:cNvPr id="5" name="Image 0" descr="assets/geo_shinkeiy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160520"/>
            <a:ext cx="12188952" cy="2697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図: GeoPane(新京葉変電所) — OSM実証拠を地理院写真上に重畳した実出力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背景と貢献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課題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系統解析に必要な変電所内部構成（母線・変圧器・回線・導体）は事業者内部資料であり、研究利用できる全国データが存在しない。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先行実証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嶺南変電所1所において、OSM実データのみから node-breaker 構造を手作業で確認できた（2026-07, GridStitch P2）。本手法はその全国機械化である。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0" y="1600200"/>
            <a:ext cx="5212080" cy="1024128"/>
          </a:xfrm>
          <a:prstGeom prst="roundRect">
            <a:avLst>
              <a:gd name="adj" fmla="val 5357"/>
            </a:avLst>
          </a:prstGeom>
          <a:solidFill>
            <a:srgbClr val="F4F4F6"/>
          </a:solidFill>
          <a:ln/>
        </p:spPr>
      </p:sp>
      <p:sp>
        <p:nvSpPr>
          <p:cNvPr id="6" name="Text 4"/>
          <p:cNvSpPr/>
          <p:nvPr/>
        </p:nvSpPr>
        <p:spPr>
          <a:xfrm>
            <a:off x="6629400" y="185623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269480" y="1728216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全国6,956変電所の内部構造（母線・ベイ・端子・変圧器）をOSM実証拠のみから決定的に抽出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0" y="2770632"/>
            <a:ext cx="5212080" cy="1024128"/>
          </a:xfrm>
          <a:prstGeom prst="roundRect">
            <a:avLst>
              <a:gd name="adj" fmla="val 5357"/>
            </a:avLst>
          </a:prstGeom>
          <a:solidFill>
            <a:srgbClr val="F4F4F6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302666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269480" y="289864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回線数・導体数を線タグから変電所単位に集約（証拠と推計を分離保持）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0" y="3941064"/>
            <a:ext cx="5212080" cy="1024128"/>
          </a:xfrm>
          <a:prstGeom prst="roundRect">
            <a:avLst>
              <a:gd name="adj" fmla="val 5357"/>
            </a:avLst>
          </a:prstGeom>
          <a:solidFill>
            <a:srgbClr val="F4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419709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69480" y="40690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構内幾何×単線結線図の「実証ペア図」を全所自動生成（衛星重畳・根拠付き）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5111496"/>
            <a:ext cx="5212080" cy="1024128"/>
          </a:xfrm>
          <a:prstGeom prst="roundRect">
            <a:avLst>
              <a:gd name="adj" fmla="val 5357"/>
            </a:avLst>
          </a:prstGeom>
          <a:solidFill>
            <a:srgbClr val="F4F4F6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536752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269480" y="523951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捏造ゼロ・全端子根拠・推定明記・再現可能という検証可能性の設計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 PROBLEM SETTING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問題設定と表記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入力はOSM由来の地域別データ（変電所ポリゴン・送電線way・タグ）。座標は約1m格子に量子化して同一設備を融合し、同期島ごとの座標グラフを構成する。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72800" cy="1371600"/>
          </a:xfrm>
          <a:prstGeom prst="roundRect">
            <a:avLst>
              <a:gd name="adj" fmla="val 4000"/>
            </a:avLst>
          </a:prstGeom>
          <a:solidFill>
            <a:srgbClr val="F4F4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0428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= ( round(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φ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5),  round(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λ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5) 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2907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約1m格子への量子化 — 同一設備の融合キー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230428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pPr algn="ctr" indent="0" marL="0">
              <a:buNone/>
            </a:pPr>
            <a:r>
              <a:rPr lang="en-US" sz="2100" i="1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( 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pPr algn="ctr" indent="0" marL="0">
              <a:buNone/>
            </a:pPr>
            <a:r>
              <a:rPr lang="en-US" sz="2100" i="1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 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</a:t>
            </a:r>
            <a:pPr algn="ctr" indent="0" marL="0">
              <a:buNone/>
            </a:pPr>
            <a:r>
              <a:rPr lang="en-US" sz="2100" i="1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309360" y="2907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同期島 I ごとの座標グラフ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記号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s,  Poly(s)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402336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変電所サイトとその敷地ポリゴン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4988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W_busbar / W_bay / W_main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449884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構内way（line=busbar / bay）と本線way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97433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∈ Terminals(s)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4974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線端の束縛レコード（根拠 binding を保持）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544982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kv_v,  L(s,v)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5449824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電圧階級 v と、その階級に束縛された線集合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59253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far(g)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592531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線グループ g の対向変電所集合（connections + 線名から解決）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 METHOD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3段パイプライン（データフロー）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F4F4F6"/>
          </a:solidFill>
          <a:ln w="9525">
            <a:solidFill>
              <a:srgbClr val="D8D8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37360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OSM 地域別データ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substations / lines / タグ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520440" y="1691640"/>
            <a:ext cx="214884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3611880" y="16916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① GridStitch P2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構造抽出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3017520"/>
            <a:ext cx="2423160" cy="9144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9525">
            <a:solidFill>
              <a:srgbClr val="D8D8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301752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構造DB（node-breaker）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Site / VL / Busbar / Bay /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Terminal / Trafo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0" y="1691640"/>
            <a:ext cx="214884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6916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② プロパティ層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回線・導体の集約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3017520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9525">
            <a:solidFill>
              <a:srgbClr val="D8D8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3017520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substation_properties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（5,920サイト）+ sub_props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235440" y="1691640"/>
            <a:ext cx="224028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0" y="16916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③ SubSLD 描画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GeoPane × SLDPane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89720" y="3017520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9525">
            <a:solidFill>
              <a:srgbClr val="D8D8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99448" y="3017520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実証ペア図 PNG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 6,956所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26080" y="2121408"/>
            <a:ext cx="566928" cy="0"/>
          </a:xfrm>
          <a:prstGeom prst="line">
            <a:avLst/>
          </a:prstGeom>
          <a:noFill/>
          <a:ln w="20320">
            <a:solidFill>
              <a:srgbClr val="55555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90288" y="2578608"/>
            <a:ext cx="0" cy="420624"/>
          </a:xfrm>
          <a:prstGeom prst="line">
            <a:avLst/>
          </a:prstGeom>
          <a:noFill/>
          <a:ln w="20320">
            <a:solidFill>
              <a:srgbClr val="55555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87568" y="2121408"/>
            <a:ext cx="685800" cy="0"/>
          </a:xfrm>
          <a:prstGeom prst="line">
            <a:avLst/>
          </a:prstGeom>
          <a:noFill/>
          <a:ln w="20320">
            <a:solidFill>
              <a:srgbClr val="55555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70648" y="2578608"/>
            <a:ext cx="0" cy="420624"/>
          </a:xfrm>
          <a:prstGeom prst="line">
            <a:avLst/>
          </a:prstGeom>
          <a:noFill/>
          <a:ln w="20320">
            <a:solidFill>
              <a:srgbClr val="55555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567928" y="2121408"/>
            <a:ext cx="640080" cy="0"/>
          </a:xfrm>
          <a:prstGeom prst="line">
            <a:avLst/>
          </a:prstGeom>
          <a:noFill/>
          <a:ln w="20320">
            <a:solidFill>
              <a:srgbClr val="55555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332720" y="2578608"/>
            <a:ext cx="0" cy="420624"/>
          </a:xfrm>
          <a:prstGeom prst="line">
            <a:avLst/>
          </a:prstGeom>
          <a:noFill/>
          <a:ln w="20320">
            <a:solidFill>
              <a:srgbClr val="55555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189720" y="4224528"/>
            <a:ext cx="2331720" cy="841248"/>
          </a:xfrm>
          <a:prstGeom prst="roundRect">
            <a:avLst>
              <a:gd name="adj" fmla="val 6522"/>
            </a:avLst>
          </a:prstGeom>
          <a:solidFill>
            <a:srgbClr val="F4F4F6"/>
          </a:solidFill>
          <a:ln w="9525">
            <a:solidFill>
              <a:srgbClr val="D8D8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99448" y="4224528"/>
            <a:ext cx="21122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③の補助入力: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地理院タイル・鉄塔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connections（対向解決）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332720" y="3968496"/>
            <a:ext cx="0" cy="237744"/>
          </a:xfrm>
          <a:prstGeom prst="line">
            <a:avLst/>
          </a:prstGeom>
          <a:noFill/>
          <a:ln w="20320">
            <a:solidFill>
              <a:srgbClr val="55555F"/>
            </a:solidFill>
            <a:prstDash val="solid"/>
            <a:headEnd type="triangle"/>
          </a:ln>
        </p:spPr>
      </p:sp>
      <p:sp>
        <p:nvSpPr>
          <p:cNvPr id="27" name="Shape 25"/>
          <p:cNvSpPr/>
          <p:nvPr/>
        </p:nvSpPr>
        <p:spPr>
          <a:xfrm>
            <a:off x="640080" y="5504688"/>
            <a:ext cx="146304" cy="146304"/>
          </a:xfrm>
          <a:prstGeom prst="rect">
            <a:avLst/>
          </a:prstGeom>
          <a:solidFill>
            <a:srgbClr val="17BECF"/>
          </a:solidFill>
          <a:ln/>
        </p:spPr>
      </p:sp>
      <p:sp>
        <p:nvSpPr>
          <p:cNvPr id="28" name="Text 26"/>
          <p:cNvSpPr/>
          <p:nvPr/>
        </p:nvSpPr>
        <p:spPr>
          <a:xfrm>
            <a:off x="896112" y="5394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決定的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96112" y="57790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同一入力→同一出力。OSM更新に全所追随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17136" y="5504688"/>
            <a:ext cx="146304" cy="146304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31" name="Text 29"/>
          <p:cNvSpPr/>
          <p:nvPr/>
        </p:nvSpPr>
        <p:spPr>
          <a:xfrm>
            <a:off x="4773168" y="5394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根拠付き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773168" y="57790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 Terminal に binding（証拠語彙）を刻む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394192" y="5504688"/>
            <a:ext cx="146304" cy="146304"/>
          </a:xfrm>
          <a:prstGeom prst="rect">
            <a:avLst/>
          </a:prstGeom>
          <a:solidFill>
            <a:srgbClr val="9467BD"/>
          </a:solidFill>
          <a:ln/>
        </p:spPr>
      </p:sp>
      <p:sp>
        <p:nvSpPr>
          <p:cNvPr id="34" name="Text 32"/>
          <p:cNvSpPr/>
          <p:nvPr/>
        </p:nvSpPr>
        <p:spPr>
          <a:xfrm>
            <a:off x="8650224" y="5394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冪等・再開可能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650224" y="57790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全段が regen パイプライン(STEPS)に組込済み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0080" y="62362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実装: build_substation_structure.py ・ build_substation_properties.py ・ build_subsld_batch.py（手法文書 docs/SUBSLD_METHOD.md）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概念図 — 観測から証拠閉包、実証ペア図へ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206240" cy="4480560"/>
          </a:xfrm>
          <a:prstGeom prst="roundRect">
            <a:avLst>
              <a:gd name="adj" fmla="val 1739"/>
            </a:avLst>
          </a:prstGeom>
          <a:solidFill>
            <a:srgbClr val="F4F4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観測 O（OSM）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43000" y="2286000"/>
            <a:ext cx="2926080" cy="2377440"/>
          </a:xfrm>
          <a:prstGeom prst="roundRect">
            <a:avLst>
              <a:gd name="adj" fmla="val 9615"/>
            </a:avLst>
          </a:prstGeom>
          <a:ln w="15240">
            <a:solidFill>
              <a:srgbClr val="9A9AA6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600200" y="2697480"/>
            <a:ext cx="2011680" cy="1554480"/>
          </a:xfrm>
          <a:prstGeom prst="roundRect">
            <a:avLst>
              <a:gd name="adj" fmla="val 7059"/>
            </a:avLst>
          </a:prstGeom>
          <a:solidFill>
            <a:srgbClr val="FFFDF2"/>
          </a:solidFill>
          <a:ln w="27940">
            <a:solidFill>
              <a:srgbClr val="E0A8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3200400"/>
            <a:ext cx="1554480" cy="0"/>
          </a:xfrm>
          <a:prstGeom prst="line">
            <a:avLst/>
          </a:prstGeom>
          <a:noFill/>
          <a:ln w="50800">
            <a:solidFill>
              <a:srgbClr val="D627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2788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272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母線 way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011680"/>
            <a:ext cx="1645920" cy="1188720"/>
          </a:xfrm>
          <a:prstGeom prst="line">
            <a:avLst/>
          </a:prstGeom>
          <a:noFill/>
          <a:ln w="22860">
            <a:solidFill>
              <a:srgbClr val="17BE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58568" y="3127248"/>
            <a:ext cx="146304" cy="146304"/>
          </a:xfrm>
          <a:prstGeom prst="ellipse">
            <a:avLst/>
          </a:prstGeom>
          <a:solidFill>
            <a:srgbClr val="D627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685800" y="3794760"/>
            <a:ext cx="2194560" cy="685800"/>
          </a:xfrm>
          <a:prstGeom prst="line">
            <a:avLst/>
          </a:prstGeom>
          <a:noFill/>
          <a:ln w="22860">
            <a:solidFill>
              <a:srgbClr val="17BE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07208" y="3721608"/>
            <a:ext cx="146304" cy="146304"/>
          </a:xfrm>
          <a:prstGeom prst="rect">
            <a:avLst/>
          </a:prstGeom>
          <a:solidFill>
            <a:srgbClr val="1F77B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3703320" y="1920240"/>
            <a:ext cx="822960" cy="594360"/>
          </a:xfrm>
          <a:prstGeom prst="line">
            <a:avLst/>
          </a:prstGeom>
          <a:noFill/>
          <a:ln w="22860">
            <a:solidFill>
              <a:srgbClr val="17BECF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611880" y="2432304"/>
            <a:ext cx="164592" cy="146304"/>
          </a:xfrm>
          <a:prstGeom prst="triangle">
            <a:avLst/>
          </a:prstGeom>
          <a:solidFill>
            <a:srgbClr val="FF7F0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892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6272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● vertex（頂点共有） 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F77B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■ polygon（内包） 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7F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▲ leadin（帯 δ）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5440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黄=敷地 Poly(s) ／ 破線=引込帯 0.6km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3200400"/>
            <a:ext cx="1371600" cy="77724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2004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800600" y="4069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証拠閉包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46520" y="146304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F4F4F6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1600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構造 S*（node-breaker） → SubSLD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1228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 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22008" y="2350008"/>
            <a:ext cx="0" cy="914400"/>
          </a:xfrm>
          <a:prstGeom prst="line">
            <a:avLst/>
          </a:prstGeom>
          <a:noFill/>
          <a:ln w="12700">
            <a:solidFill>
              <a:srgbClr val="5555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22008" y="2532888"/>
            <a:ext cx="274320" cy="0"/>
          </a:xfrm>
          <a:prstGeom prst="line">
            <a:avLst/>
          </a:prstGeom>
          <a:noFill/>
          <a:ln w="12700">
            <a:solidFill>
              <a:srgbClr val="5555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23865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27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 500kV ─ Busbar ─ Terminal(●)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922008" y="2898648"/>
            <a:ext cx="274320" cy="0"/>
          </a:xfrm>
          <a:prstGeom prst="line">
            <a:avLst/>
          </a:prstGeom>
          <a:noFill/>
          <a:ln w="12700">
            <a:solidFill>
              <a:srgbClr val="5555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9480" y="27523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BE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 66kV  ─ Terminal(▲)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22008" y="3264408"/>
            <a:ext cx="274320" cy="0"/>
          </a:xfrm>
          <a:prstGeom prst="line">
            <a:avLst/>
          </a:prstGeom>
          <a:noFill/>
          <a:ln w="12700">
            <a:solidFill>
              <a:srgbClr val="5555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31181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Trafo(structural)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949440" y="4114800"/>
            <a:ext cx="3291840" cy="0"/>
          </a:xfrm>
          <a:prstGeom prst="line">
            <a:avLst/>
          </a:prstGeom>
          <a:noFill/>
          <a:ln w="44450">
            <a:solidFill>
              <a:srgbClr val="D627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7406640" y="3703320"/>
            <a:ext cx="0" cy="411480"/>
          </a:xfrm>
          <a:prstGeom prst="line">
            <a:avLst/>
          </a:prstGeom>
          <a:noFill/>
          <a:ln w="19050">
            <a:solidFill>
              <a:srgbClr val="D6272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7534656" y="3703320"/>
            <a:ext cx="0" cy="411480"/>
          </a:xfrm>
          <a:prstGeom prst="line">
            <a:avLst/>
          </a:prstGeom>
          <a:noFill/>
          <a:ln w="19050">
            <a:solidFill>
              <a:srgbClr val="D627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8412480" y="3703320"/>
            <a:ext cx="0" cy="411480"/>
          </a:xfrm>
          <a:prstGeom prst="line">
            <a:avLst/>
          </a:prstGeom>
          <a:noFill/>
          <a:ln w="19050">
            <a:solidFill>
              <a:srgbClr val="D6272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49440" y="5166360"/>
            <a:ext cx="3291840" cy="0"/>
          </a:xfrm>
          <a:prstGeom prst="line">
            <a:avLst/>
          </a:prstGeom>
          <a:noFill/>
          <a:ln w="44450">
            <a:solidFill>
              <a:srgbClr val="17BEC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0" y="5166360"/>
            <a:ext cx="0" cy="411480"/>
          </a:xfrm>
          <a:prstGeom prst="line">
            <a:avLst/>
          </a:prstGeom>
          <a:noFill/>
          <a:ln w="19050">
            <a:solidFill>
              <a:srgbClr val="17BECF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9601200" y="4114800"/>
            <a:ext cx="0" cy="105156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73184" y="4407408"/>
            <a:ext cx="256032" cy="256032"/>
          </a:xfrm>
          <a:prstGeom prst="ellipse">
            <a:avLst/>
          </a:prstGeom>
          <a:ln w="19050">
            <a:solidFill>
              <a:srgbClr val="4444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473184" y="4590288"/>
            <a:ext cx="256032" cy="256032"/>
          </a:xfrm>
          <a:prstGeom prst="ellipse">
            <a:avLst/>
          </a:prstGeom>
          <a:ln w="19050">
            <a:solidFill>
              <a:srgbClr val="44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12280" y="5532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2回線=2ストローク ／ 破線=leadin ／ 二重円=変圧器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 flipV="1">
            <a:off x="2788920" y="2395728"/>
            <a:ext cx="3995928" cy="1399032"/>
          </a:xfrm>
          <a:prstGeom prst="line">
            <a:avLst/>
          </a:prstGeom>
          <a:noFill/>
          <a:ln w="12700">
            <a:solidFill>
              <a:srgbClr val="9A9AA6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4297680" y="2788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witnesses（全要素が観測へ遡れる）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40080" y="6053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観測に証人を持つ要素だけが構造になり、その構造だけが描かれる — 概念図の全要素が §4-7 の定義に対応する。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 FORMULATION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定式化 — 構造抽出は「証拠閉包」作用素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観測 O =（敷地ポリゴン, way集合, タグ）から構造 S への写像 F を、「証拠に支持される要素すべてからなる最大の構造」として定義する。ルールの列挙ではなく、この閉包が手法の本体である。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972800" cy="960120"/>
          </a:xfrm>
          <a:prstGeom prst="roundRect">
            <a:avLst>
              <a:gd name="adj" fmla="val 5714"/>
            </a:avLst>
          </a:prstGeom>
          <a:solidFill>
            <a:srgbClr val="F4F4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8716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 =  S</a:t>
            </a:r>
            <a:pPr algn="ctr" indent="0" marL="0">
              <a:buNone/>
            </a:pPr>
            <a:r>
              <a:rPr lang="en-US" sz="2200" baseline="3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*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=  { 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|  witnesses(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≠ ∅ }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109728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命題 1（Fの性質）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16052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(i) 決定性: 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 は関数（同一入力→同一出力・全国テストで機械検証）　</a:t>
            </a:r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(ii) 冪等性: 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 の再適用は構造を変えない（regen 安全）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(iii) 健全性: 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S* の全要素は証拠の証人を持つ（構成より直ちに成立 — 「捏造ゼロ」の形式的表現）。逆に完全性は OSM 被覆に依存し、これは主張せず測定して報告する（§10）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Algorithm 1（構内wayの連結成分分解＋端子束縛）は F の計算的実現である。擬似コードは補遺に。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 EVIDENCE ORDER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端子束縛 — 証拠の辞書式最大化と整合制約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線端 t の束縛は、証拠クラスの全順序 ≻ の下で成立する最強の証拠を選ぶ argmax として定義する。弱い証拠は図でも弱く（破線で）描かれ、証拠の強さが可視化まで貫通する。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0972800" cy="1371600"/>
          </a:xfrm>
          <a:prstGeom prst="roundRect">
            <a:avLst>
              <a:gd name="adj" fmla="val 4000"/>
            </a:avLst>
          </a:prstGeom>
          <a:solidFill>
            <a:srgbClr val="F4F4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688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binding(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 =  max</a:t>
            </a:r>
            <a:pPr algn="ctr" indent="0" marL="0">
              <a:buNone/>
            </a:pPr>
            <a:r>
              <a:rPr lang="en-US" sz="2100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≻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{ 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|  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</a:t>
            </a:r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は t の証人 }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vertex  ≻  polygon  ≻  leadin</a:t>
            </a:r>
            <a:pPr algn="ctr" indent="0" marL="0">
              <a:buNone/>
            </a:pPr>
            <a:r>
              <a:rPr lang="en-US" sz="12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  （頂点共有 ≻ 敷地内包 ≻ 引込帯 0.6 km）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整合制約 — 電圧整合ゲート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434840"/>
            <a:ext cx="10972800" cy="868680"/>
          </a:xfrm>
          <a:prstGeom prst="roundRect">
            <a:avLst>
              <a:gd name="adj" fmla="val 6316"/>
            </a:avLst>
          </a:prstGeom>
          <a:solidFill>
            <a:srgbClr val="F4F4F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59943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admit(</a:t>
            </a:r>
            <a:pPr algn="ctr"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ℓ</a:t>
            </a:r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</a:t>
            </a:r>
            <a:pPr algn="ctr"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</a:t>
            </a:r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 ⇔  witnesses ≠ ∅  ∧  ¬( |</a:t>
            </a:r>
            <a:pPr algn="ctr"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kv</a:t>
            </a:r>
            <a:pPr algn="ctr" indent="0" marL="0">
              <a:buNone/>
            </a:pPr>
            <a:r>
              <a:rPr lang="en-US" sz="1900" i="1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ℓ</a:t>
            </a:r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− </a:t>
            </a:r>
            <a:pPr algn="ctr"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kv</a:t>
            </a:r>
            <a:pPr algn="ctr" indent="0" marL="0">
              <a:buNone/>
            </a:pPr>
            <a:r>
              <a:rPr lang="en-US" sz="1900" i="1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</a:t>
            </a:r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| &gt; 0.25 ⋅ max(</a:t>
            </a:r>
            <a:pPr algn="ctr"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kv</a:t>
            </a:r>
            <a:pPr algn="ctr" indent="0" marL="0">
              <a:buNone/>
            </a:pPr>
            <a:r>
              <a:rPr lang="en-US" sz="1900" i="1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</a:t>
            </a:r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1) )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40080" y="5440680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5513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ケースA 適合（接続）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56235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1554480" y="6053328"/>
            <a:ext cx="1554480" cy="0"/>
          </a:xfrm>
          <a:prstGeom prst="line">
            <a:avLst/>
          </a:prstGeom>
          <a:noFill/>
          <a:ln w="27940">
            <a:solidFill>
              <a:srgbClr val="17BE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90672" y="5980176"/>
            <a:ext cx="146304" cy="146304"/>
          </a:xfrm>
          <a:prstGeom prst="ellipse">
            <a:avLst/>
          </a:prstGeom>
          <a:solidFill>
            <a:srgbClr val="17BECF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5943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66kV線→66kVノード  </a:t>
            </a:r>
            <a:pPr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乖離0% ≤ 25%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5440680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D627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5513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272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ケースB 棄却（c1 実例）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46520" y="56235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272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✗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7178040" y="6053328"/>
            <a:ext cx="1554480" cy="0"/>
          </a:xfrm>
          <a:prstGeom prst="line">
            <a:avLst/>
          </a:prstGeom>
          <a:noFill/>
          <a:ln w="27940">
            <a:solidFill>
              <a:srgbClr val="17BE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14232" y="5980176"/>
            <a:ext cx="146304" cy="146304"/>
          </a:xfrm>
          <a:prstGeom prst="ellipse">
            <a:avLst/>
          </a:prstGeom>
          <a:solidFill>
            <a:srgbClr val="9467BD"/>
          </a:solidFill>
          <a:ln/>
        </p:spPr>
      </p:sp>
      <p:sp>
        <p:nvSpPr>
          <p:cNvPr id="22" name="Text 20"/>
          <p:cNvSpPr/>
          <p:nvPr/>
        </p:nvSpPr>
        <p:spPr>
          <a:xfrm>
            <a:off x="9006840" y="59436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66kV線→154kVノード  </a:t>
            </a:r>
            <a:pPr indent="0" marL="0">
              <a:buNone/>
            </a:pPr>
            <a:r>
              <a:rPr lang="en-US" sz="1050" dirty="0">
                <a:solidFill>
                  <a:srgbClr val="D6272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乖離133% &gt; 25%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6455664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ケースBは併架・並走回廊の物理近接（80m以内）だったが棄却が正解 — 後に断片側が登録人工物と判明（2026-08-20 c1）。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 ESTIMATION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回線数推定 — 証明付き下界推定器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「無タグを推測で埋めない」を、推定器の下界性として定式化する。タグ意味論の仮定の下で、集約値は真値を決して過大評価しない。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0972800" cy="960120"/>
          </a:xfrm>
          <a:prstGeom prst="roundRect">
            <a:avLst>
              <a:gd name="adj" fmla="val 5714"/>
            </a:avLst>
          </a:prstGeom>
          <a:solidFill>
            <a:srgbClr val="F4F4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4144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ĉ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 =  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</a:t>
            </a:r>
            <a:pPr algn="ctr" indent="0" marL="0">
              <a:buNone/>
            </a:pPr>
            <a:r>
              <a:rPr lang="en-US" sz="2100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tag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|   ⌊ 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</a:t>
            </a:r>
            <a:pPr algn="ctr" indent="0" marL="0">
              <a:buNone/>
            </a:pPr>
            <a:r>
              <a:rPr lang="en-US" sz="2100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cables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/ 3 ⌋   |   1</a:t>
            </a:r>
            <a:pPr algn="ctr" indent="0" marL="0">
              <a:buNone/>
            </a:pPr>
            <a:r>
              <a:rPr lang="en-US" sz="12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    （タグあり／cablesのみ／証拠なし）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40080" y="3474720"/>
            <a:ext cx="1097280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6393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命題 2（下界性）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0416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</a:t>
            </a:r>
            <a:pPr algn="ctr" indent="0" marL="0">
              <a:buNone/>
            </a:pPr>
            <a:r>
              <a:rPr lang="en-US" sz="2200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sum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  ≤   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</a:t>
            </a:r>
            <a:pPr algn="ctr" indent="0" marL="0">
              <a:buNone/>
            </a:pPr>
            <a:r>
              <a:rPr lang="en-US" sz="2200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est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  ≤   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</a:t>
            </a:r>
            <a:pPr algn="ctr" indent="0" marL="0">
              <a:buNone/>
            </a:pPr>
            <a:r>
              <a:rPr lang="en-US" sz="2200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true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∵ 各線で ĉ(w) ≤ c_true(w)：タグ値は真値（仮定A1: circuitsタグは正しい）、⌊cables/3⌋ は3相導体数からの下界（A2）、実在する線は1回線以上。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011680" y="5138928"/>
            <a:ext cx="813816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108960" y="5029200"/>
            <a:ext cx="0" cy="219456"/>
          </a:xfrm>
          <a:prstGeom prst="line">
            <a:avLst/>
          </a:prstGeom>
          <a:noFill/>
          <a:ln w="27940">
            <a:solidFill>
              <a:srgbClr val="17BE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5303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7BEC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 sum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20640" y="5029200"/>
            <a:ext cx="0" cy="219456"/>
          </a:xfrm>
          <a:prstGeom prst="line">
            <a:avLst/>
          </a:prstGeom>
          <a:noFill/>
          <a:ln w="2794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5303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 est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412480" y="5029200"/>
            <a:ext cx="0" cy="219456"/>
          </a:xfrm>
          <a:prstGeom prst="line">
            <a:avLst/>
          </a:prstGeom>
          <a:noFill/>
          <a:ln w="27940">
            <a:solidFill>
              <a:srgbClr val="D627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5303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6272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 true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120640" y="5065776"/>
            <a:ext cx="3291840" cy="146304"/>
          </a:xfrm>
          <a:prstGeom prst="rect">
            <a:avLst/>
          </a:prstGeom>
          <a:solidFill>
            <a:srgbClr val="F2C4C4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5596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未観測ぶん（欠測）— 推測で埋めず、この幅自体を測って報告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系: 表示回線数は「少なくともこれだけ存在する」の主張 — 系統計算でも容量を過大評価しない側に誤る（導体数 wires も同構成で下界）。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  INFERENCE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流向推定 — 電圧半順序上の三値推定器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変電所集合に「最大電圧階級」による半順序を入れ、線グループ g の流向を三値推定器 d̂ で与える。判定不能は無理に埋めず、棄権 ⊥ を第三の出力として原理化する（図では灰）。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7635240" cy="2148840"/>
          </a:xfrm>
          <a:prstGeom prst="roundRect">
            <a:avLst>
              <a:gd name="adj" fmla="val 2553"/>
            </a:avLst>
          </a:prstGeom>
          <a:solidFill>
            <a:srgbClr val="F4F4F6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2377440"/>
            <a:ext cx="310896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1430">
            <a:solidFill>
              <a:srgbClr val="D8D8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2514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6272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s′ ≻ 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966960" y="2724912"/>
            <a:ext cx="0" cy="457200"/>
          </a:xfrm>
          <a:prstGeom prst="line">
            <a:avLst/>
          </a:prstGeom>
          <a:noFill/>
          <a:ln w="25400">
            <a:solidFill>
              <a:srgbClr val="D62728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0104120" y="2788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27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732520" y="3310128"/>
            <a:ext cx="265176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3383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v（自所の階級）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732520" y="3730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7BEC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s′ ∼ v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966960" y="3703320"/>
            <a:ext cx="0" cy="457200"/>
          </a:xfrm>
          <a:prstGeom prst="line">
            <a:avLst/>
          </a:prstGeom>
          <a:noFill/>
          <a:ln w="25400">
            <a:solidFill>
              <a:srgbClr val="17BECF"/>
            </a:solidFill>
            <a:prstDash val="solid"/>
            <a:headEnd type="triangle"/>
          </a:ln>
        </p:spPr>
      </p:sp>
      <p:sp>
        <p:nvSpPr>
          <p:cNvPr id="14" name="Text 12"/>
          <p:cNvSpPr/>
          <p:nvPr/>
        </p:nvSpPr>
        <p:spPr>
          <a:xfrm>
            <a:off x="10104120" y="38862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BEC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3252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far=∅ → ⊥（灰・39.4%）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960" y="251460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d̂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:  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→  { in,  out,  ⊥ }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22960" y="3090672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d̂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= in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⇔   ∃</a:t>
            </a:r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s′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∈far(</a:t>
            </a:r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):  </a:t>
            </a:r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s′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≻ </a:t>
            </a:r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pPr algn="ctr" indent="0" marL="0">
              <a:buNone/>
            </a:pPr>
            <a:r>
              <a:rPr lang="en-US" sz="1800" dirty="0">
                <a:solidFill>
                  <a:srgbClr val="5555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   ∨      </a:t>
            </a:r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kv</a:t>
            </a:r>
            <a:pPr algn="ctr" indent="0" marL="0">
              <a:buNone/>
            </a:pPr>
            <a:r>
              <a:rPr lang="en-US" sz="1800" i="1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kv</a:t>
            </a:r>
            <a:pPr algn="ctr" indent="0" marL="0">
              <a:buNone/>
            </a:pPr>
            <a:r>
              <a:rPr lang="en-US" sz="1800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top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3639312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d̂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= ⊥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⇔   far(</a:t>
            </a:r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= ∅</a:t>
            </a:r>
            <a:pPr algn="ctr" indent="0" marL="0">
              <a:buNone/>
            </a:pPr>
            <a:r>
              <a:rPr lang="en-US" sz="12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    （対向が解決できない時は棄権 — 埋めない）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" y="47548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far(g) は connections（両端束縛線）を第一資料とし、欠測時のみ線名の name-evidence（「A~B線」等）で補完する。全国実測（18,851線グループ）: in 55.4%・out 5.2%・⊥ 39.4%（§10）。棄権の主因は対向変電所自体の OSM 欠測であり、手法の誤りではなくデータ被覆の測定値である。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実証ペア図 — 新京葉変電所（500/275/154/66kV）</a:t>
            </a:r>
            <a:endParaRPr lang="en-US" sz="2500" dirty="0"/>
          </a:p>
        </p:txBody>
      </p:sp>
      <p:pic>
        <p:nvPicPr>
          <p:cNvPr id="4" name="Image 0" descr="assets/pair_fu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481328"/>
            <a:ext cx="10607040" cy="4709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19963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図1  実証ペア図（新京葉変電所）。左: GeoPane（構内幾何・端子根拠・鉄塔・インセット）　右: SLDPane（母線セクション・回線ストローク・流向・変圧器・スルー）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 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全国適用 — 10地域・6,956所を同一コードで処理</a:t>
            </a:r>
            <a:endParaRPr lang="en-US" sz="2500" dirty="0"/>
          </a:p>
        </p:txBody>
      </p:sp>
      <p:pic>
        <p:nvPicPr>
          <p:cNvPr id="4" name="Image 0" descr="assets/geo_minamihayakit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265176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17550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南早来（北海道）275/187/66</a:t>
            </a:r>
            <a:endParaRPr lang="en-US" sz="1050" dirty="0"/>
          </a:p>
        </p:txBody>
      </p:sp>
      <p:pic>
        <p:nvPicPr>
          <p:cNvPr id="6" name="Image 1" descr="assets/geo_sune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56432" y="1554480"/>
            <a:ext cx="2651760" cy="35661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56432" y="517550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駿遠（中部）500/275/154/77</a:t>
            </a:r>
            <a:endParaRPr lang="en-US" sz="1050" dirty="0"/>
          </a:p>
        </p:txBody>
      </p:sp>
      <p:pic>
        <p:nvPicPr>
          <p:cNvPr id="8" name="Image 2" descr="assets/geo_hitoyoshi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72784" y="1554480"/>
            <a:ext cx="2651760" cy="35661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72784" y="517550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人吉（九州）220/110/66</a:t>
            </a:r>
            <a:endParaRPr lang="en-US" sz="1050" dirty="0"/>
          </a:p>
        </p:txBody>
      </p:sp>
      <p:pic>
        <p:nvPicPr>
          <p:cNvPr id="10" name="Image 3" descr="assets/geo_zukeran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89136" y="1554480"/>
            <a:ext cx="2651760" cy="35661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089136" y="517550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瑞慶覧（沖縄）132/66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640080" y="571500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図2  各地域の代表例（GeoPane 抜粋）。バッチ生成器（再開可能・タイルキャッシュ）により全所を一括描画 — 約1〜6秒/所・10地域並列で全国約1時間（pws-160core 実測）。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定量評価 — 被覆・証拠分布・棄権率（全国実測）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6,956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76656" y="20848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対象変電所（構造抽出は全数・エラー0）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0" y="13716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68.2%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608576" y="20848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回線数のOSM証拠被覆（27,352/40,087線）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503920" y="13716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627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14.2%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8540496" y="20848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母線way記載率（985/6,956・issue #49）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端子束縛の証拠分布（48,081端子）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847009" cy="420624"/>
          </a:xfrm>
          <a:prstGeom prst="rect">
            <a:avLst/>
          </a:prstGeom>
          <a:solidFill>
            <a:srgbClr val="D6272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00400"/>
            <a:ext cx="84700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vertex 15.7%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487089" y="3200400"/>
            <a:ext cx="1580723" cy="420624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14" name="Text 12"/>
          <p:cNvSpPr/>
          <p:nvPr/>
        </p:nvSpPr>
        <p:spPr>
          <a:xfrm>
            <a:off x="1487089" y="3200400"/>
            <a:ext cx="158072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polygon 29.3%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067812" y="3200400"/>
            <a:ext cx="2967228" cy="420624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16" name="Text 14"/>
          <p:cNvSpPr/>
          <p:nvPr/>
        </p:nvSpPr>
        <p:spPr>
          <a:xfrm>
            <a:off x="3067812" y="3200400"/>
            <a:ext cx="29672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leadin 55.0%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" y="367588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弱い証拠(leadin)が過半 — 図では破線で明示され、証拠の強さが読める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2062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流向推定の内訳（18,851線グループ）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572000"/>
            <a:ext cx="2988808" cy="4206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572000"/>
            <a:ext cx="2988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in 55.4%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28888" y="4572000"/>
            <a:ext cx="280538" cy="420624"/>
          </a:xfrm>
          <a:prstGeom prst="rect">
            <a:avLst/>
          </a:prstGeom>
          <a:solidFill>
            <a:srgbClr val="17BECF"/>
          </a:solidFill>
          <a:ln/>
        </p:spPr>
      </p:sp>
      <p:sp>
        <p:nvSpPr>
          <p:cNvPr id="22" name="Shape 20"/>
          <p:cNvSpPr/>
          <p:nvPr/>
        </p:nvSpPr>
        <p:spPr>
          <a:xfrm>
            <a:off x="3909426" y="4572000"/>
            <a:ext cx="2125614" cy="420624"/>
          </a:xfrm>
          <a:prstGeom prst="rect">
            <a:avLst/>
          </a:prstGeom>
          <a:solidFill>
            <a:srgbClr val="B9B9C2"/>
          </a:solidFill>
          <a:ln/>
        </p:spPr>
      </p:sp>
      <p:sp>
        <p:nvSpPr>
          <p:cNvPr id="23" name="Text 21"/>
          <p:cNvSpPr/>
          <p:nvPr/>
        </p:nvSpPr>
        <p:spPr>
          <a:xfrm>
            <a:off x="3909426" y="4572000"/>
            <a:ext cx="212561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4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⊥ 39.4%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" y="504748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in 55.4% ／ out 5.2% ／ ⊥(棄権) 39.4% — 棄権を隠さない。主因は対向変電所のOSM欠測（§11）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562356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命題1の決定性は再生成テストで、命題2の下界性は構成により全所で成立。</a:t>
            </a:r>
            <a:endParaRPr lang="en-US" sz="11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6400800" y="2743200"/>
          <a:ext cx="52120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  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限界と考察 — 欠測を欠測として見せる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40680" cy="2057400"/>
          </a:xfrm>
          <a:prstGeom prst="roundRect">
            <a:avLst>
              <a:gd name="adj" fmla="val 3111"/>
            </a:avLst>
          </a:prstGeom>
          <a:solidFill>
            <a:srgbClr val="F4F4F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013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母線wayの欠測 85.8%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58568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OSMマッピング粒度の地域差（北海道53% ⇔ 東京5%）。母線なしサイトは1母線仮定で描画される。推定母線の導入は inferred マーカー前提で検討（issue #49）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0" y="1600200"/>
            <a:ext cx="5440680" cy="2057400"/>
          </a:xfrm>
          <a:prstGeom prst="roundRect">
            <a:avLst>
              <a:gd name="adj" fmla="val 3111"/>
            </a:avLst>
          </a:prstGeom>
          <a:solidFill>
            <a:srgbClr val="F4F4F6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18013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流向不明（灰スタブ）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0" y="2258568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主因は対向変電所自体のOSM欠測。connections＋線名 name-evidence で低減し、残余 39.4% は「不明」を明示する設計を保つ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5440680" cy="2057400"/>
          </a:xfrm>
          <a:prstGeom prst="roundRect">
            <a:avLst>
              <a:gd name="adj" fmla="val 3111"/>
            </a:avLst>
          </a:prstGeom>
          <a:solidFill>
            <a:srgbClr val="F4F4F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0873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leadin の偽陽性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544568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引込帯0.6kmは近傍通過線を拾い得る。弱い証拠を弱く描く（破線）ことで図上でも可視化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3886200"/>
            <a:ext cx="5440680" cy="2057400"/>
          </a:xfrm>
          <a:prstGeom prst="roundRect">
            <a:avLst>
              <a:gd name="adj" fmla="val 3111"/>
            </a:avLst>
          </a:prstGeom>
          <a:solidFill>
            <a:srgbClr val="F4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40873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導体数被覆 12.7%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75120" y="4544568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wiresタグ自体が希少。航空写真からの検出（TTPLA系）が補完候補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  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結論と今後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変電所の内部構成は、公開データと根拠付き抽出のみで全国一括に「見える化」できる。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本研究の要点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・3段パイプライン（抽出・集約・描画）を全て決定的・冪等に実装し、OSM更新へ全所追随可能とした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・証拠語彙（vertex ≻ polygon ≻ leadin）と電圧整合ゲートで、捏造ゼロのまま接続を主張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・回線数・導体数は証拠と推計を分離保持し、欠測を欠測として報告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今後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・editor統合（地図クリックでSubSLD表示）　・OSM貢献ループ（母線なし所の衛星判読→編集候補）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・変圧器銘板の出典拡充　・推定母線（inferred）の設計検討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資料: docs/SUBSLD_METHOD.md ・ github.com/lutelute/All-Japan-Grid ・ issue #49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2026-08-26T15:17:27Z</dcterms:created>
  <dcterms:modified xsi:type="dcterms:W3CDTF">2026-08-26T15:17:27Z</dcterms:modified>
</cp:coreProperties>
</file>