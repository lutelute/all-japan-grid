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quote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zone-flow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cols-2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diagram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diagram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pros-cons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B3502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実証ペア図法 — 変電所構成の全国機械生成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4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SubSLD法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All-Japan-Grid / 2026-08-26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本日の内容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53312"/>
            <a:ext cx="822960" cy="792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353312"/>
            <a:ext cx="10051999" cy="792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背景と問い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33092"/>
            <a:ext cx="11057839" cy="9525"/>
          </a:xfrm>
          <a:prstGeom prst="rect">
            <a:avLst/>
          </a:prstGeom>
          <a:solidFill>
            <a:srgbClr val="E0D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45792"/>
            <a:ext cx="822960" cy="792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145792"/>
            <a:ext cx="10051999" cy="792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3段パイプライン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25572"/>
            <a:ext cx="11057839" cy="9525"/>
          </a:xfrm>
          <a:prstGeom prst="rect">
            <a:avLst/>
          </a:prstGeom>
          <a:solidFill>
            <a:srgbClr val="E0D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938272"/>
            <a:ext cx="822960" cy="792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938272"/>
            <a:ext cx="10051999" cy="792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実証ペア図の読み方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0D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730752"/>
            <a:ext cx="822960" cy="792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730752"/>
            <a:ext cx="10051999" cy="792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実例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10532"/>
            <a:ext cx="11057839" cy="9525"/>
          </a:xfrm>
          <a:prstGeom prst="rect">
            <a:avLst/>
          </a:prstGeom>
          <a:solidFill>
            <a:srgbClr val="E0D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523232"/>
            <a:ext cx="822960" cy="792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523232"/>
            <a:ext cx="10051999" cy="792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不変条件と限界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303012"/>
            <a:ext cx="11057839" cy="9525"/>
          </a:xfrm>
          <a:prstGeom prst="rect">
            <a:avLst/>
          </a:prstGeom>
          <a:solidFill>
            <a:srgbClr val="E0D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315712"/>
            <a:ext cx="822960" cy="792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5315712"/>
            <a:ext cx="10051999" cy="792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全所展開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62134" y="3502152"/>
            <a:ext cx="906742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出発点はオーナーが嶺南変電所で行った手作業実証。その全国機械化がSubSLD法である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設計方針（2026-07-02）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204972"/>
            <a:ext cx="822960" cy="1270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8000" b="1">
                <a:solidFill>
                  <a:srgbClr val="EDC1B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“</a:t>
            </a:r>
          </a:p>
        </p:txBody>
      </p:sp>
      <p:sp>
        <p:nvSpPr>
          <p:cNvPr id="4" name="Rectangle 3"/>
          <p:cNvSpPr/>
          <p:nvPr/>
        </p:nvSpPr>
        <p:spPr>
          <a:xfrm>
            <a:off x="1252728" y="3707892"/>
            <a:ext cx="381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3段パイプライン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実証ペア図の読み方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41652"/>
            <a:ext cx="11057839" cy="3378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左: GeoPane（構内幾何）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地理院写真の下敷き＋出典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敷地=黄縁・母線=電圧色太線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端子根拠 ●vertex ■polygon ▲leadin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鉄塔マーカー・ズームインセット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右: SLDPane（単線結線図）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母線=電圧階級別の太い水平線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平行ストローク本数=回線数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上=流入・下=流出（推定・矢印）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二重円=変圧器・BT=バスタイ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変圧器なし階級は「スルー」明記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実例: 新京葉変電所（500/275/154/66kV）</a:t>
            </a:r>
          </a:p>
        </p:txBody>
      </p:sp>
      <p:pic>
        <p:nvPicPr>
          <p:cNvPr id="3" name="Picture 2" descr="shinke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959" y="1421892"/>
            <a:ext cx="6319777" cy="4160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692139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4階級・80端子・変圧器3。ズームインセットが500kV母線クラスタを自動拡大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実例: 人吉変電所（220/110/66kV・九州）</a:t>
            </a:r>
          </a:p>
        </p:txBody>
      </p:sp>
      <p:pic>
        <p:nvPicPr>
          <p:cNvPr id="3" name="Picture 2" descr="hitoyos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448" y="1421892"/>
            <a:ext cx="7924799" cy="4160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692139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地域を問わず同一パイプラインで生成される（10地域で検証済み）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規模と被覆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953512"/>
            <a:ext cx="3503066" cy="381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rPr>
              <a:t>6,956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対象変電所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953512"/>
            <a:ext cx="3503066" cy="381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rPr>
              <a:t>68%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回線数の証拠被覆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953512"/>
            <a:ext cx="3503066" cy="15544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953512"/>
            <a:ext cx="3503066" cy="381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220212"/>
            <a:ext cx="3045866" cy="1059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400" b="1">
                <a:solidFill>
                  <a:srgbClr val="D97757"/>
                </a:solidFill>
                <a:latin typeface="Avenir Next"/>
                <a:ea typeface="Hiragino Sans"/>
                <a:cs typeface="Hiragino Sans"/>
              </a:rPr>
              <a:t>約6秒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1所の描画時間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不変条件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到達点と限界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EFF4F1"/>
          </a:solidFill>
          <a:ln w="9525">
            <a:solidFill>
              <a:srgbClr val="9FB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719072"/>
            <a:ext cx="5391759" cy="566928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✓  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0128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233007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F8F0EF"/>
          </a:solidFill>
          <a:ln w="9525">
            <a:solidFill>
              <a:srgbClr val="D3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719072"/>
            <a:ext cx="5391759" cy="566928"/>
          </a:xfrm>
          <a:prstGeom prst="rect">
            <a:avLst/>
          </a:prstGeom>
          <a:solidFill>
            <a:srgbClr val="A8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✗  Cons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6207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全所展開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キーメッセージ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26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0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ご清聴ありがとうございました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docs/SUBSLD_METHOD.md / All-Japan-Grid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