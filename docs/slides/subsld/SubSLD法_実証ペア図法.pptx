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2F1E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2F1EC"/>
                </a:solidFill>
                <a:latin typeface="Arial"/>
              </a:rPr>
              <a:t>母線way記載率(%) — OSMマッピング粒度の地域差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母線way記載率</c:v>
                </c:pt>
              </c:strCache>
            </c:strRef>
          </c:tx>
          <c:spPr>
            <a:solidFill>
              <a:srgbClr val="FFD5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2F1E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北海道</c:v>
                  </c:pt>
                  <c:pt idx="1">
                    <c:v>東北</c:v>
                  </c:pt>
                  <c:pt idx="2">
                    <c:v>北陸</c:v>
                  </c:pt>
                  <c:pt idx="3">
                    <c:v>四国</c:v>
                  </c:pt>
                  <c:pt idx="4">
                    <c:v>中国</c:v>
                  </c:pt>
                  <c:pt idx="5">
                    <c:v>中部</c:v>
                  </c:pt>
                  <c:pt idx="6">
                    <c:v>九州</c:v>
                  </c:pt>
                  <c:pt idx="7">
                    <c:v>関西</c:v>
                  </c:pt>
                  <c:pt idx="8">
                    <c:v>沖縄</c:v>
                  </c:pt>
                  <c:pt idx="9">
                    <c:v>東京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</c:v>
                </c:pt>
                <c:pt idx="1">
                  <c:v>25</c:v>
                </c:pt>
                <c:pt idx="2">
                  <c:v>25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  <c:pt idx="6">
                  <c:v>10</c:v>
                </c:pt>
                <c:pt idx="7">
                  <c:v>8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2F1E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2F1E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6350" cap="flat">
              <a:solidFill>
                <a:srgbClr val="3A3A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9A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7"/>
        </a:solidFill>
        <a:ln>
          <a:noFill/>
        </a:ln>
        <a:effectLst/>
      </c:spPr>
    </c:plotArea>
    <c:plotVisOnly val="1"/>
    <c:dispBlanksAs val="span"/>
  </c:chart>
  <c:spPr>
    <a:solidFill>
      <a:srgbClr val="1414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SubSLD法の表紙。右は新京葉変電所のGeoPane(実出力)。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ge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0"/>
            <a:ext cx="5239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457200" cy="6858000"/>
          </a:xfrm>
          <a:prstGeom prst="rect">
            <a:avLst/>
          </a:prstGeom>
          <a:solidFill>
            <a:srgbClr val="141417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ALL-JAPAN-GRID  /  2026-08-26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13716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SubSLD法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603504" y="27889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実証ペア図法 — 変電所構成の全国機械生成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03504" y="3611880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D627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500kV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54480" y="3611880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FF7F0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275kV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05456" y="3611880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9467B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154kV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56432" y="3611880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17BE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66kV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3504" y="43434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= 正・捏造ゼロ・全端子に根拠。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衛星写真の上の構内幾何と、単線結線図のペアで全国6,956変電所を描く。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3504" y="6172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Evidence-Paired Substation Single-Line Diagramming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変電所の中身を、公開データだけで描けるか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883664"/>
            <a:ext cx="475488" cy="475488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" y="1883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8448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非公開の壁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8448" y="223113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系統解析に要る変電所内部(母線・変圧器・回線)は事業者資料で、研究には使えない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" y="3300984"/>
            <a:ext cx="475488" cy="475488"/>
          </a:xfrm>
          <a:prstGeom prst="ellipse">
            <a:avLst/>
          </a:prstGeom>
          <a:solidFill>
            <a:srgbClr val="9467BD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3300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手作業の実証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8448" y="364845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嶺南変電所1所でOSM実データから node-breaker 構造を手作業で確認できた(2026-07)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3504" y="4718304"/>
            <a:ext cx="475488" cy="475488"/>
          </a:xfrm>
          <a:prstGeom prst="ellipse">
            <a:avLst/>
          </a:prstGeom>
          <a:solidFill>
            <a:srgbClr val="17BECF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4718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8448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機械化の問い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8448" y="506577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同じことを全国6,956所へ。ただし捏造ゼロ — 証拠が無い値は埋めない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20840" y="1783080"/>
            <a:ext cx="4846320" cy="4297680"/>
          </a:xfrm>
          <a:prstGeom prst="roundRect">
            <a:avLst>
              <a:gd name="adj" fmla="val 1702"/>
            </a:avLst>
          </a:prstGeom>
          <a:solidFill>
            <a:srgbClr val="1F1F26"/>
          </a:solidFill>
          <a:ln/>
        </p:spPr>
      </p:sp>
      <p:pic>
        <p:nvPicPr>
          <p:cNvPr id="17" name="Image 0" descr="assets/g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965960"/>
            <a:ext cx="4480560" cy="35204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03720" y="5577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人吉変電所(九州・220/110/66kV) — 手作業ゼロで生成された実出力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627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408176" y="594360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FF7F0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275kV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76272" y="594360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9467B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154kV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44368" y="594360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7BE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66kV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FFD5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326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線は基本変電所に入る。</a:t>
            </a:r>
            <a:endParaRPr lang="en-US" sz="2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変電所で電圧階級・タップ・回線・導体を接続する。</a:t>
            </a:r>
            <a:endParaRPr lang="en-US" sz="2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そこから負荷に分配供給されるからである。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81328" y="4846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設計方針(2026-07-02) — GridStitch P2 の憲法。SubSLD法はこの一文の全国機械化である。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3段パイプライン — 抽出・集約・描画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82880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1F1F26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抽出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77824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GridStitch P2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77824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OSMの実証拠(頂点共有・ポリゴン内包・lead-in)だけで node-breaker 構造DBを生成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7824" y="4983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 6,956所 / 約4秒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96512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1F1F2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46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集約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プロパティ層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5488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線タグ(circuits / wires / cables)を terminal に突き合わせ、変電所単位の回線数・導体数に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54880" y="4983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6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5,920サイト(重複統合後)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73568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357616" y="182880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1F1F26"/>
          </a:solidFill>
          <a:ln/>
        </p:spPr>
      </p:sp>
      <p:sp>
        <p:nvSpPr>
          <p:cNvPr id="17" name="Text 15"/>
          <p:cNvSpPr/>
          <p:nvPr/>
        </p:nvSpPr>
        <p:spPr>
          <a:xfrm>
            <a:off x="8631936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B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描画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31936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SubSLD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31936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GeoPane(衛星+構内幾何) × SLDPane(単線結線図) の実証ペア図PNG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31936" y="4983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B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約6秒 / 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全生成物は OSM + 構造DB から決定的に再生成できる(D層)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THE PAIR FIGURE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実証ペア図 — 新京葉変電所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/>
        </p:spPr>
      </p:sp>
      <p:pic>
        <p:nvPicPr>
          <p:cNvPr id="5" name="Image 0" descr="assets/pair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81328"/>
            <a:ext cx="786384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15400" y="1463040"/>
            <a:ext cx="146304" cy="146304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7" name="Text 4"/>
          <p:cNvSpPr/>
          <p:nvPr/>
        </p:nvSpPr>
        <p:spPr>
          <a:xfrm>
            <a:off x="9162288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GeoPane(左)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62288" y="17647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地理院写真+敷地黄縁+母線の電圧色+鉄塔▲+ズームインセット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915400" y="2761488"/>
            <a:ext cx="146304" cy="146304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0" name="Text 7"/>
          <p:cNvSpPr/>
          <p:nvPr/>
        </p:nvSpPr>
        <p:spPr>
          <a:xfrm>
            <a:off x="9162288" y="2715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SLDPane(右)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62288" y="30632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母線=太い水平線。線は実接着セクションに刺さる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15400" y="4059936"/>
            <a:ext cx="146304" cy="146304"/>
          </a:xfrm>
          <a:prstGeom prst="rect">
            <a:avLst/>
          </a:prstGeom>
          <a:solidFill>
            <a:srgbClr val="17BECF"/>
          </a:solidFill>
          <a:ln/>
        </p:spPr>
      </p:sp>
      <p:sp>
        <p:nvSpPr>
          <p:cNvPr id="13" name="Text 10"/>
          <p:cNvSpPr/>
          <p:nvPr/>
        </p:nvSpPr>
        <p:spPr>
          <a:xfrm>
            <a:off x="9162288" y="40142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回線・導体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62288" y="436168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平行ストローク本数=回線数。導体数はタグ注記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915400" y="5358384"/>
            <a:ext cx="146304" cy="146304"/>
          </a:xfrm>
          <a:prstGeom prst="rect">
            <a:avLst/>
          </a:prstGeom>
          <a:solidFill>
            <a:srgbClr val="9467BD"/>
          </a:solidFill>
          <a:ln/>
        </p:spPr>
      </p:sp>
      <p:sp>
        <p:nvSpPr>
          <p:cNvPr id="16" name="Text 13"/>
          <p:cNvSpPr/>
          <p:nvPr/>
        </p:nvSpPr>
        <p:spPr>
          <a:xfrm>
            <a:off x="9162288" y="53126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流向と変換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62288" y="5660136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上=流入・下=流出(推定・矢印)。二重円=変圧器、無い階級は「スルー」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EVERYWHERE, SAME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全国どこでも同じ品質 — 10地域で検証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3504" y="1417320"/>
            <a:ext cx="5486400" cy="2468880"/>
          </a:xfrm>
          <a:prstGeom prst="roundRect">
            <a:avLst>
              <a:gd name="adj" fmla="val 2222"/>
            </a:avLst>
          </a:prstGeom>
          <a:solidFill>
            <a:srgbClr val="1F1F26"/>
          </a:solidFill>
          <a:ln/>
        </p:spPr>
      </p:sp>
      <p:pic>
        <p:nvPicPr>
          <p:cNvPr id="5" name="Image 0" descr="assets/g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527048"/>
            <a:ext cx="4160520" cy="22494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46904" y="1645920"/>
            <a:ext cx="1097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南早来(北海道) 275/187/66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72784" y="1417320"/>
            <a:ext cx="5486400" cy="2468880"/>
          </a:xfrm>
          <a:prstGeom prst="roundRect">
            <a:avLst>
              <a:gd name="adj" fmla="val 2222"/>
            </a:avLst>
          </a:prstGeom>
          <a:solidFill>
            <a:srgbClr val="1F1F26"/>
          </a:solidFill>
          <a:ln/>
        </p:spPr>
      </p:sp>
      <p:pic>
        <p:nvPicPr>
          <p:cNvPr id="8" name="Image 1" descr="assets/g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2512" y="1527048"/>
            <a:ext cx="4160520" cy="22494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16184" y="1645920"/>
            <a:ext cx="1097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駿遠(中部) 500/275/154/77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03504" y="4023360"/>
            <a:ext cx="5486400" cy="2468880"/>
          </a:xfrm>
          <a:prstGeom prst="roundRect">
            <a:avLst>
              <a:gd name="adj" fmla="val 2222"/>
            </a:avLst>
          </a:prstGeom>
          <a:solidFill>
            <a:srgbClr val="1F1F26"/>
          </a:solidFill>
          <a:ln/>
        </p:spPr>
      </p:sp>
      <p:pic>
        <p:nvPicPr>
          <p:cNvPr id="11" name="Image 2" descr="assets/g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4133088"/>
            <a:ext cx="4160520" cy="22494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46904" y="4251960"/>
            <a:ext cx="1097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人吉(九州) 220/110/66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272784" y="4023360"/>
            <a:ext cx="5486400" cy="2468880"/>
          </a:xfrm>
          <a:prstGeom prst="roundRect">
            <a:avLst>
              <a:gd name="adj" fmla="val 2222"/>
            </a:avLst>
          </a:prstGeom>
          <a:solidFill>
            <a:srgbClr val="1F1F26"/>
          </a:solidFill>
          <a:ln/>
        </p:spPr>
      </p:sp>
      <p:pic>
        <p:nvPicPr>
          <p:cNvPr id="14" name="Image 3" descr="assets/g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82512" y="4133088"/>
            <a:ext cx="4160520" cy="22494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16184" y="4251960"/>
            <a:ext cx="1097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瑞慶覧(沖縄) 132/66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被覆と正直な限界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1554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6,956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4505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対象変電所(全国)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31546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7B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4050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回線数のOSM証拠被覆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56509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母線wayの記載率 — 最大の欠測(issue #49)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480560" y="1417320"/>
          <a:ext cx="71323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INVARIANTS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不変条件 — 憲法に従う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3504" y="155448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1F1F26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20240"/>
            <a:ext cx="182880" cy="182880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6" name="Text 4"/>
          <p:cNvSpPr/>
          <p:nvPr/>
        </p:nvSpPr>
        <p:spPr>
          <a:xfrm>
            <a:off x="1225296" y="1810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捏造ゼロ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25296" y="230428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接続は実証拠のみ。タグの無い回線数・導体数・銘板は unknown のまま見せる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2784" y="155448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1F1F26"/>
          </a:solidFill>
          <a:ln/>
        </p:spPr>
      </p:sp>
      <p:sp>
        <p:nvSpPr>
          <p:cNvPr id="9" name="Shape 7"/>
          <p:cNvSpPr/>
          <p:nvPr/>
        </p:nvSpPr>
        <p:spPr>
          <a:xfrm>
            <a:off x="6565392" y="1920240"/>
            <a:ext cx="182880" cy="18288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0" name="Text 8"/>
          <p:cNvSpPr/>
          <p:nvPr/>
        </p:nvSpPr>
        <p:spPr>
          <a:xfrm>
            <a:off x="6894576" y="1810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全端子に根拠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94576" y="230428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vertex-shared / polygon / leadin / name-evidence を端子ごとに刻む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" y="384048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1F1F26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4206240"/>
            <a:ext cx="182880" cy="182880"/>
          </a:xfrm>
          <a:prstGeom prst="rect">
            <a:avLst/>
          </a:prstGeom>
          <a:solidFill>
            <a:srgbClr val="9467BD"/>
          </a:solidFill>
          <a:ln/>
        </p:spPr>
      </p:sp>
      <p:sp>
        <p:nvSpPr>
          <p:cNvPr id="14" name="Text 12"/>
          <p:cNvSpPr/>
          <p:nvPr/>
        </p:nvSpPr>
        <p:spPr>
          <a:xfrm>
            <a:off x="1225296" y="4096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推定は推定と明記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25296" y="459028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流向(入/出)は対向変電所の電圧階層による推定。凡例に明記し断定しない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2784" y="384048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1F1F26"/>
          </a:solidFill>
          <a:ln/>
        </p:spPr>
      </p:sp>
      <p:sp>
        <p:nvSpPr>
          <p:cNvPr id="17" name="Shape 15"/>
          <p:cNvSpPr/>
          <p:nvPr/>
        </p:nvSpPr>
        <p:spPr>
          <a:xfrm>
            <a:off x="6565392" y="4206240"/>
            <a:ext cx="182880" cy="182880"/>
          </a:xfrm>
          <a:prstGeom prst="rect">
            <a:avLst/>
          </a:prstGeom>
          <a:solidFill>
            <a:srgbClr val="17BECF"/>
          </a:solidFill>
          <a:ln/>
        </p:spPr>
      </p:sp>
      <p:sp>
        <p:nvSpPr>
          <p:cNvPr id="18" name="Text 16"/>
          <p:cNvSpPr/>
          <p:nvPr/>
        </p:nvSpPr>
        <p:spPr>
          <a:xfrm>
            <a:off x="6894576" y="4096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決定的に再生成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94576" y="459028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同一入力から同一出力。OSM更新に全所が追随できる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ROLLOUT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全所展開 — 実行中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36776"/>
            <a:ext cx="420624" cy="420624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32104" y="2103120"/>
            <a:ext cx="27432" cy="685800"/>
          </a:xfrm>
          <a:prstGeom prst="rect">
            <a:avLst/>
          </a:prstGeom>
          <a:solidFill>
            <a:srgbClr val="26262E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バッチ生成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8056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全6,956所を一括描画。再開可能・タイルはキャッシュ+礼儀スロットル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0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実行中(160core並列)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779776"/>
            <a:ext cx="420624" cy="420624"/>
          </a:xfrm>
          <a:prstGeom prst="ellipse">
            <a:avLst/>
          </a:prstGeom>
          <a:solidFill>
            <a:srgbClr val="2626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79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2104" y="3246120"/>
            <a:ext cx="27432" cy="685800"/>
          </a:xfrm>
          <a:prstGeom prst="rect">
            <a:avLst/>
          </a:prstGeom>
          <a:solidFill>
            <a:srgbClr val="26262E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全国ギャラリー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80560" y="2743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検索付きHTMLで全所を閲覧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バッチ完走後に生成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22776"/>
            <a:ext cx="420624" cy="420624"/>
          </a:xfrm>
          <a:prstGeom prst="ellipse">
            <a:avLst/>
          </a:prstGeom>
          <a:solidFill>
            <a:srgbClr val="2626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2104" y="4389120"/>
            <a:ext cx="27432" cy="685800"/>
          </a:xfrm>
          <a:prstGeom prst="rect">
            <a:avLst/>
          </a:prstGeom>
          <a:solidFill>
            <a:srgbClr val="26262E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editor統合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80560" y="3886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地図の変電所クリックでSubSLDをその場表示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9264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065776"/>
            <a:ext cx="420624" cy="420624"/>
          </a:xfrm>
          <a:prstGeom prst="ellipse">
            <a:avLst/>
          </a:prstGeom>
          <a:solidFill>
            <a:srgbClr val="26262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5029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OSM貢献ループ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480560" y="5029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母線なし所の調査(issue #49)→衛星判読→OSM編集候補へ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0" y="5029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計画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627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408176" y="640080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FF7F0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275kV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76272" y="640080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9467B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154kV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44368" y="640080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7BE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66kV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3504" y="1828800"/>
            <a:ext cx="10972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38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変電所の中身は、</a:t>
            </a:r>
            <a:endParaRPr lang="en-US" sz="3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38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公開データと根拠付き抽出だけで</a:t>
            </a:r>
            <a:endParaRPr lang="en-US" sz="3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3800" b="1" dirty="0">
                <a:solidFill>
                  <a:srgbClr val="F2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全国一括「見える化」できる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5120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docs/SUBSLD_METHOD.md   ·   issue #49(母線なし86%の調査)   ·   data/subsld(全国ギャラリー)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SubSLD法 — All-Japan-Grid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2026-08-26T12:03:35Z</dcterms:created>
  <dcterms:modified xsi:type="dcterms:W3CDTF">2026-08-26T12:03:35Z</dcterms:modified>
</cp:coreProperties>
</file>