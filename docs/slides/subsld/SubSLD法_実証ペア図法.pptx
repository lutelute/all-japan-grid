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2F1EC"/>
                </a:solidFill>
                <a:latin typeface="Hiragino Sans"/>
              </a:defRPr>
            </a:pPr>
            <a:r>
              <a:rPr sz="1300" b="0" i="0" u="none" strike="noStrike">
                <a:solidFill>
                  <a:srgbClr val="F2F1EC"/>
                </a:solidFill>
                <a:latin typeface="Hiragino Sans"/>
              </a:rPr>
              <a:t>母線way記載率(%) — OSMマッピング粒度の地域差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母線way記載率</c:v>
                </c:pt>
              </c:strCache>
            </c:strRef>
          </c:tx>
          <c:spPr>
            <a:solidFill>
              <a:srgbClr val="FFD5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2F1EC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北海道</c:v>
                  </c:pt>
                  <c:pt idx="1">
                    <c:v>東北</c:v>
                  </c:pt>
                  <c:pt idx="2">
                    <c:v>北陸</c:v>
                  </c:pt>
                  <c:pt idx="3">
                    <c:v>四国</c:v>
                  </c:pt>
                  <c:pt idx="4">
                    <c:v>中国</c:v>
                  </c:pt>
                  <c:pt idx="5">
                    <c:v>中部</c:v>
                  </c:pt>
                  <c:pt idx="6">
                    <c:v>九州</c:v>
                  </c:pt>
                  <c:pt idx="7">
                    <c:v>関西</c:v>
                  </c:pt>
                  <c:pt idx="8">
                    <c:v>沖縄</c:v>
                  </c:pt>
                  <c:pt idx="9">
                    <c:v>東京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53</c:v>
                </c:pt>
                <c:pt idx="1">
                  <c:v>25</c:v>
                </c:pt>
                <c:pt idx="2">
                  <c:v>25</c:v>
                </c:pt>
                <c:pt idx="3">
                  <c:v>12</c:v>
                </c:pt>
                <c:pt idx="4">
                  <c:v>11</c:v>
                </c:pt>
                <c:pt idx="5">
                  <c:v>10</c:v>
                </c:pt>
                <c:pt idx="6">
                  <c:v>10</c:v>
                </c:pt>
                <c:pt idx="7">
                  <c:v>8</c:v>
                </c:pt>
                <c:pt idx="8">
                  <c:v>5</c:v>
                </c:pt>
                <c:pt idx="9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2F1EC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2F1EC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b"/>
        <c:majorGridlines>
          <c:spPr>
            <a:ln w="6350" cap="flat">
              <a:solidFill>
                <a:srgbClr val="3A3A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5A3AC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417"/>
        </a:solidFill>
        <a:ln>
          <a:noFill/>
        </a:ln>
        <a:effectLst/>
      </c:spPr>
    </c:plotArea>
    <c:plotVisOnly val="1"/>
    <c:dispBlanksAs val="span"/>
  </c:chart>
  <c:spPr>
    <a:solidFill>
      <a:srgbClr val="14141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eo_shinkeiy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0"/>
            <a:ext cx="5330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7772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300" kern="0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ALL-JAPAN-GRID  /  2026-08-26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566928" y="14173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SubSLD法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603504" y="278892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54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実証ペア図法 — 変電所構成の全国機械生成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03504" y="3566160"/>
            <a:ext cx="841248" cy="301752"/>
          </a:xfrm>
          <a:prstGeom prst="roundRect">
            <a:avLst>
              <a:gd name="adj" fmla="val 15152"/>
            </a:avLst>
          </a:prstGeom>
          <a:solidFill>
            <a:srgbClr val="D627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500kV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554480" y="3566160"/>
            <a:ext cx="841248" cy="301752"/>
          </a:xfrm>
          <a:prstGeom prst="roundRect">
            <a:avLst>
              <a:gd name="adj" fmla="val 15152"/>
            </a:avLst>
          </a:prstGeom>
          <a:solidFill>
            <a:srgbClr val="FF7F0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275kV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505456" y="3566160"/>
            <a:ext cx="841248" cy="301752"/>
          </a:xfrm>
          <a:prstGeom prst="roundRect">
            <a:avLst>
              <a:gd name="adj" fmla="val 15152"/>
            </a:avLst>
          </a:prstGeom>
          <a:solidFill>
            <a:srgbClr val="9467B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154kV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456432" y="3566160"/>
            <a:ext cx="841248" cy="301752"/>
          </a:xfrm>
          <a:prstGeom prst="roundRect">
            <a:avLst>
              <a:gd name="adj" fmla="val 15152"/>
            </a:avLst>
          </a:prstGeom>
          <a:solidFill>
            <a:srgbClr val="17BE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66kV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03504" y="4297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OSM＝正・捏造ゼロ・全端子に根拠。衛星写真上の構内幾何と単線結線図のペアで、全国6,956変電所を描く。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03504" y="61722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Evidence-Paired Substation Single-Line Diagramming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eo_hitoyosh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0" y="5989320"/>
            <a:ext cx="4873752" cy="868680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498080" y="6172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人吉変電所(九州・220/110/66kV) — 手作業ゼロの実出力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4572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300" kern="0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MOTIVATION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03504" y="86868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変電所の中身を、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公開データだけで描けるか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640080" y="2779776"/>
            <a:ext cx="457200" cy="457200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325880" y="27432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非公開の壁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325880" y="3163824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母線・変圧器・回線の内部構成は事業者資料。研究には使えない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9467BD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325880" y="404164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手作業の実証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325880" y="4462272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嶺南変電所1所で、OSM実データから node-breaker 構造を確認(2026-07)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40080" y="5376672"/>
            <a:ext cx="457200" cy="457200"/>
          </a:xfrm>
          <a:prstGeom prst="ellipse">
            <a:avLst/>
          </a:prstGeom>
          <a:solidFill>
            <a:srgbClr val="17BECF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5376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1325880" y="534009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機械化の問い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325880" y="576072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同じことを全国6,956所へ。証拠が無い値は埋めない(捏造ゼロ)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eo_sunen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40080"/>
            <a:ext cx="676656" cy="246888"/>
          </a:xfrm>
          <a:prstGeom prst="roundRect">
            <a:avLst>
              <a:gd name="adj" fmla="val 18519"/>
            </a:avLst>
          </a:prstGeom>
          <a:solidFill>
            <a:srgbClr val="D627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500kV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426464" y="640080"/>
            <a:ext cx="676656" cy="246888"/>
          </a:xfrm>
          <a:prstGeom prst="roundRect">
            <a:avLst>
              <a:gd name="adj" fmla="val 18519"/>
            </a:avLst>
          </a:prstGeom>
          <a:solidFill>
            <a:srgbClr val="FF7F0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275kV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212848" y="640080"/>
            <a:ext cx="676656" cy="246888"/>
          </a:xfrm>
          <a:prstGeom prst="roundRect">
            <a:avLst>
              <a:gd name="adj" fmla="val 18519"/>
            </a:avLst>
          </a:prstGeom>
          <a:solidFill>
            <a:srgbClr val="9467B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154kV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2999232" y="640080"/>
            <a:ext cx="676656" cy="246888"/>
          </a:xfrm>
          <a:prstGeom prst="roundRect">
            <a:avLst>
              <a:gd name="adj" fmla="val 18519"/>
            </a:avLst>
          </a:prstGeom>
          <a:solidFill>
            <a:srgbClr val="17BE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66kV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05840" y="1965960"/>
            <a:ext cx="10241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27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線は基本変電所に入る。</a:t>
            </a:r>
            <a:endParaRPr lang="en-US" sz="27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27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変電所で電圧階級・タップ・回線・導体を接続する。</a:t>
            </a:r>
            <a:endParaRPr lang="en-US" sz="27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27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そこから負荷に分配供給されるからである。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1024128" y="4892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54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— 設計方針(2026-07-02)。SubSLD法はこの一文の全国機械化である。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300" kern="0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PIPELINE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03504" y="84124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3段パイプライン — 抽出・集約・描画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03504" y="1783080"/>
            <a:ext cx="3520440" cy="3977640"/>
          </a:xfrm>
          <a:prstGeom prst="roundRect">
            <a:avLst>
              <a:gd name="adj" fmla="val 2338"/>
            </a:avLst>
          </a:prstGeom>
          <a:solidFill>
            <a:srgbClr val="1F1F26"/>
          </a:solidFill>
          <a:ln/>
        </p:spPr>
      </p:sp>
      <p:sp>
        <p:nvSpPr>
          <p:cNvPr id="5" name="Shape 3"/>
          <p:cNvSpPr/>
          <p:nvPr/>
        </p:nvSpPr>
        <p:spPr>
          <a:xfrm>
            <a:off x="877824" y="2057400"/>
            <a:ext cx="512064" cy="512064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0574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517904" y="21579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72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抽出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GridStitch P2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77824" y="3401568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OSMの実証拠(頂点共有・ポリゴン内包・lead-in)だけで node-breaker 構造DBを生成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77824" y="513892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6272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全国6,956所 / 約4秒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078224" y="35204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480560" y="1783080"/>
            <a:ext cx="3520440" cy="3977640"/>
          </a:xfrm>
          <a:prstGeom prst="roundRect">
            <a:avLst>
              <a:gd name="adj" fmla="val 2338"/>
            </a:avLst>
          </a:prstGeom>
          <a:solidFill>
            <a:srgbClr val="1F1F26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057400"/>
            <a:ext cx="512064" cy="512064"/>
          </a:xfrm>
          <a:prstGeom prst="ellipse">
            <a:avLst/>
          </a:prstGeom>
          <a:solidFill>
            <a:srgbClr val="9467BD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20574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394960" y="21579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67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集約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プロパティ層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754880" y="3401568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線タグ circuits / wires / cables を端子に突き合わせ、変電所単位の回線数・導体数に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754880" y="513892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467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5,920サイト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955280" y="35204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8357616" y="1783080"/>
            <a:ext cx="3520440" cy="3977640"/>
          </a:xfrm>
          <a:prstGeom prst="roundRect">
            <a:avLst>
              <a:gd name="adj" fmla="val 2338"/>
            </a:avLst>
          </a:prstGeom>
          <a:solidFill>
            <a:srgbClr val="1F1F26"/>
          </a:solidFill>
          <a:ln/>
        </p:spPr>
      </p:sp>
      <p:sp>
        <p:nvSpPr>
          <p:cNvPr id="21" name="Shape 19"/>
          <p:cNvSpPr/>
          <p:nvPr/>
        </p:nvSpPr>
        <p:spPr>
          <a:xfrm>
            <a:off x="8631936" y="2057400"/>
            <a:ext cx="512064" cy="512064"/>
          </a:xfrm>
          <a:prstGeom prst="ellipse">
            <a:avLst/>
          </a:prstGeom>
          <a:solidFill>
            <a:srgbClr val="17BECF"/>
          </a:solidFill>
          <a:ln/>
        </p:spPr>
      </p:sp>
      <p:sp>
        <p:nvSpPr>
          <p:cNvPr id="22" name="Text 20"/>
          <p:cNvSpPr/>
          <p:nvPr/>
        </p:nvSpPr>
        <p:spPr>
          <a:xfrm>
            <a:off x="8631936" y="20574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272016" y="21579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BE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描画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31936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SubSLD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8631936" y="3401568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GeoPane(衛星+構内幾何)×SLDPane(単線結線図)の実証ペア図を出力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631936" y="513892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BE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約1〜6秒 / 所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03504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全生成物は OSM + 構造DB から決定的に再生成できる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eo_shinkeiy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70683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300" kern="0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GEOPANE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03504" y="914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GeoPane</a:t>
            </a:r>
            <a:endParaRPr lang="en-US" sz="2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構内幾何を衛星の上に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640080" y="2807208"/>
            <a:ext cx="146304" cy="14630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2743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地理院写真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914400" y="3090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全国最新写真を下敷き・出典焼込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3739896"/>
            <a:ext cx="146304" cy="14630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36758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敷地=黄縁・母線=電圧色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14400" y="4023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busbar way を階級色の太線で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0080" y="4672584"/>
            <a:ext cx="146304" cy="14630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60857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端子の根拠マーカー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14400" y="49560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●vertex ■polygon ▲leadin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5605272"/>
            <a:ext cx="146304" cy="146304"/>
          </a:xfrm>
          <a:prstGeom prst="rect">
            <a:avLst/>
          </a:prstGeom>
          <a:solidFill>
            <a:srgbClr val="17BECF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554126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鉄塔 ▲ とインセット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914400" y="5888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回廊を目で追える・大規模所は自動拡大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300" kern="0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SLDPANE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SLDPane 単線結線図 — 新京葉変電所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583680" cy="5029200"/>
          </a:xfrm>
          <a:prstGeom prst="roundRect">
            <a:avLst>
              <a:gd name="adj" fmla="val 1455"/>
            </a:avLst>
          </a:prstGeom>
          <a:solidFill>
            <a:srgbClr val="FBFBF9"/>
          </a:solidFill>
          <a:ln/>
        </p:spPr>
      </p:sp>
      <p:pic>
        <p:nvPicPr>
          <p:cNvPr id="5" name="Image 0" descr="assets/sld_shinkeiy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691640"/>
            <a:ext cx="6126480" cy="4754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52360" y="1837944"/>
            <a:ext cx="146304" cy="14630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7" name="Text 4"/>
          <p:cNvSpPr/>
          <p:nvPr/>
        </p:nvSpPr>
        <p:spPr>
          <a:xfrm>
            <a:off x="7726680" y="17830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母線=太い水平線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26680" y="216712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BusbarSection数でセクション分割。BT=バスタイ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52360" y="3044952"/>
            <a:ext cx="146304" cy="14630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0" name="Text 7"/>
          <p:cNvSpPr/>
          <p:nvPr/>
        </p:nvSpPr>
        <p:spPr>
          <a:xfrm>
            <a:off x="7726680" y="299008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平行ストローク=回線数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726680" y="337413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2回線なら2本。導体数はタグ注記(4導体等)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452360" y="4251960"/>
            <a:ext cx="146304" cy="146304"/>
          </a:xfrm>
          <a:prstGeom prst="rect">
            <a:avLst/>
          </a:prstGeom>
          <a:solidFill>
            <a:srgbClr val="9467BD"/>
          </a:solidFill>
          <a:ln/>
        </p:spPr>
      </p:sp>
      <p:sp>
        <p:nvSpPr>
          <p:cNvPr id="13" name="Text 10"/>
          <p:cNvSpPr/>
          <p:nvPr/>
        </p:nvSpPr>
        <p:spPr>
          <a:xfrm>
            <a:off x="7726680" y="419709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上=流入・下=流出(推定)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726680" y="458114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対向変電所の電圧階層から判定・矢印付き。灰=対向不明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452360" y="5458968"/>
            <a:ext cx="146304" cy="146304"/>
          </a:xfrm>
          <a:prstGeom prst="rect">
            <a:avLst/>
          </a:prstGeom>
          <a:solidFill>
            <a:srgbClr val="17BECF"/>
          </a:solidFill>
          <a:ln/>
        </p:spPr>
      </p:sp>
      <p:sp>
        <p:nvSpPr>
          <p:cNvPr id="16" name="Text 13"/>
          <p:cNvSpPr/>
          <p:nvPr/>
        </p:nvSpPr>
        <p:spPr>
          <a:xfrm>
            <a:off x="7726680" y="54041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二重円=変圧器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726680" y="578815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バンク数・銘板は出典付きの時のみ。変圧器の無い階級は「スルー」明記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300" kern="0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 EVERYWHERE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全国どこでも同じパイプライン</a:t>
            </a:r>
            <a:endParaRPr lang="en-US" sz="2600" dirty="0"/>
          </a:p>
        </p:txBody>
      </p:sp>
      <p:pic>
        <p:nvPicPr>
          <p:cNvPr id="4" name="Image 0" descr="assets/geo_minamihayakit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" y="1508760"/>
            <a:ext cx="2670048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" y="5138928"/>
            <a:ext cx="2670048" cy="576072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52120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南早来(北海道) 275/187/66kV</a:t>
            </a:r>
            <a:endParaRPr lang="en-US" sz="1050" dirty="0"/>
          </a:p>
        </p:txBody>
      </p:sp>
      <p:pic>
        <p:nvPicPr>
          <p:cNvPr id="7" name="Image 1" descr="assets/geo_sune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19856" y="1508760"/>
            <a:ext cx="2670048" cy="4206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419856" y="5138928"/>
            <a:ext cx="2670048" cy="576072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9" name="Text 5"/>
          <p:cNvSpPr/>
          <p:nvPr/>
        </p:nvSpPr>
        <p:spPr>
          <a:xfrm>
            <a:off x="3529584" y="52120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駿遠(中部) 500/275/154/77kV</a:t>
            </a:r>
            <a:endParaRPr lang="en-US" sz="1050" dirty="0"/>
          </a:p>
        </p:txBody>
      </p:sp>
      <p:pic>
        <p:nvPicPr>
          <p:cNvPr id="10" name="Image 2" descr="assets/geo_hitoyoshi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36208" y="1508760"/>
            <a:ext cx="2670048" cy="42062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236208" y="5138928"/>
            <a:ext cx="2670048" cy="576072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2" name="Text 7"/>
          <p:cNvSpPr/>
          <p:nvPr/>
        </p:nvSpPr>
        <p:spPr>
          <a:xfrm>
            <a:off x="6345936" y="52120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人吉(九州) 220/110/66kV</a:t>
            </a:r>
            <a:endParaRPr lang="en-US" sz="1050" dirty="0"/>
          </a:p>
        </p:txBody>
      </p:sp>
      <p:pic>
        <p:nvPicPr>
          <p:cNvPr id="13" name="Image 3" descr="assets/geo_zuker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52560" y="1508760"/>
            <a:ext cx="2670048" cy="4206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052560" y="5138928"/>
            <a:ext cx="2670048" cy="576072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5" name="Text 9"/>
          <p:cNvSpPr/>
          <p:nvPr/>
        </p:nvSpPr>
        <p:spPr>
          <a:xfrm>
            <a:off x="9162288" y="52120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瑞慶覧(沖縄) 132/66kV</a:t>
            </a:r>
            <a:endParaRPr lang="en-US" sz="1050" dirty="0"/>
          </a:p>
        </p:txBody>
      </p:sp>
      <p:sp>
        <p:nvSpPr>
          <p:cNvPr id="16" name="Text 10"/>
          <p:cNvSpPr/>
          <p:nvPr/>
        </p:nvSpPr>
        <p:spPr>
          <a:xfrm>
            <a:off x="603504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SLDPane も同時生成される(ここでは衛星側のみ)。10地域・6,956所を同一コードで処理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300" kern="0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 COVERAGE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被覆と、正直な限界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03504" y="16002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F1E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6,956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対象変電所(全国)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3504" y="317296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7BEC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68%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40080" y="408736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回線数のOSM証拠被覆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4745736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D627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14%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40080" y="566013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母線way記載率 — 最大の欠測(issue #49)</a:t>
            </a:r>
            <a:endParaRPr lang="en-US" sz="1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480560" y="1371600"/>
          <a:ext cx="713232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300" kern="0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 INVARIANTS &amp; ROLLOUT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不変条件と全所展開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03504" y="1700784"/>
            <a:ext cx="146304" cy="14630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645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捏造ゼロ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77824" y="1993392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実証拠のみで接続。無タグ値は unknown のまま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29584" y="1700784"/>
            <a:ext cx="146304" cy="14630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8" name="Text 6"/>
          <p:cNvSpPr/>
          <p:nvPr/>
        </p:nvSpPr>
        <p:spPr>
          <a:xfrm>
            <a:off x="3803904" y="1645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全端子に根拠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803904" y="1993392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vertex-shared / polygon / leadin / name-evidence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" y="2935224"/>
            <a:ext cx="146304" cy="146304"/>
          </a:xfrm>
          <a:prstGeom prst="rect">
            <a:avLst/>
          </a:prstGeom>
          <a:solidFill>
            <a:srgbClr val="9467BD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2880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推定は推定と明記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3227832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流向(入/出)は推定であり凡例に明記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529584" y="2935224"/>
            <a:ext cx="146304" cy="146304"/>
          </a:xfrm>
          <a:prstGeom prst="rect">
            <a:avLst/>
          </a:prstGeom>
          <a:solidFill>
            <a:srgbClr val="17BECF"/>
          </a:solidFill>
          <a:ln/>
        </p:spPr>
      </p:sp>
      <p:sp>
        <p:nvSpPr>
          <p:cNvPr id="14" name="Text 12"/>
          <p:cNvSpPr/>
          <p:nvPr/>
        </p:nvSpPr>
        <p:spPr>
          <a:xfrm>
            <a:off x="3803904" y="2880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決定的に再生成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803904" y="3227832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OSM更新に全所が追随できる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20840" y="1508760"/>
            <a:ext cx="4846320" cy="4892040"/>
          </a:xfrm>
          <a:prstGeom prst="roundRect">
            <a:avLst>
              <a:gd name="adj" fmla="val 1698"/>
            </a:avLst>
          </a:prstGeom>
          <a:solidFill>
            <a:srgbClr val="1F1F26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7830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全所展開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059168" y="2404872"/>
            <a:ext cx="365760" cy="365760"/>
          </a:xfrm>
          <a:prstGeom prst="ellipse">
            <a:avLst/>
          </a:prstGeom>
          <a:solidFill>
            <a:srgbClr val="FFD54F"/>
          </a:solidFill>
          <a:ln/>
        </p:spPr>
      </p:sp>
      <p:sp>
        <p:nvSpPr>
          <p:cNvPr id="19" name="Text 17"/>
          <p:cNvSpPr/>
          <p:nvPr/>
        </p:nvSpPr>
        <p:spPr>
          <a:xfrm>
            <a:off x="7059168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589520" y="23774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全6,956所を一括描画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589520" y="27432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54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pws-160core・10地域並列 — 実行中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059168" y="3392424"/>
            <a:ext cx="365760" cy="365760"/>
          </a:xfrm>
          <a:prstGeom prst="ellipse">
            <a:avLst/>
          </a:prstGeom>
          <a:solidFill>
            <a:srgbClr val="2A2A33"/>
          </a:solidFill>
          <a:ln/>
        </p:spPr>
      </p:sp>
      <p:sp>
        <p:nvSpPr>
          <p:cNvPr id="23" name="Text 21"/>
          <p:cNvSpPr/>
          <p:nvPr/>
        </p:nvSpPr>
        <p:spPr>
          <a:xfrm>
            <a:off x="7059168" y="3392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89520" y="33649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検索付き全国ギャラリー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589520" y="373075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地域index+HTML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059168" y="4379976"/>
            <a:ext cx="365760" cy="365760"/>
          </a:xfrm>
          <a:prstGeom prst="ellipse">
            <a:avLst/>
          </a:prstGeom>
          <a:solidFill>
            <a:srgbClr val="2A2A33"/>
          </a:solidFill>
          <a:ln/>
        </p:spPr>
      </p:sp>
      <p:sp>
        <p:nvSpPr>
          <p:cNvPr id="27" name="Text 25"/>
          <p:cNvSpPr/>
          <p:nvPr/>
        </p:nvSpPr>
        <p:spPr>
          <a:xfrm>
            <a:off x="7059168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589520" y="435254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editor統合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589520" y="4718304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地図クリックでその場表示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059168" y="5367528"/>
            <a:ext cx="365760" cy="365760"/>
          </a:xfrm>
          <a:prstGeom prst="ellipse">
            <a:avLst/>
          </a:prstGeom>
          <a:solidFill>
            <a:srgbClr val="2A2A33"/>
          </a:solidFill>
          <a:ln/>
        </p:spPr>
      </p:sp>
      <p:sp>
        <p:nvSpPr>
          <p:cNvPr id="31" name="Text 29"/>
          <p:cNvSpPr/>
          <p:nvPr/>
        </p:nvSpPr>
        <p:spPr>
          <a:xfrm>
            <a:off x="7059168" y="5367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5A3A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589520" y="534009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OSM貢献ループ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589520" y="5705856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母線なし所の調査(issue #49)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3504" y="6172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限界も見せる: 流向不明(灰)の主因は対向変電所のOSM欠測 — 図の飾りではなくデータの正直な状態表示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eo_zukeran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85800"/>
            <a:ext cx="676656" cy="246888"/>
          </a:xfrm>
          <a:prstGeom prst="roundRect">
            <a:avLst>
              <a:gd name="adj" fmla="val 18519"/>
            </a:avLst>
          </a:prstGeom>
          <a:solidFill>
            <a:srgbClr val="D627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500kV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426464" y="685800"/>
            <a:ext cx="676656" cy="246888"/>
          </a:xfrm>
          <a:prstGeom prst="roundRect">
            <a:avLst>
              <a:gd name="adj" fmla="val 18519"/>
            </a:avLst>
          </a:prstGeom>
          <a:solidFill>
            <a:srgbClr val="FF7F0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275kV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212848" y="685800"/>
            <a:ext cx="676656" cy="246888"/>
          </a:xfrm>
          <a:prstGeom prst="roundRect">
            <a:avLst>
              <a:gd name="adj" fmla="val 18519"/>
            </a:avLst>
          </a:prstGeom>
          <a:solidFill>
            <a:srgbClr val="9467B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154kV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2999232" y="685800"/>
            <a:ext cx="676656" cy="246888"/>
          </a:xfrm>
          <a:prstGeom prst="roundRect">
            <a:avLst>
              <a:gd name="adj" fmla="val 18519"/>
            </a:avLst>
          </a:prstGeom>
          <a:solidFill>
            <a:srgbClr val="17BE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66kV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03504" y="2148840"/>
            <a:ext cx="11155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4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変電所の中身は、公開データと</a:t>
            </a:r>
            <a:endParaRPr lang="en-US" sz="3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400" b="1" dirty="0">
                <a:solidFill>
                  <a:srgbClr val="F2F1E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根拠付き抽出だけで全国一括「見える化」できる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21792" y="4846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5A3A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docs/SUBSLD_METHOD.md ・ issue #49 ・ data/subsld(全国ギャラリー)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21792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54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SubSLD法 — All-Japan-Grid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2026-08-26T12:59:03Z</dcterms:created>
  <dcterms:modified xsi:type="dcterms:W3CDTF">2026-08-26T12:59:03Z</dcterms:modified>
</cp:coreProperties>
</file>