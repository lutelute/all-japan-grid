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Hiragino Sans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Hiragino Sans"/>
              </a:rPr>
              <a:t>母線way記載率(%) — OSMマッピング粒度の地域差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母線way記載率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北海道</c:v>
                  </c:pt>
                  <c:pt idx="1">
                    <c:v>東北</c:v>
                  </c:pt>
                  <c:pt idx="2">
                    <c:v>北陸</c:v>
                  </c:pt>
                  <c:pt idx="3">
                    <c:v>四国</c:v>
                  </c:pt>
                  <c:pt idx="4">
                    <c:v>中国</c:v>
                  </c:pt>
                  <c:pt idx="5">
                    <c:v>中部</c:v>
                  </c:pt>
                  <c:pt idx="6">
                    <c:v>九州</c:v>
                  </c:pt>
                  <c:pt idx="7">
                    <c:v>関西</c:v>
                  </c:pt>
                  <c:pt idx="8">
                    <c:v>沖縄</c:v>
                  </c:pt>
                  <c:pt idx="9">
                    <c:v>東京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</c:v>
                </c:pt>
                <c:pt idx="1">
                  <c:v>25</c:v>
                </c:pt>
                <c:pt idx="2">
                  <c:v>25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E3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F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SubSLD法：公開地理データからの</a:t>
            </a:r>
            <a:endParaRPr lang="en-US" sz="33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変電所内部構成の実証的機械生成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50392" y="2743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Evidence-Paired Substation Single-Line Diagramming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All-Japan-Grid Project  /  2026-08-26</a:t>
            </a:r>
            <a:endParaRPr lang="en-US" sz="1300" dirty="0"/>
          </a:p>
        </p:txBody>
      </p:sp>
      <p:pic>
        <p:nvPicPr>
          <p:cNvPr id="5" name="Image 0" descr="assets/geo_shinkeiy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60520"/>
            <a:ext cx="12188952" cy="2697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図: GeoPane(新京葉変電所) — OSM実証拠を地理院写真上に重畳した実出力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背景と貢献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系統解析に必要な変電所内部構成（母線・変圧器・回線・導体）は事業者内部資料であり、研究利用できる全国データが存在しない。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先行実証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嶺南変電所1所において、OSM実データのみから node-breaker 構造を手作業で確認できた（2026-07, GridStitch P2）。本手法はその全国機械化である。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18562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69480" y="17282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全国6,956変電所の内部構造（母線・ベイ・端子・変圧器）をOSM実証拠のみから決定的に抽出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770632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0266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69480" y="28986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回線数・導体数を線タグから変電所単位に集約（証拠と推計を分離保持）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941064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1970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4069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構内幾何×単線結線図の「実証ペア図」を全所自動生成（衛星重畳・根拠付き）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5111496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53675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269480" y="52395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捏造ゼロ・全端子根拠・推定明記・再現可能という検証可能性の設計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 PROBLEM SETTING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問題設定と表記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入力はOSM由来の地域別データ（変電所ポリゴン・送電線way・タグ）。座標は約1m格子に量子化して同一設備を融合し、同期島ごとの座標グラフを構成する。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042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( round(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5),  round(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5) 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約1m格子への量子化 — 同一設備の融合キー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3042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(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09360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同期島 I ごとの座標グラフ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記号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s,  Poly(s)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40233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変電所サイトとその敷地ポリゴン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4988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W_busbar / W_bay / W_main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4988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構内way（line=busbar / bay）と本線way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9743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∈ Terminals(s)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974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線端の束縛レコード（根拠 binding を保持）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449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kv_v,  L(s,v)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544982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電圧階級 v と、その階級に束縛された線集合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925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far(g)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592531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線グループ g の対向変電所集合（connections + 線名から解決）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 METHOD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3段パイプライン（データフロー）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3736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OSM 地域別データ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substations / lines / タグ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20440" y="16916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691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GridStitch P2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構造抽出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30175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構造DB（node-breaker）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Site / VL / Busbar / Bay /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Terminal / Trafo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91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プロパティ層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回線・導体の集約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0175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301752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substation_properties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（5,920サイト）+ sub_props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35440" y="1691640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SubSLD 描画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GeoPane × SLDPane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9720" y="30175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301752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実証ペア図 PNG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6,956所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121408"/>
            <a:ext cx="566928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90288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87568" y="2121408"/>
            <a:ext cx="685800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70648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67928" y="2121408"/>
            <a:ext cx="640080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332720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4224528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9448" y="4224528"/>
            <a:ext cx="211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③の補助入力: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地理院タイル・鉄塔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connections（対向解決）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32720" y="3968496"/>
            <a:ext cx="0" cy="23774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5504688"/>
            <a:ext cx="146304" cy="146304"/>
          </a:xfrm>
          <a:prstGeom prst="rect">
            <a:avLst/>
          </a:prstGeom>
          <a:solidFill>
            <a:srgbClr val="17BECF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決定的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96112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同一入力→同一出力。OSM更新に全所追随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17136" y="5504688"/>
            <a:ext cx="146304" cy="14630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根拠付き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773168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 Terminal に binding（証拠語彙）を刻む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94192" y="5504688"/>
            <a:ext cx="146304" cy="146304"/>
          </a:xfrm>
          <a:prstGeom prst="rect">
            <a:avLst/>
          </a:prstGeom>
          <a:solidFill>
            <a:srgbClr val="9467BD"/>
          </a:solidFill>
          <a:ln/>
        </p:spPr>
      </p:sp>
      <p:sp>
        <p:nvSpPr>
          <p:cNvPr id="34" name="Text 32"/>
          <p:cNvSpPr/>
          <p:nvPr/>
        </p:nvSpPr>
        <p:spPr>
          <a:xfrm>
            <a:off x="8650224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冪等・再開可能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50224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全段が regen パイプライン(STEPS)に組込済み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実装: build_substation_structure.py ・ build_substation_properties.py ・ build_subsld_batch.py（手法文書 docs/SUBSLD_METHOD.md）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概念図 — 観測から証拠閉包、実証ペア図へ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 O（OSM）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2286000"/>
            <a:ext cx="2926080" cy="2377440"/>
          </a:xfrm>
          <a:prstGeom prst="roundRect">
            <a:avLst>
              <a:gd name="adj" fmla="val 9615"/>
            </a:avLst>
          </a:prstGeom>
          <a:ln w="15240">
            <a:solidFill>
              <a:srgbClr val="9A9A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00200" y="269748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FFFDF2"/>
          </a:solidFill>
          <a:ln w="27940">
            <a:solidFill>
              <a:srgbClr val="E0A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3200400"/>
            <a:ext cx="1554480" cy="0"/>
          </a:xfrm>
          <a:prstGeom prst="line">
            <a:avLst/>
          </a:prstGeom>
          <a:noFill/>
          <a:ln w="50800">
            <a:solidFill>
              <a:srgbClr val="D627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 way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1645920" cy="1188720"/>
          </a:xfrm>
          <a:prstGeom prst="line">
            <a:avLst/>
          </a:prstGeom>
          <a:noFill/>
          <a:ln w="22860">
            <a:solidFill>
              <a:srgbClr val="17BE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8568" y="3127248"/>
            <a:ext cx="146304" cy="146304"/>
          </a:xfrm>
          <a:prstGeom prst="ellipse">
            <a:avLst/>
          </a:prstGeom>
          <a:solidFill>
            <a:srgbClr val="D627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85800" y="3794760"/>
            <a:ext cx="2194560" cy="685800"/>
          </a:xfrm>
          <a:prstGeom prst="line">
            <a:avLst/>
          </a:prstGeom>
          <a:noFill/>
          <a:ln w="22860">
            <a:solidFill>
              <a:srgbClr val="17BE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7208" y="3721608"/>
            <a:ext cx="146304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3703320" y="1920240"/>
            <a:ext cx="822960" cy="594360"/>
          </a:xfrm>
          <a:prstGeom prst="line">
            <a:avLst/>
          </a:prstGeom>
          <a:noFill/>
          <a:ln w="22860">
            <a:solidFill>
              <a:srgbClr val="17BEC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11880" y="2432304"/>
            <a:ext cx="164592" cy="146304"/>
          </a:xfrm>
          <a:prstGeom prst="triangle">
            <a:avLst/>
          </a:prstGeom>
          <a:solidFill>
            <a:srgbClr val="FF7F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92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vertex（頂点共有）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77B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■ polygon（内包）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7F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leadin（帯 δ）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黄=敷地 Poly(s) ／ 破線=引込帯 0.6km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200400"/>
            <a:ext cx="1371600" cy="7772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0060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証拠閉包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4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 S*（node-breaker） → SubSLD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22008" y="2350008"/>
            <a:ext cx="0" cy="91440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22008" y="2532888"/>
            <a:ext cx="27432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386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27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 500kV ─ Busbar ─ Terminal(●)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22008" y="2898648"/>
            <a:ext cx="27432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2752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BE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 66kV  ─ Terminal(▲)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22008" y="3264408"/>
            <a:ext cx="27432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1181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Trafo(structural)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49440" y="4114800"/>
            <a:ext cx="3291840" cy="0"/>
          </a:xfrm>
          <a:prstGeom prst="line">
            <a:avLst/>
          </a:prstGeom>
          <a:noFill/>
          <a:ln w="44450">
            <a:solidFill>
              <a:srgbClr val="D627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7406640" y="3703320"/>
            <a:ext cx="0" cy="41148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534656" y="3703320"/>
            <a:ext cx="0" cy="41148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8412480" y="3703320"/>
            <a:ext cx="0" cy="41148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5166360"/>
            <a:ext cx="3291840" cy="0"/>
          </a:xfrm>
          <a:prstGeom prst="line">
            <a:avLst/>
          </a:prstGeom>
          <a:noFill/>
          <a:ln w="44450">
            <a:solidFill>
              <a:srgbClr val="17BE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5166360"/>
            <a:ext cx="0" cy="411480"/>
          </a:xfrm>
          <a:prstGeom prst="line">
            <a:avLst/>
          </a:prstGeom>
          <a:noFill/>
          <a:ln w="19050">
            <a:solidFill>
              <a:srgbClr val="17BECF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601200" y="4114800"/>
            <a:ext cx="0" cy="10515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73184" y="4407408"/>
            <a:ext cx="256032" cy="256032"/>
          </a:xfrm>
          <a:prstGeom prst="ellipse">
            <a:avLst/>
          </a:prstGeom>
          <a:ln w="19050">
            <a:solidFill>
              <a:srgbClr val="44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73184" y="4590288"/>
            <a:ext cx="256032" cy="256032"/>
          </a:xfrm>
          <a:prstGeom prst="ellipse">
            <a:avLst/>
          </a:prstGeom>
          <a:ln w="19050">
            <a:solidFill>
              <a:srgbClr val="44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2回線=2ストローク ／ 破線=leadin ／ 二重円=変圧器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V="1">
            <a:off x="2788920" y="2395728"/>
            <a:ext cx="3995928" cy="1399032"/>
          </a:xfrm>
          <a:prstGeom prst="line">
            <a:avLst/>
          </a:prstGeom>
          <a:noFill/>
          <a:ln w="12700">
            <a:solidFill>
              <a:srgbClr val="9A9AA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29768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witnesses（全要素が観測へ遡れる）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観測に証人を持つ要素だけが構造になり、その構造だけが描かれる — 概念図の全要素が §4-7 の定義に対応する。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 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定式化 — 構造抽出は「証拠閉包」作用素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 O =（敷地ポリゴン, way集合, タグ）から構造 S への写像 F を、「証拠に支持される要素すべてからなる最大の構造」として定義する。ルールの列挙ではなく、この閉包が手法の本体である。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871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S</a:t>
            </a:r>
            <a:pPr algn="ctr" indent="0" marL="0">
              <a:buNone/>
            </a:pPr>
            <a:r>
              <a:rPr lang="en-US" sz="2200" baseline="3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*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{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|  witnesses(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≠ ∅ 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972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 1（Fの性質）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(i) 決定性: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 は関数（同一入力→同一出力・全国テストで機械検証）　</a:t>
            </a:r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(ii) 冪等性: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 の再適用は構造を変えない（regen 安全）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(iii) 健全性: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S* の全要素は証拠の証人を持つ（構成より直ちに成立 — 「捏造ゼロ」の形式的表現）。逆に完全性は OSM 被覆に依存し、これは主張せず測定して報告する（§10）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Algorithm 1（構内wayの連結成分分解＋端子束縛）は F の計算的実現である。擬似コードは補遺に。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 EVIDENCE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端子束縛 — 証拠の辞書式最大化と整合制約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線端 t の束縛は、証拠クラスの全順序 ≻ の下で成立する最強の証拠を選ぶ argmax として定義する。弱い証拠は図でも弱く（破線で）描かれ、証拠の強さが可視化まで貫通する。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binding(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max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≻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{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|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は t の証人 }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vertex  ≻  polygon  ≻  leadin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（頂点共有 ≻ 敷地内包 ≻ 引込帯 0.6 km）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整合制約 — 電圧整合ゲート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4F4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99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admit(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⇔  witnesses ≠ ∅  ∧  ¬( |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| &gt; 0.25 ⋅ max(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1) 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54406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5513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ケースA 適合（接続）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554480" y="6053328"/>
            <a:ext cx="1554480" cy="0"/>
          </a:xfrm>
          <a:prstGeom prst="line">
            <a:avLst/>
          </a:prstGeom>
          <a:noFill/>
          <a:ln w="27940">
            <a:solidFill>
              <a:srgbClr val="17BE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0672" y="5980176"/>
            <a:ext cx="146304" cy="146304"/>
          </a:xfrm>
          <a:prstGeom prst="ellipse">
            <a:avLst/>
          </a:prstGeom>
          <a:solidFill>
            <a:srgbClr val="17BECF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5943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66kV線 → 66kVノード:  </a:t>
            </a:r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|66−66| = 0 ≤ 25%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54406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627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5513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ケースB 棄却（c1 実例）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5623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178040" y="6053328"/>
            <a:ext cx="1554480" cy="0"/>
          </a:xfrm>
          <a:prstGeom prst="line">
            <a:avLst/>
          </a:prstGeom>
          <a:noFill/>
          <a:ln w="27940">
            <a:solidFill>
              <a:srgbClr val="17BE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14232" y="5980176"/>
            <a:ext cx="146304" cy="146304"/>
          </a:xfrm>
          <a:prstGeom prst="ellipse">
            <a:avLst/>
          </a:prstGeom>
          <a:solidFill>
            <a:srgbClr val="9467BD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5943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66kV線 → 154kVノード:  </a:t>
            </a:r>
            <a:pPr indent="0" marL="0">
              <a:buNone/>
            </a:pPr>
            <a:r>
              <a:rPr lang="en-US" sz="1050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乖離133% &gt; 25%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ケースBは併架・並走回廊の物理近接（80m以内）だったが棄却が正解 — 後に断片側が登録人工物と判明（2026-08-20 c1）。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 ESTIMATION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回線数推定 — 証明付き下界推定器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「無タグを推測で埋めない」を、推定器の下界性として定式化する。タグ意味論の仮定の下で、集約値は真値を決して過大評価しない。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414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ĉ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tag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|   ⌊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cables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3 ⌋   |   1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  （タグあり／cablesのみ／証拠なし）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109728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 2（下界性）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0416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sum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≤  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est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≤  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true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∵ 各線で ĉ(w) ≤ c_true(w)：タグ値は真値（仮定A1: circuitsタグは正しい）、⌊cables/3⌋ は3相導体数からの下界（A2）、実在する線は1回線以上。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1680" y="5138928"/>
            <a:ext cx="81381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08960" y="5029200"/>
            <a:ext cx="0" cy="219456"/>
          </a:xfrm>
          <a:prstGeom prst="line">
            <a:avLst/>
          </a:prstGeom>
          <a:noFill/>
          <a:ln w="27940">
            <a:solidFill>
              <a:srgbClr val="17BE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7BEC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sum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5029200"/>
            <a:ext cx="0" cy="219456"/>
          </a:xfrm>
          <a:prstGeom prst="line">
            <a:avLst/>
          </a:prstGeom>
          <a:noFill/>
          <a:ln w="2794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5029200"/>
            <a:ext cx="0" cy="219456"/>
          </a:xfrm>
          <a:prstGeom prst="line">
            <a:avLst/>
          </a:prstGeom>
          <a:noFill/>
          <a:ln w="27940">
            <a:solidFill>
              <a:srgbClr val="D627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27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true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5065776"/>
            <a:ext cx="3291840" cy="146304"/>
          </a:xfrm>
          <a:prstGeom prst="rect">
            <a:avLst/>
          </a:prstGeom>
          <a:solidFill>
            <a:srgbClr val="F2C4C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5596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未観測ぶん（欠測）— 推測で埋めず、この幅自体を測って報告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系: 表示回線数は「少なくともこれだけ存在する」の主張 — 系統計算でも容量を過大評価しない側に誤る（導体数 wires も同構成で下界）。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 INFERENCE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流向推定 — 電圧半順序上の三値推定器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変電所集合に「最大電圧階級」による半順序を入れ、線グループ g の流向を三値推定器 d̂ で与える。判定不能は無理に埋めず、棄権 ⊥ を第三の出力として原理化する（図では灰）。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7635240" cy="2148840"/>
          </a:xfrm>
          <a:prstGeom prst="roundRect">
            <a:avLst>
              <a:gd name="adj" fmla="val 2553"/>
            </a:avLst>
          </a:prstGeom>
          <a:solidFill>
            <a:srgbClr val="F4F4F6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237744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1430">
            <a:solidFill>
              <a:srgbClr val="D8D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27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 ≻ 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66960" y="2724912"/>
            <a:ext cx="0" cy="45720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10412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32520" y="3310128"/>
            <a:ext cx="265176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v（自所の階級）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3252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BEC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 ∼ 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66960" y="3703320"/>
            <a:ext cx="0" cy="457200"/>
          </a:xfrm>
          <a:prstGeom prst="line">
            <a:avLst/>
          </a:prstGeom>
          <a:noFill/>
          <a:ln w="25400">
            <a:solidFill>
              <a:srgbClr val="17BECF"/>
            </a:solidFill>
            <a:prstDash val="solid"/>
            <a:headEnd type="triangle"/>
          </a:ln>
        </p:spPr>
      </p:sp>
      <p:sp>
        <p:nvSpPr>
          <p:cNvPr id="14" name="Text 12"/>
          <p:cNvSpPr/>
          <p:nvPr/>
        </p:nvSpPr>
        <p:spPr>
          <a:xfrm>
            <a:off x="1010412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BE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6132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far=∅ → ⊥（灰）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5146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: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→  { in,  out,  ⊥ }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960" y="309067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in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⇔   ∃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∈far(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): 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≻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800" dirty="0">
                <a:solidFill>
                  <a:srgbClr val="5555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∨     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8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kv</a:t>
            </a:r>
            <a:pPr algn="ctr" indent="0" marL="0">
              <a:buNone/>
            </a:pPr>
            <a:r>
              <a:rPr lang="en-US" sz="18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top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6393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⊥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⇔   far(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∅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  （対向が解決できない時は棄権 — 埋めない）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far(g) は connections（両端束縛線）を第一資料とし、欠測時のみ線名の name-evidence（「A~B線」等）で補完する。棄権率は隠さず評価指標として報告する — 棄権の主因は対向変電所自体の OSM 欠測であり、手法の誤りではなくデータ被覆の測定値である。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実証ペア図 — 新京葉変電所（500/275/154/66kV）</a:t>
            </a:r>
            <a:endParaRPr lang="en-US" sz="2500" dirty="0"/>
          </a:p>
        </p:txBody>
      </p:sp>
      <p:pic>
        <p:nvPicPr>
          <p:cNvPr id="4" name="Image 0" descr="assets/pair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481328"/>
            <a:ext cx="106070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199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図1  実証ペア図（新京葉変電所）。左: GeoPane（構内幾何・端子根拠・鉄塔・インセット）　右: SLDPane（母線セクション・回線ストローク・流向・変圧器・スルー）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全国適用 — 10地域・6,956所を同一コードで処理</a:t>
            </a:r>
            <a:endParaRPr lang="en-US" sz="2500" dirty="0"/>
          </a:p>
        </p:txBody>
      </p:sp>
      <p:pic>
        <p:nvPicPr>
          <p:cNvPr id="4" name="Image 0" descr="assets/geo_minamihayaki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26517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南早来（北海道）275/187/66</a:t>
            </a:r>
            <a:endParaRPr lang="en-US" sz="1050" dirty="0"/>
          </a:p>
        </p:txBody>
      </p:sp>
      <p:pic>
        <p:nvPicPr>
          <p:cNvPr id="6" name="Image 1" descr="assets/geo_sun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56432" y="1554480"/>
            <a:ext cx="265176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6432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駿遠（中部）500/275/154/77</a:t>
            </a:r>
            <a:endParaRPr lang="en-US" sz="1050" dirty="0"/>
          </a:p>
        </p:txBody>
      </p:sp>
      <p:pic>
        <p:nvPicPr>
          <p:cNvPr id="8" name="Image 2" descr="assets/geo_hitoyosh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72784" y="1554480"/>
            <a:ext cx="2651760" cy="3566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72784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人吉（九州）220/110/66</a:t>
            </a:r>
            <a:endParaRPr lang="en-US" sz="1050" dirty="0"/>
          </a:p>
        </p:txBody>
      </p:sp>
      <p:pic>
        <p:nvPicPr>
          <p:cNvPr id="10" name="Image 3" descr="assets/geo_zukera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89136" y="1554480"/>
            <a:ext cx="2651760" cy="35661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89136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瑞慶覧（沖縄）132/66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40080" y="57150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図2  各地域の代表例（GeoPane 抜粋）。バッチ生成器（再開可能・タイルキャッシュ）により全所を一括描画 — 約1〜6秒/所・10地域並列で全国約1時間（pws-160core 実測）。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被覆の定量評価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6,956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76656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対象変電所（構造抽出は全数成功）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68.2%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76656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回線数のOSM証拠被覆（線ベース）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627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13.9%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76656" y="5532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母線way記載率 — 最大の欠測（issue #49）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480560" y="1463040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限界と考察 — 欠測を欠測として見せる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母線wayの欠測 86%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OSMマッピング粒度の地域差（北海道53% ⇔ 東京5%）。母線なしサイトは1母線仮定で描画される。推定母線の導入は inferred マーカー前提で検討（issue #49）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流向不明（灰スタブ）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258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主因は対向変電所自体のOSM欠測。connections＋線名 name-evidence で低減したが、残余は「不明」を明示する設計を保つ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87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leadin の偽陽性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引込帯0.6kmは近傍通過線を拾い得る。弱い証拠を弱く描く（破線）ことで図上でも可視化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087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導体数被覆 12.7%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544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wiresタグ自体が希少。航空写真からの検出（TTPLA系）が補完候補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結論と今後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変電所の内部構成は、公開データと根拠付き抽出のみで全国一括に「見える化」できる。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本研究の要点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・3段パイプライン（抽出・集約・描画）を全て決定的・冪等に実装し、OSM更新へ全所追随可能とした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・証拠語彙（vertex ≻ polygon ≻ leadin）と電圧整合ゲートで、捏造ゼロのまま接続を主張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・回線数・導体数は証拠と推計を分離保持し、欠測を欠測として報告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今後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・editor統合（地図クリックでSubSLD表示）　・OSM貢献ループ（母線なし所の衛星判読→編集候補）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・変圧器銘板の出典拡充　・推定母線（inferred）の設計検討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資料: docs/SUBSLD_METHOD.md ・ github.com/lutelute/All-Japan-Grid ・ issue #49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2026-08-26T13:50:16Z</dcterms:created>
  <dcterms:modified xsi:type="dcterms:W3CDTF">2026-08-26T13:50:16Z</dcterms:modified>
</cp:coreProperties>
</file>