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1A1A"/>
                </a:solidFill>
                <a:latin typeface="Hiragino Sans"/>
              </a:defRPr>
            </a:pPr>
            <a:r>
              <a:rPr sz="1300" b="0" i="0" u="none" strike="noStrike">
                <a:solidFill>
                  <a:srgbClr val="1A1A1A"/>
                </a:solidFill>
                <a:latin typeface="Hiragino Sans"/>
              </a:rPr>
              <a:t>母線way記載率(%) — OSMマッピング粒度の地域差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母線way記載率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1A1A"/>
                    </a:solidFill>
                    <a:latin typeface="Helvetica Neue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北海道</c:v>
                  </c:pt>
                  <c:pt idx="1">
                    <c:v>東北</c:v>
                  </c:pt>
                  <c:pt idx="2">
                    <c:v>北陸</c:v>
                  </c:pt>
                  <c:pt idx="3">
                    <c:v>四国</c:v>
                  </c:pt>
                  <c:pt idx="4">
                    <c:v>中国</c:v>
                  </c:pt>
                  <c:pt idx="5">
                    <c:v>中部</c:v>
                  </c:pt>
                  <c:pt idx="6">
                    <c:v>九州</c:v>
                  </c:pt>
                  <c:pt idx="7">
                    <c:v>関西</c:v>
                  </c:pt>
                  <c:pt idx="8">
                    <c:v>沖縄</c:v>
                  </c:pt>
                  <c:pt idx="9">
                    <c:v>東京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53</c:v>
                </c:pt>
                <c:pt idx="1">
                  <c:v>25</c:v>
                </c:pt>
                <c:pt idx="2">
                  <c:v>25</c:v>
                </c:pt>
                <c:pt idx="3">
                  <c:v>12</c:v>
                </c:pt>
                <c:pt idx="4">
                  <c:v>11</c:v>
                </c:pt>
                <c:pt idx="5">
                  <c:v>10</c:v>
                </c:pt>
                <c:pt idx="6">
                  <c:v>10</c:v>
                </c:pt>
                <c:pt idx="7">
                  <c:v>8</c:v>
                </c:pt>
                <c:pt idx="8">
                  <c:v>5</c:v>
                </c:pt>
                <c:pt idx="9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A1A1A"/>
                  </a:solidFill>
                  <a:latin typeface="Helvetica Neue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Hiragino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6350" cap="flat">
              <a:solidFill>
                <a:srgbClr val="E3E3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5555F"/>
                </a:solidFill>
                <a:latin typeface="Helvetica Neu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10607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SubSLD法：公開地理データからの</a:t>
            </a:r>
            <a:endParaRPr lang="en-US" sz="33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変電所内部構成の実証的機械生成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850392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Evidence-Paired Substation Single-Line Diagramming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50392" y="32918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All-Japan-Grid Project  /  2026-08-26</a:t>
            </a:r>
            <a:endParaRPr lang="en-US" sz="1300" dirty="0"/>
          </a:p>
        </p:txBody>
      </p:sp>
      <p:pic>
        <p:nvPicPr>
          <p:cNvPr id="5" name="Image 0" descr="assets/geo_shinkeiy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4160520"/>
            <a:ext cx="12188952" cy="2697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160520"/>
            <a:ext cx="12188952" cy="2697480"/>
          </a:xfrm>
          <a:prstGeom prst="rect">
            <a:avLst/>
          </a:prstGeom>
          <a:solidFill>
            <a:srgbClr val="000000">
              <a:alpha val="22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63550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図: GeoPane(新京葉変電所) — OSM実証拠を地理院写真上に重畳した実出力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 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背景と貢献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3949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系統解析に必要な変電所内部構成（母線・変圧器・回線・導体）は事業者内部資料であり、研究利用できる全国データが存在しない。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先行実証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嶺南変電所1所において、OSM実データのみから node-breaker 構造を手作業で確認できた（2026-07, GridStitch P2）。本手法はその全国機械化である。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0" y="1600200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6" name="Text 4"/>
          <p:cNvSpPr/>
          <p:nvPr/>
        </p:nvSpPr>
        <p:spPr>
          <a:xfrm>
            <a:off x="6629400" y="1856232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269480" y="172821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全国6,956変電所の内部構造（母線・ベイ・端子・変圧器）をOSM実証拠のみから決定的に抽出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2770632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9" name="Text 7"/>
          <p:cNvSpPr/>
          <p:nvPr/>
        </p:nvSpPr>
        <p:spPr>
          <a:xfrm>
            <a:off x="6629400" y="3026664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269480" y="289864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回線数・導体数を線タグから変電所単位に集約（証拠と推計を分離保持）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0" y="3941064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4197096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269480" y="4069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構内幾何×単線結線図の「実証ペア図」を全所自動生成（衛星重畳・根拠付き）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0" y="5111496"/>
            <a:ext cx="5212080" cy="1024128"/>
          </a:xfrm>
          <a:prstGeom prst="roundRect">
            <a:avLst>
              <a:gd name="adj" fmla="val 5357"/>
            </a:avLst>
          </a:prstGeom>
          <a:solidFill>
            <a:srgbClr val="F4F4F6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5367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269480" y="5239512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捏造ゼロ・全端子根拠・推定明記・再現可能という検証可能性の設計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  PROBLEM SETTING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問題設定と表記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入力はOSM由来の地域別データ（変電所ポリゴン・送電線way・タグ）。座標は約1m格子に量子化して同一設備を融合し、同期島ごとの座標グラフを構成する。</a:t>
            </a:r>
            <a:endParaRPr lang="en-US" sz="1350" dirty="0"/>
          </a:p>
        </p:txBody>
      </p:sp>
      <p:pic>
        <p:nvPicPr>
          <p:cNvPr id="5" name="Image 0" descr="assets/eq_qua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286000"/>
            <a:ext cx="9875520" cy="10515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記号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22960" y="40233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s,  Poly(s)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0" y="402336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変電所サイトとその敷地ポリゴン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449884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W_busbar / W_bay / W_main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0" y="449884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構内way（line=busbar / bay）と本線way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" y="497433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∈ Terminals(s)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0" y="4974336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線端の束縛レコード（根拠 binding を保持）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22960" y="54498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kv_v,  L(s,v)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0" y="5449824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電圧階級 v と、その階級に束縛された線集合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22960" y="592531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far(g)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0" y="5925312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線グループ g の対向変電所集合（connections + 線名から解決）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 METHOD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3段パイプライン（データフロー）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228600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37360"/>
            <a:ext cx="20665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 地域別データ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substations / lines / タグ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352044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361188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① GridStitch P2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構造抽出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3017520"/>
            <a:ext cx="242316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93008" y="3017520"/>
            <a:ext cx="22037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構造DB（node-breaker）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Site / VL / Busbar / Bay /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Terminal / Trafo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400800" y="1691640"/>
            <a:ext cx="214884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691640"/>
            <a:ext cx="1965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② プロパティ層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回線・導体の集約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1908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substation_properties</a:t>
            </a:r>
            <a:endParaRPr lang="en-US" sz="10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（5,920サイト）+ sub_props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235440" y="1691640"/>
            <a:ext cx="2240280" cy="868680"/>
          </a:xfrm>
          <a:prstGeom prst="roundRect">
            <a:avLst>
              <a:gd name="adj" fmla="val 7368"/>
            </a:avLst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0" y="169164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 SubSLD 描画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GeoPane × SLDPane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89720" y="3017520"/>
            <a:ext cx="2331720" cy="9144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99448" y="3017520"/>
            <a:ext cx="21122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 PNG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× 6,956所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926080" y="2121408"/>
            <a:ext cx="566928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59028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5687568" y="2121408"/>
            <a:ext cx="68580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470648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8567928" y="2121408"/>
            <a:ext cx="640080" cy="0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10332720" y="2578608"/>
            <a:ext cx="0" cy="42062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189720" y="4224528"/>
            <a:ext cx="2331720" cy="841248"/>
          </a:xfrm>
          <a:prstGeom prst="roundRect">
            <a:avLst>
              <a:gd name="adj" fmla="val 6522"/>
            </a:avLst>
          </a:prstGeom>
          <a:solidFill>
            <a:srgbClr val="F4F4F6"/>
          </a:solidFill>
          <a:ln w="9525">
            <a:solidFill>
              <a:srgbClr val="D8D8D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99448" y="4224528"/>
            <a:ext cx="211226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③の補助入力: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地理院タイル・鉄塔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connections（対向解決）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10332720" y="4206240"/>
            <a:ext cx="0" cy="-237744"/>
          </a:xfrm>
          <a:prstGeom prst="line">
            <a:avLst/>
          </a:prstGeom>
          <a:noFill/>
          <a:ln w="20320">
            <a:solidFill>
              <a:srgbClr val="55555F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40080" y="5504688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28" name="Text 26"/>
          <p:cNvSpPr/>
          <p:nvPr/>
        </p:nvSpPr>
        <p:spPr>
          <a:xfrm>
            <a:off x="896112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決定的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896112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同一入力→同一出力。OSM更新に全所追随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517136" y="5504688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31" name="Text 29"/>
          <p:cNvSpPr/>
          <p:nvPr/>
        </p:nvSpPr>
        <p:spPr>
          <a:xfrm>
            <a:off x="4773168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根拠付き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4773168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 Terminal に binding（証拠語彙）を刻む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394192" y="5504688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34" name="Text 32"/>
          <p:cNvSpPr/>
          <p:nvPr/>
        </p:nvSpPr>
        <p:spPr>
          <a:xfrm>
            <a:off x="8650224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冪等・再開可能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8650224" y="5779008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全段が regen パイプライン(STEPS)に組込済み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40080" y="6236208"/>
            <a:ext cx="11155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実装: build_substation_structure.py ・ build_substation_properties.py ・ build_subsld_batch.py（手法文書 docs/SUBSLD_METHOD.md）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4  STAGE 1 — EXTRACTION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構造抽出と端子束縛（binding 述語）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463040"/>
            <a:ext cx="5852160" cy="4206240"/>
          </a:xfrm>
          <a:prstGeom prst="roundRect">
            <a:avLst>
              <a:gd name="adj" fmla="val 1304"/>
            </a:avLst>
          </a:prstGeom>
          <a:solidFill>
            <a:srgbClr val="F7F7F2"/>
          </a:solidFill>
          <a:ln w="9525">
            <a:solidFill>
              <a:srgbClr val="E0E0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1627632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Algorithm 1  構造抽出（1変電所）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14400" y="20299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入力: 変電所 feature s, 前処理済み ways W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3728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Poly(s) ← shape(s); V ← vcls(tag) ∪ vcls(構内線)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14400" y="27157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 for w ∈ W[busbar]: 頂点共有の連結成分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0586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→ BusbarSection（無タグは隣接から kv 導出）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4015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3: for w ∈ W[bay]: 同様 → Bay（接触母線を記録）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37444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4: for 各本線wayの端点 p: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14400" y="40873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5:   binding(p) ← vertex ≻ polygon ≻ leadin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44302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   Terminal(vl, attach, binding, par=ĉ(w))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731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7: 隣接電圧階級対 → Transformer(structural)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5116068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出力: SubstationStructure（決定的・全端子に根拠）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858000" y="16002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端子束縛の証拠語彙（強い順に採用）</a:t>
            </a:r>
            <a:endParaRPr lang="en-US" sz="1400" dirty="0"/>
          </a:p>
        </p:txBody>
      </p:sp>
      <p:pic>
        <p:nvPicPr>
          <p:cNvPr id="17" name="Image 0" descr="assets/eq_bi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103120"/>
            <a:ext cx="4892040" cy="169164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858000" y="397764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弱い証拠は図上でも弱く描く（leadin＝破線）。証拠の無い接続は作らない（捏造ゼロ）。name-evidence（「A~B線」等の線名）は connections 欠測時の対向解決のみに用い、接続そのものは作らない。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 STAGE 1 — SAFETY GATE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電圧整合ゲート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物理的に近接していても電気的に接続してはならない対（併架・並走回廊）を、電圧の相対乖離で棄却する。</a:t>
            </a:r>
            <a:endParaRPr lang="en-US" sz="1350" dirty="0"/>
          </a:p>
        </p:txBody>
      </p:sp>
      <p:pic>
        <p:nvPicPr>
          <p:cNvPr id="5" name="Image 0" descr="assets/eq_gat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2148840"/>
            <a:ext cx="777240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291840"/>
            <a:ext cx="10972800" cy="2468880"/>
          </a:xfrm>
          <a:prstGeom prst="roundRect">
            <a:avLst>
              <a:gd name="adj" fmla="val 2593"/>
            </a:avLst>
          </a:prstGeom>
          <a:solidFill>
            <a:srgbClr val="F4F4F6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正当性の事例（2026-08-20 断片解消キャンペーン c1）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甲府近郊の66kV断片は、154kV系のjunctionと物理的に80m以内で接触していたが、本ゲートが接続を正しく棄却。後の診断で断片自体が跨region二重登録の人工物と判明し、ゲートは「物理的には近いが電気的に繋いではならない」ケースを実証的に防いだ。以降もゲートは緩めない方針を採る。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  STAGE 2 — AGGREGATION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回線数・導体数の集約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線タグ（circuits / cables / wires）を terminal の line_key で構造DBに接合し、変電所×電圧階級の単位に集約する。証拠のある値と推計値を分離して保持し、無タグを推測で埋めない。</a:t>
            </a:r>
            <a:endParaRPr lang="en-US" sz="1350" dirty="0"/>
          </a:p>
        </p:txBody>
      </p:sp>
      <p:pic>
        <p:nvPicPr>
          <p:cNvPr id="5" name="Image 0" descr="assets/eq_circui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377440"/>
            <a:ext cx="10424160" cy="12344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導体数（wiresタグ）の写像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82296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2296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 導体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56032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1" name="Text 8"/>
          <p:cNvSpPr/>
          <p:nvPr/>
        </p:nvSpPr>
        <p:spPr>
          <a:xfrm>
            <a:off x="256032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56032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 導体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4" name="Text 11"/>
          <p:cNvSpPr/>
          <p:nvPr/>
        </p:nvSpPr>
        <p:spPr>
          <a:xfrm>
            <a:off x="429768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triple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29768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 導体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035040" y="4434840"/>
            <a:ext cx="1554480" cy="777240"/>
          </a:xfrm>
          <a:prstGeom prst="roundRect">
            <a:avLst>
              <a:gd name="adj" fmla="val 7059"/>
            </a:avLst>
          </a:prstGeom>
          <a:solidFill>
            <a:srgbClr val="F4F4F6"/>
          </a:solidFill>
          <a:ln/>
        </p:spPr>
      </p:sp>
      <p:sp>
        <p:nvSpPr>
          <p:cNvPr id="17" name="Text 14"/>
          <p:cNvSpPr/>
          <p:nvPr/>
        </p:nvSpPr>
        <p:spPr>
          <a:xfrm>
            <a:off x="6035040" y="45262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quad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035040" y="48463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 導体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863840" y="4343400"/>
            <a:ext cx="3749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被覆（全国40,087線・実測）: </a:t>
            </a:r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circuits系の証拠 68.2%（27,352線）・wiresタグ 12.7%（5,080線）。被覆自体を結果として報告し、欠測は unknown のまま可視化する。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7  STAGE 3 — RENDERING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SLDPane の描画規則と流向推定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58368" y="1618488"/>
            <a:ext cx="146304" cy="146304"/>
          </a:xfrm>
          <a:prstGeom prst="rect">
            <a:avLst/>
          </a:prstGeom>
          <a:solidFill>
            <a:srgbClr val="D62728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5544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2651760" y="1572768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電圧階級別の太い水平線。BusbarSection 数でセクション分割・BT=バスタイ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2331720"/>
            <a:ext cx="146304" cy="146304"/>
          </a:xfrm>
          <a:prstGeom prst="rect">
            <a:avLst/>
          </a:prstGeom>
          <a:solidFill>
            <a:srgbClr val="FF7F0E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2267712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線スタブ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651760" y="228600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実際の束縛セクションに接着。平行ストローク本数＝回線数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" y="3044952"/>
            <a:ext cx="146304" cy="146304"/>
          </a:xfrm>
          <a:prstGeom prst="rect">
            <a:avLst/>
          </a:prstGeom>
          <a:solidFill>
            <a:srgbClr val="9467BD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2980944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破線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651760" y="2999232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根拠（弱い証拠を弱く描く）・灰＝対向不明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" y="3758184"/>
            <a:ext cx="146304" cy="146304"/>
          </a:xfrm>
          <a:prstGeom prst="rect">
            <a:avLst/>
          </a:prstGeom>
          <a:solidFill>
            <a:srgbClr val="17BECF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" y="369417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変圧器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651760" y="3712464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母線間の二重円（バンク数・銘板は出典がある時のみ）。無い階級は「スルー」明記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4526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流向（入/出）の推定規則</a:t>
            </a:r>
            <a:endParaRPr lang="en-US" sz="1400" dirty="0"/>
          </a:p>
        </p:txBody>
      </p:sp>
      <p:pic>
        <p:nvPicPr>
          <p:cNvPr id="17" name="Image 0" descr="assets/eq_di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4956048"/>
            <a:ext cx="10424160" cy="141732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8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実証ペア図 — 新京葉変電所（500/275/154/66kV）</a:t>
            </a:r>
            <a:endParaRPr lang="en-US" sz="2500" dirty="0"/>
          </a:p>
        </p:txBody>
      </p:sp>
      <p:pic>
        <p:nvPicPr>
          <p:cNvPr id="4" name="Image 0" descr="assets/pair_ful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77240" y="1481328"/>
            <a:ext cx="10607040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77240" y="619963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左: GeoPane（構内幾何・端子根拠・鉄塔・インセット）　右: SLDPane（母線セクション・回線ストローク・流向・変圧器・スルー）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 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全国適用 — 10地域・6,956所を同一コードで処理</a:t>
            </a:r>
            <a:endParaRPr lang="en-US" sz="2500" dirty="0"/>
          </a:p>
        </p:txBody>
      </p:sp>
      <p:pic>
        <p:nvPicPr>
          <p:cNvPr id="4" name="Image 0" descr="assets/geo_minamihayakit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554480"/>
            <a:ext cx="26517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南早来（北海道）275/187/66</a:t>
            </a:r>
            <a:endParaRPr lang="en-US" sz="1050" dirty="0"/>
          </a:p>
        </p:txBody>
      </p:sp>
      <p:pic>
        <p:nvPicPr>
          <p:cNvPr id="6" name="Image 1" descr="assets/geo_sune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456432" y="1554480"/>
            <a:ext cx="2651760" cy="35661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456432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駿遠（中部）500/275/154/77</a:t>
            </a:r>
            <a:endParaRPr lang="en-US" sz="1050" dirty="0"/>
          </a:p>
        </p:txBody>
      </p:sp>
      <p:pic>
        <p:nvPicPr>
          <p:cNvPr id="8" name="Image 2" descr="assets/geo_hitoyoshi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272784" y="1554480"/>
            <a:ext cx="2651760" cy="356616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6272784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人吉（九州）220/110/66</a:t>
            </a:r>
            <a:endParaRPr lang="en-US" sz="1050" dirty="0"/>
          </a:p>
        </p:txBody>
      </p:sp>
      <p:pic>
        <p:nvPicPr>
          <p:cNvPr id="10" name="Image 3" descr="assets/geo_zuker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089136" y="1554480"/>
            <a:ext cx="2651760" cy="3566160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9089136" y="517550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瑞慶覧（沖縄）132/66</a:t>
            </a:r>
            <a:endParaRPr lang="en-US" sz="1050" dirty="0"/>
          </a:p>
        </p:txBody>
      </p:sp>
      <p:sp>
        <p:nvSpPr>
          <p:cNvPr id="12" name="Text 6"/>
          <p:cNvSpPr/>
          <p:nvPr/>
        </p:nvSpPr>
        <p:spPr>
          <a:xfrm>
            <a:off x="640080" y="5715000"/>
            <a:ext cx="11155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バッチ生成器（再開可能・タイルキャッシュ・礼儀スロットル）により全所を一括描画。約1〜6秒/所、10地域並列で全国を約1時間で処理（pws-160core 実測）。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4" name="Text 8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10  EVALUATION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被覆の定量評価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A1A1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6,956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76656" y="251460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対象変電所（構造抽出は全数成功）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31546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68.2%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676656" y="4023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回線数のOSM証拠被覆（線ベース）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D62728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13.9%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676656" y="553212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母線way記載率 — 最大の欠測（issue #49）</a:t>
            </a:r>
            <a:endParaRPr lang="en-US" sz="11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4480560" y="1463040"/>
          <a:ext cx="71323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Text 8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11  DISCUSSION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限界と考察 — 欠測を欠測として見せる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母線wayの欠測 86%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OSMマッピング粒度の地域差（北海道53% ⇔ 東京5%）。母線なしサイトは1母線仮定で描画される。推定母線の導入は inferred マーカー前提で検討（issue #49）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0" y="1600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8" name="Text 6"/>
          <p:cNvSpPr/>
          <p:nvPr/>
        </p:nvSpPr>
        <p:spPr>
          <a:xfrm>
            <a:off x="6675120" y="1801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流向不明（灰スタブ）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675120" y="2258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主因は対向変電所自体のOSM欠測。connections＋線名 name-evidence で低減したが、残余は「不明」を明示する設計を保つ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leadin の偽陽性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91440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引込帯0.6kmは近傍通過線を拾い得る。弱い証拠を弱く描く（破線）ことで図上でも可視化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0" y="3886200"/>
            <a:ext cx="5440680" cy="2057400"/>
          </a:xfrm>
          <a:prstGeom prst="roundRect">
            <a:avLst>
              <a:gd name="adj" fmla="val 3111"/>
            </a:avLst>
          </a:prstGeom>
          <a:solidFill>
            <a:srgbClr val="F4F4F6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0" y="408736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導体数被覆 12.7%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0" y="4544568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5555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wiresタグ自体が希少。航空写真からの検出（TTPLA系）が補完候補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E2761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12  CONCLUSION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結論と今後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変電所の内部構成は、公開データと根拠付き抽出のみで全国一括に「見える化」できる。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2377440"/>
            <a:ext cx="10972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本研究の要点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・3段パイプライン（抽出・集約・描画）を全て決定的・冪等に実装し、OSM更新へ全所追随可能とした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・証拠語彙（vertex ≻ polygon ≻ leadin）と電圧整合ゲートで、捏造ゼロのまま接続を主張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・回線数・導体数は証拠と推計を分離保持し、欠測を欠測として報告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97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・editor統合（地図クリックでSubSLD表示）　・OSM貢献ループ（母線なし所の衛星判読→編集候補）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・変圧器銘板の出典拡充　・推定母線（inferred）の設計検討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555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資料: docs/SUBSLD_METHOD.md ・ github.com/lutelute/All-Japan-Grid ・ issue #49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SubSLD法 — 実証ペア図法  /  All-Japan-Grid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5555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2026-08-26T13:21:33Z</dcterms:created>
  <dcterms:modified xsi:type="dcterms:W3CDTF">2026-08-26T13:21:33Z</dcterms:modified>
</cp:coreProperties>
</file>