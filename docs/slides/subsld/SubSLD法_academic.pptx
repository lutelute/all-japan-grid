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Hiragino Sans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Hiragino Sans"/>
              </a:rPr>
              <a:t>母線way記載率(%) — OSMマッピング粒度の地域差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母線way記載率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北海道</c:v>
                  </c:pt>
                  <c:pt idx="1">
                    <c:v>東北</c:v>
                  </c:pt>
                  <c:pt idx="2">
                    <c:v>北陸</c:v>
                  </c:pt>
                  <c:pt idx="3">
                    <c:v>四国</c:v>
                  </c:pt>
                  <c:pt idx="4">
                    <c:v>中国</c:v>
                  </c:pt>
                  <c:pt idx="5">
                    <c:v>中部</c:v>
                  </c:pt>
                  <c:pt idx="6">
                    <c:v>九州</c:v>
                  </c:pt>
                  <c:pt idx="7">
                    <c:v>関西</c:v>
                  </c:pt>
                  <c:pt idx="8">
                    <c:v>沖縄</c:v>
                  </c:pt>
                  <c:pt idx="9">
                    <c:v>東京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53</c:v>
                </c:pt>
                <c:pt idx="1">
                  <c:v>25</c:v>
                </c:pt>
                <c:pt idx="2">
                  <c:v>25</c:v>
                </c:pt>
                <c:pt idx="3">
                  <c:v>12</c:v>
                </c:pt>
                <c:pt idx="4">
                  <c:v>11</c:v>
                </c:pt>
                <c:pt idx="5">
                  <c:v>10</c:v>
                </c:pt>
                <c:pt idx="6">
                  <c:v>10</c:v>
                </c:pt>
                <c:pt idx="7">
                  <c:v>8</c:v>
                </c:pt>
                <c:pt idx="8">
                  <c:v>5</c:v>
                </c:pt>
                <c:pt idx="9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Hiragin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0"/>
        <c:axPos val="b"/>
        <c:majorGridlines>
          <c:spPr>
            <a:ln w="6350" cap="flat">
              <a:solidFill>
                <a:srgbClr val="E3E3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F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10607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SubSLD法：公開地理データからの</a:t>
            </a:r>
            <a:endParaRPr lang="en-US" sz="33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変電所内部構成の実証的機械生成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850392" y="27432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Evidence-Paired Substation Single-Line Diagramming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" y="3291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All-Japan-Grid Project  /  2026-08-26</a:t>
            </a:r>
            <a:endParaRPr lang="en-US" sz="1300" dirty="0"/>
          </a:p>
        </p:txBody>
      </p:sp>
      <p:pic>
        <p:nvPicPr>
          <p:cNvPr id="5" name="Image 0" descr="assets/geo_shinkeiy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4160520"/>
            <a:ext cx="12188952" cy="2697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160520"/>
            <a:ext cx="12188952" cy="2697480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63550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図: GeoPane(新京葉変電所) — OSM実証拠を地理院写真上に重畳した実出力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  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背景と貢献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5394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課題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系統解析に必要な変電所内部構成（母線・変圧器・回線・導体）は事業者内部資料であり、研究利用できる全国データが存在しない。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先行実証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嶺南変電所1所において、OSM実データのみから node-breaker 構造を手作業で確認できた（2026-07, GridStitch P2）。本手法はその全国機械化である。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0" y="1600200"/>
            <a:ext cx="5212080" cy="1024128"/>
          </a:xfrm>
          <a:prstGeom prst="roundRect">
            <a:avLst>
              <a:gd name="adj" fmla="val 5357"/>
            </a:avLst>
          </a:prstGeom>
          <a:solidFill>
            <a:srgbClr val="F4F4F6"/>
          </a:solidFill>
          <a:ln/>
        </p:spPr>
      </p:sp>
      <p:sp>
        <p:nvSpPr>
          <p:cNvPr id="6" name="Text 4"/>
          <p:cNvSpPr/>
          <p:nvPr/>
        </p:nvSpPr>
        <p:spPr>
          <a:xfrm>
            <a:off x="6629400" y="1856232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269480" y="1728216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全国6,956変電所の内部構造（母線・ベイ・端子・変圧器）をOSM実証拠のみから決定的に抽出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0" y="2770632"/>
            <a:ext cx="5212080" cy="1024128"/>
          </a:xfrm>
          <a:prstGeom prst="roundRect">
            <a:avLst>
              <a:gd name="adj" fmla="val 5357"/>
            </a:avLst>
          </a:prstGeom>
          <a:solidFill>
            <a:srgbClr val="F4F4F6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3026664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269480" y="2898648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回線数・導体数を線タグから変電所単位に集約（証拠と推計を分離保持）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0" y="3941064"/>
            <a:ext cx="5212080" cy="1024128"/>
          </a:xfrm>
          <a:prstGeom prst="roundRect">
            <a:avLst>
              <a:gd name="adj" fmla="val 5357"/>
            </a:avLst>
          </a:prstGeom>
          <a:solidFill>
            <a:srgbClr val="F4F4F6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4197096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269480" y="40690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構内幾何×単線結線図の「実証ペア図」を全所自動生成（衛星重畳・根拠付き）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0" y="5111496"/>
            <a:ext cx="5212080" cy="1024128"/>
          </a:xfrm>
          <a:prstGeom prst="roundRect">
            <a:avLst>
              <a:gd name="adj" fmla="val 5357"/>
            </a:avLst>
          </a:prstGeom>
          <a:solidFill>
            <a:srgbClr val="F4F4F6"/>
          </a:solidFill>
          <a:ln/>
        </p:spPr>
      </p:sp>
      <p:sp>
        <p:nvSpPr>
          <p:cNvPr id="15" name="Text 13"/>
          <p:cNvSpPr/>
          <p:nvPr/>
        </p:nvSpPr>
        <p:spPr>
          <a:xfrm>
            <a:off x="6629400" y="53675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C4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269480" y="523951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捏造ゼロ・全端子根拠・推定明記・再現可能という検証可能性の設計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 PROBLEM SETTING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問題設定と表記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入力はOSM由来の地域別データ（変電所ポリゴン・送電線way・タグ）。座標は約1m格子に量子化して同一設備を融合し、同期島ごとの座標グラフを構成する。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72800" cy="1188720"/>
          </a:xfrm>
          <a:prstGeom prst="roundRect">
            <a:avLst>
              <a:gd name="adj" fmla="val 4615"/>
            </a:avLst>
          </a:prstGeom>
          <a:solidFill>
            <a:srgbClr val="F4F4F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31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(p)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( round(</a:t>
            </a:r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φ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5),  round(</a:t>
            </a:r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λ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5) )</a:t>
            </a:r>
            <a:pPr indent="0" marL="0"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  …… 約1m格子への量子化（同一設備の融合キー）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880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pPr indent="0" marL="0">
              <a:buNone/>
            </a:pPr>
            <a:r>
              <a:rPr lang="en-US" sz="1600" i="1" baseline="-400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(</a:t>
            </a:r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indent="0" marL="0">
              <a:buNone/>
            </a:pPr>
            <a:r>
              <a:rPr lang="en-US" sz="1600" i="1" baseline="-400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indent="0" marL="0">
              <a:buNone/>
            </a:pPr>
            <a:r>
              <a:rPr lang="en-US" sz="1600" i="1" baseline="-400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  …… 同期島 </a:t>
            </a:r>
            <a:pPr indent="0" marL="0">
              <a:buNone/>
            </a:pPr>
            <a:r>
              <a:rPr lang="en-US" sz="1200" i="1" dirty="0">
                <a:solidFill>
                  <a:srgbClr val="55555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indent="0" marL="0"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ごとの座標グラフ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記号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402336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s,  Poly(s)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0" y="402336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変電所サイトとその敷地ポリゴン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449884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W_busbar / W_bay / W_main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0" y="4498848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構内way（line=busbar / bay）と本線way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497433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∈ Terminals(s)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4974336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線端の束縛レコード（根拠 binding を保持）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54498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kv_v,  L(s,v)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0" y="5449824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電圧階級 v と、その階級に束縛された線集合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592531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far(g)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0" y="5925312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線グループ g の対向変電所集合（connections + 線名から解決）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 METHOD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3段パイプライン（データフロー）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4F4F6"/>
          </a:solidFill>
          <a:ln w="9525">
            <a:solidFill>
              <a:srgbClr val="D8D8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37360"/>
            <a:ext cx="20665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OSM 地域別データ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substations / lines / タグ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520440" y="1691640"/>
            <a:ext cx="2148840" cy="86868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3611880" y="169164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① GridStitch P2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構造抽出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3017520"/>
            <a:ext cx="2423160" cy="9144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9525">
            <a:solidFill>
              <a:srgbClr val="D8D8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93008" y="3017520"/>
            <a:ext cx="2203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構造DB（node-breaker）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Site / VL / Busbar / Bay /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Terminal / Trafo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0" y="1691640"/>
            <a:ext cx="2148840" cy="86868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69164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② プロパティ層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回線・導体の集約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3017520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9525">
            <a:solidFill>
              <a:srgbClr val="D8D8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9088" y="3017520"/>
            <a:ext cx="21122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substation_properties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（5,920サイト）+ sub_props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235440" y="1691640"/>
            <a:ext cx="2240280" cy="86868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0" y="169164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③ SubSLD 描画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GeoPane × SLDPane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89720" y="3017520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9525">
            <a:solidFill>
              <a:srgbClr val="D8D8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99448" y="3017520"/>
            <a:ext cx="21122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実証ペア図 PNG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× 6,956所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926080" y="2121408"/>
            <a:ext cx="566928" cy="0"/>
          </a:xfrm>
          <a:prstGeom prst="line">
            <a:avLst/>
          </a:prstGeom>
          <a:noFill/>
          <a:ln w="20320">
            <a:solidFill>
              <a:srgbClr val="55555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590288" y="2578608"/>
            <a:ext cx="0" cy="420624"/>
          </a:xfrm>
          <a:prstGeom prst="line">
            <a:avLst/>
          </a:prstGeom>
          <a:noFill/>
          <a:ln w="20320">
            <a:solidFill>
              <a:srgbClr val="55555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87568" y="2121408"/>
            <a:ext cx="685800" cy="0"/>
          </a:xfrm>
          <a:prstGeom prst="line">
            <a:avLst/>
          </a:prstGeom>
          <a:noFill/>
          <a:ln w="20320">
            <a:solidFill>
              <a:srgbClr val="55555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470648" y="2578608"/>
            <a:ext cx="0" cy="420624"/>
          </a:xfrm>
          <a:prstGeom prst="line">
            <a:avLst/>
          </a:prstGeom>
          <a:noFill/>
          <a:ln w="20320">
            <a:solidFill>
              <a:srgbClr val="55555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567928" y="2121408"/>
            <a:ext cx="640080" cy="0"/>
          </a:xfrm>
          <a:prstGeom prst="line">
            <a:avLst/>
          </a:prstGeom>
          <a:noFill/>
          <a:ln w="20320">
            <a:solidFill>
              <a:srgbClr val="55555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332720" y="2578608"/>
            <a:ext cx="0" cy="420624"/>
          </a:xfrm>
          <a:prstGeom prst="line">
            <a:avLst/>
          </a:prstGeom>
          <a:noFill/>
          <a:ln w="20320">
            <a:solidFill>
              <a:srgbClr val="55555F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89720" y="4224528"/>
            <a:ext cx="2331720" cy="841248"/>
          </a:xfrm>
          <a:prstGeom prst="roundRect">
            <a:avLst>
              <a:gd name="adj" fmla="val 6522"/>
            </a:avLst>
          </a:prstGeom>
          <a:solidFill>
            <a:srgbClr val="F4F4F6"/>
          </a:solidFill>
          <a:ln w="9525">
            <a:solidFill>
              <a:srgbClr val="D8D8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99448" y="4224528"/>
            <a:ext cx="211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③の補助入力: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地理院タイル・鉄塔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connections（対向解決）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0332720" y="4206240"/>
            <a:ext cx="0" cy="-237744"/>
          </a:xfrm>
          <a:prstGeom prst="line">
            <a:avLst/>
          </a:prstGeom>
          <a:noFill/>
          <a:ln w="20320">
            <a:solidFill>
              <a:srgbClr val="55555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40080" y="5504688"/>
            <a:ext cx="146304" cy="146304"/>
          </a:xfrm>
          <a:prstGeom prst="rect">
            <a:avLst/>
          </a:prstGeom>
          <a:solidFill>
            <a:srgbClr val="17BECF"/>
          </a:solidFill>
          <a:ln/>
        </p:spPr>
      </p:sp>
      <p:sp>
        <p:nvSpPr>
          <p:cNvPr id="28" name="Text 26"/>
          <p:cNvSpPr/>
          <p:nvPr/>
        </p:nvSpPr>
        <p:spPr>
          <a:xfrm>
            <a:off x="896112" y="5394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決定的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96112" y="57790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同一入力→同一出力。OSM更新に全所追随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17136" y="5504688"/>
            <a:ext cx="146304" cy="146304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31" name="Text 29"/>
          <p:cNvSpPr/>
          <p:nvPr/>
        </p:nvSpPr>
        <p:spPr>
          <a:xfrm>
            <a:off x="4773168" y="5394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根拠付き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4773168" y="57790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 Terminal に binding（証拠語彙）を刻む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394192" y="5504688"/>
            <a:ext cx="146304" cy="146304"/>
          </a:xfrm>
          <a:prstGeom prst="rect">
            <a:avLst/>
          </a:prstGeom>
          <a:solidFill>
            <a:srgbClr val="9467BD"/>
          </a:solidFill>
          <a:ln/>
        </p:spPr>
      </p:sp>
      <p:sp>
        <p:nvSpPr>
          <p:cNvPr id="34" name="Text 32"/>
          <p:cNvSpPr/>
          <p:nvPr/>
        </p:nvSpPr>
        <p:spPr>
          <a:xfrm>
            <a:off x="8650224" y="5394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冪等・再開可能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8650224" y="57790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全段が regen パイプライン(STEPS)に組込済み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40080" y="623620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実装: build_substation_structure.py ・ build_substation_properties.py ・ build_subsld_batch.py（手法文書 docs/SUBSLD_METHOD.md）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 STAGE 1 — EXTRACTION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構造抽出と端子束縛（binding 述語）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852160" cy="4206240"/>
          </a:xfrm>
          <a:prstGeom prst="roundRect">
            <a:avLst>
              <a:gd name="adj" fmla="val 1304"/>
            </a:avLst>
          </a:prstGeom>
          <a:solidFill>
            <a:srgbClr val="F7F7F2"/>
          </a:solidFill>
          <a:ln w="9525">
            <a:solidFill>
              <a:srgbClr val="E0E0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2763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Algorithm 1  構造抽出（1変電所）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14400" y="20299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入力: 変電所 feature s, 前処理済み ways W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3728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Poly(s) ← shape(s); V ← vcls(tag) ∪ vcls(構内線)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7157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for w ∈ W[busbar]: 頂点共有の連結成分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0586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→ BusbarSection（無タグは隣接から kv 導出）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4015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for w ∈ W[bay]: 同様 → Bay（接触母線を記録）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7444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 for 各本線wayの端点 p: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40873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   binding(p) ← vertex ≻ polygon ≻ leadin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44302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 Terminal(vl, attach, binding, par=ĉ(w))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731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隣接電圧階級対 → Transformer(structural)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51160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出力: SubstationStructure（決定的・全端子に根拠）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0" y="1600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端子束縛の証拠語彙（強い順に採用）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766560" y="2057400"/>
            <a:ext cx="4892040" cy="1828800"/>
          </a:xfrm>
          <a:prstGeom prst="roundRect">
            <a:avLst>
              <a:gd name="adj" fmla="val 3000"/>
            </a:avLst>
          </a:prstGeom>
          <a:solidFill>
            <a:srgbClr val="F4F4F6"/>
          </a:solidFill>
          <a:ln/>
        </p:spPr>
      </p:sp>
      <p:sp>
        <p:nvSpPr>
          <p:cNvPr id="18" name="Text 16"/>
          <p:cNvSpPr/>
          <p:nvPr/>
        </p:nvSpPr>
        <p:spPr>
          <a:xfrm>
            <a:off x="6995160" y="22128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vertex(</a:t>
            </a:r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):  ∃</a:t>
            </a:r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∈ </a:t>
            </a:r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indent="0" marL="0">
              <a:buNone/>
            </a:pPr>
            <a:r>
              <a:rPr lang="en-US" sz="1400" i="1" baseline="-400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ℓ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∩ </a:t>
            </a:r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indent="0" marL="0">
              <a:buNone/>
            </a:pPr>
            <a:r>
              <a:rPr lang="en-US" sz="1400" i="1" baseline="-400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pPr indent="0" marL="0">
              <a:buNone/>
            </a:pPr>
            <a:r>
              <a:rPr lang="en-US" sz="11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 （way頂点の共有）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95160" y="27614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polygon(</a:t>
            </a:r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):  </a:t>
            </a:r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indent="0" marL="0">
              <a:buNone/>
            </a:pPr>
            <a:r>
              <a:rPr lang="en-US" sz="1400" baseline="-400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end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</a:t>
            </a:r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ℓ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∈ Poly(</a:t>
            </a:r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 （敷地内包）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95160" y="33101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leadin(</a:t>
            </a:r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):  </a:t>
            </a:r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</a:t>
            </a:r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indent="0" marL="0">
              <a:buNone/>
            </a:pPr>
            <a:r>
              <a:rPr lang="en-US" sz="1400" baseline="-400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end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Poly(</a:t>
            </a:r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)) ≤ </a:t>
            </a:r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</a:t>
            </a:r>
            <a:pPr indent="0" marL="0">
              <a:buNone/>
            </a:pPr>
            <a:r>
              <a:rPr lang="en-US" sz="1400" baseline="-400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lead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0.6 km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0" y="397764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弱い証拠は図上でも弱く描く（leadin＝破線）。証拠の無い接続は作らない（捏造ゼロ）。name-evidence（「A~B線」等の線名）は connections 欠測時の対向解決のみに用い、接続そのものは作らない。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 STAGE 1 — SAFETY GATE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電圧整合ゲート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物理的に近接していても電気的に接続してはならない対（併架・並走回廊）を、電圧の相対乖離で棄却する。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10972800" cy="777240"/>
          </a:xfrm>
          <a:prstGeom prst="roundRect">
            <a:avLst>
              <a:gd name="adj" fmla="val 7059"/>
            </a:avLst>
          </a:prstGeom>
          <a:solidFill>
            <a:srgbClr val="F4F4F6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6771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reject(</a:t>
            </a:r>
            <a:pPr indent="0" marL="0">
              <a:buNone/>
            </a:pPr>
            <a:r>
              <a:rPr lang="en-US" sz="17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ℓ</a:t>
            </a:r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indent="0" marL="0">
              <a:buNone/>
            </a:pPr>
            <a:r>
              <a:rPr lang="en-US" sz="17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</a:t>
            </a:r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  ⇔   | </a:t>
            </a:r>
            <a:pPr indent="0" marL="0">
              <a:buNone/>
            </a:pPr>
            <a:r>
              <a:rPr lang="en-US" sz="17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kv</a:t>
            </a:r>
            <a:pPr indent="0" marL="0">
              <a:buNone/>
            </a:pPr>
            <a:r>
              <a:rPr lang="en-US" sz="1700" i="1" baseline="-400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ℓ</a:t>
            </a:r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pPr indent="0" marL="0">
              <a:buNone/>
            </a:pPr>
            <a:r>
              <a:rPr lang="en-US" sz="17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kv</a:t>
            </a:r>
            <a:pPr indent="0" marL="0">
              <a:buNone/>
            </a:pPr>
            <a:r>
              <a:rPr lang="en-US" sz="1700" i="1" baseline="-400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</a:t>
            </a:r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|  &gt;  0.25 · max(</a:t>
            </a:r>
            <a:pPr indent="0" marL="0">
              <a:buNone/>
            </a:pPr>
            <a:r>
              <a:rPr lang="en-US" sz="17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kv</a:t>
            </a:r>
            <a:pPr indent="0" marL="0">
              <a:buNone/>
            </a:pPr>
            <a:r>
              <a:rPr lang="en-US" sz="1700" i="1" baseline="-400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</a:t>
            </a:r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1)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10972800" cy="2468880"/>
          </a:xfrm>
          <a:prstGeom prst="roundRect">
            <a:avLst>
              <a:gd name="adj" fmla="val 2593"/>
            </a:avLst>
          </a:prstGeom>
          <a:solidFill>
            <a:srgbClr val="F4F4F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520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正当性の事例（2026-08-20 断片解消キャンペーン c1）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14400" y="397764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甲府近郊の66kV断片は、154kV系のjunctionと物理的に80m以内で接触していたが、本ゲートが接続を正しく棄却。後の診断で断片自体が跨region二重登録の人工物と判明し、ゲートは「物理的には近いが電気的に繋いではならない」ケースを実証的に防いだ。以降もゲートは緩めない方針を採る。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  STAGE 2 — AGGREGATION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回線数・導体数の集約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線タグ（circuits / cables / wires）を terminal の line_key で構造DBに接合し、変電所×電圧階級の単位に集約する。証拠のある値と推計値を分離して保持し、無タグを推測で埋めない。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10972800" cy="1325880"/>
          </a:xfrm>
          <a:prstGeom prst="roundRect">
            <a:avLst>
              <a:gd name="adj" fmla="val 4138"/>
            </a:avLst>
          </a:prstGeom>
          <a:solidFill>
            <a:srgbClr val="F4F4F6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8716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ĉ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</a:t>
            </a:r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= </a:t>
            </a:r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pPr indent="0" marL="0"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</a:t>
            </a:r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（circuitsタグ）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/  </a:t>
            </a:r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</a:t>
            </a:r>
            <a:pPr indent="0" marL="0"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cables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</a:t>
            </a:r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)/3</a:t>
            </a:r>
            <a:pPr indent="0" marL="0">
              <a:buNone/>
            </a:pPr>
            <a:r>
              <a:rPr lang="en-US" sz="11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（cablesのみ・切り捨て）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/  1</a:t>
            </a:r>
            <a:pPr indent="0" marL="0">
              <a:buNone/>
            </a:pPr>
            <a:r>
              <a:rPr lang="en-US" sz="11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（証拠なし・下限）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30906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pPr indent="0" marL="0"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</a:t>
            </a:r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= Σ</a:t>
            </a:r>
            <a:pPr indent="0" marL="0">
              <a:buNone/>
            </a:pPr>
            <a:r>
              <a:rPr lang="en-US" sz="1500" i="1" baseline="-400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w∈L(s,v)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ĉ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</a:t>
            </a:r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   </a:t>
            </a:r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pPr indent="0" marL="0"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Σ</a:t>
            </a:r>
            <a:pPr indent="0" marL="0">
              <a:buNone/>
            </a:pPr>
            <a:r>
              <a:rPr lang="en-US" sz="1500" i="1" baseline="-400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w:evidence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ĉ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</a:t>
            </a:r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 …… 推計と証拠を分離保持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977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導体数（wiresタグ）の写像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22960" y="4434840"/>
            <a:ext cx="1554480" cy="777240"/>
          </a:xfrm>
          <a:prstGeom prst="roundRect">
            <a:avLst>
              <a:gd name="adj" fmla="val 7059"/>
            </a:avLst>
          </a:prstGeom>
          <a:solidFill>
            <a:srgbClr val="F4F4F6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526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single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4846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 導体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560320" y="4434840"/>
            <a:ext cx="1554480" cy="777240"/>
          </a:xfrm>
          <a:prstGeom prst="roundRect">
            <a:avLst>
              <a:gd name="adj" fmla="val 7059"/>
            </a:avLst>
          </a:prstGeom>
          <a:solidFill>
            <a:srgbClr val="F4F4F6"/>
          </a:solidFill>
          <a:ln/>
        </p:spPr>
      </p:sp>
      <p:sp>
        <p:nvSpPr>
          <p:cNvPr id="13" name="Text 11"/>
          <p:cNvSpPr/>
          <p:nvPr/>
        </p:nvSpPr>
        <p:spPr>
          <a:xfrm>
            <a:off x="2560320" y="4526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60320" y="4846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 導体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297680" y="4434840"/>
            <a:ext cx="1554480" cy="777240"/>
          </a:xfrm>
          <a:prstGeom prst="roundRect">
            <a:avLst>
              <a:gd name="adj" fmla="val 7059"/>
            </a:avLst>
          </a:prstGeom>
          <a:solidFill>
            <a:srgbClr val="F4F4F6"/>
          </a:solidFill>
          <a:ln/>
        </p:spPr>
      </p:sp>
      <p:sp>
        <p:nvSpPr>
          <p:cNvPr id="16" name="Text 14"/>
          <p:cNvSpPr/>
          <p:nvPr/>
        </p:nvSpPr>
        <p:spPr>
          <a:xfrm>
            <a:off x="4297680" y="4526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triple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297680" y="4846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 導体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035040" y="4434840"/>
            <a:ext cx="1554480" cy="777240"/>
          </a:xfrm>
          <a:prstGeom prst="roundRect">
            <a:avLst>
              <a:gd name="adj" fmla="val 7059"/>
            </a:avLst>
          </a:prstGeom>
          <a:solidFill>
            <a:srgbClr val="F4F4F6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0" y="4526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035040" y="4846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 導体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863840" y="4343400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被覆（全国40,087線・実測）: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circuits系の証拠 68.2%（27,352線）・wiresタグ 12.7%（5,080線）。被覆自体を結果として報告し、欠測は unknown のまま可視化する。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  STAGE 3 — RENDERING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SLDPane の描画規則と流向推定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618488"/>
            <a:ext cx="146304" cy="146304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554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母線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651760" y="1572768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電圧階級別の太い水平線。BusbarSection 数でセクション分割・BT=バスタイ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58368" y="2331720"/>
            <a:ext cx="146304" cy="146304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26771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線スタブ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651760" y="2286000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実際の束縛セクションに接着。平行ストローク本数＝回線数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58368" y="3044952"/>
            <a:ext cx="146304" cy="146304"/>
          </a:xfrm>
          <a:prstGeom prst="rect">
            <a:avLst/>
          </a:prstGeom>
          <a:solidFill>
            <a:srgbClr val="9467B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98094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破線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651760" y="2999232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leadin 根拠（弱い証拠を弱く描く）・灰＝対向不明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8368" y="3758184"/>
            <a:ext cx="146304" cy="146304"/>
          </a:xfrm>
          <a:prstGeom prst="rect">
            <a:avLst/>
          </a:prstGeom>
          <a:solidFill>
            <a:srgbClr val="17BECF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69417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変圧器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651760" y="3712464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母線間の二重円（バンク数・銘板は出典がある時のみ）。無い階級は「スルー」明記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26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流向（入/出）の推定規則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919472"/>
            <a:ext cx="10972800" cy="1481328"/>
          </a:xfrm>
          <a:prstGeom prst="roundRect">
            <a:avLst>
              <a:gd name="adj" fmla="val 3704"/>
            </a:avLst>
          </a:prstGeom>
          <a:solidFill>
            <a:srgbClr val="F4F4F6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dir(</a:t>
            </a:r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= in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  if  max</a:t>
            </a:r>
            <a:pPr indent="0" marL="0">
              <a:buNone/>
            </a:pPr>
            <a:r>
              <a:rPr lang="en-US" sz="1500" i="1" baseline="-400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s′∈far(g)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kv</a:t>
            </a:r>
            <a:pPr indent="0" marL="0"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max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</a:t>
            </a:r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s′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 &gt;  </a:t>
            </a:r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kv</a:t>
            </a:r>
            <a:pPr indent="0" marL="0">
              <a:buNone/>
            </a:pPr>
            <a:r>
              <a:rPr lang="en-US" sz="1500" i="1" baseline="-400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indent="0" marL="0"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 （対向に上位電圧階級）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60120" y="54864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dir(</a:t>
            </a:r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= in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  if  </a:t>
            </a:r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kv</a:t>
            </a:r>
            <a:pPr indent="0" marL="0">
              <a:buNone/>
            </a:pPr>
            <a:r>
              <a:rPr lang="en-US" sz="1500" i="1" baseline="-400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kv</a:t>
            </a:r>
            <a:pPr indent="0" marL="0"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</a:t>
            </a:r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pPr indent="0" marL="0"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 （自所トップ階級の同位対向＝系統側）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60120" y="5943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dir(</a:t>
            </a:r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= out    otherwise</a:t>
            </a:r>
            <a:pPr indent="0" marL="0"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 （同位対向＝配下へ・すべて推定として凡例に明記）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 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実証ペア図 — 新京葉変電所（500/275/154/66kV）</a:t>
            </a:r>
            <a:endParaRPr lang="en-US" sz="2500" dirty="0"/>
          </a:p>
        </p:txBody>
      </p:sp>
      <p:pic>
        <p:nvPicPr>
          <p:cNvPr id="4" name="Image 0" descr="assets/pair_fu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481328"/>
            <a:ext cx="10607040" cy="4709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619963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図1  実証ペア図（新京葉変電所）。左: GeoPane（構内幾何・端子根拠・鉄塔・インセット）　右: SLDPane（母線セクション・回線ストローク・流向・変圧器・スルー）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 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全国適用 — 10地域・6,956所を同一コードで処理</a:t>
            </a:r>
            <a:endParaRPr lang="en-US" sz="2500" dirty="0"/>
          </a:p>
        </p:txBody>
      </p:sp>
      <p:pic>
        <p:nvPicPr>
          <p:cNvPr id="4" name="Image 0" descr="assets/geo_minamihayakit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65176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17550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南早来（北海道）275/187/66</a:t>
            </a:r>
            <a:endParaRPr lang="en-US" sz="1050" dirty="0"/>
          </a:p>
        </p:txBody>
      </p:sp>
      <p:pic>
        <p:nvPicPr>
          <p:cNvPr id="6" name="Image 1" descr="assets/geo_sune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56432" y="1554480"/>
            <a:ext cx="2651760" cy="35661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456432" y="517550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駿遠（中部）500/275/154/77</a:t>
            </a:r>
            <a:endParaRPr lang="en-US" sz="1050" dirty="0"/>
          </a:p>
        </p:txBody>
      </p:sp>
      <p:pic>
        <p:nvPicPr>
          <p:cNvPr id="8" name="Image 2" descr="assets/geo_hitoyoshi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72784" y="1554480"/>
            <a:ext cx="2651760" cy="356616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272784" y="517550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人吉（九州）220/110/66</a:t>
            </a:r>
            <a:endParaRPr lang="en-US" sz="1050" dirty="0"/>
          </a:p>
        </p:txBody>
      </p:sp>
      <p:pic>
        <p:nvPicPr>
          <p:cNvPr id="10" name="Image 3" descr="assets/geo_zukera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089136" y="1554480"/>
            <a:ext cx="2651760" cy="356616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089136" y="517550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瑞慶覧（沖縄）132/66</a:t>
            </a:r>
            <a:endParaRPr lang="en-US" sz="1050" dirty="0"/>
          </a:p>
        </p:txBody>
      </p:sp>
      <p:sp>
        <p:nvSpPr>
          <p:cNvPr id="12" name="Text 6"/>
          <p:cNvSpPr/>
          <p:nvPr/>
        </p:nvSpPr>
        <p:spPr>
          <a:xfrm>
            <a:off x="640080" y="571500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図2  各地域の代表例（GeoPane 抜粋）。バッチ生成器（再開可能・タイルキャッシュ）により全所を一括描画 — 約1〜6秒/所・10地域並列で全国約1時間（pws-160core 実測）。</a:t>
            </a: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14" name="Text 8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 EVALUATION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被覆の定量評価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6,956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76656" y="25146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対象変電所（構造抽出は全数成功）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31546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68.2%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676656" y="40233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回線数のOSM証拠被覆（線ベース）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6634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D627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13.9%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676656" y="55321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母線way記載率 — 最大の欠測（issue #49）</a:t>
            </a:r>
            <a:endParaRPr lang="en-US" sz="11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480560" y="1463040"/>
          <a:ext cx="71323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 DISCUSSION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限界と考察 — 欠測を欠測として見せる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40680" cy="2057400"/>
          </a:xfrm>
          <a:prstGeom prst="roundRect">
            <a:avLst>
              <a:gd name="adj" fmla="val 3111"/>
            </a:avLst>
          </a:prstGeom>
          <a:solidFill>
            <a:srgbClr val="F4F4F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0136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母線wayの欠測 86%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258568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OSMマッピング粒度の地域差（北海道53% ⇔ 東京5%）。母線なしサイトは1母線仮定で描画される。推定母線の導入は inferred マーカー前提で検討（issue #49）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0" y="1600200"/>
            <a:ext cx="5440680" cy="2057400"/>
          </a:xfrm>
          <a:prstGeom prst="roundRect">
            <a:avLst>
              <a:gd name="adj" fmla="val 3111"/>
            </a:avLst>
          </a:prstGeom>
          <a:solidFill>
            <a:srgbClr val="F4F4F6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80136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流向不明（灰スタブ）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675120" y="2258568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主因は対向変電所自体のOSM欠測。connections＋線名 name-evidence で低減したが、残余は「不明」を明示する設計を保つ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886200"/>
            <a:ext cx="5440680" cy="2057400"/>
          </a:xfrm>
          <a:prstGeom prst="roundRect">
            <a:avLst>
              <a:gd name="adj" fmla="val 3111"/>
            </a:avLst>
          </a:prstGeom>
          <a:solidFill>
            <a:srgbClr val="F4F4F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08736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leadin の偽陽性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4544568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引込帯0.6kmは近傍通過線を拾い得る。弱い証拠を弱く描く（破線）ことで図上でも可視化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3886200"/>
            <a:ext cx="5440680" cy="2057400"/>
          </a:xfrm>
          <a:prstGeom prst="roundRect">
            <a:avLst>
              <a:gd name="adj" fmla="val 3111"/>
            </a:avLst>
          </a:prstGeom>
          <a:solidFill>
            <a:srgbClr val="F4F4F6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0" y="408736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導体数被覆 12.7%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75120" y="4544568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wiresタグ自体が希少。航空写真からの検出（TTPLA系）が補完候補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  CONCLUSION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結論と今後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変電所の内部構成は、公開データと根拠付き抽出のみで全国一括に「見える化」できる。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10972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本研究の要点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・3段パイプライン（抽出・集約・描画）を全て決定的・冪等に実装し、OSM更新へ全所追随可能とした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・証拠語彙（vertex ≻ polygon ≻ leadin）と電圧整合ゲートで、捏造ゼロのまま接続を主張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・回線数・導体数は証拠と推計を分離保持し、欠測を欠測として報告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42976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今後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・editor統合（地図クリックでSubSLD表示）　・OSM貢献ループ（母線なし所の衛星判読→編集候補）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・変圧器銘板の出典拡充　・推定母線（inferred）の設計検討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資料: docs/SUBSLD_METHOD.md ・ github.com/lutelute/All-Japan-Grid ・ issue #49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2026-08-26T13:32:15Z</dcterms:created>
  <dcterms:modified xsi:type="dcterms:W3CDTF">2026-08-26T13:32:15Z</dcterms:modified>
</cp:coreProperties>
</file>