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B4A63"/>
                </a:solidFill>
                <a:latin typeface="Hiragino Sans"/>
              </a:rPr>
              <a:t>低圧アンテナがACを塞いでいた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55A60"/>
                </a:solidFill>
                <a:latin typeface="Hiragino Sans"/>
              </a:rPr>
              <a:t>様式5変圧器定数(#1) × アンテナ集約(#3) の試験 — 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A60"/>
                </a:solidFill>
                <a:latin typeface="Hiragino Sans"/>
              </a:rPr>
              <a:t>All-Japan-Grid v1.7.0 出荷後の追加試験 / 2026-08-20</a:t>
            </a:r>
          </a:p>
          <a:p>
            <a:r>
              <a:rPr sz="1300" b="0">
                <a:solidFill>
                  <a:srgbClr val="555A60"/>
                </a:solidFill>
                <a:latin typeface="Hiragino Sans"/>
              </a:rPr>
              <a:t>docs/reports/trial_trafo_impedance_antenna_2026-08-20.md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背景 — DBは整った。ではなぜACが解けないのか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A60"/>
                </a:solidFill>
                <a:latin typeface="Hiragino Sans"/>
              </a:rPr>
              <a:t>v1.7.0配布のeast/westケースはMATPOWER runpf(素朴なNewton法)でAC非収束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55A60"/>
                </a:solidFill>
                <a:latin typeface="Hiragino Sans"/>
              </a:rPr>
              <a:t>・v1.7.0で接続・連系線・容量の層は正本化(公表資料ベース)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・しかし配布.matのeast/westは素朴なフラットスタートACが発散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・仮説2つを試験: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    #1  様式5(公表)の変圧器インピーダンス実測213基をモデルに適用する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    #3  &lt;100kVの次数1末端(アンテナ)を親バスへ需要保存で畳む</a:t>
            </a:r>
          </a:p>
          <a:p/>
          <a:p>
            <a:r>
              <a:rPr sz="1700" b="0">
                <a:solidFill>
                  <a:srgbClr val="555A60"/>
                </a:solidFill>
                <a:latin typeface="Hiragino Sans"/>
              </a:rPr>
              <a:t>・設計: 同一ビルドをdeepcopyしE0(基準)/E1/E3/E13を公平比較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・計測: 素朴AC(配布相当) と 本体ladder の両方 / fy2023需要断面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概念 — 基幹の芯は健康、尻尾が毒</a:t>
            </a:r>
          </a:p>
        </p:txBody>
      </p:sp>
      <p:pic>
        <p:nvPicPr>
          <p:cNvPr id="3" name="Picture 2" descr="figA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4621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実データ — west島のアンテナ末端の分布</a:t>
            </a:r>
          </a:p>
        </p:txBody>
      </p:sp>
      <p:pic>
        <p:nvPicPr>
          <p:cNvPr id="3" name="Picture 2" descr="figB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143000"/>
            <a:ext cx="74739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実測 — 低い電圧はアンテナに住んでいた</a:t>
            </a:r>
          </a:p>
        </p:txBody>
      </p:sp>
      <p:pic>
        <p:nvPicPr>
          <p:cNvPr id="3" name="Picture 2" descr="figC_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17320"/>
            <a:ext cx="9692640" cy="4790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6035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C3326"/>
                </a:solidFill>
                <a:latin typeface="Hiragino Sans"/>
              </a:rPr>
              <a:t>E0の最低電圧0.725はすべてアンテナ側。幹線側だけならmin 0.862。集約後(E3)は0.927に浮上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結果 — #3が決定打・#1は照合が律速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latin typeface="Hiragino Sans"/>
                        </a:rPr>
                        <a:t>west (8,242バス)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Hiragino Sans"/>
                        </a:rPr>
                        <a:t>素朴AC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Hiragino Sans"/>
                        </a:rPr>
                        <a:t>ladder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Hiragino Sans"/>
                        </a:rPr>
                        <a:t>vm_min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E0 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発散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0.725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E1 変圧器定数(照合7基のみ)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発散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0.725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E3 アンテナ集約(−2,103バス)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0.2秒で収束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0.927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E13 両方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0.1秒で収束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収束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Hiragino Sans"/>
                        </a:rPr>
                        <a:t>0.927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1148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A60"/>
                </a:solidFill>
                <a:latin typeface="Hiragino Sans"/>
              </a:rPr>
              <a:t>east(6,145バス): 正典+本体セットアップなら素朴ACでも既に収束(min 0.830)。</a:t>
            </a:r>
          </a:p>
          <a:p>
            <a:r>
              <a:rPr sz="1500" b="0">
                <a:solidFill>
                  <a:srgbClr val="555A60"/>
                </a:solidFill>
                <a:latin typeface="Hiragino Sans"/>
              </a:rPr>
              <a:t>  → 配布east.matの非収束はエクスポータが別系譜でケースを作ることに起因する可能性が高い</a:t>
            </a:r>
          </a:p>
          <a:p>
            <a:r>
              <a:rPr sz="1500" b="0">
                <a:solidFill>
                  <a:srgbClr val="555A60"/>
                </a:solidFill>
                <a:latin typeface="Hiragino Sans"/>
              </a:rPr>
              <a:t>#1の照合7基/213基の内訳: 公表は基幹(500/275/220kV)中心で66-77kV下位変圧器は公表に無い +</a:t>
            </a:r>
          </a:p>
          <a:p>
            <a:r>
              <a:rPr sz="1500" b="0">
                <a:solidFill>
                  <a:srgbClr val="555A60"/>
                </a:solidFill>
                <a:latin typeface="Hiragino Sans"/>
              </a:rPr>
              <a:t>  OSM由来バス名と公表名の単純照合はほぼ外れる(既存crosswalk経由が次の一手)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4A63"/>
                </a:solidFill>
                <a:latin typeface="Hiragino Sans"/>
              </a:rPr>
              <a:t>含意と次の一手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55A60"/>
                </a:solidFill>
                <a:latin typeface="Hiragino Sans"/>
              </a:rPr>
              <a:t>1. west素朴ACの障害は「下位網変圧器」ではなく「下位網の構造(デッドエンド)」だった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     — 6月の真因結論を素朴ソルバ文脈で修正。ladderは当時から収束</a:t>
            </a:r>
          </a:p>
          <a:p/>
          <a:p>
            <a:r>
              <a:rPr sz="1700" b="0">
                <a:solidFill>
                  <a:srgbClr val="555A60"/>
                </a:solidFill>
                <a:latin typeface="Hiragino Sans"/>
              </a:rPr>
              <a:t>2. 配布に --reduced ケース(アンテナ集約・需要保存・帳簿つき)を同梱すれば</a:t>
            </a:r>
          </a:p>
          <a:p>
            <a:r>
              <a:rPr sz="1700" b="0">
                <a:solidFill>
                  <a:srgbClr val="555A60"/>
                </a:solidFill>
                <a:latin typeface="Hiragino Sans"/>
              </a:rPr>
              <a:t>     MATPOWERのrunpfでeast/westが解ける見込み — 実装は小さい</a:t>
            </a:r>
          </a:p>
          <a:p/>
          <a:p>
            <a:r>
              <a:rPr sz="1700" b="0">
                <a:solidFill>
                  <a:srgbClr val="555A60"/>
                </a:solidFill>
                <a:latin typeface="Hiragino Sans"/>
              </a:rPr>
              <a:t>3. MATPOWERエクスポートの正典系譜(build_island_net)への切替をA/B</a:t>
            </a:r>
          </a:p>
          <a:p/>
          <a:p>
            <a:r>
              <a:rPr sz="1700" b="0">
                <a:solidFill>
                  <a:srgbClr val="555A60"/>
                </a:solidFill>
                <a:latin typeface="Hiragino Sans"/>
              </a:rPr>
              <a:t>4. 変圧器定数はcrosswalk_impedance_to_modelを介した照合で再挑戦(#1の本実装)</a:t>
            </a:r>
          </a:p>
          <a:p/>
          <a:p>
            <a:r>
              <a:rPr sz="1700" b="0">
                <a:solidFill>
                  <a:srgbClr val="555A60"/>
                </a:solidFill>
                <a:latin typeface="Hiragino Sans"/>
              </a:rPr>
              <a:t>注: アンテナ集約は計算モデルの縮約であり、正典(built)は変更しない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