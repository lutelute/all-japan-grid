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cdf52d341544c51" /><Relationship Type="http://schemas.openxmlformats.org/officeDocument/2006/relationships/extended-properties" Target="/docProps/app.xml" Id="Rc081b794a4ac4999" /><Relationship Type="http://schemas.openxmlformats.org/officeDocument/2006/relationships/officeDocument" Target="/ppt/presentation.xml" Id="R25ebd97caa764d1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aca21437bb845bb"/>
  </p:sldMasterIdLst>
  <p:notesMasterIdLst>
    <p:notesMasterId xmlns:r="http://schemas.openxmlformats.org/officeDocument/2006/relationships" r:id="Rff964d15f7124891"/>
  </p:notesMasterIdLst>
  <p:sldIdLst>
    <p:sldId xmlns:r="http://schemas.openxmlformats.org/officeDocument/2006/relationships" id="256" r:id="R6e37a0bf6c4649ed"/>
    <p:sldId xmlns:r="http://schemas.openxmlformats.org/officeDocument/2006/relationships" id="257" r:id="R2a4689a1af284424"/>
    <p:sldId xmlns:r="http://schemas.openxmlformats.org/officeDocument/2006/relationships" id="258" r:id="Rb4fcac3d03fb49f4"/>
    <p:sldId xmlns:r="http://schemas.openxmlformats.org/officeDocument/2006/relationships" id="259" r:id="Rd52a8e90c9ed49e1"/>
    <p:sldId xmlns:r="http://schemas.openxmlformats.org/officeDocument/2006/relationships" id="260" r:id="R6d413e8b4fb14bcf"/>
    <p:sldId xmlns:r="http://schemas.openxmlformats.org/officeDocument/2006/relationships" id="261" r:id="R30ecd85479f3413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0b822363e9349b9" /><Relationship Type="http://schemas.openxmlformats.org/officeDocument/2006/relationships/slideMaster" Target="/ppt/slideMasters/slideMaster1.xml" Id="R8aca21437bb845bb" /><Relationship Type="http://schemas.openxmlformats.org/officeDocument/2006/relationships/notesMaster" Target="/ppt/notesMasters/notesMaster1.xml" Id="Rff964d15f7124891" /><Relationship Type="http://schemas.openxmlformats.org/officeDocument/2006/relationships/presProps" Target="/ppt/presProps.xml" Id="R13d7983356ad40b9" /><Relationship Type="http://schemas.openxmlformats.org/officeDocument/2006/relationships/tableStyles" Target="/ppt/tableStyles.xml" Id="Ra99e466fa5ba4b74" /><Relationship Type="http://schemas.openxmlformats.org/officeDocument/2006/relationships/slide" Target="/ppt/slides/slide1.xml" Id="R6e37a0bf6c4649ed" /><Relationship Type="http://schemas.openxmlformats.org/officeDocument/2006/relationships/slide" Target="/ppt/slides/slide2.xml" Id="R2a4689a1af284424" /><Relationship Type="http://schemas.openxmlformats.org/officeDocument/2006/relationships/slide" Target="/ppt/slides/slide3.xml" Id="Rb4fcac3d03fb49f4" /><Relationship Type="http://schemas.openxmlformats.org/officeDocument/2006/relationships/slide" Target="/ppt/slides/slide4.xml" Id="Rd52a8e90c9ed49e1" /><Relationship Type="http://schemas.openxmlformats.org/officeDocument/2006/relationships/slide" Target="/ppt/slides/slide5.xml" Id="R6d413e8b4fb14bcf" /><Relationship Type="http://schemas.openxmlformats.org/officeDocument/2006/relationships/slide" Target="/ppt/slides/slide6.xml" Id="R30ecd85479f3413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52de9b37a8942f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0001e559c614edb" /><Relationship Type="http://schemas.openxmlformats.org/officeDocument/2006/relationships/notesMaster" Target="/ppt/notesMasters/notesMaster1.xml" Id="R68e4dcce4a09490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bb9d155c8424187" /><Relationship Type="http://schemas.openxmlformats.org/officeDocument/2006/relationships/notesMaster" Target="/ppt/notesMasters/notesMaster1.xml" Id="Rdd7cd47ac6df4fc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a0f804b660f4b95" /><Relationship Type="http://schemas.openxmlformats.org/officeDocument/2006/relationships/notesMaster" Target="/ppt/notesMasters/notesMaster1.xml" Id="R99b0181e89e74c2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668ee0293324d12" /><Relationship Type="http://schemas.openxmlformats.org/officeDocument/2006/relationships/notesMaster" Target="/ppt/notesMasters/notesMaster1.xml" Id="R46868bc4d209458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c38e416ded343b9" /><Relationship Type="http://schemas.openxmlformats.org/officeDocument/2006/relationships/notesMaster" Target="/ppt/notesMasters/notesMaster1.xml" Id="Rb0685898636543b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0e1bf629d874edf" /><Relationship Type="http://schemas.openxmlformats.org/officeDocument/2006/relationships/notesMaster" Target="/ppt/notesMasters/notesMaster1.xml" Id="R79d8dc5575c34ff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対象は東日本の推定運転点55,250MW。目標需要での発電機Q制約付きACは未収束。写真と元OSM線形にある宮城中央支線がbuiltモデルで欠落していた。青葉幹線の元の経路を保持して分岐点を追加し、2回線の支線と構内引込を復元した。大郷の推定275/66kV変圧器も既存の枝も保持した。元モデルでは5母線の高電圧側に約628MWの発電があり、大郷66kV側へ抜けていた。示した負荷率はQ制約を外した診断値であり、運転可能な解ではない。追加線の定数は既存500kV既定値。撮影期間2023年10月〜11月。公式表 https://nw.tohoku-epco.co.jp/consignment/system/announcement/data/sys_capa_kikan01_line_202607_02.csv の0005行で500kV・2回線・方向を独立照合。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出典：航空写真：国土地理院 ／ 元線形・設備外形：© OpenStreetMap contributors / results.json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安良里の東京側・中部側の点は同じOSM way/409537787を参照する。モデル点の片方が敷地外にずれていた。元モデルは各点へ約23.017MWずつ合成需要を配分していた。70組の同じ元設備・同じ地域・同じモデル電圧の組について、需要重みを一設備分にし、複数母線に分担する。地域P/Q合計を保つよう再正規化し、推定80%補償シャントも需要と同じ比率で更新する。設備点・枝・発電機を消す変更は行わない。これは推定需要の事前分布の修正であり、観測需要の重複を証明したものではない。写真は2020年8月〜12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出典：航空写真：国土地理院 ／ 元線形・設備外形：© OpenStreetMap contributors / load_identity_plan.json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すべて目標需要55,250MW、発電P58012.5MW。AC診断値はQ制約を外した解であり、Q上下限違反が残る。幹線の分割のみの対照ではDCの元線路最大潮流差は1.36e-9MW、AC損失差は0.0014MW。支線復元の効果とπ型線路の分割効果を分離した。需要重み補正は地域P/Q合計を保つが、各地点の注入と推定補償の配置を変える。実測値との誤差改善率は未評価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出典：results.json / pandapower 3.4.0 / NR 50反復・許容不整合1e-4 MVA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元Ybusは6253×6253、nnz20523。220基準母線を除いた行列の疎1ノルム条件数推定が5.27e7。修正後は6.12e7へ増加したため、条件数だけの改善指標は適切でない。元Ybus対角がゼロの2母線は孤立した基準母線であり、それだけでAC不収束とは判定しない。Q制約遷移の内側Newtonが失敗したとき、注入量ホモトピーで最後の収束点まで戻り、Jacobianの局所電圧感度を計算。Beforeは大郷、Afterは安良里・伊豆側が強く反応する。補間係数は需要倍率でも、供給可能率でも、解の存在の証明でもな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出典：results.json / ybus / q_transition_trace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支線復元と70組の需要配分重み補正後に、需要・発電P・推定補償を同じ係数で変えた。線路・変圧器・Q上下限は固定。80%44,200MWでAC方程式とQ上下限を通過したが、最低電圧0.6857pu、231線路と103変圧器に過負荷がある。5%2762.5MWでは0.9〜1.1puと負荷率100%のスクリーニングも通過するが、通常運転達成の意味ではない。100%は地域ピーク設定の0.85倍。全点が220基準母線のうち208の仮想補給を含む。条件達成を現実の運転可能性と混同しな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出典：results.json / strict_operating_point_ramp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初期値変更、同一母線発電機の集約、補償比率の変更、仮のリアクトル、大郷変圧器の保留・容量増大、人口による需要傾斜、伊豆66kVの仮2回線化、Q制約の再解放を含む実験solverも、目標条件での合格は得られなかった。最終比較に採用したのは元データの支線復元と設備IDに基づく合成需要重み補正のみ。次は伊豆の供給端・回線数・地点需要、62件の両端電圧不一致、発電機AVR能力と運転P/Q、補償設備を一次資料で照合する。全探索結果・地図・Before/After・コードをHTMLに保存し、再実行CLIでClaudeが確認でき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出典：docs/AC_DIAGNOSIS_TOOL.md / Issue #53 / exploration/*.json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9a9fddfd1234d1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d077d4fe19344eb" /><Relationship Type="http://schemas.openxmlformats.org/officeDocument/2006/relationships/slideLayout" Target="/ppt/slideLayouts/slideLayout1.xml" Id="Rd85dce48794d4e1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85dce48794d4e1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d4afe1f346d4d0d" /><Relationship Type="http://schemas.openxmlformats.org/officeDocument/2006/relationships/image" Target="/ppt/media/image.png" Id="Rfcdc5739cac94940" /><Relationship Type="http://schemas.openxmlformats.org/officeDocument/2006/relationships/notesSlide" Target="/ppt/notesSlides/notesSlide1.xml" Id="R7b63addeace4405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124b3d94e5543ba" /><Relationship Type="http://schemas.openxmlformats.org/officeDocument/2006/relationships/image" Target="/ppt/media/image2.png" Id="R82229ec8e07a4688" /><Relationship Type="http://schemas.openxmlformats.org/officeDocument/2006/relationships/notesSlide" Target="/ppt/notesSlides/notesSlide2.xml" Id="Rd8c6e8db6304445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172fa3ca0764be0" /><Relationship Type="http://schemas.openxmlformats.org/officeDocument/2006/relationships/notesSlide" Target="/ppt/notesSlides/notesSlide3.xml" Id="Re2365baad4ef4a0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5f31384858c4bcc" /><Relationship Type="http://schemas.openxmlformats.org/officeDocument/2006/relationships/notesSlide" Target="/ppt/notesSlides/notesSlide4.xml" Id="Rb7ce0f6f16d9484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a38e8068f69423c" /><Relationship Type="http://schemas.openxmlformats.org/officeDocument/2006/relationships/notesSlide" Target="/ppt/notesSlides/notesSlide5.xml" Id="R0f544307360a43d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41b301b4c314114" /><Relationship Type="http://schemas.openxmlformats.org/officeDocument/2006/relationships/notesSlide" Target="/ppt/notesSlides/notesSlide6.xml" Id="R536466c0f14442e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2EF6C02-97D6-4764-9269-592CFC609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90550"/>
            <a:ext cx="11049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32A3E"/>
                </a:solidFill>
                <a:latin typeface="Hiragino Sans"/>
                <a:ea typeface="Hiragino Sans"/>
                <a:cs typeface="Hiragino Sans"/>
              </a:defRPr>
            </a:pPr>
            <a:r>
              <a:rPr sz="3225" b="1">
                <a:solidFill>
                  <a:srgbClr val="132A3E"/>
                </a:solidFill>
                <a:latin typeface="Hiragino Sans"/>
                <a:ea typeface="Hiragino Sans"/>
                <a:cs typeface="Hiragino Sans"/>
              </a:rPr>
              <a:t>宮城中央支線の復元で、66 kV側の迂回が減る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C2E2936-6692-4A5F-90E5-801F07A2E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53175"/>
            <a:ext cx="10382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66A7C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0">
                <a:solidFill>
                  <a:srgbClr val="566A7C"/>
                </a:solidFill>
                <a:latin typeface="Hiragino Sans"/>
                <a:ea typeface="Hiragino Sans"/>
                <a:cs typeface="Hiragino Sans"/>
              </a:rPr>
              <a:t>航空写真：国土地理院 ／ 元線形・設備外形：© OpenStreetMap contributors / results.json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A1ED6AE-9221-4D91-838F-79334CFE1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34125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66A7C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 b="0">
                <a:solidFill>
                  <a:srgbClr val="566A7C"/>
                </a:solidFill>
                <a:latin typeface="Hiragino Sans"/>
                <a:ea typeface="Hiragino Sans"/>
                <a:cs typeface="Hiragino Sans"/>
              </a:rPr>
              <a:t>01</a:t>
            </a:r>
          </a:p>
        </p:txBody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cdc5739cac94940"/>
          <a:stretch xmlns:a="http://schemas.openxmlformats.org/drawingml/2006/main"/>
        </p:blipFill>
        <p:spPr>
          <a:xfrm xmlns:a="http://schemas.openxmlformats.org/drawingml/2006/main">
            <a:off x="936625" y="1571625"/>
            <a:ext cx="6223000" cy="46672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94603DA-0CBA-4752-B13A-656F31571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1714500"/>
            <a:ext cx="3714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566A7C"/>
                </a:solidFill>
                <a:latin typeface="Hiragino Sans"/>
                <a:ea typeface="Hiragino Sans"/>
                <a:cs typeface="Hiragino Sans"/>
              </a:defRPr>
            </a:pPr>
            <a:r>
              <a:rPr sz="2100" b="0">
                <a:solidFill>
                  <a:srgbClr val="566A7C"/>
                </a:solidFill>
                <a:latin typeface="Hiragino Sans"/>
                <a:ea typeface="Hiragino Sans"/>
                <a:cs typeface="Hiragino Sans"/>
              </a:rPr>
              <a:t>大郷66 kV線の負荷率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28225A2-FC6C-40B0-A4FD-36F6D2A0D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2524125"/>
            <a:ext cx="3714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47F91"/>
                </a:solidFill>
                <a:latin typeface="Hiragino Sans"/>
                <a:ea typeface="Hiragino Sans"/>
                <a:cs typeface="Hiragino Sans"/>
              </a:defRPr>
            </a:pPr>
            <a:r>
              <a:rPr sz="3150" b="1">
                <a:solidFill>
                  <a:srgbClr val="147F91"/>
                </a:solidFill>
                <a:latin typeface="Hiragino Sans"/>
                <a:ea typeface="Hiragino Sans"/>
                <a:cs typeface="Hiragino Sans"/>
              </a:rPr>
              <a:t>1,007% → 198%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8337C1F-BC42-4EF6-A1C9-D9BF8F86B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3552825"/>
            <a:ext cx="3667125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132A3E"/>
                </a:solidFill>
                <a:latin typeface="Hiragino Sans"/>
                <a:ea typeface="Hiragino Sans"/>
                <a:cs typeface="Hiragino Sans"/>
              </a:defRPr>
            </a:pPr>
            <a:r>
              <a:rPr sz="2325" b="0">
                <a:solidFill>
                  <a:srgbClr val="132A3E"/>
                </a:solidFill>
                <a:latin typeface="Hiragino Sans"/>
                <a:ea typeface="Hiragino Sans"/>
                <a:cs typeface="Hiragino Sans"/>
              </a:rPr>
              <a:t>幹線の分岐と</a:t>
            </a:r>
          </a:p>
          <a:p xmlns:a="http://schemas.openxmlformats.org/drawingml/2006/main">
            <a:pPr>
              <a:defRPr sz="2325" b="0">
                <a:solidFill>
                  <a:srgbClr val="132A3E"/>
                </a:solidFill>
                <a:latin typeface="Hiragino Sans"/>
                <a:ea typeface="Hiragino Sans"/>
                <a:cs typeface="Hiragino Sans"/>
              </a:defRPr>
            </a:pPr>
            <a:r>
              <a:rPr sz="2325" b="0">
                <a:solidFill>
                  <a:srgbClr val="132A3E"/>
                </a:solidFill>
                <a:latin typeface="Hiragino Sans"/>
                <a:ea typeface="Hiragino Sans"/>
                <a:cs typeface="Hiragino Sans"/>
              </a:rPr>
              <a:t>構内引込を戻す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3CD1FE4-2EBC-4CDC-B498-F941EABE4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5124450"/>
            <a:ext cx="366712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B34147"/>
                </a:solidFill>
                <a:latin typeface="Hiragino Sans"/>
                <a:ea typeface="Hiragino Sans"/>
                <a:cs typeface="Hiragino Sans"/>
              </a:defRPr>
            </a:pPr>
            <a:r>
              <a:rPr sz="1875" b="1">
                <a:solidFill>
                  <a:srgbClr val="B34147"/>
                </a:solidFill>
                <a:latin typeface="Hiragino Sans"/>
                <a:ea typeface="Hiragino Sans"/>
                <a:cs typeface="Hiragino Sans"/>
              </a:rPr>
              <a:t>Q制約なしの診断値</a:t>
            </a:r>
          </a:p>
          <a:p xmlns:a="http://schemas.openxmlformats.org/drawingml/2006/main">
            <a:pPr>
              <a:defRPr sz="1875" b="1">
                <a:solidFill>
                  <a:srgbClr val="B34147"/>
                </a:solidFill>
                <a:latin typeface="Hiragino Sans"/>
                <a:ea typeface="Hiragino Sans"/>
                <a:cs typeface="Hiragino Sans"/>
              </a:defRPr>
            </a:pPr>
            <a:r>
              <a:rPr sz="1875" b="1">
                <a:solidFill>
                  <a:srgbClr val="B34147"/>
                </a:solidFill>
                <a:latin typeface="Hiragino Sans"/>
                <a:ea typeface="Hiragino Sans"/>
                <a:cs typeface="Hiragino Sans"/>
              </a:rPr>
              <a:t>Q制約付きACは未収束</a:t>
            </a:r>
          </a:p>
        </p:txBody>
      </p:sp>
    </p:spTree>
    <p:extLst>
      <p:ext uri="{BB962C8B-B14F-4D97-AF65-F5344CB8AC3E}">
        <p14:creationId xmlns:p14="http://schemas.microsoft.com/office/powerpoint/2010/main" val="134585288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0ECEA25-0A8A-4179-9900-CC4F91C71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90550"/>
            <a:ext cx="11049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32A3E"/>
                </a:solidFill>
                <a:latin typeface="Hiragino Sans"/>
                <a:ea typeface="Hiragino Sans"/>
                <a:cs typeface="Hiragino Sans"/>
              </a:defRPr>
            </a:pPr>
            <a:r>
              <a:rPr sz="3225" b="1">
                <a:solidFill>
                  <a:srgbClr val="132A3E"/>
                </a:solidFill>
                <a:latin typeface="Hiragino Sans"/>
                <a:ea typeface="Hiragino Sans"/>
                <a:cs typeface="Hiragino Sans"/>
              </a:rPr>
              <a:t>同一設備の需要重みを一回分にする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02943DA-69C9-4A9C-9036-974D25CF6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53175"/>
            <a:ext cx="10382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66A7C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0">
                <a:solidFill>
                  <a:srgbClr val="566A7C"/>
                </a:solidFill>
                <a:latin typeface="Hiragino Sans"/>
                <a:ea typeface="Hiragino Sans"/>
                <a:cs typeface="Hiragino Sans"/>
              </a:rPr>
              <a:t>航空写真：国土地理院 ／ 元線形・設備外形：© OpenStreetMap contributors / load_identity_plan.json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62E2A52-A1E5-4396-8F8B-687A8A176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34125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66A7C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 b="0">
                <a:solidFill>
                  <a:srgbClr val="566A7C"/>
                </a:solidFill>
                <a:latin typeface="Hiragino Sans"/>
                <a:ea typeface="Hiragino Sans"/>
                <a:cs typeface="Hiragino Sans"/>
              </a:rPr>
              <a:t>02</a:t>
            </a:r>
          </a:p>
        </p:txBody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2229ec8e07a4688"/>
          <a:stretch xmlns:a="http://schemas.openxmlformats.org/drawingml/2006/main"/>
        </p:blipFill>
        <p:spPr>
          <a:xfrm xmlns:a="http://schemas.openxmlformats.org/drawingml/2006/main">
            <a:off x="1023938" y="1571625"/>
            <a:ext cx="4619625" cy="4619625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1CD3051-24BD-42B0-A642-322C1AD6A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1695450"/>
            <a:ext cx="4762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566A7C"/>
                </a:solidFill>
                <a:latin typeface="Hiragino Sans"/>
                <a:ea typeface="Hiragino Sans"/>
                <a:cs typeface="Hiragino Sans"/>
              </a:defRPr>
            </a:pPr>
            <a:r>
              <a:rPr sz="2100" b="1">
                <a:solidFill>
                  <a:srgbClr val="566A7C"/>
                </a:solidFill>
                <a:latin typeface="Hiragino Sans"/>
                <a:ea typeface="Hiragino Sans"/>
                <a:cs typeface="Hiragino Sans"/>
              </a:rPr>
              <a:t>Before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AF1DF90-6950-46B7-B230-AFC380986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266950"/>
            <a:ext cx="47625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32A3E"/>
                </a:solidFill>
                <a:latin typeface="Hiragino Sans"/>
                <a:ea typeface="Hiragino Sans"/>
                <a:cs typeface="Hiragino Sans"/>
              </a:defRPr>
            </a:pPr>
            <a:r>
              <a:rPr sz="2250" b="0">
                <a:solidFill>
                  <a:srgbClr val="132A3E"/>
                </a:solidFill>
                <a:latin typeface="Hiragino Sans"/>
                <a:ea typeface="Hiragino Sans"/>
                <a:cs typeface="Hiragino Sans"/>
              </a:rPr>
              <a:t>同じ設備に、約23 MWずつ配分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9DDF161-8E44-45A6-877D-3DC4B35E8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3514725"/>
            <a:ext cx="4762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47F91"/>
                </a:solidFill>
                <a:latin typeface="Hiragino Sans"/>
                <a:ea typeface="Hiragino Sans"/>
                <a:cs typeface="Hiragino Sans"/>
              </a:defRPr>
            </a:pPr>
            <a:r>
              <a:rPr sz="2100" b="1">
                <a:solidFill>
                  <a:srgbClr val="147F91"/>
                </a:solidFill>
                <a:latin typeface="Hiragino Sans"/>
                <a:ea typeface="Hiragino Sans"/>
                <a:cs typeface="Hiragino Sans"/>
              </a:rPr>
              <a:t>After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287F20F-1AFB-40F9-8CDF-3D24D4DBB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4095750"/>
            <a:ext cx="476250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32A3E"/>
                </a:solidFill>
                <a:latin typeface="Hiragino Sans"/>
                <a:ea typeface="Hiragino Sans"/>
                <a:cs typeface="Hiragino Sans"/>
              </a:defRPr>
            </a:pPr>
            <a:r>
              <a:rPr sz="2250" b="0">
                <a:solidFill>
                  <a:srgbClr val="132A3E"/>
                </a:solidFill>
                <a:latin typeface="Hiragino Sans"/>
                <a:ea typeface="Hiragino Sans"/>
                <a:cs typeface="Hiragino Sans"/>
              </a:rPr>
              <a:t>一設備分の重みを2点で分担</a:t>
            </a:r>
          </a:p>
          <a:p xmlns:a="http://schemas.openxmlformats.org/drawingml/2006/main">
            <a:pPr>
              <a:defRPr sz="2250" b="0">
                <a:solidFill>
                  <a:srgbClr val="132A3E"/>
                </a:solidFill>
                <a:latin typeface="Hiragino Sans"/>
                <a:ea typeface="Hiragino Sans"/>
                <a:cs typeface="Hiragino Sans"/>
              </a:defRPr>
            </a:pPr>
            <a:r>
              <a:rPr sz="2250" b="0">
                <a:solidFill>
                  <a:srgbClr val="132A3E"/>
                </a:solidFill>
                <a:latin typeface="Hiragino Sans"/>
                <a:ea typeface="Hiragino Sans"/>
                <a:cs typeface="Hiragino Sans"/>
              </a:rPr>
              <a:t>地域の需要合計は保持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FC51150-00C8-486E-89F7-F7CC397F9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5572125"/>
            <a:ext cx="4762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66A7C"/>
                </a:solidFill>
                <a:latin typeface="Hiragino Sans"/>
                <a:ea typeface="Hiragino Sans"/>
                <a:cs typeface="Hiragino Sans"/>
              </a:defRPr>
            </a:pPr>
            <a:r>
              <a:rPr sz="1875" b="0">
                <a:solidFill>
                  <a:srgbClr val="566A7C"/>
                </a:solidFill>
                <a:latin typeface="Hiragino Sans"/>
                <a:ea typeface="Hiragino Sans"/>
                <a:cs typeface="Hiragino Sans"/>
              </a:rPr>
              <a:t>設備IDで照合した70組を試験</a:t>
            </a:r>
          </a:p>
        </p:txBody>
      </p:sp>
    </p:spTree>
    <p:extLst>
      <p:ext uri="{BB962C8B-B14F-4D97-AF65-F5344CB8AC3E}">
        <p14:creationId xmlns:p14="http://schemas.microsoft.com/office/powerpoint/2010/main" val="132864803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4493653-BD4B-496E-9575-9A018BCDB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90550"/>
            <a:ext cx="11049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32A3E"/>
                </a:solidFill>
                <a:latin typeface="Hiragino Sans"/>
                <a:ea typeface="Hiragino Sans"/>
                <a:cs typeface="Hiragino Sans"/>
              </a:defRPr>
            </a:pPr>
            <a:r>
              <a:rPr sz="3225" b="1">
                <a:solidFill>
                  <a:srgbClr val="132A3E"/>
                </a:solidFill>
                <a:latin typeface="Hiragino Sans"/>
                <a:ea typeface="Hiragino Sans"/>
                <a:cs typeface="Hiragino Sans"/>
              </a:rPr>
              <a:t>接続と需要配分の変更を分けて比較する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D7BE86B-43E0-484A-9E9E-0F28927F7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53175"/>
            <a:ext cx="10382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66A7C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0">
                <a:solidFill>
                  <a:srgbClr val="566A7C"/>
                </a:solidFill>
                <a:latin typeface="Hiragino Sans"/>
                <a:ea typeface="Hiragino Sans"/>
                <a:cs typeface="Hiragino Sans"/>
              </a:rPr>
              <a:t>results.json / pandapower 3.4.0 / NR 50反復・許容不整合1e-4 MVA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CF11387-4A13-47A2-A79E-00AFD2433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34125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66A7C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 b="0">
                <a:solidFill>
                  <a:srgbClr val="566A7C"/>
                </a:solidFill>
                <a:latin typeface="Hiragino Sans"/>
                <a:ea typeface="Hiragino Sans"/>
                <a:cs typeface="Hiragino Sans"/>
              </a:rPr>
              <a:t>03</a:t>
            </a:r>
          </a:p>
        </p:txBody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609600" y="1676400"/>
          <a:ext xmlns:a="http://schemas.openxmlformats.org/drawingml/2006/main" cx="10972800" cy="3238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857625"/>
                <a:gridCol w="2114550"/>
                <a:gridCol w="2667000"/>
                <a:gridCol w="2333625"/>
              </a:tblGrid>
              <a:tr h="647700"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条件</a:t>
                      </a:r>
                    </a:p>
                  </a:txBody>
                  <a:tcPr marL="91440" marR="91440" marT="45720" marB="45720">
                    <a:solidFill>
                      <a:srgbClr val="132A3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最低電圧pu</a:t>
                      </a:r>
                    </a:p>
                  </a:txBody>
                  <a:tcPr marL="91440" marR="91440" marT="45720" marB="45720">
                    <a:solidFill>
                      <a:srgbClr val="132A3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大郷線の負荷率</a:t>
                      </a:r>
                    </a:p>
                  </a:txBody>
                  <a:tcPr marL="91440" marR="91440" marT="45720" marB="45720">
                    <a:solidFill>
                      <a:srgbClr val="132A3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Q制約付きAC</a:t>
                      </a:r>
                    </a:p>
                  </a:txBody>
                  <a:tcPr marL="91440" marR="91440" marT="45720" marB="45720">
                    <a:solidFill>
                      <a:srgbClr val="132A3E"/>
                    </a:solidFill>
                  </a:tcPr>
                </a:tc>
              </a:tr>
              <a:tr h="647700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32A3E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元モデル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32A3E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0.834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32A3E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1,007%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32A3E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未収束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47700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32A3E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幹線の分割のみ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32A3E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0.834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32A3E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1,007%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32A3E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未収束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47700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32A3E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宮城中央支線を復元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32A3E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0.834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32A3E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198%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32A3E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未収束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47700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32A3E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需要重みも補正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32A3E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0.935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32A3E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約198%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32A3E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未収束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EA7E1F8-2C60-40FA-9A98-3B142D49E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5238750"/>
            <a:ext cx="109061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B34147"/>
                </a:solidFill>
                <a:latin typeface="Hiragino Sans"/>
                <a:ea typeface="Hiragino Sans"/>
                <a:cs typeface="Hiragino Sans"/>
              </a:defRPr>
            </a:pPr>
            <a:r>
              <a:rPr sz="2250" b="1">
                <a:solidFill>
                  <a:srgbClr val="B34147"/>
                </a:solidFill>
                <a:latin typeface="Hiragino Sans"/>
                <a:ea typeface="Hiragino Sans"/>
                <a:cs typeface="Hiragino Sans"/>
              </a:rPr>
              <a:t>電圧と負荷率はQ制約なしの診断値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8105A74-408C-4852-B520-1EF511CB5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5857875"/>
            <a:ext cx="109061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66A7C"/>
                </a:solidFill>
                <a:latin typeface="Hiragino Sans"/>
                <a:ea typeface="Hiragino Sans"/>
                <a:cs typeface="Hiragino Sans"/>
              </a:defRPr>
            </a:pPr>
            <a:r>
              <a:rPr sz="1800" b="0">
                <a:solidFill>
                  <a:srgbClr val="566A7C"/>
                </a:solidFill>
                <a:latin typeface="Hiragino Sans"/>
                <a:ea typeface="Hiragino Sans"/>
                <a:cs typeface="Hiragino Sans"/>
              </a:rPr>
              <a:t>全設備・枝・発電機を保持し、地域の需要合計55,250 MWも保持</a:t>
            </a:r>
          </a:p>
        </p:txBody>
      </p:sp>
    </p:spTree>
    <p:extLst>
      <p:ext uri="{BB962C8B-B14F-4D97-AF65-F5344CB8AC3E}">
        <p14:creationId xmlns:p14="http://schemas.microsoft.com/office/powerpoint/2010/main" val="110025542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D5B7065-1283-4BE3-BA8E-D7B1570FA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90550"/>
            <a:ext cx="11049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32A3E"/>
                </a:solidFill>
                <a:latin typeface="Hiragino Sans"/>
                <a:ea typeface="Hiragino Sans"/>
                <a:cs typeface="Hiragino Sans"/>
              </a:defRPr>
            </a:pPr>
            <a:r>
              <a:rPr sz="3225" b="1">
                <a:solidFill>
                  <a:srgbClr val="132A3E"/>
                </a:solidFill>
                <a:latin typeface="Hiragino Sans"/>
                <a:ea typeface="Hiragino Sans"/>
                <a:cs typeface="Hiragino Sans"/>
              </a:rPr>
              <a:t>YbusとAC Jacobianで、異なる問題を調べる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9C23A1E-BBA3-478E-B952-40C9D6EC4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53175"/>
            <a:ext cx="10382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66A7C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0">
                <a:solidFill>
                  <a:srgbClr val="566A7C"/>
                </a:solidFill>
                <a:latin typeface="Hiragino Sans"/>
                <a:ea typeface="Hiragino Sans"/>
                <a:cs typeface="Hiragino Sans"/>
              </a:rPr>
              <a:t>results.json / ybus / q_transition_trace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CF25D1F-67EF-4A39-8EE9-A5BA3EF0F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34125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66A7C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 b="0">
                <a:solidFill>
                  <a:srgbClr val="566A7C"/>
                </a:solidFill>
                <a:latin typeface="Hiragino Sans"/>
                <a:ea typeface="Hiragino Sans"/>
                <a:cs typeface="Hiragino Sans"/>
              </a:rPr>
              <a:t>04</a:t>
            </a:r>
          </a:p>
        </p:txBody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619125" y="1752600"/>
          <a:ext xmlns:a="http://schemas.openxmlformats.org/drawingml/2006/main" cx="10953750" cy="2476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905375"/>
                <a:gridCol w="2714625"/>
                <a:gridCol w="3333750"/>
              </a:tblGrid>
              <a:tr h="825500"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診断</a:t>
                      </a:r>
                    </a:p>
                  </a:txBody>
                  <a:tcPr marL="91440" marR="91440" marT="45720" marB="45720">
                    <a:solidFill>
                      <a:srgbClr val="132A3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Before</a:t>
                      </a:r>
                    </a:p>
                  </a:txBody>
                  <a:tcPr marL="91440" marR="91440" marT="45720" marB="45720">
                    <a:solidFill>
                      <a:srgbClr val="132A3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支線＋需要重み補正</a:t>
                      </a:r>
                    </a:p>
                  </a:txBody>
                  <a:tcPr marL="91440" marR="91440" marT="45720" marB="45720">
                    <a:solidFill>
                      <a:srgbClr val="132A3E"/>
                    </a:solidFill>
                  </a:tcPr>
                </a:tc>
              </a:tr>
              <a:tr h="825500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32A3E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基準母線を除いたYbus</a:t>
                      </a:r>
                    </a:p>
                    <a:p>
                      <a:r>
                        <a:rPr sz="2025" b="0">
                          <a:solidFill>
                            <a:srgbClr val="132A3E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条件数の推定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32A3E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5.27 × 10⁷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32A3E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6.12 × 10⁷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825500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32A3E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Q制約適用後の</a:t>
                      </a:r>
                    </a:p>
                    <a:p>
                      <a:r>
                        <a:rPr sz="2025" b="0">
                          <a:solidFill>
                            <a:srgbClr val="132A3E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電圧感度が強い場所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32A3E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大郷66 kV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32A3E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安良里・伊豆66 kV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844289F-37A9-4F58-9766-BEBC94FA1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4714875"/>
            <a:ext cx="10906125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47F91"/>
                </a:solidFill>
                <a:latin typeface="Hiragino Sans"/>
                <a:ea typeface="Hiragino Sans"/>
                <a:cs typeface="Hiragino Sans"/>
              </a:defRPr>
            </a:pPr>
            <a:r>
              <a:rPr sz="2325" b="1">
                <a:solidFill>
                  <a:srgbClr val="147F91"/>
                </a:solidFill>
                <a:latin typeface="Hiragino Sans"/>
                <a:ea typeface="Hiragino Sans"/>
                <a:cs typeface="Hiragino Sans"/>
              </a:rPr>
              <a:t>数値感度と、物理的な経路・運転条件を別々に確認する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57A9788-7D6F-4861-9C8C-312FBD0F3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5743575"/>
            <a:ext cx="109061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566A7C"/>
                </a:solidFill>
                <a:latin typeface="Hiragino Sans"/>
                <a:ea typeface="Hiragino Sans"/>
                <a:cs typeface="Hiragino Sans"/>
              </a:defRPr>
            </a:pPr>
            <a:r>
              <a:rPr sz="1950" b="0">
                <a:solidFill>
                  <a:srgbClr val="566A7C"/>
                </a:solidFill>
                <a:latin typeface="Hiragino Sans"/>
                <a:ea typeface="Hiragino Sans"/>
                <a:cs typeface="Hiragino Sans"/>
              </a:rPr>
              <a:t>条件数や反復失敗だけでは、AC解が存在しないとは言えない</a:t>
            </a:r>
          </a:p>
        </p:txBody>
      </p:sp>
    </p:spTree>
    <p:extLst>
      <p:ext uri="{BB962C8B-B14F-4D97-AF65-F5344CB8AC3E}">
        <p14:creationId xmlns:p14="http://schemas.microsoft.com/office/powerpoint/2010/main" val="195239909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2EFF5B5-707A-4675-84B0-8DD0EE803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90550"/>
            <a:ext cx="11049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32A3E"/>
                </a:solidFill>
                <a:latin typeface="Hiragino Sans"/>
                <a:ea typeface="Hiragino Sans"/>
                <a:cs typeface="Hiragino Sans"/>
              </a:defRPr>
            </a:pPr>
            <a:r>
              <a:rPr sz="3225" b="1">
                <a:solidFill>
                  <a:srgbClr val="132A3E"/>
                </a:solidFill>
                <a:latin typeface="Hiragino Sans"/>
                <a:ea typeface="Hiragino Sans"/>
                <a:cs typeface="Hiragino Sans"/>
              </a:rPr>
              <a:t>ACの方程式・Q上下限・運転範囲は別の判定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855CA90-9EA0-4C73-B7A6-4F283E18D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53175"/>
            <a:ext cx="10382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66A7C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0">
                <a:solidFill>
                  <a:srgbClr val="566A7C"/>
                </a:solidFill>
                <a:latin typeface="Hiragino Sans"/>
                <a:ea typeface="Hiragino Sans"/>
                <a:cs typeface="Hiragino Sans"/>
              </a:rPr>
              <a:t>results.json / strict_operating_point_ramp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FFE4FAA-A366-4992-B3CF-C93E9DC26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34125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66A7C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 b="0">
                <a:solidFill>
                  <a:srgbClr val="566A7C"/>
                </a:solidFill>
                <a:latin typeface="Hiragino Sans"/>
                <a:ea typeface="Hiragino Sans"/>
                <a:cs typeface="Hiragino Sans"/>
              </a:rPr>
              <a:t>05</a:t>
            </a:r>
          </a:p>
        </p:txBody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609600" y="1685925"/>
          <a:ext xmlns:a="http://schemas.openxmlformats.org/drawingml/2006/main" cx="10972800" cy="2667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905125"/>
                <a:gridCol w="2286000"/>
                <a:gridCol w="2714625"/>
                <a:gridCol w="3067050"/>
              </a:tblGrid>
              <a:tr h="666750"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需要・発電の比率</a:t>
                      </a:r>
                    </a:p>
                  </a:txBody>
                  <a:tcPr marL="91440" marR="91440" marT="45720" marB="45720">
                    <a:solidFill>
                      <a:srgbClr val="132A3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需要MW</a:t>
                      </a:r>
                    </a:p>
                  </a:txBody>
                  <a:tcPr marL="91440" marR="91440" marT="45720" marB="45720">
                    <a:solidFill>
                      <a:srgbClr val="132A3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方程式とQ制約</a:t>
                      </a:r>
                    </a:p>
                  </a:txBody>
                  <a:tcPr marL="91440" marR="91440" marT="45720" marB="45720">
                    <a:solidFill>
                      <a:srgbClr val="132A3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電圧・過負荷</a:t>
                      </a:r>
                    </a:p>
                  </a:txBody>
                  <a:tcPr marL="91440" marR="91440" marT="45720" marB="45720">
                    <a:solidFill>
                      <a:srgbClr val="132A3E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32A3E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100%（目標）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32A3E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55,250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32A3E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未収束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32A3E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合格判定できず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32A3E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80%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32A3E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44,200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32A3E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通過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32A3E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未通過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32A3E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5%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32A3E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2,762.5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32A3E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通過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32A3E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仮の範囲で通過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2A026AF-D898-47C9-A448-3B12CD0FD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4819650"/>
            <a:ext cx="10858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B34147"/>
                </a:solidFill>
                <a:latin typeface="Hiragino Sans"/>
                <a:ea typeface="Hiragino Sans"/>
                <a:cs typeface="Hiragino Sans"/>
              </a:defRPr>
            </a:pPr>
            <a:r>
              <a:rPr sz="2400" b="1">
                <a:solidFill>
                  <a:srgbClr val="B34147"/>
                </a:solidFill>
                <a:latin typeface="Hiragino Sans"/>
                <a:ea typeface="Hiragino Sans"/>
                <a:cs typeface="Hiragino Sans"/>
              </a:rPr>
              <a:t>80%でも最低電圧0.686 pu、過負荷が残る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B9BC0E4-0CC2-48F5-B4D2-EB782611F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5553075"/>
            <a:ext cx="1085850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66A7C"/>
                </a:solidFill>
                <a:latin typeface="Hiragino Sans"/>
                <a:ea typeface="Hiragino Sans"/>
                <a:cs typeface="Hiragino Sans"/>
              </a:defRPr>
            </a:pPr>
            <a:r>
              <a:rPr sz="1725" b="0">
                <a:solidFill>
                  <a:srgbClr val="566A7C"/>
                </a:solidFill>
                <a:latin typeface="Hiragino Sans"/>
                <a:ea typeface="Hiragino Sans"/>
                <a:cs typeface="Hiragino Sans"/>
              </a:rPr>
              <a:t>電圧0.9–1.1 pu・負荷率100%は本試験の評価範囲</a:t>
            </a:r>
          </a:p>
          <a:p xmlns:a="http://schemas.openxmlformats.org/drawingml/2006/main">
            <a:pPr>
              <a:defRPr sz="1725" b="0">
                <a:solidFill>
                  <a:srgbClr val="566A7C"/>
                </a:solidFill>
                <a:latin typeface="Hiragino Sans"/>
                <a:ea typeface="Hiragino Sans"/>
                <a:cs typeface="Hiragino Sans"/>
              </a:defRPr>
            </a:pPr>
            <a:r>
              <a:rPr sz="1725" b="0">
                <a:solidFill>
                  <a:srgbClr val="566A7C"/>
                </a:solidFill>
                <a:latin typeface="Hiragino Sans"/>
                <a:ea typeface="Hiragino Sans"/>
                <a:cs typeface="Hiragino Sans"/>
              </a:rPr>
              <a:t>実設備の正式な運用基準・仮想補給の妥当性は別途確認</a:t>
            </a:r>
          </a:p>
        </p:txBody>
      </p:sp>
    </p:spTree>
    <p:extLst>
      <p:ext uri="{BB962C8B-B14F-4D97-AF65-F5344CB8AC3E}">
        <p14:creationId xmlns:p14="http://schemas.microsoft.com/office/powerpoint/2010/main" val="204875279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BC32B0C-CE63-4C41-ADB3-B14521BCD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90550"/>
            <a:ext cx="11049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32A3E"/>
                </a:solidFill>
                <a:latin typeface="Hiragino Sans"/>
                <a:ea typeface="Hiragino Sans"/>
                <a:cs typeface="Hiragino Sans"/>
              </a:defRPr>
            </a:pPr>
            <a:r>
              <a:rPr sz="3225" b="1">
                <a:solidFill>
                  <a:srgbClr val="132A3E"/>
                </a:solidFill>
                <a:latin typeface="Hiragino Sans"/>
                <a:ea typeface="Hiragino Sans"/>
                <a:cs typeface="Hiragino Sans"/>
              </a:rPr>
              <a:t>失敗した試験と、次に照合する設備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6246882-6F91-4832-957B-655D757B0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53175"/>
            <a:ext cx="10382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66A7C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0">
                <a:solidFill>
                  <a:srgbClr val="566A7C"/>
                </a:solidFill>
                <a:latin typeface="Hiragino Sans"/>
                <a:ea typeface="Hiragino Sans"/>
                <a:cs typeface="Hiragino Sans"/>
              </a:rPr>
              <a:t>docs/AC_DIAGNOSIS_TOOL.md / Issue #53 / exploration/*.json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C36C1B1-12AA-4787-B6C4-5E69130A6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34125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66A7C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 b="0">
                <a:solidFill>
                  <a:srgbClr val="566A7C"/>
                </a:solidFill>
                <a:latin typeface="Hiragino Sans"/>
                <a:ea typeface="Hiragino Sans"/>
                <a:cs typeface="Hiragino Sans"/>
              </a:rPr>
              <a:t>06</a:t>
            </a:r>
          </a:p>
        </p:txBody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619125" y="1666875"/>
          <a:ext xmlns:a="http://schemas.openxmlformats.org/drawingml/2006/main" cx="10953750" cy="2571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7429500"/>
                <a:gridCol w="3524250"/>
              </a:tblGrid>
              <a:tr h="642938"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試したこと</a:t>
                      </a:r>
                    </a:p>
                  </a:txBody>
                  <a:tcPr marL="91440" marR="91440" marT="45720" marB="45720">
                    <a:solidFill>
                      <a:srgbClr val="132A3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結果</a:t>
                      </a:r>
                    </a:p>
                  </a:txBody>
                  <a:tcPr marL="91440" marR="91440" marT="45720" marB="45720">
                    <a:solidFill>
                      <a:srgbClr val="132A3E"/>
                    </a:solidFill>
                  </a:tcPr>
                </a:tc>
              </a:tr>
              <a:tr h="642938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32A3E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初期値・発電機集約・補償量の変更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32A3E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目標条件では未収束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42938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32A3E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人口傾斜・伊豆の仮2回線化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32A3E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未収束。修正案に採用せず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42938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32A3E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Q制約の再解放を含む実験solver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32A3E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不整合約32–33 MVAで停止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D1874FC-488D-4488-8408-A5D98E71D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4695825"/>
            <a:ext cx="10906125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47F91"/>
                </a:solidFill>
                <a:latin typeface="Hiragino Sans"/>
                <a:ea typeface="Hiragino Sans"/>
                <a:cs typeface="Hiragino Sans"/>
              </a:defRPr>
            </a:pPr>
            <a:r>
              <a:rPr sz="2325" b="1">
                <a:solidFill>
                  <a:srgbClr val="147F91"/>
                </a:solidFill>
                <a:latin typeface="Hiragino Sans"/>
                <a:ea typeface="Hiragino Sans"/>
                <a:cs typeface="Hiragino Sans"/>
              </a:rPr>
              <a:t>次の照合先：伊豆の供給端・回線数・地点需要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C05EB8C-F923-4EC9-8FD5-699B6D79E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5572125"/>
            <a:ext cx="109061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66A7C"/>
                </a:solidFill>
                <a:latin typeface="Hiragino Sans"/>
                <a:ea typeface="Hiragino Sans"/>
                <a:cs typeface="Hiragino Sans"/>
              </a:defRPr>
            </a:pPr>
            <a:r>
              <a:rPr sz="1875" b="0">
                <a:solidFill>
                  <a:srgbClr val="566A7C"/>
                </a:solidFill>
                <a:latin typeface="Hiragino Sans"/>
                <a:ea typeface="Hiragino Sans"/>
                <a:cs typeface="Hiragino Sans"/>
              </a:rPr>
              <a:t>再実行：python3 scripts/review_ac_solvability.py replay</a:t>
            </a:r>
          </a:p>
        </p:txBody>
      </p:sp>
    </p:spTree>
    <p:extLst>
      <p:ext uri="{BB962C8B-B14F-4D97-AF65-F5344CB8AC3E}">
        <p14:creationId xmlns:p14="http://schemas.microsoft.com/office/powerpoint/2010/main" val="193366066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2026-09-15T00:27:20.4590000Z</dcterms:created>
  <dcterms:modified xsi:type="dcterms:W3CDTF">2026-09-15T00:27:20.4590000Z</dcterms:modified>
</coreProperties>
</file>