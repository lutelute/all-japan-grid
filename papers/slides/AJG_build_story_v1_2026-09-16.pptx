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本発表は成果の紹介ではなく、構築プロセスの技術報告。数字の出典は各スライド脚注に「論文」「実装記録」「本発表の実測」を明示する。著者名の〈名〉は要確認。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論文では「Haversine距離で最近傍変電所に対応付ける（閾値50km）」の1行。実際にはその下に閾値が8段ある。今日はそこを話す。</a:t>
            </a:r>
          </a:p>
          <a:p/>
          <a:p>
            <a:r>
              <a:t>_class: rq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before-after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これが閾値設計の出発点。km単位のメッシュでは全く歯が立たない。この図は本発表のために built モデルから直接計算した（scipy cKDTree、平面近似）。</a:t>
            </a:r>
          </a:p>
          <a:p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before-after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multi-result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pros-cons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gallery-img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E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31720"/>
            <a:ext cx="1105783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A63F00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— OpenStreetMap をどうやって「計算できる送電網」にしたか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889504"/>
            <a:ext cx="1005840" cy="2032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54096"/>
            <a:ext cx="11057839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defRPr sz="54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地図から系統を組み上げる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00066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>
                <a:solidFill>
                  <a:srgbClr val="545151"/>
                </a:solidFill>
                <a:latin typeface="Helvetica Neue"/>
                <a:ea typeface="Hiragino Sans"/>
                <a:cs typeface="Hiragino Sans"/>
              </a:rPr>
              <a:t>林 〈名〉・重信 颯人（福井大学 電気電子情報工学科）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545151"/>
                </a:solidFill>
                <a:latin typeface="Helvetica Neue"/>
                <a:ea typeface="Hiragino Sans"/>
                <a:cs typeface="Hiragino Sans"/>
              </a:rPr>
              <a:t>All-Japan-Grid  | 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この発表の問い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62134" y="2561082"/>
            <a:ext cx="9067427" cy="133350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62134" y="2561082"/>
            <a:ext cx="9067427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90734" y="2827782"/>
            <a:ext cx="8610227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地図には線が描いてある。では、その線を「潮流計算できる系統」にするには、何を決めなければならないのか？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34" y="4168902"/>
            <a:ext cx="9067427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— 決めごとの大半は、論文の1行に圧縮されている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2／22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OSM が持っているもの・持っていないもの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8318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位置はほぼ完璧、電気はゼロ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131822"/>
          <a:ext cx="8625114" cy="3746500"/>
        </p:xfrm>
        <a:graphic>
          <a:graphicData uri="http://schemas.openxmlformats.org/drawingml/2006/table">
            <a:tbl>
              <a:tblPr/>
              <a:tblGrid>
                <a:gridCol w="2339014"/>
                <a:gridCol w="2141476"/>
                <a:gridCol w="1805612"/>
                <a:gridCol w="2339012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属性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OSMタグ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生記録率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補完後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地理座標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D558E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geometry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≈100%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100%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変電所輪郭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polygon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≈60%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重心で補完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電圧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D558E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voltage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≈70%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≈85%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架空/地中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D558E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location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≈30%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未補完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事業者名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D558E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operator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≈65%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≈100%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設備容量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D558E"/>
                          </a:solidFill>
                          <a:latin typeface="SF Mono"/>
                          <a:ea typeface="Hiragino Sans"/>
                          <a:cs typeface="Hiragino Sans"/>
                        </a:rPr>
                        <a:t>capacity_mw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≈7%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P03照合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インピーダンス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電圧別参照表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変圧器特性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電圧比推定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遮断器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非公開・未補完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出典: 論文 表1（全国集計）。太陽光 17,527 箇所のほぼ全てが容量未記録。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3／22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生データは、そのままでは1行も計算できない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電圧タグ｜約 30% が不正値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voltage=0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・空文字・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単位系混在（V と kV）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が全線路の約30%。まず日本の標準電圧（66/110/154/275/500 kV）へスナップして初めて「電圧クラス」という概念が使える。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属性欠損｜107,383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名称欠損 49,384・事業者欠損 41,563・燃料種未知 334。7段階の補完で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93,297 件（87%）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を埋めた。補完の由来は </a:t>
            </a:r>
            <a:r>
              <a:rPr sz="15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_enriched_by:"p03_match"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のように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1件ずつタグで残す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接続情報｜そもそも存在しない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OSM の送電線は </a:t>
            </a:r>
            <a:r>
              <a:rPr sz="1500">
                <a:solidFill>
                  <a:srgbClr val="404040"/>
                </a:solidFill>
                <a:highlight>
                  <a:srgbClr val="F8E0A6"/>
                </a:highlight>
                <a:latin typeface="Helvetica Neue"/>
                <a:ea typeface="Hiragino Sans"/>
                <a:cs typeface="Hiragino Sans"/>
              </a:rPr>
              <a:t>座標点列だけ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を持つ。「この線がどのバスに繋がるか」は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どこにも書かれていない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。ここを決めるのが本発表の主題。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4／22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299208"/>
            <a:ext cx="914400" cy="3175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55240"/>
            <a:ext cx="9997135" cy="1838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44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本題はここから。 点と線を、どうやって結ぶのか。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素朴な「最近傍マッチ」は、線の8割を捨てていた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039112"/>
            <a:ext cx="4705959" cy="3383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素朴な方法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線路の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両端点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を、50 km 以内の最近傍変電所に対応づける。両端が同じ変電所に解決された線は自己ループなので捨てる。→ 東京では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8,295 本中 6,476 本（78%）を廃棄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。線路どうしの分岐点も見ないので、モデルは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481 個の断片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に割れた。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1607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BEDE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61607" y="1810512"/>
            <a:ext cx="516315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0207" y="2077212"/>
            <a:ext cx="4705959" cy="3345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実際に必要だった方法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線を「2つの端点」ではなく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頂点の列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として扱う。全頂点をグラフのノードにし、座標を共有する線どうしを繋ぎ、変電所の近くの頂点だけを変電所に束ねる。捨てる線はゼロ。</a:t>
            </a:r>
          </a:p>
        </p:txBody>
      </p:sp>
      <p:sp>
        <p:nvSpPr>
          <p:cNvPr id="9" name="Chevron 8"/>
          <p:cNvSpPr/>
          <p:nvPr/>
        </p:nvSpPr>
        <p:spPr>
          <a:xfrm>
            <a:off x="5844387" y="3527552"/>
            <a:ext cx="502920" cy="406400"/>
          </a:xfrm>
          <a:prstGeom prst="chevron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6／22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まず、点がどれだけ密集しているかを測る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nn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652" y="1421892"/>
            <a:ext cx="8608391" cy="39598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518911"/>
            <a:ext cx="11057839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図 1｜モデル内 17,738 ノードについて、自分以外の最も近いノードまでの距離。中央値は </a:t>
            </a:r>
            <a:r>
              <a: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80 m</a:t>
            </a:r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。約 44% は</a:t>
            </a:r>
            <a:r>
              <a: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完全に同じ 1 点</a:t>
            </a:r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に載っている（同一座標に最大 8 ノード）。「同心円内に数点」どころではなく、</a:t>
            </a:r>
            <a:r>
              <a: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大半が数十メートルの世界</a:t>
            </a:r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にある。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7／22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頂点グラフ ＋ 許容スナップ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捨てずに繋ぐ｜線の形そのものを土台にする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71679" y="3895852"/>
            <a:ext cx="432809" cy="0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471715" y="3895852"/>
            <a:ext cx="432809" cy="0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12141" y="3895852"/>
            <a:ext cx="432809" cy="0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027908" y="3895851"/>
            <a:ext cx="432809" cy="1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:node"/>
          <p:cNvSpPr/>
          <p:nvPr/>
        </p:nvSpPr>
        <p:spPr>
          <a:xfrm>
            <a:off x="566930" y="3467227"/>
            <a:ext cx="1504749" cy="8572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全頂点をノード化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連続頂点を辺に</a:t>
            </a:r>
          </a:p>
        </p:txBody>
      </p:sp>
      <p:sp>
        <p:nvSpPr>
          <p:cNvPr id="10" name="flow:node"/>
          <p:cNvSpPr/>
          <p:nvPr/>
        </p:nvSpPr>
        <p:spPr>
          <a:xfrm>
            <a:off x="2504488" y="3467227"/>
            <a:ext cx="1967227" cy="8572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座標共有を接続とみなす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4桁≒11 m</a:t>
            </a:r>
          </a:p>
        </p:txBody>
      </p:sp>
      <p:sp>
        <p:nvSpPr>
          <p:cNvPr id="11" name="flow:node"/>
          <p:cNvSpPr/>
          <p:nvPr/>
        </p:nvSpPr>
        <p:spPr>
          <a:xfrm>
            <a:off x="4904524" y="3467227"/>
            <a:ext cx="2007617" cy="857250"/>
          </a:xfrm>
          <a:prstGeom prst="roundRect">
            <a:avLst>
              <a:gd name="adj" fmla="val 3500"/>
            </a:avLst>
          </a:prstGeom>
          <a:solidFill>
            <a:srgbClr val="F9E5D8"/>
          </a:solidFill>
          <a:ln w="13970">
            <a:solidFill>
              <a:srgbClr val="DD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変電所に束ねる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ポリゴン内 or 境界150 m</a:t>
            </a:r>
          </a:p>
        </p:txBody>
      </p:sp>
      <p:sp>
        <p:nvSpPr>
          <p:cNvPr id="12" name="flow:node"/>
          <p:cNvSpPr/>
          <p:nvPr/>
        </p:nvSpPr>
        <p:spPr>
          <a:xfrm>
            <a:off x="7344950" y="3467227"/>
            <a:ext cx="1682958" cy="8572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次数2の連鎖を縮約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次数3以上=実タップ</a:t>
            </a:r>
          </a:p>
        </p:txBody>
      </p:sp>
      <p:sp>
        <p:nvSpPr>
          <p:cNvPr id="13" name="flow:node"/>
          <p:cNvSpPr/>
          <p:nvPr/>
        </p:nvSpPr>
        <p:spPr>
          <a:xfrm>
            <a:off x="9460717" y="3611689"/>
            <a:ext cx="2164047" cy="568325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合成バス＋実線路の枝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8／22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閾値は1つではなく、8段ある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70507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何を同一視するかで、段ごとに根拠が違う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319147"/>
          <a:ext cx="8625114" cy="3371850"/>
        </p:xfrm>
        <a:graphic>
          <a:graphicData uri="http://schemas.openxmlformats.org/drawingml/2006/table">
            <a:tbl>
              <a:tblPr/>
              <a:tblGrid>
                <a:gridCol w="2464320"/>
                <a:gridCol w="1444281"/>
                <a:gridCol w="4716513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閾値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値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何に効くか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頂点の同一視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11 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この精度で座標を共有する線は電気的に接続とみなす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先端の接合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120 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行き止まりの先端と別ノード＝同じ鉄塔とみなす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ポリゴン境界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150 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変電所の敷地境界からこの距離まで束ねる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予備の束縛（内部/端点）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400 / 600 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点で描かれた変電所・ポリゴン欠損の受け皿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内部頂点 → 変電所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1.5 km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近くを通過するだけの回廊を誤融合させない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端点 → 変電所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2.5 km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端点だけ緩める（次スライド）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旧・端点マッチ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50 km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論文に載っている値。上記に置き換えた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孤立成分の橋渡し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最大 300 km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最後の手段。KD木で主成分へ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出典: 実装記録 </a:t>
            </a:r>
            <a:r>
              <a:rPr sz="11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build_network_snapped()</a:t>
            </a:r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 の既定値。上6段はすべて m 単位の判断。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9／22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「重心から半径」をやめ、OSM のポリゴンを根拠にした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039112"/>
            <a:ext cx="4705959" cy="3383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重心＋半径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変電所を1点（重心）に潰し、半径で束ねる。→ 東京で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3,365 本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の線が、経路が 1 km 以内に近づきもしない変電所に繋がっていた。逆に敷地の広い北総 275 kV は取り残されて次数1のまま。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1607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BEDE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61607" y="1810512"/>
            <a:ext cx="516315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0207" y="2077212"/>
            <a:ext cx="4705959" cy="3345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ポリゴン束縛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頂点が変電所の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OSM ポリゴンの内側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、または境界から 150 m 以内にあるときに束ねる —— </a:t>
            </a:r>
            <a:r>
              <a:rPr sz="1500">
                <a:solidFill>
                  <a:srgbClr val="404040"/>
                </a:solidFill>
                <a:highlight>
                  <a:srgbClr val="F8E0A6"/>
                </a:highlight>
                <a:latin typeface="Helvetica Neue"/>
                <a:ea typeface="Hiragino Sans"/>
                <a:cs typeface="Hiragino Sans"/>
              </a:rPr>
              <a:t>地図自身が描いている基準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をそのまま使う。誤結合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3,365 → 0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。東電実測との順位相関は幹線 .615 →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.647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、154 kV .095 →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.215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</a:t>
            </a:r>
          </a:p>
        </p:txBody>
      </p:sp>
      <p:sp>
        <p:nvSpPr>
          <p:cNvPr id="9" name="Chevron 8"/>
          <p:cNvSpPr/>
          <p:nvPr/>
        </p:nvSpPr>
        <p:spPr>
          <a:xfrm>
            <a:off x="5844387" y="3527552"/>
            <a:ext cx="502920" cy="406400"/>
          </a:xfrm>
          <a:prstGeom prst="chevron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10／22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閾値の根拠は、だいたい物理的な理由がある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端点だけ 2.5 km に緩めた理由｜「デジタイズが敷地のフェンスで止まる」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412"/>
            <a:ext cx="10801807" cy="10048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実測すると線路端点の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6〜8%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が変電所から 1.5〜2.5 km の位置にいる。マッパーが送電線を描くとき、変電所の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敷地境界で描画をやめる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ため。2.5 km に緩めて関西 +506、東京 +1,340 端点を回収した。一方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内部頂点は 1.5 km のまま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にする — 緩めると、変電所の脇を通過するだけの回廊が誤って吸い込まれる。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802191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97948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先端 120 m の接合｜「数メートル先に別のノードがあるなら、それは同じ鉄塔」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1583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行き止まり（次数1）の先端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だけ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を、同じ電圧クラスの最近傍ノードに繋ぐ。行き止まりに限定し、電圧クラスで守るので、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並行する回廊は触らない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11／22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同じ座標にあっても、繋いではいけない場合がある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多層変電所｜1,535 箇所が座標を完全共有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変電所は電圧クラスごとにバスを持ち、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座標は完全に同じ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。ここを「座標→1つのID」に潰すと、層間リンク（＝変圧器）が </a:t>
            </a:r>
            <a:r>
              <a:rPr sz="15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i == j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で自己ループ扱いされて消える。実際に別スクリプトで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2,180 本の変圧器リンクが図から消えた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ことがある。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共有鉄塔の交差｜頂点の約 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異なる電圧クラスの2本が同じ鉄塔座標で交差しているだけの場所を繋ぐと、</a:t>
            </a:r>
            <a:r>
              <a:rPr sz="1500">
                <a:solidFill>
                  <a:srgbClr val="404040"/>
                </a:solidFill>
                <a:highlight>
                  <a:srgbClr val="F8E0A6"/>
                </a:highlight>
                <a:latin typeface="Helvetica Neue"/>
                <a:ea typeface="Hiragino Sans"/>
                <a:cs typeface="Hiragino Sans"/>
              </a:rPr>
              <a:t>偽の電気的接続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になる。junction も電圧クラスでキー付けして融合を防ぐ。電圧不明の線だけは、その座標にある最高既知クラスに合流させる。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12／22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電圧タグの穴は、回廊をたどって埋める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08149"/>
            <a:ext cx="5391759" cy="1231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北陸で起きていたこと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主要 154 kV 回廊の </a:t>
            </a:r>
            <a:r>
              <a:rPr sz="16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23% がタグ無し</a:t>
            </a: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。タグの無い区間で背骨が切れ、そこを合成線で繋いだ結果、</a:t>
            </a:r>
            <a:r>
              <a:rPr sz="16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合成線率 11.1%</a:t>
            </a: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という不健全なモデルになっていた。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549777"/>
            <a:ext cx="5391759" cy="7556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549777"/>
            <a:ext cx="50800" cy="75565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651377"/>
            <a:ext cx="4959959" cy="552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穴を「推測で埋める」のではなく、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両隣が一致するときだけ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継承する。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415155"/>
            <a:ext cx="5391759" cy="838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合成線は「OSM に無いので引いた線」であり、多いほどモデルは実在から離れる。タグの穴を埋めれば、その多くは</a:t>
            </a:r>
            <a:r>
              <a:rPr sz="16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実在する線</a:t>
            </a: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で置き換わる。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2208149"/>
            <a:ext cx="5391759" cy="2146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伝播のルール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1. 頂点で見える既知クラスが</a:t>
            </a:r>
            <a:r>
              <a:rPr sz="16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すべて1つに一致</a:t>
            </a: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するときだけ、そのクラスを継承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2. 2クラスが混在する頂点は</a:t>
            </a:r>
            <a:r>
              <a:rPr sz="16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不明のまま残す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3. タグ無し区間の連鎖を反復で歩き、回廊全体へ伝播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4. 推論した枝は </a:t>
            </a:r>
            <a:r>
              <a:rPr sz="16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kv=prop</a:t>
            </a: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、タグ由来は </a:t>
            </a:r>
            <a:r>
              <a:rPr sz="16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kv=tag</a:t>
            </a: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と</a:t>
            </a:r>
            <a:r>
              <a:rPr sz="16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来歴を区別して記録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出典: 実装記録 </a:t>
            </a:r>
            <a:r>
              <a:rPr sz="11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propagate_voltage</a:t>
            </a:r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（北陸ケーススタディ）。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13／22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結果：0/10 だった AC 潮流が、全地域で収束した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176272"/>
            <a:ext cx="3503066" cy="3108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76272"/>
            <a:ext cx="3503066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442972"/>
            <a:ext cx="3045866" cy="261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AC 潮流の収束</a:t>
            </a:r>
          </a:p>
          <a:p>
            <a:pPr algn="ctr">
              <a:spcBef>
                <a:spcPts val="600"/>
              </a:spcBef>
            </a:pPr>
            <a:r>
              <a:rPr sz="38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10/10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パイプライン整備前は 0/10。発電機 15,980 台の自動登録・電圧零バスの補完・変圧器 3,956 台の自動挿入・スラック最適選択で到達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2176272"/>
            <a:ext cx="3503066" cy="3108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4314" y="2176272"/>
            <a:ext cx="3503066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914" y="2442972"/>
            <a:ext cx="3045866" cy="261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全国系統損失</a:t>
            </a:r>
          </a:p>
          <a:p>
            <a:pPr algn="ctr">
              <a:spcBef>
                <a:spcPts val="600"/>
              </a:spcBef>
            </a:pPr>
            <a:r>
              <a:rPr sz="38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1,601 MW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うち東京が 994 MW（62%）。44 GW 超の負荷を反映した妥当な偏り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1700" y="2176272"/>
            <a:ext cx="3503066" cy="3108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1700" y="2176272"/>
            <a:ext cx="3503066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300" y="2442972"/>
            <a:ext cx="3045866" cy="261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Ybus 充填率</a:t>
            </a:r>
          </a:p>
          <a:p>
            <a:pPr algn="ctr">
              <a:spcBef>
                <a:spcPts val="600"/>
              </a:spcBef>
            </a:pPr>
            <a:r>
              <a:rPr sz="38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&lt; 0.01%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6,962 バス・20,369 非零要素。CSC 疎行列で保持し LU 分解に渡す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14／22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おまけ：646 機の UC が 10 秒で解ける理由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6887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二値変数 15,264 個・総変数 約 65,000 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565527"/>
          <a:ext cx="8625114" cy="1873250"/>
        </p:xfrm>
        <a:graphic>
          <a:graphicData uri="http://schemas.openxmlformats.org/drawingml/2006/table">
            <a:tbl>
              <a:tblPr/>
              <a:tblGrid>
                <a:gridCol w="2744386"/>
                <a:gridCol w="5880728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要因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効き方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LP 緩和ギャップが </a:t>
                      </a:r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&lt; 0.5%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経済合理的な起動パターンのため B&amp;B 探索木が浅い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HiGHS プリソルブ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起動バイナリの </a:t>
                      </a:r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40% 以上</a:t>
                      </a:r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が事前に確定・縮約される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制約行列がブロック対角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10 地域の結合は 9 リンク × 24 時間 = </a:t>
                      </a:r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216 変数のみ</a:t>
                      </a:r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（充填率 &lt; 0.1%）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24 スレッド並列 B&amp;B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分枝を並列に展開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621657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621657"/>
            <a:ext cx="50800" cy="82296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723257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一般に商用ソルバでも 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100 機以下が実用限界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とされる規模。解けたのは構造が素直だったからで、アルゴリズムの勝利ではない。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出典: 論文 3.2 節「646機MILP求解の技術的背景」。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15／22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言えること / まだ言えないこと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EFF4F1"/>
          </a:solidFill>
          <a:ln w="9525">
            <a:solidFill>
              <a:srgbClr val="9FB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19072"/>
            <a:ext cx="5391759" cy="566928"/>
          </a:xfrm>
          <a:prstGeom prst="rect">
            <a:avLst/>
          </a:prstGeom>
          <a:solidFill>
            <a:srgbClr val="3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✓  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0128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線の形（OSM ジオメトリ）を一次根拠にすれば、線を捨てずに繋げる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閾値は m 単位で、段ごとに物理的な根拠を付けられる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束ね方の違いは順位相関で測れる（幹線 .615 → .647）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補完・推論の来歴を1件ずつ残せる（</a:t>
            </a:r>
            <a:r>
              <a:rPr sz="15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_enriched_by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/ </a:t>
            </a:r>
            <a:r>
              <a:rPr sz="1500">
                <a:solidFill>
                  <a:srgbClr val="0D558E"/>
                </a:solidFill>
                <a:latin typeface="SF Mono"/>
                <a:ea typeface="Hiragino Sans"/>
                <a:cs typeface="Hiragino Sans"/>
              </a:rPr>
              <a:t>kv=prop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F8F0EF"/>
          </a:solidFill>
          <a:ln w="9525">
            <a:solidFill>
              <a:srgbClr val="D3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3007" y="1719072"/>
            <a:ext cx="5391759" cy="566928"/>
          </a:xfrm>
          <a:prstGeom prst="rect">
            <a:avLst/>
          </a:prstGeom>
          <a:solidFill>
            <a:srgbClr val="A8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✗ 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6207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インピーダンス・変圧器定数は合成推定値（OSM にはゼロ）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遮断器情報が無く、機器レベルの事故解析はできない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架空/地中の区分は約 30% しか分からず未補完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端点マッチの誤接続は 2〜3% 残る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運用計画には使えない（研究・教育用のベースライン）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16／22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持ち帰っていただきたいこと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「地図を系統にする」作業の実体は、閾値を1つずつ物理的に正当化していく作業だった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•  点の半数は同一座標、最近傍の中央値は 80 m — 判断は m 単位で要る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•  重心＋半径をやめ、OSM のポリゴンを根拠にしたら誤結合が 3,365 → 0 になった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•  閾値の根拠は「敷地フェンス」「同じ鉄塔」のような物理で説明できる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17／22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質疑をお願いします</a:t>
            </a:r>
          </a:p>
          <a:p>
            <a:pPr algn="ctr">
              <a:spcBef>
                <a:spcPts val="400"/>
              </a:spcBef>
              <a:defRPr sz="18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github.com/lutelute/All-Japan-Grid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衛星画像に重ねて位置を確かめる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353312"/>
            <a:ext cx="3503066" cy="47548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t_kash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43" y="2226313"/>
            <a:ext cx="3012636" cy="26979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797296"/>
            <a:ext cx="332018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鹿島火力（茨城）— 本体から 500 kV 線が伸びる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1353312"/>
            <a:ext cx="3503066" cy="47548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t_anan_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529" y="2226313"/>
            <a:ext cx="3012636" cy="26979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5754" y="5797296"/>
            <a:ext cx="332018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阿南周波数変換所（徳島）— 東西連系の引込み線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1700" y="1353312"/>
            <a:ext cx="3503066" cy="47548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at_rein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915" y="2226313"/>
            <a:ext cx="3012636" cy="26979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13140" y="5797296"/>
            <a:ext cx="332018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嶺南変電所（福井）— 若狭湾の 500 kV 集約点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19／22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68039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7段階の属性補完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4255" y="457200"/>
            <a:ext cx="1828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APPENDIX 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232152"/>
          <a:ext cx="8625114" cy="2997200"/>
        </p:xfrm>
        <a:graphic>
          <a:graphicData uri="http://schemas.openxmlformats.org/drawingml/2006/table">
            <a:tbl>
              <a:tblPr/>
              <a:tblGrid>
                <a:gridCol w="640080"/>
                <a:gridCol w="5240673"/>
                <a:gridCol w="2744361"/>
              </a:tblGrid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段階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手法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主対象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ベースライン監査・欠損分類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全体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Nominatim 逆ジオコーディング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変電所名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国交省 P03 施設データ空間照合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発電所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Overpass タグ一括取得（500件/回）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属性全般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Nominatim ジオコーディング（後退）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発電所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最近傍変電所マッチング（50 km 閾値）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送電線名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7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燃料種別正規化（44 エントリ対応表）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発電所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20／22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68039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電圧クラス別の線路パラメータ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4255" y="457200"/>
            <a:ext cx="1828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APPENDIX 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606802"/>
          <a:ext cx="8625114" cy="2247900"/>
        </p:xfrm>
        <a:graphic>
          <a:graphicData uri="http://schemas.openxmlformats.org/drawingml/2006/table">
            <a:tbl>
              <a:tblPr/>
              <a:tblGrid>
                <a:gridCol w="1488548"/>
                <a:gridCol w="1735512"/>
                <a:gridCol w="1722355"/>
                <a:gridCol w="1818012"/>
                <a:gridCol w="1860687"/>
              </a:tblGrid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V (kV)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R (Ω/km)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X (Ω/km)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B (µS/km)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I_max (kA)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0.012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0.290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4.10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275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0.028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0.325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3.85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154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0.050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0.380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3.50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110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0.055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0.385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3.45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0.9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66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0.120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0.400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3.20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0.6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21／22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全地域 AC 潮流結果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Appendix D｜パイプライン整備前は 0/10、現在は全地域で収束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1901952"/>
          <a:ext cx="8625114" cy="4343400"/>
        </p:xfrm>
        <a:graphic>
          <a:graphicData uri="http://schemas.openxmlformats.org/drawingml/2006/table">
            <a:tbl>
              <a:tblPr/>
              <a:tblGrid>
                <a:gridCol w="2762611"/>
                <a:gridCol w="787400"/>
                <a:gridCol w="965200"/>
                <a:gridCol w="1070635"/>
                <a:gridCol w="3039268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地域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バス数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発電機数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損失 (MW)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V範囲 (pu)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北海道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471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43.7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0.06–1.00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901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1,063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145.5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0.93–1.00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1,726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6,484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994.1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0.90–1.00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中部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1,163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3,294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120.7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0.88–1.01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北陸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267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379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12.5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0.98–1.01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関西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902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1,163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133.1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0.65–1.00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531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821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38.0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0.91–1.01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四国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496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40.3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0.88–1.00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九州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684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1,908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59.1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0.89–1.00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沖縄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59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22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12.3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0.94–1.00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出典: 論文 表4。合計 6,962 バス・15,980 発電機・損失 1,601 MW。北海道 0.06・関西 0.65 の電圧下限は低圧ポケットの残存を示す。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22／22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