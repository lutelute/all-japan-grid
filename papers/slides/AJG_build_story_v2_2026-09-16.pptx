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本発表は成果の紹介ではなく、構築プロセスの技術報告。数字の出典は各スライド脚注に「論文」「実装記録」「本発表の実測」を明示する。著者名の〈名〉は要確認。</a:t>
            </a:r>
          </a:p>
          <a:p/>
          <a:p>
            <a:r>
              <a:t>_class: title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論文では「Haversine距離で最近傍変電所に対応付ける（閾値50km）」の1行。実際にはその下に閾値が8段ある。今日はそこを話す。</a:t>
            </a:r>
          </a:p>
          <a:p/>
          <a:p>
            <a:r>
              <a:t>_class: rq</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table-slide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statement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が今日いちばん言いたいこと。「8割捨てている」は本数の話で、長さでは16%。だから地図を見ても気づけない。気づけるのは連結性を数えたとき。自前再実装1,832本／本番コード1,829本／論文記録6,476本の三つが78%で一致している。</a:t>
            </a:r>
          </a:p>
          <a:p/>
          <a:p>
            <a:r>
              <a:t>_class: figure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この図は本発表のために built モデルから直接計算した（scipy cKDTree・平面近似）。閾値の線は実装の既定値。</a:t>
            </a:r>
          </a:p>
          <a:p/>
          <a:p>
            <a:r>
              <a:t>_class: figure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flow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table-slide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before-after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cols-2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multi-result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table-slide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pros-cons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takeaway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end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gallery-img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appendix</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appendix</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table-slide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Subtitle 2"/>
          <p:cNvSpPr>
            <a:spLocks noGrp="1"/>
          </p:cNvSpPr>
          <p:nvPr>
            <p:ph type="subTitle" idx="1"/>
          </p:nvPr>
        </p:nvSpPr>
        <p:spPr>
          <a:xfrm>
            <a:off x="1371600" y="3886200"/>
            <a:ext cx="6400800" cy="1752600"/>
          </a:xfrm>
        </p:spPr>
        <p:txBody>
          <a:bodyPr/>
          <a:lstStyle>
            <a:lvl1pPr marL="0" indent="0" algn="ctr">
              <a:buNone/>
              <a:defRPr>
                <a:ea typeface="Hiragino Sans"/>
                <a:cs typeface="Hiragino Sans"/>
                <a:solidFill>
                  <a:schemeClr val="tx1">
                    <a:tint val="75000"/>
                  </a:schemeClr>
                </a:solidFill>
              </a:defRPr>
            </a:lvl1pPr>
            <a:lvl2pPr marL="457200" indent="0" algn="ctr">
              <a:buNone/>
              <a:defRPr>
                <a:ea typeface="Hiragino Sans"/>
                <a:cs typeface="Hiragino Sans"/>
                <a:solidFill>
                  <a:schemeClr val="tx1">
                    <a:tint val="75000"/>
                  </a:schemeClr>
                </a:solidFill>
              </a:defRPr>
            </a:lvl2pPr>
            <a:lvl3pPr marL="914400" indent="0" algn="ctr">
              <a:buNone/>
              <a:defRPr>
                <a:ea typeface="Hiragino Sans"/>
                <a:cs typeface="Hiragino Sans"/>
                <a:solidFill>
                  <a:schemeClr val="tx1">
                    <a:tint val="75000"/>
                  </a:schemeClr>
                </a:solidFill>
              </a:defRPr>
            </a:lvl3pPr>
            <a:lvl4pPr marL="1371600" indent="0" algn="ctr">
              <a:buNone/>
              <a:defRPr>
                <a:ea typeface="Hiragino Sans"/>
                <a:cs typeface="Hiragino Sans"/>
                <a:solidFill>
                  <a:schemeClr val="tx1">
                    <a:tint val="75000"/>
                  </a:schemeClr>
                </a:solidFill>
              </a:defRPr>
            </a:lvl4pPr>
            <a:lvl5pPr marL="1828800" indent="0" algn="ctr">
              <a:buNone/>
              <a:defRPr>
                <a:ea typeface="Hiragino Sans"/>
                <a:cs typeface="Hiragino Sans"/>
                <a:solidFill>
                  <a:schemeClr val="tx1">
                    <a:tint val="75000"/>
                  </a:schemeClr>
                </a:solidFill>
              </a:defRPr>
            </a:lvl5pPr>
            <a:lvl6pPr marL="2286000" indent="0" algn="ctr">
              <a:buNone/>
              <a:defRPr>
                <a:ea typeface="Hiragino Sans"/>
                <a:cs typeface="Hiragino Sans"/>
                <a:solidFill>
                  <a:schemeClr val="tx1">
                    <a:tint val="75000"/>
                  </a:schemeClr>
                </a:solidFill>
              </a:defRPr>
            </a:lvl6pPr>
            <a:lvl7pPr marL="2743200" indent="0" algn="ctr">
              <a:buNone/>
              <a:defRPr>
                <a:ea typeface="Hiragino Sans"/>
                <a:cs typeface="Hiragino Sans"/>
                <a:solidFill>
                  <a:schemeClr val="tx1">
                    <a:tint val="75000"/>
                  </a:schemeClr>
                </a:solidFill>
              </a:defRPr>
            </a:lvl7pPr>
            <a:lvl8pPr marL="3200400" indent="0" algn="ctr">
              <a:buNone/>
              <a:defRPr>
                <a:ea typeface="Hiragino Sans"/>
                <a:cs typeface="Hiragino Sans"/>
                <a:solidFill>
                  <a:schemeClr val="tx1">
                    <a:tint val="75000"/>
                  </a:schemeClr>
                </a:solidFill>
              </a:defRPr>
            </a:lvl8pPr>
            <a:lvl9pPr marL="3657600" indent="0" algn="ctr">
              <a:buNone/>
              <a:defRPr>
                <a:ea typeface="Hiragino Sans"/>
                <a:cs typeface="Hiragino Sans"/>
                <a:solidFill>
                  <a:schemeClr val="tx1">
                    <a:tint val="75000"/>
                  </a:schemeClr>
                </a:solidFill>
              </a:defRPr>
            </a:lvl9pPr>
          </a:lstStyle>
          <a:p>
            <a:r>
              <a:rPr lang="en-US" smtClean="0">
                <a:ea typeface="Hiragino Sans"/>
                <a:cs typeface="Hiragino Sans"/>
              </a:rPr>
              <a:t>Click to edit Master subtitle style</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Content Placeholder 2"/>
          <p:cNvSpPr>
            <a:spLocks noGrp="1"/>
          </p:cNvSpPr>
          <p:nvPr>
            <p:ph idx="1"/>
          </p:nvPr>
        </p:nvSpPr>
        <p:spPr/>
        <p:txBody>
          <a:body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ea typeface="Hiragino Sans"/>
                <a:cs typeface="Hiragino Sans"/>
                <a:solidFill>
                  <a:schemeClr val="tx1">
                    <a:tint val="75000"/>
                  </a:schemeClr>
                </a:solidFill>
              </a:defRPr>
            </a:lvl1pPr>
            <a:lvl2pPr marL="457200" indent="0">
              <a:buNone/>
              <a:defRPr sz="1800">
                <a:ea typeface="Hiragino Sans"/>
                <a:cs typeface="Hiragino Sans"/>
                <a:solidFill>
                  <a:schemeClr val="tx1">
                    <a:tint val="75000"/>
                  </a:schemeClr>
                </a:solidFill>
              </a:defRPr>
            </a:lvl2pPr>
            <a:lvl3pPr marL="914400" indent="0">
              <a:buNone/>
              <a:defRPr sz="1600">
                <a:ea typeface="Hiragino Sans"/>
                <a:cs typeface="Hiragino Sans"/>
                <a:solidFill>
                  <a:schemeClr val="tx1">
                    <a:tint val="75000"/>
                  </a:schemeClr>
                </a:solidFill>
              </a:defRPr>
            </a:lvl3pPr>
            <a:lvl4pPr marL="1371600" indent="0">
              <a:buNone/>
              <a:defRPr sz="1400">
                <a:ea typeface="Hiragino Sans"/>
                <a:cs typeface="Hiragino Sans"/>
                <a:solidFill>
                  <a:schemeClr val="tx1">
                    <a:tint val="75000"/>
                  </a:schemeClr>
                </a:solidFill>
              </a:defRPr>
            </a:lvl4pPr>
            <a:lvl5pPr marL="1828800" indent="0">
              <a:buNone/>
              <a:defRPr sz="1400">
                <a:ea typeface="Hiragino Sans"/>
                <a:cs typeface="Hiragino Sans"/>
                <a:solidFill>
                  <a:schemeClr val="tx1">
                    <a:tint val="75000"/>
                  </a:schemeClr>
                </a:solidFill>
              </a:defRPr>
            </a:lvl5pPr>
            <a:lvl6pPr marL="2286000" indent="0">
              <a:buNone/>
              <a:defRPr sz="1400">
                <a:ea typeface="Hiragino Sans"/>
                <a:cs typeface="Hiragino Sans"/>
                <a:solidFill>
                  <a:schemeClr val="tx1">
                    <a:tint val="75000"/>
                  </a:schemeClr>
                </a:solidFill>
              </a:defRPr>
            </a:lvl6pPr>
            <a:lvl7pPr marL="2743200" indent="0">
              <a:buNone/>
              <a:defRPr sz="1400">
                <a:ea typeface="Hiragino Sans"/>
                <a:cs typeface="Hiragino Sans"/>
                <a:solidFill>
                  <a:schemeClr val="tx1">
                    <a:tint val="75000"/>
                  </a:schemeClr>
                </a:solidFill>
              </a:defRPr>
            </a:lvl7pPr>
            <a:lvl8pPr marL="3200400" indent="0">
              <a:buNone/>
              <a:defRPr sz="1400">
                <a:ea typeface="Hiragino Sans"/>
                <a:cs typeface="Hiragino Sans"/>
                <a:solidFill>
                  <a:schemeClr val="tx1">
                    <a:tint val="75000"/>
                  </a:schemeClr>
                </a:solidFill>
              </a:defRPr>
            </a:lvl8pPr>
            <a:lvl9pPr marL="3657600" indent="0">
              <a:buNone/>
              <a:defRPr sz="1400">
                <a:ea typeface="Hiragino Sans"/>
                <a:cs typeface="Hiragino Sans"/>
                <a:solidFill>
                  <a:schemeClr val="tx1">
                    <a:tint val="75000"/>
                  </a:schemeClr>
                </a:solidFill>
              </a:defRPr>
            </a:lvl9pPr>
          </a:lstStyle>
          <a:p>
            <a:pPr lvl="0"/>
            <a:r>
              <a:rPr lang="en-US" smtClean="0">
                <a:ea typeface="Hiragino Sans"/>
                <a:cs typeface="Hiragino Sans"/>
              </a:rPr>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Content Placeholder 2"/>
          <p:cNvSpPr>
            <a:spLocks noGrp="1"/>
          </p:cNvSpPr>
          <p:nvPr>
            <p:ph sz="half" idx="1"/>
          </p:nvPr>
        </p:nvSpPr>
        <p:spPr>
          <a:xfrm>
            <a:off x="457200" y="1600200"/>
            <a:ext cx="4038600" cy="4525963"/>
          </a:xfrm>
        </p:spPr>
        <p:txBody>
          <a:bodyPr/>
          <a:lstStyle>
            <a:lvl1pPr>
              <a:defRPr sz="2800">
                <a:ea typeface="Hiragino Sans"/>
                <a:cs typeface="Hiragino Sans"/>
              </a:defRPr>
            </a:lvl1pPr>
            <a:lvl2pPr>
              <a:defRPr sz="2400">
                <a:ea typeface="Hiragino Sans"/>
                <a:cs typeface="Hiragino Sans"/>
              </a:defRPr>
            </a:lvl2pPr>
            <a:lvl3pPr>
              <a:defRPr sz="2000">
                <a:ea typeface="Hiragino Sans"/>
                <a:cs typeface="Hiragino Sans"/>
              </a:defRPr>
            </a:lvl3pPr>
            <a:lvl4pPr>
              <a:defRPr sz="1800">
                <a:ea typeface="Hiragino Sans"/>
                <a:cs typeface="Hiragino Sans"/>
              </a:defRPr>
            </a:lvl4pPr>
            <a:lvl5pPr>
              <a:defRPr sz="1800">
                <a:ea typeface="Hiragino Sans"/>
                <a:cs typeface="Hiragino Sans"/>
              </a:defRPr>
            </a:lvl5pPr>
            <a:lvl6pPr>
              <a:defRPr sz="1800">
                <a:ea typeface="Hiragino Sans"/>
                <a:cs typeface="Hiragino Sans"/>
              </a:defRPr>
            </a:lvl6pPr>
            <a:lvl7pPr>
              <a:defRPr sz="1800">
                <a:ea typeface="Hiragino Sans"/>
                <a:cs typeface="Hiragino Sans"/>
              </a:defRPr>
            </a:lvl7pPr>
            <a:lvl8pPr>
              <a:defRPr sz="1800">
                <a:ea typeface="Hiragino Sans"/>
                <a:cs typeface="Hiragino Sans"/>
              </a:defRPr>
            </a:lvl8pPr>
            <a:lvl9pPr>
              <a:defRPr sz="18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Content Placeholder 3"/>
          <p:cNvSpPr>
            <a:spLocks noGrp="1"/>
          </p:cNvSpPr>
          <p:nvPr>
            <p:ph sz="half" idx="2"/>
          </p:nvPr>
        </p:nvSpPr>
        <p:spPr>
          <a:xfrm>
            <a:off x="4648200" y="1600200"/>
            <a:ext cx="4038600" cy="4525963"/>
          </a:xfrm>
        </p:spPr>
        <p:txBody>
          <a:bodyPr/>
          <a:lstStyle>
            <a:lvl1pPr>
              <a:defRPr sz="2800">
                <a:ea typeface="Hiragino Sans"/>
                <a:cs typeface="Hiragino Sans"/>
              </a:defRPr>
            </a:lvl1pPr>
            <a:lvl2pPr>
              <a:defRPr sz="2400">
                <a:ea typeface="Hiragino Sans"/>
                <a:cs typeface="Hiragino Sans"/>
              </a:defRPr>
            </a:lvl2pPr>
            <a:lvl3pPr>
              <a:defRPr sz="2000">
                <a:ea typeface="Hiragino Sans"/>
                <a:cs typeface="Hiragino Sans"/>
              </a:defRPr>
            </a:lvl3pPr>
            <a:lvl4pPr>
              <a:defRPr sz="1800">
                <a:ea typeface="Hiragino Sans"/>
                <a:cs typeface="Hiragino Sans"/>
              </a:defRPr>
            </a:lvl4pPr>
            <a:lvl5pPr>
              <a:defRPr sz="1800">
                <a:ea typeface="Hiragino Sans"/>
                <a:cs typeface="Hiragino Sans"/>
              </a:defRPr>
            </a:lvl5pPr>
            <a:lvl6pPr>
              <a:defRPr sz="1800">
                <a:ea typeface="Hiragino Sans"/>
                <a:cs typeface="Hiragino Sans"/>
              </a:defRPr>
            </a:lvl6pPr>
            <a:lvl7pPr>
              <a:defRPr sz="1800">
                <a:ea typeface="Hiragino Sans"/>
                <a:cs typeface="Hiragino Sans"/>
              </a:defRPr>
            </a:lvl7pPr>
            <a:lvl8pPr>
              <a:defRPr sz="1800">
                <a:ea typeface="Hiragino Sans"/>
                <a:cs typeface="Hiragino Sans"/>
              </a:defRPr>
            </a:lvl8pPr>
            <a:lvl9pPr>
              <a:defRPr sz="18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5" name="Date Placeholder 4"/>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6" name="Footer Placeholder 5"/>
          <p:cNvSpPr>
            <a:spLocks noGrp="1"/>
          </p:cNvSpPr>
          <p:nvPr>
            <p:ph type="ftr" sz="quarter" idx="11"/>
          </p:nvPr>
        </p:nvSpPr>
        <p:spPr/>
        <p:txBody>
          <a:bodyPr/>
          <a:lstStyle/>
          <a:p>
            <a:endParaRPr lang="en-US">
              <a:ea typeface="Hiragino Sans"/>
              <a:cs typeface="Hiragino Sans"/>
            </a:endParaRPr>
          </a:p>
        </p:txBody>
      </p:sp>
      <p:sp>
        <p:nvSpPr>
          <p:cNvPr id="7" name="Slide Number Placeholder 6"/>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ea typeface="Hiragino Sans"/>
                <a:cs typeface="Hiragino Sans"/>
              </a:defRPr>
            </a:lvl1pPr>
            <a:lvl2pPr marL="457200" indent="0">
              <a:buNone/>
              <a:defRPr sz="2000" b="1">
                <a:ea typeface="Hiragino Sans"/>
                <a:cs typeface="Hiragino Sans"/>
              </a:defRPr>
            </a:lvl2pPr>
            <a:lvl3pPr marL="914400" indent="0">
              <a:buNone/>
              <a:defRPr sz="1800" b="1">
                <a:ea typeface="Hiragino Sans"/>
                <a:cs typeface="Hiragino Sans"/>
              </a:defRPr>
            </a:lvl3pPr>
            <a:lvl4pPr marL="1371600" indent="0">
              <a:buNone/>
              <a:defRPr sz="1600" b="1">
                <a:ea typeface="Hiragino Sans"/>
                <a:cs typeface="Hiragino Sans"/>
              </a:defRPr>
            </a:lvl4pPr>
            <a:lvl5pPr marL="1828800" indent="0">
              <a:buNone/>
              <a:defRPr sz="1600" b="1">
                <a:ea typeface="Hiragino Sans"/>
                <a:cs typeface="Hiragino Sans"/>
              </a:defRPr>
            </a:lvl5pPr>
            <a:lvl6pPr marL="2286000" indent="0">
              <a:buNone/>
              <a:defRPr sz="1600" b="1">
                <a:ea typeface="Hiragino Sans"/>
                <a:cs typeface="Hiragino Sans"/>
              </a:defRPr>
            </a:lvl6pPr>
            <a:lvl7pPr marL="2743200" indent="0">
              <a:buNone/>
              <a:defRPr sz="1600" b="1">
                <a:ea typeface="Hiragino Sans"/>
                <a:cs typeface="Hiragino Sans"/>
              </a:defRPr>
            </a:lvl7pPr>
            <a:lvl8pPr marL="3200400" indent="0">
              <a:buNone/>
              <a:defRPr sz="1600" b="1">
                <a:ea typeface="Hiragino Sans"/>
                <a:cs typeface="Hiragino Sans"/>
              </a:defRPr>
            </a:lvl8pPr>
            <a:lvl9pPr marL="3657600" indent="0">
              <a:buNone/>
              <a:defRPr sz="1600" b="1">
                <a:ea typeface="Hiragino Sans"/>
                <a:cs typeface="Hiragino Sans"/>
              </a:defRPr>
            </a:lvl9pPr>
          </a:lstStyle>
          <a:p>
            <a:pPr lvl="0"/>
            <a:r>
              <a:rPr lang="en-US" smtClean="0">
                <a:ea typeface="Hiragino Sans"/>
                <a:cs typeface="Hiragino Sans"/>
              </a:rPr>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ea typeface="Hiragino Sans"/>
                <a:cs typeface="Hiragino Sans"/>
              </a:defRPr>
            </a:lvl1pPr>
            <a:lvl2pPr>
              <a:defRPr sz="2000">
                <a:ea typeface="Hiragino Sans"/>
                <a:cs typeface="Hiragino Sans"/>
              </a:defRPr>
            </a:lvl2pPr>
            <a:lvl3pPr>
              <a:defRPr sz="1800">
                <a:ea typeface="Hiragino Sans"/>
                <a:cs typeface="Hiragino Sans"/>
              </a:defRPr>
            </a:lvl3pPr>
            <a:lvl4pPr>
              <a:defRPr sz="1600">
                <a:ea typeface="Hiragino Sans"/>
                <a:cs typeface="Hiragino Sans"/>
              </a:defRPr>
            </a:lvl4pPr>
            <a:lvl5pPr>
              <a:defRPr sz="1600">
                <a:ea typeface="Hiragino Sans"/>
                <a:cs typeface="Hiragino Sans"/>
              </a:defRPr>
            </a:lvl5pPr>
            <a:lvl6pPr>
              <a:defRPr sz="1600">
                <a:ea typeface="Hiragino Sans"/>
                <a:cs typeface="Hiragino Sans"/>
              </a:defRPr>
            </a:lvl6pPr>
            <a:lvl7pPr>
              <a:defRPr sz="1600">
                <a:ea typeface="Hiragino Sans"/>
                <a:cs typeface="Hiragino Sans"/>
              </a:defRPr>
            </a:lvl7pPr>
            <a:lvl8pPr>
              <a:defRPr sz="1600">
                <a:ea typeface="Hiragino Sans"/>
                <a:cs typeface="Hiragino Sans"/>
              </a:defRPr>
            </a:lvl8pPr>
            <a:lvl9pPr>
              <a:defRPr sz="16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ea typeface="Hiragino Sans"/>
                <a:cs typeface="Hiragino Sans"/>
              </a:defRPr>
            </a:lvl1pPr>
            <a:lvl2pPr marL="457200" indent="0">
              <a:buNone/>
              <a:defRPr sz="2000" b="1">
                <a:ea typeface="Hiragino Sans"/>
                <a:cs typeface="Hiragino Sans"/>
              </a:defRPr>
            </a:lvl2pPr>
            <a:lvl3pPr marL="914400" indent="0">
              <a:buNone/>
              <a:defRPr sz="1800" b="1">
                <a:ea typeface="Hiragino Sans"/>
                <a:cs typeface="Hiragino Sans"/>
              </a:defRPr>
            </a:lvl3pPr>
            <a:lvl4pPr marL="1371600" indent="0">
              <a:buNone/>
              <a:defRPr sz="1600" b="1">
                <a:ea typeface="Hiragino Sans"/>
                <a:cs typeface="Hiragino Sans"/>
              </a:defRPr>
            </a:lvl4pPr>
            <a:lvl5pPr marL="1828800" indent="0">
              <a:buNone/>
              <a:defRPr sz="1600" b="1">
                <a:ea typeface="Hiragino Sans"/>
                <a:cs typeface="Hiragino Sans"/>
              </a:defRPr>
            </a:lvl5pPr>
            <a:lvl6pPr marL="2286000" indent="0">
              <a:buNone/>
              <a:defRPr sz="1600" b="1">
                <a:ea typeface="Hiragino Sans"/>
                <a:cs typeface="Hiragino Sans"/>
              </a:defRPr>
            </a:lvl6pPr>
            <a:lvl7pPr marL="2743200" indent="0">
              <a:buNone/>
              <a:defRPr sz="1600" b="1">
                <a:ea typeface="Hiragino Sans"/>
                <a:cs typeface="Hiragino Sans"/>
              </a:defRPr>
            </a:lvl7pPr>
            <a:lvl8pPr marL="3200400" indent="0">
              <a:buNone/>
              <a:defRPr sz="1600" b="1">
                <a:ea typeface="Hiragino Sans"/>
                <a:cs typeface="Hiragino Sans"/>
              </a:defRPr>
            </a:lvl8pPr>
            <a:lvl9pPr marL="3657600" indent="0">
              <a:buNone/>
              <a:defRPr sz="1600" b="1">
                <a:ea typeface="Hiragino Sans"/>
                <a:cs typeface="Hiragino Sans"/>
              </a:defRPr>
            </a:lvl9pPr>
          </a:lstStyle>
          <a:p>
            <a:pPr lvl="0"/>
            <a:r>
              <a:rPr lang="en-US" smtClean="0">
                <a:ea typeface="Hiragino Sans"/>
                <a:cs typeface="Hiragino Sans"/>
              </a:rPr>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ea typeface="Hiragino Sans"/>
                <a:cs typeface="Hiragino Sans"/>
              </a:defRPr>
            </a:lvl1pPr>
            <a:lvl2pPr>
              <a:defRPr sz="2000">
                <a:ea typeface="Hiragino Sans"/>
                <a:cs typeface="Hiragino Sans"/>
              </a:defRPr>
            </a:lvl2pPr>
            <a:lvl3pPr>
              <a:defRPr sz="1800">
                <a:ea typeface="Hiragino Sans"/>
                <a:cs typeface="Hiragino Sans"/>
              </a:defRPr>
            </a:lvl3pPr>
            <a:lvl4pPr>
              <a:defRPr sz="1600">
                <a:ea typeface="Hiragino Sans"/>
                <a:cs typeface="Hiragino Sans"/>
              </a:defRPr>
            </a:lvl4pPr>
            <a:lvl5pPr>
              <a:defRPr sz="1600">
                <a:ea typeface="Hiragino Sans"/>
                <a:cs typeface="Hiragino Sans"/>
              </a:defRPr>
            </a:lvl5pPr>
            <a:lvl6pPr>
              <a:defRPr sz="1600">
                <a:ea typeface="Hiragino Sans"/>
                <a:cs typeface="Hiragino Sans"/>
              </a:defRPr>
            </a:lvl6pPr>
            <a:lvl7pPr>
              <a:defRPr sz="1600">
                <a:ea typeface="Hiragino Sans"/>
                <a:cs typeface="Hiragino Sans"/>
              </a:defRPr>
            </a:lvl7pPr>
            <a:lvl8pPr>
              <a:defRPr sz="1600">
                <a:ea typeface="Hiragino Sans"/>
                <a:cs typeface="Hiragino Sans"/>
              </a:defRPr>
            </a:lvl8pPr>
            <a:lvl9pPr>
              <a:defRPr sz="16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7" name="Date Placeholder 6"/>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8" name="Footer Placeholder 7"/>
          <p:cNvSpPr>
            <a:spLocks noGrp="1"/>
          </p:cNvSpPr>
          <p:nvPr>
            <p:ph type="ftr" sz="quarter" idx="11"/>
          </p:nvPr>
        </p:nvSpPr>
        <p:spPr/>
        <p:txBody>
          <a:bodyPr/>
          <a:lstStyle/>
          <a:p>
            <a:endParaRPr lang="en-US">
              <a:ea typeface="Hiragino Sans"/>
              <a:cs typeface="Hiragino Sans"/>
            </a:endParaRPr>
          </a:p>
        </p:txBody>
      </p:sp>
      <p:sp>
        <p:nvSpPr>
          <p:cNvPr id="9" name="Slide Number Placeholder 8"/>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Date Placeholder 2"/>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4" name="Footer Placeholder 3"/>
          <p:cNvSpPr>
            <a:spLocks noGrp="1"/>
          </p:cNvSpPr>
          <p:nvPr>
            <p:ph type="ftr" sz="quarter" idx="11"/>
          </p:nvPr>
        </p:nvSpPr>
        <p:spPr/>
        <p:txBody>
          <a:bodyPr/>
          <a:lstStyle/>
          <a:p>
            <a:endParaRPr lang="en-US">
              <a:ea typeface="Hiragino Sans"/>
              <a:cs typeface="Hiragino Sans"/>
            </a:endParaRPr>
          </a:p>
        </p:txBody>
      </p:sp>
      <p:sp>
        <p:nvSpPr>
          <p:cNvPr id="5" name="Slide Number Placeholder 4"/>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3" name="Footer Placeholder 2"/>
          <p:cNvSpPr>
            <a:spLocks noGrp="1"/>
          </p:cNvSpPr>
          <p:nvPr>
            <p:ph type="ftr" sz="quarter" idx="11"/>
          </p:nvPr>
        </p:nvSpPr>
        <p:spPr/>
        <p:txBody>
          <a:bodyPr/>
          <a:lstStyle/>
          <a:p>
            <a:endParaRPr lang="en-US">
              <a:ea typeface="Hiragino Sans"/>
              <a:cs typeface="Hiragino Sans"/>
            </a:endParaRPr>
          </a:p>
        </p:txBody>
      </p:sp>
      <p:sp>
        <p:nvSpPr>
          <p:cNvPr id="4" name="Slide Number Placeholder 3"/>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Content Placeholder 2"/>
          <p:cNvSpPr>
            <a:spLocks noGrp="1"/>
          </p:cNvSpPr>
          <p:nvPr>
            <p:ph idx="1"/>
          </p:nvPr>
        </p:nvSpPr>
        <p:spPr>
          <a:xfrm>
            <a:off x="3575050" y="273050"/>
            <a:ext cx="5111750" cy="5853113"/>
          </a:xfrm>
        </p:spPr>
        <p:txBody>
          <a:bodyPr/>
          <a:lstStyle>
            <a:lvl1pPr>
              <a:defRPr sz="3200">
                <a:ea typeface="Hiragino Sans"/>
                <a:cs typeface="Hiragino Sans"/>
              </a:defRPr>
            </a:lvl1pPr>
            <a:lvl2pPr>
              <a:defRPr sz="2800">
                <a:ea typeface="Hiragino Sans"/>
                <a:cs typeface="Hiragino Sans"/>
              </a:defRPr>
            </a:lvl2pPr>
            <a:lvl3pPr>
              <a:defRPr sz="2400">
                <a:ea typeface="Hiragino Sans"/>
                <a:cs typeface="Hiragino Sans"/>
              </a:defRPr>
            </a:lvl3pPr>
            <a:lvl4pPr>
              <a:defRPr sz="2000">
                <a:ea typeface="Hiragino Sans"/>
                <a:cs typeface="Hiragino Sans"/>
              </a:defRPr>
            </a:lvl4pPr>
            <a:lvl5pPr>
              <a:defRPr sz="2000">
                <a:ea typeface="Hiragino Sans"/>
                <a:cs typeface="Hiragino Sans"/>
              </a:defRPr>
            </a:lvl5pPr>
            <a:lvl6pPr>
              <a:defRPr sz="2000">
                <a:ea typeface="Hiragino Sans"/>
                <a:cs typeface="Hiragino Sans"/>
              </a:defRPr>
            </a:lvl6pPr>
            <a:lvl7pPr>
              <a:defRPr sz="2000">
                <a:ea typeface="Hiragino Sans"/>
                <a:cs typeface="Hiragino Sans"/>
              </a:defRPr>
            </a:lvl7pPr>
            <a:lvl8pPr>
              <a:defRPr sz="2000">
                <a:ea typeface="Hiragino Sans"/>
                <a:cs typeface="Hiragino Sans"/>
              </a:defRPr>
            </a:lvl8pPr>
            <a:lvl9pPr>
              <a:defRPr sz="20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ea typeface="Hiragino Sans"/>
                <a:cs typeface="Hiragino Sans"/>
              </a:defRPr>
            </a:lvl1pPr>
            <a:lvl2pPr marL="457200" indent="0">
              <a:buNone/>
              <a:defRPr sz="1200">
                <a:ea typeface="Hiragino Sans"/>
                <a:cs typeface="Hiragino Sans"/>
              </a:defRPr>
            </a:lvl2pPr>
            <a:lvl3pPr marL="914400" indent="0">
              <a:buNone/>
              <a:defRPr sz="1000">
                <a:ea typeface="Hiragino Sans"/>
                <a:cs typeface="Hiragino Sans"/>
              </a:defRPr>
            </a:lvl3pPr>
            <a:lvl4pPr marL="1371600" indent="0">
              <a:buNone/>
              <a:defRPr sz="900">
                <a:ea typeface="Hiragino Sans"/>
                <a:cs typeface="Hiragino Sans"/>
              </a:defRPr>
            </a:lvl4pPr>
            <a:lvl5pPr marL="1828800" indent="0">
              <a:buNone/>
              <a:defRPr sz="900">
                <a:ea typeface="Hiragino Sans"/>
                <a:cs typeface="Hiragino Sans"/>
              </a:defRPr>
            </a:lvl5pPr>
            <a:lvl6pPr marL="2286000" indent="0">
              <a:buNone/>
              <a:defRPr sz="900">
                <a:ea typeface="Hiragino Sans"/>
                <a:cs typeface="Hiragino Sans"/>
              </a:defRPr>
            </a:lvl6pPr>
            <a:lvl7pPr marL="2743200" indent="0">
              <a:buNone/>
              <a:defRPr sz="900">
                <a:ea typeface="Hiragino Sans"/>
                <a:cs typeface="Hiragino Sans"/>
              </a:defRPr>
            </a:lvl7pPr>
            <a:lvl8pPr marL="3200400" indent="0">
              <a:buNone/>
              <a:defRPr sz="900">
                <a:ea typeface="Hiragino Sans"/>
                <a:cs typeface="Hiragino Sans"/>
              </a:defRPr>
            </a:lvl8pPr>
            <a:lvl9pPr marL="3657600" indent="0">
              <a:buNone/>
              <a:defRPr sz="900">
                <a:ea typeface="Hiragino Sans"/>
                <a:cs typeface="Hiragino Sans"/>
              </a:defRPr>
            </a:lvl9pPr>
          </a:lstStyle>
          <a:p>
            <a:pPr lvl="0"/>
            <a:r>
              <a:rPr lang="en-US" smtClean="0">
                <a:ea typeface="Hiragino Sans"/>
                <a:cs typeface="Hiragino Sans"/>
              </a:rPr>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6" name="Footer Placeholder 5"/>
          <p:cNvSpPr>
            <a:spLocks noGrp="1"/>
          </p:cNvSpPr>
          <p:nvPr>
            <p:ph type="ftr" sz="quarter" idx="11"/>
          </p:nvPr>
        </p:nvSpPr>
        <p:spPr/>
        <p:txBody>
          <a:bodyPr/>
          <a:lstStyle/>
          <a:p>
            <a:endParaRPr lang="en-US">
              <a:ea typeface="Hiragino Sans"/>
              <a:cs typeface="Hiragino Sans"/>
            </a:endParaRPr>
          </a:p>
        </p:txBody>
      </p:sp>
      <p:sp>
        <p:nvSpPr>
          <p:cNvPr id="7" name="Slide Number Placeholder 6"/>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ea typeface="Hiragino Sans"/>
                <a:cs typeface="Hiragino Sans"/>
              </a:defRPr>
            </a:lvl1pPr>
            <a:lvl2pPr marL="457200" indent="0">
              <a:buNone/>
              <a:defRPr sz="2800">
                <a:ea typeface="Hiragino Sans"/>
                <a:cs typeface="Hiragino Sans"/>
              </a:defRPr>
            </a:lvl2pPr>
            <a:lvl3pPr marL="914400" indent="0">
              <a:buNone/>
              <a:defRPr sz="2400">
                <a:ea typeface="Hiragino Sans"/>
                <a:cs typeface="Hiragino Sans"/>
              </a:defRPr>
            </a:lvl3pPr>
            <a:lvl4pPr marL="1371600" indent="0">
              <a:buNone/>
              <a:defRPr sz="2000">
                <a:ea typeface="Hiragino Sans"/>
                <a:cs typeface="Hiragino Sans"/>
              </a:defRPr>
            </a:lvl4pPr>
            <a:lvl5pPr marL="1828800" indent="0">
              <a:buNone/>
              <a:defRPr sz="2000">
                <a:ea typeface="Hiragino Sans"/>
                <a:cs typeface="Hiragino Sans"/>
              </a:defRPr>
            </a:lvl5pPr>
            <a:lvl6pPr marL="2286000" indent="0">
              <a:buNone/>
              <a:defRPr sz="2000">
                <a:ea typeface="Hiragino Sans"/>
                <a:cs typeface="Hiragino Sans"/>
              </a:defRPr>
            </a:lvl6pPr>
            <a:lvl7pPr marL="2743200" indent="0">
              <a:buNone/>
              <a:defRPr sz="2000">
                <a:ea typeface="Hiragino Sans"/>
                <a:cs typeface="Hiragino Sans"/>
              </a:defRPr>
            </a:lvl7pPr>
            <a:lvl8pPr marL="3200400" indent="0">
              <a:buNone/>
              <a:defRPr sz="2000">
                <a:ea typeface="Hiragino Sans"/>
                <a:cs typeface="Hiragino Sans"/>
              </a:defRPr>
            </a:lvl8pPr>
            <a:lvl9pPr marL="3657600" indent="0">
              <a:buNone/>
              <a:defRPr sz="2000">
                <a:ea typeface="Hiragino Sans"/>
                <a:cs typeface="Hiragino Sans"/>
              </a:defRPr>
            </a:lvl9pPr>
          </a:lstStyle>
          <a:p>
            <a:endParaRPr lang="en-US">
              <a:ea typeface="Hiragino Sans"/>
              <a:cs typeface="Hiragino San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ea typeface="Hiragino Sans"/>
                <a:cs typeface="Hiragino Sans"/>
              </a:defRPr>
            </a:lvl1pPr>
            <a:lvl2pPr marL="457200" indent="0">
              <a:buNone/>
              <a:defRPr sz="1200">
                <a:ea typeface="Hiragino Sans"/>
                <a:cs typeface="Hiragino Sans"/>
              </a:defRPr>
            </a:lvl2pPr>
            <a:lvl3pPr marL="914400" indent="0">
              <a:buNone/>
              <a:defRPr sz="1000">
                <a:ea typeface="Hiragino Sans"/>
                <a:cs typeface="Hiragino Sans"/>
              </a:defRPr>
            </a:lvl3pPr>
            <a:lvl4pPr marL="1371600" indent="0">
              <a:buNone/>
              <a:defRPr sz="900">
                <a:ea typeface="Hiragino Sans"/>
                <a:cs typeface="Hiragino Sans"/>
              </a:defRPr>
            </a:lvl4pPr>
            <a:lvl5pPr marL="1828800" indent="0">
              <a:buNone/>
              <a:defRPr sz="900">
                <a:ea typeface="Hiragino Sans"/>
                <a:cs typeface="Hiragino Sans"/>
              </a:defRPr>
            </a:lvl5pPr>
            <a:lvl6pPr marL="2286000" indent="0">
              <a:buNone/>
              <a:defRPr sz="900">
                <a:ea typeface="Hiragino Sans"/>
                <a:cs typeface="Hiragino Sans"/>
              </a:defRPr>
            </a:lvl6pPr>
            <a:lvl7pPr marL="2743200" indent="0">
              <a:buNone/>
              <a:defRPr sz="900">
                <a:ea typeface="Hiragino Sans"/>
                <a:cs typeface="Hiragino Sans"/>
              </a:defRPr>
            </a:lvl7pPr>
            <a:lvl8pPr marL="3200400" indent="0">
              <a:buNone/>
              <a:defRPr sz="900">
                <a:ea typeface="Hiragino Sans"/>
                <a:cs typeface="Hiragino Sans"/>
              </a:defRPr>
            </a:lvl8pPr>
            <a:lvl9pPr marL="3657600" indent="0">
              <a:buNone/>
              <a:defRPr sz="900">
                <a:ea typeface="Hiragino Sans"/>
                <a:cs typeface="Hiragino Sans"/>
              </a:defRPr>
            </a:lvl9pPr>
          </a:lstStyle>
          <a:p>
            <a:pPr lvl="0"/>
            <a:r>
              <a:rPr lang="en-US" smtClean="0">
                <a:ea typeface="Hiragino Sans"/>
                <a:cs typeface="Hiragino Sans"/>
              </a:rPr>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6" name="Footer Placeholder 5"/>
          <p:cNvSpPr>
            <a:spLocks noGrp="1"/>
          </p:cNvSpPr>
          <p:nvPr>
            <p:ph type="ftr" sz="quarter" idx="11"/>
          </p:nvPr>
        </p:nvSpPr>
        <p:spPr/>
        <p:txBody>
          <a:bodyPr/>
          <a:lstStyle/>
          <a:p>
            <a:endParaRPr lang="en-US">
              <a:ea typeface="Hiragino Sans"/>
              <a:cs typeface="Hiragino Sans"/>
            </a:endParaRPr>
          </a:p>
        </p:txBody>
      </p:sp>
      <p:sp>
        <p:nvSpPr>
          <p:cNvPr id="7" name="Slide Number Placeholder 6"/>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Vertical Text Placeholder 2"/>
          <p:cNvSpPr>
            <a:spLocks noGrp="1"/>
          </p:cNvSpPr>
          <p:nvPr>
            <p:ph type="body" orient="vert" idx="1"/>
          </p:nvPr>
        </p:nvSpPr>
        <p:spPr/>
        <p:txBody>
          <a:bodyPr vert="eaVert"/>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ea typeface="Hiragino Sans"/>
                <a:cs typeface="Hiragino Sans"/>
              </a:rPr>
              <a:t>Click to edit Master title style</a:t>
            </a:r>
            <a:endParaRPr lang="en-US">
              <a:ea typeface="Hiragino Sans"/>
              <a:cs typeface="Hiragino Sans"/>
            </a:endParaRP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ea typeface="Hiragino Sans"/>
                <a:cs typeface="Hiragino Sans"/>
              </a:rPr>
              <a:t>Click to edit Master title style</a:t>
            </a:r>
            <a:endParaRPr lang="en-US">
              <a:ea typeface="Hiragino Sans"/>
              <a:cs typeface="Hiragino Sans"/>
            </a:endParaRP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ea typeface="Hiragino Sans"/>
                <a:cs typeface="Hiragino Sans"/>
                <a:solidFill>
                  <a:schemeClr val="tx1">
                    <a:tint val="75000"/>
                  </a:schemeClr>
                </a:solidFill>
              </a:defRPr>
            </a:lvl1p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ea typeface="Hiragino Sans"/>
                <a:cs typeface="Hiragino Sans"/>
                <a:solidFill>
                  <a:schemeClr val="tx1">
                    <a:tint val="75000"/>
                  </a:schemeClr>
                </a:solidFill>
              </a:defRPr>
            </a:lvl1pPr>
          </a:lstStyle>
          <a:p>
            <a:endParaRPr lang="en-US">
              <a:ea typeface="Hiragino Sans"/>
              <a:cs typeface="Hiragino San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ea typeface="Hiragino Sans"/>
                <a:cs typeface="Hiragino Sans"/>
                <a:solidFill>
                  <a:schemeClr val="tx1">
                    <a:tint val="75000"/>
                  </a:schemeClr>
                </a:solidFill>
              </a:defRPr>
            </a:lvl1p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Hiragino Sans"/>
          <a:cs typeface="Hiragino San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Hiragino Sans"/>
          <a:cs typeface="Hiragino Sans"/>
        </a:defRPr>
      </a:lvl1pPr>
      <a:lvl2pPr marL="742950" indent="-285750" algn="l" defTabSz="457200" rtl="0" eaLnBrk="1" latinLnBrk="0" hangingPunct="1">
        <a:spcBef>
          <a:spcPct val="20000"/>
        </a:spcBef>
        <a:buFont typeface="Arial"/>
        <a:buChar char="–"/>
        <a:defRPr sz="2800" kern="1200">
          <a:solidFill>
            <a:schemeClr val="tx1"/>
          </a:solidFill>
          <a:latin typeface="+mn-lt"/>
          <a:ea typeface="Hiragino Sans"/>
          <a:cs typeface="Hiragino Sans"/>
        </a:defRPr>
      </a:lvl2pPr>
      <a:lvl3pPr marL="1143000" indent="-228600" algn="l" defTabSz="457200" rtl="0" eaLnBrk="1" latinLnBrk="0" hangingPunct="1">
        <a:spcBef>
          <a:spcPct val="20000"/>
        </a:spcBef>
        <a:buFont typeface="Arial"/>
        <a:buChar char="•"/>
        <a:defRPr sz="2400" kern="1200">
          <a:solidFill>
            <a:schemeClr val="tx1"/>
          </a:solidFill>
          <a:latin typeface="+mn-lt"/>
          <a:ea typeface="Hiragino Sans"/>
          <a:cs typeface="Hiragino Sans"/>
        </a:defRPr>
      </a:lvl3pPr>
      <a:lvl4pPr marL="16002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4pPr>
      <a:lvl5pPr marL="20574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5pPr>
      <a:lvl6pPr marL="25146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6pPr>
      <a:lvl7pPr marL="29718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7pPr>
      <a:lvl8pPr marL="34290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8pPr>
      <a:lvl9pPr marL="38862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9pPr>
    </p:bodyStyle>
    <p:otherStyle>
      <a:defPPr>
        <a:defRPr lang="en-US">
          <a:ea typeface="Hiragino Sans"/>
          <a:cs typeface="Hiragino Sans"/>
        </a:defRPr>
      </a:defPPr>
      <a:lvl1pPr marL="0" algn="l" defTabSz="457200" rtl="0" eaLnBrk="1" latinLnBrk="0" hangingPunct="1">
        <a:defRPr sz="1800" kern="1200">
          <a:solidFill>
            <a:schemeClr val="tx1"/>
          </a:solidFill>
          <a:latin typeface="+mn-lt"/>
          <a:ea typeface="Hiragino Sans"/>
          <a:cs typeface="Hiragino Sans"/>
        </a:defRPr>
      </a:lvl1pPr>
      <a:lvl2pPr marL="457200" algn="l" defTabSz="457200" rtl="0" eaLnBrk="1" latinLnBrk="0" hangingPunct="1">
        <a:defRPr sz="1800" kern="1200">
          <a:solidFill>
            <a:schemeClr val="tx1"/>
          </a:solidFill>
          <a:latin typeface="+mn-lt"/>
          <a:ea typeface="Hiragino Sans"/>
          <a:cs typeface="Hiragino Sans"/>
        </a:defRPr>
      </a:lvl2pPr>
      <a:lvl3pPr marL="914400" algn="l" defTabSz="457200" rtl="0" eaLnBrk="1" latinLnBrk="0" hangingPunct="1">
        <a:defRPr sz="1800" kern="1200">
          <a:solidFill>
            <a:schemeClr val="tx1"/>
          </a:solidFill>
          <a:latin typeface="+mn-lt"/>
          <a:ea typeface="Hiragino Sans"/>
          <a:cs typeface="Hiragino Sans"/>
        </a:defRPr>
      </a:lvl3pPr>
      <a:lvl4pPr marL="1371600" algn="l" defTabSz="457200" rtl="0" eaLnBrk="1" latinLnBrk="0" hangingPunct="1">
        <a:defRPr sz="1800" kern="1200">
          <a:solidFill>
            <a:schemeClr val="tx1"/>
          </a:solidFill>
          <a:latin typeface="+mn-lt"/>
          <a:ea typeface="Hiragino Sans"/>
          <a:cs typeface="Hiragino Sans"/>
        </a:defRPr>
      </a:lvl4pPr>
      <a:lvl5pPr marL="1828800" algn="l" defTabSz="457200" rtl="0" eaLnBrk="1" latinLnBrk="0" hangingPunct="1">
        <a:defRPr sz="1800" kern="1200">
          <a:solidFill>
            <a:schemeClr val="tx1"/>
          </a:solidFill>
          <a:latin typeface="+mn-lt"/>
          <a:ea typeface="Hiragino Sans"/>
          <a:cs typeface="Hiragino Sans"/>
        </a:defRPr>
      </a:lvl5pPr>
      <a:lvl6pPr marL="2286000" algn="l" defTabSz="457200" rtl="0" eaLnBrk="1" latinLnBrk="0" hangingPunct="1">
        <a:defRPr sz="1800" kern="1200">
          <a:solidFill>
            <a:schemeClr val="tx1"/>
          </a:solidFill>
          <a:latin typeface="+mn-lt"/>
          <a:ea typeface="Hiragino Sans"/>
          <a:cs typeface="Hiragino Sans"/>
        </a:defRPr>
      </a:lvl6pPr>
      <a:lvl7pPr marL="2743200" algn="l" defTabSz="457200" rtl="0" eaLnBrk="1" latinLnBrk="0" hangingPunct="1">
        <a:defRPr sz="1800" kern="1200">
          <a:solidFill>
            <a:schemeClr val="tx1"/>
          </a:solidFill>
          <a:latin typeface="+mn-lt"/>
          <a:ea typeface="Hiragino Sans"/>
          <a:cs typeface="Hiragino Sans"/>
        </a:defRPr>
      </a:lvl7pPr>
      <a:lvl8pPr marL="3200400" algn="l" defTabSz="457200" rtl="0" eaLnBrk="1" latinLnBrk="0" hangingPunct="1">
        <a:defRPr sz="1800" kern="1200">
          <a:solidFill>
            <a:schemeClr val="tx1"/>
          </a:solidFill>
          <a:latin typeface="+mn-lt"/>
          <a:ea typeface="Hiragino Sans"/>
          <a:cs typeface="Hiragino Sans"/>
        </a:defRPr>
      </a:lvl8pPr>
      <a:lvl9pPr marL="3657600" algn="l" defTabSz="457200" rtl="0" eaLnBrk="1" latinLnBrk="0" hangingPunct="1">
        <a:defRPr sz="1800" kern="1200">
          <a:solidFill>
            <a:schemeClr val="tx1"/>
          </a:solidFill>
          <a:latin typeface="+mn-lt"/>
          <a:ea typeface="Hiragino Sans"/>
          <a:cs typeface="Hiragino San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C6E2F9"/>
        </a:solidFill>
        <a:effectLst/>
      </p:bgPr>
    </p:bg>
    <p:spTree>
      <p:nvGrpSpPr>
        <p:cNvPr id="1" name=""/>
        <p:cNvGrpSpPr/>
        <p:nvPr/>
      </p:nvGrpSpPr>
      <p:grpSpPr/>
      <p:sp>
        <p:nvSpPr>
          <p:cNvPr id="2" name="TextBox 1"/>
          <p:cNvSpPr txBox="1"/>
          <p:nvPr/>
        </p:nvSpPr>
        <p:spPr>
          <a:xfrm>
            <a:off x="566928" y="2331720"/>
            <a:ext cx="11057839" cy="237744"/>
          </a:xfrm>
          <a:prstGeom prst="rect">
            <a:avLst/>
          </a:prstGeom>
          <a:noFill/>
        </p:spPr>
        <p:txBody>
          <a:bodyPr wrap="none" lIns="0" rIns="0" tIns="0" bIns="0">
            <a:noAutofit/>
          </a:bodyPr>
          <a:lstStyle/>
          <a:p>
            <a:pPr algn="l">
              <a:defRPr sz="1200" b="1">
                <a:solidFill>
                  <a:srgbClr val="A63F00"/>
                </a:solidFill>
                <a:latin typeface="Helvetica Neue"/>
                <a:ea typeface="Hiragino Sans"/>
                <a:cs typeface="Hiragino Sans"/>
              </a:defRPr>
            </a:pPr>
            <a:r>
              <a:rPr spc="40">
                <a:ea typeface="Hiragino Sans"/>
                <a:cs typeface="Hiragino Sans"/>
              </a:rPr>
              <a:t>— OpenStreetMap をどうやって「計算できる送電網」にしたか —</a:t>
            </a:r>
          </a:p>
        </p:txBody>
      </p:sp>
      <p:sp>
        <p:nvSpPr>
          <p:cNvPr id="3" name="Rectangle 2"/>
          <p:cNvSpPr/>
          <p:nvPr/>
        </p:nvSpPr>
        <p:spPr>
          <a:xfrm>
            <a:off x="566928" y="2889504"/>
            <a:ext cx="1005840" cy="20320"/>
          </a:xfrm>
          <a:prstGeom prst="rect">
            <a:avLst/>
          </a:prstGeom>
          <a:solidFill>
            <a:srgbClr val="DD5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054096"/>
            <a:ext cx="11057839" cy="1817370"/>
          </a:xfrm>
          <a:prstGeom prst="rect">
            <a:avLst/>
          </a:prstGeom>
          <a:noFill/>
        </p:spPr>
        <p:txBody>
          <a:bodyPr wrap="square" lIns="0" rIns="0" tIns="0" bIns="0" anchor="t">
            <a:noAutofit/>
          </a:bodyPr>
          <a:lstStyle/>
          <a:p>
            <a:pPr algn="l">
              <a:lnSpc>
                <a:spcPct val="106000"/>
              </a:lnSpc>
              <a:defRPr sz="5400" b="1">
                <a:solidFill>
                  <a:srgbClr val="404040"/>
                </a:solidFill>
                <a:latin typeface="Helvetica Neue"/>
                <a:ea typeface="Hiragino Sans"/>
                <a:cs typeface="Hiragino Sans"/>
              </a:defRPr>
            </a:pPr>
            <a:r>
              <a:rPr>
                <a:ea typeface="Hiragino Sans"/>
                <a:cs typeface="Hiragino Sans"/>
              </a:rPr>
              <a:t>地図から系統を組み上げる</a:t>
            </a:r>
          </a:p>
        </p:txBody>
      </p:sp>
      <p:sp>
        <p:nvSpPr>
          <p:cNvPr id="5" name="TextBox 4"/>
          <p:cNvSpPr txBox="1"/>
          <p:nvPr/>
        </p:nvSpPr>
        <p:spPr>
          <a:xfrm>
            <a:off x="566928" y="5100066"/>
            <a:ext cx="11057839" cy="868680"/>
          </a:xfrm>
          <a:prstGeom prst="rect">
            <a:avLst/>
          </a:prstGeom>
          <a:noFill/>
        </p:spPr>
        <p:txBody>
          <a:bodyPr wrap="square" lIns="0" rIns="0" tIns="0" bIns="0">
            <a:noAutofit/>
          </a:bodyPr>
          <a:lstStyle/>
          <a:p>
            <a:pPr algn="l"/>
            <a:r>
              <a:rPr sz="1800">
                <a:solidFill>
                  <a:srgbClr val="545151"/>
                </a:solidFill>
                <a:latin typeface="Helvetica Neue"/>
                <a:ea typeface="Hiragino Sans"/>
                <a:cs typeface="Hiragino Sans"/>
              </a:rPr>
              <a:t>林 〈名〉・重信 颯人（福井大学 電気電子情報工学科）</a:t>
            </a:r>
          </a:p>
          <a:p>
            <a:pPr algn="l">
              <a:spcBef>
                <a:spcPts val="400"/>
              </a:spcBef>
            </a:pPr>
            <a:r>
              <a:rPr sz="1800">
                <a:solidFill>
                  <a:srgbClr val="545151"/>
                </a:solidFill>
                <a:latin typeface="Helvetica Neue"/>
                <a:ea typeface="Hiragino Sans"/>
                <a:cs typeface="Hiragino Sans"/>
              </a:rPr>
              <a:t>All-Japan-Grid  |  2026年9月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000" b="1">
                <a:solidFill>
                  <a:srgbClr val="404040"/>
                </a:solidFill>
                <a:latin typeface="Helvetica Neue"/>
                <a:ea typeface="Hiragino Sans"/>
                <a:cs typeface="Hiragino Sans"/>
              </a:defRPr>
            </a:pPr>
            <a:r>
              <a:rPr>
                <a:ea typeface="Hiragino Sans"/>
                <a:cs typeface="Hiragino Sans"/>
              </a:rPr>
              <a:t>この発表の問い</a:t>
            </a:r>
          </a:p>
        </p:txBody>
      </p:sp>
      <p:sp>
        <p:nvSpPr>
          <p:cNvPr id="3" name="Rectangle 2"/>
          <p:cNvSpPr/>
          <p:nvPr/>
        </p:nvSpPr>
        <p:spPr>
          <a:xfrm>
            <a:off x="566928" y="1152144"/>
            <a:ext cx="11057839"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562134" y="2561082"/>
            <a:ext cx="9067427" cy="1333500"/>
          </a:xfrm>
          <a:prstGeom prst="roundRect">
            <a:avLst>
              <a:gd name="adj" fmla="val 3500"/>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562134" y="2561082"/>
            <a:ext cx="9067427" cy="38100"/>
          </a:xfrm>
          <a:prstGeom prst="rect">
            <a:avLst/>
          </a:prstGeom>
          <a:solidFill>
            <a:srgbClr val="DD5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90734" y="2827782"/>
            <a:ext cx="8610227" cy="838200"/>
          </a:xfrm>
          <a:prstGeom prst="rect">
            <a:avLst/>
          </a:prstGeom>
          <a:noFill/>
        </p:spPr>
        <p:txBody>
          <a:bodyPr wrap="square" lIns="0" rIns="0" tIns="0" bIns="0" anchor="ctr">
            <a:noAutofit/>
          </a:bodyPr>
          <a:lstStyle/>
          <a:p>
            <a:r>
              <a:rPr sz="2400">
                <a:solidFill>
                  <a:srgbClr val="404040"/>
                </a:solidFill>
                <a:latin typeface="Helvetica Neue"/>
                <a:ea typeface="Hiragino Sans"/>
                <a:cs typeface="Hiragino Sans"/>
              </a:rPr>
              <a:t>地図には線が描いてある。では、その線を「潮流計算できる系統」にするには、何を決めなければならないのか？</a:t>
            </a:r>
          </a:p>
        </p:txBody>
      </p:sp>
      <p:sp>
        <p:nvSpPr>
          <p:cNvPr id="7" name="TextBox 6"/>
          <p:cNvSpPr txBox="1"/>
          <p:nvPr/>
        </p:nvSpPr>
        <p:spPr>
          <a:xfrm>
            <a:off x="1562134" y="4168902"/>
            <a:ext cx="9067427" cy="731520"/>
          </a:xfrm>
          <a:prstGeom prst="rect">
            <a:avLst/>
          </a:prstGeom>
          <a:noFill/>
        </p:spPr>
        <p:txBody>
          <a:bodyPr wrap="square" lIns="0" rIns="0" tIns="0" bIns="0" anchor="t">
            <a:noAutofit/>
          </a:bodyPr>
          <a:lstStyle/>
          <a:p>
            <a:pPr algn="ctr"/>
            <a:r>
              <a:rPr sz="1400">
                <a:solidFill>
                  <a:srgbClr val="676363"/>
                </a:solidFill>
                <a:latin typeface="Helvetica Neue"/>
                <a:ea typeface="Hiragino Sans"/>
                <a:cs typeface="Hiragino Sans"/>
              </a:rPr>
              <a:t>— 決めごとの大半は、論文の1行に圧縮されている</a:t>
            </a:r>
          </a:p>
        </p:txBody>
      </p:sp>
      <p:sp>
        <p:nvSpPr>
          <p:cNvPr id="8" name="TextBox 7"/>
          <p:cNvSpPr txBox="1"/>
          <p:nvPr/>
        </p:nvSpPr>
        <p:spPr>
          <a:xfrm>
            <a:off x="10161727" y="91440"/>
            <a:ext cx="1463040" cy="201168"/>
          </a:xfrm>
          <a:prstGeom prst="rect">
            <a:avLst/>
          </a:prstGeom>
          <a:noFill/>
        </p:spPr>
        <p:txBody>
          <a:bodyPr wrap="none" lIns="0" rIns="0" tIns="0" bIns="0">
            <a:noAutofit/>
          </a:bodyPr>
          <a:lstStyle/>
          <a:p>
            <a:pPr algn="r">
              <a:defRPr sz="1100">
                <a:solidFill>
                  <a:srgbClr val="676363"/>
                </a:solidFill>
                <a:latin typeface="Helvetica Neue"/>
                <a:ea typeface="Hiragino Sans"/>
                <a:cs typeface="Hiragino Sans"/>
              </a:defRPr>
            </a:pPr>
            <a:r>
              <a:rPr>
                <a:ea typeface="Hiragino Sans"/>
                <a:cs typeface="Hiragino Sans"/>
              </a:rPr>
              <a:t>2／24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000" b="1">
                <a:solidFill>
                  <a:srgbClr val="404040"/>
                </a:solidFill>
                <a:latin typeface="Helvetica Neue"/>
                <a:ea typeface="Hiragino Sans"/>
                <a:cs typeface="Hiragino Sans"/>
              </a:defRPr>
            </a:pPr>
            <a:r>
              <a:rPr>
                <a:ea typeface="Hiragino Sans"/>
                <a:cs typeface="Hiragino Sans"/>
              </a:rPr>
              <a:t>なぜ、公開モデルが要るのか</a:t>
            </a:r>
          </a:p>
        </p:txBody>
      </p:sp>
      <p:sp>
        <p:nvSpPr>
          <p:cNvPr id="3" name="Rectangle 2"/>
          <p:cNvSpPr/>
          <p:nvPr/>
        </p:nvSpPr>
        <p:spPr>
          <a:xfrm>
            <a:off x="566928" y="1152144"/>
            <a:ext cx="11057839"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353312"/>
            <a:ext cx="11057839" cy="254000"/>
          </a:xfrm>
          <a:prstGeom prst="rect">
            <a:avLst/>
          </a:prstGeom>
          <a:noFill/>
        </p:spPr>
        <p:txBody>
          <a:bodyPr wrap="none" lIns="0" rIns="0" tIns="0" bIns="0">
            <a:noAutofit/>
          </a:bodyPr>
          <a:lstStyle/>
          <a:p>
            <a:r>
              <a:rPr sz="1600" b="1">
                <a:solidFill>
                  <a:srgbClr val="0D558E"/>
                </a:solidFill>
                <a:latin typeface="Helvetica Neue"/>
                <a:ea typeface="Hiragino Sans"/>
                <a:cs typeface="Hiragino Sans"/>
              </a:rPr>
              <a:t>2025年4月｜イベリア半島の大規模停電</a:t>
            </a:r>
          </a:p>
        </p:txBody>
      </p:sp>
      <p:sp>
        <p:nvSpPr>
          <p:cNvPr id="5" name="TextBox 4"/>
          <p:cNvSpPr txBox="1"/>
          <p:nvPr/>
        </p:nvSpPr>
        <p:spPr>
          <a:xfrm>
            <a:off x="822960" y="1645412"/>
            <a:ext cx="10801807" cy="695325"/>
          </a:xfrm>
          <a:prstGeom prst="rect">
            <a:avLst/>
          </a:prstGeom>
          <a:noFill/>
        </p:spPr>
        <p:txBody>
          <a:bodyPr wrap="square" lIns="0" rIns="0" tIns="0" bIns="0">
            <a:noAutofit/>
          </a:bodyPr>
          <a:lstStyle/>
          <a:p>
            <a:pPr>
              <a:lnSpc>
                <a:spcPct val="130000"/>
              </a:lnSpc>
            </a:pPr>
            <a:r>
              <a:rPr sz="1500">
                <a:solidFill>
                  <a:srgbClr val="404040"/>
                </a:solidFill>
                <a:latin typeface="Helvetica Neue"/>
                <a:ea typeface="Hiragino Sans"/>
                <a:cs typeface="Hiragino Sans"/>
              </a:rPr>
              <a:t>高い再エネ比率のもとでの慣性不足と広域連系の脆弱性が問題になった。しかし欧州でも、事故後の</a:t>
            </a:r>
            <a:r>
              <a:rPr sz="1500" b="1">
                <a:solidFill>
                  <a:srgbClr val="404040"/>
                </a:solidFill>
                <a:latin typeface="Helvetica Neue"/>
                <a:ea typeface="Hiragino Sans"/>
                <a:cs typeface="Hiragino Sans"/>
              </a:rPr>
              <a:t>独立した学術解析</a:t>
            </a:r>
            <a:r>
              <a:rPr sz="1500">
                <a:solidFill>
                  <a:srgbClr val="404040"/>
                </a:solidFill>
                <a:latin typeface="Helvetica Neue"/>
                <a:ea typeface="Hiragino Sans"/>
                <a:cs typeface="Hiragino Sans"/>
              </a:rPr>
              <a:t>は系統インピーダンスや PMU 実測値の入手困難が障壁になっている。</a:t>
            </a:r>
          </a:p>
        </p:txBody>
      </p:sp>
      <p:sp>
        <p:nvSpPr>
          <p:cNvPr id="6" name="Rectangle 5"/>
          <p:cNvSpPr/>
          <p:nvPr/>
        </p:nvSpPr>
        <p:spPr>
          <a:xfrm>
            <a:off x="566928" y="2492629"/>
            <a:ext cx="11057839"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2669921"/>
            <a:ext cx="11057839" cy="254000"/>
          </a:xfrm>
          <a:prstGeom prst="rect">
            <a:avLst/>
          </a:prstGeom>
          <a:noFill/>
        </p:spPr>
        <p:txBody>
          <a:bodyPr wrap="none" lIns="0" rIns="0" tIns="0" bIns="0">
            <a:noAutofit/>
          </a:bodyPr>
          <a:lstStyle/>
          <a:p>
            <a:r>
              <a:rPr sz="1600" b="1">
                <a:solidFill>
                  <a:srgbClr val="0D558E"/>
                </a:solidFill>
                <a:latin typeface="Helvetica Neue"/>
                <a:ea typeface="Hiragino Sans"/>
                <a:cs typeface="Hiragino Sans"/>
              </a:rPr>
              <a:t>日本｜状況はもっと厳しい</a:t>
            </a:r>
          </a:p>
        </p:txBody>
      </p:sp>
      <p:sp>
        <p:nvSpPr>
          <p:cNvPr id="8" name="TextBox 7"/>
          <p:cNvSpPr txBox="1"/>
          <p:nvPr/>
        </p:nvSpPr>
        <p:spPr>
          <a:xfrm>
            <a:off x="822960" y="2962021"/>
            <a:ext cx="10801807" cy="695325"/>
          </a:xfrm>
          <a:prstGeom prst="rect">
            <a:avLst/>
          </a:prstGeom>
          <a:noFill/>
        </p:spPr>
        <p:txBody>
          <a:bodyPr wrap="square" lIns="0" rIns="0" tIns="0" bIns="0">
            <a:noAutofit/>
          </a:bodyPr>
          <a:lstStyle/>
          <a:p>
            <a:pPr>
              <a:lnSpc>
                <a:spcPct val="130000"/>
              </a:lnSpc>
            </a:pPr>
            <a:r>
              <a:rPr sz="1500">
                <a:solidFill>
                  <a:srgbClr val="404040"/>
                </a:solidFill>
                <a:latin typeface="Helvetica Neue"/>
                <a:ea typeface="Hiragino Sans"/>
                <a:cs typeface="Hiragino Sans"/>
              </a:rPr>
              <a:t>インピーダンス・変圧器特性・ノード別需要配分は非公開。WAMS データも研究目的では公開されない。一方で 2024 年度末の系統接続済み再エネは約 200 GW。</a:t>
            </a:r>
            <a:r>
              <a:rPr sz="1500" b="1">
                <a:solidFill>
                  <a:srgbClr val="404040"/>
                </a:solidFill>
                <a:latin typeface="Helvetica Neue"/>
                <a:ea typeface="Hiragino Sans"/>
                <a:cs typeface="Hiragino Sans"/>
              </a:rPr>
              <a:t>影響を測る基盤だけが無い。</a:t>
            </a:r>
          </a:p>
        </p:txBody>
      </p:sp>
      <p:sp>
        <p:nvSpPr>
          <p:cNvPr id="9" name="Rectangle 8"/>
          <p:cNvSpPr/>
          <p:nvPr/>
        </p:nvSpPr>
        <p:spPr>
          <a:xfrm>
            <a:off x="566928" y="3809238"/>
            <a:ext cx="11057839"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3986530"/>
            <a:ext cx="11057839" cy="254000"/>
          </a:xfrm>
          <a:prstGeom prst="rect">
            <a:avLst/>
          </a:prstGeom>
          <a:noFill/>
        </p:spPr>
        <p:txBody>
          <a:bodyPr wrap="none" lIns="0" rIns="0" tIns="0" bIns="0">
            <a:noAutofit/>
          </a:bodyPr>
          <a:lstStyle/>
          <a:p>
            <a:r>
              <a:rPr sz="1600" b="1">
                <a:solidFill>
                  <a:srgbClr val="0D558E"/>
                </a:solidFill>
                <a:latin typeface="Helvetica Neue"/>
                <a:ea typeface="Hiragino Sans"/>
                <a:cs typeface="Hiragino Sans"/>
              </a:rPr>
              <a:t>結果として起きていること</a:t>
            </a:r>
          </a:p>
        </p:txBody>
      </p:sp>
      <p:sp>
        <p:nvSpPr>
          <p:cNvPr id="11" name="TextBox 10"/>
          <p:cNvSpPr txBox="1"/>
          <p:nvPr/>
        </p:nvSpPr>
        <p:spPr>
          <a:xfrm>
            <a:off x="822960" y="4278630"/>
            <a:ext cx="10801807" cy="695325"/>
          </a:xfrm>
          <a:prstGeom prst="rect">
            <a:avLst/>
          </a:prstGeom>
          <a:noFill/>
        </p:spPr>
        <p:txBody>
          <a:bodyPr wrap="square" lIns="0" rIns="0" tIns="0" bIns="0">
            <a:noAutofit/>
          </a:bodyPr>
          <a:lstStyle/>
          <a:p>
            <a:pPr>
              <a:lnSpc>
                <a:spcPct val="130000"/>
              </a:lnSpc>
            </a:pPr>
            <a:r>
              <a:rPr sz="1500">
                <a:solidFill>
                  <a:srgbClr val="404040"/>
                </a:solidFill>
                <a:latin typeface="Helvetica Neue"/>
                <a:ea typeface="Hiragino Sans"/>
                <a:cs typeface="Hiragino Sans"/>
              </a:rPr>
              <a:t>空き容量・連系線混雑・潮流変化を独立に事前評価できない。接続可能性の判断が一部に集中し、脆弱箇所の特定も事故原因の独立検証も時間と費用を要する。論文はこれを </a:t>
            </a:r>
            <a:r>
              <a:rPr sz="1500">
                <a:solidFill>
                  <a:srgbClr val="404040"/>
                </a:solidFill>
                <a:highlight>
                  <a:srgbClr val="F8E0A6"/>
                </a:highlight>
                <a:latin typeface="Helvetica Neue"/>
                <a:ea typeface="Hiragino Sans"/>
                <a:cs typeface="Hiragino Sans"/>
              </a:rPr>
              <a:t>系統解析の「民主化」の欠如</a:t>
            </a:r>
            <a:r>
              <a:rPr sz="1500">
                <a:solidFill>
                  <a:srgbClr val="404040"/>
                </a:solidFill>
                <a:latin typeface="Helvetica Neue"/>
                <a:ea typeface="Hiragino Sans"/>
                <a:cs typeface="Hiragino Sans"/>
              </a:rPr>
              <a:t> と呼んでいる。</a:t>
            </a:r>
          </a:p>
        </p:txBody>
      </p:sp>
      <p:sp>
        <p:nvSpPr>
          <p:cNvPr id="12" name="TextBox 11"/>
          <p:cNvSpPr txBox="1"/>
          <p:nvPr/>
        </p:nvSpPr>
        <p:spPr>
          <a:xfrm>
            <a:off x="10161727" y="91440"/>
            <a:ext cx="1463040" cy="201168"/>
          </a:xfrm>
          <a:prstGeom prst="rect">
            <a:avLst/>
          </a:prstGeom>
          <a:noFill/>
        </p:spPr>
        <p:txBody>
          <a:bodyPr wrap="none" lIns="0" rIns="0" tIns="0" bIns="0">
            <a:noAutofit/>
          </a:bodyPr>
          <a:lstStyle/>
          <a:p>
            <a:pPr algn="r">
              <a:defRPr sz="1100">
                <a:solidFill>
                  <a:srgbClr val="676363"/>
                </a:solidFill>
                <a:latin typeface="Helvetica Neue"/>
                <a:ea typeface="Hiragino Sans"/>
                <a:cs typeface="Hiragino Sans"/>
              </a:defRPr>
            </a:pPr>
            <a:r>
              <a:rPr>
                <a:ea typeface="Hiragino Sans"/>
                <a:cs typeface="Hiragino Sans"/>
              </a:rPr>
              <a:t>3／24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000" b="1">
                <a:solidFill>
                  <a:srgbClr val="404040"/>
                </a:solidFill>
                <a:latin typeface="Helvetica Neue"/>
                <a:ea typeface="Hiragino Sans"/>
                <a:cs typeface="Hiragino Sans"/>
              </a:defRPr>
            </a:pPr>
            <a:r>
              <a:rPr>
                <a:ea typeface="Hiragino Sans"/>
                <a:cs typeface="Hiragino Sans"/>
              </a:rPr>
              <a:t>OSM が持っているもの・持っていないもの</a:t>
            </a:r>
          </a:p>
        </p:txBody>
      </p:sp>
      <p:sp>
        <p:nvSpPr>
          <p:cNvPr id="3" name="Rectangle 2"/>
          <p:cNvSpPr/>
          <p:nvPr/>
        </p:nvSpPr>
        <p:spPr>
          <a:xfrm>
            <a:off x="566928" y="1152144"/>
            <a:ext cx="11057839"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583182"/>
            <a:ext cx="11057839" cy="365760"/>
          </a:xfrm>
          <a:prstGeom prst="rect">
            <a:avLst/>
          </a:prstGeom>
          <a:noFill/>
        </p:spPr>
        <p:txBody>
          <a:bodyPr wrap="none" lIns="0" rIns="0" tIns="0" bIns="0">
            <a:noAutofit/>
          </a:bodyPr>
          <a:lstStyle/>
          <a:p>
            <a:pPr>
              <a:defRPr sz="1600" b="1">
                <a:solidFill>
                  <a:srgbClr val="0D558E"/>
                </a:solidFill>
                <a:latin typeface="Helvetica Neue"/>
                <a:ea typeface="Hiragino Sans"/>
                <a:cs typeface="Hiragino Sans"/>
              </a:defRPr>
            </a:pPr>
            <a:r>
              <a:rPr>
                <a:ea typeface="Hiragino Sans"/>
                <a:cs typeface="Hiragino Sans"/>
              </a:rPr>
              <a:t>位置はほぼ完璧、電気はゼロ</a:t>
            </a:r>
          </a:p>
        </p:txBody>
      </p:sp>
      <p:graphicFrame>
        <p:nvGraphicFramePr>
          <p:cNvPr id="5" name="Table 4"/>
          <p:cNvGraphicFramePr>
            <a:graphicFrameLocks noGrp="1"/>
          </p:cNvGraphicFramePr>
          <p:nvPr/>
        </p:nvGraphicFramePr>
        <p:xfrm>
          <a:off x="1783290" y="2131822"/>
          <a:ext cx="8625114" cy="3746500"/>
        </p:xfrm>
        <a:graphic>
          <a:graphicData uri="http://schemas.openxmlformats.org/drawingml/2006/table">
            <a:tbl>
              <a:tblPr/>
              <a:tblGrid>
                <a:gridCol w="2339014"/>
                <a:gridCol w="2141476"/>
                <a:gridCol w="1805612"/>
                <a:gridCol w="2339012"/>
              </a:tblGrid>
              <a:tr h="374650">
                <a:tc>
                  <a:txBody>
                    <a:bodyPr/>
                    <a:lstStyle/>
                    <a:p>
                      <a:pPr algn="l"/>
                      <a:r>
                        <a:rPr sz="1400" b="1">
                          <a:solidFill>
                            <a:srgbClr val="404040"/>
                          </a:solidFill>
                          <a:latin typeface="Helvetica Neue"/>
                          <a:ea typeface="Hiragino Sans"/>
                          <a:cs typeface="Hiragino Sans"/>
                        </a:rPr>
                        <a:t>属性</a:t>
                      </a:r>
                    </a:p>
                  </a:txBody>
                  <a:tcPr anchor="ctr" marL="127000" marR="127000" marT="76200" marB="76200">
                    <a:lnB w="12700" cap="flat" cmpd="sng" algn="ctr">
                      <a:solidFill>
                        <a:srgbClr val="404040"/>
                      </a:solidFill>
                      <a:prstDash val="solid"/>
                    </a:lnB>
                    <a:lnT w="15875" cap="flat" cmpd="sng" algn="ctr">
                      <a:solidFill>
                        <a:srgbClr val="404040"/>
                      </a:solidFill>
                      <a:prstDash val="solid"/>
                    </a:lnT>
                    <a:lnR>
                      <a:noFill/>
                    </a:lnR>
                    <a:lnL>
                      <a:noFill/>
                    </a:lnL>
                    <a:noFill/>
                  </a:tcPr>
                </a:tc>
                <a:tc>
                  <a:txBody>
                    <a:bodyPr/>
                    <a:lstStyle/>
                    <a:p>
                      <a:pPr algn="l"/>
                      <a:r>
                        <a:rPr sz="1400" b="1">
                          <a:solidFill>
                            <a:srgbClr val="404040"/>
                          </a:solidFill>
                          <a:latin typeface="Helvetica Neue"/>
                          <a:ea typeface="Hiragino Sans"/>
                          <a:cs typeface="Hiragino Sans"/>
                        </a:rPr>
                        <a:t>OSMタグ</a:t>
                      </a:r>
                    </a:p>
                  </a:txBody>
                  <a:tcPr anchor="ctr" marL="127000" marR="127000" marT="76200" marB="76200">
                    <a:lnB w="12700" cap="flat" cmpd="sng" algn="ctr">
                      <a:solidFill>
                        <a:srgbClr val="404040"/>
                      </a:solidFill>
                      <a:prstDash val="solid"/>
                    </a:lnB>
                    <a:lnT w="15875" cap="flat" cmpd="sng" algn="ctr">
                      <a:solidFill>
                        <a:srgbClr val="404040"/>
                      </a:solidFill>
                      <a:prstDash val="solid"/>
                    </a:lnT>
                    <a:lnR>
                      <a:noFill/>
                    </a:lnR>
                    <a:lnL>
                      <a:noFill/>
                    </a:lnL>
                    <a:noFill/>
                  </a:tcPr>
                </a:tc>
                <a:tc>
                  <a:txBody>
                    <a:bodyPr/>
                    <a:lstStyle/>
                    <a:p>
                      <a:pPr algn="l"/>
                      <a:r>
                        <a:rPr sz="1400" b="1">
                          <a:solidFill>
                            <a:srgbClr val="404040"/>
                          </a:solidFill>
                          <a:latin typeface="Helvetica Neue"/>
                          <a:ea typeface="Hiragino Sans"/>
                          <a:cs typeface="Hiragino Sans"/>
                        </a:rPr>
                        <a:t>生記録率</a:t>
                      </a:r>
                    </a:p>
                  </a:txBody>
                  <a:tcPr anchor="ctr" marL="127000" marR="127000" marT="76200" marB="76200">
                    <a:lnB w="12700" cap="flat" cmpd="sng" algn="ctr">
                      <a:solidFill>
                        <a:srgbClr val="404040"/>
                      </a:solidFill>
                      <a:prstDash val="solid"/>
                    </a:lnB>
                    <a:lnT w="15875" cap="flat" cmpd="sng" algn="ctr">
                      <a:solidFill>
                        <a:srgbClr val="404040"/>
                      </a:solidFill>
                      <a:prstDash val="solid"/>
                    </a:lnT>
                    <a:lnR>
                      <a:noFill/>
                    </a:lnR>
                    <a:lnL>
                      <a:noFill/>
                    </a:lnL>
                    <a:noFill/>
                  </a:tcPr>
                </a:tc>
                <a:tc>
                  <a:txBody>
                    <a:bodyPr/>
                    <a:lstStyle/>
                    <a:p>
                      <a:pPr algn="l"/>
                      <a:r>
                        <a:rPr sz="1400" b="1">
                          <a:solidFill>
                            <a:srgbClr val="404040"/>
                          </a:solidFill>
                          <a:latin typeface="Helvetica Neue"/>
                          <a:ea typeface="Hiragino Sans"/>
                          <a:cs typeface="Hiragino Sans"/>
                        </a:rPr>
                        <a:t>補完後</a:t>
                      </a:r>
                    </a:p>
                  </a:txBody>
                  <a:tcPr anchor="ctr" marL="127000" marR="127000" marT="76200" marB="76200">
                    <a:lnB w="12700" cap="flat" cmpd="sng" algn="ctr">
                      <a:solidFill>
                        <a:srgbClr val="404040"/>
                      </a:solidFill>
                      <a:prstDash val="solid"/>
                    </a:lnB>
                    <a:lnT w="15875" cap="flat" cmpd="sng" algn="ctr">
                      <a:solidFill>
                        <a:srgbClr val="404040"/>
                      </a:solidFill>
                      <a:prstDash val="solid"/>
                    </a:lnT>
                    <a:lnR>
                      <a:noFill/>
                    </a:lnR>
                    <a:lnL>
                      <a:noFill/>
                    </a:lnL>
                    <a:noFill/>
                  </a:tcPr>
                </a:tc>
              </a:tr>
              <a:tr h="374650">
                <a:tc>
                  <a:txBody>
                    <a:bodyPr/>
                    <a:lstStyle/>
                    <a:p>
                      <a:pPr algn="l"/>
                      <a:r>
                        <a:rPr sz="1400" b="1">
                          <a:solidFill>
                            <a:srgbClr val="0D558E"/>
                          </a:solidFill>
                          <a:latin typeface="Helvetica Neue"/>
                          <a:ea typeface="Hiragino Sans"/>
                          <a:cs typeface="Hiragino Sans"/>
                        </a:rPr>
                        <a:t>地理座標</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0D558E"/>
                          </a:solidFill>
                          <a:latin typeface="SF Mono"/>
                          <a:ea typeface="Hiragino Sans"/>
                          <a:cs typeface="Hiragino Sans"/>
                        </a:rPr>
                        <a:t>geometry</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≈100%</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100%</a:t>
                      </a:r>
                    </a:p>
                  </a:txBody>
                  <a:tcPr anchor="ctr" marL="127000" marR="127000" marT="76200" marB="76200">
                    <a:lnB w="6350" cap="flat" cmpd="sng" algn="ctr">
                      <a:solidFill>
                        <a:srgbClr val="D9D9D9"/>
                      </a:solidFill>
                      <a:prstDash val="solid"/>
                    </a:lnB>
                    <a:lnT>
                      <a:noFill/>
                    </a:lnT>
                    <a:lnR>
                      <a:noFill/>
                    </a:lnR>
                    <a:lnL>
                      <a:noFill/>
                    </a:lnL>
                    <a:noFill/>
                  </a:tcPr>
                </a:tc>
              </a:tr>
              <a:tr h="374650">
                <a:tc>
                  <a:txBody>
                    <a:bodyPr/>
                    <a:lstStyle/>
                    <a:p>
                      <a:pPr algn="l"/>
                      <a:r>
                        <a:rPr sz="1400" b="1">
                          <a:solidFill>
                            <a:srgbClr val="0D558E"/>
                          </a:solidFill>
                          <a:latin typeface="Helvetica Neue"/>
                          <a:ea typeface="Hiragino Sans"/>
                          <a:cs typeface="Hiragino Sans"/>
                        </a:rPr>
                        <a:t>変電所輪郭</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polygon</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≈60%</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重心で補完</a:t>
                      </a:r>
                    </a:p>
                  </a:txBody>
                  <a:tcPr anchor="ctr" marL="127000" marR="127000" marT="76200" marB="76200">
                    <a:lnB w="6350" cap="flat" cmpd="sng" algn="ctr">
                      <a:solidFill>
                        <a:srgbClr val="D9D9D9"/>
                      </a:solidFill>
                      <a:prstDash val="solid"/>
                    </a:lnB>
                    <a:lnT>
                      <a:noFill/>
                    </a:lnT>
                    <a:lnR>
                      <a:noFill/>
                    </a:lnR>
                    <a:lnL>
                      <a:noFill/>
                    </a:lnL>
                    <a:noFill/>
                  </a:tcPr>
                </a:tc>
              </a:tr>
              <a:tr h="374650">
                <a:tc>
                  <a:txBody>
                    <a:bodyPr/>
                    <a:lstStyle/>
                    <a:p>
                      <a:pPr algn="l"/>
                      <a:r>
                        <a:rPr sz="1400" b="1">
                          <a:solidFill>
                            <a:srgbClr val="0D558E"/>
                          </a:solidFill>
                          <a:latin typeface="Helvetica Neue"/>
                          <a:ea typeface="Hiragino Sans"/>
                          <a:cs typeface="Hiragino Sans"/>
                        </a:rPr>
                        <a:t>電圧</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0D558E"/>
                          </a:solidFill>
                          <a:latin typeface="SF Mono"/>
                          <a:ea typeface="Hiragino Sans"/>
                          <a:cs typeface="Hiragino Sans"/>
                        </a:rPr>
                        <a:t>voltage</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≈70%</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≈85%</a:t>
                      </a:r>
                    </a:p>
                  </a:txBody>
                  <a:tcPr anchor="ctr" marL="127000" marR="127000" marT="76200" marB="76200">
                    <a:lnB w="6350" cap="flat" cmpd="sng" algn="ctr">
                      <a:solidFill>
                        <a:srgbClr val="D9D9D9"/>
                      </a:solidFill>
                      <a:prstDash val="solid"/>
                    </a:lnB>
                    <a:lnT>
                      <a:noFill/>
                    </a:lnT>
                    <a:lnR>
                      <a:noFill/>
                    </a:lnR>
                    <a:lnL>
                      <a:noFill/>
                    </a:lnL>
                    <a:noFill/>
                  </a:tcPr>
                </a:tc>
              </a:tr>
              <a:tr h="374650">
                <a:tc>
                  <a:txBody>
                    <a:bodyPr/>
                    <a:lstStyle/>
                    <a:p>
                      <a:pPr algn="l"/>
                      <a:r>
                        <a:rPr sz="1400" b="1">
                          <a:solidFill>
                            <a:srgbClr val="0D558E"/>
                          </a:solidFill>
                          <a:latin typeface="Helvetica Neue"/>
                          <a:ea typeface="Hiragino Sans"/>
                          <a:cs typeface="Hiragino Sans"/>
                        </a:rPr>
                        <a:t>架空/地中</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0D558E"/>
                          </a:solidFill>
                          <a:latin typeface="SF Mono"/>
                          <a:ea typeface="Hiragino Sans"/>
                          <a:cs typeface="Hiragino Sans"/>
                        </a:rPr>
                        <a:t>location</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≈30%</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未補完</a:t>
                      </a:r>
                    </a:p>
                  </a:txBody>
                  <a:tcPr anchor="ctr" marL="127000" marR="127000" marT="76200" marB="76200">
                    <a:lnB w="6350" cap="flat" cmpd="sng" algn="ctr">
                      <a:solidFill>
                        <a:srgbClr val="D9D9D9"/>
                      </a:solidFill>
                      <a:prstDash val="solid"/>
                    </a:lnB>
                    <a:lnT>
                      <a:noFill/>
                    </a:lnT>
                    <a:lnR>
                      <a:noFill/>
                    </a:lnR>
                    <a:lnL>
                      <a:noFill/>
                    </a:lnL>
                    <a:noFill/>
                  </a:tcPr>
                </a:tc>
              </a:tr>
              <a:tr h="374650">
                <a:tc>
                  <a:txBody>
                    <a:bodyPr/>
                    <a:lstStyle/>
                    <a:p>
                      <a:pPr algn="l"/>
                      <a:r>
                        <a:rPr sz="1400" b="1">
                          <a:solidFill>
                            <a:srgbClr val="0D558E"/>
                          </a:solidFill>
                          <a:latin typeface="Helvetica Neue"/>
                          <a:ea typeface="Hiragino Sans"/>
                          <a:cs typeface="Hiragino Sans"/>
                        </a:rPr>
                        <a:t>事業者名</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0D558E"/>
                          </a:solidFill>
                          <a:latin typeface="SF Mono"/>
                          <a:ea typeface="Hiragino Sans"/>
                          <a:cs typeface="Hiragino Sans"/>
                        </a:rPr>
                        <a:t>operator</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≈65%</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≈100%</a:t>
                      </a:r>
                    </a:p>
                  </a:txBody>
                  <a:tcPr anchor="ctr" marL="127000" marR="127000" marT="76200" marB="76200">
                    <a:lnB w="6350" cap="flat" cmpd="sng" algn="ctr">
                      <a:solidFill>
                        <a:srgbClr val="D9D9D9"/>
                      </a:solidFill>
                      <a:prstDash val="solid"/>
                    </a:lnB>
                    <a:lnT>
                      <a:noFill/>
                    </a:lnT>
                    <a:lnR>
                      <a:noFill/>
                    </a:lnR>
                    <a:lnL>
                      <a:noFill/>
                    </a:lnL>
                    <a:noFill/>
                  </a:tcPr>
                </a:tc>
              </a:tr>
              <a:tr h="374650">
                <a:tc>
                  <a:txBody>
                    <a:bodyPr/>
                    <a:lstStyle/>
                    <a:p>
                      <a:pPr algn="l"/>
                      <a:r>
                        <a:rPr sz="1400" b="1">
                          <a:solidFill>
                            <a:srgbClr val="0D558E"/>
                          </a:solidFill>
                          <a:latin typeface="Helvetica Neue"/>
                          <a:ea typeface="Hiragino Sans"/>
                          <a:cs typeface="Hiragino Sans"/>
                        </a:rPr>
                        <a:t>設備容量</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0D558E"/>
                          </a:solidFill>
                          <a:latin typeface="SF Mono"/>
                          <a:ea typeface="Hiragino Sans"/>
                          <a:cs typeface="Hiragino Sans"/>
                        </a:rPr>
                        <a:t>capacity_mw</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≈7%</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P03照合</a:t>
                      </a:r>
                    </a:p>
                  </a:txBody>
                  <a:tcPr anchor="ctr" marL="127000" marR="127000" marT="76200" marB="76200">
                    <a:lnB w="6350" cap="flat" cmpd="sng" algn="ctr">
                      <a:solidFill>
                        <a:srgbClr val="D9D9D9"/>
                      </a:solidFill>
                      <a:prstDash val="solid"/>
                    </a:lnB>
                    <a:lnT>
                      <a:noFill/>
                    </a:lnT>
                    <a:lnR>
                      <a:noFill/>
                    </a:lnR>
                    <a:lnL>
                      <a:noFill/>
                    </a:lnL>
                    <a:noFill/>
                  </a:tcPr>
                </a:tc>
              </a:tr>
              <a:tr h="374650">
                <a:tc>
                  <a:txBody>
                    <a:bodyPr/>
                    <a:lstStyle/>
                    <a:p>
                      <a:pPr algn="l"/>
                      <a:r>
                        <a:rPr sz="1400" b="1">
                          <a:solidFill>
                            <a:srgbClr val="A63F00"/>
                          </a:solidFill>
                          <a:latin typeface="Helvetica Neue"/>
                          <a:ea typeface="Hiragino Sans"/>
                          <a:cs typeface="Hiragino Sans"/>
                        </a:rPr>
                        <a:t>インピーダンス</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b="1">
                          <a:solidFill>
                            <a:srgbClr val="A63F00"/>
                          </a:solidFill>
                          <a:latin typeface="Helvetica Neue"/>
                          <a:ea typeface="Hiragino Sans"/>
                          <a:cs typeface="Hiragino Sans"/>
                        </a:rPr>
                        <a:t>0%</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電圧別参照表</a:t>
                      </a:r>
                    </a:p>
                  </a:txBody>
                  <a:tcPr anchor="ctr" marL="127000" marR="127000" marT="76200" marB="76200">
                    <a:lnB w="6350" cap="flat" cmpd="sng" algn="ctr">
                      <a:solidFill>
                        <a:srgbClr val="D9D9D9"/>
                      </a:solidFill>
                      <a:prstDash val="solid"/>
                    </a:lnB>
                    <a:lnT>
                      <a:noFill/>
                    </a:lnT>
                    <a:lnR>
                      <a:noFill/>
                    </a:lnR>
                    <a:lnL>
                      <a:noFill/>
                    </a:lnL>
                    <a:noFill/>
                  </a:tcPr>
                </a:tc>
              </a:tr>
              <a:tr h="374650">
                <a:tc>
                  <a:txBody>
                    <a:bodyPr/>
                    <a:lstStyle/>
                    <a:p>
                      <a:pPr algn="l"/>
                      <a:r>
                        <a:rPr sz="1400" b="1">
                          <a:solidFill>
                            <a:srgbClr val="A63F00"/>
                          </a:solidFill>
                          <a:latin typeface="Helvetica Neue"/>
                          <a:ea typeface="Hiragino Sans"/>
                          <a:cs typeface="Hiragino Sans"/>
                        </a:rPr>
                        <a:t>変圧器特性</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b="1">
                          <a:solidFill>
                            <a:srgbClr val="A63F00"/>
                          </a:solidFill>
                          <a:latin typeface="Helvetica Neue"/>
                          <a:ea typeface="Hiragino Sans"/>
                          <a:cs typeface="Hiragino Sans"/>
                        </a:rPr>
                        <a:t>0%</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電圧比推定</a:t>
                      </a:r>
                    </a:p>
                  </a:txBody>
                  <a:tcPr anchor="ctr" marL="127000" marR="127000" marT="76200" marB="76200">
                    <a:lnB w="6350" cap="flat" cmpd="sng" algn="ctr">
                      <a:solidFill>
                        <a:srgbClr val="D9D9D9"/>
                      </a:solidFill>
                      <a:prstDash val="solid"/>
                    </a:lnB>
                    <a:lnT>
                      <a:noFill/>
                    </a:lnT>
                    <a:lnR>
                      <a:noFill/>
                    </a:lnR>
                    <a:lnL>
                      <a:noFill/>
                    </a:lnL>
                    <a:noFill/>
                  </a:tcPr>
                </a:tc>
              </a:tr>
              <a:tr h="374650">
                <a:tc>
                  <a:txBody>
                    <a:bodyPr/>
                    <a:lstStyle/>
                    <a:p>
                      <a:pPr algn="l"/>
                      <a:r>
                        <a:rPr sz="1400" b="1">
                          <a:solidFill>
                            <a:srgbClr val="A63F00"/>
                          </a:solidFill>
                          <a:latin typeface="Helvetica Neue"/>
                          <a:ea typeface="Hiragino Sans"/>
                          <a:cs typeface="Hiragino Sans"/>
                        </a:rPr>
                        <a:t>遮断器</a:t>
                      </a:r>
                    </a:p>
                  </a:txBody>
                  <a:tcPr anchor="ctr" marL="127000" marR="127000" marT="76200" marB="76200">
                    <a:lnB w="15875" cap="flat" cmpd="sng" algn="ctr">
                      <a:solidFill>
                        <a:srgbClr val="404040"/>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a:t>
                      </a:r>
                    </a:p>
                  </a:txBody>
                  <a:tcPr anchor="ctr" marL="127000" marR="127000" marT="76200" marB="76200">
                    <a:lnB w="15875" cap="flat" cmpd="sng" algn="ctr">
                      <a:solidFill>
                        <a:srgbClr val="404040"/>
                      </a:solidFill>
                      <a:prstDash val="solid"/>
                    </a:lnB>
                    <a:lnT>
                      <a:noFill/>
                    </a:lnT>
                    <a:lnR>
                      <a:noFill/>
                    </a:lnR>
                    <a:lnL>
                      <a:noFill/>
                    </a:lnL>
                    <a:noFill/>
                  </a:tcPr>
                </a:tc>
                <a:tc>
                  <a:txBody>
                    <a:bodyPr/>
                    <a:lstStyle/>
                    <a:p>
                      <a:pPr algn="l"/>
                      <a:r>
                        <a:rPr sz="1400" b="1">
                          <a:solidFill>
                            <a:srgbClr val="A63F00"/>
                          </a:solidFill>
                          <a:latin typeface="Helvetica Neue"/>
                          <a:ea typeface="Hiragino Sans"/>
                          <a:cs typeface="Hiragino Sans"/>
                        </a:rPr>
                        <a:t>0%</a:t>
                      </a:r>
                    </a:p>
                  </a:txBody>
                  <a:tcPr anchor="ctr" marL="127000" marR="127000" marT="76200" marB="76200">
                    <a:lnB w="15875" cap="flat" cmpd="sng" algn="ctr">
                      <a:solidFill>
                        <a:srgbClr val="404040"/>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非公開・未補完</a:t>
                      </a:r>
                    </a:p>
                  </a:txBody>
                  <a:tcPr anchor="ctr" marL="127000" marR="127000" marT="76200" marB="76200">
                    <a:lnB w="15875" cap="flat" cmpd="sng" algn="ctr">
                      <a:solidFill>
                        <a:srgbClr val="404040"/>
                      </a:solidFill>
                      <a:prstDash val="solid"/>
                    </a:lnB>
                    <a:lnT>
                      <a:noFill/>
                    </a:lnT>
                    <a:lnR>
                      <a:noFill/>
                    </a:lnR>
                    <a:lnL>
                      <a:noFill/>
                    </a:lnL>
                    <a:noFill/>
                  </a:tcPr>
                </a:tc>
              </a:tr>
            </a:tbl>
          </a:graphicData>
        </a:graphic>
      </p:graphicFrame>
      <p:sp>
        <p:nvSpPr>
          <p:cNvPr id="6" name="Rectangle 5"/>
          <p:cNvSpPr/>
          <p:nvPr/>
        </p:nvSpPr>
        <p:spPr>
          <a:xfrm>
            <a:off x="566928" y="6291072"/>
            <a:ext cx="2560320"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354572"/>
            <a:ext cx="9960559" cy="365760"/>
          </a:xfrm>
          <a:prstGeom prst="rect">
            <a:avLst/>
          </a:prstGeom>
          <a:noFill/>
        </p:spPr>
        <p:txBody>
          <a:bodyPr wrap="square" lIns="0" rIns="0" tIns="0" bIns="0">
            <a:spAutoFit/>
          </a:bodyPr>
          <a:lstStyle/>
          <a:p>
            <a:r>
              <a:rPr sz="1100">
                <a:solidFill>
                  <a:srgbClr val="676363"/>
                </a:solidFill>
                <a:latin typeface="Helvetica Neue"/>
                <a:ea typeface="Hiragino Sans"/>
                <a:cs typeface="Hiragino Sans"/>
              </a:rPr>
              <a:t>出典: 論文 表1（全国集計）。太陽光 17,527 箇所のほぼ全てが容量未記録。</a:t>
            </a:r>
          </a:p>
        </p:txBody>
      </p:sp>
      <p:sp>
        <p:nvSpPr>
          <p:cNvPr id="8" name="TextBox 7"/>
          <p:cNvSpPr txBox="1"/>
          <p:nvPr/>
        </p:nvSpPr>
        <p:spPr>
          <a:xfrm>
            <a:off x="10161727" y="91440"/>
            <a:ext cx="1463040" cy="201168"/>
          </a:xfrm>
          <a:prstGeom prst="rect">
            <a:avLst/>
          </a:prstGeom>
          <a:noFill/>
        </p:spPr>
        <p:txBody>
          <a:bodyPr wrap="none" lIns="0" rIns="0" tIns="0" bIns="0">
            <a:noAutofit/>
          </a:bodyPr>
          <a:lstStyle/>
          <a:p>
            <a:pPr algn="r">
              <a:defRPr sz="1100">
                <a:solidFill>
                  <a:srgbClr val="676363"/>
                </a:solidFill>
                <a:latin typeface="Helvetica Neue"/>
                <a:ea typeface="Hiragino Sans"/>
                <a:cs typeface="Hiragino Sans"/>
              </a:defRPr>
            </a:pPr>
            <a:r>
              <a:rPr>
                <a:ea typeface="Hiragino Sans"/>
                <a:cs typeface="Hiragino Sans"/>
              </a:rPr>
              <a:t>4／24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000" b="1">
                <a:solidFill>
                  <a:srgbClr val="404040"/>
                </a:solidFill>
                <a:latin typeface="Helvetica Neue"/>
                <a:ea typeface="Hiragino Sans"/>
                <a:cs typeface="Hiragino Sans"/>
              </a:defRPr>
            </a:pPr>
            <a:r>
              <a:rPr>
                <a:ea typeface="Hiragino Sans"/>
                <a:cs typeface="Hiragino Sans"/>
              </a:rPr>
              <a:t>生データは、そのままでは1行も計算できない</a:t>
            </a:r>
          </a:p>
        </p:txBody>
      </p:sp>
      <p:sp>
        <p:nvSpPr>
          <p:cNvPr id="3" name="Rectangle 2"/>
          <p:cNvSpPr/>
          <p:nvPr/>
        </p:nvSpPr>
        <p:spPr>
          <a:xfrm>
            <a:off x="566928" y="1152144"/>
            <a:ext cx="11057839"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353312"/>
            <a:ext cx="11057839" cy="254000"/>
          </a:xfrm>
          <a:prstGeom prst="rect">
            <a:avLst/>
          </a:prstGeom>
          <a:noFill/>
        </p:spPr>
        <p:txBody>
          <a:bodyPr wrap="none" lIns="0" rIns="0" tIns="0" bIns="0">
            <a:noAutofit/>
          </a:bodyPr>
          <a:lstStyle/>
          <a:p>
            <a:r>
              <a:rPr sz="1600" b="1">
                <a:solidFill>
                  <a:srgbClr val="0D558E"/>
                </a:solidFill>
                <a:latin typeface="Helvetica Neue"/>
                <a:ea typeface="Hiragino Sans"/>
                <a:cs typeface="Hiragino Sans"/>
              </a:rPr>
              <a:t>電圧タグ｜約 30% が不正値</a:t>
            </a:r>
          </a:p>
        </p:txBody>
      </p:sp>
      <p:sp>
        <p:nvSpPr>
          <p:cNvPr id="5" name="TextBox 4"/>
          <p:cNvSpPr txBox="1"/>
          <p:nvPr/>
        </p:nvSpPr>
        <p:spPr>
          <a:xfrm>
            <a:off x="822960" y="1645412"/>
            <a:ext cx="10801807" cy="695325"/>
          </a:xfrm>
          <a:prstGeom prst="rect">
            <a:avLst/>
          </a:prstGeom>
          <a:noFill/>
        </p:spPr>
        <p:txBody>
          <a:bodyPr wrap="square" lIns="0" rIns="0" tIns="0" bIns="0">
            <a:noAutofit/>
          </a:bodyPr>
          <a:lstStyle/>
          <a:p>
            <a:pPr>
              <a:lnSpc>
                <a:spcPct val="130000"/>
              </a:lnSpc>
            </a:pPr>
            <a:r>
              <a:rPr sz="1500">
                <a:solidFill>
                  <a:srgbClr val="0D558E"/>
                </a:solidFill>
                <a:latin typeface="SF Mono"/>
                <a:ea typeface="Hiragino Sans"/>
                <a:cs typeface="Hiragino Sans"/>
              </a:rPr>
              <a:t>voltage=0</a:t>
            </a:r>
            <a:r>
              <a:rPr sz="1500">
                <a:solidFill>
                  <a:srgbClr val="404040"/>
                </a:solidFill>
                <a:latin typeface="Helvetica Neue"/>
                <a:ea typeface="Hiragino Sans"/>
                <a:cs typeface="Hiragino Sans"/>
              </a:rPr>
              <a:t>・空文字・</a:t>
            </a:r>
            <a:r>
              <a:rPr sz="1500" b="1">
                <a:solidFill>
                  <a:srgbClr val="404040"/>
                </a:solidFill>
                <a:latin typeface="Helvetica Neue"/>
                <a:ea typeface="Hiragino Sans"/>
                <a:cs typeface="Hiragino Sans"/>
              </a:rPr>
              <a:t>単位系混在（V と kV）</a:t>
            </a:r>
            <a:r>
              <a:rPr sz="1500">
                <a:solidFill>
                  <a:srgbClr val="404040"/>
                </a:solidFill>
                <a:latin typeface="Helvetica Neue"/>
                <a:ea typeface="Hiragino Sans"/>
                <a:cs typeface="Hiragino Sans"/>
              </a:rPr>
              <a:t> が全線路の約30%。まず日本の標準電圧（66/110/154/275/500 kV）へスナップして初めて「電圧クラス」という概念が使える。</a:t>
            </a:r>
          </a:p>
        </p:txBody>
      </p:sp>
      <p:sp>
        <p:nvSpPr>
          <p:cNvPr id="6" name="Rectangle 5"/>
          <p:cNvSpPr/>
          <p:nvPr/>
        </p:nvSpPr>
        <p:spPr>
          <a:xfrm>
            <a:off x="566928" y="2492629"/>
            <a:ext cx="11057839"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2669921"/>
            <a:ext cx="11057839" cy="254000"/>
          </a:xfrm>
          <a:prstGeom prst="rect">
            <a:avLst/>
          </a:prstGeom>
          <a:noFill/>
        </p:spPr>
        <p:txBody>
          <a:bodyPr wrap="none" lIns="0" rIns="0" tIns="0" bIns="0">
            <a:noAutofit/>
          </a:bodyPr>
          <a:lstStyle/>
          <a:p>
            <a:r>
              <a:rPr sz="1600" b="1">
                <a:solidFill>
                  <a:srgbClr val="0D558E"/>
                </a:solidFill>
                <a:latin typeface="Helvetica Neue"/>
                <a:ea typeface="Hiragino Sans"/>
                <a:cs typeface="Hiragino Sans"/>
              </a:rPr>
              <a:t>属性欠損｜107,383 件</a:t>
            </a:r>
          </a:p>
        </p:txBody>
      </p:sp>
      <p:sp>
        <p:nvSpPr>
          <p:cNvPr id="8" name="TextBox 7"/>
          <p:cNvSpPr txBox="1"/>
          <p:nvPr/>
        </p:nvSpPr>
        <p:spPr>
          <a:xfrm>
            <a:off x="822960" y="2962021"/>
            <a:ext cx="10801807" cy="695325"/>
          </a:xfrm>
          <a:prstGeom prst="rect">
            <a:avLst/>
          </a:prstGeom>
          <a:noFill/>
        </p:spPr>
        <p:txBody>
          <a:bodyPr wrap="square" lIns="0" rIns="0" tIns="0" bIns="0">
            <a:noAutofit/>
          </a:bodyPr>
          <a:lstStyle/>
          <a:p>
            <a:pPr>
              <a:lnSpc>
                <a:spcPct val="130000"/>
              </a:lnSpc>
            </a:pPr>
            <a:r>
              <a:rPr sz="1500">
                <a:solidFill>
                  <a:srgbClr val="404040"/>
                </a:solidFill>
                <a:latin typeface="Helvetica Neue"/>
                <a:ea typeface="Hiragino Sans"/>
                <a:cs typeface="Hiragino Sans"/>
              </a:rPr>
              <a:t>名称欠損 49,384・事業者欠損 41,563・燃料種未知 334。7段階の補完で </a:t>
            </a:r>
            <a:r>
              <a:rPr sz="1500" b="1">
                <a:solidFill>
                  <a:srgbClr val="404040"/>
                </a:solidFill>
                <a:latin typeface="Helvetica Neue"/>
                <a:ea typeface="Hiragino Sans"/>
                <a:cs typeface="Hiragino Sans"/>
              </a:rPr>
              <a:t>93,297 件（87%）</a:t>
            </a:r>
            <a:r>
              <a:rPr sz="1500">
                <a:solidFill>
                  <a:srgbClr val="404040"/>
                </a:solidFill>
                <a:latin typeface="Helvetica Neue"/>
                <a:ea typeface="Hiragino Sans"/>
                <a:cs typeface="Hiragino Sans"/>
              </a:rPr>
              <a:t> を埋めた。補完の由来は </a:t>
            </a:r>
            <a:r>
              <a:rPr sz="1500">
                <a:solidFill>
                  <a:srgbClr val="0D558E"/>
                </a:solidFill>
                <a:latin typeface="SF Mono"/>
                <a:ea typeface="Hiragino Sans"/>
                <a:cs typeface="Hiragino Sans"/>
              </a:rPr>
              <a:t>_enriched_by:"p03_match"</a:t>
            </a:r>
            <a:r>
              <a:rPr sz="1500">
                <a:solidFill>
                  <a:srgbClr val="404040"/>
                </a:solidFill>
                <a:latin typeface="Helvetica Neue"/>
                <a:ea typeface="Hiragino Sans"/>
                <a:cs typeface="Hiragino Sans"/>
              </a:rPr>
              <a:t> のように</a:t>
            </a:r>
            <a:r>
              <a:rPr sz="1500" b="1">
                <a:solidFill>
                  <a:srgbClr val="404040"/>
                </a:solidFill>
                <a:latin typeface="Helvetica Neue"/>
                <a:ea typeface="Hiragino Sans"/>
                <a:cs typeface="Hiragino Sans"/>
              </a:rPr>
              <a:t>1件ずつタグで残す</a:t>
            </a:r>
            <a:r>
              <a:rPr sz="1500">
                <a:solidFill>
                  <a:srgbClr val="404040"/>
                </a:solidFill>
                <a:latin typeface="Helvetica Neue"/>
                <a:ea typeface="Hiragino Sans"/>
                <a:cs typeface="Hiragino Sans"/>
              </a:rPr>
              <a:t>。</a:t>
            </a:r>
          </a:p>
        </p:txBody>
      </p:sp>
      <p:sp>
        <p:nvSpPr>
          <p:cNvPr id="9" name="Rectangle 8"/>
          <p:cNvSpPr/>
          <p:nvPr/>
        </p:nvSpPr>
        <p:spPr>
          <a:xfrm>
            <a:off x="566928" y="3809238"/>
            <a:ext cx="11057839"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3986530"/>
            <a:ext cx="11057839" cy="254000"/>
          </a:xfrm>
          <a:prstGeom prst="rect">
            <a:avLst/>
          </a:prstGeom>
          <a:noFill/>
        </p:spPr>
        <p:txBody>
          <a:bodyPr wrap="none" lIns="0" rIns="0" tIns="0" bIns="0">
            <a:noAutofit/>
          </a:bodyPr>
          <a:lstStyle/>
          <a:p>
            <a:r>
              <a:rPr sz="1600" b="1">
                <a:solidFill>
                  <a:srgbClr val="0D558E"/>
                </a:solidFill>
                <a:latin typeface="Helvetica Neue"/>
                <a:ea typeface="Hiragino Sans"/>
                <a:cs typeface="Hiragino Sans"/>
              </a:rPr>
              <a:t>接続情報｜そもそも存在しない</a:t>
            </a:r>
          </a:p>
        </p:txBody>
      </p:sp>
      <p:sp>
        <p:nvSpPr>
          <p:cNvPr id="11" name="TextBox 10"/>
          <p:cNvSpPr txBox="1"/>
          <p:nvPr/>
        </p:nvSpPr>
        <p:spPr>
          <a:xfrm>
            <a:off x="822960" y="4278630"/>
            <a:ext cx="10801807" cy="695325"/>
          </a:xfrm>
          <a:prstGeom prst="rect">
            <a:avLst/>
          </a:prstGeom>
          <a:noFill/>
        </p:spPr>
        <p:txBody>
          <a:bodyPr wrap="square" lIns="0" rIns="0" tIns="0" bIns="0">
            <a:noAutofit/>
          </a:bodyPr>
          <a:lstStyle/>
          <a:p>
            <a:pPr>
              <a:lnSpc>
                <a:spcPct val="130000"/>
              </a:lnSpc>
            </a:pPr>
            <a:r>
              <a:rPr sz="1500">
                <a:solidFill>
                  <a:srgbClr val="404040"/>
                </a:solidFill>
                <a:latin typeface="Helvetica Neue"/>
                <a:ea typeface="Hiragino Sans"/>
                <a:cs typeface="Hiragino Sans"/>
              </a:rPr>
              <a:t>OSM の送電線は </a:t>
            </a:r>
            <a:r>
              <a:rPr sz="1500">
                <a:solidFill>
                  <a:srgbClr val="404040"/>
                </a:solidFill>
                <a:highlight>
                  <a:srgbClr val="F8E0A6"/>
                </a:highlight>
                <a:latin typeface="Helvetica Neue"/>
                <a:ea typeface="Hiragino Sans"/>
                <a:cs typeface="Hiragino Sans"/>
              </a:rPr>
              <a:t>座標点列だけ</a:t>
            </a:r>
            <a:r>
              <a:rPr sz="1500">
                <a:solidFill>
                  <a:srgbClr val="404040"/>
                </a:solidFill>
                <a:latin typeface="Helvetica Neue"/>
                <a:ea typeface="Hiragino Sans"/>
                <a:cs typeface="Hiragino Sans"/>
              </a:rPr>
              <a:t> を持つ。「この線がどのバスに繋がるか」は</a:t>
            </a:r>
            <a:r>
              <a:rPr sz="1500" b="1">
                <a:solidFill>
                  <a:srgbClr val="404040"/>
                </a:solidFill>
                <a:latin typeface="Helvetica Neue"/>
                <a:ea typeface="Hiragino Sans"/>
                <a:cs typeface="Hiragino Sans"/>
              </a:rPr>
              <a:t>どこにも書かれていない</a:t>
            </a:r>
            <a:r>
              <a:rPr sz="1500">
                <a:solidFill>
                  <a:srgbClr val="404040"/>
                </a:solidFill>
                <a:latin typeface="Helvetica Neue"/>
                <a:ea typeface="Hiragino Sans"/>
                <a:cs typeface="Hiragino Sans"/>
              </a:rPr>
              <a:t>。ここを決めるのが本発表の主題。</a:t>
            </a:r>
          </a:p>
        </p:txBody>
      </p:sp>
      <p:sp>
        <p:nvSpPr>
          <p:cNvPr id="12" name="TextBox 11"/>
          <p:cNvSpPr txBox="1"/>
          <p:nvPr/>
        </p:nvSpPr>
        <p:spPr>
          <a:xfrm>
            <a:off x="10161727" y="91440"/>
            <a:ext cx="1463040" cy="201168"/>
          </a:xfrm>
          <a:prstGeom prst="rect">
            <a:avLst/>
          </a:prstGeom>
          <a:noFill/>
        </p:spPr>
        <p:txBody>
          <a:bodyPr wrap="none" lIns="0" rIns="0" tIns="0" bIns="0">
            <a:noAutofit/>
          </a:bodyPr>
          <a:lstStyle/>
          <a:p>
            <a:pPr algn="r">
              <a:defRPr sz="1100">
                <a:solidFill>
                  <a:srgbClr val="676363"/>
                </a:solidFill>
                <a:latin typeface="Helvetica Neue"/>
                <a:ea typeface="Hiragino Sans"/>
                <a:cs typeface="Hiragino Sans"/>
              </a:defRPr>
            </a:pPr>
            <a:r>
              <a:rPr>
                <a:ea typeface="Hiragino Sans"/>
                <a:cs typeface="Hiragino Sans"/>
              </a:rPr>
              <a:t>5／24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38647" y="2299208"/>
            <a:ext cx="914400" cy="31750"/>
          </a:xfrm>
          <a:prstGeom prst="rect">
            <a:avLst/>
          </a:prstGeom>
          <a:solidFill>
            <a:srgbClr val="DD5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555240"/>
            <a:ext cx="9997135" cy="1838960"/>
          </a:xfrm>
          <a:prstGeom prst="rect">
            <a:avLst/>
          </a:prstGeom>
          <a:noFill/>
        </p:spPr>
        <p:txBody>
          <a:bodyPr wrap="square" lIns="0" rIns="0" tIns="0" bIns="0">
            <a:noAutofit/>
          </a:bodyPr>
          <a:lstStyle/>
          <a:p>
            <a:pPr algn="ctr">
              <a:lnSpc>
                <a:spcPct val="106000"/>
              </a:lnSpc>
            </a:pPr>
            <a:r>
              <a:rPr sz="4400" b="1">
                <a:solidFill>
                  <a:srgbClr val="404040"/>
                </a:solidFill>
                <a:latin typeface="Helvetica Neue"/>
                <a:ea typeface="Hiragino Sans"/>
                <a:cs typeface="Hiragino Sans"/>
              </a:rPr>
              <a:t>本題はここから。 点と線を、どうやって結ぶのか。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000" b="1">
                <a:solidFill>
                  <a:srgbClr val="404040"/>
                </a:solidFill>
                <a:latin typeface="Helvetica Neue"/>
                <a:ea typeface="Hiragino Sans"/>
                <a:cs typeface="Hiragino Sans"/>
              </a:defRPr>
            </a:pPr>
            <a:r>
              <a:rPr>
                <a:ea typeface="Hiragino Sans"/>
                <a:cs typeface="Hiragino Sans"/>
              </a:rPr>
              <a:t>論文どおりの方法を、そのまま追試してみる</a:t>
            </a:r>
          </a:p>
        </p:txBody>
      </p:sp>
      <p:sp>
        <p:nvSpPr>
          <p:cNvPr id="3" name="Rectangle 2"/>
          <p:cNvSpPr/>
          <p:nvPr/>
        </p:nvSpPr>
        <p:spPr>
          <a:xfrm>
            <a:off x="566928" y="1152144"/>
            <a:ext cx="11057839"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naive_drop_tokyo.png"/>
          <p:cNvPicPr>
            <a:picLocks noChangeAspect="1"/>
          </p:cNvPicPr>
          <p:nvPr/>
        </p:nvPicPr>
        <p:blipFill>
          <a:blip r:embed="rId2"/>
          <a:stretch>
            <a:fillRect/>
          </a:stretch>
        </p:blipFill>
        <p:spPr>
          <a:xfrm>
            <a:off x="1182688" y="1421892"/>
            <a:ext cx="9826319" cy="3959860"/>
          </a:xfrm>
          <a:prstGeom prst="rect">
            <a:avLst/>
          </a:prstGeom>
        </p:spPr>
      </p:pic>
      <p:sp>
        <p:nvSpPr>
          <p:cNvPr id="5" name="TextBox 4"/>
          <p:cNvSpPr txBox="1"/>
          <p:nvPr/>
        </p:nvSpPr>
        <p:spPr>
          <a:xfrm>
            <a:off x="566928" y="5518912"/>
            <a:ext cx="11057839" cy="520700"/>
          </a:xfrm>
          <a:prstGeom prst="rect">
            <a:avLst/>
          </a:prstGeom>
          <a:noFill/>
        </p:spPr>
        <p:txBody>
          <a:bodyPr wrap="square" lIns="0" rIns="0" tIns="0" bIns="0">
            <a:noAutofit/>
          </a:bodyPr>
          <a:lstStyle/>
          <a:p>
            <a:pPr algn="ctr"/>
            <a:r>
              <a:rPr sz="1400">
                <a:solidFill>
                  <a:srgbClr val="676363"/>
                </a:solidFill>
                <a:latin typeface="Helvetica Neue"/>
                <a:ea typeface="Hiragino Sans"/>
                <a:cs typeface="Hiragino Sans"/>
              </a:rPr>
              <a:t>図 1｜棄却されるのは </a:t>
            </a:r>
            <a:r>
              <a:rPr sz="1400" b="1">
                <a:solidFill>
                  <a:srgbClr val="676363"/>
                </a:solidFill>
                <a:latin typeface="Helvetica Neue"/>
                <a:ea typeface="Hiragino Sans"/>
                <a:cs typeface="Hiragino Sans"/>
              </a:rPr>
              <a:t>本数で 78%</a:t>
            </a:r>
            <a:r>
              <a:rPr sz="1400">
                <a:solidFill>
                  <a:srgbClr val="676363"/>
                </a:solidFill>
                <a:latin typeface="Helvetica Neue"/>
                <a:ea typeface="Hiragino Sans"/>
                <a:cs typeface="Hiragino Sans"/>
              </a:rPr>
              <a:t>（6,503 本）だが </a:t>
            </a:r>
            <a:r>
              <a:rPr sz="1400" b="1">
                <a:solidFill>
                  <a:srgbClr val="676363"/>
                </a:solidFill>
                <a:latin typeface="Helvetica Neue"/>
                <a:ea typeface="Hiragino Sans"/>
                <a:cs typeface="Hiragino Sans"/>
              </a:rPr>
              <a:t>総延長では 16.3%</a:t>
            </a:r>
            <a:r>
              <a:rPr sz="1400">
                <a:solidFill>
                  <a:srgbClr val="676363"/>
                </a:solidFill>
                <a:latin typeface="Helvetica Neue"/>
                <a:ea typeface="Hiragino Sans"/>
                <a:cs typeface="Hiragino Sans"/>
              </a:rPr>
              <a:t> — 捨てられるのは中央値 46 m の短い枝。それでも変電所 1,783 箇所は 522 個の断片に割れ、</a:t>
            </a:r>
            <a:r>
              <a:rPr sz="1400" b="1">
                <a:solidFill>
                  <a:srgbClr val="676363"/>
                </a:solidFill>
                <a:latin typeface="Helvetica Neue"/>
                <a:ea typeface="Hiragino Sans"/>
                <a:cs typeface="Hiragino Sans"/>
              </a:rPr>
              <a:t>27% が孤立</a:t>
            </a:r>
            <a:r>
              <a:rPr sz="1400">
                <a:solidFill>
                  <a:srgbClr val="676363"/>
                </a:solidFill>
                <a:latin typeface="Helvetica Neue"/>
                <a:ea typeface="Hiragino Sans"/>
                <a:cs typeface="Hiragino Sans"/>
              </a:rPr>
              <a:t>する。</a:t>
            </a:r>
          </a:p>
        </p:txBody>
      </p:sp>
      <p:sp>
        <p:nvSpPr>
          <p:cNvPr id="6" name="TextBox 5"/>
          <p:cNvSpPr txBox="1"/>
          <p:nvPr/>
        </p:nvSpPr>
        <p:spPr>
          <a:xfrm>
            <a:off x="10161727" y="91440"/>
            <a:ext cx="1463040" cy="201168"/>
          </a:xfrm>
          <a:prstGeom prst="rect">
            <a:avLst/>
          </a:prstGeom>
          <a:noFill/>
        </p:spPr>
        <p:txBody>
          <a:bodyPr wrap="none" lIns="0" rIns="0" tIns="0" bIns="0">
            <a:noAutofit/>
          </a:bodyPr>
          <a:lstStyle/>
          <a:p>
            <a:pPr algn="r">
              <a:defRPr sz="1100">
                <a:solidFill>
                  <a:srgbClr val="676363"/>
                </a:solidFill>
                <a:latin typeface="Helvetica Neue"/>
                <a:ea typeface="Hiragino Sans"/>
                <a:cs typeface="Hiragino Sans"/>
              </a:defRPr>
            </a:pPr>
            <a:r>
              <a:rPr>
                <a:ea typeface="Hiragino Sans"/>
                <a:cs typeface="Hiragino Sans"/>
              </a:rPr>
              <a:t>7／24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000" b="1">
                <a:solidFill>
                  <a:srgbClr val="404040"/>
                </a:solidFill>
                <a:latin typeface="Helvetica Neue"/>
                <a:ea typeface="Hiragino Sans"/>
                <a:cs typeface="Hiragino Sans"/>
              </a:defRPr>
            </a:pPr>
            <a:r>
              <a:rPr>
                <a:ea typeface="Hiragino Sans"/>
                <a:cs typeface="Hiragino Sans"/>
              </a:rPr>
              <a:t>閾値は、この分布のどこを切るか</a:t>
            </a:r>
          </a:p>
        </p:txBody>
      </p:sp>
      <p:sp>
        <p:nvSpPr>
          <p:cNvPr id="3" name="Rectangle 2"/>
          <p:cNvSpPr/>
          <p:nvPr/>
        </p:nvSpPr>
        <p:spPr>
          <a:xfrm>
            <a:off x="566928" y="1152144"/>
            <a:ext cx="11057839"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_nn_thresholds.png"/>
          <p:cNvPicPr>
            <a:picLocks noChangeAspect="1"/>
          </p:cNvPicPr>
          <p:nvPr/>
        </p:nvPicPr>
        <p:blipFill>
          <a:blip r:embed="rId2"/>
          <a:stretch>
            <a:fillRect/>
          </a:stretch>
        </p:blipFill>
        <p:spPr>
          <a:xfrm>
            <a:off x="1119820" y="1475618"/>
            <a:ext cx="9952055" cy="3852408"/>
          </a:xfrm>
          <a:prstGeom prst="rect">
            <a:avLst/>
          </a:prstGeom>
        </p:spPr>
      </p:pic>
      <p:sp>
        <p:nvSpPr>
          <p:cNvPr id="5" name="TextBox 4"/>
          <p:cNvSpPr txBox="1"/>
          <p:nvPr/>
        </p:nvSpPr>
        <p:spPr>
          <a:xfrm>
            <a:off x="566928" y="5465186"/>
            <a:ext cx="11057839" cy="520700"/>
          </a:xfrm>
          <a:prstGeom prst="rect">
            <a:avLst/>
          </a:prstGeom>
          <a:noFill/>
        </p:spPr>
        <p:txBody>
          <a:bodyPr wrap="square" lIns="0" rIns="0" tIns="0" bIns="0">
            <a:noAutofit/>
          </a:bodyPr>
          <a:lstStyle/>
          <a:p>
            <a:pPr algn="ctr"/>
            <a:r>
              <a:rPr sz="1400">
                <a:solidFill>
                  <a:srgbClr val="676363"/>
                </a:solidFill>
                <a:latin typeface="Helvetica Neue"/>
                <a:ea typeface="Hiragino Sans"/>
                <a:cs typeface="Hiragino Sans"/>
              </a:rPr>
              <a:t>図 2｜最近傍距離（対数軸・n=17,738）。</a:t>
            </a:r>
            <a:r>
              <a:rPr sz="1400" b="1">
                <a:solidFill>
                  <a:srgbClr val="676363"/>
                </a:solidFill>
                <a:latin typeface="Helvetica Neue"/>
                <a:ea typeface="Hiragino Sans"/>
                <a:cs typeface="Hiragino Sans"/>
              </a:rPr>
              <a:t>44% は完全に同一座標</a:t>
            </a:r>
            <a:r>
              <a:rPr sz="1400">
                <a:solidFill>
                  <a:srgbClr val="676363"/>
                </a:solidFill>
                <a:latin typeface="Helvetica Neue"/>
                <a:ea typeface="Hiragino Sans"/>
                <a:cs typeface="Hiragino Sans"/>
              </a:rPr>
              <a:t>。山は 600 m〜1.5 km にあり、</a:t>
            </a:r>
            <a:r>
              <a:rPr sz="1400">
                <a:solidFill>
                  <a:srgbClr val="676363"/>
                </a:solidFill>
                <a:highlight>
                  <a:srgbClr val="F8E0A6"/>
                </a:highlight>
                <a:latin typeface="Helvetica Neue"/>
                <a:ea typeface="Hiragino Sans"/>
                <a:cs typeface="Hiragino Sans"/>
              </a:rPr>
              <a:t>閾値は谷ではなく山の中を通っている</a:t>
            </a:r>
            <a:r>
              <a:rPr sz="1400">
                <a:solidFill>
                  <a:srgbClr val="676363"/>
                </a:solidFill>
                <a:latin typeface="Helvetica Neue"/>
                <a:ea typeface="Hiragino Sans"/>
                <a:cs typeface="Hiragino Sans"/>
              </a:rPr>
              <a:t> — だから「半径いくつ」ではなく幾何そのものを根拠にする必要があった。</a:t>
            </a:r>
          </a:p>
        </p:txBody>
      </p:sp>
      <p:sp>
        <p:nvSpPr>
          <p:cNvPr id="6" name="TextBox 5"/>
          <p:cNvSpPr txBox="1"/>
          <p:nvPr/>
        </p:nvSpPr>
        <p:spPr>
          <a:xfrm>
            <a:off x="10161727" y="91440"/>
            <a:ext cx="1463040" cy="201168"/>
          </a:xfrm>
          <a:prstGeom prst="rect">
            <a:avLst/>
          </a:prstGeom>
          <a:noFill/>
        </p:spPr>
        <p:txBody>
          <a:bodyPr wrap="none" lIns="0" rIns="0" tIns="0" bIns="0">
            <a:noAutofit/>
          </a:bodyPr>
          <a:lstStyle/>
          <a:p>
            <a:pPr algn="r">
              <a:defRPr sz="1100">
                <a:solidFill>
                  <a:srgbClr val="676363"/>
                </a:solidFill>
                <a:latin typeface="Helvetica Neue"/>
                <a:ea typeface="Hiragino Sans"/>
                <a:cs typeface="Hiragino Sans"/>
              </a:defRPr>
            </a:pPr>
            <a:r>
              <a:rPr>
                <a:ea typeface="Hiragino Sans"/>
                <a:cs typeface="Hiragino Sans"/>
              </a:rPr>
              <a:t>8／24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000" b="1">
                <a:solidFill>
                  <a:srgbClr val="404040"/>
                </a:solidFill>
                <a:latin typeface="Helvetica Neue"/>
                <a:ea typeface="Hiragino Sans"/>
                <a:cs typeface="Hiragino Sans"/>
              </a:defRPr>
            </a:pPr>
            <a:r>
              <a:rPr>
                <a:ea typeface="Hiragino Sans"/>
                <a:cs typeface="Hiragino Sans"/>
              </a:rPr>
              <a:t>頂点グラフ ＋ 許容スナップ</a:t>
            </a:r>
          </a:p>
        </p:txBody>
      </p:sp>
      <p:sp>
        <p:nvSpPr>
          <p:cNvPr id="3" name="Rectangle 2"/>
          <p:cNvSpPr/>
          <p:nvPr/>
        </p:nvSpPr>
        <p:spPr>
          <a:xfrm>
            <a:off x="566928" y="1152144"/>
            <a:ext cx="11057839"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188720"/>
            <a:ext cx="11057839" cy="254000"/>
          </a:xfrm>
          <a:prstGeom prst="rect">
            <a:avLst/>
          </a:prstGeom>
          <a:noFill/>
        </p:spPr>
        <p:txBody>
          <a:bodyPr wrap="none" lIns="0" rIns="0" tIns="0" bIns="0">
            <a:noAutofit/>
          </a:bodyPr>
          <a:lstStyle/>
          <a:p>
            <a:r>
              <a:rPr sz="1600" b="1">
                <a:solidFill>
                  <a:srgbClr val="0D558E"/>
                </a:solidFill>
                <a:latin typeface="Helvetica Neue"/>
                <a:ea typeface="Hiragino Sans"/>
                <a:cs typeface="Hiragino Sans"/>
              </a:rPr>
              <a:t>捨てずに繋ぐ｜線の形そのものを土台にする</a:t>
            </a:r>
          </a:p>
        </p:txBody>
      </p:sp>
      <p:cxnSp>
        <p:nvCxnSpPr>
          <p:cNvPr id="5" name="Connector 4"/>
          <p:cNvCxnSpPr/>
          <p:nvPr/>
        </p:nvCxnSpPr>
        <p:spPr>
          <a:xfrm>
            <a:off x="2071679" y="3895852"/>
            <a:ext cx="432809" cy="0"/>
          </a:xfrm>
          <a:prstGeom prst="line">
            <a:avLst/>
          </a:prstGeom>
          <a:ln w="19050">
            <a:solidFill>
              <a:srgbClr val="0D558E"/>
            </a:solidFill>
            <a:tailEnd type="stealth" w="med" len="med"/>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471715" y="3895852"/>
            <a:ext cx="432809" cy="0"/>
          </a:xfrm>
          <a:prstGeom prst="line">
            <a:avLst/>
          </a:prstGeom>
          <a:ln w="19050">
            <a:solidFill>
              <a:srgbClr val="0D558E"/>
            </a:solidFill>
            <a:tailEnd type="stealth" w="med" len="med"/>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912141" y="3895852"/>
            <a:ext cx="432809" cy="0"/>
          </a:xfrm>
          <a:prstGeom prst="line">
            <a:avLst/>
          </a:prstGeom>
          <a:ln w="19050">
            <a:solidFill>
              <a:srgbClr val="0D558E"/>
            </a:solidFill>
            <a:tailEnd type="stealth" w="med" len="med"/>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9027908" y="3895851"/>
            <a:ext cx="432809" cy="1"/>
          </a:xfrm>
          <a:prstGeom prst="line">
            <a:avLst/>
          </a:prstGeom>
          <a:ln w="19050">
            <a:solidFill>
              <a:srgbClr val="0D558E"/>
            </a:solidFill>
            <a:tailEnd type="stealth" w="med" len="med"/>
          </a:ln>
          <a:effectLst/>
        </p:spPr>
        <p:style>
          <a:lnRef idx="2">
            <a:schemeClr val="accent1"/>
          </a:lnRef>
          <a:fillRef idx="0">
            <a:schemeClr val="accent1"/>
          </a:fillRef>
          <a:effectRef idx="1">
            <a:schemeClr val="accent1"/>
          </a:effectRef>
          <a:fontRef idx="minor">
            <a:schemeClr val="tx1"/>
          </a:fontRef>
        </p:style>
      </p:cxnSp>
      <p:sp>
        <p:nvSpPr>
          <p:cNvPr id="9" name="flow:node"/>
          <p:cNvSpPr/>
          <p:nvPr/>
        </p:nvSpPr>
        <p:spPr>
          <a:xfrm>
            <a:off x="566930" y="3467227"/>
            <a:ext cx="1504749" cy="857250"/>
          </a:xfrm>
          <a:prstGeom prst="roundRect">
            <a:avLst>
              <a:gd name="adj" fmla="val 3500"/>
            </a:avLst>
          </a:prstGeom>
          <a:solidFill>
            <a:srgbClr val="F2F2F2"/>
          </a:solidFill>
          <a:ln w="1397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50800" bIns="50800"/>
          <a:lstStyle/>
          <a:p>
            <a:pPr algn="ctr"/>
            <a:r>
              <a:rPr sz="1500" b="1">
                <a:solidFill>
                  <a:srgbClr val="404040"/>
                </a:solidFill>
                <a:latin typeface="Helvetica Neue"/>
                <a:ea typeface="Hiragino Sans"/>
                <a:cs typeface="Hiragino Sans"/>
              </a:rPr>
              <a:t>全頂点をノード化</a:t>
            </a:r>
          </a:p>
          <a:p>
            <a:pPr algn="ctr"/>
            <a:r>
              <a:rPr sz="1100">
                <a:solidFill>
                  <a:srgbClr val="676363"/>
                </a:solidFill>
                <a:latin typeface="Helvetica Neue"/>
                <a:ea typeface="Hiragino Sans"/>
                <a:cs typeface="Hiragino Sans"/>
              </a:rPr>
              <a:t>連続頂点を辺に</a:t>
            </a:r>
          </a:p>
        </p:txBody>
      </p:sp>
      <p:sp>
        <p:nvSpPr>
          <p:cNvPr id="10" name="flow:node"/>
          <p:cNvSpPr/>
          <p:nvPr/>
        </p:nvSpPr>
        <p:spPr>
          <a:xfrm>
            <a:off x="2504488" y="3467227"/>
            <a:ext cx="1967227" cy="857250"/>
          </a:xfrm>
          <a:prstGeom prst="roundRect">
            <a:avLst>
              <a:gd name="adj" fmla="val 3500"/>
            </a:avLst>
          </a:prstGeom>
          <a:solidFill>
            <a:srgbClr val="F2F2F2"/>
          </a:solidFill>
          <a:ln w="1397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50800" bIns="50800"/>
          <a:lstStyle/>
          <a:p>
            <a:pPr algn="ctr"/>
            <a:r>
              <a:rPr sz="1500" b="1">
                <a:solidFill>
                  <a:srgbClr val="404040"/>
                </a:solidFill>
                <a:latin typeface="Helvetica Neue"/>
                <a:ea typeface="Hiragino Sans"/>
                <a:cs typeface="Hiragino Sans"/>
              </a:rPr>
              <a:t>座標共有を接続とみなす</a:t>
            </a:r>
          </a:p>
          <a:p>
            <a:pPr algn="ctr"/>
            <a:r>
              <a:rPr sz="1100">
                <a:solidFill>
                  <a:srgbClr val="676363"/>
                </a:solidFill>
                <a:latin typeface="Helvetica Neue"/>
                <a:ea typeface="Hiragino Sans"/>
                <a:cs typeface="Hiragino Sans"/>
              </a:rPr>
              <a:t>4桁≒11 m</a:t>
            </a:r>
          </a:p>
        </p:txBody>
      </p:sp>
      <p:sp>
        <p:nvSpPr>
          <p:cNvPr id="11" name="flow:node"/>
          <p:cNvSpPr/>
          <p:nvPr/>
        </p:nvSpPr>
        <p:spPr>
          <a:xfrm>
            <a:off x="4904524" y="3467227"/>
            <a:ext cx="2007617" cy="857250"/>
          </a:xfrm>
          <a:prstGeom prst="roundRect">
            <a:avLst>
              <a:gd name="adj" fmla="val 3500"/>
            </a:avLst>
          </a:prstGeom>
          <a:solidFill>
            <a:srgbClr val="F9E5D8"/>
          </a:solidFill>
          <a:ln w="13970">
            <a:solidFill>
              <a:srgbClr val="DD5400"/>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50800" bIns="50800"/>
          <a:lstStyle/>
          <a:p>
            <a:pPr algn="ctr"/>
            <a:r>
              <a:rPr sz="1500" b="1">
                <a:solidFill>
                  <a:srgbClr val="404040"/>
                </a:solidFill>
                <a:latin typeface="Helvetica Neue"/>
                <a:ea typeface="Hiragino Sans"/>
                <a:cs typeface="Hiragino Sans"/>
              </a:rPr>
              <a:t>変電所に束ねる</a:t>
            </a:r>
          </a:p>
          <a:p>
            <a:pPr algn="ctr"/>
            <a:r>
              <a:rPr sz="1100">
                <a:solidFill>
                  <a:srgbClr val="676363"/>
                </a:solidFill>
                <a:latin typeface="Helvetica Neue"/>
                <a:ea typeface="Hiragino Sans"/>
                <a:cs typeface="Hiragino Sans"/>
              </a:rPr>
              <a:t>ポリゴン内 or 境界150 m</a:t>
            </a:r>
          </a:p>
        </p:txBody>
      </p:sp>
      <p:sp>
        <p:nvSpPr>
          <p:cNvPr id="12" name="flow:node"/>
          <p:cNvSpPr/>
          <p:nvPr/>
        </p:nvSpPr>
        <p:spPr>
          <a:xfrm>
            <a:off x="7344950" y="3467227"/>
            <a:ext cx="1682958" cy="857250"/>
          </a:xfrm>
          <a:prstGeom prst="roundRect">
            <a:avLst>
              <a:gd name="adj" fmla="val 3500"/>
            </a:avLst>
          </a:prstGeom>
          <a:solidFill>
            <a:srgbClr val="F2F2F2"/>
          </a:solidFill>
          <a:ln w="1397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50800" bIns="50800"/>
          <a:lstStyle/>
          <a:p>
            <a:pPr algn="ctr"/>
            <a:r>
              <a:rPr sz="1500" b="1">
                <a:solidFill>
                  <a:srgbClr val="404040"/>
                </a:solidFill>
                <a:latin typeface="Helvetica Neue"/>
                <a:ea typeface="Hiragino Sans"/>
                <a:cs typeface="Hiragino Sans"/>
              </a:rPr>
              <a:t>次数2の連鎖を縮約</a:t>
            </a:r>
          </a:p>
          <a:p>
            <a:pPr algn="ctr"/>
            <a:r>
              <a:rPr sz="1100">
                <a:solidFill>
                  <a:srgbClr val="676363"/>
                </a:solidFill>
                <a:latin typeface="Helvetica Neue"/>
                <a:ea typeface="Hiragino Sans"/>
                <a:cs typeface="Hiragino Sans"/>
              </a:rPr>
              <a:t>次数3以上=実タップ</a:t>
            </a:r>
          </a:p>
        </p:txBody>
      </p:sp>
      <p:sp>
        <p:nvSpPr>
          <p:cNvPr id="13" name="flow:node"/>
          <p:cNvSpPr/>
          <p:nvPr/>
        </p:nvSpPr>
        <p:spPr>
          <a:xfrm>
            <a:off x="9460717" y="3611689"/>
            <a:ext cx="2164047" cy="568325"/>
          </a:xfrm>
          <a:prstGeom prst="roundRect">
            <a:avLst>
              <a:gd name="adj" fmla="val 50000"/>
            </a:avLst>
          </a:prstGeom>
          <a:solidFill>
            <a:srgbClr val="EBEBEB"/>
          </a:solidFill>
          <a:ln w="1397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50800" bIns="50800"/>
          <a:lstStyle/>
          <a:p>
            <a:pPr algn="ctr"/>
            <a:r>
              <a:rPr sz="1500" b="1">
                <a:solidFill>
                  <a:srgbClr val="404040"/>
                </a:solidFill>
                <a:latin typeface="Helvetica Neue"/>
                <a:ea typeface="Hiragino Sans"/>
                <a:cs typeface="Hiragino Sans"/>
              </a:rPr>
              <a:t>合成バス＋実線路の枝</a:t>
            </a:r>
          </a:p>
        </p:txBody>
      </p:sp>
      <p:sp>
        <p:nvSpPr>
          <p:cNvPr id="14" name="TextBox 13"/>
          <p:cNvSpPr txBox="1"/>
          <p:nvPr/>
        </p:nvSpPr>
        <p:spPr>
          <a:xfrm>
            <a:off x="10161727" y="91440"/>
            <a:ext cx="1463040" cy="201168"/>
          </a:xfrm>
          <a:prstGeom prst="rect">
            <a:avLst/>
          </a:prstGeom>
          <a:noFill/>
        </p:spPr>
        <p:txBody>
          <a:bodyPr wrap="none" lIns="0" rIns="0" tIns="0" bIns="0">
            <a:noAutofit/>
          </a:bodyPr>
          <a:lstStyle/>
          <a:p>
            <a:pPr algn="r">
              <a:defRPr sz="1100">
                <a:solidFill>
                  <a:srgbClr val="676363"/>
                </a:solidFill>
                <a:latin typeface="Helvetica Neue"/>
                <a:ea typeface="Hiragino Sans"/>
                <a:cs typeface="Hiragino Sans"/>
              </a:defRPr>
            </a:pPr>
            <a:r>
              <a:rPr>
                <a:ea typeface="Hiragino Sans"/>
                <a:cs typeface="Hiragino Sans"/>
              </a:rPr>
              <a:t>9／24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000" b="1">
                <a:solidFill>
                  <a:srgbClr val="404040"/>
                </a:solidFill>
                <a:latin typeface="Helvetica Neue"/>
                <a:ea typeface="Hiragino Sans"/>
                <a:cs typeface="Hiragino Sans"/>
              </a:defRPr>
            </a:pPr>
            <a:r>
              <a:rPr>
                <a:ea typeface="Hiragino Sans"/>
                <a:cs typeface="Hiragino Sans"/>
              </a:rPr>
              <a:t>閾値は1つではなく、8段ある</a:t>
            </a:r>
          </a:p>
        </p:txBody>
      </p:sp>
      <p:sp>
        <p:nvSpPr>
          <p:cNvPr id="3" name="Rectangle 2"/>
          <p:cNvSpPr/>
          <p:nvPr/>
        </p:nvSpPr>
        <p:spPr>
          <a:xfrm>
            <a:off x="566928" y="1152144"/>
            <a:ext cx="11057839"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770507"/>
            <a:ext cx="11057839" cy="365760"/>
          </a:xfrm>
          <a:prstGeom prst="rect">
            <a:avLst/>
          </a:prstGeom>
          <a:noFill/>
        </p:spPr>
        <p:txBody>
          <a:bodyPr wrap="none" lIns="0" rIns="0" tIns="0" bIns="0">
            <a:noAutofit/>
          </a:bodyPr>
          <a:lstStyle/>
          <a:p>
            <a:pPr>
              <a:defRPr sz="1600" b="1">
                <a:solidFill>
                  <a:srgbClr val="0D558E"/>
                </a:solidFill>
                <a:latin typeface="Helvetica Neue"/>
                <a:ea typeface="Hiragino Sans"/>
                <a:cs typeface="Hiragino Sans"/>
              </a:defRPr>
            </a:pPr>
            <a:r>
              <a:rPr>
                <a:ea typeface="Hiragino Sans"/>
                <a:cs typeface="Hiragino Sans"/>
              </a:rPr>
              <a:t>何を同一視するかで、段ごとに根拠が違う</a:t>
            </a:r>
          </a:p>
        </p:txBody>
      </p:sp>
      <p:graphicFrame>
        <p:nvGraphicFramePr>
          <p:cNvPr id="5" name="Table 4"/>
          <p:cNvGraphicFramePr>
            <a:graphicFrameLocks noGrp="1"/>
          </p:cNvGraphicFramePr>
          <p:nvPr/>
        </p:nvGraphicFramePr>
        <p:xfrm>
          <a:off x="1783290" y="2319147"/>
          <a:ext cx="8625114" cy="3371850"/>
        </p:xfrm>
        <a:graphic>
          <a:graphicData uri="http://schemas.openxmlformats.org/drawingml/2006/table">
            <a:tbl>
              <a:tblPr/>
              <a:tblGrid>
                <a:gridCol w="2464320"/>
                <a:gridCol w="1444281"/>
                <a:gridCol w="4716513"/>
              </a:tblGrid>
              <a:tr h="374650">
                <a:tc>
                  <a:txBody>
                    <a:bodyPr/>
                    <a:lstStyle/>
                    <a:p>
                      <a:pPr algn="l"/>
                      <a:r>
                        <a:rPr sz="1400" b="1">
                          <a:solidFill>
                            <a:srgbClr val="404040"/>
                          </a:solidFill>
                          <a:latin typeface="Helvetica Neue"/>
                          <a:ea typeface="Hiragino Sans"/>
                          <a:cs typeface="Hiragino Sans"/>
                        </a:rPr>
                        <a:t>閾値</a:t>
                      </a:r>
                    </a:p>
                  </a:txBody>
                  <a:tcPr anchor="ctr" marL="127000" marR="127000" marT="76200" marB="76200">
                    <a:lnB w="12700" cap="flat" cmpd="sng" algn="ctr">
                      <a:solidFill>
                        <a:srgbClr val="404040"/>
                      </a:solidFill>
                      <a:prstDash val="solid"/>
                    </a:lnB>
                    <a:lnT w="15875" cap="flat" cmpd="sng" algn="ctr">
                      <a:solidFill>
                        <a:srgbClr val="404040"/>
                      </a:solidFill>
                      <a:prstDash val="solid"/>
                    </a:lnT>
                    <a:lnR>
                      <a:noFill/>
                    </a:lnR>
                    <a:lnL>
                      <a:noFill/>
                    </a:lnL>
                    <a:noFill/>
                  </a:tcPr>
                </a:tc>
                <a:tc>
                  <a:txBody>
                    <a:bodyPr/>
                    <a:lstStyle/>
                    <a:p>
                      <a:pPr algn="l"/>
                      <a:r>
                        <a:rPr sz="1400" b="1">
                          <a:solidFill>
                            <a:srgbClr val="404040"/>
                          </a:solidFill>
                          <a:latin typeface="Helvetica Neue"/>
                          <a:ea typeface="Hiragino Sans"/>
                          <a:cs typeface="Hiragino Sans"/>
                        </a:rPr>
                        <a:t>値</a:t>
                      </a:r>
                    </a:p>
                  </a:txBody>
                  <a:tcPr anchor="ctr" marL="127000" marR="127000" marT="76200" marB="76200">
                    <a:lnB w="12700" cap="flat" cmpd="sng" algn="ctr">
                      <a:solidFill>
                        <a:srgbClr val="404040"/>
                      </a:solidFill>
                      <a:prstDash val="solid"/>
                    </a:lnB>
                    <a:lnT w="15875" cap="flat" cmpd="sng" algn="ctr">
                      <a:solidFill>
                        <a:srgbClr val="404040"/>
                      </a:solidFill>
                      <a:prstDash val="solid"/>
                    </a:lnT>
                    <a:lnR>
                      <a:noFill/>
                    </a:lnR>
                    <a:lnL>
                      <a:noFill/>
                    </a:lnL>
                    <a:noFill/>
                  </a:tcPr>
                </a:tc>
                <a:tc>
                  <a:txBody>
                    <a:bodyPr/>
                    <a:lstStyle/>
                    <a:p>
                      <a:pPr algn="l"/>
                      <a:r>
                        <a:rPr sz="1400" b="1">
                          <a:solidFill>
                            <a:srgbClr val="404040"/>
                          </a:solidFill>
                          <a:latin typeface="Helvetica Neue"/>
                          <a:ea typeface="Hiragino Sans"/>
                          <a:cs typeface="Hiragino Sans"/>
                        </a:rPr>
                        <a:t>何に効くか</a:t>
                      </a:r>
                    </a:p>
                  </a:txBody>
                  <a:tcPr anchor="ctr" marL="127000" marR="127000" marT="76200" marB="76200">
                    <a:lnB w="12700" cap="flat" cmpd="sng" algn="ctr">
                      <a:solidFill>
                        <a:srgbClr val="404040"/>
                      </a:solidFill>
                      <a:prstDash val="solid"/>
                    </a:lnB>
                    <a:lnT w="15875" cap="flat" cmpd="sng" algn="ctr">
                      <a:solidFill>
                        <a:srgbClr val="404040"/>
                      </a:solidFill>
                      <a:prstDash val="solid"/>
                    </a:lnT>
                    <a:lnR>
                      <a:noFill/>
                    </a:lnR>
                    <a:lnL>
                      <a:noFill/>
                    </a:lnL>
                    <a:noFill/>
                  </a:tcPr>
                </a:tc>
              </a:tr>
              <a:tr h="374650">
                <a:tc>
                  <a:txBody>
                    <a:bodyPr/>
                    <a:lstStyle/>
                    <a:p>
                      <a:pPr algn="l"/>
                      <a:r>
                        <a:rPr sz="1400" b="1">
                          <a:solidFill>
                            <a:srgbClr val="0D558E"/>
                          </a:solidFill>
                          <a:latin typeface="Helvetica Neue"/>
                          <a:ea typeface="Hiragino Sans"/>
                          <a:cs typeface="Hiragino Sans"/>
                        </a:rPr>
                        <a:t>頂点の同一視</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b="1">
                          <a:solidFill>
                            <a:srgbClr val="A63F00"/>
                          </a:solidFill>
                          <a:latin typeface="Helvetica Neue"/>
                          <a:ea typeface="Hiragino Sans"/>
                          <a:cs typeface="Hiragino Sans"/>
                        </a:rPr>
                        <a:t>11 m</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この精度で座標を共有する線は電気的に接続とみなす</a:t>
                      </a:r>
                    </a:p>
                  </a:txBody>
                  <a:tcPr anchor="ctr" marL="127000" marR="127000" marT="76200" marB="76200">
                    <a:lnB w="6350" cap="flat" cmpd="sng" algn="ctr">
                      <a:solidFill>
                        <a:srgbClr val="D9D9D9"/>
                      </a:solidFill>
                      <a:prstDash val="solid"/>
                    </a:lnB>
                    <a:lnT>
                      <a:noFill/>
                    </a:lnT>
                    <a:lnR>
                      <a:noFill/>
                    </a:lnR>
                    <a:lnL>
                      <a:noFill/>
                    </a:lnL>
                    <a:noFill/>
                  </a:tcPr>
                </a:tc>
              </a:tr>
              <a:tr h="374650">
                <a:tc>
                  <a:txBody>
                    <a:bodyPr/>
                    <a:lstStyle/>
                    <a:p>
                      <a:pPr algn="l"/>
                      <a:r>
                        <a:rPr sz="1400" b="1">
                          <a:solidFill>
                            <a:srgbClr val="0D558E"/>
                          </a:solidFill>
                          <a:latin typeface="Helvetica Neue"/>
                          <a:ea typeface="Hiragino Sans"/>
                          <a:cs typeface="Hiragino Sans"/>
                        </a:rPr>
                        <a:t>先端の接合</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b="1">
                          <a:solidFill>
                            <a:srgbClr val="A63F00"/>
                          </a:solidFill>
                          <a:latin typeface="Helvetica Neue"/>
                          <a:ea typeface="Hiragino Sans"/>
                          <a:cs typeface="Hiragino Sans"/>
                        </a:rPr>
                        <a:t>120 m</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行き止まりの先端と別ノード＝同じ鉄塔とみなす</a:t>
                      </a:r>
                    </a:p>
                  </a:txBody>
                  <a:tcPr anchor="ctr" marL="127000" marR="127000" marT="76200" marB="76200">
                    <a:lnB w="6350" cap="flat" cmpd="sng" algn="ctr">
                      <a:solidFill>
                        <a:srgbClr val="D9D9D9"/>
                      </a:solidFill>
                      <a:prstDash val="solid"/>
                    </a:lnB>
                    <a:lnT>
                      <a:noFill/>
                    </a:lnT>
                    <a:lnR>
                      <a:noFill/>
                    </a:lnR>
                    <a:lnL>
                      <a:noFill/>
                    </a:lnL>
                    <a:noFill/>
                  </a:tcPr>
                </a:tc>
              </a:tr>
              <a:tr h="374650">
                <a:tc>
                  <a:txBody>
                    <a:bodyPr/>
                    <a:lstStyle/>
                    <a:p>
                      <a:pPr algn="l"/>
                      <a:r>
                        <a:rPr sz="1400" b="1">
                          <a:solidFill>
                            <a:srgbClr val="0D558E"/>
                          </a:solidFill>
                          <a:latin typeface="Helvetica Neue"/>
                          <a:ea typeface="Hiragino Sans"/>
                          <a:cs typeface="Hiragino Sans"/>
                        </a:rPr>
                        <a:t>ポリゴン境界</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b="1">
                          <a:solidFill>
                            <a:srgbClr val="A63F00"/>
                          </a:solidFill>
                          <a:latin typeface="Helvetica Neue"/>
                          <a:ea typeface="Hiragino Sans"/>
                          <a:cs typeface="Hiragino Sans"/>
                        </a:rPr>
                        <a:t>150 m</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変電所の敷地境界からこの距離まで束ねる</a:t>
                      </a:r>
                    </a:p>
                  </a:txBody>
                  <a:tcPr anchor="ctr" marL="127000" marR="127000" marT="76200" marB="76200">
                    <a:lnB w="6350" cap="flat" cmpd="sng" algn="ctr">
                      <a:solidFill>
                        <a:srgbClr val="D9D9D9"/>
                      </a:solidFill>
                      <a:prstDash val="solid"/>
                    </a:lnB>
                    <a:lnT>
                      <a:noFill/>
                    </a:lnT>
                    <a:lnR>
                      <a:noFill/>
                    </a:lnR>
                    <a:lnL>
                      <a:noFill/>
                    </a:lnL>
                    <a:noFill/>
                  </a:tcPr>
                </a:tc>
              </a:tr>
              <a:tr h="374650">
                <a:tc>
                  <a:txBody>
                    <a:bodyPr/>
                    <a:lstStyle/>
                    <a:p>
                      <a:pPr algn="l"/>
                      <a:r>
                        <a:rPr sz="1400" b="1">
                          <a:solidFill>
                            <a:srgbClr val="0D558E"/>
                          </a:solidFill>
                          <a:latin typeface="Helvetica Neue"/>
                          <a:ea typeface="Hiragino Sans"/>
                          <a:cs typeface="Hiragino Sans"/>
                        </a:rPr>
                        <a:t>予備の束縛（内部/端点）</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b="1">
                          <a:solidFill>
                            <a:srgbClr val="A63F00"/>
                          </a:solidFill>
                          <a:latin typeface="Helvetica Neue"/>
                          <a:ea typeface="Hiragino Sans"/>
                          <a:cs typeface="Hiragino Sans"/>
                        </a:rPr>
                        <a:t>400 / 600 m</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点で描かれた変電所・ポリゴン欠損の受け皿</a:t>
                      </a:r>
                    </a:p>
                  </a:txBody>
                  <a:tcPr anchor="ctr" marL="127000" marR="127000" marT="76200" marB="76200">
                    <a:lnB w="6350" cap="flat" cmpd="sng" algn="ctr">
                      <a:solidFill>
                        <a:srgbClr val="D9D9D9"/>
                      </a:solidFill>
                      <a:prstDash val="solid"/>
                    </a:lnB>
                    <a:lnT>
                      <a:noFill/>
                    </a:lnT>
                    <a:lnR>
                      <a:noFill/>
                    </a:lnR>
                    <a:lnL>
                      <a:noFill/>
                    </a:lnL>
                    <a:noFill/>
                  </a:tcPr>
                </a:tc>
              </a:tr>
              <a:tr h="374650">
                <a:tc>
                  <a:txBody>
                    <a:bodyPr/>
                    <a:lstStyle/>
                    <a:p>
                      <a:pPr algn="l"/>
                      <a:r>
                        <a:rPr sz="1400" b="1">
                          <a:solidFill>
                            <a:srgbClr val="0D558E"/>
                          </a:solidFill>
                          <a:latin typeface="Helvetica Neue"/>
                          <a:ea typeface="Hiragino Sans"/>
                          <a:cs typeface="Hiragino Sans"/>
                        </a:rPr>
                        <a:t>内部頂点 → 変電所</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b="1">
                          <a:solidFill>
                            <a:srgbClr val="A63F00"/>
                          </a:solidFill>
                          <a:latin typeface="Helvetica Neue"/>
                          <a:ea typeface="Hiragino Sans"/>
                          <a:cs typeface="Hiragino Sans"/>
                        </a:rPr>
                        <a:t>1.5 km</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近くを通過するだけの回廊を誤融合させない</a:t>
                      </a:r>
                    </a:p>
                  </a:txBody>
                  <a:tcPr anchor="ctr" marL="127000" marR="127000" marT="76200" marB="76200">
                    <a:lnB w="6350" cap="flat" cmpd="sng" algn="ctr">
                      <a:solidFill>
                        <a:srgbClr val="D9D9D9"/>
                      </a:solidFill>
                      <a:prstDash val="solid"/>
                    </a:lnB>
                    <a:lnT>
                      <a:noFill/>
                    </a:lnT>
                    <a:lnR>
                      <a:noFill/>
                    </a:lnR>
                    <a:lnL>
                      <a:noFill/>
                    </a:lnL>
                    <a:noFill/>
                  </a:tcPr>
                </a:tc>
              </a:tr>
              <a:tr h="374650">
                <a:tc>
                  <a:txBody>
                    <a:bodyPr/>
                    <a:lstStyle/>
                    <a:p>
                      <a:pPr algn="l"/>
                      <a:r>
                        <a:rPr sz="1400" b="1">
                          <a:solidFill>
                            <a:srgbClr val="0D558E"/>
                          </a:solidFill>
                          <a:latin typeface="Helvetica Neue"/>
                          <a:ea typeface="Hiragino Sans"/>
                          <a:cs typeface="Hiragino Sans"/>
                        </a:rPr>
                        <a:t>端点 → 変電所</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b="1">
                          <a:solidFill>
                            <a:srgbClr val="A63F00"/>
                          </a:solidFill>
                          <a:latin typeface="Helvetica Neue"/>
                          <a:ea typeface="Hiragino Sans"/>
                          <a:cs typeface="Hiragino Sans"/>
                        </a:rPr>
                        <a:t>2.5 km</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端点だけ緩める（次スライド）</a:t>
                      </a:r>
                    </a:p>
                  </a:txBody>
                  <a:tcPr anchor="ctr" marL="127000" marR="127000" marT="76200" marB="76200">
                    <a:lnB w="6350" cap="flat" cmpd="sng" algn="ctr">
                      <a:solidFill>
                        <a:srgbClr val="D9D9D9"/>
                      </a:solidFill>
                      <a:prstDash val="solid"/>
                    </a:lnB>
                    <a:lnT>
                      <a:noFill/>
                    </a:lnT>
                    <a:lnR>
                      <a:noFill/>
                    </a:lnR>
                    <a:lnL>
                      <a:noFill/>
                    </a:lnL>
                    <a:noFill/>
                  </a:tcPr>
                </a:tc>
              </a:tr>
              <a:tr h="374650">
                <a:tc>
                  <a:txBody>
                    <a:bodyPr/>
                    <a:lstStyle/>
                    <a:p>
                      <a:pPr algn="l"/>
                      <a:r>
                        <a:rPr sz="1400" b="1">
                          <a:solidFill>
                            <a:srgbClr val="0D558E"/>
                          </a:solidFill>
                          <a:latin typeface="Helvetica Neue"/>
                          <a:ea typeface="Hiragino Sans"/>
                          <a:cs typeface="Hiragino Sans"/>
                        </a:rPr>
                        <a:t>旧・端点マッチ</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50 km</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論文に載っている値。上記に置き換えた</a:t>
                      </a:r>
                    </a:p>
                  </a:txBody>
                  <a:tcPr anchor="ctr" marL="127000" marR="127000" marT="76200" marB="76200">
                    <a:lnB w="6350" cap="flat" cmpd="sng" algn="ctr">
                      <a:solidFill>
                        <a:srgbClr val="D9D9D9"/>
                      </a:solidFill>
                      <a:prstDash val="solid"/>
                    </a:lnB>
                    <a:lnT>
                      <a:noFill/>
                    </a:lnT>
                    <a:lnR>
                      <a:noFill/>
                    </a:lnR>
                    <a:lnL>
                      <a:noFill/>
                    </a:lnL>
                    <a:noFill/>
                  </a:tcPr>
                </a:tc>
              </a:tr>
              <a:tr h="374650">
                <a:tc>
                  <a:txBody>
                    <a:bodyPr/>
                    <a:lstStyle/>
                    <a:p>
                      <a:pPr algn="l"/>
                      <a:r>
                        <a:rPr sz="1400" b="1">
                          <a:solidFill>
                            <a:srgbClr val="0D558E"/>
                          </a:solidFill>
                          <a:latin typeface="Helvetica Neue"/>
                          <a:ea typeface="Hiragino Sans"/>
                          <a:cs typeface="Hiragino Sans"/>
                        </a:rPr>
                        <a:t>孤立成分の橋渡し</a:t>
                      </a:r>
                    </a:p>
                  </a:txBody>
                  <a:tcPr anchor="ctr" marL="127000" marR="127000" marT="76200" marB="76200">
                    <a:lnB w="15875" cap="flat" cmpd="sng" algn="ctr">
                      <a:solidFill>
                        <a:srgbClr val="404040"/>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最大 300 km</a:t>
                      </a:r>
                    </a:p>
                  </a:txBody>
                  <a:tcPr anchor="ctr" marL="127000" marR="127000" marT="76200" marB="76200">
                    <a:lnB w="15875" cap="flat" cmpd="sng" algn="ctr">
                      <a:solidFill>
                        <a:srgbClr val="404040"/>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最後の手段。KD木で主成分へ</a:t>
                      </a:r>
                    </a:p>
                  </a:txBody>
                  <a:tcPr anchor="ctr" marL="127000" marR="127000" marT="76200" marB="76200">
                    <a:lnB w="15875" cap="flat" cmpd="sng" algn="ctr">
                      <a:solidFill>
                        <a:srgbClr val="404040"/>
                      </a:solidFill>
                      <a:prstDash val="solid"/>
                    </a:lnB>
                    <a:lnT>
                      <a:noFill/>
                    </a:lnT>
                    <a:lnR>
                      <a:noFill/>
                    </a:lnR>
                    <a:lnL>
                      <a:noFill/>
                    </a:lnL>
                    <a:noFill/>
                  </a:tcPr>
                </a:tc>
              </a:tr>
            </a:tbl>
          </a:graphicData>
        </a:graphic>
      </p:graphicFrame>
      <p:sp>
        <p:nvSpPr>
          <p:cNvPr id="6" name="Rectangle 5"/>
          <p:cNvSpPr/>
          <p:nvPr/>
        </p:nvSpPr>
        <p:spPr>
          <a:xfrm>
            <a:off x="566928" y="6291072"/>
            <a:ext cx="2560320"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354572"/>
            <a:ext cx="9960559" cy="365760"/>
          </a:xfrm>
          <a:prstGeom prst="rect">
            <a:avLst/>
          </a:prstGeom>
          <a:noFill/>
        </p:spPr>
        <p:txBody>
          <a:bodyPr wrap="square" lIns="0" rIns="0" tIns="0" bIns="0">
            <a:spAutoFit/>
          </a:bodyPr>
          <a:lstStyle/>
          <a:p>
            <a:r>
              <a:rPr sz="1100">
                <a:solidFill>
                  <a:srgbClr val="676363"/>
                </a:solidFill>
                <a:latin typeface="Helvetica Neue"/>
                <a:ea typeface="Hiragino Sans"/>
                <a:cs typeface="Hiragino Sans"/>
              </a:rPr>
              <a:t>出典: 実装記録 </a:t>
            </a:r>
            <a:r>
              <a:rPr sz="1100">
                <a:solidFill>
                  <a:srgbClr val="0D558E"/>
                </a:solidFill>
                <a:latin typeface="SF Mono"/>
                <a:ea typeface="Hiragino Sans"/>
                <a:cs typeface="Hiragino Sans"/>
              </a:rPr>
              <a:t>build_network_snapped()</a:t>
            </a:r>
            <a:r>
              <a:rPr sz="1100">
                <a:solidFill>
                  <a:srgbClr val="676363"/>
                </a:solidFill>
                <a:latin typeface="Helvetica Neue"/>
                <a:ea typeface="Hiragino Sans"/>
                <a:cs typeface="Hiragino Sans"/>
              </a:rPr>
              <a:t> の既定値。上6段はすべて m 単位の判断。</a:t>
            </a:r>
          </a:p>
        </p:txBody>
      </p:sp>
      <p:sp>
        <p:nvSpPr>
          <p:cNvPr id="8" name="TextBox 7"/>
          <p:cNvSpPr txBox="1"/>
          <p:nvPr/>
        </p:nvSpPr>
        <p:spPr>
          <a:xfrm>
            <a:off x="10161727" y="91440"/>
            <a:ext cx="1463040" cy="201168"/>
          </a:xfrm>
          <a:prstGeom prst="rect">
            <a:avLst/>
          </a:prstGeom>
          <a:noFill/>
        </p:spPr>
        <p:txBody>
          <a:bodyPr wrap="none" lIns="0" rIns="0" tIns="0" bIns="0">
            <a:noAutofit/>
          </a:bodyPr>
          <a:lstStyle/>
          <a:p>
            <a:pPr algn="r">
              <a:defRPr sz="1100">
                <a:solidFill>
                  <a:srgbClr val="676363"/>
                </a:solidFill>
                <a:latin typeface="Helvetica Neue"/>
                <a:ea typeface="Hiragino Sans"/>
                <a:cs typeface="Hiragino Sans"/>
              </a:defRPr>
            </a:pPr>
            <a:r>
              <a:rPr>
                <a:ea typeface="Hiragino Sans"/>
                <a:cs typeface="Hiragino Sans"/>
              </a:rPr>
              <a:t>10／24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000" b="1">
                <a:solidFill>
                  <a:srgbClr val="404040"/>
                </a:solidFill>
                <a:latin typeface="Helvetica Neue"/>
                <a:ea typeface="Hiragino Sans"/>
                <a:cs typeface="Hiragino Sans"/>
              </a:defRPr>
            </a:pPr>
            <a:r>
              <a:rPr>
                <a:ea typeface="Hiragino Sans"/>
                <a:cs typeface="Hiragino Sans"/>
              </a:rPr>
              <a:t>「重心から半径」をやめ、OSM のポリゴンを根拠にした</a:t>
            </a:r>
          </a:p>
        </p:txBody>
      </p:sp>
      <p:sp>
        <p:nvSpPr>
          <p:cNvPr id="3" name="Rectangle 2"/>
          <p:cNvSpPr/>
          <p:nvPr/>
        </p:nvSpPr>
        <p:spPr>
          <a:xfrm>
            <a:off x="566928" y="1152144"/>
            <a:ext cx="11057839"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810512"/>
            <a:ext cx="5163159" cy="3840480"/>
          </a:xfrm>
          <a:prstGeom prst="roundRect">
            <a:avLst>
              <a:gd name="adj" fmla="val 3500"/>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2039112"/>
            <a:ext cx="4705959" cy="3383280"/>
          </a:xfrm>
          <a:prstGeom prst="rect">
            <a:avLst/>
          </a:prstGeom>
          <a:noFill/>
        </p:spPr>
        <p:txBody>
          <a:bodyPr wrap="square" lIns="0" rIns="0" tIns="0" bIns="0" anchor="ctr">
            <a:noAutofit/>
          </a:bodyPr>
          <a:lstStyle/>
          <a:p>
            <a:pPr algn="l">
              <a:defRPr sz="1800" b="1">
                <a:solidFill>
                  <a:srgbClr val="0D558E"/>
                </a:solidFill>
                <a:latin typeface="Helvetica Neue"/>
                <a:ea typeface="Hiragino Sans"/>
                <a:cs typeface="Hiragino Sans"/>
              </a:defRPr>
            </a:pPr>
            <a:r>
              <a:rPr spc="40">
                <a:ea typeface="Hiragino Sans"/>
                <a:cs typeface="Hiragino Sans"/>
              </a:rPr>
              <a:t>重心＋半径</a:t>
            </a:r>
          </a:p>
          <a:p>
            <a:pPr>
              <a:spcBef>
                <a:spcPts val="600"/>
              </a:spcBef>
            </a:pPr>
            <a:r>
              <a:rPr sz="1500">
                <a:solidFill>
                  <a:srgbClr val="404040"/>
                </a:solidFill>
                <a:latin typeface="Helvetica Neue"/>
                <a:ea typeface="Hiragino Sans"/>
                <a:cs typeface="Hiragino Sans"/>
              </a:rPr>
              <a:t>変電所を1点（重心）に潰し、半径で束ねる。→ 東京で </a:t>
            </a:r>
            <a:r>
              <a:rPr sz="1500" b="1">
                <a:solidFill>
                  <a:srgbClr val="404040"/>
                </a:solidFill>
                <a:latin typeface="Helvetica Neue"/>
                <a:ea typeface="Hiragino Sans"/>
                <a:cs typeface="Hiragino Sans"/>
              </a:rPr>
              <a:t>3,365 本</a:t>
            </a:r>
            <a:r>
              <a:rPr sz="1500">
                <a:solidFill>
                  <a:srgbClr val="404040"/>
                </a:solidFill>
                <a:latin typeface="Helvetica Neue"/>
                <a:ea typeface="Hiragino Sans"/>
                <a:cs typeface="Hiragino Sans"/>
              </a:rPr>
              <a:t>の線が、経路が 1 km 以内に近づきもしない変電所に繋がっていた。逆に敷地の広い北総 275 kV は取り残されて次数1のまま。</a:t>
            </a:r>
          </a:p>
        </p:txBody>
      </p:sp>
      <p:sp>
        <p:nvSpPr>
          <p:cNvPr id="6" name="Rounded Rectangle 5"/>
          <p:cNvSpPr/>
          <p:nvPr/>
        </p:nvSpPr>
        <p:spPr>
          <a:xfrm>
            <a:off x="6461607" y="1810512"/>
            <a:ext cx="5163159" cy="3840480"/>
          </a:xfrm>
          <a:prstGeom prst="roundRect">
            <a:avLst>
              <a:gd name="adj" fmla="val 3500"/>
            </a:avLst>
          </a:prstGeom>
          <a:solidFill>
            <a:srgbClr val="FBEDE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61607" y="1810512"/>
            <a:ext cx="5163159" cy="38100"/>
          </a:xfrm>
          <a:prstGeom prst="rect">
            <a:avLst/>
          </a:prstGeom>
          <a:solidFill>
            <a:srgbClr val="DD5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90207" y="2077212"/>
            <a:ext cx="4705959" cy="3345180"/>
          </a:xfrm>
          <a:prstGeom prst="rect">
            <a:avLst/>
          </a:prstGeom>
          <a:noFill/>
        </p:spPr>
        <p:txBody>
          <a:bodyPr wrap="square" lIns="0" rIns="0" tIns="0" bIns="0" anchor="ctr">
            <a:noAutofit/>
          </a:bodyPr>
          <a:lstStyle/>
          <a:p>
            <a:pPr algn="l">
              <a:defRPr sz="1800" b="1">
                <a:solidFill>
                  <a:srgbClr val="0D558E"/>
                </a:solidFill>
                <a:latin typeface="Helvetica Neue"/>
                <a:ea typeface="Hiragino Sans"/>
                <a:cs typeface="Hiragino Sans"/>
              </a:defRPr>
            </a:pPr>
            <a:r>
              <a:rPr spc="40">
                <a:ea typeface="Hiragino Sans"/>
                <a:cs typeface="Hiragino Sans"/>
              </a:rPr>
              <a:t>ポリゴン束縛</a:t>
            </a:r>
          </a:p>
          <a:p>
            <a:pPr>
              <a:spcBef>
                <a:spcPts val="600"/>
              </a:spcBef>
            </a:pPr>
            <a:r>
              <a:rPr sz="1500">
                <a:solidFill>
                  <a:srgbClr val="404040"/>
                </a:solidFill>
                <a:latin typeface="Helvetica Neue"/>
                <a:ea typeface="Hiragino Sans"/>
                <a:cs typeface="Hiragino Sans"/>
              </a:rPr>
              <a:t>頂点が変電所の</a:t>
            </a:r>
            <a:r>
              <a:rPr sz="1500" b="1">
                <a:solidFill>
                  <a:srgbClr val="404040"/>
                </a:solidFill>
                <a:latin typeface="Helvetica Neue"/>
                <a:ea typeface="Hiragino Sans"/>
                <a:cs typeface="Hiragino Sans"/>
              </a:rPr>
              <a:t>OSM ポリゴンの内側</a:t>
            </a:r>
            <a:r>
              <a:rPr sz="1500">
                <a:solidFill>
                  <a:srgbClr val="404040"/>
                </a:solidFill>
                <a:latin typeface="Helvetica Neue"/>
                <a:ea typeface="Hiragino Sans"/>
                <a:cs typeface="Hiragino Sans"/>
              </a:rPr>
              <a:t>、または境界から 150 m 以内にあるときに束ねる —— </a:t>
            </a:r>
            <a:r>
              <a:rPr sz="1500">
                <a:solidFill>
                  <a:srgbClr val="404040"/>
                </a:solidFill>
                <a:highlight>
                  <a:srgbClr val="F8E0A6"/>
                </a:highlight>
                <a:latin typeface="Helvetica Neue"/>
                <a:ea typeface="Hiragino Sans"/>
                <a:cs typeface="Hiragino Sans"/>
              </a:rPr>
              <a:t>地図自身が描いている基準</a:t>
            </a:r>
            <a:r>
              <a:rPr sz="1500">
                <a:solidFill>
                  <a:srgbClr val="404040"/>
                </a:solidFill>
                <a:latin typeface="Helvetica Neue"/>
                <a:ea typeface="Hiragino Sans"/>
                <a:cs typeface="Hiragino Sans"/>
              </a:rPr>
              <a:t>をそのまま使う。誤結合 </a:t>
            </a:r>
            <a:r>
              <a:rPr sz="1500" b="1">
                <a:solidFill>
                  <a:srgbClr val="404040"/>
                </a:solidFill>
                <a:latin typeface="Helvetica Neue"/>
                <a:ea typeface="Hiragino Sans"/>
                <a:cs typeface="Hiragino Sans"/>
              </a:rPr>
              <a:t>3,365 → 0</a:t>
            </a:r>
            <a:r>
              <a:rPr sz="1500">
                <a:solidFill>
                  <a:srgbClr val="404040"/>
                </a:solidFill>
                <a:latin typeface="Helvetica Neue"/>
                <a:ea typeface="Hiragino Sans"/>
                <a:cs typeface="Hiragino Sans"/>
              </a:rPr>
              <a:t>。東電実測との順位相関は幹線 .615 → </a:t>
            </a:r>
            <a:r>
              <a:rPr sz="1500" b="1">
                <a:solidFill>
                  <a:srgbClr val="404040"/>
                </a:solidFill>
                <a:latin typeface="Helvetica Neue"/>
                <a:ea typeface="Hiragino Sans"/>
                <a:cs typeface="Hiragino Sans"/>
              </a:rPr>
              <a:t>.647</a:t>
            </a:r>
            <a:r>
              <a:rPr sz="1500">
                <a:solidFill>
                  <a:srgbClr val="404040"/>
                </a:solidFill>
                <a:latin typeface="Helvetica Neue"/>
                <a:ea typeface="Hiragino Sans"/>
                <a:cs typeface="Hiragino Sans"/>
              </a:rPr>
              <a:t>、154 kV .095 → </a:t>
            </a:r>
            <a:r>
              <a:rPr sz="1500" b="1">
                <a:solidFill>
                  <a:srgbClr val="404040"/>
                </a:solidFill>
                <a:latin typeface="Helvetica Neue"/>
                <a:ea typeface="Hiragino Sans"/>
                <a:cs typeface="Hiragino Sans"/>
              </a:rPr>
              <a:t>.215</a:t>
            </a:r>
            <a:r>
              <a:rPr sz="1500">
                <a:solidFill>
                  <a:srgbClr val="404040"/>
                </a:solidFill>
                <a:latin typeface="Helvetica Neue"/>
                <a:ea typeface="Hiragino Sans"/>
                <a:cs typeface="Hiragino Sans"/>
              </a:rPr>
              <a:t>。</a:t>
            </a:r>
          </a:p>
        </p:txBody>
      </p:sp>
      <p:sp>
        <p:nvSpPr>
          <p:cNvPr id="9" name="Chevron 8"/>
          <p:cNvSpPr/>
          <p:nvPr/>
        </p:nvSpPr>
        <p:spPr>
          <a:xfrm>
            <a:off x="5844387" y="3527552"/>
            <a:ext cx="502920" cy="406400"/>
          </a:xfrm>
          <a:prstGeom prst="chevron">
            <a:avLst/>
          </a:prstGeom>
          <a:solidFill>
            <a:srgbClr val="DD5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61727" y="91440"/>
            <a:ext cx="1463040" cy="201168"/>
          </a:xfrm>
          <a:prstGeom prst="rect">
            <a:avLst/>
          </a:prstGeom>
          <a:noFill/>
        </p:spPr>
        <p:txBody>
          <a:bodyPr wrap="none" lIns="0" rIns="0" tIns="0" bIns="0">
            <a:noAutofit/>
          </a:bodyPr>
          <a:lstStyle/>
          <a:p>
            <a:pPr algn="r">
              <a:defRPr sz="1100">
                <a:solidFill>
                  <a:srgbClr val="676363"/>
                </a:solidFill>
                <a:latin typeface="Helvetica Neue"/>
                <a:ea typeface="Hiragino Sans"/>
                <a:cs typeface="Hiragino Sans"/>
              </a:defRPr>
            </a:pPr>
            <a:r>
              <a:rPr>
                <a:ea typeface="Hiragino Sans"/>
                <a:cs typeface="Hiragino Sans"/>
              </a:rPr>
              <a:t>11／24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000" b="1">
                <a:solidFill>
                  <a:srgbClr val="404040"/>
                </a:solidFill>
                <a:latin typeface="Helvetica Neue"/>
                <a:ea typeface="Hiragino Sans"/>
                <a:cs typeface="Hiragino Sans"/>
              </a:defRPr>
            </a:pPr>
            <a:r>
              <a:rPr>
                <a:ea typeface="Hiragino Sans"/>
                <a:cs typeface="Hiragino Sans"/>
              </a:rPr>
              <a:t>閾値の根拠は、だいたい物理的な理由がある</a:t>
            </a:r>
          </a:p>
        </p:txBody>
      </p:sp>
      <p:sp>
        <p:nvSpPr>
          <p:cNvPr id="3" name="Rectangle 2"/>
          <p:cNvSpPr/>
          <p:nvPr/>
        </p:nvSpPr>
        <p:spPr>
          <a:xfrm>
            <a:off x="566928" y="1152144"/>
            <a:ext cx="11057839"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353312"/>
            <a:ext cx="11057839" cy="254000"/>
          </a:xfrm>
          <a:prstGeom prst="rect">
            <a:avLst/>
          </a:prstGeom>
          <a:noFill/>
        </p:spPr>
        <p:txBody>
          <a:bodyPr wrap="none" lIns="0" rIns="0" tIns="0" bIns="0">
            <a:noAutofit/>
          </a:bodyPr>
          <a:lstStyle/>
          <a:p>
            <a:r>
              <a:rPr sz="1600" b="1">
                <a:solidFill>
                  <a:srgbClr val="0D558E"/>
                </a:solidFill>
                <a:latin typeface="Helvetica Neue"/>
                <a:ea typeface="Hiragino Sans"/>
                <a:cs typeface="Hiragino Sans"/>
              </a:rPr>
              <a:t>端点だけ 2.5 km に緩めた理由｜「デジタイズが敷地のフェンスで止まる」</a:t>
            </a:r>
          </a:p>
        </p:txBody>
      </p:sp>
      <p:sp>
        <p:nvSpPr>
          <p:cNvPr id="5" name="TextBox 4"/>
          <p:cNvSpPr txBox="1"/>
          <p:nvPr/>
        </p:nvSpPr>
        <p:spPr>
          <a:xfrm>
            <a:off x="822960" y="1645412"/>
            <a:ext cx="10801807" cy="1004887"/>
          </a:xfrm>
          <a:prstGeom prst="rect">
            <a:avLst/>
          </a:prstGeom>
          <a:noFill/>
        </p:spPr>
        <p:txBody>
          <a:bodyPr wrap="square" lIns="0" rIns="0" tIns="0" bIns="0">
            <a:noAutofit/>
          </a:bodyPr>
          <a:lstStyle/>
          <a:p>
            <a:pPr>
              <a:lnSpc>
                <a:spcPct val="130000"/>
              </a:lnSpc>
            </a:pPr>
            <a:r>
              <a:rPr sz="1500">
                <a:solidFill>
                  <a:srgbClr val="404040"/>
                </a:solidFill>
                <a:latin typeface="Helvetica Neue"/>
                <a:ea typeface="Hiragino Sans"/>
                <a:cs typeface="Hiragino Sans"/>
              </a:rPr>
              <a:t>実測すると線路端点の </a:t>
            </a:r>
            <a:r>
              <a:rPr sz="1500" b="1">
                <a:solidFill>
                  <a:srgbClr val="404040"/>
                </a:solidFill>
                <a:latin typeface="Helvetica Neue"/>
                <a:ea typeface="Hiragino Sans"/>
                <a:cs typeface="Hiragino Sans"/>
              </a:rPr>
              <a:t>6〜8%</a:t>
            </a:r>
            <a:r>
              <a:rPr sz="1500">
                <a:solidFill>
                  <a:srgbClr val="404040"/>
                </a:solidFill>
                <a:latin typeface="Helvetica Neue"/>
                <a:ea typeface="Hiragino Sans"/>
                <a:cs typeface="Hiragino Sans"/>
              </a:rPr>
              <a:t> が変電所から 1.5〜2.5 km の位置にいる。マッパーが送電線を描くとき、変電所の</a:t>
            </a:r>
            <a:r>
              <a:rPr sz="1500" b="1">
                <a:solidFill>
                  <a:srgbClr val="404040"/>
                </a:solidFill>
                <a:latin typeface="Helvetica Neue"/>
                <a:ea typeface="Hiragino Sans"/>
                <a:cs typeface="Hiragino Sans"/>
              </a:rPr>
              <a:t>敷地境界で描画をやめる</a:t>
            </a:r>
            <a:r>
              <a:rPr sz="1500">
                <a:solidFill>
                  <a:srgbClr val="404040"/>
                </a:solidFill>
                <a:latin typeface="Helvetica Neue"/>
                <a:ea typeface="Hiragino Sans"/>
                <a:cs typeface="Hiragino Sans"/>
              </a:rPr>
              <a:t>ため。2.5 km に緩めて関西 +506、東京 +1,340 端点を回収した。一方</a:t>
            </a:r>
            <a:r>
              <a:rPr sz="1500" b="1">
                <a:solidFill>
                  <a:srgbClr val="404040"/>
                </a:solidFill>
                <a:latin typeface="Helvetica Neue"/>
                <a:ea typeface="Hiragino Sans"/>
                <a:cs typeface="Hiragino Sans"/>
              </a:rPr>
              <a:t>内部頂点は 1.5 km のまま</a:t>
            </a:r>
            <a:r>
              <a:rPr sz="1500">
                <a:solidFill>
                  <a:srgbClr val="404040"/>
                </a:solidFill>
                <a:latin typeface="Helvetica Neue"/>
                <a:ea typeface="Hiragino Sans"/>
                <a:cs typeface="Hiragino Sans"/>
              </a:rPr>
              <a:t>にする — 緩めると、変電所の脇を通過するだけの回廊が誤って吸い込まれる。</a:t>
            </a:r>
          </a:p>
        </p:txBody>
      </p:sp>
      <p:sp>
        <p:nvSpPr>
          <p:cNvPr id="6" name="Rectangle 5"/>
          <p:cNvSpPr/>
          <p:nvPr/>
        </p:nvSpPr>
        <p:spPr>
          <a:xfrm>
            <a:off x="566928" y="2802191"/>
            <a:ext cx="11057839"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2979483"/>
            <a:ext cx="11057839" cy="254000"/>
          </a:xfrm>
          <a:prstGeom prst="rect">
            <a:avLst/>
          </a:prstGeom>
          <a:noFill/>
        </p:spPr>
        <p:txBody>
          <a:bodyPr wrap="none" lIns="0" rIns="0" tIns="0" bIns="0">
            <a:noAutofit/>
          </a:bodyPr>
          <a:lstStyle/>
          <a:p>
            <a:r>
              <a:rPr sz="1600" b="1">
                <a:solidFill>
                  <a:srgbClr val="0D558E"/>
                </a:solidFill>
                <a:latin typeface="Helvetica Neue"/>
                <a:ea typeface="Hiragino Sans"/>
                <a:cs typeface="Hiragino Sans"/>
              </a:rPr>
              <a:t>先端 120 m の接合｜「数メートル先に別のノードがあるなら、それは同じ鉄塔」</a:t>
            </a:r>
          </a:p>
        </p:txBody>
      </p:sp>
      <p:sp>
        <p:nvSpPr>
          <p:cNvPr id="8" name="TextBox 7"/>
          <p:cNvSpPr txBox="1"/>
          <p:nvPr/>
        </p:nvSpPr>
        <p:spPr>
          <a:xfrm>
            <a:off x="822960" y="3271583"/>
            <a:ext cx="10801807" cy="695325"/>
          </a:xfrm>
          <a:prstGeom prst="rect">
            <a:avLst/>
          </a:prstGeom>
          <a:noFill/>
        </p:spPr>
        <p:txBody>
          <a:bodyPr wrap="square" lIns="0" rIns="0" tIns="0" bIns="0">
            <a:noAutofit/>
          </a:bodyPr>
          <a:lstStyle/>
          <a:p>
            <a:pPr>
              <a:lnSpc>
                <a:spcPct val="130000"/>
              </a:lnSpc>
            </a:pPr>
            <a:r>
              <a:rPr sz="1500">
                <a:solidFill>
                  <a:srgbClr val="404040"/>
                </a:solidFill>
                <a:latin typeface="Helvetica Neue"/>
                <a:ea typeface="Hiragino Sans"/>
                <a:cs typeface="Hiragino Sans"/>
              </a:rPr>
              <a:t>行き止まり（次数1）の先端</a:t>
            </a:r>
            <a:r>
              <a:rPr sz="1500" b="1">
                <a:solidFill>
                  <a:srgbClr val="404040"/>
                </a:solidFill>
                <a:latin typeface="Helvetica Neue"/>
                <a:ea typeface="Hiragino Sans"/>
                <a:cs typeface="Hiragino Sans"/>
              </a:rPr>
              <a:t>だけ</a:t>
            </a:r>
            <a:r>
              <a:rPr sz="1500">
                <a:solidFill>
                  <a:srgbClr val="404040"/>
                </a:solidFill>
                <a:latin typeface="Helvetica Neue"/>
                <a:ea typeface="Hiragino Sans"/>
                <a:cs typeface="Hiragino Sans"/>
              </a:rPr>
              <a:t>を、同じ電圧クラスの最近傍ノードに繋ぐ。行き止まりに限定し、電圧クラスで守るので、</a:t>
            </a:r>
            <a:r>
              <a:rPr sz="1500" b="1">
                <a:solidFill>
                  <a:srgbClr val="404040"/>
                </a:solidFill>
                <a:latin typeface="Helvetica Neue"/>
                <a:ea typeface="Hiragino Sans"/>
                <a:cs typeface="Hiragino Sans"/>
              </a:rPr>
              <a:t>並行する回廊は触らない</a:t>
            </a:r>
            <a:r>
              <a:rPr sz="1500">
                <a:solidFill>
                  <a:srgbClr val="404040"/>
                </a:solidFill>
                <a:latin typeface="Helvetica Neue"/>
                <a:ea typeface="Hiragino Sans"/>
                <a:cs typeface="Hiragino Sans"/>
              </a:rPr>
              <a:t>。</a:t>
            </a:r>
          </a:p>
        </p:txBody>
      </p:sp>
      <p:sp>
        <p:nvSpPr>
          <p:cNvPr id="9" name="TextBox 8"/>
          <p:cNvSpPr txBox="1"/>
          <p:nvPr/>
        </p:nvSpPr>
        <p:spPr>
          <a:xfrm>
            <a:off x="10161727" y="91440"/>
            <a:ext cx="1463040" cy="201168"/>
          </a:xfrm>
          <a:prstGeom prst="rect">
            <a:avLst/>
          </a:prstGeom>
          <a:noFill/>
        </p:spPr>
        <p:txBody>
          <a:bodyPr wrap="none" lIns="0" rIns="0" tIns="0" bIns="0">
            <a:noAutofit/>
          </a:bodyPr>
          <a:lstStyle/>
          <a:p>
            <a:pPr algn="r">
              <a:defRPr sz="1100">
                <a:solidFill>
                  <a:srgbClr val="676363"/>
                </a:solidFill>
                <a:latin typeface="Helvetica Neue"/>
                <a:ea typeface="Hiragino Sans"/>
                <a:cs typeface="Hiragino Sans"/>
              </a:defRPr>
            </a:pPr>
            <a:r>
              <a:rPr>
                <a:ea typeface="Hiragino Sans"/>
                <a:cs typeface="Hiragino Sans"/>
              </a:rPr>
              <a:t>12／24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000" b="1">
                <a:solidFill>
                  <a:srgbClr val="404040"/>
                </a:solidFill>
                <a:latin typeface="Helvetica Neue"/>
                <a:ea typeface="Hiragino Sans"/>
                <a:cs typeface="Hiragino Sans"/>
              </a:defRPr>
            </a:pPr>
            <a:r>
              <a:rPr>
                <a:ea typeface="Hiragino Sans"/>
                <a:cs typeface="Hiragino Sans"/>
              </a:rPr>
              <a:t>同じ座標にあっても、繋いではいけない場合がある</a:t>
            </a:r>
          </a:p>
        </p:txBody>
      </p:sp>
      <p:sp>
        <p:nvSpPr>
          <p:cNvPr id="3" name="Rectangle 2"/>
          <p:cNvSpPr/>
          <p:nvPr/>
        </p:nvSpPr>
        <p:spPr>
          <a:xfrm>
            <a:off x="566928" y="1152144"/>
            <a:ext cx="11057839"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353312"/>
            <a:ext cx="11057839" cy="254000"/>
          </a:xfrm>
          <a:prstGeom prst="rect">
            <a:avLst/>
          </a:prstGeom>
          <a:noFill/>
        </p:spPr>
        <p:txBody>
          <a:bodyPr wrap="none" lIns="0" rIns="0" tIns="0" bIns="0">
            <a:noAutofit/>
          </a:bodyPr>
          <a:lstStyle/>
          <a:p>
            <a:r>
              <a:rPr sz="1600" b="1">
                <a:solidFill>
                  <a:srgbClr val="0D558E"/>
                </a:solidFill>
                <a:latin typeface="Helvetica Neue"/>
                <a:ea typeface="Hiragino Sans"/>
                <a:cs typeface="Hiragino Sans"/>
              </a:rPr>
              <a:t>多層変電所｜1,535 箇所が座標を完全共有</a:t>
            </a:r>
          </a:p>
        </p:txBody>
      </p:sp>
      <p:sp>
        <p:nvSpPr>
          <p:cNvPr id="5" name="TextBox 4"/>
          <p:cNvSpPr txBox="1"/>
          <p:nvPr/>
        </p:nvSpPr>
        <p:spPr>
          <a:xfrm>
            <a:off x="822960" y="1645412"/>
            <a:ext cx="10801807" cy="695325"/>
          </a:xfrm>
          <a:prstGeom prst="rect">
            <a:avLst/>
          </a:prstGeom>
          <a:noFill/>
        </p:spPr>
        <p:txBody>
          <a:bodyPr wrap="square" lIns="0" rIns="0" tIns="0" bIns="0">
            <a:noAutofit/>
          </a:bodyPr>
          <a:lstStyle/>
          <a:p>
            <a:pPr>
              <a:lnSpc>
                <a:spcPct val="130000"/>
              </a:lnSpc>
            </a:pPr>
            <a:r>
              <a:rPr sz="1500">
                <a:solidFill>
                  <a:srgbClr val="404040"/>
                </a:solidFill>
                <a:latin typeface="Helvetica Neue"/>
                <a:ea typeface="Hiragino Sans"/>
                <a:cs typeface="Hiragino Sans"/>
              </a:rPr>
              <a:t>変電所は電圧クラスごとにバスを持ち、</a:t>
            </a:r>
            <a:r>
              <a:rPr sz="1500" b="1">
                <a:solidFill>
                  <a:srgbClr val="404040"/>
                </a:solidFill>
                <a:latin typeface="Helvetica Neue"/>
                <a:ea typeface="Hiragino Sans"/>
                <a:cs typeface="Hiragino Sans"/>
              </a:rPr>
              <a:t>座標は完全に同じ</a:t>
            </a:r>
            <a:r>
              <a:rPr sz="1500">
                <a:solidFill>
                  <a:srgbClr val="404040"/>
                </a:solidFill>
                <a:latin typeface="Helvetica Neue"/>
                <a:ea typeface="Hiragino Sans"/>
                <a:cs typeface="Hiragino Sans"/>
              </a:rPr>
              <a:t>。ここを「座標→1つのID」に潰すと、層間リンク（＝変圧器）が </a:t>
            </a:r>
            <a:r>
              <a:rPr sz="1500">
                <a:solidFill>
                  <a:srgbClr val="0D558E"/>
                </a:solidFill>
                <a:latin typeface="SF Mono"/>
                <a:ea typeface="Hiragino Sans"/>
                <a:cs typeface="Hiragino Sans"/>
              </a:rPr>
              <a:t>i == j</a:t>
            </a:r>
            <a:r>
              <a:rPr sz="1500">
                <a:solidFill>
                  <a:srgbClr val="404040"/>
                </a:solidFill>
                <a:latin typeface="Helvetica Neue"/>
                <a:ea typeface="Hiragino Sans"/>
                <a:cs typeface="Hiragino Sans"/>
              </a:rPr>
              <a:t> で自己ループ扱いされて消える。実際に別スクリプトで </a:t>
            </a:r>
            <a:r>
              <a:rPr sz="1500" b="1">
                <a:solidFill>
                  <a:srgbClr val="404040"/>
                </a:solidFill>
                <a:latin typeface="Helvetica Neue"/>
                <a:ea typeface="Hiragino Sans"/>
                <a:cs typeface="Hiragino Sans"/>
              </a:rPr>
              <a:t>2,180 本の変圧器リンクが図から消えた</a:t>
            </a:r>
            <a:r>
              <a:rPr sz="1500">
                <a:solidFill>
                  <a:srgbClr val="404040"/>
                </a:solidFill>
                <a:latin typeface="Helvetica Neue"/>
                <a:ea typeface="Hiragino Sans"/>
                <a:cs typeface="Hiragino Sans"/>
              </a:rPr>
              <a:t>ことがある。</a:t>
            </a:r>
          </a:p>
        </p:txBody>
      </p:sp>
      <p:sp>
        <p:nvSpPr>
          <p:cNvPr id="6" name="Rectangle 5"/>
          <p:cNvSpPr/>
          <p:nvPr/>
        </p:nvSpPr>
        <p:spPr>
          <a:xfrm>
            <a:off x="566928" y="2492629"/>
            <a:ext cx="11057839"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2669921"/>
            <a:ext cx="11057839" cy="254000"/>
          </a:xfrm>
          <a:prstGeom prst="rect">
            <a:avLst/>
          </a:prstGeom>
          <a:noFill/>
        </p:spPr>
        <p:txBody>
          <a:bodyPr wrap="none" lIns="0" rIns="0" tIns="0" bIns="0">
            <a:noAutofit/>
          </a:bodyPr>
          <a:lstStyle/>
          <a:p>
            <a:r>
              <a:rPr sz="1600" b="1">
                <a:solidFill>
                  <a:srgbClr val="0D558E"/>
                </a:solidFill>
                <a:latin typeface="Helvetica Neue"/>
                <a:ea typeface="Hiragino Sans"/>
                <a:cs typeface="Hiragino Sans"/>
              </a:rPr>
              <a:t>共有鉄塔の交差｜頂点の約 1%</a:t>
            </a:r>
          </a:p>
        </p:txBody>
      </p:sp>
      <p:sp>
        <p:nvSpPr>
          <p:cNvPr id="8" name="TextBox 7"/>
          <p:cNvSpPr txBox="1"/>
          <p:nvPr/>
        </p:nvSpPr>
        <p:spPr>
          <a:xfrm>
            <a:off x="822960" y="2962021"/>
            <a:ext cx="10801807" cy="695325"/>
          </a:xfrm>
          <a:prstGeom prst="rect">
            <a:avLst/>
          </a:prstGeom>
          <a:noFill/>
        </p:spPr>
        <p:txBody>
          <a:bodyPr wrap="square" lIns="0" rIns="0" tIns="0" bIns="0">
            <a:noAutofit/>
          </a:bodyPr>
          <a:lstStyle/>
          <a:p>
            <a:pPr>
              <a:lnSpc>
                <a:spcPct val="130000"/>
              </a:lnSpc>
            </a:pPr>
            <a:r>
              <a:rPr sz="1500">
                <a:solidFill>
                  <a:srgbClr val="404040"/>
                </a:solidFill>
                <a:latin typeface="Helvetica Neue"/>
                <a:ea typeface="Hiragino Sans"/>
                <a:cs typeface="Hiragino Sans"/>
              </a:rPr>
              <a:t>異なる電圧クラスの2本が同じ鉄塔座標で交差しているだけの場所を繋ぐと、</a:t>
            </a:r>
            <a:r>
              <a:rPr sz="1500">
                <a:solidFill>
                  <a:srgbClr val="404040"/>
                </a:solidFill>
                <a:highlight>
                  <a:srgbClr val="F8E0A6"/>
                </a:highlight>
                <a:latin typeface="Helvetica Neue"/>
                <a:ea typeface="Hiragino Sans"/>
                <a:cs typeface="Hiragino Sans"/>
              </a:rPr>
              <a:t>偽の電気的接続</a:t>
            </a:r>
            <a:r>
              <a:rPr sz="1500">
                <a:solidFill>
                  <a:srgbClr val="404040"/>
                </a:solidFill>
                <a:latin typeface="Helvetica Neue"/>
                <a:ea typeface="Hiragino Sans"/>
                <a:cs typeface="Hiragino Sans"/>
              </a:rPr>
              <a:t>になる。junction も電圧クラスでキー付けして融合を防ぐ。電圧不明の線だけは、その座標にある最高既知クラスに合流させる。</a:t>
            </a:r>
          </a:p>
        </p:txBody>
      </p:sp>
      <p:sp>
        <p:nvSpPr>
          <p:cNvPr id="9" name="TextBox 8"/>
          <p:cNvSpPr txBox="1"/>
          <p:nvPr/>
        </p:nvSpPr>
        <p:spPr>
          <a:xfrm>
            <a:off x="10161727" y="91440"/>
            <a:ext cx="1463040" cy="201168"/>
          </a:xfrm>
          <a:prstGeom prst="rect">
            <a:avLst/>
          </a:prstGeom>
          <a:noFill/>
        </p:spPr>
        <p:txBody>
          <a:bodyPr wrap="none" lIns="0" rIns="0" tIns="0" bIns="0">
            <a:noAutofit/>
          </a:bodyPr>
          <a:lstStyle/>
          <a:p>
            <a:pPr algn="r">
              <a:defRPr sz="1100">
                <a:solidFill>
                  <a:srgbClr val="676363"/>
                </a:solidFill>
                <a:latin typeface="Helvetica Neue"/>
                <a:ea typeface="Hiragino Sans"/>
                <a:cs typeface="Hiragino Sans"/>
              </a:defRPr>
            </a:pPr>
            <a:r>
              <a:rPr>
                <a:ea typeface="Hiragino Sans"/>
                <a:cs typeface="Hiragino Sans"/>
              </a:rPr>
              <a:t>13／24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000" b="1">
                <a:solidFill>
                  <a:srgbClr val="404040"/>
                </a:solidFill>
                <a:latin typeface="Helvetica Neue"/>
                <a:ea typeface="Hiragino Sans"/>
                <a:cs typeface="Hiragino Sans"/>
              </a:defRPr>
            </a:pPr>
            <a:r>
              <a:rPr>
                <a:ea typeface="Hiragino Sans"/>
                <a:cs typeface="Hiragino Sans"/>
              </a:rPr>
              <a:t>電圧タグの穴は、回廊をたどって埋める</a:t>
            </a:r>
          </a:p>
        </p:txBody>
      </p:sp>
      <p:sp>
        <p:nvSpPr>
          <p:cNvPr id="3" name="Rectangle 2"/>
          <p:cNvSpPr/>
          <p:nvPr/>
        </p:nvSpPr>
        <p:spPr>
          <a:xfrm>
            <a:off x="566928" y="1152144"/>
            <a:ext cx="11057839"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208149"/>
            <a:ext cx="5391759" cy="1231900"/>
          </a:xfrm>
          <a:prstGeom prst="rect">
            <a:avLst/>
          </a:prstGeom>
          <a:noFill/>
        </p:spPr>
        <p:txBody>
          <a:bodyPr wrap="square" lIns="0" rIns="0" tIns="0" bIns="0">
            <a:noAutofit/>
          </a:bodyPr>
          <a:lstStyle/>
          <a:p>
            <a:pPr>
              <a:spcBef>
                <a:spcPts val="1000"/>
              </a:spcBef>
              <a:defRPr sz="2400" b="1">
                <a:solidFill>
                  <a:srgbClr val="0D558E"/>
                </a:solidFill>
                <a:latin typeface="Helvetica Neue"/>
                <a:ea typeface="Hiragino Sans"/>
                <a:cs typeface="Hiragino Sans"/>
              </a:defRPr>
            </a:pPr>
            <a:r>
              <a:rPr>
                <a:ea typeface="Hiragino Sans"/>
                <a:cs typeface="Hiragino Sans"/>
              </a:rPr>
              <a:t>北陸で起きていたこと</a:t>
            </a:r>
          </a:p>
          <a:p>
            <a:pPr>
              <a:spcBef>
                <a:spcPts val="400"/>
              </a:spcBef>
            </a:pPr>
            <a:r>
              <a:rPr sz="1600">
                <a:solidFill>
                  <a:srgbClr val="404040"/>
                </a:solidFill>
                <a:latin typeface="Helvetica Neue"/>
                <a:ea typeface="Hiragino Sans"/>
                <a:cs typeface="Hiragino Sans"/>
              </a:rPr>
              <a:t>主要 154 kV 回廊の </a:t>
            </a:r>
            <a:r>
              <a:rPr sz="1600" b="1">
                <a:solidFill>
                  <a:srgbClr val="404040"/>
                </a:solidFill>
                <a:latin typeface="Helvetica Neue"/>
                <a:ea typeface="Hiragino Sans"/>
                <a:cs typeface="Hiragino Sans"/>
              </a:rPr>
              <a:t>23% がタグ無し</a:t>
            </a:r>
            <a:r>
              <a:rPr sz="1600">
                <a:solidFill>
                  <a:srgbClr val="404040"/>
                </a:solidFill>
                <a:latin typeface="Helvetica Neue"/>
                <a:ea typeface="Hiragino Sans"/>
                <a:cs typeface="Hiragino Sans"/>
              </a:rPr>
              <a:t>。タグの無い区間で背骨が切れ、そこを合成線で繋いだ結果、</a:t>
            </a:r>
            <a:r>
              <a:rPr sz="1600" b="1">
                <a:solidFill>
                  <a:srgbClr val="404040"/>
                </a:solidFill>
                <a:latin typeface="Helvetica Neue"/>
                <a:ea typeface="Hiragino Sans"/>
                <a:cs typeface="Hiragino Sans"/>
              </a:rPr>
              <a:t>合成線率 11.1%</a:t>
            </a:r>
            <a:r>
              <a:rPr sz="1600">
                <a:solidFill>
                  <a:srgbClr val="404040"/>
                </a:solidFill>
                <a:latin typeface="Helvetica Neue"/>
                <a:ea typeface="Hiragino Sans"/>
                <a:cs typeface="Hiragino Sans"/>
              </a:rPr>
              <a:t> という不健全なモデルになっていた。</a:t>
            </a:r>
          </a:p>
        </p:txBody>
      </p:sp>
      <p:sp>
        <p:nvSpPr>
          <p:cNvPr id="5" name="Rounded Rectangle 4"/>
          <p:cNvSpPr/>
          <p:nvPr/>
        </p:nvSpPr>
        <p:spPr>
          <a:xfrm>
            <a:off x="566928" y="3549777"/>
            <a:ext cx="5391759" cy="755650"/>
          </a:xfrm>
          <a:prstGeom prst="roundRect">
            <a:avLst>
              <a:gd name="adj" fmla="val 3500"/>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3549777"/>
            <a:ext cx="50800" cy="755650"/>
          </a:xfrm>
          <a:prstGeom prst="rect">
            <a:avLst/>
          </a:prstGeom>
          <a:solidFill>
            <a:srgbClr val="DD5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3651377"/>
            <a:ext cx="4959959" cy="552450"/>
          </a:xfrm>
          <a:prstGeom prst="rect">
            <a:avLst/>
          </a:prstGeom>
          <a:noFill/>
        </p:spPr>
        <p:txBody>
          <a:bodyPr wrap="square" lIns="0" rIns="0" tIns="0" bIns="0" anchor="ctr">
            <a:noAutofit/>
          </a:bodyPr>
          <a:lstStyle/>
          <a:p>
            <a:pPr>
              <a:spcBef>
                <a:spcPts val="400"/>
              </a:spcBef>
            </a:pPr>
            <a:r>
              <a:rPr sz="1500">
                <a:solidFill>
                  <a:srgbClr val="404040"/>
                </a:solidFill>
                <a:latin typeface="Helvetica Neue"/>
                <a:ea typeface="Hiragino Sans"/>
                <a:cs typeface="Hiragino Sans"/>
              </a:rPr>
              <a:t>穴を「推測で埋める」のではなく、</a:t>
            </a:r>
            <a:r>
              <a:rPr sz="1500" b="1">
                <a:solidFill>
                  <a:srgbClr val="404040"/>
                </a:solidFill>
                <a:latin typeface="Helvetica Neue"/>
                <a:ea typeface="Hiragino Sans"/>
                <a:cs typeface="Hiragino Sans"/>
              </a:rPr>
              <a:t>両隣が一致するときだけ</a:t>
            </a:r>
            <a:r>
              <a:rPr sz="1500">
                <a:solidFill>
                  <a:srgbClr val="404040"/>
                </a:solidFill>
                <a:latin typeface="Helvetica Neue"/>
                <a:ea typeface="Hiragino Sans"/>
                <a:cs typeface="Hiragino Sans"/>
              </a:rPr>
              <a:t>継承する。</a:t>
            </a:r>
          </a:p>
        </p:txBody>
      </p:sp>
      <p:sp>
        <p:nvSpPr>
          <p:cNvPr id="8" name="TextBox 7"/>
          <p:cNvSpPr txBox="1"/>
          <p:nvPr/>
        </p:nvSpPr>
        <p:spPr>
          <a:xfrm>
            <a:off x="566928" y="4415155"/>
            <a:ext cx="5391759" cy="838200"/>
          </a:xfrm>
          <a:prstGeom prst="rect">
            <a:avLst/>
          </a:prstGeom>
          <a:noFill/>
        </p:spPr>
        <p:txBody>
          <a:bodyPr wrap="square" lIns="0" rIns="0" tIns="0" bIns="0">
            <a:noAutofit/>
          </a:bodyPr>
          <a:lstStyle/>
          <a:p>
            <a:pPr>
              <a:spcBef>
                <a:spcPts val="400"/>
              </a:spcBef>
            </a:pPr>
            <a:r>
              <a:rPr sz="1600">
                <a:solidFill>
                  <a:srgbClr val="404040"/>
                </a:solidFill>
                <a:latin typeface="Helvetica Neue"/>
                <a:ea typeface="Hiragino Sans"/>
                <a:cs typeface="Hiragino Sans"/>
              </a:rPr>
              <a:t>合成線は「OSM に無いので引いた線」であり、多いほどモデルは実在から離れる。タグの穴を埋めれば、その多くは</a:t>
            </a:r>
            <a:r>
              <a:rPr sz="1600" b="1">
                <a:solidFill>
                  <a:srgbClr val="404040"/>
                </a:solidFill>
                <a:latin typeface="Helvetica Neue"/>
                <a:ea typeface="Hiragino Sans"/>
                <a:cs typeface="Hiragino Sans"/>
              </a:rPr>
              <a:t>実在する線</a:t>
            </a:r>
            <a:r>
              <a:rPr sz="1600">
                <a:solidFill>
                  <a:srgbClr val="404040"/>
                </a:solidFill>
                <a:latin typeface="Helvetica Neue"/>
                <a:ea typeface="Hiragino Sans"/>
                <a:cs typeface="Hiragino Sans"/>
              </a:rPr>
              <a:t>で置き換わる。</a:t>
            </a:r>
          </a:p>
        </p:txBody>
      </p:sp>
      <p:sp>
        <p:nvSpPr>
          <p:cNvPr id="9" name="TextBox 8"/>
          <p:cNvSpPr txBox="1"/>
          <p:nvPr/>
        </p:nvSpPr>
        <p:spPr>
          <a:xfrm>
            <a:off x="6233007" y="2208149"/>
            <a:ext cx="5391759" cy="2146300"/>
          </a:xfrm>
          <a:prstGeom prst="rect">
            <a:avLst/>
          </a:prstGeom>
          <a:noFill/>
        </p:spPr>
        <p:txBody>
          <a:bodyPr wrap="square" lIns="0" rIns="0" tIns="0" bIns="0">
            <a:noAutofit/>
          </a:bodyPr>
          <a:lstStyle/>
          <a:p>
            <a:pPr>
              <a:spcBef>
                <a:spcPts val="1000"/>
              </a:spcBef>
              <a:defRPr sz="2400" b="1">
                <a:solidFill>
                  <a:srgbClr val="0D558E"/>
                </a:solidFill>
                <a:latin typeface="Helvetica Neue"/>
                <a:ea typeface="Hiragino Sans"/>
                <a:cs typeface="Hiragino Sans"/>
              </a:defRPr>
            </a:pPr>
            <a:r>
              <a:rPr>
                <a:ea typeface="Hiragino Sans"/>
                <a:cs typeface="Hiragino Sans"/>
              </a:rPr>
              <a:t>伝播のルール</a:t>
            </a:r>
          </a:p>
          <a:p>
            <a:pPr>
              <a:spcBef>
                <a:spcPts val="400"/>
              </a:spcBef>
            </a:pPr>
            <a:r>
              <a:rPr sz="1600">
                <a:solidFill>
                  <a:srgbClr val="404040"/>
                </a:solidFill>
                <a:latin typeface="Helvetica Neue"/>
                <a:ea typeface="Hiragino Sans"/>
                <a:cs typeface="Hiragino Sans"/>
              </a:rPr>
              <a:t>1. 頂点で見える既知クラスが</a:t>
            </a:r>
            <a:r>
              <a:rPr sz="1600" b="1">
                <a:solidFill>
                  <a:srgbClr val="404040"/>
                </a:solidFill>
                <a:latin typeface="Helvetica Neue"/>
                <a:ea typeface="Hiragino Sans"/>
                <a:cs typeface="Hiragino Sans"/>
              </a:rPr>
              <a:t>すべて1つに一致</a:t>
            </a:r>
            <a:r>
              <a:rPr sz="1600">
                <a:solidFill>
                  <a:srgbClr val="404040"/>
                </a:solidFill>
                <a:latin typeface="Helvetica Neue"/>
                <a:ea typeface="Hiragino Sans"/>
                <a:cs typeface="Hiragino Sans"/>
              </a:rPr>
              <a:t>するときだけ、そのクラスを継承</a:t>
            </a:r>
          </a:p>
          <a:p>
            <a:pPr>
              <a:spcBef>
                <a:spcPts val="400"/>
              </a:spcBef>
            </a:pPr>
            <a:r>
              <a:rPr sz="1600">
                <a:solidFill>
                  <a:srgbClr val="404040"/>
                </a:solidFill>
                <a:latin typeface="Helvetica Neue"/>
                <a:ea typeface="Hiragino Sans"/>
                <a:cs typeface="Hiragino Sans"/>
              </a:rPr>
              <a:t>2. 2クラスが混在する頂点は</a:t>
            </a:r>
            <a:r>
              <a:rPr sz="1600" b="1">
                <a:solidFill>
                  <a:srgbClr val="404040"/>
                </a:solidFill>
                <a:latin typeface="Helvetica Neue"/>
                <a:ea typeface="Hiragino Sans"/>
                <a:cs typeface="Hiragino Sans"/>
              </a:rPr>
              <a:t>不明のまま残す</a:t>
            </a:r>
          </a:p>
          <a:p>
            <a:pPr>
              <a:spcBef>
                <a:spcPts val="400"/>
              </a:spcBef>
            </a:pPr>
            <a:r>
              <a:rPr sz="1600">
                <a:solidFill>
                  <a:srgbClr val="404040"/>
                </a:solidFill>
                <a:latin typeface="Helvetica Neue"/>
                <a:ea typeface="Hiragino Sans"/>
                <a:cs typeface="Hiragino Sans"/>
              </a:rPr>
              <a:t>3. タグ無し区間の連鎖を反復で歩き、回廊全体へ伝播</a:t>
            </a:r>
          </a:p>
          <a:p>
            <a:pPr>
              <a:spcBef>
                <a:spcPts val="400"/>
              </a:spcBef>
            </a:pPr>
            <a:r>
              <a:rPr sz="1600">
                <a:solidFill>
                  <a:srgbClr val="404040"/>
                </a:solidFill>
                <a:latin typeface="Helvetica Neue"/>
                <a:ea typeface="Hiragino Sans"/>
                <a:cs typeface="Hiragino Sans"/>
              </a:rPr>
              <a:t>4. 推論した枝は </a:t>
            </a:r>
            <a:r>
              <a:rPr sz="1600">
                <a:solidFill>
                  <a:srgbClr val="0D558E"/>
                </a:solidFill>
                <a:latin typeface="SF Mono"/>
                <a:ea typeface="Hiragino Sans"/>
                <a:cs typeface="Hiragino Sans"/>
              </a:rPr>
              <a:t>kv=prop</a:t>
            </a:r>
            <a:r>
              <a:rPr sz="1600">
                <a:solidFill>
                  <a:srgbClr val="404040"/>
                </a:solidFill>
                <a:latin typeface="Helvetica Neue"/>
                <a:ea typeface="Hiragino Sans"/>
                <a:cs typeface="Hiragino Sans"/>
              </a:rPr>
              <a:t>、タグ由来は </a:t>
            </a:r>
            <a:r>
              <a:rPr sz="1600">
                <a:solidFill>
                  <a:srgbClr val="0D558E"/>
                </a:solidFill>
                <a:latin typeface="SF Mono"/>
                <a:ea typeface="Hiragino Sans"/>
                <a:cs typeface="Hiragino Sans"/>
              </a:rPr>
              <a:t>kv=tag</a:t>
            </a:r>
            <a:r>
              <a:rPr sz="1600">
                <a:solidFill>
                  <a:srgbClr val="404040"/>
                </a:solidFill>
                <a:latin typeface="Helvetica Neue"/>
                <a:ea typeface="Hiragino Sans"/>
                <a:cs typeface="Hiragino Sans"/>
              </a:rPr>
              <a:t> と</a:t>
            </a:r>
            <a:r>
              <a:rPr sz="1600" b="1">
                <a:solidFill>
                  <a:srgbClr val="404040"/>
                </a:solidFill>
                <a:latin typeface="Helvetica Neue"/>
                <a:ea typeface="Hiragino Sans"/>
                <a:cs typeface="Hiragino Sans"/>
              </a:rPr>
              <a:t>来歴を区別して記録</a:t>
            </a:r>
          </a:p>
        </p:txBody>
      </p:sp>
      <p:sp>
        <p:nvSpPr>
          <p:cNvPr id="10" name="Rectangle 9"/>
          <p:cNvSpPr/>
          <p:nvPr/>
        </p:nvSpPr>
        <p:spPr>
          <a:xfrm>
            <a:off x="566928" y="6291072"/>
            <a:ext cx="2560320"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6354572"/>
            <a:ext cx="9960559" cy="365760"/>
          </a:xfrm>
          <a:prstGeom prst="rect">
            <a:avLst/>
          </a:prstGeom>
          <a:noFill/>
        </p:spPr>
        <p:txBody>
          <a:bodyPr wrap="square" lIns="0" rIns="0" tIns="0" bIns="0">
            <a:spAutoFit/>
          </a:bodyPr>
          <a:lstStyle/>
          <a:p>
            <a:r>
              <a:rPr sz="1100">
                <a:solidFill>
                  <a:srgbClr val="676363"/>
                </a:solidFill>
                <a:latin typeface="Helvetica Neue"/>
                <a:ea typeface="Hiragino Sans"/>
                <a:cs typeface="Hiragino Sans"/>
              </a:rPr>
              <a:t>出典: 実装記録 </a:t>
            </a:r>
            <a:r>
              <a:rPr sz="1100">
                <a:solidFill>
                  <a:srgbClr val="0D558E"/>
                </a:solidFill>
                <a:latin typeface="SF Mono"/>
                <a:ea typeface="Hiragino Sans"/>
                <a:cs typeface="Hiragino Sans"/>
              </a:rPr>
              <a:t>propagate_voltage</a:t>
            </a:r>
            <a:r>
              <a:rPr sz="1100">
                <a:solidFill>
                  <a:srgbClr val="676363"/>
                </a:solidFill>
                <a:latin typeface="Helvetica Neue"/>
                <a:ea typeface="Hiragino Sans"/>
                <a:cs typeface="Hiragino Sans"/>
              </a:rPr>
              <a:t>（北陸ケーススタディ）。</a:t>
            </a:r>
          </a:p>
        </p:txBody>
      </p:sp>
      <p:sp>
        <p:nvSpPr>
          <p:cNvPr id="12" name="TextBox 11"/>
          <p:cNvSpPr txBox="1"/>
          <p:nvPr/>
        </p:nvSpPr>
        <p:spPr>
          <a:xfrm>
            <a:off x="10161727" y="91440"/>
            <a:ext cx="1463040" cy="201168"/>
          </a:xfrm>
          <a:prstGeom prst="rect">
            <a:avLst/>
          </a:prstGeom>
          <a:noFill/>
        </p:spPr>
        <p:txBody>
          <a:bodyPr wrap="none" lIns="0" rIns="0" tIns="0" bIns="0">
            <a:noAutofit/>
          </a:bodyPr>
          <a:lstStyle/>
          <a:p>
            <a:pPr algn="r">
              <a:defRPr sz="1100">
                <a:solidFill>
                  <a:srgbClr val="676363"/>
                </a:solidFill>
                <a:latin typeface="Helvetica Neue"/>
                <a:ea typeface="Hiragino Sans"/>
                <a:cs typeface="Hiragino Sans"/>
              </a:defRPr>
            </a:pPr>
            <a:r>
              <a:rPr>
                <a:ea typeface="Hiragino Sans"/>
                <a:cs typeface="Hiragino Sans"/>
              </a:rPr>
              <a:t>14／24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000" b="1">
                <a:solidFill>
                  <a:srgbClr val="404040"/>
                </a:solidFill>
                <a:latin typeface="Helvetica Neue"/>
                <a:ea typeface="Hiragino Sans"/>
                <a:cs typeface="Hiragino Sans"/>
              </a:defRPr>
            </a:pPr>
            <a:r>
              <a:rPr>
                <a:ea typeface="Hiragino Sans"/>
                <a:cs typeface="Hiragino Sans"/>
              </a:rPr>
              <a:t>余談：名前で照合すると、255 km 先に繋がる</a:t>
            </a:r>
          </a:p>
        </p:txBody>
      </p:sp>
      <p:sp>
        <p:nvSpPr>
          <p:cNvPr id="3" name="Rectangle 2"/>
          <p:cNvSpPr/>
          <p:nvPr/>
        </p:nvSpPr>
        <p:spPr>
          <a:xfrm>
            <a:off x="566928" y="1152144"/>
            <a:ext cx="11057839"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353312"/>
            <a:ext cx="11057839" cy="254000"/>
          </a:xfrm>
          <a:prstGeom prst="rect">
            <a:avLst/>
          </a:prstGeom>
          <a:noFill/>
        </p:spPr>
        <p:txBody>
          <a:bodyPr wrap="none" lIns="0" rIns="0" tIns="0" bIns="0">
            <a:noAutofit/>
          </a:bodyPr>
          <a:lstStyle/>
          <a:p>
            <a:r>
              <a:rPr sz="1600" b="1">
                <a:solidFill>
                  <a:srgbClr val="0D558E"/>
                </a:solidFill>
                <a:latin typeface="Helvetica Neue"/>
                <a:ea typeface="Hiragino Sans"/>
                <a:cs typeface="Hiragino Sans"/>
              </a:rPr>
              <a:t>何が起きたか</a:t>
            </a:r>
          </a:p>
        </p:txBody>
      </p:sp>
      <p:sp>
        <p:nvSpPr>
          <p:cNvPr id="5" name="TextBox 4"/>
          <p:cNvSpPr txBox="1"/>
          <p:nvPr/>
        </p:nvSpPr>
        <p:spPr>
          <a:xfrm>
            <a:off x="822960" y="1645412"/>
            <a:ext cx="10801807" cy="1004887"/>
          </a:xfrm>
          <a:prstGeom prst="rect">
            <a:avLst/>
          </a:prstGeom>
          <a:noFill/>
        </p:spPr>
        <p:txBody>
          <a:bodyPr wrap="square" lIns="0" rIns="0" tIns="0" bIns="0">
            <a:noAutofit/>
          </a:bodyPr>
          <a:lstStyle/>
          <a:p>
            <a:pPr>
              <a:lnSpc>
                <a:spcPct val="130000"/>
              </a:lnSpc>
            </a:pPr>
            <a:r>
              <a:rPr sz="1500">
                <a:solidFill>
                  <a:srgbClr val="404040"/>
                </a:solidFill>
                <a:latin typeface="Helvetica Neue"/>
                <a:ea typeface="Hiragino Sans"/>
                <a:cs typeface="Hiragino Sans"/>
              </a:rPr>
              <a:t>公表資料と突き合わせるとき、施設名の部分一致（contains）で対応づけた。ところがモデル側に </a:t>
            </a:r>
            <a:r>
              <a:rPr sz="1500" b="1">
                <a:solidFill>
                  <a:srgbClr val="404040"/>
                </a:solidFill>
                <a:latin typeface="Helvetica Neue"/>
                <a:ea typeface="Hiragino Sans"/>
                <a:cs typeface="Hiragino Sans"/>
              </a:rPr>
              <a:t>`変電所` `発電所` という名前だけのノードが実在</a:t>
            </a:r>
            <a:r>
              <a:rPr sz="1500">
                <a:solidFill>
                  <a:srgbClr val="404040"/>
                </a:solidFill>
                <a:latin typeface="Helvetica Neue"/>
                <a:ea typeface="Hiragino Sans"/>
                <a:cs typeface="Hiragino Sans"/>
              </a:rPr>
              <a:t>し、</a:t>
            </a:r>
            <a:r>
              <a:rPr sz="1500">
                <a:solidFill>
                  <a:srgbClr val="0D558E"/>
                </a:solidFill>
                <a:latin typeface="SF Mono"/>
                <a:ea typeface="Hiragino Sans"/>
                <a:cs typeface="Hiragino Sans"/>
              </a:rPr>
              <a:t>変電所</a:t>
            </a:r>
            <a:r>
              <a:rPr sz="1500">
                <a:solidFill>
                  <a:srgbClr val="404040"/>
                </a:solidFill>
                <a:latin typeface="Helvetica Neue"/>
                <a:ea typeface="Hiragino Sans"/>
                <a:cs typeface="Hiragino Sans"/>
              </a:rPr>
              <a:t> ⊂ </a:t>
            </a:r>
            <a:r>
              <a:rPr sz="1500">
                <a:solidFill>
                  <a:srgbClr val="0D558E"/>
                </a:solidFill>
                <a:latin typeface="SF Mono"/>
                <a:ea typeface="Hiragino Sans"/>
                <a:cs typeface="Hiragino Sans"/>
              </a:rPr>
              <a:t>新小野田変電所</a:t>
            </a:r>
            <a:r>
              <a:rPr sz="1500">
                <a:solidFill>
                  <a:srgbClr val="404040"/>
                </a:solidFill>
                <a:latin typeface="Helvetica Neue"/>
                <a:ea typeface="Hiragino Sans"/>
                <a:cs typeface="Hiragino Sans"/>
              </a:rPr>
              <a:t> が成立して </a:t>
            </a:r>
            <a:r>
              <a:rPr sz="1500" b="1">
                <a:solidFill>
                  <a:srgbClr val="404040"/>
                </a:solidFill>
                <a:latin typeface="Helvetica Neue"/>
                <a:ea typeface="Hiragino Sans"/>
                <a:cs typeface="Hiragino Sans"/>
              </a:rPr>
              <a:t>255 km 先の別施設</a:t>
            </a:r>
            <a:r>
              <a:rPr sz="1500">
                <a:solidFill>
                  <a:srgbClr val="404040"/>
                </a:solidFill>
                <a:latin typeface="Helvetica Neue"/>
                <a:ea typeface="Hiragino Sans"/>
                <a:cs typeface="Hiragino Sans"/>
              </a:rPr>
              <a:t>に繋がった。北海道では </a:t>
            </a:r>
            <a:r>
              <a:rPr sz="1500">
                <a:solidFill>
                  <a:srgbClr val="0D558E"/>
                </a:solidFill>
                <a:latin typeface="SF Mono"/>
                <a:ea typeface="Hiragino Sans"/>
                <a:cs typeface="Hiragino Sans"/>
              </a:rPr>
              <a:t>宇円別変電所</a:t>
            </a:r>
            <a:r>
              <a:rPr sz="1500">
                <a:solidFill>
                  <a:srgbClr val="404040"/>
                </a:solidFill>
                <a:latin typeface="Helvetica Neue"/>
                <a:ea typeface="Hiragino Sans"/>
                <a:cs typeface="Hiragino Sans"/>
              </a:rPr>
              <a:t> → </a:t>
            </a:r>
            <a:r>
              <a:rPr sz="1500">
                <a:solidFill>
                  <a:srgbClr val="0D558E"/>
                </a:solidFill>
                <a:latin typeface="SF Mono"/>
                <a:ea typeface="Hiragino Sans"/>
                <a:cs typeface="Hiragino Sans"/>
              </a:rPr>
              <a:t>七飯発電所</a:t>
            </a:r>
            <a:r>
              <a:rPr sz="1500">
                <a:solidFill>
                  <a:srgbClr val="404040"/>
                </a:solidFill>
                <a:latin typeface="Helvetica Neue"/>
                <a:ea typeface="Hiragino Sans"/>
                <a:cs typeface="Hiragino Sans"/>
              </a:rPr>
              <a:t> で </a:t>
            </a:r>
            <a:r>
              <a:rPr sz="1500" b="1">
                <a:solidFill>
                  <a:srgbClr val="404040"/>
                </a:solidFill>
                <a:latin typeface="Helvetica Neue"/>
                <a:ea typeface="Hiragino Sans"/>
                <a:cs typeface="Hiragino Sans"/>
              </a:rPr>
              <a:t>314 km</a:t>
            </a:r>
            <a:r>
              <a:rPr sz="1500">
                <a:solidFill>
                  <a:srgbClr val="404040"/>
                </a:solidFill>
                <a:latin typeface="Helvetica Neue"/>
                <a:ea typeface="Hiragino Sans"/>
                <a:cs typeface="Hiragino Sans"/>
              </a:rPr>
              <a:t>。</a:t>
            </a:r>
          </a:p>
        </p:txBody>
      </p:sp>
      <p:sp>
        <p:nvSpPr>
          <p:cNvPr id="6" name="Rectangle 5"/>
          <p:cNvSpPr/>
          <p:nvPr/>
        </p:nvSpPr>
        <p:spPr>
          <a:xfrm>
            <a:off x="566928" y="2802191"/>
            <a:ext cx="11057839"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2979483"/>
            <a:ext cx="11057839" cy="254000"/>
          </a:xfrm>
          <a:prstGeom prst="rect">
            <a:avLst/>
          </a:prstGeom>
          <a:noFill/>
        </p:spPr>
        <p:txBody>
          <a:bodyPr wrap="none" lIns="0" rIns="0" tIns="0" bIns="0">
            <a:noAutofit/>
          </a:bodyPr>
          <a:lstStyle/>
          <a:p>
            <a:r>
              <a:rPr sz="1600" b="1">
                <a:solidFill>
                  <a:srgbClr val="0D558E"/>
                </a:solidFill>
                <a:latin typeface="Helvetica Neue"/>
                <a:ea typeface="Hiragino Sans"/>
                <a:cs typeface="Hiragino Sans"/>
              </a:rPr>
              <a:t>どうやって気づいたか</a:t>
            </a:r>
          </a:p>
        </p:txBody>
      </p:sp>
      <p:sp>
        <p:nvSpPr>
          <p:cNvPr id="8" name="TextBox 7"/>
          <p:cNvSpPr txBox="1"/>
          <p:nvPr/>
        </p:nvSpPr>
        <p:spPr>
          <a:xfrm>
            <a:off x="822960" y="3271583"/>
            <a:ext cx="10801807" cy="695325"/>
          </a:xfrm>
          <a:prstGeom prst="rect">
            <a:avLst/>
          </a:prstGeom>
          <a:noFill/>
        </p:spPr>
        <p:txBody>
          <a:bodyPr wrap="square" lIns="0" rIns="0" tIns="0" bIns="0">
            <a:noAutofit/>
          </a:bodyPr>
          <a:lstStyle/>
          <a:p>
            <a:pPr>
              <a:lnSpc>
                <a:spcPct val="130000"/>
              </a:lnSpc>
            </a:pPr>
            <a:r>
              <a:rPr sz="1500">
                <a:solidFill>
                  <a:srgbClr val="404040"/>
                </a:solidFill>
                <a:latin typeface="Helvetica Neue"/>
                <a:ea typeface="Hiragino Sans"/>
                <a:cs typeface="Hiragino Sans"/>
              </a:rPr>
              <a:t>迂回係数（実長 ÷ 端点間直線距離）の中央値が </a:t>
            </a:r>
            <a:r>
              <a:rPr sz="1500" b="1">
                <a:solidFill>
                  <a:srgbClr val="404040"/>
                </a:solidFill>
                <a:latin typeface="Helvetica Neue"/>
                <a:ea typeface="Hiragino Sans"/>
                <a:cs typeface="Hiragino Sans"/>
              </a:rPr>
              <a:t>0.964</a:t>
            </a:r>
            <a:r>
              <a:rPr sz="1500">
                <a:solidFill>
                  <a:srgbClr val="404040"/>
                </a:solidFill>
                <a:latin typeface="Helvetica Neue"/>
                <a:ea typeface="Hiragino Sans"/>
                <a:cs typeface="Hiragino Sans"/>
              </a:rPr>
              <a:t> になった。送電線が直線より短いことはあり得ない。</a:t>
            </a:r>
            <a:r>
              <a:rPr sz="1500">
                <a:solidFill>
                  <a:srgbClr val="404040"/>
                </a:solidFill>
                <a:highlight>
                  <a:srgbClr val="F8E0A6"/>
                </a:highlight>
                <a:latin typeface="Helvetica Neue"/>
                <a:ea typeface="Hiragino Sans"/>
                <a:cs typeface="Hiragino Sans"/>
              </a:rPr>
              <a:t>数値が物理的にあり得ない</a:t>
            </a:r>
            <a:r>
              <a:rPr sz="1500">
                <a:solidFill>
                  <a:srgbClr val="404040"/>
                </a:solidFill>
                <a:latin typeface="Helvetica Neue"/>
                <a:ea typeface="Hiragino Sans"/>
                <a:cs typeface="Hiragino Sans"/>
              </a:rPr>
              <a:t> ので気づけた。率だけ見ていたら通っていた。</a:t>
            </a:r>
          </a:p>
        </p:txBody>
      </p:sp>
      <p:sp>
        <p:nvSpPr>
          <p:cNvPr id="9" name="Rectangle 8"/>
          <p:cNvSpPr/>
          <p:nvPr/>
        </p:nvSpPr>
        <p:spPr>
          <a:xfrm>
            <a:off x="566928" y="4118800"/>
            <a:ext cx="11057839"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4296092"/>
            <a:ext cx="11057839" cy="254000"/>
          </a:xfrm>
          <a:prstGeom prst="rect">
            <a:avLst/>
          </a:prstGeom>
          <a:noFill/>
        </p:spPr>
        <p:txBody>
          <a:bodyPr wrap="none" lIns="0" rIns="0" tIns="0" bIns="0">
            <a:noAutofit/>
          </a:bodyPr>
          <a:lstStyle/>
          <a:p>
            <a:r>
              <a:rPr sz="1600" b="1">
                <a:solidFill>
                  <a:srgbClr val="0D558E"/>
                </a:solidFill>
                <a:latin typeface="Helvetica Neue"/>
                <a:ea typeface="Hiragino Sans"/>
                <a:cs typeface="Hiragino Sans"/>
              </a:rPr>
              <a:t>直した結果、照合率は下がった</a:t>
            </a:r>
          </a:p>
        </p:txBody>
      </p:sp>
      <p:sp>
        <p:nvSpPr>
          <p:cNvPr id="11" name="TextBox 10"/>
          <p:cNvSpPr txBox="1"/>
          <p:nvPr/>
        </p:nvSpPr>
        <p:spPr>
          <a:xfrm>
            <a:off x="822960" y="4588192"/>
            <a:ext cx="10801807" cy="695325"/>
          </a:xfrm>
          <a:prstGeom prst="rect">
            <a:avLst/>
          </a:prstGeom>
          <a:noFill/>
        </p:spPr>
        <p:txBody>
          <a:bodyPr wrap="square" lIns="0" rIns="0" tIns="0" bIns="0">
            <a:noAutofit/>
          </a:bodyPr>
          <a:lstStyle/>
          <a:p>
            <a:pPr>
              <a:lnSpc>
                <a:spcPct val="130000"/>
              </a:lnSpc>
            </a:pPr>
            <a:r>
              <a:rPr sz="1500">
                <a:solidFill>
                  <a:srgbClr val="404040"/>
                </a:solidFill>
                <a:latin typeface="Helvetica Neue"/>
                <a:ea typeface="Hiragino Sans"/>
                <a:cs typeface="Hiragino Sans"/>
              </a:rPr>
              <a:t>generic 語を除外し、部分一致は双方 4 文字以上を要求。</a:t>
            </a:r>
            <a:r>
              <a:rPr sz="1500" b="1">
                <a:solidFill>
                  <a:srgbClr val="404040"/>
                </a:solidFill>
                <a:latin typeface="Helvetica Neue"/>
                <a:ea typeface="Hiragino Sans"/>
                <a:cs typeface="Hiragino Sans"/>
              </a:rPr>
              <a:t>照合率 46.0% → 28.8%</a:t>
            </a:r>
            <a:r>
              <a:rPr sz="1500">
                <a:solidFill>
                  <a:srgbClr val="404040"/>
                </a:solidFill>
                <a:latin typeface="Helvetica Neue"/>
                <a:ea typeface="Hiragino Sans"/>
                <a:cs typeface="Hiragino Sans"/>
              </a:rPr>
              <a:t>。下がった方が正しい — 上がっていた分は偽陽性で、その誤ったインピーダンスが Ybus に入る。</a:t>
            </a:r>
            <a:r>
              <a:rPr sz="1500" b="1">
                <a:solidFill>
                  <a:srgbClr val="404040"/>
                </a:solidFill>
                <a:latin typeface="Helvetica Neue"/>
                <a:ea typeface="Hiragino Sans"/>
                <a:cs typeface="Hiragino Sans"/>
              </a:rPr>
              <a:t>カバレッジより正しさを取った。</a:t>
            </a:r>
          </a:p>
        </p:txBody>
      </p:sp>
      <p:sp>
        <p:nvSpPr>
          <p:cNvPr id="12" name="TextBox 11"/>
          <p:cNvSpPr txBox="1"/>
          <p:nvPr/>
        </p:nvSpPr>
        <p:spPr>
          <a:xfrm>
            <a:off x="10161727" y="91440"/>
            <a:ext cx="1463040" cy="201168"/>
          </a:xfrm>
          <a:prstGeom prst="rect">
            <a:avLst/>
          </a:prstGeom>
          <a:noFill/>
        </p:spPr>
        <p:txBody>
          <a:bodyPr wrap="none" lIns="0" rIns="0" tIns="0" bIns="0">
            <a:noAutofit/>
          </a:bodyPr>
          <a:lstStyle/>
          <a:p>
            <a:pPr algn="r">
              <a:defRPr sz="1100">
                <a:solidFill>
                  <a:srgbClr val="676363"/>
                </a:solidFill>
                <a:latin typeface="Helvetica Neue"/>
                <a:ea typeface="Hiragino Sans"/>
                <a:cs typeface="Hiragino Sans"/>
              </a:defRPr>
            </a:pPr>
            <a:r>
              <a:rPr>
                <a:ea typeface="Hiragino Sans"/>
                <a:cs typeface="Hiragino Sans"/>
              </a:rPr>
              <a:t>15／24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000" b="1">
                <a:solidFill>
                  <a:srgbClr val="404040"/>
                </a:solidFill>
                <a:latin typeface="Helvetica Neue"/>
                <a:ea typeface="Hiragino Sans"/>
                <a:cs typeface="Hiragino Sans"/>
              </a:defRPr>
            </a:pPr>
            <a:r>
              <a:rPr>
                <a:ea typeface="Hiragino Sans"/>
                <a:cs typeface="Hiragino Sans"/>
              </a:rPr>
              <a:t>結果：0/10 だった AC 潮流が、全地域で収束した</a:t>
            </a:r>
          </a:p>
        </p:txBody>
      </p:sp>
      <p:sp>
        <p:nvSpPr>
          <p:cNvPr id="3" name="Rectangle 2"/>
          <p:cNvSpPr/>
          <p:nvPr/>
        </p:nvSpPr>
        <p:spPr>
          <a:xfrm>
            <a:off x="566928" y="1152144"/>
            <a:ext cx="11057839"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2176272"/>
            <a:ext cx="3503066" cy="3108960"/>
          </a:xfrm>
          <a:prstGeom prst="roundRect">
            <a:avLst>
              <a:gd name="adj" fmla="val 3500"/>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2176272"/>
            <a:ext cx="3503066" cy="38100"/>
          </a:xfrm>
          <a:prstGeom prst="rect">
            <a:avLst/>
          </a:prstGeom>
          <a:solidFill>
            <a:srgbClr val="DD5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2442972"/>
            <a:ext cx="3045866" cy="2613660"/>
          </a:xfrm>
          <a:prstGeom prst="rect">
            <a:avLst/>
          </a:prstGeom>
          <a:noFill/>
        </p:spPr>
        <p:txBody>
          <a:bodyPr wrap="square" lIns="0" rIns="0" tIns="0" bIns="0" anchor="ctr">
            <a:noAutofit/>
          </a:bodyPr>
          <a:lstStyle/>
          <a:p>
            <a:pPr algn="ctr">
              <a:defRPr sz="1400" b="1">
                <a:solidFill>
                  <a:srgbClr val="676363"/>
                </a:solidFill>
                <a:latin typeface="Helvetica Neue"/>
                <a:ea typeface="Hiragino Sans"/>
                <a:cs typeface="Hiragino Sans"/>
              </a:defRPr>
            </a:pPr>
            <a:r>
              <a:rPr spc="40">
                <a:ea typeface="Hiragino Sans"/>
                <a:cs typeface="Hiragino Sans"/>
              </a:rPr>
              <a:t>AC 潮流の収束</a:t>
            </a:r>
          </a:p>
          <a:p>
            <a:pPr algn="ctr">
              <a:spcBef>
                <a:spcPts val="600"/>
              </a:spcBef>
            </a:pPr>
            <a:r>
              <a:rPr sz="3800" b="1">
                <a:solidFill>
                  <a:srgbClr val="DD5400"/>
                </a:solidFill>
                <a:latin typeface="Helvetica Neue"/>
                <a:ea typeface="Hiragino Sans"/>
                <a:cs typeface="Hiragino Sans"/>
              </a:rPr>
              <a:t>10/10</a:t>
            </a:r>
          </a:p>
          <a:p>
            <a:pPr algn="ctr">
              <a:spcBef>
                <a:spcPts val="800"/>
              </a:spcBef>
            </a:pPr>
            <a:r>
              <a:rPr sz="1500">
                <a:solidFill>
                  <a:srgbClr val="404040"/>
                </a:solidFill>
                <a:latin typeface="Helvetica Neue"/>
                <a:ea typeface="Hiragino Sans"/>
                <a:cs typeface="Hiragino Sans"/>
              </a:rPr>
              <a:t>パイプライン整備前は 0/10。発電機 15,980 台の自動登録・電圧零バスの補完・変圧器 3,956 台の自動挿入・スラック最適選択で到達</a:t>
            </a:r>
          </a:p>
        </p:txBody>
      </p:sp>
      <p:sp>
        <p:nvSpPr>
          <p:cNvPr id="7" name="Rounded Rectangle 6"/>
          <p:cNvSpPr/>
          <p:nvPr/>
        </p:nvSpPr>
        <p:spPr>
          <a:xfrm>
            <a:off x="4344314" y="2176272"/>
            <a:ext cx="3503066" cy="3108960"/>
          </a:xfrm>
          <a:prstGeom prst="roundRect">
            <a:avLst>
              <a:gd name="adj" fmla="val 3500"/>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44314" y="2176272"/>
            <a:ext cx="3503066" cy="38100"/>
          </a:xfrm>
          <a:prstGeom prst="rect">
            <a:avLst/>
          </a:prstGeom>
          <a:solidFill>
            <a:srgbClr val="DD5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914" y="2442972"/>
            <a:ext cx="3045866" cy="2613660"/>
          </a:xfrm>
          <a:prstGeom prst="rect">
            <a:avLst/>
          </a:prstGeom>
          <a:noFill/>
        </p:spPr>
        <p:txBody>
          <a:bodyPr wrap="square" lIns="0" rIns="0" tIns="0" bIns="0" anchor="ctr">
            <a:noAutofit/>
          </a:bodyPr>
          <a:lstStyle/>
          <a:p>
            <a:pPr algn="ctr">
              <a:defRPr sz="1400" b="1">
                <a:solidFill>
                  <a:srgbClr val="676363"/>
                </a:solidFill>
                <a:latin typeface="Helvetica Neue"/>
                <a:ea typeface="Hiragino Sans"/>
                <a:cs typeface="Hiragino Sans"/>
              </a:defRPr>
            </a:pPr>
            <a:r>
              <a:rPr spc="40">
                <a:ea typeface="Hiragino Sans"/>
                <a:cs typeface="Hiragino Sans"/>
              </a:rPr>
              <a:t>全国系統損失</a:t>
            </a:r>
          </a:p>
          <a:p>
            <a:pPr algn="ctr">
              <a:spcBef>
                <a:spcPts val="600"/>
              </a:spcBef>
            </a:pPr>
            <a:r>
              <a:rPr sz="3800" b="1">
                <a:solidFill>
                  <a:srgbClr val="DD5400"/>
                </a:solidFill>
                <a:latin typeface="Helvetica Neue"/>
                <a:ea typeface="Hiragino Sans"/>
                <a:cs typeface="Hiragino Sans"/>
              </a:rPr>
              <a:t>1,601 MW</a:t>
            </a:r>
          </a:p>
          <a:p>
            <a:pPr algn="ctr">
              <a:spcBef>
                <a:spcPts val="800"/>
              </a:spcBef>
            </a:pPr>
            <a:r>
              <a:rPr sz="1500">
                <a:solidFill>
                  <a:srgbClr val="404040"/>
                </a:solidFill>
                <a:latin typeface="Helvetica Neue"/>
                <a:ea typeface="Hiragino Sans"/>
                <a:cs typeface="Hiragino Sans"/>
              </a:rPr>
              <a:t>うち東京が 994 MW（62%）。44 GW 超の負荷を反映した妥当な偏り</a:t>
            </a:r>
          </a:p>
        </p:txBody>
      </p:sp>
      <p:sp>
        <p:nvSpPr>
          <p:cNvPr id="10" name="Rounded Rectangle 9"/>
          <p:cNvSpPr/>
          <p:nvPr/>
        </p:nvSpPr>
        <p:spPr>
          <a:xfrm>
            <a:off x="8121700" y="2176272"/>
            <a:ext cx="3503066" cy="3108960"/>
          </a:xfrm>
          <a:prstGeom prst="roundRect">
            <a:avLst>
              <a:gd name="adj" fmla="val 3500"/>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21700" y="2176272"/>
            <a:ext cx="3503066" cy="38100"/>
          </a:xfrm>
          <a:prstGeom prst="rect">
            <a:avLst/>
          </a:prstGeom>
          <a:solidFill>
            <a:srgbClr val="DD5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50300" y="2442972"/>
            <a:ext cx="3045866" cy="2613660"/>
          </a:xfrm>
          <a:prstGeom prst="rect">
            <a:avLst/>
          </a:prstGeom>
          <a:noFill/>
        </p:spPr>
        <p:txBody>
          <a:bodyPr wrap="square" lIns="0" rIns="0" tIns="0" bIns="0" anchor="ctr">
            <a:noAutofit/>
          </a:bodyPr>
          <a:lstStyle/>
          <a:p>
            <a:pPr algn="ctr">
              <a:defRPr sz="1400" b="1">
                <a:solidFill>
                  <a:srgbClr val="676363"/>
                </a:solidFill>
                <a:latin typeface="Helvetica Neue"/>
                <a:ea typeface="Hiragino Sans"/>
                <a:cs typeface="Hiragino Sans"/>
              </a:defRPr>
            </a:pPr>
            <a:r>
              <a:rPr spc="40">
                <a:ea typeface="Hiragino Sans"/>
                <a:cs typeface="Hiragino Sans"/>
              </a:rPr>
              <a:t>Ybus 充填率</a:t>
            </a:r>
          </a:p>
          <a:p>
            <a:pPr algn="ctr">
              <a:spcBef>
                <a:spcPts val="600"/>
              </a:spcBef>
            </a:pPr>
            <a:r>
              <a:rPr sz="3800" b="1">
                <a:solidFill>
                  <a:srgbClr val="DD5400"/>
                </a:solidFill>
                <a:latin typeface="Helvetica Neue"/>
                <a:ea typeface="Hiragino Sans"/>
                <a:cs typeface="Hiragino Sans"/>
              </a:rPr>
              <a:t>&lt; 0.01%</a:t>
            </a:r>
          </a:p>
          <a:p>
            <a:pPr algn="ctr">
              <a:spcBef>
                <a:spcPts val="800"/>
              </a:spcBef>
            </a:pPr>
            <a:r>
              <a:rPr sz="1500">
                <a:solidFill>
                  <a:srgbClr val="404040"/>
                </a:solidFill>
                <a:latin typeface="Helvetica Neue"/>
                <a:ea typeface="Hiragino Sans"/>
                <a:cs typeface="Hiragino Sans"/>
              </a:rPr>
              <a:t>6,962 バス・20,369 非零要素。CSC 疎行列で保持し LU 分解に渡す</a:t>
            </a:r>
          </a:p>
        </p:txBody>
      </p:sp>
      <p:sp>
        <p:nvSpPr>
          <p:cNvPr id="13" name="TextBox 12"/>
          <p:cNvSpPr txBox="1"/>
          <p:nvPr/>
        </p:nvSpPr>
        <p:spPr>
          <a:xfrm>
            <a:off x="10161727" y="91440"/>
            <a:ext cx="1463040" cy="201168"/>
          </a:xfrm>
          <a:prstGeom prst="rect">
            <a:avLst/>
          </a:prstGeom>
          <a:noFill/>
        </p:spPr>
        <p:txBody>
          <a:bodyPr wrap="none" lIns="0" rIns="0" tIns="0" bIns="0">
            <a:noAutofit/>
          </a:bodyPr>
          <a:lstStyle/>
          <a:p>
            <a:pPr algn="r">
              <a:defRPr sz="1100">
                <a:solidFill>
                  <a:srgbClr val="676363"/>
                </a:solidFill>
                <a:latin typeface="Helvetica Neue"/>
                <a:ea typeface="Hiragino Sans"/>
                <a:cs typeface="Hiragino Sans"/>
              </a:defRPr>
            </a:pPr>
            <a:r>
              <a:rPr>
                <a:ea typeface="Hiragino Sans"/>
                <a:cs typeface="Hiragino Sans"/>
              </a:rPr>
              <a:t>16／24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000" b="1">
                <a:solidFill>
                  <a:srgbClr val="404040"/>
                </a:solidFill>
                <a:latin typeface="Helvetica Neue"/>
                <a:ea typeface="Hiragino Sans"/>
                <a:cs typeface="Hiragino Sans"/>
              </a:defRPr>
            </a:pPr>
            <a:r>
              <a:rPr>
                <a:ea typeface="Hiragino Sans"/>
                <a:cs typeface="Hiragino Sans"/>
              </a:rPr>
              <a:t>おまけ：646 機の UC が 10 秒で解ける理由</a:t>
            </a:r>
          </a:p>
        </p:txBody>
      </p:sp>
      <p:sp>
        <p:nvSpPr>
          <p:cNvPr id="3" name="Rectangle 2"/>
          <p:cNvSpPr/>
          <p:nvPr/>
        </p:nvSpPr>
        <p:spPr>
          <a:xfrm>
            <a:off x="566928" y="1152144"/>
            <a:ext cx="11057839"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016887"/>
            <a:ext cx="11057839" cy="365760"/>
          </a:xfrm>
          <a:prstGeom prst="rect">
            <a:avLst/>
          </a:prstGeom>
          <a:noFill/>
        </p:spPr>
        <p:txBody>
          <a:bodyPr wrap="none" lIns="0" rIns="0" tIns="0" bIns="0">
            <a:noAutofit/>
          </a:bodyPr>
          <a:lstStyle/>
          <a:p>
            <a:pPr>
              <a:defRPr sz="1600" b="1">
                <a:solidFill>
                  <a:srgbClr val="0D558E"/>
                </a:solidFill>
                <a:latin typeface="Helvetica Neue"/>
                <a:ea typeface="Hiragino Sans"/>
                <a:cs typeface="Hiragino Sans"/>
              </a:defRPr>
            </a:pPr>
            <a:r>
              <a:rPr>
                <a:ea typeface="Hiragino Sans"/>
                <a:cs typeface="Hiragino Sans"/>
              </a:rPr>
              <a:t>二値変数 15,264 個・総変数 約 65,000 個</a:t>
            </a:r>
          </a:p>
        </p:txBody>
      </p:sp>
      <p:graphicFrame>
        <p:nvGraphicFramePr>
          <p:cNvPr id="5" name="Table 4"/>
          <p:cNvGraphicFramePr>
            <a:graphicFrameLocks noGrp="1"/>
          </p:cNvGraphicFramePr>
          <p:nvPr/>
        </p:nvGraphicFramePr>
        <p:xfrm>
          <a:off x="1783290" y="2565527"/>
          <a:ext cx="8625114" cy="1873250"/>
        </p:xfrm>
        <a:graphic>
          <a:graphicData uri="http://schemas.openxmlformats.org/drawingml/2006/table">
            <a:tbl>
              <a:tblPr/>
              <a:tblGrid>
                <a:gridCol w="2744386"/>
                <a:gridCol w="5880728"/>
              </a:tblGrid>
              <a:tr h="374650">
                <a:tc>
                  <a:txBody>
                    <a:bodyPr/>
                    <a:lstStyle/>
                    <a:p>
                      <a:pPr algn="l"/>
                      <a:r>
                        <a:rPr sz="1400" b="1">
                          <a:solidFill>
                            <a:srgbClr val="404040"/>
                          </a:solidFill>
                          <a:latin typeface="Helvetica Neue"/>
                          <a:ea typeface="Hiragino Sans"/>
                          <a:cs typeface="Hiragino Sans"/>
                        </a:rPr>
                        <a:t>要因</a:t>
                      </a:r>
                    </a:p>
                  </a:txBody>
                  <a:tcPr anchor="ctr" marL="127000" marR="127000" marT="76200" marB="76200">
                    <a:lnB w="12700" cap="flat" cmpd="sng" algn="ctr">
                      <a:solidFill>
                        <a:srgbClr val="404040"/>
                      </a:solidFill>
                      <a:prstDash val="solid"/>
                    </a:lnB>
                    <a:lnT w="15875" cap="flat" cmpd="sng" algn="ctr">
                      <a:solidFill>
                        <a:srgbClr val="404040"/>
                      </a:solidFill>
                      <a:prstDash val="solid"/>
                    </a:lnT>
                    <a:lnR>
                      <a:noFill/>
                    </a:lnR>
                    <a:lnL>
                      <a:noFill/>
                    </a:lnL>
                    <a:noFill/>
                  </a:tcPr>
                </a:tc>
                <a:tc>
                  <a:txBody>
                    <a:bodyPr/>
                    <a:lstStyle/>
                    <a:p>
                      <a:pPr algn="l"/>
                      <a:r>
                        <a:rPr sz="1400" b="1">
                          <a:solidFill>
                            <a:srgbClr val="404040"/>
                          </a:solidFill>
                          <a:latin typeface="Helvetica Neue"/>
                          <a:ea typeface="Hiragino Sans"/>
                          <a:cs typeface="Hiragino Sans"/>
                        </a:rPr>
                        <a:t>効き方</a:t>
                      </a:r>
                    </a:p>
                  </a:txBody>
                  <a:tcPr anchor="ctr" marL="127000" marR="127000" marT="76200" marB="76200">
                    <a:lnB w="12700" cap="flat" cmpd="sng" algn="ctr">
                      <a:solidFill>
                        <a:srgbClr val="404040"/>
                      </a:solidFill>
                      <a:prstDash val="solid"/>
                    </a:lnB>
                    <a:lnT w="15875" cap="flat" cmpd="sng" algn="ctr">
                      <a:solidFill>
                        <a:srgbClr val="404040"/>
                      </a:solidFill>
                      <a:prstDash val="solid"/>
                    </a:lnT>
                    <a:lnR>
                      <a:noFill/>
                    </a:lnR>
                    <a:lnL>
                      <a:noFill/>
                    </a:lnL>
                    <a:noFill/>
                  </a:tcPr>
                </a:tc>
              </a:tr>
              <a:tr h="374650">
                <a:tc>
                  <a:txBody>
                    <a:bodyPr/>
                    <a:lstStyle/>
                    <a:p>
                      <a:pPr algn="l"/>
                      <a:r>
                        <a:rPr sz="1400" b="1">
                          <a:solidFill>
                            <a:srgbClr val="A63F00"/>
                          </a:solidFill>
                          <a:latin typeface="Helvetica Neue"/>
                          <a:ea typeface="Hiragino Sans"/>
                          <a:cs typeface="Hiragino Sans"/>
                        </a:rPr>
                        <a:t>LP 緩和ギャップが </a:t>
                      </a:r>
                      <a:r>
                        <a:rPr sz="1400" b="1">
                          <a:solidFill>
                            <a:srgbClr val="A63F00"/>
                          </a:solidFill>
                          <a:latin typeface="Helvetica Neue"/>
                          <a:ea typeface="Hiragino Sans"/>
                          <a:cs typeface="Hiragino Sans"/>
                        </a:rPr>
                        <a:t>&lt; 0.5%</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経済合理的な起動パターンのため B&amp;B 探索木が浅い</a:t>
                      </a:r>
                    </a:p>
                  </a:txBody>
                  <a:tcPr anchor="ctr" marL="127000" marR="127000" marT="76200" marB="76200">
                    <a:lnB w="6350" cap="flat" cmpd="sng" algn="ctr">
                      <a:solidFill>
                        <a:srgbClr val="D9D9D9"/>
                      </a:solidFill>
                      <a:prstDash val="solid"/>
                    </a:lnB>
                    <a:lnT>
                      <a:noFill/>
                    </a:lnT>
                    <a:lnR>
                      <a:noFill/>
                    </a:lnR>
                    <a:lnL>
                      <a:noFill/>
                    </a:lnL>
                    <a:noFill/>
                  </a:tcPr>
                </a:tc>
              </a:tr>
              <a:tr h="374650">
                <a:tc>
                  <a:txBody>
                    <a:bodyPr/>
                    <a:lstStyle/>
                    <a:p>
                      <a:pPr algn="l"/>
                      <a:r>
                        <a:rPr sz="1400" b="1">
                          <a:solidFill>
                            <a:srgbClr val="0D558E"/>
                          </a:solidFill>
                          <a:latin typeface="Helvetica Neue"/>
                          <a:ea typeface="Hiragino Sans"/>
                          <a:cs typeface="Hiragino Sans"/>
                        </a:rPr>
                        <a:t>HiGHS プリソルブ</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b="1">
                          <a:solidFill>
                            <a:srgbClr val="A63F00"/>
                          </a:solidFill>
                          <a:latin typeface="Helvetica Neue"/>
                          <a:ea typeface="Hiragino Sans"/>
                          <a:cs typeface="Hiragino Sans"/>
                        </a:rPr>
                        <a:t>起動バイナリの </a:t>
                      </a:r>
                      <a:r>
                        <a:rPr sz="1400" b="1">
                          <a:solidFill>
                            <a:srgbClr val="A63F00"/>
                          </a:solidFill>
                          <a:latin typeface="Helvetica Neue"/>
                          <a:ea typeface="Hiragino Sans"/>
                          <a:cs typeface="Hiragino Sans"/>
                        </a:rPr>
                        <a:t>40% 以上</a:t>
                      </a:r>
                      <a:r>
                        <a:rPr sz="1400" b="1">
                          <a:solidFill>
                            <a:srgbClr val="A63F00"/>
                          </a:solidFill>
                          <a:latin typeface="Helvetica Neue"/>
                          <a:ea typeface="Hiragino Sans"/>
                          <a:cs typeface="Hiragino Sans"/>
                        </a:rPr>
                        <a:t>が事前に確定・縮約される</a:t>
                      </a:r>
                    </a:p>
                  </a:txBody>
                  <a:tcPr anchor="ctr" marL="127000" marR="127000" marT="76200" marB="76200">
                    <a:lnB w="6350" cap="flat" cmpd="sng" algn="ctr">
                      <a:solidFill>
                        <a:srgbClr val="D9D9D9"/>
                      </a:solidFill>
                      <a:prstDash val="solid"/>
                    </a:lnB>
                    <a:lnT>
                      <a:noFill/>
                    </a:lnT>
                    <a:lnR>
                      <a:noFill/>
                    </a:lnR>
                    <a:lnL>
                      <a:noFill/>
                    </a:lnL>
                    <a:noFill/>
                  </a:tcPr>
                </a:tc>
              </a:tr>
              <a:tr h="374650">
                <a:tc>
                  <a:txBody>
                    <a:bodyPr/>
                    <a:lstStyle/>
                    <a:p>
                      <a:pPr algn="l"/>
                      <a:r>
                        <a:rPr sz="1400" b="1">
                          <a:solidFill>
                            <a:srgbClr val="0D558E"/>
                          </a:solidFill>
                          <a:latin typeface="Helvetica Neue"/>
                          <a:ea typeface="Hiragino Sans"/>
                          <a:cs typeface="Hiragino Sans"/>
                        </a:rPr>
                        <a:t>制約行列がブロック対角</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b="1">
                          <a:solidFill>
                            <a:srgbClr val="A63F00"/>
                          </a:solidFill>
                          <a:latin typeface="Helvetica Neue"/>
                          <a:ea typeface="Hiragino Sans"/>
                          <a:cs typeface="Hiragino Sans"/>
                        </a:rPr>
                        <a:t>10 地域の結合は 9 リンク × 24 時間 = </a:t>
                      </a:r>
                      <a:r>
                        <a:rPr sz="1400" b="1">
                          <a:solidFill>
                            <a:srgbClr val="A63F00"/>
                          </a:solidFill>
                          <a:latin typeface="Helvetica Neue"/>
                          <a:ea typeface="Hiragino Sans"/>
                          <a:cs typeface="Hiragino Sans"/>
                        </a:rPr>
                        <a:t>216 変数のみ</a:t>
                      </a:r>
                      <a:r>
                        <a:rPr sz="1400" b="1">
                          <a:solidFill>
                            <a:srgbClr val="A63F00"/>
                          </a:solidFill>
                          <a:latin typeface="Helvetica Neue"/>
                          <a:ea typeface="Hiragino Sans"/>
                          <a:cs typeface="Hiragino Sans"/>
                        </a:rPr>
                        <a:t>（充填率 &lt; 0.1%）</a:t>
                      </a:r>
                    </a:p>
                  </a:txBody>
                  <a:tcPr anchor="ctr" marL="127000" marR="127000" marT="76200" marB="76200">
                    <a:lnB w="6350" cap="flat" cmpd="sng" algn="ctr">
                      <a:solidFill>
                        <a:srgbClr val="D9D9D9"/>
                      </a:solidFill>
                      <a:prstDash val="solid"/>
                    </a:lnB>
                    <a:lnT>
                      <a:noFill/>
                    </a:lnT>
                    <a:lnR>
                      <a:noFill/>
                    </a:lnR>
                    <a:lnL>
                      <a:noFill/>
                    </a:lnL>
                    <a:noFill/>
                  </a:tcPr>
                </a:tc>
              </a:tr>
              <a:tr h="374650">
                <a:tc>
                  <a:txBody>
                    <a:bodyPr/>
                    <a:lstStyle/>
                    <a:p>
                      <a:pPr algn="l"/>
                      <a:r>
                        <a:rPr sz="1400" b="1">
                          <a:solidFill>
                            <a:srgbClr val="0D558E"/>
                          </a:solidFill>
                          <a:latin typeface="Helvetica Neue"/>
                          <a:ea typeface="Hiragino Sans"/>
                          <a:cs typeface="Hiragino Sans"/>
                        </a:rPr>
                        <a:t>24 スレッド並列 B&amp;B</a:t>
                      </a:r>
                    </a:p>
                  </a:txBody>
                  <a:tcPr anchor="ctr" marL="127000" marR="127000" marT="76200" marB="76200">
                    <a:lnB w="15875" cap="flat" cmpd="sng" algn="ctr">
                      <a:solidFill>
                        <a:srgbClr val="404040"/>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分枝を並列に展開</a:t>
                      </a:r>
                    </a:p>
                  </a:txBody>
                  <a:tcPr anchor="ctr" marL="127000" marR="127000" marT="76200" marB="76200">
                    <a:lnB w="15875" cap="flat" cmpd="sng" algn="ctr">
                      <a:solidFill>
                        <a:srgbClr val="404040"/>
                      </a:solidFill>
                      <a:prstDash val="solid"/>
                    </a:lnB>
                    <a:lnT>
                      <a:noFill/>
                    </a:lnT>
                    <a:lnR>
                      <a:noFill/>
                    </a:lnR>
                    <a:lnL>
                      <a:noFill/>
                    </a:lnL>
                    <a:noFill/>
                  </a:tcPr>
                </a:tc>
              </a:tr>
            </a:tbl>
          </a:graphicData>
        </a:graphic>
      </p:graphicFrame>
      <p:sp>
        <p:nvSpPr>
          <p:cNvPr id="6" name="Rounded Rectangle 5"/>
          <p:cNvSpPr/>
          <p:nvPr/>
        </p:nvSpPr>
        <p:spPr>
          <a:xfrm>
            <a:off x="566928" y="4621657"/>
            <a:ext cx="11057839" cy="822960"/>
          </a:xfrm>
          <a:prstGeom prst="roundRect">
            <a:avLst>
              <a:gd name="adj" fmla="val 3500"/>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4621657"/>
            <a:ext cx="50800" cy="822960"/>
          </a:xfrm>
          <a:prstGeom prst="rect">
            <a:avLst/>
          </a:prstGeom>
          <a:solidFill>
            <a:srgbClr val="DD5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4723257"/>
            <a:ext cx="10626039" cy="619760"/>
          </a:xfrm>
          <a:prstGeom prst="rect">
            <a:avLst/>
          </a:prstGeom>
          <a:noFill/>
        </p:spPr>
        <p:txBody>
          <a:bodyPr wrap="square" lIns="0" rIns="0" tIns="0" bIns="0" anchor="ctr">
            <a:noAutofit/>
          </a:bodyPr>
          <a:lstStyle/>
          <a:p>
            <a:pPr>
              <a:spcBef>
                <a:spcPts val="400"/>
              </a:spcBef>
            </a:pPr>
            <a:r>
              <a:rPr sz="1500">
                <a:solidFill>
                  <a:srgbClr val="404040"/>
                </a:solidFill>
                <a:latin typeface="Helvetica Neue"/>
                <a:ea typeface="Hiragino Sans"/>
                <a:cs typeface="Hiragino Sans"/>
              </a:rPr>
              <a:t>一般に商用ソルバでも </a:t>
            </a:r>
            <a:r>
              <a:rPr sz="1500" b="1">
                <a:solidFill>
                  <a:srgbClr val="404040"/>
                </a:solidFill>
                <a:latin typeface="Helvetica Neue"/>
                <a:ea typeface="Hiragino Sans"/>
                <a:cs typeface="Hiragino Sans"/>
              </a:rPr>
              <a:t>100 機以下が実用限界</a:t>
            </a:r>
            <a:r>
              <a:rPr sz="1500">
                <a:solidFill>
                  <a:srgbClr val="404040"/>
                </a:solidFill>
                <a:latin typeface="Helvetica Neue"/>
                <a:ea typeface="Hiragino Sans"/>
                <a:cs typeface="Hiragino Sans"/>
              </a:rPr>
              <a:t>とされる規模。解けたのは構造が素直だったからで、アルゴリズムの勝利ではない。</a:t>
            </a:r>
          </a:p>
        </p:txBody>
      </p:sp>
      <p:sp>
        <p:nvSpPr>
          <p:cNvPr id="9" name="Rectangle 8"/>
          <p:cNvSpPr/>
          <p:nvPr/>
        </p:nvSpPr>
        <p:spPr>
          <a:xfrm>
            <a:off x="566928" y="6291072"/>
            <a:ext cx="2560320"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6354572"/>
            <a:ext cx="9960559" cy="365760"/>
          </a:xfrm>
          <a:prstGeom prst="rect">
            <a:avLst/>
          </a:prstGeom>
          <a:noFill/>
        </p:spPr>
        <p:txBody>
          <a:bodyPr wrap="square" lIns="0" rIns="0" tIns="0" bIns="0">
            <a:spAutoFit/>
          </a:bodyPr>
          <a:lstStyle/>
          <a:p>
            <a:r>
              <a:rPr sz="1100">
                <a:solidFill>
                  <a:srgbClr val="676363"/>
                </a:solidFill>
                <a:latin typeface="Helvetica Neue"/>
                <a:ea typeface="Hiragino Sans"/>
                <a:cs typeface="Hiragino Sans"/>
              </a:rPr>
              <a:t>出典: 論文 3.2 節「646機MILP求解の技術的背景」。</a:t>
            </a:r>
          </a:p>
        </p:txBody>
      </p:sp>
      <p:sp>
        <p:nvSpPr>
          <p:cNvPr id="11" name="TextBox 10"/>
          <p:cNvSpPr txBox="1"/>
          <p:nvPr/>
        </p:nvSpPr>
        <p:spPr>
          <a:xfrm>
            <a:off x="10161727" y="91440"/>
            <a:ext cx="1463040" cy="201168"/>
          </a:xfrm>
          <a:prstGeom prst="rect">
            <a:avLst/>
          </a:prstGeom>
          <a:noFill/>
        </p:spPr>
        <p:txBody>
          <a:bodyPr wrap="none" lIns="0" rIns="0" tIns="0" bIns="0">
            <a:noAutofit/>
          </a:bodyPr>
          <a:lstStyle/>
          <a:p>
            <a:pPr algn="r">
              <a:defRPr sz="1100">
                <a:solidFill>
                  <a:srgbClr val="676363"/>
                </a:solidFill>
                <a:latin typeface="Helvetica Neue"/>
                <a:ea typeface="Hiragino Sans"/>
                <a:cs typeface="Hiragino Sans"/>
              </a:defRPr>
            </a:pPr>
            <a:r>
              <a:rPr>
                <a:ea typeface="Hiragino Sans"/>
                <a:cs typeface="Hiragino Sans"/>
              </a:rPr>
              <a:t>17／24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000" b="1">
                <a:solidFill>
                  <a:srgbClr val="404040"/>
                </a:solidFill>
                <a:latin typeface="Helvetica Neue"/>
                <a:ea typeface="Hiragino Sans"/>
                <a:cs typeface="Hiragino Sans"/>
              </a:defRPr>
            </a:pPr>
            <a:r>
              <a:rPr>
                <a:ea typeface="Hiragino Sans"/>
                <a:cs typeface="Hiragino Sans"/>
              </a:rPr>
              <a:t>言えること / まだ言えないこと</a:t>
            </a:r>
          </a:p>
        </p:txBody>
      </p:sp>
      <p:sp>
        <p:nvSpPr>
          <p:cNvPr id="3" name="Rectangle 2"/>
          <p:cNvSpPr/>
          <p:nvPr/>
        </p:nvSpPr>
        <p:spPr>
          <a:xfrm>
            <a:off x="566928" y="1152144"/>
            <a:ext cx="11057839"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719072"/>
            <a:ext cx="5391759" cy="4023360"/>
          </a:xfrm>
          <a:prstGeom prst="roundRect">
            <a:avLst>
              <a:gd name="adj" fmla="val 3500"/>
            </a:avLst>
          </a:prstGeom>
          <a:solidFill>
            <a:srgbClr val="EFF4F1"/>
          </a:solidFill>
          <a:ln w="9525">
            <a:solidFill>
              <a:srgbClr val="9FB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1719072"/>
            <a:ext cx="5391759" cy="566928"/>
          </a:xfrm>
          <a:prstGeom prst="rect">
            <a:avLst/>
          </a:prstGeom>
          <a:solidFill>
            <a:srgbClr val="3F7A52"/>
          </a:solidFill>
          <a:ln>
            <a:noFill/>
          </a:ln>
          <a:effectLst/>
        </p:spPr>
        <p:style>
          <a:lnRef idx="1">
            <a:schemeClr val="accent1"/>
          </a:lnRef>
          <a:fillRef idx="3">
            <a:schemeClr val="accent1"/>
          </a:fillRef>
          <a:effectRef idx="2">
            <a:schemeClr val="accent1"/>
          </a:effectRef>
          <a:fontRef idx="minor">
            <a:schemeClr val="lt1"/>
          </a:fontRef>
        </p:style>
        <p:txBody>
          <a:bodyPr rtlCol="0" anchor="ctr" lIns="203200"/>
          <a:lstStyle/>
          <a:p>
            <a:pPr algn="ctr">
              <a:defRPr sz="1800" b="1">
                <a:solidFill>
                  <a:srgbClr val="FFFFFF"/>
                </a:solidFill>
                <a:latin typeface="Helvetica Neue"/>
                <a:ea typeface="Hiragino Sans"/>
                <a:cs typeface="Hiragino Sans"/>
              </a:defRPr>
            </a:pPr>
            <a:r>
              <a:rPr>
                <a:ea typeface="Hiragino Sans"/>
                <a:cs typeface="Hiragino Sans"/>
              </a:rPr>
              <a:t>✓  Pros</a:t>
            </a:r>
          </a:p>
        </p:txBody>
      </p:sp>
      <p:sp>
        <p:nvSpPr>
          <p:cNvPr id="6" name="TextBox 5"/>
          <p:cNvSpPr txBox="1"/>
          <p:nvPr/>
        </p:nvSpPr>
        <p:spPr>
          <a:xfrm>
            <a:off x="770128" y="2438400"/>
            <a:ext cx="4985359" cy="3151632"/>
          </a:xfrm>
          <a:prstGeom prst="rect">
            <a:avLst/>
          </a:prstGeom>
          <a:noFill/>
        </p:spPr>
        <p:txBody>
          <a:bodyPr wrap="square" lIns="0" rIns="0" tIns="0" bIns="0">
            <a:noAutofit/>
          </a:bodyPr>
          <a:lstStyle/>
          <a:p>
            <a:pPr>
              <a:spcBef>
                <a:spcPts val="800"/>
              </a:spcBef>
            </a:pPr>
            <a:r>
              <a:rPr sz="1500">
                <a:solidFill>
                  <a:srgbClr val="404040"/>
                </a:solidFill>
                <a:latin typeface="Helvetica Neue"/>
                <a:ea typeface="Hiragino Sans"/>
                <a:cs typeface="Hiragino Sans"/>
              </a:rPr>
              <a:t>✓  線の形（OSM ジオメトリ）を一次根拠にすれば、線を捨てずに繋げる</a:t>
            </a:r>
          </a:p>
          <a:p>
            <a:pPr>
              <a:spcBef>
                <a:spcPts val="800"/>
              </a:spcBef>
            </a:pPr>
            <a:r>
              <a:rPr sz="1500">
                <a:solidFill>
                  <a:srgbClr val="404040"/>
                </a:solidFill>
                <a:latin typeface="Helvetica Neue"/>
                <a:ea typeface="Hiragino Sans"/>
                <a:cs typeface="Hiragino Sans"/>
              </a:rPr>
              <a:t>✓  閾値は m 単位で、段ごとに物理的な根拠を付けられる</a:t>
            </a:r>
          </a:p>
          <a:p>
            <a:pPr>
              <a:spcBef>
                <a:spcPts val="800"/>
              </a:spcBef>
            </a:pPr>
            <a:r>
              <a:rPr sz="1500">
                <a:solidFill>
                  <a:srgbClr val="404040"/>
                </a:solidFill>
                <a:latin typeface="Helvetica Neue"/>
                <a:ea typeface="Hiragino Sans"/>
                <a:cs typeface="Hiragino Sans"/>
              </a:rPr>
              <a:t>✓  束ね方の違いは順位相関で測れる（幹線 .615 → .647）</a:t>
            </a:r>
          </a:p>
          <a:p>
            <a:pPr>
              <a:spcBef>
                <a:spcPts val="800"/>
              </a:spcBef>
            </a:pPr>
            <a:r>
              <a:rPr sz="1500">
                <a:solidFill>
                  <a:srgbClr val="404040"/>
                </a:solidFill>
                <a:latin typeface="Helvetica Neue"/>
                <a:ea typeface="Hiragino Sans"/>
                <a:cs typeface="Hiragino Sans"/>
              </a:rPr>
              <a:t>✓  補完・推論の来歴を1件ずつ残せる（</a:t>
            </a:r>
            <a:r>
              <a:rPr sz="1500">
                <a:solidFill>
                  <a:srgbClr val="0D558E"/>
                </a:solidFill>
                <a:latin typeface="SF Mono"/>
                <a:ea typeface="Hiragino Sans"/>
                <a:cs typeface="Hiragino Sans"/>
              </a:rPr>
              <a:t>_enriched_by</a:t>
            </a:r>
            <a:r>
              <a:rPr sz="1500">
                <a:solidFill>
                  <a:srgbClr val="404040"/>
                </a:solidFill>
                <a:latin typeface="Helvetica Neue"/>
                <a:ea typeface="Hiragino Sans"/>
                <a:cs typeface="Hiragino Sans"/>
              </a:rPr>
              <a:t> / </a:t>
            </a:r>
            <a:r>
              <a:rPr sz="1500">
                <a:solidFill>
                  <a:srgbClr val="0D558E"/>
                </a:solidFill>
                <a:latin typeface="SF Mono"/>
                <a:ea typeface="Hiragino Sans"/>
                <a:cs typeface="Hiragino Sans"/>
              </a:rPr>
              <a:t>kv=prop</a:t>
            </a:r>
            <a:r>
              <a:rPr sz="1500">
                <a:solidFill>
                  <a:srgbClr val="404040"/>
                </a:solidFill>
                <a:latin typeface="Helvetica Neue"/>
                <a:ea typeface="Hiragino Sans"/>
                <a:cs typeface="Hiragino Sans"/>
              </a:rPr>
              <a:t>）</a:t>
            </a:r>
          </a:p>
        </p:txBody>
      </p:sp>
      <p:sp>
        <p:nvSpPr>
          <p:cNvPr id="7" name="Rounded Rectangle 6"/>
          <p:cNvSpPr/>
          <p:nvPr/>
        </p:nvSpPr>
        <p:spPr>
          <a:xfrm>
            <a:off x="6233007" y="1719072"/>
            <a:ext cx="5391759" cy="4023360"/>
          </a:xfrm>
          <a:prstGeom prst="roundRect">
            <a:avLst>
              <a:gd name="adj" fmla="val 3500"/>
            </a:avLst>
          </a:prstGeom>
          <a:solidFill>
            <a:srgbClr val="F8F0EF"/>
          </a:solidFill>
          <a:ln w="9525">
            <a:solidFill>
              <a:srgbClr val="D3A2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33007" y="1719072"/>
            <a:ext cx="5391759" cy="566928"/>
          </a:xfrm>
          <a:prstGeom prst="rect">
            <a:avLst/>
          </a:prstGeom>
          <a:solidFill>
            <a:srgbClr val="A8453A"/>
          </a:solidFill>
          <a:ln>
            <a:noFill/>
          </a:ln>
          <a:effectLst/>
        </p:spPr>
        <p:style>
          <a:lnRef idx="1">
            <a:schemeClr val="accent1"/>
          </a:lnRef>
          <a:fillRef idx="3">
            <a:schemeClr val="accent1"/>
          </a:fillRef>
          <a:effectRef idx="2">
            <a:schemeClr val="accent1"/>
          </a:effectRef>
          <a:fontRef idx="minor">
            <a:schemeClr val="lt1"/>
          </a:fontRef>
        </p:style>
        <p:txBody>
          <a:bodyPr rtlCol="0" anchor="ctr" lIns="203200"/>
          <a:lstStyle/>
          <a:p>
            <a:pPr algn="ctr">
              <a:defRPr sz="1800" b="1">
                <a:solidFill>
                  <a:srgbClr val="FFFFFF"/>
                </a:solidFill>
                <a:latin typeface="Helvetica Neue"/>
                <a:ea typeface="Hiragino Sans"/>
                <a:cs typeface="Hiragino Sans"/>
              </a:defRPr>
            </a:pPr>
            <a:r>
              <a:rPr>
                <a:ea typeface="Hiragino Sans"/>
                <a:cs typeface="Hiragino Sans"/>
              </a:rPr>
              <a:t>✗  Cons</a:t>
            </a:r>
          </a:p>
        </p:txBody>
      </p:sp>
      <p:sp>
        <p:nvSpPr>
          <p:cNvPr id="9" name="TextBox 8"/>
          <p:cNvSpPr txBox="1"/>
          <p:nvPr/>
        </p:nvSpPr>
        <p:spPr>
          <a:xfrm>
            <a:off x="6436207" y="2438400"/>
            <a:ext cx="4985359" cy="3151632"/>
          </a:xfrm>
          <a:prstGeom prst="rect">
            <a:avLst/>
          </a:prstGeom>
          <a:noFill/>
        </p:spPr>
        <p:txBody>
          <a:bodyPr wrap="square" lIns="0" rIns="0" tIns="0" bIns="0">
            <a:noAutofit/>
          </a:bodyPr>
          <a:lstStyle/>
          <a:p>
            <a:pPr>
              <a:spcBef>
                <a:spcPts val="800"/>
              </a:spcBef>
            </a:pPr>
            <a:r>
              <a:rPr sz="1500">
                <a:solidFill>
                  <a:srgbClr val="404040"/>
                </a:solidFill>
                <a:latin typeface="Helvetica Neue"/>
                <a:ea typeface="Hiragino Sans"/>
                <a:cs typeface="Hiragino Sans"/>
              </a:rPr>
              <a:t>✗  インピーダンス・変圧器定数は合成推定値（OSM にはゼロ）</a:t>
            </a:r>
          </a:p>
          <a:p>
            <a:pPr>
              <a:spcBef>
                <a:spcPts val="800"/>
              </a:spcBef>
            </a:pPr>
            <a:r>
              <a:rPr sz="1500">
                <a:solidFill>
                  <a:srgbClr val="404040"/>
                </a:solidFill>
                <a:latin typeface="Helvetica Neue"/>
                <a:ea typeface="Hiragino Sans"/>
                <a:cs typeface="Hiragino Sans"/>
              </a:rPr>
              <a:t>✗  遮断器情報が無く、機器レベルの事故解析はできない</a:t>
            </a:r>
          </a:p>
          <a:p>
            <a:pPr>
              <a:spcBef>
                <a:spcPts val="800"/>
              </a:spcBef>
            </a:pPr>
            <a:r>
              <a:rPr sz="1500">
                <a:solidFill>
                  <a:srgbClr val="404040"/>
                </a:solidFill>
                <a:latin typeface="Helvetica Neue"/>
                <a:ea typeface="Hiragino Sans"/>
                <a:cs typeface="Hiragino Sans"/>
              </a:rPr>
              <a:t>✗  架空/地中の区分は約 30% しか分からず未補完</a:t>
            </a:r>
          </a:p>
          <a:p>
            <a:pPr>
              <a:spcBef>
                <a:spcPts val="800"/>
              </a:spcBef>
            </a:pPr>
            <a:r>
              <a:rPr sz="1500">
                <a:solidFill>
                  <a:srgbClr val="404040"/>
                </a:solidFill>
                <a:latin typeface="Helvetica Neue"/>
                <a:ea typeface="Hiragino Sans"/>
                <a:cs typeface="Hiragino Sans"/>
              </a:rPr>
              <a:t>✗  端点マッチの誤接続は 2〜3% 残る</a:t>
            </a:r>
          </a:p>
          <a:p>
            <a:pPr>
              <a:spcBef>
                <a:spcPts val="800"/>
              </a:spcBef>
            </a:pPr>
            <a:r>
              <a:rPr sz="1500">
                <a:solidFill>
                  <a:srgbClr val="404040"/>
                </a:solidFill>
                <a:latin typeface="Helvetica Neue"/>
                <a:ea typeface="Hiragino Sans"/>
                <a:cs typeface="Hiragino Sans"/>
              </a:rPr>
              <a:t>✗  運用計画には使えない（研究・教育用のベースライン）</a:t>
            </a:r>
          </a:p>
        </p:txBody>
      </p:sp>
      <p:sp>
        <p:nvSpPr>
          <p:cNvPr id="10" name="TextBox 9"/>
          <p:cNvSpPr txBox="1"/>
          <p:nvPr/>
        </p:nvSpPr>
        <p:spPr>
          <a:xfrm>
            <a:off x="10161727" y="91440"/>
            <a:ext cx="1463040" cy="201168"/>
          </a:xfrm>
          <a:prstGeom prst="rect">
            <a:avLst/>
          </a:prstGeom>
          <a:noFill/>
        </p:spPr>
        <p:txBody>
          <a:bodyPr wrap="none" lIns="0" rIns="0" tIns="0" bIns="0">
            <a:noAutofit/>
          </a:bodyPr>
          <a:lstStyle/>
          <a:p>
            <a:pPr algn="r">
              <a:defRPr sz="1100">
                <a:solidFill>
                  <a:srgbClr val="676363"/>
                </a:solidFill>
                <a:latin typeface="Helvetica Neue"/>
                <a:ea typeface="Hiragino Sans"/>
                <a:cs typeface="Hiragino Sans"/>
              </a:defRPr>
            </a:pPr>
            <a:r>
              <a:rPr>
                <a:ea typeface="Hiragino Sans"/>
                <a:cs typeface="Hiragino Sans"/>
              </a:rPr>
              <a:t>18／24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000" b="1">
                <a:solidFill>
                  <a:srgbClr val="404040"/>
                </a:solidFill>
                <a:latin typeface="Helvetica Neue"/>
                <a:ea typeface="Hiragino Sans"/>
                <a:cs typeface="Hiragino Sans"/>
              </a:defRPr>
            </a:pPr>
            <a:r>
              <a:rPr>
                <a:ea typeface="Hiragino Sans"/>
                <a:cs typeface="Hiragino Sans"/>
              </a:rPr>
              <a:t>持ち帰っていただきたいこと</a:t>
            </a:r>
          </a:p>
        </p:txBody>
      </p:sp>
      <p:sp>
        <p:nvSpPr>
          <p:cNvPr id="3" name="Rectangle 2"/>
          <p:cNvSpPr/>
          <p:nvPr/>
        </p:nvSpPr>
        <p:spPr>
          <a:xfrm>
            <a:off x="566928" y="1152144"/>
            <a:ext cx="11057839"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547207" y="2394204"/>
            <a:ext cx="1097280" cy="31750"/>
          </a:xfrm>
          <a:prstGeom prst="rect">
            <a:avLst/>
          </a:prstGeom>
          <a:solidFill>
            <a:srgbClr val="DD5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 y="2595372"/>
            <a:ext cx="10143439" cy="965200"/>
          </a:xfrm>
          <a:prstGeom prst="rect">
            <a:avLst/>
          </a:prstGeom>
          <a:noFill/>
        </p:spPr>
        <p:txBody>
          <a:bodyPr wrap="square" lIns="0" rIns="0" tIns="0" bIns="0">
            <a:noAutofit/>
          </a:bodyPr>
          <a:lstStyle/>
          <a:p>
            <a:pPr algn="ctr">
              <a:lnSpc>
                <a:spcPct val="106000"/>
              </a:lnSpc>
            </a:pPr>
            <a:r>
              <a:rPr sz="2800" b="1">
                <a:solidFill>
                  <a:srgbClr val="404040"/>
                </a:solidFill>
                <a:latin typeface="Helvetica Neue"/>
                <a:ea typeface="Hiragino Sans"/>
                <a:cs typeface="Hiragino Sans"/>
              </a:rPr>
              <a:t>「地図を系統にする」の実体は、閾値を1つずつ物理的に正当化していく作業だった</a:t>
            </a:r>
          </a:p>
        </p:txBody>
      </p:sp>
      <p:sp>
        <p:nvSpPr>
          <p:cNvPr id="6" name="TextBox 5"/>
          <p:cNvSpPr txBox="1"/>
          <p:nvPr/>
        </p:nvSpPr>
        <p:spPr>
          <a:xfrm>
            <a:off x="1847088" y="3926332"/>
            <a:ext cx="8497519" cy="939800"/>
          </a:xfrm>
          <a:prstGeom prst="rect">
            <a:avLst/>
          </a:prstGeom>
          <a:noFill/>
        </p:spPr>
        <p:txBody>
          <a:bodyPr wrap="square" lIns="0" rIns="0" tIns="0" bIns="0">
            <a:noAutofit/>
          </a:bodyPr>
          <a:lstStyle/>
          <a:p>
            <a:pPr>
              <a:spcBef>
                <a:spcPts val="800"/>
              </a:spcBef>
            </a:pPr>
            <a:r>
              <a:rPr sz="1600">
                <a:solidFill>
                  <a:srgbClr val="404040"/>
                </a:solidFill>
                <a:latin typeface="Helvetica Neue"/>
                <a:ea typeface="Hiragino Sans"/>
                <a:cs typeface="Hiragino Sans"/>
              </a:rPr>
              <a:t>•  点の 44% は同一座標・最近傍の中央値は 80 m — 判断は m 単位で要る</a:t>
            </a:r>
          </a:p>
          <a:p>
            <a:pPr>
              <a:spcBef>
                <a:spcPts val="800"/>
              </a:spcBef>
            </a:pPr>
            <a:r>
              <a:rPr sz="1600">
                <a:solidFill>
                  <a:srgbClr val="404040"/>
                </a:solidFill>
                <a:latin typeface="Helvetica Neue"/>
                <a:ea typeface="Hiragino Sans"/>
                <a:cs typeface="Hiragino Sans"/>
              </a:rPr>
              <a:t>•  本数の 78% を捨てても延長では 16%。</a:t>
            </a:r>
            <a:r>
              <a:rPr sz="1600" b="1">
                <a:solidFill>
                  <a:srgbClr val="404040"/>
                </a:solidFill>
                <a:latin typeface="Helvetica Neue"/>
                <a:ea typeface="Hiragino Sans"/>
                <a:cs typeface="Hiragino Sans"/>
              </a:rPr>
              <a:t>連結性を数えて初めて分かる</a:t>
            </a:r>
          </a:p>
          <a:p>
            <a:pPr>
              <a:spcBef>
                <a:spcPts val="800"/>
              </a:spcBef>
            </a:pPr>
            <a:r>
              <a:rPr sz="1600">
                <a:solidFill>
                  <a:srgbClr val="404040"/>
                </a:solidFill>
                <a:latin typeface="Helvetica Neue"/>
                <a:ea typeface="Hiragino Sans"/>
                <a:cs typeface="Hiragino Sans"/>
              </a:rPr>
              <a:t>•  照合率が下がる修正が正しいこともある（46.0% → 28.8%）</a:t>
            </a:r>
          </a:p>
        </p:txBody>
      </p:sp>
      <p:sp>
        <p:nvSpPr>
          <p:cNvPr id="7" name="TextBox 6"/>
          <p:cNvSpPr txBox="1"/>
          <p:nvPr/>
        </p:nvSpPr>
        <p:spPr>
          <a:xfrm>
            <a:off x="10161727" y="91440"/>
            <a:ext cx="1463040" cy="201168"/>
          </a:xfrm>
          <a:prstGeom prst="rect">
            <a:avLst/>
          </a:prstGeom>
          <a:noFill/>
        </p:spPr>
        <p:txBody>
          <a:bodyPr wrap="none" lIns="0" rIns="0" tIns="0" bIns="0">
            <a:noAutofit/>
          </a:bodyPr>
          <a:lstStyle/>
          <a:p>
            <a:pPr algn="r">
              <a:defRPr sz="1100">
                <a:solidFill>
                  <a:srgbClr val="676363"/>
                </a:solidFill>
                <a:latin typeface="Helvetica Neue"/>
                <a:ea typeface="Hiragino Sans"/>
                <a:cs typeface="Hiragino Sans"/>
              </a:defRPr>
            </a:pPr>
            <a:r>
              <a:rPr>
                <a:ea typeface="Hiragino Sans"/>
                <a:cs typeface="Hiragino Sans"/>
              </a:rPr>
              <a:t>19／24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592927" y="2697480"/>
            <a:ext cx="1005840" cy="20320"/>
          </a:xfrm>
          <a:prstGeom prst="rect">
            <a:avLst/>
          </a:prstGeom>
          <a:solidFill>
            <a:srgbClr val="DD5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880360"/>
            <a:ext cx="10362895" cy="660400"/>
          </a:xfrm>
          <a:prstGeom prst="rect">
            <a:avLst/>
          </a:prstGeom>
          <a:noFill/>
        </p:spPr>
        <p:txBody>
          <a:bodyPr wrap="square" lIns="0" rIns="0" tIns="0" bIns="0">
            <a:noAutofit/>
          </a:bodyPr>
          <a:lstStyle/>
          <a:p>
            <a:pPr algn="ctr">
              <a:defRPr sz="4000" b="1">
                <a:solidFill>
                  <a:srgbClr val="404040"/>
                </a:solidFill>
                <a:latin typeface="Helvetica Neue"/>
                <a:ea typeface="Hiragino Sans"/>
                <a:cs typeface="Hiragino Sans"/>
              </a:defRPr>
            </a:pPr>
            <a:r>
              <a:rPr>
                <a:ea typeface="Hiragino Sans"/>
                <a:cs typeface="Hiragino Sans"/>
              </a:rPr>
              <a:t>ご清聴ありがとうございました</a:t>
            </a:r>
          </a:p>
        </p:txBody>
      </p:sp>
      <p:sp>
        <p:nvSpPr>
          <p:cNvPr id="4" name="TextBox 3"/>
          <p:cNvSpPr txBox="1"/>
          <p:nvPr/>
        </p:nvSpPr>
        <p:spPr>
          <a:xfrm>
            <a:off x="914400" y="4160520"/>
            <a:ext cx="10362895" cy="822960"/>
          </a:xfrm>
          <a:prstGeom prst="rect">
            <a:avLst/>
          </a:prstGeom>
          <a:noFill/>
        </p:spPr>
        <p:txBody>
          <a:bodyPr wrap="square" lIns="0" rIns="0" tIns="0" bIns="0">
            <a:noAutofit/>
          </a:bodyPr>
          <a:lstStyle/>
          <a:p>
            <a:pPr algn="ctr">
              <a:defRPr sz="1800">
                <a:solidFill>
                  <a:srgbClr val="676363"/>
                </a:solidFill>
                <a:latin typeface="Helvetica Neue"/>
                <a:ea typeface="Hiragino Sans"/>
                <a:cs typeface="Hiragino Sans"/>
              </a:defRPr>
            </a:pPr>
            <a:r>
              <a:rPr>
                <a:ea typeface="Hiragino Sans"/>
                <a:cs typeface="Hiragino Sans"/>
              </a:rPr>
              <a:t>質疑をお願いします</a:t>
            </a:r>
          </a:p>
          <a:p>
            <a:pPr algn="ctr">
              <a:spcBef>
                <a:spcPts val="400"/>
              </a:spcBef>
              <a:defRPr sz="1800">
                <a:solidFill>
                  <a:srgbClr val="676363"/>
                </a:solidFill>
                <a:latin typeface="Helvetica Neue"/>
                <a:ea typeface="Hiragino Sans"/>
                <a:cs typeface="Hiragino Sans"/>
              </a:defRPr>
            </a:pPr>
            <a:r>
              <a:rPr>
                <a:ea typeface="Hiragino Sans"/>
                <a:cs typeface="Hiragino Sans"/>
              </a:rPr>
              <a:t>github.com/lutelute/All-Japan-Grid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000" b="1">
                <a:solidFill>
                  <a:srgbClr val="404040"/>
                </a:solidFill>
                <a:latin typeface="Helvetica Neue"/>
                <a:ea typeface="Hiragino Sans"/>
                <a:cs typeface="Hiragino Sans"/>
              </a:defRPr>
            </a:pPr>
            <a:r>
              <a:rPr>
                <a:ea typeface="Hiragino Sans"/>
                <a:cs typeface="Hiragino Sans"/>
              </a:rPr>
              <a:t>衛星画像に重ねて位置を確かめる</a:t>
            </a:r>
          </a:p>
        </p:txBody>
      </p:sp>
      <p:sp>
        <p:nvSpPr>
          <p:cNvPr id="3" name="Rectangle 2"/>
          <p:cNvSpPr/>
          <p:nvPr/>
        </p:nvSpPr>
        <p:spPr>
          <a:xfrm>
            <a:off x="566928" y="1152144"/>
            <a:ext cx="11057839"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353312"/>
            <a:ext cx="3503066" cy="4754880"/>
          </a:xfrm>
          <a:prstGeom prst="roundRect">
            <a:avLst>
              <a:gd name="adj" fmla="val 3500"/>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at_kashima.png"/>
          <p:cNvPicPr>
            <a:picLocks noChangeAspect="1"/>
          </p:cNvPicPr>
          <p:nvPr/>
        </p:nvPicPr>
        <p:blipFill>
          <a:blip r:embed="rId2"/>
          <a:stretch>
            <a:fillRect/>
          </a:stretch>
        </p:blipFill>
        <p:spPr>
          <a:xfrm>
            <a:off x="812143" y="2226313"/>
            <a:ext cx="3012636" cy="2697982"/>
          </a:xfrm>
          <a:prstGeom prst="rect">
            <a:avLst/>
          </a:prstGeom>
        </p:spPr>
      </p:pic>
      <p:sp>
        <p:nvSpPr>
          <p:cNvPr id="6" name="TextBox 5"/>
          <p:cNvSpPr txBox="1"/>
          <p:nvPr/>
        </p:nvSpPr>
        <p:spPr>
          <a:xfrm>
            <a:off x="658368" y="5797296"/>
            <a:ext cx="3320186" cy="310896"/>
          </a:xfrm>
          <a:prstGeom prst="rect">
            <a:avLst/>
          </a:prstGeom>
          <a:noFill/>
        </p:spPr>
        <p:txBody>
          <a:bodyPr wrap="square" lIns="0" rIns="0" tIns="0" bIns="0" anchor="ctr">
            <a:noAutofit/>
          </a:bodyPr>
          <a:lstStyle/>
          <a:p>
            <a:pPr algn="ctr"/>
            <a:r>
              <a:rPr sz="1100">
                <a:solidFill>
                  <a:srgbClr val="676363"/>
                </a:solidFill>
                <a:latin typeface="Helvetica Neue"/>
                <a:ea typeface="Hiragino Sans"/>
                <a:cs typeface="Hiragino Sans"/>
              </a:rPr>
              <a:t>鹿島火力（茨城）— 本体から 500 kV 線が伸びる</a:t>
            </a:r>
          </a:p>
        </p:txBody>
      </p:sp>
      <p:sp>
        <p:nvSpPr>
          <p:cNvPr id="7" name="Rounded Rectangle 6"/>
          <p:cNvSpPr/>
          <p:nvPr/>
        </p:nvSpPr>
        <p:spPr>
          <a:xfrm>
            <a:off x="4344314" y="1353312"/>
            <a:ext cx="3503066" cy="4754880"/>
          </a:xfrm>
          <a:prstGeom prst="roundRect">
            <a:avLst>
              <a:gd name="adj" fmla="val 3500"/>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at_anan_fc.png"/>
          <p:cNvPicPr>
            <a:picLocks noChangeAspect="1"/>
          </p:cNvPicPr>
          <p:nvPr/>
        </p:nvPicPr>
        <p:blipFill>
          <a:blip r:embed="rId3"/>
          <a:stretch>
            <a:fillRect/>
          </a:stretch>
        </p:blipFill>
        <p:spPr>
          <a:xfrm>
            <a:off x="4589529" y="2226313"/>
            <a:ext cx="3012636" cy="2697982"/>
          </a:xfrm>
          <a:prstGeom prst="rect">
            <a:avLst/>
          </a:prstGeom>
        </p:spPr>
      </p:pic>
      <p:sp>
        <p:nvSpPr>
          <p:cNvPr id="9" name="TextBox 8"/>
          <p:cNvSpPr txBox="1"/>
          <p:nvPr/>
        </p:nvSpPr>
        <p:spPr>
          <a:xfrm>
            <a:off x="4435754" y="5797296"/>
            <a:ext cx="3320186" cy="310896"/>
          </a:xfrm>
          <a:prstGeom prst="rect">
            <a:avLst/>
          </a:prstGeom>
          <a:noFill/>
        </p:spPr>
        <p:txBody>
          <a:bodyPr wrap="square" lIns="0" rIns="0" tIns="0" bIns="0" anchor="ctr">
            <a:noAutofit/>
          </a:bodyPr>
          <a:lstStyle/>
          <a:p>
            <a:pPr algn="ctr"/>
            <a:r>
              <a:rPr sz="1100">
                <a:solidFill>
                  <a:srgbClr val="676363"/>
                </a:solidFill>
                <a:latin typeface="Helvetica Neue"/>
                <a:ea typeface="Hiragino Sans"/>
                <a:cs typeface="Hiragino Sans"/>
              </a:rPr>
              <a:t>阿南周波数変換所（徳島）— 東西連系の引込み線</a:t>
            </a:r>
          </a:p>
        </p:txBody>
      </p:sp>
      <p:sp>
        <p:nvSpPr>
          <p:cNvPr id="10" name="Rounded Rectangle 9"/>
          <p:cNvSpPr/>
          <p:nvPr/>
        </p:nvSpPr>
        <p:spPr>
          <a:xfrm>
            <a:off x="8121700" y="1353312"/>
            <a:ext cx="3503066" cy="4754880"/>
          </a:xfrm>
          <a:prstGeom prst="roundRect">
            <a:avLst>
              <a:gd name="adj" fmla="val 3500"/>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at_reinan.png"/>
          <p:cNvPicPr>
            <a:picLocks noChangeAspect="1"/>
          </p:cNvPicPr>
          <p:nvPr/>
        </p:nvPicPr>
        <p:blipFill>
          <a:blip r:embed="rId4"/>
          <a:stretch>
            <a:fillRect/>
          </a:stretch>
        </p:blipFill>
        <p:spPr>
          <a:xfrm>
            <a:off x="8366915" y="2226313"/>
            <a:ext cx="3012636" cy="2697982"/>
          </a:xfrm>
          <a:prstGeom prst="rect">
            <a:avLst/>
          </a:prstGeom>
        </p:spPr>
      </p:pic>
      <p:sp>
        <p:nvSpPr>
          <p:cNvPr id="12" name="TextBox 11"/>
          <p:cNvSpPr txBox="1"/>
          <p:nvPr/>
        </p:nvSpPr>
        <p:spPr>
          <a:xfrm>
            <a:off x="8213140" y="5797296"/>
            <a:ext cx="3320186" cy="310896"/>
          </a:xfrm>
          <a:prstGeom prst="rect">
            <a:avLst/>
          </a:prstGeom>
          <a:noFill/>
        </p:spPr>
        <p:txBody>
          <a:bodyPr wrap="square" lIns="0" rIns="0" tIns="0" bIns="0" anchor="ctr">
            <a:noAutofit/>
          </a:bodyPr>
          <a:lstStyle/>
          <a:p>
            <a:pPr algn="ctr"/>
            <a:r>
              <a:rPr sz="1100">
                <a:solidFill>
                  <a:srgbClr val="676363"/>
                </a:solidFill>
                <a:latin typeface="Helvetica Neue"/>
                <a:ea typeface="Hiragino Sans"/>
                <a:cs typeface="Hiragino Sans"/>
              </a:rPr>
              <a:t>嶺南変電所（福井）— 若狭湾の 500 kV 集約点</a:t>
            </a:r>
          </a:p>
        </p:txBody>
      </p:sp>
      <p:sp>
        <p:nvSpPr>
          <p:cNvPr id="13" name="TextBox 12"/>
          <p:cNvSpPr txBox="1"/>
          <p:nvPr/>
        </p:nvSpPr>
        <p:spPr>
          <a:xfrm>
            <a:off x="10161727" y="91440"/>
            <a:ext cx="1463040" cy="201168"/>
          </a:xfrm>
          <a:prstGeom prst="rect">
            <a:avLst/>
          </a:prstGeom>
          <a:noFill/>
        </p:spPr>
        <p:txBody>
          <a:bodyPr wrap="none" lIns="0" rIns="0" tIns="0" bIns="0">
            <a:noAutofit/>
          </a:bodyPr>
          <a:lstStyle/>
          <a:p>
            <a:pPr algn="r">
              <a:defRPr sz="1100">
                <a:solidFill>
                  <a:srgbClr val="676363"/>
                </a:solidFill>
                <a:latin typeface="Helvetica Neue"/>
                <a:ea typeface="Hiragino Sans"/>
                <a:cs typeface="Hiragino Sans"/>
              </a:defRPr>
            </a:pPr>
            <a:r>
              <a:rPr>
                <a:ea typeface="Hiragino Sans"/>
                <a:cs typeface="Hiragino Sans"/>
              </a:rPr>
              <a:t>21／24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8680399" cy="658368"/>
          </a:xfrm>
          <a:prstGeom prst="rect">
            <a:avLst/>
          </a:prstGeom>
          <a:noFill/>
        </p:spPr>
        <p:txBody>
          <a:bodyPr wrap="square" lIns="0" rIns="0" tIns="0" bIns="0" anchor="ctr">
            <a:noAutofit/>
          </a:bodyPr>
          <a:lstStyle/>
          <a:p>
            <a:pPr>
              <a:lnSpc>
                <a:spcPct val="106000"/>
              </a:lnSpc>
              <a:defRPr sz="3000" b="1">
                <a:solidFill>
                  <a:srgbClr val="676363"/>
                </a:solidFill>
                <a:latin typeface="Helvetica Neue"/>
                <a:ea typeface="Hiragino Sans"/>
                <a:cs typeface="Hiragino Sans"/>
              </a:defRPr>
            </a:pPr>
            <a:r>
              <a:rPr>
                <a:ea typeface="Hiragino Sans"/>
                <a:cs typeface="Hiragino Sans"/>
              </a:rPr>
              <a:t>7段階の属性補完</a:t>
            </a:r>
          </a:p>
        </p:txBody>
      </p:sp>
      <p:sp>
        <p:nvSpPr>
          <p:cNvPr id="3" name="Rectangle 2"/>
          <p:cNvSpPr/>
          <p:nvPr/>
        </p:nvSpPr>
        <p:spPr>
          <a:xfrm>
            <a:off x="566928" y="1152144"/>
            <a:ext cx="11057839"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14255" y="457200"/>
            <a:ext cx="1828800" cy="237744"/>
          </a:xfrm>
          <a:prstGeom prst="rect">
            <a:avLst/>
          </a:prstGeom>
          <a:noFill/>
        </p:spPr>
        <p:txBody>
          <a:bodyPr wrap="none" lIns="0" rIns="0" tIns="0" bIns="0">
            <a:noAutofit/>
          </a:bodyPr>
          <a:lstStyle/>
          <a:p>
            <a:pPr algn="r">
              <a:defRPr sz="1200" b="1">
                <a:solidFill>
                  <a:srgbClr val="676363"/>
                </a:solidFill>
                <a:latin typeface="Helvetica Neue"/>
                <a:ea typeface="Hiragino Sans"/>
                <a:cs typeface="Hiragino Sans"/>
              </a:defRPr>
            </a:pPr>
            <a:r>
              <a:rPr spc="180">
                <a:ea typeface="Hiragino Sans"/>
                <a:cs typeface="Hiragino Sans"/>
              </a:rPr>
              <a:t>APPENDIX B</a:t>
            </a:r>
          </a:p>
        </p:txBody>
      </p:sp>
      <p:graphicFrame>
        <p:nvGraphicFramePr>
          <p:cNvPr id="5" name="Table 4"/>
          <p:cNvGraphicFramePr>
            <a:graphicFrameLocks noGrp="1"/>
          </p:cNvGraphicFramePr>
          <p:nvPr/>
        </p:nvGraphicFramePr>
        <p:xfrm>
          <a:off x="1783290" y="2232152"/>
          <a:ext cx="8625114" cy="2997200"/>
        </p:xfrm>
        <a:graphic>
          <a:graphicData uri="http://schemas.openxmlformats.org/drawingml/2006/table">
            <a:tbl>
              <a:tblPr/>
              <a:tblGrid>
                <a:gridCol w="640080"/>
                <a:gridCol w="5240673"/>
                <a:gridCol w="2744361"/>
              </a:tblGrid>
              <a:tr h="374650">
                <a:tc>
                  <a:txBody>
                    <a:bodyPr/>
                    <a:lstStyle/>
                    <a:p>
                      <a:pPr algn="r"/>
                      <a:r>
                        <a:rPr sz="1400" b="1">
                          <a:solidFill>
                            <a:srgbClr val="404040"/>
                          </a:solidFill>
                          <a:latin typeface="Helvetica Neue"/>
                          <a:ea typeface="Hiragino Sans"/>
                          <a:cs typeface="Hiragino Sans"/>
                        </a:rPr>
                        <a:t>段階</a:t>
                      </a:r>
                    </a:p>
                  </a:txBody>
                  <a:tcPr anchor="ctr" marL="127000" marR="127000" marT="76200" marB="76200">
                    <a:lnB w="12700" cap="flat" cmpd="sng" algn="ctr">
                      <a:solidFill>
                        <a:srgbClr val="404040"/>
                      </a:solidFill>
                      <a:prstDash val="solid"/>
                    </a:lnB>
                    <a:lnT w="15875" cap="flat" cmpd="sng" algn="ctr">
                      <a:solidFill>
                        <a:srgbClr val="404040"/>
                      </a:solidFill>
                      <a:prstDash val="solid"/>
                    </a:lnT>
                    <a:lnR>
                      <a:noFill/>
                    </a:lnR>
                    <a:lnL>
                      <a:noFill/>
                    </a:lnL>
                    <a:noFill/>
                  </a:tcPr>
                </a:tc>
                <a:tc>
                  <a:txBody>
                    <a:bodyPr/>
                    <a:lstStyle/>
                    <a:p>
                      <a:pPr algn="l"/>
                      <a:r>
                        <a:rPr sz="1400" b="1">
                          <a:solidFill>
                            <a:srgbClr val="404040"/>
                          </a:solidFill>
                          <a:latin typeface="Helvetica Neue"/>
                          <a:ea typeface="Hiragino Sans"/>
                          <a:cs typeface="Hiragino Sans"/>
                        </a:rPr>
                        <a:t>手法</a:t>
                      </a:r>
                    </a:p>
                  </a:txBody>
                  <a:tcPr anchor="ctr" marL="127000" marR="127000" marT="76200" marB="76200">
                    <a:lnB w="12700" cap="flat" cmpd="sng" algn="ctr">
                      <a:solidFill>
                        <a:srgbClr val="404040"/>
                      </a:solidFill>
                      <a:prstDash val="solid"/>
                    </a:lnB>
                    <a:lnT w="15875" cap="flat" cmpd="sng" algn="ctr">
                      <a:solidFill>
                        <a:srgbClr val="404040"/>
                      </a:solidFill>
                      <a:prstDash val="solid"/>
                    </a:lnT>
                    <a:lnR>
                      <a:noFill/>
                    </a:lnR>
                    <a:lnL>
                      <a:noFill/>
                    </a:lnL>
                    <a:noFill/>
                  </a:tcPr>
                </a:tc>
                <a:tc>
                  <a:txBody>
                    <a:bodyPr/>
                    <a:lstStyle/>
                    <a:p>
                      <a:pPr algn="l"/>
                      <a:r>
                        <a:rPr sz="1400" b="1">
                          <a:solidFill>
                            <a:srgbClr val="404040"/>
                          </a:solidFill>
                          <a:latin typeface="Helvetica Neue"/>
                          <a:ea typeface="Hiragino Sans"/>
                          <a:cs typeface="Hiragino Sans"/>
                        </a:rPr>
                        <a:t>主対象</a:t>
                      </a:r>
                    </a:p>
                  </a:txBody>
                  <a:tcPr anchor="ctr" marL="127000" marR="127000" marT="76200" marB="76200">
                    <a:lnB w="12700" cap="flat" cmpd="sng" algn="ctr">
                      <a:solidFill>
                        <a:srgbClr val="404040"/>
                      </a:solidFill>
                      <a:prstDash val="solid"/>
                    </a:lnB>
                    <a:lnT w="15875" cap="flat" cmpd="sng" algn="ctr">
                      <a:solidFill>
                        <a:srgbClr val="404040"/>
                      </a:solidFill>
                      <a:prstDash val="solid"/>
                    </a:lnT>
                    <a:lnR>
                      <a:noFill/>
                    </a:lnR>
                    <a:lnL>
                      <a:noFill/>
                    </a:lnL>
                    <a:noFill/>
                  </a:tcPr>
                </a:tc>
              </a:tr>
              <a:tr h="374650">
                <a:tc>
                  <a:txBody>
                    <a:bodyPr/>
                    <a:lstStyle/>
                    <a:p>
                      <a:pPr algn="r"/>
                      <a:r>
                        <a:rPr sz="1400" b="1">
                          <a:solidFill>
                            <a:srgbClr val="0D558E"/>
                          </a:solidFill>
                          <a:latin typeface="Helvetica Neue"/>
                          <a:ea typeface="Hiragino Sans"/>
                          <a:cs typeface="Hiragino Sans"/>
                        </a:rPr>
                        <a:t>1</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ベースライン監査・欠損分類</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全体</a:t>
                      </a:r>
                    </a:p>
                  </a:txBody>
                  <a:tcPr anchor="ctr" marL="127000" marR="127000" marT="76200" marB="76200">
                    <a:lnB w="6350" cap="flat" cmpd="sng" algn="ctr">
                      <a:solidFill>
                        <a:srgbClr val="D9D9D9"/>
                      </a:solidFill>
                      <a:prstDash val="solid"/>
                    </a:lnB>
                    <a:lnT>
                      <a:noFill/>
                    </a:lnT>
                    <a:lnR>
                      <a:noFill/>
                    </a:lnR>
                    <a:lnL>
                      <a:noFill/>
                    </a:lnL>
                    <a:noFill/>
                  </a:tcPr>
                </a:tc>
              </a:tr>
              <a:tr h="374650">
                <a:tc>
                  <a:txBody>
                    <a:bodyPr/>
                    <a:lstStyle/>
                    <a:p>
                      <a:pPr algn="r"/>
                      <a:r>
                        <a:rPr sz="1400" b="1">
                          <a:solidFill>
                            <a:srgbClr val="0D558E"/>
                          </a:solidFill>
                          <a:latin typeface="Helvetica Neue"/>
                          <a:ea typeface="Hiragino Sans"/>
                          <a:cs typeface="Hiragino Sans"/>
                        </a:rPr>
                        <a:t>2</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Nominatim 逆ジオコーディング</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変電所名</a:t>
                      </a:r>
                    </a:p>
                  </a:txBody>
                  <a:tcPr anchor="ctr" marL="127000" marR="127000" marT="76200" marB="76200">
                    <a:lnB w="6350" cap="flat" cmpd="sng" algn="ctr">
                      <a:solidFill>
                        <a:srgbClr val="D9D9D9"/>
                      </a:solidFill>
                      <a:prstDash val="solid"/>
                    </a:lnB>
                    <a:lnT>
                      <a:noFill/>
                    </a:lnT>
                    <a:lnR>
                      <a:noFill/>
                    </a:lnR>
                    <a:lnL>
                      <a:noFill/>
                    </a:lnL>
                    <a:noFill/>
                  </a:tcPr>
                </a:tc>
              </a:tr>
              <a:tr h="374650">
                <a:tc>
                  <a:txBody>
                    <a:bodyPr/>
                    <a:lstStyle/>
                    <a:p>
                      <a:pPr algn="r"/>
                      <a:r>
                        <a:rPr sz="1400" b="1">
                          <a:solidFill>
                            <a:srgbClr val="0D558E"/>
                          </a:solidFill>
                          <a:latin typeface="Helvetica Neue"/>
                          <a:ea typeface="Hiragino Sans"/>
                          <a:cs typeface="Hiragino Sans"/>
                        </a:rPr>
                        <a:t>3</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国交省 P03 施設データ空間照合</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発電所</a:t>
                      </a:r>
                    </a:p>
                  </a:txBody>
                  <a:tcPr anchor="ctr" marL="127000" marR="127000" marT="76200" marB="76200">
                    <a:lnB w="6350" cap="flat" cmpd="sng" algn="ctr">
                      <a:solidFill>
                        <a:srgbClr val="D9D9D9"/>
                      </a:solidFill>
                      <a:prstDash val="solid"/>
                    </a:lnB>
                    <a:lnT>
                      <a:noFill/>
                    </a:lnT>
                    <a:lnR>
                      <a:noFill/>
                    </a:lnR>
                    <a:lnL>
                      <a:noFill/>
                    </a:lnL>
                    <a:noFill/>
                  </a:tcPr>
                </a:tc>
              </a:tr>
              <a:tr h="374650">
                <a:tc>
                  <a:txBody>
                    <a:bodyPr/>
                    <a:lstStyle/>
                    <a:p>
                      <a:pPr algn="r"/>
                      <a:r>
                        <a:rPr sz="1400" b="1">
                          <a:solidFill>
                            <a:srgbClr val="0D558E"/>
                          </a:solidFill>
                          <a:latin typeface="Helvetica Neue"/>
                          <a:ea typeface="Hiragino Sans"/>
                          <a:cs typeface="Hiragino Sans"/>
                        </a:rPr>
                        <a:t>4</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Overpass タグ一括取得（500件/回）</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属性全般</a:t>
                      </a:r>
                    </a:p>
                  </a:txBody>
                  <a:tcPr anchor="ctr" marL="127000" marR="127000" marT="76200" marB="76200">
                    <a:lnB w="6350" cap="flat" cmpd="sng" algn="ctr">
                      <a:solidFill>
                        <a:srgbClr val="D9D9D9"/>
                      </a:solidFill>
                      <a:prstDash val="solid"/>
                    </a:lnB>
                    <a:lnT>
                      <a:noFill/>
                    </a:lnT>
                    <a:lnR>
                      <a:noFill/>
                    </a:lnR>
                    <a:lnL>
                      <a:noFill/>
                    </a:lnL>
                    <a:noFill/>
                  </a:tcPr>
                </a:tc>
              </a:tr>
              <a:tr h="374650">
                <a:tc>
                  <a:txBody>
                    <a:bodyPr/>
                    <a:lstStyle/>
                    <a:p>
                      <a:pPr algn="r"/>
                      <a:r>
                        <a:rPr sz="1400" b="1">
                          <a:solidFill>
                            <a:srgbClr val="0D558E"/>
                          </a:solidFill>
                          <a:latin typeface="Helvetica Neue"/>
                          <a:ea typeface="Hiragino Sans"/>
                          <a:cs typeface="Hiragino Sans"/>
                        </a:rPr>
                        <a:t>5</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Nominatim ジオコーディング（後退）</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発電所</a:t>
                      </a:r>
                    </a:p>
                  </a:txBody>
                  <a:tcPr anchor="ctr" marL="127000" marR="127000" marT="76200" marB="76200">
                    <a:lnB w="6350" cap="flat" cmpd="sng" algn="ctr">
                      <a:solidFill>
                        <a:srgbClr val="D9D9D9"/>
                      </a:solidFill>
                      <a:prstDash val="solid"/>
                    </a:lnB>
                    <a:lnT>
                      <a:noFill/>
                    </a:lnT>
                    <a:lnR>
                      <a:noFill/>
                    </a:lnR>
                    <a:lnL>
                      <a:noFill/>
                    </a:lnL>
                    <a:noFill/>
                  </a:tcPr>
                </a:tc>
              </a:tr>
              <a:tr h="374650">
                <a:tc>
                  <a:txBody>
                    <a:bodyPr/>
                    <a:lstStyle/>
                    <a:p>
                      <a:pPr algn="r"/>
                      <a:r>
                        <a:rPr sz="1400" b="1">
                          <a:solidFill>
                            <a:srgbClr val="0D558E"/>
                          </a:solidFill>
                          <a:latin typeface="Helvetica Neue"/>
                          <a:ea typeface="Hiragino Sans"/>
                          <a:cs typeface="Hiragino Sans"/>
                        </a:rPr>
                        <a:t>6</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最近傍変電所マッチング（50 km 閾値）</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送電線名</a:t>
                      </a:r>
                    </a:p>
                  </a:txBody>
                  <a:tcPr anchor="ctr" marL="127000" marR="127000" marT="76200" marB="76200">
                    <a:lnB w="6350" cap="flat" cmpd="sng" algn="ctr">
                      <a:solidFill>
                        <a:srgbClr val="D9D9D9"/>
                      </a:solidFill>
                      <a:prstDash val="solid"/>
                    </a:lnB>
                    <a:lnT>
                      <a:noFill/>
                    </a:lnT>
                    <a:lnR>
                      <a:noFill/>
                    </a:lnR>
                    <a:lnL>
                      <a:noFill/>
                    </a:lnL>
                    <a:noFill/>
                  </a:tcPr>
                </a:tc>
              </a:tr>
              <a:tr h="374650">
                <a:tc>
                  <a:txBody>
                    <a:bodyPr/>
                    <a:lstStyle/>
                    <a:p>
                      <a:pPr algn="r"/>
                      <a:r>
                        <a:rPr sz="1400" b="1">
                          <a:solidFill>
                            <a:srgbClr val="0D558E"/>
                          </a:solidFill>
                          <a:latin typeface="Helvetica Neue"/>
                          <a:ea typeface="Hiragino Sans"/>
                          <a:cs typeface="Hiragino Sans"/>
                        </a:rPr>
                        <a:t>7</a:t>
                      </a:r>
                    </a:p>
                  </a:txBody>
                  <a:tcPr anchor="ctr" marL="127000" marR="127000" marT="76200" marB="76200">
                    <a:lnB w="15875" cap="flat" cmpd="sng" algn="ctr">
                      <a:solidFill>
                        <a:srgbClr val="404040"/>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燃料種別正規化（44 エントリ対応表）</a:t>
                      </a:r>
                    </a:p>
                  </a:txBody>
                  <a:tcPr anchor="ctr" marL="127000" marR="127000" marT="76200" marB="76200">
                    <a:lnB w="15875" cap="flat" cmpd="sng" algn="ctr">
                      <a:solidFill>
                        <a:srgbClr val="404040"/>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発電所</a:t>
                      </a:r>
                    </a:p>
                  </a:txBody>
                  <a:tcPr anchor="ctr" marL="127000" marR="127000" marT="76200" marB="76200">
                    <a:lnB w="15875" cap="flat" cmpd="sng" algn="ctr">
                      <a:solidFill>
                        <a:srgbClr val="404040"/>
                      </a:solidFill>
                      <a:prstDash val="solid"/>
                    </a:lnB>
                    <a:lnT>
                      <a:noFill/>
                    </a:lnT>
                    <a:lnR>
                      <a:noFill/>
                    </a:lnR>
                    <a:lnL>
                      <a:noFill/>
                    </a:lnL>
                    <a:noFill/>
                  </a:tcPr>
                </a:tc>
              </a:tr>
            </a:tbl>
          </a:graphicData>
        </a:graphic>
      </p:graphicFrame>
      <p:sp>
        <p:nvSpPr>
          <p:cNvPr id="6" name="TextBox 5"/>
          <p:cNvSpPr txBox="1"/>
          <p:nvPr/>
        </p:nvSpPr>
        <p:spPr>
          <a:xfrm>
            <a:off x="10161727" y="91440"/>
            <a:ext cx="1463040" cy="201168"/>
          </a:xfrm>
          <a:prstGeom prst="rect">
            <a:avLst/>
          </a:prstGeom>
          <a:noFill/>
        </p:spPr>
        <p:txBody>
          <a:bodyPr wrap="none" lIns="0" rIns="0" tIns="0" bIns="0">
            <a:noAutofit/>
          </a:bodyPr>
          <a:lstStyle/>
          <a:p>
            <a:pPr algn="r">
              <a:defRPr sz="1100">
                <a:solidFill>
                  <a:srgbClr val="676363"/>
                </a:solidFill>
                <a:latin typeface="Helvetica Neue"/>
                <a:ea typeface="Hiragino Sans"/>
                <a:cs typeface="Hiragino Sans"/>
              </a:defRPr>
            </a:pPr>
            <a:r>
              <a:rPr>
                <a:ea typeface="Hiragino Sans"/>
                <a:cs typeface="Hiragino Sans"/>
              </a:rPr>
              <a:t>22／24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8680399" cy="658368"/>
          </a:xfrm>
          <a:prstGeom prst="rect">
            <a:avLst/>
          </a:prstGeom>
          <a:noFill/>
        </p:spPr>
        <p:txBody>
          <a:bodyPr wrap="square" lIns="0" rIns="0" tIns="0" bIns="0" anchor="ctr">
            <a:noAutofit/>
          </a:bodyPr>
          <a:lstStyle/>
          <a:p>
            <a:pPr>
              <a:lnSpc>
                <a:spcPct val="106000"/>
              </a:lnSpc>
              <a:defRPr sz="3000" b="1">
                <a:solidFill>
                  <a:srgbClr val="676363"/>
                </a:solidFill>
                <a:latin typeface="Helvetica Neue"/>
                <a:ea typeface="Hiragino Sans"/>
                <a:cs typeface="Hiragino Sans"/>
              </a:defRPr>
            </a:pPr>
            <a:r>
              <a:rPr>
                <a:ea typeface="Hiragino Sans"/>
                <a:cs typeface="Hiragino Sans"/>
              </a:rPr>
              <a:t>電圧クラス別の線路パラメータ</a:t>
            </a:r>
          </a:p>
        </p:txBody>
      </p:sp>
      <p:sp>
        <p:nvSpPr>
          <p:cNvPr id="3" name="Rectangle 2"/>
          <p:cNvSpPr/>
          <p:nvPr/>
        </p:nvSpPr>
        <p:spPr>
          <a:xfrm>
            <a:off x="566928" y="1152144"/>
            <a:ext cx="11057839"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14255" y="457200"/>
            <a:ext cx="1828800" cy="237744"/>
          </a:xfrm>
          <a:prstGeom prst="rect">
            <a:avLst/>
          </a:prstGeom>
          <a:noFill/>
        </p:spPr>
        <p:txBody>
          <a:bodyPr wrap="none" lIns="0" rIns="0" tIns="0" bIns="0">
            <a:noAutofit/>
          </a:bodyPr>
          <a:lstStyle/>
          <a:p>
            <a:pPr algn="r">
              <a:defRPr sz="1200" b="1">
                <a:solidFill>
                  <a:srgbClr val="676363"/>
                </a:solidFill>
                <a:latin typeface="Helvetica Neue"/>
                <a:ea typeface="Hiragino Sans"/>
                <a:cs typeface="Hiragino Sans"/>
              </a:defRPr>
            </a:pPr>
            <a:r>
              <a:rPr spc="180">
                <a:ea typeface="Hiragino Sans"/>
                <a:cs typeface="Hiragino Sans"/>
              </a:rPr>
              <a:t>APPENDIX C</a:t>
            </a:r>
          </a:p>
        </p:txBody>
      </p:sp>
      <p:graphicFrame>
        <p:nvGraphicFramePr>
          <p:cNvPr id="5" name="Table 4"/>
          <p:cNvGraphicFramePr>
            <a:graphicFrameLocks noGrp="1"/>
          </p:cNvGraphicFramePr>
          <p:nvPr/>
        </p:nvGraphicFramePr>
        <p:xfrm>
          <a:off x="1783290" y="2606802"/>
          <a:ext cx="8625114" cy="2247900"/>
        </p:xfrm>
        <a:graphic>
          <a:graphicData uri="http://schemas.openxmlformats.org/drawingml/2006/table">
            <a:tbl>
              <a:tblPr/>
              <a:tblGrid>
                <a:gridCol w="1488548"/>
                <a:gridCol w="1735512"/>
                <a:gridCol w="1722355"/>
                <a:gridCol w="1818012"/>
                <a:gridCol w="1860687"/>
              </a:tblGrid>
              <a:tr h="374650">
                <a:tc>
                  <a:txBody>
                    <a:bodyPr/>
                    <a:lstStyle/>
                    <a:p>
                      <a:pPr algn="r"/>
                      <a:r>
                        <a:rPr sz="1400" b="1">
                          <a:solidFill>
                            <a:srgbClr val="404040"/>
                          </a:solidFill>
                          <a:latin typeface="Helvetica Neue"/>
                          <a:ea typeface="Hiragino Sans"/>
                          <a:cs typeface="Hiragino Sans"/>
                        </a:rPr>
                        <a:t>V (kV)</a:t>
                      </a:r>
                    </a:p>
                  </a:txBody>
                  <a:tcPr anchor="ctr" marL="127000" marR="127000" marT="76200" marB="76200">
                    <a:lnB w="12700" cap="flat" cmpd="sng" algn="ctr">
                      <a:solidFill>
                        <a:srgbClr val="404040"/>
                      </a:solidFill>
                      <a:prstDash val="solid"/>
                    </a:lnB>
                    <a:lnT w="15875" cap="flat" cmpd="sng" algn="ctr">
                      <a:solidFill>
                        <a:srgbClr val="404040"/>
                      </a:solidFill>
                      <a:prstDash val="solid"/>
                    </a:lnT>
                    <a:lnR>
                      <a:noFill/>
                    </a:lnR>
                    <a:lnL>
                      <a:noFill/>
                    </a:lnL>
                    <a:noFill/>
                  </a:tcPr>
                </a:tc>
                <a:tc>
                  <a:txBody>
                    <a:bodyPr/>
                    <a:lstStyle/>
                    <a:p>
                      <a:pPr algn="r"/>
                      <a:r>
                        <a:rPr sz="1400" b="1">
                          <a:solidFill>
                            <a:srgbClr val="404040"/>
                          </a:solidFill>
                          <a:latin typeface="Helvetica Neue"/>
                          <a:ea typeface="Hiragino Sans"/>
                          <a:cs typeface="Hiragino Sans"/>
                        </a:rPr>
                        <a:t>R (Ω/km)</a:t>
                      </a:r>
                    </a:p>
                  </a:txBody>
                  <a:tcPr anchor="ctr" marL="127000" marR="127000" marT="76200" marB="76200">
                    <a:lnB w="12700" cap="flat" cmpd="sng" algn="ctr">
                      <a:solidFill>
                        <a:srgbClr val="404040"/>
                      </a:solidFill>
                      <a:prstDash val="solid"/>
                    </a:lnB>
                    <a:lnT w="15875" cap="flat" cmpd="sng" algn="ctr">
                      <a:solidFill>
                        <a:srgbClr val="404040"/>
                      </a:solidFill>
                      <a:prstDash val="solid"/>
                    </a:lnT>
                    <a:lnR>
                      <a:noFill/>
                    </a:lnR>
                    <a:lnL>
                      <a:noFill/>
                    </a:lnL>
                    <a:noFill/>
                  </a:tcPr>
                </a:tc>
                <a:tc>
                  <a:txBody>
                    <a:bodyPr/>
                    <a:lstStyle/>
                    <a:p>
                      <a:pPr algn="r"/>
                      <a:r>
                        <a:rPr sz="1400" b="1">
                          <a:solidFill>
                            <a:srgbClr val="404040"/>
                          </a:solidFill>
                          <a:latin typeface="Helvetica Neue"/>
                          <a:ea typeface="Hiragino Sans"/>
                          <a:cs typeface="Hiragino Sans"/>
                        </a:rPr>
                        <a:t>X (Ω/km)</a:t>
                      </a:r>
                    </a:p>
                  </a:txBody>
                  <a:tcPr anchor="ctr" marL="127000" marR="127000" marT="76200" marB="76200">
                    <a:lnB w="12700" cap="flat" cmpd="sng" algn="ctr">
                      <a:solidFill>
                        <a:srgbClr val="404040"/>
                      </a:solidFill>
                      <a:prstDash val="solid"/>
                    </a:lnB>
                    <a:lnT w="15875" cap="flat" cmpd="sng" algn="ctr">
                      <a:solidFill>
                        <a:srgbClr val="404040"/>
                      </a:solidFill>
                      <a:prstDash val="solid"/>
                    </a:lnT>
                    <a:lnR>
                      <a:noFill/>
                    </a:lnR>
                    <a:lnL>
                      <a:noFill/>
                    </a:lnL>
                    <a:noFill/>
                  </a:tcPr>
                </a:tc>
                <a:tc>
                  <a:txBody>
                    <a:bodyPr/>
                    <a:lstStyle/>
                    <a:p>
                      <a:pPr algn="r"/>
                      <a:r>
                        <a:rPr sz="1400" b="1">
                          <a:solidFill>
                            <a:srgbClr val="404040"/>
                          </a:solidFill>
                          <a:latin typeface="Helvetica Neue"/>
                          <a:ea typeface="Hiragino Sans"/>
                          <a:cs typeface="Hiragino Sans"/>
                        </a:rPr>
                        <a:t>B (µS/km)</a:t>
                      </a:r>
                    </a:p>
                  </a:txBody>
                  <a:tcPr anchor="ctr" marL="127000" marR="127000" marT="76200" marB="76200">
                    <a:lnB w="12700" cap="flat" cmpd="sng" algn="ctr">
                      <a:solidFill>
                        <a:srgbClr val="404040"/>
                      </a:solidFill>
                      <a:prstDash val="solid"/>
                    </a:lnB>
                    <a:lnT w="15875" cap="flat" cmpd="sng" algn="ctr">
                      <a:solidFill>
                        <a:srgbClr val="404040"/>
                      </a:solidFill>
                      <a:prstDash val="solid"/>
                    </a:lnT>
                    <a:lnR>
                      <a:noFill/>
                    </a:lnR>
                    <a:lnL>
                      <a:noFill/>
                    </a:lnL>
                    <a:noFill/>
                  </a:tcPr>
                </a:tc>
                <a:tc>
                  <a:txBody>
                    <a:bodyPr/>
                    <a:lstStyle/>
                    <a:p>
                      <a:pPr algn="r"/>
                      <a:r>
                        <a:rPr sz="1400" b="1">
                          <a:solidFill>
                            <a:srgbClr val="404040"/>
                          </a:solidFill>
                          <a:latin typeface="Helvetica Neue"/>
                          <a:ea typeface="Hiragino Sans"/>
                          <a:cs typeface="Hiragino Sans"/>
                        </a:rPr>
                        <a:t>I_max (kA)</a:t>
                      </a:r>
                    </a:p>
                  </a:txBody>
                  <a:tcPr anchor="ctr" marL="127000" marR="127000" marT="76200" marB="76200">
                    <a:lnB w="12700" cap="flat" cmpd="sng" algn="ctr">
                      <a:solidFill>
                        <a:srgbClr val="404040"/>
                      </a:solidFill>
                      <a:prstDash val="solid"/>
                    </a:lnB>
                    <a:lnT w="15875" cap="flat" cmpd="sng" algn="ctr">
                      <a:solidFill>
                        <a:srgbClr val="404040"/>
                      </a:solidFill>
                      <a:prstDash val="solid"/>
                    </a:lnT>
                    <a:lnR>
                      <a:noFill/>
                    </a:lnR>
                    <a:lnL>
                      <a:noFill/>
                    </a:lnL>
                    <a:noFill/>
                  </a:tcPr>
                </a:tc>
              </a:tr>
              <a:tr h="374650">
                <a:tc>
                  <a:txBody>
                    <a:bodyPr/>
                    <a:lstStyle/>
                    <a:p>
                      <a:pPr algn="r"/>
                      <a:r>
                        <a:rPr sz="1400" b="1">
                          <a:solidFill>
                            <a:srgbClr val="0D558E"/>
                          </a:solidFill>
                          <a:latin typeface="Helvetica Neue"/>
                          <a:ea typeface="Hiragino Sans"/>
                          <a:cs typeface="Hiragino Sans"/>
                        </a:rPr>
                        <a:t>500</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0.012</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0.290</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4.10</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4.0</a:t>
                      </a:r>
                    </a:p>
                  </a:txBody>
                  <a:tcPr anchor="ctr" marL="127000" marR="127000" marT="76200" marB="76200">
                    <a:lnB w="6350" cap="flat" cmpd="sng" algn="ctr">
                      <a:solidFill>
                        <a:srgbClr val="D9D9D9"/>
                      </a:solidFill>
                      <a:prstDash val="solid"/>
                    </a:lnB>
                    <a:lnT>
                      <a:noFill/>
                    </a:lnT>
                    <a:lnR>
                      <a:noFill/>
                    </a:lnR>
                    <a:lnL>
                      <a:noFill/>
                    </a:lnL>
                    <a:noFill/>
                  </a:tcPr>
                </a:tc>
              </a:tr>
              <a:tr h="374650">
                <a:tc>
                  <a:txBody>
                    <a:bodyPr/>
                    <a:lstStyle/>
                    <a:p>
                      <a:pPr algn="r"/>
                      <a:r>
                        <a:rPr sz="1400" b="1">
                          <a:solidFill>
                            <a:srgbClr val="0D558E"/>
                          </a:solidFill>
                          <a:latin typeface="Helvetica Neue"/>
                          <a:ea typeface="Hiragino Sans"/>
                          <a:cs typeface="Hiragino Sans"/>
                        </a:rPr>
                        <a:t>275</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0.028</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0.325</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3.85</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2.0</a:t>
                      </a:r>
                    </a:p>
                  </a:txBody>
                  <a:tcPr anchor="ctr" marL="127000" marR="127000" marT="76200" marB="76200">
                    <a:lnB w="6350" cap="flat" cmpd="sng" algn="ctr">
                      <a:solidFill>
                        <a:srgbClr val="D9D9D9"/>
                      </a:solidFill>
                      <a:prstDash val="solid"/>
                    </a:lnB>
                    <a:lnT>
                      <a:noFill/>
                    </a:lnT>
                    <a:lnR>
                      <a:noFill/>
                    </a:lnR>
                    <a:lnL>
                      <a:noFill/>
                    </a:lnL>
                    <a:noFill/>
                  </a:tcPr>
                </a:tc>
              </a:tr>
              <a:tr h="374650">
                <a:tc>
                  <a:txBody>
                    <a:bodyPr/>
                    <a:lstStyle/>
                    <a:p>
                      <a:pPr algn="r"/>
                      <a:r>
                        <a:rPr sz="1400" b="1">
                          <a:solidFill>
                            <a:srgbClr val="0D558E"/>
                          </a:solidFill>
                          <a:latin typeface="Helvetica Neue"/>
                          <a:ea typeface="Hiragino Sans"/>
                          <a:cs typeface="Hiragino Sans"/>
                        </a:rPr>
                        <a:t>154</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0.050</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0.380</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3.50</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1.0</a:t>
                      </a:r>
                    </a:p>
                  </a:txBody>
                  <a:tcPr anchor="ctr" marL="127000" marR="127000" marT="76200" marB="76200">
                    <a:lnB w="6350" cap="flat" cmpd="sng" algn="ctr">
                      <a:solidFill>
                        <a:srgbClr val="D9D9D9"/>
                      </a:solidFill>
                      <a:prstDash val="solid"/>
                    </a:lnB>
                    <a:lnT>
                      <a:noFill/>
                    </a:lnT>
                    <a:lnR>
                      <a:noFill/>
                    </a:lnR>
                    <a:lnL>
                      <a:noFill/>
                    </a:lnL>
                    <a:noFill/>
                  </a:tcPr>
                </a:tc>
              </a:tr>
              <a:tr h="374650">
                <a:tc>
                  <a:txBody>
                    <a:bodyPr/>
                    <a:lstStyle/>
                    <a:p>
                      <a:pPr algn="r"/>
                      <a:r>
                        <a:rPr sz="1400" b="1">
                          <a:solidFill>
                            <a:srgbClr val="0D558E"/>
                          </a:solidFill>
                          <a:latin typeface="Helvetica Neue"/>
                          <a:ea typeface="Hiragino Sans"/>
                          <a:cs typeface="Hiragino Sans"/>
                        </a:rPr>
                        <a:t>110</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0.055</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0.385</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3.45</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0.9</a:t>
                      </a:r>
                    </a:p>
                  </a:txBody>
                  <a:tcPr anchor="ctr" marL="127000" marR="127000" marT="76200" marB="76200">
                    <a:lnB w="6350" cap="flat" cmpd="sng" algn="ctr">
                      <a:solidFill>
                        <a:srgbClr val="D9D9D9"/>
                      </a:solidFill>
                      <a:prstDash val="solid"/>
                    </a:lnB>
                    <a:lnT>
                      <a:noFill/>
                    </a:lnT>
                    <a:lnR>
                      <a:noFill/>
                    </a:lnR>
                    <a:lnL>
                      <a:noFill/>
                    </a:lnL>
                    <a:noFill/>
                  </a:tcPr>
                </a:tc>
              </a:tr>
              <a:tr h="374650">
                <a:tc>
                  <a:txBody>
                    <a:bodyPr/>
                    <a:lstStyle/>
                    <a:p>
                      <a:pPr algn="r"/>
                      <a:r>
                        <a:rPr sz="1400" b="1">
                          <a:solidFill>
                            <a:srgbClr val="0D558E"/>
                          </a:solidFill>
                          <a:latin typeface="Helvetica Neue"/>
                          <a:ea typeface="Hiragino Sans"/>
                          <a:cs typeface="Hiragino Sans"/>
                        </a:rPr>
                        <a:t>66</a:t>
                      </a:r>
                    </a:p>
                  </a:txBody>
                  <a:tcPr anchor="ctr" marL="127000" marR="127000" marT="76200" marB="76200">
                    <a:lnB w="15875" cap="flat" cmpd="sng" algn="ctr">
                      <a:solidFill>
                        <a:srgbClr val="404040"/>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0.120</a:t>
                      </a:r>
                    </a:p>
                  </a:txBody>
                  <a:tcPr anchor="ctr" marL="127000" marR="127000" marT="76200" marB="76200">
                    <a:lnB w="15875" cap="flat" cmpd="sng" algn="ctr">
                      <a:solidFill>
                        <a:srgbClr val="404040"/>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0.400</a:t>
                      </a:r>
                    </a:p>
                  </a:txBody>
                  <a:tcPr anchor="ctr" marL="127000" marR="127000" marT="76200" marB="76200">
                    <a:lnB w="15875" cap="flat" cmpd="sng" algn="ctr">
                      <a:solidFill>
                        <a:srgbClr val="404040"/>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3.20</a:t>
                      </a:r>
                    </a:p>
                  </a:txBody>
                  <a:tcPr anchor="ctr" marL="127000" marR="127000" marT="76200" marB="76200">
                    <a:lnB w="15875" cap="flat" cmpd="sng" algn="ctr">
                      <a:solidFill>
                        <a:srgbClr val="404040"/>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0.6</a:t>
                      </a:r>
                    </a:p>
                  </a:txBody>
                  <a:tcPr anchor="ctr" marL="127000" marR="127000" marT="76200" marB="76200">
                    <a:lnB w="15875" cap="flat" cmpd="sng" algn="ctr">
                      <a:solidFill>
                        <a:srgbClr val="404040"/>
                      </a:solidFill>
                      <a:prstDash val="solid"/>
                    </a:lnB>
                    <a:lnT>
                      <a:noFill/>
                    </a:lnT>
                    <a:lnR>
                      <a:noFill/>
                    </a:lnR>
                    <a:lnL>
                      <a:noFill/>
                    </a:lnL>
                    <a:noFill/>
                  </a:tcPr>
                </a:tc>
              </a:tr>
            </a:tbl>
          </a:graphicData>
        </a:graphic>
      </p:graphicFrame>
      <p:sp>
        <p:nvSpPr>
          <p:cNvPr id="6" name="TextBox 5"/>
          <p:cNvSpPr txBox="1"/>
          <p:nvPr/>
        </p:nvSpPr>
        <p:spPr>
          <a:xfrm>
            <a:off x="10161727" y="91440"/>
            <a:ext cx="1463040" cy="201168"/>
          </a:xfrm>
          <a:prstGeom prst="rect">
            <a:avLst/>
          </a:prstGeom>
          <a:noFill/>
        </p:spPr>
        <p:txBody>
          <a:bodyPr wrap="none" lIns="0" rIns="0" tIns="0" bIns="0">
            <a:noAutofit/>
          </a:bodyPr>
          <a:lstStyle/>
          <a:p>
            <a:pPr algn="r">
              <a:defRPr sz="1100">
                <a:solidFill>
                  <a:srgbClr val="676363"/>
                </a:solidFill>
                <a:latin typeface="Helvetica Neue"/>
                <a:ea typeface="Hiragino Sans"/>
                <a:cs typeface="Hiragino Sans"/>
              </a:defRPr>
            </a:pPr>
            <a:r>
              <a:rPr>
                <a:ea typeface="Hiragino Sans"/>
                <a:cs typeface="Hiragino Sans"/>
              </a:rPr>
              <a:t>23／24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000" b="1">
                <a:solidFill>
                  <a:srgbClr val="404040"/>
                </a:solidFill>
                <a:latin typeface="Helvetica Neue"/>
                <a:ea typeface="Hiragino Sans"/>
                <a:cs typeface="Hiragino Sans"/>
              </a:defRPr>
            </a:pPr>
            <a:r>
              <a:rPr>
                <a:ea typeface="Hiragino Sans"/>
                <a:cs typeface="Hiragino Sans"/>
              </a:rPr>
              <a:t>全地域 AC 潮流結果</a:t>
            </a:r>
          </a:p>
        </p:txBody>
      </p:sp>
      <p:sp>
        <p:nvSpPr>
          <p:cNvPr id="3" name="Rectangle 2"/>
          <p:cNvSpPr/>
          <p:nvPr/>
        </p:nvSpPr>
        <p:spPr>
          <a:xfrm>
            <a:off x="566928" y="1152144"/>
            <a:ext cx="11057839"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353312"/>
            <a:ext cx="11057839" cy="365760"/>
          </a:xfrm>
          <a:prstGeom prst="rect">
            <a:avLst/>
          </a:prstGeom>
          <a:noFill/>
        </p:spPr>
        <p:txBody>
          <a:bodyPr wrap="none" lIns="0" rIns="0" tIns="0" bIns="0">
            <a:noAutofit/>
          </a:bodyPr>
          <a:lstStyle/>
          <a:p>
            <a:pPr>
              <a:defRPr sz="1600" b="1">
                <a:solidFill>
                  <a:srgbClr val="0D558E"/>
                </a:solidFill>
                <a:latin typeface="Helvetica Neue"/>
                <a:ea typeface="Hiragino Sans"/>
                <a:cs typeface="Hiragino Sans"/>
              </a:defRPr>
            </a:pPr>
            <a:r>
              <a:rPr>
                <a:ea typeface="Hiragino Sans"/>
                <a:cs typeface="Hiragino Sans"/>
              </a:rPr>
              <a:t>Appendix D｜パイプライン整備前は 0/10、現在は全地域で収束</a:t>
            </a:r>
          </a:p>
        </p:txBody>
      </p:sp>
      <p:graphicFrame>
        <p:nvGraphicFramePr>
          <p:cNvPr id="5" name="Table 4"/>
          <p:cNvGraphicFramePr>
            <a:graphicFrameLocks noGrp="1"/>
          </p:cNvGraphicFramePr>
          <p:nvPr/>
        </p:nvGraphicFramePr>
        <p:xfrm>
          <a:off x="1783290" y="1901952"/>
          <a:ext cx="8625114" cy="4343400"/>
        </p:xfrm>
        <a:graphic>
          <a:graphicData uri="http://schemas.openxmlformats.org/drawingml/2006/table">
            <a:tbl>
              <a:tblPr/>
              <a:tblGrid>
                <a:gridCol w="2762611"/>
                <a:gridCol w="787400"/>
                <a:gridCol w="965200"/>
                <a:gridCol w="1070635"/>
                <a:gridCol w="3039268"/>
              </a:tblGrid>
              <a:tr h="596900">
                <a:tc>
                  <a:txBody>
                    <a:bodyPr/>
                    <a:lstStyle/>
                    <a:p>
                      <a:pPr algn="l"/>
                      <a:r>
                        <a:rPr sz="1400" b="1">
                          <a:solidFill>
                            <a:srgbClr val="404040"/>
                          </a:solidFill>
                          <a:latin typeface="Helvetica Neue"/>
                          <a:ea typeface="Hiragino Sans"/>
                          <a:cs typeface="Hiragino Sans"/>
                        </a:rPr>
                        <a:t>地域</a:t>
                      </a:r>
                    </a:p>
                  </a:txBody>
                  <a:tcPr anchor="ctr" marL="127000" marR="127000" marT="76200" marB="76200">
                    <a:lnB w="12700" cap="flat" cmpd="sng" algn="ctr">
                      <a:solidFill>
                        <a:srgbClr val="404040"/>
                      </a:solidFill>
                      <a:prstDash val="solid"/>
                    </a:lnB>
                    <a:lnT w="15875" cap="flat" cmpd="sng" algn="ctr">
                      <a:solidFill>
                        <a:srgbClr val="404040"/>
                      </a:solidFill>
                      <a:prstDash val="solid"/>
                    </a:lnT>
                    <a:lnR>
                      <a:noFill/>
                    </a:lnR>
                    <a:lnL>
                      <a:noFill/>
                    </a:lnL>
                    <a:noFill/>
                  </a:tcPr>
                </a:tc>
                <a:tc>
                  <a:txBody>
                    <a:bodyPr/>
                    <a:lstStyle/>
                    <a:p>
                      <a:pPr algn="r"/>
                      <a:r>
                        <a:rPr sz="1400" b="1">
                          <a:solidFill>
                            <a:srgbClr val="404040"/>
                          </a:solidFill>
                          <a:latin typeface="Helvetica Neue"/>
                          <a:ea typeface="Hiragino Sans"/>
                          <a:cs typeface="Hiragino Sans"/>
                        </a:rPr>
                        <a:t>バス数</a:t>
                      </a:r>
                    </a:p>
                  </a:txBody>
                  <a:tcPr anchor="ctr" marL="127000" marR="127000" marT="76200" marB="76200">
                    <a:lnB w="12700" cap="flat" cmpd="sng" algn="ctr">
                      <a:solidFill>
                        <a:srgbClr val="404040"/>
                      </a:solidFill>
                      <a:prstDash val="solid"/>
                    </a:lnB>
                    <a:lnT w="15875" cap="flat" cmpd="sng" algn="ctr">
                      <a:solidFill>
                        <a:srgbClr val="404040"/>
                      </a:solidFill>
                      <a:prstDash val="solid"/>
                    </a:lnT>
                    <a:lnR>
                      <a:noFill/>
                    </a:lnR>
                    <a:lnL>
                      <a:noFill/>
                    </a:lnL>
                    <a:noFill/>
                  </a:tcPr>
                </a:tc>
                <a:tc>
                  <a:txBody>
                    <a:bodyPr/>
                    <a:lstStyle/>
                    <a:p>
                      <a:pPr algn="r"/>
                      <a:r>
                        <a:rPr sz="1400" b="1">
                          <a:solidFill>
                            <a:srgbClr val="404040"/>
                          </a:solidFill>
                          <a:latin typeface="Helvetica Neue"/>
                          <a:ea typeface="Hiragino Sans"/>
                          <a:cs typeface="Hiragino Sans"/>
                        </a:rPr>
                        <a:t>発電機数</a:t>
                      </a:r>
                    </a:p>
                  </a:txBody>
                  <a:tcPr anchor="ctr" marL="127000" marR="127000" marT="76200" marB="76200">
                    <a:lnB w="12700" cap="flat" cmpd="sng" algn="ctr">
                      <a:solidFill>
                        <a:srgbClr val="404040"/>
                      </a:solidFill>
                      <a:prstDash val="solid"/>
                    </a:lnB>
                    <a:lnT w="15875" cap="flat" cmpd="sng" algn="ctr">
                      <a:solidFill>
                        <a:srgbClr val="404040"/>
                      </a:solidFill>
                      <a:prstDash val="solid"/>
                    </a:lnT>
                    <a:lnR>
                      <a:noFill/>
                    </a:lnR>
                    <a:lnL>
                      <a:noFill/>
                    </a:lnL>
                    <a:noFill/>
                  </a:tcPr>
                </a:tc>
                <a:tc>
                  <a:txBody>
                    <a:bodyPr/>
                    <a:lstStyle/>
                    <a:p>
                      <a:pPr algn="r"/>
                      <a:r>
                        <a:rPr sz="1400" b="1">
                          <a:solidFill>
                            <a:srgbClr val="404040"/>
                          </a:solidFill>
                          <a:latin typeface="Helvetica Neue"/>
                          <a:ea typeface="Hiragino Sans"/>
                          <a:cs typeface="Hiragino Sans"/>
                        </a:rPr>
                        <a:t>損失 (MW)</a:t>
                      </a:r>
                    </a:p>
                  </a:txBody>
                  <a:tcPr anchor="ctr" marL="127000" marR="127000" marT="76200" marB="76200">
                    <a:lnB w="12700" cap="flat" cmpd="sng" algn="ctr">
                      <a:solidFill>
                        <a:srgbClr val="404040"/>
                      </a:solidFill>
                      <a:prstDash val="solid"/>
                    </a:lnB>
                    <a:lnT w="15875" cap="flat" cmpd="sng" algn="ctr">
                      <a:solidFill>
                        <a:srgbClr val="404040"/>
                      </a:solidFill>
                      <a:prstDash val="solid"/>
                    </a:lnT>
                    <a:lnR>
                      <a:noFill/>
                    </a:lnR>
                    <a:lnL>
                      <a:noFill/>
                    </a:lnL>
                    <a:noFill/>
                  </a:tcPr>
                </a:tc>
                <a:tc>
                  <a:txBody>
                    <a:bodyPr/>
                    <a:lstStyle/>
                    <a:p>
                      <a:pPr algn="l"/>
                      <a:r>
                        <a:rPr sz="1400" b="1">
                          <a:solidFill>
                            <a:srgbClr val="404040"/>
                          </a:solidFill>
                          <a:latin typeface="Helvetica Neue"/>
                          <a:ea typeface="Hiragino Sans"/>
                          <a:cs typeface="Hiragino Sans"/>
                        </a:rPr>
                        <a:t>V範囲 (pu)</a:t>
                      </a:r>
                    </a:p>
                  </a:txBody>
                  <a:tcPr anchor="ctr" marL="127000" marR="127000" marT="76200" marB="76200">
                    <a:lnB w="12700" cap="flat" cmpd="sng" algn="ctr">
                      <a:solidFill>
                        <a:srgbClr val="404040"/>
                      </a:solidFill>
                      <a:prstDash val="solid"/>
                    </a:lnB>
                    <a:lnT w="15875" cap="flat" cmpd="sng" algn="ctr">
                      <a:solidFill>
                        <a:srgbClr val="404040"/>
                      </a:solidFill>
                      <a:prstDash val="solid"/>
                    </a:lnT>
                    <a:lnR>
                      <a:noFill/>
                    </a:lnR>
                    <a:lnL>
                      <a:noFill/>
                    </a:lnL>
                    <a:noFill/>
                  </a:tcPr>
                </a:tc>
              </a:tr>
              <a:tr h="374650">
                <a:tc>
                  <a:txBody>
                    <a:bodyPr/>
                    <a:lstStyle/>
                    <a:p>
                      <a:pPr algn="l"/>
                      <a:r>
                        <a:rPr sz="1400" b="1">
                          <a:solidFill>
                            <a:srgbClr val="0D558E"/>
                          </a:solidFill>
                          <a:latin typeface="Helvetica Neue"/>
                          <a:ea typeface="Hiragino Sans"/>
                          <a:cs typeface="Hiragino Sans"/>
                        </a:rPr>
                        <a:t>北海道</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471</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350</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43.7</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0.06–1.00</a:t>
                      </a:r>
                    </a:p>
                  </a:txBody>
                  <a:tcPr anchor="ctr" marL="127000" marR="127000" marT="76200" marB="76200">
                    <a:lnB w="6350" cap="flat" cmpd="sng" algn="ctr">
                      <a:solidFill>
                        <a:srgbClr val="D9D9D9"/>
                      </a:solidFill>
                      <a:prstDash val="solid"/>
                    </a:lnB>
                    <a:lnT>
                      <a:noFill/>
                    </a:lnT>
                    <a:lnR>
                      <a:noFill/>
                    </a:lnR>
                    <a:lnL>
                      <a:noFill/>
                    </a:lnL>
                    <a:noFill/>
                  </a:tcPr>
                </a:tc>
              </a:tr>
              <a:tr h="374650">
                <a:tc>
                  <a:txBody>
                    <a:bodyPr/>
                    <a:lstStyle/>
                    <a:p>
                      <a:pPr algn="l"/>
                      <a:r>
                        <a:rPr sz="1400" b="1">
                          <a:solidFill>
                            <a:srgbClr val="0D558E"/>
                          </a:solidFill>
                          <a:latin typeface="Helvetica Neue"/>
                          <a:ea typeface="Hiragino Sans"/>
                          <a:cs typeface="Hiragino Sans"/>
                        </a:rPr>
                        <a:t>東北</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901</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1,063</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145.5</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0.93–1.00</a:t>
                      </a:r>
                    </a:p>
                  </a:txBody>
                  <a:tcPr anchor="ctr" marL="127000" marR="127000" marT="76200" marB="76200">
                    <a:lnB w="6350" cap="flat" cmpd="sng" algn="ctr">
                      <a:solidFill>
                        <a:srgbClr val="D9D9D9"/>
                      </a:solidFill>
                      <a:prstDash val="solid"/>
                    </a:lnB>
                    <a:lnT>
                      <a:noFill/>
                    </a:lnT>
                    <a:lnR>
                      <a:noFill/>
                    </a:lnR>
                    <a:lnL>
                      <a:noFill/>
                    </a:lnL>
                    <a:noFill/>
                  </a:tcPr>
                </a:tc>
              </a:tr>
              <a:tr h="374650">
                <a:tc>
                  <a:txBody>
                    <a:bodyPr/>
                    <a:lstStyle/>
                    <a:p>
                      <a:pPr algn="l"/>
                      <a:r>
                        <a:rPr sz="1400" b="1">
                          <a:solidFill>
                            <a:srgbClr val="0D558E"/>
                          </a:solidFill>
                          <a:latin typeface="Helvetica Neue"/>
                          <a:ea typeface="Hiragino Sans"/>
                          <a:cs typeface="Hiragino Sans"/>
                        </a:rPr>
                        <a:t>東京</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1,726</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6,484</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994.1</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0.90–1.00</a:t>
                      </a:r>
                    </a:p>
                  </a:txBody>
                  <a:tcPr anchor="ctr" marL="127000" marR="127000" marT="76200" marB="76200">
                    <a:lnB w="6350" cap="flat" cmpd="sng" algn="ctr">
                      <a:solidFill>
                        <a:srgbClr val="D9D9D9"/>
                      </a:solidFill>
                      <a:prstDash val="solid"/>
                    </a:lnB>
                    <a:lnT>
                      <a:noFill/>
                    </a:lnT>
                    <a:lnR>
                      <a:noFill/>
                    </a:lnR>
                    <a:lnL>
                      <a:noFill/>
                    </a:lnL>
                    <a:noFill/>
                  </a:tcPr>
                </a:tc>
              </a:tr>
              <a:tr h="374650">
                <a:tc>
                  <a:txBody>
                    <a:bodyPr/>
                    <a:lstStyle/>
                    <a:p>
                      <a:pPr algn="l"/>
                      <a:r>
                        <a:rPr sz="1400" b="1">
                          <a:solidFill>
                            <a:srgbClr val="0D558E"/>
                          </a:solidFill>
                          <a:latin typeface="Helvetica Neue"/>
                          <a:ea typeface="Hiragino Sans"/>
                          <a:cs typeface="Hiragino Sans"/>
                        </a:rPr>
                        <a:t>中部</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1,163</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3,294</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120.7</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0.88–1.01</a:t>
                      </a:r>
                    </a:p>
                  </a:txBody>
                  <a:tcPr anchor="ctr" marL="127000" marR="127000" marT="76200" marB="76200">
                    <a:lnB w="6350" cap="flat" cmpd="sng" algn="ctr">
                      <a:solidFill>
                        <a:srgbClr val="D9D9D9"/>
                      </a:solidFill>
                      <a:prstDash val="solid"/>
                    </a:lnB>
                    <a:lnT>
                      <a:noFill/>
                    </a:lnT>
                    <a:lnR>
                      <a:noFill/>
                    </a:lnR>
                    <a:lnL>
                      <a:noFill/>
                    </a:lnL>
                    <a:noFill/>
                  </a:tcPr>
                </a:tc>
              </a:tr>
              <a:tr h="374650">
                <a:tc>
                  <a:txBody>
                    <a:bodyPr/>
                    <a:lstStyle/>
                    <a:p>
                      <a:pPr algn="l"/>
                      <a:r>
                        <a:rPr sz="1400" b="1">
                          <a:solidFill>
                            <a:srgbClr val="0D558E"/>
                          </a:solidFill>
                          <a:latin typeface="Helvetica Neue"/>
                          <a:ea typeface="Hiragino Sans"/>
                          <a:cs typeface="Hiragino Sans"/>
                        </a:rPr>
                        <a:t>北陸</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267</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379</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12.5</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0.98–1.01</a:t>
                      </a:r>
                    </a:p>
                  </a:txBody>
                  <a:tcPr anchor="ctr" marL="127000" marR="127000" marT="76200" marB="76200">
                    <a:lnB w="6350" cap="flat" cmpd="sng" algn="ctr">
                      <a:solidFill>
                        <a:srgbClr val="D9D9D9"/>
                      </a:solidFill>
                      <a:prstDash val="solid"/>
                    </a:lnB>
                    <a:lnT>
                      <a:noFill/>
                    </a:lnT>
                    <a:lnR>
                      <a:noFill/>
                    </a:lnR>
                    <a:lnL>
                      <a:noFill/>
                    </a:lnL>
                    <a:noFill/>
                  </a:tcPr>
                </a:tc>
              </a:tr>
              <a:tr h="374650">
                <a:tc>
                  <a:txBody>
                    <a:bodyPr/>
                    <a:lstStyle/>
                    <a:p>
                      <a:pPr algn="l"/>
                      <a:r>
                        <a:rPr sz="1400" b="1">
                          <a:solidFill>
                            <a:srgbClr val="0D558E"/>
                          </a:solidFill>
                          <a:latin typeface="Helvetica Neue"/>
                          <a:ea typeface="Hiragino Sans"/>
                          <a:cs typeface="Hiragino Sans"/>
                        </a:rPr>
                        <a:t>関西</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902</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1,163</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133.1</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0.65–1.00</a:t>
                      </a:r>
                    </a:p>
                  </a:txBody>
                  <a:tcPr anchor="ctr" marL="127000" marR="127000" marT="76200" marB="76200">
                    <a:lnB w="6350" cap="flat" cmpd="sng" algn="ctr">
                      <a:solidFill>
                        <a:srgbClr val="D9D9D9"/>
                      </a:solidFill>
                      <a:prstDash val="solid"/>
                    </a:lnB>
                    <a:lnT>
                      <a:noFill/>
                    </a:lnT>
                    <a:lnR>
                      <a:noFill/>
                    </a:lnR>
                    <a:lnL>
                      <a:noFill/>
                    </a:lnL>
                    <a:noFill/>
                  </a:tcPr>
                </a:tc>
              </a:tr>
              <a:tr h="374650">
                <a:tc>
                  <a:txBody>
                    <a:bodyPr/>
                    <a:lstStyle/>
                    <a:p>
                      <a:pPr algn="l"/>
                      <a:r>
                        <a:rPr sz="1400" b="1">
                          <a:solidFill>
                            <a:srgbClr val="0D558E"/>
                          </a:solidFill>
                          <a:latin typeface="Helvetica Neue"/>
                          <a:ea typeface="Hiragino Sans"/>
                          <a:cs typeface="Hiragino Sans"/>
                        </a:rPr>
                        <a:t>中国</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531</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821</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38.0</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0.91–1.01</a:t>
                      </a:r>
                    </a:p>
                  </a:txBody>
                  <a:tcPr anchor="ctr" marL="127000" marR="127000" marT="76200" marB="76200">
                    <a:lnB w="6350" cap="flat" cmpd="sng" algn="ctr">
                      <a:solidFill>
                        <a:srgbClr val="D9D9D9"/>
                      </a:solidFill>
                      <a:prstDash val="solid"/>
                    </a:lnB>
                    <a:lnT>
                      <a:noFill/>
                    </a:lnT>
                    <a:lnR>
                      <a:noFill/>
                    </a:lnR>
                    <a:lnL>
                      <a:noFill/>
                    </a:lnL>
                    <a:noFill/>
                  </a:tcPr>
                </a:tc>
              </a:tr>
              <a:tr h="374650">
                <a:tc>
                  <a:txBody>
                    <a:bodyPr/>
                    <a:lstStyle/>
                    <a:p>
                      <a:pPr algn="l"/>
                      <a:r>
                        <a:rPr sz="1400" b="1">
                          <a:solidFill>
                            <a:srgbClr val="0D558E"/>
                          </a:solidFill>
                          <a:latin typeface="Helvetica Neue"/>
                          <a:ea typeface="Hiragino Sans"/>
                          <a:cs typeface="Hiragino Sans"/>
                        </a:rPr>
                        <a:t>四国</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258</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496</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40.3</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0.88–1.00</a:t>
                      </a:r>
                    </a:p>
                  </a:txBody>
                  <a:tcPr anchor="ctr" marL="127000" marR="127000" marT="76200" marB="76200">
                    <a:lnB w="6350" cap="flat" cmpd="sng" algn="ctr">
                      <a:solidFill>
                        <a:srgbClr val="D9D9D9"/>
                      </a:solidFill>
                      <a:prstDash val="solid"/>
                    </a:lnB>
                    <a:lnT>
                      <a:noFill/>
                    </a:lnT>
                    <a:lnR>
                      <a:noFill/>
                    </a:lnR>
                    <a:lnL>
                      <a:noFill/>
                    </a:lnL>
                    <a:noFill/>
                  </a:tcPr>
                </a:tc>
              </a:tr>
              <a:tr h="374650">
                <a:tc>
                  <a:txBody>
                    <a:bodyPr/>
                    <a:lstStyle/>
                    <a:p>
                      <a:pPr algn="l"/>
                      <a:r>
                        <a:rPr sz="1400" b="1">
                          <a:solidFill>
                            <a:srgbClr val="0D558E"/>
                          </a:solidFill>
                          <a:latin typeface="Helvetica Neue"/>
                          <a:ea typeface="Hiragino Sans"/>
                          <a:cs typeface="Hiragino Sans"/>
                        </a:rPr>
                        <a:t>九州</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684</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1,908</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59.1</a:t>
                      </a:r>
                    </a:p>
                  </a:txBody>
                  <a:tcPr anchor="ctr" marL="127000" marR="127000" marT="76200" marB="76200">
                    <a:lnB w="6350" cap="flat" cmpd="sng" algn="ctr">
                      <a:solidFill>
                        <a:srgbClr val="D9D9D9"/>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0.89–1.00</a:t>
                      </a:r>
                    </a:p>
                  </a:txBody>
                  <a:tcPr anchor="ctr" marL="127000" marR="127000" marT="76200" marB="76200">
                    <a:lnB w="6350" cap="flat" cmpd="sng" algn="ctr">
                      <a:solidFill>
                        <a:srgbClr val="D9D9D9"/>
                      </a:solidFill>
                      <a:prstDash val="solid"/>
                    </a:lnB>
                    <a:lnT>
                      <a:noFill/>
                    </a:lnT>
                    <a:lnR>
                      <a:noFill/>
                    </a:lnR>
                    <a:lnL>
                      <a:noFill/>
                    </a:lnL>
                    <a:noFill/>
                  </a:tcPr>
                </a:tc>
              </a:tr>
              <a:tr h="374650">
                <a:tc>
                  <a:txBody>
                    <a:bodyPr/>
                    <a:lstStyle/>
                    <a:p>
                      <a:pPr algn="l"/>
                      <a:r>
                        <a:rPr sz="1400" b="1">
                          <a:solidFill>
                            <a:srgbClr val="0D558E"/>
                          </a:solidFill>
                          <a:latin typeface="Helvetica Neue"/>
                          <a:ea typeface="Hiragino Sans"/>
                          <a:cs typeface="Hiragino Sans"/>
                        </a:rPr>
                        <a:t>沖縄</a:t>
                      </a:r>
                    </a:p>
                  </a:txBody>
                  <a:tcPr anchor="ctr" marL="127000" marR="127000" marT="76200" marB="76200">
                    <a:lnB w="15875" cap="flat" cmpd="sng" algn="ctr">
                      <a:solidFill>
                        <a:srgbClr val="404040"/>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59</a:t>
                      </a:r>
                    </a:p>
                  </a:txBody>
                  <a:tcPr anchor="ctr" marL="127000" marR="127000" marT="76200" marB="76200">
                    <a:lnB w="15875" cap="flat" cmpd="sng" algn="ctr">
                      <a:solidFill>
                        <a:srgbClr val="404040"/>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22</a:t>
                      </a:r>
                    </a:p>
                  </a:txBody>
                  <a:tcPr anchor="ctr" marL="127000" marR="127000" marT="76200" marB="76200">
                    <a:lnB w="15875" cap="flat" cmpd="sng" algn="ctr">
                      <a:solidFill>
                        <a:srgbClr val="404040"/>
                      </a:solidFill>
                      <a:prstDash val="solid"/>
                    </a:lnB>
                    <a:lnT>
                      <a:noFill/>
                    </a:lnT>
                    <a:lnR>
                      <a:noFill/>
                    </a:lnR>
                    <a:lnL>
                      <a:noFill/>
                    </a:lnL>
                    <a:noFill/>
                  </a:tcPr>
                </a:tc>
                <a:tc>
                  <a:txBody>
                    <a:bodyPr/>
                    <a:lstStyle/>
                    <a:p>
                      <a:pPr algn="r"/>
                      <a:r>
                        <a:rPr sz="1400">
                          <a:solidFill>
                            <a:srgbClr val="404040"/>
                          </a:solidFill>
                          <a:latin typeface="Helvetica Neue"/>
                          <a:ea typeface="Hiragino Sans"/>
                          <a:cs typeface="Hiragino Sans"/>
                        </a:rPr>
                        <a:t>12.3</a:t>
                      </a:r>
                    </a:p>
                  </a:txBody>
                  <a:tcPr anchor="ctr" marL="127000" marR="127000" marT="76200" marB="76200">
                    <a:lnB w="15875" cap="flat" cmpd="sng" algn="ctr">
                      <a:solidFill>
                        <a:srgbClr val="404040"/>
                      </a:solidFill>
                      <a:prstDash val="solid"/>
                    </a:lnB>
                    <a:lnT>
                      <a:noFill/>
                    </a:lnT>
                    <a:lnR>
                      <a:noFill/>
                    </a:lnR>
                    <a:lnL>
                      <a:noFill/>
                    </a:lnL>
                    <a:noFill/>
                  </a:tcPr>
                </a:tc>
                <a:tc>
                  <a:txBody>
                    <a:bodyPr/>
                    <a:lstStyle/>
                    <a:p>
                      <a:pPr algn="l"/>
                      <a:r>
                        <a:rPr sz="1400">
                          <a:solidFill>
                            <a:srgbClr val="404040"/>
                          </a:solidFill>
                          <a:latin typeface="Helvetica Neue"/>
                          <a:ea typeface="Hiragino Sans"/>
                          <a:cs typeface="Hiragino Sans"/>
                        </a:rPr>
                        <a:t>0.94–1.00</a:t>
                      </a:r>
                    </a:p>
                  </a:txBody>
                  <a:tcPr anchor="ctr" marL="127000" marR="127000" marT="76200" marB="76200">
                    <a:lnB w="15875" cap="flat" cmpd="sng" algn="ctr">
                      <a:solidFill>
                        <a:srgbClr val="404040"/>
                      </a:solidFill>
                      <a:prstDash val="solid"/>
                    </a:lnB>
                    <a:lnT>
                      <a:noFill/>
                    </a:lnT>
                    <a:lnR>
                      <a:noFill/>
                    </a:lnR>
                    <a:lnL>
                      <a:noFill/>
                    </a:lnL>
                    <a:noFill/>
                  </a:tcPr>
                </a:tc>
              </a:tr>
            </a:tbl>
          </a:graphicData>
        </a:graphic>
      </p:graphicFrame>
      <p:sp>
        <p:nvSpPr>
          <p:cNvPr id="6" name="Rectangle 5"/>
          <p:cNvSpPr/>
          <p:nvPr/>
        </p:nvSpPr>
        <p:spPr>
          <a:xfrm>
            <a:off x="566928" y="6291072"/>
            <a:ext cx="2560320" cy="9525"/>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354572"/>
            <a:ext cx="9960559" cy="365760"/>
          </a:xfrm>
          <a:prstGeom prst="rect">
            <a:avLst/>
          </a:prstGeom>
          <a:noFill/>
        </p:spPr>
        <p:txBody>
          <a:bodyPr wrap="square" lIns="0" rIns="0" tIns="0" bIns="0">
            <a:spAutoFit/>
          </a:bodyPr>
          <a:lstStyle/>
          <a:p>
            <a:r>
              <a:rPr sz="1100">
                <a:solidFill>
                  <a:srgbClr val="676363"/>
                </a:solidFill>
                <a:latin typeface="Helvetica Neue"/>
                <a:ea typeface="Hiragino Sans"/>
                <a:cs typeface="Hiragino Sans"/>
              </a:rPr>
              <a:t>出典: 論文 表4。合計 6,962 バス・15,980 発電機・損失 1,601 MW。北海道 0.06・関西 0.65 の電圧下限は低圧ポケットの残存を示す。</a:t>
            </a:r>
          </a:p>
        </p:txBody>
      </p:sp>
      <p:sp>
        <p:nvSpPr>
          <p:cNvPr id="8" name="TextBox 7"/>
          <p:cNvSpPr txBox="1"/>
          <p:nvPr/>
        </p:nvSpPr>
        <p:spPr>
          <a:xfrm>
            <a:off x="10161727" y="91440"/>
            <a:ext cx="1463040" cy="201168"/>
          </a:xfrm>
          <a:prstGeom prst="rect">
            <a:avLst/>
          </a:prstGeom>
          <a:noFill/>
        </p:spPr>
        <p:txBody>
          <a:bodyPr wrap="none" lIns="0" rIns="0" tIns="0" bIns="0">
            <a:noAutofit/>
          </a:bodyPr>
          <a:lstStyle/>
          <a:p>
            <a:pPr algn="r">
              <a:defRPr sz="1100">
                <a:solidFill>
                  <a:srgbClr val="676363"/>
                </a:solidFill>
                <a:latin typeface="Helvetica Neue"/>
                <a:ea typeface="Hiragino Sans"/>
                <a:cs typeface="Hiragino Sans"/>
              </a:defRPr>
            </a:pPr>
            <a:r>
              <a:rPr>
                <a:ea typeface="Hiragino Sans"/>
                <a:cs typeface="Hiragino Sans"/>
              </a:rPr>
              <a:t>24／24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