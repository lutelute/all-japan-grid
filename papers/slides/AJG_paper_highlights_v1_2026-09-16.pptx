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著者名の「名」は論文原稿で TBD のまま。発表前に確定させること。15分・質疑込み想定。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表紙の次にここで全体像を渡す。細部は以降のスライドで開く。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後半の問い（どこまで信じてよいか）が本発表の後半＝検証パートに対応する。</a:t>
            </a:r>
          </a:p>
          <a:p/>
          <a:p>
            <a:r>
              <a:t>_class: rq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地域別の内訳は補足 Appendix A に表で入れてある。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各段階は独立に再実行できる。ここが「再現可能なベースライン」という主張の根拠。</a:t>
            </a:r>
          </a:p>
          <a:p/>
          <a:p>
            <a:r>
              <a:t>_class: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before-after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multi-result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ここはアニメーション。PowerPoint のスライドショーで自動再生される。西島は 7,928 バスで、8本の暫定 infeed を入れた上での収束であることを口頭で補足。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エリア間同期化係数 T_ab はモデルの実線路から「測って」いる。通常のLFC研究では仮定するしかない量。206 pu/rad の関西–四国が最弱=本四連系を正しく当てている。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東は −1.41 Hz、西は −1.09 Hz で遮断なしに吸収する。対比が効くので口頭で必ず言う。定数は公表典型値であり、運用予測ではないことも同時に言う。</a:t>
            </a:r>
          </a:p>
          <a:p/>
          <a:p>
            <a:r>
              <a:t>_class: big-number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pros-cons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E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31720"/>
            <a:ext cx="1105783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A63F00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— OpenStreetMap から日本全国の送電網を自動抽出する 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889504"/>
            <a:ext cx="1005840" cy="2032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54096"/>
            <a:ext cx="11057839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defRPr sz="54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All-Japan-Grid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100066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>
                <a:solidFill>
                  <a:srgbClr val="545151"/>
                </a:solidFill>
                <a:latin typeface="Helvetica Neue"/>
                <a:ea typeface="Hiragino Sans"/>
                <a:cs typeface="Hiragino Sans"/>
              </a:rPr>
              <a:t>林 〈名〉・重信 颯人（福井大学 電気電子情報工学科）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545151"/>
                </a:solidFill>
                <a:latin typeface="Helvetica Neue"/>
                <a:ea typeface="Hiragino Sans"/>
                <a:cs typeface="Hiragino Sans"/>
              </a:rPr>
              <a:t>IEEE Open Access 投稿原稿  | 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本研究の全体像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一枚で｜問い → 課題 → 提案 → 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B54400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公開系統モデルが存在しない国で、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誰でも再現できる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系統研究の出発点を作れるか？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B54400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728" y="3561778"/>
            <a:ext cx="2726842" cy="18964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日本にはバス単位の公開モデルが無い。OSM にあるのは地理だけで、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電気的パラメータが無い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9050">
            <a:solidFill>
              <a:srgbClr val="DD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B54400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提案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2426" y="3561778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OSM抽出</a:t>
            </a:r>
            <a:r>
              <a:rPr sz="800">
                <a:ea typeface="Hiragino Sans"/>
                <a:cs typeface="Hiragino Sans"/>
                <a:solidFill>
                  <a:srgbClr val="DD5400"/>
                </a:solidFill>
              </a:rPr>
              <a:t>  ▶  </a:t>
            </a:r>
            <a:r>
              <a:rPr sz="9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属性補完</a:t>
            </a:r>
            <a:r>
              <a:rPr sz="800">
                <a:ea typeface="Hiragino Sans"/>
                <a:cs typeface="Hiragino Sans"/>
                <a:solidFill>
                  <a:srgbClr val="DD5400"/>
                </a:solidFill>
              </a:rPr>
              <a:t>  ▶  </a:t>
            </a:r>
            <a:r>
              <a:rPr sz="9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接続生成</a:t>
            </a:r>
            <a:r>
              <a:rPr sz="800">
                <a:ea typeface="Hiragino Sans"/>
                <a:cs typeface="Hiragino Sans"/>
                <a:solidFill>
                  <a:srgbClr val="DD5400"/>
                </a:solidFill>
              </a:rPr>
              <a:t>  ▶  </a:t>
            </a:r>
            <a:r>
              <a:rPr sz="9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標準形式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426" y="4018978"/>
            <a:ext cx="2726842" cy="14392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地理トポロジと電気モデルの間を </a:t>
            </a:r>
            <a:r>
              <a:rPr sz="1500">
                <a:solidFill>
                  <a:srgbClr val="404040"/>
                </a:solidFill>
                <a:highlight>
                  <a:srgbClr val="F8E0A6"/>
                </a:highlight>
                <a:latin typeface="Helvetica Neue"/>
                <a:ea typeface="Hiragino Sans"/>
                <a:cs typeface="Hiragino Sans"/>
              </a:rPr>
              <a:t>自動パイプライン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で埋める。</a:t>
            </a:r>
          </a:p>
        </p:txBody>
      </p:sp>
      <p:sp>
        <p:nvSpPr>
          <p:cNvPr id="16" name="Chevron 15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40,077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2E2E2"/>
                </a:solidFill>
                <a:latin typeface="Helvetica Neue"/>
                <a:ea typeface="Hiragino Sans"/>
                <a:cs typeface="Hiragino Sans"/>
              </a:rPr>
              <a:t>10地域・6,962変電所・40,077線路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E2E2E2"/>
                </a:solidFill>
                <a:latin typeface="Helvetica Neue"/>
                <a:ea typeface="Hiragino Sans"/>
                <a:cs typeface="Hiragino Sans"/>
              </a:rPr>
              <a:t>UC→潮流→AGC を一本で貫通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データ: OpenStreetMap（Overpass API）＋ 国土交通省 P03 ＋ OCCTO 公表値。全10エリア・50/60 Hz。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2／22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本研究の問い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62134" y="2561082"/>
            <a:ext cx="9067427" cy="133350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62134" y="2561082"/>
            <a:ext cx="9067427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90734" y="2827782"/>
            <a:ext cx="8610227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公開されている地理情報だけから、日本全国の送電網を「計算できるモデル」として組み上げられるか？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34" y="4168902"/>
            <a:ext cx="9067427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— そして、そのモデルはどこまで信じてよいのか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3／22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なぜ日本では系統研究が再現できないのか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米国・欧州｜モデルは公開されている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米国は FERC Form 715 が系統モデルの開示を義務づけ、欧州は ENTSO-E 透明性プラットフォームがデータを公開する。研究者は同じ土俵で比較できる。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日本｜バス単位の公開義務が無い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OCCTO は連系線容量と需給計画を公表するが、</a:t>
            </a: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インピーダンス・変圧器定数・ノード別需要は非公開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。10の一般送配電事業者が 50/60 Hz の二周波数系統を運用しているのに、共通のベースラインが存在しない。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9238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9865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OSM｜地理はあるが、電気が無い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786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OpenStreetMap は変電所の位置・送電線の経路・発電所を持つ。しかし </a:t>
            </a:r>
            <a:r>
              <a:rPr sz="1500">
                <a:solidFill>
                  <a:srgbClr val="404040"/>
                </a:solidFill>
                <a:highlight>
                  <a:srgbClr val="F8E0A6"/>
                </a:highlight>
                <a:latin typeface="Helvetica Neue"/>
                <a:ea typeface="Hiragino Sans"/>
                <a:cs typeface="Hiragino Sans"/>
              </a:rPr>
              <a:t>どのバスに繋がるか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という接続情報も、R・X・B も持たない。この隙間を埋めるのが本研究。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4／22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抽出された全国送電網</a:t>
            </a:r>
          </a:p>
        </p:txBody>
      </p:sp>
      <p:pic>
        <p:nvPicPr>
          <p:cNvPr id="3" name="Picture 2" descr="fig_national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16" y="713232"/>
            <a:ext cx="41382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図 1｜全10エリアの抽出結果。色は電圧クラス（500 / 275 / 154 / 110 / 66 kV）。赤い 500 kV が本州の背骨を成し、東西で周波数が変わる。線が薄い地域は OSM 側の記載が薄い地域で、モデルの限界が地図上にそのまま見える。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5／22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データセットの規模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953512"/>
            <a:ext cx="2558719" cy="15544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953512"/>
            <a:ext cx="2558719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220212"/>
            <a:ext cx="2101519" cy="1059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6,962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変電所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9967" y="2953512"/>
            <a:ext cx="2558719" cy="15544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9967" y="2953512"/>
            <a:ext cx="2558719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8567" y="3220212"/>
            <a:ext cx="2101519" cy="1059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40,077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送電線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6" y="2953512"/>
            <a:ext cx="2558719" cy="15544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6" y="2953512"/>
            <a:ext cx="2558719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6" y="3220212"/>
            <a:ext cx="2101519" cy="1059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19,138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発電所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6045" y="2953512"/>
            <a:ext cx="2558719" cy="15544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66045" y="2953512"/>
            <a:ext cx="2558719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4645" y="3220212"/>
            <a:ext cx="2101519" cy="1059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274 GW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合計設備容量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6／22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構築パイプライン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地理から電気へ｜5段階すべてスクリプト化され、再実行で同じ結果が出る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9329" y="3895852"/>
            <a:ext cx="444312" cy="0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60055" y="3895852"/>
            <a:ext cx="444312" cy="0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23452" y="3895852"/>
            <a:ext cx="444312" cy="0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958892" y="3895851"/>
            <a:ext cx="444312" cy="1"/>
          </a:xfrm>
          <a:prstGeom prst="line">
            <a:avLst/>
          </a:prstGeom>
          <a:ln w="19050">
            <a:solidFill>
              <a:srgbClr val="0D558E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:node"/>
          <p:cNvSpPr/>
          <p:nvPr/>
        </p:nvSpPr>
        <p:spPr>
          <a:xfrm>
            <a:off x="566929" y="3467227"/>
            <a:ext cx="1902400" cy="85725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OSM 取得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Overpass・タイル分割</a:t>
            </a:r>
          </a:p>
        </p:txBody>
      </p:sp>
      <p:sp>
        <p:nvSpPr>
          <p:cNvPr id="10" name="flow:node"/>
          <p:cNvSpPr/>
          <p:nvPr/>
        </p:nvSpPr>
        <p:spPr>
          <a:xfrm>
            <a:off x="2913641" y="3467227"/>
            <a:ext cx="2046414" cy="85725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属性補完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7段階・P03・Nominatim</a:t>
            </a:r>
          </a:p>
        </p:txBody>
      </p:sp>
      <p:sp>
        <p:nvSpPr>
          <p:cNvPr id="11" name="flow:node"/>
          <p:cNvSpPr/>
          <p:nvPr/>
        </p:nvSpPr>
        <p:spPr>
          <a:xfrm>
            <a:off x="5404367" y="3467227"/>
            <a:ext cx="1419085" cy="857250"/>
          </a:xfrm>
          <a:prstGeom prst="roundRect">
            <a:avLst>
              <a:gd name="adj" fmla="val 3500"/>
            </a:avLst>
          </a:prstGeom>
          <a:solidFill>
            <a:srgbClr val="F9E5D8"/>
          </a:solidFill>
          <a:ln w="13970">
            <a:solidFill>
              <a:srgbClr val="DD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端点接続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Haversine 50km</a:t>
            </a:r>
          </a:p>
        </p:txBody>
      </p:sp>
      <p:sp>
        <p:nvSpPr>
          <p:cNvPr id="12" name="flow:node"/>
          <p:cNvSpPr/>
          <p:nvPr/>
        </p:nvSpPr>
        <p:spPr>
          <a:xfrm>
            <a:off x="7267764" y="3467227"/>
            <a:ext cx="1691128" cy="85725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397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パラメータ推定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電圧クラス別 R/X/B</a:t>
            </a:r>
          </a:p>
        </p:txBody>
      </p:sp>
      <p:sp>
        <p:nvSpPr>
          <p:cNvPr id="13" name="flow:node"/>
          <p:cNvSpPr/>
          <p:nvPr/>
        </p:nvSpPr>
        <p:spPr>
          <a:xfrm>
            <a:off x="9403204" y="3348164"/>
            <a:ext cx="2221561" cy="1095375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397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標準形式で出力</a:t>
            </a:r>
          </a:p>
          <a:p>
            <a:pPr algn="ctr"/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pandapower・MATPOWER・CGMES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7／22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接続は距離で決める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56916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r>
                    <ns0:rPr xmlns:ns0="http://schemas.openxmlformats.org/wordprocessingml/2006/main">
                      <ns0:sz ns0:val="72"/>
                      <ns0:szCs ns0:val="72"/>
                    </ns0:rPr>
                    <m:t>d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=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2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R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 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a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t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a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n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72"/>
                      <ns0:szCs ns0:val="72"/>
                    </ns0:rPr>
                    <m:t>2</m:t>
                  </m:r>
                  <m:r>
                    <ns0:rPr xmlns:ns0="http://schemas.openxmlformats.org/wordprocessingml/2006/main">
                      <ns0:sz ns0:val="72"/>
                      <ns0:szCs ns0:val="72"/>
                    </ns0:rPr>
                    <m:t>​</m:t>
                  </m:r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rad>
                        <m:radPr>
                          <m:degHide m:val="on"/>
                        </m:radPr>
                        <m:deg/>
                        <m:e>
                          <m: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a</m:t>
                          </m:r>
                        </m:e>
                      </m:rad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72"/>
                          <ns0:szCs ns0:val="72"/>
                        </ns0:rPr>
                        <m:t>,</m:t>
                      </m:r>
                      <m:r>
                        <ns0:rPr xmlns:ns0="http://schemas.openxmlformats.org/wordprocessingml/2006/main">
                          <ns0:sz ns0:val="72"/>
                          <ns0:szCs ns0:val="72"/>
                        </ns0:rPr>
                        <m:t> 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1</m:t>
                          </m:r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−</m:t>
                          </m:r>
                          <m:r>
                            <ns0:rPr xmlns:ns0="http://schemas.openxmlformats.org/wordprocessingml/2006/main">
                              <ns0:sz ns0:val="72"/>
                              <ns0:szCs ns0:val="72"/>
                            </ns0:rPr>
                            <m:t>a</m:t>
                          </m:r>
                        </m:e>
                      </m:rad>
                    </m:e>
                  </m:d>
                </m:oMath>
              </m:oMathPara>
            </a14:m>
          </a:p>
        </p:txBody>
      </p:sp>
      <p:sp>
        <p:nvSpPr>
          <p:cNvPr id="5" name="TextBox 4"/>
          <p:cNvSpPr txBox="1"/>
          <p:nvPr/>
        </p:nvSpPr>
        <p:spPr>
          <a:xfrm>
            <a:off x="2255367" y="3515868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8447" y="3753612"/>
            <a:ext cx="9525" cy="38404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55367" y="3717036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63F00"/>
                </a:solidFill>
                <a:latin typeface="Helvetica Neue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</m:oMath>
            </a14:m>
          </a:p>
        </p:txBody>
      </p:sp>
      <p:sp>
        <p:nvSpPr>
          <p:cNvPr id="8" name="TextBox 7"/>
          <p:cNvSpPr txBox="1"/>
          <p:nvPr/>
        </p:nvSpPr>
        <p:spPr>
          <a:xfrm>
            <a:off x="4267047" y="371703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線路端点から変電所までの大円距離（R = 地球半径 6,371 km）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a は緯度差・経度差から作る中間量。接続は 50 km 以内の最近傍変電所だけに許す。両端バスの電圧比が 1.5 以上の線路は変圧器として再解釈し、4段階の定数表（800/400/200/100 MVA）を当てる。孤立成分は KD-tree 最近傍探索で最大 300 km まで橋渡しし、連結率 99.7% に到達。自己ループは棄却。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8／22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生の OSM は、そのままでは使えない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039112"/>
            <a:ext cx="4705959" cy="3383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BEFORE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名称の空欄 49,384 件・運用者不明 41,563 件・燃料種不明 334 件。送電線はどのバスに繋がるかを持たず、ジオメトリの座標列があるだけ。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1607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BEDE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61607" y="1810512"/>
            <a:ext cx="5163159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0207" y="2077212"/>
            <a:ext cx="4705959" cy="33451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AFTER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7段階のエンリッチメント（P03 空間結合・Overpass タグ一括取得・逆ジオコーディング・燃料種正規化44項目）で属性欠損を 87% 削減。端点マッチングでバス接続を生成し、連結率 99.7%。</a:t>
            </a:r>
          </a:p>
        </p:txBody>
      </p:sp>
      <p:sp>
        <p:nvSpPr>
          <p:cNvPr id="9" name="Chevron 8"/>
          <p:cNvSpPr/>
          <p:nvPr/>
        </p:nvSpPr>
        <p:spPr>
          <a:xfrm>
            <a:off x="5844387" y="3527552"/>
            <a:ext cx="502920" cy="406400"/>
          </a:xfrm>
          <a:prstGeom prst="chevron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9／22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他のツールへ、そのまま持ち出せる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176272"/>
            <a:ext cx="3503066" cy="3108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76272"/>
            <a:ext cx="3503066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442972"/>
            <a:ext cx="3045866" cy="261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CGMES 検証</a:t>
            </a:r>
          </a:p>
          <a:p>
            <a:pPr algn="ctr">
              <a:spcBef>
                <a:spcPts val="600"/>
              </a:spcBef>
            </a:pPr>
            <a:r>
              <a:rPr sz="38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10/10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IEC 61970 CIM/CGMES 2.4.15（EQ+TP+SSH+SV+GL）で全10地域が厳密スキーマ検証に合格、dangling 参照ゼロ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314" y="2176272"/>
            <a:ext cx="3503066" cy="3108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4314" y="2176272"/>
            <a:ext cx="3503066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914" y="2442972"/>
            <a:ext cx="3045866" cy="261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独立実装で往復</a:t>
            </a:r>
          </a:p>
          <a:p>
            <a:pPr algn="ctr">
              <a:spcBef>
                <a:spcPts val="600"/>
              </a:spcBef>
            </a:pPr>
            <a:r>
              <a:rPr sz="38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10⁻⁴ p.u.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pandapower cim2pp という別実装を通した往復で母線電圧が一致。回帰テストで固定済み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1700" y="2176272"/>
            <a:ext cx="3503066" cy="3108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1700" y="2176272"/>
            <a:ext cx="3503066" cy="3810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300" y="2442972"/>
            <a:ext cx="3045866" cy="2613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4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潮流ソルバ</a:t>
            </a:r>
          </a:p>
          <a:p>
            <a:pPr algn="ctr">
              <a:spcBef>
                <a:spcPts val="600"/>
              </a:spcBef>
            </a:pPr>
            <a:r>
              <a:rPr sz="38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rPr>
              <a:t>20 種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NR・FDPF・GS・連続法など4系統20手法。IEEE 14/118/300 バスで全て収束を確認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10／22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全国 757 機の起動停止を 10 秒で解く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93087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混雑制約を入れると、運用費は +1.40%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2641727"/>
          <a:ext cx="8625114" cy="1720850"/>
        </p:xfrm>
        <a:graphic>
          <a:graphicData uri="http://schemas.openxmlformats.org/drawingml/2006/table">
            <a:tbl>
              <a:tblPr/>
              <a:tblGrid>
                <a:gridCol w="5516079"/>
                <a:gridCol w="1913407"/>
                <a:gridCol w="1195628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シナリオ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運用費（十億円/日）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求解時間 (s)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コッパープレート（連系制約なし）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7.65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9.28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連系線容量を課した場合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7.76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8.72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混雑プレミアム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+1.40%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545457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545457"/>
            <a:ext cx="50800" cy="82296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647057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9本すべての連系線がピーク需要下で 100% 利用率に達する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— MILP（HiGHS）で最適性を保証したうえでの結果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757機・10地域・24時間・9連系線。最小起動停止時間・ランプ率・予備力・蓄電池SOCを制約に含む。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11／22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組み上げたモデルは、24時間動かせる</a:t>
            </a:r>
          </a:p>
        </p:txBody>
      </p:sp>
      <p:pic>
        <p:nvPicPr>
          <p:cNvPr id="3" name="Picture 2" descr="national_pf_24h_ful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6" y="713232"/>
            <a:ext cx="5186362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図 2｜UC の時間別解を潮流計算に流し込んだ全国24時間断面。全4同期島（北海道・東50 Hz・西60 Hz・沖縄）でAC潮流が収束する。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12／22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需給計画から周波数制御まで、一本で繋ぐ</a:t>
            </a:r>
          </a:p>
        </p:txBody>
      </p:sp>
      <p:pic>
        <p:nvPicPr>
          <p:cNvPr id="3" name="Picture 2" descr="fig_ag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49614"/>
            <a:ext cx="11734495" cy="3249552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図 3｜(a) 東地域の2%負荷ステップ：一次応答は −ΔP/β の理論値に落ち着き、LFC+EDC が周波数を戻す。(b) 島ごとの最大機脱落＋UFLS。(c) TBC により外乱発生エリアの指令だけが伸び、隣接エリアの指令はゼロに戻る。　出典｜本論文 Fig. 1（UC → 潮流 → AGC チェーン）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13／22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北海道だけが、負荷遮断なしには止まらない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88412"/>
            <a:ext cx="11057839" cy="1016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defRPr sz="6400" b="1">
                <a:solidFill>
                  <a:srgbClr val="DD540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−2.51 Hz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647" y="3822700"/>
            <a:ext cx="914400" cy="3175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950716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最大機脱落時の周波数最下点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07916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1,650 MW 脱落・慣性 14.3 GW·s・RoCoF −2.88 Hz/s。1,141 MW 遮断で下げ止まる — 2018年の全域停電と構造的に整合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本論文 Table V（島ピーク時・AGC30 標準モデル定数）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14／22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どこまで信じてよいか — 3つの独立検証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実測潮流との順位相関｜ρ = 0.721（東京電力の線路別実測）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ただし </a:t>
            </a:r>
            <a:r>
              <a:rPr sz="1500">
                <a:solidFill>
                  <a:srgbClr val="404040"/>
                </a:solidFill>
                <a:highlight>
                  <a:srgbClr val="F8E0A6"/>
                </a:highlight>
                <a:latin typeface="Helvetica Neue"/>
                <a:ea typeface="Hiragino Sans"/>
                <a:cs typeface="Hiragino Sans"/>
              </a:rPr>
              <a:t>これは容量・トポロジの代理指標</a:t>
            </a: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 であって、潮流量の一致ではない。PyPSA-Eur の ρ=0.96–0.998 は「こう長」を測った別物で、直接は比較できない。合成負荷のAC潮流では内部 ρ≈0.46・幹線 0.60。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電圧クラスの突合｜関西 37/38 線が一致（97%）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関西送配電の154 kV以上の公表幹線と照合。限界は、公表182線のうち OSM 幾何と一意に対応づけられたのが 38 線に留まること。一致の主張は電圧クラス水準に限る。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09238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9865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D558E"/>
                </a:solidFill>
                <a:latin typeface="Helvetica Neue"/>
                <a:ea typeface="Hiragino Sans"/>
                <a:cs typeface="Hiragino Sans"/>
              </a:rPr>
              <a:t>標準形式の往復｜CGMES 10/10 VALID・独立実装で 10⁻⁴ p.u.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786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これは独立パーサに対する自己整合性の確認であり、外部の真値に対する検証ではない。構造スコアは変電所 recall 86%・発電所接続 recall 55%。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15／22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言えること / まだ言えないこと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EFF4F1"/>
          </a:solidFill>
          <a:ln w="9525">
            <a:solidFill>
              <a:srgbClr val="9FB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19072"/>
            <a:ext cx="5391759" cy="566928"/>
          </a:xfrm>
          <a:prstGeom prst="rect">
            <a:avLst/>
          </a:prstGeom>
          <a:solidFill>
            <a:srgbClr val="3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✓  Pros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0128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全10エリア・50/60 Hz の公開ベースラインを再現可能な形で構築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CGMES・pandapower・MATPOWER で他ツールへ持ち出せる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UC → 潮流 → AGC を同一の運用点で貫通させられる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✓  研究・教育・アルゴリズムのベンチマークに使える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F8F0EF"/>
          </a:solidFill>
          <a:ln w="9525">
            <a:solidFill>
              <a:srgbClr val="D3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3007" y="1719072"/>
            <a:ext cx="5391759" cy="566928"/>
          </a:xfrm>
          <a:prstGeom prst="rect">
            <a:avLst/>
          </a:prstGeom>
          <a:solidFill>
            <a:srgbClr val="A8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✗  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6207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インピーダンス・変圧器定数は合成推定値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端点マッチングの誤接続が 2〜3%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西島はスラック 13%・暫定 infeed 8本に依存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AGC 定数は公表典型値（構造の実演であり運用予測ではない）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外部検証は東電・関西の2件のみ（残り8エリアに公開真値が無い）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✗  運用計画には使えない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16／22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持ち帰っていただきたいこと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公開データだけで、日本にも「動く」全国系統ベースラインを置けた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•  6,962 変電所・40,077 線路を抽出し、属性欠損を 87% 削減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•  CGMES 往復・757 機 UC・4島 AGC を一本で通した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404040"/>
                </a:solidFill>
                <a:latin typeface="Helvetica Neue"/>
                <a:ea typeface="Hiragino Sans"/>
                <a:cs typeface="Hiragino Sans"/>
              </a:rPr>
              <a:t>•  検証の射程を数値と同じ場所に書いた（ρ=0.721 は容量代理）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17／22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DD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66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質疑をお願いします</a:t>
            </a:r>
          </a:p>
          <a:p>
            <a:pPr algn="ctr">
              <a:spcBef>
                <a:spcPts val="400"/>
              </a:spcBef>
              <a:defRPr sz="18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github.com/lutelute/All-Japan-Grid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68039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地域別データセット内訳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4255" y="457200"/>
            <a:ext cx="1828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APPENDIX 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1670177"/>
          <a:ext cx="8625114" cy="4121150"/>
        </p:xfrm>
        <a:graphic>
          <a:graphicData uri="http://schemas.openxmlformats.org/drawingml/2006/table">
            <a:tbl>
              <a:tblPr/>
              <a:tblGrid>
                <a:gridCol w="5622834"/>
                <a:gridCol w="787400"/>
                <a:gridCol w="787400"/>
                <a:gridCol w="787400"/>
                <a:gridCol w="640080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地域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変電所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送電線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発電所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Hz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北海道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471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4,136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436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901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6,628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1,311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1,726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8,295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7,207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中部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1,163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6,589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3,792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北陸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267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2,296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432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関西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902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3,994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1,518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531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3,176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1,173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四国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258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1,532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688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九州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684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3,314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2,581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沖縄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59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117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19／22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68039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地域間連系線（9本・計 24,050 MW）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4255" y="457200"/>
            <a:ext cx="1828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APPENDIX 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1559052"/>
          <a:ext cx="8625114" cy="4343400"/>
        </p:xfrm>
        <a:graphic>
          <a:graphicData uri="http://schemas.openxmlformats.org/drawingml/2006/table">
            <a:tbl>
              <a:tblPr/>
              <a:tblGrid>
                <a:gridCol w="2581551"/>
                <a:gridCol w="2434229"/>
                <a:gridCol w="1070635"/>
                <a:gridCol w="2538699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From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To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容量 (MW)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種別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北海道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900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HVDC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5,550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AC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中部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2,100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FC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中部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関西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2,530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AC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中部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北陸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1,900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AC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関西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4,090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AC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関西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四国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1,400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AC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四国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1,200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AC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中国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九州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2,780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AC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合計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A63F0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24,050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20／22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68039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島別 AGC 結果（島ピーク時・FY2023 シナリオ）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4255" y="457200"/>
            <a:ext cx="1828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APPENDIX 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83290" y="2683002"/>
          <a:ext cx="8625114" cy="2095500"/>
        </p:xfrm>
        <a:graphic>
          <a:graphicData uri="http://schemas.openxmlformats.org/drawingml/2006/table">
            <a:tbl>
              <a:tblPr/>
              <a:tblGrid>
                <a:gridCol w="1498019"/>
                <a:gridCol w="978535"/>
                <a:gridCol w="1225321"/>
                <a:gridCol w="1156335"/>
                <a:gridCol w="1520957"/>
                <a:gridCol w="1498019"/>
                <a:gridCol w="747928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島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需要 MW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慣性 GW·s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最大機 MW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RoCoF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最下点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復帰 s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lnT w="15875" cap="flat" cmpd="sng" algn="ctr">
                      <a:solidFill>
                        <a:srgbClr val="404040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北海道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4,434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14.3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1,650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−2.88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−2.51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240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東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59,353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245.6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5,040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−0.51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−1.41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347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西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69,938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332.5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4,802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−0.43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−1.09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788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58E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沖縄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1,682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6.3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502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−2.39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−2.31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>
                          <a:solidFill>
                            <a:srgbClr val="404040"/>
                          </a:solidFill>
                          <a:latin typeface="Helvetica Neue"/>
                          <a:ea typeface="Hiragino Sans"/>
                          <a:cs typeface="Hiragino Sans"/>
                        </a:rPr>
                        <a:t>198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404040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21／22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404040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検証スコアの推移（東京フルモデル）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952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l_rho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484" y="1421892"/>
            <a:ext cx="6198727" cy="3737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296662"/>
            <a:ext cx="11057839" cy="742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676363"/>
                </a:solidFill>
                <a:latin typeface="Helvetica Neue"/>
                <a:ea typeface="Hiragino Sans"/>
                <a:cs typeface="Hiragino Sans"/>
              </a:rPr>
              <a:t>図 4｜（Appendix D）計器改訂とモデル変更を重ねたときの、東京電力実測に対する Spearman 順位相関の推移。幹線（275 kV+）は 0.60 前後で安定する一方、154 kV 以下は低いまま動かない — 下位電圧の網が実測を説明できていないことを示す（出典：リポジトリ同梱の検証スコアカード）。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1727" y="91440"/>
            <a:ext cx="146304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676363"/>
                </a:solidFill>
                <a:latin typeface="Helvetica Neue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22／22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