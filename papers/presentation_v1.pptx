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15分プレゼン。最初の5分で「潮流計算とは」を平易に説明し、聴衆を引き込む。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1枚で本研究の核を提示。詳細は次のスライド以降。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ここで「電気の流れは電圧と接続から決まる」というメッセージを口頭で補足。</a:t>
            </a:r>
          </a:p>
          <a:p/>
          <a:p>
            <a:r>
              <a:t>_class: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cols-2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ここで重く区切る。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cols-2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rq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big-number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before-after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ライブマップで全国ゾーンを選ぶと自動でDCモードへ切り替わる。</a:t>
            </a:r>
          </a:p>
          <a:p/>
          <a:p>
            <a:r>
              <a:t>_class: cols-2-wide-l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timeline-h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— OpenStreetMap から作る日本全国送電網モデル —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4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All-Japan-Grid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617720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公開系統モデルなき日本で、潮流計算を再現可能にする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重信 颯人 $^{1}$, 髙橋 明子 $^{2}$, 伊藤 雅一 $^{1}$</a:t>
            </a:r>
          </a:p>
          <a:p>
            <a:pPr algn="ctr">
              <a:spcBef>
                <a:spcPts val="400"/>
              </a:spcBef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$^{1}$ 福井大学 工学部 電気電子情報工学科 &amp;emsp; $^{2}$ 福井大学 CN推進本部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711958"/>
            <a:ext cx="91440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967990"/>
            <a:ext cx="9997135" cy="1013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3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「地図はあるのに、電気的なモデルは存在しない」 — これが日本の系統研究の出発点。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本日の流れ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5331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35331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**そもそも潮流計算とは？** — 電気を流す数式の世界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33092"/>
            <a:ext cx="11057839" cy="9525"/>
          </a:xfrm>
          <a:prstGeom prst="rect">
            <a:avLst/>
          </a:prstGeom>
          <a:solidFill>
            <a:srgbClr val="E0D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4579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214579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**日本の現状** — なぜ研究者はモデルを持てないのか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925572"/>
            <a:ext cx="11057839" cy="9525"/>
          </a:xfrm>
          <a:prstGeom prst="rect">
            <a:avLst/>
          </a:prstGeom>
          <a:solidFill>
            <a:srgbClr val="E0D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93827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93827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**提案：OSM から系統を作る** — All-Japan-Grid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E0D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73075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73075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**主要な結果** — トポロジ・潮流・N-1・Unit Commitment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510532"/>
            <a:ext cx="11057839" cy="9525"/>
          </a:xfrm>
          <a:prstGeom prst="rect">
            <a:avLst/>
          </a:prstGeom>
          <a:solidFill>
            <a:srgbClr val="E0D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52323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452323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**発見と限界**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303012"/>
            <a:ext cx="11057839" cy="9525"/>
          </a:xfrm>
          <a:prstGeom prst="rect">
            <a:avLst/>
          </a:prstGeom>
          <a:solidFill>
            <a:srgbClr val="E0D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315712"/>
            <a:ext cx="822960" cy="7924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5315712"/>
            <a:ext cx="10051999" cy="792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**まとめと今後**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4572000" cy="2926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2E2E2"/>
                </a:solidFill>
                <a:latin typeface="Avenir Next"/>
                <a:ea typeface="Hiragino Sans"/>
                <a:cs typeface="Hiragino Sans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1122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526280"/>
            <a:ext cx="64008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36592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そもそも潮流計算とは？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潮流計算 (Power Flow) 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730752"/>
            <a:ext cx="38100" cy="5486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潮流方程式（コア）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91868"/>
            <a:ext cx="11057839" cy="690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4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S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i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V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i</m:t>
                      </m:r>
                    </m:sub>
                  </m:sSub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k</m:t>
                      </m:r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=</m:t>
                      </m:r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1</m:t>
                      </m:r>
                    </m:sub>
                    <m:sup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n</m:t>
                      </m:r>
                    </m:sup>
                    <m:e>
                      <m:sSubSup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Y</m:t>
                          </m:r>
                        </m:e>
                        <m:sub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i</m:t>
                          </m:r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k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*</m:t>
                          </m:r>
                        </m:sup>
                      </m:sSubSup>
                    </m:e>
                  </m:nary>
                  <m:sSubSup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V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k</m:t>
                      </m:r>
                    </m:sub>
                    <m:sup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*</m:t>
                      </m:r>
                    </m:sup>
                  </m:sSubSup>
                  <m:r>
                    <ns0:rPr xmlns:ns0="http://schemas.openxmlformats.org/wordprocessingml/2006/main">
                      <ns0:sz ns0:val="68"/>
                      <ns0:szCs ns0:val="68"/>
                    </ns0:rPr>
                    <m:t> 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P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i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+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j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Q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i</m:t>
                      </m:r>
                    </m:sub>
                  </m:sSub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255367" y="2710180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447" y="2947924"/>
            <a:ext cx="9525" cy="1755648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5367" y="29113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B3502F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S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i</m:t>
                    </m:r>
                  </m:sub>
                </m:sSub>
              </m:oMath>
            </a14:m>
          </a:p>
        </p:txBody>
      </p:sp>
      <p:sp>
        <p:nvSpPr>
          <p:cNvPr id="7" name="TextBox 6"/>
          <p:cNvSpPr txBox="1"/>
          <p:nvPr/>
        </p:nvSpPr>
        <p:spPr>
          <a:xfrm>
            <a:off x="4267047" y="29113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母線 </a:t>
            </a:r>
            <a:r>
              <a:rPr sz="17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34"/>
                    <ns0:szCs ns0:val="34"/>
                  </ns0:rPr>
                  <m:t>i</m:t>
                </m:r>
              </m:oMath>
            </a14:m>
            <a:r>
              <a:rPr sz="17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 の複素電力（皮相電力）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367" y="33685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B3502F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V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i</m:t>
                    </m:r>
                  </m:sub>
                </m:sSub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,</m:t>
                </m:r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V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k</m:t>
                    </m:r>
                  </m:sub>
                </m:sSub>
              </m:oMath>
            </a14:m>
          </a:p>
        </p:txBody>
      </p:sp>
      <p:sp>
        <p:nvSpPr>
          <p:cNvPr id="9" name="TextBox 8"/>
          <p:cNvSpPr txBox="1"/>
          <p:nvPr/>
        </p:nvSpPr>
        <p:spPr>
          <a:xfrm>
            <a:off x="4267047" y="33685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各母線の複素電圧（振幅・位相）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38257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B3502F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Y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i</m:t>
                    </m:r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k</m:t>
                    </m:r>
                  </m:sub>
                </m:sSub>
              </m:oMath>
            </a14:m>
          </a:p>
        </p:txBody>
      </p:sp>
      <p:sp>
        <p:nvSpPr>
          <p:cNvPr id="11" name="TextBox 10"/>
          <p:cNvSpPr txBox="1"/>
          <p:nvPr/>
        </p:nvSpPr>
        <p:spPr>
          <a:xfrm>
            <a:off x="4267047" y="38257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m:rPr>
                        <m:sty m:val="bi"/>
                      </m:rPr>
                      <ns0:rPr xmlns:ns0="http://schemas.openxmlformats.org/wordprocessingml/2006/main">
                        <ns0:sz ns0:val="34"/>
                        <ns0:szCs ns0:val="34"/>
                      </ns0:rPr>
                      <m:t>Y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wordprocessingml/2006/main">
                        <ns0:sz ns0:val="34"/>
                        <ns0:szCs ns0:val="34"/>
                      </ns0:rPr>
                      <m:t>b</m:t>
                    </m:r>
                    <m:r>
                      <m:rPr>
                        <m:sty m:val="p"/>
                      </m:rPr>
                      <ns0:rPr xmlns:ns0="http://schemas.openxmlformats.org/wordprocessingml/2006/main">
                        <ns0:sz ns0:val="34"/>
                        <ns0:szCs ns0:val="34"/>
                      </ns0:rPr>
                      <m:t>u</m:t>
                    </m:r>
                    <m:r>
                      <m:rPr>
                        <m:sty m:val="p"/>
                      </m:rPr>
                      <ns0:rPr xmlns:ns0="http://schemas.openxmlformats.org/wordprocessingml/2006/main">
                        <ns0:sz ns0:val="34"/>
                        <ns0:szCs ns0:val="34"/>
                      </ns0:rPr>
                      <m:t>s</m:t>
                    </m:r>
                  </m:sub>
                </m:sSub>
              </m:oMath>
            </a14:m>
            <a:r>
              <a:rPr sz="17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 の要素（系統の電気的接続情報）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4282948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B3502F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P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i</m:t>
                    </m:r>
                  </m:sub>
                </m:sSub>
                <m:r>
                  <m:rPr>
                    <m:sty m:val="p"/>
                  </m:rPr>
                  <ns0:rPr xmlns:ns0="http://schemas.openxmlformats.org/wordprocessingml/2006/main">
                    <ns0:sz ns0:val="40"/>
                    <ns0:szCs ns0:val="40"/>
                  </ns0:rPr>
                  <m:t>,</m:t>
                </m:r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Q</m:t>
                    </m:r>
                  </m:e>
                  <m:sub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i</m:t>
                    </m:r>
                  </m:sub>
                </m:sSub>
              </m:oMath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4267047" y="4282948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有効電力 / 無効電力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AC 潮流 vs DC 潮流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4572000" cy="2926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2E2E2"/>
                </a:solidFill>
                <a:latin typeface="Avenir Next"/>
                <a:ea typeface="Hiragino Sans"/>
                <a:cs typeface="Hiragino San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1122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526280"/>
            <a:ext cx="64008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36592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なぜ日本では困るのか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648458"/>
            <a:ext cx="91440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904490"/>
            <a:ext cx="9997135" cy="1140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4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日本では、バスレベルの公開系統モデルが </a:t>
            </a:r>
            <a:r>
              <a:rPr sz="4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存在しない</a:t>
            </a:r>
            <a:r>
              <a:rPr sz="4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海外 vs 日本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Research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62134" y="2816352"/>
            <a:ext cx="9067427" cy="822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62134" y="2816352"/>
            <a:ext cx="9067427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90734" y="3083052"/>
            <a:ext cx="8610227" cy="3276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非公開の系統データに頼らず、公開地理情報だけから
日本全国の "解析可能な" 送電網モデルを構築できるか？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2134" y="3913632"/>
            <a:ext cx="9067427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def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— OpenStreetMap から自動構築するパイプラインの開発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4572000" cy="2926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2E2E2"/>
                </a:solidFill>
                <a:latin typeface="Avenir Next"/>
                <a:ea typeface="Hiragino Sans"/>
                <a:cs typeface="Hiragino San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1122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Part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526280"/>
            <a:ext cx="64008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36592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提案：All-Japan-Grid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7段階の自動パイプライン</a:t>
            </a:r>
          </a:p>
        </p:txBody>
      </p:sp>
      <p:pic>
        <p:nvPicPr>
          <p:cNvPr id="3" name="Picture 2" descr="fig_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181" y="1421892"/>
            <a:ext cx="9111332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692140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Fig. OSM取得 → 属性補完 → トポロジ再構築 → 電気パラメータ付与 → $\mathbf{Y}_{\mathrm{bus}}$ 構築 → 潮流解析 → 可視化。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データセット規模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7,962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変電所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9967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99967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8567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40,077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送電線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6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6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6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19,138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発電所 (274 GW)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6045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66045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645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10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地域 (50/60 Hz)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属性補完の効果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639441"/>
            <a:ext cx="11057839" cy="160654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defRPr sz="110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defRPr>
            </a:pPr>
            <a:r>
              <a:t>87%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8647" y="4264278"/>
            <a:ext cx="91440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39229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140">
                <a:ea typeface="Hiragino Sans"/>
                <a:cs typeface="Hiragino Sans"/>
              </a:rPr>
              <a:t>欠損属性の削減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849494"/>
            <a:ext cx="11057839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107,383 件 → 約 14,000 件（7段階エンリッチ後）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トポロジ再構築：旧法 → 新法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810512"/>
            <a:ext cx="5163159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8" y="2039112"/>
            <a:ext cx="4705959" cy="3383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Before（旧：最近傍drop法）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線端点を最近傍変電所にマッチ。50km 以内に無い線は破棄。実OSMルートを無視した直線結線で、東京は481成分・関西268成分に断片化。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61607" y="1810512"/>
            <a:ext cx="5163159" cy="3840480"/>
          </a:xfrm>
          <a:prstGeom prst="roundRect">
            <a:avLst>
              <a:gd name="adj" fmla="val 3500"/>
            </a:avLst>
          </a:prstGeom>
          <a:solidFill>
            <a:srgbClr val="FBF1EE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61607" y="1810512"/>
            <a:ext cx="516315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0207" y="2077212"/>
            <a:ext cx="4705959" cy="33451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18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After（新：vertex-snap + reconnect）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OSMの実ルートで頂点をつなぎ、データ欠落 5km 以内のみ点線で補完。東京 481→21成分、関西 268→32成分。各地域が単一連結に。</a:t>
            </a:r>
          </a:p>
        </p:txBody>
      </p:sp>
      <p:sp>
        <p:nvSpPr>
          <p:cNvPr id="8" name="Chevron 7"/>
          <p:cNvSpPr/>
          <p:nvPr/>
        </p:nvSpPr>
        <p:spPr>
          <a:xfrm>
            <a:off x="5844387" y="3527552"/>
            <a:ext cx="502920" cy="406400"/>
          </a:xfrm>
          <a:prstGeom prst="chevron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4572000" cy="2926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2E2E2"/>
                </a:solidFill>
                <a:latin typeface="Avenir Next"/>
                <a:ea typeface="Hiragino Sans"/>
                <a:cs typeface="Hiragino San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1122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Part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526280"/>
            <a:ext cx="64008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36592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主要な結果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結果1：地域別 AC 潮流収束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0/10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旧モデル AC 収束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9967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99967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8567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9/10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新モデル AC 収束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6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6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6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10/10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DC 潮流収束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6045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66045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645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0.30 → 0.81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hokkaido vm_min (電圧標準化)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大元の $\mathbf{Y}_{\mathrm{bus}}$（全国連系）</a:t>
            </a:r>
          </a:p>
        </p:txBody>
      </p:sp>
      <p:pic>
        <p:nvPicPr>
          <p:cNvPr id="3" name="Picture 2" descr="ybus_n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301" y="1421892"/>
            <a:ext cx="8737092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692140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全国 10 地域 + 連系線統合の母線アドミタンス行列。帯対角＋連系線の弱対角ブロック構造。改修前は数百島に分裂し特異であった。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結果2：全国ゾーナル潮流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発見：west AC 非収束の真因を究明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364992"/>
            <a:ext cx="11057839" cy="38100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47557" y="3282442"/>
            <a:ext cx="203200" cy="203200"/>
          </a:xfrm>
          <a:prstGeom prst="ellipse">
            <a:avLst/>
          </a:prstGeom>
          <a:solidFill>
            <a:srgbClr val="5A585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862072"/>
            <a:ext cx="276445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仮説1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3128" y="3639312"/>
            <a:ext cx="2612059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Q 過剰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128" y="4142232"/>
            <a:ext cx="2612059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reactive 0〜0.8 を sweep→ 全 FAIL（無関係）</a:t>
            </a:r>
          </a:p>
        </p:txBody>
      </p:sp>
      <p:sp>
        <p:nvSpPr>
          <p:cNvPr id="8" name="Oval 7"/>
          <p:cNvSpPr/>
          <p:nvPr/>
        </p:nvSpPr>
        <p:spPr>
          <a:xfrm>
            <a:off x="4612016" y="3282442"/>
            <a:ext cx="203200" cy="203200"/>
          </a:xfrm>
          <a:prstGeom prst="ellipse">
            <a:avLst/>
          </a:prstGeom>
          <a:solidFill>
            <a:srgbClr val="5A585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1387" y="2862072"/>
            <a:ext cx="276445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仮説2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7587" y="3639312"/>
            <a:ext cx="2612059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極短線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7587" y="4142232"/>
            <a:ext cx="2612059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4m〜の near-zero-Z を融合→ FAIL（副次的）</a:t>
            </a:r>
          </a:p>
        </p:txBody>
      </p:sp>
      <p:sp>
        <p:nvSpPr>
          <p:cNvPr id="12" name="Oval 11"/>
          <p:cNvSpPr/>
          <p:nvPr/>
        </p:nvSpPr>
        <p:spPr>
          <a:xfrm>
            <a:off x="7376475" y="3282442"/>
            <a:ext cx="203200" cy="203200"/>
          </a:xfrm>
          <a:prstGeom prst="ellipse">
            <a:avLst/>
          </a:prstGeom>
          <a:solidFill>
            <a:srgbClr val="5A585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5846" y="2862072"/>
            <a:ext cx="276445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仮説3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046" y="3639312"/>
            <a:ext cx="2612059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負荷/発電偏在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046" y="4142232"/>
            <a:ext cx="2612059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関西/九州で発電過小地域別 re-balance も FAIL</a:t>
            </a:r>
          </a:p>
        </p:txBody>
      </p:sp>
      <p:sp>
        <p:nvSpPr>
          <p:cNvPr id="16" name="Oval 15"/>
          <p:cNvSpPr/>
          <p:nvPr/>
        </p:nvSpPr>
        <p:spPr>
          <a:xfrm>
            <a:off x="10140934" y="3282442"/>
            <a:ext cx="203200" cy="203200"/>
          </a:xfrm>
          <a:prstGeom prst="ellipse">
            <a:avLst/>
          </a:prstGeom>
          <a:solidFill>
            <a:srgbClr val="5A585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0305" y="2862072"/>
            <a:ext cx="2764459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真因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6505" y="3639312"/>
            <a:ext cx="2612059" cy="5029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下位網変圧器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6505" y="4142232"/>
            <a:ext cx="2612059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154kV未満・電圧比最大20:1非標準22/25/30/33/100kV→ 悪条件 Ybus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結果3：N-1 コンティンジェンシー解析</a:t>
            </a:r>
          </a:p>
        </p:txBody>
      </p:sp>
      <p:pic>
        <p:nvPicPr>
          <p:cNvPr id="3" name="Picture 2" descr="n1_wors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047" y="1421892"/>
            <a:ext cx="9245600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692140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各地域 220 kV 以上の幹線（合計 914 本）を1本ずつ脱落 → AC再潮流 → 最悪事故を抽出。tokyo / kyushu に「失うと AC が解けない枢要線」を発見。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N-1 結果サマリ（地域別）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66928" y="1673352"/>
          <a:ext cx="11057839" cy="4114800"/>
        </p:xfrm>
        <a:graphic>
          <a:graphicData uri="http://schemas.openxmlformats.org/drawingml/2006/table">
            <a:tbl>
              <a:tblPr/>
              <a:tblGrid>
                <a:gridCol w="2211567"/>
                <a:gridCol w="2211567"/>
                <a:gridCol w="2211567"/>
                <a:gridCol w="2211567"/>
                <a:gridCol w="2211571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地域</a:t>
                      </a:r>
                    </a:p>
                  </a:txBody>
                  <a:tcPr anchor="ctr" marL="127000" marR="127000" marT="63500" marB="63500">
                    <a:lnB w="19050" cap="flat" cmpd="sng" algn="ctr">
                      <a:solidFill>
                        <a:srgbClr val="14141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候補線</a:t>
                      </a:r>
                    </a:p>
                  </a:txBody>
                  <a:tcPr anchor="ctr" marL="127000" marR="127000" marT="63500" marB="63500">
                    <a:lnB w="19050" cap="flat" cmpd="sng" algn="ctr">
                      <a:solidFill>
                        <a:srgbClr val="14141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base max_load</a:t>
                      </a:r>
                    </a:p>
                  </a:txBody>
                  <a:tcPr anchor="ctr" marL="127000" marR="127000" marT="63500" marB="63500">
                    <a:lnB w="19050" cap="flat" cmpd="sng" algn="ctr">
                      <a:solidFill>
                        <a:srgbClr val="14141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worst Δload</a:t>
                      </a:r>
                    </a:p>
                  </a:txBody>
                  <a:tcPr anchor="ctr" marL="127000" marR="127000" marT="63500" marB="63500">
                    <a:lnB w="19050" cap="flat" cmpd="sng" algn="ctr">
                      <a:solidFill>
                        <a:srgbClr val="14141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worst</a:t>
                      </a:r>
                    </a:p>
                  </a:txBody>
                  <a:tcPr anchor="ctr" marL="127000" marR="127000" marT="63500" marB="63500">
                    <a:lnB w="19050" cap="flat" cmpd="sng" algn="ctr">
                      <a:solidFill>
                        <a:srgbClr val="14141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北海道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16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109%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+91%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hokkaido_line_60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東北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76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135%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+1198%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tohoku_line_112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東京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162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605%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AC FAIL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tokyo_line_1643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中部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279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119%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+758%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chubu_line_186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北陸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68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102%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+237%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hokuriku_line_545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中国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105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99%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+519%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chugoku_line_371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四国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22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98%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+189%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shikoku_line_198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九州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186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134%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AC FAIL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defRPr>
                      </a:pPr>
                      <a:r>
                        <a:t>kyushu_line_173</a:t>
                      </a:r>
                    </a:p>
                  </a:txBody>
                  <a:tcPr anchor="ctr" marL="127000" marR="127000" marT="63500" marB="635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45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関西は基底 AC 非収束のためスキップ。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結果4：Unit Commitment + 動特性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646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機（発電機 + 蓄電池）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99967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99967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8567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9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連系線（24h MILP）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6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6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6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~30秒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HiGHS 求解時間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6045" y="2496312"/>
            <a:ext cx="2558719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66045" y="2496312"/>
            <a:ext cx="2558719" cy="381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645" y="2763012"/>
            <a:ext cx="2101519" cy="19735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4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30,911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rPr spc="120">
                <a:ea typeface="Hiragino Sans"/>
                <a:cs typeface="Hiragino Sans"/>
              </a:rPr>
              <a:t>N-1〜N-10 ケース全安定 ($\leq 2.66^\circ$)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動特性解析（過渡安定）</a:t>
            </a:r>
          </a:p>
        </p:txBody>
      </p:sp>
      <p:pic>
        <p:nvPicPr>
          <p:cNvPr id="3" name="Picture 2" descr="fig_transient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458" y="1421892"/>
            <a:ext cx="6240779" cy="4160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692140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事故クリア後の同期機ロータ角応答。全 30,911 ケースで安定（最大相差 $2.66^\circ$）。系統接続性の堅牢性を示唆。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4572000" cy="29260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2E2E2"/>
                </a:solidFill>
                <a:latin typeface="Avenir Next"/>
                <a:ea typeface="Hiragino Sans"/>
                <a:cs typeface="Hiragino San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B3502F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1122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Part 5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526280"/>
            <a:ext cx="64008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36592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限界と今後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限界（正直なところ）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581912"/>
            <a:ext cx="63500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460" y="1444752"/>
            <a:ext cx="10738307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電気パラメータは合成値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（電圧クラス別の典型値、実測非）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96312"/>
            <a:ext cx="63500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460" y="2359152"/>
            <a:ext cx="10738307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端点マッチングは脆弱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（50km 閾値で偽接続が混入、誤接続率 2–3%）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410712"/>
            <a:ext cx="63500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460" y="3273552"/>
            <a:ext cx="10738307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広域一括 AC は困難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（west 60Hz 島の下位網が悪条件 Ybus、地域分割解析が現実的）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325112"/>
            <a:ext cx="63500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460" y="4187952"/>
            <a:ext cx="10738307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発電機動特性・負荷モデル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は OCCTO の非公開情報を要し未実装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239512"/>
            <a:ext cx="63500" cy="640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460" y="5102352"/>
            <a:ext cx="10738307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本データセットは </a:t>
            </a:r>
            <a:r>
              <a:rPr sz="16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研究・教育用</a:t>
            </a: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 — 実系統運用への直接適用は不可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今後の方向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464054"/>
            <a:ext cx="109728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665222"/>
            <a:ext cx="10143439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OCCTO 等の公開データと組み合わせて段階的に精度を上げる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551682"/>
            <a:ext cx="8497519" cy="1244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OCCTO 容量・需要との照合 → インピーダンス推定精度の向上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8760 時間の時系列 UC・連続潮流（CPF）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OPF（最適潮流）と再エネ大量導入シナリオ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動的パラメータ DB の整備 → 過渡安定・小信号本格運用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キーメッセージ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464054"/>
            <a:ext cx="1097280" cy="3175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665222"/>
            <a:ext cx="10143439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日本の系統研究は「モデルが無いから始められない」状態を脱しつつある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551682"/>
            <a:ext cx="8497519" cy="1244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OSM から自動構築する完全公開のパイプラインを実装・公開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地域別 AC 9/10 収束・全国 DC 10/10 を達成、誰でも再現可能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west AC 非収束の "真因" を初めて段階的に究明・文書化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•  N-1 / UC / 動特性まで一気通貫で接続できる基盤を提供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References &amp;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53312"/>
            <a:ext cx="11057839" cy="4754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[1] </a:t>
            </a:r>
            <a:r>
              <a:rPr sz="13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All-Japan-Grid v1.1.0 </a:t>
            </a:r>
            <a:r>
              <a:rPr sz="1300" i="1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https://github.com/lutelute/All-Japan-Grid/releases/tag/v1.1.0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[2] </a:t>
            </a:r>
            <a:r>
              <a:rPr sz="13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Live map (interactive) </a:t>
            </a:r>
            <a:r>
              <a:rPr sz="1300" i="1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https://lutelute.github.io/All-Japan-Grid/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[3] </a:t>
            </a:r>
            <a:r>
              <a:rPr sz="13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West-AC root-cause analysis </a:t>
            </a:r>
            <a:r>
              <a:rPr sz="1300" i="1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docs/WEST_AC_ANALYSIS.md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[4] </a:t>
            </a:r>
            <a:r>
              <a:rPr sz="13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OCCTO </a:t>
            </a:r>
            <a:r>
              <a:rPr sz="13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広域系統長期方針 </a:t>
            </a:r>
            <a:r>
              <a:rPr sz="1300" i="1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https://www.occto.or.jp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[5] </a:t>
            </a:r>
            <a:r>
              <a:rPr sz="13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Thurner, L. et al. </a:t>
            </a:r>
            <a:r>
              <a:rPr sz="13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pandapower. </a:t>
            </a:r>
            <a:r>
              <a:rPr sz="1300" i="1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IEEE TPWRS, 2018.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D97757"/>
                </a:solidFill>
                <a:latin typeface="Avenir Next"/>
                <a:ea typeface="Hiragino Sans"/>
                <a:cs typeface="Hiragino Sans"/>
              </a:rPr>
              <a:t>[6] </a:t>
            </a:r>
            <a:r>
              <a:rPr sz="13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Zimmerman, R. et al. </a:t>
            </a:r>
            <a:r>
              <a:rPr sz="13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MATPOWER. </a:t>
            </a:r>
            <a:r>
              <a:rPr sz="1300" i="1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IEEE TPWRS, 2011.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264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0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ライブで触ってみてください: https://lutelute.github.io/All-Japan-Grid/</a:t>
            </a:r>
          </a:p>
          <a:p>
            <a:pPr algn="ctr">
              <a:spcBef>
                <a:spcPts val="400"/>
              </a:spcBef>
              <a:defRPr sz="18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質疑応答へ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